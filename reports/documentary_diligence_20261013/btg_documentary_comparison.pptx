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Recebíveis e aquisição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Ressalvas da leitura:</a:t>
            </a:r>
          </a:p>
          <a:p>
            <a:r>
              <a:t>Aplicabilidade em apuração permanece no denominador da cobertura. Ausências tipificadas constam na tabela de pendências.</a:t>
            </a:r>
          </a:p>
          <a:p>
            <a:r>
              <a:t>62696791000193: existem IMEs anteriores ao registro cadastral 24/03/2026; conferir histórico de enquadramento.</a:t>
            </a:r>
          </a:p>
          <a:p>
            <a:r>
              <a:t>Fontes:</a:t>
            </a:r>
          </a:p>
          <a:p>
            <a:r>
              <a:t>CNPJ 54871427000194 · Natureza dos recebíveis · Regulamento · ID 670691 · 28/04/2024 · versão Regulamento — referência 28/04/2024 · p. 9 · Anexo I, 4.2–4.2.1 · https://fnet.bmfbovespa.com.br/fnet/publico/visualizarDocumento?id=670691</a:t>
            </a:r>
          </a:p>
          <a:p>
            <a:r>
              <a:t>CNPJ 54871427000194 · Natureza dos recebíveis · Excerto da fonte:</a:t>
            </a:r>
          </a:p>
          <a:p>
            <a:r>
              <a:t>4.2 Os Direitos Creditórios representados por Certif icados de Cédulas de Crédito Bancário (“CCCBs”), representativos de um agrupamento de determinadas CCBs, originadas no âmbito de operações de empréstimos pessoais concedidos por um Endossante a um Devedor, devidamente f ormalizadas por via eletrônica de acordo com a legislação aplicável, segundo os critérios de composição e diversificação estabelecidos pela regulamentação aplicável e neste Regulamento. 4.2.1 Cada Endossante deve ter celebrado convênio com órgão consignante, previamente à cessão de Direitos Creditórios à Classe, que contemplam a obrigação da manutenção da consignação/averbação junto ao novo órgão, de modo a possibilitar o pagamento dos Direitos Creditórios por meio de consignação em f olha de pagamento ou de benef ício . 4.3 Os pagamentos relativos aos Direitos Creditórios de titularidade da Classe serão realizados mediante consignação em folha, débito em conta de titularidade dos Devedores e pagamentos de sinistros, para pagamento dos valores correspondentes às parcelas das CCBs representadas pelos CCCBs de titularidade da Classe, os quais serão conciliados e repassados pelo Endossan</a:t>
            </a:r>
          </a:p>
          <a:p>
            <a:r>
              <a:t>CNPJ 54871427000194 · Natureza dos recebíveis · Versão e prevalência: Leitura específica das cláusulas indicadas; condições e conflitos preservados. Seleção documental atual não comprova vigência jurídica por data isolada.</a:t>
            </a:r>
          </a:p>
          <a:p>
            <a:r>
              <a:t>CNPJ 54871427000194 · Natureza dos recebíveis · Resumo do histórico: {"count": 3, "dates": ["2024-04-19", "2024-04-28"], "document_count": 2, "sources": [{"document_id": "670691", "title": "Regulamento", "reference_date": "2024-04-28", "version": "1", "page": "9, 38-39", "url": "https://fnet.bmfbovespa.com.br/fnet/publico/visualizarDocumento?id=670691", "sha256": "bf16dd7f1a62d5cdbf2e2d54fef81783783f7310fbc99c3a8f00459bdf9d037b"}, {"document_id": "670691", "title": "Regulamento", "reference_date": "2024-04-28", "version": "1", "page": 34, "clause": "15.1.5", "url": "https://fnet.bmfbovespa.com.br/fnet/publico/visualizarDocumento?id=670691", "sha256": "bf16dd7f1a62d5cdbf2e2d54fef81783783f7310fbc99c3a8f00459bdf9d037b"}, {"document_id": "670689", "title": "Regulamento", "reference_date": "2024-04-19", "version": "1", "page": 35, "clause": "15.1.5", "url": "https://fnet.bmfbovespa.com.br/fnet/publico/visualizarDocumento?id=670689", "sha256": "891bc9bc5d87bbc02ec139077a84d2702eb81ea02035fb71d24f5b8366b94a0b"}], "reference": {"path": "history/54871427000194.json", "criterion_id": "receivables", "total_count": 3, "preview_count": 3, "full_text_deferred": true, "sha256": "35d7cd99be50c7287c9fb675cf4f2e736002315295a225a9efa79c8d9186d874"}}</a:t>
            </a:r>
          </a:p>
          <a:p>
            <a:r>
              <a:t>CNPJ 60010416000112 · Natureza dos recebíveis · Regulamento · ID 1051393 · 09/10/2025 · versão Regulamento09/10/2025 · p. 9 · AnexoI4.2 · https://fnet.bmfbovespa.com.br/fnet/publico/visualizarDocumento?id=1051393</a:t>
            </a:r>
          </a:p>
          <a:p>
            <a:r>
              <a:t>CNPJ 60010416000112 · Natureza dos recebíveis · Excerto da fonte:</a:t>
            </a:r>
          </a:p>
          <a:p>
            <a:r>
              <a:t>4.2 Os Direitos Creditórios são originados no âmbito de operações de empréstimo consignado concedido pelo Endossante a um Devedor por meio da Plataforma MT e representado por CCB, devidamente formalizada por via eletrônica, de acordo com a legislação aplicável, observada a Política de Crédito constante do Contrato de Endosso. O Endossante celebrou o Convênio Consignado Privado previamente ao endosso de Direitos Creditórios Elegíveis à Classe, para que, após a averbação dos Direitos Creditórios na Dataprev, o pagamento regular dos Direitos Creditórios decorrentes das CCB seja f eito por Consignação</a:t>
            </a:r>
          </a:p>
          <a:p>
            <a:r>
              <a:t>CNPJ 60010416000112 · Natureza dos recebíveis · Versão e prevalência: Leitura específica das cláusulas indicadas; condições e conflitos preservados. Seleção documental atual não comprova vigência jurídica por data isolada.</a:t>
            </a:r>
          </a:p>
          <a:p>
            <a:r>
              <a:t>CNPJ 60010416000112 · Natureza dos recebíveis · Resumo do histórico: {"count": 2, "dates": ["2025-03-20", "2025-10-09"], "document_count": 2, "sources": [{"document_id": "1051393", "title": "Regulamento", "reference_date": "2025-10-09", "version": "1", "page": "9-11", "url": "https://fnet.bmfbovespa.com.br/fnet/publico/visualizarDocumento?id=1051393", "sha256": "8469d613078ffd5a6c1d217885d8a397a16342c0b937ae4aa24b106505f233ae"}, {"document_id": "993786", "title": "Regulamento", "reference_date": "2025-03-20", "version": "1", "page": 30, "clause": "12.5.1", "url": "https://fnet.bmfbovespa.com.br/fnet/publico/visualizarDocumento?id=993786", "sha256": "fd0fdd369a195510d81f81f505195a0b09e5f43522a990afa7d58c4f872921c8"}], "reference": {"path": "history/60010416000112.json", "criterion_id": "receivables", "total_count": 2, "preview_count": 2, "full_text_deferred": true, "sha256": "8e2bd813f4c51cf01f6bfaad164bafe69d2bbb192f753eac92da3a01c2e63046"}}</a:t>
            </a:r>
          </a:p>
          <a:p>
            <a:r>
              <a:t>CNPJ 62696791000193 · Natureza dos recebíveis · Regulamento · ID 1143317 · 20/03/2026 · versão Regulamento — referência 20/03/2026 · p. 6 · Anexo I, 1.1, Objetivo · https://fnet.bmfbovespa.com.br/fnet/publico/visualizarDocumento?id=1143317</a:t>
            </a:r>
          </a:p>
          <a:p>
            <a:r>
              <a:t>CNPJ 62696791000193 · Natureza dos recebíveis · Excerto da fonte:</a:t>
            </a:r>
          </a:p>
          <a:p>
            <a:r>
              <a:t>A Classe tem por objetivo proporcionar aos Cotistas a valorização e a rentabilidade de suas cotas (“Cotas”), conforme a política de investimentos def inida no Capítulo IV abaixo (“Política de Investimentos”), por meio de aplicação do seu Patrimônio Líquido (conforme def inido abaixo) nos seguintes ativos de origem vinculada às cadeias produtivas do agronegócio (“Direitos Creditórios do Agronegócio”): (i) títulos de crédito emitidos por pessoas naturais e jurídicas que integrem as cadeias produtivas do agronegócio; (ii) direitos creditórios do agronegócio; (iii) certificados de recebíveis do agronegócio e outros títulos de securitização emitidos com lastro em direitos creditórios do agronegócio; e (iv) certificados de recebíveis e outro</a:t>
            </a:r>
          </a:p>
          <a:p>
            <a:r>
              <a:t>CNPJ 62696791000193 · Natureza dos recebíveis · Regulamento · ID 1143317 · 20/03/2026 · versão Regulamento — referência 20/03/2026 · p. 7 · Anexo I, 1.1, Objetivo · https://fnet.bmfbovespa.com.br/fnet/publico/visualizarDocumento?id=1143317</a:t>
            </a:r>
          </a:p>
          <a:p>
            <a:r>
              <a:t>CNPJ 62696791000193 · Natureza dos recebíveis · Excerto da fonte:</a:t>
            </a:r>
          </a:p>
          <a:p>
            <a:r>
              <a:t>(i) participações em sociedades que explorem atividades integrantes das cadeias produtivas do agronegócio. (C) Categoria “Financeiro” (“Ativos Financeiros do Agronegócio Financeiros”): (i) ativos f inanceiros e valores mobiliários emitidos por pessoas naturais e jurídicas que integrem as cadeias produtivas do agronegócio. (D) Categoria “Geral” (“Ativos em Geral do Agronegócio”): (i) cotas de classes que apliquem mais de 50% (cinquenta por cento) de seu patrimônio líquido nos ativos referidos nos incisos “A” a “D” acima, o que inclui cotas de outros FIAGRO, mas não se limita a essa categoria de f undos. Os Ativos Imobiliários do Agronegócio, Participações do Agronegócio,</a:t>
            </a:r>
          </a:p>
          <a:p>
            <a:r>
              <a:t>CNPJ 62696791000193 · Natureza dos recebíveis · Versão e prevalência: Leitura específica das cláusulas indicadas; condições e conflitos preservados. Seleção documental atual não comprova vigência jurídica por data isolada.</a:t>
            </a:r>
          </a:p>
          <a:p>
            <a:r>
              <a:t>CNPJ 55563624000109 · Natureza dos recebíveis · Regulamento · ID 1192614 · 30/04/2026 · versão Regulamento30/04/2026 · p. 11 · AnexoI4.1 · https://fnet.bmfbovespa.com.br/fnet/publico/visualizarDocumento?id=1192614</a:t>
            </a:r>
          </a:p>
          <a:p>
            <a:r>
              <a:t>CNPJ 55563624000109 · Natureza dos recebíveis · Excerto da fonte:</a:t>
            </a:r>
          </a:p>
          <a:p>
            <a:r>
              <a:t>4.1 Observados os demais termos deste Anexo, o objetivo da Classe é investir seus recursos em (i) cotas subordinadas mezanino de emissão da classe única do MERCADO CRÉDITO II BRASIL FUNDO DE INVESTIMENTO EM DIREITOS CREDITÓRIOS NÃO PADRONIZADOS, fundo de investimento em direitos creditórios inscrito no CNPJ sob o nº 41.970.012/0001-26 (“Cotas da Classe Investida” e “Classe Investida”, respectivamente), a qual, por sua vez, aplica seus recursos preponderantemente em direitos creditórios originados pela Mercado Pago, de acordo com os termos e condições est</a:t>
            </a:r>
          </a:p>
          <a:p>
            <a:r>
              <a:t>CNPJ 55563624000109 · Natureza dos recebíveis · Regulamento · ID 1192614 · 30/04/2026 · versão Regulamento30/04/2026 · p. 12 · AnexoI4.5 · https://fnet.bmfbovespa.com.br/fnet/publico/visualizarDocumento?id=1192614</a:t>
            </a:r>
          </a:p>
          <a:p>
            <a:r>
              <a:t>CNPJ 55563624000109 · Natureza dos recebíveis · Excerto da fonte:</a:t>
            </a:r>
          </a:p>
          <a:p>
            <a:r>
              <a:t>4.5 Uma vez que o investimento nas Cotas da Classe Investida não corresponde a um investimento direto em direitos creditórios, uma série de disposições comuns à securitização de direitos creditórios não será aplicável ao investimento nas Cotas da Classe Investida. A título meramente exemplificativo, não existem processos de originação ou política de concessão de crédito adotada pelo GESTOR, tampouco há que se falar em verificação ou guarda de documentos comprobatórios que não sejam referentes às Cotas da Classe Investida. Da mesma forma, não há necessida</a:t>
            </a:r>
          </a:p>
          <a:p>
            <a:r>
              <a:t>CNPJ 55563624000109 · Natureza dos recebíveis · Versão e prevalência: Leitura específica das cláusulas indicadas; condições e conflitos preservados. Seleção documental atual não comprova vigência jurídica por data isolada.</a:t>
            </a:r>
          </a:p>
          <a:p>
            <a:r>
              <a:t>CNPJ 55563624000109 · Natureza dos recebíveis · Resumo do histórico: {"count": 4, "dates": ["2025-01-31", "2026-01-31", "2026-04-30"], "document_count": 3, "sources": [{"document_id": "1192614", "title": "Regulamento", "reference_date": "2026-04-30", "version": "1", "page": "11", "url": "https://fnet.bmfbovespa.com.br/fnet/publico/visualizarDocumento?id=1192614", "sha256": "f56e63ace0acde41d2f47fb48f1ac7f3f7df5e2d32de092d7c5e075a52516632"}, {"document_id": "1178840", "title": "Demonstrações Financeiras", "reference_date": "2026-01-31", "version": "1", "page": 16, "url": "https://fnet.bmfbovespa.com.br/fnet/publico/visualizarDocumento?id=1178840", "sha256": "c458e98664c5c907ddb5a05a94b120bed4e05295b2bfc420f5ba69af0a229abe"}, {"document_id": "891861", "title": "Demonstrações Financeiras", "reference_date": "2025-01-31", "version": "1", "page": 16, "url": "https://fnet.bmfbovespa.com.br/fnet/publico/visualizarDocumento?id=891861", "sha256": "e9cb9e6ddbe505fe068cfcac33605165a98313489de0d3ce6d4d238263c3f3e7"}], "reference": {"path": "history/55563624000109.json", "criterion_id": "receivables", "total_count": 4, "preview_count": 3, "full_text_deferred": true, "sha256": "7835d573fb58a3c19adf5b8ecc2aee2bdbb9a88f7a0c0209b5f262b64c7522e3"}}</a:t>
            </a:r>
          </a:p>
          <a:p>
            <a:r>
              <a:t>CNPJ 62552447000120 · Natureza dos recebíveis · Regulamento · ID 1200623 · 21/05/2026 · versão Consolidado21/05/2026 aprovado pelo ato1200625 · p. 11 · AnexoI4.2–4.3 · https://fnet.bmfbovespa.com.br/fnet/publico/visualizarDocumento?id=1200623</a:t>
            </a:r>
          </a:p>
          <a:p>
            <a:r>
              <a:t>CNPJ 62552447000120 · Natureza dos recebíveis · Excerto da fonte:</a:t>
            </a:r>
          </a:p>
          <a:p>
            <a:r>
              <a:t>4.2 Os Direitos Creditórios Consignado Privado e os Direitos Creditórios FGTS são originados no âmbito de CCBs emitidas eletronicamente pelos Devedores ao Endossante, representando, respectivamente, empréstimos consignados, com desconto em f olha de pagamento, e empréstimos pessoais, com garantia de cessão f iduciária do Saque-aniversário. 4.3 A operacionalização é f eita por meio da plataforma eletrônica mantida pelo Originador e utilizada por ele em relação ao processamento e monitoramento das operações de crédito (“Plataforma VR”), de acordo com a legislação aplicável, observada a política de crédit</a:t>
            </a:r>
          </a:p>
          <a:p>
            <a:r>
              <a:t>CNPJ 62552447000120 · Natureza dos recebíveis · Regulamento · ID 1200623 · 21/05/2026 · versão Consolidado21/05/2026 aprovado pelo ato1200625 · p. 6 · AnexoI1.2 Direitos Creditórios(d) · https://fnet.bmfbovespa.com.br/fnet/publico/visualizarDocumento?id=1200623</a:t>
            </a:r>
          </a:p>
          <a:p>
            <a:r>
              <a:t>CNPJ 62552447000120 · Natureza dos recebíveis · Excerto da fonte:</a:t>
            </a:r>
          </a:p>
          <a:p>
            <a:r>
              <a:t>Refinanciamento Livre”, na forma de CCBs originadas no âmbito de um refinanciamento, de acordo com a política de cobrança vigente, de Direitos Creditórios Consignado Privado e de Direitos Creditórios FGTS, que não contem com o lastro de Consignação ou de cessão f iduciária do Saque-Aniversário, respectivamente; e (ii) “Ativos Financei</a:t>
            </a:r>
          </a:p>
          <a:p>
            <a:r>
              <a:t>CNPJ 62552447000120 · Natureza dos recebíveis · Condição: Direitos de refinanciamento livre têm mecanismo de pagamento diferente do consignado/FGTS original.</a:t>
            </a:r>
          </a:p>
          <a:p>
            <a:r>
              <a:t>CNPJ 62552447000120 · Natureza dos recebíveis · Versão e prevalência: Leitura específica das cláusulas indicadas; condições e conflitos preservados. Seleção documental atual não comprova vigência jurídica por data isolada.</a:t>
            </a:r>
          </a:p>
          <a:p>
            <a:r>
              <a:t>CNPJ 63953620000165 · Natureza dos recebíveis · Anexo ao Regulamento · ID 1222863 · 02/06/2026 · versão AnexoConsignadoPrivado02/06/2026 · p. 5 · 4.4 · https://fnet.bmfbovespa.com.br/fnet/publico/visualizarDocumento?id=1222863</a:t>
            </a:r>
          </a:p>
          <a:p>
            <a:r>
              <a:t>CNPJ 63953620000165 · Natureza dos recebíveis · Excerto da fonte:</a:t>
            </a:r>
          </a:p>
          <a:p>
            <a:r>
              <a:t>4.4 Os Direitos Creditórios Consignado Privado são originados no âmbito de operações de empréstimo consignado concedido pelo Endossante a um Devedor por meio da plataforma eletrônica mantida pelo Agente de Retenção/ Cobrança e utilizada por ele em relação ao processamento e monitoramento das operações de crédito consignado (“Plataforma MT”) e representado por CCB, devidamente formalizada por via eletrônica, de acordo com a legislação aplicável, observada a política de crédito constante do Contrato de Endosso. O Endossante celebrou o Convênio Consignado Privado previamente ao endosso de Direitos Creditórios Elegíveis à Clas</a:t>
            </a:r>
          </a:p>
          <a:p>
            <a:r>
              <a:t>CNPJ 63953620000165 · Natureza dos recebíveis · Anexo ao Regulamento · ID 1222863 · 02/06/2026 · versão AnexoConsignadoPrivado02/06/2026 · p. 1 · 1.1Objetivo · https://fnet.bmfbovespa.com.br/fnet/publico/visualizarDocumento?id=1222863</a:t>
            </a:r>
          </a:p>
          <a:p>
            <a:r>
              <a:t>CNPJ 63953620000165 · Natureza dos recebíveis · Excerto da fonte:</a:t>
            </a:r>
          </a:p>
          <a:p>
            <a:r>
              <a:t>Direitos Creditórios Crédito Consignado”, representados por cédula de crédito bancário regida pela Lei nº 10.931, emitida eletronicamente por um devedor em favor do endossante (“CCB”) e, consequentemente, os recebíveis decorrente de cada uma das parcelas vincendas, representando um empréstimo consignado concedido pelo endossante ao devedor, e cujo pagamento ordinário é feito por desconto de cada prestação vincenda de uma CCB na folha de</a:t>
            </a:r>
          </a:p>
          <a:p>
            <a:r>
              <a:t>CNPJ 63953620000165 · Natureza dos recebíveis · Versão e prevalência: Leitura específica das cláusulas indicadas; condições e conflitos preservados. Seleção documental atual não comprova vigência jurídica por data isolada.</a:t>
            </a:r>
          </a:p>
          <a:p>
            <a:r>
              <a:t>CNPJ 63953620000165 · Natureza dos recebíveis · Resumo do histórico: {"count": 8, "dates": ["2026-04-28", "2026-05-08", "2026-05-15"], "document_count": 3, "sources": [{"document_id": "1327859", "title": "Demonstrações Financeiras - Fusão, cisão e incorporação", "reference_date": "2026-05-15", "version": "1", "page": 21, "url": "https://fnet.bmfbovespa.com.br/fnet/publico/visualizarDocumento?id=1327859", "sha256": "dca1c68babb97f887528c3e2e47596a9c30f507b067981a35655b2f2da9c8054"}, {"document_id": "1298691", "title": "Demonstrações Financeiras - Fusão, cisão e incorporação", "reference_date": "2026-05-08", "version": "1", "page": 24, "url": "https://fnet.bmfbovespa.com.br/fnet/publico/visualizarDocumento?id=1298691", "sha256": "58c570d9b8d4d265330d3db3ea81c435b8e44a6dab4002aa37790652a1ee9819"}, {"document_id": "1282180", "title": "Demonstrações Financeiras - Fusão, cisão e incorporação", "reference_date": "2026-04-28", "version": "1", "page": 24, "url": "https://fnet.bmfbovespa.com.br/fnet/publico/visualizarDocumento?id=1282180", "sha256": "afaaa0e6809be4385e5bdb6c911aac582032c5bdbac3d7750234bf9eaf00438a"}], "reference": {"path": "history/63953620000165.json", "criterion_id": "receivables", "total_count": 8, "preview_count": 3, "full_text_deferred": true, "sha256": "a7b89077f5e21098c2d601c303faabc3ff6b9729f89d8afecdc60fe1404720c1"}}</a:t>
            </a:r>
          </a:p>
          <a:p>
            <a:r>
              <a:t>CNPJ 54871427000194 · Originador e endossante · Regulamento · ID 670691 · 2024-04-28 · versão 1 · p. 11 · 4.11.2 · https://fnet.bmfbovespa.com.br/fnet/publico/visualizarDocumento?id=670691</a:t>
            </a:r>
          </a:p>
          <a:p>
            <a:r>
              <a:t>CNPJ 54871427000194 · Originador e endossante · Excerto da fonte:</a:t>
            </a:r>
          </a:p>
          <a:p>
            <a:r>
              <a:t>4.11.2 A Classe poderá ter até 100% (cem por cento) do Patrimônio Líquido representado por Direitos  Creditórios originados ou cedidos por um mesmo Endossante e/ou originados por um mesmo  Originador.</a:t>
            </a:r>
          </a:p>
          <a:p>
            <a:r>
              <a:t>CNPJ 54871427000194 · Originador e endossante · Regulamento · ID 670691 · 2024-04-28 · versão 1 · p. 13 · 4.17 · https://fnet.bmfbovespa.com.br/fnet/publico/visualizarDocumento?id=670691</a:t>
            </a:r>
          </a:p>
          <a:p>
            <a:r>
              <a:t>CNPJ 54871427000194 · Originador e endossante · Excerto da fonte:</a:t>
            </a:r>
          </a:p>
          <a:p>
            <a:r>
              <a:t>4.17 É vedada qualquer forma de antecipação de recursos aos Endossantes para posterior reembolso pela  Classe, seja pelo ADMINISTRADOR, GESTOR, CUSTODIANTE, consultora ou Originadores.</a:t>
            </a:r>
          </a:p>
          <a:p>
            <a:r>
              <a:t>CNPJ 54871427000194 · Originador e endossante · Regulamento · ID 670691 · 2024-04-28 · versão 1 · p. 34 · 15.1.5 · https://fnet.bmfbovespa.com.br/fnet/publico/visualizarDocumento?id=670691</a:t>
            </a:r>
          </a:p>
          <a:p>
            <a:r>
              <a:t>CNPJ 54871427000194 · Originador e endossante · Excerto da fonte:</a:t>
            </a:r>
          </a:p>
          <a:p>
            <a:r>
              <a:t>15.1.5 Outros Riscos:</a:t>
            </a:r>
          </a:p>
          <a:p>
            <a:r>
              <a:t> (i) Cobrança judicial ou extrajudicial dos Direitos Creditórios. No caso de os  Devedores inadimplirem as obrigações dos pagamentos dos Direitos Creditórios de titularidade  da Classe, poderá haver cobrança judicial e/ou extrajudicial dos valores devidos. Neste caso,  além da Classe incorrer em maiores custos relacionados à cobrança dos Direitos Creditórios  Inadimplidos, nada garante que ref eridas cobranças atingirão os resultados almejados, qual  seja, a recuperação do valor integral dos Direitos Creditórios Inadimplidos. Nesta hipótese, a  rentabilidade da Classe será af etada negativamente.</a:t>
            </a:r>
          </a:p>
          <a:p>
            <a:r>
              <a:t> (ii) Dif iculdade de obtenção de indenização ou recompra de Direitos Creditórios.</a:t>
            </a:r>
          </a:p>
          <a:p>
            <a:r>
              <a:t> Considerando a possibilidade de aquisição de Direitos Creditórios de terceiros — isso é  Endossantes que, por sua vez, adquiram os Direitos Creditórios de forma secundária, por meio  da cessão ou endosso realizado por credores anteriores da CCB — caso ocorram situações  que ensejem em recompra de tais Direitos Creditórios e/ou indenização, a Classe poderá ter  dif iculdades adicionais em obter tais indenizações e/ou recompras, na medida em que o direito  a tais indenizações e/ou recompras não está previsto em cada CCB, mas em contratos e  instrumentos dos quais a Classe não é originalmente parte, o que poderá causar perdas à  Classe e, consequentemente, aos Cotistas.</a:t>
            </a:r>
          </a:p>
          <a:p>
            <a:r>
              <a:t> (iii) Risco de concentração. O risco da aplicação na Classe possui forte correlação  com a concentração da Carteira, sendo que, quanto maior f or a concentração da Carteira,  maior será a chance de a Classe sofrer perda patrimonial significativa que afete negativamente  a rentabilidade das Cotas. A Classe não possui limite de concentração por Devedor ou  originador dos Direitos Creditórios, exceto por aqueles previstos na Resolução CVM  175, razão pela qual a Classe poderá estar exposto a significativa concentração por  Devedor. Não é possível garantir que os limites de concentração contidos na Política de  Investimentos, ainda que atendidos, serão suficientes que o Patrimônio Líquido não sofra  perdas que possam af etar a rentabilidade das Cotas.</a:t>
            </a:r>
          </a:p>
          <a:p>
            <a:r>
              <a:t> (iv) Possibilidade de conflito de interesses entre a Classe e os Originadores. Os  Originadores podem possuir relacionamento comercial com os Endossantes e/ou Devedores,  de modo que, em determinadas circunstâncias seus interesses podem ser conflitantes com os  interesses da Classe. Não é possível garantir que, materializada uma situação de conflito de  interesses conforme descrita acima, o Originador exponha-a adequadamente ao  ADMINISTRADOR e/ou aos Cotistas, ou que o f aça absolutamente, tampouco que agirá no  melhor no interesse da Classe. Nesses casos, a Classe pode vir a adquirir Direitos Creditórios  ou pode vir a ter seus Direitos Creditórios Inadimplidos pagos em condições comparativamente  menos vantajosas àquelas que seriam verificadas na ausência de tais conflitos de interesses.</a:t>
            </a:r>
          </a:p>
          <a:p>
            <a:r>
              <a:t> Nesses casos, o Patrimônio Líquido pode ser af etado adversamente.</a:t>
            </a:r>
          </a:p>
          <a:p>
            <a:r>
              <a:t> (v) Possibilidade de conflito de interesses entre Cotistas. As Cotas poderão ser  adquiridas por investidores que sejam sociedades coligadas, controladas ou controladoras,</a:t>
            </a:r>
          </a:p>
          <a:p>
            <a:r>
              <a:t>CNPJ 54871427000194 · Originador e endossante · Condição: Documentos atuais selecionados no inventário por categoria/escopo; a data documental isolada não comprova vigência jurídica.</a:t>
            </a:r>
          </a:p>
          <a:p>
            <a:r>
              <a:t>CNPJ 54871427000194 · Originador e endossante · Versão e prevalência: Documentos atuais selecionados no inventário por categoria/escopo; a data documental isolada não comprova vigência jurídica.</a:t>
            </a:r>
          </a:p>
          <a:p>
            <a:r>
              <a:t>CNPJ 54871427000194 · Originador e endossante · Resumo do histórico: {"count": 2, "dates": ["2024-04-19", "2024-04-28"], "document_count": 2, "sources": [{"document_id": "670691", "title": "Regulamento", "reference_date": "2024-04-28", "version": "1", "page": "9, 39", "url": "https://fnet.bmfbovespa.com.br/fnet/publico/visualizarDocumento?id=670691", "sha256": "bf16dd7f1a62d5cdbf2e2d54fef81783783f7310fbc99c3a8f00459bdf9d037b"}, {"document_id": "670689", "title": "Regulamento", "reference_date": "2024-04-19", "version": "1", "page": 9, "clause": "4.5", "url": "https://fnet.bmfbovespa.com.br/fnet/publico/visualizarDocumento?id=670689", "sha256": "891bc9bc5d87bbc02ec139077a84d2702eb81ea02035fb71d24f5b8366b94a0b"}], "reference": {"path": "history/54871427000194.json", "criterion_id": "originator", "total_count": 2, "preview_count": 2, "full_text_deferred": true, "sha256": "35d7cd99be50c7287c9fb675cf4f2e736002315295a225a9efa79c8d9186d874"}}</a:t>
            </a:r>
          </a:p>
          <a:p>
            <a:r>
              <a:t>CNPJ 60010416000112 · Originador e endossante · Regulamento · ID 1051393 · 09/10/2025 · versão Regulamento09/10/2025 · p. 44 · Glossário, Endossante · https://fnet.bmfbovespa.com.br/fnet/publico/visualizarDocumento?id=1051393</a:t>
            </a:r>
          </a:p>
          <a:p>
            <a:r>
              <a:t>CNPJ 60010416000112 · Originador e endossante · Excerto da fonte:</a:t>
            </a:r>
          </a:p>
          <a:p>
            <a:r>
              <a:t>“Endossante”: a Parati Crédito, Financiamento e Investimento S.A., instituição financeira constituída na forma de uma sociedade por ações, com sede na cidade de Vitória, estado do Espírito Santo, na Avenida Nossa Senhora da Penha, 699, torre A, conjuntos 404 a 407, Santa Lúcia, CEP 29.056-250, inscrita no CNPJ sob nº 03.311.443/0001-91; "Entidade Registradora": instituição autorizada pelo BACEN para realizar as atividades de registro e constituição, alteração e desconstituição de ônus e gravames sobre ativos f inanceiros registrados; “Escrituração”: significa a escrituração da Consignação a ser realizada pelo Empregador, junto ao eSocial, após recebimento de notif icação comunicando-o da contratação, pelo Devedor, do empréstimo a ser pago por Consignação; “Eventos de Avaliação”: os eventos de avaliação descritos no item 10.1 deste Anexo; “Eventos de Liquidação”: os eventos de liquidação descritos no item 10.3 deste Anexo; BTG Pactual SAC: 0800 772 28 27 - Ouvidoria: 0800 722 00 48 - btgpactual.com 44</a:t>
            </a:r>
          </a:p>
          <a:p>
            <a:r>
              <a:t>CNPJ 60010416000112 · Originador e endossante · Regulamento · ID 1051393 · 09/10/2025 · versão Regulamento09/10/2025 · p. 41 · Glossário, Agente de Retenção/Cobrança · https://fnet.bmfbovespa.com.br/fnet/publico/visualizarDocumento?id=1051393</a:t>
            </a:r>
          </a:p>
          <a:p>
            <a:r>
              <a:t>CNPJ 60010416000112 · Originador e endossante · Excerto da fonte:</a:t>
            </a:r>
          </a:p>
          <a:p>
            <a:r>
              <a:t>“Agente de Retenção/Cobrança”: significa a Tudo Serviços S.A., sociedade por ações com sede na Cidade de Eusébio, Estado do Ceará, na Comendador Ari Freitas, 577, CEP 61.760-000, inscrita no CNPJ sob nº 27.852.506/0001-85; “Agente Escriturador”: O Administrador, o qual se encontra devidamente habilitado pela CVM para prestar os serviços de escrituração das Cotas, ou seu sucessor a qualquer título; “Amortização”: signif ica cada uma das amortizações ordinárias de Cotas; “Amortização Extraordinária”: amortização extraordinária das Cotas Seniores, conforme deliberado pela Assembleia Especial de Cotistas, para reestabelecer o Índice de Subordinação, nos termos do item 5.5.1 do Anexo I; "ANBIMA": Associação Brasileira das Entidades dos Mercados Financeiro e de Capitais; "Código ANBIMA": Código ANBIMA de Regulação e Melhores Práticas para Administração de Recursos de Terceiros “Anexos”: tem o signif icado atribuído no Art. 3, inciso IV, da Resolução CVM 175, Parte Geral; “Apêndice”: cada um dos apêndices que integram este Anexo, descritivos de cada Subclasse de Cotas ou de aspectos aplicáveis à Classe; "Arquivos Dataprev": Arquivo de Consignações fornecido mensalmente pela Dataprev ao Endossante, contendo a totalidade das operações pend</a:t>
            </a:r>
          </a:p>
          <a:p>
            <a:r>
              <a:t>CNPJ 60010416000112 · Originador e endossante · Regulamento · ID 1051393 · 09/10/2025 · versão Regulamento09/10/2025 · p. 28 · AnexoI11.23 · https://fnet.bmfbovespa.com.br/fnet/publico/visualizarDocumento?id=1051393</a:t>
            </a:r>
          </a:p>
          <a:p>
            <a:r>
              <a:t>CNPJ 60010416000112 · Originador e endossante · Excerto da fonte:</a:t>
            </a:r>
          </a:p>
          <a:p>
            <a:r>
              <a:t>Tudo Serviços S.A., sociedade anônima, com sede no município de Eusébio, Estado do Ceará, na Comendador Ari Freitas, 577, CEP 61.760-000, inscrita no CNPJ sob o nº 27.852.506/0001-85, cujos deveres, sem prejuízo daqueles estabelecidos neste Regulamento, no Contrato de Serviços MT e no Contrato de Endosso, consistirão no monitoramento e cobrança dos Direitos Creditórios Inadimplidos, observado o disposto neste Anexo I e na regulamentação aplicável: (i) caso aplicável, atuar na retenção (defesa) de operações de empréstimo consignado cujos Direitos Creditórios sejam de titularidade da Classe, em caso d</a:t>
            </a:r>
          </a:p>
          <a:p>
            <a:r>
              <a:t>CNPJ 60010416000112 · Originador e endossante · Versão e prevalência: Leitura específica das cláusulas indicadas; condições e conflitos preservados. Seleção documental atual não comprova vigência jurídica por data isolada.</a:t>
            </a:r>
          </a:p>
          <a:p>
            <a:r>
              <a:t>CNPJ 60010416000112 · Originador e endossante · Resumo do histórico: {"count": 2, "dates": ["2025-03-20", "2025-10-09"], "document_count": 2, "sources": [{"document_id": "1051393", "title": "Regulamento", "reference_date": "2025-10-09", "version": "1", "page": "41-43", "url": "https://fnet.bmfbovespa.com.br/fnet/publico/visualizarDocumento?id=1051393", "sha256": "8469d613078ffd5a6c1d217885d8a397a16342c0b937ae4aa24b106505f233ae"}, {"document_id": "993786", "title": "Regulamento", "reference_date": "2025-03-20", "version": "1", "page": 25, "clause": "11.8", "url": "https://fnet.bmfbovespa.com.br/fnet/publico/visualizarDocumento?id=993786", "sha256": "fd0fdd369a195510d81f81f505195a0b09e5f43522a990afa7d58c4f872921c8"}], "reference": {"path": "history/60010416000112.json", "criterion_id": "originator", "total_count": 2, "preview_count": 2, "full_text_deferred": true, "sha256": "8e2bd813f4c51cf01f6bfaad164bafe69d2bbb192f753eac92da3a01c2e63046"}}</a:t>
            </a:r>
          </a:p>
          <a:p>
            <a:r>
              <a:t>CNPJ 62696791000193 · Originador e endossante · Regulamento · ID 1143317 · 20/03/2026 · versão Regulamento — referência 20/03/2026 · p. 10 · Anexo I, 4.4 e 4.6 · https://fnet.bmfbovespa.com.br/fnet/publico/visualizarDocumento?id=1143317</a:t>
            </a:r>
          </a:p>
          <a:p>
            <a:r>
              <a:t>CNPJ 62696791000193 · Originador e endossante · Excerto da fonte:</a:t>
            </a:r>
          </a:p>
          <a:p>
            <a:r>
              <a:t>4.4 Tendo em vista (i) a natureza variada dos Direitos Creditórios do Agronegócio passíveis de aquisição pela Classe; (ii) a amplitude da Política de Investimentos; e (iii) a potencial diversificação de Cedentes/Endossantes e Devedores, não é possível precisar os processos de origem dos Direitos Creditórios do Agronegócio e as políticas de concessão de crédito adotadas pelos Cedentes/Endossantes. 4.5 Os Direitos Creditórios do Agronegócio deverão contar com toda a documentação necessária para o exercício das prerrogativas decorrentes da titularidade dos ativos, e capaz de comprovar a origem, a existência e a exigibilidade dos Direitos Creditórios do Agronegócio (“Documentos Comprobatórios”) que evidenciem sua existência, validade e exequibilidade perante os respectivos Devedores. 4.5.1 Os Direitos Creditórios do Agronegócio serão adquiridos pela Classe por meio: (i) de contratos de cessão e/ou termos de cessão (“Contratos de Cessão”), contratos de promessa de endosso e/ou termos de endosso (“Contratos de Endosso”) firmados entre a Classe e os respectivos cedentes (“Cedentes”) / endossantes (“Endossantes”), acompanhados de todos os direitos, pri</a:t>
            </a:r>
          </a:p>
          <a:p>
            <a:r>
              <a:t>CNPJ 62696791000193 · Originador e endossante · Condição: A afirmação descreve um mandato amplo; não identifica contrapartes efetivamente presentes no IME.</a:t>
            </a:r>
          </a:p>
          <a:p>
            <a:r>
              <a:t>CNPJ 62696791000193 · Originador e endossante · Versão e prevalência: Leitura específica das cláusulas indicadas; condições e conflitos preservados. Seleção documental atual não comprova vigência jurídica por data isolada.</a:t>
            </a:r>
          </a:p>
          <a:p>
            <a:r>
              <a:t>CNPJ 55563624000109 · Originador e endossante · Regulamento · ID 1192614 · 2026-04-30 · versão 1 · p. 32 · https://fnet.bmfbovespa.com.br/fnet/publico/visualizarDocumento?id=1192614</a:t>
            </a:r>
          </a:p>
          <a:p>
            <a:r>
              <a:t>CNPJ 55563624000109 · Originador e endossante · Excerto da fonte:</a:t>
            </a:r>
          </a:p>
          <a:p>
            <a:r>
              <a:t>(b) Questionamento judicial. Os devedores podem questionar judicialmente (1) a validade  dos direitos creditórios, inclusive em razão da legalidade dos limites de crédito  concedidos pelo originador ou cedente e das taxas de juros praticadas, antes e/ou após  a sua transferência para a Classe Investida; e/ou (2) os termos e condições da  transferência dos direitos creditórios à Classe Investida. Em qualquer caso, é possível  que a Classe Investida não receba parte ou a totalidade dos valores relativos aos  direitos creditórios de sua titularidade objeto de questionamento judicial.</a:t>
            </a:r>
          </a:p>
          <a:p>
            <a:r>
              <a:t> (c) Risco de originação de direitos creditórios. Os direitos creditórios a serem adquiridos  pela Classe Investida são decorrentes de operações de empréstimo específicas  envolvendo as operações do Mercado Pago, conforme detalhadas no regulamento da  Classe Investida. Na hipótese de não originação, originação insuficiente ou  indisponibilidade para aquisição pelo Classe Investida, por qualquer motivo, inclusive  em caso de redução ou descontinuidade das operações regulares dos cedentes, de  direitos creditórios que satisfaçam os critérios de elegibilidade, as condições de cessão  e a política de investimento, composição e diversificação da carteira da Classe Investida  descrita em seu regulamento, a Classe Investida poderá ser incapaz de alocar a  totalidade de seus recursos, o que poderá inviabilizar a realização das chamadas de  capital por seu administrador, afetando negativamente a continuidade da Classe  Investida, a expectativa de seus cotistas, incluindo a Classe, com relação ao seu  horizonte de investimento, a rentabilidade da Classe Investida e, consequentemente, o  valor das Cotas da Classe Investida, impactando assim a Classe e os investimentos dos  Cotistas em Cotas.</a:t>
            </a:r>
          </a:p>
          <a:p>
            <a:r>
              <a:t> (d) Originação por meio fraudulento. A Classe Investida pode adquirir direitos creditórios  que tenham sido originados por meio fraudulento. Nesse caso, a Classe Investida não  poderá exigir o pagamento dos respectivos valores por parte dos devedores lesados,  restando-lhe somente exigir do cedente o pagamento do valor correspondente aos  direitos creditórios fraudulentos, na forma prevista no respectivo contrato de cessão. A  restituição devida pelo cedente poderá demorar a ser realizada ou simplesmente não  ocorrer. Em ambos os casos, o patrimônio da Classe Investida seria impactado  negativamente, igualmente afetando, consequentemente, a Classe.</a:t>
            </a:r>
          </a:p>
          <a:p>
            <a:r>
              <a:t> (e) Questionamento da validade e da eficácia da cessão dos Direitos Creditórios. A validade  e a eficácia da cessão dos direitos creditórios à Classe Investida poderão ser  questionadas, inclusive em decorrência de intervenção, liquidação, Regime de  Administração Especial Temporária (RAET), pedido de recuperação judicial, falência,  plano de recuperação extrajudicial ou outro procedimento de natureza similar  originador ou do cedente. A titularidade direitos creditórios poderá vir a ser  questionada caso (1) haja garantias reais sobre os direitos creditórios, constituídas  antes da sua cessão e sem o conhecimento da Classe Investida; (2) ocorra a penhora ou  outra forma de constrição judicial sobre os direitos creditórios, antes da sua cessão e sem  o conhecimento da Classe Investida; (3) seja verificada, em processo judicial, fraude  contra credores ou fraude à execução praticada pelo respectivo originador ou cedente;</a:t>
            </a:r>
          </a:p>
          <a:p>
            <a:r>
              <a:t> ou (4) a cessão dos direitos creditórios à Classe Investida seja revogada, quando restar  comprovado que foi praticada com a intenção de prejudicar os credores do originador  ou do cedente. Em qualquer hipótese, os direitos creditórios integrantes da carteira da  Classe Investida poderão ser bloqueados ou redirecionados para o pagamento de  outras obrigações do originador ou cedente, afetando negativamente os patrimônios  da Classe Investida e a rentabilidade das suas cotas.</a:t>
            </a:r>
          </a:p>
          <a:p>
            <a:r>
              <a:t>CNPJ 55563624000109 · Originador e endossante · Regulamento · ID 1192614 · 2026-04-30 · versão 1 · p. 28 · https://fnet.bmfbovespa.com.br/fnet/publico/visualizarDocumento?id=1192614</a:t>
            </a:r>
          </a:p>
          <a:p>
            <a:r>
              <a:t>CNPJ 55563624000109 · Originador e endossante · Excerto da fonte:</a:t>
            </a:r>
          </a:p>
          <a:p>
            <a:r>
              <a:t>Classe, na forma da regulamentação aplicável, observado que os prestadores de serviços eventualmente  subcontratados não podem ser, em relação à Classe, o originador, cedente, o GESTOR, consultoria especializada  ou partes a eles relacionadas, tais como definidas nas regras contábeis que tratam desse assunto.</a:t>
            </a:r>
          </a:p>
          <a:p>
            <a:r>
              <a:t>CNPJ 55563624000109 · Originador e endossante · Condição: Documentos atuais selecionados no inventário por categoria/escopo; a data documental isolada não comprova vigência jurídica.</a:t>
            </a:r>
          </a:p>
          <a:p>
            <a:r>
              <a:t>CNPJ 55563624000109 · Originador e endossante · Versão e prevalência: Documentos atuais selecionados no inventário por categoria/escopo; a data documental isolada não comprova vigência jurídica.</a:t>
            </a:r>
          </a:p>
          <a:p>
            <a:r>
              <a:t>CNPJ 55563624000109 · Originador e endossante · Resumo do histórico: {"count": 3, "dates": ["2025-01-31", "2026-01-31", "2026-04-30"], "document_count": 3, "sources": [{"document_id": "1192614", "title": "Regulamento", "reference_date": "2026-04-30", "version": "1", "page": "11", "url": "https://fnet.bmfbovespa.com.br/fnet/publico/visualizarDocumento?id=1192614", "sha256": "f56e63ace0acde41d2f47fb48f1ac7f3f7df5e2d32de092d7c5e075a52516632"}, {"document_id": "1178840", "title": "Demonstrações Financeiras", "reference_date": "2026-01-31", "version": "1", "page": 16, "url": "https://fnet.bmfbovespa.com.br/fnet/publico/visualizarDocumento?id=1178840", "sha256": "c458e98664c5c907ddb5a05a94b120bed4e05295b2bfc420f5ba69af0a229abe"}, {"document_id": "891861", "title": "Demonstrações Financeiras", "reference_date": "2025-01-31", "version": "1", "page": 16, "url": "https://fnet.bmfbovespa.com.br/fnet/publico/visualizarDocumento?id=891861", "sha256": "e9cb9e6ddbe505fe068cfcac33605165a98313489de0d3ce6d4d238263c3f3e7"}], "reference": {"path": "history/55563624000109.json", "criterion_id": "originator", "total_count": 3, "preview_count": 3, "full_text_deferred": true, "sha256": "7835d573fb58a3c19adf5b8ecc2aee2bdbb9a88f7a0c0209b5f262b64c7522e3"}}</a:t>
            </a:r>
          </a:p>
          <a:p>
            <a:r>
              <a:t>CNPJ 62552447000120 · Originador e endossante · Regulamento · ID 1200623 · 21/05/2026 · versão Consolidado21/05/2026 aprovado pelo ato1200625 · p. 12 · AnexoI4.4.1(i) · https://fnet.bmfbovespa.com.br/fnet/publico/visualizarDocumento?id=1200623</a:t>
            </a:r>
          </a:p>
          <a:p>
            <a:r>
              <a:t>CNPJ 62552447000120 · Originador e endossante · Excerto da fonte:</a:t>
            </a:r>
          </a:p>
          <a:p>
            <a:r>
              <a:t>BANCO VR S.A., instituição f inanceira, com sede no município e Estado de São Paulo, na Av. Dos Bandeirantes, n.º 460, Brooklin Paulista, CEP 04553-900, inscrita no CNPJ sob o n.º 78.626.983/0001- 63, ou qualquer outra sociedade do mesmo grupo econômico, na qualidade de endossante (“Endossante”), acompanhados de todos os direitos, privilégios, pref erências, prerrogativas, ações e garantias assegurados aos seus titulares; (ii) da subscrição de títulos de crédito e/ou valores mobiliários, incluindo, mas não se</a:t>
            </a:r>
          </a:p>
          <a:p>
            <a:r>
              <a:t>CNPJ 62552447000120 · Originador e endossante · Regulamento · ID 1200623 · 21/05/2026 · versão Consolidado21/05/2026 aprovado pelo ato1200625 · p. 29 · AnexoI12.14 · https://fnet.bmfbovespa.com.br/fnet/publico/visualizarDocumento?id=1200623</a:t>
            </a:r>
          </a:p>
          <a:p>
            <a:r>
              <a:t>CNPJ 62552447000120 · Originador e endossante · Excerto da fonte:</a:t>
            </a:r>
          </a:p>
          <a:p>
            <a:r>
              <a:t>VR BENEFÍCIOS E SERVIÇOS DE PROCESSAMENTO S.A., sociedade anônima com sede no município e Estado de São Paulo, na Av. dos Bandeirantes, n.º 460, Brooklin Paulista, CEP 04553-900, inscrita no CNPJ sob o n.º 02.535.864/0004-86 (“Agente de Retenção e Cobrança” ou “Originador”), para os serviços de retenção de Direitos Creditórios e de cobrança de Direitos Creditórios Inadimplidos, de acordo com os contratos de prestação de serviços de retenção e cobrança celebrados entre o Agente de Retenção e Cobrança e a Classe (“Contratos de Retenção/Cobrança”). 12.15 O Agente de Retenção e Cobrança poderá, às expensas da Classe,</a:t>
            </a:r>
          </a:p>
          <a:p>
            <a:r>
              <a:t>CNPJ 62552447000120 · Originador e endossante · Versão e prevalência: Leitura específica das cláusulas indicadas; condições e conflitos preservados. Seleção documental atual não comprova vigência jurídica por data isolada.</a:t>
            </a:r>
          </a:p>
          <a:p>
            <a:r>
              <a:t>CNPJ 63953620000165 · Originador e endossante · Anexo ao Regulamento · ID 1222863 · 02/06/2026 · versão AnexoConsignadoPrivado02/06/2026 · p. 5 · 4.3–4.4 · https://fnet.bmfbovespa.com.br/fnet/publico/visualizarDocumento?id=1222863</a:t>
            </a:r>
          </a:p>
          <a:p>
            <a:r>
              <a:t>CNPJ 63953620000165 · Originador e endossante · Excerto da fonte:</a:t>
            </a:r>
          </a:p>
          <a:p>
            <a:r>
              <a:t>4.3 Os Direitos Creditórios serão adquiridos pela Classe por meio: (i) contratos de promessa de endosso e/ou termos de endosso (“Contratos de Endosso”) firmados entre a Classe e a Parati Crédito, Financiamento e Investimento S.A., instituição financeira constituída na forma de uma sociedade por ações, com sede na cidade de Vitória, estado do Espírito Santo, na Avenida Nossa Senhora da Penha, 699, torre A, conjuntos 404 a 407, Santa Lúcia, CEP 29.056-250, inscrita no CNPJ sob nº 03.311.443/0001-91 (“Endossante” ou “Cedente”), acompanhados de todos os direitos, privilégios, preferências, prerrogativas, ações e garantias asse</a:t>
            </a:r>
          </a:p>
          <a:p>
            <a:r>
              <a:t>CNPJ 63953620000165 · Originador e endossante · Anexo ao Regulamento · ID 1222863 · 02/06/2026 · versão AnexoConsignadoPrivado02/06/2026 · p. 19 · 12.6 · https://fnet.bmfbovespa.com.br/fnet/publico/visualizarDocumento?id=1222863</a:t>
            </a:r>
          </a:p>
          <a:p>
            <a:r>
              <a:t>CNPJ 63953620000165 · Originador e endossante · Excerto da fonte:</a:t>
            </a:r>
          </a:p>
          <a:p>
            <a:r>
              <a:t>12.6 A Classe contratou a Tudo Serviços S.A., sociedade anônima, com sede no município de Fortaleza, Estado do Ceará, na Avenida Senador Virgulo Távora, nº 303, Lojas 02, 03, 04, 05, 06 e 19, Meireles, CEP 60.170-265, inscrita no CNPJ sob o nº 27.852.506/0001-85, cujos deveres, sem prejuízo daqueles estabelecidos neste Regulamento, no “Contrato de Serviços de Retenção e Cobrança e Outras Avenças”, celebrado entre o Agente de Retenção/Cobrança e a Classe (“Contrato de Serviços MT”) e no Contrato de Endosso, consistirão no monitoramento e cobrança dos Direitos Creditórios Inadimplidos, observado o disposto neste Anexo I e na</a:t>
            </a:r>
          </a:p>
          <a:p>
            <a:r>
              <a:t>CNPJ 63953620000165 · Originador e endossante · Condição: Nomeação nominal atual da classe; distinta da origem histórica dos ativos recebidos por cisão de outros veículos.</a:t>
            </a:r>
          </a:p>
          <a:p>
            <a:r>
              <a:t>CNPJ 63953620000165 · Originador e endossante · Versão e prevalência: Leitura específica das cláusulas indicadas; condições e conflitos preservados. Seleção documental atual não comprova vigência jurídica por data isolada.</a:t>
            </a:r>
          </a:p>
          <a:p>
            <a:r>
              <a:t>CNPJ 63953620000165 · Originador e endossante · Resumo do histórico: {"count": 8, "dates": ["2026-04-28", "2026-05-08", "2026-05-15"], "document_count": 3, "sources": [{"document_id": "1327859", "title": "Demonstrações Financeiras - Fusão, cisão e incorporação", "reference_date": "2026-05-15", "version": "1", "page": 23, "url": "https://fnet.bmfbovespa.com.br/fnet/publico/visualizarDocumento?id=1327859", "sha256": "dca1c68babb97f887528c3e2e47596a9c30f507b067981a35655b2f2da9c8054"}, {"document_id": "1298691", "title": "Demonstrações Financeiras - Fusão, cisão e incorporação", "reference_date": "2026-05-08", "version": "1", "page": 24, "url": "https://fnet.bmfbovespa.com.br/fnet/publico/visualizarDocumento?id=1298691", "sha256": "58c570d9b8d4d265330d3db3ea81c435b8e44a6dab4002aa37790652a1ee9819"}, {"document_id": "1282180", "title": "Demonstrações Financeiras - Fusão, cisão e incorporação", "reference_date": "2026-04-28", "version": "1", "page": 24, "url": "https://fnet.bmfbovespa.com.br/fnet/publico/visualizarDocumento?id=1282180", "sha256": "afaaa0e6809be4385e5bdb6c911aac582032c5bdbac3d7750234bf9eaf00438a"}], "reference": {"path": "history/63953620000165.json", "criterion_id": "originator", "total_count": 8, "preview_count": 3, "full_text_deferred": true, "sha256": "a7b89077f5e21098c2d601c303faabc3ff6b9729f89d8afecdc60fe1404720c1"}}</a:t>
            </a:r>
          </a:p>
          <a:p>
            <a:r>
              <a:t>CNPJ 54871427000194 · Devedor e consignação · Regulamento · ID 670691 · 2024-04-28 · versão 1 · p. 29 · https://fnet.bmfbovespa.com.br/fnet/publico/visualizarDocumento?id=670691</a:t>
            </a:r>
          </a:p>
          <a:p>
            <a:r>
              <a:t>CNPJ 54871427000194 · Devedor e consignação · Excerto da fonte:</a:t>
            </a:r>
          </a:p>
          <a:p>
            <a:r>
              <a:t>Anexo I ao Regulamento CLASSE ÚNICA DE RESPONSABILIDADE LIMITADA DO CONSIGNADO DELTA RECEIVABLES I FUNDO DE INVESTIMENTO EM DIREITOS CREDITÓRIOS  pelo Endossante e depositados em seu conta de sua titularidade para posterior repasse à  Classe. Neste caso, a Classe poderá sofrer perdas principalmente em relação ao atraso na  regularização da titularidade e pagamento dos Direitos Creditórios.</a:t>
            </a:r>
          </a:p>
          <a:p>
            <a:r>
              <a:t> (v) Risco de pré-pagamento dos Direitos Creditórios. A ocorrência de pré-  pagamentos em relação a um ou mais Direitos Creditórios poderá ocasionar perdas à Classe.</a:t>
            </a:r>
          </a:p>
          <a:p>
            <a:r>
              <a:t> A ocorrência de pré-pagamentos (pagamento em data anterior àquela originalmente pactuada)  de Direitos Creditórios reduz o horizonte original de rendimentos esperados pela Classe de  tais Direitos Creditórios, uma vez que o pré-pagamento poderá, se assim permitido pela  documentação do Direito Creditório ou, conf orme o caso, pela legislação aplicável, ser  realizado pelo valor de emissão do Direito Creditório atualizado até a data do pré-pagamento  pela taxa de juros pactuada entre os Endossantes e os Devedores de tais Direitos Creditórios,  de modo que os juros remuneratórios incidentes desde a data da realização do pré-pagamento  até a data de vencimento do respectivo Direito Creditório deixam de ser devidos à Classe.</a:t>
            </a:r>
          </a:p>
          <a:p>
            <a:r>
              <a:t> (vi) Riscos associados aos Devedores: os Direitos Creditórios a serem cedidos à  Classe serão descontados da remuneração do Devedor, através de desconto em f olha de  pagamento ou de benefício. Nesse sentido, na ocorrência de pré-pagamento, as parcelas  serão pagas antecipadamente e a Classe deverá utilizar tais montantes no pré-pagamento dos  Direitos Creditórios. Nesta hipótese, a Classe poderá não encontrar Direitos Creditórios  disponíveis para serem adquiridos pela Classe, o que poderá afetar a rentabilidade da Classe.</a:t>
            </a:r>
          </a:p>
          <a:p>
            <a:r>
              <a:t> (vii) Risco de Competição: o mercado de empréstimos experimentou grande  expansão no Brasil nos últimos anos. Nesse contexto, a Resolução CMN nº 4.292, alterada  pela Resolução nº 4.762, de 27 de novembro de 2019, dispõe que deve ser garantido às  pessoas naturais devedoras de operações de crédito (tais como as CCB) a possibilidade de  realizarem a portabilidade destas operações para outras instituições financeiras, inclusive nos  casos em que tenham sido objeto de cessão (tais como as realizadas à Classe). Nesse  cenário, é possível que os competidores do Endossante ofereçam condições e taxas mais  vantajosas para os empréstimos pessoais com consignação em f olha de pagamento ou de  benef ícios, o que pode causar a migração de clientes da Endossante para outras instituições  f inanceiras, gerando a liquidação antecipada de parte das CCB existentes e/ou redução no  número de Direitos Creditórios cedidos. Referida competição poderá af etar os resultados da  Classe, impactando negativamente os rendimentos dos Cotistas. Ainda, a portabilidade a um  Devedor pode acarretar no recebimento de valores inf eriores aos esperados pela Classe.</a:t>
            </a:r>
          </a:p>
          <a:p>
            <a:r>
              <a:t> (viii) Insuf iciência dos Critérios de Elegibilidade. Os Critérios de Elegibilidade têm a  f inalidade de selecionar os Direitos Creditórios passíveis de aquisição pela Classe. Não  obstante tais Critérios de Elegibilidade, a solvência dos Direitos Creditórios que compõem a  Carteira depende integralmente, mas não somente, da situação econômico-financeira dos  Devedores. Dessa f orma, a observância pelo GESTOR dos Critérios de Elegibilidade não  constitui garantia de adimplência dos Devedores.</a:t>
            </a:r>
          </a:p>
          <a:p>
            <a:r>
              <a:t> Os Endossantes não necessariamente garantem a solvência dos seus respectivos Devedores.</a:t>
            </a:r>
          </a:p>
          <a:p>
            <a:r>
              <a:t> O Endossante dos Direitos Creditórios não assumirá responsabilidade pelo seu pagamento ou  pela solvência dos respectivos Devedores. A Classe sofrerá o impacto do inadimplemento dos  Direitos Creditórios vencidos e não pagos pelos respectivos Devedores.</a:t>
            </a:r>
          </a:p>
          <a:p>
            <a:r>
              <a:t> (ix) Possibilidade de aquisição de Direitos Creditórios cedidos por Endossante  e/ou devidos por Devedores cujas demonstrações financeiras não sejam auditadas. A Classe,  desde que sejam respeitados os limites de concentração previstos neste Regulamento, poderá  manter a qualquer tempo em sua Carteira, Direitos Creditórios cedidos por Endossante e/ou  devidos por Devedores cujas demonstrações f inanceiras não sejam auditadas por Auditor  Independente registrado na CVM. Nesse sentido, não haverá verificação independente sobre  tais demonstrações f inanceiras que af irme se estas representam adequadamente, em todos  os aspectos relevantes, as respectivas posições patrimoniais e f inanceiras, os resultados de  suas operações, as mutações de seus respectivos patrimônios líquidos tampouco as origens  e aplicações de seus recursos.</a:t>
            </a:r>
          </a:p>
          <a:p>
            <a:r>
              <a:t>CNPJ 54871427000194 · Devedor e consignação · Regulamento · ID 670691 · 2024-04-28 · versão 1 · p. 27 · 14.2 · https://fnet.bmfbovespa.com.br/fnet/publico/visualizarDocumento?id=670691</a:t>
            </a:r>
          </a:p>
          <a:p>
            <a:r>
              <a:t>CNPJ 54871427000194 · Devedor e consignação · Excerto da fonte:</a:t>
            </a:r>
          </a:p>
          <a:p>
            <a:r>
              <a:t>14.2 Todos os custos e despesas ref eridos neste Capítulo, inclusive para salvaguarda de direitos e  prerrogativas da Classe e/ou com a cobrança judicial e/ou extrajudicial de Direitos Creditórios  Inadimplidos, serão de inteira responsabilidade da Classe, não estando o ADMINISTRADOR, o  GESTOR, o Endossante, os Devedores, o CUSTODIANTE e quaisquer de suas respectivas pessoas  controladoras, sociedades por estes direta ou indiretamente controladas, a estes coligadas ou outras  sociedades sob controle comum, em conjunto ou isoladamente, obrigados pelo adiantamento ou  pagamento de valores relacionados aos procedimentos ref eridos neste Capítulo.</a:t>
            </a:r>
          </a:p>
          <a:p>
            <a:r>
              <a:t>CNPJ 54871427000194 · Devedor e consignação · Regulamento · ID 670691 · 2024-04-28 · versão 1 · p. 31 · https://fnet.bmfbovespa.com.br/fnet/publico/visualizarDocumento?id=670691</a:t>
            </a:r>
          </a:p>
          <a:p>
            <a:r>
              <a:t>CNPJ 54871427000194 · Devedor e consignação · Excerto da fonte:</a:t>
            </a:r>
          </a:p>
          <a:p>
            <a:r>
              <a:t>Anexo I ao Regulamento CLASSE ÚNICA DE RESPONSABILIDADE LIMITADA DO CONSIGNADO DELTA RECEIVABLES I FUNDO DE INVESTIMENTO EM DIREITOS CREDITÓRIOS  a resgates de suas Cotas e/ou poderá ser obrigado a se desfazer de tais Ativos Financeiros  de Liquidez em condições menos f avoráveis do que se não houvesse a ref erida situação de  f alta de liquidez.</a:t>
            </a:r>
          </a:p>
          <a:p>
            <a:r>
              <a:t> (iv) Liquidação antecipada do FUNDO ou da Classe. Observado o disposto neste  Regulamento, o FUNDO ou a Classe poderão ser liquidados antecipadamente, caso ocorra  qualquer Evento de Liquidação, ou se assim deliberado pelos Cotistas reunidos em  Assembleia Geral de Cotistas. Por este motivo, os Cotistas poderão ter seu horizonte original  de investimento reduzido e poderão não conseguir reinvestir os recursos recebidos com a  mesma remuneração buscada pela Classe, não sendo devida pela Classe, pelo  ADMINISTRADOR, pelo GESTOR ou pelo CUSTODIANTE qualquer multa ou penalidade, a  qualquer título, em decorrência desse f ato. Adicionalmente, ocorrendo qualquer uma das  hipóteses de liquidação antecipada do FUNDO ou da Classe, poderá não haver recursos  disponíveis em moeda corrente nacional para realizar o pagamento aos Cotistas, que poderão  ser pagos com os Direitos Creditórios e Ativos Financeiros de Liquidez detidos em Carteira, os  quais estão sujeitos aos riscos apontados no item (iii) acima.</a:t>
            </a:r>
          </a:p>
          <a:p>
            <a:r>
              <a:t> (v) Amortização condicionada das Cotas. A única f onte de recursos da Classe  para ef etuar o pagamento de resgate ou amortização das Cotas, conforme o caso, é a  liquidação: (i) dos Direitos Creditórios, pelos respectivos Devedores; e (ii) dos Ativos  Financeiros de Liquidez, pelas respectivas contrapartes. Após o recebimento desses recursos  e, se f or o caso, depois de esgotados todos os meios cabíveis para a cobrança, extrajudicial  ou judicial, dos referidos ativos, a Classe não disporá de quaisquer outras verbas para efetuar  o resgate ou amortização das Cotas, conforme o caso, o que poderá acarretar prejuízo aos  Cotistas.</a:t>
            </a:r>
          </a:p>
          <a:p>
            <a:r>
              <a:t> Ademais, a Classe está exposta a determinados riscos inerentes aos Direitos Creditórios e  Ativos Financeiros de Liquidez e aos mercados em que são negociados, incluindo a eventual  impossibilidade de alienar ativos em caso de necessidade, especialmente os Direitos  Creditórios, devido à inexistência de um mercado secundário ativo e organizado para a  negociação dessa espécie de ativo. Considerando-se a sujeição do resgate das Cotas à  liquidação dos Direitos Creditórios e/ou dos Ativos Financeiros de Liquidez, conforme descrito  acima, tanto o ADMINISTRADOR quanto o GESTOR e o CUSTODIANTE estão  impossibilitados de assegurar que os resgates das Cotas ocorrerão nas datas originalmente  previstas, não sendo devido, nesta hipótese, pela Classe ou qualquer outra pessoa, incluindo  o ADMINISTRADOR, o GESTOR e o CUSTODIANTE, qualquer multa ou penalidade, de  qualquer natureza.</a:t>
            </a:r>
          </a:p>
          <a:p>
            <a:r>
              <a:t> (vi) Ausência de classificação de risco das Cotas e Política de Investimentos  genérica. A ausência de requisitos rígidos relacionados aos Direitos Creditórios passíveis de  aquisição pela Classe poderá dificultar a def inição do perfil de risco da Carteira, af etando a  capacidade de o Cotista avaliar o risco de seu invest imento. As Cotas não possuem  classificação de risco emitida por Agência Classificadora de Risco. Esses f atores podem  dif icultar a avaliação, por parte dos investidores, da qualidade do crédito representado pelas  Cotas e com a capacidade da Classe em honrar com os pagamentos das Cotas.</a:t>
            </a:r>
          </a:p>
          <a:p>
            <a:r>
              <a:t>CNPJ 54871427000194 · Devedor e consignação · Condição: Documentos atuais selecionados no inventário por categoria/escopo; a data documental isolada não comprova vigência jurídica.</a:t>
            </a:r>
          </a:p>
          <a:p>
            <a:r>
              <a:t>CNPJ 54871427000194 · Devedor e consignação · Versão e prevalência: Documentos atuais selecionados no inventário por categoria/escopo; a data documental isolada não comprova vigência jurídica.</a:t>
            </a:r>
          </a:p>
          <a:p>
            <a:r>
              <a:t>CNPJ 54871427000194 · Devedor e consignação · Resumo do histórico: {"count": 2, "dates": ["2024-04-19", "2024-04-28"], "document_count": 2, "sources": [{"document_id": "670691", "title": "Regulamento", "reference_date": "2024-04-28", "version": "1", "page": "38", "url": "https://fnet.bmfbovespa.com.br/fnet/publico/visualizarDocumento?id=670691", "sha256": "bf16dd7f1a62d5cdbf2e2d54fef81783783f7310fbc99c3a8f00459bdf9d037b"}, {"document_id": "670689", "title": "Regulamento", "reference_date": "2024-04-19", "version": "1", "page": 30, "url": "https://fnet.bmfbovespa.com.br/fnet/publico/visualizarDocumento?id=670689", "sha256": "891bc9bc5d87bbc02ec139077a84d2702eb81ea02035fb71d24f5b8366b94a0b"}], "reference": {"path": "history/54871427000194.json", "criterion_id": "debtor", "total_count": 2, "preview_count": 2, "full_text_deferred": true, "sha256": "35d7cd99be50c7287c9fb675cf4f2e736002315295a225a9efa79c8d9186d874"}}</a:t>
            </a:r>
          </a:p>
          <a:p>
            <a:r>
              <a:t>CNPJ 60010416000112 · Devedor e consignação · Regulamento · ID 1051393 · 2025-10-09 · versão 1 · p. 35 · 15.1.4 · https://fnet.bmfbovespa.com.br/fnet/publico/visualizarDocumento?id=1051393</a:t>
            </a:r>
          </a:p>
          <a:p>
            <a:r>
              <a:t>CNPJ 60010416000112 · Devedor e consignação · Excerto da fonte:</a:t>
            </a:r>
          </a:p>
          <a:p>
            <a:r>
              <a:t>15.1.4 Riscos específicos</a:t>
            </a:r>
          </a:p>
          <a:p>
            <a:r>
              <a:t> (i)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 icar inadimplente e,  consequentemente, não haverá repasse à Classe do respectivo Direito Creditório, o que  poderá resultar em perdas f inanceiras à Classe e aos Cotistas.</a:t>
            </a:r>
          </a:p>
          <a:p>
            <a:r>
              <a:t> (ii) Risco do Empregador não efetuar o desconto em folha: o repasse dos recursos oriundos  dos Direitos Creditórios à Classe depende da realização, pelo Empregador, da Escrituração e  do desconto na respectiva f olha de pagamento do Devedor. Na hipótese do Empregador  deixar de realizar a Escrituração ou os descontos na folha de pagamento, não haverá repasse  de recursos à Classe, podendo causar prejuízos à Classe e aos Cotistas.</a:t>
            </a:r>
          </a:p>
          <a:p>
            <a:r>
              <a:t> (iii) Risco de perda do vínculo empregatício com o Empregador: caso o Devedor perca o  vínculo empregatício com o Empregador, não haverá remuneração e f olha de pagamento para  realização dos descontos para pagamento dos Direitos Creditórios. Neste caso, não obstante  a possibilidade do Agente de Retenção/Cobrança realizar a cobrança ativa dos Direitos  Creditórios diretamente do Devedor, a ausência de remuneração poderá deixar o Devedor  inadimplente perante a Classe até que o seu vínculo empregatício seja retomado e seja  ef etuado o procedimento operacional para que a CCB seja aditada e/ou seja realizado o  Processo de Reinicialização. Tais situações poderão resultar em prejuízos à Classe e aos  Cotistas.</a:t>
            </a:r>
          </a:p>
          <a:p>
            <a:r>
              <a:t>CNPJ 60010416000112 · Devedor e consignação · Regulamento · ID 1051393 · 2025-10-09 · versão 1 · p. 36 · https://fnet.bmfbovespa.com.br/fnet/publico/visualizarDocumento?id=1051393</a:t>
            </a:r>
          </a:p>
          <a:p>
            <a:r>
              <a:t>CNPJ 60010416000112 · Devedor e consignação · Excerto da fonte:</a:t>
            </a:r>
          </a:p>
          <a:p>
            <a:r>
              <a:t>Anexo I ao Regulamento CLASSE ÚNICA DO MT I CONSIGNADO PRIVADO I FUNDO DE INVESTIMENTO EM DIREITOS CREDITÓRIOS RESPONSABILIDADE LIMITADA  a qualquer momento, os recursos decorrentes dos Direitos Creditórios.</a:t>
            </a:r>
          </a:p>
          <a:p>
            <a:r>
              <a:t> (iii) Risco de validação das informações para conciliação e reconciliação dos Direitos  Creditórios adquiridos pela Classe: as inf ormações para conciliação dos pagamentos,  sendo considerado como tal, também, o Arquivo Dataprev, listando todos os empregados  cujas f olhas de pagamento serão sujeitas a desconto no mês relevante, nos valores acordados  ao ef etuar a Consignação, e qualquer glosa será enviada pela CEF ao Endossante, que  ef etuará a conciliação e, posteriormente, enviará as inf ormações ao Custodiante. Caso o  Endossante não f orneça essas inf ormações em tempo hábil ou f or verif icada qualquer  inconsistência nas informações recebidas pelo Custodiante, poderá isso impedir ou dar origem  a f alhas no processo de reconciliação dos valores depositados na Conta de Cobrança da  Classe e causando perdas à Classe e ao Cotista.</a:t>
            </a:r>
          </a:p>
          <a:p>
            <a:r>
              <a:t> (iv) Risco operacional dos sistemas: o desconto na f olha de pagamento do Devedor das  parcelas da CCB e a transf erência para o Endossante dos Direitos Creditórios serão  processados por um sistema controlado pela Dataprev, e o Endossante, o Administrador ou o  Gestor não têm controle sobre esse processo. Assim, qualquer f alha ou mudança nesse  sistema poderá atrasar ou reduzir o desconto dos rendimentos dos Devedores ou sua  transf erência para a Classe. Nesse caso, a rentabilidade e a propriedade da Classe poderão  ser adversamente af etadas enquanto o problema do sistema persistir, ou até que todos os  valores sejam devidamente transf eridos.</a:t>
            </a:r>
          </a:p>
          <a:p>
            <a:r>
              <a:t> (v) Risco operacional do Contrato: o desconto na f olha de pagamento das parcelas dos  empréstimos concedidos aos Devedores é permitido pelo Convênio Consignado Privado. As  partes do Convênio Consignado Privado devem seguir certas regras para manter o Convênio  Consignado Privado, e a violação delas poderá levar à sua rescisão. Além disso, mudanças  legais podem af etar e/ou tornar inviável a manutenção do Convênio Consignado Privado.</a:t>
            </a:r>
          </a:p>
          <a:p>
            <a:r>
              <a:t> No caso de rescisão do Convênio Consignado Privado, a estrutura de cobrança dos Direitos  Creditórios (desconto na f olha de pagamento) poderá ser comprometida, dando origem à  necessidade de adoção de uma nova estrutura, que poderá não ser tão eficaz quanto ela ou  mesmo revelar, na prática, ser inadequada ou ter altos custos operacionais. Esses eventos  podem levar a perdas patrimoniais para a Classe, na medida em que este deixará de receber,  def initiva ou temporariamente, recursos oriundos dos Direitos Creditórios, no todo ou em parte.</a:t>
            </a:r>
          </a:p>
          <a:p>
            <a:r>
              <a:t> Adicionalmente, de acordo com o Contrato de Endosso, a manutenção do Convênio  Consignado Privado é uma condição para a aquisição de novos Direitos Creditórios pela  Classe e, portanto, no caso de rescisão do Convênio Consignado Privado, a Classe poderá  ser impedido de adquirir novos Direitos Creditórios.</a:t>
            </a:r>
          </a:p>
          <a:p>
            <a:r>
              <a:t>CNPJ 60010416000112 · Devedor e consignação · Regulamento · ID 1051393 · 2025-10-09 · versão 1 · p. 31 · 13.2 · https://fnet.bmfbovespa.com.br/fnet/publico/visualizarDocumento?id=1051393</a:t>
            </a:r>
          </a:p>
          <a:p>
            <a:r>
              <a:t>CNPJ 60010416000112 · Devedor e consignação · Excerto da fonte:</a:t>
            </a:r>
          </a:p>
          <a:p>
            <a:r>
              <a:t>13.2 Todos os custos e despesas ref eridos neste Capítulo, inclusive para salvaguarda de direitos e  prerrogativas da Classe e/ou com a cobrança judicial e/ou extrajudicial de Direitos Creditórios Inadimplidos  ou Direitos Creditórios a Perf ormar, serão de inteira responsabilidade da Classe, não estando o  Administrador, o Gestor, o Endossante, os Devedores, o Custodiante e quaisquer de suas respectivas  pessoas controladoras, sociedades por estes direta ou indiretamente controladas, a estes coligadas ou  outras sociedades sob controle comum, em conjunto ou isoladamente, obrigados pelo adiantamento ou  pagamento de valores relacionados aos procedimentos ref eridos neste Capítulo.</a:t>
            </a:r>
          </a:p>
          <a:p>
            <a:r>
              <a:t>CNPJ 60010416000112 · Devedor e consignação · Condição: Documentos atuais selecionados no inventário por categoria/escopo; a data documental isolada não comprova vigência jurídica.</a:t>
            </a:r>
          </a:p>
          <a:p>
            <a:r>
              <a:t>CNPJ 60010416000112 · Devedor e consignação · Versão e prevalência: Documentos atuais selecionados no inventário por categoria/escopo; a data documental isolada não comprova vigência jurídica.</a:t>
            </a:r>
          </a:p>
          <a:p>
            <a:r>
              <a:t>CNPJ 60010416000112 · Devedor e consignação · Resumo do histórico: {"count": 2, "dates": ["2025-03-20", "2025-10-09"], "document_count": 2, "sources": [{"document_id": "1051393", "title": "Regulamento", "reference_date": "2025-10-09", "version": "1", "page": "9-10, 42", "url": "https://fnet.bmfbovespa.com.br/fnet/publico/visualizarDocumento?id=1051393", "sha256": "8469d613078ffd5a6c1d217885d8a397a16342c0b937ae4aa24b106505f233ae"}, {"document_id": "993786", "title": "Regulamento", "reference_date": "2025-03-20", "version": "1", "page": 35, "clause": "15.1.4", "url": "https://fnet.bmfbovespa.com.br/fnet/publico/visualizarDocumento?id=993786", "sha256": "fd0fdd369a195510d81f81f505195a0b09e5f43522a990afa7d58c4f872921c8"}], "reference": {"path": "history/60010416000112.json", "criterion_id": "debtor", "total_count": 2, "preview_count": 2, "full_text_deferred": true, "sha256": "8e2bd813f4c51cf01f6bfaad164bafe69d2bbb192f753eac92da3a01c2e63046"}}</a:t>
            </a:r>
          </a:p>
          <a:p>
            <a:r>
              <a:t>CNPJ 62696791000193 · Devedor e consignação · Regulamento · ID 1143317 · 2026-03-20 · versão 1 · p. 47 · 10.2 · https://fnet.bmfbovespa.com.br/fnet/publico/visualizarDocumento?id=1143317</a:t>
            </a:r>
          </a:p>
          <a:p>
            <a:r>
              <a:t>CNPJ 62696791000193 · Devedor e consignação · Excerto da fonte:</a:t>
            </a:r>
          </a:p>
          <a:p>
            <a:r>
              <a:t>10.2. As mudanças climáticas podem impactar severamente os ciclos produtivos de commodities  agrícolas, ocasionando, quebras de saf ra, volatilidade de preços, choques de of erta,  deterioração da qualidade dos produtos por elas atingidos, bem como interrupção no  abastecimento destes. Ref eridas mudanças podem af etar adversamente a capacidade  produtiva e de entrega dos produtos agrícolas pelos devedores, cenário este que impactará  negativamente a capacidade de pagamento dos Ativos-Alvo integrantes da carteira da Classe  pelos devedores e, conforme o caso, pelas pessoas devedoras dos bens e direitos onerados  em f avor da Classe.</a:t>
            </a:r>
          </a:p>
          <a:p>
            <a:r>
              <a:t>CNPJ 62696791000193 · Devedor e consignação · Condição: Documentos atuais selecionados no inventário por categoria/escopo; a data documental isolada não comprova vigência jurídica.</a:t>
            </a:r>
          </a:p>
          <a:p>
            <a:r>
              <a:t>CNPJ 62696791000193 · Devedor e consignação · Versão e prevalência: Documentos atuais selecionados no inventário por categoria/escopo; a data documental isolada não comprova vigência jurídica.</a:t>
            </a:r>
          </a:p>
          <a:p>
            <a:r>
              <a:t>CNPJ 55563624000109 · Devedor e consignação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Devedor e consignação · Resumo do histórico: {"count": 1, "dates": ["2026-04-30"], "document_count": 1, "sources": [{"document_id": "1192614", "title": "Regulamento", "reference_date": "2026-04-30", "version": "1", "page": "11-12", "url": "https://fnet.bmfbovespa.com.br/fnet/publico/visualizarDocumento?id=1192614", "sha256": "f56e63ace0acde41d2f47fb48f1ac7f3f7df5e2d32de092d7c5e075a52516632"}], "reference": {"path": "history/55563624000109.json", "criterion_id": "debtor", "total_count": 1, "preview_count": 1, "full_text_deferred": true, "sha256": "7835d573fb58a3c19adf5b8ecc2aee2bdbb9a88f7a0c0209b5f262b64c7522e3"}}</a:t>
            </a:r>
          </a:p>
          <a:p>
            <a:r>
              <a:t>CNPJ 62552447000120 · Devedor e consignação · Regulamento · ID 1200623 · 2026-05-21 · versão 1 · p. 35 · https://fnet.bmfbovespa.com.br/fnet/publico/visualizarDocumento?id=1200623</a:t>
            </a:r>
          </a:p>
          <a:p>
            <a:r>
              <a:t>CNPJ 62552447000120 · Devedor e consignação · Excerto da fonte:</a:t>
            </a:r>
          </a:p>
          <a:p>
            <a:r>
              <a:t>ativos desses emissores, causando perdas à Classe e ao Cotista. Além disso, a f alta de capacidade ou disposição de pagar por qualquer dos emissores dos Ativos Financeiros de Liquidez ou das contrapartes nas transações que compõem a Carteira causará perdas à Classe, e o que também poderá incorrer em custos para f ins de recuperação de seus recebíveis.</a:t>
            </a:r>
          </a:p>
          <a:p>
            <a:r>
              <a:t>(v) Riscos associados aos Devedores: no caso de Devedores no âmbito das operações de consignado privado, a sua capacidade de pagamento poderá ser af etada se, por exemplo, o Devedor tiver o seu contrato de emprego rescindido ou em virtude de decisão judicial, o Devedor for obrigado a pagar alimentos, que têm prioridade sobre o empréstimo para f ins de desconto na f 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 etar a rentabilidade da Classe. Já no caso de Devedores no âmbito das operações de Saque-aniversário, como os Direitos Creditórios a serem endossados à Classe serão descontados pelo FGTS da remuneração do Devedor, na ocorrência de qualquer evento que, nos termos da legislação aplicável, determine o pagamento antecipado do Saque-aniversário ao Devedor, a exemplo do falecimento do Devedor, dentre outros, as parcelas do Saque- aniversário serão pagas antecipadamente e a Classe deverá utilizar tais montantes no pré-pagamento dos Direitos Creditórios. Nesta hipótese, a Classe poderá não encontrar Direitos Creditórios disponíveis para serem adquiridos pela Classe, o que poderá af etar a rentabilidade da Classe.</a:t>
            </a:r>
          </a:p>
          <a:p>
            <a:r>
              <a:t>Risco de liquidez</a:t>
            </a:r>
          </a:p>
          <a:p>
            <a:r>
              <a:t>(i) Risco de liquidez: consiste no risco de redução ou inexistência de demanda pelos ativos que compõem a Classe nos respectivos mercados em que são negociados, devido às condições específicas desses ativos ou aos mercados em que são negociados. Devido a esses riscos, o Gestor poderá encontrar dificuldades em liquidar posições ou negociar esses ativos pelo preço e prazo desejados, de acordo com a estratégia de gestão adotada pela Classe, que permanecerá exposto, durante o período de baixa liquidez, aos riscos associados a esses ativos e posições assumidas em mercados de derivativos, se houver, que poderão até exigir que o Gestor aceite descontos em seus preços para realizar negociações no mercado. Esses f atores poderão prejudicar o pagamento de Amortizações ao Cotista, nos valores e dentro dos termos aqui estabelecidos.</a:t>
            </a:r>
          </a:p>
          <a:p>
            <a:r>
              <a:t>(ii) Riscos do mercado secundário: A Classe é constituída sob a f orma de condomínio fechado, de modo que as Cotas somente serão resgatadas em virtude da liquidação da Classe. Uma vez que o Prazo de Duração da Classe é indeterminado, o Cotista titular das Cotas não terá liquidez em seu investimento na Classe, exceto</a:t>
            </a:r>
          </a:p>
          <a:p>
            <a:r>
              <a:t>(a) por ocasião das Amortizações e dos resgates, nos termos deste Regulamento; (b) por meio da alienação de suas Cotas no mercado secundário; ou (c) na liquidação antecipada do FUNDO ou da Classe.</a:t>
            </a:r>
          </a:p>
          <a:p>
            <a:r>
              <a:t>Além disso, atualmente, o mercado secundário de cotas de fundos de investimento apresenta baixa liquidez, o que pode dificultar a venda das Cotas ou ocasionar a obtenção de um preço de venda que cause perda de patrimônio ao Cotista. Não há qualquer garantia do Administrador, do Gestor, da consultora ou do Custodiante em relação à possibilidade de venda das Cotas no mercado secundário ou ao preço obtido por elas, ou mesmo garantia de saída ao Cotista.</a:t>
            </a:r>
          </a:p>
          <a:p>
            <a:r>
              <a:t>Riscos específicos</a:t>
            </a:r>
          </a:p>
          <a:p>
            <a:r>
              <a:t>(i)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ficar inadimplente e, consequentemente, não haverá repasse à Classe do respectivo Direito Creditório, o que poderá resultar em perdas f inanceiras à Classe e aos Cotistas. Para os f ins deste Regulamento, “Empregador” signif ica a empresa com qual o Devedor mantém vínculo empregatício registrado junto à CTPS.</a:t>
            </a:r>
          </a:p>
          <a:p>
            <a:r>
              <a:t>(ii) Risco do Empregador não efetuar o desconto em folha: o repasse dos recursos oriundos dos Direitos Creditórios à Classe depende da realização, pelo Empregador, da escrituração da Consignação a ser</a:t>
            </a:r>
          </a:p>
          <a:p>
            <a:r>
              <a:t>CNPJ 62552447000120 · Devedor e consignação · Regulamento · ID 1200623 · 2026-05-21 · versão 1 · p. 36 · https://fnet.bmfbovespa.com.br/fnet/publico/visualizarDocumento?id=1200623</a:t>
            </a:r>
          </a:p>
          <a:p>
            <a:r>
              <a:t>CNPJ 62552447000120 · Devedor e consignação · Excerto da fonte:</a:t>
            </a:r>
          </a:p>
          <a:p>
            <a:r>
              <a:t>realizada pelo empregador, junto ao eSocial, após recebimento de notificação comunicando-o da contratação, pelo Devedor, do empréstimo a ser pago por Consignação (“Escrituração”), e do desconto na respectiva folha de pagamento do Devedor. Na hipótese do Empregador deixar de realizar a Escrituração ou os descontos na f olha de pagamento, não haverá repasse de recursos à Classe, podendo causar prejuízos à Classe e aos Cotistas.</a:t>
            </a:r>
          </a:p>
          <a:p>
            <a:r>
              <a:t>(iii) Risco de perda do vínculo empregatício com o Empregador: caso o Devedor perca o vínculo empregatício com o Empregador, não haverá remuneração e f olha de pagamento para realização dos descontos para pagamento dos Direitos Creditórios. Neste caso, não obstante a possibilidade do Agente de Retenção e Cobrança realizar a cobrança ativa dos Direitos Creditórios diretamente do Devedor, a ausência de remuneração poderá deixar o Devedor inadimplente perante a Classe até que o seu vínculo empregatício seja retomado e seja efetuado o procedimento operacional para que a CCB seja aditada e/ou seja realizado o Processo de Reinicialização. Tais situações poderão resultar em prejuízos à Classe e aos Cotistas.</a:t>
            </a:r>
          </a:p>
          <a:p>
            <a:r>
              <a:t>(iv) Risco relativo ao Agente de Retenção e Cobrança: A solvência do Agente de Retenção e Cobrança quanto às suas obrigações financeiras poderá impactar o cumprimento de suas obrigações perante a Classe e, consequentemente, os rendimentos da Classe poderão ser adversamente af etados.</a:t>
            </a:r>
          </a:p>
          <a:p>
            <a:r>
              <a:t>Riscos operacionais</a:t>
            </a:r>
          </a:p>
          <a:p>
            <a:r>
              <a:t>(i) Risco de irregularidade dos Documentos Comprobatórios e/ou Documentos Suporte: o terceiro contratado pelo Gestor, que atuará sob responsabilidade do Gestor, deverá realizar a verif icação da regularidade dos Documentos Comprobatórios. A Carteira poderá conter Direitos Creditórios com documentação irregular, o que poderá impedir que a Classe exerça plenamente as prerrogativas derivadas da titularidade dos Direitos Creditórios.</a:t>
            </a:r>
          </a:p>
          <a:p>
            <a:r>
              <a:t>(ii) Risco operacional da Dataprev e da CEF: o empréstimo contraído pelos Devedores é pago por meio de desconto na f olha de pagamento f eito pela Dataprev e pela CEF, conf orme aplicável. É possível que os rendimentos dos Devedores sejam atrasados ou não pagos devido a questões operacionais envolvendo a Dataprev e/ou a CEF. Nesse caso, a Carteira poderá sofrer, já que não receberá automaticamente, e também poderá ter dificuldades para receber, a qualquer momento, os recursos decorrentes dos Direitos Creditórios.</a:t>
            </a:r>
          </a:p>
          <a:p>
            <a:r>
              <a:t>(iii) Risco operacional do FGTS: o empréstimo contraído pelos Devedores é pago por meio de desconto dos Saques-aniversário feitos pelo FGTS. É possível que os rendimentos dos Devedores sejam atrasados ou não pagos devido a questões operacionais envolvendo a CEF, incluindo, sem se limitar, a erros e atrasos operacionais envolvendo a CEF. Nesse caso, a Carteira poderá sofrer, já que não receberá automaticamente, e também poderá ter dif iculdades para receber, a qualquer momento, os recursos decorrentes dos Direitos Creditórios.</a:t>
            </a:r>
          </a:p>
          <a:p>
            <a:r>
              <a:t>(iv) Risco de validação das informações para conciliação e reconciliação dos Direitos Creditórios adquiridos pela Classe: as inf ormações para conciliação dos pagamentos, sendo considerado como tal, também, o Arquivo Dataprev e o Arquivo de Liquidação Saque-aniversário, listando todos os empregados cujas f olhas de pagamento ou Saques Aniversário serão sujeitos a desconto no mês, nos valores acordados ao ef etuar a Consignação, e qualquer glosa será enviada pela CEF ao Endossante, que efetuará a conciliação e, posteriormente, enviará as informações ao Custodiante. Caso o Endossante não forneça essas informações em tempo hábil ou for verificada qualquer inconsistência nas informações recebidas pelo Custodiante, poderá isso impedir ou dar origem a falhas no processo de reconciliação dos valores depositados na Conta da Classe e causando perdas à Classe e ao Cotista.</a:t>
            </a:r>
          </a:p>
          <a:p>
            <a:r>
              <a:t>(v) Risco operacional dos sistemas: o desconto na f olha de pagamento e/ou nos Saques Aniversário das parcelas da CCB e a transf erência para o Endossante dos Direitos Creditórios serão processados por meio da Plataforma Dataprev, e o Endossante, o Administrador ou o Gestor não têm controle sobre esse processo.</a:t>
            </a:r>
          </a:p>
          <a:p>
            <a:r>
              <a:t>Assim, qualquer falha ou mudança nesse sistema poderá atrasar ou reduzir o desconto dos rendimentos dos Devedores ou sua transferência para a Classe. Nesse caso, a rentabilidade e a propriedade da Classe poderão ser adversamente af etadas enquanto o problema do sistema persistir, ou até que todos os valores sejam devidamente transf eridos.</a:t>
            </a:r>
          </a:p>
          <a:p>
            <a:r>
              <a:t>(vi) Risco operacional: em linha com as Cláusulas 4.3.1 e 4.3.2 do Anexo I deste Regulamento, o</a:t>
            </a:r>
          </a:p>
          <a:p>
            <a:r>
              <a:t>CNPJ 62552447000120 · Devedor e consignação · Regulamento · ID 1200623 · 2026-05-21 · versão 1 · p. 5 · https://fnet.bmfbovespa.com.br/fnet/publico/visualizarDocumento?id=1200623</a:t>
            </a:r>
          </a:p>
          <a:p>
            <a:r>
              <a:t>CNPJ 62552447000120 · Devedor e consignação · Excerto da fonte:</a:t>
            </a:r>
          </a:p>
          <a:p>
            <a:r>
              <a:t>O objetivo da Classe é proporcionar aos seus Cotistas a valorização de  suas Cotas por meio da aplicação de seu Patrimônio Líquido na aquisição  de:</a:t>
            </a:r>
          </a:p>
          <a:p>
            <a:r>
              <a:t> (i) “Direitos Creditórios”, assim entendidos como, em conjunto:</a:t>
            </a:r>
          </a:p>
          <a:p>
            <a:r>
              <a:t> (a) “Direitos Creditórios Consignado Privado”, na forma de  cédulas de crédito bancário, regidas pela Lei n.º 10.931,  de 2 de agosto de 2004, conforme alterada (“CCBs”),  emitidas eletronicamente por Devedores, em f avor do  Endossante, representando um empréstimo pessoal  consignado, de forma que o pagamento ocorra mediante  desconto de cada prestação vincenda da CCB na f olha  de pagamentos do Devedor (“Consignação”);</a:t>
            </a:r>
          </a:p>
          <a:p>
            <a:r>
              <a:t> (b) “Direitos Creditórios FGTS”, na f orma de CCBs  emitidas eletronicamente por Devedores, em f avor do  Objetivo Endossante, representando um empréstimo pessoal com  garantia de cessão f iduciária dos valores a que f azem jus  os Devedores ref erentes ao saque anual permitido aos  benef iciários do Fundo de Garantia do Tempo de Serviço  (“FGTS”) em seu mês de aniversário (“Saque-  aniversário”), regulado pela Lei n.º 8.036, de 11 de maio  de 1990, conforme alterada (“Lei 8.036”), nos termos dos  arts. 20, inciso XX, 20-A, inciso II, e 20-D, § 3º, da Lei</a:t>
            </a:r>
          </a:p>
          <a:p>
            <a:r>
              <a:t> 8.036, do art. 66-B da Lei n.º 4.728, de 14 de julho de  1965, e da Resolução CC/FGTS n.º 958, de 24 de abril  de 2020, conforme alterada (“Resolução FGTS 958”), de  f orma que parte do Saque-aniversário é utilizada para  liquidar as parcelas devidas da CCB;</a:t>
            </a:r>
          </a:p>
          <a:p>
            <a:r>
              <a:t> (c) “Direitos Creditórios TVM”, na f orma de direitos, títulos  e/ou valores mobiliários representativos de créditos  originados no âmbito de operações de sociedades</a:t>
            </a:r>
          </a:p>
          <a:p>
            <a:r>
              <a:t>CNPJ 62552447000120 · Devedor e consignação · Condição: Documentos atuais selecionados no inventário por categoria/escopo; a data documental isolada não comprova vigência jurídica.</a:t>
            </a:r>
          </a:p>
          <a:p>
            <a:r>
              <a:t>CNPJ 62552447000120 · Devedor e consignação · Versão e prevalência: Documentos atuais selecionados no inventário por categoria/escopo; a data documental isolada não comprova vigência jurídica.</a:t>
            </a:r>
          </a:p>
          <a:p>
            <a:r>
              <a:t>CNPJ 63953620000165 · Devedor e consignação · Anexo ao Regulamento · ID 1222863 · 2026-06-02 · versão 1 · p. 1 · 1.1 · https://fnet.bmfbovespa.com.br/fnet/publico/visualizarDocumento?id=1222863</a:t>
            </a:r>
          </a:p>
          <a:p>
            <a:r>
              <a:t>CNPJ 63953620000165 · Devedor e consignação · Excerto da fonte:</a:t>
            </a:r>
          </a:p>
          <a:p>
            <a:r>
              <a:t>1.1 As principais características da Classe Consignado Privado (para fins deste Anexo, “Classe”) estão descritas  abaixo:</a:t>
            </a:r>
          </a:p>
          <a:p>
            <a:r>
              <a:t> Tipo de Condomínio Fechado.</a:t>
            </a:r>
          </a:p>
          <a:p>
            <a:r>
              <a:t> Indeterminado, exceto se de outra forma vier a ser deliberado pelos Cotistas  Prazo de Duração  reunidos em Assembleia Especial de Cotistas. (“Prazo de Duração”)  Tipo “Financeiro”.</a:t>
            </a:r>
          </a:p>
          <a:p>
            <a:r>
              <a:t> Classificação ANBIMA  Foco de atuação “Créditos Consignados”.</a:t>
            </a:r>
          </a:p>
          <a:p>
            <a:r>
              <a:t> O objetivo da classe é proporcionar aos seus Cotistas a valorização de suas Cotas  por meio da aplicação de seu Patrimônio Líquido (conforme definido abaixo) na  aquisição de: (i) “Direitos Creditórios Crédito Consignado”, representados por  cédula de crédito bancário regida pela Lei nº 10.931, emitida eletronicamente por  um devedor em favor do endossante (“CCB”) e, consequentemente, os recebíveis  decorrente de cada uma das parcelas vincendas, representando um empréstimo  consignado concedido pelo endossante ao devedor, e cujo pagamento ordinário  é feito por desconto de cada prestação vincenda de uma CCB na folha de  pagamentos do devedor (“Consignação”), efetuada pela Caixa Econômica  Federal, de acordo com a legislação aplicável e em conformidade com os  procedimentos estabelecidos no convênio celebrado entre o Endossante e a  Empresa de Tecnologia e Informações da Previdência – DATAPREV e paga na  Conta Vinculada do Endossante (“Convênio Consignado Privado”); e/ou (ii)  “Direitos Creditórios TVM”, representados por direitos, títulos e/ou valores  mobiliários representativos de créditos originados no âmbito de operações de  sociedades integrantes do conglomerado econômico de instituições financeiras  classificadas como S1 pelo BACEN, desde que não representem títulos de  emissão ou coobrigação de instituições financeiras, bem como cotas de fundos  de investimento que invistam preponderantemente nestes direitos, títulos e/ou  Objetivo  valores mobiliários (Direitos Creditórios TVM quando referidos em conjunto  com os Direitos Creditórios Consignado Privado, “Direitos Creditórios”)  observados todos os limites de composição e diversificação da carteira da Classe  (“Carteira”), estabelecidos neste Regulamento e na regulamentação aplicável.</a:t>
            </a:r>
          </a:p>
          <a:p>
            <a:r>
              <a:t> Subsidiariamente, a parcela do Patrimônio Líquido que não esteja alocada em  Direitos Creditórios poderá estar alocado em: (1) certificados de depósito  bancário (CDB) ou recibos de depósito bancário (RDB) com prazo máximo de  vencimento equivalente ao prazo remanescente do Período de Investimento, com  liquidez diária, emitidos por Parati Crédito, Financiamento e Investimento S.A.</a:t>
            </a:r>
          </a:p>
          <a:p>
            <a:r>
              <a:t> e/ou pelo Endossante (“Ativos de Liquidez MT”); e/ou (2) (i) moeda corrente  nacional; (ii) títulos do Tesouro SELIC, anteriormente denominado letra financeira  do Tesouro Nacional (LFT); (iii) certificados de depósito bancário (CDB) ou recibos  de depósito bancário (RDB) com prazo máximo de vencimento equivalente ao  prazo remanescente do Período de Investimento, com liquidez diária, emitidos  por (a) Itaú Unibanco S.A.; (b) Banco Bradesco S.A.; (c) Caixa Econômica Federal;</a:t>
            </a:r>
          </a:p>
          <a:p>
            <a:r>
              <a:t> (d) Banco do Brasil S.A.; (e) Banco Santander (Brasil) S.A.; (f) Banco BTG Pactual  S.A.; (g) Banco Sistema S.A. (“Instituições Autorizadas”); (iv) operações  compromissadas, desde que lastreadas nos títulos mencionados nas alíneas (i) a</a:t>
            </a:r>
          </a:p>
          <a:p>
            <a:r>
              <a:t> (iii) acima, emitidas por Instituições Autorizadas, com liquidez diária e vencimento</a:t>
            </a:r>
          </a:p>
          <a:p>
            <a:r>
              <a:t>CNPJ 63953620000165 · Devedor e consignação · Anexo ao Regulamento · ID 1222863 · 2026-06-02 · versão 1 · p. 19 · 12.6 · https://fnet.bmfbovespa.com.br/fnet/publico/visualizarDocumento?id=1222863</a:t>
            </a:r>
          </a:p>
          <a:p>
            <a:r>
              <a:t>CNPJ 63953620000165 · Devedor e consignação · Excerto da fonte:</a:t>
            </a:r>
          </a:p>
          <a:p>
            <a:r>
              <a:t>12.6 A Classe contratou a Tudo Serviços S.A., sociedade anônima, com sede no município de Fortaleza, Estado do Ceará,  na Avenida Senador Virgulo Távora, nº 303, Lojas 02, 03, 04, 05, 06 e 19, Meireles, CEP 60.170-265, inscrita no CNPJ  sob o nº 27.852.506/0001-85, cujos deveres, sem prejuízo daqueles estabelecidos neste Regulamento, no  “Contrato de Serviços de Retenção e Cobrança e Outras Avenças”, celebrado entre o Agente de  Retenção/Cobrança e a Classe (“Contrato de Serviços MT”) e no Contrato de Endosso, consistirão no  monitoramento e cobrança dos Direitos Creditórios Inadimplidos, observado o disposto neste Anexo I e na  regulamentação aplicável (“Agente de Retenção/Cobrança”):</a:t>
            </a:r>
          </a:p>
          <a:p>
            <a:r>
              <a:t> (i) caso aplicável, atuar na retenção (defesa) de operações de empréstimo consignado cujos Direitos  Creditórios sejam de titularidade da Classe, em caso de tentativa de transferência de tais operações de  empréstimo consignado por instituições proponentes, nos termos da Resolução CMN nº 5.057, em razão de  ofertas de portabilidade feitas por tais instituições proponentes, conforme informado pelo Endossante ou pelo  Custodiante ao Agente de Retenção/Cobrança, diariamente, de acordo com o Contrato de Endosso; sendo  que tal serviço deverá incluir, entre outras atividades auxiliares a ele relacionadas, a avaliação das ofertas de  portabilidade feitas pelas instituições proponentes, buscando, se for o caso, esclarecer as vantagens de não  recorrer à portabilidade, retendo a respectiva operação de empréstimo consignado em seus termos atuais;</a:t>
            </a:r>
          </a:p>
          <a:p>
            <a:r>
              <a:t> (ii) mediante inadimplemento de um Direito Creditório devido à indisponibilidade da margem de crédito do  Devedor, auxiliar o Endossante com o Processo de Reinicialização (conforme detalhado no Contrato de  Endosso) em relação ao respectivo Direito Creditório;</a:t>
            </a:r>
          </a:p>
          <a:p>
            <a:r>
              <a:t> (iii) manter e operar um serviço de atendimento ao consumidor - SAC e uma ouvidoria em conformidade  com os regulamentos aplicáveis, monitorar e resolver reclamações e solicitações de Devedores com  relação às operações de empréstimo consignado que dão origem aos Direitos Creditórios, em  conformidade com o Acordo de Parceria;</a:t>
            </a:r>
          </a:p>
          <a:p>
            <a:r>
              <a:t> (iv) realizar a cobrança dos Direitos Creditórios Inadimplidos;</a:t>
            </a:r>
          </a:p>
          <a:p>
            <a:r>
              <a:t> (v) auxiliar o Endossante na correção de qualquer irregularidade relevante identificada com relação à  originação dos Direitos Creditórios;</a:t>
            </a:r>
          </a:p>
          <a:p>
            <a:r>
              <a:t> (vi) realizar a renegociação junto aos Devedores de Direitos Creditórios Inadimplidos e, caso aplicável, celebrar  aditamento à CCB para refletir os novos termos, decorrentes da renegociação  CAPÍTULO 13 – REMUNERAÇÃO DOS PRESTADORES DE SERVIÇOS  0,05% (cinco centésimos por cento) ao ano, apropriada diariamente na base de 252  (duzentos e cinquenta e dois) Dias Úteis, e paga mensalmente até o 5º (quinto) Dia  Útil do mês subsequente ao mês que se refere, incidente sobre o Patrimônio Líquido  da Classe alocado em Direitos Creditórios Consignado Privado e/ou Ativos de  Liquidez MT, observada remuneração mínima mensal de R$ 2.500,00 (dois mil e  quinhentos reais), a ser corrigida anualmente, em janeiro de cada ano, pela variação  Taxa de Administração  positiva do Índice Geral de Preços – Mercado, divulgado pela Fundação Getúlio  Vargas (“Taxa de Administração” e “IGP-M”, respectivamente).</a:t>
            </a:r>
          </a:p>
          <a:p>
            <a:r>
              <a:t> Na hipótese de extinção do IGP-M, não divulgação ou impossibilidade de sua  utilização, será utilizado o Índice Geral de Preços – Disponibilidade Interna,  divulgado pela Fundação Getúlio Vargas, ou, na falta de ambos, pela variação do IPC  – Índice de Preços ao Consumidor, divulgado pela Fundação Instituto de Pesquisas</a:t>
            </a:r>
          </a:p>
          <a:p>
            <a:r>
              <a:t>CNPJ 63953620000165 · Devedor e consignação · Anexo ao Regulamento · ID 1222863 · 2026-06-02 · versão 1 · p. 2 · https://fnet.bmfbovespa.com.br/fnet/publico/visualizarDocumento?id=1222863</a:t>
            </a:r>
          </a:p>
          <a:p>
            <a:r>
              <a:t>CNPJ 63953620000165 · Devedor e consignação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Devedor e consignação · Condição: Documentos atuais selecionados no inventário por categoria/escopo; a data documental isolada não comprova vigência jurídica.</a:t>
            </a:r>
          </a:p>
          <a:p>
            <a:r>
              <a:t>CNPJ 63953620000165 · Devedor e consignação · Versão e prevalência: Documentos atuais selecionados no inventário por categoria/escopo; a data documental isolada não comprova vigência jurídica.</a:t>
            </a:r>
          </a:p>
          <a:p>
            <a:r>
              <a:t>CNPJ 63953620000165 · Devedor e consignação · Resumo do histórico: {"count": 8, "dates": ["2026-04-28", "2026-05-08", "2026-05-15"], "document_count": 3, "sources": [{"document_id": "1327859", "title": "Demonstrações Financeiras - Fusão, cisão e incorporação", "reference_date": "2026-05-15", "version": "1", "page": 22, "url": "https://fnet.bmfbovespa.com.br/fnet/publico/visualizarDocumento?id=1327859", "sha256": "dca1c68babb97f887528c3e2e47596a9c30f507b067981a35655b2f2da9c8054"}, {"document_id": "1298691", "title": "Demonstrações Financeiras - Fusão, cisão e incorporação", "reference_date": "2026-05-08", "version": "1", "page": 22, "url": "https://fnet.bmfbovespa.com.br/fnet/publico/visualizarDocumento?id=1298691", "sha256": "58c570d9b8d4d265330d3db3ea81c435b8e44a6dab4002aa37790652a1ee9819"}, {"document_id": "1282180", "title": "Demonstrações Financeiras - Fusão, cisão e incorporação", "reference_date": "2026-04-28", "version": "1", "page": 22, "url": "https://fnet.bmfbovespa.com.br/fnet/publico/visualizarDocumento?id=1282180", "sha256": "afaaa0e6809be4385e5bdb6c911aac582032c5bdbac3d7750234bf9eaf00438a"}], "reference": {"path": "history/63953620000165.json", "criterion_id": "debtor", "total_count": 8, "preview_count": 3, "full_text_deferred": true, "sha256": "a7b89077f5e21098c2d601c303faabc3ff6b9729f89d8afecdc60fe1404720c1"}}</a:t>
            </a:r>
          </a:p>
          <a:p>
            <a:r>
              <a:t>CNPJ 54871427000194 · Elegibilidade · Regulamento · ID 670691 · 28/04/2024 · versão Regulamento — referência 28/04/2024 · p. 9 · Anexo I, 4.7(i)–(iv) · https://fnet.bmfbovespa.com.br/fnet/publico/visualizarDocumento?id=670691</a:t>
            </a:r>
          </a:p>
          <a:p>
            <a:r>
              <a:t>CNPJ 54871427000194 · Elegibilidade · Excerto da fonte:</a:t>
            </a:r>
          </a:p>
          <a:p>
            <a:r>
              <a:t>4.7 A Classe somente poderá adquirir os Direitos Creditórios que atendam cumulativamente aos seguintes Critérios de Elegibilidade, a serem verif icados e validados pelo GESTOR, de f orma individualizada e integral, previamente à cessão e na respectiva Data de Aquisição, de modo que apenas são passíveis de aquisição pela Classe os Direitos Creditórios que, na Data de Aquisição: (i) CCBs sem qualquer parcela cedida; (ii) CCBs com diferença menor que 60 (sessenta) dias entre a data provável do endosso e a próxima parcela a vencer; (iii) CCBs cujo valor da prestação seja superior a R$ 30,00 (trinta reais); (iv) Idade do Devedor somada ao prazo remanescente da CCB deve ser igual ou inferior a 80 (oitenta) anos; BTG Pactual SAC: 0800 772 28 27 - Ouvidoria: 0800 722 00 48 - btgpactual.com 3</a:t>
            </a:r>
          </a:p>
          <a:p>
            <a:r>
              <a:t>CNPJ 54871427000194 · Elegibilidade · Regulamento · ID 670691 · 28/04/2024 · versão Regulamento — referência 28/04/2024 · p. 10 · Anexo I, 4.7(v)–(xi) · https://fnet.bmfbovespa.com.br/fnet/publico/visualizarDocumento?id=670691</a:t>
            </a:r>
          </a:p>
          <a:p>
            <a:r>
              <a:t>CNPJ 54871427000194 · Elegibilidade · Excerto da fonte:</a:t>
            </a:r>
          </a:p>
          <a:p>
            <a:r>
              <a:t>(v) CCBs que até a Data do Endosso não estejam pendentes de res olução em relação a uma comprovada reclamação do devedor junto ao Banco Central do Brasil ou ao Procon; (vi) CCBs que não sejam originadas por pessoa física condenada por terem submetido trabalhadores a condições análogas à de escravo – denominada “Lista Suja”; (vii) CCBs sem parcela em atraso; (viii) Aquisição de todas as parcelas vincendas das CCBs, não sendo possível a aquisição de fluxo parcial; (ix) CCBs vinculadas ao órgão convenente, desde que o convênio não se encontre na Data de Aquisição em situação de suspensão; (x) Devedores adimplentes junto ao Endossante com relação aos Direitos Creditórios endossados à Classe; CCB cuja amortização ordinária dos valores devidos, nos últimos 60 (sessenta) dias, tenha ocorrido de f orma integral e ordinária. Na primeira tranche de aquisição de Direitos Creditórios pelo Endossatário tal prazo poderá ser reduzido para 30 (trinta) dias nos casos de amortização extraordinária (via boleto) desde que o valor de aquisição dos ref eridos Direitos Creditórios não ultrapasse R$ 30.000,00 (trinta mil reais), exc</a:t>
            </a:r>
          </a:p>
          <a:p>
            <a:r>
              <a:t>CNPJ 54871427000194 · Elegibilidade · Versão e prevalência: Leitura específica das cláusulas indicadas; condições e conflitos preservados. Seleção documental atual não comprova vigência jurídica por data isolada.</a:t>
            </a:r>
          </a:p>
          <a:p>
            <a:r>
              <a:t>CNPJ 54871427000194 · Elegibilidade · Resumo do histórico: {"count": 2, "dates": ["2024-04-19", "2024-04-28"], "document_count": 2, "sources": [{"document_id": "670691", "title": "Regulamento", "reference_date": "2024-04-28", "version": "1", "page": "9-10", "clause": "4.7", "url": "https://fnet.bmfbovespa.com.br/fnet/publico/visualizarDocumento?id=670691", "sha256": "bf16dd7f1a62d5cdbf2e2d54fef81783783f7310fbc99c3a8f00459bdf9d037b"}, {"document_id": "670689", "title": "Regulamento", "reference_date": "2024-04-19", "version": "1", "page": 10, "clause": "4.7.3", "url": "https://fnet.bmfbovespa.com.br/fnet/publico/visualizarDocumento?id=670689", "sha256": "891bc9bc5d87bbc02ec139077a84d2702eb81ea02035fb71d24f5b8366b94a0b"}], "reference": {"path": "history/54871427000194.json", "criterion_id": "eligibility", "total_count": 2, "preview_count": 2, "full_text_deferred": true, "sha256": "35d7cd99be50c7287c9fb675cf4f2e736002315295a225a9efa79c8d9186d874"}}</a:t>
            </a:r>
          </a:p>
          <a:p>
            <a:r>
              <a:t>CNPJ 60010416000112 · Elegibilidade · Regulamento · ID 1051393 · 2025-10-09 · versão 1 · p. 10 · 4.4.5 · https://fnet.bmfbovespa.com.br/fnet/publico/visualizarDocumento?id=1051393</a:t>
            </a:r>
          </a:p>
          <a:p>
            <a:r>
              <a:t>CNPJ 60010416000112 · Elegibilidade · Excerto da fonte:</a:t>
            </a:r>
          </a:p>
          <a:p>
            <a:r>
              <a:t>4.4.5. Caso um Direito Creditório endossado à Classe deixe de atender quaisquer Critérios de  Elegibilidade, quaisquer condições de endosso e/ou quaisquer declarações e garantias referentes  a esse Direito Creditório, conforme previsto no Contrato de Endosso, após seu endosso à Classe,  não haverá coobrigação nem direito de regresso da Classe contra o Endossante, o Administrador,  o Custodiante, o Gestor e/ou o Agente de Retenção/Cobrança, exceto em caso de má-fé, culpa  ou dolo comprovado, hipótese em que a parte que agiu com má-f é, culpa ou dolo comprovado  poderá ser responsabilizada pelas perdas incorridas pela Classe em relação aos respectivos  Direitos Creditórios. Se, entretanto, for constatado que um Direito Creditório endossado à Classe  não estava em conformidade com os Critérios de Elegibilidade, condições de endosso ou com as  declarações e garantias prestadas pelo Endossante no Contrato de Endosso, na respectiva data  de endosso, então o endosso desse Direito Creditório poderá ser objeto de resolução pela Classe.</a:t>
            </a:r>
          </a:p>
          <a:p>
            <a:r>
              <a:t> Nessa hipótese, a Classe terá o direito de resolver o endosso desse Direito Creditório, devolvendo-  o ao Endossante por valor a ser restituído à Classe. Adicionalmente, se f or constatado que um  Direito Creditório endossado à Classe não estava em conf ormidade com as declarações e  garantias prestadas pelo Agente de Retenção/Cobrança no Contrato de Endosso, na respectiva  data de endosso, então a Classe terá o direito de vender esse Direito Creditório ao Agente de  Retenção/Cobrança (opção de venda). A retrovenda ou a venda, conforme o caso, será realizada  de acordo com os termos, condições, formalidades e preços de recompra compulsória e opção de  venda detalhados no Contrato de Endosso.</a:t>
            </a:r>
          </a:p>
          <a:p>
            <a:r>
              <a:t>CNPJ 60010416000112 · Elegibilidade · Regulamento · ID 1051393 · 2025-10-09 · versão 1 · p. 9 · 4.3 · https://fnet.bmfbovespa.com.br/fnet/publico/visualizarDocumento?id=1051393</a:t>
            </a:r>
          </a:p>
          <a:p>
            <a:r>
              <a:t>CNPJ 60010416000112 · Elegibilidade · Excerto da fonte:</a:t>
            </a:r>
          </a:p>
          <a:p>
            <a:r>
              <a:t>4.3 Os Direitos Creditórios deverão contar com Documentos Comprobatórios que evidenciem sua existência,  validade e exequibilidade perante os respectivos Devedores.</a:t>
            </a:r>
          </a:p>
          <a:p>
            <a:r>
              <a:t> Critérios de Elegibilidade</a:t>
            </a:r>
          </a:p>
          <a:p>
            <a:r>
              <a:t>CNPJ 60010416000112 · Elegibilidade · Regulamento · ID 1051393 · 2025-10-09 · versão 1 · p. 9 · 4.4 · https://fnet.bmfbovespa.com.br/fnet/publico/visualizarDocumento?id=1051393</a:t>
            </a:r>
          </a:p>
          <a:p>
            <a:r>
              <a:t>CNPJ 60010416000112 · Elegibilidade · Excerto da fonte:</a:t>
            </a:r>
          </a:p>
          <a:p>
            <a:r>
              <a:t>4.4 A Classe somente poderá adquirir os Direitos Creditórios que atendam, cumulativamente, aos seguintes  Critérios de Elegibilidade, a serem verificados e validados pelo Gestor, de forma individualizada e integral,  previamente ao endosso do Direito Creditório, na respectiva Data de Aquisição:</a:t>
            </a:r>
          </a:p>
          <a:p>
            <a:r>
              <a:t> (i) os Direitos Creditórios deverão decorrer de empréstimo concedido pelo Endossante a um  Devedor, representado por uma CCB, com taxa de juros prefixada e vencimento final anterior  ao vencimento f inal da Classe;</a:t>
            </a:r>
          </a:p>
          <a:p>
            <a:r>
              <a:t>BTG Pactual SAC: 0800 772 28 27 - Ouvidoria: 0800 722 00 48 - btgpactual.com 9</a:t>
            </a:r>
          </a:p>
          <a:p>
            <a:r>
              <a:t>CNPJ 60010416000112 · Elegibilidade · Condição: Documentos atuais selecionados no inventário por categoria/escopo; a data documental isolada não comprova vigência jurídica.</a:t>
            </a:r>
          </a:p>
          <a:p>
            <a:r>
              <a:t>CNPJ 60010416000112 · Elegibilidade · Versão e prevalência: Documentos atuais selecionados no inventário por categoria/escopo; a data documental isolada não comprova vigência jurídica.</a:t>
            </a:r>
          </a:p>
          <a:p>
            <a:r>
              <a:t>CNPJ 60010416000112 · Elegibilidade · Resumo do histórico: {"count": 2, "dates": ["2025-03-20", "2025-10-09"], "document_count": 2, "sources": [{"document_id": "1051393", "title": "Regulamento", "reference_date": "2025-10-09", "version": "1", "page": "9-10", "clause": "4.4(ii)", "url": "https://fnet.bmfbovespa.com.br/fnet/publico/visualizarDocumento?id=1051393", "sha256": "8469d613078ffd5a6c1d217885d8a397a16342c0b937ae4aa24b106505f233ae"}, {"document_id": "993786", "title": "Regulamento", "reference_date": "2025-03-20", "version": "1", "page": 10, "clause": "4.4.5", "url": "https://fnet.bmfbovespa.com.br/fnet/publico/visualizarDocumento?id=993786", "sha256": "fd0fdd369a195510d81f81f505195a0b09e5f43522a990afa7d58c4f872921c8"}], "reference": {"path": "history/60010416000112.json", "criterion_id": "eligibility", "total_count": 2, "preview_count": 2, "full_text_deferred": true, "sha256": "8e2bd813f4c51cf01f6bfaad164bafe69d2bbb192f753eac92da3a01c2e63046"}}</a:t>
            </a:r>
          </a:p>
          <a:p>
            <a:r>
              <a:t>CNPJ 62696791000193 · Elegibilidade · Regulamento · ID 1143317 · 20/03/2026 · versão Regulamento — referência 20/03/2026 · p. 11 · Anexo I, 4.7–4.7.3 · https://fnet.bmfbovespa.com.br/fnet/publico/visualizarDocumento?id=1143317</a:t>
            </a:r>
          </a:p>
          <a:p>
            <a:r>
              <a:t>CNPJ 62696791000193 · Elegibilidade · Excerto da fonte:</a:t>
            </a:r>
          </a:p>
          <a:p>
            <a:r>
              <a:t>4.7 A Classe somente poderá adquirir os Direitos Creditórios do Agronegócio que atendam cumulativamente aos seguintes critérios de elegibilidade, a serem verificados e validados pelo Gestor, por amostragem, previamente à cessão e na respectiva data de aquisição dos Direitos Creditórios do Agronegócio (“Data de Aquisição”), de modo que apenas são passíveis de aquisição pela Classe os Direitos Creditórios do Agronegócio que, na Data de Aquisição (“Critérios de Elegibilidade”): (i) sejam representados em moeda corrente nacional; (ii) a natureza ou característica essencial dos Direitos Creditórios do Agronegócio deverá permitir o seu registro contábil e a sua custódia pelo Custodiante, de acordo com os procedimentos operacionais e contábeis praticados pelo Custodiante, ou seu registro em entidade registradora; (iii) sejam ativos de origem vinculada às cadeias produtivas do agronegócio ; e (iv) sejam representados por direitos e/ou títulos representativos de crédito, com ou sem garantias reais ou pessoais a eles atreladas, incluindo, sem limitação, duplicatas, debêntures, contratos de locação e contratos mercantis de compra e venda de produtos</a:t>
            </a:r>
          </a:p>
          <a:p>
            <a:r>
              <a:t>CNPJ 62696791000193 · Elegibilidade · Versão e prevalência: Leitura específica das cláusulas indicadas; condições e conflitos preservados. Seleção documental atual não comprova vigência jurídica por data isolada.</a:t>
            </a:r>
          </a:p>
          <a:p>
            <a:r>
              <a:t>CNPJ 55563624000109 · Elegibilidade · Regulamento · ID 1192614 · 30/04/2026 · versão Regulamento30/04/2026 · p. 12 · AnexoI4.6–4.8.2 · https://fnet.bmfbovespa.com.br/fnet/publico/visualizarDocumento?id=1192614</a:t>
            </a:r>
          </a:p>
          <a:p>
            <a:r>
              <a:t>CNPJ 55563624000109 · Elegibilidade · Excerto da fonte:</a:t>
            </a:r>
          </a:p>
          <a:p>
            <a:r>
              <a:t>4.6 As Cotas da Classe Investida deverão contar com Documentos Comprobatórios que evidenciem sua existência, validade e exequibilidade. 4.7 As Cotas da Classe Investida serão adquiridas pela Classe por meio: (i) de contratos de aquisição de Cotas da Classe Investida firmados entre a Classe e os respectivos vendedores das Cotas da Classe Investida; (ii) negociação em mercado organizado; e/ou (iii) da subscrição de Cotas da Classe Investida, colocadas de forma privada ou ofertadas publicamente, independentemente do regime de distribuição, observada a Política</a:t>
            </a:r>
          </a:p>
          <a:p>
            <a:r>
              <a:t>CNPJ 55563624000109 · Elegibilidade · Versão e prevalência: Leitura específica das cláusulas indicadas; condições e conflitos preservados. Seleção documental atual não comprova vigência jurídica por data isolada.</a:t>
            </a:r>
          </a:p>
          <a:p>
            <a:r>
              <a:t>CNPJ 55563624000109 · Elegibilidade · Resumo do histórico: {"count": 3, "dates": ["2025-01-31", "2026-01-31", "2026-04-30"], "document_count": 3, "sources": [{"document_id": "1192614", "title": "Regulamento", "reference_date": "2026-04-30", "version": "1", "page": "12", "url": "https://fnet.bmfbovespa.com.br/fnet/publico/visualizarDocumento?id=1192614", "sha256": "f56e63ace0acde41d2f47fb48f1ac7f3f7df5e2d32de092d7c5e075a52516632"}, {"document_id": "1178840", "title": "Demonstrações Financeiras", "reference_date": "2026-01-31", "version": "1", "page": 16, "url": "https://fnet.bmfbovespa.com.br/fnet/publico/visualizarDocumento?id=1178840", "sha256": "c458e98664c5c907ddb5a05a94b120bed4e05295b2bfc420f5ba69af0a229abe"}, {"document_id": "891861", "title": "Demonstrações Financeiras", "reference_date": "2025-01-31", "version": "1", "page": 16, "url": "https://fnet.bmfbovespa.com.br/fnet/publico/visualizarDocumento?id=891861", "sha256": "e9cb9e6ddbe505fe068cfcac33605165a98313489de0d3ce6d4d238263c3f3e7"}], "reference": {"path": "history/55563624000109.json", "criterion_id": "eligibility", "total_count": 3, "preview_count": 3, "full_text_deferred": true, "sha256": "7835d573fb58a3c19adf5b8ecc2aee2bdbb9a88f7a0c0209b5f262b64c7522e3"}}</a:t>
            </a:r>
          </a:p>
          <a:p>
            <a:r>
              <a:t>CNPJ 62552447000120 · Elegibilidade · Regulamento · ID 1200623 · 21/05/2026 · versão Consolidado21/05/2026 aprovado pelo ato1200625 · p. 6 · AnexoI1.2 Critérios(i)(a)–(b) · https://fnet.bmfbovespa.com.br/fnet/publico/visualizarDocumento?id=1200623</a:t>
            </a:r>
          </a:p>
          <a:p>
            <a:r>
              <a:t>CNPJ 62552447000120 · Elegibilidade · Excerto da fonte:</a:t>
            </a:r>
          </a:p>
          <a:p>
            <a:r>
              <a:t>Critérios de Elegibilidade”): (i) com relação a todos os Direitos Creditórios : (a) sejam representados em moeda corrente nacional; Critérios de Elegibilidade (b) a natureza ou característica essencial dos Direitos Creditórios deverá permitir o seu registro contábil e a sua custódia pelo Custodiante, de acordo com os procedimentos operacionais e contábeis praticados</a:t>
            </a:r>
          </a:p>
          <a:p>
            <a:r>
              <a:t>CNPJ 62552447000120 · Elegibilidade · Regulamento · ID 1200623 · 21/05/2026 · versão Consolidado21/05/2026 aprovado pelo ato1200625 · p. 7 · AnexoI1.2 Critérios(i)(c)–(v) · https://fnet.bmfbovespa.com.br/fnet/publico/visualizarDocumento?id=1200623</a:t>
            </a:r>
          </a:p>
          <a:p>
            <a:r>
              <a:t>CNPJ 62552447000120 · Elegibilidade · Excerto da fonte:</a:t>
            </a:r>
          </a:p>
          <a:p>
            <a:r>
              <a:t>(v) com relação aos Direitos Creditórios TVM: (a) representem, a qualquer momento, no máximo 10% (dez por cento) do Patrimônio Líquido. Sem prejuízo dos Critérios de Elegibilidade, a Classe somente poderá adquirir os Direitos Creditórios Ref inanciamento Livre, os Direitos Creditórios Consignado Privado e os Direitos Creditórios FGTS com relação aos quais tenha se verif icado as seguintes Condições de Endosso, na forma prevista na Cláusula 4.7 (“Co</a:t>
            </a:r>
          </a:p>
          <a:p>
            <a:r>
              <a:t>CNPJ 62552447000120 · Elegibilidade · Regulamento · ID 1200623 · 21/05/2026 · versão Consolidado21/05/2026 aprovado pelo ato1200625 · p. 12 · AnexoI4.6 · https://fnet.bmfbovespa.com.br/fnet/publico/visualizarDocumento?id=1200623</a:t>
            </a:r>
          </a:p>
          <a:p>
            <a:r>
              <a:t>CNPJ 62552447000120 · Elegibilidade · Excerto da fonte:</a:t>
            </a:r>
          </a:p>
          <a:p>
            <a:r>
              <a:t>4.6 A Classe somente poderá adquirir os Direitos Creditórios que, na data da sua aquisição (“Data de Aquisição”), atendam a todos os Critérios de Elegibilidade, a serem verif icados e validados pelo Gestor, de f orma individualizada e integral, e não por amostragem. 4.6.1 Para f ins da verificação dos Critérios de Elegibilidade, será considerado o Patrimônio Líquido e o valor dos Direitos Creditórios integrantes da Carteira no Dia Útil imediatamente anterior à Data de Aquisição. 4.6.2 Todos os Documentos Comprobatórios e, com relação a cada Direito Creditório, conforme apli</a:t>
            </a:r>
          </a:p>
          <a:p>
            <a:r>
              <a:t>CNPJ 62552447000120 · Elegibilidade · Versão e prevalência: Leitura específica das cláusulas indicadas; condições e conflitos preservados. Seleção documental atual não comprova vigência jurídica por data isolada.</a:t>
            </a:r>
          </a:p>
          <a:p>
            <a:r>
              <a:t>CNPJ 63953620000165 · Elegibilidade · Anexo ao Regulamento · ID 1222863 · 02/06/2026 · versão AnexoConsignadoPrivado02/06/2026 · p. 6 · 4.10–4.10.3 · https://fnet.bmfbovespa.com.br/fnet/publico/visualizarDocumento?id=1222863</a:t>
            </a:r>
          </a:p>
          <a:p>
            <a:r>
              <a:t>CNPJ 63953620000165 · Elegibilidade · Excerto da fonte:</a:t>
            </a:r>
          </a:p>
          <a:p>
            <a:r>
              <a:t>4.10 A Classe somente poderá adquirir os Direitos Creditórios que atendam cumulativamente aos Critérios de Elegibilidade, a serem verificados e validados pelo Gestor, de forma individualizada e integral, previamente à cessão e na respectiva data de aquisição dos Direitos Creditórios (“Data de Aquisição”), de modo que apenas são passíveis de aquisição pela Classe os Direitos Creditórios que, na Data de Aquisição, atendam a todos os Critérios de Elegibilidade. 4.10.1 Para fins da verificação dos Critérios de Elegibilidade, será considerado o Patrimônio Líquido e o valor dos Direitos Creditórios integrantes</a:t>
            </a:r>
          </a:p>
          <a:p>
            <a:r>
              <a:t>CNPJ 63953620000165 · Elegibilidade · Versão e prevalência: Leitura específica das cláusulas indicadas; condições e conflitos preservados. Seleção documental atual não comprova vigência jurídica por data isolada.</a:t>
            </a:r>
          </a:p>
          <a:p>
            <a:r>
              <a:t>CNPJ 63953620000165 · Elegibilidade · Resumo do histórico: {"count": 8, "dates": ["2026-04-28", "2026-05-08", "2026-05-15"], "document_count": 3, "sources": [{"document_id": "1327859", "title": "Demonstrações Financeiras - Fusão, cisão e incorporação", "reference_date": "2026-05-15", "version": "1", "page": 24, "url": "https://fnet.bmfbovespa.com.br/fnet/publico/visualizarDocumento?id=1327859", "sha256": "dca1c68babb97f887528c3e2e47596a9c30f507b067981a35655b2f2da9c8054"}, {"document_id": "1298691", "title": "Demonstrações Financeiras - Fusão, cisão e incorporação", "reference_date": "2026-05-08", "version": "1", "page": 24, "url": "https://fnet.bmfbovespa.com.br/fnet/publico/visualizarDocumento?id=1298691", "sha256": "58c570d9b8d4d265330d3db3ea81c435b8e44a6dab4002aa37790652a1ee9819"}, {"document_id": "1282180", "title": "Demonstrações Financeiras - Fusão, cisão e incorporação", "reference_date": "2026-04-28", "version": "1", "page": 25, "url": "https://fnet.bmfbovespa.com.br/fnet/publico/visualizarDocumento?id=1282180", "sha256": "afaaa0e6809be4385e5bdb6c911aac582032c5bdbac3d7750234bf9eaf00438a"}], "reference": {"path": "history/63953620000165.json", "criterion_id": "eligibility", "total_count": 8, "preview_count": 3, "full_text_deferred": true, "sha256": "a7b89077f5e21098c2d601c303faabc3ff6b9729f89d8afecdc60fe1404720c1"}}</a:t>
            </a:r>
          </a:p>
          <a:p>
            <a:r>
              <a:t>CNPJ 54871427000194 · Limites por contrato e devedor · Regulamento · ID 670691 · 28/04/2024 · versão Regulamento — referência 28/04/2024 · p. 10 · Anexo I, 4.7, parágrafo anterior ao inciso (xi) e inciso (xi) · https://fnet.bmfbovespa.com.br/fnet/publico/visualizarDocumento?id=670691</a:t>
            </a:r>
          </a:p>
          <a:p>
            <a:r>
              <a:t>CNPJ 54871427000194 · Limites por contrato e devedor · Excerto da fonte:</a:t>
            </a:r>
          </a:p>
          <a:p>
            <a:r>
              <a:t>CCB cuja amortização ordinária dos valores devidos, nos últimos 60 (sessenta) dias, tenha ocorrido de f orma integral e ordinária. Na primeira tranche de aquisição de Direitos Creditórios pelo Endossatário tal prazo poderá ser reduzido para 30 (trinta) dias nos casos de amortização extraordinária (via boleto) desde que o valor de aquisição dos ref eridos Direitos Creditórios não ultrapasse R$ 30.000,00 (trinta mil reais), exclusivamente via consignação em f olha de pagamento ou de benef ício; e (xi) Endosso de todas as CCBs de um mesmo Devedor que não ultrapasse 20% (vinte por cento) do patrimônio líquido da Classe. 4.7.1 Os Documentos Comprobatórios deverão ser disponibilizados pelo respectivo Endossante (a) no prazo de 10 (dez) dias contados da Data de Aquisição dos 50 (cinquenta) casos que sejam solicitados pelo GESTOR, a seu exclusivo critério, (b) a totalidade dos demais Documentos Comprobatórios em f ormato digital em até 90 (noventa) dias a contar da Data de Aquisição, bem como dos Documentos Comprobatórios em formato físico relativos aos Direitos Creditórios que eventualmente estejam inadimplidos em ref erida da</a:t>
            </a:r>
          </a:p>
          <a:p>
            <a:r>
              <a:t>CNPJ 54871427000194 · Limites por contrato e devedor · Condição: R$ 30 mil é teto da exceção de aquisição da primeira tranche; não é teto geral de cada CCB.</a:t>
            </a:r>
          </a:p>
          <a:p>
            <a:r>
              <a:t>CNPJ 54871427000194 · Limites por contrato e devedor · Motivo: Não localizada uma cláusula material para este critério nos textos identificados e processados. A ausência de resultado não comprova inexistência da regra.</a:t>
            </a:r>
          </a:p>
          <a:p>
            <a:r>
              <a:t>CNPJ 54871427000194 · Limites por contrato e devedor · Versão e prevalência: Leitura específica das cláusulas indicadas; condições e conflitos preservados. Seleção documental atual não comprova vigência jurídica por data isolada.</a:t>
            </a:r>
          </a:p>
          <a:p>
            <a:r>
              <a:t>CNPJ 60010416000112 · Limites por contrato e devedor · Regulamento · ID 1051393 · 09/10/2025 · versão Regulamento09/10/2025 · p. 10 · AnexoI4.4(ii), (iv),4.4.1 · https://fnet.bmfbovespa.com.br/fnet/publico/visualizarDocumento?id=1051393</a:t>
            </a:r>
          </a:p>
          <a:p>
            <a:r>
              <a:t>CNPJ 60010416000112 · Limites por contrato e devedor · Excerto da fonte:</a:t>
            </a:r>
          </a:p>
          <a:p>
            <a:r>
              <a:t>R$ 100.000,00 (cem mil reais), observado o disposto no item 4.4.1 abaixo; (iii) o prazo de vencimento das CCB representativas dos Direitos Creditórios deverá ser, no máximo, equivalente ao prazo máximo permitido pelas leis e regulamentações aplicáveis; e (iv) os Direitos Creditórios não poderão ser devidos por Devedores que tenham acima de 64 (sessenta e quatro) anos 11 (onze) meses e 29 (vinte e nove) dias na data de emissão da respectiva CCB. 4.4.1. O limite máximo de exposição da Classe por Devedor estabeleci</a:t>
            </a:r>
          </a:p>
          <a:p>
            <a:r>
              <a:t>CNPJ 60010416000112 · Limites por contrato e devedor · Condição: Prevalência da cláusula específica 4.4.1; limite privado do Contrato não foi presumido.</a:t>
            </a:r>
          </a:p>
          <a:p>
            <a:r>
              <a:t>CNPJ 60010416000112 · Limites por contrato e devedor · Motivo: Não localizada uma cláusula material para este critério nos textos identificados e processados. A ausência de resultado não comprova inexistência da regra.</a:t>
            </a:r>
          </a:p>
          <a:p>
            <a:r>
              <a:t>CNPJ 60010416000112 · Limites por contrato e devedor · Versão e prevalência: Leitura específica das cláusulas indicadas; condições e conflitos preservados. Seleção documental atual não comprova vigência jurídica por data isolada.</a:t>
            </a:r>
          </a:p>
          <a:p>
            <a:r>
              <a:t>CNPJ 62696791000193 · Limites por contrato e devedor · Motivo: Não localizada uma cláusula material para este critério nos textos identificados e processados. A ausência de resultado não comprova inexistência da regra.</a:t>
            </a:r>
          </a:p>
          <a:p>
            <a:r>
              <a:t>CNPJ 55563624000109 · Limites por contrato e devedor · Motivo: Não localizada uma cláusula material para este critério nos textos identificados e processados. A ausência de resultado não comprova inexistência da regra.</a:t>
            </a:r>
          </a:p>
          <a:p>
            <a:r>
              <a:t>CNPJ 62552447000120 · Limites por contrato e devedor · Motivo: Não localizada uma cláusula material para este critério nos textos identificados e processados. A ausência de resultado não comprova inexistência da regra.</a:t>
            </a:r>
          </a:p>
          <a:p>
            <a:r>
              <a:t>CNPJ 63953620000165 · Limites por contrato e devedor · Motivo: Não localizada uma cláusula material para este critério nos textos identificados e processados. A ausência de resultado não comprova inexistência da regra.</a:t>
            </a:r>
          </a:p>
          <a:p>
            <a:r>
              <a:t>CNPJ 54871427000194 · Prazo dos créditos e carência · Motivo: Não localizada uma cláusula material para este critério nos textos identificados e processados. A ausência de resultado não comprova inexistência da regra.</a:t>
            </a:r>
          </a:p>
          <a:p>
            <a:r>
              <a:t>CNPJ 60010416000112 · Prazo dos créditos e carência · Regulamento · ID 1051393 · 2025-10-09 · versão 1 · p. 11 · 4.5 · https://fnet.bmfbovespa.com.br/fnet/publico/visualizarDocumento?id=1051393</a:t>
            </a:r>
          </a:p>
          <a:p>
            <a:r>
              <a:t>CNPJ 60010416000112 · Prazo dos créditos e carência · Excerto da fonte:</a:t>
            </a:r>
          </a:p>
          <a:p>
            <a:r>
              <a:t>4.5 A parcela do Patrimônio Líquido que não estiver alocada em Direitos Creditórios será necessariamente  alocada no seguintes ativos (“Ativos Financeiros de Liquidez”).</a:t>
            </a:r>
          </a:p>
          <a:p>
            <a:r>
              <a:t> (i) moeda corrente nacional;</a:t>
            </a:r>
          </a:p>
          <a:p>
            <a:r>
              <a:t> (ii) títulos do Tesouro SELIC, anteriormente denominado letra f inanceira do Tesouro Nacional  (LFT);</a:t>
            </a:r>
          </a:p>
          <a:p>
            <a:r>
              <a:t> (iii) certif icados de depósito bancário (CDB) ou recibos de depósito bancário (RDB) com prazo  máximo de vencimento equivalente ao prazo remanescente do Período de Investimento, com  liquidez diária, emitidos por Instituições Autorizadas e/ou pelo Endossante, sendo certo que  os certif icados de depósito bancário (CDB) e recibos de depósito bancário (RDB) emitidos  pelo Endossante e integrantes da carteira da Classe não poderão exceder o valor de R$</a:t>
            </a:r>
          </a:p>
          <a:p>
            <a:r>
              <a:t> 25.000.000,00 (vinte e cinco milhões de reais);</a:t>
            </a:r>
          </a:p>
          <a:p>
            <a:r>
              <a:t> (iv) operações compromissadas, desde que lastreadas nos títulos mencionados nas alíneas (i) a</a:t>
            </a:r>
          </a:p>
          <a:p>
            <a:r>
              <a:t> (iii) acima, emitidas por Instituições Autorizadas, com liquidez diária e vencimento inferior a  365 (trezentos e sessenta e cinco) dias; e</a:t>
            </a:r>
          </a:p>
          <a:p>
            <a:r>
              <a:t> (v) cotas de classes de f undos de investimentos de renda f ixa ou indexados à Taxa DI com  liquidez diária, cujas políticas de investimento admitam a alocação de recursos  exclusivamente nos ativos das alíneas (ii) e (iii) acima, incluindo f undos geridos e/ou  administrados pelo Administrador, pelo Custodiante e/ou pelo Gestor.</a:t>
            </a:r>
          </a:p>
          <a:p>
            <a:r>
              <a:t>Limites de Concentração e Vedações para a Composição da Carteira</a:t>
            </a:r>
          </a:p>
          <a:p>
            <a:r>
              <a:t>CNPJ 60010416000112 · Prazo dos créditos e carência · Regulamento · ID 1051393 · 2025-10-09 · versão 1 · p. 10 · https://fnet.bmfbovespa.com.br/fnet/publico/visualizarDocumento?id=1051393</a:t>
            </a:r>
          </a:p>
          <a:p>
            <a:r>
              <a:t>CNPJ 60010416000112 · Prazo dos créditos e carência · Excerto da fonte:</a:t>
            </a:r>
          </a:p>
          <a:p>
            <a:r>
              <a:t>Anexo I ao Regulamento CLASSE ÚNICA DO MT I CONSIGNADO PRIVADO I FUNDO DE INVESTIMENTO EM DIREITOS CREDITÓRIOS RESPONSABILIDADE LIMITADA</a:t>
            </a:r>
          </a:p>
          <a:p>
            <a:r>
              <a:t> (ii) o saldo dos Direitos Creditórios devidos pelo mesmo Devedor à Classe, considerando, pro  forma, o endosso pretendido, não deverá exceder R$ 100.000,00 (cem mil reais), observado  o disposto no item 4.4.1 abaixo;</a:t>
            </a:r>
          </a:p>
          <a:p>
            <a:r>
              <a:t> (iii) o prazo de vencimento das CCB representativas dos Direitos Creditórios deverá ser, no  máximo, equivalente ao prazo máximo permitido pelas leis e regulamentações aplicáveis; e</a:t>
            </a:r>
          </a:p>
          <a:p>
            <a:r>
              <a:t> (iv) os Direitos Creditórios não poderão ser devidos por Devedores que tenham acima de 64  (sessenta e quatro) anos 11 (onze) meses e 29 (vinte e nove) dias na data de emissão da  respectiva CCB.</a:t>
            </a:r>
          </a:p>
          <a:p>
            <a:r>
              <a:t>CNPJ 60010416000112 · Prazo dos créditos e carência · Condição: Documentos atuais selecionados no inventário por categoria/escopo; a data documental isolada não comprova vigência jurídica.</a:t>
            </a:r>
          </a:p>
          <a:p>
            <a:r>
              <a:t>CNPJ 60010416000112 · Prazo dos créditos e carência · Versão e prevalência: Documentos atuais selecionados no inventário por categoria/escopo; a data documental isolada não comprova vigência jurídica.</a:t>
            </a:r>
          </a:p>
          <a:p>
            <a:r>
              <a:t>CNPJ 60010416000112 · Prazo dos créditos e carência · Resumo do histórico: {"count": 1, "dates": ["2025-03-20"], "document_count": 1, "sources": [{"document_id": "993786", "title": "Regulamento", "reference_date": "2025-03-20", "version": "1", "page": 11, "clause": "4.5", "url": "https://fnet.bmfbovespa.com.br/fnet/publico/visualizarDocumento?id=993786", "sha256": "fd0fdd369a195510d81f81f505195a0b09e5f43522a990afa7d58c4f872921c8"}], "reference": {"path": "history/60010416000112.json", "criterion_id": "term", "total_count": 1, "preview_count": 1, "full_text_deferred": true, "sha256": "8e2bd813f4c51cf01f6bfaad164bafe69d2bbb192f753eac92da3a01c2e63046"}}</a:t>
            </a:r>
          </a:p>
          <a:p>
            <a:r>
              <a:t>CNPJ 62696791000193 · Prazo dos créditos e carência · Motivo: Não localizada uma cláusula material para este critério nos textos identificados e processados. A ausência de resultado não comprova inexistência da regra.</a:t>
            </a:r>
          </a:p>
          <a:p>
            <a:r>
              <a:t>CNPJ 55563624000109 · Prazo dos créditos e carência · Motivo: Não localizada uma cláusula material para este critério nos textos identificados e processados. A ausência de resultado não comprova inexistência da regra.</a:t>
            </a:r>
          </a:p>
          <a:p>
            <a:r>
              <a:t>CNPJ 62552447000120 · Prazo dos créditos e carência · Motivo: Não localizada uma cláusula material para este critério nos textos identificados e processados. A ausência de resultado não comprova inexistência da regra.</a:t>
            </a:r>
          </a:p>
          <a:p>
            <a:r>
              <a:t>CNPJ 63953620000165 · Prazo dos créditos e carência · Anexo ao Regulamento · ID 1222863 · 2026-06-02 · versão 1 · p. 2 · https://fnet.bmfbovespa.com.br/fnet/publico/visualizarDocumento?id=1222863</a:t>
            </a:r>
          </a:p>
          <a:p>
            <a:r>
              <a:t>CNPJ 63953620000165 · Prazo dos créditos e carência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Prazo dos créditos e carência · Condição: Documentos atuais selecionados no inventário por categoria/escopo; a data documental isolada não comprova vigência jurídica.</a:t>
            </a:r>
          </a:p>
          <a:p>
            <a:r>
              <a:t>CNPJ 63953620000165 · Prazo dos créditos e carência · Versão e prevalência: Documentos atuais selecionados no inventário por categoria/escopo; a data documental isolada não comprova vigência jurídica.</a:t>
            </a:r>
          </a:p>
          <a:p>
            <a:r>
              <a:t>CNPJ 63953620000165 · Prazo dos créditos e carência · Resumo do histórico: {"count": 8, "dates": ["2026-04-28", "2026-05-08", "2026-05-15"], "document_count": 3, "sources": [{"document_id": "1327859", "title": "Demonstrações Financeiras - Fusão, cisão e incorporação", "reference_date": "2026-05-15", "version": "1", "page": 16, "url": "https://fnet.bmfbovespa.com.br/fnet/publico/visualizarDocumento?id=1327859", "sha256": "dca1c68babb97f887528c3e2e47596a9c30f507b067981a35655b2f2da9c8054"}, {"document_id": "1298691", "title": "Demonstrações Financeiras - Fusão, cisão e incorporação", "reference_date": "2026-05-08", "version": "1", "page": 16, "url": "https://fnet.bmfbovespa.com.br/fnet/publico/visualizarDocumento?id=1298691", "sha256": "58c570d9b8d4d265330d3db3ea81c435b8e44a6dab4002aa37790652a1ee9819"}, {"document_id": "1282180", "title": "Demonstrações Financeiras - Fusão, cisão e incorporação", "reference_date": "2026-04-28", "version": "1", "page": 16, "url": "https://fnet.bmfbovespa.com.br/fnet/publico/visualizarDocumento?id=1282180", "sha256": "afaaa0e6809be4385e5bdb6c911aac582032c5bdbac3d7750234bf9eaf00438a"}], "reference": {"path": "history/63953620000165.json", "criterion_id": "term", "total_count": 8, "preview_count": 3, "full_text_deferred": true, "sha256": "a7b89077f5e21098c2d601c303faabc3ff6b9729f89d8afecdc60fe1404720c1"}}</a:t>
            </a:r>
          </a:p>
          <a:p>
            <a:r>
              <a:t>CNPJ 54871427000194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null, "comparison_required": true, "context_formula": "", "context_value": null, "context_unit": ""}</a:t>
            </a:r>
          </a:p>
          <a:p>
            <a:r>
              <a:t>CNPJ 54871427000194 · Concentração por devedor, cedente e grupo · Regulamento · ID 670691 · 28/04/2024 · versão Regulamento — referência 28/04/2024 · p. 11 · Anexo I, 4.10 e 4.11.2–4.11.4 · https://fnet.bmfbovespa.com.br/fnet/publico/visualizarDocumento?id=670691</a:t>
            </a:r>
          </a:p>
          <a:p>
            <a:r>
              <a:t>CNPJ 54871427000194 · Concentração por devedor, cedente e grupo · Excerto da fonte:</a:t>
            </a:r>
          </a:p>
          <a:p>
            <a:r>
              <a:t>4.10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4.11 A Classe poderá, direta ou indiretamente e, nos termos da legislação aplicável: (i) adquirir Direitos Creditórios que sejam cedidos e/ou originados pelo ADMINISTRADOR e/ou pelo GESTOR, ou partes a eles relacionadas, tal como definidas pelas regras contábeis que tratam desse assunto; e (ii) ceder Direitos Creditórios a qualquer das pessoas, fundos de investimento ou entidades referidas no item (i) acima, desde que (i) o ADMINISTRADOR, GESTOR, a entidade registradora e o CUSTODIANTE de Direitos Creditórios não sejam partes relacionadas entre si; e (ii) a entidade registradora e o</a:t>
            </a:r>
          </a:p>
          <a:p>
            <a:r>
              <a:t>CNPJ 54871427000194 · Concentração por devedor, cedente e grupo · Regulamento · ID 670691 · 28/04/2024 · versão Regulamento — referência 28/04/2024 · p. 10 · Anexo I, 4.7(xi) · https://fnet.bmfbovespa.com.br/fnet/publico/visualizarDocumento?id=670691</a:t>
            </a:r>
          </a:p>
          <a:p>
            <a:r>
              <a:t>CNPJ 54871427000194 · Concentração por devedor, cedente e grupo · Excerto da fonte:</a:t>
            </a:r>
          </a:p>
          <a:p>
            <a:r>
              <a:t>(xi) Endosso de todas as CCBs de um mesmo Devedor que não ultrapasse 20% (vinte por cento) do patrimônio líquido da Classe. 4.7.1 Os Documentos Comprobatórios deverão ser disponibilizados pelo respectivo Endossante (a) no prazo de 10 (dez) dias contados da Data de Aquisição dos 50 (cinquenta) casos que sejam solicitados pelo GESTOR, a seu exclusivo critério, (b) a totalidade dos demais Documentos Comprobatórios em f ormato digital em até 90 (noventa) dias a contar da Data de Aquisição, bem como dos Documentos Comprobatórios em formato físico relativos aos Direitos Creditórios que eventualmente estejam inadimplidos em ref erida data, e (c) a totalidade dos demais Documentos Comprobatórios em f ormato f ísico em até 180 (cento e oitenta) dias a contar da Data de Aquisição, sujeito à resolução do respectivo endosso, de acordo com os termos do Contrato de Endosso. 4.7.2 Caso um Direito Creditório cedido à Classe deixe de atender quaisquer Critérios de Elegibilidade e/ou quaisquer declarações e garantias ref erentes a esse Direito Creditório, conf orme previsto no respectivo Contrato de Endosso, após seu endosso à</a:t>
            </a:r>
          </a:p>
          <a:p>
            <a:r>
              <a:t>CNPJ 54871427000194 · Concentração por devedor, cedente e grupo · Condição: Na aquisição, o critério específico de 20% restringe o permissivo geral de 100%. Uma concentração observada no IME exige base e devedor identificados.</a:t>
            </a:r>
          </a:p>
          <a:p>
            <a:r>
              <a:t>CNPJ 54871427000194 · Concentração por devedor, cedente e grupo · Versão e prevalência: Leitura específica das cláusulas indicadas; condições e conflitos preservados. Seleção documental atual não comprova vigência jurídica por data isolada.</a:t>
            </a:r>
          </a:p>
          <a:p>
            <a:r>
              <a:t>CNPJ 54871427000194 · Concentração por devedor, cedente e grupo · Resumo do histórico: {"count": 2, "dates": ["2024-04-19", "2024-04-28"], "document_count": 2, "sources": [{"document_id": "670691", "title": "Regulamento", "reference_date": "2024-04-28", "version": "1", "page": "10-11", "url": "https://fnet.bmfbovespa.com.br/fnet/publico/visualizarDocumento?id=670691", "sha256": "bf16dd7f1a62d5cdbf2e2d54fef81783783f7310fbc99c3a8f00459bdf9d037b"}, {"document_id": "670689", "title": "Regulamento", "reference_date": "2024-04-19", "version": "1", "page": 11, "clause": "4.10", "url": "https://fnet.bmfbovespa.com.br/fnet/publico/visualizarDocumento?id=670689", "sha256": "891bc9bc5d87bbc02ec139077a84d2702eb81ea02035fb71d24f5b8366b94a0b"}], "reference": {"path": "history/54871427000194.json", "criterion_id": "concentration", "total_count": 2, "preview_count": 2, "full_text_deferred": true, "sha256": "35d7cd99be50c7287c9fb675cf4f2e736002315295a225a9efa79c8d9186d874"}}</a:t>
            </a:r>
          </a:p>
          <a:p>
            <a:r>
              <a:t>CNPJ 60010416000112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null, "comparison_required": true, "context_formula": "", "context_value": null, "context_unit": ""}</a:t>
            </a:r>
          </a:p>
          <a:p>
            <a:r>
              <a:t>CNPJ 60010416000112 · Concentração por devedor, cedente e grupo · Regulamento · ID 1051393 · 09/10/2025 · versão Regulamento09/10/2025 · p. 11 · AnexoI4.4.9(iv),4.5(iii) · https://fnet.bmfbovespa.com.br/fnet/publico/visualizarDocumento?id=1051393</a:t>
            </a:r>
          </a:p>
          <a:p>
            <a:r>
              <a:t>CNPJ 60010416000112 · Concentração por devedor, cedente e grupo · Excerto da fonte:</a:t>
            </a:r>
          </a:p>
          <a:p>
            <a:r>
              <a:t>3,00% (três por cento) do Patrimônio Líquido da Classe. Ativos Financeiros de Liquidez 4.5 A parcela do Patrimônio Líquido que não estiver alocada em Direitos Creditórios será necessariamente alocada no seguintes ativos (“Ativos Financeiros de Liquidez”). (i) moeda corrente nacional; (ii) títulos do Tesouro SELIC, anteriormente denominado letra f inanceira do Tesouro Nacional (LFT); (iii) certif icados de depósito bancário (CDB) ou recibos de depósito bancário (RDB) com prazo máximo de vencimento equivalente ao prazo remanescente</a:t>
            </a:r>
          </a:p>
          <a:p>
            <a:r>
              <a:t>CNPJ 60010416000112 · Concentração por devedor, cedente e grupo · Regulamento · ID 1051393 · 09/10/2025 · versão Regulamento09/10/2025 · p. 12 · AnexoI4.7–4.8 · https://fnet.bmfbovespa.com.br/fnet/publico/visualizarDocumento?id=1051393</a:t>
            </a:r>
          </a:p>
          <a:p>
            <a:r>
              <a:t>CNPJ 60010416000112 · Concentração por devedor, cedente e grupo · Excerto da fonte:</a:t>
            </a:r>
          </a:p>
          <a:p>
            <a:r>
              <a:t>4.7 A Classe deverá observar, ainda, os limites de concentração definidos na Política de Crédito, que integra o Contrato de Endosso como Anexo 3.2(v). 4.8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a:t>
            </a:r>
          </a:p>
          <a:p>
            <a:r>
              <a:t>CNPJ 60010416000112 · Concentração por devedor, cedente e grupo · Versão e prevalência: Leitura específica das cláusulas indicadas; condições e conflitos preservados. Seleção documental atual não comprova vigência jurídica por data isolada.</a:t>
            </a:r>
          </a:p>
          <a:p>
            <a:r>
              <a:t>CNPJ 60010416000112 · Concentração por devedor, cedente e grupo · Resumo do histórico: {"count": 2, "dates": ["2025-03-20", "2025-10-09"], "document_count": 2, "sources": [{"document_id": "1051393", "title": "Regulamento", "reference_date": "2025-10-09", "version": "1", "page": "11-12", "url": "https://fnet.bmfbovespa.com.br/fnet/publico/visualizarDocumento?id=1051393", "sha256": "8469d613078ffd5a6c1d217885d8a397a16342c0b937ae4aa24b106505f233ae"}, {"document_id": "993786", "title": "Regulamento", "reference_date": "2025-03-20", "version": "1", "page": 12, "clause": "4.8", "url": "https://fnet.bmfbovespa.com.br/fnet/publico/visualizarDocumento?id=993786", "sha256": "fd0fdd369a195510d81f81f505195a0b09e5f43522a990afa7d58c4f872921c8"}], "reference": {"path": "history/60010416000112.json", "criterion_id": "concentration", "total_count": 2, "preview_count": 2, "full_text_deferred": true, "sha256": "8e2bd813f4c51cf01f6bfaad164bafe69d2bbb192f753eac92da3a01c2e63046"}}</a:t>
            </a:r>
          </a:p>
          <a:p>
            <a:r>
              <a:t>CNPJ 62696791000193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null, "comparison_required": true, "context_formula": "", "context_value": null, "context_unit": ""}</a:t>
            </a:r>
          </a:p>
          <a:p>
            <a:r>
              <a:t>CNPJ 62696791000193 · Concentração por devedor, cedente e grupo · Regulamento · ID 1143317 · 20/03/2026 · versão Regulamento — referência 20/03/2026 · p. 11 · Anexo I, 4.8–4.9 · https://fnet.bmfbovespa.com.br/fnet/publico/visualizarDocumento?id=1143317</a:t>
            </a:r>
          </a:p>
          <a:p>
            <a:r>
              <a:t>CNPJ 62696791000193 · Concentração por devedor, cedente e grupo · Excerto da fonte:</a:t>
            </a:r>
          </a:p>
          <a:p>
            <a:r>
              <a:t>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relacionadas ao Gestor. 4.8.1 As aplicações em Direitos Creditórios do Agronegócio decorrentes de receitas públicas originárias ou derivadas da União, dos Estados, do Distrito Federal e dos Municípios ou de suas autarquias e f undações, assim como em Direitos Creditórios do Agronegócio cedidos ou originados por empresas controladas pelo poder público, não estão submetidas ao limite de concentração por emissor previsto no caput. 4.9 Nos termos do Art. 45 do Anexo</a:t>
            </a:r>
          </a:p>
          <a:p>
            <a:r>
              <a:t>CNPJ 62696791000193 · Concentração por devedor, cedente e grupo · Regulamento · ID 1143317 · 20/03/2026 · versão Regulamento — referência 20/03/2026 · p. 12 · Anexo I, 4.10(i)–(ix) · https://fnet.bmfbovespa.com.br/fnet/publico/visualizarDocumento?id=1143317</a:t>
            </a:r>
          </a:p>
          <a:p>
            <a:r>
              <a:t>CNPJ 62696791000193 · Concentração por devedor, cedente e grupo · Excerto da fonte:</a:t>
            </a:r>
          </a:p>
          <a:p>
            <a:r>
              <a:t>4.10 Sem prejuízo de limites mais restritivos definidos neste Anexo, o Gestor deverá observar, ainda, os seguintes limites de concentração: (i) A Classe poderá, direta ou indiretamente, ter até 100% (cem por cento) do Patrimônio Líquido representado por Direitos Creditórios do Agronegócio originados ou cedidos pelo Administrador, Gestor e/ou suas partes relacionadas, tal como definidas pelas regras contábeis que tratam desse assunto, desde que (a) o Gest or, a entidade registradora e o Custodiante dos Direitos Creditórios do Agronegócio não sejam partes relacionadas entre si; e (b) a entidade registradora e o Custodiante dos Direitos Creditórios do Agronegócio não sejam partes relacionadas ao originador ou Cedente. (ii) No máximo, 100% (cem por cento) do Patrimônio Líquido investido em Ativos Financeiros de Liquidez de emissão ou que envolvam retenção de risco por parte do Administrador, Gestor, e/ou suas partes relacionadas, observado ainda o disposto no item Error! Reference source not found.;</a:t>
            </a:r>
          </a:p>
          <a:p>
            <a:r>
              <a:t>CNPJ 62696791000193 · Concentração por devedor, cedente e grupo · Condição: Liquidez/derivativos relacionados também têm permissivos de 100%, mas remissões internas aparecem como “Error! Reference source not found.”.</a:t>
            </a:r>
          </a:p>
          <a:p>
            <a:r>
              <a:t>CNPJ 62696791000193 · Concentração por devedor, cedente e grupo · Versão e prevalência: Leitura específica das cláusulas indicadas; condições e conflitos preservados. Seleção documental atual não comprova vigência jurídica por data isolada.</a:t>
            </a:r>
          </a:p>
          <a:p>
            <a:r>
              <a:t>CNPJ 55563624000109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null, "comparison_required": true, "context_formula": "", "context_value": null, "context_unit": ""}</a:t>
            </a:r>
          </a:p>
          <a:p>
            <a:r>
              <a:t>CNPJ 55563624000109 · Concentração por devedor, cedente e grupo · Regulamento · ID 1192614 · 30/04/2026 · versão Regulamento30/04/2026 · p. 13 · AnexoI4.11–4.12.1 · https://fnet.bmfbovespa.com.br/fnet/publico/visualizarDocumento?id=1192614</a:t>
            </a:r>
          </a:p>
          <a:p>
            <a:r>
              <a:t>CNPJ 55563624000109 · Concentração por devedor, cedente e grupo · Excerto da fonte:</a:t>
            </a:r>
          </a:p>
          <a:p>
            <a:r>
              <a:t>4.11 Nos termos dos artigos 45, parágrafo 7º, e 47 parágrafo único do Anexo Normativo II à Resolução CVM 175, uma vez que as Cotas são destinadas exclusivamente a Investidores Profissionais, a Classe poderá ter até 100% (cem por cento) de seu Patrimônio Líquido alocado em Cotas da Classe Investida, as quais são emitidas pela Classe Investida. 4.12 A Classe poderá, direta ou indiretamente (i) adquirir Cotas da Classe Investida que sejam administrados pelo ADMINISTRADOR, e geridos ou cogeridos pelo GESTOR, ou partes a eles relacionadas, tal como definidas pelas</a:t>
            </a:r>
          </a:p>
          <a:p>
            <a:r>
              <a:t>CNPJ 55563624000109 · Concentração por devedor, cedente e grupo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Concentração por devedor, cedente e grupo · Versão e prevalência: Leitura específica das cláusulas indicadas; condições e conflitos preservados. Seleção documental atual não comprova vigência jurídica por data isolada.</a:t>
            </a:r>
          </a:p>
          <a:p>
            <a:r>
              <a:t>CNPJ 55563624000109 · Concentração por devedor, cedente e grupo · Resumo do histórico: {"count": 1, "dates": ["2026-04-30"], "document_count": 1, "sources": [{"document_id": "1192614", "title": "Regulamento", "reference_date": "2026-04-30", "version": "1", "page": "11-12", "url": "https://fnet.bmfbovespa.com.br/fnet/publico/visualizarDocumento?id=1192614", "sha256": "f56e63ace0acde41d2f47fb48f1ac7f3f7df5e2d32de092d7c5e075a52516632"}], "reference": {"path": "history/55563624000109.json", "criterion_id": "concentration", "total_count": 1, "preview_count": 1, "full_text_deferred": true, "sha256": "7835d573fb58a3c19adf5b8ecc2aee2bdbb9a88f7a0c0209b5f262b64c7522e3"}}</a:t>
            </a:r>
          </a:p>
          <a:p>
            <a:r>
              <a:t>CNPJ 62552447000120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null, "comparison_required": true, "context_formula": "", "context_value": null, "context_unit": ""}</a:t>
            </a:r>
          </a:p>
          <a:p>
            <a:r>
              <a:t>CNPJ 62552447000120 · Concentração por devedor, cedente e grupo · Regulamento · ID 1200623 · 21/05/2026 · versão Consolidado21/05/2026 aprovado pelo ato1200625 · p. 14 · AnexoI4.10–4.13 · https://fnet.bmfbovespa.com.br/fnet/publico/visualizarDocumento?id=1200623</a:t>
            </a:r>
          </a:p>
          <a:p>
            <a:r>
              <a:t>CNPJ 62552447000120 · Concentração por devedor, cedente e grupo · Excerto da fonte:</a:t>
            </a:r>
          </a:p>
          <a:p>
            <a:r>
              <a:t>4.10 Nos termos do art. 45, §7º, inciso II, do Anexo Normativo II, a Classe poderá ter até 100% (cem por cento) de seu Patrimônio Líquido alocado em Direitos Creditórios, derivativos, observado o disposto abaixo,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4.10.1 O uso de derivativos está restr</a:t>
            </a:r>
          </a:p>
          <a:p>
            <a:r>
              <a:t>CNPJ 62552447000120 · Concentração por devedor, cedente e grupo · Condição: Regulamento permite concentração ampla; TVM têm limite específico 10% PL na elegibilidade.</a:t>
            </a:r>
          </a:p>
          <a:p>
            <a:r>
              <a:t>CNPJ 62552447000120 · Concentração por devedor, cedente e grupo · Versão e prevalência: Leitura específica das cláusulas indicadas; condições e conflitos preservados. Seleção documental atual não comprova vigência jurídica por data isolada.</a:t>
            </a:r>
          </a:p>
          <a:p>
            <a:r>
              <a:t>CNPJ 63953620000165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null, "comparison_required": true, "context_formula": "", "context_value": null, "context_unit": ""}</a:t>
            </a:r>
          </a:p>
          <a:p>
            <a:r>
              <a:t>CNPJ 63953620000165 · Concentração por devedor, cedente e grupo · Anexo ao Regulamento · ID 1222863 · 02/06/2026 · versão AnexoConsignadoPrivado02/06/2026 · p. 6 · 4.14 · https://fnet.bmfbovespa.com.br/fnet/publico/visualizarDocumento?id=1222863</a:t>
            </a:r>
          </a:p>
          <a:p>
            <a:r>
              <a:t>CNPJ 63953620000165 · Concentração por devedor, cedente e grupo · Excerto da fonte:</a:t>
            </a:r>
          </a:p>
          <a:p>
            <a:r>
              <a:t>4.14 Nos termos do Art. 45, §7º, inciso II, do Anexo Normativo II da Resolução CVM 175, a Classe poderá ter até 100% (cem por cento) de seu Patrimônio Líquido alocado em Direitos Creditórios, derivativos, observado o disposto neste Anexo I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4.15 Sem prejuízo de limites</a:t>
            </a:r>
          </a:p>
          <a:p>
            <a:r>
              <a:t>CNPJ 63953620000165 · Concentração por devedor, cedente e grupo · Anexo ao Regulamento · ID 1222863 · 02/06/2026 · versão AnexoConsignadoPrivado02/06/2026 · p. 7 · 4.15(i)–(v) · https://fnet.bmfbovespa.com.br/fnet/publico/visualizarDocumento?id=1222863</a:t>
            </a:r>
          </a:p>
          <a:p>
            <a:r>
              <a:t>CNPJ 63953620000165 · Concentração por devedor, cedente e grupo · Excerto da fonte:</a:t>
            </a:r>
          </a:p>
          <a:p>
            <a:r>
              <a:t>(i)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CNPJ 63953620000165 · Concentração por devedor, cedente e grupo · Versão e prevalência: Leitura específica das cláusulas indicadas; condições e conflitos preservados. Seleção documental atual não comprova vigência jurídica por data isolada.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Recebíveis e aquisição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Natureza dos recebíveis · Regulamento · ID 670691 · 28/04/2024 · versão Regulamento — referência 28/04/2024 · p. 9 · Anexo I, 4.2–4.2.1 · https://fnet.bmfbovespa.com.br/fnet/publico/visualizarDocumento?id=670691</a:t>
            </a:r>
          </a:p>
          <a:p>
            <a:r>
              <a:t>CNPJ 54871427000194 · Natureza dos recebíveis · Excerto da fonte:</a:t>
            </a:r>
          </a:p>
          <a:p>
            <a:r>
              <a:t>4.2 Os Direitos Creditórios representados por Certif icados de Cédulas de Crédito Bancário (“CCCBs”), representativos de um agrupamento de determinadas CCBs, originadas no âmbito de operações de empréstimos pessoais concedidos por um Endossante a um Devedor, devidamente f ormalizadas por via eletrônica de acordo com a legislação aplicável, segundo os critérios de composição e diversificação estabelecidos pela regulamentação aplicável e neste Regulamento. 4.2.1 Cada Endossante deve ter celebrado convênio com órgão consignante, previamente à cessão de Direitos Creditórios à Classe, que contemplam a obrigação da manutenção da consignação/averbação junto ao novo órgão, de modo a possibilitar o pagamento dos Direitos Creditórios por meio de consignação em f olha de pagamento ou de benef ício . 4.3 Os pagamentos relativos aos Direitos Creditórios de titularidade da Classe serão realizados mediante consignação em folha, débito em conta de titularidade dos Devedores e pagamentos de sinistros, para pagamento dos valores correspondentes às parcelas das CCBs representadas pelos CCCBs de titularidade da Classe, os quais serão conciliados e repassados pelo Endossan</a:t>
            </a:r>
          </a:p>
          <a:p>
            <a:r>
              <a:t>CNPJ 54871427000194 · Natureza dos recebíveis · Versão e prevalência: Leitura específica das cláusulas indicadas; condições e conflitos preservados. Seleção documental atual não comprova vigência jurídica por data isolada.</a:t>
            </a:r>
          </a:p>
          <a:p>
            <a:r>
              <a:t>CNPJ 54871427000194 · Natureza dos recebíveis · Resumo do histórico: {"count": 3, "dates": ["2024-04-19", "2024-04-28"], "document_count": 2, "sources": [{"document_id": "670691", "title": "Regulamento", "reference_date": "2024-04-28", "version": "1", "page": "9, 38-39", "url": "https://fnet.bmfbovespa.com.br/fnet/publico/visualizarDocumento?id=670691", "sha256": "bf16dd7f1a62d5cdbf2e2d54fef81783783f7310fbc99c3a8f00459bdf9d037b"}, {"document_id": "670691", "title": "Regulamento", "reference_date": "2024-04-28", "version": "1", "page": 34, "clause": "15.1.5", "url": "https://fnet.bmfbovespa.com.br/fnet/publico/visualizarDocumento?id=670691", "sha256": "bf16dd7f1a62d5cdbf2e2d54fef81783783f7310fbc99c3a8f00459bdf9d037b"}, {"document_id": "670689", "title": "Regulamento", "reference_date": "2024-04-19", "version": "1", "page": 35, "clause": "15.1.5", "url": "https://fnet.bmfbovespa.com.br/fnet/publico/visualizarDocumento?id=670689", "sha256": "891bc9bc5d87bbc02ec139077a84d2702eb81ea02035fb71d24f5b8366b94a0b"}], "reference": {"path": "history/54871427000194.json", "criterion_id": "receivables", "total_count": 3, "preview_count": 3, "full_text_deferred": true, "sha256": "35d7cd99be50c7287c9fb675cf4f2e736002315295a225a9efa79c8d9186d874"}}</a:t>
            </a:r>
          </a:p>
          <a:p>
            <a:r>
              <a:t>CNPJ 60010416000112 · Natureza dos recebíveis · Regulamento · ID 1051393 · 09/10/2025 · versão Regulamento09/10/2025 · p. 9 · AnexoI4.2 · https://fnet.bmfbovespa.com.br/fnet/publico/visualizarDocumento?id=1051393</a:t>
            </a:r>
          </a:p>
          <a:p>
            <a:r>
              <a:t>CNPJ 60010416000112 · Natureza dos recebíveis · Excerto da fonte:</a:t>
            </a:r>
          </a:p>
          <a:p>
            <a:r>
              <a:t>4.2 Os Direitos Creditórios são originados no âmbito de operações de empréstimo consignado concedido pelo Endossante a um Devedor por meio da Plataforma MT e representado por CCB, devidamente formalizada por via eletrônica, de acordo com a legislação aplicável, observada a Política de Crédito constante do Contrato de Endosso. O Endossante celebrou o Convênio Consignado Privado previamente ao endosso de Direitos Creditórios Elegíveis à Classe, para que, após a averbação dos Direitos Creditórios na Dataprev, o pagamento regular dos Direitos Creditórios decorrentes das CCB seja f eito por Consignação</a:t>
            </a:r>
          </a:p>
          <a:p>
            <a:r>
              <a:t>CNPJ 60010416000112 · Natureza dos recebíveis · Versão e prevalência: Leitura específica das cláusulas indicadas; condições e conflitos preservados. Seleção documental atual não comprova vigência jurídica por data isolada.</a:t>
            </a:r>
          </a:p>
          <a:p>
            <a:r>
              <a:t>CNPJ 60010416000112 · Natureza dos recebíveis · Resumo do histórico: {"count": 2, "dates": ["2025-03-20", "2025-10-09"], "document_count": 2, "sources": [{"document_id": "1051393", "title": "Regulamento", "reference_date": "2025-10-09", "version": "1", "page": "9-11", "url": "https://fnet.bmfbovespa.com.br/fnet/publico/visualizarDocumento?id=1051393", "sha256": "8469d613078ffd5a6c1d217885d8a397a16342c0b937ae4aa24b106505f233ae"}, {"document_id": "993786", "title": "Regulamento", "reference_date": "2025-03-20", "version": "1", "page": 30, "clause": "12.5.1", "url": "https://fnet.bmfbovespa.com.br/fnet/publico/visualizarDocumento?id=993786", "sha256": "fd0fdd369a195510d81f81f505195a0b09e5f43522a990afa7d58c4f872921c8"}], "reference": {"path": "history/60010416000112.json", "criterion_id": "receivables", "total_count": 2, "preview_count": 2, "full_text_deferred": true, "sha256": "8e2bd813f4c51cf01f6bfaad164bafe69d2bbb192f753eac92da3a01c2e63046"}}</a:t>
            </a:r>
          </a:p>
          <a:p>
            <a:r>
              <a:t>CNPJ 62696791000193 · Natureza dos recebíveis · Regulamento · ID 1143317 · 20/03/2026 · versão Regulamento — referência 20/03/2026 · p. 6 · Anexo I, 1.1, Objetivo · https://fnet.bmfbovespa.com.br/fnet/publico/visualizarDocumento?id=1143317</a:t>
            </a:r>
          </a:p>
          <a:p>
            <a:r>
              <a:t>CNPJ 62696791000193 · Natureza dos recebíveis · Excerto da fonte:</a:t>
            </a:r>
          </a:p>
          <a:p>
            <a:r>
              <a:t>A Classe tem por objetivo proporcionar aos Cotistas a valorização e a rentabilidade de suas cotas (“Cotas”), conforme a política de investimentos def inida no Capítulo IV abaixo (“Política de Investimentos”), por meio de aplicação do seu Patrimônio Líquido (conforme def inido abaixo) nos seguintes ativos de origem vinculada às cadeias produtivas do agronegócio (“Direitos Creditórios do Agronegócio”): (i) títulos de crédito emitidos por pessoas naturais e jurídicas que integrem as cadeias produtivas do agronegócio; (ii) direitos creditórios do agronegócio; (iii) certificados de recebíveis do agronegócio e outros títulos de securitização emitidos com lastro em direitos creditórios do agronegócio; e (iv) certificados de recebíveis e outro</a:t>
            </a:r>
          </a:p>
          <a:p>
            <a:r>
              <a:t>CNPJ 62696791000193 · Natureza dos recebíveis · Regulamento · ID 1143317 · 20/03/2026 · versão Regulamento — referência 20/03/2026 · p. 7 · Anexo I, 1.1, Objetivo · https://fnet.bmfbovespa.com.br/fnet/publico/visualizarDocumento?id=1143317</a:t>
            </a:r>
          </a:p>
          <a:p>
            <a:r>
              <a:t>CNPJ 62696791000193 · Natureza dos recebíveis · Excerto da fonte:</a:t>
            </a:r>
          </a:p>
          <a:p>
            <a:r>
              <a:t>(i) participações em sociedades que explorem atividades integrantes das cadeias produtivas do agronegócio. (C) Categoria “Financeiro” (“Ativos Financeiros do Agronegócio Financeiros”): (i) ativos f inanceiros e valores mobiliários emitidos por pessoas naturais e jurídicas que integrem as cadeias produtivas do agronegócio. (D) Categoria “Geral” (“Ativos em Geral do Agronegócio”): (i) cotas de classes que apliquem mais de 50% (cinquenta por cento) de seu patrimônio líquido nos ativos referidos nos incisos “A” a “D” acima, o que inclui cotas de outros FIAGRO, mas não se limita a essa categoria de f undos. Os Ativos Imobiliários do Agronegócio, Participações do Agronegócio,</a:t>
            </a:r>
          </a:p>
          <a:p>
            <a:r>
              <a:t>CNPJ 62696791000193 · Natureza dos recebíveis · Versão e prevalência: Leitura específica das cláusulas indicadas; condições e conflitos preservados. Seleção documental atual não comprova vigência jurídica por data isolada.</a:t>
            </a:r>
          </a:p>
          <a:p>
            <a:r>
              <a:t>CNPJ 55563624000109 · Natureza dos recebíveis · Regulamento · ID 1192614 · 30/04/2026 · versão Regulamento30/04/2026 · p. 11 · AnexoI4.1 · https://fnet.bmfbovespa.com.br/fnet/publico/visualizarDocumento?id=1192614</a:t>
            </a:r>
          </a:p>
          <a:p>
            <a:r>
              <a:t>CNPJ 55563624000109 · Natureza dos recebíveis · Excerto da fonte:</a:t>
            </a:r>
          </a:p>
          <a:p>
            <a:r>
              <a:t>4.1 Observados os demais termos deste Anexo, o objetivo da Classe é investir seus recursos em (i) cotas subordinadas mezanino de emissão da classe única do MERCADO CRÉDITO II BRASIL FUNDO DE INVESTIMENTO EM DIREITOS CREDITÓRIOS NÃO PADRONIZADOS, fundo de investimento em direitos creditórios inscrito no CNPJ sob o nº 41.970.012/0001-26 (“Cotas da Classe Investida” e “Classe Investida”, respectivamente), a qual, por sua vez, aplica seus recursos preponderantemente em direitos creditórios originados pela Mercado Pago, de acordo com os termos e condições est</a:t>
            </a:r>
          </a:p>
          <a:p>
            <a:r>
              <a:t>CNPJ 55563624000109 · Natureza dos recebíveis · Regulamento · ID 1192614 · 30/04/2026 · versão Regulamento30/04/2026 · p. 12 · AnexoI4.5 · https://fnet.bmfbovespa.com.br/fnet/publico/visualizarDocumento?id=1192614</a:t>
            </a:r>
          </a:p>
          <a:p>
            <a:r>
              <a:t>CNPJ 55563624000109 · Natureza dos recebíveis · Excerto da fonte:</a:t>
            </a:r>
          </a:p>
          <a:p>
            <a:r>
              <a:t>4.5 Uma vez que o investimento nas Cotas da Classe Investida não corresponde a um investimento direto em direitos creditórios, uma série de disposições comuns à securitização de direitos creditórios não será aplicável ao investimento nas Cotas da Classe Investida. A título meramente exemplificativo, não existem processos de originação ou política de concessão de crédito adotada pelo GESTOR, tampouco há que se falar em verificação ou guarda de documentos comprobatórios que não sejam referentes às Cotas da Classe Investida. Da mesma forma, não há necessida</a:t>
            </a:r>
          </a:p>
          <a:p>
            <a:r>
              <a:t>CNPJ 55563624000109 · Natureza dos recebíveis · Versão e prevalência: Leitura específica das cláusulas indicadas; condições e conflitos preservados. Seleção documental atual não comprova vigência jurídica por data isolada.</a:t>
            </a:r>
          </a:p>
          <a:p>
            <a:r>
              <a:t>CNPJ 55563624000109 · Natureza dos recebíveis · Resumo do histórico: {"count": 4, "dates": ["2025-01-31", "2026-01-31", "2026-04-30"], "document_count": 3, "sources": [{"document_id": "1192614", "title": "Regulamento", "reference_date": "2026-04-30", "version": "1", "page": "11", "url": "https://fnet.bmfbovespa.com.br/fnet/publico/visualizarDocumento?id=1192614", "sha256": "f56e63ace0acde41d2f47fb48f1ac7f3f7df5e2d32de092d7c5e075a52516632"}, {"document_id": "1178840", "title": "Demonstrações Financeiras", "reference_date": "2026-01-31", "version": "1", "page": 16, "url": "https://fnet.bmfbovespa.com.br/fnet/publico/visualizarDocumento?id=1178840", "sha256": "c458e98664c5c907ddb5a05a94b120bed4e05295b2bfc420f5ba69af0a229abe"}, {"document_id": "891861", "title": "Demonstrações Financeiras", "reference_date": "2025-01-31", "version": "1", "page": 16, "url": "https://fnet.bmfbovespa.com.br/fnet/publico/visualizarDocumento?id=891861", "sha256": "e9cb9e6ddbe505fe068cfcac33605165a98313489de0d3ce6d4d238263c3f3e7"}], "reference": {"path": "history/55563624000109.json", "criterion_id": "receivables", "total_count": 4, "preview_count": 3, "full_text_deferred": true, "sha256": "7835d573fb58a3c19adf5b8ecc2aee2bdbb9a88f7a0c0209b5f262b64c7522e3"}}</a:t>
            </a:r>
          </a:p>
          <a:p>
            <a:r>
              <a:t>CNPJ 62552447000120 · Natureza dos recebíveis · Regulamento · ID 1200623 · 21/05/2026 · versão Consolidado21/05/2026 aprovado pelo ato1200625 · p. 11 · AnexoI4.2–4.3 · https://fnet.bmfbovespa.com.br/fnet/publico/visualizarDocumento?id=1200623</a:t>
            </a:r>
          </a:p>
          <a:p>
            <a:r>
              <a:t>CNPJ 62552447000120 · Natureza dos recebíveis · Excerto da fonte:</a:t>
            </a:r>
          </a:p>
          <a:p>
            <a:r>
              <a:t>4.2 Os Direitos Creditórios Consignado Privado e os Direitos Creditórios FGTS são originados no âmbito de CCBs emitidas eletronicamente pelos Devedores ao Endossante, representando, respectivamente, empréstimos consignados, com desconto em f olha de pagamento, e empréstimos pessoais, com garantia de cessão f iduciária do Saque-aniversário. 4.3 A operacionalização é f eita por meio da plataforma eletrônica mantida pelo Originador e utilizada por ele em relação ao processamento e monitoramento das operações de crédito (“Plataforma VR”), de acordo com a legislação aplicável, observada a política de crédit</a:t>
            </a:r>
          </a:p>
          <a:p>
            <a:r>
              <a:t>CNPJ 62552447000120 · Natureza dos recebíveis · Regulamento · ID 1200623 · 21/05/2026 · versão Consolidado21/05/2026 aprovado pelo ato1200625 · p. 6 · AnexoI1.2 Direitos Creditórios(d) · https://fnet.bmfbovespa.com.br/fnet/publico/visualizarDocumento?id=1200623</a:t>
            </a:r>
          </a:p>
          <a:p>
            <a:r>
              <a:t>CNPJ 62552447000120 · Natureza dos recebíveis · Excerto da fonte:</a:t>
            </a:r>
          </a:p>
          <a:p>
            <a:r>
              <a:t>Refinanciamento Livre”, na forma de CCBs originadas no âmbito de um refinanciamento, de acordo com a política de cobrança vigente, de Direitos Creditórios Consignado Privado e de Direitos Creditórios FGTS, que não contem com o lastro de Consignação ou de cessão f iduciária do Saque-Aniversário, respectivamente; e (ii) “Ativos Financei</a:t>
            </a:r>
          </a:p>
          <a:p>
            <a:r>
              <a:t>CNPJ 62552447000120 · Natureza dos recebíveis · Condição: Direitos de refinanciamento livre têm mecanismo de pagamento diferente do consignado/FGTS original.</a:t>
            </a:r>
          </a:p>
          <a:p>
            <a:r>
              <a:t>CNPJ 62552447000120 · Natureza dos recebíveis · Versão e prevalência: Leitura específica das cláusulas indicadas; condições e conflitos preservados. Seleção documental atual não comprova vigência jurídica por data isolada.</a:t>
            </a:r>
          </a:p>
          <a:p>
            <a:r>
              <a:t>CNPJ 63953620000165 · Natureza dos recebíveis · Anexo ao Regulamento · ID 1222863 · 02/06/2026 · versão AnexoConsignadoPrivado02/06/2026 · p. 5 · 4.4 · https://fnet.bmfbovespa.com.br/fnet/publico/visualizarDocumento?id=1222863</a:t>
            </a:r>
          </a:p>
          <a:p>
            <a:r>
              <a:t>CNPJ 63953620000165 · Natureza dos recebíveis · Excerto da fonte:</a:t>
            </a:r>
          </a:p>
          <a:p>
            <a:r>
              <a:t>4.4 Os Direitos Creditórios Consignado Privado são originados no âmbito de operações de empréstimo consignado concedido pelo Endossante a um Devedor por meio da plataforma eletrônica mantida pelo Agente de Retenção/ Cobrança e utilizada por ele em relação ao processamento e monitoramento das operações de crédito consignado (“Plataforma MT”) e representado por CCB, devidamente formalizada por via eletrônica, de acordo com a legislação aplicável, observada a política de crédito constante do Contrato de Endosso. O Endossante celebrou o Convênio Consignado Privado previamente ao endosso de Direitos Creditórios Elegíveis à Clas</a:t>
            </a:r>
          </a:p>
          <a:p>
            <a:r>
              <a:t>CNPJ 63953620000165 · Natureza dos recebíveis · Anexo ao Regulamento · ID 1222863 · 02/06/2026 · versão AnexoConsignadoPrivado02/06/2026 · p. 1 · 1.1Objetivo · https://fnet.bmfbovespa.com.br/fnet/publico/visualizarDocumento?id=1222863</a:t>
            </a:r>
          </a:p>
          <a:p>
            <a:r>
              <a:t>CNPJ 63953620000165 · Natureza dos recebíveis · Excerto da fonte:</a:t>
            </a:r>
          </a:p>
          <a:p>
            <a:r>
              <a:t>Direitos Creditórios Crédito Consignado”, representados por cédula de crédito bancário regida pela Lei nº 10.931, emitida eletronicamente por um devedor em favor do endossante (“CCB”) e, consequentemente, os recebíveis decorrente de cada uma das parcelas vincendas, representando um empréstimo consignado concedido pelo endossante ao devedor, e cujo pagamento ordinário é feito por desconto de cada prestação vincenda de uma CCB na folha de</a:t>
            </a:r>
          </a:p>
          <a:p>
            <a:r>
              <a:t>CNPJ 63953620000165 · Natureza dos recebíveis · Versão e prevalência: Leitura específica das cláusulas indicadas; condições e conflitos preservados. Seleção documental atual não comprova vigência jurídica por data isolada.</a:t>
            </a:r>
          </a:p>
          <a:p>
            <a:r>
              <a:t>CNPJ 63953620000165 · Natureza dos recebíveis · Resumo do histórico: {"count": 8, "dates": ["2026-04-28", "2026-05-08", "2026-05-15"], "document_count": 3, "sources": [{"document_id": "1327859", "title": "Demonstrações Financeiras - Fusão, cisão e incorporação", "reference_date": "2026-05-15", "version": "1", "page": 21, "url": "https://fnet.bmfbovespa.com.br/fnet/publico/visualizarDocumento?id=1327859", "sha256": "dca1c68babb97f887528c3e2e47596a9c30f507b067981a35655b2f2da9c8054"}, {"document_id": "1298691", "title": "Demonstrações Financeiras - Fusão, cisão e incorporação", "reference_date": "2026-05-08", "version": "1", "page": 24, "url": "https://fnet.bmfbovespa.com.br/fnet/publico/visualizarDocumento?id=1298691", "sha256": "58c570d9b8d4d265330d3db3ea81c435b8e44a6dab4002aa37790652a1ee9819"}, {"document_id": "1282180", "title": "Demonstrações Financeiras - Fusão, cisão e incorporação", "reference_date": "2026-04-28", "version": "1", "page": 24, "url": "https://fnet.bmfbovespa.com.br/fnet/publico/visualizarDocumento?id=1282180", "sha256": "afaaa0e6809be4385e5bdb6c911aac582032c5bdbac3d7750234bf9eaf00438a"}], "reference": {"path": "history/63953620000165.json", "criterion_id": "receivables", "total_count": 8, "preview_count": 3, "full_text_deferred": true, "sha256": "a7b89077f5e21098c2d601c303faabc3ff6b9729f89d8afecdc60fe1404720c1"}}</a:t>
            </a:r>
          </a:p>
          <a:p>
            <a:r>
              <a:t>CNPJ 54871427000194 · Originador e endossante · Regulamento · ID 670691 · 2024-04-28 · versão 1 · p. 11 · 4.11.2 · https://fnet.bmfbovespa.com.br/fnet/publico/visualizarDocumento?id=670691</a:t>
            </a:r>
          </a:p>
          <a:p>
            <a:r>
              <a:t>CNPJ 54871427000194 · Originador e endossante · Excerto da fonte:</a:t>
            </a:r>
          </a:p>
          <a:p>
            <a:r>
              <a:t>4.11.2 A Classe poderá ter até 100% (cem por cento) do Patrimônio Líquido representado por Direitos  Creditórios originados ou cedidos por um mesmo Endossante e/ou originados por um mesmo  Originador.</a:t>
            </a:r>
          </a:p>
          <a:p>
            <a:r>
              <a:t>CNPJ 54871427000194 · Originador e endossante · Regulamento · ID 670691 · 2024-04-28 · versão 1 · p. 13 · 4.17 · https://fnet.bmfbovespa.com.br/fnet/publico/visualizarDocumento?id=670691</a:t>
            </a:r>
          </a:p>
          <a:p>
            <a:r>
              <a:t>CNPJ 54871427000194 · Originador e endossante · Excerto da fonte:</a:t>
            </a:r>
          </a:p>
          <a:p>
            <a:r>
              <a:t>4.17 É vedada qualquer forma de antecipação de recursos aos Endossantes para posterior reembolso pela  Classe, seja pelo ADMINISTRADOR, GESTOR, CUSTODIANTE, consultora ou Originadores.</a:t>
            </a:r>
          </a:p>
          <a:p>
            <a:r>
              <a:t>CNPJ 54871427000194 · Originador e endossante · Regulamento · ID 670691 · 2024-04-28 · versão 1 · p. 34 · 15.1.5 · https://fnet.bmfbovespa.com.br/fnet/publico/visualizarDocumento?id=670691</a:t>
            </a:r>
          </a:p>
          <a:p>
            <a:r>
              <a:t>CNPJ 54871427000194 · Originador e endossante · Excerto da fonte:</a:t>
            </a:r>
          </a:p>
          <a:p>
            <a:r>
              <a:t>15.1.5 Outros Riscos:</a:t>
            </a:r>
          </a:p>
          <a:p>
            <a:r>
              <a:t> (i) Cobrança judicial ou extrajudicial dos Direitos Creditórios. No caso de os  Devedores inadimplirem as obrigações dos pagamentos dos Direitos Creditórios de titularidade  da Classe, poderá haver cobrança judicial e/ou extrajudicial dos valores devidos. Neste caso,  além da Classe incorrer em maiores custos relacionados à cobrança dos Direitos Creditórios  Inadimplidos, nada garante que ref eridas cobranças atingirão os resultados almejados, qual  seja, a recuperação do valor integral dos Direitos Creditórios Inadimplidos. Nesta hipótese, a  rentabilidade da Classe será af etada negativamente.</a:t>
            </a:r>
          </a:p>
          <a:p>
            <a:r>
              <a:t> (ii) Dif iculdade de obtenção de indenização ou recompra de Direitos Creditórios.</a:t>
            </a:r>
          </a:p>
          <a:p>
            <a:r>
              <a:t> Considerando a possibilidade de aquisição de Direitos Creditórios de terceiros — isso é  Endossantes que, por sua vez, adquiram os Direitos Creditórios de forma secundária, por meio  da cessão ou endosso realizado por credores anteriores da CCB — caso ocorram situações  que ensejem em recompra de tais Direitos Creditórios e/ou indenização, a Classe poderá ter  dif iculdades adicionais em obter tais indenizações e/ou recompras, na medida em que o direito  a tais indenizações e/ou recompras não está previsto em cada CCB, mas em contratos e  instrumentos dos quais a Classe não é originalmente parte, o que poderá causar perdas à  Classe e, consequentemente, aos Cotistas.</a:t>
            </a:r>
          </a:p>
          <a:p>
            <a:r>
              <a:t> (iii) Risco de concentração. O risco da aplicação na Classe possui forte correlação  com a concentração da Carteira, sendo que, quanto maior f or a concentração da Carteira,  maior será a chance de a Classe sofrer perda patrimonial significativa que afete negativamente  a rentabilidade das Cotas. A Classe não possui limite de concentração por Devedor ou  originador dos Direitos Creditórios, exceto por aqueles previstos na Resolução CVM  175, razão pela qual a Classe poderá estar exposto a significativa concentração por  Devedor. Não é possível garantir que os limites de concentração contidos na Política de  Investimentos, ainda que atendidos, serão suficientes que o Patrimônio Líquido não sofra  perdas que possam af etar a rentabilidade das Cotas.</a:t>
            </a:r>
          </a:p>
          <a:p>
            <a:r>
              <a:t> (iv) Possibilidade de conflito de interesses entre a Classe e os Originadores. Os  Originadores podem possuir relacionamento comercial com os Endossantes e/ou Devedores,  de modo que, em determinadas circunstâncias seus interesses podem ser conflitantes com os  interesses da Classe. Não é possível garantir que, materializada uma situação de conflito de  interesses conforme descrita acima, o Originador exponha-a adequadamente ao  ADMINISTRADOR e/ou aos Cotistas, ou que o f aça absolutamente, tampouco que agirá no  melhor no interesse da Classe. Nesses casos, a Classe pode vir a adquirir Direitos Creditórios  ou pode vir a ter seus Direitos Creditórios Inadimplidos pagos em condições comparativamente  menos vantajosas àquelas que seriam verificadas na ausência de tais conflitos de interesses.</a:t>
            </a:r>
          </a:p>
          <a:p>
            <a:r>
              <a:t> Nesses casos, o Patrimônio Líquido pode ser af etado adversamente.</a:t>
            </a:r>
          </a:p>
          <a:p>
            <a:r>
              <a:t> (v) Possibilidade de conflito de interesses entre Cotistas. As Cotas poderão ser  adquiridas por investidores que sejam sociedades coligadas, controladas ou controladoras,</a:t>
            </a:r>
          </a:p>
          <a:p>
            <a:r>
              <a:t>CNPJ 54871427000194 · Originador e endossante · Condição: Documentos atuais selecionados no inventário por categoria/escopo; a data documental isolada não comprova vigência jurídica.</a:t>
            </a:r>
          </a:p>
          <a:p>
            <a:r>
              <a:t>CNPJ 54871427000194 · Originador e endossante · Versão e prevalência: Documentos atuais selecionados no inventário por categoria/escopo; a data documental isolada não comprova vigência jurídica.</a:t>
            </a:r>
          </a:p>
          <a:p>
            <a:r>
              <a:t>CNPJ 54871427000194 · Originador e endossante · Resumo do histórico: {"count": 2, "dates": ["2024-04-19", "2024-04-28"], "document_count": 2, "sources": [{"document_id": "670691", "title": "Regulamento", "reference_date": "2024-04-28", "version": "1", "page": "9, 39", "url": "https://fnet.bmfbovespa.com.br/fnet/publico/visualizarDocumento?id=670691", "sha256": "bf16dd7f1a62d5cdbf2e2d54fef81783783f7310fbc99c3a8f00459bdf9d037b"}, {"document_id": "670689", "title": "Regulamento", "reference_date": "2024-04-19", "version": "1", "page": 9, "clause": "4.5", "url": "https://fnet.bmfbovespa.com.br/fnet/publico/visualizarDocumento?id=670689", "sha256": "891bc9bc5d87bbc02ec139077a84d2702eb81ea02035fb71d24f5b8366b94a0b"}], "reference": {"path": "history/54871427000194.json", "criterion_id": "originator", "total_count": 2, "preview_count": 2, "full_text_deferred": true, "sha256": "35d7cd99be50c7287c9fb675cf4f2e736002315295a225a9efa79c8d9186d874"}}</a:t>
            </a:r>
          </a:p>
          <a:p>
            <a:r>
              <a:t>CNPJ 60010416000112 · Originador e endossante · Regulamento · ID 1051393 · 09/10/2025 · versão Regulamento09/10/2025 · p. 44 · Glossário, Endossante · https://fnet.bmfbovespa.com.br/fnet/publico/visualizarDocumento?id=1051393</a:t>
            </a:r>
          </a:p>
          <a:p>
            <a:r>
              <a:t>CNPJ 60010416000112 · Originador e endossante · Excerto da fonte:</a:t>
            </a:r>
          </a:p>
          <a:p>
            <a:r>
              <a:t>“Endossante”: a Parati Crédito, Financiamento e Investimento S.A., instituição financeira constituída na forma de uma sociedade por ações, com sede na cidade de Vitória, estado do Espírito Santo, na Avenida Nossa Senhora da Penha, 699, torre A, conjuntos 404 a 407, Santa Lúcia, CEP 29.056-250, inscrita no CNPJ sob nº 03.311.443/0001-91; "Entidade Registradora": instituição autorizada pelo BACEN para realizar as atividades de registro e constituição, alteração e desconstituição de ônus e gravames sobre ativos f inanceiros registrados; “Escrituração”: significa a escrituração da Consignação a ser realizada pelo Empregador, junto ao eSocial, após recebimento de notif icação comunicando-o da contratação, pelo Devedor, do empréstimo a ser pago por Consignação; “Eventos de Avaliação”: os eventos de avaliação descritos no item 10.1 deste Anexo; “Eventos de Liquidação”: os eventos de liquidação descritos no item 10.3 deste Anexo; BTG Pactual SAC: 0800 772 28 27 - Ouvidoria: 0800 722 00 48 - btgpactual.com 44</a:t>
            </a:r>
          </a:p>
          <a:p>
            <a:r>
              <a:t>CNPJ 60010416000112 · Originador e endossante · Regulamento · ID 1051393 · 09/10/2025 · versão Regulamento09/10/2025 · p. 41 · Glossário, Agente de Retenção/Cobrança · https://fnet.bmfbovespa.com.br/fnet/publico/visualizarDocumento?id=1051393</a:t>
            </a:r>
          </a:p>
          <a:p>
            <a:r>
              <a:t>CNPJ 60010416000112 · Originador e endossante · Excerto da fonte:</a:t>
            </a:r>
          </a:p>
          <a:p>
            <a:r>
              <a:t>“Agente de Retenção/Cobrança”: significa a Tudo Serviços S.A., sociedade por ações com sede na Cidade de Eusébio, Estado do Ceará, na Comendador Ari Freitas, 577, CEP 61.760-000, inscrita no CNPJ sob nº 27.852.506/0001-85; “Agente Escriturador”: O Administrador, o qual se encontra devidamente habilitado pela CVM para prestar os serviços de escrituração das Cotas, ou seu sucessor a qualquer título; “Amortização”: signif ica cada uma das amortizações ordinárias de Cotas; “Amortização Extraordinária”: amortização extraordinária das Cotas Seniores, conforme deliberado pela Assembleia Especial de Cotistas, para reestabelecer o Índice de Subordinação, nos termos do item 5.5.1 do Anexo I; "ANBIMA": Associação Brasileira das Entidades dos Mercados Financeiro e de Capitais; "Código ANBIMA": Código ANBIMA de Regulação e Melhores Práticas para Administração de Recursos de Terceiros “Anexos”: tem o signif icado atribuído no Art. 3, inciso IV, da Resolução CVM 175, Parte Geral; “Apêndice”: cada um dos apêndices que integram este Anexo, descritivos de cada Subclasse de Cotas ou de aspectos aplicáveis à Classe; "Arquivos Dataprev": Arquivo de Consignações fornecido mensalmente pela Dataprev ao Endossante, contendo a totalidade das operações pend</a:t>
            </a:r>
          </a:p>
          <a:p>
            <a:r>
              <a:t>CNPJ 60010416000112 · Originador e endossante · Regulamento · ID 1051393 · 09/10/2025 · versão Regulamento09/10/2025 · p. 28 · AnexoI11.23 · https://fnet.bmfbovespa.com.br/fnet/publico/visualizarDocumento?id=1051393</a:t>
            </a:r>
          </a:p>
          <a:p>
            <a:r>
              <a:t>CNPJ 60010416000112 · Originador e endossante · Excerto da fonte:</a:t>
            </a:r>
          </a:p>
          <a:p>
            <a:r>
              <a:t>Tudo Serviços S.A., sociedade anônima, com sede no município de Eusébio, Estado do Ceará, na Comendador Ari Freitas, 577, CEP 61.760-000, inscrita no CNPJ sob o nº 27.852.506/0001-85, cujos deveres, sem prejuízo daqueles estabelecidos neste Regulamento, no Contrato de Serviços MT e no Contrato de Endosso, consistirão no monitoramento e cobrança dos Direitos Creditórios Inadimplidos, observado o disposto neste Anexo I e na regulamentação aplicável: (i) caso aplicável, atuar na retenção (defesa) de operações de empréstimo consignado cujos Direitos Creditórios sejam de titularidade da Classe, em caso d</a:t>
            </a:r>
          </a:p>
          <a:p>
            <a:r>
              <a:t>CNPJ 60010416000112 · Originador e endossante · Versão e prevalência: Leitura específica das cláusulas indicadas; condições e conflitos preservados. Seleção documental atual não comprova vigência jurídica por data isolada.</a:t>
            </a:r>
          </a:p>
          <a:p>
            <a:r>
              <a:t>CNPJ 60010416000112 · Originador e endossante · Resumo do histórico: {"count": 2, "dates": ["2025-03-20", "2025-10-09"], "document_count": 2, "sources": [{"document_id": "1051393", "title": "Regulamento", "reference_date": "2025-10-09", "version": "1", "page": "41-43", "url": "https://fnet.bmfbovespa.com.br/fnet/publico/visualizarDocumento?id=1051393", "sha256": "8469d613078ffd5a6c1d217885d8a397a16342c0b937ae4aa24b106505f233ae"}, {"document_id": "993786", "title": "Regulamento", "reference_date": "2025-03-20", "version": "1", "page": 25, "clause": "11.8", "url": "https://fnet.bmfbovespa.com.br/fnet/publico/visualizarDocumento?id=993786", "sha256": "fd0fdd369a195510d81f81f505195a0b09e5f43522a990afa7d58c4f872921c8"}], "reference": {"path": "history/60010416000112.json", "criterion_id": "originator", "total_count": 2, "preview_count": 2, "full_text_deferred": true, "sha256": "8e2bd813f4c51cf01f6bfaad164bafe69d2bbb192f753eac92da3a01c2e63046"}}</a:t>
            </a:r>
          </a:p>
          <a:p>
            <a:r>
              <a:t>CNPJ 62696791000193 · Originador e endossante · Regulamento · ID 1143317 · 20/03/2026 · versão Regulamento — referência 20/03/2026 · p. 10 · Anexo I, 4.4 e 4.6 · https://fnet.bmfbovespa.com.br/fnet/publico/visualizarDocumento?id=1143317</a:t>
            </a:r>
          </a:p>
          <a:p>
            <a:r>
              <a:t>CNPJ 62696791000193 · Originador e endossante · Excerto da fonte:</a:t>
            </a:r>
          </a:p>
          <a:p>
            <a:r>
              <a:t>4.4 Tendo em vista (i) a natureza variada dos Direitos Creditórios do Agronegócio passíveis de aquisição pela Classe; (ii) a amplitude da Política de Investimentos; e (iii) a potencial diversificação de Cedentes/Endossantes e Devedores, não é possível precisar os processos de origem dos Direitos Creditórios do Agronegócio e as políticas de concessão de crédito adotadas pelos Cedentes/Endossantes. 4.5 Os Direitos Creditórios do Agronegócio deverão contar com toda a documentação necessária para o exercício das prerrogativas decorrentes da titularidade dos ativos, e capaz de comprovar a origem, a existência e a exigibilidade dos Direitos Creditórios do Agronegócio (“Documentos Comprobatórios”) que evidenciem sua existência, validade e exequibilidade perante os respectivos Devedores. 4.5.1 Os Direitos Creditórios do Agronegócio serão adquiridos pela Classe por meio: (i) de contratos de cessão e/ou termos de cessão (“Contratos de Cessão”), contratos de promessa de endosso e/ou termos de endosso (“Contratos de Endosso”) firmados entre a Classe e os respectivos cedentes (“Cedentes”) / endossantes (“Endossantes”), acompanhados de todos os direitos, pri</a:t>
            </a:r>
          </a:p>
          <a:p>
            <a:r>
              <a:t>CNPJ 62696791000193 · Originador e endossante · Condição: A afirmação descreve um mandato amplo; não identifica contrapartes efetivamente presentes no IME.</a:t>
            </a:r>
          </a:p>
          <a:p>
            <a:r>
              <a:t>CNPJ 62696791000193 · Originador e endossante · Versão e prevalência: Leitura específica das cláusulas indicadas; condições e conflitos preservados. Seleção documental atual não comprova vigência jurídica por data isolada.</a:t>
            </a:r>
          </a:p>
          <a:p>
            <a:r>
              <a:t>CNPJ 55563624000109 · Originador e endossante · Regulamento · ID 1192614 · 2026-04-30 · versão 1 · p. 32 · https://fnet.bmfbovespa.com.br/fnet/publico/visualizarDocumento?id=1192614</a:t>
            </a:r>
          </a:p>
          <a:p>
            <a:r>
              <a:t>CNPJ 55563624000109 · Originador e endossante · Excerto da fonte:</a:t>
            </a:r>
          </a:p>
          <a:p>
            <a:r>
              <a:t>(b) Questionamento judicial. Os devedores podem questionar judicialmente (1) a validade  dos direitos creditórios, inclusive em razão da legalidade dos limites de crédito  concedidos pelo originador ou cedente e das taxas de juros praticadas, antes e/ou após  a sua transferência para a Classe Investida; e/ou (2) os termos e condições da  transferência dos direitos creditórios à Classe Investida. Em qualquer caso, é possível  que a Classe Investida não receba parte ou a totalidade dos valores relativos aos  direitos creditórios de sua titularidade objeto de questionamento judicial.</a:t>
            </a:r>
          </a:p>
          <a:p>
            <a:r>
              <a:t> (c) Risco de originação de direitos creditórios. Os direitos creditórios a serem adquiridos  pela Classe Investida são decorrentes de operações de empréstimo específicas  envolvendo as operações do Mercado Pago, conforme detalhadas no regulamento da  Classe Investida. Na hipótese de não originação, originação insuficiente ou  indisponibilidade para aquisição pelo Classe Investida, por qualquer motivo, inclusive  em caso de redução ou descontinuidade das operações regulares dos cedentes, de  direitos creditórios que satisfaçam os critérios de elegibilidade, as condições de cessão  e a política de investimento, composição e diversificação da carteira da Classe Investida  descrita em seu regulamento, a Classe Investida poderá ser incapaz de alocar a  totalidade de seus recursos, o que poderá inviabilizar a realização das chamadas de  capital por seu administrador, afetando negativamente a continuidade da Classe  Investida, a expectativa de seus cotistas, incluindo a Classe, com relação ao seu  horizonte de investimento, a rentabilidade da Classe Investida e, consequentemente, o  valor das Cotas da Classe Investida, impactando assim a Classe e os investimentos dos  Cotistas em Cotas.</a:t>
            </a:r>
          </a:p>
          <a:p>
            <a:r>
              <a:t> (d) Originação por meio fraudulento. A Classe Investida pode adquirir direitos creditórios  que tenham sido originados por meio fraudulento. Nesse caso, a Classe Investida não  poderá exigir o pagamento dos respectivos valores por parte dos devedores lesados,  restando-lhe somente exigir do cedente o pagamento do valor correspondente aos  direitos creditórios fraudulentos, na forma prevista no respectivo contrato de cessão. A  restituição devida pelo cedente poderá demorar a ser realizada ou simplesmente não  ocorrer. Em ambos os casos, o patrimônio da Classe Investida seria impactado  negativamente, igualmente afetando, consequentemente, a Classe.</a:t>
            </a:r>
          </a:p>
          <a:p>
            <a:r>
              <a:t> (e) Questionamento da validade e da eficácia da cessão dos Direitos Creditórios. A validade  e a eficácia da cessão dos direitos creditórios à Classe Investida poderão ser  questionadas, inclusive em decorrência de intervenção, liquidação, Regime de  Administração Especial Temporária (RAET), pedido de recuperação judicial, falência,  plano de recuperação extrajudicial ou outro procedimento de natureza similar  originador ou do cedente. A titularidade direitos creditórios poderá vir a ser  questionada caso (1) haja garantias reais sobre os direitos creditórios, constituídas  antes da sua cessão e sem o conhecimento da Classe Investida; (2) ocorra a penhora ou  outra forma de constrição judicial sobre os direitos creditórios, antes da sua cessão e sem  o conhecimento da Classe Investida; (3) seja verificada, em processo judicial, fraude  contra credores ou fraude à execução praticada pelo respectivo originador ou cedente;</a:t>
            </a:r>
          </a:p>
          <a:p>
            <a:r>
              <a:t> ou (4) a cessão dos direitos creditórios à Classe Investida seja revogada, quando restar  comprovado que foi praticada com a intenção de prejudicar os credores do originador  ou do cedente. Em qualquer hipótese, os direitos creditórios integrantes da carteira da  Classe Investida poderão ser bloqueados ou redirecionados para o pagamento de  outras obrigações do originador ou cedente, afetando negativamente os patrimônios  da Classe Investida e a rentabilidade das suas cotas.</a:t>
            </a:r>
          </a:p>
          <a:p>
            <a:r>
              <a:t>CNPJ 55563624000109 · Originador e endossante · Regulamento · ID 1192614 · 2026-04-30 · versão 1 · p. 28 · https://fnet.bmfbovespa.com.br/fnet/publico/visualizarDocumento?id=1192614</a:t>
            </a:r>
          </a:p>
          <a:p>
            <a:r>
              <a:t>CNPJ 55563624000109 · Originador e endossante · Excerto da fonte:</a:t>
            </a:r>
          </a:p>
          <a:p>
            <a:r>
              <a:t>Classe, na forma da regulamentação aplicável, observado que os prestadores de serviços eventualmente  subcontratados não podem ser, em relação à Classe, o originador, cedente, o GESTOR, consultoria especializada  ou partes a eles relacionadas, tais como definidas nas regras contábeis que tratam desse assunto.</a:t>
            </a:r>
          </a:p>
          <a:p>
            <a:r>
              <a:t>CNPJ 55563624000109 · Originador e endossante · Condição: Documentos atuais selecionados no inventário por categoria/escopo; a data documental isolada não comprova vigência jurídica.</a:t>
            </a:r>
          </a:p>
          <a:p>
            <a:r>
              <a:t>CNPJ 55563624000109 · Originador e endossante · Versão e prevalência: Documentos atuais selecionados no inventário por categoria/escopo; a data documental isolada não comprova vigência jurídica.</a:t>
            </a:r>
          </a:p>
          <a:p>
            <a:r>
              <a:t>CNPJ 55563624000109 · Originador e endossante · Resumo do histórico: {"count": 3, "dates": ["2025-01-31", "2026-01-31", "2026-04-30"], "document_count": 3, "sources": [{"document_id": "1192614", "title": "Regulamento", "reference_date": "2026-04-30", "version": "1", "page": "11", "url": "https://fnet.bmfbovespa.com.br/fnet/publico/visualizarDocumento?id=1192614", "sha256": "f56e63ace0acde41d2f47fb48f1ac7f3f7df5e2d32de092d7c5e075a52516632"}, {"document_id": "1178840", "title": "Demonstrações Financeiras", "reference_date": "2026-01-31", "version": "1", "page": 16, "url": "https://fnet.bmfbovespa.com.br/fnet/publico/visualizarDocumento?id=1178840", "sha256": "c458e98664c5c907ddb5a05a94b120bed4e05295b2bfc420f5ba69af0a229abe"}, {"document_id": "891861", "title": "Demonstrações Financeiras", "reference_date": "2025-01-31", "version": "1", "page": 16, "url": "https://fnet.bmfbovespa.com.br/fnet/publico/visualizarDocumento?id=891861", "sha256": "e9cb9e6ddbe505fe068cfcac33605165a98313489de0d3ce6d4d238263c3f3e7"}], "reference": {"path": "history/55563624000109.json", "criterion_id": "originator", "total_count": 3, "preview_count": 3, "full_text_deferred": true, "sha256": "7835d573fb58a3c19adf5b8ecc2aee2bdbb9a88f7a0c0209b5f262b64c7522e3"}}</a:t>
            </a:r>
          </a:p>
          <a:p>
            <a:r>
              <a:t>CNPJ 62552447000120 · Originador e endossante · Regulamento · ID 1200623 · 21/05/2026 · versão Consolidado21/05/2026 aprovado pelo ato1200625 · p. 12 · AnexoI4.4.1(i) · https://fnet.bmfbovespa.com.br/fnet/publico/visualizarDocumento?id=1200623</a:t>
            </a:r>
          </a:p>
          <a:p>
            <a:r>
              <a:t>CNPJ 62552447000120 · Originador e endossante · Excerto da fonte:</a:t>
            </a:r>
          </a:p>
          <a:p>
            <a:r>
              <a:t>BANCO VR S.A., instituição f inanceira, com sede no município e Estado de São Paulo, na Av. Dos Bandeirantes, n.º 460, Brooklin Paulista, CEP 04553-900, inscrita no CNPJ sob o n.º 78.626.983/0001- 63, ou qualquer outra sociedade do mesmo grupo econômico, na qualidade de endossante (“Endossante”), acompanhados de todos os direitos, privilégios, pref erências, prerrogativas, ações e garantias assegurados aos seus titulares; (ii) da subscrição de títulos de crédito e/ou valores mobiliários, incluindo, mas não se</a:t>
            </a:r>
          </a:p>
          <a:p>
            <a:r>
              <a:t>CNPJ 62552447000120 · Originador e endossante · Regulamento · ID 1200623 · 21/05/2026 · versão Consolidado21/05/2026 aprovado pelo ato1200625 · p. 29 · AnexoI12.14 · https://fnet.bmfbovespa.com.br/fnet/publico/visualizarDocumento?id=1200623</a:t>
            </a:r>
          </a:p>
          <a:p>
            <a:r>
              <a:t>CNPJ 62552447000120 · Originador e endossante · Excerto da fonte:</a:t>
            </a:r>
          </a:p>
          <a:p>
            <a:r>
              <a:t>VR BENEFÍCIOS E SERVIÇOS DE PROCESSAMENTO S.A., sociedade anônima com sede no município e Estado de São Paulo, na Av. dos Bandeirantes, n.º 460, Brooklin Paulista, CEP 04553-900, inscrita no CNPJ sob o n.º 02.535.864/0004-86 (“Agente de Retenção e Cobrança” ou “Originador”), para os serviços de retenção de Direitos Creditórios e de cobrança de Direitos Creditórios Inadimplidos, de acordo com os contratos de prestação de serviços de retenção e cobrança celebrados entre o Agente de Retenção e Cobrança e a Classe (“Contratos de Retenção/Cobrança”). 12.15 O Agente de Retenção e Cobrança poderá, às expensas da Classe,</a:t>
            </a:r>
          </a:p>
          <a:p>
            <a:r>
              <a:t>CNPJ 62552447000120 · Originador e endossante · Versão e prevalência: Leitura específica das cláusulas indicadas; condições e conflitos preservados. Seleção documental atual não comprova vigência jurídica por data isolada.</a:t>
            </a:r>
          </a:p>
          <a:p>
            <a:r>
              <a:t>CNPJ 63953620000165 · Originador e endossante · Anexo ao Regulamento · ID 1222863 · 02/06/2026 · versão AnexoConsignadoPrivado02/06/2026 · p. 5 · 4.3–4.4 · https://fnet.bmfbovespa.com.br/fnet/publico/visualizarDocumento?id=1222863</a:t>
            </a:r>
          </a:p>
          <a:p>
            <a:r>
              <a:t>CNPJ 63953620000165 · Originador e endossante · Excerto da fonte:</a:t>
            </a:r>
          </a:p>
          <a:p>
            <a:r>
              <a:t>4.3 Os Direitos Creditórios serão adquiridos pela Classe por meio: (i) contratos de promessa de endosso e/ou termos de endosso (“Contratos de Endosso”) firmados entre a Classe e a Parati Crédito, Financiamento e Investimento S.A., instituição financeira constituída na forma de uma sociedade por ações, com sede na cidade de Vitória, estado do Espírito Santo, na Avenida Nossa Senhora da Penha, 699, torre A, conjuntos 404 a 407, Santa Lúcia, CEP 29.056-250, inscrita no CNPJ sob nº 03.311.443/0001-91 (“Endossante” ou “Cedente”), acompanhados de todos os direitos, privilégios, preferências, prerrogativas, ações e garantias asse</a:t>
            </a:r>
          </a:p>
          <a:p>
            <a:r>
              <a:t>CNPJ 63953620000165 · Originador e endossante · Anexo ao Regulamento · ID 1222863 · 02/06/2026 · versão AnexoConsignadoPrivado02/06/2026 · p. 19 · 12.6 · https://fnet.bmfbovespa.com.br/fnet/publico/visualizarDocumento?id=1222863</a:t>
            </a:r>
          </a:p>
          <a:p>
            <a:r>
              <a:t>CNPJ 63953620000165 · Originador e endossante · Excerto da fonte:</a:t>
            </a:r>
          </a:p>
          <a:p>
            <a:r>
              <a:t>12.6 A Classe contratou a Tudo Serviços S.A., sociedade anônima, com sede no município de Fortaleza, Estado do Ceará, na Avenida Senador Virgulo Távora, nº 303, Lojas 02, 03, 04, 05, 06 e 19, Meireles, CEP 60.170-265, inscrita no CNPJ sob o nº 27.852.506/0001-85, cujos deveres, sem prejuízo daqueles estabelecidos neste Regulamento, no “Contrato de Serviços de Retenção e Cobrança e Outras Avenças”, celebrado entre o Agente de Retenção/Cobrança e a Classe (“Contrato de Serviços MT”) e no Contrato de Endosso, consistirão no monitoramento e cobrança dos Direitos Creditórios Inadimplidos, observado o disposto neste Anexo I e na</a:t>
            </a:r>
          </a:p>
          <a:p>
            <a:r>
              <a:t>CNPJ 63953620000165 · Originador e endossante · Condição: Nomeação nominal atual da classe; distinta da origem histórica dos ativos recebidos por cisão de outros veículos.</a:t>
            </a:r>
          </a:p>
          <a:p>
            <a:r>
              <a:t>CNPJ 63953620000165 · Originador e endossante · Versão e prevalência: Leitura específica das cláusulas indicadas; condições e conflitos preservados. Seleção documental atual não comprova vigência jurídica por data isolada.</a:t>
            </a:r>
          </a:p>
          <a:p>
            <a:r>
              <a:t>CNPJ 63953620000165 · Originador e endossante · Resumo do histórico: {"count": 8, "dates": ["2026-04-28", "2026-05-08", "2026-05-15"], "document_count": 3, "sources": [{"document_id": "1327859", "title": "Demonstrações Financeiras - Fusão, cisão e incorporação", "reference_date": "2026-05-15", "version": "1", "page": 23, "url": "https://fnet.bmfbovespa.com.br/fnet/publico/visualizarDocumento?id=1327859", "sha256": "dca1c68babb97f887528c3e2e47596a9c30f507b067981a35655b2f2da9c8054"}, {"document_id": "1298691", "title": "Demonstrações Financeiras - Fusão, cisão e incorporação", "reference_date": "2026-05-08", "version": "1", "page": 24, "url": "https://fnet.bmfbovespa.com.br/fnet/publico/visualizarDocumento?id=1298691", "sha256": "58c570d9b8d4d265330d3db3ea81c435b8e44a6dab4002aa37790652a1ee9819"}, {"document_id": "1282180", "title": "Demonstrações Financeiras - Fusão, cisão e incorporação", "reference_date": "2026-04-28", "version": "1", "page": 24, "url": "https://fnet.bmfbovespa.com.br/fnet/publico/visualizarDocumento?id=1282180", "sha256": "afaaa0e6809be4385e5bdb6c911aac582032c5bdbac3d7750234bf9eaf00438a"}], "reference": {"path": "history/63953620000165.json", "criterion_id": "originator", "total_count": 8, "preview_count": 3, "full_text_deferred": true, "sha256": "a7b89077f5e21098c2d601c303faabc3ff6b9729f89d8afecdc60fe1404720c1"}}</a:t>
            </a:r>
          </a:p>
          <a:p>
            <a:r>
              <a:t>CNPJ 54871427000194 · Devedor e consignação · Regulamento · ID 670691 · 2024-04-28 · versão 1 · p. 29 · https://fnet.bmfbovespa.com.br/fnet/publico/visualizarDocumento?id=670691</a:t>
            </a:r>
          </a:p>
          <a:p>
            <a:r>
              <a:t>CNPJ 54871427000194 · Devedor e consignação · Excerto da fonte:</a:t>
            </a:r>
          </a:p>
          <a:p>
            <a:r>
              <a:t>Anexo I ao Regulamento CLASSE ÚNICA DE RESPONSABILIDADE LIMITADA DO CONSIGNADO DELTA RECEIVABLES I FUNDO DE INVESTIMENTO EM DIREITOS CREDITÓRIOS  pelo Endossante e depositados em seu conta de sua titularidade para posterior repasse à  Classe. Neste caso, a Classe poderá sofrer perdas principalmente em relação ao atraso na  regularização da titularidade e pagamento dos Direitos Creditórios.</a:t>
            </a:r>
          </a:p>
          <a:p>
            <a:r>
              <a:t> (v) Risco de pré-pagamento dos Direitos Creditórios. A ocorrência de pré-  pagamentos em relação a um ou mais Direitos Creditórios poderá ocasionar perdas à Classe.</a:t>
            </a:r>
          </a:p>
          <a:p>
            <a:r>
              <a:t> A ocorrência de pré-pagamentos (pagamento em data anterior àquela originalmente pactuada)  de Direitos Creditórios reduz o horizonte original de rendimentos esperados pela Classe de  tais Direitos Creditórios, uma vez que o pré-pagamento poderá, se assim permitido pela  documentação do Direito Creditório ou, conf orme o caso, pela legislação aplicável, ser  realizado pelo valor de emissão do Direito Creditório atualizado até a data do pré-pagamento  pela taxa de juros pactuada entre os Endossantes e os Devedores de tais Direitos Creditórios,  de modo que os juros remuneratórios incidentes desde a data da realização do pré-pagamento  até a data de vencimento do respectivo Direito Creditório deixam de ser devidos à Classe.</a:t>
            </a:r>
          </a:p>
          <a:p>
            <a:r>
              <a:t> (vi) Riscos associados aos Devedores: os Direitos Creditórios a serem cedidos à  Classe serão descontados da remuneração do Devedor, através de desconto em f olha de  pagamento ou de benefício. Nesse sentido, na ocorrência de pré-pagamento, as parcelas  serão pagas antecipadamente e a Classe deverá utilizar tais montantes no pré-pagamento dos  Direitos Creditórios. Nesta hipótese, a Classe poderá não encontrar Direitos Creditórios  disponíveis para serem adquiridos pela Classe, o que poderá afetar a rentabilidade da Classe.</a:t>
            </a:r>
          </a:p>
          <a:p>
            <a:r>
              <a:t> (vii) Risco de Competição: o mercado de empréstimos experimentou grande  expansão no Brasil nos últimos anos. Nesse contexto, a Resolução CMN nº 4.292, alterada  pela Resolução nº 4.762, de 27 de novembro de 2019, dispõe que deve ser garantido às  pessoas naturais devedoras de operações de crédito (tais como as CCB) a possibilidade de  realizarem a portabilidade destas operações para outras instituições financeiras, inclusive nos  casos em que tenham sido objeto de cessão (tais como as realizadas à Classe). Nesse  cenário, é possível que os competidores do Endossante ofereçam condições e taxas mais  vantajosas para os empréstimos pessoais com consignação em f olha de pagamento ou de  benef ícios, o que pode causar a migração de clientes da Endossante para outras instituições  f inanceiras, gerando a liquidação antecipada de parte das CCB existentes e/ou redução no  número de Direitos Creditórios cedidos. Referida competição poderá af etar os resultados da  Classe, impactando negativamente os rendimentos dos Cotistas. Ainda, a portabilidade a um  Devedor pode acarretar no recebimento de valores inf eriores aos esperados pela Classe.</a:t>
            </a:r>
          </a:p>
          <a:p>
            <a:r>
              <a:t> (viii) Insuf iciência dos Critérios de Elegibilidade. Os Critérios de Elegibilidade têm a  f inalidade de selecionar os Direitos Creditórios passíveis de aquisição pela Classe. Não  obstante tais Critérios de Elegibilidade, a solvência dos Direitos Creditórios que compõem a  Carteira depende integralmente, mas não somente, da situação econômico-financeira dos  Devedores. Dessa f orma, a observância pelo GESTOR dos Critérios de Elegibilidade não  constitui garantia de adimplência dos Devedores.</a:t>
            </a:r>
          </a:p>
          <a:p>
            <a:r>
              <a:t> Os Endossantes não necessariamente garantem a solvência dos seus respectivos Devedores.</a:t>
            </a:r>
          </a:p>
          <a:p>
            <a:r>
              <a:t> O Endossante dos Direitos Creditórios não assumirá responsabilidade pelo seu pagamento ou  pela solvência dos respectivos Devedores. A Classe sofrerá o impacto do inadimplemento dos  Direitos Creditórios vencidos e não pagos pelos respectivos Devedores.</a:t>
            </a:r>
          </a:p>
          <a:p>
            <a:r>
              <a:t> (ix) Possibilidade de aquisição de Direitos Creditórios cedidos por Endossante  e/ou devidos por Devedores cujas demonstrações financeiras não sejam auditadas. A Classe,  desde que sejam respeitados os limites de concentração previstos neste Regulamento, poderá  manter a qualquer tempo em sua Carteira, Direitos Creditórios cedidos por Endossante e/ou  devidos por Devedores cujas demonstrações f inanceiras não sejam auditadas por Auditor  Independente registrado na CVM. Nesse sentido, não haverá verificação independente sobre  tais demonstrações f inanceiras que af irme se estas representam adequadamente, em todos  os aspectos relevantes, as respectivas posições patrimoniais e f inanceiras, os resultados de  suas operações, as mutações de seus respectivos patrimônios líquidos tampouco as origens  e aplicações de seus recursos.</a:t>
            </a:r>
          </a:p>
          <a:p>
            <a:r>
              <a:t>CNPJ 54871427000194 · Devedor e consignação · Regulamento · ID 670691 · 2024-04-28 · versão 1 · p. 27 · 14.2 · https://fnet.bmfbovespa.com.br/fnet/publico/visualizarDocumento?id=670691</a:t>
            </a:r>
          </a:p>
          <a:p>
            <a:r>
              <a:t>CNPJ 54871427000194 · Devedor e consignação · Excerto da fonte:</a:t>
            </a:r>
          </a:p>
          <a:p>
            <a:r>
              <a:t>14.2 Todos os custos e despesas ref eridos neste Capítulo, inclusive para salvaguarda de direitos e  prerrogativas da Classe e/ou com a cobrança judicial e/ou extrajudicial de Direitos Creditórios  Inadimplidos, serão de inteira responsabilidade da Classe, não estando o ADMINISTRADOR, o  GESTOR, o Endossante, os Devedores, o CUSTODIANTE e quaisquer de suas respectivas pessoas  controladoras, sociedades por estes direta ou indiretamente controladas, a estes coligadas ou outras  sociedades sob controle comum, em conjunto ou isoladamente, obrigados pelo adiantamento ou  pagamento de valores relacionados aos procedimentos ref eridos neste Capítulo.</a:t>
            </a:r>
          </a:p>
          <a:p>
            <a:r>
              <a:t>CNPJ 54871427000194 · Devedor e consignação · Regulamento · ID 670691 · 2024-04-28 · versão 1 · p. 31 · https://fnet.bmfbovespa.com.br/fnet/publico/visualizarDocumento?id=670691</a:t>
            </a:r>
          </a:p>
          <a:p>
            <a:r>
              <a:t>CNPJ 54871427000194 · Devedor e consignação · Excerto da fonte:</a:t>
            </a:r>
          </a:p>
          <a:p>
            <a:r>
              <a:t>Anexo I ao Regulamento CLASSE ÚNICA DE RESPONSABILIDADE LIMITADA DO CONSIGNADO DELTA RECEIVABLES I FUNDO DE INVESTIMENTO EM DIREITOS CREDITÓRIOS  a resgates de suas Cotas e/ou poderá ser obrigado a se desfazer de tais Ativos Financeiros  de Liquidez em condições menos f avoráveis do que se não houvesse a ref erida situação de  f alta de liquidez.</a:t>
            </a:r>
          </a:p>
          <a:p>
            <a:r>
              <a:t> (iv) Liquidação antecipada do FUNDO ou da Classe. Observado o disposto neste  Regulamento, o FUNDO ou a Classe poderão ser liquidados antecipadamente, caso ocorra  qualquer Evento de Liquidação, ou se assim deliberado pelos Cotistas reunidos em  Assembleia Geral de Cotistas. Por este motivo, os Cotistas poderão ter seu horizonte original  de investimento reduzido e poderão não conseguir reinvestir os recursos recebidos com a  mesma remuneração buscada pela Classe, não sendo devida pela Classe, pelo  ADMINISTRADOR, pelo GESTOR ou pelo CUSTODIANTE qualquer multa ou penalidade, a  qualquer título, em decorrência desse f ato. Adicionalmente, ocorrendo qualquer uma das  hipóteses de liquidação antecipada do FUNDO ou da Classe, poderá não haver recursos  disponíveis em moeda corrente nacional para realizar o pagamento aos Cotistas, que poderão  ser pagos com os Direitos Creditórios e Ativos Financeiros de Liquidez detidos em Carteira, os  quais estão sujeitos aos riscos apontados no item (iii) acima.</a:t>
            </a:r>
          </a:p>
          <a:p>
            <a:r>
              <a:t> (v) Amortização condicionada das Cotas. A única f onte de recursos da Classe  para ef etuar o pagamento de resgate ou amortização das Cotas, conforme o caso, é a  liquidação: (i) dos Direitos Creditórios, pelos respectivos Devedores; e (ii) dos Ativos  Financeiros de Liquidez, pelas respectivas contrapartes. Após o recebimento desses recursos  e, se f or o caso, depois de esgotados todos os meios cabíveis para a cobrança, extrajudicial  ou judicial, dos referidos ativos, a Classe não disporá de quaisquer outras verbas para efetuar  o resgate ou amortização das Cotas, conforme o caso, o que poderá acarretar prejuízo aos  Cotistas.</a:t>
            </a:r>
          </a:p>
          <a:p>
            <a:r>
              <a:t> Ademais, a Classe está exposta a determinados riscos inerentes aos Direitos Creditórios e  Ativos Financeiros de Liquidez e aos mercados em que são negociados, incluindo a eventual  impossibilidade de alienar ativos em caso de necessidade, especialmente os Direitos  Creditórios, devido à inexistência de um mercado secundário ativo e organizado para a  negociação dessa espécie de ativo. Considerando-se a sujeição do resgate das Cotas à  liquidação dos Direitos Creditórios e/ou dos Ativos Financeiros de Liquidez, conforme descrito  acima, tanto o ADMINISTRADOR quanto o GESTOR e o CUSTODIANTE estão  impossibilitados de assegurar que os resgates das Cotas ocorrerão nas datas originalmente  previstas, não sendo devido, nesta hipótese, pela Classe ou qualquer outra pessoa, incluindo  o ADMINISTRADOR, o GESTOR e o CUSTODIANTE, qualquer multa ou penalidade, de  qualquer natureza.</a:t>
            </a:r>
          </a:p>
          <a:p>
            <a:r>
              <a:t> (vi) Ausência de classificação de risco das Cotas e Política de Investimentos  genérica. A ausência de requisitos rígidos relacionados aos Direitos Creditórios passíveis de  aquisição pela Classe poderá dificultar a def inição do perfil de risco da Carteira, af etando a  capacidade de o Cotista avaliar o risco de seu invest imento. As Cotas não possuem  classificação de risco emitida por Agência Classificadora de Risco. Esses f atores podem  dif icultar a avaliação, por parte dos investidores, da qualidade do crédito representado pelas  Cotas e com a capacidade da Classe em honrar com os pagamentos das Cotas.</a:t>
            </a:r>
          </a:p>
          <a:p>
            <a:r>
              <a:t>CNPJ 54871427000194 · Devedor e consignação · Condição: Documentos atuais selecionados no inventário por categoria/escopo; a data documental isolada não comprova vigência jurídica.</a:t>
            </a:r>
          </a:p>
          <a:p>
            <a:r>
              <a:t>CNPJ 54871427000194 · Devedor e consignação · Versão e prevalência: Documentos atuais selecionados no inventário por categoria/escopo; a data documental isolada não comprova vigência jurídica.</a:t>
            </a:r>
          </a:p>
          <a:p>
            <a:r>
              <a:t>CNPJ 54871427000194 · Devedor e consignação · Resumo do histórico: {"count": 2, "dates": ["2024-04-19", "2024-04-28"], "document_count": 2, "sources": [{"document_id": "670691", "title": "Regulamento", "reference_date": "2024-04-28", "version": "1", "page": "38", "url": "https://fnet.bmfbovespa.com.br/fnet/publico/visualizarDocumento?id=670691", "sha256": "bf16dd7f1a62d5cdbf2e2d54fef81783783f7310fbc99c3a8f00459bdf9d037b"}, {"document_id": "670689", "title": "Regulamento", "reference_date": "2024-04-19", "version": "1", "page": 30, "url": "https://fnet.bmfbovespa.com.br/fnet/publico/visualizarDocumento?id=670689", "sha256": "891bc9bc5d87bbc02ec139077a84d2702eb81ea02035fb71d24f5b8366b94a0b"}], "reference": {"path": "history/54871427000194.json", "criterion_id": "debtor", "total_count": 2, "preview_count": 2, "full_text_deferred": true, "sha256": "35d7cd99be50c7287c9fb675cf4f2e736002315295a225a9efa79c8d9186d874"}}</a:t>
            </a:r>
          </a:p>
          <a:p>
            <a:r>
              <a:t>CNPJ 60010416000112 · Devedor e consignação · Regulamento · ID 1051393 · 2025-10-09 · versão 1 · p. 35 · 15.1.4 · https://fnet.bmfbovespa.com.br/fnet/publico/visualizarDocumento?id=1051393</a:t>
            </a:r>
          </a:p>
          <a:p>
            <a:r>
              <a:t>CNPJ 60010416000112 · Devedor e consignação · Excerto da fonte:</a:t>
            </a:r>
          </a:p>
          <a:p>
            <a:r>
              <a:t>15.1.4 Riscos específicos</a:t>
            </a:r>
          </a:p>
          <a:p>
            <a:r>
              <a:t> (i)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 icar inadimplente e,  consequentemente, não haverá repasse à Classe do respectivo Direito Creditório, o que  poderá resultar em perdas f inanceiras à Classe e aos Cotistas.</a:t>
            </a:r>
          </a:p>
          <a:p>
            <a:r>
              <a:t> (ii) Risco do Empregador não efetuar o desconto em folha: o repasse dos recursos oriundos  dos Direitos Creditórios à Classe depende da realização, pelo Empregador, da Escrituração e  do desconto na respectiva f olha de pagamento do Devedor. Na hipótese do Empregador  deixar de realizar a Escrituração ou os descontos na folha de pagamento, não haverá repasse  de recursos à Classe, podendo causar prejuízos à Classe e aos Cotistas.</a:t>
            </a:r>
          </a:p>
          <a:p>
            <a:r>
              <a:t> (iii) Risco de perda do vínculo empregatício com o Empregador: caso o Devedor perca o  vínculo empregatício com o Empregador, não haverá remuneração e f olha de pagamento para  realização dos descontos para pagamento dos Direitos Creditórios. Neste caso, não obstante  a possibilidade do Agente de Retenção/Cobrança realizar a cobrança ativa dos Direitos  Creditórios diretamente do Devedor, a ausência de remuneração poderá deixar o Devedor  inadimplente perante a Classe até que o seu vínculo empregatício seja retomado e seja  ef etuado o procedimento operacional para que a CCB seja aditada e/ou seja realizado o  Processo de Reinicialização. Tais situações poderão resultar em prejuízos à Classe e aos  Cotistas.</a:t>
            </a:r>
          </a:p>
          <a:p>
            <a:r>
              <a:t>CNPJ 60010416000112 · Devedor e consignação · Regulamento · ID 1051393 · 2025-10-09 · versão 1 · p. 36 · https://fnet.bmfbovespa.com.br/fnet/publico/visualizarDocumento?id=1051393</a:t>
            </a:r>
          </a:p>
          <a:p>
            <a:r>
              <a:t>CNPJ 60010416000112 · Devedor e consignação · Excerto da fonte:</a:t>
            </a:r>
          </a:p>
          <a:p>
            <a:r>
              <a:t>Anexo I ao Regulamento CLASSE ÚNICA DO MT I CONSIGNADO PRIVADO I FUNDO DE INVESTIMENTO EM DIREITOS CREDITÓRIOS RESPONSABILIDADE LIMITADA  a qualquer momento, os recursos decorrentes dos Direitos Creditórios.</a:t>
            </a:r>
          </a:p>
          <a:p>
            <a:r>
              <a:t> (iii) Risco de validação das informações para conciliação e reconciliação dos Direitos  Creditórios adquiridos pela Classe: as inf ormações para conciliação dos pagamentos,  sendo considerado como tal, também, o Arquivo Dataprev, listando todos os empregados  cujas f olhas de pagamento serão sujeitas a desconto no mês relevante, nos valores acordados  ao ef etuar a Consignação, e qualquer glosa será enviada pela CEF ao Endossante, que  ef etuará a conciliação e, posteriormente, enviará as inf ormações ao Custodiante. Caso o  Endossante não f orneça essas inf ormações em tempo hábil ou f or verif icada qualquer  inconsistência nas informações recebidas pelo Custodiante, poderá isso impedir ou dar origem  a f alhas no processo de reconciliação dos valores depositados na Conta de Cobrança da  Classe e causando perdas à Classe e ao Cotista.</a:t>
            </a:r>
          </a:p>
          <a:p>
            <a:r>
              <a:t> (iv) Risco operacional dos sistemas: o desconto na f olha de pagamento do Devedor das  parcelas da CCB e a transf erência para o Endossante dos Direitos Creditórios serão  processados por um sistema controlado pela Dataprev, e o Endossante, o Administrador ou o  Gestor não têm controle sobre esse processo. Assim, qualquer f alha ou mudança nesse  sistema poderá atrasar ou reduzir o desconto dos rendimentos dos Devedores ou sua  transf erência para a Classe. Nesse caso, a rentabilidade e a propriedade da Classe poderão  ser adversamente af etadas enquanto o problema do sistema persistir, ou até que todos os  valores sejam devidamente transf eridos.</a:t>
            </a:r>
          </a:p>
          <a:p>
            <a:r>
              <a:t> (v) Risco operacional do Contrato: o desconto na f olha de pagamento das parcelas dos  empréstimos concedidos aos Devedores é permitido pelo Convênio Consignado Privado. As  partes do Convênio Consignado Privado devem seguir certas regras para manter o Convênio  Consignado Privado, e a violação delas poderá levar à sua rescisão. Além disso, mudanças  legais podem af etar e/ou tornar inviável a manutenção do Convênio Consignado Privado.</a:t>
            </a:r>
          </a:p>
          <a:p>
            <a:r>
              <a:t> No caso de rescisão do Convênio Consignado Privado, a estrutura de cobrança dos Direitos  Creditórios (desconto na f olha de pagamento) poderá ser comprometida, dando origem à  necessidade de adoção de uma nova estrutura, que poderá não ser tão eficaz quanto ela ou  mesmo revelar, na prática, ser inadequada ou ter altos custos operacionais. Esses eventos  podem levar a perdas patrimoniais para a Classe, na medida em que este deixará de receber,  def initiva ou temporariamente, recursos oriundos dos Direitos Creditórios, no todo ou em parte.</a:t>
            </a:r>
          </a:p>
          <a:p>
            <a:r>
              <a:t> Adicionalmente, de acordo com o Contrato de Endosso, a manutenção do Convênio  Consignado Privado é uma condição para a aquisição de novos Direitos Creditórios pela  Classe e, portanto, no caso de rescisão do Convênio Consignado Privado, a Classe poderá  ser impedido de adquirir novos Direitos Creditórios.</a:t>
            </a:r>
          </a:p>
          <a:p>
            <a:r>
              <a:t>CNPJ 60010416000112 · Devedor e consignação · Regulamento · ID 1051393 · 2025-10-09 · versão 1 · p. 31 · 13.2 · https://fnet.bmfbovespa.com.br/fnet/publico/visualizarDocumento?id=1051393</a:t>
            </a:r>
          </a:p>
          <a:p>
            <a:r>
              <a:t>CNPJ 60010416000112 · Devedor e consignação · Excerto da fonte:</a:t>
            </a:r>
          </a:p>
          <a:p>
            <a:r>
              <a:t>13.2 Todos os custos e despesas ref eridos neste Capítulo, inclusive para salvaguarda de direitos e  prerrogativas da Classe e/ou com a cobrança judicial e/ou extrajudicial de Direitos Creditórios Inadimplidos  ou Direitos Creditórios a Perf ormar, serão de inteira responsabilidade da Classe, não estando o  Administrador, o Gestor, o Endossante, os Devedores, o Custodiante e quaisquer de suas respectivas  pessoas controladoras, sociedades por estes direta ou indiretamente controladas, a estes coligadas ou  outras sociedades sob controle comum, em conjunto ou isoladamente, obrigados pelo adiantamento ou  pagamento de valores relacionados aos procedimentos ref eridos neste Capítulo.</a:t>
            </a:r>
          </a:p>
          <a:p>
            <a:r>
              <a:t>CNPJ 60010416000112 · Devedor e consignação · Condição: Documentos atuais selecionados no inventário por categoria/escopo; a data documental isolada não comprova vigência jurídica.</a:t>
            </a:r>
          </a:p>
          <a:p>
            <a:r>
              <a:t>CNPJ 60010416000112 · Devedor e consignação · Versão e prevalência: Documentos atuais selecionados no inventário por categoria/escopo; a data documental isolada não comprova vigência jurídica.</a:t>
            </a:r>
          </a:p>
          <a:p>
            <a:r>
              <a:t>CNPJ 60010416000112 · Devedor e consignação · Resumo do histórico: {"count": 2, "dates": ["2025-03-20", "2025-10-09"], "document_count": 2, "sources": [{"document_id": "1051393", "title": "Regulamento", "reference_date": "2025-10-09", "version": "1", "page": "9-10, 42", "url": "https://fnet.bmfbovespa.com.br/fnet/publico/visualizarDocumento?id=1051393", "sha256": "8469d613078ffd5a6c1d217885d8a397a16342c0b937ae4aa24b106505f233ae"}, {"document_id": "993786", "title": "Regulamento", "reference_date": "2025-03-20", "version": "1", "page": 35, "clause": "15.1.4", "url": "https://fnet.bmfbovespa.com.br/fnet/publico/visualizarDocumento?id=993786", "sha256": "fd0fdd369a195510d81f81f505195a0b09e5f43522a990afa7d58c4f872921c8"}], "reference": {"path": "history/60010416000112.json", "criterion_id": "debtor", "total_count": 2, "preview_count": 2, "full_text_deferred": true, "sha256": "8e2bd813f4c51cf01f6bfaad164bafe69d2bbb192f753eac92da3a01c2e63046"}}</a:t>
            </a:r>
          </a:p>
          <a:p>
            <a:r>
              <a:t>CNPJ 62696791000193 · Devedor e consignação · Regulamento · ID 1143317 · 2026-03-20 · versão 1 · p. 47 · 10.2 · https://fnet.bmfbovespa.com.br/fnet/publico/visualizarDocumento?id=1143317</a:t>
            </a:r>
          </a:p>
          <a:p>
            <a:r>
              <a:t>CNPJ 62696791000193 · Devedor e consignação · Excerto da fonte:</a:t>
            </a:r>
          </a:p>
          <a:p>
            <a:r>
              <a:t>10.2. As mudanças climáticas podem impactar severamente os ciclos produtivos de commodities  agrícolas, ocasionando, quebras de saf ra, volatilidade de preços, choques de of erta,  deterioração da qualidade dos produtos por elas atingidos, bem como interrupção no  abastecimento destes. Ref eridas mudanças podem af etar adversamente a capacidade  produtiva e de entrega dos produtos agrícolas pelos devedores, cenário este que impactará  negativamente a capacidade de pagamento dos Ativos-Alvo integrantes da carteira da Classe  pelos devedores e, conforme o caso, pelas pessoas devedoras dos bens e direitos onerados  em f avor da Classe.</a:t>
            </a:r>
          </a:p>
          <a:p>
            <a:r>
              <a:t>CNPJ 62696791000193 · Devedor e consignação · Condição: Documentos atuais selecionados no inventário por categoria/escopo; a data documental isolada não comprova vigência jurídica.</a:t>
            </a:r>
          </a:p>
          <a:p>
            <a:r>
              <a:t>CNPJ 62696791000193 · Devedor e consignação · Versão e prevalência: Documentos atuais selecionados no inventário por categoria/escopo; a data documental isolada não comprova vigência jurídica.</a:t>
            </a:r>
          </a:p>
          <a:p>
            <a:r>
              <a:t>CNPJ 55563624000109 · Devedor e consignação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Devedor e consignação · Resumo do histórico: {"count": 1, "dates": ["2026-04-30"], "document_count": 1, "sources": [{"document_id": "1192614", "title": "Regulamento", "reference_date": "2026-04-30", "version": "1", "page": "11-12", "url": "https://fnet.bmfbovespa.com.br/fnet/publico/visualizarDocumento?id=1192614", "sha256": "f56e63ace0acde41d2f47fb48f1ac7f3f7df5e2d32de092d7c5e075a52516632"}], "reference": {"path": "history/55563624000109.json", "criterion_id": "debtor", "total_count": 1, "preview_count": 1, "full_text_deferred": true, "sha256": "7835d573fb58a3c19adf5b8ecc2aee2bdbb9a88f7a0c0209b5f262b64c7522e3"}}</a:t>
            </a:r>
          </a:p>
          <a:p>
            <a:r>
              <a:t>CNPJ 62552447000120 · Devedor e consignação · Regulamento · ID 1200623 · 2026-05-21 · versão 1 · p. 35 · https://fnet.bmfbovespa.com.br/fnet/publico/visualizarDocumento?id=1200623</a:t>
            </a:r>
          </a:p>
          <a:p>
            <a:r>
              <a:t>CNPJ 62552447000120 · Devedor e consignação · Excerto da fonte:</a:t>
            </a:r>
          </a:p>
          <a:p>
            <a:r>
              <a:t>ativos desses emissores, causando perdas à Classe e ao Cotista. Além disso, a f alta de capacidade ou disposição de pagar por qualquer dos emissores dos Ativos Financeiros de Liquidez ou das contrapartes nas transações que compõem a Carteira causará perdas à Classe, e o que também poderá incorrer em custos para f ins de recuperação de seus recebíveis.</a:t>
            </a:r>
          </a:p>
          <a:p>
            <a:r>
              <a:t>(v) Riscos associados aos Devedores: no caso de Devedores no âmbito das operações de consignado privado, a sua capacidade de pagamento poderá ser af etada se, por exemplo, o Devedor tiver o seu contrato de emprego rescindido ou em virtude de decisão judicial, o Devedor for obrigado a pagar alimentos, que têm prioridade sobre o empréstimo para f ins de desconto na f 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 etar a rentabilidade da Classe. Já no caso de Devedores no âmbito das operações de Saque-aniversário, como os Direitos Creditórios a serem endossados à Classe serão descontados pelo FGTS da remuneração do Devedor, na ocorrência de qualquer evento que, nos termos da legislação aplicável, determine o pagamento antecipado do Saque-aniversário ao Devedor, a exemplo do falecimento do Devedor, dentre outros, as parcelas do Saque- aniversário serão pagas antecipadamente e a Classe deverá utilizar tais montantes no pré-pagamento dos Direitos Creditórios. Nesta hipótese, a Classe poderá não encontrar Direitos Creditórios disponíveis para serem adquiridos pela Classe, o que poderá af etar a rentabilidade da Classe.</a:t>
            </a:r>
          </a:p>
          <a:p>
            <a:r>
              <a:t>Risco de liquidez</a:t>
            </a:r>
          </a:p>
          <a:p>
            <a:r>
              <a:t>(i) Risco de liquidez: consiste no risco de redução ou inexistência de demanda pelos ativos que compõem a Classe nos respectivos mercados em que são negociados, devido às condições específicas desses ativos ou aos mercados em que são negociados. Devido a esses riscos, o Gestor poderá encontrar dificuldades em liquidar posições ou negociar esses ativos pelo preço e prazo desejados, de acordo com a estratégia de gestão adotada pela Classe, que permanecerá exposto, durante o período de baixa liquidez, aos riscos associados a esses ativos e posições assumidas em mercados de derivativos, se houver, que poderão até exigir que o Gestor aceite descontos em seus preços para realizar negociações no mercado. Esses f atores poderão prejudicar o pagamento de Amortizações ao Cotista, nos valores e dentro dos termos aqui estabelecidos.</a:t>
            </a:r>
          </a:p>
          <a:p>
            <a:r>
              <a:t>(ii) Riscos do mercado secundário: A Classe é constituída sob a f orma de condomínio fechado, de modo que as Cotas somente serão resgatadas em virtude da liquidação da Classe. Uma vez que o Prazo de Duração da Classe é indeterminado, o Cotista titular das Cotas não terá liquidez em seu investimento na Classe, exceto</a:t>
            </a:r>
          </a:p>
          <a:p>
            <a:r>
              <a:t>(a) por ocasião das Amortizações e dos resgates, nos termos deste Regulamento; (b) por meio da alienação de suas Cotas no mercado secundário; ou (c) na liquidação antecipada do FUNDO ou da Classe.</a:t>
            </a:r>
          </a:p>
          <a:p>
            <a:r>
              <a:t>Além disso, atualmente, o mercado secundário de cotas de fundos de investimento apresenta baixa liquidez, o que pode dificultar a venda das Cotas ou ocasionar a obtenção de um preço de venda que cause perda de patrimônio ao Cotista. Não há qualquer garantia do Administrador, do Gestor, da consultora ou do Custodiante em relação à possibilidade de venda das Cotas no mercado secundário ou ao preço obtido por elas, ou mesmo garantia de saída ao Cotista.</a:t>
            </a:r>
          </a:p>
          <a:p>
            <a:r>
              <a:t>Riscos específicos</a:t>
            </a:r>
          </a:p>
          <a:p>
            <a:r>
              <a:t>(i)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ficar inadimplente e, consequentemente, não haverá repasse à Classe do respectivo Direito Creditório, o que poderá resultar em perdas f inanceiras à Classe e aos Cotistas. Para os f ins deste Regulamento, “Empregador” signif ica a empresa com qual o Devedor mantém vínculo empregatício registrado junto à CTPS.</a:t>
            </a:r>
          </a:p>
          <a:p>
            <a:r>
              <a:t>(ii) Risco do Empregador não efetuar o desconto em folha: o repasse dos recursos oriundos dos Direitos Creditórios à Classe depende da realização, pelo Empregador, da escrituração da Consignação a ser</a:t>
            </a:r>
          </a:p>
          <a:p>
            <a:r>
              <a:t>CNPJ 62552447000120 · Devedor e consignação · Regulamento · ID 1200623 · 2026-05-21 · versão 1 · p. 36 · https://fnet.bmfbovespa.com.br/fnet/publico/visualizarDocumento?id=1200623</a:t>
            </a:r>
          </a:p>
          <a:p>
            <a:r>
              <a:t>CNPJ 62552447000120 · Devedor e consignação · Excerto da fonte:</a:t>
            </a:r>
          </a:p>
          <a:p>
            <a:r>
              <a:t>realizada pelo empregador, junto ao eSocial, após recebimento de notificação comunicando-o da contratação, pelo Devedor, do empréstimo a ser pago por Consignação (“Escrituração”), e do desconto na respectiva folha de pagamento do Devedor. Na hipótese do Empregador deixar de realizar a Escrituração ou os descontos na f olha de pagamento, não haverá repasse de recursos à Classe, podendo causar prejuízos à Classe e aos Cotistas.</a:t>
            </a:r>
          </a:p>
          <a:p>
            <a:r>
              <a:t>(iii) Risco de perda do vínculo empregatício com o Empregador: caso o Devedor perca o vínculo empregatício com o Empregador, não haverá remuneração e f olha de pagamento para realização dos descontos para pagamento dos Direitos Creditórios. Neste caso, não obstante a possibilidade do Agente de Retenção e Cobrança realizar a cobrança ativa dos Direitos Creditórios diretamente do Devedor, a ausência de remuneração poderá deixar o Devedor inadimplente perante a Classe até que o seu vínculo empregatício seja retomado e seja efetuado o procedimento operacional para que a CCB seja aditada e/ou seja realizado o Processo de Reinicialização. Tais situações poderão resultar em prejuízos à Classe e aos Cotistas.</a:t>
            </a:r>
          </a:p>
          <a:p>
            <a:r>
              <a:t>(iv) Risco relativo ao Agente de Retenção e Cobrança: A solvência do Agente de Retenção e Cobrança quanto às suas obrigações financeiras poderá impactar o cumprimento de suas obrigações perante a Classe e, consequentemente, os rendimentos da Classe poderão ser adversamente af etados.</a:t>
            </a:r>
          </a:p>
          <a:p>
            <a:r>
              <a:t>Riscos operacionais</a:t>
            </a:r>
          </a:p>
          <a:p>
            <a:r>
              <a:t>(i) Risco de irregularidade dos Documentos Comprobatórios e/ou Documentos Suporte: o terceiro contratado pelo Gestor, que atuará sob responsabilidade do Gestor, deverá realizar a verif icação da regularidade dos Documentos Comprobatórios. A Carteira poderá conter Direitos Creditórios com documentação irregular, o que poderá impedir que a Classe exerça plenamente as prerrogativas derivadas da titularidade dos Direitos Creditórios.</a:t>
            </a:r>
          </a:p>
          <a:p>
            <a:r>
              <a:t>(ii) Risco operacional da Dataprev e da CEF: o empréstimo contraído pelos Devedores é pago por meio de desconto na f olha de pagamento f eito pela Dataprev e pela CEF, conf orme aplicável. É possível que os rendimentos dos Devedores sejam atrasados ou não pagos devido a questões operacionais envolvendo a Dataprev e/ou a CEF. Nesse caso, a Carteira poderá sofrer, já que não receberá automaticamente, e também poderá ter dificuldades para receber, a qualquer momento, os recursos decorrentes dos Direitos Creditórios.</a:t>
            </a:r>
          </a:p>
          <a:p>
            <a:r>
              <a:t>(iii) Risco operacional do FGTS: o empréstimo contraído pelos Devedores é pago por meio de desconto dos Saques-aniversário feitos pelo FGTS. É possível que os rendimentos dos Devedores sejam atrasados ou não pagos devido a questões operacionais envolvendo a CEF, incluindo, sem se limitar, a erros e atrasos operacionais envolvendo a CEF. Nesse caso, a Carteira poderá sofrer, já que não receberá automaticamente, e também poderá ter dif iculdades para receber, a qualquer momento, os recursos decorrentes dos Direitos Creditórios.</a:t>
            </a:r>
          </a:p>
          <a:p>
            <a:r>
              <a:t>(iv) Risco de validação das informações para conciliação e reconciliação dos Direitos Creditórios adquiridos pela Classe: as inf ormações para conciliação dos pagamentos, sendo considerado como tal, também, o Arquivo Dataprev e o Arquivo de Liquidação Saque-aniversário, listando todos os empregados cujas f olhas de pagamento ou Saques Aniversário serão sujeitos a desconto no mês, nos valores acordados ao ef etuar a Consignação, e qualquer glosa será enviada pela CEF ao Endossante, que efetuará a conciliação e, posteriormente, enviará as informações ao Custodiante. Caso o Endossante não forneça essas informações em tempo hábil ou for verificada qualquer inconsistência nas informações recebidas pelo Custodiante, poderá isso impedir ou dar origem a falhas no processo de reconciliação dos valores depositados na Conta da Classe e causando perdas à Classe e ao Cotista.</a:t>
            </a:r>
          </a:p>
          <a:p>
            <a:r>
              <a:t>(v) Risco operacional dos sistemas: o desconto na f olha de pagamento e/ou nos Saques Aniversário das parcelas da CCB e a transf erência para o Endossante dos Direitos Creditórios serão processados por meio da Plataforma Dataprev, e o Endossante, o Administrador ou o Gestor não têm controle sobre esse processo.</a:t>
            </a:r>
          </a:p>
          <a:p>
            <a:r>
              <a:t>Assim, qualquer falha ou mudança nesse sistema poderá atrasar ou reduzir o desconto dos rendimentos dos Devedores ou sua transferência para a Classe. Nesse caso, a rentabilidade e a propriedade da Classe poderão ser adversamente af etadas enquanto o problema do sistema persistir, ou até que todos os valores sejam devidamente transf eridos.</a:t>
            </a:r>
          </a:p>
          <a:p>
            <a:r>
              <a:t>(vi) Risco operacional: em linha com as Cláusulas 4.3.1 e 4.3.2 do Anexo I deste Regulamento, o</a:t>
            </a:r>
          </a:p>
          <a:p>
            <a:r>
              <a:t>CNPJ 62552447000120 · Devedor e consignação · Regulamento · ID 1200623 · 2026-05-21 · versão 1 · p. 5 · https://fnet.bmfbovespa.com.br/fnet/publico/visualizarDocumento?id=1200623</a:t>
            </a:r>
          </a:p>
          <a:p>
            <a:r>
              <a:t>CNPJ 62552447000120 · Devedor e consignação · Excerto da fonte:</a:t>
            </a:r>
          </a:p>
          <a:p>
            <a:r>
              <a:t>O objetivo da Classe é proporcionar aos seus Cotistas a valorização de  suas Cotas por meio da aplicação de seu Patrimônio Líquido na aquisição  de:</a:t>
            </a:r>
          </a:p>
          <a:p>
            <a:r>
              <a:t> (i) “Direitos Creditórios”, assim entendidos como, em conjunto:</a:t>
            </a:r>
          </a:p>
          <a:p>
            <a:r>
              <a:t> (a) “Direitos Creditórios Consignado Privado”, na forma de  cédulas de crédito bancário, regidas pela Lei n.º 10.931,  de 2 de agosto de 2004, conforme alterada (“CCBs”),  emitidas eletronicamente por Devedores, em f avor do  Endossante, representando um empréstimo pessoal  consignado, de forma que o pagamento ocorra mediante  desconto de cada prestação vincenda da CCB na f olha  de pagamentos do Devedor (“Consignação”);</a:t>
            </a:r>
          </a:p>
          <a:p>
            <a:r>
              <a:t> (b) “Direitos Creditórios FGTS”, na f orma de CCBs  emitidas eletronicamente por Devedores, em f avor do  Objetivo Endossante, representando um empréstimo pessoal com  garantia de cessão f iduciária dos valores a que f azem jus  os Devedores ref erentes ao saque anual permitido aos  benef iciários do Fundo de Garantia do Tempo de Serviço  (“FGTS”) em seu mês de aniversário (“Saque-  aniversário”), regulado pela Lei n.º 8.036, de 11 de maio  de 1990, conforme alterada (“Lei 8.036”), nos termos dos  arts. 20, inciso XX, 20-A, inciso II, e 20-D, § 3º, da Lei</a:t>
            </a:r>
          </a:p>
          <a:p>
            <a:r>
              <a:t> 8.036, do art. 66-B da Lei n.º 4.728, de 14 de julho de  1965, e da Resolução CC/FGTS n.º 958, de 24 de abril  de 2020, conforme alterada (“Resolução FGTS 958”), de  f orma que parte do Saque-aniversário é utilizada para  liquidar as parcelas devidas da CCB;</a:t>
            </a:r>
          </a:p>
          <a:p>
            <a:r>
              <a:t> (c) “Direitos Creditórios TVM”, na f orma de direitos, títulos  e/ou valores mobiliários representativos de créditos  originados no âmbito de operações de sociedades</a:t>
            </a:r>
          </a:p>
          <a:p>
            <a:r>
              <a:t>CNPJ 62552447000120 · Devedor e consignação · Condição: Documentos atuais selecionados no inventário por categoria/escopo; a data documental isolada não comprova vigência jurídica.</a:t>
            </a:r>
          </a:p>
          <a:p>
            <a:r>
              <a:t>CNPJ 62552447000120 · Devedor e consignação · Versão e prevalência: Documentos atuais selecionados no inventário por categoria/escopo; a data documental isolada não comprova vigência jurídica.</a:t>
            </a:r>
          </a:p>
          <a:p>
            <a:r>
              <a:t>CNPJ 63953620000165 · Devedor e consignação · Anexo ao Regulamento · ID 1222863 · 2026-06-02 · versão 1 · p. 1 · 1.1 · https://fnet.bmfbovespa.com.br/fnet/publico/visualizarDocumento?id=1222863</a:t>
            </a:r>
          </a:p>
          <a:p>
            <a:r>
              <a:t>CNPJ 63953620000165 · Devedor e consignação · Excerto da fonte:</a:t>
            </a:r>
          </a:p>
          <a:p>
            <a:r>
              <a:t>1.1 As principais características da Classe Consignado Privado (para fins deste Anexo, “Classe”) estão descritas  abaixo:</a:t>
            </a:r>
          </a:p>
          <a:p>
            <a:r>
              <a:t> Tipo de Condomínio Fechado.</a:t>
            </a:r>
          </a:p>
          <a:p>
            <a:r>
              <a:t> Indeterminado, exceto se de outra forma vier a ser deliberado pelos Cotistas  Prazo de Duração  reunidos em Assembleia Especial de Cotistas. (“Prazo de Duração”)  Tipo “Financeiro”.</a:t>
            </a:r>
          </a:p>
          <a:p>
            <a:r>
              <a:t> Classificação ANBIMA  Foco de atuação “Créditos Consignados”.</a:t>
            </a:r>
          </a:p>
          <a:p>
            <a:r>
              <a:t> O objetivo da classe é proporcionar aos seus Cotistas a valorização de suas Cotas  por meio da aplicação de seu Patrimônio Líquido (conforme definido abaixo) na  aquisição de: (i) “Direitos Creditórios Crédito Consignado”, representados por  cédula de crédito bancário regida pela Lei nº 10.931, emitida eletronicamente por  um devedor em favor do endossante (“CCB”) e, consequentemente, os recebíveis  decorrente de cada uma das parcelas vincendas, representando um empréstimo  consignado concedido pelo endossante ao devedor, e cujo pagamento ordinário  é feito por desconto de cada prestação vincenda de uma CCB na folha de  pagamentos do devedor (“Consignação”), efetuada pela Caixa Econômica  Federal, de acordo com a legislação aplicável e em conformidade com os  procedimentos estabelecidos no convênio celebrado entre o Endossante e a  Empresa de Tecnologia e Informações da Previdência – DATAPREV e paga na  Conta Vinculada do Endossante (“Convênio Consignado Privado”); e/ou (ii)  “Direitos Creditórios TVM”, representados por direitos, títulos e/ou valores  mobiliários representativos de créditos originados no âmbito de operações de  sociedades integrantes do conglomerado econômico de instituições financeiras  classificadas como S1 pelo BACEN, desde que não representem títulos de  emissão ou coobrigação de instituições financeiras, bem como cotas de fundos  de investimento que invistam preponderantemente nestes direitos, títulos e/ou  Objetivo  valores mobiliários (Direitos Creditórios TVM quando referidos em conjunto  com os Direitos Creditórios Consignado Privado, “Direitos Creditórios”)  observados todos os limites de composição e diversificação da carteira da Classe  (“Carteira”), estabelecidos neste Regulamento e na regulamentação aplicável.</a:t>
            </a:r>
          </a:p>
          <a:p>
            <a:r>
              <a:t> Subsidiariamente, a parcela do Patrimônio Líquido que não esteja alocada em  Direitos Creditórios poderá estar alocado em: (1) certificados de depósito  bancário (CDB) ou recibos de depósito bancário (RDB) com prazo máximo de  vencimento equivalente ao prazo remanescente do Período de Investimento, com  liquidez diária, emitidos por Parati Crédito, Financiamento e Investimento S.A.</a:t>
            </a:r>
          </a:p>
          <a:p>
            <a:r>
              <a:t> e/ou pelo Endossante (“Ativos de Liquidez MT”); e/ou (2) (i) moeda corrente  nacional; (ii) títulos do Tesouro SELIC, anteriormente denominado letra financeira  do Tesouro Nacional (LFT); (iii) certificados de depósito bancário (CDB) ou recibos  de depósito bancário (RDB) com prazo máximo de vencimento equivalente ao  prazo remanescente do Período de Investimento, com liquidez diária, emitidos  por (a) Itaú Unibanco S.A.; (b) Banco Bradesco S.A.; (c) Caixa Econômica Federal;</a:t>
            </a:r>
          </a:p>
          <a:p>
            <a:r>
              <a:t> (d) Banco do Brasil S.A.; (e) Banco Santander (Brasil) S.A.; (f) Banco BTG Pactual  S.A.; (g) Banco Sistema S.A. (“Instituições Autorizadas”); (iv) operações  compromissadas, desde que lastreadas nos títulos mencionados nas alíneas (i) a</a:t>
            </a:r>
          </a:p>
          <a:p>
            <a:r>
              <a:t> (iii) acima, emitidas por Instituições Autorizadas, com liquidez diária e vencimento</a:t>
            </a:r>
          </a:p>
          <a:p>
            <a:r>
              <a:t>CNPJ 63953620000165 · Devedor e consignação · Anexo ao Regulamento · ID 1222863 · 2026-06-02 · versão 1 · p. 19 · 12.6 · https://fnet.bmfbovespa.com.br/fnet/publico/visualizarDocumento?id=1222863</a:t>
            </a:r>
          </a:p>
          <a:p>
            <a:r>
              <a:t>CNPJ 63953620000165 · Devedor e consignação · Excerto da fonte:</a:t>
            </a:r>
          </a:p>
          <a:p>
            <a:r>
              <a:t>12.6 A Classe contratou a Tudo Serviços S.A., sociedade anônima, com sede no município de Fortaleza, Estado do Ceará,  na Avenida Senador Virgulo Távora, nº 303, Lojas 02, 03, 04, 05, 06 e 19, Meireles, CEP 60.170-265, inscrita no CNPJ  sob o nº 27.852.506/0001-85, cujos deveres, sem prejuízo daqueles estabelecidos neste Regulamento, no  “Contrato de Serviços de Retenção e Cobrança e Outras Avenças”, celebrado entre o Agente de  Retenção/Cobrança e a Classe (“Contrato de Serviços MT”) e no Contrato de Endosso, consistirão no  monitoramento e cobrança dos Direitos Creditórios Inadimplidos, observado o disposto neste Anexo I e na  regulamentação aplicável (“Agente de Retenção/Cobrança”):</a:t>
            </a:r>
          </a:p>
          <a:p>
            <a:r>
              <a:t> (i) caso aplicável, atuar na retenção (defesa) de operações de empréstimo consignado cujos Direitos  Creditórios sejam de titularidade da Classe, em caso de tentativa de transferência de tais operações de  empréstimo consignado por instituições proponentes, nos termos da Resolução CMN nº 5.057, em razão de  ofertas de portabilidade feitas por tais instituições proponentes, conforme informado pelo Endossante ou pelo  Custodiante ao Agente de Retenção/Cobrança, diariamente, de acordo com o Contrato de Endosso; sendo  que tal serviço deverá incluir, entre outras atividades auxiliares a ele relacionadas, a avaliação das ofertas de  portabilidade feitas pelas instituições proponentes, buscando, se for o caso, esclarecer as vantagens de não  recorrer à portabilidade, retendo a respectiva operação de empréstimo consignado em seus termos atuais;</a:t>
            </a:r>
          </a:p>
          <a:p>
            <a:r>
              <a:t> (ii) mediante inadimplemento de um Direito Creditório devido à indisponibilidade da margem de crédito do  Devedor, auxiliar o Endossante com o Processo de Reinicialização (conforme detalhado no Contrato de  Endosso) em relação ao respectivo Direito Creditório;</a:t>
            </a:r>
          </a:p>
          <a:p>
            <a:r>
              <a:t> (iii) manter e operar um serviço de atendimento ao consumidor - SAC e uma ouvidoria em conformidade  com os regulamentos aplicáveis, monitorar e resolver reclamações e solicitações de Devedores com  relação às operações de empréstimo consignado que dão origem aos Direitos Creditórios, em  conformidade com o Acordo de Parceria;</a:t>
            </a:r>
          </a:p>
          <a:p>
            <a:r>
              <a:t> (iv) realizar a cobrança dos Direitos Creditórios Inadimplidos;</a:t>
            </a:r>
          </a:p>
          <a:p>
            <a:r>
              <a:t> (v) auxiliar o Endossante na correção de qualquer irregularidade relevante identificada com relação à  originação dos Direitos Creditórios;</a:t>
            </a:r>
          </a:p>
          <a:p>
            <a:r>
              <a:t> (vi) realizar a renegociação junto aos Devedores de Direitos Creditórios Inadimplidos e, caso aplicável, celebrar  aditamento à CCB para refletir os novos termos, decorrentes da renegociação  CAPÍTULO 13 – REMUNERAÇÃO DOS PRESTADORES DE SERVIÇOS  0,05% (cinco centésimos por cento) ao ano, apropriada diariamente na base de 252  (duzentos e cinquenta e dois) Dias Úteis, e paga mensalmente até o 5º (quinto) Dia  Útil do mês subsequente ao mês que se refere, incidente sobre o Patrimônio Líquido  da Classe alocado em Direitos Creditórios Consignado Privado e/ou Ativos de  Liquidez MT, observada remuneração mínima mensal de R$ 2.500,00 (dois mil e  quinhentos reais), a ser corrigida anualmente, em janeiro de cada ano, pela variação  Taxa de Administração  positiva do Índice Geral de Preços – Mercado, divulgado pela Fundação Getúlio  Vargas (“Taxa de Administração” e “IGP-M”, respectivamente).</a:t>
            </a:r>
          </a:p>
          <a:p>
            <a:r>
              <a:t> Na hipótese de extinção do IGP-M, não divulgação ou impossibilidade de sua  utilização, será utilizado o Índice Geral de Preços – Disponibilidade Interna,  divulgado pela Fundação Getúlio Vargas, ou, na falta de ambos, pela variação do IPC  – Índice de Preços ao Consumidor, divulgado pela Fundação Instituto de Pesquisas</a:t>
            </a:r>
          </a:p>
          <a:p>
            <a:r>
              <a:t>CNPJ 63953620000165 · Devedor e consignação · Anexo ao Regulamento · ID 1222863 · 2026-06-02 · versão 1 · p. 2 · https://fnet.bmfbovespa.com.br/fnet/publico/visualizarDocumento?id=1222863</a:t>
            </a:r>
          </a:p>
          <a:p>
            <a:r>
              <a:t>CNPJ 63953620000165 · Devedor e consignação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Devedor e consignação · Condição: Documentos atuais selecionados no inventário por categoria/escopo; a data documental isolada não comprova vigência jurídica.</a:t>
            </a:r>
          </a:p>
          <a:p>
            <a:r>
              <a:t>CNPJ 63953620000165 · Devedor e consignação · Versão e prevalência: Documentos atuais selecionados no inventário por categoria/escopo; a data documental isolada não comprova vigência jurídica.</a:t>
            </a:r>
          </a:p>
          <a:p>
            <a:r>
              <a:t>CNPJ 63953620000165 · Devedor e consignação · Resumo do histórico: {"count": 8, "dates": ["2026-04-28", "2026-05-08", "2026-05-15"], "document_count": 3, "sources": [{"document_id": "1327859", "title": "Demonstrações Financeiras - Fusão, cisão e incorporação", "reference_date": "2026-05-15", "version": "1", "page": 22, "url": "https://fnet.bmfbovespa.com.br/fnet/publico/visualizarDocumento?id=1327859", "sha256": "dca1c68babb97f887528c3e2e47596a9c30f507b067981a35655b2f2da9c8054"}, {"document_id": "1298691", "title": "Demonstrações Financeiras - Fusão, cisão e incorporação", "reference_date": "2026-05-08", "version": "1", "page": 22, "url": "https://fnet.bmfbovespa.com.br/fnet/publico/visualizarDocumento?id=1298691", "sha256": "58c570d9b8d4d265330d3db3ea81c435b8e44a6dab4002aa37790652a1ee9819"}, {"document_id": "1282180", "title": "Demonstrações Financeiras - Fusão, cisão e incorporação", "reference_date": "2026-04-28", "version": "1", "page": 22, "url": "https://fnet.bmfbovespa.com.br/fnet/publico/visualizarDocumento?id=1282180", "sha256": "afaaa0e6809be4385e5bdb6c911aac582032c5bdbac3d7750234bf9eaf00438a"}], "reference": {"path": "history/63953620000165.json", "criterion_id": "debtor", "total_count": 8, "preview_count": 3, "full_text_deferred": true, "sha256": "a7b89077f5e21098c2d601c303faabc3ff6b9729f89d8afecdc60fe1404720c1"}}</a:t>
            </a:r>
          </a:p>
          <a:p>
            <a:r>
              <a:t>CNPJ 54871427000194 · Elegibilidade · Regulamento · ID 670691 · 28/04/2024 · versão Regulamento — referência 28/04/2024 · p. 9 · Anexo I, 4.7(i)–(iv) · https://fnet.bmfbovespa.com.br/fnet/publico/visualizarDocumento?id=670691</a:t>
            </a:r>
          </a:p>
          <a:p>
            <a:r>
              <a:t>CNPJ 54871427000194 · Elegibilidade · Excerto da fonte:</a:t>
            </a:r>
          </a:p>
          <a:p>
            <a:r>
              <a:t>4.7 A Classe somente poderá adquirir os Direitos Creditórios que atendam cumulativamente aos seguintes Critérios de Elegibilidade, a serem verif icados e validados pelo GESTOR, de f orma individualizada e integral, previamente à cessão e na respectiva Data de Aquisição, de modo que apenas são passíveis de aquisição pela Classe os Direitos Creditórios que, na Data de Aquisição: (i) CCBs sem qualquer parcela cedida; (ii) CCBs com diferença menor que 60 (sessenta) dias entre a data provável do endosso e a próxima parcela a vencer; (iii) CCBs cujo valor da prestação seja superior a R$ 30,00 (trinta reais); (iv) Idade do Devedor somada ao prazo remanescente da CCB deve ser igual ou inferior a 80 (oitenta) anos; BTG Pactual SAC: 0800 772 28 27 - Ouvidoria: 0800 722 00 48 - btgpactual.com 3</a:t>
            </a:r>
          </a:p>
          <a:p>
            <a:r>
              <a:t>CNPJ 54871427000194 · Elegibilidade · Regulamento · ID 670691 · 28/04/2024 · versão Regulamento — referência 28/04/2024 · p. 10 · Anexo I, 4.7(v)–(xi) · https://fnet.bmfbovespa.com.br/fnet/publico/visualizarDocumento?id=670691</a:t>
            </a:r>
          </a:p>
          <a:p>
            <a:r>
              <a:t>CNPJ 54871427000194 · Elegibilidade · Excerto da fonte:</a:t>
            </a:r>
          </a:p>
          <a:p>
            <a:r>
              <a:t>(v) CCBs que até a Data do Endosso não estejam pendentes de res olução em relação a uma comprovada reclamação do devedor junto ao Banco Central do Brasil ou ao Procon; (vi) CCBs que não sejam originadas por pessoa física condenada por terem submetido trabalhadores a condições análogas à de escravo – denominada “Lista Suja”; (vii) CCBs sem parcela em atraso; (viii) Aquisição de todas as parcelas vincendas das CCBs, não sendo possível a aquisição de fluxo parcial; (ix) CCBs vinculadas ao órgão convenente, desde que o convênio não se encontre na Data de Aquisição em situação de suspensão; (x) Devedores adimplentes junto ao Endossante com relação aos Direitos Creditórios endossados à Classe; CCB cuja amortização ordinária dos valores devidos, nos últimos 60 (sessenta) dias, tenha ocorrido de f orma integral e ordinária. Na primeira tranche de aquisição de Direitos Creditórios pelo Endossatário tal prazo poderá ser reduzido para 30 (trinta) dias nos casos de amortização extraordinária (via boleto) desde que o valor de aquisição dos ref eridos Direitos Creditórios não ultrapasse R$ 30.000,00 (trinta mil reais), exc</a:t>
            </a:r>
          </a:p>
          <a:p>
            <a:r>
              <a:t>CNPJ 54871427000194 · Elegibilidade · Versão e prevalência: Leitura específica das cláusulas indicadas; condições e conflitos preservados. Seleção documental atual não comprova vigência jurídica por data isolada.</a:t>
            </a:r>
          </a:p>
          <a:p>
            <a:r>
              <a:t>CNPJ 54871427000194 · Elegibilidade · Resumo do histórico: {"count": 2, "dates": ["2024-04-19", "2024-04-28"], "document_count": 2, "sources": [{"document_id": "670691", "title": "Regulamento", "reference_date": "2024-04-28", "version": "1", "page": "9-10", "clause": "4.7", "url": "https://fnet.bmfbovespa.com.br/fnet/publico/visualizarDocumento?id=670691", "sha256": "bf16dd7f1a62d5cdbf2e2d54fef81783783f7310fbc99c3a8f00459bdf9d037b"}, {"document_id": "670689", "title": "Regulamento", "reference_date": "2024-04-19", "version": "1", "page": 10, "clause": "4.7.3", "url": "https://fnet.bmfbovespa.com.br/fnet/publico/visualizarDocumento?id=670689", "sha256": "891bc9bc5d87bbc02ec139077a84d2702eb81ea02035fb71d24f5b8366b94a0b"}], "reference": {"path": "history/54871427000194.json", "criterion_id": "eligibility", "total_count": 2, "preview_count": 2, "full_text_deferred": true, "sha256": "35d7cd99be50c7287c9fb675cf4f2e736002315295a225a9efa79c8d9186d874"}}</a:t>
            </a:r>
          </a:p>
          <a:p>
            <a:r>
              <a:t>CNPJ 60010416000112 · Elegibilidade · Regulamento · ID 1051393 · 2025-10-09 · versão 1 · p. 10 · 4.4.5 · https://fnet.bmfbovespa.com.br/fnet/publico/visualizarDocumento?id=1051393</a:t>
            </a:r>
          </a:p>
          <a:p>
            <a:r>
              <a:t>CNPJ 60010416000112 · Elegibilidade · Excerto da fonte:</a:t>
            </a:r>
          </a:p>
          <a:p>
            <a:r>
              <a:t>4.4.5. Caso um Direito Creditório endossado à Classe deixe de atender quaisquer Critérios de  Elegibilidade, quaisquer condições de endosso e/ou quaisquer declarações e garantias referentes  a esse Direito Creditório, conforme previsto no Contrato de Endosso, após seu endosso à Classe,  não haverá coobrigação nem direito de regresso da Classe contra o Endossante, o Administrador,  o Custodiante, o Gestor e/ou o Agente de Retenção/Cobrança, exceto em caso de má-fé, culpa  ou dolo comprovado, hipótese em que a parte que agiu com má-f é, culpa ou dolo comprovado  poderá ser responsabilizada pelas perdas incorridas pela Classe em relação aos respectivos  Direitos Creditórios. Se, entretanto, for constatado que um Direito Creditório endossado à Classe  não estava em conformidade com os Critérios de Elegibilidade, condições de endosso ou com as  declarações e garantias prestadas pelo Endossante no Contrato de Endosso, na respectiva data  de endosso, então o endosso desse Direito Creditório poderá ser objeto de resolução pela Classe.</a:t>
            </a:r>
          </a:p>
          <a:p>
            <a:r>
              <a:t> Nessa hipótese, a Classe terá o direito de resolver o endosso desse Direito Creditório, devolvendo-  o ao Endossante por valor a ser restituído à Classe. Adicionalmente, se f or constatado que um  Direito Creditório endossado à Classe não estava em conf ormidade com as declarações e  garantias prestadas pelo Agente de Retenção/Cobrança no Contrato de Endosso, na respectiva  data de endosso, então a Classe terá o direito de vender esse Direito Creditório ao Agente de  Retenção/Cobrança (opção de venda). A retrovenda ou a venda, conforme o caso, será realizada  de acordo com os termos, condições, formalidades e preços de recompra compulsória e opção de  venda detalhados no Contrato de Endosso.</a:t>
            </a:r>
          </a:p>
          <a:p>
            <a:r>
              <a:t>CNPJ 60010416000112 · Elegibilidade · Regulamento · ID 1051393 · 2025-10-09 · versão 1 · p. 9 · 4.3 · https://fnet.bmfbovespa.com.br/fnet/publico/visualizarDocumento?id=1051393</a:t>
            </a:r>
          </a:p>
          <a:p>
            <a:r>
              <a:t>CNPJ 60010416000112 · Elegibilidade · Excerto da fonte:</a:t>
            </a:r>
          </a:p>
          <a:p>
            <a:r>
              <a:t>4.3 Os Direitos Creditórios deverão contar com Documentos Comprobatórios que evidenciem sua existência,  validade e exequibilidade perante os respectivos Devedores.</a:t>
            </a:r>
          </a:p>
          <a:p>
            <a:r>
              <a:t> Critérios de Elegibilidade</a:t>
            </a:r>
          </a:p>
          <a:p>
            <a:r>
              <a:t>CNPJ 60010416000112 · Elegibilidade · Regulamento · ID 1051393 · 2025-10-09 · versão 1 · p. 9 · 4.4 · https://fnet.bmfbovespa.com.br/fnet/publico/visualizarDocumento?id=1051393</a:t>
            </a:r>
          </a:p>
          <a:p>
            <a:r>
              <a:t>CNPJ 60010416000112 · Elegibilidade · Excerto da fonte:</a:t>
            </a:r>
          </a:p>
          <a:p>
            <a:r>
              <a:t>4.4 A Classe somente poderá adquirir os Direitos Creditórios que atendam, cumulativamente, aos seguintes  Critérios de Elegibilidade, a serem verificados e validados pelo Gestor, de forma individualizada e integral,  previamente ao endosso do Direito Creditório, na respectiva Data de Aquisição:</a:t>
            </a:r>
          </a:p>
          <a:p>
            <a:r>
              <a:t> (i) os Direitos Creditórios deverão decorrer de empréstimo concedido pelo Endossante a um  Devedor, representado por uma CCB, com taxa de juros prefixada e vencimento final anterior  ao vencimento f inal da Classe;</a:t>
            </a:r>
          </a:p>
          <a:p>
            <a:r>
              <a:t>BTG Pactual SAC: 0800 772 28 27 - Ouvidoria: 0800 722 00 48 - btgpactual.com 9</a:t>
            </a:r>
          </a:p>
          <a:p>
            <a:r>
              <a:t>CNPJ 60010416000112 · Elegibilidade · Condição: Documentos atuais selecionados no inventário por categoria/escopo; a data documental isolada não comprova vigência jurídica.</a:t>
            </a:r>
          </a:p>
          <a:p>
            <a:r>
              <a:t>CNPJ 60010416000112 · Elegibilidade · Versão e prevalência: Documentos atuais selecionados no inventário por categoria/escopo; a data documental isolada não comprova vigência jurídica.</a:t>
            </a:r>
          </a:p>
          <a:p>
            <a:r>
              <a:t>CNPJ 60010416000112 · Elegibilidade · Resumo do histórico: {"count": 2, "dates": ["2025-03-20", "2025-10-09"], "document_count": 2, "sources": [{"document_id": "1051393", "title": "Regulamento", "reference_date": "2025-10-09", "version": "1", "page": "9-10", "clause": "4.4(ii)", "url": "https://fnet.bmfbovespa.com.br/fnet/publico/visualizarDocumento?id=1051393", "sha256": "8469d613078ffd5a6c1d217885d8a397a16342c0b937ae4aa24b106505f233ae"}, {"document_id": "993786", "title": "Regulamento", "reference_date": "2025-03-20", "version": "1", "page": 10, "clause": "4.4.5", "url": "https://fnet.bmfbovespa.com.br/fnet/publico/visualizarDocumento?id=993786", "sha256": "fd0fdd369a195510d81f81f505195a0b09e5f43522a990afa7d58c4f872921c8"}], "reference": {"path": "history/60010416000112.json", "criterion_id": "eligibility", "total_count": 2, "preview_count": 2, "full_text_deferred": true, "sha256": "8e2bd813f4c51cf01f6bfaad164bafe69d2bbb192f753eac92da3a01c2e63046"}}</a:t>
            </a:r>
          </a:p>
          <a:p>
            <a:r>
              <a:t>CNPJ 62696791000193 · Elegibilidade · Regulamento · ID 1143317 · 20/03/2026 · versão Regulamento — referência 20/03/2026 · p. 11 · Anexo I, 4.7–4.7.3 · https://fnet.bmfbovespa.com.br/fnet/publico/visualizarDocumento?id=1143317</a:t>
            </a:r>
          </a:p>
          <a:p>
            <a:r>
              <a:t>CNPJ 62696791000193 · Elegibilidade · Excerto da fonte:</a:t>
            </a:r>
          </a:p>
          <a:p>
            <a:r>
              <a:t>4.7 A Classe somente poderá adquirir os Direitos Creditórios do Agronegócio que atendam cumulativamente aos seguintes critérios de elegibilidade, a serem verificados e validados pelo Gestor, por amostragem, previamente à cessão e na respectiva data de aquisição dos Direitos Creditórios do Agronegócio (“Data de Aquisição”), de modo que apenas são passíveis de aquisição pela Classe os Direitos Creditórios do Agronegócio que, na Data de Aquisição (“Critérios de Elegibilidade”): (i) sejam representados em moeda corrente nacional; (ii) a natureza ou característica essencial dos Direitos Creditórios do Agronegócio deverá permitir o seu registro contábil e a sua custódia pelo Custodiante, de acordo com os procedimentos operacionais e contábeis praticados pelo Custodiante, ou seu registro em entidade registradora; (iii) sejam ativos de origem vinculada às cadeias produtivas do agronegócio ; e (iv) sejam representados por direitos e/ou títulos representativos de crédito, com ou sem garantias reais ou pessoais a eles atreladas, incluindo, sem limitação, duplicatas, debêntures, contratos de locação e contratos mercantis de compra e venda de produtos</a:t>
            </a:r>
          </a:p>
          <a:p>
            <a:r>
              <a:t>CNPJ 62696791000193 · Elegibilidade · Versão e prevalência: Leitura específica das cláusulas indicadas; condições e conflitos preservados. Seleção documental atual não comprova vigência jurídica por data isolada.</a:t>
            </a:r>
          </a:p>
          <a:p>
            <a:r>
              <a:t>CNPJ 55563624000109 · Elegibilidade · Regulamento · ID 1192614 · 30/04/2026 · versão Regulamento30/04/2026 · p. 12 · AnexoI4.6–4.8.2 · https://fnet.bmfbovespa.com.br/fnet/publico/visualizarDocumento?id=1192614</a:t>
            </a:r>
          </a:p>
          <a:p>
            <a:r>
              <a:t>CNPJ 55563624000109 · Elegibilidade · Excerto da fonte:</a:t>
            </a:r>
          </a:p>
          <a:p>
            <a:r>
              <a:t>4.6 As Cotas da Classe Investida deverão contar com Documentos Comprobatórios que evidenciem sua existência, validade e exequibilidade. 4.7 As Cotas da Classe Investida serão adquiridas pela Classe por meio: (i) de contratos de aquisição de Cotas da Classe Investida firmados entre a Classe e os respectivos vendedores das Cotas da Classe Investida; (ii) negociação em mercado organizado; e/ou (iii) da subscrição de Cotas da Classe Investida, colocadas de forma privada ou ofertadas publicamente, independentemente do regime de distribuição, observada a Política</a:t>
            </a:r>
          </a:p>
          <a:p>
            <a:r>
              <a:t>CNPJ 55563624000109 · Elegibilidade · Versão e prevalência: Leitura específica das cláusulas indicadas; condições e conflitos preservados. Seleção documental atual não comprova vigência jurídica por data isolada.</a:t>
            </a:r>
          </a:p>
          <a:p>
            <a:r>
              <a:t>CNPJ 55563624000109 · Elegibilidade · Resumo do histórico: {"count": 3, "dates": ["2025-01-31", "2026-01-31", "2026-04-30"], "document_count": 3, "sources": [{"document_id": "1192614", "title": "Regulamento", "reference_date": "2026-04-30", "version": "1", "page": "12", "url": "https://fnet.bmfbovespa.com.br/fnet/publico/visualizarDocumento?id=1192614", "sha256": "f56e63ace0acde41d2f47fb48f1ac7f3f7df5e2d32de092d7c5e075a52516632"}, {"document_id": "1178840", "title": "Demonstrações Financeiras", "reference_date": "2026-01-31", "version": "1", "page": 16, "url": "https://fnet.bmfbovespa.com.br/fnet/publico/visualizarDocumento?id=1178840", "sha256": "c458e98664c5c907ddb5a05a94b120bed4e05295b2bfc420f5ba69af0a229abe"}, {"document_id": "891861", "title": "Demonstrações Financeiras", "reference_date": "2025-01-31", "version": "1", "page": 16, "url": "https://fnet.bmfbovespa.com.br/fnet/publico/visualizarDocumento?id=891861", "sha256": "e9cb9e6ddbe505fe068cfcac33605165a98313489de0d3ce6d4d238263c3f3e7"}], "reference": {"path": "history/55563624000109.json", "criterion_id": "eligibility", "total_count": 3, "preview_count": 3, "full_text_deferred": true, "sha256": "7835d573fb58a3c19adf5b8ecc2aee2bdbb9a88f7a0c0209b5f262b64c7522e3"}}</a:t>
            </a:r>
          </a:p>
          <a:p>
            <a:r>
              <a:t>CNPJ 62552447000120 · Elegibilidade · Regulamento · ID 1200623 · 21/05/2026 · versão Consolidado21/05/2026 aprovado pelo ato1200625 · p. 6 · AnexoI1.2 Critérios(i)(a)–(b) · https://fnet.bmfbovespa.com.br/fnet/publico/visualizarDocumento?id=1200623</a:t>
            </a:r>
          </a:p>
          <a:p>
            <a:r>
              <a:t>CNPJ 62552447000120 · Elegibilidade · Excerto da fonte:</a:t>
            </a:r>
          </a:p>
          <a:p>
            <a:r>
              <a:t>Critérios de Elegibilidade”): (i) com relação a todos os Direitos Creditórios : (a) sejam representados em moeda corrente nacional; Critérios de Elegibilidade (b) a natureza ou característica essencial dos Direitos Creditórios deverá permitir o seu registro contábil e a sua custódia pelo Custodiante, de acordo com os procedimentos operacionais e contábeis praticados</a:t>
            </a:r>
          </a:p>
          <a:p>
            <a:r>
              <a:t>CNPJ 62552447000120 · Elegibilidade · Regulamento · ID 1200623 · 21/05/2026 · versão Consolidado21/05/2026 aprovado pelo ato1200625 · p. 7 · AnexoI1.2 Critérios(i)(c)–(v) · https://fnet.bmfbovespa.com.br/fnet/publico/visualizarDocumento?id=1200623</a:t>
            </a:r>
          </a:p>
          <a:p>
            <a:r>
              <a:t>CNPJ 62552447000120 · Elegibilidade · Excerto da fonte:</a:t>
            </a:r>
          </a:p>
          <a:p>
            <a:r>
              <a:t>(v) com relação aos Direitos Creditórios TVM: (a) representem, a qualquer momento, no máximo 10% (dez por cento) do Patrimônio Líquido. Sem prejuízo dos Critérios de Elegibilidade, a Classe somente poderá adquirir os Direitos Creditórios Ref inanciamento Livre, os Direitos Creditórios Consignado Privado e os Direitos Creditórios FGTS com relação aos quais tenha se verif icado as seguintes Condições de Endosso, na forma prevista na Cláusula 4.7 (“Co</a:t>
            </a:r>
          </a:p>
          <a:p>
            <a:r>
              <a:t>CNPJ 62552447000120 · Elegibilidade · Regulamento · ID 1200623 · 21/05/2026 · versão Consolidado21/05/2026 aprovado pelo ato1200625 · p. 12 · AnexoI4.6 · https://fnet.bmfbovespa.com.br/fnet/publico/visualizarDocumento?id=1200623</a:t>
            </a:r>
          </a:p>
          <a:p>
            <a:r>
              <a:t>CNPJ 62552447000120 · Elegibilidade · Excerto da fonte:</a:t>
            </a:r>
          </a:p>
          <a:p>
            <a:r>
              <a:t>4.6 A Classe somente poderá adquirir os Direitos Creditórios que, na data da sua aquisição (“Data de Aquisição”), atendam a todos os Critérios de Elegibilidade, a serem verif icados e validados pelo Gestor, de f orma individualizada e integral, e não por amostragem. 4.6.1 Para f ins da verificação dos Critérios de Elegibilidade, será considerado o Patrimônio Líquido e o valor dos Direitos Creditórios integrantes da Carteira no Dia Útil imediatamente anterior à Data de Aquisição. 4.6.2 Todos os Documentos Comprobatórios e, com relação a cada Direito Creditório, conforme apli</a:t>
            </a:r>
          </a:p>
          <a:p>
            <a:r>
              <a:t>CNPJ 62552447000120 · Elegibilidade · Versão e prevalência: Leitura específica das cláusulas indicadas; condições e conflitos preservados. Seleção documental atual não comprova vigência jurídica por data isolada.</a:t>
            </a:r>
          </a:p>
          <a:p>
            <a:r>
              <a:t>CNPJ 63953620000165 · Elegibilidade · Anexo ao Regulamento · ID 1222863 · 02/06/2026 · versão AnexoConsignadoPrivado02/06/2026 · p. 6 · 4.10–4.10.3 · https://fnet.bmfbovespa.com.br/fnet/publico/visualizarDocumento?id=1222863</a:t>
            </a:r>
          </a:p>
          <a:p>
            <a:r>
              <a:t>CNPJ 63953620000165 · Elegibilidade · Excerto da fonte:</a:t>
            </a:r>
          </a:p>
          <a:p>
            <a:r>
              <a:t>4.10 A Classe somente poderá adquirir os Direitos Creditórios que atendam cumulativamente aos Critérios de Elegibilidade, a serem verificados e validados pelo Gestor, de forma individualizada e integral, previamente à cessão e na respectiva data de aquisição dos Direitos Creditórios (“Data de Aquisição”), de modo que apenas são passíveis de aquisição pela Classe os Direitos Creditórios que, na Data de Aquisição, atendam a todos os Critérios de Elegibilidade. 4.10.1 Para fins da verificação dos Critérios de Elegibilidade, será considerado o Patrimônio Líquido e o valor dos Direitos Creditórios integrantes</a:t>
            </a:r>
          </a:p>
          <a:p>
            <a:r>
              <a:t>CNPJ 63953620000165 · Elegibilidade · Versão e prevalência: Leitura específica das cláusulas indicadas; condições e conflitos preservados. Seleção documental atual não comprova vigência jurídica por data isolada.</a:t>
            </a:r>
          </a:p>
          <a:p>
            <a:r>
              <a:t>CNPJ 63953620000165 · Elegibilidade · Resumo do histórico: {"count": 8, "dates": ["2026-04-28", "2026-05-08", "2026-05-15"], "document_count": 3, "sources": [{"document_id": "1327859", "title": "Demonstrações Financeiras - Fusão, cisão e incorporação", "reference_date": "2026-05-15", "version": "1", "page": 24, "url": "https://fnet.bmfbovespa.com.br/fnet/publico/visualizarDocumento?id=1327859", "sha256": "dca1c68babb97f887528c3e2e47596a9c30f507b067981a35655b2f2da9c8054"}, {"document_id": "1298691", "title": "Demonstrações Financeiras - Fusão, cisão e incorporação", "reference_date": "2026-05-08", "version": "1", "page": 24, "url": "https://fnet.bmfbovespa.com.br/fnet/publico/visualizarDocumento?id=1298691", "sha256": "58c570d9b8d4d265330d3db3ea81c435b8e44a6dab4002aa37790652a1ee9819"}, {"document_id": "1282180", "title": "Demonstrações Financeiras - Fusão, cisão e incorporação", "reference_date": "2026-04-28", "version": "1", "page": 25, "url": "https://fnet.bmfbovespa.com.br/fnet/publico/visualizarDocumento?id=1282180", "sha256": "afaaa0e6809be4385e5bdb6c911aac582032c5bdbac3d7750234bf9eaf00438a"}], "reference": {"path": "history/63953620000165.json", "criterion_id": "eligibility", "total_count": 8, "preview_count": 3, "full_text_deferred": true, "sha256": "a7b89077f5e21098c2d601c303faabc3ff6b9729f89d8afecdc60fe1404720c1"}}</a:t>
            </a:r>
          </a:p>
          <a:p>
            <a:r>
              <a:t>CNPJ 54871427000194 · Limites por contrato e devedor · Regulamento · ID 670691 · 28/04/2024 · versão Regulamento — referência 28/04/2024 · p. 10 · Anexo I, 4.7, parágrafo anterior ao inciso (xi) e inciso (xi) · https://fnet.bmfbovespa.com.br/fnet/publico/visualizarDocumento?id=670691</a:t>
            </a:r>
          </a:p>
          <a:p>
            <a:r>
              <a:t>CNPJ 54871427000194 · Limites por contrato e devedor · Excerto da fonte:</a:t>
            </a:r>
          </a:p>
          <a:p>
            <a:r>
              <a:t>CCB cuja amortização ordinária dos valores devidos, nos últimos 60 (sessenta) dias, tenha ocorrido de f orma integral e ordinária. Na primeira tranche de aquisição de Direitos Creditórios pelo Endossatário tal prazo poderá ser reduzido para 30 (trinta) dias nos casos de amortização extraordinária (via boleto) desde que o valor de aquisição dos ref eridos Direitos Creditórios não ultrapasse R$ 30.000,00 (trinta mil reais), exclusivamente via consignação em f olha de pagamento ou de benef ício; e (xi) Endosso de todas as CCBs de um mesmo Devedor que não ultrapasse 20% (vinte por cento) do patrimônio líquido da Classe. 4.7.1 Os Documentos Comprobatórios deverão ser disponibilizados pelo respectivo Endossante (a) no prazo de 10 (dez) dias contados da Data de Aquisição dos 50 (cinquenta) casos que sejam solicitados pelo GESTOR, a seu exclusivo critério, (b) a totalidade dos demais Documentos Comprobatórios em f ormato digital em até 90 (noventa) dias a contar da Data de Aquisição, bem como dos Documentos Comprobatórios em formato físico relativos aos Direitos Creditórios que eventualmente estejam inadimplidos em ref erida da</a:t>
            </a:r>
          </a:p>
          <a:p>
            <a:r>
              <a:t>CNPJ 54871427000194 · Limites por contrato e devedor · Condição: R$ 30 mil é teto da exceção de aquisição da primeira tranche; não é teto geral de cada CCB.</a:t>
            </a:r>
          </a:p>
          <a:p>
            <a:r>
              <a:t>CNPJ 54871427000194 · Limites por contrato e devedor · Motivo: Não localizada uma cláusula material para este critério nos textos identificados e processados. A ausência de resultado não comprova inexistência da regra.</a:t>
            </a:r>
          </a:p>
          <a:p>
            <a:r>
              <a:t>CNPJ 54871427000194 · Limites por contrato e devedor · Versão e prevalência: Leitura específica das cláusulas indicadas; condições e conflitos preservados. Seleção documental atual não comprova vigência jurídica por data isolada.</a:t>
            </a:r>
          </a:p>
          <a:p>
            <a:r>
              <a:t>CNPJ 60010416000112 · Limites por contrato e devedor · Regulamento · ID 1051393 · 09/10/2025 · versão Regulamento09/10/2025 · p. 10 · AnexoI4.4(ii), (iv),4.4.1 · https://fnet.bmfbovespa.com.br/fnet/publico/visualizarDocumento?id=1051393</a:t>
            </a:r>
          </a:p>
          <a:p>
            <a:r>
              <a:t>CNPJ 60010416000112 · Limites por contrato e devedor · Excerto da fonte:</a:t>
            </a:r>
          </a:p>
          <a:p>
            <a:r>
              <a:t>R$ 100.000,00 (cem mil reais), observado o disposto no item 4.4.1 abaixo; (iii) o prazo de vencimento das CCB representativas dos Direitos Creditórios deverá ser, no máximo, equivalente ao prazo máximo permitido pelas leis e regulamentações aplicáveis; e (iv) os Direitos Creditórios não poderão ser devidos por Devedores que tenham acima de 64 (sessenta e quatro) anos 11 (onze) meses e 29 (vinte e nove) dias na data de emissão da respectiva CCB. 4.4.1. O limite máximo de exposição da Classe por Devedor estabeleci</a:t>
            </a:r>
          </a:p>
          <a:p>
            <a:r>
              <a:t>CNPJ 60010416000112 · Limites por contrato e devedor · Condição: Prevalência da cláusula específica 4.4.1; limite privado do Contrato não foi presumido.</a:t>
            </a:r>
          </a:p>
          <a:p>
            <a:r>
              <a:t>CNPJ 60010416000112 · Limites por contrato e devedor · Motivo: Não localizada uma cláusula material para este critério nos textos identificados e processados. A ausência de resultado não comprova inexistência da regra.</a:t>
            </a:r>
          </a:p>
          <a:p>
            <a:r>
              <a:t>CNPJ 60010416000112 · Limites por contrato e devedor · Versão e prevalência: Leitura específica das cláusulas indicadas; condições e conflitos preservados. Seleção documental atual não comprova vigência jurídica por data isolada.</a:t>
            </a:r>
          </a:p>
          <a:p>
            <a:r>
              <a:t>CNPJ 62696791000193 · Limites por contrato e devedor · Motivo: Não localizada uma cláusula material para este critério nos textos identificados e processados. A ausência de resultado não comprova inexistência da regra.</a:t>
            </a:r>
          </a:p>
          <a:p>
            <a:r>
              <a:t>CNPJ 55563624000109 · Limites por contrato e devedor · Motivo: Não localizada uma cláusula material para este critério nos textos identificados e processados. A ausência de resultado não comprova inexistência da regra.</a:t>
            </a:r>
          </a:p>
          <a:p>
            <a:r>
              <a:t>CNPJ 62552447000120 · Limites por contrato e devedor · Motivo: Não localizada uma cláusula material para este critério nos textos identificados e processados. A ausência de resultado não comprova inexistência da regra.</a:t>
            </a:r>
          </a:p>
          <a:p>
            <a:r>
              <a:t>CNPJ 63953620000165 · Limites por contrato e devedor · Motivo: Não localizada uma cláusula material para este critério nos textos identificados e processados. A ausência de resultado não comprova inexistência da regra.</a:t>
            </a:r>
          </a:p>
          <a:p>
            <a:r>
              <a:t>CNPJ 54871427000194 · Prazo dos créditos e carência · Motivo: Não localizada uma cláusula material para este critério nos textos identificados e processados. A ausência de resultado não comprova inexistência da regra.</a:t>
            </a:r>
          </a:p>
          <a:p>
            <a:r>
              <a:t>CNPJ 60010416000112 · Prazo dos créditos e carência · Regulamento · ID 1051393 · 2025-10-09 · versão 1 · p. 11 · 4.5 · https://fnet.bmfbovespa.com.br/fnet/publico/visualizarDocumento?id=1051393</a:t>
            </a:r>
          </a:p>
          <a:p>
            <a:r>
              <a:t>CNPJ 60010416000112 · Prazo dos créditos e carência · Excerto da fonte:</a:t>
            </a:r>
          </a:p>
          <a:p>
            <a:r>
              <a:t>4.5 A parcela do Patrimônio Líquido que não estiver alocada em Direitos Creditórios será necessariamente  alocada no seguintes ativos (“Ativos Financeiros de Liquidez”).</a:t>
            </a:r>
          </a:p>
          <a:p>
            <a:r>
              <a:t> (i) moeda corrente nacional;</a:t>
            </a:r>
          </a:p>
          <a:p>
            <a:r>
              <a:t> (ii) títulos do Tesouro SELIC, anteriormente denominado letra f inanceira do Tesouro Nacional  (LFT);</a:t>
            </a:r>
          </a:p>
          <a:p>
            <a:r>
              <a:t> (iii) certif icados de depósito bancário (CDB) ou recibos de depósito bancário (RDB) com prazo  máximo de vencimento equivalente ao prazo remanescente do Período de Investimento, com  liquidez diária, emitidos por Instituições Autorizadas e/ou pelo Endossante, sendo certo que  os certif icados de depósito bancário (CDB) e recibos de depósito bancário (RDB) emitidos  pelo Endossante e integrantes da carteira da Classe não poderão exceder o valor de R$</a:t>
            </a:r>
          </a:p>
          <a:p>
            <a:r>
              <a:t> 25.000.000,00 (vinte e cinco milhões de reais);</a:t>
            </a:r>
          </a:p>
          <a:p>
            <a:r>
              <a:t> (iv) operações compromissadas, desde que lastreadas nos títulos mencionados nas alíneas (i) a</a:t>
            </a:r>
          </a:p>
          <a:p>
            <a:r>
              <a:t> (iii) acima, emitidas por Instituições Autorizadas, com liquidez diária e vencimento inferior a  365 (trezentos e sessenta e cinco) dias; e</a:t>
            </a:r>
          </a:p>
          <a:p>
            <a:r>
              <a:t> (v) cotas de classes de f undos de investimentos de renda f ixa ou indexados à Taxa DI com  liquidez diária, cujas políticas de investimento admitam a alocação de recursos  exclusivamente nos ativos das alíneas (ii) e (iii) acima, incluindo f undos geridos e/ou  administrados pelo Administrador, pelo Custodiante e/ou pelo Gestor.</a:t>
            </a:r>
          </a:p>
          <a:p>
            <a:r>
              <a:t>Limites de Concentração e Vedações para a Composição da Carteira</a:t>
            </a:r>
          </a:p>
          <a:p>
            <a:r>
              <a:t>CNPJ 60010416000112 · Prazo dos créditos e carência · Regulamento · ID 1051393 · 2025-10-09 · versão 1 · p. 10 · https://fnet.bmfbovespa.com.br/fnet/publico/visualizarDocumento?id=1051393</a:t>
            </a:r>
          </a:p>
          <a:p>
            <a:r>
              <a:t>CNPJ 60010416000112 · Prazo dos créditos e carência · Excerto da fonte:</a:t>
            </a:r>
          </a:p>
          <a:p>
            <a:r>
              <a:t>Anexo I ao Regulamento CLASSE ÚNICA DO MT I CONSIGNADO PRIVADO I FUNDO DE INVESTIMENTO EM DIREITOS CREDITÓRIOS RESPONSABILIDADE LIMITADA</a:t>
            </a:r>
          </a:p>
          <a:p>
            <a:r>
              <a:t> (ii) o saldo dos Direitos Creditórios devidos pelo mesmo Devedor à Classe, considerando, pro  forma, o endosso pretendido, não deverá exceder R$ 100.000,00 (cem mil reais), observado  o disposto no item 4.4.1 abaixo;</a:t>
            </a:r>
          </a:p>
          <a:p>
            <a:r>
              <a:t> (iii) o prazo de vencimento das CCB representativas dos Direitos Creditórios deverá ser, no  máximo, equivalente ao prazo máximo permitido pelas leis e regulamentações aplicáveis; e</a:t>
            </a:r>
          </a:p>
          <a:p>
            <a:r>
              <a:t> (iv) os Direitos Creditórios não poderão ser devidos por Devedores que tenham acima de 64  (sessenta e quatro) anos 11 (onze) meses e 29 (vinte e nove) dias na data de emissão da  respectiva CCB.</a:t>
            </a:r>
          </a:p>
          <a:p>
            <a:r>
              <a:t>CNPJ 60010416000112 · Prazo dos créditos e carência · Condição: Documentos atuais selecionados no inventário por categoria/escopo; a data documental isolada não comprova vigência jurídica.</a:t>
            </a:r>
          </a:p>
          <a:p>
            <a:r>
              <a:t>CNPJ 60010416000112 · Prazo dos créditos e carência · Versão e prevalência: Documentos atuais selecionados no inventário por categoria/escopo; a data documental isolada não comprova vigência jurídica.</a:t>
            </a:r>
          </a:p>
          <a:p>
            <a:r>
              <a:t>CNPJ 60010416000112 · Prazo dos créditos e carência · Resumo do histórico: {"count": 1, "dates": ["2025-03-20"], "document_count": 1, "sources": [{"document_id": "993786", "title": "Regulamento", "reference_date": "2025-03-20", "version": "1", "page": 11, "clause": "4.5", "url": "https://fnet.bmfbovespa.com.br/fnet/publico/visualizarDocumento?id=993786", "sha256": "fd0fdd369a195510d81f81f505195a0b09e5f43522a990afa7d58c4f872921c8"}], "reference": {"path": "history/60010416000112.json", "criterion_id": "term", "total_count": 1, "preview_count": 1, "full_text_deferred": true, "sha256": "8e2bd813f4c51cf01f6bfaad164bafe69d2bbb192f753eac92da3a01c2e63046"}}</a:t>
            </a:r>
          </a:p>
          <a:p>
            <a:r>
              <a:t>CNPJ 62696791000193 · Prazo dos créditos e carência · Motivo: Não localizada uma cláusula material para este critério nos textos identificados e processados. A ausência de resultado não comprova inexistência da regra.</a:t>
            </a:r>
          </a:p>
          <a:p>
            <a:r>
              <a:t>CNPJ 55563624000109 · Prazo dos créditos e carência · Motivo: Não localizada uma cláusula material para este critério nos textos identificados e processados. A ausência de resultado não comprova inexistência da regra.</a:t>
            </a:r>
          </a:p>
          <a:p>
            <a:r>
              <a:t>CNPJ 62552447000120 · Prazo dos créditos e carência · Motivo: Não localizada uma cláusula material para este critério nos textos identificados e processados. A ausência de resultado não comprova inexistência da regra.</a:t>
            </a:r>
          </a:p>
          <a:p>
            <a:r>
              <a:t>CNPJ 63953620000165 · Prazo dos créditos e carência · Anexo ao Regulamento · ID 1222863 · 2026-06-02 · versão 1 · p. 2 · https://fnet.bmfbovespa.com.br/fnet/publico/visualizarDocumento?id=1222863</a:t>
            </a:r>
          </a:p>
          <a:p>
            <a:r>
              <a:t>CNPJ 63953620000165 · Prazo dos créditos e carência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Prazo dos créditos e carência · Condição: Documentos atuais selecionados no inventário por categoria/escopo; a data documental isolada não comprova vigência jurídica.</a:t>
            </a:r>
          </a:p>
          <a:p>
            <a:r>
              <a:t>CNPJ 63953620000165 · Prazo dos créditos e carência · Versão e prevalência: Documentos atuais selecionados no inventário por categoria/escopo; a data documental isolada não comprova vigência jurídica.</a:t>
            </a:r>
          </a:p>
          <a:p>
            <a:r>
              <a:t>CNPJ 63953620000165 · Prazo dos créditos e carência · Resumo do histórico: {"count": 8, "dates": ["2026-04-28", "2026-05-08", "2026-05-15"], "document_count": 3, "sources": [{"document_id": "1327859", "title": "Demonstrações Financeiras - Fusão, cisão e incorporação", "reference_date": "2026-05-15", "version": "1", "page": 16, "url": "https://fnet.bmfbovespa.com.br/fnet/publico/visualizarDocumento?id=1327859", "sha256": "dca1c68babb97f887528c3e2e47596a9c30f507b067981a35655b2f2da9c8054"}, {"document_id": "1298691", "title": "Demonstrações Financeiras - Fusão, cisão e incorporação", "reference_date": "2026-05-08", "version": "1", "page": 16, "url": "https://fnet.bmfbovespa.com.br/fnet/publico/visualizarDocumento?id=1298691", "sha256": "58c570d9b8d4d265330d3db3ea81c435b8e44a6dab4002aa37790652a1ee9819"}, {"document_id": "1282180", "title": "Demonstrações Financeiras - Fusão, cisão e incorporação", "reference_date": "2026-04-28", "version": "1", "page": 16, "url": "https://fnet.bmfbovespa.com.br/fnet/publico/visualizarDocumento?id=1282180", "sha256": "afaaa0e6809be4385e5bdb6c911aac582032c5bdbac3d7750234bf9eaf00438a"}], "reference": {"path": "history/63953620000165.json", "criterion_id": "term", "total_count": 8, "preview_count": 3, "full_text_deferred": true, "sha256": "a7b89077f5e21098c2d601c303faabc3ff6b9729f89d8afecdc60fe1404720c1"}}</a:t>
            </a:r>
          </a:p>
          <a:p>
            <a:r>
              <a:t>CNPJ 54871427000194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null, "comparison_required": true, "context_formula": "", "context_value": null, "context_unit": ""}</a:t>
            </a:r>
          </a:p>
          <a:p>
            <a:r>
              <a:t>CNPJ 54871427000194 · Concentração por devedor, cedente e grupo · Regulamento · ID 670691 · 28/04/2024 · versão Regulamento — referência 28/04/2024 · p. 11 · Anexo I, 4.10 e 4.11.2–4.11.4 · https://fnet.bmfbovespa.com.br/fnet/publico/visualizarDocumento?id=670691</a:t>
            </a:r>
          </a:p>
          <a:p>
            <a:r>
              <a:t>CNPJ 54871427000194 · Concentração por devedor, cedente e grupo · Excerto da fonte:</a:t>
            </a:r>
          </a:p>
          <a:p>
            <a:r>
              <a:t>4.10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4.11 A Classe poderá, direta ou indiretamente e, nos termos da legislação aplicável: (i) adquirir Direitos Creditórios que sejam cedidos e/ou originados pelo ADMINISTRADOR e/ou pelo GESTOR, ou partes a eles relacionadas, tal como definidas pelas regras contábeis que tratam desse assunto; e (ii) ceder Direitos Creditórios a qualquer das pessoas, fundos de investimento ou entidades referidas no item (i) acima, desde que (i) o ADMINISTRADOR, GESTOR, a entidade registradora e o CUSTODIANTE de Direitos Creditórios não sejam partes relacionadas entre si; e (ii) a entidade registradora e o</a:t>
            </a:r>
          </a:p>
          <a:p>
            <a:r>
              <a:t>CNPJ 54871427000194 · Concentração por devedor, cedente e grupo · Regulamento · ID 670691 · 28/04/2024 · versão Regulamento — referência 28/04/2024 · p. 10 · Anexo I, 4.7(xi) · https://fnet.bmfbovespa.com.br/fnet/publico/visualizarDocumento?id=670691</a:t>
            </a:r>
          </a:p>
          <a:p>
            <a:r>
              <a:t>CNPJ 54871427000194 · Concentração por devedor, cedente e grupo · Excerto da fonte:</a:t>
            </a:r>
          </a:p>
          <a:p>
            <a:r>
              <a:t>(xi) Endosso de todas as CCBs de um mesmo Devedor que não ultrapasse 20% (vinte por cento) do patrimônio líquido da Classe. 4.7.1 Os Documentos Comprobatórios deverão ser disponibilizados pelo respectivo Endossante (a) no prazo de 10 (dez) dias contados da Data de Aquisição dos 50 (cinquenta) casos que sejam solicitados pelo GESTOR, a seu exclusivo critério, (b) a totalidade dos demais Documentos Comprobatórios em f ormato digital em até 90 (noventa) dias a contar da Data de Aquisição, bem como dos Documentos Comprobatórios em formato físico relativos aos Direitos Creditórios que eventualmente estejam inadimplidos em ref erida data, e (c) a totalidade dos demais Documentos Comprobatórios em f ormato f ísico em até 180 (cento e oitenta) dias a contar da Data de Aquisição, sujeito à resolução do respectivo endosso, de acordo com os termos do Contrato de Endosso. 4.7.2 Caso um Direito Creditório cedido à Classe deixe de atender quaisquer Critérios de Elegibilidade e/ou quaisquer declarações e garantias ref erentes a esse Direito Creditório, conf orme previsto no respectivo Contrato de Endosso, após seu endosso à</a:t>
            </a:r>
          </a:p>
          <a:p>
            <a:r>
              <a:t>CNPJ 54871427000194 · Concentração por devedor, cedente e grupo · Condição: Na aquisição, o critério específico de 20% restringe o permissivo geral de 100%. Uma concentração observada no IME exige base e devedor identificados.</a:t>
            </a:r>
          </a:p>
          <a:p>
            <a:r>
              <a:t>CNPJ 54871427000194 · Concentração por devedor, cedente e grupo · Versão e prevalência: Leitura específica das cláusulas indicadas; condições e conflitos preservados. Seleção documental atual não comprova vigência jurídica por data isolada.</a:t>
            </a:r>
          </a:p>
          <a:p>
            <a:r>
              <a:t>CNPJ 54871427000194 · Concentração por devedor, cedente e grupo · Resumo do histórico: {"count": 2, "dates": ["2024-04-19", "2024-04-28"], "document_count": 2, "sources": [{"document_id": "670691", "title": "Regulamento", "reference_date": "2024-04-28", "version": "1", "page": "10-11", "url": "https://fnet.bmfbovespa.com.br/fnet/publico/visualizarDocumento?id=670691", "sha256": "bf16dd7f1a62d5cdbf2e2d54fef81783783f7310fbc99c3a8f00459bdf9d037b"}, {"document_id": "670689", "title": "Regulamento", "reference_date": "2024-04-19", "version": "1", "page": 11, "clause": "4.10", "url": "https://fnet.bmfbovespa.com.br/fnet/publico/visualizarDocumento?id=670689", "sha256": "891bc9bc5d87bbc02ec139077a84d2702eb81ea02035fb71d24f5b8366b94a0b"}], "reference": {"path": "history/54871427000194.json", "criterion_id": "concentration", "total_count": 2, "preview_count": 2, "full_text_deferred": true, "sha256": "35d7cd99be50c7287c9fb675cf4f2e736002315295a225a9efa79c8d9186d874"}}</a:t>
            </a:r>
          </a:p>
          <a:p>
            <a:r>
              <a:t>CNPJ 60010416000112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null, "comparison_required": true, "context_formula": "", "context_value": null, "context_unit": ""}</a:t>
            </a:r>
          </a:p>
          <a:p>
            <a:r>
              <a:t>CNPJ 60010416000112 · Concentração por devedor, cedente e grupo · Regulamento · ID 1051393 · 09/10/2025 · versão Regulamento09/10/2025 · p. 11 · AnexoI4.4.9(iv),4.5(iii) · https://fnet.bmfbovespa.com.br/fnet/publico/visualizarDocumento?id=1051393</a:t>
            </a:r>
          </a:p>
          <a:p>
            <a:r>
              <a:t>CNPJ 60010416000112 · Concentração por devedor, cedente e grupo · Excerto da fonte:</a:t>
            </a:r>
          </a:p>
          <a:p>
            <a:r>
              <a:t>3,00% (três por cento) do Patrimônio Líquido da Classe. Ativos Financeiros de Liquidez 4.5 A parcela do Patrimônio Líquido que não estiver alocada em Direitos Creditórios será necessariamente alocada no seguintes ativos (“Ativos Financeiros de Liquidez”). (i) moeda corrente nacional; (ii) títulos do Tesouro SELIC, anteriormente denominado letra f inanceira do Tesouro Nacional (LFT); (iii) certif icados de depósito bancário (CDB) ou recibos de depósito bancário (RDB) com prazo máximo de vencimento equivalente ao prazo remanescente</a:t>
            </a:r>
          </a:p>
          <a:p>
            <a:r>
              <a:t>CNPJ 60010416000112 · Concentração por devedor, cedente e grupo · Regulamento · ID 1051393 · 09/10/2025 · versão Regulamento09/10/2025 · p. 12 · AnexoI4.7–4.8 · https://fnet.bmfbovespa.com.br/fnet/publico/visualizarDocumento?id=1051393</a:t>
            </a:r>
          </a:p>
          <a:p>
            <a:r>
              <a:t>CNPJ 60010416000112 · Concentração por devedor, cedente e grupo · Excerto da fonte:</a:t>
            </a:r>
          </a:p>
          <a:p>
            <a:r>
              <a:t>4.7 A Classe deverá observar, ainda, os limites de concentração definidos na Política de Crédito, que integra o Contrato de Endosso como Anexo 3.2(v). 4.8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a:t>
            </a:r>
          </a:p>
          <a:p>
            <a:r>
              <a:t>CNPJ 60010416000112 · Concentração por devedor, cedente e grupo · Versão e prevalência: Leitura específica das cláusulas indicadas; condições e conflitos preservados. Seleção documental atual não comprova vigência jurídica por data isolada.</a:t>
            </a:r>
          </a:p>
          <a:p>
            <a:r>
              <a:t>CNPJ 60010416000112 · Concentração por devedor, cedente e grupo · Resumo do histórico: {"count": 2, "dates": ["2025-03-20", "2025-10-09"], "document_count": 2, "sources": [{"document_id": "1051393", "title": "Regulamento", "reference_date": "2025-10-09", "version": "1", "page": "11-12", "url": "https://fnet.bmfbovespa.com.br/fnet/publico/visualizarDocumento?id=1051393", "sha256": "8469d613078ffd5a6c1d217885d8a397a16342c0b937ae4aa24b106505f233ae"}, {"document_id": "993786", "title": "Regulamento", "reference_date": "2025-03-20", "version": "1", "page": 12, "clause": "4.8", "url": "https://fnet.bmfbovespa.com.br/fnet/publico/visualizarDocumento?id=993786", "sha256": "fd0fdd369a195510d81f81f505195a0b09e5f43522a990afa7d58c4f872921c8"}], "reference": {"path": "history/60010416000112.json", "criterion_id": "concentration", "total_count": 2, "preview_count": 2, "full_text_deferred": true, "sha256": "8e2bd813f4c51cf01f6bfaad164bafe69d2bbb192f753eac92da3a01c2e63046"}}</a:t>
            </a:r>
          </a:p>
          <a:p>
            <a:r>
              <a:t>CNPJ 62696791000193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null, "comparison_required": true, "context_formula": "", "context_value": null, "context_unit": ""}</a:t>
            </a:r>
          </a:p>
          <a:p>
            <a:r>
              <a:t>CNPJ 62696791000193 · Concentração por devedor, cedente e grupo · Regulamento · ID 1143317 · 20/03/2026 · versão Regulamento — referência 20/03/2026 · p. 11 · Anexo I, 4.8–4.9 · https://fnet.bmfbovespa.com.br/fnet/publico/visualizarDocumento?id=1143317</a:t>
            </a:r>
          </a:p>
          <a:p>
            <a:r>
              <a:t>CNPJ 62696791000193 · Concentração por devedor, cedente e grupo · Excerto da fonte:</a:t>
            </a:r>
          </a:p>
          <a:p>
            <a:r>
              <a:t>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relacionadas ao Gestor. 4.8.1 As aplicações em Direitos Creditórios do Agronegócio decorrentes de receitas públicas originárias ou derivadas da União, dos Estados, do Distrito Federal e dos Municípios ou de suas autarquias e f undações, assim como em Direitos Creditórios do Agronegócio cedidos ou originados por empresas controladas pelo poder público, não estão submetidas ao limite de concentração por emissor previsto no caput. 4.9 Nos termos do Art. 45 do Anexo</a:t>
            </a:r>
          </a:p>
          <a:p>
            <a:r>
              <a:t>CNPJ 62696791000193 · Concentração por devedor, cedente e grupo · Regulamento · ID 1143317 · 20/03/2026 · versão Regulamento — referência 20/03/2026 · p. 12 · Anexo I, 4.10(i)–(ix) · https://fnet.bmfbovespa.com.br/fnet/publico/visualizarDocumento?id=1143317</a:t>
            </a:r>
          </a:p>
          <a:p>
            <a:r>
              <a:t>CNPJ 62696791000193 · Concentração por devedor, cedente e grupo · Excerto da fonte:</a:t>
            </a:r>
          </a:p>
          <a:p>
            <a:r>
              <a:t>4.10 Sem prejuízo de limites mais restritivos definidos neste Anexo, o Gestor deverá observar, ainda, os seguintes limites de concentração: (i) A Classe poderá, direta ou indiretamente, ter até 100% (cem por cento) do Patrimônio Líquido representado por Direitos Creditórios do Agronegócio originados ou cedidos pelo Administrador, Gestor e/ou suas partes relacionadas, tal como definidas pelas regras contábeis que tratam desse assunto, desde que (a) o Gest or, a entidade registradora e o Custodiante dos Direitos Creditórios do Agronegócio não sejam partes relacionadas entre si; e (b) a entidade registradora e o Custodiante dos Direitos Creditórios do Agronegócio não sejam partes relacionadas ao originador ou Cedente. (ii) No máximo, 100% (cem por cento) do Patrimônio Líquido investido em Ativos Financeiros de Liquidez de emissão ou que envolvam retenção de risco por parte do Administrador, Gestor, e/ou suas partes relacionadas, observado ainda o disposto no item Error! Reference source not found.;</a:t>
            </a:r>
          </a:p>
          <a:p>
            <a:r>
              <a:t>CNPJ 62696791000193 · Concentração por devedor, cedente e grupo · Condição: Liquidez/derivativos relacionados também têm permissivos de 100%, mas remissões internas aparecem como “Error! Reference source not found.”.</a:t>
            </a:r>
          </a:p>
          <a:p>
            <a:r>
              <a:t>CNPJ 62696791000193 · Concentração por devedor, cedente e grupo · Versão e prevalência: Leitura específica das cláusulas indicadas; condições e conflitos preservados. Seleção documental atual não comprova vigência jurídica por data isolada.</a:t>
            </a:r>
          </a:p>
          <a:p>
            <a:r>
              <a:t>CNPJ 55563624000109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null, "comparison_required": true, "context_formula": "", "context_value": null, "context_unit": ""}</a:t>
            </a:r>
          </a:p>
          <a:p>
            <a:r>
              <a:t>CNPJ 55563624000109 · Concentração por devedor, cedente e grupo · Regulamento · ID 1192614 · 30/04/2026 · versão Regulamento30/04/2026 · p. 13 · AnexoI4.11–4.12.1 · https://fnet.bmfbovespa.com.br/fnet/publico/visualizarDocumento?id=1192614</a:t>
            </a:r>
          </a:p>
          <a:p>
            <a:r>
              <a:t>CNPJ 55563624000109 · Concentração por devedor, cedente e grupo · Excerto da fonte:</a:t>
            </a:r>
          </a:p>
          <a:p>
            <a:r>
              <a:t>4.11 Nos termos dos artigos 45, parágrafo 7º, e 47 parágrafo único do Anexo Normativo II à Resolução CVM 175, uma vez que as Cotas são destinadas exclusivamente a Investidores Profissionais, a Classe poderá ter até 100% (cem por cento) de seu Patrimônio Líquido alocado em Cotas da Classe Investida, as quais são emitidas pela Classe Investida. 4.12 A Classe poderá, direta ou indiretamente (i) adquirir Cotas da Classe Investida que sejam administrados pelo ADMINISTRADOR, e geridos ou cogeridos pelo GESTOR, ou partes a eles relacionadas, tal como definidas pelas</a:t>
            </a:r>
          </a:p>
          <a:p>
            <a:r>
              <a:t>CNPJ 55563624000109 · Concentração por devedor, cedente e grupo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Concentração por devedor, cedente e grupo · Versão e prevalência: Leitura específica das cláusulas indicadas; condições e conflitos preservados. Seleção documental atual não comprova vigência jurídica por data isolada.</a:t>
            </a:r>
          </a:p>
          <a:p>
            <a:r>
              <a:t>CNPJ 55563624000109 · Concentração por devedor, cedente e grupo · Resumo do histórico: {"count": 1, "dates": ["2026-04-30"], "document_count": 1, "sources": [{"document_id": "1192614", "title": "Regulamento", "reference_date": "2026-04-30", "version": "1", "page": "11-12", "url": "https://fnet.bmfbovespa.com.br/fnet/publico/visualizarDocumento?id=1192614", "sha256": "f56e63ace0acde41d2f47fb48f1ac7f3f7df5e2d32de092d7c5e075a52516632"}], "reference": {"path": "history/55563624000109.json", "criterion_id": "concentration", "total_count": 1, "preview_count": 1, "full_text_deferred": true, "sha256": "7835d573fb58a3c19adf5b8ecc2aee2bdbb9a88f7a0c0209b5f262b64c7522e3"}}</a:t>
            </a:r>
          </a:p>
          <a:p>
            <a:r>
              <a:t>CNPJ 62552447000120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null, "comparison_required": true, "context_formula": "", "context_value": null, "context_unit": ""}</a:t>
            </a:r>
          </a:p>
          <a:p>
            <a:r>
              <a:t>CNPJ 62552447000120 · Concentração por devedor, cedente e grupo · Regulamento · ID 1200623 · 21/05/2026 · versão Consolidado21/05/2026 aprovado pelo ato1200625 · p. 14 · AnexoI4.10–4.13 · https://fnet.bmfbovespa.com.br/fnet/publico/visualizarDocumento?id=1200623</a:t>
            </a:r>
          </a:p>
          <a:p>
            <a:r>
              <a:t>CNPJ 62552447000120 · Concentração por devedor, cedente e grupo · Excerto da fonte:</a:t>
            </a:r>
          </a:p>
          <a:p>
            <a:r>
              <a:t>4.10 Nos termos do art. 45, §7º, inciso II, do Anexo Normativo II, a Classe poderá ter até 100% (cem por cento) de seu Patrimônio Líquido alocado em Direitos Creditórios, derivativos, observado o disposto abaixo,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4.10.1 O uso de derivativos está restr</a:t>
            </a:r>
          </a:p>
          <a:p>
            <a:r>
              <a:t>CNPJ 62552447000120 · Concentração por devedor, cedente e grupo · Condição: Regulamento permite concentração ampla; TVM têm limite específico 10% PL na elegibilidade.</a:t>
            </a:r>
          </a:p>
          <a:p>
            <a:r>
              <a:t>CNPJ 62552447000120 · Concentração por devedor, cedente e grupo · Versão e prevalência: Leitura específica das cláusulas indicadas; condições e conflitos preservados. Seleção documental atual não comprova vigência jurídica por data isolada.</a:t>
            </a:r>
          </a:p>
          <a:p>
            <a:r>
              <a:t>CNPJ 63953620000165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null, "comparison_required": true, "context_formula": "", "context_value": null, "context_unit": ""}</a:t>
            </a:r>
          </a:p>
          <a:p>
            <a:r>
              <a:t>CNPJ 63953620000165 · Concentração por devedor, cedente e grupo · Anexo ao Regulamento · ID 1222863 · 02/06/2026 · versão AnexoConsignadoPrivado02/06/2026 · p. 6 · 4.14 · https://fnet.bmfbovespa.com.br/fnet/publico/visualizarDocumento?id=1222863</a:t>
            </a:r>
          </a:p>
          <a:p>
            <a:r>
              <a:t>CNPJ 63953620000165 · Concentração por devedor, cedente e grupo · Excerto da fonte:</a:t>
            </a:r>
          </a:p>
          <a:p>
            <a:r>
              <a:t>4.14 Nos termos do Art. 45, §7º, inciso II, do Anexo Normativo II da Resolução CVM 175, a Classe poderá ter até 100% (cem por cento) de seu Patrimônio Líquido alocado em Direitos Creditórios, derivativos, observado o disposto neste Anexo I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4.15 Sem prejuízo de limites</a:t>
            </a:r>
          </a:p>
          <a:p>
            <a:r>
              <a:t>CNPJ 63953620000165 · Concentração por devedor, cedente e grupo · Anexo ao Regulamento · ID 1222863 · 02/06/2026 · versão AnexoConsignadoPrivado02/06/2026 · p. 7 · 4.15(i)–(v) · https://fnet.bmfbovespa.com.br/fnet/publico/visualizarDocumento?id=1222863</a:t>
            </a:r>
          </a:p>
          <a:p>
            <a:r>
              <a:t>CNPJ 63953620000165 · Concentração por devedor, cedente e grupo · Excerto da fonte:</a:t>
            </a:r>
          </a:p>
          <a:p>
            <a:r>
              <a:t>(i)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CNPJ 63953620000165 · Concentração por devedor, cedente e grupo · Versão e prevalência: Leitura específica das cláusulas indicadas; condições e conflitos preservados. Seleção documental atual não comprova vigência jurídica por data isolada.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Recebíveis e aquisição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Natureza dos recebíveis · Regulamento · ID 670691 · 28/04/2024 · versão Regulamento — referência 28/04/2024 · p. 9 · Anexo I, 4.2–4.2.1 · https://fnet.bmfbovespa.com.br/fnet/publico/visualizarDocumento?id=670691</a:t>
            </a:r>
          </a:p>
          <a:p>
            <a:r>
              <a:t>CNPJ 54871427000194 · Natureza dos recebíveis · Excerto da fonte:</a:t>
            </a:r>
          </a:p>
          <a:p>
            <a:r>
              <a:t>4.2 Os Direitos Creditórios representados por Certif icados de Cédulas de Crédito Bancário (“CCCBs”), representativos de um agrupamento de determinadas CCBs, originadas no âmbito de operações de empréstimos pessoais concedidos por um Endossante a um Devedor, devidamente f ormalizadas por via eletrônica de acordo com a legislação aplicável, segundo os critérios de composição e diversificação estabelecidos pela regulamentação aplicável e neste Regulamento. 4.2.1 Cada Endossante deve ter celebrado convênio com órgão consignante, previamente à cessão de Direitos Creditórios à Classe, que contemplam a obrigação da manutenção da consignação/averbação junto ao novo órgão, de modo a possibilitar o pagamento dos Direitos Creditórios por meio de consignação em f olha de pagamento ou de benef ício . 4.3 Os pagamentos relativos aos Direitos Creditórios de titularidade da Classe serão realizados mediante consignação em folha, débito em conta de titularidade dos Devedores e pagamentos de sinistros, para pagamento dos valores correspondentes às parcelas das CCBs representadas pelos CCCBs de titularidade da Classe, os quais serão conciliados e repassados pelo Endossan</a:t>
            </a:r>
          </a:p>
          <a:p>
            <a:r>
              <a:t>CNPJ 54871427000194 · Natureza dos recebíveis · Versão e prevalência: Leitura específica das cláusulas indicadas; condições e conflitos preservados. Seleção documental atual não comprova vigência jurídica por data isolada.</a:t>
            </a:r>
          </a:p>
          <a:p>
            <a:r>
              <a:t>CNPJ 54871427000194 · Natureza dos recebíveis · Resumo do histórico: {"count": 3, "dates": ["2024-04-19", "2024-04-28"], "document_count": 2, "sources": [{"document_id": "670691", "title": "Regulamento", "reference_date": "2024-04-28", "version": "1", "page": "9, 38-39", "url": "https://fnet.bmfbovespa.com.br/fnet/publico/visualizarDocumento?id=670691", "sha256": "bf16dd7f1a62d5cdbf2e2d54fef81783783f7310fbc99c3a8f00459bdf9d037b"}, {"document_id": "670691", "title": "Regulamento", "reference_date": "2024-04-28", "version": "1", "page": 34, "clause": "15.1.5", "url": "https://fnet.bmfbovespa.com.br/fnet/publico/visualizarDocumento?id=670691", "sha256": "bf16dd7f1a62d5cdbf2e2d54fef81783783f7310fbc99c3a8f00459bdf9d037b"}, {"document_id": "670689", "title": "Regulamento", "reference_date": "2024-04-19", "version": "1", "page": 35, "clause": "15.1.5", "url": "https://fnet.bmfbovespa.com.br/fnet/publico/visualizarDocumento?id=670689", "sha256": "891bc9bc5d87bbc02ec139077a84d2702eb81ea02035fb71d24f5b8366b94a0b"}], "reference": {"path": "history/54871427000194.json", "criterion_id": "receivables", "total_count": 3, "preview_count": 3, "full_text_deferred": true, "sha256": "35d7cd99be50c7287c9fb675cf4f2e736002315295a225a9efa79c8d9186d874"}}</a:t>
            </a:r>
          </a:p>
          <a:p>
            <a:r>
              <a:t>CNPJ 60010416000112 · Natureza dos recebíveis · Regulamento · ID 1051393 · 09/10/2025 · versão Regulamento09/10/2025 · p. 9 · AnexoI4.2 · https://fnet.bmfbovespa.com.br/fnet/publico/visualizarDocumento?id=1051393</a:t>
            </a:r>
          </a:p>
          <a:p>
            <a:r>
              <a:t>CNPJ 60010416000112 · Natureza dos recebíveis · Excerto da fonte:</a:t>
            </a:r>
          </a:p>
          <a:p>
            <a:r>
              <a:t>4.2 Os Direitos Creditórios são originados no âmbito de operações de empréstimo consignado concedido pelo Endossante a um Devedor por meio da Plataforma MT e representado por CCB, devidamente formalizada por via eletrônica, de acordo com a legislação aplicável, observada a Política de Crédito constante do Contrato de Endosso. O Endossante celebrou o Convênio Consignado Privado previamente ao endosso de Direitos Creditórios Elegíveis à Classe, para que, após a averbação dos Direitos Creditórios na Dataprev, o pagamento regular dos Direitos Creditórios decorrentes das CCB seja f eito por Consignação</a:t>
            </a:r>
          </a:p>
          <a:p>
            <a:r>
              <a:t>CNPJ 60010416000112 · Natureza dos recebíveis · Versão e prevalência: Leitura específica das cláusulas indicadas; condições e conflitos preservados. Seleção documental atual não comprova vigência jurídica por data isolada.</a:t>
            </a:r>
          </a:p>
          <a:p>
            <a:r>
              <a:t>CNPJ 60010416000112 · Natureza dos recebíveis · Resumo do histórico: {"count": 2, "dates": ["2025-03-20", "2025-10-09"], "document_count": 2, "sources": [{"document_id": "1051393", "title": "Regulamento", "reference_date": "2025-10-09", "version": "1", "page": "9-11", "url": "https://fnet.bmfbovespa.com.br/fnet/publico/visualizarDocumento?id=1051393", "sha256": "8469d613078ffd5a6c1d217885d8a397a16342c0b937ae4aa24b106505f233ae"}, {"document_id": "993786", "title": "Regulamento", "reference_date": "2025-03-20", "version": "1", "page": 30, "clause": "12.5.1", "url": "https://fnet.bmfbovespa.com.br/fnet/publico/visualizarDocumento?id=993786", "sha256": "fd0fdd369a195510d81f81f505195a0b09e5f43522a990afa7d58c4f872921c8"}], "reference": {"path": "history/60010416000112.json", "criterion_id": "receivables", "total_count": 2, "preview_count": 2, "full_text_deferred": true, "sha256": "8e2bd813f4c51cf01f6bfaad164bafe69d2bbb192f753eac92da3a01c2e63046"}}</a:t>
            </a:r>
          </a:p>
          <a:p>
            <a:r>
              <a:t>CNPJ 62696791000193 · Natureza dos recebíveis · Regulamento · ID 1143317 · 20/03/2026 · versão Regulamento — referência 20/03/2026 · p. 6 · Anexo I, 1.1, Objetivo · https://fnet.bmfbovespa.com.br/fnet/publico/visualizarDocumento?id=1143317</a:t>
            </a:r>
          </a:p>
          <a:p>
            <a:r>
              <a:t>CNPJ 62696791000193 · Natureza dos recebíveis · Excerto da fonte:</a:t>
            </a:r>
          </a:p>
          <a:p>
            <a:r>
              <a:t>A Classe tem por objetivo proporcionar aos Cotistas a valorização e a rentabilidade de suas cotas (“Cotas”), conforme a política de investimentos def inida no Capítulo IV abaixo (“Política de Investimentos”), por meio de aplicação do seu Patrimônio Líquido (conforme def inido abaixo) nos seguintes ativos de origem vinculada às cadeias produtivas do agronegócio (“Direitos Creditórios do Agronegócio”): (i) títulos de crédito emitidos por pessoas naturais e jurídicas que integrem as cadeias produtivas do agronegócio; (ii) direitos creditórios do agronegócio; (iii) certificados de recebíveis do agronegócio e outros títulos de securitização emitidos com lastro em direitos creditórios do agronegócio; e (iv) certificados de recebíveis e outro</a:t>
            </a:r>
          </a:p>
          <a:p>
            <a:r>
              <a:t>CNPJ 62696791000193 · Natureza dos recebíveis · Regulamento · ID 1143317 · 20/03/2026 · versão Regulamento — referência 20/03/2026 · p. 7 · Anexo I, 1.1, Objetivo · https://fnet.bmfbovespa.com.br/fnet/publico/visualizarDocumento?id=1143317</a:t>
            </a:r>
          </a:p>
          <a:p>
            <a:r>
              <a:t>CNPJ 62696791000193 · Natureza dos recebíveis · Excerto da fonte:</a:t>
            </a:r>
          </a:p>
          <a:p>
            <a:r>
              <a:t>(i) participações em sociedades que explorem atividades integrantes das cadeias produtivas do agronegócio. (C) Categoria “Financeiro” (“Ativos Financeiros do Agronegócio Financeiros”): (i) ativos f inanceiros e valores mobiliários emitidos por pessoas naturais e jurídicas que integrem as cadeias produtivas do agronegócio. (D) Categoria “Geral” (“Ativos em Geral do Agronegócio”): (i) cotas de classes que apliquem mais de 50% (cinquenta por cento) de seu patrimônio líquido nos ativos referidos nos incisos “A” a “D” acima, o que inclui cotas de outros FIAGRO, mas não se limita a essa categoria de f undos. Os Ativos Imobiliários do Agronegócio, Participações do Agronegócio,</a:t>
            </a:r>
          </a:p>
          <a:p>
            <a:r>
              <a:t>CNPJ 62696791000193 · Natureza dos recebíveis · Versão e prevalência: Leitura específica das cláusulas indicadas; condições e conflitos preservados. Seleção documental atual não comprova vigência jurídica por data isolada.</a:t>
            </a:r>
          </a:p>
          <a:p>
            <a:r>
              <a:t>CNPJ 55563624000109 · Natureza dos recebíveis · Regulamento · ID 1192614 · 30/04/2026 · versão Regulamento30/04/2026 · p. 11 · AnexoI4.1 · https://fnet.bmfbovespa.com.br/fnet/publico/visualizarDocumento?id=1192614</a:t>
            </a:r>
          </a:p>
          <a:p>
            <a:r>
              <a:t>CNPJ 55563624000109 · Natureza dos recebíveis · Excerto da fonte:</a:t>
            </a:r>
          </a:p>
          <a:p>
            <a:r>
              <a:t>4.1 Observados os demais termos deste Anexo, o objetivo da Classe é investir seus recursos em (i) cotas subordinadas mezanino de emissão da classe única do MERCADO CRÉDITO II BRASIL FUNDO DE INVESTIMENTO EM DIREITOS CREDITÓRIOS NÃO PADRONIZADOS, fundo de investimento em direitos creditórios inscrito no CNPJ sob o nº 41.970.012/0001-26 (“Cotas da Classe Investida” e “Classe Investida”, respectivamente), a qual, por sua vez, aplica seus recursos preponderantemente em direitos creditórios originados pela Mercado Pago, de acordo com os termos e condições est</a:t>
            </a:r>
          </a:p>
          <a:p>
            <a:r>
              <a:t>CNPJ 55563624000109 · Natureza dos recebíveis · Regulamento · ID 1192614 · 30/04/2026 · versão Regulamento30/04/2026 · p. 12 · AnexoI4.5 · https://fnet.bmfbovespa.com.br/fnet/publico/visualizarDocumento?id=1192614</a:t>
            </a:r>
          </a:p>
          <a:p>
            <a:r>
              <a:t>CNPJ 55563624000109 · Natureza dos recebíveis · Excerto da fonte:</a:t>
            </a:r>
          </a:p>
          <a:p>
            <a:r>
              <a:t>4.5 Uma vez que o investimento nas Cotas da Classe Investida não corresponde a um investimento direto em direitos creditórios, uma série de disposições comuns à securitização de direitos creditórios não será aplicável ao investimento nas Cotas da Classe Investida. A título meramente exemplificativo, não existem processos de originação ou política de concessão de crédito adotada pelo GESTOR, tampouco há que se falar em verificação ou guarda de documentos comprobatórios que não sejam referentes às Cotas da Classe Investida. Da mesma forma, não há necessida</a:t>
            </a:r>
          </a:p>
          <a:p>
            <a:r>
              <a:t>CNPJ 55563624000109 · Natureza dos recebíveis · Versão e prevalência: Leitura específica das cláusulas indicadas; condições e conflitos preservados. Seleção documental atual não comprova vigência jurídica por data isolada.</a:t>
            </a:r>
          </a:p>
          <a:p>
            <a:r>
              <a:t>CNPJ 55563624000109 · Natureza dos recebíveis · Resumo do histórico: {"count": 4, "dates": ["2025-01-31", "2026-01-31", "2026-04-30"], "document_count": 3, "sources": [{"document_id": "1192614", "title": "Regulamento", "reference_date": "2026-04-30", "version": "1", "page": "11", "url": "https://fnet.bmfbovespa.com.br/fnet/publico/visualizarDocumento?id=1192614", "sha256": "f56e63ace0acde41d2f47fb48f1ac7f3f7df5e2d32de092d7c5e075a52516632"}, {"document_id": "1178840", "title": "Demonstrações Financeiras", "reference_date": "2026-01-31", "version": "1", "page": 16, "url": "https://fnet.bmfbovespa.com.br/fnet/publico/visualizarDocumento?id=1178840", "sha256": "c458e98664c5c907ddb5a05a94b120bed4e05295b2bfc420f5ba69af0a229abe"}, {"document_id": "891861", "title": "Demonstrações Financeiras", "reference_date": "2025-01-31", "version": "1", "page": 16, "url": "https://fnet.bmfbovespa.com.br/fnet/publico/visualizarDocumento?id=891861", "sha256": "e9cb9e6ddbe505fe068cfcac33605165a98313489de0d3ce6d4d238263c3f3e7"}], "reference": {"path": "history/55563624000109.json", "criterion_id": "receivables", "total_count": 4, "preview_count": 3, "full_text_deferred": true, "sha256": "7835d573fb58a3c19adf5b8ecc2aee2bdbb9a88f7a0c0209b5f262b64c7522e3"}}</a:t>
            </a:r>
          </a:p>
          <a:p>
            <a:r>
              <a:t>CNPJ 62552447000120 · Natureza dos recebíveis · Regulamento · ID 1200623 · 21/05/2026 · versão Consolidado21/05/2026 aprovado pelo ato1200625 · p. 11 · AnexoI4.2–4.3 · https://fnet.bmfbovespa.com.br/fnet/publico/visualizarDocumento?id=1200623</a:t>
            </a:r>
          </a:p>
          <a:p>
            <a:r>
              <a:t>CNPJ 62552447000120 · Natureza dos recebíveis · Excerto da fonte:</a:t>
            </a:r>
          </a:p>
          <a:p>
            <a:r>
              <a:t>4.2 Os Direitos Creditórios Consignado Privado e os Direitos Creditórios FGTS são originados no âmbito de CCBs emitidas eletronicamente pelos Devedores ao Endossante, representando, respectivamente, empréstimos consignados, com desconto em f olha de pagamento, e empréstimos pessoais, com garantia de cessão f iduciária do Saque-aniversário. 4.3 A operacionalização é f eita por meio da plataforma eletrônica mantida pelo Originador e utilizada por ele em relação ao processamento e monitoramento das operações de crédito (“Plataforma VR”), de acordo com a legislação aplicável, observada a política de crédit</a:t>
            </a:r>
          </a:p>
          <a:p>
            <a:r>
              <a:t>CNPJ 62552447000120 · Natureza dos recebíveis · Regulamento · ID 1200623 · 21/05/2026 · versão Consolidado21/05/2026 aprovado pelo ato1200625 · p. 6 · AnexoI1.2 Direitos Creditórios(d) · https://fnet.bmfbovespa.com.br/fnet/publico/visualizarDocumento?id=1200623</a:t>
            </a:r>
          </a:p>
          <a:p>
            <a:r>
              <a:t>CNPJ 62552447000120 · Natureza dos recebíveis · Excerto da fonte:</a:t>
            </a:r>
          </a:p>
          <a:p>
            <a:r>
              <a:t>Refinanciamento Livre”, na forma de CCBs originadas no âmbito de um refinanciamento, de acordo com a política de cobrança vigente, de Direitos Creditórios Consignado Privado e de Direitos Creditórios FGTS, que não contem com o lastro de Consignação ou de cessão f iduciária do Saque-Aniversário, respectivamente; e (ii) “Ativos Financei</a:t>
            </a:r>
          </a:p>
          <a:p>
            <a:r>
              <a:t>CNPJ 62552447000120 · Natureza dos recebíveis · Condição: Direitos de refinanciamento livre têm mecanismo de pagamento diferente do consignado/FGTS original.</a:t>
            </a:r>
          </a:p>
          <a:p>
            <a:r>
              <a:t>CNPJ 62552447000120 · Natureza dos recebíveis · Versão e prevalência: Leitura específica das cláusulas indicadas; condições e conflitos preservados. Seleção documental atual não comprova vigência jurídica por data isolada.</a:t>
            </a:r>
          </a:p>
          <a:p>
            <a:r>
              <a:t>CNPJ 63953620000165 · Natureza dos recebíveis · Anexo ao Regulamento · ID 1222863 · 02/06/2026 · versão AnexoConsignadoPrivado02/06/2026 · p. 5 · 4.4 · https://fnet.bmfbovespa.com.br/fnet/publico/visualizarDocumento?id=1222863</a:t>
            </a:r>
          </a:p>
          <a:p>
            <a:r>
              <a:t>CNPJ 63953620000165 · Natureza dos recebíveis · Excerto da fonte:</a:t>
            </a:r>
          </a:p>
          <a:p>
            <a:r>
              <a:t>4.4 Os Direitos Creditórios Consignado Privado são originados no âmbito de operações de empréstimo consignado concedido pelo Endossante a um Devedor por meio da plataforma eletrônica mantida pelo Agente de Retenção/ Cobrança e utilizada por ele em relação ao processamento e monitoramento das operações de crédito consignado (“Plataforma MT”) e representado por CCB, devidamente formalizada por via eletrônica, de acordo com a legislação aplicável, observada a política de crédito constante do Contrato de Endosso. O Endossante celebrou o Convênio Consignado Privado previamente ao endosso de Direitos Creditórios Elegíveis à Clas</a:t>
            </a:r>
          </a:p>
          <a:p>
            <a:r>
              <a:t>CNPJ 63953620000165 · Natureza dos recebíveis · Anexo ao Regulamento · ID 1222863 · 02/06/2026 · versão AnexoConsignadoPrivado02/06/2026 · p. 1 · 1.1Objetivo · https://fnet.bmfbovespa.com.br/fnet/publico/visualizarDocumento?id=1222863</a:t>
            </a:r>
          </a:p>
          <a:p>
            <a:r>
              <a:t>CNPJ 63953620000165 · Natureza dos recebíveis · Excerto da fonte:</a:t>
            </a:r>
          </a:p>
          <a:p>
            <a:r>
              <a:t>Direitos Creditórios Crédito Consignado”, representados por cédula de crédito bancário regida pela Lei nº 10.931, emitida eletronicamente por um devedor em favor do endossante (“CCB”) e, consequentemente, os recebíveis decorrente de cada uma das parcelas vincendas, representando um empréstimo consignado concedido pelo endossante ao devedor, e cujo pagamento ordinário é feito por desconto de cada prestação vincenda de uma CCB na folha de</a:t>
            </a:r>
          </a:p>
          <a:p>
            <a:r>
              <a:t>CNPJ 63953620000165 · Natureza dos recebíveis · Versão e prevalência: Leitura específica das cláusulas indicadas; condições e conflitos preservados. Seleção documental atual não comprova vigência jurídica por data isolada.</a:t>
            </a:r>
          </a:p>
          <a:p>
            <a:r>
              <a:t>CNPJ 63953620000165 · Natureza dos recebíveis · Resumo do histórico: {"count": 8, "dates": ["2026-04-28", "2026-05-08", "2026-05-15"], "document_count": 3, "sources": [{"document_id": "1327859", "title": "Demonstrações Financeiras - Fusão, cisão e incorporação", "reference_date": "2026-05-15", "version": "1", "page": 21, "url": "https://fnet.bmfbovespa.com.br/fnet/publico/visualizarDocumento?id=1327859", "sha256": "dca1c68babb97f887528c3e2e47596a9c30f507b067981a35655b2f2da9c8054"}, {"document_id": "1298691", "title": "Demonstrações Financeiras - Fusão, cisão e incorporação", "reference_date": "2026-05-08", "version": "1", "page": 24, "url": "https://fnet.bmfbovespa.com.br/fnet/publico/visualizarDocumento?id=1298691", "sha256": "58c570d9b8d4d265330d3db3ea81c435b8e44a6dab4002aa37790652a1ee9819"}, {"document_id": "1282180", "title": "Demonstrações Financeiras - Fusão, cisão e incorporação", "reference_date": "2026-04-28", "version": "1", "page": 24, "url": "https://fnet.bmfbovespa.com.br/fnet/publico/visualizarDocumento?id=1282180", "sha256": "afaaa0e6809be4385e5bdb6c911aac582032c5bdbac3d7750234bf9eaf00438a"}], "reference": {"path": "history/63953620000165.json", "criterion_id": "receivables", "total_count": 8, "preview_count": 3, "full_text_deferred": true, "sha256": "a7b89077f5e21098c2d601c303faabc3ff6b9729f89d8afecdc60fe1404720c1"}}</a:t>
            </a:r>
          </a:p>
          <a:p>
            <a:r>
              <a:t>CNPJ 54871427000194 · Originador e endossante · Regulamento · ID 670691 · 2024-04-28 · versão 1 · p. 11 · 4.11.2 · https://fnet.bmfbovespa.com.br/fnet/publico/visualizarDocumento?id=670691</a:t>
            </a:r>
          </a:p>
          <a:p>
            <a:r>
              <a:t>CNPJ 54871427000194 · Originador e endossante · Excerto da fonte:</a:t>
            </a:r>
          </a:p>
          <a:p>
            <a:r>
              <a:t>4.11.2 A Classe poderá ter até 100% (cem por cento) do Patrimônio Líquido representado por Direitos  Creditórios originados ou cedidos por um mesmo Endossante e/ou originados por um mesmo  Originador.</a:t>
            </a:r>
          </a:p>
          <a:p>
            <a:r>
              <a:t>CNPJ 54871427000194 · Originador e endossante · Regulamento · ID 670691 · 2024-04-28 · versão 1 · p. 13 · 4.17 · https://fnet.bmfbovespa.com.br/fnet/publico/visualizarDocumento?id=670691</a:t>
            </a:r>
          </a:p>
          <a:p>
            <a:r>
              <a:t>CNPJ 54871427000194 · Originador e endossante · Excerto da fonte:</a:t>
            </a:r>
          </a:p>
          <a:p>
            <a:r>
              <a:t>4.17 É vedada qualquer forma de antecipação de recursos aos Endossantes para posterior reembolso pela  Classe, seja pelo ADMINISTRADOR, GESTOR, CUSTODIANTE, consultora ou Originadores.</a:t>
            </a:r>
          </a:p>
          <a:p>
            <a:r>
              <a:t>CNPJ 54871427000194 · Originador e endossante · Regulamento · ID 670691 · 2024-04-28 · versão 1 · p. 34 · 15.1.5 · https://fnet.bmfbovespa.com.br/fnet/publico/visualizarDocumento?id=670691</a:t>
            </a:r>
          </a:p>
          <a:p>
            <a:r>
              <a:t>CNPJ 54871427000194 · Originador e endossante · Excerto da fonte:</a:t>
            </a:r>
          </a:p>
          <a:p>
            <a:r>
              <a:t>15.1.5 Outros Riscos:</a:t>
            </a:r>
          </a:p>
          <a:p>
            <a:r>
              <a:t> (i) Cobrança judicial ou extrajudicial dos Direitos Creditórios. No caso de os  Devedores inadimplirem as obrigações dos pagamentos dos Direitos Creditórios de titularidade  da Classe, poderá haver cobrança judicial e/ou extrajudicial dos valores devidos. Neste caso,  além da Classe incorrer em maiores custos relacionados à cobrança dos Direitos Creditórios  Inadimplidos, nada garante que ref eridas cobranças atingirão os resultados almejados, qual  seja, a recuperação do valor integral dos Direitos Creditórios Inadimplidos. Nesta hipótese, a  rentabilidade da Classe será af etada negativamente.</a:t>
            </a:r>
          </a:p>
          <a:p>
            <a:r>
              <a:t> (ii) Dif iculdade de obtenção de indenização ou recompra de Direitos Creditórios.</a:t>
            </a:r>
          </a:p>
          <a:p>
            <a:r>
              <a:t> Considerando a possibilidade de aquisição de Direitos Creditórios de terceiros — isso é  Endossantes que, por sua vez, adquiram os Direitos Creditórios de forma secundária, por meio  da cessão ou endosso realizado por credores anteriores da CCB — caso ocorram situações  que ensejem em recompra de tais Direitos Creditórios e/ou indenização, a Classe poderá ter  dif iculdades adicionais em obter tais indenizações e/ou recompras, na medida em que o direito  a tais indenizações e/ou recompras não está previsto em cada CCB, mas em contratos e  instrumentos dos quais a Classe não é originalmente parte, o que poderá causar perdas à  Classe e, consequentemente, aos Cotistas.</a:t>
            </a:r>
          </a:p>
          <a:p>
            <a:r>
              <a:t> (iii) Risco de concentração. O risco da aplicação na Classe possui forte correlação  com a concentração da Carteira, sendo que, quanto maior f or a concentração da Carteira,  maior será a chance de a Classe sofrer perda patrimonial significativa que afete negativamente  a rentabilidade das Cotas. A Classe não possui limite de concentração por Devedor ou  originador dos Direitos Creditórios, exceto por aqueles previstos na Resolução CVM  175, razão pela qual a Classe poderá estar exposto a significativa concentração por  Devedor. Não é possível garantir que os limites de concentração contidos na Política de  Investimentos, ainda que atendidos, serão suficientes que o Patrimônio Líquido não sofra  perdas que possam af etar a rentabilidade das Cotas.</a:t>
            </a:r>
          </a:p>
          <a:p>
            <a:r>
              <a:t> (iv) Possibilidade de conflito de interesses entre a Classe e os Originadores. Os  Originadores podem possuir relacionamento comercial com os Endossantes e/ou Devedores,  de modo que, em determinadas circunstâncias seus interesses podem ser conflitantes com os  interesses da Classe. Não é possível garantir que, materializada uma situação de conflito de  interesses conforme descrita acima, o Originador exponha-a adequadamente ao  ADMINISTRADOR e/ou aos Cotistas, ou que o f aça absolutamente, tampouco que agirá no  melhor no interesse da Classe. Nesses casos, a Classe pode vir a adquirir Direitos Creditórios  ou pode vir a ter seus Direitos Creditórios Inadimplidos pagos em condições comparativamente  menos vantajosas àquelas que seriam verificadas na ausência de tais conflitos de interesses.</a:t>
            </a:r>
          </a:p>
          <a:p>
            <a:r>
              <a:t> Nesses casos, o Patrimônio Líquido pode ser af etado adversamente.</a:t>
            </a:r>
          </a:p>
          <a:p>
            <a:r>
              <a:t> (v) Possibilidade de conflito de interesses entre Cotistas. As Cotas poderão ser  adquiridas por investidores que sejam sociedades coligadas, controladas ou controladoras,</a:t>
            </a:r>
          </a:p>
          <a:p>
            <a:r>
              <a:t>CNPJ 54871427000194 · Originador e endossante · Condição: Documentos atuais selecionados no inventário por categoria/escopo; a data documental isolada não comprova vigência jurídica.</a:t>
            </a:r>
          </a:p>
          <a:p>
            <a:r>
              <a:t>CNPJ 54871427000194 · Originador e endossante · Versão e prevalência: Documentos atuais selecionados no inventário por categoria/escopo; a data documental isolada não comprova vigência jurídica.</a:t>
            </a:r>
          </a:p>
          <a:p>
            <a:r>
              <a:t>CNPJ 54871427000194 · Originador e endossante · Resumo do histórico: {"count": 2, "dates": ["2024-04-19", "2024-04-28"], "document_count": 2, "sources": [{"document_id": "670691", "title": "Regulamento", "reference_date": "2024-04-28", "version": "1", "page": "9, 39", "url": "https://fnet.bmfbovespa.com.br/fnet/publico/visualizarDocumento?id=670691", "sha256": "bf16dd7f1a62d5cdbf2e2d54fef81783783f7310fbc99c3a8f00459bdf9d037b"}, {"document_id": "670689", "title": "Regulamento", "reference_date": "2024-04-19", "version": "1", "page": 9, "clause": "4.5", "url": "https://fnet.bmfbovespa.com.br/fnet/publico/visualizarDocumento?id=670689", "sha256": "891bc9bc5d87bbc02ec139077a84d2702eb81ea02035fb71d24f5b8366b94a0b"}], "reference": {"path": "history/54871427000194.json", "criterion_id": "originator", "total_count": 2, "preview_count": 2, "full_text_deferred": true, "sha256": "35d7cd99be50c7287c9fb675cf4f2e736002315295a225a9efa79c8d9186d874"}}</a:t>
            </a:r>
          </a:p>
          <a:p>
            <a:r>
              <a:t>CNPJ 60010416000112 · Originador e endossante · Regulamento · ID 1051393 · 09/10/2025 · versão Regulamento09/10/2025 · p. 44 · Glossário, Endossante · https://fnet.bmfbovespa.com.br/fnet/publico/visualizarDocumento?id=1051393</a:t>
            </a:r>
          </a:p>
          <a:p>
            <a:r>
              <a:t>CNPJ 60010416000112 · Originador e endossante · Excerto da fonte:</a:t>
            </a:r>
          </a:p>
          <a:p>
            <a:r>
              <a:t>“Endossante”: a Parati Crédito, Financiamento e Investimento S.A., instituição financeira constituída na forma de uma sociedade por ações, com sede na cidade de Vitória, estado do Espírito Santo, na Avenida Nossa Senhora da Penha, 699, torre A, conjuntos 404 a 407, Santa Lúcia, CEP 29.056-250, inscrita no CNPJ sob nº 03.311.443/0001-91; "Entidade Registradora": instituição autorizada pelo BACEN para realizar as atividades de registro e constituição, alteração e desconstituição de ônus e gravames sobre ativos f inanceiros registrados; “Escrituração”: significa a escrituração da Consignação a ser realizada pelo Empregador, junto ao eSocial, após recebimento de notif icação comunicando-o da contratação, pelo Devedor, do empréstimo a ser pago por Consignação; “Eventos de Avaliação”: os eventos de avaliação descritos no item 10.1 deste Anexo; “Eventos de Liquidação”: os eventos de liquidação descritos no item 10.3 deste Anexo; BTG Pactual SAC: 0800 772 28 27 - Ouvidoria: 0800 722 00 48 - btgpactual.com 44</a:t>
            </a:r>
          </a:p>
          <a:p>
            <a:r>
              <a:t>CNPJ 60010416000112 · Originador e endossante · Regulamento · ID 1051393 · 09/10/2025 · versão Regulamento09/10/2025 · p. 41 · Glossário, Agente de Retenção/Cobrança · https://fnet.bmfbovespa.com.br/fnet/publico/visualizarDocumento?id=1051393</a:t>
            </a:r>
          </a:p>
          <a:p>
            <a:r>
              <a:t>CNPJ 60010416000112 · Originador e endossante · Excerto da fonte:</a:t>
            </a:r>
          </a:p>
          <a:p>
            <a:r>
              <a:t>“Agente de Retenção/Cobrança”: significa a Tudo Serviços S.A., sociedade por ações com sede na Cidade de Eusébio, Estado do Ceará, na Comendador Ari Freitas, 577, CEP 61.760-000, inscrita no CNPJ sob nº 27.852.506/0001-85; “Agente Escriturador”: O Administrador, o qual se encontra devidamente habilitado pela CVM para prestar os serviços de escrituração das Cotas, ou seu sucessor a qualquer título; “Amortização”: signif ica cada uma das amortizações ordinárias de Cotas; “Amortização Extraordinária”: amortização extraordinária das Cotas Seniores, conforme deliberado pela Assembleia Especial de Cotistas, para reestabelecer o Índice de Subordinação, nos termos do item 5.5.1 do Anexo I; "ANBIMA": Associação Brasileira das Entidades dos Mercados Financeiro e de Capitais; "Código ANBIMA": Código ANBIMA de Regulação e Melhores Práticas para Administração de Recursos de Terceiros “Anexos”: tem o signif icado atribuído no Art. 3, inciso IV, da Resolução CVM 175, Parte Geral; “Apêndice”: cada um dos apêndices que integram este Anexo, descritivos de cada Subclasse de Cotas ou de aspectos aplicáveis à Classe; "Arquivos Dataprev": Arquivo de Consignações fornecido mensalmente pela Dataprev ao Endossante, contendo a totalidade das operações pend</a:t>
            </a:r>
          </a:p>
          <a:p>
            <a:r>
              <a:t>CNPJ 60010416000112 · Originador e endossante · Regulamento · ID 1051393 · 09/10/2025 · versão Regulamento09/10/2025 · p. 28 · AnexoI11.23 · https://fnet.bmfbovespa.com.br/fnet/publico/visualizarDocumento?id=1051393</a:t>
            </a:r>
          </a:p>
          <a:p>
            <a:r>
              <a:t>CNPJ 60010416000112 · Originador e endossante · Excerto da fonte:</a:t>
            </a:r>
          </a:p>
          <a:p>
            <a:r>
              <a:t>Tudo Serviços S.A., sociedade anônima, com sede no município de Eusébio, Estado do Ceará, na Comendador Ari Freitas, 577, CEP 61.760-000, inscrita no CNPJ sob o nº 27.852.506/0001-85, cujos deveres, sem prejuízo daqueles estabelecidos neste Regulamento, no Contrato de Serviços MT e no Contrato de Endosso, consistirão no monitoramento e cobrança dos Direitos Creditórios Inadimplidos, observado o disposto neste Anexo I e na regulamentação aplicável: (i) caso aplicável, atuar na retenção (defesa) de operações de empréstimo consignado cujos Direitos Creditórios sejam de titularidade da Classe, em caso d</a:t>
            </a:r>
          </a:p>
          <a:p>
            <a:r>
              <a:t>CNPJ 60010416000112 · Originador e endossante · Versão e prevalência: Leitura específica das cláusulas indicadas; condições e conflitos preservados. Seleção documental atual não comprova vigência jurídica por data isolada.</a:t>
            </a:r>
          </a:p>
          <a:p>
            <a:r>
              <a:t>CNPJ 60010416000112 · Originador e endossante · Resumo do histórico: {"count": 2, "dates": ["2025-03-20", "2025-10-09"], "document_count": 2, "sources": [{"document_id": "1051393", "title": "Regulamento", "reference_date": "2025-10-09", "version": "1", "page": "41-43", "url": "https://fnet.bmfbovespa.com.br/fnet/publico/visualizarDocumento?id=1051393", "sha256": "8469d613078ffd5a6c1d217885d8a397a16342c0b937ae4aa24b106505f233ae"}, {"document_id": "993786", "title": "Regulamento", "reference_date": "2025-03-20", "version": "1", "page": 25, "clause": "11.8", "url": "https://fnet.bmfbovespa.com.br/fnet/publico/visualizarDocumento?id=993786", "sha256": "fd0fdd369a195510d81f81f505195a0b09e5f43522a990afa7d58c4f872921c8"}], "reference": {"path": "history/60010416000112.json", "criterion_id": "originator", "total_count": 2, "preview_count": 2, "full_text_deferred": true, "sha256": "8e2bd813f4c51cf01f6bfaad164bafe69d2bbb192f753eac92da3a01c2e63046"}}</a:t>
            </a:r>
          </a:p>
          <a:p>
            <a:r>
              <a:t>CNPJ 62696791000193 · Originador e endossante · Regulamento · ID 1143317 · 20/03/2026 · versão Regulamento — referência 20/03/2026 · p. 10 · Anexo I, 4.4 e 4.6 · https://fnet.bmfbovespa.com.br/fnet/publico/visualizarDocumento?id=1143317</a:t>
            </a:r>
          </a:p>
          <a:p>
            <a:r>
              <a:t>CNPJ 62696791000193 · Originador e endossante · Excerto da fonte:</a:t>
            </a:r>
          </a:p>
          <a:p>
            <a:r>
              <a:t>4.4 Tendo em vista (i) a natureza variada dos Direitos Creditórios do Agronegócio passíveis de aquisição pela Classe; (ii) a amplitude da Política de Investimentos; e (iii) a potencial diversificação de Cedentes/Endossantes e Devedores, não é possível precisar os processos de origem dos Direitos Creditórios do Agronegócio e as políticas de concessão de crédito adotadas pelos Cedentes/Endossantes. 4.5 Os Direitos Creditórios do Agronegócio deverão contar com toda a documentação necessária para o exercício das prerrogativas decorrentes da titularidade dos ativos, e capaz de comprovar a origem, a existência e a exigibilidade dos Direitos Creditórios do Agronegócio (“Documentos Comprobatórios”) que evidenciem sua existência, validade e exequibilidade perante os respectivos Devedores. 4.5.1 Os Direitos Creditórios do Agronegócio serão adquiridos pela Classe por meio: (i) de contratos de cessão e/ou termos de cessão (“Contratos de Cessão”), contratos de promessa de endosso e/ou termos de endosso (“Contratos de Endosso”) firmados entre a Classe e os respectivos cedentes (“Cedentes”) / endossantes (“Endossantes”), acompanhados de todos os direitos, pri</a:t>
            </a:r>
          </a:p>
          <a:p>
            <a:r>
              <a:t>CNPJ 62696791000193 · Originador e endossante · Condição: A afirmação descreve um mandato amplo; não identifica contrapartes efetivamente presentes no IME.</a:t>
            </a:r>
          </a:p>
          <a:p>
            <a:r>
              <a:t>CNPJ 62696791000193 · Originador e endossante · Versão e prevalência: Leitura específica das cláusulas indicadas; condições e conflitos preservados. Seleção documental atual não comprova vigência jurídica por data isolada.</a:t>
            </a:r>
          </a:p>
          <a:p>
            <a:r>
              <a:t>CNPJ 55563624000109 · Originador e endossante · Regulamento · ID 1192614 · 2026-04-30 · versão 1 · p. 32 · https://fnet.bmfbovespa.com.br/fnet/publico/visualizarDocumento?id=1192614</a:t>
            </a:r>
          </a:p>
          <a:p>
            <a:r>
              <a:t>CNPJ 55563624000109 · Originador e endossante · Excerto da fonte:</a:t>
            </a:r>
          </a:p>
          <a:p>
            <a:r>
              <a:t>(b) Questionamento judicial. Os devedores podem questionar judicialmente (1) a validade  dos direitos creditórios, inclusive em razão da legalidade dos limites de crédito  concedidos pelo originador ou cedente e das taxas de juros praticadas, antes e/ou após  a sua transferência para a Classe Investida; e/ou (2) os termos e condições da  transferência dos direitos creditórios à Classe Investida. Em qualquer caso, é possível  que a Classe Investida não receba parte ou a totalidade dos valores relativos aos  direitos creditórios de sua titularidade objeto de questionamento judicial.</a:t>
            </a:r>
          </a:p>
          <a:p>
            <a:r>
              <a:t> (c) Risco de originação de direitos creditórios. Os direitos creditórios a serem adquiridos  pela Classe Investida são decorrentes de operações de empréstimo específicas  envolvendo as operações do Mercado Pago, conforme detalhadas no regulamento da  Classe Investida. Na hipótese de não originação, originação insuficiente ou  indisponibilidade para aquisição pelo Classe Investida, por qualquer motivo, inclusive  em caso de redução ou descontinuidade das operações regulares dos cedentes, de  direitos creditórios que satisfaçam os critérios de elegibilidade, as condições de cessão  e a política de investimento, composição e diversificação da carteira da Classe Investida  descrita em seu regulamento, a Classe Investida poderá ser incapaz de alocar a  totalidade de seus recursos, o que poderá inviabilizar a realização das chamadas de  capital por seu administrador, afetando negativamente a continuidade da Classe  Investida, a expectativa de seus cotistas, incluindo a Classe, com relação ao seu  horizonte de investimento, a rentabilidade da Classe Investida e, consequentemente, o  valor das Cotas da Classe Investida, impactando assim a Classe e os investimentos dos  Cotistas em Cotas.</a:t>
            </a:r>
          </a:p>
          <a:p>
            <a:r>
              <a:t> (d) Originação por meio fraudulento. A Classe Investida pode adquirir direitos creditórios  que tenham sido originados por meio fraudulento. Nesse caso, a Classe Investida não  poderá exigir o pagamento dos respectivos valores por parte dos devedores lesados,  restando-lhe somente exigir do cedente o pagamento do valor correspondente aos  direitos creditórios fraudulentos, na forma prevista no respectivo contrato de cessão. A  restituição devida pelo cedente poderá demorar a ser realizada ou simplesmente não  ocorrer. Em ambos os casos, o patrimônio da Classe Investida seria impactado  negativamente, igualmente afetando, consequentemente, a Classe.</a:t>
            </a:r>
          </a:p>
          <a:p>
            <a:r>
              <a:t> (e) Questionamento da validade e da eficácia da cessão dos Direitos Creditórios. A validade  e a eficácia da cessão dos direitos creditórios à Classe Investida poderão ser  questionadas, inclusive em decorrência de intervenção, liquidação, Regime de  Administração Especial Temporária (RAET), pedido de recuperação judicial, falência,  plano de recuperação extrajudicial ou outro procedimento de natureza similar  originador ou do cedente. A titularidade direitos creditórios poderá vir a ser  questionada caso (1) haja garantias reais sobre os direitos creditórios, constituídas  antes da sua cessão e sem o conhecimento da Classe Investida; (2) ocorra a penhora ou  outra forma de constrição judicial sobre os direitos creditórios, antes da sua cessão e sem  o conhecimento da Classe Investida; (3) seja verificada, em processo judicial, fraude  contra credores ou fraude à execução praticada pelo respectivo originador ou cedente;</a:t>
            </a:r>
          </a:p>
          <a:p>
            <a:r>
              <a:t> ou (4) a cessão dos direitos creditórios à Classe Investida seja revogada, quando restar  comprovado que foi praticada com a intenção de prejudicar os credores do originador  ou do cedente. Em qualquer hipótese, os direitos creditórios integrantes da carteira da  Classe Investida poderão ser bloqueados ou redirecionados para o pagamento de  outras obrigações do originador ou cedente, afetando negativamente os patrimônios  da Classe Investida e a rentabilidade das suas cotas.</a:t>
            </a:r>
          </a:p>
          <a:p>
            <a:r>
              <a:t>CNPJ 55563624000109 · Originador e endossante · Regulamento · ID 1192614 · 2026-04-30 · versão 1 · p. 28 · https://fnet.bmfbovespa.com.br/fnet/publico/visualizarDocumento?id=1192614</a:t>
            </a:r>
          </a:p>
          <a:p>
            <a:r>
              <a:t>CNPJ 55563624000109 · Originador e endossante · Excerto da fonte:</a:t>
            </a:r>
          </a:p>
          <a:p>
            <a:r>
              <a:t>Classe, na forma da regulamentação aplicável, observado que os prestadores de serviços eventualmente  subcontratados não podem ser, em relação à Classe, o originador, cedente, o GESTOR, consultoria especializada  ou partes a eles relacionadas, tais como definidas nas regras contábeis que tratam desse assunto.</a:t>
            </a:r>
          </a:p>
          <a:p>
            <a:r>
              <a:t>CNPJ 55563624000109 · Originador e endossante · Condição: Documentos atuais selecionados no inventário por categoria/escopo; a data documental isolada não comprova vigência jurídica.</a:t>
            </a:r>
          </a:p>
          <a:p>
            <a:r>
              <a:t>CNPJ 55563624000109 · Originador e endossante · Versão e prevalência: Documentos atuais selecionados no inventário por categoria/escopo; a data documental isolada não comprova vigência jurídica.</a:t>
            </a:r>
          </a:p>
          <a:p>
            <a:r>
              <a:t>CNPJ 55563624000109 · Originador e endossante · Resumo do histórico: {"count": 3, "dates": ["2025-01-31", "2026-01-31", "2026-04-30"], "document_count": 3, "sources": [{"document_id": "1192614", "title": "Regulamento", "reference_date": "2026-04-30", "version": "1", "page": "11", "url": "https://fnet.bmfbovespa.com.br/fnet/publico/visualizarDocumento?id=1192614", "sha256": "f56e63ace0acde41d2f47fb48f1ac7f3f7df5e2d32de092d7c5e075a52516632"}, {"document_id": "1178840", "title": "Demonstrações Financeiras", "reference_date": "2026-01-31", "version": "1", "page": 16, "url": "https://fnet.bmfbovespa.com.br/fnet/publico/visualizarDocumento?id=1178840", "sha256": "c458e98664c5c907ddb5a05a94b120bed4e05295b2bfc420f5ba69af0a229abe"}, {"document_id": "891861", "title": "Demonstrações Financeiras", "reference_date": "2025-01-31", "version": "1", "page": 16, "url": "https://fnet.bmfbovespa.com.br/fnet/publico/visualizarDocumento?id=891861", "sha256": "e9cb9e6ddbe505fe068cfcac33605165a98313489de0d3ce6d4d238263c3f3e7"}], "reference": {"path": "history/55563624000109.json", "criterion_id": "originator", "total_count": 3, "preview_count": 3, "full_text_deferred": true, "sha256": "7835d573fb58a3c19adf5b8ecc2aee2bdbb9a88f7a0c0209b5f262b64c7522e3"}}</a:t>
            </a:r>
          </a:p>
          <a:p>
            <a:r>
              <a:t>CNPJ 62552447000120 · Originador e endossante · Regulamento · ID 1200623 · 21/05/2026 · versão Consolidado21/05/2026 aprovado pelo ato1200625 · p. 12 · AnexoI4.4.1(i) · https://fnet.bmfbovespa.com.br/fnet/publico/visualizarDocumento?id=1200623</a:t>
            </a:r>
          </a:p>
          <a:p>
            <a:r>
              <a:t>CNPJ 62552447000120 · Originador e endossante · Excerto da fonte:</a:t>
            </a:r>
          </a:p>
          <a:p>
            <a:r>
              <a:t>BANCO VR S.A., instituição f inanceira, com sede no município e Estado de São Paulo, na Av. Dos Bandeirantes, n.º 460, Brooklin Paulista, CEP 04553-900, inscrita no CNPJ sob o n.º 78.626.983/0001- 63, ou qualquer outra sociedade do mesmo grupo econômico, na qualidade de endossante (“Endossante”), acompanhados de todos os direitos, privilégios, pref erências, prerrogativas, ações e garantias assegurados aos seus titulares; (ii) da subscrição de títulos de crédito e/ou valores mobiliários, incluindo, mas não se</a:t>
            </a:r>
          </a:p>
          <a:p>
            <a:r>
              <a:t>CNPJ 62552447000120 · Originador e endossante · Regulamento · ID 1200623 · 21/05/2026 · versão Consolidado21/05/2026 aprovado pelo ato1200625 · p. 29 · AnexoI12.14 · https://fnet.bmfbovespa.com.br/fnet/publico/visualizarDocumento?id=1200623</a:t>
            </a:r>
          </a:p>
          <a:p>
            <a:r>
              <a:t>CNPJ 62552447000120 · Originador e endossante · Excerto da fonte:</a:t>
            </a:r>
          </a:p>
          <a:p>
            <a:r>
              <a:t>VR BENEFÍCIOS E SERVIÇOS DE PROCESSAMENTO S.A., sociedade anônima com sede no município e Estado de São Paulo, na Av. dos Bandeirantes, n.º 460, Brooklin Paulista, CEP 04553-900, inscrita no CNPJ sob o n.º 02.535.864/0004-86 (“Agente de Retenção e Cobrança” ou “Originador”), para os serviços de retenção de Direitos Creditórios e de cobrança de Direitos Creditórios Inadimplidos, de acordo com os contratos de prestação de serviços de retenção e cobrança celebrados entre o Agente de Retenção e Cobrança e a Classe (“Contratos de Retenção/Cobrança”). 12.15 O Agente de Retenção e Cobrança poderá, às expensas da Classe,</a:t>
            </a:r>
          </a:p>
          <a:p>
            <a:r>
              <a:t>CNPJ 62552447000120 · Originador e endossante · Versão e prevalência: Leitura específica das cláusulas indicadas; condições e conflitos preservados. Seleção documental atual não comprova vigência jurídica por data isolada.</a:t>
            </a:r>
          </a:p>
          <a:p>
            <a:r>
              <a:t>CNPJ 63953620000165 · Originador e endossante · Anexo ao Regulamento · ID 1222863 · 02/06/2026 · versão AnexoConsignadoPrivado02/06/2026 · p. 5 · 4.3–4.4 · https://fnet.bmfbovespa.com.br/fnet/publico/visualizarDocumento?id=1222863</a:t>
            </a:r>
          </a:p>
          <a:p>
            <a:r>
              <a:t>CNPJ 63953620000165 · Originador e endossante · Excerto da fonte:</a:t>
            </a:r>
          </a:p>
          <a:p>
            <a:r>
              <a:t>4.3 Os Direitos Creditórios serão adquiridos pela Classe por meio: (i) contratos de promessa de endosso e/ou termos de endosso (“Contratos de Endosso”) firmados entre a Classe e a Parati Crédito, Financiamento e Investimento S.A., instituição financeira constituída na forma de uma sociedade por ações, com sede na cidade de Vitória, estado do Espírito Santo, na Avenida Nossa Senhora da Penha, 699, torre A, conjuntos 404 a 407, Santa Lúcia, CEP 29.056-250, inscrita no CNPJ sob nº 03.311.443/0001-91 (“Endossante” ou “Cedente”), acompanhados de todos os direitos, privilégios, preferências, prerrogativas, ações e garantias asse</a:t>
            </a:r>
          </a:p>
          <a:p>
            <a:r>
              <a:t>CNPJ 63953620000165 · Originador e endossante · Anexo ao Regulamento · ID 1222863 · 02/06/2026 · versão AnexoConsignadoPrivado02/06/2026 · p. 19 · 12.6 · https://fnet.bmfbovespa.com.br/fnet/publico/visualizarDocumento?id=1222863</a:t>
            </a:r>
          </a:p>
          <a:p>
            <a:r>
              <a:t>CNPJ 63953620000165 · Originador e endossante · Excerto da fonte:</a:t>
            </a:r>
          </a:p>
          <a:p>
            <a:r>
              <a:t>12.6 A Classe contratou a Tudo Serviços S.A., sociedade anônima, com sede no município de Fortaleza, Estado do Ceará, na Avenida Senador Virgulo Távora, nº 303, Lojas 02, 03, 04, 05, 06 e 19, Meireles, CEP 60.170-265, inscrita no CNPJ sob o nº 27.852.506/0001-85, cujos deveres, sem prejuízo daqueles estabelecidos neste Regulamento, no “Contrato de Serviços de Retenção e Cobrança e Outras Avenças”, celebrado entre o Agente de Retenção/Cobrança e a Classe (“Contrato de Serviços MT”) e no Contrato de Endosso, consistirão no monitoramento e cobrança dos Direitos Creditórios Inadimplidos, observado o disposto neste Anexo I e na</a:t>
            </a:r>
          </a:p>
          <a:p>
            <a:r>
              <a:t>CNPJ 63953620000165 · Originador e endossante · Condição: Nomeação nominal atual da classe; distinta da origem histórica dos ativos recebidos por cisão de outros veículos.</a:t>
            </a:r>
          </a:p>
          <a:p>
            <a:r>
              <a:t>CNPJ 63953620000165 · Originador e endossante · Versão e prevalência: Leitura específica das cláusulas indicadas; condições e conflitos preservados. Seleção documental atual não comprova vigência jurídica por data isolada.</a:t>
            </a:r>
          </a:p>
          <a:p>
            <a:r>
              <a:t>CNPJ 63953620000165 · Originador e endossante · Resumo do histórico: {"count": 8, "dates": ["2026-04-28", "2026-05-08", "2026-05-15"], "document_count": 3, "sources": [{"document_id": "1327859", "title": "Demonstrações Financeiras - Fusão, cisão e incorporação", "reference_date": "2026-05-15", "version": "1", "page": 23, "url": "https://fnet.bmfbovespa.com.br/fnet/publico/visualizarDocumento?id=1327859", "sha256": "dca1c68babb97f887528c3e2e47596a9c30f507b067981a35655b2f2da9c8054"}, {"document_id": "1298691", "title": "Demonstrações Financeiras - Fusão, cisão e incorporação", "reference_date": "2026-05-08", "version": "1", "page": 24, "url": "https://fnet.bmfbovespa.com.br/fnet/publico/visualizarDocumento?id=1298691", "sha256": "58c570d9b8d4d265330d3db3ea81c435b8e44a6dab4002aa37790652a1ee9819"}, {"document_id": "1282180", "title": "Demonstrações Financeiras - Fusão, cisão e incorporação", "reference_date": "2026-04-28", "version": "1", "page": 24, "url": "https://fnet.bmfbovespa.com.br/fnet/publico/visualizarDocumento?id=1282180", "sha256": "afaaa0e6809be4385e5bdb6c911aac582032c5bdbac3d7750234bf9eaf00438a"}], "reference": {"path": "history/63953620000165.json", "criterion_id": "originator", "total_count": 8, "preview_count": 3, "full_text_deferred": true, "sha256": "a7b89077f5e21098c2d601c303faabc3ff6b9729f89d8afecdc60fe1404720c1"}}</a:t>
            </a:r>
          </a:p>
          <a:p>
            <a:r>
              <a:t>CNPJ 54871427000194 · Devedor e consignação · Regulamento · ID 670691 · 2024-04-28 · versão 1 · p. 29 · https://fnet.bmfbovespa.com.br/fnet/publico/visualizarDocumento?id=670691</a:t>
            </a:r>
          </a:p>
          <a:p>
            <a:r>
              <a:t>CNPJ 54871427000194 · Devedor e consignação · Excerto da fonte:</a:t>
            </a:r>
          </a:p>
          <a:p>
            <a:r>
              <a:t>Anexo I ao Regulamento CLASSE ÚNICA DE RESPONSABILIDADE LIMITADA DO CONSIGNADO DELTA RECEIVABLES I FUNDO DE INVESTIMENTO EM DIREITOS CREDITÓRIOS  pelo Endossante e depositados em seu conta de sua titularidade para posterior repasse à  Classe. Neste caso, a Classe poderá sofrer perdas principalmente em relação ao atraso na  regularização da titularidade e pagamento dos Direitos Creditórios.</a:t>
            </a:r>
          </a:p>
          <a:p>
            <a:r>
              <a:t> (v) Risco de pré-pagamento dos Direitos Creditórios. A ocorrência de pré-  pagamentos em relação a um ou mais Direitos Creditórios poderá ocasionar perdas à Classe.</a:t>
            </a:r>
          </a:p>
          <a:p>
            <a:r>
              <a:t> A ocorrência de pré-pagamentos (pagamento em data anterior àquela originalmente pactuada)  de Direitos Creditórios reduz o horizonte original de rendimentos esperados pela Classe de  tais Direitos Creditórios, uma vez que o pré-pagamento poderá, se assim permitido pela  documentação do Direito Creditório ou, conf orme o caso, pela legislação aplicável, ser  realizado pelo valor de emissão do Direito Creditório atualizado até a data do pré-pagamento  pela taxa de juros pactuada entre os Endossantes e os Devedores de tais Direitos Creditórios,  de modo que os juros remuneratórios incidentes desde a data da realização do pré-pagamento  até a data de vencimento do respectivo Direito Creditório deixam de ser devidos à Classe.</a:t>
            </a:r>
          </a:p>
          <a:p>
            <a:r>
              <a:t> (vi) Riscos associados aos Devedores: os Direitos Creditórios a serem cedidos à  Classe serão descontados da remuneração do Devedor, através de desconto em f olha de  pagamento ou de benefício. Nesse sentido, na ocorrência de pré-pagamento, as parcelas  serão pagas antecipadamente e a Classe deverá utilizar tais montantes no pré-pagamento dos  Direitos Creditórios. Nesta hipótese, a Classe poderá não encontrar Direitos Creditórios  disponíveis para serem adquiridos pela Classe, o que poderá afetar a rentabilidade da Classe.</a:t>
            </a:r>
          </a:p>
          <a:p>
            <a:r>
              <a:t> (vii) Risco de Competição: o mercado de empréstimos experimentou grande  expansão no Brasil nos últimos anos. Nesse contexto, a Resolução CMN nº 4.292, alterada  pela Resolução nº 4.762, de 27 de novembro de 2019, dispõe que deve ser garantido às  pessoas naturais devedoras de operações de crédito (tais como as CCB) a possibilidade de  realizarem a portabilidade destas operações para outras instituições financeiras, inclusive nos  casos em que tenham sido objeto de cessão (tais como as realizadas à Classe). Nesse  cenário, é possível que os competidores do Endossante ofereçam condições e taxas mais  vantajosas para os empréstimos pessoais com consignação em f olha de pagamento ou de  benef ícios, o que pode causar a migração de clientes da Endossante para outras instituições  f inanceiras, gerando a liquidação antecipada de parte das CCB existentes e/ou redução no  número de Direitos Creditórios cedidos. Referida competição poderá af etar os resultados da  Classe, impactando negativamente os rendimentos dos Cotistas. Ainda, a portabilidade a um  Devedor pode acarretar no recebimento de valores inf eriores aos esperados pela Classe.</a:t>
            </a:r>
          </a:p>
          <a:p>
            <a:r>
              <a:t> (viii) Insuf iciência dos Critérios de Elegibilidade. Os Critérios de Elegibilidade têm a  f inalidade de selecionar os Direitos Creditórios passíveis de aquisição pela Classe. Não  obstante tais Critérios de Elegibilidade, a solvência dos Direitos Creditórios que compõem a  Carteira depende integralmente, mas não somente, da situação econômico-financeira dos  Devedores. Dessa f orma, a observância pelo GESTOR dos Critérios de Elegibilidade não  constitui garantia de adimplência dos Devedores.</a:t>
            </a:r>
          </a:p>
          <a:p>
            <a:r>
              <a:t> Os Endossantes não necessariamente garantem a solvência dos seus respectivos Devedores.</a:t>
            </a:r>
          </a:p>
          <a:p>
            <a:r>
              <a:t> O Endossante dos Direitos Creditórios não assumirá responsabilidade pelo seu pagamento ou  pela solvência dos respectivos Devedores. A Classe sofrerá o impacto do inadimplemento dos  Direitos Creditórios vencidos e não pagos pelos respectivos Devedores.</a:t>
            </a:r>
          </a:p>
          <a:p>
            <a:r>
              <a:t> (ix) Possibilidade de aquisição de Direitos Creditórios cedidos por Endossante  e/ou devidos por Devedores cujas demonstrações financeiras não sejam auditadas. A Classe,  desde que sejam respeitados os limites de concentração previstos neste Regulamento, poderá  manter a qualquer tempo em sua Carteira, Direitos Creditórios cedidos por Endossante e/ou  devidos por Devedores cujas demonstrações f inanceiras não sejam auditadas por Auditor  Independente registrado na CVM. Nesse sentido, não haverá verificação independente sobre  tais demonstrações f inanceiras que af irme se estas representam adequadamente, em todos  os aspectos relevantes, as respectivas posições patrimoniais e f inanceiras, os resultados de  suas operações, as mutações de seus respectivos patrimônios líquidos tampouco as origens  e aplicações de seus recursos.</a:t>
            </a:r>
          </a:p>
          <a:p>
            <a:r>
              <a:t>CNPJ 54871427000194 · Devedor e consignação · Regulamento · ID 670691 · 2024-04-28 · versão 1 · p. 27 · 14.2 · https://fnet.bmfbovespa.com.br/fnet/publico/visualizarDocumento?id=670691</a:t>
            </a:r>
          </a:p>
          <a:p>
            <a:r>
              <a:t>CNPJ 54871427000194 · Devedor e consignação · Excerto da fonte:</a:t>
            </a:r>
          </a:p>
          <a:p>
            <a:r>
              <a:t>14.2 Todos os custos e despesas ref eridos neste Capítulo, inclusive para salvaguarda de direitos e  prerrogativas da Classe e/ou com a cobrança judicial e/ou extrajudicial de Direitos Creditórios  Inadimplidos, serão de inteira responsabilidade da Classe, não estando o ADMINISTRADOR, o  GESTOR, o Endossante, os Devedores, o CUSTODIANTE e quaisquer de suas respectivas pessoas  controladoras, sociedades por estes direta ou indiretamente controladas, a estes coligadas ou outras  sociedades sob controle comum, em conjunto ou isoladamente, obrigados pelo adiantamento ou  pagamento de valores relacionados aos procedimentos ref eridos neste Capítulo.</a:t>
            </a:r>
          </a:p>
          <a:p>
            <a:r>
              <a:t>CNPJ 54871427000194 · Devedor e consignação · Regulamento · ID 670691 · 2024-04-28 · versão 1 · p. 31 · https://fnet.bmfbovespa.com.br/fnet/publico/visualizarDocumento?id=670691</a:t>
            </a:r>
          </a:p>
          <a:p>
            <a:r>
              <a:t>CNPJ 54871427000194 · Devedor e consignação · Excerto da fonte:</a:t>
            </a:r>
          </a:p>
          <a:p>
            <a:r>
              <a:t>Anexo I ao Regulamento CLASSE ÚNICA DE RESPONSABILIDADE LIMITADA DO CONSIGNADO DELTA RECEIVABLES I FUNDO DE INVESTIMENTO EM DIREITOS CREDITÓRIOS  a resgates de suas Cotas e/ou poderá ser obrigado a se desfazer de tais Ativos Financeiros  de Liquidez em condições menos f avoráveis do que se não houvesse a ref erida situação de  f alta de liquidez.</a:t>
            </a:r>
          </a:p>
          <a:p>
            <a:r>
              <a:t> (iv) Liquidação antecipada do FUNDO ou da Classe. Observado o disposto neste  Regulamento, o FUNDO ou a Classe poderão ser liquidados antecipadamente, caso ocorra  qualquer Evento de Liquidação, ou se assim deliberado pelos Cotistas reunidos em  Assembleia Geral de Cotistas. Por este motivo, os Cotistas poderão ter seu horizonte original  de investimento reduzido e poderão não conseguir reinvestir os recursos recebidos com a  mesma remuneração buscada pela Classe, não sendo devida pela Classe, pelo  ADMINISTRADOR, pelo GESTOR ou pelo CUSTODIANTE qualquer multa ou penalidade, a  qualquer título, em decorrência desse f ato. Adicionalmente, ocorrendo qualquer uma das  hipóteses de liquidação antecipada do FUNDO ou da Classe, poderá não haver recursos  disponíveis em moeda corrente nacional para realizar o pagamento aos Cotistas, que poderão  ser pagos com os Direitos Creditórios e Ativos Financeiros de Liquidez detidos em Carteira, os  quais estão sujeitos aos riscos apontados no item (iii) acima.</a:t>
            </a:r>
          </a:p>
          <a:p>
            <a:r>
              <a:t> (v) Amortização condicionada das Cotas. A única f onte de recursos da Classe  para ef etuar o pagamento de resgate ou amortização das Cotas, conforme o caso, é a  liquidação: (i) dos Direitos Creditórios, pelos respectivos Devedores; e (ii) dos Ativos  Financeiros de Liquidez, pelas respectivas contrapartes. Após o recebimento desses recursos  e, se f or o caso, depois de esgotados todos os meios cabíveis para a cobrança, extrajudicial  ou judicial, dos referidos ativos, a Classe não disporá de quaisquer outras verbas para efetuar  o resgate ou amortização das Cotas, conforme o caso, o que poderá acarretar prejuízo aos  Cotistas.</a:t>
            </a:r>
          </a:p>
          <a:p>
            <a:r>
              <a:t> Ademais, a Classe está exposta a determinados riscos inerentes aos Direitos Creditórios e  Ativos Financeiros de Liquidez e aos mercados em que são negociados, incluindo a eventual  impossibilidade de alienar ativos em caso de necessidade, especialmente os Direitos  Creditórios, devido à inexistência de um mercado secundário ativo e organizado para a  negociação dessa espécie de ativo. Considerando-se a sujeição do resgate das Cotas à  liquidação dos Direitos Creditórios e/ou dos Ativos Financeiros de Liquidez, conforme descrito  acima, tanto o ADMINISTRADOR quanto o GESTOR e o CUSTODIANTE estão  impossibilitados de assegurar que os resgates das Cotas ocorrerão nas datas originalmente  previstas, não sendo devido, nesta hipótese, pela Classe ou qualquer outra pessoa, incluindo  o ADMINISTRADOR, o GESTOR e o CUSTODIANTE, qualquer multa ou penalidade, de  qualquer natureza.</a:t>
            </a:r>
          </a:p>
          <a:p>
            <a:r>
              <a:t> (vi) Ausência de classificação de risco das Cotas e Política de Investimentos  genérica. A ausência de requisitos rígidos relacionados aos Direitos Creditórios passíveis de  aquisição pela Classe poderá dificultar a def inição do perfil de risco da Carteira, af etando a  capacidade de o Cotista avaliar o risco de seu invest imento. As Cotas não possuem  classificação de risco emitida por Agência Classificadora de Risco. Esses f atores podem  dif icultar a avaliação, por parte dos investidores, da qualidade do crédito representado pelas  Cotas e com a capacidade da Classe em honrar com os pagamentos das Cotas.</a:t>
            </a:r>
          </a:p>
          <a:p>
            <a:r>
              <a:t>CNPJ 54871427000194 · Devedor e consignação · Condição: Documentos atuais selecionados no inventário por categoria/escopo; a data documental isolada não comprova vigência jurídica.</a:t>
            </a:r>
          </a:p>
          <a:p>
            <a:r>
              <a:t>CNPJ 54871427000194 · Devedor e consignação · Versão e prevalência: Documentos atuais selecionados no inventário por categoria/escopo; a data documental isolada não comprova vigência jurídica.</a:t>
            </a:r>
          </a:p>
          <a:p>
            <a:r>
              <a:t>CNPJ 54871427000194 · Devedor e consignação · Resumo do histórico: {"count": 2, "dates": ["2024-04-19", "2024-04-28"], "document_count": 2, "sources": [{"document_id": "670691", "title": "Regulamento", "reference_date": "2024-04-28", "version": "1", "page": "38", "url": "https://fnet.bmfbovespa.com.br/fnet/publico/visualizarDocumento?id=670691", "sha256": "bf16dd7f1a62d5cdbf2e2d54fef81783783f7310fbc99c3a8f00459bdf9d037b"}, {"document_id": "670689", "title": "Regulamento", "reference_date": "2024-04-19", "version": "1", "page": 30, "url": "https://fnet.bmfbovespa.com.br/fnet/publico/visualizarDocumento?id=670689", "sha256": "891bc9bc5d87bbc02ec139077a84d2702eb81ea02035fb71d24f5b8366b94a0b"}], "reference": {"path": "history/54871427000194.json", "criterion_id": "debtor", "total_count": 2, "preview_count": 2, "full_text_deferred": true, "sha256": "35d7cd99be50c7287c9fb675cf4f2e736002315295a225a9efa79c8d9186d874"}}</a:t>
            </a:r>
          </a:p>
          <a:p>
            <a:r>
              <a:t>CNPJ 60010416000112 · Devedor e consignação · Regulamento · ID 1051393 · 2025-10-09 · versão 1 · p. 35 · 15.1.4 · https://fnet.bmfbovespa.com.br/fnet/publico/visualizarDocumento?id=1051393</a:t>
            </a:r>
          </a:p>
          <a:p>
            <a:r>
              <a:t>CNPJ 60010416000112 · Devedor e consignação · Excerto da fonte:</a:t>
            </a:r>
          </a:p>
          <a:p>
            <a:r>
              <a:t>15.1.4 Riscos específicos</a:t>
            </a:r>
          </a:p>
          <a:p>
            <a:r>
              <a:t> (i)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 icar inadimplente e,  consequentemente, não haverá repasse à Classe do respectivo Direito Creditório, o que  poderá resultar em perdas f inanceiras à Classe e aos Cotistas.</a:t>
            </a:r>
          </a:p>
          <a:p>
            <a:r>
              <a:t> (ii) Risco do Empregador não efetuar o desconto em folha: o repasse dos recursos oriundos  dos Direitos Creditórios à Classe depende da realização, pelo Empregador, da Escrituração e  do desconto na respectiva f olha de pagamento do Devedor. Na hipótese do Empregador  deixar de realizar a Escrituração ou os descontos na folha de pagamento, não haverá repasse  de recursos à Classe, podendo causar prejuízos à Classe e aos Cotistas.</a:t>
            </a:r>
          </a:p>
          <a:p>
            <a:r>
              <a:t> (iii) Risco de perda do vínculo empregatício com o Empregador: caso o Devedor perca o  vínculo empregatício com o Empregador, não haverá remuneração e f olha de pagamento para  realização dos descontos para pagamento dos Direitos Creditórios. Neste caso, não obstante  a possibilidade do Agente de Retenção/Cobrança realizar a cobrança ativa dos Direitos  Creditórios diretamente do Devedor, a ausência de remuneração poderá deixar o Devedor  inadimplente perante a Classe até que o seu vínculo empregatício seja retomado e seja  ef etuado o procedimento operacional para que a CCB seja aditada e/ou seja realizado o  Processo de Reinicialização. Tais situações poderão resultar em prejuízos à Classe e aos  Cotistas.</a:t>
            </a:r>
          </a:p>
          <a:p>
            <a:r>
              <a:t>CNPJ 60010416000112 · Devedor e consignação · Regulamento · ID 1051393 · 2025-10-09 · versão 1 · p. 36 · https://fnet.bmfbovespa.com.br/fnet/publico/visualizarDocumento?id=1051393</a:t>
            </a:r>
          </a:p>
          <a:p>
            <a:r>
              <a:t>CNPJ 60010416000112 · Devedor e consignação · Excerto da fonte:</a:t>
            </a:r>
          </a:p>
          <a:p>
            <a:r>
              <a:t>Anexo I ao Regulamento CLASSE ÚNICA DO MT I CONSIGNADO PRIVADO I FUNDO DE INVESTIMENTO EM DIREITOS CREDITÓRIOS RESPONSABILIDADE LIMITADA  a qualquer momento, os recursos decorrentes dos Direitos Creditórios.</a:t>
            </a:r>
          </a:p>
          <a:p>
            <a:r>
              <a:t> (iii) Risco de validação das informações para conciliação e reconciliação dos Direitos  Creditórios adquiridos pela Classe: as inf ormações para conciliação dos pagamentos,  sendo considerado como tal, também, o Arquivo Dataprev, listando todos os empregados  cujas f olhas de pagamento serão sujeitas a desconto no mês relevante, nos valores acordados  ao ef etuar a Consignação, e qualquer glosa será enviada pela CEF ao Endossante, que  ef etuará a conciliação e, posteriormente, enviará as inf ormações ao Custodiante. Caso o  Endossante não f orneça essas inf ormações em tempo hábil ou f or verif icada qualquer  inconsistência nas informações recebidas pelo Custodiante, poderá isso impedir ou dar origem  a f alhas no processo de reconciliação dos valores depositados na Conta de Cobrança da  Classe e causando perdas à Classe e ao Cotista.</a:t>
            </a:r>
          </a:p>
          <a:p>
            <a:r>
              <a:t> (iv) Risco operacional dos sistemas: o desconto na f olha de pagamento do Devedor das  parcelas da CCB e a transf erência para o Endossante dos Direitos Creditórios serão  processados por um sistema controlado pela Dataprev, e o Endossante, o Administrador ou o  Gestor não têm controle sobre esse processo. Assim, qualquer f alha ou mudança nesse  sistema poderá atrasar ou reduzir o desconto dos rendimentos dos Devedores ou sua  transf erência para a Classe. Nesse caso, a rentabilidade e a propriedade da Classe poderão  ser adversamente af etadas enquanto o problema do sistema persistir, ou até que todos os  valores sejam devidamente transf eridos.</a:t>
            </a:r>
          </a:p>
          <a:p>
            <a:r>
              <a:t> (v) Risco operacional do Contrato: o desconto na f olha de pagamento das parcelas dos  empréstimos concedidos aos Devedores é permitido pelo Convênio Consignado Privado. As  partes do Convênio Consignado Privado devem seguir certas regras para manter o Convênio  Consignado Privado, e a violação delas poderá levar à sua rescisão. Além disso, mudanças  legais podem af etar e/ou tornar inviável a manutenção do Convênio Consignado Privado.</a:t>
            </a:r>
          </a:p>
          <a:p>
            <a:r>
              <a:t> No caso de rescisão do Convênio Consignado Privado, a estrutura de cobrança dos Direitos  Creditórios (desconto na f olha de pagamento) poderá ser comprometida, dando origem à  necessidade de adoção de uma nova estrutura, que poderá não ser tão eficaz quanto ela ou  mesmo revelar, na prática, ser inadequada ou ter altos custos operacionais. Esses eventos  podem levar a perdas patrimoniais para a Classe, na medida em que este deixará de receber,  def initiva ou temporariamente, recursos oriundos dos Direitos Creditórios, no todo ou em parte.</a:t>
            </a:r>
          </a:p>
          <a:p>
            <a:r>
              <a:t> Adicionalmente, de acordo com o Contrato de Endosso, a manutenção do Convênio  Consignado Privado é uma condição para a aquisição de novos Direitos Creditórios pela  Classe e, portanto, no caso de rescisão do Convênio Consignado Privado, a Classe poderá  ser impedido de adquirir novos Direitos Creditórios.</a:t>
            </a:r>
          </a:p>
          <a:p>
            <a:r>
              <a:t>CNPJ 60010416000112 · Devedor e consignação · Regulamento · ID 1051393 · 2025-10-09 · versão 1 · p. 31 · 13.2 · https://fnet.bmfbovespa.com.br/fnet/publico/visualizarDocumento?id=1051393</a:t>
            </a:r>
          </a:p>
          <a:p>
            <a:r>
              <a:t>CNPJ 60010416000112 · Devedor e consignação · Excerto da fonte:</a:t>
            </a:r>
          </a:p>
          <a:p>
            <a:r>
              <a:t>13.2 Todos os custos e despesas ref eridos neste Capítulo, inclusive para salvaguarda de direitos e  prerrogativas da Classe e/ou com a cobrança judicial e/ou extrajudicial de Direitos Creditórios Inadimplidos  ou Direitos Creditórios a Perf ormar, serão de inteira responsabilidade da Classe, não estando o  Administrador, o Gestor, o Endossante, os Devedores, o Custodiante e quaisquer de suas respectivas  pessoas controladoras, sociedades por estes direta ou indiretamente controladas, a estes coligadas ou  outras sociedades sob controle comum, em conjunto ou isoladamente, obrigados pelo adiantamento ou  pagamento de valores relacionados aos procedimentos ref eridos neste Capítulo.</a:t>
            </a:r>
          </a:p>
          <a:p>
            <a:r>
              <a:t>CNPJ 60010416000112 · Devedor e consignação · Condição: Documentos atuais selecionados no inventário por categoria/escopo; a data documental isolada não comprova vigência jurídica.</a:t>
            </a:r>
          </a:p>
          <a:p>
            <a:r>
              <a:t>CNPJ 60010416000112 · Devedor e consignação · Versão e prevalência: Documentos atuais selecionados no inventário por categoria/escopo; a data documental isolada não comprova vigência jurídica.</a:t>
            </a:r>
          </a:p>
          <a:p>
            <a:r>
              <a:t>CNPJ 60010416000112 · Devedor e consignação · Resumo do histórico: {"count": 2, "dates": ["2025-03-20", "2025-10-09"], "document_count": 2, "sources": [{"document_id": "1051393", "title": "Regulamento", "reference_date": "2025-10-09", "version": "1", "page": "9-10, 42", "url": "https://fnet.bmfbovespa.com.br/fnet/publico/visualizarDocumento?id=1051393", "sha256": "8469d613078ffd5a6c1d217885d8a397a16342c0b937ae4aa24b106505f233ae"}, {"document_id": "993786", "title": "Regulamento", "reference_date": "2025-03-20", "version": "1", "page": 35, "clause": "15.1.4", "url": "https://fnet.bmfbovespa.com.br/fnet/publico/visualizarDocumento?id=993786", "sha256": "fd0fdd369a195510d81f81f505195a0b09e5f43522a990afa7d58c4f872921c8"}], "reference": {"path": "history/60010416000112.json", "criterion_id": "debtor", "total_count": 2, "preview_count": 2, "full_text_deferred": true, "sha256": "8e2bd813f4c51cf01f6bfaad164bafe69d2bbb192f753eac92da3a01c2e63046"}}</a:t>
            </a:r>
          </a:p>
          <a:p>
            <a:r>
              <a:t>CNPJ 62696791000193 · Devedor e consignação · Regulamento · ID 1143317 · 2026-03-20 · versão 1 · p. 47 · 10.2 · https://fnet.bmfbovespa.com.br/fnet/publico/visualizarDocumento?id=1143317</a:t>
            </a:r>
          </a:p>
          <a:p>
            <a:r>
              <a:t>CNPJ 62696791000193 · Devedor e consignação · Excerto da fonte:</a:t>
            </a:r>
          </a:p>
          <a:p>
            <a:r>
              <a:t>10.2. As mudanças climáticas podem impactar severamente os ciclos produtivos de commodities  agrícolas, ocasionando, quebras de saf ra, volatilidade de preços, choques de of erta,  deterioração da qualidade dos produtos por elas atingidos, bem como interrupção no  abastecimento destes. Ref eridas mudanças podem af etar adversamente a capacidade  produtiva e de entrega dos produtos agrícolas pelos devedores, cenário este que impactará  negativamente a capacidade de pagamento dos Ativos-Alvo integrantes da carteira da Classe  pelos devedores e, conforme o caso, pelas pessoas devedoras dos bens e direitos onerados  em f avor da Classe.</a:t>
            </a:r>
          </a:p>
          <a:p>
            <a:r>
              <a:t>CNPJ 62696791000193 · Devedor e consignação · Condição: Documentos atuais selecionados no inventário por categoria/escopo; a data documental isolada não comprova vigência jurídica.</a:t>
            </a:r>
          </a:p>
          <a:p>
            <a:r>
              <a:t>CNPJ 62696791000193 · Devedor e consignação · Versão e prevalência: Documentos atuais selecionados no inventário por categoria/escopo; a data documental isolada não comprova vigência jurídica.</a:t>
            </a:r>
          </a:p>
          <a:p>
            <a:r>
              <a:t>CNPJ 55563624000109 · Devedor e consignação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Devedor e consignação · Resumo do histórico: {"count": 1, "dates": ["2026-04-30"], "document_count": 1, "sources": [{"document_id": "1192614", "title": "Regulamento", "reference_date": "2026-04-30", "version": "1", "page": "11-12", "url": "https://fnet.bmfbovespa.com.br/fnet/publico/visualizarDocumento?id=1192614", "sha256": "f56e63ace0acde41d2f47fb48f1ac7f3f7df5e2d32de092d7c5e075a52516632"}], "reference": {"path": "history/55563624000109.json", "criterion_id": "debtor", "total_count": 1, "preview_count": 1, "full_text_deferred": true, "sha256": "7835d573fb58a3c19adf5b8ecc2aee2bdbb9a88f7a0c0209b5f262b64c7522e3"}}</a:t>
            </a:r>
          </a:p>
          <a:p>
            <a:r>
              <a:t>CNPJ 62552447000120 · Devedor e consignação · Regulamento · ID 1200623 · 2026-05-21 · versão 1 · p. 35 · https://fnet.bmfbovespa.com.br/fnet/publico/visualizarDocumento?id=1200623</a:t>
            </a:r>
          </a:p>
          <a:p>
            <a:r>
              <a:t>CNPJ 62552447000120 · Devedor e consignação · Excerto da fonte:</a:t>
            </a:r>
          </a:p>
          <a:p>
            <a:r>
              <a:t>ativos desses emissores, causando perdas à Classe e ao Cotista. Além disso, a f alta de capacidade ou disposição de pagar por qualquer dos emissores dos Ativos Financeiros de Liquidez ou das contrapartes nas transações que compõem a Carteira causará perdas à Classe, e o que também poderá incorrer em custos para f ins de recuperação de seus recebíveis.</a:t>
            </a:r>
          </a:p>
          <a:p>
            <a:r>
              <a:t>(v) Riscos associados aos Devedores: no caso de Devedores no âmbito das operações de consignado privado, a sua capacidade de pagamento poderá ser af etada se, por exemplo, o Devedor tiver o seu contrato de emprego rescindido ou em virtude de decisão judicial, o Devedor for obrigado a pagar alimentos, que têm prioridade sobre o empréstimo para f ins de desconto na f 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 etar a rentabilidade da Classe. Já no caso de Devedores no âmbito das operações de Saque-aniversário, como os Direitos Creditórios a serem endossados à Classe serão descontados pelo FGTS da remuneração do Devedor, na ocorrência de qualquer evento que, nos termos da legislação aplicável, determine o pagamento antecipado do Saque-aniversário ao Devedor, a exemplo do falecimento do Devedor, dentre outros, as parcelas do Saque- aniversário serão pagas antecipadamente e a Classe deverá utilizar tais montantes no pré-pagamento dos Direitos Creditórios. Nesta hipótese, a Classe poderá não encontrar Direitos Creditórios disponíveis para serem adquiridos pela Classe, o que poderá af etar a rentabilidade da Classe.</a:t>
            </a:r>
          </a:p>
          <a:p>
            <a:r>
              <a:t>Risco de liquidez</a:t>
            </a:r>
          </a:p>
          <a:p>
            <a:r>
              <a:t>(i) Risco de liquidez: consiste no risco de redução ou inexistência de demanda pelos ativos que compõem a Classe nos respectivos mercados em que são negociados, devido às condições específicas desses ativos ou aos mercados em que são negociados. Devido a esses riscos, o Gestor poderá encontrar dificuldades em liquidar posições ou negociar esses ativos pelo preço e prazo desejados, de acordo com a estratégia de gestão adotada pela Classe, que permanecerá exposto, durante o período de baixa liquidez, aos riscos associados a esses ativos e posições assumidas em mercados de derivativos, se houver, que poderão até exigir que o Gestor aceite descontos em seus preços para realizar negociações no mercado. Esses f atores poderão prejudicar o pagamento de Amortizações ao Cotista, nos valores e dentro dos termos aqui estabelecidos.</a:t>
            </a:r>
          </a:p>
          <a:p>
            <a:r>
              <a:t>(ii) Riscos do mercado secundário: A Classe é constituída sob a f orma de condomínio fechado, de modo que as Cotas somente serão resgatadas em virtude da liquidação da Classe. Uma vez que o Prazo de Duração da Classe é indeterminado, o Cotista titular das Cotas não terá liquidez em seu investimento na Classe, exceto</a:t>
            </a:r>
          </a:p>
          <a:p>
            <a:r>
              <a:t>(a) por ocasião das Amortizações e dos resgates, nos termos deste Regulamento; (b) por meio da alienação de suas Cotas no mercado secundário; ou (c) na liquidação antecipada do FUNDO ou da Classe.</a:t>
            </a:r>
          </a:p>
          <a:p>
            <a:r>
              <a:t>Além disso, atualmente, o mercado secundário de cotas de fundos de investimento apresenta baixa liquidez, o que pode dificultar a venda das Cotas ou ocasionar a obtenção de um preço de venda que cause perda de patrimônio ao Cotista. Não há qualquer garantia do Administrador, do Gestor, da consultora ou do Custodiante em relação à possibilidade de venda das Cotas no mercado secundário ou ao preço obtido por elas, ou mesmo garantia de saída ao Cotista.</a:t>
            </a:r>
          </a:p>
          <a:p>
            <a:r>
              <a:t>Riscos específicos</a:t>
            </a:r>
          </a:p>
          <a:p>
            <a:r>
              <a:t>(i)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ficar inadimplente e, consequentemente, não haverá repasse à Classe do respectivo Direito Creditório, o que poderá resultar em perdas f inanceiras à Classe e aos Cotistas. Para os f ins deste Regulamento, “Empregador” signif ica a empresa com qual o Devedor mantém vínculo empregatício registrado junto à CTPS.</a:t>
            </a:r>
          </a:p>
          <a:p>
            <a:r>
              <a:t>(ii) Risco do Empregador não efetuar o desconto em folha: o repasse dos recursos oriundos dos Direitos Creditórios à Classe depende da realização, pelo Empregador, da escrituração da Consignação a ser</a:t>
            </a:r>
          </a:p>
          <a:p>
            <a:r>
              <a:t>CNPJ 62552447000120 · Devedor e consignação · Regulamento · ID 1200623 · 2026-05-21 · versão 1 · p. 36 · https://fnet.bmfbovespa.com.br/fnet/publico/visualizarDocumento?id=1200623</a:t>
            </a:r>
          </a:p>
          <a:p>
            <a:r>
              <a:t>CNPJ 62552447000120 · Devedor e consignação · Excerto da fonte:</a:t>
            </a:r>
          </a:p>
          <a:p>
            <a:r>
              <a:t>realizada pelo empregador, junto ao eSocial, após recebimento de notificação comunicando-o da contratação, pelo Devedor, do empréstimo a ser pago por Consignação (“Escrituração”), e do desconto na respectiva folha de pagamento do Devedor. Na hipótese do Empregador deixar de realizar a Escrituração ou os descontos na f olha de pagamento, não haverá repasse de recursos à Classe, podendo causar prejuízos à Classe e aos Cotistas.</a:t>
            </a:r>
          </a:p>
          <a:p>
            <a:r>
              <a:t>(iii) Risco de perda do vínculo empregatício com o Empregador: caso o Devedor perca o vínculo empregatício com o Empregador, não haverá remuneração e f olha de pagamento para realização dos descontos para pagamento dos Direitos Creditórios. Neste caso, não obstante a possibilidade do Agente de Retenção e Cobrança realizar a cobrança ativa dos Direitos Creditórios diretamente do Devedor, a ausência de remuneração poderá deixar o Devedor inadimplente perante a Classe até que o seu vínculo empregatício seja retomado e seja efetuado o procedimento operacional para que a CCB seja aditada e/ou seja realizado o Processo de Reinicialização. Tais situações poderão resultar em prejuízos à Classe e aos Cotistas.</a:t>
            </a:r>
          </a:p>
          <a:p>
            <a:r>
              <a:t>(iv) Risco relativo ao Agente de Retenção e Cobrança: A solvência do Agente de Retenção e Cobrança quanto às suas obrigações financeiras poderá impactar o cumprimento de suas obrigações perante a Classe e, consequentemente, os rendimentos da Classe poderão ser adversamente af etados.</a:t>
            </a:r>
          </a:p>
          <a:p>
            <a:r>
              <a:t>Riscos operacionais</a:t>
            </a:r>
          </a:p>
          <a:p>
            <a:r>
              <a:t>(i) Risco de irregularidade dos Documentos Comprobatórios e/ou Documentos Suporte: o terceiro contratado pelo Gestor, que atuará sob responsabilidade do Gestor, deverá realizar a verif icação da regularidade dos Documentos Comprobatórios. A Carteira poderá conter Direitos Creditórios com documentação irregular, o que poderá impedir que a Classe exerça plenamente as prerrogativas derivadas da titularidade dos Direitos Creditórios.</a:t>
            </a:r>
          </a:p>
          <a:p>
            <a:r>
              <a:t>(ii) Risco operacional da Dataprev e da CEF: o empréstimo contraído pelos Devedores é pago por meio de desconto na f olha de pagamento f eito pela Dataprev e pela CEF, conf orme aplicável. É possível que os rendimentos dos Devedores sejam atrasados ou não pagos devido a questões operacionais envolvendo a Dataprev e/ou a CEF. Nesse caso, a Carteira poderá sofrer, já que não receberá automaticamente, e também poderá ter dificuldades para receber, a qualquer momento, os recursos decorrentes dos Direitos Creditórios.</a:t>
            </a:r>
          </a:p>
          <a:p>
            <a:r>
              <a:t>(iii) Risco operacional do FGTS: o empréstimo contraído pelos Devedores é pago por meio de desconto dos Saques-aniversário feitos pelo FGTS. É possível que os rendimentos dos Devedores sejam atrasados ou não pagos devido a questões operacionais envolvendo a CEF, incluindo, sem se limitar, a erros e atrasos operacionais envolvendo a CEF. Nesse caso, a Carteira poderá sofrer, já que não receberá automaticamente, e também poderá ter dif iculdades para receber, a qualquer momento, os recursos decorrentes dos Direitos Creditórios.</a:t>
            </a:r>
          </a:p>
          <a:p>
            <a:r>
              <a:t>(iv) Risco de validação das informações para conciliação e reconciliação dos Direitos Creditórios adquiridos pela Classe: as inf ormações para conciliação dos pagamentos, sendo considerado como tal, também, o Arquivo Dataprev e o Arquivo de Liquidação Saque-aniversário, listando todos os empregados cujas f olhas de pagamento ou Saques Aniversário serão sujeitos a desconto no mês, nos valores acordados ao ef etuar a Consignação, e qualquer glosa será enviada pela CEF ao Endossante, que efetuará a conciliação e, posteriormente, enviará as informações ao Custodiante. Caso o Endossante não forneça essas informações em tempo hábil ou for verificada qualquer inconsistência nas informações recebidas pelo Custodiante, poderá isso impedir ou dar origem a falhas no processo de reconciliação dos valores depositados na Conta da Classe e causando perdas à Classe e ao Cotista.</a:t>
            </a:r>
          </a:p>
          <a:p>
            <a:r>
              <a:t>(v) Risco operacional dos sistemas: o desconto na f olha de pagamento e/ou nos Saques Aniversário das parcelas da CCB e a transf erência para o Endossante dos Direitos Creditórios serão processados por meio da Plataforma Dataprev, e o Endossante, o Administrador ou o Gestor não têm controle sobre esse processo.</a:t>
            </a:r>
          </a:p>
          <a:p>
            <a:r>
              <a:t>Assim, qualquer falha ou mudança nesse sistema poderá atrasar ou reduzir o desconto dos rendimentos dos Devedores ou sua transferência para a Classe. Nesse caso, a rentabilidade e a propriedade da Classe poderão ser adversamente af etadas enquanto o problema do sistema persistir, ou até que todos os valores sejam devidamente transf eridos.</a:t>
            </a:r>
          </a:p>
          <a:p>
            <a:r>
              <a:t>(vi) Risco operacional: em linha com as Cláusulas 4.3.1 e 4.3.2 do Anexo I deste Regulamento, o</a:t>
            </a:r>
          </a:p>
          <a:p>
            <a:r>
              <a:t>CNPJ 62552447000120 · Devedor e consignação · Regulamento · ID 1200623 · 2026-05-21 · versão 1 · p. 5 · https://fnet.bmfbovespa.com.br/fnet/publico/visualizarDocumento?id=1200623</a:t>
            </a:r>
          </a:p>
          <a:p>
            <a:r>
              <a:t>CNPJ 62552447000120 · Devedor e consignação · Excerto da fonte:</a:t>
            </a:r>
          </a:p>
          <a:p>
            <a:r>
              <a:t>O objetivo da Classe é proporcionar aos seus Cotistas a valorização de  suas Cotas por meio da aplicação de seu Patrimônio Líquido na aquisição  de:</a:t>
            </a:r>
          </a:p>
          <a:p>
            <a:r>
              <a:t> (i) “Direitos Creditórios”, assim entendidos como, em conjunto:</a:t>
            </a:r>
          </a:p>
          <a:p>
            <a:r>
              <a:t> (a) “Direitos Creditórios Consignado Privado”, na forma de  cédulas de crédito bancário, regidas pela Lei n.º 10.931,  de 2 de agosto de 2004, conforme alterada (“CCBs”),  emitidas eletronicamente por Devedores, em f avor do  Endossante, representando um empréstimo pessoal  consignado, de forma que o pagamento ocorra mediante  desconto de cada prestação vincenda da CCB na f olha  de pagamentos do Devedor (“Consignação”);</a:t>
            </a:r>
          </a:p>
          <a:p>
            <a:r>
              <a:t> (b) “Direitos Creditórios FGTS”, na f orma de CCBs  emitidas eletronicamente por Devedores, em f avor do  Objetivo Endossante, representando um empréstimo pessoal com  garantia de cessão f iduciária dos valores a que f azem jus  os Devedores ref erentes ao saque anual permitido aos  benef iciários do Fundo de Garantia do Tempo de Serviço  (“FGTS”) em seu mês de aniversário (“Saque-  aniversário”), regulado pela Lei n.º 8.036, de 11 de maio  de 1990, conforme alterada (“Lei 8.036”), nos termos dos  arts. 20, inciso XX, 20-A, inciso II, e 20-D, § 3º, da Lei</a:t>
            </a:r>
          </a:p>
          <a:p>
            <a:r>
              <a:t> 8.036, do art. 66-B da Lei n.º 4.728, de 14 de julho de  1965, e da Resolução CC/FGTS n.º 958, de 24 de abril  de 2020, conforme alterada (“Resolução FGTS 958”), de  f orma que parte do Saque-aniversário é utilizada para  liquidar as parcelas devidas da CCB;</a:t>
            </a:r>
          </a:p>
          <a:p>
            <a:r>
              <a:t> (c) “Direitos Creditórios TVM”, na f orma de direitos, títulos  e/ou valores mobiliários representativos de créditos  originados no âmbito de operações de sociedades</a:t>
            </a:r>
          </a:p>
          <a:p>
            <a:r>
              <a:t>CNPJ 62552447000120 · Devedor e consignação · Condição: Documentos atuais selecionados no inventário por categoria/escopo; a data documental isolada não comprova vigência jurídica.</a:t>
            </a:r>
          </a:p>
          <a:p>
            <a:r>
              <a:t>CNPJ 62552447000120 · Devedor e consignação · Versão e prevalência: Documentos atuais selecionados no inventário por categoria/escopo; a data documental isolada não comprova vigência jurídica.</a:t>
            </a:r>
          </a:p>
          <a:p>
            <a:r>
              <a:t>CNPJ 63953620000165 · Devedor e consignação · Anexo ao Regulamento · ID 1222863 · 2026-06-02 · versão 1 · p. 1 · 1.1 · https://fnet.bmfbovespa.com.br/fnet/publico/visualizarDocumento?id=1222863</a:t>
            </a:r>
          </a:p>
          <a:p>
            <a:r>
              <a:t>CNPJ 63953620000165 · Devedor e consignação · Excerto da fonte:</a:t>
            </a:r>
          </a:p>
          <a:p>
            <a:r>
              <a:t>1.1 As principais características da Classe Consignado Privado (para fins deste Anexo, “Classe”) estão descritas  abaixo:</a:t>
            </a:r>
          </a:p>
          <a:p>
            <a:r>
              <a:t> Tipo de Condomínio Fechado.</a:t>
            </a:r>
          </a:p>
          <a:p>
            <a:r>
              <a:t> Indeterminado, exceto se de outra forma vier a ser deliberado pelos Cotistas  Prazo de Duração  reunidos em Assembleia Especial de Cotistas. (“Prazo de Duração”)  Tipo “Financeiro”.</a:t>
            </a:r>
          </a:p>
          <a:p>
            <a:r>
              <a:t> Classificação ANBIMA  Foco de atuação “Créditos Consignados”.</a:t>
            </a:r>
          </a:p>
          <a:p>
            <a:r>
              <a:t> O objetivo da classe é proporcionar aos seus Cotistas a valorização de suas Cotas  por meio da aplicação de seu Patrimônio Líquido (conforme definido abaixo) na  aquisição de: (i) “Direitos Creditórios Crédito Consignado”, representados por  cédula de crédito bancário regida pela Lei nº 10.931, emitida eletronicamente por  um devedor em favor do endossante (“CCB”) e, consequentemente, os recebíveis  decorrente de cada uma das parcelas vincendas, representando um empréstimo  consignado concedido pelo endossante ao devedor, e cujo pagamento ordinário  é feito por desconto de cada prestação vincenda de uma CCB na folha de  pagamentos do devedor (“Consignação”), efetuada pela Caixa Econômica  Federal, de acordo com a legislação aplicável e em conformidade com os  procedimentos estabelecidos no convênio celebrado entre o Endossante e a  Empresa de Tecnologia e Informações da Previdência – DATAPREV e paga na  Conta Vinculada do Endossante (“Convênio Consignado Privado”); e/ou (ii)  “Direitos Creditórios TVM”, representados por direitos, títulos e/ou valores  mobiliários representativos de créditos originados no âmbito de operações de  sociedades integrantes do conglomerado econômico de instituições financeiras  classificadas como S1 pelo BACEN, desde que não representem títulos de  emissão ou coobrigação de instituições financeiras, bem como cotas de fundos  de investimento que invistam preponderantemente nestes direitos, títulos e/ou  Objetivo  valores mobiliários (Direitos Creditórios TVM quando referidos em conjunto  com os Direitos Creditórios Consignado Privado, “Direitos Creditórios”)  observados todos os limites de composição e diversificação da carteira da Classe  (“Carteira”), estabelecidos neste Regulamento e na regulamentação aplicável.</a:t>
            </a:r>
          </a:p>
          <a:p>
            <a:r>
              <a:t> Subsidiariamente, a parcela do Patrimônio Líquido que não esteja alocada em  Direitos Creditórios poderá estar alocado em: (1) certificados de depósito  bancário (CDB) ou recibos de depósito bancário (RDB) com prazo máximo de  vencimento equivalente ao prazo remanescente do Período de Investimento, com  liquidez diária, emitidos por Parati Crédito, Financiamento e Investimento S.A.</a:t>
            </a:r>
          </a:p>
          <a:p>
            <a:r>
              <a:t> e/ou pelo Endossante (“Ativos de Liquidez MT”); e/ou (2) (i) moeda corrente  nacional; (ii) títulos do Tesouro SELIC, anteriormente denominado letra financeira  do Tesouro Nacional (LFT); (iii) certificados de depósito bancário (CDB) ou recibos  de depósito bancário (RDB) com prazo máximo de vencimento equivalente ao  prazo remanescente do Período de Investimento, com liquidez diária, emitidos  por (a) Itaú Unibanco S.A.; (b) Banco Bradesco S.A.; (c) Caixa Econômica Federal;</a:t>
            </a:r>
          </a:p>
          <a:p>
            <a:r>
              <a:t> (d) Banco do Brasil S.A.; (e) Banco Santander (Brasil) S.A.; (f) Banco BTG Pactual  S.A.; (g) Banco Sistema S.A. (“Instituições Autorizadas”); (iv) operações  compromissadas, desde que lastreadas nos títulos mencionados nas alíneas (i) a</a:t>
            </a:r>
          </a:p>
          <a:p>
            <a:r>
              <a:t> (iii) acima, emitidas por Instituições Autorizadas, com liquidez diária e vencimento</a:t>
            </a:r>
          </a:p>
          <a:p>
            <a:r>
              <a:t>CNPJ 63953620000165 · Devedor e consignação · Anexo ao Regulamento · ID 1222863 · 2026-06-02 · versão 1 · p. 19 · 12.6 · https://fnet.bmfbovespa.com.br/fnet/publico/visualizarDocumento?id=1222863</a:t>
            </a:r>
          </a:p>
          <a:p>
            <a:r>
              <a:t>CNPJ 63953620000165 · Devedor e consignação · Excerto da fonte:</a:t>
            </a:r>
          </a:p>
          <a:p>
            <a:r>
              <a:t>12.6 A Classe contratou a Tudo Serviços S.A., sociedade anônima, com sede no município de Fortaleza, Estado do Ceará,  na Avenida Senador Virgulo Távora, nº 303, Lojas 02, 03, 04, 05, 06 e 19, Meireles, CEP 60.170-265, inscrita no CNPJ  sob o nº 27.852.506/0001-85, cujos deveres, sem prejuízo daqueles estabelecidos neste Regulamento, no  “Contrato de Serviços de Retenção e Cobrança e Outras Avenças”, celebrado entre o Agente de  Retenção/Cobrança e a Classe (“Contrato de Serviços MT”) e no Contrato de Endosso, consistirão no  monitoramento e cobrança dos Direitos Creditórios Inadimplidos, observado o disposto neste Anexo I e na  regulamentação aplicável (“Agente de Retenção/Cobrança”):</a:t>
            </a:r>
          </a:p>
          <a:p>
            <a:r>
              <a:t> (i) caso aplicável, atuar na retenção (defesa) de operações de empréstimo consignado cujos Direitos  Creditórios sejam de titularidade da Classe, em caso de tentativa de transferência de tais operações de  empréstimo consignado por instituições proponentes, nos termos da Resolução CMN nº 5.057, em razão de  ofertas de portabilidade feitas por tais instituições proponentes, conforme informado pelo Endossante ou pelo  Custodiante ao Agente de Retenção/Cobrança, diariamente, de acordo com o Contrato de Endosso; sendo  que tal serviço deverá incluir, entre outras atividades auxiliares a ele relacionadas, a avaliação das ofertas de  portabilidade feitas pelas instituições proponentes, buscando, se for o caso, esclarecer as vantagens de não  recorrer à portabilidade, retendo a respectiva operação de empréstimo consignado em seus termos atuais;</a:t>
            </a:r>
          </a:p>
          <a:p>
            <a:r>
              <a:t> (ii) mediante inadimplemento de um Direito Creditório devido à indisponibilidade da margem de crédito do  Devedor, auxiliar o Endossante com o Processo de Reinicialização (conforme detalhado no Contrato de  Endosso) em relação ao respectivo Direito Creditório;</a:t>
            </a:r>
          </a:p>
          <a:p>
            <a:r>
              <a:t> (iii) manter e operar um serviço de atendimento ao consumidor - SAC e uma ouvidoria em conformidade  com os regulamentos aplicáveis, monitorar e resolver reclamações e solicitações de Devedores com  relação às operações de empréstimo consignado que dão origem aos Direitos Creditórios, em  conformidade com o Acordo de Parceria;</a:t>
            </a:r>
          </a:p>
          <a:p>
            <a:r>
              <a:t> (iv) realizar a cobrança dos Direitos Creditórios Inadimplidos;</a:t>
            </a:r>
          </a:p>
          <a:p>
            <a:r>
              <a:t> (v) auxiliar o Endossante na correção de qualquer irregularidade relevante identificada com relação à  originação dos Direitos Creditórios;</a:t>
            </a:r>
          </a:p>
          <a:p>
            <a:r>
              <a:t> (vi) realizar a renegociação junto aos Devedores de Direitos Creditórios Inadimplidos e, caso aplicável, celebrar  aditamento à CCB para refletir os novos termos, decorrentes da renegociação  CAPÍTULO 13 – REMUNERAÇÃO DOS PRESTADORES DE SERVIÇOS  0,05% (cinco centésimos por cento) ao ano, apropriada diariamente na base de 252  (duzentos e cinquenta e dois) Dias Úteis, e paga mensalmente até o 5º (quinto) Dia  Útil do mês subsequente ao mês que se refere, incidente sobre o Patrimônio Líquido  da Classe alocado em Direitos Creditórios Consignado Privado e/ou Ativos de  Liquidez MT, observada remuneração mínima mensal de R$ 2.500,00 (dois mil e  quinhentos reais), a ser corrigida anualmente, em janeiro de cada ano, pela variação  Taxa de Administração  positiva do Índice Geral de Preços – Mercado, divulgado pela Fundação Getúlio  Vargas (“Taxa de Administração” e “IGP-M”, respectivamente).</a:t>
            </a:r>
          </a:p>
          <a:p>
            <a:r>
              <a:t> Na hipótese de extinção do IGP-M, não divulgação ou impossibilidade de sua  utilização, será utilizado o Índice Geral de Preços – Disponibilidade Interna,  divulgado pela Fundação Getúlio Vargas, ou, na falta de ambos, pela variação do IPC  – Índice de Preços ao Consumidor, divulgado pela Fundação Instituto de Pesquisas</a:t>
            </a:r>
          </a:p>
          <a:p>
            <a:r>
              <a:t>CNPJ 63953620000165 · Devedor e consignação · Anexo ao Regulamento · ID 1222863 · 2026-06-02 · versão 1 · p. 2 · https://fnet.bmfbovespa.com.br/fnet/publico/visualizarDocumento?id=1222863</a:t>
            </a:r>
          </a:p>
          <a:p>
            <a:r>
              <a:t>CNPJ 63953620000165 · Devedor e consignação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Devedor e consignação · Condição: Documentos atuais selecionados no inventário por categoria/escopo; a data documental isolada não comprova vigência jurídica.</a:t>
            </a:r>
          </a:p>
          <a:p>
            <a:r>
              <a:t>CNPJ 63953620000165 · Devedor e consignação · Versão e prevalência: Documentos atuais selecionados no inventário por categoria/escopo; a data documental isolada não comprova vigência jurídica.</a:t>
            </a:r>
          </a:p>
          <a:p>
            <a:r>
              <a:t>CNPJ 63953620000165 · Devedor e consignação · Resumo do histórico: {"count": 8, "dates": ["2026-04-28", "2026-05-08", "2026-05-15"], "document_count": 3, "sources": [{"document_id": "1327859", "title": "Demonstrações Financeiras - Fusão, cisão e incorporação", "reference_date": "2026-05-15", "version": "1", "page": 22, "url": "https://fnet.bmfbovespa.com.br/fnet/publico/visualizarDocumento?id=1327859", "sha256": "dca1c68babb97f887528c3e2e47596a9c30f507b067981a35655b2f2da9c8054"}, {"document_id": "1298691", "title": "Demonstrações Financeiras - Fusão, cisão e incorporação", "reference_date": "2026-05-08", "version": "1", "page": 22, "url": "https://fnet.bmfbovespa.com.br/fnet/publico/visualizarDocumento?id=1298691", "sha256": "58c570d9b8d4d265330d3db3ea81c435b8e44a6dab4002aa37790652a1ee9819"}, {"document_id": "1282180", "title": "Demonstrações Financeiras - Fusão, cisão e incorporação", "reference_date": "2026-04-28", "version": "1", "page": 22, "url": "https://fnet.bmfbovespa.com.br/fnet/publico/visualizarDocumento?id=1282180", "sha256": "afaaa0e6809be4385e5bdb6c911aac582032c5bdbac3d7750234bf9eaf00438a"}], "reference": {"path": "history/63953620000165.json", "criterion_id": "debtor", "total_count": 8, "preview_count": 3, "full_text_deferred": true, "sha256": "a7b89077f5e21098c2d601c303faabc3ff6b9729f89d8afecdc60fe1404720c1"}}</a:t>
            </a:r>
          </a:p>
          <a:p>
            <a:r>
              <a:t>CNPJ 54871427000194 · Elegibilidade · Regulamento · ID 670691 · 28/04/2024 · versão Regulamento — referência 28/04/2024 · p. 9 · Anexo I, 4.7(i)–(iv) · https://fnet.bmfbovespa.com.br/fnet/publico/visualizarDocumento?id=670691</a:t>
            </a:r>
          </a:p>
          <a:p>
            <a:r>
              <a:t>CNPJ 54871427000194 · Elegibilidade · Excerto da fonte:</a:t>
            </a:r>
          </a:p>
          <a:p>
            <a:r>
              <a:t>4.7 A Classe somente poderá adquirir os Direitos Creditórios que atendam cumulativamente aos seguintes Critérios de Elegibilidade, a serem verif icados e validados pelo GESTOR, de f orma individualizada e integral, previamente à cessão e na respectiva Data de Aquisição, de modo que apenas são passíveis de aquisição pela Classe os Direitos Creditórios que, na Data de Aquisição: (i) CCBs sem qualquer parcela cedida; (ii) CCBs com diferença menor que 60 (sessenta) dias entre a data provável do endosso e a próxima parcela a vencer; (iii) CCBs cujo valor da prestação seja superior a R$ 30,00 (trinta reais); (iv) Idade do Devedor somada ao prazo remanescente da CCB deve ser igual ou inferior a 80 (oitenta) anos; BTG Pactual SAC: 0800 772 28 27 - Ouvidoria: 0800 722 00 48 - btgpactual.com 3</a:t>
            </a:r>
          </a:p>
          <a:p>
            <a:r>
              <a:t>CNPJ 54871427000194 · Elegibilidade · Regulamento · ID 670691 · 28/04/2024 · versão Regulamento — referência 28/04/2024 · p. 10 · Anexo I, 4.7(v)–(xi) · https://fnet.bmfbovespa.com.br/fnet/publico/visualizarDocumento?id=670691</a:t>
            </a:r>
          </a:p>
          <a:p>
            <a:r>
              <a:t>CNPJ 54871427000194 · Elegibilidade · Excerto da fonte:</a:t>
            </a:r>
          </a:p>
          <a:p>
            <a:r>
              <a:t>(v) CCBs que até a Data do Endosso não estejam pendentes de res olução em relação a uma comprovada reclamação do devedor junto ao Banco Central do Brasil ou ao Procon; (vi) CCBs que não sejam originadas por pessoa física condenada por terem submetido trabalhadores a condições análogas à de escravo – denominada “Lista Suja”; (vii) CCBs sem parcela em atraso; (viii) Aquisição de todas as parcelas vincendas das CCBs, não sendo possível a aquisição de fluxo parcial; (ix) CCBs vinculadas ao órgão convenente, desde que o convênio não se encontre na Data de Aquisição em situação de suspensão; (x) Devedores adimplentes junto ao Endossante com relação aos Direitos Creditórios endossados à Classe; CCB cuja amortização ordinária dos valores devidos, nos últimos 60 (sessenta) dias, tenha ocorrido de f orma integral e ordinária. Na primeira tranche de aquisição de Direitos Creditórios pelo Endossatário tal prazo poderá ser reduzido para 30 (trinta) dias nos casos de amortização extraordinária (via boleto) desde que o valor de aquisição dos ref eridos Direitos Creditórios não ultrapasse R$ 30.000,00 (trinta mil reais), exc</a:t>
            </a:r>
          </a:p>
          <a:p>
            <a:r>
              <a:t>CNPJ 54871427000194 · Elegibilidade · Versão e prevalência: Leitura específica das cláusulas indicadas; condições e conflitos preservados. Seleção documental atual não comprova vigência jurídica por data isolada.</a:t>
            </a:r>
          </a:p>
          <a:p>
            <a:r>
              <a:t>CNPJ 54871427000194 · Elegibilidade · Resumo do histórico: {"count": 2, "dates": ["2024-04-19", "2024-04-28"], "document_count": 2, "sources": [{"document_id": "670691", "title": "Regulamento", "reference_date": "2024-04-28", "version": "1", "page": "9-10", "clause": "4.7", "url": "https://fnet.bmfbovespa.com.br/fnet/publico/visualizarDocumento?id=670691", "sha256": "bf16dd7f1a62d5cdbf2e2d54fef81783783f7310fbc99c3a8f00459bdf9d037b"}, {"document_id": "670689", "title": "Regulamento", "reference_date": "2024-04-19", "version": "1", "page": 10, "clause": "4.7.3", "url": "https://fnet.bmfbovespa.com.br/fnet/publico/visualizarDocumento?id=670689", "sha256": "891bc9bc5d87bbc02ec139077a84d2702eb81ea02035fb71d24f5b8366b94a0b"}], "reference": {"path": "history/54871427000194.json", "criterion_id": "eligibility", "total_count": 2, "preview_count": 2, "full_text_deferred": true, "sha256": "35d7cd99be50c7287c9fb675cf4f2e736002315295a225a9efa79c8d9186d874"}}</a:t>
            </a:r>
          </a:p>
          <a:p>
            <a:r>
              <a:t>CNPJ 60010416000112 · Elegibilidade · Regulamento · ID 1051393 · 2025-10-09 · versão 1 · p. 10 · 4.4.5 · https://fnet.bmfbovespa.com.br/fnet/publico/visualizarDocumento?id=1051393</a:t>
            </a:r>
          </a:p>
          <a:p>
            <a:r>
              <a:t>CNPJ 60010416000112 · Elegibilidade · Excerto da fonte:</a:t>
            </a:r>
          </a:p>
          <a:p>
            <a:r>
              <a:t>4.4.5. Caso um Direito Creditório endossado à Classe deixe de atender quaisquer Critérios de  Elegibilidade, quaisquer condições de endosso e/ou quaisquer declarações e garantias referentes  a esse Direito Creditório, conforme previsto no Contrato de Endosso, após seu endosso à Classe,  não haverá coobrigação nem direito de regresso da Classe contra o Endossante, o Administrador,  o Custodiante, o Gestor e/ou o Agente de Retenção/Cobrança, exceto em caso de má-fé, culpa  ou dolo comprovado, hipótese em que a parte que agiu com má-f é, culpa ou dolo comprovado  poderá ser responsabilizada pelas perdas incorridas pela Classe em relação aos respectivos  Direitos Creditórios. Se, entretanto, for constatado que um Direito Creditório endossado à Classe  não estava em conformidade com os Critérios de Elegibilidade, condições de endosso ou com as  declarações e garantias prestadas pelo Endossante no Contrato de Endosso, na respectiva data  de endosso, então o endosso desse Direito Creditório poderá ser objeto de resolução pela Classe.</a:t>
            </a:r>
          </a:p>
          <a:p>
            <a:r>
              <a:t> Nessa hipótese, a Classe terá o direito de resolver o endosso desse Direito Creditório, devolvendo-  o ao Endossante por valor a ser restituído à Classe. Adicionalmente, se f or constatado que um  Direito Creditório endossado à Classe não estava em conf ormidade com as declarações e  garantias prestadas pelo Agente de Retenção/Cobrança no Contrato de Endosso, na respectiva  data de endosso, então a Classe terá o direito de vender esse Direito Creditório ao Agente de  Retenção/Cobrança (opção de venda). A retrovenda ou a venda, conforme o caso, será realizada  de acordo com os termos, condições, formalidades e preços de recompra compulsória e opção de  venda detalhados no Contrato de Endosso.</a:t>
            </a:r>
          </a:p>
          <a:p>
            <a:r>
              <a:t>CNPJ 60010416000112 · Elegibilidade · Regulamento · ID 1051393 · 2025-10-09 · versão 1 · p. 9 · 4.3 · https://fnet.bmfbovespa.com.br/fnet/publico/visualizarDocumento?id=1051393</a:t>
            </a:r>
          </a:p>
          <a:p>
            <a:r>
              <a:t>CNPJ 60010416000112 · Elegibilidade · Excerto da fonte:</a:t>
            </a:r>
          </a:p>
          <a:p>
            <a:r>
              <a:t>4.3 Os Direitos Creditórios deverão contar com Documentos Comprobatórios que evidenciem sua existência,  validade e exequibilidade perante os respectivos Devedores.</a:t>
            </a:r>
          </a:p>
          <a:p>
            <a:r>
              <a:t> Critérios de Elegibilidade</a:t>
            </a:r>
          </a:p>
          <a:p>
            <a:r>
              <a:t>CNPJ 60010416000112 · Elegibilidade · Regulamento · ID 1051393 · 2025-10-09 · versão 1 · p. 9 · 4.4 · https://fnet.bmfbovespa.com.br/fnet/publico/visualizarDocumento?id=1051393</a:t>
            </a:r>
          </a:p>
          <a:p>
            <a:r>
              <a:t>CNPJ 60010416000112 · Elegibilidade · Excerto da fonte:</a:t>
            </a:r>
          </a:p>
          <a:p>
            <a:r>
              <a:t>4.4 A Classe somente poderá adquirir os Direitos Creditórios que atendam, cumulativamente, aos seguintes  Critérios de Elegibilidade, a serem verificados e validados pelo Gestor, de forma individualizada e integral,  previamente ao endosso do Direito Creditório, na respectiva Data de Aquisição:</a:t>
            </a:r>
          </a:p>
          <a:p>
            <a:r>
              <a:t> (i) os Direitos Creditórios deverão decorrer de empréstimo concedido pelo Endossante a um  Devedor, representado por uma CCB, com taxa de juros prefixada e vencimento final anterior  ao vencimento f inal da Classe;</a:t>
            </a:r>
          </a:p>
          <a:p>
            <a:r>
              <a:t>BTG Pactual SAC: 0800 772 28 27 - Ouvidoria: 0800 722 00 48 - btgpactual.com 9</a:t>
            </a:r>
          </a:p>
          <a:p>
            <a:r>
              <a:t>CNPJ 60010416000112 · Elegibilidade · Condição: Documentos atuais selecionados no inventário por categoria/escopo; a data documental isolada não comprova vigência jurídica.</a:t>
            </a:r>
          </a:p>
          <a:p>
            <a:r>
              <a:t>CNPJ 60010416000112 · Elegibilidade · Versão e prevalência: Documentos atuais selecionados no inventário por categoria/escopo; a data documental isolada não comprova vigência jurídica.</a:t>
            </a:r>
          </a:p>
          <a:p>
            <a:r>
              <a:t>CNPJ 60010416000112 · Elegibilidade · Resumo do histórico: {"count": 2, "dates": ["2025-03-20", "2025-10-09"], "document_count": 2, "sources": [{"document_id": "1051393", "title": "Regulamento", "reference_date": "2025-10-09", "version": "1", "page": "9-10", "clause": "4.4(ii)", "url": "https://fnet.bmfbovespa.com.br/fnet/publico/visualizarDocumento?id=1051393", "sha256": "8469d613078ffd5a6c1d217885d8a397a16342c0b937ae4aa24b106505f233ae"}, {"document_id": "993786", "title": "Regulamento", "reference_date": "2025-03-20", "version": "1", "page": 10, "clause": "4.4.5", "url": "https://fnet.bmfbovespa.com.br/fnet/publico/visualizarDocumento?id=993786", "sha256": "fd0fdd369a195510d81f81f505195a0b09e5f43522a990afa7d58c4f872921c8"}], "reference": {"path": "history/60010416000112.json", "criterion_id": "eligibility", "total_count": 2, "preview_count": 2, "full_text_deferred": true, "sha256": "8e2bd813f4c51cf01f6bfaad164bafe69d2bbb192f753eac92da3a01c2e63046"}}</a:t>
            </a:r>
          </a:p>
          <a:p>
            <a:r>
              <a:t>CNPJ 62696791000193 · Elegibilidade · Regulamento · ID 1143317 · 20/03/2026 · versão Regulamento — referência 20/03/2026 · p. 11 · Anexo I, 4.7–4.7.3 · https://fnet.bmfbovespa.com.br/fnet/publico/visualizarDocumento?id=1143317</a:t>
            </a:r>
          </a:p>
          <a:p>
            <a:r>
              <a:t>CNPJ 62696791000193 · Elegibilidade · Excerto da fonte:</a:t>
            </a:r>
          </a:p>
          <a:p>
            <a:r>
              <a:t>4.7 A Classe somente poderá adquirir os Direitos Creditórios do Agronegócio que atendam cumulativamente aos seguintes critérios de elegibilidade, a serem verificados e validados pelo Gestor, por amostragem, previamente à cessão e na respectiva data de aquisição dos Direitos Creditórios do Agronegócio (“Data de Aquisição”), de modo que apenas são passíveis de aquisição pela Classe os Direitos Creditórios do Agronegócio que, na Data de Aquisição (“Critérios de Elegibilidade”): (i) sejam representados em moeda corrente nacional; (ii) a natureza ou característica essencial dos Direitos Creditórios do Agronegócio deverá permitir o seu registro contábil e a sua custódia pelo Custodiante, de acordo com os procedimentos operacionais e contábeis praticados pelo Custodiante, ou seu registro em entidade registradora; (iii) sejam ativos de origem vinculada às cadeias produtivas do agronegócio ; e (iv) sejam representados por direitos e/ou títulos representativos de crédito, com ou sem garantias reais ou pessoais a eles atreladas, incluindo, sem limitação, duplicatas, debêntures, contratos de locação e contratos mercantis de compra e venda de produtos</a:t>
            </a:r>
          </a:p>
          <a:p>
            <a:r>
              <a:t>CNPJ 62696791000193 · Elegibilidade · Versão e prevalência: Leitura específica das cláusulas indicadas; condições e conflitos preservados. Seleção documental atual não comprova vigência jurídica por data isolada.</a:t>
            </a:r>
          </a:p>
          <a:p>
            <a:r>
              <a:t>CNPJ 55563624000109 · Elegibilidade · Regulamento · ID 1192614 · 30/04/2026 · versão Regulamento30/04/2026 · p. 12 · AnexoI4.6–4.8.2 · https://fnet.bmfbovespa.com.br/fnet/publico/visualizarDocumento?id=1192614</a:t>
            </a:r>
          </a:p>
          <a:p>
            <a:r>
              <a:t>CNPJ 55563624000109 · Elegibilidade · Excerto da fonte:</a:t>
            </a:r>
          </a:p>
          <a:p>
            <a:r>
              <a:t>4.6 As Cotas da Classe Investida deverão contar com Documentos Comprobatórios que evidenciem sua existência, validade e exequibilidade. 4.7 As Cotas da Classe Investida serão adquiridas pela Classe por meio: (i) de contratos de aquisição de Cotas da Classe Investida firmados entre a Classe e os respectivos vendedores das Cotas da Classe Investida; (ii) negociação em mercado organizado; e/ou (iii) da subscrição de Cotas da Classe Investida, colocadas de forma privada ou ofertadas publicamente, independentemente do regime de distribuição, observada a Política</a:t>
            </a:r>
          </a:p>
          <a:p>
            <a:r>
              <a:t>CNPJ 55563624000109 · Elegibilidade · Versão e prevalência: Leitura específica das cláusulas indicadas; condições e conflitos preservados. Seleção documental atual não comprova vigência jurídica por data isolada.</a:t>
            </a:r>
          </a:p>
          <a:p>
            <a:r>
              <a:t>CNPJ 55563624000109 · Elegibilidade · Resumo do histórico: {"count": 3, "dates": ["2025-01-31", "2026-01-31", "2026-04-30"], "document_count": 3, "sources": [{"document_id": "1192614", "title": "Regulamento", "reference_date": "2026-04-30", "version": "1", "page": "12", "url": "https://fnet.bmfbovespa.com.br/fnet/publico/visualizarDocumento?id=1192614", "sha256": "f56e63ace0acde41d2f47fb48f1ac7f3f7df5e2d32de092d7c5e075a52516632"}, {"document_id": "1178840", "title": "Demonstrações Financeiras", "reference_date": "2026-01-31", "version": "1", "page": 16, "url": "https://fnet.bmfbovespa.com.br/fnet/publico/visualizarDocumento?id=1178840", "sha256": "c458e98664c5c907ddb5a05a94b120bed4e05295b2bfc420f5ba69af0a229abe"}, {"document_id": "891861", "title": "Demonstrações Financeiras", "reference_date": "2025-01-31", "version": "1", "page": 16, "url": "https://fnet.bmfbovespa.com.br/fnet/publico/visualizarDocumento?id=891861", "sha256": "e9cb9e6ddbe505fe068cfcac33605165a98313489de0d3ce6d4d238263c3f3e7"}], "reference": {"path": "history/55563624000109.json", "criterion_id": "eligibility", "total_count": 3, "preview_count": 3, "full_text_deferred": true, "sha256": "7835d573fb58a3c19adf5b8ecc2aee2bdbb9a88f7a0c0209b5f262b64c7522e3"}}</a:t>
            </a:r>
          </a:p>
          <a:p>
            <a:r>
              <a:t>CNPJ 62552447000120 · Elegibilidade · Regulamento · ID 1200623 · 21/05/2026 · versão Consolidado21/05/2026 aprovado pelo ato1200625 · p. 6 · AnexoI1.2 Critérios(i)(a)–(b) · https://fnet.bmfbovespa.com.br/fnet/publico/visualizarDocumento?id=1200623</a:t>
            </a:r>
          </a:p>
          <a:p>
            <a:r>
              <a:t>CNPJ 62552447000120 · Elegibilidade · Excerto da fonte:</a:t>
            </a:r>
          </a:p>
          <a:p>
            <a:r>
              <a:t>Critérios de Elegibilidade”): (i) com relação a todos os Direitos Creditórios : (a) sejam representados em moeda corrente nacional; Critérios de Elegibilidade (b) a natureza ou característica essencial dos Direitos Creditórios deverá permitir o seu registro contábil e a sua custódia pelo Custodiante, de acordo com os procedimentos operacionais e contábeis praticados</a:t>
            </a:r>
          </a:p>
          <a:p>
            <a:r>
              <a:t>CNPJ 62552447000120 · Elegibilidade · Regulamento · ID 1200623 · 21/05/2026 · versão Consolidado21/05/2026 aprovado pelo ato1200625 · p. 7 · AnexoI1.2 Critérios(i)(c)–(v) · https://fnet.bmfbovespa.com.br/fnet/publico/visualizarDocumento?id=1200623</a:t>
            </a:r>
          </a:p>
          <a:p>
            <a:r>
              <a:t>CNPJ 62552447000120 · Elegibilidade · Excerto da fonte:</a:t>
            </a:r>
          </a:p>
          <a:p>
            <a:r>
              <a:t>(v) com relação aos Direitos Creditórios TVM: (a) representem, a qualquer momento, no máximo 10% (dez por cento) do Patrimônio Líquido. Sem prejuízo dos Critérios de Elegibilidade, a Classe somente poderá adquirir os Direitos Creditórios Ref inanciamento Livre, os Direitos Creditórios Consignado Privado e os Direitos Creditórios FGTS com relação aos quais tenha se verif icado as seguintes Condições de Endosso, na forma prevista na Cláusula 4.7 (“Co</a:t>
            </a:r>
          </a:p>
          <a:p>
            <a:r>
              <a:t>CNPJ 62552447000120 · Elegibilidade · Regulamento · ID 1200623 · 21/05/2026 · versão Consolidado21/05/2026 aprovado pelo ato1200625 · p. 12 · AnexoI4.6 · https://fnet.bmfbovespa.com.br/fnet/publico/visualizarDocumento?id=1200623</a:t>
            </a:r>
          </a:p>
          <a:p>
            <a:r>
              <a:t>CNPJ 62552447000120 · Elegibilidade · Excerto da fonte:</a:t>
            </a:r>
          </a:p>
          <a:p>
            <a:r>
              <a:t>4.6 A Classe somente poderá adquirir os Direitos Creditórios que, na data da sua aquisição (“Data de Aquisição”), atendam a todos os Critérios de Elegibilidade, a serem verif icados e validados pelo Gestor, de f orma individualizada e integral, e não por amostragem. 4.6.1 Para f ins da verificação dos Critérios de Elegibilidade, será considerado o Patrimônio Líquido e o valor dos Direitos Creditórios integrantes da Carteira no Dia Útil imediatamente anterior à Data de Aquisição. 4.6.2 Todos os Documentos Comprobatórios e, com relação a cada Direito Creditório, conforme apli</a:t>
            </a:r>
          </a:p>
          <a:p>
            <a:r>
              <a:t>CNPJ 62552447000120 · Elegibilidade · Versão e prevalência: Leitura específica das cláusulas indicadas; condições e conflitos preservados. Seleção documental atual não comprova vigência jurídica por data isolada.</a:t>
            </a:r>
          </a:p>
          <a:p>
            <a:r>
              <a:t>CNPJ 63953620000165 · Elegibilidade · Anexo ao Regulamento · ID 1222863 · 02/06/2026 · versão AnexoConsignadoPrivado02/06/2026 · p. 6 · 4.10–4.10.3 · https://fnet.bmfbovespa.com.br/fnet/publico/visualizarDocumento?id=1222863</a:t>
            </a:r>
          </a:p>
          <a:p>
            <a:r>
              <a:t>CNPJ 63953620000165 · Elegibilidade · Excerto da fonte:</a:t>
            </a:r>
          </a:p>
          <a:p>
            <a:r>
              <a:t>4.10 A Classe somente poderá adquirir os Direitos Creditórios que atendam cumulativamente aos Critérios de Elegibilidade, a serem verificados e validados pelo Gestor, de forma individualizada e integral, previamente à cessão e na respectiva data de aquisição dos Direitos Creditórios (“Data de Aquisição”), de modo que apenas são passíveis de aquisição pela Classe os Direitos Creditórios que, na Data de Aquisição, atendam a todos os Critérios de Elegibilidade. 4.10.1 Para fins da verificação dos Critérios de Elegibilidade, será considerado o Patrimônio Líquido e o valor dos Direitos Creditórios integrantes</a:t>
            </a:r>
          </a:p>
          <a:p>
            <a:r>
              <a:t>CNPJ 63953620000165 · Elegibilidade · Versão e prevalência: Leitura específica das cláusulas indicadas; condições e conflitos preservados. Seleção documental atual não comprova vigência jurídica por data isolada.</a:t>
            </a:r>
          </a:p>
          <a:p>
            <a:r>
              <a:t>CNPJ 63953620000165 · Elegibilidade · Resumo do histórico: {"count": 8, "dates": ["2026-04-28", "2026-05-08", "2026-05-15"], "document_count": 3, "sources": [{"document_id": "1327859", "title": "Demonstrações Financeiras - Fusão, cisão e incorporação", "reference_date": "2026-05-15", "version": "1", "page": 24, "url": "https://fnet.bmfbovespa.com.br/fnet/publico/visualizarDocumento?id=1327859", "sha256": "dca1c68babb97f887528c3e2e47596a9c30f507b067981a35655b2f2da9c8054"}, {"document_id": "1298691", "title": "Demonstrações Financeiras - Fusão, cisão e incorporação", "reference_date": "2026-05-08", "version": "1", "page": 24, "url": "https://fnet.bmfbovespa.com.br/fnet/publico/visualizarDocumento?id=1298691", "sha256": "58c570d9b8d4d265330d3db3ea81c435b8e44a6dab4002aa37790652a1ee9819"}, {"document_id": "1282180", "title": "Demonstrações Financeiras - Fusão, cisão e incorporação", "reference_date": "2026-04-28", "version": "1", "page": 25, "url": "https://fnet.bmfbovespa.com.br/fnet/publico/visualizarDocumento?id=1282180", "sha256": "afaaa0e6809be4385e5bdb6c911aac582032c5bdbac3d7750234bf9eaf00438a"}], "reference": {"path": "history/63953620000165.json", "criterion_id": "eligibility", "total_count": 8, "preview_count": 3, "full_text_deferred": true, "sha256": "a7b89077f5e21098c2d601c303faabc3ff6b9729f89d8afecdc60fe1404720c1"}}</a:t>
            </a:r>
          </a:p>
          <a:p>
            <a:r>
              <a:t>CNPJ 54871427000194 · Limites por contrato e devedor · Regulamento · ID 670691 · 28/04/2024 · versão Regulamento — referência 28/04/2024 · p. 10 · Anexo I, 4.7, parágrafo anterior ao inciso (xi) e inciso (xi) · https://fnet.bmfbovespa.com.br/fnet/publico/visualizarDocumento?id=670691</a:t>
            </a:r>
          </a:p>
          <a:p>
            <a:r>
              <a:t>CNPJ 54871427000194 · Limites por contrato e devedor · Excerto da fonte:</a:t>
            </a:r>
          </a:p>
          <a:p>
            <a:r>
              <a:t>CCB cuja amortização ordinária dos valores devidos, nos últimos 60 (sessenta) dias, tenha ocorrido de f orma integral e ordinária. Na primeira tranche de aquisição de Direitos Creditórios pelo Endossatário tal prazo poderá ser reduzido para 30 (trinta) dias nos casos de amortização extraordinária (via boleto) desde que o valor de aquisição dos ref eridos Direitos Creditórios não ultrapasse R$ 30.000,00 (trinta mil reais), exclusivamente via consignação em f olha de pagamento ou de benef ício; e (xi) Endosso de todas as CCBs de um mesmo Devedor que não ultrapasse 20% (vinte por cento) do patrimônio líquido da Classe. 4.7.1 Os Documentos Comprobatórios deverão ser disponibilizados pelo respectivo Endossante (a) no prazo de 10 (dez) dias contados da Data de Aquisição dos 50 (cinquenta) casos que sejam solicitados pelo GESTOR, a seu exclusivo critério, (b) a totalidade dos demais Documentos Comprobatórios em f ormato digital em até 90 (noventa) dias a contar da Data de Aquisição, bem como dos Documentos Comprobatórios em formato físico relativos aos Direitos Creditórios que eventualmente estejam inadimplidos em ref erida da</a:t>
            </a:r>
          </a:p>
          <a:p>
            <a:r>
              <a:t>CNPJ 54871427000194 · Limites por contrato e devedor · Condição: R$ 30 mil é teto da exceção de aquisição da primeira tranche; não é teto geral de cada CCB.</a:t>
            </a:r>
          </a:p>
          <a:p>
            <a:r>
              <a:t>CNPJ 54871427000194 · Limites por contrato e devedor · Motivo: Não localizada uma cláusula material para este critério nos textos identificados e processados. A ausência de resultado não comprova inexistência da regra.</a:t>
            </a:r>
          </a:p>
          <a:p>
            <a:r>
              <a:t>CNPJ 54871427000194 · Limites por contrato e devedor · Versão e prevalência: Leitura específica das cláusulas indicadas; condições e conflitos preservados. Seleção documental atual não comprova vigência jurídica por data isolada.</a:t>
            </a:r>
          </a:p>
          <a:p>
            <a:r>
              <a:t>CNPJ 60010416000112 · Limites por contrato e devedor · Regulamento · ID 1051393 · 09/10/2025 · versão Regulamento09/10/2025 · p. 10 · AnexoI4.4(ii), (iv),4.4.1 · https://fnet.bmfbovespa.com.br/fnet/publico/visualizarDocumento?id=1051393</a:t>
            </a:r>
          </a:p>
          <a:p>
            <a:r>
              <a:t>CNPJ 60010416000112 · Limites por contrato e devedor · Excerto da fonte:</a:t>
            </a:r>
          </a:p>
          <a:p>
            <a:r>
              <a:t>R$ 100.000,00 (cem mil reais), observado o disposto no item 4.4.1 abaixo; (iii) o prazo de vencimento das CCB representativas dos Direitos Creditórios deverá ser, no máximo, equivalente ao prazo máximo permitido pelas leis e regulamentações aplicáveis; e (iv) os Direitos Creditórios não poderão ser devidos por Devedores que tenham acima de 64 (sessenta e quatro) anos 11 (onze) meses e 29 (vinte e nove) dias na data de emissão da respectiva CCB. 4.4.1. O limite máximo de exposição da Classe por Devedor estabeleci</a:t>
            </a:r>
          </a:p>
          <a:p>
            <a:r>
              <a:t>CNPJ 60010416000112 · Limites por contrato e devedor · Condição: Prevalência da cláusula específica 4.4.1; limite privado do Contrato não foi presumido.</a:t>
            </a:r>
          </a:p>
          <a:p>
            <a:r>
              <a:t>CNPJ 60010416000112 · Limites por contrato e devedor · Motivo: Não localizada uma cláusula material para este critério nos textos identificados e processados. A ausência de resultado não comprova inexistência da regra.</a:t>
            </a:r>
          </a:p>
          <a:p>
            <a:r>
              <a:t>CNPJ 60010416000112 · Limites por contrato e devedor · Versão e prevalência: Leitura específica das cláusulas indicadas; condições e conflitos preservados. Seleção documental atual não comprova vigência jurídica por data isolada.</a:t>
            </a:r>
          </a:p>
          <a:p>
            <a:r>
              <a:t>CNPJ 62696791000193 · Limites por contrato e devedor · Motivo: Não localizada uma cláusula material para este critério nos textos identificados e processados. A ausência de resultado não comprova inexistência da regra.</a:t>
            </a:r>
          </a:p>
          <a:p>
            <a:r>
              <a:t>CNPJ 55563624000109 · Limites por contrato e devedor · Motivo: Não localizada uma cláusula material para este critério nos textos identificados e processados. A ausência de resultado não comprova inexistência da regra.</a:t>
            </a:r>
          </a:p>
          <a:p>
            <a:r>
              <a:t>CNPJ 62552447000120 · Limites por contrato e devedor · Motivo: Não localizada uma cláusula material para este critério nos textos identificados e processados. A ausência de resultado não comprova inexistência da regra.</a:t>
            </a:r>
          </a:p>
          <a:p>
            <a:r>
              <a:t>CNPJ 63953620000165 · Limites por contrato e devedor · Motivo: Não localizada uma cláusula material para este critério nos textos identificados e processados. A ausência de resultado não comprova inexistência da regra.</a:t>
            </a:r>
          </a:p>
          <a:p>
            <a:r>
              <a:t>CNPJ 54871427000194 · Prazo dos créditos e carência · Motivo: Não localizada uma cláusula material para este critério nos textos identificados e processados. A ausência de resultado não comprova inexistência da regra.</a:t>
            </a:r>
          </a:p>
          <a:p>
            <a:r>
              <a:t>CNPJ 60010416000112 · Prazo dos créditos e carência · Regulamento · ID 1051393 · 2025-10-09 · versão 1 · p. 11 · 4.5 · https://fnet.bmfbovespa.com.br/fnet/publico/visualizarDocumento?id=1051393</a:t>
            </a:r>
          </a:p>
          <a:p>
            <a:r>
              <a:t>CNPJ 60010416000112 · Prazo dos créditos e carência · Excerto da fonte:</a:t>
            </a:r>
          </a:p>
          <a:p>
            <a:r>
              <a:t>4.5 A parcela do Patrimônio Líquido que não estiver alocada em Direitos Creditórios será necessariamente  alocada no seguintes ativos (“Ativos Financeiros de Liquidez”).</a:t>
            </a:r>
          </a:p>
          <a:p>
            <a:r>
              <a:t> (i) moeda corrente nacional;</a:t>
            </a:r>
          </a:p>
          <a:p>
            <a:r>
              <a:t> (ii) títulos do Tesouro SELIC, anteriormente denominado letra f inanceira do Tesouro Nacional  (LFT);</a:t>
            </a:r>
          </a:p>
          <a:p>
            <a:r>
              <a:t> (iii) certif icados de depósito bancário (CDB) ou recibos de depósito bancário (RDB) com prazo  máximo de vencimento equivalente ao prazo remanescente do Período de Investimento, com  liquidez diária, emitidos por Instituições Autorizadas e/ou pelo Endossante, sendo certo que  os certif icados de depósito bancário (CDB) e recibos de depósito bancário (RDB) emitidos  pelo Endossante e integrantes da carteira da Classe não poderão exceder o valor de R$</a:t>
            </a:r>
          </a:p>
          <a:p>
            <a:r>
              <a:t> 25.000.000,00 (vinte e cinco milhões de reais);</a:t>
            </a:r>
          </a:p>
          <a:p>
            <a:r>
              <a:t> (iv) operações compromissadas, desde que lastreadas nos títulos mencionados nas alíneas (i) a</a:t>
            </a:r>
          </a:p>
          <a:p>
            <a:r>
              <a:t> (iii) acima, emitidas por Instituições Autorizadas, com liquidez diária e vencimento inferior a  365 (trezentos e sessenta e cinco) dias; e</a:t>
            </a:r>
          </a:p>
          <a:p>
            <a:r>
              <a:t> (v) cotas de classes de f undos de investimentos de renda f ixa ou indexados à Taxa DI com  liquidez diária, cujas políticas de investimento admitam a alocação de recursos  exclusivamente nos ativos das alíneas (ii) e (iii) acima, incluindo f undos geridos e/ou  administrados pelo Administrador, pelo Custodiante e/ou pelo Gestor.</a:t>
            </a:r>
          </a:p>
          <a:p>
            <a:r>
              <a:t>Limites de Concentração e Vedações para a Composição da Carteira</a:t>
            </a:r>
          </a:p>
          <a:p>
            <a:r>
              <a:t>CNPJ 60010416000112 · Prazo dos créditos e carência · Regulamento · ID 1051393 · 2025-10-09 · versão 1 · p. 10 · https://fnet.bmfbovespa.com.br/fnet/publico/visualizarDocumento?id=1051393</a:t>
            </a:r>
          </a:p>
          <a:p>
            <a:r>
              <a:t>CNPJ 60010416000112 · Prazo dos créditos e carência · Excerto da fonte:</a:t>
            </a:r>
          </a:p>
          <a:p>
            <a:r>
              <a:t>Anexo I ao Regulamento CLASSE ÚNICA DO MT I CONSIGNADO PRIVADO I FUNDO DE INVESTIMENTO EM DIREITOS CREDITÓRIOS RESPONSABILIDADE LIMITADA</a:t>
            </a:r>
          </a:p>
          <a:p>
            <a:r>
              <a:t> (ii) o saldo dos Direitos Creditórios devidos pelo mesmo Devedor à Classe, considerando, pro  forma, o endosso pretendido, não deverá exceder R$ 100.000,00 (cem mil reais), observado  o disposto no item 4.4.1 abaixo;</a:t>
            </a:r>
          </a:p>
          <a:p>
            <a:r>
              <a:t> (iii) o prazo de vencimento das CCB representativas dos Direitos Creditórios deverá ser, no  máximo, equivalente ao prazo máximo permitido pelas leis e regulamentações aplicáveis; e</a:t>
            </a:r>
          </a:p>
          <a:p>
            <a:r>
              <a:t> (iv) os Direitos Creditórios não poderão ser devidos por Devedores que tenham acima de 64  (sessenta e quatro) anos 11 (onze) meses e 29 (vinte e nove) dias na data de emissão da  respectiva CCB.</a:t>
            </a:r>
          </a:p>
          <a:p>
            <a:r>
              <a:t>CNPJ 60010416000112 · Prazo dos créditos e carência · Condição: Documentos atuais selecionados no inventário por categoria/escopo; a data documental isolada não comprova vigência jurídica.</a:t>
            </a:r>
          </a:p>
          <a:p>
            <a:r>
              <a:t>CNPJ 60010416000112 · Prazo dos créditos e carência · Versão e prevalência: Documentos atuais selecionados no inventário por categoria/escopo; a data documental isolada não comprova vigência jurídica.</a:t>
            </a:r>
          </a:p>
          <a:p>
            <a:r>
              <a:t>CNPJ 60010416000112 · Prazo dos créditos e carência · Resumo do histórico: {"count": 1, "dates": ["2025-03-20"], "document_count": 1, "sources": [{"document_id": "993786", "title": "Regulamento", "reference_date": "2025-03-20", "version": "1", "page": 11, "clause": "4.5", "url": "https://fnet.bmfbovespa.com.br/fnet/publico/visualizarDocumento?id=993786", "sha256": "fd0fdd369a195510d81f81f505195a0b09e5f43522a990afa7d58c4f872921c8"}], "reference": {"path": "history/60010416000112.json", "criterion_id": "term", "total_count": 1, "preview_count": 1, "full_text_deferred": true, "sha256": "8e2bd813f4c51cf01f6bfaad164bafe69d2bbb192f753eac92da3a01c2e63046"}}</a:t>
            </a:r>
          </a:p>
          <a:p>
            <a:r>
              <a:t>CNPJ 62696791000193 · Prazo dos créditos e carência · Motivo: Não localizada uma cláusula material para este critério nos textos identificados e processados. A ausência de resultado não comprova inexistência da regra.</a:t>
            </a:r>
          </a:p>
          <a:p>
            <a:r>
              <a:t>CNPJ 55563624000109 · Prazo dos créditos e carência · Motivo: Não localizada uma cláusula material para este critério nos textos identificados e processados. A ausência de resultado não comprova inexistência da regra.</a:t>
            </a:r>
          </a:p>
          <a:p>
            <a:r>
              <a:t>CNPJ 62552447000120 · Prazo dos créditos e carência · Motivo: Não localizada uma cláusula material para este critério nos textos identificados e processados. A ausência de resultado não comprova inexistência da regra.</a:t>
            </a:r>
          </a:p>
          <a:p>
            <a:r>
              <a:t>CNPJ 63953620000165 · Prazo dos créditos e carência · Anexo ao Regulamento · ID 1222863 · 2026-06-02 · versão 1 · p. 2 · https://fnet.bmfbovespa.com.br/fnet/publico/visualizarDocumento?id=1222863</a:t>
            </a:r>
          </a:p>
          <a:p>
            <a:r>
              <a:t>CNPJ 63953620000165 · Prazo dos créditos e carência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Prazo dos créditos e carência · Condição: Documentos atuais selecionados no inventário por categoria/escopo; a data documental isolada não comprova vigência jurídica.</a:t>
            </a:r>
          </a:p>
          <a:p>
            <a:r>
              <a:t>CNPJ 63953620000165 · Prazo dos créditos e carência · Versão e prevalência: Documentos atuais selecionados no inventário por categoria/escopo; a data documental isolada não comprova vigência jurídica.</a:t>
            </a:r>
          </a:p>
          <a:p>
            <a:r>
              <a:t>CNPJ 63953620000165 · Prazo dos créditos e carência · Resumo do histórico: {"count": 8, "dates": ["2026-04-28", "2026-05-08", "2026-05-15"], "document_count": 3, "sources": [{"document_id": "1327859", "title": "Demonstrações Financeiras - Fusão, cisão e incorporação", "reference_date": "2026-05-15", "version": "1", "page": 16, "url": "https://fnet.bmfbovespa.com.br/fnet/publico/visualizarDocumento?id=1327859", "sha256": "dca1c68babb97f887528c3e2e47596a9c30f507b067981a35655b2f2da9c8054"}, {"document_id": "1298691", "title": "Demonstrações Financeiras - Fusão, cisão e incorporação", "reference_date": "2026-05-08", "version": "1", "page": 16, "url": "https://fnet.bmfbovespa.com.br/fnet/publico/visualizarDocumento?id=1298691", "sha256": "58c570d9b8d4d265330d3db3ea81c435b8e44a6dab4002aa37790652a1ee9819"}, {"document_id": "1282180", "title": "Demonstrações Financeiras - Fusão, cisão e incorporação", "reference_date": "2026-04-28", "version": "1", "page": 16, "url": "https://fnet.bmfbovespa.com.br/fnet/publico/visualizarDocumento?id=1282180", "sha256": "afaaa0e6809be4385e5bdb6c911aac582032c5bdbac3d7750234bf9eaf00438a"}], "reference": {"path": "history/63953620000165.json", "criterion_id": "term", "total_count": 8, "preview_count": 3, "full_text_deferred": true, "sha256": "a7b89077f5e21098c2d601c303faabc3ff6b9729f89d8afecdc60fe1404720c1"}}</a:t>
            </a:r>
          </a:p>
          <a:p>
            <a:r>
              <a:t>CNPJ 54871427000194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null, "comparison_required": true, "context_formula": "", "context_value": null, "context_unit": ""}</a:t>
            </a:r>
          </a:p>
          <a:p>
            <a:r>
              <a:t>CNPJ 54871427000194 · Concentração por devedor, cedente e grupo · Regulamento · ID 670691 · 28/04/2024 · versão Regulamento — referência 28/04/2024 · p. 11 · Anexo I, 4.10 e 4.11.2–4.11.4 · https://fnet.bmfbovespa.com.br/fnet/publico/visualizarDocumento?id=670691</a:t>
            </a:r>
          </a:p>
          <a:p>
            <a:r>
              <a:t>CNPJ 54871427000194 · Concentração por devedor, cedente e grupo · Excerto da fonte:</a:t>
            </a:r>
          </a:p>
          <a:p>
            <a:r>
              <a:t>4.10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4.11 A Classe poderá, direta ou indiretamente e, nos termos da legislação aplicável: (i) adquirir Direitos Creditórios que sejam cedidos e/ou originados pelo ADMINISTRADOR e/ou pelo GESTOR, ou partes a eles relacionadas, tal como definidas pelas regras contábeis que tratam desse assunto; e (ii) ceder Direitos Creditórios a qualquer das pessoas, fundos de investimento ou entidades referidas no item (i) acima, desde que (i) o ADMINISTRADOR, GESTOR, a entidade registradora e o CUSTODIANTE de Direitos Creditórios não sejam partes relacionadas entre si; e (ii) a entidade registradora e o</a:t>
            </a:r>
          </a:p>
          <a:p>
            <a:r>
              <a:t>CNPJ 54871427000194 · Concentração por devedor, cedente e grupo · Regulamento · ID 670691 · 28/04/2024 · versão Regulamento — referência 28/04/2024 · p. 10 · Anexo I, 4.7(xi) · https://fnet.bmfbovespa.com.br/fnet/publico/visualizarDocumento?id=670691</a:t>
            </a:r>
          </a:p>
          <a:p>
            <a:r>
              <a:t>CNPJ 54871427000194 · Concentração por devedor, cedente e grupo · Excerto da fonte:</a:t>
            </a:r>
          </a:p>
          <a:p>
            <a:r>
              <a:t>(xi) Endosso de todas as CCBs de um mesmo Devedor que não ultrapasse 20% (vinte por cento) do patrimônio líquido da Classe. 4.7.1 Os Documentos Comprobatórios deverão ser disponibilizados pelo respectivo Endossante (a) no prazo de 10 (dez) dias contados da Data de Aquisição dos 50 (cinquenta) casos que sejam solicitados pelo GESTOR, a seu exclusivo critério, (b) a totalidade dos demais Documentos Comprobatórios em f ormato digital em até 90 (noventa) dias a contar da Data de Aquisição, bem como dos Documentos Comprobatórios em formato físico relativos aos Direitos Creditórios que eventualmente estejam inadimplidos em ref erida data, e (c) a totalidade dos demais Documentos Comprobatórios em f ormato f ísico em até 180 (cento e oitenta) dias a contar da Data de Aquisição, sujeito à resolução do respectivo endosso, de acordo com os termos do Contrato de Endosso. 4.7.2 Caso um Direito Creditório cedido à Classe deixe de atender quaisquer Critérios de Elegibilidade e/ou quaisquer declarações e garantias ref erentes a esse Direito Creditório, conf orme previsto no respectivo Contrato de Endosso, após seu endosso à</a:t>
            </a:r>
          </a:p>
          <a:p>
            <a:r>
              <a:t>CNPJ 54871427000194 · Concentração por devedor, cedente e grupo · Condição: Na aquisição, o critério específico de 20% restringe o permissivo geral de 100%. Uma concentração observada no IME exige base e devedor identificados.</a:t>
            </a:r>
          </a:p>
          <a:p>
            <a:r>
              <a:t>CNPJ 54871427000194 · Concentração por devedor, cedente e grupo · Versão e prevalência: Leitura específica das cláusulas indicadas; condições e conflitos preservados. Seleção documental atual não comprova vigência jurídica por data isolada.</a:t>
            </a:r>
          </a:p>
          <a:p>
            <a:r>
              <a:t>CNPJ 54871427000194 · Concentração por devedor, cedente e grupo · Resumo do histórico: {"count": 2, "dates": ["2024-04-19", "2024-04-28"], "document_count": 2, "sources": [{"document_id": "670691", "title": "Regulamento", "reference_date": "2024-04-28", "version": "1", "page": "10-11", "url": "https://fnet.bmfbovespa.com.br/fnet/publico/visualizarDocumento?id=670691", "sha256": "bf16dd7f1a62d5cdbf2e2d54fef81783783f7310fbc99c3a8f00459bdf9d037b"}, {"document_id": "670689", "title": "Regulamento", "reference_date": "2024-04-19", "version": "1", "page": 11, "clause": "4.10", "url": "https://fnet.bmfbovespa.com.br/fnet/publico/visualizarDocumento?id=670689", "sha256": "891bc9bc5d87bbc02ec139077a84d2702eb81ea02035fb71d24f5b8366b94a0b"}], "reference": {"path": "history/54871427000194.json", "criterion_id": "concentration", "total_count": 2, "preview_count": 2, "full_text_deferred": true, "sha256": "35d7cd99be50c7287c9fb675cf4f2e736002315295a225a9efa79c8d9186d874"}}</a:t>
            </a:r>
          </a:p>
          <a:p>
            <a:r>
              <a:t>CNPJ 60010416000112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null, "comparison_required": true, "context_formula": "", "context_value": null, "context_unit": ""}</a:t>
            </a:r>
          </a:p>
          <a:p>
            <a:r>
              <a:t>CNPJ 60010416000112 · Concentração por devedor, cedente e grupo · Regulamento · ID 1051393 · 09/10/2025 · versão Regulamento09/10/2025 · p. 11 · AnexoI4.4.9(iv),4.5(iii) · https://fnet.bmfbovespa.com.br/fnet/publico/visualizarDocumento?id=1051393</a:t>
            </a:r>
          </a:p>
          <a:p>
            <a:r>
              <a:t>CNPJ 60010416000112 · Concentração por devedor, cedente e grupo · Excerto da fonte:</a:t>
            </a:r>
          </a:p>
          <a:p>
            <a:r>
              <a:t>3,00% (três por cento) do Patrimônio Líquido da Classe. Ativos Financeiros de Liquidez 4.5 A parcela do Patrimônio Líquido que não estiver alocada em Direitos Creditórios será necessariamente alocada no seguintes ativos (“Ativos Financeiros de Liquidez”). (i) moeda corrente nacional; (ii) títulos do Tesouro SELIC, anteriormente denominado letra f inanceira do Tesouro Nacional (LFT); (iii) certif icados de depósito bancário (CDB) ou recibos de depósito bancário (RDB) com prazo máximo de vencimento equivalente ao prazo remanescente</a:t>
            </a:r>
          </a:p>
          <a:p>
            <a:r>
              <a:t>CNPJ 60010416000112 · Concentração por devedor, cedente e grupo · Regulamento · ID 1051393 · 09/10/2025 · versão Regulamento09/10/2025 · p. 12 · AnexoI4.7–4.8 · https://fnet.bmfbovespa.com.br/fnet/publico/visualizarDocumento?id=1051393</a:t>
            </a:r>
          </a:p>
          <a:p>
            <a:r>
              <a:t>CNPJ 60010416000112 · Concentração por devedor, cedente e grupo · Excerto da fonte:</a:t>
            </a:r>
          </a:p>
          <a:p>
            <a:r>
              <a:t>4.7 A Classe deverá observar, ainda, os limites de concentração definidos na Política de Crédito, que integra o Contrato de Endosso como Anexo 3.2(v). 4.8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a:t>
            </a:r>
          </a:p>
          <a:p>
            <a:r>
              <a:t>CNPJ 60010416000112 · Concentração por devedor, cedente e grupo · Versão e prevalência: Leitura específica das cláusulas indicadas; condições e conflitos preservados. Seleção documental atual não comprova vigência jurídica por data isolada.</a:t>
            </a:r>
          </a:p>
          <a:p>
            <a:r>
              <a:t>CNPJ 60010416000112 · Concentração por devedor, cedente e grupo · Resumo do histórico: {"count": 2, "dates": ["2025-03-20", "2025-10-09"], "document_count": 2, "sources": [{"document_id": "1051393", "title": "Regulamento", "reference_date": "2025-10-09", "version": "1", "page": "11-12", "url": "https://fnet.bmfbovespa.com.br/fnet/publico/visualizarDocumento?id=1051393", "sha256": "8469d613078ffd5a6c1d217885d8a397a16342c0b937ae4aa24b106505f233ae"}, {"document_id": "993786", "title": "Regulamento", "reference_date": "2025-03-20", "version": "1", "page": 12, "clause": "4.8", "url": "https://fnet.bmfbovespa.com.br/fnet/publico/visualizarDocumento?id=993786", "sha256": "fd0fdd369a195510d81f81f505195a0b09e5f43522a990afa7d58c4f872921c8"}], "reference": {"path": "history/60010416000112.json", "criterion_id": "concentration", "total_count": 2, "preview_count": 2, "full_text_deferred": true, "sha256": "8e2bd813f4c51cf01f6bfaad164bafe69d2bbb192f753eac92da3a01c2e63046"}}</a:t>
            </a:r>
          </a:p>
          <a:p>
            <a:r>
              <a:t>CNPJ 62696791000193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null, "comparison_required": true, "context_formula": "", "context_value": null, "context_unit": ""}</a:t>
            </a:r>
          </a:p>
          <a:p>
            <a:r>
              <a:t>CNPJ 62696791000193 · Concentração por devedor, cedente e grupo · Regulamento · ID 1143317 · 20/03/2026 · versão Regulamento — referência 20/03/2026 · p. 11 · Anexo I, 4.8–4.9 · https://fnet.bmfbovespa.com.br/fnet/publico/visualizarDocumento?id=1143317</a:t>
            </a:r>
          </a:p>
          <a:p>
            <a:r>
              <a:t>CNPJ 62696791000193 · Concentração por devedor, cedente e grupo · Excerto da fonte:</a:t>
            </a:r>
          </a:p>
          <a:p>
            <a:r>
              <a:t>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relacionadas ao Gestor. 4.8.1 As aplicações em Direitos Creditórios do Agronegócio decorrentes de receitas públicas originárias ou derivadas da União, dos Estados, do Distrito Federal e dos Municípios ou de suas autarquias e f undações, assim como em Direitos Creditórios do Agronegócio cedidos ou originados por empresas controladas pelo poder público, não estão submetidas ao limite de concentração por emissor previsto no caput. 4.9 Nos termos do Art. 45 do Anexo</a:t>
            </a:r>
          </a:p>
          <a:p>
            <a:r>
              <a:t>CNPJ 62696791000193 · Concentração por devedor, cedente e grupo · Regulamento · ID 1143317 · 20/03/2026 · versão Regulamento — referência 20/03/2026 · p. 12 · Anexo I, 4.10(i)–(ix) · https://fnet.bmfbovespa.com.br/fnet/publico/visualizarDocumento?id=1143317</a:t>
            </a:r>
          </a:p>
          <a:p>
            <a:r>
              <a:t>CNPJ 62696791000193 · Concentração por devedor, cedente e grupo · Excerto da fonte:</a:t>
            </a:r>
          </a:p>
          <a:p>
            <a:r>
              <a:t>4.10 Sem prejuízo de limites mais restritivos definidos neste Anexo, o Gestor deverá observar, ainda, os seguintes limites de concentração: (i) A Classe poderá, direta ou indiretamente, ter até 100% (cem por cento) do Patrimônio Líquido representado por Direitos Creditórios do Agronegócio originados ou cedidos pelo Administrador, Gestor e/ou suas partes relacionadas, tal como definidas pelas regras contábeis que tratam desse assunto, desde que (a) o Gest or, a entidade registradora e o Custodiante dos Direitos Creditórios do Agronegócio não sejam partes relacionadas entre si; e (b) a entidade registradora e o Custodiante dos Direitos Creditórios do Agronegócio não sejam partes relacionadas ao originador ou Cedente. (ii) No máximo, 100% (cem por cento) do Patrimônio Líquido investido em Ativos Financeiros de Liquidez de emissão ou que envolvam retenção de risco por parte do Administrador, Gestor, e/ou suas partes relacionadas, observado ainda o disposto no item Error! Reference source not found.;</a:t>
            </a:r>
          </a:p>
          <a:p>
            <a:r>
              <a:t>CNPJ 62696791000193 · Concentração por devedor, cedente e grupo · Condição: Liquidez/derivativos relacionados também têm permissivos de 100%, mas remissões internas aparecem como “Error! Reference source not found.”.</a:t>
            </a:r>
          </a:p>
          <a:p>
            <a:r>
              <a:t>CNPJ 62696791000193 · Concentração por devedor, cedente e grupo · Versão e prevalência: Leitura específica das cláusulas indicadas; condições e conflitos preservados. Seleção documental atual não comprova vigência jurídica por data isolada.</a:t>
            </a:r>
          </a:p>
          <a:p>
            <a:r>
              <a:t>CNPJ 55563624000109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null, "comparison_required": true, "context_formula": "", "context_value": null, "context_unit": ""}</a:t>
            </a:r>
          </a:p>
          <a:p>
            <a:r>
              <a:t>CNPJ 55563624000109 · Concentração por devedor, cedente e grupo · Regulamento · ID 1192614 · 30/04/2026 · versão Regulamento30/04/2026 · p. 13 · AnexoI4.11–4.12.1 · https://fnet.bmfbovespa.com.br/fnet/publico/visualizarDocumento?id=1192614</a:t>
            </a:r>
          </a:p>
          <a:p>
            <a:r>
              <a:t>CNPJ 55563624000109 · Concentração por devedor, cedente e grupo · Excerto da fonte:</a:t>
            </a:r>
          </a:p>
          <a:p>
            <a:r>
              <a:t>4.11 Nos termos dos artigos 45, parágrafo 7º, e 47 parágrafo único do Anexo Normativo II à Resolução CVM 175, uma vez que as Cotas são destinadas exclusivamente a Investidores Profissionais, a Classe poderá ter até 100% (cem por cento) de seu Patrimônio Líquido alocado em Cotas da Classe Investida, as quais são emitidas pela Classe Investida. 4.12 A Classe poderá, direta ou indiretamente (i) adquirir Cotas da Classe Investida que sejam administrados pelo ADMINISTRADOR, e geridos ou cogeridos pelo GESTOR, ou partes a eles relacionadas, tal como definidas pelas</a:t>
            </a:r>
          </a:p>
          <a:p>
            <a:r>
              <a:t>CNPJ 55563624000109 · Concentração por devedor, cedente e grupo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Concentração por devedor, cedente e grupo · Versão e prevalência: Leitura específica das cláusulas indicadas; condições e conflitos preservados. Seleção documental atual não comprova vigência jurídica por data isolada.</a:t>
            </a:r>
          </a:p>
          <a:p>
            <a:r>
              <a:t>CNPJ 55563624000109 · Concentração por devedor, cedente e grupo · Resumo do histórico: {"count": 1, "dates": ["2026-04-30"], "document_count": 1, "sources": [{"document_id": "1192614", "title": "Regulamento", "reference_date": "2026-04-30", "version": "1", "page": "11-12", "url": "https://fnet.bmfbovespa.com.br/fnet/publico/visualizarDocumento?id=1192614", "sha256": "f56e63ace0acde41d2f47fb48f1ac7f3f7df5e2d32de092d7c5e075a52516632"}], "reference": {"path": "history/55563624000109.json", "criterion_id": "concentration", "total_count": 1, "preview_count": 1, "full_text_deferred": true, "sha256": "7835d573fb58a3c19adf5b8ecc2aee2bdbb9a88f7a0c0209b5f262b64c7522e3"}}</a:t>
            </a:r>
          </a:p>
          <a:p>
            <a:r>
              <a:t>CNPJ 62552447000120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null, "comparison_required": true, "context_formula": "", "context_value": null, "context_unit": ""}</a:t>
            </a:r>
          </a:p>
          <a:p>
            <a:r>
              <a:t>CNPJ 62552447000120 · Concentração por devedor, cedente e grupo · Regulamento · ID 1200623 · 21/05/2026 · versão Consolidado21/05/2026 aprovado pelo ato1200625 · p. 14 · AnexoI4.10–4.13 · https://fnet.bmfbovespa.com.br/fnet/publico/visualizarDocumento?id=1200623</a:t>
            </a:r>
          </a:p>
          <a:p>
            <a:r>
              <a:t>CNPJ 62552447000120 · Concentração por devedor, cedente e grupo · Excerto da fonte:</a:t>
            </a:r>
          </a:p>
          <a:p>
            <a:r>
              <a:t>4.10 Nos termos do art. 45, §7º, inciso II, do Anexo Normativo II, a Classe poderá ter até 100% (cem por cento) de seu Patrimônio Líquido alocado em Direitos Creditórios, derivativos, observado o disposto abaixo,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4.10.1 O uso de derivativos está restr</a:t>
            </a:r>
          </a:p>
          <a:p>
            <a:r>
              <a:t>CNPJ 62552447000120 · Concentração por devedor, cedente e grupo · Condição: Regulamento permite concentração ampla; TVM têm limite específico 10% PL na elegibilidade.</a:t>
            </a:r>
          </a:p>
          <a:p>
            <a:r>
              <a:t>CNPJ 62552447000120 · Concentração por devedor, cedente e grupo · Versão e prevalência: Leitura específica das cláusulas indicadas; condições e conflitos preservados. Seleção documental atual não comprova vigência jurídica por data isolada.</a:t>
            </a:r>
          </a:p>
          <a:p>
            <a:r>
              <a:t>CNPJ 63953620000165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null, "comparison_required": true, "context_formula": "", "context_value": null, "context_unit": ""}</a:t>
            </a:r>
          </a:p>
          <a:p>
            <a:r>
              <a:t>CNPJ 63953620000165 · Concentração por devedor, cedente e grupo · Anexo ao Regulamento · ID 1222863 · 02/06/2026 · versão AnexoConsignadoPrivado02/06/2026 · p. 6 · 4.14 · https://fnet.bmfbovespa.com.br/fnet/publico/visualizarDocumento?id=1222863</a:t>
            </a:r>
          </a:p>
          <a:p>
            <a:r>
              <a:t>CNPJ 63953620000165 · Concentração por devedor, cedente e grupo · Excerto da fonte:</a:t>
            </a:r>
          </a:p>
          <a:p>
            <a:r>
              <a:t>4.14 Nos termos do Art. 45, §7º, inciso II, do Anexo Normativo II da Resolução CVM 175, a Classe poderá ter até 100% (cem por cento) de seu Patrimônio Líquido alocado em Direitos Creditórios, derivativos, observado o disposto neste Anexo I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4.15 Sem prejuízo de limites</a:t>
            </a:r>
          </a:p>
          <a:p>
            <a:r>
              <a:t>CNPJ 63953620000165 · Concentração por devedor, cedente e grupo · Anexo ao Regulamento · ID 1222863 · 02/06/2026 · versão AnexoConsignadoPrivado02/06/2026 · p. 7 · 4.15(i)–(v) · https://fnet.bmfbovespa.com.br/fnet/publico/visualizarDocumento?id=1222863</a:t>
            </a:r>
          </a:p>
          <a:p>
            <a:r>
              <a:t>CNPJ 63953620000165 · Concentração por devedor, cedente e grupo · Excerto da fonte:</a:t>
            </a:r>
          </a:p>
          <a:p>
            <a:r>
              <a:t>(i)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CNPJ 63953620000165 · Concentração por devedor, cedente e grupo · Versão e prevalência: Leitura específica das cláusulas indicadas; condições e conflitos preservados. Seleção documental atual não comprova vigência jurídica por data isolada.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Recebíveis e aquisição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Natureza dos recebíveis · Regulamento · ID 670691 · 28/04/2024 · versão Regulamento — referência 28/04/2024 · p. 9 · Anexo I, 4.2–4.2.1 · https://fnet.bmfbovespa.com.br/fnet/publico/visualizarDocumento?id=670691</a:t>
            </a:r>
          </a:p>
          <a:p>
            <a:r>
              <a:t>CNPJ 54871427000194 · Natureza dos recebíveis · Excerto da fonte:</a:t>
            </a:r>
          </a:p>
          <a:p>
            <a:r>
              <a:t>4.2 Os Direitos Creditórios representados por Certif icados de Cédulas de Crédito Bancário (“CCCBs”), representativos de um agrupamento de determinadas CCBs, originadas no âmbito de operações de empréstimos pessoais concedidos por um Endossante a um Devedor, devidamente f ormalizadas por via eletrônica de acordo com a legislação aplicável, segundo os critérios de composição e diversificação estabelecidos pela regulamentação aplicável e neste Regulamento. 4.2.1 Cada Endossante deve ter celebrado convênio com órgão consignante, previamente à cessão de Direitos Creditórios à Classe, que contemplam a obrigação da manutenção da consignação/averbação junto ao novo órgão, de modo a possibilitar o pagamento dos Direitos Creditórios por meio de consignação em f olha de pagamento ou de benef ício . 4.3 Os pagamentos relativos aos Direitos Creditórios de titularidade da Classe serão realizados mediante consignação em folha, débito em conta de titularidade dos Devedores e pagamentos de sinistros, para pagamento dos valores correspondentes às parcelas das CCBs representadas pelos CCCBs de titularidade da Classe, os quais serão conciliados e repassados pelo Endossan</a:t>
            </a:r>
          </a:p>
          <a:p>
            <a:r>
              <a:t>CNPJ 54871427000194 · Natureza dos recebíveis · Versão e prevalência: Leitura específica das cláusulas indicadas; condições e conflitos preservados. Seleção documental atual não comprova vigência jurídica por data isolada.</a:t>
            </a:r>
          </a:p>
          <a:p>
            <a:r>
              <a:t>CNPJ 54871427000194 · Natureza dos recebíveis · Resumo do histórico: {"count": 3, "dates": ["2024-04-19", "2024-04-28"], "document_count": 2, "sources": [{"document_id": "670691", "title": "Regulamento", "reference_date": "2024-04-28", "version": "1", "page": "9, 38-39", "url": "https://fnet.bmfbovespa.com.br/fnet/publico/visualizarDocumento?id=670691", "sha256": "bf16dd7f1a62d5cdbf2e2d54fef81783783f7310fbc99c3a8f00459bdf9d037b"}, {"document_id": "670691", "title": "Regulamento", "reference_date": "2024-04-28", "version": "1", "page": 34, "clause": "15.1.5", "url": "https://fnet.bmfbovespa.com.br/fnet/publico/visualizarDocumento?id=670691", "sha256": "bf16dd7f1a62d5cdbf2e2d54fef81783783f7310fbc99c3a8f00459bdf9d037b"}, {"document_id": "670689", "title": "Regulamento", "reference_date": "2024-04-19", "version": "1", "page": 35, "clause": "15.1.5", "url": "https://fnet.bmfbovespa.com.br/fnet/publico/visualizarDocumento?id=670689", "sha256": "891bc9bc5d87bbc02ec139077a84d2702eb81ea02035fb71d24f5b8366b94a0b"}], "reference": {"path": "history/54871427000194.json", "criterion_id": "receivables", "total_count": 3, "preview_count": 3, "full_text_deferred": true, "sha256": "35d7cd99be50c7287c9fb675cf4f2e736002315295a225a9efa79c8d9186d874"}}</a:t>
            </a:r>
          </a:p>
          <a:p>
            <a:r>
              <a:t>CNPJ 60010416000112 · Natureza dos recebíveis · Regulamento · ID 1051393 · 09/10/2025 · versão Regulamento09/10/2025 · p. 9 · AnexoI4.2 · https://fnet.bmfbovespa.com.br/fnet/publico/visualizarDocumento?id=1051393</a:t>
            </a:r>
          </a:p>
          <a:p>
            <a:r>
              <a:t>CNPJ 60010416000112 · Natureza dos recebíveis · Excerto da fonte:</a:t>
            </a:r>
          </a:p>
          <a:p>
            <a:r>
              <a:t>4.2 Os Direitos Creditórios são originados no âmbito de operações de empréstimo consignado concedido pelo Endossante a um Devedor por meio da Plataforma MT e representado por CCB, devidamente formalizada por via eletrônica, de acordo com a legislação aplicável, observada a Política de Crédito constante do Contrato de Endosso. O Endossante celebrou o Convênio Consignado Privado previamente ao endosso de Direitos Creditórios Elegíveis à Classe, para que, após a averbação dos Direitos Creditórios na Dataprev, o pagamento regular dos Direitos Creditórios decorrentes das CCB seja f eito por Consignação</a:t>
            </a:r>
          </a:p>
          <a:p>
            <a:r>
              <a:t>CNPJ 60010416000112 · Natureza dos recebíveis · Versão e prevalência: Leitura específica das cláusulas indicadas; condições e conflitos preservados. Seleção documental atual não comprova vigência jurídica por data isolada.</a:t>
            </a:r>
          </a:p>
          <a:p>
            <a:r>
              <a:t>CNPJ 60010416000112 · Natureza dos recebíveis · Resumo do histórico: {"count": 2, "dates": ["2025-03-20", "2025-10-09"], "document_count": 2, "sources": [{"document_id": "1051393", "title": "Regulamento", "reference_date": "2025-10-09", "version": "1", "page": "9-11", "url": "https://fnet.bmfbovespa.com.br/fnet/publico/visualizarDocumento?id=1051393", "sha256": "8469d613078ffd5a6c1d217885d8a397a16342c0b937ae4aa24b106505f233ae"}, {"document_id": "993786", "title": "Regulamento", "reference_date": "2025-03-20", "version": "1", "page": 30, "clause": "12.5.1", "url": "https://fnet.bmfbovespa.com.br/fnet/publico/visualizarDocumento?id=993786", "sha256": "fd0fdd369a195510d81f81f505195a0b09e5f43522a990afa7d58c4f872921c8"}], "reference": {"path": "history/60010416000112.json", "criterion_id": "receivables", "total_count": 2, "preview_count": 2, "full_text_deferred": true, "sha256": "8e2bd813f4c51cf01f6bfaad164bafe69d2bbb192f753eac92da3a01c2e63046"}}</a:t>
            </a:r>
          </a:p>
          <a:p>
            <a:r>
              <a:t>CNPJ 62696791000193 · Natureza dos recebíveis · Regulamento · ID 1143317 · 20/03/2026 · versão Regulamento — referência 20/03/2026 · p. 6 · Anexo I, 1.1, Objetivo · https://fnet.bmfbovespa.com.br/fnet/publico/visualizarDocumento?id=1143317</a:t>
            </a:r>
          </a:p>
          <a:p>
            <a:r>
              <a:t>CNPJ 62696791000193 · Natureza dos recebíveis · Excerto da fonte:</a:t>
            </a:r>
          </a:p>
          <a:p>
            <a:r>
              <a:t>A Classe tem por objetivo proporcionar aos Cotistas a valorização e a rentabilidade de suas cotas (“Cotas”), conforme a política de investimentos def inida no Capítulo IV abaixo (“Política de Investimentos”), por meio de aplicação do seu Patrimônio Líquido (conforme def inido abaixo) nos seguintes ativos de origem vinculada às cadeias produtivas do agronegócio (“Direitos Creditórios do Agronegócio”): (i) títulos de crédito emitidos por pessoas naturais e jurídicas que integrem as cadeias produtivas do agronegócio; (ii) direitos creditórios do agronegócio; (iii) certificados de recebíveis do agronegócio e outros títulos de securitização emitidos com lastro em direitos creditórios do agronegócio; e (iv) certificados de recebíveis e outro</a:t>
            </a:r>
          </a:p>
          <a:p>
            <a:r>
              <a:t>CNPJ 62696791000193 · Natureza dos recebíveis · Regulamento · ID 1143317 · 20/03/2026 · versão Regulamento — referência 20/03/2026 · p. 7 · Anexo I, 1.1, Objetivo · https://fnet.bmfbovespa.com.br/fnet/publico/visualizarDocumento?id=1143317</a:t>
            </a:r>
          </a:p>
          <a:p>
            <a:r>
              <a:t>CNPJ 62696791000193 · Natureza dos recebíveis · Excerto da fonte:</a:t>
            </a:r>
          </a:p>
          <a:p>
            <a:r>
              <a:t>(i) participações em sociedades que explorem atividades integrantes das cadeias produtivas do agronegócio. (C) Categoria “Financeiro” (“Ativos Financeiros do Agronegócio Financeiros”): (i) ativos f inanceiros e valores mobiliários emitidos por pessoas naturais e jurídicas que integrem as cadeias produtivas do agronegócio. (D) Categoria “Geral” (“Ativos em Geral do Agronegócio”): (i) cotas de classes que apliquem mais de 50% (cinquenta por cento) de seu patrimônio líquido nos ativos referidos nos incisos “A” a “D” acima, o que inclui cotas de outros FIAGRO, mas não se limita a essa categoria de f undos. Os Ativos Imobiliários do Agronegócio, Participações do Agronegócio,</a:t>
            </a:r>
          </a:p>
          <a:p>
            <a:r>
              <a:t>CNPJ 62696791000193 · Natureza dos recebíveis · Versão e prevalência: Leitura específica das cláusulas indicadas; condições e conflitos preservados. Seleção documental atual não comprova vigência jurídica por data isolada.</a:t>
            </a:r>
          </a:p>
          <a:p>
            <a:r>
              <a:t>CNPJ 55563624000109 · Natureza dos recebíveis · Regulamento · ID 1192614 · 30/04/2026 · versão Regulamento30/04/2026 · p. 11 · AnexoI4.1 · https://fnet.bmfbovespa.com.br/fnet/publico/visualizarDocumento?id=1192614</a:t>
            </a:r>
          </a:p>
          <a:p>
            <a:r>
              <a:t>CNPJ 55563624000109 · Natureza dos recebíveis · Excerto da fonte:</a:t>
            </a:r>
          </a:p>
          <a:p>
            <a:r>
              <a:t>4.1 Observados os demais termos deste Anexo, o objetivo da Classe é investir seus recursos em (i) cotas subordinadas mezanino de emissão da classe única do MERCADO CRÉDITO II BRASIL FUNDO DE INVESTIMENTO EM DIREITOS CREDITÓRIOS NÃO PADRONIZADOS, fundo de investimento em direitos creditórios inscrito no CNPJ sob o nº 41.970.012/0001-26 (“Cotas da Classe Investida” e “Classe Investida”, respectivamente), a qual, por sua vez, aplica seus recursos preponderantemente em direitos creditórios originados pela Mercado Pago, de acordo com os termos e condições est</a:t>
            </a:r>
          </a:p>
          <a:p>
            <a:r>
              <a:t>CNPJ 55563624000109 · Natureza dos recebíveis · Regulamento · ID 1192614 · 30/04/2026 · versão Regulamento30/04/2026 · p. 12 · AnexoI4.5 · https://fnet.bmfbovespa.com.br/fnet/publico/visualizarDocumento?id=1192614</a:t>
            </a:r>
          </a:p>
          <a:p>
            <a:r>
              <a:t>CNPJ 55563624000109 · Natureza dos recebíveis · Excerto da fonte:</a:t>
            </a:r>
          </a:p>
          <a:p>
            <a:r>
              <a:t>4.5 Uma vez que o investimento nas Cotas da Classe Investida não corresponde a um investimento direto em direitos creditórios, uma série de disposições comuns à securitização de direitos creditórios não será aplicável ao investimento nas Cotas da Classe Investida. A título meramente exemplificativo, não existem processos de originação ou política de concessão de crédito adotada pelo GESTOR, tampouco há que se falar em verificação ou guarda de documentos comprobatórios que não sejam referentes às Cotas da Classe Investida. Da mesma forma, não há necessida</a:t>
            </a:r>
          </a:p>
          <a:p>
            <a:r>
              <a:t>CNPJ 55563624000109 · Natureza dos recebíveis · Versão e prevalência: Leitura específica das cláusulas indicadas; condições e conflitos preservados. Seleção documental atual não comprova vigência jurídica por data isolada.</a:t>
            </a:r>
          </a:p>
          <a:p>
            <a:r>
              <a:t>CNPJ 55563624000109 · Natureza dos recebíveis · Resumo do histórico: {"count": 4, "dates": ["2025-01-31", "2026-01-31", "2026-04-30"], "document_count": 3, "sources": [{"document_id": "1192614", "title": "Regulamento", "reference_date": "2026-04-30", "version": "1", "page": "11", "url": "https://fnet.bmfbovespa.com.br/fnet/publico/visualizarDocumento?id=1192614", "sha256": "f56e63ace0acde41d2f47fb48f1ac7f3f7df5e2d32de092d7c5e075a52516632"}, {"document_id": "1178840", "title": "Demonstrações Financeiras", "reference_date": "2026-01-31", "version": "1", "page": 16, "url": "https://fnet.bmfbovespa.com.br/fnet/publico/visualizarDocumento?id=1178840", "sha256": "c458e98664c5c907ddb5a05a94b120bed4e05295b2bfc420f5ba69af0a229abe"}, {"document_id": "891861", "title": "Demonstrações Financeiras", "reference_date": "2025-01-31", "version": "1", "page": 16, "url": "https://fnet.bmfbovespa.com.br/fnet/publico/visualizarDocumento?id=891861", "sha256": "e9cb9e6ddbe505fe068cfcac33605165a98313489de0d3ce6d4d238263c3f3e7"}], "reference": {"path": "history/55563624000109.json", "criterion_id": "receivables", "total_count": 4, "preview_count": 3, "full_text_deferred": true, "sha256": "7835d573fb58a3c19adf5b8ecc2aee2bdbb9a88f7a0c0209b5f262b64c7522e3"}}</a:t>
            </a:r>
          </a:p>
          <a:p>
            <a:r>
              <a:t>CNPJ 62552447000120 · Natureza dos recebíveis · Regulamento · ID 1200623 · 21/05/2026 · versão Consolidado21/05/2026 aprovado pelo ato1200625 · p. 11 · AnexoI4.2–4.3 · https://fnet.bmfbovespa.com.br/fnet/publico/visualizarDocumento?id=1200623</a:t>
            </a:r>
          </a:p>
          <a:p>
            <a:r>
              <a:t>CNPJ 62552447000120 · Natureza dos recebíveis · Excerto da fonte:</a:t>
            </a:r>
          </a:p>
          <a:p>
            <a:r>
              <a:t>4.2 Os Direitos Creditórios Consignado Privado e os Direitos Creditórios FGTS são originados no âmbito de CCBs emitidas eletronicamente pelos Devedores ao Endossante, representando, respectivamente, empréstimos consignados, com desconto em f olha de pagamento, e empréstimos pessoais, com garantia de cessão f iduciária do Saque-aniversário. 4.3 A operacionalização é f eita por meio da plataforma eletrônica mantida pelo Originador e utilizada por ele em relação ao processamento e monitoramento das operações de crédito (“Plataforma VR”), de acordo com a legislação aplicável, observada a política de crédit</a:t>
            </a:r>
          </a:p>
          <a:p>
            <a:r>
              <a:t>CNPJ 62552447000120 · Natureza dos recebíveis · Regulamento · ID 1200623 · 21/05/2026 · versão Consolidado21/05/2026 aprovado pelo ato1200625 · p. 6 · AnexoI1.2 Direitos Creditórios(d) · https://fnet.bmfbovespa.com.br/fnet/publico/visualizarDocumento?id=1200623</a:t>
            </a:r>
          </a:p>
          <a:p>
            <a:r>
              <a:t>CNPJ 62552447000120 · Natureza dos recebíveis · Excerto da fonte:</a:t>
            </a:r>
          </a:p>
          <a:p>
            <a:r>
              <a:t>Refinanciamento Livre”, na forma de CCBs originadas no âmbito de um refinanciamento, de acordo com a política de cobrança vigente, de Direitos Creditórios Consignado Privado e de Direitos Creditórios FGTS, que não contem com o lastro de Consignação ou de cessão f iduciária do Saque-Aniversário, respectivamente; e (ii) “Ativos Financei</a:t>
            </a:r>
          </a:p>
          <a:p>
            <a:r>
              <a:t>CNPJ 62552447000120 · Natureza dos recebíveis · Condição: Direitos de refinanciamento livre têm mecanismo de pagamento diferente do consignado/FGTS original.</a:t>
            </a:r>
          </a:p>
          <a:p>
            <a:r>
              <a:t>CNPJ 62552447000120 · Natureza dos recebíveis · Versão e prevalência: Leitura específica das cláusulas indicadas; condições e conflitos preservados. Seleção documental atual não comprova vigência jurídica por data isolada.</a:t>
            </a:r>
          </a:p>
          <a:p>
            <a:r>
              <a:t>CNPJ 63953620000165 · Natureza dos recebíveis · Anexo ao Regulamento · ID 1222863 · 02/06/2026 · versão AnexoConsignadoPrivado02/06/2026 · p. 5 · 4.4 · https://fnet.bmfbovespa.com.br/fnet/publico/visualizarDocumento?id=1222863</a:t>
            </a:r>
          </a:p>
          <a:p>
            <a:r>
              <a:t>CNPJ 63953620000165 · Natureza dos recebíveis · Excerto da fonte:</a:t>
            </a:r>
          </a:p>
          <a:p>
            <a:r>
              <a:t>4.4 Os Direitos Creditórios Consignado Privado são originados no âmbito de operações de empréstimo consignado concedido pelo Endossante a um Devedor por meio da plataforma eletrônica mantida pelo Agente de Retenção/ Cobrança e utilizada por ele em relação ao processamento e monitoramento das operações de crédito consignado (“Plataforma MT”) e representado por CCB, devidamente formalizada por via eletrônica, de acordo com a legislação aplicável, observada a política de crédito constante do Contrato de Endosso. O Endossante celebrou o Convênio Consignado Privado previamente ao endosso de Direitos Creditórios Elegíveis à Clas</a:t>
            </a:r>
          </a:p>
          <a:p>
            <a:r>
              <a:t>CNPJ 63953620000165 · Natureza dos recebíveis · Anexo ao Regulamento · ID 1222863 · 02/06/2026 · versão AnexoConsignadoPrivado02/06/2026 · p. 1 · 1.1Objetivo · https://fnet.bmfbovespa.com.br/fnet/publico/visualizarDocumento?id=1222863</a:t>
            </a:r>
          </a:p>
          <a:p>
            <a:r>
              <a:t>CNPJ 63953620000165 · Natureza dos recebíveis · Excerto da fonte:</a:t>
            </a:r>
          </a:p>
          <a:p>
            <a:r>
              <a:t>Direitos Creditórios Crédito Consignado”, representados por cédula de crédito bancário regida pela Lei nº 10.931, emitida eletronicamente por um devedor em favor do endossante (“CCB”) e, consequentemente, os recebíveis decorrente de cada uma das parcelas vincendas, representando um empréstimo consignado concedido pelo endossante ao devedor, e cujo pagamento ordinário é feito por desconto de cada prestação vincenda de uma CCB na folha de</a:t>
            </a:r>
          </a:p>
          <a:p>
            <a:r>
              <a:t>CNPJ 63953620000165 · Natureza dos recebíveis · Versão e prevalência: Leitura específica das cláusulas indicadas; condições e conflitos preservados. Seleção documental atual não comprova vigência jurídica por data isolada.</a:t>
            </a:r>
          </a:p>
          <a:p>
            <a:r>
              <a:t>CNPJ 63953620000165 · Natureza dos recebíveis · Resumo do histórico: {"count": 8, "dates": ["2026-04-28", "2026-05-08", "2026-05-15"], "document_count": 3, "sources": [{"document_id": "1327859", "title": "Demonstrações Financeiras - Fusão, cisão e incorporação", "reference_date": "2026-05-15", "version": "1", "page": 21, "url": "https://fnet.bmfbovespa.com.br/fnet/publico/visualizarDocumento?id=1327859", "sha256": "dca1c68babb97f887528c3e2e47596a9c30f507b067981a35655b2f2da9c8054"}, {"document_id": "1298691", "title": "Demonstrações Financeiras - Fusão, cisão e incorporação", "reference_date": "2026-05-08", "version": "1", "page": 24, "url": "https://fnet.bmfbovespa.com.br/fnet/publico/visualizarDocumento?id=1298691", "sha256": "58c570d9b8d4d265330d3db3ea81c435b8e44a6dab4002aa37790652a1ee9819"}, {"document_id": "1282180", "title": "Demonstrações Financeiras - Fusão, cisão e incorporação", "reference_date": "2026-04-28", "version": "1", "page": 24, "url": "https://fnet.bmfbovespa.com.br/fnet/publico/visualizarDocumento?id=1282180", "sha256": "afaaa0e6809be4385e5bdb6c911aac582032c5bdbac3d7750234bf9eaf00438a"}], "reference": {"path": "history/63953620000165.json", "criterion_id": "receivables", "total_count": 8, "preview_count": 3, "full_text_deferred": true, "sha256": "a7b89077f5e21098c2d601c303faabc3ff6b9729f89d8afecdc60fe1404720c1"}}</a:t>
            </a:r>
          </a:p>
          <a:p>
            <a:r>
              <a:t>CNPJ 54871427000194 · Originador e endossante · Regulamento · ID 670691 · 2024-04-28 · versão 1 · p. 11 · 4.11.2 · https://fnet.bmfbovespa.com.br/fnet/publico/visualizarDocumento?id=670691</a:t>
            </a:r>
          </a:p>
          <a:p>
            <a:r>
              <a:t>CNPJ 54871427000194 · Originador e endossante · Excerto da fonte:</a:t>
            </a:r>
          </a:p>
          <a:p>
            <a:r>
              <a:t>4.11.2 A Classe poderá ter até 100% (cem por cento) do Patrimônio Líquido representado por Direitos  Creditórios originados ou cedidos por um mesmo Endossante e/ou originados por um mesmo  Originador.</a:t>
            </a:r>
          </a:p>
          <a:p>
            <a:r>
              <a:t>CNPJ 54871427000194 · Originador e endossante · Regulamento · ID 670691 · 2024-04-28 · versão 1 · p. 13 · 4.17 · https://fnet.bmfbovespa.com.br/fnet/publico/visualizarDocumento?id=670691</a:t>
            </a:r>
          </a:p>
          <a:p>
            <a:r>
              <a:t>CNPJ 54871427000194 · Originador e endossante · Excerto da fonte:</a:t>
            </a:r>
          </a:p>
          <a:p>
            <a:r>
              <a:t>4.17 É vedada qualquer forma de antecipação de recursos aos Endossantes para posterior reembolso pela  Classe, seja pelo ADMINISTRADOR, GESTOR, CUSTODIANTE, consultora ou Originadores.</a:t>
            </a:r>
          </a:p>
          <a:p>
            <a:r>
              <a:t>CNPJ 54871427000194 · Originador e endossante · Regulamento · ID 670691 · 2024-04-28 · versão 1 · p. 34 · 15.1.5 · https://fnet.bmfbovespa.com.br/fnet/publico/visualizarDocumento?id=670691</a:t>
            </a:r>
          </a:p>
          <a:p>
            <a:r>
              <a:t>CNPJ 54871427000194 · Originador e endossante · Excerto da fonte:</a:t>
            </a:r>
          </a:p>
          <a:p>
            <a:r>
              <a:t>15.1.5 Outros Riscos:</a:t>
            </a:r>
          </a:p>
          <a:p>
            <a:r>
              <a:t> (i) Cobrança judicial ou extrajudicial dos Direitos Creditórios. No caso de os  Devedores inadimplirem as obrigações dos pagamentos dos Direitos Creditórios de titularidade  da Classe, poderá haver cobrança judicial e/ou extrajudicial dos valores devidos. Neste caso,  além da Classe incorrer em maiores custos relacionados à cobrança dos Direitos Creditórios  Inadimplidos, nada garante que ref eridas cobranças atingirão os resultados almejados, qual  seja, a recuperação do valor integral dos Direitos Creditórios Inadimplidos. Nesta hipótese, a  rentabilidade da Classe será af etada negativamente.</a:t>
            </a:r>
          </a:p>
          <a:p>
            <a:r>
              <a:t> (ii) Dif iculdade de obtenção de indenização ou recompra de Direitos Creditórios.</a:t>
            </a:r>
          </a:p>
          <a:p>
            <a:r>
              <a:t> Considerando a possibilidade de aquisição de Direitos Creditórios de terceiros — isso é  Endossantes que, por sua vez, adquiram os Direitos Creditórios de forma secundária, por meio  da cessão ou endosso realizado por credores anteriores da CCB — caso ocorram situações  que ensejem em recompra de tais Direitos Creditórios e/ou indenização, a Classe poderá ter  dif iculdades adicionais em obter tais indenizações e/ou recompras, na medida em que o direito  a tais indenizações e/ou recompras não está previsto em cada CCB, mas em contratos e  instrumentos dos quais a Classe não é originalmente parte, o que poderá causar perdas à  Classe e, consequentemente, aos Cotistas.</a:t>
            </a:r>
          </a:p>
          <a:p>
            <a:r>
              <a:t> (iii) Risco de concentração. O risco da aplicação na Classe possui forte correlação  com a concentração da Carteira, sendo que, quanto maior f or a concentração da Carteira,  maior será a chance de a Classe sofrer perda patrimonial significativa que afete negativamente  a rentabilidade das Cotas. A Classe não possui limite de concentração por Devedor ou  originador dos Direitos Creditórios, exceto por aqueles previstos na Resolução CVM  175, razão pela qual a Classe poderá estar exposto a significativa concentração por  Devedor. Não é possível garantir que os limites de concentração contidos na Política de  Investimentos, ainda que atendidos, serão suficientes que o Patrimônio Líquido não sofra  perdas que possam af etar a rentabilidade das Cotas.</a:t>
            </a:r>
          </a:p>
          <a:p>
            <a:r>
              <a:t> (iv) Possibilidade de conflito de interesses entre a Classe e os Originadores. Os  Originadores podem possuir relacionamento comercial com os Endossantes e/ou Devedores,  de modo que, em determinadas circunstâncias seus interesses podem ser conflitantes com os  interesses da Classe. Não é possível garantir que, materializada uma situação de conflito de  interesses conforme descrita acima, o Originador exponha-a adequadamente ao  ADMINISTRADOR e/ou aos Cotistas, ou que o f aça absolutamente, tampouco que agirá no  melhor no interesse da Classe. Nesses casos, a Classe pode vir a adquirir Direitos Creditórios  ou pode vir a ter seus Direitos Creditórios Inadimplidos pagos em condições comparativamente  menos vantajosas àquelas que seriam verificadas na ausência de tais conflitos de interesses.</a:t>
            </a:r>
          </a:p>
          <a:p>
            <a:r>
              <a:t> Nesses casos, o Patrimônio Líquido pode ser af etado adversamente.</a:t>
            </a:r>
          </a:p>
          <a:p>
            <a:r>
              <a:t> (v) Possibilidade de conflito de interesses entre Cotistas. As Cotas poderão ser  adquiridas por investidores que sejam sociedades coligadas, controladas ou controladoras,</a:t>
            </a:r>
          </a:p>
          <a:p>
            <a:r>
              <a:t>CNPJ 54871427000194 · Originador e endossante · Condição: Documentos atuais selecionados no inventário por categoria/escopo; a data documental isolada não comprova vigência jurídica.</a:t>
            </a:r>
          </a:p>
          <a:p>
            <a:r>
              <a:t>CNPJ 54871427000194 · Originador e endossante · Versão e prevalência: Documentos atuais selecionados no inventário por categoria/escopo; a data documental isolada não comprova vigência jurídica.</a:t>
            </a:r>
          </a:p>
          <a:p>
            <a:r>
              <a:t>CNPJ 54871427000194 · Originador e endossante · Resumo do histórico: {"count": 2, "dates": ["2024-04-19", "2024-04-28"], "document_count": 2, "sources": [{"document_id": "670691", "title": "Regulamento", "reference_date": "2024-04-28", "version": "1", "page": "9, 39", "url": "https://fnet.bmfbovespa.com.br/fnet/publico/visualizarDocumento?id=670691", "sha256": "bf16dd7f1a62d5cdbf2e2d54fef81783783f7310fbc99c3a8f00459bdf9d037b"}, {"document_id": "670689", "title": "Regulamento", "reference_date": "2024-04-19", "version": "1", "page": 9, "clause": "4.5", "url": "https://fnet.bmfbovespa.com.br/fnet/publico/visualizarDocumento?id=670689", "sha256": "891bc9bc5d87bbc02ec139077a84d2702eb81ea02035fb71d24f5b8366b94a0b"}], "reference": {"path": "history/54871427000194.json", "criterion_id": "originator", "total_count": 2, "preview_count": 2, "full_text_deferred": true, "sha256": "35d7cd99be50c7287c9fb675cf4f2e736002315295a225a9efa79c8d9186d874"}}</a:t>
            </a:r>
          </a:p>
          <a:p>
            <a:r>
              <a:t>CNPJ 60010416000112 · Originador e endossante · Regulamento · ID 1051393 · 09/10/2025 · versão Regulamento09/10/2025 · p. 44 · Glossário, Endossante · https://fnet.bmfbovespa.com.br/fnet/publico/visualizarDocumento?id=1051393</a:t>
            </a:r>
          </a:p>
          <a:p>
            <a:r>
              <a:t>CNPJ 60010416000112 · Originador e endossante · Excerto da fonte:</a:t>
            </a:r>
          </a:p>
          <a:p>
            <a:r>
              <a:t>“Endossante”: a Parati Crédito, Financiamento e Investimento S.A., instituição financeira constituída na forma de uma sociedade por ações, com sede na cidade de Vitória, estado do Espírito Santo, na Avenida Nossa Senhora da Penha, 699, torre A, conjuntos 404 a 407, Santa Lúcia, CEP 29.056-250, inscrita no CNPJ sob nº 03.311.443/0001-91; "Entidade Registradora": instituição autorizada pelo BACEN para realizar as atividades de registro e constituição, alteração e desconstituição de ônus e gravames sobre ativos f inanceiros registrados; “Escrituração”: significa a escrituração da Consignação a ser realizada pelo Empregador, junto ao eSocial, após recebimento de notif icação comunicando-o da contratação, pelo Devedor, do empréstimo a ser pago por Consignação; “Eventos de Avaliação”: os eventos de avaliação descritos no item 10.1 deste Anexo; “Eventos de Liquidação”: os eventos de liquidação descritos no item 10.3 deste Anexo; BTG Pactual SAC: 0800 772 28 27 - Ouvidoria: 0800 722 00 48 - btgpactual.com 44</a:t>
            </a:r>
          </a:p>
          <a:p>
            <a:r>
              <a:t>CNPJ 60010416000112 · Originador e endossante · Regulamento · ID 1051393 · 09/10/2025 · versão Regulamento09/10/2025 · p. 41 · Glossário, Agente de Retenção/Cobrança · https://fnet.bmfbovespa.com.br/fnet/publico/visualizarDocumento?id=1051393</a:t>
            </a:r>
          </a:p>
          <a:p>
            <a:r>
              <a:t>CNPJ 60010416000112 · Originador e endossante · Excerto da fonte:</a:t>
            </a:r>
          </a:p>
          <a:p>
            <a:r>
              <a:t>“Agente de Retenção/Cobrança”: significa a Tudo Serviços S.A., sociedade por ações com sede na Cidade de Eusébio, Estado do Ceará, na Comendador Ari Freitas, 577, CEP 61.760-000, inscrita no CNPJ sob nº 27.852.506/0001-85; “Agente Escriturador”: O Administrador, o qual se encontra devidamente habilitado pela CVM para prestar os serviços de escrituração das Cotas, ou seu sucessor a qualquer título; “Amortização”: signif ica cada uma das amortizações ordinárias de Cotas; “Amortização Extraordinária”: amortização extraordinária das Cotas Seniores, conforme deliberado pela Assembleia Especial de Cotistas, para reestabelecer o Índice de Subordinação, nos termos do item 5.5.1 do Anexo I; "ANBIMA": Associação Brasileira das Entidades dos Mercados Financeiro e de Capitais; "Código ANBIMA": Código ANBIMA de Regulação e Melhores Práticas para Administração de Recursos de Terceiros “Anexos”: tem o signif icado atribuído no Art. 3, inciso IV, da Resolução CVM 175, Parte Geral; “Apêndice”: cada um dos apêndices que integram este Anexo, descritivos de cada Subclasse de Cotas ou de aspectos aplicáveis à Classe; "Arquivos Dataprev": Arquivo de Consignações fornecido mensalmente pela Dataprev ao Endossante, contendo a totalidade das operações pend</a:t>
            </a:r>
          </a:p>
          <a:p>
            <a:r>
              <a:t>CNPJ 60010416000112 · Originador e endossante · Regulamento · ID 1051393 · 09/10/2025 · versão Regulamento09/10/2025 · p. 28 · AnexoI11.23 · https://fnet.bmfbovespa.com.br/fnet/publico/visualizarDocumento?id=1051393</a:t>
            </a:r>
          </a:p>
          <a:p>
            <a:r>
              <a:t>CNPJ 60010416000112 · Originador e endossante · Excerto da fonte:</a:t>
            </a:r>
          </a:p>
          <a:p>
            <a:r>
              <a:t>Tudo Serviços S.A., sociedade anônima, com sede no município de Eusébio, Estado do Ceará, na Comendador Ari Freitas, 577, CEP 61.760-000, inscrita no CNPJ sob o nº 27.852.506/0001-85, cujos deveres, sem prejuízo daqueles estabelecidos neste Regulamento, no Contrato de Serviços MT e no Contrato de Endosso, consistirão no monitoramento e cobrança dos Direitos Creditórios Inadimplidos, observado o disposto neste Anexo I e na regulamentação aplicável: (i) caso aplicável, atuar na retenção (defesa) de operações de empréstimo consignado cujos Direitos Creditórios sejam de titularidade da Classe, em caso d</a:t>
            </a:r>
          </a:p>
          <a:p>
            <a:r>
              <a:t>CNPJ 60010416000112 · Originador e endossante · Versão e prevalência: Leitura específica das cláusulas indicadas; condições e conflitos preservados. Seleção documental atual não comprova vigência jurídica por data isolada.</a:t>
            </a:r>
          </a:p>
          <a:p>
            <a:r>
              <a:t>CNPJ 60010416000112 · Originador e endossante · Resumo do histórico: {"count": 2, "dates": ["2025-03-20", "2025-10-09"], "document_count": 2, "sources": [{"document_id": "1051393", "title": "Regulamento", "reference_date": "2025-10-09", "version": "1", "page": "41-43", "url": "https://fnet.bmfbovespa.com.br/fnet/publico/visualizarDocumento?id=1051393", "sha256": "8469d613078ffd5a6c1d217885d8a397a16342c0b937ae4aa24b106505f233ae"}, {"document_id": "993786", "title": "Regulamento", "reference_date": "2025-03-20", "version": "1", "page": 25, "clause": "11.8", "url": "https://fnet.bmfbovespa.com.br/fnet/publico/visualizarDocumento?id=993786", "sha256": "fd0fdd369a195510d81f81f505195a0b09e5f43522a990afa7d58c4f872921c8"}], "reference": {"path": "history/60010416000112.json", "criterion_id": "originator", "total_count": 2, "preview_count": 2, "full_text_deferred": true, "sha256": "8e2bd813f4c51cf01f6bfaad164bafe69d2bbb192f753eac92da3a01c2e63046"}}</a:t>
            </a:r>
          </a:p>
          <a:p>
            <a:r>
              <a:t>CNPJ 62696791000193 · Originador e endossante · Regulamento · ID 1143317 · 20/03/2026 · versão Regulamento — referência 20/03/2026 · p. 10 · Anexo I, 4.4 e 4.6 · https://fnet.bmfbovespa.com.br/fnet/publico/visualizarDocumento?id=1143317</a:t>
            </a:r>
          </a:p>
          <a:p>
            <a:r>
              <a:t>CNPJ 62696791000193 · Originador e endossante · Excerto da fonte:</a:t>
            </a:r>
          </a:p>
          <a:p>
            <a:r>
              <a:t>4.4 Tendo em vista (i) a natureza variada dos Direitos Creditórios do Agronegócio passíveis de aquisição pela Classe; (ii) a amplitude da Política de Investimentos; e (iii) a potencial diversificação de Cedentes/Endossantes e Devedores, não é possível precisar os processos de origem dos Direitos Creditórios do Agronegócio e as políticas de concessão de crédito adotadas pelos Cedentes/Endossantes. 4.5 Os Direitos Creditórios do Agronegócio deverão contar com toda a documentação necessária para o exercício das prerrogativas decorrentes da titularidade dos ativos, e capaz de comprovar a origem, a existência e a exigibilidade dos Direitos Creditórios do Agronegócio (“Documentos Comprobatórios”) que evidenciem sua existência, validade e exequibilidade perante os respectivos Devedores. 4.5.1 Os Direitos Creditórios do Agronegócio serão adquiridos pela Classe por meio: (i) de contratos de cessão e/ou termos de cessão (“Contratos de Cessão”), contratos de promessa de endosso e/ou termos de endosso (“Contratos de Endosso”) firmados entre a Classe e os respectivos cedentes (“Cedentes”) / endossantes (“Endossantes”), acompanhados de todos os direitos, pri</a:t>
            </a:r>
          </a:p>
          <a:p>
            <a:r>
              <a:t>CNPJ 62696791000193 · Originador e endossante · Condição: A afirmação descreve um mandato amplo; não identifica contrapartes efetivamente presentes no IME.</a:t>
            </a:r>
          </a:p>
          <a:p>
            <a:r>
              <a:t>CNPJ 62696791000193 · Originador e endossante · Versão e prevalência: Leitura específica das cláusulas indicadas; condições e conflitos preservados. Seleção documental atual não comprova vigência jurídica por data isolada.</a:t>
            </a:r>
          </a:p>
          <a:p>
            <a:r>
              <a:t>CNPJ 55563624000109 · Originador e endossante · Regulamento · ID 1192614 · 2026-04-30 · versão 1 · p. 32 · https://fnet.bmfbovespa.com.br/fnet/publico/visualizarDocumento?id=1192614</a:t>
            </a:r>
          </a:p>
          <a:p>
            <a:r>
              <a:t>CNPJ 55563624000109 · Originador e endossante · Excerto da fonte:</a:t>
            </a:r>
          </a:p>
          <a:p>
            <a:r>
              <a:t>(b) Questionamento judicial. Os devedores podem questionar judicialmente (1) a validade  dos direitos creditórios, inclusive em razão da legalidade dos limites de crédito  concedidos pelo originador ou cedente e das taxas de juros praticadas, antes e/ou após  a sua transferência para a Classe Investida; e/ou (2) os termos e condições da  transferência dos direitos creditórios à Classe Investida. Em qualquer caso, é possível  que a Classe Investida não receba parte ou a totalidade dos valores relativos aos  direitos creditórios de sua titularidade objeto de questionamento judicial.</a:t>
            </a:r>
          </a:p>
          <a:p>
            <a:r>
              <a:t> (c) Risco de originação de direitos creditórios. Os direitos creditórios a serem adquiridos  pela Classe Investida são decorrentes de operações de empréstimo específicas  envolvendo as operações do Mercado Pago, conforme detalhadas no regulamento da  Classe Investida. Na hipótese de não originação, originação insuficiente ou  indisponibilidade para aquisição pelo Classe Investida, por qualquer motivo, inclusive  em caso de redução ou descontinuidade das operações regulares dos cedentes, de  direitos creditórios que satisfaçam os critérios de elegibilidade, as condições de cessão  e a política de investimento, composição e diversificação da carteira da Classe Investida  descrita em seu regulamento, a Classe Investida poderá ser incapaz de alocar a  totalidade de seus recursos, o que poderá inviabilizar a realização das chamadas de  capital por seu administrador, afetando negativamente a continuidade da Classe  Investida, a expectativa de seus cotistas, incluindo a Classe, com relação ao seu  horizonte de investimento, a rentabilidade da Classe Investida e, consequentemente, o  valor das Cotas da Classe Investida, impactando assim a Classe e os investimentos dos  Cotistas em Cotas.</a:t>
            </a:r>
          </a:p>
          <a:p>
            <a:r>
              <a:t> (d) Originação por meio fraudulento. A Classe Investida pode adquirir direitos creditórios  que tenham sido originados por meio fraudulento. Nesse caso, a Classe Investida não  poderá exigir o pagamento dos respectivos valores por parte dos devedores lesados,  restando-lhe somente exigir do cedente o pagamento do valor correspondente aos  direitos creditórios fraudulentos, na forma prevista no respectivo contrato de cessão. A  restituição devida pelo cedente poderá demorar a ser realizada ou simplesmente não  ocorrer. Em ambos os casos, o patrimônio da Classe Investida seria impactado  negativamente, igualmente afetando, consequentemente, a Classe.</a:t>
            </a:r>
          </a:p>
          <a:p>
            <a:r>
              <a:t> (e) Questionamento da validade e da eficácia da cessão dos Direitos Creditórios. A validade  e a eficácia da cessão dos direitos creditórios à Classe Investida poderão ser  questionadas, inclusive em decorrência de intervenção, liquidação, Regime de  Administração Especial Temporária (RAET), pedido de recuperação judicial, falência,  plano de recuperação extrajudicial ou outro procedimento de natureza similar  originador ou do cedente. A titularidade direitos creditórios poderá vir a ser  questionada caso (1) haja garantias reais sobre os direitos creditórios, constituídas  antes da sua cessão e sem o conhecimento da Classe Investida; (2) ocorra a penhora ou  outra forma de constrição judicial sobre os direitos creditórios, antes da sua cessão e sem  o conhecimento da Classe Investida; (3) seja verificada, em processo judicial, fraude  contra credores ou fraude à execução praticada pelo respectivo originador ou cedente;</a:t>
            </a:r>
          </a:p>
          <a:p>
            <a:r>
              <a:t> ou (4) a cessão dos direitos creditórios à Classe Investida seja revogada, quando restar  comprovado que foi praticada com a intenção de prejudicar os credores do originador  ou do cedente. Em qualquer hipótese, os direitos creditórios integrantes da carteira da  Classe Investida poderão ser bloqueados ou redirecionados para o pagamento de  outras obrigações do originador ou cedente, afetando negativamente os patrimônios  da Classe Investida e a rentabilidade das suas cotas.</a:t>
            </a:r>
          </a:p>
          <a:p>
            <a:r>
              <a:t>CNPJ 55563624000109 · Originador e endossante · Regulamento · ID 1192614 · 2026-04-30 · versão 1 · p. 28 · https://fnet.bmfbovespa.com.br/fnet/publico/visualizarDocumento?id=1192614</a:t>
            </a:r>
          </a:p>
          <a:p>
            <a:r>
              <a:t>CNPJ 55563624000109 · Originador e endossante · Excerto da fonte:</a:t>
            </a:r>
          </a:p>
          <a:p>
            <a:r>
              <a:t>Classe, na forma da regulamentação aplicável, observado que os prestadores de serviços eventualmente  subcontratados não podem ser, em relação à Classe, o originador, cedente, o GESTOR, consultoria especializada  ou partes a eles relacionadas, tais como definidas nas regras contábeis que tratam desse assunto.</a:t>
            </a:r>
          </a:p>
          <a:p>
            <a:r>
              <a:t>CNPJ 55563624000109 · Originador e endossante · Condição: Documentos atuais selecionados no inventário por categoria/escopo; a data documental isolada não comprova vigência jurídica.</a:t>
            </a:r>
          </a:p>
          <a:p>
            <a:r>
              <a:t>CNPJ 55563624000109 · Originador e endossante · Versão e prevalência: Documentos atuais selecionados no inventário por categoria/escopo; a data documental isolada não comprova vigência jurídica.</a:t>
            </a:r>
          </a:p>
          <a:p>
            <a:r>
              <a:t>CNPJ 55563624000109 · Originador e endossante · Resumo do histórico: {"count": 3, "dates": ["2025-01-31", "2026-01-31", "2026-04-30"], "document_count": 3, "sources": [{"document_id": "1192614", "title": "Regulamento", "reference_date": "2026-04-30", "version": "1", "page": "11", "url": "https://fnet.bmfbovespa.com.br/fnet/publico/visualizarDocumento?id=1192614", "sha256": "f56e63ace0acde41d2f47fb48f1ac7f3f7df5e2d32de092d7c5e075a52516632"}, {"document_id": "1178840", "title": "Demonstrações Financeiras", "reference_date": "2026-01-31", "version": "1", "page": 16, "url": "https://fnet.bmfbovespa.com.br/fnet/publico/visualizarDocumento?id=1178840", "sha256": "c458e98664c5c907ddb5a05a94b120bed4e05295b2bfc420f5ba69af0a229abe"}, {"document_id": "891861", "title": "Demonstrações Financeiras", "reference_date": "2025-01-31", "version": "1", "page": 16, "url": "https://fnet.bmfbovespa.com.br/fnet/publico/visualizarDocumento?id=891861", "sha256": "e9cb9e6ddbe505fe068cfcac33605165a98313489de0d3ce6d4d238263c3f3e7"}], "reference": {"path": "history/55563624000109.json", "criterion_id": "originator", "total_count": 3, "preview_count": 3, "full_text_deferred": true, "sha256": "7835d573fb58a3c19adf5b8ecc2aee2bdbb9a88f7a0c0209b5f262b64c7522e3"}}</a:t>
            </a:r>
          </a:p>
          <a:p>
            <a:r>
              <a:t>CNPJ 62552447000120 · Originador e endossante · Regulamento · ID 1200623 · 21/05/2026 · versão Consolidado21/05/2026 aprovado pelo ato1200625 · p. 12 · AnexoI4.4.1(i) · https://fnet.bmfbovespa.com.br/fnet/publico/visualizarDocumento?id=1200623</a:t>
            </a:r>
          </a:p>
          <a:p>
            <a:r>
              <a:t>CNPJ 62552447000120 · Originador e endossante · Excerto da fonte:</a:t>
            </a:r>
          </a:p>
          <a:p>
            <a:r>
              <a:t>BANCO VR S.A., instituição f inanceira, com sede no município e Estado de São Paulo, na Av. Dos Bandeirantes, n.º 460, Brooklin Paulista, CEP 04553-900, inscrita no CNPJ sob o n.º 78.626.983/0001- 63, ou qualquer outra sociedade do mesmo grupo econômico, na qualidade de endossante (“Endossante”), acompanhados de todos os direitos, privilégios, pref erências, prerrogativas, ações e garantias assegurados aos seus titulares; (ii) da subscrição de títulos de crédito e/ou valores mobiliários, incluindo, mas não se</a:t>
            </a:r>
          </a:p>
          <a:p>
            <a:r>
              <a:t>CNPJ 62552447000120 · Originador e endossante · Regulamento · ID 1200623 · 21/05/2026 · versão Consolidado21/05/2026 aprovado pelo ato1200625 · p. 29 · AnexoI12.14 · https://fnet.bmfbovespa.com.br/fnet/publico/visualizarDocumento?id=1200623</a:t>
            </a:r>
          </a:p>
          <a:p>
            <a:r>
              <a:t>CNPJ 62552447000120 · Originador e endossante · Excerto da fonte:</a:t>
            </a:r>
          </a:p>
          <a:p>
            <a:r>
              <a:t>VR BENEFÍCIOS E SERVIÇOS DE PROCESSAMENTO S.A., sociedade anônima com sede no município e Estado de São Paulo, na Av. dos Bandeirantes, n.º 460, Brooklin Paulista, CEP 04553-900, inscrita no CNPJ sob o n.º 02.535.864/0004-86 (“Agente de Retenção e Cobrança” ou “Originador”), para os serviços de retenção de Direitos Creditórios e de cobrança de Direitos Creditórios Inadimplidos, de acordo com os contratos de prestação de serviços de retenção e cobrança celebrados entre o Agente de Retenção e Cobrança e a Classe (“Contratos de Retenção/Cobrança”). 12.15 O Agente de Retenção e Cobrança poderá, às expensas da Classe,</a:t>
            </a:r>
          </a:p>
          <a:p>
            <a:r>
              <a:t>CNPJ 62552447000120 · Originador e endossante · Versão e prevalência: Leitura específica das cláusulas indicadas; condições e conflitos preservados. Seleção documental atual não comprova vigência jurídica por data isolada.</a:t>
            </a:r>
          </a:p>
          <a:p>
            <a:r>
              <a:t>CNPJ 63953620000165 · Originador e endossante · Anexo ao Regulamento · ID 1222863 · 02/06/2026 · versão AnexoConsignadoPrivado02/06/2026 · p. 5 · 4.3–4.4 · https://fnet.bmfbovespa.com.br/fnet/publico/visualizarDocumento?id=1222863</a:t>
            </a:r>
          </a:p>
          <a:p>
            <a:r>
              <a:t>CNPJ 63953620000165 · Originador e endossante · Excerto da fonte:</a:t>
            </a:r>
          </a:p>
          <a:p>
            <a:r>
              <a:t>4.3 Os Direitos Creditórios serão adquiridos pela Classe por meio: (i) contratos de promessa de endosso e/ou termos de endosso (“Contratos de Endosso”) firmados entre a Classe e a Parati Crédito, Financiamento e Investimento S.A., instituição financeira constituída na forma de uma sociedade por ações, com sede na cidade de Vitória, estado do Espírito Santo, na Avenida Nossa Senhora da Penha, 699, torre A, conjuntos 404 a 407, Santa Lúcia, CEP 29.056-250, inscrita no CNPJ sob nº 03.311.443/0001-91 (“Endossante” ou “Cedente”), acompanhados de todos os direitos, privilégios, preferências, prerrogativas, ações e garantias asse</a:t>
            </a:r>
          </a:p>
          <a:p>
            <a:r>
              <a:t>CNPJ 63953620000165 · Originador e endossante · Anexo ao Regulamento · ID 1222863 · 02/06/2026 · versão AnexoConsignadoPrivado02/06/2026 · p. 19 · 12.6 · https://fnet.bmfbovespa.com.br/fnet/publico/visualizarDocumento?id=1222863</a:t>
            </a:r>
          </a:p>
          <a:p>
            <a:r>
              <a:t>CNPJ 63953620000165 · Originador e endossante · Excerto da fonte:</a:t>
            </a:r>
          </a:p>
          <a:p>
            <a:r>
              <a:t>12.6 A Classe contratou a Tudo Serviços S.A., sociedade anônima, com sede no município de Fortaleza, Estado do Ceará, na Avenida Senador Virgulo Távora, nº 303, Lojas 02, 03, 04, 05, 06 e 19, Meireles, CEP 60.170-265, inscrita no CNPJ sob o nº 27.852.506/0001-85, cujos deveres, sem prejuízo daqueles estabelecidos neste Regulamento, no “Contrato de Serviços de Retenção e Cobrança e Outras Avenças”, celebrado entre o Agente de Retenção/Cobrança e a Classe (“Contrato de Serviços MT”) e no Contrato de Endosso, consistirão no monitoramento e cobrança dos Direitos Creditórios Inadimplidos, observado o disposto neste Anexo I e na</a:t>
            </a:r>
          </a:p>
          <a:p>
            <a:r>
              <a:t>CNPJ 63953620000165 · Originador e endossante · Condição: Nomeação nominal atual da classe; distinta da origem histórica dos ativos recebidos por cisão de outros veículos.</a:t>
            </a:r>
          </a:p>
          <a:p>
            <a:r>
              <a:t>CNPJ 63953620000165 · Originador e endossante · Versão e prevalência: Leitura específica das cláusulas indicadas; condições e conflitos preservados. Seleção documental atual não comprova vigência jurídica por data isolada.</a:t>
            </a:r>
          </a:p>
          <a:p>
            <a:r>
              <a:t>CNPJ 63953620000165 · Originador e endossante · Resumo do histórico: {"count": 8, "dates": ["2026-04-28", "2026-05-08", "2026-05-15"], "document_count": 3, "sources": [{"document_id": "1327859", "title": "Demonstrações Financeiras - Fusão, cisão e incorporação", "reference_date": "2026-05-15", "version": "1", "page": 23, "url": "https://fnet.bmfbovespa.com.br/fnet/publico/visualizarDocumento?id=1327859", "sha256": "dca1c68babb97f887528c3e2e47596a9c30f507b067981a35655b2f2da9c8054"}, {"document_id": "1298691", "title": "Demonstrações Financeiras - Fusão, cisão e incorporação", "reference_date": "2026-05-08", "version": "1", "page": 24, "url": "https://fnet.bmfbovespa.com.br/fnet/publico/visualizarDocumento?id=1298691", "sha256": "58c570d9b8d4d265330d3db3ea81c435b8e44a6dab4002aa37790652a1ee9819"}, {"document_id": "1282180", "title": "Demonstrações Financeiras - Fusão, cisão e incorporação", "reference_date": "2026-04-28", "version": "1", "page": 24, "url": "https://fnet.bmfbovespa.com.br/fnet/publico/visualizarDocumento?id=1282180", "sha256": "afaaa0e6809be4385e5bdb6c911aac582032c5bdbac3d7750234bf9eaf00438a"}], "reference": {"path": "history/63953620000165.json", "criterion_id": "originator", "total_count": 8, "preview_count": 3, "full_text_deferred": true, "sha256": "a7b89077f5e21098c2d601c303faabc3ff6b9729f89d8afecdc60fe1404720c1"}}</a:t>
            </a:r>
          </a:p>
          <a:p>
            <a:r>
              <a:t>CNPJ 54871427000194 · Devedor e consignação · Regulamento · ID 670691 · 2024-04-28 · versão 1 · p. 29 · https://fnet.bmfbovespa.com.br/fnet/publico/visualizarDocumento?id=670691</a:t>
            </a:r>
          </a:p>
          <a:p>
            <a:r>
              <a:t>CNPJ 54871427000194 · Devedor e consignação · Excerto da fonte:</a:t>
            </a:r>
          </a:p>
          <a:p>
            <a:r>
              <a:t>Anexo I ao Regulamento CLASSE ÚNICA DE RESPONSABILIDADE LIMITADA DO CONSIGNADO DELTA RECEIVABLES I FUNDO DE INVESTIMENTO EM DIREITOS CREDITÓRIOS  pelo Endossante e depositados em seu conta de sua titularidade para posterior repasse à  Classe. Neste caso, a Classe poderá sofrer perdas principalmente em relação ao atraso na  regularização da titularidade e pagamento dos Direitos Creditórios.</a:t>
            </a:r>
          </a:p>
          <a:p>
            <a:r>
              <a:t> (v) Risco de pré-pagamento dos Direitos Creditórios. A ocorrência de pré-  pagamentos em relação a um ou mais Direitos Creditórios poderá ocasionar perdas à Classe.</a:t>
            </a:r>
          </a:p>
          <a:p>
            <a:r>
              <a:t> A ocorrência de pré-pagamentos (pagamento em data anterior àquela originalmente pactuada)  de Direitos Creditórios reduz o horizonte original de rendimentos esperados pela Classe de  tais Direitos Creditórios, uma vez que o pré-pagamento poderá, se assim permitido pela  documentação do Direito Creditório ou, conf orme o caso, pela legislação aplicável, ser  realizado pelo valor de emissão do Direito Creditório atualizado até a data do pré-pagamento  pela taxa de juros pactuada entre os Endossantes e os Devedores de tais Direitos Creditórios,  de modo que os juros remuneratórios incidentes desde a data da realização do pré-pagamento  até a data de vencimento do respectivo Direito Creditório deixam de ser devidos à Classe.</a:t>
            </a:r>
          </a:p>
          <a:p>
            <a:r>
              <a:t> (vi) Riscos associados aos Devedores: os Direitos Creditórios a serem cedidos à  Classe serão descontados da remuneração do Devedor, através de desconto em f olha de  pagamento ou de benefício. Nesse sentido, na ocorrência de pré-pagamento, as parcelas  serão pagas antecipadamente e a Classe deverá utilizar tais montantes no pré-pagamento dos  Direitos Creditórios. Nesta hipótese, a Classe poderá não encontrar Direitos Creditórios  disponíveis para serem adquiridos pela Classe, o que poderá afetar a rentabilidade da Classe.</a:t>
            </a:r>
          </a:p>
          <a:p>
            <a:r>
              <a:t> (vii) Risco de Competição: o mercado de empréstimos experimentou grande  expansão no Brasil nos últimos anos. Nesse contexto, a Resolução CMN nº 4.292, alterada  pela Resolução nº 4.762, de 27 de novembro de 2019, dispõe que deve ser garantido às  pessoas naturais devedoras de operações de crédito (tais como as CCB) a possibilidade de  realizarem a portabilidade destas operações para outras instituições financeiras, inclusive nos  casos em que tenham sido objeto de cessão (tais como as realizadas à Classe). Nesse  cenário, é possível que os competidores do Endossante ofereçam condições e taxas mais  vantajosas para os empréstimos pessoais com consignação em f olha de pagamento ou de  benef ícios, o que pode causar a migração de clientes da Endossante para outras instituições  f inanceiras, gerando a liquidação antecipada de parte das CCB existentes e/ou redução no  número de Direitos Creditórios cedidos. Referida competição poderá af etar os resultados da  Classe, impactando negativamente os rendimentos dos Cotistas. Ainda, a portabilidade a um  Devedor pode acarretar no recebimento de valores inf eriores aos esperados pela Classe.</a:t>
            </a:r>
          </a:p>
          <a:p>
            <a:r>
              <a:t> (viii) Insuf iciência dos Critérios de Elegibilidade. Os Critérios de Elegibilidade têm a  f inalidade de selecionar os Direitos Creditórios passíveis de aquisição pela Classe. Não  obstante tais Critérios de Elegibilidade, a solvência dos Direitos Creditórios que compõem a  Carteira depende integralmente, mas não somente, da situação econômico-financeira dos  Devedores. Dessa f orma, a observância pelo GESTOR dos Critérios de Elegibilidade não  constitui garantia de adimplência dos Devedores.</a:t>
            </a:r>
          </a:p>
          <a:p>
            <a:r>
              <a:t> Os Endossantes não necessariamente garantem a solvência dos seus respectivos Devedores.</a:t>
            </a:r>
          </a:p>
          <a:p>
            <a:r>
              <a:t> O Endossante dos Direitos Creditórios não assumirá responsabilidade pelo seu pagamento ou  pela solvência dos respectivos Devedores. A Classe sofrerá o impacto do inadimplemento dos  Direitos Creditórios vencidos e não pagos pelos respectivos Devedores.</a:t>
            </a:r>
          </a:p>
          <a:p>
            <a:r>
              <a:t> (ix) Possibilidade de aquisição de Direitos Creditórios cedidos por Endossante  e/ou devidos por Devedores cujas demonstrações financeiras não sejam auditadas. A Classe,  desde que sejam respeitados os limites de concentração previstos neste Regulamento, poderá  manter a qualquer tempo em sua Carteira, Direitos Creditórios cedidos por Endossante e/ou  devidos por Devedores cujas demonstrações f inanceiras não sejam auditadas por Auditor  Independente registrado na CVM. Nesse sentido, não haverá verificação independente sobre  tais demonstrações f inanceiras que af irme se estas representam adequadamente, em todos  os aspectos relevantes, as respectivas posições patrimoniais e f inanceiras, os resultados de  suas operações, as mutações de seus respectivos patrimônios líquidos tampouco as origens  e aplicações de seus recursos.</a:t>
            </a:r>
          </a:p>
          <a:p>
            <a:r>
              <a:t>CNPJ 54871427000194 · Devedor e consignação · Regulamento · ID 670691 · 2024-04-28 · versão 1 · p. 27 · 14.2 · https://fnet.bmfbovespa.com.br/fnet/publico/visualizarDocumento?id=670691</a:t>
            </a:r>
          </a:p>
          <a:p>
            <a:r>
              <a:t>CNPJ 54871427000194 · Devedor e consignação · Excerto da fonte:</a:t>
            </a:r>
          </a:p>
          <a:p>
            <a:r>
              <a:t>14.2 Todos os custos e despesas ref eridos neste Capítulo, inclusive para salvaguarda de direitos e  prerrogativas da Classe e/ou com a cobrança judicial e/ou extrajudicial de Direitos Creditórios  Inadimplidos, serão de inteira responsabilidade da Classe, não estando o ADMINISTRADOR, o  GESTOR, o Endossante, os Devedores, o CUSTODIANTE e quaisquer de suas respectivas pessoas  controladoras, sociedades por estes direta ou indiretamente controladas, a estes coligadas ou outras  sociedades sob controle comum, em conjunto ou isoladamente, obrigados pelo adiantamento ou  pagamento de valores relacionados aos procedimentos ref eridos neste Capítulo.</a:t>
            </a:r>
          </a:p>
          <a:p>
            <a:r>
              <a:t>CNPJ 54871427000194 · Devedor e consignação · Regulamento · ID 670691 · 2024-04-28 · versão 1 · p. 31 · https://fnet.bmfbovespa.com.br/fnet/publico/visualizarDocumento?id=670691</a:t>
            </a:r>
          </a:p>
          <a:p>
            <a:r>
              <a:t>CNPJ 54871427000194 · Devedor e consignação · Excerto da fonte:</a:t>
            </a:r>
          </a:p>
          <a:p>
            <a:r>
              <a:t>Anexo I ao Regulamento CLASSE ÚNICA DE RESPONSABILIDADE LIMITADA DO CONSIGNADO DELTA RECEIVABLES I FUNDO DE INVESTIMENTO EM DIREITOS CREDITÓRIOS  a resgates de suas Cotas e/ou poderá ser obrigado a se desfazer de tais Ativos Financeiros  de Liquidez em condições menos f avoráveis do que se não houvesse a ref erida situação de  f alta de liquidez.</a:t>
            </a:r>
          </a:p>
          <a:p>
            <a:r>
              <a:t> (iv) Liquidação antecipada do FUNDO ou da Classe. Observado o disposto neste  Regulamento, o FUNDO ou a Classe poderão ser liquidados antecipadamente, caso ocorra  qualquer Evento de Liquidação, ou se assim deliberado pelos Cotistas reunidos em  Assembleia Geral de Cotistas. Por este motivo, os Cotistas poderão ter seu horizonte original  de investimento reduzido e poderão não conseguir reinvestir os recursos recebidos com a  mesma remuneração buscada pela Classe, não sendo devida pela Classe, pelo  ADMINISTRADOR, pelo GESTOR ou pelo CUSTODIANTE qualquer multa ou penalidade, a  qualquer título, em decorrência desse f ato. Adicionalmente, ocorrendo qualquer uma das  hipóteses de liquidação antecipada do FUNDO ou da Classe, poderá não haver recursos  disponíveis em moeda corrente nacional para realizar o pagamento aos Cotistas, que poderão  ser pagos com os Direitos Creditórios e Ativos Financeiros de Liquidez detidos em Carteira, os  quais estão sujeitos aos riscos apontados no item (iii) acima.</a:t>
            </a:r>
          </a:p>
          <a:p>
            <a:r>
              <a:t> (v) Amortização condicionada das Cotas. A única f onte de recursos da Classe  para ef etuar o pagamento de resgate ou amortização das Cotas, conforme o caso, é a  liquidação: (i) dos Direitos Creditórios, pelos respectivos Devedores; e (ii) dos Ativos  Financeiros de Liquidez, pelas respectivas contrapartes. Após o recebimento desses recursos  e, se f or o caso, depois de esgotados todos os meios cabíveis para a cobrança, extrajudicial  ou judicial, dos referidos ativos, a Classe não disporá de quaisquer outras verbas para efetuar  o resgate ou amortização das Cotas, conforme o caso, o que poderá acarretar prejuízo aos  Cotistas.</a:t>
            </a:r>
          </a:p>
          <a:p>
            <a:r>
              <a:t> Ademais, a Classe está exposta a determinados riscos inerentes aos Direitos Creditórios e  Ativos Financeiros de Liquidez e aos mercados em que são negociados, incluindo a eventual  impossibilidade de alienar ativos em caso de necessidade, especialmente os Direitos  Creditórios, devido à inexistência de um mercado secundário ativo e organizado para a  negociação dessa espécie de ativo. Considerando-se a sujeição do resgate das Cotas à  liquidação dos Direitos Creditórios e/ou dos Ativos Financeiros de Liquidez, conforme descrito  acima, tanto o ADMINISTRADOR quanto o GESTOR e o CUSTODIANTE estão  impossibilitados de assegurar que os resgates das Cotas ocorrerão nas datas originalmente  previstas, não sendo devido, nesta hipótese, pela Classe ou qualquer outra pessoa, incluindo  o ADMINISTRADOR, o GESTOR e o CUSTODIANTE, qualquer multa ou penalidade, de  qualquer natureza.</a:t>
            </a:r>
          </a:p>
          <a:p>
            <a:r>
              <a:t> (vi) Ausência de classificação de risco das Cotas e Política de Investimentos  genérica. A ausência de requisitos rígidos relacionados aos Direitos Creditórios passíveis de  aquisição pela Classe poderá dificultar a def inição do perfil de risco da Carteira, af etando a  capacidade de o Cotista avaliar o risco de seu invest imento. As Cotas não possuem  classificação de risco emitida por Agência Classificadora de Risco. Esses f atores podem  dif icultar a avaliação, por parte dos investidores, da qualidade do crédito representado pelas  Cotas e com a capacidade da Classe em honrar com os pagamentos das Cotas.</a:t>
            </a:r>
          </a:p>
          <a:p>
            <a:r>
              <a:t>CNPJ 54871427000194 · Devedor e consignação · Condição: Documentos atuais selecionados no inventário por categoria/escopo; a data documental isolada não comprova vigência jurídica.</a:t>
            </a:r>
          </a:p>
          <a:p>
            <a:r>
              <a:t>CNPJ 54871427000194 · Devedor e consignação · Versão e prevalência: Documentos atuais selecionados no inventário por categoria/escopo; a data documental isolada não comprova vigência jurídica.</a:t>
            </a:r>
          </a:p>
          <a:p>
            <a:r>
              <a:t>CNPJ 54871427000194 · Devedor e consignação · Resumo do histórico: {"count": 2, "dates": ["2024-04-19", "2024-04-28"], "document_count": 2, "sources": [{"document_id": "670691", "title": "Regulamento", "reference_date": "2024-04-28", "version": "1", "page": "38", "url": "https://fnet.bmfbovespa.com.br/fnet/publico/visualizarDocumento?id=670691", "sha256": "bf16dd7f1a62d5cdbf2e2d54fef81783783f7310fbc99c3a8f00459bdf9d037b"}, {"document_id": "670689", "title": "Regulamento", "reference_date": "2024-04-19", "version": "1", "page": 30, "url": "https://fnet.bmfbovespa.com.br/fnet/publico/visualizarDocumento?id=670689", "sha256": "891bc9bc5d87bbc02ec139077a84d2702eb81ea02035fb71d24f5b8366b94a0b"}], "reference": {"path": "history/54871427000194.json", "criterion_id": "debtor", "total_count": 2, "preview_count": 2, "full_text_deferred": true, "sha256": "35d7cd99be50c7287c9fb675cf4f2e736002315295a225a9efa79c8d9186d874"}}</a:t>
            </a:r>
          </a:p>
          <a:p>
            <a:r>
              <a:t>CNPJ 60010416000112 · Devedor e consignação · Regulamento · ID 1051393 · 2025-10-09 · versão 1 · p. 35 · 15.1.4 · https://fnet.bmfbovespa.com.br/fnet/publico/visualizarDocumento?id=1051393</a:t>
            </a:r>
          </a:p>
          <a:p>
            <a:r>
              <a:t>CNPJ 60010416000112 · Devedor e consignação · Excerto da fonte:</a:t>
            </a:r>
          </a:p>
          <a:p>
            <a:r>
              <a:t>15.1.4 Riscos específicos</a:t>
            </a:r>
          </a:p>
          <a:p>
            <a:r>
              <a:t> (i)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 icar inadimplente e,  consequentemente, não haverá repasse à Classe do respectivo Direito Creditório, o que  poderá resultar em perdas f inanceiras à Classe e aos Cotistas.</a:t>
            </a:r>
          </a:p>
          <a:p>
            <a:r>
              <a:t> (ii) Risco do Empregador não efetuar o desconto em folha: o repasse dos recursos oriundos  dos Direitos Creditórios à Classe depende da realização, pelo Empregador, da Escrituração e  do desconto na respectiva f olha de pagamento do Devedor. Na hipótese do Empregador  deixar de realizar a Escrituração ou os descontos na folha de pagamento, não haverá repasse  de recursos à Classe, podendo causar prejuízos à Classe e aos Cotistas.</a:t>
            </a:r>
          </a:p>
          <a:p>
            <a:r>
              <a:t> (iii) Risco de perda do vínculo empregatício com o Empregador: caso o Devedor perca o  vínculo empregatício com o Empregador, não haverá remuneração e f olha de pagamento para  realização dos descontos para pagamento dos Direitos Creditórios. Neste caso, não obstante  a possibilidade do Agente de Retenção/Cobrança realizar a cobrança ativa dos Direitos  Creditórios diretamente do Devedor, a ausência de remuneração poderá deixar o Devedor  inadimplente perante a Classe até que o seu vínculo empregatício seja retomado e seja  ef etuado o procedimento operacional para que a CCB seja aditada e/ou seja realizado o  Processo de Reinicialização. Tais situações poderão resultar em prejuízos à Classe e aos  Cotistas.</a:t>
            </a:r>
          </a:p>
          <a:p>
            <a:r>
              <a:t>CNPJ 60010416000112 · Devedor e consignação · Regulamento · ID 1051393 · 2025-10-09 · versão 1 · p. 36 · https://fnet.bmfbovespa.com.br/fnet/publico/visualizarDocumento?id=1051393</a:t>
            </a:r>
          </a:p>
          <a:p>
            <a:r>
              <a:t>CNPJ 60010416000112 · Devedor e consignação · Excerto da fonte:</a:t>
            </a:r>
          </a:p>
          <a:p>
            <a:r>
              <a:t>Anexo I ao Regulamento CLASSE ÚNICA DO MT I CONSIGNADO PRIVADO I FUNDO DE INVESTIMENTO EM DIREITOS CREDITÓRIOS RESPONSABILIDADE LIMITADA  a qualquer momento, os recursos decorrentes dos Direitos Creditórios.</a:t>
            </a:r>
          </a:p>
          <a:p>
            <a:r>
              <a:t> (iii) Risco de validação das informações para conciliação e reconciliação dos Direitos  Creditórios adquiridos pela Classe: as inf ormações para conciliação dos pagamentos,  sendo considerado como tal, também, o Arquivo Dataprev, listando todos os empregados  cujas f olhas de pagamento serão sujeitas a desconto no mês relevante, nos valores acordados  ao ef etuar a Consignação, e qualquer glosa será enviada pela CEF ao Endossante, que  ef etuará a conciliação e, posteriormente, enviará as inf ormações ao Custodiante. Caso o  Endossante não f orneça essas inf ormações em tempo hábil ou f or verif icada qualquer  inconsistência nas informações recebidas pelo Custodiante, poderá isso impedir ou dar origem  a f alhas no processo de reconciliação dos valores depositados na Conta de Cobrança da  Classe e causando perdas à Classe e ao Cotista.</a:t>
            </a:r>
          </a:p>
          <a:p>
            <a:r>
              <a:t> (iv) Risco operacional dos sistemas: o desconto na f olha de pagamento do Devedor das  parcelas da CCB e a transf erência para o Endossante dos Direitos Creditórios serão  processados por um sistema controlado pela Dataprev, e o Endossante, o Administrador ou o  Gestor não têm controle sobre esse processo. Assim, qualquer f alha ou mudança nesse  sistema poderá atrasar ou reduzir o desconto dos rendimentos dos Devedores ou sua  transf erência para a Classe. Nesse caso, a rentabilidade e a propriedade da Classe poderão  ser adversamente af etadas enquanto o problema do sistema persistir, ou até que todos os  valores sejam devidamente transf eridos.</a:t>
            </a:r>
          </a:p>
          <a:p>
            <a:r>
              <a:t> (v) Risco operacional do Contrato: o desconto na f olha de pagamento das parcelas dos  empréstimos concedidos aos Devedores é permitido pelo Convênio Consignado Privado. As  partes do Convênio Consignado Privado devem seguir certas regras para manter o Convênio  Consignado Privado, e a violação delas poderá levar à sua rescisão. Além disso, mudanças  legais podem af etar e/ou tornar inviável a manutenção do Convênio Consignado Privado.</a:t>
            </a:r>
          </a:p>
          <a:p>
            <a:r>
              <a:t> No caso de rescisão do Convênio Consignado Privado, a estrutura de cobrança dos Direitos  Creditórios (desconto na f olha de pagamento) poderá ser comprometida, dando origem à  necessidade de adoção de uma nova estrutura, que poderá não ser tão eficaz quanto ela ou  mesmo revelar, na prática, ser inadequada ou ter altos custos operacionais. Esses eventos  podem levar a perdas patrimoniais para a Classe, na medida em que este deixará de receber,  def initiva ou temporariamente, recursos oriundos dos Direitos Creditórios, no todo ou em parte.</a:t>
            </a:r>
          </a:p>
          <a:p>
            <a:r>
              <a:t> Adicionalmente, de acordo com o Contrato de Endosso, a manutenção do Convênio  Consignado Privado é uma condição para a aquisição de novos Direitos Creditórios pela  Classe e, portanto, no caso de rescisão do Convênio Consignado Privado, a Classe poderá  ser impedido de adquirir novos Direitos Creditórios.</a:t>
            </a:r>
          </a:p>
          <a:p>
            <a:r>
              <a:t>CNPJ 60010416000112 · Devedor e consignação · Regulamento · ID 1051393 · 2025-10-09 · versão 1 · p. 31 · 13.2 · https://fnet.bmfbovespa.com.br/fnet/publico/visualizarDocumento?id=1051393</a:t>
            </a:r>
          </a:p>
          <a:p>
            <a:r>
              <a:t>CNPJ 60010416000112 · Devedor e consignação · Excerto da fonte:</a:t>
            </a:r>
          </a:p>
          <a:p>
            <a:r>
              <a:t>13.2 Todos os custos e despesas ref eridos neste Capítulo, inclusive para salvaguarda de direitos e  prerrogativas da Classe e/ou com a cobrança judicial e/ou extrajudicial de Direitos Creditórios Inadimplidos  ou Direitos Creditórios a Perf ormar, serão de inteira responsabilidade da Classe, não estando o  Administrador, o Gestor, o Endossante, os Devedores, o Custodiante e quaisquer de suas respectivas  pessoas controladoras, sociedades por estes direta ou indiretamente controladas, a estes coligadas ou  outras sociedades sob controle comum, em conjunto ou isoladamente, obrigados pelo adiantamento ou  pagamento de valores relacionados aos procedimentos ref eridos neste Capítulo.</a:t>
            </a:r>
          </a:p>
          <a:p>
            <a:r>
              <a:t>CNPJ 60010416000112 · Devedor e consignação · Condição: Documentos atuais selecionados no inventário por categoria/escopo; a data documental isolada não comprova vigência jurídica.</a:t>
            </a:r>
          </a:p>
          <a:p>
            <a:r>
              <a:t>CNPJ 60010416000112 · Devedor e consignação · Versão e prevalência: Documentos atuais selecionados no inventário por categoria/escopo; a data documental isolada não comprova vigência jurídica.</a:t>
            </a:r>
          </a:p>
          <a:p>
            <a:r>
              <a:t>CNPJ 60010416000112 · Devedor e consignação · Resumo do histórico: {"count": 2, "dates": ["2025-03-20", "2025-10-09"], "document_count": 2, "sources": [{"document_id": "1051393", "title": "Regulamento", "reference_date": "2025-10-09", "version": "1", "page": "9-10, 42", "url": "https://fnet.bmfbovespa.com.br/fnet/publico/visualizarDocumento?id=1051393", "sha256": "8469d613078ffd5a6c1d217885d8a397a16342c0b937ae4aa24b106505f233ae"}, {"document_id": "993786", "title": "Regulamento", "reference_date": "2025-03-20", "version": "1", "page": 35, "clause": "15.1.4", "url": "https://fnet.bmfbovespa.com.br/fnet/publico/visualizarDocumento?id=993786", "sha256": "fd0fdd369a195510d81f81f505195a0b09e5f43522a990afa7d58c4f872921c8"}], "reference": {"path": "history/60010416000112.json", "criterion_id": "debtor", "total_count": 2, "preview_count": 2, "full_text_deferred": true, "sha256": "8e2bd813f4c51cf01f6bfaad164bafe69d2bbb192f753eac92da3a01c2e63046"}}</a:t>
            </a:r>
          </a:p>
          <a:p>
            <a:r>
              <a:t>CNPJ 62696791000193 · Devedor e consignação · Regulamento · ID 1143317 · 2026-03-20 · versão 1 · p. 47 · 10.2 · https://fnet.bmfbovespa.com.br/fnet/publico/visualizarDocumento?id=1143317</a:t>
            </a:r>
          </a:p>
          <a:p>
            <a:r>
              <a:t>CNPJ 62696791000193 · Devedor e consignação · Excerto da fonte:</a:t>
            </a:r>
          </a:p>
          <a:p>
            <a:r>
              <a:t>10.2. As mudanças climáticas podem impactar severamente os ciclos produtivos de commodities  agrícolas, ocasionando, quebras de saf ra, volatilidade de preços, choques de of erta,  deterioração da qualidade dos produtos por elas atingidos, bem como interrupção no  abastecimento destes. Ref eridas mudanças podem af etar adversamente a capacidade  produtiva e de entrega dos produtos agrícolas pelos devedores, cenário este que impactará  negativamente a capacidade de pagamento dos Ativos-Alvo integrantes da carteira da Classe  pelos devedores e, conforme o caso, pelas pessoas devedoras dos bens e direitos onerados  em f avor da Classe.</a:t>
            </a:r>
          </a:p>
          <a:p>
            <a:r>
              <a:t>CNPJ 62696791000193 · Devedor e consignação · Condição: Documentos atuais selecionados no inventário por categoria/escopo; a data documental isolada não comprova vigência jurídica.</a:t>
            </a:r>
          </a:p>
          <a:p>
            <a:r>
              <a:t>CNPJ 62696791000193 · Devedor e consignação · Versão e prevalência: Documentos atuais selecionados no inventário por categoria/escopo; a data documental isolada não comprova vigência jurídica.</a:t>
            </a:r>
          </a:p>
          <a:p>
            <a:r>
              <a:t>CNPJ 55563624000109 · Devedor e consignação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Devedor e consignação · Resumo do histórico: {"count": 1, "dates": ["2026-04-30"], "document_count": 1, "sources": [{"document_id": "1192614", "title": "Regulamento", "reference_date": "2026-04-30", "version": "1", "page": "11-12", "url": "https://fnet.bmfbovespa.com.br/fnet/publico/visualizarDocumento?id=1192614", "sha256": "f56e63ace0acde41d2f47fb48f1ac7f3f7df5e2d32de092d7c5e075a52516632"}], "reference": {"path": "history/55563624000109.json", "criterion_id": "debtor", "total_count": 1, "preview_count": 1, "full_text_deferred": true, "sha256": "7835d573fb58a3c19adf5b8ecc2aee2bdbb9a88f7a0c0209b5f262b64c7522e3"}}</a:t>
            </a:r>
          </a:p>
          <a:p>
            <a:r>
              <a:t>CNPJ 62552447000120 · Devedor e consignação · Regulamento · ID 1200623 · 2026-05-21 · versão 1 · p. 35 · https://fnet.bmfbovespa.com.br/fnet/publico/visualizarDocumento?id=1200623</a:t>
            </a:r>
          </a:p>
          <a:p>
            <a:r>
              <a:t>CNPJ 62552447000120 · Devedor e consignação · Excerto da fonte:</a:t>
            </a:r>
          </a:p>
          <a:p>
            <a:r>
              <a:t>ativos desses emissores, causando perdas à Classe e ao Cotista. Além disso, a f alta de capacidade ou disposição de pagar por qualquer dos emissores dos Ativos Financeiros de Liquidez ou das contrapartes nas transações que compõem a Carteira causará perdas à Classe, e o que também poderá incorrer em custos para f ins de recuperação de seus recebíveis.</a:t>
            </a:r>
          </a:p>
          <a:p>
            <a:r>
              <a:t>(v) Riscos associados aos Devedores: no caso de Devedores no âmbito das operações de consignado privado, a sua capacidade de pagamento poderá ser af etada se, por exemplo, o Devedor tiver o seu contrato de emprego rescindido ou em virtude de decisão judicial, o Devedor for obrigado a pagar alimentos, que têm prioridade sobre o empréstimo para f ins de desconto na f 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 etar a rentabilidade da Classe. Já no caso de Devedores no âmbito das operações de Saque-aniversário, como os Direitos Creditórios a serem endossados à Classe serão descontados pelo FGTS da remuneração do Devedor, na ocorrência de qualquer evento que, nos termos da legislação aplicável, determine o pagamento antecipado do Saque-aniversário ao Devedor, a exemplo do falecimento do Devedor, dentre outros, as parcelas do Saque- aniversário serão pagas antecipadamente e a Classe deverá utilizar tais montantes no pré-pagamento dos Direitos Creditórios. Nesta hipótese, a Classe poderá não encontrar Direitos Creditórios disponíveis para serem adquiridos pela Classe, o que poderá af etar a rentabilidade da Classe.</a:t>
            </a:r>
          </a:p>
          <a:p>
            <a:r>
              <a:t>Risco de liquidez</a:t>
            </a:r>
          </a:p>
          <a:p>
            <a:r>
              <a:t>(i) Risco de liquidez: consiste no risco de redução ou inexistência de demanda pelos ativos que compõem a Classe nos respectivos mercados em que são negociados, devido às condições específicas desses ativos ou aos mercados em que são negociados. Devido a esses riscos, o Gestor poderá encontrar dificuldades em liquidar posições ou negociar esses ativos pelo preço e prazo desejados, de acordo com a estratégia de gestão adotada pela Classe, que permanecerá exposto, durante o período de baixa liquidez, aos riscos associados a esses ativos e posições assumidas em mercados de derivativos, se houver, que poderão até exigir que o Gestor aceite descontos em seus preços para realizar negociações no mercado. Esses f atores poderão prejudicar o pagamento de Amortizações ao Cotista, nos valores e dentro dos termos aqui estabelecidos.</a:t>
            </a:r>
          </a:p>
          <a:p>
            <a:r>
              <a:t>(ii) Riscos do mercado secundário: A Classe é constituída sob a f orma de condomínio fechado, de modo que as Cotas somente serão resgatadas em virtude da liquidação da Classe. Uma vez que o Prazo de Duração da Classe é indeterminado, o Cotista titular das Cotas não terá liquidez em seu investimento na Classe, exceto</a:t>
            </a:r>
          </a:p>
          <a:p>
            <a:r>
              <a:t>(a) por ocasião das Amortizações e dos resgates, nos termos deste Regulamento; (b) por meio da alienação de suas Cotas no mercado secundário; ou (c) na liquidação antecipada do FUNDO ou da Classe.</a:t>
            </a:r>
          </a:p>
          <a:p>
            <a:r>
              <a:t>Além disso, atualmente, o mercado secundário de cotas de fundos de investimento apresenta baixa liquidez, o que pode dificultar a venda das Cotas ou ocasionar a obtenção de um preço de venda que cause perda de patrimônio ao Cotista. Não há qualquer garantia do Administrador, do Gestor, da consultora ou do Custodiante em relação à possibilidade de venda das Cotas no mercado secundário ou ao preço obtido por elas, ou mesmo garantia de saída ao Cotista.</a:t>
            </a:r>
          </a:p>
          <a:p>
            <a:r>
              <a:t>Riscos específicos</a:t>
            </a:r>
          </a:p>
          <a:p>
            <a:r>
              <a:t>(i)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ficar inadimplente e, consequentemente, não haverá repasse à Classe do respectivo Direito Creditório, o que poderá resultar em perdas f inanceiras à Classe e aos Cotistas. Para os f ins deste Regulamento, “Empregador” signif ica a empresa com qual o Devedor mantém vínculo empregatício registrado junto à CTPS.</a:t>
            </a:r>
          </a:p>
          <a:p>
            <a:r>
              <a:t>(ii) Risco do Empregador não efetuar o desconto em folha: o repasse dos recursos oriundos dos Direitos Creditórios à Classe depende da realização, pelo Empregador, da escrituração da Consignação a ser</a:t>
            </a:r>
          </a:p>
          <a:p>
            <a:r>
              <a:t>CNPJ 62552447000120 · Devedor e consignação · Regulamento · ID 1200623 · 2026-05-21 · versão 1 · p. 36 · https://fnet.bmfbovespa.com.br/fnet/publico/visualizarDocumento?id=1200623</a:t>
            </a:r>
          </a:p>
          <a:p>
            <a:r>
              <a:t>CNPJ 62552447000120 · Devedor e consignação · Excerto da fonte:</a:t>
            </a:r>
          </a:p>
          <a:p>
            <a:r>
              <a:t>realizada pelo empregador, junto ao eSocial, após recebimento de notificação comunicando-o da contratação, pelo Devedor, do empréstimo a ser pago por Consignação (“Escrituração”), e do desconto na respectiva folha de pagamento do Devedor. Na hipótese do Empregador deixar de realizar a Escrituração ou os descontos na f olha de pagamento, não haverá repasse de recursos à Classe, podendo causar prejuízos à Classe e aos Cotistas.</a:t>
            </a:r>
          </a:p>
          <a:p>
            <a:r>
              <a:t>(iii) Risco de perda do vínculo empregatício com o Empregador: caso o Devedor perca o vínculo empregatício com o Empregador, não haverá remuneração e f olha de pagamento para realização dos descontos para pagamento dos Direitos Creditórios. Neste caso, não obstante a possibilidade do Agente de Retenção e Cobrança realizar a cobrança ativa dos Direitos Creditórios diretamente do Devedor, a ausência de remuneração poderá deixar o Devedor inadimplente perante a Classe até que o seu vínculo empregatício seja retomado e seja efetuado o procedimento operacional para que a CCB seja aditada e/ou seja realizado o Processo de Reinicialização. Tais situações poderão resultar em prejuízos à Classe e aos Cotistas.</a:t>
            </a:r>
          </a:p>
          <a:p>
            <a:r>
              <a:t>(iv) Risco relativo ao Agente de Retenção e Cobrança: A solvência do Agente de Retenção e Cobrança quanto às suas obrigações financeiras poderá impactar o cumprimento de suas obrigações perante a Classe e, consequentemente, os rendimentos da Classe poderão ser adversamente af etados.</a:t>
            </a:r>
          </a:p>
          <a:p>
            <a:r>
              <a:t>Riscos operacionais</a:t>
            </a:r>
          </a:p>
          <a:p>
            <a:r>
              <a:t>(i) Risco de irregularidade dos Documentos Comprobatórios e/ou Documentos Suporte: o terceiro contratado pelo Gestor, que atuará sob responsabilidade do Gestor, deverá realizar a verif icação da regularidade dos Documentos Comprobatórios. A Carteira poderá conter Direitos Creditórios com documentação irregular, o que poderá impedir que a Classe exerça plenamente as prerrogativas derivadas da titularidade dos Direitos Creditórios.</a:t>
            </a:r>
          </a:p>
          <a:p>
            <a:r>
              <a:t>(ii) Risco operacional da Dataprev e da CEF: o empréstimo contraído pelos Devedores é pago por meio de desconto na f olha de pagamento f eito pela Dataprev e pela CEF, conf orme aplicável. É possível que os rendimentos dos Devedores sejam atrasados ou não pagos devido a questões operacionais envolvendo a Dataprev e/ou a CEF. Nesse caso, a Carteira poderá sofrer, já que não receberá automaticamente, e também poderá ter dificuldades para receber, a qualquer momento, os recursos decorrentes dos Direitos Creditórios.</a:t>
            </a:r>
          </a:p>
          <a:p>
            <a:r>
              <a:t>(iii) Risco operacional do FGTS: o empréstimo contraído pelos Devedores é pago por meio de desconto dos Saques-aniversário feitos pelo FGTS. É possível que os rendimentos dos Devedores sejam atrasados ou não pagos devido a questões operacionais envolvendo a CEF, incluindo, sem se limitar, a erros e atrasos operacionais envolvendo a CEF. Nesse caso, a Carteira poderá sofrer, já que não receberá automaticamente, e também poderá ter dif iculdades para receber, a qualquer momento, os recursos decorrentes dos Direitos Creditórios.</a:t>
            </a:r>
          </a:p>
          <a:p>
            <a:r>
              <a:t>(iv) Risco de validação das informações para conciliação e reconciliação dos Direitos Creditórios adquiridos pela Classe: as inf ormações para conciliação dos pagamentos, sendo considerado como tal, também, o Arquivo Dataprev e o Arquivo de Liquidação Saque-aniversário, listando todos os empregados cujas f olhas de pagamento ou Saques Aniversário serão sujeitos a desconto no mês, nos valores acordados ao ef etuar a Consignação, e qualquer glosa será enviada pela CEF ao Endossante, que efetuará a conciliação e, posteriormente, enviará as informações ao Custodiante. Caso o Endossante não forneça essas informações em tempo hábil ou for verificada qualquer inconsistência nas informações recebidas pelo Custodiante, poderá isso impedir ou dar origem a falhas no processo de reconciliação dos valores depositados na Conta da Classe e causando perdas à Classe e ao Cotista.</a:t>
            </a:r>
          </a:p>
          <a:p>
            <a:r>
              <a:t>(v) Risco operacional dos sistemas: o desconto na f olha de pagamento e/ou nos Saques Aniversário das parcelas da CCB e a transf erência para o Endossante dos Direitos Creditórios serão processados por meio da Plataforma Dataprev, e o Endossante, o Administrador ou o Gestor não têm controle sobre esse processo.</a:t>
            </a:r>
          </a:p>
          <a:p>
            <a:r>
              <a:t>Assim, qualquer falha ou mudança nesse sistema poderá atrasar ou reduzir o desconto dos rendimentos dos Devedores ou sua transferência para a Classe. Nesse caso, a rentabilidade e a propriedade da Classe poderão ser adversamente af etadas enquanto o problema do sistema persistir, ou até que todos os valores sejam devidamente transf eridos.</a:t>
            </a:r>
          </a:p>
          <a:p>
            <a:r>
              <a:t>(vi) Risco operacional: em linha com as Cláusulas 4.3.1 e 4.3.2 do Anexo I deste Regulamento, o</a:t>
            </a:r>
          </a:p>
          <a:p>
            <a:r>
              <a:t>CNPJ 62552447000120 · Devedor e consignação · Regulamento · ID 1200623 · 2026-05-21 · versão 1 · p. 5 · https://fnet.bmfbovespa.com.br/fnet/publico/visualizarDocumento?id=1200623</a:t>
            </a:r>
          </a:p>
          <a:p>
            <a:r>
              <a:t>CNPJ 62552447000120 · Devedor e consignação · Excerto da fonte:</a:t>
            </a:r>
          </a:p>
          <a:p>
            <a:r>
              <a:t>O objetivo da Classe é proporcionar aos seus Cotistas a valorização de  suas Cotas por meio da aplicação de seu Patrimônio Líquido na aquisição  de:</a:t>
            </a:r>
          </a:p>
          <a:p>
            <a:r>
              <a:t> (i) “Direitos Creditórios”, assim entendidos como, em conjunto:</a:t>
            </a:r>
          </a:p>
          <a:p>
            <a:r>
              <a:t> (a) “Direitos Creditórios Consignado Privado”, na forma de  cédulas de crédito bancário, regidas pela Lei n.º 10.931,  de 2 de agosto de 2004, conforme alterada (“CCBs”),  emitidas eletronicamente por Devedores, em f avor do  Endossante, representando um empréstimo pessoal  consignado, de forma que o pagamento ocorra mediante  desconto de cada prestação vincenda da CCB na f olha  de pagamentos do Devedor (“Consignação”);</a:t>
            </a:r>
          </a:p>
          <a:p>
            <a:r>
              <a:t> (b) “Direitos Creditórios FGTS”, na f orma de CCBs  emitidas eletronicamente por Devedores, em f avor do  Objetivo Endossante, representando um empréstimo pessoal com  garantia de cessão f iduciária dos valores a que f azem jus  os Devedores ref erentes ao saque anual permitido aos  benef iciários do Fundo de Garantia do Tempo de Serviço  (“FGTS”) em seu mês de aniversário (“Saque-  aniversário”), regulado pela Lei n.º 8.036, de 11 de maio  de 1990, conforme alterada (“Lei 8.036”), nos termos dos  arts. 20, inciso XX, 20-A, inciso II, e 20-D, § 3º, da Lei</a:t>
            </a:r>
          </a:p>
          <a:p>
            <a:r>
              <a:t> 8.036, do art. 66-B da Lei n.º 4.728, de 14 de julho de  1965, e da Resolução CC/FGTS n.º 958, de 24 de abril  de 2020, conforme alterada (“Resolução FGTS 958”), de  f orma que parte do Saque-aniversário é utilizada para  liquidar as parcelas devidas da CCB;</a:t>
            </a:r>
          </a:p>
          <a:p>
            <a:r>
              <a:t> (c) “Direitos Creditórios TVM”, na f orma de direitos, títulos  e/ou valores mobiliários representativos de créditos  originados no âmbito de operações de sociedades</a:t>
            </a:r>
          </a:p>
          <a:p>
            <a:r>
              <a:t>CNPJ 62552447000120 · Devedor e consignação · Condição: Documentos atuais selecionados no inventário por categoria/escopo; a data documental isolada não comprova vigência jurídica.</a:t>
            </a:r>
          </a:p>
          <a:p>
            <a:r>
              <a:t>CNPJ 62552447000120 · Devedor e consignação · Versão e prevalência: Documentos atuais selecionados no inventário por categoria/escopo; a data documental isolada não comprova vigência jurídica.</a:t>
            </a:r>
          </a:p>
          <a:p>
            <a:r>
              <a:t>CNPJ 63953620000165 · Devedor e consignação · Anexo ao Regulamento · ID 1222863 · 2026-06-02 · versão 1 · p. 1 · 1.1 · https://fnet.bmfbovespa.com.br/fnet/publico/visualizarDocumento?id=1222863</a:t>
            </a:r>
          </a:p>
          <a:p>
            <a:r>
              <a:t>CNPJ 63953620000165 · Devedor e consignação · Excerto da fonte:</a:t>
            </a:r>
          </a:p>
          <a:p>
            <a:r>
              <a:t>1.1 As principais características da Classe Consignado Privado (para fins deste Anexo, “Classe”) estão descritas  abaixo:</a:t>
            </a:r>
          </a:p>
          <a:p>
            <a:r>
              <a:t> Tipo de Condomínio Fechado.</a:t>
            </a:r>
          </a:p>
          <a:p>
            <a:r>
              <a:t> Indeterminado, exceto se de outra forma vier a ser deliberado pelos Cotistas  Prazo de Duração  reunidos em Assembleia Especial de Cotistas. (“Prazo de Duração”)  Tipo “Financeiro”.</a:t>
            </a:r>
          </a:p>
          <a:p>
            <a:r>
              <a:t> Classificação ANBIMA  Foco de atuação “Créditos Consignados”.</a:t>
            </a:r>
          </a:p>
          <a:p>
            <a:r>
              <a:t> O objetivo da classe é proporcionar aos seus Cotistas a valorização de suas Cotas  por meio da aplicação de seu Patrimônio Líquido (conforme definido abaixo) na  aquisição de: (i) “Direitos Creditórios Crédito Consignado”, representados por  cédula de crédito bancário regida pela Lei nº 10.931, emitida eletronicamente por  um devedor em favor do endossante (“CCB”) e, consequentemente, os recebíveis  decorrente de cada uma das parcelas vincendas, representando um empréstimo  consignado concedido pelo endossante ao devedor, e cujo pagamento ordinário  é feito por desconto de cada prestação vincenda de uma CCB na folha de  pagamentos do devedor (“Consignação”), efetuada pela Caixa Econômica  Federal, de acordo com a legislação aplicável e em conformidade com os  procedimentos estabelecidos no convênio celebrado entre o Endossante e a  Empresa de Tecnologia e Informações da Previdência – DATAPREV e paga na  Conta Vinculada do Endossante (“Convênio Consignado Privado”); e/ou (ii)  “Direitos Creditórios TVM”, representados por direitos, títulos e/ou valores  mobiliários representativos de créditos originados no âmbito de operações de  sociedades integrantes do conglomerado econômico de instituições financeiras  classificadas como S1 pelo BACEN, desde que não representem títulos de  emissão ou coobrigação de instituições financeiras, bem como cotas de fundos  de investimento que invistam preponderantemente nestes direitos, títulos e/ou  Objetivo  valores mobiliários (Direitos Creditórios TVM quando referidos em conjunto  com os Direitos Creditórios Consignado Privado, “Direitos Creditórios”)  observados todos os limites de composição e diversificação da carteira da Classe  (“Carteira”), estabelecidos neste Regulamento e na regulamentação aplicável.</a:t>
            </a:r>
          </a:p>
          <a:p>
            <a:r>
              <a:t> Subsidiariamente, a parcela do Patrimônio Líquido que não esteja alocada em  Direitos Creditórios poderá estar alocado em: (1) certificados de depósito  bancário (CDB) ou recibos de depósito bancário (RDB) com prazo máximo de  vencimento equivalente ao prazo remanescente do Período de Investimento, com  liquidez diária, emitidos por Parati Crédito, Financiamento e Investimento S.A.</a:t>
            </a:r>
          </a:p>
          <a:p>
            <a:r>
              <a:t> e/ou pelo Endossante (“Ativos de Liquidez MT”); e/ou (2) (i) moeda corrente  nacional; (ii) títulos do Tesouro SELIC, anteriormente denominado letra financeira  do Tesouro Nacional (LFT); (iii) certificados de depósito bancário (CDB) ou recibos  de depósito bancário (RDB) com prazo máximo de vencimento equivalente ao  prazo remanescente do Período de Investimento, com liquidez diária, emitidos  por (a) Itaú Unibanco S.A.; (b) Banco Bradesco S.A.; (c) Caixa Econômica Federal;</a:t>
            </a:r>
          </a:p>
          <a:p>
            <a:r>
              <a:t> (d) Banco do Brasil S.A.; (e) Banco Santander (Brasil) S.A.; (f) Banco BTG Pactual  S.A.; (g) Banco Sistema S.A. (“Instituições Autorizadas”); (iv) operações  compromissadas, desde que lastreadas nos títulos mencionados nas alíneas (i) a</a:t>
            </a:r>
          </a:p>
          <a:p>
            <a:r>
              <a:t> (iii) acima, emitidas por Instituições Autorizadas, com liquidez diária e vencimento</a:t>
            </a:r>
          </a:p>
          <a:p>
            <a:r>
              <a:t>CNPJ 63953620000165 · Devedor e consignação · Anexo ao Regulamento · ID 1222863 · 2026-06-02 · versão 1 · p. 19 · 12.6 · https://fnet.bmfbovespa.com.br/fnet/publico/visualizarDocumento?id=1222863</a:t>
            </a:r>
          </a:p>
          <a:p>
            <a:r>
              <a:t>CNPJ 63953620000165 · Devedor e consignação · Excerto da fonte:</a:t>
            </a:r>
          </a:p>
          <a:p>
            <a:r>
              <a:t>12.6 A Classe contratou a Tudo Serviços S.A., sociedade anônima, com sede no município de Fortaleza, Estado do Ceará,  na Avenida Senador Virgulo Távora, nº 303, Lojas 02, 03, 04, 05, 06 e 19, Meireles, CEP 60.170-265, inscrita no CNPJ  sob o nº 27.852.506/0001-85, cujos deveres, sem prejuízo daqueles estabelecidos neste Regulamento, no  “Contrato de Serviços de Retenção e Cobrança e Outras Avenças”, celebrado entre o Agente de  Retenção/Cobrança e a Classe (“Contrato de Serviços MT”) e no Contrato de Endosso, consistirão no  monitoramento e cobrança dos Direitos Creditórios Inadimplidos, observado o disposto neste Anexo I e na  regulamentação aplicável (“Agente de Retenção/Cobrança”):</a:t>
            </a:r>
          </a:p>
          <a:p>
            <a:r>
              <a:t> (i) caso aplicável, atuar na retenção (defesa) de operações de empréstimo consignado cujos Direitos  Creditórios sejam de titularidade da Classe, em caso de tentativa de transferência de tais operações de  empréstimo consignado por instituições proponentes, nos termos da Resolução CMN nº 5.057, em razão de  ofertas de portabilidade feitas por tais instituições proponentes, conforme informado pelo Endossante ou pelo  Custodiante ao Agente de Retenção/Cobrança, diariamente, de acordo com o Contrato de Endosso; sendo  que tal serviço deverá incluir, entre outras atividades auxiliares a ele relacionadas, a avaliação das ofertas de  portabilidade feitas pelas instituições proponentes, buscando, se for o caso, esclarecer as vantagens de não  recorrer à portabilidade, retendo a respectiva operação de empréstimo consignado em seus termos atuais;</a:t>
            </a:r>
          </a:p>
          <a:p>
            <a:r>
              <a:t> (ii) mediante inadimplemento de um Direito Creditório devido à indisponibilidade da margem de crédito do  Devedor, auxiliar o Endossante com o Processo de Reinicialização (conforme detalhado no Contrato de  Endosso) em relação ao respectivo Direito Creditório;</a:t>
            </a:r>
          </a:p>
          <a:p>
            <a:r>
              <a:t> (iii) manter e operar um serviço de atendimento ao consumidor - SAC e uma ouvidoria em conformidade  com os regulamentos aplicáveis, monitorar e resolver reclamações e solicitações de Devedores com  relação às operações de empréstimo consignado que dão origem aos Direitos Creditórios, em  conformidade com o Acordo de Parceria;</a:t>
            </a:r>
          </a:p>
          <a:p>
            <a:r>
              <a:t> (iv) realizar a cobrança dos Direitos Creditórios Inadimplidos;</a:t>
            </a:r>
          </a:p>
          <a:p>
            <a:r>
              <a:t> (v) auxiliar o Endossante na correção de qualquer irregularidade relevante identificada com relação à  originação dos Direitos Creditórios;</a:t>
            </a:r>
          </a:p>
          <a:p>
            <a:r>
              <a:t> (vi) realizar a renegociação junto aos Devedores de Direitos Creditórios Inadimplidos e, caso aplicável, celebrar  aditamento à CCB para refletir os novos termos, decorrentes da renegociação  CAPÍTULO 13 – REMUNERAÇÃO DOS PRESTADORES DE SERVIÇOS  0,05% (cinco centésimos por cento) ao ano, apropriada diariamente na base de 252  (duzentos e cinquenta e dois) Dias Úteis, e paga mensalmente até o 5º (quinto) Dia  Útil do mês subsequente ao mês que se refere, incidente sobre o Patrimônio Líquido  da Classe alocado em Direitos Creditórios Consignado Privado e/ou Ativos de  Liquidez MT, observada remuneração mínima mensal de R$ 2.500,00 (dois mil e  quinhentos reais), a ser corrigida anualmente, em janeiro de cada ano, pela variação  Taxa de Administração  positiva do Índice Geral de Preços – Mercado, divulgado pela Fundação Getúlio  Vargas (“Taxa de Administração” e “IGP-M”, respectivamente).</a:t>
            </a:r>
          </a:p>
          <a:p>
            <a:r>
              <a:t> Na hipótese de extinção do IGP-M, não divulgação ou impossibilidade de sua  utilização, será utilizado o Índice Geral de Preços – Disponibilidade Interna,  divulgado pela Fundação Getúlio Vargas, ou, na falta de ambos, pela variação do IPC  – Índice de Preços ao Consumidor, divulgado pela Fundação Instituto de Pesquisas</a:t>
            </a:r>
          </a:p>
          <a:p>
            <a:r>
              <a:t>CNPJ 63953620000165 · Devedor e consignação · Anexo ao Regulamento · ID 1222863 · 2026-06-02 · versão 1 · p. 2 · https://fnet.bmfbovespa.com.br/fnet/publico/visualizarDocumento?id=1222863</a:t>
            </a:r>
          </a:p>
          <a:p>
            <a:r>
              <a:t>CNPJ 63953620000165 · Devedor e consignação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Devedor e consignação · Condição: Documentos atuais selecionados no inventário por categoria/escopo; a data documental isolada não comprova vigência jurídica.</a:t>
            </a:r>
          </a:p>
          <a:p>
            <a:r>
              <a:t>CNPJ 63953620000165 · Devedor e consignação · Versão e prevalência: Documentos atuais selecionados no inventário por categoria/escopo; a data documental isolada não comprova vigência jurídica.</a:t>
            </a:r>
          </a:p>
          <a:p>
            <a:r>
              <a:t>CNPJ 63953620000165 · Devedor e consignação · Resumo do histórico: {"count": 8, "dates": ["2026-04-28", "2026-05-08", "2026-05-15"], "document_count": 3, "sources": [{"document_id": "1327859", "title": "Demonstrações Financeiras - Fusão, cisão e incorporação", "reference_date": "2026-05-15", "version": "1", "page": 22, "url": "https://fnet.bmfbovespa.com.br/fnet/publico/visualizarDocumento?id=1327859", "sha256": "dca1c68babb97f887528c3e2e47596a9c30f507b067981a35655b2f2da9c8054"}, {"document_id": "1298691", "title": "Demonstrações Financeiras - Fusão, cisão e incorporação", "reference_date": "2026-05-08", "version": "1", "page": 22, "url": "https://fnet.bmfbovespa.com.br/fnet/publico/visualizarDocumento?id=1298691", "sha256": "58c570d9b8d4d265330d3db3ea81c435b8e44a6dab4002aa37790652a1ee9819"}, {"document_id": "1282180", "title": "Demonstrações Financeiras - Fusão, cisão e incorporação", "reference_date": "2026-04-28", "version": "1", "page": 22, "url": "https://fnet.bmfbovespa.com.br/fnet/publico/visualizarDocumento?id=1282180", "sha256": "afaaa0e6809be4385e5bdb6c911aac582032c5bdbac3d7750234bf9eaf00438a"}], "reference": {"path": "history/63953620000165.json", "criterion_id": "debtor", "total_count": 8, "preview_count": 3, "full_text_deferred": true, "sha256": "a7b89077f5e21098c2d601c303faabc3ff6b9729f89d8afecdc60fe1404720c1"}}</a:t>
            </a:r>
          </a:p>
          <a:p>
            <a:r>
              <a:t>CNPJ 54871427000194 · Elegibilidade · Regulamento · ID 670691 · 28/04/2024 · versão Regulamento — referência 28/04/2024 · p. 9 · Anexo I, 4.7(i)–(iv) · https://fnet.bmfbovespa.com.br/fnet/publico/visualizarDocumento?id=670691</a:t>
            </a:r>
          </a:p>
          <a:p>
            <a:r>
              <a:t>CNPJ 54871427000194 · Elegibilidade · Excerto da fonte:</a:t>
            </a:r>
          </a:p>
          <a:p>
            <a:r>
              <a:t>4.7 A Classe somente poderá adquirir os Direitos Creditórios que atendam cumulativamente aos seguintes Critérios de Elegibilidade, a serem verif icados e validados pelo GESTOR, de f orma individualizada e integral, previamente à cessão e na respectiva Data de Aquisição, de modo que apenas são passíveis de aquisição pela Classe os Direitos Creditórios que, na Data de Aquisição: (i) CCBs sem qualquer parcela cedida; (ii) CCBs com diferença menor que 60 (sessenta) dias entre a data provável do endosso e a próxima parcela a vencer; (iii) CCBs cujo valor da prestação seja superior a R$ 30,00 (trinta reais); (iv) Idade do Devedor somada ao prazo remanescente da CCB deve ser igual ou inferior a 80 (oitenta) anos; BTG Pactual SAC: 0800 772 28 27 - Ouvidoria: 0800 722 00 48 - btgpactual.com 3</a:t>
            </a:r>
          </a:p>
          <a:p>
            <a:r>
              <a:t>CNPJ 54871427000194 · Elegibilidade · Regulamento · ID 670691 · 28/04/2024 · versão Regulamento — referência 28/04/2024 · p. 10 · Anexo I, 4.7(v)–(xi) · https://fnet.bmfbovespa.com.br/fnet/publico/visualizarDocumento?id=670691</a:t>
            </a:r>
          </a:p>
          <a:p>
            <a:r>
              <a:t>CNPJ 54871427000194 · Elegibilidade · Excerto da fonte:</a:t>
            </a:r>
          </a:p>
          <a:p>
            <a:r>
              <a:t>(v) CCBs que até a Data do Endosso não estejam pendentes de res olução em relação a uma comprovada reclamação do devedor junto ao Banco Central do Brasil ou ao Procon; (vi) CCBs que não sejam originadas por pessoa física condenada por terem submetido trabalhadores a condições análogas à de escravo – denominada “Lista Suja”; (vii) CCBs sem parcela em atraso; (viii) Aquisição de todas as parcelas vincendas das CCBs, não sendo possível a aquisição de fluxo parcial; (ix) CCBs vinculadas ao órgão convenente, desde que o convênio não se encontre na Data de Aquisição em situação de suspensão; (x) Devedores adimplentes junto ao Endossante com relação aos Direitos Creditórios endossados à Classe; CCB cuja amortização ordinária dos valores devidos, nos últimos 60 (sessenta) dias, tenha ocorrido de f orma integral e ordinária. Na primeira tranche de aquisição de Direitos Creditórios pelo Endossatário tal prazo poderá ser reduzido para 30 (trinta) dias nos casos de amortização extraordinária (via boleto) desde que o valor de aquisição dos ref eridos Direitos Creditórios não ultrapasse R$ 30.000,00 (trinta mil reais), exc</a:t>
            </a:r>
          </a:p>
          <a:p>
            <a:r>
              <a:t>CNPJ 54871427000194 · Elegibilidade · Versão e prevalência: Leitura específica das cláusulas indicadas; condições e conflitos preservados. Seleção documental atual não comprova vigência jurídica por data isolada.</a:t>
            </a:r>
          </a:p>
          <a:p>
            <a:r>
              <a:t>CNPJ 54871427000194 · Elegibilidade · Resumo do histórico: {"count": 2, "dates": ["2024-04-19", "2024-04-28"], "document_count": 2, "sources": [{"document_id": "670691", "title": "Regulamento", "reference_date": "2024-04-28", "version": "1", "page": "9-10", "clause": "4.7", "url": "https://fnet.bmfbovespa.com.br/fnet/publico/visualizarDocumento?id=670691", "sha256": "bf16dd7f1a62d5cdbf2e2d54fef81783783f7310fbc99c3a8f00459bdf9d037b"}, {"document_id": "670689", "title": "Regulamento", "reference_date": "2024-04-19", "version": "1", "page": 10, "clause": "4.7.3", "url": "https://fnet.bmfbovespa.com.br/fnet/publico/visualizarDocumento?id=670689", "sha256": "891bc9bc5d87bbc02ec139077a84d2702eb81ea02035fb71d24f5b8366b94a0b"}], "reference": {"path": "history/54871427000194.json", "criterion_id": "eligibility", "total_count": 2, "preview_count": 2, "full_text_deferred": true, "sha256": "35d7cd99be50c7287c9fb675cf4f2e736002315295a225a9efa79c8d9186d874"}}</a:t>
            </a:r>
          </a:p>
          <a:p>
            <a:r>
              <a:t>CNPJ 60010416000112 · Elegibilidade · Regulamento · ID 1051393 · 2025-10-09 · versão 1 · p. 10 · 4.4.5 · https://fnet.bmfbovespa.com.br/fnet/publico/visualizarDocumento?id=1051393</a:t>
            </a:r>
          </a:p>
          <a:p>
            <a:r>
              <a:t>CNPJ 60010416000112 · Elegibilidade · Excerto da fonte:</a:t>
            </a:r>
          </a:p>
          <a:p>
            <a:r>
              <a:t>4.4.5. Caso um Direito Creditório endossado à Classe deixe de atender quaisquer Critérios de  Elegibilidade, quaisquer condições de endosso e/ou quaisquer declarações e garantias referentes  a esse Direito Creditório, conforme previsto no Contrato de Endosso, após seu endosso à Classe,  não haverá coobrigação nem direito de regresso da Classe contra o Endossante, o Administrador,  o Custodiante, o Gestor e/ou o Agente de Retenção/Cobrança, exceto em caso de má-fé, culpa  ou dolo comprovado, hipótese em que a parte que agiu com má-f é, culpa ou dolo comprovado  poderá ser responsabilizada pelas perdas incorridas pela Classe em relação aos respectivos  Direitos Creditórios. Se, entretanto, for constatado que um Direito Creditório endossado à Classe  não estava em conformidade com os Critérios de Elegibilidade, condições de endosso ou com as  declarações e garantias prestadas pelo Endossante no Contrato de Endosso, na respectiva data  de endosso, então o endosso desse Direito Creditório poderá ser objeto de resolução pela Classe.</a:t>
            </a:r>
          </a:p>
          <a:p>
            <a:r>
              <a:t> Nessa hipótese, a Classe terá o direito de resolver o endosso desse Direito Creditório, devolvendo-  o ao Endossante por valor a ser restituído à Classe. Adicionalmente, se f or constatado que um  Direito Creditório endossado à Classe não estava em conf ormidade com as declarações e  garantias prestadas pelo Agente de Retenção/Cobrança no Contrato de Endosso, na respectiva  data de endosso, então a Classe terá o direito de vender esse Direito Creditório ao Agente de  Retenção/Cobrança (opção de venda). A retrovenda ou a venda, conforme o caso, será realizada  de acordo com os termos, condições, formalidades e preços de recompra compulsória e opção de  venda detalhados no Contrato de Endosso.</a:t>
            </a:r>
          </a:p>
          <a:p>
            <a:r>
              <a:t>CNPJ 60010416000112 · Elegibilidade · Regulamento · ID 1051393 · 2025-10-09 · versão 1 · p. 9 · 4.3 · https://fnet.bmfbovespa.com.br/fnet/publico/visualizarDocumento?id=1051393</a:t>
            </a:r>
          </a:p>
          <a:p>
            <a:r>
              <a:t>CNPJ 60010416000112 · Elegibilidade · Excerto da fonte:</a:t>
            </a:r>
          </a:p>
          <a:p>
            <a:r>
              <a:t>4.3 Os Direitos Creditórios deverão contar com Documentos Comprobatórios que evidenciem sua existência,  validade e exequibilidade perante os respectivos Devedores.</a:t>
            </a:r>
          </a:p>
          <a:p>
            <a:r>
              <a:t> Critérios de Elegibilidade</a:t>
            </a:r>
          </a:p>
          <a:p>
            <a:r>
              <a:t>CNPJ 60010416000112 · Elegibilidade · Regulamento · ID 1051393 · 2025-10-09 · versão 1 · p. 9 · 4.4 · https://fnet.bmfbovespa.com.br/fnet/publico/visualizarDocumento?id=1051393</a:t>
            </a:r>
          </a:p>
          <a:p>
            <a:r>
              <a:t>CNPJ 60010416000112 · Elegibilidade · Excerto da fonte:</a:t>
            </a:r>
          </a:p>
          <a:p>
            <a:r>
              <a:t>4.4 A Classe somente poderá adquirir os Direitos Creditórios que atendam, cumulativamente, aos seguintes  Critérios de Elegibilidade, a serem verificados e validados pelo Gestor, de forma individualizada e integral,  previamente ao endosso do Direito Creditório, na respectiva Data de Aquisição:</a:t>
            </a:r>
          </a:p>
          <a:p>
            <a:r>
              <a:t> (i) os Direitos Creditórios deverão decorrer de empréstimo concedido pelo Endossante a um  Devedor, representado por uma CCB, com taxa de juros prefixada e vencimento final anterior  ao vencimento f inal da Classe;</a:t>
            </a:r>
          </a:p>
          <a:p>
            <a:r>
              <a:t>BTG Pactual SAC: 0800 772 28 27 - Ouvidoria: 0800 722 00 48 - btgpactual.com 9</a:t>
            </a:r>
          </a:p>
          <a:p>
            <a:r>
              <a:t>CNPJ 60010416000112 · Elegibilidade · Condição: Documentos atuais selecionados no inventário por categoria/escopo; a data documental isolada não comprova vigência jurídica.</a:t>
            </a:r>
          </a:p>
          <a:p>
            <a:r>
              <a:t>CNPJ 60010416000112 · Elegibilidade · Versão e prevalência: Documentos atuais selecionados no inventário por categoria/escopo; a data documental isolada não comprova vigência jurídica.</a:t>
            </a:r>
          </a:p>
          <a:p>
            <a:r>
              <a:t>CNPJ 60010416000112 · Elegibilidade · Resumo do histórico: {"count": 2, "dates": ["2025-03-20", "2025-10-09"], "document_count": 2, "sources": [{"document_id": "1051393", "title": "Regulamento", "reference_date": "2025-10-09", "version": "1", "page": "9-10", "clause": "4.4(ii)", "url": "https://fnet.bmfbovespa.com.br/fnet/publico/visualizarDocumento?id=1051393", "sha256": "8469d613078ffd5a6c1d217885d8a397a16342c0b937ae4aa24b106505f233ae"}, {"document_id": "993786", "title": "Regulamento", "reference_date": "2025-03-20", "version": "1", "page": 10, "clause": "4.4.5", "url": "https://fnet.bmfbovespa.com.br/fnet/publico/visualizarDocumento?id=993786", "sha256": "fd0fdd369a195510d81f81f505195a0b09e5f43522a990afa7d58c4f872921c8"}], "reference": {"path": "history/60010416000112.json", "criterion_id": "eligibility", "total_count": 2, "preview_count": 2, "full_text_deferred": true, "sha256": "8e2bd813f4c51cf01f6bfaad164bafe69d2bbb192f753eac92da3a01c2e63046"}}</a:t>
            </a:r>
          </a:p>
          <a:p>
            <a:r>
              <a:t>CNPJ 62696791000193 · Elegibilidade · Regulamento · ID 1143317 · 20/03/2026 · versão Regulamento — referência 20/03/2026 · p. 11 · Anexo I, 4.7–4.7.3 · https://fnet.bmfbovespa.com.br/fnet/publico/visualizarDocumento?id=1143317</a:t>
            </a:r>
          </a:p>
          <a:p>
            <a:r>
              <a:t>CNPJ 62696791000193 · Elegibilidade · Excerto da fonte:</a:t>
            </a:r>
          </a:p>
          <a:p>
            <a:r>
              <a:t>4.7 A Classe somente poderá adquirir os Direitos Creditórios do Agronegócio que atendam cumulativamente aos seguintes critérios de elegibilidade, a serem verificados e validados pelo Gestor, por amostragem, previamente à cessão e na respectiva data de aquisição dos Direitos Creditórios do Agronegócio (“Data de Aquisição”), de modo que apenas são passíveis de aquisição pela Classe os Direitos Creditórios do Agronegócio que, na Data de Aquisição (“Critérios de Elegibilidade”): (i) sejam representados em moeda corrente nacional; (ii) a natureza ou característica essencial dos Direitos Creditórios do Agronegócio deverá permitir o seu registro contábil e a sua custódia pelo Custodiante, de acordo com os procedimentos operacionais e contábeis praticados pelo Custodiante, ou seu registro em entidade registradora; (iii) sejam ativos de origem vinculada às cadeias produtivas do agronegócio ; e (iv) sejam representados por direitos e/ou títulos representativos de crédito, com ou sem garantias reais ou pessoais a eles atreladas, incluindo, sem limitação, duplicatas, debêntures, contratos de locação e contratos mercantis de compra e venda de produtos</a:t>
            </a:r>
          </a:p>
          <a:p>
            <a:r>
              <a:t>CNPJ 62696791000193 · Elegibilidade · Versão e prevalência: Leitura específica das cláusulas indicadas; condições e conflitos preservados. Seleção documental atual não comprova vigência jurídica por data isolada.</a:t>
            </a:r>
          </a:p>
          <a:p>
            <a:r>
              <a:t>CNPJ 55563624000109 · Elegibilidade · Regulamento · ID 1192614 · 30/04/2026 · versão Regulamento30/04/2026 · p. 12 · AnexoI4.6–4.8.2 · https://fnet.bmfbovespa.com.br/fnet/publico/visualizarDocumento?id=1192614</a:t>
            </a:r>
          </a:p>
          <a:p>
            <a:r>
              <a:t>CNPJ 55563624000109 · Elegibilidade · Excerto da fonte:</a:t>
            </a:r>
          </a:p>
          <a:p>
            <a:r>
              <a:t>4.6 As Cotas da Classe Investida deverão contar com Documentos Comprobatórios que evidenciem sua existência, validade e exequibilidade. 4.7 As Cotas da Classe Investida serão adquiridas pela Classe por meio: (i) de contratos de aquisição de Cotas da Classe Investida firmados entre a Classe e os respectivos vendedores das Cotas da Classe Investida; (ii) negociação em mercado organizado; e/ou (iii) da subscrição de Cotas da Classe Investida, colocadas de forma privada ou ofertadas publicamente, independentemente do regime de distribuição, observada a Política</a:t>
            </a:r>
          </a:p>
          <a:p>
            <a:r>
              <a:t>CNPJ 55563624000109 · Elegibilidade · Versão e prevalência: Leitura específica das cláusulas indicadas; condições e conflitos preservados. Seleção documental atual não comprova vigência jurídica por data isolada.</a:t>
            </a:r>
          </a:p>
          <a:p>
            <a:r>
              <a:t>CNPJ 55563624000109 · Elegibilidade · Resumo do histórico: {"count": 3, "dates": ["2025-01-31", "2026-01-31", "2026-04-30"], "document_count": 3, "sources": [{"document_id": "1192614", "title": "Regulamento", "reference_date": "2026-04-30", "version": "1", "page": "12", "url": "https://fnet.bmfbovespa.com.br/fnet/publico/visualizarDocumento?id=1192614", "sha256": "f56e63ace0acde41d2f47fb48f1ac7f3f7df5e2d32de092d7c5e075a52516632"}, {"document_id": "1178840", "title": "Demonstrações Financeiras", "reference_date": "2026-01-31", "version": "1", "page": 16, "url": "https://fnet.bmfbovespa.com.br/fnet/publico/visualizarDocumento?id=1178840", "sha256": "c458e98664c5c907ddb5a05a94b120bed4e05295b2bfc420f5ba69af0a229abe"}, {"document_id": "891861", "title": "Demonstrações Financeiras", "reference_date": "2025-01-31", "version": "1", "page": 16, "url": "https://fnet.bmfbovespa.com.br/fnet/publico/visualizarDocumento?id=891861", "sha256": "e9cb9e6ddbe505fe068cfcac33605165a98313489de0d3ce6d4d238263c3f3e7"}], "reference": {"path": "history/55563624000109.json", "criterion_id": "eligibility", "total_count": 3, "preview_count": 3, "full_text_deferred": true, "sha256": "7835d573fb58a3c19adf5b8ecc2aee2bdbb9a88f7a0c0209b5f262b64c7522e3"}}</a:t>
            </a:r>
          </a:p>
          <a:p>
            <a:r>
              <a:t>CNPJ 62552447000120 · Elegibilidade · Regulamento · ID 1200623 · 21/05/2026 · versão Consolidado21/05/2026 aprovado pelo ato1200625 · p. 6 · AnexoI1.2 Critérios(i)(a)–(b) · https://fnet.bmfbovespa.com.br/fnet/publico/visualizarDocumento?id=1200623</a:t>
            </a:r>
          </a:p>
          <a:p>
            <a:r>
              <a:t>CNPJ 62552447000120 · Elegibilidade · Excerto da fonte:</a:t>
            </a:r>
          </a:p>
          <a:p>
            <a:r>
              <a:t>Critérios de Elegibilidade”): (i) com relação a todos os Direitos Creditórios : (a) sejam representados em moeda corrente nacional; Critérios de Elegibilidade (b) a natureza ou característica essencial dos Direitos Creditórios deverá permitir o seu registro contábil e a sua custódia pelo Custodiante, de acordo com os procedimentos operacionais e contábeis praticados</a:t>
            </a:r>
          </a:p>
          <a:p>
            <a:r>
              <a:t>CNPJ 62552447000120 · Elegibilidade · Regulamento · ID 1200623 · 21/05/2026 · versão Consolidado21/05/2026 aprovado pelo ato1200625 · p. 7 · AnexoI1.2 Critérios(i)(c)–(v) · https://fnet.bmfbovespa.com.br/fnet/publico/visualizarDocumento?id=1200623</a:t>
            </a:r>
          </a:p>
          <a:p>
            <a:r>
              <a:t>CNPJ 62552447000120 · Elegibilidade · Excerto da fonte:</a:t>
            </a:r>
          </a:p>
          <a:p>
            <a:r>
              <a:t>(v) com relação aos Direitos Creditórios TVM: (a) representem, a qualquer momento, no máximo 10% (dez por cento) do Patrimônio Líquido. Sem prejuízo dos Critérios de Elegibilidade, a Classe somente poderá adquirir os Direitos Creditórios Ref inanciamento Livre, os Direitos Creditórios Consignado Privado e os Direitos Creditórios FGTS com relação aos quais tenha se verif icado as seguintes Condições de Endosso, na forma prevista na Cláusula 4.7 (“Co</a:t>
            </a:r>
          </a:p>
          <a:p>
            <a:r>
              <a:t>CNPJ 62552447000120 · Elegibilidade · Regulamento · ID 1200623 · 21/05/2026 · versão Consolidado21/05/2026 aprovado pelo ato1200625 · p. 12 · AnexoI4.6 · https://fnet.bmfbovespa.com.br/fnet/publico/visualizarDocumento?id=1200623</a:t>
            </a:r>
          </a:p>
          <a:p>
            <a:r>
              <a:t>CNPJ 62552447000120 · Elegibilidade · Excerto da fonte:</a:t>
            </a:r>
          </a:p>
          <a:p>
            <a:r>
              <a:t>4.6 A Classe somente poderá adquirir os Direitos Creditórios que, na data da sua aquisição (“Data de Aquisição”), atendam a todos os Critérios de Elegibilidade, a serem verif icados e validados pelo Gestor, de f orma individualizada e integral, e não por amostragem. 4.6.1 Para f ins da verificação dos Critérios de Elegibilidade, será considerado o Patrimônio Líquido e o valor dos Direitos Creditórios integrantes da Carteira no Dia Útil imediatamente anterior à Data de Aquisição. 4.6.2 Todos os Documentos Comprobatórios e, com relação a cada Direito Creditório, conforme apli</a:t>
            </a:r>
          </a:p>
          <a:p>
            <a:r>
              <a:t>CNPJ 62552447000120 · Elegibilidade · Versão e prevalência: Leitura específica das cláusulas indicadas; condições e conflitos preservados. Seleção documental atual não comprova vigência jurídica por data isolada.</a:t>
            </a:r>
          </a:p>
          <a:p>
            <a:r>
              <a:t>CNPJ 63953620000165 · Elegibilidade · Anexo ao Regulamento · ID 1222863 · 02/06/2026 · versão AnexoConsignadoPrivado02/06/2026 · p. 6 · 4.10–4.10.3 · https://fnet.bmfbovespa.com.br/fnet/publico/visualizarDocumento?id=1222863</a:t>
            </a:r>
          </a:p>
          <a:p>
            <a:r>
              <a:t>CNPJ 63953620000165 · Elegibilidade · Excerto da fonte:</a:t>
            </a:r>
          </a:p>
          <a:p>
            <a:r>
              <a:t>4.10 A Classe somente poderá adquirir os Direitos Creditórios que atendam cumulativamente aos Critérios de Elegibilidade, a serem verificados e validados pelo Gestor, de forma individualizada e integral, previamente à cessão e na respectiva data de aquisição dos Direitos Creditórios (“Data de Aquisição”), de modo que apenas são passíveis de aquisição pela Classe os Direitos Creditórios que, na Data de Aquisição, atendam a todos os Critérios de Elegibilidade. 4.10.1 Para fins da verificação dos Critérios de Elegibilidade, será considerado o Patrimônio Líquido e o valor dos Direitos Creditórios integrantes</a:t>
            </a:r>
          </a:p>
          <a:p>
            <a:r>
              <a:t>CNPJ 63953620000165 · Elegibilidade · Versão e prevalência: Leitura específica das cláusulas indicadas; condições e conflitos preservados. Seleção documental atual não comprova vigência jurídica por data isolada.</a:t>
            </a:r>
          </a:p>
          <a:p>
            <a:r>
              <a:t>CNPJ 63953620000165 · Elegibilidade · Resumo do histórico: {"count": 8, "dates": ["2026-04-28", "2026-05-08", "2026-05-15"], "document_count": 3, "sources": [{"document_id": "1327859", "title": "Demonstrações Financeiras - Fusão, cisão e incorporação", "reference_date": "2026-05-15", "version": "1", "page": 24, "url": "https://fnet.bmfbovespa.com.br/fnet/publico/visualizarDocumento?id=1327859", "sha256": "dca1c68babb97f887528c3e2e47596a9c30f507b067981a35655b2f2da9c8054"}, {"document_id": "1298691", "title": "Demonstrações Financeiras - Fusão, cisão e incorporação", "reference_date": "2026-05-08", "version": "1", "page": 24, "url": "https://fnet.bmfbovespa.com.br/fnet/publico/visualizarDocumento?id=1298691", "sha256": "58c570d9b8d4d265330d3db3ea81c435b8e44a6dab4002aa37790652a1ee9819"}, {"document_id": "1282180", "title": "Demonstrações Financeiras - Fusão, cisão e incorporação", "reference_date": "2026-04-28", "version": "1", "page": 25, "url": "https://fnet.bmfbovespa.com.br/fnet/publico/visualizarDocumento?id=1282180", "sha256": "afaaa0e6809be4385e5bdb6c911aac582032c5bdbac3d7750234bf9eaf00438a"}], "reference": {"path": "history/63953620000165.json", "criterion_id": "eligibility", "total_count": 8, "preview_count": 3, "full_text_deferred": true, "sha256": "a7b89077f5e21098c2d601c303faabc3ff6b9729f89d8afecdc60fe1404720c1"}}</a:t>
            </a:r>
          </a:p>
          <a:p>
            <a:r>
              <a:t>CNPJ 54871427000194 · Limites por contrato e devedor · Regulamento · ID 670691 · 28/04/2024 · versão Regulamento — referência 28/04/2024 · p. 10 · Anexo I, 4.7, parágrafo anterior ao inciso (xi) e inciso (xi) · https://fnet.bmfbovespa.com.br/fnet/publico/visualizarDocumento?id=670691</a:t>
            </a:r>
          </a:p>
          <a:p>
            <a:r>
              <a:t>CNPJ 54871427000194 · Limites por contrato e devedor · Excerto da fonte:</a:t>
            </a:r>
          </a:p>
          <a:p>
            <a:r>
              <a:t>CCB cuja amortização ordinária dos valores devidos, nos últimos 60 (sessenta) dias, tenha ocorrido de f orma integral e ordinária. Na primeira tranche de aquisição de Direitos Creditórios pelo Endossatário tal prazo poderá ser reduzido para 30 (trinta) dias nos casos de amortização extraordinária (via boleto) desde que o valor de aquisição dos ref eridos Direitos Creditórios não ultrapasse R$ 30.000,00 (trinta mil reais), exclusivamente via consignação em f olha de pagamento ou de benef ício; e (xi) Endosso de todas as CCBs de um mesmo Devedor que não ultrapasse 20% (vinte por cento) do patrimônio líquido da Classe. 4.7.1 Os Documentos Comprobatórios deverão ser disponibilizados pelo respectivo Endossante (a) no prazo de 10 (dez) dias contados da Data de Aquisição dos 50 (cinquenta) casos que sejam solicitados pelo GESTOR, a seu exclusivo critério, (b) a totalidade dos demais Documentos Comprobatórios em f ormato digital em até 90 (noventa) dias a contar da Data de Aquisição, bem como dos Documentos Comprobatórios em formato físico relativos aos Direitos Creditórios que eventualmente estejam inadimplidos em ref erida da</a:t>
            </a:r>
          </a:p>
          <a:p>
            <a:r>
              <a:t>CNPJ 54871427000194 · Limites por contrato e devedor · Condição: R$ 30 mil é teto da exceção de aquisição da primeira tranche; não é teto geral de cada CCB.</a:t>
            </a:r>
          </a:p>
          <a:p>
            <a:r>
              <a:t>CNPJ 54871427000194 · Limites por contrato e devedor · Motivo: Não localizada uma cláusula material para este critério nos textos identificados e processados. A ausência de resultado não comprova inexistência da regra.</a:t>
            </a:r>
          </a:p>
          <a:p>
            <a:r>
              <a:t>CNPJ 54871427000194 · Limites por contrato e devedor · Versão e prevalência: Leitura específica das cláusulas indicadas; condições e conflitos preservados. Seleção documental atual não comprova vigência jurídica por data isolada.</a:t>
            </a:r>
          </a:p>
          <a:p>
            <a:r>
              <a:t>CNPJ 60010416000112 · Limites por contrato e devedor · Regulamento · ID 1051393 · 09/10/2025 · versão Regulamento09/10/2025 · p. 10 · AnexoI4.4(ii), (iv),4.4.1 · https://fnet.bmfbovespa.com.br/fnet/publico/visualizarDocumento?id=1051393</a:t>
            </a:r>
          </a:p>
          <a:p>
            <a:r>
              <a:t>CNPJ 60010416000112 · Limites por contrato e devedor · Excerto da fonte:</a:t>
            </a:r>
          </a:p>
          <a:p>
            <a:r>
              <a:t>R$ 100.000,00 (cem mil reais), observado o disposto no item 4.4.1 abaixo; (iii) o prazo de vencimento das CCB representativas dos Direitos Creditórios deverá ser, no máximo, equivalente ao prazo máximo permitido pelas leis e regulamentações aplicáveis; e (iv) os Direitos Creditórios não poderão ser devidos por Devedores que tenham acima de 64 (sessenta e quatro) anos 11 (onze) meses e 29 (vinte e nove) dias na data de emissão da respectiva CCB. 4.4.1. O limite máximo de exposição da Classe por Devedor estabeleci</a:t>
            </a:r>
          </a:p>
          <a:p>
            <a:r>
              <a:t>CNPJ 60010416000112 · Limites por contrato e devedor · Condição: Prevalência da cláusula específica 4.4.1; limite privado do Contrato não foi presumido.</a:t>
            </a:r>
          </a:p>
          <a:p>
            <a:r>
              <a:t>CNPJ 60010416000112 · Limites por contrato e devedor · Motivo: Não localizada uma cláusula material para este critério nos textos identificados e processados. A ausência de resultado não comprova inexistência da regra.</a:t>
            </a:r>
          </a:p>
          <a:p>
            <a:r>
              <a:t>CNPJ 60010416000112 · Limites por contrato e devedor · Versão e prevalência: Leitura específica das cláusulas indicadas; condições e conflitos preservados. Seleção documental atual não comprova vigência jurídica por data isolada.</a:t>
            </a:r>
          </a:p>
          <a:p>
            <a:r>
              <a:t>CNPJ 62696791000193 · Limites por contrato e devedor · Motivo: Não localizada uma cláusula material para este critério nos textos identificados e processados. A ausência de resultado não comprova inexistência da regra.</a:t>
            </a:r>
          </a:p>
          <a:p>
            <a:r>
              <a:t>CNPJ 55563624000109 · Limites por contrato e devedor · Motivo: Não localizada uma cláusula material para este critério nos textos identificados e processados. A ausência de resultado não comprova inexistência da regra.</a:t>
            </a:r>
          </a:p>
          <a:p>
            <a:r>
              <a:t>CNPJ 62552447000120 · Limites por contrato e devedor · Motivo: Não localizada uma cláusula material para este critério nos textos identificados e processados. A ausência de resultado não comprova inexistência da regra.</a:t>
            </a:r>
          </a:p>
          <a:p>
            <a:r>
              <a:t>CNPJ 63953620000165 · Limites por contrato e devedor · Motivo: Não localizada uma cláusula material para este critério nos textos identificados e processados. A ausência de resultado não comprova inexistência da regra.</a:t>
            </a:r>
          </a:p>
          <a:p>
            <a:r>
              <a:t>CNPJ 54871427000194 · Prazo dos créditos e carência · Motivo: Não localizada uma cláusula material para este critério nos textos identificados e processados. A ausência de resultado não comprova inexistência da regra.</a:t>
            </a:r>
          </a:p>
          <a:p>
            <a:r>
              <a:t>CNPJ 60010416000112 · Prazo dos créditos e carência · Regulamento · ID 1051393 · 2025-10-09 · versão 1 · p. 11 · 4.5 · https://fnet.bmfbovespa.com.br/fnet/publico/visualizarDocumento?id=1051393</a:t>
            </a:r>
          </a:p>
          <a:p>
            <a:r>
              <a:t>CNPJ 60010416000112 · Prazo dos créditos e carência · Excerto da fonte:</a:t>
            </a:r>
          </a:p>
          <a:p>
            <a:r>
              <a:t>4.5 A parcela do Patrimônio Líquido que não estiver alocada em Direitos Creditórios será necessariamente  alocada no seguintes ativos (“Ativos Financeiros de Liquidez”).</a:t>
            </a:r>
          </a:p>
          <a:p>
            <a:r>
              <a:t> (i) moeda corrente nacional;</a:t>
            </a:r>
          </a:p>
          <a:p>
            <a:r>
              <a:t> (ii) títulos do Tesouro SELIC, anteriormente denominado letra f inanceira do Tesouro Nacional  (LFT);</a:t>
            </a:r>
          </a:p>
          <a:p>
            <a:r>
              <a:t> (iii) certif icados de depósito bancário (CDB) ou recibos de depósito bancário (RDB) com prazo  máximo de vencimento equivalente ao prazo remanescente do Período de Investimento, com  liquidez diária, emitidos por Instituições Autorizadas e/ou pelo Endossante, sendo certo que  os certif icados de depósito bancário (CDB) e recibos de depósito bancário (RDB) emitidos  pelo Endossante e integrantes da carteira da Classe não poderão exceder o valor de R$</a:t>
            </a:r>
          </a:p>
          <a:p>
            <a:r>
              <a:t> 25.000.000,00 (vinte e cinco milhões de reais);</a:t>
            </a:r>
          </a:p>
          <a:p>
            <a:r>
              <a:t> (iv) operações compromissadas, desde que lastreadas nos títulos mencionados nas alíneas (i) a</a:t>
            </a:r>
          </a:p>
          <a:p>
            <a:r>
              <a:t> (iii) acima, emitidas por Instituições Autorizadas, com liquidez diária e vencimento inferior a  365 (trezentos e sessenta e cinco) dias; e</a:t>
            </a:r>
          </a:p>
          <a:p>
            <a:r>
              <a:t> (v) cotas de classes de f undos de investimentos de renda f ixa ou indexados à Taxa DI com  liquidez diária, cujas políticas de investimento admitam a alocação de recursos  exclusivamente nos ativos das alíneas (ii) e (iii) acima, incluindo f undos geridos e/ou  administrados pelo Administrador, pelo Custodiante e/ou pelo Gestor.</a:t>
            </a:r>
          </a:p>
          <a:p>
            <a:r>
              <a:t>Limites de Concentração e Vedações para a Composição da Carteira</a:t>
            </a:r>
          </a:p>
          <a:p>
            <a:r>
              <a:t>CNPJ 60010416000112 · Prazo dos créditos e carência · Regulamento · ID 1051393 · 2025-10-09 · versão 1 · p. 10 · https://fnet.bmfbovespa.com.br/fnet/publico/visualizarDocumento?id=1051393</a:t>
            </a:r>
          </a:p>
          <a:p>
            <a:r>
              <a:t>CNPJ 60010416000112 · Prazo dos créditos e carência · Excerto da fonte:</a:t>
            </a:r>
          </a:p>
          <a:p>
            <a:r>
              <a:t>Anexo I ao Regulamento CLASSE ÚNICA DO MT I CONSIGNADO PRIVADO I FUNDO DE INVESTIMENTO EM DIREITOS CREDITÓRIOS RESPONSABILIDADE LIMITADA</a:t>
            </a:r>
          </a:p>
          <a:p>
            <a:r>
              <a:t> (ii) o saldo dos Direitos Creditórios devidos pelo mesmo Devedor à Classe, considerando, pro  forma, o endosso pretendido, não deverá exceder R$ 100.000,00 (cem mil reais), observado  o disposto no item 4.4.1 abaixo;</a:t>
            </a:r>
          </a:p>
          <a:p>
            <a:r>
              <a:t> (iii) o prazo de vencimento das CCB representativas dos Direitos Creditórios deverá ser, no  máximo, equivalente ao prazo máximo permitido pelas leis e regulamentações aplicáveis; e</a:t>
            </a:r>
          </a:p>
          <a:p>
            <a:r>
              <a:t> (iv) os Direitos Creditórios não poderão ser devidos por Devedores que tenham acima de 64  (sessenta e quatro) anos 11 (onze) meses e 29 (vinte e nove) dias na data de emissão da  respectiva CCB.</a:t>
            </a:r>
          </a:p>
          <a:p>
            <a:r>
              <a:t>CNPJ 60010416000112 · Prazo dos créditos e carência · Condição: Documentos atuais selecionados no inventário por categoria/escopo; a data documental isolada não comprova vigência jurídica.</a:t>
            </a:r>
          </a:p>
          <a:p>
            <a:r>
              <a:t>CNPJ 60010416000112 · Prazo dos créditos e carência · Versão e prevalência: Documentos atuais selecionados no inventário por categoria/escopo; a data documental isolada não comprova vigência jurídica.</a:t>
            </a:r>
          </a:p>
          <a:p>
            <a:r>
              <a:t>CNPJ 60010416000112 · Prazo dos créditos e carência · Resumo do histórico: {"count": 1, "dates": ["2025-03-20"], "document_count": 1, "sources": [{"document_id": "993786", "title": "Regulamento", "reference_date": "2025-03-20", "version": "1", "page": 11, "clause": "4.5", "url": "https://fnet.bmfbovespa.com.br/fnet/publico/visualizarDocumento?id=993786", "sha256": "fd0fdd369a195510d81f81f505195a0b09e5f43522a990afa7d58c4f872921c8"}], "reference": {"path": "history/60010416000112.json", "criterion_id": "term", "total_count": 1, "preview_count": 1, "full_text_deferred": true, "sha256": "8e2bd813f4c51cf01f6bfaad164bafe69d2bbb192f753eac92da3a01c2e63046"}}</a:t>
            </a:r>
          </a:p>
          <a:p>
            <a:r>
              <a:t>CNPJ 62696791000193 · Prazo dos créditos e carência · Motivo: Não localizada uma cláusula material para este critério nos textos identificados e processados. A ausência de resultado não comprova inexistência da regra.</a:t>
            </a:r>
          </a:p>
          <a:p>
            <a:r>
              <a:t>CNPJ 55563624000109 · Prazo dos créditos e carência · Motivo: Não localizada uma cláusula material para este critério nos textos identificados e processados. A ausência de resultado não comprova inexistência da regra.</a:t>
            </a:r>
          </a:p>
          <a:p>
            <a:r>
              <a:t>CNPJ 62552447000120 · Prazo dos créditos e carência · Motivo: Não localizada uma cláusula material para este critério nos textos identificados e processados. A ausência de resultado não comprova inexistência da regra.</a:t>
            </a:r>
          </a:p>
          <a:p>
            <a:r>
              <a:t>CNPJ 63953620000165 · Prazo dos créditos e carência · Anexo ao Regulamento · ID 1222863 · 2026-06-02 · versão 1 · p. 2 · https://fnet.bmfbovespa.com.br/fnet/publico/visualizarDocumento?id=1222863</a:t>
            </a:r>
          </a:p>
          <a:p>
            <a:r>
              <a:t>CNPJ 63953620000165 · Prazo dos créditos e carência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Prazo dos créditos e carência · Condição: Documentos atuais selecionados no inventário por categoria/escopo; a data documental isolada não comprova vigência jurídica.</a:t>
            </a:r>
          </a:p>
          <a:p>
            <a:r>
              <a:t>CNPJ 63953620000165 · Prazo dos créditos e carência · Versão e prevalência: Documentos atuais selecionados no inventário por categoria/escopo; a data documental isolada não comprova vigência jurídica.</a:t>
            </a:r>
          </a:p>
          <a:p>
            <a:r>
              <a:t>CNPJ 63953620000165 · Prazo dos créditos e carência · Resumo do histórico: {"count": 8, "dates": ["2026-04-28", "2026-05-08", "2026-05-15"], "document_count": 3, "sources": [{"document_id": "1327859", "title": "Demonstrações Financeiras - Fusão, cisão e incorporação", "reference_date": "2026-05-15", "version": "1", "page": 16, "url": "https://fnet.bmfbovespa.com.br/fnet/publico/visualizarDocumento?id=1327859", "sha256": "dca1c68babb97f887528c3e2e47596a9c30f507b067981a35655b2f2da9c8054"}, {"document_id": "1298691", "title": "Demonstrações Financeiras - Fusão, cisão e incorporação", "reference_date": "2026-05-08", "version": "1", "page": 16, "url": "https://fnet.bmfbovespa.com.br/fnet/publico/visualizarDocumento?id=1298691", "sha256": "58c570d9b8d4d265330d3db3ea81c435b8e44a6dab4002aa37790652a1ee9819"}, {"document_id": "1282180", "title": "Demonstrações Financeiras - Fusão, cisão e incorporação", "reference_date": "2026-04-28", "version": "1", "page": 16, "url": "https://fnet.bmfbovespa.com.br/fnet/publico/visualizarDocumento?id=1282180", "sha256": "afaaa0e6809be4385e5bdb6c911aac582032c5bdbac3d7750234bf9eaf00438a"}], "reference": {"path": "history/63953620000165.json", "criterion_id": "term", "total_count": 8, "preview_count": 3, "full_text_deferred": true, "sha256": "a7b89077f5e21098c2d601c303faabc3ff6b9729f89d8afecdc60fe1404720c1"}}</a:t>
            </a:r>
          </a:p>
          <a:p>
            <a:r>
              <a:t>CNPJ 54871427000194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null, "comparison_required": true, "context_formula": "", "context_value": null, "context_unit": ""}</a:t>
            </a:r>
          </a:p>
          <a:p>
            <a:r>
              <a:t>CNPJ 54871427000194 · Concentração por devedor, cedente e grupo · Regulamento · ID 670691 · 28/04/2024 · versão Regulamento — referência 28/04/2024 · p. 11 · Anexo I, 4.10 e 4.11.2–4.11.4 · https://fnet.bmfbovespa.com.br/fnet/publico/visualizarDocumento?id=670691</a:t>
            </a:r>
          </a:p>
          <a:p>
            <a:r>
              <a:t>CNPJ 54871427000194 · Concentração por devedor, cedente e grupo · Excerto da fonte:</a:t>
            </a:r>
          </a:p>
          <a:p>
            <a:r>
              <a:t>4.10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4.11 A Classe poderá, direta ou indiretamente e, nos termos da legislação aplicável: (i) adquirir Direitos Creditórios que sejam cedidos e/ou originados pelo ADMINISTRADOR e/ou pelo GESTOR, ou partes a eles relacionadas, tal como definidas pelas regras contábeis que tratam desse assunto; e (ii) ceder Direitos Creditórios a qualquer das pessoas, fundos de investimento ou entidades referidas no item (i) acima, desde que (i) o ADMINISTRADOR, GESTOR, a entidade registradora e o CUSTODIANTE de Direitos Creditórios não sejam partes relacionadas entre si; e (ii) a entidade registradora e o</a:t>
            </a:r>
          </a:p>
          <a:p>
            <a:r>
              <a:t>CNPJ 54871427000194 · Concentração por devedor, cedente e grupo · Regulamento · ID 670691 · 28/04/2024 · versão Regulamento — referência 28/04/2024 · p. 10 · Anexo I, 4.7(xi) · https://fnet.bmfbovespa.com.br/fnet/publico/visualizarDocumento?id=670691</a:t>
            </a:r>
          </a:p>
          <a:p>
            <a:r>
              <a:t>CNPJ 54871427000194 · Concentração por devedor, cedente e grupo · Excerto da fonte:</a:t>
            </a:r>
          </a:p>
          <a:p>
            <a:r>
              <a:t>(xi) Endosso de todas as CCBs de um mesmo Devedor que não ultrapasse 20% (vinte por cento) do patrimônio líquido da Classe. 4.7.1 Os Documentos Comprobatórios deverão ser disponibilizados pelo respectivo Endossante (a) no prazo de 10 (dez) dias contados da Data de Aquisição dos 50 (cinquenta) casos que sejam solicitados pelo GESTOR, a seu exclusivo critério, (b) a totalidade dos demais Documentos Comprobatórios em f ormato digital em até 90 (noventa) dias a contar da Data de Aquisição, bem como dos Documentos Comprobatórios em formato físico relativos aos Direitos Creditórios que eventualmente estejam inadimplidos em ref erida data, e (c) a totalidade dos demais Documentos Comprobatórios em f ormato f ísico em até 180 (cento e oitenta) dias a contar da Data de Aquisição, sujeito à resolução do respectivo endosso, de acordo com os termos do Contrato de Endosso. 4.7.2 Caso um Direito Creditório cedido à Classe deixe de atender quaisquer Critérios de Elegibilidade e/ou quaisquer declarações e garantias ref erentes a esse Direito Creditório, conf orme previsto no respectivo Contrato de Endosso, após seu endosso à</a:t>
            </a:r>
          </a:p>
          <a:p>
            <a:r>
              <a:t>CNPJ 54871427000194 · Concentração por devedor, cedente e grupo · Condição: Na aquisição, o critério específico de 20% restringe o permissivo geral de 100%. Uma concentração observada no IME exige base e devedor identificados.</a:t>
            </a:r>
          </a:p>
          <a:p>
            <a:r>
              <a:t>CNPJ 54871427000194 · Concentração por devedor, cedente e grupo · Versão e prevalência: Leitura específica das cláusulas indicadas; condições e conflitos preservados. Seleção documental atual não comprova vigência jurídica por data isolada.</a:t>
            </a:r>
          </a:p>
          <a:p>
            <a:r>
              <a:t>CNPJ 54871427000194 · Concentração por devedor, cedente e grupo · Resumo do histórico: {"count": 2, "dates": ["2024-04-19", "2024-04-28"], "document_count": 2, "sources": [{"document_id": "670691", "title": "Regulamento", "reference_date": "2024-04-28", "version": "1", "page": "10-11", "url": "https://fnet.bmfbovespa.com.br/fnet/publico/visualizarDocumento?id=670691", "sha256": "bf16dd7f1a62d5cdbf2e2d54fef81783783f7310fbc99c3a8f00459bdf9d037b"}, {"document_id": "670689", "title": "Regulamento", "reference_date": "2024-04-19", "version": "1", "page": 11, "clause": "4.10", "url": "https://fnet.bmfbovespa.com.br/fnet/publico/visualizarDocumento?id=670689", "sha256": "891bc9bc5d87bbc02ec139077a84d2702eb81ea02035fb71d24f5b8366b94a0b"}], "reference": {"path": "history/54871427000194.json", "criterion_id": "concentration", "total_count": 2, "preview_count": 2, "full_text_deferred": true, "sha256": "35d7cd99be50c7287c9fb675cf4f2e736002315295a225a9efa79c8d9186d874"}}</a:t>
            </a:r>
          </a:p>
          <a:p>
            <a:r>
              <a:t>CNPJ 60010416000112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null, "comparison_required": true, "context_formula": "", "context_value": null, "context_unit": ""}</a:t>
            </a:r>
          </a:p>
          <a:p>
            <a:r>
              <a:t>CNPJ 60010416000112 · Concentração por devedor, cedente e grupo · Regulamento · ID 1051393 · 09/10/2025 · versão Regulamento09/10/2025 · p. 11 · AnexoI4.4.9(iv),4.5(iii) · https://fnet.bmfbovespa.com.br/fnet/publico/visualizarDocumento?id=1051393</a:t>
            </a:r>
          </a:p>
          <a:p>
            <a:r>
              <a:t>CNPJ 60010416000112 · Concentração por devedor, cedente e grupo · Excerto da fonte:</a:t>
            </a:r>
          </a:p>
          <a:p>
            <a:r>
              <a:t>3,00% (três por cento) do Patrimônio Líquido da Classe. Ativos Financeiros de Liquidez 4.5 A parcela do Patrimônio Líquido que não estiver alocada em Direitos Creditórios será necessariamente alocada no seguintes ativos (“Ativos Financeiros de Liquidez”). (i) moeda corrente nacional; (ii) títulos do Tesouro SELIC, anteriormente denominado letra f inanceira do Tesouro Nacional (LFT); (iii) certif icados de depósito bancário (CDB) ou recibos de depósito bancário (RDB) com prazo máximo de vencimento equivalente ao prazo remanescente</a:t>
            </a:r>
          </a:p>
          <a:p>
            <a:r>
              <a:t>CNPJ 60010416000112 · Concentração por devedor, cedente e grupo · Regulamento · ID 1051393 · 09/10/2025 · versão Regulamento09/10/2025 · p. 12 · AnexoI4.7–4.8 · https://fnet.bmfbovespa.com.br/fnet/publico/visualizarDocumento?id=1051393</a:t>
            </a:r>
          </a:p>
          <a:p>
            <a:r>
              <a:t>CNPJ 60010416000112 · Concentração por devedor, cedente e grupo · Excerto da fonte:</a:t>
            </a:r>
          </a:p>
          <a:p>
            <a:r>
              <a:t>4.7 A Classe deverá observar, ainda, os limites de concentração definidos na Política de Crédito, que integra o Contrato de Endosso como Anexo 3.2(v). 4.8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a:t>
            </a:r>
          </a:p>
          <a:p>
            <a:r>
              <a:t>CNPJ 60010416000112 · Concentração por devedor, cedente e grupo · Versão e prevalência: Leitura específica das cláusulas indicadas; condições e conflitos preservados. Seleção documental atual não comprova vigência jurídica por data isolada.</a:t>
            </a:r>
          </a:p>
          <a:p>
            <a:r>
              <a:t>CNPJ 60010416000112 · Concentração por devedor, cedente e grupo · Resumo do histórico: {"count": 2, "dates": ["2025-03-20", "2025-10-09"], "document_count": 2, "sources": [{"document_id": "1051393", "title": "Regulamento", "reference_date": "2025-10-09", "version": "1", "page": "11-12", "url": "https://fnet.bmfbovespa.com.br/fnet/publico/visualizarDocumento?id=1051393", "sha256": "8469d613078ffd5a6c1d217885d8a397a16342c0b937ae4aa24b106505f233ae"}, {"document_id": "993786", "title": "Regulamento", "reference_date": "2025-03-20", "version": "1", "page": 12, "clause": "4.8", "url": "https://fnet.bmfbovespa.com.br/fnet/publico/visualizarDocumento?id=993786", "sha256": "fd0fdd369a195510d81f81f505195a0b09e5f43522a990afa7d58c4f872921c8"}], "reference": {"path": "history/60010416000112.json", "criterion_id": "concentration", "total_count": 2, "preview_count": 2, "full_text_deferred": true, "sha256": "8e2bd813f4c51cf01f6bfaad164bafe69d2bbb192f753eac92da3a01c2e63046"}}</a:t>
            </a:r>
          </a:p>
          <a:p>
            <a:r>
              <a:t>CNPJ 62696791000193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null, "comparison_required": true, "context_formula": "", "context_value": null, "context_unit": ""}</a:t>
            </a:r>
          </a:p>
          <a:p>
            <a:r>
              <a:t>CNPJ 62696791000193 · Concentração por devedor, cedente e grupo · Regulamento · ID 1143317 · 20/03/2026 · versão Regulamento — referência 20/03/2026 · p. 11 · Anexo I, 4.8–4.9 · https://fnet.bmfbovespa.com.br/fnet/publico/visualizarDocumento?id=1143317</a:t>
            </a:r>
          </a:p>
          <a:p>
            <a:r>
              <a:t>CNPJ 62696791000193 · Concentração por devedor, cedente e grupo · Excerto da fonte:</a:t>
            </a:r>
          </a:p>
          <a:p>
            <a:r>
              <a:t>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relacionadas ao Gestor. 4.8.1 As aplicações em Direitos Creditórios do Agronegócio decorrentes de receitas públicas originárias ou derivadas da União, dos Estados, do Distrito Federal e dos Municípios ou de suas autarquias e f undações, assim como em Direitos Creditórios do Agronegócio cedidos ou originados por empresas controladas pelo poder público, não estão submetidas ao limite de concentração por emissor previsto no caput. 4.9 Nos termos do Art. 45 do Anexo</a:t>
            </a:r>
          </a:p>
          <a:p>
            <a:r>
              <a:t>CNPJ 62696791000193 · Concentração por devedor, cedente e grupo · Regulamento · ID 1143317 · 20/03/2026 · versão Regulamento — referência 20/03/2026 · p. 12 · Anexo I, 4.10(i)–(ix) · https://fnet.bmfbovespa.com.br/fnet/publico/visualizarDocumento?id=1143317</a:t>
            </a:r>
          </a:p>
          <a:p>
            <a:r>
              <a:t>CNPJ 62696791000193 · Concentração por devedor, cedente e grupo · Excerto da fonte:</a:t>
            </a:r>
          </a:p>
          <a:p>
            <a:r>
              <a:t>4.10 Sem prejuízo de limites mais restritivos definidos neste Anexo, o Gestor deverá observar, ainda, os seguintes limites de concentração: (i) A Classe poderá, direta ou indiretamente, ter até 100% (cem por cento) do Patrimônio Líquido representado por Direitos Creditórios do Agronegócio originados ou cedidos pelo Administrador, Gestor e/ou suas partes relacionadas, tal como definidas pelas regras contábeis que tratam desse assunto, desde que (a) o Gest or, a entidade registradora e o Custodiante dos Direitos Creditórios do Agronegócio não sejam partes relacionadas entre si; e (b) a entidade registradora e o Custodiante dos Direitos Creditórios do Agronegócio não sejam partes relacionadas ao originador ou Cedente. (ii) No máximo, 100% (cem por cento) do Patrimônio Líquido investido em Ativos Financeiros de Liquidez de emissão ou que envolvam retenção de risco por parte do Administrador, Gestor, e/ou suas partes relacionadas, observado ainda o disposto no item Error! Reference source not found.;</a:t>
            </a:r>
          </a:p>
          <a:p>
            <a:r>
              <a:t>CNPJ 62696791000193 · Concentração por devedor, cedente e grupo · Condição: Liquidez/derivativos relacionados também têm permissivos de 100%, mas remissões internas aparecem como “Error! Reference source not found.”.</a:t>
            </a:r>
          </a:p>
          <a:p>
            <a:r>
              <a:t>CNPJ 62696791000193 · Concentração por devedor, cedente e grupo · Versão e prevalência: Leitura específica das cláusulas indicadas; condições e conflitos preservados. Seleção documental atual não comprova vigência jurídica por data isolada.</a:t>
            </a:r>
          </a:p>
          <a:p>
            <a:r>
              <a:t>CNPJ 55563624000109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null, "comparison_required": true, "context_formula": "", "context_value": null, "context_unit": ""}</a:t>
            </a:r>
          </a:p>
          <a:p>
            <a:r>
              <a:t>CNPJ 55563624000109 · Concentração por devedor, cedente e grupo · Regulamento · ID 1192614 · 30/04/2026 · versão Regulamento30/04/2026 · p. 13 · AnexoI4.11–4.12.1 · https://fnet.bmfbovespa.com.br/fnet/publico/visualizarDocumento?id=1192614</a:t>
            </a:r>
          </a:p>
          <a:p>
            <a:r>
              <a:t>CNPJ 55563624000109 · Concentração por devedor, cedente e grupo · Excerto da fonte:</a:t>
            </a:r>
          </a:p>
          <a:p>
            <a:r>
              <a:t>4.11 Nos termos dos artigos 45, parágrafo 7º, e 47 parágrafo único do Anexo Normativo II à Resolução CVM 175, uma vez que as Cotas são destinadas exclusivamente a Investidores Profissionais, a Classe poderá ter até 100% (cem por cento) de seu Patrimônio Líquido alocado em Cotas da Classe Investida, as quais são emitidas pela Classe Investida. 4.12 A Classe poderá, direta ou indiretamente (i) adquirir Cotas da Classe Investida que sejam administrados pelo ADMINISTRADOR, e geridos ou cogeridos pelo GESTOR, ou partes a eles relacionadas, tal como definidas pelas</a:t>
            </a:r>
          </a:p>
          <a:p>
            <a:r>
              <a:t>CNPJ 55563624000109 · Concentração por devedor, cedente e grupo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Concentração por devedor, cedente e grupo · Versão e prevalência: Leitura específica das cláusulas indicadas; condições e conflitos preservados. Seleção documental atual não comprova vigência jurídica por data isolada.</a:t>
            </a:r>
          </a:p>
          <a:p>
            <a:r>
              <a:t>CNPJ 55563624000109 · Concentração por devedor, cedente e grupo · Resumo do histórico: {"count": 1, "dates": ["2026-04-30"], "document_count": 1, "sources": [{"document_id": "1192614", "title": "Regulamento", "reference_date": "2026-04-30", "version": "1", "page": "11-12", "url": "https://fnet.bmfbovespa.com.br/fnet/publico/visualizarDocumento?id=1192614", "sha256": "f56e63ace0acde41d2f47fb48f1ac7f3f7df5e2d32de092d7c5e075a52516632"}], "reference": {"path": "history/55563624000109.json", "criterion_id": "concentration", "total_count": 1, "preview_count": 1, "full_text_deferred": true, "sha256": "7835d573fb58a3c19adf5b8ecc2aee2bdbb9a88f7a0c0209b5f262b64c7522e3"}}</a:t>
            </a:r>
          </a:p>
          <a:p>
            <a:r>
              <a:t>CNPJ 62552447000120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null, "comparison_required": true, "context_formula": "", "context_value": null, "context_unit": ""}</a:t>
            </a:r>
          </a:p>
          <a:p>
            <a:r>
              <a:t>CNPJ 62552447000120 · Concentração por devedor, cedente e grupo · Regulamento · ID 1200623 · 21/05/2026 · versão Consolidado21/05/2026 aprovado pelo ato1200625 · p. 14 · AnexoI4.10–4.13 · https://fnet.bmfbovespa.com.br/fnet/publico/visualizarDocumento?id=1200623</a:t>
            </a:r>
          </a:p>
          <a:p>
            <a:r>
              <a:t>CNPJ 62552447000120 · Concentração por devedor, cedente e grupo · Excerto da fonte:</a:t>
            </a:r>
          </a:p>
          <a:p>
            <a:r>
              <a:t>4.10 Nos termos do art. 45, §7º, inciso II, do Anexo Normativo II, a Classe poderá ter até 100% (cem por cento) de seu Patrimônio Líquido alocado em Direitos Creditórios, derivativos, observado o disposto abaixo,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4.10.1 O uso de derivativos está restr</a:t>
            </a:r>
          </a:p>
          <a:p>
            <a:r>
              <a:t>CNPJ 62552447000120 · Concentração por devedor, cedente e grupo · Condição: Regulamento permite concentração ampla; TVM têm limite específico 10% PL na elegibilidade.</a:t>
            </a:r>
          </a:p>
          <a:p>
            <a:r>
              <a:t>CNPJ 62552447000120 · Concentração por devedor, cedente e grupo · Versão e prevalência: Leitura específica das cláusulas indicadas; condições e conflitos preservados. Seleção documental atual não comprova vigência jurídica por data isolada.</a:t>
            </a:r>
          </a:p>
          <a:p>
            <a:r>
              <a:t>CNPJ 63953620000165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null, "comparison_required": true, "context_formula": "", "context_value": null, "context_unit": ""}</a:t>
            </a:r>
          </a:p>
          <a:p>
            <a:r>
              <a:t>CNPJ 63953620000165 · Concentração por devedor, cedente e grupo · Anexo ao Regulamento · ID 1222863 · 02/06/2026 · versão AnexoConsignadoPrivado02/06/2026 · p. 6 · 4.14 · https://fnet.bmfbovespa.com.br/fnet/publico/visualizarDocumento?id=1222863</a:t>
            </a:r>
          </a:p>
          <a:p>
            <a:r>
              <a:t>CNPJ 63953620000165 · Concentração por devedor, cedente e grupo · Excerto da fonte:</a:t>
            </a:r>
          </a:p>
          <a:p>
            <a:r>
              <a:t>4.14 Nos termos do Art. 45, §7º, inciso II, do Anexo Normativo II da Resolução CVM 175, a Classe poderá ter até 100% (cem por cento) de seu Patrimônio Líquido alocado em Direitos Creditórios, derivativos, observado o disposto neste Anexo I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4.15 Sem prejuízo de limites</a:t>
            </a:r>
          </a:p>
          <a:p>
            <a:r>
              <a:t>CNPJ 63953620000165 · Concentração por devedor, cedente e grupo · Anexo ao Regulamento · ID 1222863 · 02/06/2026 · versão AnexoConsignadoPrivado02/06/2026 · p. 7 · 4.15(i)–(v) · https://fnet.bmfbovespa.com.br/fnet/publico/visualizarDocumento?id=1222863</a:t>
            </a:r>
          </a:p>
          <a:p>
            <a:r>
              <a:t>CNPJ 63953620000165 · Concentração por devedor, cedente e grupo · Excerto da fonte:</a:t>
            </a:r>
          </a:p>
          <a:p>
            <a:r>
              <a:t>(i)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CNPJ 63953620000165 · Concentração por devedor, cedente e grupo · Versão e prevalência: Leitura específica das cláusulas indicadas; condições e conflitos preservados. Seleção documental atual não comprova vigência jurídica por data isolada.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Recebíveis e aquisição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Natureza dos recebíveis · Regulamento · ID 670691 · 28/04/2024 · versão Regulamento — referência 28/04/2024 · p. 9 · Anexo I, 4.2–4.2.1 · https://fnet.bmfbovespa.com.br/fnet/publico/visualizarDocumento?id=670691</a:t>
            </a:r>
          </a:p>
          <a:p>
            <a:r>
              <a:t>CNPJ 54871427000194 · Natureza dos recebíveis · Excerto da fonte:</a:t>
            </a:r>
          </a:p>
          <a:p>
            <a:r>
              <a:t>4.2 Os Direitos Creditórios representados por Certif icados de Cédulas de Crédito Bancário (“CCCBs”), representativos de um agrupamento de determinadas CCBs, originadas no âmbito de operações de empréstimos pessoais concedidos por um Endossante a um Devedor, devidamente f ormalizadas por via eletrônica de acordo com a legislação aplicável, segundo os critérios de composição e diversificação estabelecidos pela regulamentação aplicável e neste Regulamento. 4.2.1 Cada Endossante deve ter celebrado convênio com órgão consignante, previamente à cessão de Direitos Creditórios à Classe, que contemplam a obrigação da manutenção da consignação/averbação junto ao novo órgão, de modo a possibilitar o pagamento dos Direitos Creditórios por meio de consignação em f olha de pagamento ou de benef ício . 4.3 Os pagamentos relativos aos Direitos Creditórios de titularidade da Classe serão realizados mediante consignação em folha, débito em conta de titularidade dos Devedores e pagamentos de sinistros, para pagamento dos valores correspondentes às parcelas das CCBs representadas pelos CCCBs de titularidade da Classe, os quais serão conciliados e repassados pelo Endossan</a:t>
            </a:r>
          </a:p>
          <a:p>
            <a:r>
              <a:t>CNPJ 54871427000194 · Natureza dos recebíveis · Versão e prevalência: Leitura específica das cláusulas indicadas; condições e conflitos preservados. Seleção documental atual não comprova vigência jurídica por data isolada.</a:t>
            </a:r>
          </a:p>
          <a:p>
            <a:r>
              <a:t>CNPJ 54871427000194 · Natureza dos recebíveis · Resumo do histórico: {"count": 3, "dates": ["2024-04-19", "2024-04-28"], "document_count": 2, "sources": [{"document_id": "670691", "title": "Regulamento", "reference_date": "2024-04-28", "version": "1", "page": "9, 38-39", "url": "https://fnet.bmfbovespa.com.br/fnet/publico/visualizarDocumento?id=670691", "sha256": "bf16dd7f1a62d5cdbf2e2d54fef81783783f7310fbc99c3a8f00459bdf9d037b"}, {"document_id": "670691", "title": "Regulamento", "reference_date": "2024-04-28", "version": "1", "page": 34, "clause": "15.1.5", "url": "https://fnet.bmfbovespa.com.br/fnet/publico/visualizarDocumento?id=670691", "sha256": "bf16dd7f1a62d5cdbf2e2d54fef81783783f7310fbc99c3a8f00459bdf9d037b"}, {"document_id": "670689", "title": "Regulamento", "reference_date": "2024-04-19", "version": "1", "page": 35, "clause": "15.1.5", "url": "https://fnet.bmfbovespa.com.br/fnet/publico/visualizarDocumento?id=670689", "sha256": "891bc9bc5d87bbc02ec139077a84d2702eb81ea02035fb71d24f5b8366b94a0b"}], "reference": {"path": "history/54871427000194.json", "criterion_id": "receivables", "total_count": 3, "preview_count": 3, "full_text_deferred": true, "sha256": "35d7cd99be50c7287c9fb675cf4f2e736002315295a225a9efa79c8d9186d874"}}</a:t>
            </a:r>
          </a:p>
          <a:p>
            <a:r>
              <a:t>CNPJ 60010416000112 · Natureza dos recebíveis · Regulamento · ID 1051393 · 09/10/2025 · versão Regulamento09/10/2025 · p. 9 · AnexoI4.2 · https://fnet.bmfbovespa.com.br/fnet/publico/visualizarDocumento?id=1051393</a:t>
            </a:r>
          </a:p>
          <a:p>
            <a:r>
              <a:t>CNPJ 60010416000112 · Natureza dos recebíveis · Excerto da fonte:</a:t>
            </a:r>
          </a:p>
          <a:p>
            <a:r>
              <a:t>4.2 Os Direitos Creditórios são originados no âmbito de operações de empréstimo consignado concedido pelo Endossante a um Devedor por meio da Plataforma MT e representado por CCB, devidamente formalizada por via eletrônica, de acordo com a legislação aplicável, observada a Política de Crédito constante do Contrato de Endosso. O Endossante celebrou o Convênio Consignado Privado previamente ao endosso de Direitos Creditórios Elegíveis à Classe, para que, após a averbação dos Direitos Creditórios na Dataprev, o pagamento regular dos Direitos Creditórios decorrentes das CCB seja f eito por Consignação</a:t>
            </a:r>
          </a:p>
          <a:p>
            <a:r>
              <a:t>CNPJ 60010416000112 · Natureza dos recebíveis · Versão e prevalência: Leitura específica das cláusulas indicadas; condições e conflitos preservados. Seleção documental atual não comprova vigência jurídica por data isolada.</a:t>
            </a:r>
          </a:p>
          <a:p>
            <a:r>
              <a:t>CNPJ 60010416000112 · Natureza dos recebíveis · Resumo do histórico: {"count": 2, "dates": ["2025-03-20", "2025-10-09"], "document_count": 2, "sources": [{"document_id": "1051393", "title": "Regulamento", "reference_date": "2025-10-09", "version": "1", "page": "9-11", "url": "https://fnet.bmfbovespa.com.br/fnet/publico/visualizarDocumento?id=1051393", "sha256": "8469d613078ffd5a6c1d217885d8a397a16342c0b937ae4aa24b106505f233ae"}, {"document_id": "993786", "title": "Regulamento", "reference_date": "2025-03-20", "version": "1", "page": 30, "clause": "12.5.1", "url": "https://fnet.bmfbovespa.com.br/fnet/publico/visualizarDocumento?id=993786", "sha256": "fd0fdd369a195510d81f81f505195a0b09e5f43522a990afa7d58c4f872921c8"}], "reference": {"path": "history/60010416000112.json", "criterion_id": "receivables", "total_count": 2, "preview_count": 2, "full_text_deferred": true, "sha256": "8e2bd813f4c51cf01f6bfaad164bafe69d2bbb192f753eac92da3a01c2e63046"}}</a:t>
            </a:r>
          </a:p>
          <a:p>
            <a:r>
              <a:t>CNPJ 62696791000193 · Natureza dos recebíveis · Regulamento · ID 1143317 · 20/03/2026 · versão Regulamento — referência 20/03/2026 · p. 6 · Anexo I, 1.1, Objetivo · https://fnet.bmfbovespa.com.br/fnet/publico/visualizarDocumento?id=1143317</a:t>
            </a:r>
          </a:p>
          <a:p>
            <a:r>
              <a:t>CNPJ 62696791000193 · Natureza dos recebíveis · Excerto da fonte:</a:t>
            </a:r>
          </a:p>
          <a:p>
            <a:r>
              <a:t>A Classe tem por objetivo proporcionar aos Cotistas a valorização e a rentabilidade de suas cotas (“Cotas”), conforme a política de investimentos def inida no Capítulo IV abaixo (“Política de Investimentos”), por meio de aplicação do seu Patrimônio Líquido (conforme def inido abaixo) nos seguintes ativos de origem vinculada às cadeias produtivas do agronegócio (“Direitos Creditórios do Agronegócio”): (i) títulos de crédito emitidos por pessoas naturais e jurídicas que integrem as cadeias produtivas do agronegócio; (ii) direitos creditórios do agronegócio; (iii) certificados de recebíveis do agronegócio e outros títulos de securitização emitidos com lastro em direitos creditórios do agronegócio; e (iv) certificados de recebíveis e outro</a:t>
            </a:r>
          </a:p>
          <a:p>
            <a:r>
              <a:t>CNPJ 62696791000193 · Natureza dos recebíveis · Regulamento · ID 1143317 · 20/03/2026 · versão Regulamento — referência 20/03/2026 · p. 7 · Anexo I, 1.1, Objetivo · https://fnet.bmfbovespa.com.br/fnet/publico/visualizarDocumento?id=1143317</a:t>
            </a:r>
          </a:p>
          <a:p>
            <a:r>
              <a:t>CNPJ 62696791000193 · Natureza dos recebíveis · Excerto da fonte:</a:t>
            </a:r>
          </a:p>
          <a:p>
            <a:r>
              <a:t>(i) participações em sociedades que explorem atividades integrantes das cadeias produtivas do agronegócio. (C) Categoria “Financeiro” (“Ativos Financeiros do Agronegócio Financeiros”): (i) ativos f inanceiros e valores mobiliários emitidos por pessoas naturais e jurídicas que integrem as cadeias produtivas do agronegócio. (D) Categoria “Geral” (“Ativos em Geral do Agronegócio”): (i) cotas de classes que apliquem mais de 50% (cinquenta por cento) de seu patrimônio líquido nos ativos referidos nos incisos “A” a “D” acima, o que inclui cotas de outros FIAGRO, mas não se limita a essa categoria de f undos. Os Ativos Imobiliários do Agronegócio, Participações do Agronegócio,</a:t>
            </a:r>
          </a:p>
          <a:p>
            <a:r>
              <a:t>CNPJ 62696791000193 · Natureza dos recebíveis · Versão e prevalência: Leitura específica das cláusulas indicadas; condições e conflitos preservados. Seleção documental atual não comprova vigência jurídica por data isolada.</a:t>
            </a:r>
          </a:p>
          <a:p>
            <a:r>
              <a:t>CNPJ 55563624000109 · Natureza dos recebíveis · Regulamento · ID 1192614 · 30/04/2026 · versão Regulamento30/04/2026 · p. 11 · AnexoI4.1 · https://fnet.bmfbovespa.com.br/fnet/publico/visualizarDocumento?id=1192614</a:t>
            </a:r>
          </a:p>
          <a:p>
            <a:r>
              <a:t>CNPJ 55563624000109 · Natureza dos recebíveis · Excerto da fonte:</a:t>
            </a:r>
          </a:p>
          <a:p>
            <a:r>
              <a:t>4.1 Observados os demais termos deste Anexo, o objetivo da Classe é investir seus recursos em (i) cotas subordinadas mezanino de emissão da classe única do MERCADO CRÉDITO II BRASIL FUNDO DE INVESTIMENTO EM DIREITOS CREDITÓRIOS NÃO PADRONIZADOS, fundo de investimento em direitos creditórios inscrito no CNPJ sob o nº 41.970.012/0001-26 (“Cotas da Classe Investida” e “Classe Investida”, respectivamente), a qual, por sua vez, aplica seus recursos preponderantemente em direitos creditórios originados pela Mercado Pago, de acordo com os termos e condições est</a:t>
            </a:r>
          </a:p>
          <a:p>
            <a:r>
              <a:t>CNPJ 55563624000109 · Natureza dos recebíveis · Regulamento · ID 1192614 · 30/04/2026 · versão Regulamento30/04/2026 · p. 12 · AnexoI4.5 · https://fnet.bmfbovespa.com.br/fnet/publico/visualizarDocumento?id=1192614</a:t>
            </a:r>
          </a:p>
          <a:p>
            <a:r>
              <a:t>CNPJ 55563624000109 · Natureza dos recebíveis · Excerto da fonte:</a:t>
            </a:r>
          </a:p>
          <a:p>
            <a:r>
              <a:t>4.5 Uma vez que o investimento nas Cotas da Classe Investida não corresponde a um investimento direto em direitos creditórios, uma série de disposições comuns à securitização de direitos creditórios não será aplicável ao investimento nas Cotas da Classe Investida. A título meramente exemplificativo, não existem processos de originação ou política de concessão de crédito adotada pelo GESTOR, tampouco há que se falar em verificação ou guarda de documentos comprobatórios que não sejam referentes às Cotas da Classe Investida. Da mesma forma, não há necessida</a:t>
            </a:r>
          </a:p>
          <a:p>
            <a:r>
              <a:t>CNPJ 55563624000109 · Natureza dos recebíveis · Versão e prevalência: Leitura específica das cláusulas indicadas; condições e conflitos preservados. Seleção documental atual não comprova vigência jurídica por data isolada.</a:t>
            </a:r>
          </a:p>
          <a:p>
            <a:r>
              <a:t>CNPJ 55563624000109 · Natureza dos recebíveis · Resumo do histórico: {"count": 4, "dates": ["2025-01-31", "2026-01-31", "2026-04-30"], "document_count": 3, "sources": [{"document_id": "1192614", "title": "Regulamento", "reference_date": "2026-04-30", "version": "1", "page": "11", "url": "https://fnet.bmfbovespa.com.br/fnet/publico/visualizarDocumento?id=1192614", "sha256": "f56e63ace0acde41d2f47fb48f1ac7f3f7df5e2d32de092d7c5e075a52516632"}, {"document_id": "1178840", "title": "Demonstrações Financeiras", "reference_date": "2026-01-31", "version": "1", "page": 16, "url": "https://fnet.bmfbovespa.com.br/fnet/publico/visualizarDocumento?id=1178840", "sha256": "c458e98664c5c907ddb5a05a94b120bed4e05295b2bfc420f5ba69af0a229abe"}, {"document_id": "891861", "title": "Demonstrações Financeiras", "reference_date": "2025-01-31", "version": "1", "page": 16, "url": "https://fnet.bmfbovespa.com.br/fnet/publico/visualizarDocumento?id=891861", "sha256": "e9cb9e6ddbe505fe068cfcac33605165a98313489de0d3ce6d4d238263c3f3e7"}], "reference": {"path": "history/55563624000109.json", "criterion_id": "receivables", "total_count": 4, "preview_count": 3, "full_text_deferred": true, "sha256": "7835d573fb58a3c19adf5b8ecc2aee2bdbb9a88f7a0c0209b5f262b64c7522e3"}}</a:t>
            </a:r>
          </a:p>
          <a:p>
            <a:r>
              <a:t>CNPJ 62552447000120 · Natureza dos recebíveis · Regulamento · ID 1200623 · 21/05/2026 · versão Consolidado21/05/2026 aprovado pelo ato1200625 · p. 11 · AnexoI4.2–4.3 · https://fnet.bmfbovespa.com.br/fnet/publico/visualizarDocumento?id=1200623</a:t>
            </a:r>
          </a:p>
          <a:p>
            <a:r>
              <a:t>CNPJ 62552447000120 · Natureza dos recebíveis · Excerto da fonte:</a:t>
            </a:r>
          </a:p>
          <a:p>
            <a:r>
              <a:t>4.2 Os Direitos Creditórios Consignado Privado e os Direitos Creditórios FGTS são originados no âmbito de CCBs emitidas eletronicamente pelos Devedores ao Endossante, representando, respectivamente, empréstimos consignados, com desconto em f olha de pagamento, e empréstimos pessoais, com garantia de cessão f iduciária do Saque-aniversário. 4.3 A operacionalização é f eita por meio da plataforma eletrônica mantida pelo Originador e utilizada por ele em relação ao processamento e monitoramento das operações de crédito (“Plataforma VR”), de acordo com a legislação aplicável, observada a política de crédit</a:t>
            </a:r>
          </a:p>
          <a:p>
            <a:r>
              <a:t>CNPJ 62552447000120 · Natureza dos recebíveis · Regulamento · ID 1200623 · 21/05/2026 · versão Consolidado21/05/2026 aprovado pelo ato1200625 · p. 6 · AnexoI1.2 Direitos Creditórios(d) · https://fnet.bmfbovespa.com.br/fnet/publico/visualizarDocumento?id=1200623</a:t>
            </a:r>
          </a:p>
          <a:p>
            <a:r>
              <a:t>CNPJ 62552447000120 · Natureza dos recebíveis · Excerto da fonte:</a:t>
            </a:r>
          </a:p>
          <a:p>
            <a:r>
              <a:t>Refinanciamento Livre”, na forma de CCBs originadas no âmbito de um refinanciamento, de acordo com a política de cobrança vigente, de Direitos Creditórios Consignado Privado e de Direitos Creditórios FGTS, que não contem com o lastro de Consignação ou de cessão f iduciária do Saque-Aniversário, respectivamente; e (ii) “Ativos Financei</a:t>
            </a:r>
          </a:p>
          <a:p>
            <a:r>
              <a:t>CNPJ 62552447000120 · Natureza dos recebíveis · Condição: Direitos de refinanciamento livre têm mecanismo de pagamento diferente do consignado/FGTS original.</a:t>
            </a:r>
          </a:p>
          <a:p>
            <a:r>
              <a:t>CNPJ 62552447000120 · Natureza dos recebíveis · Versão e prevalência: Leitura específica das cláusulas indicadas; condições e conflitos preservados. Seleção documental atual não comprova vigência jurídica por data isolada.</a:t>
            </a:r>
          </a:p>
          <a:p>
            <a:r>
              <a:t>CNPJ 63953620000165 · Natureza dos recebíveis · Anexo ao Regulamento · ID 1222863 · 02/06/2026 · versão AnexoConsignadoPrivado02/06/2026 · p. 5 · 4.4 · https://fnet.bmfbovespa.com.br/fnet/publico/visualizarDocumento?id=1222863</a:t>
            </a:r>
          </a:p>
          <a:p>
            <a:r>
              <a:t>CNPJ 63953620000165 · Natureza dos recebíveis · Excerto da fonte:</a:t>
            </a:r>
          </a:p>
          <a:p>
            <a:r>
              <a:t>4.4 Os Direitos Creditórios Consignado Privado são originados no âmbito de operações de empréstimo consignado concedido pelo Endossante a um Devedor por meio da plataforma eletrônica mantida pelo Agente de Retenção/ Cobrança e utilizada por ele em relação ao processamento e monitoramento das operações de crédito consignado (“Plataforma MT”) e representado por CCB, devidamente formalizada por via eletrônica, de acordo com a legislação aplicável, observada a política de crédito constante do Contrato de Endosso. O Endossante celebrou o Convênio Consignado Privado previamente ao endosso de Direitos Creditórios Elegíveis à Clas</a:t>
            </a:r>
          </a:p>
          <a:p>
            <a:r>
              <a:t>CNPJ 63953620000165 · Natureza dos recebíveis · Anexo ao Regulamento · ID 1222863 · 02/06/2026 · versão AnexoConsignadoPrivado02/06/2026 · p. 1 · 1.1Objetivo · https://fnet.bmfbovespa.com.br/fnet/publico/visualizarDocumento?id=1222863</a:t>
            </a:r>
          </a:p>
          <a:p>
            <a:r>
              <a:t>CNPJ 63953620000165 · Natureza dos recebíveis · Excerto da fonte:</a:t>
            </a:r>
          </a:p>
          <a:p>
            <a:r>
              <a:t>Direitos Creditórios Crédito Consignado”, representados por cédula de crédito bancário regida pela Lei nº 10.931, emitida eletronicamente por um devedor em favor do endossante (“CCB”) e, consequentemente, os recebíveis decorrente de cada uma das parcelas vincendas, representando um empréstimo consignado concedido pelo endossante ao devedor, e cujo pagamento ordinário é feito por desconto de cada prestação vincenda de uma CCB na folha de</a:t>
            </a:r>
          </a:p>
          <a:p>
            <a:r>
              <a:t>CNPJ 63953620000165 · Natureza dos recebíveis · Versão e prevalência: Leitura específica das cláusulas indicadas; condições e conflitos preservados. Seleção documental atual não comprova vigência jurídica por data isolada.</a:t>
            </a:r>
          </a:p>
          <a:p>
            <a:r>
              <a:t>CNPJ 63953620000165 · Natureza dos recebíveis · Resumo do histórico: {"count": 8, "dates": ["2026-04-28", "2026-05-08", "2026-05-15"], "document_count": 3, "sources": [{"document_id": "1327859", "title": "Demonstrações Financeiras - Fusão, cisão e incorporação", "reference_date": "2026-05-15", "version": "1", "page": 21, "url": "https://fnet.bmfbovespa.com.br/fnet/publico/visualizarDocumento?id=1327859", "sha256": "dca1c68babb97f887528c3e2e47596a9c30f507b067981a35655b2f2da9c8054"}, {"document_id": "1298691", "title": "Demonstrações Financeiras - Fusão, cisão e incorporação", "reference_date": "2026-05-08", "version": "1", "page": 24, "url": "https://fnet.bmfbovespa.com.br/fnet/publico/visualizarDocumento?id=1298691", "sha256": "58c570d9b8d4d265330d3db3ea81c435b8e44a6dab4002aa37790652a1ee9819"}, {"document_id": "1282180", "title": "Demonstrações Financeiras - Fusão, cisão e incorporação", "reference_date": "2026-04-28", "version": "1", "page": 24, "url": "https://fnet.bmfbovespa.com.br/fnet/publico/visualizarDocumento?id=1282180", "sha256": "afaaa0e6809be4385e5bdb6c911aac582032c5bdbac3d7750234bf9eaf00438a"}], "reference": {"path": "history/63953620000165.json", "criterion_id": "receivables", "total_count": 8, "preview_count": 3, "full_text_deferred": true, "sha256": "a7b89077f5e21098c2d601c303faabc3ff6b9729f89d8afecdc60fe1404720c1"}}</a:t>
            </a:r>
          </a:p>
          <a:p>
            <a:r>
              <a:t>CNPJ 54871427000194 · Originador e endossante · Regulamento · ID 670691 · 2024-04-28 · versão 1 · p. 11 · 4.11.2 · https://fnet.bmfbovespa.com.br/fnet/publico/visualizarDocumento?id=670691</a:t>
            </a:r>
          </a:p>
          <a:p>
            <a:r>
              <a:t>CNPJ 54871427000194 · Originador e endossante · Excerto da fonte:</a:t>
            </a:r>
          </a:p>
          <a:p>
            <a:r>
              <a:t>4.11.2 A Classe poderá ter até 100% (cem por cento) do Patrimônio Líquido representado por Direitos  Creditórios originados ou cedidos por um mesmo Endossante e/ou originados por um mesmo  Originador.</a:t>
            </a:r>
          </a:p>
          <a:p>
            <a:r>
              <a:t>CNPJ 54871427000194 · Originador e endossante · Regulamento · ID 670691 · 2024-04-28 · versão 1 · p. 13 · 4.17 · https://fnet.bmfbovespa.com.br/fnet/publico/visualizarDocumento?id=670691</a:t>
            </a:r>
          </a:p>
          <a:p>
            <a:r>
              <a:t>CNPJ 54871427000194 · Originador e endossante · Excerto da fonte:</a:t>
            </a:r>
          </a:p>
          <a:p>
            <a:r>
              <a:t>4.17 É vedada qualquer forma de antecipação de recursos aos Endossantes para posterior reembolso pela  Classe, seja pelo ADMINISTRADOR, GESTOR, CUSTODIANTE, consultora ou Originadores.</a:t>
            </a:r>
          </a:p>
          <a:p>
            <a:r>
              <a:t>CNPJ 54871427000194 · Originador e endossante · Regulamento · ID 670691 · 2024-04-28 · versão 1 · p. 34 · 15.1.5 · https://fnet.bmfbovespa.com.br/fnet/publico/visualizarDocumento?id=670691</a:t>
            </a:r>
          </a:p>
          <a:p>
            <a:r>
              <a:t>CNPJ 54871427000194 · Originador e endossante · Excerto da fonte:</a:t>
            </a:r>
          </a:p>
          <a:p>
            <a:r>
              <a:t>15.1.5 Outros Riscos:</a:t>
            </a:r>
          </a:p>
          <a:p>
            <a:r>
              <a:t> (i) Cobrança judicial ou extrajudicial dos Direitos Creditórios. No caso de os  Devedores inadimplirem as obrigações dos pagamentos dos Direitos Creditórios de titularidade  da Classe, poderá haver cobrança judicial e/ou extrajudicial dos valores devidos. Neste caso,  além da Classe incorrer em maiores custos relacionados à cobrança dos Direitos Creditórios  Inadimplidos, nada garante que ref eridas cobranças atingirão os resultados almejados, qual  seja, a recuperação do valor integral dos Direitos Creditórios Inadimplidos. Nesta hipótese, a  rentabilidade da Classe será af etada negativamente.</a:t>
            </a:r>
          </a:p>
          <a:p>
            <a:r>
              <a:t> (ii) Dif iculdade de obtenção de indenização ou recompra de Direitos Creditórios.</a:t>
            </a:r>
          </a:p>
          <a:p>
            <a:r>
              <a:t> Considerando a possibilidade de aquisição de Direitos Creditórios de terceiros — isso é  Endossantes que, por sua vez, adquiram os Direitos Creditórios de forma secundária, por meio  da cessão ou endosso realizado por credores anteriores da CCB — caso ocorram situações  que ensejem em recompra de tais Direitos Creditórios e/ou indenização, a Classe poderá ter  dif iculdades adicionais em obter tais indenizações e/ou recompras, na medida em que o direito  a tais indenizações e/ou recompras não está previsto em cada CCB, mas em contratos e  instrumentos dos quais a Classe não é originalmente parte, o que poderá causar perdas à  Classe e, consequentemente, aos Cotistas.</a:t>
            </a:r>
          </a:p>
          <a:p>
            <a:r>
              <a:t> (iii) Risco de concentração. O risco da aplicação na Classe possui forte correlação  com a concentração da Carteira, sendo que, quanto maior f or a concentração da Carteira,  maior será a chance de a Classe sofrer perda patrimonial significativa que afete negativamente  a rentabilidade das Cotas. A Classe não possui limite de concentração por Devedor ou  originador dos Direitos Creditórios, exceto por aqueles previstos na Resolução CVM  175, razão pela qual a Classe poderá estar exposto a significativa concentração por  Devedor. Não é possível garantir que os limites de concentração contidos na Política de  Investimentos, ainda que atendidos, serão suficientes que o Patrimônio Líquido não sofra  perdas que possam af etar a rentabilidade das Cotas.</a:t>
            </a:r>
          </a:p>
          <a:p>
            <a:r>
              <a:t> (iv) Possibilidade de conflito de interesses entre a Classe e os Originadores. Os  Originadores podem possuir relacionamento comercial com os Endossantes e/ou Devedores,  de modo que, em determinadas circunstâncias seus interesses podem ser conflitantes com os  interesses da Classe. Não é possível garantir que, materializada uma situação de conflito de  interesses conforme descrita acima, o Originador exponha-a adequadamente ao  ADMINISTRADOR e/ou aos Cotistas, ou que o f aça absolutamente, tampouco que agirá no  melhor no interesse da Classe. Nesses casos, a Classe pode vir a adquirir Direitos Creditórios  ou pode vir a ter seus Direitos Creditórios Inadimplidos pagos em condições comparativamente  menos vantajosas àquelas que seriam verificadas na ausência de tais conflitos de interesses.</a:t>
            </a:r>
          </a:p>
          <a:p>
            <a:r>
              <a:t> Nesses casos, o Patrimônio Líquido pode ser af etado adversamente.</a:t>
            </a:r>
          </a:p>
          <a:p>
            <a:r>
              <a:t> (v) Possibilidade de conflito de interesses entre Cotistas. As Cotas poderão ser  adquiridas por investidores que sejam sociedades coligadas, controladas ou controladoras,</a:t>
            </a:r>
          </a:p>
          <a:p>
            <a:r>
              <a:t>CNPJ 54871427000194 · Originador e endossante · Condição: Documentos atuais selecionados no inventário por categoria/escopo; a data documental isolada não comprova vigência jurídica.</a:t>
            </a:r>
          </a:p>
          <a:p>
            <a:r>
              <a:t>CNPJ 54871427000194 · Originador e endossante · Versão e prevalência: Documentos atuais selecionados no inventário por categoria/escopo; a data documental isolada não comprova vigência jurídica.</a:t>
            </a:r>
          </a:p>
          <a:p>
            <a:r>
              <a:t>CNPJ 54871427000194 · Originador e endossante · Resumo do histórico: {"count": 2, "dates": ["2024-04-19", "2024-04-28"], "document_count": 2, "sources": [{"document_id": "670691", "title": "Regulamento", "reference_date": "2024-04-28", "version": "1", "page": "9, 39", "url": "https://fnet.bmfbovespa.com.br/fnet/publico/visualizarDocumento?id=670691", "sha256": "bf16dd7f1a62d5cdbf2e2d54fef81783783f7310fbc99c3a8f00459bdf9d037b"}, {"document_id": "670689", "title": "Regulamento", "reference_date": "2024-04-19", "version": "1", "page": 9, "clause": "4.5", "url": "https://fnet.bmfbovespa.com.br/fnet/publico/visualizarDocumento?id=670689", "sha256": "891bc9bc5d87bbc02ec139077a84d2702eb81ea02035fb71d24f5b8366b94a0b"}], "reference": {"path": "history/54871427000194.json", "criterion_id": "originator", "total_count": 2, "preview_count": 2, "full_text_deferred": true, "sha256": "35d7cd99be50c7287c9fb675cf4f2e736002315295a225a9efa79c8d9186d874"}}</a:t>
            </a:r>
          </a:p>
          <a:p>
            <a:r>
              <a:t>CNPJ 60010416000112 · Originador e endossante · Regulamento · ID 1051393 · 09/10/2025 · versão Regulamento09/10/2025 · p. 44 · Glossário, Endossante · https://fnet.bmfbovespa.com.br/fnet/publico/visualizarDocumento?id=1051393</a:t>
            </a:r>
          </a:p>
          <a:p>
            <a:r>
              <a:t>CNPJ 60010416000112 · Originador e endossante · Excerto da fonte:</a:t>
            </a:r>
          </a:p>
          <a:p>
            <a:r>
              <a:t>“Endossante”: a Parati Crédito, Financiamento e Investimento S.A., instituição financeira constituída na forma de uma sociedade por ações, com sede na cidade de Vitória, estado do Espírito Santo, na Avenida Nossa Senhora da Penha, 699, torre A, conjuntos 404 a 407, Santa Lúcia, CEP 29.056-250, inscrita no CNPJ sob nº 03.311.443/0001-91; "Entidade Registradora": instituição autorizada pelo BACEN para realizar as atividades de registro e constituição, alteração e desconstituição de ônus e gravames sobre ativos f inanceiros registrados; “Escrituração”: significa a escrituração da Consignação a ser realizada pelo Empregador, junto ao eSocial, após recebimento de notif icação comunicando-o da contratação, pelo Devedor, do empréstimo a ser pago por Consignação; “Eventos de Avaliação”: os eventos de avaliação descritos no item 10.1 deste Anexo; “Eventos de Liquidação”: os eventos de liquidação descritos no item 10.3 deste Anexo; BTG Pactual SAC: 0800 772 28 27 - Ouvidoria: 0800 722 00 48 - btgpactual.com 44</a:t>
            </a:r>
          </a:p>
          <a:p>
            <a:r>
              <a:t>CNPJ 60010416000112 · Originador e endossante · Regulamento · ID 1051393 · 09/10/2025 · versão Regulamento09/10/2025 · p. 41 · Glossário, Agente de Retenção/Cobrança · https://fnet.bmfbovespa.com.br/fnet/publico/visualizarDocumento?id=1051393</a:t>
            </a:r>
          </a:p>
          <a:p>
            <a:r>
              <a:t>CNPJ 60010416000112 · Originador e endossante · Excerto da fonte:</a:t>
            </a:r>
          </a:p>
          <a:p>
            <a:r>
              <a:t>“Agente de Retenção/Cobrança”: significa a Tudo Serviços S.A., sociedade por ações com sede na Cidade de Eusébio, Estado do Ceará, na Comendador Ari Freitas, 577, CEP 61.760-000, inscrita no CNPJ sob nº 27.852.506/0001-85; “Agente Escriturador”: O Administrador, o qual se encontra devidamente habilitado pela CVM para prestar os serviços de escrituração das Cotas, ou seu sucessor a qualquer título; “Amortização”: signif ica cada uma das amortizações ordinárias de Cotas; “Amortização Extraordinária”: amortização extraordinária das Cotas Seniores, conforme deliberado pela Assembleia Especial de Cotistas, para reestabelecer o Índice de Subordinação, nos termos do item 5.5.1 do Anexo I; "ANBIMA": Associação Brasileira das Entidades dos Mercados Financeiro e de Capitais; "Código ANBIMA": Código ANBIMA de Regulação e Melhores Práticas para Administração de Recursos de Terceiros “Anexos”: tem o signif icado atribuído no Art. 3, inciso IV, da Resolução CVM 175, Parte Geral; “Apêndice”: cada um dos apêndices que integram este Anexo, descritivos de cada Subclasse de Cotas ou de aspectos aplicáveis à Classe; "Arquivos Dataprev": Arquivo de Consignações fornecido mensalmente pela Dataprev ao Endossante, contendo a totalidade das operações pend</a:t>
            </a:r>
          </a:p>
          <a:p>
            <a:r>
              <a:t>CNPJ 60010416000112 · Originador e endossante · Regulamento · ID 1051393 · 09/10/2025 · versão Regulamento09/10/2025 · p. 28 · AnexoI11.23 · https://fnet.bmfbovespa.com.br/fnet/publico/visualizarDocumento?id=1051393</a:t>
            </a:r>
          </a:p>
          <a:p>
            <a:r>
              <a:t>CNPJ 60010416000112 · Originador e endossante · Excerto da fonte:</a:t>
            </a:r>
          </a:p>
          <a:p>
            <a:r>
              <a:t>Tudo Serviços S.A., sociedade anônima, com sede no município de Eusébio, Estado do Ceará, na Comendador Ari Freitas, 577, CEP 61.760-000, inscrita no CNPJ sob o nº 27.852.506/0001-85, cujos deveres, sem prejuízo daqueles estabelecidos neste Regulamento, no Contrato de Serviços MT e no Contrato de Endosso, consistirão no monitoramento e cobrança dos Direitos Creditórios Inadimplidos, observado o disposto neste Anexo I e na regulamentação aplicável: (i) caso aplicável, atuar na retenção (defesa) de operações de empréstimo consignado cujos Direitos Creditórios sejam de titularidade da Classe, em caso d</a:t>
            </a:r>
          </a:p>
          <a:p>
            <a:r>
              <a:t>CNPJ 60010416000112 · Originador e endossante · Versão e prevalência: Leitura específica das cláusulas indicadas; condições e conflitos preservados. Seleção documental atual não comprova vigência jurídica por data isolada.</a:t>
            </a:r>
          </a:p>
          <a:p>
            <a:r>
              <a:t>CNPJ 60010416000112 · Originador e endossante · Resumo do histórico: {"count": 2, "dates": ["2025-03-20", "2025-10-09"], "document_count": 2, "sources": [{"document_id": "1051393", "title": "Regulamento", "reference_date": "2025-10-09", "version": "1", "page": "41-43", "url": "https://fnet.bmfbovespa.com.br/fnet/publico/visualizarDocumento?id=1051393", "sha256": "8469d613078ffd5a6c1d217885d8a397a16342c0b937ae4aa24b106505f233ae"}, {"document_id": "993786", "title": "Regulamento", "reference_date": "2025-03-20", "version": "1", "page": 25, "clause": "11.8", "url": "https://fnet.bmfbovespa.com.br/fnet/publico/visualizarDocumento?id=993786", "sha256": "fd0fdd369a195510d81f81f505195a0b09e5f43522a990afa7d58c4f872921c8"}], "reference": {"path": "history/60010416000112.json", "criterion_id": "originator", "total_count": 2, "preview_count": 2, "full_text_deferred": true, "sha256": "8e2bd813f4c51cf01f6bfaad164bafe69d2bbb192f753eac92da3a01c2e63046"}}</a:t>
            </a:r>
          </a:p>
          <a:p>
            <a:r>
              <a:t>CNPJ 62696791000193 · Originador e endossante · Regulamento · ID 1143317 · 20/03/2026 · versão Regulamento — referência 20/03/2026 · p. 10 · Anexo I, 4.4 e 4.6 · https://fnet.bmfbovespa.com.br/fnet/publico/visualizarDocumento?id=1143317</a:t>
            </a:r>
          </a:p>
          <a:p>
            <a:r>
              <a:t>CNPJ 62696791000193 · Originador e endossante · Excerto da fonte:</a:t>
            </a:r>
          </a:p>
          <a:p>
            <a:r>
              <a:t>4.4 Tendo em vista (i) a natureza variada dos Direitos Creditórios do Agronegócio passíveis de aquisição pela Classe; (ii) a amplitude da Política de Investimentos; e (iii) a potencial diversificação de Cedentes/Endossantes e Devedores, não é possível precisar os processos de origem dos Direitos Creditórios do Agronegócio e as políticas de concessão de crédito adotadas pelos Cedentes/Endossantes. 4.5 Os Direitos Creditórios do Agronegócio deverão contar com toda a documentação necessária para o exercício das prerrogativas decorrentes da titularidade dos ativos, e capaz de comprovar a origem, a existência e a exigibilidade dos Direitos Creditórios do Agronegócio (“Documentos Comprobatórios”) que evidenciem sua existência, validade e exequibilidade perante os respectivos Devedores. 4.5.1 Os Direitos Creditórios do Agronegócio serão adquiridos pela Classe por meio: (i) de contratos de cessão e/ou termos de cessão (“Contratos de Cessão”), contratos de promessa de endosso e/ou termos de endosso (“Contratos de Endosso”) firmados entre a Classe e os respectivos cedentes (“Cedentes”) / endossantes (“Endossantes”), acompanhados de todos os direitos, pri</a:t>
            </a:r>
          </a:p>
          <a:p>
            <a:r>
              <a:t>CNPJ 62696791000193 · Originador e endossante · Condição: A afirmação descreve um mandato amplo; não identifica contrapartes efetivamente presentes no IME.</a:t>
            </a:r>
          </a:p>
          <a:p>
            <a:r>
              <a:t>CNPJ 62696791000193 · Originador e endossante · Versão e prevalência: Leitura específica das cláusulas indicadas; condições e conflitos preservados. Seleção documental atual não comprova vigência jurídica por data isolada.</a:t>
            </a:r>
          </a:p>
          <a:p>
            <a:r>
              <a:t>CNPJ 55563624000109 · Originador e endossante · Regulamento · ID 1192614 · 2026-04-30 · versão 1 · p. 32 · https://fnet.bmfbovespa.com.br/fnet/publico/visualizarDocumento?id=1192614</a:t>
            </a:r>
          </a:p>
          <a:p>
            <a:r>
              <a:t>CNPJ 55563624000109 · Originador e endossante · Excerto da fonte:</a:t>
            </a:r>
          </a:p>
          <a:p>
            <a:r>
              <a:t>(b) Questionamento judicial. Os devedores podem questionar judicialmente (1) a validade  dos direitos creditórios, inclusive em razão da legalidade dos limites de crédito  concedidos pelo originador ou cedente e das taxas de juros praticadas, antes e/ou após  a sua transferência para a Classe Investida; e/ou (2) os termos e condições da  transferência dos direitos creditórios à Classe Investida. Em qualquer caso, é possível  que a Classe Investida não receba parte ou a totalidade dos valores relativos aos  direitos creditórios de sua titularidade objeto de questionamento judicial.</a:t>
            </a:r>
          </a:p>
          <a:p>
            <a:r>
              <a:t> (c) Risco de originação de direitos creditórios. Os direitos creditórios a serem adquiridos  pela Classe Investida são decorrentes de operações de empréstimo específicas  envolvendo as operações do Mercado Pago, conforme detalhadas no regulamento da  Classe Investida. Na hipótese de não originação, originação insuficiente ou  indisponibilidade para aquisição pelo Classe Investida, por qualquer motivo, inclusive  em caso de redução ou descontinuidade das operações regulares dos cedentes, de  direitos creditórios que satisfaçam os critérios de elegibilidade, as condições de cessão  e a política de investimento, composição e diversificação da carteira da Classe Investida  descrita em seu regulamento, a Classe Investida poderá ser incapaz de alocar a  totalidade de seus recursos, o que poderá inviabilizar a realização das chamadas de  capital por seu administrador, afetando negativamente a continuidade da Classe  Investida, a expectativa de seus cotistas, incluindo a Classe, com relação ao seu  horizonte de investimento, a rentabilidade da Classe Investida e, consequentemente, o  valor das Cotas da Classe Investida, impactando assim a Classe e os investimentos dos  Cotistas em Cotas.</a:t>
            </a:r>
          </a:p>
          <a:p>
            <a:r>
              <a:t> (d) Originação por meio fraudulento. A Classe Investida pode adquirir direitos creditórios  que tenham sido originados por meio fraudulento. Nesse caso, a Classe Investida não  poderá exigir o pagamento dos respectivos valores por parte dos devedores lesados,  restando-lhe somente exigir do cedente o pagamento do valor correspondente aos  direitos creditórios fraudulentos, na forma prevista no respectivo contrato de cessão. A  restituição devida pelo cedente poderá demorar a ser realizada ou simplesmente não  ocorrer. Em ambos os casos, o patrimônio da Classe Investida seria impactado  negativamente, igualmente afetando, consequentemente, a Classe.</a:t>
            </a:r>
          </a:p>
          <a:p>
            <a:r>
              <a:t> (e) Questionamento da validade e da eficácia da cessão dos Direitos Creditórios. A validade  e a eficácia da cessão dos direitos creditórios à Classe Investida poderão ser  questionadas, inclusive em decorrência de intervenção, liquidação, Regime de  Administração Especial Temporária (RAET), pedido de recuperação judicial, falência,  plano de recuperação extrajudicial ou outro procedimento de natureza similar  originador ou do cedente. A titularidade direitos creditórios poderá vir a ser  questionada caso (1) haja garantias reais sobre os direitos creditórios, constituídas  antes da sua cessão e sem o conhecimento da Classe Investida; (2) ocorra a penhora ou  outra forma de constrição judicial sobre os direitos creditórios, antes da sua cessão e sem  o conhecimento da Classe Investida; (3) seja verificada, em processo judicial, fraude  contra credores ou fraude à execução praticada pelo respectivo originador ou cedente;</a:t>
            </a:r>
          </a:p>
          <a:p>
            <a:r>
              <a:t> ou (4) a cessão dos direitos creditórios à Classe Investida seja revogada, quando restar  comprovado que foi praticada com a intenção de prejudicar os credores do originador  ou do cedente. Em qualquer hipótese, os direitos creditórios integrantes da carteira da  Classe Investida poderão ser bloqueados ou redirecionados para o pagamento de  outras obrigações do originador ou cedente, afetando negativamente os patrimônios  da Classe Investida e a rentabilidade das suas cotas.</a:t>
            </a:r>
          </a:p>
          <a:p>
            <a:r>
              <a:t>CNPJ 55563624000109 · Originador e endossante · Regulamento · ID 1192614 · 2026-04-30 · versão 1 · p. 28 · https://fnet.bmfbovespa.com.br/fnet/publico/visualizarDocumento?id=1192614</a:t>
            </a:r>
          </a:p>
          <a:p>
            <a:r>
              <a:t>CNPJ 55563624000109 · Originador e endossante · Excerto da fonte:</a:t>
            </a:r>
          </a:p>
          <a:p>
            <a:r>
              <a:t>Classe, na forma da regulamentação aplicável, observado que os prestadores de serviços eventualmente  subcontratados não podem ser, em relação à Classe, o originador, cedente, o GESTOR, consultoria especializada  ou partes a eles relacionadas, tais como definidas nas regras contábeis que tratam desse assunto.</a:t>
            </a:r>
          </a:p>
          <a:p>
            <a:r>
              <a:t>CNPJ 55563624000109 · Originador e endossante · Condição: Documentos atuais selecionados no inventário por categoria/escopo; a data documental isolada não comprova vigência jurídica.</a:t>
            </a:r>
          </a:p>
          <a:p>
            <a:r>
              <a:t>CNPJ 55563624000109 · Originador e endossante · Versão e prevalência: Documentos atuais selecionados no inventário por categoria/escopo; a data documental isolada não comprova vigência jurídica.</a:t>
            </a:r>
          </a:p>
          <a:p>
            <a:r>
              <a:t>CNPJ 55563624000109 · Originador e endossante · Resumo do histórico: {"count": 3, "dates": ["2025-01-31", "2026-01-31", "2026-04-30"], "document_count": 3, "sources": [{"document_id": "1192614", "title": "Regulamento", "reference_date": "2026-04-30", "version": "1", "page": "11", "url": "https://fnet.bmfbovespa.com.br/fnet/publico/visualizarDocumento?id=1192614", "sha256": "f56e63ace0acde41d2f47fb48f1ac7f3f7df5e2d32de092d7c5e075a52516632"}, {"document_id": "1178840", "title": "Demonstrações Financeiras", "reference_date": "2026-01-31", "version": "1", "page": 16, "url": "https://fnet.bmfbovespa.com.br/fnet/publico/visualizarDocumento?id=1178840", "sha256": "c458e98664c5c907ddb5a05a94b120bed4e05295b2bfc420f5ba69af0a229abe"}, {"document_id": "891861", "title": "Demonstrações Financeiras", "reference_date": "2025-01-31", "version": "1", "page": 16, "url": "https://fnet.bmfbovespa.com.br/fnet/publico/visualizarDocumento?id=891861", "sha256": "e9cb9e6ddbe505fe068cfcac33605165a98313489de0d3ce6d4d238263c3f3e7"}], "reference": {"path": "history/55563624000109.json", "criterion_id": "originator", "total_count": 3, "preview_count": 3, "full_text_deferred": true, "sha256": "7835d573fb58a3c19adf5b8ecc2aee2bdbb9a88f7a0c0209b5f262b64c7522e3"}}</a:t>
            </a:r>
          </a:p>
          <a:p>
            <a:r>
              <a:t>CNPJ 62552447000120 · Originador e endossante · Regulamento · ID 1200623 · 21/05/2026 · versão Consolidado21/05/2026 aprovado pelo ato1200625 · p. 12 · AnexoI4.4.1(i) · https://fnet.bmfbovespa.com.br/fnet/publico/visualizarDocumento?id=1200623</a:t>
            </a:r>
          </a:p>
          <a:p>
            <a:r>
              <a:t>CNPJ 62552447000120 · Originador e endossante · Excerto da fonte:</a:t>
            </a:r>
          </a:p>
          <a:p>
            <a:r>
              <a:t>BANCO VR S.A., instituição f inanceira, com sede no município e Estado de São Paulo, na Av. Dos Bandeirantes, n.º 460, Brooklin Paulista, CEP 04553-900, inscrita no CNPJ sob o n.º 78.626.983/0001- 63, ou qualquer outra sociedade do mesmo grupo econômico, na qualidade de endossante (“Endossante”), acompanhados de todos os direitos, privilégios, pref erências, prerrogativas, ações e garantias assegurados aos seus titulares; (ii) da subscrição de títulos de crédito e/ou valores mobiliários, incluindo, mas não se</a:t>
            </a:r>
          </a:p>
          <a:p>
            <a:r>
              <a:t>CNPJ 62552447000120 · Originador e endossante · Regulamento · ID 1200623 · 21/05/2026 · versão Consolidado21/05/2026 aprovado pelo ato1200625 · p. 29 · AnexoI12.14 · https://fnet.bmfbovespa.com.br/fnet/publico/visualizarDocumento?id=1200623</a:t>
            </a:r>
          </a:p>
          <a:p>
            <a:r>
              <a:t>CNPJ 62552447000120 · Originador e endossante · Excerto da fonte:</a:t>
            </a:r>
          </a:p>
          <a:p>
            <a:r>
              <a:t>VR BENEFÍCIOS E SERVIÇOS DE PROCESSAMENTO S.A., sociedade anônima com sede no município e Estado de São Paulo, na Av. dos Bandeirantes, n.º 460, Brooklin Paulista, CEP 04553-900, inscrita no CNPJ sob o n.º 02.535.864/0004-86 (“Agente de Retenção e Cobrança” ou “Originador”), para os serviços de retenção de Direitos Creditórios e de cobrança de Direitos Creditórios Inadimplidos, de acordo com os contratos de prestação de serviços de retenção e cobrança celebrados entre o Agente de Retenção e Cobrança e a Classe (“Contratos de Retenção/Cobrança”). 12.15 O Agente de Retenção e Cobrança poderá, às expensas da Classe,</a:t>
            </a:r>
          </a:p>
          <a:p>
            <a:r>
              <a:t>CNPJ 62552447000120 · Originador e endossante · Versão e prevalência: Leitura específica das cláusulas indicadas; condições e conflitos preservados. Seleção documental atual não comprova vigência jurídica por data isolada.</a:t>
            </a:r>
          </a:p>
          <a:p>
            <a:r>
              <a:t>CNPJ 63953620000165 · Originador e endossante · Anexo ao Regulamento · ID 1222863 · 02/06/2026 · versão AnexoConsignadoPrivado02/06/2026 · p. 5 · 4.3–4.4 · https://fnet.bmfbovespa.com.br/fnet/publico/visualizarDocumento?id=1222863</a:t>
            </a:r>
          </a:p>
          <a:p>
            <a:r>
              <a:t>CNPJ 63953620000165 · Originador e endossante · Excerto da fonte:</a:t>
            </a:r>
          </a:p>
          <a:p>
            <a:r>
              <a:t>4.3 Os Direitos Creditórios serão adquiridos pela Classe por meio: (i) contratos de promessa de endosso e/ou termos de endosso (“Contratos de Endosso”) firmados entre a Classe e a Parati Crédito, Financiamento e Investimento S.A., instituição financeira constituída na forma de uma sociedade por ações, com sede na cidade de Vitória, estado do Espírito Santo, na Avenida Nossa Senhora da Penha, 699, torre A, conjuntos 404 a 407, Santa Lúcia, CEP 29.056-250, inscrita no CNPJ sob nº 03.311.443/0001-91 (“Endossante” ou “Cedente”), acompanhados de todos os direitos, privilégios, preferências, prerrogativas, ações e garantias asse</a:t>
            </a:r>
          </a:p>
          <a:p>
            <a:r>
              <a:t>CNPJ 63953620000165 · Originador e endossante · Anexo ao Regulamento · ID 1222863 · 02/06/2026 · versão AnexoConsignadoPrivado02/06/2026 · p. 19 · 12.6 · https://fnet.bmfbovespa.com.br/fnet/publico/visualizarDocumento?id=1222863</a:t>
            </a:r>
          </a:p>
          <a:p>
            <a:r>
              <a:t>CNPJ 63953620000165 · Originador e endossante · Excerto da fonte:</a:t>
            </a:r>
          </a:p>
          <a:p>
            <a:r>
              <a:t>12.6 A Classe contratou a Tudo Serviços S.A., sociedade anônima, com sede no município de Fortaleza, Estado do Ceará, na Avenida Senador Virgulo Távora, nº 303, Lojas 02, 03, 04, 05, 06 e 19, Meireles, CEP 60.170-265, inscrita no CNPJ sob o nº 27.852.506/0001-85, cujos deveres, sem prejuízo daqueles estabelecidos neste Regulamento, no “Contrato de Serviços de Retenção e Cobrança e Outras Avenças”, celebrado entre o Agente de Retenção/Cobrança e a Classe (“Contrato de Serviços MT”) e no Contrato de Endosso, consistirão no monitoramento e cobrança dos Direitos Creditórios Inadimplidos, observado o disposto neste Anexo I e na</a:t>
            </a:r>
          </a:p>
          <a:p>
            <a:r>
              <a:t>CNPJ 63953620000165 · Originador e endossante · Condição: Nomeação nominal atual da classe; distinta da origem histórica dos ativos recebidos por cisão de outros veículos.</a:t>
            </a:r>
          </a:p>
          <a:p>
            <a:r>
              <a:t>CNPJ 63953620000165 · Originador e endossante · Versão e prevalência: Leitura específica das cláusulas indicadas; condições e conflitos preservados. Seleção documental atual não comprova vigência jurídica por data isolada.</a:t>
            </a:r>
          </a:p>
          <a:p>
            <a:r>
              <a:t>CNPJ 63953620000165 · Originador e endossante · Resumo do histórico: {"count": 8, "dates": ["2026-04-28", "2026-05-08", "2026-05-15"], "document_count": 3, "sources": [{"document_id": "1327859", "title": "Demonstrações Financeiras - Fusão, cisão e incorporação", "reference_date": "2026-05-15", "version": "1", "page": 23, "url": "https://fnet.bmfbovespa.com.br/fnet/publico/visualizarDocumento?id=1327859", "sha256": "dca1c68babb97f887528c3e2e47596a9c30f507b067981a35655b2f2da9c8054"}, {"document_id": "1298691", "title": "Demonstrações Financeiras - Fusão, cisão e incorporação", "reference_date": "2026-05-08", "version": "1", "page": 24, "url": "https://fnet.bmfbovespa.com.br/fnet/publico/visualizarDocumento?id=1298691", "sha256": "58c570d9b8d4d265330d3db3ea81c435b8e44a6dab4002aa37790652a1ee9819"}, {"document_id": "1282180", "title": "Demonstrações Financeiras - Fusão, cisão e incorporação", "reference_date": "2026-04-28", "version": "1", "page": 24, "url": "https://fnet.bmfbovespa.com.br/fnet/publico/visualizarDocumento?id=1282180", "sha256": "afaaa0e6809be4385e5bdb6c911aac582032c5bdbac3d7750234bf9eaf00438a"}], "reference": {"path": "history/63953620000165.json", "criterion_id": "originator", "total_count": 8, "preview_count": 3, "full_text_deferred": true, "sha256": "a7b89077f5e21098c2d601c303faabc3ff6b9729f89d8afecdc60fe1404720c1"}}</a:t>
            </a:r>
          </a:p>
          <a:p>
            <a:r>
              <a:t>CNPJ 54871427000194 · Devedor e consignação · Regulamento · ID 670691 · 2024-04-28 · versão 1 · p. 29 · https://fnet.bmfbovespa.com.br/fnet/publico/visualizarDocumento?id=670691</a:t>
            </a:r>
          </a:p>
          <a:p>
            <a:r>
              <a:t>CNPJ 54871427000194 · Devedor e consignação · Excerto da fonte:</a:t>
            </a:r>
          </a:p>
          <a:p>
            <a:r>
              <a:t>Anexo I ao Regulamento CLASSE ÚNICA DE RESPONSABILIDADE LIMITADA DO CONSIGNADO DELTA RECEIVABLES I FUNDO DE INVESTIMENTO EM DIREITOS CREDITÓRIOS  pelo Endossante e depositados em seu conta de sua titularidade para posterior repasse à  Classe. Neste caso, a Classe poderá sofrer perdas principalmente em relação ao atraso na  regularização da titularidade e pagamento dos Direitos Creditórios.</a:t>
            </a:r>
          </a:p>
          <a:p>
            <a:r>
              <a:t> (v) Risco de pré-pagamento dos Direitos Creditórios. A ocorrência de pré-  pagamentos em relação a um ou mais Direitos Creditórios poderá ocasionar perdas à Classe.</a:t>
            </a:r>
          </a:p>
          <a:p>
            <a:r>
              <a:t> A ocorrência de pré-pagamentos (pagamento em data anterior àquela originalmente pactuada)  de Direitos Creditórios reduz o horizonte original de rendimentos esperados pela Classe de  tais Direitos Creditórios, uma vez que o pré-pagamento poderá, se assim permitido pela  documentação do Direito Creditório ou, conf orme o caso, pela legislação aplicável, ser  realizado pelo valor de emissão do Direito Creditório atualizado até a data do pré-pagamento  pela taxa de juros pactuada entre os Endossantes e os Devedores de tais Direitos Creditórios,  de modo que os juros remuneratórios incidentes desde a data da realização do pré-pagamento  até a data de vencimento do respectivo Direito Creditório deixam de ser devidos à Classe.</a:t>
            </a:r>
          </a:p>
          <a:p>
            <a:r>
              <a:t> (vi) Riscos associados aos Devedores: os Direitos Creditórios a serem cedidos à  Classe serão descontados da remuneração do Devedor, através de desconto em f olha de  pagamento ou de benefício. Nesse sentido, na ocorrência de pré-pagamento, as parcelas  serão pagas antecipadamente e a Classe deverá utilizar tais montantes no pré-pagamento dos  Direitos Creditórios. Nesta hipótese, a Classe poderá não encontrar Direitos Creditórios  disponíveis para serem adquiridos pela Classe, o que poderá afetar a rentabilidade da Classe.</a:t>
            </a:r>
          </a:p>
          <a:p>
            <a:r>
              <a:t> (vii) Risco de Competição: o mercado de empréstimos experimentou grande  expansão no Brasil nos últimos anos. Nesse contexto, a Resolução CMN nº 4.292, alterada  pela Resolução nº 4.762, de 27 de novembro de 2019, dispõe que deve ser garantido às  pessoas naturais devedoras de operações de crédito (tais como as CCB) a possibilidade de  realizarem a portabilidade destas operações para outras instituições financeiras, inclusive nos  casos em que tenham sido objeto de cessão (tais como as realizadas à Classe). Nesse  cenário, é possível que os competidores do Endossante ofereçam condições e taxas mais  vantajosas para os empréstimos pessoais com consignação em f olha de pagamento ou de  benef ícios, o que pode causar a migração de clientes da Endossante para outras instituições  f inanceiras, gerando a liquidação antecipada de parte das CCB existentes e/ou redução no  número de Direitos Creditórios cedidos. Referida competição poderá af etar os resultados da  Classe, impactando negativamente os rendimentos dos Cotistas. Ainda, a portabilidade a um  Devedor pode acarretar no recebimento de valores inf eriores aos esperados pela Classe.</a:t>
            </a:r>
          </a:p>
          <a:p>
            <a:r>
              <a:t> (viii) Insuf iciência dos Critérios de Elegibilidade. Os Critérios de Elegibilidade têm a  f inalidade de selecionar os Direitos Creditórios passíveis de aquisição pela Classe. Não  obstante tais Critérios de Elegibilidade, a solvência dos Direitos Creditórios que compõem a  Carteira depende integralmente, mas não somente, da situação econômico-financeira dos  Devedores. Dessa f orma, a observância pelo GESTOR dos Critérios de Elegibilidade não  constitui garantia de adimplência dos Devedores.</a:t>
            </a:r>
          </a:p>
          <a:p>
            <a:r>
              <a:t> Os Endossantes não necessariamente garantem a solvência dos seus respectivos Devedores.</a:t>
            </a:r>
          </a:p>
          <a:p>
            <a:r>
              <a:t> O Endossante dos Direitos Creditórios não assumirá responsabilidade pelo seu pagamento ou  pela solvência dos respectivos Devedores. A Classe sofrerá o impacto do inadimplemento dos  Direitos Creditórios vencidos e não pagos pelos respectivos Devedores.</a:t>
            </a:r>
          </a:p>
          <a:p>
            <a:r>
              <a:t> (ix) Possibilidade de aquisição de Direitos Creditórios cedidos por Endossante  e/ou devidos por Devedores cujas demonstrações financeiras não sejam auditadas. A Classe,  desde que sejam respeitados os limites de concentração previstos neste Regulamento, poderá  manter a qualquer tempo em sua Carteira, Direitos Creditórios cedidos por Endossante e/ou  devidos por Devedores cujas demonstrações f inanceiras não sejam auditadas por Auditor  Independente registrado na CVM. Nesse sentido, não haverá verificação independente sobre  tais demonstrações f inanceiras que af irme se estas representam adequadamente, em todos  os aspectos relevantes, as respectivas posições patrimoniais e f inanceiras, os resultados de  suas operações, as mutações de seus respectivos patrimônios líquidos tampouco as origens  e aplicações de seus recursos.</a:t>
            </a:r>
          </a:p>
          <a:p>
            <a:r>
              <a:t>CNPJ 54871427000194 · Devedor e consignação · Regulamento · ID 670691 · 2024-04-28 · versão 1 · p. 27 · 14.2 · https://fnet.bmfbovespa.com.br/fnet/publico/visualizarDocumento?id=670691</a:t>
            </a:r>
          </a:p>
          <a:p>
            <a:r>
              <a:t>CNPJ 54871427000194 · Devedor e consignação · Excerto da fonte:</a:t>
            </a:r>
          </a:p>
          <a:p>
            <a:r>
              <a:t>14.2 Todos os custos e despesas ref eridos neste Capítulo, inclusive para salvaguarda de direitos e  prerrogativas da Classe e/ou com a cobrança judicial e/ou extrajudicial de Direitos Creditórios  Inadimplidos, serão de inteira responsabilidade da Classe, não estando o ADMINISTRADOR, o  GESTOR, o Endossante, os Devedores, o CUSTODIANTE e quaisquer de suas respectivas pessoas  controladoras, sociedades por estes direta ou indiretamente controladas, a estes coligadas ou outras  sociedades sob controle comum, em conjunto ou isoladamente, obrigados pelo adiantamento ou  pagamento de valores relacionados aos procedimentos ref eridos neste Capítulo.</a:t>
            </a:r>
          </a:p>
          <a:p>
            <a:r>
              <a:t>CNPJ 54871427000194 · Devedor e consignação · Regulamento · ID 670691 · 2024-04-28 · versão 1 · p. 31 · https://fnet.bmfbovespa.com.br/fnet/publico/visualizarDocumento?id=670691</a:t>
            </a:r>
          </a:p>
          <a:p>
            <a:r>
              <a:t>CNPJ 54871427000194 · Devedor e consignação · Excerto da fonte:</a:t>
            </a:r>
          </a:p>
          <a:p>
            <a:r>
              <a:t>Anexo I ao Regulamento CLASSE ÚNICA DE RESPONSABILIDADE LIMITADA DO CONSIGNADO DELTA RECEIVABLES I FUNDO DE INVESTIMENTO EM DIREITOS CREDITÓRIOS  a resgates de suas Cotas e/ou poderá ser obrigado a se desfazer de tais Ativos Financeiros  de Liquidez em condições menos f avoráveis do que se não houvesse a ref erida situação de  f alta de liquidez.</a:t>
            </a:r>
          </a:p>
          <a:p>
            <a:r>
              <a:t> (iv) Liquidação antecipada do FUNDO ou da Classe. Observado o disposto neste  Regulamento, o FUNDO ou a Classe poderão ser liquidados antecipadamente, caso ocorra  qualquer Evento de Liquidação, ou se assim deliberado pelos Cotistas reunidos em  Assembleia Geral de Cotistas. Por este motivo, os Cotistas poderão ter seu horizonte original  de investimento reduzido e poderão não conseguir reinvestir os recursos recebidos com a  mesma remuneração buscada pela Classe, não sendo devida pela Classe, pelo  ADMINISTRADOR, pelo GESTOR ou pelo CUSTODIANTE qualquer multa ou penalidade, a  qualquer título, em decorrência desse f ato. Adicionalmente, ocorrendo qualquer uma das  hipóteses de liquidação antecipada do FUNDO ou da Classe, poderá não haver recursos  disponíveis em moeda corrente nacional para realizar o pagamento aos Cotistas, que poderão  ser pagos com os Direitos Creditórios e Ativos Financeiros de Liquidez detidos em Carteira, os  quais estão sujeitos aos riscos apontados no item (iii) acima.</a:t>
            </a:r>
          </a:p>
          <a:p>
            <a:r>
              <a:t> (v) Amortização condicionada das Cotas. A única f onte de recursos da Classe  para ef etuar o pagamento de resgate ou amortização das Cotas, conforme o caso, é a  liquidação: (i) dos Direitos Creditórios, pelos respectivos Devedores; e (ii) dos Ativos  Financeiros de Liquidez, pelas respectivas contrapartes. Após o recebimento desses recursos  e, se f or o caso, depois de esgotados todos os meios cabíveis para a cobrança, extrajudicial  ou judicial, dos referidos ativos, a Classe não disporá de quaisquer outras verbas para efetuar  o resgate ou amortização das Cotas, conforme o caso, o que poderá acarretar prejuízo aos  Cotistas.</a:t>
            </a:r>
          </a:p>
          <a:p>
            <a:r>
              <a:t> Ademais, a Classe está exposta a determinados riscos inerentes aos Direitos Creditórios e  Ativos Financeiros de Liquidez e aos mercados em que são negociados, incluindo a eventual  impossibilidade de alienar ativos em caso de necessidade, especialmente os Direitos  Creditórios, devido à inexistência de um mercado secundário ativo e organizado para a  negociação dessa espécie de ativo. Considerando-se a sujeição do resgate das Cotas à  liquidação dos Direitos Creditórios e/ou dos Ativos Financeiros de Liquidez, conforme descrito  acima, tanto o ADMINISTRADOR quanto o GESTOR e o CUSTODIANTE estão  impossibilitados de assegurar que os resgates das Cotas ocorrerão nas datas originalmente  previstas, não sendo devido, nesta hipótese, pela Classe ou qualquer outra pessoa, incluindo  o ADMINISTRADOR, o GESTOR e o CUSTODIANTE, qualquer multa ou penalidade, de  qualquer natureza.</a:t>
            </a:r>
          </a:p>
          <a:p>
            <a:r>
              <a:t> (vi) Ausência de classificação de risco das Cotas e Política de Investimentos  genérica. A ausência de requisitos rígidos relacionados aos Direitos Creditórios passíveis de  aquisição pela Classe poderá dificultar a def inição do perfil de risco da Carteira, af etando a  capacidade de o Cotista avaliar o risco de seu invest imento. As Cotas não possuem  classificação de risco emitida por Agência Classificadora de Risco. Esses f atores podem  dif icultar a avaliação, por parte dos investidores, da qualidade do crédito representado pelas  Cotas e com a capacidade da Classe em honrar com os pagamentos das Cotas.</a:t>
            </a:r>
          </a:p>
          <a:p>
            <a:r>
              <a:t>CNPJ 54871427000194 · Devedor e consignação · Condição: Documentos atuais selecionados no inventário por categoria/escopo; a data documental isolada não comprova vigência jurídica.</a:t>
            </a:r>
          </a:p>
          <a:p>
            <a:r>
              <a:t>CNPJ 54871427000194 · Devedor e consignação · Versão e prevalência: Documentos atuais selecionados no inventário por categoria/escopo; a data documental isolada não comprova vigência jurídica.</a:t>
            </a:r>
          </a:p>
          <a:p>
            <a:r>
              <a:t>CNPJ 54871427000194 · Devedor e consignação · Resumo do histórico: {"count": 2, "dates": ["2024-04-19", "2024-04-28"], "document_count": 2, "sources": [{"document_id": "670691", "title": "Regulamento", "reference_date": "2024-04-28", "version": "1", "page": "38", "url": "https://fnet.bmfbovespa.com.br/fnet/publico/visualizarDocumento?id=670691", "sha256": "bf16dd7f1a62d5cdbf2e2d54fef81783783f7310fbc99c3a8f00459bdf9d037b"}, {"document_id": "670689", "title": "Regulamento", "reference_date": "2024-04-19", "version": "1", "page": 30, "url": "https://fnet.bmfbovespa.com.br/fnet/publico/visualizarDocumento?id=670689", "sha256": "891bc9bc5d87bbc02ec139077a84d2702eb81ea02035fb71d24f5b8366b94a0b"}], "reference": {"path": "history/54871427000194.json", "criterion_id": "debtor", "total_count": 2, "preview_count": 2, "full_text_deferred": true, "sha256": "35d7cd99be50c7287c9fb675cf4f2e736002315295a225a9efa79c8d9186d874"}}</a:t>
            </a:r>
          </a:p>
          <a:p>
            <a:r>
              <a:t>CNPJ 60010416000112 · Devedor e consignação · Regulamento · ID 1051393 · 2025-10-09 · versão 1 · p. 35 · 15.1.4 · https://fnet.bmfbovespa.com.br/fnet/publico/visualizarDocumento?id=1051393</a:t>
            </a:r>
          </a:p>
          <a:p>
            <a:r>
              <a:t>CNPJ 60010416000112 · Devedor e consignação · Excerto da fonte:</a:t>
            </a:r>
          </a:p>
          <a:p>
            <a:r>
              <a:t>15.1.4 Riscos específicos</a:t>
            </a:r>
          </a:p>
          <a:p>
            <a:r>
              <a:t> (i)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 icar inadimplente e,  consequentemente, não haverá repasse à Classe do respectivo Direito Creditório, o que  poderá resultar em perdas f inanceiras à Classe e aos Cotistas.</a:t>
            </a:r>
          </a:p>
          <a:p>
            <a:r>
              <a:t> (ii) Risco do Empregador não efetuar o desconto em folha: o repasse dos recursos oriundos  dos Direitos Creditórios à Classe depende da realização, pelo Empregador, da Escrituração e  do desconto na respectiva f olha de pagamento do Devedor. Na hipótese do Empregador  deixar de realizar a Escrituração ou os descontos na folha de pagamento, não haverá repasse  de recursos à Classe, podendo causar prejuízos à Classe e aos Cotistas.</a:t>
            </a:r>
          </a:p>
          <a:p>
            <a:r>
              <a:t> (iii) Risco de perda do vínculo empregatício com o Empregador: caso o Devedor perca o  vínculo empregatício com o Empregador, não haverá remuneração e f olha de pagamento para  realização dos descontos para pagamento dos Direitos Creditórios. Neste caso, não obstante  a possibilidade do Agente de Retenção/Cobrança realizar a cobrança ativa dos Direitos  Creditórios diretamente do Devedor, a ausência de remuneração poderá deixar o Devedor  inadimplente perante a Classe até que o seu vínculo empregatício seja retomado e seja  ef etuado o procedimento operacional para que a CCB seja aditada e/ou seja realizado o  Processo de Reinicialização. Tais situações poderão resultar em prejuízos à Classe e aos  Cotistas.</a:t>
            </a:r>
          </a:p>
          <a:p>
            <a:r>
              <a:t>CNPJ 60010416000112 · Devedor e consignação · Regulamento · ID 1051393 · 2025-10-09 · versão 1 · p. 36 · https://fnet.bmfbovespa.com.br/fnet/publico/visualizarDocumento?id=1051393</a:t>
            </a:r>
          </a:p>
          <a:p>
            <a:r>
              <a:t>CNPJ 60010416000112 · Devedor e consignação · Excerto da fonte:</a:t>
            </a:r>
          </a:p>
          <a:p>
            <a:r>
              <a:t>Anexo I ao Regulamento CLASSE ÚNICA DO MT I CONSIGNADO PRIVADO I FUNDO DE INVESTIMENTO EM DIREITOS CREDITÓRIOS RESPONSABILIDADE LIMITADA  a qualquer momento, os recursos decorrentes dos Direitos Creditórios.</a:t>
            </a:r>
          </a:p>
          <a:p>
            <a:r>
              <a:t> (iii) Risco de validação das informações para conciliação e reconciliação dos Direitos  Creditórios adquiridos pela Classe: as inf ormações para conciliação dos pagamentos,  sendo considerado como tal, também, o Arquivo Dataprev, listando todos os empregados  cujas f olhas de pagamento serão sujeitas a desconto no mês relevante, nos valores acordados  ao ef etuar a Consignação, e qualquer glosa será enviada pela CEF ao Endossante, que  ef etuará a conciliação e, posteriormente, enviará as inf ormações ao Custodiante. Caso o  Endossante não f orneça essas inf ormações em tempo hábil ou f or verif icada qualquer  inconsistência nas informações recebidas pelo Custodiante, poderá isso impedir ou dar origem  a f alhas no processo de reconciliação dos valores depositados na Conta de Cobrança da  Classe e causando perdas à Classe e ao Cotista.</a:t>
            </a:r>
          </a:p>
          <a:p>
            <a:r>
              <a:t> (iv) Risco operacional dos sistemas: o desconto na f olha de pagamento do Devedor das  parcelas da CCB e a transf erência para o Endossante dos Direitos Creditórios serão  processados por um sistema controlado pela Dataprev, e o Endossante, o Administrador ou o  Gestor não têm controle sobre esse processo. Assim, qualquer f alha ou mudança nesse  sistema poderá atrasar ou reduzir o desconto dos rendimentos dos Devedores ou sua  transf erência para a Classe. Nesse caso, a rentabilidade e a propriedade da Classe poderão  ser adversamente af etadas enquanto o problema do sistema persistir, ou até que todos os  valores sejam devidamente transf eridos.</a:t>
            </a:r>
          </a:p>
          <a:p>
            <a:r>
              <a:t> (v) Risco operacional do Contrato: o desconto na f olha de pagamento das parcelas dos  empréstimos concedidos aos Devedores é permitido pelo Convênio Consignado Privado. As  partes do Convênio Consignado Privado devem seguir certas regras para manter o Convênio  Consignado Privado, e a violação delas poderá levar à sua rescisão. Além disso, mudanças  legais podem af etar e/ou tornar inviável a manutenção do Convênio Consignado Privado.</a:t>
            </a:r>
          </a:p>
          <a:p>
            <a:r>
              <a:t> No caso de rescisão do Convênio Consignado Privado, a estrutura de cobrança dos Direitos  Creditórios (desconto na f olha de pagamento) poderá ser comprometida, dando origem à  necessidade de adoção de uma nova estrutura, que poderá não ser tão eficaz quanto ela ou  mesmo revelar, na prática, ser inadequada ou ter altos custos operacionais. Esses eventos  podem levar a perdas patrimoniais para a Classe, na medida em que este deixará de receber,  def initiva ou temporariamente, recursos oriundos dos Direitos Creditórios, no todo ou em parte.</a:t>
            </a:r>
          </a:p>
          <a:p>
            <a:r>
              <a:t> Adicionalmente, de acordo com o Contrato de Endosso, a manutenção do Convênio  Consignado Privado é uma condição para a aquisição de novos Direitos Creditórios pela  Classe e, portanto, no caso de rescisão do Convênio Consignado Privado, a Classe poderá  ser impedido de adquirir novos Direitos Creditórios.</a:t>
            </a:r>
          </a:p>
          <a:p>
            <a:r>
              <a:t>CNPJ 60010416000112 · Devedor e consignação · Regulamento · ID 1051393 · 2025-10-09 · versão 1 · p. 31 · 13.2 · https://fnet.bmfbovespa.com.br/fnet/publico/visualizarDocumento?id=1051393</a:t>
            </a:r>
          </a:p>
          <a:p>
            <a:r>
              <a:t>CNPJ 60010416000112 · Devedor e consignação · Excerto da fonte:</a:t>
            </a:r>
          </a:p>
          <a:p>
            <a:r>
              <a:t>13.2 Todos os custos e despesas ref eridos neste Capítulo, inclusive para salvaguarda de direitos e  prerrogativas da Classe e/ou com a cobrança judicial e/ou extrajudicial de Direitos Creditórios Inadimplidos  ou Direitos Creditórios a Perf ormar, serão de inteira responsabilidade da Classe, não estando o  Administrador, o Gestor, o Endossante, os Devedores, o Custodiante e quaisquer de suas respectivas  pessoas controladoras, sociedades por estes direta ou indiretamente controladas, a estes coligadas ou  outras sociedades sob controle comum, em conjunto ou isoladamente, obrigados pelo adiantamento ou  pagamento de valores relacionados aos procedimentos ref eridos neste Capítulo.</a:t>
            </a:r>
          </a:p>
          <a:p>
            <a:r>
              <a:t>CNPJ 60010416000112 · Devedor e consignação · Condição: Documentos atuais selecionados no inventário por categoria/escopo; a data documental isolada não comprova vigência jurídica.</a:t>
            </a:r>
          </a:p>
          <a:p>
            <a:r>
              <a:t>CNPJ 60010416000112 · Devedor e consignação · Versão e prevalência: Documentos atuais selecionados no inventário por categoria/escopo; a data documental isolada não comprova vigência jurídica.</a:t>
            </a:r>
          </a:p>
          <a:p>
            <a:r>
              <a:t>CNPJ 60010416000112 · Devedor e consignação · Resumo do histórico: {"count": 2, "dates": ["2025-03-20", "2025-10-09"], "document_count": 2, "sources": [{"document_id": "1051393", "title": "Regulamento", "reference_date": "2025-10-09", "version": "1", "page": "9-10, 42", "url": "https://fnet.bmfbovespa.com.br/fnet/publico/visualizarDocumento?id=1051393", "sha256": "8469d613078ffd5a6c1d217885d8a397a16342c0b937ae4aa24b106505f233ae"}, {"document_id": "993786", "title": "Regulamento", "reference_date": "2025-03-20", "version": "1", "page": 35, "clause": "15.1.4", "url": "https://fnet.bmfbovespa.com.br/fnet/publico/visualizarDocumento?id=993786", "sha256": "fd0fdd369a195510d81f81f505195a0b09e5f43522a990afa7d58c4f872921c8"}], "reference": {"path": "history/60010416000112.json", "criterion_id": "debtor", "total_count": 2, "preview_count": 2, "full_text_deferred": true, "sha256": "8e2bd813f4c51cf01f6bfaad164bafe69d2bbb192f753eac92da3a01c2e63046"}}</a:t>
            </a:r>
          </a:p>
          <a:p>
            <a:r>
              <a:t>CNPJ 62696791000193 · Devedor e consignação · Regulamento · ID 1143317 · 2026-03-20 · versão 1 · p. 47 · 10.2 · https://fnet.bmfbovespa.com.br/fnet/publico/visualizarDocumento?id=1143317</a:t>
            </a:r>
          </a:p>
          <a:p>
            <a:r>
              <a:t>CNPJ 62696791000193 · Devedor e consignação · Excerto da fonte:</a:t>
            </a:r>
          </a:p>
          <a:p>
            <a:r>
              <a:t>10.2. As mudanças climáticas podem impactar severamente os ciclos produtivos de commodities  agrícolas, ocasionando, quebras de saf ra, volatilidade de preços, choques de of erta,  deterioração da qualidade dos produtos por elas atingidos, bem como interrupção no  abastecimento destes. Ref eridas mudanças podem af etar adversamente a capacidade  produtiva e de entrega dos produtos agrícolas pelos devedores, cenário este que impactará  negativamente a capacidade de pagamento dos Ativos-Alvo integrantes da carteira da Classe  pelos devedores e, conforme o caso, pelas pessoas devedoras dos bens e direitos onerados  em f avor da Classe.</a:t>
            </a:r>
          </a:p>
          <a:p>
            <a:r>
              <a:t>CNPJ 62696791000193 · Devedor e consignação · Condição: Documentos atuais selecionados no inventário por categoria/escopo; a data documental isolada não comprova vigência jurídica.</a:t>
            </a:r>
          </a:p>
          <a:p>
            <a:r>
              <a:t>CNPJ 62696791000193 · Devedor e consignação · Versão e prevalência: Documentos atuais selecionados no inventário por categoria/escopo; a data documental isolada não comprova vigência jurídica.</a:t>
            </a:r>
          </a:p>
          <a:p>
            <a:r>
              <a:t>CNPJ 55563624000109 · Devedor e consignação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Devedor e consignação · Resumo do histórico: {"count": 1, "dates": ["2026-04-30"], "document_count": 1, "sources": [{"document_id": "1192614", "title": "Regulamento", "reference_date": "2026-04-30", "version": "1", "page": "11-12", "url": "https://fnet.bmfbovespa.com.br/fnet/publico/visualizarDocumento?id=1192614", "sha256": "f56e63ace0acde41d2f47fb48f1ac7f3f7df5e2d32de092d7c5e075a52516632"}], "reference": {"path": "history/55563624000109.json", "criterion_id": "debtor", "total_count": 1, "preview_count": 1, "full_text_deferred": true, "sha256": "7835d573fb58a3c19adf5b8ecc2aee2bdbb9a88f7a0c0209b5f262b64c7522e3"}}</a:t>
            </a:r>
          </a:p>
          <a:p>
            <a:r>
              <a:t>CNPJ 62552447000120 · Devedor e consignação · Regulamento · ID 1200623 · 2026-05-21 · versão 1 · p. 35 · https://fnet.bmfbovespa.com.br/fnet/publico/visualizarDocumento?id=1200623</a:t>
            </a:r>
          </a:p>
          <a:p>
            <a:r>
              <a:t>CNPJ 62552447000120 · Devedor e consignação · Excerto da fonte:</a:t>
            </a:r>
          </a:p>
          <a:p>
            <a:r>
              <a:t>ativos desses emissores, causando perdas à Classe e ao Cotista. Além disso, a f alta de capacidade ou disposição de pagar por qualquer dos emissores dos Ativos Financeiros de Liquidez ou das contrapartes nas transações que compõem a Carteira causará perdas à Classe, e o que também poderá incorrer em custos para f ins de recuperação de seus recebíveis.</a:t>
            </a:r>
          </a:p>
          <a:p>
            <a:r>
              <a:t>(v) Riscos associados aos Devedores: no caso de Devedores no âmbito das operações de consignado privado, a sua capacidade de pagamento poderá ser af etada se, por exemplo, o Devedor tiver o seu contrato de emprego rescindido ou em virtude de decisão judicial, o Devedor for obrigado a pagar alimentos, que têm prioridade sobre o empréstimo para f ins de desconto na f 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 etar a rentabilidade da Classe. Já no caso de Devedores no âmbito das operações de Saque-aniversário, como os Direitos Creditórios a serem endossados à Classe serão descontados pelo FGTS da remuneração do Devedor, na ocorrência de qualquer evento que, nos termos da legislação aplicável, determine o pagamento antecipado do Saque-aniversário ao Devedor, a exemplo do falecimento do Devedor, dentre outros, as parcelas do Saque- aniversário serão pagas antecipadamente e a Classe deverá utilizar tais montantes no pré-pagamento dos Direitos Creditórios. Nesta hipótese, a Classe poderá não encontrar Direitos Creditórios disponíveis para serem adquiridos pela Classe, o que poderá af etar a rentabilidade da Classe.</a:t>
            </a:r>
          </a:p>
          <a:p>
            <a:r>
              <a:t>Risco de liquidez</a:t>
            </a:r>
          </a:p>
          <a:p>
            <a:r>
              <a:t>(i) Risco de liquidez: consiste no risco de redução ou inexistência de demanda pelos ativos que compõem a Classe nos respectivos mercados em que são negociados, devido às condições específicas desses ativos ou aos mercados em que são negociados. Devido a esses riscos, o Gestor poderá encontrar dificuldades em liquidar posições ou negociar esses ativos pelo preço e prazo desejados, de acordo com a estratégia de gestão adotada pela Classe, que permanecerá exposto, durante o período de baixa liquidez, aos riscos associados a esses ativos e posições assumidas em mercados de derivativos, se houver, que poderão até exigir que o Gestor aceite descontos em seus preços para realizar negociações no mercado. Esses f atores poderão prejudicar o pagamento de Amortizações ao Cotista, nos valores e dentro dos termos aqui estabelecidos.</a:t>
            </a:r>
          </a:p>
          <a:p>
            <a:r>
              <a:t>(ii) Riscos do mercado secundário: A Classe é constituída sob a f orma de condomínio fechado, de modo que as Cotas somente serão resgatadas em virtude da liquidação da Classe. Uma vez que o Prazo de Duração da Classe é indeterminado, o Cotista titular das Cotas não terá liquidez em seu investimento na Classe, exceto</a:t>
            </a:r>
          </a:p>
          <a:p>
            <a:r>
              <a:t>(a) por ocasião das Amortizações e dos resgates, nos termos deste Regulamento; (b) por meio da alienação de suas Cotas no mercado secundário; ou (c) na liquidação antecipada do FUNDO ou da Classe.</a:t>
            </a:r>
          </a:p>
          <a:p>
            <a:r>
              <a:t>Além disso, atualmente, o mercado secundário de cotas de fundos de investimento apresenta baixa liquidez, o que pode dificultar a venda das Cotas ou ocasionar a obtenção de um preço de venda que cause perda de patrimônio ao Cotista. Não há qualquer garantia do Administrador, do Gestor, da consultora ou do Custodiante em relação à possibilidade de venda das Cotas no mercado secundário ou ao preço obtido por elas, ou mesmo garantia de saída ao Cotista.</a:t>
            </a:r>
          </a:p>
          <a:p>
            <a:r>
              <a:t>Riscos específicos</a:t>
            </a:r>
          </a:p>
          <a:p>
            <a:r>
              <a:t>(i)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ficar inadimplente e, consequentemente, não haverá repasse à Classe do respectivo Direito Creditório, o que poderá resultar em perdas f inanceiras à Classe e aos Cotistas. Para os f ins deste Regulamento, “Empregador” signif ica a empresa com qual o Devedor mantém vínculo empregatício registrado junto à CTPS.</a:t>
            </a:r>
          </a:p>
          <a:p>
            <a:r>
              <a:t>(ii) Risco do Empregador não efetuar o desconto em folha: o repasse dos recursos oriundos dos Direitos Creditórios à Classe depende da realização, pelo Empregador, da escrituração da Consignação a ser</a:t>
            </a:r>
          </a:p>
          <a:p>
            <a:r>
              <a:t>CNPJ 62552447000120 · Devedor e consignação · Regulamento · ID 1200623 · 2026-05-21 · versão 1 · p. 36 · https://fnet.bmfbovespa.com.br/fnet/publico/visualizarDocumento?id=1200623</a:t>
            </a:r>
          </a:p>
          <a:p>
            <a:r>
              <a:t>CNPJ 62552447000120 · Devedor e consignação · Excerto da fonte:</a:t>
            </a:r>
          </a:p>
          <a:p>
            <a:r>
              <a:t>realizada pelo empregador, junto ao eSocial, após recebimento de notificação comunicando-o da contratação, pelo Devedor, do empréstimo a ser pago por Consignação (“Escrituração”), e do desconto na respectiva folha de pagamento do Devedor. Na hipótese do Empregador deixar de realizar a Escrituração ou os descontos na f olha de pagamento, não haverá repasse de recursos à Classe, podendo causar prejuízos à Classe e aos Cotistas.</a:t>
            </a:r>
          </a:p>
          <a:p>
            <a:r>
              <a:t>(iii) Risco de perda do vínculo empregatício com o Empregador: caso o Devedor perca o vínculo empregatício com o Empregador, não haverá remuneração e f olha de pagamento para realização dos descontos para pagamento dos Direitos Creditórios. Neste caso, não obstante a possibilidade do Agente de Retenção e Cobrança realizar a cobrança ativa dos Direitos Creditórios diretamente do Devedor, a ausência de remuneração poderá deixar o Devedor inadimplente perante a Classe até que o seu vínculo empregatício seja retomado e seja efetuado o procedimento operacional para que a CCB seja aditada e/ou seja realizado o Processo de Reinicialização. Tais situações poderão resultar em prejuízos à Classe e aos Cotistas.</a:t>
            </a:r>
          </a:p>
          <a:p>
            <a:r>
              <a:t>(iv) Risco relativo ao Agente de Retenção e Cobrança: A solvência do Agente de Retenção e Cobrança quanto às suas obrigações financeiras poderá impactar o cumprimento de suas obrigações perante a Classe e, consequentemente, os rendimentos da Classe poderão ser adversamente af etados.</a:t>
            </a:r>
          </a:p>
          <a:p>
            <a:r>
              <a:t>Riscos operacionais</a:t>
            </a:r>
          </a:p>
          <a:p>
            <a:r>
              <a:t>(i) Risco de irregularidade dos Documentos Comprobatórios e/ou Documentos Suporte: o terceiro contratado pelo Gestor, que atuará sob responsabilidade do Gestor, deverá realizar a verif icação da regularidade dos Documentos Comprobatórios. A Carteira poderá conter Direitos Creditórios com documentação irregular, o que poderá impedir que a Classe exerça plenamente as prerrogativas derivadas da titularidade dos Direitos Creditórios.</a:t>
            </a:r>
          </a:p>
          <a:p>
            <a:r>
              <a:t>(ii) Risco operacional da Dataprev e da CEF: o empréstimo contraído pelos Devedores é pago por meio de desconto na f olha de pagamento f eito pela Dataprev e pela CEF, conf orme aplicável. É possível que os rendimentos dos Devedores sejam atrasados ou não pagos devido a questões operacionais envolvendo a Dataprev e/ou a CEF. Nesse caso, a Carteira poderá sofrer, já que não receberá automaticamente, e também poderá ter dificuldades para receber, a qualquer momento, os recursos decorrentes dos Direitos Creditórios.</a:t>
            </a:r>
          </a:p>
          <a:p>
            <a:r>
              <a:t>(iii) Risco operacional do FGTS: o empréstimo contraído pelos Devedores é pago por meio de desconto dos Saques-aniversário feitos pelo FGTS. É possível que os rendimentos dos Devedores sejam atrasados ou não pagos devido a questões operacionais envolvendo a CEF, incluindo, sem se limitar, a erros e atrasos operacionais envolvendo a CEF. Nesse caso, a Carteira poderá sofrer, já que não receberá automaticamente, e também poderá ter dif iculdades para receber, a qualquer momento, os recursos decorrentes dos Direitos Creditórios.</a:t>
            </a:r>
          </a:p>
          <a:p>
            <a:r>
              <a:t>(iv) Risco de validação das informações para conciliação e reconciliação dos Direitos Creditórios adquiridos pela Classe: as inf ormações para conciliação dos pagamentos, sendo considerado como tal, também, o Arquivo Dataprev e o Arquivo de Liquidação Saque-aniversário, listando todos os empregados cujas f olhas de pagamento ou Saques Aniversário serão sujeitos a desconto no mês, nos valores acordados ao ef etuar a Consignação, e qualquer glosa será enviada pela CEF ao Endossante, que efetuará a conciliação e, posteriormente, enviará as informações ao Custodiante. Caso o Endossante não forneça essas informações em tempo hábil ou for verificada qualquer inconsistência nas informações recebidas pelo Custodiante, poderá isso impedir ou dar origem a falhas no processo de reconciliação dos valores depositados na Conta da Classe e causando perdas à Classe e ao Cotista.</a:t>
            </a:r>
          </a:p>
          <a:p>
            <a:r>
              <a:t>(v) Risco operacional dos sistemas: o desconto na f olha de pagamento e/ou nos Saques Aniversário das parcelas da CCB e a transf erência para o Endossante dos Direitos Creditórios serão processados por meio da Plataforma Dataprev, e o Endossante, o Administrador ou o Gestor não têm controle sobre esse processo.</a:t>
            </a:r>
          </a:p>
          <a:p>
            <a:r>
              <a:t>Assim, qualquer falha ou mudança nesse sistema poderá atrasar ou reduzir o desconto dos rendimentos dos Devedores ou sua transferência para a Classe. Nesse caso, a rentabilidade e a propriedade da Classe poderão ser adversamente af etadas enquanto o problema do sistema persistir, ou até que todos os valores sejam devidamente transf eridos.</a:t>
            </a:r>
          </a:p>
          <a:p>
            <a:r>
              <a:t>(vi) Risco operacional: em linha com as Cláusulas 4.3.1 e 4.3.2 do Anexo I deste Regulamento, o</a:t>
            </a:r>
          </a:p>
          <a:p>
            <a:r>
              <a:t>CNPJ 62552447000120 · Devedor e consignação · Regulamento · ID 1200623 · 2026-05-21 · versão 1 · p. 5 · https://fnet.bmfbovespa.com.br/fnet/publico/visualizarDocumento?id=1200623</a:t>
            </a:r>
          </a:p>
          <a:p>
            <a:r>
              <a:t>CNPJ 62552447000120 · Devedor e consignação · Excerto da fonte:</a:t>
            </a:r>
          </a:p>
          <a:p>
            <a:r>
              <a:t>O objetivo da Classe é proporcionar aos seus Cotistas a valorização de  suas Cotas por meio da aplicação de seu Patrimônio Líquido na aquisição  de:</a:t>
            </a:r>
          </a:p>
          <a:p>
            <a:r>
              <a:t> (i) “Direitos Creditórios”, assim entendidos como, em conjunto:</a:t>
            </a:r>
          </a:p>
          <a:p>
            <a:r>
              <a:t> (a) “Direitos Creditórios Consignado Privado”, na forma de  cédulas de crédito bancário, regidas pela Lei n.º 10.931,  de 2 de agosto de 2004, conforme alterada (“CCBs”),  emitidas eletronicamente por Devedores, em f avor do  Endossante, representando um empréstimo pessoal  consignado, de forma que o pagamento ocorra mediante  desconto de cada prestação vincenda da CCB na f olha  de pagamentos do Devedor (“Consignação”);</a:t>
            </a:r>
          </a:p>
          <a:p>
            <a:r>
              <a:t> (b) “Direitos Creditórios FGTS”, na f orma de CCBs  emitidas eletronicamente por Devedores, em f avor do  Objetivo Endossante, representando um empréstimo pessoal com  garantia de cessão f iduciária dos valores a que f azem jus  os Devedores ref erentes ao saque anual permitido aos  benef iciários do Fundo de Garantia do Tempo de Serviço  (“FGTS”) em seu mês de aniversário (“Saque-  aniversário”), regulado pela Lei n.º 8.036, de 11 de maio  de 1990, conforme alterada (“Lei 8.036”), nos termos dos  arts. 20, inciso XX, 20-A, inciso II, e 20-D, § 3º, da Lei</a:t>
            </a:r>
          </a:p>
          <a:p>
            <a:r>
              <a:t> 8.036, do art. 66-B da Lei n.º 4.728, de 14 de julho de  1965, e da Resolução CC/FGTS n.º 958, de 24 de abril  de 2020, conforme alterada (“Resolução FGTS 958”), de  f orma que parte do Saque-aniversário é utilizada para  liquidar as parcelas devidas da CCB;</a:t>
            </a:r>
          </a:p>
          <a:p>
            <a:r>
              <a:t> (c) “Direitos Creditórios TVM”, na f orma de direitos, títulos  e/ou valores mobiliários representativos de créditos  originados no âmbito de operações de sociedades</a:t>
            </a:r>
          </a:p>
          <a:p>
            <a:r>
              <a:t>CNPJ 62552447000120 · Devedor e consignação · Condição: Documentos atuais selecionados no inventário por categoria/escopo; a data documental isolada não comprova vigência jurídica.</a:t>
            </a:r>
          </a:p>
          <a:p>
            <a:r>
              <a:t>CNPJ 62552447000120 · Devedor e consignação · Versão e prevalência: Documentos atuais selecionados no inventário por categoria/escopo; a data documental isolada não comprova vigência jurídica.</a:t>
            </a:r>
          </a:p>
          <a:p>
            <a:r>
              <a:t>CNPJ 63953620000165 · Devedor e consignação · Anexo ao Regulamento · ID 1222863 · 2026-06-02 · versão 1 · p. 1 · 1.1 · https://fnet.bmfbovespa.com.br/fnet/publico/visualizarDocumento?id=1222863</a:t>
            </a:r>
          </a:p>
          <a:p>
            <a:r>
              <a:t>CNPJ 63953620000165 · Devedor e consignação · Excerto da fonte:</a:t>
            </a:r>
          </a:p>
          <a:p>
            <a:r>
              <a:t>1.1 As principais características da Classe Consignado Privado (para fins deste Anexo, “Classe”) estão descritas  abaixo:</a:t>
            </a:r>
          </a:p>
          <a:p>
            <a:r>
              <a:t> Tipo de Condomínio Fechado.</a:t>
            </a:r>
          </a:p>
          <a:p>
            <a:r>
              <a:t> Indeterminado, exceto se de outra forma vier a ser deliberado pelos Cotistas  Prazo de Duração  reunidos em Assembleia Especial de Cotistas. (“Prazo de Duração”)  Tipo “Financeiro”.</a:t>
            </a:r>
          </a:p>
          <a:p>
            <a:r>
              <a:t> Classificação ANBIMA  Foco de atuação “Créditos Consignados”.</a:t>
            </a:r>
          </a:p>
          <a:p>
            <a:r>
              <a:t> O objetivo da classe é proporcionar aos seus Cotistas a valorização de suas Cotas  por meio da aplicação de seu Patrimônio Líquido (conforme definido abaixo) na  aquisição de: (i) “Direitos Creditórios Crédito Consignado”, representados por  cédula de crédito bancário regida pela Lei nº 10.931, emitida eletronicamente por  um devedor em favor do endossante (“CCB”) e, consequentemente, os recebíveis  decorrente de cada uma das parcelas vincendas, representando um empréstimo  consignado concedido pelo endossante ao devedor, e cujo pagamento ordinário  é feito por desconto de cada prestação vincenda de uma CCB na folha de  pagamentos do devedor (“Consignação”), efetuada pela Caixa Econômica  Federal, de acordo com a legislação aplicável e em conformidade com os  procedimentos estabelecidos no convênio celebrado entre o Endossante e a  Empresa de Tecnologia e Informações da Previdência – DATAPREV e paga na  Conta Vinculada do Endossante (“Convênio Consignado Privado”); e/ou (ii)  “Direitos Creditórios TVM”, representados por direitos, títulos e/ou valores  mobiliários representativos de créditos originados no âmbito de operações de  sociedades integrantes do conglomerado econômico de instituições financeiras  classificadas como S1 pelo BACEN, desde que não representem títulos de  emissão ou coobrigação de instituições financeiras, bem como cotas de fundos  de investimento que invistam preponderantemente nestes direitos, títulos e/ou  Objetivo  valores mobiliários (Direitos Creditórios TVM quando referidos em conjunto  com os Direitos Creditórios Consignado Privado, “Direitos Creditórios”)  observados todos os limites de composição e diversificação da carteira da Classe  (“Carteira”), estabelecidos neste Regulamento e na regulamentação aplicável.</a:t>
            </a:r>
          </a:p>
          <a:p>
            <a:r>
              <a:t> Subsidiariamente, a parcela do Patrimônio Líquido que não esteja alocada em  Direitos Creditórios poderá estar alocado em: (1) certificados de depósito  bancário (CDB) ou recibos de depósito bancário (RDB) com prazo máximo de  vencimento equivalente ao prazo remanescente do Período de Investimento, com  liquidez diária, emitidos por Parati Crédito, Financiamento e Investimento S.A.</a:t>
            </a:r>
          </a:p>
          <a:p>
            <a:r>
              <a:t> e/ou pelo Endossante (“Ativos de Liquidez MT”); e/ou (2) (i) moeda corrente  nacional; (ii) títulos do Tesouro SELIC, anteriormente denominado letra financeira  do Tesouro Nacional (LFT); (iii) certificados de depósito bancário (CDB) ou recibos  de depósito bancário (RDB) com prazo máximo de vencimento equivalente ao  prazo remanescente do Período de Investimento, com liquidez diária, emitidos  por (a) Itaú Unibanco S.A.; (b) Banco Bradesco S.A.; (c) Caixa Econômica Federal;</a:t>
            </a:r>
          </a:p>
          <a:p>
            <a:r>
              <a:t> (d) Banco do Brasil S.A.; (e) Banco Santander (Brasil) S.A.; (f) Banco BTG Pactual  S.A.; (g) Banco Sistema S.A. (“Instituições Autorizadas”); (iv) operações  compromissadas, desde que lastreadas nos títulos mencionados nas alíneas (i) a</a:t>
            </a:r>
          </a:p>
          <a:p>
            <a:r>
              <a:t> (iii) acima, emitidas por Instituições Autorizadas, com liquidez diária e vencimento</a:t>
            </a:r>
          </a:p>
          <a:p>
            <a:r>
              <a:t>CNPJ 63953620000165 · Devedor e consignação · Anexo ao Regulamento · ID 1222863 · 2026-06-02 · versão 1 · p. 19 · 12.6 · https://fnet.bmfbovespa.com.br/fnet/publico/visualizarDocumento?id=1222863</a:t>
            </a:r>
          </a:p>
          <a:p>
            <a:r>
              <a:t>CNPJ 63953620000165 · Devedor e consignação · Excerto da fonte:</a:t>
            </a:r>
          </a:p>
          <a:p>
            <a:r>
              <a:t>12.6 A Classe contratou a Tudo Serviços S.A., sociedade anônima, com sede no município de Fortaleza, Estado do Ceará,  na Avenida Senador Virgulo Távora, nº 303, Lojas 02, 03, 04, 05, 06 e 19, Meireles, CEP 60.170-265, inscrita no CNPJ  sob o nº 27.852.506/0001-85, cujos deveres, sem prejuízo daqueles estabelecidos neste Regulamento, no  “Contrato de Serviços de Retenção e Cobrança e Outras Avenças”, celebrado entre o Agente de  Retenção/Cobrança e a Classe (“Contrato de Serviços MT”) e no Contrato de Endosso, consistirão no  monitoramento e cobrança dos Direitos Creditórios Inadimplidos, observado o disposto neste Anexo I e na  regulamentação aplicável (“Agente de Retenção/Cobrança”):</a:t>
            </a:r>
          </a:p>
          <a:p>
            <a:r>
              <a:t> (i) caso aplicável, atuar na retenção (defesa) de operações de empréstimo consignado cujos Direitos  Creditórios sejam de titularidade da Classe, em caso de tentativa de transferência de tais operações de  empréstimo consignado por instituições proponentes, nos termos da Resolução CMN nº 5.057, em razão de  ofertas de portabilidade feitas por tais instituições proponentes, conforme informado pelo Endossante ou pelo  Custodiante ao Agente de Retenção/Cobrança, diariamente, de acordo com o Contrato de Endosso; sendo  que tal serviço deverá incluir, entre outras atividades auxiliares a ele relacionadas, a avaliação das ofertas de  portabilidade feitas pelas instituições proponentes, buscando, se for o caso, esclarecer as vantagens de não  recorrer à portabilidade, retendo a respectiva operação de empréstimo consignado em seus termos atuais;</a:t>
            </a:r>
          </a:p>
          <a:p>
            <a:r>
              <a:t> (ii) mediante inadimplemento de um Direito Creditório devido à indisponibilidade da margem de crédito do  Devedor, auxiliar o Endossante com o Processo de Reinicialização (conforme detalhado no Contrato de  Endosso) em relação ao respectivo Direito Creditório;</a:t>
            </a:r>
          </a:p>
          <a:p>
            <a:r>
              <a:t> (iii) manter e operar um serviço de atendimento ao consumidor - SAC e uma ouvidoria em conformidade  com os regulamentos aplicáveis, monitorar e resolver reclamações e solicitações de Devedores com  relação às operações de empréstimo consignado que dão origem aos Direitos Creditórios, em  conformidade com o Acordo de Parceria;</a:t>
            </a:r>
          </a:p>
          <a:p>
            <a:r>
              <a:t> (iv) realizar a cobrança dos Direitos Creditórios Inadimplidos;</a:t>
            </a:r>
          </a:p>
          <a:p>
            <a:r>
              <a:t> (v) auxiliar o Endossante na correção de qualquer irregularidade relevante identificada com relação à  originação dos Direitos Creditórios;</a:t>
            </a:r>
          </a:p>
          <a:p>
            <a:r>
              <a:t> (vi) realizar a renegociação junto aos Devedores de Direitos Creditórios Inadimplidos e, caso aplicável, celebrar  aditamento à CCB para refletir os novos termos, decorrentes da renegociação  CAPÍTULO 13 – REMUNERAÇÃO DOS PRESTADORES DE SERVIÇOS  0,05% (cinco centésimos por cento) ao ano, apropriada diariamente na base de 252  (duzentos e cinquenta e dois) Dias Úteis, e paga mensalmente até o 5º (quinto) Dia  Útil do mês subsequente ao mês que se refere, incidente sobre o Patrimônio Líquido  da Classe alocado em Direitos Creditórios Consignado Privado e/ou Ativos de  Liquidez MT, observada remuneração mínima mensal de R$ 2.500,00 (dois mil e  quinhentos reais), a ser corrigida anualmente, em janeiro de cada ano, pela variação  Taxa de Administração  positiva do Índice Geral de Preços – Mercado, divulgado pela Fundação Getúlio  Vargas (“Taxa de Administração” e “IGP-M”, respectivamente).</a:t>
            </a:r>
          </a:p>
          <a:p>
            <a:r>
              <a:t> Na hipótese de extinção do IGP-M, não divulgação ou impossibilidade de sua  utilização, será utilizado o Índice Geral de Preços – Disponibilidade Interna,  divulgado pela Fundação Getúlio Vargas, ou, na falta de ambos, pela variação do IPC  – Índice de Preços ao Consumidor, divulgado pela Fundação Instituto de Pesquisas</a:t>
            </a:r>
          </a:p>
          <a:p>
            <a:r>
              <a:t>CNPJ 63953620000165 · Devedor e consignação · Anexo ao Regulamento · ID 1222863 · 2026-06-02 · versão 1 · p. 2 · https://fnet.bmfbovespa.com.br/fnet/publico/visualizarDocumento?id=1222863</a:t>
            </a:r>
          </a:p>
          <a:p>
            <a:r>
              <a:t>CNPJ 63953620000165 · Devedor e consignação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Devedor e consignação · Condição: Documentos atuais selecionados no inventário por categoria/escopo; a data documental isolada não comprova vigência jurídica.</a:t>
            </a:r>
          </a:p>
          <a:p>
            <a:r>
              <a:t>CNPJ 63953620000165 · Devedor e consignação · Versão e prevalência: Documentos atuais selecionados no inventário por categoria/escopo; a data documental isolada não comprova vigência jurídica.</a:t>
            </a:r>
          </a:p>
          <a:p>
            <a:r>
              <a:t>CNPJ 63953620000165 · Devedor e consignação · Resumo do histórico: {"count": 8, "dates": ["2026-04-28", "2026-05-08", "2026-05-15"], "document_count": 3, "sources": [{"document_id": "1327859", "title": "Demonstrações Financeiras - Fusão, cisão e incorporação", "reference_date": "2026-05-15", "version": "1", "page": 22, "url": "https://fnet.bmfbovespa.com.br/fnet/publico/visualizarDocumento?id=1327859", "sha256": "dca1c68babb97f887528c3e2e47596a9c30f507b067981a35655b2f2da9c8054"}, {"document_id": "1298691", "title": "Demonstrações Financeiras - Fusão, cisão e incorporação", "reference_date": "2026-05-08", "version": "1", "page": 22, "url": "https://fnet.bmfbovespa.com.br/fnet/publico/visualizarDocumento?id=1298691", "sha256": "58c570d9b8d4d265330d3db3ea81c435b8e44a6dab4002aa37790652a1ee9819"}, {"document_id": "1282180", "title": "Demonstrações Financeiras - Fusão, cisão e incorporação", "reference_date": "2026-04-28", "version": "1", "page": 22, "url": "https://fnet.bmfbovespa.com.br/fnet/publico/visualizarDocumento?id=1282180", "sha256": "afaaa0e6809be4385e5bdb6c911aac582032c5bdbac3d7750234bf9eaf00438a"}], "reference": {"path": "history/63953620000165.json", "criterion_id": "debtor", "total_count": 8, "preview_count": 3, "full_text_deferred": true, "sha256": "a7b89077f5e21098c2d601c303faabc3ff6b9729f89d8afecdc60fe1404720c1"}}</a:t>
            </a:r>
          </a:p>
          <a:p>
            <a:r>
              <a:t>CNPJ 54871427000194 · Elegibilidade · Regulamento · ID 670691 · 28/04/2024 · versão Regulamento — referência 28/04/2024 · p. 9 · Anexo I, 4.7(i)–(iv) · https://fnet.bmfbovespa.com.br/fnet/publico/visualizarDocumento?id=670691</a:t>
            </a:r>
          </a:p>
          <a:p>
            <a:r>
              <a:t>CNPJ 54871427000194 · Elegibilidade · Excerto da fonte:</a:t>
            </a:r>
          </a:p>
          <a:p>
            <a:r>
              <a:t>4.7 A Classe somente poderá adquirir os Direitos Creditórios que atendam cumulativamente aos seguintes Critérios de Elegibilidade, a serem verif icados e validados pelo GESTOR, de f orma individualizada e integral, previamente à cessão e na respectiva Data de Aquisição, de modo que apenas são passíveis de aquisição pela Classe os Direitos Creditórios que, na Data de Aquisição: (i) CCBs sem qualquer parcela cedida; (ii) CCBs com diferença menor que 60 (sessenta) dias entre a data provável do endosso e a próxima parcela a vencer; (iii) CCBs cujo valor da prestação seja superior a R$ 30,00 (trinta reais); (iv) Idade do Devedor somada ao prazo remanescente da CCB deve ser igual ou inferior a 80 (oitenta) anos; BTG Pactual SAC: 0800 772 28 27 - Ouvidoria: 0800 722 00 48 - btgpactual.com 3</a:t>
            </a:r>
          </a:p>
          <a:p>
            <a:r>
              <a:t>CNPJ 54871427000194 · Elegibilidade · Regulamento · ID 670691 · 28/04/2024 · versão Regulamento — referência 28/04/2024 · p. 10 · Anexo I, 4.7(v)–(xi) · https://fnet.bmfbovespa.com.br/fnet/publico/visualizarDocumento?id=670691</a:t>
            </a:r>
          </a:p>
          <a:p>
            <a:r>
              <a:t>CNPJ 54871427000194 · Elegibilidade · Excerto da fonte:</a:t>
            </a:r>
          </a:p>
          <a:p>
            <a:r>
              <a:t>(v) CCBs que até a Data do Endosso não estejam pendentes de res olução em relação a uma comprovada reclamação do devedor junto ao Banco Central do Brasil ou ao Procon; (vi) CCBs que não sejam originadas por pessoa física condenada por terem submetido trabalhadores a condições análogas à de escravo – denominada “Lista Suja”; (vii) CCBs sem parcela em atraso; (viii) Aquisição de todas as parcelas vincendas das CCBs, não sendo possível a aquisição de fluxo parcial; (ix) CCBs vinculadas ao órgão convenente, desde que o convênio não se encontre na Data de Aquisição em situação de suspensão; (x) Devedores adimplentes junto ao Endossante com relação aos Direitos Creditórios endossados à Classe; CCB cuja amortização ordinária dos valores devidos, nos últimos 60 (sessenta) dias, tenha ocorrido de f orma integral e ordinária. Na primeira tranche de aquisição de Direitos Creditórios pelo Endossatário tal prazo poderá ser reduzido para 30 (trinta) dias nos casos de amortização extraordinária (via boleto) desde que o valor de aquisição dos ref eridos Direitos Creditórios não ultrapasse R$ 30.000,00 (trinta mil reais), exc</a:t>
            </a:r>
          </a:p>
          <a:p>
            <a:r>
              <a:t>CNPJ 54871427000194 · Elegibilidade · Versão e prevalência: Leitura específica das cláusulas indicadas; condições e conflitos preservados. Seleção documental atual não comprova vigência jurídica por data isolada.</a:t>
            </a:r>
          </a:p>
          <a:p>
            <a:r>
              <a:t>CNPJ 54871427000194 · Elegibilidade · Resumo do histórico: {"count": 2, "dates": ["2024-04-19", "2024-04-28"], "document_count": 2, "sources": [{"document_id": "670691", "title": "Regulamento", "reference_date": "2024-04-28", "version": "1", "page": "9-10", "clause": "4.7", "url": "https://fnet.bmfbovespa.com.br/fnet/publico/visualizarDocumento?id=670691", "sha256": "bf16dd7f1a62d5cdbf2e2d54fef81783783f7310fbc99c3a8f00459bdf9d037b"}, {"document_id": "670689", "title": "Regulamento", "reference_date": "2024-04-19", "version": "1", "page": 10, "clause": "4.7.3", "url": "https://fnet.bmfbovespa.com.br/fnet/publico/visualizarDocumento?id=670689", "sha256": "891bc9bc5d87bbc02ec139077a84d2702eb81ea02035fb71d24f5b8366b94a0b"}], "reference": {"path": "history/54871427000194.json", "criterion_id": "eligibility", "total_count": 2, "preview_count": 2, "full_text_deferred": true, "sha256": "35d7cd99be50c7287c9fb675cf4f2e736002315295a225a9efa79c8d9186d874"}}</a:t>
            </a:r>
          </a:p>
          <a:p>
            <a:r>
              <a:t>CNPJ 60010416000112 · Elegibilidade · Regulamento · ID 1051393 · 2025-10-09 · versão 1 · p. 10 · 4.4.5 · https://fnet.bmfbovespa.com.br/fnet/publico/visualizarDocumento?id=1051393</a:t>
            </a:r>
          </a:p>
          <a:p>
            <a:r>
              <a:t>CNPJ 60010416000112 · Elegibilidade · Excerto da fonte:</a:t>
            </a:r>
          </a:p>
          <a:p>
            <a:r>
              <a:t>4.4.5. Caso um Direito Creditório endossado à Classe deixe de atender quaisquer Critérios de  Elegibilidade, quaisquer condições de endosso e/ou quaisquer declarações e garantias referentes  a esse Direito Creditório, conforme previsto no Contrato de Endosso, após seu endosso à Classe,  não haverá coobrigação nem direito de regresso da Classe contra o Endossante, o Administrador,  o Custodiante, o Gestor e/ou o Agente de Retenção/Cobrança, exceto em caso de má-fé, culpa  ou dolo comprovado, hipótese em que a parte que agiu com má-f é, culpa ou dolo comprovado  poderá ser responsabilizada pelas perdas incorridas pela Classe em relação aos respectivos  Direitos Creditórios. Se, entretanto, for constatado que um Direito Creditório endossado à Classe  não estava em conformidade com os Critérios de Elegibilidade, condições de endosso ou com as  declarações e garantias prestadas pelo Endossante no Contrato de Endosso, na respectiva data  de endosso, então o endosso desse Direito Creditório poderá ser objeto de resolução pela Classe.</a:t>
            </a:r>
          </a:p>
          <a:p>
            <a:r>
              <a:t> Nessa hipótese, a Classe terá o direito de resolver o endosso desse Direito Creditório, devolvendo-  o ao Endossante por valor a ser restituído à Classe. Adicionalmente, se f or constatado que um  Direito Creditório endossado à Classe não estava em conf ormidade com as declarações e  garantias prestadas pelo Agente de Retenção/Cobrança no Contrato de Endosso, na respectiva  data de endosso, então a Classe terá o direito de vender esse Direito Creditório ao Agente de  Retenção/Cobrança (opção de venda). A retrovenda ou a venda, conforme o caso, será realizada  de acordo com os termos, condições, formalidades e preços de recompra compulsória e opção de  venda detalhados no Contrato de Endosso.</a:t>
            </a:r>
          </a:p>
          <a:p>
            <a:r>
              <a:t>CNPJ 60010416000112 · Elegibilidade · Regulamento · ID 1051393 · 2025-10-09 · versão 1 · p. 9 · 4.3 · https://fnet.bmfbovespa.com.br/fnet/publico/visualizarDocumento?id=1051393</a:t>
            </a:r>
          </a:p>
          <a:p>
            <a:r>
              <a:t>CNPJ 60010416000112 · Elegibilidade · Excerto da fonte:</a:t>
            </a:r>
          </a:p>
          <a:p>
            <a:r>
              <a:t>4.3 Os Direitos Creditórios deverão contar com Documentos Comprobatórios que evidenciem sua existência,  validade e exequibilidade perante os respectivos Devedores.</a:t>
            </a:r>
          </a:p>
          <a:p>
            <a:r>
              <a:t> Critérios de Elegibilidade</a:t>
            </a:r>
          </a:p>
          <a:p>
            <a:r>
              <a:t>CNPJ 60010416000112 · Elegibilidade · Regulamento · ID 1051393 · 2025-10-09 · versão 1 · p. 9 · 4.4 · https://fnet.bmfbovespa.com.br/fnet/publico/visualizarDocumento?id=1051393</a:t>
            </a:r>
          </a:p>
          <a:p>
            <a:r>
              <a:t>CNPJ 60010416000112 · Elegibilidade · Excerto da fonte:</a:t>
            </a:r>
          </a:p>
          <a:p>
            <a:r>
              <a:t>4.4 A Classe somente poderá adquirir os Direitos Creditórios que atendam, cumulativamente, aos seguintes  Critérios de Elegibilidade, a serem verificados e validados pelo Gestor, de forma individualizada e integral,  previamente ao endosso do Direito Creditório, na respectiva Data de Aquisição:</a:t>
            </a:r>
          </a:p>
          <a:p>
            <a:r>
              <a:t> (i) os Direitos Creditórios deverão decorrer de empréstimo concedido pelo Endossante a um  Devedor, representado por uma CCB, com taxa de juros prefixada e vencimento final anterior  ao vencimento f inal da Classe;</a:t>
            </a:r>
          </a:p>
          <a:p>
            <a:r>
              <a:t>BTG Pactual SAC: 0800 772 28 27 - Ouvidoria: 0800 722 00 48 - btgpactual.com 9</a:t>
            </a:r>
          </a:p>
          <a:p>
            <a:r>
              <a:t>CNPJ 60010416000112 · Elegibilidade · Condição: Documentos atuais selecionados no inventário por categoria/escopo; a data documental isolada não comprova vigência jurídica.</a:t>
            </a:r>
          </a:p>
          <a:p>
            <a:r>
              <a:t>CNPJ 60010416000112 · Elegibilidade · Versão e prevalência: Documentos atuais selecionados no inventário por categoria/escopo; a data documental isolada não comprova vigência jurídica.</a:t>
            </a:r>
          </a:p>
          <a:p>
            <a:r>
              <a:t>CNPJ 60010416000112 · Elegibilidade · Resumo do histórico: {"count": 2, "dates": ["2025-03-20", "2025-10-09"], "document_count": 2, "sources": [{"document_id": "1051393", "title": "Regulamento", "reference_date": "2025-10-09", "version": "1", "page": "9-10", "clause": "4.4(ii)", "url": "https://fnet.bmfbovespa.com.br/fnet/publico/visualizarDocumento?id=1051393", "sha256": "8469d613078ffd5a6c1d217885d8a397a16342c0b937ae4aa24b106505f233ae"}, {"document_id": "993786", "title": "Regulamento", "reference_date": "2025-03-20", "version": "1", "page": 10, "clause": "4.4.5", "url": "https://fnet.bmfbovespa.com.br/fnet/publico/visualizarDocumento?id=993786", "sha256": "fd0fdd369a195510d81f81f505195a0b09e5f43522a990afa7d58c4f872921c8"}], "reference": {"path": "history/60010416000112.json", "criterion_id": "eligibility", "total_count": 2, "preview_count": 2, "full_text_deferred": true, "sha256": "8e2bd813f4c51cf01f6bfaad164bafe69d2bbb192f753eac92da3a01c2e63046"}}</a:t>
            </a:r>
          </a:p>
          <a:p>
            <a:r>
              <a:t>CNPJ 62696791000193 · Elegibilidade · Regulamento · ID 1143317 · 20/03/2026 · versão Regulamento — referência 20/03/2026 · p. 11 · Anexo I, 4.7–4.7.3 · https://fnet.bmfbovespa.com.br/fnet/publico/visualizarDocumento?id=1143317</a:t>
            </a:r>
          </a:p>
          <a:p>
            <a:r>
              <a:t>CNPJ 62696791000193 · Elegibilidade · Excerto da fonte:</a:t>
            </a:r>
          </a:p>
          <a:p>
            <a:r>
              <a:t>4.7 A Classe somente poderá adquirir os Direitos Creditórios do Agronegócio que atendam cumulativamente aos seguintes critérios de elegibilidade, a serem verificados e validados pelo Gestor, por amostragem, previamente à cessão e na respectiva data de aquisição dos Direitos Creditórios do Agronegócio (“Data de Aquisição”), de modo que apenas são passíveis de aquisição pela Classe os Direitos Creditórios do Agronegócio que, na Data de Aquisição (“Critérios de Elegibilidade”): (i) sejam representados em moeda corrente nacional; (ii) a natureza ou característica essencial dos Direitos Creditórios do Agronegócio deverá permitir o seu registro contábil e a sua custódia pelo Custodiante, de acordo com os procedimentos operacionais e contábeis praticados pelo Custodiante, ou seu registro em entidade registradora; (iii) sejam ativos de origem vinculada às cadeias produtivas do agronegócio ; e (iv) sejam representados por direitos e/ou títulos representativos de crédito, com ou sem garantias reais ou pessoais a eles atreladas, incluindo, sem limitação, duplicatas, debêntures, contratos de locação e contratos mercantis de compra e venda de produtos</a:t>
            </a:r>
          </a:p>
          <a:p>
            <a:r>
              <a:t>CNPJ 62696791000193 · Elegibilidade · Versão e prevalência: Leitura específica das cláusulas indicadas; condições e conflitos preservados. Seleção documental atual não comprova vigência jurídica por data isolada.</a:t>
            </a:r>
          </a:p>
          <a:p>
            <a:r>
              <a:t>CNPJ 55563624000109 · Elegibilidade · Regulamento · ID 1192614 · 30/04/2026 · versão Regulamento30/04/2026 · p. 12 · AnexoI4.6–4.8.2 · https://fnet.bmfbovespa.com.br/fnet/publico/visualizarDocumento?id=1192614</a:t>
            </a:r>
          </a:p>
          <a:p>
            <a:r>
              <a:t>CNPJ 55563624000109 · Elegibilidade · Excerto da fonte:</a:t>
            </a:r>
          </a:p>
          <a:p>
            <a:r>
              <a:t>4.6 As Cotas da Classe Investida deverão contar com Documentos Comprobatórios que evidenciem sua existência, validade e exequibilidade. 4.7 As Cotas da Classe Investida serão adquiridas pela Classe por meio: (i) de contratos de aquisição de Cotas da Classe Investida firmados entre a Classe e os respectivos vendedores das Cotas da Classe Investida; (ii) negociação em mercado organizado; e/ou (iii) da subscrição de Cotas da Classe Investida, colocadas de forma privada ou ofertadas publicamente, independentemente do regime de distribuição, observada a Política</a:t>
            </a:r>
          </a:p>
          <a:p>
            <a:r>
              <a:t>CNPJ 55563624000109 · Elegibilidade · Versão e prevalência: Leitura específica das cláusulas indicadas; condições e conflitos preservados. Seleção documental atual não comprova vigência jurídica por data isolada.</a:t>
            </a:r>
          </a:p>
          <a:p>
            <a:r>
              <a:t>CNPJ 55563624000109 · Elegibilidade · Resumo do histórico: {"count": 3, "dates": ["2025-01-31", "2026-01-31", "2026-04-30"], "document_count": 3, "sources": [{"document_id": "1192614", "title": "Regulamento", "reference_date": "2026-04-30", "version": "1", "page": "12", "url": "https://fnet.bmfbovespa.com.br/fnet/publico/visualizarDocumento?id=1192614", "sha256": "f56e63ace0acde41d2f47fb48f1ac7f3f7df5e2d32de092d7c5e075a52516632"}, {"document_id": "1178840", "title": "Demonstrações Financeiras", "reference_date": "2026-01-31", "version": "1", "page": 16, "url": "https://fnet.bmfbovespa.com.br/fnet/publico/visualizarDocumento?id=1178840", "sha256": "c458e98664c5c907ddb5a05a94b120bed4e05295b2bfc420f5ba69af0a229abe"}, {"document_id": "891861", "title": "Demonstrações Financeiras", "reference_date": "2025-01-31", "version": "1", "page": 16, "url": "https://fnet.bmfbovespa.com.br/fnet/publico/visualizarDocumento?id=891861", "sha256": "e9cb9e6ddbe505fe068cfcac33605165a98313489de0d3ce6d4d238263c3f3e7"}], "reference": {"path": "history/55563624000109.json", "criterion_id": "eligibility", "total_count": 3, "preview_count": 3, "full_text_deferred": true, "sha256": "7835d573fb58a3c19adf5b8ecc2aee2bdbb9a88f7a0c0209b5f262b64c7522e3"}}</a:t>
            </a:r>
          </a:p>
          <a:p>
            <a:r>
              <a:t>CNPJ 62552447000120 · Elegibilidade · Regulamento · ID 1200623 · 21/05/2026 · versão Consolidado21/05/2026 aprovado pelo ato1200625 · p. 6 · AnexoI1.2 Critérios(i)(a)–(b) · https://fnet.bmfbovespa.com.br/fnet/publico/visualizarDocumento?id=1200623</a:t>
            </a:r>
          </a:p>
          <a:p>
            <a:r>
              <a:t>CNPJ 62552447000120 · Elegibilidade · Excerto da fonte:</a:t>
            </a:r>
          </a:p>
          <a:p>
            <a:r>
              <a:t>Critérios de Elegibilidade”): (i) com relação a todos os Direitos Creditórios : (a) sejam representados em moeda corrente nacional; Critérios de Elegibilidade (b) a natureza ou característica essencial dos Direitos Creditórios deverá permitir o seu registro contábil e a sua custódia pelo Custodiante, de acordo com os procedimentos operacionais e contábeis praticados</a:t>
            </a:r>
          </a:p>
          <a:p>
            <a:r>
              <a:t>CNPJ 62552447000120 · Elegibilidade · Regulamento · ID 1200623 · 21/05/2026 · versão Consolidado21/05/2026 aprovado pelo ato1200625 · p. 7 · AnexoI1.2 Critérios(i)(c)–(v) · https://fnet.bmfbovespa.com.br/fnet/publico/visualizarDocumento?id=1200623</a:t>
            </a:r>
          </a:p>
          <a:p>
            <a:r>
              <a:t>CNPJ 62552447000120 · Elegibilidade · Excerto da fonte:</a:t>
            </a:r>
          </a:p>
          <a:p>
            <a:r>
              <a:t>(v) com relação aos Direitos Creditórios TVM: (a) representem, a qualquer momento, no máximo 10% (dez por cento) do Patrimônio Líquido. Sem prejuízo dos Critérios de Elegibilidade, a Classe somente poderá adquirir os Direitos Creditórios Ref inanciamento Livre, os Direitos Creditórios Consignado Privado e os Direitos Creditórios FGTS com relação aos quais tenha se verif icado as seguintes Condições de Endosso, na forma prevista na Cláusula 4.7 (“Co</a:t>
            </a:r>
          </a:p>
          <a:p>
            <a:r>
              <a:t>CNPJ 62552447000120 · Elegibilidade · Regulamento · ID 1200623 · 21/05/2026 · versão Consolidado21/05/2026 aprovado pelo ato1200625 · p. 12 · AnexoI4.6 · https://fnet.bmfbovespa.com.br/fnet/publico/visualizarDocumento?id=1200623</a:t>
            </a:r>
          </a:p>
          <a:p>
            <a:r>
              <a:t>CNPJ 62552447000120 · Elegibilidade · Excerto da fonte:</a:t>
            </a:r>
          </a:p>
          <a:p>
            <a:r>
              <a:t>4.6 A Classe somente poderá adquirir os Direitos Creditórios que, na data da sua aquisição (“Data de Aquisição”), atendam a todos os Critérios de Elegibilidade, a serem verif icados e validados pelo Gestor, de f orma individualizada e integral, e não por amostragem. 4.6.1 Para f ins da verificação dos Critérios de Elegibilidade, será considerado o Patrimônio Líquido e o valor dos Direitos Creditórios integrantes da Carteira no Dia Útil imediatamente anterior à Data de Aquisição. 4.6.2 Todos os Documentos Comprobatórios e, com relação a cada Direito Creditório, conforme apli</a:t>
            </a:r>
          </a:p>
          <a:p>
            <a:r>
              <a:t>CNPJ 62552447000120 · Elegibilidade · Versão e prevalência: Leitura específica das cláusulas indicadas; condições e conflitos preservados. Seleção documental atual não comprova vigência jurídica por data isolada.</a:t>
            </a:r>
          </a:p>
          <a:p>
            <a:r>
              <a:t>CNPJ 63953620000165 · Elegibilidade · Anexo ao Regulamento · ID 1222863 · 02/06/2026 · versão AnexoConsignadoPrivado02/06/2026 · p. 6 · 4.10–4.10.3 · https://fnet.bmfbovespa.com.br/fnet/publico/visualizarDocumento?id=1222863</a:t>
            </a:r>
          </a:p>
          <a:p>
            <a:r>
              <a:t>CNPJ 63953620000165 · Elegibilidade · Excerto da fonte:</a:t>
            </a:r>
          </a:p>
          <a:p>
            <a:r>
              <a:t>4.10 A Classe somente poderá adquirir os Direitos Creditórios que atendam cumulativamente aos Critérios de Elegibilidade, a serem verificados e validados pelo Gestor, de forma individualizada e integral, previamente à cessão e na respectiva data de aquisição dos Direitos Creditórios (“Data de Aquisição”), de modo que apenas são passíveis de aquisição pela Classe os Direitos Creditórios que, na Data de Aquisição, atendam a todos os Critérios de Elegibilidade. 4.10.1 Para fins da verificação dos Critérios de Elegibilidade, será considerado o Patrimônio Líquido e o valor dos Direitos Creditórios integrantes</a:t>
            </a:r>
          </a:p>
          <a:p>
            <a:r>
              <a:t>CNPJ 63953620000165 · Elegibilidade · Versão e prevalência: Leitura específica das cláusulas indicadas; condições e conflitos preservados. Seleção documental atual não comprova vigência jurídica por data isolada.</a:t>
            </a:r>
          </a:p>
          <a:p>
            <a:r>
              <a:t>CNPJ 63953620000165 · Elegibilidade · Resumo do histórico: {"count": 8, "dates": ["2026-04-28", "2026-05-08", "2026-05-15"], "document_count": 3, "sources": [{"document_id": "1327859", "title": "Demonstrações Financeiras - Fusão, cisão e incorporação", "reference_date": "2026-05-15", "version": "1", "page": 24, "url": "https://fnet.bmfbovespa.com.br/fnet/publico/visualizarDocumento?id=1327859", "sha256": "dca1c68babb97f887528c3e2e47596a9c30f507b067981a35655b2f2da9c8054"}, {"document_id": "1298691", "title": "Demonstrações Financeiras - Fusão, cisão e incorporação", "reference_date": "2026-05-08", "version": "1", "page": 24, "url": "https://fnet.bmfbovespa.com.br/fnet/publico/visualizarDocumento?id=1298691", "sha256": "58c570d9b8d4d265330d3db3ea81c435b8e44a6dab4002aa37790652a1ee9819"}, {"document_id": "1282180", "title": "Demonstrações Financeiras - Fusão, cisão e incorporação", "reference_date": "2026-04-28", "version": "1", "page": 25, "url": "https://fnet.bmfbovespa.com.br/fnet/publico/visualizarDocumento?id=1282180", "sha256": "afaaa0e6809be4385e5bdb6c911aac582032c5bdbac3d7750234bf9eaf00438a"}], "reference": {"path": "history/63953620000165.json", "criterion_id": "eligibility", "total_count": 8, "preview_count": 3, "full_text_deferred": true, "sha256": "a7b89077f5e21098c2d601c303faabc3ff6b9729f89d8afecdc60fe1404720c1"}}</a:t>
            </a:r>
          </a:p>
          <a:p>
            <a:r>
              <a:t>CNPJ 54871427000194 · Limites por contrato e devedor · Regulamento · ID 670691 · 28/04/2024 · versão Regulamento — referência 28/04/2024 · p. 10 · Anexo I, 4.7, parágrafo anterior ao inciso (xi) e inciso (xi) · https://fnet.bmfbovespa.com.br/fnet/publico/visualizarDocumento?id=670691</a:t>
            </a:r>
          </a:p>
          <a:p>
            <a:r>
              <a:t>CNPJ 54871427000194 · Limites por contrato e devedor · Excerto da fonte:</a:t>
            </a:r>
          </a:p>
          <a:p>
            <a:r>
              <a:t>CCB cuja amortização ordinária dos valores devidos, nos últimos 60 (sessenta) dias, tenha ocorrido de f orma integral e ordinária. Na primeira tranche de aquisição de Direitos Creditórios pelo Endossatário tal prazo poderá ser reduzido para 30 (trinta) dias nos casos de amortização extraordinária (via boleto) desde que o valor de aquisição dos ref eridos Direitos Creditórios não ultrapasse R$ 30.000,00 (trinta mil reais), exclusivamente via consignação em f olha de pagamento ou de benef ício; e (xi) Endosso de todas as CCBs de um mesmo Devedor que não ultrapasse 20% (vinte por cento) do patrimônio líquido da Classe. 4.7.1 Os Documentos Comprobatórios deverão ser disponibilizados pelo respectivo Endossante (a) no prazo de 10 (dez) dias contados da Data de Aquisição dos 50 (cinquenta) casos que sejam solicitados pelo GESTOR, a seu exclusivo critério, (b) a totalidade dos demais Documentos Comprobatórios em f ormato digital em até 90 (noventa) dias a contar da Data de Aquisição, bem como dos Documentos Comprobatórios em formato físico relativos aos Direitos Creditórios que eventualmente estejam inadimplidos em ref erida da</a:t>
            </a:r>
          </a:p>
          <a:p>
            <a:r>
              <a:t>CNPJ 54871427000194 · Limites por contrato e devedor · Condição: R$ 30 mil é teto da exceção de aquisição da primeira tranche; não é teto geral de cada CCB.</a:t>
            </a:r>
          </a:p>
          <a:p>
            <a:r>
              <a:t>CNPJ 54871427000194 · Limites por contrato e devedor · Motivo: Não localizada uma cláusula material para este critério nos textos identificados e processados. A ausência de resultado não comprova inexistência da regra.</a:t>
            </a:r>
          </a:p>
          <a:p>
            <a:r>
              <a:t>CNPJ 54871427000194 · Limites por contrato e devedor · Versão e prevalência: Leitura específica das cláusulas indicadas; condições e conflitos preservados. Seleção documental atual não comprova vigência jurídica por data isolada.</a:t>
            </a:r>
          </a:p>
          <a:p>
            <a:r>
              <a:t>CNPJ 60010416000112 · Limites por contrato e devedor · Regulamento · ID 1051393 · 09/10/2025 · versão Regulamento09/10/2025 · p. 10 · AnexoI4.4(ii), (iv),4.4.1 · https://fnet.bmfbovespa.com.br/fnet/publico/visualizarDocumento?id=1051393</a:t>
            </a:r>
          </a:p>
          <a:p>
            <a:r>
              <a:t>CNPJ 60010416000112 · Limites por contrato e devedor · Excerto da fonte:</a:t>
            </a:r>
          </a:p>
          <a:p>
            <a:r>
              <a:t>R$ 100.000,00 (cem mil reais), observado o disposto no item 4.4.1 abaixo; (iii) o prazo de vencimento das CCB representativas dos Direitos Creditórios deverá ser, no máximo, equivalente ao prazo máximo permitido pelas leis e regulamentações aplicáveis; e (iv) os Direitos Creditórios não poderão ser devidos por Devedores que tenham acima de 64 (sessenta e quatro) anos 11 (onze) meses e 29 (vinte e nove) dias na data de emissão da respectiva CCB. 4.4.1. O limite máximo de exposição da Classe por Devedor estabeleci</a:t>
            </a:r>
          </a:p>
          <a:p>
            <a:r>
              <a:t>CNPJ 60010416000112 · Limites por contrato e devedor · Condição: Prevalência da cláusula específica 4.4.1; limite privado do Contrato não foi presumido.</a:t>
            </a:r>
          </a:p>
          <a:p>
            <a:r>
              <a:t>CNPJ 60010416000112 · Limites por contrato e devedor · Motivo: Não localizada uma cláusula material para este critério nos textos identificados e processados. A ausência de resultado não comprova inexistência da regra.</a:t>
            </a:r>
          </a:p>
          <a:p>
            <a:r>
              <a:t>CNPJ 60010416000112 · Limites por contrato e devedor · Versão e prevalência: Leitura específica das cláusulas indicadas; condições e conflitos preservados. Seleção documental atual não comprova vigência jurídica por data isolada.</a:t>
            </a:r>
          </a:p>
          <a:p>
            <a:r>
              <a:t>CNPJ 62696791000193 · Limites por contrato e devedor · Motivo: Não localizada uma cláusula material para este critério nos textos identificados e processados. A ausência de resultado não comprova inexistência da regra.</a:t>
            </a:r>
          </a:p>
          <a:p>
            <a:r>
              <a:t>CNPJ 55563624000109 · Limites por contrato e devedor · Motivo: Não localizada uma cláusula material para este critério nos textos identificados e processados. A ausência de resultado não comprova inexistência da regra.</a:t>
            </a:r>
          </a:p>
          <a:p>
            <a:r>
              <a:t>CNPJ 62552447000120 · Limites por contrato e devedor · Motivo: Não localizada uma cláusula material para este critério nos textos identificados e processados. A ausência de resultado não comprova inexistência da regra.</a:t>
            </a:r>
          </a:p>
          <a:p>
            <a:r>
              <a:t>CNPJ 63953620000165 · Limites por contrato e devedor · Motivo: Não localizada uma cláusula material para este critério nos textos identificados e processados. A ausência de resultado não comprova inexistência da regra.</a:t>
            </a:r>
          </a:p>
          <a:p>
            <a:r>
              <a:t>CNPJ 54871427000194 · Prazo dos créditos e carência · Motivo: Não localizada uma cláusula material para este critério nos textos identificados e processados. A ausência de resultado não comprova inexistência da regra.</a:t>
            </a:r>
          </a:p>
          <a:p>
            <a:r>
              <a:t>CNPJ 60010416000112 · Prazo dos créditos e carência · Regulamento · ID 1051393 · 2025-10-09 · versão 1 · p. 11 · 4.5 · https://fnet.bmfbovespa.com.br/fnet/publico/visualizarDocumento?id=1051393</a:t>
            </a:r>
          </a:p>
          <a:p>
            <a:r>
              <a:t>CNPJ 60010416000112 · Prazo dos créditos e carência · Excerto da fonte:</a:t>
            </a:r>
          </a:p>
          <a:p>
            <a:r>
              <a:t>4.5 A parcela do Patrimônio Líquido que não estiver alocada em Direitos Creditórios será necessariamente  alocada no seguintes ativos (“Ativos Financeiros de Liquidez”).</a:t>
            </a:r>
          </a:p>
          <a:p>
            <a:r>
              <a:t> (i) moeda corrente nacional;</a:t>
            </a:r>
          </a:p>
          <a:p>
            <a:r>
              <a:t> (ii) títulos do Tesouro SELIC, anteriormente denominado letra f inanceira do Tesouro Nacional  (LFT);</a:t>
            </a:r>
          </a:p>
          <a:p>
            <a:r>
              <a:t> (iii) certif icados de depósito bancário (CDB) ou recibos de depósito bancário (RDB) com prazo  máximo de vencimento equivalente ao prazo remanescente do Período de Investimento, com  liquidez diária, emitidos por Instituições Autorizadas e/ou pelo Endossante, sendo certo que  os certif icados de depósito bancário (CDB) e recibos de depósito bancário (RDB) emitidos  pelo Endossante e integrantes da carteira da Classe não poderão exceder o valor de R$</a:t>
            </a:r>
          </a:p>
          <a:p>
            <a:r>
              <a:t> 25.000.000,00 (vinte e cinco milhões de reais);</a:t>
            </a:r>
          </a:p>
          <a:p>
            <a:r>
              <a:t> (iv) operações compromissadas, desde que lastreadas nos títulos mencionados nas alíneas (i) a</a:t>
            </a:r>
          </a:p>
          <a:p>
            <a:r>
              <a:t> (iii) acima, emitidas por Instituições Autorizadas, com liquidez diária e vencimento inferior a  365 (trezentos e sessenta e cinco) dias; e</a:t>
            </a:r>
          </a:p>
          <a:p>
            <a:r>
              <a:t> (v) cotas de classes de f undos de investimentos de renda f ixa ou indexados à Taxa DI com  liquidez diária, cujas políticas de investimento admitam a alocação de recursos  exclusivamente nos ativos das alíneas (ii) e (iii) acima, incluindo f undos geridos e/ou  administrados pelo Administrador, pelo Custodiante e/ou pelo Gestor.</a:t>
            </a:r>
          </a:p>
          <a:p>
            <a:r>
              <a:t>Limites de Concentração e Vedações para a Composição da Carteira</a:t>
            </a:r>
          </a:p>
          <a:p>
            <a:r>
              <a:t>CNPJ 60010416000112 · Prazo dos créditos e carência · Regulamento · ID 1051393 · 2025-10-09 · versão 1 · p. 10 · https://fnet.bmfbovespa.com.br/fnet/publico/visualizarDocumento?id=1051393</a:t>
            </a:r>
          </a:p>
          <a:p>
            <a:r>
              <a:t>CNPJ 60010416000112 · Prazo dos créditos e carência · Excerto da fonte:</a:t>
            </a:r>
          </a:p>
          <a:p>
            <a:r>
              <a:t>Anexo I ao Regulamento CLASSE ÚNICA DO MT I CONSIGNADO PRIVADO I FUNDO DE INVESTIMENTO EM DIREITOS CREDITÓRIOS RESPONSABILIDADE LIMITADA</a:t>
            </a:r>
          </a:p>
          <a:p>
            <a:r>
              <a:t> (ii) o saldo dos Direitos Creditórios devidos pelo mesmo Devedor à Classe, considerando, pro  forma, o endosso pretendido, não deverá exceder R$ 100.000,00 (cem mil reais), observado  o disposto no item 4.4.1 abaixo;</a:t>
            </a:r>
          </a:p>
          <a:p>
            <a:r>
              <a:t> (iii) o prazo de vencimento das CCB representativas dos Direitos Creditórios deverá ser, no  máximo, equivalente ao prazo máximo permitido pelas leis e regulamentações aplicáveis; e</a:t>
            </a:r>
          </a:p>
          <a:p>
            <a:r>
              <a:t> (iv) os Direitos Creditórios não poderão ser devidos por Devedores que tenham acima de 64  (sessenta e quatro) anos 11 (onze) meses e 29 (vinte e nove) dias na data de emissão da  respectiva CCB.</a:t>
            </a:r>
          </a:p>
          <a:p>
            <a:r>
              <a:t>CNPJ 60010416000112 · Prazo dos créditos e carência · Condição: Documentos atuais selecionados no inventário por categoria/escopo; a data documental isolada não comprova vigência jurídica.</a:t>
            </a:r>
          </a:p>
          <a:p>
            <a:r>
              <a:t>CNPJ 60010416000112 · Prazo dos créditos e carência · Versão e prevalência: Documentos atuais selecionados no inventário por categoria/escopo; a data documental isolada não comprova vigência jurídica.</a:t>
            </a:r>
          </a:p>
          <a:p>
            <a:r>
              <a:t>CNPJ 60010416000112 · Prazo dos créditos e carência · Resumo do histórico: {"count": 1, "dates": ["2025-03-20"], "document_count": 1, "sources": [{"document_id": "993786", "title": "Regulamento", "reference_date": "2025-03-20", "version": "1", "page": 11, "clause": "4.5", "url": "https://fnet.bmfbovespa.com.br/fnet/publico/visualizarDocumento?id=993786", "sha256": "fd0fdd369a195510d81f81f505195a0b09e5f43522a990afa7d58c4f872921c8"}], "reference": {"path": "history/60010416000112.json", "criterion_id": "term", "total_count": 1, "preview_count": 1, "full_text_deferred": true, "sha256": "8e2bd813f4c51cf01f6bfaad164bafe69d2bbb192f753eac92da3a01c2e63046"}}</a:t>
            </a:r>
          </a:p>
          <a:p>
            <a:r>
              <a:t>CNPJ 62696791000193 · Prazo dos créditos e carência · Motivo: Não localizada uma cláusula material para este critério nos textos identificados e processados. A ausência de resultado não comprova inexistência da regra.</a:t>
            </a:r>
          </a:p>
          <a:p>
            <a:r>
              <a:t>CNPJ 55563624000109 · Prazo dos créditos e carência · Motivo: Não localizada uma cláusula material para este critério nos textos identificados e processados. A ausência de resultado não comprova inexistência da regra.</a:t>
            </a:r>
          </a:p>
          <a:p>
            <a:r>
              <a:t>CNPJ 62552447000120 · Prazo dos créditos e carência · Motivo: Não localizada uma cláusula material para este critério nos textos identificados e processados. A ausência de resultado não comprova inexistência da regra.</a:t>
            </a:r>
          </a:p>
          <a:p>
            <a:r>
              <a:t>CNPJ 63953620000165 · Prazo dos créditos e carência · Anexo ao Regulamento · ID 1222863 · 2026-06-02 · versão 1 · p. 2 · https://fnet.bmfbovespa.com.br/fnet/publico/visualizarDocumento?id=1222863</a:t>
            </a:r>
          </a:p>
          <a:p>
            <a:r>
              <a:t>CNPJ 63953620000165 · Prazo dos créditos e carência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Prazo dos créditos e carência · Condição: Documentos atuais selecionados no inventário por categoria/escopo; a data documental isolada não comprova vigência jurídica.</a:t>
            </a:r>
          </a:p>
          <a:p>
            <a:r>
              <a:t>CNPJ 63953620000165 · Prazo dos créditos e carência · Versão e prevalência: Documentos atuais selecionados no inventário por categoria/escopo; a data documental isolada não comprova vigência jurídica.</a:t>
            </a:r>
          </a:p>
          <a:p>
            <a:r>
              <a:t>CNPJ 63953620000165 · Prazo dos créditos e carência · Resumo do histórico: {"count": 8, "dates": ["2026-04-28", "2026-05-08", "2026-05-15"], "document_count": 3, "sources": [{"document_id": "1327859", "title": "Demonstrações Financeiras - Fusão, cisão e incorporação", "reference_date": "2026-05-15", "version": "1", "page": 16, "url": "https://fnet.bmfbovespa.com.br/fnet/publico/visualizarDocumento?id=1327859", "sha256": "dca1c68babb97f887528c3e2e47596a9c30f507b067981a35655b2f2da9c8054"}, {"document_id": "1298691", "title": "Demonstrações Financeiras - Fusão, cisão e incorporação", "reference_date": "2026-05-08", "version": "1", "page": 16, "url": "https://fnet.bmfbovespa.com.br/fnet/publico/visualizarDocumento?id=1298691", "sha256": "58c570d9b8d4d265330d3db3ea81c435b8e44a6dab4002aa37790652a1ee9819"}, {"document_id": "1282180", "title": "Demonstrações Financeiras - Fusão, cisão e incorporação", "reference_date": "2026-04-28", "version": "1", "page": 16, "url": "https://fnet.bmfbovespa.com.br/fnet/publico/visualizarDocumento?id=1282180", "sha256": "afaaa0e6809be4385e5bdb6c911aac582032c5bdbac3d7750234bf9eaf00438a"}], "reference": {"path": "history/63953620000165.json", "criterion_id": "term", "total_count": 8, "preview_count": 3, "full_text_deferred": true, "sha256": "a7b89077f5e21098c2d601c303faabc3ff6b9729f89d8afecdc60fe1404720c1"}}</a:t>
            </a:r>
          </a:p>
          <a:p>
            <a:r>
              <a:t>CNPJ 54871427000194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null, "comparison_required": true, "context_formula": "", "context_value": null, "context_unit": ""}</a:t>
            </a:r>
          </a:p>
          <a:p>
            <a:r>
              <a:t>CNPJ 54871427000194 · Concentração por devedor, cedente e grupo · Regulamento · ID 670691 · 28/04/2024 · versão Regulamento — referência 28/04/2024 · p. 11 · Anexo I, 4.10 e 4.11.2–4.11.4 · https://fnet.bmfbovespa.com.br/fnet/publico/visualizarDocumento?id=670691</a:t>
            </a:r>
          </a:p>
          <a:p>
            <a:r>
              <a:t>CNPJ 54871427000194 · Concentração por devedor, cedente e grupo · Excerto da fonte:</a:t>
            </a:r>
          </a:p>
          <a:p>
            <a:r>
              <a:t>4.10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4.11 A Classe poderá, direta ou indiretamente e, nos termos da legislação aplicável: (i) adquirir Direitos Creditórios que sejam cedidos e/ou originados pelo ADMINISTRADOR e/ou pelo GESTOR, ou partes a eles relacionadas, tal como definidas pelas regras contábeis que tratam desse assunto; e (ii) ceder Direitos Creditórios a qualquer das pessoas, fundos de investimento ou entidades referidas no item (i) acima, desde que (i) o ADMINISTRADOR, GESTOR, a entidade registradora e o CUSTODIANTE de Direitos Creditórios não sejam partes relacionadas entre si; e (ii) a entidade registradora e o</a:t>
            </a:r>
          </a:p>
          <a:p>
            <a:r>
              <a:t>CNPJ 54871427000194 · Concentração por devedor, cedente e grupo · Regulamento · ID 670691 · 28/04/2024 · versão Regulamento — referência 28/04/2024 · p. 10 · Anexo I, 4.7(xi) · https://fnet.bmfbovespa.com.br/fnet/publico/visualizarDocumento?id=670691</a:t>
            </a:r>
          </a:p>
          <a:p>
            <a:r>
              <a:t>CNPJ 54871427000194 · Concentração por devedor, cedente e grupo · Excerto da fonte:</a:t>
            </a:r>
          </a:p>
          <a:p>
            <a:r>
              <a:t>(xi) Endosso de todas as CCBs de um mesmo Devedor que não ultrapasse 20% (vinte por cento) do patrimônio líquido da Classe. 4.7.1 Os Documentos Comprobatórios deverão ser disponibilizados pelo respectivo Endossante (a) no prazo de 10 (dez) dias contados da Data de Aquisição dos 50 (cinquenta) casos que sejam solicitados pelo GESTOR, a seu exclusivo critério, (b) a totalidade dos demais Documentos Comprobatórios em f ormato digital em até 90 (noventa) dias a contar da Data de Aquisição, bem como dos Documentos Comprobatórios em formato físico relativos aos Direitos Creditórios que eventualmente estejam inadimplidos em ref erida data, e (c) a totalidade dos demais Documentos Comprobatórios em f ormato f ísico em até 180 (cento e oitenta) dias a contar da Data de Aquisição, sujeito à resolução do respectivo endosso, de acordo com os termos do Contrato de Endosso. 4.7.2 Caso um Direito Creditório cedido à Classe deixe de atender quaisquer Critérios de Elegibilidade e/ou quaisquer declarações e garantias ref erentes a esse Direito Creditório, conf orme previsto no respectivo Contrato de Endosso, após seu endosso à</a:t>
            </a:r>
          </a:p>
          <a:p>
            <a:r>
              <a:t>CNPJ 54871427000194 · Concentração por devedor, cedente e grupo · Condição: Na aquisição, o critério específico de 20% restringe o permissivo geral de 100%. Uma concentração observada no IME exige base e devedor identificados.</a:t>
            </a:r>
          </a:p>
          <a:p>
            <a:r>
              <a:t>CNPJ 54871427000194 · Concentração por devedor, cedente e grupo · Versão e prevalência: Leitura específica das cláusulas indicadas; condições e conflitos preservados. Seleção documental atual não comprova vigência jurídica por data isolada.</a:t>
            </a:r>
          </a:p>
          <a:p>
            <a:r>
              <a:t>CNPJ 54871427000194 · Concentração por devedor, cedente e grupo · Resumo do histórico: {"count": 2, "dates": ["2024-04-19", "2024-04-28"], "document_count": 2, "sources": [{"document_id": "670691", "title": "Regulamento", "reference_date": "2024-04-28", "version": "1", "page": "10-11", "url": "https://fnet.bmfbovespa.com.br/fnet/publico/visualizarDocumento?id=670691", "sha256": "bf16dd7f1a62d5cdbf2e2d54fef81783783f7310fbc99c3a8f00459bdf9d037b"}, {"document_id": "670689", "title": "Regulamento", "reference_date": "2024-04-19", "version": "1", "page": 11, "clause": "4.10", "url": "https://fnet.bmfbovespa.com.br/fnet/publico/visualizarDocumento?id=670689", "sha256": "891bc9bc5d87bbc02ec139077a84d2702eb81ea02035fb71d24f5b8366b94a0b"}], "reference": {"path": "history/54871427000194.json", "criterion_id": "concentration", "total_count": 2, "preview_count": 2, "full_text_deferred": true, "sha256": "35d7cd99be50c7287c9fb675cf4f2e736002315295a225a9efa79c8d9186d874"}}</a:t>
            </a:r>
          </a:p>
          <a:p>
            <a:r>
              <a:t>CNPJ 60010416000112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null, "comparison_required": true, "context_formula": "", "context_value": null, "context_unit": ""}</a:t>
            </a:r>
          </a:p>
          <a:p>
            <a:r>
              <a:t>CNPJ 60010416000112 · Concentração por devedor, cedente e grupo · Regulamento · ID 1051393 · 09/10/2025 · versão Regulamento09/10/2025 · p. 11 · AnexoI4.4.9(iv),4.5(iii) · https://fnet.bmfbovespa.com.br/fnet/publico/visualizarDocumento?id=1051393</a:t>
            </a:r>
          </a:p>
          <a:p>
            <a:r>
              <a:t>CNPJ 60010416000112 · Concentração por devedor, cedente e grupo · Excerto da fonte:</a:t>
            </a:r>
          </a:p>
          <a:p>
            <a:r>
              <a:t>3,00% (três por cento) do Patrimônio Líquido da Classe. Ativos Financeiros de Liquidez 4.5 A parcela do Patrimônio Líquido que não estiver alocada em Direitos Creditórios será necessariamente alocada no seguintes ativos (“Ativos Financeiros de Liquidez”). (i) moeda corrente nacional; (ii) títulos do Tesouro SELIC, anteriormente denominado letra f inanceira do Tesouro Nacional (LFT); (iii) certif icados de depósito bancário (CDB) ou recibos de depósito bancário (RDB) com prazo máximo de vencimento equivalente ao prazo remanescente</a:t>
            </a:r>
          </a:p>
          <a:p>
            <a:r>
              <a:t>CNPJ 60010416000112 · Concentração por devedor, cedente e grupo · Regulamento · ID 1051393 · 09/10/2025 · versão Regulamento09/10/2025 · p. 12 · AnexoI4.7–4.8 · https://fnet.bmfbovespa.com.br/fnet/publico/visualizarDocumento?id=1051393</a:t>
            </a:r>
          </a:p>
          <a:p>
            <a:r>
              <a:t>CNPJ 60010416000112 · Concentração por devedor, cedente e grupo · Excerto da fonte:</a:t>
            </a:r>
          </a:p>
          <a:p>
            <a:r>
              <a:t>4.7 A Classe deverá observar, ainda, os limites de concentração definidos na Política de Crédito, que integra o Contrato de Endosso como Anexo 3.2(v). 4.8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a:t>
            </a:r>
          </a:p>
          <a:p>
            <a:r>
              <a:t>CNPJ 60010416000112 · Concentração por devedor, cedente e grupo · Versão e prevalência: Leitura específica das cláusulas indicadas; condições e conflitos preservados. Seleção documental atual não comprova vigência jurídica por data isolada.</a:t>
            </a:r>
          </a:p>
          <a:p>
            <a:r>
              <a:t>CNPJ 60010416000112 · Concentração por devedor, cedente e grupo · Resumo do histórico: {"count": 2, "dates": ["2025-03-20", "2025-10-09"], "document_count": 2, "sources": [{"document_id": "1051393", "title": "Regulamento", "reference_date": "2025-10-09", "version": "1", "page": "11-12", "url": "https://fnet.bmfbovespa.com.br/fnet/publico/visualizarDocumento?id=1051393", "sha256": "8469d613078ffd5a6c1d217885d8a397a16342c0b937ae4aa24b106505f233ae"}, {"document_id": "993786", "title": "Regulamento", "reference_date": "2025-03-20", "version": "1", "page": 12, "clause": "4.8", "url": "https://fnet.bmfbovespa.com.br/fnet/publico/visualizarDocumento?id=993786", "sha256": "fd0fdd369a195510d81f81f505195a0b09e5f43522a990afa7d58c4f872921c8"}], "reference": {"path": "history/60010416000112.json", "criterion_id": "concentration", "total_count": 2, "preview_count": 2, "full_text_deferred": true, "sha256": "8e2bd813f4c51cf01f6bfaad164bafe69d2bbb192f753eac92da3a01c2e63046"}}</a:t>
            </a:r>
          </a:p>
          <a:p>
            <a:r>
              <a:t>CNPJ 62696791000193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null, "comparison_required": true, "context_formula": "", "context_value": null, "context_unit": ""}</a:t>
            </a:r>
          </a:p>
          <a:p>
            <a:r>
              <a:t>CNPJ 62696791000193 · Concentração por devedor, cedente e grupo · Regulamento · ID 1143317 · 20/03/2026 · versão Regulamento — referência 20/03/2026 · p. 11 · Anexo I, 4.8–4.9 · https://fnet.bmfbovespa.com.br/fnet/publico/visualizarDocumento?id=1143317</a:t>
            </a:r>
          </a:p>
          <a:p>
            <a:r>
              <a:t>CNPJ 62696791000193 · Concentração por devedor, cedente e grupo · Excerto da fonte:</a:t>
            </a:r>
          </a:p>
          <a:p>
            <a:r>
              <a:t>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relacionadas ao Gestor. 4.8.1 As aplicações em Direitos Creditórios do Agronegócio decorrentes de receitas públicas originárias ou derivadas da União, dos Estados, do Distrito Federal e dos Municípios ou de suas autarquias e f undações, assim como em Direitos Creditórios do Agronegócio cedidos ou originados por empresas controladas pelo poder público, não estão submetidas ao limite de concentração por emissor previsto no caput. 4.9 Nos termos do Art. 45 do Anexo</a:t>
            </a:r>
          </a:p>
          <a:p>
            <a:r>
              <a:t>CNPJ 62696791000193 · Concentração por devedor, cedente e grupo · Regulamento · ID 1143317 · 20/03/2026 · versão Regulamento — referência 20/03/2026 · p. 12 · Anexo I, 4.10(i)–(ix) · https://fnet.bmfbovespa.com.br/fnet/publico/visualizarDocumento?id=1143317</a:t>
            </a:r>
          </a:p>
          <a:p>
            <a:r>
              <a:t>CNPJ 62696791000193 · Concentração por devedor, cedente e grupo · Excerto da fonte:</a:t>
            </a:r>
          </a:p>
          <a:p>
            <a:r>
              <a:t>4.10 Sem prejuízo de limites mais restritivos definidos neste Anexo, o Gestor deverá observar, ainda, os seguintes limites de concentração: (i) A Classe poderá, direta ou indiretamente, ter até 100% (cem por cento) do Patrimônio Líquido representado por Direitos Creditórios do Agronegócio originados ou cedidos pelo Administrador, Gestor e/ou suas partes relacionadas, tal como definidas pelas regras contábeis que tratam desse assunto, desde que (a) o Gest or, a entidade registradora e o Custodiante dos Direitos Creditórios do Agronegócio não sejam partes relacionadas entre si; e (b) a entidade registradora e o Custodiante dos Direitos Creditórios do Agronegócio não sejam partes relacionadas ao originador ou Cedente. (ii) No máximo, 100% (cem por cento) do Patrimônio Líquido investido em Ativos Financeiros de Liquidez de emissão ou que envolvam retenção de risco por parte do Administrador, Gestor, e/ou suas partes relacionadas, observado ainda o disposto no item Error! Reference source not found.;</a:t>
            </a:r>
          </a:p>
          <a:p>
            <a:r>
              <a:t>CNPJ 62696791000193 · Concentração por devedor, cedente e grupo · Condição: Liquidez/derivativos relacionados também têm permissivos de 100%, mas remissões internas aparecem como “Error! Reference source not found.”.</a:t>
            </a:r>
          </a:p>
          <a:p>
            <a:r>
              <a:t>CNPJ 62696791000193 · Concentração por devedor, cedente e grupo · Versão e prevalência: Leitura específica das cláusulas indicadas; condições e conflitos preservados. Seleção documental atual não comprova vigência jurídica por data isolada.</a:t>
            </a:r>
          </a:p>
          <a:p>
            <a:r>
              <a:t>CNPJ 55563624000109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null, "comparison_required": true, "context_formula": "", "context_value": null, "context_unit": ""}</a:t>
            </a:r>
          </a:p>
          <a:p>
            <a:r>
              <a:t>CNPJ 55563624000109 · Concentração por devedor, cedente e grupo · Regulamento · ID 1192614 · 30/04/2026 · versão Regulamento30/04/2026 · p. 13 · AnexoI4.11–4.12.1 · https://fnet.bmfbovespa.com.br/fnet/publico/visualizarDocumento?id=1192614</a:t>
            </a:r>
          </a:p>
          <a:p>
            <a:r>
              <a:t>CNPJ 55563624000109 · Concentração por devedor, cedente e grupo · Excerto da fonte:</a:t>
            </a:r>
          </a:p>
          <a:p>
            <a:r>
              <a:t>4.11 Nos termos dos artigos 45, parágrafo 7º, e 47 parágrafo único do Anexo Normativo II à Resolução CVM 175, uma vez que as Cotas são destinadas exclusivamente a Investidores Profissionais, a Classe poderá ter até 100% (cem por cento) de seu Patrimônio Líquido alocado em Cotas da Classe Investida, as quais são emitidas pela Classe Investida. 4.12 A Classe poderá, direta ou indiretamente (i) adquirir Cotas da Classe Investida que sejam administrados pelo ADMINISTRADOR, e geridos ou cogeridos pelo GESTOR, ou partes a eles relacionadas, tal como definidas pelas</a:t>
            </a:r>
          </a:p>
          <a:p>
            <a:r>
              <a:t>CNPJ 55563624000109 · Concentração por devedor, cedente e grupo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Concentração por devedor, cedente e grupo · Versão e prevalência: Leitura específica das cláusulas indicadas; condições e conflitos preservados. Seleção documental atual não comprova vigência jurídica por data isolada.</a:t>
            </a:r>
          </a:p>
          <a:p>
            <a:r>
              <a:t>CNPJ 55563624000109 · Concentração por devedor, cedente e grupo · Resumo do histórico: {"count": 1, "dates": ["2026-04-30"], "document_count": 1, "sources": [{"document_id": "1192614", "title": "Regulamento", "reference_date": "2026-04-30", "version": "1", "page": "11-12", "url": "https://fnet.bmfbovespa.com.br/fnet/publico/visualizarDocumento?id=1192614", "sha256": "f56e63ace0acde41d2f47fb48f1ac7f3f7df5e2d32de092d7c5e075a52516632"}], "reference": {"path": "history/55563624000109.json", "criterion_id": "concentration", "total_count": 1, "preview_count": 1, "full_text_deferred": true, "sha256": "7835d573fb58a3c19adf5b8ecc2aee2bdbb9a88f7a0c0209b5f262b64c7522e3"}}</a:t>
            </a:r>
          </a:p>
          <a:p>
            <a:r>
              <a:t>CNPJ 62552447000120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null, "comparison_required": true, "context_formula": "", "context_value": null, "context_unit": ""}</a:t>
            </a:r>
          </a:p>
          <a:p>
            <a:r>
              <a:t>CNPJ 62552447000120 · Concentração por devedor, cedente e grupo · Regulamento · ID 1200623 · 21/05/2026 · versão Consolidado21/05/2026 aprovado pelo ato1200625 · p. 14 · AnexoI4.10–4.13 · https://fnet.bmfbovespa.com.br/fnet/publico/visualizarDocumento?id=1200623</a:t>
            </a:r>
          </a:p>
          <a:p>
            <a:r>
              <a:t>CNPJ 62552447000120 · Concentração por devedor, cedente e grupo · Excerto da fonte:</a:t>
            </a:r>
          </a:p>
          <a:p>
            <a:r>
              <a:t>4.10 Nos termos do art. 45, §7º, inciso II, do Anexo Normativo II, a Classe poderá ter até 100% (cem por cento) de seu Patrimônio Líquido alocado em Direitos Creditórios, derivativos, observado o disposto abaixo,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4.10.1 O uso de derivativos está restr</a:t>
            </a:r>
          </a:p>
          <a:p>
            <a:r>
              <a:t>CNPJ 62552447000120 · Concentração por devedor, cedente e grupo · Condição: Regulamento permite concentração ampla; TVM têm limite específico 10% PL na elegibilidade.</a:t>
            </a:r>
          </a:p>
          <a:p>
            <a:r>
              <a:t>CNPJ 62552447000120 · Concentração por devedor, cedente e grupo · Versão e prevalência: Leitura específica das cláusulas indicadas; condições e conflitos preservados. Seleção documental atual não comprova vigência jurídica por data isolada.</a:t>
            </a:r>
          </a:p>
          <a:p>
            <a:r>
              <a:t>CNPJ 63953620000165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null, "comparison_required": true, "context_formula": "", "context_value": null, "context_unit": ""}</a:t>
            </a:r>
          </a:p>
          <a:p>
            <a:r>
              <a:t>CNPJ 63953620000165 · Concentração por devedor, cedente e grupo · Anexo ao Regulamento · ID 1222863 · 02/06/2026 · versão AnexoConsignadoPrivado02/06/2026 · p. 6 · 4.14 · https://fnet.bmfbovespa.com.br/fnet/publico/visualizarDocumento?id=1222863</a:t>
            </a:r>
          </a:p>
          <a:p>
            <a:r>
              <a:t>CNPJ 63953620000165 · Concentração por devedor, cedente e grupo · Excerto da fonte:</a:t>
            </a:r>
          </a:p>
          <a:p>
            <a:r>
              <a:t>4.14 Nos termos do Art. 45, §7º, inciso II, do Anexo Normativo II da Resolução CVM 175, a Classe poderá ter até 100% (cem por cento) de seu Patrimônio Líquido alocado em Direitos Creditórios, derivativos, observado o disposto neste Anexo I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4.15 Sem prejuízo de limites</a:t>
            </a:r>
          </a:p>
          <a:p>
            <a:r>
              <a:t>CNPJ 63953620000165 · Concentração por devedor, cedente e grupo · Anexo ao Regulamento · ID 1222863 · 02/06/2026 · versão AnexoConsignadoPrivado02/06/2026 · p. 7 · 4.15(i)–(v) · https://fnet.bmfbovespa.com.br/fnet/publico/visualizarDocumento?id=1222863</a:t>
            </a:r>
          </a:p>
          <a:p>
            <a:r>
              <a:t>CNPJ 63953620000165 · Concentração por devedor, cedente e grupo · Excerto da fonte:</a:t>
            </a:r>
          </a:p>
          <a:p>
            <a:r>
              <a:t>(i)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CNPJ 63953620000165 · Concentração por devedor, cedente e grupo · Versão e prevalência: Leitura específica das cláusulas indicadas; condições e conflitos preservados. Seleção documental atual não comprova vigência jurídica por data isolada.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Recebíveis e aquisição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Natureza dos recebíveis · Regulamento · ID 670691 · 28/04/2024 · versão Regulamento — referência 28/04/2024 · p. 9 · Anexo I, 4.2–4.2.1 · https://fnet.bmfbovespa.com.br/fnet/publico/visualizarDocumento?id=670691</a:t>
            </a:r>
          </a:p>
          <a:p>
            <a:r>
              <a:t>CNPJ 54871427000194 · Natureza dos recebíveis · Excerto da fonte:</a:t>
            </a:r>
          </a:p>
          <a:p>
            <a:r>
              <a:t>4.2 Os Direitos Creditórios representados por Certif icados de Cédulas de Crédito Bancário (“CCCBs”), representativos de um agrupamento de determinadas CCBs, originadas no âmbito de operações de empréstimos pessoais concedidos por um Endossante a um Devedor, devidamente f ormalizadas por via eletrônica de acordo com a legislação aplicável, segundo os critérios de composição e diversificação estabelecidos pela regulamentação aplicável e neste Regulamento. 4.2.1 Cada Endossante deve ter celebrado convênio com órgão consignante, previamente à cessão de Direitos Creditórios à Classe, que contemplam a obrigação da manutenção da consignação/averbação junto ao novo órgão, de modo a possibilitar o pagamento dos Direitos Creditórios por meio de consignação em f olha de pagamento ou de benef ício . 4.3 Os pagamentos relativos aos Direitos Creditórios de titularidade da Classe serão realizados mediante consignação em folha, débito em conta de titularidade dos Devedores e pagamentos de sinistros, para pagamento dos valores correspondentes às parcelas das CCBs representadas pelos CCCBs de titularidade da Classe, os quais serão conciliados e repassados pelo Endossan</a:t>
            </a:r>
          </a:p>
          <a:p>
            <a:r>
              <a:t>CNPJ 54871427000194 · Natureza dos recebíveis · Versão e prevalência: Leitura específica das cláusulas indicadas; condições e conflitos preservados. Seleção documental atual não comprova vigência jurídica por data isolada.</a:t>
            </a:r>
          </a:p>
          <a:p>
            <a:r>
              <a:t>CNPJ 54871427000194 · Natureza dos recebíveis · Resumo do histórico: {"count": 3, "dates": ["2024-04-19", "2024-04-28"], "document_count": 2, "sources": [{"document_id": "670691", "title": "Regulamento", "reference_date": "2024-04-28", "version": "1", "page": "9, 38-39", "url": "https://fnet.bmfbovespa.com.br/fnet/publico/visualizarDocumento?id=670691", "sha256": "bf16dd7f1a62d5cdbf2e2d54fef81783783f7310fbc99c3a8f00459bdf9d037b"}, {"document_id": "670691", "title": "Regulamento", "reference_date": "2024-04-28", "version": "1", "page": 34, "clause": "15.1.5", "url": "https://fnet.bmfbovespa.com.br/fnet/publico/visualizarDocumento?id=670691", "sha256": "bf16dd7f1a62d5cdbf2e2d54fef81783783f7310fbc99c3a8f00459bdf9d037b"}, {"document_id": "670689", "title": "Regulamento", "reference_date": "2024-04-19", "version": "1", "page": 35, "clause": "15.1.5", "url": "https://fnet.bmfbovespa.com.br/fnet/publico/visualizarDocumento?id=670689", "sha256": "891bc9bc5d87bbc02ec139077a84d2702eb81ea02035fb71d24f5b8366b94a0b"}], "reference": {"path": "history/54871427000194.json", "criterion_id": "receivables", "total_count": 3, "preview_count": 3, "full_text_deferred": true, "sha256": "35d7cd99be50c7287c9fb675cf4f2e736002315295a225a9efa79c8d9186d874"}}</a:t>
            </a:r>
          </a:p>
          <a:p>
            <a:r>
              <a:t>CNPJ 60010416000112 · Natureza dos recebíveis · Regulamento · ID 1051393 · 09/10/2025 · versão Regulamento09/10/2025 · p. 9 · AnexoI4.2 · https://fnet.bmfbovespa.com.br/fnet/publico/visualizarDocumento?id=1051393</a:t>
            </a:r>
          </a:p>
          <a:p>
            <a:r>
              <a:t>CNPJ 60010416000112 · Natureza dos recebíveis · Excerto da fonte:</a:t>
            </a:r>
          </a:p>
          <a:p>
            <a:r>
              <a:t>4.2 Os Direitos Creditórios são originados no âmbito de operações de empréstimo consignado concedido pelo Endossante a um Devedor por meio da Plataforma MT e representado por CCB, devidamente formalizada por via eletrônica, de acordo com a legislação aplicável, observada a Política de Crédito constante do Contrato de Endosso. O Endossante celebrou o Convênio Consignado Privado previamente ao endosso de Direitos Creditórios Elegíveis à Classe, para que, após a averbação dos Direitos Creditórios na Dataprev, o pagamento regular dos Direitos Creditórios decorrentes das CCB seja f eito por Consignação</a:t>
            </a:r>
          </a:p>
          <a:p>
            <a:r>
              <a:t>CNPJ 60010416000112 · Natureza dos recebíveis · Versão e prevalência: Leitura específica das cláusulas indicadas; condições e conflitos preservados. Seleção documental atual não comprova vigência jurídica por data isolada.</a:t>
            </a:r>
          </a:p>
          <a:p>
            <a:r>
              <a:t>CNPJ 60010416000112 · Natureza dos recebíveis · Resumo do histórico: {"count": 2, "dates": ["2025-03-20", "2025-10-09"], "document_count": 2, "sources": [{"document_id": "1051393", "title": "Regulamento", "reference_date": "2025-10-09", "version": "1", "page": "9-11", "url": "https://fnet.bmfbovespa.com.br/fnet/publico/visualizarDocumento?id=1051393", "sha256": "8469d613078ffd5a6c1d217885d8a397a16342c0b937ae4aa24b106505f233ae"}, {"document_id": "993786", "title": "Regulamento", "reference_date": "2025-03-20", "version": "1", "page": 30, "clause": "12.5.1", "url": "https://fnet.bmfbovespa.com.br/fnet/publico/visualizarDocumento?id=993786", "sha256": "fd0fdd369a195510d81f81f505195a0b09e5f43522a990afa7d58c4f872921c8"}], "reference": {"path": "history/60010416000112.json", "criterion_id": "receivables", "total_count": 2, "preview_count": 2, "full_text_deferred": true, "sha256": "8e2bd813f4c51cf01f6bfaad164bafe69d2bbb192f753eac92da3a01c2e63046"}}</a:t>
            </a:r>
          </a:p>
          <a:p>
            <a:r>
              <a:t>CNPJ 62696791000193 · Natureza dos recebíveis · Regulamento · ID 1143317 · 20/03/2026 · versão Regulamento — referência 20/03/2026 · p. 6 · Anexo I, 1.1, Objetivo · https://fnet.bmfbovespa.com.br/fnet/publico/visualizarDocumento?id=1143317</a:t>
            </a:r>
          </a:p>
          <a:p>
            <a:r>
              <a:t>CNPJ 62696791000193 · Natureza dos recebíveis · Excerto da fonte:</a:t>
            </a:r>
          </a:p>
          <a:p>
            <a:r>
              <a:t>A Classe tem por objetivo proporcionar aos Cotistas a valorização e a rentabilidade de suas cotas (“Cotas”), conforme a política de investimentos def inida no Capítulo IV abaixo (“Política de Investimentos”), por meio de aplicação do seu Patrimônio Líquido (conforme def inido abaixo) nos seguintes ativos de origem vinculada às cadeias produtivas do agronegócio (“Direitos Creditórios do Agronegócio”): (i) títulos de crédito emitidos por pessoas naturais e jurídicas que integrem as cadeias produtivas do agronegócio; (ii) direitos creditórios do agronegócio; (iii) certificados de recebíveis do agronegócio e outros títulos de securitização emitidos com lastro em direitos creditórios do agronegócio; e (iv) certificados de recebíveis e outro</a:t>
            </a:r>
          </a:p>
          <a:p>
            <a:r>
              <a:t>CNPJ 62696791000193 · Natureza dos recebíveis · Regulamento · ID 1143317 · 20/03/2026 · versão Regulamento — referência 20/03/2026 · p. 7 · Anexo I, 1.1, Objetivo · https://fnet.bmfbovespa.com.br/fnet/publico/visualizarDocumento?id=1143317</a:t>
            </a:r>
          </a:p>
          <a:p>
            <a:r>
              <a:t>CNPJ 62696791000193 · Natureza dos recebíveis · Excerto da fonte:</a:t>
            </a:r>
          </a:p>
          <a:p>
            <a:r>
              <a:t>(i) participações em sociedades que explorem atividades integrantes das cadeias produtivas do agronegócio. (C) Categoria “Financeiro” (“Ativos Financeiros do Agronegócio Financeiros”): (i) ativos f inanceiros e valores mobiliários emitidos por pessoas naturais e jurídicas que integrem as cadeias produtivas do agronegócio. (D) Categoria “Geral” (“Ativos em Geral do Agronegócio”): (i) cotas de classes que apliquem mais de 50% (cinquenta por cento) de seu patrimônio líquido nos ativos referidos nos incisos “A” a “D” acima, o que inclui cotas de outros FIAGRO, mas não se limita a essa categoria de f undos. Os Ativos Imobiliários do Agronegócio, Participações do Agronegócio,</a:t>
            </a:r>
          </a:p>
          <a:p>
            <a:r>
              <a:t>CNPJ 62696791000193 · Natureza dos recebíveis · Versão e prevalência: Leitura específica das cláusulas indicadas; condições e conflitos preservados. Seleção documental atual não comprova vigência jurídica por data isolada.</a:t>
            </a:r>
          </a:p>
          <a:p>
            <a:r>
              <a:t>CNPJ 55563624000109 · Natureza dos recebíveis · Regulamento · ID 1192614 · 30/04/2026 · versão Regulamento30/04/2026 · p. 11 · AnexoI4.1 · https://fnet.bmfbovespa.com.br/fnet/publico/visualizarDocumento?id=1192614</a:t>
            </a:r>
          </a:p>
          <a:p>
            <a:r>
              <a:t>CNPJ 55563624000109 · Natureza dos recebíveis · Excerto da fonte:</a:t>
            </a:r>
          </a:p>
          <a:p>
            <a:r>
              <a:t>4.1 Observados os demais termos deste Anexo, o objetivo da Classe é investir seus recursos em (i) cotas subordinadas mezanino de emissão da classe única do MERCADO CRÉDITO II BRASIL FUNDO DE INVESTIMENTO EM DIREITOS CREDITÓRIOS NÃO PADRONIZADOS, fundo de investimento em direitos creditórios inscrito no CNPJ sob o nº 41.970.012/0001-26 (“Cotas da Classe Investida” e “Classe Investida”, respectivamente), a qual, por sua vez, aplica seus recursos preponderantemente em direitos creditórios originados pela Mercado Pago, de acordo com os termos e condições est</a:t>
            </a:r>
          </a:p>
          <a:p>
            <a:r>
              <a:t>CNPJ 55563624000109 · Natureza dos recebíveis · Regulamento · ID 1192614 · 30/04/2026 · versão Regulamento30/04/2026 · p. 12 · AnexoI4.5 · https://fnet.bmfbovespa.com.br/fnet/publico/visualizarDocumento?id=1192614</a:t>
            </a:r>
          </a:p>
          <a:p>
            <a:r>
              <a:t>CNPJ 55563624000109 · Natureza dos recebíveis · Excerto da fonte:</a:t>
            </a:r>
          </a:p>
          <a:p>
            <a:r>
              <a:t>4.5 Uma vez que o investimento nas Cotas da Classe Investida não corresponde a um investimento direto em direitos creditórios, uma série de disposições comuns à securitização de direitos creditórios não será aplicável ao investimento nas Cotas da Classe Investida. A título meramente exemplificativo, não existem processos de originação ou política de concessão de crédito adotada pelo GESTOR, tampouco há que se falar em verificação ou guarda de documentos comprobatórios que não sejam referentes às Cotas da Classe Investida. Da mesma forma, não há necessida</a:t>
            </a:r>
          </a:p>
          <a:p>
            <a:r>
              <a:t>CNPJ 55563624000109 · Natureza dos recebíveis · Versão e prevalência: Leitura específica das cláusulas indicadas; condições e conflitos preservados. Seleção documental atual não comprova vigência jurídica por data isolada.</a:t>
            </a:r>
          </a:p>
          <a:p>
            <a:r>
              <a:t>CNPJ 55563624000109 · Natureza dos recebíveis · Resumo do histórico: {"count": 4, "dates": ["2025-01-31", "2026-01-31", "2026-04-30"], "document_count": 3, "sources": [{"document_id": "1192614", "title": "Regulamento", "reference_date": "2026-04-30", "version": "1", "page": "11", "url": "https://fnet.bmfbovespa.com.br/fnet/publico/visualizarDocumento?id=1192614", "sha256": "f56e63ace0acde41d2f47fb48f1ac7f3f7df5e2d32de092d7c5e075a52516632"}, {"document_id": "1178840", "title": "Demonstrações Financeiras", "reference_date": "2026-01-31", "version": "1", "page": 16, "url": "https://fnet.bmfbovespa.com.br/fnet/publico/visualizarDocumento?id=1178840", "sha256": "c458e98664c5c907ddb5a05a94b120bed4e05295b2bfc420f5ba69af0a229abe"}, {"document_id": "891861", "title": "Demonstrações Financeiras", "reference_date": "2025-01-31", "version": "1", "page": 16, "url": "https://fnet.bmfbovespa.com.br/fnet/publico/visualizarDocumento?id=891861", "sha256": "e9cb9e6ddbe505fe068cfcac33605165a98313489de0d3ce6d4d238263c3f3e7"}], "reference": {"path": "history/55563624000109.json", "criterion_id": "receivables", "total_count": 4, "preview_count": 3, "full_text_deferred": true, "sha256": "7835d573fb58a3c19adf5b8ecc2aee2bdbb9a88f7a0c0209b5f262b64c7522e3"}}</a:t>
            </a:r>
          </a:p>
          <a:p>
            <a:r>
              <a:t>CNPJ 62552447000120 · Natureza dos recebíveis · Regulamento · ID 1200623 · 21/05/2026 · versão Consolidado21/05/2026 aprovado pelo ato1200625 · p. 11 · AnexoI4.2–4.3 · https://fnet.bmfbovespa.com.br/fnet/publico/visualizarDocumento?id=1200623</a:t>
            </a:r>
          </a:p>
          <a:p>
            <a:r>
              <a:t>CNPJ 62552447000120 · Natureza dos recebíveis · Excerto da fonte:</a:t>
            </a:r>
          </a:p>
          <a:p>
            <a:r>
              <a:t>4.2 Os Direitos Creditórios Consignado Privado e os Direitos Creditórios FGTS são originados no âmbito de CCBs emitidas eletronicamente pelos Devedores ao Endossante, representando, respectivamente, empréstimos consignados, com desconto em f olha de pagamento, e empréstimos pessoais, com garantia de cessão f iduciária do Saque-aniversário. 4.3 A operacionalização é f eita por meio da plataforma eletrônica mantida pelo Originador e utilizada por ele em relação ao processamento e monitoramento das operações de crédito (“Plataforma VR”), de acordo com a legislação aplicável, observada a política de crédit</a:t>
            </a:r>
          </a:p>
          <a:p>
            <a:r>
              <a:t>CNPJ 62552447000120 · Natureza dos recebíveis · Regulamento · ID 1200623 · 21/05/2026 · versão Consolidado21/05/2026 aprovado pelo ato1200625 · p. 6 · AnexoI1.2 Direitos Creditórios(d) · https://fnet.bmfbovespa.com.br/fnet/publico/visualizarDocumento?id=1200623</a:t>
            </a:r>
          </a:p>
          <a:p>
            <a:r>
              <a:t>CNPJ 62552447000120 · Natureza dos recebíveis · Excerto da fonte:</a:t>
            </a:r>
          </a:p>
          <a:p>
            <a:r>
              <a:t>Refinanciamento Livre”, na forma de CCBs originadas no âmbito de um refinanciamento, de acordo com a política de cobrança vigente, de Direitos Creditórios Consignado Privado e de Direitos Creditórios FGTS, que não contem com o lastro de Consignação ou de cessão f iduciária do Saque-Aniversário, respectivamente; e (ii) “Ativos Financei</a:t>
            </a:r>
          </a:p>
          <a:p>
            <a:r>
              <a:t>CNPJ 62552447000120 · Natureza dos recebíveis · Condição: Direitos de refinanciamento livre têm mecanismo de pagamento diferente do consignado/FGTS original.</a:t>
            </a:r>
          </a:p>
          <a:p>
            <a:r>
              <a:t>CNPJ 62552447000120 · Natureza dos recebíveis · Versão e prevalência: Leitura específica das cláusulas indicadas; condições e conflitos preservados. Seleção documental atual não comprova vigência jurídica por data isolada.</a:t>
            </a:r>
          </a:p>
          <a:p>
            <a:r>
              <a:t>CNPJ 63953620000165 · Natureza dos recebíveis · Anexo ao Regulamento · ID 1222863 · 02/06/2026 · versão AnexoConsignadoPrivado02/06/2026 · p. 5 · 4.4 · https://fnet.bmfbovespa.com.br/fnet/publico/visualizarDocumento?id=1222863</a:t>
            </a:r>
          </a:p>
          <a:p>
            <a:r>
              <a:t>CNPJ 63953620000165 · Natureza dos recebíveis · Excerto da fonte:</a:t>
            </a:r>
          </a:p>
          <a:p>
            <a:r>
              <a:t>4.4 Os Direitos Creditórios Consignado Privado são originados no âmbito de operações de empréstimo consignado concedido pelo Endossante a um Devedor por meio da plataforma eletrônica mantida pelo Agente de Retenção/ Cobrança e utilizada por ele em relação ao processamento e monitoramento das operações de crédito consignado (“Plataforma MT”) e representado por CCB, devidamente formalizada por via eletrônica, de acordo com a legislação aplicável, observada a política de crédito constante do Contrato de Endosso. O Endossante celebrou o Convênio Consignado Privado previamente ao endosso de Direitos Creditórios Elegíveis à Clas</a:t>
            </a:r>
          </a:p>
          <a:p>
            <a:r>
              <a:t>CNPJ 63953620000165 · Natureza dos recebíveis · Anexo ao Regulamento · ID 1222863 · 02/06/2026 · versão AnexoConsignadoPrivado02/06/2026 · p. 1 · 1.1Objetivo · https://fnet.bmfbovespa.com.br/fnet/publico/visualizarDocumento?id=1222863</a:t>
            </a:r>
          </a:p>
          <a:p>
            <a:r>
              <a:t>CNPJ 63953620000165 · Natureza dos recebíveis · Excerto da fonte:</a:t>
            </a:r>
          </a:p>
          <a:p>
            <a:r>
              <a:t>Direitos Creditórios Crédito Consignado”, representados por cédula de crédito bancário regida pela Lei nº 10.931, emitida eletronicamente por um devedor em favor do endossante (“CCB”) e, consequentemente, os recebíveis decorrente de cada uma das parcelas vincendas, representando um empréstimo consignado concedido pelo endossante ao devedor, e cujo pagamento ordinário é feito por desconto de cada prestação vincenda de uma CCB na folha de</a:t>
            </a:r>
          </a:p>
          <a:p>
            <a:r>
              <a:t>CNPJ 63953620000165 · Natureza dos recebíveis · Versão e prevalência: Leitura específica das cláusulas indicadas; condições e conflitos preservados. Seleção documental atual não comprova vigência jurídica por data isolada.</a:t>
            </a:r>
          </a:p>
          <a:p>
            <a:r>
              <a:t>CNPJ 63953620000165 · Natureza dos recebíveis · Resumo do histórico: {"count": 8, "dates": ["2026-04-28", "2026-05-08", "2026-05-15"], "document_count": 3, "sources": [{"document_id": "1327859", "title": "Demonstrações Financeiras - Fusão, cisão e incorporação", "reference_date": "2026-05-15", "version": "1", "page": 21, "url": "https://fnet.bmfbovespa.com.br/fnet/publico/visualizarDocumento?id=1327859", "sha256": "dca1c68babb97f887528c3e2e47596a9c30f507b067981a35655b2f2da9c8054"}, {"document_id": "1298691", "title": "Demonstrações Financeiras - Fusão, cisão e incorporação", "reference_date": "2026-05-08", "version": "1", "page": 24, "url": "https://fnet.bmfbovespa.com.br/fnet/publico/visualizarDocumento?id=1298691", "sha256": "58c570d9b8d4d265330d3db3ea81c435b8e44a6dab4002aa37790652a1ee9819"}, {"document_id": "1282180", "title": "Demonstrações Financeiras - Fusão, cisão e incorporação", "reference_date": "2026-04-28", "version": "1", "page": 24, "url": "https://fnet.bmfbovespa.com.br/fnet/publico/visualizarDocumento?id=1282180", "sha256": "afaaa0e6809be4385e5bdb6c911aac582032c5bdbac3d7750234bf9eaf00438a"}], "reference": {"path": "history/63953620000165.json", "criterion_id": "receivables", "total_count": 8, "preview_count": 3, "full_text_deferred": true, "sha256": "a7b89077f5e21098c2d601c303faabc3ff6b9729f89d8afecdc60fe1404720c1"}}</a:t>
            </a:r>
          </a:p>
          <a:p>
            <a:r>
              <a:t>CNPJ 54871427000194 · Originador e endossante · Regulamento · ID 670691 · 2024-04-28 · versão 1 · p. 11 · 4.11.2 · https://fnet.bmfbovespa.com.br/fnet/publico/visualizarDocumento?id=670691</a:t>
            </a:r>
          </a:p>
          <a:p>
            <a:r>
              <a:t>CNPJ 54871427000194 · Originador e endossante · Excerto da fonte:</a:t>
            </a:r>
          </a:p>
          <a:p>
            <a:r>
              <a:t>4.11.2 A Classe poderá ter até 100% (cem por cento) do Patrimônio Líquido representado por Direitos  Creditórios originados ou cedidos por um mesmo Endossante e/ou originados por um mesmo  Originador.</a:t>
            </a:r>
          </a:p>
          <a:p>
            <a:r>
              <a:t>CNPJ 54871427000194 · Originador e endossante · Regulamento · ID 670691 · 2024-04-28 · versão 1 · p. 13 · 4.17 · https://fnet.bmfbovespa.com.br/fnet/publico/visualizarDocumento?id=670691</a:t>
            </a:r>
          </a:p>
          <a:p>
            <a:r>
              <a:t>CNPJ 54871427000194 · Originador e endossante · Excerto da fonte:</a:t>
            </a:r>
          </a:p>
          <a:p>
            <a:r>
              <a:t>4.17 É vedada qualquer forma de antecipação de recursos aos Endossantes para posterior reembolso pela  Classe, seja pelo ADMINISTRADOR, GESTOR, CUSTODIANTE, consultora ou Originadores.</a:t>
            </a:r>
          </a:p>
          <a:p>
            <a:r>
              <a:t>CNPJ 54871427000194 · Originador e endossante · Regulamento · ID 670691 · 2024-04-28 · versão 1 · p. 34 · 15.1.5 · https://fnet.bmfbovespa.com.br/fnet/publico/visualizarDocumento?id=670691</a:t>
            </a:r>
          </a:p>
          <a:p>
            <a:r>
              <a:t>CNPJ 54871427000194 · Originador e endossante · Excerto da fonte:</a:t>
            </a:r>
          </a:p>
          <a:p>
            <a:r>
              <a:t>15.1.5 Outros Riscos:</a:t>
            </a:r>
          </a:p>
          <a:p>
            <a:r>
              <a:t> (i) Cobrança judicial ou extrajudicial dos Direitos Creditórios. No caso de os  Devedores inadimplirem as obrigações dos pagamentos dos Direitos Creditórios de titularidade  da Classe, poderá haver cobrança judicial e/ou extrajudicial dos valores devidos. Neste caso,  além da Classe incorrer em maiores custos relacionados à cobrança dos Direitos Creditórios  Inadimplidos, nada garante que ref eridas cobranças atingirão os resultados almejados, qual  seja, a recuperação do valor integral dos Direitos Creditórios Inadimplidos. Nesta hipótese, a  rentabilidade da Classe será af etada negativamente.</a:t>
            </a:r>
          </a:p>
          <a:p>
            <a:r>
              <a:t> (ii) Dif iculdade de obtenção de indenização ou recompra de Direitos Creditórios.</a:t>
            </a:r>
          </a:p>
          <a:p>
            <a:r>
              <a:t> Considerando a possibilidade de aquisição de Direitos Creditórios de terceiros — isso é  Endossantes que, por sua vez, adquiram os Direitos Creditórios de forma secundária, por meio  da cessão ou endosso realizado por credores anteriores da CCB — caso ocorram situações  que ensejem em recompra de tais Direitos Creditórios e/ou indenização, a Classe poderá ter  dif iculdades adicionais em obter tais indenizações e/ou recompras, na medida em que o direito  a tais indenizações e/ou recompras não está previsto em cada CCB, mas em contratos e  instrumentos dos quais a Classe não é originalmente parte, o que poderá causar perdas à  Classe e, consequentemente, aos Cotistas.</a:t>
            </a:r>
          </a:p>
          <a:p>
            <a:r>
              <a:t> (iii) Risco de concentração. O risco da aplicação na Classe possui forte correlação  com a concentração da Carteira, sendo que, quanto maior f or a concentração da Carteira,  maior será a chance de a Classe sofrer perda patrimonial significativa que afete negativamente  a rentabilidade das Cotas. A Classe não possui limite de concentração por Devedor ou  originador dos Direitos Creditórios, exceto por aqueles previstos na Resolução CVM  175, razão pela qual a Classe poderá estar exposto a significativa concentração por  Devedor. Não é possível garantir que os limites de concentração contidos na Política de  Investimentos, ainda que atendidos, serão suficientes que o Patrimônio Líquido não sofra  perdas que possam af etar a rentabilidade das Cotas.</a:t>
            </a:r>
          </a:p>
          <a:p>
            <a:r>
              <a:t> (iv) Possibilidade de conflito de interesses entre a Classe e os Originadores. Os  Originadores podem possuir relacionamento comercial com os Endossantes e/ou Devedores,  de modo que, em determinadas circunstâncias seus interesses podem ser conflitantes com os  interesses da Classe. Não é possível garantir que, materializada uma situação de conflito de  interesses conforme descrita acima, o Originador exponha-a adequadamente ao  ADMINISTRADOR e/ou aos Cotistas, ou que o f aça absolutamente, tampouco que agirá no  melhor no interesse da Classe. Nesses casos, a Classe pode vir a adquirir Direitos Creditórios  ou pode vir a ter seus Direitos Creditórios Inadimplidos pagos em condições comparativamente  menos vantajosas àquelas que seriam verificadas na ausência de tais conflitos de interesses.</a:t>
            </a:r>
          </a:p>
          <a:p>
            <a:r>
              <a:t> Nesses casos, o Patrimônio Líquido pode ser af etado adversamente.</a:t>
            </a:r>
          </a:p>
          <a:p>
            <a:r>
              <a:t> (v) Possibilidade de conflito de interesses entre Cotistas. As Cotas poderão ser  adquiridas por investidores que sejam sociedades coligadas, controladas ou controladoras,</a:t>
            </a:r>
          </a:p>
          <a:p>
            <a:r>
              <a:t>CNPJ 54871427000194 · Originador e endossante · Condição: Documentos atuais selecionados no inventário por categoria/escopo; a data documental isolada não comprova vigência jurídica.</a:t>
            </a:r>
          </a:p>
          <a:p>
            <a:r>
              <a:t>CNPJ 54871427000194 · Originador e endossante · Versão e prevalência: Documentos atuais selecionados no inventário por categoria/escopo; a data documental isolada não comprova vigência jurídica.</a:t>
            </a:r>
          </a:p>
          <a:p>
            <a:r>
              <a:t>CNPJ 54871427000194 · Originador e endossante · Resumo do histórico: {"count": 2, "dates": ["2024-04-19", "2024-04-28"], "document_count": 2, "sources": [{"document_id": "670691", "title": "Regulamento", "reference_date": "2024-04-28", "version": "1", "page": "9, 39", "url": "https://fnet.bmfbovespa.com.br/fnet/publico/visualizarDocumento?id=670691", "sha256": "bf16dd7f1a62d5cdbf2e2d54fef81783783f7310fbc99c3a8f00459bdf9d037b"}, {"document_id": "670689", "title": "Regulamento", "reference_date": "2024-04-19", "version": "1", "page": 9, "clause": "4.5", "url": "https://fnet.bmfbovespa.com.br/fnet/publico/visualizarDocumento?id=670689", "sha256": "891bc9bc5d87bbc02ec139077a84d2702eb81ea02035fb71d24f5b8366b94a0b"}], "reference": {"path": "history/54871427000194.json", "criterion_id": "originator", "total_count": 2, "preview_count": 2, "full_text_deferred": true, "sha256": "35d7cd99be50c7287c9fb675cf4f2e736002315295a225a9efa79c8d9186d874"}}</a:t>
            </a:r>
          </a:p>
          <a:p>
            <a:r>
              <a:t>CNPJ 60010416000112 · Originador e endossante · Regulamento · ID 1051393 · 09/10/2025 · versão Regulamento09/10/2025 · p. 44 · Glossário, Endossante · https://fnet.bmfbovespa.com.br/fnet/publico/visualizarDocumento?id=1051393</a:t>
            </a:r>
          </a:p>
          <a:p>
            <a:r>
              <a:t>CNPJ 60010416000112 · Originador e endossante · Excerto da fonte:</a:t>
            </a:r>
          </a:p>
          <a:p>
            <a:r>
              <a:t>“Endossante”: a Parati Crédito, Financiamento e Investimento S.A., instituição financeira constituída na forma de uma sociedade por ações, com sede na cidade de Vitória, estado do Espírito Santo, na Avenida Nossa Senhora da Penha, 699, torre A, conjuntos 404 a 407, Santa Lúcia, CEP 29.056-250, inscrita no CNPJ sob nº 03.311.443/0001-91; "Entidade Registradora": instituição autorizada pelo BACEN para realizar as atividades de registro e constituição, alteração e desconstituição de ônus e gravames sobre ativos f inanceiros registrados; “Escrituração”: significa a escrituração da Consignação a ser realizada pelo Empregador, junto ao eSocial, após recebimento de notif icação comunicando-o da contratação, pelo Devedor, do empréstimo a ser pago por Consignação; “Eventos de Avaliação”: os eventos de avaliação descritos no item 10.1 deste Anexo; “Eventos de Liquidação”: os eventos de liquidação descritos no item 10.3 deste Anexo; BTG Pactual SAC: 0800 772 28 27 - Ouvidoria: 0800 722 00 48 - btgpactual.com 44</a:t>
            </a:r>
          </a:p>
          <a:p>
            <a:r>
              <a:t>CNPJ 60010416000112 · Originador e endossante · Regulamento · ID 1051393 · 09/10/2025 · versão Regulamento09/10/2025 · p. 41 · Glossário, Agente de Retenção/Cobrança · https://fnet.bmfbovespa.com.br/fnet/publico/visualizarDocumento?id=1051393</a:t>
            </a:r>
          </a:p>
          <a:p>
            <a:r>
              <a:t>CNPJ 60010416000112 · Originador e endossante · Excerto da fonte:</a:t>
            </a:r>
          </a:p>
          <a:p>
            <a:r>
              <a:t>“Agente de Retenção/Cobrança”: significa a Tudo Serviços S.A., sociedade por ações com sede na Cidade de Eusébio, Estado do Ceará, na Comendador Ari Freitas, 577, CEP 61.760-000, inscrita no CNPJ sob nº 27.852.506/0001-85; “Agente Escriturador”: O Administrador, o qual se encontra devidamente habilitado pela CVM para prestar os serviços de escrituração das Cotas, ou seu sucessor a qualquer título; “Amortização”: signif ica cada uma das amortizações ordinárias de Cotas; “Amortização Extraordinária”: amortização extraordinária das Cotas Seniores, conforme deliberado pela Assembleia Especial de Cotistas, para reestabelecer o Índice de Subordinação, nos termos do item 5.5.1 do Anexo I; "ANBIMA": Associação Brasileira das Entidades dos Mercados Financeiro e de Capitais; "Código ANBIMA": Código ANBIMA de Regulação e Melhores Práticas para Administração de Recursos de Terceiros “Anexos”: tem o signif icado atribuído no Art. 3, inciso IV, da Resolução CVM 175, Parte Geral; “Apêndice”: cada um dos apêndices que integram este Anexo, descritivos de cada Subclasse de Cotas ou de aspectos aplicáveis à Classe; "Arquivos Dataprev": Arquivo de Consignações fornecido mensalmente pela Dataprev ao Endossante, contendo a totalidade das operações pend</a:t>
            </a:r>
          </a:p>
          <a:p>
            <a:r>
              <a:t>CNPJ 60010416000112 · Originador e endossante · Regulamento · ID 1051393 · 09/10/2025 · versão Regulamento09/10/2025 · p. 28 · AnexoI11.23 · https://fnet.bmfbovespa.com.br/fnet/publico/visualizarDocumento?id=1051393</a:t>
            </a:r>
          </a:p>
          <a:p>
            <a:r>
              <a:t>CNPJ 60010416000112 · Originador e endossante · Excerto da fonte:</a:t>
            </a:r>
          </a:p>
          <a:p>
            <a:r>
              <a:t>Tudo Serviços S.A., sociedade anônima, com sede no município de Eusébio, Estado do Ceará, na Comendador Ari Freitas, 577, CEP 61.760-000, inscrita no CNPJ sob o nº 27.852.506/0001-85, cujos deveres, sem prejuízo daqueles estabelecidos neste Regulamento, no Contrato de Serviços MT e no Contrato de Endosso, consistirão no monitoramento e cobrança dos Direitos Creditórios Inadimplidos, observado o disposto neste Anexo I e na regulamentação aplicável: (i) caso aplicável, atuar na retenção (defesa) de operações de empréstimo consignado cujos Direitos Creditórios sejam de titularidade da Classe, em caso d</a:t>
            </a:r>
          </a:p>
          <a:p>
            <a:r>
              <a:t>CNPJ 60010416000112 · Originador e endossante · Versão e prevalência: Leitura específica das cláusulas indicadas; condições e conflitos preservados. Seleção documental atual não comprova vigência jurídica por data isolada.</a:t>
            </a:r>
          </a:p>
          <a:p>
            <a:r>
              <a:t>CNPJ 60010416000112 · Originador e endossante · Resumo do histórico: {"count": 2, "dates": ["2025-03-20", "2025-10-09"], "document_count": 2, "sources": [{"document_id": "1051393", "title": "Regulamento", "reference_date": "2025-10-09", "version": "1", "page": "41-43", "url": "https://fnet.bmfbovespa.com.br/fnet/publico/visualizarDocumento?id=1051393", "sha256": "8469d613078ffd5a6c1d217885d8a397a16342c0b937ae4aa24b106505f233ae"}, {"document_id": "993786", "title": "Regulamento", "reference_date": "2025-03-20", "version": "1", "page": 25, "clause": "11.8", "url": "https://fnet.bmfbovespa.com.br/fnet/publico/visualizarDocumento?id=993786", "sha256": "fd0fdd369a195510d81f81f505195a0b09e5f43522a990afa7d58c4f872921c8"}], "reference": {"path": "history/60010416000112.json", "criterion_id": "originator", "total_count": 2, "preview_count": 2, "full_text_deferred": true, "sha256": "8e2bd813f4c51cf01f6bfaad164bafe69d2bbb192f753eac92da3a01c2e63046"}}</a:t>
            </a:r>
          </a:p>
          <a:p>
            <a:r>
              <a:t>CNPJ 62696791000193 · Originador e endossante · Regulamento · ID 1143317 · 20/03/2026 · versão Regulamento — referência 20/03/2026 · p. 10 · Anexo I, 4.4 e 4.6 · https://fnet.bmfbovespa.com.br/fnet/publico/visualizarDocumento?id=1143317</a:t>
            </a:r>
          </a:p>
          <a:p>
            <a:r>
              <a:t>CNPJ 62696791000193 · Originador e endossante · Excerto da fonte:</a:t>
            </a:r>
          </a:p>
          <a:p>
            <a:r>
              <a:t>4.4 Tendo em vista (i) a natureza variada dos Direitos Creditórios do Agronegócio passíveis de aquisição pela Classe; (ii) a amplitude da Política de Investimentos; e (iii) a potencial diversificação de Cedentes/Endossantes e Devedores, não é possível precisar os processos de origem dos Direitos Creditórios do Agronegócio e as políticas de concessão de crédito adotadas pelos Cedentes/Endossantes. 4.5 Os Direitos Creditórios do Agronegócio deverão contar com toda a documentação necessária para o exercício das prerrogativas decorrentes da titularidade dos ativos, e capaz de comprovar a origem, a existência e a exigibilidade dos Direitos Creditórios do Agronegócio (“Documentos Comprobatórios”) que evidenciem sua existência, validade e exequibilidade perante os respectivos Devedores. 4.5.1 Os Direitos Creditórios do Agronegócio serão adquiridos pela Classe por meio: (i) de contratos de cessão e/ou termos de cessão (“Contratos de Cessão”), contratos de promessa de endosso e/ou termos de endosso (“Contratos de Endosso”) firmados entre a Classe e os respectivos cedentes (“Cedentes”) / endossantes (“Endossantes”), acompanhados de todos os direitos, pri</a:t>
            </a:r>
          </a:p>
          <a:p>
            <a:r>
              <a:t>CNPJ 62696791000193 · Originador e endossante · Condição: A afirmação descreve um mandato amplo; não identifica contrapartes efetivamente presentes no IME.</a:t>
            </a:r>
          </a:p>
          <a:p>
            <a:r>
              <a:t>CNPJ 62696791000193 · Originador e endossante · Versão e prevalência: Leitura específica das cláusulas indicadas; condições e conflitos preservados. Seleção documental atual não comprova vigência jurídica por data isolada.</a:t>
            </a:r>
          </a:p>
          <a:p>
            <a:r>
              <a:t>CNPJ 55563624000109 · Originador e endossante · Regulamento · ID 1192614 · 2026-04-30 · versão 1 · p. 32 · https://fnet.bmfbovespa.com.br/fnet/publico/visualizarDocumento?id=1192614</a:t>
            </a:r>
          </a:p>
          <a:p>
            <a:r>
              <a:t>CNPJ 55563624000109 · Originador e endossante · Excerto da fonte:</a:t>
            </a:r>
          </a:p>
          <a:p>
            <a:r>
              <a:t>(b) Questionamento judicial. Os devedores podem questionar judicialmente (1) a validade  dos direitos creditórios, inclusive em razão da legalidade dos limites de crédito  concedidos pelo originador ou cedente e das taxas de juros praticadas, antes e/ou após  a sua transferência para a Classe Investida; e/ou (2) os termos e condições da  transferência dos direitos creditórios à Classe Investida. Em qualquer caso, é possível  que a Classe Investida não receba parte ou a totalidade dos valores relativos aos  direitos creditórios de sua titularidade objeto de questionamento judicial.</a:t>
            </a:r>
          </a:p>
          <a:p>
            <a:r>
              <a:t> (c) Risco de originação de direitos creditórios. Os direitos creditórios a serem adquiridos  pela Classe Investida são decorrentes de operações de empréstimo específicas  envolvendo as operações do Mercado Pago, conforme detalhadas no regulamento da  Classe Investida. Na hipótese de não originação, originação insuficiente ou  indisponibilidade para aquisição pelo Classe Investida, por qualquer motivo, inclusive  em caso de redução ou descontinuidade das operações regulares dos cedentes, de  direitos creditórios que satisfaçam os critérios de elegibilidade, as condições de cessão  e a política de investimento, composição e diversificação da carteira da Classe Investida  descrita em seu regulamento, a Classe Investida poderá ser incapaz de alocar a  totalidade de seus recursos, o que poderá inviabilizar a realização das chamadas de  capital por seu administrador, afetando negativamente a continuidade da Classe  Investida, a expectativa de seus cotistas, incluindo a Classe, com relação ao seu  horizonte de investimento, a rentabilidade da Classe Investida e, consequentemente, o  valor das Cotas da Classe Investida, impactando assim a Classe e os investimentos dos  Cotistas em Cotas.</a:t>
            </a:r>
          </a:p>
          <a:p>
            <a:r>
              <a:t> (d) Originação por meio fraudulento. A Classe Investida pode adquirir direitos creditórios  que tenham sido originados por meio fraudulento. Nesse caso, a Classe Investida não  poderá exigir o pagamento dos respectivos valores por parte dos devedores lesados,  restando-lhe somente exigir do cedente o pagamento do valor correspondente aos  direitos creditórios fraudulentos, na forma prevista no respectivo contrato de cessão. A  restituição devida pelo cedente poderá demorar a ser realizada ou simplesmente não  ocorrer. Em ambos os casos, o patrimônio da Classe Investida seria impactado  negativamente, igualmente afetando, consequentemente, a Classe.</a:t>
            </a:r>
          </a:p>
          <a:p>
            <a:r>
              <a:t> (e) Questionamento da validade e da eficácia da cessão dos Direitos Creditórios. A validade  e a eficácia da cessão dos direitos creditórios à Classe Investida poderão ser  questionadas, inclusive em decorrência de intervenção, liquidação, Regime de  Administração Especial Temporária (RAET), pedido de recuperação judicial, falência,  plano de recuperação extrajudicial ou outro procedimento de natureza similar  originador ou do cedente. A titularidade direitos creditórios poderá vir a ser  questionada caso (1) haja garantias reais sobre os direitos creditórios, constituídas  antes da sua cessão e sem o conhecimento da Classe Investida; (2) ocorra a penhora ou  outra forma de constrição judicial sobre os direitos creditórios, antes da sua cessão e sem  o conhecimento da Classe Investida; (3) seja verificada, em processo judicial, fraude  contra credores ou fraude à execução praticada pelo respectivo originador ou cedente;</a:t>
            </a:r>
          </a:p>
          <a:p>
            <a:r>
              <a:t> ou (4) a cessão dos direitos creditórios à Classe Investida seja revogada, quando restar  comprovado que foi praticada com a intenção de prejudicar os credores do originador  ou do cedente. Em qualquer hipótese, os direitos creditórios integrantes da carteira da  Classe Investida poderão ser bloqueados ou redirecionados para o pagamento de  outras obrigações do originador ou cedente, afetando negativamente os patrimônios  da Classe Investida e a rentabilidade das suas cotas.</a:t>
            </a:r>
          </a:p>
          <a:p>
            <a:r>
              <a:t>CNPJ 55563624000109 · Originador e endossante · Regulamento · ID 1192614 · 2026-04-30 · versão 1 · p. 28 · https://fnet.bmfbovespa.com.br/fnet/publico/visualizarDocumento?id=1192614</a:t>
            </a:r>
          </a:p>
          <a:p>
            <a:r>
              <a:t>CNPJ 55563624000109 · Originador e endossante · Excerto da fonte:</a:t>
            </a:r>
          </a:p>
          <a:p>
            <a:r>
              <a:t>Classe, na forma da regulamentação aplicável, observado que os prestadores de serviços eventualmente  subcontratados não podem ser, em relação à Classe, o originador, cedente, o GESTOR, consultoria especializada  ou partes a eles relacionadas, tais como definidas nas regras contábeis que tratam desse assunto.</a:t>
            </a:r>
          </a:p>
          <a:p>
            <a:r>
              <a:t>CNPJ 55563624000109 · Originador e endossante · Condição: Documentos atuais selecionados no inventário por categoria/escopo; a data documental isolada não comprova vigência jurídica.</a:t>
            </a:r>
          </a:p>
          <a:p>
            <a:r>
              <a:t>CNPJ 55563624000109 · Originador e endossante · Versão e prevalência: Documentos atuais selecionados no inventário por categoria/escopo; a data documental isolada não comprova vigência jurídica.</a:t>
            </a:r>
          </a:p>
          <a:p>
            <a:r>
              <a:t>CNPJ 55563624000109 · Originador e endossante · Resumo do histórico: {"count": 3, "dates": ["2025-01-31", "2026-01-31", "2026-04-30"], "document_count": 3, "sources": [{"document_id": "1192614", "title": "Regulamento", "reference_date": "2026-04-30", "version": "1", "page": "11", "url": "https://fnet.bmfbovespa.com.br/fnet/publico/visualizarDocumento?id=1192614", "sha256": "f56e63ace0acde41d2f47fb48f1ac7f3f7df5e2d32de092d7c5e075a52516632"}, {"document_id": "1178840", "title": "Demonstrações Financeiras", "reference_date": "2026-01-31", "version": "1", "page": 16, "url": "https://fnet.bmfbovespa.com.br/fnet/publico/visualizarDocumento?id=1178840", "sha256": "c458e98664c5c907ddb5a05a94b120bed4e05295b2bfc420f5ba69af0a229abe"}, {"document_id": "891861", "title": "Demonstrações Financeiras", "reference_date": "2025-01-31", "version": "1", "page": 16, "url": "https://fnet.bmfbovespa.com.br/fnet/publico/visualizarDocumento?id=891861", "sha256": "e9cb9e6ddbe505fe068cfcac33605165a98313489de0d3ce6d4d238263c3f3e7"}], "reference": {"path": "history/55563624000109.json", "criterion_id": "originator", "total_count": 3, "preview_count": 3, "full_text_deferred": true, "sha256": "7835d573fb58a3c19adf5b8ecc2aee2bdbb9a88f7a0c0209b5f262b64c7522e3"}}</a:t>
            </a:r>
          </a:p>
          <a:p>
            <a:r>
              <a:t>CNPJ 62552447000120 · Originador e endossante · Regulamento · ID 1200623 · 21/05/2026 · versão Consolidado21/05/2026 aprovado pelo ato1200625 · p. 12 · AnexoI4.4.1(i) · https://fnet.bmfbovespa.com.br/fnet/publico/visualizarDocumento?id=1200623</a:t>
            </a:r>
          </a:p>
          <a:p>
            <a:r>
              <a:t>CNPJ 62552447000120 · Originador e endossante · Excerto da fonte:</a:t>
            </a:r>
          </a:p>
          <a:p>
            <a:r>
              <a:t>BANCO VR S.A., instituição f inanceira, com sede no município e Estado de São Paulo, na Av. Dos Bandeirantes, n.º 460, Brooklin Paulista, CEP 04553-900, inscrita no CNPJ sob o n.º 78.626.983/0001- 63, ou qualquer outra sociedade do mesmo grupo econômico, na qualidade de endossante (“Endossante”), acompanhados de todos os direitos, privilégios, pref erências, prerrogativas, ações e garantias assegurados aos seus titulares; (ii) da subscrição de títulos de crédito e/ou valores mobiliários, incluindo, mas não se</a:t>
            </a:r>
          </a:p>
          <a:p>
            <a:r>
              <a:t>CNPJ 62552447000120 · Originador e endossante · Regulamento · ID 1200623 · 21/05/2026 · versão Consolidado21/05/2026 aprovado pelo ato1200625 · p. 29 · AnexoI12.14 · https://fnet.bmfbovespa.com.br/fnet/publico/visualizarDocumento?id=1200623</a:t>
            </a:r>
          </a:p>
          <a:p>
            <a:r>
              <a:t>CNPJ 62552447000120 · Originador e endossante · Excerto da fonte:</a:t>
            </a:r>
          </a:p>
          <a:p>
            <a:r>
              <a:t>VR BENEFÍCIOS E SERVIÇOS DE PROCESSAMENTO S.A., sociedade anônima com sede no município e Estado de São Paulo, na Av. dos Bandeirantes, n.º 460, Brooklin Paulista, CEP 04553-900, inscrita no CNPJ sob o n.º 02.535.864/0004-86 (“Agente de Retenção e Cobrança” ou “Originador”), para os serviços de retenção de Direitos Creditórios e de cobrança de Direitos Creditórios Inadimplidos, de acordo com os contratos de prestação de serviços de retenção e cobrança celebrados entre o Agente de Retenção e Cobrança e a Classe (“Contratos de Retenção/Cobrança”). 12.15 O Agente de Retenção e Cobrança poderá, às expensas da Classe,</a:t>
            </a:r>
          </a:p>
          <a:p>
            <a:r>
              <a:t>CNPJ 62552447000120 · Originador e endossante · Versão e prevalência: Leitura específica das cláusulas indicadas; condições e conflitos preservados. Seleção documental atual não comprova vigência jurídica por data isolada.</a:t>
            </a:r>
          </a:p>
          <a:p>
            <a:r>
              <a:t>CNPJ 63953620000165 · Originador e endossante · Anexo ao Regulamento · ID 1222863 · 02/06/2026 · versão AnexoConsignadoPrivado02/06/2026 · p. 5 · 4.3–4.4 · https://fnet.bmfbovespa.com.br/fnet/publico/visualizarDocumento?id=1222863</a:t>
            </a:r>
          </a:p>
          <a:p>
            <a:r>
              <a:t>CNPJ 63953620000165 · Originador e endossante · Excerto da fonte:</a:t>
            </a:r>
          </a:p>
          <a:p>
            <a:r>
              <a:t>4.3 Os Direitos Creditórios serão adquiridos pela Classe por meio: (i) contratos de promessa de endosso e/ou termos de endosso (“Contratos de Endosso”) firmados entre a Classe e a Parati Crédito, Financiamento e Investimento S.A., instituição financeira constituída na forma de uma sociedade por ações, com sede na cidade de Vitória, estado do Espírito Santo, na Avenida Nossa Senhora da Penha, 699, torre A, conjuntos 404 a 407, Santa Lúcia, CEP 29.056-250, inscrita no CNPJ sob nº 03.311.443/0001-91 (“Endossante” ou “Cedente”), acompanhados de todos os direitos, privilégios, preferências, prerrogativas, ações e garantias asse</a:t>
            </a:r>
          </a:p>
          <a:p>
            <a:r>
              <a:t>CNPJ 63953620000165 · Originador e endossante · Anexo ao Regulamento · ID 1222863 · 02/06/2026 · versão AnexoConsignadoPrivado02/06/2026 · p. 19 · 12.6 · https://fnet.bmfbovespa.com.br/fnet/publico/visualizarDocumento?id=1222863</a:t>
            </a:r>
          </a:p>
          <a:p>
            <a:r>
              <a:t>CNPJ 63953620000165 · Originador e endossante · Excerto da fonte:</a:t>
            </a:r>
          </a:p>
          <a:p>
            <a:r>
              <a:t>12.6 A Classe contratou a Tudo Serviços S.A., sociedade anônima, com sede no município de Fortaleza, Estado do Ceará, na Avenida Senador Virgulo Távora, nº 303, Lojas 02, 03, 04, 05, 06 e 19, Meireles, CEP 60.170-265, inscrita no CNPJ sob o nº 27.852.506/0001-85, cujos deveres, sem prejuízo daqueles estabelecidos neste Regulamento, no “Contrato de Serviços de Retenção e Cobrança e Outras Avenças”, celebrado entre o Agente de Retenção/Cobrança e a Classe (“Contrato de Serviços MT”) e no Contrato de Endosso, consistirão no monitoramento e cobrança dos Direitos Creditórios Inadimplidos, observado o disposto neste Anexo I e na</a:t>
            </a:r>
          </a:p>
          <a:p>
            <a:r>
              <a:t>CNPJ 63953620000165 · Originador e endossante · Condição: Nomeação nominal atual da classe; distinta da origem histórica dos ativos recebidos por cisão de outros veículos.</a:t>
            </a:r>
          </a:p>
          <a:p>
            <a:r>
              <a:t>CNPJ 63953620000165 · Originador e endossante · Versão e prevalência: Leitura específica das cláusulas indicadas; condições e conflitos preservados. Seleção documental atual não comprova vigência jurídica por data isolada.</a:t>
            </a:r>
          </a:p>
          <a:p>
            <a:r>
              <a:t>CNPJ 63953620000165 · Originador e endossante · Resumo do histórico: {"count": 8, "dates": ["2026-04-28", "2026-05-08", "2026-05-15"], "document_count": 3, "sources": [{"document_id": "1327859", "title": "Demonstrações Financeiras - Fusão, cisão e incorporação", "reference_date": "2026-05-15", "version": "1", "page": 23, "url": "https://fnet.bmfbovespa.com.br/fnet/publico/visualizarDocumento?id=1327859", "sha256": "dca1c68babb97f887528c3e2e47596a9c30f507b067981a35655b2f2da9c8054"}, {"document_id": "1298691", "title": "Demonstrações Financeiras - Fusão, cisão e incorporação", "reference_date": "2026-05-08", "version": "1", "page": 24, "url": "https://fnet.bmfbovespa.com.br/fnet/publico/visualizarDocumento?id=1298691", "sha256": "58c570d9b8d4d265330d3db3ea81c435b8e44a6dab4002aa37790652a1ee9819"}, {"document_id": "1282180", "title": "Demonstrações Financeiras - Fusão, cisão e incorporação", "reference_date": "2026-04-28", "version": "1", "page": 24, "url": "https://fnet.bmfbovespa.com.br/fnet/publico/visualizarDocumento?id=1282180", "sha256": "afaaa0e6809be4385e5bdb6c911aac582032c5bdbac3d7750234bf9eaf00438a"}], "reference": {"path": "history/63953620000165.json", "criterion_id": "originator", "total_count": 8, "preview_count": 3, "full_text_deferred": true, "sha256": "a7b89077f5e21098c2d601c303faabc3ff6b9729f89d8afecdc60fe1404720c1"}}</a:t>
            </a:r>
          </a:p>
          <a:p>
            <a:r>
              <a:t>CNPJ 54871427000194 · Devedor e consignação · Regulamento · ID 670691 · 2024-04-28 · versão 1 · p. 29 · https://fnet.bmfbovespa.com.br/fnet/publico/visualizarDocumento?id=670691</a:t>
            </a:r>
          </a:p>
          <a:p>
            <a:r>
              <a:t>CNPJ 54871427000194 · Devedor e consignação · Excerto da fonte:</a:t>
            </a:r>
          </a:p>
          <a:p>
            <a:r>
              <a:t>Anexo I ao Regulamento CLASSE ÚNICA DE RESPONSABILIDADE LIMITADA DO CONSIGNADO DELTA RECEIVABLES I FUNDO DE INVESTIMENTO EM DIREITOS CREDITÓRIOS  pelo Endossante e depositados em seu conta de sua titularidade para posterior repasse à  Classe. Neste caso, a Classe poderá sofrer perdas principalmente em relação ao atraso na  regularização da titularidade e pagamento dos Direitos Creditórios.</a:t>
            </a:r>
          </a:p>
          <a:p>
            <a:r>
              <a:t> (v) Risco de pré-pagamento dos Direitos Creditórios. A ocorrência de pré-  pagamentos em relação a um ou mais Direitos Creditórios poderá ocasionar perdas à Classe.</a:t>
            </a:r>
          </a:p>
          <a:p>
            <a:r>
              <a:t> A ocorrência de pré-pagamentos (pagamento em data anterior àquela originalmente pactuada)  de Direitos Creditórios reduz o horizonte original de rendimentos esperados pela Classe de  tais Direitos Creditórios, uma vez que o pré-pagamento poderá, se assim permitido pela  documentação do Direito Creditório ou, conf orme o caso, pela legislação aplicável, ser  realizado pelo valor de emissão do Direito Creditório atualizado até a data do pré-pagamento  pela taxa de juros pactuada entre os Endossantes e os Devedores de tais Direitos Creditórios,  de modo que os juros remuneratórios incidentes desde a data da realização do pré-pagamento  até a data de vencimento do respectivo Direito Creditório deixam de ser devidos à Classe.</a:t>
            </a:r>
          </a:p>
          <a:p>
            <a:r>
              <a:t> (vi) Riscos associados aos Devedores: os Direitos Creditórios a serem cedidos à  Classe serão descontados da remuneração do Devedor, através de desconto em f olha de  pagamento ou de benefício. Nesse sentido, na ocorrência de pré-pagamento, as parcelas  serão pagas antecipadamente e a Classe deverá utilizar tais montantes no pré-pagamento dos  Direitos Creditórios. Nesta hipótese, a Classe poderá não encontrar Direitos Creditórios  disponíveis para serem adquiridos pela Classe, o que poderá afetar a rentabilidade da Classe.</a:t>
            </a:r>
          </a:p>
          <a:p>
            <a:r>
              <a:t> (vii) Risco de Competição: o mercado de empréstimos experimentou grande  expansão no Brasil nos últimos anos. Nesse contexto, a Resolução CMN nº 4.292, alterada  pela Resolução nº 4.762, de 27 de novembro de 2019, dispõe que deve ser garantido às  pessoas naturais devedoras de operações de crédito (tais como as CCB) a possibilidade de  realizarem a portabilidade destas operações para outras instituições financeiras, inclusive nos  casos em que tenham sido objeto de cessão (tais como as realizadas à Classe). Nesse  cenário, é possível que os competidores do Endossante ofereçam condições e taxas mais  vantajosas para os empréstimos pessoais com consignação em f olha de pagamento ou de  benef ícios, o que pode causar a migração de clientes da Endossante para outras instituições  f inanceiras, gerando a liquidação antecipada de parte das CCB existentes e/ou redução no  número de Direitos Creditórios cedidos. Referida competição poderá af etar os resultados da  Classe, impactando negativamente os rendimentos dos Cotistas. Ainda, a portabilidade a um  Devedor pode acarretar no recebimento de valores inf eriores aos esperados pela Classe.</a:t>
            </a:r>
          </a:p>
          <a:p>
            <a:r>
              <a:t> (viii) Insuf iciência dos Critérios de Elegibilidade. Os Critérios de Elegibilidade têm a  f inalidade de selecionar os Direitos Creditórios passíveis de aquisição pela Classe. Não  obstante tais Critérios de Elegibilidade, a solvência dos Direitos Creditórios que compõem a  Carteira depende integralmente, mas não somente, da situação econômico-financeira dos  Devedores. Dessa f orma, a observância pelo GESTOR dos Critérios de Elegibilidade não  constitui garantia de adimplência dos Devedores.</a:t>
            </a:r>
          </a:p>
          <a:p>
            <a:r>
              <a:t> Os Endossantes não necessariamente garantem a solvência dos seus respectivos Devedores.</a:t>
            </a:r>
          </a:p>
          <a:p>
            <a:r>
              <a:t> O Endossante dos Direitos Creditórios não assumirá responsabilidade pelo seu pagamento ou  pela solvência dos respectivos Devedores. A Classe sofrerá o impacto do inadimplemento dos  Direitos Creditórios vencidos e não pagos pelos respectivos Devedores.</a:t>
            </a:r>
          </a:p>
          <a:p>
            <a:r>
              <a:t> (ix) Possibilidade de aquisição de Direitos Creditórios cedidos por Endossante  e/ou devidos por Devedores cujas demonstrações financeiras não sejam auditadas. A Classe,  desde que sejam respeitados os limites de concentração previstos neste Regulamento, poderá  manter a qualquer tempo em sua Carteira, Direitos Creditórios cedidos por Endossante e/ou  devidos por Devedores cujas demonstrações f inanceiras não sejam auditadas por Auditor  Independente registrado na CVM. Nesse sentido, não haverá verificação independente sobre  tais demonstrações f inanceiras que af irme se estas representam adequadamente, em todos  os aspectos relevantes, as respectivas posições patrimoniais e f inanceiras, os resultados de  suas operações, as mutações de seus respectivos patrimônios líquidos tampouco as origens  e aplicações de seus recursos.</a:t>
            </a:r>
          </a:p>
          <a:p>
            <a:r>
              <a:t>CNPJ 54871427000194 · Devedor e consignação · Regulamento · ID 670691 · 2024-04-28 · versão 1 · p. 27 · 14.2 · https://fnet.bmfbovespa.com.br/fnet/publico/visualizarDocumento?id=670691</a:t>
            </a:r>
          </a:p>
          <a:p>
            <a:r>
              <a:t>CNPJ 54871427000194 · Devedor e consignação · Excerto da fonte:</a:t>
            </a:r>
          </a:p>
          <a:p>
            <a:r>
              <a:t>14.2 Todos os custos e despesas ref eridos neste Capítulo, inclusive para salvaguarda de direitos e  prerrogativas da Classe e/ou com a cobrança judicial e/ou extrajudicial de Direitos Creditórios  Inadimplidos, serão de inteira responsabilidade da Classe, não estando o ADMINISTRADOR, o  GESTOR, o Endossante, os Devedores, o CUSTODIANTE e quaisquer de suas respectivas pessoas  controladoras, sociedades por estes direta ou indiretamente controladas, a estes coligadas ou outras  sociedades sob controle comum, em conjunto ou isoladamente, obrigados pelo adiantamento ou  pagamento de valores relacionados aos procedimentos ref eridos neste Capítulo.</a:t>
            </a:r>
          </a:p>
          <a:p>
            <a:r>
              <a:t>CNPJ 54871427000194 · Devedor e consignação · Regulamento · ID 670691 · 2024-04-28 · versão 1 · p. 31 · https://fnet.bmfbovespa.com.br/fnet/publico/visualizarDocumento?id=670691</a:t>
            </a:r>
          </a:p>
          <a:p>
            <a:r>
              <a:t>CNPJ 54871427000194 · Devedor e consignação · Excerto da fonte:</a:t>
            </a:r>
          </a:p>
          <a:p>
            <a:r>
              <a:t>Anexo I ao Regulamento CLASSE ÚNICA DE RESPONSABILIDADE LIMITADA DO CONSIGNADO DELTA RECEIVABLES I FUNDO DE INVESTIMENTO EM DIREITOS CREDITÓRIOS  a resgates de suas Cotas e/ou poderá ser obrigado a se desfazer de tais Ativos Financeiros  de Liquidez em condições menos f avoráveis do que se não houvesse a ref erida situação de  f alta de liquidez.</a:t>
            </a:r>
          </a:p>
          <a:p>
            <a:r>
              <a:t> (iv) Liquidação antecipada do FUNDO ou da Classe. Observado o disposto neste  Regulamento, o FUNDO ou a Classe poderão ser liquidados antecipadamente, caso ocorra  qualquer Evento de Liquidação, ou se assim deliberado pelos Cotistas reunidos em  Assembleia Geral de Cotistas. Por este motivo, os Cotistas poderão ter seu horizonte original  de investimento reduzido e poderão não conseguir reinvestir os recursos recebidos com a  mesma remuneração buscada pela Classe, não sendo devida pela Classe, pelo  ADMINISTRADOR, pelo GESTOR ou pelo CUSTODIANTE qualquer multa ou penalidade, a  qualquer título, em decorrência desse f ato. Adicionalmente, ocorrendo qualquer uma das  hipóteses de liquidação antecipada do FUNDO ou da Classe, poderá não haver recursos  disponíveis em moeda corrente nacional para realizar o pagamento aos Cotistas, que poderão  ser pagos com os Direitos Creditórios e Ativos Financeiros de Liquidez detidos em Carteira, os  quais estão sujeitos aos riscos apontados no item (iii) acima.</a:t>
            </a:r>
          </a:p>
          <a:p>
            <a:r>
              <a:t> (v) Amortização condicionada das Cotas. A única f onte de recursos da Classe  para ef etuar o pagamento de resgate ou amortização das Cotas, conforme o caso, é a  liquidação: (i) dos Direitos Creditórios, pelos respectivos Devedores; e (ii) dos Ativos  Financeiros de Liquidez, pelas respectivas contrapartes. Após o recebimento desses recursos  e, se f or o caso, depois de esgotados todos os meios cabíveis para a cobrança, extrajudicial  ou judicial, dos referidos ativos, a Classe não disporá de quaisquer outras verbas para efetuar  o resgate ou amortização das Cotas, conforme o caso, o que poderá acarretar prejuízo aos  Cotistas.</a:t>
            </a:r>
          </a:p>
          <a:p>
            <a:r>
              <a:t> Ademais, a Classe está exposta a determinados riscos inerentes aos Direitos Creditórios e  Ativos Financeiros de Liquidez e aos mercados em que são negociados, incluindo a eventual  impossibilidade de alienar ativos em caso de necessidade, especialmente os Direitos  Creditórios, devido à inexistência de um mercado secundário ativo e organizado para a  negociação dessa espécie de ativo. Considerando-se a sujeição do resgate das Cotas à  liquidação dos Direitos Creditórios e/ou dos Ativos Financeiros de Liquidez, conforme descrito  acima, tanto o ADMINISTRADOR quanto o GESTOR e o CUSTODIANTE estão  impossibilitados de assegurar que os resgates das Cotas ocorrerão nas datas originalmente  previstas, não sendo devido, nesta hipótese, pela Classe ou qualquer outra pessoa, incluindo  o ADMINISTRADOR, o GESTOR e o CUSTODIANTE, qualquer multa ou penalidade, de  qualquer natureza.</a:t>
            </a:r>
          </a:p>
          <a:p>
            <a:r>
              <a:t> (vi) Ausência de classificação de risco das Cotas e Política de Investimentos  genérica. A ausência de requisitos rígidos relacionados aos Direitos Creditórios passíveis de  aquisição pela Classe poderá dificultar a def inição do perfil de risco da Carteira, af etando a  capacidade de o Cotista avaliar o risco de seu invest imento. As Cotas não possuem  classificação de risco emitida por Agência Classificadora de Risco. Esses f atores podem  dif icultar a avaliação, por parte dos investidores, da qualidade do crédito representado pelas  Cotas e com a capacidade da Classe em honrar com os pagamentos das Cotas.</a:t>
            </a:r>
          </a:p>
          <a:p>
            <a:r>
              <a:t>CNPJ 54871427000194 · Devedor e consignação · Condição: Documentos atuais selecionados no inventário por categoria/escopo; a data documental isolada não comprova vigência jurídica.</a:t>
            </a:r>
          </a:p>
          <a:p>
            <a:r>
              <a:t>CNPJ 54871427000194 · Devedor e consignação · Versão e prevalência: Documentos atuais selecionados no inventário por categoria/escopo; a data documental isolada não comprova vigência jurídica.</a:t>
            </a:r>
          </a:p>
          <a:p>
            <a:r>
              <a:t>CNPJ 54871427000194 · Devedor e consignação · Resumo do histórico: {"count": 2, "dates": ["2024-04-19", "2024-04-28"], "document_count": 2, "sources": [{"document_id": "670691", "title": "Regulamento", "reference_date": "2024-04-28", "version": "1", "page": "38", "url": "https://fnet.bmfbovespa.com.br/fnet/publico/visualizarDocumento?id=670691", "sha256": "bf16dd7f1a62d5cdbf2e2d54fef81783783f7310fbc99c3a8f00459bdf9d037b"}, {"document_id": "670689", "title": "Regulamento", "reference_date": "2024-04-19", "version": "1", "page": 30, "url": "https://fnet.bmfbovespa.com.br/fnet/publico/visualizarDocumento?id=670689", "sha256": "891bc9bc5d87bbc02ec139077a84d2702eb81ea02035fb71d24f5b8366b94a0b"}], "reference": {"path": "history/54871427000194.json", "criterion_id": "debtor", "total_count": 2, "preview_count": 2, "full_text_deferred": true, "sha256": "35d7cd99be50c7287c9fb675cf4f2e736002315295a225a9efa79c8d9186d874"}}</a:t>
            </a:r>
          </a:p>
          <a:p>
            <a:r>
              <a:t>CNPJ 60010416000112 · Devedor e consignação · Regulamento · ID 1051393 · 2025-10-09 · versão 1 · p. 35 · 15.1.4 · https://fnet.bmfbovespa.com.br/fnet/publico/visualizarDocumento?id=1051393</a:t>
            </a:r>
          </a:p>
          <a:p>
            <a:r>
              <a:t>CNPJ 60010416000112 · Devedor e consignação · Excerto da fonte:</a:t>
            </a:r>
          </a:p>
          <a:p>
            <a:r>
              <a:t>15.1.4 Riscos específicos</a:t>
            </a:r>
          </a:p>
          <a:p>
            <a:r>
              <a:t> (i)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 icar inadimplente e,  consequentemente, não haverá repasse à Classe do respectivo Direito Creditório, o que  poderá resultar em perdas f inanceiras à Classe e aos Cotistas.</a:t>
            </a:r>
          </a:p>
          <a:p>
            <a:r>
              <a:t> (ii) Risco do Empregador não efetuar o desconto em folha: o repasse dos recursos oriundos  dos Direitos Creditórios à Classe depende da realização, pelo Empregador, da Escrituração e  do desconto na respectiva f olha de pagamento do Devedor. Na hipótese do Empregador  deixar de realizar a Escrituração ou os descontos na folha de pagamento, não haverá repasse  de recursos à Classe, podendo causar prejuízos à Classe e aos Cotistas.</a:t>
            </a:r>
          </a:p>
          <a:p>
            <a:r>
              <a:t> (iii) Risco de perda do vínculo empregatício com o Empregador: caso o Devedor perca o  vínculo empregatício com o Empregador, não haverá remuneração e f olha de pagamento para  realização dos descontos para pagamento dos Direitos Creditórios. Neste caso, não obstante  a possibilidade do Agente de Retenção/Cobrança realizar a cobrança ativa dos Direitos  Creditórios diretamente do Devedor, a ausência de remuneração poderá deixar o Devedor  inadimplente perante a Classe até que o seu vínculo empregatício seja retomado e seja  ef etuado o procedimento operacional para que a CCB seja aditada e/ou seja realizado o  Processo de Reinicialização. Tais situações poderão resultar em prejuízos à Classe e aos  Cotistas.</a:t>
            </a:r>
          </a:p>
          <a:p>
            <a:r>
              <a:t>CNPJ 60010416000112 · Devedor e consignação · Regulamento · ID 1051393 · 2025-10-09 · versão 1 · p. 36 · https://fnet.bmfbovespa.com.br/fnet/publico/visualizarDocumento?id=1051393</a:t>
            </a:r>
          </a:p>
          <a:p>
            <a:r>
              <a:t>CNPJ 60010416000112 · Devedor e consignação · Excerto da fonte:</a:t>
            </a:r>
          </a:p>
          <a:p>
            <a:r>
              <a:t>Anexo I ao Regulamento CLASSE ÚNICA DO MT I CONSIGNADO PRIVADO I FUNDO DE INVESTIMENTO EM DIREITOS CREDITÓRIOS RESPONSABILIDADE LIMITADA  a qualquer momento, os recursos decorrentes dos Direitos Creditórios.</a:t>
            </a:r>
          </a:p>
          <a:p>
            <a:r>
              <a:t> (iii) Risco de validação das informações para conciliação e reconciliação dos Direitos  Creditórios adquiridos pela Classe: as inf ormações para conciliação dos pagamentos,  sendo considerado como tal, também, o Arquivo Dataprev, listando todos os empregados  cujas f olhas de pagamento serão sujeitas a desconto no mês relevante, nos valores acordados  ao ef etuar a Consignação, e qualquer glosa será enviada pela CEF ao Endossante, que  ef etuará a conciliação e, posteriormente, enviará as inf ormações ao Custodiante. Caso o  Endossante não f orneça essas inf ormações em tempo hábil ou f or verif icada qualquer  inconsistência nas informações recebidas pelo Custodiante, poderá isso impedir ou dar origem  a f alhas no processo de reconciliação dos valores depositados na Conta de Cobrança da  Classe e causando perdas à Classe e ao Cotista.</a:t>
            </a:r>
          </a:p>
          <a:p>
            <a:r>
              <a:t> (iv) Risco operacional dos sistemas: o desconto na f olha de pagamento do Devedor das  parcelas da CCB e a transf erência para o Endossante dos Direitos Creditórios serão  processados por um sistema controlado pela Dataprev, e o Endossante, o Administrador ou o  Gestor não têm controle sobre esse processo. Assim, qualquer f alha ou mudança nesse  sistema poderá atrasar ou reduzir o desconto dos rendimentos dos Devedores ou sua  transf erência para a Classe. Nesse caso, a rentabilidade e a propriedade da Classe poderão  ser adversamente af etadas enquanto o problema do sistema persistir, ou até que todos os  valores sejam devidamente transf eridos.</a:t>
            </a:r>
          </a:p>
          <a:p>
            <a:r>
              <a:t> (v) Risco operacional do Contrato: o desconto na f olha de pagamento das parcelas dos  empréstimos concedidos aos Devedores é permitido pelo Convênio Consignado Privado. As  partes do Convênio Consignado Privado devem seguir certas regras para manter o Convênio  Consignado Privado, e a violação delas poderá levar à sua rescisão. Além disso, mudanças  legais podem af etar e/ou tornar inviável a manutenção do Convênio Consignado Privado.</a:t>
            </a:r>
          </a:p>
          <a:p>
            <a:r>
              <a:t> No caso de rescisão do Convênio Consignado Privado, a estrutura de cobrança dos Direitos  Creditórios (desconto na f olha de pagamento) poderá ser comprometida, dando origem à  necessidade de adoção de uma nova estrutura, que poderá não ser tão eficaz quanto ela ou  mesmo revelar, na prática, ser inadequada ou ter altos custos operacionais. Esses eventos  podem levar a perdas patrimoniais para a Classe, na medida em que este deixará de receber,  def initiva ou temporariamente, recursos oriundos dos Direitos Creditórios, no todo ou em parte.</a:t>
            </a:r>
          </a:p>
          <a:p>
            <a:r>
              <a:t> Adicionalmente, de acordo com o Contrato de Endosso, a manutenção do Convênio  Consignado Privado é uma condição para a aquisição de novos Direitos Creditórios pela  Classe e, portanto, no caso de rescisão do Convênio Consignado Privado, a Classe poderá  ser impedido de adquirir novos Direitos Creditórios.</a:t>
            </a:r>
          </a:p>
          <a:p>
            <a:r>
              <a:t>CNPJ 60010416000112 · Devedor e consignação · Regulamento · ID 1051393 · 2025-10-09 · versão 1 · p. 31 · 13.2 · https://fnet.bmfbovespa.com.br/fnet/publico/visualizarDocumento?id=1051393</a:t>
            </a:r>
          </a:p>
          <a:p>
            <a:r>
              <a:t>CNPJ 60010416000112 · Devedor e consignação · Excerto da fonte:</a:t>
            </a:r>
          </a:p>
          <a:p>
            <a:r>
              <a:t>13.2 Todos os custos e despesas ref eridos neste Capítulo, inclusive para salvaguarda de direitos e  prerrogativas da Classe e/ou com a cobrança judicial e/ou extrajudicial de Direitos Creditórios Inadimplidos  ou Direitos Creditórios a Perf ormar, serão de inteira responsabilidade da Classe, não estando o  Administrador, o Gestor, o Endossante, os Devedores, o Custodiante e quaisquer de suas respectivas  pessoas controladoras, sociedades por estes direta ou indiretamente controladas, a estes coligadas ou  outras sociedades sob controle comum, em conjunto ou isoladamente, obrigados pelo adiantamento ou  pagamento de valores relacionados aos procedimentos ref eridos neste Capítulo.</a:t>
            </a:r>
          </a:p>
          <a:p>
            <a:r>
              <a:t>CNPJ 60010416000112 · Devedor e consignação · Condição: Documentos atuais selecionados no inventário por categoria/escopo; a data documental isolada não comprova vigência jurídica.</a:t>
            </a:r>
          </a:p>
          <a:p>
            <a:r>
              <a:t>CNPJ 60010416000112 · Devedor e consignação · Versão e prevalência: Documentos atuais selecionados no inventário por categoria/escopo; a data documental isolada não comprova vigência jurídica.</a:t>
            </a:r>
          </a:p>
          <a:p>
            <a:r>
              <a:t>CNPJ 60010416000112 · Devedor e consignação · Resumo do histórico: {"count": 2, "dates": ["2025-03-20", "2025-10-09"], "document_count": 2, "sources": [{"document_id": "1051393", "title": "Regulamento", "reference_date": "2025-10-09", "version": "1", "page": "9-10, 42", "url": "https://fnet.bmfbovespa.com.br/fnet/publico/visualizarDocumento?id=1051393", "sha256": "8469d613078ffd5a6c1d217885d8a397a16342c0b937ae4aa24b106505f233ae"}, {"document_id": "993786", "title": "Regulamento", "reference_date": "2025-03-20", "version": "1", "page": 35, "clause": "15.1.4", "url": "https://fnet.bmfbovespa.com.br/fnet/publico/visualizarDocumento?id=993786", "sha256": "fd0fdd369a195510d81f81f505195a0b09e5f43522a990afa7d58c4f872921c8"}], "reference": {"path": "history/60010416000112.json", "criterion_id": "debtor", "total_count": 2, "preview_count": 2, "full_text_deferred": true, "sha256": "8e2bd813f4c51cf01f6bfaad164bafe69d2bbb192f753eac92da3a01c2e63046"}}</a:t>
            </a:r>
          </a:p>
          <a:p>
            <a:r>
              <a:t>CNPJ 62696791000193 · Devedor e consignação · Regulamento · ID 1143317 · 2026-03-20 · versão 1 · p. 47 · 10.2 · https://fnet.bmfbovespa.com.br/fnet/publico/visualizarDocumento?id=1143317</a:t>
            </a:r>
          </a:p>
          <a:p>
            <a:r>
              <a:t>CNPJ 62696791000193 · Devedor e consignação · Excerto da fonte:</a:t>
            </a:r>
          </a:p>
          <a:p>
            <a:r>
              <a:t>10.2. As mudanças climáticas podem impactar severamente os ciclos produtivos de commodities  agrícolas, ocasionando, quebras de saf ra, volatilidade de preços, choques de of erta,  deterioração da qualidade dos produtos por elas atingidos, bem como interrupção no  abastecimento destes. Ref eridas mudanças podem af etar adversamente a capacidade  produtiva e de entrega dos produtos agrícolas pelos devedores, cenário este que impactará  negativamente a capacidade de pagamento dos Ativos-Alvo integrantes da carteira da Classe  pelos devedores e, conforme o caso, pelas pessoas devedoras dos bens e direitos onerados  em f avor da Classe.</a:t>
            </a:r>
          </a:p>
          <a:p>
            <a:r>
              <a:t>CNPJ 62696791000193 · Devedor e consignação · Condição: Documentos atuais selecionados no inventário por categoria/escopo; a data documental isolada não comprova vigência jurídica.</a:t>
            </a:r>
          </a:p>
          <a:p>
            <a:r>
              <a:t>CNPJ 62696791000193 · Devedor e consignação · Versão e prevalência: Documentos atuais selecionados no inventário por categoria/escopo; a data documental isolada não comprova vigência jurídica.</a:t>
            </a:r>
          </a:p>
          <a:p>
            <a:r>
              <a:t>CNPJ 55563624000109 · Devedor e consignação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Devedor e consignação · Resumo do histórico: {"count": 1, "dates": ["2026-04-30"], "document_count": 1, "sources": [{"document_id": "1192614", "title": "Regulamento", "reference_date": "2026-04-30", "version": "1", "page": "11-12", "url": "https://fnet.bmfbovespa.com.br/fnet/publico/visualizarDocumento?id=1192614", "sha256": "f56e63ace0acde41d2f47fb48f1ac7f3f7df5e2d32de092d7c5e075a52516632"}], "reference": {"path": "history/55563624000109.json", "criterion_id": "debtor", "total_count": 1, "preview_count": 1, "full_text_deferred": true, "sha256": "7835d573fb58a3c19adf5b8ecc2aee2bdbb9a88f7a0c0209b5f262b64c7522e3"}}</a:t>
            </a:r>
          </a:p>
          <a:p>
            <a:r>
              <a:t>CNPJ 62552447000120 · Devedor e consignação · Regulamento · ID 1200623 · 2026-05-21 · versão 1 · p. 35 · https://fnet.bmfbovespa.com.br/fnet/publico/visualizarDocumento?id=1200623</a:t>
            </a:r>
          </a:p>
          <a:p>
            <a:r>
              <a:t>CNPJ 62552447000120 · Devedor e consignação · Excerto da fonte:</a:t>
            </a:r>
          </a:p>
          <a:p>
            <a:r>
              <a:t>ativos desses emissores, causando perdas à Classe e ao Cotista. Além disso, a f alta de capacidade ou disposição de pagar por qualquer dos emissores dos Ativos Financeiros de Liquidez ou das contrapartes nas transações que compõem a Carteira causará perdas à Classe, e o que também poderá incorrer em custos para f ins de recuperação de seus recebíveis.</a:t>
            </a:r>
          </a:p>
          <a:p>
            <a:r>
              <a:t>(v) Riscos associados aos Devedores: no caso de Devedores no âmbito das operações de consignado privado, a sua capacidade de pagamento poderá ser af etada se, por exemplo, o Devedor tiver o seu contrato de emprego rescindido ou em virtude de decisão judicial, o Devedor for obrigado a pagar alimentos, que têm prioridade sobre o empréstimo para f ins de desconto na f 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 etar a rentabilidade da Classe. Já no caso de Devedores no âmbito das operações de Saque-aniversário, como os Direitos Creditórios a serem endossados à Classe serão descontados pelo FGTS da remuneração do Devedor, na ocorrência de qualquer evento que, nos termos da legislação aplicável, determine o pagamento antecipado do Saque-aniversário ao Devedor, a exemplo do falecimento do Devedor, dentre outros, as parcelas do Saque- aniversário serão pagas antecipadamente e a Classe deverá utilizar tais montantes no pré-pagamento dos Direitos Creditórios. Nesta hipótese, a Classe poderá não encontrar Direitos Creditórios disponíveis para serem adquiridos pela Classe, o que poderá af etar a rentabilidade da Classe.</a:t>
            </a:r>
          </a:p>
          <a:p>
            <a:r>
              <a:t>Risco de liquidez</a:t>
            </a:r>
          </a:p>
          <a:p>
            <a:r>
              <a:t>(i) Risco de liquidez: consiste no risco de redução ou inexistência de demanda pelos ativos que compõem a Classe nos respectivos mercados em que são negociados, devido às condições específicas desses ativos ou aos mercados em que são negociados. Devido a esses riscos, o Gestor poderá encontrar dificuldades em liquidar posições ou negociar esses ativos pelo preço e prazo desejados, de acordo com a estratégia de gestão adotada pela Classe, que permanecerá exposto, durante o período de baixa liquidez, aos riscos associados a esses ativos e posições assumidas em mercados de derivativos, se houver, que poderão até exigir que o Gestor aceite descontos em seus preços para realizar negociações no mercado. Esses f atores poderão prejudicar o pagamento de Amortizações ao Cotista, nos valores e dentro dos termos aqui estabelecidos.</a:t>
            </a:r>
          </a:p>
          <a:p>
            <a:r>
              <a:t>(ii) Riscos do mercado secundário: A Classe é constituída sob a f orma de condomínio fechado, de modo que as Cotas somente serão resgatadas em virtude da liquidação da Classe. Uma vez que o Prazo de Duração da Classe é indeterminado, o Cotista titular das Cotas não terá liquidez em seu investimento na Classe, exceto</a:t>
            </a:r>
          </a:p>
          <a:p>
            <a:r>
              <a:t>(a) por ocasião das Amortizações e dos resgates, nos termos deste Regulamento; (b) por meio da alienação de suas Cotas no mercado secundário; ou (c) na liquidação antecipada do FUNDO ou da Classe.</a:t>
            </a:r>
          </a:p>
          <a:p>
            <a:r>
              <a:t>Além disso, atualmente, o mercado secundário de cotas de fundos de investimento apresenta baixa liquidez, o que pode dificultar a venda das Cotas ou ocasionar a obtenção de um preço de venda que cause perda de patrimônio ao Cotista. Não há qualquer garantia do Administrador, do Gestor, da consultora ou do Custodiante em relação à possibilidade de venda das Cotas no mercado secundário ou ao preço obtido por elas, ou mesmo garantia de saída ao Cotista.</a:t>
            </a:r>
          </a:p>
          <a:p>
            <a:r>
              <a:t>Riscos específicos</a:t>
            </a:r>
          </a:p>
          <a:p>
            <a:r>
              <a:t>(i)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ficar inadimplente e, consequentemente, não haverá repasse à Classe do respectivo Direito Creditório, o que poderá resultar em perdas f inanceiras à Classe e aos Cotistas. Para os f ins deste Regulamento, “Empregador” signif ica a empresa com qual o Devedor mantém vínculo empregatício registrado junto à CTPS.</a:t>
            </a:r>
          </a:p>
          <a:p>
            <a:r>
              <a:t>(ii) Risco do Empregador não efetuar o desconto em folha: o repasse dos recursos oriundos dos Direitos Creditórios à Classe depende da realização, pelo Empregador, da escrituração da Consignação a ser</a:t>
            </a:r>
          </a:p>
          <a:p>
            <a:r>
              <a:t>CNPJ 62552447000120 · Devedor e consignação · Regulamento · ID 1200623 · 2026-05-21 · versão 1 · p. 36 · https://fnet.bmfbovespa.com.br/fnet/publico/visualizarDocumento?id=1200623</a:t>
            </a:r>
          </a:p>
          <a:p>
            <a:r>
              <a:t>CNPJ 62552447000120 · Devedor e consignação · Excerto da fonte:</a:t>
            </a:r>
          </a:p>
          <a:p>
            <a:r>
              <a:t>realizada pelo empregador, junto ao eSocial, após recebimento de notificação comunicando-o da contratação, pelo Devedor, do empréstimo a ser pago por Consignação (“Escrituração”), e do desconto na respectiva folha de pagamento do Devedor. Na hipótese do Empregador deixar de realizar a Escrituração ou os descontos na f olha de pagamento, não haverá repasse de recursos à Classe, podendo causar prejuízos à Classe e aos Cotistas.</a:t>
            </a:r>
          </a:p>
          <a:p>
            <a:r>
              <a:t>(iii) Risco de perda do vínculo empregatício com o Empregador: caso o Devedor perca o vínculo empregatício com o Empregador, não haverá remuneração e f olha de pagamento para realização dos descontos para pagamento dos Direitos Creditórios. Neste caso, não obstante a possibilidade do Agente de Retenção e Cobrança realizar a cobrança ativa dos Direitos Creditórios diretamente do Devedor, a ausência de remuneração poderá deixar o Devedor inadimplente perante a Classe até que o seu vínculo empregatício seja retomado e seja efetuado o procedimento operacional para que a CCB seja aditada e/ou seja realizado o Processo de Reinicialização. Tais situações poderão resultar em prejuízos à Classe e aos Cotistas.</a:t>
            </a:r>
          </a:p>
          <a:p>
            <a:r>
              <a:t>(iv) Risco relativo ao Agente de Retenção e Cobrança: A solvência do Agente de Retenção e Cobrança quanto às suas obrigações financeiras poderá impactar o cumprimento de suas obrigações perante a Classe e, consequentemente, os rendimentos da Classe poderão ser adversamente af etados.</a:t>
            </a:r>
          </a:p>
          <a:p>
            <a:r>
              <a:t>Riscos operacionais</a:t>
            </a:r>
          </a:p>
          <a:p>
            <a:r>
              <a:t>(i) Risco de irregularidade dos Documentos Comprobatórios e/ou Documentos Suporte: o terceiro contratado pelo Gestor, que atuará sob responsabilidade do Gestor, deverá realizar a verif icação da regularidade dos Documentos Comprobatórios. A Carteira poderá conter Direitos Creditórios com documentação irregular, o que poderá impedir que a Classe exerça plenamente as prerrogativas derivadas da titularidade dos Direitos Creditórios.</a:t>
            </a:r>
          </a:p>
          <a:p>
            <a:r>
              <a:t>(ii) Risco operacional da Dataprev e da CEF: o empréstimo contraído pelos Devedores é pago por meio de desconto na f olha de pagamento f eito pela Dataprev e pela CEF, conf orme aplicável. É possível que os rendimentos dos Devedores sejam atrasados ou não pagos devido a questões operacionais envolvendo a Dataprev e/ou a CEF. Nesse caso, a Carteira poderá sofrer, já que não receberá automaticamente, e também poderá ter dificuldades para receber, a qualquer momento, os recursos decorrentes dos Direitos Creditórios.</a:t>
            </a:r>
          </a:p>
          <a:p>
            <a:r>
              <a:t>(iii) Risco operacional do FGTS: o empréstimo contraído pelos Devedores é pago por meio de desconto dos Saques-aniversário feitos pelo FGTS. É possível que os rendimentos dos Devedores sejam atrasados ou não pagos devido a questões operacionais envolvendo a CEF, incluindo, sem se limitar, a erros e atrasos operacionais envolvendo a CEF. Nesse caso, a Carteira poderá sofrer, já que não receberá automaticamente, e também poderá ter dif iculdades para receber, a qualquer momento, os recursos decorrentes dos Direitos Creditórios.</a:t>
            </a:r>
          </a:p>
          <a:p>
            <a:r>
              <a:t>(iv) Risco de validação das informações para conciliação e reconciliação dos Direitos Creditórios adquiridos pela Classe: as inf ormações para conciliação dos pagamentos, sendo considerado como tal, também, o Arquivo Dataprev e o Arquivo de Liquidação Saque-aniversário, listando todos os empregados cujas f olhas de pagamento ou Saques Aniversário serão sujeitos a desconto no mês, nos valores acordados ao ef etuar a Consignação, e qualquer glosa será enviada pela CEF ao Endossante, que efetuará a conciliação e, posteriormente, enviará as informações ao Custodiante. Caso o Endossante não forneça essas informações em tempo hábil ou for verificada qualquer inconsistência nas informações recebidas pelo Custodiante, poderá isso impedir ou dar origem a falhas no processo de reconciliação dos valores depositados na Conta da Classe e causando perdas à Classe e ao Cotista.</a:t>
            </a:r>
          </a:p>
          <a:p>
            <a:r>
              <a:t>(v) Risco operacional dos sistemas: o desconto na f olha de pagamento e/ou nos Saques Aniversário das parcelas da CCB e a transf erência para o Endossante dos Direitos Creditórios serão processados por meio da Plataforma Dataprev, e o Endossante, o Administrador ou o Gestor não têm controle sobre esse processo.</a:t>
            </a:r>
          </a:p>
          <a:p>
            <a:r>
              <a:t>Assim, qualquer falha ou mudança nesse sistema poderá atrasar ou reduzir o desconto dos rendimentos dos Devedores ou sua transferência para a Classe. Nesse caso, a rentabilidade e a propriedade da Classe poderão ser adversamente af etadas enquanto o problema do sistema persistir, ou até que todos os valores sejam devidamente transf eridos.</a:t>
            </a:r>
          </a:p>
          <a:p>
            <a:r>
              <a:t>(vi) Risco operacional: em linha com as Cláusulas 4.3.1 e 4.3.2 do Anexo I deste Regulamento, o</a:t>
            </a:r>
          </a:p>
          <a:p>
            <a:r>
              <a:t>CNPJ 62552447000120 · Devedor e consignação · Regulamento · ID 1200623 · 2026-05-21 · versão 1 · p. 5 · https://fnet.bmfbovespa.com.br/fnet/publico/visualizarDocumento?id=1200623</a:t>
            </a:r>
          </a:p>
          <a:p>
            <a:r>
              <a:t>CNPJ 62552447000120 · Devedor e consignação · Excerto da fonte:</a:t>
            </a:r>
          </a:p>
          <a:p>
            <a:r>
              <a:t>O objetivo da Classe é proporcionar aos seus Cotistas a valorização de  suas Cotas por meio da aplicação de seu Patrimônio Líquido na aquisição  de:</a:t>
            </a:r>
          </a:p>
          <a:p>
            <a:r>
              <a:t> (i) “Direitos Creditórios”, assim entendidos como, em conjunto:</a:t>
            </a:r>
          </a:p>
          <a:p>
            <a:r>
              <a:t> (a) “Direitos Creditórios Consignado Privado”, na forma de  cédulas de crédito bancário, regidas pela Lei n.º 10.931,  de 2 de agosto de 2004, conforme alterada (“CCBs”),  emitidas eletronicamente por Devedores, em f avor do  Endossante, representando um empréstimo pessoal  consignado, de forma que o pagamento ocorra mediante  desconto de cada prestação vincenda da CCB na f olha  de pagamentos do Devedor (“Consignação”);</a:t>
            </a:r>
          </a:p>
          <a:p>
            <a:r>
              <a:t> (b) “Direitos Creditórios FGTS”, na f orma de CCBs  emitidas eletronicamente por Devedores, em f avor do  Objetivo Endossante, representando um empréstimo pessoal com  garantia de cessão f iduciária dos valores a que f azem jus  os Devedores ref erentes ao saque anual permitido aos  benef iciários do Fundo de Garantia do Tempo de Serviço  (“FGTS”) em seu mês de aniversário (“Saque-  aniversário”), regulado pela Lei n.º 8.036, de 11 de maio  de 1990, conforme alterada (“Lei 8.036”), nos termos dos  arts. 20, inciso XX, 20-A, inciso II, e 20-D, § 3º, da Lei</a:t>
            </a:r>
          </a:p>
          <a:p>
            <a:r>
              <a:t> 8.036, do art. 66-B da Lei n.º 4.728, de 14 de julho de  1965, e da Resolução CC/FGTS n.º 958, de 24 de abril  de 2020, conforme alterada (“Resolução FGTS 958”), de  f orma que parte do Saque-aniversário é utilizada para  liquidar as parcelas devidas da CCB;</a:t>
            </a:r>
          </a:p>
          <a:p>
            <a:r>
              <a:t> (c) “Direitos Creditórios TVM”, na f orma de direitos, títulos  e/ou valores mobiliários representativos de créditos  originados no âmbito de operações de sociedades</a:t>
            </a:r>
          </a:p>
          <a:p>
            <a:r>
              <a:t>CNPJ 62552447000120 · Devedor e consignação · Condição: Documentos atuais selecionados no inventário por categoria/escopo; a data documental isolada não comprova vigência jurídica.</a:t>
            </a:r>
          </a:p>
          <a:p>
            <a:r>
              <a:t>CNPJ 62552447000120 · Devedor e consignação · Versão e prevalência: Documentos atuais selecionados no inventário por categoria/escopo; a data documental isolada não comprova vigência jurídica.</a:t>
            </a:r>
          </a:p>
          <a:p>
            <a:r>
              <a:t>CNPJ 63953620000165 · Devedor e consignação · Anexo ao Regulamento · ID 1222863 · 2026-06-02 · versão 1 · p. 1 · 1.1 · https://fnet.bmfbovespa.com.br/fnet/publico/visualizarDocumento?id=1222863</a:t>
            </a:r>
          </a:p>
          <a:p>
            <a:r>
              <a:t>CNPJ 63953620000165 · Devedor e consignação · Excerto da fonte:</a:t>
            </a:r>
          </a:p>
          <a:p>
            <a:r>
              <a:t>1.1 As principais características da Classe Consignado Privado (para fins deste Anexo, “Classe”) estão descritas  abaixo:</a:t>
            </a:r>
          </a:p>
          <a:p>
            <a:r>
              <a:t> Tipo de Condomínio Fechado.</a:t>
            </a:r>
          </a:p>
          <a:p>
            <a:r>
              <a:t> Indeterminado, exceto se de outra forma vier a ser deliberado pelos Cotistas  Prazo de Duração  reunidos em Assembleia Especial de Cotistas. (“Prazo de Duração”)  Tipo “Financeiro”.</a:t>
            </a:r>
          </a:p>
          <a:p>
            <a:r>
              <a:t> Classificação ANBIMA  Foco de atuação “Créditos Consignados”.</a:t>
            </a:r>
          </a:p>
          <a:p>
            <a:r>
              <a:t> O objetivo da classe é proporcionar aos seus Cotistas a valorização de suas Cotas  por meio da aplicação de seu Patrimônio Líquido (conforme definido abaixo) na  aquisição de: (i) “Direitos Creditórios Crédito Consignado”, representados por  cédula de crédito bancário regida pela Lei nº 10.931, emitida eletronicamente por  um devedor em favor do endossante (“CCB”) e, consequentemente, os recebíveis  decorrente de cada uma das parcelas vincendas, representando um empréstimo  consignado concedido pelo endossante ao devedor, e cujo pagamento ordinário  é feito por desconto de cada prestação vincenda de uma CCB na folha de  pagamentos do devedor (“Consignação”), efetuada pela Caixa Econômica  Federal, de acordo com a legislação aplicável e em conformidade com os  procedimentos estabelecidos no convênio celebrado entre o Endossante e a  Empresa de Tecnologia e Informações da Previdência – DATAPREV e paga na  Conta Vinculada do Endossante (“Convênio Consignado Privado”); e/ou (ii)  “Direitos Creditórios TVM”, representados por direitos, títulos e/ou valores  mobiliários representativos de créditos originados no âmbito de operações de  sociedades integrantes do conglomerado econômico de instituições financeiras  classificadas como S1 pelo BACEN, desde que não representem títulos de  emissão ou coobrigação de instituições financeiras, bem como cotas de fundos  de investimento que invistam preponderantemente nestes direitos, títulos e/ou  Objetivo  valores mobiliários (Direitos Creditórios TVM quando referidos em conjunto  com os Direitos Creditórios Consignado Privado, “Direitos Creditórios”)  observados todos os limites de composição e diversificação da carteira da Classe  (“Carteira”), estabelecidos neste Regulamento e na regulamentação aplicável.</a:t>
            </a:r>
          </a:p>
          <a:p>
            <a:r>
              <a:t> Subsidiariamente, a parcela do Patrimônio Líquido que não esteja alocada em  Direitos Creditórios poderá estar alocado em: (1) certificados de depósito  bancário (CDB) ou recibos de depósito bancário (RDB) com prazo máximo de  vencimento equivalente ao prazo remanescente do Período de Investimento, com  liquidez diária, emitidos por Parati Crédito, Financiamento e Investimento S.A.</a:t>
            </a:r>
          </a:p>
          <a:p>
            <a:r>
              <a:t> e/ou pelo Endossante (“Ativos de Liquidez MT”); e/ou (2) (i) moeda corrente  nacional; (ii) títulos do Tesouro SELIC, anteriormente denominado letra financeira  do Tesouro Nacional (LFT); (iii) certificados de depósito bancário (CDB) ou recibos  de depósito bancário (RDB) com prazo máximo de vencimento equivalente ao  prazo remanescente do Período de Investimento, com liquidez diária, emitidos  por (a) Itaú Unibanco S.A.; (b) Banco Bradesco S.A.; (c) Caixa Econômica Federal;</a:t>
            </a:r>
          </a:p>
          <a:p>
            <a:r>
              <a:t> (d) Banco do Brasil S.A.; (e) Banco Santander (Brasil) S.A.; (f) Banco BTG Pactual  S.A.; (g) Banco Sistema S.A. (“Instituições Autorizadas”); (iv) operações  compromissadas, desde que lastreadas nos títulos mencionados nas alíneas (i) a</a:t>
            </a:r>
          </a:p>
          <a:p>
            <a:r>
              <a:t> (iii) acima, emitidas por Instituições Autorizadas, com liquidez diária e vencimento</a:t>
            </a:r>
          </a:p>
          <a:p>
            <a:r>
              <a:t>CNPJ 63953620000165 · Devedor e consignação · Anexo ao Regulamento · ID 1222863 · 2026-06-02 · versão 1 · p. 19 · 12.6 · https://fnet.bmfbovespa.com.br/fnet/publico/visualizarDocumento?id=1222863</a:t>
            </a:r>
          </a:p>
          <a:p>
            <a:r>
              <a:t>CNPJ 63953620000165 · Devedor e consignação · Excerto da fonte:</a:t>
            </a:r>
          </a:p>
          <a:p>
            <a:r>
              <a:t>12.6 A Classe contratou a Tudo Serviços S.A., sociedade anônima, com sede no município de Fortaleza, Estado do Ceará,  na Avenida Senador Virgulo Távora, nº 303, Lojas 02, 03, 04, 05, 06 e 19, Meireles, CEP 60.170-265, inscrita no CNPJ  sob o nº 27.852.506/0001-85, cujos deveres, sem prejuízo daqueles estabelecidos neste Regulamento, no  “Contrato de Serviços de Retenção e Cobrança e Outras Avenças”, celebrado entre o Agente de  Retenção/Cobrança e a Classe (“Contrato de Serviços MT”) e no Contrato de Endosso, consistirão no  monitoramento e cobrança dos Direitos Creditórios Inadimplidos, observado o disposto neste Anexo I e na  regulamentação aplicável (“Agente de Retenção/Cobrança”):</a:t>
            </a:r>
          </a:p>
          <a:p>
            <a:r>
              <a:t> (i) caso aplicável, atuar na retenção (defesa) de operações de empréstimo consignado cujos Direitos  Creditórios sejam de titularidade da Classe, em caso de tentativa de transferência de tais operações de  empréstimo consignado por instituições proponentes, nos termos da Resolução CMN nº 5.057, em razão de  ofertas de portabilidade feitas por tais instituições proponentes, conforme informado pelo Endossante ou pelo  Custodiante ao Agente de Retenção/Cobrança, diariamente, de acordo com o Contrato de Endosso; sendo  que tal serviço deverá incluir, entre outras atividades auxiliares a ele relacionadas, a avaliação das ofertas de  portabilidade feitas pelas instituições proponentes, buscando, se for o caso, esclarecer as vantagens de não  recorrer à portabilidade, retendo a respectiva operação de empréstimo consignado em seus termos atuais;</a:t>
            </a:r>
          </a:p>
          <a:p>
            <a:r>
              <a:t> (ii) mediante inadimplemento de um Direito Creditório devido à indisponibilidade da margem de crédito do  Devedor, auxiliar o Endossante com o Processo de Reinicialização (conforme detalhado no Contrato de  Endosso) em relação ao respectivo Direito Creditório;</a:t>
            </a:r>
          </a:p>
          <a:p>
            <a:r>
              <a:t> (iii) manter e operar um serviço de atendimento ao consumidor - SAC e uma ouvidoria em conformidade  com os regulamentos aplicáveis, monitorar e resolver reclamações e solicitações de Devedores com  relação às operações de empréstimo consignado que dão origem aos Direitos Creditórios, em  conformidade com o Acordo de Parceria;</a:t>
            </a:r>
          </a:p>
          <a:p>
            <a:r>
              <a:t> (iv) realizar a cobrança dos Direitos Creditórios Inadimplidos;</a:t>
            </a:r>
          </a:p>
          <a:p>
            <a:r>
              <a:t> (v) auxiliar o Endossante na correção de qualquer irregularidade relevante identificada com relação à  originação dos Direitos Creditórios;</a:t>
            </a:r>
          </a:p>
          <a:p>
            <a:r>
              <a:t> (vi) realizar a renegociação junto aos Devedores de Direitos Creditórios Inadimplidos e, caso aplicável, celebrar  aditamento à CCB para refletir os novos termos, decorrentes da renegociação  CAPÍTULO 13 – REMUNERAÇÃO DOS PRESTADORES DE SERVIÇOS  0,05% (cinco centésimos por cento) ao ano, apropriada diariamente na base de 252  (duzentos e cinquenta e dois) Dias Úteis, e paga mensalmente até o 5º (quinto) Dia  Útil do mês subsequente ao mês que se refere, incidente sobre o Patrimônio Líquido  da Classe alocado em Direitos Creditórios Consignado Privado e/ou Ativos de  Liquidez MT, observada remuneração mínima mensal de R$ 2.500,00 (dois mil e  quinhentos reais), a ser corrigida anualmente, em janeiro de cada ano, pela variação  Taxa de Administração  positiva do Índice Geral de Preços – Mercado, divulgado pela Fundação Getúlio  Vargas (“Taxa de Administração” e “IGP-M”, respectivamente).</a:t>
            </a:r>
          </a:p>
          <a:p>
            <a:r>
              <a:t> Na hipótese de extinção do IGP-M, não divulgação ou impossibilidade de sua  utilização, será utilizado o Índice Geral de Preços – Disponibilidade Interna,  divulgado pela Fundação Getúlio Vargas, ou, na falta de ambos, pela variação do IPC  – Índice de Preços ao Consumidor, divulgado pela Fundação Instituto de Pesquisas</a:t>
            </a:r>
          </a:p>
          <a:p>
            <a:r>
              <a:t>CNPJ 63953620000165 · Devedor e consignação · Anexo ao Regulamento · ID 1222863 · 2026-06-02 · versão 1 · p. 2 · https://fnet.bmfbovespa.com.br/fnet/publico/visualizarDocumento?id=1222863</a:t>
            </a:r>
          </a:p>
          <a:p>
            <a:r>
              <a:t>CNPJ 63953620000165 · Devedor e consignação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Devedor e consignação · Condição: Documentos atuais selecionados no inventário por categoria/escopo; a data documental isolada não comprova vigência jurídica.</a:t>
            </a:r>
          </a:p>
          <a:p>
            <a:r>
              <a:t>CNPJ 63953620000165 · Devedor e consignação · Versão e prevalência: Documentos atuais selecionados no inventário por categoria/escopo; a data documental isolada não comprova vigência jurídica.</a:t>
            </a:r>
          </a:p>
          <a:p>
            <a:r>
              <a:t>CNPJ 63953620000165 · Devedor e consignação · Resumo do histórico: {"count": 8, "dates": ["2026-04-28", "2026-05-08", "2026-05-15"], "document_count": 3, "sources": [{"document_id": "1327859", "title": "Demonstrações Financeiras - Fusão, cisão e incorporação", "reference_date": "2026-05-15", "version": "1", "page": 22, "url": "https://fnet.bmfbovespa.com.br/fnet/publico/visualizarDocumento?id=1327859", "sha256": "dca1c68babb97f887528c3e2e47596a9c30f507b067981a35655b2f2da9c8054"}, {"document_id": "1298691", "title": "Demonstrações Financeiras - Fusão, cisão e incorporação", "reference_date": "2026-05-08", "version": "1", "page": 22, "url": "https://fnet.bmfbovespa.com.br/fnet/publico/visualizarDocumento?id=1298691", "sha256": "58c570d9b8d4d265330d3db3ea81c435b8e44a6dab4002aa37790652a1ee9819"}, {"document_id": "1282180", "title": "Demonstrações Financeiras - Fusão, cisão e incorporação", "reference_date": "2026-04-28", "version": "1", "page": 22, "url": "https://fnet.bmfbovespa.com.br/fnet/publico/visualizarDocumento?id=1282180", "sha256": "afaaa0e6809be4385e5bdb6c911aac582032c5bdbac3d7750234bf9eaf00438a"}], "reference": {"path": "history/63953620000165.json", "criterion_id": "debtor", "total_count": 8, "preview_count": 3, "full_text_deferred": true, "sha256": "a7b89077f5e21098c2d601c303faabc3ff6b9729f89d8afecdc60fe1404720c1"}}</a:t>
            </a:r>
          </a:p>
          <a:p>
            <a:r>
              <a:t>CNPJ 54871427000194 · Elegibilidade · Regulamento · ID 670691 · 28/04/2024 · versão Regulamento — referência 28/04/2024 · p. 9 · Anexo I, 4.7(i)–(iv) · https://fnet.bmfbovespa.com.br/fnet/publico/visualizarDocumento?id=670691</a:t>
            </a:r>
          </a:p>
          <a:p>
            <a:r>
              <a:t>CNPJ 54871427000194 · Elegibilidade · Excerto da fonte:</a:t>
            </a:r>
          </a:p>
          <a:p>
            <a:r>
              <a:t>4.7 A Classe somente poderá adquirir os Direitos Creditórios que atendam cumulativamente aos seguintes Critérios de Elegibilidade, a serem verif icados e validados pelo GESTOR, de f orma individualizada e integral, previamente à cessão e na respectiva Data de Aquisição, de modo que apenas são passíveis de aquisição pela Classe os Direitos Creditórios que, na Data de Aquisição: (i) CCBs sem qualquer parcela cedida; (ii) CCBs com diferença menor que 60 (sessenta) dias entre a data provável do endosso e a próxima parcela a vencer; (iii) CCBs cujo valor da prestação seja superior a R$ 30,00 (trinta reais); (iv) Idade do Devedor somada ao prazo remanescente da CCB deve ser igual ou inferior a 80 (oitenta) anos; BTG Pactual SAC: 0800 772 28 27 - Ouvidoria: 0800 722 00 48 - btgpactual.com 3</a:t>
            </a:r>
          </a:p>
          <a:p>
            <a:r>
              <a:t>CNPJ 54871427000194 · Elegibilidade · Regulamento · ID 670691 · 28/04/2024 · versão Regulamento — referência 28/04/2024 · p. 10 · Anexo I, 4.7(v)–(xi) · https://fnet.bmfbovespa.com.br/fnet/publico/visualizarDocumento?id=670691</a:t>
            </a:r>
          </a:p>
          <a:p>
            <a:r>
              <a:t>CNPJ 54871427000194 · Elegibilidade · Excerto da fonte:</a:t>
            </a:r>
          </a:p>
          <a:p>
            <a:r>
              <a:t>(v) CCBs que até a Data do Endosso não estejam pendentes de res olução em relação a uma comprovada reclamação do devedor junto ao Banco Central do Brasil ou ao Procon; (vi) CCBs que não sejam originadas por pessoa física condenada por terem submetido trabalhadores a condições análogas à de escravo – denominada “Lista Suja”; (vii) CCBs sem parcela em atraso; (viii) Aquisição de todas as parcelas vincendas das CCBs, não sendo possível a aquisição de fluxo parcial; (ix) CCBs vinculadas ao órgão convenente, desde que o convênio não se encontre na Data de Aquisição em situação de suspensão; (x) Devedores adimplentes junto ao Endossante com relação aos Direitos Creditórios endossados à Classe; CCB cuja amortização ordinária dos valores devidos, nos últimos 60 (sessenta) dias, tenha ocorrido de f orma integral e ordinária. Na primeira tranche de aquisição de Direitos Creditórios pelo Endossatário tal prazo poderá ser reduzido para 30 (trinta) dias nos casos de amortização extraordinária (via boleto) desde que o valor de aquisição dos ref eridos Direitos Creditórios não ultrapasse R$ 30.000,00 (trinta mil reais), exc</a:t>
            </a:r>
          </a:p>
          <a:p>
            <a:r>
              <a:t>CNPJ 54871427000194 · Elegibilidade · Versão e prevalência: Leitura específica das cláusulas indicadas; condições e conflitos preservados. Seleção documental atual não comprova vigência jurídica por data isolada.</a:t>
            </a:r>
          </a:p>
          <a:p>
            <a:r>
              <a:t>CNPJ 54871427000194 · Elegibilidade · Resumo do histórico: {"count": 2, "dates": ["2024-04-19", "2024-04-28"], "document_count": 2, "sources": [{"document_id": "670691", "title": "Regulamento", "reference_date": "2024-04-28", "version": "1", "page": "9-10", "clause": "4.7", "url": "https://fnet.bmfbovespa.com.br/fnet/publico/visualizarDocumento?id=670691", "sha256": "bf16dd7f1a62d5cdbf2e2d54fef81783783f7310fbc99c3a8f00459bdf9d037b"}, {"document_id": "670689", "title": "Regulamento", "reference_date": "2024-04-19", "version": "1", "page": 10, "clause": "4.7.3", "url": "https://fnet.bmfbovespa.com.br/fnet/publico/visualizarDocumento?id=670689", "sha256": "891bc9bc5d87bbc02ec139077a84d2702eb81ea02035fb71d24f5b8366b94a0b"}], "reference": {"path": "history/54871427000194.json", "criterion_id": "eligibility", "total_count": 2, "preview_count": 2, "full_text_deferred": true, "sha256": "35d7cd99be50c7287c9fb675cf4f2e736002315295a225a9efa79c8d9186d874"}}</a:t>
            </a:r>
          </a:p>
          <a:p>
            <a:r>
              <a:t>CNPJ 60010416000112 · Elegibilidade · Regulamento · ID 1051393 · 2025-10-09 · versão 1 · p. 10 · 4.4.5 · https://fnet.bmfbovespa.com.br/fnet/publico/visualizarDocumento?id=1051393</a:t>
            </a:r>
          </a:p>
          <a:p>
            <a:r>
              <a:t>CNPJ 60010416000112 · Elegibilidade · Excerto da fonte:</a:t>
            </a:r>
          </a:p>
          <a:p>
            <a:r>
              <a:t>4.4.5. Caso um Direito Creditório endossado à Classe deixe de atender quaisquer Critérios de  Elegibilidade, quaisquer condições de endosso e/ou quaisquer declarações e garantias referentes  a esse Direito Creditório, conforme previsto no Contrato de Endosso, após seu endosso à Classe,  não haverá coobrigação nem direito de regresso da Classe contra o Endossante, o Administrador,  o Custodiante, o Gestor e/ou o Agente de Retenção/Cobrança, exceto em caso de má-fé, culpa  ou dolo comprovado, hipótese em que a parte que agiu com má-f é, culpa ou dolo comprovado  poderá ser responsabilizada pelas perdas incorridas pela Classe em relação aos respectivos  Direitos Creditórios. Se, entretanto, for constatado que um Direito Creditório endossado à Classe  não estava em conformidade com os Critérios de Elegibilidade, condições de endosso ou com as  declarações e garantias prestadas pelo Endossante no Contrato de Endosso, na respectiva data  de endosso, então o endosso desse Direito Creditório poderá ser objeto de resolução pela Classe.</a:t>
            </a:r>
          </a:p>
          <a:p>
            <a:r>
              <a:t> Nessa hipótese, a Classe terá o direito de resolver o endosso desse Direito Creditório, devolvendo-  o ao Endossante por valor a ser restituído à Classe. Adicionalmente, se f or constatado que um  Direito Creditório endossado à Classe não estava em conf ormidade com as declarações e  garantias prestadas pelo Agente de Retenção/Cobrança no Contrato de Endosso, na respectiva  data de endosso, então a Classe terá o direito de vender esse Direito Creditório ao Agente de  Retenção/Cobrança (opção de venda). A retrovenda ou a venda, conforme o caso, será realizada  de acordo com os termos, condições, formalidades e preços de recompra compulsória e opção de  venda detalhados no Contrato de Endosso.</a:t>
            </a:r>
          </a:p>
          <a:p>
            <a:r>
              <a:t>CNPJ 60010416000112 · Elegibilidade · Regulamento · ID 1051393 · 2025-10-09 · versão 1 · p. 9 · 4.3 · https://fnet.bmfbovespa.com.br/fnet/publico/visualizarDocumento?id=1051393</a:t>
            </a:r>
          </a:p>
          <a:p>
            <a:r>
              <a:t>CNPJ 60010416000112 · Elegibilidade · Excerto da fonte:</a:t>
            </a:r>
          </a:p>
          <a:p>
            <a:r>
              <a:t>4.3 Os Direitos Creditórios deverão contar com Documentos Comprobatórios que evidenciem sua existência,  validade e exequibilidade perante os respectivos Devedores.</a:t>
            </a:r>
          </a:p>
          <a:p>
            <a:r>
              <a:t> Critérios de Elegibilidade</a:t>
            </a:r>
          </a:p>
          <a:p>
            <a:r>
              <a:t>CNPJ 60010416000112 · Elegibilidade · Regulamento · ID 1051393 · 2025-10-09 · versão 1 · p. 9 · 4.4 · https://fnet.bmfbovespa.com.br/fnet/publico/visualizarDocumento?id=1051393</a:t>
            </a:r>
          </a:p>
          <a:p>
            <a:r>
              <a:t>CNPJ 60010416000112 · Elegibilidade · Excerto da fonte:</a:t>
            </a:r>
          </a:p>
          <a:p>
            <a:r>
              <a:t>4.4 A Classe somente poderá adquirir os Direitos Creditórios que atendam, cumulativamente, aos seguintes  Critérios de Elegibilidade, a serem verificados e validados pelo Gestor, de forma individualizada e integral,  previamente ao endosso do Direito Creditório, na respectiva Data de Aquisição:</a:t>
            </a:r>
          </a:p>
          <a:p>
            <a:r>
              <a:t> (i) os Direitos Creditórios deverão decorrer de empréstimo concedido pelo Endossante a um  Devedor, representado por uma CCB, com taxa de juros prefixada e vencimento final anterior  ao vencimento f inal da Classe;</a:t>
            </a:r>
          </a:p>
          <a:p>
            <a:r>
              <a:t>BTG Pactual SAC: 0800 772 28 27 - Ouvidoria: 0800 722 00 48 - btgpactual.com 9</a:t>
            </a:r>
          </a:p>
          <a:p>
            <a:r>
              <a:t>CNPJ 60010416000112 · Elegibilidade · Condição: Documentos atuais selecionados no inventário por categoria/escopo; a data documental isolada não comprova vigência jurídica.</a:t>
            </a:r>
          </a:p>
          <a:p>
            <a:r>
              <a:t>CNPJ 60010416000112 · Elegibilidade · Versão e prevalência: Documentos atuais selecionados no inventário por categoria/escopo; a data documental isolada não comprova vigência jurídica.</a:t>
            </a:r>
          </a:p>
          <a:p>
            <a:r>
              <a:t>CNPJ 60010416000112 · Elegibilidade · Resumo do histórico: {"count": 2, "dates": ["2025-03-20", "2025-10-09"], "document_count": 2, "sources": [{"document_id": "1051393", "title": "Regulamento", "reference_date": "2025-10-09", "version": "1", "page": "9-10", "clause": "4.4(ii)", "url": "https://fnet.bmfbovespa.com.br/fnet/publico/visualizarDocumento?id=1051393", "sha256": "8469d613078ffd5a6c1d217885d8a397a16342c0b937ae4aa24b106505f233ae"}, {"document_id": "993786", "title": "Regulamento", "reference_date": "2025-03-20", "version": "1", "page": 10, "clause": "4.4.5", "url": "https://fnet.bmfbovespa.com.br/fnet/publico/visualizarDocumento?id=993786", "sha256": "fd0fdd369a195510d81f81f505195a0b09e5f43522a990afa7d58c4f872921c8"}], "reference": {"path": "history/60010416000112.json", "criterion_id": "eligibility", "total_count": 2, "preview_count": 2, "full_text_deferred": true, "sha256": "8e2bd813f4c51cf01f6bfaad164bafe69d2bbb192f753eac92da3a01c2e63046"}}</a:t>
            </a:r>
          </a:p>
          <a:p>
            <a:r>
              <a:t>CNPJ 62696791000193 · Elegibilidade · Regulamento · ID 1143317 · 20/03/2026 · versão Regulamento — referência 20/03/2026 · p. 11 · Anexo I, 4.7–4.7.3 · https://fnet.bmfbovespa.com.br/fnet/publico/visualizarDocumento?id=1143317</a:t>
            </a:r>
          </a:p>
          <a:p>
            <a:r>
              <a:t>CNPJ 62696791000193 · Elegibilidade · Excerto da fonte:</a:t>
            </a:r>
          </a:p>
          <a:p>
            <a:r>
              <a:t>4.7 A Classe somente poderá adquirir os Direitos Creditórios do Agronegócio que atendam cumulativamente aos seguintes critérios de elegibilidade, a serem verificados e validados pelo Gestor, por amostragem, previamente à cessão e na respectiva data de aquisição dos Direitos Creditórios do Agronegócio (“Data de Aquisição”), de modo que apenas são passíveis de aquisição pela Classe os Direitos Creditórios do Agronegócio que, na Data de Aquisição (“Critérios de Elegibilidade”): (i) sejam representados em moeda corrente nacional; (ii) a natureza ou característica essencial dos Direitos Creditórios do Agronegócio deverá permitir o seu registro contábil e a sua custódia pelo Custodiante, de acordo com os procedimentos operacionais e contábeis praticados pelo Custodiante, ou seu registro em entidade registradora; (iii) sejam ativos de origem vinculada às cadeias produtivas do agronegócio ; e (iv) sejam representados por direitos e/ou títulos representativos de crédito, com ou sem garantias reais ou pessoais a eles atreladas, incluindo, sem limitação, duplicatas, debêntures, contratos de locação e contratos mercantis de compra e venda de produtos</a:t>
            </a:r>
          </a:p>
          <a:p>
            <a:r>
              <a:t>CNPJ 62696791000193 · Elegibilidade · Versão e prevalência: Leitura específica das cláusulas indicadas; condições e conflitos preservados. Seleção documental atual não comprova vigência jurídica por data isolada.</a:t>
            </a:r>
          </a:p>
          <a:p>
            <a:r>
              <a:t>CNPJ 55563624000109 · Elegibilidade · Regulamento · ID 1192614 · 30/04/2026 · versão Regulamento30/04/2026 · p. 12 · AnexoI4.6–4.8.2 · https://fnet.bmfbovespa.com.br/fnet/publico/visualizarDocumento?id=1192614</a:t>
            </a:r>
          </a:p>
          <a:p>
            <a:r>
              <a:t>CNPJ 55563624000109 · Elegibilidade · Excerto da fonte:</a:t>
            </a:r>
          </a:p>
          <a:p>
            <a:r>
              <a:t>4.6 As Cotas da Classe Investida deverão contar com Documentos Comprobatórios que evidenciem sua existência, validade e exequibilidade. 4.7 As Cotas da Classe Investida serão adquiridas pela Classe por meio: (i) de contratos de aquisição de Cotas da Classe Investida firmados entre a Classe e os respectivos vendedores das Cotas da Classe Investida; (ii) negociação em mercado organizado; e/ou (iii) da subscrição de Cotas da Classe Investida, colocadas de forma privada ou ofertadas publicamente, independentemente do regime de distribuição, observada a Política</a:t>
            </a:r>
          </a:p>
          <a:p>
            <a:r>
              <a:t>CNPJ 55563624000109 · Elegibilidade · Versão e prevalência: Leitura específica das cláusulas indicadas; condições e conflitos preservados. Seleção documental atual não comprova vigência jurídica por data isolada.</a:t>
            </a:r>
          </a:p>
          <a:p>
            <a:r>
              <a:t>CNPJ 55563624000109 · Elegibilidade · Resumo do histórico: {"count": 3, "dates": ["2025-01-31", "2026-01-31", "2026-04-30"], "document_count": 3, "sources": [{"document_id": "1192614", "title": "Regulamento", "reference_date": "2026-04-30", "version": "1", "page": "12", "url": "https://fnet.bmfbovespa.com.br/fnet/publico/visualizarDocumento?id=1192614", "sha256": "f56e63ace0acde41d2f47fb48f1ac7f3f7df5e2d32de092d7c5e075a52516632"}, {"document_id": "1178840", "title": "Demonstrações Financeiras", "reference_date": "2026-01-31", "version": "1", "page": 16, "url": "https://fnet.bmfbovespa.com.br/fnet/publico/visualizarDocumento?id=1178840", "sha256": "c458e98664c5c907ddb5a05a94b120bed4e05295b2bfc420f5ba69af0a229abe"}, {"document_id": "891861", "title": "Demonstrações Financeiras", "reference_date": "2025-01-31", "version": "1", "page": 16, "url": "https://fnet.bmfbovespa.com.br/fnet/publico/visualizarDocumento?id=891861", "sha256": "e9cb9e6ddbe505fe068cfcac33605165a98313489de0d3ce6d4d238263c3f3e7"}], "reference": {"path": "history/55563624000109.json", "criterion_id": "eligibility", "total_count": 3, "preview_count": 3, "full_text_deferred": true, "sha256": "7835d573fb58a3c19adf5b8ecc2aee2bdbb9a88f7a0c0209b5f262b64c7522e3"}}</a:t>
            </a:r>
          </a:p>
          <a:p>
            <a:r>
              <a:t>CNPJ 62552447000120 · Elegibilidade · Regulamento · ID 1200623 · 21/05/2026 · versão Consolidado21/05/2026 aprovado pelo ato1200625 · p. 6 · AnexoI1.2 Critérios(i)(a)–(b) · https://fnet.bmfbovespa.com.br/fnet/publico/visualizarDocumento?id=1200623</a:t>
            </a:r>
          </a:p>
          <a:p>
            <a:r>
              <a:t>CNPJ 62552447000120 · Elegibilidade · Excerto da fonte:</a:t>
            </a:r>
          </a:p>
          <a:p>
            <a:r>
              <a:t>Critérios de Elegibilidade”): (i) com relação a todos os Direitos Creditórios : (a) sejam representados em moeda corrente nacional; Critérios de Elegibilidade (b) a natureza ou característica essencial dos Direitos Creditórios deverá permitir o seu registro contábil e a sua custódia pelo Custodiante, de acordo com os procedimentos operacionais e contábeis praticados</a:t>
            </a:r>
          </a:p>
          <a:p>
            <a:r>
              <a:t>CNPJ 62552447000120 · Elegibilidade · Regulamento · ID 1200623 · 21/05/2026 · versão Consolidado21/05/2026 aprovado pelo ato1200625 · p. 7 · AnexoI1.2 Critérios(i)(c)–(v) · https://fnet.bmfbovespa.com.br/fnet/publico/visualizarDocumento?id=1200623</a:t>
            </a:r>
          </a:p>
          <a:p>
            <a:r>
              <a:t>CNPJ 62552447000120 · Elegibilidade · Excerto da fonte:</a:t>
            </a:r>
          </a:p>
          <a:p>
            <a:r>
              <a:t>(v) com relação aos Direitos Creditórios TVM: (a) representem, a qualquer momento, no máximo 10% (dez por cento) do Patrimônio Líquido. Sem prejuízo dos Critérios de Elegibilidade, a Classe somente poderá adquirir os Direitos Creditórios Ref inanciamento Livre, os Direitos Creditórios Consignado Privado e os Direitos Creditórios FGTS com relação aos quais tenha se verif icado as seguintes Condições de Endosso, na forma prevista na Cláusula 4.7 (“Co</a:t>
            </a:r>
          </a:p>
          <a:p>
            <a:r>
              <a:t>CNPJ 62552447000120 · Elegibilidade · Regulamento · ID 1200623 · 21/05/2026 · versão Consolidado21/05/2026 aprovado pelo ato1200625 · p. 12 · AnexoI4.6 · https://fnet.bmfbovespa.com.br/fnet/publico/visualizarDocumento?id=1200623</a:t>
            </a:r>
          </a:p>
          <a:p>
            <a:r>
              <a:t>CNPJ 62552447000120 · Elegibilidade · Excerto da fonte:</a:t>
            </a:r>
          </a:p>
          <a:p>
            <a:r>
              <a:t>4.6 A Classe somente poderá adquirir os Direitos Creditórios que, na data da sua aquisição (“Data de Aquisição”), atendam a todos os Critérios de Elegibilidade, a serem verif icados e validados pelo Gestor, de f orma individualizada e integral, e não por amostragem. 4.6.1 Para f ins da verificação dos Critérios de Elegibilidade, será considerado o Patrimônio Líquido e o valor dos Direitos Creditórios integrantes da Carteira no Dia Útil imediatamente anterior à Data de Aquisição. 4.6.2 Todos os Documentos Comprobatórios e, com relação a cada Direito Creditório, conforme apli</a:t>
            </a:r>
          </a:p>
          <a:p>
            <a:r>
              <a:t>CNPJ 62552447000120 · Elegibilidade · Versão e prevalência: Leitura específica das cláusulas indicadas; condições e conflitos preservados. Seleção documental atual não comprova vigência jurídica por data isolada.</a:t>
            </a:r>
          </a:p>
          <a:p>
            <a:r>
              <a:t>CNPJ 63953620000165 · Elegibilidade · Anexo ao Regulamento · ID 1222863 · 02/06/2026 · versão AnexoConsignadoPrivado02/06/2026 · p. 6 · 4.10–4.10.3 · https://fnet.bmfbovespa.com.br/fnet/publico/visualizarDocumento?id=1222863</a:t>
            </a:r>
          </a:p>
          <a:p>
            <a:r>
              <a:t>CNPJ 63953620000165 · Elegibilidade · Excerto da fonte:</a:t>
            </a:r>
          </a:p>
          <a:p>
            <a:r>
              <a:t>4.10 A Classe somente poderá adquirir os Direitos Creditórios que atendam cumulativamente aos Critérios de Elegibilidade, a serem verificados e validados pelo Gestor, de forma individualizada e integral, previamente à cessão e na respectiva data de aquisição dos Direitos Creditórios (“Data de Aquisição”), de modo que apenas são passíveis de aquisição pela Classe os Direitos Creditórios que, na Data de Aquisição, atendam a todos os Critérios de Elegibilidade. 4.10.1 Para fins da verificação dos Critérios de Elegibilidade, será considerado o Patrimônio Líquido e o valor dos Direitos Creditórios integrantes</a:t>
            </a:r>
          </a:p>
          <a:p>
            <a:r>
              <a:t>CNPJ 63953620000165 · Elegibilidade · Versão e prevalência: Leitura específica das cláusulas indicadas; condições e conflitos preservados. Seleção documental atual não comprova vigência jurídica por data isolada.</a:t>
            </a:r>
          </a:p>
          <a:p>
            <a:r>
              <a:t>CNPJ 63953620000165 · Elegibilidade · Resumo do histórico: {"count": 8, "dates": ["2026-04-28", "2026-05-08", "2026-05-15"], "document_count": 3, "sources": [{"document_id": "1327859", "title": "Demonstrações Financeiras - Fusão, cisão e incorporação", "reference_date": "2026-05-15", "version": "1", "page": 24, "url": "https://fnet.bmfbovespa.com.br/fnet/publico/visualizarDocumento?id=1327859", "sha256": "dca1c68babb97f887528c3e2e47596a9c30f507b067981a35655b2f2da9c8054"}, {"document_id": "1298691", "title": "Demonstrações Financeiras - Fusão, cisão e incorporação", "reference_date": "2026-05-08", "version": "1", "page": 24, "url": "https://fnet.bmfbovespa.com.br/fnet/publico/visualizarDocumento?id=1298691", "sha256": "58c570d9b8d4d265330d3db3ea81c435b8e44a6dab4002aa37790652a1ee9819"}, {"document_id": "1282180", "title": "Demonstrações Financeiras - Fusão, cisão e incorporação", "reference_date": "2026-04-28", "version": "1", "page": 25, "url": "https://fnet.bmfbovespa.com.br/fnet/publico/visualizarDocumento?id=1282180", "sha256": "afaaa0e6809be4385e5bdb6c911aac582032c5bdbac3d7750234bf9eaf00438a"}], "reference": {"path": "history/63953620000165.json", "criterion_id": "eligibility", "total_count": 8, "preview_count": 3, "full_text_deferred": true, "sha256": "a7b89077f5e21098c2d601c303faabc3ff6b9729f89d8afecdc60fe1404720c1"}}</a:t>
            </a:r>
          </a:p>
          <a:p>
            <a:r>
              <a:t>CNPJ 54871427000194 · Limites por contrato e devedor · Regulamento · ID 670691 · 28/04/2024 · versão Regulamento — referência 28/04/2024 · p. 10 · Anexo I, 4.7, parágrafo anterior ao inciso (xi) e inciso (xi) · https://fnet.bmfbovespa.com.br/fnet/publico/visualizarDocumento?id=670691</a:t>
            </a:r>
          </a:p>
          <a:p>
            <a:r>
              <a:t>CNPJ 54871427000194 · Limites por contrato e devedor · Excerto da fonte:</a:t>
            </a:r>
          </a:p>
          <a:p>
            <a:r>
              <a:t>CCB cuja amortização ordinária dos valores devidos, nos últimos 60 (sessenta) dias, tenha ocorrido de f orma integral e ordinária. Na primeira tranche de aquisição de Direitos Creditórios pelo Endossatário tal prazo poderá ser reduzido para 30 (trinta) dias nos casos de amortização extraordinária (via boleto) desde que o valor de aquisição dos ref eridos Direitos Creditórios não ultrapasse R$ 30.000,00 (trinta mil reais), exclusivamente via consignação em f olha de pagamento ou de benef ício; e (xi) Endosso de todas as CCBs de um mesmo Devedor que não ultrapasse 20% (vinte por cento) do patrimônio líquido da Classe. 4.7.1 Os Documentos Comprobatórios deverão ser disponibilizados pelo respectivo Endossante (a) no prazo de 10 (dez) dias contados da Data de Aquisição dos 50 (cinquenta) casos que sejam solicitados pelo GESTOR, a seu exclusivo critério, (b) a totalidade dos demais Documentos Comprobatórios em f ormato digital em até 90 (noventa) dias a contar da Data de Aquisição, bem como dos Documentos Comprobatórios em formato físico relativos aos Direitos Creditórios que eventualmente estejam inadimplidos em ref erida da</a:t>
            </a:r>
          </a:p>
          <a:p>
            <a:r>
              <a:t>CNPJ 54871427000194 · Limites por contrato e devedor · Condição: R$ 30 mil é teto da exceção de aquisição da primeira tranche; não é teto geral de cada CCB.</a:t>
            </a:r>
          </a:p>
          <a:p>
            <a:r>
              <a:t>CNPJ 54871427000194 · Limites por contrato e devedor · Motivo: Não localizada uma cláusula material para este critério nos textos identificados e processados. A ausência de resultado não comprova inexistência da regra.</a:t>
            </a:r>
          </a:p>
          <a:p>
            <a:r>
              <a:t>CNPJ 54871427000194 · Limites por contrato e devedor · Versão e prevalência: Leitura específica das cláusulas indicadas; condições e conflitos preservados. Seleção documental atual não comprova vigência jurídica por data isolada.</a:t>
            </a:r>
          </a:p>
          <a:p>
            <a:r>
              <a:t>CNPJ 60010416000112 · Limites por contrato e devedor · Regulamento · ID 1051393 · 09/10/2025 · versão Regulamento09/10/2025 · p. 10 · AnexoI4.4(ii), (iv),4.4.1 · https://fnet.bmfbovespa.com.br/fnet/publico/visualizarDocumento?id=1051393</a:t>
            </a:r>
          </a:p>
          <a:p>
            <a:r>
              <a:t>CNPJ 60010416000112 · Limites por contrato e devedor · Excerto da fonte:</a:t>
            </a:r>
          </a:p>
          <a:p>
            <a:r>
              <a:t>R$ 100.000,00 (cem mil reais), observado o disposto no item 4.4.1 abaixo; (iii) o prazo de vencimento das CCB representativas dos Direitos Creditórios deverá ser, no máximo, equivalente ao prazo máximo permitido pelas leis e regulamentações aplicáveis; e (iv) os Direitos Creditórios não poderão ser devidos por Devedores que tenham acima de 64 (sessenta e quatro) anos 11 (onze) meses e 29 (vinte e nove) dias na data de emissão da respectiva CCB. 4.4.1. O limite máximo de exposição da Classe por Devedor estabeleci</a:t>
            </a:r>
          </a:p>
          <a:p>
            <a:r>
              <a:t>CNPJ 60010416000112 · Limites por contrato e devedor · Condição: Prevalência da cláusula específica 4.4.1; limite privado do Contrato não foi presumido.</a:t>
            </a:r>
          </a:p>
          <a:p>
            <a:r>
              <a:t>CNPJ 60010416000112 · Limites por contrato e devedor · Motivo: Não localizada uma cláusula material para este critério nos textos identificados e processados. A ausência de resultado não comprova inexistência da regra.</a:t>
            </a:r>
          </a:p>
          <a:p>
            <a:r>
              <a:t>CNPJ 60010416000112 · Limites por contrato e devedor · Versão e prevalência: Leitura específica das cláusulas indicadas; condições e conflitos preservados. Seleção documental atual não comprova vigência jurídica por data isolada.</a:t>
            </a:r>
          </a:p>
          <a:p>
            <a:r>
              <a:t>CNPJ 62696791000193 · Limites por contrato e devedor · Motivo: Não localizada uma cláusula material para este critério nos textos identificados e processados. A ausência de resultado não comprova inexistência da regra.</a:t>
            </a:r>
          </a:p>
          <a:p>
            <a:r>
              <a:t>CNPJ 55563624000109 · Limites por contrato e devedor · Motivo: Não localizada uma cláusula material para este critério nos textos identificados e processados. A ausência de resultado não comprova inexistência da regra.</a:t>
            </a:r>
          </a:p>
          <a:p>
            <a:r>
              <a:t>CNPJ 62552447000120 · Limites por contrato e devedor · Motivo: Não localizada uma cláusula material para este critério nos textos identificados e processados. A ausência de resultado não comprova inexistência da regra.</a:t>
            </a:r>
          </a:p>
          <a:p>
            <a:r>
              <a:t>CNPJ 63953620000165 · Limites por contrato e devedor · Motivo: Não localizada uma cláusula material para este critério nos textos identificados e processados. A ausência de resultado não comprova inexistência da regra.</a:t>
            </a:r>
          </a:p>
          <a:p>
            <a:r>
              <a:t>CNPJ 54871427000194 · Prazo dos créditos e carência · Motivo: Não localizada uma cláusula material para este critério nos textos identificados e processados. A ausência de resultado não comprova inexistência da regra.</a:t>
            </a:r>
          </a:p>
          <a:p>
            <a:r>
              <a:t>CNPJ 60010416000112 · Prazo dos créditos e carência · Regulamento · ID 1051393 · 2025-10-09 · versão 1 · p. 11 · 4.5 · https://fnet.bmfbovespa.com.br/fnet/publico/visualizarDocumento?id=1051393</a:t>
            </a:r>
          </a:p>
          <a:p>
            <a:r>
              <a:t>CNPJ 60010416000112 · Prazo dos créditos e carência · Excerto da fonte:</a:t>
            </a:r>
          </a:p>
          <a:p>
            <a:r>
              <a:t>4.5 A parcela do Patrimônio Líquido que não estiver alocada em Direitos Creditórios será necessariamente  alocada no seguintes ativos (“Ativos Financeiros de Liquidez”).</a:t>
            </a:r>
          </a:p>
          <a:p>
            <a:r>
              <a:t> (i) moeda corrente nacional;</a:t>
            </a:r>
          </a:p>
          <a:p>
            <a:r>
              <a:t> (ii) títulos do Tesouro SELIC, anteriormente denominado letra f inanceira do Tesouro Nacional  (LFT);</a:t>
            </a:r>
          </a:p>
          <a:p>
            <a:r>
              <a:t> (iii) certif icados de depósito bancário (CDB) ou recibos de depósito bancário (RDB) com prazo  máximo de vencimento equivalente ao prazo remanescente do Período de Investimento, com  liquidez diária, emitidos por Instituições Autorizadas e/ou pelo Endossante, sendo certo que  os certif icados de depósito bancário (CDB) e recibos de depósito bancário (RDB) emitidos  pelo Endossante e integrantes da carteira da Classe não poderão exceder o valor de R$</a:t>
            </a:r>
          </a:p>
          <a:p>
            <a:r>
              <a:t> 25.000.000,00 (vinte e cinco milhões de reais);</a:t>
            </a:r>
          </a:p>
          <a:p>
            <a:r>
              <a:t> (iv) operações compromissadas, desde que lastreadas nos títulos mencionados nas alíneas (i) a</a:t>
            </a:r>
          </a:p>
          <a:p>
            <a:r>
              <a:t> (iii) acima, emitidas por Instituições Autorizadas, com liquidez diária e vencimento inferior a  365 (trezentos e sessenta e cinco) dias; e</a:t>
            </a:r>
          </a:p>
          <a:p>
            <a:r>
              <a:t> (v) cotas de classes de f undos de investimentos de renda f ixa ou indexados à Taxa DI com  liquidez diária, cujas políticas de investimento admitam a alocação de recursos  exclusivamente nos ativos das alíneas (ii) e (iii) acima, incluindo f undos geridos e/ou  administrados pelo Administrador, pelo Custodiante e/ou pelo Gestor.</a:t>
            </a:r>
          </a:p>
          <a:p>
            <a:r>
              <a:t>Limites de Concentração e Vedações para a Composição da Carteira</a:t>
            </a:r>
          </a:p>
          <a:p>
            <a:r>
              <a:t>CNPJ 60010416000112 · Prazo dos créditos e carência · Regulamento · ID 1051393 · 2025-10-09 · versão 1 · p. 10 · https://fnet.bmfbovespa.com.br/fnet/publico/visualizarDocumento?id=1051393</a:t>
            </a:r>
          </a:p>
          <a:p>
            <a:r>
              <a:t>CNPJ 60010416000112 · Prazo dos créditos e carência · Excerto da fonte:</a:t>
            </a:r>
          </a:p>
          <a:p>
            <a:r>
              <a:t>Anexo I ao Regulamento CLASSE ÚNICA DO MT I CONSIGNADO PRIVADO I FUNDO DE INVESTIMENTO EM DIREITOS CREDITÓRIOS RESPONSABILIDADE LIMITADA</a:t>
            </a:r>
          </a:p>
          <a:p>
            <a:r>
              <a:t> (ii) o saldo dos Direitos Creditórios devidos pelo mesmo Devedor à Classe, considerando, pro  forma, o endosso pretendido, não deverá exceder R$ 100.000,00 (cem mil reais), observado  o disposto no item 4.4.1 abaixo;</a:t>
            </a:r>
          </a:p>
          <a:p>
            <a:r>
              <a:t> (iii) o prazo de vencimento das CCB representativas dos Direitos Creditórios deverá ser, no  máximo, equivalente ao prazo máximo permitido pelas leis e regulamentações aplicáveis; e</a:t>
            </a:r>
          </a:p>
          <a:p>
            <a:r>
              <a:t> (iv) os Direitos Creditórios não poderão ser devidos por Devedores que tenham acima de 64  (sessenta e quatro) anos 11 (onze) meses e 29 (vinte e nove) dias na data de emissão da  respectiva CCB.</a:t>
            </a:r>
          </a:p>
          <a:p>
            <a:r>
              <a:t>CNPJ 60010416000112 · Prazo dos créditos e carência · Condição: Documentos atuais selecionados no inventário por categoria/escopo; a data documental isolada não comprova vigência jurídica.</a:t>
            </a:r>
          </a:p>
          <a:p>
            <a:r>
              <a:t>CNPJ 60010416000112 · Prazo dos créditos e carência · Versão e prevalência: Documentos atuais selecionados no inventário por categoria/escopo; a data documental isolada não comprova vigência jurídica.</a:t>
            </a:r>
          </a:p>
          <a:p>
            <a:r>
              <a:t>CNPJ 60010416000112 · Prazo dos créditos e carência · Resumo do histórico: {"count": 1, "dates": ["2025-03-20"], "document_count": 1, "sources": [{"document_id": "993786", "title": "Regulamento", "reference_date": "2025-03-20", "version": "1", "page": 11, "clause": "4.5", "url": "https://fnet.bmfbovespa.com.br/fnet/publico/visualizarDocumento?id=993786", "sha256": "fd0fdd369a195510d81f81f505195a0b09e5f43522a990afa7d58c4f872921c8"}], "reference": {"path": "history/60010416000112.json", "criterion_id": "term", "total_count": 1, "preview_count": 1, "full_text_deferred": true, "sha256": "8e2bd813f4c51cf01f6bfaad164bafe69d2bbb192f753eac92da3a01c2e63046"}}</a:t>
            </a:r>
          </a:p>
          <a:p>
            <a:r>
              <a:t>CNPJ 62696791000193 · Prazo dos créditos e carência · Motivo: Não localizada uma cláusula material para este critério nos textos identificados e processados. A ausência de resultado não comprova inexistência da regra.</a:t>
            </a:r>
          </a:p>
          <a:p>
            <a:r>
              <a:t>CNPJ 55563624000109 · Prazo dos créditos e carência · Motivo: Não localizada uma cláusula material para este critério nos textos identificados e processados. A ausência de resultado não comprova inexistência da regra.</a:t>
            </a:r>
          </a:p>
          <a:p>
            <a:r>
              <a:t>CNPJ 62552447000120 · Prazo dos créditos e carência · Motivo: Não localizada uma cláusula material para este critério nos textos identificados e processados. A ausência de resultado não comprova inexistência da regra.</a:t>
            </a:r>
          </a:p>
          <a:p>
            <a:r>
              <a:t>CNPJ 63953620000165 · Prazo dos créditos e carência · Anexo ao Regulamento · ID 1222863 · 2026-06-02 · versão 1 · p. 2 · https://fnet.bmfbovespa.com.br/fnet/publico/visualizarDocumento?id=1222863</a:t>
            </a:r>
          </a:p>
          <a:p>
            <a:r>
              <a:t>CNPJ 63953620000165 · Prazo dos créditos e carência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Prazo dos créditos e carência · Condição: Documentos atuais selecionados no inventário por categoria/escopo; a data documental isolada não comprova vigência jurídica.</a:t>
            </a:r>
          </a:p>
          <a:p>
            <a:r>
              <a:t>CNPJ 63953620000165 · Prazo dos créditos e carência · Versão e prevalência: Documentos atuais selecionados no inventário por categoria/escopo; a data documental isolada não comprova vigência jurídica.</a:t>
            </a:r>
          </a:p>
          <a:p>
            <a:r>
              <a:t>CNPJ 63953620000165 · Prazo dos créditos e carência · Resumo do histórico: {"count": 8, "dates": ["2026-04-28", "2026-05-08", "2026-05-15"], "document_count": 3, "sources": [{"document_id": "1327859", "title": "Demonstrações Financeiras - Fusão, cisão e incorporação", "reference_date": "2026-05-15", "version": "1", "page": 16, "url": "https://fnet.bmfbovespa.com.br/fnet/publico/visualizarDocumento?id=1327859", "sha256": "dca1c68babb97f887528c3e2e47596a9c30f507b067981a35655b2f2da9c8054"}, {"document_id": "1298691", "title": "Demonstrações Financeiras - Fusão, cisão e incorporação", "reference_date": "2026-05-08", "version": "1", "page": 16, "url": "https://fnet.bmfbovespa.com.br/fnet/publico/visualizarDocumento?id=1298691", "sha256": "58c570d9b8d4d265330d3db3ea81c435b8e44a6dab4002aa37790652a1ee9819"}, {"document_id": "1282180", "title": "Demonstrações Financeiras - Fusão, cisão e incorporação", "reference_date": "2026-04-28", "version": "1", "page": 16, "url": "https://fnet.bmfbovespa.com.br/fnet/publico/visualizarDocumento?id=1282180", "sha256": "afaaa0e6809be4385e5bdb6c911aac582032c5bdbac3d7750234bf9eaf00438a"}], "reference": {"path": "history/63953620000165.json", "criterion_id": "term", "total_count": 8, "preview_count": 3, "full_text_deferred": true, "sha256": "a7b89077f5e21098c2d601c303faabc3ff6b9729f89d8afecdc60fe1404720c1"}}</a:t>
            </a:r>
          </a:p>
          <a:p>
            <a:r>
              <a:t>CNPJ 54871427000194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null, "comparison_required": true, "context_formula": "", "context_value": null, "context_unit": ""}</a:t>
            </a:r>
          </a:p>
          <a:p>
            <a:r>
              <a:t>CNPJ 54871427000194 · Concentração por devedor, cedente e grupo · Regulamento · ID 670691 · 28/04/2024 · versão Regulamento — referência 28/04/2024 · p. 11 · Anexo I, 4.10 e 4.11.2–4.11.4 · https://fnet.bmfbovespa.com.br/fnet/publico/visualizarDocumento?id=670691</a:t>
            </a:r>
          </a:p>
          <a:p>
            <a:r>
              <a:t>CNPJ 54871427000194 · Concentração por devedor, cedente e grupo · Excerto da fonte:</a:t>
            </a:r>
          </a:p>
          <a:p>
            <a:r>
              <a:t>4.10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4.11 A Classe poderá, direta ou indiretamente e, nos termos da legislação aplicável: (i) adquirir Direitos Creditórios que sejam cedidos e/ou originados pelo ADMINISTRADOR e/ou pelo GESTOR, ou partes a eles relacionadas, tal como definidas pelas regras contábeis que tratam desse assunto; e (ii) ceder Direitos Creditórios a qualquer das pessoas, fundos de investimento ou entidades referidas no item (i) acima, desde que (i) o ADMINISTRADOR, GESTOR, a entidade registradora e o CUSTODIANTE de Direitos Creditórios não sejam partes relacionadas entre si; e (ii) a entidade registradora e o</a:t>
            </a:r>
          </a:p>
          <a:p>
            <a:r>
              <a:t>CNPJ 54871427000194 · Concentração por devedor, cedente e grupo · Regulamento · ID 670691 · 28/04/2024 · versão Regulamento — referência 28/04/2024 · p. 10 · Anexo I, 4.7(xi) · https://fnet.bmfbovespa.com.br/fnet/publico/visualizarDocumento?id=670691</a:t>
            </a:r>
          </a:p>
          <a:p>
            <a:r>
              <a:t>CNPJ 54871427000194 · Concentração por devedor, cedente e grupo · Excerto da fonte:</a:t>
            </a:r>
          </a:p>
          <a:p>
            <a:r>
              <a:t>(xi) Endosso de todas as CCBs de um mesmo Devedor que não ultrapasse 20% (vinte por cento) do patrimônio líquido da Classe. 4.7.1 Os Documentos Comprobatórios deverão ser disponibilizados pelo respectivo Endossante (a) no prazo de 10 (dez) dias contados da Data de Aquisição dos 50 (cinquenta) casos que sejam solicitados pelo GESTOR, a seu exclusivo critério, (b) a totalidade dos demais Documentos Comprobatórios em f ormato digital em até 90 (noventa) dias a contar da Data de Aquisição, bem como dos Documentos Comprobatórios em formato físico relativos aos Direitos Creditórios que eventualmente estejam inadimplidos em ref erida data, e (c) a totalidade dos demais Documentos Comprobatórios em f ormato f ísico em até 180 (cento e oitenta) dias a contar da Data de Aquisição, sujeito à resolução do respectivo endosso, de acordo com os termos do Contrato de Endosso. 4.7.2 Caso um Direito Creditório cedido à Classe deixe de atender quaisquer Critérios de Elegibilidade e/ou quaisquer declarações e garantias ref erentes a esse Direito Creditório, conf orme previsto no respectivo Contrato de Endosso, após seu endosso à</a:t>
            </a:r>
          </a:p>
          <a:p>
            <a:r>
              <a:t>CNPJ 54871427000194 · Concentração por devedor, cedente e grupo · Condição: Na aquisição, o critério específico de 20% restringe o permissivo geral de 100%. Uma concentração observada no IME exige base e devedor identificados.</a:t>
            </a:r>
          </a:p>
          <a:p>
            <a:r>
              <a:t>CNPJ 54871427000194 · Concentração por devedor, cedente e grupo · Versão e prevalência: Leitura específica das cláusulas indicadas; condições e conflitos preservados. Seleção documental atual não comprova vigência jurídica por data isolada.</a:t>
            </a:r>
          </a:p>
          <a:p>
            <a:r>
              <a:t>CNPJ 54871427000194 · Concentração por devedor, cedente e grupo · Resumo do histórico: {"count": 2, "dates": ["2024-04-19", "2024-04-28"], "document_count": 2, "sources": [{"document_id": "670691", "title": "Regulamento", "reference_date": "2024-04-28", "version": "1", "page": "10-11", "url": "https://fnet.bmfbovespa.com.br/fnet/publico/visualizarDocumento?id=670691", "sha256": "bf16dd7f1a62d5cdbf2e2d54fef81783783f7310fbc99c3a8f00459bdf9d037b"}, {"document_id": "670689", "title": "Regulamento", "reference_date": "2024-04-19", "version": "1", "page": 11, "clause": "4.10", "url": "https://fnet.bmfbovespa.com.br/fnet/publico/visualizarDocumento?id=670689", "sha256": "891bc9bc5d87bbc02ec139077a84d2702eb81ea02035fb71d24f5b8366b94a0b"}], "reference": {"path": "history/54871427000194.json", "criterion_id": "concentration", "total_count": 2, "preview_count": 2, "full_text_deferred": true, "sha256": "35d7cd99be50c7287c9fb675cf4f2e736002315295a225a9efa79c8d9186d874"}}</a:t>
            </a:r>
          </a:p>
          <a:p>
            <a:r>
              <a:t>CNPJ 60010416000112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null, "comparison_required": true, "context_formula": "", "context_value": null, "context_unit": ""}</a:t>
            </a:r>
          </a:p>
          <a:p>
            <a:r>
              <a:t>CNPJ 60010416000112 · Concentração por devedor, cedente e grupo · Regulamento · ID 1051393 · 09/10/2025 · versão Regulamento09/10/2025 · p. 11 · AnexoI4.4.9(iv),4.5(iii) · https://fnet.bmfbovespa.com.br/fnet/publico/visualizarDocumento?id=1051393</a:t>
            </a:r>
          </a:p>
          <a:p>
            <a:r>
              <a:t>CNPJ 60010416000112 · Concentração por devedor, cedente e grupo · Excerto da fonte:</a:t>
            </a:r>
          </a:p>
          <a:p>
            <a:r>
              <a:t>3,00% (três por cento) do Patrimônio Líquido da Classe. Ativos Financeiros de Liquidez 4.5 A parcela do Patrimônio Líquido que não estiver alocada em Direitos Creditórios será necessariamente alocada no seguintes ativos (“Ativos Financeiros de Liquidez”). (i) moeda corrente nacional; (ii) títulos do Tesouro SELIC, anteriormente denominado letra f inanceira do Tesouro Nacional (LFT); (iii) certif icados de depósito bancário (CDB) ou recibos de depósito bancário (RDB) com prazo máximo de vencimento equivalente ao prazo remanescente</a:t>
            </a:r>
          </a:p>
          <a:p>
            <a:r>
              <a:t>CNPJ 60010416000112 · Concentração por devedor, cedente e grupo · Regulamento · ID 1051393 · 09/10/2025 · versão Regulamento09/10/2025 · p. 12 · AnexoI4.7–4.8 · https://fnet.bmfbovespa.com.br/fnet/publico/visualizarDocumento?id=1051393</a:t>
            </a:r>
          </a:p>
          <a:p>
            <a:r>
              <a:t>CNPJ 60010416000112 · Concentração por devedor, cedente e grupo · Excerto da fonte:</a:t>
            </a:r>
          </a:p>
          <a:p>
            <a:r>
              <a:t>4.7 A Classe deverá observar, ainda, os limites de concentração definidos na Política de Crédito, que integra o Contrato de Endosso como Anexo 3.2(v). 4.8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a:t>
            </a:r>
          </a:p>
          <a:p>
            <a:r>
              <a:t>CNPJ 60010416000112 · Concentração por devedor, cedente e grupo · Versão e prevalência: Leitura específica das cláusulas indicadas; condições e conflitos preservados. Seleção documental atual não comprova vigência jurídica por data isolada.</a:t>
            </a:r>
          </a:p>
          <a:p>
            <a:r>
              <a:t>CNPJ 60010416000112 · Concentração por devedor, cedente e grupo · Resumo do histórico: {"count": 2, "dates": ["2025-03-20", "2025-10-09"], "document_count": 2, "sources": [{"document_id": "1051393", "title": "Regulamento", "reference_date": "2025-10-09", "version": "1", "page": "11-12", "url": "https://fnet.bmfbovespa.com.br/fnet/publico/visualizarDocumento?id=1051393", "sha256": "8469d613078ffd5a6c1d217885d8a397a16342c0b937ae4aa24b106505f233ae"}, {"document_id": "993786", "title": "Regulamento", "reference_date": "2025-03-20", "version": "1", "page": 12, "clause": "4.8", "url": "https://fnet.bmfbovespa.com.br/fnet/publico/visualizarDocumento?id=993786", "sha256": "fd0fdd369a195510d81f81f505195a0b09e5f43522a990afa7d58c4f872921c8"}], "reference": {"path": "history/60010416000112.json", "criterion_id": "concentration", "total_count": 2, "preview_count": 2, "full_text_deferred": true, "sha256": "8e2bd813f4c51cf01f6bfaad164bafe69d2bbb192f753eac92da3a01c2e63046"}}</a:t>
            </a:r>
          </a:p>
          <a:p>
            <a:r>
              <a:t>CNPJ 62696791000193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null, "comparison_required": true, "context_formula": "", "context_value": null, "context_unit": ""}</a:t>
            </a:r>
          </a:p>
          <a:p>
            <a:r>
              <a:t>CNPJ 62696791000193 · Concentração por devedor, cedente e grupo · Regulamento · ID 1143317 · 20/03/2026 · versão Regulamento — referência 20/03/2026 · p. 11 · Anexo I, 4.8–4.9 · https://fnet.bmfbovespa.com.br/fnet/publico/visualizarDocumento?id=1143317</a:t>
            </a:r>
          </a:p>
          <a:p>
            <a:r>
              <a:t>CNPJ 62696791000193 · Concentração por devedor, cedente e grupo · Excerto da fonte:</a:t>
            </a:r>
          </a:p>
          <a:p>
            <a:r>
              <a:t>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relacionadas ao Gestor. 4.8.1 As aplicações em Direitos Creditórios do Agronegócio decorrentes de receitas públicas originárias ou derivadas da União, dos Estados, do Distrito Federal e dos Municípios ou de suas autarquias e f undações, assim como em Direitos Creditórios do Agronegócio cedidos ou originados por empresas controladas pelo poder público, não estão submetidas ao limite de concentração por emissor previsto no caput. 4.9 Nos termos do Art. 45 do Anexo</a:t>
            </a:r>
          </a:p>
          <a:p>
            <a:r>
              <a:t>CNPJ 62696791000193 · Concentração por devedor, cedente e grupo · Regulamento · ID 1143317 · 20/03/2026 · versão Regulamento — referência 20/03/2026 · p. 12 · Anexo I, 4.10(i)–(ix) · https://fnet.bmfbovespa.com.br/fnet/publico/visualizarDocumento?id=1143317</a:t>
            </a:r>
          </a:p>
          <a:p>
            <a:r>
              <a:t>CNPJ 62696791000193 · Concentração por devedor, cedente e grupo · Excerto da fonte:</a:t>
            </a:r>
          </a:p>
          <a:p>
            <a:r>
              <a:t>4.10 Sem prejuízo de limites mais restritivos definidos neste Anexo, o Gestor deverá observar, ainda, os seguintes limites de concentração: (i) A Classe poderá, direta ou indiretamente, ter até 100% (cem por cento) do Patrimônio Líquido representado por Direitos Creditórios do Agronegócio originados ou cedidos pelo Administrador, Gestor e/ou suas partes relacionadas, tal como definidas pelas regras contábeis que tratam desse assunto, desde que (a) o Gest or, a entidade registradora e o Custodiante dos Direitos Creditórios do Agronegócio não sejam partes relacionadas entre si; e (b) a entidade registradora e o Custodiante dos Direitos Creditórios do Agronegócio não sejam partes relacionadas ao originador ou Cedente. (ii) No máximo, 100% (cem por cento) do Patrimônio Líquido investido em Ativos Financeiros de Liquidez de emissão ou que envolvam retenção de risco por parte do Administrador, Gestor, e/ou suas partes relacionadas, observado ainda o disposto no item Error! Reference source not found.;</a:t>
            </a:r>
          </a:p>
          <a:p>
            <a:r>
              <a:t>CNPJ 62696791000193 · Concentração por devedor, cedente e grupo · Condição: Liquidez/derivativos relacionados também têm permissivos de 100%, mas remissões internas aparecem como “Error! Reference source not found.”.</a:t>
            </a:r>
          </a:p>
          <a:p>
            <a:r>
              <a:t>CNPJ 62696791000193 · Concentração por devedor, cedente e grupo · Versão e prevalência: Leitura específica das cláusulas indicadas; condições e conflitos preservados. Seleção documental atual não comprova vigência jurídica por data isolada.</a:t>
            </a:r>
          </a:p>
          <a:p>
            <a:r>
              <a:t>CNPJ 55563624000109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null, "comparison_required": true, "context_formula": "", "context_value": null, "context_unit": ""}</a:t>
            </a:r>
          </a:p>
          <a:p>
            <a:r>
              <a:t>CNPJ 55563624000109 · Concentração por devedor, cedente e grupo · Regulamento · ID 1192614 · 30/04/2026 · versão Regulamento30/04/2026 · p. 13 · AnexoI4.11–4.12.1 · https://fnet.bmfbovespa.com.br/fnet/publico/visualizarDocumento?id=1192614</a:t>
            </a:r>
          </a:p>
          <a:p>
            <a:r>
              <a:t>CNPJ 55563624000109 · Concentração por devedor, cedente e grupo · Excerto da fonte:</a:t>
            </a:r>
          </a:p>
          <a:p>
            <a:r>
              <a:t>4.11 Nos termos dos artigos 45, parágrafo 7º, e 47 parágrafo único do Anexo Normativo II à Resolução CVM 175, uma vez que as Cotas são destinadas exclusivamente a Investidores Profissionais, a Classe poderá ter até 100% (cem por cento) de seu Patrimônio Líquido alocado em Cotas da Classe Investida, as quais são emitidas pela Classe Investida. 4.12 A Classe poderá, direta ou indiretamente (i) adquirir Cotas da Classe Investida que sejam administrados pelo ADMINISTRADOR, e geridos ou cogeridos pelo GESTOR, ou partes a eles relacionadas, tal como definidas pelas</a:t>
            </a:r>
          </a:p>
          <a:p>
            <a:r>
              <a:t>CNPJ 55563624000109 · Concentração por devedor, cedente e grupo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Concentração por devedor, cedente e grupo · Versão e prevalência: Leitura específica das cláusulas indicadas; condições e conflitos preservados. Seleção documental atual não comprova vigência jurídica por data isolada.</a:t>
            </a:r>
          </a:p>
          <a:p>
            <a:r>
              <a:t>CNPJ 55563624000109 · Concentração por devedor, cedente e grupo · Resumo do histórico: {"count": 1, "dates": ["2026-04-30"], "document_count": 1, "sources": [{"document_id": "1192614", "title": "Regulamento", "reference_date": "2026-04-30", "version": "1", "page": "11-12", "url": "https://fnet.bmfbovespa.com.br/fnet/publico/visualizarDocumento?id=1192614", "sha256": "f56e63ace0acde41d2f47fb48f1ac7f3f7df5e2d32de092d7c5e075a52516632"}], "reference": {"path": "history/55563624000109.json", "criterion_id": "concentration", "total_count": 1, "preview_count": 1, "full_text_deferred": true, "sha256": "7835d573fb58a3c19adf5b8ecc2aee2bdbb9a88f7a0c0209b5f262b64c7522e3"}}</a:t>
            </a:r>
          </a:p>
          <a:p>
            <a:r>
              <a:t>CNPJ 62552447000120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null, "comparison_required": true, "context_formula": "", "context_value": null, "context_unit": ""}</a:t>
            </a:r>
          </a:p>
          <a:p>
            <a:r>
              <a:t>CNPJ 62552447000120 · Concentração por devedor, cedente e grupo · Regulamento · ID 1200623 · 21/05/2026 · versão Consolidado21/05/2026 aprovado pelo ato1200625 · p. 14 · AnexoI4.10–4.13 · https://fnet.bmfbovespa.com.br/fnet/publico/visualizarDocumento?id=1200623</a:t>
            </a:r>
          </a:p>
          <a:p>
            <a:r>
              <a:t>CNPJ 62552447000120 · Concentração por devedor, cedente e grupo · Excerto da fonte:</a:t>
            </a:r>
          </a:p>
          <a:p>
            <a:r>
              <a:t>4.10 Nos termos do art. 45, §7º, inciso II, do Anexo Normativo II, a Classe poderá ter até 100% (cem por cento) de seu Patrimônio Líquido alocado em Direitos Creditórios, derivativos, observado o disposto abaixo,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4.10.1 O uso de derivativos está restr</a:t>
            </a:r>
          </a:p>
          <a:p>
            <a:r>
              <a:t>CNPJ 62552447000120 · Concentração por devedor, cedente e grupo · Condição: Regulamento permite concentração ampla; TVM têm limite específico 10% PL na elegibilidade.</a:t>
            </a:r>
          </a:p>
          <a:p>
            <a:r>
              <a:t>CNPJ 62552447000120 · Concentração por devedor, cedente e grupo · Versão e prevalência: Leitura específica das cláusulas indicadas; condições e conflitos preservados. Seleção documental atual não comprova vigência jurídica por data isolada.</a:t>
            </a:r>
          </a:p>
          <a:p>
            <a:r>
              <a:t>CNPJ 63953620000165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null, "comparison_required": true, "context_formula": "", "context_value": null, "context_unit": ""}</a:t>
            </a:r>
          </a:p>
          <a:p>
            <a:r>
              <a:t>CNPJ 63953620000165 · Concentração por devedor, cedente e grupo · Anexo ao Regulamento · ID 1222863 · 02/06/2026 · versão AnexoConsignadoPrivado02/06/2026 · p. 6 · 4.14 · https://fnet.bmfbovespa.com.br/fnet/publico/visualizarDocumento?id=1222863</a:t>
            </a:r>
          </a:p>
          <a:p>
            <a:r>
              <a:t>CNPJ 63953620000165 · Concentração por devedor, cedente e grupo · Excerto da fonte:</a:t>
            </a:r>
          </a:p>
          <a:p>
            <a:r>
              <a:t>4.14 Nos termos do Art. 45, §7º, inciso II, do Anexo Normativo II da Resolução CVM 175, a Classe poderá ter até 100% (cem por cento) de seu Patrimônio Líquido alocado em Direitos Creditórios, derivativos, observado o disposto neste Anexo I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4.15 Sem prejuízo de limites</a:t>
            </a:r>
          </a:p>
          <a:p>
            <a:r>
              <a:t>CNPJ 63953620000165 · Concentração por devedor, cedente e grupo · Anexo ao Regulamento · ID 1222863 · 02/06/2026 · versão AnexoConsignadoPrivado02/06/2026 · p. 7 · 4.15(i)–(v) · https://fnet.bmfbovespa.com.br/fnet/publico/visualizarDocumento?id=1222863</a:t>
            </a:r>
          </a:p>
          <a:p>
            <a:r>
              <a:t>CNPJ 63953620000165 · Concentração por devedor, cedente e grupo · Excerto da fonte:</a:t>
            </a:r>
          </a:p>
          <a:p>
            <a:r>
              <a:t>(i)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CNPJ 63953620000165 · Concentração por devedor, cedente e grupo · Versão e prevalência: Leitura específica das cláusulas indicadas; condições e conflitos preservados. Seleção documental atual não comprova vigência jurídica por data isolada.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Recebíveis e aquisição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Natureza dos recebíveis · Regulamento · ID 670691 · 28/04/2024 · versão Regulamento — referência 28/04/2024 · p. 9 · Anexo I, 4.2–4.2.1 · https://fnet.bmfbovespa.com.br/fnet/publico/visualizarDocumento?id=670691</a:t>
            </a:r>
          </a:p>
          <a:p>
            <a:r>
              <a:t>CNPJ 54871427000194 · Natureza dos recebíveis · Excerto da fonte:</a:t>
            </a:r>
          </a:p>
          <a:p>
            <a:r>
              <a:t>4.2 Os Direitos Creditórios representados por Certif icados de Cédulas de Crédito Bancário (“CCCBs”), representativos de um agrupamento de determinadas CCBs, originadas no âmbito de operações de empréstimos pessoais concedidos por um Endossante a um Devedor, devidamente f ormalizadas por via eletrônica de acordo com a legislação aplicável, segundo os critérios de composição e diversificação estabelecidos pela regulamentação aplicável e neste Regulamento. 4.2.1 Cada Endossante deve ter celebrado convênio com órgão consignante, previamente à cessão de Direitos Creditórios à Classe, que contemplam a obrigação da manutenção da consignação/averbação junto ao novo órgão, de modo a possibilitar o pagamento dos Direitos Creditórios por meio de consignação em f olha de pagamento ou de benef ício . 4.3 Os pagamentos relativos aos Direitos Creditórios de titularidade da Classe serão realizados mediante consignação em folha, débito em conta de titularidade dos Devedores e pagamentos de sinistros, para pagamento dos valores correspondentes às parcelas das CCBs representadas pelos CCCBs de titularidade da Classe, os quais serão conciliados e repassados pelo Endossan</a:t>
            </a:r>
          </a:p>
          <a:p>
            <a:r>
              <a:t>CNPJ 54871427000194 · Natureza dos recebíveis · Versão e prevalência: Leitura específica das cláusulas indicadas; condições e conflitos preservados. Seleção documental atual não comprova vigência jurídica por data isolada.</a:t>
            </a:r>
          </a:p>
          <a:p>
            <a:r>
              <a:t>CNPJ 54871427000194 · Natureza dos recebíveis · Resumo do histórico: {"count": 3, "dates": ["2024-04-19", "2024-04-28"], "document_count": 2, "sources": [{"document_id": "670691", "title": "Regulamento", "reference_date": "2024-04-28", "version": "1", "page": "9, 38-39", "url": "https://fnet.bmfbovespa.com.br/fnet/publico/visualizarDocumento?id=670691", "sha256": "bf16dd7f1a62d5cdbf2e2d54fef81783783f7310fbc99c3a8f00459bdf9d037b"}, {"document_id": "670691", "title": "Regulamento", "reference_date": "2024-04-28", "version": "1", "page": 34, "clause": "15.1.5", "url": "https://fnet.bmfbovespa.com.br/fnet/publico/visualizarDocumento?id=670691", "sha256": "bf16dd7f1a62d5cdbf2e2d54fef81783783f7310fbc99c3a8f00459bdf9d037b"}, {"document_id": "670689", "title": "Regulamento", "reference_date": "2024-04-19", "version": "1", "page": 35, "clause": "15.1.5", "url": "https://fnet.bmfbovespa.com.br/fnet/publico/visualizarDocumento?id=670689", "sha256": "891bc9bc5d87bbc02ec139077a84d2702eb81ea02035fb71d24f5b8366b94a0b"}], "reference": {"path": "history/54871427000194.json", "criterion_id": "receivables", "total_count": 3, "preview_count": 3, "full_text_deferred": true, "sha256": "35d7cd99be50c7287c9fb675cf4f2e736002315295a225a9efa79c8d9186d874"}}</a:t>
            </a:r>
          </a:p>
          <a:p>
            <a:r>
              <a:t>CNPJ 60010416000112 · Natureza dos recebíveis · Regulamento · ID 1051393 · 09/10/2025 · versão Regulamento09/10/2025 · p. 9 · AnexoI4.2 · https://fnet.bmfbovespa.com.br/fnet/publico/visualizarDocumento?id=1051393</a:t>
            </a:r>
          </a:p>
          <a:p>
            <a:r>
              <a:t>CNPJ 60010416000112 · Natureza dos recebíveis · Excerto da fonte:</a:t>
            </a:r>
          </a:p>
          <a:p>
            <a:r>
              <a:t>4.2 Os Direitos Creditórios são originados no âmbito de operações de empréstimo consignado concedido pelo Endossante a um Devedor por meio da Plataforma MT e representado por CCB, devidamente formalizada por via eletrônica, de acordo com a legislação aplicável, observada a Política de Crédito constante do Contrato de Endosso. O Endossante celebrou o Convênio Consignado Privado previamente ao endosso de Direitos Creditórios Elegíveis à Classe, para que, após a averbação dos Direitos Creditórios na Dataprev, o pagamento regular dos Direitos Creditórios decorrentes das CCB seja f eito por Consignação</a:t>
            </a:r>
          </a:p>
          <a:p>
            <a:r>
              <a:t>CNPJ 60010416000112 · Natureza dos recebíveis · Versão e prevalência: Leitura específica das cláusulas indicadas; condições e conflitos preservados. Seleção documental atual não comprova vigência jurídica por data isolada.</a:t>
            </a:r>
          </a:p>
          <a:p>
            <a:r>
              <a:t>CNPJ 60010416000112 · Natureza dos recebíveis · Resumo do histórico: {"count": 2, "dates": ["2025-03-20", "2025-10-09"], "document_count": 2, "sources": [{"document_id": "1051393", "title": "Regulamento", "reference_date": "2025-10-09", "version": "1", "page": "9-11", "url": "https://fnet.bmfbovespa.com.br/fnet/publico/visualizarDocumento?id=1051393", "sha256": "8469d613078ffd5a6c1d217885d8a397a16342c0b937ae4aa24b106505f233ae"}, {"document_id": "993786", "title": "Regulamento", "reference_date": "2025-03-20", "version": "1", "page": 30, "clause": "12.5.1", "url": "https://fnet.bmfbovespa.com.br/fnet/publico/visualizarDocumento?id=993786", "sha256": "fd0fdd369a195510d81f81f505195a0b09e5f43522a990afa7d58c4f872921c8"}], "reference": {"path": "history/60010416000112.json", "criterion_id": "receivables", "total_count": 2, "preview_count": 2, "full_text_deferred": true, "sha256": "8e2bd813f4c51cf01f6bfaad164bafe69d2bbb192f753eac92da3a01c2e63046"}}</a:t>
            </a:r>
          </a:p>
          <a:p>
            <a:r>
              <a:t>CNPJ 62696791000193 · Natureza dos recebíveis · Regulamento · ID 1143317 · 20/03/2026 · versão Regulamento — referência 20/03/2026 · p. 6 · Anexo I, 1.1, Objetivo · https://fnet.bmfbovespa.com.br/fnet/publico/visualizarDocumento?id=1143317</a:t>
            </a:r>
          </a:p>
          <a:p>
            <a:r>
              <a:t>CNPJ 62696791000193 · Natureza dos recebíveis · Excerto da fonte:</a:t>
            </a:r>
          </a:p>
          <a:p>
            <a:r>
              <a:t>A Classe tem por objetivo proporcionar aos Cotistas a valorização e a rentabilidade de suas cotas (“Cotas”), conforme a política de investimentos def inida no Capítulo IV abaixo (“Política de Investimentos”), por meio de aplicação do seu Patrimônio Líquido (conforme def inido abaixo) nos seguintes ativos de origem vinculada às cadeias produtivas do agronegócio (“Direitos Creditórios do Agronegócio”): (i) títulos de crédito emitidos por pessoas naturais e jurídicas que integrem as cadeias produtivas do agronegócio; (ii) direitos creditórios do agronegócio; (iii) certificados de recebíveis do agronegócio e outros títulos de securitização emitidos com lastro em direitos creditórios do agronegócio; e (iv) certificados de recebíveis e outro</a:t>
            </a:r>
          </a:p>
          <a:p>
            <a:r>
              <a:t>CNPJ 62696791000193 · Natureza dos recebíveis · Regulamento · ID 1143317 · 20/03/2026 · versão Regulamento — referência 20/03/2026 · p. 7 · Anexo I, 1.1, Objetivo · https://fnet.bmfbovespa.com.br/fnet/publico/visualizarDocumento?id=1143317</a:t>
            </a:r>
          </a:p>
          <a:p>
            <a:r>
              <a:t>CNPJ 62696791000193 · Natureza dos recebíveis · Excerto da fonte:</a:t>
            </a:r>
          </a:p>
          <a:p>
            <a:r>
              <a:t>(i) participações em sociedades que explorem atividades integrantes das cadeias produtivas do agronegócio. (C) Categoria “Financeiro” (“Ativos Financeiros do Agronegócio Financeiros”): (i) ativos f inanceiros e valores mobiliários emitidos por pessoas naturais e jurídicas que integrem as cadeias produtivas do agronegócio. (D) Categoria “Geral” (“Ativos em Geral do Agronegócio”): (i) cotas de classes que apliquem mais de 50% (cinquenta por cento) de seu patrimônio líquido nos ativos referidos nos incisos “A” a “D” acima, o que inclui cotas de outros FIAGRO, mas não se limita a essa categoria de f undos. Os Ativos Imobiliários do Agronegócio, Participações do Agronegócio,</a:t>
            </a:r>
          </a:p>
          <a:p>
            <a:r>
              <a:t>CNPJ 62696791000193 · Natureza dos recebíveis · Versão e prevalência: Leitura específica das cláusulas indicadas; condições e conflitos preservados. Seleção documental atual não comprova vigência jurídica por data isolada.</a:t>
            </a:r>
          </a:p>
          <a:p>
            <a:r>
              <a:t>CNPJ 55563624000109 · Natureza dos recebíveis · Regulamento · ID 1192614 · 30/04/2026 · versão Regulamento30/04/2026 · p. 11 · AnexoI4.1 · https://fnet.bmfbovespa.com.br/fnet/publico/visualizarDocumento?id=1192614</a:t>
            </a:r>
          </a:p>
          <a:p>
            <a:r>
              <a:t>CNPJ 55563624000109 · Natureza dos recebíveis · Excerto da fonte:</a:t>
            </a:r>
          </a:p>
          <a:p>
            <a:r>
              <a:t>4.1 Observados os demais termos deste Anexo, o objetivo da Classe é investir seus recursos em (i) cotas subordinadas mezanino de emissão da classe única do MERCADO CRÉDITO II BRASIL FUNDO DE INVESTIMENTO EM DIREITOS CREDITÓRIOS NÃO PADRONIZADOS, fundo de investimento em direitos creditórios inscrito no CNPJ sob o nº 41.970.012/0001-26 (“Cotas da Classe Investida” e “Classe Investida”, respectivamente), a qual, por sua vez, aplica seus recursos preponderantemente em direitos creditórios originados pela Mercado Pago, de acordo com os termos e condições est</a:t>
            </a:r>
          </a:p>
          <a:p>
            <a:r>
              <a:t>CNPJ 55563624000109 · Natureza dos recebíveis · Regulamento · ID 1192614 · 30/04/2026 · versão Regulamento30/04/2026 · p. 12 · AnexoI4.5 · https://fnet.bmfbovespa.com.br/fnet/publico/visualizarDocumento?id=1192614</a:t>
            </a:r>
          </a:p>
          <a:p>
            <a:r>
              <a:t>CNPJ 55563624000109 · Natureza dos recebíveis · Excerto da fonte:</a:t>
            </a:r>
          </a:p>
          <a:p>
            <a:r>
              <a:t>4.5 Uma vez que o investimento nas Cotas da Classe Investida não corresponde a um investimento direto em direitos creditórios, uma série de disposições comuns à securitização de direitos creditórios não será aplicável ao investimento nas Cotas da Classe Investida. A título meramente exemplificativo, não existem processos de originação ou política de concessão de crédito adotada pelo GESTOR, tampouco há que se falar em verificação ou guarda de documentos comprobatórios que não sejam referentes às Cotas da Classe Investida. Da mesma forma, não há necessida</a:t>
            </a:r>
          </a:p>
          <a:p>
            <a:r>
              <a:t>CNPJ 55563624000109 · Natureza dos recebíveis · Versão e prevalência: Leitura específica das cláusulas indicadas; condições e conflitos preservados. Seleção documental atual não comprova vigência jurídica por data isolada.</a:t>
            </a:r>
          </a:p>
          <a:p>
            <a:r>
              <a:t>CNPJ 55563624000109 · Natureza dos recebíveis · Resumo do histórico: {"count": 4, "dates": ["2025-01-31", "2026-01-31", "2026-04-30"], "document_count": 3, "sources": [{"document_id": "1192614", "title": "Regulamento", "reference_date": "2026-04-30", "version": "1", "page": "11", "url": "https://fnet.bmfbovespa.com.br/fnet/publico/visualizarDocumento?id=1192614", "sha256": "f56e63ace0acde41d2f47fb48f1ac7f3f7df5e2d32de092d7c5e075a52516632"}, {"document_id": "1178840", "title": "Demonstrações Financeiras", "reference_date": "2026-01-31", "version": "1", "page": 16, "url": "https://fnet.bmfbovespa.com.br/fnet/publico/visualizarDocumento?id=1178840", "sha256": "c458e98664c5c907ddb5a05a94b120bed4e05295b2bfc420f5ba69af0a229abe"}, {"document_id": "891861", "title": "Demonstrações Financeiras", "reference_date": "2025-01-31", "version": "1", "page": 16, "url": "https://fnet.bmfbovespa.com.br/fnet/publico/visualizarDocumento?id=891861", "sha256": "e9cb9e6ddbe505fe068cfcac33605165a98313489de0d3ce6d4d238263c3f3e7"}], "reference": {"path": "history/55563624000109.json", "criterion_id": "receivables", "total_count": 4, "preview_count": 3, "full_text_deferred": true, "sha256": "7835d573fb58a3c19adf5b8ecc2aee2bdbb9a88f7a0c0209b5f262b64c7522e3"}}</a:t>
            </a:r>
          </a:p>
          <a:p>
            <a:r>
              <a:t>CNPJ 62552447000120 · Natureza dos recebíveis · Regulamento · ID 1200623 · 21/05/2026 · versão Consolidado21/05/2026 aprovado pelo ato1200625 · p. 11 · AnexoI4.2–4.3 · https://fnet.bmfbovespa.com.br/fnet/publico/visualizarDocumento?id=1200623</a:t>
            </a:r>
          </a:p>
          <a:p>
            <a:r>
              <a:t>CNPJ 62552447000120 · Natureza dos recebíveis · Excerto da fonte:</a:t>
            </a:r>
          </a:p>
          <a:p>
            <a:r>
              <a:t>4.2 Os Direitos Creditórios Consignado Privado e os Direitos Creditórios FGTS são originados no âmbito de CCBs emitidas eletronicamente pelos Devedores ao Endossante, representando, respectivamente, empréstimos consignados, com desconto em f olha de pagamento, e empréstimos pessoais, com garantia de cessão f iduciária do Saque-aniversário. 4.3 A operacionalização é f eita por meio da plataforma eletrônica mantida pelo Originador e utilizada por ele em relação ao processamento e monitoramento das operações de crédito (“Plataforma VR”), de acordo com a legislação aplicável, observada a política de crédit</a:t>
            </a:r>
          </a:p>
          <a:p>
            <a:r>
              <a:t>CNPJ 62552447000120 · Natureza dos recebíveis · Regulamento · ID 1200623 · 21/05/2026 · versão Consolidado21/05/2026 aprovado pelo ato1200625 · p. 6 · AnexoI1.2 Direitos Creditórios(d) · https://fnet.bmfbovespa.com.br/fnet/publico/visualizarDocumento?id=1200623</a:t>
            </a:r>
          </a:p>
          <a:p>
            <a:r>
              <a:t>CNPJ 62552447000120 · Natureza dos recebíveis · Excerto da fonte:</a:t>
            </a:r>
          </a:p>
          <a:p>
            <a:r>
              <a:t>Refinanciamento Livre”, na forma de CCBs originadas no âmbito de um refinanciamento, de acordo com a política de cobrança vigente, de Direitos Creditórios Consignado Privado e de Direitos Creditórios FGTS, que não contem com o lastro de Consignação ou de cessão f iduciária do Saque-Aniversário, respectivamente; e (ii) “Ativos Financei</a:t>
            </a:r>
          </a:p>
          <a:p>
            <a:r>
              <a:t>CNPJ 62552447000120 · Natureza dos recebíveis · Condição: Direitos de refinanciamento livre têm mecanismo de pagamento diferente do consignado/FGTS original.</a:t>
            </a:r>
          </a:p>
          <a:p>
            <a:r>
              <a:t>CNPJ 62552447000120 · Natureza dos recebíveis · Versão e prevalência: Leitura específica das cláusulas indicadas; condições e conflitos preservados. Seleção documental atual não comprova vigência jurídica por data isolada.</a:t>
            </a:r>
          </a:p>
          <a:p>
            <a:r>
              <a:t>CNPJ 63953620000165 · Natureza dos recebíveis · Anexo ao Regulamento · ID 1222863 · 02/06/2026 · versão AnexoConsignadoPrivado02/06/2026 · p. 5 · 4.4 · https://fnet.bmfbovespa.com.br/fnet/publico/visualizarDocumento?id=1222863</a:t>
            </a:r>
          </a:p>
          <a:p>
            <a:r>
              <a:t>CNPJ 63953620000165 · Natureza dos recebíveis · Excerto da fonte:</a:t>
            </a:r>
          </a:p>
          <a:p>
            <a:r>
              <a:t>4.4 Os Direitos Creditórios Consignado Privado são originados no âmbito de operações de empréstimo consignado concedido pelo Endossante a um Devedor por meio da plataforma eletrônica mantida pelo Agente de Retenção/ Cobrança e utilizada por ele em relação ao processamento e monitoramento das operações de crédito consignado (“Plataforma MT”) e representado por CCB, devidamente formalizada por via eletrônica, de acordo com a legislação aplicável, observada a política de crédito constante do Contrato de Endosso. O Endossante celebrou o Convênio Consignado Privado previamente ao endosso de Direitos Creditórios Elegíveis à Clas</a:t>
            </a:r>
          </a:p>
          <a:p>
            <a:r>
              <a:t>CNPJ 63953620000165 · Natureza dos recebíveis · Anexo ao Regulamento · ID 1222863 · 02/06/2026 · versão AnexoConsignadoPrivado02/06/2026 · p. 1 · 1.1Objetivo · https://fnet.bmfbovespa.com.br/fnet/publico/visualizarDocumento?id=1222863</a:t>
            </a:r>
          </a:p>
          <a:p>
            <a:r>
              <a:t>CNPJ 63953620000165 · Natureza dos recebíveis · Excerto da fonte:</a:t>
            </a:r>
          </a:p>
          <a:p>
            <a:r>
              <a:t>Direitos Creditórios Crédito Consignado”, representados por cédula de crédito bancário regida pela Lei nº 10.931, emitida eletronicamente por um devedor em favor do endossante (“CCB”) e, consequentemente, os recebíveis decorrente de cada uma das parcelas vincendas, representando um empréstimo consignado concedido pelo endossante ao devedor, e cujo pagamento ordinário é feito por desconto de cada prestação vincenda de uma CCB na folha de</a:t>
            </a:r>
          </a:p>
          <a:p>
            <a:r>
              <a:t>CNPJ 63953620000165 · Natureza dos recebíveis · Versão e prevalência: Leitura específica das cláusulas indicadas; condições e conflitos preservados. Seleção documental atual não comprova vigência jurídica por data isolada.</a:t>
            </a:r>
          </a:p>
          <a:p>
            <a:r>
              <a:t>CNPJ 63953620000165 · Natureza dos recebíveis · Resumo do histórico: {"count": 8, "dates": ["2026-04-28", "2026-05-08", "2026-05-15"], "document_count": 3, "sources": [{"document_id": "1327859", "title": "Demonstrações Financeiras - Fusão, cisão e incorporação", "reference_date": "2026-05-15", "version": "1", "page": 21, "url": "https://fnet.bmfbovespa.com.br/fnet/publico/visualizarDocumento?id=1327859", "sha256": "dca1c68babb97f887528c3e2e47596a9c30f507b067981a35655b2f2da9c8054"}, {"document_id": "1298691", "title": "Demonstrações Financeiras - Fusão, cisão e incorporação", "reference_date": "2026-05-08", "version": "1", "page": 24, "url": "https://fnet.bmfbovespa.com.br/fnet/publico/visualizarDocumento?id=1298691", "sha256": "58c570d9b8d4d265330d3db3ea81c435b8e44a6dab4002aa37790652a1ee9819"}, {"document_id": "1282180", "title": "Demonstrações Financeiras - Fusão, cisão e incorporação", "reference_date": "2026-04-28", "version": "1", "page": 24, "url": "https://fnet.bmfbovespa.com.br/fnet/publico/visualizarDocumento?id=1282180", "sha256": "afaaa0e6809be4385e5bdb6c911aac582032c5bdbac3d7750234bf9eaf00438a"}], "reference": {"path": "history/63953620000165.json", "criterion_id": "receivables", "total_count": 8, "preview_count": 3, "full_text_deferred": true, "sha256": "a7b89077f5e21098c2d601c303faabc3ff6b9729f89d8afecdc60fe1404720c1"}}</a:t>
            </a:r>
          </a:p>
          <a:p>
            <a:r>
              <a:t>CNPJ 54871427000194 · Originador e endossante · Regulamento · ID 670691 · 2024-04-28 · versão 1 · p. 11 · 4.11.2 · https://fnet.bmfbovespa.com.br/fnet/publico/visualizarDocumento?id=670691</a:t>
            </a:r>
          </a:p>
          <a:p>
            <a:r>
              <a:t>CNPJ 54871427000194 · Originador e endossante · Excerto da fonte:</a:t>
            </a:r>
          </a:p>
          <a:p>
            <a:r>
              <a:t>4.11.2 A Classe poderá ter até 100% (cem por cento) do Patrimônio Líquido representado por Direitos  Creditórios originados ou cedidos por um mesmo Endossante e/ou originados por um mesmo  Originador.</a:t>
            </a:r>
          </a:p>
          <a:p>
            <a:r>
              <a:t>CNPJ 54871427000194 · Originador e endossante · Regulamento · ID 670691 · 2024-04-28 · versão 1 · p. 13 · 4.17 · https://fnet.bmfbovespa.com.br/fnet/publico/visualizarDocumento?id=670691</a:t>
            </a:r>
          </a:p>
          <a:p>
            <a:r>
              <a:t>CNPJ 54871427000194 · Originador e endossante · Excerto da fonte:</a:t>
            </a:r>
          </a:p>
          <a:p>
            <a:r>
              <a:t>4.17 É vedada qualquer forma de antecipação de recursos aos Endossantes para posterior reembolso pela  Classe, seja pelo ADMINISTRADOR, GESTOR, CUSTODIANTE, consultora ou Originadores.</a:t>
            </a:r>
          </a:p>
          <a:p>
            <a:r>
              <a:t>CNPJ 54871427000194 · Originador e endossante · Regulamento · ID 670691 · 2024-04-28 · versão 1 · p. 34 · 15.1.5 · https://fnet.bmfbovespa.com.br/fnet/publico/visualizarDocumento?id=670691</a:t>
            </a:r>
          </a:p>
          <a:p>
            <a:r>
              <a:t>CNPJ 54871427000194 · Originador e endossante · Excerto da fonte:</a:t>
            </a:r>
          </a:p>
          <a:p>
            <a:r>
              <a:t>15.1.5 Outros Riscos:</a:t>
            </a:r>
          </a:p>
          <a:p>
            <a:r>
              <a:t> (i) Cobrança judicial ou extrajudicial dos Direitos Creditórios. No caso de os  Devedores inadimplirem as obrigações dos pagamentos dos Direitos Creditórios de titularidade  da Classe, poderá haver cobrança judicial e/ou extrajudicial dos valores devidos. Neste caso,  além da Classe incorrer em maiores custos relacionados à cobrança dos Direitos Creditórios  Inadimplidos, nada garante que ref eridas cobranças atingirão os resultados almejados, qual  seja, a recuperação do valor integral dos Direitos Creditórios Inadimplidos. Nesta hipótese, a  rentabilidade da Classe será af etada negativamente.</a:t>
            </a:r>
          </a:p>
          <a:p>
            <a:r>
              <a:t> (ii) Dif iculdade de obtenção de indenização ou recompra de Direitos Creditórios.</a:t>
            </a:r>
          </a:p>
          <a:p>
            <a:r>
              <a:t> Considerando a possibilidade de aquisição de Direitos Creditórios de terceiros — isso é  Endossantes que, por sua vez, adquiram os Direitos Creditórios de forma secundária, por meio  da cessão ou endosso realizado por credores anteriores da CCB — caso ocorram situações  que ensejem em recompra de tais Direitos Creditórios e/ou indenização, a Classe poderá ter  dif iculdades adicionais em obter tais indenizações e/ou recompras, na medida em que o direito  a tais indenizações e/ou recompras não está previsto em cada CCB, mas em contratos e  instrumentos dos quais a Classe não é originalmente parte, o que poderá causar perdas à  Classe e, consequentemente, aos Cotistas.</a:t>
            </a:r>
          </a:p>
          <a:p>
            <a:r>
              <a:t> (iii) Risco de concentração. O risco da aplicação na Classe possui forte correlação  com a concentração da Carteira, sendo que, quanto maior f or a concentração da Carteira,  maior será a chance de a Classe sofrer perda patrimonial significativa que afete negativamente  a rentabilidade das Cotas. A Classe não possui limite de concentração por Devedor ou  originador dos Direitos Creditórios, exceto por aqueles previstos na Resolução CVM  175, razão pela qual a Classe poderá estar exposto a significativa concentração por  Devedor. Não é possível garantir que os limites de concentração contidos na Política de  Investimentos, ainda que atendidos, serão suficientes que o Patrimônio Líquido não sofra  perdas que possam af etar a rentabilidade das Cotas.</a:t>
            </a:r>
          </a:p>
          <a:p>
            <a:r>
              <a:t> (iv) Possibilidade de conflito de interesses entre a Classe e os Originadores. Os  Originadores podem possuir relacionamento comercial com os Endossantes e/ou Devedores,  de modo que, em determinadas circunstâncias seus interesses podem ser conflitantes com os  interesses da Classe. Não é possível garantir que, materializada uma situação de conflito de  interesses conforme descrita acima, o Originador exponha-a adequadamente ao  ADMINISTRADOR e/ou aos Cotistas, ou que o f aça absolutamente, tampouco que agirá no  melhor no interesse da Classe. Nesses casos, a Classe pode vir a adquirir Direitos Creditórios  ou pode vir a ter seus Direitos Creditórios Inadimplidos pagos em condições comparativamente  menos vantajosas àquelas que seriam verificadas na ausência de tais conflitos de interesses.</a:t>
            </a:r>
          </a:p>
          <a:p>
            <a:r>
              <a:t> Nesses casos, o Patrimônio Líquido pode ser af etado adversamente.</a:t>
            </a:r>
          </a:p>
          <a:p>
            <a:r>
              <a:t> (v) Possibilidade de conflito de interesses entre Cotistas. As Cotas poderão ser  adquiridas por investidores que sejam sociedades coligadas, controladas ou controladoras,</a:t>
            </a:r>
          </a:p>
          <a:p>
            <a:r>
              <a:t>CNPJ 54871427000194 · Originador e endossante · Condição: Documentos atuais selecionados no inventário por categoria/escopo; a data documental isolada não comprova vigência jurídica.</a:t>
            </a:r>
          </a:p>
          <a:p>
            <a:r>
              <a:t>CNPJ 54871427000194 · Originador e endossante · Versão e prevalência: Documentos atuais selecionados no inventário por categoria/escopo; a data documental isolada não comprova vigência jurídica.</a:t>
            </a:r>
          </a:p>
          <a:p>
            <a:r>
              <a:t>CNPJ 54871427000194 · Originador e endossante · Resumo do histórico: {"count": 2, "dates": ["2024-04-19", "2024-04-28"], "document_count": 2, "sources": [{"document_id": "670691", "title": "Regulamento", "reference_date": "2024-04-28", "version": "1", "page": "9, 39", "url": "https://fnet.bmfbovespa.com.br/fnet/publico/visualizarDocumento?id=670691", "sha256": "bf16dd7f1a62d5cdbf2e2d54fef81783783f7310fbc99c3a8f00459bdf9d037b"}, {"document_id": "670689", "title": "Regulamento", "reference_date": "2024-04-19", "version": "1", "page": 9, "clause": "4.5", "url": "https://fnet.bmfbovespa.com.br/fnet/publico/visualizarDocumento?id=670689", "sha256": "891bc9bc5d87bbc02ec139077a84d2702eb81ea02035fb71d24f5b8366b94a0b"}], "reference": {"path": "history/54871427000194.json", "criterion_id": "originator", "total_count": 2, "preview_count": 2, "full_text_deferred": true, "sha256": "35d7cd99be50c7287c9fb675cf4f2e736002315295a225a9efa79c8d9186d874"}}</a:t>
            </a:r>
          </a:p>
          <a:p>
            <a:r>
              <a:t>CNPJ 60010416000112 · Originador e endossante · Regulamento · ID 1051393 · 09/10/2025 · versão Regulamento09/10/2025 · p. 44 · Glossário, Endossante · https://fnet.bmfbovespa.com.br/fnet/publico/visualizarDocumento?id=1051393</a:t>
            </a:r>
          </a:p>
          <a:p>
            <a:r>
              <a:t>CNPJ 60010416000112 · Originador e endossante · Excerto da fonte:</a:t>
            </a:r>
          </a:p>
          <a:p>
            <a:r>
              <a:t>“Endossante”: a Parati Crédito, Financiamento e Investimento S.A., instituição financeira constituída na forma de uma sociedade por ações, com sede na cidade de Vitória, estado do Espírito Santo, na Avenida Nossa Senhora da Penha, 699, torre A, conjuntos 404 a 407, Santa Lúcia, CEP 29.056-250, inscrita no CNPJ sob nº 03.311.443/0001-91; "Entidade Registradora": instituição autorizada pelo BACEN para realizar as atividades de registro e constituição, alteração e desconstituição de ônus e gravames sobre ativos f inanceiros registrados; “Escrituração”: significa a escrituração da Consignação a ser realizada pelo Empregador, junto ao eSocial, após recebimento de notif icação comunicando-o da contratação, pelo Devedor, do empréstimo a ser pago por Consignação; “Eventos de Avaliação”: os eventos de avaliação descritos no item 10.1 deste Anexo; “Eventos de Liquidação”: os eventos de liquidação descritos no item 10.3 deste Anexo; BTG Pactual SAC: 0800 772 28 27 - Ouvidoria: 0800 722 00 48 - btgpactual.com 44</a:t>
            </a:r>
          </a:p>
          <a:p>
            <a:r>
              <a:t>CNPJ 60010416000112 · Originador e endossante · Regulamento · ID 1051393 · 09/10/2025 · versão Regulamento09/10/2025 · p. 41 · Glossário, Agente de Retenção/Cobrança · https://fnet.bmfbovespa.com.br/fnet/publico/visualizarDocumento?id=1051393</a:t>
            </a:r>
          </a:p>
          <a:p>
            <a:r>
              <a:t>CNPJ 60010416000112 · Originador e endossante · Excerto da fonte:</a:t>
            </a:r>
          </a:p>
          <a:p>
            <a:r>
              <a:t>“Agente de Retenção/Cobrança”: significa a Tudo Serviços S.A., sociedade por ações com sede na Cidade de Eusébio, Estado do Ceará, na Comendador Ari Freitas, 577, CEP 61.760-000, inscrita no CNPJ sob nº 27.852.506/0001-85; “Agente Escriturador”: O Administrador, o qual se encontra devidamente habilitado pela CVM para prestar os serviços de escrituração das Cotas, ou seu sucessor a qualquer título; “Amortização”: signif ica cada uma das amortizações ordinárias de Cotas; “Amortização Extraordinária”: amortização extraordinária das Cotas Seniores, conforme deliberado pela Assembleia Especial de Cotistas, para reestabelecer o Índice de Subordinação, nos termos do item 5.5.1 do Anexo I; "ANBIMA": Associação Brasileira das Entidades dos Mercados Financeiro e de Capitais; "Código ANBIMA": Código ANBIMA de Regulação e Melhores Práticas para Administração de Recursos de Terceiros “Anexos”: tem o signif icado atribuído no Art. 3, inciso IV, da Resolução CVM 175, Parte Geral; “Apêndice”: cada um dos apêndices que integram este Anexo, descritivos de cada Subclasse de Cotas ou de aspectos aplicáveis à Classe; "Arquivos Dataprev": Arquivo de Consignações fornecido mensalmente pela Dataprev ao Endossante, contendo a totalidade das operações pend</a:t>
            </a:r>
          </a:p>
          <a:p>
            <a:r>
              <a:t>CNPJ 60010416000112 · Originador e endossante · Regulamento · ID 1051393 · 09/10/2025 · versão Regulamento09/10/2025 · p. 28 · AnexoI11.23 · https://fnet.bmfbovespa.com.br/fnet/publico/visualizarDocumento?id=1051393</a:t>
            </a:r>
          </a:p>
          <a:p>
            <a:r>
              <a:t>CNPJ 60010416000112 · Originador e endossante · Excerto da fonte:</a:t>
            </a:r>
          </a:p>
          <a:p>
            <a:r>
              <a:t>Tudo Serviços S.A., sociedade anônima, com sede no município de Eusébio, Estado do Ceará, na Comendador Ari Freitas, 577, CEP 61.760-000, inscrita no CNPJ sob o nº 27.852.506/0001-85, cujos deveres, sem prejuízo daqueles estabelecidos neste Regulamento, no Contrato de Serviços MT e no Contrato de Endosso, consistirão no monitoramento e cobrança dos Direitos Creditórios Inadimplidos, observado o disposto neste Anexo I e na regulamentação aplicável: (i) caso aplicável, atuar na retenção (defesa) de operações de empréstimo consignado cujos Direitos Creditórios sejam de titularidade da Classe, em caso d</a:t>
            </a:r>
          </a:p>
          <a:p>
            <a:r>
              <a:t>CNPJ 60010416000112 · Originador e endossante · Versão e prevalência: Leitura específica das cláusulas indicadas; condições e conflitos preservados. Seleção documental atual não comprova vigência jurídica por data isolada.</a:t>
            </a:r>
          </a:p>
          <a:p>
            <a:r>
              <a:t>CNPJ 60010416000112 · Originador e endossante · Resumo do histórico: {"count": 2, "dates": ["2025-03-20", "2025-10-09"], "document_count": 2, "sources": [{"document_id": "1051393", "title": "Regulamento", "reference_date": "2025-10-09", "version": "1", "page": "41-43", "url": "https://fnet.bmfbovespa.com.br/fnet/publico/visualizarDocumento?id=1051393", "sha256": "8469d613078ffd5a6c1d217885d8a397a16342c0b937ae4aa24b106505f233ae"}, {"document_id": "993786", "title": "Regulamento", "reference_date": "2025-03-20", "version": "1", "page": 25, "clause": "11.8", "url": "https://fnet.bmfbovespa.com.br/fnet/publico/visualizarDocumento?id=993786", "sha256": "fd0fdd369a195510d81f81f505195a0b09e5f43522a990afa7d58c4f872921c8"}], "reference": {"path": "history/60010416000112.json", "criterion_id": "originator", "total_count": 2, "preview_count": 2, "full_text_deferred": true, "sha256": "8e2bd813f4c51cf01f6bfaad164bafe69d2bbb192f753eac92da3a01c2e63046"}}</a:t>
            </a:r>
          </a:p>
          <a:p>
            <a:r>
              <a:t>CNPJ 62696791000193 · Originador e endossante · Regulamento · ID 1143317 · 20/03/2026 · versão Regulamento — referência 20/03/2026 · p. 10 · Anexo I, 4.4 e 4.6 · https://fnet.bmfbovespa.com.br/fnet/publico/visualizarDocumento?id=1143317</a:t>
            </a:r>
          </a:p>
          <a:p>
            <a:r>
              <a:t>CNPJ 62696791000193 · Originador e endossante · Excerto da fonte:</a:t>
            </a:r>
          </a:p>
          <a:p>
            <a:r>
              <a:t>4.4 Tendo em vista (i) a natureza variada dos Direitos Creditórios do Agronegócio passíveis de aquisição pela Classe; (ii) a amplitude da Política de Investimentos; e (iii) a potencial diversificação de Cedentes/Endossantes e Devedores, não é possível precisar os processos de origem dos Direitos Creditórios do Agronegócio e as políticas de concessão de crédito adotadas pelos Cedentes/Endossantes. 4.5 Os Direitos Creditórios do Agronegócio deverão contar com toda a documentação necessária para o exercício das prerrogativas decorrentes da titularidade dos ativos, e capaz de comprovar a origem, a existência e a exigibilidade dos Direitos Creditórios do Agronegócio (“Documentos Comprobatórios”) que evidenciem sua existência, validade e exequibilidade perante os respectivos Devedores. 4.5.1 Os Direitos Creditórios do Agronegócio serão adquiridos pela Classe por meio: (i) de contratos de cessão e/ou termos de cessão (“Contratos de Cessão”), contratos de promessa de endosso e/ou termos de endosso (“Contratos de Endosso”) firmados entre a Classe e os respectivos cedentes (“Cedentes”) / endossantes (“Endossantes”), acompanhados de todos os direitos, pri</a:t>
            </a:r>
          </a:p>
          <a:p>
            <a:r>
              <a:t>CNPJ 62696791000193 · Originador e endossante · Condição: A afirmação descreve um mandato amplo; não identifica contrapartes efetivamente presentes no IME.</a:t>
            </a:r>
          </a:p>
          <a:p>
            <a:r>
              <a:t>CNPJ 62696791000193 · Originador e endossante · Versão e prevalência: Leitura específica das cláusulas indicadas; condições e conflitos preservados. Seleção documental atual não comprova vigência jurídica por data isolada.</a:t>
            </a:r>
          </a:p>
          <a:p>
            <a:r>
              <a:t>CNPJ 55563624000109 · Originador e endossante · Regulamento · ID 1192614 · 2026-04-30 · versão 1 · p. 32 · https://fnet.bmfbovespa.com.br/fnet/publico/visualizarDocumento?id=1192614</a:t>
            </a:r>
          </a:p>
          <a:p>
            <a:r>
              <a:t>CNPJ 55563624000109 · Originador e endossante · Excerto da fonte:</a:t>
            </a:r>
          </a:p>
          <a:p>
            <a:r>
              <a:t>(b) Questionamento judicial. Os devedores podem questionar judicialmente (1) a validade  dos direitos creditórios, inclusive em razão da legalidade dos limites de crédito  concedidos pelo originador ou cedente e das taxas de juros praticadas, antes e/ou após  a sua transferência para a Classe Investida; e/ou (2) os termos e condições da  transferência dos direitos creditórios à Classe Investida. Em qualquer caso, é possível  que a Classe Investida não receba parte ou a totalidade dos valores relativos aos  direitos creditórios de sua titularidade objeto de questionamento judicial.</a:t>
            </a:r>
          </a:p>
          <a:p>
            <a:r>
              <a:t> (c) Risco de originação de direitos creditórios. Os direitos creditórios a serem adquiridos  pela Classe Investida são decorrentes de operações de empréstimo específicas  envolvendo as operações do Mercado Pago, conforme detalhadas no regulamento da  Classe Investida. Na hipótese de não originação, originação insuficiente ou  indisponibilidade para aquisição pelo Classe Investida, por qualquer motivo, inclusive  em caso de redução ou descontinuidade das operações regulares dos cedentes, de  direitos creditórios que satisfaçam os critérios de elegibilidade, as condições de cessão  e a política de investimento, composição e diversificação da carteira da Classe Investida  descrita em seu regulamento, a Classe Investida poderá ser incapaz de alocar a  totalidade de seus recursos, o que poderá inviabilizar a realização das chamadas de  capital por seu administrador, afetando negativamente a continuidade da Classe  Investida, a expectativa de seus cotistas, incluindo a Classe, com relação ao seu  horizonte de investimento, a rentabilidade da Classe Investida e, consequentemente, o  valor das Cotas da Classe Investida, impactando assim a Classe e os investimentos dos  Cotistas em Cotas.</a:t>
            </a:r>
          </a:p>
          <a:p>
            <a:r>
              <a:t> (d) Originação por meio fraudulento. A Classe Investida pode adquirir direitos creditórios  que tenham sido originados por meio fraudulento. Nesse caso, a Classe Investida não  poderá exigir o pagamento dos respectivos valores por parte dos devedores lesados,  restando-lhe somente exigir do cedente o pagamento do valor correspondente aos  direitos creditórios fraudulentos, na forma prevista no respectivo contrato de cessão. A  restituição devida pelo cedente poderá demorar a ser realizada ou simplesmente não  ocorrer. Em ambos os casos, o patrimônio da Classe Investida seria impactado  negativamente, igualmente afetando, consequentemente, a Classe.</a:t>
            </a:r>
          </a:p>
          <a:p>
            <a:r>
              <a:t> (e) Questionamento da validade e da eficácia da cessão dos Direitos Creditórios. A validade  e a eficácia da cessão dos direitos creditórios à Classe Investida poderão ser  questionadas, inclusive em decorrência de intervenção, liquidação, Regime de  Administração Especial Temporária (RAET), pedido de recuperação judicial, falência,  plano de recuperação extrajudicial ou outro procedimento de natureza similar  originador ou do cedente. A titularidade direitos creditórios poderá vir a ser  questionada caso (1) haja garantias reais sobre os direitos creditórios, constituídas  antes da sua cessão e sem o conhecimento da Classe Investida; (2) ocorra a penhora ou  outra forma de constrição judicial sobre os direitos creditórios, antes da sua cessão e sem  o conhecimento da Classe Investida; (3) seja verificada, em processo judicial, fraude  contra credores ou fraude à execução praticada pelo respectivo originador ou cedente;</a:t>
            </a:r>
          </a:p>
          <a:p>
            <a:r>
              <a:t> ou (4) a cessão dos direitos creditórios à Classe Investida seja revogada, quando restar  comprovado que foi praticada com a intenção de prejudicar os credores do originador  ou do cedente. Em qualquer hipótese, os direitos creditórios integrantes da carteira da  Classe Investida poderão ser bloqueados ou redirecionados para o pagamento de  outras obrigações do originador ou cedente, afetando negativamente os patrimônios  da Classe Investida e a rentabilidade das suas cotas.</a:t>
            </a:r>
          </a:p>
          <a:p>
            <a:r>
              <a:t>CNPJ 55563624000109 · Originador e endossante · Regulamento · ID 1192614 · 2026-04-30 · versão 1 · p. 28 · https://fnet.bmfbovespa.com.br/fnet/publico/visualizarDocumento?id=1192614</a:t>
            </a:r>
          </a:p>
          <a:p>
            <a:r>
              <a:t>CNPJ 55563624000109 · Originador e endossante · Excerto da fonte:</a:t>
            </a:r>
          </a:p>
          <a:p>
            <a:r>
              <a:t>Classe, na forma da regulamentação aplicável, observado que os prestadores de serviços eventualmente  subcontratados não podem ser, em relação à Classe, o originador, cedente, o GESTOR, consultoria especializada  ou partes a eles relacionadas, tais como definidas nas regras contábeis que tratam desse assunto.</a:t>
            </a:r>
          </a:p>
          <a:p>
            <a:r>
              <a:t>CNPJ 55563624000109 · Originador e endossante · Condição: Documentos atuais selecionados no inventário por categoria/escopo; a data documental isolada não comprova vigência jurídica.</a:t>
            </a:r>
          </a:p>
          <a:p>
            <a:r>
              <a:t>CNPJ 55563624000109 · Originador e endossante · Versão e prevalência: Documentos atuais selecionados no inventário por categoria/escopo; a data documental isolada não comprova vigência jurídica.</a:t>
            </a:r>
          </a:p>
          <a:p>
            <a:r>
              <a:t>CNPJ 55563624000109 · Originador e endossante · Resumo do histórico: {"count": 3, "dates": ["2025-01-31", "2026-01-31", "2026-04-30"], "document_count": 3, "sources": [{"document_id": "1192614", "title": "Regulamento", "reference_date": "2026-04-30", "version": "1", "page": "11", "url": "https://fnet.bmfbovespa.com.br/fnet/publico/visualizarDocumento?id=1192614", "sha256": "f56e63ace0acde41d2f47fb48f1ac7f3f7df5e2d32de092d7c5e075a52516632"}, {"document_id": "1178840", "title": "Demonstrações Financeiras", "reference_date": "2026-01-31", "version": "1", "page": 16, "url": "https://fnet.bmfbovespa.com.br/fnet/publico/visualizarDocumento?id=1178840", "sha256": "c458e98664c5c907ddb5a05a94b120bed4e05295b2bfc420f5ba69af0a229abe"}, {"document_id": "891861", "title": "Demonstrações Financeiras", "reference_date": "2025-01-31", "version": "1", "page": 16, "url": "https://fnet.bmfbovespa.com.br/fnet/publico/visualizarDocumento?id=891861", "sha256": "e9cb9e6ddbe505fe068cfcac33605165a98313489de0d3ce6d4d238263c3f3e7"}], "reference": {"path": "history/55563624000109.json", "criterion_id": "originator", "total_count": 3, "preview_count": 3, "full_text_deferred": true, "sha256": "7835d573fb58a3c19adf5b8ecc2aee2bdbb9a88f7a0c0209b5f262b64c7522e3"}}</a:t>
            </a:r>
          </a:p>
          <a:p>
            <a:r>
              <a:t>CNPJ 62552447000120 · Originador e endossante · Regulamento · ID 1200623 · 21/05/2026 · versão Consolidado21/05/2026 aprovado pelo ato1200625 · p. 12 · AnexoI4.4.1(i) · https://fnet.bmfbovespa.com.br/fnet/publico/visualizarDocumento?id=1200623</a:t>
            </a:r>
          </a:p>
          <a:p>
            <a:r>
              <a:t>CNPJ 62552447000120 · Originador e endossante · Excerto da fonte:</a:t>
            </a:r>
          </a:p>
          <a:p>
            <a:r>
              <a:t>BANCO VR S.A., instituição f inanceira, com sede no município e Estado de São Paulo, na Av. Dos Bandeirantes, n.º 460, Brooklin Paulista, CEP 04553-900, inscrita no CNPJ sob o n.º 78.626.983/0001- 63, ou qualquer outra sociedade do mesmo grupo econômico, na qualidade de endossante (“Endossante”), acompanhados de todos os direitos, privilégios, pref erências, prerrogativas, ações e garantias assegurados aos seus titulares; (ii) da subscrição de títulos de crédito e/ou valores mobiliários, incluindo, mas não se</a:t>
            </a:r>
          </a:p>
          <a:p>
            <a:r>
              <a:t>CNPJ 62552447000120 · Originador e endossante · Regulamento · ID 1200623 · 21/05/2026 · versão Consolidado21/05/2026 aprovado pelo ato1200625 · p. 29 · AnexoI12.14 · https://fnet.bmfbovespa.com.br/fnet/publico/visualizarDocumento?id=1200623</a:t>
            </a:r>
          </a:p>
          <a:p>
            <a:r>
              <a:t>CNPJ 62552447000120 · Originador e endossante · Excerto da fonte:</a:t>
            </a:r>
          </a:p>
          <a:p>
            <a:r>
              <a:t>VR BENEFÍCIOS E SERVIÇOS DE PROCESSAMENTO S.A., sociedade anônima com sede no município e Estado de São Paulo, na Av. dos Bandeirantes, n.º 460, Brooklin Paulista, CEP 04553-900, inscrita no CNPJ sob o n.º 02.535.864/0004-86 (“Agente de Retenção e Cobrança” ou “Originador”), para os serviços de retenção de Direitos Creditórios e de cobrança de Direitos Creditórios Inadimplidos, de acordo com os contratos de prestação de serviços de retenção e cobrança celebrados entre o Agente de Retenção e Cobrança e a Classe (“Contratos de Retenção/Cobrança”). 12.15 O Agente de Retenção e Cobrança poderá, às expensas da Classe,</a:t>
            </a:r>
          </a:p>
          <a:p>
            <a:r>
              <a:t>CNPJ 62552447000120 · Originador e endossante · Versão e prevalência: Leitura específica das cláusulas indicadas; condições e conflitos preservados. Seleção documental atual não comprova vigência jurídica por data isolada.</a:t>
            </a:r>
          </a:p>
          <a:p>
            <a:r>
              <a:t>CNPJ 63953620000165 · Originador e endossante · Anexo ao Regulamento · ID 1222863 · 02/06/2026 · versão AnexoConsignadoPrivado02/06/2026 · p. 5 · 4.3–4.4 · https://fnet.bmfbovespa.com.br/fnet/publico/visualizarDocumento?id=1222863</a:t>
            </a:r>
          </a:p>
          <a:p>
            <a:r>
              <a:t>CNPJ 63953620000165 · Originador e endossante · Excerto da fonte:</a:t>
            </a:r>
          </a:p>
          <a:p>
            <a:r>
              <a:t>4.3 Os Direitos Creditórios serão adquiridos pela Classe por meio: (i) contratos de promessa de endosso e/ou termos de endosso (“Contratos de Endosso”) firmados entre a Classe e a Parati Crédito, Financiamento e Investimento S.A., instituição financeira constituída na forma de uma sociedade por ações, com sede na cidade de Vitória, estado do Espírito Santo, na Avenida Nossa Senhora da Penha, 699, torre A, conjuntos 404 a 407, Santa Lúcia, CEP 29.056-250, inscrita no CNPJ sob nº 03.311.443/0001-91 (“Endossante” ou “Cedente”), acompanhados de todos os direitos, privilégios, preferências, prerrogativas, ações e garantias asse</a:t>
            </a:r>
          </a:p>
          <a:p>
            <a:r>
              <a:t>CNPJ 63953620000165 · Originador e endossante · Anexo ao Regulamento · ID 1222863 · 02/06/2026 · versão AnexoConsignadoPrivado02/06/2026 · p. 19 · 12.6 · https://fnet.bmfbovespa.com.br/fnet/publico/visualizarDocumento?id=1222863</a:t>
            </a:r>
          </a:p>
          <a:p>
            <a:r>
              <a:t>CNPJ 63953620000165 · Originador e endossante · Excerto da fonte:</a:t>
            </a:r>
          </a:p>
          <a:p>
            <a:r>
              <a:t>12.6 A Classe contratou a Tudo Serviços S.A., sociedade anônima, com sede no município de Fortaleza, Estado do Ceará, na Avenida Senador Virgulo Távora, nº 303, Lojas 02, 03, 04, 05, 06 e 19, Meireles, CEP 60.170-265, inscrita no CNPJ sob o nº 27.852.506/0001-85, cujos deveres, sem prejuízo daqueles estabelecidos neste Regulamento, no “Contrato de Serviços de Retenção e Cobrança e Outras Avenças”, celebrado entre o Agente de Retenção/Cobrança e a Classe (“Contrato de Serviços MT”) e no Contrato de Endosso, consistirão no monitoramento e cobrança dos Direitos Creditórios Inadimplidos, observado o disposto neste Anexo I e na</a:t>
            </a:r>
          </a:p>
          <a:p>
            <a:r>
              <a:t>CNPJ 63953620000165 · Originador e endossante · Condição: Nomeação nominal atual da classe; distinta da origem histórica dos ativos recebidos por cisão de outros veículos.</a:t>
            </a:r>
          </a:p>
          <a:p>
            <a:r>
              <a:t>CNPJ 63953620000165 · Originador e endossante · Versão e prevalência: Leitura específica das cláusulas indicadas; condições e conflitos preservados. Seleção documental atual não comprova vigência jurídica por data isolada.</a:t>
            </a:r>
          </a:p>
          <a:p>
            <a:r>
              <a:t>CNPJ 63953620000165 · Originador e endossante · Resumo do histórico: {"count": 8, "dates": ["2026-04-28", "2026-05-08", "2026-05-15"], "document_count": 3, "sources": [{"document_id": "1327859", "title": "Demonstrações Financeiras - Fusão, cisão e incorporação", "reference_date": "2026-05-15", "version": "1", "page": 23, "url": "https://fnet.bmfbovespa.com.br/fnet/publico/visualizarDocumento?id=1327859", "sha256": "dca1c68babb97f887528c3e2e47596a9c30f507b067981a35655b2f2da9c8054"}, {"document_id": "1298691", "title": "Demonstrações Financeiras - Fusão, cisão e incorporação", "reference_date": "2026-05-08", "version": "1", "page": 24, "url": "https://fnet.bmfbovespa.com.br/fnet/publico/visualizarDocumento?id=1298691", "sha256": "58c570d9b8d4d265330d3db3ea81c435b8e44a6dab4002aa37790652a1ee9819"}, {"document_id": "1282180", "title": "Demonstrações Financeiras - Fusão, cisão e incorporação", "reference_date": "2026-04-28", "version": "1", "page": 24, "url": "https://fnet.bmfbovespa.com.br/fnet/publico/visualizarDocumento?id=1282180", "sha256": "afaaa0e6809be4385e5bdb6c911aac582032c5bdbac3d7750234bf9eaf00438a"}], "reference": {"path": "history/63953620000165.json", "criterion_id": "originator", "total_count": 8, "preview_count": 3, "full_text_deferred": true, "sha256": "a7b89077f5e21098c2d601c303faabc3ff6b9729f89d8afecdc60fe1404720c1"}}</a:t>
            </a:r>
          </a:p>
          <a:p>
            <a:r>
              <a:t>CNPJ 54871427000194 · Devedor e consignação · Regulamento · ID 670691 · 2024-04-28 · versão 1 · p. 29 · https://fnet.bmfbovespa.com.br/fnet/publico/visualizarDocumento?id=670691</a:t>
            </a:r>
          </a:p>
          <a:p>
            <a:r>
              <a:t>CNPJ 54871427000194 · Devedor e consignação · Excerto da fonte:</a:t>
            </a:r>
          </a:p>
          <a:p>
            <a:r>
              <a:t>Anexo I ao Regulamento CLASSE ÚNICA DE RESPONSABILIDADE LIMITADA DO CONSIGNADO DELTA RECEIVABLES I FUNDO DE INVESTIMENTO EM DIREITOS CREDITÓRIOS  pelo Endossante e depositados em seu conta de sua titularidade para posterior repasse à  Classe. Neste caso, a Classe poderá sofrer perdas principalmente em relação ao atraso na  regularização da titularidade e pagamento dos Direitos Creditórios.</a:t>
            </a:r>
          </a:p>
          <a:p>
            <a:r>
              <a:t> (v) Risco de pré-pagamento dos Direitos Creditórios. A ocorrência de pré-  pagamentos em relação a um ou mais Direitos Creditórios poderá ocasionar perdas à Classe.</a:t>
            </a:r>
          </a:p>
          <a:p>
            <a:r>
              <a:t> A ocorrência de pré-pagamentos (pagamento em data anterior àquela originalmente pactuada)  de Direitos Creditórios reduz o horizonte original de rendimentos esperados pela Classe de  tais Direitos Creditórios, uma vez que o pré-pagamento poderá, se assim permitido pela  documentação do Direito Creditório ou, conf orme o caso, pela legislação aplicável, ser  realizado pelo valor de emissão do Direito Creditório atualizado até a data do pré-pagamento  pela taxa de juros pactuada entre os Endossantes e os Devedores de tais Direitos Creditórios,  de modo que os juros remuneratórios incidentes desde a data da realização do pré-pagamento  até a data de vencimento do respectivo Direito Creditório deixam de ser devidos à Classe.</a:t>
            </a:r>
          </a:p>
          <a:p>
            <a:r>
              <a:t> (vi) Riscos associados aos Devedores: os Direitos Creditórios a serem cedidos à  Classe serão descontados da remuneração do Devedor, através de desconto em f olha de  pagamento ou de benefício. Nesse sentido, na ocorrência de pré-pagamento, as parcelas  serão pagas antecipadamente e a Classe deverá utilizar tais montantes no pré-pagamento dos  Direitos Creditórios. Nesta hipótese, a Classe poderá não encontrar Direitos Creditórios  disponíveis para serem adquiridos pela Classe, o que poderá afetar a rentabilidade da Classe.</a:t>
            </a:r>
          </a:p>
          <a:p>
            <a:r>
              <a:t> (vii) Risco de Competição: o mercado de empréstimos experimentou grande  expansão no Brasil nos últimos anos. Nesse contexto, a Resolução CMN nº 4.292, alterada  pela Resolução nº 4.762, de 27 de novembro de 2019, dispõe que deve ser garantido às  pessoas naturais devedoras de operações de crédito (tais como as CCB) a possibilidade de  realizarem a portabilidade destas operações para outras instituições financeiras, inclusive nos  casos em que tenham sido objeto de cessão (tais como as realizadas à Classe). Nesse  cenário, é possível que os competidores do Endossante ofereçam condições e taxas mais  vantajosas para os empréstimos pessoais com consignação em f olha de pagamento ou de  benef ícios, o que pode causar a migração de clientes da Endossante para outras instituições  f inanceiras, gerando a liquidação antecipada de parte das CCB existentes e/ou redução no  número de Direitos Creditórios cedidos. Referida competição poderá af etar os resultados da  Classe, impactando negativamente os rendimentos dos Cotistas. Ainda, a portabilidade a um  Devedor pode acarretar no recebimento de valores inf eriores aos esperados pela Classe.</a:t>
            </a:r>
          </a:p>
          <a:p>
            <a:r>
              <a:t> (viii) Insuf iciência dos Critérios de Elegibilidade. Os Critérios de Elegibilidade têm a  f inalidade de selecionar os Direitos Creditórios passíveis de aquisição pela Classe. Não  obstante tais Critérios de Elegibilidade, a solvência dos Direitos Creditórios que compõem a  Carteira depende integralmente, mas não somente, da situação econômico-financeira dos  Devedores. Dessa f orma, a observância pelo GESTOR dos Critérios de Elegibilidade não  constitui garantia de adimplência dos Devedores.</a:t>
            </a:r>
          </a:p>
          <a:p>
            <a:r>
              <a:t> Os Endossantes não necessariamente garantem a solvência dos seus respectivos Devedores.</a:t>
            </a:r>
          </a:p>
          <a:p>
            <a:r>
              <a:t> O Endossante dos Direitos Creditórios não assumirá responsabilidade pelo seu pagamento ou  pela solvência dos respectivos Devedores. A Classe sofrerá o impacto do inadimplemento dos  Direitos Creditórios vencidos e não pagos pelos respectivos Devedores.</a:t>
            </a:r>
          </a:p>
          <a:p>
            <a:r>
              <a:t> (ix) Possibilidade de aquisição de Direitos Creditórios cedidos por Endossante  e/ou devidos por Devedores cujas demonstrações financeiras não sejam auditadas. A Classe,  desde que sejam respeitados os limites de concentração previstos neste Regulamento, poderá  manter a qualquer tempo em sua Carteira, Direitos Creditórios cedidos por Endossante e/ou  devidos por Devedores cujas demonstrações f inanceiras não sejam auditadas por Auditor  Independente registrado na CVM. Nesse sentido, não haverá verificação independente sobre  tais demonstrações f inanceiras que af irme se estas representam adequadamente, em todos  os aspectos relevantes, as respectivas posições patrimoniais e f inanceiras, os resultados de  suas operações, as mutações de seus respectivos patrimônios líquidos tampouco as origens  e aplicações de seus recursos.</a:t>
            </a:r>
          </a:p>
          <a:p>
            <a:r>
              <a:t>CNPJ 54871427000194 · Devedor e consignação · Regulamento · ID 670691 · 2024-04-28 · versão 1 · p. 27 · 14.2 · https://fnet.bmfbovespa.com.br/fnet/publico/visualizarDocumento?id=670691</a:t>
            </a:r>
          </a:p>
          <a:p>
            <a:r>
              <a:t>CNPJ 54871427000194 · Devedor e consignação · Excerto da fonte:</a:t>
            </a:r>
          </a:p>
          <a:p>
            <a:r>
              <a:t>14.2 Todos os custos e despesas ref eridos neste Capítulo, inclusive para salvaguarda de direitos e  prerrogativas da Classe e/ou com a cobrança judicial e/ou extrajudicial de Direitos Creditórios  Inadimplidos, serão de inteira responsabilidade da Classe, não estando o ADMINISTRADOR, o  GESTOR, o Endossante, os Devedores, o CUSTODIANTE e quaisquer de suas respectivas pessoas  controladoras, sociedades por estes direta ou indiretamente controladas, a estes coligadas ou outras  sociedades sob controle comum, em conjunto ou isoladamente, obrigados pelo adiantamento ou  pagamento de valores relacionados aos procedimentos ref eridos neste Capítulo.</a:t>
            </a:r>
          </a:p>
          <a:p>
            <a:r>
              <a:t>CNPJ 54871427000194 · Devedor e consignação · Regulamento · ID 670691 · 2024-04-28 · versão 1 · p. 31 · https://fnet.bmfbovespa.com.br/fnet/publico/visualizarDocumento?id=670691</a:t>
            </a:r>
          </a:p>
          <a:p>
            <a:r>
              <a:t>CNPJ 54871427000194 · Devedor e consignação · Excerto da fonte:</a:t>
            </a:r>
          </a:p>
          <a:p>
            <a:r>
              <a:t>Anexo I ao Regulamento CLASSE ÚNICA DE RESPONSABILIDADE LIMITADA DO CONSIGNADO DELTA RECEIVABLES I FUNDO DE INVESTIMENTO EM DIREITOS CREDITÓRIOS  a resgates de suas Cotas e/ou poderá ser obrigado a se desfazer de tais Ativos Financeiros  de Liquidez em condições menos f avoráveis do que se não houvesse a ref erida situação de  f alta de liquidez.</a:t>
            </a:r>
          </a:p>
          <a:p>
            <a:r>
              <a:t> (iv) Liquidação antecipada do FUNDO ou da Classe. Observado o disposto neste  Regulamento, o FUNDO ou a Classe poderão ser liquidados antecipadamente, caso ocorra  qualquer Evento de Liquidação, ou se assim deliberado pelos Cotistas reunidos em  Assembleia Geral de Cotistas. Por este motivo, os Cotistas poderão ter seu horizonte original  de investimento reduzido e poderão não conseguir reinvestir os recursos recebidos com a  mesma remuneração buscada pela Classe, não sendo devida pela Classe, pelo  ADMINISTRADOR, pelo GESTOR ou pelo CUSTODIANTE qualquer multa ou penalidade, a  qualquer título, em decorrência desse f ato. Adicionalmente, ocorrendo qualquer uma das  hipóteses de liquidação antecipada do FUNDO ou da Classe, poderá não haver recursos  disponíveis em moeda corrente nacional para realizar o pagamento aos Cotistas, que poderão  ser pagos com os Direitos Creditórios e Ativos Financeiros de Liquidez detidos em Carteira, os  quais estão sujeitos aos riscos apontados no item (iii) acima.</a:t>
            </a:r>
          </a:p>
          <a:p>
            <a:r>
              <a:t> (v) Amortização condicionada das Cotas. A única f onte de recursos da Classe  para ef etuar o pagamento de resgate ou amortização das Cotas, conforme o caso, é a  liquidação: (i) dos Direitos Creditórios, pelos respectivos Devedores; e (ii) dos Ativos  Financeiros de Liquidez, pelas respectivas contrapartes. Após o recebimento desses recursos  e, se f or o caso, depois de esgotados todos os meios cabíveis para a cobrança, extrajudicial  ou judicial, dos referidos ativos, a Classe não disporá de quaisquer outras verbas para efetuar  o resgate ou amortização das Cotas, conforme o caso, o que poderá acarretar prejuízo aos  Cotistas.</a:t>
            </a:r>
          </a:p>
          <a:p>
            <a:r>
              <a:t> Ademais, a Classe está exposta a determinados riscos inerentes aos Direitos Creditórios e  Ativos Financeiros de Liquidez e aos mercados em que são negociados, incluindo a eventual  impossibilidade de alienar ativos em caso de necessidade, especialmente os Direitos  Creditórios, devido à inexistência de um mercado secundário ativo e organizado para a  negociação dessa espécie de ativo. Considerando-se a sujeição do resgate das Cotas à  liquidação dos Direitos Creditórios e/ou dos Ativos Financeiros de Liquidez, conforme descrito  acima, tanto o ADMINISTRADOR quanto o GESTOR e o CUSTODIANTE estão  impossibilitados de assegurar que os resgates das Cotas ocorrerão nas datas originalmente  previstas, não sendo devido, nesta hipótese, pela Classe ou qualquer outra pessoa, incluindo  o ADMINISTRADOR, o GESTOR e o CUSTODIANTE, qualquer multa ou penalidade, de  qualquer natureza.</a:t>
            </a:r>
          </a:p>
          <a:p>
            <a:r>
              <a:t> (vi) Ausência de classificação de risco das Cotas e Política de Investimentos  genérica. A ausência de requisitos rígidos relacionados aos Direitos Creditórios passíveis de  aquisição pela Classe poderá dificultar a def inição do perfil de risco da Carteira, af etando a  capacidade de o Cotista avaliar o risco de seu invest imento. As Cotas não possuem  classificação de risco emitida por Agência Classificadora de Risco. Esses f atores podem  dif icultar a avaliação, por parte dos investidores, da qualidade do crédito representado pelas  Cotas e com a capacidade da Classe em honrar com os pagamentos das Cotas.</a:t>
            </a:r>
          </a:p>
          <a:p>
            <a:r>
              <a:t>CNPJ 54871427000194 · Devedor e consignação · Condição: Documentos atuais selecionados no inventário por categoria/escopo; a data documental isolada não comprova vigência jurídica.</a:t>
            </a:r>
          </a:p>
          <a:p>
            <a:r>
              <a:t>CNPJ 54871427000194 · Devedor e consignação · Versão e prevalência: Documentos atuais selecionados no inventário por categoria/escopo; a data documental isolada não comprova vigência jurídica.</a:t>
            </a:r>
          </a:p>
          <a:p>
            <a:r>
              <a:t>CNPJ 54871427000194 · Devedor e consignação · Resumo do histórico: {"count": 2, "dates": ["2024-04-19", "2024-04-28"], "document_count": 2, "sources": [{"document_id": "670691", "title": "Regulamento", "reference_date": "2024-04-28", "version": "1", "page": "38", "url": "https://fnet.bmfbovespa.com.br/fnet/publico/visualizarDocumento?id=670691", "sha256": "bf16dd7f1a62d5cdbf2e2d54fef81783783f7310fbc99c3a8f00459bdf9d037b"}, {"document_id": "670689", "title": "Regulamento", "reference_date": "2024-04-19", "version": "1", "page": 30, "url": "https://fnet.bmfbovespa.com.br/fnet/publico/visualizarDocumento?id=670689", "sha256": "891bc9bc5d87bbc02ec139077a84d2702eb81ea02035fb71d24f5b8366b94a0b"}], "reference": {"path": "history/54871427000194.json", "criterion_id": "debtor", "total_count": 2, "preview_count": 2, "full_text_deferred": true, "sha256": "35d7cd99be50c7287c9fb675cf4f2e736002315295a225a9efa79c8d9186d874"}}</a:t>
            </a:r>
          </a:p>
          <a:p>
            <a:r>
              <a:t>CNPJ 60010416000112 · Devedor e consignação · Regulamento · ID 1051393 · 2025-10-09 · versão 1 · p. 35 · 15.1.4 · https://fnet.bmfbovespa.com.br/fnet/publico/visualizarDocumento?id=1051393</a:t>
            </a:r>
          </a:p>
          <a:p>
            <a:r>
              <a:t>CNPJ 60010416000112 · Devedor e consignação · Excerto da fonte:</a:t>
            </a:r>
          </a:p>
          <a:p>
            <a:r>
              <a:t>15.1.4 Riscos específicos</a:t>
            </a:r>
          </a:p>
          <a:p>
            <a:r>
              <a:t> (i)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 icar inadimplente e,  consequentemente, não haverá repasse à Classe do respectivo Direito Creditório, o que  poderá resultar em perdas f inanceiras à Classe e aos Cotistas.</a:t>
            </a:r>
          </a:p>
          <a:p>
            <a:r>
              <a:t> (ii) Risco do Empregador não efetuar o desconto em folha: o repasse dos recursos oriundos  dos Direitos Creditórios à Classe depende da realização, pelo Empregador, da Escrituração e  do desconto na respectiva f olha de pagamento do Devedor. Na hipótese do Empregador  deixar de realizar a Escrituração ou os descontos na folha de pagamento, não haverá repasse  de recursos à Classe, podendo causar prejuízos à Classe e aos Cotistas.</a:t>
            </a:r>
          </a:p>
          <a:p>
            <a:r>
              <a:t> (iii) Risco de perda do vínculo empregatício com o Empregador: caso o Devedor perca o  vínculo empregatício com o Empregador, não haverá remuneração e f olha de pagamento para  realização dos descontos para pagamento dos Direitos Creditórios. Neste caso, não obstante  a possibilidade do Agente de Retenção/Cobrança realizar a cobrança ativa dos Direitos  Creditórios diretamente do Devedor, a ausência de remuneração poderá deixar o Devedor  inadimplente perante a Classe até que o seu vínculo empregatício seja retomado e seja  ef etuado o procedimento operacional para que a CCB seja aditada e/ou seja realizado o  Processo de Reinicialização. Tais situações poderão resultar em prejuízos à Classe e aos  Cotistas.</a:t>
            </a:r>
          </a:p>
          <a:p>
            <a:r>
              <a:t>CNPJ 60010416000112 · Devedor e consignação · Regulamento · ID 1051393 · 2025-10-09 · versão 1 · p. 36 · https://fnet.bmfbovespa.com.br/fnet/publico/visualizarDocumento?id=1051393</a:t>
            </a:r>
          </a:p>
          <a:p>
            <a:r>
              <a:t>CNPJ 60010416000112 · Devedor e consignação · Excerto da fonte:</a:t>
            </a:r>
          </a:p>
          <a:p>
            <a:r>
              <a:t>Anexo I ao Regulamento CLASSE ÚNICA DO MT I CONSIGNADO PRIVADO I FUNDO DE INVESTIMENTO EM DIREITOS CREDITÓRIOS RESPONSABILIDADE LIMITADA  a qualquer momento, os recursos decorrentes dos Direitos Creditórios.</a:t>
            </a:r>
          </a:p>
          <a:p>
            <a:r>
              <a:t> (iii) Risco de validação das informações para conciliação e reconciliação dos Direitos  Creditórios adquiridos pela Classe: as inf ormações para conciliação dos pagamentos,  sendo considerado como tal, também, o Arquivo Dataprev, listando todos os empregados  cujas f olhas de pagamento serão sujeitas a desconto no mês relevante, nos valores acordados  ao ef etuar a Consignação, e qualquer glosa será enviada pela CEF ao Endossante, que  ef etuará a conciliação e, posteriormente, enviará as inf ormações ao Custodiante. Caso o  Endossante não f orneça essas inf ormações em tempo hábil ou f or verif icada qualquer  inconsistência nas informações recebidas pelo Custodiante, poderá isso impedir ou dar origem  a f alhas no processo de reconciliação dos valores depositados na Conta de Cobrança da  Classe e causando perdas à Classe e ao Cotista.</a:t>
            </a:r>
          </a:p>
          <a:p>
            <a:r>
              <a:t> (iv) Risco operacional dos sistemas: o desconto na f olha de pagamento do Devedor das  parcelas da CCB e a transf erência para o Endossante dos Direitos Creditórios serão  processados por um sistema controlado pela Dataprev, e o Endossante, o Administrador ou o  Gestor não têm controle sobre esse processo. Assim, qualquer f alha ou mudança nesse  sistema poderá atrasar ou reduzir o desconto dos rendimentos dos Devedores ou sua  transf erência para a Classe. Nesse caso, a rentabilidade e a propriedade da Classe poderão  ser adversamente af etadas enquanto o problema do sistema persistir, ou até que todos os  valores sejam devidamente transf eridos.</a:t>
            </a:r>
          </a:p>
          <a:p>
            <a:r>
              <a:t> (v) Risco operacional do Contrato: o desconto na f olha de pagamento das parcelas dos  empréstimos concedidos aos Devedores é permitido pelo Convênio Consignado Privado. As  partes do Convênio Consignado Privado devem seguir certas regras para manter o Convênio  Consignado Privado, e a violação delas poderá levar à sua rescisão. Além disso, mudanças  legais podem af etar e/ou tornar inviável a manutenção do Convênio Consignado Privado.</a:t>
            </a:r>
          </a:p>
          <a:p>
            <a:r>
              <a:t> No caso de rescisão do Convênio Consignado Privado, a estrutura de cobrança dos Direitos  Creditórios (desconto na f olha de pagamento) poderá ser comprometida, dando origem à  necessidade de adoção de uma nova estrutura, que poderá não ser tão eficaz quanto ela ou  mesmo revelar, na prática, ser inadequada ou ter altos custos operacionais. Esses eventos  podem levar a perdas patrimoniais para a Classe, na medida em que este deixará de receber,  def initiva ou temporariamente, recursos oriundos dos Direitos Creditórios, no todo ou em parte.</a:t>
            </a:r>
          </a:p>
          <a:p>
            <a:r>
              <a:t> Adicionalmente, de acordo com o Contrato de Endosso, a manutenção do Convênio  Consignado Privado é uma condição para a aquisição de novos Direitos Creditórios pela  Classe e, portanto, no caso de rescisão do Convênio Consignado Privado, a Classe poderá  ser impedido de adquirir novos Direitos Creditórios.</a:t>
            </a:r>
          </a:p>
          <a:p>
            <a:r>
              <a:t>CNPJ 60010416000112 · Devedor e consignação · Regulamento · ID 1051393 · 2025-10-09 · versão 1 · p. 31 · 13.2 · https://fnet.bmfbovespa.com.br/fnet/publico/visualizarDocumento?id=1051393</a:t>
            </a:r>
          </a:p>
          <a:p>
            <a:r>
              <a:t>CNPJ 60010416000112 · Devedor e consignação · Excerto da fonte:</a:t>
            </a:r>
          </a:p>
          <a:p>
            <a:r>
              <a:t>13.2 Todos os custos e despesas ref eridos neste Capítulo, inclusive para salvaguarda de direitos e  prerrogativas da Classe e/ou com a cobrança judicial e/ou extrajudicial de Direitos Creditórios Inadimplidos  ou Direitos Creditórios a Perf ormar, serão de inteira responsabilidade da Classe, não estando o  Administrador, o Gestor, o Endossante, os Devedores, o Custodiante e quaisquer de suas respectivas  pessoas controladoras, sociedades por estes direta ou indiretamente controladas, a estes coligadas ou  outras sociedades sob controle comum, em conjunto ou isoladamente, obrigados pelo adiantamento ou  pagamento de valores relacionados aos procedimentos ref eridos neste Capítulo.</a:t>
            </a:r>
          </a:p>
          <a:p>
            <a:r>
              <a:t>CNPJ 60010416000112 · Devedor e consignação · Condição: Documentos atuais selecionados no inventário por categoria/escopo; a data documental isolada não comprova vigência jurídica.</a:t>
            </a:r>
          </a:p>
          <a:p>
            <a:r>
              <a:t>CNPJ 60010416000112 · Devedor e consignação · Versão e prevalência: Documentos atuais selecionados no inventário por categoria/escopo; a data documental isolada não comprova vigência jurídica.</a:t>
            </a:r>
          </a:p>
          <a:p>
            <a:r>
              <a:t>CNPJ 60010416000112 · Devedor e consignação · Resumo do histórico: {"count": 2, "dates": ["2025-03-20", "2025-10-09"], "document_count": 2, "sources": [{"document_id": "1051393", "title": "Regulamento", "reference_date": "2025-10-09", "version": "1", "page": "9-10, 42", "url": "https://fnet.bmfbovespa.com.br/fnet/publico/visualizarDocumento?id=1051393", "sha256": "8469d613078ffd5a6c1d217885d8a397a16342c0b937ae4aa24b106505f233ae"}, {"document_id": "993786", "title": "Regulamento", "reference_date": "2025-03-20", "version": "1", "page": 35, "clause": "15.1.4", "url": "https://fnet.bmfbovespa.com.br/fnet/publico/visualizarDocumento?id=993786", "sha256": "fd0fdd369a195510d81f81f505195a0b09e5f43522a990afa7d58c4f872921c8"}], "reference": {"path": "history/60010416000112.json", "criterion_id": "debtor", "total_count": 2, "preview_count": 2, "full_text_deferred": true, "sha256": "8e2bd813f4c51cf01f6bfaad164bafe69d2bbb192f753eac92da3a01c2e63046"}}</a:t>
            </a:r>
          </a:p>
          <a:p>
            <a:r>
              <a:t>CNPJ 62696791000193 · Devedor e consignação · Regulamento · ID 1143317 · 2026-03-20 · versão 1 · p. 47 · 10.2 · https://fnet.bmfbovespa.com.br/fnet/publico/visualizarDocumento?id=1143317</a:t>
            </a:r>
          </a:p>
          <a:p>
            <a:r>
              <a:t>CNPJ 62696791000193 · Devedor e consignação · Excerto da fonte:</a:t>
            </a:r>
          </a:p>
          <a:p>
            <a:r>
              <a:t>10.2. As mudanças climáticas podem impactar severamente os ciclos produtivos de commodities  agrícolas, ocasionando, quebras de saf ra, volatilidade de preços, choques de of erta,  deterioração da qualidade dos produtos por elas atingidos, bem como interrupção no  abastecimento destes. Ref eridas mudanças podem af etar adversamente a capacidade  produtiva e de entrega dos produtos agrícolas pelos devedores, cenário este que impactará  negativamente a capacidade de pagamento dos Ativos-Alvo integrantes da carteira da Classe  pelos devedores e, conforme o caso, pelas pessoas devedoras dos bens e direitos onerados  em f avor da Classe.</a:t>
            </a:r>
          </a:p>
          <a:p>
            <a:r>
              <a:t>CNPJ 62696791000193 · Devedor e consignação · Condição: Documentos atuais selecionados no inventário por categoria/escopo; a data documental isolada não comprova vigência jurídica.</a:t>
            </a:r>
          </a:p>
          <a:p>
            <a:r>
              <a:t>CNPJ 62696791000193 · Devedor e consignação · Versão e prevalência: Documentos atuais selecionados no inventário por categoria/escopo; a data documental isolada não comprova vigência jurídica.</a:t>
            </a:r>
          </a:p>
          <a:p>
            <a:r>
              <a:t>CNPJ 55563624000109 · Devedor e consignação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Devedor e consignação · Resumo do histórico: {"count": 1, "dates": ["2026-04-30"], "document_count": 1, "sources": [{"document_id": "1192614", "title": "Regulamento", "reference_date": "2026-04-30", "version": "1", "page": "11-12", "url": "https://fnet.bmfbovespa.com.br/fnet/publico/visualizarDocumento?id=1192614", "sha256": "f56e63ace0acde41d2f47fb48f1ac7f3f7df5e2d32de092d7c5e075a52516632"}], "reference": {"path": "history/55563624000109.json", "criterion_id": "debtor", "total_count": 1, "preview_count": 1, "full_text_deferred": true, "sha256": "7835d573fb58a3c19adf5b8ecc2aee2bdbb9a88f7a0c0209b5f262b64c7522e3"}}</a:t>
            </a:r>
          </a:p>
          <a:p>
            <a:r>
              <a:t>CNPJ 62552447000120 · Devedor e consignação · Regulamento · ID 1200623 · 2026-05-21 · versão 1 · p. 35 · https://fnet.bmfbovespa.com.br/fnet/publico/visualizarDocumento?id=1200623</a:t>
            </a:r>
          </a:p>
          <a:p>
            <a:r>
              <a:t>CNPJ 62552447000120 · Devedor e consignação · Excerto da fonte:</a:t>
            </a:r>
          </a:p>
          <a:p>
            <a:r>
              <a:t>ativos desses emissores, causando perdas à Classe e ao Cotista. Além disso, a f alta de capacidade ou disposição de pagar por qualquer dos emissores dos Ativos Financeiros de Liquidez ou das contrapartes nas transações que compõem a Carteira causará perdas à Classe, e o que também poderá incorrer em custos para f ins de recuperação de seus recebíveis.</a:t>
            </a:r>
          </a:p>
          <a:p>
            <a:r>
              <a:t>(v) Riscos associados aos Devedores: no caso de Devedores no âmbito das operações de consignado privado, a sua capacidade de pagamento poderá ser af etada se, por exemplo, o Devedor tiver o seu contrato de emprego rescindido ou em virtude de decisão judicial, o Devedor for obrigado a pagar alimentos, que têm prioridade sobre o empréstimo para f ins de desconto na f 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 etar a rentabilidade da Classe. Já no caso de Devedores no âmbito das operações de Saque-aniversário, como os Direitos Creditórios a serem endossados à Classe serão descontados pelo FGTS da remuneração do Devedor, na ocorrência de qualquer evento que, nos termos da legislação aplicável, determine o pagamento antecipado do Saque-aniversário ao Devedor, a exemplo do falecimento do Devedor, dentre outros, as parcelas do Saque- aniversário serão pagas antecipadamente e a Classe deverá utilizar tais montantes no pré-pagamento dos Direitos Creditórios. Nesta hipótese, a Classe poderá não encontrar Direitos Creditórios disponíveis para serem adquiridos pela Classe, o que poderá af etar a rentabilidade da Classe.</a:t>
            </a:r>
          </a:p>
          <a:p>
            <a:r>
              <a:t>Risco de liquidez</a:t>
            </a:r>
          </a:p>
          <a:p>
            <a:r>
              <a:t>(i) Risco de liquidez: consiste no risco de redução ou inexistência de demanda pelos ativos que compõem a Classe nos respectivos mercados em que são negociados, devido às condições específicas desses ativos ou aos mercados em que são negociados. Devido a esses riscos, o Gestor poderá encontrar dificuldades em liquidar posições ou negociar esses ativos pelo preço e prazo desejados, de acordo com a estratégia de gestão adotada pela Classe, que permanecerá exposto, durante o período de baixa liquidez, aos riscos associados a esses ativos e posições assumidas em mercados de derivativos, se houver, que poderão até exigir que o Gestor aceite descontos em seus preços para realizar negociações no mercado. Esses f atores poderão prejudicar o pagamento de Amortizações ao Cotista, nos valores e dentro dos termos aqui estabelecidos.</a:t>
            </a:r>
          </a:p>
          <a:p>
            <a:r>
              <a:t>(ii) Riscos do mercado secundário: A Classe é constituída sob a f orma de condomínio fechado, de modo que as Cotas somente serão resgatadas em virtude da liquidação da Classe. Uma vez que o Prazo de Duração da Classe é indeterminado, o Cotista titular das Cotas não terá liquidez em seu investimento na Classe, exceto</a:t>
            </a:r>
          </a:p>
          <a:p>
            <a:r>
              <a:t>(a) por ocasião das Amortizações e dos resgates, nos termos deste Regulamento; (b) por meio da alienação de suas Cotas no mercado secundário; ou (c) na liquidação antecipada do FUNDO ou da Classe.</a:t>
            </a:r>
          </a:p>
          <a:p>
            <a:r>
              <a:t>Além disso, atualmente, o mercado secundário de cotas de fundos de investimento apresenta baixa liquidez, o que pode dificultar a venda das Cotas ou ocasionar a obtenção de um preço de venda que cause perda de patrimônio ao Cotista. Não há qualquer garantia do Administrador, do Gestor, da consultora ou do Custodiante em relação à possibilidade de venda das Cotas no mercado secundário ou ao preço obtido por elas, ou mesmo garantia de saída ao Cotista.</a:t>
            </a:r>
          </a:p>
          <a:p>
            <a:r>
              <a:t>Riscos específicos</a:t>
            </a:r>
          </a:p>
          <a:p>
            <a:r>
              <a:t>(i)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ficar inadimplente e, consequentemente, não haverá repasse à Classe do respectivo Direito Creditório, o que poderá resultar em perdas f inanceiras à Classe e aos Cotistas. Para os f ins deste Regulamento, “Empregador” signif ica a empresa com qual o Devedor mantém vínculo empregatício registrado junto à CTPS.</a:t>
            </a:r>
          </a:p>
          <a:p>
            <a:r>
              <a:t>(ii) Risco do Empregador não efetuar o desconto em folha: o repasse dos recursos oriundos dos Direitos Creditórios à Classe depende da realização, pelo Empregador, da escrituração da Consignação a ser</a:t>
            </a:r>
          </a:p>
          <a:p>
            <a:r>
              <a:t>CNPJ 62552447000120 · Devedor e consignação · Regulamento · ID 1200623 · 2026-05-21 · versão 1 · p. 36 · https://fnet.bmfbovespa.com.br/fnet/publico/visualizarDocumento?id=1200623</a:t>
            </a:r>
          </a:p>
          <a:p>
            <a:r>
              <a:t>CNPJ 62552447000120 · Devedor e consignação · Excerto da fonte:</a:t>
            </a:r>
          </a:p>
          <a:p>
            <a:r>
              <a:t>realizada pelo empregador, junto ao eSocial, após recebimento de notificação comunicando-o da contratação, pelo Devedor, do empréstimo a ser pago por Consignação (“Escrituração”), e do desconto na respectiva folha de pagamento do Devedor. Na hipótese do Empregador deixar de realizar a Escrituração ou os descontos na f olha de pagamento, não haverá repasse de recursos à Classe, podendo causar prejuízos à Classe e aos Cotistas.</a:t>
            </a:r>
          </a:p>
          <a:p>
            <a:r>
              <a:t>(iii) Risco de perda do vínculo empregatício com o Empregador: caso o Devedor perca o vínculo empregatício com o Empregador, não haverá remuneração e f olha de pagamento para realização dos descontos para pagamento dos Direitos Creditórios. Neste caso, não obstante a possibilidade do Agente de Retenção e Cobrança realizar a cobrança ativa dos Direitos Creditórios diretamente do Devedor, a ausência de remuneração poderá deixar o Devedor inadimplente perante a Classe até que o seu vínculo empregatício seja retomado e seja efetuado o procedimento operacional para que a CCB seja aditada e/ou seja realizado o Processo de Reinicialização. Tais situações poderão resultar em prejuízos à Classe e aos Cotistas.</a:t>
            </a:r>
          </a:p>
          <a:p>
            <a:r>
              <a:t>(iv) Risco relativo ao Agente de Retenção e Cobrança: A solvência do Agente de Retenção e Cobrança quanto às suas obrigações financeiras poderá impactar o cumprimento de suas obrigações perante a Classe e, consequentemente, os rendimentos da Classe poderão ser adversamente af etados.</a:t>
            </a:r>
          </a:p>
          <a:p>
            <a:r>
              <a:t>Riscos operacionais</a:t>
            </a:r>
          </a:p>
          <a:p>
            <a:r>
              <a:t>(i) Risco de irregularidade dos Documentos Comprobatórios e/ou Documentos Suporte: o terceiro contratado pelo Gestor, que atuará sob responsabilidade do Gestor, deverá realizar a verif icação da regularidade dos Documentos Comprobatórios. A Carteira poderá conter Direitos Creditórios com documentação irregular, o que poderá impedir que a Classe exerça plenamente as prerrogativas derivadas da titularidade dos Direitos Creditórios.</a:t>
            </a:r>
          </a:p>
          <a:p>
            <a:r>
              <a:t>(ii) Risco operacional da Dataprev e da CEF: o empréstimo contraído pelos Devedores é pago por meio de desconto na f olha de pagamento f eito pela Dataprev e pela CEF, conf orme aplicável. É possível que os rendimentos dos Devedores sejam atrasados ou não pagos devido a questões operacionais envolvendo a Dataprev e/ou a CEF. Nesse caso, a Carteira poderá sofrer, já que não receberá automaticamente, e também poderá ter dificuldades para receber, a qualquer momento, os recursos decorrentes dos Direitos Creditórios.</a:t>
            </a:r>
          </a:p>
          <a:p>
            <a:r>
              <a:t>(iii) Risco operacional do FGTS: o empréstimo contraído pelos Devedores é pago por meio de desconto dos Saques-aniversário feitos pelo FGTS. É possível que os rendimentos dos Devedores sejam atrasados ou não pagos devido a questões operacionais envolvendo a CEF, incluindo, sem se limitar, a erros e atrasos operacionais envolvendo a CEF. Nesse caso, a Carteira poderá sofrer, já que não receberá automaticamente, e também poderá ter dif iculdades para receber, a qualquer momento, os recursos decorrentes dos Direitos Creditórios.</a:t>
            </a:r>
          </a:p>
          <a:p>
            <a:r>
              <a:t>(iv) Risco de validação das informações para conciliação e reconciliação dos Direitos Creditórios adquiridos pela Classe: as inf ormações para conciliação dos pagamentos, sendo considerado como tal, também, o Arquivo Dataprev e o Arquivo de Liquidação Saque-aniversário, listando todos os empregados cujas f olhas de pagamento ou Saques Aniversário serão sujeitos a desconto no mês, nos valores acordados ao ef etuar a Consignação, e qualquer glosa será enviada pela CEF ao Endossante, que efetuará a conciliação e, posteriormente, enviará as informações ao Custodiante. Caso o Endossante não forneça essas informações em tempo hábil ou for verificada qualquer inconsistência nas informações recebidas pelo Custodiante, poderá isso impedir ou dar origem a falhas no processo de reconciliação dos valores depositados na Conta da Classe e causando perdas à Classe e ao Cotista.</a:t>
            </a:r>
          </a:p>
          <a:p>
            <a:r>
              <a:t>(v) Risco operacional dos sistemas: o desconto na f olha de pagamento e/ou nos Saques Aniversário das parcelas da CCB e a transf erência para o Endossante dos Direitos Creditórios serão processados por meio da Plataforma Dataprev, e o Endossante, o Administrador ou o Gestor não têm controle sobre esse processo.</a:t>
            </a:r>
          </a:p>
          <a:p>
            <a:r>
              <a:t>Assim, qualquer falha ou mudança nesse sistema poderá atrasar ou reduzir o desconto dos rendimentos dos Devedores ou sua transferência para a Classe. Nesse caso, a rentabilidade e a propriedade da Classe poderão ser adversamente af etadas enquanto o problema do sistema persistir, ou até que todos os valores sejam devidamente transf eridos.</a:t>
            </a:r>
          </a:p>
          <a:p>
            <a:r>
              <a:t>(vi) Risco operacional: em linha com as Cláusulas 4.3.1 e 4.3.2 do Anexo I deste Regulamento, o</a:t>
            </a:r>
          </a:p>
          <a:p>
            <a:r>
              <a:t>CNPJ 62552447000120 · Devedor e consignação · Regulamento · ID 1200623 · 2026-05-21 · versão 1 · p. 5 · https://fnet.bmfbovespa.com.br/fnet/publico/visualizarDocumento?id=1200623</a:t>
            </a:r>
          </a:p>
          <a:p>
            <a:r>
              <a:t>CNPJ 62552447000120 · Devedor e consignação · Excerto da fonte:</a:t>
            </a:r>
          </a:p>
          <a:p>
            <a:r>
              <a:t>O objetivo da Classe é proporcionar aos seus Cotistas a valorização de  suas Cotas por meio da aplicação de seu Patrimônio Líquido na aquisição  de:</a:t>
            </a:r>
          </a:p>
          <a:p>
            <a:r>
              <a:t> (i) “Direitos Creditórios”, assim entendidos como, em conjunto:</a:t>
            </a:r>
          </a:p>
          <a:p>
            <a:r>
              <a:t> (a) “Direitos Creditórios Consignado Privado”, na forma de  cédulas de crédito bancário, regidas pela Lei n.º 10.931,  de 2 de agosto de 2004, conforme alterada (“CCBs”),  emitidas eletronicamente por Devedores, em f avor do  Endossante, representando um empréstimo pessoal  consignado, de forma que o pagamento ocorra mediante  desconto de cada prestação vincenda da CCB na f olha  de pagamentos do Devedor (“Consignação”);</a:t>
            </a:r>
          </a:p>
          <a:p>
            <a:r>
              <a:t> (b) “Direitos Creditórios FGTS”, na f orma de CCBs  emitidas eletronicamente por Devedores, em f avor do  Objetivo Endossante, representando um empréstimo pessoal com  garantia de cessão f iduciária dos valores a que f azem jus  os Devedores ref erentes ao saque anual permitido aos  benef iciários do Fundo de Garantia do Tempo de Serviço  (“FGTS”) em seu mês de aniversário (“Saque-  aniversário”), regulado pela Lei n.º 8.036, de 11 de maio  de 1990, conforme alterada (“Lei 8.036”), nos termos dos  arts. 20, inciso XX, 20-A, inciso II, e 20-D, § 3º, da Lei</a:t>
            </a:r>
          </a:p>
          <a:p>
            <a:r>
              <a:t> 8.036, do art. 66-B da Lei n.º 4.728, de 14 de julho de  1965, e da Resolução CC/FGTS n.º 958, de 24 de abril  de 2020, conforme alterada (“Resolução FGTS 958”), de  f orma que parte do Saque-aniversário é utilizada para  liquidar as parcelas devidas da CCB;</a:t>
            </a:r>
          </a:p>
          <a:p>
            <a:r>
              <a:t> (c) “Direitos Creditórios TVM”, na f orma de direitos, títulos  e/ou valores mobiliários representativos de créditos  originados no âmbito de operações de sociedades</a:t>
            </a:r>
          </a:p>
          <a:p>
            <a:r>
              <a:t>CNPJ 62552447000120 · Devedor e consignação · Condição: Documentos atuais selecionados no inventário por categoria/escopo; a data documental isolada não comprova vigência jurídica.</a:t>
            </a:r>
          </a:p>
          <a:p>
            <a:r>
              <a:t>CNPJ 62552447000120 · Devedor e consignação · Versão e prevalência: Documentos atuais selecionados no inventário por categoria/escopo; a data documental isolada não comprova vigência jurídica.</a:t>
            </a:r>
          </a:p>
          <a:p>
            <a:r>
              <a:t>CNPJ 63953620000165 · Devedor e consignação · Anexo ao Regulamento · ID 1222863 · 2026-06-02 · versão 1 · p. 1 · 1.1 · https://fnet.bmfbovespa.com.br/fnet/publico/visualizarDocumento?id=1222863</a:t>
            </a:r>
          </a:p>
          <a:p>
            <a:r>
              <a:t>CNPJ 63953620000165 · Devedor e consignação · Excerto da fonte:</a:t>
            </a:r>
          </a:p>
          <a:p>
            <a:r>
              <a:t>1.1 As principais características da Classe Consignado Privado (para fins deste Anexo, “Classe”) estão descritas  abaixo:</a:t>
            </a:r>
          </a:p>
          <a:p>
            <a:r>
              <a:t> Tipo de Condomínio Fechado.</a:t>
            </a:r>
          </a:p>
          <a:p>
            <a:r>
              <a:t> Indeterminado, exceto se de outra forma vier a ser deliberado pelos Cotistas  Prazo de Duração  reunidos em Assembleia Especial de Cotistas. (“Prazo de Duração”)  Tipo “Financeiro”.</a:t>
            </a:r>
          </a:p>
          <a:p>
            <a:r>
              <a:t> Classificação ANBIMA  Foco de atuação “Créditos Consignados”.</a:t>
            </a:r>
          </a:p>
          <a:p>
            <a:r>
              <a:t> O objetivo da classe é proporcionar aos seus Cotistas a valorização de suas Cotas  por meio da aplicação de seu Patrimônio Líquido (conforme definido abaixo) na  aquisição de: (i) “Direitos Creditórios Crédito Consignado”, representados por  cédula de crédito bancário regida pela Lei nº 10.931, emitida eletronicamente por  um devedor em favor do endossante (“CCB”) e, consequentemente, os recebíveis  decorrente de cada uma das parcelas vincendas, representando um empréstimo  consignado concedido pelo endossante ao devedor, e cujo pagamento ordinário  é feito por desconto de cada prestação vincenda de uma CCB na folha de  pagamentos do devedor (“Consignação”), efetuada pela Caixa Econômica  Federal, de acordo com a legislação aplicável e em conformidade com os  procedimentos estabelecidos no convênio celebrado entre o Endossante e a  Empresa de Tecnologia e Informações da Previdência – DATAPREV e paga na  Conta Vinculada do Endossante (“Convênio Consignado Privado”); e/ou (ii)  “Direitos Creditórios TVM”, representados por direitos, títulos e/ou valores  mobiliários representativos de créditos originados no âmbito de operações de  sociedades integrantes do conglomerado econômico de instituições financeiras  classificadas como S1 pelo BACEN, desde que não representem títulos de  emissão ou coobrigação de instituições financeiras, bem como cotas de fundos  de investimento que invistam preponderantemente nestes direitos, títulos e/ou  Objetivo  valores mobiliários (Direitos Creditórios TVM quando referidos em conjunto  com os Direitos Creditórios Consignado Privado, “Direitos Creditórios”)  observados todos os limites de composição e diversificação da carteira da Classe  (“Carteira”), estabelecidos neste Regulamento e na regulamentação aplicável.</a:t>
            </a:r>
          </a:p>
          <a:p>
            <a:r>
              <a:t> Subsidiariamente, a parcela do Patrimônio Líquido que não esteja alocada em  Direitos Creditórios poderá estar alocado em: (1) certificados de depósito  bancário (CDB) ou recibos de depósito bancário (RDB) com prazo máximo de  vencimento equivalente ao prazo remanescente do Período de Investimento, com  liquidez diária, emitidos por Parati Crédito, Financiamento e Investimento S.A.</a:t>
            </a:r>
          </a:p>
          <a:p>
            <a:r>
              <a:t> e/ou pelo Endossante (“Ativos de Liquidez MT”); e/ou (2) (i) moeda corrente  nacional; (ii) títulos do Tesouro SELIC, anteriormente denominado letra financeira  do Tesouro Nacional (LFT); (iii) certificados de depósito bancário (CDB) ou recibos  de depósito bancário (RDB) com prazo máximo de vencimento equivalente ao  prazo remanescente do Período de Investimento, com liquidez diária, emitidos  por (a) Itaú Unibanco S.A.; (b) Banco Bradesco S.A.; (c) Caixa Econômica Federal;</a:t>
            </a:r>
          </a:p>
          <a:p>
            <a:r>
              <a:t> (d) Banco do Brasil S.A.; (e) Banco Santander (Brasil) S.A.; (f) Banco BTG Pactual  S.A.; (g) Banco Sistema S.A. (“Instituições Autorizadas”); (iv) operações  compromissadas, desde que lastreadas nos títulos mencionados nas alíneas (i) a</a:t>
            </a:r>
          </a:p>
          <a:p>
            <a:r>
              <a:t> (iii) acima, emitidas por Instituições Autorizadas, com liquidez diária e vencimento</a:t>
            </a:r>
          </a:p>
          <a:p>
            <a:r>
              <a:t>CNPJ 63953620000165 · Devedor e consignação · Anexo ao Regulamento · ID 1222863 · 2026-06-02 · versão 1 · p. 19 · 12.6 · https://fnet.bmfbovespa.com.br/fnet/publico/visualizarDocumento?id=1222863</a:t>
            </a:r>
          </a:p>
          <a:p>
            <a:r>
              <a:t>CNPJ 63953620000165 · Devedor e consignação · Excerto da fonte:</a:t>
            </a:r>
          </a:p>
          <a:p>
            <a:r>
              <a:t>12.6 A Classe contratou a Tudo Serviços S.A., sociedade anônima, com sede no município de Fortaleza, Estado do Ceará,  na Avenida Senador Virgulo Távora, nº 303, Lojas 02, 03, 04, 05, 06 e 19, Meireles, CEP 60.170-265, inscrita no CNPJ  sob o nº 27.852.506/0001-85, cujos deveres, sem prejuízo daqueles estabelecidos neste Regulamento, no  “Contrato de Serviços de Retenção e Cobrança e Outras Avenças”, celebrado entre o Agente de  Retenção/Cobrança e a Classe (“Contrato de Serviços MT”) e no Contrato de Endosso, consistirão no  monitoramento e cobrança dos Direitos Creditórios Inadimplidos, observado o disposto neste Anexo I e na  regulamentação aplicável (“Agente de Retenção/Cobrança”):</a:t>
            </a:r>
          </a:p>
          <a:p>
            <a:r>
              <a:t> (i) caso aplicável, atuar na retenção (defesa) de operações de empréstimo consignado cujos Direitos  Creditórios sejam de titularidade da Classe, em caso de tentativa de transferência de tais operações de  empréstimo consignado por instituições proponentes, nos termos da Resolução CMN nº 5.057, em razão de  ofertas de portabilidade feitas por tais instituições proponentes, conforme informado pelo Endossante ou pelo  Custodiante ao Agente de Retenção/Cobrança, diariamente, de acordo com o Contrato de Endosso; sendo  que tal serviço deverá incluir, entre outras atividades auxiliares a ele relacionadas, a avaliação das ofertas de  portabilidade feitas pelas instituições proponentes, buscando, se for o caso, esclarecer as vantagens de não  recorrer à portabilidade, retendo a respectiva operação de empréstimo consignado em seus termos atuais;</a:t>
            </a:r>
          </a:p>
          <a:p>
            <a:r>
              <a:t> (ii) mediante inadimplemento de um Direito Creditório devido à indisponibilidade da margem de crédito do  Devedor, auxiliar o Endossante com o Processo de Reinicialização (conforme detalhado no Contrato de  Endosso) em relação ao respectivo Direito Creditório;</a:t>
            </a:r>
          </a:p>
          <a:p>
            <a:r>
              <a:t> (iii) manter e operar um serviço de atendimento ao consumidor - SAC e uma ouvidoria em conformidade  com os regulamentos aplicáveis, monitorar e resolver reclamações e solicitações de Devedores com  relação às operações de empréstimo consignado que dão origem aos Direitos Creditórios, em  conformidade com o Acordo de Parceria;</a:t>
            </a:r>
          </a:p>
          <a:p>
            <a:r>
              <a:t> (iv) realizar a cobrança dos Direitos Creditórios Inadimplidos;</a:t>
            </a:r>
          </a:p>
          <a:p>
            <a:r>
              <a:t> (v) auxiliar o Endossante na correção de qualquer irregularidade relevante identificada com relação à  originação dos Direitos Creditórios;</a:t>
            </a:r>
          </a:p>
          <a:p>
            <a:r>
              <a:t> (vi) realizar a renegociação junto aos Devedores de Direitos Creditórios Inadimplidos e, caso aplicável, celebrar  aditamento à CCB para refletir os novos termos, decorrentes da renegociação  CAPÍTULO 13 – REMUNERAÇÃO DOS PRESTADORES DE SERVIÇOS  0,05% (cinco centésimos por cento) ao ano, apropriada diariamente na base de 252  (duzentos e cinquenta e dois) Dias Úteis, e paga mensalmente até o 5º (quinto) Dia  Útil do mês subsequente ao mês que se refere, incidente sobre o Patrimônio Líquido  da Classe alocado em Direitos Creditórios Consignado Privado e/ou Ativos de  Liquidez MT, observada remuneração mínima mensal de R$ 2.500,00 (dois mil e  quinhentos reais), a ser corrigida anualmente, em janeiro de cada ano, pela variação  Taxa de Administração  positiva do Índice Geral de Preços – Mercado, divulgado pela Fundação Getúlio  Vargas (“Taxa de Administração” e “IGP-M”, respectivamente).</a:t>
            </a:r>
          </a:p>
          <a:p>
            <a:r>
              <a:t> Na hipótese de extinção do IGP-M, não divulgação ou impossibilidade de sua  utilização, será utilizado o Índice Geral de Preços – Disponibilidade Interna,  divulgado pela Fundação Getúlio Vargas, ou, na falta de ambos, pela variação do IPC  – Índice de Preços ao Consumidor, divulgado pela Fundação Instituto de Pesquisas</a:t>
            </a:r>
          </a:p>
          <a:p>
            <a:r>
              <a:t>CNPJ 63953620000165 · Devedor e consignação · Anexo ao Regulamento · ID 1222863 · 2026-06-02 · versão 1 · p. 2 · https://fnet.bmfbovespa.com.br/fnet/publico/visualizarDocumento?id=1222863</a:t>
            </a:r>
          </a:p>
          <a:p>
            <a:r>
              <a:t>CNPJ 63953620000165 · Devedor e consignação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Devedor e consignação · Condição: Documentos atuais selecionados no inventário por categoria/escopo; a data documental isolada não comprova vigência jurídica.</a:t>
            </a:r>
          </a:p>
          <a:p>
            <a:r>
              <a:t>CNPJ 63953620000165 · Devedor e consignação · Versão e prevalência: Documentos atuais selecionados no inventário por categoria/escopo; a data documental isolada não comprova vigência jurídica.</a:t>
            </a:r>
          </a:p>
          <a:p>
            <a:r>
              <a:t>CNPJ 63953620000165 · Devedor e consignação · Resumo do histórico: {"count": 8, "dates": ["2026-04-28", "2026-05-08", "2026-05-15"], "document_count": 3, "sources": [{"document_id": "1327859", "title": "Demonstrações Financeiras - Fusão, cisão e incorporação", "reference_date": "2026-05-15", "version": "1", "page": 22, "url": "https://fnet.bmfbovespa.com.br/fnet/publico/visualizarDocumento?id=1327859", "sha256": "dca1c68babb97f887528c3e2e47596a9c30f507b067981a35655b2f2da9c8054"}, {"document_id": "1298691", "title": "Demonstrações Financeiras - Fusão, cisão e incorporação", "reference_date": "2026-05-08", "version": "1", "page": 22, "url": "https://fnet.bmfbovespa.com.br/fnet/publico/visualizarDocumento?id=1298691", "sha256": "58c570d9b8d4d265330d3db3ea81c435b8e44a6dab4002aa37790652a1ee9819"}, {"document_id": "1282180", "title": "Demonstrações Financeiras - Fusão, cisão e incorporação", "reference_date": "2026-04-28", "version": "1", "page": 22, "url": "https://fnet.bmfbovespa.com.br/fnet/publico/visualizarDocumento?id=1282180", "sha256": "afaaa0e6809be4385e5bdb6c911aac582032c5bdbac3d7750234bf9eaf00438a"}], "reference": {"path": "history/63953620000165.json", "criterion_id": "debtor", "total_count": 8, "preview_count": 3, "full_text_deferred": true, "sha256": "a7b89077f5e21098c2d601c303faabc3ff6b9729f89d8afecdc60fe1404720c1"}}</a:t>
            </a:r>
          </a:p>
          <a:p>
            <a:r>
              <a:t>CNPJ 54871427000194 · Elegibilidade · Regulamento · ID 670691 · 28/04/2024 · versão Regulamento — referência 28/04/2024 · p. 9 · Anexo I, 4.7(i)–(iv) · https://fnet.bmfbovespa.com.br/fnet/publico/visualizarDocumento?id=670691</a:t>
            </a:r>
          </a:p>
          <a:p>
            <a:r>
              <a:t>CNPJ 54871427000194 · Elegibilidade · Excerto da fonte:</a:t>
            </a:r>
          </a:p>
          <a:p>
            <a:r>
              <a:t>4.7 A Classe somente poderá adquirir os Direitos Creditórios que atendam cumulativamente aos seguintes Critérios de Elegibilidade, a serem verif icados e validados pelo GESTOR, de f orma individualizada e integral, previamente à cessão e na respectiva Data de Aquisição, de modo que apenas são passíveis de aquisição pela Classe os Direitos Creditórios que, na Data de Aquisição: (i) CCBs sem qualquer parcela cedida; (ii) CCBs com diferença menor que 60 (sessenta) dias entre a data provável do endosso e a próxima parcela a vencer; (iii) CCBs cujo valor da prestação seja superior a R$ 30,00 (trinta reais); (iv) Idade do Devedor somada ao prazo remanescente da CCB deve ser igual ou inferior a 80 (oitenta) anos; BTG Pactual SAC: 0800 772 28 27 - Ouvidoria: 0800 722 00 48 - btgpactual.com 3</a:t>
            </a:r>
          </a:p>
          <a:p>
            <a:r>
              <a:t>CNPJ 54871427000194 · Elegibilidade · Regulamento · ID 670691 · 28/04/2024 · versão Regulamento — referência 28/04/2024 · p. 10 · Anexo I, 4.7(v)–(xi) · https://fnet.bmfbovespa.com.br/fnet/publico/visualizarDocumento?id=670691</a:t>
            </a:r>
          </a:p>
          <a:p>
            <a:r>
              <a:t>CNPJ 54871427000194 · Elegibilidade · Excerto da fonte:</a:t>
            </a:r>
          </a:p>
          <a:p>
            <a:r>
              <a:t>(v) CCBs que até a Data do Endosso não estejam pendentes de res olução em relação a uma comprovada reclamação do devedor junto ao Banco Central do Brasil ou ao Procon; (vi) CCBs que não sejam originadas por pessoa física condenada por terem submetido trabalhadores a condições análogas à de escravo – denominada “Lista Suja”; (vii) CCBs sem parcela em atraso; (viii) Aquisição de todas as parcelas vincendas das CCBs, não sendo possível a aquisição de fluxo parcial; (ix) CCBs vinculadas ao órgão convenente, desde que o convênio não se encontre na Data de Aquisição em situação de suspensão; (x) Devedores adimplentes junto ao Endossante com relação aos Direitos Creditórios endossados à Classe; CCB cuja amortização ordinária dos valores devidos, nos últimos 60 (sessenta) dias, tenha ocorrido de f orma integral e ordinária. Na primeira tranche de aquisição de Direitos Creditórios pelo Endossatário tal prazo poderá ser reduzido para 30 (trinta) dias nos casos de amortização extraordinária (via boleto) desde que o valor de aquisição dos ref eridos Direitos Creditórios não ultrapasse R$ 30.000,00 (trinta mil reais), exc</a:t>
            </a:r>
          </a:p>
          <a:p>
            <a:r>
              <a:t>CNPJ 54871427000194 · Elegibilidade · Versão e prevalência: Leitura específica das cláusulas indicadas; condições e conflitos preservados. Seleção documental atual não comprova vigência jurídica por data isolada.</a:t>
            </a:r>
          </a:p>
          <a:p>
            <a:r>
              <a:t>CNPJ 54871427000194 · Elegibilidade · Resumo do histórico: {"count": 2, "dates": ["2024-04-19", "2024-04-28"], "document_count": 2, "sources": [{"document_id": "670691", "title": "Regulamento", "reference_date": "2024-04-28", "version": "1", "page": "9-10", "clause": "4.7", "url": "https://fnet.bmfbovespa.com.br/fnet/publico/visualizarDocumento?id=670691", "sha256": "bf16dd7f1a62d5cdbf2e2d54fef81783783f7310fbc99c3a8f00459bdf9d037b"}, {"document_id": "670689", "title": "Regulamento", "reference_date": "2024-04-19", "version": "1", "page": 10, "clause": "4.7.3", "url": "https://fnet.bmfbovespa.com.br/fnet/publico/visualizarDocumento?id=670689", "sha256": "891bc9bc5d87bbc02ec139077a84d2702eb81ea02035fb71d24f5b8366b94a0b"}], "reference": {"path": "history/54871427000194.json", "criterion_id": "eligibility", "total_count": 2, "preview_count": 2, "full_text_deferred": true, "sha256": "35d7cd99be50c7287c9fb675cf4f2e736002315295a225a9efa79c8d9186d874"}}</a:t>
            </a:r>
          </a:p>
          <a:p>
            <a:r>
              <a:t>CNPJ 60010416000112 · Elegibilidade · Regulamento · ID 1051393 · 2025-10-09 · versão 1 · p. 10 · 4.4.5 · https://fnet.bmfbovespa.com.br/fnet/publico/visualizarDocumento?id=1051393</a:t>
            </a:r>
          </a:p>
          <a:p>
            <a:r>
              <a:t>CNPJ 60010416000112 · Elegibilidade · Excerto da fonte:</a:t>
            </a:r>
          </a:p>
          <a:p>
            <a:r>
              <a:t>4.4.5. Caso um Direito Creditório endossado à Classe deixe de atender quaisquer Critérios de  Elegibilidade, quaisquer condições de endosso e/ou quaisquer declarações e garantias referentes  a esse Direito Creditório, conforme previsto no Contrato de Endosso, após seu endosso à Classe,  não haverá coobrigação nem direito de regresso da Classe contra o Endossante, o Administrador,  o Custodiante, o Gestor e/ou o Agente de Retenção/Cobrança, exceto em caso de má-fé, culpa  ou dolo comprovado, hipótese em que a parte que agiu com má-f é, culpa ou dolo comprovado  poderá ser responsabilizada pelas perdas incorridas pela Classe em relação aos respectivos  Direitos Creditórios. Se, entretanto, for constatado que um Direito Creditório endossado à Classe  não estava em conformidade com os Critérios de Elegibilidade, condições de endosso ou com as  declarações e garantias prestadas pelo Endossante no Contrato de Endosso, na respectiva data  de endosso, então o endosso desse Direito Creditório poderá ser objeto de resolução pela Classe.</a:t>
            </a:r>
          </a:p>
          <a:p>
            <a:r>
              <a:t> Nessa hipótese, a Classe terá o direito de resolver o endosso desse Direito Creditório, devolvendo-  o ao Endossante por valor a ser restituído à Classe. Adicionalmente, se f or constatado que um  Direito Creditório endossado à Classe não estava em conf ormidade com as declarações e  garantias prestadas pelo Agente de Retenção/Cobrança no Contrato de Endosso, na respectiva  data de endosso, então a Classe terá o direito de vender esse Direito Creditório ao Agente de  Retenção/Cobrança (opção de venda). A retrovenda ou a venda, conforme o caso, será realizada  de acordo com os termos, condições, formalidades e preços de recompra compulsória e opção de  venda detalhados no Contrato de Endosso.</a:t>
            </a:r>
          </a:p>
          <a:p>
            <a:r>
              <a:t>CNPJ 60010416000112 · Elegibilidade · Regulamento · ID 1051393 · 2025-10-09 · versão 1 · p. 9 · 4.3 · https://fnet.bmfbovespa.com.br/fnet/publico/visualizarDocumento?id=1051393</a:t>
            </a:r>
          </a:p>
          <a:p>
            <a:r>
              <a:t>CNPJ 60010416000112 · Elegibilidade · Excerto da fonte:</a:t>
            </a:r>
          </a:p>
          <a:p>
            <a:r>
              <a:t>4.3 Os Direitos Creditórios deverão contar com Documentos Comprobatórios que evidenciem sua existência,  validade e exequibilidade perante os respectivos Devedores.</a:t>
            </a:r>
          </a:p>
          <a:p>
            <a:r>
              <a:t> Critérios de Elegibilidade</a:t>
            </a:r>
          </a:p>
          <a:p>
            <a:r>
              <a:t>CNPJ 60010416000112 · Elegibilidade · Regulamento · ID 1051393 · 2025-10-09 · versão 1 · p. 9 · 4.4 · https://fnet.bmfbovespa.com.br/fnet/publico/visualizarDocumento?id=1051393</a:t>
            </a:r>
          </a:p>
          <a:p>
            <a:r>
              <a:t>CNPJ 60010416000112 · Elegibilidade · Excerto da fonte:</a:t>
            </a:r>
          </a:p>
          <a:p>
            <a:r>
              <a:t>4.4 A Classe somente poderá adquirir os Direitos Creditórios que atendam, cumulativamente, aos seguintes  Critérios de Elegibilidade, a serem verificados e validados pelo Gestor, de forma individualizada e integral,  previamente ao endosso do Direito Creditório, na respectiva Data de Aquisição:</a:t>
            </a:r>
          </a:p>
          <a:p>
            <a:r>
              <a:t> (i) os Direitos Creditórios deverão decorrer de empréstimo concedido pelo Endossante a um  Devedor, representado por uma CCB, com taxa de juros prefixada e vencimento final anterior  ao vencimento f inal da Classe;</a:t>
            </a:r>
          </a:p>
          <a:p>
            <a:r>
              <a:t>BTG Pactual SAC: 0800 772 28 27 - Ouvidoria: 0800 722 00 48 - btgpactual.com 9</a:t>
            </a:r>
          </a:p>
          <a:p>
            <a:r>
              <a:t>CNPJ 60010416000112 · Elegibilidade · Condição: Documentos atuais selecionados no inventário por categoria/escopo; a data documental isolada não comprova vigência jurídica.</a:t>
            </a:r>
          </a:p>
          <a:p>
            <a:r>
              <a:t>CNPJ 60010416000112 · Elegibilidade · Versão e prevalência: Documentos atuais selecionados no inventário por categoria/escopo; a data documental isolada não comprova vigência jurídica.</a:t>
            </a:r>
          </a:p>
          <a:p>
            <a:r>
              <a:t>CNPJ 60010416000112 · Elegibilidade · Resumo do histórico: {"count": 2, "dates": ["2025-03-20", "2025-10-09"], "document_count": 2, "sources": [{"document_id": "1051393", "title": "Regulamento", "reference_date": "2025-10-09", "version": "1", "page": "9-10", "clause": "4.4(ii)", "url": "https://fnet.bmfbovespa.com.br/fnet/publico/visualizarDocumento?id=1051393", "sha256": "8469d613078ffd5a6c1d217885d8a397a16342c0b937ae4aa24b106505f233ae"}, {"document_id": "993786", "title": "Regulamento", "reference_date": "2025-03-20", "version": "1", "page": 10, "clause": "4.4.5", "url": "https://fnet.bmfbovespa.com.br/fnet/publico/visualizarDocumento?id=993786", "sha256": "fd0fdd369a195510d81f81f505195a0b09e5f43522a990afa7d58c4f872921c8"}], "reference": {"path": "history/60010416000112.json", "criterion_id": "eligibility", "total_count": 2, "preview_count": 2, "full_text_deferred": true, "sha256": "8e2bd813f4c51cf01f6bfaad164bafe69d2bbb192f753eac92da3a01c2e63046"}}</a:t>
            </a:r>
          </a:p>
          <a:p>
            <a:r>
              <a:t>CNPJ 62696791000193 · Elegibilidade · Regulamento · ID 1143317 · 20/03/2026 · versão Regulamento — referência 20/03/2026 · p. 11 · Anexo I, 4.7–4.7.3 · https://fnet.bmfbovespa.com.br/fnet/publico/visualizarDocumento?id=1143317</a:t>
            </a:r>
          </a:p>
          <a:p>
            <a:r>
              <a:t>CNPJ 62696791000193 · Elegibilidade · Excerto da fonte:</a:t>
            </a:r>
          </a:p>
          <a:p>
            <a:r>
              <a:t>4.7 A Classe somente poderá adquirir os Direitos Creditórios do Agronegócio que atendam cumulativamente aos seguintes critérios de elegibilidade, a serem verificados e validados pelo Gestor, por amostragem, previamente à cessão e na respectiva data de aquisição dos Direitos Creditórios do Agronegócio (“Data de Aquisição”), de modo que apenas são passíveis de aquisição pela Classe os Direitos Creditórios do Agronegócio que, na Data de Aquisição (“Critérios de Elegibilidade”): (i) sejam representados em moeda corrente nacional; (ii) a natureza ou característica essencial dos Direitos Creditórios do Agronegócio deverá permitir o seu registro contábil e a sua custódia pelo Custodiante, de acordo com os procedimentos operacionais e contábeis praticados pelo Custodiante, ou seu registro em entidade registradora; (iii) sejam ativos de origem vinculada às cadeias produtivas do agronegócio ; e (iv) sejam representados por direitos e/ou títulos representativos de crédito, com ou sem garantias reais ou pessoais a eles atreladas, incluindo, sem limitação, duplicatas, debêntures, contratos de locação e contratos mercantis de compra e venda de produtos</a:t>
            </a:r>
          </a:p>
          <a:p>
            <a:r>
              <a:t>CNPJ 62696791000193 · Elegibilidade · Versão e prevalência: Leitura específica das cláusulas indicadas; condições e conflitos preservados. Seleção documental atual não comprova vigência jurídica por data isolada.</a:t>
            </a:r>
          </a:p>
          <a:p>
            <a:r>
              <a:t>CNPJ 55563624000109 · Elegibilidade · Regulamento · ID 1192614 · 30/04/2026 · versão Regulamento30/04/2026 · p. 12 · AnexoI4.6–4.8.2 · https://fnet.bmfbovespa.com.br/fnet/publico/visualizarDocumento?id=1192614</a:t>
            </a:r>
          </a:p>
          <a:p>
            <a:r>
              <a:t>CNPJ 55563624000109 · Elegibilidade · Excerto da fonte:</a:t>
            </a:r>
          </a:p>
          <a:p>
            <a:r>
              <a:t>4.6 As Cotas da Classe Investida deverão contar com Documentos Comprobatórios que evidenciem sua existência, validade e exequibilidade. 4.7 As Cotas da Classe Investida serão adquiridas pela Classe por meio: (i) de contratos de aquisição de Cotas da Classe Investida firmados entre a Classe e os respectivos vendedores das Cotas da Classe Investida; (ii) negociação em mercado organizado; e/ou (iii) da subscrição de Cotas da Classe Investida, colocadas de forma privada ou ofertadas publicamente, independentemente do regime de distribuição, observada a Política</a:t>
            </a:r>
          </a:p>
          <a:p>
            <a:r>
              <a:t>CNPJ 55563624000109 · Elegibilidade · Versão e prevalência: Leitura específica das cláusulas indicadas; condições e conflitos preservados. Seleção documental atual não comprova vigência jurídica por data isolada.</a:t>
            </a:r>
          </a:p>
          <a:p>
            <a:r>
              <a:t>CNPJ 55563624000109 · Elegibilidade · Resumo do histórico: {"count": 3, "dates": ["2025-01-31", "2026-01-31", "2026-04-30"], "document_count": 3, "sources": [{"document_id": "1192614", "title": "Regulamento", "reference_date": "2026-04-30", "version": "1", "page": "12", "url": "https://fnet.bmfbovespa.com.br/fnet/publico/visualizarDocumento?id=1192614", "sha256": "f56e63ace0acde41d2f47fb48f1ac7f3f7df5e2d32de092d7c5e075a52516632"}, {"document_id": "1178840", "title": "Demonstrações Financeiras", "reference_date": "2026-01-31", "version": "1", "page": 16, "url": "https://fnet.bmfbovespa.com.br/fnet/publico/visualizarDocumento?id=1178840", "sha256": "c458e98664c5c907ddb5a05a94b120bed4e05295b2bfc420f5ba69af0a229abe"}, {"document_id": "891861", "title": "Demonstrações Financeiras", "reference_date": "2025-01-31", "version": "1", "page": 16, "url": "https://fnet.bmfbovespa.com.br/fnet/publico/visualizarDocumento?id=891861", "sha256": "e9cb9e6ddbe505fe068cfcac33605165a98313489de0d3ce6d4d238263c3f3e7"}], "reference": {"path": "history/55563624000109.json", "criterion_id": "eligibility", "total_count": 3, "preview_count": 3, "full_text_deferred": true, "sha256": "7835d573fb58a3c19adf5b8ecc2aee2bdbb9a88f7a0c0209b5f262b64c7522e3"}}</a:t>
            </a:r>
          </a:p>
          <a:p>
            <a:r>
              <a:t>CNPJ 62552447000120 · Elegibilidade · Regulamento · ID 1200623 · 21/05/2026 · versão Consolidado21/05/2026 aprovado pelo ato1200625 · p. 6 · AnexoI1.2 Critérios(i)(a)–(b) · https://fnet.bmfbovespa.com.br/fnet/publico/visualizarDocumento?id=1200623</a:t>
            </a:r>
          </a:p>
          <a:p>
            <a:r>
              <a:t>CNPJ 62552447000120 · Elegibilidade · Excerto da fonte:</a:t>
            </a:r>
          </a:p>
          <a:p>
            <a:r>
              <a:t>Critérios de Elegibilidade”): (i) com relação a todos os Direitos Creditórios : (a) sejam representados em moeda corrente nacional; Critérios de Elegibilidade (b) a natureza ou característica essencial dos Direitos Creditórios deverá permitir o seu registro contábil e a sua custódia pelo Custodiante, de acordo com os procedimentos operacionais e contábeis praticados</a:t>
            </a:r>
          </a:p>
          <a:p>
            <a:r>
              <a:t>CNPJ 62552447000120 · Elegibilidade · Regulamento · ID 1200623 · 21/05/2026 · versão Consolidado21/05/2026 aprovado pelo ato1200625 · p. 7 · AnexoI1.2 Critérios(i)(c)–(v) · https://fnet.bmfbovespa.com.br/fnet/publico/visualizarDocumento?id=1200623</a:t>
            </a:r>
          </a:p>
          <a:p>
            <a:r>
              <a:t>CNPJ 62552447000120 · Elegibilidade · Excerto da fonte:</a:t>
            </a:r>
          </a:p>
          <a:p>
            <a:r>
              <a:t>(v) com relação aos Direitos Creditórios TVM: (a) representem, a qualquer momento, no máximo 10% (dez por cento) do Patrimônio Líquido. Sem prejuízo dos Critérios de Elegibilidade, a Classe somente poderá adquirir os Direitos Creditórios Ref inanciamento Livre, os Direitos Creditórios Consignado Privado e os Direitos Creditórios FGTS com relação aos quais tenha se verif icado as seguintes Condições de Endosso, na forma prevista na Cláusula 4.7 (“Co</a:t>
            </a:r>
          </a:p>
          <a:p>
            <a:r>
              <a:t>CNPJ 62552447000120 · Elegibilidade · Regulamento · ID 1200623 · 21/05/2026 · versão Consolidado21/05/2026 aprovado pelo ato1200625 · p. 12 · AnexoI4.6 · https://fnet.bmfbovespa.com.br/fnet/publico/visualizarDocumento?id=1200623</a:t>
            </a:r>
          </a:p>
          <a:p>
            <a:r>
              <a:t>CNPJ 62552447000120 · Elegibilidade · Excerto da fonte:</a:t>
            </a:r>
          </a:p>
          <a:p>
            <a:r>
              <a:t>4.6 A Classe somente poderá adquirir os Direitos Creditórios que, na data da sua aquisição (“Data de Aquisição”), atendam a todos os Critérios de Elegibilidade, a serem verif icados e validados pelo Gestor, de f orma individualizada e integral, e não por amostragem. 4.6.1 Para f ins da verificação dos Critérios de Elegibilidade, será considerado o Patrimônio Líquido e o valor dos Direitos Creditórios integrantes da Carteira no Dia Útil imediatamente anterior à Data de Aquisição. 4.6.2 Todos os Documentos Comprobatórios e, com relação a cada Direito Creditório, conforme apli</a:t>
            </a:r>
          </a:p>
          <a:p>
            <a:r>
              <a:t>CNPJ 62552447000120 · Elegibilidade · Versão e prevalência: Leitura específica das cláusulas indicadas; condições e conflitos preservados. Seleção documental atual não comprova vigência jurídica por data isolada.</a:t>
            </a:r>
          </a:p>
          <a:p>
            <a:r>
              <a:t>CNPJ 63953620000165 · Elegibilidade · Anexo ao Regulamento · ID 1222863 · 02/06/2026 · versão AnexoConsignadoPrivado02/06/2026 · p. 6 · 4.10–4.10.3 · https://fnet.bmfbovespa.com.br/fnet/publico/visualizarDocumento?id=1222863</a:t>
            </a:r>
          </a:p>
          <a:p>
            <a:r>
              <a:t>CNPJ 63953620000165 · Elegibilidade · Excerto da fonte:</a:t>
            </a:r>
          </a:p>
          <a:p>
            <a:r>
              <a:t>4.10 A Classe somente poderá adquirir os Direitos Creditórios que atendam cumulativamente aos Critérios de Elegibilidade, a serem verificados e validados pelo Gestor, de forma individualizada e integral, previamente à cessão e na respectiva data de aquisição dos Direitos Creditórios (“Data de Aquisição”), de modo que apenas são passíveis de aquisição pela Classe os Direitos Creditórios que, na Data de Aquisição, atendam a todos os Critérios de Elegibilidade. 4.10.1 Para fins da verificação dos Critérios de Elegibilidade, será considerado o Patrimônio Líquido e o valor dos Direitos Creditórios integrantes</a:t>
            </a:r>
          </a:p>
          <a:p>
            <a:r>
              <a:t>CNPJ 63953620000165 · Elegibilidade · Versão e prevalência: Leitura específica das cláusulas indicadas; condições e conflitos preservados. Seleção documental atual não comprova vigência jurídica por data isolada.</a:t>
            </a:r>
          </a:p>
          <a:p>
            <a:r>
              <a:t>CNPJ 63953620000165 · Elegibilidade · Resumo do histórico: {"count": 8, "dates": ["2026-04-28", "2026-05-08", "2026-05-15"], "document_count": 3, "sources": [{"document_id": "1327859", "title": "Demonstrações Financeiras - Fusão, cisão e incorporação", "reference_date": "2026-05-15", "version": "1", "page": 24, "url": "https://fnet.bmfbovespa.com.br/fnet/publico/visualizarDocumento?id=1327859", "sha256": "dca1c68babb97f887528c3e2e47596a9c30f507b067981a35655b2f2da9c8054"}, {"document_id": "1298691", "title": "Demonstrações Financeiras - Fusão, cisão e incorporação", "reference_date": "2026-05-08", "version": "1", "page": 24, "url": "https://fnet.bmfbovespa.com.br/fnet/publico/visualizarDocumento?id=1298691", "sha256": "58c570d9b8d4d265330d3db3ea81c435b8e44a6dab4002aa37790652a1ee9819"}, {"document_id": "1282180", "title": "Demonstrações Financeiras - Fusão, cisão e incorporação", "reference_date": "2026-04-28", "version": "1", "page": 25, "url": "https://fnet.bmfbovespa.com.br/fnet/publico/visualizarDocumento?id=1282180", "sha256": "afaaa0e6809be4385e5bdb6c911aac582032c5bdbac3d7750234bf9eaf00438a"}], "reference": {"path": "history/63953620000165.json", "criterion_id": "eligibility", "total_count": 8, "preview_count": 3, "full_text_deferred": true, "sha256": "a7b89077f5e21098c2d601c303faabc3ff6b9729f89d8afecdc60fe1404720c1"}}</a:t>
            </a:r>
          </a:p>
          <a:p>
            <a:r>
              <a:t>CNPJ 54871427000194 · Limites por contrato e devedor · Regulamento · ID 670691 · 28/04/2024 · versão Regulamento — referência 28/04/2024 · p. 10 · Anexo I, 4.7, parágrafo anterior ao inciso (xi) e inciso (xi) · https://fnet.bmfbovespa.com.br/fnet/publico/visualizarDocumento?id=670691</a:t>
            </a:r>
          </a:p>
          <a:p>
            <a:r>
              <a:t>CNPJ 54871427000194 · Limites por contrato e devedor · Excerto da fonte:</a:t>
            </a:r>
          </a:p>
          <a:p>
            <a:r>
              <a:t>CCB cuja amortização ordinária dos valores devidos, nos últimos 60 (sessenta) dias, tenha ocorrido de f orma integral e ordinária. Na primeira tranche de aquisição de Direitos Creditórios pelo Endossatário tal prazo poderá ser reduzido para 30 (trinta) dias nos casos de amortização extraordinária (via boleto) desde que o valor de aquisição dos ref eridos Direitos Creditórios não ultrapasse R$ 30.000,00 (trinta mil reais), exclusivamente via consignação em f olha de pagamento ou de benef ício; e (xi) Endosso de todas as CCBs de um mesmo Devedor que não ultrapasse 20% (vinte por cento) do patrimônio líquido da Classe. 4.7.1 Os Documentos Comprobatórios deverão ser disponibilizados pelo respectivo Endossante (a) no prazo de 10 (dez) dias contados da Data de Aquisição dos 50 (cinquenta) casos que sejam solicitados pelo GESTOR, a seu exclusivo critério, (b) a totalidade dos demais Documentos Comprobatórios em f ormato digital em até 90 (noventa) dias a contar da Data de Aquisição, bem como dos Documentos Comprobatórios em formato físico relativos aos Direitos Creditórios que eventualmente estejam inadimplidos em ref erida da</a:t>
            </a:r>
          </a:p>
          <a:p>
            <a:r>
              <a:t>CNPJ 54871427000194 · Limites por contrato e devedor · Condição: R$ 30 mil é teto da exceção de aquisição da primeira tranche; não é teto geral de cada CCB.</a:t>
            </a:r>
          </a:p>
          <a:p>
            <a:r>
              <a:t>CNPJ 54871427000194 · Limites por contrato e devedor · Motivo: Não localizada uma cláusula material para este critério nos textos identificados e processados. A ausência de resultado não comprova inexistência da regra.</a:t>
            </a:r>
          </a:p>
          <a:p>
            <a:r>
              <a:t>CNPJ 54871427000194 · Limites por contrato e devedor · Versão e prevalência: Leitura específica das cláusulas indicadas; condições e conflitos preservados. Seleção documental atual não comprova vigência jurídica por data isolada.</a:t>
            </a:r>
          </a:p>
          <a:p>
            <a:r>
              <a:t>CNPJ 60010416000112 · Limites por contrato e devedor · Regulamento · ID 1051393 · 09/10/2025 · versão Regulamento09/10/2025 · p. 10 · AnexoI4.4(ii), (iv),4.4.1 · https://fnet.bmfbovespa.com.br/fnet/publico/visualizarDocumento?id=1051393</a:t>
            </a:r>
          </a:p>
          <a:p>
            <a:r>
              <a:t>CNPJ 60010416000112 · Limites por contrato e devedor · Excerto da fonte:</a:t>
            </a:r>
          </a:p>
          <a:p>
            <a:r>
              <a:t>R$ 100.000,00 (cem mil reais), observado o disposto no item 4.4.1 abaixo; (iii) o prazo de vencimento das CCB representativas dos Direitos Creditórios deverá ser, no máximo, equivalente ao prazo máximo permitido pelas leis e regulamentações aplicáveis; e (iv) os Direitos Creditórios não poderão ser devidos por Devedores que tenham acima de 64 (sessenta e quatro) anos 11 (onze) meses e 29 (vinte e nove) dias na data de emissão da respectiva CCB. 4.4.1. O limite máximo de exposição da Classe por Devedor estabeleci</a:t>
            </a:r>
          </a:p>
          <a:p>
            <a:r>
              <a:t>CNPJ 60010416000112 · Limites por contrato e devedor · Condição: Prevalência da cláusula específica 4.4.1; limite privado do Contrato não foi presumido.</a:t>
            </a:r>
          </a:p>
          <a:p>
            <a:r>
              <a:t>CNPJ 60010416000112 · Limites por contrato e devedor · Motivo: Não localizada uma cláusula material para este critério nos textos identificados e processados. A ausência de resultado não comprova inexistência da regra.</a:t>
            </a:r>
          </a:p>
          <a:p>
            <a:r>
              <a:t>CNPJ 60010416000112 · Limites por contrato e devedor · Versão e prevalência: Leitura específica das cláusulas indicadas; condições e conflitos preservados. Seleção documental atual não comprova vigência jurídica por data isolada.</a:t>
            </a:r>
          </a:p>
          <a:p>
            <a:r>
              <a:t>CNPJ 62696791000193 · Limites por contrato e devedor · Motivo: Não localizada uma cláusula material para este critério nos textos identificados e processados. A ausência de resultado não comprova inexistência da regra.</a:t>
            </a:r>
          </a:p>
          <a:p>
            <a:r>
              <a:t>CNPJ 55563624000109 · Limites por contrato e devedor · Motivo: Não localizada uma cláusula material para este critério nos textos identificados e processados. A ausência de resultado não comprova inexistência da regra.</a:t>
            </a:r>
          </a:p>
          <a:p>
            <a:r>
              <a:t>CNPJ 62552447000120 · Limites por contrato e devedor · Motivo: Não localizada uma cláusula material para este critério nos textos identificados e processados. A ausência de resultado não comprova inexistência da regra.</a:t>
            </a:r>
          </a:p>
          <a:p>
            <a:r>
              <a:t>CNPJ 63953620000165 · Limites por contrato e devedor · Motivo: Não localizada uma cláusula material para este critério nos textos identificados e processados. A ausência de resultado não comprova inexistência da regra.</a:t>
            </a:r>
          </a:p>
          <a:p>
            <a:r>
              <a:t>CNPJ 54871427000194 · Prazo dos créditos e carência · Motivo: Não localizada uma cláusula material para este critério nos textos identificados e processados. A ausência de resultado não comprova inexistência da regra.</a:t>
            </a:r>
          </a:p>
          <a:p>
            <a:r>
              <a:t>CNPJ 60010416000112 · Prazo dos créditos e carência · Regulamento · ID 1051393 · 2025-10-09 · versão 1 · p. 11 · 4.5 · https://fnet.bmfbovespa.com.br/fnet/publico/visualizarDocumento?id=1051393</a:t>
            </a:r>
          </a:p>
          <a:p>
            <a:r>
              <a:t>CNPJ 60010416000112 · Prazo dos créditos e carência · Excerto da fonte:</a:t>
            </a:r>
          </a:p>
          <a:p>
            <a:r>
              <a:t>4.5 A parcela do Patrimônio Líquido que não estiver alocada em Direitos Creditórios será necessariamente  alocada no seguintes ativos (“Ativos Financeiros de Liquidez”).</a:t>
            </a:r>
          </a:p>
          <a:p>
            <a:r>
              <a:t> (i) moeda corrente nacional;</a:t>
            </a:r>
          </a:p>
          <a:p>
            <a:r>
              <a:t> (ii) títulos do Tesouro SELIC, anteriormente denominado letra f inanceira do Tesouro Nacional  (LFT);</a:t>
            </a:r>
          </a:p>
          <a:p>
            <a:r>
              <a:t> (iii) certif icados de depósito bancário (CDB) ou recibos de depósito bancário (RDB) com prazo  máximo de vencimento equivalente ao prazo remanescente do Período de Investimento, com  liquidez diária, emitidos por Instituições Autorizadas e/ou pelo Endossante, sendo certo que  os certif icados de depósito bancário (CDB) e recibos de depósito bancário (RDB) emitidos  pelo Endossante e integrantes da carteira da Classe não poderão exceder o valor de R$</a:t>
            </a:r>
          </a:p>
          <a:p>
            <a:r>
              <a:t> 25.000.000,00 (vinte e cinco milhões de reais);</a:t>
            </a:r>
          </a:p>
          <a:p>
            <a:r>
              <a:t> (iv) operações compromissadas, desde que lastreadas nos títulos mencionados nas alíneas (i) a</a:t>
            </a:r>
          </a:p>
          <a:p>
            <a:r>
              <a:t> (iii) acima, emitidas por Instituições Autorizadas, com liquidez diária e vencimento inferior a  365 (trezentos e sessenta e cinco) dias; e</a:t>
            </a:r>
          </a:p>
          <a:p>
            <a:r>
              <a:t> (v) cotas de classes de f undos de investimentos de renda f ixa ou indexados à Taxa DI com  liquidez diária, cujas políticas de investimento admitam a alocação de recursos  exclusivamente nos ativos das alíneas (ii) e (iii) acima, incluindo f undos geridos e/ou  administrados pelo Administrador, pelo Custodiante e/ou pelo Gestor.</a:t>
            </a:r>
          </a:p>
          <a:p>
            <a:r>
              <a:t>Limites de Concentração e Vedações para a Composição da Carteira</a:t>
            </a:r>
          </a:p>
          <a:p>
            <a:r>
              <a:t>CNPJ 60010416000112 · Prazo dos créditos e carência · Regulamento · ID 1051393 · 2025-10-09 · versão 1 · p. 10 · https://fnet.bmfbovespa.com.br/fnet/publico/visualizarDocumento?id=1051393</a:t>
            </a:r>
          </a:p>
          <a:p>
            <a:r>
              <a:t>CNPJ 60010416000112 · Prazo dos créditos e carência · Excerto da fonte:</a:t>
            </a:r>
          </a:p>
          <a:p>
            <a:r>
              <a:t>Anexo I ao Regulamento CLASSE ÚNICA DO MT I CONSIGNADO PRIVADO I FUNDO DE INVESTIMENTO EM DIREITOS CREDITÓRIOS RESPONSABILIDADE LIMITADA</a:t>
            </a:r>
          </a:p>
          <a:p>
            <a:r>
              <a:t> (ii) o saldo dos Direitos Creditórios devidos pelo mesmo Devedor à Classe, considerando, pro  forma, o endosso pretendido, não deverá exceder R$ 100.000,00 (cem mil reais), observado  o disposto no item 4.4.1 abaixo;</a:t>
            </a:r>
          </a:p>
          <a:p>
            <a:r>
              <a:t> (iii) o prazo de vencimento das CCB representativas dos Direitos Creditórios deverá ser, no  máximo, equivalente ao prazo máximo permitido pelas leis e regulamentações aplicáveis; e</a:t>
            </a:r>
          </a:p>
          <a:p>
            <a:r>
              <a:t> (iv) os Direitos Creditórios não poderão ser devidos por Devedores que tenham acima de 64  (sessenta e quatro) anos 11 (onze) meses e 29 (vinte e nove) dias na data de emissão da  respectiva CCB.</a:t>
            </a:r>
          </a:p>
          <a:p>
            <a:r>
              <a:t>CNPJ 60010416000112 · Prazo dos créditos e carência · Condição: Documentos atuais selecionados no inventário por categoria/escopo; a data documental isolada não comprova vigência jurídica.</a:t>
            </a:r>
          </a:p>
          <a:p>
            <a:r>
              <a:t>CNPJ 60010416000112 · Prazo dos créditos e carência · Versão e prevalência: Documentos atuais selecionados no inventário por categoria/escopo; a data documental isolada não comprova vigência jurídica.</a:t>
            </a:r>
          </a:p>
          <a:p>
            <a:r>
              <a:t>CNPJ 60010416000112 · Prazo dos créditos e carência · Resumo do histórico: {"count": 1, "dates": ["2025-03-20"], "document_count": 1, "sources": [{"document_id": "993786", "title": "Regulamento", "reference_date": "2025-03-20", "version": "1", "page": 11, "clause": "4.5", "url": "https://fnet.bmfbovespa.com.br/fnet/publico/visualizarDocumento?id=993786", "sha256": "fd0fdd369a195510d81f81f505195a0b09e5f43522a990afa7d58c4f872921c8"}], "reference": {"path": "history/60010416000112.json", "criterion_id": "term", "total_count": 1, "preview_count": 1, "full_text_deferred": true, "sha256": "8e2bd813f4c51cf01f6bfaad164bafe69d2bbb192f753eac92da3a01c2e63046"}}</a:t>
            </a:r>
          </a:p>
          <a:p>
            <a:r>
              <a:t>CNPJ 62696791000193 · Prazo dos créditos e carência · Motivo: Não localizada uma cláusula material para este critério nos textos identificados e processados. A ausência de resultado não comprova inexistência da regra.</a:t>
            </a:r>
          </a:p>
          <a:p>
            <a:r>
              <a:t>CNPJ 55563624000109 · Prazo dos créditos e carência · Motivo: Não localizada uma cláusula material para este critério nos textos identificados e processados. A ausência de resultado não comprova inexistência da regra.</a:t>
            </a:r>
          </a:p>
          <a:p>
            <a:r>
              <a:t>CNPJ 62552447000120 · Prazo dos créditos e carência · Motivo: Não localizada uma cláusula material para este critério nos textos identificados e processados. A ausência de resultado não comprova inexistência da regra.</a:t>
            </a:r>
          </a:p>
          <a:p>
            <a:r>
              <a:t>CNPJ 63953620000165 · Prazo dos créditos e carência · Anexo ao Regulamento · ID 1222863 · 2026-06-02 · versão 1 · p. 2 · https://fnet.bmfbovespa.com.br/fnet/publico/visualizarDocumento?id=1222863</a:t>
            </a:r>
          </a:p>
          <a:p>
            <a:r>
              <a:t>CNPJ 63953620000165 · Prazo dos créditos e carência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Prazo dos créditos e carência · Condição: Documentos atuais selecionados no inventário por categoria/escopo; a data documental isolada não comprova vigência jurídica.</a:t>
            </a:r>
          </a:p>
          <a:p>
            <a:r>
              <a:t>CNPJ 63953620000165 · Prazo dos créditos e carência · Versão e prevalência: Documentos atuais selecionados no inventário por categoria/escopo; a data documental isolada não comprova vigência jurídica.</a:t>
            </a:r>
          </a:p>
          <a:p>
            <a:r>
              <a:t>CNPJ 63953620000165 · Prazo dos créditos e carência · Resumo do histórico: {"count": 8, "dates": ["2026-04-28", "2026-05-08", "2026-05-15"], "document_count": 3, "sources": [{"document_id": "1327859", "title": "Demonstrações Financeiras - Fusão, cisão e incorporação", "reference_date": "2026-05-15", "version": "1", "page": 16, "url": "https://fnet.bmfbovespa.com.br/fnet/publico/visualizarDocumento?id=1327859", "sha256": "dca1c68babb97f887528c3e2e47596a9c30f507b067981a35655b2f2da9c8054"}, {"document_id": "1298691", "title": "Demonstrações Financeiras - Fusão, cisão e incorporação", "reference_date": "2026-05-08", "version": "1", "page": 16, "url": "https://fnet.bmfbovespa.com.br/fnet/publico/visualizarDocumento?id=1298691", "sha256": "58c570d9b8d4d265330d3db3ea81c435b8e44a6dab4002aa37790652a1ee9819"}, {"document_id": "1282180", "title": "Demonstrações Financeiras - Fusão, cisão e incorporação", "reference_date": "2026-04-28", "version": "1", "page": 16, "url": "https://fnet.bmfbovespa.com.br/fnet/publico/visualizarDocumento?id=1282180", "sha256": "afaaa0e6809be4385e5bdb6c911aac582032c5bdbac3d7750234bf9eaf00438a"}], "reference": {"path": "history/63953620000165.json", "criterion_id": "term", "total_count": 8, "preview_count": 3, "full_text_deferred": true, "sha256": "a7b89077f5e21098c2d601c303faabc3ff6b9729f89d8afecdc60fe1404720c1"}}</a:t>
            </a:r>
          </a:p>
          <a:p>
            <a:r>
              <a:t>CNPJ 54871427000194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null, "comparison_required": true, "context_formula": "", "context_value": null, "context_unit": ""}</a:t>
            </a:r>
          </a:p>
          <a:p>
            <a:r>
              <a:t>CNPJ 54871427000194 · Concentração por devedor, cedente e grupo · Regulamento · ID 670691 · 28/04/2024 · versão Regulamento — referência 28/04/2024 · p. 11 · Anexo I, 4.10 e 4.11.2–4.11.4 · https://fnet.bmfbovespa.com.br/fnet/publico/visualizarDocumento?id=670691</a:t>
            </a:r>
          </a:p>
          <a:p>
            <a:r>
              <a:t>CNPJ 54871427000194 · Concentração por devedor, cedente e grupo · Excerto da fonte:</a:t>
            </a:r>
          </a:p>
          <a:p>
            <a:r>
              <a:t>4.10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4.11 A Classe poderá, direta ou indiretamente e, nos termos da legislação aplicável: (i) adquirir Direitos Creditórios que sejam cedidos e/ou originados pelo ADMINISTRADOR e/ou pelo GESTOR, ou partes a eles relacionadas, tal como definidas pelas regras contábeis que tratam desse assunto; e (ii) ceder Direitos Creditórios a qualquer das pessoas, fundos de investimento ou entidades referidas no item (i) acima, desde que (i) o ADMINISTRADOR, GESTOR, a entidade registradora e o CUSTODIANTE de Direitos Creditórios não sejam partes relacionadas entre si; e (ii) a entidade registradora e o</a:t>
            </a:r>
          </a:p>
          <a:p>
            <a:r>
              <a:t>CNPJ 54871427000194 · Concentração por devedor, cedente e grupo · Regulamento · ID 670691 · 28/04/2024 · versão Regulamento — referência 28/04/2024 · p. 10 · Anexo I, 4.7(xi) · https://fnet.bmfbovespa.com.br/fnet/publico/visualizarDocumento?id=670691</a:t>
            </a:r>
          </a:p>
          <a:p>
            <a:r>
              <a:t>CNPJ 54871427000194 · Concentração por devedor, cedente e grupo · Excerto da fonte:</a:t>
            </a:r>
          </a:p>
          <a:p>
            <a:r>
              <a:t>(xi) Endosso de todas as CCBs de um mesmo Devedor que não ultrapasse 20% (vinte por cento) do patrimônio líquido da Classe. 4.7.1 Os Documentos Comprobatórios deverão ser disponibilizados pelo respectivo Endossante (a) no prazo de 10 (dez) dias contados da Data de Aquisição dos 50 (cinquenta) casos que sejam solicitados pelo GESTOR, a seu exclusivo critério, (b) a totalidade dos demais Documentos Comprobatórios em f ormato digital em até 90 (noventa) dias a contar da Data de Aquisição, bem como dos Documentos Comprobatórios em formato físico relativos aos Direitos Creditórios que eventualmente estejam inadimplidos em ref erida data, e (c) a totalidade dos demais Documentos Comprobatórios em f ormato f ísico em até 180 (cento e oitenta) dias a contar da Data de Aquisição, sujeito à resolução do respectivo endosso, de acordo com os termos do Contrato de Endosso. 4.7.2 Caso um Direito Creditório cedido à Classe deixe de atender quaisquer Critérios de Elegibilidade e/ou quaisquer declarações e garantias ref erentes a esse Direito Creditório, conf orme previsto no respectivo Contrato de Endosso, após seu endosso à</a:t>
            </a:r>
          </a:p>
          <a:p>
            <a:r>
              <a:t>CNPJ 54871427000194 · Concentração por devedor, cedente e grupo · Condição: Na aquisição, o critério específico de 20% restringe o permissivo geral de 100%. Uma concentração observada no IME exige base e devedor identificados.</a:t>
            </a:r>
          </a:p>
          <a:p>
            <a:r>
              <a:t>CNPJ 54871427000194 · Concentração por devedor, cedente e grupo · Versão e prevalência: Leitura específica das cláusulas indicadas; condições e conflitos preservados. Seleção documental atual não comprova vigência jurídica por data isolada.</a:t>
            </a:r>
          </a:p>
          <a:p>
            <a:r>
              <a:t>CNPJ 54871427000194 · Concentração por devedor, cedente e grupo · Resumo do histórico: {"count": 2, "dates": ["2024-04-19", "2024-04-28"], "document_count": 2, "sources": [{"document_id": "670691", "title": "Regulamento", "reference_date": "2024-04-28", "version": "1", "page": "10-11", "url": "https://fnet.bmfbovespa.com.br/fnet/publico/visualizarDocumento?id=670691", "sha256": "bf16dd7f1a62d5cdbf2e2d54fef81783783f7310fbc99c3a8f00459bdf9d037b"}, {"document_id": "670689", "title": "Regulamento", "reference_date": "2024-04-19", "version": "1", "page": 11, "clause": "4.10", "url": "https://fnet.bmfbovespa.com.br/fnet/publico/visualizarDocumento?id=670689", "sha256": "891bc9bc5d87bbc02ec139077a84d2702eb81ea02035fb71d24f5b8366b94a0b"}], "reference": {"path": "history/54871427000194.json", "criterion_id": "concentration", "total_count": 2, "preview_count": 2, "full_text_deferred": true, "sha256": "35d7cd99be50c7287c9fb675cf4f2e736002315295a225a9efa79c8d9186d874"}}</a:t>
            </a:r>
          </a:p>
          <a:p>
            <a:r>
              <a:t>CNPJ 60010416000112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null, "comparison_required": true, "context_formula": "", "context_value": null, "context_unit": ""}</a:t>
            </a:r>
          </a:p>
          <a:p>
            <a:r>
              <a:t>CNPJ 60010416000112 · Concentração por devedor, cedente e grupo · Regulamento · ID 1051393 · 09/10/2025 · versão Regulamento09/10/2025 · p. 11 · AnexoI4.4.9(iv),4.5(iii) · https://fnet.bmfbovespa.com.br/fnet/publico/visualizarDocumento?id=1051393</a:t>
            </a:r>
          </a:p>
          <a:p>
            <a:r>
              <a:t>CNPJ 60010416000112 · Concentração por devedor, cedente e grupo · Excerto da fonte:</a:t>
            </a:r>
          </a:p>
          <a:p>
            <a:r>
              <a:t>3,00% (três por cento) do Patrimônio Líquido da Classe. Ativos Financeiros de Liquidez 4.5 A parcela do Patrimônio Líquido que não estiver alocada em Direitos Creditórios será necessariamente alocada no seguintes ativos (“Ativos Financeiros de Liquidez”). (i) moeda corrente nacional; (ii) títulos do Tesouro SELIC, anteriormente denominado letra f inanceira do Tesouro Nacional (LFT); (iii) certif icados de depósito bancário (CDB) ou recibos de depósito bancário (RDB) com prazo máximo de vencimento equivalente ao prazo remanescente</a:t>
            </a:r>
          </a:p>
          <a:p>
            <a:r>
              <a:t>CNPJ 60010416000112 · Concentração por devedor, cedente e grupo · Regulamento · ID 1051393 · 09/10/2025 · versão Regulamento09/10/2025 · p. 12 · AnexoI4.7–4.8 · https://fnet.bmfbovespa.com.br/fnet/publico/visualizarDocumento?id=1051393</a:t>
            </a:r>
          </a:p>
          <a:p>
            <a:r>
              <a:t>CNPJ 60010416000112 · Concentração por devedor, cedente e grupo · Excerto da fonte:</a:t>
            </a:r>
          </a:p>
          <a:p>
            <a:r>
              <a:t>4.7 A Classe deverá observar, ainda, os limites de concentração definidos na Política de Crédito, que integra o Contrato de Endosso como Anexo 3.2(v). 4.8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a:t>
            </a:r>
          </a:p>
          <a:p>
            <a:r>
              <a:t>CNPJ 60010416000112 · Concentração por devedor, cedente e grupo · Versão e prevalência: Leitura específica das cláusulas indicadas; condições e conflitos preservados. Seleção documental atual não comprova vigência jurídica por data isolada.</a:t>
            </a:r>
          </a:p>
          <a:p>
            <a:r>
              <a:t>CNPJ 60010416000112 · Concentração por devedor, cedente e grupo · Resumo do histórico: {"count": 2, "dates": ["2025-03-20", "2025-10-09"], "document_count": 2, "sources": [{"document_id": "1051393", "title": "Regulamento", "reference_date": "2025-10-09", "version": "1", "page": "11-12", "url": "https://fnet.bmfbovespa.com.br/fnet/publico/visualizarDocumento?id=1051393", "sha256": "8469d613078ffd5a6c1d217885d8a397a16342c0b937ae4aa24b106505f233ae"}, {"document_id": "993786", "title": "Regulamento", "reference_date": "2025-03-20", "version": "1", "page": 12, "clause": "4.8", "url": "https://fnet.bmfbovespa.com.br/fnet/publico/visualizarDocumento?id=993786", "sha256": "fd0fdd369a195510d81f81f505195a0b09e5f43522a990afa7d58c4f872921c8"}], "reference": {"path": "history/60010416000112.json", "criterion_id": "concentration", "total_count": 2, "preview_count": 2, "full_text_deferred": true, "sha256": "8e2bd813f4c51cf01f6bfaad164bafe69d2bbb192f753eac92da3a01c2e63046"}}</a:t>
            </a:r>
          </a:p>
          <a:p>
            <a:r>
              <a:t>CNPJ 62696791000193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null, "comparison_required": true, "context_formula": "", "context_value": null, "context_unit": ""}</a:t>
            </a:r>
          </a:p>
          <a:p>
            <a:r>
              <a:t>CNPJ 62696791000193 · Concentração por devedor, cedente e grupo · Regulamento · ID 1143317 · 20/03/2026 · versão Regulamento — referência 20/03/2026 · p. 11 · Anexo I, 4.8–4.9 · https://fnet.bmfbovespa.com.br/fnet/publico/visualizarDocumento?id=1143317</a:t>
            </a:r>
          </a:p>
          <a:p>
            <a:r>
              <a:t>CNPJ 62696791000193 · Concentração por devedor, cedente e grupo · Excerto da fonte:</a:t>
            </a:r>
          </a:p>
          <a:p>
            <a:r>
              <a:t>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relacionadas ao Gestor. 4.8.1 As aplicações em Direitos Creditórios do Agronegócio decorrentes de receitas públicas originárias ou derivadas da União, dos Estados, do Distrito Federal e dos Municípios ou de suas autarquias e f undações, assim como em Direitos Creditórios do Agronegócio cedidos ou originados por empresas controladas pelo poder público, não estão submetidas ao limite de concentração por emissor previsto no caput. 4.9 Nos termos do Art. 45 do Anexo</a:t>
            </a:r>
          </a:p>
          <a:p>
            <a:r>
              <a:t>CNPJ 62696791000193 · Concentração por devedor, cedente e grupo · Regulamento · ID 1143317 · 20/03/2026 · versão Regulamento — referência 20/03/2026 · p. 12 · Anexo I, 4.10(i)–(ix) · https://fnet.bmfbovespa.com.br/fnet/publico/visualizarDocumento?id=1143317</a:t>
            </a:r>
          </a:p>
          <a:p>
            <a:r>
              <a:t>CNPJ 62696791000193 · Concentração por devedor, cedente e grupo · Excerto da fonte:</a:t>
            </a:r>
          </a:p>
          <a:p>
            <a:r>
              <a:t>4.10 Sem prejuízo de limites mais restritivos definidos neste Anexo, o Gestor deverá observar, ainda, os seguintes limites de concentração: (i) A Classe poderá, direta ou indiretamente, ter até 100% (cem por cento) do Patrimônio Líquido representado por Direitos Creditórios do Agronegócio originados ou cedidos pelo Administrador, Gestor e/ou suas partes relacionadas, tal como definidas pelas regras contábeis que tratam desse assunto, desde que (a) o Gest or, a entidade registradora e o Custodiante dos Direitos Creditórios do Agronegócio não sejam partes relacionadas entre si; e (b) a entidade registradora e o Custodiante dos Direitos Creditórios do Agronegócio não sejam partes relacionadas ao originador ou Cedente. (ii) No máximo, 100% (cem por cento) do Patrimônio Líquido investido em Ativos Financeiros de Liquidez de emissão ou que envolvam retenção de risco por parte do Administrador, Gestor, e/ou suas partes relacionadas, observado ainda o disposto no item Error! Reference source not found.;</a:t>
            </a:r>
          </a:p>
          <a:p>
            <a:r>
              <a:t>CNPJ 62696791000193 · Concentração por devedor, cedente e grupo · Condição: Liquidez/derivativos relacionados também têm permissivos de 100%, mas remissões internas aparecem como “Error! Reference source not found.”.</a:t>
            </a:r>
          </a:p>
          <a:p>
            <a:r>
              <a:t>CNPJ 62696791000193 · Concentração por devedor, cedente e grupo · Versão e prevalência: Leitura específica das cláusulas indicadas; condições e conflitos preservados. Seleção documental atual não comprova vigência jurídica por data isolada.</a:t>
            </a:r>
          </a:p>
          <a:p>
            <a:r>
              <a:t>CNPJ 55563624000109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null, "comparison_required": true, "context_formula": "", "context_value": null, "context_unit": ""}</a:t>
            </a:r>
          </a:p>
          <a:p>
            <a:r>
              <a:t>CNPJ 55563624000109 · Concentração por devedor, cedente e grupo · Regulamento · ID 1192614 · 30/04/2026 · versão Regulamento30/04/2026 · p. 13 · AnexoI4.11–4.12.1 · https://fnet.bmfbovespa.com.br/fnet/publico/visualizarDocumento?id=1192614</a:t>
            </a:r>
          </a:p>
          <a:p>
            <a:r>
              <a:t>CNPJ 55563624000109 · Concentração por devedor, cedente e grupo · Excerto da fonte:</a:t>
            </a:r>
          </a:p>
          <a:p>
            <a:r>
              <a:t>4.11 Nos termos dos artigos 45, parágrafo 7º, e 47 parágrafo único do Anexo Normativo II à Resolução CVM 175, uma vez que as Cotas são destinadas exclusivamente a Investidores Profissionais, a Classe poderá ter até 100% (cem por cento) de seu Patrimônio Líquido alocado em Cotas da Classe Investida, as quais são emitidas pela Classe Investida. 4.12 A Classe poderá, direta ou indiretamente (i) adquirir Cotas da Classe Investida que sejam administrados pelo ADMINISTRADOR, e geridos ou cogeridos pelo GESTOR, ou partes a eles relacionadas, tal como definidas pelas</a:t>
            </a:r>
          </a:p>
          <a:p>
            <a:r>
              <a:t>CNPJ 55563624000109 · Concentração por devedor, cedente e grupo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Concentração por devedor, cedente e grupo · Versão e prevalência: Leitura específica das cláusulas indicadas; condições e conflitos preservados. Seleção documental atual não comprova vigência jurídica por data isolada.</a:t>
            </a:r>
          </a:p>
          <a:p>
            <a:r>
              <a:t>CNPJ 55563624000109 · Concentração por devedor, cedente e grupo · Resumo do histórico: {"count": 1, "dates": ["2026-04-30"], "document_count": 1, "sources": [{"document_id": "1192614", "title": "Regulamento", "reference_date": "2026-04-30", "version": "1", "page": "11-12", "url": "https://fnet.bmfbovespa.com.br/fnet/publico/visualizarDocumento?id=1192614", "sha256": "f56e63ace0acde41d2f47fb48f1ac7f3f7df5e2d32de092d7c5e075a52516632"}], "reference": {"path": "history/55563624000109.json", "criterion_id": "concentration", "total_count": 1, "preview_count": 1, "full_text_deferred": true, "sha256": "7835d573fb58a3c19adf5b8ecc2aee2bdbb9a88f7a0c0209b5f262b64c7522e3"}}</a:t>
            </a:r>
          </a:p>
          <a:p>
            <a:r>
              <a:t>CNPJ 62552447000120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null, "comparison_required": true, "context_formula": "", "context_value": null, "context_unit": ""}</a:t>
            </a:r>
          </a:p>
          <a:p>
            <a:r>
              <a:t>CNPJ 62552447000120 · Concentração por devedor, cedente e grupo · Regulamento · ID 1200623 · 21/05/2026 · versão Consolidado21/05/2026 aprovado pelo ato1200625 · p. 14 · AnexoI4.10–4.13 · https://fnet.bmfbovespa.com.br/fnet/publico/visualizarDocumento?id=1200623</a:t>
            </a:r>
          </a:p>
          <a:p>
            <a:r>
              <a:t>CNPJ 62552447000120 · Concentração por devedor, cedente e grupo · Excerto da fonte:</a:t>
            </a:r>
          </a:p>
          <a:p>
            <a:r>
              <a:t>4.10 Nos termos do art. 45, §7º, inciso II, do Anexo Normativo II, a Classe poderá ter até 100% (cem por cento) de seu Patrimônio Líquido alocado em Direitos Creditórios, derivativos, observado o disposto abaixo,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4.10.1 O uso de derivativos está restr</a:t>
            </a:r>
          </a:p>
          <a:p>
            <a:r>
              <a:t>CNPJ 62552447000120 · Concentração por devedor, cedente e grupo · Condição: Regulamento permite concentração ampla; TVM têm limite específico 10% PL na elegibilidade.</a:t>
            </a:r>
          </a:p>
          <a:p>
            <a:r>
              <a:t>CNPJ 62552447000120 · Concentração por devedor, cedente e grupo · Versão e prevalência: Leitura específica das cláusulas indicadas; condições e conflitos preservados. Seleção documental atual não comprova vigência jurídica por data isolada.</a:t>
            </a:r>
          </a:p>
          <a:p>
            <a:r>
              <a:t>CNPJ 63953620000165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null, "comparison_required": true, "context_formula": "", "context_value": null, "context_unit": ""}</a:t>
            </a:r>
          </a:p>
          <a:p>
            <a:r>
              <a:t>CNPJ 63953620000165 · Concentração por devedor, cedente e grupo · Anexo ao Regulamento · ID 1222863 · 02/06/2026 · versão AnexoConsignadoPrivado02/06/2026 · p. 6 · 4.14 · https://fnet.bmfbovespa.com.br/fnet/publico/visualizarDocumento?id=1222863</a:t>
            </a:r>
          </a:p>
          <a:p>
            <a:r>
              <a:t>CNPJ 63953620000165 · Concentração por devedor, cedente e grupo · Excerto da fonte:</a:t>
            </a:r>
          </a:p>
          <a:p>
            <a:r>
              <a:t>4.14 Nos termos do Art. 45, §7º, inciso II, do Anexo Normativo II da Resolução CVM 175, a Classe poderá ter até 100% (cem por cento) de seu Patrimônio Líquido alocado em Direitos Creditórios, derivativos, observado o disposto neste Anexo I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4.15 Sem prejuízo de limites</a:t>
            </a:r>
          </a:p>
          <a:p>
            <a:r>
              <a:t>CNPJ 63953620000165 · Concentração por devedor, cedente e grupo · Anexo ao Regulamento · ID 1222863 · 02/06/2026 · versão AnexoConsignadoPrivado02/06/2026 · p. 7 · 4.15(i)–(v) · https://fnet.bmfbovespa.com.br/fnet/publico/visualizarDocumento?id=1222863</a:t>
            </a:r>
          </a:p>
          <a:p>
            <a:r>
              <a:t>CNPJ 63953620000165 · Concentração por devedor, cedente e grupo · Excerto da fonte:</a:t>
            </a:r>
          </a:p>
          <a:p>
            <a:r>
              <a:t>(i)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CNPJ 63953620000165 · Concentração por devedor, cedente e grupo · Versão e prevalência: Leitura específica das cláusulas indicadas; condições e conflitos preservados. Seleção documental atual não comprova vigência jurídica por data isolada.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Recebíveis e aquisição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Natureza dos recebíveis · Regulamento · ID 670691 · 28/04/2024 · versão Regulamento — referência 28/04/2024 · p. 9 · Anexo I, 4.2–4.2.1 · https://fnet.bmfbovespa.com.br/fnet/publico/visualizarDocumento?id=670691</a:t>
            </a:r>
          </a:p>
          <a:p>
            <a:r>
              <a:t>CNPJ 54871427000194 · Natureza dos recebíveis · Excerto da fonte:</a:t>
            </a:r>
          </a:p>
          <a:p>
            <a:r>
              <a:t>4.2 Os Direitos Creditórios representados por Certif icados de Cédulas de Crédito Bancário (“CCCBs”), representativos de um agrupamento de determinadas CCBs, originadas no âmbito de operações de empréstimos pessoais concedidos por um Endossante a um Devedor, devidamente f ormalizadas por via eletrônica de acordo com a legislação aplicável, segundo os critérios de composição e diversificação estabelecidos pela regulamentação aplicável e neste Regulamento. 4.2.1 Cada Endossante deve ter celebrado convênio com órgão consignante, previamente à cessão de Direitos Creditórios à Classe, que contemplam a obrigação da manutenção da consignação/averbação junto ao novo órgão, de modo a possibilitar o pagamento dos Direitos Creditórios por meio de consignação em f olha de pagamento ou de benef ício . 4.3 Os pagamentos relativos aos Direitos Creditórios de titularidade da Classe serão realizados mediante consignação em folha, débito em conta de titularidade dos Devedores e pagamentos de sinistros, para pagamento dos valores correspondentes às parcelas das CCBs representadas pelos CCCBs de titularidade da Classe, os quais serão conciliados e repassados pelo Endossan</a:t>
            </a:r>
          </a:p>
          <a:p>
            <a:r>
              <a:t>CNPJ 54871427000194 · Natureza dos recebíveis · Versão e prevalência: Leitura específica das cláusulas indicadas; condições e conflitos preservados. Seleção documental atual não comprova vigência jurídica por data isolada.</a:t>
            </a:r>
          </a:p>
          <a:p>
            <a:r>
              <a:t>CNPJ 54871427000194 · Natureza dos recebíveis · Resumo do histórico: {"count": 3, "dates": ["2024-04-19", "2024-04-28"], "document_count": 2, "sources": [{"document_id": "670691", "title": "Regulamento", "reference_date": "2024-04-28", "version": "1", "page": "9, 38-39", "url": "https://fnet.bmfbovespa.com.br/fnet/publico/visualizarDocumento?id=670691", "sha256": "bf16dd7f1a62d5cdbf2e2d54fef81783783f7310fbc99c3a8f00459bdf9d037b"}, {"document_id": "670691", "title": "Regulamento", "reference_date": "2024-04-28", "version": "1", "page": 34, "clause": "15.1.5", "url": "https://fnet.bmfbovespa.com.br/fnet/publico/visualizarDocumento?id=670691", "sha256": "bf16dd7f1a62d5cdbf2e2d54fef81783783f7310fbc99c3a8f00459bdf9d037b"}, {"document_id": "670689", "title": "Regulamento", "reference_date": "2024-04-19", "version": "1", "page": 35, "clause": "15.1.5", "url": "https://fnet.bmfbovespa.com.br/fnet/publico/visualizarDocumento?id=670689", "sha256": "891bc9bc5d87bbc02ec139077a84d2702eb81ea02035fb71d24f5b8366b94a0b"}], "reference": {"path": "history/54871427000194.json", "criterion_id": "receivables", "total_count": 3, "preview_count": 3, "full_text_deferred": true, "sha256": "35d7cd99be50c7287c9fb675cf4f2e736002315295a225a9efa79c8d9186d874"}}</a:t>
            </a:r>
          </a:p>
          <a:p>
            <a:r>
              <a:t>CNPJ 60010416000112 · Natureza dos recebíveis · Regulamento · ID 1051393 · 09/10/2025 · versão Regulamento09/10/2025 · p. 9 · AnexoI4.2 · https://fnet.bmfbovespa.com.br/fnet/publico/visualizarDocumento?id=1051393</a:t>
            </a:r>
          </a:p>
          <a:p>
            <a:r>
              <a:t>CNPJ 60010416000112 · Natureza dos recebíveis · Excerto da fonte:</a:t>
            </a:r>
          </a:p>
          <a:p>
            <a:r>
              <a:t>4.2 Os Direitos Creditórios são originados no âmbito de operações de empréstimo consignado concedido pelo Endossante a um Devedor por meio da Plataforma MT e representado por CCB, devidamente formalizada por via eletrônica, de acordo com a legislação aplicável, observada a Política de Crédito constante do Contrato de Endosso. O Endossante celebrou o Convênio Consignado Privado previamente ao endosso de Direitos Creditórios Elegíveis à Classe, para que, após a averbação dos Direitos Creditórios na Dataprev, o pagamento regular dos Direitos Creditórios decorrentes das CCB seja f eito por Consignação</a:t>
            </a:r>
          </a:p>
          <a:p>
            <a:r>
              <a:t>CNPJ 60010416000112 · Natureza dos recebíveis · Versão e prevalência: Leitura específica das cláusulas indicadas; condições e conflitos preservados. Seleção documental atual não comprova vigência jurídica por data isolada.</a:t>
            </a:r>
          </a:p>
          <a:p>
            <a:r>
              <a:t>CNPJ 60010416000112 · Natureza dos recebíveis · Resumo do histórico: {"count": 2, "dates": ["2025-03-20", "2025-10-09"], "document_count": 2, "sources": [{"document_id": "1051393", "title": "Regulamento", "reference_date": "2025-10-09", "version": "1", "page": "9-11", "url": "https://fnet.bmfbovespa.com.br/fnet/publico/visualizarDocumento?id=1051393", "sha256": "8469d613078ffd5a6c1d217885d8a397a16342c0b937ae4aa24b106505f233ae"}, {"document_id": "993786", "title": "Regulamento", "reference_date": "2025-03-20", "version": "1", "page": 30, "clause": "12.5.1", "url": "https://fnet.bmfbovespa.com.br/fnet/publico/visualizarDocumento?id=993786", "sha256": "fd0fdd369a195510d81f81f505195a0b09e5f43522a990afa7d58c4f872921c8"}], "reference": {"path": "history/60010416000112.json", "criterion_id": "receivables", "total_count": 2, "preview_count": 2, "full_text_deferred": true, "sha256": "8e2bd813f4c51cf01f6bfaad164bafe69d2bbb192f753eac92da3a01c2e63046"}}</a:t>
            </a:r>
          </a:p>
          <a:p>
            <a:r>
              <a:t>CNPJ 62696791000193 · Natureza dos recebíveis · Regulamento · ID 1143317 · 20/03/2026 · versão Regulamento — referência 20/03/2026 · p. 6 · Anexo I, 1.1, Objetivo · https://fnet.bmfbovespa.com.br/fnet/publico/visualizarDocumento?id=1143317</a:t>
            </a:r>
          </a:p>
          <a:p>
            <a:r>
              <a:t>CNPJ 62696791000193 · Natureza dos recebíveis · Excerto da fonte:</a:t>
            </a:r>
          </a:p>
          <a:p>
            <a:r>
              <a:t>A Classe tem por objetivo proporcionar aos Cotistas a valorização e a rentabilidade de suas cotas (“Cotas”), conforme a política de investimentos def inida no Capítulo IV abaixo (“Política de Investimentos”), por meio de aplicação do seu Patrimônio Líquido (conforme def inido abaixo) nos seguintes ativos de origem vinculada às cadeias produtivas do agronegócio (“Direitos Creditórios do Agronegócio”): (i) títulos de crédito emitidos por pessoas naturais e jurídicas que integrem as cadeias produtivas do agronegócio; (ii) direitos creditórios do agronegócio; (iii) certificados de recebíveis do agronegócio e outros títulos de securitização emitidos com lastro em direitos creditórios do agronegócio; e (iv) certificados de recebíveis e outro</a:t>
            </a:r>
          </a:p>
          <a:p>
            <a:r>
              <a:t>CNPJ 62696791000193 · Natureza dos recebíveis · Regulamento · ID 1143317 · 20/03/2026 · versão Regulamento — referência 20/03/2026 · p. 7 · Anexo I, 1.1, Objetivo · https://fnet.bmfbovespa.com.br/fnet/publico/visualizarDocumento?id=1143317</a:t>
            </a:r>
          </a:p>
          <a:p>
            <a:r>
              <a:t>CNPJ 62696791000193 · Natureza dos recebíveis · Excerto da fonte:</a:t>
            </a:r>
          </a:p>
          <a:p>
            <a:r>
              <a:t>(i) participações em sociedades que explorem atividades integrantes das cadeias produtivas do agronegócio. (C) Categoria “Financeiro” (“Ativos Financeiros do Agronegócio Financeiros”): (i) ativos f inanceiros e valores mobiliários emitidos por pessoas naturais e jurídicas que integrem as cadeias produtivas do agronegócio. (D) Categoria “Geral” (“Ativos em Geral do Agronegócio”): (i) cotas de classes que apliquem mais de 50% (cinquenta por cento) de seu patrimônio líquido nos ativos referidos nos incisos “A” a “D” acima, o que inclui cotas de outros FIAGRO, mas não se limita a essa categoria de f undos. Os Ativos Imobiliários do Agronegócio, Participações do Agronegócio,</a:t>
            </a:r>
          </a:p>
          <a:p>
            <a:r>
              <a:t>CNPJ 62696791000193 · Natureza dos recebíveis · Versão e prevalência: Leitura específica das cláusulas indicadas; condições e conflitos preservados. Seleção documental atual não comprova vigência jurídica por data isolada.</a:t>
            </a:r>
          </a:p>
          <a:p>
            <a:r>
              <a:t>CNPJ 55563624000109 · Natureza dos recebíveis · Regulamento · ID 1192614 · 30/04/2026 · versão Regulamento30/04/2026 · p. 11 · AnexoI4.1 · https://fnet.bmfbovespa.com.br/fnet/publico/visualizarDocumento?id=1192614</a:t>
            </a:r>
          </a:p>
          <a:p>
            <a:r>
              <a:t>CNPJ 55563624000109 · Natureza dos recebíveis · Excerto da fonte:</a:t>
            </a:r>
          </a:p>
          <a:p>
            <a:r>
              <a:t>4.1 Observados os demais termos deste Anexo, o objetivo da Classe é investir seus recursos em (i) cotas subordinadas mezanino de emissão da classe única do MERCADO CRÉDITO II BRASIL FUNDO DE INVESTIMENTO EM DIREITOS CREDITÓRIOS NÃO PADRONIZADOS, fundo de investimento em direitos creditórios inscrito no CNPJ sob o nº 41.970.012/0001-26 (“Cotas da Classe Investida” e “Classe Investida”, respectivamente), a qual, por sua vez, aplica seus recursos preponderantemente em direitos creditórios originados pela Mercado Pago, de acordo com os termos e condições est</a:t>
            </a:r>
          </a:p>
          <a:p>
            <a:r>
              <a:t>CNPJ 55563624000109 · Natureza dos recebíveis · Regulamento · ID 1192614 · 30/04/2026 · versão Regulamento30/04/2026 · p. 12 · AnexoI4.5 · https://fnet.bmfbovespa.com.br/fnet/publico/visualizarDocumento?id=1192614</a:t>
            </a:r>
          </a:p>
          <a:p>
            <a:r>
              <a:t>CNPJ 55563624000109 · Natureza dos recebíveis · Excerto da fonte:</a:t>
            </a:r>
          </a:p>
          <a:p>
            <a:r>
              <a:t>4.5 Uma vez que o investimento nas Cotas da Classe Investida não corresponde a um investimento direto em direitos creditórios, uma série de disposições comuns à securitização de direitos creditórios não será aplicável ao investimento nas Cotas da Classe Investida. A título meramente exemplificativo, não existem processos de originação ou política de concessão de crédito adotada pelo GESTOR, tampouco há que se falar em verificação ou guarda de documentos comprobatórios que não sejam referentes às Cotas da Classe Investida. Da mesma forma, não há necessida</a:t>
            </a:r>
          </a:p>
          <a:p>
            <a:r>
              <a:t>CNPJ 55563624000109 · Natureza dos recebíveis · Versão e prevalência: Leitura específica das cláusulas indicadas; condições e conflitos preservados. Seleção documental atual não comprova vigência jurídica por data isolada.</a:t>
            </a:r>
          </a:p>
          <a:p>
            <a:r>
              <a:t>CNPJ 55563624000109 · Natureza dos recebíveis · Resumo do histórico: {"count": 4, "dates": ["2025-01-31", "2026-01-31", "2026-04-30"], "document_count": 3, "sources": [{"document_id": "1192614", "title": "Regulamento", "reference_date": "2026-04-30", "version": "1", "page": "11", "url": "https://fnet.bmfbovespa.com.br/fnet/publico/visualizarDocumento?id=1192614", "sha256": "f56e63ace0acde41d2f47fb48f1ac7f3f7df5e2d32de092d7c5e075a52516632"}, {"document_id": "1178840", "title": "Demonstrações Financeiras", "reference_date": "2026-01-31", "version": "1", "page": 16, "url": "https://fnet.bmfbovespa.com.br/fnet/publico/visualizarDocumento?id=1178840", "sha256": "c458e98664c5c907ddb5a05a94b120bed4e05295b2bfc420f5ba69af0a229abe"}, {"document_id": "891861", "title": "Demonstrações Financeiras", "reference_date": "2025-01-31", "version": "1", "page": 16, "url": "https://fnet.bmfbovespa.com.br/fnet/publico/visualizarDocumento?id=891861", "sha256": "e9cb9e6ddbe505fe068cfcac33605165a98313489de0d3ce6d4d238263c3f3e7"}], "reference": {"path": "history/55563624000109.json", "criterion_id": "receivables", "total_count": 4, "preview_count": 3, "full_text_deferred": true, "sha256": "7835d573fb58a3c19adf5b8ecc2aee2bdbb9a88f7a0c0209b5f262b64c7522e3"}}</a:t>
            </a:r>
          </a:p>
          <a:p>
            <a:r>
              <a:t>CNPJ 62552447000120 · Natureza dos recebíveis · Regulamento · ID 1200623 · 21/05/2026 · versão Consolidado21/05/2026 aprovado pelo ato1200625 · p. 11 · AnexoI4.2–4.3 · https://fnet.bmfbovespa.com.br/fnet/publico/visualizarDocumento?id=1200623</a:t>
            </a:r>
          </a:p>
          <a:p>
            <a:r>
              <a:t>CNPJ 62552447000120 · Natureza dos recebíveis · Excerto da fonte:</a:t>
            </a:r>
          </a:p>
          <a:p>
            <a:r>
              <a:t>4.2 Os Direitos Creditórios Consignado Privado e os Direitos Creditórios FGTS são originados no âmbito de CCBs emitidas eletronicamente pelos Devedores ao Endossante, representando, respectivamente, empréstimos consignados, com desconto em f olha de pagamento, e empréstimos pessoais, com garantia de cessão f iduciária do Saque-aniversário. 4.3 A operacionalização é f eita por meio da plataforma eletrônica mantida pelo Originador e utilizada por ele em relação ao processamento e monitoramento das operações de crédito (“Plataforma VR”), de acordo com a legislação aplicável, observada a política de crédit</a:t>
            </a:r>
          </a:p>
          <a:p>
            <a:r>
              <a:t>CNPJ 62552447000120 · Natureza dos recebíveis · Regulamento · ID 1200623 · 21/05/2026 · versão Consolidado21/05/2026 aprovado pelo ato1200625 · p. 6 · AnexoI1.2 Direitos Creditórios(d) · https://fnet.bmfbovespa.com.br/fnet/publico/visualizarDocumento?id=1200623</a:t>
            </a:r>
          </a:p>
          <a:p>
            <a:r>
              <a:t>CNPJ 62552447000120 · Natureza dos recebíveis · Excerto da fonte:</a:t>
            </a:r>
          </a:p>
          <a:p>
            <a:r>
              <a:t>Refinanciamento Livre”, na forma de CCBs originadas no âmbito de um refinanciamento, de acordo com a política de cobrança vigente, de Direitos Creditórios Consignado Privado e de Direitos Creditórios FGTS, que não contem com o lastro de Consignação ou de cessão f iduciária do Saque-Aniversário, respectivamente; e (ii) “Ativos Financei</a:t>
            </a:r>
          </a:p>
          <a:p>
            <a:r>
              <a:t>CNPJ 62552447000120 · Natureza dos recebíveis · Condição: Direitos de refinanciamento livre têm mecanismo de pagamento diferente do consignado/FGTS original.</a:t>
            </a:r>
          </a:p>
          <a:p>
            <a:r>
              <a:t>CNPJ 62552447000120 · Natureza dos recebíveis · Versão e prevalência: Leitura específica das cláusulas indicadas; condições e conflitos preservados. Seleção documental atual não comprova vigência jurídica por data isolada.</a:t>
            </a:r>
          </a:p>
          <a:p>
            <a:r>
              <a:t>CNPJ 63953620000165 · Natureza dos recebíveis · Anexo ao Regulamento · ID 1222863 · 02/06/2026 · versão AnexoConsignadoPrivado02/06/2026 · p. 5 · 4.4 · https://fnet.bmfbovespa.com.br/fnet/publico/visualizarDocumento?id=1222863</a:t>
            </a:r>
          </a:p>
          <a:p>
            <a:r>
              <a:t>CNPJ 63953620000165 · Natureza dos recebíveis · Excerto da fonte:</a:t>
            </a:r>
          </a:p>
          <a:p>
            <a:r>
              <a:t>4.4 Os Direitos Creditórios Consignado Privado são originados no âmbito de operações de empréstimo consignado concedido pelo Endossante a um Devedor por meio da plataforma eletrônica mantida pelo Agente de Retenção/ Cobrança e utilizada por ele em relação ao processamento e monitoramento das operações de crédito consignado (“Plataforma MT”) e representado por CCB, devidamente formalizada por via eletrônica, de acordo com a legislação aplicável, observada a política de crédito constante do Contrato de Endosso. O Endossante celebrou o Convênio Consignado Privado previamente ao endosso de Direitos Creditórios Elegíveis à Clas</a:t>
            </a:r>
          </a:p>
          <a:p>
            <a:r>
              <a:t>CNPJ 63953620000165 · Natureza dos recebíveis · Anexo ao Regulamento · ID 1222863 · 02/06/2026 · versão AnexoConsignadoPrivado02/06/2026 · p. 1 · 1.1Objetivo · https://fnet.bmfbovespa.com.br/fnet/publico/visualizarDocumento?id=1222863</a:t>
            </a:r>
          </a:p>
          <a:p>
            <a:r>
              <a:t>CNPJ 63953620000165 · Natureza dos recebíveis · Excerto da fonte:</a:t>
            </a:r>
          </a:p>
          <a:p>
            <a:r>
              <a:t>Direitos Creditórios Crédito Consignado”, representados por cédula de crédito bancário regida pela Lei nº 10.931, emitida eletronicamente por um devedor em favor do endossante (“CCB”) e, consequentemente, os recebíveis decorrente de cada uma das parcelas vincendas, representando um empréstimo consignado concedido pelo endossante ao devedor, e cujo pagamento ordinário é feito por desconto de cada prestação vincenda de uma CCB na folha de</a:t>
            </a:r>
          </a:p>
          <a:p>
            <a:r>
              <a:t>CNPJ 63953620000165 · Natureza dos recebíveis · Versão e prevalência: Leitura específica das cláusulas indicadas; condições e conflitos preservados. Seleção documental atual não comprova vigência jurídica por data isolada.</a:t>
            </a:r>
          </a:p>
          <a:p>
            <a:r>
              <a:t>CNPJ 63953620000165 · Natureza dos recebíveis · Resumo do histórico: {"count": 8, "dates": ["2026-04-28", "2026-05-08", "2026-05-15"], "document_count": 3, "sources": [{"document_id": "1327859", "title": "Demonstrações Financeiras - Fusão, cisão e incorporação", "reference_date": "2026-05-15", "version": "1", "page": 21, "url": "https://fnet.bmfbovespa.com.br/fnet/publico/visualizarDocumento?id=1327859", "sha256": "dca1c68babb97f887528c3e2e47596a9c30f507b067981a35655b2f2da9c8054"}, {"document_id": "1298691", "title": "Demonstrações Financeiras - Fusão, cisão e incorporação", "reference_date": "2026-05-08", "version": "1", "page": 24, "url": "https://fnet.bmfbovespa.com.br/fnet/publico/visualizarDocumento?id=1298691", "sha256": "58c570d9b8d4d265330d3db3ea81c435b8e44a6dab4002aa37790652a1ee9819"}, {"document_id": "1282180", "title": "Demonstrações Financeiras - Fusão, cisão e incorporação", "reference_date": "2026-04-28", "version": "1", "page": 24, "url": "https://fnet.bmfbovespa.com.br/fnet/publico/visualizarDocumento?id=1282180", "sha256": "afaaa0e6809be4385e5bdb6c911aac582032c5bdbac3d7750234bf9eaf00438a"}], "reference": {"path": "history/63953620000165.json", "criterion_id": "receivables", "total_count": 8, "preview_count": 3, "full_text_deferred": true, "sha256": "a7b89077f5e21098c2d601c303faabc3ff6b9729f89d8afecdc60fe1404720c1"}}</a:t>
            </a:r>
          </a:p>
          <a:p>
            <a:r>
              <a:t>CNPJ 54871427000194 · Originador e endossante · Regulamento · ID 670691 · 2024-04-28 · versão 1 · p. 11 · 4.11.2 · https://fnet.bmfbovespa.com.br/fnet/publico/visualizarDocumento?id=670691</a:t>
            </a:r>
          </a:p>
          <a:p>
            <a:r>
              <a:t>CNPJ 54871427000194 · Originador e endossante · Excerto da fonte:</a:t>
            </a:r>
          </a:p>
          <a:p>
            <a:r>
              <a:t>4.11.2 A Classe poderá ter até 100% (cem por cento) do Patrimônio Líquido representado por Direitos  Creditórios originados ou cedidos por um mesmo Endossante e/ou originados por um mesmo  Originador.</a:t>
            </a:r>
          </a:p>
          <a:p>
            <a:r>
              <a:t>CNPJ 54871427000194 · Originador e endossante · Regulamento · ID 670691 · 2024-04-28 · versão 1 · p. 13 · 4.17 · https://fnet.bmfbovespa.com.br/fnet/publico/visualizarDocumento?id=670691</a:t>
            </a:r>
          </a:p>
          <a:p>
            <a:r>
              <a:t>CNPJ 54871427000194 · Originador e endossante · Excerto da fonte:</a:t>
            </a:r>
          </a:p>
          <a:p>
            <a:r>
              <a:t>4.17 É vedada qualquer forma de antecipação de recursos aos Endossantes para posterior reembolso pela  Classe, seja pelo ADMINISTRADOR, GESTOR, CUSTODIANTE, consultora ou Originadores.</a:t>
            </a:r>
          </a:p>
          <a:p>
            <a:r>
              <a:t>CNPJ 54871427000194 · Originador e endossante · Regulamento · ID 670691 · 2024-04-28 · versão 1 · p. 34 · 15.1.5 · https://fnet.bmfbovespa.com.br/fnet/publico/visualizarDocumento?id=670691</a:t>
            </a:r>
          </a:p>
          <a:p>
            <a:r>
              <a:t>CNPJ 54871427000194 · Originador e endossante · Excerto da fonte:</a:t>
            </a:r>
          </a:p>
          <a:p>
            <a:r>
              <a:t>15.1.5 Outros Riscos:</a:t>
            </a:r>
          </a:p>
          <a:p>
            <a:r>
              <a:t> (i) Cobrança judicial ou extrajudicial dos Direitos Creditórios. No caso de os  Devedores inadimplirem as obrigações dos pagamentos dos Direitos Creditórios de titularidade  da Classe, poderá haver cobrança judicial e/ou extrajudicial dos valores devidos. Neste caso,  além da Classe incorrer em maiores custos relacionados à cobrança dos Direitos Creditórios  Inadimplidos, nada garante que ref eridas cobranças atingirão os resultados almejados, qual  seja, a recuperação do valor integral dos Direitos Creditórios Inadimplidos. Nesta hipótese, a  rentabilidade da Classe será af etada negativamente.</a:t>
            </a:r>
          </a:p>
          <a:p>
            <a:r>
              <a:t> (ii) Dif iculdade de obtenção de indenização ou recompra de Direitos Creditórios.</a:t>
            </a:r>
          </a:p>
          <a:p>
            <a:r>
              <a:t> Considerando a possibilidade de aquisição de Direitos Creditórios de terceiros — isso é  Endossantes que, por sua vez, adquiram os Direitos Creditórios de forma secundária, por meio  da cessão ou endosso realizado por credores anteriores da CCB — caso ocorram situações  que ensejem em recompra de tais Direitos Creditórios e/ou indenização, a Classe poderá ter  dif iculdades adicionais em obter tais indenizações e/ou recompras, na medida em que o direito  a tais indenizações e/ou recompras não está previsto em cada CCB, mas em contratos e  instrumentos dos quais a Classe não é originalmente parte, o que poderá causar perdas à  Classe e, consequentemente, aos Cotistas.</a:t>
            </a:r>
          </a:p>
          <a:p>
            <a:r>
              <a:t> (iii) Risco de concentração. O risco da aplicação na Classe possui forte correlação  com a concentração da Carteira, sendo que, quanto maior f or a concentração da Carteira,  maior será a chance de a Classe sofrer perda patrimonial significativa que afete negativamente  a rentabilidade das Cotas. A Classe não possui limite de concentração por Devedor ou  originador dos Direitos Creditórios, exceto por aqueles previstos na Resolução CVM  175, razão pela qual a Classe poderá estar exposto a significativa concentração por  Devedor. Não é possível garantir que os limites de concentração contidos na Política de  Investimentos, ainda que atendidos, serão suficientes que o Patrimônio Líquido não sofra  perdas que possam af etar a rentabilidade das Cotas.</a:t>
            </a:r>
          </a:p>
          <a:p>
            <a:r>
              <a:t> (iv) Possibilidade de conflito de interesses entre a Classe e os Originadores. Os  Originadores podem possuir relacionamento comercial com os Endossantes e/ou Devedores,  de modo que, em determinadas circunstâncias seus interesses podem ser conflitantes com os  interesses da Classe. Não é possível garantir que, materializada uma situação de conflito de  interesses conforme descrita acima, o Originador exponha-a adequadamente ao  ADMINISTRADOR e/ou aos Cotistas, ou que o f aça absolutamente, tampouco que agirá no  melhor no interesse da Classe. Nesses casos, a Classe pode vir a adquirir Direitos Creditórios  ou pode vir a ter seus Direitos Creditórios Inadimplidos pagos em condições comparativamente  menos vantajosas àquelas que seriam verificadas na ausência de tais conflitos de interesses.</a:t>
            </a:r>
          </a:p>
          <a:p>
            <a:r>
              <a:t> Nesses casos, o Patrimônio Líquido pode ser af etado adversamente.</a:t>
            </a:r>
          </a:p>
          <a:p>
            <a:r>
              <a:t> (v) Possibilidade de conflito de interesses entre Cotistas. As Cotas poderão ser  adquiridas por investidores que sejam sociedades coligadas, controladas ou controladoras,</a:t>
            </a:r>
          </a:p>
          <a:p>
            <a:r>
              <a:t>CNPJ 54871427000194 · Originador e endossante · Condição: Documentos atuais selecionados no inventário por categoria/escopo; a data documental isolada não comprova vigência jurídica.</a:t>
            </a:r>
          </a:p>
          <a:p>
            <a:r>
              <a:t>CNPJ 54871427000194 · Originador e endossante · Versão e prevalência: Documentos atuais selecionados no inventário por categoria/escopo; a data documental isolada não comprova vigência jurídica.</a:t>
            </a:r>
          </a:p>
          <a:p>
            <a:r>
              <a:t>CNPJ 54871427000194 · Originador e endossante · Resumo do histórico: {"count": 2, "dates": ["2024-04-19", "2024-04-28"], "document_count": 2, "sources": [{"document_id": "670691", "title": "Regulamento", "reference_date": "2024-04-28", "version": "1", "page": "9, 39", "url": "https://fnet.bmfbovespa.com.br/fnet/publico/visualizarDocumento?id=670691", "sha256": "bf16dd7f1a62d5cdbf2e2d54fef81783783f7310fbc99c3a8f00459bdf9d037b"}, {"document_id": "670689", "title": "Regulamento", "reference_date": "2024-04-19", "version": "1", "page": 9, "clause": "4.5", "url": "https://fnet.bmfbovespa.com.br/fnet/publico/visualizarDocumento?id=670689", "sha256": "891bc9bc5d87bbc02ec139077a84d2702eb81ea02035fb71d24f5b8366b94a0b"}], "reference": {"path": "history/54871427000194.json", "criterion_id": "originator", "total_count": 2, "preview_count": 2, "full_text_deferred": true, "sha256": "35d7cd99be50c7287c9fb675cf4f2e736002315295a225a9efa79c8d9186d874"}}</a:t>
            </a:r>
          </a:p>
          <a:p>
            <a:r>
              <a:t>CNPJ 60010416000112 · Originador e endossante · Regulamento · ID 1051393 · 09/10/2025 · versão Regulamento09/10/2025 · p. 44 · Glossário, Endossante · https://fnet.bmfbovespa.com.br/fnet/publico/visualizarDocumento?id=1051393</a:t>
            </a:r>
          </a:p>
          <a:p>
            <a:r>
              <a:t>CNPJ 60010416000112 · Originador e endossante · Excerto da fonte:</a:t>
            </a:r>
          </a:p>
          <a:p>
            <a:r>
              <a:t>“Endossante”: a Parati Crédito, Financiamento e Investimento S.A., instituição financeira constituída na forma de uma sociedade por ações, com sede na cidade de Vitória, estado do Espírito Santo, na Avenida Nossa Senhora da Penha, 699, torre A, conjuntos 404 a 407, Santa Lúcia, CEP 29.056-250, inscrita no CNPJ sob nº 03.311.443/0001-91; "Entidade Registradora": instituição autorizada pelo BACEN para realizar as atividades de registro e constituição, alteração e desconstituição de ônus e gravames sobre ativos f inanceiros registrados; “Escrituração”: significa a escrituração da Consignação a ser realizada pelo Empregador, junto ao eSocial, após recebimento de notif icação comunicando-o da contratação, pelo Devedor, do empréstimo a ser pago por Consignação; “Eventos de Avaliação”: os eventos de avaliação descritos no item 10.1 deste Anexo; “Eventos de Liquidação”: os eventos de liquidação descritos no item 10.3 deste Anexo; BTG Pactual SAC: 0800 772 28 27 - Ouvidoria: 0800 722 00 48 - btgpactual.com 44</a:t>
            </a:r>
          </a:p>
          <a:p>
            <a:r>
              <a:t>CNPJ 60010416000112 · Originador e endossante · Regulamento · ID 1051393 · 09/10/2025 · versão Regulamento09/10/2025 · p. 41 · Glossário, Agente de Retenção/Cobrança · https://fnet.bmfbovespa.com.br/fnet/publico/visualizarDocumento?id=1051393</a:t>
            </a:r>
          </a:p>
          <a:p>
            <a:r>
              <a:t>CNPJ 60010416000112 · Originador e endossante · Excerto da fonte:</a:t>
            </a:r>
          </a:p>
          <a:p>
            <a:r>
              <a:t>“Agente de Retenção/Cobrança”: significa a Tudo Serviços S.A., sociedade por ações com sede na Cidade de Eusébio, Estado do Ceará, na Comendador Ari Freitas, 577, CEP 61.760-000, inscrita no CNPJ sob nº 27.852.506/0001-85; “Agente Escriturador”: O Administrador, o qual se encontra devidamente habilitado pela CVM para prestar os serviços de escrituração das Cotas, ou seu sucessor a qualquer título; “Amortização”: signif ica cada uma das amortizações ordinárias de Cotas; “Amortização Extraordinária”: amortização extraordinária das Cotas Seniores, conforme deliberado pela Assembleia Especial de Cotistas, para reestabelecer o Índice de Subordinação, nos termos do item 5.5.1 do Anexo I; "ANBIMA": Associação Brasileira das Entidades dos Mercados Financeiro e de Capitais; "Código ANBIMA": Código ANBIMA de Regulação e Melhores Práticas para Administração de Recursos de Terceiros “Anexos”: tem o signif icado atribuído no Art. 3, inciso IV, da Resolução CVM 175, Parte Geral; “Apêndice”: cada um dos apêndices que integram este Anexo, descritivos de cada Subclasse de Cotas ou de aspectos aplicáveis à Classe; "Arquivos Dataprev": Arquivo de Consignações fornecido mensalmente pela Dataprev ao Endossante, contendo a totalidade das operações pend</a:t>
            </a:r>
          </a:p>
          <a:p>
            <a:r>
              <a:t>CNPJ 60010416000112 · Originador e endossante · Regulamento · ID 1051393 · 09/10/2025 · versão Regulamento09/10/2025 · p. 28 · AnexoI11.23 · https://fnet.bmfbovespa.com.br/fnet/publico/visualizarDocumento?id=1051393</a:t>
            </a:r>
          </a:p>
          <a:p>
            <a:r>
              <a:t>CNPJ 60010416000112 · Originador e endossante · Excerto da fonte:</a:t>
            </a:r>
          </a:p>
          <a:p>
            <a:r>
              <a:t>Tudo Serviços S.A., sociedade anônima, com sede no município de Eusébio, Estado do Ceará, na Comendador Ari Freitas, 577, CEP 61.760-000, inscrita no CNPJ sob o nº 27.852.506/0001-85, cujos deveres, sem prejuízo daqueles estabelecidos neste Regulamento, no Contrato de Serviços MT e no Contrato de Endosso, consistirão no monitoramento e cobrança dos Direitos Creditórios Inadimplidos, observado o disposto neste Anexo I e na regulamentação aplicável: (i) caso aplicável, atuar na retenção (defesa) de operações de empréstimo consignado cujos Direitos Creditórios sejam de titularidade da Classe, em caso d</a:t>
            </a:r>
          </a:p>
          <a:p>
            <a:r>
              <a:t>CNPJ 60010416000112 · Originador e endossante · Versão e prevalência: Leitura específica das cláusulas indicadas; condições e conflitos preservados. Seleção documental atual não comprova vigência jurídica por data isolada.</a:t>
            </a:r>
          </a:p>
          <a:p>
            <a:r>
              <a:t>CNPJ 60010416000112 · Originador e endossante · Resumo do histórico: {"count": 2, "dates": ["2025-03-20", "2025-10-09"], "document_count": 2, "sources": [{"document_id": "1051393", "title": "Regulamento", "reference_date": "2025-10-09", "version": "1", "page": "41-43", "url": "https://fnet.bmfbovespa.com.br/fnet/publico/visualizarDocumento?id=1051393", "sha256": "8469d613078ffd5a6c1d217885d8a397a16342c0b937ae4aa24b106505f233ae"}, {"document_id": "993786", "title": "Regulamento", "reference_date": "2025-03-20", "version": "1", "page": 25, "clause": "11.8", "url": "https://fnet.bmfbovespa.com.br/fnet/publico/visualizarDocumento?id=993786", "sha256": "fd0fdd369a195510d81f81f505195a0b09e5f43522a990afa7d58c4f872921c8"}], "reference": {"path": "history/60010416000112.json", "criterion_id": "originator", "total_count": 2, "preview_count": 2, "full_text_deferred": true, "sha256": "8e2bd813f4c51cf01f6bfaad164bafe69d2bbb192f753eac92da3a01c2e63046"}}</a:t>
            </a:r>
          </a:p>
          <a:p>
            <a:r>
              <a:t>CNPJ 62696791000193 · Originador e endossante · Regulamento · ID 1143317 · 20/03/2026 · versão Regulamento — referência 20/03/2026 · p. 10 · Anexo I, 4.4 e 4.6 · https://fnet.bmfbovespa.com.br/fnet/publico/visualizarDocumento?id=1143317</a:t>
            </a:r>
          </a:p>
          <a:p>
            <a:r>
              <a:t>CNPJ 62696791000193 · Originador e endossante · Excerto da fonte:</a:t>
            </a:r>
          </a:p>
          <a:p>
            <a:r>
              <a:t>4.4 Tendo em vista (i) a natureza variada dos Direitos Creditórios do Agronegócio passíveis de aquisição pela Classe; (ii) a amplitude da Política de Investimentos; e (iii) a potencial diversificação de Cedentes/Endossantes e Devedores, não é possível precisar os processos de origem dos Direitos Creditórios do Agronegócio e as políticas de concessão de crédito adotadas pelos Cedentes/Endossantes. 4.5 Os Direitos Creditórios do Agronegócio deverão contar com toda a documentação necessária para o exercício das prerrogativas decorrentes da titularidade dos ativos, e capaz de comprovar a origem, a existência e a exigibilidade dos Direitos Creditórios do Agronegócio (“Documentos Comprobatórios”) que evidenciem sua existência, validade e exequibilidade perante os respectivos Devedores. 4.5.1 Os Direitos Creditórios do Agronegócio serão adquiridos pela Classe por meio: (i) de contratos de cessão e/ou termos de cessão (“Contratos de Cessão”), contratos de promessa de endosso e/ou termos de endosso (“Contratos de Endosso”) firmados entre a Classe e os respectivos cedentes (“Cedentes”) / endossantes (“Endossantes”), acompanhados de todos os direitos, pri</a:t>
            </a:r>
          </a:p>
          <a:p>
            <a:r>
              <a:t>CNPJ 62696791000193 · Originador e endossante · Condição: A afirmação descreve um mandato amplo; não identifica contrapartes efetivamente presentes no IME.</a:t>
            </a:r>
          </a:p>
          <a:p>
            <a:r>
              <a:t>CNPJ 62696791000193 · Originador e endossante · Versão e prevalência: Leitura específica das cláusulas indicadas; condições e conflitos preservados. Seleção documental atual não comprova vigência jurídica por data isolada.</a:t>
            </a:r>
          </a:p>
          <a:p>
            <a:r>
              <a:t>CNPJ 55563624000109 · Originador e endossante · Regulamento · ID 1192614 · 2026-04-30 · versão 1 · p. 32 · https://fnet.bmfbovespa.com.br/fnet/publico/visualizarDocumento?id=1192614</a:t>
            </a:r>
          </a:p>
          <a:p>
            <a:r>
              <a:t>CNPJ 55563624000109 · Originador e endossante · Excerto da fonte:</a:t>
            </a:r>
          </a:p>
          <a:p>
            <a:r>
              <a:t>(b) Questionamento judicial. Os devedores podem questionar judicialmente (1) a validade  dos direitos creditórios, inclusive em razão da legalidade dos limites de crédito  concedidos pelo originador ou cedente e das taxas de juros praticadas, antes e/ou após  a sua transferência para a Classe Investida; e/ou (2) os termos e condições da  transferência dos direitos creditórios à Classe Investida. Em qualquer caso, é possível  que a Classe Investida não receba parte ou a totalidade dos valores relativos aos  direitos creditórios de sua titularidade objeto de questionamento judicial.</a:t>
            </a:r>
          </a:p>
          <a:p>
            <a:r>
              <a:t> (c) Risco de originação de direitos creditórios. Os direitos creditórios a serem adquiridos  pela Classe Investida são decorrentes de operações de empréstimo específicas  envolvendo as operações do Mercado Pago, conforme detalhadas no regulamento da  Classe Investida. Na hipótese de não originação, originação insuficiente ou  indisponibilidade para aquisição pelo Classe Investida, por qualquer motivo, inclusive  em caso de redução ou descontinuidade das operações regulares dos cedentes, de  direitos creditórios que satisfaçam os critérios de elegibilidade, as condições de cessão  e a política de investimento, composição e diversificação da carteira da Classe Investida  descrita em seu regulamento, a Classe Investida poderá ser incapaz de alocar a  totalidade de seus recursos, o que poderá inviabilizar a realização das chamadas de  capital por seu administrador, afetando negativamente a continuidade da Classe  Investida, a expectativa de seus cotistas, incluindo a Classe, com relação ao seu  horizonte de investimento, a rentabilidade da Classe Investida e, consequentemente, o  valor das Cotas da Classe Investida, impactando assim a Classe e os investimentos dos  Cotistas em Cotas.</a:t>
            </a:r>
          </a:p>
          <a:p>
            <a:r>
              <a:t> (d) Originação por meio fraudulento. A Classe Investida pode adquirir direitos creditórios  que tenham sido originados por meio fraudulento. Nesse caso, a Classe Investida não  poderá exigir o pagamento dos respectivos valores por parte dos devedores lesados,  restando-lhe somente exigir do cedente o pagamento do valor correspondente aos  direitos creditórios fraudulentos, na forma prevista no respectivo contrato de cessão. A  restituição devida pelo cedente poderá demorar a ser realizada ou simplesmente não  ocorrer. Em ambos os casos, o patrimônio da Classe Investida seria impactado  negativamente, igualmente afetando, consequentemente, a Classe.</a:t>
            </a:r>
          </a:p>
          <a:p>
            <a:r>
              <a:t> (e) Questionamento da validade e da eficácia da cessão dos Direitos Creditórios. A validade  e a eficácia da cessão dos direitos creditórios à Classe Investida poderão ser  questionadas, inclusive em decorrência de intervenção, liquidação, Regime de  Administração Especial Temporária (RAET), pedido de recuperação judicial, falência,  plano de recuperação extrajudicial ou outro procedimento de natureza similar  originador ou do cedente. A titularidade direitos creditórios poderá vir a ser  questionada caso (1) haja garantias reais sobre os direitos creditórios, constituídas  antes da sua cessão e sem o conhecimento da Classe Investida; (2) ocorra a penhora ou  outra forma de constrição judicial sobre os direitos creditórios, antes da sua cessão e sem  o conhecimento da Classe Investida; (3) seja verificada, em processo judicial, fraude  contra credores ou fraude à execução praticada pelo respectivo originador ou cedente;</a:t>
            </a:r>
          </a:p>
          <a:p>
            <a:r>
              <a:t> ou (4) a cessão dos direitos creditórios à Classe Investida seja revogada, quando restar  comprovado que foi praticada com a intenção de prejudicar os credores do originador  ou do cedente. Em qualquer hipótese, os direitos creditórios integrantes da carteira da  Classe Investida poderão ser bloqueados ou redirecionados para o pagamento de  outras obrigações do originador ou cedente, afetando negativamente os patrimônios  da Classe Investida e a rentabilidade das suas cotas.</a:t>
            </a:r>
          </a:p>
          <a:p>
            <a:r>
              <a:t>CNPJ 55563624000109 · Originador e endossante · Regulamento · ID 1192614 · 2026-04-30 · versão 1 · p. 28 · https://fnet.bmfbovespa.com.br/fnet/publico/visualizarDocumento?id=1192614</a:t>
            </a:r>
          </a:p>
          <a:p>
            <a:r>
              <a:t>CNPJ 55563624000109 · Originador e endossante · Excerto da fonte:</a:t>
            </a:r>
          </a:p>
          <a:p>
            <a:r>
              <a:t>Classe, na forma da regulamentação aplicável, observado que os prestadores de serviços eventualmente  subcontratados não podem ser, em relação à Classe, o originador, cedente, o GESTOR, consultoria especializada  ou partes a eles relacionadas, tais como definidas nas regras contábeis que tratam desse assunto.</a:t>
            </a:r>
          </a:p>
          <a:p>
            <a:r>
              <a:t>CNPJ 55563624000109 · Originador e endossante · Condição: Documentos atuais selecionados no inventário por categoria/escopo; a data documental isolada não comprova vigência jurídica.</a:t>
            </a:r>
          </a:p>
          <a:p>
            <a:r>
              <a:t>CNPJ 55563624000109 · Originador e endossante · Versão e prevalência: Documentos atuais selecionados no inventário por categoria/escopo; a data documental isolada não comprova vigência jurídica.</a:t>
            </a:r>
          </a:p>
          <a:p>
            <a:r>
              <a:t>CNPJ 55563624000109 · Originador e endossante · Resumo do histórico: {"count": 3, "dates": ["2025-01-31", "2026-01-31", "2026-04-30"], "document_count": 3, "sources": [{"document_id": "1192614", "title": "Regulamento", "reference_date": "2026-04-30", "version": "1", "page": "11", "url": "https://fnet.bmfbovespa.com.br/fnet/publico/visualizarDocumento?id=1192614", "sha256": "f56e63ace0acde41d2f47fb48f1ac7f3f7df5e2d32de092d7c5e075a52516632"}, {"document_id": "1178840", "title": "Demonstrações Financeiras", "reference_date": "2026-01-31", "version": "1", "page": 16, "url": "https://fnet.bmfbovespa.com.br/fnet/publico/visualizarDocumento?id=1178840", "sha256": "c458e98664c5c907ddb5a05a94b120bed4e05295b2bfc420f5ba69af0a229abe"}, {"document_id": "891861", "title": "Demonstrações Financeiras", "reference_date": "2025-01-31", "version": "1", "page": 16, "url": "https://fnet.bmfbovespa.com.br/fnet/publico/visualizarDocumento?id=891861", "sha256": "e9cb9e6ddbe505fe068cfcac33605165a98313489de0d3ce6d4d238263c3f3e7"}], "reference": {"path": "history/55563624000109.json", "criterion_id": "originator", "total_count": 3, "preview_count": 3, "full_text_deferred": true, "sha256": "7835d573fb58a3c19adf5b8ecc2aee2bdbb9a88f7a0c0209b5f262b64c7522e3"}}</a:t>
            </a:r>
          </a:p>
          <a:p>
            <a:r>
              <a:t>CNPJ 62552447000120 · Originador e endossante · Regulamento · ID 1200623 · 21/05/2026 · versão Consolidado21/05/2026 aprovado pelo ato1200625 · p. 12 · AnexoI4.4.1(i) · https://fnet.bmfbovespa.com.br/fnet/publico/visualizarDocumento?id=1200623</a:t>
            </a:r>
          </a:p>
          <a:p>
            <a:r>
              <a:t>CNPJ 62552447000120 · Originador e endossante · Excerto da fonte:</a:t>
            </a:r>
          </a:p>
          <a:p>
            <a:r>
              <a:t>BANCO VR S.A., instituição f inanceira, com sede no município e Estado de São Paulo, na Av. Dos Bandeirantes, n.º 460, Brooklin Paulista, CEP 04553-900, inscrita no CNPJ sob o n.º 78.626.983/0001- 63, ou qualquer outra sociedade do mesmo grupo econômico, na qualidade de endossante (“Endossante”), acompanhados de todos os direitos, privilégios, pref erências, prerrogativas, ações e garantias assegurados aos seus titulares; (ii) da subscrição de títulos de crédito e/ou valores mobiliários, incluindo, mas não se</a:t>
            </a:r>
          </a:p>
          <a:p>
            <a:r>
              <a:t>CNPJ 62552447000120 · Originador e endossante · Regulamento · ID 1200623 · 21/05/2026 · versão Consolidado21/05/2026 aprovado pelo ato1200625 · p. 29 · AnexoI12.14 · https://fnet.bmfbovespa.com.br/fnet/publico/visualizarDocumento?id=1200623</a:t>
            </a:r>
          </a:p>
          <a:p>
            <a:r>
              <a:t>CNPJ 62552447000120 · Originador e endossante · Excerto da fonte:</a:t>
            </a:r>
          </a:p>
          <a:p>
            <a:r>
              <a:t>VR BENEFÍCIOS E SERVIÇOS DE PROCESSAMENTO S.A., sociedade anônima com sede no município e Estado de São Paulo, na Av. dos Bandeirantes, n.º 460, Brooklin Paulista, CEP 04553-900, inscrita no CNPJ sob o n.º 02.535.864/0004-86 (“Agente de Retenção e Cobrança” ou “Originador”), para os serviços de retenção de Direitos Creditórios e de cobrança de Direitos Creditórios Inadimplidos, de acordo com os contratos de prestação de serviços de retenção e cobrança celebrados entre o Agente de Retenção e Cobrança e a Classe (“Contratos de Retenção/Cobrança”). 12.15 O Agente de Retenção e Cobrança poderá, às expensas da Classe,</a:t>
            </a:r>
          </a:p>
          <a:p>
            <a:r>
              <a:t>CNPJ 62552447000120 · Originador e endossante · Versão e prevalência: Leitura específica das cláusulas indicadas; condições e conflitos preservados. Seleção documental atual não comprova vigência jurídica por data isolada.</a:t>
            </a:r>
          </a:p>
          <a:p>
            <a:r>
              <a:t>CNPJ 63953620000165 · Originador e endossante · Anexo ao Regulamento · ID 1222863 · 02/06/2026 · versão AnexoConsignadoPrivado02/06/2026 · p. 5 · 4.3–4.4 · https://fnet.bmfbovespa.com.br/fnet/publico/visualizarDocumento?id=1222863</a:t>
            </a:r>
          </a:p>
          <a:p>
            <a:r>
              <a:t>CNPJ 63953620000165 · Originador e endossante · Excerto da fonte:</a:t>
            </a:r>
          </a:p>
          <a:p>
            <a:r>
              <a:t>4.3 Os Direitos Creditórios serão adquiridos pela Classe por meio: (i) contratos de promessa de endosso e/ou termos de endosso (“Contratos de Endosso”) firmados entre a Classe e a Parati Crédito, Financiamento e Investimento S.A., instituição financeira constituída na forma de uma sociedade por ações, com sede na cidade de Vitória, estado do Espírito Santo, na Avenida Nossa Senhora da Penha, 699, torre A, conjuntos 404 a 407, Santa Lúcia, CEP 29.056-250, inscrita no CNPJ sob nº 03.311.443/0001-91 (“Endossante” ou “Cedente”), acompanhados de todos os direitos, privilégios, preferências, prerrogativas, ações e garantias asse</a:t>
            </a:r>
          </a:p>
          <a:p>
            <a:r>
              <a:t>CNPJ 63953620000165 · Originador e endossante · Anexo ao Regulamento · ID 1222863 · 02/06/2026 · versão AnexoConsignadoPrivado02/06/2026 · p. 19 · 12.6 · https://fnet.bmfbovespa.com.br/fnet/publico/visualizarDocumento?id=1222863</a:t>
            </a:r>
          </a:p>
          <a:p>
            <a:r>
              <a:t>CNPJ 63953620000165 · Originador e endossante · Excerto da fonte:</a:t>
            </a:r>
          </a:p>
          <a:p>
            <a:r>
              <a:t>12.6 A Classe contratou a Tudo Serviços S.A., sociedade anônima, com sede no município de Fortaleza, Estado do Ceará, na Avenida Senador Virgulo Távora, nº 303, Lojas 02, 03, 04, 05, 06 e 19, Meireles, CEP 60.170-265, inscrita no CNPJ sob o nº 27.852.506/0001-85, cujos deveres, sem prejuízo daqueles estabelecidos neste Regulamento, no “Contrato de Serviços de Retenção e Cobrança e Outras Avenças”, celebrado entre o Agente de Retenção/Cobrança e a Classe (“Contrato de Serviços MT”) e no Contrato de Endosso, consistirão no monitoramento e cobrança dos Direitos Creditórios Inadimplidos, observado o disposto neste Anexo I e na</a:t>
            </a:r>
          </a:p>
          <a:p>
            <a:r>
              <a:t>CNPJ 63953620000165 · Originador e endossante · Condição: Nomeação nominal atual da classe; distinta da origem histórica dos ativos recebidos por cisão de outros veículos.</a:t>
            </a:r>
          </a:p>
          <a:p>
            <a:r>
              <a:t>CNPJ 63953620000165 · Originador e endossante · Versão e prevalência: Leitura específica das cláusulas indicadas; condições e conflitos preservados. Seleção documental atual não comprova vigência jurídica por data isolada.</a:t>
            </a:r>
          </a:p>
          <a:p>
            <a:r>
              <a:t>CNPJ 63953620000165 · Originador e endossante · Resumo do histórico: {"count": 8, "dates": ["2026-04-28", "2026-05-08", "2026-05-15"], "document_count": 3, "sources": [{"document_id": "1327859", "title": "Demonstrações Financeiras - Fusão, cisão e incorporação", "reference_date": "2026-05-15", "version": "1", "page": 23, "url": "https://fnet.bmfbovespa.com.br/fnet/publico/visualizarDocumento?id=1327859", "sha256": "dca1c68babb97f887528c3e2e47596a9c30f507b067981a35655b2f2da9c8054"}, {"document_id": "1298691", "title": "Demonstrações Financeiras - Fusão, cisão e incorporação", "reference_date": "2026-05-08", "version": "1", "page": 24, "url": "https://fnet.bmfbovespa.com.br/fnet/publico/visualizarDocumento?id=1298691", "sha256": "58c570d9b8d4d265330d3db3ea81c435b8e44a6dab4002aa37790652a1ee9819"}, {"document_id": "1282180", "title": "Demonstrações Financeiras - Fusão, cisão e incorporação", "reference_date": "2026-04-28", "version": "1", "page": 24, "url": "https://fnet.bmfbovespa.com.br/fnet/publico/visualizarDocumento?id=1282180", "sha256": "afaaa0e6809be4385e5bdb6c911aac582032c5bdbac3d7750234bf9eaf00438a"}], "reference": {"path": "history/63953620000165.json", "criterion_id": "originator", "total_count": 8, "preview_count": 3, "full_text_deferred": true, "sha256": "a7b89077f5e21098c2d601c303faabc3ff6b9729f89d8afecdc60fe1404720c1"}}</a:t>
            </a:r>
          </a:p>
          <a:p>
            <a:r>
              <a:t>CNPJ 54871427000194 · Devedor e consignação · Regulamento · ID 670691 · 2024-04-28 · versão 1 · p. 29 · https://fnet.bmfbovespa.com.br/fnet/publico/visualizarDocumento?id=670691</a:t>
            </a:r>
          </a:p>
          <a:p>
            <a:r>
              <a:t>CNPJ 54871427000194 · Devedor e consignação · Excerto da fonte:</a:t>
            </a:r>
          </a:p>
          <a:p>
            <a:r>
              <a:t>Anexo I ao Regulamento CLASSE ÚNICA DE RESPONSABILIDADE LIMITADA DO CONSIGNADO DELTA RECEIVABLES I FUNDO DE INVESTIMENTO EM DIREITOS CREDITÓRIOS  pelo Endossante e depositados em seu conta de sua titularidade para posterior repasse à  Classe. Neste caso, a Classe poderá sofrer perdas principalmente em relação ao atraso na  regularização da titularidade e pagamento dos Direitos Creditórios.</a:t>
            </a:r>
          </a:p>
          <a:p>
            <a:r>
              <a:t> (v) Risco de pré-pagamento dos Direitos Creditórios. A ocorrência de pré-  pagamentos em relação a um ou mais Direitos Creditórios poderá ocasionar perdas à Classe.</a:t>
            </a:r>
          </a:p>
          <a:p>
            <a:r>
              <a:t> A ocorrência de pré-pagamentos (pagamento em data anterior àquela originalmente pactuada)  de Direitos Creditórios reduz o horizonte original de rendimentos esperados pela Classe de  tais Direitos Creditórios, uma vez que o pré-pagamento poderá, se assim permitido pela  documentação do Direito Creditório ou, conf orme o caso, pela legislação aplicável, ser  realizado pelo valor de emissão do Direito Creditório atualizado até a data do pré-pagamento  pela taxa de juros pactuada entre os Endossantes e os Devedores de tais Direitos Creditórios,  de modo que os juros remuneratórios incidentes desde a data da realização do pré-pagamento  até a data de vencimento do respectivo Direito Creditório deixam de ser devidos à Classe.</a:t>
            </a:r>
          </a:p>
          <a:p>
            <a:r>
              <a:t> (vi) Riscos associados aos Devedores: os Direitos Creditórios a serem cedidos à  Classe serão descontados da remuneração do Devedor, através de desconto em f olha de  pagamento ou de benefício. Nesse sentido, na ocorrência de pré-pagamento, as parcelas  serão pagas antecipadamente e a Classe deverá utilizar tais montantes no pré-pagamento dos  Direitos Creditórios. Nesta hipótese, a Classe poderá não encontrar Direitos Creditórios  disponíveis para serem adquiridos pela Classe, o que poderá afetar a rentabilidade da Classe.</a:t>
            </a:r>
          </a:p>
          <a:p>
            <a:r>
              <a:t> (vii) Risco de Competição: o mercado de empréstimos experimentou grande  expansão no Brasil nos últimos anos. Nesse contexto, a Resolução CMN nº 4.292, alterada  pela Resolução nº 4.762, de 27 de novembro de 2019, dispõe que deve ser garantido às  pessoas naturais devedoras de operações de crédito (tais como as CCB) a possibilidade de  realizarem a portabilidade destas operações para outras instituições financeiras, inclusive nos  casos em que tenham sido objeto de cessão (tais como as realizadas à Classe). Nesse  cenário, é possível que os competidores do Endossante ofereçam condições e taxas mais  vantajosas para os empréstimos pessoais com consignação em f olha de pagamento ou de  benef ícios, o que pode causar a migração de clientes da Endossante para outras instituições  f inanceiras, gerando a liquidação antecipada de parte das CCB existentes e/ou redução no  número de Direitos Creditórios cedidos. Referida competição poderá af etar os resultados da  Classe, impactando negativamente os rendimentos dos Cotistas. Ainda, a portabilidade a um  Devedor pode acarretar no recebimento de valores inf eriores aos esperados pela Classe.</a:t>
            </a:r>
          </a:p>
          <a:p>
            <a:r>
              <a:t> (viii) Insuf iciência dos Critérios de Elegibilidade. Os Critérios de Elegibilidade têm a  f inalidade de selecionar os Direitos Creditórios passíveis de aquisição pela Classe. Não  obstante tais Critérios de Elegibilidade, a solvência dos Direitos Creditórios que compõem a  Carteira depende integralmente, mas não somente, da situação econômico-financeira dos  Devedores. Dessa f orma, a observância pelo GESTOR dos Critérios de Elegibilidade não  constitui garantia de adimplência dos Devedores.</a:t>
            </a:r>
          </a:p>
          <a:p>
            <a:r>
              <a:t> Os Endossantes não necessariamente garantem a solvência dos seus respectivos Devedores.</a:t>
            </a:r>
          </a:p>
          <a:p>
            <a:r>
              <a:t> O Endossante dos Direitos Creditórios não assumirá responsabilidade pelo seu pagamento ou  pela solvência dos respectivos Devedores. A Classe sofrerá o impacto do inadimplemento dos  Direitos Creditórios vencidos e não pagos pelos respectivos Devedores.</a:t>
            </a:r>
          </a:p>
          <a:p>
            <a:r>
              <a:t> (ix) Possibilidade de aquisição de Direitos Creditórios cedidos por Endossante  e/ou devidos por Devedores cujas demonstrações financeiras não sejam auditadas. A Classe,  desde que sejam respeitados os limites de concentração previstos neste Regulamento, poderá  manter a qualquer tempo em sua Carteira, Direitos Creditórios cedidos por Endossante e/ou  devidos por Devedores cujas demonstrações f inanceiras não sejam auditadas por Auditor  Independente registrado na CVM. Nesse sentido, não haverá verificação independente sobre  tais demonstrações f inanceiras que af irme se estas representam adequadamente, em todos  os aspectos relevantes, as respectivas posições patrimoniais e f inanceiras, os resultados de  suas operações, as mutações de seus respectivos patrimônios líquidos tampouco as origens  e aplicações de seus recursos.</a:t>
            </a:r>
          </a:p>
          <a:p>
            <a:r>
              <a:t>CNPJ 54871427000194 · Devedor e consignação · Regulamento · ID 670691 · 2024-04-28 · versão 1 · p. 27 · 14.2 · https://fnet.bmfbovespa.com.br/fnet/publico/visualizarDocumento?id=670691</a:t>
            </a:r>
          </a:p>
          <a:p>
            <a:r>
              <a:t>CNPJ 54871427000194 · Devedor e consignação · Excerto da fonte:</a:t>
            </a:r>
          </a:p>
          <a:p>
            <a:r>
              <a:t>14.2 Todos os custos e despesas ref eridos neste Capítulo, inclusive para salvaguarda de direitos e  prerrogativas da Classe e/ou com a cobrança judicial e/ou extrajudicial de Direitos Creditórios  Inadimplidos, serão de inteira responsabilidade da Classe, não estando o ADMINISTRADOR, o  GESTOR, o Endossante, os Devedores, o CUSTODIANTE e quaisquer de suas respectivas pessoas  controladoras, sociedades por estes direta ou indiretamente controladas, a estes coligadas ou outras  sociedades sob controle comum, em conjunto ou isoladamente, obrigados pelo adiantamento ou  pagamento de valores relacionados aos procedimentos ref eridos neste Capítulo.</a:t>
            </a:r>
          </a:p>
          <a:p>
            <a:r>
              <a:t>CNPJ 54871427000194 · Devedor e consignação · Regulamento · ID 670691 · 2024-04-28 · versão 1 · p. 31 · https://fnet.bmfbovespa.com.br/fnet/publico/visualizarDocumento?id=670691</a:t>
            </a:r>
          </a:p>
          <a:p>
            <a:r>
              <a:t>CNPJ 54871427000194 · Devedor e consignação · Excerto da fonte:</a:t>
            </a:r>
          </a:p>
          <a:p>
            <a:r>
              <a:t>Anexo I ao Regulamento CLASSE ÚNICA DE RESPONSABILIDADE LIMITADA DO CONSIGNADO DELTA RECEIVABLES I FUNDO DE INVESTIMENTO EM DIREITOS CREDITÓRIOS  a resgates de suas Cotas e/ou poderá ser obrigado a se desfazer de tais Ativos Financeiros  de Liquidez em condições menos f avoráveis do que se não houvesse a ref erida situação de  f alta de liquidez.</a:t>
            </a:r>
          </a:p>
          <a:p>
            <a:r>
              <a:t> (iv) Liquidação antecipada do FUNDO ou da Classe. Observado o disposto neste  Regulamento, o FUNDO ou a Classe poderão ser liquidados antecipadamente, caso ocorra  qualquer Evento de Liquidação, ou se assim deliberado pelos Cotistas reunidos em  Assembleia Geral de Cotistas. Por este motivo, os Cotistas poderão ter seu horizonte original  de investimento reduzido e poderão não conseguir reinvestir os recursos recebidos com a  mesma remuneração buscada pela Classe, não sendo devida pela Classe, pelo  ADMINISTRADOR, pelo GESTOR ou pelo CUSTODIANTE qualquer multa ou penalidade, a  qualquer título, em decorrência desse f ato. Adicionalmente, ocorrendo qualquer uma das  hipóteses de liquidação antecipada do FUNDO ou da Classe, poderá não haver recursos  disponíveis em moeda corrente nacional para realizar o pagamento aos Cotistas, que poderão  ser pagos com os Direitos Creditórios e Ativos Financeiros de Liquidez detidos em Carteira, os  quais estão sujeitos aos riscos apontados no item (iii) acima.</a:t>
            </a:r>
          </a:p>
          <a:p>
            <a:r>
              <a:t> (v) Amortização condicionada das Cotas. A única f onte de recursos da Classe  para ef etuar o pagamento de resgate ou amortização das Cotas, conforme o caso, é a  liquidação: (i) dos Direitos Creditórios, pelos respectivos Devedores; e (ii) dos Ativos  Financeiros de Liquidez, pelas respectivas contrapartes. Após o recebimento desses recursos  e, se f or o caso, depois de esgotados todos os meios cabíveis para a cobrança, extrajudicial  ou judicial, dos referidos ativos, a Classe não disporá de quaisquer outras verbas para efetuar  o resgate ou amortização das Cotas, conforme o caso, o que poderá acarretar prejuízo aos  Cotistas.</a:t>
            </a:r>
          </a:p>
          <a:p>
            <a:r>
              <a:t> Ademais, a Classe está exposta a determinados riscos inerentes aos Direitos Creditórios e  Ativos Financeiros de Liquidez e aos mercados em que são negociados, incluindo a eventual  impossibilidade de alienar ativos em caso de necessidade, especialmente os Direitos  Creditórios, devido à inexistência de um mercado secundário ativo e organizado para a  negociação dessa espécie de ativo. Considerando-se a sujeição do resgate das Cotas à  liquidação dos Direitos Creditórios e/ou dos Ativos Financeiros de Liquidez, conforme descrito  acima, tanto o ADMINISTRADOR quanto o GESTOR e o CUSTODIANTE estão  impossibilitados de assegurar que os resgates das Cotas ocorrerão nas datas originalmente  previstas, não sendo devido, nesta hipótese, pela Classe ou qualquer outra pessoa, incluindo  o ADMINISTRADOR, o GESTOR e o CUSTODIANTE, qualquer multa ou penalidade, de  qualquer natureza.</a:t>
            </a:r>
          </a:p>
          <a:p>
            <a:r>
              <a:t> (vi) Ausência de classificação de risco das Cotas e Política de Investimentos  genérica. A ausência de requisitos rígidos relacionados aos Direitos Creditórios passíveis de  aquisição pela Classe poderá dificultar a def inição do perfil de risco da Carteira, af etando a  capacidade de o Cotista avaliar o risco de seu invest imento. As Cotas não possuem  classificação de risco emitida por Agência Classificadora de Risco. Esses f atores podem  dif icultar a avaliação, por parte dos investidores, da qualidade do crédito representado pelas  Cotas e com a capacidade da Classe em honrar com os pagamentos das Cotas.</a:t>
            </a:r>
          </a:p>
          <a:p>
            <a:r>
              <a:t>CNPJ 54871427000194 · Devedor e consignação · Condição: Documentos atuais selecionados no inventário por categoria/escopo; a data documental isolada não comprova vigência jurídica.</a:t>
            </a:r>
          </a:p>
          <a:p>
            <a:r>
              <a:t>CNPJ 54871427000194 · Devedor e consignação · Versão e prevalência: Documentos atuais selecionados no inventário por categoria/escopo; a data documental isolada não comprova vigência jurídica.</a:t>
            </a:r>
          </a:p>
          <a:p>
            <a:r>
              <a:t>CNPJ 54871427000194 · Devedor e consignação · Resumo do histórico: {"count": 2, "dates": ["2024-04-19", "2024-04-28"], "document_count": 2, "sources": [{"document_id": "670691", "title": "Regulamento", "reference_date": "2024-04-28", "version": "1", "page": "38", "url": "https://fnet.bmfbovespa.com.br/fnet/publico/visualizarDocumento?id=670691", "sha256": "bf16dd7f1a62d5cdbf2e2d54fef81783783f7310fbc99c3a8f00459bdf9d037b"}, {"document_id": "670689", "title": "Regulamento", "reference_date": "2024-04-19", "version": "1", "page": 30, "url": "https://fnet.bmfbovespa.com.br/fnet/publico/visualizarDocumento?id=670689", "sha256": "891bc9bc5d87bbc02ec139077a84d2702eb81ea02035fb71d24f5b8366b94a0b"}], "reference": {"path": "history/54871427000194.json", "criterion_id": "debtor", "total_count": 2, "preview_count": 2, "full_text_deferred": true, "sha256": "35d7cd99be50c7287c9fb675cf4f2e736002315295a225a9efa79c8d9186d874"}}</a:t>
            </a:r>
          </a:p>
          <a:p>
            <a:r>
              <a:t>CNPJ 60010416000112 · Devedor e consignação · Regulamento · ID 1051393 · 2025-10-09 · versão 1 · p. 35 · 15.1.4 · https://fnet.bmfbovespa.com.br/fnet/publico/visualizarDocumento?id=1051393</a:t>
            </a:r>
          </a:p>
          <a:p>
            <a:r>
              <a:t>CNPJ 60010416000112 · Devedor e consignação · Excerto da fonte:</a:t>
            </a:r>
          </a:p>
          <a:p>
            <a:r>
              <a:t>15.1.4 Riscos específicos</a:t>
            </a:r>
          </a:p>
          <a:p>
            <a:r>
              <a:t> (i)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 icar inadimplente e,  consequentemente, não haverá repasse à Classe do respectivo Direito Creditório, o que  poderá resultar em perdas f inanceiras à Classe e aos Cotistas.</a:t>
            </a:r>
          </a:p>
          <a:p>
            <a:r>
              <a:t> (ii) Risco do Empregador não efetuar o desconto em folha: o repasse dos recursos oriundos  dos Direitos Creditórios à Classe depende da realização, pelo Empregador, da Escrituração e  do desconto na respectiva f olha de pagamento do Devedor. Na hipótese do Empregador  deixar de realizar a Escrituração ou os descontos na folha de pagamento, não haverá repasse  de recursos à Classe, podendo causar prejuízos à Classe e aos Cotistas.</a:t>
            </a:r>
          </a:p>
          <a:p>
            <a:r>
              <a:t> (iii) Risco de perda do vínculo empregatício com o Empregador: caso o Devedor perca o  vínculo empregatício com o Empregador, não haverá remuneração e f olha de pagamento para  realização dos descontos para pagamento dos Direitos Creditórios. Neste caso, não obstante  a possibilidade do Agente de Retenção/Cobrança realizar a cobrança ativa dos Direitos  Creditórios diretamente do Devedor, a ausência de remuneração poderá deixar o Devedor  inadimplente perante a Classe até que o seu vínculo empregatício seja retomado e seja  ef etuado o procedimento operacional para que a CCB seja aditada e/ou seja realizado o  Processo de Reinicialização. Tais situações poderão resultar em prejuízos à Classe e aos  Cotistas.</a:t>
            </a:r>
          </a:p>
          <a:p>
            <a:r>
              <a:t>CNPJ 60010416000112 · Devedor e consignação · Regulamento · ID 1051393 · 2025-10-09 · versão 1 · p. 36 · https://fnet.bmfbovespa.com.br/fnet/publico/visualizarDocumento?id=1051393</a:t>
            </a:r>
          </a:p>
          <a:p>
            <a:r>
              <a:t>CNPJ 60010416000112 · Devedor e consignação · Excerto da fonte:</a:t>
            </a:r>
          </a:p>
          <a:p>
            <a:r>
              <a:t>Anexo I ao Regulamento CLASSE ÚNICA DO MT I CONSIGNADO PRIVADO I FUNDO DE INVESTIMENTO EM DIREITOS CREDITÓRIOS RESPONSABILIDADE LIMITADA  a qualquer momento, os recursos decorrentes dos Direitos Creditórios.</a:t>
            </a:r>
          </a:p>
          <a:p>
            <a:r>
              <a:t> (iii) Risco de validação das informações para conciliação e reconciliação dos Direitos  Creditórios adquiridos pela Classe: as inf ormações para conciliação dos pagamentos,  sendo considerado como tal, também, o Arquivo Dataprev, listando todos os empregados  cujas f olhas de pagamento serão sujeitas a desconto no mês relevante, nos valores acordados  ao ef etuar a Consignação, e qualquer glosa será enviada pela CEF ao Endossante, que  ef etuará a conciliação e, posteriormente, enviará as inf ormações ao Custodiante. Caso o  Endossante não f orneça essas inf ormações em tempo hábil ou f or verif icada qualquer  inconsistência nas informações recebidas pelo Custodiante, poderá isso impedir ou dar origem  a f alhas no processo de reconciliação dos valores depositados na Conta de Cobrança da  Classe e causando perdas à Classe e ao Cotista.</a:t>
            </a:r>
          </a:p>
          <a:p>
            <a:r>
              <a:t> (iv) Risco operacional dos sistemas: o desconto na f olha de pagamento do Devedor das  parcelas da CCB e a transf erência para o Endossante dos Direitos Creditórios serão  processados por um sistema controlado pela Dataprev, e o Endossante, o Administrador ou o  Gestor não têm controle sobre esse processo. Assim, qualquer f alha ou mudança nesse  sistema poderá atrasar ou reduzir o desconto dos rendimentos dos Devedores ou sua  transf erência para a Classe. Nesse caso, a rentabilidade e a propriedade da Classe poderão  ser adversamente af etadas enquanto o problema do sistema persistir, ou até que todos os  valores sejam devidamente transf eridos.</a:t>
            </a:r>
          </a:p>
          <a:p>
            <a:r>
              <a:t> (v) Risco operacional do Contrato: o desconto na f olha de pagamento das parcelas dos  empréstimos concedidos aos Devedores é permitido pelo Convênio Consignado Privado. As  partes do Convênio Consignado Privado devem seguir certas regras para manter o Convênio  Consignado Privado, e a violação delas poderá levar à sua rescisão. Além disso, mudanças  legais podem af etar e/ou tornar inviável a manutenção do Convênio Consignado Privado.</a:t>
            </a:r>
          </a:p>
          <a:p>
            <a:r>
              <a:t> No caso de rescisão do Convênio Consignado Privado, a estrutura de cobrança dos Direitos  Creditórios (desconto na f olha de pagamento) poderá ser comprometida, dando origem à  necessidade de adoção de uma nova estrutura, que poderá não ser tão eficaz quanto ela ou  mesmo revelar, na prática, ser inadequada ou ter altos custos operacionais. Esses eventos  podem levar a perdas patrimoniais para a Classe, na medida em que este deixará de receber,  def initiva ou temporariamente, recursos oriundos dos Direitos Creditórios, no todo ou em parte.</a:t>
            </a:r>
          </a:p>
          <a:p>
            <a:r>
              <a:t> Adicionalmente, de acordo com o Contrato de Endosso, a manutenção do Convênio  Consignado Privado é uma condição para a aquisição de novos Direitos Creditórios pela  Classe e, portanto, no caso de rescisão do Convênio Consignado Privado, a Classe poderá  ser impedido de adquirir novos Direitos Creditórios.</a:t>
            </a:r>
          </a:p>
          <a:p>
            <a:r>
              <a:t>CNPJ 60010416000112 · Devedor e consignação · Regulamento · ID 1051393 · 2025-10-09 · versão 1 · p. 31 · 13.2 · https://fnet.bmfbovespa.com.br/fnet/publico/visualizarDocumento?id=1051393</a:t>
            </a:r>
          </a:p>
          <a:p>
            <a:r>
              <a:t>CNPJ 60010416000112 · Devedor e consignação · Excerto da fonte:</a:t>
            </a:r>
          </a:p>
          <a:p>
            <a:r>
              <a:t>13.2 Todos os custos e despesas ref eridos neste Capítulo, inclusive para salvaguarda de direitos e  prerrogativas da Classe e/ou com a cobrança judicial e/ou extrajudicial de Direitos Creditórios Inadimplidos  ou Direitos Creditórios a Perf ormar, serão de inteira responsabilidade da Classe, não estando o  Administrador, o Gestor, o Endossante, os Devedores, o Custodiante e quaisquer de suas respectivas  pessoas controladoras, sociedades por estes direta ou indiretamente controladas, a estes coligadas ou  outras sociedades sob controle comum, em conjunto ou isoladamente, obrigados pelo adiantamento ou  pagamento de valores relacionados aos procedimentos ref eridos neste Capítulo.</a:t>
            </a:r>
          </a:p>
          <a:p>
            <a:r>
              <a:t>CNPJ 60010416000112 · Devedor e consignação · Condição: Documentos atuais selecionados no inventário por categoria/escopo; a data documental isolada não comprova vigência jurídica.</a:t>
            </a:r>
          </a:p>
          <a:p>
            <a:r>
              <a:t>CNPJ 60010416000112 · Devedor e consignação · Versão e prevalência: Documentos atuais selecionados no inventário por categoria/escopo; a data documental isolada não comprova vigência jurídica.</a:t>
            </a:r>
          </a:p>
          <a:p>
            <a:r>
              <a:t>CNPJ 60010416000112 · Devedor e consignação · Resumo do histórico: {"count": 2, "dates": ["2025-03-20", "2025-10-09"], "document_count": 2, "sources": [{"document_id": "1051393", "title": "Regulamento", "reference_date": "2025-10-09", "version": "1", "page": "9-10, 42", "url": "https://fnet.bmfbovespa.com.br/fnet/publico/visualizarDocumento?id=1051393", "sha256": "8469d613078ffd5a6c1d217885d8a397a16342c0b937ae4aa24b106505f233ae"}, {"document_id": "993786", "title": "Regulamento", "reference_date": "2025-03-20", "version": "1", "page": 35, "clause": "15.1.4", "url": "https://fnet.bmfbovespa.com.br/fnet/publico/visualizarDocumento?id=993786", "sha256": "fd0fdd369a195510d81f81f505195a0b09e5f43522a990afa7d58c4f872921c8"}], "reference": {"path": "history/60010416000112.json", "criterion_id": "debtor", "total_count": 2, "preview_count": 2, "full_text_deferred": true, "sha256": "8e2bd813f4c51cf01f6bfaad164bafe69d2bbb192f753eac92da3a01c2e63046"}}</a:t>
            </a:r>
          </a:p>
          <a:p>
            <a:r>
              <a:t>CNPJ 62696791000193 · Devedor e consignação · Regulamento · ID 1143317 · 2026-03-20 · versão 1 · p. 47 · 10.2 · https://fnet.bmfbovespa.com.br/fnet/publico/visualizarDocumento?id=1143317</a:t>
            </a:r>
          </a:p>
          <a:p>
            <a:r>
              <a:t>CNPJ 62696791000193 · Devedor e consignação · Excerto da fonte:</a:t>
            </a:r>
          </a:p>
          <a:p>
            <a:r>
              <a:t>10.2. As mudanças climáticas podem impactar severamente os ciclos produtivos de commodities  agrícolas, ocasionando, quebras de saf ra, volatilidade de preços, choques de of erta,  deterioração da qualidade dos produtos por elas atingidos, bem como interrupção no  abastecimento destes. Ref eridas mudanças podem af etar adversamente a capacidade  produtiva e de entrega dos produtos agrícolas pelos devedores, cenário este que impactará  negativamente a capacidade de pagamento dos Ativos-Alvo integrantes da carteira da Classe  pelos devedores e, conforme o caso, pelas pessoas devedoras dos bens e direitos onerados  em f avor da Classe.</a:t>
            </a:r>
          </a:p>
          <a:p>
            <a:r>
              <a:t>CNPJ 62696791000193 · Devedor e consignação · Condição: Documentos atuais selecionados no inventário por categoria/escopo; a data documental isolada não comprova vigência jurídica.</a:t>
            </a:r>
          </a:p>
          <a:p>
            <a:r>
              <a:t>CNPJ 62696791000193 · Devedor e consignação · Versão e prevalência: Documentos atuais selecionados no inventário por categoria/escopo; a data documental isolada não comprova vigência jurídica.</a:t>
            </a:r>
          </a:p>
          <a:p>
            <a:r>
              <a:t>CNPJ 55563624000109 · Devedor e consignação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Devedor e consignação · Resumo do histórico: {"count": 1, "dates": ["2026-04-30"], "document_count": 1, "sources": [{"document_id": "1192614", "title": "Regulamento", "reference_date": "2026-04-30", "version": "1", "page": "11-12", "url": "https://fnet.bmfbovespa.com.br/fnet/publico/visualizarDocumento?id=1192614", "sha256": "f56e63ace0acde41d2f47fb48f1ac7f3f7df5e2d32de092d7c5e075a52516632"}], "reference": {"path": "history/55563624000109.json", "criterion_id": "debtor", "total_count": 1, "preview_count": 1, "full_text_deferred": true, "sha256": "7835d573fb58a3c19adf5b8ecc2aee2bdbb9a88f7a0c0209b5f262b64c7522e3"}}</a:t>
            </a:r>
          </a:p>
          <a:p>
            <a:r>
              <a:t>CNPJ 62552447000120 · Devedor e consignação · Regulamento · ID 1200623 · 2026-05-21 · versão 1 · p. 35 · https://fnet.bmfbovespa.com.br/fnet/publico/visualizarDocumento?id=1200623</a:t>
            </a:r>
          </a:p>
          <a:p>
            <a:r>
              <a:t>CNPJ 62552447000120 · Devedor e consignação · Excerto da fonte:</a:t>
            </a:r>
          </a:p>
          <a:p>
            <a:r>
              <a:t>ativos desses emissores, causando perdas à Classe e ao Cotista. Além disso, a f alta de capacidade ou disposição de pagar por qualquer dos emissores dos Ativos Financeiros de Liquidez ou das contrapartes nas transações que compõem a Carteira causará perdas à Classe, e o que também poderá incorrer em custos para f ins de recuperação de seus recebíveis.</a:t>
            </a:r>
          </a:p>
          <a:p>
            <a:r>
              <a:t>(v) Riscos associados aos Devedores: no caso de Devedores no âmbito das operações de consignado privado, a sua capacidade de pagamento poderá ser af etada se, por exemplo, o Devedor tiver o seu contrato de emprego rescindido ou em virtude de decisão judicial, o Devedor for obrigado a pagar alimentos, que têm prioridade sobre o empréstimo para f ins de desconto na f 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 etar a rentabilidade da Classe. Já no caso de Devedores no âmbito das operações de Saque-aniversário, como os Direitos Creditórios a serem endossados à Classe serão descontados pelo FGTS da remuneração do Devedor, na ocorrência de qualquer evento que, nos termos da legislação aplicável, determine o pagamento antecipado do Saque-aniversário ao Devedor, a exemplo do falecimento do Devedor, dentre outros, as parcelas do Saque- aniversário serão pagas antecipadamente e a Classe deverá utilizar tais montantes no pré-pagamento dos Direitos Creditórios. Nesta hipótese, a Classe poderá não encontrar Direitos Creditórios disponíveis para serem adquiridos pela Classe, o que poderá af etar a rentabilidade da Classe.</a:t>
            </a:r>
          </a:p>
          <a:p>
            <a:r>
              <a:t>Risco de liquidez</a:t>
            </a:r>
          </a:p>
          <a:p>
            <a:r>
              <a:t>(i) Risco de liquidez: consiste no risco de redução ou inexistência de demanda pelos ativos que compõem a Classe nos respectivos mercados em que são negociados, devido às condições específicas desses ativos ou aos mercados em que são negociados. Devido a esses riscos, o Gestor poderá encontrar dificuldades em liquidar posições ou negociar esses ativos pelo preço e prazo desejados, de acordo com a estratégia de gestão adotada pela Classe, que permanecerá exposto, durante o período de baixa liquidez, aos riscos associados a esses ativos e posições assumidas em mercados de derivativos, se houver, que poderão até exigir que o Gestor aceite descontos em seus preços para realizar negociações no mercado. Esses f atores poderão prejudicar o pagamento de Amortizações ao Cotista, nos valores e dentro dos termos aqui estabelecidos.</a:t>
            </a:r>
          </a:p>
          <a:p>
            <a:r>
              <a:t>(ii) Riscos do mercado secundário: A Classe é constituída sob a f orma de condomínio fechado, de modo que as Cotas somente serão resgatadas em virtude da liquidação da Classe. Uma vez que o Prazo de Duração da Classe é indeterminado, o Cotista titular das Cotas não terá liquidez em seu investimento na Classe, exceto</a:t>
            </a:r>
          </a:p>
          <a:p>
            <a:r>
              <a:t>(a) por ocasião das Amortizações e dos resgates, nos termos deste Regulamento; (b) por meio da alienação de suas Cotas no mercado secundário; ou (c) na liquidação antecipada do FUNDO ou da Classe.</a:t>
            </a:r>
          </a:p>
          <a:p>
            <a:r>
              <a:t>Além disso, atualmente, o mercado secundário de cotas de fundos de investimento apresenta baixa liquidez, o que pode dificultar a venda das Cotas ou ocasionar a obtenção de um preço de venda que cause perda de patrimônio ao Cotista. Não há qualquer garantia do Administrador, do Gestor, da consultora ou do Custodiante em relação à possibilidade de venda das Cotas no mercado secundário ou ao preço obtido por elas, ou mesmo garantia de saída ao Cotista.</a:t>
            </a:r>
          </a:p>
          <a:p>
            <a:r>
              <a:t>Riscos específicos</a:t>
            </a:r>
          </a:p>
          <a:p>
            <a:r>
              <a:t>(i)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ficar inadimplente e, consequentemente, não haverá repasse à Classe do respectivo Direito Creditório, o que poderá resultar em perdas f inanceiras à Classe e aos Cotistas. Para os f ins deste Regulamento, “Empregador” signif ica a empresa com qual o Devedor mantém vínculo empregatício registrado junto à CTPS.</a:t>
            </a:r>
          </a:p>
          <a:p>
            <a:r>
              <a:t>(ii) Risco do Empregador não efetuar o desconto em folha: o repasse dos recursos oriundos dos Direitos Creditórios à Classe depende da realização, pelo Empregador, da escrituração da Consignação a ser</a:t>
            </a:r>
          </a:p>
          <a:p>
            <a:r>
              <a:t>CNPJ 62552447000120 · Devedor e consignação · Regulamento · ID 1200623 · 2026-05-21 · versão 1 · p. 36 · https://fnet.bmfbovespa.com.br/fnet/publico/visualizarDocumento?id=1200623</a:t>
            </a:r>
          </a:p>
          <a:p>
            <a:r>
              <a:t>CNPJ 62552447000120 · Devedor e consignação · Excerto da fonte:</a:t>
            </a:r>
          </a:p>
          <a:p>
            <a:r>
              <a:t>realizada pelo empregador, junto ao eSocial, após recebimento de notificação comunicando-o da contratação, pelo Devedor, do empréstimo a ser pago por Consignação (“Escrituração”), e do desconto na respectiva folha de pagamento do Devedor. Na hipótese do Empregador deixar de realizar a Escrituração ou os descontos na f olha de pagamento, não haverá repasse de recursos à Classe, podendo causar prejuízos à Classe e aos Cotistas.</a:t>
            </a:r>
          </a:p>
          <a:p>
            <a:r>
              <a:t>(iii) Risco de perda do vínculo empregatício com o Empregador: caso o Devedor perca o vínculo empregatício com o Empregador, não haverá remuneração e f olha de pagamento para realização dos descontos para pagamento dos Direitos Creditórios. Neste caso, não obstante a possibilidade do Agente de Retenção e Cobrança realizar a cobrança ativa dos Direitos Creditórios diretamente do Devedor, a ausência de remuneração poderá deixar o Devedor inadimplente perante a Classe até que o seu vínculo empregatício seja retomado e seja efetuado o procedimento operacional para que a CCB seja aditada e/ou seja realizado o Processo de Reinicialização. Tais situações poderão resultar em prejuízos à Classe e aos Cotistas.</a:t>
            </a:r>
          </a:p>
          <a:p>
            <a:r>
              <a:t>(iv) Risco relativo ao Agente de Retenção e Cobrança: A solvência do Agente de Retenção e Cobrança quanto às suas obrigações financeiras poderá impactar o cumprimento de suas obrigações perante a Classe e, consequentemente, os rendimentos da Classe poderão ser adversamente af etados.</a:t>
            </a:r>
          </a:p>
          <a:p>
            <a:r>
              <a:t>Riscos operacionais</a:t>
            </a:r>
          </a:p>
          <a:p>
            <a:r>
              <a:t>(i) Risco de irregularidade dos Documentos Comprobatórios e/ou Documentos Suporte: o terceiro contratado pelo Gestor, que atuará sob responsabilidade do Gestor, deverá realizar a verif icação da regularidade dos Documentos Comprobatórios. A Carteira poderá conter Direitos Creditórios com documentação irregular, o que poderá impedir que a Classe exerça plenamente as prerrogativas derivadas da titularidade dos Direitos Creditórios.</a:t>
            </a:r>
          </a:p>
          <a:p>
            <a:r>
              <a:t>(ii) Risco operacional da Dataprev e da CEF: o empréstimo contraído pelos Devedores é pago por meio de desconto na f olha de pagamento f eito pela Dataprev e pela CEF, conf orme aplicável. É possível que os rendimentos dos Devedores sejam atrasados ou não pagos devido a questões operacionais envolvendo a Dataprev e/ou a CEF. Nesse caso, a Carteira poderá sofrer, já que não receberá automaticamente, e também poderá ter dificuldades para receber, a qualquer momento, os recursos decorrentes dos Direitos Creditórios.</a:t>
            </a:r>
          </a:p>
          <a:p>
            <a:r>
              <a:t>(iii) Risco operacional do FGTS: o empréstimo contraído pelos Devedores é pago por meio de desconto dos Saques-aniversário feitos pelo FGTS. É possível que os rendimentos dos Devedores sejam atrasados ou não pagos devido a questões operacionais envolvendo a CEF, incluindo, sem se limitar, a erros e atrasos operacionais envolvendo a CEF. Nesse caso, a Carteira poderá sofrer, já que não receberá automaticamente, e também poderá ter dif iculdades para receber, a qualquer momento, os recursos decorrentes dos Direitos Creditórios.</a:t>
            </a:r>
          </a:p>
          <a:p>
            <a:r>
              <a:t>(iv) Risco de validação das informações para conciliação e reconciliação dos Direitos Creditórios adquiridos pela Classe: as inf ormações para conciliação dos pagamentos, sendo considerado como tal, também, o Arquivo Dataprev e o Arquivo de Liquidação Saque-aniversário, listando todos os empregados cujas f olhas de pagamento ou Saques Aniversário serão sujeitos a desconto no mês, nos valores acordados ao ef etuar a Consignação, e qualquer glosa será enviada pela CEF ao Endossante, que efetuará a conciliação e, posteriormente, enviará as informações ao Custodiante. Caso o Endossante não forneça essas informações em tempo hábil ou for verificada qualquer inconsistência nas informações recebidas pelo Custodiante, poderá isso impedir ou dar origem a falhas no processo de reconciliação dos valores depositados na Conta da Classe e causando perdas à Classe e ao Cotista.</a:t>
            </a:r>
          </a:p>
          <a:p>
            <a:r>
              <a:t>(v) Risco operacional dos sistemas: o desconto na f olha de pagamento e/ou nos Saques Aniversário das parcelas da CCB e a transf erência para o Endossante dos Direitos Creditórios serão processados por meio da Plataforma Dataprev, e o Endossante, o Administrador ou o Gestor não têm controle sobre esse processo.</a:t>
            </a:r>
          </a:p>
          <a:p>
            <a:r>
              <a:t>Assim, qualquer falha ou mudança nesse sistema poderá atrasar ou reduzir o desconto dos rendimentos dos Devedores ou sua transferência para a Classe. Nesse caso, a rentabilidade e a propriedade da Classe poderão ser adversamente af etadas enquanto o problema do sistema persistir, ou até que todos os valores sejam devidamente transf eridos.</a:t>
            </a:r>
          </a:p>
          <a:p>
            <a:r>
              <a:t>(vi) Risco operacional: em linha com as Cláusulas 4.3.1 e 4.3.2 do Anexo I deste Regulamento, o</a:t>
            </a:r>
          </a:p>
          <a:p>
            <a:r>
              <a:t>CNPJ 62552447000120 · Devedor e consignação · Regulamento · ID 1200623 · 2026-05-21 · versão 1 · p. 5 · https://fnet.bmfbovespa.com.br/fnet/publico/visualizarDocumento?id=1200623</a:t>
            </a:r>
          </a:p>
          <a:p>
            <a:r>
              <a:t>CNPJ 62552447000120 · Devedor e consignação · Excerto da fonte:</a:t>
            </a:r>
          </a:p>
          <a:p>
            <a:r>
              <a:t>O objetivo da Classe é proporcionar aos seus Cotistas a valorização de  suas Cotas por meio da aplicação de seu Patrimônio Líquido na aquisição  de:</a:t>
            </a:r>
          </a:p>
          <a:p>
            <a:r>
              <a:t> (i) “Direitos Creditórios”, assim entendidos como, em conjunto:</a:t>
            </a:r>
          </a:p>
          <a:p>
            <a:r>
              <a:t> (a) “Direitos Creditórios Consignado Privado”, na forma de  cédulas de crédito bancário, regidas pela Lei n.º 10.931,  de 2 de agosto de 2004, conforme alterada (“CCBs”),  emitidas eletronicamente por Devedores, em f avor do  Endossante, representando um empréstimo pessoal  consignado, de forma que o pagamento ocorra mediante  desconto de cada prestação vincenda da CCB na f olha  de pagamentos do Devedor (“Consignação”);</a:t>
            </a:r>
          </a:p>
          <a:p>
            <a:r>
              <a:t> (b) “Direitos Creditórios FGTS”, na f orma de CCBs  emitidas eletronicamente por Devedores, em f avor do  Objetivo Endossante, representando um empréstimo pessoal com  garantia de cessão f iduciária dos valores a que f azem jus  os Devedores ref erentes ao saque anual permitido aos  benef iciários do Fundo de Garantia do Tempo de Serviço  (“FGTS”) em seu mês de aniversário (“Saque-  aniversário”), regulado pela Lei n.º 8.036, de 11 de maio  de 1990, conforme alterada (“Lei 8.036”), nos termos dos  arts. 20, inciso XX, 20-A, inciso II, e 20-D, § 3º, da Lei</a:t>
            </a:r>
          </a:p>
          <a:p>
            <a:r>
              <a:t> 8.036, do art. 66-B da Lei n.º 4.728, de 14 de julho de  1965, e da Resolução CC/FGTS n.º 958, de 24 de abril  de 2020, conforme alterada (“Resolução FGTS 958”), de  f orma que parte do Saque-aniversário é utilizada para  liquidar as parcelas devidas da CCB;</a:t>
            </a:r>
          </a:p>
          <a:p>
            <a:r>
              <a:t> (c) “Direitos Creditórios TVM”, na f orma de direitos, títulos  e/ou valores mobiliários representativos de créditos  originados no âmbito de operações de sociedades</a:t>
            </a:r>
          </a:p>
          <a:p>
            <a:r>
              <a:t>CNPJ 62552447000120 · Devedor e consignação · Condição: Documentos atuais selecionados no inventário por categoria/escopo; a data documental isolada não comprova vigência jurídica.</a:t>
            </a:r>
          </a:p>
          <a:p>
            <a:r>
              <a:t>CNPJ 62552447000120 · Devedor e consignação · Versão e prevalência: Documentos atuais selecionados no inventário por categoria/escopo; a data documental isolada não comprova vigência jurídica.</a:t>
            </a:r>
          </a:p>
          <a:p>
            <a:r>
              <a:t>CNPJ 63953620000165 · Devedor e consignação · Anexo ao Regulamento · ID 1222863 · 2026-06-02 · versão 1 · p. 1 · 1.1 · https://fnet.bmfbovespa.com.br/fnet/publico/visualizarDocumento?id=1222863</a:t>
            </a:r>
          </a:p>
          <a:p>
            <a:r>
              <a:t>CNPJ 63953620000165 · Devedor e consignação · Excerto da fonte:</a:t>
            </a:r>
          </a:p>
          <a:p>
            <a:r>
              <a:t>1.1 As principais características da Classe Consignado Privado (para fins deste Anexo, “Classe”) estão descritas  abaixo:</a:t>
            </a:r>
          </a:p>
          <a:p>
            <a:r>
              <a:t> Tipo de Condomínio Fechado.</a:t>
            </a:r>
          </a:p>
          <a:p>
            <a:r>
              <a:t> Indeterminado, exceto se de outra forma vier a ser deliberado pelos Cotistas  Prazo de Duração  reunidos em Assembleia Especial de Cotistas. (“Prazo de Duração”)  Tipo “Financeiro”.</a:t>
            </a:r>
          </a:p>
          <a:p>
            <a:r>
              <a:t> Classificação ANBIMA  Foco de atuação “Créditos Consignados”.</a:t>
            </a:r>
          </a:p>
          <a:p>
            <a:r>
              <a:t> O objetivo da classe é proporcionar aos seus Cotistas a valorização de suas Cotas  por meio da aplicação de seu Patrimônio Líquido (conforme definido abaixo) na  aquisição de: (i) “Direitos Creditórios Crédito Consignado”, representados por  cédula de crédito bancário regida pela Lei nº 10.931, emitida eletronicamente por  um devedor em favor do endossante (“CCB”) e, consequentemente, os recebíveis  decorrente de cada uma das parcelas vincendas, representando um empréstimo  consignado concedido pelo endossante ao devedor, e cujo pagamento ordinário  é feito por desconto de cada prestação vincenda de uma CCB na folha de  pagamentos do devedor (“Consignação”), efetuada pela Caixa Econômica  Federal, de acordo com a legislação aplicável e em conformidade com os  procedimentos estabelecidos no convênio celebrado entre o Endossante e a  Empresa de Tecnologia e Informações da Previdência – DATAPREV e paga na  Conta Vinculada do Endossante (“Convênio Consignado Privado”); e/ou (ii)  “Direitos Creditórios TVM”, representados por direitos, títulos e/ou valores  mobiliários representativos de créditos originados no âmbito de operações de  sociedades integrantes do conglomerado econômico de instituições financeiras  classificadas como S1 pelo BACEN, desde que não representem títulos de  emissão ou coobrigação de instituições financeiras, bem como cotas de fundos  de investimento que invistam preponderantemente nestes direitos, títulos e/ou  Objetivo  valores mobiliários (Direitos Creditórios TVM quando referidos em conjunto  com os Direitos Creditórios Consignado Privado, “Direitos Creditórios”)  observados todos os limites de composição e diversificação da carteira da Classe  (“Carteira”), estabelecidos neste Regulamento e na regulamentação aplicável.</a:t>
            </a:r>
          </a:p>
          <a:p>
            <a:r>
              <a:t> Subsidiariamente, a parcela do Patrimônio Líquido que não esteja alocada em  Direitos Creditórios poderá estar alocado em: (1) certificados de depósito  bancário (CDB) ou recibos de depósito bancário (RDB) com prazo máximo de  vencimento equivalente ao prazo remanescente do Período de Investimento, com  liquidez diária, emitidos por Parati Crédito, Financiamento e Investimento S.A.</a:t>
            </a:r>
          </a:p>
          <a:p>
            <a:r>
              <a:t> e/ou pelo Endossante (“Ativos de Liquidez MT”); e/ou (2) (i) moeda corrente  nacional; (ii) títulos do Tesouro SELIC, anteriormente denominado letra financeira  do Tesouro Nacional (LFT); (iii) certificados de depósito bancário (CDB) ou recibos  de depósito bancário (RDB) com prazo máximo de vencimento equivalente ao  prazo remanescente do Período de Investimento, com liquidez diária, emitidos  por (a) Itaú Unibanco S.A.; (b) Banco Bradesco S.A.; (c) Caixa Econômica Federal;</a:t>
            </a:r>
          </a:p>
          <a:p>
            <a:r>
              <a:t> (d) Banco do Brasil S.A.; (e) Banco Santander (Brasil) S.A.; (f) Banco BTG Pactual  S.A.; (g) Banco Sistema S.A. (“Instituições Autorizadas”); (iv) operações  compromissadas, desde que lastreadas nos títulos mencionados nas alíneas (i) a</a:t>
            </a:r>
          </a:p>
          <a:p>
            <a:r>
              <a:t> (iii) acima, emitidas por Instituições Autorizadas, com liquidez diária e vencimento</a:t>
            </a:r>
          </a:p>
          <a:p>
            <a:r>
              <a:t>CNPJ 63953620000165 · Devedor e consignação · Anexo ao Regulamento · ID 1222863 · 2026-06-02 · versão 1 · p. 19 · 12.6 · https://fnet.bmfbovespa.com.br/fnet/publico/visualizarDocumento?id=1222863</a:t>
            </a:r>
          </a:p>
          <a:p>
            <a:r>
              <a:t>CNPJ 63953620000165 · Devedor e consignação · Excerto da fonte:</a:t>
            </a:r>
          </a:p>
          <a:p>
            <a:r>
              <a:t>12.6 A Classe contratou a Tudo Serviços S.A., sociedade anônima, com sede no município de Fortaleza, Estado do Ceará,  na Avenida Senador Virgulo Távora, nº 303, Lojas 02, 03, 04, 05, 06 e 19, Meireles, CEP 60.170-265, inscrita no CNPJ  sob o nº 27.852.506/0001-85, cujos deveres, sem prejuízo daqueles estabelecidos neste Regulamento, no  “Contrato de Serviços de Retenção e Cobrança e Outras Avenças”, celebrado entre o Agente de  Retenção/Cobrança e a Classe (“Contrato de Serviços MT”) e no Contrato de Endosso, consistirão no  monitoramento e cobrança dos Direitos Creditórios Inadimplidos, observado o disposto neste Anexo I e na  regulamentação aplicável (“Agente de Retenção/Cobrança”):</a:t>
            </a:r>
          </a:p>
          <a:p>
            <a:r>
              <a:t> (i) caso aplicável, atuar na retenção (defesa) de operações de empréstimo consignado cujos Direitos  Creditórios sejam de titularidade da Classe, em caso de tentativa de transferência de tais operações de  empréstimo consignado por instituições proponentes, nos termos da Resolução CMN nº 5.057, em razão de  ofertas de portabilidade feitas por tais instituições proponentes, conforme informado pelo Endossante ou pelo  Custodiante ao Agente de Retenção/Cobrança, diariamente, de acordo com o Contrato de Endosso; sendo  que tal serviço deverá incluir, entre outras atividades auxiliares a ele relacionadas, a avaliação das ofertas de  portabilidade feitas pelas instituições proponentes, buscando, se for o caso, esclarecer as vantagens de não  recorrer à portabilidade, retendo a respectiva operação de empréstimo consignado em seus termos atuais;</a:t>
            </a:r>
          </a:p>
          <a:p>
            <a:r>
              <a:t> (ii) mediante inadimplemento de um Direito Creditório devido à indisponibilidade da margem de crédito do  Devedor, auxiliar o Endossante com o Processo de Reinicialização (conforme detalhado no Contrato de  Endosso) em relação ao respectivo Direito Creditório;</a:t>
            </a:r>
          </a:p>
          <a:p>
            <a:r>
              <a:t> (iii) manter e operar um serviço de atendimento ao consumidor - SAC e uma ouvidoria em conformidade  com os regulamentos aplicáveis, monitorar e resolver reclamações e solicitações de Devedores com  relação às operações de empréstimo consignado que dão origem aos Direitos Creditórios, em  conformidade com o Acordo de Parceria;</a:t>
            </a:r>
          </a:p>
          <a:p>
            <a:r>
              <a:t> (iv) realizar a cobrança dos Direitos Creditórios Inadimplidos;</a:t>
            </a:r>
          </a:p>
          <a:p>
            <a:r>
              <a:t> (v) auxiliar o Endossante na correção de qualquer irregularidade relevante identificada com relação à  originação dos Direitos Creditórios;</a:t>
            </a:r>
          </a:p>
          <a:p>
            <a:r>
              <a:t> (vi) realizar a renegociação junto aos Devedores de Direitos Creditórios Inadimplidos e, caso aplicável, celebrar  aditamento à CCB para refletir os novos termos, decorrentes da renegociação  CAPÍTULO 13 – REMUNERAÇÃO DOS PRESTADORES DE SERVIÇOS  0,05% (cinco centésimos por cento) ao ano, apropriada diariamente na base de 252  (duzentos e cinquenta e dois) Dias Úteis, e paga mensalmente até o 5º (quinto) Dia  Útil do mês subsequente ao mês que se refere, incidente sobre o Patrimônio Líquido  da Classe alocado em Direitos Creditórios Consignado Privado e/ou Ativos de  Liquidez MT, observada remuneração mínima mensal de R$ 2.500,00 (dois mil e  quinhentos reais), a ser corrigida anualmente, em janeiro de cada ano, pela variação  Taxa de Administração  positiva do Índice Geral de Preços – Mercado, divulgado pela Fundação Getúlio  Vargas (“Taxa de Administração” e “IGP-M”, respectivamente).</a:t>
            </a:r>
          </a:p>
          <a:p>
            <a:r>
              <a:t> Na hipótese de extinção do IGP-M, não divulgação ou impossibilidade de sua  utilização, será utilizado o Índice Geral de Preços – Disponibilidade Interna,  divulgado pela Fundação Getúlio Vargas, ou, na falta de ambos, pela variação do IPC  – Índice de Preços ao Consumidor, divulgado pela Fundação Instituto de Pesquisas</a:t>
            </a:r>
          </a:p>
          <a:p>
            <a:r>
              <a:t>CNPJ 63953620000165 · Devedor e consignação · Anexo ao Regulamento · ID 1222863 · 2026-06-02 · versão 1 · p. 2 · https://fnet.bmfbovespa.com.br/fnet/publico/visualizarDocumento?id=1222863</a:t>
            </a:r>
          </a:p>
          <a:p>
            <a:r>
              <a:t>CNPJ 63953620000165 · Devedor e consignação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Devedor e consignação · Condição: Documentos atuais selecionados no inventário por categoria/escopo; a data documental isolada não comprova vigência jurídica.</a:t>
            </a:r>
          </a:p>
          <a:p>
            <a:r>
              <a:t>CNPJ 63953620000165 · Devedor e consignação · Versão e prevalência: Documentos atuais selecionados no inventário por categoria/escopo; a data documental isolada não comprova vigência jurídica.</a:t>
            </a:r>
          </a:p>
          <a:p>
            <a:r>
              <a:t>CNPJ 63953620000165 · Devedor e consignação · Resumo do histórico: {"count": 8, "dates": ["2026-04-28", "2026-05-08", "2026-05-15"], "document_count": 3, "sources": [{"document_id": "1327859", "title": "Demonstrações Financeiras - Fusão, cisão e incorporação", "reference_date": "2026-05-15", "version": "1", "page": 22, "url": "https://fnet.bmfbovespa.com.br/fnet/publico/visualizarDocumento?id=1327859", "sha256": "dca1c68babb97f887528c3e2e47596a9c30f507b067981a35655b2f2da9c8054"}, {"document_id": "1298691", "title": "Demonstrações Financeiras - Fusão, cisão e incorporação", "reference_date": "2026-05-08", "version": "1", "page": 22, "url": "https://fnet.bmfbovespa.com.br/fnet/publico/visualizarDocumento?id=1298691", "sha256": "58c570d9b8d4d265330d3db3ea81c435b8e44a6dab4002aa37790652a1ee9819"}, {"document_id": "1282180", "title": "Demonstrações Financeiras - Fusão, cisão e incorporação", "reference_date": "2026-04-28", "version": "1", "page": 22, "url": "https://fnet.bmfbovespa.com.br/fnet/publico/visualizarDocumento?id=1282180", "sha256": "afaaa0e6809be4385e5bdb6c911aac582032c5bdbac3d7750234bf9eaf00438a"}], "reference": {"path": "history/63953620000165.json", "criterion_id": "debtor", "total_count": 8, "preview_count": 3, "full_text_deferred": true, "sha256": "a7b89077f5e21098c2d601c303faabc3ff6b9729f89d8afecdc60fe1404720c1"}}</a:t>
            </a:r>
          </a:p>
          <a:p>
            <a:r>
              <a:t>CNPJ 54871427000194 · Elegibilidade · Regulamento · ID 670691 · 28/04/2024 · versão Regulamento — referência 28/04/2024 · p. 9 · Anexo I, 4.7(i)–(iv) · https://fnet.bmfbovespa.com.br/fnet/publico/visualizarDocumento?id=670691</a:t>
            </a:r>
          </a:p>
          <a:p>
            <a:r>
              <a:t>CNPJ 54871427000194 · Elegibilidade · Excerto da fonte:</a:t>
            </a:r>
          </a:p>
          <a:p>
            <a:r>
              <a:t>4.7 A Classe somente poderá adquirir os Direitos Creditórios que atendam cumulativamente aos seguintes Critérios de Elegibilidade, a serem verif icados e validados pelo GESTOR, de f orma individualizada e integral, previamente à cessão e na respectiva Data de Aquisição, de modo que apenas são passíveis de aquisição pela Classe os Direitos Creditórios que, na Data de Aquisição: (i) CCBs sem qualquer parcela cedida; (ii) CCBs com diferença menor que 60 (sessenta) dias entre a data provável do endosso e a próxima parcela a vencer; (iii) CCBs cujo valor da prestação seja superior a R$ 30,00 (trinta reais); (iv) Idade do Devedor somada ao prazo remanescente da CCB deve ser igual ou inferior a 80 (oitenta) anos; BTG Pactual SAC: 0800 772 28 27 - Ouvidoria: 0800 722 00 48 - btgpactual.com 3</a:t>
            </a:r>
          </a:p>
          <a:p>
            <a:r>
              <a:t>CNPJ 54871427000194 · Elegibilidade · Regulamento · ID 670691 · 28/04/2024 · versão Regulamento — referência 28/04/2024 · p. 10 · Anexo I, 4.7(v)–(xi) · https://fnet.bmfbovespa.com.br/fnet/publico/visualizarDocumento?id=670691</a:t>
            </a:r>
          </a:p>
          <a:p>
            <a:r>
              <a:t>CNPJ 54871427000194 · Elegibilidade · Excerto da fonte:</a:t>
            </a:r>
          </a:p>
          <a:p>
            <a:r>
              <a:t>(v) CCBs que até a Data do Endosso não estejam pendentes de res olução em relação a uma comprovada reclamação do devedor junto ao Banco Central do Brasil ou ao Procon; (vi) CCBs que não sejam originadas por pessoa física condenada por terem submetido trabalhadores a condições análogas à de escravo – denominada “Lista Suja”; (vii) CCBs sem parcela em atraso; (viii) Aquisição de todas as parcelas vincendas das CCBs, não sendo possível a aquisição de fluxo parcial; (ix) CCBs vinculadas ao órgão convenente, desde que o convênio não se encontre na Data de Aquisição em situação de suspensão; (x) Devedores adimplentes junto ao Endossante com relação aos Direitos Creditórios endossados à Classe; CCB cuja amortização ordinária dos valores devidos, nos últimos 60 (sessenta) dias, tenha ocorrido de f orma integral e ordinária. Na primeira tranche de aquisição de Direitos Creditórios pelo Endossatário tal prazo poderá ser reduzido para 30 (trinta) dias nos casos de amortização extraordinária (via boleto) desde que o valor de aquisição dos ref eridos Direitos Creditórios não ultrapasse R$ 30.000,00 (trinta mil reais), exc</a:t>
            </a:r>
          </a:p>
          <a:p>
            <a:r>
              <a:t>CNPJ 54871427000194 · Elegibilidade · Versão e prevalência: Leitura específica das cláusulas indicadas; condições e conflitos preservados. Seleção documental atual não comprova vigência jurídica por data isolada.</a:t>
            </a:r>
          </a:p>
          <a:p>
            <a:r>
              <a:t>CNPJ 54871427000194 · Elegibilidade · Resumo do histórico: {"count": 2, "dates": ["2024-04-19", "2024-04-28"], "document_count": 2, "sources": [{"document_id": "670691", "title": "Regulamento", "reference_date": "2024-04-28", "version": "1", "page": "9-10", "clause": "4.7", "url": "https://fnet.bmfbovespa.com.br/fnet/publico/visualizarDocumento?id=670691", "sha256": "bf16dd7f1a62d5cdbf2e2d54fef81783783f7310fbc99c3a8f00459bdf9d037b"}, {"document_id": "670689", "title": "Regulamento", "reference_date": "2024-04-19", "version": "1", "page": 10, "clause": "4.7.3", "url": "https://fnet.bmfbovespa.com.br/fnet/publico/visualizarDocumento?id=670689", "sha256": "891bc9bc5d87bbc02ec139077a84d2702eb81ea02035fb71d24f5b8366b94a0b"}], "reference": {"path": "history/54871427000194.json", "criterion_id": "eligibility", "total_count": 2, "preview_count": 2, "full_text_deferred": true, "sha256": "35d7cd99be50c7287c9fb675cf4f2e736002315295a225a9efa79c8d9186d874"}}</a:t>
            </a:r>
          </a:p>
          <a:p>
            <a:r>
              <a:t>CNPJ 60010416000112 · Elegibilidade · Regulamento · ID 1051393 · 2025-10-09 · versão 1 · p. 10 · 4.4.5 · https://fnet.bmfbovespa.com.br/fnet/publico/visualizarDocumento?id=1051393</a:t>
            </a:r>
          </a:p>
          <a:p>
            <a:r>
              <a:t>CNPJ 60010416000112 · Elegibilidade · Excerto da fonte:</a:t>
            </a:r>
          </a:p>
          <a:p>
            <a:r>
              <a:t>4.4.5. Caso um Direito Creditório endossado à Classe deixe de atender quaisquer Critérios de  Elegibilidade, quaisquer condições de endosso e/ou quaisquer declarações e garantias referentes  a esse Direito Creditório, conforme previsto no Contrato de Endosso, após seu endosso à Classe,  não haverá coobrigação nem direito de regresso da Classe contra o Endossante, o Administrador,  o Custodiante, o Gestor e/ou o Agente de Retenção/Cobrança, exceto em caso de má-fé, culpa  ou dolo comprovado, hipótese em que a parte que agiu com má-f é, culpa ou dolo comprovado  poderá ser responsabilizada pelas perdas incorridas pela Classe em relação aos respectivos  Direitos Creditórios. Se, entretanto, for constatado que um Direito Creditório endossado à Classe  não estava em conformidade com os Critérios de Elegibilidade, condições de endosso ou com as  declarações e garantias prestadas pelo Endossante no Contrato de Endosso, na respectiva data  de endosso, então o endosso desse Direito Creditório poderá ser objeto de resolução pela Classe.</a:t>
            </a:r>
          </a:p>
          <a:p>
            <a:r>
              <a:t> Nessa hipótese, a Classe terá o direito de resolver o endosso desse Direito Creditório, devolvendo-  o ao Endossante por valor a ser restituído à Classe. Adicionalmente, se f or constatado que um  Direito Creditório endossado à Classe não estava em conf ormidade com as declarações e  garantias prestadas pelo Agente de Retenção/Cobrança no Contrato de Endosso, na respectiva  data de endosso, então a Classe terá o direito de vender esse Direito Creditório ao Agente de  Retenção/Cobrança (opção de venda). A retrovenda ou a venda, conforme o caso, será realizada  de acordo com os termos, condições, formalidades e preços de recompra compulsória e opção de  venda detalhados no Contrato de Endosso.</a:t>
            </a:r>
          </a:p>
          <a:p>
            <a:r>
              <a:t>CNPJ 60010416000112 · Elegibilidade · Regulamento · ID 1051393 · 2025-10-09 · versão 1 · p. 9 · 4.3 · https://fnet.bmfbovespa.com.br/fnet/publico/visualizarDocumento?id=1051393</a:t>
            </a:r>
          </a:p>
          <a:p>
            <a:r>
              <a:t>CNPJ 60010416000112 · Elegibilidade · Excerto da fonte:</a:t>
            </a:r>
          </a:p>
          <a:p>
            <a:r>
              <a:t>4.3 Os Direitos Creditórios deverão contar com Documentos Comprobatórios que evidenciem sua existência,  validade e exequibilidade perante os respectivos Devedores.</a:t>
            </a:r>
          </a:p>
          <a:p>
            <a:r>
              <a:t> Critérios de Elegibilidade</a:t>
            </a:r>
          </a:p>
          <a:p>
            <a:r>
              <a:t>CNPJ 60010416000112 · Elegibilidade · Regulamento · ID 1051393 · 2025-10-09 · versão 1 · p. 9 · 4.4 · https://fnet.bmfbovespa.com.br/fnet/publico/visualizarDocumento?id=1051393</a:t>
            </a:r>
          </a:p>
          <a:p>
            <a:r>
              <a:t>CNPJ 60010416000112 · Elegibilidade · Excerto da fonte:</a:t>
            </a:r>
          </a:p>
          <a:p>
            <a:r>
              <a:t>4.4 A Classe somente poderá adquirir os Direitos Creditórios que atendam, cumulativamente, aos seguintes  Critérios de Elegibilidade, a serem verificados e validados pelo Gestor, de forma individualizada e integral,  previamente ao endosso do Direito Creditório, na respectiva Data de Aquisição:</a:t>
            </a:r>
          </a:p>
          <a:p>
            <a:r>
              <a:t> (i) os Direitos Creditórios deverão decorrer de empréstimo concedido pelo Endossante a um  Devedor, representado por uma CCB, com taxa de juros prefixada e vencimento final anterior  ao vencimento f inal da Classe;</a:t>
            </a:r>
          </a:p>
          <a:p>
            <a:r>
              <a:t>BTG Pactual SAC: 0800 772 28 27 - Ouvidoria: 0800 722 00 48 - btgpactual.com 9</a:t>
            </a:r>
          </a:p>
          <a:p>
            <a:r>
              <a:t>CNPJ 60010416000112 · Elegibilidade · Condição: Documentos atuais selecionados no inventário por categoria/escopo; a data documental isolada não comprova vigência jurídica.</a:t>
            </a:r>
          </a:p>
          <a:p>
            <a:r>
              <a:t>CNPJ 60010416000112 · Elegibilidade · Versão e prevalência: Documentos atuais selecionados no inventário por categoria/escopo; a data documental isolada não comprova vigência jurídica.</a:t>
            </a:r>
          </a:p>
          <a:p>
            <a:r>
              <a:t>CNPJ 60010416000112 · Elegibilidade · Resumo do histórico: {"count": 2, "dates": ["2025-03-20", "2025-10-09"], "document_count": 2, "sources": [{"document_id": "1051393", "title": "Regulamento", "reference_date": "2025-10-09", "version": "1", "page": "9-10", "clause": "4.4(ii)", "url": "https://fnet.bmfbovespa.com.br/fnet/publico/visualizarDocumento?id=1051393", "sha256": "8469d613078ffd5a6c1d217885d8a397a16342c0b937ae4aa24b106505f233ae"}, {"document_id": "993786", "title": "Regulamento", "reference_date": "2025-03-20", "version": "1", "page": 10, "clause": "4.4.5", "url": "https://fnet.bmfbovespa.com.br/fnet/publico/visualizarDocumento?id=993786", "sha256": "fd0fdd369a195510d81f81f505195a0b09e5f43522a990afa7d58c4f872921c8"}], "reference": {"path": "history/60010416000112.json", "criterion_id": "eligibility", "total_count": 2, "preview_count": 2, "full_text_deferred": true, "sha256": "8e2bd813f4c51cf01f6bfaad164bafe69d2bbb192f753eac92da3a01c2e63046"}}</a:t>
            </a:r>
          </a:p>
          <a:p>
            <a:r>
              <a:t>CNPJ 62696791000193 · Elegibilidade · Regulamento · ID 1143317 · 20/03/2026 · versão Regulamento — referência 20/03/2026 · p. 11 · Anexo I, 4.7–4.7.3 · https://fnet.bmfbovespa.com.br/fnet/publico/visualizarDocumento?id=1143317</a:t>
            </a:r>
          </a:p>
          <a:p>
            <a:r>
              <a:t>CNPJ 62696791000193 · Elegibilidade · Excerto da fonte:</a:t>
            </a:r>
          </a:p>
          <a:p>
            <a:r>
              <a:t>4.7 A Classe somente poderá adquirir os Direitos Creditórios do Agronegócio que atendam cumulativamente aos seguintes critérios de elegibilidade, a serem verificados e validados pelo Gestor, por amostragem, previamente à cessão e na respectiva data de aquisição dos Direitos Creditórios do Agronegócio (“Data de Aquisição”), de modo que apenas são passíveis de aquisição pela Classe os Direitos Creditórios do Agronegócio que, na Data de Aquisição (“Critérios de Elegibilidade”): (i) sejam representados em moeda corrente nacional; (ii) a natureza ou característica essencial dos Direitos Creditórios do Agronegócio deverá permitir o seu registro contábil e a sua custódia pelo Custodiante, de acordo com os procedimentos operacionais e contábeis praticados pelo Custodiante, ou seu registro em entidade registradora; (iii) sejam ativos de origem vinculada às cadeias produtivas do agronegócio ; e (iv) sejam representados por direitos e/ou títulos representativos de crédito, com ou sem garantias reais ou pessoais a eles atreladas, incluindo, sem limitação, duplicatas, debêntures, contratos de locação e contratos mercantis de compra e venda de produtos</a:t>
            </a:r>
          </a:p>
          <a:p>
            <a:r>
              <a:t>CNPJ 62696791000193 · Elegibilidade · Versão e prevalência: Leitura específica das cláusulas indicadas; condições e conflitos preservados. Seleção documental atual não comprova vigência jurídica por data isolada.</a:t>
            </a:r>
          </a:p>
          <a:p>
            <a:r>
              <a:t>CNPJ 55563624000109 · Elegibilidade · Regulamento · ID 1192614 · 30/04/2026 · versão Regulamento30/04/2026 · p. 12 · AnexoI4.6–4.8.2 · https://fnet.bmfbovespa.com.br/fnet/publico/visualizarDocumento?id=1192614</a:t>
            </a:r>
          </a:p>
          <a:p>
            <a:r>
              <a:t>CNPJ 55563624000109 · Elegibilidade · Excerto da fonte:</a:t>
            </a:r>
          </a:p>
          <a:p>
            <a:r>
              <a:t>4.6 As Cotas da Classe Investida deverão contar com Documentos Comprobatórios que evidenciem sua existência, validade e exequibilidade. 4.7 As Cotas da Classe Investida serão adquiridas pela Classe por meio: (i) de contratos de aquisição de Cotas da Classe Investida firmados entre a Classe e os respectivos vendedores das Cotas da Classe Investida; (ii) negociação em mercado organizado; e/ou (iii) da subscrição de Cotas da Classe Investida, colocadas de forma privada ou ofertadas publicamente, independentemente do regime de distribuição, observada a Política</a:t>
            </a:r>
          </a:p>
          <a:p>
            <a:r>
              <a:t>CNPJ 55563624000109 · Elegibilidade · Versão e prevalência: Leitura específica das cláusulas indicadas; condições e conflitos preservados. Seleção documental atual não comprova vigência jurídica por data isolada.</a:t>
            </a:r>
          </a:p>
          <a:p>
            <a:r>
              <a:t>CNPJ 55563624000109 · Elegibilidade · Resumo do histórico: {"count": 3, "dates": ["2025-01-31", "2026-01-31", "2026-04-30"], "document_count": 3, "sources": [{"document_id": "1192614", "title": "Regulamento", "reference_date": "2026-04-30", "version": "1", "page": "12", "url": "https://fnet.bmfbovespa.com.br/fnet/publico/visualizarDocumento?id=1192614", "sha256": "f56e63ace0acde41d2f47fb48f1ac7f3f7df5e2d32de092d7c5e075a52516632"}, {"document_id": "1178840", "title": "Demonstrações Financeiras", "reference_date": "2026-01-31", "version": "1", "page": 16, "url": "https://fnet.bmfbovespa.com.br/fnet/publico/visualizarDocumento?id=1178840", "sha256": "c458e98664c5c907ddb5a05a94b120bed4e05295b2bfc420f5ba69af0a229abe"}, {"document_id": "891861", "title": "Demonstrações Financeiras", "reference_date": "2025-01-31", "version": "1", "page": 16, "url": "https://fnet.bmfbovespa.com.br/fnet/publico/visualizarDocumento?id=891861", "sha256": "e9cb9e6ddbe505fe068cfcac33605165a98313489de0d3ce6d4d238263c3f3e7"}], "reference": {"path": "history/55563624000109.json", "criterion_id": "eligibility", "total_count": 3, "preview_count": 3, "full_text_deferred": true, "sha256": "7835d573fb58a3c19adf5b8ecc2aee2bdbb9a88f7a0c0209b5f262b64c7522e3"}}</a:t>
            </a:r>
          </a:p>
          <a:p>
            <a:r>
              <a:t>CNPJ 62552447000120 · Elegibilidade · Regulamento · ID 1200623 · 21/05/2026 · versão Consolidado21/05/2026 aprovado pelo ato1200625 · p. 6 · AnexoI1.2 Critérios(i)(a)–(b) · https://fnet.bmfbovespa.com.br/fnet/publico/visualizarDocumento?id=1200623</a:t>
            </a:r>
          </a:p>
          <a:p>
            <a:r>
              <a:t>CNPJ 62552447000120 · Elegibilidade · Excerto da fonte:</a:t>
            </a:r>
          </a:p>
          <a:p>
            <a:r>
              <a:t>Critérios de Elegibilidade”): (i) com relação a todos os Direitos Creditórios : (a) sejam representados em moeda corrente nacional; Critérios de Elegibilidade (b) a natureza ou característica essencial dos Direitos Creditórios deverá permitir o seu registro contábil e a sua custódia pelo Custodiante, de acordo com os procedimentos operacionais e contábeis praticados</a:t>
            </a:r>
          </a:p>
          <a:p>
            <a:r>
              <a:t>CNPJ 62552447000120 · Elegibilidade · Regulamento · ID 1200623 · 21/05/2026 · versão Consolidado21/05/2026 aprovado pelo ato1200625 · p. 7 · AnexoI1.2 Critérios(i)(c)–(v) · https://fnet.bmfbovespa.com.br/fnet/publico/visualizarDocumento?id=1200623</a:t>
            </a:r>
          </a:p>
          <a:p>
            <a:r>
              <a:t>CNPJ 62552447000120 · Elegibilidade · Excerto da fonte:</a:t>
            </a:r>
          </a:p>
          <a:p>
            <a:r>
              <a:t>(v) com relação aos Direitos Creditórios TVM: (a) representem, a qualquer momento, no máximo 10% (dez por cento) do Patrimônio Líquido. Sem prejuízo dos Critérios de Elegibilidade, a Classe somente poderá adquirir os Direitos Creditórios Ref inanciamento Livre, os Direitos Creditórios Consignado Privado e os Direitos Creditórios FGTS com relação aos quais tenha se verif icado as seguintes Condições de Endosso, na forma prevista na Cláusula 4.7 (“Co</a:t>
            </a:r>
          </a:p>
          <a:p>
            <a:r>
              <a:t>CNPJ 62552447000120 · Elegibilidade · Regulamento · ID 1200623 · 21/05/2026 · versão Consolidado21/05/2026 aprovado pelo ato1200625 · p. 12 · AnexoI4.6 · https://fnet.bmfbovespa.com.br/fnet/publico/visualizarDocumento?id=1200623</a:t>
            </a:r>
          </a:p>
          <a:p>
            <a:r>
              <a:t>CNPJ 62552447000120 · Elegibilidade · Excerto da fonte:</a:t>
            </a:r>
          </a:p>
          <a:p>
            <a:r>
              <a:t>4.6 A Classe somente poderá adquirir os Direitos Creditórios que, na data da sua aquisição (“Data de Aquisição”), atendam a todos os Critérios de Elegibilidade, a serem verif icados e validados pelo Gestor, de f orma individualizada e integral, e não por amostragem. 4.6.1 Para f ins da verificação dos Critérios de Elegibilidade, será considerado o Patrimônio Líquido e o valor dos Direitos Creditórios integrantes da Carteira no Dia Útil imediatamente anterior à Data de Aquisição. 4.6.2 Todos os Documentos Comprobatórios e, com relação a cada Direito Creditório, conforme apli</a:t>
            </a:r>
          </a:p>
          <a:p>
            <a:r>
              <a:t>CNPJ 62552447000120 · Elegibilidade · Versão e prevalência: Leitura específica das cláusulas indicadas; condições e conflitos preservados. Seleção documental atual não comprova vigência jurídica por data isolada.</a:t>
            </a:r>
          </a:p>
          <a:p>
            <a:r>
              <a:t>CNPJ 63953620000165 · Elegibilidade · Anexo ao Regulamento · ID 1222863 · 02/06/2026 · versão AnexoConsignadoPrivado02/06/2026 · p. 6 · 4.10–4.10.3 · https://fnet.bmfbovespa.com.br/fnet/publico/visualizarDocumento?id=1222863</a:t>
            </a:r>
          </a:p>
          <a:p>
            <a:r>
              <a:t>CNPJ 63953620000165 · Elegibilidade · Excerto da fonte:</a:t>
            </a:r>
          </a:p>
          <a:p>
            <a:r>
              <a:t>4.10 A Classe somente poderá adquirir os Direitos Creditórios que atendam cumulativamente aos Critérios de Elegibilidade, a serem verificados e validados pelo Gestor, de forma individualizada e integral, previamente à cessão e na respectiva data de aquisição dos Direitos Creditórios (“Data de Aquisição”), de modo que apenas são passíveis de aquisição pela Classe os Direitos Creditórios que, na Data de Aquisição, atendam a todos os Critérios de Elegibilidade. 4.10.1 Para fins da verificação dos Critérios de Elegibilidade, será considerado o Patrimônio Líquido e o valor dos Direitos Creditórios integrantes</a:t>
            </a:r>
          </a:p>
          <a:p>
            <a:r>
              <a:t>CNPJ 63953620000165 · Elegibilidade · Versão e prevalência: Leitura específica das cláusulas indicadas; condições e conflitos preservados. Seleção documental atual não comprova vigência jurídica por data isolada.</a:t>
            </a:r>
          </a:p>
          <a:p>
            <a:r>
              <a:t>CNPJ 63953620000165 · Elegibilidade · Resumo do histórico: {"count": 8, "dates": ["2026-04-28", "2026-05-08", "2026-05-15"], "document_count": 3, "sources": [{"document_id": "1327859", "title": "Demonstrações Financeiras - Fusão, cisão e incorporação", "reference_date": "2026-05-15", "version": "1", "page": 24, "url": "https://fnet.bmfbovespa.com.br/fnet/publico/visualizarDocumento?id=1327859", "sha256": "dca1c68babb97f887528c3e2e47596a9c30f507b067981a35655b2f2da9c8054"}, {"document_id": "1298691", "title": "Demonstrações Financeiras - Fusão, cisão e incorporação", "reference_date": "2026-05-08", "version": "1", "page": 24, "url": "https://fnet.bmfbovespa.com.br/fnet/publico/visualizarDocumento?id=1298691", "sha256": "58c570d9b8d4d265330d3db3ea81c435b8e44a6dab4002aa37790652a1ee9819"}, {"document_id": "1282180", "title": "Demonstrações Financeiras - Fusão, cisão e incorporação", "reference_date": "2026-04-28", "version": "1", "page": 25, "url": "https://fnet.bmfbovespa.com.br/fnet/publico/visualizarDocumento?id=1282180", "sha256": "afaaa0e6809be4385e5bdb6c911aac582032c5bdbac3d7750234bf9eaf00438a"}], "reference": {"path": "history/63953620000165.json", "criterion_id": "eligibility", "total_count": 8, "preview_count": 3, "full_text_deferred": true, "sha256": "a7b89077f5e21098c2d601c303faabc3ff6b9729f89d8afecdc60fe1404720c1"}}</a:t>
            </a:r>
          </a:p>
          <a:p>
            <a:r>
              <a:t>CNPJ 54871427000194 · Limites por contrato e devedor · Regulamento · ID 670691 · 28/04/2024 · versão Regulamento — referência 28/04/2024 · p. 10 · Anexo I, 4.7, parágrafo anterior ao inciso (xi) e inciso (xi) · https://fnet.bmfbovespa.com.br/fnet/publico/visualizarDocumento?id=670691</a:t>
            </a:r>
          </a:p>
          <a:p>
            <a:r>
              <a:t>CNPJ 54871427000194 · Limites por contrato e devedor · Excerto da fonte:</a:t>
            </a:r>
          </a:p>
          <a:p>
            <a:r>
              <a:t>CCB cuja amortização ordinária dos valores devidos, nos últimos 60 (sessenta) dias, tenha ocorrido de f orma integral e ordinária. Na primeira tranche de aquisição de Direitos Creditórios pelo Endossatário tal prazo poderá ser reduzido para 30 (trinta) dias nos casos de amortização extraordinária (via boleto) desde que o valor de aquisição dos ref eridos Direitos Creditórios não ultrapasse R$ 30.000,00 (trinta mil reais), exclusivamente via consignação em f olha de pagamento ou de benef ício; e (xi) Endosso de todas as CCBs de um mesmo Devedor que não ultrapasse 20% (vinte por cento) do patrimônio líquido da Classe. 4.7.1 Os Documentos Comprobatórios deverão ser disponibilizados pelo respectivo Endossante (a) no prazo de 10 (dez) dias contados da Data de Aquisição dos 50 (cinquenta) casos que sejam solicitados pelo GESTOR, a seu exclusivo critério, (b) a totalidade dos demais Documentos Comprobatórios em f ormato digital em até 90 (noventa) dias a contar da Data de Aquisição, bem como dos Documentos Comprobatórios em formato físico relativos aos Direitos Creditórios que eventualmente estejam inadimplidos em ref erida da</a:t>
            </a:r>
          </a:p>
          <a:p>
            <a:r>
              <a:t>CNPJ 54871427000194 · Limites por contrato e devedor · Condição: R$ 30 mil é teto da exceção de aquisição da primeira tranche; não é teto geral de cada CCB.</a:t>
            </a:r>
          </a:p>
          <a:p>
            <a:r>
              <a:t>CNPJ 54871427000194 · Limites por contrato e devedor · Motivo: Não localizada uma cláusula material para este critério nos textos identificados e processados. A ausência de resultado não comprova inexistência da regra.</a:t>
            </a:r>
          </a:p>
          <a:p>
            <a:r>
              <a:t>CNPJ 54871427000194 · Limites por contrato e devedor · Versão e prevalência: Leitura específica das cláusulas indicadas; condições e conflitos preservados. Seleção documental atual não comprova vigência jurídica por data isolada.</a:t>
            </a:r>
          </a:p>
          <a:p>
            <a:r>
              <a:t>CNPJ 60010416000112 · Limites por contrato e devedor · Regulamento · ID 1051393 · 09/10/2025 · versão Regulamento09/10/2025 · p. 10 · AnexoI4.4(ii), (iv),4.4.1 · https://fnet.bmfbovespa.com.br/fnet/publico/visualizarDocumento?id=1051393</a:t>
            </a:r>
          </a:p>
          <a:p>
            <a:r>
              <a:t>CNPJ 60010416000112 · Limites por contrato e devedor · Excerto da fonte:</a:t>
            </a:r>
          </a:p>
          <a:p>
            <a:r>
              <a:t>R$ 100.000,00 (cem mil reais), observado o disposto no item 4.4.1 abaixo; (iii) o prazo de vencimento das CCB representativas dos Direitos Creditórios deverá ser, no máximo, equivalente ao prazo máximo permitido pelas leis e regulamentações aplicáveis; e (iv) os Direitos Creditórios não poderão ser devidos por Devedores que tenham acima de 64 (sessenta e quatro) anos 11 (onze) meses e 29 (vinte e nove) dias na data de emissão da respectiva CCB. 4.4.1. O limite máximo de exposição da Classe por Devedor estabeleci</a:t>
            </a:r>
          </a:p>
          <a:p>
            <a:r>
              <a:t>CNPJ 60010416000112 · Limites por contrato e devedor · Condição: Prevalência da cláusula específica 4.4.1; limite privado do Contrato não foi presumido.</a:t>
            </a:r>
          </a:p>
          <a:p>
            <a:r>
              <a:t>CNPJ 60010416000112 · Limites por contrato e devedor · Motivo: Não localizada uma cláusula material para este critério nos textos identificados e processados. A ausência de resultado não comprova inexistência da regra.</a:t>
            </a:r>
          </a:p>
          <a:p>
            <a:r>
              <a:t>CNPJ 60010416000112 · Limites por contrato e devedor · Versão e prevalência: Leitura específica das cláusulas indicadas; condições e conflitos preservados. Seleção documental atual não comprova vigência jurídica por data isolada.</a:t>
            </a:r>
          </a:p>
          <a:p>
            <a:r>
              <a:t>CNPJ 62696791000193 · Limites por contrato e devedor · Motivo: Não localizada uma cláusula material para este critério nos textos identificados e processados. A ausência de resultado não comprova inexistência da regra.</a:t>
            </a:r>
          </a:p>
          <a:p>
            <a:r>
              <a:t>CNPJ 55563624000109 · Limites por contrato e devedor · Motivo: Não localizada uma cláusula material para este critério nos textos identificados e processados. A ausência de resultado não comprova inexistência da regra.</a:t>
            </a:r>
          </a:p>
          <a:p>
            <a:r>
              <a:t>CNPJ 62552447000120 · Limites por contrato e devedor · Motivo: Não localizada uma cláusula material para este critério nos textos identificados e processados. A ausência de resultado não comprova inexistência da regra.</a:t>
            </a:r>
          </a:p>
          <a:p>
            <a:r>
              <a:t>CNPJ 63953620000165 · Limites por contrato e devedor · Motivo: Não localizada uma cláusula material para este critério nos textos identificados e processados. A ausência de resultado não comprova inexistência da regra.</a:t>
            </a:r>
          </a:p>
          <a:p>
            <a:r>
              <a:t>CNPJ 54871427000194 · Prazo dos créditos e carência · Motivo: Não localizada uma cláusula material para este critério nos textos identificados e processados. A ausência de resultado não comprova inexistência da regra.</a:t>
            </a:r>
          </a:p>
          <a:p>
            <a:r>
              <a:t>CNPJ 60010416000112 · Prazo dos créditos e carência · Regulamento · ID 1051393 · 2025-10-09 · versão 1 · p. 11 · 4.5 · https://fnet.bmfbovespa.com.br/fnet/publico/visualizarDocumento?id=1051393</a:t>
            </a:r>
          </a:p>
          <a:p>
            <a:r>
              <a:t>CNPJ 60010416000112 · Prazo dos créditos e carência · Excerto da fonte:</a:t>
            </a:r>
          </a:p>
          <a:p>
            <a:r>
              <a:t>4.5 A parcela do Patrimônio Líquido que não estiver alocada em Direitos Creditórios será necessariamente  alocada no seguintes ativos (“Ativos Financeiros de Liquidez”).</a:t>
            </a:r>
          </a:p>
          <a:p>
            <a:r>
              <a:t> (i) moeda corrente nacional;</a:t>
            </a:r>
          </a:p>
          <a:p>
            <a:r>
              <a:t> (ii) títulos do Tesouro SELIC, anteriormente denominado letra f inanceira do Tesouro Nacional  (LFT);</a:t>
            </a:r>
          </a:p>
          <a:p>
            <a:r>
              <a:t> (iii) certif icados de depósito bancário (CDB) ou recibos de depósito bancário (RDB) com prazo  máximo de vencimento equivalente ao prazo remanescente do Período de Investimento, com  liquidez diária, emitidos por Instituições Autorizadas e/ou pelo Endossante, sendo certo que  os certif icados de depósito bancário (CDB) e recibos de depósito bancário (RDB) emitidos  pelo Endossante e integrantes da carteira da Classe não poderão exceder o valor de R$</a:t>
            </a:r>
          </a:p>
          <a:p>
            <a:r>
              <a:t> 25.000.000,00 (vinte e cinco milhões de reais);</a:t>
            </a:r>
          </a:p>
          <a:p>
            <a:r>
              <a:t> (iv) operações compromissadas, desde que lastreadas nos títulos mencionados nas alíneas (i) a</a:t>
            </a:r>
          </a:p>
          <a:p>
            <a:r>
              <a:t> (iii) acima, emitidas por Instituições Autorizadas, com liquidez diária e vencimento inferior a  365 (trezentos e sessenta e cinco) dias; e</a:t>
            </a:r>
          </a:p>
          <a:p>
            <a:r>
              <a:t> (v) cotas de classes de f undos de investimentos de renda f ixa ou indexados à Taxa DI com  liquidez diária, cujas políticas de investimento admitam a alocação de recursos  exclusivamente nos ativos das alíneas (ii) e (iii) acima, incluindo f undos geridos e/ou  administrados pelo Administrador, pelo Custodiante e/ou pelo Gestor.</a:t>
            </a:r>
          </a:p>
          <a:p>
            <a:r>
              <a:t>Limites de Concentração e Vedações para a Composição da Carteira</a:t>
            </a:r>
          </a:p>
          <a:p>
            <a:r>
              <a:t>CNPJ 60010416000112 · Prazo dos créditos e carência · Regulamento · ID 1051393 · 2025-10-09 · versão 1 · p. 10 · https://fnet.bmfbovespa.com.br/fnet/publico/visualizarDocumento?id=1051393</a:t>
            </a:r>
          </a:p>
          <a:p>
            <a:r>
              <a:t>CNPJ 60010416000112 · Prazo dos créditos e carência · Excerto da fonte:</a:t>
            </a:r>
          </a:p>
          <a:p>
            <a:r>
              <a:t>Anexo I ao Regulamento CLASSE ÚNICA DO MT I CONSIGNADO PRIVADO I FUNDO DE INVESTIMENTO EM DIREITOS CREDITÓRIOS RESPONSABILIDADE LIMITADA</a:t>
            </a:r>
          </a:p>
          <a:p>
            <a:r>
              <a:t> (ii) o saldo dos Direitos Creditórios devidos pelo mesmo Devedor à Classe, considerando, pro  forma, o endosso pretendido, não deverá exceder R$ 100.000,00 (cem mil reais), observado  o disposto no item 4.4.1 abaixo;</a:t>
            </a:r>
          </a:p>
          <a:p>
            <a:r>
              <a:t> (iii) o prazo de vencimento das CCB representativas dos Direitos Creditórios deverá ser, no  máximo, equivalente ao prazo máximo permitido pelas leis e regulamentações aplicáveis; e</a:t>
            </a:r>
          </a:p>
          <a:p>
            <a:r>
              <a:t> (iv) os Direitos Creditórios não poderão ser devidos por Devedores que tenham acima de 64  (sessenta e quatro) anos 11 (onze) meses e 29 (vinte e nove) dias na data de emissão da  respectiva CCB.</a:t>
            </a:r>
          </a:p>
          <a:p>
            <a:r>
              <a:t>CNPJ 60010416000112 · Prazo dos créditos e carência · Condição: Documentos atuais selecionados no inventário por categoria/escopo; a data documental isolada não comprova vigência jurídica.</a:t>
            </a:r>
          </a:p>
          <a:p>
            <a:r>
              <a:t>CNPJ 60010416000112 · Prazo dos créditos e carência · Versão e prevalência: Documentos atuais selecionados no inventário por categoria/escopo; a data documental isolada não comprova vigência jurídica.</a:t>
            </a:r>
          </a:p>
          <a:p>
            <a:r>
              <a:t>CNPJ 60010416000112 · Prazo dos créditos e carência · Resumo do histórico: {"count": 1, "dates": ["2025-03-20"], "document_count": 1, "sources": [{"document_id": "993786", "title": "Regulamento", "reference_date": "2025-03-20", "version": "1", "page": 11, "clause": "4.5", "url": "https://fnet.bmfbovespa.com.br/fnet/publico/visualizarDocumento?id=993786", "sha256": "fd0fdd369a195510d81f81f505195a0b09e5f43522a990afa7d58c4f872921c8"}], "reference": {"path": "history/60010416000112.json", "criterion_id": "term", "total_count": 1, "preview_count": 1, "full_text_deferred": true, "sha256": "8e2bd813f4c51cf01f6bfaad164bafe69d2bbb192f753eac92da3a01c2e63046"}}</a:t>
            </a:r>
          </a:p>
          <a:p>
            <a:r>
              <a:t>CNPJ 62696791000193 · Prazo dos créditos e carência · Motivo: Não localizada uma cláusula material para este critério nos textos identificados e processados. A ausência de resultado não comprova inexistência da regra.</a:t>
            </a:r>
          </a:p>
          <a:p>
            <a:r>
              <a:t>CNPJ 55563624000109 · Prazo dos créditos e carência · Motivo: Não localizada uma cláusula material para este critério nos textos identificados e processados. A ausência de resultado não comprova inexistência da regra.</a:t>
            </a:r>
          </a:p>
          <a:p>
            <a:r>
              <a:t>CNPJ 62552447000120 · Prazo dos créditos e carência · Motivo: Não localizada uma cláusula material para este critério nos textos identificados e processados. A ausência de resultado não comprova inexistência da regra.</a:t>
            </a:r>
          </a:p>
          <a:p>
            <a:r>
              <a:t>CNPJ 63953620000165 · Prazo dos créditos e carência · Anexo ao Regulamento · ID 1222863 · 2026-06-02 · versão 1 · p. 2 · https://fnet.bmfbovespa.com.br/fnet/publico/visualizarDocumento?id=1222863</a:t>
            </a:r>
          </a:p>
          <a:p>
            <a:r>
              <a:t>CNPJ 63953620000165 · Prazo dos créditos e carência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Prazo dos créditos e carência · Condição: Documentos atuais selecionados no inventário por categoria/escopo; a data documental isolada não comprova vigência jurídica.</a:t>
            </a:r>
          </a:p>
          <a:p>
            <a:r>
              <a:t>CNPJ 63953620000165 · Prazo dos créditos e carência · Versão e prevalência: Documentos atuais selecionados no inventário por categoria/escopo; a data documental isolada não comprova vigência jurídica.</a:t>
            </a:r>
          </a:p>
          <a:p>
            <a:r>
              <a:t>CNPJ 63953620000165 · Prazo dos créditos e carência · Resumo do histórico: {"count": 8, "dates": ["2026-04-28", "2026-05-08", "2026-05-15"], "document_count": 3, "sources": [{"document_id": "1327859", "title": "Demonstrações Financeiras - Fusão, cisão e incorporação", "reference_date": "2026-05-15", "version": "1", "page": 16, "url": "https://fnet.bmfbovespa.com.br/fnet/publico/visualizarDocumento?id=1327859", "sha256": "dca1c68babb97f887528c3e2e47596a9c30f507b067981a35655b2f2da9c8054"}, {"document_id": "1298691", "title": "Demonstrações Financeiras - Fusão, cisão e incorporação", "reference_date": "2026-05-08", "version": "1", "page": 16, "url": "https://fnet.bmfbovespa.com.br/fnet/publico/visualizarDocumento?id=1298691", "sha256": "58c570d9b8d4d265330d3db3ea81c435b8e44a6dab4002aa37790652a1ee9819"}, {"document_id": "1282180", "title": "Demonstrações Financeiras - Fusão, cisão e incorporação", "reference_date": "2026-04-28", "version": "1", "page": 16, "url": "https://fnet.bmfbovespa.com.br/fnet/publico/visualizarDocumento?id=1282180", "sha256": "afaaa0e6809be4385e5bdb6c911aac582032c5bdbac3d7750234bf9eaf00438a"}], "reference": {"path": "history/63953620000165.json", "criterion_id": "term", "total_count": 8, "preview_count": 3, "full_text_deferred": true, "sha256": "a7b89077f5e21098c2d601c303faabc3ff6b9729f89d8afecdc60fe1404720c1"}}</a:t>
            </a:r>
          </a:p>
          <a:p>
            <a:r>
              <a:t>CNPJ 54871427000194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null, "comparison_required": true, "context_formula": "", "context_value": null, "context_unit": ""}</a:t>
            </a:r>
          </a:p>
          <a:p>
            <a:r>
              <a:t>CNPJ 54871427000194 · Concentração por devedor, cedente e grupo · Regulamento · ID 670691 · 28/04/2024 · versão Regulamento — referência 28/04/2024 · p. 11 · Anexo I, 4.10 e 4.11.2–4.11.4 · https://fnet.bmfbovespa.com.br/fnet/publico/visualizarDocumento?id=670691</a:t>
            </a:r>
          </a:p>
          <a:p>
            <a:r>
              <a:t>CNPJ 54871427000194 · Concentração por devedor, cedente e grupo · Excerto da fonte:</a:t>
            </a:r>
          </a:p>
          <a:p>
            <a:r>
              <a:t>4.10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4.11 A Classe poderá, direta ou indiretamente e, nos termos da legislação aplicável: (i) adquirir Direitos Creditórios que sejam cedidos e/ou originados pelo ADMINISTRADOR e/ou pelo GESTOR, ou partes a eles relacionadas, tal como definidas pelas regras contábeis que tratam desse assunto; e (ii) ceder Direitos Creditórios a qualquer das pessoas, fundos de investimento ou entidades referidas no item (i) acima, desde que (i) o ADMINISTRADOR, GESTOR, a entidade registradora e o CUSTODIANTE de Direitos Creditórios não sejam partes relacionadas entre si; e (ii) a entidade registradora e o</a:t>
            </a:r>
          </a:p>
          <a:p>
            <a:r>
              <a:t>CNPJ 54871427000194 · Concentração por devedor, cedente e grupo · Regulamento · ID 670691 · 28/04/2024 · versão Regulamento — referência 28/04/2024 · p. 10 · Anexo I, 4.7(xi) · https://fnet.bmfbovespa.com.br/fnet/publico/visualizarDocumento?id=670691</a:t>
            </a:r>
          </a:p>
          <a:p>
            <a:r>
              <a:t>CNPJ 54871427000194 · Concentração por devedor, cedente e grupo · Excerto da fonte:</a:t>
            </a:r>
          </a:p>
          <a:p>
            <a:r>
              <a:t>(xi) Endosso de todas as CCBs de um mesmo Devedor que não ultrapasse 20% (vinte por cento) do patrimônio líquido da Classe. 4.7.1 Os Documentos Comprobatórios deverão ser disponibilizados pelo respectivo Endossante (a) no prazo de 10 (dez) dias contados da Data de Aquisição dos 50 (cinquenta) casos que sejam solicitados pelo GESTOR, a seu exclusivo critério, (b) a totalidade dos demais Documentos Comprobatórios em f ormato digital em até 90 (noventa) dias a contar da Data de Aquisição, bem como dos Documentos Comprobatórios em formato físico relativos aos Direitos Creditórios que eventualmente estejam inadimplidos em ref erida data, e (c) a totalidade dos demais Documentos Comprobatórios em f ormato f ísico em até 180 (cento e oitenta) dias a contar da Data de Aquisição, sujeito à resolução do respectivo endosso, de acordo com os termos do Contrato de Endosso. 4.7.2 Caso um Direito Creditório cedido à Classe deixe de atender quaisquer Critérios de Elegibilidade e/ou quaisquer declarações e garantias ref erentes a esse Direito Creditório, conf orme previsto no respectivo Contrato de Endosso, após seu endosso à</a:t>
            </a:r>
          </a:p>
          <a:p>
            <a:r>
              <a:t>CNPJ 54871427000194 · Concentração por devedor, cedente e grupo · Condição: Na aquisição, o critério específico de 20% restringe o permissivo geral de 100%. Uma concentração observada no IME exige base e devedor identificados.</a:t>
            </a:r>
          </a:p>
          <a:p>
            <a:r>
              <a:t>CNPJ 54871427000194 · Concentração por devedor, cedente e grupo · Versão e prevalência: Leitura específica das cláusulas indicadas; condições e conflitos preservados. Seleção documental atual não comprova vigência jurídica por data isolada.</a:t>
            </a:r>
          </a:p>
          <a:p>
            <a:r>
              <a:t>CNPJ 54871427000194 · Concentração por devedor, cedente e grupo · Resumo do histórico: {"count": 2, "dates": ["2024-04-19", "2024-04-28"], "document_count": 2, "sources": [{"document_id": "670691", "title": "Regulamento", "reference_date": "2024-04-28", "version": "1", "page": "10-11", "url": "https://fnet.bmfbovespa.com.br/fnet/publico/visualizarDocumento?id=670691", "sha256": "bf16dd7f1a62d5cdbf2e2d54fef81783783f7310fbc99c3a8f00459bdf9d037b"}, {"document_id": "670689", "title": "Regulamento", "reference_date": "2024-04-19", "version": "1", "page": 11, "clause": "4.10", "url": "https://fnet.bmfbovespa.com.br/fnet/publico/visualizarDocumento?id=670689", "sha256": "891bc9bc5d87bbc02ec139077a84d2702eb81ea02035fb71d24f5b8366b94a0b"}], "reference": {"path": "history/54871427000194.json", "criterion_id": "concentration", "total_count": 2, "preview_count": 2, "full_text_deferred": true, "sha256": "35d7cd99be50c7287c9fb675cf4f2e736002315295a225a9efa79c8d9186d874"}}</a:t>
            </a:r>
          </a:p>
          <a:p>
            <a:r>
              <a:t>CNPJ 60010416000112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null, "comparison_required": true, "context_formula": "", "context_value": null, "context_unit": ""}</a:t>
            </a:r>
          </a:p>
          <a:p>
            <a:r>
              <a:t>CNPJ 60010416000112 · Concentração por devedor, cedente e grupo · Regulamento · ID 1051393 · 09/10/2025 · versão Regulamento09/10/2025 · p. 11 · AnexoI4.4.9(iv),4.5(iii) · https://fnet.bmfbovespa.com.br/fnet/publico/visualizarDocumento?id=1051393</a:t>
            </a:r>
          </a:p>
          <a:p>
            <a:r>
              <a:t>CNPJ 60010416000112 · Concentração por devedor, cedente e grupo · Excerto da fonte:</a:t>
            </a:r>
          </a:p>
          <a:p>
            <a:r>
              <a:t>3,00% (três por cento) do Patrimônio Líquido da Classe. Ativos Financeiros de Liquidez 4.5 A parcela do Patrimônio Líquido que não estiver alocada em Direitos Creditórios será necessariamente alocada no seguintes ativos (“Ativos Financeiros de Liquidez”). (i) moeda corrente nacional; (ii) títulos do Tesouro SELIC, anteriormente denominado letra f inanceira do Tesouro Nacional (LFT); (iii) certif icados de depósito bancário (CDB) ou recibos de depósito bancário (RDB) com prazo máximo de vencimento equivalente ao prazo remanescente</a:t>
            </a:r>
          </a:p>
          <a:p>
            <a:r>
              <a:t>CNPJ 60010416000112 · Concentração por devedor, cedente e grupo · Regulamento · ID 1051393 · 09/10/2025 · versão Regulamento09/10/2025 · p. 12 · AnexoI4.7–4.8 · https://fnet.bmfbovespa.com.br/fnet/publico/visualizarDocumento?id=1051393</a:t>
            </a:r>
          </a:p>
          <a:p>
            <a:r>
              <a:t>CNPJ 60010416000112 · Concentração por devedor, cedente e grupo · Excerto da fonte:</a:t>
            </a:r>
          </a:p>
          <a:p>
            <a:r>
              <a:t>4.7 A Classe deverá observar, ainda, os limites de concentração definidos na Política de Crédito, que integra o Contrato de Endosso como Anexo 3.2(v). 4.8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a:t>
            </a:r>
          </a:p>
          <a:p>
            <a:r>
              <a:t>CNPJ 60010416000112 · Concentração por devedor, cedente e grupo · Versão e prevalência: Leitura específica das cláusulas indicadas; condições e conflitos preservados. Seleção documental atual não comprova vigência jurídica por data isolada.</a:t>
            </a:r>
          </a:p>
          <a:p>
            <a:r>
              <a:t>CNPJ 60010416000112 · Concentração por devedor, cedente e grupo · Resumo do histórico: {"count": 2, "dates": ["2025-03-20", "2025-10-09"], "document_count": 2, "sources": [{"document_id": "1051393", "title": "Regulamento", "reference_date": "2025-10-09", "version": "1", "page": "11-12", "url": "https://fnet.bmfbovespa.com.br/fnet/publico/visualizarDocumento?id=1051393", "sha256": "8469d613078ffd5a6c1d217885d8a397a16342c0b937ae4aa24b106505f233ae"}, {"document_id": "993786", "title": "Regulamento", "reference_date": "2025-03-20", "version": "1", "page": 12, "clause": "4.8", "url": "https://fnet.bmfbovespa.com.br/fnet/publico/visualizarDocumento?id=993786", "sha256": "fd0fdd369a195510d81f81f505195a0b09e5f43522a990afa7d58c4f872921c8"}], "reference": {"path": "history/60010416000112.json", "criterion_id": "concentration", "total_count": 2, "preview_count": 2, "full_text_deferred": true, "sha256": "8e2bd813f4c51cf01f6bfaad164bafe69d2bbb192f753eac92da3a01c2e63046"}}</a:t>
            </a:r>
          </a:p>
          <a:p>
            <a:r>
              <a:t>CNPJ 62696791000193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null, "comparison_required": true, "context_formula": "", "context_value": null, "context_unit": ""}</a:t>
            </a:r>
          </a:p>
          <a:p>
            <a:r>
              <a:t>CNPJ 62696791000193 · Concentração por devedor, cedente e grupo · Regulamento · ID 1143317 · 20/03/2026 · versão Regulamento — referência 20/03/2026 · p. 11 · Anexo I, 4.8–4.9 · https://fnet.bmfbovespa.com.br/fnet/publico/visualizarDocumento?id=1143317</a:t>
            </a:r>
          </a:p>
          <a:p>
            <a:r>
              <a:t>CNPJ 62696791000193 · Concentração por devedor, cedente e grupo · Excerto da fonte:</a:t>
            </a:r>
          </a:p>
          <a:p>
            <a:r>
              <a:t>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relacionadas ao Gestor. 4.8.1 As aplicações em Direitos Creditórios do Agronegócio decorrentes de receitas públicas originárias ou derivadas da União, dos Estados, do Distrito Federal e dos Municípios ou de suas autarquias e f undações, assim como em Direitos Creditórios do Agronegócio cedidos ou originados por empresas controladas pelo poder público, não estão submetidas ao limite de concentração por emissor previsto no caput. 4.9 Nos termos do Art. 45 do Anexo</a:t>
            </a:r>
          </a:p>
          <a:p>
            <a:r>
              <a:t>CNPJ 62696791000193 · Concentração por devedor, cedente e grupo · Regulamento · ID 1143317 · 20/03/2026 · versão Regulamento — referência 20/03/2026 · p. 12 · Anexo I, 4.10(i)–(ix) · https://fnet.bmfbovespa.com.br/fnet/publico/visualizarDocumento?id=1143317</a:t>
            </a:r>
          </a:p>
          <a:p>
            <a:r>
              <a:t>CNPJ 62696791000193 · Concentração por devedor, cedente e grupo · Excerto da fonte:</a:t>
            </a:r>
          </a:p>
          <a:p>
            <a:r>
              <a:t>4.10 Sem prejuízo de limites mais restritivos definidos neste Anexo, o Gestor deverá observar, ainda, os seguintes limites de concentração: (i) A Classe poderá, direta ou indiretamente, ter até 100% (cem por cento) do Patrimônio Líquido representado por Direitos Creditórios do Agronegócio originados ou cedidos pelo Administrador, Gestor e/ou suas partes relacionadas, tal como definidas pelas regras contábeis que tratam desse assunto, desde que (a) o Gest or, a entidade registradora e o Custodiante dos Direitos Creditórios do Agronegócio não sejam partes relacionadas entre si; e (b) a entidade registradora e o Custodiante dos Direitos Creditórios do Agronegócio não sejam partes relacionadas ao originador ou Cedente. (ii) No máximo, 100% (cem por cento) do Patrimônio Líquido investido em Ativos Financeiros de Liquidez de emissão ou que envolvam retenção de risco por parte do Administrador, Gestor, e/ou suas partes relacionadas, observado ainda o disposto no item Error! Reference source not found.;</a:t>
            </a:r>
          </a:p>
          <a:p>
            <a:r>
              <a:t>CNPJ 62696791000193 · Concentração por devedor, cedente e grupo · Condição: Liquidez/derivativos relacionados também têm permissivos de 100%, mas remissões internas aparecem como “Error! Reference source not found.”.</a:t>
            </a:r>
          </a:p>
          <a:p>
            <a:r>
              <a:t>CNPJ 62696791000193 · Concentração por devedor, cedente e grupo · Versão e prevalência: Leitura específica das cláusulas indicadas; condições e conflitos preservados. Seleção documental atual não comprova vigência jurídica por data isolada.</a:t>
            </a:r>
          </a:p>
          <a:p>
            <a:r>
              <a:t>CNPJ 55563624000109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null, "comparison_required": true, "context_formula": "", "context_value": null, "context_unit": ""}</a:t>
            </a:r>
          </a:p>
          <a:p>
            <a:r>
              <a:t>CNPJ 55563624000109 · Concentração por devedor, cedente e grupo · Regulamento · ID 1192614 · 30/04/2026 · versão Regulamento30/04/2026 · p. 13 · AnexoI4.11–4.12.1 · https://fnet.bmfbovespa.com.br/fnet/publico/visualizarDocumento?id=1192614</a:t>
            </a:r>
          </a:p>
          <a:p>
            <a:r>
              <a:t>CNPJ 55563624000109 · Concentração por devedor, cedente e grupo · Excerto da fonte:</a:t>
            </a:r>
          </a:p>
          <a:p>
            <a:r>
              <a:t>4.11 Nos termos dos artigos 45, parágrafo 7º, e 47 parágrafo único do Anexo Normativo II à Resolução CVM 175, uma vez que as Cotas são destinadas exclusivamente a Investidores Profissionais, a Classe poderá ter até 100% (cem por cento) de seu Patrimônio Líquido alocado em Cotas da Classe Investida, as quais são emitidas pela Classe Investida. 4.12 A Classe poderá, direta ou indiretamente (i) adquirir Cotas da Classe Investida que sejam administrados pelo ADMINISTRADOR, e geridos ou cogeridos pelo GESTOR, ou partes a eles relacionadas, tal como definidas pelas</a:t>
            </a:r>
          </a:p>
          <a:p>
            <a:r>
              <a:t>CNPJ 55563624000109 · Concentração por devedor, cedente e grupo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Concentração por devedor, cedente e grupo · Versão e prevalência: Leitura específica das cláusulas indicadas; condições e conflitos preservados. Seleção documental atual não comprova vigência jurídica por data isolada.</a:t>
            </a:r>
          </a:p>
          <a:p>
            <a:r>
              <a:t>CNPJ 55563624000109 · Concentração por devedor, cedente e grupo · Resumo do histórico: {"count": 1, "dates": ["2026-04-30"], "document_count": 1, "sources": [{"document_id": "1192614", "title": "Regulamento", "reference_date": "2026-04-30", "version": "1", "page": "11-12", "url": "https://fnet.bmfbovespa.com.br/fnet/publico/visualizarDocumento?id=1192614", "sha256": "f56e63ace0acde41d2f47fb48f1ac7f3f7df5e2d32de092d7c5e075a52516632"}], "reference": {"path": "history/55563624000109.json", "criterion_id": "concentration", "total_count": 1, "preview_count": 1, "full_text_deferred": true, "sha256": "7835d573fb58a3c19adf5b8ecc2aee2bdbb9a88f7a0c0209b5f262b64c7522e3"}}</a:t>
            </a:r>
          </a:p>
          <a:p>
            <a:r>
              <a:t>CNPJ 62552447000120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null, "comparison_required": true, "context_formula": "", "context_value": null, "context_unit": ""}</a:t>
            </a:r>
          </a:p>
          <a:p>
            <a:r>
              <a:t>CNPJ 62552447000120 · Concentração por devedor, cedente e grupo · Regulamento · ID 1200623 · 21/05/2026 · versão Consolidado21/05/2026 aprovado pelo ato1200625 · p. 14 · AnexoI4.10–4.13 · https://fnet.bmfbovespa.com.br/fnet/publico/visualizarDocumento?id=1200623</a:t>
            </a:r>
          </a:p>
          <a:p>
            <a:r>
              <a:t>CNPJ 62552447000120 · Concentração por devedor, cedente e grupo · Excerto da fonte:</a:t>
            </a:r>
          </a:p>
          <a:p>
            <a:r>
              <a:t>4.10 Nos termos do art. 45, §7º, inciso II, do Anexo Normativo II, a Classe poderá ter até 100% (cem por cento) de seu Patrimônio Líquido alocado em Direitos Creditórios, derivativos, observado o disposto abaixo,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4.10.1 O uso de derivativos está restr</a:t>
            </a:r>
          </a:p>
          <a:p>
            <a:r>
              <a:t>CNPJ 62552447000120 · Concentração por devedor, cedente e grupo · Condição: Regulamento permite concentração ampla; TVM têm limite específico 10% PL na elegibilidade.</a:t>
            </a:r>
          </a:p>
          <a:p>
            <a:r>
              <a:t>CNPJ 62552447000120 · Concentração por devedor, cedente e grupo · Versão e prevalência: Leitura específica das cláusulas indicadas; condições e conflitos preservados. Seleção documental atual não comprova vigência jurídica por data isolada.</a:t>
            </a:r>
          </a:p>
          <a:p>
            <a:r>
              <a:t>CNPJ 63953620000165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null, "comparison_required": true, "context_formula": "", "context_value": null, "context_unit": ""}</a:t>
            </a:r>
          </a:p>
          <a:p>
            <a:r>
              <a:t>CNPJ 63953620000165 · Concentração por devedor, cedente e grupo · Anexo ao Regulamento · ID 1222863 · 02/06/2026 · versão AnexoConsignadoPrivado02/06/2026 · p. 6 · 4.14 · https://fnet.bmfbovespa.com.br/fnet/publico/visualizarDocumento?id=1222863</a:t>
            </a:r>
          </a:p>
          <a:p>
            <a:r>
              <a:t>CNPJ 63953620000165 · Concentração por devedor, cedente e grupo · Excerto da fonte:</a:t>
            </a:r>
          </a:p>
          <a:p>
            <a:r>
              <a:t>4.14 Nos termos do Art. 45, §7º, inciso II, do Anexo Normativo II da Resolução CVM 175, a Classe poderá ter até 100% (cem por cento) de seu Patrimônio Líquido alocado em Direitos Creditórios, derivativos, observado o disposto neste Anexo I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4.15 Sem prejuízo de limites</a:t>
            </a:r>
          </a:p>
          <a:p>
            <a:r>
              <a:t>CNPJ 63953620000165 · Concentração por devedor, cedente e grupo · Anexo ao Regulamento · ID 1222863 · 02/06/2026 · versão AnexoConsignadoPrivado02/06/2026 · p. 7 · 4.15(i)–(v) · https://fnet.bmfbovespa.com.br/fnet/publico/visualizarDocumento?id=1222863</a:t>
            </a:r>
          </a:p>
          <a:p>
            <a:r>
              <a:t>CNPJ 63953620000165 · Concentração por devedor, cedente e grupo · Excerto da fonte:</a:t>
            </a:r>
          </a:p>
          <a:p>
            <a:r>
              <a:t>(i)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CNPJ 63953620000165 · Concentração por devedor, cedente e grupo · Versão e prevalência: Leitura específica das cláusulas indicadas; condições e conflitos preservados. Seleção documental atual não comprova vigência jurídica por data isolada.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Recebíveis e aquisição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Natureza dos recebíveis · Regulamento · ID 670691 · 28/04/2024 · versão Regulamento — referência 28/04/2024 · p. 9 · Anexo I, 4.2–4.2.1 · https://fnet.bmfbovespa.com.br/fnet/publico/visualizarDocumento?id=670691</a:t>
            </a:r>
          </a:p>
          <a:p>
            <a:r>
              <a:t>CNPJ 54871427000194 · Natureza dos recebíveis · Excerto da fonte:</a:t>
            </a:r>
          </a:p>
          <a:p>
            <a:r>
              <a:t>4.2 Os Direitos Creditórios representados por Certif icados de Cédulas de Crédito Bancário (“CCCBs”), representativos de um agrupamento de determinadas CCBs, originadas no âmbito de operações de empréstimos pessoais concedidos por um Endossante a um Devedor, devidamente f ormalizadas por via eletrônica de acordo com a legislação aplicável, segundo os critérios de composição e diversificação estabelecidos pela regulamentação aplicável e neste Regulamento. 4.2.1 Cada Endossante deve ter celebrado convênio com órgão consignante, previamente à cessão de Direitos Creditórios à Classe, que contemplam a obrigação da manutenção da consignação/averbação junto ao novo órgão, de modo a possibilitar o pagamento dos Direitos Creditórios por meio de consignação em f olha de pagamento ou de benef ício . 4.3 Os pagamentos relativos aos Direitos Creditórios de titularidade da Classe serão realizados mediante consignação em folha, débito em conta de titularidade dos Devedores e pagamentos de sinistros, para pagamento dos valores correspondentes às parcelas das CCBs representadas pelos CCCBs de titularidade da Classe, os quais serão conciliados e repassados pelo Endossan</a:t>
            </a:r>
          </a:p>
          <a:p>
            <a:r>
              <a:t>CNPJ 54871427000194 · Natureza dos recebíveis · Versão e prevalência: Leitura específica das cláusulas indicadas; condições e conflitos preservados. Seleção documental atual não comprova vigência jurídica por data isolada.</a:t>
            </a:r>
          </a:p>
          <a:p>
            <a:r>
              <a:t>CNPJ 54871427000194 · Natureza dos recebíveis · Resumo do histórico: {"count": 3, "dates": ["2024-04-19", "2024-04-28"], "document_count": 2, "sources": [{"document_id": "670691", "title": "Regulamento", "reference_date": "2024-04-28", "version": "1", "page": "9, 38-39", "url": "https://fnet.bmfbovespa.com.br/fnet/publico/visualizarDocumento?id=670691", "sha256": "bf16dd7f1a62d5cdbf2e2d54fef81783783f7310fbc99c3a8f00459bdf9d037b"}, {"document_id": "670691", "title": "Regulamento", "reference_date": "2024-04-28", "version": "1", "page": 34, "clause": "15.1.5", "url": "https://fnet.bmfbovespa.com.br/fnet/publico/visualizarDocumento?id=670691", "sha256": "bf16dd7f1a62d5cdbf2e2d54fef81783783f7310fbc99c3a8f00459bdf9d037b"}, {"document_id": "670689", "title": "Regulamento", "reference_date": "2024-04-19", "version": "1", "page": 35, "clause": "15.1.5", "url": "https://fnet.bmfbovespa.com.br/fnet/publico/visualizarDocumento?id=670689", "sha256": "891bc9bc5d87bbc02ec139077a84d2702eb81ea02035fb71d24f5b8366b94a0b"}], "reference": {"path": "history/54871427000194.json", "criterion_id": "receivables", "total_count": 3, "preview_count": 3, "full_text_deferred": true, "sha256": "35d7cd99be50c7287c9fb675cf4f2e736002315295a225a9efa79c8d9186d874"}}</a:t>
            </a:r>
          </a:p>
          <a:p>
            <a:r>
              <a:t>CNPJ 60010416000112 · Natureza dos recebíveis · Regulamento · ID 1051393 · 09/10/2025 · versão Regulamento09/10/2025 · p. 9 · AnexoI4.2 · https://fnet.bmfbovespa.com.br/fnet/publico/visualizarDocumento?id=1051393</a:t>
            </a:r>
          </a:p>
          <a:p>
            <a:r>
              <a:t>CNPJ 60010416000112 · Natureza dos recebíveis · Excerto da fonte:</a:t>
            </a:r>
          </a:p>
          <a:p>
            <a:r>
              <a:t>4.2 Os Direitos Creditórios são originados no âmbito de operações de empréstimo consignado concedido pelo Endossante a um Devedor por meio da Plataforma MT e representado por CCB, devidamente formalizada por via eletrônica, de acordo com a legislação aplicável, observada a Política de Crédito constante do Contrato de Endosso. O Endossante celebrou o Convênio Consignado Privado previamente ao endosso de Direitos Creditórios Elegíveis à Classe, para que, após a averbação dos Direitos Creditórios na Dataprev, o pagamento regular dos Direitos Creditórios decorrentes das CCB seja f eito por Consignação</a:t>
            </a:r>
          </a:p>
          <a:p>
            <a:r>
              <a:t>CNPJ 60010416000112 · Natureza dos recebíveis · Versão e prevalência: Leitura específica das cláusulas indicadas; condições e conflitos preservados. Seleção documental atual não comprova vigência jurídica por data isolada.</a:t>
            </a:r>
          </a:p>
          <a:p>
            <a:r>
              <a:t>CNPJ 60010416000112 · Natureza dos recebíveis · Resumo do histórico: {"count": 2, "dates": ["2025-03-20", "2025-10-09"], "document_count": 2, "sources": [{"document_id": "1051393", "title": "Regulamento", "reference_date": "2025-10-09", "version": "1", "page": "9-11", "url": "https://fnet.bmfbovespa.com.br/fnet/publico/visualizarDocumento?id=1051393", "sha256": "8469d613078ffd5a6c1d217885d8a397a16342c0b937ae4aa24b106505f233ae"}, {"document_id": "993786", "title": "Regulamento", "reference_date": "2025-03-20", "version": "1", "page": 30, "clause": "12.5.1", "url": "https://fnet.bmfbovespa.com.br/fnet/publico/visualizarDocumento?id=993786", "sha256": "fd0fdd369a195510d81f81f505195a0b09e5f43522a990afa7d58c4f872921c8"}], "reference": {"path": "history/60010416000112.json", "criterion_id": "receivables", "total_count": 2, "preview_count": 2, "full_text_deferred": true, "sha256": "8e2bd813f4c51cf01f6bfaad164bafe69d2bbb192f753eac92da3a01c2e63046"}}</a:t>
            </a:r>
          </a:p>
          <a:p>
            <a:r>
              <a:t>CNPJ 62696791000193 · Natureza dos recebíveis · Regulamento · ID 1143317 · 20/03/2026 · versão Regulamento — referência 20/03/2026 · p. 6 · Anexo I, 1.1, Objetivo · https://fnet.bmfbovespa.com.br/fnet/publico/visualizarDocumento?id=1143317</a:t>
            </a:r>
          </a:p>
          <a:p>
            <a:r>
              <a:t>CNPJ 62696791000193 · Natureza dos recebíveis · Excerto da fonte:</a:t>
            </a:r>
          </a:p>
          <a:p>
            <a:r>
              <a:t>A Classe tem por objetivo proporcionar aos Cotistas a valorização e a rentabilidade de suas cotas (“Cotas”), conforme a política de investimentos def inida no Capítulo IV abaixo (“Política de Investimentos”), por meio de aplicação do seu Patrimônio Líquido (conforme def inido abaixo) nos seguintes ativos de origem vinculada às cadeias produtivas do agronegócio (“Direitos Creditórios do Agronegócio”): (i) títulos de crédito emitidos por pessoas naturais e jurídicas que integrem as cadeias produtivas do agronegócio; (ii) direitos creditórios do agronegócio; (iii) certificados de recebíveis do agronegócio e outros títulos de securitização emitidos com lastro em direitos creditórios do agronegócio; e (iv) certificados de recebíveis e outro</a:t>
            </a:r>
          </a:p>
          <a:p>
            <a:r>
              <a:t>CNPJ 62696791000193 · Natureza dos recebíveis · Regulamento · ID 1143317 · 20/03/2026 · versão Regulamento — referência 20/03/2026 · p. 7 · Anexo I, 1.1, Objetivo · https://fnet.bmfbovespa.com.br/fnet/publico/visualizarDocumento?id=1143317</a:t>
            </a:r>
          </a:p>
          <a:p>
            <a:r>
              <a:t>CNPJ 62696791000193 · Natureza dos recebíveis · Excerto da fonte:</a:t>
            </a:r>
          </a:p>
          <a:p>
            <a:r>
              <a:t>(i) participações em sociedades que explorem atividades integrantes das cadeias produtivas do agronegócio. (C) Categoria “Financeiro” (“Ativos Financeiros do Agronegócio Financeiros”): (i) ativos f inanceiros e valores mobiliários emitidos por pessoas naturais e jurídicas que integrem as cadeias produtivas do agronegócio. (D) Categoria “Geral” (“Ativos em Geral do Agronegócio”): (i) cotas de classes que apliquem mais de 50% (cinquenta por cento) de seu patrimônio líquido nos ativos referidos nos incisos “A” a “D” acima, o que inclui cotas de outros FIAGRO, mas não se limita a essa categoria de f undos. Os Ativos Imobiliários do Agronegócio, Participações do Agronegócio,</a:t>
            </a:r>
          </a:p>
          <a:p>
            <a:r>
              <a:t>CNPJ 62696791000193 · Natureza dos recebíveis · Versão e prevalência: Leitura específica das cláusulas indicadas; condições e conflitos preservados. Seleção documental atual não comprova vigência jurídica por data isolada.</a:t>
            </a:r>
          </a:p>
          <a:p>
            <a:r>
              <a:t>CNPJ 55563624000109 · Natureza dos recebíveis · Regulamento · ID 1192614 · 30/04/2026 · versão Regulamento30/04/2026 · p. 11 · AnexoI4.1 · https://fnet.bmfbovespa.com.br/fnet/publico/visualizarDocumento?id=1192614</a:t>
            </a:r>
          </a:p>
          <a:p>
            <a:r>
              <a:t>CNPJ 55563624000109 · Natureza dos recebíveis · Excerto da fonte:</a:t>
            </a:r>
          </a:p>
          <a:p>
            <a:r>
              <a:t>4.1 Observados os demais termos deste Anexo, o objetivo da Classe é investir seus recursos em (i) cotas subordinadas mezanino de emissão da classe única do MERCADO CRÉDITO II BRASIL FUNDO DE INVESTIMENTO EM DIREITOS CREDITÓRIOS NÃO PADRONIZADOS, fundo de investimento em direitos creditórios inscrito no CNPJ sob o nº 41.970.012/0001-26 (“Cotas da Classe Investida” e “Classe Investida”, respectivamente), a qual, por sua vez, aplica seus recursos preponderantemente em direitos creditórios originados pela Mercado Pago, de acordo com os termos e condições est</a:t>
            </a:r>
          </a:p>
          <a:p>
            <a:r>
              <a:t>CNPJ 55563624000109 · Natureza dos recebíveis · Regulamento · ID 1192614 · 30/04/2026 · versão Regulamento30/04/2026 · p. 12 · AnexoI4.5 · https://fnet.bmfbovespa.com.br/fnet/publico/visualizarDocumento?id=1192614</a:t>
            </a:r>
          </a:p>
          <a:p>
            <a:r>
              <a:t>CNPJ 55563624000109 · Natureza dos recebíveis · Excerto da fonte:</a:t>
            </a:r>
          </a:p>
          <a:p>
            <a:r>
              <a:t>4.5 Uma vez que o investimento nas Cotas da Classe Investida não corresponde a um investimento direto em direitos creditórios, uma série de disposições comuns à securitização de direitos creditórios não será aplicável ao investimento nas Cotas da Classe Investida. A título meramente exemplificativo, não existem processos de originação ou política de concessão de crédito adotada pelo GESTOR, tampouco há que se falar em verificação ou guarda de documentos comprobatórios que não sejam referentes às Cotas da Classe Investida. Da mesma forma, não há necessida</a:t>
            </a:r>
          </a:p>
          <a:p>
            <a:r>
              <a:t>CNPJ 55563624000109 · Natureza dos recebíveis · Versão e prevalência: Leitura específica das cláusulas indicadas; condições e conflitos preservados. Seleção documental atual não comprova vigência jurídica por data isolada.</a:t>
            </a:r>
          </a:p>
          <a:p>
            <a:r>
              <a:t>CNPJ 55563624000109 · Natureza dos recebíveis · Resumo do histórico: {"count": 4, "dates": ["2025-01-31", "2026-01-31", "2026-04-30"], "document_count": 3, "sources": [{"document_id": "1192614", "title": "Regulamento", "reference_date": "2026-04-30", "version": "1", "page": "11", "url": "https://fnet.bmfbovespa.com.br/fnet/publico/visualizarDocumento?id=1192614", "sha256": "f56e63ace0acde41d2f47fb48f1ac7f3f7df5e2d32de092d7c5e075a52516632"}, {"document_id": "1178840", "title": "Demonstrações Financeiras", "reference_date": "2026-01-31", "version": "1", "page": 16, "url": "https://fnet.bmfbovespa.com.br/fnet/publico/visualizarDocumento?id=1178840", "sha256": "c458e98664c5c907ddb5a05a94b120bed4e05295b2bfc420f5ba69af0a229abe"}, {"document_id": "891861", "title": "Demonstrações Financeiras", "reference_date": "2025-01-31", "version": "1", "page": 16, "url": "https://fnet.bmfbovespa.com.br/fnet/publico/visualizarDocumento?id=891861", "sha256": "e9cb9e6ddbe505fe068cfcac33605165a98313489de0d3ce6d4d238263c3f3e7"}], "reference": {"path": "history/55563624000109.json", "criterion_id": "receivables", "total_count": 4, "preview_count": 3, "full_text_deferred": true, "sha256": "7835d573fb58a3c19adf5b8ecc2aee2bdbb9a88f7a0c0209b5f262b64c7522e3"}}</a:t>
            </a:r>
          </a:p>
          <a:p>
            <a:r>
              <a:t>CNPJ 62552447000120 · Natureza dos recebíveis · Regulamento · ID 1200623 · 21/05/2026 · versão Consolidado21/05/2026 aprovado pelo ato1200625 · p. 11 · AnexoI4.2–4.3 · https://fnet.bmfbovespa.com.br/fnet/publico/visualizarDocumento?id=1200623</a:t>
            </a:r>
          </a:p>
          <a:p>
            <a:r>
              <a:t>CNPJ 62552447000120 · Natureza dos recebíveis · Excerto da fonte:</a:t>
            </a:r>
          </a:p>
          <a:p>
            <a:r>
              <a:t>4.2 Os Direitos Creditórios Consignado Privado e os Direitos Creditórios FGTS são originados no âmbito de CCBs emitidas eletronicamente pelos Devedores ao Endossante, representando, respectivamente, empréstimos consignados, com desconto em f olha de pagamento, e empréstimos pessoais, com garantia de cessão f iduciária do Saque-aniversário. 4.3 A operacionalização é f eita por meio da plataforma eletrônica mantida pelo Originador e utilizada por ele em relação ao processamento e monitoramento das operações de crédito (“Plataforma VR”), de acordo com a legislação aplicável, observada a política de crédit</a:t>
            </a:r>
          </a:p>
          <a:p>
            <a:r>
              <a:t>CNPJ 62552447000120 · Natureza dos recebíveis · Regulamento · ID 1200623 · 21/05/2026 · versão Consolidado21/05/2026 aprovado pelo ato1200625 · p. 6 · AnexoI1.2 Direitos Creditórios(d) · https://fnet.bmfbovespa.com.br/fnet/publico/visualizarDocumento?id=1200623</a:t>
            </a:r>
          </a:p>
          <a:p>
            <a:r>
              <a:t>CNPJ 62552447000120 · Natureza dos recebíveis · Excerto da fonte:</a:t>
            </a:r>
          </a:p>
          <a:p>
            <a:r>
              <a:t>Refinanciamento Livre”, na forma de CCBs originadas no âmbito de um refinanciamento, de acordo com a política de cobrança vigente, de Direitos Creditórios Consignado Privado e de Direitos Creditórios FGTS, que não contem com o lastro de Consignação ou de cessão f iduciária do Saque-Aniversário, respectivamente; e (ii) “Ativos Financei</a:t>
            </a:r>
          </a:p>
          <a:p>
            <a:r>
              <a:t>CNPJ 62552447000120 · Natureza dos recebíveis · Condição: Direitos de refinanciamento livre têm mecanismo de pagamento diferente do consignado/FGTS original.</a:t>
            </a:r>
          </a:p>
          <a:p>
            <a:r>
              <a:t>CNPJ 62552447000120 · Natureza dos recebíveis · Versão e prevalência: Leitura específica das cláusulas indicadas; condições e conflitos preservados. Seleção documental atual não comprova vigência jurídica por data isolada.</a:t>
            </a:r>
          </a:p>
          <a:p>
            <a:r>
              <a:t>CNPJ 63953620000165 · Natureza dos recebíveis · Anexo ao Regulamento · ID 1222863 · 02/06/2026 · versão AnexoConsignadoPrivado02/06/2026 · p. 5 · 4.4 · https://fnet.bmfbovespa.com.br/fnet/publico/visualizarDocumento?id=1222863</a:t>
            </a:r>
          </a:p>
          <a:p>
            <a:r>
              <a:t>CNPJ 63953620000165 · Natureza dos recebíveis · Excerto da fonte:</a:t>
            </a:r>
          </a:p>
          <a:p>
            <a:r>
              <a:t>4.4 Os Direitos Creditórios Consignado Privado são originados no âmbito de operações de empréstimo consignado concedido pelo Endossante a um Devedor por meio da plataforma eletrônica mantida pelo Agente de Retenção/ Cobrança e utilizada por ele em relação ao processamento e monitoramento das operações de crédito consignado (“Plataforma MT”) e representado por CCB, devidamente formalizada por via eletrônica, de acordo com a legislação aplicável, observada a política de crédito constante do Contrato de Endosso. O Endossante celebrou o Convênio Consignado Privado previamente ao endosso de Direitos Creditórios Elegíveis à Clas</a:t>
            </a:r>
          </a:p>
          <a:p>
            <a:r>
              <a:t>CNPJ 63953620000165 · Natureza dos recebíveis · Anexo ao Regulamento · ID 1222863 · 02/06/2026 · versão AnexoConsignadoPrivado02/06/2026 · p. 1 · 1.1Objetivo · https://fnet.bmfbovespa.com.br/fnet/publico/visualizarDocumento?id=1222863</a:t>
            </a:r>
          </a:p>
          <a:p>
            <a:r>
              <a:t>CNPJ 63953620000165 · Natureza dos recebíveis · Excerto da fonte:</a:t>
            </a:r>
          </a:p>
          <a:p>
            <a:r>
              <a:t>Direitos Creditórios Crédito Consignado”, representados por cédula de crédito bancário regida pela Lei nº 10.931, emitida eletronicamente por um devedor em favor do endossante (“CCB”) e, consequentemente, os recebíveis decorrente de cada uma das parcelas vincendas, representando um empréstimo consignado concedido pelo endossante ao devedor, e cujo pagamento ordinário é feito por desconto de cada prestação vincenda de uma CCB na folha de</a:t>
            </a:r>
          </a:p>
          <a:p>
            <a:r>
              <a:t>CNPJ 63953620000165 · Natureza dos recebíveis · Versão e prevalência: Leitura específica das cláusulas indicadas; condições e conflitos preservados. Seleção documental atual não comprova vigência jurídica por data isolada.</a:t>
            </a:r>
          </a:p>
          <a:p>
            <a:r>
              <a:t>CNPJ 63953620000165 · Natureza dos recebíveis · Resumo do histórico: {"count": 8, "dates": ["2026-04-28", "2026-05-08", "2026-05-15"], "document_count": 3, "sources": [{"document_id": "1327859", "title": "Demonstrações Financeiras - Fusão, cisão e incorporação", "reference_date": "2026-05-15", "version": "1", "page": 21, "url": "https://fnet.bmfbovespa.com.br/fnet/publico/visualizarDocumento?id=1327859", "sha256": "dca1c68babb97f887528c3e2e47596a9c30f507b067981a35655b2f2da9c8054"}, {"document_id": "1298691", "title": "Demonstrações Financeiras - Fusão, cisão e incorporação", "reference_date": "2026-05-08", "version": "1", "page": 24, "url": "https://fnet.bmfbovespa.com.br/fnet/publico/visualizarDocumento?id=1298691", "sha256": "58c570d9b8d4d265330d3db3ea81c435b8e44a6dab4002aa37790652a1ee9819"}, {"document_id": "1282180", "title": "Demonstrações Financeiras - Fusão, cisão e incorporação", "reference_date": "2026-04-28", "version": "1", "page": 24, "url": "https://fnet.bmfbovespa.com.br/fnet/publico/visualizarDocumento?id=1282180", "sha256": "afaaa0e6809be4385e5bdb6c911aac582032c5bdbac3d7750234bf9eaf00438a"}], "reference": {"path": "history/63953620000165.json", "criterion_id": "receivables", "total_count": 8, "preview_count": 3, "full_text_deferred": true, "sha256": "a7b89077f5e21098c2d601c303faabc3ff6b9729f89d8afecdc60fe1404720c1"}}</a:t>
            </a:r>
          </a:p>
          <a:p>
            <a:r>
              <a:t>CNPJ 54871427000194 · Originador e endossante · Regulamento · ID 670691 · 2024-04-28 · versão 1 · p. 11 · 4.11.2 · https://fnet.bmfbovespa.com.br/fnet/publico/visualizarDocumento?id=670691</a:t>
            </a:r>
          </a:p>
          <a:p>
            <a:r>
              <a:t>CNPJ 54871427000194 · Originador e endossante · Excerto da fonte:</a:t>
            </a:r>
          </a:p>
          <a:p>
            <a:r>
              <a:t>4.11.2 A Classe poderá ter até 100% (cem por cento) do Patrimônio Líquido representado por Direitos  Creditórios originados ou cedidos por um mesmo Endossante e/ou originados por um mesmo  Originador.</a:t>
            </a:r>
          </a:p>
          <a:p>
            <a:r>
              <a:t>CNPJ 54871427000194 · Originador e endossante · Regulamento · ID 670691 · 2024-04-28 · versão 1 · p. 13 · 4.17 · https://fnet.bmfbovespa.com.br/fnet/publico/visualizarDocumento?id=670691</a:t>
            </a:r>
          </a:p>
          <a:p>
            <a:r>
              <a:t>CNPJ 54871427000194 · Originador e endossante · Excerto da fonte:</a:t>
            </a:r>
          </a:p>
          <a:p>
            <a:r>
              <a:t>4.17 É vedada qualquer forma de antecipação de recursos aos Endossantes para posterior reembolso pela  Classe, seja pelo ADMINISTRADOR, GESTOR, CUSTODIANTE, consultora ou Originadores.</a:t>
            </a:r>
          </a:p>
          <a:p>
            <a:r>
              <a:t>CNPJ 54871427000194 · Originador e endossante · Regulamento · ID 670691 · 2024-04-28 · versão 1 · p. 34 · 15.1.5 · https://fnet.bmfbovespa.com.br/fnet/publico/visualizarDocumento?id=670691</a:t>
            </a:r>
          </a:p>
          <a:p>
            <a:r>
              <a:t>CNPJ 54871427000194 · Originador e endossante · Excerto da fonte:</a:t>
            </a:r>
          </a:p>
          <a:p>
            <a:r>
              <a:t>15.1.5 Outros Riscos:</a:t>
            </a:r>
          </a:p>
          <a:p>
            <a:r>
              <a:t> (i) Cobrança judicial ou extrajudicial dos Direitos Creditórios. No caso de os  Devedores inadimplirem as obrigações dos pagamentos dos Direitos Creditórios de titularidade  da Classe, poderá haver cobrança judicial e/ou extrajudicial dos valores devidos. Neste caso,  além da Classe incorrer em maiores custos relacionados à cobrança dos Direitos Creditórios  Inadimplidos, nada garante que ref eridas cobranças atingirão os resultados almejados, qual  seja, a recuperação do valor integral dos Direitos Creditórios Inadimplidos. Nesta hipótese, a  rentabilidade da Classe será af etada negativamente.</a:t>
            </a:r>
          </a:p>
          <a:p>
            <a:r>
              <a:t> (ii) Dif iculdade de obtenção de indenização ou recompra de Direitos Creditórios.</a:t>
            </a:r>
          </a:p>
          <a:p>
            <a:r>
              <a:t> Considerando a possibilidade de aquisição de Direitos Creditórios de terceiros — isso é  Endossantes que, por sua vez, adquiram os Direitos Creditórios de forma secundária, por meio  da cessão ou endosso realizado por credores anteriores da CCB — caso ocorram situações  que ensejem em recompra de tais Direitos Creditórios e/ou indenização, a Classe poderá ter  dif iculdades adicionais em obter tais indenizações e/ou recompras, na medida em que o direito  a tais indenizações e/ou recompras não está previsto em cada CCB, mas em contratos e  instrumentos dos quais a Classe não é originalmente parte, o que poderá causar perdas à  Classe e, consequentemente, aos Cotistas.</a:t>
            </a:r>
          </a:p>
          <a:p>
            <a:r>
              <a:t> (iii) Risco de concentração. O risco da aplicação na Classe possui forte correlação  com a concentração da Carteira, sendo que, quanto maior f or a concentração da Carteira,  maior será a chance de a Classe sofrer perda patrimonial significativa que afete negativamente  a rentabilidade das Cotas. A Classe não possui limite de concentração por Devedor ou  originador dos Direitos Creditórios, exceto por aqueles previstos na Resolução CVM  175, razão pela qual a Classe poderá estar exposto a significativa concentração por  Devedor. Não é possível garantir que os limites de concentração contidos na Política de  Investimentos, ainda que atendidos, serão suficientes que o Patrimônio Líquido não sofra  perdas que possam af etar a rentabilidade das Cotas.</a:t>
            </a:r>
          </a:p>
          <a:p>
            <a:r>
              <a:t> (iv) Possibilidade de conflito de interesses entre a Classe e os Originadores. Os  Originadores podem possuir relacionamento comercial com os Endossantes e/ou Devedores,  de modo que, em determinadas circunstâncias seus interesses podem ser conflitantes com os  interesses da Classe. Não é possível garantir que, materializada uma situação de conflito de  interesses conforme descrita acima, o Originador exponha-a adequadamente ao  ADMINISTRADOR e/ou aos Cotistas, ou que o f aça absolutamente, tampouco que agirá no  melhor no interesse da Classe. Nesses casos, a Classe pode vir a adquirir Direitos Creditórios  ou pode vir a ter seus Direitos Creditórios Inadimplidos pagos em condições comparativamente  menos vantajosas àquelas que seriam verificadas na ausência de tais conflitos de interesses.</a:t>
            </a:r>
          </a:p>
          <a:p>
            <a:r>
              <a:t> Nesses casos, o Patrimônio Líquido pode ser af etado adversamente.</a:t>
            </a:r>
          </a:p>
          <a:p>
            <a:r>
              <a:t> (v) Possibilidade de conflito de interesses entre Cotistas. As Cotas poderão ser  adquiridas por investidores que sejam sociedades coligadas, controladas ou controladoras,</a:t>
            </a:r>
          </a:p>
          <a:p>
            <a:r>
              <a:t>CNPJ 54871427000194 · Originador e endossante · Condição: Documentos atuais selecionados no inventário por categoria/escopo; a data documental isolada não comprova vigência jurídica.</a:t>
            </a:r>
          </a:p>
          <a:p>
            <a:r>
              <a:t>CNPJ 54871427000194 · Originador e endossante · Versão e prevalência: Documentos atuais selecionados no inventário por categoria/escopo; a data documental isolada não comprova vigência jurídica.</a:t>
            </a:r>
          </a:p>
          <a:p>
            <a:r>
              <a:t>CNPJ 54871427000194 · Originador e endossante · Resumo do histórico: {"count": 2, "dates": ["2024-04-19", "2024-04-28"], "document_count": 2, "sources": [{"document_id": "670691", "title": "Regulamento", "reference_date": "2024-04-28", "version": "1", "page": "9, 39", "url": "https://fnet.bmfbovespa.com.br/fnet/publico/visualizarDocumento?id=670691", "sha256": "bf16dd7f1a62d5cdbf2e2d54fef81783783f7310fbc99c3a8f00459bdf9d037b"}, {"document_id": "670689", "title": "Regulamento", "reference_date": "2024-04-19", "version": "1", "page": 9, "clause": "4.5", "url": "https://fnet.bmfbovespa.com.br/fnet/publico/visualizarDocumento?id=670689", "sha256": "891bc9bc5d87bbc02ec139077a84d2702eb81ea02035fb71d24f5b8366b94a0b"}], "reference": {"path": "history/54871427000194.json", "criterion_id": "originator", "total_count": 2, "preview_count": 2, "full_text_deferred": true, "sha256": "35d7cd99be50c7287c9fb675cf4f2e736002315295a225a9efa79c8d9186d874"}}</a:t>
            </a:r>
          </a:p>
          <a:p>
            <a:r>
              <a:t>CNPJ 60010416000112 · Originador e endossante · Regulamento · ID 1051393 · 09/10/2025 · versão Regulamento09/10/2025 · p. 44 · Glossário, Endossante · https://fnet.bmfbovespa.com.br/fnet/publico/visualizarDocumento?id=1051393</a:t>
            </a:r>
          </a:p>
          <a:p>
            <a:r>
              <a:t>CNPJ 60010416000112 · Originador e endossante · Excerto da fonte:</a:t>
            </a:r>
          </a:p>
          <a:p>
            <a:r>
              <a:t>“Endossante”: a Parati Crédito, Financiamento e Investimento S.A., instituição financeira constituída na forma de uma sociedade por ações, com sede na cidade de Vitória, estado do Espírito Santo, na Avenida Nossa Senhora da Penha, 699, torre A, conjuntos 404 a 407, Santa Lúcia, CEP 29.056-250, inscrita no CNPJ sob nº 03.311.443/0001-91; "Entidade Registradora": instituição autorizada pelo BACEN para realizar as atividades de registro e constituição, alteração e desconstituição de ônus e gravames sobre ativos f inanceiros registrados; “Escrituração”: significa a escrituração da Consignação a ser realizada pelo Empregador, junto ao eSocial, após recebimento de notif icação comunicando-o da contratação, pelo Devedor, do empréstimo a ser pago por Consignação; “Eventos de Avaliação”: os eventos de avaliação descritos no item 10.1 deste Anexo; “Eventos de Liquidação”: os eventos de liquidação descritos no item 10.3 deste Anexo; BTG Pactual SAC: 0800 772 28 27 - Ouvidoria: 0800 722 00 48 - btgpactual.com 44</a:t>
            </a:r>
          </a:p>
          <a:p>
            <a:r>
              <a:t>CNPJ 60010416000112 · Originador e endossante · Regulamento · ID 1051393 · 09/10/2025 · versão Regulamento09/10/2025 · p. 41 · Glossário, Agente de Retenção/Cobrança · https://fnet.bmfbovespa.com.br/fnet/publico/visualizarDocumento?id=1051393</a:t>
            </a:r>
          </a:p>
          <a:p>
            <a:r>
              <a:t>CNPJ 60010416000112 · Originador e endossante · Excerto da fonte:</a:t>
            </a:r>
          </a:p>
          <a:p>
            <a:r>
              <a:t>“Agente de Retenção/Cobrança”: significa a Tudo Serviços S.A., sociedade por ações com sede na Cidade de Eusébio, Estado do Ceará, na Comendador Ari Freitas, 577, CEP 61.760-000, inscrita no CNPJ sob nº 27.852.506/0001-85; “Agente Escriturador”: O Administrador, o qual se encontra devidamente habilitado pela CVM para prestar os serviços de escrituração das Cotas, ou seu sucessor a qualquer título; “Amortização”: signif ica cada uma das amortizações ordinárias de Cotas; “Amortização Extraordinária”: amortização extraordinária das Cotas Seniores, conforme deliberado pela Assembleia Especial de Cotistas, para reestabelecer o Índice de Subordinação, nos termos do item 5.5.1 do Anexo I; "ANBIMA": Associação Brasileira das Entidades dos Mercados Financeiro e de Capitais; "Código ANBIMA": Código ANBIMA de Regulação e Melhores Práticas para Administração de Recursos de Terceiros “Anexos”: tem o signif icado atribuído no Art. 3, inciso IV, da Resolução CVM 175, Parte Geral; “Apêndice”: cada um dos apêndices que integram este Anexo, descritivos de cada Subclasse de Cotas ou de aspectos aplicáveis à Classe; "Arquivos Dataprev": Arquivo de Consignações fornecido mensalmente pela Dataprev ao Endossante, contendo a totalidade das operações pend</a:t>
            </a:r>
          </a:p>
          <a:p>
            <a:r>
              <a:t>CNPJ 60010416000112 · Originador e endossante · Regulamento · ID 1051393 · 09/10/2025 · versão Regulamento09/10/2025 · p. 28 · AnexoI11.23 · https://fnet.bmfbovespa.com.br/fnet/publico/visualizarDocumento?id=1051393</a:t>
            </a:r>
          </a:p>
          <a:p>
            <a:r>
              <a:t>CNPJ 60010416000112 · Originador e endossante · Excerto da fonte:</a:t>
            </a:r>
          </a:p>
          <a:p>
            <a:r>
              <a:t>Tudo Serviços S.A., sociedade anônima, com sede no município de Eusébio, Estado do Ceará, na Comendador Ari Freitas, 577, CEP 61.760-000, inscrita no CNPJ sob o nº 27.852.506/0001-85, cujos deveres, sem prejuízo daqueles estabelecidos neste Regulamento, no Contrato de Serviços MT e no Contrato de Endosso, consistirão no monitoramento e cobrança dos Direitos Creditórios Inadimplidos, observado o disposto neste Anexo I e na regulamentação aplicável: (i) caso aplicável, atuar na retenção (defesa) de operações de empréstimo consignado cujos Direitos Creditórios sejam de titularidade da Classe, em caso d</a:t>
            </a:r>
          </a:p>
          <a:p>
            <a:r>
              <a:t>CNPJ 60010416000112 · Originador e endossante · Versão e prevalência: Leitura específica das cláusulas indicadas; condições e conflitos preservados. Seleção documental atual não comprova vigência jurídica por data isolada.</a:t>
            </a:r>
          </a:p>
          <a:p>
            <a:r>
              <a:t>CNPJ 60010416000112 · Originador e endossante · Resumo do histórico: {"count": 2, "dates": ["2025-03-20", "2025-10-09"], "document_count": 2, "sources": [{"document_id": "1051393", "title": "Regulamento", "reference_date": "2025-10-09", "version": "1", "page": "41-43", "url": "https://fnet.bmfbovespa.com.br/fnet/publico/visualizarDocumento?id=1051393", "sha256": "8469d613078ffd5a6c1d217885d8a397a16342c0b937ae4aa24b106505f233ae"}, {"document_id": "993786", "title": "Regulamento", "reference_date": "2025-03-20", "version": "1", "page": 25, "clause": "11.8", "url": "https://fnet.bmfbovespa.com.br/fnet/publico/visualizarDocumento?id=993786", "sha256": "fd0fdd369a195510d81f81f505195a0b09e5f43522a990afa7d58c4f872921c8"}], "reference": {"path": "history/60010416000112.json", "criterion_id": "originator", "total_count": 2, "preview_count": 2, "full_text_deferred": true, "sha256": "8e2bd813f4c51cf01f6bfaad164bafe69d2bbb192f753eac92da3a01c2e63046"}}</a:t>
            </a:r>
          </a:p>
          <a:p>
            <a:r>
              <a:t>CNPJ 62696791000193 · Originador e endossante · Regulamento · ID 1143317 · 20/03/2026 · versão Regulamento — referência 20/03/2026 · p. 10 · Anexo I, 4.4 e 4.6 · https://fnet.bmfbovespa.com.br/fnet/publico/visualizarDocumento?id=1143317</a:t>
            </a:r>
          </a:p>
          <a:p>
            <a:r>
              <a:t>CNPJ 62696791000193 · Originador e endossante · Excerto da fonte:</a:t>
            </a:r>
          </a:p>
          <a:p>
            <a:r>
              <a:t>4.4 Tendo em vista (i) a natureza variada dos Direitos Creditórios do Agronegócio passíveis de aquisição pela Classe; (ii) a amplitude da Política de Investimentos; e (iii) a potencial diversificação de Cedentes/Endossantes e Devedores, não é possível precisar os processos de origem dos Direitos Creditórios do Agronegócio e as políticas de concessão de crédito adotadas pelos Cedentes/Endossantes. 4.5 Os Direitos Creditórios do Agronegócio deverão contar com toda a documentação necessária para o exercício das prerrogativas decorrentes da titularidade dos ativos, e capaz de comprovar a origem, a existência e a exigibilidade dos Direitos Creditórios do Agronegócio (“Documentos Comprobatórios”) que evidenciem sua existência, validade e exequibilidade perante os respectivos Devedores. 4.5.1 Os Direitos Creditórios do Agronegócio serão adquiridos pela Classe por meio: (i) de contratos de cessão e/ou termos de cessão (“Contratos de Cessão”), contratos de promessa de endosso e/ou termos de endosso (“Contratos de Endosso”) firmados entre a Classe e os respectivos cedentes (“Cedentes”) / endossantes (“Endossantes”), acompanhados de todos os direitos, pri</a:t>
            </a:r>
          </a:p>
          <a:p>
            <a:r>
              <a:t>CNPJ 62696791000193 · Originador e endossante · Condição: A afirmação descreve um mandato amplo; não identifica contrapartes efetivamente presentes no IME.</a:t>
            </a:r>
          </a:p>
          <a:p>
            <a:r>
              <a:t>CNPJ 62696791000193 · Originador e endossante · Versão e prevalência: Leitura específica das cláusulas indicadas; condições e conflitos preservados. Seleção documental atual não comprova vigência jurídica por data isolada.</a:t>
            </a:r>
          </a:p>
          <a:p>
            <a:r>
              <a:t>CNPJ 55563624000109 · Originador e endossante · Regulamento · ID 1192614 · 2026-04-30 · versão 1 · p. 32 · https://fnet.bmfbovespa.com.br/fnet/publico/visualizarDocumento?id=1192614</a:t>
            </a:r>
          </a:p>
          <a:p>
            <a:r>
              <a:t>CNPJ 55563624000109 · Originador e endossante · Excerto da fonte:</a:t>
            </a:r>
          </a:p>
          <a:p>
            <a:r>
              <a:t>(b) Questionamento judicial. Os devedores podem questionar judicialmente (1) a validade  dos direitos creditórios, inclusive em razão da legalidade dos limites de crédito  concedidos pelo originador ou cedente e das taxas de juros praticadas, antes e/ou após  a sua transferência para a Classe Investida; e/ou (2) os termos e condições da  transferência dos direitos creditórios à Classe Investida. Em qualquer caso, é possível  que a Classe Investida não receba parte ou a totalidade dos valores relativos aos  direitos creditórios de sua titularidade objeto de questionamento judicial.</a:t>
            </a:r>
          </a:p>
          <a:p>
            <a:r>
              <a:t> (c) Risco de originação de direitos creditórios. Os direitos creditórios a serem adquiridos  pela Classe Investida são decorrentes de operações de empréstimo específicas  envolvendo as operações do Mercado Pago, conforme detalhadas no regulamento da  Classe Investida. Na hipótese de não originação, originação insuficiente ou  indisponibilidade para aquisição pelo Classe Investida, por qualquer motivo, inclusive  em caso de redução ou descontinuidade das operações regulares dos cedentes, de  direitos creditórios que satisfaçam os critérios de elegibilidade, as condições de cessão  e a política de investimento, composição e diversificação da carteira da Classe Investida  descrita em seu regulamento, a Classe Investida poderá ser incapaz de alocar a  totalidade de seus recursos, o que poderá inviabilizar a realização das chamadas de  capital por seu administrador, afetando negativamente a continuidade da Classe  Investida, a expectativa de seus cotistas, incluindo a Classe, com relação ao seu  horizonte de investimento, a rentabilidade da Classe Investida e, consequentemente, o  valor das Cotas da Classe Investida, impactando assim a Classe e os investimentos dos  Cotistas em Cotas.</a:t>
            </a:r>
          </a:p>
          <a:p>
            <a:r>
              <a:t> (d) Originação por meio fraudulento. A Classe Investida pode adquirir direitos creditórios  que tenham sido originados por meio fraudulento. Nesse caso, a Classe Investida não  poderá exigir o pagamento dos respectivos valores por parte dos devedores lesados,  restando-lhe somente exigir do cedente o pagamento do valor correspondente aos  direitos creditórios fraudulentos, na forma prevista no respectivo contrato de cessão. A  restituição devida pelo cedente poderá demorar a ser realizada ou simplesmente não  ocorrer. Em ambos os casos, o patrimônio da Classe Investida seria impactado  negativamente, igualmente afetando, consequentemente, a Classe.</a:t>
            </a:r>
          </a:p>
          <a:p>
            <a:r>
              <a:t> (e) Questionamento da validade e da eficácia da cessão dos Direitos Creditórios. A validade  e a eficácia da cessão dos direitos creditórios à Classe Investida poderão ser  questionadas, inclusive em decorrência de intervenção, liquidação, Regime de  Administração Especial Temporária (RAET), pedido de recuperação judicial, falência,  plano de recuperação extrajudicial ou outro procedimento de natureza similar  originador ou do cedente. A titularidade direitos creditórios poderá vir a ser  questionada caso (1) haja garantias reais sobre os direitos creditórios, constituídas  antes da sua cessão e sem o conhecimento da Classe Investida; (2) ocorra a penhora ou  outra forma de constrição judicial sobre os direitos creditórios, antes da sua cessão e sem  o conhecimento da Classe Investida; (3) seja verificada, em processo judicial, fraude  contra credores ou fraude à execução praticada pelo respectivo originador ou cedente;</a:t>
            </a:r>
          </a:p>
          <a:p>
            <a:r>
              <a:t> ou (4) a cessão dos direitos creditórios à Classe Investida seja revogada, quando restar  comprovado que foi praticada com a intenção de prejudicar os credores do originador  ou do cedente. Em qualquer hipótese, os direitos creditórios integrantes da carteira da  Classe Investida poderão ser bloqueados ou redirecionados para o pagamento de  outras obrigações do originador ou cedente, afetando negativamente os patrimônios  da Classe Investida e a rentabilidade das suas cotas.</a:t>
            </a:r>
          </a:p>
          <a:p>
            <a:r>
              <a:t>CNPJ 55563624000109 · Originador e endossante · Regulamento · ID 1192614 · 2026-04-30 · versão 1 · p. 28 · https://fnet.bmfbovespa.com.br/fnet/publico/visualizarDocumento?id=1192614</a:t>
            </a:r>
          </a:p>
          <a:p>
            <a:r>
              <a:t>CNPJ 55563624000109 · Originador e endossante · Excerto da fonte:</a:t>
            </a:r>
          </a:p>
          <a:p>
            <a:r>
              <a:t>Classe, na forma da regulamentação aplicável, observado que os prestadores de serviços eventualmente  subcontratados não podem ser, em relação à Classe, o originador, cedente, o GESTOR, consultoria especializada  ou partes a eles relacionadas, tais como definidas nas regras contábeis que tratam desse assunto.</a:t>
            </a:r>
          </a:p>
          <a:p>
            <a:r>
              <a:t>CNPJ 55563624000109 · Originador e endossante · Condição: Documentos atuais selecionados no inventário por categoria/escopo; a data documental isolada não comprova vigência jurídica.</a:t>
            </a:r>
          </a:p>
          <a:p>
            <a:r>
              <a:t>CNPJ 55563624000109 · Originador e endossante · Versão e prevalência: Documentos atuais selecionados no inventário por categoria/escopo; a data documental isolada não comprova vigência jurídica.</a:t>
            </a:r>
          </a:p>
          <a:p>
            <a:r>
              <a:t>CNPJ 55563624000109 · Originador e endossante · Resumo do histórico: {"count": 3, "dates": ["2025-01-31", "2026-01-31", "2026-04-30"], "document_count": 3, "sources": [{"document_id": "1192614", "title": "Regulamento", "reference_date": "2026-04-30", "version": "1", "page": "11", "url": "https://fnet.bmfbovespa.com.br/fnet/publico/visualizarDocumento?id=1192614", "sha256": "f56e63ace0acde41d2f47fb48f1ac7f3f7df5e2d32de092d7c5e075a52516632"}, {"document_id": "1178840", "title": "Demonstrações Financeiras", "reference_date": "2026-01-31", "version": "1", "page": 16, "url": "https://fnet.bmfbovespa.com.br/fnet/publico/visualizarDocumento?id=1178840", "sha256": "c458e98664c5c907ddb5a05a94b120bed4e05295b2bfc420f5ba69af0a229abe"}, {"document_id": "891861", "title": "Demonstrações Financeiras", "reference_date": "2025-01-31", "version": "1", "page": 16, "url": "https://fnet.bmfbovespa.com.br/fnet/publico/visualizarDocumento?id=891861", "sha256": "e9cb9e6ddbe505fe068cfcac33605165a98313489de0d3ce6d4d238263c3f3e7"}], "reference": {"path": "history/55563624000109.json", "criterion_id": "originator", "total_count": 3, "preview_count": 3, "full_text_deferred": true, "sha256": "7835d573fb58a3c19adf5b8ecc2aee2bdbb9a88f7a0c0209b5f262b64c7522e3"}}</a:t>
            </a:r>
          </a:p>
          <a:p>
            <a:r>
              <a:t>CNPJ 62552447000120 · Originador e endossante · Regulamento · ID 1200623 · 21/05/2026 · versão Consolidado21/05/2026 aprovado pelo ato1200625 · p. 12 · AnexoI4.4.1(i) · https://fnet.bmfbovespa.com.br/fnet/publico/visualizarDocumento?id=1200623</a:t>
            </a:r>
          </a:p>
          <a:p>
            <a:r>
              <a:t>CNPJ 62552447000120 · Originador e endossante · Excerto da fonte:</a:t>
            </a:r>
          </a:p>
          <a:p>
            <a:r>
              <a:t>BANCO VR S.A., instituição f inanceira, com sede no município e Estado de São Paulo, na Av. Dos Bandeirantes, n.º 460, Brooklin Paulista, CEP 04553-900, inscrita no CNPJ sob o n.º 78.626.983/0001- 63, ou qualquer outra sociedade do mesmo grupo econômico, na qualidade de endossante (“Endossante”), acompanhados de todos os direitos, privilégios, pref erências, prerrogativas, ações e garantias assegurados aos seus titulares; (ii) da subscrição de títulos de crédito e/ou valores mobiliários, incluindo, mas não se</a:t>
            </a:r>
          </a:p>
          <a:p>
            <a:r>
              <a:t>CNPJ 62552447000120 · Originador e endossante · Regulamento · ID 1200623 · 21/05/2026 · versão Consolidado21/05/2026 aprovado pelo ato1200625 · p. 29 · AnexoI12.14 · https://fnet.bmfbovespa.com.br/fnet/publico/visualizarDocumento?id=1200623</a:t>
            </a:r>
          </a:p>
          <a:p>
            <a:r>
              <a:t>CNPJ 62552447000120 · Originador e endossante · Excerto da fonte:</a:t>
            </a:r>
          </a:p>
          <a:p>
            <a:r>
              <a:t>VR BENEFÍCIOS E SERVIÇOS DE PROCESSAMENTO S.A., sociedade anônima com sede no município e Estado de São Paulo, na Av. dos Bandeirantes, n.º 460, Brooklin Paulista, CEP 04553-900, inscrita no CNPJ sob o n.º 02.535.864/0004-86 (“Agente de Retenção e Cobrança” ou “Originador”), para os serviços de retenção de Direitos Creditórios e de cobrança de Direitos Creditórios Inadimplidos, de acordo com os contratos de prestação de serviços de retenção e cobrança celebrados entre o Agente de Retenção e Cobrança e a Classe (“Contratos de Retenção/Cobrança”). 12.15 O Agente de Retenção e Cobrança poderá, às expensas da Classe,</a:t>
            </a:r>
          </a:p>
          <a:p>
            <a:r>
              <a:t>CNPJ 62552447000120 · Originador e endossante · Versão e prevalência: Leitura específica das cláusulas indicadas; condições e conflitos preservados. Seleção documental atual não comprova vigência jurídica por data isolada.</a:t>
            </a:r>
          </a:p>
          <a:p>
            <a:r>
              <a:t>CNPJ 63953620000165 · Originador e endossante · Anexo ao Regulamento · ID 1222863 · 02/06/2026 · versão AnexoConsignadoPrivado02/06/2026 · p. 5 · 4.3–4.4 · https://fnet.bmfbovespa.com.br/fnet/publico/visualizarDocumento?id=1222863</a:t>
            </a:r>
          </a:p>
          <a:p>
            <a:r>
              <a:t>CNPJ 63953620000165 · Originador e endossante · Excerto da fonte:</a:t>
            </a:r>
          </a:p>
          <a:p>
            <a:r>
              <a:t>4.3 Os Direitos Creditórios serão adquiridos pela Classe por meio: (i) contratos de promessa de endosso e/ou termos de endosso (“Contratos de Endosso”) firmados entre a Classe e a Parati Crédito, Financiamento e Investimento S.A., instituição financeira constituída na forma de uma sociedade por ações, com sede na cidade de Vitória, estado do Espírito Santo, na Avenida Nossa Senhora da Penha, 699, torre A, conjuntos 404 a 407, Santa Lúcia, CEP 29.056-250, inscrita no CNPJ sob nº 03.311.443/0001-91 (“Endossante” ou “Cedente”), acompanhados de todos os direitos, privilégios, preferências, prerrogativas, ações e garantias asse</a:t>
            </a:r>
          </a:p>
          <a:p>
            <a:r>
              <a:t>CNPJ 63953620000165 · Originador e endossante · Anexo ao Regulamento · ID 1222863 · 02/06/2026 · versão AnexoConsignadoPrivado02/06/2026 · p. 19 · 12.6 · https://fnet.bmfbovespa.com.br/fnet/publico/visualizarDocumento?id=1222863</a:t>
            </a:r>
          </a:p>
          <a:p>
            <a:r>
              <a:t>CNPJ 63953620000165 · Originador e endossante · Excerto da fonte:</a:t>
            </a:r>
          </a:p>
          <a:p>
            <a:r>
              <a:t>12.6 A Classe contratou a Tudo Serviços S.A., sociedade anônima, com sede no município de Fortaleza, Estado do Ceará, na Avenida Senador Virgulo Távora, nº 303, Lojas 02, 03, 04, 05, 06 e 19, Meireles, CEP 60.170-265, inscrita no CNPJ sob o nº 27.852.506/0001-85, cujos deveres, sem prejuízo daqueles estabelecidos neste Regulamento, no “Contrato de Serviços de Retenção e Cobrança e Outras Avenças”, celebrado entre o Agente de Retenção/Cobrança e a Classe (“Contrato de Serviços MT”) e no Contrato de Endosso, consistirão no monitoramento e cobrança dos Direitos Creditórios Inadimplidos, observado o disposto neste Anexo I e na</a:t>
            </a:r>
          </a:p>
          <a:p>
            <a:r>
              <a:t>CNPJ 63953620000165 · Originador e endossante · Condição: Nomeação nominal atual da classe; distinta da origem histórica dos ativos recebidos por cisão de outros veículos.</a:t>
            </a:r>
          </a:p>
          <a:p>
            <a:r>
              <a:t>CNPJ 63953620000165 · Originador e endossante · Versão e prevalência: Leitura específica das cláusulas indicadas; condições e conflitos preservados. Seleção documental atual não comprova vigência jurídica por data isolada.</a:t>
            </a:r>
          </a:p>
          <a:p>
            <a:r>
              <a:t>CNPJ 63953620000165 · Originador e endossante · Resumo do histórico: {"count": 8, "dates": ["2026-04-28", "2026-05-08", "2026-05-15"], "document_count": 3, "sources": [{"document_id": "1327859", "title": "Demonstrações Financeiras - Fusão, cisão e incorporação", "reference_date": "2026-05-15", "version": "1", "page": 23, "url": "https://fnet.bmfbovespa.com.br/fnet/publico/visualizarDocumento?id=1327859", "sha256": "dca1c68babb97f887528c3e2e47596a9c30f507b067981a35655b2f2da9c8054"}, {"document_id": "1298691", "title": "Demonstrações Financeiras - Fusão, cisão e incorporação", "reference_date": "2026-05-08", "version": "1", "page": 24, "url": "https://fnet.bmfbovespa.com.br/fnet/publico/visualizarDocumento?id=1298691", "sha256": "58c570d9b8d4d265330d3db3ea81c435b8e44a6dab4002aa37790652a1ee9819"}, {"document_id": "1282180", "title": "Demonstrações Financeiras - Fusão, cisão e incorporação", "reference_date": "2026-04-28", "version": "1", "page": 24, "url": "https://fnet.bmfbovespa.com.br/fnet/publico/visualizarDocumento?id=1282180", "sha256": "afaaa0e6809be4385e5bdb6c911aac582032c5bdbac3d7750234bf9eaf00438a"}], "reference": {"path": "history/63953620000165.json", "criterion_id": "originator", "total_count": 8, "preview_count": 3, "full_text_deferred": true, "sha256": "a7b89077f5e21098c2d601c303faabc3ff6b9729f89d8afecdc60fe1404720c1"}}</a:t>
            </a:r>
          </a:p>
          <a:p>
            <a:r>
              <a:t>CNPJ 54871427000194 · Devedor e consignação · Regulamento · ID 670691 · 2024-04-28 · versão 1 · p. 29 · https://fnet.bmfbovespa.com.br/fnet/publico/visualizarDocumento?id=670691</a:t>
            </a:r>
          </a:p>
          <a:p>
            <a:r>
              <a:t>CNPJ 54871427000194 · Devedor e consignação · Excerto da fonte:</a:t>
            </a:r>
          </a:p>
          <a:p>
            <a:r>
              <a:t>Anexo I ao Regulamento CLASSE ÚNICA DE RESPONSABILIDADE LIMITADA DO CONSIGNADO DELTA RECEIVABLES I FUNDO DE INVESTIMENTO EM DIREITOS CREDITÓRIOS  pelo Endossante e depositados em seu conta de sua titularidade para posterior repasse à  Classe. Neste caso, a Classe poderá sofrer perdas principalmente em relação ao atraso na  regularização da titularidade e pagamento dos Direitos Creditórios.</a:t>
            </a:r>
          </a:p>
          <a:p>
            <a:r>
              <a:t> (v) Risco de pré-pagamento dos Direitos Creditórios. A ocorrência de pré-  pagamentos em relação a um ou mais Direitos Creditórios poderá ocasionar perdas à Classe.</a:t>
            </a:r>
          </a:p>
          <a:p>
            <a:r>
              <a:t> A ocorrência de pré-pagamentos (pagamento em data anterior àquela originalmente pactuada)  de Direitos Creditórios reduz o horizonte original de rendimentos esperados pela Classe de  tais Direitos Creditórios, uma vez que o pré-pagamento poderá, se assim permitido pela  documentação do Direito Creditório ou, conf orme o caso, pela legislação aplicável, ser  realizado pelo valor de emissão do Direito Creditório atualizado até a data do pré-pagamento  pela taxa de juros pactuada entre os Endossantes e os Devedores de tais Direitos Creditórios,  de modo que os juros remuneratórios incidentes desde a data da realização do pré-pagamento  até a data de vencimento do respectivo Direito Creditório deixam de ser devidos à Classe.</a:t>
            </a:r>
          </a:p>
          <a:p>
            <a:r>
              <a:t> (vi) Riscos associados aos Devedores: os Direitos Creditórios a serem cedidos à  Classe serão descontados da remuneração do Devedor, através de desconto em f olha de  pagamento ou de benefício. Nesse sentido, na ocorrência de pré-pagamento, as parcelas  serão pagas antecipadamente e a Classe deverá utilizar tais montantes no pré-pagamento dos  Direitos Creditórios. Nesta hipótese, a Classe poderá não encontrar Direitos Creditórios  disponíveis para serem adquiridos pela Classe, o que poderá afetar a rentabilidade da Classe.</a:t>
            </a:r>
          </a:p>
          <a:p>
            <a:r>
              <a:t> (vii) Risco de Competição: o mercado de empréstimos experimentou grande  expansão no Brasil nos últimos anos. Nesse contexto, a Resolução CMN nº 4.292, alterada  pela Resolução nº 4.762, de 27 de novembro de 2019, dispõe que deve ser garantido às  pessoas naturais devedoras de operações de crédito (tais como as CCB) a possibilidade de  realizarem a portabilidade destas operações para outras instituições financeiras, inclusive nos  casos em que tenham sido objeto de cessão (tais como as realizadas à Classe). Nesse  cenário, é possível que os competidores do Endossante ofereçam condições e taxas mais  vantajosas para os empréstimos pessoais com consignação em f olha de pagamento ou de  benef ícios, o que pode causar a migração de clientes da Endossante para outras instituições  f inanceiras, gerando a liquidação antecipada de parte das CCB existentes e/ou redução no  número de Direitos Creditórios cedidos. Referida competição poderá af etar os resultados da  Classe, impactando negativamente os rendimentos dos Cotistas. Ainda, a portabilidade a um  Devedor pode acarretar no recebimento de valores inf eriores aos esperados pela Classe.</a:t>
            </a:r>
          </a:p>
          <a:p>
            <a:r>
              <a:t> (viii) Insuf iciência dos Critérios de Elegibilidade. Os Critérios de Elegibilidade têm a  f inalidade de selecionar os Direitos Creditórios passíveis de aquisição pela Classe. Não  obstante tais Critérios de Elegibilidade, a solvência dos Direitos Creditórios que compõem a  Carteira depende integralmente, mas não somente, da situação econômico-financeira dos  Devedores. Dessa f orma, a observância pelo GESTOR dos Critérios de Elegibilidade não  constitui garantia de adimplência dos Devedores.</a:t>
            </a:r>
          </a:p>
          <a:p>
            <a:r>
              <a:t> Os Endossantes não necessariamente garantem a solvência dos seus respectivos Devedores.</a:t>
            </a:r>
          </a:p>
          <a:p>
            <a:r>
              <a:t> O Endossante dos Direitos Creditórios não assumirá responsabilidade pelo seu pagamento ou  pela solvência dos respectivos Devedores. A Classe sofrerá o impacto do inadimplemento dos  Direitos Creditórios vencidos e não pagos pelos respectivos Devedores.</a:t>
            </a:r>
          </a:p>
          <a:p>
            <a:r>
              <a:t> (ix) Possibilidade de aquisição de Direitos Creditórios cedidos por Endossante  e/ou devidos por Devedores cujas demonstrações financeiras não sejam auditadas. A Classe,  desde que sejam respeitados os limites de concentração previstos neste Regulamento, poderá  manter a qualquer tempo em sua Carteira, Direitos Creditórios cedidos por Endossante e/ou  devidos por Devedores cujas demonstrações f inanceiras não sejam auditadas por Auditor  Independente registrado na CVM. Nesse sentido, não haverá verificação independente sobre  tais demonstrações f inanceiras que af irme se estas representam adequadamente, em todos  os aspectos relevantes, as respectivas posições patrimoniais e f inanceiras, os resultados de  suas operações, as mutações de seus respectivos patrimônios líquidos tampouco as origens  e aplicações de seus recursos.</a:t>
            </a:r>
          </a:p>
          <a:p>
            <a:r>
              <a:t>CNPJ 54871427000194 · Devedor e consignação · Regulamento · ID 670691 · 2024-04-28 · versão 1 · p. 27 · 14.2 · https://fnet.bmfbovespa.com.br/fnet/publico/visualizarDocumento?id=670691</a:t>
            </a:r>
          </a:p>
          <a:p>
            <a:r>
              <a:t>CNPJ 54871427000194 · Devedor e consignação · Excerto da fonte:</a:t>
            </a:r>
          </a:p>
          <a:p>
            <a:r>
              <a:t>14.2 Todos os custos e despesas ref eridos neste Capítulo, inclusive para salvaguarda de direitos e  prerrogativas da Classe e/ou com a cobrança judicial e/ou extrajudicial de Direitos Creditórios  Inadimplidos, serão de inteira responsabilidade da Classe, não estando o ADMINISTRADOR, o  GESTOR, o Endossante, os Devedores, o CUSTODIANTE e quaisquer de suas respectivas pessoas  controladoras, sociedades por estes direta ou indiretamente controladas, a estes coligadas ou outras  sociedades sob controle comum, em conjunto ou isoladamente, obrigados pelo adiantamento ou  pagamento de valores relacionados aos procedimentos ref eridos neste Capítulo.</a:t>
            </a:r>
          </a:p>
          <a:p>
            <a:r>
              <a:t>CNPJ 54871427000194 · Devedor e consignação · Regulamento · ID 670691 · 2024-04-28 · versão 1 · p. 31 · https://fnet.bmfbovespa.com.br/fnet/publico/visualizarDocumento?id=670691</a:t>
            </a:r>
          </a:p>
          <a:p>
            <a:r>
              <a:t>CNPJ 54871427000194 · Devedor e consignação · Excerto da fonte:</a:t>
            </a:r>
          </a:p>
          <a:p>
            <a:r>
              <a:t>Anexo I ao Regulamento CLASSE ÚNICA DE RESPONSABILIDADE LIMITADA DO CONSIGNADO DELTA RECEIVABLES I FUNDO DE INVESTIMENTO EM DIREITOS CREDITÓRIOS  a resgates de suas Cotas e/ou poderá ser obrigado a se desfazer de tais Ativos Financeiros  de Liquidez em condições menos f avoráveis do que se não houvesse a ref erida situação de  f alta de liquidez.</a:t>
            </a:r>
          </a:p>
          <a:p>
            <a:r>
              <a:t> (iv) Liquidação antecipada do FUNDO ou da Classe. Observado o disposto neste  Regulamento, o FUNDO ou a Classe poderão ser liquidados antecipadamente, caso ocorra  qualquer Evento de Liquidação, ou se assim deliberado pelos Cotistas reunidos em  Assembleia Geral de Cotistas. Por este motivo, os Cotistas poderão ter seu horizonte original  de investimento reduzido e poderão não conseguir reinvestir os recursos recebidos com a  mesma remuneração buscada pela Classe, não sendo devida pela Classe, pelo  ADMINISTRADOR, pelo GESTOR ou pelo CUSTODIANTE qualquer multa ou penalidade, a  qualquer título, em decorrência desse f ato. Adicionalmente, ocorrendo qualquer uma das  hipóteses de liquidação antecipada do FUNDO ou da Classe, poderá não haver recursos  disponíveis em moeda corrente nacional para realizar o pagamento aos Cotistas, que poderão  ser pagos com os Direitos Creditórios e Ativos Financeiros de Liquidez detidos em Carteira, os  quais estão sujeitos aos riscos apontados no item (iii) acima.</a:t>
            </a:r>
          </a:p>
          <a:p>
            <a:r>
              <a:t> (v) Amortização condicionada das Cotas. A única f onte de recursos da Classe  para ef etuar o pagamento de resgate ou amortização das Cotas, conforme o caso, é a  liquidação: (i) dos Direitos Creditórios, pelos respectivos Devedores; e (ii) dos Ativos  Financeiros de Liquidez, pelas respectivas contrapartes. Após o recebimento desses recursos  e, se f or o caso, depois de esgotados todos os meios cabíveis para a cobrança, extrajudicial  ou judicial, dos referidos ativos, a Classe não disporá de quaisquer outras verbas para efetuar  o resgate ou amortização das Cotas, conforme o caso, o que poderá acarretar prejuízo aos  Cotistas.</a:t>
            </a:r>
          </a:p>
          <a:p>
            <a:r>
              <a:t> Ademais, a Classe está exposta a determinados riscos inerentes aos Direitos Creditórios e  Ativos Financeiros de Liquidez e aos mercados em que são negociados, incluindo a eventual  impossibilidade de alienar ativos em caso de necessidade, especialmente os Direitos  Creditórios, devido à inexistência de um mercado secundário ativo e organizado para a  negociação dessa espécie de ativo. Considerando-se a sujeição do resgate das Cotas à  liquidação dos Direitos Creditórios e/ou dos Ativos Financeiros de Liquidez, conforme descrito  acima, tanto o ADMINISTRADOR quanto o GESTOR e o CUSTODIANTE estão  impossibilitados de assegurar que os resgates das Cotas ocorrerão nas datas originalmente  previstas, não sendo devido, nesta hipótese, pela Classe ou qualquer outra pessoa, incluindo  o ADMINISTRADOR, o GESTOR e o CUSTODIANTE, qualquer multa ou penalidade, de  qualquer natureza.</a:t>
            </a:r>
          </a:p>
          <a:p>
            <a:r>
              <a:t> (vi) Ausência de classificação de risco das Cotas e Política de Investimentos  genérica. A ausência de requisitos rígidos relacionados aos Direitos Creditórios passíveis de  aquisição pela Classe poderá dificultar a def inição do perfil de risco da Carteira, af etando a  capacidade de o Cotista avaliar o risco de seu invest imento. As Cotas não possuem  classificação de risco emitida por Agência Classificadora de Risco. Esses f atores podem  dif icultar a avaliação, por parte dos investidores, da qualidade do crédito representado pelas  Cotas e com a capacidade da Classe em honrar com os pagamentos das Cotas.</a:t>
            </a:r>
          </a:p>
          <a:p>
            <a:r>
              <a:t>CNPJ 54871427000194 · Devedor e consignação · Condição: Documentos atuais selecionados no inventário por categoria/escopo; a data documental isolada não comprova vigência jurídica.</a:t>
            </a:r>
          </a:p>
          <a:p>
            <a:r>
              <a:t>CNPJ 54871427000194 · Devedor e consignação · Versão e prevalência: Documentos atuais selecionados no inventário por categoria/escopo; a data documental isolada não comprova vigência jurídica.</a:t>
            </a:r>
          </a:p>
          <a:p>
            <a:r>
              <a:t>CNPJ 54871427000194 · Devedor e consignação · Resumo do histórico: {"count": 2, "dates": ["2024-04-19", "2024-04-28"], "document_count": 2, "sources": [{"document_id": "670691", "title": "Regulamento", "reference_date": "2024-04-28", "version": "1", "page": "38", "url": "https://fnet.bmfbovespa.com.br/fnet/publico/visualizarDocumento?id=670691", "sha256": "bf16dd7f1a62d5cdbf2e2d54fef81783783f7310fbc99c3a8f00459bdf9d037b"}, {"document_id": "670689", "title": "Regulamento", "reference_date": "2024-04-19", "version": "1", "page": 30, "url": "https://fnet.bmfbovespa.com.br/fnet/publico/visualizarDocumento?id=670689", "sha256": "891bc9bc5d87bbc02ec139077a84d2702eb81ea02035fb71d24f5b8366b94a0b"}], "reference": {"path": "history/54871427000194.json", "criterion_id": "debtor", "total_count": 2, "preview_count": 2, "full_text_deferred": true, "sha256": "35d7cd99be50c7287c9fb675cf4f2e736002315295a225a9efa79c8d9186d874"}}</a:t>
            </a:r>
          </a:p>
          <a:p>
            <a:r>
              <a:t>CNPJ 60010416000112 · Devedor e consignação · Regulamento · ID 1051393 · 2025-10-09 · versão 1 · p. 35 · 15.1.4 · https://fnet.bmfbovespa.com.br/fnet/publico/visualizarDocumento?id=1051393</a:t>
            </a:r>
          </a:p>
          <a:p>
            <a:r>
              <a:t>CNPJ 60010416000112 · Devedor e consignação · Excerto da fonte:</a:t>
            </a:r>
          </a:p>
          <a:p>
            <a:r>
              <a:t>15.1.4 Riscos específicos</a:t>
            </a:r>
          </a:p>
          <a:p>
            <a:r>
              <a:t> (i)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 icar inadimplente e,  consequentemente, não haverá repasse à Classe do respectivo Direito Creditório, o que  poderá resultar em perdas f inanceiras à Classe e aos Cotistas.</a:t>
            </a:r>
          </a:p>
          <a:p>
            <a:r>
              <a:t> (ii) Risco do Empregador não efetuar o desconto em folha: o repasse dos recursos oriundos  dos Direitos Creditórios à Classe depende da realização, pelo Empregador, da Escrituração e  do desconto na respectiva f olha de pagamento do Devedor. Na hipótese do Empregador  deixar de realizar a Escrituração ou os descontos na folha de pagamento, não haverá repasse  de recursos à Classe, podendo causar prejuízos à Classe e aos Cotistas.</a:t>
            </a:r>
          </a:p>
          <a:p>
            <a:r>
              <a:t> (iii) Risco de perda do vínculo empregatício com o Empregador: caso o Devedor perca o  vínculo empregatício com o Empregador, não haverá remuneração e f olha de pagamento para  realização dos descontos para pagamento dos Direitos Creditórios. Neste caso, não obstante  a possibilidade do Agente de Retenção/Cobrança realizar a cobrança ativa dos Direitos  Creditórios diretamente do Devedor, a ausência de remuneração poderá deixar o Devedor  inadimplente perante a Classe até que o seu vínculo empregatício seja retomado e seja  ef etuado o procedimento operacional para que a CCB seja aditada e/ou seja realizado o  Processo de Reinicialização. Tais situações poderão resultar em prejuízos à Classe e aos  Cotistas.</a:t>
            </a:r>
          </a:p>
          <a:p>
            <a:r>
              <a:t>CNPJ 60010416000112 · Devedor e consignação · Regulamento · ID 1051393 · 2025-10-09 · versão 1 · p. 36 · https://fnet.bmfbovespa.com.br/fnet/publico/visualizarDocumento?id=1051393</a:t>
            </a:r>
          </a:p>
          <a:p>
            <a:r>
              <a:t>CNPJ 60010416000112 · Devedor e consignação · Excerto da fonte:</a:t>
            </a:r>
          </a:p>
          <a:p>
            <a:r>
              <a:t>Anexo I ao Regulamento CLASSE ÚNICA DO MT I CONSIGNADO PRIVADO I FUNDO DE INVESTIMENTO EM DIREITOS CREDITÓRIOS RESPONSABILIDADE LIMITADA  a qualquer momento, os recursos decorrentes dos Direitos Creditórios.</a:t>
            </a:r>
          </a:p>
          <a:p>
            <a:r>
              <a:t> (iii) Risco de validação das informações para conciliação e reconciliação dos Direitos  Creditórios adquiridos pela Classe: as inf ormações para conciliação dos pagamentos,  sendo considerado como tal, também, o Arquivo Dataprev, listando todos os empregados  cujas f olhas de pagamento serão sujeitas a desconto no mês relevante, nos valores acordados  ao ef etuar a Consignação, e qualquer glosa será enviada pela CEF ao Endossante, que  ef etuará a conciliação e, posteriormente, enviará as inf ormações ao Custodiante. Caso o  Endossante não f orneça essas inf ormações em tempo hábil ou f or verif icada qualquer  inconsistência nas informações recebidas pelo Custodiante, poderá isso impedir ou dar origem  a f alhas no processo de reconciliação dos valores depositados na Conta de Cobrança da  Classe e causando perdas à Classe e ao Cotista.</a:t>
            </a:r>
          </a:p>
          <a:p>
            <a:r>
              <a:t> (iv) Risco operacional dos sistemas: o desconto na f olha de pagamento do Devedor das  parcelas da CCB e a transf erência para o Endossante dos Direitos Creditórios serão  processados por um sistema controlado pela Dataprev, e o Endossante, o Administrador ou o  Gestor não têm controle sobre esse processo. Assim, qualquer f alha ou mudança nesse  sistema poderá atrasar ou reduzir o desconto dos rendimentos dos Devedores ou sua  transf erência para a Classe. Nesse caso, a rentabilidade e a propriedade da Classe poderão  ser adversamente af etadas enquanto o problema do sistema persistir, ou até que todos os  valores sejam devidamente transf eridos.</a:t>
            </a:r>
          </a:p>
          <a:p>
            <a:r>
              <a:t> (v) Risco operacional do Contrato: o desconto na f olha de pagamento das parcelas dos  empréstimos concedidos aos Devedores é permitido pelo Convênio Consignado Privado. As  partes do Convênio Consignado Privado devem seguir certas regras para manter o Convênio  Consignado Privado, e a violação delas poderá levar à sua rescisão. Além disso, mudanças  legais podem af etar e/ou tornar inviável a manutenção do Convênio Consignado Privado.</a:t>
            </a:r>
          </a:p>
          <a:p>
            <a:r>
              <a:t> No caso de rescisão do Convênio Consignado Privado, a estrutura de cobrança dos Direitos  Creditórios (desconto na f olha de pagamento) poderá ser comprometida, dando origem à  necessidade de adoção de uma nova estrutura, que poderá não ser tão eficaz quanto ela ou  mesmo revelar, na prática, ser inadequada ou ter altos custos operacionais. Esses eventos  podem levar a perdas patrimoniais para a Classe, na medida em que este deixará de receber,  def initiva ou temporariamente, recursos oriundos dos Direitos Creditórios, no todo ou em parte.</a:t>
            </a:r>
          </a:p>
          <a:p>
            <a:r>
              <a:t> Adicionalmente, de acordo com o Contrato de Endosso, a manutenção do Convênio  Consignado Privado é uma condição para a aquisição de novos Direitos Creditórios pela  Classe e, portanto, no caso de rescisão do Convênio Consignado Privado, a Classe poderá  ser impedido de adquirir novos Direitos Creditórios.</a:t>
            </a:r>
          </a:p>
          <a:p>
            <a:r>
              <a:t>CNPJ 60010416000112 · Devedor e consignação · Regulamento · ID 1051393 · 2025-10-09 · versão 1 · p. 31 · 13.2 · https://fnet.bmfbovespa.com.br/fnet/publico/visualizarDocumento?id=1051393</a:t>
            </a:r>
          </a:p>
          <a:p>
            <a:r>
              <a:t>CNPJ 60010416000112 · Devedor e consignação · Excerto da fonte:</a:t>
            </a:r>
          </a:p>
          <a:p>
            <a:r>
              <a:t>13.2 Todos os custos e despesas ref eridos neste Capítulo, inclusive para salvaguarda de direitos e  prerrogativas da Classe e/ou com a cobrança judicial e/ou extrajudicial de Direitos Creditórios Inadimplidos  ou Direitos Creditórios a Perf ormar, serão de inteira responsabilidade da Classe, não estando o  Administrador, o Gestor, o Endossante, os Devedores, o Custodiante e quaisquer de suas respectivas  pessoas controladoras, sociedades por estes direta ou indiretamente controladas, a estes coligadas ou  outras sociedades sob controle comum, em conjunto ou isoladamente, obrigados pelo adiantamento ou  pagamento de valores relacionados aos procedimentos ref eridos neste Capítulo.</a:t>
            </a:r>
          </a:p>
          <a:p>
            <a:r>
              <a:t>CNPJ 60010416000112 · Devedor e consignação · Condição: Documentos atuais selecionados no inventário por categoria/escopo; a data documental isolada não comprova vigência jurídica.</a:t>
            </a:r>
          </a:p>
          <a:p>
            <a:r>
              <a:t>CNPJ 60010416000112 · Devedor e consignação · Versão e prevalência: Documentos atuais selecionados no inventário por categoria/escopo; a data documental isolada não comprova vigência jurídica.</a:t>
            </a:r>
          </a:p>
          <a:p>
            <a:r>
              <a:t>CNPJ 60010416000112 · Devedor e consignação · Resumo do histórico: {"count": 2, "dates": ["2025-03-20", "2025-10-09"], "document_count": 2, "sources": [{"document_id": "1051393", "title": "Regulamento", "reference_date": "2025-10-09", "version": "1", "page": "9-10, 42", "url": "https://fnet.bmfbovespa.com.br/fnet/publico/visualizarDocumento?id=1051393", "sha256": "8469d613078ffd5a6c1d217885d8a397a16342c0b937ae4aa24b106505f233ae"}, {"document_id": "993786", "title": "Regulamento", "reference_date": "2025-03-20", "version": "1", "page": 35, "clause": "15.1.4", "url": "https://fnet.bmfbovespa.com.br/fnet/publico/visualizarDocumento?id=993786", "sha256": "fd0fdd369a195510d81f81f505195a0b09e5f43522a990afa7d58c4f872921c8"}], "reference": {"path": "history/60010416000112.json", "criterion_id": "debtor", "total_count": 2, "preview_count": 2, "full_text_deferred": true, "sha256": "8e2bd813f4c51cf01f6bfaad164bafe69d2bbb192f753eac92da3a01c2e63046"}}</a:t>
            </a:r>
          </a:p>
          <a:p>
            <a:r>
              <a:t>CNPJ 62696791000193 · Devedor e consignação · Regulamento · ID 1143317 · 2026-03-20 · versão 1 · p. 47 · 10.2 · https://fnet.bmfbovespa.com.br/fnet/publico/visualizarDocumento?id=1143317</a:t>
            </a:r>
          </a:p>
          <a:p>
            <a:r>
              <a:t>CNPJ 62696791000193 · Devedor e consignação · Excerto da fonte:</a:t>
            </a:r>
          </a:p>
          <a:p>
            <a:r>
              <a:t>10.2. As mudanças climáticas podem impactar severamente os ciclos produtivos de commodities  agrícolas, ocasionando, quebras de saf ra, volatilidade de preços, choques de of erta,  deterioração da qualidade dos produtos por elas atingidos, bem como interrupção no  abastecimento destes. Ref eridas mudanças podem af etar adversamente a capacidade  produtiva e de entrega dos produtos agrícolas pelos devedores, cenário este que impactará  negativamente a capacidade de pagamento dos Ativos-Alvo integrantes da carteira da Classe  pelos devedores e, conforme o caso, pelas pessoas devedoras dos bens e direitos onerados  em f avor da Classe.</a:t>
            </a:r>
          </a:p>
          <a:p>
            <a:r>
              <a:t>CNPJ 62696791000193 · Devedor e consignação · Condição: Documentos atuais selecionados no inventário por categoria/escopo; a data documental isolada não comprova vigência jurídica.</a:t>
            </a:r>
          </a:p>
          <a:p>
            <a:r>
              <a:t>CNPJ 62696791000193 · Devedor e consignação · Versão e prevalência: Documentos atuais selecionados no inventário por categoria/escopo; a data documental isolada não comprova vigência jurídica.</a:t>
            </a:r>
          </a:p>
          <a:p>
            <a:r>
              <a:t>CNPJ 55563624000109 · Devedor e consignação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Devedor e consignação · Resumo do histórico: {"count": 1, "dates": ["2026-04-30"], "document_count": 1, "sources": [{"document_id": "1192614", "title": "Regulamento", "reference_date": "2026-04-30", "version": "1", "page": "11-12", "url": "https://fnet.bmfbovespa.com.br/fnet/publico/visualizarDocumento?id=1192614", "sha256": "f56e63ace0acde41d2f47fb48f1ac7f3f7df5e2d32de092d7c5e075a52516632"}], "reference": {"path": "history/55563624000109.json", "criterion_id": "debtor", "total_count": 1, "preview_count": 1, "full_text_deferred": true, "sha256": "7835d573fb58a3c19adf5b8ecc2aee2bdbb9a88f7a0c0209b5f262b64c7522e3"}}</a:t>
            </a:r>
          </a:p>
          <a:p>
            <a:r>
              <a:t>CNPJ 62552447000120 · Devedor e consignação · Regulamento · ID 1200623 · 2026-05-21 · versão 1 · p. 35 · https://fnet.bmfbovespa.com.br/fnet/publico/visualizarDocumento?id=1200623</a:t>
            </a:r>
          </a:p>
          <a:p>
            <a:r>
              <a:t>CNPJ 62552447000120 · Devedor e consignação · Excerto da fonte:</a:t>
            </a:r>
          </a:p>
          <a:p>
            <a:r>
              <a:t>ativos desses emissores, causando perdas à Classe e ao Cotista. Além disso, a f alta de capacidade ou disposição de pagar por qualquer dos emissores dos Ativos Financeiros de Liquidez ou das contrapartes nas transações que compõem a Carteira causará perdas à Classe, e o que também poderá incorrer em custos para f ins de recuperação de seus recebíveis.</a:t>
            </a:r>
          </a:p>
          <a:p>
            <a:r>
              <a:t>(v) Riscos associados aos Devedores: no caso de Devedores no âmbito das operações de consignado privado, a sua capacidade de pagamento poderá ser af etada se, por exemplo, o Devedor tiver o seu contrato de emprego rescindido ou em virtude de decisão judicial, o Devedor for obrigado a pagar alimentos, que têm prioridade sobre o empréstimo para f ins de desconto na f 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 etar a rentabilidade da Classe. Já no caso de Devedores no âmbito das operações de Saque-aniversário, como os Direitos Creditórios a serem endossados à Classe serão descontados pelo FGTS da remuneração do Devedor, na ocorrência de qualquer evento que, nos termos da legislação aplicável, determine o pagamento antecipado do Saque-aniversário ao Devedor, a exemplo do falecimento do Devedor, dentre outros, as parcelas do Saque- aniversário serão pagas antecipadamente e a Classe deverá utilizar tais montantes no pré-pagamento dos Direitos Creditórios. Nesta hipótese, a Classe poderá não encontrar Direitos Creditórios disponíveis para serem adquiridos pela Classe, o que poderá af etar a rentabilidade da Classe.</a:t>
            </a:r>
          </a:p>
          <a:p>
            <a:r>
              <a:t>Risco de liquidez</a:t>
            </a:r>
          </a:p>
          <a:p>
            <a:r>
              <a:t>(i) Risco de liquidez: consiste no risco de redução ou inexistência de demanda pelos ativos que compõem a Classe nos respectivos mercados em que são negociados, devido às condições específicas desses ativos ou aos mercados em que são negociados. Devido a esses riscos, o Gestor poderá encontrar dificuldades em liquidar posições ou negociar esses ativos pelo preço e prazo desejados, de acordo com a estratégia de gestão adotada pela Classe, que permanecerá exposto, durante o período de baixa liquidez, aos riscos associados a esses ativos e posições assumidas em mercados de derivativos, se houver, que poderão até exigir que o Gestor aceite descontos em seus preços para realizar negociações no mercado. Esses f atores poderão prejudicar o pagamento de Amortizações ao Cotista, nos valores e dentro dos termos aqui estabelecidos.</a:t>
            </a:r>
          </a:p>
          <a:p>
            <a:r>
              <a:t>(ii) Riscos do mercado secundário: A Classe é constituída sob a f orma de condomínio fechado, de modo que as Cotas somente serão resgatadas em virtude da liquidação da Classe. Uma vez que o Prazo de Duração da Classe é indeterminado, o Cotista titular das Cotas não terá liquidez em seu investimento na Classe, exceto</a:t>
            </a:r>
          </a:p>
          <a:p>
            <a:r>
              <a:t>(a) por ocasião das Amortizações e dos resgates, nos termos deste Regulamento; (b) por meio da alienação de suas Cotas no mercado secundário; ou (c) na liquidação antecipada do FUNDO ou da Classe.</a:t>
            </a:r>
          </a:p>
          <a:p>
            <a:r>
              <a:t>Além disso, atualmente, o mercado secundário de cotas de fundos de investimento apresenta baixa liquidez, o que pode dificultar a venda das Cotas ou ocasionar a obtenção de um preço de venda que cause perda de patrimônio ao Cotista. Não há qualquer garantia do Administrador, do Gestor, da consultora ou do Custodiante em relação à possibilidade de venda das Cotas no mercado secundário ou ao preço obtido por elas, ou mesmo garantia de saída ao Cotista.</a:t>
            </a:r>
          </a:p>
          <a:p>
            <a:r>
              <a:t>Riscos específicos</a:t>
            </a:r>
          </a:p>
          <a:p>
            <a:r>
              <a:t>(i)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ficar inadimplente e, consequentemente, não haverá repasse à Classe do respectivo Direito Creditório, o que poderá resultar em perdas f inanceiras à Classe e aos Cotistas. Para os f ins deste Regulamento, “Empregador” signif ica a empresa com qual o Devedor mantém vínculo empregatício registrado junto à CTPS.</a:t>
            </a:r>
          </a:p>
          <a:p>
            <a:r>
              <a:t>(ii) Risco do Empregador não efetuar o desconto em folha: o repasse dos recursos oriundos dos Direitos Creditórios à Classe depende da realização, pelo Empregador, da escrituração da Consignação a ser</a:t>
            </a:r>
          </a:p>
          <a:p>
            <a:r>
              <a:t>CNPJ 62552447000120 · Devedor e consignação · Regulamento · ID 1200623 · 2026-05-21 · versão 1 · p. 36 · https://fnet.bmfbovespa.com.br/fnet/publico/visualizarDocumento?id=1200623</a:t>
            </a:r>
          </a:p>
          <a:p>
            <a:r>
              <a:t>CNPJ 62552447000120 · Devedor e consignação · Excerto da fonte:</a:t>
            </a:r>
          </a:p>
          <a:p>
            <a:r>
              <a:t>realizada pelo empregador, junto ao eSocial, após recebimento de notificação comunicando-o da contratação, pelo Devedor, do empréstimo a ser pago por Consignação (“Escrituração”), e do desconto na respectiva folha de pagamento do Devedor. Na hipótese do Empregador deixar de realizar a Escrituração ou os descontos na f olha de pagamento, não haverá repasse de recursos à Classe, podendo causar prejuízos à Classe e aos Cotistas.</a:t>
            </a:r>
          </a:p>
          <a:p>
            <a:r>
              <a:t>(iii) Risco de perda do vínculo empregatício com o Empregador: caso o Devedor perca o vínculo empregatício com o Empregador, não haverá remuneração e f olha de pagamento para realização dos descontos para pagamento dos Direitos Creditórios. Neste caso, não obstante a possibilidade do Agente de Retenção e Cobrança realizar a cobrança ativa dos Direitos Creditórios diretamente do Devedor, a ausência de remuneração poderá deixar o Devedor inadimplente perante a Classe até que o seu vínculo empregatício seja retomado e seja efetuado o procedimento operacional para que a CCB seja aditada e/ou seja realizado o Processo de Reinicialização. Tais situações poderão resultar em prejuízos à Classe e aos Cotistas.</a:t>
            </a:r>
          </a:p>
          <a:p>
            <a:r>
              <a:t>(iv) Risco relativo ao Agente de Retenção e Cobrança: A solvência do Agente de Retenção e Cobrança quanto às suas obrigações financeiras poderá impactar o cumprimento de suas obrigações perante a Classe e, consequentemente, os rendimentos da Classe poderão ser adversamente af etados.</a:t>
            </a:r>
          </a:p>
          <a:p>
            <a:r>
              <a:t>Riscos operacionais</a:t>
            </a:r>
          </a:p>
          <a:p>
            <a:r>
              <a:t>(i) Risco de irregularidade dos Documentos Comprobatórios e/ou Documentos Suporte: o terceiro contratado pelo Gestor, que atuará sob responsabilidade do Gestor, deverá realizar a verif icação da regularidade dos Documentos Comprobatórios. A Carteira poderá conter Direitos Creditórios com documentação irregular, o que poderá impedir que a Classe exerça plenamente as prerrogativas derivadas da titularidade dos Direitos Creditórios.</a:t>
            </a:r>
          </a:p>
          <a:p>
            <a:r>
              <a:t>(ii) Risco operacional da Dataprev e da CEF: o empréstimo contraído pelos Devedores é pago por meio de desconto na f olha de pagamento f eito pela Dataprev e pela CEF, conf orme aplicável. É possível que os rendimentos dos Devedores sejam atrasados ou não pagos devido a questões operacionais envolvendo a Dataprev e/ou a CEF. Nesse caso, a Carteira poderá sofrer, já que não receberá automaticamente, e também poderá ter dificuldades para receber, a qualquer momento, os recursos decorrentes dos Direitos Creditórios.</a:t>
            </a:r>
          </a:p>
          <a:p>
            <a:r>
              <a:t>(iii) Risco operacional do FGTS: o empréstimo contraído pelos Devedores é pago por meio de desconto dos Saques-aniversário feitos pelo FGTS. É possível que os rendimentos dos Devedores sejam atrasados ou não pagos devido a questões operacionais envolvendo a CEF, incluindo, sem se limitar, a erros e atrasos operacionais envolvendo a CEF. Nesse caso, a Carteira poderá sofrer, já que não receberá automaticamente, e também poderá ter dif iculdades para receber, a qualquer momento, os recursos decorrentes dos Direitos Creditórios.</a:t>
            </a:r>
          </a:p>
          <a:p>
            <a:r>
              <a:t>(iv) Risco de validação das informações para conciliação e reconciliação dos Direitos Creditórios adquiridos pela Classe: as inf ormações para conciliação dos pagamentos, sendo considerado como tal, também, o Arquivo Dataprev e o Arquivo de Liquidação Saque-aniversário, listando todos os empregados cujas f olhas de pagamento ou Saques Aniversário serão sujeitos a desconto no mês, nos valores acordados ao ef etuar a Consignação, e qualquer glosa será enviada pela CEF ao Endossante, que efetuará a conciliação e, posteriormente, enviará as informações ao Custodiante. Caso o Endossante não forneça essas informações em tempo hábil ou for verificada qualquer inconsistência nas informações recebidas pelo Custodiante, poderá isso impedir ou dar origem a falhas no processo de reconciliação dos valores depositados na Conta da Classe e causando perdas à Classe e ao Cotista.</a:t>
            </a:r>
          </a:p>
          <a:p>
            <a:r>
              <a:t>(v) Risco operacional dos sistemas: o desconto na f olha de pagamento e/ou nos Saques Aniversário das parcelas da CCB e a transf erência para o Endossante dos Direitos Creditórios serão processados por meio da Plataforma Dataprev, e o Endossante, o Administrador ou o Gestor não têm controle sobre esse processo.</a:t>
            </a:r>
          </a:p>
          <a:p>
            <a:r>
              <a:t>Assim, qualquer falha ou mudança nesse sistema poderá atrasar ou reduzir o desconto dos rendimentos dos Devedores ou sua transferência para a Classe. Nesse caso, a rentabilidade e a propriedade da Classe poderão ser adversamente af etadas enquanto o problema do sistema persistir, ou até que todos os valores sejam devidamente transf eridos.</a:t>
            </a:r>
          </a:p>
          <a:p>
            <a:r>
              <a:t>(vi) Risco operacional: em linha com as Cláusulas 4.3.1 e 4.3.2 do Anexo I deste Regulamento, o</a:t>
            </a:r>
          </a:p>
          <a:p>
            <a:r>
              <a:t>CNPJ 62552447000120 · Devedor e consignação · Regulamento · ID 1200623 · 2026-05-21 · versão 1 · p. 5 · https://fnet.bmfbovespa.com.br/fnet/publico/visualizarDocumento?id=1200623</a:t>
            </a:r>
          </a:p>
          <a:p>
            <a:r>
              <a:t>CNPJ 62552447000120 · Devedor e consignação · Excerto da fonte:</a:t>
            </a:r>
          </a:p>
          <a:p>
            <a:r>
              <a:t>O objetivo da Classe é proporcionar aos seus Cotistas a valorização de  suas Cotas por meio da aplicação de seu Patrimônio Líquido na aquisição  de:</a:t>
            </a:r>
          </a:p>
          <a:p>
            <a:r>
              <a:t> (i) “Direitos Creditórios”, assim entendidos como, em conjunto:</a:t>
            </a:r>
          </a:p>
          <a:p>
            <a:r>
              <a:t> (a) “Direitos Creditórios Consignado Privado”, na forma de  cédulas de crédito bancário, regidas pela Lei n.º 10.931,  de 2 de agosto de 2004, conforme alterada (“CCBs”),  emitidas eletronicamente por Devedores, em f avor do  Endossante, representando um empréstimo pessoal  consignado, de forma que o pagamento ocorra mediante  desconto de cada prestação vincenda da CCB na f olha  de pagamentos do Devedor (“Consignação”);</a:t>
            </a:r>
          </a:p>
          <a:p>
            <a:r>
              <a:t> (b) “Direitos Creditórios FGTS”, na f orma de CCBs  emitidas eletronicamente por Devedores, em f avor do  Objetivo Endossante, representando um empréstimo pessoal com  garantia de cessão f iduciária dos valores a que f azem jus  os Devedores ref erentes ao saque anual permitido aos  benef iciários do Fundo de Garantia do Tempo de Serviço  (“FGTS”) em seu mês de aniversário (“Saque-  aniversário”), regulado pela Lei n.º 8.036, de 11 de maio  de 1990, conforme alterada (“Lei 8.036”), nos termos dos  arts. 20, inciso XX, 20-A, inciso II, e 20-D, § 3º, da Lei</a:t>
            </a:r>
          </a:p>
          <a:p>
            <a:r>
              <a:t> 8.036, do art. 66-B da Lei n.º 4.728, de 14 de julho de  1965, e da Resolução CC/FGTS n.º 958, de 24 de abril  de 2020, conforme alterada (“Resolução FGTS 958”), de  f orma que parte do Saque-aniversário é utilizada para  liquidar as parcelas devidas da CCB;</a:t>
            </a:r>
          </a:p>
          <a:p>
            <a:r>
              <a:t> (c) “Direitos Creditórios TVM”, na f orma de direitos, títulos  e/ou valores mobiliários representativos de créditos  originados no âmbito de operações de sociedades</a:t>
            </a:r>
          </a:p>
          <a:p>
            <a:r>
              <a:t>CNPJ 62552447000120 · Devedor e consignação · Condição: Documentos atuais selecionados no inventário por categoria/escopo; a data documental isolada não comprova vigência jurídica.</a:t>
            </a:r>
          </a:p>
          <a:p>
            <a:r>
              <a:t>CNPJ 62552447000120 · Devedor e consignação · Versão e prevalência: Documentos atuais selecionados no inventário por categoria/escopo; a data documental isolada não comprova vigência jurídica.</a:t>
            </a:r>
          </a:p>
          <a:p>
            <a:r>
              <a:t>CNPJ 63953620000165 · Devedor e consignação · Anexo ao Regulamento · ID 1222863 · 2026-06-02 · versão 1 · p. 1 · 1.1 · https://fnet.bmfbovespa.com.br/fnet/publico/visualizarDocumento?id=1222863</a:t>
            </a:r>
          </a:p>
          <a:p>
            <a:r>
              <a:t>CNPJ 63953620000165 · Devedor e consignação · Excerto da fonte:</a:t>
            </a:r>
          </a:p>
          <a:p>
            <a:r>
              <a:t>1.1 As principais características da Classe Consignado Privado (para fins deste Anexo, “Classe”) estão descritas  abaixo:</a:t>
            </a:r>
          </a:p>
          <a:p>
            <a:r>
              <a:t> Tipo de Condomínio Fechado.</a:t>
            </a:r>
          </a:p>
          <a:p>
            <a:r>
              <a:t> Indeterminado, exceto se de outra forma vier a ser deliberado pelos Cotistas  Prazo de Duração  reunidos em Assembleia Especial de Cotistas. (“Prazo de Duração”)  Tipo “Financeiro”.</a:t>
            </a:r>
          </a:p>
          <a:p>
            <a:r>
              <a:t> Classificação ANBIMA  Foco de atuação “Créditos Consignados”.</a:t>
            </a:r>
          </a:p>
          <a:p>
            <a:r>
              <a:t> O objetivo da classe é proporcionar aos seus Cotistas a valorização de suas Cotas  por meio da aplicação de seu Patrimônio Líquido (conforme definido abaixo) na  aquisição de: (i) “Direitos Creditórios Crédito Consignado”, representados por  cédula de crédito bancário regida pela Lei nº 10.931, emitida eletronicamente por  um devedor em favor do endossante (“CCB”) e, consequentemente, os recebíveis  decorrente de cada uma das parcelas vincendas, representando um empréstimo  consignado concedido pelo endossante ao devedor, e cujo pagamento ordinário  é feito por desconto de cada prestação vincenda de uma CCB na folha de  pagamentos do devedor (“Consignação”), efetuada pela Caixa Econômica  Federal, de acordo com a legislação aplicável e em conformidade com os  procedimentos estabelecidos no convênio celebrado entre o Endossante e a  Empresa de Tecnologia e Informações da Previdência – DATAPREV e paga na  Conta Vinculada do Endossante (“Convênio Consignado Privado”); e/ou (ii)  “Direitos Creditórios TVM”, representados por direitos, títulos e/ou valores  mobiliários representativos de créditos originados no âmbito de operações de  sociedades integrantes do conglomerado econômico de instituições financeiras  classificadas como S1 pelo BACEN, desde que não representem títulos de  emissão ou coobrigação de instituições financeiras, bem como cotas de fundos  de investimento que invistam preponderantemente nestes direitos, títulos e/ou  Objetivo  valores mobiliários (Direitos Creditórios TVM quando referidos em conjunto  com os Direitos Creditórios Consignado Privado, “Direitos Creditórios”)  observados todos os limites de composição e diversificação da carteira da Classe  (“Carteira”), estabelecidos neste Regulamento e na regulamentação aplicável.</a:t>
            </a:r>
          </a:p>
          <a:p>
            <a:r>
              <a:t> Subsidiariamente, a parcela do Patrimônio Líquido que não esteja alocada em  Direitos Creditórios poderá estar alocado em: (1) certificados de depósito  bancário (CDB) ou recibos de depósito bancário (RDB) com prazo máximo de  vencimento equivalente ao prazo remanescente do Período de Investimento, com  liquidez diária, emitidos por Parati Crédito, Financiamento e Investimento S.A.</a:t>
            </a:r>
          </a:p>
          <a:p>
            <a:r>
              <a:t> e/ou pelo Endossante (“Ativos de Liquidez MT”); e/ou (2) (i) moeda corrente  nacional; (ii) títulos do Tesouro SELIC, anteriormente denominado letra financeira  do Tesouro Nacional (LFT); (iii) certificados de depósito bancário (CDB) ou recibos  de depósito bancário (RDB) com prazo máximo de vencimento equivalente ao  prazo remanescente do Período de Investimento, com liquidez diária, emitidos  por (a) Itaú Unibanco S.A.; (b) Banco Bradesco S.A.; (c) Caixa Econômica Federal;</a:t>
            </a:r>
          </a:p>
          <a:p>
            <a:r>
              <a:t> (d) Banco do Brasil S.A.; (e) Banco Santander (Brasil) S.A.; (f) Banco BTG Pactual  S.A.; (g) Banco Sistema S.A. (“Instituições Autorizadas”); (iv) operações  compromissadas, desde que lastreadas nos títulos mencionados nas alíneas (i) a</a:t>
            </a:r>
          </a:p>
          <a:p>
            <a:r>
              <a:t> (iii) acima, emitidas por Instituições Autorizadas, com liquidez diária e vencimento</a:t>
            </a:r>
          </a:p>
          <a:p>
            <a:r>
              <a:t>CNPJ 63953620000165 · Devedor e consignação · Anexo ao Regulamento · ID 1222863 · 2026-06-02 · versão 1 · p. 19 · 12.6 · https://fnet.bmfbovespa.com.br/fnet/publico/visualizarDocumento?id=1222863</a:t>
            </a:r>
          </a:p>
          <a:p>
            <a:r>
              <a:t>CNPJ 63953620000165 · Devedor e consignação · Excerto da fonte:</a:t>
            </a:r>
          </a:p>
          <a:p>
            <a:r>
              <a:t>12.6 A Classe contratou a Tudo Serviços S.A., sociedade anônima, com sede no município de Fortaleza, Estado do Ceará,  na Avenida Senador Virgulo Távora, nº 303, Lojas 02, 03, 04, 05, 06 e 19, Meireles, CEP 60.170-265, inscrita no CNPJ  sob o nº 27.852.506/0001-85, cujos deveres, sem prejuízo daqueles estabelecidos neste Regulamento, no  “Contrato de Serviços de Retenção e Cobrança e Outras Avenças”, celebrado entre o Agente de  Retenção/Cobrança e a Classe (“Contrato de Serviços MT”) e no Contrato de Endosso, consistirão no  monitoramento e cobrança dos Direitos Creditórios Inadimplidos, observado o disposto neste Anexo I e na  regulamentação aplicável (“Agente de Retenção/Cobrança”):</a:t>
            </a:r>
          </a:p>
          <a:p>
            <a:r>
              <a:t> (i) caso aplicável, atuar na retenção (defesa) de operações de empréstimo consignado cujos Direitos  Creditórios sejam de titularidade da Classe, em caso de tentativa de transferência de tais operações de  empréstimo consignado por instituições proponentes, nos termos da Resolução CMN nº 5.057, em razão de  ofertas de portabilidade feitas por tais instituições proponentes, conforme informado pelo Endossante ou pelo  Custodiante ao Agente de Retenção/Cobrança, diariamente, de acordo com o Contrato de Endosso; sendo  que tal serviço deverá incluir, entre outras atividades auxiliares a ele relacionadas, a avaliação das ofertas de  portabilidade feitas pelas instituições proponentes, buscando, se for o caso, esclarecer as vantagens de não  recorrer à portabilidade, retendo a respectiva operação de empréstimo consignado em seus termos atuais;</a:t>
            </a:r>
          </a:p>
          <a:p>
            <a:r>
              <a:t> (ii) mediante inadimplemento de um Direito Creditório devido à indisponibilidade da margem de crédito do  Devedor, auxiliar o Endossante com o Processo de Reinicialização (conforme detalhado no Contrato de  Endosso) em relação ao respectivo Direito Creditório;</a:t>
            </a:r>
          </a:p>
          <a:p>
            <a:r>
              <a:t> (iii) manter e operar um serviço de atendimento ao consumidor - SAC e uma ouvidoria em conformidade  com os regulamentos aplicáveis, monitorar e resolver reclamações e solicitações de Devedores com  relação às operações de empréstimo consignado que dão origem aos Direitos Creditórios, em  conformidade com o Acordo de Parceria;</a:t>
            </a:r>
          </a:p>
          <a:p>
            <a:r>
              <a:t> (iv) realizar a cobrança dos Direitos Creditórios Inadimplidos;</a:t>
            </a:r>
          </a:p>
          <a:p>
            <a:r>
              <a:t> (v) auxiliar o Endossante na correção de qualquer irregularidade relevante identificada com relação à  originação dos Direitos Creditórios;</a:t>
            </a:r>
          </a:p>
          <a:p>
            <a:r>
              <a:t> (vi) realizar a renegociação junto aos Devedores de Direitos Creditórios Inadimplidos e, caso aplicável, celebrar  aditamento à CCB para refletir os novos termos, decorrentes da renegociação  CAPÍTULO 13 – REMUNERAÇÃO DOS PRESTADORES DE SERVIÇOS  0,05% (cinco centésimos por cento) ao ano, apropriada diariamente na base de 252  (duzentos e cinquenta e dois) Dias Úteis, e paga mensalmente até o 5º (quinto) Dia  Útil do mês subsequente ao mês que se refere, incidente sobre o Patrimônio Líquido  da Classe alocado em Direitos Creditórios Consignado Privado e/ou Ativos de  Liquidez MT, observada remuneração mínima mensal de R$ 2.500,00 (dois mil e  quinhentos reais), a ser corrigida anualmente, em janeiro de cada ano, pela variação  Taxa de Administração  positiva do Índice Geral de Preços – Mercado, divulgado pela Fundação Getúlio  Vargas (“Taxa de Administração” e “IGP-M”, respectivamente).</a:t>
            </a:r>
          </a:p>
          <a:p>
            <a:r>
              <a:t> Na hipótese de extinção do IGP-M, não divulgação ou impossibilidade de sua  utilização, será utilizado o Índice Geral de Preços – Disponibilidade Interna,  divulgado pela Fundação Getúlio Vargas, ou, na falta de ambos, pela variação do IPC  – Índice de Preços ao Consumidor, divulgado pela Fundação Instituto de Pesquisas</a:t>
            </a:r>
          </a:p>
          <a:p>
            <a:r>
              <a:t>CNPJ 63953620000165 · Devedor e consignação · Anexo ao Regulamento · ID 1222863 · 2026-06-02 · versão 1 · p. 2 · https://fnet.bmfbovespa.com.br/fnet/publico/visualizarDocumento?id=1222863</a:t>
            </a:r>
          </a:p>
          <a:p>
            <a:r>
              <a:t>CNPJ 63953620000165 · Devedor e consignação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Devedor e consignação · Condição: Documentos atuais selecionados no inventário por categoria/escopo; a data documental isolada não comprova vigência jurídica.</a:t>
            </a:r>
          </a:p>
          <a:p>
            <a:r>
              <a:t>CNPJ 63953620000165 · Devedor e consignação · Versão e prevalência: Documentos atuais selecionados no inventário por categoria/escopo; a data documental isolada não comprova vigência jurídica.</a:t>
            </a:r>
          </a:p>
          <a:p>
            <a:r>
              <a:t>CNPJ 63953620000165 · Devedor e consignação · Resumo do histórico: {"count": 8, "dates": ["2026-04-28", "2026-05-08", "2026-05-15"], "document_count": 3, "sources": [{"document_id": "1327859", "title": "Demonstrações Financeiras - Fusão, cisão e incorporação", "reference_date": "2026-05-15", "version": "1", "page": 22, "url": "https://fnet.bmfbovespa.com.br/fnet/publico/visualizarDocumento?id=1327859", "sha256": "dca1c68babb97f887528c3e2e47596a9c30f507b067981a35655b2f2da9c8054"}, {"document_id": "1298691", "title": "Demonstrações Financeiras - Fusão, cisão e incorporação", "reference_date": "2026-05-08", "version": "1", "page": 22, "url": "https://fnet.bmfbovespa.com.br/fnet/publico/visualizarDocumento?id=1298691", "sha256": "58c570d9b8d4d265330d3db3ea81c435b8e44a6dab4002aa37790652a1ee9819"}, {"document_id": "1282180", "title": "Demonstrações Financeiras - Fusão, cisão e incorporação", "reference_date": "2026-04-28", "version": "1", "page": 22, "url": "https://fnet.bmfbovespa.com.br/fnet/publico/visualizarDocumento?id=1282180", "sha256": "afaaa0e6809be4385e5bdb6c911aac582032c5bdbac3d7750234bf9eaf00438a"}], "reference": {"path": "history/63953620000165.json", "criterion_id": "debtor", "total_count": 8, "preview_count": 3, "full_text_deferred": true, "sha256": "a7b89077f5e21098c2d601c303faabc3ff6b9729f89d8afecdc60fe1404720c1"}}</a:t>
            </a:r>
          </a:p>
          <a:p>
            <a:r>
              <a:t>CNPJ 54871427000194 · Elegibilidade · Regulamento · ID 670691 · 28/04/2024 · versão Regulamento — referência 28/04/2024 · p. 9 · Anexo I, 4.7(i)–(iv) · https://fnet.bmfbovespa.com.br/fnet/publico/visualizarDocumento?id=670691</a:t>
            </a:r>
          </a:p>
          <a:p>
            <a:r>
              <a:t>CNPJ 54871427000194 · Elegibilidade · Excerto da fonte:</a:t>
            </a:r>
          </a:p>
          <a:p>
            <a:r>
              <a:t>4.7 A Classe somente poderá adquirir os Direitos Creditórios que atendam cumulativamente aos seguintes Critérios de Elegibilidade, a serem verif icados e validados pelo GESTOR, de f orma individualizada e integral, previamente à cessão e na respectiva Data de Aquisição, de modo que apenas são passíveis de aquisição pela Classe os Direitos Creditórios que, na Data de Aquisição: (i) CCBs sem qualquer parcela cedida; (ii) CCBs com diferença menor que 60 (sessenta) dias entre a data provável do endosso e a próxima parcela a vencer; (iii) CCBs cujo valor da prestação seja superior a R$ 30,00 (trinta reais); (iv) Idade do Devedor somada ao prazo remanescente da CCB deve ser igual ou inferior a 80 (oitenta) anos; BTG Pactual SAC: 0800 772 28 27 - Ouvidoria: 0800 722 00 48 - btgpactual.com 3</a:t>
            </a:r>
          </a:p>
          <a:p>
            <a:r>
              <a:t>CNPJ 54871427000194 · Elegibilidade · Regulamento · ID 670691 · 28/04/2024 · versão Regulamento — referência 28/04/2024 · p. 10 · Anexo I, 4.7(v)–(xi) · https://fnet.bmfbovespa.com.br/fnet/publico/visualizarDocumento?id=670691</a:t>
            </a:r>
          </a:p>
          <a:p>
            <a:r>
              <a:t>CNPJ 54871427000194 · Elegibilidade · Excerto da fonte:</a:t>
            </a:r>
          </a:p>
          <a:p>
            <a:r>
              <a:t>(v) CCBs que até a Data do Endosso não estejam pendentes de res olução em relação a uma comprovada reclamação do devedor junto ao Banco Central do Brasil ou ao Procon; (vi) CCBs que não sejam originadas por pessoa física condenada por terem submetido trabalhadores a condições análogas à de escravo – denominada “Lista Suja”; (vii) CCBs sem parcela em atraso; (viii) Aquisição de todas as parcelas vincendas das CCBs, não sendo possível a aquisição de fluxo parcial; (ix) CCBs vinculadas ao órgão convenente, desde que o convênio não se encontre na Data de Aquisição em situação de suspensão; (x) Devedores adimplentes junto ao Endossante com relação aos Direitos Creditórios endossados à Classe; CCB cuja amortização ordinária dos valores devidos, nos últimos 60 (sessenta) dias, tenha ocorrido de f orma integral e ordinária. Na primeira tranche de aquisição de Direitos Creditórios pelo Endossatário tal prazo poderá ser reduzido para 30 (trinta) dias nos casos de amortização extraordinária (via boleto) desde que o valor de aquisição dos ref eridos Direitos Creditórios não ultrapasse R$ 30.000,00 (trinta mil reais), exc</a:t>
            </a:r>
          </a:p>
          <a:p>
            <a:r>
              <a:t>CNPJ 54871427000194 · Elegibilidade · Versão e prevalência: Leitura específica das cláusulas indicadas; condições e conflitos preservados. Seleção documental atual não comprova vigência jurídica por data isolada.</a:t>
            </a:r>
          </a:p>
          <a:p>
            <a:r>
              <a:t>CNPJ 54871427000194 · Elegibilidade · Resumo do histórico: {"count": 2, "dates": ["2024-04-19", "2024-04-28"], "document_count": 2, "sources": [{"document_id": "670691", "title": "Regulamento", "reference_date": "2024-04-28", "version": "1", "page": "9-10", "clause": "4.7", "url": "https://fnet.bmfbovespa.com.br/fnet/publico/visualizarDocumento?id=670691", "sha256": "bf16dd7f1a62d5cdbf2e2d54fef81783783f7310fbc99c3a8f00459bdf9d037b"}, {"document_id": "670689", "title": "Regulamento", "reference_date": "2024-04-19", "version": "1", "page": 10, "clause": "4.7.3", "url": "https://fnet.bmfbovespa.com.br/fnet/publico/visualizarDocumento?id=670689", "sha256": "891bc9bc5d87bbc02ec139077a84d2702eb81ea02035fb71d24f5b8366b94a0b"}], "reference": {"path": "history/54871427000194.json", "criterion_id": "eligibility", "total_count": 2, "preview_count": 2, "full_text_deferred": true, "sha256": "35d7cd99be50c7287c9fb675cf4f2e736002315295a225a9efa79c8d9186d874"}}</a:t>
            </a:r>
          </a:p>
          <a:p>
            <a:r>
              <a:t>CNPJ 60010416000112 · Elegibilidade · Regulamento · ID 1051393 · 2025-10-09 · versão 1 · p. 10 · 4.4.5 · https://fnet.bmfbovespa.com.br/fnet/publico/visualizarDocumento?id=1051393</a:t>
            </a:r>
          </a:p>
          <a:p>
            <a:r>
              <a:t>CNPJ 60010416000112 · Elegibilidade · Excerto da fonte:</a:t>
            </a:r>
          </a:p>
          <a:p>
            <a:r>
              <a:t>4.4.5. Caso um Direito Creditório endossado à Classe deixe de atender quaisquer Critérios de  Elegibilidade, quaisquer condições de endosso e/ou quaisquer declarações e garantias referentes  a esse Direito Creditório, conforme previsto no Contrato de Endosso, após seu endosso à Classe,  não haverá coobrigação nem direito de regresso da Classe contra o Endossante, o Administrador,  o Custodiante, o Gestor e/ou o Agente de Retenção/Cobrança, exceto em caso de má-fé, culpa  ou dolo comprovado, hipótese em que a parte que agiu com má-f é, culpa ou dolo comprovado  poderá ser responsabilizada pelas perdas incorridas pela Classe em relação aos respectivos  Direitos Creditórios. Se, entretanto, for constatado que um Direito Creditório endossado à Classe  não estava em conformidade com os Critérios de Elegibilidade, condições de endosso ou com as  declarações e garantias prestadas pelo Endossante no Contrato de Endosso, na respectiva data  de endosso, então o endosso desse Direito Creditório poderá ser objeto de resolução pela Classe.</a:t>
            </a:r>
          </a:p>
          <a:p>
            <a:r>
              <a:t> Nessa hipótese, a Classe terá o direito de resolver o endosso desse Direito Creditório, devolvendo-  o ao Endossante por valor a ser restituído à Classe. Adicionalmente, se f or constatado que um  Direito Creditório endossado à Classe não estava em conf ormidade com as declarações e  garantias prestadas pelo Agente de Retenção/Cobrança no Contrato de Endosso, na respectiva  data de endosso, então a Classe terá o direito de vender esse Direito Creditório ao Agente de  Retenção/Cobrança (opção de venda). A retrovenda ou a venda, conforme o caso, será realizada  de acordo com os termos, condições, formalidades e preços de recompra compulsória e opção de  venda detalhados no Contrato de Endosso.</a:t>
            </a:r>
          </a:p>
          <a:p>
            <a:r>
              <a:t>CNPJ 60010416000112 · Elegibilidade · Regulamento · ID 1051393 · 2025-10-09 · versão 1 · p. 9 · 4.3 · https://fnet.bmfbovespa.com.br/fnet/publico/visualizarDocumento?id=1051393</a:t>
            </a:r>
          </a:p>
          <a:p>
            <a:r>
              <a:t>CNPJ 60010416000112 · Elegibilidade · Excerto da fonte:</a:t>
            </a:r>
          </a:p>
          <a:p>
            <a:r>
              <a:t>4.3 Os Direitos Creditórios deverão contar com Documentos Comprobatórios que evidenciem sua existência,  validade e exequibilidade perante os respectivos Devedores.</a:t>
            </a:r>
          </a:p>
          <a:p>
            <a:r>
              <a:t> Critérios de Elegibilidade</a:t>
            </a:r>
          </a:p>
          <a:p>
            <a:r>
              <a:t>CNPJ 60010416000112 · Elegibilidade · Regulamento · ID 1051393 · 2025-10-09 · versão 1 · p. 9 · 4.4 · https://fnet.bmfbovespa.com.br/fnet/publico/visualizarDocumento?id=1051393</a:t>
            </a:r>
          </a:p>
          <a:p>
            <a:r>
              <a:t>CNPJ 60010416000112 · Elegibilidade · Excerto da fonte:</a:t>
            </a:r>
          </a:p>
          <a:p>
            <a:r>
              <a:t>4.4 A Classe somente poderá adquirir os Direitos Creditórios que atendam, cumulativamente, aos seguintes  Critérios de Elegibilidade, a serem verificados e validados pelo Gestor, de forma individualizada e integral,  previamente ao endosso do Direito Creditório, na respectiva Data de Aquisição:</a:t>
            </a:r>
          </a:p>
          <a:p>
            <a:r>
              <a:t> (i) os Direitos Creditórios deverão decorrer de empréstimo concedido pelo Endossante a um  Devedor, representado por uma CCB, com taxa de juros prefixada e vencimento final anterior  ao vencimento f inal da Classe;</a:t>
            </a:r>
          </a:p>
          <a:p>
            <a:r>
              <a:t>BTG Pactual SAC: 0800 772 28 27 - Ouvidoria: 0800 722 00 48 - btgpactual.com 9</a:t>
            </a:r>
          </a:p>
          <a:p>
            <a:r>
              <a:t>CNPJ 60010416000112 · Elegibilidade · Condição: Documentos atuais selecionados no inventário por categoria/escopo; a data documental isolada não comprova vigência jurídica.</a:t>
            </a:r>
          </a:p>
          <a:p>
            <a:r>
              <a:t>CNPJ 60010416000112 · Elegibilidade · Versão e prevalência: Documentos atuais selecionados no inventário por categoria/escopo; a data documental isolada não comprova vigência jurídica.</a:t>
            </a:r>
          </a:p>
          <a:p>
            <a:r>
              <a:t>CNPJ 60010416000112 · Elegibilidade · Resumo do histórico: {"count": 2, "dates": ["2025-03-20", "2025-10-09"], "document_count": 2, "sources": [{"document_id": "1051393", "title": "Regulamento", "reference_date": "2025-10-09", "version": "1", "page": "9-10", "clause": "4.4(ii)", "url": "https://fnet.bmfbovespa.com.br/fnet/publico/visualizarDocumento?id=1051393", "sha256": "8469d613078ffd5a6c1d217885d8a397a16342c0b937ae4aa24b106505f233ae"}, {"document_id": "993786", "title": "Regulamento", "reference_date": "2025-03-20", "version": "1", "page": 10, "clause": "4.4.5", "url": "https://fnet.bmfbovespa.com.br/fnet/publico/visualizarDocumento?id=993786", "sha256": "fd0fdd369a195510d81f81f505195a0b09e5f43522a990afa7d58c4f872921c8"}], "reference": {"path": "history/60010416000112.json", "criterion_id": "eligibility", "total_count": 2, "preview_count": 2, "full_text_deferred": true, "sha256": "8e2bd813f4c51cf01f6bfaad164bafe69d2bbb192f753eac92da3a01c2e63046"}}</a:t>
            </a:r>
          </a:p>
          <a:p>
            <a:r>
              <a:t>CNPJ 62696791000193 · Elegibilidade · Regulamento · ID 1143317 · 20/03/2026 · versão Regulamento — referência 20/03/2026 · p. 11 · Anexo I, 4.7–4.7.3 · https://fnet.bmfbovespa.com.br/fnet/publico/visualizarDocumento?id=1143317</a:t>
            </a:r>
          </a:p>
          <a:p>
            <a:r>
              <a:t>CNPJ 62696791000193 · Elegibilidade · Excerto da fonte:</a:t>
            </a:r>
          </a:p>
          <a:p>
            <a:r>
              <a:t>4.7 A Classe somente poderá adquirir os Direitos Creditórios do Agronegócio que atendam cumulativamente aos seguintes critérios de elegibilidade, a serem verificados e validados pelo Gestor, por amostragem, previamente à cessão e na respectiva data de aquisição dos Direitos Creditórios do Agronegócio (“Data de Aquisição”), de modo que apenas são passíveis de aquisição pela Classe os Direitos Creditórios do Agronegócio que, na Data de Aquisição (“Critérios de Elegibilidade”): (i) sejam representados em moeda corrente nacional; (ii) a natureza ou característica essencial dos Direitos Creditórios do Agronegócio deverá permitir o seu registro contábil e a sua custódia pelo Custodiante, de acordo com os procedimentos operacionais e contábeis praticados pelo Custodiante, ou seu registro em entidade registradora; (iii) sejam ativos de origem vinculada às cadeias produtivas do agronegócio ; e (iv) sejam representados por direitos e/ou títulos representativos de crédito, com ou sem garantias reais ou pessoais a eles atreladas, incluindo, sem limitação, duplicatas, debêntures, contratos de locação e contratos mercantis de compra e venda de produtos</a:t>
            </a:r>
          </a:p>
          <a:p>
            <a:r>
              <a:t>CNPJ 62696791000193 · Elegibilidade · Versão e prevalência: Leitura específica das cláusulas indicadas; condições e conflitos preservados. Seleção documental atual não comprova vigência jurídica por data isolada.</a:t>
            </a:r>
          </a:p>
          <a:p>
            <a:r>
              <a:t>CNPJ 55563624000109 · Elegibilidade · Regulamento · ID 1192614 · 30/04/2026 · versão Regulamento30/04/2026 · p. 12 · AnexoI4.6–4.8.2 · https://fnet.bmfbovespa.com.br/fnet/publico/visualizarDocumento?id=1192614</a:t>
            </a:r>
          </a:p>
          <a:p>
            <a:r>
              <a:t>CNPJ 55563624000109 · Elegibilidade · Excerto da fonte:</a:t>
            </a:r>
          </a:p>
          <a:p>
            <a:r>
              <a:t>4.6 As Cotas da Classe Investida deverão contar com Documentos Comprobatórios que evidenciem sua existência, validade e exequibilidade. 4.7 As Cotas da Classe Investida serão adquiridas pela Classe por meio: (i) de contratos de aquisição de Cotas da Classe Investida firmados entre a Classe e os respectivos vendedores das Cotas da Classe Investida; (ii) negociação em mercado organizado; e/ou (iii) da subscrição de Cotas da Classe Investida, colocadas de forma privada ou ofertadas publicamente, independentemente do regime de distribuição, observada a Política</a:t>
            </a:r>
          </a:p>
          <a:p>
            <a:r>
              <a:t>CNPJ 55563624000109 · Elegibilidade · Versão e prevalência: Leitura específica das cláusulas indicadas; condições e conflitos preservados. Seleção documental atual não comprova vigência jurídica por data isolada.</a:t>
            </a:r>
          </a:p>
          <a:p>
            <a:r>
              <a:t>CNPJ 55563624000109 · Elegibilidade · Resumo do histórico: {"count": 3, "dates": ["2025-01-31", "2026-01-31", "2026-04-30"], "document_count": 3, "sources": [{"document_id": "1192614", "title": "Regulamento", "reference_date": "2026-04-30", "version": "1", "page": "12", "url": "https://fnet.bmfbovespa.com.br/fnet/publico/visualizarDocumento?id=1192614", "sha256": "f56e63ace0acde41d2f47fb48f1ac7f3f7df5e2d32de092d7c5e075a52516632"}, {"document_id": "1178840", "title": "Demonstrações Financeiras", "reference_date": "2026-01-31", "version": "1", "page": 16, "url": "https://fnet.bmfbovespa.com.br/fnet/publico/visualizarDocumento?id=1178840", "sha256": "c458e98664c5c907ddb5a05a94b120bed4e05295b2bfc420f5ba69af0a229abe"}, {"document_id": "891861", "title": "Demonstrações Financeiras", "reference_date": "2025-01-31", "version": "1", "page": 16, "url": "https://fnet.bmfbovespa.com.br/fnet/publico/visualizarDocumento?id=891861", "sha256": "e9cb9e6ddbe505fe068cfcac33605165a98313489de0d3ce6d4d238263c3f3e7"}], "reference": {"path": "history/55563624000109.json", "criterion_id": "eligibility", "total_count": 3, "preview_count": 3, "full_text_deferred": true, "sha256": "7835d573fb58a3c19adf5b8ecc2aee2bdbb9a88f7a0c0209b5f262b64c7522e3"}}</a:t>
            </a:r>
          </a:p>
          <a:p>
            <a:r>
              <a:t>CNPJ 62552447000120 · Elegibilidade · Regulamento · ID 1200623 · 21/05/2026 · versão Consolidado21/05/2026 aprovado pelo ato1200625 · p. 6 · AnexoI1.2 Critérios(i)(a)–(b) · https://fnet.bmfbovespa.com.br/fnet/publico/visualizarDocumento?id=1200623</a:t>
            </a:r>
          </a:p>
          <a:p>
            <a:r>
              <a:t>CNPJ 62552447000120 · Elegibilidade · Excerto da fonte:</a:t>
            </a:r>
          </a:p>
          <a:p>
            <a:r>
              <a:t>Critérios de Elegibilidade”): (i) com relação a todos os Direitos Creditórios : (a) sejam representados em moeda corrente nacional; Critérios de Elegibilidade (b) a natureza ou característica essencial dos Direitos Creditórios deverá permitir o seu registro contábil e a sua custódia pelo Custodiante, de acordo com os procedimentos operacionais e contábeis praticados</a:t>
            </a:r>
          </a:p>
          <a:p>
            <a:r>
              <a:t>CNPJ 62552447000120 · Elegibilidade · Regulamento · ID 1200623 · 21/05/2026 · versão Consolidado21/05/2026 aprovado pelo ato1200625 · p. 7 · AnexoI1.2 Critérios(i)(c)–(v) · https://fnet.bmfbovespa.com.br/fnet/publico/visualizarDocumento?id=1200623</a:t>
            </a:r>
          </a:p>
          <a:p>
            <a:r>
              <a:t>CNPJ 62552447000120 · Elegibilidade · Excerto da fonte:</a:t>
            </a:r>
          </a:p>
          <a:p>
            <a:r>
              <a:t>(v) com relação aos Direitos Creditórios TVM: (a) representem, a qualquer momento, no máximo 10% (dez por cento) do Patrimônio Líquido. Sem prejuízo dos Critérios de Elegibilidade, a Classe somente poderá adquirir os Direitos Creditórios Ref inanciamento Livre, os Direitos Creditórios Consignado Privado e os Direitos Creditórios FGTS com relação aos quais tenha se verif icado as seguintes Condições de Endosso, na forma prevista na Cláusula 4.7 (“Co</a:t>
            </a:r>
          </a:p>
          <a:p>
            <a:r>
              <a:t>CNPJ 62552447000120 · Elegibilidade · Regulamento · ID 1200623 · 21/05/2026 · versão Consolidado21/05/2026 aprovado pelo ato1200625 · p. 12 · AnexoI4.6 · https://fnet.bmfbovespa.com.br/fnet/publico/visualizarDocumento?id=1200623</a:t>
            </a:r>
          </a:p>
          <a:p>
            <a:r>
              <a:t>CNPJ 62552447000120 · Elegibilidade · Excerto da fonte:</a:t>
            </a:r>
          </a:p>
          <a:p>
            <a:r>
              <a:t>4.6 A Classe somente poderá adquirir os Direitos Creditórios que, na data da sua aquisição (“Data de Aquisição”), atendam a todos os Critérios de Elegibilidade, a serem verif icados e validados pelo Gestor, de f orma individualizada e integral, e não por amostragem. 4.6.1 Para f ins da verificação dos Critérios de Elegibilidade, será considerado o Patrimônio Líquido e o valor dos Direitos Creditórios integrantes da Carteira no Dia Útil imediatamente anterior à Data de Aquisição. 4.6.2 Todos os Documentos Comprobatórios e, com relação a cada Direito Creditório, conforme apli</a:t>
            </a:r>
          </a:p>
          <a:p>
            <a:r>
              <a:t>CNPJ 62552447000120 · Elegibilidade · Versão e prevalência: Leitura específica das cláusulas indicadas; condições e conflitos preservados. Seleção documental atual não comprova vigência jurídica por data isolada.</a:t>
            </a:r>
          </a:p>
          <a:p>
            <a:r>
              <a:t>CNPJ 63953620000165 · Elegibilidade · Anexo ao Regulamento · ID 1222863 · 02/06/2026 · versão AnexoConsignadoPrivado02/06/2026 · p. 6 · 4.10–4.10.3 · https://fnet.bmfbovespa.com.br/fnet/publico/visualizarDocumento?id=1222863</a:t>
            </a:r>
          </a:p>
          <a:p>
            <a:r>
              <a:t>CNPJ 63953620000165 · Elegibilidade · Excerto da fonte:</a:t>
            </a:r>
          </a:p>
          <a:p>
            <a:r>
              <a:t>4.10 A Classe somente poderá adquirir os Direitos Creditórios que atendam cumulativamente aos Critérios de Elegibilidade, a serem verificados e validados pelo Gestor, de forma individualizada e integral, previamente à cessão e na respectiva data de aquisição dos Direitos Creditórios (“Data de Aquisição”), de modo que apenas são passíveis de aquisição pela Classe os Direitos Creditórios que, na Data de Aquisição, atendam a todos os Critérios de Elegibilidade. 4.10.1 Para fins da verificação dos Critérios de Elegibilidade, será considerado o Patrimônio Líquido e o valor dos Direitos Creditórios integrantes</a:t>
            </a:r>
          </a:p>
          <a:p>
            <a:r>
              <a:t>CNPJ 63953620000165 · Elegibilidade · Versão e prevalência: Leitura específica das cláusulas indicadas; condições e conflitos preservados. Seleção documental atual não comprova vigência jurídica por data isolada.</a:t>
            </a:r>
          </a:p>
          <a:p>
            <a:r>
              <a:t>CNPJ 63953620000165 · Elegibilidade · Resumo do histórico: {"count": 8, "dates": ["2026-04-28", "2026-05-08", "2026-05-15"], "document_count": 3, "sources": [{"document_id": "1327859", "title": "Demonstrações Financeiras - Fusão, cisão e incorporação", "reference_date": "2026-05-15", "version": "1", "page": 24, "url": "https://fnet.bmfbovespa.com.br/fnet/publico/visualizarDocumento?id=1327859", "sha256": "dca1c68babb97f887528c3e2e47596a9c30f507b067981a35655b2f2da9c8054"}, {"document_id": "1298691", "title": "Demonstrações Financeiras - Fusão, cisão e incorporação", "reference_date": "2026-05-08", "version": "1", "page": 24, "url": "https://fnet.bmfbovespa.com.br/fnet/publico/visualizarDocumento?id=1298691", "sha256": "58c570d9b8d4d265330d3db3ea81c435b8e44a6dab4002aa37790652a1ee9819"}, {"document_id": "1282180", "title": "Demonstrações Financeiras - Fusão, cisão e incorporação", "reference_date": "2026-04-28", "version": "1", "page": 25, "url": "https://fnet.bmfbovespa.com.br/fnet/publico/visualizarDocumento?id=1282180", "sha256": "afaaa0e6809be4385e5bdb6c911aac582032c5bdbac3d7750234bf9eaf00438a"}], "reference": {"path": "history/63953620000165.json", "criterion_id": "eligibility", "total_count": 8, "preview_count": 3, "full_text_deferred": true, "sha256": "a7b89077f5e21098c2d601c303faabc3ff6b9729f89d8afecdc60fe1404720c1"}}</a:t>
            </a:r>
          </a:p>
          <a:p>
            <a:r>
              <a:t>CNPJ 54871427000194 · Limites por contrato e devedor · Regulamento · ID 670691 · 28/04/2024 · versão Regulamento — referência 28/04/2024 · p. 10 · Anexo I, 4.7, parágrafo anterior ao inciso (xi) e inciso (xi) · https://fnet.bmfbovespa.com.br/fnet/publico/visualizarDocumento?id=670691</a:t>
            </a:r>
          </a:p>
          <a:p>
            <a:r>
              <a:t>CNPJ 54871427000194 · Limites por contrato e devedor · Excerto da fonte:</a:t>
            </a:r>
          </a:p>
          <a:p>
            <a:r>
              <a:t>CCB cuja amortização ordinária dos valores devidos, nos últimos 60 (sessenta) dias, tenha ocorrido de f orma integral e ordinária. Na primeira tranche de aquisição de Direitos Creditórios pelo Endossatário tal prazo poderá ser reduzido para 30 (trinta) dias nos casos de amortização extraordinária (via boleto) desde que o valor de aquisição dos ref eridos Direitos Creditórios não ultrapasse R$ 30.000,00 (trinta mil reais), exclusivamente via consignação em f olha de pagamento ou de benef ício; e (xi) Endosso de todas as CCBs de um mesmo Devedor que não ultrapasse 20% (vinte por cento) do patrimônio líquido da Classe. 4.7.1 Os Documentos Comprobatórios deverão ser disponibilizados pelo respectivo Endossante (a) no prazo de 10 (dez) dias contados da Data de Aquisição dos 50 (cinquenta) casos que sejam solicitados pelo GESTOR, a seu exclusivo critério, (b) a totalidade dos demais Documentos Comprobatórios em f ormato digital em até 90 (noventa) dias a contar da Data de Aquisição, bem como dos Documentos Comprobatórios em formato físico relativos aos Direitos Creditórios que eventualmente estejam inadimplidos em ref erida da</a:t>
            </a:r>
          </a:p>
          <a:p>
            <a:r>
              <a:t>CNPJ 54871427000194 · Limites por contrato e devedor · Condição: R$ 30 mil é teto da exceção de aquisição da primeira tranche; não é teto geral de cada CCB.</a:t>
            </a:r>
          </a:p>
          <a:p>
            <a:r>
              <a:t>CNPJ 54871427000194 · Limites por contrato e devedor · Motivo: Não localizada uma cláusula material para este critério nos textos identificados e processados. A ausência de resultado não comprova inexistência da regra.</a:t>
            </a:r>
          </a:p>
          <a:p>
            <a:r>
              <a:t>CNPJ 54871427000194 · Limites por contrato e devedor · Versão e prevalência: Leitura específica das cláusulas indicadas; condições e conflitos preservados. Seleção documental atual não comprova vigência jurídica por data isolada.</a:t>
            </a:r>
          </a:p>
          <a:p>
            <a:r>
              <a:t>CNPJ 60010416000112 · Limites por contrato e devedor · Regulamento · ID 1051393 · 09/10/2025 · versão Regulamento09/10/2025 · p. 10 · AnexoI4.4(ii), (iv),4.4.1 · https://fnet.bmfbovespa.com.br/fnet/publico/visualizarDocumento?id=1051393</a:t>
            </a:r>
          </a:p>
          <a:p>
            <a:r>
              <a:t>CNPJ 60010416000112 · Limites por contrato e devedor · Excerto da fonte:</a:t>
            </a:r>
          </a:p>
          <a:p>
            <a:r>
              <a:t>R$ 100.000,00 (cem mil reais), observado o disposto no item 4.4.1 abaixo; (iii) o prazo de vencimento das CCB representativas dos Direitos Creditórios deverá ser, no máximo, equivalente ao prazo máximo permitido pelas leis e regulamentações aplicáveis; e (iv) os Direitos Creditórios não poderão ser devidos por Devedores que tenham acima de 64 (sessenta e quatro) anos 11 (onze) meses e 29 (vinte e nove) dias na data de emissão da respectiva CCB. 4.4.1. O limite máximo de exposição da Classe por Devedor estabeleci</a:t>
            </a:r>
          </a:p>
          <a:p>
            <a:r>
              <a:t>CNPJ 60010416000112 · Limites por contrato e devedor · Condição: Prevalência da cláusula específica 4.4.1; limite privado do Contrato não foi presumido.</a:t>
            </a:r>
          </a:p>
          <a:p>
            <a:r>
              <a:t>CNPJ 60010416000112 · Limites por contrato e devedor · Motivo: Não localizada uma cláusula material para este critério nos textos identificados e processados. A ausência de resultado não comprova inexistência da regra.</a:t>
            </a:r>
          </a:p>
          <a:p>
            <a:r>
              <a:t>CNPJ 60010416000112 · Limites por contrato e devedor · Versão e prevalência: Leitura específica das cláusulas indicadas; condições e conflitos preservados. Seleção documental atual não comprova vigência jurídica por data isolada.</a:t>
            </a:r>
          </a:p>
          <a:p>
            <a:r>
              <a:t>CNPJ 62696791000193 · Limites por contrato e devedor · Motivo: Não localizada uma cláusula material para este critério nos textos identificados e processados. A ausência de resultado não comprova inexistência da regra.</a:t>
            </a:r>
          </a:p>
          <a:p>
            <a:r>
              <a:t>CNPJ 55563624000109 · Limites por contrato e devedor · Motivo: Não localizada uma cláusula material para este critério nos textos identificados e processados. A ausência de resultado não comprova inexistência da regra.</a:t>
            </a:r>
          </a:p>
          <a:p>
            <a:r>
              <a:t>CNPJ 62552447000120 · Limites por contrato e devedor · Motivo: Não localizada uma cláusula material para este critério nos textos identificados e processados. A ausência de resultado não comprova inexistência da regra.</a:t>
            </a:r>
          </a:p>
          <a:p>
            <a:r>
              <a:t>CNPJ 63953620000165 · Limites por contrato e devedor · Motivo: Não localizada uma cláusula material para este critério nos textos identificados e processados. A ausência de resultado não comprova inexistência da regra.</a:t>
            </a:r>
          </a:p>
          <a:p>
            <a:r>
              <a:t>CNPJ 54871427000194 · Prazo dos créditos e carência · Motivo: Não localizada uma cláusula material para este critério nos textos identificados e processados. A ausência de resultado não comprova inexistência da regra.</a:t>
            </a:r>
          </a:p>
          <a:p>
            <a:r>
              <a:t>CNPJ 60010416000112 · Prazo dos créditos e carência · Regulamento · ID 1051393 · 2025-10-09 · versão 1 · p. 11 · 4.5 · https://fnet.bmfbovespa.com.br/fnet/publico/visualizarDocumento?id=1051393</a:t>
            </a:r>
          </a:p>
          <a:p>
            <a:r>
              <a:t>CNPJ 60010416000112 · Prazo dos créditos e carência · Excerto da fonte:</a:t>
            </a:r>
          </a:p>
          <a:p>
            <a:r>
              <a:t>4.5 A parcela do Patrimônio Líquido que não estiver alocada em Direitos Creditórios será necessariamente  alocada no seguintes ativos (“Ativos Financeiros de Liquidez”).</a:t>
            </a:r>
          </a:p>
          <a:p>
            <a:r>
              <a:t> (i) moeda corrente nacional;</a:t>
            </a:r>
          </a:p>
          <a:p>
            <a:r>
              <a:t> (ii) títulos do Tesouro SELIC, anteriormente denominado letra f inanceira do Tesouro Nacional  (LFT);</a:t>
            </a:r>
          </a:p>
          <a:p>
            <a:r>
              <a:t> (iii) certif icados de depósito bancário (CDB) ou recibos de depósito bancário (RDB) com prazo  máximo de vencimento equivalente ao prazo remanescente do Período de Investimento, com  liquidez diária, emitidos por Instituições Autorizadas e/ou pelo Endossante, sendo certo que  os certif icados de depósito bancário (CDB) e recibos de depósito bancário (RDB) emitidos  pelo Endossante e integrantes da carteira da Classe não poderão exceder o valor de R$</a:t>
            </a:r>
          </a:p>
          <a:p>
            <a:r>
              <a:t> 25.000.000,00 (vinte e cinco milhões de reais);</a:t>
            </a:r>
          </a:p>
          <a:p>
            <a:r>
              <a:t> (iv) operações compromissadas, desde que lastreadas nos títulos mencionados nas alíneas (i) a</a:t>
            </a:r>
          </a:p>
          <a:p>
            <a:r>
              <a:t> (iii) acima, emitidas por Instituições Autorizadas, com liquidez diária e vencimento inferior a  365 (trezentos e sessenta e cinco) dias; e</a:t>
            </a:r>
          </a:p>
          <a:p>
            <a:r>
              <a:t> (v) cotas de classes de f undos de investimentos de renda f ixa ou indexados à Taxa DI com  liquidez diária, cujas políticas de investimento admitam a alocação de recursos  exclusivamente nos ativos das alíneas (ii) e (iii) acima, incluindo f undos geridos e/ou  administrados pelo Administrador, pelo Custodiante e/ou pelo Gestor.</a:t>
            </a:r>
          </a:p>
          <a:p>
            <a:r>
              <a:t>Limites de Concentração e Vedações para a Composição da Carteira</a:t>
            </a:r>
          </a:p>
          <a:p>
            <a:r>
              <a:t>CNPJ 60010416000112 · Prazo dos créditos e carência · Regulamento · ID 1051393 · 2025-10-09 · versão 1 · p. 10 · https://fnet.bmfbovespa.com.br/fnet/publico/visualizarDocumento?id=1051393</a:t>
            </a:r>
          </a:p>
          <a:p>
            <a:r>
              <a:t>CNPJ 60010416000112 · Prazo dos créditos e carência · Excerto da fonte:</a:t>
            </a:r>
          </a:p>
          <a:p>
            <a:r>
              <a:t>Anexo I ao Regulamento CLASSE ÚNICA DO MT I CONSIGNADO PRIVADO I FUNDO DE INVESTIMENTO EM DIREITOS CREDITÓRIOS RESPONSABILIDADE LIMITADA</a:t>
            </a:r>
          </a:p>
          <a:p>
            <a:r>
              <a:t> (ii) o saldo dos Direitos Creditórios devidos pelo mesmo Devedor à Classe, considerando, pro  forma, o endosso pretendido, não deverá exceder R$ 100.000,00 (cem mil reais), observado  o disposto no item 4.4.1 abaixo;</a:t>
            </a:r>
          </a:p>
          <a:p>
            <a:r>
              <a:t> (iii) o prazo de vencimento das CCB representativas dos Direitos Creditórios deverá ser, no  máximo, equivalente ao prazo máximo permitido pelas leis e regulamentações aplicáveis; e</a:t>
            </a:r>
          </a:p>
          <a:p>
            <a:r>
              <a:t> (iv) os Direitos Creditórios não poderão ser devidos por Devedores que tenham acima de 64  (sessenta e quatro) anos 11 (onze) meses e 29 (vinte e nove) dias na data de emissão da  respectiva CCB.</a:t>
            </a:r>
          </a:p>
          <a:p>
            <a:r>
              <a:t>CNPJ 60010416000112 · Prazo dos créditos e carência · Condição: Documentos atuais selecionados no inventário por categoria/escopo; a data documental isolada não comprova vigência jurídica.</a:t>
            </a:r>
          </a:p>
          <a:p>
            <a:r>
              <a:t>CNPJ 60010416000112 · Prazo dos créditos e carência · Versão e prevalência: Documentos atuais selecionados no inventário por categoria/escopo; a data documental isolada não comprova vigência jurídica.</a:t>
            </a:r>
          </a:p>
          <a:p>
            <a:r>
              <a:t>CNPJ 60010416000112 · Prazo dos créditos e carência · Resumo do histórico: {"count": 1, "dates": ["2025-03-20"], "document_count": 1, "sources": [{"document_id": "993786", "title": "Regulamento", "reference_date": "2025-03-20", "version": "1", "page": 11, "clause": "4.5", "url": "https://fnet.bmfbovespa.com.br/fnet/publico/visualizarDocumento?id=993786", "sha256": "fd0fdd369a195510d81f81f505195a0b09e5f43522a990afa7d58c4f872921c8"}], "reference": {"path": "history/60010416000112.json", "criterion_id": "term", "total_count": 1, "preview_count": 1, "full_text_deferred": true, "sha256": "8e2bd813f4c51cf01f6bfaad164bafe69d2bbb192f753eac92da3a01c2e63046"}}</a:t>
            </a:r>
          </a:p>
          <a:p>
            <a:r>
              <a:t>CNPJ 62696791000193 · Prazo dos créditos e carência · Motivo: Não localizada uma cláusula material para este critério nos textos identificados e processados. A ausência de resultado não comprova inexistência da regra.</a:t>
            </a:r>
          </a:p>
          <a:p>
            <a:r>
              <a:t>CNPJ 55563624000109 · Prazo dos créditos e carência · Motivo: Não localizada uma cláusula material para este critério nos textos identificados e processados. A ausência de resultado não comprova inexistência da regra.</a:t>
            </a:r>
          </a:p>
          <a:p>
            <a:r>
              <a:t>CNPJ 62552447000120 · Prazo dos créditos e carência · Motivo: Não localizada uma cláusula material para este critério nos textos identificados e processados. A ausência de resultado não comprova inexistência da regra.</a:t>
            </a:r>
          </a:p>
          <a:p>
            <a:r>
              <a:t>CNPJ 63953620000165 · Prazo dos créditos e carência · Anexo ao Regulamento · ID 1222863 · 2026-06-02 · versão 1 · p. 2 · https://fnet.bmfbovespa.com.br/fnet/publico/visualizarDocumento?id=1222863</a:t>
            </a:r>
          </a:p>
          <a:p>
            <a:r>
              <a:t>CNPJ 63953620000165 · Prazo dos créditos e carência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Prazo dos créditos e carência · Condição: Documentos atuais selecionados no inventário por categoria/escopo; a data documental isolada não comprova vigência jurídica.</a:t>
            </a:r>
          </a:p>
          <a:p>
            <a:r>
              <a:t>CNPJ 63953620000165 · Prazo dos créditos e carência · Versão e prevalência: Documentos atuais selecionados no inventário por categoria/escopo; a data documental isolada não comprova vigência jurídica.</a:t>
            </a:r>
          </a:p>
          <a:p>
            <a:r>
              <a:t>CNPJ 63953620000165 · Prazo dos créditos e carência · Resumo do histórico: {"count": 8, "dates": ["2026-04-28", "2026-05-08", "2026-05-15"], "document_count": 3, "sources": [{"document_id": "1327859", "title": "Demonstrações Financeiras - Fusão, cisão e incorporação", "reference_date": "2026-05-15", "version": "1", "page": 16, "url": "https://fnet.bmfbovespa.com.br/fnet/publico/visualizarDocumento?id=1327859", "sha256": "dca1c68babb97f887528c3e2e47596a9c30f507b067981a35655b2f2da9c8054"}, {"document_id": "1298691", "title": "Demonstrações Financeiras - Fusão, cisão e incorporação", "reference_date": "2026-05-08", "version": "1", "page": 16, "url": "https://fnet.bmfbovespa.com.br/fnet/publico/visualizarDocumento?id=1298691", "sha256": "58c570d9b8d4d265330d3db3ea81c435b8e44a6dab4002aa37790652a1ee9819"}, {"document_id": "1282180", "title": "Demonstrações Financeiras - Fusão, cisão e incorporação", "reference_date": "2026-04-28", "version": "1", "page": 16, "url": "https://fnet.bmfbovespa.com.br/fnet/publico/visualizarDocumento?id=1282180", "sha256": "afaaa0e6809be4385e5bdb6c911aac582032c5bdbac3d7750234bf9eaf00438a"}], "reference": {"path": "history/63953620000165.json", "criterion_id": "term", "total_count": 8, "preview_count": 3, "full_text_deferred": true, "sha256": "a7b89077f5e21098c2d601c303faabc3ff6b9729f89d8afecdc60fe1404720c1"}}</a:t>
            </a:r>
          </a:p>
          <a:p>
            <a:r>
              <a:t>CNPJ 54871427000194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null, "comparison_required": true, "context_formula": "", "context_value": null, "context_unit": ""}</a:t>
            </a:r>
          </a:p>
          <a:p>
            <a:r>
              <a:t>CNPJ 54871427000194 · Concentração por devedor, cedente e grupo · Regulamento · ID 670691 · 28/04/2024 · versão Regulamento — referência 28/04/2024 · p. 11 · Anexo I, 4.10 e 4.11.2–4.11.4 · https://fnet.bmfbovespa.com.br/fnet/publico/visualizarDocumento?id=670691</a:t>
            </a:r>
          </a:p>
          <a:p>
            <a:r>
              <a:t>CNPJ 54871427000194 · Concentração por devedor, cedente e grupo · Excerto da fonte:</a:t>
            </a:r>
          </a:p>
          <a:p>
            <a:r>
              <a:t>4.10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4.11 A Classe poderá, direta ou indiretamente e, nos termos da legislação aplicável: (i) adquirir Direitos Creditórios que sejam cedidos e/ou originados pelo ADMINISTRADOR e/ou pelo GESTOR, ou partes a eles relacionadas, tal como definidas pelas regras contábeis que tratam desse assunto; e (ii) ceder Direitos Creditórios a qualquer das pessoas, fundos de investimento ou entidades referidas no item (i) acima, desde que (i) o ADMINISTRADOR, GESTOR, a entidade registradora e o CUSTODIANTE de Direitos Creditórios não sejam partes relacionadas entre si; e (ii) a entidade registradora e o</a:t>
            </a:r>
          </a:p>
          <a:p>
            <a:r>
              <a:t>CNPJ 54871427000194 · Concentração por devedor, cedente e grupo · Regulamento · ID 670691 · 28/04/2024 · versão Regulamento — referência 28/04/2024 · p. 10 · Anexo I, 4.7(xi) · https://fnet.bmfbovespa.com.br/fnet/publico/visualizarDocumento?id=670691</a:t>
            </a:r>
          </a:p>
          <a:p>
            <a:r>
              <a:t>CNPJ 54871427000194 · Concentração por devedor, cedente e grupo · Excerto da fonte:</a:t>
            </a:r>
          </a:p>
          <a:p>
            <a:r>
              <a:t>(xi) Endosso de todas as CCBs de um mesmo Devedor que não ultrapasse 20% (vinte por cento) do patrimônio líquido da Classe. 4.7.1 Os Documentos Comprobatórios deverão ser disponibilizados pelo respectivo Endossante (a) no prazo de 10 (dez) dias contados da Data de Aquisição dos 50 (cinquenta) casos que sejam solicitados pelo GESTOR, a seu exclusivo critério, (b) a totalidade dos demais Documentos Comprobatórios em f ormato digital em até 90 (noventa) dias a contar da Data de Aquisição, bem como dos Documentos Comprobatórios em formato físico relativos aos Direitos Creditórios que eventualmente estejam inadimplidos em ref erida data, e (c) a totalidade dos demais Documentos Comprobatórios em f ormato f ísico em até 180 (cento e oitenta) dias a contar da Data de Aquisição, sujeito à resolução do respectivo endosso, de acordo com os termos do Contrato de Endosso. 4.7.2 Caso um Direito Creditório cedido à Classe deixe de atender quaisquer Critérios de Elegibilidade e/ou quaisquer declarações e garantias ref erentes a esse Direito Creditório, conf orme previsto no respectivo Contrato de Endosso, após seu endosso à</a:t>
            </a:r>
          </a:p>
          <a:p>
            <a:r>
              <a:t>CNPJ 54871427000194 · Concentração por devedor, cedente e grupo · Condição: Na aquisição, o critério específico de 20% restringe o permissivo geral de 100%. Uma concentração observada no IME exige base e devedor identificados.</a:t>
            </a:r>
          </a:p>
          <a:p>
            <a:r>
              <a:t>CNPJ 54871427000194 · Concentração por devedor, cedente e grupo · Versão e prevalência: Leitura específica das cláusulas indicadas; condições e conflitos preservados. Seleção documental atual não comprova vigência jurídica por data isolada.</a:t>
            </a:r>
          </a:p>
          <a:p>
            <a:r>
              <a:t>CNPJ 54871427000194 · Concentração por devedor, cedente e grupo · Resumo do histórico: {"count": 2, "dates": ["2024-04-19", "2024-04-28"], "document_count": 2, "sources": [{"document_id": "670691", "title": "Regulamento", "reference_date": "2024-04-28", "version": "1", "page": "10-11", "url": "https://fnet.bmfbovespa.com.br/fnet/publico/visualizarDocumento?id=670691", "sha256": "bf16dd7f1a62d5cdbf2e2d54fef81783783f7310fbc99c3a8f00459bdf9d037b"}, {"document_id": "670689", "title": "Regulamento", "reference_date": "2024-04-19", "version": "1", "page": 11, "clause": "4.10", "url": "https://fnet.bmfbovespa.com.br/fnet/publico/visualizarDocumento?id=670689", "sha256": "891bc9bc5d87bbc02ec139077a84d2702eb81ea02035fb71d24f5b8366b94a0b"}], "reference": {"path": "history/54871427000194.json", "criterion_id": "concentration", "total_count": 2, "preview_count": 2, "full_text_deferred": true, "sha256": "35d7cd99be50c7287c9fb675cf4f2e736002315295a225a9efa79c8d9186d874"}}</a:t>
            </a:r>
          </a:p>
          <a:p>
            <a:r>
              <a:t>CNPJ 60010416000112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null, "comparison_required": true, "context_formula": "", "context_value": null, "context_unit": ""}</a:t>
            </a:r>
          </a:p>
          <a:p>
            <a:r>
              <a:t>CNPJ 60010416000112 · Concentração por devedor, cedente e grupo · Regulamento · ID 1051393 · 09/10/2025 · versão Regulamento09/10/2025 · p. 11 · AnexoI4.4.9(iv),4.5(iii) · https://fnet.bmfbovespa.com.br/fnet/publico/visualizarDocumento?id=1051393</a:t>
            </a:r>
          </a:p>
          <a:p>
            <a:r>
              <a:t>CNPJ 60010416000112 · Concentração por devedor, cedente e grupo · Excerto da fonte:</a:t>
            </a:r>
          </a:p>
          <a:p>
            <a:r>
              <a:t>3,00% (três por cento) do Patrimônio Líquido da Classe. Ativos Financeiros de Liquidez 4.5 A parcela do Patrimônio Líquido que não estiver alocada em Direitos Creditórios será necessariamente alocada no seguintes ativos (“Ativos Financeiros de Liquidez”). (i) moeda corrente nacional; (ii) títulos do Tesouro SELIC, anteriormente denominado letra f inanceira do Tesouro Nacional (LFT); (iii) certif icados de depósito bancário (CDB) ou recibos de depósito bancário (RDB) com prazo máximo de vencimento equivalente ao prazo remanescente</a:t>
            </a:r>
          </a:p>
          <a:p>
            <a:r>
              <a:t>CNPJ 60010416000112 · Concentração por devedor, cedente e grupo · Regulamento · ID 1051393 · 09/10/2025 · versão Regulamento09/10/2025 · p. 12 · AnexoI4.7–4.8 · https://fnet.bmfbovespa.com.br/fnet/publico/visualizarDocumento?id=1051393</a:t>
            </a:r>
          </a:p>
          <a:p>
            <a:r>
              <a:t>CNPJ 60010416000112 · Concentração por devedor, cedente e grupo · Excerto da fonte:</a:t>
            </a:r>
          </a:p>
          <a:p>
            <a:r>
              <a:t>4.7 A Classe deverá observar, ainda, os limites de concentração definidos na Política de Crédito, que integra o Contrato de Endosso como Anexo 3.2(v). 4.8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a:t>
            </a:r>
          </a:p>
          <a:p>
            <a:r>
              <a:t>CNPJ 60010416000112 · Concentração por devedor, cedente e grupo · Versão e prevalência: Leitura específica das cláusulas indicadas; condições e conflitos preservados. Seleção documental atual não comprova vigência jurídica por data isolada.</a:t>
            </a:r>
          </a:p>
          <a:p>
            <a:r>
              <a:t>CNPJ 60010416000112 · Concentração por devedor, cedente e grupo · Resumo do histórico: {"count": 2, "dates": ["2025-03-20", "2025-10-09"], "document_count": 2, "sources": [{"document_id": "1051393", "title": "Regulamento", "reference_date": "2025-10-09", "version": "1", "page": "11-12", "url": "https://fnet.bmfbovespa.com.br/fnet/publico/visualizarDocumento?id=1051393", "sha256": "8469d613078ffd5a6c1d217885d8a397a16342c0b937ae4aa24b106505f233ae"}, {"document_id": "993786", "title": "Regulamento", "reference_date": "2025-03-20", "version": "1", "page": 12, "clause": "4.8", "url": "https://fnet.bmfbovespa.com.br/fnet/publico/visualizarDocumento?id=993786", "sha256": "fd0fdd369a195510d81f81f505195a0b09e5f43522a990afa7d58c4f872921c8"}], "reference": {"path": "history/60010416000112.json", "criterion_id": "concentration", "total_count": 2, "preview_count": 2, "full_text_deferred": true, "sha256": "8e2bd813f4c51cf01f6bfaad164bafe69d2bbb192f753eac92da3a01c2e63046"}}</a:t>
            </a:r>
          </a:p>
          <a:p>
            <a:r>
              <a:t>CNPJ 62696791000193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null, "comparison_required": true, "context_formula": "", "context_value": null, "context_unit": ""}</a:t>
            </a:r>
          </a:p>
          <a:p>
            <a:r>
              <a:t>CNPJ 62696791000193 · Concentração por devedor, cedente e grupo · Regulamento · ID 1143317 · 20/03/2026 · versão Regulamento — referência 20/03/2026 · p. 11 · Anexo I, 4.8–4.9 · https://fnet.bmfbovespa.com.br/fnet/publico/visualizarDocumento?id=1143317</a:t>
            </a:r>
          </a:p>
          <a:p>
            <a:r>
              <a:t>CNPJ 62696791000193 · Concentração por devedor, cedente e grupo · Excerto da fonte:</a:t>
            </a:r>
          </a:p>
          <a:p>
            <a:r>
              <a:t>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relacionadas ao Gestor. 4.8.1 As aplicações em Direitos Creditórios do Agronegócio decorrentes de receitas públicas originárias ou derivadas da União, dos Estados, do Distrito Federal e dos Municípios ou de suas autarquias e f undações, assim como em Direitos Creditórios do Agronegócio cedidos ou originados por empresas controladas pelo poder público, não estão submetidas ao limite de concentração por emissor previsto no caput. 4.9 Nos termos do Art. 45 do Anexo</a:t>
            </a:r>
          </a:p>
          <a:p>
            <a:r>
              <a:t>CNPJ 62696791000193 · Concentração por devedor, cedente e grupo · Regulamento · ID 1143317 · 20/03/2026 · versão Regulamento — referência 20/03/2026 · p. 12 · Anexo I, 4.10(i)–(ix) · https://fnet.bmfbovespa.com.br/fnet/publico/visualizarDocumento?id=1143317</a:t>
            </a:r>
          </a:p>
          <a:p>
            <a:r>
              <a:t>CNPJ 62696791000193 · Concentração por devedor, cedente e grupo · Excerto da fonte:</a:t>
            </a:r>
          </a:p>
          <a:p>
            <a:r>
              <a:t>4.10 Sem prejuízo de limites mais restritivos definidos neste Anexo, o Gestor deverá observar, ainda, os seguintes limites de concentração: (i) A Classe poderá, direta ou indiretamente, ter até 100% (cem por cento) do Patrimônio Líquido representado por Direitos Creditórios do Agronegócio originados ou cedidos pelo Administrador, Gestor e/ou suas partes relacionadas, tal como definidas pelas regras contábeis que tratam desse assunto, desde que (a) o Gest or, a entidade registradora e o Custodiante dos Direitos Creditórios do Agronegócio não sejam partes relacionadas entre si; e (b) a entidade registradora e o Custodiante dos Direitos Creditórios do Agronegócio não sejam partes relacionadas ao originador ou Cedente. (ii) No máximo, 100% (cem por cento) do Patrimônio Líquido investido em Ativos Financeiros de Liquidez de emissão ou que envolvam retenção de risco por parte do Administrador, Gestor, e/ou suas partes relacionadas, observado ainda o disposto no item Error! Reference source not found.;</a:t>
            </a:r>
          </a:p>
          <a:p>
            <a:r>
              <a:t>CNPJ 62696791000193 · Concentração por devedor, cedente e grupo · Condição: Liquidez/derivativos relacionados também têm permissivos de 100%, mas remissões internas aparecem como “Error! Reference source not found.”.</a:t>
            </a:r>
          </a:p>
          <a:p>
            <a:r>
              <a:t>CNPJ 62696791000193 · Concentração por devedor, cedente e grupo · Versão e prevalência: Leitura específica das cláusulas indicadas; condições e conflitos preservados. Seleção documental atual não comprova vigência jurídica por data isolada.</a:t>
            </a:r>
          </a:p>
          <a:p>
            <a:r>
              <a:t>CNPJ 55563624000109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null, "comparison_required": true, "context_formula": "", "context_value": null, "context_unit": ""}</a:t>
            </a:r>
          </a:p>
          <a:p>
            <a:r>
              <a:t>CNPJ 55563624000109 · Concentração por devedor, cedente e grupo · Regulamento · ID 1192614 · 30/04/2026 · versão Regulamento30/04/2026 · p. 13 · AnexoI4.11–4.12.1 · https://fnet.bmfbovespa.com.br/fnet/publico/visualizarDocumento?id=1192614</a:t>
            </a:r>
          </a:p>
          <a:p>
            <a:r>
              <a:t>CNPJ 55563624000109 · Concentração por devedor, cedente e grupo · Excerto da fonte:</a:t>
            </a:r>
          </a:p>
          <a:p>
            <a:r>
              <a:t>4.11 Nos termos dos artigos 45, parágrafo 7º, e 47 parágrafo único do Anexo Normativo II à Resolução CVM 175, uma vez que as Cotas são destinadas exclusivamente a Investidores Profissionais, a Classe poderá ter até 100% (cem por cento) de seu Patrimônio Líquido alocado em Cotas da Classe Investida, as quais são emitidas pela Classe Investida. 4.12 A Classe poderá, direta ou indiretamente (i) adquirir Cotas da Classe Investida que sejam administrados pelo ADMINISTRADOR, e geridos ou cogeridos pelo GESTOR, ou partes a eles relacionadas, tal como definidas pelas</a:t>
            </a:r>
          </a:p>
          <a:p>
            <a:r>
              <a:t>CNPJ 55563624000109 · Concentração por devedor, cedente e grupo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Concentração por devedor, cedente e grupo · Versão e prevalência: Leitura específica das cláusulas indicadas; condições e conflitos preservados. Seleção documental atual não comprova vigência jurídica por data isolada.</a:t>
            </a:r>
          </a:p>
          <a:p>
            <a:r>
              <a:t>CNPJ 55563624000109 · Concentração por devedor, cedente e grupo · Resumo do histórico: {"count": 1, "dates": ["2026-04-30"], "document_count": 1, "sources": [{"document_id": "1192614", "title": "Regulamento", "reference_date": "2026-04-30", "version": "1", "page": "11-12", "url": "https://fnet.bmfbovespa.com.br/fnet/publico/visualizarDocumento?id=1192614", "sha256": "f56e63ace0acde41d2f47fb48f1ac7f3f7df5e2d32de092d7c5e075a52516632"}], "reference": {"path": "history/55563624000109.json", "criterion_id": "concentration", "total_count": 1, "preview_count": 1, "full_text_deferred": true, "sha256": "7835d573fb58a3c19adf5b8ecc2aee2bdbb9a88f7a0c0209b5f262b64c7522e3"}}</a:t>
            </a:r>
          </a:p>
          <a:p>
            <a:r>
              <a:t>CNPJ 62552447000120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null, "comparison_required": true, "context_formula": "", "context_value": null, "context_unit": ""}</a:t>
            </a:r>
          </a:p>
          <a:p>
            <a:r>
              <a:t>CNPJ 62552447000120 · Concentração por devedor, cedente e grupo · Regulamento · ID 1200623 · 21/05/2026 · versão Consolidado21/05/2026 aprovado pelo ato1200625 · p. 14 · AnexoI4.10–4.13 · https://fnet.bmfbovespa.com.br/fnet/publico/visualizarDocumento?id=1200623</a:t>
            </a:r>
          </a:p>
          <a:p>
            <a:r>
              <a:t>CNPJ 62552447000120 · Concentração por devedor, cedente e grupo · Excerto da fonte:</a:t>
            </a:r>
          </a:p>
          <a:p>
            <a:r>
              <a:t>4.10 Nos termos do art. 45, §7º, inciso II, do Anexo Normativo II, a Classe poderá ter até 100% (cem por cento) de seu Patrimônio Líquido alocado em Direitos Creditórios, derivativos, observado o disposto abaixo,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4.10.1 O uso de derivativos está restr</a:t>
            </a:r>
          </a:p>
          <a:p>
            <a:r>
              <a:t>CNPJ 62552447000120 · Concentração por devedor, cedente e grupo · Condição: Regulamento permite concentração ampla; TVM têm limite específico 10% PL na elegibilidade.</a:t>
            </a:r>
          </a:p>
          <a:p>
            <a:r>
              <a:t>CNPJ 62552447000120 · Concentração por devedor, cedente e grupo · Versão e prevalência: Leitura específica das cláusulas indicadas; condições e conflitos preservados. Seleção documental atual não comprova vigência jurídica por data isolada.</a:t>
            </a:r>
          </a:p>
          <a:p>
            <a:r>
              <a:t>CNPJ 63953620000165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null, "comparison_required": true, "context_formula": "", "context_value": null, "context_unit": ""}</a:t>
            </a:r>
          </a:p>
          <a:p>
            <a:r>
              <a:t>CNPJ 63953620000165 · Concentração por devedor, cedente e grupo · Anexo ao Regulamento · ID 1222863 · 02/06/2026 · versão AnexoConsignadoPrivado02/06/2026 · p. 6 · 4.14 · https://fnet.bmfbovespa.com.br/fnet/publico/visualizarDocumento?id=1222863</a:t>
            </a:r>
          </a:p>
          <a:p>
            <a:r>
              <a:t>CNPJ 63953620000165 · Concentração por devedor, cedente e grupo · Excerto da fonte:</a:t>
            </a:r>
          </a:p>
          <a:p>
            <a:r>
              <a:t>4.14 Nos termos do Art. 45, §7º, inciso II, do Anexo Normativo II da Resolução CVM 175, a Classe poderá ter até 100% (cem por cento) de seu Patrimônio Líquido alocado em Direitos Creditórios, derivativos, observado o disposto neste Anexo I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4.15 Sem prejuízo de limites</a:t>
            </a:r>
          </a:p>
          <a:p>
            <a:r>
              <a:t>CNPJ 63953620000165 · Concentração por devedor, cedente e grupo · Anexo ao Regulamento · ID 1222863 · 02/06/2026 · versão AnexoConsignadoPrivado02/06/2026 · p. 7 · 4.15(i)–(v) · https://fnet.bmfbovespa.com.br/fnet/publico/visualizarDocumento?id=1222863</a:t>
            </a:r>
          </a:p>
          <a:p>
            <a:r>
              <a:t>CNPJ 63953620000165 · Concentração por devedor, cedente e grupo · Excerto da fonte:</a:t>
            </a:r>
          </a:p>
          <a:p>
            <a:r>
              <a:t>(i)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CNPJ 63953620000165 · Concentração por devedor, cedente e grupo · Versão e prevalência: Leitura específica das cláusulas indicadas; condições e conflitos preservados. Seleção documental atual não comprova vigência jurídica por data isolada.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Recebíveis e aquisição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Natureza dos recebíveis · Regulamento · ID 670691 · 28/04/2024 · versão Regulamento — referência 28/04/2024 · p. 9 · Anexo I, 4.2–4.2.1 · https://fnet.bmfbovespa.com.br/fnet/publico/visualizarDocumento?id=670691</a:t>
            </a:r>
          </a:p>
          <a:p>
            <a:r>
              <a:t>CNPJ 54871427000194 · Natureza dos recebíveis · Excerto da fonte:</a:t>
            </a:r>
          </a:p>
          <a:p>
            <a:r>
              <a:t>4.2 Os Direitos Creditórios representados por Certif icados de Cédulas de Crédito Bancário (“CCCBs”), representativos de um agrupamento de determinadas CCBs, originadas no âmbito de operações de empréstimos pessoais concedidos por um Endossante a um Devedor, devidamente f ormalizadas por via eletrônica de acordo com a legislação aplicável, segundo os critérios de composição e diversificação estabelecidos pela regulamentação aplicável e neste Regulamento. 4.2.1 Cada Endossante deve ter celebrado convênio com órgão consignante, previamente à cessão de Direitos Creditórios à Classe, que contemplam a obrigação da manutenção da consignação/averbação junto ao novo órgão, de modo a possibilitar o pagamento dos Direitos Creditórios por meio de consignação em f olha de pagamento ou de benef ício . 4.3 Os pagamentos relativos aos Direitos Creditórios de titularidade da Classe serão realizados mediante consignação em folha, débito em conta de titularidade dos Devedores e pagamentos de sinistros, para pagamento dos valores correspondentes às parcelas das CCBs representadas pelos CCCBs de titularidade da Classe, os quais serão conciliados e repassados pelo Endossan</a:t>
            </a:r>
          </a:p>
          <a:p>
            <a:r>
              <a:t>CNPJ 54871427000194 · Natureza dos recebíveis · Versão e prevalência: Leitura específica das cláusulas indicadas; condições e conflitos preservados. Seleção documental atual não comprova vigência jurídica por data isolada.</a:t>
            </a:r>
          </a:p>
          <a:p>
            <a:r>
              <a:t>CNPJ 54871427000194 · Natureza dos recebíveis · Resumo do histórico: {"count": 3, "dates": ["2024-04-19", "2024-04-28"], "document_count": 2, "sources": [{"document_id": "670691", "title": "Regulamento", "reference_date": "2024-04-28", "version": "1", "page": "9, 38-39", "url": "https://fnet.bmfbovespa.com.br/fnet/publico/visualizarDocumento?id=670691", "sha256": "bf16dd7f1a62d5cdbf2e2d54fef81783783f7310fbc99c3a8f00459bdf9d037b"}, {"document_id": "670691", "title": "Regulamento", "reference_date": "2024-04-28", "version": "1", "page": 34, "clause": "15.1.5", "url": "https://fnet.bmfbovespa.com.br/fnet/publico/visualizarDocumento?id=670691", "sha256": "bf16dd7f1a62d5cdbf2e2d54fef81783783f7310fbc99c3a8f00459bdf9d037b"}, {"document_id": "670689", "title": "Regulamento", "reference_date": "2024-04-19", "version": "1", "page": 35, "clause": "15.1.5", "url": "https://fnet.bmfbovespa.com.br/fnet/publico/visualizarDocumento?id=670689", "sha256": "891bc9bc5d87bbc02ec139077a84d2702eb81ea02035fb71d24f5b8366b94a0b"}], "reference": {"path": "history/54871427000194.json", "criterion_id": "receivables", "total_count": 3, "preview_count": 3, "full_text_deferred": true, "sha256": "35d7cd99be50c7287c9fb675cf4f2e736002315295a225a9efa79c8d9186d874"}}</a:t>
            </a:r>
          </a:p>
          <a:p>
            <a:r>
              <a:t>CNPJ 60010416000112 · Natureza dos recebíveis · Regulamento · ID 1051393 · 09/10/2025 · versão Regulamento09/10/2025 · p. 9 · AnexoI4.2 · https://fnet.bmfbovespa.com.br/fnet/publico/visualizarDocumento?id=1051393</a:t>
            </a:r>
          </a:p>
          <a:p>
            <a:r>
              <a:t>CNPJ 60010416000112 · Natureza dos recebíveis · Excerto da fonte:</a:t>
            </a:r>
          </a:p>
          <a:p>
            <a:r>
              <a:t>4.2 Os Direitos Creditórios são originados no âmbito de operações de empréstimo consignado concedido pelo Endossante a um Devedor por meio da Plataforma MT e representado por CCB, devidamente formalizada por via eletrônica, de acordo com a legislação aplicável, observada a Política de Crédito constante do Contrato de Endosso. O Endossante celebrou o Convênio Consignado Privado previamente ao endosso de Direitos Creditórios Elegíveis à Classe, para que, após a averbação dos Direitos Creditórios na Dataprev, o pagamento regular dos Direitos Creditórios decorrentes das CCB seja f eito por Consignação</a:t>
            </a:r>
          </a:p>
          <a:p>
            <a:r>
              <a:t>CNPJ 60010416000112 · Natureza dos recebíveis · Versão e prevalência: Leitura específica das cláusulas indicadas; condições e conflitos preservados. Seleção documental atual não comprova vigência jurídica por data isolada.</a:t>
            </a:r>
          </a:p>
          <a:p>
            <a:r>
              <a:t>CNPJ 60010416000112 · Natureza dos recebíveis · Resumo do histórico: {"count": 2, "dates": ["2025-03-20", "2025-10-09"], "document_count": 2, "sources": [{"document_id": "1051393", "title": "Regulamento", "reference_date": "2025-10-09", "version": "1", "page": "9-11", "url": "https://fnet.bmfbovespa.com.br/fnet/publico/visualizarDocumento?id=1051393", "sha256": "8469d613078ffd5a6c1d217885d8a397a16342c0b937ae4aa24b106505f233ae"}, {"document_id": "993786", "title": "Regulamento", "reference_date": "2025-03-20", "version": "1", "page": 30, "clause": "12.5.1", "url": "https://fnet.bmfbovespa.com.br/fnet/publico/visualizarDocumento?id=993786", "sha256": "fd0fdd369a195510d81f81f505195a0b09e5f43522a990afa7d58c4f872921c8"}], "reference": {"path": "history/60010416000112.json", "criterion_id": "receivables", "total_count": 2, "preview_count": 2, "full_text_deferred": true, "sha256": "8e2bd813f4c51cf01f6bfaad164bafe69d2bbb192f753eac92da3a01c2e63046"}}</a:t>
            </a:r>
          </a:p>
          <a:p>
            <a:r>
              <a:t>CNPJ 62696791000193 · Natureza dos recebíveis · Regulamento · ID 1143317 · 20/03/2026 · versão Regulamento — referência 20/03/2026 · p. 6 · Anexo I, 1.1, Objetivo · https://fnet.bmfbovespa.com.br/fnet/publico/visualizarDocumento?id=1143317</a:t>
            </a:r>
          </a:p>
          <a:p>
            <a:r>
              <a:t>CNPJ 62696791000193 · Natureza dos recebíveis · Excerto da fonte:</a:t>
            </a:r>
          </a:p>
          <a:p>
            <a:r>
              <a:t>A Classe tem por objetivo proporcionar aos Cotistas a valorização e a rentabilidade de suas cotas (“Cotas”), conforme a política de investimentos def inida no Capítulo IV abaixo (“Política de Investimentos”), por meio de aplicação do seu Patrimônio Líquido (conforme def inido abaixo) nos seguintes ativos de origem vinculada às cadeias produtivas do agronegócio (“Direitos Creditórios do Agronegócio”): (i) títulos de crédito emitidos por pessoas naturais e jurídicas que integrem as cadeias produtivas do agronegócio; (ii) direitos creditórios do agronegócio; (iii) certificados de recebíveis do agronegócio e outros títulos de securitização emitidos com lastro em direitos creditórios do agronegócio; e (iv) certificados de recebíveis e outro</a:t>
            </a:r>
          </a:p>
          <a:p>
            <a:r>
              <a:t>CNPJ 62696791000193 · Natureza dos recebíveis · Regulamento · ID 1143317 · 20/03/2026 · versão Regulamento — referência 20/03/2026 · p. 7 · Anexo I, 1.1, Objetivo · https://fnet.bmfbovespa.com.br/fnet/publico/visualizarDocumento?id=1143317</a:t>
            </a:r>
          </a:p>
          <a:p>
            <a:r>
              <a:t>CNPJ 62696791000193 · Natureza dos recebíveis · Excerto da fonte:</a:t>
            </a:r>
          </a:p>
          <a:p>
            <a:r>
              <a:t>(i) participações em sociedades que explorem atividades integrantes das cadeias produtivas do agronegócio. (C) Categoria “Financeiro” (“Ativos Financeiros do Agronegócio Financeiros”): (i) ativos f inanceiros e valores mobiliários emitidos por pessoas naturais e jurídicas que integrem as cadeias produtivas do agronegócio. (D) Categoria “Geral” (“Ativos em Geral do Agronegócio”): (i) cotas de classes que apliquem mais de 50% (cinquenta por cento) de seu patrimônio líquido nos ativos referidos nos incisos “A” a “D” acima, o que inclui cotas de outros FIAGRO, mas não se limita a essa categoria de f undos. Os Ativos Imobiliários do Agronegócio, Participações do Agronegócio,</a:t>
            </a:r>
          </a:p>
          <a:p>
            <a:r>
              <a:t>CNPJ 62696791000193 · Natureza dos recebíveis · Versão e prevalência: Leitura específica das cláusulas indicadas; condições e conflitos preservados. Seleção documental atual não comprova vigência jurídica por data isolada.</a:t>
            </a:r>
          </a:p>
          <a:p>
            <a:r>
              <a:t>CNPJ 55563624000109 · Natureza dos recebíveis · Regulamento · ID 1192614 · 30/04/2026 · versão Regulamento30/04/2026 · p. 11 · AnexoI4.1 · https://fnet.bmfbovespa.com.br/fnet/publico/visualizarDocumento?id=1192614</a:t>
            </a:r>
          </a:p>
          <a:p>
            <a:r>
              <a:t>CNPJ 55563624000109 · Natureza dos recebíveis · Excerto da fonte:</a:t>
            </a:r>
          </a:p>
          <a:p>
            <a:r>
              <a:t>4.1 Observados os demais termos deste Anexo, o objetivo da Classe é investir seus recursos em (i) cotas subordinadas mezanino de emissão da classe única do MERCADO CRÉDITO II BRASIL FUNDO DE INVESTIMENTO EM DIREITOS CREDITÓRIOS NÃO PADRONIZADOS, fundo de investimento em direitos creditórios inscrito no CNPJ sob o nº 41.970.012/0001-26 (“Cotas da Classe Investida” e “Classe Investida”, respectivamente), a qual, por sua vez, aplica seus recursos preponderantemente em direitos creditórios originados pela Mercado Pago, de acordo com os termos e condições est</a:t>
            </a:r>
          </a:p>
          <a:p>
            <a:r>
              <a:t>CNPJ 55563624000109 · Natureza dos recebíveis · Regulamento · ID 1192614 · 30/04/2026 · versão Regulamento30/04/2026 · p. 12 · AnexoI4.5 · https://fnet.bmfbovespa.com.br/fnet/publico/visualizarDocumento?id=1192614</a:t>
            </a:r>
          </a:p>
          <a:p>
            <a:r>
              <a:t>CNPJ 55563624000109 · Natureza dos recebíveis · Excerto da fonte:</a:t>
            </a:r>
          </a:p>
          <a:p>
            <a:r>
              <a:t>4.5 Uma vez que o investimento nas Cotas da Classe Investida não corresponde a um investimento direto em direitos creditórios, uma série de disposições comuns à securitização de direitos creditórios não será aplicável ao investimento nas Cotas da Classe Investida. A título meramente exemplificativo, não existem processos de originação ou política de concessão de crédito adotada pelo GESTOR, tampouco há que se falar em verificação ou guarda de documentos comprobatórios que não sejam referentes às Cotas da Classe Investida. Da mesma forma, não há necessida</a:t>
            </a:r>
          </a:p>
          <a:p>
            <a:r>
              <a:t>CNPJ 55563624000109 · Natureza dos recebíveis · Versão e prevalência: Leitura específica das cláusulas indicadas; condições e conflitos preservados. Seleção documental atual não comprova vigência jurídica por data isolada.</a:t>
            </a:r>
          </a:p>
          <a:p>
            <a:r>
              <a:t>CNPJ 55563624000109 · Natureza dos recebíveis · Resumo do histórico: {"count": 4, "dates": ["2025-01-31", "2026-01-31", "2026-04-30"], "document_count": 3, "sources": [{"document_id": "1192614", "title": "Regulamento", "reference_date": "2026-04-30", "version": "1", "page": "11", "url": "https://fnet.bmfbovespa.com.br/fnet/publico/visualizarDocumento?id=1192614", "sha256": "f56e63ace0acde41d2f47fb48f1ac7f3f7df5e2d32de092d7c5e075a52516632"}, {"document_id": "1178840", "title": "Demonstrações Financeiras", "reference_date": "2026-01-31", "version": "1", "page": 16, "url": "https://fnet.bmfbovespa.com.br/fnet/publico/visualizarDocumento?id=1178840", "sha256": "c458e98664c5c907ddb5a05a94b120bed4e05295b2bfc420f5ba69af0a229abe"}, {"document_id": "891861", "title": "Demonstrações Financeiras", "reference_date": "2025-01-31", "version": "1", "page": 16, "url": "https://fnet.bmfbovespa.com.br/fnet/publico/visualizarDocumento?id=891861", "sha256": "e9cb9e6ddbe505fe068cfcac33605165a98313489de0d3ce6d4d238263c3f3e7"}], "reference": {"path": "history/55563624000109.json", "criterion_id": "receivables", "total_count": 4, "preview_count": 3, "full_text_deferred": true, "sha256": "7835d573fb58a3c19adf5b8ecc2aee2bdbb9a88f7a0c0209b5f262b64c7522e3"}}</a:t>
            </a:r>
          </a:p>
          <a:p>
            <a:r>
              <a:t>CNPJ 62552447000120 · Natureza dos recebíveis · Regulamento · ID 1200623 · 21/05/2026 · versão Consolidado21/05/2026 aprovado pelo ato1200625 · p. 11 · AnexoI4.2–4.3 · https://fnet.bmfbovespa.com.br/fnet/publico/visualizarDocumento?id=1200623</a:t>
            </a:r>
          </a:p>
          <a:p>
            <a:r>
              <a:t>CNPJ 62552447000120 · Natureza dos recebíveis · Excerto da fonte:</a:t>
            </a:r>
          </a:p>
          <a:p>
            <a:r>
              <a:t>4.2 Os Direitos Creditórios Consignado Privado e os Direitos Creditórios FGTS são originados no âmbito de CCBs emitidas eletronicamente pelos Devedores ao Endossante, representando, respectivamente, empréstimos consignados, com desconto em f olha de pagamento, e empréstimos pessoais, com garantia de cessão f iduciária do Saque-aniversário. 4.3 A operacionalização é f eita por meio da plataforma eletrônica mantida pelo Originador e utilizada por ele em relação ao processamento e monitoramento das operações de crédito (“Plataforma VR”), de acordo com a legislação aplicável, observada a política de crédit</a:t>
            </a:r>
          </a:p>
          <a:p>
            <a:r>
              <a:t>CNPJ 62552447000120 · Natureza dos recebíveis · Regulamento · ID 1200623 · 21/05/2026 · versão Consolidado21/05/2026 aprovado pelo ato1200625 · p. 6 · AnexoI1.2 Direitos Creditórios(d) · https://fnet.bmfbovespa.com.br/fnet/publico/visualizarDocumento?id=1200623</a:t>
            </a:r>
          </a:p>
          <a:p>
            <a:r>
              <a:t>CNPJ 62552447000120 · Natureza dos recebíveis · Excerto da fonte:</a:t>
            </a:r>
          </a:p>
          <a:p>
            <a:r>
              <a:t>Refinanciamento Livre”, na forma de CCBs originadas no âmbito de um refinanciamento, de acordo com a política de cobrança vigente, de Direitos Creditórios Consignado Privado e de Direitos Creditórios FGTS, que não contem com o lastro de Consignação ou de cessão f iduciária do Saque-Aniversário, respectivamente; e (ii) “Ativos Financei</a:t>
            </a:r>
          </a:p>
          <a:p>
            <a:r>
              <a:t>CNPJ 62552447000120 · Natureza dos recebíveis · Condição: Direitos de refinanciamento livre têm mecanismo de pagamento diferente do consignado/FGTS original.</a:t>
            </a:r>
          </a:p>
          <a:p>
            <a:r>
              <a:t>CNPJ 62552447000120 · Natureza dos recebíveis · Versão e prevalência: Leitura específica das cláusulas indicadas; condições e conflitos preservados. Seleção documental atual não comprova vigência jurídica por data isolada.</a:t>
            </a:r>
          </a:p>
          <a:p>
            <a:r>
              <a:t>CNPJ 63953620000165 · Natureza dos recebíveis · Anexo ao Regulamento · ID 1222863 · 02/06/2026 · versão AnexoConsignadoPrivado02/06/2026 · p. 5 · 4.4 · https://fnet.bmfbovespa.com.br/fnet/publico/visualizarDocumento?id=1222863</a:t>
            </a:r>
          </a:p>
          <a:p>
            <a:r>
              <a:t>CNPJ 63953620000165 · Natureza dos recebíveis · Excerto da fonte:</a:t>
            </a:r>
          </a:p>
          <a:p>
            <a:r>
              <a:t>4.4 Os Direitos Creditórios Consignado Privado são originados no âmbito de operações de empréstimo consignado concedido pelo Endossante a um Devedor por meio da plataforma eletrônica mantida pelo Agente de Retenção/ Cobrança e utilizada por ele em relação ao processamento e monitoramento das operações de crédito consignado (“Plataforma MT”) e representado por CCB, devidamente formalizada por via eletrônica, de acordo com a legislação aplicável, observada a política de crédito constante do Contrato de Endosso. O Endossante celebrou o Convênio Consignado Privado previamente ao endosso de Direitos Creditórios Elegíveis à Clas</a:t>
            </a:r>
          </a:p>
          <a:p>
            <a:r>
              <a:t>CNPJ 63953620000165 · Natureza dos recebíveis · Anexo ao Regulamento · ID 1222863 · 02/06/2026 · versão AnexoConsignadoPrivado02/06/2026 · p. 1 · 1.1Objetivo · https://fnet.bmfbovespa.com.br/fnet/publico/visualizarDocumento?id=1222863</a:t>
            </a:r>
          </a:p>
          <a:p>
            <a:r>
              <a:t>CNPJ 63953620000165 · Natureza dos recebíveis · Excerto da fonte:</a:t>
            </a:r>
          </a:p>
          <a:p>
            <a:r>
              <a:t>Direitos Creditórios Crédito Consignado”, representados por cédula de crédito bancário regida pela Lei nº 10.931, emitida eletronicamente por um devedor em favor do endossante (“CCB”) e, consequentemente, os recebíveis decorrente de cada uma das parcelas vincendas, representando um empréstimo consignado concedido pelo endossante ao devedor, e cujo pagamento ordinário é feito por desconto de cada prestação vincenda de uma CCB na folha de</a:t>
            </a:r>
          </a:p>
          <a:p>
            <a:r>
              <a:t>CNPJ 63953620000165 · Natureza dos recebíveis · Versão e prevalência: Leitura específica das cláusulas indicadas; condições e conflitos preservados. Seleção documental atual não comprova vigência jurídica por data isolada.</a:t>
            </a:r>
          </a:p>
          <a:p>
            <a:r>
              <a:t>CNPJ 63953620000165 · Natureza dos recebíveis · Resumo do histórico: {"count": 8, "dates": ["2026-04-28", "2026-05-08", "2026-05-15"], "document_count": 3, "sources": [{"document_id": "1327859", "title": "Demonstrações Financeiras - Fusão, cisão e incorporação", "reference_date": "2026-05-15", "version": "1", "page": 21, "url": "https://fnet.bmfbovespa.com.br/fnet/publico/visualizarDocumento?id=1327859", "sha256": "dca1c68babb97f887528c3e2e47596a9c30f507b067981a35655b2f2da9c8054"}, {"document_id": "1298691", "title": "Demonstrações Financeiras - Fusão, cisão e incorporação", "reference_date": "2026-05-08", "version": "1", "page": 24, "url": "https://fnet.bmfbovespa.com.br/fnet/publico/visualizarDocumento?id=1298691", "sha256": "58c570d9b8d4d265330d3db3ea81c435b8e44a6dab4002aa37790652a1ee9819"}, {"document_id": "1282180", "title": "Demonstrações Financeiras - Fusão, cisão e incorporação", "reference_date": "2026-04-28", "version": "1", "page": 24, "url": "https://fnet.bmfbovespa.com.br/fnet/publico/visualizarDocumento?id=1282180", "sha256": "afaaa0e6809be4385e5bdb6c911aac582032c5bdbac3d7750234bf9eaf00438a"}], "reference": {"path": "history/63953620000165.json", "criterion_id": "receivables", "total_count": 8, "preview_count": 3, "full_text_deferred": true, "sha256": "a7b89077f5e21098c2d601c303faabc3ff6b9729f89d8afecdc60fe1404720c1"}}</a:t>
            </a:r>
          </a:p>
          <a:p>
            <a:r>
              <a:t>CNPJ 54871427000194 · Originador e endossante · Regulamento · ID 670691 · 2024-04-28 · versão 1 · p. 11 · 4.11.2 · https://fnet.bmfbovespa.com.br/fnet/publico/visualizarDocumento?id=670691</a:t>
            </a:r>
          </a:p>
          <a:p>
            <a:r>
              <a:t>CNPJ 54871427000194 · Originador e endossante · Excerto da fonte:</a:t>
            </a:r>
          </a:p>
          <a:p>
            <a:r>
              <a:t>4.11.2 A Classe poderá ter até 100% (cem por cento) do Patrimônio Líquido representado por Direitos  Creditórios originados ou cedidos por um mesmo Endossante e/ou originados por um mesmo  Originador.</a:t>
            </a:r>
          </a:p>
          <a:p>
            <a:r>
              <a:t>CNPJ 54871427000194 · Originador e endossante · Regulamento · ID 670691 · 2024-04-28 · versão 1 · p. 13 · 4.17 · https://fnet.bmfbovespa.com.br/fnet/publico/visualizarDocumento?id=670691</a:t>
            </a:r>
          </a:p>
          <a:p>
            <a:r>
              <a:t>CNPJ 54871427000194 · Originador e endossante · Excerto da fonte:</a:t>
            </a:r>
          </a:p>
          <a:p>
            <a:r>
              <a:t>4.17 É vedada qualquer forma de antecipação de recursos aos Endossantes para posterior reembolso pela  Classe, seja pelo ADMINISTRADOR, GESTOR, CUSTODIANTE, consultora ou Originadores.</a:t>
            </a:r>
          </a:p>
          <a:p>
            <a:r>
              <a:t>CNPJ 54871427000194 · Originador e endossante · Regulamento · ID 670691 · 2024-04-28 · versão 1 · p. 34 · 15.1.5 · https://fnet.bmfbovespa.com.br/fnet/publico/visualizarDocumento?id=670691</a:t>
            </a:r>
          </a:p>
          <a:p>
            <a:r>
              <a:t>CNPJ 54871427000194 · Originador e endossante · Excerto da fonte:</a:t>
            </a:r>
          </a:p>
          <a:p>
            <a:r>
              <a:t>15.1.5 Outros Riscos:</a:t>
            </a:r>
          </a:p>
          <a:p>
            <a:r>
              <a:t> (i) Cobrança judicial ou extrajudicial dos Direitos Creditórios. No caso de os  Devedores inadimplirem as obrigações dos pagamentos dos Direitos Creditórios de titularidade  da Classe, poderá haver cobrança judicial e/ou extrajudicial dos valores devidos. Neste caso,  além da Classe incorrer em maiores custos relacionados à cobrança dos Direitos Creditórios  Inadimplidos, nada garante que ref eridas cobranças atingirão os resultados almejados, qual  seja, a recuperação do valor integral dos Direitos Creditórios Inadimplidos. Nesta hipótese, a  rentabilidade da Classe será af etada negativamente.</a:t>
            </a:r>
          </a:p>
          <a:p>
            <a:r>
              <a:t> (ii) Dif iculdade de obtenção de indenização ou recompra de Direitos Creditórios.</a:t>
            </a:r>
          </a:p>
          <a:p>
            <a:r>
              <a:t> Considerando a possibilidade de aquisição de Direitos Creditórios de terceiros — isso é  Endossantes que, por sua vez, adquiram os Direitos Creditórios de forma secundária, por meio  da cessão ou endosso realizado por credores anteriores da CCB — caso ocorram situações  que ensejem em recompra de tais Direitos Creditórios e/ou indenização, a Classe poderá ter  dif iculdades adicionais em obter tais indenizações e/ou recompras, na medida em que o direito  a tais indenizações e/ou recompras não está previsto em cada CCB, mas em contratos e  instrumentos dos quais a Classe não é originalmente parte, o que poderá causar perdas à  Classe e, consequentemente, aos Cotistas.</a:t>
            </a:r>
          </a:p>
          <a:p>
            <a:r>
              <a:t> (iii) Risco de concentração. O risco da aplicação na Classe possui forte correlação  com a concentração da Carteira, sendo que, quanto maior f or a concentração da Carteira,  maior será a chance de a Classe sofrer perda patrimonial significativa que afete negativamente  a rentabilidade das Cotas. A Classe não possui limite de concentração por Devedor ou  originador dos Direitos Creditórios, exceto por aqueles previstos na Resolução CVM  175, razão pela qual a Classe poderá estar exposto a significativa concentração por  Devedor. Não é possível garantir que os limites de concentração contidos na Política de  Investimentos, ainda que atendidos, serão suficientes que o Patrimônio Líquido não sofra  perdas que possam af etar a rentabilidade das Cotas.</a:t>
            </a:r>
          </a:p>
          <a:p>
            <a:r>
              <a:t> (iv) Possibilidade de conflito de interesses entre a Classe e os Originadores. Os  Originadores podem possuir relacionamento comercial com os Endossantes e/ou Devedores,  de modo que, em determinadas circunstâncias seus interesses podem ser conflitantes com os  interesses da Classe. Não é possível garantir que, materializada uma situação de conflito de  interesses conforme descrita acima, o Originador exponha-a adequadamente ao  ADMINISTRADOR e/ou aos Cotistas, ou que o f aça absolutamente, tampouco que agirá no  melhor no interesse da Classe. Nesses casos, a Classe pode vir a adquirir Direitos Creditórios  ou pode vir a ter seus Direitos Creditórios Inadimplidos pagos em condições comparativamente  menos vantajosas àquelas que seriam verificadas na ausência de tais conflitos de interesses.</a:t>
            </a:r>
          </a:p>
          <a:p>
            <a:r>
              <a:t> Nesses casos, o Patrimônio Líquido pode ser af etado adversamente.</a:t>
            </a:r>
          </a:p>
          <a:p>
            <a:r>
              <a:t> (v) Possibilidade de conflito de interesses entre Cotistas. As Cotas poderão ser  adquiridas por investidores que sejam sociedades coligadas, controladas ou controladoras,</a:t>
            </a:r>
          </a:p>
          <a:p>
            <a:r>
              <a:t>CNPJ 54871427000194 · Originador e endossante · Condição: Documentos atuais selecionados no inventário por categoria/escopo; a data documental isolada não comprova vigência jurídica.</a:t>
            </a:r>
          </a:p>
          <a:p>
            <a:r>
              <a:t>CNPJ 54871427000194 · Originador e endossante · Versão e prevalência: Documentos atuais selecionados no inventário por categoria/escopo; a data documental isolada não comprova vigência jurídica.</a:t>
            </a:r>
          </a:p>
          <a:p>
            <a:r>
              <a:t>CNPJ 54871427000194 · Originador e endossante · Resumo do histórico: {"count": 2, "dates": ["2024-04-19", "2024-04-28"], "document_count": 2, "sources": [{"document_id": "670691", "title": "Regulamento", "reference_date": "2024-04-28", "version": "1", "page": "9, 39", "url": "https://fnet.bmfbovespa.com.br/fnet/publico/visualizarDocumento?id=670691", "sha256": "bf16dd7f1a62d5cdbf2e2d54fef81783783f7310fbc99c3a8f00459bdf9d037b"}, {"document_id": "670689", "title": "Regulamento", "reference_date": "2024-04-19", "version": "1", "page": 9, "clause": "4.5", "url": "https://fnet.bmfbovespa.com.br/fnet/publico/visualizarDocumento?id=670689", "sha256": "891bc9bc5d87bbc02ec139077a84d2702eb81ea02035fb71d24f5b8366b94a0b"}], "reference": {"path": "history/54871427000194.json", "criterion_id": "originator", "total_count": 2, "preview_count": 2, "full_text_deferred": true, "sha256": "35d7cd99be50c7287c9fb675cf4f2e736002315295a225a9efa79c8d9186d874"}}</a:t>
            </a:r>
          </a:p>
          <a:p>
            <a:r>
              <a:t>CNPJ 60010416000112 · Originador e endossante · Regulamento · ID 1051393 · 09/10/2025 · versão Regulamento09/10/2025 · p. 44 · Glossário, Endossante · https://fnet.bmfbovespa.com.br/fnet/publico/visualizarDocumento?id=1051393</a:t>
            </a:r>
          </a:p>
          <a:p>
            <a:r>
              <a:t>CNPJ 60010416000112 · Originador e endossante · Excerto da fonte:</a:t>
            </a:r>
          </a:p>
          <a:p>
            <a:r>
              <a:t>“Endossante”: a Parati Crédito, Financiamento e Investimento S.A., instituição financeira constituída na forma de uma sociedade por ações, com sede na cidade de Vitória, estado do Espírito Santo, na Avenida Nossa Senhora da Penha, 699, torre A, conjuntos 404 a 407, Santa Lúcia, CEP 29.056-250, inscrita no CNPJ sob nº 03.311.443/0001-91; "Entidade Registradora": instituição autorizada pelo BACEN para realizar as atividades de registro e constituição, alteração e desconstituição de ônus e gravames sobre ativos f inanceiros registrados; “Escrituração”: significa a escrituração da Consignação a ser realizada pelo Empregador, junto ao eSocial, após recebimento de notif icação comunicando-o da contratação, pelo Devedor, do empréstimo a ser pago por Consignação; “Eventos de Avaliação”: os eventos de avaliação descritos no item 10.1 deste Anexo; “Eventos de Liquidação”: os eventos de liquidação descritos no item 10.3 deste Anexo; BTG Pactual SAC: 0800 772 28 27 - Ouvidoria: 0800 722 00 48 - btgpactual.com 44</a:t>
            </a:r>
          </a:p>
          <a:p>
            <a:r>
              <a:t>CNPJ 60010416000112 · Originador e endossante · Regulamento · ID 1051393 · 09/10/2025 · versão Regulamento09/10/2025 · p. 41 · Glossário, Agente de Retenção/Cobrança · https://fnet.bmfbovespa.com.br/fnet/publico/visualizarDocumento?id=1051393</a:t>
            </a:r>
          </a:p>
          <a:p>
            <a:r>
              <a:t>CNPJ 60010416000112 · Originador e endossante · Excerto da fonte:</a:t>
            </a:r>
          </a:p>
          <a:p>
            <a:r>
              <a:t>“Agente de Retenção/Cobrança”: significa a Tudo Serviços S.A., sociedade por ações com sede na Cidade de Eusébio, Estado do Ceará, na Comendador Ari Freitas, 577, CEP 61.760-000, inscrita no CNPJ sob nº 27.852.506/0001-85; “Agente Escriturador”: O Administrador, o qual se encontra devidamente habilitado pela CVM para prestar os serviços de escrituração das Cotas, ou seu sucessor a qualquer título; “Amortização”: signif ica cada uma das amortizações ordinárias de Cotas; “Amortização Extraordinária”: amortização extraordinária das Cotas Seniores, conforme deliberado pela Assembleia Especial de Cotistas, para reestabelecer o Índice de Subordinação, nos termos do item 5.5.1 do Anexo I; "ANBIMA": Associação Brasileira das Entidades dos Mercados Financeiro e de Capitais; "Código ANBIMA": Código ANBIMA de Regulação e Melhores Práticas para Administração de Recursos de Terceiros “Anexos”: tem o signif icado atribuído no Art. 3, inciso IV, da Resolução CVM 175, Parte Geral; “Apêndice”: cada um dos apêndices que integram este Anexo, descritivos de cada Subclasse de Cotas ou de aspectos aplicáveis à Classe; "Arquivos Dataprev": Arquivo de Consignações fornecido mensalmente pela Dataprev ao Endossante, contendo a totalidade das operações pend</a:t>
            </a:r>
          </a:p>
          <a:p>
            <a:r>
              <a:t>CNPJ 60010416000112 · Originador e endossante · Regulamento · ID 1051393 · 09/10/2025 · versão Regulamento09/10/2025 · p. 28 · AnexoI11.23 · https://fnet.bmfbovespa.com.br/fnet/publico/visualizarDocumento?id=1051393</a:t>
            </a:r>
          </a:p>
          <a:p>
            <a:r>
              <a:t>CNPJ 60010416000112 · Originador e endossante · Excerto da fonte:</a:t>
            </a:r>
          </a:p>
          <a:p>
            <a:r>
              <a:t>Tudo Serviços S.A., sociedade anônima, com sede no município de Eusébio, Estado do Ceará, na Comendador Ari Freitas, 577, CEP 61.760-000, inscrita no CNPJ sob o nº 27.852.506/0001-85, cujos deveres, sem prejuízo daqueles estabelecidos neste Regulamento, no Contrato de Serviços MT e no Contrato de Endosso, consistirão no monitoramento e cobrança dos Direitos Creditórios Inadimplidos, observado o disposto neste Anexo I e na regulamentação aplicável: (i) caso aplicável, atuar na retenção (defesa) de operações de empréstimo consignado cujos Direitos Creditórios sejam de titularidade da Classe, em caso d</a:t>
            </a:r>
          </a:p>
          <a:p>
            <a:r>
              <a:t>CNPJ 60010416000112 · Originador e endossante · Versão e prevalência: Leitura específica das cláusulas indicadas; condições e conflitos preservados. Seleção documental atual não comprova vigência jurídica por data isolada.</a:t>
            </a:r>
          </a:p>
          <a:p>
            <a:r>
              <a:t>CNPJ 60010416000112 · Originador e endossante · Resumo do histórico: {"count": 2, "dates": ["2025-03-20", "2025-10-09"], "document_count": 2, "sources": [{"document_id": "1051393", "title": "Regulamento", "reference_date": "2025-10-09", "version": "1", "page": "41-43", "url": "https://fnet.bmfbovespa.com.br/fnet/publico/visualizarDocumento?id=1051393", "sha256": "8469d613078ffd5a6c1d217885d8a397a16342c0b937ae4aa24b106505f233ae"}, {"document_id": "993786", "title": "Regulamento", "reference_date": "2025-03-20", "version": "1", "page": 25, "clause": "11.8", "url": "https://fnet.bmfbovespa.com.br/fnet/publico/visualizarDocumento?id=993786", "sha256": "fd0fdd369a195510d81f81f505195a0b09e5f43522a990afa7d58c4f872921c8"}], "reference": {"path": "history/60010416000112.json", "criterion_id": "originator", "total_count": 2, "preview_count": 2, "full_text_deferred": true, "sha256": "8e2bd813f4c51cf01f6bfaad164bafe69d2bbb192f753eac92da3a01c2e63046"}}</a:t>
            </a:r>
          </a:p>
          <a:p>
            <a:r>
              <a:t>CNPJ 62696791000193 · Originador e endossante · Regulamento · ID 1143317 · 20/03/2026 · versão Regulamento — referência 20/03/2026 · p. 10 · Anexo I, 4.4 e 4.6 · https://fnet.bmfbovespa.com.br/fnet/publico/visualizarDocumento?id=1143317</a:t>
            </a:r>
          </a:p>
          <a:p>
            <a:r>
              <a:t>CNPJ 62696791000193 · Originador e endossante · Excerto da fonte:</a:t>
            </a:r>
          </a:p>
          <a:p>
            <a:r>
              <a:t>4.4 Tendo em vista (i) a natureza variada dos Direitos Creditórios do Agronegócio passíveis de aquisição pela Classe; (ii) a amplitude da Política de Investimentos; e (iii) a potencial diversificação de Cedentes/Endossantes e Devedores, não é possível precisar os processos de origem dos Direitos Creditórios do Agronegócio e as políticas de concessão de crédito adotadas pelos Cedentes/Endossantes. 4.5 Os Direitos Creditórios do Agronegócio deverão contar com toda a documentação necessária para o exercício das prerrogativas decorrentes da titularidade dos ativos, e capaz de comprovar a origem, a existência e a exigibilidade dos Direitos Creditórios do Agronegócio (“Documentos Comprobatórios”) que evidenciem sua existência, validade e exequibilidade perante os respectivos Devedores. 4.5.1 Os Direitos Creditórios do Agronegócio serão adquiridos pela Classe por meio: (i) de contratos de cessão e/ou termos de cessão (“Contratos de Cessão”), contratos de promessa de endosso e/ou termos de endosso (“Contratos de Endosso”) firmados entre a Classe e os respectivos cedentes (“Cedentes”) / endossantes (“Endossantes”), acompanhados de todos os direitos, pri</a:t>
            </a:r>
          </a:p>
          <a:p>
            <a:r>
              <a:t>CNPJ 62696791000193 · Originador e endossante · Condição: A afirmação descreve um mandato amplo; não identifica contrapartes efetivamente presentes no IME.</a:t>
            </a:r>
          </a:p>
          <a:p>
            <a:r>
              <a:t>CNPJ 62696791000193 · Originador e endossante · Versão e prevalência: Leitura específica das cláusulas indicadas; condições e conflitos preservados. Seleção documental atual não comprova vigência jurídica por data isolada.</a:t>
            </a:r>
          </a:p>
          <a:p>
            <a:r>
              <a:t>CNPJ 55563624000109 · Originador e endossante · Regulamento · ID 1192614 · 2026-04-30 · versão 1 · p. 32 · https://fnet.bmfbovespa.com.br/fnet/publico/visualizarDocumento?id=1192614</a:t>
            </a:r>
          </a:p>
          <a:p>
            <a:r>
              <a:t>CNPJ 55563624000109 · Originador e endossante · Excerto da fonte:</a:t>
            </a:r>
          </a:p>
          <a:p>
            <a:r>
              <a:t>(b) Questionamento judicial. Os devedores podem questionar judicialmente (1) a validade  dos direitos creditórios, inclusive em razão da legalidade dos limites de crédito  concedidos pelo originador ou cedente e das taxas de juros praticadas, antes e/ou após  a sua transferência para a Classe Investida; e/ou (2) os termos e condições da  transferência dos direitos creditórios à Classe Investida. Em qualquer caso, é possível  que a Classe Investida não receba parte ou a totalidade dos valores relativos aos  direitos creditórios de sua titularidade objeto de questionamento judicial.</a:t>
            </a:r>
          </a:p>
          <a:p>
            <a:r>
              <a:t> (c) Risco de originação de direitos creditórios. Os direitos creditórios a serem adquiridos  pela Classe Investida são decorrentes de operações de empréstimo específicas  envolvendo as operações do Mercado Pago, conforme detalhadas no regulamento da  Classe Investida. Na hipótese de não originação, originação insuficiente ou  indisponibilidade para aquisição pelo Classe Investida, por qualquer motivo, inclusive  em caso de redução ou descontinuidade das operações regulares dos cedentes, de  direitos creditórios que satisfaçam os critérios de elegibilidade, as condições de cessão  e a política de investimento, composição e diversificação da carteira da Classe Investida  descrita em seu regulamento, a Classe Investida poderá ser incapaz de alocar a  totalidade de seus recursos, o que poderá inviabilizar a realização das chamadas de  capital por seu administrador, afetando negativamente a continuidade da Classe  Investida, a expectativa de seus cotistas, incluindo a Classe, com relação ao seu  horizonte de investimento, a rentabilidade da Classe Investida e, consequentemente, o  valor das Cotas da Classe Investida, impactando assim a Classe e os investimentos dos  Cotistas em Cotas.</a:t>
            </a:r>
          </a:p>
          <a:p>
            <a:r>
              <a:t> (d) Originação por meio fraudulento. A Classe Investida pode adquirir direitos creditórios  que tenham sido originados por meio fraudulento. Nesse caso, a Classe Investida não  poderá exigir o pagamento dos respectivos valores por parte dos devedores lesados,  restando-lhe somente exigir do cedente o pagamento do valor correspondente aos  direitos creditórios fraudulentos, na forma prevista no respectivo contrato de cessão. A  restituição devida pelo cedente poderá demorar a ser realizada ou simplesmente não  ocorrer. Em ambos os casos, o patrimônio da Classe Investida seria impactado  negativamente, igualmente afetando, consequentemente, a Classe.</a:t>
            </a:r>
          </a:p>
          <a:p>
            <a:r>
              <a:t> (e) Questionamento da validade e da eficácia da cessão dos Direitos Creditórios. A validade  e a eficácia da cessão dos direitos creditórios à Classe Investida poderão ser  questionadas, inclusive em decorrência de intervenção, liquidação, Regime de  Administração Especial Temporária (RAET), pedido de recuperação judicial, falência,  plano de recuperação extrajudicial ou outro procedimento de natureza similar  originador ou do cedente. A titularidade direitos creditórios poderá vir a ser  questionada caso (1) haja garantias reais sobre os direitos creditórios, constituídas  antes da sua cessão e sem o conhecimento da Classe Investida; (2) ocorra a penhora ou  outra forma de constrição judicial sobre os direitos creditórios, antes da sua cessão e sem  o conhecimento da Classe Investida; (3) seja verificada, em processo judicial, fraude  contra credores ou fraude à execução praticada pelo respectivo originador ou cedente;</a:t>
            </a:r>
          </a:p>
          <a:p>
            <a:r>
              <a:t> ou (4) a cessão dos direitos creditórios à Classe Investida seja revogada, quando restar  comprovado que foi praticada com a intenção de prejudicar os credores do originador  ou do cedente. Em qualquer hipótese, os direitos creditórios integrantes da carteira da  Classe Investida poderão ser bloqueados ou redirecionados para o pagamento de  outras obrigações do originador ou cedente, afetando negativamente os patrimônios  da Classe Investida e a rentabilidade das suas cotas.</a:t>
            </a:r>
          </a:p>
          <a:p>
            <a:r>
              <a:t>CNPJ 55563624000109 · Originador e endossante · Regulamento · ID 1192614 · 2026-04-30 · versão 1 · p. 28 · https://fnet.bmfbovespa.com.br/fnet/publico/visualizarDocumento?id=1192614</a:t>
            </a:r>
          </a:p>
          <a:p>
            <a:r>
              <a:t>CNPJ 55563624000109 · Originador e endossante · Excerto da fonte:</a:t>
            </a:r>
          </a:p>
          <a:p>
            <a:r>
              <a:t>Classe, na forma da regulamentação aplicável, observado que os prestadores de serviços eventualmente  subcontratados não podem ser, em relação à Classe, o originador, cedente, o GESTOR, consultoria especializada  ou partes a eles relacionadas, tais como definidas nas regras contábeis que tratam desse assunto.</a:t>
            </a:r>
          </a:p>
          <a:p>
            <a:r>
              <a:t>CNPJ 55563624000109 · Originador e endossante · Condição: Documentos atuais selecionados no inventário por categoria/escopo; a data documental isolada não comprova vigência jurídica.</a:t>
            </a:r>
          </a:p>
          <a:p>
            <a:r>
              <a:t>CNPJ 55563624000109 · Originador e endossante · Versão e prevalência: Documentos atuais selecionados no inventário por categoria/escopo; a data documental isolada não comprova vigência jurídica.</a:t>
            </a:r>
          </a:p>
          <a:p>
            <a:r>
              <a:t>CNPJ 55563624000109 · Originador e endossante · Resumo do histórico: {"count": 3, "dates": ["2025-01-31", "2026-01-31", "2026-04-30"], "document_count": 3, "sources": [{"document_id": "1192614", "title": "Regulamento", "reference_date": "2026-04-30", "version": "1", "page": "11", "url": "https://fnet.bmfbovespa.com.br/fnet/publico/visualizarDocumento?id=1192614", "sha256": "f56e63ace0acde41d2f47fb48f1ac7f3f7df5e2d32de092d7c5e075a52516632"}, {"document_id": "1178840", "title": "Demonstrações Financeiras", "reference_date": "2026-01-31", "version": "1", "page": 16, "url": "https://fnet.bmfbovespa.com.br/fnet/publico/visualizarDocumento?id=1178840", "sha256": "c458e98664c5c907ddb5a05a94b120bed4e05295b2bfc420f5ba69af0a229abe"}, {"document_id": "891861", "title": "Demonstrações Financeiras", "reference_date": "2025-01-31", "version": "1", "page": 16, "url": "https://fnet.bmfbovespa.com.br/fnet/publico/visualizarDocumento?id=891861", "sha256": "e9cb9e6ddbe505fe068cfcac33605165a98313489de0d3ce6d4d238263c3f3e7"}], "reference": {"path": "history/55563624000109.json", "criterion_id": "originator", "total_count": 3, "preview_count": 3, "full_text_deferred": true, "sha256": "7835d573fb58a3c19adf5b8ecc2aee2bdbb9a88f7a0c0209b5f262b64c7522e3"}}</a:t>
            </a:r>
          </a:p>
          <a:p>
            <a:r>
              <a:t>CNPJ 62552447000120 · Originador e endossante · Regulamento · ID 1200623 · 21/05/2026 · versão Consolidado21/05/2026 aprovado pelo ato1200625 · p. 12 · AnexoI4.4.1(i) · https://fnet.bmfbovespa.com.br/fnet/publico/visualizarDocumento?id=1200623</a:t>
            </a:r>
          </a:p>
          <a:p>
            <a:r>
              <a:t>CNPJ 62552447000120 · Originador e endossante · Excerto da fonte:</a:t>
            </a:r>
          </a:p>
          <a:p>
            <a:r>
              <a:t>BANCO VR S.A., instituição f inanceira, com sede no município e Estado de São Paulo, na Av. Dos Bandeirantes, n.º 460, Brooklin Paulista, CEP 04553-900, inscrita no CNPJ sob o n.º 78.626.983/0001- 63, ou qualquer outra sociedade do mesmo grupo econômico, na qualidade de endossante (“Endossante”), acompanhados de todos os direitos, privilégios, pref erências, prerrogativas, ações e garantias assegurados aos seus titulares; (ii) da subscrição de títulos de crédito e/ou valores mobiliários, incluindo, mas não se</a:t>
            </a:r>
          </a:p>
          <a:p>
            <a:r>
              <a:t>CNPJ 62552447000120 · Originador e endossante · Regulamento · ID 1200623 · 21/05/2026 · versão Consolidado21/05/2026 aprovado pelo ato1200625 · p. 29 · AnexoI12.14 · https://fnet.bmfbovespa.com.br/fnet/publico/visualizarDocumento?id=1200623</a:t>
            </a:r>
          </a:p>
          <a:p>
            <a:r>
              <a:t>CNPJ 62552447000120 · Originador e endossante · Excerto da fonte:</a:t>
            </a:r>
          </a:p>
          <a:p>
            <a:r>
              <a:t>VR BENEFÍCIOS E SERVIÇOS DE PROCESSAMENTO S.A., sociedade anônima com sede no município e Estado de São Paulo, na Av. dos Bandeirantes, n.º 460, Brooklin Paulista, CEP 04553-900, inscrita no CNPJ sob o n.º 02.535.864/0004-86 (“Agente de Retenção e Cobrança” ou “Originador”), para os serviços de retenção de Direitos Creditórios e de cobrança de Direitos Creditórios Inadimplidos, de acordo com os contratos de prestação de serviços de retenção e cobrança celebrados entre o Agente de Retenção e Cobrança e a Classe (“Contratos de Retenção/Cobrança”). 12.15 O Agente de Retenção e Cobrança poderá, às expensas da Classe,</a:t>
            </a:r>
          </a:p>
          <a:p>
            <a:r>
              <a:t>CNPJ 62552447000120 · Originador e endossante · Versão e prevalência: Leitura específica das cláusulas indicadas; condições e conflitos preservados. Seleção documental atual não comprova vigência jurídica por data isolada.</a:t>
            </a:r>
          </a:p>
          <a:p>
            <a:r>
              <a:t>CNPJ 63953620000165 · Originador e endossante · Anexo ao Regulamento · ID 1222863 · 02/06/2026 · versão AnexoConsignadoPrivado02/06/2026 · p. 5 · 4.3–4.4 · https://fnet.bmfbovespa.com.br/fnet/publico/visualizarDocumento?id=1222863</a:t>
            </a:r>
          </a:p>
          <a:p>
            <a:r>
              <a:t>CNPJ 63953620000165 · Originador e endossante · Excerto da fonte:</a:t>
            </a:r>
          </a:p>
          <a:p>
            <a:r>
              <a:t>4.3 Os Direitos Creditórios serão adquiridos pela Classe por meio: (i) contratos de promessa de endosso e/ou termos de endosso (“Contratos de Endosso”) firmados entre a Classe e a Parati Crédito, Financiamento e Investimento S.A., instituição financeira constituída na forma de uma sociedade por ações, com sede na cidade de Vitória, estado do Espírito Santo, na Avenida Nossa Senhora da Penha, 699, torre A, conjuntos 404 a 407, Santa Lúcia, CEP 29.056-250, inscrita no CNPJ sob nº 03.311.443/0001-91 (“Endossante” ou “Cedente”), acompanhados de todos os direitos, privilégios, preferências, prerrogativas, ações e garantias asse</a:t>
            </a:r>
          </a:p>
          <a:p>
            <a:r>
              <a:t>CNPJ 63953620000165 · Originador e endossante · Anexo ao Regulamento · ID 1222863 · 02/06/2026 · versão AnexoConsignadoPrivado02/06/2026 · p. 19 · 12.6 · https://fnet.bmfbovespa.com.br/fnet/publico/visualizarDocumento?id=1222863</a:t>
            </a:r>
          </a:p>
          <a:p>
            <a:r>
              <a:t>CNPJ 63953620000165 · Originador e endossante · Excerto da fonte:</a:t>
            </a:r>
          </a:p>
          <a:p>
            <a:r>
              <a:t>12.6 A Classe contratou a Tudo Serviços S.A., sociedade anônima, com sede no município de Fortaleza, Estado do Ceará, na Avenida Senador Virgulo Távora, nº 303, Lojas 02, 03, 04, 05, 06 e 19, Meireles, CEP 60.170-265, inscrita no CNPJ sob o nº 27.852.506/0001-85, cujos deveres, sem prejuízo daqueles estabelecidos neste Regulamento, no “Contrato de Serviços de Retenção e Cobrança e Outras Avenças”, celebrado entre o Agente de Retenção/Cobrança e a Classe (“Contrato de Serviços MT”) e no Contrato de Endosso, consistirão no monitoramento e cobrança dos Direitos Creditórios Inadimplidos, observado o disposto neste Anexo I e na</a:t>
            </a:r>
          </a:p>
          <a:p>
            <a:r>
              <a:t>CNPJ 63953620000165 · Originador e endossante · Condição: Nomeação nominal atual da classe; distinta da origem histórica dos ativos recebidos por cisão de outros veículos.</a:t>
            </a:r>
          </a:p>
          <a:p>
            <a:r>
              <a:t>CNPJ 63953620000165 · Originador e endossante · Versão e prevalência: Leitura específica das cláusulas indicadas; condições e conflitos preservados. Seleção documental atual não comprova vigência jurídica por data isolada.</a:t>
            </a:r>
          </a:p>
          <a:p>
            <a:r>
              <a:t>CNPJ 63953620000165 · Originador e endossante · Resumo do histórico: {"count": 8, "dates": ["2026-04-28", "2026-05-08", "2026-05-15"], "document_count": 3, "sources": [{"document_id": "1327859", "title": "Demonstrações Financeiras - Fusão, cisão e incorporação", "reference_date": "2026-05-15", "version": "1", "page": 23, "url": "https://fnet.bmfbovespa.com.br/fnet/publico/visualizarDocumento?id=1327859", "sha256": "dca1c68babb97f887528c3e2e47596a9c30f507b067981a35655b2f2da9c8054"}, {"document_id": "1298691", "title": "Demonstrações Financeiras - Fusão, cisão e incorporação", "reference_date": "2026-05-08", "version": "1", "page": 24, "url": "https://fnet.bmfbovespa.com.br/fnet/publico/visualizarDocumento?id=1298691", "sha256": "58c570d9b8d4d265330d3db3ea81c435b8e44a6dab4002aa37790652a1ee9819"}, {"document_id": "1282180", "title": "Demonstrações Financeiras - Fusão, cisão e incorporação", "reference_date": "2026-04-28", "version": "1", "page": 24, "url": "https://fnet.bmfbovespa.com.br/fnet/publico/visualizarDocumento?id=1282180", "sha256": "afaaa0e6809be4385e5bdb6c911aac582032c5bdbac3d7750234bf9eaf00438a"}], "reference": {"path": "history/63953620000165.json", "criterion_id": "originator", "total_count": 8, "preview_count": 3, "full_text_deferred": true, "sha256": "a7b89077f5e21098c2d601c303faabc3ff6b9729f89d8afecdc60fe1404720c1"}}</a:t>
            </a:r>
          </a:p>
          <a:p>
            <a:r>
              <a:t>CNPJ 54871427000194 · Devedor e consignação · Regulamento · ID 670691 · 2024-04-28 · versão 1 · p. 29 · https://fnet.bmfbovespa.com.br/fnet/publico/visualizarDocumento?id=670691</a:t>
            </a:r>
          </a:p>
          <a:p>
            <a:r>
              <a:t>CNPJ 54871427000194 · Devedor e consignação · Excerto da fonte:</a:t>
            </a:r>
          </a:p>
          <a:p>
            <a:r>
              <a:t>Anexo I ao Regulamento CLASSE ÚNICA DE RESPONSABILIDADE LIMITADA DO CONSIGNADO DELTA RECEIVABLES I FUNDO DE INVESTIMENTO EM DIREITOS CREDITÓRIOS  pelo Endossante e depositados em seu conta de sua titularidade para posterior repasse à  Classe. Neste caso, a Classe poderá sofrer perdas principalmente em relação ao atraso na  regularização da titularidade e pagamento dos Direitos Creditórios.</a:t>
            </a:r>
          </a:p>
          <a:p>
            <a:r>
              <a:t> (v) Risco de pré-pagamento dos Direitos Creditórios. A ocorrência de pré-  pagamentos em relação a um ou mais Direitos Creditórios poderá ocasionar perdas à Classe.</a:t>
            </a:r>
          </a:p>
          <a:p>
            <a:r>
              <a:t> A ocorrência de pré-pagamentos (pagamento em data anterior àquela originalmente pactuada)  de Direitos Creditórios reduz o horizonte original de rendimentos esperados pela Classe de  tais Direitos Creditórios, uma vez que o pré-pagamento poderá, se assim permitido pela  documentação do Direito Creditório ou, conf orme o caso, pela legislação aplicável, ser  realizado pelo valor de emissão do Direito Creditório atualizado até a data do pré-pagamento  pela taxa de juros pactuada entre os Endossantes e os Devedores de tais Direitos Creditórios,  de modo que os juros remuneratórios incidentes desde a data da realização do pré-pagamento  até a data de vencimento do respectivo Direito Creditório deixam de ser devidos à Classe.</a:t>
            </a:r>
          </a:p>
          <a:p>
            <a:r>
              <a:t> (vi) Riscos associados aos Devedores: os Direitos Creditórios a serem cedidos à  Classe serão descontados da remuneração do Devedor, através de desconto em f olha de  pagamento ou de benefício. Nesse sentido, na ocorrência de pré-pagamento, as parcelas  serão pagas antecipadamente e a Classe deverá utilizar tais montantes no pré-pagamento dos  Direitos Creditórios. Nesta hipótese, a Classe poderá não encontrar Direitos Creditórios  disponíveis para serem adquiridos pela Classe, o que poderá afetar a rentabilidade da Classe.</a:t>
            </a:r>
          </a:p>
          <a:p>
            <a:r>
              <a:t> (vii) Risco de Competição: o mercado de empréstimos experimentou grande  expansão no Brasil nos últimos anos. Nesse contexto, a Resolução CMN nº 4.292, alterada  pela Resolução nº 4.762, de 27 de novembro de 2019, dispõe que deve ser garantido às  pessoas naturais devedoras de operações de crédito (tais como as CCB) a possibilidade de  realizarem a portabilidade destas operações para outras instituições financeiras, inclusive nos  casos em que tenham sido objeto de cessão (tais como as realizadas à Classe). Nesse  cenário, é possível que os competidores do Endossante ofereçam condições e taxas mais  vantajosas para os empréstimos pessoais com consignação em f olha de pagamento ou de  benef ícios, o que pode causar a migração de clientes da Endossante para outras instituições  f inanceiras, gerando a liquidação antecipada de parte das CCB existentes e/ou redução no  número de Direitos Creditórios cedidos. Referida competição poderá af etar os resultados da  Classe, impactando negativamente os rendimentos dos Cotistas. Ainda, a portabilidade a um  Devedor pode acarretar no recebimento de valores inf eriores aos esperados pela Classe.</a:t>
            </a:r>
          </a:p>
          <a:p>
            <a:r>
              <a:t> (viii) Insuf iciência dos Critérios de Elegibilidade. Os Critérios de Elegibilidade têm a  f inalidade de selecionar os Direitos Creditórios passíveis de aquisição pela Classe. Não  obstante tais Critérios de Elegibilidade, a solvência dos Direitos Creditórios que compõem a  Carteira depende integralmente, mas não somente, da situação econômico-financeira dos  Devedores. Dessa f orma, a observância pelo GESTOR dos Critérios de Elegibilidade não  constitui garantia de adimplência dos Devedores.</a:t>
            </a:r>
          </a:p>
          <a:p>
            <a:r>
              <a:t> Os Endossantes não necessariamente garantem a solvência dos seus respectivos Devedores.</a:t>
            </a:r>
          </a:p>
          <a:p>
            <a:r>
              <a:t> O Endossante dos Direitos Creditórios não assumirá responsabilidade pelo seu pagamento ou  pela solvência dos respectivos Devedores. A Classe sofrerá o impacto do inadimplemento dos  Direitos Creditórios vencidos e não pagos pelos respectivos Devedores.</a:t>
            </a:r>
          </a:p>
          <a:p>
            <a:r>
              <a:t> (ix) Possibilidade de aquisição de Direitos Creditórios cedidos por Endossante  e/ou devidos por Devedores cujas demonstrações financeiras não sejam auditadas. A Classe,  desde que sejam respeitados os limites de concentração previstos neste Regulamento, poderá  manter a qualquer tempo em sua Carteira, Direitos Creditórios cedidos por Endossante e/ou  devidos por Devedores cujas demonstrações f inanceiras não sejam auditadas por Auditor  Independente registrado na CVM. Nesse sentido, não haverá verificação independente sobre  tais demonstrações f inanceiras que af irme se estas representam adequadamente, em todos  os aspectos relevantes, as respectivas posições patrimoniais e f inanceiras, os resultados de  suas operações, as mutações de seus respectivos patrimônios líquidos tampouco as origens  e aplicações de seus recursos.</a:t>
            </a:r>
          </a:p>
          <a:p>
            <a:r>
              <a:t>CNPJ 54871427000194 · Devedor e consignação · Regulamento · ID 670691 · 2024-04-28 · versão 1 · p. 27 · 14.2 · https://fnet.bmfbovespa.com.br/fnet/publico/visualizarDocumento?id=670691</a:t>
            </a:r>
          </a:p>
          <a:p>
            <a:r>
              <a:t>CNPJ 54871427000194 · Devedor e consignação · Excerto da fonte:</a:t>
            </a:r>
          </a:p>
          <a:p>
            <a:r>
              <a:t>14.2 Todos os custos e despesas ref eridos neste Capítulo, inclusive para salvaguarda de direitos e  prerrogativas da Classe e/ou com a cobrança judicial e/ou extrajudicial de Direitos Creditórios  Inadimplidos, serão de inteira responsabilidade da Classe, não estando o ADMINISTRADOR, o  GESTOR, o Endossante, os Devedores, o CUSTODIANTE e quaisquer de suas respectivas pessoas  controladoras, sociedades por estes direta ou indiretamente controladas, a estes coligadas ou outras  sociedades sob controle comum, em conjunto ou isoladamente, obrigados pelo adiantamento ou  pagamento de valores relacionados aos procedimentos ref eridos neste Capítulo.</a:t>
            </a:r>
          </a:p>
          <a:p>
            <a:r>
              <a:t>CNPJ 54871427000194 · Devedor e consignação · Regulamento · ID 670691 · 2024-04-28 · versão 1 · p. 31 · https://fnet.bmfbovespa.com.br/fnet/publico/visualizarDocumento?id=670691</a:t>
            </a:r>
          </a:p>
          <a:p>
            <a:r>
              <a:t>CNPJ 54871427000194 · Devedor e consignação · Excerto da fonte:</a:t>
            </a:r>
          </a:p>
          <a:p>
            <a:r>
              <a:t>Anexo I ao Regulamento CLASSE ÚNICA DE RESPONSABILIDADE LIMITADA DO CONSIGNADO DELTA RECEIVABLES I FUNDO DE INVESTIMENTO EM DIREITOS CREDITÓRIOS  a resgates de suas Cotas e/ou poderá ser obrigado a se desfazer de tais Ativos Financeiros  de Liquidez em condições menos f avoráveis do que se não houvesse a ref erida situação de  f alta de liquidez.</a:t>
            </a:r>
          </a:p>
          <a:p>
            <a:r>
              <a:t> (iv) Liquidação antecipada do FUNDO ou da Classe. Observado o disposto neste  Regulamento, o FUNDO ou a Classe poderão ser liquidados antecipadamente, caso ocorra  qualquer Evento de Liquidação, ou se assim deliberado pelos Cotistas reunidos em  Assembleia Geral de Cotistas. Por este motivo, os Cotistas poderão ter seu horizonte original  de investimento reduzido e poderão não conseguir reinvestir os recursos recebidos com a  mesma remuneração buscada pela Classe, não sendo devida pela Classe, pelo  ADMINISTRADOR, pelo GESTOR ou pelo CUSTODIANTE qualquer multa ou penalidade, a  qualquer título, em decorrência desse f ato. Adicionalmente, ocorrendo qualquer uma das  hipóteses de liquidação antecipada do FUNDO ou da Classe, poderá não haver recursos  disponíveis em moeda corrente nacional para realizar o pagamento aos Cotistas, que poderão  ser pagos com os Direitos Creditórios e Ativos Financeiros de Liquidez detidos em Carteira, os  quais estão sujeitos aos riscos apontados no item (iii) acima.</a:t>
            </a:r>
          </a:p>
          <a:p>
            <a:r>
              <a:t> (v) Amortização condicionada das Cotas. A única f onte de recursos da Classe  para ef etuar o pagamento de resgate ou amortização das Cotas, conforme o caso, é a  liquidação: (i) dos Direitos Creditórios, pelos respectivos Devedores; e (ii) dos Ativos  Financeiros de Liquidez, pelas respectivas contrapartes. Após o recebimento desses recursos  e, se f or o caso, depois de esgotados todos os meios cabíveis para a cobrança, extrajudicial  ou judicial, dos referidos ativos, a Classe não disporá de quaisquer outras verbas para efetuar  o resgate ou amortização das Cotas, conforme o caso, o que poderá acarretar prejuízo aos  Cotistas.</a:t>
            </a:r>
          </a:p>
          <a:p>
            <a:r>
              <a:t> Ademais, a Classe está exposta a determinados riscos inerentes aos Direitos Creditórios e  Ativos Financeiros de Liquidez e aos mercados em que são negociados, incluindo a eventual  impossibilidade de alienar ativos em caso de necessidade, especialmente os Direitos  Creditórios, devido à inexistência de um mercado secundário ativo e organizado para a  negociação dessa espécie de ativo. Considerando-se a sujeição do resgate das Cotas à  liquidação dos Direitos Creditórios e/ou dos Ativos Financeiros de Liquidez, conforme descrito  acima, tanto o ADMINISTRADOR quanto o GESTOR e o CUSTODIANTE estão  impossibilitados de assegurar que os resgates das Cotas ocorrerão nas datas originalmente  previstas, não sendo devido, nesta hipótese, pela Classe ou qualquer outra pessoa, incluindo  o ADMINISTRADOR, o GESTOR e o CUSTODIANTE, qualquer multa ou penalidade, de  qualquer natureza.</a:t>
            </a:r>
          </a:p>
          <a:p>
            <a:r>
              <a:t> (vi) Ausência de classificação de risco das Cotas e Política de Investimentos  genérica. A ausência de requisitos rígidos relacionados aos Direitos Creditórios passíveis de  aquisição pela Classe poderá dificultar a def inição do perfil de risco da Carteira, af etando a  capacidade de o Cotista avaliar o risco de seu invest imento. As Cotas não possuem  classificação de risco emitida por Agência Classificadora de Risco. Esses f atores podem  dif icultar a avaliação, por parte dos investidores, da qualidade do crédito representado pelas  Cotas e com a capacidade da Classe em honrar com os pagamentos das Cotas.</a:t>
            </a:r>
          </a:p>
          <a:p>
            <a:r>
              <a:t>CNPJ 54871427000194 · Devedor e consignação · Condição: Documentos atuais selecionados no inventário por categoria/escopo; a data documental isolada não comprova vigência jurídica.</a:t>
            </a:r>
          </a:p>
          <a:p>
            <a:r>
              <a:t>CNPJ 54871427000194 · Devedor e consignação · Versão e prevalência: Documentos atuais selecionados no inventário por categoria/escopo; a data documental isolada não comprova vigência jurídica.</a:t>
            </a:r>
          </a:p>
          <a:p>
            <a:r>
              <a:t>CNPJ 54871427000194 · Devedor e consignação · Resumo do histórico: {"count": 2, "dates": ["2024-04-19", "2024-04-28"], "document_count": 2, "sources": [{"document_id": "670691", "title": "Regulamento", "reference_date": "2024-04-28", "version": "1", "page": "38", "url": "https://fnet.bmfbovespa.com.br/fnet/publico/visualizarDocumento?id=670691", "sha256": "bf16dd7f1a62d5cdbf2e2d54fef81783783f7310fbc99c3a8f00459bdf9d037b"}, {"document_id": "670689", "title": "Regulamento", "reference_date": "2024-04-19", "version": "1", "page": 30, "url": "https://fnet.bmfbovespa.com.br/fnet/publico/visualizarDocumento?id=670689", "sha256": "891bc9bc5d87bbc02ec139077a84d2702eb81ea02035fb71d24f5b8366b94a0b"}], "reference": {"path": "history/54871427000194.json", "criterion_id": "debtor", "total_count": 2, "preview_count": 2, "full_text_deferred": true, "sha256": "35d7cd99be50c7287c9fb675cf4f2e736002315295a225a9efa79c8d9186d874"}}</a:t>
            </a:r>
          </a:p>
          <a:p>
            <a:r>
              <a:t>CNPJ 60010416000112 · Devedor e consignação · Regulamento · ID 1051393 · 2025-10-09 · versão 1 · p. 35 · 15.1.4 · https://fnet.bmfbovespa.com.br/fnet/publico/visualizarDocumento?id=1051393</a:t>
            </a:r>
          </a:p>
          <a:p>
            <a:r>
              <a:t>CNPJ 60010416000112 · Devedor e consignação · Excerto da fonte:</a:t>
            </a:r>
          </a:p>
          <a:p>
            <a:r>
              <a:t>15.1.4 Riscos específicos</a:t>
            </a:r>
          </a:p>
          <a:p>
            <a:r>
              <a:t> (i)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 icar inadimplente e,  consequentemente, não haverá repasse à Classe do respectivo Direito Creditório, o que  poderá resultar em perdas f inanceiras à Classe e aos Cotistas.</a:t>
            </a:r>
          </a:p>
          <a:p>
            <a:r>
              <a:t> (ii) Risco do Empregador não efetuar o desconto em folha: o repasse dos recursos oriundos  dos Direitos Creditórios à Classe depende da realização, pelo Empregador, da Escrituração e  do desconto na respectiva f olha de pagamento do Devedor. Na hipótese do Empregador  deixar de realizar a Escrituração ou os descontos na folha de pagamento, não haverá repasse  de recursos à Classe, podendo causar prejuízos à Classe e aos Cotistas.</a:t>
            </a:r>
          </a:p>
          <a:p>
            <a:r>
              <a:t> (iii) Risco de perda do vínculo empregatício com o Empregador: caso o Devedor perca o  vínculo empregatício com o Empregador, não haverá remuneração e f olha de pagamento para  realização dos descontos para pagamento dos Direitos Creditórios. Neste caso, não obstante  a possibilidade do Agente de Retenção/Cobrança realizar a cobrança ativa dos Direitos  Creditórios diretamente do Devedor, a ausência de remuneração poderá deixar o Devedor  inadimplente perante a Classe até que o seu vínculo empregatício seja retomado e seja  ef etuado o procedimento operacional para que a CCB seja aditada e/ou seja realizado o  Processo de Reinicialização. Tais situações poderão resultar em prejuízos à Classe e aos  Cotistas.</a:t>
            </a:r>
          </a:p>
          <a:p>
            <a:r>
              <a:t>CNPJ 60010416000112 · Devedor e consignação · Regulamento · ID 1051393 · 2025-10-09 · versão 1 · p. 36 · https://fnet.bmfbovespa.com.br/fnet/publico/visualizarDocumento?id=1051393</a:t>
            </a:r>
          </a:p>
          <a:p>
            <a:r>
              <a:t>CNPJ 60010416000112 · Devedor e consignação · Excerto da fonte:</a:t>
            </a:r>
          </a:p>
          <a:p>
            <a:r>
              <a:t>Anexo I ao Regulamento CLASSE ÚNICA DO MT I CONSIGNADO PRIVADO I FUNDO DE INVESTIMENTO EM DIREITOS CREDITÓRIOS RESPONSABILIDADE LIMITADA  a qualquer momento, os recursos decorrentes dos Direitos Creditórios.</a:t>
            </a:r>
          </a:p>
          <a:p>
            <a:r>
              <a:t> (iii) Risco de validação das informações para conciliação e reconciliação dos Direitos  Creditórios adquiridos pela Classe: as inf ormações para conciliação dos pagamentos,  sendo considerado como tal, também, o Arquivo Dataprev, listando todos os empregados  cujas f olhas de pagamento serão sujeitas a desconto no mês relevante, nos valores acordados  ao ef etuar a Consignação, e qualquer glosa será enviada pela CEF ao Endossante, que  ef etuará a conciliação e, posteriormente, enviará as inf ormações ao Custodiante. Caso o  Endossante não f orneça essas inf ormações em tempo hábil ou f or verif icada qualquer  inconsistência nas informações recebidas pelo Custodiante, poderá isso impedir ou dar origem  a f alhas no processo de reconciliação dos valores depositados na Conta de Cobrança da  Classe e causando perdas à Classe e ao Cotista.</a:t>
            </a:r>
          </a:p>
          <a:p>
            <a:r>
              <a:t> (iv) Risco operacional dos sistemas: o desconto na f olha de pagamento do Devedor das  parcelas da CCB e a transf erência para o Endossante dos Direitos Creditórios serão  processados por um sistema controlado pela Dataprev, e o Endossante, o Administrador ou o  Gestor não têm controle sobre esse processo. Assim, qualquer f alha ou mudança nesse  sistema poderá atrasar ou reduzir o desconto dos rendimentos dos Devedores ou sua  transf erência para a Classe. Nesse caso, a rentabilidade e a propriedade da Classe poderão  ser adversamente af etadas enquanto o problema do sistema persistir, ou até que todos os  valores sejam devidamente transf eridos.</a:t>
            </a:r>
          </a:p>
          <a:p>
            <a:r>
              <a:t> (v) Risco operacional do Contrato: o desconto na f olha de pagamento das parcelas dos  empréstimos concedidos aos Devedores é permitido pelo Convênio Consignado Privado. As  partes do Convênio Consignado Privado devem seguir certas regras para manter o Convênio  Consignado Privado, e a violação delas poderá levar à sua rescisão. Além disso, mudanças  legais podem af etar e/ou tornar inviável a manutenção do Convênio Consignado Privado.</a:t>
            </a:r>
          </a:p>
          <a:p>
            <a:r>
              <a:t> No caso de rescisão do Convênio Consignado Privado, a estrutura de cobrança dos Direitos  Creditórios (desconto na f olha de pagamento) poderá ser comprometida, dando origem à  necessidade de adoção de uma nova estrutura, que poderá não ser tão eficaz quanto ela ou  mesmo revelar, na prática, ser inadequada ou ter altos custos operacionais. Esses eventos  podem levar a perdas patrimoniais para a Classe, na medida em que este deixará de receber,  def initiva ou temporariamente, recursos oriundos dos Direitos Creditórios, no todo ou em parte.</a:t>
            </a:r>
          </a:p>
          <a:p>
            <a:r>
              <a:t> Adicionalmente, de acordo com o Contrato de Endosso, a manutenção do Convênio  Consignado Privado é uma condição para a aquisição de novos Direitos Creditórios pela  Classe e, portanto, no caso de rescisão do Convênio Consignado Privado, a Classe poderá  ser impedido de adquirir novos Direitos Creditórios.</a:t>
            </a:r>
          </a:p>
          <a:p>
            <a:r>
              <a:t>CNPJ 60010416000112 · Devedor e consignação · Regulamento · ID 1051393 · 2025-10-09 · versão 1 · p. 31 · 13.2 · https://fnet.bmfbovespa.com.br/fnet/publico/visualizarDocumento?id=1051393</a:t>
            </a:r>
          </a:p>
          <a:p>
            <a:r>
              <a:t>CNPJ 60010416000112 · Devedor e consignação · Excerto da fonte:</a:t>
            </a:r>
          </a:p>
          <a:p>
            <a:r>
              <a:t>13.2 Todos os custos e despesas ref eridos neste Capítulo, inclusive para salvaguarda de direitos e  prerrogativas da Classe e/ou com a cobrança judicial e/ou extrajudicial de Direitos Creditórios Inadimplidos  ou Direitos Creditórios a Perf ormar, serão de inteira responsabilidade da Classe, não estando o  Administrador, o Gestor, o Endossante, os Devedores, o Custodiante e quaisquer de suas respectivas  pessoas controladoras, sociedades por estes direta ou indiretamente controladas, a estes coligadas ou  outras sociedades sob controle comum, em conjunto ou isoladamente, obrigados pelo adiantamento ou  pagamento de valores relacionados aos procedimentos ref eridos neste Capítulo.</a:t>
            </a:r>
          </a:p>
          <a:p>
            <a:r>
              <a:t>CNPJ 60010416000112 · Devedor e consignação · Condição: Documentos atuais selecionados no inventário por categoria/escopo; a data documental isolada não comprova vigência jurídica.</a:t>
            </a:r>
          </a:p>
          <a:p>
            <a:r>
              <a:t>CNPJ 60010416000112 · Devedor e consignação · Versão e prevalência: Documentos atuais selecionados no inventário por categoria/escopo; a data documental isolada não comprova vigência jurídica.</a:t>
            </a:r>
          </a:p>
          <a:p>
            <a:r>
              <a:t>CNPJ 60010416000112 · Devedor e consignação · Resumo do histórico: {"count": 2, "dates": ["2025-03-20", "2025-10-09"], "document_count": 2, "sources": [{"document_id": "1051393", "title": "Regulamento", "reference_date": "2025-10-09", "version": "1", "page": "9-10, 42", "url": "https://fnet.bmfbovespa.com.br/fnet/publico/visualizarDocumento?id=1051393", "sha256": "8469d613078ffd5a6c1d217885d8a397a16342c0b937ae4aa24b106505f233ae"}, {"document_id": "993786", "title": "Regulamento", "reference_date": "2025-03-20", "version": "1", "page": 35, "clause": "15.1.4", "url": "https://fnet.bmfbovespa.com.br/fnet/publico/visualizarDocumento?id=993786", "sha256": "fd0fdd369a195510d81f81f505195a0b09e5f43522a990afa7d58c4f872921c8"}], "reference": {"path": "history/60010416000112.json", "criterion_id": "debtor", "total_count": 2, "preview_count": 2, "full_text_deferred": true, "sha256": "8e2bd813f4c51cf01f6bfaad164bafe69d2bbb192f753eac92da3a01c2e63046"}}</a:t>
            </a:r>
          </a:p>
          <a:p>
            <a:r>
              <a:t>CNPJ 62696791000193 · Devedor e consignação · Regulamento · ID 1143317 · 2026-03-20 · versão 1 · p. 47 · 10.2 · https://fnet.bmfbovespa.com.br/fnet/publico/visualizarDocumento?id=1143317</a:t>
            </a:r>
          </a:p>
          <a:p>
            <a:r>
              <a:t>CNPJ 62696791000193 · Devedor e consignação · Excerto da fonte:</a:t>
            </a:r>
          </a:p>
          <a:p>
            <a:r>
              <a:t>10.2. As mudanças climáticas podem impactar severamente os ciclos produtivos de commodities  agrícolas, ocasionando, quebras de saf ra, volatilidade de preços, choques de of erta,  deterioração da qualidade dos produtos por elas atingidos, bem como interrupção no  abastecimento destes. Ref eridas mudanças podem af etar adversamente a capacidade  produtiva e de entrega dos produtos agrícolas pelos devedores, cenário este que impactará  negativamente a capacidade de pagamento dos Ativos-Alvo integrantes da carteira da Classe  pelos devedores e, conforme o caso, pelas pessoas devedoras dos bens e direitos onerados  em f avor da Classe.</a:t>
            </a:r>
          </a:p>
          <a:p>
            <a:r>
              <a:t>CNPJ 62696791000193 · Devedor e consignação · Condição: Documentos atuais selecionados no inventário por categoria/escopo; a data documental isolada não comprova vigência jurídica.</a:t>
            </a:r>
          </a:p>
          <a:p>
            <a:r>
              <a:t>CNPJ 62696791000193 · Devedor e consignação · Versão e prevalência: Documentos atuais selecionados no inventário por categoria/escopo; a data documental isolada não comprova vigência jurídica.</a:t>
            </a:r>
          </a:p>
          <a:p>
            <a:r>
              <a:t>CNPJ 55563624000109 · Devedor e consignação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Devedor e consignação · Resumo do histórico: {"count": 1, "dates": ["2026-04-30"], "document_count": 1, "sources": [{"document_id": "1192614", "title": "Regulamento", "reference_date": "2026-04-30", "version": "1", "page": "11-12", "url": "https://fnet.bmfbovespa.com.br/fnet/publico/visualizarDocumento?id=1192614", "sha256": "f56e63ace0acde41d2f47fb48f1ac7f3f7df5e2d32de092d7c5e075a52516632"}], "reference": {"path": "history/55563624000109.json", "criterion_id": "debtor", "total_count": 1, "preview_count": 1, "full_text_deferred": true, "sha256": "7835d573fb58a3c19adf5b8ecc2aee2bdbb9a88f7a0c0209b5f262b64c7522e3"}}</a:t>
            </a:r>
          </a:p>
          <a:p>
            <a:r>
              <a:t>CNPJ 62552447000120 · Devedor e consignação · Regulamento · ID 1200623 · 2026-05-21 · versão 1 · p. 35 · https://fnet.bmfbovespa.com.br/fnet/publico/visualizarDocumento?id=1200623</a:t>
            </a:r>
          </a:p>
          <a:p>
            <a:r>
              <a:t>CNPJ 62552447000120 · Devedor e consignação · Excerto da fonte:</a:t>
            </a:r>
          </a:p>
          <a:p>
            <a:r>
              <a:t>ativos desses emissores, causando perdas à Classe e ao Cotista. Além disso, a f alta de capacidade ou disposição de pagar por qualquer dos emissores dos Ativos Financeiros de Liquidez ou das contrapartes nas transações que compõem a Carteira causará perdas à Classe, e o que também poderá incorrer em custos para f ins de recuperação de seus recebíveis.</a:t>
            </a:r>
          </a:p>
          <a:p>
            <a:r>
              <a:t>(v) Riscos associados aos Devedores: no caso de Devedores no âmbito das operações de consignado privado, a sua capacidade de pagamento poderá ser af etada se, por exemplo, o Devedor tiver o seu contrato de emprego rescindido ou em virtude de decisão judicial, o Devedor for obrigado a pagar alimentos, que têm prioridade sobre o empréstimo para f ins de desconto na f 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 etar a rentabilidade da Classe. Já no caso de Devedores no âmbito das operações de Saque-aniversário, como os Direitos Creditórios a serem endossados à Classe serão descontados pelo FGTS da remuneração do Devedor, na ocorrência de qualquer evento que, nos termos da legislação aplicável, determine o pagamento antecipado do Saque-aniversário ao Devedor, a exemplo do falecimento do Devedor, dentre outros, as parcelas do Saque- aniversário serão pagas antecipadamente e a Classe deverá utilizar tais montantes no pré-pagamento dos Direitos Creditórios. Nesta hipótese, a Classe poderá não encontrar Direitos Creditórios disponíveis para serem adquiridos pela Classe, o que poderá af etar a rentabilidade da Classe.</a:t>
            </a:r>
          </a:p>
          <a:p>
            <a:r>
              <a:t>Risco de liquidez</a:t>
            </a:r>
          </a:p>
          <a:p>
            <a:r>
              <a:t>(i) Risco de liquidez: consiste no risco de redução ou inexistência de demanda pelos ativos que compõem a Classe nos respectivos mercados em que são negociados, devido às condições específicas desses ativos ou aos mercados em que são negociados. Devido a esses riscos, o Gestor poderá encontrar dificuldades em liquidar posições ou negociar esses ativos pelo preço e prazo desejados, de acordo com a estratégia de gestão adotada pela Classe, que permanecerá exposto, durante o período de baixa liquidez, aos riscos associados a esses ativos e posições assumidas em mercados de derivativos, se houver, que poderão até exigir que o Gestor aceite descontos em seus preços para realizar negociações no mercado. Esses f atores poderão prejudicar o pagamento de Amortizações ao Cotista, nos valores e dentro dos termos aqui estabelecidos.</a:t>
            </a:r>
          </a:p>
          <a:p>
            <a:r>
              <a:t>(ii) Riscos do mercado secundário: A Classe é constituída sob a f orma de condomínio fechado, de modo que as Cotas somente serão resgatadas em virtude da liquidação da Classe. Uma vez que o Prazo de Duração da Classe é indeterminado, o Cotista titular das Cotas não terá liquidez em seu investimento na Classe, exceto</a:t>
            </a:r>
          </a:p>
          <a:p>
            <a:r>
              <a:t>(a) por ocasião das Amortizações e dos resgates, nos termos deste Regulamento; (b) por meio da alienação de suas Cotas no mercado secundário; ou (c) na liquidação antecipada do FUNDO ou da Classe.</a:t>
            </a:r>
          </a:p>
          <a:p>
            <a:r>
              <a:t>Além disso, atualmente, o mercado secundário de cotas de fundos de investimento apresenta baixa liquidez, o que pode dificultar a venda das Cotas ou ocasionar a obtenção de um preço de venda que cause perda de patrimônio ao Cotista. Não há qualquer garantia do Administrador, do Gestor, da consultora ou do Custodiante em relação à possibilidade de venda das Cotas no mercado secundário ou ao preço obtido por elas, ou mesmo garantia de saída ao Cotista.</a:t>
            </a:r>
          </a:p>
          <a:p>
            <a:r>
              <a:t>Riscos específicos</a:t>
            </a:r>
          </a:p>
          <a:p>
            <a:r>
              <a:t>(i)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ficar inadimplente e, consequentemente, não haverá repasse à Classe do respectivo Direito Creditório, o que poderá resultar em perdas f inanceiras à Classe e aos Cotistas. Para os f ins deste Regulamento, “Empregador” signif ica a empresa com qual o Devedor mantém vínculo empregatício registrado junto à CTPS.</a:t>
            </a:r>
          </a:p>
          <a:p>
            <a:r>
              <a:t>(ii) Risco do Empregador não efetuar o desconto em folha: o repasse dos recursos oriundos dos Direitos Creditórios à Classe depende da realização, pelo Empregador, da escrituração da Consignação a ser</a:t>
            </a:r>
          </a:p>
          <a:p>
            <a:r>
              <a:t>CNPJ 62552447000120 · Devedor e consignação · Regulamento · ID 1200623 · 2026-05-21 · versão 1 · p. 36 · https://fnet.bmfbovespa.com.br/fnet/publico/visualizarDocumento?id=1200623</a:t>
            </a:r>
          </a:p>
          <a:p>
            <a:r>
              <a:t>CNPJ 62552447000120 · Devedor e consignação · Excerto da fonte:</a:t>
            </a:r>
          </a:p>
          <a:p>
            <a:r>
              <a:t>realizada pelo empregador, junto ao eSocial, após recebimento de notificação comunicando-o da contratação, pelo Devedor, do empréstimo a ser pago por Consignação (“Escrituração”), e do desconto na respectiva folha de pagamento do Devedor. Na hipótese do Empregador deixar de realizar a Escrituração ou os descontos na f olha de pagamento, não haverá repasse de recursos à Classe, podendo causar prejuízos à Classe e aos Cotistas.</a:t>
            </a:r>
          </a:p>
          <a:p>
            <a:r>
              <a:t>(iii) Risco de perda do vínculo empregatício com o Empregador: caso o Devedor perca o vínculo empregatício com o Empregador, não haverá remuneração e f olha de pagamento para realização dos descontos para pagamento dos Direitos Creditórios. Neste caso, não obstante a possibilidade do Agente de Retenção e Cobrança realizar a cobrança ativa dos Direitos Creditórios diretamente do Devedor, a ausência de remuneração poderá deixar o Devedor inadimplente perante a Classe até que o seu vínculo empregatício seja retomado e seja efetuado o procedimento operacional para que a CCB seja aditada e/ou seja realizado o Processo de Reinicialização. Tais situações poderão resultar em prejuízos à Classe e aos Cotistas.</a:t>
            </a:r>
          </a:p>
          <a:p>
            <a:r>
              <a:t>(iv) Risco relativo ao Agente de Retenção e Cobrança: A solvência do Agente de Retenção e Cobrança quanto às suas obrigações financeiras poderá impactar o cumprimento de suas obrigações perante a Classe e, consequentemente, os rendimentos da Classe poderão ser adversamente af etados.</a:t>
            </a:r>
          </a:p>
          <a:p>
            <a:r>
              <a:t>Riscos operacionais</a:t>
            </a:r>
          </a:p>
          <a:p>
            <a:r>
              <a:t>(i) Risco de irregularidade dos Documentos Comprobatórios e/ou Documentos Suporte: o terceiro contratado pelo Gestor, que atuará sob responsabilidade do Gestor, deverá realizar a verif icação da regularidade dos Documentos Comprobatórios. A Carteira poderá conter Direitos Creditórios com documentação irregular, o que poderá impedir que a Classe exerça plenamente as prerrogativas derivadas da titularidade dos Direitos Creditórios.</a:t>
            </a:r>
          </a:p>
          <a:p>
            <a:r>
              <a:t>(ii) Risco operacional da Dataprev e da CEF: o empréstimo contraído pelos Devedores é pago por meio de desconto na f olha de pagamento f eito pela Dataprev e pela CEF, conf orme aplicável. É possível que os rendimentos dos Devedores sejam atrasados ou não pagos devido a questões operacionais envolvendo a Dataprev e/ou a CEF. Nesse caso, a Carteira poderá sofrer, já que não receberá automaticamente, e também poderá ter dificuldades para receber, a qualquer momento, os recursos decorrentes dos Direitos Creditórios.</a:t>
            </a:r>
          </a:p>
          <a:p>
            <a:r>
              <a:t>(iii) Risco operacional do FGTS: o empréstimo contraído pelos Devedores é pago por meio de desconto dos Saques-aniversário feitos pelo FGTS. É possível que os rendimentos dos Devedores sejam atrasados ou não pagos devido a questões operacionais envolvendo a CEF, incluindo, sem se limitar, a erros e atrasos operacionais envolvendo a CEF. Nesse caso, a Carteira poderá sofrer, já que não receberá automaticamente, e também poderá ter dif iculdades para receber, a qualquer momento, os recursos decorrentes dos Direitos Creditórios.</a:t>
            </a:r>
          </a:p>
          <a:p>
            <a:r>
              <a:t>(iv) Risco de validação das informações para conciliação e reconciliação dos Direitos Creditórios adquiridos pela Classe: as inf ormações para conciliação dos pagamentos, sendo considerado como tal, também, o Arquivo Dataprev e o Arquivo de Liquidação Saque-aniversário, listando todos os empregados cujas f olhas de pagamento ou Saques Aniversário serão sujeitos a desconto no mês, nos valores acordados ao ef etuar a Consignação, e qualquer glosa será enviada pela CEF ao Endossante, que efetuará a conciliação e, posteriormente, enviará as informações ao Custodiante. Caso o Endossante não forneça essas informações em tempo hábil ou for verificada qualquer inconsistência nas informações recebidas pelo Custodiante, poderá isso impedir ou dar origem a falhas no processo de reconciliação dos valores depositados na Conta da Classe e causando perdas à Classe e ao Cotista.</a:t>
            </a:r>
          </a:p>
          <a:p>
            <a:r>
              <a:t>(v) Risco operacional dos sistemas: o desconto na f olha de pagamento e/ou nos Saques Aniversário das parcelas da CCB e a transf erência para o Endossante dos Direitos Creditórios serão processados por meio da Plataforma Dataprev, e o Endossante, o Administrador ou o Gestor não têm controle sobre esse processo.</a:t>
            </a:r>
          </a:p>
          <a:p>
            <a:r>
              <a:t>Assim, qualquer falha ou mudança nesse sistema poderá atrasar ou reduzir o desconto dos rendimentos dos Devedores ou sua transferência para a Classe. Nesse caso, a rentabilidade e a propriedade da Classe poderão ser adversamente af etadas enquanto o problema do sistema persistir, ou até que todos os valores sejam devidamente transf eridos.</a:t>
            </a:r>
          </a:p>
          <a:p>
            <a:r>
              <a:t>(vi) Risco operacional: em linha com as Cláusulas 4.3.1 e 4.3.2 do Anexo I deste Regulamento, o</a:t>
            </a:r>
          </a:p>
          <a:p>
            <a:r>
              <a:t>CNPJ 62552447000120 · Devedor e consignação · Regulamento · ID 1200623 · 2026-05-21 · versão 1 · p. 5 · https://fnet.bmfbovespa.com.br/fnet/publico/visualizarDocumento?id=1200623</a:t>
            </a:r>
          </a:p>
          <a:p>
            <a:r>
              <a:t>CNPJ 62552447000120 · Devedor e consignação · Excerto da fonte:</a:t>
            </a:r>
          </a:p>
          <a:p>
            <a:r>
              <a:t>O objetivo da Classe é proporcionar aos seus Cotistas a valorização de  suas Cotas por meio da aplicação de seu Patrimônio Líquido na aquisição  de:</a:t>
            </a:r>
          </a:p>
          <a:p>
            <a:r>
              <a:t> (i) “Direitos Creditórios”, assim entendidos como, em conjunto:</a:t>
            </a:r>
          </a:p>
          <a:p>
            <a:r>
              <a:t> (a) “Direitos Creditórios Consignado Privado”, na forma de  cédulas de crédito bancário, regidas pela Lei n.º 10.931,  de 2 de agosto de 2004, conforme alterada (“CCBs”),  emitidas eletronicamente por Devedores, em f avor do  Endossante, representando um empréstimo pessoal  consignado, de forma que o pagamento ocorra mediante  desconto de cada prestação vincenda da CCB na f olha  de pagamentos do Devedor (“Consignação”);</a:t>
            </a:r>
          </a:p>
          <a:p>
            <a:r>
              <a:t> (b) “Direitos Creditórios FGTS”, na f orma de CCBs  emitidas eletronicamente por Devedores, em f avor do  Objetivo Endossante, representando um empréstimo pessoal com  garantia de cessão f iduciária dos valores a que f azem jus  os Devedores ref erentes ao saque anual permitido aos  benef iciários do Fundo de Garantia do Tempo de Serviço  (“FGTS”) em seu mês de aniversário (“Saque-  aniversário”), regulado pela Lei n.º 8.036, de 11 de maio  de 1990, conforme alterada (“Lei 8.036”), nos termos dos  arts. 20, inciso XX, 20-A, inciso II, e 20-D, § 3º, da Lei</a:t>
            </a:r>
          </a:p>
          <a:p>
            <a:r>
              <a:t> 8.036, do art. 66-B da Lei n.º 4.728, de 14 de julho de  1965, e da Resolução CC/FGTS n.º 958, de 24 de abril  de 2020, conforme alterada (“Resolução FGTS 958”), de  f orma que parte do Saque-aniversário é utilizada para  liquidar as parcelas devidas da CCB;</a:t>
            </a:r>
          </a:p>
          <a:p>
            <a:r>
              <a:t> (c) “Direitos Creditórios TVM”, na f orma de direitos, títulos  e/ou valores mobiliários representativos de créditos  originados no âmbito de operações de sociedades</a:t>
            </a:r>
          </a:p>
          <a:p>
            <a:r>
              <a:t>CNPJ 62552447000120 · Devedor e consignação · Condição: Documentos atuais selecionados no inventário por categoria/escopo; a data documental isolada não comprova vigência jurídica.</a:t>
            </a:r>
          </a:p>
          <a:p>
            <a:r>
              <a:t>CNPJ 62552447000120 · Devedor e consignação · Versão e prevalência: Documentos atuais selecionados no inventário por categoria/escopo; a data documental isolada não comprova vigência jurídica.</a:t>
            </a:r>
          </a:p>
          <a:p>
            <a:r>
              <a:t>CNPJ 63953620000165 · Devedor e consignação · Anexo ao Regulamento · ID 1222863 · 2026-06-02 · versão 1 · p. 1 · 1.1 · https://fnet.bmfbovespa.com.br/fnet/publico/visualizarDocumento?id=1222863</a:t>
            </a:r>
          </a:p>
          <a:p>
            <a:r>
              <a:t>CNPJ 63953620000165 · Devedor e consignação · Excerto da fonte:</a:t>
            </a:r>
          </a:p>
          <a:p>
            <a:r>
              <a:t>1.1 As principais características da Classe Consignado Privado (para fins deste Anexo, “Classe”) estão descritas  abaixo:</a:t>
            </a:r>
          </a:p>
          <a:p>
            <a:r>
              <a:t> Tipo de Condomínio Fechado.</a:t>
            </a:r>
          </a:p>
          <a:p>
            <a:r>
              <a:t> Indeterminado, exceto se de outra forma vier a ser deliberado pelos Cotistas  Prazo de Duração  reunidos em Assembleia Especial de Cotistas. (“Prazo de Duração”)  Tipo “Financeiro”.</a:t>
            </a:r>
          </a:p>
          <a:p>
            <a:r>
              <a:t> Classificação ANBIMA  Foco de atuação “Créditos Consignados”.</a:t>
            </a:r>
          </a:p>
          <a:p>
            <a:r>
              <a:t> O objetivo da classe é proporcionar aos seus Cotistas a valorização de suas Cotas  por meio da aplicação de seu Patrimônio Líquido (conforme definido abaixo) na  aquisição de: (i) “Direitos Creditórios Crédito Consignado”, representados por  cédula de crédito bancário regida pela Lei nº 10.931, emitida eletronicamente por  um devedor em favor do endossante (“CCB”) e, consequentemente, os recebíveis  decorrente de cada uma das parcelas vincendas, representando um empréstimo  consignado concedido pelo endossante ao devedor, e cujo pagamento ordinário  é feito por desconto de cada prestação vincenda de uma CCB na folha de  pagamentos do devedor (“Consignação”), efetuada pela Caixa Econômica  Federal, de acordo com a legislação aplicável e em conformidade com os  procedimentos estabelecidos no convênio celebrado entre o Endossante e a  Empresa de Tecnologia e Informações da Previdência – DATAPREV e paga na  Conta Vinculada do Endossante (“Convênio Consignado Privado”); e/ou (ii)  “Direitos Creditórios TVM”, representados por direitos, títulos e/ou valores  mobiliários representativos de créditos originados no âmbito de operações de  sociedades integrantes do conglomerado econômico de instituições financeiras  classificadas como S1 pelo BACEN, desde que não representem títulos de  emissão ou coobrigação de instituições financeiras, bem como cotas de fundos  de investimento que invistam preponderantemente nestes direitos, títulos e/ou  Objetivo  valores mobiliários (Direitos Creditórios TVM quando referidos em conjunto  com os Direitos Creditórios Consignado Privado, “Direitos Creditórios”)  observados todos os limites de composição e diversificação da carteira da Classe  (“Carteira”), estabelecidos neste Regulamento e na regulamentação aplicável.</a:t>
            </a:r>
          </a:p>
          <a:p>
            <a:r>
              <a:t> Subsidiariamente, a parcela do Patrimônio Líquido que não esteja alocada em  Direitos Creditórios poderá estar alocado em: (1) certificados de depósito  bancário (CDB) ou recibos de depósito bancário (RDB) com prazo máximo de  vencimento equivalente ao prazo remanescente do Período de Investimento, com  liquidez diária, emitidos por Parati Crédito, Financiamento e Investimento S.A.</a:t>
            </a:r>
          </a:p>
          <a:p>
            <a:r>
              <a:t> e/ou pelo Endossante (“Ativos de Liquidez MT”); e/ou (2) (i) moeda corrente  nacional; (ii) títulos do Tesouro SELIC, anteriormente denominado letra financeira  do Tesouro Nacional (LFT); (iii) certificados de depósito bancário (CDB) ou recibos  de depósito bancário (RDB) com prazo máximo de vencimento equivalente ao  prazo remanescente do Período de Investimento, com liquidez diária, emitidos  por (a) Itaú Unibanco S.A.; (b) Banco Bradesco S.A.; (c) Caixa Econômica Federal;</a:t>
            </a:r>
          </a:p>
          <a:p>
            <a:r>
              <a:t> (d) Banco do Brasil S.A.; (e) Banco Santander (Brasil) S.A.; (f) Banco BTG Pactual  S.A.; (g) Banco Sistema S.A. (“Instituições Autorizadas”); (iv) operações  compromissadas, desde que lastreadas nos títulos mencionados nas alíneas (i) a</a:t>
            </a:r>
          </a:p>
          <a:p>
            <a:r>
              <a:t> (iii) acima, emitidas por Instituições Autorizadas, com liquidez diária e vencimento</a:t>
            </a:r>
          </a:p>
          <a:p>
            <a:r>
              <a:t>CNPJ 63953620000165 · Devedor e consignação · Anexo ao Regulamento · ID 1222863 · 2026-06-02 · versão 1 · p. 19 · 12.6 · https://fnet.bmfbovespa.com.br/fnet/publico/visualizarDocumento?id=1222863</a:t>
            </a:r>
          </a:p>
          <a:p>
            <a:r>
              <a:t>CNPJ 63953620000165 · Devedor e consignação · Excerto da fonte:</a:t>
            </a:r>
          </a:p>
          <a:p>
            <a:r>
              <a:t>12.6 A Classe contratou a Tudo Serviços S.A., sociedade anônima, com sede no município de Fortaleza, Estado do Ceará,  na Avenida Senador Virgulo Távora, nº 303, Lojas 02, 03, 04, 05, 06 e 19, Meireles, CEP 60.170-265, inscrita no CNPJ  sob o nº 27.852.506/0001-85, cujos deveres, sem prejuízo daqueles estabelecidos neste Regulamento, no  “Contrato de Serviços de Retenção e Cobrança e Outras Avenças”, celebrado entre o Agente de  Retenção/Cobrança e a Classe (“Contrato de Serviços MT”) e no Contrato de Endosso, consistirão no  monitoramento e cobrança dos Direitos Creditórios Inadimplidos, observado o disposto neste Anexo I e na  regulamentação aplicável (“Agente de Retenção/Cobrança”):</a:t>
            </a:r>
          </a:p>
          <a:p>
            <a:r>
              <a:t> (i) caso aplicável, atuar na retenção (defesa) de operações de empréstimo consignado cujos Direitos  Creditórios sejam de titularidade da Classe, em caso de tentativa de transferência de tais operações de  empréstimo consignado por instituições proponentes, nos termos da Resolução CMN nº 5.057, em razão de  ofertas de portabilidade feitas por tais instituições proponentes, conforme informado pelo Endossante ou pelo  Custodiante ao Agente de Retenção/Cobrança, diariamente, de acordo com o Contrato de Endosso; sendo  que tal serviço deverá incluir, entre outras atividades auxiliares a ele relacionadas, a avaliação das ofertas de  portabilidade feitas pelas instituições proponentes, buscando, se for o caso, esclarecer as vantagens de não  recorrer à portabilidade, retendo a respectiva operação de empréstimo consignado em seus termos atuais;</a:t>
            </a:r>
          </a:p>
          <a:p>
            <a:r>
              <a:t> (ii) mediante inadimplemento de um Direito Creditório devido à indisponibilidade da margem de crédito do  Devedor, auxiliar o Endossante com o Processo de Reinicialização (conforme detalhado no Contrato de  Endosso) em relação ao respectivo Direito Creditório;</a:t>
            </a:r>
          </a:p>
          <a:p>
            <a:r>
              <a:t> (iii) manter e operar um serviço de atendimento ao consumidor - SAC e uma ouvidoria em conformidade  com os regulamentos aplicáveis, monitorar e resolver reclamações e solicitações de Devedores com  relação às operações de empréstimo consignado que dão origem aos Direitos Creditórios, em  conformidade com o Acordo de Parceria;</a:t>
            </a:r>
          </a:p>
          <a:p>
            <a:r>
              <a:t> (iv) realizar a cobrança dos Direitos Creditórios Inadimplidos;</a:t>
            </a:r>
          </a:p>
          <a:p>
            <a:r>
              <a:t> (v) auxiliar o Endossante na correção de qualquer irregularidade relevante identificada com relação à  originação dos Direitos Creditórios;</a:t>
            </a:r>
          </a:p>
          <a:p>
            <a:r>
              <a:t> (vi) realizar a renegociação junto aos Devedores de Direitos Creditórios Inadimplidos e, caso aplicável, celebrar  aditamento à CCB para refletir os novos termos, decorrentes da renegociação  CAPÍTULO 13 – REMUNERAÇÃO DOS PRESTADORES DE SERVIÇOS  0,05% (cinco centésimos por cento) ao ano, apropriada diariamente na base de 252  (duzentos e cinquenta e dois) Dias Úteis, e paga mensalmente até o 5º (quinto) Dia  Útil do mês subsequente ao mês que se refere, incidente sobre o Patrimônio Líquido  da Classe alocado em Direitos Creditórios Consignado Privado e/ou Ativos de  Liquidez MT, observada remuneração mínima mensal de R$ 2.500,00 (dois mil e  quinhentos reais), a ser corrigida anualmente, em janeiro de cada ano, pela variação  Taxa de Administração  positiva do Índice Geral de Preços – Mercado, divulgado pela Fundação Getúlio  Vargas (“Taxa de Administração” e “IGP-M”, respectivamente).</a:t>
            </a:r>
          </a:p>
          <a:p>
            <a:r>
              <a:t> Na hipótese de extinção do IGP-M, não divulgação ou impossibilidade de sua  utilização, será utilizado o Índice Geral de Preços – Disponibilidade Interna,  divulgado pela Fundação Getúlio Vargas, ou, na falta de ambos, pela variação do IPC  – Índice de Preços ao Consumidor, divulgado pela Fundação Instituto de Pesquisas</a:t>
            </a:r>
          </a:p>
          <a:p>
            <a:r>
              <a:t>CNPJ 63953620000165 · Devedor e consignação · Anexo ao Regulamento · ID 1222863 · 2026-06-02 · versão 1 · p. 2 · https://fnet.bmfbovespa.com.br/fnet/publico/visualizarDocumento?id=1222863</a:t>
            </a:r>
          </a:p>
          <a:p>
            <a:r>
              <a:t>CNPJ 63953620000165 · Devedor e consignação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Devedor e consignação · Condição: Documentos atuais selecionados no inventário por categoria/escopo; a data documental isolada não comprova vigência jurídica.</a:t>
            </a:r>
          </a:p>
          <a:p>
            <a:r>
              <a:t>CNPJ 63953620000165 · Devedor e consignação · Versão e prevalência: Documentos atuais selecionados no inventário por categoria/escopo; a data documental isolada não comprova vigência jurídica.</a:t>
            </a:r>
          </a:p>
          <a:p>
            <a:r>
              <a:t>CNPJ 63953620000165 · Devedor e consignação · Resumo do histórico: {"count": 8, "dates": ["2026-04-28", "2026-05-08", "2026-05-15"], "document_count": 3, "sources": [{"document_id": "1327859", "title": "Demonstrações Financeiras - Fusão, cisão e incorporação", "reference_date": "2026-05-15", "version": "1", "page": 22, "url": "https://fnet.bmfbovespa.com.br/fnet/publico/visualizarDocumento?id=1327859", "sha256": "dca1c68babb97f887528c3e2e47596a9c30f507b067981a35655b2f2da9c8054"}, {"document_id": "1298691", "title": "Demonstrações Financeiras - Fusão, cisão e incorporação", "reference_date": "2026-05-08", "version": "1", "page": 22, "url": "https://fnet.bmfbovespa.com.br/fnet/publico/visualizarDocumento?id=1298691", "sha256": "58c570d9b8d4d265330d3db3ea81c435b8e44a6dab4002aa37790652a1ee9819"}, {"document_id": "1282180", "title": "Demonstrações Financeiras - Fusão, cisão e incorporação", "reference_date": "2026-04-28", "version": "1", "page": 22, "url": "https://fnet.bmfbovespa.com.br/fnet/publico/visualizarDocumento?id=1282180", "sha256": "afaaa0e6809be4385e5bdb6c911aac582032c5bdbac3d7750234bf9eaf00438a"}], "reference": {"path": "history/63953620000165.json", "criterion_id": "debtor", "total_count": 8, "preview_count": 3, "full_text_deferred": true, "sha256": "a7b89077f5e21098c2d601c303faabc3ff6b9729f89d8afecdc60fe1404720c1"}}</a:t>
            </a:r>
          </a:p>
          <a:p>
            <a:r>
              <a:t>CNPJ 54871427000194 · Elegibilidade · Regulamento · ID 670691 · 28/04/2024 · versão Regulamento — referência 28/04/2024 · p. 9 · Anexo I, 4.7(i)–(iv) · https://fnet.bmfbovespa.com.br/fnet/publico/visualizarDocumento?id=670691</a:t>
            </a:r>
          </a:p>
          <a:p>
            <a:r>
              <a:t>CNPJ 54871427000194 · Elegibilidade · Excerto da fonte:</a:t>
            </a:r>
          </a:p>
          <a:p>
            <a:r>
              <a:t>4.7 A Classe somente poderá adquirir os Direitos Creditórios que atendam cumulativamente aos seguintes Critérios de Elegibilidade, a serem verif icados e validados pelo GESTOR, de f orma individualizada e integral, previamente à cessão e na respectiva Data de Aquisição, de modo que apenas são passíveis de aquisição pela Classe os Direitos Creditórios que, na Data de Aquisição: (i) CCBs sem qualquer parcela cedida; (ii) CCBs com diferença menor que 60 (sessenta) dias entre a data provável do endosso e a próxima parcela a vencer; (iii) CCBs cujo valor da prestação seja superior a R$ 30,00 (trinta reais); (iv) Idade do Devedor somada ao prazo remanescente da CCB deve ser igual ou inferior a 80 (oitenta) anos; BTG Pactual SAC: 0800 772 28 27 - Ouvidoria: 0800 722 00 48 - btgpactual.com 3</a:t>
            </a:r>
          </a:p>
          <a:p>
            <a:r>
              <a:t>CNPJ 54871427000194 · Elegibilidade · Regulamento · ID 670691 · 28/04/2024 · versão Regulamento — referência 28/04/2024 · p. 10 · Anexo I, 4.7(v)–(xi) · https://fnet.bmfbovespa.com.br/fnet/publico/visualizarDocumento?id=670691</a:t>
            </a:r>
          </a:p>
          <a:p>
            <a:r>
              <a:t>CNPJ 54871427000194 · Elegibilidade · Excerto da fonte:</a:t>
            </a:r>
          </a:p>
          <a:p>
            <a:r>
              <a:t>(v) CCBs que até a Data do Endosso não estejam pendentes de res olução em relação a uma comprovada reclamação do devedor junto ao Banco Central do Brasil ou ao Procon; (vi) CCBs que não sejam originadas por pessoa física condenada por terem submetido trabalhadores a condições análogas à de escravo – denominada “Lista Suja”; (vii) CCBs sem parcela em atraso; (viii) Aquisição de todas as parcelas vincendas das CCBs, não sendo possível a aquisição de fluxo parcial; (ix) CCBs vinculadas ao órgão convenente, desde que o convênio não se encontre na Data de Aquisição em situação de suspensão; (x) Devedores adimplentes junto ao Endossante com relação aos Direitos Creditórios endossados à Classe; CCB cuja amortização ordinária dos valores devidos, nos últimos 60 (sessenta) dias, tenha ocorrido de f orma integral e ordinária. Na primeira tranche de aquisição de Direitos Creditórios pelo Endossatário tal prazo poderá ser reduzido para 30 (trinta) dias nos casos de amortização extraordinária (via boleto) desde que o valor de aquisição dos ref eridos Direitos Creditórios não ultrapasse R$ 30.000,00 (trinta mil reais), exc</a:t>
            </a:r>
          </a:p>
          <a:p>
            <a:r>
              <a:t>CNPJ 54871427000194 · Elegibilidade · Versão e prevalência: Leitura específica das cláusulas indicadas; condições e conflitos preservados. Seleção documental atual não comprova vigência jurídica por data isolada.</a:t>
            </a:r>
          </a:p>
          <a:p>
            <a:r>
              <a:t>CNPJ 54871427000194 · Elegibilidade · Resumo do histórico: {"count": 2, "dates": ["2024-04-19", "2024-04-28"], "document_count": 2, "sources": [{"document_id": "670691", "title": "Regulamento", "reference_date": "2024-04-28", "version": "1", "page": "9-10", "clause": "4.7", "url": "https://fnet.bmfbovespa.com.br/fnet/publico/visualizarDocumento?id=670691", "sha256": "bf16dd7f1a62d5cdbf2e2d54fef81783783f7310fbc99c3a8f00459bdf9d037b"}, {"document_id": "670689", "title": "Regulamento", "reference_date": "2024-04-19", "version": "1", "page": 10, "clause": "4.7.3", "url": "https://fnet.bmfbovespa.com.br/fnet/publico/visualizarDocumento?id=670689", "sha256": "891bc9bc5d87bbc02ec139077a84d2702eb81ea02035fb71d24f5b8366b94a0b"}], "reference": {"path": "history/54871427000194.json", "criterion_id": "eligibility", "total_count": 2, "preview_count": 2, "full_text_deferred": true, "sha256": "35d7cd99be50c7287c9fb675cf4f2e736002315295a225a9efa79c8d9186d874"}}</a:t>
            </a:r>
          </a:p>
          <a:p>
            <a:r>
              <a:t>CNPJ 60010416000112 · Elegibilidade · Regulamento · ID 1051393 · 2025-10-09 · versão 1 · p. 10 · 4.4.5 · https://fnet.bmfbovespa.com.br/fnet/publico/visualizarDocumento?id=1051393</a:t>
            </a:r>
          </a:p>
          <a:p>
            <a:r>
              <a:t>CNPJ 60010416000112 · Elegibilidade · Excerto da fonte:</a:t>
            </a:r>
          </a:p>
          <a:p>
            <a:r>
              <a:t>4.4.5. Caso um Direito Creditório endossado à Classe deixe de atender quaisquer Critérios de  Elegibilidade, quaisquer condições de endosso e/ou quaisquer declarações e garantias referentes  a esse Direito Creditório, conforme previsto no Contrato de Endosso, após seu endosso à Classe,  não haverá coobrigação nem direito de regresso da Classe contra o Endossante, o Administrador,  o Custodiante, o Gestor e/ou o Agente de Retenção/Cobrança, exceto em caso de má-fé, culpa  ou dolo comprovado, hipótese em que a parte que agiu com má-f é, culpa ou dolo comprovado  poderá ser responsabilizada pelas perdas incorridas pela Classe em relação aos respectivos  Direitos Creditórios. Se, entretanto, for constatado que um Direito Creditório endossado à Classe  não estava em conformidade com os Critérios de Elegibilidade, condições de endosso ou com as  declarações e garantias prestadas pelo Endossante no Contrato de Endosso, na respectiva data  de endosso, então o endosso desse Direito Creditório poderá ser objeto de resolução pela Classe.</a:t>
            </a:r>
          </a:p>
          <a:p>
            <a:r>
              <a:t> Nessa hipótese, a Classe terá o direito de resolver o endosso desse Direito Creditório, devolvendo-  o ao Endossante por valor a ser restituído à Classe. Adicionalmente, se f or constatado que um  Direito Creditório endossado à Classe não estava em conf ormidade com as declarações e  garantias prestadas pelo Agente de Retenção/Cobrança no Contrato de Endosso, na respectiva  data de endosso, então a Classe terá o direito de vender esse Direito Creditório ao Agente de  Retenção/Cobrança (opção de venda). A retrovenda ou a venda, conforme o caso, será realizada  de acordo com os termos, condições, formalidades e preços de recompra compulsória e opção de  venda detalhados no Contrato de Endosso.</a:t>
            </a:r>
          </a:p>
          <a:p>
            <a:r>
              <a:t>CNPJ 60010416000112 · Elegibilidade · Regulamento · ID 1051393 · 2025-10-09 · versão 1 · p. 9 · 4.3 · https://fnet.bmfbovespa.com.br/fnet/publico/visualizarDocumento?id=1051393</a:t>
            </a:r>
          </a:p>
          <a:p>
            <a:r>
              <a:t>CNPJ 60010416000112 · Elegibilidade · Excerto da fonte:</a:t>
            </a:r>
          </a:p>
          <a:p>
            <a:r>
              <a:t>4.3 Os Direitos Creditórios deverão contar com Documentos Comprobatórios que evidenciem sua existência,  validade e exequibilidade perante os respectivos Devedores.</a:t>
            </a:r>
          </a:p>
          <a:p>
            <a:r>
              <a:t> Critérios de Elegibilidade</a:t>
            </a:r>
          </a:p>
          <a:p>
            <a:r>
              <a:t>CNPJ 60010416000112 · Elegibilidade · Regulamento · ID 1051393 · 2025-10-09 · versão 1 · p. 9 · 4.4 · https://fnet.bmfbovespa.com.br/fnet/publico/visualizarDocumento?id=1051393</a:t>
            </a:r>
          </a:p>
          <a:p>
            <a:r>
              <a:t>CNPJ 60010416000112 · Elegibilidade · Excerto da fonte:</a:t>
            </a:r>
          </a:p>
          <a:p>
            <a:r>
              <a:t>4.4 A Classe somente poderá adquirir os Direitos Creditórios que atendam, cumulativamente, aos seguintes  Critérios de Elegibilidade, a serem verificados e validados pelo Gestor, de forma individualizada e integral,  previamente ao endosso do Direito Creditório, na respectiva Data de Aquisição:</a:t>
            </a:r>
          </a:p>
          <a:p>
            <a:r>
              <a:t> (i) os Direitos Creditórios deverão decorrer de empréstimo concedido pelo Endossante a um  Devedor, representado por uma CCB, com taxa de juros prefixada e vencimento final anterior  ao vencimento f inal da Classe;</a:t>
            </a:r>
          </a:p>
          <a:p>
            <a:r>
              <a:t>BTG Pactual SAC: 0800 772 28 27 - Ouvidoria: 0800 722 00 48 - btgpactual.com 9</a:t>
            </a:r>
          </a:p>
          <a:p>
            <a:r>
              <a:t>CNPJ 60010416000112 · Elegibilidade · Condição: Documentos atuais selecionados no inventário por categoria/escopo; a data documental isolada não comprova vigência jurídica.</a:t>
            </a:r>
          </a:p>
          <a:p>
            <a:r>
              <a:t>CNPJ 60010416000112 · Elegibilidade · Versão e prevalência: Documentos atuais selecionados no inventário por categoria/escopo; a data documental isolada não comprova vigência jurídica.</a:t>
            </a:r>
          </a:p>
          <a:p>
            <a:r>
              <a:t>CNPJ 60010416000112 · Elegibilidade · Resumo do histórico: {"count": 2, "dates": ["2025-03-20", "2025-10-09"], "document_count": 2, "sources": [{"document_id": "1051393", "title": "Regulamento", "reference_date": "2025-10-09", "version": "1", "page": "9-10", "clause": "4.4(ii)", "url": "https://fnet.bmfbovespa.com.br/fnet/publico/visualizarDocumento?id=1051393", "sha256": "8469d613078ffd5a6c1d217885d8a397a16342c0b937ae4aa24b106505f233ae"}, {"document_id": "993786", "title": "Regulamento", "reference_date": "2025-03-20", "version": "1", "page": 10, "clause": "4.4.5", "url": "https://fnet.bmfbovespa.com.br/fnet/publico/visualizarDocumento?id=993786", "sha256": "fd0fdd369a195510d81f81f505195a0b09e5f43522a990afa7d58c4f872921c8"}], "reference": {"path": "history/60010416000112.json", "criterion_id": "eligibility", "total_count": 2, "preview_count": 2, "full_text_deferred": true, "sha256": "8e2bd813f4c51cf01f6bfaad164bafe69d2bbb192f753eac92da3a01c2e63046"}}</a:t>
            </a:r>
          </a:p>
          <a:p>
            <a:r>
              <a:t>CNPJ 62696791000193 · Elegibilidade · Regulamento · ID 1143317 · 20/03/2026 · versão Regulamento — referência 20/03/2026 · p. 11 · Anexo I, 4.7–4.7.3 · https://fnet.bmfbovespa.com.br/fnet/publico/visualizarDocumento?id=1143317</a:t>
            </a:r>
          </a:p>
          <a:p>
            <a:r>
              <a:t>CNPJ 62696791000193 · Elegibilidade · Excerto da fonte:</a:t>
            </a:r>
          </a:p>
          <a:p>
            <a:r>
              <a:t>4.7 A Classe somente poderá adquirir os Direitos Creditórios do Agronegócio que atendam cumulativamente aos seguintes critérios de elegibilidade, a serem verificados e validados pelo Gestor, por amostragem, previamente à cessão e na respectiva data de aquisição dos Direitos Creditórios do Agronegócio (“Data de Aquisição”), de modo que apenas são passíveis de aquisição pela Classe os Direitos Creditórios do Agronegócio que, na Data de Aquisição (“Critérios de Elegibilidade”): (i) sejam representados em moeda corrente nacional; (ii) a natureza ou característica essencial dos Direitos Creditórios do Agronegócio deverá permitir o seu registro contábil e a sua custódia pelo Custodiante, de acordo com os procedimentos operacionais e contábeis praticados pelo Custodiante, ou seu registro em entidade registradora; (iii) sejam ativos de origem vinculada às cadeias produtivas do agronegócio ; e (iv) sejam representados por direitos e/ou títulos representativos de crédito, com ou sem garantias reais ou pessoais a eles atreladas, incluindo, sem limitação, duplicatas, debêntures, contratos de locação e contratos mercantis de compra e venda de produtos</a:t>
            </a:r>
          </a:p>
          <a:p>
            <a:r>
              <a:t>CNPJ 62696791000193 · Elegibilidade · Versão e prevalência: Leitura específica das cláusulas indicadas; condições e conflitos preservados. Seleção documental atual não comprova vigência jurídica por data isolada.</a:t>
            </a:r>
          </a:p>
          <a:p>
            <a:r>
              <a:t>CNPJ 55563624000109 · Elegibilidade · Regulamento · ID 1192614 · 30/04/2026 · versão Regulamento30/04/2026 · p. 12 · AnexoI4.6–4.8.2 · https://fnet.bmfbovespa.com.br/fnet/publico/visualizarDocumento?id=1192614</a:t>
            </a:r>
          </a:p>
          <a:p>
            <a:r>
              <a:t>CNPJ 55563624000109 · Elegibilidade · Excerto da fonte:</a:t>
            </a:r>
          </a:p>
          <a:p>
            <a:r>
              <a:t>4.6 As Cotas da Classe Investida deverão contar com Documentos Comprobatórios que evidenciem sua existência, validade e exequibilidade. 4.7 As Cotas da Classe Investida serão adquiridas pela Classe por meio: (i) de contratos de aquisição de Cotas da Classe Investida firmados entre a Classe e os respectivos vendedores das Cotas da Classe Investida; (ii) negociação em mercado organizado; e/ou (iii) da subscrição de Cotas da Classe Investida, colocadas de forma privada ou ofertadas publicamente, independentemente do regime de distribuição, observada a Política</a:t>
            </a:r>
          </a:p>
          <a:p>
            <a:r>
              <a:t>CNPJ 55563624000109 · Elegibilidade · Versão e prevalência: Leitura específica das cláusulas indicadas; condições e conflitos preservados. Seleção documental atual não comprova vigência jurídica por data isolada.</a:t>
            </a:r>
          </a:p>
          <a:p>
            <a:r>
              <a:t>CNPJ 55563624000109 · Elegibilidade · Resumo do histórico: {"count": 3, "dates": ["2025-01-31", "2026-01-31", "2026-04-30"], "document_count": 3, "sources": [{"document_id": "1192614", "title": "Regulamento", "reference_date": "2026-04-30", "version": "1", "page": "12", "url": "https://fnet.bmfbovespa.com.br/fnet/publico/visualizarDocumento?id=1192614", "sha256": "f56e63ace0acde41d2f47fb48f1ac7f3f7df5e2d32de092d7c5e075a52516632"}, {"document_id": "1178840", "title": "Demonstrações Financeiras", "reference_date": "2026-01-31", "version": "1", "page": 16, "url": "https://fnet.bmfbovespa.com.br/fnet/publico/visualizarDocumento?id=1178840", "sha256": "c458e98664c5c907ddb5a05a94b120bed4e05295b2bfc420f5ba69af0a229abe"}, {"document_id": "891861", "title": "Demonstrações Financeiras", "reference_date": "2025-01-31", "version": "1", "page": 16, "url": "https://fnet.bmfbovespa.com.br/fnet/publico/visualizarDocumento?id=891861", "sha256": "e9cb9e6ddbe505fe068cfcac33605165a98313489de0d3ce6d4d238263c3f3e7"}], "reference": {"path": "history/55563624000109.json", "criterion_id": "eligibility", "total_count": 3, "preview_count": 3, "full_text_deferred": true, "sha256": "7835d573fb58a3c19adf5b8ecc2aee2bdbb9a88f7a0c0209b5f262b64c7522e3"}}</a:t>
            </a:r>
          </a:p>
          <a:p>
            <a:r>
              <a:t>CNPJ 62552447000120 · Elegibilidade · Regulamento · ID 1200623 · 21/05/2026 · versão Consolidado21/05/2026 aprovado pelo ato1200625 · p. 6 · AnexoI1.2 Critérios(i)(a)–(b) · https://fnet.bmfbovespa.com.br/fnet/publico/visualizarDocumento?id=1200623</a:t>
            </a:r>
          </a:p>
          <a:p>
            <a:r>
              <a:t>CNPJ 62552447000120 · Elegibilidade · Excerto da fonte:</a:t>
            </a:r>
          </a:p>
          <a:p>
            <a:r>
              <a:t>Critérios de Elegibilidade”): (i) com relação a todos os Direitos Creditórios : (a) sejam representados em moeda corrente nacional; Critérios de Elegibilidade (b) a natureza ou característica essencial dos Direitos Creditórios deverá permitir o seu registro contábil e a sua custódia pelo Custodiante, de acordo com os procedimentos operacionais e contábeis praticados</a:t>
            </a:r>
          </a:p>
          <a:p>
            <a:r>
              <a:t>CNPJ 62552447000120 · Elegibilidade · Regulamento · ID 1200623 · 21/05/2026 · versão Consolidado21/05/2026 aprovado pelo ato1200625 · p. 7 · AnexoI1.2 Critérios(i)(c)–(v) · https://fnet.bmfbovespa.com.br/fnet/publico/visualizarDocumento?id=1200623</a:t>
            </a:r>
          </a:p>
          <a:p>
            <a:r>
              <a:t>CNPJ 62552447000120 · Elegibilidade · Excerto da fonte:</a:t>
            </a:r>
          </a:p>
          <a:p>
            <a:r>
              <a:t>(v) com relação aos Direitos Creditórios TVM: (a) representem, a qualquer momento, no máximo 10% (dez por cento) do Patrimônio Líquido. Sem prejuízo dos Critérios de Elegibilidade, a Classe somente poderá adquirir os Direitos Creditórios Ref inanciamento Livre, os Direitos Creditórios Consignado Privado e os Direitos Creditórios FGTS com relação aos quais tenha se verif icado as seguintes Condições de Endosso, na forma prevista na Cláusula 4.7 (“Co</a:t>
            </a:r>
          </a:p>
          <a:p>
            <a:r>
              <a:t>CNPJ 62552447000120 · Elegibilidade · Regulamento · ID 1200623 · 21/05/2026 · versão Consolidado21/05/2026 aprovado pelo ato1200625 · p. 12 · AnexoI4.6 · https://fnet.bmfbovespa.com.br/fnet/publico/visualizarDocumento?id=1200623</a:t>
            </a:r>
          </a:p>
          <a:p>
            <a:r>
              <a:t>CNPJ 62552447000120 · Elegibilidade · Excerto da fonte:</a:t>
            </a:r>
          </a:p>
          <a:p>
            <a:r>
              <a:t>4.6 A Classe somente poderá adquirir os Direitos Creditórios que, na data da sua aquisição (“Data de Aquisição”), atendam a todos os Critérios de Elegibilidade, a serem verif icados e validados pelo Gestor, de f orma individualizada e integral, e não por amostragem. 4.6.1 Para f ins da verificação dos Critérios de Elegibilidade, será considerado o Patrimônio Líquido e o valor dos Direitos Creditórios integrantes da Carteira no Dia Útil imediatamente anterior à Data de Aquisição. 4.6.2 Todos os Documentos Comprobatórios e, com relação a cada Direito Creditório, conforme apli</a:t>
            </a:r>
          </a:p>
          <a:p>
            <a:r>
              <a:t>CNPJ 62552447000120 · Elegibilidade · Versão e prevalência: Leitura específica das cláusulas indicadas; condições e conflitos preservados. Seleção documental atual não comprova vigência jurídica por data isolada.</a:t>
            </a:r>
          </a:p>
          <a:p>
            <a:r>
              <a:t>CNPJ 63953620000165 · Elegibilidade · Anexo ao Regulamento · ID 1222863 · 02/06/2026 · versão AnexoConsignadoPrivado02/06/2026 · p. 6 · 4.10–4.10.3 · https://fnet.bmfbovespa.com.br/fnet/publico/visualizarDocumento?id=1222863</a:t>
            </a:r>
          </a:p>
          <a:p>
            <a:r>
              <a:t>CNPJ 63953620000165 · Elegibilidade · Excerto da fonte:</a:t>
            </a:r>
          </a:p>
          <a:p>
            <a:r>
              <a:t>4.10 A Classe somente poderá adquirir os Direitos Creditórios que atendam cumulativamente aos Critérios de Elegibilidade, a serem verificados e validados pelo Gestor, de forma individualizada e integral, previamente à cessão e na respectiva data de aquisição dos Direitos Creditórios (“Data de Aquisição”), de modo que apenas são passíveis de aquisição pela Classe os Direitos Creditórios que, na Data de Aquisição, atendam a todos os Critérios de Elegibilidade. 4.10.1 Para fins da verificação dos Critérios de Elegibilidade, será considerado o Patrimônio Líquido e o valor dos Direitos Creditórios integrantes</a:t>
            </a:r>
          </a:p>
          <a:p>
            <a:r>
              <a:t>CNPJ 63953620000165 · Elegibilidade · Versão e prevalência: Leitura específica das cláusulas indicadas; condições e conflitos preservados. Seleção documental atual não comprova vigência jurídica por data isolada.</a:t>
            </a:r>
          </a:p>
          <a:p>
            <a:r>
              <a:t>CNPJ 63953620000165 · Elegibilidade · Resumo do histórico: {"count": 8, "dates": ["2026-04-28", "2026-05-08", "2026-05-15"], "document_count": 3, "sources": [{"document_id": "1327859", "title": "Demonstrações Financeiras - Fusão, cisão e incorporação", "reference_date": "2026-05-15", "version": "1", "page": 24, "url": "https://fnet.bmfbovespa.com.br/fnet/publico/visualizarDocumento?id=1327859", "sha256": "dca1c68babb97f887528c3e2e47596a9c30f507b067981a35655b2f2da9c8054"}, {"document_id": "1298691", "title": "Demonstrações Financeiras - Fusão, cisão e incorporação", "reference_date": "2026-05-08", "version": "1", "page": 24, "url": "https://fnet.bmfbovespa.com.br/fnet/publico/visualizarDocumento?id=1298691", "sha256": "58c570d9b8d4d265330d3db3ea81c435b8e44a6dab4002aa37790652a1ee9819"}, {"document_id": "1282180", "title": "Demonstrações Financeiras - Fusão, cisão e incorporação", "reference_date": "2026-04-28", "version": "1", "page": 25, "url": "https://fnet.bmfbovespa.com.br/fnet/publico/visualizarDocumento?id=1282180", "sha256": "afaaa0e6809be4385e5bdb6c911aac582032c5bdbac3d7750234bf9eaf00438a"}], "reference": {"path": "history/63953620000165.json", "criterion_id": "eligibility", "total_count": 8, "preview_count": 3, "full_text_deferred": true, "sha256": "a7b89077f5e21098c2d601c303faabc3ff6b9729f89d8afecdc60fe1404720c1"}}</a:t>
            </a:r>
          </a:p>
          <a:p>
            <a:r>
              <a:t>CNPJ 54871427000194 · Limites por contrato e devedor · Regulamento · ID 670691 · 28/04/2024 · versão Regulamento — referência 28/04/2024 · p. 10 · Anexo I, 4.7, parágrafo anterior ao inciso (xi) e inciso (xi) · https://fnet.bmfbovespa.com.br/fnet/publico/visualizarDocumento?id=670691</a:t>
            </a:r>
          </a:p>
          <a:p>
            <a:r>
              <a:t>CNPJ 54871427000194 · Limites por contrato e devedor · Excerto da fonte:</a:t>
            </a:r>
          </a:p>
          <a:p>
            <a:r>
              <a:t>CCB cuja amortização ordinária dos valores devidos, nos últimos 60 (sessenta) dias, tenha ocorrido de f orma integral e ordinária. Na primeira tranche de aquisição de Direitos Creditórios pelo Endossatário tal prazo poderá ser reduzido para 30 (trinta) dias nos casos de amortização extraordinária (via boleto) desde que o valor de aquisição dos ref eridos Direitos Creditórios não ultrapasse R$ 30.000,00 (trinta mil reais), exclusivamente via consignação em f olha de pagamento ou de benef ício; e (xi) Endosso de todas as CCBs de um mesmo Devedor que não ultrapasse 20% (vinte por cento) do patrimônio líquido da Classe. 4.7.1 Os Documentos Comprobatórios deverão ser disponibilizados pelo respectivo Endossante (a) no prazo de 10 (dez) dias contados da Data de Aquisição dos 50 (cinquenta) casos que sejam solicitados pelo GESTOR, a seu exclusivo critério, (b) a totalidade dos demais Documentos Comprobatórios em f ormato digital em até 90 (noventa) dias a contar da Data de Aquisição, bem como dos Documentos Comprobatórios em formato físico relativos aos Direitos Creditórios que eventualmente estejam inadimplidos em ref erida da</a:t>
            </a:r>
          </a:p>
          <a:p>
            <a:r>
              <a:t>CNPJ 54871427000194 · Limites por contrato e devedor · Condição: R$ 30 mil é teto da exceção de aquisição da primeira tranche; não é teto geral de cada CCB.</a:t>
            </a:r>
          </a:p>
          <a:p>
            <a:r>
              <a:t>CNPJ 54871427000194 · Limites por contrato e devedor · Motivo: Não localizada uma cláusula material para este critério nos textos identificados e processados. A ausência de resultado não comprova inexistência da regra.</a:t>
            </a:r>
          </a:p>
          <a:p>
            <a:r>
              <a:t>CNPJ 54871427000194 · Limites por contrato e devedor · Versão e prevalência: Leitura específica das cláusulas indicadas; condições e conflitos preservados. Seleção documental atual não comprova vigência jurídica por data isolada.</a:t>
            </a:r>
          </a:p>
          <a:p>
            <a:r>
              <a:t>CNPJ 60010416000112 · Limites por contrato e devedor · Regulamento · ID 1051393 · 09/10/2025 · versão Regulamento09/10/2025 · p. 10 · AnexoI4.4(ii), (iv),4.4.1 · https://fnet.bmfbovespa.com.br/fnet/publico/visualizarDocumento?id=1051393</a:t>
            </a:r>
          </a:p>
          <a:p>
            <a:r>
              <a:t>CNPJ 60010416000112 · Limites por contrato e devedor · Excerto da fonte:</a:t>
            </a:r>
          </a:p>
          <a:p>
            <a:r>
              <a:t>R$ 100.000,00 (cem mil reais), observado o disposto no item 4.4.1 abaixo; (iii) o prazo de vencimento das CCB representativas dos Direitos Creditórios deverá ser, no máximo, equivalente ao prazo máximo permitido pelas leis e regulamentações aplicáveis; e (iv) os Direitos Creditórios não poderão ser devidos por Devedores que tenham acima de 64 (sessenta e quatro) anos 11 (onze) meses e 29 (vinte e nove) dias na data de emissão da respectiva CCB. 4.4.1. O limite máximo de exposição da Classe por Devedor estabeleci</a:t>
            </a:r>
          </a:p>
          <a:p>
            <a:r>
              <a:t>CNPJ 60010416000112 · Limites por contrato e devedor · Condição: Prevalência da cláusula específica 4.4.1; limite privado do Contrato não foi presumido.</a:t>
            </a:r>
          </a:p>
          <a:p>
            <a:r>
              <a:t>CNPJ 60010416000112 · Limites por contrato e devedor · Motivo: Não localizada uma cláusula material para este critério nos textos identificados e processados. A ausência de resultado não comprova inexistência da regra.</a:t>
            </a:r>
          </a:p>
          <a:p>
            <a:r>
              <a:t>CNPJ 60010416000112 · Limites por contrato e devedor · Versão e prevalência: Leitura específica das cláusulas indicadas; condições e conflitos preservados. Seleção documental atual não comprova vigência jurídica por data isolada.</a:t>
            </a:r>
          </a:p>
          <a:p>
            <a:r>
              <a:t>CNPJ 62696791000193 · Limites por contrato e devedor · Motivo: Não localizada uma cláusula material para este critério nos textos identificados e processados. A ausência de resultado não comprova inexistência da regra.</a:t>
            </a:r>
          </a:p>
          <a:p>
            <a:r>
              <a:t>CNPJ 55563624000109 · Limites por contrato e devedor · Motivo: Não localizada uma cláusula material para este critério nos textos identificados e processados. A ausência de resultado não comprova inexistência da regra.</a:t>
            </a:r>
          </a:p>
          <a:p>
            <a:r>
              <a:t>CNPJ 62552447000120 · Limites por contrato e devedor · Motivo: Não localizada uma cláusula material para este critério nos textos identificados e processados. A ausência de resultado não comprova inexistência da regra.</a:t>
            </a:r>
          </a:p>
          <a:p>
            <a:r>
              <a:t>CNPJ 63953620000165 · Limites por contrato e devedor · Motivo: Não localizada uma cláusula material para este critério nos textos identificados e processados. A ausência de resultado não comprova inexistência da regra.</a:t>
            </a:r>
          </a:p>
          <a:p>
            <a:r>
              <a:t>CNPJ 54871427000194 · Prazo dos créditos e carência · Motivo: Não localizada uma cláusula material para este critério nos textos identificados e processados. A ausência de resultado não comprova inexistência da regra.</a:t>
            </a:r>
          </a:p>
          <a:p>
            <a:r>
              <a:t>CNPJ 60010416000112 · Prazo dos créditos e carência · Regulamento · ID 1051393 · 2025-10-09 · versão 1 · p. 11 · 4.5 · https://fnet.bmfbovespa.com.br/fnet/publico/visualizarDocumento?id=1051393</a:t>
            </a:r>
          </a:p>
          <a:p>
            <a:r>
              <a:t>CNPJ 60010416000112 · Prazo dos créditos e carência · Excerto da fonte:</a:t>
            </a:r>
          </a:p>
          <a:p>
            <a:r>
              <a:t>4.5 A parcela do Patrimônio Líquido que não estiver alocada em Direitos Creditórios será necessariamente  alocada no seguintes ativos (“Ativos Financeiros de Liquidez”).</a:t>
            </a:r>
          </a:p>
          <a:p>
            <a:r>
              <a:t> (i) moeda corrente nacional;</a:t>
            </a:r>
          </a:p>
          <a:p>
            <a:r>
              <a:t> (ii) títulos do Tesouro SELIC, anteriormente denominado letra f inanceira do Tesouro Nacional  (LFT);</a:t>
            </a:r>
          </a:p>
          <a:p>
            <a:r>
              <a:t> (iii) certif icados de depósito bancário (CDB) ou recibos de depósito bancário (RDB) com prazo  máximo de vencimento equivalente ao prazo remanescente do Período de Investimento, com  liquidez diária, emitidos por Instituições Autorizadas e/ou pelo Endossante, sendo certo que  os certif icados de depósito bancário (CDB) e recibos de depósito bancário (RDB) emitidos  pelo Endossante e integrantes da carteira da Classe não poderão exceder o valor de R$</a:t>
            </a:r>
          </a:p>
          <a:p>
            <a:r>
              <a:t> 25.000.000,00 (vinte e cinco milhões de reais);</a:t>
            </a:r>
          </a:p>
          <a:p>
            <a:r>
              <a:t> (iv) operações compromissadas, desde que lastreadas nos títulos mencionados nas alíneas (i) a</a:t>
            </a:r>
          </a:p>
          <a:p>
            <a:r>
              <a:t> (iii) acima, emitidas por Instituições Autorizadas, com liquidez diária e vencimento inferior a  365 (trezentos e sessenta e cinco) dias; e</a:t>
            </a:r>
          </a:p>
          <a:p>
            <a:r>
              <a:t> (v) cotas de classes de f undos de investimentos de renda f ixa ou indexados à Taxa DI com  liquidez diária, cujas políticas de investimento admitam a alocação de recursos  exclusivamente nos ativos das alíneas (ii) e (iii) acima, incluindo f undos geridos e/ou  administrados pelo Administrador, pelo Custodiante e/ou pelo Gestor.</a:t>
            </a:r>
          </a:p>
          <a:p>
            <a:r>
              <a:t>Limites de Concentração e Vedações para a Composição da Carteira</a:t>
            </a:r>
          </a:p>
          <a:p>
            <a:r>
              <a:t>CNPJ 60010416000112 · Prazo dos créditos e carência · Regulamento · ID 1051393 · 2025-10-09 · versão 1 · p. 10 · https://fnet.bmfbovespa.com.br/fnet/publico/visualizarDocumento?id=1051393</a:t>
            </a:r>
          </a:p>
          <a:p>
            <a:r>
              <a:t>CNPJ 60010416000112 · Prazo dos créditos e carência · Excerto da fonte:</a:t>
            </a:r>
          </a:p>
          <a:p>
            <a:r>
              <a:t>Anexo I ao Regulamento CLASSE ÚNICA DO MT I CONSIGNADO PRIVADO I FUNDO DE INVESTIMENTO EM DIREITOS CREDITÓRIOS RESPONSABILIDADE LIMITADA</a:t>
            </a:r>
          </a:p>
          <a:p>
            <a:r>
              <a:t> (ii) o saldo dos Direitos Creditórios devidos pelo mesmo Devedor à Classe, considerando, pro  forma, o endosso pretendido, não deverá exceder R$ 100.000,00 (cem mil reais), observado  o disposto no item 4.4.1 abaixo;</a:t>
            </a:r>
          </a:p>
          <a:p>
            <a:r>
              <a:t> (iii) o prazo de vencimento das CCB representativas dos Direitos Creditórios deverá ser, no  máximo, equivalente ao prazo máximo permitido pelas leis e regulamentações aplicáveis; e</a:t>
            </a:r>
          </a:p>
          <a:p>
            <a:r>
              <a:t> (iv) os Direitos Creditórios não poderão ser devidos por Devedores que tenham acima de 64  (sessenta e quatro) anos 11 (onze) meses e 29 (vinte e nove) dias na data de emissão da  respectiva CCB.</a:t>
            </a:r>
          </a:p>
          <a:p>
            <a:r>
              <a:t>CNPJ 60010416000112 · Prazo dos créditos e carência · Condição: Documentos atuais selecionados no inventário por categoria/escopo; a data documental isolada não comprova vigência jurídica.</a:t>
            </a:r>
          </a:p>
          <a:p>
            <a:r>
              <a:t>CNPJ 60010416000112 · Prazo dos créditos e carência · Versão e prevalência: Documentos atuais selecionados no inventário por categoria/escopo; a data documental isolada não comprova vigência jurídica.</a:t>
            </a:r>
          </a:p>
          <a:p>
            <a:r>
              <a:t>CNPJ 60010416000112 · Prazo dos créditos e carência · Resumo do histórico: {"count": 1, "dates": ["2025-03-20"], "document_count": 1, "sources": [{"document_id": "993786", "title": "Regulamento", "reference_date": "2025-03-20", "version": "1", "page": 11, "clause": "4.5", "url": "https://fnet.bmfbovespa.com.br/fnet/publico/visualizarDocumento?id=993786", "sha256": "fd0fdd369a195510d81f81f505195a0b09e5f43522a990afa7d58c4f872921c8"}], "reference": {"path": "history/60010416000112.json", "criterion_id": "term", "total_count": 1, "preview_count": 1, "full_text_deferred": true, "sha256": "8e2bd813f4c51cf01f6bfaad164bafe69d2bbb192f753eac92da3a01c2e63046"}}</a:t>
            </a:r>
          </a:p>
          <a:p>
            <a:r>
              <a:t>CNPJ 62696791000193 · Prazo dos créditos e carência · Motivo: Não localizada uma cláusula material para este critério nos textos identificados e processados. A ausência de resultado não comprova inexistência da regra.</a:t>
            </a:r>
          </a:p>
          <a:p>
            <a:r>
              <a:t>CNPJ 55563624000109 · Prazo dos créditos e carência · Motivo: Não localizada uma cláusula material para este critério nos textos identificados e processados. A ausência de resultado não comprova inexistência da regra.</a:t>
            </a:r>
          </a:p>
          <a:p>
            <a:r>
              <a:t>CNPJ 62552447000120 · Prazo dos créditos e carência · Motivo: Não localizada uma cláusula material para este critério nos textos identificados e processados. A ausência de resultado não comprova inexistência da regra.</a:t>
            </a:r>
          </a:p>
          <a:p>
            <a:r>
              <a:t>CNPJ 63953620000165 · Prazo dos créditos e carência · Anexo ao Regulamento · ID 1222863 · 2026-06-02 · versão 1 · p. 2 · https://fnet.bmfbovespa.com.br/fnet/publico/visualizarDocumento?id=1222863</a:t>
            </a:r>
          </a:p>
          <a:p>
            <a:r>
              <a:t>CNPJ 63953620000165 · Prazo dos créditos e carência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Prazo dos créditos e carência · Condição: Documentos atuais selecionados no inventário por categoria/escopo; a data documental isolada não comprova vigência jurídica.</a:t>
            </a:r>
          </a:p>
          <a:p>
            <a:r>
              <a:t>CNPJ 63953620000165 · Prazo dos créditos e carência · Versão e prevalência: Documentos atuais selecionados no inventário por categoria/escopo; a data documental isolada não comprova vigência jurídica.</a:t>
            </a:r>
          </a:p>
          <a:p>
            <a:r>
              <a:t>CNPJ 63953620000165 · Prazo dos créditos e carência · Resumo do histórico: {"count": 8, "dates": ["2026-04-28", "2026-05-08", "2026-05-15"], "document_count": 3, "sources": [{"document_id": "1327859", "title": "Demonstrações Financeiras - Fusão, cisão e incorporação", "reference_date": "2026-05-15", "version": "1", "page": 16, "url": "https://fnet.bmfbovespa.com.br/fnet/publico/visualizarDocumento?id=1327859", "sha256": "dca1c68babb97f887528c3e2e47596a9c30f507b067981a35655b2f2da9c8054"}, {"document_id": "1298691", "title": "Demonstrações Financeiras - Fusão, cisão e incorporação", "reference_date": "2026-05-08", "version": "1", "page": 16, "url": "https://fnet.bmfbovespa.com.br/fnet/publico/visualizarDocumento?id=1298691", "sha256": "58c570d9b8d4d265330d3db3ea81c435b8e44a6dab4002aa37790652a1ee9819"}, {"document_id": "1282180", "title": "Demonstrações Financeiras - Fusão, cisão e incorporação", "reference_date": "2026-04-28", "version": "1", "page": 16, "url": "https://fnet.bmfbovespa.com.br/fnet/publico/visualizarDocumento?id=1282180", "sha256": "afaaa0e6809be4385e5bdb6c911aac582032c5bdbac3d7750234bf9eaf00438a"}], "reference": {"path": "history/63953620000165.json", "criterion_id": "term", "total_count": 8, "preview_count": 3, "full_text_deferred": true, "sha256": "a7b89077f5e21098c2d601c303faabc3ff6b9729f89d8afecdc60fe1404720c1"}}</a:t>
            </a:r>
          </a:p>
          <a:p>
            <a:r>
              <a:t>CNPJ 54871427000194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null, "comparison_required": true, "context_formula": "", "context_value": null, "context_unit": ""}</a:t>
            </a:r>
          </a:p>
          <a:p>
            <a:r>
              <a:t>CNPJ 54871427000194 · Concentração por devedor, cedente e grupo · Regulamento · ID 670691 · 28/04/2024 · versão Regulamento — referência 28/04/2024 · p. 11 · Anexo I, 4.10 e 4.11.2–4.11.4 · https://fnet.bmfbovespa.com.br/fnet/publico/visualizarDocumento?id=670691</a:t>
            </a:r>
          </a:p>
          <a:p>
            <a:r>
              <a:t>CNPJ 54871427000194 · Concentração por devedor, cedente e grupo · Excerto da fonte:</a:t>
            </a:r>
          </a:p>
          <a:p>
            <a:r>
              <a:t>4.10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4.11 A Classe poderá, direta ou indiretamente e, nos termos da legislação aplicável: (i) adquirir Direitos Creditórios que sejam cedidos e/ou originados pelo ADMINISTRADOR e/ou pelo GESTOR, ou partes a eles relacionadas, tal como definidas pelas regras contábeis que tratam desse assunto; e (ii) ceder Direitos Creditórios a qualquer das pessoas, fundos de investimento ou entidades referidas no item (i) acima, desde que (i) o ADMINISTRADOR, GESTOR, a entidade registradora e o CUSTODIANTE de Direitos Creditórios não sejam partes relacionadas entre si; e (ii) a entidade registradora e o</a:t>
            </a:r>
          </a:p>
          <a:p>
            <a:r>
              <a:t>CNPJ 54871427000194 · Concentração por devedor, cedente e grupo · Regulamento · ID 670691 · 28/04/2024 · versão Regulamento — referência 28/04/2024 · p. 10 · Anexo I, 4.7(xi) · https://fnet.bmfbovespa.com.br/fnet/publico/visualizarDocumento?id=670691</a:t>
            </a:r>
          </a:p>
          <a:p>
            <a:r>
              <a:t>CNPJ 54871427000194 · Concentração por devedor, cedente e grupo · Excerto da fonte:</a:t>
            </a:r>
          </a:p>
          <a:p>
            <a:r>
              <a:t>(xi) Endosso de todas as CCBs de um mesmo Devedor que não ultrapasse 20% (vinte por cento) do patrimônio líquido da Classe. 4.7.1 Os Documentos Comprobatórios deverão ser disponibilizados pelo respectivo Endossante (a) no prazo de 10 (dez) dias contados da Data de Aquisição dos 50 (cinquenta) casos que sejam solicitados pelo GESTOR, a seu exclusivo critério, (b) a totalidade dos demais Documentos Comprobatórios em f ormato digital em até 90 (noventa) dias a contar da Data de Aquisição, bem como dos Documentos Comprobatórios em formato físico relativos aos Direitos Creditórios que eventualmente estejam inadimplidos em ref erida data, e (c) a totalidade dos demais Documentos Comprobatórios em f ormato f ísico em até 180 (cento e oitenta) dias a contar da Data de Aquisição, sujeito à resolução do respectivo endosso, de acordo com os termos do Contrato de Endosso. 4.7.2 Caso um Direito Creditório cedido à Classe deixe de atender quaisquer Critérios de Elegibilidade e/ou quaisquer declarações e garantias ref erentes a esse Direito Creditório, conf orme previsto no respectivo Contrato de Endosso, após seu endosso à</a:t>
            </a:r>
          </a:p>
          <a:p>
            <a:r>
              <a:t>CNPJ 54871427000194 · Concentração por devedor, cedente e grupo · Condição: Na aquisição, o critério específico de 20% restringe o permissivo geral de 100%. Uma concentração observada no IME exige base e devedor identificados.</a:t>
            </a:r>
          </a:p>
          <a:p>
            <a:r>
              <a:t>CNPJ 54871427000194 · Concentração por devedor, cedente e grupo · Versão e prevalência: Leitura específica das cláusulas indicadas; condições e conflitos preservados. Seleção documental atual não comprova vigência jurídica por data isolada.</a:t>
            </a:r>
          </a:p>
          <a:p>
            <a:r>
              <a:t>CNPJ 54871427000194 · Concentração por devedor, cedente e grupo · Resumo do histórico: {"count": 2, "dates": ["2024-04-19", "2024-04-28"], "document_count": 2, "sources": [{"document_id": "670691", "title": "Regulamento", "reference_date": "2024-04-28", "version": "1", "page": "10-11", "url": "https://fnet.bmfbovespa.com.br/fnet/publico/visualizarDocumento?id=670691", "sha256": "bf16dd7f1a62d5cdbf2e2d54fef81783783f7310fbc99c3a8f00459bdf9d037b"}, {"document_id": "670689", "title": "Regulamento", "reference_date": "2024-04-19", "version": "1", "page": 11, "clause": "4.10", "url": "https://fnet.bmfbovespa.com.br/fnet/publico/visualizarDocumento?id=670689", "sha256": "891bc9bc5d87bbc02ec139077a84d2702eb81ea02035fb71d24f5b8366b94a0b"}], "reference": {"path": "history/54871427000194.json", "criterion_id": "concentration", "total_count": 2, "preview_count": 2, "full_text_deferred": true, "sha256": "35d7cd99be50c7287c9fb675cf4f2e736002315295a225a9efa79c8d9186d874"}}</a:t>
            </a:r>
          </a:p>
          <a:p>
            <a:r>
              <a:t>CNPJ 60010416000112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null, "comparison_required": true, "context_formula": "", "context_value": null, "context_unit": ""}</a:t>
            </a:r>
          </a:p>
          <a:p>
            <a:r>
              <a:t>CNPJ 60010416000112 · Concentração por devedor, cedente e grupo · Regulamento · ID 1051393 · 09/10/2025 · versão Regulamento09/10/2025 · p. 11 · AnexoI4.4.9(iv),4.5(iii) · https://fnet.bmfbovespa.com.br/fnet/publico/visualizarDocumento?id=1051393</a:t>
            </a:r>
          </a:p>
          <a:p>
            <a:r>
              <a:t>CNPJ 60010416000112 · Concentração por devedor, cedente e grupo · Excerto da fonte:</a:t>
            </a:r>
          </a:p>
          <a:p>
            <a:r>
              <a:t>3,00% (três por cento) do Patrimônio Líquido da Classe. Ativos Financeiros de Liquidez 4.5 A parcela do Patrimônio Líquido que não estiver alocada em Direitos Creditórios será necessariamente alocada no seguintes ativos (“Ativos Financeiros de Liquidez”). (i) moeda corrente nacional; (ii) títulos do Tesouro SELIC, anteriormente denominado letra f inanceira do Tesouro Nacional (LFT); (iii) certif icados de depósito bancário (CDB) ou recibos de depósito bancário (RDB) com prazo máximo de vencimento equivalente ao prazo remanescente</a:t>
            </a:r>
          </a:p>
          <a:p>
            <a:r>
              <a:t>CNPJ 60010416000112 · Concentração por devedor, cedente e grupo · Regulamento · ID 1051393 · 09/10/2025 · versão Regulamento09/10/2025 · p. 12 · AnexoI4.7–4.8 · https://fnet.bmfbovespa.com.br/fnet/publico/visualizarDocumento?id=1051393</a:t>
            </a:r>
          </a:p>
          <a:p>
            <a:r>
              <a:t>CNPJ 60010416000112 · Concentração por devedor, cedente e grupo · Excerto da fonte:</a:t>
            </a:r>
          </a:p>
          <a:p>
            <a:r>
              <a:t>4.7 A Classe deverá observar, ainda, os limites de concentração definidos na Política de Crédito, que integra o Contrato de Endosso como Anexo 3.2(v). 4.8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a:t>
            </a:r>
          </a:p>
          <a:p>
            <a:r>
              <a:t>CNPJ 60010416000112 · Concentração por devedor, cedente e grupo · Versão e prevalência: Leitura específica das cláusulas indicadas; condições e conflitos preservados. Seleção documental atual não comprova vigência jurídica por data isolada.</a:t>
            </a:r>
          </a:p>
          <a:p>
            <a:r>
              <a:t>CNPJ 60010416000112 · Concentração por devedor, cedente e grupo · Resumo do histórico: {"count": 2, "dates": ["2025-03-20", "2025-10-09"], "document_count": 2, "sources": [{"document_id": "1051393", "title": "Regulamento", "reference_date": "2025-10-09", "version": "1", "page": "11-12", "url": "https://fnet.bmfbovespa.com.br/fnet/publico/visualizarDocumento?id=1051393", "sha256": "8469d613078ffd5a6c1d217885d8a397a16342c0b937ae4aa24b106505f233ae"}, {"document_id": "993786", "title": "Regulamento", "reference_date": "2025-03-20", "version": "1", "page": 12, "clause": "4.8", "url": "https://fnet.bmfbovespa.com.br/fnet/publico/visualizarDocumento?id=993786", "sha256": "fd0fdd369a195510d81f81f505195a0b09e5f43522a990afa7d58c4f872921c8"}], "reference": {"path": "history/60010416000112.json", "criterion_id": "concentration", "total_count": 2, "preview_count": 2, "full_text_deferred": true, "sha256": "8e2bd813f4c51cf01f6bfaad164bafe69d2bbb192f753eac92da3a01c2e63046"}}</a:t>
            </a:r>
          </a:p>
          <a:p>
            <a:r>
              <a:t>CNPJ 62696791000193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null, "comparison_required": true, "context_formula": "", "context_value": null, "context_unit": ""}</a:t>
            </a:r>
          </a:p>
          <a:p>
            <a:r>
              <a:t>CNPJ 62696791000193 · Concentração por devedor, cedente e grupo · Regulamento · ID 1143317 · 20/03/2026 · versão Regulamento — referência 20/03/2026 · p. 11 · Anexo I, 4.8–4.9 · https://fnet.bmfbovespa.com.br/fnet/publico/visualizarDocumento?id=1143317</a:t>
            </a:r>
          </a:p>
          <a:p>
            <a:r>
              <a:t>CNPJ 62696791000193 · Concentração por devedor, cedente e grupo · Excerto da fonte:</a:t>
            </a:r>
          </a:p>
          <a:p>
            <a:r>
              <a:t>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relacionadas ao Gestor. 4.8.1 As aplicações em Direitos Creditórios do Agronegócio decorrentes de receitas públicas originárias ou derivadas da União, dos Estados, do Distrito Federal e dos Municípios ou de suas autarquias e f undações, assim como em Direitos Creditórios do Agronegócio cedidos ou originados por empresas controladas pelo poder público, não estão submetidas ao limite de concentração por emissor previsto no caput. 4.9 Nos termos do Art. 45 do Anexo</a:t>
            </a:r>
          </a:p>
          <a:p>
            <a:r>
              <a:t>CNPJ 62696791000193 · Concentração por devedor, cedente e grupo · Regulamento · ID 1143317 · 20/03/2026 · versão Regulamento — referência 20/03/2026 · p. 12 · Anexo I, 4.10(i)–(ix) · https://fnet.bmfbovespa.com.br/fnet/publico/visualizarDocumento?id=1143317</a:t>
            </a:r>
          </a:p>
          <a:p>
            <a:r>
              <a:t>CNPJ 62696791000193 · Concentração por devedor, cedente e grupo · Excerto da fonte:</a:t>
            </a:r>
          </a:p>
          <a:p>
            <a:r>
              <a:t>4.10 Sem prejuízo de limites mais restritivos definidos neste Anexo, o Gestor deverá observar, ainda, os seguintes limites de concentração: (i) A Classe poderá, direta ou indiretamente, ter até 100% (cem por cento) do Patrimônio Líquido representado por Direitos Creditórios do Agronegócio originados ou cedidos pelo Administrador, Gestor e/ou suas partes relacionadas, tal como definidas pelas regras contábeis que tratam desse assunto, desde que (a) o Gest or, a entidade registradora e o Custodiante dos Direitos Creditórios do Agronegócio não sejam partes relacionadas entre si; e (b) a entidade registradora e o Custodiante dos Direitos Creditórios do Agronegócio não sejam partes relacionadas ao originador ou Cedente. (ii) No máximo, 100% (cem por cento) do Patrimônio Líquido investido em Ativos Financeiros de Liquidez de emissão ou que envolvam retenção de risco por parte do Administrador, Gestor, e/ou suas partes relacionadas, observado ainda o disposto no item Error! Reference source not found.;</a:t>
            </a:r>
          </a:p>
          <a:p>
            <a:r>
              <a:t>CNPJ 62696791000193 · Concentração por devedor, cedente e grupo · Condição: Liquidez/derivativos relacionados também têm permissivos de 100%, mas remissões internas aparecem como “Error! Reference source not found.”.</a:t>
            </a:r>
          </a:p>
          <a:p>
            <a:r>
              <a:t>CNPJ 62696791000193 · Concentração por devedor, cedente e grupo · Versão e prevalência: Leitura específica das cláusulas indicadas; condições e conflitos preservados. Seleção documental atual não comprova vigência jurídica por data isolada.</a:t>
            </a:r>
          </a:p>
          <a:p>
            <a:r>
              <a:t>CNPJ 55563624000109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null, "comparison_required": true, "context_formula": "", "context_value": null, "context_unit": ""}</a:t>
            </a:r>
          </a:p>
          <a:p>
            <a:r>
              <a:t>CNPJ 55563624000109 · Concentração por devedor, cedente e grupo · Regulamento · ID 1192614 · 30/04/2026 · versão Regulamento30/04/2026 · p. 13 · AnexoI4.11–4.12.1 · https://fnet.bmfbovespa.com.br/fnet/publico/visualizarDocumento?id=1192614</a:t>
            </a:r>
          </a:p>
          <a:p>
            <a:r>
              <a:t>CNPJ 55563624000109 · Concentração por devedor, cedente e grupo · Excerto da fonte:</a:t>
            </a:r>
          </a:p>
          <a:p>
            <a:r>
              <a:t>4.11 Nos termos dos artigos 45, parágrafo 7º, e 47 parágrafo único do Anexo Normativo II à Resolução CVM 175, uma vez que as Cotas são destinadas exclusivamente a Investidores Profissionais, a Classe poderá ter até 100% (cem por cento) de seu Patrimônio Líquido alocado em Cotas da Classe Investida, as quais são emitidas pela Classe Investida. 4.12 A Classe poderá, direta ou indiretamente (i) adquirir Cotas da Classe Investida que sejam administrados pelo ADMINISTRADOR, e geridos ou cogeridos pelo GESTOR, ou partes a eles relacionadas, tal como definidas pelas</a:t>
            </a:r>
          </a:p>
          <a:p>
            <a:r>
              <a:t>CNPJ 55563624000109 · Concentração por devedor, cedente e grupo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Concentração por devedor, cedente e grupo · Versão e prevalência: Leitura específica das cláusulas indicadas; condições e conflitos preservados. Seleção documental atual não comprova vigência jurídica por data isolada.</a:t>
            </a:r>
          </a:p>
          <a:p>
            <a:r>
              <a:t>CNPJ 55563624000109 · Concentração por devedor, cedente e grupo · Resumo do histórico: {"count": 1, "dates": ["2026-04-30"], "document_count": 1, "sources": [{"document_id": "1192614", "title": "Regulamento", "reference_date": "2026-04-30", "version": "1", "page": "11-12", "url": "https://fnet.bmfbovespa.com.br/fnet/publico/visualizarDocumento?id=1192614", "sha256": "f56e63ace0acde41d2f47fb48f1ac7f3f7df5e2d32de092d7c5e075a52516632"}], "reference": {"path": "history/55563624000109.json", "criterion_id": "concentration", "total_count": 1, "preview_count": 1, "full_text_deferred": true, "sha256": "7835d573fb58a3c19adf5b8ecc2aee2bdbb9a88f7a0c0209b5f262b64c7522e3"}}</a:t>
            </a:r>
          </a:p>
          <a:p>
            <a:r>
              <a:t>CNPJ 62552447000120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null, "comparison_required": true, "context_formula": "", "context_value": null, "context_unit": ""}</a:t>
            </a:r>
          </a:p>
          <a:p>
            <a:r>
              <a:t>CNPJ 62552447000120 · Concentração por devedor, cedente e grupo · Regulamento · ID 1200623 · 21/05/2026 · versão Consolidado21/05/2026 aprovado pelo ato1200625 · p. 14 · AnexoI4.10–4.13 · https://fnet.bmfbovespa.com.br/fnet/publico/visualizarDocumento?id=1200623</a:t>
            </a:r>
          </a:p>
          <a:p>
            <a:r>
              <a:t>CNPJ 62552447000120 · Concentração por devedor, cedente e grupo · Excerto da fonte:</a:t>
            </a:r>
          </a:p>
          <a:p>
            <a:r>
              <a:t>4.10 Nos termos do art. 45, §7º, inciso II, do Anexo Normativo II, a Classe poderá ter até 100% (cem por cento) de seu Patrimônio Líquido alocado em Direitos Creditórios, derivativos, observado o disposto abaixo,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4.10.1 O uso de derivativos está restr</a:t>
            </a:r>
          </a:p>
          <a:p>
            <a:r>
              <a:t>CNPJ 62552447000120 · Concentração por devedor, cedente e grupo · Condição: Regulamento permite concentração ampla; TVM têm limite específico 10% PL na elegibilidade.</a:t>
            </a:r>
          </a:p>
          <a:p>
            <a:r>
              <a:t>CNPJ 62552447000120 · Concentração por devedor, cedente e grupo · Versão e prevalência: Leitura específica das cláusulas indicadas; condições e conflitos preservados. Seleção documental atual não comprova vigência jurídica por data isolada.</a:t>
            </a:r>
          </a:p>
          <a:p>
            <a:r>
              <a:t>CNPJ 63953620000165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null, "comparison_required": true, "context_formula": "", "context_value": null, "context_unit": ""}</a:t>
            </a:r>
          </a:p>
          <a:p>
            <a:r>
              <a:t>CNPJ 63953620000165 · Concentração por devedor, cedente e grupo · Anexo ao Regulamento · ID 1222863 · 02/06/2026 · versão AnexoConsignadoPrivado02/06/2026 · p. 6 · 4.14 · https://fnet.bmfbovespa.com.br/fnet/publico/visualizarDocumento?id=1222863</a:t>
            </a:r>
          </a:p>
          <a:p>
            <a:r>
              <a:t>CNPJ 63953620000165 · Concentração por devedor, cedente e grupo · Excerto da fonte:</a:t>
            </a:r>
          </a:p>
          <a:p>
            <a:r>
              <a:t>4.14 Nos termos do Art. 45, §7º, inciso II, do Anexo Normativo II da Resolução CVM 175, a Classe poderá ter até 100% (cem por cento) de seu Patrimônio Líquido alocado em Direitos Creditórios, derivativos, observado o disposto neste Anexo I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4.15 Sem prejuízo de limites</a:t>
            </a:r>
          </a:p>
          <a:p>
            <a:r>
              <a:t>CNPJ 63953620000165 · Concentração por devedor, cedente e grupo · Anexo ao Regulamento · ID 1222863 · 02/06/2026 · versão AnexoConsignadoPrivado02/06/2026 · p. 7 · 4.15(i)–(v) · https://fnet.bmfbovespa.com.br/fnet/publico/visualizarDocumento?id=1222863</a:t>
            </a:r>
          </a:p>
          <a:p>
            <a:r>
              <a:t>CNPJ 63953620000165 · Concentração por devedor, cedente e grupo · Excerto da fonte:</a:t>
            </a:r>
          </a:p>
          <a:p>
            <a:r>
              <a:t>(i)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CNPJ 63953620000165 · Concentração por devedor, cedente e grupo · Versão e prevalência: Leitura específica das cláusulas indicadas; condições e conflitos preservados. Seleção documental atual não comprova vigência jurídica por data isolada.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Recebíveis e aquisição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Natureza dos recebíveis · Regulamento · ID 670691 · 28/04/2024 · versão Regulamento — referência 28/04/2024 · p. 9 · Anexo I, 4.2–4.2.1 · https://fnet.bmfbovespa.com.br/fnet/publico/visualizarDocumento?id=670691</a:t>
            </a:r>
          </a:p>
          <a:p>
            <a:r>
              <a:t>CNPJ 54871427000194 · Natureza dos recebíveis · Excerto da fonte:</a:t>
            </a:r>
          </a:p>
          <a:p>
            <a:r>
              <a:t>4.2 Os Direitos Creditórios representados por Certif icados de Cédulas de Crédito Bancário (“CCCBs”), representativos de um agrupamento de determinadas CCBs, originadas no âmbito de operações de empréstimos pessoais concedidos por um Endossante a um Devedor, devidamente f ormalizadas por via eletrônica de acordo com a legislação aplicável, segundo os critérios de composição e diversificação estabelecidos pela regulamentação aplicável e neste Regulamento. 4.2.1 Cada Endossante deve ter celebrado convênio com órgão consignante, previamente à cessão de Direitos Creditórios à Classe, que contemplam a obrigação da manutenção da consignação/averbação junto ao novo órgão, de modo a possibilitar o pagamento dos Direitos Creditórios por meio de consignação em f olha de pagamento ou de benef ício . 4.3 Os pagamentos relativos aos Direitos Creditórios de titularidade da Classe serão realizados mediante consignação em folha, débito em conta de titularidade dos Devedores e pagamentos de sinistros, para pagamento dos valores correspondentes às parcelas das CCBs representadas pelos CCCBs de titularidade da Classe, os quais serão conciliados e repassados pelo Endossan</a:t>
            </a:r>
          </a:p>
          <a:p>
            <a:r>
              <a:t>CNPJ 54871427000194 · Natureza dos recebíveis · Versão e prevalência: Leitura específica das cláusulas indicadas; condições e conflitos preservados. Seleção documental atual não comprova vigência jurídica por data isolada.</a:t>
            </a:r>
          </a:p>
          <a:p>
            <a:r>
              <a:t>CNPJ 54871427000194 · Natureza dos recebíveis · Resumo do histórico: {"count": 3, "dates": ["2024-04-19", "2024-04-28"], "document_count": 2, "sources": [{"document_id": "670691", "title": "Regulamento", "reference_date": "2024-04-28", "version": "1", "page": "9, 38-39", "url": "https://fnet.bmfbovespa.com.br/fnet/publico/visualizarDocumento?id=670691", "sha256": "bf16dd7f1a62d5cdbf2e2d54fef81783783f7310fbc99c3a8f00459bdf9d037b"}, {"document_id": "670691", "title": "Regulamento", "reference_date": "2024-04-28", "version": "1", "page": 34, "clause": "15.1.5", "url": "https://fnet.bmfbovespa.com.br/fnet/publico/visualizarDocumento?id=670691", "sha256": "bf16dd7f1a62d5cdbf2e2d54fef81783783f7310fbc99c3a8f00459bdf9d037b"}, {"document_id": "670689", "title": "Regulamento", "reference_date": "2024-04-19", "version": "1", "page": 35, "clause": "15.1.5", "url": "https://fnet.bmfbovespa.com.br/fnet/publico/visualizarDocumento?id=670689", "sha256": "891bc9bc5d87bbc02ec139077a84d2702eb81ea02035fb71d24f5b8366b94a0b"}], "reference": {"path": "history/54871427000194.json", "criterion_id": "receivables", "total_count": 3, "preview_count": 3, "full_text_deferred": true, "sha256": "35d7cd99be50c7287c9fb675cf4f2e736002315295a225a9efa79c8d9186d874"}}</a:t>
            </a:r>
          </a:p>
          <a:p>
            <a:r>
              <a:t>CNPJ 60010416000112 · Natureza dos recebíveis · Regulamento · ID 1051393 · 09/10/2025 · versão Regulamento09/10/2025 · p. 9 · AnexoI4.2 · https://fnet.bmfbovespa.com.br/fnet/publico/visualizarDocumento?id=1051393</a:t>
            </a:r>
          </a:p>
          <a:p>
            <a:r>
              <a:t>CNPJ 60010416000112 · Natureza dos recebíveis · Excerto da fonte:</a:t>
            </a:r>
          </a:p>
          <a:p>
            <a:r>
              <a:t>4.2 Os Direitos Creditórios são originados no âmbito de operações de empréstimo consignado concedido pelo Endossante a um Devedor por meio da Plataforma MT e representado por CCB, devidamente formalizada por via eletrônica, de acordo com a legislação aplicável, observada a Política de Crédito constante do Contrato de Endosso. O Endossante celebrou o Convênio Consignado Privado previamente ao endosso de Direitos Creditórios Elegíveis à Classe, para que, após a averbação dos Direitos Creditórios na Dataprev, o pagamento regular dos Direitos Creditórios decorrentes das CCB seja f eito por Consignação</a:t>
            </a:r>
          </a:p>
          <a:p>
            <a:r>
              <a:t>CNPJ 60010416000112 · Natureza dos recebíveis · Versão e prevalência: Leitura específica das cláusulas indicadas; condições e conflitos preservados. Seleção documental atual não comprova vigência jurídica por data isolada.</a:t>
            </a:r>
          </a:p>
          <a:p>
            <a:r>
              <a:t>CNPJ 60010416000112 · Natureza dos recebíveis · Resumo do histórico: {"count": 2, "dates": ["2025-03-20", "2025-10-09"], "document_count": 2, "sources": [{"document_id": "1051393", "title": "Regulamento", "reference_date": "2025-10-09", "version": "1", "page": "9-11", "url": "https://fnet.bmfbovespa.com.br/fnet/publico/visualizarDocumento?id=1051393", "sha256": "8469d613078ffd5a6c1d217885d8a397a16342c0b937ae4aa24b106505f233ae"}, {"document_id": "993786", "title": "Regulamento", "reference_date": "2025-03-20", "version": "1", "page": 30, "clause": "12.5.1", "url": "https://fnet.bmfbovespa.com.br/fnet/publico/visualizarDocumento?id=993786", "sha256": "fd0fdd369a195510d81f81f505195a0b09e5f43522a990afa7d58c4f872921c8"}], "reference": {"path": "history/60010416000112.json", "criterion_id": "receivables", "total_count": 2, "preview_count": 2, "full_text_deferred": true, "sha256": "8e2bd813f4c51cf01f6bfaad164bafe69d2bbb192f753eac92da3a01c2e63046"}}</a:t>
            </a:r>
          </a:p>
          <a:p>
            <a:r>
              <a:t>CNPJ 62696791000193 · Natureza dos recebíveis · Regulamento · ID 1143317 · 20/03/2026 · versão Regulamento — referência 20/03/2026 · p. 6 · Anexo I, 1.1, Objetivo · https://fnet.bmfbovespa.com.br/fnet/publico/visualizarDocumento?id=1143317</a:t>
            </a:r>
          </a:p>
          <a:p>
            <a:r>
              <a:t>CNPJ 62696791000193 · Natureza dos recebíveis · Excerto da fonte:</a:t>
            </a:r>
          </a:p>
          <a:p>
            <a:r>
              <a:t>A Classe tem por objetivo proporcionar aos Cotistas a valorização e a rentabilidade de suas cotas (“Cotas”), conforme a política de investimentos def inida no Capítulo IV abaixo (“Política de Investimentos”), por meio de aplicação do seu Patrimônio Líquido (conforme def inido abaixo) nos seguintes ativos de origem vinculada às cadeias produtivas do agronegócio (“Direitos Creditórios do Agronegócio”): (i) títulos de crédito emitidos por pessoas naturais e jurídicas que integrem as cadeias produtivas do agronegócio; (ii) direitos creditórios do agronegócio; (iii) certificados de recebíveis do agronegócio e outros títulos de securitização emitidos com lastro em direitos creditórios do agronegócio; e (iv) certificados de recebíveis e outro</a:t>
            </a:r>
          </a:p>
          <a:p>
            <a:r>
              <a:t>CNPJ 62696791000193 · Natureza dos recebíveis · Regulamento · ID 1143317 · 20/03/2026 · versão Regulamento — referência 20/03/2026 · p. 7 · Anexo I, 1.1, Objetivo · https://fnet.bmfbovespa.com.br/fnet/publico/visualizarDocumento?id=1143317</a:t>
            </a:r>
          </a:p>
          <a:p>
            <a:r>
              <a:t>CNPJ 62696791000193 · Natureza dos recebíveis · Excerto da fonte:</a:t>
            </a:r>
          </a:p>
          <a:p>
            <a:r>
              <a:t>(i) participações em sociedades que explorem atividades integrantes das cadeias produtivas do agronegócio. (C) Categoria “Financeiro” (“Ativos Financeiros do Agronegócio Financeiros”): (i) ativos f inanceiros e valores mobiliários emitidos por pessoas naturais e jurídicas que integrem as cadeias produtivas do agronegócio. (D) Categoria “Geral” (“Ativos em Geral do Agronegócio”): (i) cotas de classes que apliquem mais de 50% (cinquenta por cento) de seu patrimônio líquido nos ativos referidos nos incisos “A” a “D” acima, o que inclui cotas de outros FIAGRO, mas não se limita a essa categoria de f undos. Os Ativos Imobiliários do Agronegócio, Participações do Agronegócio,</a:t>
            </a:r>
          </a:p>
          <a:p>
            <a:r>
              <a:t>CNPJ 62696791000193 · Natureza dos recebíveis · Versão e prevalência: Leitura específica das cláusulas indicadas; condições e conflitos preservados. Seleção documental atual não comprova vigência jurídica por data isolada.</a:t>
            </a:r>
          </a:p>
          <a:p>
            <a:r>
              <a:t>CNPJ 55563624000109 · Natureza dos recebíveis · Regulamento · ID 1192614 · 30/04/2026 · versão Regulamento30/04/2026 · p. 11 · AnexoI4.1 · https://fnet.bmfbovespa.com.br/fnet/publico/visualizarDocumento?id=1192614</a:t>
            </a:r>
          </a:p>
          <a:p>
            <a:r>
              <a:t>CNPJ 55563624000109 · Natureza dos recebíveis · Excerto da fonte:</a:t>
            </a:r>
          </a:p>
          <a:p>
            <a:r>
              <a:t>4.1 Observados os demais termos deste Anexo, o objetivo da Classe é investir seus recursos em (i) cotas subordinadas mezanino de emissão da classe única do MERCADO CRÉDITO II BRASIL FUNDO DE INVESTIMENTO EM DIREITOS CREDITÓRIOS NÃO PADRONIZADOS, fundo de investimento em direitos creditórios inscrito no CNPJ sob o nº 41.970.012/0001-26 (“Cotas da Classe Investida” e “Classe Investida”, respectivamente), a qual, por sua vez, aplica seus recursos preponderantemente em direitos creditórios originados pela Mercado Pago, de acordo com os termos e condições est</a:t>
            </a:r>
          </a:p>
          <a:p>
            <a:r>
              <a:t>CNPJ 55563624000109 · Natureza dos recebíveis · Regulamento · ID 1192614 · 30/04/2026 · versão Regulamento30/04/2026 · p. 12 · AnexoI4.5 · https://fnet.bmfbovespa.com.br/fnet/publico/visualizarDocumento?id=1192614</a:t>
            </a:r>
          </a:p>
          <a:p>
            <a:r>
              <a:t>CNPJ 55563624000109 · Natureza dos recebíveis · Excerto da fonte:</a:t>
            </a:r>
          </a:p>
          <a:p>
            <a:r>
              <a:t>4.5 Uma vez que o investimento nas Cotas da Classe Investida não corresponde a um investimento direto em direitos creditórios, uma série de disposições comuns à securitização de direitos creditórios não será aplicável ao investimento nas Cotas da Classe Investida. A título meramente exemplificativo, não existem processos de originação ou política de concessão de crédito adotada pelo GESTOR, tampouco há que se falar em verificação ou guarda de documentos comprobatórios que não sejam referentes às Cotas da Classe Investida. Da mesma forma, não há necessida</a:t>
            </a:r>
          </a:p>
          <a:p>
            <a:r>
              <a:t>CNPJ 55563624000109 · Natureza dos recebíveis · Versão e prevalência: Leitura específica das cláusulas indicadas; condições e conflitos preservados. Seleção documental atual não comprova vigência jurídica por data isolada.</a:t>
            </a:r>
          </a:p>
          <a:p>
            <a:r>
              <a:t>CNPJ 55563624000109 · Natureza dos recebíveis · Resumo do histórico: {"count": 4, "dates": ["2025-01-31", "2026-01-31", "2026-04-30"], "document_count": 3, "sources": [{"document_id": "1192614", "title": "Regulamento", "reference_date": "2026-04-30", "version": "1", "page": "11", "url": "https://fnet.bmfbovespa.com.br/fnet/publico/visualizarDocumento?id=1192614", "sha256": "f56e63ace0acde41d2f47fb48f1ac7f3f7df5e2d32de092d7c5e075a52516632"}, {"document_id": "1178840", "title": "Demonstrações Financeiras", "reference_date": "2026-01-31", "version": "1", "page": 16, "url": "https://fnet.bmfbovespa.com.br/fnet/publico/visualizarDocumento?id=1178840", "sha256": "c458e98664c5c907ddb5a05a94b120bed4e05295b2bfc420f5ba69af0a229abe"}, {"document_id": "891861", "title": "Demonstrações Financeiras", "reference_date": "2025-01-31", "version": "1", "page": 16, "url": "https://fnet.bmfbovespa.com.br/fnet/publico/visualizarDocumento?id=891861", "sha256": "e9cb9e6ddbe505fe068cfcac33605165a98313489de0d3ce6d4d238263c3f3e7"}], "reference": {"path": "history/55563624000109.json", "criterion_id": "receivables", "total_count": 4, "preview_count": 3, "full_text_deferred": true, "sha256": "7835d573fb58a3c19adf5b8ecc2aee2bdbb9a88f7a0c0209b5f262b64c7522e3"}}</a:t>
            </a:r>
          </a:p>
          <a:p>
            <a:r>
              <a:t>CNPJ 62552447000120 · Natureza dos recebíveis · Regulamento · ID 1200623 · 21/05/2026 · versão Consolidado21/05/2026 aprovado pelo ato1200625 · p. 11 · AnexoI4.2–4.3 · https://fnet.bmfbovespa.com.br/fnet/publico/visualizarDocumento?id=1200623</a:t>
            </a:r>
          </a:p>
          <a:p>
            <a:r>
              <a:t>CNPJ 62552447000120 · Natureza dos recebíveis · Excerto da fonte:</a:t>
            </a:r>
          </a:p>
          <a:p>
            <a:r>
              <a:t>4.2 Os Direitos Creditórios Consignado Privado e os Direitos Creditórios FGTS são originados no âmbito de CCBs emitidas eletronicamente pelos Devedores ao Endossante, representando, respectivamente, empréstimos consignados, com desconto em f olha de pagamento, e empréstimos pessoais, com garantia de cessão f iduciária do Saque-aniversário. 4.3 A operacionalização é f eita por meio da plataforma eletrônica mantida pelo Originador e utilizada por ele em relação ao processamento e monitoramento das operações de crédito (“Plataforma VR”), de acordo com a legislação aplicável, observada a política de crédit</a:t>
            </a:r>
          </a:p>
          <a:p>
            <a:r>
              <a:t>CNPJ 62552447000120 · Natureza dos recebíveis · Regulamento · ID 1200623 · 21/05/2026 · versão Consolidado21/05/2026 aprovado pelo ato1200625 · p. 6 · AnexoI1.2 Direitos Creditórios(d) · https://fnet.bmfbovespa.com.br/fnet/publico/visualizarDocumento?id=1200623</a:t>
            </a:r>
          </a:p>
          <a:p>
            <a:r>
              <a:t>CNPJ 62552447000120 · Natureza dos recebíveis · Excerto da fonte:</a:t>
            </a:r>
          </a:p>
          <a:p>
            <a:r>
              <a:t>Refinanciamento Livre”, na forma de CCBs originadas no âmbito de um refinanciamento, de acordo com a política de cobrança vigente, de Direitos Creditórios Consignado Privado e de Direitos Creditórios FGTS, que não contem com o lastro de Consignação ou de cessão f iduciária do Saque-Aniversário, respectivamente; e (ii) “Ativos Financei</a:t>
            </a:r>
          </a:p>
          <a:p>
            <a:r>
              <a:t>CNPJ 62552447000120 · Natureza dos recebíveis · Condição: Direitos de refinanciamento livre têm mecanismo de pagamento diferente do consignado/FGTS original.</a:t>
            </a:r>
          </a:p>
          <a:p>
            <a:r>
              <a:t>CNPJ 62552447000120 · Natureza dos recebíveis · Versão e prevalência: Leitura específica das cláusulas indicadas; condições e conflitos preservados. Seleção documental atual não comprova vigência jurídica por data isolada.</a:t>
            </a:r>
          </a:p>
          <a:p>
            <a:r>
              <a:t>CNPJ 63953620000165 · Natureza dos recebíveis · Anexo ao Regulamento · ID 1222863 · 02/06/2026 · versão AnexoConsignadoPrivado02/06/2026 · p. 5 · 4.4 · https://fnet.bmfbovespa.com.br/fnet/publico/visualizarDocumento?id=1222863</a:t>
            </a:r>
          </a:p>
          <a:p>
            <a:r>
              <a:t>CNPJ 63953620000165 · Natureza dos recebíveis · Excerto da fonte:</a:t>
            </a:r>
          </a:p>
          <a:p>
            <a:r>
              <a:t>4.4 Os Direitos Creditórios Consignado Privado são originados no âmbito de operações de empréstimo consignado concedido pelo Endossante a um Devedor por meio da plataforma eletrônica mantida pelo Agente de Retenção/ Cobrança e utilizada por ele em relação ao processamento e monitoramento das operações de crédito consignado (“Plataforma MT”) e representado por CCB, devidamente formalizada por via eletrônica, de acordo com a legislação aplicável, observada a política de crédito constante do Contrato de Endosso. O Endossante celebrou o Convênio Consignado Privado previamente ao endosso de Direitos Creditórios Elegíveis à Clas</a:t>
            </a:r>
          </a:p>
          <a:p>
            <a:r>
              <a:t>CNPJ 63953620000165 · Natureza dos recebíveis · Anexo ao Regulamento · ID 1222863 · 02/06/2026 · versão AnexoConsignadoPrivado02/06/2026 · p. 1 · 1.1Objetivo · https://fnet.bmfbovespa.com.br/fnet/publico/visualizarDocumento?id=1222863</a:t>
            </a:r>
          </a:p>
          <a:p>
            <a:r>
              <a:t>CNPJ 63953620000165 · Natureza dos recebíveis · Excerto da fonte:</a:t>
            </a:r>
          </a:p>
          <a:p>
            <a:r>
              <a:t>Direitos Creditórios Crédito Consignado”, representados por cédula de crédito bancário regida pela Lei nº 10.931, emitida eletronicamente por um devedor em favor do endossante (“CCB”) e, consequentemente, os recebíveis decorrente de cada uma das parcelas vincendas, representando um empréstimo consignado concedido pelo endossante ao devedor, e cujo pagamento ordinário é feito por desconto de cada prestação vincenda de uma CCB na folha de</a:t>
            </a:r>
          </a:p>
          <a:p>
            <a:r>
              <a:t>CNPJ 63953620000165 · Natureza dos recebíveis · Versão e prevalência: Leitura específica das cláusulas indicadas; condições e conflitos preservados. Seleção documental atual não comprova vigência jurídica por data isolada.</a:t>
            </a:r>
          </a:p>
          <a:p>
            <a:r>
              <a:t>CNPJ 63953620000165 · Natureza dos recebíveis · Resumo do histórico: {"count": 8, "dates": ["2026-04-28", "2026-05-08", "2026-05-15"], "document_count": 3, "sources": [{"document_id": "1327859", "title": "Demonstrações Financeiras - Fusão, cisão e incorporação", "reference_date": "2026-05-15", "version": "1", "page": 21, "url": "https://fnet.bmfbovespa.com.br/fnet/publico/visualizarDocumento?id=1327859", "sha256": "dca1c68babb97f887528c3e2e47596a9c30f507b067981a35655b2f2da9c8054"}, {"document_id": "1298691", "title": "Demonstrações Financeiras - Fusão, cisão e incorporação", "reference_date": "2026-05-08", "version": "1", "page": 24, "url": "https://fnet.bmfbovespa.com.br/fnet/publico/visualizarDocumento?id=1298691", "sha256": "58c570d9b8d4d265330d3db3ea81c435b8e44a6dab4002aa37790652a1ee9819"}, {"document_id": "1282180", "title": "Demonstrações Financeiras - Fusão, cisão e incorporação", "reference_date": "2026-04-28", "version": "1", "page": 24, "url": "https://fnet.bmfbovespa.com.br/fnet/publico/visualizarDocumento?id=1282180", "sha256": "afaaa0e6809be4385e5bdb6c911aac582032c5bdbac3d7750234bf9eaf00438a"}], "reference": {"path": "history/63953620000165.json", "criterion_id": "receivables", "total_count": 8, "preview_count": 3, "full_text_deferred": true, "sha256": "a7b89077f5e21098c2d601c303faabc3ff6b9729f89d8afecdc60fe1404720c1"}}</a:t>
            </a:r>
          </a:p>
          <a:p>
            <a:r>
              <a:t>CNPJ 54871427000194 · Originador e endossante · Regulamento · ID 670691 · 2024-04-28 · versão 1 · p. 11 · 4.11.2 · https://fnet.bmfbovespa.com.br/fnet/publico/visualizarDocumento?id=670691</a:t>
            </a:r>
          </a:p>
          <a:p>
            <a:r>
              <a:t>CNPJ 54871427000194 · Originador e endossante · Excerto da fonte:</a:t>
            </a:r>
          </a:p>
          <a:p>
            <a:r>
              <a:t>4.11.2 A Classe poderá ter até 100% (cem por cento) do Patrimônio Líquido representado por Direitos  Creditórios originados ou cedidos por um mesmo Endossante e/ou originados por um mesmo  Originador.</a:t>
            </a:r>
          </a:p>
          <a:p>
            <a:r>
              <a:t>CNPJ 54871427000194 · Originador e endossante · Regulamento · ID 670691 · 2024-04-28 · versão 1 · p. 13 · 4.17 · https://fnet.bmfbovespa.com.br/fnet/publico/visualizarDocumento?id=670691</a:t>
            </a:r>
          </a:p>
          <a:p>
            <a:r>
              <a:t>CNPJ 54871427000194 · Originador e endossante · Excerto da fonte:</a:t>
            </a:r>
          </a:p>
          <a:p>
            <a:r>
              <a:t>4.17 É vedada qualquer forma de antecipação de recursos aos Endossantes para posterior reembolso pela  Classe, seja pelo ADMINISTRADOR, GESTOR, CUSTODIANTE, consultora ou Originadores.</a:t>
            </a:r>
          </a:p>
          <a:p>
            <a:r>
              <a:t>CNPJ 54871427000194 · Originador e endossante · Regulamento · ID 670691 · 2024-04-28 · versão 1 · p. 34 · 15.1.5 · https://fnet.bmfbovespa.com.br/fnet/publico/visualizarDocumento?id=670691</a:t>
            </a:r>
          </a:p>
          <a:p>
            <a:r>
              <a:t>CNPJ 54871427000194 · Originador e endossante · Excerto da fonte:</a:t>
            </a:r>
          </a:p>
          <a:p>
            <a:r>
              <a:t>15.1.5 Outros Riscos:</a:t>
            </a:r>
          </a:p>
          <a:p>
            <a:r>
              <a:t> (i) Cobrança judicial ou extrajudicial dos Direitos Creditórios. No caso de os  Devedores inadimplirem as obrigações dos pagamentos dos Direitos Creditórios de titularidade  da Classe, poderá haver cobrança judicial e/ou extrajudicial dos valores devidos. Neste caso,  além da Classe incorrer em maiores custos relacionados à cobrança dos Direitos Creditórios  Inadimplidos, nada garante que ref eridas cobranças atingirão os resultados almejados, qual  seja, a recuperação do valor integral dos Direitos Creditórios Inadimplidos. Nesta hipótese, a  rentabilidade da Classe será af etada negativamente.</a:t>
            </a:r>
          </a:p>
          <a:p>
            <a:r>
              <a:t> (ii) Dif iculdade de obtenção de indenização ou recompra de Direitos Creditórios.</a:t>
            </a:r>
          </a:p>
          <a:p>
            <a:r>
              <a:t> Considerando a possibilidade de aquisição de Direitos Creditórios de terceiros — isso é  Endossantes que, por sua vez, adquiram os Direitos Creditórios de forma secundária, por meio  da cessão ou endosso realizado por credores anteriores da CCB — caso ocorram situações  que ensejem em recompra de tais Direitos Creditórios e/ou indenização, a Classe poderá ter  dif iculdades adicionais em obter tais indenizações e/ou recompras, na medida em que o direito  a tais indenizações e/ou recompras não está previsto em cada CCB, mas em contratos e  instrumentos dos quais a Classe não é originalmente parte, o que poderá causar perdas à  Classe e, consequentemente, aos Cotistas.</a:t>
            </a:r>
          </a:p>
          <a:p>
            <a:r>
              <a:t> (iii) Risco de concentração. O risco da aplicação na Classe possui forte correlação  com a concentração da Carteira, sendo que, quanto maior f or a concentração da Carteira,  maior será a chance de a Classe sofrer perda patrimonial significativa que afete negativamente  a rentabilidade das Cotas. A Classe não possui limite de concentração por Devedor ou  originador dos Direitos Creditórios, exceto por aqueles previstos na Resolução CVM  175, razão pela qual a Classe poderá estar exposto a significativa concentração por  Devedor. Não é possível garantir que os limites de concentração contidos na Política de  Investimentos, ainda que atendidos, serão suficientes que o Patrimônio Líquido não sofra  perdas que possam af etar a rentabilidade das Cotas.</a:t>
            </a:r>
          </a:p>
          <a:p>
            <a:r>
              <a:t> (iv) Possibilidade de conflito de interesses entre a Classe e os Originadores. Os  Originadores podem possuir relacionamento comercial com os Endossantes e/ou Devedores,  de modo que, em determinadas circunstâncias seus interesses podem ser conflitantes com os  interesses da Classe. Não é possível garantir que, materializada uma situação de conflito de  interesses conforme descrita acima, o Originador exponha-a adequadamente ao  ADMINISTRADOR e/ou aos Cotistas, ou que o f aça absolutamente, tampouco que agirá no  melhor no interesse da Classe. Nesses casos, a Classe pode vir a adquirir Direitos Creditórios  ou pode vir a ter seus Direitos Creditórios Inadimplidos pagos em condições comparativamente  menos vantajosas àquelas que seriam verificadas na ausência de tais conflitos de interesses.</a:t>
            </a:r>
          </a:p>
          <a:p>
            <a:r>
              <a:t> Nesses casos, o Patrimônio Líquido pode ser af etado adversamente.</a:t>
            </a:r>
          </a:p>
          <a:p>
            <a:r>
              <a:t> (v) Possibilidade de conflito de interesses entre Cotistas. As Cotas poderão ser  adquiridas por investidores que sejam sociedades coligadas, controladas ou controladoras,</a:t>
            </a:r>
          </a:p>
          <a:p>
            <a:r>
              <a:t>CNPJ 54871427000194 · Originador e endossante · Condição: Documentos atuais selecionados no inventário por categoria/escopo; a data documental isolada não comprova vigência jurídica.</a:t>
            </a:r>
          </a:p>
          <a:p>
            <a:r>
              <a:t>CNPJ 54871427000194 · Originador e endossante · Versão e prevalência: Documentos atuais selecionados no inventário por categoria/escopo; a data documental isolada não comprova vigência jurídica.</a:t>
            </a:r>
          </a:p>
          <a:p>
            <a:r>
              <a:t>CNPJ 54871427000194 · Originador e endossante · Resumo do histórico: {"count": 2, "dates": ["2024-04-19", "2024-04-28"], "document_count": 2, "sources": [{"document_id": "670691", "title": "Regulamento", "reference_date": "2024-04-28", "version": "1", "page": "9, 39", "url": "https://fnet.bmfbovespa.com.br/fnet/publico/visualizarDocumento?id=670691", "sha256": "bf16dd7f1a62d5cdbf2e2d54fef81783783f7310fbc99c3a8f00459bdf9d037b"}, {"document_id": "670689", "title": "Regulamento", "reference_date": "2024-04-19", "version": "1", "page": 9, "clause": "4.5", "url": "https://fnet.bmfbovespa.com.br/fnet/publico/visualizarDocumento?id=670689", "sha256": "891bc9bc5d87bbc02ec139077a84d2702eb81ea02035fb71d24f5b8366b94a0b"}], "reference": {"path": "history/54871427000194.json", "criterion_id": "originator", "total_count": 2, "preview_count": 2, "full_text_deferred": true, "sha256": "35d7cd99be50c7287c9fb675cf4f2e736002315295a225a9efa79c8d9186d874"}}</a:t>
            </a:r>
          </a:p>
          <a:p>
            <a:r>
              <a:t>CNPJ 60010416000112 · Originador e endossante · Regulamento · ID 1051393 · 09/10/2025 · versão Regulamento09/10/2025 · p. 44 · Glossário, Endossante · https://fnet.bmfbovespa.com.br/fnet/publico/visualizarDocumento?id=1051393</a:t>
            </a:r>
          </a:p>
          <a:p>
            <a:r>
              <a:t>CNPJ 60010416000112 · Originador e endossante · Excerto da fonte:</a:t>
            </a:r>
          </a:p>
          <a:p>
            <a:r>
              <a:t>“Endossante”: a Parati Crédito, Financiamento e Investimento S.A., instituição financeira constituída na forma de uma sociedade por ações, com sede na cidade de Vitória, estado do Espírito Santo, na Avenida Nossa Senhora da Penha, 699, torre A, conjuntos 404 a 407, Santa Lúcia, CEP 29.056-250, inscrita no CNPJ sob nº 03.311.443/0001-91; "Entidade Registradora": instituição autorizada pelo BACEN para realizar as atividades de registro e constituição, alteração e desconstituição de ônus e gravames sobre ativos f inanceiros registrados; “Escrituração”: significa a escrituração da Consignação a ser realizada pelo Empregador, junto ao eSocial, após recebimento de notif icação comunicando-o da contratação, pelo Devedor, do empréstimo a ser pago por Consignação; “Eventos de Avaliação”: os eventos de avaliação descritos no item 10.1 deste Anexo; “Eventos de Liquidação”: os eventos de liquidação descritos no item 10.3 deste Anexo; BTG Pactual SAC: 0800 772 28 27 - Ouvidoria: 0800 722 00 48 - btgpactual.com 44</a:t>
            </a:r>
          </a:p>
          <a:p>
            <a:r>
              <a:t>CNPJ 60010416000112 · Originador e endossante · Regulamento · ID 1051393 · 09/10/2025 · versão Regulamento09/10/2025 · p. 41 · Glossário, Agente de Retenção/Cobrança · https://fnet.bmfbovespa.com.br/fnet/publico/visualizarDocumento?id=1051393</a:t>
            </a:r>
          </a:p>
          <a:p>
            <a:r>
              <a:t>CNPJ 60010416000112 · Originador e endossante · Excerto da fonte:</a:t>
            </a:r>
          </a:p>
          <a:p>
            <a:r>
              <a:t>“Agente de Retenção/Cobrança”: significa a Tudo Serviços S.A., sociedade por ações com sede na Cidade de Eusébio, Estado do Ceará, na Comendador Ari Freitas, 577, CEP 61.760-000, inscrita no CNPJ sob nº 27.852.506/0001-85; “Agente Escriturador”: O Administrador, o qual se encontra devidamente habilitado pela CVM para prestar os serviços de escrituração das Cotas, ou seu sucessor a qualquer título; “Amortização”: signif ica cada uma das amortizações ordinárias de Cotas; “Amortização Extraordinária”: amortização extraordinária das Cotas Seniores, conforme deliberado pela Assembleia Especial de Cotistas, para reestabelecer o Índice de Subordinação, nos termos do item 5.5.1 do Anexo I; "ANBIMA": Associação Brasileira das Entidades dos Mercados Financeiro e de Capitais; "Código ANBIMA": Código ANBIMA de Regulação e Melhores Práticas para Administração de Recursos de Terceiros “Anexos”: tem o signif icado atribuído no Art. 3, inciso IV, da Resolução CVM 175, Parte Geral; “Apêndice”: cada um dos apêndices que integram este Anexo, descritivos de cada Subclasse de Cotas ou de aspectos aplicáveis à Classe; "Arquivos Dataprev": Arquivo de Consignações fornecido mensalmente pela Dataprev ao Endossante, contendo a totalidade das operações pend</a:t>
            </a:r>
          </a:p>
          <a:p>
            <a:r>
              <a:t>CNPJ 60010416000112 · Originador e endossante · Regulamento · ID 1051393 · 09/10/2025 · versão Regulamento09/10/2025 · p. 28 · AnexoI11.23 · https://fnet.bmfbovespa.com.br/fnet/publico/visualizarDocumento?id=1051393</a:t>
            </a:r>
          </a:p>
          <a:p>
            <a:r>
              <a:t>CNPJ 60010416000112 · Originador e endossante · Excerto da fonte:</a:t>
            </a:r>
          </a:p>
          <a:p>
            <a:r>
              <a:t>Tudo Serviços S.A., sociedade anônima, com sede no município de Eusébio, Estado do Ceará, na Comendador Ari Freitas, 577, CEP 61.760-000, inscrita no CNPJ sob o nº 27.852.506/0001-85, cujos deveres, sem prejuízo daqueles estabelecidos neste Regulamento, no Contrato de Serviços MT e no Contrato de Endosso, consistirão no monitoramento e cobrança dos Direitos Creditórios Inadimplidos, observado o disposto neste Anexo I e na regulamentação aplicável: (i) caso aplicável, atuar na retenção (defesa) de operações de empréstimo consignado cujos Direitos Creditórios sejam de titularidade da Classe, em caso d</a:t>
            </a:r>
          </a:p>
          <a:p>
            <a:r>
              <a:t>CNPJ 60010416000112 · Originador e endossante · Versão e prevalência: Leitura específica das cláusulas indicadas; condições e conflitos preservados. Seleção documental atual não comprova vigência jurídica por data isolada.</a:t>
            </a:r>
          </a:p>
          <a:p>
            <a:r>
              <a:t>CNPJ 60010416000112 · Originador e endossante · Resumo do histórico: {"count": 2, "dates": ["2025-03-20", "2025-10-09"], "document_count": 2, "sources": [{"document_id": "1051393", "title": "Regulamento", "reference_date": "2025-10-09", "version": "1", "page": "41-43", "url": "https://fnet.bmfbovespa.com.br/fnet/publico/visualizarDocumento?id=1051393", "sha256": "8469d613078ffd5a6c1d217885d8a397a16342c0b937ae4aa24b106505f233ae"}, {"document_id": "993786", "title": "Regulamento", "reference_date": "2025-03-20", "version": "1", "page": 25, "clause": "11.8", "url": "https://fnet.bmfbovespa.com.br/fnet/publico/visualizarDocumento?id=993786", "sha256": "fd0fdd369a195510d81f81f505195a0b09e5f43522a990afa7d58c4f872921c8"}], "reference": {"path": "history/60010416000112.json", "criterion_id": "originator", "total_count": 2, "preview_count": 2, "full_text_deferred": true, "sha256": "8e2bd813f4c51cf01f6bfaad164bafe69d2bbb192f753eac92da3a01c2e63046"}}</a:t>
            </a:r>
          </a:p>
          <a:p>
            <a:r>
              <a:t>CNPJ 62696791000193 · Originador e endossante · Regulamento · ID 1143317 · 20/03/2026 · versão Regulamento — referência 20/03/2026 · p. 10 · Anexo I, 4.4 e 4.6 · https://fnet.bmfbovespa.com.br/fnet/publico/visualizarDocumento?id=1143317</a:t>
            </a:r>
          </a:p>
          <a:p>
            <a:r>
              <a:t>CNPJ 62696791000193 · Originador e endossante · Excerto da fonte:</a:t>
            </a:r>
          </a:p>
          <a:p>
            <a:r>
              <a:t>4.4 Tendo em vista (i) a natureza variada dos Direitos Creditórios do Agronegócio passíveis de aquisição pela Classe; (ii) a amplitude da Política de Investimentos; e (iii) a potencial diversificação de Cedentes/Endossantes e Devedores, não é possível precisar os processos de origem dos Direitos Creditórios do Agronegócio e as políticas de concessão de crédito adotadas pelos Cedentes/Endossantes. 4.5 Os Direitos Creditórios do Agronegócio deverão contar com toda a documentação necessária para o exercício das prerrogativas decorrentes da titularidade dos ativos, e capaz de comprovar a origem, a existência e a exigibilidade dos Direitos Creditórios do Agronegócio (“Documentos Comprobatórios”) que evidenciem sua existência, validade e exequibilidade perante os respectivos Devedores. 4.5.1 Os Direitos Creditórios do Agronegócio serão adquiridos pela Classe por meio: (i) de contratos de cessão e/ou termos de cessão (“Contratos de Cessão”), contratos de promessa de endosso e/ou termos de endosso (“Contratos de Endosso”) firmados entre a Classe e os respectivos cedentes (“Cedentes”) / endossantes (“Endossantes”), acompanhados de todos os direitos, pri</a:t>
            </a:r>
          </a:p>
          <a:p>
            <a:r>
              <a:t>CNPJ 62696791000193 · Originador e endossante · Condição: A afirmação descreve um mandato amplo; não identifica contrapartes efetivamente presentes no IME.</a:t>
            </a:r>
          </a:p>
          <a:p>
            <a:r>
              <a:t>CNPJ 62696791000193 · Originador e endossante · Versão e prevalência: Leitura específica das cláusulas indicadas; condições e conflitos preservados. Seleção documental atual não comprova vigência jurídica por data isolada.</a:t>
            </a:r>
          </a:p>
          <a:p>
            <a:r>
              <a:t>CNPJ 55563624000109 · Originador e endossante · Regulamento · ID 1192614 · 2026-04-30 · versão 1 · p. 32 · https://fnet.bmfbovespa.com.br/fnet/publico/visualizarDocumento?id=1192614</a:t>
            </a:r>
          </a:p>
          <a:p>
            <a:r>
              <a:t>CNPJ 55563624000109 · Originador e endossante · Excerto da fonte:</a:t>
            </a:r>
          </a:p>
          <a:p>
            <a:r>
              <a:t>(b) Questionamento judicial. Os devedores podem questionar judicialmente (1) a validade  dos direitos creditórios, inclusive em razão da legalidade dos limites de crédito  concedidos pelo originador ou cedente e das taxas de juros praticadas, antes e/ou após  a sua transferência para a Classe Investida; e/ou (2) os termos e condições da  transferência dos direitos creditórios à Classe Investida. Em qualquer caso, é possível  que a Classe Investida não receba parte ou a totalidade dos valores relativos aos  direitos creditórios de sua titularidade objeto de questionamento judicial.</a:t>
            </a:r>
          </a:p>
          <a:p>
            <a:r>
              <a:t> (c) Risco de originação de direitos creditórios. Os direitos creditórios a serem adquiridos  pela Classe Investida são decorrentes de operações de empréstimo específicas  envolvendo as operações do Mercado Pago, conforme detalhadas no regulamento da  Classe Investida. Na hipótese de não originação, originação insuficiente ou  indisponibilidade para aquisição pelo Classe Investida, por qualquer motivo, inclusive  em caso de redução ou descontinuidade das operações regulares dos cedentes, de  direitos creditórios que satisfaçam os critérios de elegibilidade, as condições de cessão  e a política de investimento, composição e diversificação da carteira da Classe Investida  descrita em seu regulamento, a Classe Investida poderá ser incapaz de alocar a  totalidade de seus recursos, o que poderá inviabilizar a realização das chamadas de  capital por seu administrador, afetando negativamente a continuidade da Classe  Investida, a expectativa de seus cotistas, incluindo a Classe, com relação ao seu  horizonte de investimento, a rentabilidade da Classe Investida e, consequentemente, o  valor das Cotas da Classe Investida, impactando assim a Classe e os investimentos dos  Cotistas em Cotas.</a:t>
            </a:r>
          </a:p>
          <a:p>
            <a:r>
              <a:t> (d) Originação por meio fraudulento. A Classe Investida pode adquirir direitos creditórios  que tenham sido originados por meio fraudulento. Nesse caso, a Classe Investida não  poderá exigir o pagamento dos respectivos valores por parte dos devedores lesados,  restando-lhe somente exigir do cedente o pagamento do valor correspondente aos  direitos creditórios fraudulentos, na forma prevista no respectivo contrato de cessão. A  restituição devida pelo cedente poderá demorar a ser realizada ou simplesmente não  ocorrer. Em ambos os casos, o patrimônio da Classe Investida seria impactado  negativamente, igualmente afetando, consequentemente, a Classe.</a:t>
            </a:r>
          </a:p>
          <a:p>
            <a:r>
              <a:t> (e) Questionamento da validade e da eficácia da cessão dos Direitos Creditórios. A validade  e a eficácia da cessão dos direitos creditórios à Classe Investida poderão ser  questionadas, inclusive em decorrência de intervenção, liquidação, Regime de  Administração Especial Temporária (RAET), pedido de recuperação judicial, falência,  plano de recuperação extrajudicial ou outro procedimento de natureza similar  originador ou do cedente. A titularidade direitos creditórios poderá vir a ser  questionada caso (1) haja garantias reais sobre os direitos creditórios, constituídas  antes da sua cessão e sem o conhecimento da Classe Investida; (2) ocorra a penhora ou  outra forma de constrição judicial sobre os direitos creditórios, antes da sua cessão e sem  o conhecimento da Classe Investida; (3) seja verificada, em processo judicial, fraude  contra credores ou fraude à execução praticada pelo respectivo originador ou cedente;</a:t>
            </a:r>
          </a:p>
          <a:p>
            <a:r>
              <a:t> ou (4) a cessão dos direitos creditórios à Classe Investida seja revogada, quando restar  comprovado que foi praticada com a intenção de prejudicar os credores do originador  ou do cedente. Em qualquer hipótese, os direitos creditórios integrantes da carteira da  Classe Investida poderão ser bloqueados ou redirecionados para o pagamento de  outras obrigações do originador ou cedente, afetando negativamente os patrimônios  da Classe Investida e a rentabilidade das suas cotas.</a:t>
            </a:r>
          </a:p>
          <a:p>
            <a:r>
              <a:t>CNPJ 55563624000109 · Originador e endossante · Regulamento · ID 1192614 · 2026-04-30 · versão 1 · p. 28 · https://fnet.bmfbovespa.com.br/fnet/publico/visualizarDocumento?id=1192614</a:t>
            </a:r>
          </a:p>
          <a:p>
            <a:r>
              <a:t>CNPJ 55563624000109 · Originador e endossante · Excerto da fonte:</a:t>
            </a:r>
          </a:p>
          <a:p>
            <a:r>
              <a:t>Classe, na forma da regulamentação aplicável, observado que os prestadores de serviços eventualmente  subcontratados não podem ser, em relação à Classe, o originador, cedente, o GESTOR, consultoria especializada  ou partes a eles relacionadas, tais como definidas nas regras contábeis que tratam desse assunto.</a:t>
            </a:r>
          </a:p>
          <a:p>
            <a:r>
              <a:t>CNPJ 55563624000109 · Originador e endossante · Condição: Documentos atuais selecionados no inventário por categoria/escopo; a data documental isolada não comprova vigência jurídica.</a:t>
            </a:r>
          </a:p>
          <a:p>
            <a:r>
              <a:t>CNPJ 55563624000109 · Originador e endossante · Versão e prevalência: Documentos atuais selecionados no inventário por categoria/escopo; a data documental isolada não comprova vigência jurídica.</a:t>
            </a:r>
          </a:p>
          <a:p>
            <a:r>
              <a:t>CNPJ 55563624000109 · Originador e endossante · Resumo do histórico: {"count": 3, "dates": ["2025-01-31", "2026-01-31", "2026-04-30"], "document_count": 3, "sources": [{"document_id": "1192614", "title": "Regulamento", "reference_date": "2026-04-30", "version": "1", "page": "11", "url": "https://fnet.bmfbovespa.com.br/fnet/publico/visualizarDocumento?id=1192614", "sha256": "f56e63ace0acde41d2f47fb48f1ac7f3f7df5e2d32de092d7c5e075a52516632"}, {"document_id": "1178840", "title": "Demonstrações Financeiras", "reference_date": "2026-01-31", "version": "1", "page": 16, "url": "https://fnet.bmfbovespa.com.br/fnet/publico/visualizarDocumento?id=1178840", "sha256": "c458e98664c5c907ddb5a05a94b120bed4e05295b2bfc420f5ba69af0a229abe"}, {"document_id": "891861", "title": "Demonstrações Financeiras", "reference_date": "2025-01-31", "version": "1", "page": 16, "url": "https://fnet.bmfbovespa.com.br/fnet/publico/visualizarDocumento?id=891861", "sha256": "e9cb9e6ddbe505fe068cfcac33605165a98313489de0d3ce6d4d238263c3f3e7"}], "reference": {"path": "history/55563624000109.json", "criterion_id": "originator", "total_count": 3, "preview_count": 3, "full_text_deferred": true, "sha256": "7835d573fb58a3c19adf5b8ecc2aee2bdbb9a88f7a0c0209b5f262b64c7522e3"}}</a:t>
            </a:r>
          </a:p>
          <a:p>
            <a:r>
              <a:t>CNPJ 62552447000120 · Originador e endossante · Regulamento · ID 1200623 · 21/05/2026 · versão Consolidado21/05/2026 aprovado pelo ato1200625 · p. 12 · AnexoI4.4.1(i) · https://fnet.bmfbovespa.com.br/fnet/publico/visualizarDocumento?id=1200623</a:t>
            </a:r>
          </a:p>
          <a:p>
            <a:r>
              <a:t>CNPJ 62552447000120 · Originador e endossante · Excerto da fonte:</a:t>
            </a:r>
          </a:p>
          <a:p>
            <a:r>
              <a:t>BANCO VR S.A., instituição f inanceira, com sede no município e Estado de São Paulo, na Av. Dos Bandeirantes, n.º 460, Brooklin Paulista, CEP 04553-900, inscrita no CNPJ sob o n.º 78.626.983/0001- 63, ou qualquer outra sociedade do mesmo grupo econômico, na qualidade de endossante (“Endossante”), acompanhados de todos os direitos, privilégios, pref erências, prerrogativas, ações e garantias assegurados aos seus titulares; (ii) da subscrição de títulos de crédito e/ou valores mobiliários, incluindo, mas não se</a:t>
            </a:r>
          </a:p>
          <a:p>
            <a:r>
              <a:t>CNPJ 62552447000120 · Originador e endossante · Regulamento · ID 1200623 · 21/05/2026 · versão Consolidado21/05/2026 aprovado pelo ato1200625 · p. 29 · AnexoI12.14 · https://fnet.bmfbovespa.com.br/fnet/publico/visualizarDocumento?id=1200623</a:t>
            </a:r>
          </a:p>
          <a:p>
            <a:r>
              <a:t>CNPJ 62552447000120 · Originador e endossante · Excerto da fonte:</a:t>
            </a:r>
          </a:p>
          <a:p>
            <a:r>
              <a:t>VR BENEFÍCIOS E SERVIÇOS DE PROCESSAMENTO S.A., sociedade anônima com sede no município e Estado de São Paulo, na Av. dos Bandeirantes, n.º 460, Brooklin Paulista, CEP 04553-900, inscrita no CNPJ sob o n.º 02.535.864/0004-86 (“Agente de Retenção e Cobrança” ou “Originador”), para os serviços de retenção de Direitos Creditórios e de cobrança de Direitos Creditórios Inadimplidos, de acordo com os contratos de prestação de serviços de retenção e cobrança celebrados entre o Agente de Retenção e Cobrança e a Classe (“Contratos de Retenção/Cobrança”). 12.15 O Agente de Retenção e Cobrança poderá, às expensas da Classe,</a:t>
            </a:r>
          </a:p>
          <a:p>
            <a:r>
              <a:t>CNPJ 62552447000120 · Originador e endossante · Versão e prevalência: Leitura específica das cláusulas indicadas; condições e conflitos preservados. Seleção documental atual não comprova vigência jurídica por data isolada.</a:t>
            </a:r>
          </a:p>
          <a:p>
            <a:r>
              <a:t>CNPJ 63953620000165 · Originador e endossante · Anexo ao Regulamento · ID 1222863 · 02/06/2026 · versão AnexoConsignadoPrivado02/06/2026 · p. 5 · 4.3–4.4 · https://fnet.bmfbovespa.com.br/fnet/publico/visualizarDocumento?id=1222863</a:t>
            </a:r>
          </a:p>
          <a:p>
            <a:r>
              <a:t>CNPJ 63953620000165 · Originador e endossante · Excerto da fonte:</a:t>
            </a:r>
          </a:p>
          <a:p>
            <a:r>
              <a:t>4.3 Os Direitos Creditórios serão adquiridos pela Classe por meio: (i) contratos de promessa de endosso e/ou termos de endosso (“Contratos de Endosso”) firmados entre a Classe e a Parati Crédito, Financiamento e Investimento S.A., instituição financeira constituída na forma de uma sociedade por ações, com sede na cidade de Vitória, estado do Espírito Santo, na Avenida Nossa Senhora da Penha, 699, torre A, conjuntos 404 a 407, Santa Lúcia, CEP 29.056-250, inscrita no CNPJ sob nº 03.311.443/0001-91 (“Endossante” ou “Cedente”), acompanhados de todos os direitos, privilégios, preferências, prerrogativas, ações e garantias asse</a:t>
            </a:r>
          </a:p>
          <a:p>
            <a:r>
              <a:t>CNPJ 63953620000165 · Originador e endossante · Anexo ao Regulamento · ID 1222863 · 02/06/2026 · versão AnexoConsignadoPrivado02/06/2026 · p. 19 · 12.6 · https://fnet.bmfbovespa.com.br/fnet/publico/visualizarDocumento?id=1222863</a:t>
            </a:r>
          </a:p>
          <a:p>
            <a:r>
              <a:t>CNPJ 63953620000165 · Originador e endossante · Excerto da fonte:</a:t>
            </a:r>
          </a:p>
          <a:p>
            <a:r>
              <a:t>12.6 A Classe contratou a Tudo Serviços S.A., sociedade anônima, com sede no município de Fortaleza, Estado do Ceará, na Avenida Senador Virgulo Távora, nº 303, Lojas 02, 03, 04, 05, 06 e 19, Meireles, CEP 60.170-265, inscrita no CNPJ sob o nº 27.852.506/0001-85, cujos deveres, sem prejuízo daqueles estabelecidos neste Regulamento, no “Contrato de Serviços de Retenção e Cobrança e Outras Avenças”, celebrado entre o Agente de Retenção/Cobrança e a Classe (“Contrato de Serviços MT”) e no Contrato de Endosso, consistirão no monitoramento e cobrança dos Direitos Creditórios Inadimplidos, observado o disposto neste Anexo I e na</a:t>
            </a:r>
          </a:p>
          <a:p>
            <a:r>
              <a:t>CNPJ 63953620000165 · Originador e endossante · Condição: Nomeação nominal atual da classe; distinta da origem histórica dos ativos recebidos por cisão de outros veículos.</a:t>
            </a:r>
          </a:p>
          <a:p>
            <a:r>
              <a:t>CNPJ 63953620000165 · Originador e endossante · Versão e prevalência: Leitura específica das cláusulas indicadas; condições e conflitos preservados. Seleção documental atual não comprova vigência jurídica por data isolada.</a:t>
            </a:r>
          </a:p>
          <a:p>
            <a:r>
              <a:t>CNPJ 63953620000165 · Originador e endossante · Resumo do histórico: {"count": 8, "dates": ["2026-04-28", "2026-05-08", "2026-05-15"], "document_count": 3, "sources": [{"document_id": "1327859", "title": "Demonstrações Financeiras - Fusão, cisão e incorporação", "reference_date": "2026-05-15", "version": "1", "page": 23, "url": "https://fnet.bmfbovespa.com.br/fnet/publico/visualizarDocumento?id=1327859", "sha256": "dca1c68babb97f887528c3e2e47596a9c30f507b067981a35655b2f2da9c8054"}, {"document_id": "1298691", "title": "Demonstrações Financeiras - Fusão, cisão e incorporação", "reference_date": "2026-05-08", "version": "1", "page": 24, "url": "https://fnet.bmfbovespa.com.br/fnet/publico/visualizarDocumento?id=1298691", "sha256": "58c570d9b8d4d265330d3db3ea81c435b8e44a6dab4002aa37790652a1ee9819"}, {"document_id": "1282180", "title": "Demonstrações Financeiras - Fusão, cisão e incorporação", "reference_date": "2026-04-28", "version": "1", "page": 24, "url": "https://fnet.bmfbovespa.com.br/fnet/publico/visualizarDocumento?id=1282180", "sha256": "afaaa0e6809be4385e5bdb6c911aac582032c5bdbac3d7750234bf9eaf00438a"}], "reference": {"path": "history/63953620000165.json", "criterion_id": "originator", "total_count": 8, "preview_count": 3, "full_text_deferred": true, "sha256": "a7b89077f5e21098c2d601c303faabc3ff6b9729f89d8afecdc60fe1404720c1"}}</a:t>
            </a:r>
          </a:p>
          <a:p>
            <a:r>
              <a:t>CNPJ 54871427000194 · Devedor e consignação · Regulamento · ID 670691 · 2024-04-28 · versão 1 · p. 29 · https://fnet.bmfbovespa.com.br/fnet/publico/visualizarDocumento?id=670691</a:t>
            </a:r>
          </a:p>
          <a:p>
            <a:r>
              <a:t>CNPJ 54871427000194 · Devedor e consignação · Excerto da fonte:</a:t>
            </a:r>
          </a:p>
          <a:p>
            <a:r>
              <a:t>Anexo I ao Regulamento CLASSE ÚNICA DE RESPONSABILIDADE LIMITADA DO CONSIGNADO DELTA RECEIVABLES I FUNDO DE INVESTIMENTO EM DIREITOS CREDITÓRIOS  pelo Endossante e depositados em seu conta de sua titularidade para posterior repasse à  Classe. Neste caso, a Classe poderá sofrer perdas principalmente em relação ao atraso na  regularização da titularidade e pagamento dos Direitos Creditórios.</a:t>
            </a:r>
          </a:p>
          <a:p>
            <a:r>
              <a:t> (v) Risco de pré-pagamento dos Direitos Creditórios. A ocorrência de pré-  pagamentos em relação a um ou mais Direitos Creditórios poderá ocasionar perdas à Classe.</a:t>
            </a:r>
          </a:p>
          <a:p>
            <a:r>
              <a:t> A ocorrência de pré-pagamentos (pagamento em data anterior àquela originalmente pactuada)  de Direitos Creditórios reduz o horizonte original de rendimentos esperados pela Classe de  tais Direitos Creditórios, uma vez que o pré-pagamento poderá, se assim permitido pela  documentação do Direito Creditório ou, conf orme o caso, pela legislação aplicável, ser  realizado pelo valor de emissão do Direito Creditório atualizado até a data do pré-pagamento  pela taxa de juros pactuada entre os Endossantes e os Devedores de tais Direitos Creditórios,  de modo que os juros remuneratórios incidentes desde a data da realização do pré-pagamento  até a data de vencimento do respectivo Direito Creditório deixam de ser devidos à Classe.</a:t>
            </a:r>
          </a:p>
          <a:p>
            <a:r>
              <a:t> (vi) Riscos associados aos Devedores: os Direitos Creditórios a serem cedidos à  Classe serão descontados da remuneração do Devedor, através de desconto em f olha de  pagamento ou de benefício. Nesse sentido, na ocorrência de pré-pagamento, as parcelas  serão pagas antecipadamente e a Classe deverá utilizar tais montantes no pré-pagamento dos  Direitos Creditórios. Nesta hipótese, a Classe poderá não encontrar Direitos Creditórios  disponíveis para serem adquiridos pela Classe, o que poderá afetar a rentabilidade da Classe.</a:t>
            </a:r>
          </a:p>
          <a:p>
            <a:r>
              <a:t> (vii) Risco de Competição: o mercado de empréstimos experimentou grande  expansão no Brasil nos últimos anos. Nesse contexto, a Resolução CMN nº 4.292, alterada  pela Resolução nº 4.762, de 27 de novembro de 2019, dispõe que deve ser garantido às  pessoas naturais devedoras de operações de crédito (tais como as CCB) a possibilidade de  realizarem a portabilidade destas operações para outras instituições financeiras, inclusive nos  casos em que tenham sido objeto de cessão (tais como as realizadas à Classe). Nesse  cenário, é possível que os competidores do Endossante ofereçam condições e taxas mais  vantajosas para os empréstimos pessoais com consignação em f olha de pagamento ou de  benef ícios, o que pode causar a migração de clientes da Endossante para outras instituições  f inanceiras, gerando a liquidação antecipada de parte das CCB existentes e/ou redução no  número de Direitos Creditórios cedidos. Referida competição poderá af etar os resultados da  Classe, impactando negativamente os rendimentos dos Cotistas. Ainda, a portabilidade a um  Devedor pode acarretar no recebimento de valores inf eriores aos esperados pela Classe.</a:t>
            </a:r>
          </a:p>
          <a:p>
            <a:r>
              <a:t> (viii) Insuf iciência dos Critérios de Elegibilidade. Os Critérios de Elegibilidade têm a  f inalidade de selecionar os Direitos Creditórios passíveis de aquisição pela Classe. Não  obstante tais Critérios de Elegibilidade, a solvência dos Direitos Creditórios que compõem a  Carteira depende integralmente, mas não somente, da situação econômico-financeira dos  Devedores. Dessa f orma, a observância pelo GESTOR dos Critérios de Elegibilidade não  constitui garantia de adimplência dos Devedores.</a:t>
            </a:r>
          </a:p>
          <a:p>
            <a:r>
              <a:t> Os Endossantes não necessariamente garantem a solvência dos seus respectivos Devedores.</a:t>
            </a:r>
          </a:p>
          <a:p>
            <a:r>
              <a:t> O Endossante dos Direitos Creditórios não assumirá responsabilidade pelo seu pagamento ou  pela solvência dos respectivos Devedores. A Classe sofrerá o impacto do inadimplemento dos  Direitos Creditórios vencidos e não pagos pelos respectivos Devedores.</a:t>
            </a:r>
          </a:p>
          <a:p>
            <a:r>
              <a:t> (ix) Possibilidade de aquisição de Direitos Creditórios cedidos por Endossante  e/ou devidos por Devedores cujas demonstrações financeiras não sejam auditadas. A Classe,  desde que sejam respeitados os limites de concentração previstos neste Regulamento, poderá  manter a qualquer tempo em sua Carteira, Direitos Creditórios cedidos por Endossante e/ou  devidos por Devedores cujas demonstrações f inanceiras não sejam auditadas por Auditor  Independente registrado na CVM. Nesse sentido, não haverá verificação independente sobre  tais demonstrações f inanceiras que af irme se estas representam adequadamente, em todos  os aspectos relevantes, as respectivas posições patrimoniais e f inanceiras, os resultados de  suas operações, as mutações de seus respectivos patrimônios líquidos tampouco as origens  e aplicações de seus recursos.</a:t>
            </a:r>
          </a:p>
          <a:p>
            <a:r>
              <a:t>CNPJ 54871427000194 · Devedor e consignação · Regulamento · ID 670691 · 2024-04-28 · versão 1 · p. 27 · 14.2 · https://fnet.bmfbovespa.com.br/fnet/publico/visualizarDocumento?id=670691</a:t>
            </a:r>
          </a:p>
          <a:p>
            <a:r>
              <a:t>CNPJ 54871427000194 · Devedor e consignação · Excerto da fonte:</a:t>
            </a:r>
          </a:p>
          <a:p>
            <a:r>
              <a:t>14.2 Todos os custos e despesas ref eridos neste Capítulo, inclusive para salvaguarda de direitos e  prerrogativas da Classe e/ou com a cobrança judicial e/ou extrajudicial de Direitos Creditórios  Inadimplidos, serão de inteira responsabilidade da Classe, não estando o ADMINISTRADOR, o  GESTOR, o Endossante, os Devedores, o CUSTODIANTE e quaisquer de suas respectivas pessoas  controladoras, sociedades por estes direta ou indiretamente controladas, a estes coligadas ou outras  sociedades sob controle comum, em conjunto ou isoladamente, obrigados pelo adiantamento ou  pagamento de valores relacionados aos procedimentos ref eridos neste Capítulo.</a:t>
            </a:r>
          </a:p>
          <a:p>
            <a:r>
              <a:t>CNPJ 54871427000194 · Devedor e consignação · Regulamento · ID 670691 · 2024-04-28 · versão 1 · p. 31 · https://fnet.bmfbovespa.com.br/fnet/publico/visualizarDocumento?id=670691</a:t>
            </a:r>
          </a:p>
          <a:p>
            <a:r>
              <a:t>CNPJ 54871427000194 · Devedor e consignação · Excerto da fonte:</a:t>
            </a:r>
          </a:p>
          <a:p>
            <a:r>
              <a:t>Anexo I ao Regulamento CLASSE ÚNICA DE RESPONSABILIDADE LIMITADA DO CONSIGNADO DELTA RECEIVABLES I FUNDO DE INVESTIMENTO EM DIREITOS CREDITÓRIOS  a resgates de suas Cotas e/ou poderá ser obrigado a se desfazer de tais Ativos Financeiros  de Liquidez em condições menos f avoráveis do que se não houvesse a ref erida situação de  f alta de liquidez.</a:t>
            </a:r>
          </a:p>
          <a:p>
            <a:r>
              <a:t> (iv) Liquidação antecipada do FUNDO ou da Classe. Observado o disposto neste  Regulamento, o FUNDO ou a Classe poderão ser liquidados antecipadamente, caso ocorra  qualquer Evento de Liquidação, ou se assim deliberado pelos Cotistas reunidos em  Assembleia Geral de Cotistas. Por este motivo, os Cotistas poderão ter seu horizonte original  de investimento reduzido e poderão não conseguir reinvestir os recursos recebidos com a  mesma remuneração buscada pela Classe, não sendo devida pela Classe, pelo  ADMINISTRADOR, pelo GESTOR ou pelo CUSTODIANTE qualquer multa ou penalidade, a  qualquer título, em decorrência desse f ato. Adicionalmente, ocorrendo qualquer uma das  hipóteses de liquidação antecipada do FUNDO ou da Classe, poderá não haver recursos  disponíveis em moeda corrente nacional para realizar o pagamento aos Cotistas, que poderão  ser pagos com os Direitos Creditórios e Ativos Financeiros de Liquidez detidos em Carteira, os  quais estão sujeitos aos riscos apontados no item (iii) acima.</a:t>
            </a:r>
          </a:p>
          <a:p>
            <a:r>
              <a:t> (v) Amortização condicionada das Cotas. A única f onte de recursos da Classe  para ef etuar o pagamento de resgate ou amortização das Cotas, conforme o caso, é a  liquidação: (i) dos Direitos Creditórios, pelos respectivos Devedores; e (ii) dos Ativos  Financeiros de Liquidez, pelas respectivas contrapartes. Após o recebimento desses recursos  e, se f or o caso, depois de esgotados todos os meios cabíveis para a cobrança, extrajudicial  ou judicial, dos referidos ativos, a Classe não disporá de quaisquer outras verbas para efetuar  o resgate ou amortização das Cotas, conforme o caso, o que poderá acarretar prejuízo aos  Cotistas.</a:t>
            </a:r>
          </a:p>
          <a:p>
            <a:r>
              <a:t> Ademais, a Classe está exposta a determinados riscos inerentes aos Direitos Creditórios e  Ativos Financeiros de Liquidez e aos mercados em que são negociados, incluindo a eventual  impossibilidade de alienar ativos em caso de necessidade, especialmente os Direitos  Creditórios, devido à inexistência de um mercado secundário ativo e organizado para a  negociação dessa espécie de ativo. Considerando-se a sujeição do resgate das Cotas à  liquidação dos Direitos Creditórios e/ou dos Ativos Financeiros de Liquidez, conforme descrito  acima, tanto o ADMINISTRADOR quanto o GESTOR e o CUSTODIANTE estão  impossibilitados de assegurar que os resgates das Cotas ocorrerão nas datas originalmente  previstas, não sendo devido, nesta hipótese, pela Classe ou qualquer outra pessoa, incluindo  o ADMINISTRADOR, o GESTOR e o CUSTODIANTE, qualquer multa ou penalidade, de  qualquer natureza.</a:t>
            </a:r>
          </a:p>
          <a:p>
            <a:r>
              <a:t> (vi) Ausência de classificação de risco das Cotas e Política de Investimentos  genérica. A ausência de requisitos rígidos relacionados aos Direitos Creditórios passíveis de  aquisição pela Classe poderá dificultar a def inição do perfil de risco da Carteira, af etando a  capacidade de o Cotista avaliar o risco de seu invest imento. As Cotas não possuem  classificação de risco emitida por Agência Classificadora de Risco. Esses f atores podem  dif icultar a avaliação, por parte dos investidores, da qualidade do crédito representado pelas  Cotas e com a capacidade da Classe em honrar com os pagamentos das Cotas.</a:t>
            </a:r>
          </a:p>
          <a:p>
            <a:r>
              <a:t>CNPJ 54871427000194 · Devedor e consignação · Condição: Documentos atuais selecionados no inventário por categoria/escopo; a data documental isolada não comprova vigência jurídica.</a:t>
            </a:r>
          </a:p>
          <a:p>
            <a:r>
              <a:t>CNPJ 54871427000194 · Devedor e consignação · Versão e prevalência: Documentos atuais selecionados no inventário por categoria/escopo; a data documental isolada não comprova vigência jurídica.</a:t>
            </a:r>
          </a:p>
          <a:p>
            <a:r>
              <a:t>CNPJ 54871427000194 · Devedor e consignação · Resumo do histórico: {"count": 2, "dates": ["2024-04-19", "2024-04-28"], "document_count": 2, "sources": [{"document_id": "670691", "title": "Regulamento", "reference_date": "2024-04-28", "version": "1", "page": "38", "url": "https://fnet.bmfbovespa.com.br/fnet/publico/visualizarDocumento?id=670691", "sha256": "bf16dd7f1a62d5cdbf2e2d54fef81783783f7310fbc99c3a8f00459bdf9d037b"}, {"document_id": "670689", "title": "Regulamento", "reference_date": "2024-04-19", "version": "1", "page": 30, "url": "https://fnet.bmfbovespa.com.br/fnet/publico/visualizarDocumento?id=670689", "sha256": "891bc9bc5d87bbc02ec139077a84d2702eb81ea02035fb71d24f5b8366b94a0b"}], "reference": {"path": "history/54871427000194.json", "criterion_id": "debtor", "total_count": 2, "preview_count": 2, "full_text_deferred": true, "sha256": "35d7cd99be50c7287c9fb675cf4f2e736002315295a225a9efa79c8d9186d874"}}</a:t>
            </a:r>
          </a:p>
          <a:p>
            <a:r>
              <a:t>CNPJ 60010416000112 · Devedor e consignação · Regulamento · ID 1051393 · 2025-10-09 · versão 1 · p. 35 · 15.1.4 · https://fnet.bmfbovespa.com.br/fnet/publico/visualizarDocumento?id=1051393</a:t>
            </a:r>
          </a:p>
          <a:p>
            <a:r>
              <a:t>CNPJ 60010416000112 · Devedor e consignação · Excerto da fonte:</a:t>
            </a:r>
          </a:p>
          <a:p>
            <a:r>
              <a:t>15.1.4 Riscos específicos</a:t>
            </a:r>
          </a:p>
          <a:p>
            <a:r>
              <a:t> (i)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 icar inadimplente e,  consequentemente, não haverá repasse à Classe do respectivo Direito Creditório, o que  poderá resultar em perdas f inanceiras à Classe e aos Cotistas.</a:t>
            </a:r>
          </a:p>
          <a:p>
            <a:r>
              <a:t> (ii) Risco do Empregador não efetuar o desconto em folha: o repasse dos recursos oriundos  dos Direitos Creditórios à Classe depende da realização, pelo Empregador, da Escrituração e  do desconto na respectiva f olha de pagamento do Devedor. Na hipótese do Empregador  deixar de realizar a Escrituração ou os descontos na folha de pagamento, não haverá repasse  de recursos à Classe, podendo causar prejuízos à Classe e aos Cotistas.</a:t>
            </a:r>
          </a:p>
          <a:p>
            <a:r>
              <a:t> (iii) Risco de perda do vínculo empregatício com o Empregador: caso o Devedor perca o  vínculo empregatício com o Empregador, não haverá remuneração e f olha de pagamento para  realização dos descontos para pagamento dos Direitos Creditórios. Neste caso, não obstante  a possibilidade do Agente de Retenção/Cobrança realizar a cobrança ativa dos Direitos  Creditórios diretamente do Devedor, a ausência de remuneração poderá deixar o Devedor  inadimplente perante a Classe até que o seu vínculo empregatício seja retomado e seja  ef etuado o procedimento operacional para que a CCB seja aditada e/ou seja realizado o  Processo de Reinicialização. Tais situações poderão resultar em prejuízos à Classe e aos  Cotistas.</a:t>
            </a:r>
          </a:p>
          <a:p>
            <a:r>
              <a:t>CNPJ 60010416000112 · Devedor e consignação · Regulamento · ID 1051393 · 2025-10-09 · versão 1 · p. 36 · https://fnet.bmfbovespa.com.br/fnet/publico/visualizarDocumento?id=1051393</a:t>
            </a:r>
          </a:p>
          <a:p>
            <a:r>
              <a:t>CNPJ 60010416000112 · Devedor e consignação · Excerto da fonte:</a:t>
            </a:r>
          </a:p>
          <a:p>
            <a:r>
              <a:t>Anexo I ao Regulamento CLASSE ÚNICA DO MT I CONSIGNADO PRIVADO I FUNDO DE INVESTIMENTO EM DIREITOS CREDITÓRIOS RESPONSABILIDADE LIMITADA  a qualquer momento, os recursos decorrentes dos Direitos Creditórios.</a:t>
            </a:r>
          </a:p>
          <a:p>
            <a:r>
              <a:t> (iii) Risco de validação das informações para conciliação e reconciliação dos Direitos  Creditórios adquiridos pela Classe: as inf ormações para conciliação dos pagamentos,  sendo considerado como tal, também, o Arquivo Dataprev, listando todos os empregados  cujas f olhas de pagamento serão sujeitas a desconto no mês relevante, nos valores acordados  ao ef etuar a Consignação, e qualquer glosa será enviada pela CEF ao Endossante, que  ef etuará a conciliação e, posteriormente, enviará as inf ormações ao Custodiante. Caso o  Endossante não f orneça essas inf ormações em tempo hábil ou f or verif icada qualquer  inconsistência nas informações recebidas pelo Custodiante, poderá isso impedir ou dar origem  a f alhas no processo de reconciliação dos valores depositados na Conta de Cobrança da  Classe e causando perdas à Classe e ao Cotista.</a:t>
            </a:r>
          </a:p>
          <a:p>
            <a:r>
              <a:t> (iv) Risco operacional dos sistemas: o desconto na f olha de pagamento do Devedor das  parcelas da CCB e a transf erência para o Endossante dos Direitos Creditórios serão  processados por um sistema controlado pela Dataprev, e o Endossante, o Administrador ou o  Gestor não têm controle sobre esse processo. Assim, qualquer f alha ou mudança nesse  sistema poderá atrasar ou reduzir o desconto dos rendimentos dos Devedores ou sua  transf erência para a Classe. Nesse caso, a rentabilidade e a propriedade da Classe poderão  ser adversamente af etadas enquanto o problema do sistema persistir, ou até que todos os  valores sejam devidamente transf eridos.</a:t>
            </a:r>
          </a:p>
          <a:p>
            <a:r>
              <a:t> (v) Risco operacional do Contrato: o desconto na f olha de pagamento das parcelas dos  empréstimos concedidos aos Devedores é permitido pelo Convênio Consignado Privado. As  partes do Convênio Consignado Privado devem seguir certas regras para manter o Convênio  Consignado Privado, e a violação delas poderá levar à sua rescisão. Além disso, mudanças  legais podem af etar e/ou tornar inviável a manutenção do Convênio Consignado Privado.</a:t>
            </a:r>
          </a:p>
          <a:p>
            <a:r>
              <a:t> No caso de rescisão do Convênio Consignado Privado, a estrutura de cobrança dos Direitos  Creditórios (desconto na f olha de pagamento) poderá ser comprometida, dando origem à  necessidade de adoção de uma nova estrutura, que poderá não ser tão eficaz quanto ela ou  mesmo revelar, na prática, ser inadequada ou ter altos custos operacionais. Esses eventos  podem levar a perdas patrimoniais para a Classe, na medida em que este deixará de receber,  def initiva ou temporariamente, recursos oriundos dos Direitos Creditórios, no todo ou em parte.</a:t>
            </a:r>
          </a:p>
          <a:p>
            <a:r>
              <a:t> Adicionalmente, de acordo com o Contrato de Endosso, a manutenção do Convênio  Consignado Privado é uma condição para a aquisição de novos Direitos Creditórios pela  Classe e, portanto, no caso de rescisão do Convênio Consignado Privado, a Classe poderá  ser impedido de adquirir novos Direitos Creditórios.</a:t>
            </a:r>
          </a:p>
          <a:p>
            <a:r>
              <a:t>CNPJ 60010416000112 · Devedor e consignação · Regulamento · ID 1051393 · 2025-10-09 · versão 1 · p. 31 · 13.2 · https://fnet.bmfbovespa.com.br/fnet/publico/visualizarDocumento?id=1051393</a:t>
            </a:r>
          </a:p>
          <a:p>
            <a:r>
              <a:t>CNPJ 60010416000112 · Devedor e consignação · Excerto da fonte:</a:t>
            </a:r>
          </a:p>
          <a:p>
            <a:r>
              <a:t>13.2 Todos os custos e despesas ref eridos neste Capítulo, inclusive para salvaguarda de direitos e  prerrogativas da Classe e/ou com a cobrança judicial e/ou extrajudicial de Direitos Creditórios Inadimplidos  ou Direitos Creditórios a Perf ormar, serão de inteira responsabilidade da Classe, não estando o  Administrador, o Gestor, o Endossante, os Devedores, o Custodiante e quaisquer de suas respectivas  pessoas controladoras, sociedades por estes direta ou indiretamente controladas, a estes coligadas ou  outras sociedades sob controle comum, em conjunto ou isoladamente, obrigados pelo adiantamento ou  pagamento de valores relacionados aos procedimentos ref eridos neste Capítulo.</a:t>
            </a:r>
          </a:p>
          <a:p>
            <a:r>
              <a:t>CNPJ 60010416000112 · Devedor e consignação · Condição: Documentos atuais selecionados no inventário por categoria/escopo; a data documental isolada não comprova vigência jurídica.</a:t>
            </a:r>
          </a:p>
          <a:p>
            <a:r>
              <a:t>CNPJ 60010416000112 · Devedor e consignação · Versão e prevalência: Documentos atuais selecionados no inventário por categoria/escopo; a data documental isolada não comprova vigência jurídica.</a:t>
            </a:r>
          </a:p>
          <a:p>
            <a:r>
              <a:t>CNPJ 60010416000112 · Devedor e consignação · Resumo do histórico: {"count": 2, "dates": ["2025-03-20", "2025-10-09"], "document_count": 2, "sources": [{"document_id": "1051393", "title": "Regulamento", "reference_date": "2025-10-09", "version": "1", "page": "9-10, 42", "url": "https://fnet.bmfbovespa.com.br/fnet/publico/visualizarDocumento?id=1051393", "sha256": "8469d613078ffd5a6c1d217885d8a397a16342c0b937ae4aa24b106505f233ae"}, {"document_id": "993786", "title": "Regulamento", "reference_date": "2025-03-20", "version": "1", "page": 35, "clause": "15.1.4", "url": "https://fnet.bmfbovespa.com.br/fnet/publico/visualizarDocumento?id=993786", "sha256": "fd0fdd369a195510d81f81f505195a0b09e5f43522a990afa7d58c4f872921c8"}], "reference": {"path": "history/60010416000112.json", "criterion_id": "debtor", "total_count": 2, "preview_count": 2, "full_text_deferred": true, "sha256": "8e2bd813f4c51cf01f6bfaad164bafe69d2bbb192f753eac92da3a01c2e63046"}}</a:t>
            </a:r>
          </a:p>
          <a:p>
            <a:r>
              <a:t>CNPJ 62696791000193 · Devedor e consignação · Regulamento · ID 1143317 · 2026-03-20 · versão 1 · p. 47 · 10.2 · https://fnet.bmfbovespa.com.br/fnet/publico/visualizarDocumento?id=1143317</a:t>
            </a:r>
          </a:p>
          <a:p>
            <a:r>
              <a:t>CNPJ 62696791000193 · Devedor e consignação · Excerto da fonte:</a:t>
            </a:r>
          </a:p>
          <a:p>
            <a:r>
              <a:t>10.2. As mudanças climáticas podem impactar severamente os ciclos produtivos de commodities  agrícolas, ocasionando, quebras de saf ra, volatilidade de preços, choques de of erta,  deterioração da qualidade dos produtos por elas atingidos, bem como interrupção no  abastecimento destes. Ref eridas mudanças podem af etar adversamente a capacidade  produtiva e de entrega dos produtos agrícolas pelos devedores, cenário este que impactará  negativamente a capacidade de pagamento dos Ativos-Alvo integrantes da carteira da Classe  pelos devedores e, conforme o caso, pelas pessoas devedoras dos bens e direitos onerados  em f avor da Classe.</a:t>
            </a:r>
          </a:p>
          <a:p>
            <a:r>
              <a:t>CNPJ 62696791000193 · Devedor e consignação · Condição: Documentos atuais selecionados no inventário por categoria/escopo; a data documental isolada não comprova vigência jurídica.</a:t>
            </a:r>
          </a:p>
          <a:p>
            <a:r>
              <a:t>CNPJ 62696791000193 · Devedor e consignação · Versão e prevalência: Documentos atuais selecionados no inventário por categoria/escopo; a data documental isolada não comprova vigência jurídica.</a:t>
            </a:r>
          </a:p>
          <a:p>
            <a:r>
              <a:t>CNPJ 55563624000109 · Devedor e consignação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Devedor e consignação · Resumo do histórico: {"count": 1, "dates": ["2026-04-30"], "document_count": 1, "sources": [{"document_id": "1192614", "title": "Regulamento", "reference_date": "2026-04-30", "version": "1", "page": "11-12", "url": "https://fnet.bmfbovespa.com.br/fnet/publico/visualizarDocumento?id=1192614", "sha256": "f56e63ace0acde41d2f47fb48f1ac7f3f7df5e2d32de092d7c5e075a52516632"}], "reference": {"path": "history/55563624000109.json", "criterion_id": "debtor", "total_count": 1, "preview_count": 1, "full_text_deferred": true, "sha256": "7835d573fb58a3c19adf5b8ecc2aee2bdbb9a88f7a0c0209b5f262b64c7522e3"}}</a:t>
            </a:r>
          </a:p>
          <a:p>
            <a:r>
              <a:t>CNPJ 62552447000120 · Devedor e consignação · Regulamento · ID 1200623 · 2026-05-21 · versão 1 · p. 35 · https://fnet.bmfbovespa.com.br/fnet/publico/visualizarDocumento?id=1200623</a:t>
            </a:r>
          </a:p>
          <a:p>
            <a:r>
              <a:t>CNPJ 62552447000120 · Devedor e consignação · Excerto da fonte:</a:t>
            </a:r>
          </a:p>
          <a:p>
            <a:r>
              <a:t>ativos desses emissores, causando perdas à Classe e ao Cotista. Além disso, a f alta de capacidade ou disposição de pagar por qualquer dos emissores dos Ativos Financeiros de Liquidez ou das contrapartes nas transações que compõem a Carteira causará perdas à Classe, e o que também poderá incorrer em custos para f ins de recuperação de seus recebíveis.</a:t>
            </a:r>
          </a:p>
          <a:p>
            <a:r>
              <a:t>(v) Riscos associados aos Devedores: no caso de Devedores no âmbito das operações de consignado privado, a sua capacidade de pagamento poderá ser af etada se, por exemplo, o Devedor tiver o seu contrato de emprego rescindido ou em virtude de decisão judicial, o Devedor for obrigado a pagar alimentos, que têm prioridade sobre o empréstimo para f ins de desconto na f 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 etar a rentabilidade da Classe. Já no caso de Devedores no âmbito das operações de Saque-aniversário, como os Direitos Creditórios a serem endossados à Classe serão descontados pelo FGTS da remuneração do Devedor, na ocorrência de qualquer evento que, nos termos da legislação aplicável, determine o pagamento antecipado do Saque-aniversário ao Devedor, a exemplo do falecimento do Devedor, dentre outros, as parcelas do Saque- aniversário serão pagas antecipadamente e a Classe deverá utilizar tais montantes no pré-pagamento dos Direitos Creditórios. Nesta hipótese, a Classe poderá não encontrar Direitos Creditórios disponíveis para serem adquiridos pela Classe, o que poderá af etar a rentabilidade da Classe.</a:t>
            </a:r>
          </a:p>
          <a:p>
            <a:r>
              <a:t>Risco de liquidez</a:t>
            </a:r>
          </a:p>
          <a:p>
            <a:r>
              <a:t>(i) Risco de liquidez: consiste no risco de redução ou inexistência de demanda pelos ativos que compõem a Classe nos respectivos mercados em que são negociados, devido às condições específicas desses ativos ou aos mercados em que são negociados. Devido a esses riscos, o Gestor poderá encontrar dificuldades em liquidar posições ou negociar esses ativos pelo preço e prazo desejados, de acordo com a estratégia de gestão adotada pela Classe, que permanecerá exposto, durante o período de baixa liquidez, aos riscos associados a esses ativos e posições assumidas em mercados de derivativos, se houver, que poderão até exigir que o Gestor aceite descontos em seus preços para realizar negociações no mercado. Esses f atores poderão prejudicar o pagamento de Amortizações ao Cotista, nos valores e dentro dos termos aqui estabelecidos.</a:t>
            </a:r>
          </a:p>
          <a:p>
            <a:r>
              <a:t>(ii) Riscos do mercado secundário: A Classe é constituída sob a f orma de condomínio fechado, de modo que as Cotas somente serão resgatadas em virtude da liquidação da Classe. Uma vez que o Prazo de Duração da Classe é indeterminado, o Cotista titular das Cotas não terá liquidez em seu investimento na Classe, exceto</a:t>
            </a:r>
          </a:p>
          <a:p>
            <a:r>
              <a:t>(a) por ocasião das Amortizações e dos resgates, nos termos deste Regulamento; (b) por meio da alienação de suas Cotas no mercado secundário; ou (c) na liquidação antecipada do FUNDO ou da Classe.</a:t>
            </a:r>
          </a:p>
          <a:p>
            <a:r>
              <a:t>Além disso, atualmente, o mercado secundário de cotas de fundos de investimento apresenta baixa liquidez, o que pode dificultar a venda das Cotas ou ocasionar a obtenção de um preço de venda que cause perda de patrimônio ao Cotista. Não há qualquer garantia do Administrador, do Gestor, da consultora ou do Custodiante em relação à possibilidade de venda das Cotas no mercado secundário ou ao preço obtido por elas, ou mesmo garantia de saída ao Cotista.</a:t>
            </a:r>
          </a:p>
          <a:p>
            <a:r>
              <a:t>Riscos específicos</a:t>
            </a:r>
          </a:p>
          <a:p>
            <a:r>
              <a:t>(i)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ficar inadimplente e, consequentemente, não haverá repasse à Classe do respectivo Direito Creditório, o que poderá resultar em perdas f inanceiras à Classe e aos Cotistas. Para os f ins deste Regulamento, “Empregador” signif ica a empresa com qual o Devedor mantém vínculo empregatício registrado junto à CTPS.</a:t>
            </a:r>
          </a:p>
          <a:p>
            <a:r>
              <a:t>(ii) Risco do Empregador não efetuar o desconto em folha: o repasse dos recursos oriundos dos Direitos Creditórios à Classe depende da realização, pelo Empregador, da escrituração da Consignação a ser</a:t>
            </a:r>
          </a:p>
          <a:p>
            <a:r>
              <a:t>CNPJ 62552447000120 · Devedor e consignação · Regulamento · ID 1200623 · 2026-05-21 · versão 1 · p. 36 · https://fnet.bmfbovespa.com.br/fnet/publico/visualizarDocumento?id=1200623</a:t>
            </a:r>
          </a:p>
          <a:p>
            <a:r>
              <a:t>CNPJ 62552447000120 · Devedor e consignação · Excerto da fonte:</a:t>
            </a:r>
          </a:p>
          <a:p>
            <a:r>
              <a:t>realizada pelo empregador, junto ao eSocial, após recebimento de notificação comunicando-o da contratação, pelo Devedor, do empréstimo a ser pago por Consignação (“Escrituração”), e do desconto na respectiva folha de pagamento do Devedor. Na hipótese do Empregador deixar de realizar a Escrituração ou os descontos na f olha de pagamento, não haverá repasse de recursos à Classe, podendo causar prejuízos à Classe e aos Cotistas.</a:t>
            </a:r>
          </a:p>
          <a:p>
            <a:r>
              <a:t>(iii) Risco de perda do vínculo empregatício com o Empregador: caso o Devedor perca o vínculo empregatício com o Empregador, não haverá remuneração e f olha de pagamento para realização dos descontos para pagamento dos Direitos Creditórios. Neste caso, não obstante a possibilidade do Agente de Retenção e Cobrança realizar a cobrança ativa dos Direitos Creditórios diretamente do Devedor, a ausência de remuneração poderá deixar o Devedor inadimplente perante a Classe até que o seu vínculo empregatício seja retomado e seja efetuado o procedimento operacional para que a CCB seja aditada e/ou seja realizado o Processo de Reinicialização. Tais situações poderão resultar em prejuízos à Classe e aos Cotistas.</a:t>
            </a:r>
          </a:p>
          <a:p>
            <a:r>
              <a:t>(iv) Risco relativo ao Agente de Retenção e Cobrança: A solvência do Agente de Retenção e Cobrança quanto às suas obrigações financeiras poderá impactar o cumprimento de suas obrigações perante a Classe e, consequentemente, os rendimentos da Classe poderão ser adversamente af etados.</a:t>
            </a:r>
          </a:p>
          <a:p>
            <a:r>
              <a:t>Riscos operacionais</a:t>
            </a:r>
          </a:p>
          <a:p>
            <a:r>
              <a:t>(i) Risco de irregularidade dos Documentos Comprobatórios e/ou Documentos Suporte: o terceiro contratado pelo Gestor, que atuará sob responsabilidade do Gestor, deverá realizar a verif icação da regularidade dos Documentos Comprobatórios. A Carteira poderá conter Direitos Creditórios com documentação irregular, o que poderá impedir que a Classe exerça plenamente as prerrogativas derivadas da titularidade dos Direitos Creditórios.</a:t>
            </a:r>
          </a:p>
          <a:p>
            <a:r>
              <a:t>(ii) Risco operacional da Dataprev e da CEF: o empréstimo contraído pelos Devedores é pago por meio de desconto na f olha de pagamento f eito pela Dataprev e pela CEF, conf orme aplicável. É possível que os rendimentos dos Devedores sejam atrasados ou não pagos devido a questões operacionais envolvendo a Dataprev e/ou a CEF. Nesse caso, a Carteira poderá sofrer, já que não receberá automaticamente, e também poderá ter dificuldades para receber, a qualquer momento, os recursos decorrentes dos Direitos Creditórios.</a:t>
            </a:r>
          </a:p>
          <a:p>
            <a:r>
              <a:t>(iii) Risco operacional do FGTS: o empréstimo contraído pelos Devedores é pago por meio de desconto dos Saques-aniversário feitos pelo FGTS. É possível que os rendimentos dos Devedores sejam atrasados ou não pagos devido a questões operacionais envolvendo a CEF, incluindo, sem se limitar, a erros e atrasos operacionais envolvendo a CEF. Nesse caso, a Carteira poderá sofrer, já que não receberá automaticamente, e também poderá ter dif iculdades para receber, a qualquer momento, os recursos decorrentes dos Direitos Creditórios.</a:t>
            </a:r>
          </a:p>
          <a:p>
            <a:r>
              <a:t>(iv) Risco de validação das informações para conciliação e reconciliação dos Direitos Creditórios adquiridos pela Classe: as inf ormações para conciliação dos pagamentos, sendo considerado como tal, também, o Arquivo Dataprev e o Arquivo de Liquidação Saque-aniversário, listando todos os empregados cujas f olhas de pagamento ou Saques Aniversário serão sujeitos a desconto no mês, nos valores acordados ao ef etuar a Consignação, e qualquer glosa será enviada pela CEF ao Endossante, que efetuará a conciliação e, posteriormente, enviará as informações ao Custodiante. Caso o Endossante não forneça essas informações em tempo hábil ou for verificada qualquer inconsistência nas informações recebidas pelo Custodiante, poderá isso impedir ou dar origem a falhas no processo de reconciliação dos valores depositados na Conta da Classe e causando perdas à Classe e ao Cotista.</a:t>
            </a:r>
          </a:p>
          <a:p>
            <a:r>
              <a:t>(v) Risco operacional dos sistemas: o desconto na f olha de pagamento e/ou nos Saques Aniversário das parcelas da CCB e a transf erência para o Endossante dos Direitos Creditórios serão processados por meio da Plataforma Dataprev, e o Endossante, o Administrador ou o Gestor não têm controle sobre esse processo.</a:t>
            </a:r>
          </a:p>
          <a:p>
            <a:r>
              <a:t>Assim, qualquer falha ou mudança nesse sistema poderá atrasar ou reduzir o desconto dos rendimentos dos Devedores ou sua transferência para a Classe. Nesse caso, a rentabilidade e a propriedade da Classe poderão ser adversamente af etadas enquanto o problema do sistema persistir, ou até que todos os valores sejam devidamente transf eridos.</a:t>
            </a:r>
          </a:p>
          <a:p>
            <a:r>
              <a:t>(vi) Risco operacional: em linha com as Cláusulas 4.3.1 e 4.3.2 do Anexo I deste Regulamento, o</a:t>
            </a:r>
          </a:p>
          <a:p>
            <a:r>
              <a:t>CNPJ 62552447000120 · Devedor e consignação · Regulamento · ID 1200623 · 2026-05-21 · versão 1 · p. 5 · https://fnet.bmfbovespa.com.br/fnet/publico/visualizarDocumento?id=1200623</a:t>
            </a:r>
          </a:p>
          <a:p>
            <a:r>
              <a:t>CNPJ 62552447000120 · Devedor e consignação · Excerto da fonte:</a:t>
            </a:r>
          </a:p>
          <a:p>
            <a:r>
              <a:t>O objetivo da Classe é proporcionar aos seus Cotistas a valorização de  suas Cotas por meio da aplicação de seu Patrimônio Líquido na aquisição  de:</a:t>
            </a:r>
          </a:p>
          <a:p>
            <a:r>
              <a:t> (i) “Direitos Creditórios”, assim entendidos como, em conjunto:</a:t>
            </a:r>
          </a:p>
          <a:p>
            <a:r>
              <a:t> (a) “Direitos Creditórios Consignado Privado”, na forma de  cédulas de crédito bancário, regidas pela Lei n.º 10.931,  de 2 de agosto de 2004, conforme alterada (“CCBs”),  emitidas eletronicamente por Devedores, em f avor do  Endossante, representando um empréstimo pessoal  consignado, de forma que o pagamento ocorra mediante  desconto de cada prestação vincenda da CCB na f olha  de pagamentos do Devedor (“Consignação”);</a:t>
            </a:r>
          </a:p>
          <a:p>
            <a:r>
              <a:t> (b) “Direitos Creditórios FGTS”, na f orma de CCBs  emitidas eletronicamente por Devedores, em f avor do  Objetivo Endossante, representando um empréstimo pessoal com  garantia de cessão f iduciária dos valores a que f azem jus  os Devedores ref erentes ao saque anual permitido aos  benef iciários do Fundo de Garantia do Tempo de Serviço  (“FGTS”) em seu mês de aniversário (“Saque-  aniversário”), regulado pela Lei n.º 8.036, de 11 de maio  de 1990, conforme alterada (“Lei 8.036”), nos termos dos  arts. 20, inciso XX, 20-A, inciso II, e 20-D, § 3º, da Lei</a:t>
            </a:r>
          </a:p>
          <a:p>
            <a:r>
              <a:t> 8.036, do art. 66-B da Lei n.º 4.728, de 14 de julho de  1965, e da Resolução CC/FGTS n.º 958, de 24 de abril  de 2020, conforme alterada (“Resolução FGTS 958”), de  f orma que parte do Saque-aniversário é utilizada para  liquidar as parcelas devidas da CCB;</a:t>
            </a:r>
          </a:p>
          <a:p>
            <a:r>
              <a:t> (c) “Direitos Creditórios TVM”, na f orma de direitos, títulos  e/ou valores mobiliários representativos de créditos  originados no âmbito de operações de sociedades</a:t>
            </a:r>
          </a:p>
          <a:p>
            <a:r>
              <a:t>CNPJ 62552447000120 · Devedor e consignação · Condição: Documentos atuais selecionados no inventário por categoria/escopo; a data documental isolada não comprova vigência jurídica.</a:t>
            </a:r>
          </a:p>
          <a:p>
            <a:r>
              <a:t>CNPJ 62552447000120 · Devedor e consignação · Versão e prevalência: Documentos atuais selecionados no inventário por categoria/escopo; a data documental isolada não comprova vigência jurídica.</a:t>
            </a:r>
          </a:p>
          <a:p>
            <a:r>
              <a:t>CNPJ 63953620000165 · Devedor e consignação · Anexo ao Regulamento · ID 1222863 · 2026-06-02 · versão 1 · p. 1 · 1.1 · https://fnet.bmfbovespa.com.br/fnet/publico/visualizarDocumento?id=1222863</a:t>
            </a:r>
          </a:p>
          <a:p>
            <a:r>
              <a:t>CNPJ 63953620000165 · Devedor e consignação · Excerto da fonte:</a:t>
            </a:r>
          </a:p>
          <a:p>
            <a:r>
              <a:t>1.1 As principais características da Classe Consignado Privado (para fins deste Anexo, “Classe”) estão descritas  abaixo:</a:t>
            </a:r>
          </a:p>
          <a:p>
            <a:r>
              <a:t> Tipo de Condomínio Fechado.</a:t>
            </a:r>
          </a:p>
          <a:p>
            <a:r>
              <a:t> Indeterminado, exceto se de outra forma vier a ser deliberado pelos Cotistas  Prazo de Duração  reunidos em Assembleia Especial de Cotistas. (“Prazo de Duração”)  Tipo “Financeiro”.</a:t>
            </a:r>
          </a:p>
          <a:p>
            <a:r>
              <a:t> Classificação ANBIMA  Foco de atuação “Créditos Consignados”.</a:t>
            </a:r>
          </a:p>
          <a:p>
            <a:r>
              <a:t> O objetivo da classe é proporcionar aos seus Cotistas a valorização de suas Cotas  por meio da aplicação de seu Patrimônio Líquido (conforme definido abaixo) na  aquisição de: (i) “Direitos Creditórios Crédito Consignado”, representados por  cédula de crédito bancário regida pela Lei nº 10.931, emitida eletronicamente por  um devedor em favor do endossante (“CCB”) e, consequentemente, os recebíveis  decorrente de cada uma das parcelas vincendas, representando um empréstimo  consignado concedido pelo endossante ao devedor, e cujo pagamento ordinário  é feito por desconto de cada prestação vincenda de uma CCB na folha de  pagamentos do devedor (“Consignação”), efetuada pela Caixa Econômica  Federal, de acordo com a legislação aplicável e em conformidade com os  procedimentos estabelecidos no convênio celebrado entre o Endossante e a  Empresa de Tecnologia e Informações da Previdência – DATAPREV e paga na  Conta Vinculada do Endossante (“Convênio Consignado Privado”); e/ou (ii)  “Direitos Creditórios TVM”, representados por direitos, títulos e/ou valores  mobiliários representativos de créditos originados no âmbito de operações de  sociedades integrantes do conglomerado econômico de instituições financeiras  classificadas como S1 pelo BACEN, desde que não representem títulos de  emissão ou coobrigação de instituições financeiras, bem como cotas de fundos  de investimento que invistam preponderantemente nestes direitos, títulos e/ou  Objetivo  valores mobiliários (Direitos Creditórios TVM quando referidos em conjunto  com os Direitos Creditórios Consignado Privado, “Direitos Creditórios”)  observados todos os limites de composição e diversificação da carteira da Classe  (“Carteira”), estabelecidos neste Regulamento e na regulamentação aplicável.</a:t>
            </a:r>
          </a:p>
          <a:p>
            <a:r>
              <a:t> Subsidiariamente, a parcela do Patrimônio Líquido que não esteja alocada em  Direitos Creditórios poderá estar alocado em: (1) certificados de depósito  bancário (CDB) ou recibos de depósito bancário (RDB) com prazo máximo de  vencimento equivalente ao prazo remanescente do Período de Investimento, com  liquidez diária, emitidos por Parati Crédito, Financiamento e Investimento S.A.</a:t>
            </a:r>
          </a:p>
          <a:p>
            <a:r>
              <a:t> e/ou pelo Endossante (“Ativos de Liquidez MT”); e/ou (2) (i) moeda corrente  nacional; (ii) títulos do Tesouro SELIC, anteriormente denominado letra financeira  do Tesouro Nacional (LFT); (iii) certificados de depósito bancário (CDB) ou recibos  de depósito bancário (RDB) com prazo máximo de vencimento equivalente ao  prazo remanescente do Período de Investimento, com liquidez diária, emitidos  por (a) Itaú Unibanco S.A.; (b) Banco Bradesco S.A.; (c) Caixa Econômica Federal;</a:t>
            </a:r>
          </a:p>
          <a:p>
            <a:r>
              <a:t> (d) Banco do Brasil S.A.; (e) Banco Santander (Brasil) S.A.; (f) Banco BTG Pactual  S.A.; (g) Banco Sistema S.A. (“Instituições Autorizadas”); (iv) operações  compromissadas, desde que lastreadas nos títulos mencionados nas alíneas (i) a</a:t>
            </a:r>
          </a:p>
          <a:p>
            <a:r>
              <a:t> (iii) acima, emitidas por Instituições Autorizadas, com liquidez diária e vencimento</a:t>
            </a:r>
          </a:p>
          <a:p>
            <a:r>
              <a:t>CNPJ 63953620000165 · Devedor e consignação · Anexo ao Regulamento · ID 1222863 · 2026-06-02 · versão 1 · p. 19 · 12.6 · https://fnet.bmfbovespa.com.br/fnet/publico/visualizarDocumento?id=1222863</a:t>
            </a:r>
          </a:p>
          <a:p>
            <a:r>
              <a:t>CNPJ 63953620000165 · Devedor e consignação · Excerto da fonte:</a:t>
            </a:r>
          </a:p>
          <a:p>
            <a:r>
              <a:t>12.6 A Classe contratou a Tudo Serviços S.A., sociedade anônima, com sede no município de Fortaleza, Estado do Ceará,  na Avenida Senador Virgulo Távora, nº 303, Lojas 02, 03, 04, 05, 06 e 19, Meireles, CEP 60.170-265, inscrita no CNPJ  sob o nº 27.852.506/0001-85, cujos deveres, sem prejuízo daqueles estabelecidos neste Regulamento, no  “Contrato de Serviços de Retenção e Cobrança e Outras Avenças”, celebrado entre o Agente de  Retenção/Cobrança e a Classe (“Contrato de Serviços MT”) e no Contrato de Endosso, consistirão no  monitoramento e cobrança dos Direitos Creditórios Inadimplidos, observado o disposto neste Anexo I e na  regulamentação aplicável (“Agente de Retenção/Cobrança”):</a:t>
            </a:r>
          </a:p>
          <a:p>
            <a:r>
              <a:t> (i) caso aplicável, atuar na retenção (defesa) de operações de empréstimo consignado cujos Direitos  Creditórios sejam de titularidade da Classe, em caso de tentativa de transferência de tais operações de  empréstimo consignado por instituições proponentes, nos termos da Resolução CMN nº 5.057, em razão de  ofertas de portabilidade feitas por tais instituições proponentes, conforme informado pelo Endossante ou pelo  Custodiante ao Agente de Retenção/Cobrança, diariamente, de acordo com o Contrato de Endosso; sendo  que tal serviço deverá incluir, entre outras atividades auxiliares a ele relacionadas, a avaliação das ofertas de  portabilidade feitas pelas instituições proponentes, buscando, se for o caso, esclarecer as vantagens de não  recorrer à portabilidade, retendo a respectiva operação de empréstimo consignado em seus termos atuais;</a:t>
            </a:r>
          </a:p>
          <a:p>
            <a:r>
              <a:t> (ii) mediante inadimplemento de um Direito Creditório devido à indisponibilidade da margem de crédito do  Devedor, auxiliar o Endossante com o Processo de Reinicialização (conforme detalhado no Contrato de  Endosso) em relação ao respectivo Direito Creditório;</a:t>
            </a:r>
          </a:p>
          <a:p>
            <a:r>
              <a:t> (iii) manter e operar um serviço de atendimento ao consumidor - SAC e uma ouvidoria em conformidade  com os regulamentos aplicáveis, monitorar e resolver reclamações e solicitações de Devedores com  relação às operações de empréstimo consignado que dão origem aos Direitos Creditórios, em  conformidade com o Acordo de Parceria;</a:t>
            </a:r>
          </a:p>
          <a:p>
            <a:r>
              <a:t> (iv) realizar a cobrança dos Direitos Creditórios Inadimplidos;</a:t>
            </a:r>
          </a:p>
          <a:p>
            <a:r>
              <a:t> (v) auxiliar o Endossante na correção de qualquer irregularidade relevante identificada com relação à  originação dos Direitos Creditórios;</a:t>
            </a:r>
          </a:p>
          <a:p>
            <a:r>
              <a:t> (vi) realizar a renegociação junto aos Devedores de Direitos Creditórios Inadimplidos e, caso aplicável, celebrar  aditamento à CCB para refletir os novos termos, decorrentes da renegociação  CAPÍTULO 13 – REMUNERAÇÃO DOS PRESTADORES DE SERVIÇOS  0,05% (cinco centésimos por cento) ao ano, apropriada diariamente na base de 252  (duzentos e cinquenta e dois) Dias Úteis, e paga mensalmente até o 5º (quinto) Dia  Útil do mês subsequente ao mês que se refere, incidente sobre o Patrimônio Líquido  da Classe alocado em Direitos Creditórios Consignado Privado e/ou Ativos de  Liquidez MT, observada remuneração mínima mensal de R$ 2.500,00 (dois mil e  quinhentos reais), a ser corrigida anualmente, em janeiro de cada ano, pela variação  Taxa de Administração  positiva do Índice Geral de Preços – Mercado, divulgado pela Fundação Getúlio  Vargas (“Taxa de Administração” e “IGP-M”, respectivamente).</a:t>
            </a:r>
          </a:p>
          <a:p>
            <a:r>
              <a:t> Na hipótese de extinção do IGP-M, não divulgação ou impossibilidade de sua  utilização, será utilizado o Índice Geral de Preços – Disponibilidade Interna,  divulgado pela Fundação Getúlio Vargas, ou, na falta de ambos, pela variação do IPC  – Índice de Preços ao Consumidor, divulgado pela Fundação Instituto de Pesquisas</a:t>
            </a:r>
          </a:p>
          <a:p>
            <a:r>
              <a:t>CNPJ 63953620000165 · Devedor e consignação · Anexo ao Regulamento · ID 1222863 · 2026-06-02 · versão 1 · p. 2 · https://fnet.bmfbovespa.com.br/fnet/publico/visualizarDocumento?id=1222863</a:t>
            </a:r>
          </a:p>
          <a:p>
            <a:r>
              <a:t>CNPJ 63953620000165 · Devedor e consignação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Devedor e consignação · Condição: Documentos atuais selecionados no inventário por categoria/escopo; a data documental isolada não comprova vigência jurídica.</a:t>
            </a:r>
          </a:p>
          <a:p>
            <a:r>
              <a:t>CNPJ 63953620000165 · Devedor e consignação · Versão e prevalência: Documentos atuais selecionados no inventário por categoria/escopo; a data documental isolada não comprova vigência jurídica.</a:t>
            </a:r>
          </a:p>
          <a:p>
            <a:r>
              <a:t>CNPJ 63953620000165 · Devedor e consignação · Resumo do histórico: {"count": 8, "dates": ["2026-04-28", "2026-05-08", "2026-05-15"], "document_count": 3, "sources": [{"document_id": "1327859", "title": "Demonstrações Financeiras - Fusão, cisão e incorporação", "reference_date": "2026-05-15", "version": "1", "page": 22, "url": "https://fnet.bmfbovespa.com.br/fnet/publico/visualizarDocumento?id=1327859", "sha256": "dca1c68babb97f887528c3e2e47596a9c30f507b067981a35655b2f2da9c8054"}, {"document_id": "1298691", "title": "Demonstrações Financeiras - Fusão, cisão e incorporação", "reference_date": "2026-05-08", "version": "1", "page": 22, "url": "https://fnet.bmfbovespa.com.br/fnet/publico/visualizarDocumento?id=1298691", "sha256": "58c570d9b8d4d265330d3db3ea81c435b8e44a6dab4002aa37790652a1ee9819"}, {"document_id": "1282180", "title": "Demonstrações Financeiras - Fusão, cisão e incorporação", "reference_date": "2026-04-28", "version": "1", "page": 22, "url": "https://fnet.bmfbovespa.com.br/fnet/publico/visualizarDocumento?id=1282180", "sha256": "afaaa0e6809be4385e5bdb6c911aac582032c5bdbac3d7750234bf9eaf00438a"}], "reference": {"path": "history/63953620000165.json", "criterion_id": "debtor", "total_count": 8, "preview_count": 3, "full_text_deferred": true, "sha256": "a7b89077f5e21098c2d601c303faabc3ff6b9729f89d8afecdc60fe1404720c1"}}</a:t>
            </a:r>
          </a:p>
          <a:p>
            <a:r>
              <a:t>CNPJ 54871427000194 · Elegibilidade · Regulamento · ID 670691 · 28/04/2024 · versão Regulamento — referência 28/04/2024 · p. 9 · Anexo I, 4.7(i)–(iv) · https://fnet.bmfbovespa.com.br/fnet/publico/visualizarDocumento?id=670691</a:t>
            </a:r>
          </a:p>
          <a:p>
            <a:r>
              <a:t>CNPJ 54871427000194 · Elegibilidade · Excerto da fonte:</a:t>
            </a:r>
          </a:p>
          <a:p>
            <a:r>
              <a:t>4.7 A Classe somente poderá adquirir os Direitos Creditórios que atendam cumulativamente aos seguintes Critérios de Elegibilidade, a serem verif icados e validados pelo GESTOR, de f orma individualizada e integral, previamente à cessão e na respectiva Data de Aquisição, de modo que apenas são passíveis de aquisição pela Classe os Direitos Creditórios que, na Data de Aquisição: (i) CCBs sem qualquer parcela cedida; (ii) CCBs com diferença menor que 60 (sessenta) dias entre a data provável do endosso e a próxima parcela a vencer; (iii) CCBs cujo valor da prestação seja superior a R$ 30,00 (trinta reais); (iv) Idade do Devedor somada ao prazo remanescente da CCB deve ser igual ou inferior a 80 (oitenta) anos; BTG Pactual SAC: 0800 772 28 27 - Ouvidoria: 0800 722 00 48 - btgpactual.com 3</a:t>
            </a:r>
          </a:p>
          <a:p>
            <a:r>
              <a:t>CNPJ 54871427000194 · Elegibilidade · Regulamento · ID 670691 · 28/04/2024 · versão Regulamento — referência 28/04/2024 · p. 10 · Anexo I, 4.7(v)–(xi) · https://fnet.bmfbovespa.com.br/fnet/publico/visualizarDocumento?id=670691</a:t>
            </a:r>
          </a:p>
          <a:p>
            <a:r>
              <a:t>CNPJ 54871427000194 · Elegibilidade · Excerto da fonte:</a:t>
            </a:r>
          </a:p>
          <a:p>
            <a:r>
              <a:t>(v) CCBs que até a Data do Endosso não estejam pendentes de res olução em relação a uma comprovada reclamação do devedor junto ao Banco Central do Brasil ou ao Procon; (vi) CCBs que não sejam originadas por pessoa física condenada por terem submetido trabalhadores a condições análogas à de escravo – denominada “Lista Suja”; (vii) CCBs sem parcela em atraso; (viii) Aquisição de todas as parcelas vincendas das CCBs, não sendo possível a aquisição de fluxo parcial; (ix) CCBs vinculadas ao órgão convenente, desde que o convênio não se encontre na Data de Aquisição em situação de suspensão; (x) Devedores adimplentes junto ao Endossante com relação aos Direitos Creditórios endossados à Classe; CCB cuja amortização ordinária dos valores devidos, nos últimos 60 (sessenta) dias, tenha ocorrido de f orma integral e ordinária. Na primeira tranche de aquisição de Direitos Creditórios pelo Endossatário tal prazo poderá ser reduzido para 30 (trinta) dias nos casos de amortização extraordinária (via boleto) desde que o valor de aquisição dos ref eridos Direitos Creditórios não ultrapasse R$ 30.000,00 (trinta mil reais), exc</a:t>
            </a:r>
          </a:p>
          <a:p>
            <a:r>
              <a:t>CNPJ 54871427000194 · Elegibilidade · Versão e prevalência: Leitura específica das cláusulas indicadas; condições e conflitos preservados. Seleção documental atual não comprova vigência jurídica por data isolada.</a:t>
            </a:r>
          </a:p>
          <a:p>
            <a:r>
              <a:t>CNPJ 54871427000194 · Elegibilidade · Resumo do histórico: {"count": 2, "dates": ["2024-04-19", "2024-04-28"], "document_count": 2, "sources": [{"document_id": "670691", "title": "Regulamento", "reference_date": "2024-04-28", "version": "1", "page": "9-10", "clause": "4.7", "url": "https://fnet.bmfbovespa.com.br/fnet/publico/visualizarDocumento?id=670691", "sha256": "bf16dd7f1a62d5cdbf2e2d54fef81783783f7310fbc99c3a8f00459bdf9d037b"}, {"document_id": "670689", "title": "Regulamento", "reference_date": "2024-04-19", "version": "1", "page": 10, "clause": "4.7.3", "url": "https://fnet.bmfbovespa.com.br/fnet/publico/visualizarDocumento?id=670689", "sha256": "891bc9bc5d87bbc02ec139077a84d2702eb81ea02035fb71d24f5b8366b94a0b"}], "reference": {"path": "history/54871427000194.json", "criterion_id": "eligibility", "total_count": 2, "preview_count": 2, "full_text_deferred": true, "sha256": "35d7cd99be50c7287c9fb675cf4f2e736002315295a225a9efa79c8d9186d874"}}</a:t>
            </a:r>
          </a:p>
          <a:p>
            <a:r>
              <a:t>CNPJ 60010416000112 · Elegibilidade · Regulamento · ID 1051393 · 2025-10-09 · versão 1 · p. 10 · 4.4.5 · https://fnet.bmfbovespa.com.br/fnet/publico/visualizarDocumento?id=1051393</a:t>
            </a:r>
          </a:p>
          <a:p>
            <a:r>
              <a:t>CNPJ 60010416000112 · Elegibilidade · Excerto da fonte:</a:t>
            </a:r>
          </a:p>
          <a:p>
            <a:r>
              <a:t>4.4.5. Caso um Direito Creditório endossado à Classe deixe de atender quaisquer Critérios de  Elegibilidade, quaisquer condições de endosso e/ou quaisquer declarações e garantias referentes  a esse Direito Creditório, conforme previsto no Contrato de Endosso, após seu endosso à Classe,  não haverá coobrigação nem direito de regresso da Classe contra o Endossante, o Administrador,  o Custodiante, o Gestor e/ou o Agente de Retenção/Cobrança, exceto em caso de má-fé, culpa  ou dolo comprovado, hipótese em que a parte que agiu com má-f é, culpa ou dolo comprovado  poderá ser responsabilizada pelas perdas incorridas pela Classe em relação aos respectivos  Direitos Creditórios. Se, entretanto, for constatado que um Direito Creditório endossado à Classe  não estava em conformidade com os Critérios de Elegibilidade, condições de endosso ou com as  declarações e garantias prestadas pelo Endossante no Contrato de Endosso, na respectiva data  de endosso, então o endosso desse Direito Creditório poderá ser objeto de resolução pela Classe.</a:t>
            </a:r>
          </a:p>
          <a:p>
            <a:r>
              <a:t> Nessa hipótese, a Classe terá o direito de resolver o endosso desse Direito Creditório, devolvendo-  o ao Endossante por valor a ser restituído à Classe. Adicionalmente, se f or constatado que um  Direito Creditório endossado à Classe não estava em conf ormidade com as declarações e  garantias prestadas pelo Agente de Retenção/Cobrança no Contrato de Endosso, na respectiva  data de endosso, então a Classe terá o direito de vender esse Direito Creditório ao Agente de  Retenção/Cobrança (opção de venda). A retrovenda ou a venda, conforme o caso, será realizada  de acordo com os termos, condições, formalidades e preços de recompra compulsória e opção de  venda detalhados no Contrato de Endosso.</a:t>
            </a:r>
          </a:p>
          <a:p>
            <a:r>
              <a:t>CNPJ 60010416000112 · Elegibilidade · Regulamento · ID 1051393 · 2025-10-09 · versão 1 · p. 9 · 4.3 · https://fnet.bmfbovespa.com.br/fnet/publico/visualizarDocumento?id=1051393</a:t>
            </a:r>
          </a:p>
          <a:p>
            <a:r>
              <a:t>CNPJ 60010416000112 · Elegibilidade · Excerto da fonte:</a:t>
            </a:r>
          </a:p>
          <a:p>
            <a:r>
              <a:t>4.3 Os Direitos Creditórios deverão contar com Documentos Comprobatórios que evidenciem sua existência,  validade e exequibilidade perante os respectivos Devedores.</a:t>
            </a:r>
          </a:p>
          <a:p>
            <a:r>
              <a:t> Critérios de Elegibilidade</a:t>
            </a:r>
          </a:p>
          <a:p>
            <a:r>
              <a:t>CNPJ 60010416000112 · Elegibilidade · Regulamento · ID 1051393 · 2025-10-09 · versão 1 · p. 9 · 4.4 · https://fnet.bmfbovespa.com.br/fnet/publico/visualizarDocumento?id=1051393</a:t>
            </a:r>
          </a:p>
          <a:p>
            <a:r>
              <a:t>CNPJ 60010416000112 · Elegibilidade · Excerto da fonte:</a:t>
            </a:r>
          </a:p>
          <a:p>
            <a:r>
              <a:t>4.4 A Classe somente poderá adquirir os Direitos Creditórios que atendam, cumulativamente, aos seguintes  Critérios de Elegibilidade, a serem verificados e validados pelo Gestor, de forma individualizada e integral,  previamente ao endosso do Direito Creditório, na respectiva Data de Aquisição:</a:t>
            </a:r>
          </a:p>
          <a:p>
            <a:r>
              <a:t> (i) os Direitos Creditórios deverão decorrer de empréstimo concedido pelo Endossante a um  Devedor, representado por uma CCB, com taxa de juros prefixada e vencimento final anterior  ao vencimento f inal da Classe;</a:t>
            </a:r>
          </a:p>
          <a:p>
            <a:r>
              <a:t>BTG Pactual SAC: 0800 772 28 27 - Ouvidoria: 0800 722 00 48 - btgpactual.com 9</a:t>
            </a:r>
          </a:p>
          <a:p>
            <a:r>
              <a:t>CNPJ 60010416000112 · Elegibilidade · Condição: Documentos atuais selecionados no inventário por categoria/escopo; a data documental isolada não comprova vigência jurídica.</a:t>
            </a:r>
          </a:p>
          <a:p>
            <a:r>
              <a:t>CNPJ 60010416000112 · Elegibilidade · Versão e prevalência: Documentos atuais selecionados no inventário por categoria/escopo; a data documental isolada não comprova vigência jurídica.</a:t>
            </a:r>
          </a:p>
          <a:p>
            <a:r>
              <a:t>CNPJ 60010416000112 · Elegibilidade · Resumo do histórico: {"count": 2, "dates": ["2025-03-20", "2025-10-09"], "document_count": 2, "sources": [{"document_id": "1051393", "title": "Regulamento", "reference_date": "2025-10-09", "version": "1", "page": "9-10", "clause": "4.4(ii)", "url": "https://fnet.bmfbovespa.com.br/fnet/publico/visualizarDocumento?id=1051393", "sha256": "8469d613078ffd5a6c1d217885d8a397a16342c0b937ae4aa24b106505f233ae"}, {"document_id": "993786", "title": "Regulamento", "reference_date": "2025-03-20", "version": "1", "page": 10, "clause": "4.4.5", "url": "https://fnet.bmfbovespa.com.br/fnet/publico/visualizarDocumento?id=993786", "sha256": "fd0fdd369a195510d81f81f505195a0b09e5f43522a990afa7d58c4f872921c8"}], "reference": {"path": "history/60010416000112.json", "criterion_id": "eligibility", "total_count": 2, "preview_count": 2, "full_text_deferred": true, "sha256": "8e2bd813f4c51cf01f6bfaad164bafe69d2bbb192f753eac92da3a01c2e63046"}}</a:t>
            </a:r>
          </a:p>
          <a:p>
            <a:r>
              <a:t>CNPJ 62696791000193 · Elegibilidade · Regulamento · ID 1143317 · 20/03/2026 · versão Regulamento — referência 20/03/2026 · p. 11 · Anexo I, 4.7–4.7.3 · https://fnet.bmfbovespa.com.br/fnet/publico/visualizarDocumento?id=1143317</a:t>
            </a:r>
          </a:p>
          <a:p>
            <a:r>
              <a:t>CNPJ 62696791000193 · Elegibilidade · Excerto da fonte:</a:t>
            </a:r>
          </a:p>
          <a:p>
            <a:r>
              <a:t>4.7 A Classe somente poderá adquirir os Direitos Creditórios do Agronegócio que atendam cumulativamente aos seguintes critérios de elegibilidade, a serem verificados e validados pelo Gestor, por amostragem, previamente à cessão e na respectiva data de aquisição dos Direitos Creditórios do Agronegócio (“Data de Aquisição”), de modo que apenas são passíveis de aquisição pela Classe os Direitos Creditórios do Agronegócio que, na Data de Aquisição (“Critérios de Elegibilidade”): (i) sejam representados em moeda corrente nacional; (ii) a natureza ou característica essencial dos Direitos Creditórios do Agronegócio deverá permitir o seu registro contábil e a sua custódia pelo Custodiante, de acordo com os procedimentos operacionais e contábeis praticados pelo Custodiante, ou seu registro em entidade registradora; (iii) sejam ativos de origem vinculada às cadeias produtivas do agronegócio ; e (iv) sejam representados por direitos e/ou títulos representativos de crédito, com ou sem garantias reais ou pessoais a eles atreladas, incluindo, sem limitação, duplicatas, debêntures, contratos de locação e contratos mercantis de compra e venda de produtos</a:t>
            </a:r>
          </a:p>
          <a:p>
            <a:r>
              <a:t>CNPJ 62696791000193 · Elegibilidade · Versão e prevalência: Leitura específica das cláusulas indicadas; condições e conflitos preservados. Seleção documental atual não comprova vigência jurídica por data isolada.</a:t>
            </a:r>
          </a:p>
          <a:p>
            <a:r>
              <a:t>CNPJ 55563624000109 · Elegibilidade · Regulamento · ID 1192614 · 30/04/2026 · versão Regulamento30/04/2026 · p. 12 · AnexoI4.6–4.8.2 · https://fnet.bmfbovespa.com.br/fnet/publico/visualizarDocumento?id=1192614</a:t>
            </a:r>
          </a:p>
          <a:p>
            <a:r>
              <a:t>CNPJ 55563624000109 · Elegibilidade · Excerto da fonte:</a:t>
            </a:r>
          </a:p>
          <a:p>
            <a:r>
              <a:t>4.6 As Cotas da Classe Investida deverão contar com Documentos Comprobatórios que evidenciem sua existência, validade e exequibilidade. 4.7 As Cotas da Classe Investida serão adquiridas pela Classe por meio: (i) de contratos de aquisição de Cotas da Classe Investida firmados entre a Classe e os respectivos vendedores das Cotas da Classe Investida; (ii) negociação em mercado organizado; e/ou (iii) da subscrição de Cotas da Classe Investida, colocadas de forma privada ou ofertadas publicamente, independentemente do regime de distribuição, observada a Política</a:t>
            </a:r>
          </a:p>
          <a:p>
            <a:r>
              <a:t>CNPJ 55563624000109 · Elegibilidade · Versão e prevalência: Leitura específica das cláusulas indicadas; condições e conflitos preservados. Seleção documental atual não comprova vigência jurídica por data isolada.</a:t>
            </a:r>
          </a:p>
          <a:p>
            <a:r>
              <a:t>CNPJ 55563624000109 · Elegibilidade · Resumo do histórico: {"count": 3, "dates": ["2025-01-31", "2026-01-31", "2026-04-30"], "document_count": 3, "sources": [{"document_id": "1192614", "title": "Regulamento", "reference_date": "2026-04-30", "version": "1", "page": "12", "url": "https://fnet.bmfbovespa.com.br/fnet/publico/visualizarDocumento?id=1192614", "sha256": "f56e63ace0acde41d2f47fb48f1ac7f3f7df5e2d32de092d7c5e075a52516632"}, {"document_id": "1178840", "title": "Demonstrações Financeiras", "reference_date": "2026-01-31", "version": "1", "page": 16, "url": "https://fnet.bmfbovespa.com.br/fnet/publico/visualizarDocumento?id=1178840", "sha256": "c458e98664c5c907ddb5a05a94b120bed4e05295b2bfc420f5ba69af0a229abe"}, {"document_id": "891861", "title": "Demonstrações Financeiras", "reference_date": "2025-01-31", "version": "1", "page": 16, "url": "https://fnet.bmfbovespa.com.br/fnet/publico/visualizarDocumento?id=891861", "sha256": "e9cb9e6ddbe505fe068cfcac33605165a98313489de0d3ce6d4d238263c3f3e7"}], "reference": {"path": "history/55563624000109.json", "criterion_id": "eligibility", "total_count": 3, "preview_count": 3, "full_text_deferred": true, "sha256": "7835d573fb58a3c19adf5b8ecc2aee2bdbb9a88f7a0c0209b5f262b64c7522e3"}}</a:t>
            </a:r>
          </a:p>
          <a:p>
            <a:r>
              <a:t>CNPJ 62552447000120 · Elegibilidade · Regulamento · ID 1200623 · 21/05/2026 · versão Consolidado21/05/2026 aprovado pelo ato1200625 · p. 6 · AnexoI1.2 Critérios(i)(a)–(b) · https://fnet.bmfbovespa.com.br/fnet/publico/visualizarDocumento?id=1200623</a:t>
            </a:r>
          </a:p>
          <a:p>
            <a:r>
              <a:t>CNPJ 62552447000120 · Elegibilidade · Excerto da fonte:</a:t>
            </a:r>
          </a:p>
          <a:p>
            <a:r>
              <a:t>Critérios de Elegibilidade”): (i) com relação a todos os Direitos Creditórios : (a) sejam representados em moeda corrente nacional; Critérios de Elegibilidade (b) a natureza ou característica essencial dos Direitos Creditórios deverá permitir o seu registro contábil e a sua custódia pelo Custodiante, de acordo com os procedimentos operacionais e contábeis praticados</a:t>
            </a:r>
          </a:p>
          <a:p>
            <a:r>
              <a:t>CNPJ 62552447000120 · Elegibilidade · Regulamento · ID 1200623 · 21/05/2026 · versão Consolidado21/05/2026 aprovado pelo ato1200625 · p. 7 · AnexoI1.2 Critérios(i)(c)–(v) · https://fnet.bmfbovespa.com.br/fnet/publico/visualizarDocumento?id=1200623</a:t>
            </a:r>
          </a:p>
          <a:p>
            <a:r>
              <a:t>CNPJ 62552447000120 · Elegibilidade · Excerto da fonte:</a:t>
            </a:r>
          </a:p>
          <a:p>
            <a:r>
              <a:t>(v) com relação aos Direitos Creditórios TVM: (a) representem, a qualquer momento, no máximo 10% (dez por cento) do Patrimônio Líquido. Sem prejuízo dos Critérios de Elegibilidade, a Classe somente poderá adquirir os Direitos Creditórios Ref inanciamento Livre, os Direitos Creditórios Consignado Privado e os Direitos Creditórios FGTS com relação aos quais tenha se verif icado as seguintes Condições de Endosso, na forma prevista na Cláusula 4.7 (“Co</a:t>
            </a:r>
          </a:p>
          <a:p>
            <a:r>
              <a:t>CNPJ 62552447000120 · Elegibilidade · Regulamento · ID 1200623 · 21/05/2026 · versão Consolidado21/05/2026 aprovado pelo ato1200625 · p. 12 · AnexoI4.6 · https://fnet.bmfbovespa.com.br/fnet/publico/visualizarDocumento?id=1200623</a:t>
            </a:r>
          </a:p>
          <a:p>
            <a:r>
              <a:t>CNPJ 62552447000120 · Elegibilidade · Excerto da fonte:</a:t>
            </a:r>
          </a:p>
          <a:p>
            <a:r>
              <a:t>4.6 A Classe somente poderá adquirir os Direitos Creditórios que, na data da sua aquisição (“Data de Aquisição”), atendam a todos os Critérios de Elegibilidade, a serem verif icados e validados pelo Gestor, de f orma individualizada e integral, e não por amostragem. 4.6.1 Para f ins da verificação dos Critérios de Elegibilidade, será considerado o Patrimônio Líquido e o valor dos Direitos Creditórios integrantes da Carteira no Dia Útil imediatamente anterior à Data de Aquisição. 4.6.2 Todos os Documentos Comprobatórios e, com relação a cada Direito Creditório, conforme apli</a:t>
            </a:r>
          </a:p>
          <a:p>
            <a:r>
              <a:t>CNPJ 62552447000120 · Elegibilidade · Versão e prevalência: Leitura específica das cláusulas indicadas; condições e conflitos preservados. Seleção documental atual não comprova vigência jurídica por data isolada.</a:t>
            </a:r>
          </a:p>
          <a:p>
            <a:r>
              <a:t>CNPJ 63953620000165 · Elegibilidade · Anexo ao Regulamento · ID 1222863 · 02/06/2026 · versão AnexoConsignadoPrivado02/06/2026 · p. 6 · 4.10–4.10.3 · https://fnet.bmfbovespa.com.br/fnet/publico/visualizarDocumento?id=1222863</a:t>
            </a:r>
          </a:p>
          <a:p>
            <a:r>
              <a:t>CNPJ 63953620000165 · Elegibilidade · Excerto da fonte:</a:t>
            </a:r>
          </a:p>
          <a:p>
            <a:r>
              <a:t>4.10 A Classe somente poderá adquirir os Direitos Creditórios que atendam cumulativamente aos Critérios de Elegibilidade, a serem verificados e validados pelo Gestor, de forma individualizada e integral, previamente à cessão e na respectiva data de aquisição dos Direitos Creditórios (“Data de Aquisição”), de modo que apenas são passíveis de aquisição pela Classe os Direitos Creditórios que, na Data de Aquisição, atendam a todos os Critérios de Elegibilidade. 4.10.1 Para fins da verificação dos Critérios de Elegibilidade, será considerado o Patrimônio Líquido e o valor dos Direitos Creditórios integrantes</a:t>
            </a:r>
          </a:p>
          <a:p>
            <a:r>
              <a:t>CNPJ 63953620000165 · Elegibilidade · Versão e prevalência: Leitura específica das cláusulas indicadas; condições e conflitos preservados. Seleção documental atual não comprova vigência jurídica por data isolada.</a:t>
            </a:r>
          </a:p>
          <a:p>
            <a:r>
              <a:t>CNPJ 63953620000165 · Elegibilidade · Resumo do histórico: {"count": 8, "dates": ["2026-04-28", "2026-05-08", "2026-05-15"], "document_count": 3, "sources": [{"document_id": "1327859", "title": "Demonstrações Financeiras - Fusão, cisão e incorporação", "reference_date": "2026-05-15", "version": "1", "page": 24, "url": "https://fnet.bmfbovespa.com.br/fnet/publico/visualizarDocumento?id=1327859", "sha256": "dca1c68babb97f887528c3e2e47596a9c30f507b067981a35655b2f2da9c8054"}, {"document_id": "1298691", "title": "Demonstrações Financeiras - Fusão, cisão e incorporação", "reference_date": "2026-05-08", "version": "1", "page": 24, "url": "https://fnet.bmfbovespa.com.br/fnet/publico/visualizarDocumento?id=1298691", "sha256": "58c570d9b8d4d265330d3db3ea81c435b8e44a6dab4002aa37790652a1ee9819"}, {"document_id": "1282180", "title": "Demonstrações Financeiras - Fusão, cisão e incorporação", "reference_date": "2026-04-28", "version": "1", "page": 25, "url": "https://fnet.bmfbovespa.com.br/fnet/publico/visualizarDocumento?id=1282180", "sha256": "afaaa0e6809be4385e5bdb6c911aac582032c5bdbac3d7750234bf9eaf00438a"}], "reference": {"path": "history/63953620000165.json", "criterion_id": "eligibility", "total_count": 8, "preview_count": 3, "full_text_deferred": true, "sha256": "a7b89077f5e21098c2d601c303faabc3ff6b9729f89d8afecdc60fe1404720c1"}}</a:t>
            </a:r>
          </a:p>
          <a:p>
            <a:r>
              <a:t>CNPJ 54871427000194 · Limites por contrato e devedor · Regulamento · ID 670691 · 28/04/2024 · versão Regulamento — referência 28/04/2024 · p. 10 · Anexo I, 4.7, parágrafo anterior ao inciso (xi) e inciso (xi) · https://fnet.bmfbovespa.com.br/fnet/publico/visualizarDocumento?id=670691</a:t>
            </a:r>
          </a:p>
          <a:p>
            <a:r>
              <a:t>CNPJ 54871427000194 · Limites por contrato e devedor · Excerto da fonte:</a:t>
            </a:r>
          </a:p>
          <a:p>
            <a:r>
              <a:t>CCB cuja amortização ordinária dos valores devidos, nos últimos 60 (sessenta) dias, tenha ocorrido de f orma integral e ordinária. Na primeira tranche de aquisição de Direitos Creditórios pelo Endossatário tal prazo poderá ser reduzido para 30 (trinta) dias nos casos de amortização extraordinária (via boleto) desde que o valor de aquisição dos ref eridos Direitos Creditórios não ultrapasse R$ 30.000,00 (trinta mil reais), exclusivamente via consignação em f olha de pagamento ou de benef ício; e (xi) Endosso de todas as CCBs de um mesmo Devedor que não ultrapasse 20% (vinte por cento) do patrimônio líquido da Classe. 4.7.1 Os Documentos Comprobatórios deverão ser disponibilizados pelo respectivo Endossante (a) no prazo de 10 (dez) dias contados da Data de Aquisição dos 50 (cinquenta) casos que sejam solicitados pelo GESTOR, a seu exclusivo critério, (b) a totalidade dos demais Documentos Comprobatórios em f ormato digital em até 90 (noventa) dias a contar da Data de Aquisição, bem como dos Documentos Comprobatórios em formato físico relativos aos Direitos Creditórios que eventualmente estejam inadimplidos em ref erida da</a:t>
            </a:r>
          </a:p>
          <a:p>
            <a:r>
              <a:t>CNPJ 54871427000194 · Limites por contrato e devedor · Condição: R$ 30 mil é teto da exceção de aquisição da primeira tranche; não é teto geral de cada CCB.</a:t>
            </a:r>
          </a:p>
          <a:p>
            <a:r>
              <a:t>CNPJ 54871427000194 · Limites por contrato e devedor · Motivo: Não localizada uma cláusula material para este critério nos textos identificados e processados. A ausência de resultado não comprova inexistência da regra.</a:t>
            </a:r>
          </a:p>
          <a:p>
            <a:r>
              <a:t>CNPJ 54871427000194 · Limites por contrato e devedor · Versão e prevalência: Leitura específica das cláusulas indicadas; condições e conflitos preservados. Seleção documental atual não comprova vigência jurídica por data isolada.</a:t>
            </a:r>
          </a:p>
          <a:p>
            <a:r>
              <a:t>CNPJ 60010416000112 · Limites por contrato e devedor · Regulamento · ID 1051393 · 09/10/2025 · versão Regulamento09/10/2025 · p. 10 · AnexoI4.4(ii), (iv),4.4.1 · https://fnet.bmfbovespa.com.br/fnet/publico/visualizarDocumento?id=1051393</a:t>
            </a:r>
          </a:p>
          <a:p>
            <a:r>
              <a:t>CNPJ 60010416000112 · Limites por contrato e devedor · Excerto da fonte:</a:t>
            </a:r>
          </a:p>
          <a:p>
            <a:r>
              <a:t>R$ 100.000,00 (cem mil reais), observado o disposto no item 4.4.1 abaixo; (iii) o prazo de vencimento das CCB representativas dos Direitos Creditórios deverá ser, no máximo, equivalente ao prazo máximo permitido pelas leis e regulamentações aplicáveis; e (iv) os Direitos Creditórios não poderão ser devidos por Devedores que tenham acima de 64 (sessenta e quatro) anos 11 (onze) meses e 29 (vinte e nove) dias na data de emissão da respectiva CCB. 4.4.1. O limite máximo de exposição da Classe por Devedor estabeleci</a:t>
            </a:r>
          </a:p>
          <a:p>
            <a:r>
              <a:t>CNPJ 60010416000112 · Limites por contrato e devedor · Condição: Prevalência da cláusula específica 4.4.1; limite privado do Contrato não foi presumido.</a:t>
            </a:r>
          </a:p>
          <a:p>
            <a:r>
              <a:t>CNPJ 60010416000112 · Limites por contrato e devedor · Motivo: Não localizada uma cláusula material para este critério nos textos identificados e processados. A ausência de resultado não comprova inexistência da regra.</a:t>
            </a:r>
          </a:p>
          <a:p>
            <a:r>
              <a:t>CNPJ 60010416000112 · Limites por contrato e devedor · Versão e prevalência: Leitura específica das cláusulas indicadas; condições e conflitos preservados. Seleção documental atual não comprova vigência jurídica por data isolada.</a:t>
            </a:r>
          </a:p>
          <a:p>
            <a:r>
              <a:t>CNPJ 62696791000193 · Limites por contrato e devedor · Motivo: Não localizada uma cláusula material para este critério nos textos identificados e processados. A ausência de resultado não comprova inexistência da regra.</a:t>
            </a:r>
          </a:p>
          <a:p>
            <a:r>
              <a:t>CNPJ 55563624000109 · Limites por contrato e devedor · Motivo: Não localizada uma cláusula material para este critério nos textos identificados e processados. A ausência de resultado não comprova inexistência da regra.</a:t>
            </a:r>
          </a:p>
          <a:p>
            <a:r>
              <a:t>CNPJ 62552447000120 · Limites por contrato e devedor · Motivo: Não localizada uma cláusula material para este critério nos textos identificados e processados. A ausência de resultado não comprova inexistência da regra.</a:t>
            </a:r>
          </a:p>
          <a:p>
            <a:r>
              <a:t>CNPJ 63953620000165 · Limites por contrato e devedor · Motivo: Não localizada uma cláusula material para este critério nos textos identificados e processados. A ausência de resultado não comprova inexistência da regra.</a:t>
            </a:r>
          </a:p>
          <a:p>
            <a:r>
              <a:t>CNPJ 54871427000194 · Prazo dos créditos e carência · Motivo: Não localizada uma cláusula material para este critério nos textos identificados e processados. A ausência de resultado não comprova inexistência da regra.</a:t>
            </a:r>
          </a:p>
          <a:p>
            <a:r>
              <a:t>CNPJ 60010416000112 · Prazo dos créditos e carência · Regulamento · ID 1051393 · 2025-10-09 · versão 1 · p. 11 · 4.5 · https://fnet.bmfbovespa.com.br/fnet/publico/visualizarDocumento?id=1051393</a:t>
            </a:r>
          </a:p>
          <a:p>
            <a:r>
              <a:t>CNPJ 60010416000112 · Prazo dos créditos e carência · Excerto da fonte:</a:t>
            </a:r>
          </a:p>
          <a:p>
            <a:r>
              <a:t>4.5 A parcela do Patrimônio Líquido que não estiver alocada em Direitos Creditórios será necessariamente  alocada no seguintes ativos (“Ativos Financeiros de Liquidez”).</a:t>
            </a:r>
          </a:p>
          <a:p>
            <a:r>
              <a:t> (i) moeda corrente nacional;</a:t>
            </a:r>
          </a:p>
          <a:p>
            <a:r>
              <a:t> (ii) títulos do Tesouro SELIC, anteriormente denominado letra f inanceira do Tesouro Nacional  (LFT);</a:t>
            </a:r>
          </a:p>
          <a:p>
            <a:r>
              <a:t> (iii) certif icados de depósito bancário (CDB) ou recibos de depósito bancário (RDB) com prazo  máximo de vencimento equivalente ao prazo remanescente do Período de Investimento, com  liquidez diária, emitidos por Instituições Autorizadas e/ou pelo Endossante, sendo certo que  os certif icados de depósito bancário (CDB) e recibos de depósito bancário (RDB) emitidos  pelo Endossante e integrantes da carteira da Classe não poderão exceder o valor de R$</a:t>
            </a:r>
          </a:p>
          <a:p>
            <a:r>
              <a:t> 25.000.000,00 (vinte e cinco milhões de reais);</a:t>
            </a:r>
          </a:p>
          <a:p>
            <a:r>
              <a:t> (iv) operações compromissadas, desde que lastreadas nos títulos mencionados nas alíneas (i) a</a:t>
            </a:r>
          </a:p>
          <a:p>
            <a:r>
              <a:t> (iii) acima, emitidas por Instituições Autorizadas, com liquidez diária e vencimento inferior a  365 (trezentos e sessenta e cinco) dias; e</a:t>
            </a:r>
          </a:p>
          <a:p>
            <a:r>
              <a:t> (v) cotas de classes de f undos de investimentos de renda f ixa ou indexados à Taxa DI com  liquidez diária, cujas políticas de investimento admitam a alocação de recursos  exclusivamente nos ativos das alíneas (ii) e (iii) acima, incluindo f undos geridos e/ou  administrados pelo Administrador, pelo Custodiante e/ou pelo Gestor.</a:t>
            </a:r>
          </a:p>
          <a:p>
            <a:r>
              <a:t>Limites de Concentração e Vedações para a Composição da Carteira</a:t>
            </a:r>
          </a:p>
          <a:p>
            <a:r>
              <a:t>CNPJ 60010416000112 · Prazo dos créditos e carência · Regulamento · ID 1051393 · 2025-10-09 · versão 1 · p. 10 · https://fnet.bmfbovespa.com.br/fnet/publico/visualizarDocumento?id=1051393</a:t>
            </a:r>
          </a:p>
          <a:p>
            <a:r>
              <a:t>CNPJ 60010416000112 · Prazo dos créditos e carência · Excerto da fonte:</a:t>
            </a:r>
          </a:p>
          <a:p>
            <a:r>
              <a:t>Anexo I ao Regulamento CLASSE ÚNICA DO MT I CONSIGNADO PRIVADO I FUNDO DE INVESTIMENTO EM DIREITOS CREDITÓRIOS RESPONSABILIDADE LIMITADA</a:t>
            </a:r>
          </a:p>
          <a:p>
            <a:r>
              <a:t> (ii) o saldo dos Direitos Creditórios devidos pelo mesmo Devedor à Classe, considerando, pro  forma, o endosso pretendido, não deverá exceder R$ 100.000,00 (cem mil reais), observado  o disposto no item 4.4.1 abaixo;</a:t>
            </a:r>
          </a:p>
          <a:p>
            <a:r>
              <a:t> (iii) o prazo de vencimento das CCB representativas dos Direitos Creditórios deverá ser, no  máximo, equivalente ao prazo máximo permitido pelas leis e regulamentações aplicáveis; e</a:t>
            </a:r>
          </a:p>
          <a:p>
            <a:r>
              <a:t> (iv) os Direitos Creditórios não poderão ser devidos por Devedores que tenham acima de 64  (sessenta e quatro) anos 11 (onze) meses e 29 (vinte e nove) dias na data de emissão da  respectiva CCB.</a:t>
            </a:r>
          </a:p>
          <a:p>
            <a:r>
              <a:t>CNPJ 60010416000112 · Prazo dos créditos e carência · Condição: Documentos atuais selecionados no inventário por categoria/escopo; a data documental isolada não comprova vigência jurídica.</a:t>
            </a:r>
          </a:p>
          <a:p>
            <a:r>
              <a:t>CNPJ 60010416000112 · Prazo dos créditos e carência · Versão e prevalência: Documentos atuais selecionados no inventário por categoria/escopo; a data documental isolada não comprova vigência jurídica.</a:t>
            </a:r>
          </a:p>
          <a:p>
            <a:r>
              <a:t>CNPJ 60010416000112 · Prazo dos créditos e carência · Resumo do histórico: {"count": 1, "dates": ["2025-03-20"], "document_count": 1, "sources": [{"document_id": "993786", "title": "Regulamento", "reference_date": "2025-03-20", "version": "1", "page": 11, "clause": "4.5", "url": "https://fnet.bmfbovespa.com.br/fnet/publico/visualizarDocumento?id=993786", "sha256": "fd0fdd369a195510d81f81f505195a0b09e5f43522a990afa7d58c4f872921c8"}], "reference": {"path": "history/60010416000112.json", "criterion_id": "term", "total_count": 1, "preview_count": 1, "full_text_deferred": true, "sha256": "8e2bd813f4c51cf01f6bfaad164bafe69d2bbb192f753eac92da3a01c2e63046"}}</a:t>
            </a:r>
          </a:p>
          <a:p>
            <a:r>
              <a:t>CNPJ 62696791000193 · Prazo dos créditos e carência · Motivo: Não localizada uma cláusula material para este critério nos textos identificados e processados. A ausência de resultado não comprova inexistência da regra.</a:t>
            </a:r>
          </a:p>
          <a:p>
            <a:r>
              <a:t>CNPJ 55563624000109 · Prazo dos créditos e carência · Motivo: Não localizada uma cláusula material para este critério nos textos identificados e processados. A ausência de resultado não comprova inexistência da regra.</a:t>
            </a:r>
          </a:p>
          <a:p>
            <a:r>
              <a:t>CNPJ 62552447000120 · Prazo dos créditos e carência · Motivo: Não localizada uma cláusula material para este critério nos textos identificados e processados. A ausência de resultado não comprova inexistência da regra.</a:t>
            </a:r>
          </a:p>
          <a:p>
            <a:r>
              <a:t>CNPJ 63953620000165 · Prazo dos créditos e carência · Anexo ao Regulamento · ID 1222863 · 2026-06-02 · versão 1 · p. 2 · https://fnet.bmfbovespa.com.br/fnet/publico/visualizarDocumento?id=1222863</a:t>
            </a:r>
          </a:p>
          <a:p>
            <a:r>
              <a:t>CNPJ 63953620000165 · Prazo dos créditos e carência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Prazo dos créditos e carência · Condição: Documentos atuais selecionados no inventário por categoria/escopo; a data documental isolada não comprova vigência jurídica.</a:t>
            </a:r>
          </a:p>
          <a:p>
            <a:r>
              <a:t>CNPJ 63953620000165 · Prazo dos créditos e carência · Versão e prevalência: Documentos atuais selecionados no inventário por categoria/escopo; a data documental isolada não comprova vigência jurídica.</a:t>
            </a:r>
          </a:p>
          <a:p>
            <a:r>
              <a:t>CNPJ 63953620000165 · Prazo dos créditos e carência · Resumo do histórico: {"count": 8, "dates": ["2026-04-28", "2026-05-08", "2026-05-15"], "document_count": 3, "sources": [{"document_id": "1327859", "title": "Demonstrações Financeiras - Fusão, cisão e incorporação", "reference_date": "2026-05-15", "version": "1", "page": 16, "url": "https://fnet.bmfbovespa.com.br/fnet/publico/visualizarDocumento?id=1327859", "sha256": "dca1c68babb97f887528c3e2e47596a9c30f507b067981a35655b2f2da9c8054"}, {"document_id": "1298691", "title": "Demonstrações Financeiras - Fusão, cisão e incorporação", "reference_date": "2026-05-08", "version": "1", "page": 16, "url": "https://fnet.bmfbovespa.com.br/fnet/publico/visualizarDocumento?id=1298691", "sha256": "58c570d9b8d4d265330d3db3ea81c435b8e44a6dab4002aa37790652a1ee9819"}, {"document_id": "1282180", "title": "Demonstrações Financeiras - Fusão, cisão e incorporação", "reference_date": "2026-04-28", "version": "1", "page": 16, "url": "https://fnet.bmfbovespa.com.br/fnet/publico/visualizarDocumento?id=1282180", "sha256": "afaaa0e6809be4385e5bdb6c911aac582032c5bdbac3d7750234bf9eaf00438a"}], "reference": {"path": "history/63953620000165.json", "criterion_id": "term", "total_count": 8, "preview_count": 3, "full_text_deferred": true, "sha256": "a7b89077f5e21098c2d601c303faabc3ff6b9729f89d8afecdc60fe1404720c1"}}</a:t>
            </a:r>
          </a:p>
          <a:p>
            <a:r>
              <a:t>CNPJ 54871427000194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null, "comparison_required": true, "context_formula": "", "context_value": null, "context_unit": ""}</a:t>
            </a:r>
          </a:p>
          <a:p>
            <a:r>
              <a:t>CNPJ 54871427000194 · Concentração por devedor, cedente e grupo · Regulamento · ID 670691 · 28/04/2024 · versão Regulamento — referência 28/04/2024 · p. 11 · Anexo I, 4.10 e 4.11.2–4.11.4 · https://fnet.bmfbovespa.com.br/fnet/publico/visualizarDocumento?id=670691</a:t>
            </a:r>
          </a:p>
          <a:p>
            <a:r>
              <a:t>CNPJ 54871427000194 · Concentração por devedor, cedente e grupo · Excerto da fonte:</a:t>
            </a:r>
          </a:p>
          <a:p>
            <a:r>
              <a:t>4.10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4.11 A Classe poderá, direta ou indiretamente e, nos termos da legislação aplicável: (i) adquirir Direitos Creditórios que sejam cedidos e/ou originados pelo ADMINISTRADOR e/ou pelo GESTOR, ou partes a eles relacionadas, tal como definidas pelas regras contábeis que tratam desse assunto; e (ii) ceder Direitos Creditórios a qualquer das pessoas, fundos de investimento ou entidades referidas no item (i) acima, desde que (i) o ADMINISTRADOR, GESTOR, a entidade registradora e o CUSTODIANTE de Direitos Creditórios não sejam partes relacionadas entre si; e (ii) a entidade registradora e o</a:t>
            </a:r>
          </a:p>
          <a:p>
            <a:r>
              <a:t>CNPJ 54871427000194 · Concentração por devedor, cedente e grupo · Regulamento · ID 670691 · 28/04/2024 · versão Regulamento — referência 28/04/2024 · p. 10 · Anexo I, 4.7(xi) · https://fnet.bmfbovespa.com.br/fnet/publico/visualizarDocumento?id=670691</a:t>
            </a:r>
          </a:p>
          <a:p>
            <a:r>
              <a:t>CNPJ 54871427000194 · Concentração por devedor, cedente e grupo · Excerto da fonte:</a:t>
            </a:r>
          </a:p>
          <a:p>
            <a:r>
              <a:t>(xi) Endosso de todas as CCBs de um mesmo Devedor que não ultrapasse 20% (vinte por cento) do patrimônio líquido da Classe. 4.7.1 Os Documentos Comprobatórios deverão ser disponibilizados pelo respectivo Endossante (a) no prazo de 10 (dez) dias contados da Data de Aquisição dos 50 (cinquenta) casos que sejam solicitados pelo GESTOR, a seu exclusivo critério, (b) a totalidade dos demais Documentos Comprobatórios em f ormato digital em até 90 (noventa) dias a contar da Data de Aquisição, bem como dos Documentos Comprobatórios em formato físico relativos aos Direitos Creditórios que eventualmente estejam inadimplidos em ref erida data, e (c) a totalidade dos demais Documentos Comprobatórios em f ormato f ísico em até 180 (cento e oitenta) dias a contar da Data de Aquisição, sujeito à resolução do respectivo endosso, de acordo com os termos do Contrato de Endosso. 4.7.2 Caso um Direito Creditório cedido à Classe deixe de atender quaisquer Critérios de Elegibilidade e/ou quaisquer declarações e garantias ref erentes a esse Direito Creditório, conf orme previsto no respectivo Contrato de Endosso, após seu endosso à</a:t>
            </a:r>
          </a:p>
          <a:p>
            <a:r>
              <a:t>CNPJ 54871427000194 · Concentração por devedor, cedente e grupo · Condição: Na aquisição, o critério específico de 20% restringe o permissivo geral de 100%. Uma concentração observada no IME exige base e devedor identificados.</a:t>
            </a:r>
          </a:p>
          <a:p>
            <a:r>
              <a:t>CNPJ 54871427000194 · Concentração por devedor, cedente e grupo · Versão e prevalência: Leitura específica das cláusulas indicadas; condições e conflitos preservados. Seleção documental atual não comprova vigência jurídica por data isolada.</a:t>
            </a:r>
          </a:p>
          <a:p>
            <a:r>
              <a:t>CNPJ 54871427000194 · Concentração por devedor, cedente e grupo · Resumo do histórico: {"count": 2, "dates": ["2024-04-19", "2024-04-28"], "document_count": 2, "sources": [{"document_id": "670691", "title": "Regulamento", "reference_date": "2024-04-28", "version": "1", "page": "10-11", "url": "https://fnet.bmfbovespa.com.br/fnet/publico/visualizarDocumento?id=670691", "sha256": "bf16dd7f1a62d5cdbf2e2d54fef81783783f7310fbc99c3a8f00459bdf9d037b"}, {"document_id": "670689", "title": "Regulamento", "reference_date": "2024-04-19", "version": "1", "page": 11, "clause": "4.10", "url": "https://fnet.bmfbovespa.com.br/fnet/publico/visualizarDocumento?id=670689", "sha256": "891bc9bc5d87bbc02ec139077a84d2702eb81ea02035fb71d24f5b8366b94a0b"}], "reference": {"path": "history/54871427000194.json", "criterion_id": "concentration", "total_count": 2, "preview_count": 2, "full_text_deferred": true, "sha256": "35d7cd99be50c7287c9fb675cf4f2e736002315295a225a9efa79c8d9186d874"}}</a:t>
            </a:r>
          </a:p>
          <a:p>
            <a:r>
              <a:t>CNPJ 60010416000112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null, "comparison_required": true, "context_formula": "", "context_value": null, "context_unit": ""}</a:t>
            </a:r>
          </a:p>
          <a:p>
            <a:r>
              <a:t>CNPJ 60010416000112 · Concentração por devedor, cedente e grupo · Regulamento · ID 1051393 · 09/10/2025 · versão Regulamento09/10/2025 · p. 11 · AnexoI4.4.9(iv),4.5(iii) · https://fnet.bmfbovespa.com.br/fnet/publico/visualizarDocumento?id=1051393</a:t>
            </a:r>
          </a:p>
          <a:p>
            <a:r>
              <a:t>CNPJ 60010416000112 · Concentração por devedor, cedente e grupo · Excerto da fonte:</a:t>
            </a:r>
          </a:p>
          <a:p>
            <a:r>
              <a:t>3,00% (três por cento) do Patrimônio Líquido da Classe. Ativos Financeiros de Liquidez 4.5 A parcela do Patrimônio Líquido que não estiver alocada em Direitos Creditórios será necessariamente alocada no seguintes ativos (“Ativos Financeiros de Liquidez”). (i) moeda corrente nacional; (ii) títulos do Tesouro SELIC, anteriormente denominado letra f inanceira do Tesouro Nacional (LFT); (iii) certif icados de depósito bancário (CDB) ou recibos de depósito bancário (RDB) com prazo máximo de vencimento equivalente ao prazo remanescente</a:t>
            </a:r>
          </a:p>
          <a:p>
            <a:r>
              <a:t>CNPJ 60010416000112 · Concentração por devedor, cedente e grupo · Regulamento · ID 1051393 · 09/10/2025 · versão Regulamento09/10/2025 · p. 12 · AnexoI4.7–4.8 · https://fnet.bmfbovespa.com.br/fnet/publico/visualizarDocumento?id=1051393</a:t>
            </a:r>
          </a:p>
          <a:p>
            <a:r>
              <a:t>CNPJ 60010416000112 · Concentração por devedor, cedente e grupo · Excerto da fonte:</a:t>
            </a:r>
          </a:p>
          <a:p>
            <a:r>
              <a:t>4.7 A Classe deverá observar, ainda, os limites de concentração definidos na Política de Crédito, que integra o Contrato de Endosso como Anexo 3.2(v). 4.8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a:t>
            </a:r>
          </a:p>
          <a:p>
            <a:r>
              <a:t>CNPJ 60010416000112 · Concentração por devedor, cedente e grupo · Versão e prevalência: Leitura específica das cláusulas indicadas; condições e conflitos preservados. Seleção documental atual não comprova vigência jurídica por data isolada.</a:t>
            </a:r>
          </a:p>
          <a:p>
            <a:r>
              <a:t>CNPJ 60010416000112 · Concentração por devedor, cedente e grupo · Resumo do histórico: {"count": 2, "dates": ["2025-03-20", "2025-10-09"], "document_count": 2, "sources": [{"document_id": "1051393", "title": "Regulamento", "reference_date": "2025-10-09", "version": "1", "page": "11-12", "url": "https://fnet.bmfbovespa.com.br/fnet/publico/visualizarDocumento?id=1051393", "sha256": "8469d613078ffd5a6c1d217885d8a397a16342c0b937ae4aa24b106505f233ae"}, {"document_id": "993786", "title": "Regulamento", "reference_date": "2025-03-20", "version": "1", "page": 12, "clause": "4.8", "url": "https://fnet.bmfbovespa.com.br/fnet/publico/visualizarDocumento?id=993786", "sha256": "fd0fdd369a195510d81f81f505195a0b09e5f43522a990afa7d58c4f872921c8"}], "reference": {"path": "history/60010416000112.json", "criterion_id": "concentration", "total_count": 2, "preview_count": 2, "full_text_deferred": true, "sha256": "8e2bd813f4c51cf01f6bfaad164bafe69d2bbb192f753eac92da3a01c2e63046"}}</a:t>
            </a:r>
          </a:p>
          <a:p>
            <a:r>
              <a:t>CNPJ 62696791000193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null, "comparison_required": true, "context_formula": "", "context_value": null, "context_unit": ""}</a:t>
            </a:r>
          </a:p>
          <a:p>
            <a:r>
              <a:t>CNPJ 62696791000193 · Concentração por devedor, cedente e grupo · Regulamento · ID 1143317 · 20/03/2026 · versão Regulamento — referência 20/03/2026 · p. 11 · Anexo I, 4.8–4.9 · https://fnet.bmfbovespa.com.br/fnet/publico/visualizarDocumento?id=1143317</a:t>
            </a:r>
          </a:p>
          <a:p>
            <a:r>
              <a:t>CNPJ 62696791000193 · Concentração por devedor, cedente e grupo · Excerto da fonte:</a:t>
            </a:r>
          </a:p>
          <a:p>
            <a:r>
              <a:t>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relacionadas ao Gestor. 4.8.1 As aplicações em Direitos Creditórios do Agronegócio decorrentes de receitas públicas originárias ou derivadas da União, dos Estados, do Distrito Federal e dos Municípios ou de suas autarquias e f undações, assim como em Direitos Creditórios do Agronegócio cedidos ou originados por empresas controladas pelo poder público, não estão submetidas ao limite de concentração por emissor previsto no caput. 4.9 Nos termos do Art. 45 do Anexo</a:t>
            </a:r>
          </a:p>
          <a:p>
            <a:r>
              <a:t>CNPJ 62696791000193 · Concentração por devedor, cedente e grupo · Regulamento · ID 1143317 · 20/03/2026 · versão Regulamento — referência 20/03/2026 · p. 12 · Anexo I, 4.10(i)–(ix) · https://fnet.bmfbovespa.com.br/fnet/publico/visualizarDocumento?id=1143317</a:t>
            </a:r>
          </a:p>
          <a:p>
            <a:r>
              <a:t>CNPJ 62696791000193 · Concentração por devedor, cedente e grupo · Excerto da fonte:</a:t>
            </a:r>
          </a:p>
          <a:p>
            <a:r>
              <a:t>4.10 Sem prejuízo de limites mais restritivos definidos neste Anexo, o Gestor deverá observar, ainda, os seguintes limites de concentração: (i) A Classe poderá, direta ou indiretamente, ter até 100% (cem por cento) do Patrimônio Líquido representado por Direitos Creditórios do Agronegócio originados ou cedidos pelo Administrador, Gestor e/ou suas partes relacionadas, tal como definidas pelas regras contábeis que tratam desse assunto, desde que (a) o Gest or, a entidade registradora e o Custodiante dos Direitos Creditórios do Agronegócio não sejam partes relacionadas entre si; e (b) a entidade registradora e o Custodiante dos Direitos Creditórios do Agronegócio não sejam partes relacionadas ao originador ou Cedente. (ii) No máximo, 100% (cem por cento) do Patrimônio Líquido investido em Ativos Financeiros de Liquidez de emissão ou que envolvam retenção de risco por parte do Administrador, Gestor, e/ou suas partes relacionadas, observado ainda o disposto no item Error! Reference source not found.;</a:t>
            </a:r>
          </a:p>
          <a:p>
            <a:r>
              <a:t>CNPJ 62696791000193 · Concentração por devedor, cedente e grupo · Condição: Liquidez/derivativos relacionados também têm permissivos de 100%, mas remissões internas aparecem como “Error! Reference source not found.”.</a:t>
            </a:r>
          </a:p>
          <a:p>
            <a:r>
              <a:t>CNPJ 62696791000193 · Concentração por devedor, cedente e grupo · Versão e prevalência: Leitura específica das cláusulas indicadas; condições e conflitos preservados. Seleção documental atual não comprova vigência jurídica por data isolada.</a:t>
            </a:r>
          </a:p>
          <a:p>
            <a:r>
              <a:t>CNPJ 55563624000109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null, "comparison_required": true, "context_formula": "", "context_value": null, "context_unit": ""}</a:t>
            </a:r>
          </a:p>
          <a:p>
            <a:r>
              <a:t>CNPJ 55563624000109 · Concentração por devedor, cedente e grupo · Regulamento · ID 1192614 · 30/04/2026 · versão Regulamento30/04/2026 · p. 13 · AnexoI4.11–4.12.1 · https://fnet.bmfbovespa.com.br/fnet/publico/visualizarDocumento?id=1192614</a:t>
            </a:r>
          </a:p>
          <a:p>
            <a:r>
              <a:t>CNPJ 55563624000109 · Concentração por devedor, cedente e grupo · Excerto da fonte:</a:t>
            </a:r>
          </a:p>
          <a:p>
            <a:r>
              <a:t>4.11 Nos termos dos artigos 45, parágrafo 7º, e 47 parágrafo único do Anexo Normativo II à Resolução CVM 175, uma vez que as Cotas são destinadas exclusivamente a Investidores Profissionais, a Classe poderá ter até 100% (cem por cento) de seu Patrimônio Líquido alocado em Cotas da Classe Investida, as quais são emitidas pela Classe Investida. 4.12 A Classe poderá, direta ou indiretamente (i) adquirir Cotas da Classe Investida que sejam administrados pelo ADMINISTRADOR, e geridos ou cogeridos pelo GESTOR, ou partes a eles relacionadas, tal como definidas pelas</a:t>
            </a:r>
          </a:p>
          <a:p>
            <a:r>
              <a:t>CNPJ 55563624000109 · Concentração por devedor, cedente e grupo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Concentração por devedor, cedente e grupo · Versão e prevalência: Leitura específica das cláusulas indicadas; condições e conflitos preservados. Seleção documental atual não comprova vigência jurídica por data isolada.</a:t>
            </a:r>
          </a:p>
          <a:p>
            <a:r>
              <a:t>CNPJ 55563624000109 · Concentração por devedor, cedente e grupo · Resumo do histórico: {"count": 1, "dates": ["2026-04-30"], "document_count": 1, "sources": [{"document_id": "1192614", "title": "Regulamento", "reference_date": "2026-04-30", "version": "1", "page": "11-12", "url": "https://fnet.bmfbovespa.com.br/fnet/publico/visualizarDocumento?id=1192614", "sha256": "f56e63ace0acde41d2f47fb48f1ac7f3f7df5e2d32de092d7c5e075a52516632"}], "reference": {"path": "history/55563624000109.json", "criterion_id": "concentration", "total_count": 1, "preview_count": 1, "full_text_deferred": true, "sha256": "7835d573fb58a3c19adf5b8ecc2aee2bdbb9a88f7a0c0209b5f262b64c7522e3"}}</a:t>
            </a:r>
          </a:p>
          <a:p>
            <a:r>
              <a:t>CNPJ 62552447000120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null, "comparison_required": true, "context_formula": "", "context_value": null, "context_unit": ""}</a:t>
            </a:r>
          </a:p>
          <a:p>
            <a:r>
              <a:t>CNPJ 62552447000120 · Concentração por devedor, cedente e grupo · Regulamento · ID 1200623 · 21/05/2026 · versão Consolidado21/05/2026 aprovado pelo ato1200625 · p. 14 · AnexoI4.10–4.13 · https://fnet.bmfbovespa.com.br/fnet/publico/visualizarDocumento?id=1200623</a:t>
            </a:r>
          </a:p>
          <a:p>
            <a:r>
              <a:t>CNPJ 62552447000120 · Concentração por devedor, cedente e grupo · Excerto da fonte:</a:t>
            </a:r>
          </a:p>
          <a:p>
            <a:r>
              <a:t>4.10 Nos termos do art. 45, §7º, inciso II, do Anexo Normativo II, a Classe poderá ter até 100% (cem por cento) de seu Patrimônio Líquido alocado em Direitos Creditórios, derivativos, observado o disposto abaixo,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4.10.1 O uso de derivativos está restr</a:t>
            </a:r>
          </a:p>
          <a:p>
            <a:r>
              <a:t>CNPJ 62552447000120 · Concentração por devedor, cedente e grupo · Condição: Regulamento permite concentração ampla; TVM têm limite específico 10% PL na elegibilidade.</a:t>
            </a:r>
          </a:p>
          <a:p>
            <a:r>
              <a:t>CNPJ 62552447000120 · Concentração por devedor, cedente e grupo · Versão e prevalência: Leitura específica das cláusulas indicadas; condições e conflitos preservados. Seleção documental atual não comprova vigência jurídica por data isolada.</a:t>
            </a:r>
          </a:p>
          <a:p>
            <a:r>
              <a:t>CNPJ 63953620000165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null, "comparison_required": true, "context_formula": "", "context_value": null, "context_unit": ""}</a:t>
            </a:r>
          </a:p>
          <a:p>
            <a:r>
              <a:t>CNPJ 63953620000165 · Concentração por devedor, cedente e grupo · Anexo ao Regulamento · ID 1222863 · 02/06/2026 · versão AnexoConsignadoPrivado02/06/2026 · p. 6 · 4.14 · https://fnet.bmfbovespa.com.br/fnet/publico/visualizarDocumento?id=1222863</a:t>
            </a:r>
          </a:p>
          <a:p>
            <a:r>
              <a:t>CNPJ 63953620000165 · Concentração por devedor, cedente e grupo · Excerto da fonte:</a:t>
            </a:r>
          </a:p>
          <a:p>
            <a:r>
              <a:t>4.14 Nos termos do Art. 45, §7º, inciso II, do Anexo Normativo II da Resolução CVM 175, a Classe poderá ter até 100% (cem por cento) de seu Patrimônio Líquido alocado em Direitos Creditórios, derivativos, observado o disposto neste Anexo I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4.15 Sem prejuízo de limites</a:t>
            </a:r>
          </a:p>
          <a:p>
            <a:r>
              <a:t>CNPJ 63953620000165 · Concentração por devedor, cedente e grupo · Anexo ao Regulamento · ID 1222863 · 02/06/2026 · versão AnexoConsignadoPrivado02/06/2026 · p. 7 · 4.15(i)–(v) · https://fnet.bmfbovespa.com.br/fnet/publico/visualizarDocumento?id=1222863</a:t>
            </a:r>
          </a:p>
          <a:p>
            <a:r>
              <a:t>CNPJ 63953620000165 · Concentração por devedor, cedente e grupo · Excerto da fonte:</a:t>
            </a:r>
          </a:p>
          <a:p>
            <a:r>
              <a:t>(i)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CNPJ 63953620000165 · Concentração por devedor, cedente e grupo · Versão e prevalência: Leitura específica das cláusulas indicadas; condições e conflitos preservados. Seleção documental atual não comprova vigência jurídica por data isolada.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Recebíveis e aquisição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Natureza dos recebíveis · Regulamento · ID 670691 · 28/04/2024 · versão Regulamento — referência 28/04/2024 · p. 9 · Anexo I, 4.2–4.2.1 · https://fnet.bmfbovespa.com.br/fnet/publico/visualizarDocumento?id=670691</a:t>
            </a:r>
          </a:p>
          <a:p>
            <a:r>
              <a:t>CNPJ 54871427000194 · Natureza dos recebíveis · Excerto da fonte:</a:t>
            </a:r>
          </a:p>
          <a:p>
            <a:r>
              <a:t>4.2 Os Direitos Creditórios representados por Certif icados de Cédulas de Crédito Bancário (“CCCBs”), representativos de um agrupamento de determinadas CCBs, originadas no âmbito de operações de empréstimos pessoais concedidos por um Endossante a um Devedor, devidamente f ormalizadas por via eletrônica de acordo com a legislação aplicável, segundo os critérios de composição e diversificação estabelecidos pela regulamentação aplicável e neste Regulamento. 4.2.1 Cada Endossante deve ter celebrado convênio com órgão consignante, previamente à cessão de Direitos Creditórios à Classe, que contemplam a obrigação da manutenção da consignação/averbação junto ao novo órgão, de modo a possibilitar o pagamento dos Direitos Creditórios por meio de consignação em f olha de pagamento ou de benef ício . 4.3 Os pagamentos relativos aos Direitos Creditórios de titularidade da Classe serão realizados mediante consignação em folha, débito em conta de titularidade dos Devedores e pagamentos de sinistros, para pagamento dos valores correspondentes às parcelas das CCBs representadas pelos CCCBs de titularidade da Classe, os quais serão conciliados e repassados pelo Endossan</a:t>
            </a:r>
          </a:p>
          <a:p>
            <a:r>
              <a:t>CNPJ 54871427000194 · Natureza dos recebíveis · Versão e prevalência: Leitura específica das cláusulas indicadas; condições e conflitos preservados. Seleção documental atual não comprova vigência jurídica por data isolada.</a:t>
            </a:r>
          </a:p>
          <a:p>
            <a:r>
              <a:t>CNPJ 54871427000194 · Natureza dos recebíveis · Resumo do histórico: {"count": 3, "dates": ["2024-04-19", "2024-04-28"], "document_count": 2, "sources": [{"document_id": "670691", "title": "Regulamento", "reference_date": "2024-04-28", "version": "1", "page": "9, 38-39", "url": "https://fnet.bmfbovespa.com.br/fnet/publico/visualizarDocumento?id=670691", "sha256": "bf16dd7f1a62d5cdbf2e2d54fef81783783f7310fbc99c3a8f00459bdf9d037b"}, {"document_id": "670691", "title": "Regulamento", "reference_date": "2024-04-28", "version": "1", "page": 34, "clause": "15.1.5", "url": "https://fnet.bmfbovespa.com.br/fnet/publico/visualizarDocumento?id=670691", "sha256": "bf16dd7f1a62d5cdbf2e2d54fef81783783f7310fbc99c3a8f00459bdf9d037b"}, {"document_id": "670689", "title": "Regulamento", "reference_date": "2024-04-19", "version": "1", "page": 35, "clause": "15.1.5", "url": "https://fnet.bmfbovespa.com.br/fnet/publico/visualizarDocumento?id=670689", "sha256": "891bc9bc5d87bbc02ec139077a84d2702eb81ea02035fb71d24f5b8366b94a0b"}], "reference": {"path": "history/54871427000194.json", "criterion_id": "receivables", "total_count": 3, "preview_count": 3, "full_text_deferred": true, "sha256": "35d7cd99be50c7287c9fb675cf4f2e736002315295a225a9efa79c8d9186d874"}}</a:t>
            </a:r>
          </a:p>
          <a:p>
            <a:r>
              <a:t>CNPJ 60010416000112 · Natureza dos recebíveis · Regulamento · ID 1051393 · 09/10/2025 · versão Regulamento09/10/2025 · p. 9 · AnexoI4.2 · https://fnet.bmfbovespa.com.br/fnet/publico/visualizarDocumento?id=1051393</a:t>
            </a:r>
          </a:p>
          <a:p>
            <a:r>
              <a:t>CNPJ 60010416000112 · Natureza dos recebíveis · Excerto da fonte:</a:t>
            </a:r>
          </a:p>
          <a:p>
            <a:r>
              <a:t>4.2 Os Direitos Creditórios são originados no âmbito de operações de empréstimo consignado concedido pelo Endossante a um Devedor por meio da Plataforma MT e representado por CCB, devidamente formalizada por via eletrônica, de acordo com a legislação aplicável, observada a Política de Crédito constante do Contrato de Endosso. O Endossante celebrou o Convênio Consignado Privado previamente ao endosso de Direitos Creditórios Elegíveis à Classe, para que, após a averbação dos Direitos Creditórios na Dataprev, o pagamento regular dos Direitos Creditórios decorrentes das CCB seja f eito por Consignação</a:t>
            </a:r>
          </a:p>
          <a:p>
            <a:r>
              <a:t>CNPJ 60010416000112 · Natureza dos recebíveis · Versão e prevalência: Leitura específica das cláusulas indicadas; condições e conflitos preservados. Seleção documental atual não comprova vigência jurídica por data isolada.</a:t>
            </a:r>
          </a:p>
          <a:p>
            <a:r>
              <a:t>CNPJ 60010416000112 · Natureza dos recebíveis · Resumo do histórico: {"count": 2, "dates": ["2025-03-20", "2025-10-09"], "document_count": 2, "sources": [{"document_id": "1051393", "title": "Regulamento", "reference_date": "2025-10-09", "version": "1", "page": "9-11", "url": "https://fnet.bmfbovespa.com.br/fnet/publico/visualizarDocumento?id=1051393", "sha256": "8469d613078ffd5a6c1d217885d8a397a16342c0b937ae4aa24b106505f233ae"}, {"document_id": "993786", "title": "Regulamento", "reference_date": "2025-03-20", "version": "1", "page": 30, "clause": "12.5.1", "url": "https://fnet.bmfbovespa.com.br/fnet/publico/visualizarDocumento?id=993786", "sha256": "fd0fdd369a195510d81f81f505195a0b09e5f43522a990afa7d58c4f872921c8"}], "reference": {"path": "history/60010416000112.json", "criterion_id": "receivables", "total_count": 2, "preview_count": 2, "full_text_deferred": true, "sha256": "8e2bd813f4c51cf01f6bfaad164bafe69d2bbb192f753eac92da3a01c2e63046"}}</a:t>
            </a:r>
          </a:p>
          <a:p>
            <a:r>
              <a:t>CNPJ 62696791000193 · Natureza dos recebíveis · Regulamento · ID 1143317 · 20/03/2026 · versão Regulamento — referência 20/03/2026 · p. 6 · Anexo I, 1.1, Objetivo · https://fnet.bmfbovespa.com.br/fnet/publico/visualizarDocumento?id=1143317</a:t>
            </a:r>
          </a:p>
          <a:p>
            <a:r>
              <a:t>CNPJ 62696791000193 · Natureza dos recebíveis · Excerto da fonte:</a:t>
            </a:r>
          </a:p>
          <a:p>
            <a:r>
              <a:t>A Classe tem por objetivo proporcionar aos Cotistas a valorização e a rentabilidade de suas cotas (“Cotas”), conforme a política de investimentos def inida no Capítulo IV abaixo (“Política de Investimentos”), por meio de aplicação do seu Patrimônio Líquido (conforme def inido abaixo) nos seguintes ativos de origem vinculada às cadeias produtivas do agronegócio (“Direitos Creditórios do Agronegócio”): (i) títulos de crédito emitidos por pessoas naturais e jurídicas que integrem as cadeias produtivas do agronegócio; (ii) direitos creditórios do agronegócio; (iii) certificados de recebíveis do agronegócio e outros títulos de securitização emitidos com lastro em direitos creditórios do agronegócio; e (iv) certificados de recebíveis e outro</a:t>
            </a:r>
          </a:p>
          <a:p>
            <a:r>
              <a:t>CNPJ 62696791000193 · Natureza dos recebíveis · Regulamento · ID 1143317 · 20/03/2026 · versão Regulamento — referência 20/03/2026 · p. 7 · Anexo I, 1.1, Objetivo · https://fnet.bmfbovespa.com.br/fnet/publico/visualizarDocumento?id=1143317</a:t>
            </a:r>
          </a:p>
          <a:p>
            <a:r>
              <a:t>CNPJ 62696791000193 · Natureza dos recebíveis · Excerto da fonte:</a:t>
            </a:r>
          </a:p>
          <a:p>
            <a:r>
              <a:t>(i) participações em sociedades que explorem atividades integrantes das cadeias produtivas do agronegócio. (C) Categoria “Financeiro” (“Ativos Financeiros do Agronegócio Financeiros”): (i) ativos f inanceiros e valores mobiliários emitidos por pessoas naturais e jurídicas que integrem as cadeias produtivas do agronegócio. (D) Categoria “Geral” (“Ativos em Geral do Agronegócio”): (i) cotas de classes que apliquem mais de 50% (cinquenta por cento) de seu patrimônio líquido nos ativos referidos nos incisos “A” a “D” acima, o que inclui cotas de outros FIAGRO, mas não se limita a essa categoria de f undos. Os Ativos Imobiliários do Agronegócio, Participações do Agronegócio,</a:t>
            </a:r>
          </a:p>
          <a:p>
            <a:r>
              <a:t>CNPJ 62696791000193 · Natureza dos recebíveis · Versão e prevalência: Leitura específica das cláusulas indicadas; condições e conflitos preservados. Seleção documental atual não comprova vigência jurídica por data isolada.</a:t>
            </a:r>
          </a:p>
          <a:p>
            <a:r>
              <a:t>CNPJ 55563624000109 · Natureza dos recebíveis · Regulamento · ID 1192614 · 30/04/2026 · versão Regulamento30/04/2026 · p. 11 · AnexoI4.1 · https://fnet.bmfbovespa.com.br/fnet/publico/visualizarDocumento?id=1192614</a:t>
            </a:r>
          </a:p>
          <a:p>
            <a:r>
              <a:t>CNPJ 55563624000109 · Natureza dos recebíveis · Excerto da fonte:</a:t>
            </a:r>
          </a:p>
          <a:p>
            <a:r>
              <a:t>4.1 Observados os demais termos deste Anexo, o objetivo da Classe é investir seus recursos em (i) cotas subordinadas mezanino de emissão da classe única do MERCADO CRÉDITO II BRASIL FUNDO DE INVESTIMENTO EM DIREITOS CREDITÓRIOS NÃO PADRONIZADOS, fundo de investimento em direitos creditórios inscrito no CNPJ sob o nº 41.970.012/0001-26 (“Cotas da Classe Investida” e “Classe Investida”, respectivamente), a qual, por sua vez, aplica seus recursos preponderantemente em direitos creditórios originados pela Mercado Pago, de acordo com os termos e condições est</a:t>
            </a:r>
          </a:p>
          <a:p>
            <a:r>
              <a:t>CNPJ 55563624000109 · Natureza dos recebíveis · Regulamento · ID 1192614 · 30/04/2026 · versão Regulamento30/04/2026 · p. 12 · AnexoI4.5 · https://fnet.bmfbovespa.com.br/fnet/publico/visualizarDocumento?id=1192614</a:t>
            </a:r>
          </a:p>
          <a:p>
            <a:r>
              <a:t>CNPJ 55563624000109 · Natureza dos recebíveis · Excerto da fonte:</a:t>
            </a:r>
          </a:p>
          <a:p>
            <a:r>
              <a:t>4.5 Uma vez que o investimento nas Cotas da Classe Investida não corresponde a um investimento direto em direitos creditórios, uma série de disposições comuns à securitização de direitos creditórios não será aplicável ao investimento nas Cotas da Classe Investida. A título meramente exemplificativo, não existem processos de originação ou política de concessão de crédito adotada pelo GESTOR, tampouco há que se falar em verificação ou guarda de documentos comprobatórios que não sejam referentes às Cotas da Classe Investida. Da mesma forma, não há necessida</a:t>
            </a:r>
          </a:p>
          <a:p>
            <a:r>
              <a:t>CNPJ 55563624000109 · Natureza dos recebíveis · Versão e prevalência: Leitura específica das cláusulas indicadas; condições e conflitos preservados. Seleção documental atual não comprova vigência jurídica por data isolada.</a:t>
            </a:r>
          </a:p>
          <a:p>
            <a:r>
              <a:t>CNPJ 55563624000109 · Natureza dos recebíveis · Resumo do histórico: {"count": 4, "dates": ["2025-01-31", "2026-01-31", "2026-04-30"], "document_count": 3, "sources": [{"document_id": "1192614", "title": "Regulamento", "reference_date": "2026-04-30", "version": "1", "page": "11", "url": "https://fnet.bmfbovespa.com.br/fnet/publico/visualizarDocumento?id=1192614", "sha256": "f56e63ace0acde41d2f47fb48f1ac7f3f7df5e2d32de092d7c5e075a52516632"}, {"document_id": "1178840", "title": "Demonstrações Financeiras", "reference_date": "2026-01-31", "version": "1", "page": 16, "url": "https://fnet.bmfbovespa.com.br/fnet/publico/visualizarDocumento?id=1178840", "sha256": "c458e98664c5c907ddb5a05a94b120bed4e05295b2bfc420f5ba69af0a229abe"}, {"document_id": "891861", "title": "Demonstrações Financeiras", "reference_date": "2025-01-31", "version": "1", "page": 16, "url": "https://fnet.bmfbovespa.com.br/fnet/publico/visualizarDocumento?id=891861", "sha256": "e9cb9e6ddbe505fe068cfcac33605165a98313489de0d3ce6d4d238263c3f3e7"}], "reference": {"path": "history/55563624000109.json", "criterion_id": "receivables", "total_count": 4, "preview_count": 3, "full_text_deferred": true, "sha256": "7835d573fb58a3c19adf5b8ecc2aee2bdbb9a88f7a0c0209b5f262b64c7522e3"}}</a:t>
            </a:r>
          </a:p>
          <a:p>
            <a:r>
              <a:t>CNPJ 62552447000120 · Natureza dos recebíveis · Regulamento · ID 1200623 · 21/05/2026 · versão Consolidado21/05/2026 aprovado pelo ato1200625 · p. 11 · AnexoI4.2–4.3 · https://fnet.bmfbovespa.com.br/fnet/publico/visualizarDocumento?id=1200623</a:t>
            </a:r>
          </a:p>
          <a:p>
            <a:r>
              <a:t>CNPJ 62552447000120 · Natureza dos recebíveis · Excerto da fonte:</a:t>
            </a:r>
          </a:p>
          <a:p>
            <a:r>
              <a:t>4.2 Os Direitos Creditórios Consignado Privado e os Direitos Creditórios FGTS são originados no âmbito de CCBs emitidas eletronicamente pelos Devedores ao Endossante, representando, respectivamente, empréstimos consignados, com desconto em f olha de pagamento, e empréstimos pessoais, com garantia de cessão f iduciária do Saque-aniversário. 4.3 A operacionalização é f eita por meio da plataforma eletrônica mantida pelo Originador e utilizada por ele em relação ao processamento e monitoramento das operações de crédito (“Plataforma VR”), de acordo com a legislação aplicável, observada a política de crédit</a:t>
            </a:r>
          </a:p>
          <a:p>
            <a:r>
              <a:t>CNPJ 62552447000120 · Natureza dos recebíveis · Regulamento · ID 1200623 · 21/05/2026 · versão Consolidado21/05/2026 aprovado pelo ato1200625 · p. 6 · AnexoI1.2 Direitos Creditórios(d) · https://fnet.bmfbovespa.com.br/fnet/publico/visualizarDocumento?id=1200623</a:t>
            </a:r>
          </a:p>
          <a:p>
            <a:r>
              <a:t>CNPJ 62552447000120 · Natureza dos recebíveis · Excerto da fonte:</a:t>
            </a:r>
          </a:p>
          <a:p>
            <a:r>
              <a:t>Refinanciamento Livre”, na forma de CCBs originadas no âmbito de um refinanciamento, de acordo com a política de cobrança vigente, de Direitos Creditórios Consignado Privado e de Direitos Creditórios FGTS, que não contem com o lastro de Consignação ou de cessão f iduciária do Saque-Aniversário, respectivamente; e (ii) “Ativos Financei</a:t>
            </a:r>
          </a:p>
          <a:p>
            <a:r>
              <a:t>CNPJ 62552447000120 · Natureza dos recebíveis · Condição: Direitos de refinanciamento livre têm mecanismo de pagamento diferente do consignado/FGTS original.</a:t>
            </a:r>
          </a:p>
          <a:p>
            <a:r>
              <a:t>CNPJ 62552447000120 · Natureza dos recebíveis · Versão e prevalência: Leitura específica das cláusulas indicadas; condições e conflitos preservados. Seleção documental atual não comprova vigência jurídica por data isolada.</a:t>
            </a:r>
          </a:p>
          <a:p>
            <a:r>
              <a:t>CNPJ 63953620000165 · Natureza dos recebíveis · Anexo ao Regulamento · ID 1222863 · 02/06/2026 · versão AnexoConsignadoPrivado02/06/2026 · p. 5 · 4.4 · https://fnet.bmfbovespa.com.br/fnet/publico/visualizarDocumento?id=1222863</a:t>
            </a:r>
          </a:p>
          <a:p>
            <a:r>
              <a:t>CNPJ 63953620000165 · Natureza dos recebíveis · Excerto da fonte:</a:t>
            </a:r>
          </a:p>
          <a:p>
            <a:r>
              <a:t>4.4 Os Direitos Creditórios Consignado Privado são originados no âmbito de operações de empréstimo consignado concedido pelo Endossante a um Devedor por meio da plataforma eletrônica mantida pelo Agente de Retenção/ Cobrança e utilizada por ele em relação ao processamento e monitoramento das operações de crédito consignado (“Plataforma MT”) e representado por CCB, devidamente formalizada por via eletrônica, de acordo com a legislação aplicável, observada a política de crédito constante do Contrato de Endosso. O Endossante celebrou o Convênio Consignado Privado previamente ao endosso de Direitos Creditórios Elegíveis à Clas</a:t>
            </a:r>
          </a:p>
          <a:p>
            <a:r>
              <a:t>CNPJ 63953620000165 · Natureza dos recebíveis · Anexo ao Regulamento · ID 1222863 · 02/06/2026 · versão AnexoConsignadoPrivado02/06/2026 · p. 1 · 1.1Objetivo · https://fnet.bmfbovespa.com.br/fnet/publico/visualizarDocumento?id=1222863</a:t>
            </a:r>
          </a:p>
          <a:p>
            <a:r>
              <a:t>CNPJ 63953620000165 · Natureza dos recebíveis · Excerto da fonte:</a:t>
            </a:r>
          </a:p>
          <a:p>
            <a:r>
              <a:t>Direitos Creditórios Crédito Consignado”, representados por cédula de crédito bancário regida pela Lei nº 10.931, emitida eletronicamente por um devedor em favor do endossante (“CCB”) e, consequentemente, os recebíveis decorrente de cada uma das parcelas vincendas, representando um empréstimo consignado concedido pelo endossante ao devedor, e cujo pagamento ordinário é feito por desconto de cada prestação vincenda de uma CCB na folha de</a:t>
            </a:r>
          </a:p>
          <a:p>
            <a:r>
              <a:t>CNPJ 63953620000165 · Natureza dos recebíveis · Versão e prevalência: Leitura específica das cláusulas indicadas; condições e conflitos preservados. Seleção documental atual não comprova vigência jurídica por data isolada.</a:t>
            </a:r>
          </a:p>
          <a:p>
            <a:r>
              <a:t>CNPJ 63953620000165 · Natureza dos recebíveis · Resumo do histórico: {"count": 8, "dates": ["2026-04-28", "2026-05-08", "2026-05-15"], "document_count": 3, "sources": [{"document_id": "1327859", "title": "Demonstrações Financeiras - Fusão, cisão e incorporação", "reference_date": "2026-05-15", "version": "1", "page": 21, "url": "https://fnet.bmfbovespa.com.br/fnet/publico/visualizarDocumento?id=1327859", "sha256": "dca1c68babb97f887528c3e2e47596a9c30f507b067981a35655b2f2da9c8054"}, {"document_id": "1298691", "title": "Demonstrações Financeiras - Fusão, cisão e incorporação", "reference_date": "2026-05-08", "version": "1", "page": 24, "url": "https://fnet.bmfbovespa.com.br/fnet/publico/visualizarDocumento?id=1298691", "sha256": "58c570d9b8d4d265330d3db3ea81c435b8e44a6dab4002aa37790652a1ee9819"}, {"document_id": "1282180", "title": "Demonstrações Financeiras - Fusão, cisão e incorporação", "reference_date": "2026-04-28", "version": "1", "page": 24, "url": "https://fnet.bmfbovespa.com.br/fnet/publico/visualizarDocumento?id=1282180", "sha256": "afaaa0e6809be4385e5bdb6c911aac582032c5bdbac3d7750234bf9eaf00438a"}], "reference": {"path": "history/63953620000165.json", "criterion_id": "receivables", "total_count": 8, "preview_count": 3, "full_text_deferred": true, "sha256": "a7b89077f5e21098c2d601c303faabc3ff6b9729f89d8afecdc60fe1404720c1"}}</a:t>
            </a:r>
          </a:p>
          <a:p>
            <a:r>
              <a:t>CNPJ 54871427000194 · Originador e endossante · Regulamento · ID 670691 · 2024-04-28 · versão 1 · p. 11 · 4.11.2 · https://fnet.bmfbovespa.com.br/fnet/publico/visualizarDocumento?id=670691</a:t>
            </a:r>
          </a:p>
          <a:p>
            <a:r>
              <a:t>CNPJ 54871427000194 · Originador e endossante · Excerto da fonte:</a:t>
            </a:r>
          </a:p>
          <a:p>
            <a:r>
              <a:t>4.11.2 A Classe poderá ter até 100% (cem por cento) do Patrimônio Líquido representado por Direitos  Creditórios originados ou cedidos por um mesmo Endossante e/ou originados por um mesmo  Originador.</a:t>
            </a:r>
          </a:p>
          <a:p>
            <a:r>
              <a:t>CNPJ 54871427000194 · Originador e endossante · Regulamento · ID 670691 · 2024-04-28 · versão 1 · p. 13 · 4.17 · https://fnet.bmfbovespa.com.br/fnet/publico/visualizarDocumento?id=670691</a:t>
            </a:r>
          </a:p>
          <a:p>
            <a:r>
              <a:t>CNPJ 54871427000194 · Originador e endossante · Excerto da fonte:</a:t>
            </a:r>
          </a:p>
          <a:p>
            <a:r>
              <a:t>4.17 É vedada qualquer forma de antecipação de recursos aos Endossantes para posterior reembolso pela  Classe, seja pelo ADMINISTRADOR, GESTOR, CUSTODIANTE, consultora ou Originadores.</a:t>
            </a:r>
          </a:p>
          <a:p>
            <a:r>
              <a:t>CNPJ 54871427000194 · Originador e endossante · Regulamento · ID 670691 · 2024-04-28 · versão 1 · p. 34 · 15.1.5 · https://fnet.bmfbovespa.com.br/fnet/publico/visualizarDocumento?id=670691</a:t>
            </a:r>
          </a:p>
          <a:p>
            <a:r>
              <a:t>CNPJ 54871427000194 · Originador e endossante · Excerto da fonte:</a:t>
            </a:r>
          </a:p>
          <a:p>
            <a:r>
              <a:t>15.1.5 Outros Riscos:</a:t>
            </a:r>
          </a:p>
          <a:p>
            <a:r>
              <a:t> (i) Cobrança judicial ou extrajudicial dos Direitos Creditórios. No caso de os  Devedores inadimplirem as obrigações dos pagamentos dos Direitos Creditórios de titularidade  da Classe, poderá haver cobrança judicial e/ou extrajudicial dos valores devidos. Neste caso,  além da Classe incorrer em maiores custos relacionados à cobrança dos Direitos Creditórios  Inadimplidos, nada garante que ref eridas cobranças atingirão os resultados almejados, qual  seja, a recuperação do valor integral dos Direitos Creditórios Inadimplidos. Nesta hipótese, a  rentabilidade da Classe será af etada negativamente.</a:t>
            </a:r>
          </a:p>
          <a:p>
            <a:r>
              <a:t> (ii) Dif iculdade de obtenção de indenização ou recompra de Direitos Creditórios.</a:t>
            </a:r>
          </a:p>
          <a:p>
            <a:r>
              <a:t> Considerando a possibilidade de aquisição de Direitos Creditórios de terceiros — isso é  Endossantes que, por sua vez, adquiram os Direitos Creditórios de forma secundária, por meio  da cessão ou endosso realizado por credores anteriores da CCB — caso ocorram situações  que ensejem em recompra de tais Direitos Creditórios e/ou indenização, a Classe poderá ter  dif iculdades adicionais em obter tais indenizações e/ou recompras, na medida em que o direito  a tais indenizações e/ou recompras não está previsto em cada CCB, mas em contratos e  instrumentos dos quais a Classe não é originalmente parte, o que poderá causar perdas à  Classe e, consequentemente, aos Cotistas.</a:t>
            </a:r>
          </a:p>
          <a:p>
            <a:r>
              <a:t> (iii) Risco de concentração. O risco da aplicação na Classe possui forte correlação  com a concentração da Carteira, sendo que, quanto maior f or a concentração da Carteira,  maior será a chance de a Classe sofrer perda patrimonial significativa que afete negativamente  a rentabilidade das Cotas. A Classe não possui limite de concentração por Devedor ou  originador dos Direitos Creditórios, exceto por aqueles previstos na Resolução CVM  175, razão pela qual a Classe poderá estar exposto a significativa concentração por  Devedor. Não é possível garantir que os limites de concentração contidos na Política de  Investimentos, ainda que atendidos, serão suficientes que o Patrimônio Líquido não sofra  perdas que possam af etar a rentabilidade das Cotas.</a:t>
            </a:r>
          </a:p>
          <a:p>
            <a:r>
              <a:t> (iv) Possibilidade de conflito de interesses entre a Classe e os Originadores. Os  Originadores podem possuir relacionamento comercial com os Endossantes e/ou Devedores,  de modo que, em determinadas circunstâncias seus interesses podem ser conflitantes com os  interesses da Classe. Não é possível garantir que, materializada uma situação de conflito de  interesses conforme descrita acima, o Originador exponha-a adequadamente ao  ADMINISTRADOR e/ou aos Cotistas, ou que o f aça absolutamente, tampouco que agirá no  melhor no interesse da Classe. Nesses casos, a Classe pode vir a adquirir Direitos Creditórios  ou pode vir a ter seus Direitos Creditórios Inadimplidos pagos em condições comparativamente  menos vantajosas àquelas que seriam verificadas na ausência de tais conflitos de interesses.</a:t>
            </a:r>
          </a:p>
          <a:p>
            <a:r>
              <a:t> Nesses casos, o Patrimônio Líquido pode ser af etado adversamente.</a:t>
            </a:r>
          </a:p>
          <a:p>
            <a:r>
              <a:t> (v) Possibilidade de conflito de interesses entre Cotistas. As Cotas poderão ser  adquiridas por investidores que sejam sociedades coligadas, controladas ou controladoras,</a:t>
            </a:r>
          </a:p>
          <a:p>
            <a:r>
              <a:t>CNPJ 54871427000194 · Originador e endossante · Condição: Documentos atuais selecionados no inventário por categoria/escopo; a data documental isolada não comprova vigência jurídica.</a:t>
            </a:r>
          </a:p>
          <a:p>
            <a:r>
              <a:t>CNPJ 54871427000194 · Originador e endossante · Versão e prevalência: Documentos atuais selecionados no inventário por categoria/escopo; a data documental isolada não comprova vigência jurídica.</a:t>
            </a:r>
          </a:p>
          <a:p>
            <a:r>
              <a:t>CNPJ 54871427000194 · Originador e endossante · Resumo do histórico: {"count": 2, "dates": ["2024-04-19", "2024-04-28"], "document_count": 2, "sources": [{"document_id": "670691", "title": "Regulamento", "reference_date": "2024-04-28", "version": "1", "page": "9, 39", "url": "https://fnet.bmfbovespa.com.br/fnet/publico/visualizarDocumento?id=670691", "sha256": "bf16dd7f1a62d5cdbf2e2d54fef81783783f7310fbc99c3a8f00459bdf9d037b"}, {"document_id": "670689", "title": "Regulamento", "reference_date": "2024-04-19", "version": "1", "page": 9, "clause": "4.5", "url": "https://fnet.bmfbovespa.com.br/fnet/publico/visualizarDocumento?id=670689", "sha256": "891bc9bc5d87bbc02ec139077a84d2702eb81ea02035fb71d24f5b8366b94a0b"}], "reference": {"path": "history/54871427000194.json", "criterion_id": "originator", "total_count": 2, "preview_count": 2, "full_text_deferred": true, "sha256": "35d7cd99be50c7287c9fb675cf4f2e736002315295a225a9efa79c8d9186d874"}}</a:t>
            </a:r>
          </a:p>
          <a:p>
            <a:r>
              <a:t>CNPJ 60010416000112 · Originador e endossante · Regulamento · ID 1051393 · 09/10/2025 · versão Regulamento09/10/2025 · p. 44 · Glossário, Endossante · https://fnet.bmfbovespa.com.br/fnet/publico/visualizarDocumento?id=1051393</a:t>
            </a:r>
          </a:p>
          <a:p>
            <a:r>
              <a:t>CNPJ 60010416000112 · Originador e endossante · Excerto da fonte:</a:t>
            </a:r>
          </a:p>
          <a:p>
            <a:r>
              <a:t>“Endossante”: a Parati Crédito, Financiamento e Investimento S.A., instituição financeira constituída na forma de uma sociedade por ações, com sede na cidade de Vitória, estado do Espírito Santo, na Avenida Nossa Senhora da Penha, 699, torre A, conjuntos 404 a 407, Santa Lúcia, CEP 29.056-250, inscrita no CNPJ sob nº 03.311.443/0001-91; "Entidade Registradora": instituição autorizada pelo BACEN para realizar as atividades de registro e constituição, alteração e desconstituição de ônus e gravames sobre ativos f inanceiros registrados; “Escrituração”: significa a escrituração da Consignação a ser realizada pelo Empregador, junto ao eSocial, após recebimento de notif icação comunicando-o da contratação, pelo Devedor, do empréstimo a ser pago por Consignação; “Eventos de Avaliação”: os eventos de avaliação descritos no item 10.1 deste Anexo; “Eventos de Liquidação”: os eventos de liquidação descritos no item 10.3 deste Anexo; BTG Pactual SAC: 0800 772 28 27 - Ouvidoria: 0800 722 00 48 - btgpactual.com 44</a:t>
            </a:r>
          </a:p>
          <a:p>
            <a:r>
              <a:t>CNPJ 60010416000112 · Originador e endossante · Regulamento · ID 1051393 · 09/10/2025 · versão Regulamento09/10/2025 · p. 41 · Glossário, Agente de Retenção/Cobrança · https://fnet.bmfbovespa.com.br/fnet/publico/visualizarDocumento?id=1051393</a:t>
            </a:r>
          </a:p>
          <a:p>
            <a:r>
              <a:t>CNPJ 60010416000112 · Originador e endossante · Excerto da fonte:</a:t>
            </a:r>
          </a:p>
          <a:p>
            <a:r>
              <a:t>“Agente de Retenção/Cobrança”: significa a Tudo Serviços S.A., sociedade por ações com sede na Cidade de Eusébio, Estado do Ceará, na Comendador Ari Freitas, 577, CEP 61.760-000, inscrita no CNPJ sob nº 27.852.506/0001-85; “Agente Escriturador”: O Administrador, o qual se encontra devidamente habilitado pela CVM para prestar os serviços de escrituração das Cotas, ou seu sucessor a qualquer título; “Amortização”: signif ica cada uma das amortizações ordinárias de Cotas; “Amortização Extraordinária”: amortização extraordinária das Cotas Seniores, conforme deliberado pela Assembleia Especial de Cotistas, para reestabelecer o Índice de Subordinação, nos termos do item 5.5.1 do Anexo I; "ANBIMA": Associação Brasileira das Entidades dos Mercados Financeiro e de Capitais; "Código ANBIMA": Código ANBIMA de Regulação e Melhores Práticas para Administração de Recursos de Terceiros “Anexos”: tem o signif icado atribuído no Art. 3, inciso IV, da Resolução CVM 175, Parte Geral; “Apêndice”: cada um dos apêndices que integram este Anexo, descritivos de cada Subclasse de Cotas ou de aspectos aplicáveis à Classe; "Arquivos Dataprev": Arquivo de Consignações fornecido mensalmente pela Dataprev ao Endossante, contendo a totalidade das operações pend</a:t>
            </a:r>
          </a:p>
          <a:p>
            <a:r>
              <a:t>CNPJ 60010416000112 · Originador e endossante · Regulamento · ID 1051393 · 09/10/2025 · versão Regulamento09/10/2025 · p. 28 · AnexoI11.23 · https://fnet.bmfbovespa.com.br/fnet/publico/visualizarDocumento?id=1051393</a:t>
            </a:r>
          </a:p>
          <a:p>
            <a:r>
              <a:t>CNPJ 60010416000112 · Originador e endossante · Excerto da fonte:</a:t>
            </a:r>
          </a:p>
          <a:p>
            <a:r>
              <a:t>Tudo Serviços S.A., sociedade anônima, com sede no município de Eusébio, Estado do Ceará, na Comendador Ari Freitas, 577, CEP 61.760-000, inscrita no CNPJ sob o nº 27.852.506/0001-85, cujos deveres, sem prejuízo daqueles estabelecidos neste Regulamento, no Contrato de Serviços MT e no Contrato de Endosso, consistirão no monitoramento e cobrança dos Direitos Creditórios Inadimplidos, observado o disposto neste Anexo I e na regulamentação aplicável: (i) caso aplicável, atuar na retenção (defesa) de operações de empréstimo consignado cujos Direitos Creditórios sejam de titularidade da Classe, em caso d</a:t>
            </a:r>
          </a:p>
          <a:p>
            <a:r>
              <a:t>CNPJ 60010416000112 · Originador e endossante · Versão e prevalência: Leitura específica das cláusulas indicadas; condições e conflitos preservados. Seleção documental atual não comprova vigência jurídica por data isolada.</a:t>
            </a:r>
          </a:p>
          <a:p>
            <a:r>
              <a:t>CNPJ 60010416000112 · Originador e endossante · Resumo do histórico: {"count": 2, "dates": ["2025-03-20", "2025-10-09"], "document_count": 2, "sources": [{"document_id": "1051393", "title": "Regulamento", "reference_date": "2025-10-09", "version": "1", "page": "41-43", "url": "https://fnet.bmfbovespa.com.br/fnet/publico/visualizarDocumento?id=1051393", "sha256": "8469d613078ffd5a6c1d217885d8a397a16342c0b937ae4aa24b106505f233ae"}, {"document_id": "993786", "title": "Regulamento", "reference_date": "2025-03-20", "version": "1", "page": 25, "clause": "11.8", "url": "https://fnet.bmfbovespa.com.br/fnet/publico/visualizarDocumento?id=993786", "sha256": "fd0fdd369a195510d81f81f505195a0b09e5f43522a990afa7d58c4f872921c8"}], "reference": {"path": "history/60010416000112.json", "criterion_id": "originator", "total_count": 2, "preview_count": 2, "full_text_deferred": true, "sha256": "8e2bd813f4c51cf01f6bfaad164bafe69d2bbb192f753eac92da3a01c2e63046"}}</a:t>
            </a:r>
          </a:p>
          <a:p>
            <a:r>
              <a:t>CNPJ 62696791000193 · Originador e endossante · Regulamento · ID 1143317 · 20/03/2026 · versão Regulamento — referência 20/03/2026 · p. 10 · Anexo I, 4.4 e 4.6 · https://fnet.bmfbovespa.com.br/fnet/publico/visualizarDocumento?id=1143317</a:t>
            </a:r>
          </a:p>
          <a:p>
            <a:r>
              <a:t>CNPJ 62696791000193 · Originador e endossante · Excerto da fonte:</a:t>
            </a:r>
          </a:p>
          <a:p>
            <a:r>
              <a:t>4.4 Tendo em vista (i) a natureza variada dos Direitos Creditórios do Agronegócio passíveis de aquisição pela Classe; (ii) a amplitude da Política de Investimentos; e (iii) a potencial diversificação de Cedentes/Endossantes e Devedores, não é possível precisar os processos de origem dos Direitos Creditórios do Agronegócio e as políticas de concessão de crédito adotadas pelos Cedentes/Endossantes. 4.5 Os Direitos Creditórios do Agronegócio deverão contar com toda a documentação necessária para o exercício das prerrogativas decorrentes da titularidade dos ativos, e capaz de comprovar a origem, a existência e a exigibilidade dos Direitos Creditórios do Agronegócio (“Documentos Comprobatórios”) que evidenciem sua existência, validade e exequibilidade perante os respectivos Devedores. 4.5.1 Os Direitos Creditórios do Agronegócio serão adquiridos pela Classe por meio: (i) de contratos de cessão e/ou termos de cessão (“Contratos de Cessão”), contratos de promessa de endosso e/ou termos de endosso (“Contratos de Endosso”) firmados entre a Classe e os respectivos cedentes (“Cedentes”) / endossantes (“Endossantes”), acompanhados de todos os direitos, pri</a:t>
            </a:r>
          </a:p>
          <a:p>
            <a:r>
              <a:t>CNPJ 62696791000193 · Originador e endossante · Condição: A afirmação descreve um mandato amplo; não identifica contrapartes efetivamente presentes no IME.</a:t>
            </a:r>
          </a:p>
          <a:p>
            <a:r>
              <a:t>CNPJ 62696791000193 · Originador e endossante · Versão e prevalência: Leitura específica das cláusulas indicadas; condições e conflitos preservados. Seleção documental atual não comprova vigência jurídica por data isolada.</a:t>
            </a:r>
          </a:p>
          <a:p>
            <a:r>
              <a:t>CNPJ 55563624000109 · Originador e endossante · Regulamento · ID 1192614 · 2026-04-30 · versão 1 · p. 32 · https://fnet.bmfbovespa.com.br/fnet/publico/visualizarDocumento?id=1192614</a:t>
            </a:r>
          </a:p>
          <a:p>
            <a:r>
              <a:t>CNPJ 55563624000109 · Originador e endossante · Excerto da fonte:</a:t>
            </a:r>
          </a:p>
          <a:p>
            <a:r>
              <a:t>(b) Questionamento judicial. Os devedores podem questionar judicialmente (1) a validade  dos direitos creditórios, inclusive em razão da legalidade dos limites de crédito  concedidos pelo originador ou cedente e das taxas de juros praticadas, antes e/ou após  a sua transferência para a Classe Investida; e/ou (2) os termos e condições da  transferência dos direitos creditórios à Classe Investida. Em qualquer caso, é possível  que a Classe Investida não receba parte ou a totalidade dos valores relativos aos  direitos creditórios de sua titularidade objeto de questionamento judicial.</a:t>
            </a:r>
          </a:p>
          <a:p>
            <a:r>
              <a:t> (c) Risco de originação de direitos creditórios. Os direitos creditórios a serem adquiridos  pela Classe Investida são decorrentes de operações de empréstimo específicas  envolvendo as operações do Mercado Pago, conforme detalhadas no regulamento da  Classe Investida. Na hipótese de não originação, originação insuficiente ou  indisponibilidade para aquisição pelo Classe Investida, por qualquer motivo, inclusive  em caso de redução ou descontinuidade das operações regulares dos cedentes, de  direitos creditórios que satisfaçam os critérios de elegibilidade, as condições de cessão  e a política de investimento, composição e diversificação da carteira da Classe Investida  descrita em seu regulamento, a Classe Investida poderá ser incapaz de alocar a  totalidade de seus recursos, o que poderá inviabilizar a realização das chamadas de  capital por seu administrador, afetando negativamente a continuidade da Classe  Investida, a expectativa de seus cotistas, incluindo a Classe, com relação ao seu  horizonte de investimento, a rentabilidade da Classe Investida e, consequentemente, o  valor das Cotas da Classe Investida, impactando assim a Classe e os investimentos dos  Cotistas em Cotas.</a:t>
            </a:r>
          </a:p>
          <a:p>
            <a:r>
              <a:t> (d) Originação por meio fraudulento. A Classe Investida pode adquirir direitos creditórios  que tenham sido originados por meio fraudulento. Nesse caso, a Classe Investida não  poderá exigir o pagamento dos respectivos valores por parte dos devedores lesados,  restando-lhe somente exigir do cedente o pagamento do valor correspondente aos  direitos creditórios fraudulentos, na forma prevista no respectivo contrato de cessão. A  restituição devida pelo cedente poderá demorar a ser realizada ou simplesmente não  ocorrer. Em ambos os casos, o patrimônio da Classe Investida seria impactado  negativamente, igualmente afetando, consequentemente, a Classe.</a:t>
            </a:r>
          </a:p>
          <a:p>
            <a:r>
              <a:t> (e) Questionamento da validade e da eficácia da cessão dos Direitos Creditórios. A validade  e a eficácia da cessão dos direitos creditórios à Classe Investida poderão ser  questionadas, inclusive em decorrência de intervenção, liquidação, Regime de  Administração Especial Temporária (RAET), pedido de recuperação judicial, falência,  plano de recuperação extrajudicial ou outro procedimento de natureza similar  originador ou do cedente. A titularidade direitos creditórios poderá vir a ser  questionada caso (1) haja garantias reais sobre os direitos creditórios, constituídas  antes da sua cessão e sem o conhecimento da Classe Investida; (2) ocorra a penhora ou  outra forma de constrição judicial sobre os direitos creditórios, antes da sua cessão e sem  o conhecimento da Classe Investida; (3) seja verificada, em processo judicial, fraude  contra credores ou fraude à execução praticada pelo respectivo originador ou cedente;</a:t>
            </a:r>
          </a:p>
          <a:p>
            <a:r>
              <a:t> ou (4) a cessão dos direitos creditórios à Classe Investida seja revogada, quando restar  comprovado que foi praticada com a intenção de prejudicar os credores do originador  ou do cedente. Em qualquer hipótese, os direitos creditórios integrantes da carteira da  Classe Investida poderão ser bloqueados ou redirecionados para o pagamento de  outras obrigações do originador ou cedente, afetando negativamente os patrimônios  da Classe Investida e a rentabilidade das suas cotas.</a:t>
            </a:r>
          </a:p>
          <a:p>
            <a:r>
              <a:t>CNPJ 55563624000109 · Originador e endossante · Regulamento · ID 1192614 · 2026-04-30 · versão 1 · p. 28 · https://fnet.bmfbovespa.com.br/fnet/publico/visualizarDocumento?id=1192614</a:t>
            </a:r>
          </a:p>
          <a:p>
            <a:r>
              <a:t>CNPJ 55563624000109 · Originador e endossante · Excerto da fonte:</a:t>
            </a:r>
          </a:p>
          <a:p>
            <a:r>
              <a:t>Classe, na forma da regulamentação aplicável, observado que os prestadores de serviços eventualmente  subcontratados não podem ser, em relação à Classe, o originador, cedente, o GESTOR, consultoria especializada  ou partes a eles relacionadas, tais como definidas nas regras contábeis que tratam desse assunto.</a:t>
            </a:r>
          </a:p>
          <a:p>
            <a:r>
              <a:t>CNPJ 55563624000109 · Originador e endossante · Condição: Documentos atuais selecionados no inventário por categoria/escopo; a data documental isolada não comprova vigência jurídica.</a:t>
            </a:r>
          </a:p>
          <a:p>
            <a:r>
              <a:t>CNPJ 55563624000109 · Originador e endossante · Versão e prevalência: Documentos atuais selecionados no inventário por categoria/escopo; a data documental isolada não comprova vigência jurídica.</a:t>
            </a:r>
          </a:p>
          <a:p>
            <a:r>
              <a:t>CNPJ 55563624000109 · Originador e endossante · Resumo do histórico: {"count": 3, "dates": ["2025-01-31", "2026-01-31", "2026-04-30"], "document_count": 3, "sources": [{"document_id": "1192614", "title": "Regulamento", "reference_date": "2026-04-30", "version": "1", "page": "11", "url": "https://fnet.bmfbovespa.com.br/fnet/publico/visualizarDocumento?id=1192614", "sha256": "f56e63ace0acde41d2f47fb48f1ac7f3f7df5e2d32de092d7c5e075a52516632"}, {"document_id": "1178840", "title": "Demonstrações Financeiras", "reference_date": "2026-01-31", "version": "1", "page": 16, "url": "https://fnet.bmfbovespa.com.br/fnet/publico/visualizarDocumento?id=1178840", "sha256": "c458e98664c5c907ddb5a05a94b120bed4e05295b2bfc420f5ba69af0a229abe"}, {"document_id": "891861", "title": "Demonstrações Financeiras", "reference_date": "2025-01-31", "version": "1", "page": 16, "url": "https://fnet.bmfbovespa.com.br/fnet/publico/visualizarDocumento?id=891861", "sha256": "e9cb9e6ddbe505fe068cfcac33605165a98313489de0d3ce6d4d238263c3f3e7"}], "reference": {"path": "history/55563624000109.json", "criterion_id": "originator", "total_count": 3, "preview_count": 3, "full_text_deferred": true, "sha256": "7835d573fb58a3c19adf5b8ecc2aee2bdbb9a88f7a0c0209b5f262b64c7522e3"}}</a:t>
            </a:r>
          </a:p>
          <a:p>
            <a:r>
              <a:t>CNPJ 62552447000120 · Originador e endossante · Regulamento · ID 1200623 · 21/05/2026 · versão Consolidado21/05/2026 aprovado pelo ato1200625 · p. 12 · AnexoI4.4.1(i) · https://fnet.bmfbovespa.com.br/fnet/publico/visualizarDocumento?id=1200623</a:t>
            </a:r>
          </a:p>
          <a:p>
            <a:r>
              <a:t>CNPJ 62552447000120 · Originador e endossante · Excerto da fonte:</a:t>
            </a:r>
          </a:p>
          <a:p>
            <a:r>
              <a:t>BANCO VR S.A., instituição f inanceira, com sede no município e Estado de São Paulo, na Av. Dos Bandeirantes, n.º 460, Brooklin Paulista, CEP 04553-900, inscrita no CNPJ sob o n.º 78.626.983/0001- 63, ou qualquer outra sociedade do mesmo grupo econômico, na qualidade de endossante (“Endossante”), acompanhados de todos os direitos, privilégios, pref erências, prerrogativas, ações e garantias assegurados aos seus titulares; (ii) da subscrição de títulos de crédito e/ou valores mobiliários, incluindo, mas não se</a:t>
            </a:r>
          </a:p>
          <a:p>
            <a:r>
              <a:t>CNPJ 62552447000120 · Originador e endossante · Regulamento · ID 1200623 · 21/05/2026 · versão Consolidado21/05/2026 aprovado pelo ato1200625 · p. 29 · AnexoI12.14 · https://fnet.bmfbovespa.com.br/fnet/publico/visualizarDocumento?id=1200623</a:t>
            </a:r>
          </a:p>
          <a:p>
            <a:r>
              <a:t>CNPJ 62552447000120 · Originador e endossante · Excerto da fonte:</a:t>
            </a:r>
          </a:p>
          <a:p>
            <a:r>
              <a:t>VR BENEFÍCIOS E SERVIÇOS DE PROCESSAMENTO S.A., sociedade anônima com sede no município e Estado de São Paulo, na Av. dos Bandeirantes, n.º 460, Brooklin Paulista, CEP 04553-900, inscrita no CNPJ sob o n.º 02.535.864/0004-86 (“Agente de Retenção e Cobrança” ou “Originador”), para os serviços de retenção de Direitos Creditórios e de cobrança de Direitos Creditórios Inadimplidos, de acordo com os contratos de prestação de serviços de retenção e cobrança celebrados entre o Agente de Retenção e Cobrança e a Classe (“Contratos de Retenção/Cobrança”). 12.15 O Agente de Retenção e Cobrança poderá, às expensas da Classe,</a:t>
            </a:r>
          </a:p>
          <a:p>
            <a:r>
              <a:t>CNPJ 62552447000120 · Originador e endossante · Versão e prevalência: Leitura específica das cláusulas indicadas; condições e conflitos preservados. Seleção documental atual não comprova vigência jurídica por data isolada.</a:t>
            </a:r>
          </a:p>
          <a:p>
            <a:r>
              <a:t>CNPJ 63953620000165 · Originador e endossante · Anexo ao Regulamento · ID 1222863 · 02/06/2026 · versão AnexoConsignadoPrivado02/06/2026 · p. 5 · 4.3–4.4 · https://fnet.bmfbovespa.com.br/fnet/publico/visualizarDocumento?id=1222863</a:t>
            </a:r>
          </a:p>
          <a:p>
            <a:r>
              <a:t>CNPJ 63953620000165 · Originador e endossante · Excerto da fonte:</a:t>
            </a:r>
          </a:p>
          <a:p>
            <a:r>
              <a:t>4.3 Os Direitos Creditórios serão adquiridos pela Classe por meio: (i) contratos de promessa de endosso e/ou termos de endosso (“Contratos de Endosso”) firmados entre a Classe e a Parati Crédito, Financiamento e Investimento S.A., instituição financeira constituída na forma de uma sociedade por ações, com sede na cidade de Vitória, estado do Espírito Santo, na Avenida Nossa Senhora da Penha, 699, torre A, conjuntos 404 a 407, Santa Lúcia, CEP 29.056-250, inscrita no CNPJ sob nº 03.311.443/0001-91 (“Endossante” ou “Cedente”), acompanhados de todos os direitos, privilégios, preferências, prerrogativas, ações e garantias asse</a:t>
            </a:r>
          </a:p>
          <a:p>
            <a:r>
              <a:t>CNPJ 63953620000165 · Originador e endossante · Anexo ao Regulamento · ID 1222863 · 02/06/2026 · versão AnexoConsignadoPrivado02/06/2026 · p. 19 · 12.6 · https://fnet.bmfbovespa.com.br/fnet/publico/visualizarDocumento?id=1222863</a:t>
            </a:r>
          </a:p>
          <a:p>
            <a:r>
              <a:t>CNPJ 63953620000165 · Originador e endossante · Excerto da fonte:</a:t>
            </a:r>
          </a:p>
          <a:p>
            <a:r>
              <a:t>12.6 A Classe contratou a Tudo Serviços S.A., sociedade anônima, com sede no município de Fortaleza, Estado do Ceará, na Avenida Senador Virgulo Távora, nº 303, Lojas 02, 03, 04, 05, 06 e 19, Meireles, CEP 60.170-265, inscrita no CNPJ sob o nº 27.852.506/0001-85, cujos deveres, sem prejuízo daqueles estabelecidos neste Regulamento, no “Contrato de Serviços de Retenção e Cobrança e Outras Avenças”, celebrado entre o Agente de Retenção/Cobrança e a Classe (“Contrato de Serviços MT”) e no Contrato de Endosso, consistirão no monitoramento e cobrança dos Direitos Creditórios Inadimplidos, observado o disposto neste Anexo I e na</a:t>
            </a:r>
          </a:p>
          <a:p>
            <a:r>
              <a:t>CNPJ 63953620000165 · Originador e endossante · Condição: Nomeação nominal atual da classe; distinta da origem histórica dos ativos recebidos por cisão de outros veículos.</a:t>
            </a:r>
          </a:p>
          <a:p>
            <a:r>
              <a:t>CNPJ 63953620000165 · Originador e endossante · Versão e prevalência: Leitura específica das cláusulas indicadas; condições e conflitos preservados. Seleção documental atual não comprova vigência jurídica por data isolada.</a:t>
            </a:r>
          </a:p>
          <a:p>
            <a:r>
              <a:t>CNPJ 63953620000165 · Originador e endossante · Resumo do histórico: {"count": 8, "dates": ["2026-04-28", "2026-05-08", "2026-05-15"], "document_count": 3, "sources": [{"document_id": "1327859", "title": "Demonstrações Financeiras - Fusão, cisão e incorporação", "reference_date": "2026-05-15", "version": "1", "page": 23, "url": "https://fnet.bmfbovespa.com.br/fnet/publico/visualizarDocumento?id=1327859", "sha256": "dca1c68babb97f887528c3e2e47596a9c30f507b067981a35655b2f2da9c8054"}, {"document_id": "1298691", "title": "Demonstrações Financeiras - Fusão, cisão e incorporação", "reference_date": "2026-05-08", "version": "1", "page": 24, "url": "https://fnet.bmfbovespa.com.br/fnet/publico/visualizarDocumento?id=1298691", "sha256": "58c570d9b8d4d265330d3db3ea81c435b8e44a6dab4002aa37790652a1ee9819"}, {"document_id": "1282180", "title": "Demonstrações Financeiras - Fusão, cisão e incorporação", "reference_date": "2026-04-28", "version": "1", "page": 24, "url": "https://fnet.bmfbovespa.com.br/fnet/publico/visualizarDocumento?id=1282180", "sha256": "afaaa0e6809be4385e5bdb6c911aac582032c5bdbac3d7750234bf9eaf00438a"}], "reference": {"path": "history/63953620000165.json", "criterion_id": "originator", "total_count": 8, "preview_count": 3, "full_text_deferred": true, "sha256": "a7b89077f5e21098c2d601c303faabc3ff6b9729f89d8afecdc60fe1404720c1"}}</a:t>
            </a:r>
          </a:p>
          <a:p>
            <a:r>
              <a:t>CNPJ 54871427000194 · Devedor e consignação · Regulamento · ID 670691 · 2024-04-28 · versão 1 · p. 29 · https://fnet.bmfbovespa.com.br/fnet/publico/visualizarDocumento?id=670691</a:t>
            </a:r>
          </a:p>
          <a:p>
            <a:r>
              <a:t>CNPJ 54871427000194 · Devedor e consignação · Excerto da fonte:</a:t>
            </a:r>
          </a:p>
          <a:p>
            <a:r>
              <a:t>Anexo I ao Regulamento CLASSE ÚNICA DE RESPONSABILIDADE LIMITADA DO CONSIGNADO DELTA RECEIVABLES I FUNDO DE INVESTIMENTO EM DIREITOS CREDITÓRIOS  pelo Endossante e depositados em seu conta de sua titularidade para posterior repasse à  Classe. Neste caso, a Classe poderá sofrer perdas principalmente em relação ao atraso na  regularização da titularidade e pagamento dos Direitos Creditórios.</a:t>
            </a:r>
          </a:p>
          <a:p>
            <a:r>
              <a:t> (v) Risco de pré-pagamento dos Direitos Creditórios. A ocorrência de pré-  pagamentos em relação a um ou mais Direitos Creditórios poderá ocasionar perdas à Classe.</a:t>
            </a:r>
          </a:p>
          <a:p>
            <a:r>
              <a:t> A ocorrência de pré-pagamentos (pagamento em data anterior àquela originalmente pactuada)  de Direitos Creditórios reduz o horizonte original de rendimentos esperados pela Classe de  tais Direitos Creditórios, uma vez que o pré-pagamento poderá, se assim permitido pela  documentação do Direito Creditório ou, conf orme o caso, pela legislação aplicável, ser  realizado pelo valor de emissão do Direito Creditório atualizado até a data do pré-pagamento  pela taxa de juros pactuada entre os Endossantes e os Devedores de tais Direitos Creditórios,  de modo que os juros remuneratórios incidentes desde a data da realização do pré-pagamento  até a data de vencimento do respectivo Direito Creditório deixam de ser devidos à Classe.</a:t>
            </a:r>
          </a:p>
          <a:p>
            <a:r>
              <a:t> (vi) Riscos associados aos Devedores: os Direitos Creditórios a serem cedidos à  Classe serão descontados da remuneração do Devedor, através de desconto em f olha de  pagamento ou de benefício. Nesse sentido, na ocorrência de pré-pagamento, as parcelas  serão pagas antecipadamente e a Classe deverá utilizar tais montantes no pré-pagamento dos  Direitos Creditórios. Nesta hipótese, a Classe poderá não encontrar Direitos Creditórios  disponíveis para serem adquiridos pela Classe, o que poderá afetar a rentabilidade da Classe.</a:t>
            </a:r>
          </a:p>
          <a:p>
            <a:r>
              <a:t> (vii) Risco de Competição: o mercado de empréstimos experimentou grande  expansão no Brasil nos últimos anos. Nesse contexto, a Resolução CMN nº 4.292, alterada  pela Resolução nº 4.762, de 27 de novembro de 2019, dispõe que deve ser garantido às  pessoas naturais devedoras de operações de crédito (tais como as CCB) a possibilidade de  realizarem a portabilidade destas operações para outras instituições financeiras, inclusive nos  casos em que tenham sido objeto de cessão (tais como as realizadas à Classe). Nesse  cenário, é possível que os competidores do Endossante ofereçam condições e taxas mais  vantajosas para os empréstimos pessoais com consignação em f olha de pagamento ou de  benef ícios, o que pode causar a migração de clientes da Endossante para outras instituições  f inanceiras, gerando a liquidação antecipada de parte das CCB existentes e/ou redução no  número de Direitos Creditórios cedidos. Referida competição poderá af etar os resultados da  Classe, impactando negativamente os rendimentos dos Cotistas. Ainda, a portabilidade a um  Devedor pode acarretar no recebimento de valores inf eriores aos esperados pela Classe.</a:t>
            </a:r>
          </a:p>
          <a:p>
            <a:r>
              <a:t> (viii) Insuf iciência dos Critérios de Elegibilidade. Os Critérios de Elegibilidade têm a  f inalidade de selecionar os Direitos Creditórios passíveis de aquisição pela Classe. Não  obstante tais Critérios de Elegibilidade, a solvência dos Direitos Creditórios que compõem a  Carteira depende integralmente, mas não somente, da situação econômico-financeira dos  Devedores. Dessa f orma, a observância pelo GESTOR dos Critérios de Elegibilidade não  constitui garantia de adimplência dos Devedores.</a:t>
            </a:r>
          </a:p>
          <a:p>
            <a:r>
              <a:t> Os Endossantes não necessariamente garantem a solvência dos seus respectivos Devedores.</a:t>
            </a:r>
          </a:p>
          <a:p>
            <a:r>
              <a:t> O Endossante dos Direitos Creditórios não assumirá responsabilidade pelo seu pagamento ou  pela solvência dos respectivos Devedores. A Classe sofrerá o impacto do inadimplemento dos  Direitos Creditórios vencidos e não pagos pelos respectivos Devedores.</a:t>
            </a:r>
          </a:p>
          <a:p>
            <a:r>
              <a:t> (ix) Possibilidade de aquisição de Direitos Creditórios cedidos por Endossante  e/ou devidos por Devedores cujas demonstrações financeiras não sejam auditadas. A Classe,  desde que sejam respeitados os limites de concentração previstos neste Regulamento, poderá  manter a qualquer tempo em sua Carteira, Direitos Creditórios cedidos por Endossante e/ou  devidos por Devedores cujas demonstrações f inanceiras não sejam auditadas por Auditor  Independente registrado na CVM. Nesse sentido, não haverá verificação independente sobre  tais demonstrações f inanceiras que af irme se estas representam adequadamente, em todos  os aspectos relevantes, as respectivas posições patrimoniais e f inanceiras, os resultados de  suas operações, as mutações de seus respectivos patrimônios líquidos tampouco as origens  e aplicações de seus recursos.</a:t>
            </a:r>
          </a:p>
          <a:p>
            <a:r>
              <a:t>CNPJ 54871427000194 · Devedor e consignação · Regulamento · ID 670691 · 2024-04-28 · versão 1 · p. 27 · 14.2 · https://fnet.bmfbovespa.com.br/fnet/publico/visualizarDocumento?id=670691</a:t>
            </a:r>
          </a:p>
          <a:p>
            <a:r>
              <a:t>CNPJ 54871427000194 · Devedor e consignação · Excerto da fonte:</a:t>
            </a:r>
          </a:p>
          <a:p>
            <a:r>
              <a:t>14.2 Todos os custos e despesas ref eridos neste Capítulo, inclusive para salvaguarda de direitos e  prerrogativas da Classe e/ou com a cobrança judicial e/ou extrajudicial de Direitos Creditórios  Inadimplidos, serão de inteira responsabilidade da Classe, não estando o ADMINISTRADOR, o  GESTOR, o Endossante, os Devedores, o CUSTODIANTE e quaisquer de suas respectivas pessoas  controladoras, sociedades por estes direta ou indiretamente controladas, a estes coligadas ou outras  sociedades sob controle comum, em conjunto ou isoladamente, obrigados pelo adiantamento ou  pagamento de valores relacionados aos procedimentos ref eridos neste Capítulo.</a:t>
            </a:r>
          </a:p>
          <a:p>
            <a:r>
              <a:t>CNPJ 54871427000194 · Devedor e consignação · Regulamento · ID 670691 · 2024-04-28 · versão 1 · p. 31 · https://fnet.bmfbovespa.com.br/fnet/publico/visualizarDocumento?id=670691</a:t>
            </a:r>
          </a:p>
          <a:p>
            <a:r>
              <a:t>CNPJ 54871427000194 · Devedor e consignação · Excerto da fonte:</a:t>
            </a:r>
          </a:p>
          <a:p>
            <a:r>
              <a:t>Anexo I ao Regulamento CLASSE ÚNICA DE RESPONSABILIDADE LIMITADA DO CONSIGNADO DELTA RECEIVABLES I FUNDO DE INVESTIMENTO EM DIREITOS CREDITÓRIOS  a resgates de suas Cotas e/ou poderá ser obrigado a se desfazer de tais Ativos Financeiros  de Liquidez em condições menos f avoráveis do que se não houvesse a ref erida situação de  f alta de liquidez.</a:t>
            </a:r>
          </a:p>
          <a:p>
            <a:r>
              <a:t> (iv) Liquidação antecipada do FUNDO ou da Classe. Observado o disposto neste  Regulamento, o FUNDO ou a Classe poderão ser liquidados antecipadamente, caso ocorra  qualquer Evento de Liquidação, ou se assim deliberado pelos Cotistas reunidos em  Assembleia Geral de Cotistas. Por este motivo, os Cotistas poderão ter seu horizonte original  de investimento reduzido e poderão não conseguir reinvestir os recursos recebidos com a  mesma remuneração buscada pela Classe, não sendo devida pela Classe, pelo  ADMINISTRADOR, pelo GESTOR ou pelo CUSTODIANTE qualquer multa ou penalidade, a  qualquer título, em decorrência desse f ato. Adicionalmente, ocorrendo qualquer uma das  hipóteses de liquidação antecipada do FUNDO ou da Classe, poderá não haver recursos  disponíveis em moeda corrente nacional para realizar o pagamento aos Cotistas, que poderão  ser pagos com os Direitos Creditórios e Ativos Financeiros de Liquidez detidos em Carteira, os  quais estão sujeitos aos riscos apontados no item (iii) acima.</a:t>
            </a:r>
          </a:p>
          <a:p>
            <a:r>
              <a:t> (v) Amortização condicionada das Cotas. A única f onte de recursos da Classe  para ef etuar o pagamento de resgate ou amortização das Cotas, conforme o caso, é a  liquidação: (i) dos Direitos Creditórios, pelos respectivos Devedores; e (ii) dos Ativos  Financeiros de Liquidez, pelas respectivas contrapartes. Após o recebimento desses recursos  e, se f or o caso, depois de esgotados todos os meios cabíveis para a cobrança, extrajudicial  ou judicial, dos referidos ativos, a Classe não disporá de quaisquer outras verbas para efetuar  o resgate ou amortização das Cotas, conforme o caso, o que poderá acarretar prejuízo aos  Cotistas.</a:t>
            </a:r>
          </a:p>
          <a:p>
            <a:r>
              <a:t> Ademais, a Classe está exposta a determinados riscos inerentes aos Direitos Creditórios e  Ativos Financeiros de Liquidez e aos mercados em que são negociados, incluindo a eventual  impossibilidade de alienar ativos em caso de necessidade, especialmente os Direitos  Creditórios, devido à inexistência de um mercado secundário ativo e organizado para a  negociação dessa espécie de ativo. Considerando-se a sujeição do resgate das Cotas à  liquidação dos Direitos Creditórios e/ou dos Ativos Financeiros de Liquidez, conforme descrito  acima, tanto o ADMINISTRADOR quanto o GESTOR e o CUSTODIANTE estão  impossibilitados de assegurar que os resgates das Cotas ocorrerão nas datas originalmente  previstas, não sendo devido, nesta hipótese, pela Classe ou qualquer outra pessoa, incluindo  o ADMINISTRADOR, o GESTOR e o CUSTODIANTE, qualquer multa ou penalidade, de  qualquer natureza.</a:t>
            </a:r>
          </a:p>
          <a:p>
            <a:r>
              <a:t> (vi) Ausência de classificação de risco das Cotas e Política de Investimentos  genérica. A ausência de requisitos rígidos relacionados aos Direitos Creditórios passíveis de  aquisição pela Classe poderá dificultar a def inição do perfil de risco da Carteira, af etando a  capacidade de o Cotista avaliar o risco de seu invest imento. As Cotas não possuem  classificação de risco emitida por Agência Classificadora de Risco. Esses f atores podem  dif icultar a avaliação, por parte dos investidores, da qualidade do crédito representado pelas  Cotas e com a capacidade da Classe em honrar com os pagamentos das Cotas.</a:t>
            </a:r>
          </a:p>
          <a:p>
            <a:r>
              <a:t>CNPJ 54871427000194 · Devedor e consignação · Condição: Documentos atuais selecionados no inventário por categoria/escopo; a data documental isolada não comprova vigência jurídica.</a:t>
            </a:r>
          </a:p>
          <a:p>
            <a:r>
              <a:t>CNPJ 54871427000194 · Devedor e consignação · Versão e prevalência: Documentos atuais selecionados no inventário por categoria/escopo; a data documental isolada não comprova vigência jurídica.</a:t>
            </a:r>
          </a:p>
          <a:p>
            <a:r>
              <a:t>CNPJ 54871427000194 · Devedor e consignação · Resumo do histórico: {"count": 2, "dates": ["2024-04-19", "2024-04-28"], "document_count": 2, "sources": [{"document_id": "670691", "title": "Regulamento", "reference_date": "2024-04-28", "version": "1", "page": "38", "url": "https://fnet.bmfbovespa.com.br/fnet/publico/visualizarDocumento?id=670691", "sha256": "bf16dd7f1a62d5cdbf2e2d54fef81783783f7310fbc99c3a8f00459bdf9d037b"}, {"document_id": "670689", "title": "Regulamento", "reference_date": "2024-04-19", "version": "1", "page": 30, "url": "https://fnet.bmfbovespa.com.br/fnet/publico/visualizarDocumento?id=670689", "sha256": "891bc9bc5d87bbc02ec139077a84d2702eb81ea02035fb71d24f5b8366b94a0b"}], "reference": {"path": "history/54871427000194.json", "criterion_id": "debtor", "total_count": 2, "preview_count": 2, "full_text_deferred": true, "sha256": "35d7cd99be50c7287c9fb675cf4f2e736002315295a225a9efa79c8d9186d874"}}</a:t>
            </a:r>
          </a:p>
          <a:p>
            <a:r>
              <a:t>CNPJ 60010416000112 · Devedor e consignação · Regulamento · ID 1051393 · 2025-10-09 · versão 1 · p. 35 · 15.1.4 · https://fnet.bmfbovespa.com.br/fnet/publico/visualizarDocumento?id=1051393</a:t>
            </a:r>
          </a:p>
          <a:p>
            <a:r>
              <a:t>CNPJ 60010416000112 · Devedor e consignação · Excerto da fonte:</a:t>
            </a:r>
          </a:p>
          <a:p>
            <a:r>
              <a:t>15.1.4 Riscos específicos</a:t>
            </a:r>
          </a:p>
          <a:p>
            <a:r>
              <a:t> (i)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 icar inadimplente e,  consequentemente, não haverá repasse à Classe do respectivo Direito Creditório, o que  poderá resultar em perdas f inanceiras à Classe e aos Cotistas.</a:t>
            </a:r>
          </a:p>
          <a:p>
            <a:r>
              <a:t> (ii) Risco do Empregador não efetuar o desconto em folha: o repasse dos recursos oriundos  dos Direitos Creditórios à Classe depende da realização, pelo Empregador, da Escrituração e  do desconto na respectiva f olha de pagamento do Devedor. Na hipótese do Empregador  deixar de realizar a Escrituração ou os descontos na folha de pagamento, não haverá repasse  de recursos à Classe, podendo causar prejuízos à Classe e aos Cotistas.</a:t>
            </a:r>
          </a:p>
          <a:p>
            <a:r>
              <a:t> (iii) Risco de perda do vínculo empregatício com o Empregador: caso o Devedor perca o  vínculo empregatício com o Empregador, não haverá remuneração e f olha de pagamento para  realização dos descontos para pagamento dos Direitos Creditórios. Neste caso, não obstante  a possibilidade do Agente de Retenção/Cobrança realizar a cobrança ativa dos Direitos  Creditórios diretamente do Devedor, a ausência de remuneração poderá deixar o Devedor  inadimplente perante a Classe até que o seu vínculo empregatício seja retomado e seja  ef etuado o procedimento operacional para que a CCB seja aditada e/ou seja realizado o  Processo de Reinicialização. Tais situações poderão resultar em prejuízos à Classe e aos  Cotistas.</a:t>
            </a:r>
          </a:p>
          <a:p>
            <a:r>
              <a:t>CNPJ 60010416000112 · Devedor e consignação · Regulamento · ID 1051393 · 2025-10-09 · versão 1 · p. 36 · https://fnet.bmfbovespa.com.br/fnet/publico/visualizarDocumento?id=1051393</a:t>
            </a:r>
          </a:p>
          <a:p>
            <a:r>
              <a:t>CNPJ 60010416000112 · Devedor e consignação · Excerto da fonte:</a:t>
            </a:r>
          </a:p>
          <a:p>
            <a:r>
              <a:t>Anexo I ao Regulamento CLASSE ÚNICA DO MT I CONSIGNADO PRIVADO I FUNDO DE INVESTIMENTO EM DIREITOS CREDITÓRIOS RESPONSABILIDADE LIMITADA  a qualquer momento, os recursos decorrentes dos Direitos Creditórios.</a:t>
            </a:r>
          </a:p>
          <a:p>
            <a:r>
              <a:t> (iii) Risco de validação das informações para conciliação e reconciliação dos Direitos  Creditórios adquiridos pela Classe: as inf ormações para conciliação dos pagamentos,  sendo considerado como tal, também, o Arquivo Dataprev, listando todos os empregados  cujas f olhas de pagamento serão sujeitas a desconto no mês relevante, nos valores acordados  ao ef etuar a Consignação, e qualquer glosa será enviada pela CEF ao Endossante, que  ef etuará a conciliação e, posteriormente, enviará as inf ormações ao Custodiante. Caso o  Endossante não f orneça essas inf ormações em tempo hábil ou f or verif icada qualquer  inconsistência nas informações recebidas pelo Custodiante, poderá isso impedir ou dar origem  a f alhas no processo de reconciliação dos valores depositados na Conta de Cobrança da  Classe e causando perdas à Classe e ao Cotista.</a:t>
            </a:r>
          </a:p>
          <a:p>
            <a:r>
              <a:t> (iv) Risco operacional dos sistemas: o desconto na f olha de pagamento do Devedor das  parcelas da CCB e a transf erência para o Endossante dos Direitos Creditórios serão  processados por um sistema controlado pela Dataprev, e o Endossante, o Administrador ou o  Gestor não têm controle sobre esse processo. Assim, qualquer f alha ou mudança nesse  sistema poderá atrasar ou reduzir o desconto dos rendimentos dos Devedores ou sua  transf erência para a Classe. Nesse caso, a rentabilidade e a propriedade da Classe poderão  ser adversamente af etadas enquanto o problema do sistema persistir, ou até que todos os  valores sejam devidamente transf eridos.</a:t>
            </a:r>
          </a:p>
          <a:p>
            <a:r>
              <a:t> (v) Risco operacional do Contrato: o desconto na f olha de pagamento das parcelas dos  empréstimos concedidos aos Devedores é permitido pelo Convênio Consignado Privado. As  partes do Convênio Consignado Privado devem seguir certas regras para manter o Convênio  Consignado Privado, e a violação delas poderá levar à sua rescisão. Além disso, mudanças  legais podem af etar e/ou tornar inviável a manutenção do Convênio Consignado Privado.</a:t>
            </a:r>
          </a:p>
          <a:p>
            <a:r>
              <a:t> No caso de rescisão do Convênio Consignado Privado, a estrutura de cobrança dos Direitos  Creditórios (desconto na f olha de pagamento) poderá ser comprometida, dando origem à  necessidade de adoção de uma nova estrutura, que poderá não ser tão eficaz quanto ela ou  mesmo revelar, na prática, ser inadequada ou ter altos custos operacionais. Esses eventos  podem levar a perdas patrimoniais para a Classe, na medida em que este deixará de receber,  def initiva ou temporariamente, recursos oriundos dos Direitos Creditórios, no todo ou em parte.</a:t>
            </a:r>
          </a:p>
          <a:p>
            <a:r>
              <a:t> Adicionalmente, de acordo com o Contrato de Endosso, a manutenção do Convênio  Consignado Privado é uma condição para a aquisição de novos Direitos Creditórios pela  Classe e, portanto, no caso de rescisão do Convênio Consignado Privado, a Classe poderá  ser impedido de adquirir novos Direitos Creditórios.</a:t>
            </a:r>
          </a:p>
          <a:p>
            <a:r>
              <a:t>CNPJ 60010416000112 · Devedor e consignação · Regulamento · ID 1051393 · 2025-10-09 · versão 1 · p. 31 · 13.2 · https://fnet.bmfbovespa.com.br/fnet/publico/visualizarDocumento?id=1051393</a:t>
            </a:r>
          </a:p>
          <a:p>
            <a:r>
              <a:t>CNPJ 60010416000112 · Devedor e consignação · Excerto da fonte:</a:t>
            </a:r>
          </a:p>
          <a:p>
            <a:r>
              <a:t>13.2 Todos os custos e despesas ref eridos neste Capítulo, inclusive para salvaguarda de direitos e  prerrogativas da Classe e/ou com a cobrança judicial e/ou extrajudicial de Direitos Creditórios Inadimplidos  ou Direitos Creditórios a Perf ormar, serão de inteira responsabilidade da Classe, não estando o  Administrador, o Gestor, o Endossante, os Devedores, o Custodiante e quaisquer de suas respectivas  pessoas controladoras, sociedades por estes direta ou indiretamente controladas, a estes coligadas ou  outras sociedades sob controle comum, em conjunto ou isoladamente, obrigados pelo adiantamento ou  pagamento de valores relacionados aos procedimentos ref eridos neste Capítulo.</a:t>
            </a:r>
          </a:p>
          <a:p>
            <a:r>
              <a:t>CNPJ 60010416000112 · Devedor e consignação · Condição: Documentos atuais selecionados no inventário por categoria/escopo; a data documental isolada não comprova vigência jurídica.</a:t>
            </a:r>
          </a:p>
          <a:p>
            <a:r>
              <a:t>CNPJ 60010416000112 · Devedor e consignação · Versão e prevalência: Documentos atuais selecionados no inventário por categoria/escopo; a data documental isolada não comprova vigência jurídica.</a:t>
            </a:r>
          </a:p>
          <a:p>
            <a:r>
              <a:t>CNPJ 60010416000112 · Devedor e consignação · Resumo do histórico: {"count": 2, "dates": ["2025-03-20", "2025-10-09"], "document_count": 2, "sources": [{"document_id": "1051393", "title": "Regulamento", "reference_date": "2025-10-09", "version": "1", "page": "9-10, 42", "url": "https://fnet.bmfbovespa.com.br/fnet/publico/visualizarDocumento?id=1051393", "sha256": "8469d613078ffd5a6c1d217885d8a397a16342c0b937ae4aa24b106505f233ae"}, {"document_id": "993786", "title": "Regulamento", "reference_date": "2025-03-20", "version": "1", "page": 35, "clause": "15.1.4", "url": "https://fnet.bmfbovespa.com.br/fnet/publico/visualizarDocumento?id=993786", "sha256": "fd0fdd369a195510d81f81f505195a0b09e5f43522a990afa7d58c4f872921c8"}], "reference": {"path": "history/60010416000112.json", "criterion_id": "debtor", "total_count": 2, "preview_count": 2, "full_text_deferred": true, "sha256": "8e2bd813f4c51cf01f6bfaad164bafe69d2bbb192f753eac92da3a01c2e63046"}}</a:t>
            </a:r>
          </a:p>
          <a:p>
            <a:r>
              <a:t>CNPJ 62696791000193 · Devedor e consignação · Regulamento · ID 1143317 · 2026-03-20 · versão 1 · p. 47 · 10.2 · https://fnet.bmfbovespa.com.br/fnet/publico/visualizarDocumento?id=1143317</a:t>
            </a:r>
          </a:p>
          <a:p>
            <a:r>
              <a:t>CNPJ 62696791000193 · Devedor e consignação · Excerto da fonte:</a:t>
            </a:r>
          </a:p>
          <a:p>
            <a:r>
              <a:t>10.2. As mudanças climáticas podem impactar severamente os ciclos produtivos de commodities  agrícolas, ocasionando, quebras de saf ra, volatilidade de preços, choques de of erta,  deterioração da qualidade dos produtos por elas atingidos, bem como interrupção no  abastecimento destes. Ref eridas mudanças podem af etar adversamente a capacidade  produtiva e de entrega dos produtos agrícolas pelos devedores, cenário este que impactará  negativamente a capacidade de pagamento dos Ativos-Alvo integrantes da carteira da Classe  pelos devedores e, conforme o caso, pelas pessoas devedoras dos bens e direitos onerados  em f avor da Classe.</a:t>
            </a:r>
          </a:p>
          <a:p>
            <a:r>
              <a:t>CNPJ 62696791000193 · Devedor e consignação · Condição: Documentos atuais selecionados no inventário por categoria/escopo; a data documental isolada não comprova vigência jurídica.</a:t>
            </a:r>
          </a:p>
          <a:p>
            <a:r>
              <a:t>CNPJ 62696791000193 · Devedor e consignação · Versão e prevalência: Documentos atuais selecionados no inventário por categoria/escopo; a data documental isolada não comprova vigência jurídica.</a:t>
            </a:r>
          </a:p>
          <a:p>
            <a:r>
              <a:t>CNPJ 55563624000109 · Devedor e consignação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Devedor e consignação · Resumo do histórico: {"count": 1, "dates": ["2026-04-30"], "document_count": 1, "sources": [{"document_id": "1192614", "title": "Regulamento", "reference_date": "2026-04-30", "version": "1", "page": "11-12", "url": "https://fnet.bmfbovespa.com.br/fnet/publico/visualizarDocumento?id=1192614", "sha256": "f56e63ace0acde41d2f47fb48f1ac7f3f7df5e2d32de092d7c5e075a52516632"}], "reference": {"path": "history/55563624000109.json", "criterion_id": "debtor", "total_count": 1, "preview_count": 1, "full_text_deferred": true, "sha256": "7835d573fb58a3c19adf5b8ecc2aee2bdbb9a88f7a0c0209b5f262b64c7522e3"}}</a:t>
            </a:r>
          </a:p>
          <a:p>
            <a:r>
              <a:t>CNPJ 62552447000120 · Devedor e consignação · Regulamento · ID 1200623 · 2026-05-21 · versão 1 · p. 35 · https://fnet.bmfbovespa.com.br/fnet/publico/visualizarDocumento?id=1200623</a:t>
            </a:r>
          </a:p>
          <a:p>
            <a:r>
              <a:t>CNPJ 62552447000120 · Devedor e consignação · Excerto da fonte:</a:t>
            </a:r>
          </a:p>
          <a:p>
            <a:r>
              <a:t>ativos desses emissores, causando perdas à Classe e ao Cotista. Além disso, a f alta de capacidade ou disposição de pagar por qualquer dos emissores dos Ativos Financeiros de Liquidez ou das contrapartes nas transações que compõem a Carteira causará perdas à Classe, e o que também poderá incorrer em custos para f ins de recuperação de seus recebíveis.</a:t>
            </a:r>
          </a:p>
          <a:p>
            <a:r>
              <a:t>(v) Riscos associados aos Devedores: no caso de Devedores no âmbito das operações de consignado privado, a sua capacidade de pagamento poderá ser af etada se, por exemplo, o Devedor tiver o seu contrato de emprego rescindido ou em virtude de decisão judicial, o Devedor for obrigado a pagar alimentos, que têm prioridade sobre o empréstimo para f ins de desconto na f 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 etar a rentabilidade da Classe. Já no caso de Devedores no âmbito das operações de Saque-aniversário, como os Direitos Creditórios a serem endossados à Classe serão descontados pelo FGTS da remuneração do Devedor, na ocorrência de qualquer evento que, nos termos da legislação aplicável, determine o pagamento antecipado do Saque-aniversário ao Devedor, a exemplo do falecimento do Devedor, dentre outros, as parcelas do Saque- aniversário serão pagas antecipadamente e a Classe deverá utilizar tais montantes no pré-pagamento dos Direitos Creditórios. Nesta hipótese, a Classe poderá não encontrar Direitos Creditórios disponíveis para serem adquiridos pela Classe, o que poderá af etar a rentabilidade da Classe.</a:t>
            </a:r>
          </a:p>
          <a:p>
            <a:r>
              <a:t>Risco de liquidez</a:t>
            </a:r>
          </a:p>
          <a:p>
            <a:r>
              <a:t>(i) Risco de liquidez: consiste no risco de redução ou inexistência de demanda pelos ativos que compõem a Classe nos respectivos mercados em que são negociados, devido às condições específicas desses ativos ou aos mercados em que são negociados. Devido a esses riscos, o Gestor poderá encontrar dificuldades em liquidar posições ou negociar esses ativos pelo preço e prazo desejados, de acordo com a estratégia de gestão adotada pela Classe, que permanecerá exposto, durante o período de baixa liquidez, aos riscos associados a esses ativos e posições assumidas em mercados de derivativos, se houver, que poderão até exigir que o Gestor aceite descontos em seus preços para realizar negociações no mercado. Esses f atores poderão prejudicar o pagamento de Amortizações ao Cotista, nos valores e dentro dos termos aqui estabelecidos.</a:t>
            </a:r>
          </a:p>
          <a:p>
            <a:r>
              <a:t>(ii) Riscos do mercado secundário: A Classe é constituída sob a f orma de condomínio fechado, de modo que as Cotas somente serão resgatadas em virtude da liquidação da Classe. Uma vez que o Prazo de Duração da Classe é indeterminado, o Cotista titular das Cotas não terá liquidez em seu investimento na Classe, exceto</a:t>
            </a:r>
          </a:p>
          <a:p>
            <a:r>
              <a:t>(a) por ocasião das Amortizações e dos resgates, nos termos deste Regulamento; (b) por meio da alienação de suas Cotas no mercado secundário; ou (c) na liquidação antecipada do FUNDO ou da Classe.</a:t>
            </a:r>
          </a:p>
          <a:p>
            <a:r>
              <a:t>Além disso, atualmente, o mercado secundário de cotas de fundos de investimento apresenta baixa liquidez, o que pode dificultar a venda das Cotas ou ocasionar a obtenção de um preço de venda que cause perda de patrimônio ao Cotista. Não há qualquer garantia do Administrador, do Gestor, da consultora ou do Custodiante em relação à possibilidade de venda das Cotas no mercado secundário ou ao preço obtido por elas, ou mesmo garantia de saída ao Cotista.</a:t>
            </a:r>
          </a:p>
          <a:p>
            <a:r>
              <a:t>Riscos específicos</a:t>
            </a:r>
          </a:p>
          <a:p>
            <a:r>
              <a:t>(i)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ficar inadimplente e, consequentemente, não haverá repasse à Classe do respectivo Direito Creditório, o que poderá resultar em perdas f inanceiras à Classe e aos Cotistas. Para os f ins deste Regulamento, “Empregador” signif ica a empresa com qual o Devedor mantém vínculo empregatício registrado junto à CTPS.</a:t>
            </a:r>
          </a:p>
          <a:p>
            <a:r>
              <a:t>(ii) Risco do Empregador não efetuar o desconto em folha: o repasse dos recursos oriundos dos Direitos Creditórios à Classe depende da realização, pelo Empregador, da escrituração da Consignação a ser</a:t>
            </a:r>
          </a:p>
          <a:p>
            <a:r>
              <a:t>CNPJ 62552447000120 · Devedor e consignação · Regulamento · ID 1200623 · 2026-05-21 · versão 1 · p. 36 · https://fnet.bmfbovespa.com.br/fnet/publico/visualizarDocumento?id=1200623</a:t>
            </a:r>
          </a:p>
          <a:p>
            <a:r>
              <a:t>CNPJ 62552447000120 · Devedor e consignação · Excerto da fonte:</a:t>
            </a:r>
          </a:p>
          <a:p>
            <a:r>
              <a:t>realizada pelo empregador, junto ao eSocial, após recebimento de notificação comunicando-o da contratação, pelo Devedor, do empréstimo a ser pago por Consignação (“Escrituração”), e do desconto na respectiva folha de pagamento do Devedor. Na hipótese do Empregador deixar de realizar a Escrituração ou os descontos na f olha de pagamento, não haverá repasse de recursos à Classe, podendo causar prejuízos à Classe e aos Cotistas.</a:t>
            </a:r>
          </a:p>
          <a:p>
            <a:r>
              <a:t>(iii) Risco de perda do vínculo empregatício com o Empregador: caso o Devedor perca o vínculo empregatício com o Empregador, não haverá remuneração e f olha de pagamento para realização dos descontos para pagamento dos Direitos Creditórios. Neste caso, não obstante a possibilidade do Agente de Retenção e Cobrança realizar a cobrança ativa dos Direitos Creditórios diretamente do Devedor, a ausência de remuneração poderá deixar o Devedor inadimplente perante a Classe até que o seu vínculo empregatício seja retomado e seja efetuado o procedimento operacional para que a CCB seja aditada e/ou seja realizado o Processo de Reinicialização. Tais situações poderão resultar em prejuízos à Classe e aos Cotistas.</a:t>
            </a:r>
          </a:p>
          <a:p>
            <a:r>
              <a:t>(iv) Risco relativo ao Agente de Retenção e Cobrança: A solvência do Agente de Retenção e Cobrança quanto às suas obrigações financeiras poderá impactar o cumprimento de suas obrigações perante a Classe e, consequentemente, os rendimentos da Classe poderão ser adversamente af etados.</a:t>
            </a:r>
          </a:p>
          <a:p>
            <a:r>
              <a:t>Riscos operacionais</a:t>
            </a:r>
          </a:p>
          <a:p>
            <a:r>
              <a:t>(i) Risco de irregularidade dos Documentos Comprobatórios e/ou Documentos Suporte: o terceiro contratado pelo Gestor, que atuará sob responsabilidade do Gestor, deverá realizar a verif icação da regularidade dos Documentos Comprobatórios. A Carteira poderá conter Direitos Creditórios com documentação irregular, o que poderá impedir que a Classe exerça plenamente as prerrogativas derivadas da titularidade dos Direitos Creditórios.</a:t>
            </a:r>
          </a:p>
          <a:p>
            <a:r>
              <a:t>(ii) Risco operacional da Dataprev e da CEF: o empréstimo contraído pelos Devedores é pago por meio de desconto na f olha de pagamento f eito pela Dataprev e pela CEF, conf orme aplicável. É possível que os rendimentos dos Devedores sejam atrasados ou não pagos devido a questões operacionais envolvendo a Dataprev e/ou a CEF. Nesse caso, a Carteira poderá sofrer, já que não receberá automaticamente, e também poderá ter dificuldades para receber, a qualquer momento, os recursos decorrentes dos Direitos Creditórios.</a:t>
            </a:r>
          </a:p>
          <a:p>
            <a:r>
              <a:t>(iii) Risco operacional do FGTS: o empréstimo contraído pelos Devedores é pago por meio de desconto dos Saques-aniversário feitos pelo FGTS. É possível que os rendimentos dos Devedores sejam atrasados ou não pagos devido a questões operacionais envolvendo a CEF, incluindo, sem se limitar, a erros e atrasos operacionais envolvendo a CEF. Nesse caso, a Carteira poderá sofrer, já que não receberá automaticamente, e também poderá ter dif iculdades para receber, a qualquer momento, os recursos decorrentes dos Direitos Creditórios.</a:t>
            </a:r>
          </a:p>
          <a:p>
            <a:r>
              <a:t>(iv) Risco de validação das informações para conciliação e reconciliação dos Direitos Creditórios adquiridos pela Classe: as inf ormações para conciliação dos pagamentos, sendo considerado como tal, também, o Arquivo Dataprev e o Arquivo de Liquidação Saque-aniversário, listando todos os empregados cujas f olhas de pagamento ou Saques Aniversário serão sujeitos a desconto no mês, nos valores acordados ao ef etuar a Consignação, e qualquer glosa será enviada pela CEF ao Endossante, que efetuará a conciliação e, posteriormente, enviará as informações ao Custodiante. Caso o Endossante não forneça essas informações em tempo hábil ou for verificada qualquer inconsistência nas informações recebidas pelo Custodiante, poderá isso impedir ou dar origem a falhas no processo de reconciliação dos valores depositados na Conta da Classe e causando perdas à Classe e ao Cotista.</a:t>
            </a:r>
          </a:p>
          <a:p>
            <a:r>
              <a:t>(v) Risco operacional dos sistemas: o desconto na f olha de pagamento e/ou nos Saques Aniversário das parcelas da CCB e a transf erência para o Endossante dos Direitos Creditórios serão processados por meio da Plataforma Dataprev, e o Endossante, o Administrador ou o Gestor não têm controle sobre esse processo.</a:t>
            </a:r>
          </a:p>
          <a:p>
            <a:r>
              <a:t>Assim, qualquer falha ou mudança nesse sistema poderá atrasar ou reduzir o desconto dos rendimentos dos Devedores ou sua transferência para a Classe. Nesse caso, a rentabilidade e a propriedade da Classe poderão ser adversamente af etadas enquanto o problema do sistema persistir, ou até que todos os valores sejam devidamente transf eridos.</a:t>
            </a:r>
          </a:p>
          <a:p>
            <a:r>
              <a:t>(vi) Risco operacional: em linha com as Cláusulas 4.3.1 e 4.3.2 do Anexo I deste Regulamento, o</a:t>
            </a:r>
          </a:p>
          <a:p>
            <a:r>
              <a:t>CNPJ 62552447000120 · Devedor e consignação · Regulamento · ID 1200623 · 2026-05-21 · versão 1 · p. 5 · https://fnet.bmfbovespa.com.br/fnet/publico/visualizarDocumento?id=1200623</a:t>
            </a:r>
          </a:p>
          <a:p>
            <a:r>
              <a:t>CNPJ 62552447000120 · Devedor e consignação · Excerto da fonte:</a:t>
            </a:r>
          </a:p>
          <a:p>
            <a:r>
              <a:t>O objetivo da Classe é proporcionar aos seus Cotistas a valorização de  suas Cotas por meio da aplicação de seu Patrimônio Líquido na aquisição  de:</a:t>
            </a:r>
          </a:p>
          <a:p>
            <a:r>
              <a:t> (i) “Direitos Creditórios”, assim entendidos como, em conjunto:</a:t>
            </a:r>
          </a:p>
          <a:p>
            <a:r>
              <a:t> (a) “Direitos Creditórios Consignado Privado”, na forma de  cédulas de crédito bancário, regidas pela Lei n.º 10.931,  de 2 de agosto de 2004, conforme alterada (“CCBs”),  emitidas eletronicamente por Devedores, em f avor do  Endossante, representando um empréstimo pessoal  consignado, de forma que o pagamento ocorra mediante  desconto de cada prestação vincenda da CCB na f olha  de pagamentos do Devedor (“Consignação”);</a:t>
            </a:r>
          </a:p>
          <a:p>
            <a:r>
              <a:t> (b) “Direitos Creditórios FGTS”, na f orma de CCBs  emitidas eletronicamente por Devedores, em f avor do  Objetivo Endossante, representando um empréstimo pessoal com  garantia de cessão f iduciária dos valores a que f azem jus  os Devedores ref erentes ao saque anual permitido aos  benef iciários do Fundo de Garantia do Tempo de Serviço  (“FGTS”) em seu mês de aniversário (“Saque-  aniversário”), regulado pela Lei n.º 8.036, de 11 de maio  de 1990, conforme alterada (“Lei 8.036”), nos termos dos  arts. 20, inciso XX, 20-A, inciso II, e 20-D, § 3º, da Lei</a:t>
            </a:r>
          </a:p>
          <a:p>
            <a:r>
              <a:t> 8.036, do art. 66-B da Lei n.º 4.728, de 14 de julho de  1965, e da Resolução CC/FGTS n.º 958, de 24 de abril  de 2020, conforme alterada (“Resolução FGTS 958”), de  f orma que parte do Saque-aniversário é utilizada para  liquidar as parcelas devidas da CCB;</a:t>
            </a:r>
          </a:p>
          <a:p>
            <a:r>
              <a:t> (c) “Direitos Creditórios TVM”, na f orma de direitos, títulos  e/ou valores mobiliários representativos de créditos  originados no âmbito de operações de sociedades</a:t>
            </a:r>
          </a:p>
          <a:p>
            <a:r>
              <a:t>CNPJ 62552447000120 · Devedor e consignação · Condição: Documentos atuais selecionados no inventário por categoria/escopo; a data documental isolada não comprova vigência jurídica.</a:t>
            </a:r>
          </a:p>
          <a:p>
            <a:r>
              <a:t>CNPJ 62552447000120 · Devedor e consignação · Versão e prevalência: Documentos atuais selecionados no inventário por categoria/escopo; a data documental isolada não comprova vigência jurídica.</a:t>
            </a:r>
          </a:p>
          <a:p>
            <a:r>
              <a:t>CNPJ 63953620000165 · Devedor e consignação · Anexo ao Regulamento · ID 1222863 · 2026-06-02 · versão 1 · p. 1 · 1.1 · https://fnet.bmfbovespa.com.br/fnet/publico/visualizarDocumento?id=1222863</a:t>
            </a:r>
          </a:p>
          <a:p>
            <a:r>
              <a:t>CNPJ 63953620000165 · Devedor e consignação · Excerto da fonte:</a:t>
            </a:r>
          </a:p>
          <a:p>
            <a:r>
              <a:t>1.1 As principais características da Classe Consignado Privado (para fins deste Anexo, “Classe”) estão descritas  abaixo:</a:t>
            </a:r>
          </a:p>
          <a:p>
            <a:r>
              <a:t> Tipo de Condomínio Fechado.</a:t>
            </a:r>
          </a:p>
          <a:p>
            <a:r>
              <a:t> Indeterminado, exceto se de outra forma vier a ser deliberado pelos Cotistas  Prazo de Duração  reunidos em Assembleia Especial de Cotistas. (“Prazo de Duração”)  Tipo “Financeiro”.</a:t>
            </a:r>
          </a:p>
          <a:p>
            <a:r>
              <a:t> Classificação ANBIMA  Foco de atuação “Créditos Consignados”.</a:t>
            </a:r>
          </a:p>
          <a:p>
            <a:r>
              <a:t> O objetivo da classe é proporcionar aos seus Cotistas a valorização de suas Cotas  por meio da aplicação de seu Patrimônio Líquido (conforme definido abaixo) na  aquisição de: (i) “Direitos Creditórios Crédito Consignado”, representados por  cédula de crédito bancário regida pela Lei nº 10.931, emitida eletronicamente por  um devedor em favor do endossante (“CCB”) e, consequentemente, os recebíveis  decorrente de cada uma das parcelas vincendas, representando um empréstimo  consignado concedido pelo endossante ao devedor, e cujo pagamento ordinário  é feito por desconto de cada prestação vincenda de uma CCB na folha de  pagamentos do devedor (“Consignação”), efetuada pela Caixa Econômica  Federal, de acordo com a legislação aplicável e em conformidade com os  procedimentos estabelecidos no convênio celebrado entre o Endossante e a  Empresa de Tecnologia e Informações da Previdência – DATAPREV e paga na  Conta Vinculada do Endossante (“Convênio Consignado Privado”); e/ou (ii)  “Direitos Creditórios TVM”, representados por direitos, títulos e/ou valores  mobiliários representativos de créditos originados no âmbito de operações de  sociedades integrantes do conglomerado econômico de instituições financeiras  classificadas como S1 pelo BACEN, desde que não representem títulos de  emissão ou coobrigação de instituições financeiras, bem como cotas de fundos  de investimento que invistam preponderantemente nestes direitos, títulos e/ou  Objetivo  valores mobiliários (Direitos Creditórios TVM quando referidos em conjunto  com os Direitos Creditórios Consignado Privado, “Direitos Creditórios”)  observados todos os limites de composição e diversificação da carteira da Classe  (“Carteira”), estabelecidos neste Regulamento e na regulamentação aplicável.</a:t>
            </a:r>
          </a:p>
          <a:p>
            <a:r>
              <a:t> Subsidiariamente, a parcela do Patrimônio Líquido que não esteja alocada em  Direitos Creditórios poderá estar alocado em: (1) certificados de depósito  bancário (CDB) ou recibos de depósito bancário (RDB) com prazo máximo de  vencimento equivalente ao prazo remanescente do Período de Investimento, com  liquidez diária, emitidos por Parati Crédito, Financiamento e Investimento S.A.</a:t>
            </a:r>
          </a:p>
          <a:p>
            <a:r>
              <a:t> e/ou pelo Endossante (“Ativos de Liquidez MT”); e/ou (2) (i) moeda corrente  nacional; (ii) títulos do Tesouro SELIC, anteriormente denominado letra financeira  do Tesouro Nacional (LFT); (iii) certificados de depósito bancário (CDB) ou recibos  de depósito bancário (RDB) com prazo máximo de vencimento equivalente ao  prazo remanescente do Período de Investimento, com liquidez diária, emitidos  por (a) Itaú Unibanco S.A.; (b) Banco Bradesco S.A.; (c) Caixa Econômica Federal;</a:t>
            </a:r>
          </a:p>
          <a:p>
            <a:r>
              <a:t> (d) Banco do Brasil S.A.; (e) Banco Santander (Brasil) S.A.; (f) Banco BTG Pactual  S.A.; (g) Banco Sistema S.A. (“Instituições Autorizadas”); (iv) operações  compromissadas, desde que lastreadas nos títulos mencionados nas alíneas (i) a</a:t>
            </a:r>
          </a:p>
          <a:p>
            <a:r>
              <a:t> (iii) acima, emitidas por Instituições Autorizadas, com liquidez diária e vencimento</a:t>
            </a:r>
          </a:p>
          <a:p>
            <a:r>
              <a:t>CNPJ 63953620000165 · Devedor e consignação · Anexo ao Regulamento · ID 1222863 · 2026-06-02 · versão 1 · p. 19 · 12.6 · https://fnet.bmfbovespa.com.br/fnet/publico/visualizarDocumento?id=1222863</a:t>
            </a:r>
          </a:p>
          <a:p>
            <a:r>
              <a:t>CNPJ 63953620000165 · Devedor e consignação · Excerto da fonte:</a:t>
            </a:r>
          </a:p>
          <a:p>
            <a:r>
              <a:t>12.6 A Classe contratou a Tudo Serviços S.A., sociedade anônima, com sede no município de Fortaleza, Estado do Ceará,  na Avenida Senador Virgulo Távora, nº 303, Lojas 02, 03, 04, 05, 06 e 19, Meireles, CEP 60.170-265, inscrita no CNPJ  sob o nº 27.852.506/0001-85, cujos deveres, sem prejuízo daqueles estabelecidos neste Regulamento, no  “Contrato de Serviços de Retenção e Cobrança e Outras Avenças”, celebrado entre o Agente de  Retenção/Cobrança e a Classe (“Contrato de Serviços MT”) e no Contrato de Endosso, consistirão no  monitoramento e cobrança dos Direitos Creditórios Inadimplidos, observado o disposto neste Anexo I e na  regulamentação aplicável (“Agente de Retenção/Cobrança”):</a:t>
            </a:r>
          </a:p>
          <a:p>
            <a:r>
              <a:t> (i) caso aplicável, atuar na retenção (defesa) de operações de empréstimo consignado cujos Direitos  Creditórios sejam de titularidade da Classe, em caso de tentativa de transferência de tais operações de  empréstimo consignado por instituições proponentes, nos termos da Resolução CMN nº 5.057, em razão de  ofertas de portabilidade feitas por tais instituições proponentes, conforme informado pelo Endossante ou pelo  Custodiante ao Agente de Retenção/Cobrança, diariamente, de acordo com o Contrato de Endosso; sendo  que tal serviço deverá incluir, entre outras atividades auxiliares a ele relacionadas, a avaliação das ofertas de  portabilidade feitas pelas instituições proponentes, buscando, se for o caso, esclarecer as vantagens de não  recorrer à portabilidade, retendo a respectiva operação de empréstimo consignado em seus termos atuais;</a:t>
            </a:r>
          </a:p>
          <a:p>
            <a:r>
              <a:t> (ii) mediante inadimplemento de um Direito Creditório devido à indisponibilidade da margem de crédito do  Devedor, auxiliar o Endossante com o Processo de Reinicialização (conforme detalhado no Contrato de  Endosso) em relação ao respectivo Direito Creditório;</a:t>
            </a:r>
          </a:p>
          <a:p>
            <a:r>
              <a:t> (iii) manter e operar um serviço de atendimento ao consumidor - SAC e uma ouvidoria em conformidade  com os regulamentos aplicáveis, monitorar e resolver reclamações e solicitações de Devedores com  relação às operações de empréstimo consignado que dão origem aos Direitos Creditórios, em  conformidade com o Acordo de Parceria;</a:t>
            </a:r>
          </a:p>
          <a:p>
            <a:r>
              <a:t> (iv) realizar a cobrança dos Direitos Creditórios Inadimplidos;</a:t>
            </a:r>
          </a:p>
          <a:p>
            <a:r>
              <a:t> (v) auxiliar o Endossante na correção de qualquer irregularidade relevante identificada com relação à  originação dos Direitos Creditórios;</a:t>
            </a:r>
          </a:p>
          <a:p>
            <a:r>
              <a:t> (vi) realizar a renegociação junto aos Devedores de Direitos Creditórios Inadimplidos e, caso aplicável, celebrar  aditamento à CCB para refletir os novos termos, decorrentes da renegociação  CAPÍTULO 13 – REMUNERAÇÃO DOS PRESTADORES DE SERVIÇOS  0,05% (cinco centésimos por cento) ao ano, apropriada diariamente na base de 252  (duzentos e cinquenta e dois) Dias Úteis, e paga mensalmente até o 5º (quinto) Dia  Útil do mês subsequente ao mês que se refere, incidente sobre o Patrimônio Líquido  da Classe alocado em Direitos Creditórios Consignado Privado e/ou Ativos de  Liquidez MT, observada remuneração mínima mensal de R$ 2.500,00 (dois mil e  quinhentos reais), a ser corrigida anualmente, em janeiro de cada ano, pela variação  Taxa de Administração  positiva do Índice Geral de Preços – Mercado, divulgado pela Fundação Getúlio  Vargas (“Taxa de Administração” e “IGP-M”, respectivamente).</a:t>
            </a:r>
          </a:p>
          <a:p>
            <a:r>
              <a:t> Na hipótese de extinção do IGP-M, não divulgação ou impossibilidade de sua  utilização, será utilizado o Índice Geral de Preços – Disponibilidade Interna,  divulgado pela Fundação Getúlio Vargas, ou, na falta de ambos, pela variação do IPC  – Índice de Preços ao Consumidor, divulgado pela Fundação Instituto de Pesquisas</a:t>
            </a:r>
          </a:p>
          <a:p>
            <a:r>
              <a:t>CNPJ 63953620000165 · Devedor e consignação · Anexo ao Regulamento · ID 1222863 · 2026-06-02 · versão 1 · p. 2 · https://fnet.bmfbovespa.com.br/fnet/publico/visualizarDocumento?id=1222863</a:t>
            </a:r>
          </a:p>
          <a:p>
            <a:r>
              <a:t>CNPJ 63953620000165 · Devedor e consignação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Devedor e consignação · Condição: Documentos atuais selecionados no inventário por categoria/escopo; a data documental isolada não comprova vigência jurídica.</a:t>
            </a:r>
          </a:p>
          <a:p>
            <a:r>
              <a:t>CNPJ 63953620000165 · Devedor e consignação · Versão e prevalência: Documentos atuais selecionados no inventário por categoria/escopo; a data documental isolada não comprova vigência jurídica.</a:t>
            </a:r>
          </a:p>
          <a:p>
            <a:r>
              <a:t>CNPJ 63953620000165 · Devedor e consignação · Resumo do histórico: {"count": 8, "dates": ["2026-04-28", "2026-05-08", "2026-05-15"], "document_count": 3, "sources": [{"document_id": "1327859", "title": "Demonstrações Financeiras - Fusão, cisão e incorporação", "reference_date": "2026-05-15", "version": "1", "page": 22, "url": "https://fnet.bmfbovespa.com.br/fnet/publico/visualizarDocumento?id=1327859", "sha256": "dca1c68babb97f887528c3e2e47596a9c30f507b067981a35655b2f2da9c8054"}, {"document_id": "1298691", "title": "Demonstrações Financeiras - Fusão, cisão e incorporação", "reference_date": "2026-05-08", "version": "1", "page": 22, "url": "https://fnet.bmfbovespa.com.br/fnet/publico/visualizarDocumento?id=1298691", "sha256": "58c570d9b8d4d265330d3db3ea81c435b8e44a6dab4002aa37790652a1ee9819"}, {"document_id": "1282180", "title": "Demonstrações Financeiras - Fusão, cisão e incorporação", "reference_date": "2026-04-28", "version": "1", "page": 22, "url": "https://fnet.bmfbovespa.com.br/fnet/publico/visualizarDocumento?id=1282180", "sha256": "afaaa0e6809be4385e5bdb6c911aac582032c5bdbac3d7750234bf9eaf00438a"}], "reference": {"path": "history/63953620000165.json", "criterion_id": "debtor", "total_count": 8, "preview_count": 3, "full_text_deferred": true, "sha256": "a7b89077f5e21098c2d601c303faabc3ff6b9729f89d8afecdc60fe1404720c1"}}</a:t>
            </a:r>
          </a:p>
          <a:p>
            <a:r>
              <a:t>CNPJ 54871427000194 · Elegibilidade · Regulamento · ID 670691 · 28/04/2024 · versão Regulamento — referência 28/04/2024 · p. 9 · Anexo I, 4.7(i)–(iv) · https://fnet.bmfbovespa.com.br/fnet/publico/visualizarDocumento?id=670691</a:t>
            </a:r>
          </a:p>
          <a:p>
            <a:r>
              <a:t>CNPJ 54871427000194 · Elegibilidade · Excerto da fonte:</a:t>
            </a:r>
          </a:p>
          <a:p>
            <a:r>
              <a:t>4.7 A Classe somente poderá adquirir os Direitos Creditórios que atendam cumulativamente aos seguintes Critérios de Elegibilidade, a serem verif icados e validados pelo GESTOR, de f orma individualizada e integral, previamente à cessão e na respectiva Data de Aquisição, de modo que apenas são passíveis de aquisição pela Classe os Direitos Creditórios que, na Data de Aquisição: (i) CCBs sem qualquer parcela cedida; (ii) CCBs com diferença menor que 60 (sessenta) dias entre a data provável do endosso e a próxima parcela a vencer; (iii) CCBs cujo valor da prestação seja superior a R$ 30,00 (trinta reais); (iv) Idade do Devedor somada ao prazo remanescente da CCB deve ser igual ou inferior a 80 (oitenta) anos; BTG Pactual SAC: 0800 772 28 27 - Ouvidoria: 0800 722 00 48 - btgpactual.com 3</a:t>
            </a:r>
          </a:p>
          <a:p>
            <a:r>
              <a:t>CNPJ 54871427000194 · Elegibilidade · Regulamento · ID 670691 · 28/04/2024 · versão Regulamento — referência 28/04/2024 · p. 10 · Anexo I, 4.7(v)–(xi) · https://fnet.bmfbovespa.com.br/fnet/publico/visualizarDocumento?id=670691</a:t>
            </a:r>
          </a:p>
          <a:p>
            <a:r>
              <a:t>CNPJ 54871427000194 · Elegibilidade · Excerto da fonte:</a:t>
            </a:r>
          </a:p>
          <a:p>
            <a:r>
              <a:t>(v) CCBs que até a Data do Endosso não estejam pendentes de res olução em relação a uma comprovada reclamação do devedor junto ao Banco Central do Brasil ou ao Procon; (vi) CCBs que não sejam originadas por pessoa física condenada por terem submetido trabalhadores a condições análogas à de escravo – denominada “Lista Suja”; (vii) CCBs sem parcela em atraso; (viii) Aquisição de todas as parcelas vincendas das CCBs, não sendo possível a aquisição de fluxo parcial; (ix) CCBs vinculadas ao órgão convenente, desde que o convênio não se encontre na Data de Aquisição em situação de suspensão; (x) Devedores adimplentes junto ao Endossante com relação aos Direitos Creditórios endossados à Classe; CCB cuja amortização ordinária dos valores devidos, nos últimos 60 (sessenta) dias, tenha ocorrido de f orma integral e ordinária. Na primeira tranche de aquisição de Direitos Creditórios pelo Endossatário tal prazo poderá ser reduzido para 30 (trinta) dias nos casos de amortização extraordinária (via boleto) desde que o valor de aquisição dos ref eridos Direitos Creditórios não ultrapasse R$ 30.000,00 (trinta mil reais), exc</a:t>
            </a:r>
          </a:p>
          <a:p>
            <a:r>
              <a:t>CNPJ 54871427000194 · Elegibilidade · Versão e prevalência: Leitura específica das cláusulas indicadas; condições e conflitos preservados. Seleção documental atual não comprova vigência jurídica por data isolada.</a:t>
            </a:r>
          </a:p>
          <a:p>
            <a:r>
              <a:t>CNPJ 54871427000194 · Elegibilidade · Resumo do histórico: {"count": 2, "dates": ["2024-04-19", "2024-04-28"], "document_count": 2, "sources": [{"document_id": "670691", "title": "Regulamento", "reference_date": "2024-04-28", "version": "1", "page": "9-10", "clause": "4.7", "url": "https://fnet.bmfbovespa.com.br/fnet/publico/visualizarDocumento?id=670691", "sha256": "bf16dd7f1a62d5cdbf2e2d54fef81783783f7310fbc99c3a8f00459bdf9d037b"}, {"document_id": "670689", "title": "Regulamento", "reference_date": "2024-04-19", "version": "1", "page": 10, "clause": "4.7.3", "url": "https://fnet.bmfbovespa.com.br/fnet/publico/visualizarDocumento?id=670689", "sha256": "891bc9bc5d87bbc02ec139077a84d2702eb81ea02035fb71d24f5b8366b94a0b"}], "reference": {"path": "history/54871427000194.json", "criterion_id": "eligibility", "total_count": 2, "preview_count": 2, "full_text_deferred": true, "sha256": "35d7cd99be50c7287c9fb675cf4f2e736002315295a225a9efa79c8d9186d874"}}</a:t>
            </a:r>
          </a:p>
          <a:p>
            <a:r>
              <a:t>CNPJ 60010416000112 · Elegibilidade · Regulamento · ID 1051393 · 2025-10-09 · versão 1 · p. 10 · 4.4.5 · https://fnet.bmfbovespa.com.br/fnet/publico/visualizarDocumento?id=1051393</a:t>
            </a:r>
          </a:p>
          <a:p>
            <a:r>
              <a:t>CNPJ 60010416000112 · Elegibilidade · Excerto da fonte:</a:t>
            </a:r>
          </a:p>
          <a:p>
            <a:r>
              <a:t>4.4.5. Caso um Direito Creditório endossado à Classe deixe de atender quaisquer Critérios de  Elegibilidade, quaisquer condições de endosso e/ou quaisquer declarações e garantias referentes  a esse Direito Creditório, conforme previsto no Contrato de Endosso, após seu endosso à Classe,  não haverá coobrigação nem direito de regresso da Classe contra o Endossante, o Administrador,  o Custodiante, o Gestor e/ou o Agente de Retenção/Cobrança, exceto em caso de má-fé, culpa  ou dolo comprovado, hipótese em que a parte que agiu com má-f é, culpa ou dolo comprovado  poderá ser responsabilizada pelas perdas incorridas pela Classe em relação aos respectivos  Direitos Creditórios. Se, entretanto, for constatado que um Direito Creditório endossado à Classe  não estava em conformidade com os Critérios de Elegibilidade, condições de endosso ou com as  declarações e garantias prestadas pelo Endossante no Contrato de Endosso, na respectiva data  de endosso, então o endosso desse Direito Creditório poderá ser objeto de resolução pela Classe.</a:t>
            </a:r>
          </a:p>
          <a:p>
            <a:r>
              <a:t> Nessa hipótese, a Classe terá o direito de resolver o endosso desse Direito Creditório, devolvendo-  o ao Endossante por valor a ser restituído à Classe. Adicionalmente, se f or constatado que um  Direito Creditório endossado à Classe não estava em conf ormidade com as declarações e  garantias prestadas pelo Agente de Retenção/Cobrança no Contrato de Endosso, na respectiva  data de endosso, então a Classe terá o direito de vender esse Direito Creditório ao Agente de  Retenção/Cobrança (opção de venda). A retrovenda ou a venda, conforme o caso, será realizada  de acordo com os termos, condições, formalidades e preços de recompra compulsória e opção de  venda detalhados no Contrato de Endosso.</a:t>
            </a:r>
          </a:p>
          <a:p>
            <a:r>
              <a:t>CNPJ 60010416000112 · Elegibilidade · Regulamento · ID 1051393 · 2025-10-09 · versão 1 · p. 9 · 4.3 · https://fnet.bmfbovespa.com.br/fnet/publico/visualizarDocumento?id=1051393</a:t>
            </a:r>
          </a:p>
          <a:p>
            <a:r>
              <a:t>CNPJ 60010416000112 · Elegibilidade · Excerto da fonte:</a:t>
            </a:r>
          </a:p>
          <a:p>
            <a:r>
              <a:t>4.3 Os Direitos Creditórios deverão contar com Documentos Comprobatórios que evidenciem sua existência,  validade e exequibilidade perante os respectivos Devedores.</a:t>
            </a:r>
          </a:p>
          <a:p>
            <a:r>
              <a:t> Critérios de Elegibilidade</a:t>
            </a:r>
          </a:p>
          <a:p>
            <a:r>
              <a:t>CNPJ 60010416000112 · Elegibilidade · Regulamento · ID 1051393 · 2025-10-09 · versão 1 · p. 9 · 4.4 · https://fnet.bmfbovespa.com.br/fnet/publico/visualizarDocumento?id=1051393</a:t>
            </a:r>
          </a:p>
          <a:p>
            <a:r>
              <a:t>CNPJ 60010416000112 · Elegibilidade · Excerto da fonte:</a:t>
            </a:r>
          </a:p>
          <a:p>
            <a:r>
              <a:t>4.4 A Classe somente poderá adquirir os Direitos Creditórios que atendam, cumulativamente, aos seguintes  Critérios de Elegibilidade, a serem verificados e validados pelo Gestor, de forma individualizada e integral,  previamente ao endosso do Direito Creditório, na respectiva Data de Aquisição:</a:t>
            </a:r>
          </a:p>
          <a:p>
            <a:r>
              <a:t> (i) os Direitos Creditórios deverão decorrer de empréstimo concedido pelo Endossante a um  Devedor, representado por uma CCB, com taxa de juros prefixada e vencimento final anterior  ao vencimento f inal da Classe;</a:t>
            </a:r>
          </a:p>
          <a:p>
            <a:r>
              <a:t>BTG Pactual SAC: 0800 772 28 27 - Ouvidoria: 0800 722 00 48 - btgpactual.com 9</a:t>
            </a:r>
          </a:p>
          <a:p>
            <a:r>
              <a:t>CNPJ 60010416000112 · Elegibilidade · Condição: Documentos atuais selecionados no inventário por categoria/escopo; a data documental isolada não comprova vigência jurídica.</a:t>
            </a:r>
          </a:p>
          <a:p>
            <a:r>
              <a:t>CNPJ 60010416000112 · Elegibilidade · Versão e prevalência: Documentos atuais selecionados no inventário por categoria/escopo; a data documental isolada não comprova vigência jurídica.</a:t>
            </a:r>
          </a:p>
          <a:p>
            <a:r>
              <a:t>CNPJ 60010416000112 · Elegibilidade · Resumo do histórico: {"count": 2, "dates": ["2025-03-20", "2025-10-09"], "document_count": 2, "sources": [{"document_id": "1051393", "title": "Regulamento", "reference_date": "2025-10-09", "version": "1", "page": "9-10", "clause": "4.4(ii)", "url": "https://fnet.bmfbovespa.com.br/fnet/publico/visualizarDocumento?id=1051393", "sha256": "8469d613078ffd5a6c1d217885d8a397a16342c0b937ae4aa24b106505f233ae"}, {"document_id": "993786", "title": "Regulamento", "reference_date": "2025-03-20", "version": "1", "page": 10, "clause": "4.4.5", "url": "https://fnet.bmfbovespa.com.br/fnet/publico/visualizarDocumento?id=993786", "sha256": "fd0fdd369a195510d81f81f505195a0b09e5f43522a990afa7d58c4f872921c8"}], "reference": {"path": "history/60010416000112.json", "criterion_id": "eligibility", "total_count": 2, "preview_count": 2, "full_text_deferred": true, "sha256": "8e2bd813f4c51cf01f6bfaad164bafe69d2bbb192f753eac92da3a01c2e63046"}}</a:t>
            </a:r>
          </a:p>
          <a:p>
            <a:r>
              <a:t>CNPJ 62696791000193 · Elegibilidade · Regulamento · ID 1143317 · 20/03/2026 · versão Regulamento — referência 20/03/2026 · p. 11 · Anexo I, 4.7–4.7.3 · https://fnet.bmfbovespa.com.br/fnet/publico/visualizarDocumento?id=1143317</a:t>
            </a:r>
          </a:p>
          <a:p>
            <a:r>
              <a:t>CNPJ 62696791000193 · Elegibilidade · Excerto da fonte:</a:t>
            </a:r>
          </a:p>
          <a:p>
            <a:r>
              <a:t>4.7 A Classe somente poderá adquirir os Direitos Creditórios do Agronegócio que atendam cumulativamente aos seguintes critérios de elegibilidade, a serem verificados e validados pelo Gestor, por amostragem, previamente à cessão e na respectiva data de aquisição dos Direitos Creditórios do Agronegócio (“Data de Aquisição”), de modo que apenas são passíveis de aquisição pela Classe os Direitos Creditórios do Agronegócio que, na Data de Aquisição (“Critérios de Elegibilidade”): (i) sejam representados em moeda corrente nacional; (ii) a natureza ou característica essencial dos Direitos Creditórios do Agronegócio deverá permitir o seu registro contábil e a sua custódia pelo Custodiante, de acordo com os procedimentos operacionais e contábeis praticados pelo Custodiante, ou seu registro em entidade registradora; (iii) sejam ativos de origem vinculada às cadeias produtivas do agronegócio ; e (iv) sejam representados por direitos e/ou títulos representativos de crédito, com ou sem garantias reais ou pessoais a eles atreladas, incluindo, sem limitação, duplicatas, debêntures, contratos de locação e contratos mercantis de compra e venda de produtos</a:t>
            </a:r>
          </a:p>
          <a:p>
            <a:r>
              <a:t>CNPJ 62696791000193 · Elegibilidade · Versão e prevalência: Leitura específica das cláusulas indicadas; condições e conflitos preservados. Seleção documental atual não comprova vigência jurídica por data isolada.</a:t>
            </a:r>
          </a:p>
          <a:p>
            <a:r>
              <a:t>CNPJ 55563624000109 · Elegibilidade · Regulamento · ID 1192614 · 30/04/2026 · versão Regulamento30/04/2026 · p. 12 · AnexoI4.6–4.8.2 · https://fnet.bmfbovespa.com.br/fnet/publico/visualizarDocumento?id=1192614</a:t>
            </a:r>
          </a:p>
          <a:p>
            <a:r>
              <a:t>CNPJ 55563624000109 · Elegibilidade · Excerto da fonte:</a:t>
            </a:r>
          </a:p>
          <a:p>
            <a:r>
              <a:t>4.6 As Cotas da Classe Investida deverão contar com Documentos Comprobatórios que evidenciem sua existência, validade e exequibilidade. 4.7 As Cotas da Classe Investida serão adquiridas pela Classe por meio: (i) de contratos de aquisição de Cotas da Classe Investida firmados entre a Classe e os respectivos vendedores das Cotas da Classe Investida; (ii) negociação em mercado organizado; e/ou (iii) da subscrição de Cotas da Classe Investida, colocadas de forma privada ou ofertadas publicamente, independentemente do regime de distribuição, observada a Política</a:t>
            </a:r>
          </a:p>
          <a:p>
            <a:r>
              <a:t>CNPJ 55563624000109 · Elegibilidade · Versão e prevalência: Leitura específica das cláusulas indicadas; condições e conflitos preservados. Seleção documental atual não comprova vigência jurídica por data isolada.</a:t>
            </a:r>
          </a:p>
          <a:p>
            <a:r>
              <a:t>CNPJ 55563624000109 · Elegibilidade · Resumo do histórico: {"count": 3, "dates": ["2025-01-31", "2026-01-31", "2026-04-30"], "document_count": 3, "sources": [{"document_id": "1192614", "title": "Regulamento", "reference_date": "2026-04-30", "version": "1", "page": "12", "url": "https://fnet.bmfbovespa.com.br/fnet/publico/visualizarDocumento?id=1192614", "sha256": "f56e63ace0acde41d2f47fb48f1ac7f3f7df5e2d32de092d7c5e075a52516632"}, {"document_id": "1178840", "title": "Demonstrações Financeiras", "reference_date": "2026-01-31", "version": "1", "page": 16, "url": "https://fnet.bmfbovespa.com.br/fnet/publico/visualizarDocumento?id=1178840", "sha256": "c458e98664c5c907ddb5a05a94b120bed4e05295b2bfc420f5ba69af0a229abe"}, {"document_id": "891861", "title": "Demonstrações Financeiras", "reference_date": "2025-01-31", "version": "1", "page": 16, "url": "https://fnet.bmfbovespa.com.br/fnet/publico/visualizarDocumento?id=891861", "sha256": "e9cb9e6ddbe505fe068cfcac33605165a98313489de0d3ce6d4d238263c3f3e7"}], "reference": {"path": "history/55563624000109.json", "criterion_id": "eligibility", "total_count": 3, "preview_count": 3, "full_text_deferred": true, "sha256": "7835d573fb58a3c19adf5b8ecc2aee2bdbb9a88f7a0c0209b5f262b64c7522e3"}}</a:t>
            </a:r>
          </a:p>
          <a:p>
            <a:r>
              <a:t>CNPJ 62552447000120 · Elegibilidade · Regulamento · ID 1200623 · 21/05/2026 · versão Consolidado21/05/2026 aprovado pelo ato1200625 · p. 6 · AnexoI1.2 Critérios(i)(a)–(b) · https://fnet.bmfbovespa.com.br/fnet/publico/visualizarDocumento?id=1200623</a:t>
            </a:r>
          </a:p>
          <a:p>
            <a:r>
              <a:t>CNPJ 62552447000120 · Elegibilidade · Excerto da fonte:</a:t>
            </a:r>
          </a:p>
          <a:p>
            <a:r>
              <a:t>Critérios de Elegibilidade”): (i) com relação a todos os Direitos Creditórios : (a) sejam representados em moeda corrente nacional; Critérios de Elegibilidade (b) a natureza ou característica essencial dos Direitos Creditórios deverá permitir o seu registro contábil e a sua custódia pelo Custodiante, de acordo com os procedimentos operacionais e contábeis praticados</a:t>
            </a:r>
          </a:p>
          <a:p>
            <a:r>
              <a:t>CNPJ 62552447000120 · Elegibilidade · Regulamento · ID 1200623 · 21/05/2026 · versão Consolidado21/05/2026 aprovado pelo ato1200625 · p. 7 · AnexoI1.2 Critérios(i)(c)–(v) · https://fnet.bmfbovespa.com.br/fnet/publico/visualizarDocumento?id=1200623</a:t>
            </a:r>
          </a:p>
          <a:p>
            <a:r>
              <a:t>CNPJ 62552447000120 · Elegibilidade · Excerto da fonte:</a:t>
            </a:r>
          </a:p>
          <a:p>
            <a:r>
              <a:t>(v) com relação aos Direitos Creditórios TVM: (a) representem, a qualquer momento, no máximo 10% (dez por cento) do Patrimônio Líquido. Sem prejuízo dos Critérios de Elegibilidade, a Classe somente poderá adquirir os Direitos Creditórios Ref inanciamento Livre, os Direitos Creditórios Consignado Privado e os Direitos Creditórios FGTS com relação aos quais tenha se verif icado as seguintes Condições de Endosso, na forma prevista na Cláusula 4.7 (“Co</a:t>
            </a:r>
          </a:p>
          <a:p>
            <a:r>
              <a:t>CNPJ 62552447000120 · Elegibilidade · Regulamento · ID 1200623 · 21/05/2026 · versão Consolidado21/05/2026 aprovado pelo ato1200625 · p. 12 · AnexoI4.6 · https://fnet.bmfbovespa.com.br/fnet/publico/visualizarDocumento?id=1200623</a:t>
            </a:r>
          </a:p>
          <a:p>
            <a:r>
              <a:t>CNPJ 62552447000120 · Elegibilidade · Excerto da fonte:</a:t>
            </a:r>
          </a:p>
          <a:p>
            <a:r>
              <a:t>4.6 A Classe somente poderá adquirir os Direitos Creditórios que, na data da sua aquisição (“Data de Aquisição”), atendam a todos os Critérios de Elegibilidade, a serem verif icados e validados pelo Gestor, de f orma individualizada e integral, e não por amostragem. 4.6.1 Para f ins da verificação dos Critérios de Elegibilidade, será considerado o Patrimônio Líquido e o valor dos Direitos Creditórios integrantes da Carteira no Dia Útil imediatamente anterior à Data de Aquisição. 4.6.2 Todos os Documentos Comprobatórios e, com relação a cada Direito Creditório, conforme apli</a:t>
            </a:r>
          </a:p>
          <a:p>
            <a:r>
              <a:t>CNPJ 62552447000120 · Elegibilidade · Versão e prevalência: Leitura específica das cláusulas indicadas; condições e conflitos preservados. Seleção documental atual não comprova vigência jurídica por data isolada.</a:t>
            </a:r>
          </a:p>
          <a:p>
            <a:r>
              <a:t>CNPJ 63953620000165 · Elegibilidade · Anexo ao Regulamento · ID 1222863 · 02/06/2026 · versão AnexoConsignadoPrivado02/06/2026 · p. 6 · 4.10–4.10.3 · https://fnet.bmfbovespa.com.br/fnet/publico/visualizarDocumento?id=1222863</a:t>
            </a:r>
          </a:p>
          <a:p>
            <a:r>
              <a:t>CNPJ 63953620000165 · Elegibilidade · Excerto da fonte:</a:t>
            </a:r>
          </a:p>
          <a:p>
            <a:r>
              <a:t>4.10 A Classe somente poderá adquirir os Direitos Creditórios que atendam cumulativamente aos Critérios de Elegibilidade, a serem verificados e validados pelo Gestor, de forma individualizada e integral, previamente à cessão e na respectiva data de aquisição dos Direitos Creditórios (“Data de Aquisição”), de modo que apenas são passíveis de aquisição pela Classe os Direitos Creditórios que, na Data de Aquisição, atendam a todos os Critérios de Elegibilidade. 4.10.1 Para fins da verificação dos Critérios de Elegibilidade, será considerado o Patrimônio Líquido e o valor dos Direitos Creditórios integrantes</a:t>
            </a:r>
          </a:p>
          <a:p>
            <a:r>
              <a:t>CNPJ 63953620000165 · Elegibilidade · Versão e prevalência: Leitura específica das cláusulas indicadas; condições e conflitos preservados. Seleção documental atual não comprova vigência jurídica por data isolada.</a:t>
            </a:r>
          </a:p>
          <a:p>
            <a:r>
              <a:t>CNPJ 63953620000165 · Elegibilidade · Resumo do histórico: {"count": 8, "dates": ["2026-04-28", "2026-05-08", "2026-05-15"], "document_count": 3, "sources": [{"document_id": "1327859", "title": "Demonstrações Financeiras - Fusão, cisão e incorporação", "reference_date": "2026-05-15", "version": "1", "page": 24, "url": "https://fnet.bmfbovespa.com.br/fnet/publico/visualizarDocumento?id=1327859", "sha256": "dca1c68babb97f887528c3e2e47596a9c30f507b067981a35655b2f2da9c8054"}, {"document_id": "1298691", "title": "Demonstrações Financeiras - Fusão, cisão e incorporação", "reference_date": "2026-05-08", "version": "1", "page": 24, "url": "https://fnet.bmfbovespa.com.br/fnet/publico/visualizarDocumento?id=1298691", "sha256": "58c570d9b8d4d265330d3db3ea81c435b8e44a6dab4002aa37790652a1ee9819"}, {"document_id": "1282180", "title": "Demonstrações Financeiras - Fusão, cisão e incorporação", "reference_date": "2026-04-28", "version": "1", "page": 25, "url": "https://fnet.bmfbovespa.com.br/fnet/publico/visualizarDocumento?id=1282180", "sha256": "afaaa0e6809be4385e5bdb6c911aac582032c5bdbac3d7750234bf9eaf00438a"}], "reference": {"path": "history/63953620000165.json", "criterion_id": "eligibility", "total_count": 8, "preview_count": 3, "full_text_deferred": true, "sha256": "a7b89077f5e21098c2d601c303faabc3ff6b9729f89d8afecdc60fe1404720c1"}}</a:t>
            </a:r>
          </a:p>
          <a:p>
            <a:r>
              <a:t>CNPJ 54871427000194 · Limites por contrato e devedor · Regulamento · ID 670691 · 28/04/2024 · versão Regulamento — referência 28/04/2024 · p. 10 · Anexo I, 4.7, parágrafo anterior ao inciso (xi) e inciso (xi) · https://fnet.bmfbovespa.com.br/fnet/publico/visualizarDocumento?id=670691</a:t>
            </a:r>
          </a:p>
          <a:p>
            <a:r>
              <a:t>CNPJ 54871427000194 · Limites por contrato e devedor · Excerto da fonte:</a:t>
            </a:r>
          </a:p>
          <a:p>
            <a:r>
              <a:t>CCB cuja amortização ordinária dos valores devidos, nos últimos 60 (sessenta) dias, tenha ocorrido de f orma integral e ordinária. Na primeira tranche de aquisição de Direitos Creditórios pelo Endossatário tal prazo poderá ser reduzido para 30 (trinta) dias nos casos de amortização extraordinária (via boleto) desde que o valor de aquisição dos ref eridos Direitos Creditórios não ultrapasse R$ 30.000,00 (trinta mil reais), exclusivamente via consignação em f olha de pagamento ou de benef ício; e (xi) Endosso de todas as CCBs de um mesmo Devedor que não ultrapasse 20% (vinte por cento) do patrimônio líquido da Classe. 4.7.1 Os Documentos Comprobatórios deverão ser disponibilizados pelo respectivo Endossante (a) no prazo de 10 (dez) dias contados da Data de Aquisição dos 50 (cinquenta) casos que sejam solicitados pelo GESTOR, a seu exclusivo critério, (b) a totalidade dos demais Documentos Comprobatórios em f ormato digital em até 90 (noventa) dias a contar da Data de Aquisição, bem como dos Documentos Comprobatórios em formato físico relativos aos Direitos Creditórios que eventualmente estejam inadimplidos em ref erida da</a:t>
            </a:r>
          </a:p>
          <a:p>
            <a:r>
              <a:t>CNPJ 54871427000194 · Limites por contrato e devedor · Condição: R$ 30 mil é teto da exceção de aquisição da primeira tranche; não é teto geral de cada CCB.</a:t>
            </a:r>
          </a:p>
          <a:p>
            <a:r>
              <a:t>CNPJ 54871427000194 · Limites por contrato e devedor · Motivo: Não localizada uma cláusula material para este critério nos textos identificados e processados. A ausência de resultado não comprova inexistência da regra.</a:t>
            </a:r>
          </a:p>
          <a:p>
            <a:r>
              <a:t>CNPJ 54871427000194 · Limites por contrato e devedor · Versão e prevalência: Leitura específica das cláusulas indicadas; condições e conflitos preservados. Seleção documental atual não comprova vigência jurídica por data isolada.</a:t>
            </a:r>
          </a:p>
          <a:p>
            <a:r>
              <a:t>CNPJ 60010416000112 · Limites por contrato e devedor · Regulamento · ID 1051393 · 09/10/2025 · versão Regulamento09/10/2025 · p. 10 · AnexoI4.4(ii), (iv),4.4.1 · https://fnet.bmfbovespa.com.br/fnet/publico/visualizarDocumento?id=1051393</a:t>
            </a:r>
          </a:p>
          <a:p>
            <a:r>
              <a:t>CNPJ 60010416000112 · Limites por contrato e devedor · Excerto da fonte:</a:t>
            </a:r>
          </a:p>
          <a:p>
            <a:r>
              <a:t>R$ 100.000,00 (cem mil reais), observado o disposto no item 4.4.1 abaixo; (iii) o prazo de vencimento das CCB representativas dos Direitos Creditórios deverá ser, no máximo, equivalente ao prazo máximo permitido pelas leis e regulamentações aplicáveis; e (iv) os Direitos Creditórios não poderão ser devidos por Devedores que tenham acima de 64 (sessenta e quatro) anos 11 (onze) meses e 29 (vinte e nove) dias na data de emissão da respectiva CCB. 4.4.1. O limite máximo de exposição da Classe por Devedor estabeleci</a:t>
            </a:r>
          </a:p>
          <a:p>
            <a:r>
              <a:t>CNPJ 60010416000112 · Limites por contrato e devedor · Condição: Prevalência da cláusula específica 4.4.1; limite privado do Contrato não foi presumido.</a:t>
            </a:r>
          </a:p>
          <a:p>
            <a:r>
              <a:t>CNPJ 60010416000112 · Limites por contrato e devedor · Motivo: Não localizada uma cláusula material para este critério nos textos identificados e processados. A ausência de resultado não comprova inexistência da regra.</a:t>
            </a:r>
          </a:p>
          <a:p>
            <a:r>
              <a:t>CNPJ 60010416000112 · Limites por contrato e devedor · Versão e prevalência: Leitura específica das cláusulas indicadas; condições e conflitos preservados. Seleção documental atual não comprova vigência jurídica por data isolada.</a:t>
            </a:r>
          </a:p>
          <a:p>
            <a:r>
              <a:t>CNPJ 62696791000193 · Limites por contrato e devedor · Motivo: Não localizada uma cláusula material para este critério nos textos identificados e processados. A ausência de resultado não comprova inexistência da regra.</a:t>
            </a:r>
          </a:p>
          <a:p>
            <a:r>
              <a:t>CNPJ 55563624000109 · Limites por contrato e devedor · Motivo: Não localizada uma cláusula material para este critério nos textos identificados e processados. A ausência de resultado não comprova inexistência da regra.</a:t>
            </a:r>
          </a:p>
          <a:p>
            <a:r>
              <a:t>CNPJ 62552447000120 · Limites por contrato e devedor · Motivo: Não localizada uma cláusula material para este critério nos textos identificados e processados. A ausência de resultado não comprova inexistência da regra.</a:t>
            </a:r>
          </a:p>
          <a:p>
            <a:r>
              <a:t>CNPJ 63953620000165 · Limites por contrato e devedor · Motivo: Não localizada uma cláusula material para este critério nos textos identificados e processados. A ausência de resultado não comprova inexistência da regra.</a:t>
            </a:r>
          </a:p>
          <a:p>
            <a:r>
              <a:t>CNPJ 54871427000194 · Prazo dos créditos e carência · Motivo: Não localizada uma cláusula material para este critério nos textos identificados e processados. A ausência de resultado não comprova inexistência da regra.</a:t>
            </a:r>
          </a:p>
          <a:p>
            <a:r>
              <a:t>CNPJ 60010416000112 · Prazo dos créditos e carência · Regulamento · ID 1051393 · 2025-10-09 · versão 1 · p. 11 · 4.5 · https://fnet.bmfbovespa.com.br/fnet/publico/visualizarDocumento?id=1051393</a:t>
            </a:r>
          </a:p>
          <a:p>
            <a:r>
              <a:t>CNPJ 60010416000112 · Prazo dos créditos e carência · Excerto da fonte:</a:t>
            </a:r>
          </a:p>
          <a:p>
            <a:r>
              <a:t>4.5 A parcela do Patrimônio Líquido que não estiver alocada em Direitos Creditórios será necessariamente  alocada no seguintes ativos (“Ativos Financeiros de Liquidez”).</a:t>
            </a:r>
          </a:p>
          <a:p>
            <a:r>
              <a:t> (i) moeda corrente nacional;</a:t>
            </a:r>
          </a:p>
          <a:p>
            <a:r>
              <a:t> (ii) títulos do Tesouro SELIC, anteriormente denominado letra f inanceira do Tesouro Nacional  (LFT);</a:t>
            </a:r>
          </a:p>
          <a:p>
            <a:r>
              <a:t> (iii) certif icados de depósito bancário (CDB) ou recibos de depósito bancário (RDB) com prazo  máximo de vencimento equivalente ao prazo remanescente do Período de Investimento, com  liquidez diária, emitidos por Instituições Autorizadas e/ou pelo Endossante, sendo certo que  os certif icados de depósito bancário (CDB) e recibos de depósito bancário (RDB) emitidos  pelo Endossante e integrantes da carteira da Classe não poderão exceder o valor de R$</a:t>
            </a:r>
          </a:p>
          <a:p>
            <a:r>
              <a:t> 25.000.000,00 (vinte e cinco milhões de reais);</a:t>
            </a:r>
          </a:p>
          <a:p>
            <a:r>
              <a:t> (iv) operações compromissadas, desde que lastreadas nos títulos mencionados nas alíneas (i) a</a:t>
            </a:r>
          </a:p>
          <a:p>
            <a:r>
              <a:t> (iii) acima, emitidas por Instituições Autorizadas, com liquidez diária e vencimento inferior a  365 (trezentos e sessenta e cinco) dias; e</a:t>
            </a:r>
          </a:p>
          <a:p>
            <a:r>
              <a:t> (v) cotas de classes de f undos de investimentos de renda f ixa ou indexados à Taxa DI com  liquidez diária, cujas políticas de investimento admitam a alocação de recursos  exclusivamente nos ativos das alíneas (ii) e (iii) acima, incluindo f undos geridos e/ou  administrados pelo Administrador, pelo Custodiante e/ou pelo Gestor.</a:t>
            </a:r>
          </a:p>
          <a:p>
            <a:r>
              <a:t>Limites de Concentração e Vedações para a Composição da Carteira</a:t>
            </a:r>
          </a:p>
          <a:p>
            <a:r>
              <a:t>CNPJ 60010416000112 · Prazo dos créditos e carência · Regulamento · ID 1051393 · 2025-10-09 · versão 1 · p. 10 · https://fnet.bmfbovespa.com.br/fnet/publico/visualizarDocumento?id=1051393</a:t>
            </a:r>
          </a:p>
          <a:p>
            <a:r>
              <a:t>CNPJ 60010416000112 · Prazo dos créditos e carência · Excerto da fonte:</a:t>
            </a:r>
          </a:p>
          <a:p>
            <a:r>
              <a:t>Anexo I ao Regulamento CLASSE ÚNICA DO MT I CONSIGNADO PRIVADO I FUNDO DE INVESTIMENTO EM DIREITOS CREDITÓRIOS RESPONSABILIDADE LIMITADA</a:t>
            </a:r>
          </a:p>
          <a:p>
            <a:r>
              <a:t> (ii) o saldo dos Direitos Creditórios devidos pelo mesmo Devedor à Classe, considerando, pro  forma, o endosso pretendido, não deverá exceder R$ 100.000,00 (cem mil reais), observado  o disposto no item 4.4.1 abaixo;</a:t>
            </a:r>
          </a:p>
          <a:p>
            <a:r>
              <a:t> (iii) o prazo de vencimento das CCB representativas dos Direitos Creditórios deverá ser, no  máximo, equivalente ao prazo máximo permitido pelas leis e regulamentações aplicáveis; e</a:t>
            </a:r>
          </a:p>
          <a:p>
            <a:r>
              <a:t> (iv) os Direitos Creditórios não poderão ser devidos por Devedores que tenham acima de 64  (sessenta e quatro) anos 11 (onze) meses e 29 (vinte e nove) dias na data de emissão da  respectiva CCB.</a:t>
            </a:r>
          </a:p>
          <a:p>
            <a:r>
              <a:t>CNPJ 60010416000112 · Prazo dos créditos e carência · Condição: Documentos atuais selecionados no inventário por categoria/escopo; a data documental isolada não comprova vigência jurídica.</a:t>
            </a:r>
          </a:p>
          <a:p>
            <a:r>
              <a:t>CNPJ 60010416000112 · Prazo dos créditos e carência · Versão e prevalência: Documentos atuais selecionados no inventário por categoria/escopo; a data documental isolada não comprova vigência jurídica.</a:t>
            </a:r>
          </a:p>
          <a:p>
            <a:r>
              <a:t>CNPJ 60010416000112 · Prazo dos créditos e carência · Resumo do histórico: {"count": 1, "dates": ["2025-03-20"], "document_count": 1, "sources": [{"document_id": "993786", "title": "Regulamento", "reference_date": "2025-03-20", "version": "1", "page": 11, "clause": "4.5", "url": "https://fnet.bmfbovespa.com.br/fnet/publico/visualizarDocumento?id=993786", "sha256": "fd0fdd369a195510d81f81f505195a0b09e5f43522a990afa7d58c4f872921c8"}], "reference": {"path": "history/60010416000112.json", "criterion_id": "term", "total_count": 1, "preview_count": 1, "full_text_deferred": true, "sha256": "8e2bd813f4c51cf01f6bfaad164bafe69d2bbb192f753eac92da3a01c2e63046"}}</a:t>
            </a:r>
          </a:p>
          <a:p>
            <a:r>
              <a:t>CNPJ 62696791000193 · Prazo dos créditos e carência · Motivo: Não localizada uma cláusula material para este critério nos textos identificados e processados. A ausência de resultado não comprova inexistência da regra.</a:t>
            </a:r>
          </a:p>
          <a:p>
            <a:r>
              <a:t>CNPJ 55563624000109 · Prazo dos créditos e carência · Motivo: Não localizada uma cláusula material para este critério nos textos identificados e processados. A ausência de resultado não comprova inexistência da regra.</a:t>
            </a:r>
          </a:p>
          <a:p>
            <a:r>
              <a:t>CNPJ 62552447000120 · Prazo dos créditos e carência · Motivo: Não localizada uma cláusula material para este critério nos textos identificados e processados. A ausência de resultado não comprova inexistência da regra.</a:t>
            </a:r>
          </a:p>
          <a:p>
            <a:r>
              <a:t>CNPJ 63953620000165 · Prazo dos créditos e carência · Anexo ao Regulamento · ID 1222863 · 2026-06-02 · versão 1 · p. 2 · https://fnet.bmfbovespa.com.br/fnet/publico/visualizarDocumento?id=1222863</a:t>
            </a:r>
          </a:p>
          <a:p>
            <a:r>
              <a:t>CNPJ 63953620000165 · Prazo dos créditos e carência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Prazo dos créditos e carência · Condição: Documentos atuais selecionados no inventário por categoria/escopo; a data documental isolada não comprova vigência jurídica.</a:t>
            </a:r>
          </a:p>
          <a:p>
            <a:r>
              <a:t>CNPJ 63953620000165 · Prazo dos créditos e carência · Versão e prevalência: Documentos atuais selecionados no inventário por categoria/escopo; a data documental isolada não comprova vigência jurídica.</a:t>
            </a:r>
          </a:p>
          <a:p>
            <a:r>
              <a:t>CNPJ 63953620000165 · Prazo dos créditos e carência · Resumo do histórico: {"count": 8, "dates": ["2026-04-28", "2026-05-08", "2026-05-15"], "document_count": 3, "sources": [{"document_id": "1327859", "title": "Demonstrações Financeiras - Fusão, cisão e incorporação", "reference_date": "2026-05-15", "version": "1", "page": 16, "url": "https://fnet.bmfbovespa.com.br/fnet/publico/visualizarDocumento?id=1327859", "sha256": "dca1c68babb97f887528c3e2e47596a9c30f507b067981a35655b2f2da9c8054"}, {"document_id": "1298691", "title": "Demonstrações Financeiras - Fusão, cisão e incorporação", "reference_date": "2026-05-08", "version": "1", "page": 16, "url": "https://fnet.bmfbovespa.com.br/fnet/publico/visualizarDocumento?id=1298691", "sha256": "58c570d9b8d4d265330d3db3ea81c435b8e44a6dab4002aa37790652a1ee9819"}, {"document_id": "1282180", "title": "Demonstrações Financeiras - Fusão, cisão e incorporação", "reference_date": "2026-04-28", "version": "1", "page": 16, "url": "https://fnet.bmfbovespa.com.br/fnet/publico/visualizarDocumento?id=1282180", "sha256": "afaaa0e6809be4385e5bdb6c911aac582032c5bdbac3d7750234bf9eaf00438a"}], "reference": {"path": "history/63953620000165.json", "criterion_id": "term", "total_count": 8, "preview_count": 3, "full_text_deferred": true, "sha256": "a7b89077f5e21098c2d601c303faabc3ff6b9729f89d8afecdc60fe1404720c1"}}</a:t>
            </a:r>
          </a:p>
          <a:p>
            <a:r>
              <a:t>CNPJ 54871427000194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null, "comparison_required": true, "context_formula": "", "context_value": null, "context_unit": ""}</a:t>
            </a:r>
          </a:p>
          <a:p>
            <a:r>
              <a:t>CNPJ 54871427000194 · Concentração por devedor, cedente e grupo · Regulamento · ID 670691 · 28/04/2024 · versão Regulamento — referência 28/04/2024 · p. 11 · Anexo I, 4.10 e 4.11.2–4.11.4 · https://fnet.bmfbovespa.com.br/fnet/publico/visualizarDocumento?id=670691</a:t>
            </a:r>
          </a:p>
          <a:p>
            <a:r>
              <a:t>CNPJ 54871427000194 · Concentração por devedor, cedente e grupo · Excerto da fonte:</a:t>
            </a:r>
          </a:p>
          <a:p>
            <a:r>
              <a:t>4.10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4.11 A Classe poderá, direta ou indiretamente e, nos termos da legislação aplicável: (i) adquirir Direitos Creditórios que sejam cedidos e/ou originados pelo ADMINISTRADOR e/ou pelo GESTOR, ou partes a eles relacionadas, tal como definidas pelas regras contábeis que tratam desse assunto; e (ii) ceder Direitos Creditórios a qualquer das pessoas, fundos de investimento ou entidades referidas no item (i) acima, desde que (i) o ADMINISTRADOR, GESTOR, a entidade registradora e o CUSTODIANTE de Direitos Creditórios não sejam partes relacionadas entre si; e (ii) a entidade registradora e o</a:t>
            </a:r>
          </a:p>
          <a:p>
            <a:r>
              <a:t>CNPJ 54871427000194 · Concentração por devedor, cedente e grupo · Regulamento · ID 670691 · 28/04/2024 · versão Regulamento — referência 28/04/2024 · p. 10 · Anexo I, 4.7(xi) · https://fnet.bmfbovespa.com.br/fnet/publico/visualizarDocumento?id=670691</a:t>
            </a:r>
          </a:p>
          <a:p>
            <a:r>
              <a:t>CNPJ 54871427000194 · Concentração por devedor, cedente e grupo · Excerto da fonte:</a:t>
            </a:r>
          </a:p>
          <a:p>
            <a:r>
              <a:t>(xi) Endosso de todas as CCBs de um mesmo Devedor que não ultrapasse 20% (vinte por cento) do patrimônio líquido da Classe. 4.7.1 Os Documentos Comprobatórios deverão ser disponibilizados pelo respectivo Endossante (a) no prazo de 10 (dez) dias contados da Data de Aquisição dos 50 (cinquenta) casos que sejam solicitados pelo GESTOR, a seu exclusivo critério, (b) a totalidade dos demais Documentos Comprobatórios em f ormato digital em até 90 (noventa) dias a contar da Data de Aquisição, bem como dos Documentos Comprobatórios em formato físico relativos aos Direitos Creditórios que eventualmente estejam inadimplidos em ref erida data, e (c) a totalidade dos demais Documentos Comprobatórios em f ormato f ísico em até 180 (cento e oitenta) dias a contar da Data de Aquisição, sujeito à resolução do respectivo endosso, de acordo com os termos do Contrato de Endosso. 4.7.2 Caso um Direito Creditório cedido à Classe deixe de atender quaisquer Critérios de Elegibilidade e/ou quaisquer declarações e garantias ref erentes a esse Direito Creditório, conf orme previsto no respectivo Contrato de Endosso, após seu endosso à</a:t>
            </a:r>
          </a:p>
          <a:p>
            <a:r>
              <a:t>CNPJ 54871427000194 · Concentração por devedor, cedente e grupo · Condição: Na aquisição, o critério específico de 20% restringe o permissivo geral de 100%. Uma concentração observada no IME exige base e devedor identificados.</a:t>
            </a:r>
          </a:p>
          <a:p>
            <a:r>
              <a:t>CNPJ 54871427000194 · Concentração por devedor, cedente e grupo · Versão e prevalência: Leitura específica das cláusulas indicadas; condições e conflitos preservados. Seleção documental atual não comprova vigência jurídica por data isolada.</a:t>
            </a:r>
          </a:p>
          <a:p>
            <a:r>
              <a:t>CNPJ 54871427000194 · Concentração por devedor, cedente e grupo · Resumo do histórico: {"count": 2, "dates": ["2024-04-19", "2024-04-28"], "document_count": 2, "sources": [{"document_id": "670691", "title": "Regulamento", "reference_date": "2024-04-28", "version": "1", "page": "10-11", "url": "https://fnet.bmfbovespa.com.br/fnet/publico/visualizarDocumento?id=670691", "sha256": "bf16dd7f1a62d5cdbf2e2d54fef81783783f7310fbc99c3a8f00459bdf9d037b"}, {"document_id": "670689", "title": "Regulamento", "reference_date": "2024-04-19", "version": "1", "page": 11, "clause": "4.10", "url": "https://fnet.bmfbovespa.com.br/fnet/publico/visualizarDocumento?id=670689", "sha256": "891bc9bc5d87bbc02ec139077a84d2702eb81ea02035fb71d24f5b8366b94a0b"}], "reference": {"path": "history/54871427000194.json", "criterion_id": "concentration", "total_count": 2, "preview_count": 2, "full_text_deferred": true, "sha256": "35d7cd99be50c7287c9fb675cf4f2e736002315295a225a9efa79c8d9186d874"}}</a:t>
            </a:r>
          </a:p>
          <a:p>
            <a:r>
              <a:t>CNPJ 60010416000112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null, "comparison_required": true, "context_formula": "", "context_value": null, "context_unit": ""}</a:t>
            </a:r>
          </a:p>
          <a:p>
            <a:r>
              <a:t>CNPJ 60010416000112 · Concentração por devedor, cedente e grupo · Regulamento · ID 1051393 · 09/10/2025 · versão Regulamento09/10/2025 · p. 11 · AnexoI4.4.9(iv),4.5(iii) · https://fnet.bmfbovespa.com.br/fnet/publico/visualizarDocumento?id=1051393</a:t>
            </a:r>
          </a:p>
          <a:p>
            <a:r>
              <a:t>CNPJ 60010416000112 · Concentração por devedor, cedente e grupo · Excerto da fonte:</a:t>
            </a:r>
          </a:p>
          <a:p>
            <a:r>
              <a:t>3,00% (três por cento) do Patrimônio Líquido da Classe. Ativos Financeiros de Liquidez 4.5 A parcela do Patrimônio Líquido que não estiver alocada em Direitos Creditórios será necessariamente alocada no seguintes ativos (“Ativos Financeiros de Liquidez”). (i) moeda corrente nacional; (ii) títulos do Tesouro SELIC, anteriormente denominado letra f inanceira do Tesouro Nacional (LFT); (iii) certif icados de depósito bancário (CDB) ou recibos de depósito bancário (RDB) com prazo máximo de vencimento equivalente ao prazo remanescente</a:t>
            </a:r>
          </a:p>
          <a:p>
            <a:r>
              <a:t>CNPJ 60010416000112 · Concentração por devedor, cedente e grupo · Regulamento · ID 1051393 · 09/10/2025 · versão Regulamento09/10/2025 · p. 12 · AnexoI4.7–4.8 · https://fnet.bmfbovespa.com.br/fnet/publico/visualizarDocumento?id=1051393</a:t>
            </a:r>
          </a:p>
          <a:p>
            <a:r>
              <a:t>CNPJ 60010416000112 · Concentração por devedor, cedente e grupo · Excerto da fonte:</a:t>
            </a:r>
          </a:p>
          <a:p>
            <a:r>
              <a:t>4.7 A Classe deverá observar, ainda, os limites de concentração definidos na Política de Crédito, que integra o Contrato de Endosso como Anexo 3.2(v). 4.8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a:t>
            </a:r>
          </a:p>
          <a:p>
            <a:r>
              <a:t>CNPJ 60010416000112 · Concentração por devedor, cedente e grupo · Versão e prevalência: Leitura específica das cláusulas indicadas; condições e conflitos preservados. Seleção documental atual não comprova vigência jurídica por data isolada.</a:t>
            </a:r>
          </a:p>
          <a:p>
            <a:r>
              <a:t>CNPJ 60010416000112 · Concentração por devedor, cedente e grupo · Resumo do histórico: {"count": 2, "dates": ["2025-03-20", "2025-10-09"], "document_count": 2, "sources": [{"document_id": "1051393", "title": "Regulamento", "reference_date": "2025-10-09", "version": "1", "page": "11-12", "url": "https://fnet.bmfbovespa.com.br/fnet/publico/visualizarDocumento?id=1051393", "sha256": "8469d613078ffd5a6c1d217885d8a397a16342c0b937ae4aa24b106505f233ae"}, {"document_id": "993786", "title": "Regulamento", "reference_date": "2025-03-20", "version": "1", "page": 12, "clause": "4.8", "url": "https://fnet.bmfbovespa.com.br/fnet/publico/visualizarDocumento?id=993786", "sha256": "fd0fdd369a195510d81f81f505195a0b09e5f43522a990afa7d58c4f872921c8"}], "reference": {"path": "history/60010416000112.json", "criterion_id": "concentration", "total_count": 2, "preview_count": 2, "full_text_deferred": true, "sha256": "8e2bd813f4c51cf01f6bfaad164bafe69d2bbb192f753eac92da3a01c2e63046"}}</a:t>
            </a:r>
          </a:p>
          <a:p>
            <a:r>
              <a:t>CNPJ 62696791000193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null, "comparison_required": true, "context_formula": "", "context_value": null, "context_unit": ""}</a:t>
            </a:r>
          </a:p>
          <a:p>
            <a:r>
              <a:t>CNPJ 62696791000193 · Concentração por devedor, cedente e grupo · Regulamento · ID 1143317 · 20/03/2026 · versão Regulamento — referência 20/03/2026 · p. 11 · Anexo I, 4.8–4.9 · https://fnet.bmfbovespa.com.br/fnet/publico/visualizarDocumento?id=1143317</a:t>
            </a:r>
          </a:p>
          <a:p>
            <a:r>
              <a:t>CNPJ 62696791000193 · Concentração por devedor, cedente e grupo · Excerto da fonte:</a:t>
            </a:r>
          </a:p>
          <a:p>
            <a:r>
              <a:t>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relacionadas ao Gestor. 4.8.1 As aplicações em Direitos Creditórios do Agronegócio decorrentes de receitas públicas originárias ou derivadas da União, dos Estados, do Distrito Federal e dos Municípios ou de suas autarquias e f undações, assim como em Direitos Creditórios do Agronegócio cedidos ou originados por empresas controladas pelo poder público, não estão submetidas ao limite de concentração por emissor previsto no caput. 4.9 Nos termos do Art. 45 do Anexo</a:t>
            </a:r>
          </a:p>
          <a:p>
            <a:r>
              <a:t>CNPJ 62696791000193 · Concentração por devedor, cedente e grupo · Regulamento · ID 1143317 · 20/03/2026 · versão Regulamento — referência 20/03/2026 · p. 12 · Anexo I, 4.10(i)–(ix) · https://fnet.bmfbovespa.com.br/fnet/publico/visualizarDocumento?id=1143317</a:t>
            </a:r>
          </a:p>
          <a:p>
            <a:r>
              <a:t>CNPJ 62696791000193 · Concentração por devedor, cedente e grupo · Excerto da fonte:</a:t>
            </a:r>
          </a:p>
          <a:p>
            <a:r>
              <a:t>4.10 Sem prejuízo de limites mais restritivos definidos neste Anexo, o Gestor deverá observar, ainda, os seguintes limites de concentração: (i) A Classe poderá, direta ou indiretamente, ter até 100% (cem por cento) do Patrimônio Líquido representado por Direitos Creditórios do Agronegócio originados ou cedidos pelo Administrador, Gestor e/ou suas partes relacionadas, tal como definidas pelas regras contábeis que tratam desse assunto, desde que (a) o Gest or, a entidade registradora e o Custodiante dos Direitos Creditórios do Agronegócio não sejam partes relacionadas entre si; e (b) a entidade registradora e o Custodiante dos Direitos Creditórios do Agronegócio não sejam partes relacionadas ao originador ou Cedente. (ii) No máximo, 100% (cem por cento) do Patrimônio Líquido investido em Ativos Financeiros de Liquidez de emissão ou que envolvam retenção de risco por parte do Administrador, Gestor, e/ou suas partes relacionadas, observado ainda o disposto no item Error! Reference source not found.;</a:t>
            </a:r>
          </a:p>
          <a:p>
            <a:r>
              <a:t>CNPJ 62696791000193 · Concentração por devedor, cedente e grupo · Condição: Liquidez/derivativos relacionados também têm permissivos de 100%, mas remissões internas aparecem como “Error! Reference source not found.”.</a:t>
            </a:r>
          </a:p>
          <a:p>
            <a:r>
              <a:t>CNPJ 62696791000193 · Concentração por devedor, cedente e grupo · Versão e prevalência: Leitura específica das cláusulas indicadas; condições e conflitos preservados. Seleção documental atual não comprova vigência jurídica por data isolada.</a:t>
            </a:r>
          </a:p>
          <a:p>
            <a:r>
              <a:t>CNPJ 55563624000109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null, "comparison_required": true, "context_formula": "", "context_value": null, "context_unit": ""}</a:t>
            </a:r>
          </a:p>
          <a:p>
            <a:r>
              <a:t>CNPJ 55563624000109 · Concentração por devedor, cedente e grupo · Regulamento · ID 1192614 · 30/04/2026 · versão Regulamento30/04/2026 · p. 13 · AnexoI4.11–4.12.1 · https://fnet.bmfbovespa.com.br/fnet/publico/visualizarDocumento?id=1192614</a:t>
            </a:r>
          </a:p>
          <a:p>
            <a:r>
              <a:t>CNPJ 55563624000109 · Concentração por devedor, cedente e grupo · Excerto da fonte:</a:t>
            </a:r>
          </a:p>
          <a:p>
            <a:r>
              <a:t>4.11 Nos termos dos artigos 45, parágrafo 7º, e 47 parágrafo único do Anexo Normativo II à Resolução CVM 175, uma vez que as Cotas são destinadas exclusivamente a Investidores Profissionais, a Classe poderá ter até 100% (cem por cento) de seu Patrimônio Líquido alocado em Cotas da Classe Investida, as quais são emitidas pela Classe Investida. 4.12 A Classe poderá, direta ou indiretamente (i) adquirir Cotas da Classe Investida que sejam administrados pelo ADMINISTRADOR, e geridos ou cogeridos pelo GESTOR, ou partes a eles relacionadas, tal como definidas pelas</a:t>
            </a:r>
          </a:p>
          <a:p>
            <a:r>
              <a:t>CNPJ 55563624000109 · Concentração por devedor, cedente e grupo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Concentração por devedor, cedente e grupo · Versão e prevalência: Leitura específica das cláusulas indicadas; condições e conflitos preservados. Seleção documental atual não comprova vigência jurídica por data isolada.</a:t>
            </a:r>
          </a:p>
          <a:p>
            <a:r>
              <a:t>CNPJ 55563624000109 · Concentração por devedor, cedente e grupo · Resumo do histórico: {"count": 1, "dates": ["2026-04-30"], "document_count": 1, "sources": [{"document_id": "1192614", "title": "Regulamento", "reference_date": "2026-04-30", "version": "1", "page": "11-12", "url": "https://fnet.bmfbovespa.com.br/fnet/publico/visualizarDocumento?id=1192614", "sha256": "f56e63ace0acde41d2f47fb48f1ac7f3f7df5e2d32de092d7c5e075a52516632"}], "reference": {"path": "history/55563624000109.json", "criterion_id": "concentration", "total_count": 1, "preview_count": 1, "full_text_deferred": true, "sha256": "7835d573fb58a3c19adf5b8ecc2aee2bdbb9a88f7a0c0209b5f262b64c7522e3"}}</a:t>
            </a:r>
          </a:p>
          <a:p>
            <a:r>
              <a:t>CNPJ 62552447000120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null, "comparison_required": true, "context_formula": "", "context_value": null, "context_unit": ""}</a:t>
            </a:r>
          </a:p>
          <a:p>
            <a:r>
              <a:t>CNPJ 62552447000120 · Concentração por devedor, cedente e grupo · Regulamento · ID 1200623 · 21/05/2026 · versão Consolidado21/05/2026 aprovado pelo ato1200625 · p. 14 · AnexoI4.10–4.13 · https://fnet.bmfbovespa.com.br/fnet/publico/visualizarDocumento?id=1200623</a:t>
            </a:r>
          </a:p>
          <a:p>
            <a:r>
              <a:t>CNPJ 62552447000120 · Concentração por devedor, cedente e grupo · Excerto da fonte:</a:t>
            </a:r>
          </a:p>
          <a:p>
            <a:r>
              <a:t>4.10 Nos termos do art. 45, §7º, inciso II, do Anexo Normativo II, a Classe poderá ter até 100% (cem por cento) de seu Patrimônio Líquido alocado em Direitos Creditórios, derivativos, observado o disposto abaixo,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4.10.1 O uso de derivativos está restr</a:t>
            </a:r>
          </a:p>
          <a:p>
            <a:r>
              <a:t>CNPJ 62552447000120 · Concentração por devedor, cedente e grupo · Condição: Regulamento permite concentração ampla; TVM têm limite específico 10% PL na elegibilidade.</a:t>
            </a:r>
          </a:p>
          <a:p>
            <a:r>
              <a:t>CNPJ 62552447000120 · Concentração por devedor, cedente e grupo · Versão e prevalência: Leitura específica das cláusulas indicadas; condições e conflitos preservados. Seleção documental atual não comprova vigência jurídica por data isolada.</a:t>
            </a:r>
          </a:p>
          <a:p>
            <a:r>
              <a:t>CNPJ 63953620000165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null, "comparison_required": true, "context_formula": "", "context_value": null, "context_unit": ""}</a:t>
            </a:r>
          </a:p>
          <a:p>
            <a:r>
              <a:t>CNPJ 63953620000165 · Concentração por devedor, cedente e grupo · Anexo ao Regulamento · ID 1222863 · 02/06/2026 · versão AnexoConsignadoPrivado02/06/2026 · p. 6 · 4.14 · https://fnet.bmfbovespa.com.br/fnet/publico/visualizarDocumento?id=1222863</a:t>
            </a:r>
          </a:p>
          <a:p>
            <a:r>
              <a:t>CNPJ 63953620000165 · Concentração por devedor, cedente e grupo · Excerto da fonte:</a:t>
            </a:r>
          </a:p>
          <a:p>
            <a:r>
              <a:t>4.14 Nos termos do Art. 45, §7º, inciso II, do Anexo Normativo II da Resolução CVM 175, a Classe poderá ter até 100% (cem por cento) de seu Patrimônio Líquido alocado em Direitos Creditórios, derivativos, observado o disposto neste Anexo I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4.15 Sem prejuízo de limites</a:t>
            </a:r>
          </a:p>
          <a:p>
            <a:r>
              <a:t>CNPJ 63953620000165 · Concentração por devedor, cedente e grupo · Anexo ao Regulamento · ID 1222863 · 02/06/2026 · versão AnexoConsignadoPrivado02/06/2026 · p. 7 · 4.15(i)–(v) · https://fnet.bmfbovespa.com.br/fnet/publico/visualizarDocumento?id=1222863</a:t>
            </a:r>
          </a:p>
          <a:p>
            <a:r>
              <a:t>CNPJ 63953620000165 · Concentração por devedor, cedente e grupo · Excerto da fonte:</a:t>
            </a:r>
          </a:p>
          <a:p>
            <a:r>
              <a:t>(i)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CNPJ 63953620000165 · Concentração por devedor, cedente e grupo · Versão e prevalência: Leitura específica das cláusulas indicadas; condições e conflitos preservados. Seleção documental atual não comprova vigência jurídica por data isolada.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Recebíveis e aquisição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Natureza dos recebíveis · Regulamento · ID 670691 · 28/04/2024 · versão Regulamento — referência 28/04/2024 · p. 9 · Anexo I, 4.2–4.2.1 · https://fnet.bmfbovespa.com.br/fnet/publico/visualizarDocumento?id=670691</a:t>
            </a:r>
          </a:p>
          <a:p>
            <a:r>
              <a:t>CNPJ 54871427000194 · Natureza dos recebíveis · Excerto da fonte:</a:t>
            </a:r>
          </a:p>
          <a:p>
            <a:r>
              <a:t>4.2 Os Direitos Creditórios representados por Certif icados de Cédulas de Crédito Bancário (“CCCBs”), representativos de um agrupamento de determinadas CCBs, originadas no âmbito de operações de empréstimos pessoais concedidos por um Endossante a um Devedor, devidamente f ormalizadas por via eletrônica de acordo com a legislação aplicável, segundo os critérios de composição e diversificação estabelecidos pela regulamentação aplicável e neste Regulamento. 4.2.1 Cada Endossante deve ter celebrado convênio com órgão consignante, previamente à cessão de Direitos Creditórios à Classe, que contemplam a obrigação da manutenção da consignação/averbação junto ao novo órgão, de modo a possibilitar o pagamento dos Direitos Creditórios por meio de consignação em f olha de pagamento ou de benef ício . 4.3 Os pagamentos relativos aos Direitos Creditórios de titularidade da Classe serão realizados mediante consignação em folha, débito em conta de titularidade dos Devedores e pagamentos de sinistros, para pagamento dos valores correspondentes às parcelas das CCBs representadas pelos CCCBs de titularidade da Classe, os quais serão conciliados e repassados pelo Endossan</a:t>
            </a:r>
          </a:p>
          <a:p>
            <a:r>
              <a:t>CNPJ 54871427000194 · Natureza dos recebíveis · Versão e prevalência: Leitura específica das cláusulas indicadas; condições e conflitos preservados. Seleção documental atual não comprova vigência jurídica por data isolada.</a:t>
            </a:r>
          </a:p>
          <a:p>
            <a:r>
              <a:t>CNPJ 54871427000194 · Natureza dos recebíveis · Resumo do histórico: {"count": 3, "dates": ["2024-04-19", "2024-04-28"], "document_count": 2, "sources": [{"document_id": "670691", "title": "Regulamento", "reference_date": "2024-04-28", "version": "1", "page": "9, 38-39", "url": "https://fnet.bmfbovespa.com.br/fnet/publico/visualizarDocumento?id=670691", "sha256": "bf16dd7f1a62d5cdbf2e2d54fef81783783f7310fbc99c3a8f00459bdf9d037b"}, {"document_id": "670691", "title": "Regulamento", "reference_date": "2024-04-28", "version": "1", "page": 34, "clause": "15.1.5", "url": "https://fnet.bmfbovespa.com.br/fnet/publico/visualizarDocumento?id=670691", "sha256": "bf16dd7f1a62d5cdbf2e2d54fef81783783f7310fbc99c3a8f00459bdf9d037b"}, {"document_id": "670689", "title": "Regulamento", "reference_date": "2024-04-19", "version": "1", "page": 35, "clause": "15.1.5", "url": "https://fnet.bmfbovespa.com.br/fnet/publico/visualizarDocumento?id=670689", "sha256": "891bc9bc5d87bbc02ec139077a84d2702eb81ea02035fb71d24f5b8366b94a0b"}], "reference": {"path": "history/54871427000194.json", "criterion_id": "receivables", "total_count": 3, "preview_count": 3, "full_text_deferred": true, "sha256": "35d7cd99be50c7287c9fb675cf4f2e736002315295a225a9efa79c8d9186d874"}}</a:t>
            </a:r>
          </a:p>
          <a:p>
            <a:r>
              <a:t>CNPJ 60010416000112 · Natureza dos recebíveis · Regulamento · ID 1051393 · 09/10/2025 · versão Regulamento09/10/2025 · p. 9 · AnexoI4.2 · https://fnet.bmfbovespa.com.br/fnet/publico/visualizarDocumento?id=1051393</a:t>
            </a:r>
          </a:p>
          <a:p>
            <a:r>
              <a:t>CNPJ 60010416000112 · Natureza dos recebíveis · Excerto da fonte:</a:t>
            </a:r>
          </a:p>
          <a:p>
            <a:r>
              <a:t>4.2 Os Direitos Creditórios são originados no âmbito de operações de empréstimo consignado concedido pelo Endossante a um Devedor por meio da Plataforma MT e representado por CCB, devidamente formalizada por via eletrônica, de acordo com a legislação aplicável, observada a Política de Crédito constante do Contrato de Endosso. O Endossante celebrou o Convênio Consignado Privado previamente ao endosso de Direitos Creditórios Elegíveis à Classe, para que, após a averbação dos Direitos Creditórios na Dataprev, o pagamento regular dos Direitos Creditórios decorrentes das CCB seja f eito por Consignação</a:t>
            </a:r>
          </a:p>
          <a:p>
            <a:r>
              <a:t>CNPJ 60010416000112 · Natureza dos recebíveis · Versão e prevalência: Leitura específica das cláusulas indicadas; condições e conflitos preservados. Seleção documental atual não comprova vigência jurídica por data isolada.</a:t>
            </a:r>
          </a:p>
          <a:p>
            <a:r>
              <a:t>CNPJ 60010416000112 · Natureza dos recebíveis · Resumo do histórico: {"count": 2, "dates": ["2025-03-20", "2025-10-09"], "document_count": 2, "sources": [{"document_id": "1051393", "title": "Regulamento", "reference_date": "2025-10-09", "version": "1", "page": "9-11", "url": "https://fnet.bmfbovespa.com.br/fnet/publico/visualizarDocumento?id=1051393", "sha256": "8469d613078ffd5a6c1d217885d8a397a16342c0b937ae4aa24b106505f233ae"}, {"document_id": "993786", "title": "Regulamento", "reference_date": "2025-03-20", "version": "1", "page": 30, "clause": "12.5.1", "url": "https://fnet.bmfbovespa.com.br/fnet/publico/visualizarDocumento?id=993786", "sha256": "fd0fdd369a195510d81f81f505195a0b09e5f43522a990afa7d58c4f872921c8"}], "reference": {"path": "history/60010416000112.json", "criterion_id": "receivables", "total_count": 2, "preview_count": 2, "full_text_deferred": true, "sha256": "8e2bd813f4c51cf01f6bfaad164bafe69d2bbb192f753eac92da3a01c2e63046"}}</a:t>
            </a:r>
          </a:p>
          <a:p>
            <a:r>
              <a:t>CNPJ 62696791000193 · Natureza dos recebíveis · Regulamento · ID 1143317 · 20/03/2026 · versão Regulamento — referência 20/03/2026 · p. 6 · Anexo I, 1.1, Objetivo · https://fnet.bmfbovespa.com.br/fnet/publico/visualizarDocumento?id=1143317</a:t>
            </a:r>
          </a:p>
          <a:p>
            <a:r>
              <a:t>CNPJ 62696791000193 · Natureza dos recebíveis · Excerto da fonte:</a:t>
            </a:r>
          </a:p>
          <a:p>
            <a:r>
              <a:t>A Classe tem por objetivo proporcionar aos Cotistas a valorização e a rentabilidade de suas cotas (“Cotas”), conforme a política de investimentos def inida no Capítulo IV abaixo (“Política de Investimentos”), por meio de aplicação do seu Patrimônio Líquido (conforme def inido abaixo) nos seguintes ativos de origem vinculada às cadeias produtivas do agronegócio (“Direitos Creditórios do Agronegócio”): (i) títulos de crédito emitidos por pessoas naturais e jurídicas que integrem as cadeias produtivas do agronegócio; (ii) direitos creditórios do agronegócio; (iii) certificados de recebíveis do agronegócio e outros títulos de securitização emitidos com lastro em direitos creditórios do agronegócio; e (iv) certificados de recebíveis e outro</a:t>
            </a:r>
          </a:p>
          <a:p>
            <a:r>
              <a:t>CNPJ 62696791000193 · Natureza dos recebíveis · Regulamento · ID 1143317 · 20/03/2026 · versão Regulamento — referência 20/03/2026 · p. 7 · Anexo I, 1.1, Objetivo · https://fnet.bmfbovespa.com.br/fnet/publico/visualizarDocumento?id=1143317</a:t>
            </a:r>
          </a:p>
          <a:p>
            <a:r>
              <a:t>CNPJ 62696791000193 · Natureza dos recebíveis · Excerto da fonte:</a:t>
            </a:r>
          </a:p>
          <a:p>
            <a:r>
              <a:t>(i) participações em sociedades que explorem atividades integrantes das cadeias produtivas do agronegócio. (C) Categoria “Financeiro” (“Ativos Financeiros do Agronegócio Financeiros”): (i) ativos f inanceiros e valores mobiliários emitidos por pessoas naturais e jurídicas que integrem as cadeias produtivas do agronegócio. (D) Categoria “Geral” (“Ativos em Geral do Agronegócio”): (i) cotas de classes que apliquem mais de 50% (cinquenta por cento) de seu patrimônio líquido nos ativos referidos nos incisos “A” a “D” acima, o que inclui cotas de outros FIAGRO, mas não se limita a essa categoria de f undos. Os Ativos Imobiliários do Agronegócio, Participações do Agronegócio,</a:t>
            </a:r>
          </a:p>
          <a:p>
            <a:r>
              <a:t>CNPJ 62696791000193 · Natureza dos recebíveis · Versão e prevalência: Leitura específica das cláusulas indicadas; condições e conflitos preservados. Seleção documental atual não comprova vigência jurídica por data isolada.</a:t>
            </a:r>
          </a:p>
          <a:p>
            <a:r>
              <a:t>CNPJ 55563624000109 · Natureza dos recebíveis · Regulamento · ID 1192614 · 30/04/2026 · versão Regulamento30/04/2026 · p. 11 · AnexoI4.1 · https://fnet.bmfbovespa.com.br/fnet/publico/visualizarDocumento?id=1192614</a:t>
            </a:r>
          </a:p>
          <a:p>
            <a:r>
              <a:t>CNPJ 55563624000109 · Natureza dos recebíveis · Excerto da fonte:</a:t>
            </a:r>
          </a:p>
          <a:p>
            <a:r>
              <a:t>4.1 Observados os demais termos deste Anexo, o objetivo da Classe é investir seus recursos em (i) cotas subordinadas mezanino de emissão da classe única do MERCADO CRÉDITO II BRASIL FUNDO DE INVESTIMENTO EM DIREITOS CREDITÓRIOS NÃO PADRONIZADOS, fundo de investimento em direitos creditórios inscrito no CNPJ sob o nº 41.970.012/0001-26 (“Cotas da Classe Investida” e “Classe Investida”, respectivamente), a qual, por sua vez, aplica seus recursos preponderantemente em direitos creditórios originados pela Mercado Pago, de acordo com os termos e condições est</a:t>
            </a:r>
          </a:p>
          <a:p>
            <a:r>
              <a:t>CNPJ 55563624000109 · Natureza dos recebíveis · Regulamento · ID 1192614 · 30/04/2026 · versão Regulamento30/04/2026 · p. 12 · AnexoI4.5 · https://fnet.bmfbovespa.com.br/fnet/publico/visualizarDocumento?id=1192614</a:t>
            </a:r>
          </a:p>
          <a:p>
            <a:r>
              <a:t>CNPJ 55563624000109 · Natureza dos recebíveis · Excerto da fonte:</a:t>
            </a:r>
          </a:p>
          <a:p>
            <a:r>
              <a:t>4.5 Uma vez que o investimento nas Cotas da Classe Investida não corresponde a um investimento direto em direitos creditórios, uma série de disposições comuns à securitização de direitos creditórios não será aplicável ao investimento nas Cotas da Classe Investida. A título meramente exemplificativo, não existem processos de originação ou política de concessão de crédito adotada pelo GESTOR, tampouco há que se falar em verificação ou guarda de documentos comprobatórios que não sejam referentes às Cotas da Classe Investida. Da mesma forma, não há necessida</a:t>
            </a:r>
          </a:p>
          <a:p>
            <a:r>
              <a:t>CNPJ 55563624000109 · Natureza dos recebíveis · Versão e prevalência: Leitura específica das cláusulas indicadas; condições e conflitos preservados. Seleção documental atual não comprova vigência jurídica por data isolada.</a:t>
            </a:r>
          </a:p>
          <a:p>
            <a:r>
              <a:t>CNPJ 55563624000109 · Natureza dos recebíveis · Resumo do histórico: {"count": 4, "dates": ["2025-01-31", "2026-01-31", "2026-04-30"], "document_count": 3, "sources": [{"document_id": "1192614", "title": "Regulamento", "reference_date": "2026-04-30", "version": "1", "page": "11", "url": "https://fnet.bmfbovespa.com.br/fnet/publico/visualizarDocumento?id=1192614", "sha256": "f56e63ace0acde41d2f47fb48f1ac7f3f7df5e2d32de092d7c5e075a52516632"}, {"document_id": "1178840", "title": "Demonstrações Financeiras", "reference_date": "2026-01-31", "version": "1", "page": 16, "url": "https://fnet.bmfbovespa.com.br/fnet/publico/visualizarDocumento?id=1178840", "sha256": "c458e98664c5c907ddb5a05a94b120bed4e05295b2bfc420f5ba69af0a229abe"}, {"document_id": "891861", "title": "Demonstrações Financeiras", "reference_date": "2025-01-31", "version": "1", "page": 16, "url": "https://fnet.bmfbovespa.com.br/fnet/publico/visualizarDocumento?id=891861", "sha256": "e9cb9e6ddbe505fe068cfcac33605165a98313489de0d3ce6d4d238263c3f3e7"}], "reference": {"path": "history/55563624000109.json", "criterion_id": "receivables", "total_count": 4, "preview_count": 3, "full_text_deferred": true, "sha256": "7835d573fb58a3c19adf5b8ecc2aee2bdbb9a88f7a0c0209b5f262b64c7522e3"}}</a:t>
            </a:r>
          </a:p>
          <a:p>
            <a:r>
              <a:t>CNPJ 62552447000120 · Natureza dos recebíveis · Regulamento · ID 1200623 · 21/05/2026 · versão Consolidado21/05/2026 aprovado pelo ato1200625 · p. 11 · AnexoI4.2–4.3 · https://fnet.bmfbovespa.com.br/fnet/publico/visualizarDocumento?id=1200623</a:t>
            </a:r>
          </a:p>
          <a:p>
            <a:r>
              <a:t>CNPJ 62552447000120 · Natureza dos recebíveis · Excerto da fonte:</a:t>
            </a:r>
          </a:p>
          <a:p>
            <a:r>
              <a:t>4.2 Os Direitos Creditórios Consignado Privado e os Direitos Creditórios FGTS são originados no âmbito de CCBs emitidas eletronicamente pelos Devedores ao Endossante, representando, respectivamente, empréstimos consignados, com desconto em f olha de pagamento, e empréstimos pessoais, com garantia de cessão f iduciária do Saque-aniversário. 4.3 A operacionalização é f eita por meio da plataforma eletrônica mantida pelo Originador e utilizada por ele em relação ao processamento e monitoramento das operações de crédito (“Plataforma VR”), de acordo com a legislação aplicável, observada a política de crédit</a:t>
            </a:r>
          </a:p>
          <a:p>
            <a:r>
              <a:t>CNPJ 62552447000120 · Natureza dos recebíveis · Regulamento · ID 1200623 · 21/05/2026 · versão Consolidado21/05/2026 aprovado pelo ato1200625 · p. 6 · AnexoI1.2 Direitos Creditórios(d) · https://fnet.bmfbovespa.com.br/fnet/publico/visualizarDocumento?id=1200623</a:t>
            </a:r>
          </a:p>
          <a:p>
            <a:r>
              <a:t>CNPJ 62552447000120 · Natureza dos recebíveis · Excerto da fonte:</a:t>
            </a:r>
          </a:p>
          <a:p>
            <a:r>
              <a:t>Refinanciamento Livre”, na forma de CCBs originadas no âmbito de um refinanciamento, de acordo com a política de cobrança vigente, de Direitos Creditórios Consignado Privado e de Direitos Creditórios FGTS, que não contem com o lastro de Consignação ou de cessão f iduciária do Saque-Aniversário, respectivamente; e (ii) “Ativos Financei</a:t>
            </a:r>
          </a:p>
          <a:p>
            <a:r>
              <a:t>CNPJ 62552447000120 · Natureza dos recebíveis · Condição: Direitos de refinanciamento livre têm mecanismo de pagamento diferente do consignado/FGTS original.</a:t>
            </a:r>
          </a:p>
          <a:p>
            <a:r>
              <a:t>CNPJ 62552447000120 · Natureza dos recebíveis · Versão e prevalência: Leitura específica das cláusulas indicadas; condições e conflitos preservados. Seleção documental atual não comprova vigência jurídica por data isolada.</a:t>
            </a:r>
          </a:p>
          <a:p>
            <a:r>
              <a:t>CNPJ 63953620000165 · Natureza dos recebíveis · Anexo ao Regulamento · ID 1222863 · 02/06/2026 · versão AnexoConsignadoPrivado02/06/2026 · p. 5 · 4.4 · https://fnet.bmfbovespa.com.br/fnet/publico/visualizarDocumento?id=1222863</a:t>
            </a:r>
          </a:p>
          <a:p>
            <a:r>
              <a:t>CNPJ 63953620000165 · Natureza dos recebíveis · Excerto da fonte:</a:t>
            </a:r>
          </a:p>
          <a:p>
            <a:r>
              <a:t>4.4 Os Direitos Creditórios Consignado Privado são originados no âmbito de operações de empréstimo consignado concedido pelo Endossante a um Devedor por meio da plataforma eletrônica mantida pelo Agente de Retenção/ Cobrança e utilizada por ele em relação ao processamento e monitoramento das operações de crédito consignado (“Plataforma MT”) e representado por CCB, devidamente formalizada por via eletrônica, de acordo com a legislação aplicável, observada a política de crédito constante do Contrato de Endosso. O Endossante celebrou o Convênio Consignado Privado previamente ao endosso de Direitos Creditórios Elegíveis à Clas</a:t>
            </a:r>
          </a:p>
          <a:p>
            <a:r>
              <a:t>CNPJ 63953620000165 · Natureza dos recebíveis · Anexo ao Regulamento · ID 1222863 · 02/06/2026 · versão AnexoConsignadoPrivado02/06/2026 · p. 1 · 1.1Objetivo · https://fnet.bmfbovespa.com.br/fnet/publico/visualizarDocumento?id=1222863</a:t>
            </a:r>
          </a:p>
          <a:p>
            <a:r>
              <a:t>CNPJ 63953620000165 · Natureza dos recebíveis · Excerto da fonte:</a:t>
            </a:r>
          </a:p>
          <a:p>
            <a:r>
              <a:t>Direitos Creditórios Crédito Consignado”, representados por cédula de crédito bancário regida pela Lei nº 10.931, emitida eletronicamente por um devedor em favor do endossante (“CCB”) e, consequentemente, os recebíveis decorrente de cada uma das parcelas vincendas, representando um empréstimo consignado concedido pelo endossante ao devedor, e cujo pagamento ordinário é feito por desconto de cada prestação vincenda de uma CCB na folha de</a:t>
            </a:r>
          </a:p>
          <a:p>
            <a:r>
              <a:t>CNPJ 63953620000165 · Natureza dos recebíveis · Versão e prevalência: Leitura específica das cláusulas indicadas; condições e conflitos preservados. Seleção documental atual não comprova vigência jurídica por data isolada.</a:t>
            </a:r>
          </a:p>
          <a:p>
            <a:r>
              <a:t>CNPJ 63953620000165 · Natureza dos recebíveis · Resumo do histórico: {"count": 8, "dates": ["2026-04-28", "2026-05-08", "2026-05-15"], "document_count": 3, "sources": [{"document_id": "1327859", "title": "Demonstrações Financeiras - Fusão, cisão e incorporação", "reference_date": "2026-05-15", "version": "1", "page": 21, "url": "https://fnet.bmfbovespa.com.br/fnet/publico/visualizarDocumento?id=1327859", "sha256": "dca1c68babb97f887528c3e2e47596a9c30f507b067981a35655b2f2da9c8054"}, {"document_id": "1298691", "title": "Demonstrações Financeiras - Fusão, cisão e incorporação", "reference_date": "2026-05-08", "version": "1", "page": 24, "url": "https://fnet.bmfbovespa.com.br/fnet/publico/visualizarDocumento?id=1298691", "sha256": "58c570d9b8d4d265330d3db3ea81c435b8e44a6dab4002aa37790652a1ee9819"}, {"document_id": "1282180", "title": "Demonstrações Financeiras - Fusão, cisão e incorporação", "reference_date": "2026-04-28", "version": "1", "page": 24, "url": "https://fnet.bmfbovespa.com.br/fnet/publico/visualizarDocumento?id=1282180", "sha256": "afaaa0e6809be4385e5bdb6c911aac582032c5bdbac3d7750234bf9eaf00438a"}], "reference": {"path": "history/63953620000165.json", "criterion_id": "receivables", "total_count": 8, "preview_count": 3, "full_text_deferred": true, "sha256": "a7b89077f5e21098c2d601c303faabc3ff6b9729f89d8afecdc60fe1404720c1"}}</a:t>
            </a:r>
          </a:p>
          <a:p>
            <a:r>
              <a:t>CNPJ 54871427000194 · Originador e endossante · Regulamento · ID 670691 · 2024-04-28 · versão 1 · p. 11 · 4.11.2 · https://fnet.bmfbovespa.com.br/fnet/publico/visualizarDocumento?id=670691</a:t>
            </a:r>
          </a:p>
          <a:p>
            <a:r>
              <a:t>CNPJ 54871427000194 · Originador e endossante · Excerto da fonte:</a:t>
            </a:r>
          </a:p>
          <a:p>
            <a:r>
              <a:t>4.11.2 A Classe poderá ter até 100% (cem por cento) do Patrimônio Líquido representado por Direitos  Creditórios originados ou cedidos por um mesmo Endossante e/ou originados por um mesmo  Originador.</a:t>
            </a:r>
          </a:p>
          <a:p>
            <a:r>
              <a:t>CNPJ 54871427000194 · Originador e endossante · Regulamento · ID 670691 · 2024-04-28 · versão 1 · p. 13 · 4.17 · https://fnet.bmfbovespa.com.br/fnet/publico/visualizarDocumento?id=670691</a:t>
            </a:r>
          </a:p>
          <a:p>
            <a:r>
              <a:t>CNPJ 54871427000194 · Originador e endossante · Excerto da fonte:</a:t>
            </a:r>
          </a:p>
          <a:p>
            <a:r>
              <a:t>4.17 É vedada qualquer forma de antecipação de recursos aos Endossantes para posterior reembolso pela  Classe, seja pelo ADMINISTRADOR, GESTOR, CUSTODIANTE, consultora ou Originadores.</a:t>
            </a:r>
          </a:p>
          <a:p>
            <a:r>
              <a:t>CNPJ 54871427000194 · Originador e endossante · Regulamento · ID 670691 · 2024-04-28 · versão 1 · p. 34 · 15.1.5 · https://fnet.bmfbovespa.com.br/fnet/publico/visualizarDocumento?id=670691</a:t>
            </a:r>
          </a:p>
          <a:p>
            <a:r>
              <a:t>CNPJ 54871427000194 · Originador e endossante · Excerto da fonte:</a:t>
            </a:r>
          </a:p>
          <a:p>
            <a:r>
              <a:t>15.1.5 Outros Riscos:</a:t>
            </a:r>
          </a:p>
          <a:p>
            <a:r>
              <a:t> (i) Cobrança judicial ou extrajudicial dos Direitos Creditórios. No caso de os  Devedores inadimplirem as obrigações dos pagamentos dos Direitos Creditórios de titularidade  da Classe, poderá haver cobrança judicial e/ou extrajudicial dos valores devidos. Neste caso,  além da Classe incorrer em maiores custos relacionados à cobrança dos Direitos Creditórios  Inadimplidos, nada garante que ref eridas cobranças atingirão os resultados almejados, qual  seja, a recuperação do valor integral dos Direitos Creditórios Inadimplidos. Nesta hipótese, a  rentabilidade da Classe será af etada negativamente.</a:t>
            </a:r>
          </a:p>
          <a:p>
            <a:r>
              <a:t> (ii) Dif iculdade de obtenção de indenização ou recompra de Direitos Creditórios.</a:t>
            </a:r>
          </a:p>
          <a:p>
            <a:r>
              <a:t> Considerando a possibilidade de aquisição de Direitos Creditórios de terceiros — isso é  Endossantes que, por sua vez, adquiram os Direitos Creditórios de forma secundária, por meio  da cessão ou endosso realizado por credores anteriores da CCB — caso ocorram situações  que ensejem em recompra de tais Direitos Creditórios e/ou indenização, a Classe poderá ter  dif iculdades adicionais em obter tais indenizações e/ou recompras, na medida em que o direito  a tais indenizações e/ou recompras não está previsto em cada CCB, mas em contratos e  instrumentos dos quais a Classe não é originalmente parte, o que poderá causar perdas à  Classe e, consequentemente, aos Cotistas.</a:t>
            </a:r>
          </a:p>
          <a:p>
            <a:r>
              <a:t> (iii) Risco de concentração. O risco da aplicação na Classe possui forte correlação  com a concentração da Carteira, sendo que, quanto maior f or a concentração da Carteira,  maior será a chance de a Classe sofrer perda patrimonial significativa que afete negativamente  a rentabilidade das Cotas. A Classe não possui limite de concentração por Devedor ou  originador dos Direitos Creditórios, exceto por aqueles previstos na Resolução CVM  175, razão pela qual a Classe poderá estar exposto a significativa concentração por  Devedor. Não é possível garantir que os limites de concentração contidos na Política de  Investimentos, ainda que atendidos, serão suficientes que o Patrimônio Líquido não sofra  perdas que possam af etar a rentabilidade das Cotas.</a:t>
            </a:r>
          </a:p>
          <a:p>
            <a:r>
              <a:t> (iv) Possibilidade de conflito de interesses entre a Classe e os Originadores. Os  Originadores podem possuir relacionamento comercial com os Endossantes e/ou Devedores,  de modo que, em determinadas circunstâncias seus interesses podem ser conflitantes com os  interesses da Classe. Não é possível garantir que, materializada uma situação de conflito de  interesses conforme descrita acima, o Originador exponha-a adequadamente ao  ADMINISTRADOR e/ou aos Cotistas, ou que o f aça absolutamente, tampouco que agirá no  melhor no interesse da Classe. Nesses casos, a Classe pode vir a adquirir Direitos Creditórios  ou pode vir a ter seus Direitos Creditórios Inadimplidos pagos em condições comparativamente  menos vantajosas àquelas que seriam verificadas na ausência de tais conflitos de interesses.</a:t>
            </a:r>
          </a:p>
          <a:p>
            <a:r>
              <a:t> Nesses casos, o Patrimônio Líquido pode ser af etado adversamente.</a:t>
            </a:r>
          </a:p>
          <a:p>
            <a:r>
              <a:t> (v) Possibilidade de conflito de interesses entre Cotistas. As Cotas poderão ser  adquiridas por investidores que sejam sociedades coligadas, controladas ou controladoras,</a:t>
            </a:r>
          </a:p>
          <a:p>
            <a:r>
              <a:t>CNPJ 54871427000194 · Originador e endossante · Condição: Documentos atuais selecionados no inventário por categoria/escopo; a data documental isolada não comprova vigência jurídica.</a:t>
            </a:r>
          </a:p>
          <a:p>
            <a:r>
              <a:t>CNPJ 54871427000194 · Originador e endossante · Versão e prevalência: Documentos atuais selecionados no inventário por categoria/escopo; a data documental isolada não comprova vigência jurídica.</a:t>
            </a:r>
          </a:p>
          <a:p>
            <a:r>
              <a:t>CNPJ 54871427000194 · Originador e endossante · Resumo do histórico: {"count": 2, "dates": ["2024-04-19", "2024-04-28"], "document_count": 2, "sources": [{"document_id": "670691", "title": "Regulamento", "reference_date": "2024-04-28", "version": "1", "page": "9, 39", "url": "https://fnet.bmfbovespa.com.br/fnet/publico/visualizarDocumento?id=670691", "sha256": "bf16dd7f1a62d5cdbf2e2d54fef81783783f7310fbc99c3a8f00459bdf9d037b"}, {"document_id": "670689", "title": "Regulamento", "reference_date": "2024-04-19", "version": "1", "page": 9, "clause": "4.5", "url": "https://fnet.bmfbovespa.com.br/fnet/publico/visualizarDocumento?id=670689", "sha256": "891bc9bc5d87bbc02ec139077a84d2702eb81ea02035fb71d24f5b8366b94a0b"}], "reference": {"path": "history/54871427000194.json", "criterion_id": "originator", "total_count": 2, "preview_count": 2, "full_text_deferred": true, "sha256": "35d7cd99be50c7287c9fb675cf4f2e736002315295a225a9efa79c8d9186d874"}}</a:t>
            </a:r>
          </a:p>
          <a:p>
            <a:r>
              <a:t>CNPJ 60010416000112 · Originador e endossante · Regulamento · ID 1051393 · 09/10/2025 · versão Regulamento09/10/2025 · p. 44 · Glossário, Endossante · https://fnet.bmfbovespa.com.br/fnet/publico/visualizarDocumento?id=1051393</a:t>
            </a:r>
          </a:p>
          <a:p>
            <a:r>
              <a:t>CNPJ 60010416000112 · Originador e endossante · Excerto da fonte:</a:t>
            </a:r>
          </a:p>
          <a:p>
            <a:r>
              <a:t>“Endossante”: a Parati Crédito, Financiamento e Investimento S.A., instituição financeira constituída na forma de uma sociedade por ações, com sede na cidade de Vitória, estado do Espírito Santo, na Avenida Nossa Senhora da Penha, 699, torre A, conjuntos 404 a 407, Santa Lúcia, CEP 29.056-250, inscrita no CNPJ sob nº 03.311.443/0001-91; "Entidade Registradora": instituição autorizada pelo BACEN para realizar as atividades de registro e constituição, alteração e desconstituição de ônus e gravames sobre ativos f inanceiros registrados; “Escrituração”: significa a escrituração da Consignação a ser realizada pelo Empregador, junto ao eSocial, após recebimento de notif icação comunicando-o da contratação, pelo Devedor, do empréstimo a ser pago por Consignação; “Eventos de Avaliação”: os eventos de avaliação descritos no item 10.1 deste Anexo; “Eventos de Liquidação”: os eventos de liquidação descritos no item 10.3 deste Anexo; BTG Pactual SAC: 0800 772 28 27 - Ouvidoria: 0800 722 00 48 - btgpactual.com 44</a:t>
            </a:r>
          </a:p>
          <a:p>
            <a:r>
              <a:t>CNPJ 60010416000112 · Originador e endossante · Regulamento · ID 1051393 · 09/10/2025 · versão Regulamento09/10/2025 · p. 41 · Glossário, Agente de Retenção/Cobrança · https://fnet.bmfbovespa.com.br/fnet/publico/visualizarDocumento?id=1051393</a:t>
            </a:r>
          </a:p>
          <a:p>
            <a:r>
              <a:t>CNPJ 60010416000112 · Originador e endossante · Excerto da fonte:</a:t>
            </a:r>
          </a:p>
          <a:p>
            <a:r>
              <a:t>“Agente de Retenção/Cobrança”: significa a Tudo Serviços S.A., sociedade por ações com sede na Cidade de Eusébio, Estado do Ceará, na Comendador Ari Freitas, 577, CEP 61.760-000, inscrita no CNPJ sob nº 27.852.506/0001-85; “Agente Escriturador”: O Administrador, o qual se encontra devidamente habilitado pela CVM para prestar os serviços de escrituração das Cotas, ou seu sucessor a qualquer título; “Amortização”: signif ica cada uma das amortizações ordinárias de Cotas; “Amortização Extraordinária”: amortização extraordinária das Cotas Seniores, conforme deliberado pela Assembleia Especial de Cotistas, para reestabelecer o Índice de Subordinação, nos termos do item 5.5.1 do Anexo I; "ANBIMA": Associação Brasileira das Entidades dos Mercados Financeiro e de Capitais; "Código ANBIMA": Código ANBIMA de Regulação e Melhores Práticas para Administração de Recursos de Terceiros “Anexos”: tem o signif icado atribuído no Art. 3, inciso IV, da Resolução CVM 175, Parte Geral; “Apêndice”: cada um dos apêndices que integram este Anexo, descritivos de cada Subclasse de Cotas ou de aspectos aplicáveis à Classe; "Arquivos Dataprev": Arquivo de Consignações fornecido mensalmente pela Dataprev ao Endossante, contendo a totalidade das operações pend</a:t>
            </a:r>
          </a:p>
          <a:p>
            <a:r>
              <a:t>CNPJ 60010416000112 · Originador e endossante · Regulamento · ID 1051393 · 09/10/2025 · versão Regulamento09/10/2025 · p. 28 · AnexoI11.23 · https://fnet.bmfbovespa.com.br/fnet/publico/visualizarDocumento?id=1051393</a:t>
            </a:r>
          </a:p>
          <a:p>
            <a:r>
              <a:t>CNPJ 60010416000112 · Originador e endossante · Excerto da fonte:</a:t>
            </a:r>
          </a:p>
          <a:p>
            <a:r>
              <a:t>Tudo Serviços S.A., sociedade anônima, com sede no município de Eusébio, Estado do Ceará, na Comendador Ari Freitas, 577, CEP 61.760-000, inscrita no CNPJ sob o nº 27.852.506/0001-85, cujos deveres, sem prejuízo daqueles estabelecidos neste Regulamento, no Contrato de Serviços MT e no Contrato de Endosso, consistirão no monitoramento e cobrança dos Direitos Creditórios Inadimplidos, observado o disposto neste Anexo I e na regulamentação aplicável: (i) caso aplicável, atuar na retenção (defesa) de operações de empréstimo consignado cujos Direitos Creditórios sejam de titularidade da Classe, em caso d</a:t>
            </a:r>
          </a:p>
          <a:p>
            <a:r>
              <a:t>CNPJ 60010416000112 · Originador e endossante · Versão e prevalência: Leitura específica das cláusulas indicadas; condições e conflitos preservados. Seleção documental atual não comprova vigência jurídica por data isolada.</a:t>
            </a:r>
          </a:p>
          <a:p>
            <a:r>
              <a:t>CNPJ 60010416000112 · Originador e endossante · Resumo do histórico: {"count": 2, "dates": ["2025-03-20", "2025-10-09"], "document_count": 2, "sources": [{"document_id": "1051393", "title": "Regulamento", "reference_date": "2025-10-09", "version": "1", "page": "41-43", "url": "https://fnet.bmfbovespa.com.br/fnet/publico/visualizarDocumento?id=1051393", "sha256": "8469d613078ffd5a6c1d217885d8a397a16342c0b937ae4aa24b106505f233ae"}, {"document_id": "993786", "title": "Regulamento", "reference_date": "2025-03-20", "version": "1", "page": 25, "clause": "11.8", "url": "https://fnet.bmfbovespa.com.br/fnet/publico/visualizarDocumento?id=993786", "sha256": "fd0fdd369a195510d81f81f505195a0b09e5f43522a990afa7d58c4f872921c8"}], "reference": {"path": "history/60010416000112.json", "criterion_id": "originator", "total_count": 2, "preview_count": 2, "full_text_deferred": true, "sha256": "8e2bd813f4c51cf01f6bfaad164bafe69d2bbb192f753eac92da3a01c2e63046"}}</a:t>
            </a:r>
          </a:p>
          <a:p>
            <a:r>
              <a:t>CNPJ 62696791000193 · Originador e endossante · Regulamento · ID 1143317 · 20/03/2026 · versão Regulamento — referência 20/03/2026 · p. 10 · Anexo I, 4.4 e 4.6 · https://fnet.bmfbovespa.com.br/fnet/publico/visualizarDocumento?id=1143317</a:t>
            </a:r>
          </a:p>
          <a:p>
            <a:r>
              <a:t>CNPJ 62696791000193 · Originador e endossante · Excerto da fonte:</a:t>
            </a:r>
          </a:p>
          <a:p>
            <a:r>
              <a:t>4.4 Tendo em vista (i) a natureza variada dos Direitos Creditórios do Agronegócio passíveis de aquisição pela Classe; (ii) a amplitude da Política de Investimentos; e (iii) a potencial diversificação de Cedentes/Endossantes e Devedores, não é possível precisar os processos de origem dos Direitos Creditórios do Agronegócio e as políticas de concessão de crédito adotadas pelos Cedentes/Endossantes. 4.5 Os Direitos Creditórios do Agronegócio deverão contar com toda a documentação necessária para o exercício das prerrogativas decorrentes da titularidade dos ativos, e capaz de comprovar a origem, a existência e a exigibilidade dos Direitos Creditórios do Agronegócio (“Documentos Comprobatórios”) que evidenciem sua existência, validade e exequibilidade perante os respectivos Devedores. 4.5.1 Os Direitos Creditórios do Agronegócio serão adquiridos pela Classe por meio: (i) de contratos de cessão e/ou termos de cessão (“Contratos de Cessão”), contratos de promessa de endosso e/ou termos de endosso (“Contratos de Endosso”) firmados entre a Classe e os respectivos cedentes (“Cedentes”) / endossantes (“Endossantes”), acompanhados de todos os direitos, pri</a:t>
            </a:r>
          </a:p>
          <a:p>
            <a:r>
              <a:t>CNPJ 62696791000193 · Originador e endossante · Condição: A afirmação descreve um mandato amplo; não identifica contrapartes efetivamente presentes no IME.</a:t>
            </a:r>
          </a:p>
          <a:p>
            <a:r>
              <a:t>CNPJ 62696791000193 · Originador e endossante · Versão e prevalência: Leitura específica das cláusulas indicadas; condições e conflitos preservados. Seleção documental atual não comprova vigência jurídica por data isolada.</a:t>
            </a:r>
          </a:p>
          <a:p>
            <a:r>
              <a:t>CNPJ 55563624000109 · Originador e endossante · Regulamento · ID 1192614 · 2026-04-30 · versão 1 · p. 32 · https://fnet.bmfbovespa.com.br/fnet/publico/visualizarDocumento?id=1192614</a:t>
            </a:r>
          </a:p>
          <a:p>
            <a:r>
              <a:t>CNPJ 55563624000109 · Originador e endossante · Excerto da fonte:</a:t>
            </a:r>
          </a:p>
          <a:p>
            <a:r>
              <a:t>(b) Questionamento judicial. Os devedores podem questionar judicialmente (1) a validade  dos direitos creditórios, inclusive em razão da legalidade dos limites de crédito  concedidos pelo originador ou cedente e das taxas de juros praticadas, antes e/ou após  a sua transferência para a Classe Investida; e/ou (2) os termos e condições da  transferência dos direitos creditórios à Classe Investida. Em qualquer caso, é possível  que a Classe Investida não receba parte ou a totalidade dos valores relativos aos  direitos creditórios de sua titularidade objeto de questionamento judicial.</a:t>
            </a:r>
          </a:p>
          <a:p>
            <a:r>
              <a:t> (c) Risco de originação de direitos creditórios. Os direitos creditórios a serem adquiridos  pela Classe Investida são decorrentes de operações de empréstimo específicas  envolvendo as operações do Mercado Pago, conforme detalhadas no regulamento da  Classe Investida. Na hipótese de não originação, originação insuficiente ou  indisponibilidade para aquisição pelo Classe Investida, por qualquer motivo, inclusive  em caso de redução ou descontinuidade das operações regulares dos cedentes, de  direitos creditórios que satisfaçam os critérios de elegibilidade, as condições de cessão  e a política de investimento, composição e diversificação da carteira da Classe Investida  descrita em seu regulamento, a Classe Investida poderá ser incapaz de alocar a  totalidade de seus recursos, o que poderá inviabilizar a realização das chamadas de  capital por seu administrador, afetando negativamente a continuidade da Classe  Investida, a expectativa de seus cotistas, incluindo a Classe, com relação ao seu  horizonte de investimento, a rentabilidade da Classe Investida e, consequentemente, o  valor das Cotas da Classe Investida, impactando assim a Classe e os investimentos dos  Cotistas em Cotas.</a:t>
            </a:r>
          </a:p>
          <a:p>
            <a:r>
              <a:t> (d) Originação por meio fraudulento. A Classe Investida pode adquirir direitos creditórios  que tenham sido originados por meio fraudulento. Nesse caso, a Classe Investida não  poderá exigir o pagamento dos respectivos valores por parte dos devedores lesados,  restando-lhe somente exigir do cedente o pagamento do valor correspondente aos  direitos creditórios fraudulentos, na forma prevista no respectivo contrato de cessão. A  restituição devida pelo cedente poderá demorar a ser realizada ou simplesmente não  ocorrer. Em ambos os casos, o patrimônio da Classe Investida seria impactado  negativamente, igualmente afetando, consequentemente, a Classe.</a:t>
            </a:r>
          </a:p>
          <a:p>
            <a:r>
              <a:t> (e) Questionamento da validade e da eficácia da cessão dos Direitos Creditórios. A validade  e a eficácia da cessão dos direitos creditórios à Classe Investida poderão ser  questionadas, inclusive em decorrência de intervenção, liquidação, Regime de  Administração Especial Temporária (RAET), pedido de recuperação judicial, falência,  plano de recuperação extrajudicial ou outro procedimento de natureza similar  originador ou do cedente. A titularidade direitos creditórios poderá vir a ser  questionada caso (1) haja garantias reais sobre os direitos creditórios, constituídas  antes da sua cessão e sem o conhecimento da Classe Investida; (2) ocorra a penhora ou  outra forma de constrição judicial sobre os direitos creditórios, antes da sua cessão e sem  o conhecimento da Classe Investida; (3) seja verificada, em processo judicial, fraude  contra credores ou fraude à execução praticada pelo respectivo originador ou cedente;</a:t>
            </a:r>
          </a:p>
          <a:p>
            <a:r>
              <a:t> ou (4) a cessão dos direitos creditórios à Classe Investida seja revogada, quando restar  comprovado que foi praticada com a intenção de prejudicar os credores do originador  ou do cedente. Em qualquer hipótese, os direitos creditórios integrantes da carteira da  Classe Investida poderão ser bloqueados ou redirecionados para o pagamento de  outras obrigações do originador ou cedente, afetando negativamente os patrimônios  da Classe Investida e a rentabilidade das suas cotas.</a:t>
            </a:r>
          </a:p>
          <a:p>
            <a:r>
              <a:t>CNPJ 55563624000109 · Originador e endossante · Regulamento · ID 1192614 · 2026-04-30 · versão 1 · p. 28 · https://fnet.bmfbovespa.com.br/fnet/publico/visualizarDocumento?id=1192614</a:t>
            </a:r>
          </a:p>
          <a:p>
            <a:r>
              <a:t>CNPJ 55563624000109 · Originador e endossante · Excerto da fonte:</a:t>
            </a:r>
          </a:p>
          <a:p>
            <a:r>
              <a:t>Classe, na forma da regulamentação aplicável, observado que os prestadores de serviços eventualmente  subcontratados não podem ser, em relação à Classe, o originador, cedente, o GESTOR, consultoria especializada  ou partes a eles relacionadas, tais como definidas nas regras contábeis que tratam desse assunto.</a:t>
            </a:r>
          </a:p>
          <a:p>
            <a:r>
              <a:t>CNPJ 55563624000109 · Originador e endossante · Condição: Documentos atuais selecionados no inventário por categoria/escopo; a data documental isolada não comprova vigência jurídica.</a:t>
            </a:r>
          </a:p>
          <a:p>
            <a:r>
              <a:t>CNPJ 55563624000109 · Originador e endossante · Versão e prevalência: Documentos atuais selecionados no inventário por categoria/escopo; a data documental isolada não comprova vigência jurídica.</a:t>
            </a:r>
          </a:p>
          <a:p>
            <a:r>
              <a:t>CNPJ 55563624000109 · Originador e endossante · Resumo do histórico: {"count": 3, "dates": ["2025-01-31", "2026-01-31", "2026-04-30"], "document_count": 3, "sources": [{"document_id": "1192614", "title": "Regulamento", "reference_date": "2026-04-30", "version": "1", "page": "11", "url": "https://fnet.bmfbovespa.com.br/fnet/publico/visualizarDocumento?id=1192614", "sha256": "f56e63ace0acde41d2f47fb48f1ac7f3f7df5e2d32de092d7c5e075a52516632"}, {"document_id": "1178840", "title": "Demonstrações Financeiras", "reference_date": "2026-01-31", "version": "1", "page": 16, "url": "https://fnet.bmfbovespa.com.br/fnet/publico/visualizarDocumento?id=1178840", "sha256": "c458e98664c5c907ddb5a05a94b120bed4e05295b2bfc420f5ba69af0a229abe"}, {"document_id": "891861", "title": "Demonstrações Financeiras", "reference_date": "2025-01-31", "version": "1", "page": 16, "url": "https://fnet.bmfbovespa.com.br/fnet/publico/visualizarDocumento?id=891861", "sha256": "e9cb9e6ddbe505fe068cfcac33605165a98313489de0d3ce6d4d238263c3f3e7"}], "reference": {"path": "history/55563624000109.json", "criterion_id": "originator", "total_count": 3, "preview_count": 3, "full_text_deferred": true, "sha256": "7835d573fb58a3c19adf5b8ecc2aee2bdbb9a88f7a0c0209b5f262b64c7522e3"}}</a:t>
            </a:r>
          </a:p>
          <a:p>
            <a:r>
              <a:t>CNPJ 62552447000120 · Originador e endossante · Regulamento · ID 1200623 · 21/05/2026 · versão Consolidado21/05/2026 aprovado pelo ato1200625 · p. 12 · AnexoI4.4.1(i) · https://fnet.bmfbovespa.com.br/fnet/publico/visualizarDocumento?id=1200623</a:t>
            </a:r>
          </a:p>
          <a:p>
            <a:r>
              <a:t>CNPJ 62552447000120 · Originador e endossante · Excerto da fonte:</a:t>
            </a:r>
          </a:p>
          <a:p>
            <a:r>
              <a:t>BANCO VR S.A., instituição f inanceira, com sede no município e Estado de São Paulo, na Av. Dos Bandeirantes, n.º 460, Brooklin Paulista, CEP 04553-900, inscrita no CNPJ sob o n.º 78.626.983/0001- 63, ou qualquer outra sociedade do mesmo grupo econômico, na qualidade de endossante (“Endossante”), acompanhados de todos os direitos, privilégios, pref erências, prerrogativas, ações e garantias assegurados aos seus titulares; (ii) da subscrição de títulos de crédito e/ou valores mobiliários, incluindo, mas não se</a:t>
            </a:r>
          </a:p>
          <a:p>
            <a:r>
              <a:t>CNPJ 62552447000120 · Originador e endossante · Regulamento · ID 1200623 · 21/05/2026 · versão Consolidado21/05/2026 aprovado pelo ato1200625 · p. 29 · AnexoI12.14 · https://fnet.bmfbovespa.com.br/fnet/publico/visualizarDocumento?id=1200623</a:t>
            </a:r>
          </a:p>
          <a:p>
            <a:r>
              <a:t>CNPJ 62552447000120 · Originador e endossante · Excerto da fonte:</a:t>
            </a:r>
          </a:p>
          <a:p>
            <a:r>
              <a:t>VR BENEFÍCIOS E SERVIÇOS DE PROCESSAMENTO S.A., sociedade anônima com sede no município e Estado de São Paulo, na Av. dos Bandeirantes, n.º 460, Brooklin Paulista, CEP 04553-900, inscrita no CNPJ sob o n.º 02.535.864/0004-86 (“Agente de Retenção e Cobrança” ou “Originador”), para os serviços de retenção de Direitos Creditórios e de cobrança de Direitos Creditórios Inadimplidos, de acordo com os contratos de prestação de serviços de retenção e cobrança celebrados entre o Agente de Retenção e Cobrança e a Classe (“Contratos de Retenção/Cobrança”). 12.15 O Agente de Retenção e Cobrança poderá, às expensas da Classe,</a:t>
            </a:r>
          </a:p>
          <a:p>
            <a:r>
              <a:t>CNPJ 62552447000120 · Originador e endossante · Versão e prevalência: Leitura específica das cláusulas indicadas; condições e conflitos preservados. Seleção documental atual não comprova vigência jurídica por data isolada.</a:t>
            </a:r>
          </a:p>
          <a:p>
            <a:r>
              <a:t>CNPJ 63953620000165 · Originador e endossante · Anexo ao Regulamento · ID 1222863 · 02/06/2026 · versão AnexoConsignadoPrivado02/06/2026 · p. 5 · 4.3–4.4 · https://fnet.bmfbovespa.com.br/fnet/publico/visualizarDocumento?id=1222863</a:t>
            </a:r>
          </a:p>
          <a:p>
            <a:r>
              <a:t>CNPJ 63953620000165 · Originador e endossante · Excerto da fonte:</a:t>
            </a:r>
          </a:p>
          <a:p>
            <a:r>
              <a:t>4.3 Os Direitos Creditórios serão adquiridos pela Classe por meio: (i) contratos de promessa de endosso e/ou termos de endosso (“Contratos de Endosso”) firmados entre a Classe e a Parati Crédito, Financiamento e Investimento S.A., instituição financeira constituída na forma de uma sociedade por ações, com sede na cidade de Vitória, estado do Espírito Santo, na Avenida Nossa Senhora da Penha, 699, torre A, conjuntos 404 a 407, Santa Lúcia, CEP 29.056-250, inscrita no CNPJ sob nº 03.311.443/0001-91 (“Endossante” ou “Cedente”), acompanhados de todos os direitos, privilégios, preferências, prerrogativas, ações e garantias asse</a:t>
            </a:r>
          </a:p>
          <a:p>
            <a:r>
              <a:t>CNPJ 63953620000165 · Originador e endossante · Anexo ao Regulamento · ID 1222863 · 02/06/2026 · versão AnexoConsignadoPrivado02/06/2026 · p. 19 · 12.6 · https://fnet.bmfbovespa.com.br/fnet/publico/visualizarDocumento?id=1222863</a:t>
            </a:r>
          </a:p>
          <a:p>
            <a:r>
              <a:t>CNPJ 63953620000165 · Originador e endossante · Excerto da fonte:</a:t>
            </a:r>
          </a:p>
          <a:p>
            <a:r>
              <a:t>12.6 A Classe contratou a Tudo Serviços S.A., sociedade anônima, com sede no município de Fortaleza, Estado do Ceará, na Avenida Senador Virgulo Távora, nº 303, Lojas 02, 03, 04, 05, 06 e 19, Meireles, CEP 60.170-265, inscrita no CNPJ sob o nº 27.852.506/0001-85, cujos deveres, sem prejuízo daqueles estabelecidos neste Regulamento, no “Contrato de Serviços de Retenção e Cobrança e Outras Avenças”, celebrado entre o Agente de Retenção/Cobrança e a Classe (“Contrato de Serviços MT”) e no Contrato de Endosso, consistirão no monitoramento e cobrança dos Direitos Creditórios Inadimplidos, observado o disposto neste Anexo I e na</a:t>
            </a:r>
          </a:p>
          <a:p>
            <a:r>
              <a:t>CNPJ 63953620000165 · Originador e endossante · Condição: Nomeação nominal atual da classe; distinta da origem histórica dos ativos recebidos por cisão de outros veículos.</a:t>
            </a:r>
          </a:p>
          <a:p>
            <a:r>
              <a:t>CNPJ 63953620000165 · Originador e endossante · Versão e prevalência: Leitura específica das cláusulas indicadas; condições e conflitos preservados. Seleção documental atual não comprova vigência jurídica por data isolada.</a:t>
            </a:r>
          </a:p>
          <a:p>
            <a:r>
              <a:t>CNPJ 63953620000165 · Originador e endossante · Resumo do histórico: {"count": 8, "dates": ["2026-04-28", "2026-05-08", "2026-05-15"], "document_count": 3, "sources": [{"document_id": "1327859", "title": "Demonstrações Financeiras - Fusão, cisão e incorporação", "reference_date": "2026-05-15", "version": "1", "page": 23, "url": "https://fnet.bmfbovespa.com.br/fnet/publico/visualizarDocumento?id=1327859", "sha256": "dca1c68babb97f887528c3e2e47596a9c30f507b067981a35655b2f2da9c8054"}, {"document_id": "1298691", "title": "Demonstrações Financeiras - Fusão, cisão e incorporação", "reference_date": "2026-05-08", "version": "1", "page": 24, "url": "https://fnet.bmfbovespa.com.br/fnet/publico/visualizarDocumento?id=1298691", "sha256": "58c570d9b8d4d265330d3db3ea81c435b8e44a6dab4002aa37790652a1ee9819"}, {"document_id": "1282180", "title": "Demonstrações Financeiras - Fusão, cisão e incorporação", "reference_date": "2026-04-28", "version": "1", "page": 24, "url": "https://fnet.bmfbovespa.com.br/fnet/publico/visualizarDocumento?id=1282180", "sha256": "afaaa0e6809be4385e5bdb6c911aac582032c5bdbac3d7750234bf9eaf00438a"}], "reference": {"path": "history/63953620000165.json", "criterion_id": "originator", "total_count": 8, "preview_count": 3, "full_text_deferred": true, "sha256": "a7b89077f5e21098c2d601c303faabc3ff6b9729f89d8afecdc60fe1404720c1"}}</a:t>
            </a:r>
          </a:p>
          <a:p>
            <a:r>
              <a:t>CNPJ 54871427000194 · Devedor e consignação · Regulamento · ID 670691 · 2024-04-28 · versão 1 · p. 29 · https://fnet.bmfbovespa.com.br/fnet/publico/visualizarDocumento?id=670691</a:t>
            </a:r>
          </a:p>
          <a:p>
            <a:r>
              <a:t>CNPJ 54871427000194 · Devedor e consignação · Excerto da fonte:</a:t>
            </a:r>
          </a:p>
          <a:p>
            <a:r>
              <a:t>Anexo I ao Regulamento CLASSE ÚNICA DE RESPONSABILIDADE LIMITADA DO CONSIGNADO DELTA RECEIVABLES I FUNDO DE INVESTIMENTO EM DIREITOS CREDITÓRIOS  pelo Endossante e depositados em seu conta de sua titularidade para posterior repasse à  Classe. Neste caso, a Classe poderá sofrer perdas principalmente em relação ao atraso na  regularização da titularidade e pagamento dos Direitos Creditórios.</a:t>
            </a:r>
          </a:p>
          <a:p>
            <a:r>
              <a:t> (v) Risco de pré-pagamento dos Direitos Creditórios. A ocorrência de pré-  pagamentos em relação a um ou mais Direitos Creditórios poderá ocasionar perdas à Classe.</a:t>
            </a:r>
          </a:p>
          <a:p>
            <a:r>
              <a:t> A ocorrência de pré-pagamentos (pagamento em data anterior àquela originalmente pactuada)  de Direitos Creditórios reduz o horizonte original de rendimentos esperados pela Classe de  tais Direitos Creditórios, uma vez que o pré-pagamento poderá, se assim permitido pela  documentação do Direito Creditório ou, conf orme o caso, pela legislação aplicável, ser  realizado pelo valor de emissão do Direito Creditório atualizado até a data do pré-pagamento  pela taxa de juros pactuada entre os Endossantes e os Devedores de tais Direitos Creditórios,  de modo que os juros remuneratórios incidentes desde a data da realização do pré-pagamento  até a data de vencimento do respectivo Direito Creditório deixam de ser devidos à Classe.</a:t>
            </a:r>
          </a:p>
          <a:p>
            <a:r>
              <a:t> (vi) Riscos associados aos Devedores: os Direitos Creditórios a serem cedidos à  Classe serão descontados da remuneração do Devedor, através de desconto em f olha de  pagamento ou de benefício. Nesse sentido, na ocorrência de pré-pagamento, as parcelas  serão pagas antecipadamente e a Classe deverá utilizar tais montantes no pré-pagamento dos  Direitos Creditórios. Nesta hipótese, a Classe poderá não encontrar Direitos Creditórios  disponíveis para serem adquiridos pela Classe, o que poderá afetar a rentabilidade da Classe.</a:t>
            </a:r>
          </a:p>
          <a:p>
            <a:r>
              <a:t> (vii) Risco de Competição: o mercado de empréstimos experimentou grande  expansão no Brasil nos últimos anos. Nesse contexto, a Resolução CMN nº 4.292, alterada  pela Resolução nº 4.762, de 27 de novembro de 2019, dispõe que deve ser garantido às  pessoas naturais devedoras de operações de crédito (tais como as CCB) a possibilidade de  realizarem a portabilidade destas operações para outras instituições financeiras, inclusive nos  casos em que tenham sido objeto de cessão (tais como as realizadas à Classe). Nesse  cenário, é possível que os competidores do Endossante ofereçam condições e taxas mais  vantajosas para os empréstimos pessoais com consignação em f olha de pagamento ou de  benef ícios, o que pode causar a migração de clientes da Endossante para outras instituições  f inanceiras, gerando a liquidação antecipada de parte das CCB existentes e/ou redução no  número de Direitos Creditórios cedidos. Referida competição poderá af etar os resultados da  Classe, impactando negativamente os rendimentos dos Cotistas. Ainda, a portabilidade a um  Devedor pode acarretar no recebimento de valores inf eriores aos esperados pela Classe.</a:t>
            </a:r>
          </a:p>
          <a:p>
            <a:r>
              <a:t> (viii) Insuf iciência dos Critérios de Elegibilidade. Os Critérios de Elegibilidade têm a  f inalidade de selecionar os Direitos Creditórios passíveis de aquisição pela Classe. Não  obstante tais Critérios de Elegibilidade, a solvência dos Direitos Creditórios que compõem a  Carteira depende integralmente, mas não somente, da situação econômico-financeira dos  Devedores. Dessa f orma, a observância pelo GESTOR dos Critérios de Elegibilidade não  constitui garantia de adimplência dos Devedores.</a:t>
            </a:r>
          </a:p>
          <a:p>
            <a:r>
              <a:t> Os Endossantes não necessariamente garantem a solvência dos seus respectivos Devedores.</a:t>
            </a:r>
          </a:p>
          <a:p>
            <a:r>
              <a:t> O Endossante dos Direitos Creditórios não assumirá responsabilidade pelo seu pagamento ou  pela solvência dos respectivos Devedores. A Classe sofrerá o impacto do inadimplemento dos  Direitos Creditórios vencidos e não pagos pelos respectivos Devedores.</a:t>
            </a:r>
          </a:p>
          <a:p>
            <a:r>
              <a:t> (ix) Possibilidade de aquisição de Direitos Creditórios cedidos por Endossante  e/ou devidos por Devedores cujas demonstrações financeiras não sejam auditadas. A Classe,  desde que sejam respeitados os limites de concentração previstos neste Regulamento, poderá  manter a qualquer tempo em sua Carteira, Direitos Creditórios cedidos por Endossante e/ou  devidos por Devedores cujas demonstrações f inanceiras não sejam auditadas por Auditor  Independente registrado na CVM. Nesse sentido, não haverá verificação independente sobre  tais demonstrações f inanceiras que af irme se estas representam adequadamente, em todos  os aspectos relevantes, as respectivas posições patrimoniais e f inanceiras, os resultados de  suas operações, as mutações de seus respectivos patrimônios líquidos tampouco as origens  e aplicações de seus recursos.</a:t>
            </a:r>
          </a:p>
          <a:p>
            <a:r>
              <a:t>CNPJ 54871427000194 · Devedor e consignação · Regulamento · ID 670691 · 2024-04-28 · versão 1 · p. 27 · 14.2 · https://fnet.bmfbovespa.com.br/fnet/publico/visualizarDocumento?id=670691</a:t>
            </a:r>
          </a:p>
          <a:p>
            <a:r>
              <a:t>CNPJ 54871427000194 · Devedor e consignação · Excerto da fonte:</a:t>
            </a:r>
          </a:p>
          <a:p>
            <a:r>
              <a:t>14.2 Todos os custos e despesas ref eridos neste Capítulo, inclusive para salvaguarda de direitos e  prerrogativas da Classe e/ou com a cobrança judicial e/ou extrajudicial de Direitos Creditórios  Inadimplidos, serão de inteira responsabilidade da Classe, não estando o ADMINISTRADOR, o  GESTOR, o Endossante, os Devedores, o CUSTODIANTE e quaisquer de suas respectivas pessoas  controladoras, sociedades por estes direta ou indiretamente controladas, a estes coligadas ou outras  sociedades sob controle comum, em conjunto ou isoladamente, obrigados pelo adiantamento ou  pagamento de valores relacionados aos procedimentos ref eridos neste Capítulo.</a:t>
            </a:r>
          </a:p>
          <a:p>
            <a:r>
              <a:t>CNPJ 54871427000194 · Devedor e consignação · Regulamento · ID 670691 · 2024-04-28 · versão 1 · p. 31 · https://fnet.bmfbovespa.com.br/fnet/publico/visualizarDocumento?id=670691</a:t>
            </a:r>
          </a:p>
          <a:p>
            <a:r>
              <a:t>CNPJ 54871427000194 · Devedor e consignação · Excerto da fonte:</a:t>
            </a:r>
          </a:p>
          <a:p>
            <a:r>
              <a:t>Anexo I ao Regulamento CLASSE ÚNICA DE RESPONSABILIDADE LIMITADA DO CONSIGNADO DELTA RECEIVABLES I FUNDO DE INVESTIMENTO EM DIREITOS CREDITÓRIOS  a resgates de suas Cotas e/ou poderá ser obrigado a se desfazer de tais Ativos Financeiros  de Liquidez em condições menos f avoráveis do que se não houvesse a ref erida situação de  f alta de liquidez.</a:t>
            </a:r>
          </a:p>
          <a:p>
            <a:r>
              <a:t> (iv) Liquidação antecipada do FUNDO ou da Classe. Observado o disposto neste  Regulamento, o FUNDO ou a Classe poderão ser liquidados antecipadamente, caso ocorra  qualquer Evento de Liquidação, ou se assim deliberado pelos Cotistas reunidos em  Assembleia Geral de Cotistas. Por este motivo, os Cotistas poderão ter seu horizonte original  de investimento reduzido e poderão não conseguir reinvestir os recursos recebidos com a  mesma remuneração buscada pela Classe, não sendo devida pela Classe, pelo  ADMINISTRADOR, pelo GESTOR ou pelo CUSTODIANTE qualquer multa ou penalidade, a  qualquer título, em decorrência desse f ato. Adicionalmente, ocorrendo qualquer uma das  hipóteses de liquidação antecipada do FUNDO ou da Classe, poderá não haver recursos  disponíveis em moeda corrente nacional para realizar o pagamento aos Cotistas, que poderão  ser pagos com os Direitos Creditórios e Ativos Financeiros de Liquidez detidos em Carteira, os  quais estão sujeitos aos riscos apontados no item (iii) acima.</a:t>
            </a:r>
          </a:p>
          <a:p>
            <a:r>
              <a:t> (v) Amortização condicionada das Cotas. A única f onte de recursos da Classe  para ef etuar o pagamento de resgate ou amortização das Cotas, conforme o caso, é a  liquidação: (i) dos Direitos Creditórios, pelos respectivos Devedores; e (ii) dos Ativos  Financeiros de Liquidez, pelas respectivas contrapartes. Após o recebimento desses recursos  e, se f or o caso, depois de esgotados todos os meios cabíveis para a cobrança, extrajudicial  ou judicial, dos referidos ativos, a Classe não disporá de quaisquer outras verbas para efetuar  o resgate ou amortização das Cotas, conforme o caso, o que poderá acarretar prejuízo aos  Cotistas.</a:t>
            </a:r>
          </a:p>
          <a:p>
            <a:r>
              <a:t> Ademais, a Classe está exposta a determinados riscos inerentes aos Direitos Creditórios e  Ativos Financeiros de Liquidez e aos mercados em que são negociados, incluindo a eventual  impossibilidade de alienar ativos em caso de necessidade, especialmente os Direitos  Creditórios, devido à inexistência de um mercado secundário ativo e organizado para a  negociação dessa espécie de ativo. Considerando-se a sujeição do resgate das Cotas à  liquidação dos Direitos Creditórios e/ou dos Ativos Financeiros de Liquidez, conforme descrito  acima, tanto o ADMINISTRADOR quanto o GESTOR e o CUSTODIANTE estão  impossibilitados de assegurar que os resgates das Cotas ocorrerão nas datas originalmente  previstas, não sendo devido, nesta hipótese, pela Classe ou qualquer outra pessoa, incluindo  o ADMINISTRADOR, o GESTOR e o CUSTODIANTE, qualquer multa ou penalidade, de  qualquer natureza.</a:t>
            </a:r>
          </a:p>
          <a:p>
            <a:r>
              <a:t> (vi) Ausência de classificação de risco das Cotas e Política de Investimentos  genérica. A ausência de requisitos rígidos relacionados aos Direitos Creditórios passíveis de  aquisição pela Classe poderá dificultar a def inição do perfil de risco da Carteira, af etando a  capacidade de o Cotista avaliar o risco de seu invest imento. As Cotas não possuem  classificação de risco emitida por Agência Classificadora de Risco. Esses f atores podem  dif icultar a avaliação, por parte dos investidores, da qualidade do crédito representado pelas  Cotas e com a capacidade da Classe em honrar com os pagamentos das Cotas.</a:t>
            </a:r>
          </a:p>
          <a:p>
            <a:r>
              <a:t>CNPJ 54871427000194 · Devedor e consignação · Condição: Documentos atuais selecionados no inventário por categoria/escopo; a data documental isolada não comprova vigência jurídica.</a:t>
            </a:r>
          </a:p>
          <a:p>
            <a:r>
              <a:t>CNPJ 54871427000194 · Devedor e consignação · Versão e prevalência: Documentos atuais selecionados no inventário por categoria/escopo; a data documental isolada não comprova vigência jurídica.</a:t>
            </a:r>
          </a:p>
          <a:p>
            <a:r>
              <a:t>CNPJ 54871427000194 · Devedor e consignação · Resumo do histórico: {"count": 2, "dates": ["2024-04-19", "2024-04-28"], "document_count": 2, "sources": [{"document_id": "670691", "title": "Regulamento", "reference_date": "2024-04-28", "version": "1", "page": "38", "url": "https://fnet.bmfbovespa.com.br/fnet/publico/visualizarDocumento?id=670691", "sha256": "bf16dd7f1a62d5cdbf2e2d54fef81783783f7310fbc99c3a8f00459bdf9d037b"}, {"document_id": "670689", "title": "Regulamento", "reference_date": "2024-04-19", "version": "1", "page": 30, "url": "https://fnet.bmfbovespa.com.br/fnet/publico/visualizarDocumento?id=670689", "sha256": "891bc9bc5d87bbc02ec139077a84d2702eb81ea02035fb71d24f5b8366b94a0b"}], "reference": {"path": "history/54871427000194.json", "criterion_id": "debtor", "total_count": 2, "preview_count": 2, "full_text_deferred": true, "sha256": "35d7cd99be50c7287c9fb675cf4f2e736002315295a225a9efa79c8d9186d874"}}</a:t>
            </a:r>
          </a:p>
          <a:p>
            <a:r>
              <a:t>CNPJ 60010416000112 · Devedor e consignação · Regulamento · ID 1051393 · 2025-10-09 · versão 1 · p. 35 · 15.1.4 · https://fnet.bmfbovespa.com.br/fnet/publico/visualizarDocumento?id=1051393</a:t>
            </a:r>
          </a:p>
          <a:p>
            <a:r>
              <a:t>CNPJ 60010416000112 · Devedor e consignação · Excerto da fonte:</a:t>
            </a:r>
          </a:p>
          <a:p>
            <a:r>
              <a:t>15.1.4 Riscos específicos</a:t>
            </a:r>
          </a:p>
          <a:p>
            <a:r>
              <a:t> (i)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 icar inadimplente e,  consequentemente, não haverá repasse à Classe do respectivo Direito Creditório, o que  poderá resultar em perdas f inanceiras à Classe e aos Cotistas.</a:t>
            </a:r>
          </a:p>
          <a:p>
            <a:r>
              <a:t> (ii) Risco do Empregador não efetuar o desconto em folha: o repasse dos recursos oriundos  dos Direitos Creditórios à Classe depende da realização, pelo Empregador, da Escrituração e  do desconto na respectiva f olha de pagamento do Devedor. Na hipótese do Empregador  deixar de realizar a Escrituração ou os descontos na folha de pagamento, não haverá repasse  de recursos à Classe, podendo causar prejuízos à Classe e aos Cotistas.</a:t>
            </a:r>
          </a:p>
          <a:p>
            <a:r>
              <a:t> (iii) Risco de perda do vínculo empregatício com o Empregador: caso o Devedor perca o  vínculo empregatício com o Empregador, não haverá remuneração e f olha de pagamento para  realização dos descontos para pagamento dos Direitos Creditórios. Neste caso, não obstante  a possibilidade do Agente de Retenção/Cobrança realizar a cobrança ativa dos Direitos  Creditórios diretamente do Devedor, a ausência de remuneração poderá deixar o Devedor  inadimplente perante a Classe até que o seu vínculo empregatício seja retomado e seja  ef etuado o procedimento operacional para que a CCB seja aditada e/ou seja realizado o  Processo de Reinicialização. Tais situações poderão resultar em prejuízos à Classe e aos  Cotistas.</a:t>
            </a:r>
          </a:p>
          <a:p>
            <a:r>
              <a:t>CNPJ 60010416000112 · Devedor e consignação · Regulamento · ID 1051393 · 2025-10-09 · versão 1 · p. 36 · https://fnet.bmfbovespa.com.br/fnet/publico/visualizarDocumento?id=1051393</a:t>
            </a:r>
          </a:p>
          <a:p>
            <a:r>
              <a:t>CNPJ 60010416000112 · Devedor e consignação · Excerto da fonte:</a:t>
            </a:r>
          </a:p>
          <a:p>
            <a:r>
              <a:t>Anexo I ao Regulamento CLASSE ÚNICA DO MT I CONSIGNADO PRIVADO I FUNDO DE INVESTIMENTO EM DIREITOS CREDITÓRIOS RESPONSABILIDADE LIMITADA  a qualquer momento, os recursos decorrentes dos Direitos Creditórios.</a:t>
            </a:r>
          </a:p>
          <a:p>
            <a:r>
              <a:t> (iii) Risco de validação das informações para conciliação e reconciliação dos Direitos  Creditórios adquiridos pela Classe: as inf ormações para conciliação dos pagamentos,  sendo considerado como tal, também, o Arquivo Dataprev, listando todos os empregados  cujas f olhas de pagamento serão sujeitas a desconto no mês relevante, nos valores acordados  ao ef etuar a Consignação, e qualquer glosa será enviada pela CEF ao Endossante, que  ef etuará a conciliação e, posteriormente, enviará as inf ormações ao Custodiante. Caso o  Endossante não f orneça essas inf ormações em tempo hábil ou f or verif icada qualquer  inconsistência nas informações recebidas pelo Custodiante, poderá isso impedir ou dar origem  a f alhas no processo de reconciliação dos valores depositados na Conta de Cobrança da  Classe e causando perdas à Classe e ao Cotista.</a:t>
            </a:r>
          </a:p>
          <a:p>
            <a:r>
              <a:t> (iv) Risco operacional dos sistemas: o desconto na f olha de pagamento do Devedor das  parcelas da CCB e a transf erência para o Endossante dos Direitos Creditórios serão  processados por um sistema controlado pela Dataprev, e o Endossante, o Administrador ou o  Gestor não têm controle sobre esse processo. Assim, qualquer f alha ou mudança nesse  sistema poderá atrasar ou reduzir o desconto dos rendimentos dos Devedores ou sua  transf erência para a Classe. Nesse caso, a rentabilidade e a propriedade da Classe poderão  ser adversamente af etadas enquanto o problema do sistema persistir, ou até que todos os  valores sejam devidamente transf eridos.</a:t>
            </a:r>
          </a:p>
          <a:p>
            <a:r>
              <a:t> (v) Risco operacional do Contrato: o desconto na f olha de pagamento das parcelas dos  empréstimos concedidos aos Devedores é permitido pelo Convênio Consignado Privado. As  partes do Convênio Consignado Privado devem seguir certas regras para manter o Convênio  Consignado Privado, e a violação delas poderá levar à sua rescisão. Além disso, mudanças  legais podem af etar e/ou tornar inviável a manutenção do Convênio Consignado Privado.</a:t>
            </a:r>
          </a:p>
          <a:p>
            <a:r>
              <a:t> No caso de rescisão do Convênio Consignado Privado, a estrutura de cobrança dos Direitos  Creditórios (desconto na f olha de pagamento) poderá ser comprometida, dando origem à  necessidade de adoção de uma nova estrutura, que poderá não ser tão eficaz quanto ela ou  mesmo revelar, na prática, ser inadequada ou ter altos custos operacionais. Esses eventos  podem levar a perdas patrimoniais para a Classe, na medida em que este deixará de receber,  def initiva ou temporariamente, recursos oriundos dos Direitos Creditórios, no todo ou em parte.</a:t>
            </a:r>
          </a:p>
          <a:p>
            <a:r>
              <a:t> Adicionalmente, de acordo com o Contrato de Endosso, a manutenção do Convênio  Consignado Privado é uma condição para a aquisição de novos Direitos Creditórios pela  Classe e, portanto, no caso de rescisão do Convênio Consignado Privado, a Classe poderá  ser impedido de adquirir novos Direitos Creditórios.</a:t>
            </a:r>
          </a:p>
          <a:p>
            <a:r>
              <a:t>CNPJ 60010416000112 · Devedor e consignação · Regulamento · ID 1051393 · 2025-10-09 · versão 1 · p. 31 · 13.2 · https://fnet.bmfbovespa.com.br/fnet/publico/visualizarDocumento?id=1051393</a:t>
            </a:r>
          </a:p>
          <a:p>
            <a:r>
              <a:t>CNPJ 60010416000112 · Devedor e consignação · Excerto da fonte:</a:t>
            </a:r>
          </a:p>
          <a:p>
            <a:r>
              <a:t>13.2 Todos os custos e despesas ref eridos neste Capítulo, inclusive para salvaguarda de direitos e  prerrogativas da Classe e/ou com a cobrança judicial e/ou extrajudicial de Direitos Creditórios Inadimplidos  ou Direitos Creditórios a Perf ormar, serão de inteira responsabilidade da Classe, não estando o  Administrador, o Gestor, o Endossante, os Devedores, o Custodiante e quaisquer de suas respectivas  pessoas controladoras, sociedades por estes direta ou indiretamente controladas, a estes coligadas ou  outras sociedades sob controle comum, em conjunto ou isoladamente, obrigados pelo adiantamento ou  pagamento de valores relacionados aos procedimentos ref eridos neste Capítulo.</a:t>
            </a:r>
          </a:p>
          <a:p>
            <a:r>
              <a:t>CNPJ 60010416000112 · Devedor e consignação · Condição: Documentos atuais selecionados no inventário por categoria/escopo; a data documental isolada não comprova vigência jurídica.</a:t>
            </a:r>
          </a:p>
          <a:p>
            <a:r>
              <a:t>CNPJ 60010416000112 · Devedor e consignação · Versão e prevalência: Documentos atuais selecionados no inventário por categoria/escopo; a data documental isolada não comprova vigência jurídica.</a:t>
            </a:r>
          </a:p>
          <a:p>
            <a:r>
              <a:t>CNPJ 60010416000112 · Devedor e consignação · Resumo do histórico: {"count": 2, "dates": ["2025-03-20", "2025-10-09"], "document_count": 2, "sources": [{"document_id": "1051393", "title": "Regulamento", "reference_date": "2025-10-09", "version": "1", "page": "9-10, 42", "url": "https://fnet.bmfbovespa.com.br/fnet/publico/visualizarDocumento?id=1051393", "sha256": "8469d613078ffd5a6c1d217885d8a397a16342c0b937ae4aa24b106505f233ae"}, {"document_id": "993786", "title": "Regulamento", "reference_date": "2025-03-20", "version": "1", "page": 35, "clause": "15.1.4", "url": "https://fnet.bmfbovespa.com.br/fnet/publico/visualizarDocumento?id=993786", "sha256": "fd0fdd369a195510d81f81f505195a0b09e5f43522a990afa7d58c4f872921c8"}], "reference": {"path": "history/60010416000112.json", "criterion_id": "debtor", "total_count": 2, "preview_count": 2, "full_text_deferred": true, "sha256": "8e2bd813f4c51cf01f6bfaad164bafe69d2bbb192f753eac92da3a01c2e63046"}}</a:t>
            </a:r>
          </a:p>
          <a:p>
            <a:r>
              <a:t>CNPJ 62696791000193 · Devedor e consignação · Regulamento · ID 1143317 · 2026-03-20 · versão 1 · p. 47 · 10.2 · https://fnet.bmfbovespa.com.br/fnet/publico/visualizarDocumento?id=1143317</a:t>
            </a:r>
          </a:p>
          <a:p>
            <a:r>
              <a:t>CNPJ 62696791000193 · Devedor e consignação · Excerto da fonte:</a:t>
            </a:r>
          </a:p>
          <a:p>
            <a:r>
              <a:t>10.2. As mudanças climáticas podem impactar severamente os ciclos produtivos de commodities  agrícolas, ocasionando, quebras de saf ra, volatilidade de preços, choques de of erta,  deterioração da qualidade dos produtos por elas atingidos, bem como interrupção no  abastecimento destes. Ref eridas mudanças podem af etar adversamente a capacidade  produtiva e de entrega dos produtos agrícolas pelos devedores, cenário este que impactará  negativamente a capacidade de pagamento dos Ativos-Alvo integrantes da carteira da Classe  pelos devedores e, conforme o caso, pelas pessoas devedoras dos bens e direitos onerados  em f avor da Classe.</a:t>
            </a:r>
          </a:p>
          <a:p>
            <a:r>
              <a:t>CNPJ 62696791000193 · Devedor e consignação · Condição: Documentos atuais selecionados no inventário por categoria/escopo; a data documental isolada não comprova vigência jurídica.</a:t>
            </a:r>
          </a:p>
          <a:p>
            <a:r>
              <a:t>CNPJ 62696791000193 · Devedor e consignação · Versão e prevalência: Documentos atuais selecionados no inventário por categoria/escopo; a data documental isolada não comprova vigência jurídica.</a:t>
            </a:r>
          </a:p>
          <a:p>
            <a:r>
              <a:t>CNPJ 55563624000109 · Devedor e consignação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Devedor e consignação · Resumo do histórico: {"count": 1, "dates": ["2026-04-30"], "document_count": 1, "sources": [{"document_id": "1192614", "title": "Regulamento", "reference_date": "2026-04-30", "version": "1", "page": "11-12", "url": "https://fnet.bmfbovespa.com.br/fnet/publico/visualizarDocumento?id=1192614", "sha256": "f56e63ace0acde41d2f47fb48f1ac7f3f7df5e2d32de092d7c5e075a52516632"}], "reference": {"path": "history/55563624000109.json", "criterion_id": "debtor", "total_count": 1, "preview_count": 1, "full_text_deferred": true, "sha256": "7835d573fb58a3c19adf5b8ecc2aee2bdbb9a88f7a0c0209b5f262b64c7522e3"}}</a:t>
            </a:r>
          </a:p>
          <a:p>
            <a:r>
              <a:t>CNPJ 62552447000120 · Devedor e consignação · Regulamento · ID 1200623 · 2026-05-21 · versão 1 · p. 35 · https://fnet.bmfbovespa.com.br/fnet/publico/visualizarDocumento?id=1200623</a:t>
            </a:r>
          </a:p>
          <a:p>
            <a:r>
              <a:t>CNPJ 62552447000120 · Devedor e consignação · Excerto da fonte:</a:t>
            </a:r>
          </a:p>
          <a:p>
            <a:r>
              <a:t>ativos desses emissores, causando perdas à Classe e ao Cotista. Além disso, a f alta de capacidade ou disposição de pagar por qualquer dos emissores dos Ativos Financeiros de Liquidez ou das contrapartes nas transações que compõem a Carteira causará perdas à Classe, e o que também poderá incorrer em custos para f ins de recuperação de seus recebíveis.</a:t>
            </a:r>
          </a:p>
          <a:p>
            <a:r>
              <a:t>(v) Riscos associados aos Devedores: no caso de Devedores no âmbito das operações de consignado privado, a sua capacidade de pagamento poderá ser af etada se, por exemplo, o Devedor tiver o seu contrato de emprego rescindido ou em virtude de decisão judicial, o Devedor for obrigado a pagar alimentos, que têm prioridade sobre o empréstimo para f ins de desconto na f 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 etar a rentabilidade da Classe. Já no caso de Devedores no âmbito das operações de Saque-aniversário, como os Direitos Creditórios a serem endossados à Classe serão descontados pelo FGTS da remuneração do Devedor, na ocorrência de qualquer evento que, nos termos da legislação aplicável, determine o pagamento antecipado do Saque-aniversário ao Devedor, a exemplo do falecimento do Devedor, dentre outros, as parcelas do Saque- aniversário serão pagas antecipadamente e a Classe deverá utilizar tais montantes no pré-pagamento dos Direitos Creditórios. Nesta hipótese, a Classe poderá não encontrar Direitos Creditórios disponíveis para serem adquiridos pela Classe, o que poderá af etar a rentabilidade da Classe.</a:t>
            </a:r>
          </a:p>
          <a:p>
            <a:r>
              <a:t>Risco de liquidez</a:t>
            </a:r>
          </a:p>
          <a:p>
            <a:r>
              <a:t>(i) Risco de liquidez: consiste no risco de redução ou inexistência de demanda pelos ativos que compõem a Classe nos respectivos mercados em que são negociados, devido às condições específicas desses ativos ou aos mercados em que são negociados. Devido a esses riscos, o Gestor poderá encontrar dificuldades em liquidar posições ou negociar esses ativos pelo preço e prazo desejados, de acordo com a estratégia de gestão adotada pela Classe, que permanecerá exposto, durante o período de baixa liquidez, aos riscos associados a esses ativos e posições assumidas em mercados de derivativos, se houver, que poderão até exigir que o Gestor aceite descontos em seus preços para realizar negociações no mercado. Esses f atores poderão prejudicar o pagamento de Amortizações ao Cotista, nos valores e dentro dos termos aqui estabelecidos.</a:t>
            </a:r>
          </a:p>
          <a:p>
            <a:r>
              <a:t>(ii) Riscos do mercado secundário: A Classe é constituída sob a f orma de condomínio fechado, de modo que as Cotas somente serão resgatadas em virtude da liquidação da Classe. Uma vez que o Prazo de Duração da Classe é indeterminado, o Cotista titular das Cotas não terá liquidez em seu investimento na Classe, exceto</a:t>
            </a:r>
          </a:p>
          <a:p>
            <a:r>
              <a:t>(a) por ocasião das Amortizações e dos resgates, nos termos deste Regulamento; (b) por meio da alienação de suas Cotas no mercado secundário; ou (c) na liquidação antecipada do FUNDO ou da Classe.</a:t>
            </a:r>
          </a:p>
          <a:p>
            <a:r>
              <a:t>Além disso, atualmente, o mercado secundário de cotas de fundos de investimento apresenta baixa liquidez, o que pode dificultar a venda das Cotas ou ocasionar a obtenção de um preço de venda que cause perda de patrimônio ao Cotista. Não há qualquer garantia do Administrador, do Gestor, da consultora ou do Custodiante em relação à possibilidade de venda das Cotas no mercado secundário ou ao preço obtido por elas, ou mesmo garantia de saída ao Cotista.</a:t>
            </a:r>
          </a:p>
          <a:p>
            <a:r>
              <a:t>Riscos específicos</a:t>
            </a:r>
          </a:p>
          <a:p>
            <a:r>
              <a:t>(i)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ficar inadimplente e, consequentemente, não haverá repasse à Classe do respectivo Direito Creditório, o que poderá resultar em perdas f inanceiras à Classe e aos Cotistas. Para os f ins deste Regulamento, “Empregador” signif ica a empresa com qual o Devedor mantém vínculo empregatício registrado junto à CTPS.</a:t>
            </a:r>
          </a:p>
          <a:p>
            <a:r>
              <a:t>(ii) Risco do Empregador não efetuar o desconto em folha: o repasse dos recursos oriundos dos Direitos Creditórios à Classe depende da realização, pelo Empregador, da escrituração da Consignação a ser</a:t>
            </a:r>
          </a:p>
          <a:p>
            <a:r>
              <a:t>CNPJ 62552447000120 · Devedor e consignação · Regulamento · ID 1200623 · 2026-05-21 · versão 1 · p. 36 · https://fnet.bmfbovespa.com.br/fnet/publico/visualizarDocumento?id=1200623</a:t>
            </a:r>
          </a:p>
          <a:p>
            <a:r>
              <a:t>CNPJ 62552447000120 · Devedor e consignação · Excerto da fonte:</a:t>
            </a:r>
          </a:p>
          <a:p>
            <a:r>
              <a:t>realizada pelo empregador, junto ao eSocial, após recebimento de notificação comunicando-o da contratação, pelo Devedor, do empréstimo a ser pago por Consignação (“Escrituração”), e do desconto na respectiva folha de pagamento do Devedor. Na hipótese do Empregador deixar de realizar a Escrituração ou os descontos na f olha de pagamento, não haverá repasse de recursos à Classe, podendo causar prejuízos à Classe e aos Cotistas.</a:t>
            </a:r>
          </a:p>
          <a:p>
            <a:r>
              <a:t>(iii) Risco de perda do vínculo empregatício com o Empregador: caso o Devedor perca o vínculo empregatício com o Empregador, não haverá remuneração e f olha de pagamento para realização dos descontos para pagamento dos Direitos Creditórios. Neste caso, não obstante a possibilidade do Agente de Retenção e Cobrança realizar a cobrança ativa dos Direitos Creditórios diretamente do Devedor, a ausência de remuneração poderá deixar o Devedor inadimplente perante a Classe até que o seu vínculo empregatício seja retomado e seja efetuado o procedimento operacional para que a CCB seja aditada e/ou seja realizado o Processo de Reinicialização. Tais situações poderão resultar em prejuízos à Classe e aos Cotistas.</a:t>
            </a:r>
          </a:p>
          <a:p>
            <a:r>
              <a:t>(iv) Risco relativo ao Agente de Retenção e Cobrança: A solvência do Agente de Retenção e Cobrança quanto às suas obrigações financeiras poderá impactar o cumprimento de suas obrigações perante a Classe e, consequentemente, os rendimentos da Classe poderão ser adversamente af etados.</a:t>
            </a:r>
          </a:p>
          <a:p>
            <a:r>
              <a:t>Riscos operacionais</a:t>
            </a:r>
          </a:p>
          <a:p>
            <a:r>
              <a:t>(i) Risco de irregularidade dos Documentos Comprobatórios e/ou Documentos Suporte: o terceiro contratado pelo Gestor, que atuará sob responsabilidade do Gestor, deverá realizar a verif icação da regularidade dos Documentos Comprobatórios. A Carteira poderá conter Direitos Creditórios com documentação irregular, o que poderá impedir que a Classe exerça plenamente as prerrogativas derivadas da titularidade dos Direitos Creditórios.</a:t>
            </a:r>
          </a:p>
          <a:p>
            <a:r>
              <a:t>(ii) Risco operacional da Dataprev e da CEF: o empréstimo contraído pelos Devedores é pago por meio de desconto na f olha de pagamento f eito pela Dataprev e pela CEF, conf orme aplicável. É possível que os rendimentos dos Devedores sejam atrasados ou não pagos devido a questões operacionais envolvendo a Dataprev e/ou a CEF. Nesse caso, a Carteira poderá sofrer, já que não receberá automaticamente, e também poderá ter dificuldades para receber, a qualquer momento, os recursos decorrentes dos Direitos Creditórios.</a:t>
            </a:r>
          </a:p>
          <a:p>
            <a:r>
              <a:t>(iii) Risco operacional do FGTS: o empréstimo contraído pelos Devedores é pago por meio de desconto dos Saques-aniversário feitos pelo FGTS. É possível que os rendimentos dos Devedores sejam atrasados ou não pagos devido a questões operacionais envolvendo a CEF, incluindo, sem se limitar, a erros e atrasos operacionais envolvendo a CEF. Nesse caso, a Carteira poderá sofrer, já que não receberá automaticamente, e também poderá ter dif iculdades para receber, a qualquer momento, os recursos decorrentes dos Direitos Creditórios.</a:t>
            </a:r>
          </a:p>
          <a:p>
            <a:r>
              <a:t>(iv) Risco de validação das informações para conciliação e reconciliação dos Direitos Creditórios adquiridos pela Classe: as inf ormações para conciliação dos pagamentos, sendo considerado como tal, também, o Arquivo Dataprev e o Arquivo de Liquidação Saque-aniversário, listando todos os empregados cujas f olhas de pagamento ou Saques Aniversário serão sujeitos a desconto no mês, nos valores acordados ao ef etuar a Consignação, e qualquer glosa será enviada pela CEF ao Endossante, que efetuará a conciliação e, posteriormente, enviará as informações ao Custodiante. Caso o Endossante não forneça essas informações em tempo hábil ou for verificada qualquer inconsistência nas informações recebidas pelo Custodiante, poderá isso impedir ou dar origem a falhas no processo de reconciliação dos valores depositados na Conta da Classe e causando perdas à Classe e ao Cotista.</a:t>
            </a:r>
          </a:p>
          <a:p>
            <a:r>
              <a:t>(v) Risco operacional dos sistemas: o desconto na f olha de pagamento e/ou nos Saques Aniversário das parcelas da CCB e a transf erência para o Endossante dos Direitos Creditórios serão processados por meio da Plataforma Dataprev, e o Endossante, o Administrador ou o Gestor não têm controle sobre esse processo.</a:t>
            </a:r>
          </a:p>
          <a:p>
            <a:r>
              <a:t>Assim, qualquer falha ou mudança nesse sistema poderá atrasar ou reduzir o desconto dos rendimentos dos Devedores ou sua transferência para a Classe. Nesse caso, a rentabilidade e a propriedade da Classe poderão ser adversamente af etadas enquanto o problema do sistema persistir, ou até que todos os valores sejam devidamente transf eridos.</a:t>
            </a:r>
          </a:p>
          <a:p>
            <a:r>
              <a:t>(vi) Risco operacional: em linha com as Cláusulas 4.3.1 e 4.3.2 do Anexo I deste Regulamento, o</a:t>
            </a:r>
          </a:p>
          <a:p>
            <a:r>
              <a:t>CNPJ 62552447000120 · Devedor e consignação · Regulamento · ID 1200623 · 2026-05-21 · versão 1 · p. 5 · https://fnet.bmfbovespa.com.br/fnet/publico/visualizarDocumento?id=1200623</a:t>
            </a:r>
          </a:p>
          <a:p>
            <a:r>
              <a:t>CNPJ 62552447000120 · Devedor e consignação · Excerto da fonte:</a:t>
            </a:r>
          </a:p>
          <a:p>
            <a:r>
              <a:t>O objetivo da Classe é proporcionar aos seus Cotistas a valorização de  suas Cotas por meio da aplicação de seu Patrimônio Líquido na aquisição  de:</a:t>
            </a:r>
          </a:p>
          <a:p>
            <a:r>
              <a:t> (i) “Direitos Creditórios”, assim entendidos como, em conjunto:</a:t>
            </a:r>
          </a:p>
          <a:p>
            <a:r>
              <a:t> (a) “Direitos Creditórios Consignado Privado”, na forma de  cédulas de crédito bancário, regidas pela Lei n.º 10.931,  de 2 de agosto de 2004, conforme alterada (“CCBs”),  emitidas eletronicamente por Devedores, em f avor do  Endossante, representando um empréstimo pessoal  consignado, de forma que o pagamento ocorra mediante  desconto de cada prestação vincenda da CCB na f olha  de pagamentos do Devedor (“Consignação”);</a:t>
            </a:r>
          </a:p>
          <a:p>
            <a:r>
              <a:t> (b) “Direitos Creditórios FGTS”, na f orma de CCBs  emitidas eletronicamente por Devedores, em f avor do  Objetivo Endossante, representando um empréstimo pessoal com  garantia de cessão f iduciária dos valores a que f azem jus  os Devedores ref erentes ao saque anual permitido aos  benef iciários do Fundo de Garantia do Tempo de Serviço  (“FGTS”) em seu mês de aniversário (“Saque-  aniversário”), regulado pela Lei n.º 8.036, de 11 de maio  de 1990, conforme alterada (“Lei 8.036”), nos termos dos  arts. 20, inciso XX, 20-A, inciso II, e 20-D, § 3º, da Lei</a:t>
            </a:r>
          </a:p>
          <a:p>
            <a:r>
              <a:t> 8.036, do art. 66-B da Lei n.º 4.728, de 14 de julho de  1965, e da Resolução CC/FGTS n.º 958, de 24 de abril  de 2020, conforme alterada (“Resolução FGTS 958”), de  f orma que parte do Saque-aniversário é utilizada para  liquidar as parcelas devidas da CCB;</a:t>
            </a:r>
          </a:p>
          <a:p>
            <a:r>
              <a:t> (c) “Direitos Creditórios TVM”, na f orma de direitos, títulos  e/ou valores mobiliários representativos de créditos  originados no âmbito de operações de sociedades</a:t>
            </a:r>
          </a:p>
          <a:p>
            <a:r>
              <a:t>CNPJ 62552447000120 · Devedor e consignação · Condição: Documentos atuais selecionados no inventário por categoria/escopo; a data documental isolada não comprova vigência jurídica.</a:t>
            </a:r>
          </a:p>
          <a:p>
            <a:r>
              <a:t>CNPJ 62552447000120 · Devedor e consignação · Versão e prevalência: Documentos atuais selecionados no inventário por categoria/escopo; a data documental isolada não comprova vigência jurídica.</a:t>
            </a:r>
          </a:p>
          <a:p>
            <a:r>
              <a:t>CNPJ 63953620000165 · Devedor e consignação · Anexo ao Regulamento · ID 1222863 · 2026-06-02 · versão 1 · p. 1 · 1.1 · https://fnet.bmfbovespa.com.br/fnet/publico/visualizarDocumento?id=1222863</a:t>
            </a:r>
          </a:p>
          <a:p>
            <a:r>
              <a:t>CNPJ 63953620000165 · Devedor e consignação · Excerto da fonte:</a:t>
            </a:r>
          </a:p>
          <a:p>
            <a:r>
              <a:t>1.1 As principais características da Classe Consignado Privado (para fins deste Anexo, “Classe”) estão descritas  abaixo:</a:t>
            </a:r>
          </a:p>
          <a:p>
            <a:r>
              <a:t> Tipo de Condomínio Fechado.</a:t>
            </a:r>
          </a:p>
          <a:p>
            <a:r>
              <a:t> Indeterminado, exceto se de outra forma vier a ser deliberado pelos Cotistas  Prazo de Duração  reunidos em Assembleia Especial de Cotistas. (“Prazo de Duração”)  Tipo “Financeiro”.</a:t>
            </a:r>
          </a:p>
          <a:p>
            <a:r>
              <a:t> Classificação ANBIMA  Foco de atuação “Créditos Consignados”.</a:t>
            </a:r>
          </a:p>
          <a:p>
            <a:r>
              <a:t> O objetivo da classe é proporcionar aos seus Cotistas a valorização de suas Cotas  por meio da aplicação de seu Patrimônio Líquido (conforme definido abaixo) na  aquisição de: (i) “Direitos Creditórios Crédito Consignado”, representados por  cédula de crédito bancário regida pela Lei nº 10.931, emitida eletronicamente por  um devedor em favor do endossante (“CCB”) e, consequentemente, os recebíveis  decorrente de cada uma das parcelas vincendas, representando um empréstimo  consignado concedido pelo endossante ao devedor, e cujo pagamento ordinário  é feito por desconto de cada prestação vincenda de uma CCB na folha de  pagamentos do devedor (“Consignação”), efetuada pela Caixa Econômica  Federal, de acordo com a legislação aplicável e em conformidade com os  procedimentos estabelecidos no convênio celebrado entre o Endossante e a  Empresa de Tecnologia e Informações da Previdência – DATAPREV e paga na  Conta Vinculada do Endossante (“Convênio Consignado Privado”); e/ou (ii)  “Direitos Creditórios TVM”, representados por direitos, títulos e/ou valores  mobiliários representativos de créditos originados no âmbito de operações de  sociedades integrantes do conglomerado econômico de instituições financeiras  classificadas como S1 pelo BACEN, desde que não representem títulos de  emissão ou coobrigação de instituições financeiras, bem como cotas de fundos  de investimento que invistam preponderantemente nestes direitos, títulos e/ou  Objetivo  valores mobiliários (Direitos Creditórios TVM quando referidos em conjunto  com os Direitos Creditórios Consignado Privado, “Direitos Creditórios”)  observados todos os limites de composição e diversificação da carteira da Classe  (“Carteira”), estabelecidos neste Regulamento e na regulamentação aplicável.</a:t>
            </a:r>
          </a:p>
          <a:p>
            <a:r>
              <a:t> Subsidiariamente, a parcela do Patrimônio Líquido que não esteja alocada em  Direitos Creditórios poderá estar alocado em: (1) certificados de depósito  bancário (CDB) ou recibos de depósito bancário (RDB) com prazo máximo de  vencimento equivalente ao prazo remanescente do Período de Investimento, com  liquidez diária, emitidos por Parati Crédito, Financiamento e Investimento S.A.</a:t>
            </a:r>
          </a:p>
          <a:p>
            <a:r>
              <a:t> e/ou pelo Endossante (“Ativos de Liquidez MT”); e/ou (2) (i) moeda corrente  nacional; (ii) títulos do Tesouro SELIC, anteriormente denominado letra financeira  do Tesouro Nacional (LFT); (iii) certificados de depósito bancário (CDB) ou recibos  de depósito bancário (RDB) com prazo máximo de vencimento equivalente ao  prazo remanescente do Período de Investimento, com liquidez diária, emitidos  por (a) Itaú Unibanco S.A.; (b) Banco Bradesco S.A.; (c) Caixa Econômica Federal;</a:t>
            </a:r>
          </a:p>
          <a:p>
            <a:r>
              <a:t> (d) Banco do Brasil S.A.; (e) Banco Santander (Brasil) S.A.; (f) Banco BTG Pactual  S.A.; (g) Banco Sistema S.A. (“Instituições Autorizadas”); (iv) operações  compromissadas, desde que lastreadas nos títulos mencionados nas alíneas (i) a</a:t>
            </a:r>
          </a:p>
          <a:p>
            <a:r>
              <a:t> (iii) acima, emitidas por Instituições Autorizadas, com liquidez diária e vencimento</a:t>
            </a:r>
          </a:p>
          <a:p>
            <a:r>
              <a:t>CNPJ 63953620000165 · Devedor e consignação · Anexo ao Regulamento · ID 1222863 · 2026-06-02 · versão 1 · p. 19 · 12.6 · https://fnet.bmfbovespa.com.br/fnet/publico/visualizarDocumento?id=1222863</a:t>
            </a:r>
          </a:p>
          <a:p>
            <a:r>
              <a:t>CNPJ 63953620000165 · Devedor e consignação · Excerto da fonte:</a:t>
            </a:r>
          </a:p>
          <a:p>
            <a:r>
              <a:t>12.6 A Classe contratou a Tudo Serviços S.A., sociedade anônima, com sede no município de Fortaleza, Estado do Ceará,  na Avenida Senador Virgulo Távora, nº 303, Lojas 02, 03, 04, 05, 06 e 19, Meireles, CEP 60.170-265, inscrita no CNPJ  sob o nº 27.852.506/0001-85, cujos deveres, sem prejuízo daqueles estabelecidos neste Regulamento, no  “Contrato de Serviços de Retenção e Cobrança e Outras Avenças”, celebrado entre o Agente de  Retenção/Cobrança e a Classe (“Contrato de Serviços MT”) e no Contrato de Endosso, consistirão no  monitoramento e cobrança dos Direitos Creditórios Inadimplidos, observado o disposto neste Anexo I e na  regulamentação aplicável (“Agente de Retenção/Cobrança”):</a:t>
            </a:r>
          </a:p>
          <a:p>
            <a:r>
              <a:t> (i) caso aplicável, atuar na retenção (defesa) de operações de empréstimo consignado cujos Direitos  Creditórios sejam de titularidade da Classe, em caso de tentativa de transferência de tais operações de  empréstimo consignado por instituições proponentes, nos termos da Resolução CMN nº 5.057, em razão de  ofertas de portabilidade feitas por tais instituições proponentes, conforme informado pelo Endossante ou pelo  Custodiante ao Agente de Retenção/Cobrança, diariamente, de acordo com o Contrato de Endosso; sendo  que tal serviço deverá incluir, entre outras atividades auxiliares a ele relacionadas, a avaliação das ofertas de  portabilidade feitas pelas instituições proponentes, buscando, se for o caso, esclarecer as vantagens de não  recorrer à portabilidade, retendo a respectiva operação de empréstimo consignado em seus termos atuais;</a:t>
            </a:r>
          </a:p>
          <a:p>
            <a:r>
              <a:t> (ii) mediante inadimplemento de um Direito Creditório devido à indisponibilidade da margem de crédito do  Devedor, auxiliar o Endossante com o Processo de Reinicialização (conforme detalhado no Contrato de  Endosso) em relação ao respectivo Direito Creditório;</a:t>
            </a:r>
          </a:p>
          <a:p>
            <a:r>
              <a:t> (iii) manter e operar um serviço de atendimento ao consumidor - SAC e uma ouvidoria em conformidade  com os regulamentos aplicáveis, monitorar e resolver reclamações e solicitações de Devedores com  relação às operações de empréstimo consignado que dão origem aos Direitos Creditórios, em  conformidade com o Acordo de Parceria;</a:t>
            </a:r>
          </a:p>
          <a:p>
            <a:r>
              <a:t> (iv) realizar a cobrança dos Direitos Creditórios Inadimplidos;</a:t>
            </a:r>
          </a:p>
          <a:p>
            <a:r>
              <a:t> (v) auxiliar o Endossante na correção de qualquer irregularidade relevante identificada com relação à  originação dos Direitos Creditórios;</a:t>
            </a:r>
          </a:p>
          <a:p>
            <a:r>
              <a:t> (vi) realizar a renegociação junto aos Devedores de Direitos Creditórios Inadimplidos e, caso aplicável, celebrar  aditamento à CCB para refletir os novos termos, decorrentes da renegociação  CAPÍTULO 13 – REMUNERAÇÃO DOS PRESTADORES DE SERVIÇOS  0,05% (cinco centésimos por cento) ao ano, apropriada diariamente na base de 252  (duzentos e cinquenta e dois) Dias Úteis, e paga mensalmente até o 5º (quinto) Dia  Útil do mês subsequente ao mês que se refere, incidente sobre o Patrimônio Líquido  da Classe alocado em Direitos Creditórios Consignado Privado e/ou Ativos de  Liquidez MT, observada remuneração mínima mensal de R$ 2.500,00 (dois mil e  quinhentos reais), a ser corrigida anualmente, em janeiro de cada ano, pela variação  Taxa de Administração  positiva do Índice Geral de Preços – Mercado, divulgado pela Fundação Getúlio  Vargas (“Taxa de Administração” e “IGP-M”, respectivamente).</a:t>
            </a:r>
          </a:p>
          <a:p>
            <a:r>
              <a:t> Na hipótese de extinção do IGP-M, não divulgação ou impossibilidade de sua  utilização, será utilizado o Índice Geral de Preços – Disponibilidade Interna,  divulgado pela Fundação Getúlio Vargas, ou, na falta de ambos, pela variação do IPC  – Índice de Preços ao Consumidor, divulgado pela Fundação Instituto de Pesquisas</a:t>
            </a:r>
          </a:p>
          <a:p>
            <a:r>
              <a:t>CNPJ 63953620000165 · Devedor e consignação · Anexo ao Regulamento · ID 1222863 · 2026-06-02 · versão 1 · p. 2 · https://fnet.bmfbovespa.com.br/fnet/publico/visualizarDocumento?id=1222863</a:t>
            </a:r>
          </a:p>
          <a:p>
            <a:r>
              <a:t>CNPJ 63953620000165 · Devedor e consignação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Devedor e consignação · Condição: Documentos atuais selecionados no inventário por categoria/escopo; a data documental isolada não comprova vigência jurídica.</a:t>
            </a:r>
          </a:p>
          <a:p>
            <a:r>
              <a:t>CNPJ 63953620000165 · Devedor e consignação · Versão e prevalência: Documentos atuais selecionados no inventário por categoria/escopo; a data documental isolada não comprova vigência jurídica.</a:t>
            </a:r>
          </a:p>
          <a:p>
            <a:r>
              <a:t>CNPJ 63953620000165 · Devedor e consignação · Resumo do histórico: {"count": 8, "dates": ["2026-04-28", "2026-05-08", "2026-05-15"], "document_count": 3, "sources": [{"document_id": "1327859", "title": "Demonstrações Financeiras - Fusão, cisão e incorporação", "reference_date": "2026-05-15", "version": "1", "page": 22, "url": "https://fnet.bmfbovespa.com.br/fnet/publico/visualizarDocumento?id=1327859", "sha256": "dca1c68babb97f887528c3e2e47596a9c30f507b067981a35655b2f2da9c8054"}, {"document_id": "1298691", "title": "Demonstrações Financeiras - Fusão, cisão e incorporação", "reference_date": "2026-05-08", "version": "1", "page": 22, "url": "https://fnet.bmfbovespa.com.br/fnet/publico/visualizarDocumento?id=1298691", "sha256": "58c570d9b8d4d265330d3db3ea81c435b8e44a6dab4002aa37790652a1ee9819"}, {"document_id": "1282180", "title": "Demonstrações Financeiras - Fusão, cisão e incorporação", "reference_date": "2026-04-28", "version": "1", "page": 22, "url": "https://fnet.bmfbovespa.com.br/fnet/publico/visualizarDocumento?id=1282180", "sha256": "afaaa0e6809be4385e5bdb6c911aac582032c5bdbac3d7750234bf9eaf00438a"}], "reference": {"path": "history/63953620000165.json", "criterion_id": "debtor", "total_count": 8, "preview_count": 3, "full_text_deferred": true, "sha256": "a7b89077f5e21098c2d601c303faabc3ff6b9729f89d8afecdc60fe1404720c1"}}</a:t>
            </a:r>
          </a:p>
          <a:p>
            <a:r>
              <a:t>CNPJ 54871427000194 · Elegibilidade · Regulamento · ID 670691 · 28/04/2024 · versão Regulamento — referência 28/04/2024 · p. 9 · Anexo I, 4.7(i)–(iv) · https://fnet.bmfbovespa.com.br/fnet/publico/visualizarDocumento?id=670691</a:t>
            </a:r>
          </a:p>
          <a:p>
            <a:r>
              <a:t>CNPJ 54871427000194 · Elegibilidade · Excerto da fonte:</a:t>
            </a:r>
          </a:p>
          <a:p>
            <a:r>
              <a:t>4.7 A Classe somente poderá adquirir os Direitos Creditórios que atendam cumulativamente aos seguintes Critérios de Elegibilidade, a serem verif icados e validados pelo GESTOR, de f orma individualizada e integral, previamente à cessão e na respectiva Data de Aquisição, de modo que apenas são passíveis de aquisição pela Classe os Direitos Creditórios que, na Data de Aquisição: (i) CCBs sem qualquer parcela cedida; (ii) CCBs com diferença menor que 60 (sessenta) dias entre a data provável do endosso e a próxima parcela a vencer; (iii) CCBs cujo valor da prestação seja superior a R$ 30,00 (trinta reais); (iv) Idade do Devedor somada ao prazo remanescente da CCB deve ser igual ou inferior a 80 (oitenta) anos; BTG Pactual SAC: 0800 772 28 27 - Ouvidoria: 0800 722 00 48 - btgpactual.com 3</a:t>
            </a:r>
          </a:p>
          <a:p>
            <a:r>
              <a:t>CNPJ 54871427000194 · Elegibilidade · Regulamento · ID 670691 · 28/04/2024 · versão Regulamento — referência 28/04/2024 · p. 10 · Anexo I, 4.7(v)–(xi) · https://fnet.bmfbovespa.com.br/fnet/publico/visualizarDocumento?id=670691</a:t>
            </a:r>
          </a:p>
          <a:p>
            <a:r>
              <a:t>CNPJ 54871427000194 · Elegibilidade · Excerto da fonte:</a:t>
            </a:r>
          </a:p>
          <a:p>
            <a:r>
              <a:t>(v) CCBs que até a Data do Endosso não estejam pendentes de res olução em relação a uma comprovada reclamação do devedor junto ao Banco Central do Brasil ou ao Procon; (vi) CCBs que não sejam originadas por pessoa física condenada por terem submetido trabalhadores a condições análogas à de escravo – denominada “Lista Suja”; (vii) CCBs sem parcela em atraso; (viii) Aquisição de todas as parcelas vincendas das CCBs, não sendo possível a aquisição de fluxo parcial; (ix) CCBs vinculadas ao órgão convenente, desde que o convênio não se encontre na Data de Aquisição em situação de suspensão; (x) Devedores adimplentes junto ao Endossante com relação aos Direitos Creditórios endossados à Classe; CCB cuja amortização ordinária dos valores devidos, nos últimos 60 (sessenta) dias, tenha ocorrido de f orma integral e ordinária. Na primeira tranche de aquisição de Direitos Creditórios pelo Endossatário tal prazo poderá ser reduzido para 30 (trinta) dias nos casos de amortização extraordinária (via boleto) desde que o valor de aquisição dos ref eridos Direitos Creditórios não ultrapasse R$ 30.000,00 (trinta mil reais), exc</a:t>
            </a:r>
          </a:p>
          <a:p>
            <a:r>
              <a:t>CNPJ 54871427000194 · Elegibilidade · Versão e prevalência: Leitura específica das cláusulas indicadas; condições e conflitos preservados. Seleção documental atual não comprova vigência jurídica por data isolada.</a:t>
            </a:r>
          </a:p>
          <a:p>
            <a:r>
              <a:t>CNPJ 54871427000194 · Elegibilidade · Resumo do histórico: {"count": 2, "dates": ["2024-04-19", "2024-04-28"], "document_count": 2, "sources": [{"document_id": "670691", "title": "Regulamento", "reference_date": "2024-04-28", "version": "1", "page": "9-10", "clause": "4.7", "url": "https://fnet.bmfbovespa.com.br/fnet/publico/visualizarDocumento?id=670691", "sha256": "bf16dd7f1a62d5cdbf2e2d54fef81783783f7310fbc99c3a8f00459bdf9d037b"}, {"document_id": "670689", "title": "Regulamento", "reference_date": "2024-04-19", "version": "1", "page": 10, "clause": "4.7.3", "url": "https://fnet.bmfbovespa.com.br/fnet/publico/visualizarDocumento?id=670689", "sha256": "891bc9bc5d87bbc02ec139077a84d2702eb81ea02035fb71d24f5b8366b94a0b"}], "reference": {"path": "history/54871427000194.json", "criterion_id": "eligibility", "total_count": 2, "preview_count": 2, "full_text_deferred": true, "sha256": "35d7cd99be50c7287c9fb675cf4f2e736002315295a225a9efa79c8d9186d874"}}</a:t>
            </a:r>
          </a:p>
          <a:p>
            <a:r>
              <a:t>CNPJ 60010416000112 · Elegibilidade · Regulamento · ID 1051393 · 2025-10-09 · versão 1 · p. 10 · 4.4.5 · https://fnet.bmfbovespa.com.br/fnet/publico/visualizarDocumento?id=1051393</a:t>
            </a:r>
          </a:p>
          <a:p>
            <a:r>
              <a:t>CNPJ 60010416000112 · Elegibilidade · Excerto da fonte:</a:t>
            </a:r>
          </a:p>
          <a:p>
            <a:r>
              <a:t>4.4.5. Caso um Direito Creditório endossado à Classe deixe de atender quaisquer Critérios de  Elegibilidade, quaisquer condições de endosso e/ou quaisquer declarações e garantias referentes  a esse Direito Creditório, conforme previsto no Contrato de Endosso, após seu endosso à Classe,  não haverá coobrigação nem direito de regresso da Classe contra o Endossante, o Administrador,  o Custodiante, o Gestor e/ou o Agente de Retenção/Cobrança, exceto em caso de má-fé, culpa  ou dolo comprovado, hipótese em que a parte que agiu com má-f é, culpa ou dolo comprovado  poderá ser responsabilizada pelas perdas incorridas pela Classe em relação aos respectivos  Direitos Creditórios. Se, entretanto, for constatado que um Direito Creditório endossado à Classe  não estava em conformidade com os Critérios de Elegibilidade, condições de endosso ou com as  declarações e garantias prestadas pelo Endossante no Contrato de Endosso, na respectiva data  de endosso, então o endosso desse Direito Creditório poderá ser objeto de resolução pela Classe.</a:t>
            </a:r>
          </a:p>
          <a:p>
            <a:r>
              <a:t> Nessa hipótese, a Classe terá o direito de resolver o endosso desse Direito Creditório, devolvendo-  o ao Endossante por valor a ser restituído à Classe. Adicionalmente, se f or constatado que um  Direito Creditório endossado à Classe não estava em conf ormidade com as declarações e  garantias prestadas pelo Agente de Retenção/Cobrança no Contrato de Endosso, na respectiva  data de endosso, então a Classe terá o direito de vender esse Direito Creditório ao Agente de  Retenção/Cobrança (opção de venda). A retrovenda ou a venda, conforme o caso, será realizada  de acordo com os termos, condições, formalidades e preços de recompra compulsória e opção de  venda detalhados no Contrato de Endosso.</a:t>
            </a:r>
          </a:p>
          <a:p>
            <a:r>
              <a:t>CNPJ 60010416000112 · Elegibilidade · Regulamento · ID 1051393 · 2025-10-09 · versão 1 · p. 9 · 4.3 · https://fnet.bmfbovespa.com.br/fnet/publico/visualizarDocumento?id=1051393</a:t>
            </a:r>
          </a:p>
          <a:p>
            <a:r>
              <a:t>CNPJ 60010416000112 · Elegibilidade · Excerto da fonte:</a:t>
            </a:r>
          </a:p>
          <a:p>
            <a:r>
              <a:t>4.3 Os Direitos Creditórios deverão contar com Documentos Comprobatórios que evidenciem sua existência,  validade e exequibilidade perante os respectivos Devedores.</a:t>
            </a:r>
          </a:p>
          <a:p>
            <a:r>
              <a:t> Critérios de Elegibilidade</a:t>
            </a:r>
          </a:p>
          <a:p>
            <a:r>
              <a:t>CNPJ 60010416000112 · Elegibilidade · Regulamento · ID 1051393 · 2025-10-09 · versão 1 · p. 9 · 4.4 · https://fnet.bmfbovespa.com.br/fnet/publico/visualizarDocumento?id=1051393</a:t>
            </a:r>
          </a:p>
          <a:p>
            <a:r>
              <a:t>CNPJ 60010416000112 · Elegibilidade · Excerto da fonte:</a:t>
            </a:r>
          </a:p>
          <a:p>
            <a:r>
              <a:t>4.4 A Classe somente poderá adquirir os Direitos Creditórios que atendam, cumulativamente, aos seguintes  Critérios de Elegibilidade, a serem verificados e validados pelo Gestor, de forma individualizada e integral,  previamente ao endosso do Direito Creditório, na respectiva Data de Aquisição:</a:t>
            </a:r>
          </a:p>
          <a:p>
            <a:r>
              <a:t> (i) os Direitos Creditórios deverão decorrer de empréstimo concedido pelo Endossante a um  Devedor, representado por uma CCB, com taxa de juros prefixada e vencimento final anterior  ao vencimento f inal da Classe;</a:t>
            </a:r>
          </a:p>
          <a:p>
            <a:r>
              <a:t>BTG Pactual SAC: 0800 772 28 27 - Ouvidoria: 0800 722 00 48 - btgpactual.com 9</a:t>
            </a:r>
          </a:p>
          <a:p>
            <a:r>
              <a:t>CNPJ 60010416000112 · Elegibilidade · Condição: Documentos atuais selecionados no inventário por categoria/escopo; a data documental isolada não comprova vigência jurídica.</a:t>
            </a:r>
          </a:p>
          <a:p>
            <a:r>
              <a:t>CNPJ 60010416000112 · Elegibilidade · Versão e prevalência: Documentos atuais selecionados no inventário por categoria/escopo; a data documental isolada não comprova vigência jurídica.</a:t>
            </a:r>
          </a:p>
          <a:p>
            <a:r>
              <a:t>CNPJ 60010416000112 · Elegibilidade · Resumo do histórico: {"count": 2, "dates": ["2025-03-20", "2025-10-09"], "document_count": 2, "sources": [{"document_id": "1051393", "title": "Regulamento", "reference_date": "2025-10-09", "version": "1", "page": "9-10", "clause": "4.4(ii)", "url": "https://fnet.bmfbovespa.com.br/fnet/publico/visualizarDocumento?id=1051393", "sha256": "8469d613078ffd5a6c1d217885d8a397a16342c0b937ae4aa24b106505f233ae"}, {"document_id": "993786", "title": "Regulamento", "reference_date": "2025-03-20", "version": "1", "page": 10, "clause": "4.4.5", "url": "https://fnet.bmfbovespa.com.br/fnet/publico/visualizarDocumento?id=993786", "sha256": "fd0fdd369a195510d81f81f505195a0b09e5f43522a990afa7d58c4f872921c8"}], "reference": {"path": "history/60010416000112.json", "criterion_id": "eligibility", "total_count": 2, "preview_count": 2, "full_text_deferred": true, "sha256": "8e2bd813f4c51cf01f6bfaad164bafe69d2bbb192f753eac92da3a01c2e63046"}}</a:t>
            </a:r>
          </a:p>
          <a:p>
            <a:r>
              <a:t>CNPJ 62696791000193 · Elegibilidade · Regulamento · ID 1143317 · 20/03/2026 · versão Regulamento — referência 20/03/2026 · p. 11 · Anexo I, 4.7–4.7.3 · https://fnet.bmfbovespa.com.br/fnet/publico/visualizarDocumento?id=1143317</a:t>
            </a:r>
          </a:p>
          <a:p>
            <a:r>
              <a:t>CNPJ 62696791000193 · Elegibilidade · Excerto da fonte:</a:t>
            </a:r>
          </a:p>
          <a:p>
            <a:r>
              <a:t>4.7 A Classe somente poderá adquirir os Direitos Creditórios do Agronegócio que atendam cumulativamente aos seguintes critérios de elegibilidade, a serem verificados e validados pelo Gestor, por amostragem, previamente à cessão e na respectiva data de aquisição dos Direitos Creditórios do Agronegócio (“Data de Aquisição”), de modo que apenas são passíveis de aquisição pela Classe os Direitos Creditórios do Agronegócio que, na Data de Aquisição (“Critérios de Elegibilidade”): (i) sejam representados em moeda corrente nacional; (ii) a natureza ou característica essencial dos Direitos Creditórios do Agronegócio deverá permitir o seu registro contábil e a sua custódia pelo Custodiante, de acordo com os procedimentos operacionais e contábeis praticados pelo Custodiante, ou seu registro em entidade registradora; (iii) sejam ativos de origem vinculada às cadeias produtivas do agronegócio ; e (iv) sejam representados por direitos e/ou títulos representativos de crédito, com ou sem garantias reais ou pessoais a eles atreladas, incluindo, sem limitação, duplicatas, debêntures, contratos de locação e contratos mercantis de compra e venda de produtos</a:t>
            </a:r>
          </a:p>
          <a:p>
            <a:r>
              <a:t>CNPJ 62696791000193 · Elegibilidade · Versão e prevalência: Leitura específica das cláusulas indicadas; condições e conflitos preservados. Seleção documental atual não comprova vigência jurídica por data isolada.</a:t>
            </a:r>
          </a:p>
          <a:p>
            <a:r>
              <a:t>CNPJ 55563624000109 · Elegibilidade · Regulamento · ID 1192614 · 30/04/2026 · versão Regulamento30/04/2026 · p. 12 · AnexoI4.6–4.8.2 · https://fnet.bmfbovespa.com.br/fnet/publico/visualizarDocumento?id=1192614</a:t>
            </a:r>
          </a:p>
          <a:p>
            <a:r>
              <a:t>CNPJ 55563624000109 · Elegibilidade · Excerto da fonte:</a:t>
            </a:r>
          </a:p>
          <a:p>
            <a:r>
              <a:t>4.6 As Cotas da Classe Investida deverão contar com Documentos Comprobatórios que evidenciem sua existência, validade e exequibilidade. 4.7 As Cotas da Classe Investida serão adquiridas pela Classe por meio: (i) de contratos de aquisição de Cotas da Classe Investida firmados entre a Classe e os respectivos vendedores das Cotas da Classe Investida; (ii) negociação em mercado organizado; e/ou (iii) da subscrição de Cotas da Classe Investida, colocadas de forma privada ou ofertadas publicamente, independentemente do regime de distribuição, observada a Política</a:t>
            </a:r>
          </a:p>
          <a:p>
            <a:r>
              <a:t>CNPJ 55563624000109 · Elegibilidade · Versão e prevalência: Leitura específica das cláusulas indicadas; condições e conflitos preservados. Seleção documental atual não comprova vigência jurídica por data isolada.</a:t>
            </a:r>
          </a:p>
          <a:p>
            <a:r>
              <a:t>CNPJ 55563624000109 · Elegibilidade · Resumo do histórico: {"count": 3, "dates": ["2025-01-31", "2026-01-31", "2026-04-30"], "document_count": 3, "sources": [{"document_id": "1192614", "title": "Regulamento", "reference_date": "2026-04-30", "version": "1", "page": "12", "url": "https://fnet.bmfbovespa.com.br/fnet/publico/visualizarDocumento?id=1192614", "sha256": "f56e63ace0acde41d2f47fb48f1ac7f3f7df5e2d32de092d7c5e075a52516632"}, {"document_id": "1178840", "title": "Demonstrações Financeiras", "reference_date": "2026-01-31", "version": "1", "page": 16, "url": "https://fnet.bmfbovespa.com.br/fnet/publico/visualizarDocumento?id=1178840", "sha256": "c458e98664c5c907ddb5a05a94b120bed4e05295b2bfc420f5ba69af0a229abe"}, {"document_id": "891861", "title": "Demonstrações Financeiras", "reference_date": "2025-01-31", "version": "1", "page": 16, "url": "https://fnet.bmfbovespa.com.br/fnet/publico/visualizarDocumento?id=891861", "sha256": "e9cb9e6ddbe505fe068cfcac33605165a98313489de0d3ce6d4d238263c3f3e7"}], "reference": {"path": "history/55563624000109.json", "criterion_id": "eligibility", "total_count": 3, "preview_count": 3, "full_text_deferred": true, "sha256": "7835d573fb58a3c19adf5b8ecc2aee2bdbb9a88f7a0c0209b5f262b64c7522e3"}}</a:t>
            </a:r>
          </a:p>
          <a:p>
            <a:r>
              <a:t>CNPJ 62552447000120 · Elegibilidade · Regulamento · ID 1200623 · 21/05/2026 · versão Consolidado21/05/2026 aprovado pelo ato1200625 · p. 6 · AnexoI1.2 Critérios(i)(a)–(b) · https://fnet.bmfbovespa.com.br/fnet/publico/visualizarDocumento?id=1200623</a:t>
            </a:r>
          </a:p>
          <a:p>
            <a:r>
              <a:t>CNPJ 62552447000120 · Elegibilidade · Excerto da fonte:</a:t>
            </a:r>
          </a:p>
          <a:p>
            <a:r>
              <a:t>Critérios de Elegibilidade”): (i) com relação a todos os Direitos Creditórios : (a) sejam representados em moeda corrente nacional; Critérios de Elegibilidade (b) a natureza ou característica essencial dos Direitos Creditórios deverá permitir o seu registro contábil e a sua custódia pelo Custodiante, de acordo com os procedimentos operacionais e contábeis praticados</a:t>
            </a:r>
          </a:p>
          <a:p>
            <a:r>
              <a:t>CNPJ 62552447000120 · Elegibilidade · Regulamento · ID 1200623 · 21/05/2026 · versão Consolidado21/05/2026 aprovado pelo ato1200625 · p. 7 · AnexoI1.2 Critérios(i)(c)–(v) · https://fnet.bmfbovespa.com.br/fnet/publico/visualizarDocumento?id=1200623</a:t>
            </a:r>
          </a:p>
          <a:p>
            <a:r>
              <a:t>CNPJ 62552447000120 · Elegibilidade · Excerto da fonte:</a:t>
            </a:r>
          </a:p>
          <a:p>
            <a:r>
              <a:t>(v) com relação aos Direitos Creditórios TVM: (a) representem, a qualquer momento, no máximo 10% (dez por cento) do Patrimônio Líquido. Sem prejuízo dos Critérios de Elegibilidade, a Classe somente poderá adquirir os Direitos Creditórios Ref inanciamento Livre, os Direitos Creditórios Consignado Privado e os Direitos Creditórios FGTS com relação aos quais tenha se verif icado as seguintes Condições de Endosso, na forma prevista na Cláusula 4.7 (“Co</a:t>
            </a:r>
          </a:p>
          <a:p>
            <a:r>
              <a:t>CNPJ 62552447000120 · Elegibilidade · Regulamento · ID 1200623 · 21/05/2026 · versão Consolidado21/05/2026 aprovado pelo ato1200625 · p. 12 · AnexoI4.6 · https://fnet.bmfbovespa.com.br/fnet/publico/visualizarDocumento?id=1200623</a:t>
            </a:r>
          </a:p>
          <a:p>
            <a:r>
              <a:t>CNPJ 62552447000120 · Elegibilidade · Excerto da fonte:</a:t>
            </a:r>
          </a:p>
          <a:p>
            <a:r>
              <a:t>4.6 A Classe somente poderá adquirir os Direitos Creditórios que, na data da sua aquisição (“Data de Aquisição”), atendam a todos os Critérios de Elegibilidade, a serem verif icados e validados pelo Gestor, de f orma individualizada e integral, e não por amostragem. 4.6.1 Para f ins da verificação dos Critérios de Elegibilidade, será considerado o Patrimônio Líquido e o valor dos Direitos Creditórios integrantes da Carteira no Dia Útil imediatamente anterior à Data de Aquisição. 4.6.2 Todos os Documentos Comprobatórios e, com relação a cada Direito Creditório, conforme apli</a:t>
            </a:r>
          </a:p>
          <a:p>
            <a:r>
              <a:t>CNPJ 62552447000120 · Elegibilidade · Versão e prevalência: Leitura específica das cláusulas indicadas; condições e conflitos preservados. Seleção documental atual não comprova vigência jurídica por data isolada.</a:t>
            </a:r>
          </a:p>
          <a:p>
            <a:r>
              <a:t>CNPJ 63953620000165 · Elegibilidade · Anexo ao Regulamento · ID 1222863 · 02/06/2026 · versão AnexoConsignadoPrivado02/06/2026 · p. 6 · 4.10–4.10.3 · https://fnet.bmfbovespa.com.br/fnet/publico/visualizarDocumento?id=1222863</a:t>
            </a:r>
          </a:p>
          <a:p>
            <a:r>
              <a:t>CNPJ 63953620000165 · Elegibilidade · Excerto da fonte:</a:t>
            </a:r>
          </a:p>
          <a:p>
            <a:r>
              <a:t>4.10 A Classe somente poderá adquirir os Direitos Creditórios que atendam cumulativamente aos Critérios de Elegibilidade, a serem verificados e validados pelo Gestor, de forma individualizada e integral, previamente à cessão e na respectiva data de aquisição dos Direitos Creditórios (“Data de Aquisição”), de modo que apenas são passíveis de aquisição pela Classe os Direitos Creditórios que, na Data de Aquisição, atendam a todos os Critérios de Elegibilidade. 4.10.1 Para fins da verificação dos Critérios de Elegibilidade, será considerado o Patrimônio Líquido e o valor dos Direitos Creditórios integrantes</a:t>
            </a:r>
          </a:p>
          <a:p>
            <a:r>
              <a:t>CNPJ 63953620000165 · Elegibilidade · Versão e prevalência: Leitura específica das cláusulas indicadas; condições e conflitos preservados. Seleção documental atual não comprova vigência jurídica por data isolada.</a:t>
            </a:r>
          </a:p>
          <a:p>
            <a:r>
              <a:t>CNPJ 63953620000165 · Elegibilidade · Resumo do histórico: {"count": 8, "dates": ["2026-04-28", "2026-05-08", "2026-05-15"], "document_count": 3, "sources": [{"document_id": "1327859", "title": "Demonstrações Financeiras - Fusão, cisão e incorporação", "reference_date": "2026-05-15", "version": "1", "page": 24, "url": "https://fnet.bmfbovespa.com.br/fnet/publico/visualizarDocumento?id=1327859", "sha256": "dca1c68babb97f887528c3e2e47596a9c30f507b067981a35655b2f2da9c8054"}, {"document_id": "1298691", "title": "Demonstrações Financeiras - Fusão, cisão e incorporação", "reference_date": "2026-05-08", "version": "1", "page": 24, "url": "https://fnet.bmfbovespa.com.br/fnet/publico/visualizarDocumento?id=1298691", "sha256": "58c570d9b8d4d265330d3db3ea81c435b8e44a6dab4002aa37790652a1ee9819"}, {"document_id": "1282180", "title": "Demonstrações Financeiras - Fusão, cisão e incorporação", "reference_date": "2026-04-28", "version": "1", "page": 25, "url": "https://fnet.bmfbovespa.com.br/fnet/publico/visualizarDocumento?id=1282180", "sha256": "afaaa0e6809be4385e5bdb6c911aac582032c5bdbac3d7750234bf9eaf00438a"}], "reference": {"path": "history/63953620000165.json", "criterion_id": "eligibility", "total_count": 8, "preview_count": 3, "full_text_deferred": true, "sha256": "a7b89077f5e21098c2d601c303faabc3ff6b9729f89d8afecdc60fe1404720c1"}}</a:t>
            </a:r>
          </a:p>
          <a:p>
            <a:r>
              <a:t>CNPJ 54871427000194 · Limites por contrato e devedor · Regulamento · ID 670691 · 28/04/2024 · versão Regulamento — referência 28/04/2024 · p. 10 · Anexo I, 4.7, parágrafo anterior ao inciso (xi) e inciso (xi) · https://fnet.bmfbovespa.com.br/fnet/publico/visualizarDocumento?id=670691</a:t>
            </a:r>
          </a:p>
          <a:p>
            <a:r>
              <a:t>CNPJ 54871427000194 · Limites por contrato e devedor · Excerto da fonte:</a:t>
            </a:r>
          </a:p>
          <a:p>
            <a:r>
              <a:t>CCB cuja amortização ordinária dos valores devidos, nos últimos 60 (sessenta) dias, tenha ocorrido de f orma integral e ordinária. Na primeira tranche de aquisição de Direitos Creditórios pelo Endossatário tal prazo poderá ser reduzido para 30 (trinta) dias nos casos de amortização extraordinária (via boleto) desde que o valor de aquisição dos ref eridos Direitos Creditórios não ultrapasse R$ 30.000,00 (trinta mil reais), exclusivamente via consignação em f olha de pagamento ou de benef ício; e (xi) Endosso de todas as CCBs de um mesmo Devedor que não ultrapasse 20% (vinte por cento) do patrimônio líquido da Classe. 4.7.1 Os Documentos Comprobatórios deverão ser disponibilizados pelo respectivo Endossante (a) no prazo de 10 (dez) dias contados da Data de Aquisição dos 50 (cinquenta) casos que sejam solicitados pelo GESTOR, a seu exclusivo critério, (b) a totalidade dos demais Documentos Comprobatórios em f ormato digital em até 90 (noventa) dias a contar da Data de Aquisição, bem como dos Documentos Comprobatórios em formato físico relativos aos Direitos Creditórios que eventualmente estejam inadimplidos em ref erida da</a:t>
            </a:r>
          </a:p>
          <a:p>
            <a:r>
              <a:t>CNPJ 54871427000194 · Limites por contrato e devedor · Condição: R$ 30 mil é teto da exceção de aquisição da primeira tranche; não é teto geral de cada CCB.</a:t>
            </a:r>
          </a:p>
          <a:p>
            <a:r>
              <a:t>CNPJ 54871427000194 · Limites por contrato e devedor · Motivo: Não localizada uma cláusula material para este critério nos textos identificados e processados. A ausência de resultado não comprova inexistência da regra.</a:t>
            </a:r>
          </a:p>
          <a:p>
            <a:r>
              <a:t>CNPJ 54871427000194 · Limites por contrato e devedor · Versão e prevalência: Leitura específica das cláusulas indicadas; condições e conflitos preservados. Seleção documental atual não comprova vigência jurídica por data isolada.</a:t>
            </a:r>
          </a:p>
          <a:p>
            <a:r>
              <a:t>CNPJ 60010416000112 · Limites por contrato e devedor · Regulamento · ID 1051393 · 09/10/2025 · versão Regulamento09/10/2025 · p. 10 · AnexoI4.4(ii), (iv),4.4.1 · https://fnet.bmfbovespa.com.br/fnet/publico/visualizarDocumento?id=1051393</a:t>
            </a:r>
          </a:p>
          <a:p>
            <a:r>
              <a:t>CNPJ 60010416000112 · Limites por contrato e devedor · Excerto da fonte:</a:t>
            </a:r>
          </a:p>
          <a:p>
            <a:r>
              <a:t>R$ 100.000,00 (cem mil reais), observado o disposto no item 4.4.1 abaixo; (iii) o prazo de vencimento das CCB representativas dos Direitos Creditórios deverá ser, no máximo, equivalente ao prazo máximo permitido pelas leis e regulamentações aplicáveis; e (iv) os Direitos Creditórios não poderão ser devidos por Devedores que tenham acima de 64 (sessenta e quatro) anos 11 (onze) meses e 29 (vinte e nove) dias na data de emissão da respectiva CCB. 4.4.1. O limite máximo de exposição da Classe por Devedor estabeleci</a:t>
            </a:r>
          </a:p>
          <a:p>
            <a:r>
              <a:t>CNPJ 60010416000112 · Limites por contrato e devedor · Condição: Prevalência da cláusula específica 4.4.1; limite privado do Contrato não foi presumido.</a:t>
            </a:r>
          </a:p>
          <a:p>
            <a:r>
              <a:t>CNPJ 60010416000112 · Limites por contrato e devedor · Motivo: Não localizada uma cláusula material para este critério nos textos identificados e processados. A ausência de resultado não comprova inexistência da regra.</a:t>
            </a:r>
          </a:p>
          <a:p>
            <a:r>
              <a:t>CNPJ 60010416000112 · Limites por contrato e devedor · Versão e prevalência: Leitura específica das cláusulas indicadas; condições e conflitos preservados. Seleção documental atual não comprova vigência jurídica por data isolada.</a:t>
            </a:r>
          </a:p>
          <a:p>
            <a:r>
              <a:t>CNPJ 62696791000193 · Limites por contrato e devedor · Motivo: Não localizada uma cláusula material para este critério nos textos identificados e processados. A ausência de resultado não comprova inexistência da regra.</a:t>
            </a:r>
          </a:p>
          <a:p>
            <a:r>
              <a:t>CNPJ 55563624000109 · Limites por contrato e devedor · Motivo: Não localizada uma cláusula material para este critério nos textos identificados e processados. A ausência de resultado não comprova inexistência da regra.</a:t>
            </a:r>
          </a:p>
          <a:p>
            <a:r>
              <a:t>CNPJ 62552447000120 · Limites por contrato e devedor · Motivo: Não localizada uma cláusula material para este critério nos textos identificados e processados. A ausência de resultado não comprova inexistência da regra.</a:t>
            </a:r>
          </a:p>
          <a:p>
            <a:r>
              <a:t>CNPJ 63953620000165 · Limites por contrato e devedor · Motivo: Não localizada uma cláusula material para este critério nos textos identificados e processados. A ausência de resultado não comprova inexistência da regra.</a:t>
            </a:r>
          </a:p>
          <a:p>
            <a:r>
              <a:t>CNPJ 54871427000194 · Prazo dos créditos e carência · Motivo: Não localizada uma cláusula material para este critério nos textos identificados e processados. A ausência de resultado não comprova inexistência da regra.</a:t>
            </a:r>
          </a:p>
          <a:p>
            <a:r>
              <a:t>CNPJ 60010416000112 · Prazo dos créditos e carência · Regulamento · ID 1051393 · 2025-10-09 · versão 1 · p. 11 · 4.5 · https://fnet.bmfbovespa.com.br/fnet/publico/visualizarDocumento?id=1051393</a:t>
            </a:r>
          </a:p>
          <a:p>
            <a:r>
              <a:t>CNPJ 60010416000112 · Prazo dos créditos e carência · Excerto da fonte:</a:t>
            </a:r>
          </a:p>
          <a:p>
            <a:r>
              <a:t>4.5 A parcela do Patrimônio Líquido que não estiver alocada em Direitos Creditórios será necessariamente  alocada no seguintes ativos (“Ativos Financeiros de Liquidez”).</a:t>
            </a:r>
          </a:p>
          <a:p>
            <a:r>
              <a:t> (i) moeda corrente nacional;</a:t>
            </a:r>
          </a:p>
          <a:p>
            <a:r>
              <a:t> (ii) títulos do Tesouro SELIC, anteriormente denominado letra f inanceira do Tesouro Nacional  (LFT);</a:t>
            </a:r>
          </a:p>
          <a:p>
            <a:r>
              <a:t> (iii) certif icados de depósito bancário (CDB) ou recibos de depósito bancário (RDB) com prazo  máximo de vencimento equivalente ao prazo remanescente do Período de Investimento, com  liquidez diária, emitidos por Instituições Autorizadas e/ou pelo Endossante, sendo certo que  os certif icados de depósito bancário (CDB) e recibos de depósito bancário (RDB) emitidos  pelo Endossante e integrantes da carteira da Classe não poderão exceder o valor de R$</a:t>
            </a:r>
          </a:p>
          <a:p>
            <a:r>
              <a:t> 25.000.000,00 (vinte e cinco milhões de reais);</a:t>
            </a:r>
          </a:p>
          <a:p>
            <a:r>
              <a:t> (iv) operações compromissadas, desde que lastreadas nos títulos mencionados nas alíneas (i) a</a:t>
            </a:r>
          </a:p>
          <a:p>
            <a:r>
              <a:t> (iii) acima, emitidas por Instituições Autorizadas, com liquidez diária e vencimento inferior a  365 (trezentos e sessenta e cinco) dias; e</a:t>
            </a:r>
          </a:p>
          <a:p>
            <a:r>
              <a:t> (v) cotas de classes de f undos de investimentos de renda f ixa ou indexados à Taxa DI com  liquidez diária, cujas políticas de investimento admitam a alocação de recursos  exclusivamente nos ativos das alíneas (ii) e (iii) acima, incluindo f undos geridos e/ou  administrados pelo Administrador, pelo Custodiante e/ou pelo Gestor.</a:t>
            </a:r>
          </a:p>
          <a:p>
            <a:r>
              <a:t>Limites de Concentração e Vedações para a Composição da Carteira</a:t>
            </a:r>
          </a:p>
          <a:p>
            <a:r>
              <a:t>CNPJ 60010416000112 · Prazo dos créditos e carência · Regulamento · ID 1051393 · 2025-10-09 · versão 1 · p. 10 · https://fnet.bmfbovespa.com.br/fnet/publico/visualizarDocumento?id=1051393</a:t>
            </a:r>
          </a:p>
          <a:p>
            <a:r>
              <a:t>CNPJ 60010416000112 · Prazo dos créditos e carência · Excerto da fonte:</a:t>
            </a:r>
          </a:p>
          <a:p>
            <a:r>
              <a:t>Anexo I ao Regulamento CLASSE ÚNICA DO MT I CONSIGNADO PRIVADO I FUNDO DE INVESTIMENTO EM DIREITOS CREDITÓRIOS RESPONSABILIDADE LIMITADA</a:t>
            </a:r>
          </a:p>
          <a:p>
            <a:r>
              <a:t> (ii) o saldo dos Direitos Creditórios devidos pelo mesmo Devedor à Classe, considerando, pro  forma, o endosso pretendido, não deverá exceder R$ 100.000,00 (cem mil reais), observado  o disposto no item 4.4.1 abaixo;</a:t>
            </a:r>
          </a:p>
          <a:p>
            <a:r>
              <a:t> (iii) o prazo de vencimento das CCB representativas dos Direitos Creditórios deverá ser, no  máximo, equivalente ao prazo máximo permitido pelas leis e regulamentações aplicáveis; e</a:t>
            </a:r>
          </a:p>
          <a:p>
            <a:r>
              <a:t> (iv) os Direitos Creditórios não poderão ser devidos por Devedores que tenham acima de 64  (sessenta e quatro) anos 11 (onze) meses e 29 (vinte e nove) dias na data de emissão da  respectiva CCB.</a:t>
            </a:r>
          </a:p>
          <a:p>
            <a:r>
              <a:t>CNPJ 60010416000112 · Prazo dos créditos e carência · Condição: Documentos atuais selecionados no inventário por categoria/escopo; a data documental isolada não comprova vigência jurídica.</a:t>
            </a:r>
          </a:p>
          <a:p>
            <a:r>
              <a:t>CNPJ 60010416000112 · Prazo dos créditos e carência · Versão e prevalência: Documentos atuais selecionados no inventário por categoria/escopo; a data documental isolada não comprova vigência jurídica.</a:t>
            </a:r>
          </a:p>
          <a:p>
            <a:r>
              <a:t>CNPJ 60010416000112 · Prazo dos créditos e carência · Resumo do histórico: {"count": 1, "dates": ["2025-03-20"], "document_count": 1, "sources": [{"document_id": "993786", "title": "Regulamento", "reference_date": "2025-03-20", "version": "1", "page": 11, "clause": "4.5", "url": "https://fnet.bmfbovespa.com.br/fnet/publico/visualizarDocumento?id=993786", "sha256": "fd0fdd369a195510d81f81f505195a0b09e5f43522a990afa7d58c4f872921c8"}], "reference": {"path": "history/60010416000112.json", "criterion_id": "term", "total_count": 1, "preview_count": 1, "full_text_deferred": true, "sha256": "8e2bd813f4c51cf01f6bfaad164bafe69d2bbb192f753eac92da3a01c2e63046"}}</a:t>
            </a:r>
          </a:p>
          <a:p>
            <a:r>
              <a:t>CNPJ 62696791000193 · Prazo dos créditos e carência · Motivo: Não localizada uma cláusula material para este critério nos textos identificados e processados. A ausência de resultado não comprova inexistência da regra.</a:t>
            </a:r>
          </a:p>
          <a:p>
            <a:r>
              <a:t>CNPJ 55563624000109 · Prazo dos créditos e carência · Motivo: Não localizada uma cláusula material para este critério nos textos identificados e processados. A ausência de resultado não comprova inexistência da regra.</a:t>
            </a:r>
          </a:p>
          <a:p>
            <a:r>
              <a:t>CNPJ 62552447000120 · Prazo dos créditos e carência · Motivo: Não localizada uma cláusula material para este critério nos textos identificados e processados. A ausência de resultado não comprova inexistência da regra.</a:t>
            </a:r>
          </a:p>
          <a:p>
            <a:r>
              <a:t>CNPJ 63953620000165 · Prazo dos créditos e carência · Anexo ao Regulamento · ID 1222863 · 2026-06-02 · versão 1 · p. 2 · https://fnet.bmfbovespa.com.br/fnet/publico/visualizarDocumento?id=1222863</a:t>
            </a:r>
          </a:p>
          <a:p>
            <a:r>
              <a:t>CNPJ 63953620000165 · Prazo dos créditos e carência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Prazo dos créditos e carência · Condição: Documentos atuais selecionados no inventário por categoria/escopo; a data documental isolada não comprova vigência jurídica.</a:t>
            </a:r>
          </a:p>
          <a:p>
            <a:r>
              <a:t>CNPJ 63953620000165 · Prazo dos créditos e carência · Versão e prevalência: Documentos atuais selecionados no inventário por categoria/escopo; a data documental isolada não comprova vigência jurídica.</a:t>
            </a:r>
          </a:p>
          <a:p>
            <a:r>
              <a:t>CNPJ 63953620000165 · Prazo dos créditos e carência · Resumo do histórico: {"count": 8, "dates": ["2026-04-28", "2026-05-08", "2026-05-15"], "document_count": 3, "sources": [{"document_id": "1327859", "title": "Demonstrações Financeiras - Fusão, cisão e incorporação", "reference_date": "2026-05-15", "version": "1", "page": 16, "url": "https://fnet.bmfbovespa.com.br/fnet/publico/visualizarDocumento?id=1327859", "sha256": "dca1c68babb97f887528c3e2e47596a9c30f507b067981a35655b2f2da9c8054"}, {"document_id": "1298691", "title": "Demonstrações Financeiras - Fusão, cisão e incorporação", "reference_date": "2026-05-08", "version": "1", "page": 16, "url": "https://fnet.bmfbovespa.com.br/fnet/publico/visualizarDocumento?id=1298691", "sha256": "58c570d9b8d4d265330d3db3ea81c435b8e44a6dab4002aa37790652a1ee9819"}, {"document_id": "1282180", "title": "Demonstrações Financeiras - Fusão, cisão e incorporação", "reference_date": "2026-04-28", "version": "1", "page": 16, "url": "https://fnet.bmfbovespa.com.br/fnet/publico/visualizarDocumento?id=1282180", "sha256": "afaaa0e6809be4385e5bdb6c911aac582032c5bdbac3d7750234bf9eaf00438a"}], "reference": {"path": "history/63953620000165.json", "criterion_id": "term", "total_count": 8, "preview_count": 3, "full_text_deferred": true, "sha256": "a7b89077f5e21098c2d601c303faabc3ff6b9729f89d8afecdc60fe1404720c1"}}</a:t>
            </a:r>
          </a:p>
          <a:p>
            <a:r>
              <a:t>CNPJ 54871427000194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null, "comparison_required": true, "context_formula": "", "context_value": null, "context_unit": ""}</a:t>
            </a:r>
          </a:p>
          <a:p>
            <a:r>
              <a:t>CNPJ 54871427000194 · Concentração por devedor, cedente e grupo · Regulamento · ID 670691 · 28/04/2024 · versão Regulamento — referência 28/04/2024 · p. 11 · Anexo I, 4.10 e 4.11.2–4.11.4 · https://fnet.bmfbovespa.com.br/fnet/publico/visualizarDocumento?id=670691</a:t>
            </a:r>
          </a:p>
          <a:p>
            <a:r>
              <a:t>CNPJ 54871427000194 · Concentração por devedor, cedente e grupo · Excerto da fonte:</a:t>
            </a:r>
          </a:p>
          <a:p>
            <a:r>
              <a:t>4.10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4.11 A Classe poderá, direta ou indiretamente e, nos termos da legislação aplicável: (i) adquirir Direitos Creditórios que sejam cedidos e/ou originados pelo ADMINISTRADOR e/ou pelo GESTOR, ou partes a eles relacionadas, tal como definidas pelas regras contábeis que tratam desse assunto; e (ii) ceder Direitos Creditórios a qualquer das pessoas, fundos de investimento ou entidades referidas no item (i) acima, desde que (i) o ADMINISTRADOR, GESTOR, a entidade registradora e o CUSTODIANTE de Direitos Creditórios não sejam partes relacionadas entre si; e (ii) a entidade registradora e o</a:t>
            </a:r>
          </a:p>
          <a:p>
            <a:r>
              <a:t>CNPJ 54871427000194 · Concentração por devedor, cedente e grupo · Regulamento · ID 670691 · 28/04/2024 · versão Regulamento — referência 28/04/2024 · p. 10 · Anexo I, 4.7(xi) · https://fnet.bmfbovespa.com.br/fnet/publico/visualizarDocumento?id=670691</a:t>
            </a:r>
          </a:p>
          <a:p>
            <a:r>
              <a:t>CNPJ 54871427000194 · Concentração por devedor, cedente e grupo · Excerto da fonte:</a:t>
            </a:r>
          </a:p>
          <a:p>
            <a:r>
              <a:t>(xi) Endosso de todas as CCBs de um mesmo Devedor que não ultrapasse 20% (vinte por cento) do patrimônio líquido da Classe. 4.7.1 Os Documentos Comprobatórios deverão ser disponibilizados pelo respectivo Endossante (a) no prazo de 10 (dez) dias contados da Data de Aquisição dos 50 (cinquenta) casos que sejam solicitados pelo GESTOR, a seu exclusivo critério, (b) a totalidade dos demais Documentos Comprobatórios em f ormato digital em até 90 (noventa) dias a contar da Data de Aquisição, bem como dos Documentos Comprobatórios em formato físico relativos aos Direitos Creditórios que eventualmente estejam inadimplidos em ref erida data, e (c) a totalidade dos demais Documentos Comprobatórios em f ormato f ísico em até 180 (cento e oitenta) dias a contar da Data de Aquisição, sujeito à resolução do respectivo endosso, de acordo com os termos do Contrato de Endosso. 4.7.2 Caso um Direito Creditório cedido à Classe deixe de atender quaisquer Critérios de Elegibilidade e/ou quaisquer declarações e garantias ref erentes a esse Direito Creditório, conf orme previsto no respectivo Contrato de Endosso, após seu endosso à</a:t>
            </a:r>
          </a:p>
          <a:p>
            <a:r>
              <a:t>CNPJ 54871427000194 · Concentração por devedor, cedente e grupo · Condição: Na aquisição, o critério específico de 20% restringe o permissivo geral de 100%. Uma concentração observada no IME exige base e devedor identificados.</a:t>
            </a:r>
          </a:p>
          <a:p>
            <a:r>
              <a:t>CNPJ 54871427000194 · Concentração por devedor, cedente e grupo · Versão e prevalência: Leitura específica das cláusulas indicadas; condições e conflitos preservados. Seleção documental atual não comprova vigência jurídica por data isolada.</a:t>
            </a:r>
          </a:p>
          <a:p>
            <a:r>
              <a:t>CNPJ 54871427000194 · Concentração por devedor, cedente e grupo · Resumo do histórico: {"count": 2, "dates": ["2024-04-19", "2024-04-28"], "document_count": 2, "sources": [{"document_id": "670691", "title": "Regulamento", "reference_date": "2024-04-28", "version": "1", "page": "10-11", "url": "https://fnet.bmfbovespa.com.br/fnet/publico/visualizarDocumento?id=670691", "sha256": "bf16dd7f1a62d5cdbf2e2d54fef81783783f7310fbc99c3a8f00459bdf9d037b"}, {"document_id": "670689", "title": "Regulamento", "reference_date": "2024-04-19", "version": "1", "page": 11, "clause": "4.10", "url": "https://fnet.bmfbovespa.com.br/fnet/publico/visualizarDocumento?id=670689", "sha256": "891bc9bc5d87bbc02ec139077a84d2702eb81ea02035fb71d24f5b8366b94a0b"}], "reference": {"path": "history/54871427000194.json", "criterion_id": "concentration", "total_count": 2, "preview_count": 2, "full_text_deferred": true, "sha256": "35d7cd99be50c7287c9fb675cf4f2e736002315295a225a9efa79c8d9186d874"}}</a:t>
            </a:r>
          </a:p>
          <a:p>
            <a:r>
              <a:t>CNPJ 60010416000112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null, "comparison_required": true, "context_formula": "", "context_value": null, "context_unit": ""}</a:t>
            </a:r>
          </a:p>
          <a:p>
            <a:r>
              <a:t>CNPJ 60010416000112 · Concentração por devedor, cedente e grupo · Regulamento · ID 1051393 · 09/10/2025 · versão Regulamento09/10/2025 · p. 11 · AnexoI4.4.9(iv),4.5(iii) · https://fnet.bmfbovespa.com.br/fnet/publico/visualizarDocumento?id=1051393</a:t>
            </a:r>
          </a:p>
          <a:p>
            <a:r>
              <a:t>CNPJ 60010416000112 · Concentração por devedor, cedente e grupo · Excerto da fonte:</a:t>
            </a:r>
          </a:p>
          <a:p>
            <a:r>
              <a:t>3,00% (três por cento) do Patrimônio Líquido da Classe. Ativos Financeiros de Liquidez 4.5 A parcela do Patrimônio Líquido que não estiver alocada em Direitos Creditórios será necessariamente alocada no seguintes ativos (“Ativos Financeiros de Liquidez”). (i) moeda corrente nacional; (ii) títulos do Tesouro SELIC, anteriormente denominado letra f inanceira do Tesouro Nacional (LFT); (iii) certif icados de depósito bancário (CDB) ou recibos de depósito bancário (RDB) com prazo máximo de vencimento equivalente ao prazo remanescente</a:t>
            </a:r>
          </a:p>
          <a:p>
            <a:r>
              <a:t>CNPJ 60010416000112 · Concentração por devedor, cedente e grupo · Regulamento · ID 1051393 · 09/10/2025 · versão Regulamento09/10/2025 · p. 12 · AnexoI4.7–4.8 · https://fnet.bmfbovespa.com.br/fnet/publico/visualizarDocumento?id=1051393</a:t>
            </a:r>
          </a:p>
          <a:p>
            <a:r>
              <a:t>CNPJ 60010416000112 · Concentração por devedor, cedente e grupo · Excerto da fonte:</a:t>
            </a:r>
          </a:p>
          <a:p>
            <a:r>
              <a:t>4.7 A Classe deverá observar, ainda, os limites de concentração definidos na Política de Crédito, que integra o Contrato de Endosso como Anexo 3.2(v). 4.8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a:t>
            </a:r>
          </a:p>
          <a:p>
            <a:r>
              <a:t>CNPJ 60010416000112 · Concentração por devedor, cedente e grupo · Versão e prevalência: Leitura específica das cláusulas indicadas; condições e conflitos preservados. Seleção documental atual não comprova vigência jurídica por data isolada.</a:t>
            </a:r>
          </a:p>
          <a:p>
            <a:r>
              <a:t>CNPJ 60010416000112 · Concentração por devedor, cedente e grupo · Resumo do histórico: {"count": 2, "dates": ["2025-03-20", "2025-10-09"], "document_count": 2, "sources": [{"document_id": "1051393", "title": "Regulamento", "reference_date": "2025-10-09", "version": "1", "page": "11-12", "url": "https://fnet.bmfbovespa.com.br/fnet/publico/visualizarDocumento?id=1051393", "sha256": "8469d613078ffd5a6c1d217885d8a397a16342c0b937ae4aa24b106505f233ae"}, {"document_id": "993786", "title": "Regulamento", "reference_date": "2025-03-20", "version": "1", "page": 12, "clause": "4.8", "url": "https://fnet.bmfbovespa.com.br/fnet/publico/visualizarDocumento?id=993786", "sha256": "fd0fdd369a195510d81f81f505195a0b09e5f43522a990afa7d58c4f872921c8"}], "reference": {"path": "history/60010416000112.json", "criterion_id": "concentration", "total_count": 2, "preview_count": 2, "full_text_deferred": true, "sha256": "8e2bd813f4c51cf01f6bfaad164bafe69d2bbb192f753eac92da3a01c2e63046"}}</a:t>
            </a:r>
          </a:p>
          <a:p>
            <a:r>
              <a:t>CNPJ 62696791000193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null, "comparison_required": true, "context_formula": "", "context_value": null, "context_unit": ""}</a:t>
            </a:r>
          </a:p>
          <a:p>
            <a:r>
              <a:t>CNPJ 62696791000193 · Concentração por devedor, cedente e grupo · Regulamento · ID 1143317 · 20/03/2026 · versão Regulamento — referência 20/03/2026 · p. 11 · Anexo I, 4.8–4.9 · https://fnet.bmfbovespa.com.br/fnet/publico/visualizarDocumento?id=1143317</a:t>
            </a:r>
          </a:p>
          <a:p>
            <a:r>
              <a:t>CNPJ 62696791000193 · Concentração por devedor, cedente e grupo · Excerto da fonte:</a:t>
            </a:r>
          </a:p>
          <a:p>
            <a:r>
              <a:t>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relacionadas ao Gestor. 4.8.1 As aplicações em Direitos Creditórios do Agronegócio decorrentes de receitas públicas originárias ou derivadas da União, dos Estados, do Distrito Federal e dos Municípios ou de suas autarquias e f undações, assim como em Direitos Creditórios do Agronegócio cedidos ou originados por empresas controladas pelo poder público, não estão submetidas ao limite de concentração por emissor previsto no caput. 4.9 Nos termos do Art. 45 do Anexo</a:t>
            </a:r>
          </a:p>
          <a:p>
            <a:r>
              <a:t>CNPJ 62696791000193 · Concentração por devedor, cedente e grupo · Regulamento · ID 1143317 · 20/03/2026 · versão Regulamento — referência 20/03/2026 · p. 12 · Anexo I, 4.10(i)–(ix) · https://fnet.bmfbovespa.com.br/fnet/publico/visualizarDocumento?id=1143317</a:t>
            </a:r>
          </a:p>
          <a:p>
            <a:r>
              <a:t>CNPJ 62696791000193 · Concentração por devedor, cedente e grupo · Excerto da fonte:</a:t>
            </a:r>
          </a:p>
          <a:p>
            <a:r>
              <a:t>4.10 Sem prejuízo de limites mais restritivos definidos neste Anexo, o Gestor deverá observar, ainda, os seguintes limites de concentração: (i) A Classe poderá, direta ou indiretamente, ter até 100% (cem por cento) do Patrimônio Líquido representado por Direitos Creditórios do Agronegócio originados ou cedidos pelo Administrador, Gestor e/ou suas partes relacionadas, tal como definidas pelas regras contábeis que tratam desse assunto, desde que (a) o Gest or, a entidade registradora e o Custodiante dos Direitos Creditórios do Agronegócio não sejam partes relacionadas entre si; e (b) a entidade registradora e o Custodiante dos Direitos Creditórios do Agronegócio não sejam partes relacionadas ao originador ou Cedente. (ii) No máximo, 100% (cem por cento) do Patrimônio Líquido investido em Ativos Financeiros de Liquidez de emissão ou que envolvam retenção de risco por parte do Administrador, Gestor, e/ou suas partes relacionadas, observado ainda o disposto no item Error! Reference source not found.;</a:t>
            </a:r>
          </a:p>
          <a:p>
            <a:r>
              <a:t>CNPJ 62696791000193 · Concentração por devedor, cedente e grupo · Condição: Liquidez/derivativos relacionados também têm permissivos de 100%, mas remissões internas aparecem como “Error! Reference source not found.”.</a:t>
            </a:r>
          </a:p>
          <a:p>
            <a:r>
              <a:t>CNPJ 62696791000193 · Concentração por devedor, cedente e grupo · Versão e prevalência: Leitura específica das cláusulas indicadas; condições e conflitos preservados. Seleção documental atual não comprova vigência jurídica por data isolada.</a:t>
            </a:r>
          </a:p>
          <a:p>
            <a:r>
              <a:t>CNPJ 55563624000109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null, "comparison_required": true, "context_formula": "", "context_value": null, "context_unit": ""}</a:t>
            </a:r>
          </a:p>
          <a:p>
            <a:r>
              <a:t>CNPJ 55563624000109 · Concentração por devedor, cedente e grupo · Regulamento · ID 1192614 · 30/04/2026 · versão Regulamento30/04/2026 · p. 13 · AnexoI4.11–4.12.1 · https://fnet.bmfbovespa.com.br/fnet/publico/visualizarDocumento?id=1192614</a:t>
            </a:r>
          </a:p>
          <a:p>
            <a:r>
              <a:t>CNPJ 55563624000109 · Concentração por devedor, cedente e grupo · Excerto da fonte:</a:t>
            </a:r>
          </a:p>
          <a:p>
            <a:r>
              <a:t>4.11 Nos termos dos artigos 45, parágrafo 7º, e 47 parágrafo único do Anexo Normativo II à Resolução CVM 175, uma vez que as Cotas são destinadas exclusivamente a Investidores Profissionais, a Classe poderá ter até 100% (cem por cento) de seu Patrimônio Líquido alocado em Cotas da Classe Investida, as quais são emitidas pela Classe Investida. 4.12 A Classe poderá, direta ou indiretamente (i) adquirir Cotas da Classe Investida que sejam administrados pelo ADMINISTRADOR, e geridos ou cogeridos pelo GESTOR, ou partes a eles relacionadas, tal como definidas pelas</a:t>
            </a:r>
          </a:p>
          <a:p>
            <a:r>
              <a:t>CNPJ 55563624000109 · Concentração por devedor, cedente e grupo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Concentração por devedor, cedente e grupo · Versão e prevalência: Leitura específica das cláusulas indicadas; condições e conflitos preservados. Seleção documental atual não comprova vigência jurídica por data isolada.</a:t>
            </a:r>
          </a:p>
          <a:p>
            <a:r>
              <a:t>CNPJ 55563624000109 · Concentração por devedor, cedente e grupo · Resumo do histórico: {"count": 1, "dates": ["2026-04-30"], "document_count": 1, "sources": [{"document_id": "1192614", "title": "Regulamento", "reference_date": "2026-04-30", "version": "1", "page": "11-12", "url": "https://fnet.bmfbovespa.com.br/fnet/publico/visualizarDocumento?id=1192614", "sha256": "f56e63ace0acde41d2f47fb48f1ac7f3f7df5e2d32de092d7c5e075a52516632"}], "reference": {"path": "history/55563624000109.json", "criterion_id": "concentration", "total_count": 1, "preview_count": 1, "full_text_deferred": true, "sha256": "7835d573fb58a3c19adf5b8ecc2aee2bdbb9a88f7a0c0209b5f262b64c7522e3"}}</a:t>
            </a:r>
          </a:p>
          <a:p>
            <a:r>
              <a:t>CNPJ 62552447000120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null, "comparison_required": true, "context_formula": "", "context_value": null, "context_unit": ""}</a:t>
            </a:r>
          </a:p>
          <a:p>
            <a:r>
              <a:t>CNPJ 62552447000120 · Concentração por devedor, cedente e grupo · Regulamento · ID 1200623 · 21/05/2026 · versão Consolidado21/05/2026 aprovado pelo ato1200625 · p. 14 · AnexoI4.10–4.13 · https://fnet.bmfbovespa.com.br/fnet/publico/visualizarDocumento?id=1200623</a:t>
            </a:r>
          </a:p>
          <a:p>
            <a:r>
              <a:t>CNPJ 62552447000120 · Concentração por devedor, cedente e grupo · Excerto da fonte:</a:t>
            </a:r>
          </a:p>
          <a:p>
            <a:r>
              <a:t>4.10 Nos termos do art. 45, §7º, inciso II, do Anexo Normativo II, a Classe poderá ter até 100% (cem por cento) de seu Patrimônio Líquido alocado em Direitos Creditórios, derivativos, observado o disposto abaixo,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4.10.1 O uso de derivativos está restr</a:t>
            </a:r>
          </a:p>
          <a:p>
            <a:r>
              <a:t>CNPJ 62552447000120 · Concentração por devedor, cedente e grupo · Condição: Regulamento permite concentração ampla; TVM têm limite específico 10% PL na elegibilidade.</a:t>
            </a:r>
          </a:p>
          <a:p>
            <a:r>
              <a:t>CNPJ 62552447000120 · Concentração por devedor, cedente e grupo · Versão e prevalência: Leitura específica das cláusulas indicadas; condições e conflitos preservados. Seleção documental atual não comprova vigência jurídica por data isolada.</a:t>
            </a:r>
          </a:p>
          <a:p>
            <a:r>
              <a:t>CNPJ 63953620000165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null, "comparison_required": true, "context_formula": "", "context_value": null, "context_unit": ""}</a:t>
            </a:r>
          </a:p>
          <a:p>
            <a:r>
              <a:t>CNPJ 63953620000165 · Concentração por devedor, cedente e grupo · Anexo ao Regulamento · ID 1222863 · 02/06/2026 · versão AnexoConsignadoPrivado02/06/2026 · p. 6 · 4.14 · https://fnet.bmfbovespa.com.br/fnet/publico/visualizarDocumento?id=1222863</a:t>
            </a:r>
          </a:p>
          <a:p>
            <a:r>
              <a:t>CNPJ 63953620000165 · Concentração por devedor, cedente e grupo · Excerto da fonte:</a:t>
            </a:r>
          </a:p>
          <a:p>
            <a:r>
              <a:t>4.14 Nos termos do Art. 45, §7º, inciso II, do Anexo Normativo II da Resolução CVM 175, a Classe poderá ter até 100% (cem por cento) de seu Patrimônio Líquido alocado em Direitos Creditórios, derivativos, observado o disposto neste Anexo I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4.15 Sem prejuízo de limites</a:t>
            </a:r>
          </a:p>
          <a:p>
            <a:r>
              <a:t>CNPJ 63953620000165 · Concentração por devedor, cedente e grupo · Anexo ao Regulamento · ID 1222863 · 02/06/2026 · versão AnexoConsignadoPrivado02/06/2026 · p. 7 · 4.15(i)–(v) · https://fnet.bmfbovespa.com.br/fnet/publico/visualizarDocumento?id=1222863</a:t>
            </a:r>
          </a:p>
          <a:p>
            <a:r>
              <a:t>CNPJ 63953620000165 · Concentração por devedor, cedente e grupo · Excerto da fonte:</a:t>
            </a:r>
          </a:p>
          <a:p>
            <a:r>
              <a:t>(i)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CNPJ 63953620000165 · Concentração por devedor, cedente e grupo · Versão e prevalência: Leitura específica das cláusulas indicadas; condições e conflitos preservados. Seleção documental atual não comprova vigência jurídica por data isolada.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Recebíveis e aquisição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Natureza dos recebíveis · Regulamento · ID 670691 · 28/04/2024 · versão Regulamento — referência 28/04/2024 · p. 9 · Anexo I, 4.2–4.2.1 · https://fnet.bmfbovespa.com.br/fnet/publico/visualizarDocumento?id=670691</a:t>
            </a:r>
          </a:p>
          <a:p>
            <a:r>
              <a:t>CNPJ 54871427000194 · Natureza dos recebíveis · Excerto da fonte:</a:t>
            </a:r>
          </a:p>
          <a:p>
            <a:r>
              <a:t>4.2 Os Direitos Creditórios representados por Certif icados de Cédulas de Crédito Bancário (“CCCBs”), representativos de um agrupamento de determinadas CCBs, originadas no âmbito de operações de empréstimos pessoais concedidos por um Endossante a um Devedor, devidamente f ormalizadas por via eletrônica de acordo com a legislação aplicável, segundo os critérios de composição e diversificação estabelecidos pela regulamentação aplicável e neste Regulamento. 4.2.1 Cada Endossante deve ter celebrado convênio com órgão consignante, previamente à cessão de Direitos Creditórios à Classe, que contemplam a obrigação da manutenção da consignação/averbação junto ao novo órgão, de modo a possibilitar o pagamento dos Direitos Creditórios por meio de consignação em f olha de pagamento ou de benef ício . 4.3 Os pagamentos relativos aos Direitos Creditórios de titularidade da Classe serão realizados mediante consignação em folha, débito em conta de titularidade dos Devedores e pagamentos de sinistros, para pagamento dos valores correspondentes às parcelas das CCBs representadas pelos CCCBs de titularidade da Classe, os quais serão conciliados e repassados pelo Endossan</a:t>
            </a:r>
          </a:p>
          <a:p>
            <a:r>
              <a:t>CNPJ 54871427000194 · Natureza dos recebíveis · Versão e prevalência: Leitura específica das cláusulas indicadas; condições e conflitos preservados. Seleção documental atual não comprova vigência jurídica por data isolada.</a:t>
            </a:r>
          </a:p>
          <a:p>
            <a:r>
              <a:t>CNPJ 54871427000194 · Natureza dos recebíveis · Resumo do histórico: {"count": 3, "dates": ["2024-04-19", "2024-04-28"], "document_count": 2, "sources": [{"document_id": "670691", "title": "Regulamento", "reference_date": "2024-04-28", "version": "1", "page": "9, 38-39", "url": "https://fnet.bmfbovespa.com.br/fnet/publico/visualizarDocumento?id=670691", "sha256": "bf16dd7f1a62d5cdbf2e2d54fef81783783f7310fbc99c3a8f00459bdf9d037b"}, {"document_id": "670691", "title": "Regulamento", "reference_date": "2024-04-28", "version": "1", "page": 34, "clause": "15.1.5", "url": "https://fnet.bmfbovespa.com.br/fnet/publico/visualizarDocumento?id=670691", "sha256": "bf16dd7f1a62d5cdbf2e2d54fef81783783f7310fbc99c3a8f00459bdf9d037b"}, {"document_id": "670689", "title": "Regulamento", "reference_date": "2024-04-19", "version": "1", "page": 35, "clause": "15.1.5", "url": "https://fnet.bmfbovespa.com.br/fnet/publico/visualizarDocumento?id=670689", "sha256": "891bc9bc5d87bbc02ec139077a84d2702eb81ea02035fb71d24f5b8366b94a0b"}], "reference": {"path": "history/54871427000194.json", "criterion_id": "receivables", "total_count": 3, "preview_count": 3, "full_text_deferred": true, "sha256": "35d7cd99be50c7287c9fb675cf4f2e736002315295a225a9efa79c8d9186d874"}}</a:t>
            </a:r>
          </a:p>
          <a:p>
            <a:r>
              <a:t>CNPJ 60010416000112 · Natureza dos recebíveis · Regulamento · ID 1051393 · 09/10/2025 · versão Regulamento09/10/2025 · p. 9 · AnexoI4.2 · https://fnet.bmfbovespa.com.br/fnet/publico/visualizarDocumento?id=1051393</a:t>
            </a:r>
          </a:p>
          <a:p>
            <a:r>
              <a:t>CNPJ 60010416000112 · Natureza dos recebíveis · Excerto da fonte:</a:t>
            </a:r>
          </a:p>
          <a:p>
            <a:r>
              <a:t>4.2 Os Direitos Creditórios são originados no âmbito de operações de empréstimo consignado concedido pelo Endossante a um Devedor por meio da Plataforma MT e representado por CCB, devidamente formalizada por via eletrônica, de acordo com a legislação aplicável, observada a Política de Crédito constante do Contrato de Endosso. O Endossante celebrou o Convênio Consignado Privado previamente ao endosso de Direitos Creditórios Elegíveis à Classe, para que, após a averbação dos Direitos Creditórios na Dataprev, o pagamento regular dos Direitos Creditórios decorrentes das CCB seja f eito por Consignação</a:t>
            </a:r>
          </a:p>
          <a:p>
            <a:r>
              <a:t>CNPJ 60010416000112 · Natureza dos recebíveis · Versão e prevalência: Leitura específica das cláusulas indicadas; condições e conflitos preservados. Seleção documental atual não comprova vigência jurídica por data isolada.</a:t>
            </a:r>
          </a:p>
          <a:p>
            <a:r>
              <a:t>CNPJ 60010416000112 · Natureza dos recebíveis · Resumo do histórico: {"count": 2, "dates": ["2025-03-20", "2025-10-09"], "document_count": 2, "sources": [{"document_id": "1051393", "title": "Regulamento", "reference_date": "2025-10-09", "version": "1", "page": "9-11", "url": "https://fnet.bmfbovespa.com.br/fnet/publico/visualizarDocumento?id=1051393", "sha256": "8469d613078ffd5a6c1d217885d8a397a16342c0b937ae4aa24b106505f233ae"}, {"document_id": "993786", "title": "Regulamento", "reference_date": "2025-03-20", "version": "1", "page": 30, "clause": "12.5.1", "url": "https://fnet.bmfbovespa.com.br/fnet/publico/visualizarDocumento?id=993786", "sha256": "fd0fdd369a195510d81f81f505195a0b09e5f43522a990afa7d58c4f872921c8"}], "reference": {"path": "history/60010416000112.json", "criterion_id": "receivables", "total_count": 2, "preview_count": 2, "full_text_deferred": true, "sha256": "8e2bd813f4c51cf01f6bfaad164bafe69d2bbb192f753eac92da3a01c2e63046"}}</a:t>
            </a:r>
          </a:p>
          <a:p>
            <a:r>
              <a:t>CNPJ 62696791000193 · Natureza dos recebíveis · Regulamento · ID 1143317 · 20/03/2026 · versão Regulamento — referência 20/03/2026 · p. 6 · Anexo I, 1.1, Objetivo · https://fnet.bmfbovespa.com.br/fnet/publico/visualizarDocumento?id=1143317</a:t>
            </a:r>
          </a:p>
          <a:p>
            <a:r>
              <a:t>CNPJ 62696791000193 · Natureza dos recebíveis · Excerto da fonte:</a:t>
            </a:r>
          </a:p>
          <a:p>
            <a:r>
              <a:t>A Classe tem por objetivo proporcionar aos Cotistas a valorização e a rentabilidade de suas cotas (“Cotas”), conforme a política de investimentos def inida no Capítulo IV abaixo (“Política de Investimentos”), por meio de aplicação do seu Patrimônio Líquido (conforme def inido abaixo) nos seguintes ativos de origem vinculada às cadeias produtivas do agronegócio (“Direitos Creditórios do Agronegócio”): (i) títulos de crédito emitidos por pessoas naturais e jurídicas que integrem as cadeias produtivas do agronegócio; (ii) direitos creditórios do agronegócio; (iii) certificados de recebíveis do agronegócio e outros títulos de securitização emitidos com lastro em direitos creditórios do agronegócio; e (iv) certificados de recebíveis e outro</a:t>
            </a:r>
          </a:p>
          <a:p>
            <a:r>
              <a:t>CNPJ 62696791000193 · Natureza dos recebíveis · Regulamento · ID 1143317 · 20/03/2026 · versão Regulamento — referência 20/03/2026 · p. 7 · Anexo I, 1.1, Objetivo · https://fnet.bmfbovespa.com.br/fnet/publico/visualizarDocumento?id=1143317</a:t>
            </a:r>
          </a:p>
          <a:p>
            <a:r>
              <a:t>CNPJ 62696791000193 · Natureza dos recebíveis · Excerto da fonte:</a:t>
            </a:r>
          </a:p>
          <a:p>
            <a:r>
              <a:t>(i) participações em sociedades que explorem atividades integrantes das cadeias produtivas do agronegócio. (C) Categoria “Financeiro” (“Ativos Financeiros do Agronegócio Financeiros”): (i) ativos f inanceiros e valores mobiliários emitidos por pessoas naturais e jurídicas que integrem as cadeias produtivas do agronegócio. (D) Categoria “Geral” (“Ativos em Geral do Agronegócio”): (i) cotas de classes que apliquem mais de 50% (cinquenta por cento) de seu patrimônio líquido nos ativos referidos nos incisos “A” a “D” acima, o que inclui cotas de outros FIAGRO, mas não se limita a essa categoria de f undos. Os Ativos Imobiliários do Agronegócio, Participações do Agronegócio,</a:t>
            </a:r>
          </a:p>
          <a:p>
            <a:r>
              <a:t>CNPJ 62696791000193 · Natureza dos recebíveis · Versão e prevalência: Leitura específica das cláusulas indicadas; condições e conflitos preservados. Seleção documental atual não comprova vigência jurídica por data isolada.</a:t>
            </a:r>
          </a:p>
          <a:p>
            <a:r>
              <a:t>CNPJ 55563624000109 · Natureza dos recebíveis · Regulamento · ID 1192614 · 30/04/2026 · versão Regulamento30/04/2026 · p. 11 · AnexoI4.1 · https://fnet.bmfbovespa.com.br/fnet/publico/visualizarDocumento?id=1192614</a:t>
            </a:r>
          </a:p>
          <a:p>
            <a:r>
              <a:t>CNPJ 55563624000109 · Natureza dos recebíveis · Excerto da fonte:</a:t>
            </a:r>
          </a:p>
          <a:p>
            <a:r>
              <a:t>4.1 Observados os demais termos deste Anexo, o objetivo da Classe é investir seus recursos em (i) cotas subordinadas mezanino de emissão da classe única do MERCADO CRÉDITO II BRASIL FUNDO DE INVESTIMENTO EM DIREITOS CREDITÓRIOS NÃO PADRONIZADOS, fundo de investimento em direitos creditórios inscrito no CNPJ sob o nº 41.970.012/0001-26 (“Cotas da Classe Investida” e “Classe Investida”, respectivamente), a qual, por sua vez, aplica seus recursos preponderantemente em direitos creditórios originados pela Mercado Pago, de acordo com os termos e condições est</a:t>
            </a:r>
          </a:p>
          <a:p>
            <a:r>
              <a:t>CNPJ 55563624000109 · Natureza dos recebíveis · Regulamento · ID 1192614 · 30/04/2026 · versão Regulamento30/04/2026 · p. 12 · AnexoI4.5 · https://fnet.bmfbovespa.com.br/fnet/publico/visualizarDocumento?id=1192614</a:t>
            </a:r>
          </a:p>
          <a:p>
            <a:r>
              <a:t>CNPJ 55563624000109 · Natureza dos recebíveis · Excerto da fonte:</a:t>
            </a:r>
          </a:p>
          <a:p>
            <a:r>
              <a:t>4.5 Uma vez que o investimento nas Cotas da Classe Investida não corresponde a um investimento direto em direitos creditórios, uma série de disposições comuns à securitização de direitos creditórios não será aplicável ao investimento nas Cotas da Classe Investida. A título meramente exemplificativo, não existem processos de originação ou política de concessão de crédito adotada pelo GESTOR, tampouco há que se falar em verificação ou guarda de documentos comprobatórios que não sejam referentes às Cotas da Classe Investida. Da mesma forma, não há necessida</a:t>
            </a:r>
          </a:p>
          <a:p>
            <a:r>
              <a:t>CNPJ 55563624000109 · Natureza dos recebíveis · Versão e prevalência: Leitura específica das cláusulas indicadas; condições e conflitos preservados. Seleção documental atual não comprova vigência jurídica por data isolada.</a:t>
            </a:r>
          </a:p>
          <a:p>
            <a:r>
              <a:t>CNPJ 55563624000109 · Natureza dos recebíveis · Resumo do histórico: {"count": 4, "dates": ["2025-01-31", "2026-01-31", "2026-04-30"], "document_count": 3, "sources": [{"document_id": "1192614", "title": "Regulamento", "reference_date": "2026-04-30", "version": "1", "page": "11", "url": "https://fnet.bmfbovespa.com.br/fnet/publico/visualizarDocumento?id=1192614", "sha256": "f56e63ace0acde41d2f47fb48f1ac7f3f7df5e2d32de092d7c5e075a52516632"}, {"document_id": "1178840", "title": "Demonstrações Financeiras", "reference_date": "2026-01-31", "version": "1", "page": 16, "url": "https://fnet.bmfbovespa.com.br/fnet/publico/visualizarDocumento?id=1178840", "sha256": "c458e98664c5c907ddb5a05a94b120bed4e05295b2bfc420f5ba69af0a229abe"}, {"document_id": "891861", "title": "Demonstrações Financeiras", "reference_date": "2025-01-31", "version": "1", "page": 16, "url": "https://fnet.bmfbovespa.com.br/fnet/publico/visualizarDocumento?id=891861", "sha256": "e9cb9e6ddbe505fe068cfcac33605165a98313489de0d3ce6d4d238263c3f3e7"}], "reference": {"path": "history/55563624000109.json", "criterion_id": "receivables", "total_count": 4, "preview_count": 3, "full_text_deferred": true, "sha256": "7835d573fb58a3c19adf5b8ecc2aee2bdbb9a88f7a0c0209b5f262b64c7522e3"}}</a:t>
            </a:r>
          </a:p>
          <a:p>
            <a:r>
              <a:t>CNPJ 62552447000120 · Natureza dos recebíveis · Regulamento · ID 1200623 · 21/05/2026 · versão Consolidado21/05/2026 aprovado pelo ato1200625 · p. 11 · AnexoI4.2–4.3 · https://fnet.bmfbovespa.com.br/fnet/publico/visualizarDocumento?id=1200623</a:t>
            </a:r>
          </a:p>
          <a:p>
            <a:r>
              <a:t>CNPJ 62552447000120 · Natureza dos recebíveis · Excerto da fonte:</a:t>
            </a:r>
          </a:p>
          <a:p>
            <a:r>
              <a:t>4.2 Os Direitos Creditórios Consignado Privado e os Direitos Creditórios FGTS são originados no âmbito de CCBs emitidas eletronicamente pelos Devedores ao Endossante, representando, respectivamente, empréstimos consignados, com desconto em f olha de pagamento, e empréstimos pessoais, com garantia de cessão f iduciária do Saque-aniversário. 4.3 A operacionalização é f eita por meio da plataforma eletrônica mantida pelo Originador e utilizada por ele em relação ao processamento e monitoramento das operações de crédito (“Plataforma VR”), de acordo com a legislação aplicável, observada a política de crédit</a:t>
            </a:r>
          </a:p>
          <a:p>
            <a:r>
              <a:t>CNPJ 62552447000120 · Natureza dos recebíveis · Regulamento · ID 1200623 · 21/05/2026 · versão Consolidado21/05/2026 aprovado pelo ato1200625 · p. 6 · AnexoI1.2 Direitos Creditórios(d) · https://fnet.bmfbovespa.com.br/fnet/publico/visualizarDocumento?id=1200623</a:t>
            </a:r>
          </a:p>
          <a:p>
            <a:r>
              <a:t>CNPJ 62552447000120 · Natureza dos recebíveis · Excerto da fonte:</a:t>
            </a:r>
          </a:p>
          <a:p>
            <a:r>
              <a:t>Refinanciamento Livre”, na forma de CCBs originadas no âmbito de um refinanciamento, de acordo com a política de cobrança vigente, de Direitos Creditórios Consignado Privado e de Direitos Creditórios FGTS, que não contem com o lastro de Consignação ou de cessão f iduciária do Saque-Aniversário, respectivamente; e (ii) “Ativos Financei</a:t>
            </a:r>
          </a:p>
          <a:p>
            <a:r>
              <a:t>CNPJ 62552447000120 · Natureza dos recebíveis · Condição: Direitos de refinanciamento livre têm mecanismo de pagamento diferente do consignado/FGTS original.</a:t>
            </a:r>
          </a:p>
          <a:p>
            <a:r>
              <a:t>CNPJ 62552447000120 · Natureza dos recebíveis · Versão e prevalência: Leitura específica das cláusulas indicadas; condições e conflitos preservados. Seleção documental atual não comprova vigência jurídica por data isolada.</a:t>
            </a:r>
          </a:p>
          <a:p>
            <a:r>
              <a:t>CNPJ 63953620000165 · Natureza dos recebíveis · Anexo ao Regulamento · ID 1222863 · 02/06/2026 · versão AnexoConsignadoPrivado02/06/2026 · p. 5 · 4.4 · https://fnet.bmfbovespa.com.br/fnet/publico/visualizarDocumento?id=1222863</a:t>
            </a:r>
          </a:p>
          <a:p>
            <a:r>
              <a:t>CNPJ 63953620000165 · Natureza dos recebíveis · Excerto da fonte:</a:t>
            </a:r>
          </a:p>
          <a:p>
            <a:r>
              <a:t>4.4 Os Direitos Creditórios Consignado Privado são originados no âmbito de operações de empréstimo consignado concedido pelo Endossante a um Devedor por meio da plataforma eletrônica mantida pelo Agente de Retenção/ Cobrança e utilizada por ele em relação ao processamento e monitoramento das operações de crédito consignado (“Plataforma MT”) e representado por CCB, devidamente formalizada por via eletrônica, de acordo com a legislação aplicável, observada a política de crédito constante do Contrato de Endosso. O Endossante celebrou o Convênio Consignado Privado previamente ao endosso de Direitos Creditórios Elegíveis à Clas</a:t>
            </a:r>
          </a:p>
          <a:p>
            <a:r>
              <a:t>CNPJ 63953620000165 · Natureza dos recebíveis · Anexo ao Regulamento · ID 1222863 · 02/06/2026 · versão AnexoConsignadoPrivado02/06/2026 · p. 1 · 1.1Objetivo · https://fnet.bmfbovespa.com.br/fnet/publico/visualizarDocumento?id=1222863</a:t>
            </a:r>
          </a:p>
          <a:p>
            <a:r>
              <a:t>CNPJ 63953620000165 · Natureza dos recebíveis · Excerto da fonte:</a:t>
            </a:r>
          </a:p>
          <a:p>
            <a:r>
              <a:t>Direitos Creditórios Crédito Consignado”, representados por cédula de crédito bancário regida pela Lei nº 10.931, emitida eletronicamente por um devedor em favor do endossante (“CCB”) e, consequentemente, os recebíveis decorrente de cada uma das parcelas vincendas, representando um empréstimo consignado concedido pelo endossante ao devedor, e cujo pagamento ordinário é feito por desconto de cada prestação vincenda de uma CCB na folha de</a:t>
            </a:r>
          </a:p>
          <a:p>
            <a:r>
              <a:t>CNPJ 63953620000165 · Natureza dos recebíveis · Versão e prevalência: Leitura específica das cláusulas indicadas; condições e conflitos preservados. Seleção documental atual não comprova vigência jurídica por data isolada.</a:t>
            </a:r>
          </a:p>
          <a:p>
            <a:r>
              <a:t>CNPJ 63953620000165 · Natureza dos recebíveis · Resumo do histórico: {"count": 8, "dates": ["2026-04-28", "2026-05-08", "2026-05-15"], "document_count": 3, "sources": [{"document_id": "1327859", "title": "Demonstrações Financeiras - Fusão, cisão e incorporação", "reference_date": "2026-05-15", "version": "1", "page": 21, "url": "https://fnet.bmfbovespa.com.br/fnet/publico/visualizarDocumento?id=1327859", "sha256": "dca1c68babb97f887528c3e2e47596a9c30f507b067981a35655b2f2da9c8054"}, {"document_id": "1298691", "title": "Demonstrações Financeiras - Fusão, cisão e incorporação", "reference_date": "2026-05-08", "version": "1", "page": 24, "url": "https://fnet.bmfbovespa.com.br/fnet/publico/visualizarDocumento?id=1298691", "sha256": "58c570d9b8d4d265330d3db3ea81c435b8e44a6dab4002aa37790652a1ee9819"}, {"document_id": "1282180", "title": "Demonstrações Financeiras - Fusão, cisão e incorporação", "reference_date": "2026-04-28", "version": "1", "page": 24, "url": "https://fnet.bmfbovespa.com.br/fnet/publico/visualizarDocumento?id=1282180", "sha256": "afaaa0e6809be4385e5bdb6c911aac582032c5bdbac3d7750234bf9eaf00438a"}], "reference": {"path": "history/63953620000165.json", "criterion_id": "receivables", "total_count": 8, "preview_count": 3, "full_text_deferred": true, "sha256": "a7b89077f5e21098c2d601c303faabc3ff6b9729f89d8afecdc60fe1404720c1"}}</a:t>
            </a:r>
          </a:p>
          <a:p>
            <a:r>
              <a:t>CNPJ 54871427000194 · Originador e endossante · Regulamento · ID 670691 · 2024-04-28 · versão 1 · p. 11 · 4.11.2 · https://fnet.bmfbovespa.com.br/fnet/publico/visualizarDocumento?id=670691</a:t>
            </a:r>
          </a:p>
          <a:p>
            <a:r>
              <a:t>CNPJ 54871427000194 · Originador e endossante · Excerto da fonte:</a:t>
            </a:r>
          </a:p>
          <a:p>
            <a:r>
              <a:t>4.11.2 A Classe poderá ter até 100% (cem por cento) do Patrimônio Líquido representado por Direitos  Creditórios originados ou cedidos por um mesmo Endossante e/ou originados por um mesmo  Originador.</a:t>
            </a:r>
          </a:p>
          <a:p>
            <a:r>
              <a:t>CNPJ 54871427000194 · Originador e endossante · Regulamento · ID 670691 · 2024-04-28 · versão 1 · p. 13 · 4.17 · https://fnet.bmfbovespa.com.br/fnet/publico/visualizarDocumento?id=670691</a:t>
            </a:r>
          </a:p>
          <a:p>
            <a:r>
              <a:t>CNPJ 54871427000194 · Originador e endossante · Excerto da fonte:</a:t>
            </a:r>
          </a:p>
          <a:p>
            <a:r>
              <a:t>4.17 É vedada qualquer forma de antecipação de recursos aos Endossantes para posterior reembolso pela  Classe, seja pelo ADMINISTRADOR, GESTOR, CUSTODIANTE, consultora ou Originadores.</a:t>
            </a:r>
          </a:p>
          <a:p>
            <a:r>
              <a:t>CNPJ 54871427000194 · Originador e endossante · Regulamento · ID 670691 · 2024-04-28 · versão 1 · p. 34 · 15.1.5 · https://fnet.bmfbovespa.com.br/fnet/publico/visualizarDocumento?id=670691</a:t>
            </a:r>
          </a:p>
          <a:p>
            <a:r>
              <a:t>CNPJ 54871427000194 · Originador e endossante · Excerto da fonte:</a:t>
            </a:r>
          </a:p>
          <a:p>
            <a:r>
              <a:t>15.1.5 Outros Riscos:</a:t>
            </a:r>
          </a:p>
          <a:p>
            <a:r>
              <a:t> (i) Cobrança judicial ou extrajudicial dos Direitos Creditórios. No caso de os  Devedores inadimplirem as obrigações dos pagamentos dos Direitos Creditórios de titularidade  da Classe, poderá haver cobrança judicial e/ou extrajudicial dos valores devidos. Neste caso,  além da Classe incorrer em maiores custos relacionados à cobrança dos Direitos Creditórios  Inadimplidos, nada garante que ref eridas cobranças atingirão os resultados almejados, qual  seja, a recuperação do valor integral dos Direitos Creditórios Inadimplidos. Nesta hipótese, a  rentabilidade da Classe será af etada negativamente.</a:t>
            </a:r>
          </a:p>
          <a:p>
            <a:r>
              <a:t> (ii) Dif iculdade de obtenção de indenização ou recompra de Direitos Creditórios.</a:t>
            </a:r>
          </a:p>
          <a:p>
            <a:r>
              <a:t> Considerando a possibilidade de aquisição de Direitos Creditórios de terceiros — isso é  Endossantes que, por sua vez, adquiram os Direitos Creditórios de forma secundária, por meio  da cessão ou endosso realizado por credores anteriores da CCB — caso ocorram situações  que ensejem em recompra de tais Direitos Creditórios e/ou indenização, a Classe poderá ter  dif iculdades adicionais em obter tais indenizações e/ou recompras, na medida em que o direito  a tais indenizações e/ou recompras não está previsto em cada CCB, mas em contratos e  instrumentos dos quais a Classe não é originalmente parte, o que poderá causar perdas à  Classe e, consequentemente, aos Cotistas.</a:t>
            </a:r>
          </a:p>
          <a:p>
            <a:r>
              <a:t> (iii) Risco de concentração. O risco da aplicação na Classe possui forte correlação  com a concentração da Carteira, sendo que, quanto maior f or a concentração da Carteira,  maior será a chance de a Classe sofrer perda patrimonial significativa que afete negativamente  a rentabilidade das Cotas. A Classe não possui limite de concentração por Devedor ou  originador dos Direitos Creditórios, exceto por aqueles previstos na Resolução CVM  175, razão pela qual a Classe poderá estar exposto a significativa concentração por  Devedor. Não é possível garantir que os limites de concentração contidos na Política de  Investimentos, ainda que atendidos, serão suficientes que o Patrimônio Líquido não sofra  perdas que possam af etar a rentabilidade das Cotas.</a:t>
            </a:r>
          </a:p>
          <a:p>
            <a:r>
              <a:t> (iv) Possibilidade de conflito de interesses entre a Classe e os Originadores. Os  Originadores podem possuir relacionamento comercial com os Endossantes e/ou Devedores,  de modo que, em determinadas circunstâncias seus interesses podem ser conflitantes com os  interesses da Classe. Não é possível garantir que, materializada uma situação de conflito de  interesses conforme descrita acima, o Originador exponha-a adequadamente ao  ADMINISTRADOR e/ou aos Cotistas, ou que o f aça absolutamente, tampouco que agirá no  melhor no interesse da Classe. Nesses casos, a Classe pode vir a adquirir Direitos Creditórios  ou pode vir a ter seus Direitos Creditórios Inadimplidos pagos em condições comparativamente  menos vantajosas àquelas que seriam verificadas na ausência de tais conflitos de interesses.</a:t>
            </a:r>
          </a:p>
          <a:p>
            <a:r>
              <a:t> Nesses casos, o Patrimônio Líquido pode ser af etado adversamente.</a:t>
            </a:r>
          </a:p>
          <a:p>
            <a:r>
              <a:t> (v) Possibilidade de conflito de interesses entre Cotistas. As Cotas poderão ser  adquiridas por investidores que sejam sociedades coligadas, controladas ou controladoras,</a:t>
            </a:r>
          </a:p>
          <a:p>
            <a:r>
              <a:t>CNPJ 54871427000194 · Originador e endossante · Condição: Documentos atuais selecionados no inventário por categoria/escopo; a data documental isolada não comprova vigência jurídica.</a:t>
            </a:r>
          </a:p>
          <a:p>
            <a:r>
              <a:t>CNPJ 54871427000194 · Originador e endossante · Versão e prevalência: Documentos atuais selecionados no inventário por categoria/escopo; a data documental isolada não comprova vigência jurídica.</a:t>
            </a:r>
          </a:p>
          <a:p>
            <a:r>
              <a:t>CNPJ 54871427000194 · Originador e endossante · Resumo do histórico: {"count": 2, "dates": ["2024-04-19", "2024-04-28"], "document_count": 2, "sources": [{"document_id": "670691", "title": "Regulamento", "reference_date": "2024-04-28", "version": "1", "page": "9, 39", "url": "https://fnet.bmfbovespa.com.br/fnet/publico/visualizarDocumento?id=670691", "sha256": "bf16dd7f1a62d5cdbf2e2d54fef81783783f7310fbc99c3a8f00459bdf9d037b"}, {"document_id": "670689", "title": "Regulamento", "reference_date": "2024-04-19", "version": "1", "page": 9, "clause": "4.5", "url": "https://fnet.bmfbovespa.com.br/fnet/publico/visualizarDocumento?id=670689", "sha256": "891bc9bc5d87bbc02ec139077a84d2702eb81ea02035fb71d24f5b8366b94a0b"}], "reference": {"path": "history/54871427000194.json", "criterion_id": "originator", "total_count": 2, "preview_count": 2, "full_text_deferred": true, "sha256": "35d7cd99be50c7287c9fb675cf4f2e736002315295a225a9efa79c8d9186d874"}}</a:t>
            </a:r>
          </a:p>
          <a:p>
            <a:r>
              <a:t>CNPJ 60010416000112 · Originador e endossante · Regulamento · ID 1051393 · 09/10/2025 · versão Regulamento09/10/2025 · p. 44 · Glossário, Endossante · https://fnet.bmfbovespa.com.br/fnet/publico/visualizarDocumento?id=1051393</a:t>
            </a:r>
          </a:p>
          <a:p>
            <a:r>
              <a:t>CNPJ 60010416000112 · Originador e endossante · Excerto da fonte:</a:t>
            </a:r>
          </a:p>
          <a:p>
            <a:r>
              <a:t>“Endossante”: a Parati Crédito, Financiamento e Investimento S.A., instituição financeira constituída na forma de uma sociedade por ações, com sede na cidade de Vitória, estado do Espírito Santo, na Avenida Nossa Senhora da Penha, 699, torre A, conjuntos 404 a 407, Santa Lúcia, CEP 29.056-250, inscrita no CNPJ sob nº 03.311.443/0001-91; "Entidade Registradora": instituição autorizada pelo BACEN para realizar as atividades de registro e constituição, alteração e desconstituição de ônus e gravames sobre ativos f inanceiros registrados; “Escrituração”: significa a escrituração da Consignação a ser realizada pelo Empregador, junto ao eSocial, após recebimento de notif icação comunicando-o da contratação, pelo Devedor, do empréstimo a ser pago por Consignação; “Eventos de Avaliação”: os eventos de avaliação descritos no item 10.1 deste Anexo; “Eventos de Liquidação”: os eventos de liquidação descritos no item 10.3 deste Anexo; BTG Pactual SAC: 0800 772 28 27 - Ouvidoria: 0800 722 00 48 - btgpactual.com 44</a:t>
            </a:r>
          </a:p>
          <a:p>
            <a:r>
              <a:t>CNPJ 60010416000112 · Originador e endossante · Regulamento · ID 1051393 · 09/10/2025 · versão Regulamento09/10/2025 · p. 41 · Glossário, Agente de Retenção/Cobrança · https://fnet.bmfbovespa.com.br/fnet/publico/visualizarDocumento?id=1051393</a:t>
            </a:r>
          </a:p>
          <a:p>
            <a:r>
              <a:t>CNPJ 60010416000112 · Originador e endossante · Excerto da fonte:</a:t>
            </a:r>
          </a:p>
          <a:p>
            <a:r>
              <a:t>“Agente de Retenção/Cobrança”: significa a Tudo Serviços S.A., sociedade por ações com sede na Cidade de Eusébio, Estado do Ceará, na Comendador Ari Freitas, 577, CEP 61.760-000, inscrita no CNPJ sob nº 27.852.506/0001-85; “Agente Escriturador”: O Administrador, o qual se encontra devidamente habilitado pela CVM para prestar os serviços de escrituração das Cotas, ou seu sucessor a qualquer título; “Amortização”: signif ica cada uma das amortizações ordinárias de Cotas; “Amortização Extraordinária”: amortização extraordinária das Cotas Seniores, conforme deliberado pela Assembleia Especial de Cotistas, para reestabelecer o Índice de Subordinação, nos termos do item 5.5.1 do Anexo I; "ANBIMA": Associação Brasileira das Entidades dos Mercados Financeiro e de Capitais; "Código ANBIMA": Código ANBIMA de Regulação e Melhores Práticas para Administração de Recursos de Terceiros “Anexos”: tem o signif icado atribuído no Art. 3, inciso IV, da Resolução CVM 175, Parte Geral; “Apêndice”: cada um dos apêndices que integram este Anexo, descritivos de cada Subclasse de Cotas ou de aspectos aplicáveis à Classe; "Arquivos Dataprev": Arquivo de Consignações fornecido mensalmente pela Dataprev ao Endossante, contendo a totalidade das operações pend</a:t>
            </a:r>
          </a:p>
          <a:p>
            <a:r>
              <a:t>CNPJ 60010416000112 · Originador e endossante · Regulamento · ID 1051393 · 09/10/2025 · versão Regulamento09/10/2025 · p. 28 · AnexoI11.23 · https://fnet.bmfbovespa.com.br/fnet/publico/visualizarDocumento?id=1051393</a:t>
            </a:r>
          </a:p>
          <a:p>
            <a:r>
              <a:t>CNPJ 60010416000112 · Originador e endossante · Excerto da fonte:</a:t>
            </a:r>
          </a:p>
          <a:p>
            <a:r>
              <a:t>Tudo Serviços S.A., sociedade anônima, com sede no município de Eusébio, Estado do Ceará, na Comendador Ari Freitas, 577, CEP 61.760-000, inscrita no CNPJ sob o nº 27.852.506/0001-85, cujos deveres, sem prejuízo daqueles estabelecidos neste Regulamento, no Contrato de Serviços MT e no Contrato de Endosso, consistirão no monitoramento e cobrança dos Direitos Creditórios Inadimplidos, observado o disposto neste Anexo I e na regulamentação aplicável: (i) caso aplicável, atuar na retenção (defesa) de operações de empréstimo consignado cujos Direitos Creditórios sejam de titularidade da Classe, em caso d</a:t>
            </a:r>
          </a:p>
          <a:p>
            <a:r>
              <a:t>CNPJ 60010416000112 · Originador e endossante · Versão e prevalência: Leitura específica das cláusulas indicadas; condições e conflitos preservados. Seleção documental atual não comprova vigência jurídica por data isolada.</a:t>
            </a:r>
          </a:p>
          <a:p>
            <a:r>
              <a:t>CNPJ 60010416000112 · Originador e endossante · Resumo do histórico: {"count": 2, "dates": ["2025-03-20", "2025-10-09"], "document_count": 2, "sources": [{"document_id": "1051393", "title": "Regulamento", "reference_date": "2025-10-09", "version": "1", "page": "41-43", "url": "https://fnet.bmfbovespa.com.br/fnet/publico/visualizarDocumento?id=1051393", "sha256": "8469d613078ffd5a6c1d217885d8a397a16342c0b937ae4aa24b106505f233ae"}, {"document_id": "993786", "title": "Regulamento", "reference_date": "2025-03-20", "version": "1", "page": 25, "clause": "11.8", "url": "https://fnet.bmfbovespa.com.br/fnet/publico/visualizarDocumento?id=993786", "sha256": "fd0fdd369a195510d81f81f505195a0b09e5f43522a990afa7d58c4f872921c8"}], "reference": {"path": "history/60010416000112.json", "criterion_id": "originator", "total_count": 2, "preview_count": 2, "full_text_deferred": true, "sha256": "8e2bd813f4c51cf01f6bfaad164bafe69d2bbb192f753eac92da3a01c2e63046"}}</a:t>
            </a:r>
          </a:p>
          <a:p>
            <a:r>
              <a:t>CNPJ 62696791000193 · Originador e endossante · Regulamento · ID 1143317 · 20/03/2026 · versão Regulamento — referência 20/03/2026 · p. 10 · Anexo I, 4.4 e 4.6 · https://fnet.bmfbovespa.com.br/fnet/publico/visualizarDocumento?id=1143317</a:t>
            </a:r>
          </a:p>
          <a:p>
            <a:r>
              <a:t>CNPJ 62696791000193 · Originador e endossante · Excerto da fonte:</a:t>
            </a:r>
          </a:p>
          <a:p>
            <a:r>
              <a:t>4.4 Tendo em vista (i) a natureza variada dos Direitos Creditórios do Agronegócio passíveis de aquisição pela Classe; (ii) a amplitude da Política de Investimentos; e (iii) a potencial diversificação de Cedentes/Endossantes e Devedores, não é possível precisar os processos de origem dos Direitos Creditórios do Agronegócio e as políticas de concessão de crédito adotadas pelos Cedentes/Endossantes. 4.5 Os Direitos Creditórios do Agronegócio deverão contar com toda a documentação necessária para o exercício das prerrogativas decorrentes da titularidade dos ativos, e capaz de comprovar a origem, a existência e a exigibilidade dos Direitos Creditórios do Agronegócio (“Documentos Comprobatórios”) que evidenciem sua existência, validade e exequibilidade perante os respectivos Devedores. 4.5.1 Os Direitos Creditórios do Agronegócio serão adquiridos pela Classe por meio: (i) de contratos de cessão e/ou termos de cessão (“Contratos de Cessão”), contratos de promessa de endosso e/ou termos de endosso (“Contratos de Endosso”) firmados entre a Classe e os respectivos cedentes (“Cedentes”) / endossantes (“Endossantes”), acompanhados de todos os direitos, pri</a:t>
            </a:r>
          </a:p>
          <a:p>
            <a:r>
              <a:t>CNPJ 62696791000193 · Originador e endossante · Condição: A afirmação descreve um mandato amplo; não identifica contrapartes efetivamente presentes no IME.</a:t>
            </a:r>
          </a:p>
          <a:p>
            <a:r>
              <a:t>CNPJ 62696791000193 · Originador e endossante · Versão e prevalência: Leitura específica das cláusulas indicadas; condições e conflitos preservados. Seleção documental atual não comprova vigência jurídica por data isolada.</a:t>
            </a:r>
          </a:p>
          <a:p>
            <a:r>
              <a:t>CNPJ 55563624000109 · Originador e endossante · Regulamento · ID 1192614 · 2026-04-30 · versão 1 · p. 32 · https://fnet.bmfbovespa.com.br/fnet/publico/visualizarDocumento?id=1192614</a:t>
            </a:r>
          </a:p>
          <a:p>
            <a:r>
              <a:t>CNPJ 55563624000109 · Originador e endossante · Excerto da fonte:</a:t>
            </a:r>
          </a:p>
          <a:p>
            <a:r>
              <a:t>(b) Questionamento judicial. Os devedores podem questionar judicialmente (1) a validade  dos direitos creditórios, inclusive em razão da legalidade dos limites de crédito  concedidos pelo originador ou cedente e das taxas de juros praticadas, antes e/ou após  a sua transferência para a Classe Investida; e/ou (2) os termos e condições da  transferência dos direitos creditórios à Classe Investida. Em qualquer caso, é possível  que a Classe Investida não receba parte ou a totalidade dos valores relativos aos  direitos creditórios de sua titularidade objeto de questionamento judicial.</a:t>
            </a:r>
          </a:p>
          <a:p>
            <a:r>
              <a:t> (c) Risco de originação de direitos creditórios. Os direitos creditórios a serem adquiridos  pela Classe Investida são decorrentes de operações de empréstimo específicas  envolvendo as operações do Mercado Pago, conforme detalhadas no regulamento da  Classe Investida. Na hipótese de não originação, originação insuficiente ou  indisponibilidade para aquisição pelo Classe Investida, por qualquer motivo, inclusive  em caso de redução ou descontinuidade das operações regulares dos cedentes, de  direitos creditórios que satisfaçam os critérios de elegibilidade, as condições de cessão  e a política de investimento, composição e diversificação da carteira da Classe Investida  descrita em seu regulamento, a Classe Investida poderá ser incapaz de alocar a  totalidade de seus recursos, o que poderá inviabilizar a realização das chamadas de  capital por seu administrador, afetando negativamente a continuidade da Classe  Investida, a expectativa de seus cotistas, incluindo a Classe, com relação ao seu  horizonte de investimento, a rentabilidade da Classe Investida e, consequentemente, o  valor das Cotas da Classe Investida, impactando assim a Classe e os investimentos dos  Cotistas em Cotas.</a:t>
            </a:r>
          </a:p>
          <a:p>
            <a:r>
              <a:t> (d) Originação por meio fraudulento. A Classe Investida pode adquirir direitos creditórios  que tenham sido originados por meio fraudulento. Nesse caso, a Classe Investida não  poderá exigir o pagamento dos respectivos valores por parte dos devedores lesados,  restando-lhe somente exigir do cedente o pagamento do valor correspondente aos  direitos creditórios fraudulentos, na forma prevista no respectivo contrato de cessão. A  restituição devida pelo cedente poderá demorar a ser realizada ou simplesmente não  ocorrer. Em ambos os casos, o patrimônio da Classe Investida seria impactado  negativamente, igualmente afetando, consequentemente, a Classe.</a:t>
            </a:r>
          </a:p>
          <a:p>
            <a:r>
              <a:t> (e) Questionamento da validade e da eficácia da cessão dos Direitos Creditórios. A validade  e a eficácia da cessão dos direitos creditórios à Classe Investida poderão ser  questionadas, inclusive em decorrência de intervenção, liquidação, Regime de  Administração Especial Temporária (RAET), pedido de recuperação judicial, falência,  plano de recuperação extrajudicial ou outro procedimento de natureza similar  originador ou do cedente. A titularidade direitos creditórios poderá vir a ser  questionada caso (1) haja garantias reais sobre os direitos creditórios, constituídas  antes da sua cessão e sem o conhecimento da Classe Investida; (2) ocorra a penhora ou  outra forma de constrição judicial sobre os direitos creditórios, antes da sua cessão e sem  o conhecimento da Classe Investida; (3) seja verificada, em processo judicial, fraude  contra credores ou fraude à execução praticada pelo respectivo originador ou cedente;</a:t>
            </a:r>
          </a:p>
          <a:p>
            <a:r>
              <a:t> ou (4) a cessão dos direitos creditórios à Classe Investida seja revogada, quando restar  comprovado que foi praticada com a intenção de prejudicar os credores do originador  ou do cedente. Em qualquer hipótese, os direitos creditórios integrantes da carteira da  Classe Investida poderão ser bloqueados ou redirecionados para o pagamento de  outras obrigações do originador ou cedente, afetando negativamente os patrimônios  da Classe Investida e a rentabilidade das suas cotas.</a:t>
            </a:r>
          </a:p>
          <a:p>
            <a:r>
              <a:t>CNPJ 55563624000109 · Originador e endossante · Regulamento · ID 1192614 · 2026-04-30 · versão 1 · p. 28 · https://fnet.bmfbovespa.com.br/fnet/publico/visualizarDocumento?id=1192614</a:t>
            </a:r>
          </a:p>
          <a:p>
            <a:r>
              <a:t>CNPJ 55563624000109 · Originador e endossante · Excerto da fonte:</a:t>
            </a:r>
          </a:p>
          <a:p>
            <a:r>
              <a:t>Classe, na forma da regulamentação aplicável, observado que os prestadores de serviços eventualmente  subcontratados não podem ser, em relação à Classe, o originador, cedente, o GESTOR, consultoria especializada  ou partes a eles relacionadas, tais como definidas nas regras contábeis que tratam desse assunto.</a:t>
            </a:r>
          </a:p>
          <a:p>
            <a:r>
              <a:t>CNPJ 55563624000109 · Originador e endossante · Condição: Documentos atuais selecionados no inventário por categoria/escopo; a data documental isolada não comprova vigência jurídica.</a:t>
            </a:r>
          </a:p>
          <a:p>
            <a:r>
              <a:t>CNPJ 55563624000109 · Originador e endossante · Versão e prevalência: Documentos atuais selecionados no inventário por categoria/escopo; a data documental isolada não comprova vigência jurídica.</a:t>
            </a:r>
          </a:p>
          <a:p>
            <a:r>
              <a:t>CNPJ 55563624000109 · Originador e endossante · Resumo do histórico: {"count": 3, "dates": ["2025-01-31", "2026-01-31", "2026-04-30"], "document_count": 3, "sources": [{"document_id": "1192614", "title": "Regulamento", "reference_date": "2026-04-30", "version": "1", "page": "11", "url": "https://fnet.bmfbovespa.com.br/fnet/publico/visualizarDocumento?id=1192614", "sha256": "f56e63ace0acde41d2f47fb48f1ac7f3f7df5e2d32de092d7c5e075a52516632"}, {"document_id": "1178840", "title": "Demonstrações Financeiras", "reference_date": "2026-01-31", "version": "1", "page": 16, "url": "https://fnet.bmfbovespa.com.br/fnet/publico/visualizarDocumento?id=1178840", "sha256": "c458e98664c5c907ddb5a05a94b120bed4e05295b2bfc420f5ba69af0a229abe"}, {"document_id": "891861", "title": "Demonstrações Financeiras", "reference_date": "2025-01-31", "version": "1", "page": 16, "url": "https://fnet.bmfbovespa.com.br/fnet/publico/visualizarDocumento?id=891861", "sha256": "e9cb9e6ddbe505fe068cfcac33605165a98313489de0d3ce6d4d238263c3f3e7"}], "reference": {"path": "history/55563624000109.json", "criterion_id": "originator", "total_count": 3, "preview_count": 3, "full_text_deferred": true, "sha256": "7835d573fb58a3c19adf5b8ecc2aee2bdbb9a88f7a0c0209b5f262b64c7522e3"}}</a:t>
            </a:r>
          </a:p>
          <a:p>
            <a:r>
              <a:t>CNPJ 62552447000120 · Originador e endossante · Regulamento · ID 1200623 · 21/05/2026 · versão Consolidado21/05/2026 aprovado pelo ato1200625 · p. 12 · AnexoI4.4.1(i) · https://fnet.bmfbovespa.com.br/fnet/publico/visualizarDocumento?id=1200623</a:t>
            </a:r>
          </a:p>
          <a:p>
            <a:r>
              <a:t>CNPJ 62552447000120 · Originador e endossante · Excerto da fonte:</a:t>
            </a:r>
          </a:p>
          <a:p>
            <a:r>
              <a:t>BANCO VR S.A., instituição f inanceira, com sede no município e Estado de São Paulo, na Av. Dos Bandeirantes, n.º 460, Brooklin Paulista, CEP 04553-900, inscrita no CNPJ sob o n.º 78.626.983/0001- 63, ou qualquer outra sociedade do mesmo grupo econômico, na qualidade de endossante (“Endossante”), acompanhados de todos os direitos, privilégios, pref erências, prerrogativas, ações e garantias assegurados aos seus titulares; (ii) da subscrição de títulos de crédito e/ou valores mobiliários, incluindo, mas não se</a:t>
            </a:r>
          </a:p>
          <a:p>
            <a:r>
              <a:t>CNPJ 62552447000120 · Originador e endossante · Regulamento · ID 1200623 · 21/05/2026 · versão Consolidado21/05/2026 aprovado pelo ato1200625 · p. 29 · AnexoI12.14 · https://fnet.bmfbovespa.com.br/fnet/publico/visualizarDocumento?id=1200623</a:t>
            </a:r>
          </a:p>
          <a:p>
            <a:r>
              <a:t>CNPJ 62552447000120 · Originador e endossante · Excerto da fonte:</a:t>
            </a:r>
          </a:p>
          <a:p>
            <a:r>
              <a:t>VR BENEFÍCIOS E SERVIÇOS DE PROCESSAMENTO S.A., sociedade anônima com sede no município e Estado de São Paulo, na Av. dos Bandeirantes, n.º 460, Brooklin Paulista, CEP 04553-900, inscrita no CNPJ sob o n.º 02.535.864/0004-86 (“Agente de Retenção e Cobrança” ou “Originador”), para os serviços de retenção de Direitos Creditórios e de cobrança de Direitos Creditórios Inadimplidos, de acordo com os contratos de prestação de serviços de retenção e cobrança celebrados entre o Agente de Retenção e Cobrança e a Classe (“Contratos de Retenção/Cobrança”). 12.15 O Agente de Retenção e Cobrança poderá, às expensas da Classe,</a:t>
            </a:r>
          </a:p>
          <a:p>
            <a:r>
              <a:t>CNPJ 62552447000120 · Originador e endossante · Versão e prevalência: Leitura específica das cláusulas indicadas; condições e conflitos preservados. Seleção documental atual não comprova vigência jurídica por data isolada.</a:t>
            </a:r>
          </a:p>
          <a:p>
            <a:r>
              <a:t>CNPJ 63953620000165 · Originador e endossante · Anexo ao Regulamento · ID 1222863 · 02/06/2026 · versão AnexoConsignadoPrivado02/06/2026 · p. 5 · 4.3–4.4 · https://fnet.bmfbovespa.com.br/fnet/publico/visualizarDocumento?id=1222863</a:t>
            </a:r>
          </a:p>
          <a:p>
            <a:r>
              <a:t>CNPJ 63953620000165 · Originador e endossante · Excerto da fonte:</a:t>
            </a:r>
          </a:p>
          <a:p>
            <a:r>
              <a:t>4.3 Os Direitos Creditórios serão adquiridos pela Classe por meio: (i) contratos de promessa de endosso e/ou termos de endosso (“Contratos de Endosso”) firmados entre a Classe e a Parati Crédito, Financiamento e Investimento S.A., instituição financeira constituída na forma de uma sociedade por ações, com sede na cidade de Vitória, estado do Espírito Santo, na Avenida Nossa Senhora da Penha, 699, torre A, conjuntos 404 a 407, Santa Lúcia, CEP 29.056-250, inscrita no CNPJ sob nº 03.311.443/0001-91 (“Endossante” ou “Cedente”), acompanhados de todos os direitos, privilégios, preferências, prerrogativas, ações e garantias asse</a:t>
            </a:r>
          </a:p>
          <a:p>
            <a:r>
              <a:t>CNPJ 63953620000165 · Originador e endossante · Anexo ao Regulamento · ID 1222863 · 02/06/2026 · versão AnexoConsignadoPrivado02/06/2026 · p. 19 · 12.6 · https://fnet.bmfbovespa.com.br/fnet/publico/visualizarDocumento?id=1222863</a:t>
            </a:r>
          </a:p>
          <a:p>
            <a:r>
              <a:t>CNPJ 63953620000165 · Originador e endossante · Excerto da fonte:</a:t>
            </a:r>
          </a:p>
          <a:p>
            <a:r>
              <a:t>12.6 A Classe contratou a Tudo Serviços S.A., sociedade anônima, com sede no município de Fortaleza, Estado do Ceará, na Avenida Senador Virgulo Távora, nº 303, Lojas 02, 03, 04, 05, 06 e 19, Meireles, CEP 60.170-265, inscrita no CNPJ sob o nº 27.852.506/0001-85, cujos deveres, sem prejuízo daqueles estabelecidos neste Regulamento, no “Contrato de Serviços de Retenção e Cobrança e Outras Avenças”, celebrado entre o Agente de Retenção/Cobrança e a Classe (“Contrato de Serviços MT”) e no Contrato de Endosso, consistirão no monitoramento e cobrança dos Direitos Creditórios Inadimplidos, observado o disposto neste Anexo I e na</a:t>
            </a:r>
          </a:p>
          <a:p>
            <a:r>
              <a:t>CNPJ 63953620000165 · Originador e endossante · Condição: Nomeação nominal atual da classe; distinta da origem histórica dos ativos recebidos por cisão de outros veículos.</a:t>
            </a:r>
          </a:p>
          <a:p>
            <a:r>
              <a:t>CNPJ 63953620000165 · Originador e endossante · Versão e prevalência: Leitura específica das cláusulas indicadas; condições e conflitos preservados. Seleção documental atual não comprova vigência jurídica por data isolada.</a:t>
            </a:r>
          </a:p>
          <a:p>
            <a:r>
              <a:t>CNPJ 63953620000165 · Originador e endossante · Resumo do histórico: {"count": 8, "dates": ["2026-04-28", "2026-05-08", "2026-05-15"], "document_count": 3, "sources": [{"document_id": "1327859", "title": "Demonstrações Financeiras - Fusão, cisão e incorporação", "reference_date": "2026-05-15", "version": "1", "page": 23, "url": "https://fnet.bmfbovespa.com.br/fnet/publico/visualizarDocumento?id=1327859", "sha256": "dca1c68babb97f887528c3e2e47596a9c30f507b067981a35655b2f2da9c8054"}, {"document_id": "1298691", "title": "Demonstrações Financeiras - Fusão, cisão e incorporação", "reference_date": "2026-05-08", "version": "1", "page": 24, "url": "https://fnet.bmfbovespa.com.br/fnet/publico/visualizarDocumento?id=1298691", "sha256": "58c570d9b8d4d265330d3db3ea81c435b8e44a6dab4002aa37790652a1ee9819"}, {"document_id": "1282180", "title": "Demonstrações Financeiras - Fusão, cisão e incorporação", "reference_date": "2026-04-28", "version": "1", "page": 24, "url": "https://fnet.bmfbovespa.com.br/fnet/publico/visualizarDocumento?id=1282180", "sha256": "afaaa0e6809be4385e5bdb6c911aac582032c5bdbac3d7750234bf9eaf00438a"}], "reference": {"path": "history/63953620000165.json", "criterion_id": "originator", "total_count": 8, "preview_count": 3, "full_text_deferred": true, "sha256": "a7b89077f5e21098c2d601c303faabc3ff6b9729f89d8afecdc60fe1404720c1"}}</a:t>
            </a:r>
          </a:p>
          <a:p>
            <a:r>
              <a:t>CNPJ 54871427000194 · Devedor e consignação · Regulamento · ID 670691 · 2024-04-28 · versão 1 · p. 29 · https://fnet.bmfbovespa.com.br/fnet/publico/visualizarDocumento?id=670691</a:t>
            </a:r>
          </a:p>
          <a:p>
            <a:r>
              <a:t>CNPJ 54871427000194 · Devedor e consignação · Excerto da fonte:</a:t>
            </a:r>
          </a:p>
          <a:p>
            <a:r>
              <a:t>Anexo I ao Regulamento CLASSE ÚNICA DE RESPONSABILIDADE LIMITADA DO CONSIGNADO DELTA RECEIVABLES I FUNDO DE INVESTIMENTO EM DIREITOS CREDITÓRIOS  pelo Endossante e depositados em seu conta de sua titularidade para posterior repasse à  Classe. Neste caso, a Classe poderá sofrer perdas principalmente em relação ao atraso na  regularização da titularidade e pagamento dos Direitos Creditórios.</a:t>
            </a:r>
          </a:p>
          <a:p>
            <a:r>
              <a:t> (v) Risco de pré-pagamento dos Direitos Creditórios. A ocorrência de pré-  pagamentos em relação a um ou mais Direitos Creditórios poderá ocasionar perdas à Classe.</a:t>
            </a:r>
          </a:p>
          <a:p>
            <a:r>
              <a:t> A ocorrência de pré-pagamentos (pagamento em data anterior àquela originalmente pactuada)  de Direitos Creditórios reduz o horizonte original de rendimentos esperados pela Classe de  tais Direitos Creditórios, uma vez que o pré-pagamento poderá, se assim permitido pela  documentação do Direito Creditório ou, conf orme o caso, pela legislação aplicável, ser  realizado pelo valor de emissão do Direito Creditório atualizado até a data do pré-pagamento  pela taxa de juros pactuada entre os Endossantes e os Devedores de tais Direitos Creditórios,  de modo que os juros remuneratórios incidentes desde a data da realização do pré-pagamento  até a data de vencimento do respectivo Direito Creditório deixam de ser devidos à Classe.</a:t>
            </a:r>
          </a:p>
          <a:p>
            <a:r>
              <a:t> (vi) Riscos associados aos Devedores: os Direitos Creditórios a serem cedidos à  Classe serão descontados da remuneração do Devedor, através de desconto em f olha de  pagamento ou de benefício. Nesse sentido, na ocorrência de pré-pagamento, as parcelas  serão pagas antecipadamente e a Classe deverá utilizar tais montantes no pré-pagamento dos  Direitos Creditórios. Nesta hipótese, a Classe poderá não encontrar Direitos Creditórios  disponíveis para serem adquiridos pela Classe, o que poderá afetar a rentabilidade da Classe.</a:t>
            </a:r>
          </a:p>
          <a:p>
            <a:r>
              <a:t> (vii) Risco de Competição: o mercado de empréstimos experimentou grande  expansão no Brasil nos últimos anos. Nesse contexto, a Resolução CMN nº 4.292, alterada  pela Resolução nº 4.762, de 27 de novembro de 2019, dispõe que deve ser garantido às  pessoas naturais devedoras de operações de crédito (tais como as CCB) a possibilidade de  realizarem a portabilidade destas operações para outras instituições financeiras, inclusive nos  casos em que tenham sido objeto de cessão (tais como as realizadas à Classe). Nesse  cenário, é possível que os competidores do Endossante ofereçam condições e taxas mais  vantajosas para os empréstimos pessoais com consignação em f olha de pagamento ou de  benef ícios, o que pode causar a migração de clientes da Endossante para outras instituições  f inanceiras, gerando a liquidação antecipada de parte das CCB existentes e/ou redução no  número de Direitos Creditórios cedidos. Referida competição poderá af etar os resultados da  Classe, impactando negativamente os rendimentos dos Cotistas. Ainda, a portabilidade a um  Devedor pode acarretar no recebimento de valores inf eriores aos esperados pela Classe.</a:t>
            </a:r>
          </a:p>
          <a:p>
            <a:r>
              <a:t> (viii) Insuf iciência dos Critérios de Elegibilidade. Os Critérios de Elegibilidade têm a  f inalidade de selecionar os Direitos Creditórios passíveis de aquisição pela Classe. Não  obstante tais Critérios de Elegibilidade, a solvência dos Direitos Creditórios que compõem a  Carteira depende integralmente, mas não somente, da situação econômico-financeira dos  Devedores. Dessa f orma, a observância pelo GESTOR dos Critérios de Elegibilidade não  constitui garantia de adimplência dos Devedores.</a:t>
            </a:r>
          </a:p>
          <a:p>
            <a:r>
              <a:t> Os Endossantes não necessariamente garantem a solvência dos seus respectivos Devedores.</a:t>
            </a:r>
          </a:p>
          <a:p>
            <a:r>
              <a:t> O Endossante dos Direitos Creditórios não assumirá responsabilidade pelo seu pagamento ou  pela solvência dos respectivos Devedores. A Classe sofrerá o impacto do inadimplemento dos  Direitos Creditórios vencidos e não pagos pelos respectivos Devedores.</a:t>
            </a:r>
          </a:p>
          <a:p>
            <a:r>
              <a:t> (ix) Possibilidade de aquisição de Direitos Creditórios cedidos por Endossante  e/ou devidos por Devedores cujas demonstrações financeiras não sejam auditadas. A Classe,  desde que sejam respeitados os limites de concentração previstos neste Regulamento, poderá  manter a qualquer tempo em sua Carteira, Direitos Creditórios cedidos por Endossante e/ou  devidos por Devedores cujas demonstrações f inanceiras não sejam auditadas por Auditor  Independente registrado na CVM. Nesse sentido, não haverá verificação independente sobre  tais demonstrações f inanceiras que af irme se estas representam adequadamente, em todos  os aspectos relevantes, as respectivas posições patrimoniais e f inanceiras, os resultados de  suas operações, as mutações de seus respectivos patrimônios líquidos tampouco as origens  e aplicações de seus recursos.</a:t>
            </a:r>
          </a:p>
          <a:p>
            <a:r>
              <a:t>CNPJ 54871427000194 · Devedor e consignação · Regulamento · ID 670691 · 2024-04-28 · versão 1 · p. 27 · 14.2 · https://fnet.bmfbovespa.com.br/fnet/publico/visualizarDocumento?id=670691</a:t>
            </a:r>
          </a:p>
          <a:p>
            <a:r>
              <a:t>CNPJ 54871427000194 · Devedor e consignação · Excerto da fonte:</a:t>
            </a:r>
          </a:p>
          <a:p>
            <a:r>
              <a:t>14.2 Todos os custos e despesas ref eridos neste Capítulo, inclusive para salvaguarda de direitos e  prerrogativas da Classe e/ou com a cobrança judicial e/ou extrajudicial de Direitos Creditórios  Inadimplidos, serão de inteira responsabilidade da Classe, não estando o ADMINISTRADOR, o  GESTOR, o Endossante, os Devedores, o CUSTODIANTE e quaisquer de suas respectivas pessoas  controladoras, sociedades por estes direta ou indiretamente controladas, a estes coligadas ou outras  sociedades sob controle comum, em conjunto ou isoladamente, obrigados pelo adiantamento ou  pagamento de valores relacionados aos procedimentos ref eridos neste Capítulo.</a:t>
            </a:r>
          </a:p>
          <a:p>
            <a:r>
              <a:t>CNPJ 54871427000194 · Devedor e consignação · Regulamento · ID 670691 · 2024-04-28 · versão 1 · p. 31 · https://fnet.bmfbovespa.com.br/fnet/publico/visualizarDocumento?id=670691</a:t>
            </a:r>
          </a:p>
          <a:p>
            <a:r>
              <a:t>CNPJ 54871427000194 · Devedor e consignação · Excerto da fonte:</a:t>
            </a:r>
          </a:p>
          <a:p>
            <a:r>
              <a:t>Anexo I ao Regulamento CLASSE ÚNICA DE RESPONSABILIDADE LIMITADA DO CONSIGNADO DELTA RECEIVABLES I FUNDO DE INVESTIMENTO EM DIREITOS CREDITÓRIOS  a resgates de suas Cotas e/ou poderá ser obrigado a se desfazer de tais Ativos Financeiros  de Liquidez em condições menos f avoráveis do que se não houvesse a ref erida situação de  f alta de liquidez.</a:t>
            </a:r>
          </a:p>
          <a:p>
            <a:r>
              <a:t> (iv) Liquidação antecipada do FUNDO ou da Classe. Observado o disposto neste  Regulamento, o FUNDO ou a Classe poderão ser liquidados antecipadamente, caso ocorra  qualquer Evento de Liquidação, ou se assim deliberado pelos Cotistas reunidos em  Assembleia Geral de Cotistas. Por este motivo, os Cotistas poderão ter seu horizonte original  de investimento reduzido e poderão não conseguir reinvestir os recursos recebidos com a  mesma remuneração buscada pela Classe, não sendo devida pela Classe, pelo  ADMINISTRADOR, pelo GESTOR ou pelo CUSTODIANTE qualquer multa ou penalidade, a  qualquer título, em decorrência desse f ato. Adicionalmente, ocorrendo qualquer uma das  hipóteses de liquidação antecipada do FUNDO ou da Classe, poderá não haver recursos  disponíveis em moeda corrente nacional para realizar o pagamento aos Cotistas, que poderão  ser pagos com os Direitos Creditórios e Ativos Financeiros de Liquidez detidos em Carteira, os  quais estão sujeitos aos riscos apontados no item (iii) acima.</a:t>
            </a:r>
          </a:p>
          <a:p>
            <a:r>
              <a:t> (v) Amortização condicionada das Cotas. A única f onte de recursos da Classe  para ef etuar o pagamento de resgate ou amortização das Cotas, conforme o caso, é a  liquidação: (i) dos Direitos Creditórios, pelos respectivos Devedores; e (ii) dos Ativos  Financeiros de Liquidez, pelas respectivas contrapartes. Após o recebimento desses recursos  e, se f or o caso, depois de esgotados todos os meios cabíveis para a cobrança, extrajudicial  ou judicial, dos referidos ativos, a Classe não disporá de quaisquer outras verbas para efetuar  o resgate ou amortização das Cotas, conforme o caso, o que poderá acarretar prejuízo aos  Cotistas.</a:t>
            </a:r>
          </a:p>
          <a:p>
            <a:r>
              <a:t> Ademais, a Classe está exposta a determinados riscos inerentes aos Direitos Creditórios e  Ativos Financeiros de Liquidez e aos mercados em que são negociados, incluindo a eventual  impossibilidade de alienar ativos em caso de necessidade, especialmente os Direitos  Creditórios, devido à inexistência de um mercado secundário ativo e organizado para a  negociação dessa espécie de ativo. Considerando-se a sujeição do resgate das Cotas à  liquidação dos Direitos Creditórios e/ou dos Ativos Financeiros de Liquidez, conforme descrito  acima, tanto o ADMINISTRADOR quanto o GESTOR e o CUSTODIANTE estão  impossibilitados de assegurar que os resgates das Cotas ocorrerão nas datas originalmente  previstas, não sendo devido, nesta hipótese, pela Classe ou qualquer outra pessoa, incluindo  o ADMINISTRADOR, o GESTOR e o CUSTODIANTE, qualquer multa ou penalidade, de  qualquer natureza.</a:t>
            </a:r>
          </a:p>
          <a:p>
            <a:r>
              <a:t> (vi) Ausência de classificação de risco das Cotas e Política de Investimentos  genérica. A ausência de requisitos rígidos relacionados aos Direitos Creditórios passíveis de  aquisição pela Classe poderá dificultar a def inição do perfil de risco da Carteira, af etando a  capacidade de o Cotista avaliar o risco de seu invest imento. As Cotas não possuem  classificação de risco emitida por Agência Classificadora de Risco. Esses f atores podem  dif icultar a avaliação, por parte dos investidores, da qualidade do crédito representado pelas  Cotas e com a capacidade da Classe em honrar com os pagamentos das Cotas.</a:t>
            </a:r>
          </a:p>
          <a:p>
            <a:r>
              <a:t>CNPJ 54871427000194 · Devedor e consignação · Condição: Documentos atuais selecionados no inventário por categoria/escopo; a data documental isolada não comprova vigência jurídica.</a:t>
            </a:r>
          </a:p>
          <a:p>
            <a:r>
              <a:t>CNPJ 54871427000194 · Devedor e consignação · Versão e prevalência: Documentos atuais selecionados no inventário por categoria/escopo; a data documental isolada não comprova vigência jurídica.</a:t>
            </a:r>
          </a:p>
          <a:p>
            <a:r>
              <a:t>CNPJ 54871427000194 · Devedor e consignação · Resumo do histórico: {"count": 2, "dates": ["2024-04-19", "2024-04-28"], "document_count": 2, "sources": [{"document_id": "670691", "title": "Regulamento", "reference_date": "2024-04-28", "version": "1", "page": "38", "url": "https://fnet.bmfbovespa.com.br/fnet/publico/visualizarDocumento?id=670691", "sha256": "bf16dd7f1a62d5cdbf2e2d54fef81783783f7310fbc99c3a8f00459bdf9d037b"}, {"document_id": "670689", "title": "Regulamento", "reference_date": "2024-04-19", "version": "1", "page": 30, "url": "https://fnet.bmfbovespa.com.br/fnet/publico/visualizarDocumento?id=670689", "sha256": "891bc9bc5d87bbc02ec139077a84d2702eb81ea02035fb71d24f5b8366b94a0b"}], "reference": {"path": "history/54871427000194.json", "criterion_id": "debtor", "total_count": 2, "preview_count": 2, "full_text_deferred": true, "sha256": "35d7cd99be50c7287c9fb675cf4f2e736002315295a225a9efa79c8d9186d874"}}</a:t>
            </a:r>
          </a:p>
          <a:p>
            <a:r>
              <a:t>CNPJ 60010416000112 · Devedor e consignação · Regulamento · ID 1051393 · 2025-10-09 · versão 1 · p. 35 · 15.1.4 · https://fnet.bmfbovespa.com.br/fnet/publico/visualizarDocumento?id=1051393</a:t>
            </a:r>
          </a:p>
          <a:p>
            <a:r>
              <a:t>CNPJ 60010416000112 · Devedor e consignação · Excerto da fonte:</a:t>
            </a:r>
          </a:p>
          <a:p>
            <a:r>
              <a:t>15.1.4 Riscos específicos</a:t>
            </a:r>
          </a:p>
          <a:p>
            <a:r>
              <a:t> (i)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 icar inadimplente e,  consequentemente, não haverá repasse à Classe do respectivo Direito Creditório, o que  poderá resultar em perdas f inanceiras à Classe e aos Cotistas.</a:t>
            </a:r>
          </a:p>
          <a:p>
            <a:r>
              <a:t> (ii) Risco do Empregador não efetuar o desconto em folha: o repasse dos recursos oriundos  dos Direitos Creditórios à Classe depende da realização, pelo Empregador, da Escrituração e  do desconto na respectiva f olha de pagamento do Devedor. Na hipótese do Empregador  deixar de realizar a Escrituração ou os descontos na folha de pagamento, não haverá repasse  de recursos à Classe, podendo causar prejuízos à Classe e aos Cotistas.</a:t>
            </a:r>
          </a:p>
          <a:p>
            <a:r>
              <a:t> (iii) Risco de perda do vínculo empregatício com o Empregador: caso o Devedor perca o  vínculo empregatício com o Empregador, não haverá remuneração e f olha de pagamento para  realização dos descontos para pagamento dos Direitos Creditórios. Neste caso, não obstante  a possibilidade do Agente de Retenção/Cobrança realizar a cobrança ativa dos Direitos  Creditórios diretamente do Devedor, a ausência de remuneração poderá deixar o Devedor  inadimplente perante a Classe até que o seu vínculo empregatício seja retomado e seja  ef etuado o procedimento operacional para que a CCB seja aditada e/ou seja realizado o  Processo de Reinicialização. Tais situações poderão resultar em prejuízos à Classe e aos  Cotistas.</a:t>
            </a:r>
          </a:p>
          <a:p>
            <a:r>
              <a:t>CNPJ 60010416000112 · Devedor e consignação · Regulamento · ID 1051393 · 2025-10-09 · versão 1 · p. 36 · https://fnet.bmfbovespa.com.br/fnet/publico/visualizarDocumento?id=1051393</a:t>
            </a:r>
          </a:p>
          <a:p>
            <a:r>
              <a:t>CNPJ 60010416000112 · Devedor e consignação · Excerto da fonte:</a:t>
            </a:r>
          </a:p>
          <a:p>
            <a:r>
              <a:t>Anexo I ao Regulamento CLASSE ÚNICA DO MT I CONSIGNADO PRIVADO I FUNDO DE INVESTIMENTO EM DIREITOS CREDITÓRIOS RESPONSABILIDADE LIMITADA  a qualquer momento, os recursos decorrentes dos Direitos Creditórios.</a:t>
            </a:r>
          </a:p>
          <a:p>
            <a:r>
              <a:t> (iii) Risco de validação das informações para conciliação e reconciliação dos Direitos  Creditórios adquiridos pela Classe: as inf ormações para conciliação dos pagamentos,  sendo considerado como tal, também, o Arquivo Dataprev, listando todos os empregados  cujas f olhas de pagamento serão sujeitas a desconto no mês relevante, nos valores acordados  ao ef etuar a Consignação, e qualquer glosa será enviada pela CEF ao Endossante, que  ef etuará a conciliação e, posteriormente, enviará as inf ormações ao Custodiante. Caso o  Endossante não f orneça essas inf ormações em tempo hábil ou f or verif icada qualquer  inconsistência nas informações recebidas pelo Custodiante, poderá isso impedir ou dar origem  a f alhas no processo de reconciliação dos valores depositados na Conta de Cobrança da  Classe e causando perdas à Classe e ao Cotista.</a:t>
            </a:r>
          </a:p>
          <a:p>
            <a:r>
              <a:t> (iv) Risco operacional dos sistemas: o desconto na f olha de pagamento do Devedor das  parcelas da CCB e a transf erência para o Endossante dos Direitos Creditórios serão  processados por um sistema controlado pela Dataprev, e o Endossante, o Administrador ou o  Gestor não têm controle sobre esse processo. Assim, qualquer f alha ou mudança nesse  sistema poderá atrasar ou reduzir o desconto dos rendimentos dos Devedores ou sua  transf erência para a Classe. Nesse caso, a rentabilidade e a propriedade da Classe poderão  ser adversamente af etadas enquanto o problema do sistema persistir, ou até que todos os  valores sejam devidamente transf eridos.</a:t>
            </a:r>
          </a:p>
          <a:p>
            <a:r>
              <a:t> (v) Risco operacional do Contrato: o desconto na f olha de pagamento das parcelas dos  empréstimos concedidos aos Devedores é permitido pelo Convênio Consignado Privado. As  partes do Convênio Consignado Privado devem seguir certas regras para manter o Convênio  Consignado Privado, e a violação delas poderá levar à sua rescisão. Além disso, mudanças  legais podem af etar e/ou tornar inviável a manutenção do Convênio Consignado Privado.</a:t>
            </a:r>
          </a:p>
          <a:p>
            <a:r>
              <a:t> No caso de rescisão do Convênio Consignado Privado, a estrutura de cobrança dos Direitos  Creditórios (desconto na f olha de pagamento) poderá ser comprometida, dando origem à  necessidade de adoção de uma nova estrutura, que poderá não ser tão eficaz quanto ela ou  mesmo revelar, na prática, ser inadequada ou ter altos custos operacionais. Esses eventos  podem levar a perdas patrimoniais para a Classe, na medida em que este deixará de receber,  def initiva ou temporariamente, recursos oriundos dos Direitos Creditórios, no todo ou em parte.</a:t>
            </a:r>
          </a:p>
          <a:p>
            <a:r>
              <a:t> Adicionalmente, de acordo com o Contrato de Endosso, a manutenção do Convênio  Consignado Privado é uma condição para a aquisição de novos Direitos Creditórios pela  Classe e, portanto, no caso de rescisão do Convênio Consignado Privado, a Classe poderá  ser impedido de adquirir novos Direitos Creditórios.</a:t>
            </a:r>
          </a:p>
          <a:p>
            <a:r>
              <a:t>CNPJ 60010416000112 · Devedor e consignação · Regulamento · ID 1051393 · 2025-10-09 · versão 1 · p. 31 · 13.2 · https://fnet.bmfbovespa.com.br/fnet/publico/visualizarDocumento?id=1051393</a:t>
            </a:r>
          </a:p>
          <a:p>
            <a:r>
              <a:t>CNPJ 60010416000112 · Devedor e consignação · Excerto da fonte:</a:t>
            </a:r>
          </a:p>
          <a:p>
            <a:r>
              <a:t>13.2 Todos os custos e despesas ref eridos neste Capítulo, inclusive para salvaguarda de direitos e  prerrogativas da Classe e/ou com a cobrança judicial e/ou extrajudicial de Direitos Creditórios Inadimplidos  ou Direitos Creditórios a Perf ormar, serão de inteira responsabilidade da Classe, não estando o  Administrador, o Gestor, o Endossante, os Devedores, o Custodiante e quaisquer de suas respectivas  pessoas controladoras, sociedades por estes direta ou indiretamente controladas, a estes coligadas ou  outras sociedades sob controle comum, em conjunto ou isoladamente, obrigados pelo adiantamento ou  pagamento de valores relacionados aos procedimentos ref eridos neste Capítulo.</a:t>
            </a:r>
          </a:p>
          <a:p>
            <a:r>
              <a:t>CNPJ 60010416000112 · Devedor e consignação · Condição: Documentos atuais selecionados no inventário por categoria/escopo; a data documental isolada não comprova vigência jurídica.</a:t>
            </a:r>
          </a:p>
          <a:p>
            <a:r>
              <a:t>CNPJ 60010416000112 · Devedor e consignação · Versão e prevalência: Documentos atuais selecionados no inventário por categoria/escopo; a data documental isolada não comprova vigência jurídica.</a:t>
            </a:r>
          </a:p>
          <a:p>
            <a:r>
              <a:t>CNPJ 60010416000112 · Devedor e consignação · Resumo do histórico: {"count": 2, "dates": ["2025-03-20", "2025-10-09"], "document_count": 2, "sources": [{"document_id": "1051393", "title": "Regulamento", "reference_date": "2025-10-09", "version": "1", "page": "9-10, 42", "url": "https://fnet.bmfbovespa.com.br/fnet/publico/visualizarDocumento?id=1051393", "sha256": "8469d613078ffd5a6c1d217885d8a397a16342c0b937ae4aa24b106505f233ae"}, {"document_id": "993786", "title": "Regulamento", "reference_date": "2025-03-20", "version": "1", "page": 35, "clause": "15.1.4", "url": "https://fnet.bmfbovespa.com.br/fnet/publico/visualizarDocumento?id=993786", "sha256": "fd0fdd369a195510d81f81f505195a0b09e5f43522a990afa7d58c4f872921c8"}], "reference": {"path": "history/60010416000112.json", "criterion_id": "debtor", "total_count": 2, "preview_count": 2, "full_text_deferred": true, "sha256": "8e2bd813f4c51cf01f6bfaad164bafe69d2bbb192f753eac92da3a01c2e63046"}}</a:t>
            </a:r>
          </a:p>
          <a:p>
            <a:r>
              <a:t>CNPJ 62696791000193 · Devedor e consignação · Regulamento · ID 1143317 · 2026-03-20 · versão 1 · p. 47 · 10.2 · https://fnet.bmfbovespa.com.br/fnet/publico/visualizarDocumento?id=1143317</a:t>
            </a:r>
          </a:p>
          <a:p>
            <a:r>
              <a:t>CNPJ 62696791000193 · Devedor e consignação · Excerto da fonte:</a:t>
            </a:r>
          </a:p>
          <a:p>
            <a:r>
              <a:t>10.2. As mudanças climáticas podem impactar severamente os ciclos produtivos de commodities  agrícolas, ocasionando, quebras de saf ra, volatilidade de preços, choques de of erta,  deterioração da qualidade dos produtos por elas atingidos, bem como interrupção no  abastecimento destes. Ref eridas mudanças podem af etar adversamente a capacidade  produtiva e de entrega dos produtos agrícolas pelos devedores, cenário este que impactará  negativamente a capacidade de pagamento dos Ativos-Alvo integrantes da carteira da Classe  pelos devedores e, conforme o caso, pelas pessoas devedoras dos bens e direitos onerados  em f avor da Classe.</a:t>
            </a:r>
          </a:p>
          <a:p>
            <a:r>
              <a:t>CNPJ 62696791000193 · Devedor e consignação · Condição: Documentos atuais selecionados no inventário por categoria/escopo; a data documental isolada não comprova vigência jurídica.</a:t>
            </a:r>
          </a:p>
          <a:p>
            <a:r>
              <a:t>CNPJ 62696791000193 · Devedor e consignação · Versão e prevalência: Documentos atuais selecionados no inventário por categoria/escopo; a data documental isolada não comprova vigência jurídica.</a:t>
            </a:r>
          </a:p>
          <a:p>
            <a:r>
              <a:t>CNPJ 55563624000109 · Devedor e consignação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Devedor e consignação · Resumo do histórico: {"count": 1, "dates": ["2026-04-30"], "document_count": 1, "sources": [{"document_id": "1192614", "title": "Regulamento", "reference_date": "2026-04-30", "version": "1", "page": "11-12", "url": "https://fnet.bmfbovespa.com.br/fnet/publico/visualizarDocumento?id=1192614", "sha256": "f56e63ace0acde41d2f47fb48f1ac7f3f7df5e2d32de092d7c5e075a52516632"}], "reference": {"path": "history/55563624000109.json", "criterion_id": "debtor", "total_count": 1, "preview_count": 1, "full_text_deferred": true, "sha256": "7835d573fb58a3c19adf5b8ecc2aee2bdbb9a88f7a0c0209b5f262b64c7522e3"}}</a:t>
            </a:r>
          </a:p>
          <a:p>
            <a:r>
              <a:t>CNPJ 62552447000120 · Devedor e consignação · Regulamento · ID 1200623 · 2026-05-21 · versão 1 · p. 35 · https://fnet.bmfbovespa.com.br/fnet/publico/visualizarDocumento?id=1200623</a:t>
            </a:r>
          </a:p>
          <a:p>
            <a:r>
              <a:t>CNPJ 62552447000120 · Devedor e consignação · Excerto da fonte:</a:t>
            </a:r>
          </a:p>
          <a:p>
            <a:r>
              <a:t>ativos desses emissores, causando perdas à Classe e ao Cotista. Além disso, a f alta de capacidade ou disposição de pagar por qualquer dos emissores dos Ativos Financeiros de Liquidez ou das contrapartes nas transações que compõem a Carteira causará perdas à Classe, e o que também poderá incorrer em custos para f ins de recuperação de seus recebíveis.</a:t>
            </a:r>
          </a:p>
          <a:p>
            <a:r>
              <a:t>(v) Riscos associados aos Devedores: no caso de Devedores no âmbito das operações de consignado privado, a sua capacidade de pagamento poderá ser af etada se, por exemplo, o Devedor tiver o seu contrato de emprego rescindido ou em virtude de decisão judicial, o Devedor for obrigado a pagar alimentos, que têm prioridade sobre o empréstimo para f ins de desconto na f 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 etar a rentabilidade da Classe. Já no caso de Devedores no âmbito das operações de Saque-aniversário, como os Direitos Creditórios a serem endossados à Classe serão descontados pelo FGTS da remuneração do Devedor, na ocorrência de qualquer evento que, nos termos da legislação aplicável, determine o pagamento antecipado do Saque-aniversário ao Devedor, a exemplo do falecimento do Devedor, dentre outros, as parcelas do Saque- aniversário serão pagas antecipadamente e a Classe deverá utilizar tais montantes no pré-pagamento dos Direitos Creditórios. Nesta hipótese, a Classe poderá não encontrar Direitos Creditórios disponíveis para serem adquiridos pela Classe, o que poderá af etar a rentabilidade da Classe.</a:t>
            </a:r>
          </a:p>
          <a:p>
            <a:r>
              <a:t>Risco de liquidez</a:t>
            </a:r>
          </a:p>
          <a:p>
            <a:r>
              <a:t>(i) Risco de liquidez: consiste no risco de redução ou inexistência de demanda pelos ativos que compõem a Classe nos respectivos mercados em que são negociados, devido às condições específicas desses ativos ou aos mercados em que são negociados. Devido a esses riscos, o Gestor poderá encontrar dificuldades em liquidar posições ou negociar esses ativos pelo preço e prazo desejados, de acordo com a estratégia de gestão adotada pela Classe, que permanecerá exposto, durante o período de baixa liquidez, aos riscos associados a esses ativos e posições assumidas em mercados de derivativos, se houver, que poderão até exigir que o Gestor aceite descontos em seus preços para realizar negociações no mercado. Esses f atores poderão prejudicar o pagamento de Amortizações ao Cotista, nos valores e dentro dos termos aqui estabelecidos.</a:t>
            </a:r>
          </a:p>
          <a:p>
            <a:r>
              <a:t>(ii) Riscos do mercado secundário: A Classe é constituída sob a f orma de condomínio fechado, de modo que as Cotas somente serão resgatadas em virtude da liquidação da Classe. Uma vez que o Prazo de Duração da Classe é indeterminado, o Cotista titular das Cotas não terá liquidez em seu investimento na Classe, exceto</a:t>
            </a:r>
          </a:p>
          <a:p>
            <a:r>
              <a:t>(a) por ocasião das Amortizações e dos resgates, nos termos deste Regulamento; (b) por meio da alienação de suas Cotas no mercado secundário; ou (c) na liquidação antecipada do FUNDO ou da Classe.</a:t>
            </a:r>
          </a:p>
          <a:p>
            <a:r>
              <a:t>Além disso, atualmente, o mercado secundário de cotas de fundos de investimento apresenta baixa liquidez, o que pode dificultar a venda das Cotas ou ocasionar a obtenção de um preço de venda que cause perda de patrimônio ao Cotista. Não há qualquer garantia do Administrador, do Gestor, da consultora ou do Custodiante em relação à possibilidade de venda das Cotas no mercado secundário ou ao preço obtido por elas, ou mesmo garantia de saída ao Cotista.</a:t>
            </a:r>
          </a:p>
          <a:p>
            <a:r>
              <a:t>Riscos específicos</a:t>
            </a:r>
          </a:p>
          <a:p>
            <a:r>
              <a:t>(i)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ficar inadimplente e, consequentemente, não haverá repasse à Classe do respectivo Direito Creditório, o que poderá resultar em perdas f inanceiras à Classe e aos Cotistas. Para os f ins deste Regulamento, “Empregador” signif ica a empresa com qual o Devedor mantém vínculo empregatício registrado junto à CTPS.</a:t>
            </a:r>
          </a:p>
          <a:p>
            <a:r>
              <a:t>(ii) Risco do Empregador não efetuar o desconto em folha: o repasse dos recursos oriundos dos Direitos Creditórios à Classe depende da realização, pelo Empregador, da escrituração da Consignação a ser</a:t>
            </a:r>
          </a:p>
          <a:p>
            <a:r>
              <a:t>CNPJ 62552447000120 · Devedor e consignação · Regulamento · ID 1200623 · 2026-05-21 · versão 1 · p. 36 · https://fnet.bmfbovespa.com.br/fnet/publico/visualizarDocumento?id=1200623</a:t>
            </a:r>
          </a:p>
          <a:p>
            <a:r>
              <a:t>CNPJ 62552447000120 · Devedor e consignação · Excerto da fonte:</a:t>
            </a:r>
          </a:p>
          <a:p>
            <a:r>
              <a:t>realizada pelo empregador, junto ao eSocial, após recebimento de notificação comunicando-o da contratação, pelo Devedor, do empréstimo a ser pago por Consignação (“Escrituração”), e do desconto na respectiva folha de pagamento do Devedor. Na hipótese do Empregador deixar de realizar a Escrituração ou os descontos na f olha de pagamento, não haverá repasse de recursos à Classe, podendo causar prejuízos à Classe e aos Cotistas.</a:t>
            </a:r>
          </a:p>
          <a:p>
            <a:r>
              <a:t>(iii) Risco de perda do vínculo empregatício com o Empregador: caso o Devedor perca o vínculo empregatício com o Empregador, não haverá remuneração e f olha de pagamento para realização dos descontos para pagamento dos Direitos Creditórios. Neste caso, não obstante a possibilidade do Agente de Retenção e Cobrança realizar a cobrança ativa dos Direitos Creditórios diretamente do Devedor, a ausência de remuneração poderá deixar o Devedor inadimplente perante a Classe até que o seu vínculo empregatício seja retomado e seja efetuado o procedimento operacional para que a CCB seja aditada e/ou seja realizado o Processo de Reinicialização. Tais situações poderão resultar em prejuízos à Classe e aos Cotistas.</a:t>
            </a:r>
          </a:p>
          <a:p>
            <a:r>
              <a:t>(iv) Risco relativo ao Agente de Retenção e Cobrança: A solvência do Agente de Retenção e Cobrança quanto às suas obrigações financeiras poderá impactar o cumprimento de suas obrigações perante a Classe e, consequentemente, os rendimentos da Classe poderão ser adversamente af etados.</a:t>
            </a:r>
          </a:p>
          <a:p>
            <a:r>
              <a:t>Riscos operacionais</a:t>
            </a:r>
          </a:p>
          <a:p>
            <a:r>
              <a:t>(i) Risco de irregularidade dos Documentos Comprobatórios e/ou Documentos Suporte: o terceiro contratado pelo Gestor, que atuará sob responsabilidade do Gestor, deverá realizar a verif icação da regularidade dos Documentos Comprobatórios. A Carteira poderá conter Direitos Creditórios com documentação irregular, o que poderá impedir que a Classe exerça plenamente as prerrogativas derivadas da titularidade dos Direitos Creditórios.</a:t>
            </a:r>
          </a:p>
          <a:p>
            <a:r>
              <a:t>(ii) Risco operacional da Dataprev e da CEF: o empréstimo contraído pelos Devedores é pago por meio de desconto na f olha de pagamento f eito pela Dataprev e pela CEF, conf orme aplicável. É possível que os rendimentos dos Devedores sejam atrasados ou não pagos devido a questões operacionais envolvendo a Dataprev e/ou a CEF. Nesse caso, a Carteira poderá sofrer, já que não receberá automaticamente, e também poderá ter dificuldades para receber, a qualquer momento, os recursos decorrentes dos Direitos Creditórios.</a:t>
            </a:r>
          </a:p>
          <a:p>
            <a:r>
              <a:t>(iii) Risco operacional do FGTS: o empréstimo contraído pelos Devedores é pago por meio de desconto dos Saques-aniversário feitos pelo FGTS. É possível que os rendimentos dos Devedores sejam atrasados ou não pagos devido a questões operacionais envolvendo a CEF, incluindo, sem se limitar, a erros e atrasos operacionais envolvendo a CEF. Nesse caso, a Carteira poderá sofrer, já que não receberá automaticamente, e também poderá ter dif iculdades para receber, a qualquer momento, os recursos decorrentes dos Direitos Creditórios.</a:t>
            </a:r>
          </a:p>
          <a:p>
            <a:r>
              <a:t>(iv) Risco de validação das informações para conciliação e reconciliação dos Direitos Creditórios adquiridos pela Classe: as inf ormações para conciliação dos pagamentos, sendo considerado como tal, também, o Arquivo Dataprev e o Arquivo de Liquidação Saque-aniversário, listando todos os empregados cujas f olhas de pagamento ou Saques Aniversário serão sujeitos a desconto no mês, nos valores acordados ao ef etuar a Consignação, e qualquer glosa será enviada pela CEF ao Endossante, que efetuará a conciliação e, posteriormente, enviará as informações ao Custodiante. Caso o Endossante não forneça essas informações em tempo hábil ou for verificada qualquer inconsistência nas informações recebidas pelo Custodiante, poderá isso impedir ou dar origem a falhas no processo de reconciliação dos valores depositados na Conta da Classe e causando perdas à Classe e ao Cotista.</a:t>
            </a:r>
          </a:p>
          <a:p>
            <a:r>
              <a:t>(v) Risco operacional dos sistemas: o desconto na f olha de pagamento e/ou nos Saques Aniversário das parcelas da CCB e a transf erência para o Endossante dos Direitos Creditórios serão processados por meio da Plataforma Dataprev, e o Endossante, o Administrador ou o Gestor não têm controle sobre esse processo.</a:t>
            </a:r>
          </a:p>
          <a:p>
            <a:r>
              <a:t>Assim, qualquer falha ou mudança nesse sistema poderá atrasar ou reduzir o desconto dos rendimentos dos Devedores ou sua transferência para a Classe. Nesse caso, a rentabilidade e a propriedade da Classe poderão ser adversamente af etadas enquanto o problema do sistema persistir, ou até que todos os valores sejam devidamente transf eridos.</a:t>
            </a:r>
          </a:p>
          <a:p>
            <a:r>
              <a:t>(vi) Risco operacional: em linha com as Cláusulas 4.3.1 e 4.3.2 do Anexo I deste Regulamento, o</a:t>
            </a:r>
          </a:p>
          <a:p>
            <a:r>
              <a:t>CNPJ 62552447000120 · Devedor e consignação · Regulamento · ID 1200623 · 2026-05-21 · versão 1 · p. 5 · https://fnet.bmfbovespa.com.br/fnet/publico/visualizarDocumento?id=1200623</a:t>
            </a:r>
          </a:p>
          <a:p>
            <a:r>
              <a:t>CNPJ 62552447000120 · Devedor e consignação · Excerto da fonte:</a:t>
            </a:r>
          </a:p>
          <a:p>
            <a:r>
              <a:t>O objetivo da Classe é proporcionar aos seus Cotistas a valorização de  suas Cotas por meio da aplicação de seu Patrimônio Líquido na aquisição  de:</a:t>
            </a:r>
          </a:p>
          <a:p>
            <a:r>
              <a:t> (i) “Direitos Creditórios”, assim entendidos como, em conjunto:</a:t>
            </a:r>
          </a:p>
          <a:p>
            <a:r>
              <a:t> (a) “Direitos Creditórios Consignado Privado”, na forma de  cédulas de crédito bancário, regidas pela Lei n.º 10.931,  de 2 de agosto de 2004, conforme alterada (“CCBs”),  emitidas eletronicamente por Devedores, em f avor do  Endossante, representando um empréstimo pessoal  consignado, de forma que o pagamento ocorra mediante  desconto de cada prestação vincenda da CCB na f olha  de pagamentos do Devedor (“Consignação”);</a:t>
            </a:r>
          </a:p>
          <a:p>
            <a:r>
              <a:t> (b) “Direitos Creditórios FGTS”, na f orma de CCBs  emitidas eletronicamente por Devedores, em f avor do  Objetivo Endossante, representando um empréstimo pessoal com  garantia de cessão f iduciária dos valores a que f azem jus  os Devedores ref erentes ao saque anual permitido aos  benef iciários do Fundo de Garantia do Tempo de Serviço  (“FGTS”) em seu mês de aniversário (“Saque-  aniversário”), regulado pela Lei n.º 8.036, de 11 de maio  de 1990, conforme alterada (“Lei 8.036”), nos termos dos  arts. 20, inciso XX, 20-A, inciso II, e 20-D, § 3º, da Lei</a:t>
            </a:r>
          </a:p>
          <a:p>
            <a:r>
              <a:t> 8.036, do art. 66-B da Lei n.º 4.728, de 14 de julho de  1965, e da Resolução CC/FGTS n.º 958, de 24 de abril  de 2020, conforme alterada (“Resolução FGTS 958”), de  f orma que parte do Saque-aniversário é utilizada para  liquidar as parcelas devidas da CCB;</a:t>
            </a:r>
          </a:p>
          <a:p>
            <a:r>
              <a:t> (c) “Direitos Creditórios TVM”, na f orma de direitos, títulos  e/ou valores mobiliários representativos de créditos  originados no âmbito de operações de sociedades</a:t>
            </a:r>
          </a:p>
          <a:p>
            <a:r>
              <a:t>CNPJ 62552447000120 · Devedor e consignação · Condição: Documentos atuais selecionados no inventário por categoria/escopo; a data documental isolada não comprova vigência jurídica.</a:t>
            </a:r>
          </a:p>
          <a:p>
            <a:r>
              <a:t>CNPJ 62552447000120 · Devedor e consignação · Versão e prevalência: Documentos atuais selecionados no inventário por categoria/escopo; a data documental isolada não comprova vigência jurídica.</a:t>
            </a:r>
          </a:p>
          <a:p>
            <a:r>
              <a:t>CNPJ 63953620000165 · Devedor e consignação · Anexo ao Regulamento · ID 1222863 · 2026-06-02 · versão 1 · p. 1 · 1.1 · https://fnet.bmfbovespa.com.br/fnet/publico/visualizarDocumento?id=1222863</a:t>
            </a:r>
          </a:p>
          <a:p>
            <a:r>
              <a:t>CNPJ 63953620000165 · Devedor e consignação · Excerto da fonte:</a:t>
            </a:r>
          </a:p>
          <a:p>
            <a:r>
              <a:t>1.1 As principais características da Classe Consignado Privado (para fins deste Anexo, “Classe”) estão descritas  abaixo:</a:t>
            </a:r>
          </a:p>
          <a:p>
            <a:r>
              <a:t> Tipo de Condomínio Fechado.</a:t>
            </a:r>
          </a:p>
          <a:p>
            <a:r>
              <a:t> Indeterminado, exceto se de outra forma vier a ser deliberado pelos Cotistas  Prazo de Duração  reunidos em Assembleia Especial de Cotistas. (“Prazo de Duração”)  Tipo “Financeiro”.</a:t>
            </a:r>
          </a:p>
          <a:p>
            <a:r>
              <a:t> Classificação ANBIMA  Foco de atuação “Créditos Consignados”.</a:t>
            </a:r>
          </a:p>
          <a:p>
            <a:r>
              <a:t> O objetivo da classe é proporcionar aos seus Cotistas a valorização de suas Cotas  por meio da aplicação de seu Patrimônio Líquido (conforme definido abaixo) na  aquisição de: (i) “Direitos Creditórios Crédito Consignado”, representados por  cédula de crédito bancário regida pela Lei nº 10.931, emitida eletronicamente por  um devedor em favor do endossante (“CCB”) e, consequentemente, os recebíveis  decorrente de cada uma das parcelas vincendas, representando um empréstimo  consignado concedido pelo endossante ao devedor, e cujo pagamento ordinário  é feito por desconto de cada prestação vincenda de uma CCB na folha de  pagamentos do devedor (“Consignação”), efetuada pela Caixa Econômica  Federal, de acordo com a legislação aplicável e em conformidade com os  procedimentos estabelecidos no convênio celebrado entre o Endossante e a  Empresa de Tecnologia e Informações da Previdência – DATAPREV e paga na  Conta Vinculada do Endossante (“Convênio Consignado Privado”); e/ou (ii)  “Direitos Creditórios TVM”, representados por direitos, títulos e/ou valores  mobiliários representativos de créditos originados no âmbito de operações de  sociedades integrantes do conglomerado econômico de instituições financeiras  classificadas como S1 pelo BACEN, desde que não representem títulos de  emissão ou coobrigação de instituições financeiras, bem como cotas de fundos  de investimento que invistam preponderantemente nestes direitos, títulos e/ou  Objetivo  valores mobiliários (Direitos Creditórios TVM quando referidos em conjunto  com os Direitos Creditórios Consignado Privado, “Direitos Creditórios”)  observados todos os limites de composição e diversificação da carteira da Classe  (“Carteira”), estabelecidos neste Regulamento e na regulamentação aplicável.</a:t>
            </a:r>
          </a:p>
          <a:p>
            <a:r>
              <a:t> Subsidiariamente, a parcela do Patrimônio Líquido que não esteja alocada em  Direitos Creditórios poderá estar alocado em: (1) certificados de depósito  bancário (CDB) ou recibos de depósito bancário (RDB) com prazo máximo de  vencimento equivalente ao prazo remanescente do Período de Investimento, com  liquidez diária, emitidos por Parati Crédito, Financiamento e Investimento S.A.</a:t>
            </a:r>
          </a:p>
          <a:p>
            <a:r>
              <a:t> e/ou pelo Endossante (“Ativos de Liquidez MT”); e/ou (2) (i) moeda corrente  nacional; (ii) títulos do Tesouro SELIC, anteriormente denominado letra financeira  do Tesouro Nacional (LFT); (iii) certificados de depósito bancário (CDB) ou recibos  de depósito bancário (RDB) com prazo máximo de vencimento equivalente ao  prazo remanescente do Período de Investimento, com liquidez diária, emitidos  por (a) Itaú Unibanco S.A.; (b) Banco Bradesco S.A.; (c) Caixa Econômica Federal;</a:t>
            </a:r>
          </a:p>
          <a:p>
            <a:r>
              <a:t> (d) Banco do Brasil S.A.; (e) Banco Santander (Brasil) S.A.; (f) Banco BTG Pactual  S.A.; (g) Banco Sistema S.A. (“Instituições Autorizadas”); (iv) operações  compromissadas, desde que lastreadas nos títulos mencionados nas alíneas (i) a</a:t>
            </a:r>
          </a:p>
          <a:p>
            <a:r>
              <a:t> (iii) acima, emitidas por Instituições Autorizadas, com liquidez diária e vencimento</a:t>
            </a:r>
          </a:p>
          <a:p>
            <a:r>
              <a:t>CNPJ 63953620000165 · Devedor e consignação · Anexo ao Regulamento · ID 1222863 · 2026-06-02 · versão 1 · p. 19 · 12.6 · https://fnet.bmfbovespa.com.br/fnet/publico/visualizarDocumento?id=1222863</a:t>
            </a:r>
          </a:p>
          <a:p>
            <a:r>
              <a:t>CNPJ 63953620000165 · Devedor e consignação · Excerto da fonte:</a:t>
            </a:r>
          </a:p>
          <a:p>
            <a:r>
              <a:t>12.6 A Classe contratou a Tudo Serviços S.A., sociedade anônima, com sede no município de Fortaleza, Estado do Ceará,  na Avenida Senador Virgulo Távora, nº 303, Lojas 02, 03, 04, 05, 06 e 19, Meireles, CEP 60.170-265, inscrita no CNPJ  sob o nº 27.852.506/0001-85, cujos deveres, sem prejuízo daqueles estabelecidos neste Regulamento, no  “Contrato de Serviços de Retenção e Cobrança e Outras Avenças”, celebrado entre o Agente de  Retenção/Cobrança e a Classe (“Contrato de Serviços MT”) e no Contrato de Endosso, consistirão no  monitoramento e cobrança dos Direitos Creditórios Inadimplidos, observado o disposto neste Anexo I e na  regulamentação aplicável (“Agente de Retenção/Cobrança”):</a:t>
            </a:r>
          </a:p>
          <a:p>
            <a:r>
              <a:t> (i) caso aplicável, atuar na retenção (defesa) de operações de empréstimo consignado cujos Direitos  Creditórios sejam de titularidade da Classe, em caso de tentativa de transferência de tais operações de  empréstimo consignado por instituições proponentes, nos termos da Resolução CMN nº 5.057, em razão de  ofertas de portabilidade feitas por tais instituições proponentes, conforme informado pelo Endossante ou pelo  Custodiante ao Agente de Retenção/Cobrança, diariamente, de acordo com o Contrato de Endosso; sendo  que tal serviço deverá incluir, entre outras atividades auxiliares a ele relacionadas, a avaliação das ofertas de  portabilidade feitas pelas instituições proponentes, buscando, se for o caso, esclarecer as vantagens de não  recorrer à portabilidade, retendo a respectiva operação de empréstimo consignado em seus termos atuais;</a:t>
            </a:r>
          </a:p>
          <a:p>
            <a:r>
              <a:t> (ii) mediante inadimplemento de um Direito Creditório devido à indisponibilidade da margem de crédito do  Devedor, auxiliar o Endossante com o Processo de Reinicialização (conforme detalhado no Contrato de  Endosso) em relação ao respectivo Direito Creditório;</a:t>
            </a:r>
          </a:p>
          <a:p>
            <a:r>
              <a:t> (iii) manter e operar um serviço de atendimento ao consumidor - SAC e uma ouvidoria em conformidade  com os regulamentos aplicáveis, monitorar e resolver reclamações e solicitações de Devedores com  relação às operações de empréstimo consignado que dão origem aos Direitos Creditórios, em  conformidade com o Acordo de Parceria;</a:t>
            </a:r>
          </a:p>
          <a:p>
            <a:r>
              <a:t> (iv) realizar a cobrança dos Direitos Creditórios Inadimplidos;</a:t>
            </a:r>
          </a:p>
          <a:p>
            <a:r>
              <a:t> (v) auxiliar o Endossante na correção de qualquer irregularidade relevante identificada com relação à  originação dos Direitos Creditórios;</a:t>
            </a:r>
          </a:p>
          <a:p>
            <a:r>
              <a:t> (vi) realizar a renegociação junto aos Devedores de Direitos Creditórios Inadimplidos e, caso aplicável, celebrar  aditamento à CCB para refletir os novos termos, decorrentes da renegociação  CAPÍTULO 13 – REMUNERAÇÃO DOS PRESTADORES DE SERVIÇOS  0,05% (cinco centésimos por cento) ao ano, apropriada diariamente na base de 252  (duzentos e cinquenta e dois) Dias Úteis, e paga mensalmente até o 5º (quinto) Dia  Útil do mês subsequente ao mês que se refere, incidente sobre o Patrimônio Líquido  da Classe alocado em Direitos Creditórios Consignado Privado e/ou Ativos de  Liquidez MT, observada remuneração mínima mensal de R$ 2.500,00 (dois mil e  quinhentos reais), a ser corrigida anualmente, em janeiro de cada ano, pela variação  Taxa de Administração  positiva do Índice Geral de Preços – Mercado, divulgado pela Fundação Getúlio  Vargas (“Taxa de Administração” e “IGP-M”, respectivamente).</a:t>
            </a:r>
          </a:p>
          <a:p>
            <a:r>
              <a:t> Na hipótese de extinção do IGP-M, não divulgação ou impossibilidade de sua  utilização, será utilizado o Índice Geral de Preços – Disponibilidade Interna,  divulgado pela Fundação Getúlio Vargas, ou, na falta de ambos, pela variação do IPC  – Índice de Preços ao Consumidor, divulgado pela Fundação Instituto de Pesquisas</a:t>
            </a:r>
          </a:p>
          <a:p>
            <a:r>
              <a:t>CNPJ 63953620000165 · Devedor e consignação · Anexo ao Regulamento · ID 1222863 · 2026-06-02 · versão 1 · p. 2 · https://fnet.bmfbovespa.com.br/fnet/publico/visualizarDocumento?id=1222863</a:t>
            </a:r>
          </a:p>
          <a:p>
            <a:r>
              <a:t>CNPJ 63953620000165 · Devedor e consignação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Devedor e consignação · Condição: Documentos atuais selecionados no inventário por categoria/escopo; a data documental isolada não comprova vigência jurídica.</a:t>
            </a:r>
          </a:p>
          <a:p>
            <a:r>
              <a:t>CNPJ 63953620000165 · Devedor e consignação · Versão e prevalência: Documentos atuais selecionados no inventário por categoria/escopo; a data documental isolada não comprova vigência jurídica.</a:t>
            </a:r>
          </a:p>
          <a:p>
            <a:r>
              <a:t>CNPJ 63953620000165 · Devedor e consignação · Resumo do histórico: {"count": 8, "dates": ["2026-04-28", "2026-05-08", "2026-05-15"], "document_count": 3, "sources": [{"document_id": "1327859", "title": "Demonstrações Financeiras - Fusão, cisão e incorporação", "reference_date": "2026-05-15", "version": "1", "page": 22, "url": "https://fnet.bmfbovespa.com.br/fnet/publico/visualizarDocumento?id=1327859", "sha256": "dca1c68babb97f887528c3e2e47596a9c30f507b067981a35655b2f2da9c8054"}, {"document_id": "1298691", "title": "Demonstrações Financeiras - Fusão, cisão e incorporação", "reference_date": "2026-05-08", "version": "1", "page": 22, "url": "https://fnet.bmfbovespa.com.br/fnet/publico/visualizarDocumento?id=1298691", "sha256": "58c570d9b8d4d265330d3db3ea81c435b8e44a6dab4002aa37790652a1ee9819"}, {"document_id": "1282180", "title": "Demonstrações Financeiras - Fusão, cisão e incorporação", "reference_date": "2026-04-28", "version": "1", "page": 22, "url": "https://fnet.bmfbovespa.com.br/fnet/publico/visualizarDocumento?id=1282180", "sha256": "afaaa0e6809be4385e5bdb6c911aac582032c5bdbac3d7750234bf9eaf00438a"}], "reference": {"path": "history/63953620000165.json", "criterion_id": "debtor", "total_count": 8, "preview_count": 3, "full_text_deferred": true, "sha256": "a7b89077f5e21098c2d601c303faabc3ff6b9729f89d8afecdc60fe1404720c1"}}</a:t>
            </a:r>
          </a:p>
          <a:p>
            <a:r>
              <a:t>CNPJ 54871427000194 · Elegibilidade · Regulamento · ID 670691 · 28/04/2024 · versão Regulamento — referência 28/04/2024 · p. 9 · Anexo I, 4.7(i)–(iv) · https://fnet.bmfbovespa.com.br/fnet/publico/visualizarDocumento?id=670691</a:t>
            </a:r>
          </a:p>
          <a:p>
            <a:r>
              <a:t>CNPJ 54871427000194 · Elegibilidade · Excerto da fonte:</a:t>
            </a:r>
          </a:p>
          <a:p>
            <a:r>
              <a:t>4.7 A Classe somente poderá adquirir os Direitos Creditórios que atendam cumulativamente aos seguintes Critérios de Elegibilidade, a serem verif icados e validados pelo GESTOR, de f orma individualizada e integral, previamente à cessão e na respectiva Data de Aquisição, de modo que apenas são passíveis de aquisição pela Classe os Direitos Creditórios que, na Data de Aquisição: (i) CCBs sem qualquer parcela cedida; (ii) CCBs com diferença menor que 60 (sessenta) dias entre a data provável do endosso e a próxima parcela a vencer; (iii) CCBs cujo valor da prestação seja superior a R$ 30,00 (trinta reais); (iv) Idade do Devedor somada ao prazo remanescente da CCB deve ser igual ou inferior a 80 (oitenta) anos; BTG Pactual SAC: 0800 772 28 27 - Ouvidoria: 0800 722 00 48 - btgpactual.com 3</a:t>
            </a:r>
          </a:p>
          <a:p>
            <a:r>
              <a:t>CNPJ 54871427000194 · Elegibilidade · Regulamento · ID 670691 · 28/04/2024 · versão Regulamento — referência 28/04/2024 · p. 10 · Anexo I, 4.7(v)–(xi) · https://fnet.bmfbovespa.com.br/fnet/publico/visualizarDocumento?id=670691</a:t>
            </a:r>
          </a:p>
          <a:p>
            <a:r>
              <a:t>CNPJ 54871427000194 · Elegibilidade · Excerto da fonte:</a:t>
            </a:r>
          </a:p>
          <a:p>
            <a:r>
              <a:t>(v) CCBs que até a Data do Endosso não estejam pendentes de res olução em relação a uma comprovada reclamação do devedor junto ao Banco Central do Brasil ou ao Procon; (vi) CCBs que não sejam originadas por pessoa física condenada por terem submetido trabalhadores a condições análogas à de escravo – denominada “Lista Suja”; (vii) CCBs sem parcela em atraso; (viii) Aquisição de todas as parcelas vincendas das CCBs, não sendo possível a aquisição de fluxo parcial; (ix) CCBs vinculadas ao órgão convenente, desde que o convênio não se encontre na Data de Aquisição em situação de suspensão; (x) Devedores adimplentes junto ao Endossante com relação aos Direitos Creditórios endossados à Classe; CCB cuja amortização ordinária dos valores devidos, nos últimos 60 (sessenta) dias, tenha ocorrido de f orma integral e ordinária. Na primeira tranche de aquisição de Direitos Creditórios pelo Endossatário tal prazo poderá ser reduzido para 30 (trinta) dias nos casos de amortização extraordinária (via boleto) desde que o valor de aquisição dos ref eridos Direitos Creditórios não ultrapasse R$ 30.000,00 (trinta mil reais), exc</a:t>
            </a:r>
          </a:p>
          <a:p>
            <a:r>
              <a:t>CNPJ 54871427000194 · Elegibilidade · Versão e prevalência: Leitura específica das cláusulas indicadas; condições e conflitos preservados. Seleção documental atual não comprova vigência jurídica por data isolada.</a:t>
            </a:r>
          </a:p>
          <a:p>
            <a:r>
              <a:t>CNPJ 54871427000194 · Elegibilidade · Resumo do histórico: {"count": 2, "dates": ["2024-04-19", "2024-04-28"], "document_count": 2, "sources": [{"document_id": "670691", "title": "Regulamento", "reference_date": "2024-04-28", "version": "1", "page": "9-10", "clause": "4.7", "url": "https://fnet.bmfbovespa.com.br/fnet/publico/visualizarDocumento?id=670691", "sha256": "bf16dd7f1a62d5cdbf2e2d54fef81783783f7310fbc99c3a8f00459bdf9d037b"}, {"document_id": "670689", "title": "Regulamento", "reference_date": "2024-04-19", "version": "1", "page": 10, "clause": "4.7.3", "url": "https://fnet.bmfbovespa.com.br/fnet/publico/visualizarDocumento?id=670689", "sha256": "891bc9bc5d87bbc02ec139077a84d2702eb81ea02035fb71d24f5b8366b94a0b"}], "reference": {"path": "history/54871427000194.json", "criterion_id": "eligibility", "total_count": 2, "preview_count": 2, "full_text_deferred": true, "sha256": "35d7cd99be50c7287c9fb675cf4f2e736002315295a225a9efa79c8d9186d874"}}</a:t>
            </a:r>
          </a:p>
          <a:p>
            <a:r>
              <a:t>CNPJ 60010416000112 · Elegibilidade · Regulamento · ID 1051393 · 2025-10-09 · versão 1 · p. 10 · 4.4.5 · https://fnet.bmfbovespa.com.br/fnet/publico/visualizarDocumento?id=1051393</a:t>
            </a:r>
          </a:p>
          <a:p>
            <a:r>
              <a:t>CNPJ 60010416000112 · Elegibilidade · Excerto da fonte:</a:t>
            </a:r>
          </a:p>
          <a:p>
            <a:r>
              <a:t>4.4.5. Caso um Direito Creditório endossado à Classe deixe de atender quaisquer Critérios de  Elegibilidade, quaisquer condições de endosso e/ou quaisquer declarações e garantias referentes  a esse Direito Creditório, conforme previsto no Contrato de Endosso, após seu endosso à Classe,  não haverá coobrigação nem direito de regresso da Classe contra o Endossante, o Administrador,  o Custodiante, o Gestor e/ou o Agente de Retenção/Cobrança, exceto em caso de má-fé, culpa  ou dolo comprovado, hipótese em que a parte que agiu com má-f é, culpa ou dolo comprovado  poderá ser responsabilizada pelas perdas incorridas pela Classe em relação aos respectivos  Direitos Creditórios. Se, entretanto, for constatado que um Direito Creditório endossado à Classe  não estava em conformidade com os Critérios de Elegibilidade, condições de endosso ou com as  declarações e garantias prestadas pelo Endossante no Contrato de Endosso, na respectiva data  de endosso, então o endosso desse Direito Creditório poderá ser objeto de resolução pela Classe.</a:t>
            </a:r>
          </a:p>
          <a:p>
            <a:r>
              <a:t> Nessa hipótese, a Classe terá o direito de resolver o endosso desse Direito Creditório, devolvendo-  o ao Endossante por valor a ser restituído à Classe. Adicionalmente, se f or constatado que um  Direito Creditório endossado à Classe não estava em conf ormidade com as declarações e  garantias prestadas pelo Agente de Retenção/Cobrança no Contrato de Endosso, na respectiva  data de endosso, então a Classe terá o direito de vender esse Direito Creditório ao Agente de  Retenção/Cobrança (opção de venda). A retrovenda ou a venda, conforme o caso, será realizada  de acordo com os termos, condições, formalidades e preços de recompra compulsória e opção de  venda detalhados no Contrato de Endosso.</a:t>
            </a:r>
          </a:p>
          <a:p>
            <a:r>
              <a:t>CNPJ 60010416000112 · Elegibilidade · Regulamento · ID 1051393 · 2025-10-09 · versão 1 · p. 9 · 4.3 · https://fnet.bmfbovespa.com.br/fnet/publico/visualizarDocumento?id=1051393</a:t>
            </a:r>
          </a:p>
          <a:p>
            <a:r>
              <a:t>CNPJ 60010416000112 · Elegibilidade · Excerto da fonte:</a:t>
            </a:r>
          </a:p>
          <a:p>
            <a:r>
              <a:t>4.3 Os Direitos Creditórios deverão contar com Documentos Comprobatórios que evidenciem sua existência,  validade e exequibilidade perante os respectivos Devedores.</a:t>
            </a:r>
          </a:p>
          <a:p>
            <a:r>
              <a:t> Critérios de Elegibilidade</a:t>
            </a:r>
          </a:p>
          <a:p>
            <a:r>
              <a:t>CNPJ 60010416000112 · Elegibilidade · Regulamento · ID 1051393 · 2025-10-09 · versão 1 · p. 9 · 4.4 · https://fnet.bmfbovespa.com.br/fnet/publico/visualizarDocumento?id=1051393</a:t>
            </a:r>
          </a:p>
          <a:p>
            <a:r>
              <a:t>CNPJ 60010416000112 · Elegibilidade · Excerto da fonte:</a:t>
            </a:r>
          </a:p>
          <a:p>
            <a:r>
              <a:t>4.4 A Classe somente poderá adquirir os Direitos Creditórios que atendam, cumulativamente, aos seguintes  Critérios de Elegibilidade, a serem verificados e validados pelo Gestor, de forma individualizada e integral,  previamente ao endosso do Direito Creditório, na respectiva Data de Aquisição:</a:t>
            </a:r>
          </a:p>
          <a:p>
            <a:r>
              <a:t> (i) os Direitos Creditórios deverão decorrer de empréstimo concedido pelo Endossante a um  Devedor, representado por uma CCB, com taxa de juros prefixada e vencimento final anterior  ao vencimento f inal da Classe;</a:t>
            </a:r>
          </a:p>
          <a:p>
            <a:r>
              <a:t>BTG Pactual SAC: 0800 772 28 27 - Ouvidoria: 0800 722 00 48 - btgpactual.com 9</a:t>
            </a:r>
          </a:p>
          <a:p>
            <a:r>
              <a:t>CNPJ 60010416000112 · Elegibilidade · Condição: Documentos atuais selecionados no inventário por categoria/escopo; a data documental isolada não comprova vigência jurídica.</a:t>
            </a:r>
          </a:p>
          <a:p>
            <a:r>
              <a:t>CNPJ 60010416000112 · Elegibilidade · Versão e prevalência: Documentos atuais selecionados no inventário por categoria/escopo; a data documental isolada não comprova vigência jurídica.</a:t>
            </a:r>
          </a:p>
          <a:p>
            <a:r>
              <a:t>CNPJ 60010416000112 · Elegibilidade · Resumo do histórico: {"count": 2, "dates": ["2025-03-20", "2025-10-09"], "document_count": 2, "sources": [{"document_id": "1051393", "title": "Regulamento", "reference_date": "2025-10-09", "version": "1", "page": "9-10", "clause": "4.4(ii)", "url": "https://fnet.bmfbovespa.com.br/fnet/publico/visualizarDocumento?id=1051393", "sha256": "8469d613078ffd5a6c1d217885d8a397a16342c0b937ae4aa24b106505f233ae"}, {"document_id": "993786", "title": "Regulamento", "reference_date": "2025-03-20", "version": "1", "page": 10, "clause": "4.4.5", "url": "https://fnet.bmfbovespa.com.br/fnet/publico/visualizarDocumento?id=993786", "sha256": "fd0fdd369a195510d81f81f505195a0b09e5f43522a990afa7d58c4f872921c8"}], "reference": {"path": "history/60010416000112.json", "criterion_id": "eligibility", "total_count": 2, "preview_count": 2, "full_text_deferred": true, "sha256": "8e2bd813f4c51cf01f6bfaad164bafe69d2bbb192f753eac92da3a01c2e63046"}}</a:t>
            </a:r>
          </a:p>
          <a:p>
            <a:r>
              <a:t>CNPJ 62696791000193 · Elegibilidade · Regulamento · ID 1143317 · 20/03/2026 · versão Regulamento — referência 20/03/2026 · p. 11 · Anexo I, 4.7–4.7.3 · https://fnet.bmfbovespa.com.br/fnet/publico/visualizarDocumento?id=1143317</a:t>
            </a:r>
          </a:p>
          <a:p>
            <a:r>
              <a:t>CNPJ 62696791000193 · Elegibilidade · Excerto da fonte:</a:t>
            </a:r>
          </a:p>
          <a:p>
            <a:r>
              <a:t>4.7 A Classe somente poderá adquirir os Direitos Creditórios do Agronegócio que atendam cumulativamente aos seguintes critérios de elegibilidade, a serem verificados e validados pelo Gestor, por amostragem, previamente à cessão e na respectiva data de aquisição dos Direitos Creditórios do Agronegócio (“Data de Aquisição”), de modo que apenas são passíveis de aquisição pela Classe os Direitos Creditórios do Agronegócio que, na Data de Aquisição (“Critérios de Elegibilidade”): (i) sejam representados em moeda corrente nacional; (ii) a natureza ou característica essencial dos Direitos Creditórios do Agronegócio deverá permitir o seu registro contábil e a sua custódia pelo Custodiante, de acordo com os procedimentos operacionais e contábeis praticados pelo Custodiante, ou seu registro em entidade registradora; (iii) sejam ativos de origem vinculada às cadeias produtivas do agronegócio ; e (iv) sejam representados por direitos e/ou títulos representativos de crédito, com ou sem garantias reais ou pessoais a eles atreladas, incluindo, sem limitação, duplicatas, debêntures, contratos de locação e contratos mercantis de compra e venda de produtos</a:t>
            </a:r>
          </a:p>
          <a:p>
            <a:r>
              <a:t>CNPJ 62696791000193 · Elegibilidade · Versão e prevalência: Leitura específica das cláusulas indicadas; condições e conflitos preservados. Seleção documental atual não comprova vigência jurídica por data isolada.</a:t>
            </a:r>
          </a:p>
          <a:p>
            <a:r>
              <a:t>CNPJ 55563624000109 · Elegibilidade · Regulamento · ID 1192614 · 30/04/2026 · versão Regulamento30/04/2026 · p. 12 · AnexoI4.6–4.8.2 · https://fnet.bmfbovespa.com.br/fnet/publico/visualizarDocumento?id=1192614</a:t>
            </a:r>
          </a:p>
          <a:p>
            <a:r>
              <a:t>CNPJ 55563624000109 · Elegibilidade · Excerto da fonte:</a:t>
            </a:r>
          </a:p>
          <a:p>
            <a:r>
              <a:t>4.6 As Cotas da Classe Investida deverão contar com Documentos Comprobatórios que evidenciem sua existência, validade e exequibilidade. 4.7 As Cotas da Classe Investida serão adquiridas pela Classe por meio: (i) de contratos de aquisição de Cotas da Classe Investida firmados entre a Classe e os respectivos vendedores das Cotas da Classe Investida; (ii) negociação em mercado organizado; e/ou (iii) da subscrição de Cotas da Classe Investida, colocadas de forma privada ou ofertadas publicamente, independentemente do regime de distribuição, observada a Política</a:t>
            </a:r>
          </a:p>
          <a:p>
            <a:r>
              <a:t>CNPJ 55563624000109 · Elegibilidade · Versão e prevalência: Leitura específica das cláusulas indicadas; condições e conflitos preservados. Seleção documental atual não comprova vigência jurídica por data isolada.</a:t>
            </a:r>
          </a:p>
          <a:p>
            <a:r>
              <a:t>CNPJ 55563624000109 · Elegibilidade · Resumo do histórico: {"count": 3, "dates": ["2025-01-31", "2026-01-31", "2026-04-30"], "document_count": 3, "sources": [{"document_id": "1192614", "title": "Regulamento", "reference_date": "2026-04-30", "version": "1", "page": "12", "url": "https://fnet.bmfbovespa.com.br/fnet/publico/visualizarDocumento?id=1192614", "sha256": "f56e63ace0acde41d2f47fb48f1ac7f3f7df5e2d32de092d7c5e075a52516632"}, {"document_id": "1178840", "title": "Demonstrações Financeiras", "reference_date": "2026-01-31", "version": "1", "page": 16, "url": "https://fnet.bmfbovespa.com.br/fnet/publico/visualizarDocumento?id=1178840", "sha256": "c458e98664c5c907ddb5a05a94b120bed4e05295b2bfc420f5ba69af0a229abe"}, {"document_id": "891861", "title": "Demonstrações Financeiras", "reference_date": "2025-01-31", "version": "1", "page": 16, "url": "https://fnet.bmfbovespa.com.br/fnet/publico/visualizarDocumento?id=891861", "sha256": "e9cb9e6ddbe505fe068cfcac33605165a98313489de0d3ce6d4d238263c3f3e7"}], "reference": {"path": "history/55563624000109.json", "criterion_id": "eligibility", "total_count": 3, "preview_count": 3, "full_text_deferred": true, "sha256": "7835d573fb58a3c19adf5b8ecc2aee2bdbb9a88f7a0c0209b5f262b64c7522e3"}}</a:t>
            </a:r>
          </a:p>
          <a:p>
            <a:r>
              <a:t>CNPJ 62552447000120 · Elegibilidade · Regulamento · ID 1200623 · 21/05/2026 · versão Consolidado21/05/2026 aprovado pelo ato1200625 · p. 6 · AnexoI1.2 Critérios(i)(a)–(b) · https://fnet.bmfbovespa.com.br/fnet/publico/visualizarDocumento?id=1200623</a:t>
            </a:r>
          </a:p>
          <a:p>
            <a:r>
              <a:t>CNPJ 62552447000120 · Elegibilidade · Excerto da fonte:</a:t>
            </a:r>
          </a:p>
          <a:p>
            <a:r>
              <a:t>Critérios de Elegibilidade”): (i) com relação a todos os Direitos Creditórios : (a) sejam representados em moeda corrente nacional; Critérios de Elegibilidade (b) a natureza ou característica essencial dos Direitos Creditórios deverá permitir o seu registro contábil e a sua custódia pelo Custodiante, de acordo com os procedimentos operacionais e contábeis praticados</a:t>
            </a:r>
          </a:p>
          <a:p>
            <a:r>
              <a:t>CNPJ 62552447000120 · Elegibilidade · Regulamento · ID 1200623 · 21/05/2026 · versão Consolidado21/05/2026 aprovado pelo ato1200625 · p. 7 · AnexoI1.2 Critérios(i)(c)–(v) · https://fnet.bmfbovespa.com.br/fnet/publico/visualizarDocumento?id=1200623</a:t>
            </a:r>
          </a:p>
          <a:p>
            <a:r>
              <a:t>CNPJ 62552447000120 · Elegibilidade · Excerto da fonte:</a:t>
            </a:r>
          </a:p>
          <a:p>
            <a:r>
              <a:t>(v) com relação aos Direitos Creditórios TVM: (a) representem, a qualquer momento, no máximo 10% (dez por cento) do Patrimônio Líquido. Sem prejuízo dos Critérios de Elegibilidade, a Classe somente poderá adquirir os Direitos Creditórios Ref inanciamento Livre, os Direitos Creditórios Consignado Privado e os Direitos Creditórios FGTS com relação aos quais tenha se verif icado as seguintes Condições de Endosso, na forma prevista na Cláusula 4.7 (“Co</a:t>
            </a:r>
          </a:p>
          <a:p>
            <a:r>
              <a:t>CNPJ 62552447000120 · Elegibilidade · Regulamento · ID 1200623 · 21/05/2026 · versão Consolidado21/05/2026 aprovado pelo ato1200625 · p. 12 · AnexoI4.6 · https://fnet.bmfbovespa.com.br/fnet/publico/visualizarDocumento?id=1200623</a:t>
            </a:r>
          </a:p>
          <a:p>
            <a:r>
              <a:t>CNPJ 62552447000120 · Elegibilidade · Excerto da fonte:</a:t>
            </a:r>
          </a:p>
          <a:p>
            <a:r>
              <a:t>4.6 A Classe somente poderá adquirir os Direitos Creditórios que, na data da sua aquisição (“Data de Aquisição”), atendam a todos os Critérios de Elegibilidade, a serem verif icados e validados pelo Gestor, de f orma individualizada e integral, e não por amostragem. 4.6.1 Para f ins da verificação dos Critérios de Elegibilidade, será considerado o Patrimônio Líquido e o valor dos Direitos Creditórios integrantes da Carteira no Dia Útil imediatamente anterior à Data de Aquisição. 4.6.2 Todos os Documentos Comprobatórios e, com relação a cada Direito Creditório, conforme apli</a:t>
            </a:r>
          </a:p>
          <a:p>
            <a:r>
              <a:t>CNPJ 62552447000120 · Elegibilidade · Versão e prevalência: Leitura específica das cláusulas indicadas; condições e conflitos preservados. Seleção documental atual não comprova vigência jurídica por data isolada.</a:t>
            </a:r>
          </a:p>
          <a:p>
            <a:r>
              <a:t>CNPJ 63953620000165 · Elegibilidade · Anexo ao Regulamento · ID 1222863 · 02/06/2026 · versão AnexoConsignadoPrivado02/06/2026 · p. 6 · 4.10–4.10.3 · https://fnet.bmfbovespa.com.br/fnet/publico/visualizarDocumento?id=1222863</a:t>
            </a:r>
          </a:p>
          <a:p>
            <a:r>
              <a:t>CNPJ 63953620000165 · Elegibilidade · Excerto da fonte:</a:t>
            </a:r>
          </a:p>
          <a:p>
            <a:r>
              <a:t>4.10 A Classe somente poderá adquirir os Direitos Creditórios que atendam cumulativamente aos Critérios de Elegibilidade, a serem verificados e validados pelo Gestor, de forma individualizada e integral, previamente à cessão e na respectiva data de aquisição dos Direitos Creditórios (“Data de Aquisição”), de modo que apenas são passíveis de aquisição pela Classe os Direitos Creditórios que, na Data de Aquisição, atendam a todos os Critérios de Elegibilidade. 4.10.1 Para fins da verificação dos Critérios de Elegibilidade, será considerado o Patrimônio Líquido e o valor dos Direitos Creditórios integrantes</a:t>
            </a:r>
          </a:p>
          <a:p>
            <a:r>
              <a:t>CNPJ 63953620000165 · Elegibilidade · Versão e prevalência: Leitura específica das cláusulas indicadas; condições e conflitos preservados. Seleção documental atual não comprova vigência jurídica por data isolada.</a:t>
            </a:r>
          </a:p>
          <a:p>
            <a:r>
              <a:t>CNPJ 63953620000165 · Elegibilidade · Resumo do histórico: {"count": 8, "dates": ["2026-04-28", "2026-05-08", "2026-05-15"], "document_count": 3, "sources": [{"document_id": "1327859", "title": "Demonstrações Financeiras - Fusão, cisão e incorporação", "reference_date": "2026-05-15", "version": "1", "page": 24, "url": "https://fnet.bmfbovespa.com.br/fnet/publico/visualizarDocumento?id=1327859", "sha256": "dca1c68babb97f887528c3e2e47596a9c30f507b067981a35655b2f2da9c8054"}, {"document_id": "1298691", "title": "Demonstrações Financeiras - Fusão, cisão e incorporação", "reference_date": "2026-05-08", "version": "1", "page": 24, "url": "https://fnet.bmfbovespa.com.br/fnet/publico/visualizarDocumento?id=1298691", "sha256": "58c570d9b8d4d265330d3db3ea81c435b8e44a6dab4002aa37790652a1ee9819"}, {"document_id": "1282180", "title": "Demonstrações Financeiras - Fusão, cisão e incorporação", "reference_date": "2026-04-28", "version": "1", "page": 25, "url": "https://fnet.bmfbovespa.com.br/fnet/publico/visualizarDocumento?id=1282180", "sha256": "afaaa0e6809be4385e5bdb6c911aac582032c5bdbac3d7750234bf9eaf00438a"}], "reference": {"path": "history/63953620000165.json", "criterion_id": "eligibility", "total_count": 8, "preview_count": 3, "full_text_deferred": true, "sha256": "a7b89077f5e21098c2d601c303faabc3ff6b9729f89d8afecdc60fe1404720c1"}}</a:t>
            </a:r>
          </a:p>
          <a:p>
            <a:r>
              <a:t>CNPJ 54871427000194 · Limites por contrato e devedor · Regulamento · ID 670691 · 28/04/2024 · versão Regulamento — referência 28/04/2024 · p. 10 · Anexo I, 4.7, parágrafo anterior ao inciso (xi) e inciso (xi) · https://fnet.bmfbovespa.com.br/fnet/publico/visualizarDocumento?id=670691</a:t>
            </a:r>
          </a:p>
          <a:p>
            <a:r>
              <a:t>CNPJ 54871427000194 · Limites por contrato e devedor · Excerto da fonte:</a:t>
            </a:r>
          </a:p>
          <a:p>
            <a:r>
              <a:t>CCB cuja amortização ordinária dos valores devidos, nos últimos 60 (sessenta) dias, tenha ocorrido de f orma integral e ordinária. Na primeira tranche de aquisição de Direitos Creditórios pelo Endossatário tal prazo poderá ser reduzido para 30 (trinta) dias nos casos de amortização extraordinária (via boleto) desde que o valor de aquisição dos ref eridos Direitos Creditórios não ultrapasse R$ 30.000,00 (trinta mil reais), exclusivamente via consignação em f olha de pagamento ou de benef ício; e (xi) Endosso de todas as CCBs de um mesmo Devedor que não ultrapasse 20% (vinte por cento) do patrimônio líquido da Classe. 4.7.1 Os Documentos Comprobatórios deverão ser disponibilizados pelo respectivo Endossante (a) no prazo de 10 (dez) dias contados da Data de Aquisição dos 50 (cinquenta) casos que sejam solicitados pelo GESTOR, a seu exclusivo critério, (b) a totalidade dos demais Documentos Comprobatórios em f ormato digital em até 90 (noventa) dias a contar da Data de Aquisição, bem como dos Documentos Comprobatórios em formato físico relativos aos Direitos Creditórios que eventualmente estejam inadimplidos em ref erida da</a:t>
            </a:r>
          </a:p>
          <a:p>
            <a:r>
              <a:t>CNPJ 54871427000194 · Limites por contrato e devedor · Condição: R$ 30 mil é teto da exceção de aquisição da primeira tranche; não é teto geral de cada CCB.</a:t>
            </a:r>
          </a:p>
          <a:p>
            <a:r>
              <a:t>CNPJ 54871427000194 · Limites por contrato e devedor · Motivo: Não localizada uma cláusula material para este critério nos textos identificados e processados. A ausência de resultado não comprova inexistência da regra.</a:t>
            </a:r>
          </a:p>
          <a:p>
            <a:r>
              <a:t>CNPJ 54871427000194 · Limites por contrato e devedor · Versão e prevalência: Leitura específica das cláusulas indicadas; condições e conflitos preservados. Seleção documental atual não comprova vigência jurídica por data isolada.</a:t>
            </a:r>
          </a:p>
          <a:p>
            <a:r>
              <a:t>CNPJ 60010416000112 · Limites por contrato e devedor · Regulamento · ID 1051393 · 09/10/2025 · versão Regulamento09/10/2025 · p. 10 · AnexoI4.4(ii), (iv),4.4.1 · https://fnet.bmfbovespa.com.br/fnet/publico/visualizarDocumento?id=1051393</a:t>
            </a:r>
          </a:p>
          <a:p>
            <a:r>
              <a:t>CNPJ 60010416000112 · Limites por contrato e devedor · Excerto da fonte:</a:t>
            </a:r>
          </a:p>
          <a:p>
            <a:r>
              <a:t>R$ 100.000,00 (cem mil reais), observado o disposto no item 4.4.1 abaixo; (iii) o prazo de vencimento das CCB representativas dos Direitos Creditórios deverá ser, no máximo, equivalente ao prazo máximo permitido pelas leis e regulamentações aplicáveis; e (iv) os Direitos Creditórios não poderão ser devidos por Devedores que tenham acima de 64 (sessenta e quatro) anos 11 (onze) meses e 29 (vinte e nove) dias na data de emissão da respectiva CCB. 4.4.1. O limite máximo de exposição da Classe por Devedor estabeleci</a:t>
            </a:r>
          </a:p>
          <a:p>
            <a:r>
              <a:t>CNPJ 60010416000112 · Limites por contrato e devedor · Condição: Prevalência da cláusula específica 4.4.1; limite privado do Contrato não foi presumido.</a:t>
            </a:r>
          </a:p>
          <a:p>
            <a:r>
              <a:t>CNPJ 60010416000112 · Limites por contrato e devedor · Motivo: Não localizada uma cláusula material para este critério nos textos identificados e processados. A ausência de resultado não comprova inexistência da regra.</a:t>
            </a:r>
          </a:p>
          <a:p>
            <a:r>
              <a:t>CNPJ 60010416000112 · Limites por contrato e devedor · Versão e prevalência: Leitura específica das cláusulas indicadas; condições e conflitos preservados. Seleção documental atual não comprova vigência jurídica por data isolada.</a:t>
            </a:r>
          </a:p>
          <a:p>
            <a:r>
              <a:t>CNPJ 62696791000193 · Limites por contrato e devedor · Motivo: Não localizada uma cláusula material para este critério nos textos identificados e processados. A ausência de resultado não comprova inexistência da regra.</a:t>
            </a:r>
          </a:p>
          <a:p>
            <a:r>
              <a:t>CNPJ 55563624000109 · Limites por contrato e devedor · Motivo: Não localizada uma cláusula material para este critério nos textos identificados e processados. A ausência de resultado não comprova inexistência da regra.</a:t>
            </a:r>
          </a:p>
          <a:p>
            <a:r>
              <a:t>CNPJ 62552447000120 · Limites por contrato e devedor · Motivo: Não localizada uma cláusula material para este critério nos textos identificados e processados. A ausência de resultado não comprova inexistência da regra.</a:t>
            </a:r>
          </a:p>
          <a:p>
            <a:r>
              <a:t>CNPJ 63953620000165 · Limites por contrato e devedor · Motivo: Não localizada uma cláusula material para este critério nos textos identificados e processados. A ausência de resultado não comprova inexistência da regra.</a:t>
            </a:r>
          </a:p>
          <a:p>
            <a:r>
              <a:t>CNPJ 54871427000194 · Prazo dos créditos e carência · Motivo: Não localizada uma cláusula material para este critério nos textos identificados e processados. A ausência de resultado não comprova inexistência da regra.</a:t>
            </a:r>
          </a:p>
          <a:p>
            <a:r>
              <a:t>CNPJ 60010416000112 · Prazo dos créditos e carência · Regulamento · ID 1051393 · 2025-10-09 · versão 1 · p. 11 · 4.5 · https://fnet.bmfbovespa.com.br/fnet/publico/visualizarDocumento?id=1051393</a:t>
            </a:r>
          </a:p>
          <a:p>
            <a:r>
              <a:t>CNPJ 60010416000112 · Prazo dos créditos e carência · Excerto da fonte:</a:t>
            </a:r>
          </a:p>
          <a:p>
            <a:r>
              <a:t>4.5 A parcela do Patrimônio Líquido que não estiver alocada em Direitos Creditórios será necessariamente  alocada no seguintes ativos (“Ativos Financeiros de Liquidez”).</a:t>
            </a:r>
          </a:p>
          <a:p>
            <a:r>
              <a:t> (i) moeda corrente nacional;</a:t>
            </a:r>
          </a:p>
          <a:p>
            <a:r>
              <a:t> (ii) títulos do Tesouro SELIC, anteriormente denominado letra f inanceira do Tesouro Nacional  (LFT);</a:t>
            </a:r>
          </a:p>
          <a:p>
            <a:r>
              <a:t> (iii) certif icados de depósito bancário (CDB) ou recibos de depósito bancário (RDB) com prazo  máximo de vencimento equivalente ao prazo remanescente do Período de Investimento, com  liquidez diária, emitidos por Instituições Autorizadas e/ou pelo Endossante, sendo certo que  os certif icados de depósito bancário (CDB) e recibos de depósito bancário (RDB) emitidos  pelo Endossante e integrantes da carteira da Classe não poderão exceder o valor de R$</a:t>
            </a:r>
          </a:p>
          <a:p>
            <a:r>
              <a:t> 25.000.000,00 (vinte e cinco milhões de reais);</a:t>
            </a:r>
          </a:p>
          <a:p>
            <a:r>
              <a:t> (iv) operações compromissadas, desde que lastreadas nos títulos mencionados nas alíneas (i) a</a:t>
            </a:r>
          </a:p>
          <a:p>
            <a:r>
              <a:t> (iii) acima, emitidas por Instituições Autorizadas, com liquidez diária e vencimento inferior a  365 (trezentos e sessenta e cinco) dias; e</a:t>
            </a:r>
          </a:p>
          <a:p>
            <a:r>
              <a:t> (v) cotas de classes de f undos de investimentos de renda f ixa ou indexados à Taxa DI com  liquidez diária, cujas políticas de investimento admitam a alocação de recursos  exclusivamente nos ativos das alíneas (ii) e (iii) acima, incluindo f undos geridos e/ou  administrados pelo Administrador, pelo Custodiante e/ou pelo Gestor.</a:t>
            </a:r>
          </a:p>
          <a:p>
            <a:r>
              <a:t>Limites de Concentração e Vedações para a Composição da Carteira</a:t>
            </a:r>
          </a:p>
          <a:p>
            <a:r>
              <a:t>CNPJ 60010416000112 · Prazo dos créditos e carência · Regulamento · ID 1051393 · 2025-10-09 · versão 1 · p. 10 · https://fnet.bmfbovespa.com.br/fnet/publico/visualizarDocumento?id=1051393</a:t>
            </a:r>
          </a:p>
          <a:p>
            <a:r>
              <a:t>CNPJ 60010416000112 · Prazo dos créditos e carência · Excerto da fonte:</a:t>
            </a:r>
          </a:p>
          <a:p>
            <a:r>
              <a:t>Anexo I ao Regulamento CLASSE ÚNICA DO MT I CONSIGNADO PRIVADO I FUNDO DE INVESTIMENTO EM DIREITOS CREDITÓRIOS RESPONSABILIDADE LIMITADA</a:t>
            </a:r>
          </a:p>
          <a:p>
            <a:r>
              <a:t> (ii) o saldo dos Direitos Creditórios devidos pelo mesmo Devedor à Classe, considerando, pro  forma, o endosso pretendido, não deverá exceder R$ 100.000,00 (cem mil reais), observado  o disposto no item 4.4.1 abaixo;</a:t>
            </a:r>
          </a:p>
          <a:p>
            <a:r>
              <a:t> (iii) o prazo de vencimento das CCB representativas dos Direitos Creditórios deverá ser, no  máximo, equivalente ao prazo máximo permitido pelas leis e regulamentações aplicáveis; e</a:t>
            </a:r>
          </a:p>
          <a:p>
            <a:r>
              <a:t> (iv) os Direitos Creditórios não poderão ser devidos por Devedores que tenham acima de 64  (sessenta e quatro) anos 11 (onze) meses e 29 (vinte e nove) dias na data de emissão da  respectiva CCB.</a:t>
            </a:r>
          </a:p>
          <a:p>
            <a:r>
              <a:t>CNPJ 60010416000112 · Prazo dos créditos e carência · Condição: Documentos atuais selecionados no inventário por categoria/escopo; a data documental isolada não comprova vigência jurídica.</a:t>
            </a:r>
          </a:p>
          <a:p>
            <a:r>
              <a:t>CNPJ 60010416000112 · Prazo dos créditos e carência · Versão e prevalência: Documentos atuais selecionados no inventário por categoria/escopo; a data documental isolada não comprova vigência jurídica.</a:t>
            </a:r>
          </a:p>
          <a:p>
            <a:r>
              <a:t>CNPJ 60010416000112 · Prazo dos créditos e carência · Resumo do histórico: {"count": 1, "dates": ["2025-03-20"], "document_count": 1, "sources": [{"document_id": "993786", "title": "Regulamento", "reference_date": "2025-03-20", "version": "1", "page": 11, "clause": "4.5", "url": "https://fnet.bmfbovespa.com.br/fnet/publico/visualizarDocumento?id=993786", "sha256": "fd0fdd369a195510d81f81f505195a0b09e5f43522a990afa7d58c4f872921c8"}], "reference": {"path": "history/60010416000112.json", "criterion_id": "term", "total_count": 1, "preview_count": 1, "full_text_deferred": true, "sha256": "8e2bd813f4c51cf01f6bfaad164bafe69d2bbb192f753eac92da3a01c2e63046"}}</a:t>
            </a:r>
          </a:p>
          <a:p>
            <a:r>
              <a:t>CNPJ 62696791000193 · Prazo dos créditos e carência · Motivo: Não localizada uma cláusula material para este critério nos textos identificados e processados. A ausência de resultado não comprova inexistência da regra.</a:t>
            </a:r>
          </a:p>
          <a:p>
            <a:r>
              <a:t>CNPJ 55563624000109 · Prazo dos créditos e carência · Motivo: Não localizada uma cláusula material para este critério nos textos identificados e processados. A ausência de resultado não comprova inexistência da regra.</a:t>
            </a:r>
          </a:p>
          <a:p>
            <a:r>
              <a:t>CNPJ 62552447000120 · Prazo dos créditos e carência · Motivo: Não localizada uma cláusula material para este critério nos textos identificados e processados. A ausência de resultado não comprova inexistência da regra.</a:t>
            </a:r>
          </a:p>
          <a:p>
            <a:r>
              <a:t>CNPJ 63953620000165 · Prazo dos créditos e carência · Anexo ao Regulamento · ID 1222863 · 2026-06-02 · versão 1 · p. 2 · https://fnet.bmfbovespa.com.br/fnet/publico/visualizarDocumento?id=1222863</a:t>
            </a:r>
          </a:p>
          <a:p>
            <a:r>
              <a:t>CNPJ 63953620000165 · Prazo dos créditos e carência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Prazo dos créditos e carência · Condição: Documentos atuais selecionados no inventário por categoria/escopo; a data documental isolada não comprova vigência jurídica.</a:t>
            </a:r>
          </a:p>
          <a:p>
            <a:r>
              <a:t>CNPJ 63953620000165 · Prazo dos créditos e carência · Versão e prevalência: Documentos atuais selecionados no inventário por categoria/escopo; a data documental isolada não comprova vigência jurídica.</a:t>
            </a:r>
          </a:p>
          <a:p>
            <a:r>
              <a:t>CNPJ 63953620000165 · Prazo dos créditos e carência · Resumo do histórico: {"count": 8, "dates": ["2026-04-28", "2026-05-08", "2026-05-15"], "document_count": 3, "sources": [{"document_id": "1327859", "title": "Demonstrações Financeiras - Fusão, cisão e incorporação", "reference_date": "2026-05-15", "version": "1", "page": 16, "url": "https://fnet.bmfbovespa.com.br/fnet/publico/visualizarDocumento?id=1327859", "sha256": "dca1c68babb97f887528c3e2e47596a9c30f507b067981a35655b2f2da9c8054"}, {"document_id": "1298691", "title": "Demonstrações Financeiras - Fusão, cisão e incorporação", "reference_date": "2026-05-08", "version": "1", "page": 16, "url": "https://fnet.bmfbovespa.com.br/fnet/publico/visualizarDocumento?id=1298691", "sha256": "58c570d9b8d4d265330d3db3ea81c435b8e44a6dab4002aa37790652a1ee9819"}, {"document_id": "1282180", "title": "Demonstrações Financeiras - Fusão, cisão e incorporação", "reference_date": "2026-04-28", "version": "1", "page": 16, "url": "https://fnet.bmfbovespa.com.br/fnet/publico/visualizarDocumento?id=1282180", "sha256": "afaaa0e6809be4385e5bdb6c911aac582032c5bdbac3d7750234bf9eaf00438a"}], "reference": {"path": "history/63953620000165.json", "criterion_id": "term", "total_count": 8, "preview_count": 3, "full_text_deferred": true, "sha256": "a7b89077f5e21098c2d601c303faabc3ff6b9729f89d8afecdc60fe1404720c1"}}</a:t>
            </a:r>
          </a:p>
          <a:p>
            <a:r>
              <a:t>CNPJ 54871427000194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null, "comparison_required": true, "context_formula": "", "context_value": null, "context_unit": ""}</a:t>
            </a:r>
          </a:p>
          <a:p>
            <a:r>
              <a:t>CNPJ 54871427000194 · Concentração por devedor, cedente e grupo · Regulamento · ID 670691 · 28/04/2024 · versão Regulamento — referência 28/04/2024 · p. 11 · Anexo I, 4.10 e 4.11.2–4.11.4 · https://fnet.bmfbovespa.com.br/fnet/publico/visualizarDocumento?id=670691</a:t>
            </a:r>
          </a:p>
          <a:p>
            <a:r>
              <a:t>CNPJ 54871427000194 · Concentração por devedor, cedente e grupo · Excerto da fonte:</a:t>
            </a:r>
          </a:p>
          <a:p>
            <a:r>
              <a:t>4.10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4.11 A Classe poderá, direta ou indiretamente e, nos termos da legislação aplicável: (i) adquirir Direitos Creditórios que sejam cedidos e/ou originados pelo ADMINISTRADOR e/ou pelo GESTOR, ou partes a eles relacionadas, tal como definidas pelas regras contábeis que tratam desse assunto; e (ii) ceder Direitos Creditórios a qualquer das pessoas, fundos de investimento ou entidades referidas no item (i) acima, desde que (i) o ADMINISTRADOR, GESTOR, a entidade registradora e o CUSTODIANTE de Direitos Creditórios não sejam partes relacionadas entre si; e (ii) a entidade registradora e o</a:t>
            </a:r>
          </a:p>
          <a:p>
            <a:r>
              <a:t>CNPJ 54871427000194 · Concentração por devedor, cedente e grupo · Regulamento · ID 670691 · 28/04/2024 · versão Regulamento — referência 28/04/2024 · p. 10 · Anexo I, 4.7(xi) · https://fnet.bmfbovespa.com.br/fnet/publico/visualizarDocumento?id=670691</a:t>
            </a:r>
          </a:p>
          <a:p>
            <a:r>
              <a:t>CNPJ 54871427000194 · Concentração por devedor, cedente e grupo · Excerto da fonte:</a:t>
            </a:r>
          </a:p>
          <a:p>
            <a:r>
              <a:t>(xi) Endosso de todas as CCBs de um mesmo Devedor que não ultrapasse 20% (vinte por cento) do patrimônio líquido da Classe. 4.7.1 Os Documentos Comprobatórios deverão ser disponibilizados pelo respectivo Endossante (a) no prazo de 10 (dez) dias contados da Data de Aquisição dos 50 (cinquenta) casos que sejam solicitados pelo GESTOR, a seu exclusivo critério, (b) a totalidade dos demais Documentos Comprobatórios em f ormato digital em até 90 (noventa) dias a contar da Data de Aquisição, bem como dos Documentos Comprobatórios em formato físico relativos aos Direitos Creditórios que eventualmente estejam inadimplidos em ref erida data, e (c) a totalidade dos demais Documentos Comprobatórios em f ormato f ísico em até 180 (cento e oitenta) dias a contar da Data de Aquisição, sujeito à resolução do respectivo endosso, de acordo com os termos do Contrato de Endosso. 4.7.2 Caso um Direito Creditório cedido à Classe deixe de atender quaisquer Critérios de Elegibilidade e/ou quaisquer declarações e garantias ref erentes a esse Direito Creditório, conf orme previsto no respectivo Contrato de Endosso, após seu endosso à</a:t>
            </a:r>
          </a:p>
          <a:p>
            <a:r>
              <a:t>CNPJ 54871427000194 · Concentração por devedor, cedente e grupo · Condição: Na aquisição, o critério específico de 20% restringe o permissivo geral de 100%. Uma concentração observada no IME exige base e devedor identificados.</a:t>
            </a:r>
          </a:p>
          <a:p>
            <a:r>
              <a:t>CNPJ 54871427000194 · Concentração por devedor, cedente e grupo · Versão e prevalência: Leitura específica das cláusulas indicadas; condições e conflitos preservados. Seleção documental atual não comprova vigência jurídica por data isolada.</a:t>
            </a:r>
          </a:p>
          <a:p>
            <a:r>
              <a:t>CNPJ 54871427000194 · Concentração por devedor, cedente e grupo · Resumo do histórico: {"count": 2, "dates": ["2024-04-19", "2024-04-28"], "document_count": 2, "sources": [{"document_id": "670691", "title": "Regulamento", "reference_date": "2024-04-28", "version": "1", "page": "10-11", "url": "https://fnet.bmfbovespa.com.br/fnet/publico/visualizarDocumento?id=670691", "sha256": "bf16dd7f1a62d5cdbf2e2d54fef81783783f7310fbc99c3a8f00459bdf9d037b"}, {"document_id": "670689", "title": "Regulamento", "reference_date": "2024-04-19", "version": "1", "page": 11, "clause": "4.10", "url": "https://fnet.bmfbovespa.com.br/fnet/publico/visualizarDocumento?id=670689", "sha256": "891bc9bc5d87bbc02ec139077a84d2702eb81ea02035fb71d24f5b8366b94a0b"}], "reference": {"path": "history/54871427000194.json", "criterion_id": "concentration", "total_count": 2, "preview_count": 2, "full_text_deferred": true, "sha256": "35d7cd99be50c7287c9fb675cf4f2e736002315295a225a9efa79c8d9186d874"}}</a:t>
            </a:r>
          </a:p>
          <a:p>
            <a:r>
              <a:t>CNPJ 60010416000112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null, "comparison_required": true, "context_formula": "", "context_value": null, "context_unit": ""}</a:t>
            </a:r>
          </a:p>
          <a:p>
            <a:r>
              <a:t>CNPJ 60010416000112 · Concentração por devedor, cedente e grupo · Regulamento · ID 1051393 · 09/10/2025 · versão Regulamento09/10/2025 · p. 11 · AnexoI4.4.9(iv),4.5(iii) · https://fnet.bmfbovespa.com.br/fnet/publico/visualizarDocumento?id=1051393</a:t>
            </a:r>
          </a:p>
          <a:p>
            <a:r>
              <a:t>CNPJ 60010416000112 · Concentração por devedor, cedente e grupo · Excerto da fonte:</a:t>
            </a:r>
          </a:p>
          <a:p>
            <a:r>
              <a:t>3,00% (três por cento) do Patrimônio Líquido da Classe. Ativos Financeiros de Liquidez 4.5 A parcela do Patrimônio Líquido que não estiver alocada em Direitos Creditórios será necessariamente alocada no seguintes ativos (“Ativos Financeiros de Liquidez”). (i) moeda corrente nacional; (ii) títulos do Tesouro SELIC, anteriormente denominado letra f inanceira do Tesouro Nacional (LFT); (iii) certif icados de depósito bancário (CDB) ou recibos de depósito bancário (RDB) com prazo máximo de vencimento equivalente ao prazo remanescente</a:t>
            </a:r>
          </a:p>
          <a:p>
            <a:r>
              <a:t>CNPJ 60010416000112 · Concentração por devedor, cedente e grupo · Regulamento · ID 1051393 · 09/10/2025 · versão Regulamento09/10/2025 · p. 12 · AnexoI4.7–4.8 · https://fnet.bmfbovespa.com.br/fnet/publico/visualizarDocumento?id=1051393</a:t>
            </a:r>
          </a:p>
          <a:p>
            <a:r>
              <a:t>CNPJ 60010416000112 · Concentração por devedor, cedente e grupo · Excerto da fonte:</a:t>
            </a:r>
          </a:p>
          <a:p>
            <a:r>
              <a:t>4.7 A Classe deverá observar, ainda, os limites de concentração definidos na Política de Crédito, que integra o Contrato de Endosso como Anexo 3.2(v). 4.8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a:t>
            </a:r>
          </a:p>
          <a:p>
            <a:r>
              <a:t>CNPJ 60010416000112 · Concentração por devedor, cedente e grupo · Versão e prevalência: Leitura específica das cláusulas indicadas; condições e conflitos preservados. Seleção documental atual não comprova vigência jurídica por data isolada.</a:t>
            </a:r>
          </a:p>
          <a:p>
            <a:r>
              <a:t>CNPJ 60010416000112 · Concentração por devedor, cedente e grupo · Resumo do histórico: {"count": 2, "dates": ["2025-03-20", "2025-10-09"], "document_count": 2, "sources": [{"document_id": "1051393", "title": "Regulamento", "reference_date": "2025-10-09", "version": "1", "page": "11-12", "url": "https://fnet.bmfbovespa.com.br/fnet/publico/visualizarDocumento?id=1051393", "sha256": "8469d613078ffd5a6c1d217885d8a397a16342c0b937ae4aa24b106505f233ae"}, {"document_id": "993786", "title": "Regulamento", "reference_date": "2025-03-20", "version": "1", "page": 12, "clause": "4.8", "url": "https://fnet.bmfbovespa.com.br/fnet/publico/visualizarDocumento?id=993786", "sha256": "fd0fdd369a195510d81f81f505195a0b09e5f43522a990afa7d58c4f872921c8"}], "reference": {"path": "history/60010416000112.json", "criterion_id": "concentration", "total_count": 2, "preview_count": 2, "full_text_deferred": true, "sha256": "8e2bd813f4c51cf01f6bfaad164bafe69d2bbb192f753eac92da3a01c2e63046"}}</a:t>
            </a:r>
          </a:p>
          <a:p>
            <a:r>
              <a:t>CNPJ 62696791000193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null, "comparison_required": true, "context_formula": "", "context_value": null, "context_unit": ""}</a:t>
            </a:r>
          </a:p>
          <a:p>
            <a:r>
              <a:t>CNPJ 62696791000193 · Concentração por devedor, cedente e grupo · Regulamento · ID 1143317 · 20/03/2026 · versão Regulamento — referência 20/03/2026 · p. 11 · Anexo I, 4.8–4.9 · https://fnet.bmfbovespa.com.br/fnet/publico/visualizarDocumento?id=1143317</a:t>
            </a:r>
          </a:p>
          <a:p>
            <a:r>
              <a:t>CNPJ 62696791000193 · Concentração por devedor, cedente e grupo · Excerto da fonte:</a:t>
            </a:r>
          </a:p>
          <a:p>
            <a:r>
              <a:t>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relacionadas ao Gestor. 4.8.1 As aplicações em Direitos Creditórios do Agronegócio decorrentes de receitas públicas originárias ou derivadas da União, dos Estados, do Distrito Federal e dos Municípios ou de suas autarquias e f undações, assim como em Direitos Creditórios do Agronegócio cedidos ou originados por empresas controladas pelo poder público, não estão submetidas ao limite de concentração por emissor previsto no caput. 4.9 Nos termos do Art. 45 do Anexo</a:t>
            </a:r>
          </a:p>
          <a:p>
            <a:r>
              <a:t>CNPJ 62696791000193 · Concentração por devedor, cedente e grupo · Regulamento · ID 1143317 · 20/03/2026 · versão Regulamento — referência 20/03/2026 · p. 12 · Anexo I, 4.10(i)–(ix) · https://fnet.bmfbovespa.com.br/fnet/publico/visualizarDocumento?id=1143317</a:t>
            </a:r>
          </a:p>
          <a:p>
            <a:r>
              <a:t>CNPJ 62696791000193 · Concentração por devedor, cedente e grupo · Excerto da fonte:</a:t>
            </a:r>
          </a:p>
          <a:p>
            <a:r>
              <a:t>4.10 Sem prejuízo de limites mais restritivos definidos neste Anexo, o Gestor deverá observar, ainda, os seguintes limites de concentração: (i) A Classe poderá, direta ou indiretamente, ter até 100% (cem por cento) do Patrimônio Líquido representado por Direitos Creditórios do Agronegócio originados ou cedidos pelo Administrador, Gestor e/ou suas partes relacionadas, tal como definidas pelas regras contábeis que tratam desse assunto, desde que (a) o Gest or, a entidade registradora e o Custodiante dos Direitos Creditórios do Agronegócio não sejam partes relacionadas entre si; e (b) a entidade registradora e o Custodiante dos Direitos Creditórios do Agronegócio não sejam partes relacionadas ao originador ou Cedente. (ii) No máximo, 100% (cem por cento) do Patrimônio Líquido investido em Ativos Financeiros de Liquidez de emissão ou que envolvam retenção de risco por parte do Administrador, Gestor, e/ou suas partes relacionadas, observado ainda o disposto no item Error! Reference source not found.;</a:t>
            </a:r>
          </a:p>
          <a:p>
            <a:r>
              <a:t>CNPJ 62696791000193 · Concentração por devedor, cedente e grupo · Condição: Liquidez/derivativos relacionados também têm permissivos de 100%, mas remissões internas aparecem como “Error! Reference source not found.”.</a:t>
            </a:r>
          </a:p>
          <a:p>
            <a:r>
              <a:t>CNPJ 62696791000193 · Concentração por devedor, cedente e grupo · Versão e prevalência: Leitura específica das cláusulas indicadas; condições e conflitos preservados. Seleção documental atual não comprova vigência jurídica por data isolada.</a:t>
            </a:r>
          </a:p>
          <a:p>
            <a:r>
              <a:t>CNPJ 55563624000109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null, "comparison_required": true, "context_formula": "", "context_value": null, "context_unit": ""}</a:t>
            </a:r>
          </a:p>
          <a:p>
            <a:r>
              <a:t>CNPJ 55563624000109 · Concentração por devedor, cedente e grupo · Regulamento · ID 1192614 · 30/04/2026 · versão Regulamento30/04/2026 · p. 13 · AnexoI4.11–4.12.1 · https://fnet.bmfbovespa.com.br/fnet/publico/visualizarDocumento?id=1192614</a:t>
            </a:r>
          </a:p>
          <a:p>
            <a:r>
              <a:t>CNPJ 55563624000109 · Concentração por devedor, cedente e grupo · Excerto da fonte:</a:t>
            </a:r>
          </a:p>
          <a:p>
            <a:r>
              <a:t>4.11 Nos termos dos artigos 45, parágrafo 7º, e 47 parágrafo único do Anexo Normativo II à Resolução CVM 175, uma vez que as Cotas são destinadas exclusivamente a Investidores Profissionais, a Classe poderá ter até 100% (cem por cento) de seu Patrimônio Líquido alocado em Cotas da Classe Investida, as quais são emitidas pela Classe Investida. 4.12 A Classe poderá, direta ou indiretamente (i) adquirir Cotas da Classe Investida que sejam administrados pelo ADMINISTRADOR, e geridos ou cogeridos pelo GESTOR, ou partes a eles relacionadas, tal como definidas pelas</a:t>
            </a:r>
          </a:p>
          <a:p>
            <a:r>
              <a:t>CNPJ 55563624000109 · Concentração por devedor, cedente e grupo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Concentração por devedor, cedente e grupo · Versão e prevalência: Leitura específica das cláusulas indicadas; condições e conflitos preservados. Seleção documental atual não comprova vigência jurídica por data isolada.</a:t>
            </a:r>
          </a:p>
          <a:p>
            <a:r>
              <a:t>CNPJ 55563624000109 · Concentração por devedor, cedente e grupo · Resumo do histórico: {"count": 1, "dates": ["2026-04-30"], "document_count": 1, "sources": [{"document_id": "1192614", "title": "Regulamento", "reference_date": "2026-04-30", "version": "1", "page": "11-12", "url": "https://fnet.bmfbovespa.com.br/fnet/publico/visualizarDocumento?id=1192614", "sha256": "f56e63ace0acde41d2f47fb48f1ac7f3f7df5e2d32de092d7c5e075a52516632"}], "reference": {"path": "history/55563624000109.json", "criterion_id": "concentration", "total_count": 1, "preview_count": 1, "full_text_deferred": true, "sha256": "7835d573fb58a3c19adf5b8ecc2aee2bdbb9a88f7a0c0209b5f262b64c7522e3"}}</a:t>
            </a:r>
          </a:p>
          <a:p>
            <a:r>
              <a:t>CNPJ 62552447000120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null, "comparison_required": true, "context_formula": "", "context_value": null, "context_unit": ""}</a:t>
            </a:r>
          </a:p>
          <a:p>
            <a:r>
              <a:t>CNPJ 62552447000120 · Concentração por devedor, cedente e grupo · Regulamento · ID 1200623 · 21/05/2026 · versão Consolidado21/05/2026 aprovado pelo ato1200625 · p. 14 · AnexoI4.10–4.13 · https://fnet.bmfbovespa.com.br/fnet/publico/visualizarDocumento?id=1200623</a:t>
            </a:r>
          </a:p>
          <a:p>
            <a:r>
              <a:t>CNPJ 62552447000120 · Concentração por devedor, cedente e grupo · Excerto da fonte:</a:t>
            </a:r>
          </a:p>
          <a:p>
            <a:r>
              <a:t>4.10 Nos termos do art. 45, §7º, inciso II, do Anexo Normativo II, a Classe poderá ter até 100% (cem por cento) de seu Patrimônio Líquido alocado em Direitos Creditórios, derivativos, observado o disposto abaixo,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4.10.1 O uso de derivativos está restr</a:t>
            </a:r>
          </a:p>
          <a:p>
            <a:r>
              <a:t>CNPJ 62552447000120 · Concentração por devedor, cedente e grupo · Condição: Regulamento permite concentração ampla; TVM têm limite específico 10% PL na elegibilidade.</a:t>
            </a:r>
          </a:p>
          <a:p>
            <a:r>
              <a:t>CNPJ 62552447000120 · Concentração por devedor, cedente e grupo · Versão e prevalência: Leitura específica das cláusulas indicadas; condições e conflitos preservados. Seleção documental atual não comprova vigência jurídica por data isolada.</a:t>
            </a:r>
          </a:p>
          <a:p>
            <a:r>
              <a:t>CNPJ 63953620000165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null, "comparison_required": true, "context_formula": "", "context_value": null, "context_unit": ""}</a:t>
            </a:r>
          </a:p>
          <a:p>
            <a:r>
              <a:t>CNPJ 63953620000165 · Concentração por devedor, cedente e grupo · Anexo ao Regulamento · ID 1222863 · 02/06/2026 · versão AnexoConsignadoPrivado02/06/2026 · p. 6 · 4.14 · https://fnet.bmfbovespa.com.br/fnet/publico/visualizarDocumento?id=1222863</a:t>
            </a:r>
          </a:p>
          <a:p>
            <a:r>
              <a:t>CNPJ 63953620000165 · Concentração por devedor, cedente e grupo · Excerto da fonte:</a:t>
            </a:r>
          </a:p>
          <a:p>
            <a:r>
              <a:t>4.14 Nos termos do Art. 45, §7º, inciso II, do Anexo Normativo II da Resolução CVM 175, a Classe poderá ter até 100% (cem por cento) de seu Patrimônio Líquido alocado em Direitos Creditórios, derivativos, observado o disposto neste Anexo I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4.15 Sem prejuízo de limites</a:t>
            </a:r>
          </a:p>
          <a:p>
            <a:r>
              <a:t>CNPJ 63953620000165 · Concentração por devedor, cedente e grupo · Anexo ao Regulamento · ID 1222863 · 02/06/2026 · versão AnexoConsignadoPrivado02/06/2026 · p. 7 · 4.15(i)–(v) · https://fnet.bmfbovespa.com.br/fnet/publico/visualizarDocumento?id=1222863</a:t>
            </a:r>
          </a:p>
          <a:p>
            <a:r>
              <a:t>CNPJ 63953620000165 · Concentração por devedor, cedente e grupo · Excerto da fonte:</a:t>
            </a:r>
          </a:p>
          <a:p>
            <a:r>
              <a:t>(i)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CNPJ 63953620000165 · Concentração por devedor, cedente e grupo · Versão e prevalência: Leitura específica das cláusulas indicadas; condições e conflitos preservados. Seleção documental atual não comprova vigência jurídica por data isolada.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Alocação e perímetro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Alocação mínima · Base da comparação IME: {"criterion_id": "allocation", "observed_value": 91.84981349574433, "unit": "percent", "competence": "08/2026", "status": "not_comparable", "reason": "Vigência efetiva não comprovada; data do documento isolada não certifica enquadramento histórico.", "formula": "credit_rights / net_asset_value × 100",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50.0}</a:t>
            </a:r>
          </a:p>
          <a:p>
            <a:r>
              <a:t>CNPJ 54871427000194 · Alocação mínima · Regulamento · ID 670691 · 28/04/2024 · versão Regulamento — referência 28/04/2024 · p. 11 · Anexo I, 4.9 · https://fnet.bmfbovespa.com.br/fnet/publico/visualizarDocumento?id=670691</a:t>
            </a:r>
          </a:p>
          <a:p>
            <a:r>
              <a:t>CNPJ 54871427000194 · Alocação mínima · Excerto da fonte:</a:t>
            </a:r>
          </a:p>
          <a:p>
            <a:r>
              <a:t>4.9 Decorridos 180 (cento e oitenta) dias da Data da 1ª Integralização de Cotas, a Classe deverá manter alocado, no mínimo, 50% (cinquenta por cento) do seu Patrimônio Líquido em Direitos Creditórios . 4.10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4.11 A Classe poderá, direta ou indiretamente e, nos termos da legislação aplicável: (i) adquirir Direitos Creditórios que sejam cedidos e/ou originados pelo ADMINISTRADOR e/ou pelo GESTOR, ou partes a eles relacionadas, tal como definidas pelas regras contábeis que tratam desse assunto; e (ii) ceder Direitos Creditórios a qualquer das pessoas, fundos de investimento ou entidades referidas n</a:t>
            </a:r>
          </a:p>
          <a:p>
            <a:r>
              <a:t>CNPJ 54871427000194 · Alocação mínima · Mecânica: {"operator": "&gt;=", "limit": 50.0, "unit": "percent", "numerator": "credit_rights", "denominator": "net_asset_value", "frequency": "daily", "layer": "54871427000194", "document_date": "2024-04-28", "effective_status": "document_date_only", "initial_days": 180}</a:t>
            </a:r>
          </a:p>
          <a:p>
            <a:r>
              <a:t>CNPJ 54871427000194 · Alocação mínima · Versão e prevalência: Leitura específica das cláusulas indicadas; condições e conflitos preservados. Seleção documental atual não comprova vigência jurídica por data isolada.</a:t>
            </a:r>
          </a:p>
          <a:p>
            <a:r>
              <a:t>CNPJ 54871427000194 · Alocação mínima · Resumo do histórico: {"count": 2, "dates": ["2024-04-19", "2024-04-28"], "document_count": 2, "sources": [{"document_id": "670691", "title": "Regulamento", "reference_date": "2024-04-28", "version": "1", "page": "11", "url": "https://fnet.bmfbovespa.com.br/fnet/publico/visualizarDocumento?id=670691", "sha256": "bf16dd7f1a62d5cdbf2e2d54fef81783783f7310fbc99c3a8f00459bdf9d037b"}, {"document_id": "670689", "title": "Regulamento", "reference_date": "2024-04-19", "version": "1", "page": 11, "clause": "4.9", "url": "https://fnet.bmfbovespa.com.br/fnet/publico/visualizarDocumento?id=670689", "sha256": "891bc9bc5d87bbc02ec139077a84d2702eb81ea02035fb71d24f5b8366b94a0b"}], "reference": {"path": "history/54871427000194.json", "criterion_id": "allocation", "total_count": 2, "preview_count": 2, "full_text_deferred": true, "sha256": "35d7cd99be50c7287c9fb675cf4f2e736002315295a225a9efa79c8d9186d874"}}</a:t>
            </a:r>
          </a:p>
          <a:p>
            <a:r>
              <a:t>CNPJ 60010416000112 · Alocação mínima · Base da comparação IME: {"criterion_id": "allocation", "observed_value": 117.78665480900618, "unit": "percent", "competence": "08/2026", "status": "not_comparable", "reason": "Vigência efetiva não comprovada; data do documento isolada não certifica enquadramento histórico.", "formula": "credit_rights / net_asset_value × 100",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50.0}</a:t>
            </a:r>
          </a:p>
          <a:p>
            <a:r>
              <a:t>CNPJ 60010416000112 · Alocação mínima · Regulamento · ID 1051393 · 09/10/2025 · versão Regulamento09/10/2025 · p. 11 · AnexoI4.6 · https://fnet.bmfbovespa.com.br/fnet/publico/visualizarDocumento?id=1051393</a:t>
            </a:r>
          </a:p>
          <a:p>
            <a:r>
              <a:t>CNPJ 60010416000112 · Alocação mínima · Excerto da fonte:</a:t>
            </a:r>
          </a:p>
          <a:p>
            <a:r>
              <a:t>4.6 Decorridos 180 (cento e oitenta) dias do início de suas atividades, a Classe deverá manter alocado, no mínimo: para f ins tributários, 67% (sessenta e sete por cento) do seu Patrimônio Líquido em Direitos Creditórios, nos termos da Resolução CMN 5.111; e para fins regulatórios, 50% (cinquenta por cento) do seu Patrimônio Líquido em Direitos Creditórios, nos termos da Resolução CVM 175. BTG Pactual SAC: 0800 772 28 27 - Ouvidoria: 0800 722 00 48 - btgpactual.com 11</a:t>
            </a:r>
          </a:p>
          <a:p>
            <a:r>
              <a:t>CNPJ 60010416000112 · Alocação mínima · Mecânica: {"operator": "&gt;=", "unit": "percent", "denominator": "net_asset_value", "frequency": "not_stated", "layer": "class", "effective_status": "document_date_only", "document_date": "2025-10-09", "numerator": "credit_rights", "limit": 50.0, "requires_initial_date": true}</a:t>
            </a:r>
          </a:p>
          <a:p>
            <a:r>
              <a:t>CNPJ 60010416000112 · Alocação mínima · Versão e prevalência: Leitura específica das cláusulas indicadas; condições e conflitos preservados. Seleção documental atual não comprova vigência jurídica por data isolada.</a:t>
            </a:r>
          </a:p>
          <a:p>
            <a:r>
              <a:t>CNPJ 60010416000112 · Alocação mínima · Resumo do histórico: {"count": 2, "dates": ["2025-03-20", "2025-10-09"], "document_count": 2, "sources": [{"document_id": "1051393", "title": "Regulamento", "reference_date": "2025-10-09", "version": "1", "page": "11", "url": "https://fnet.bmfbovespa.com.br/fnet/publico/visualizarDocumento?id=1051393", "sha256": "8469d613078ffd5a6c1d217885d8a397a16342c0b937ae4aa24b106505f233ae"}, {"document_id": "993786", "title": "Regulamento", "reference_date": "2025-03-20", "version": "1", "page": 6, "clause": "5.3", "url": "https://fnet.bmfbovespa.com.br/fnet/publico/visualizarDocumento?id=993786", "sha256": "fd0fdd369a195510d81f81f505195a0b09e5f43522a990afa7d58c4f872921c8"}], "reference": {"path": "history/60010416000112.json", "criterion_id": "allocation", "total_count": 2, "preview_count": 2, "full_text_deferred": true, "sha256": "8e2bd813f4c51cf01f6bfaad164bafe69d2bbb192f753eac92da3a01c2e63046"}}</a:t>
            </a:r>
          </a:p>
          <a:p>
            <a:r>
              <a:t>CNPJ 62696791000193 · Alocação mínima · Base da comparação IME: {"criterion_id": "allocation", "observed_value": null, "unit": "percent", "competence": "08/2026", "status": "not_comparable", "reason": "Operador, unidade, numerador ou base contratual sem correspondência exata no IME; proxies de PL/ativos não são intercambiáveis. CPR declarada no FIAGRO não comprova elegibilidade individual nem correspondência integral com a definição contratual de direitos creditórios do agronegócio.",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51.0, "comparison_required": true, "context_value": 99.72659520720684, "context_unit": "percent", "context_formula": "CPR / PL (rubrica declarada no FIAGRO)"}</a:t>
            </a:r>
          </a:p>
          <a:p>
            <a:r>
              <a:t>CNPJ 62696791000193 · Alocação mínima · Regulamento · ID 1143317 · 20/03/2026 · versão Regulamento — referência 20/03/2026 · p. 10 · Anexo I, 4.2 · https://fnet.bmfbovespa.com.br/fnet/publico/visualizarDocumento?id=1143317</a:t>
            </a:r>
          </a:p>
          <a:p>
            <a:r>
              <a:t>CNPJ 62696791000193 · Alocação mínima · Excerto da fonte:</a:t>
            </a:r>
          </a:p>
          <a:p>
            <a:r>
              <a:t>4.2 Decorridos 180 (cento e oitenta) dias do início de suas atividades, a Classe deverá possuir parcela mínima de 51% (cinquenta e um por cento) de seu Patrimônio Líquido representados por Direitos Creditórios do Agronegócio, enquanto a parcela de 49% (quarenta e nove por cento) remanescente deverá ser alocada em Outros Ativos ou Ativos Financeiros de Liquidez. 4.3 Os Direitos Creditórios do Agronegócio serão adquiridos integral ou parcialmente, sempre de acordo com a Política de Investimentos. 4.4 Tendo em vista (i) a natureza variada dos Direitos Creditórios do Agronegócio passíveis de aquisição pela Classe; (ii) a amplitude da Política de Investimentos; e (iii) a potencial diversificação de Cedentes/Endossantes e Devedores, não é possível precisar os processos de origem dos Direitos Creditórios do Agronegócio e as políticas de concessão de crédito adotadas pelos Cedentes/Endossantes. 4.5 Os Direitos Creditórios do Agronegócio deverão contar com toda a documentação necessária para o exercício das prerrogativas decorrentes da titularidade dos ativos, e capaz de comprovar a origem, a existência e a exigibilidade dos Direitos Creditórios do Agronegócio (“Documentos Comprobatórios”)</a:t>
            </a:r>
          </a:p>
          <a:p>
            <a:r>
              <a:t>CNPJ 62696791000193 · Alocação mínima · AGE · ID 1143319 · 20/03/2026 10:00 · versão AGE — referência 20/03/2026 10:00 · p. 3 · AGC 20/03/2026, 4.1(j)–(k) · https://fnet.bmfbovespa.com.br/fnet/publico/visualizarDocumento?id=1143319</a:t>
            </a:r>
          </a:p>
          <a:p>
            <a:r>
              <a:t>CNPJ 62696791000193 · Alocação mínima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Alocação mínima · Condição: Vigente a partir do fechamento de 23/03/2026. O agregado genérico de direitos do IME não comprova, sozinho, a natureza agronegócio de todos os ativos nem a conclusão da carência inicial.</a:t>
            </a:r>
          </a:p>
          <a:p>
            <a:r>
              <a:t>CNPJ 62696791000193 · Alocação mínima · Mecânica: {"operator": "&gt;=", "limit": 51.0, "unit": "percent", "numerator": "agribusiness_credit_rights", "denominator": "net_asset_value", "frequency": "daily", "layer": "62696791000193", "effective_from": "2026-03-23", "effective_status": "explicit_assembly_effective_date", "initial_days": 180, "initial_date": null}</a:t>
            </a:r>
          </a:p>
          <a:p>
            <a:r>
              <a:t>CNPJ 62696791000193 · Alocação mínima · Versão e prevalência: Leitura específica das cláusulas indicadas; condições e conflitos preservados. Seleção documental atual não comprova vigência jurídica por data isolada.</a:t>
            </a:r>
          </a:p>
          <a:p>
            <a:r>
              <a:t>CNPJ 55563624000109 · Alocação mínima · Base da comparação IME: {"criterion_id": "allocation", "observed_value": 99.87020304792446, "unit": "percent", "competence": "08/2026", "status": "not_comparable", "reason": "Vigência efetiva não comprovada; data do documento isolada não certifica enquadramento histórico.", "formula": "fidc_quotas / net_asset_value × 100",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67.0}</a:t>
            </a:r>
          </a:p>
          <a:p>
            <a:r>
              <a:t>CNPJ 55563624000109 · Alocação mínima · Regulamento · ID 1192614 · 30/04/2026 · versão Regulamento30/04/2026 · p. 13 · AnexoI4.10 · https://fnet.bmfbovespa.com.br/fnet/publico/visualizarDocumento?id=1192614</a:t>
            </a:r>
          </a:p>
          <a:p>
            <a:r>
              <a:t>CNPJ 55563624000109 · Alocação mínima · Excerto da fonte:</a:t>
            </a:r>
          </a:p>
          <a:p>
            <a:r>
              <a:t>4.10 Decorridos 180 (cento e oitenta) dias da Data da 1ª Integralização da Classe, a Classe deverá manter alocado, no mínimo, 67% (sessenta e sete por cento) do seu Patrimônio Líquido em Cotas da Classe Investida. 4.11 Nos termos dos artigos 45, parágrafo 7º, e 47 parágrafo único do Anexo Normativo II à Resolução CVM 175, uma vez que as Cotas são destinadas exclusivamente a Investidores Profissionais, a Classe poderá ter até 100% (cem por cento) de seu Patrimônio Líquido alocado em Cotas da Classe Investida, as quais são emitidas pela Classe Investida.</a:t>
            </a:r>
          </a:p>
          <a:p>
            <a:r>
              <a:t>CNPJ 55563624000109 · Alocação mínima · Regulamento · ID 1192614 · 30/04/2026 · versão Regulamento30/04/2026 · p. 12 · AnexoI4.9 · https://fnet.bmfbovespa.com.br/fnet/publico/visualizarDocumento?id=1192614</a:t>
            </a:r>
          </a:p>
          <a:p>
            <a:r>
              <a:t>CNPJ 55563624000109 · Alocação mínima · Excerto da fonte:</a:t>
            </a:r>
          </a:p>
          <a:p>
            <a:r>
              <a:t>4.9 A parcela do Patrimônio Líquido que não estiver alocada em Cotas da Classe Investida será necessariamente alocada em Ativos Financeiros de Liquidez. BTG Pactual SAC: 0800 772 28 27 - Ouvidoria: 0800 722 00 48 - btgpactual.com 5</a:t>
            </a:r>
          </a:p>
          <a:p>
            <a:r>
              <a:t>CNPJ 55563624000109 · Alocação mínima · Mecânica: {"operator": "&gt;=", "limit": 67.0, "unit": "percent", "numerator": "fidc_quotas", "denominator": "net_asset_value", "frequency": "not_stated", "layer": "class", "effective_status": "document_date_only", "document_date": "2026-04-30", "requires_initial_date": true}</a:t>
            </a:r>
          </a:p>
          <a:p>
            <a:r>
              <a:t>CNPJ 55563624000109 · Alocação mínima · Versão e prevalência: Leitura específica das cláusulas indicadas; condições e conflitos preservados. Seleção documental atual não comprova vigência jurídica por data isolada.</a:t>
            </a:r>
          </a:p>
          <a:p>
            <a:r>
              <a:t>CNPJ 55563624000109 · Alocação mínima · Resumo do histórico: {"count": 1, "dates": ["2026-04-30"], "document_count": 1, "sources": [{"document_id": "1192614", "title": "Regulamento", "reference_date": "2026-04-30", "version": "1", "page": "11-13", "url": "https://fnet.bmfbovespa.com.br/fnet/publico/visualizarDocumento?id=1192614", "sha256": "f56e63ace0acde41d2f47fb48f1ac7f3f7df5e2d32de092d7c5e075a52516632"}], "reference": {"path": "history/55563624000109.json", "criterion_id": "allocation", "total_count": 1, "preview_count": 1, "full_text_deferred": true, "sha256": "7835d573fb58a3c19adf5b8ecc2aee2bdbb9a88f7a0c0209b5f262b64c7522e3"}}</a:t>
            </a:r>
          </a:p>
          <a:p>
            <a:r>
              <a:t>CNPJ 62552447000120 · Alocação mínima · Base da comparação IME: {"criterion_id": "allocation", "observed_value": 104.36099466414683, "unit": "percent", "competence": "08/2026", "status": "not_comparable", "reason": "Vigência efetiva não comprovada; data do documento isolada não certifica enquadramento histórico.", "formula": "credit_rights / net_asset_value × 100",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50.0}</a:t>
            </a:r>
          </a:p>
          <a:p>
            <a:r>
              <a:t>CNPJ 62552447000120 · Alocação mínima · Regulamento · ID 1200623 · 21/05/2026 · versão Consolidado21/05/2026 aprovado pelo ato1200625 · p. 14 · AnexoI4.9 · https://fnet.bmfbovespa.com.br/fnet/publico/visualizarDocumento?id=1200623</a:t>
            </a:r>
          </a:p>
          <a:p>
            <a:r>
              <a:t>CNPJ 62552447000120 · Alocação mínima · Excerto da fonte:</a:t>
            </a:r>
          </a:p>
          <a:p>
            <a:r>
              <a:t>4.9 Decorridos 180 (cento e oitenta) dias da Data da Primeira Integralização, a Classe deverá manter alocados em Direitos Creditórios, no mínimo, para fins tributários, 67% (sessenta e sete por cento) do seu Patrimônio Líquido, nos termos da Lei 14.754 e da Resolução CMN 5.111, e, para fins regulatórios, 50% (cinquenta por cento) do seu Patrimônio Líquido, nos termos da Resolução CVM 175. Eventual desenquadramento da Carteira obrigará o Gestor aos procedimentos de desenquadramento e reenquadramento previstos na Lei 14.754 e na Resolução CMN 5.111, para f ins tributários, e na Resolução CVM 175, par</a:t>
            </a:r>
          </a:p>
          <a:p>
            <a:r>
              <a:t>CNPJ 62552447000120 · Alocação mínima · Mecânica: {"operator": "&gt;=", "unit": "percent", "numerator": "credit_rights", "denominator": "net_asset_value", "frequency": "not_stated", "layer": "class", "effective_status": "document_date_only", "document_date": "2026-05-21", "requires_initial_date": true, "limit": 50.0}</a:t>
            </a:r>
          </a:p>
          <a:p>
            <a:r>
              <a:t>CNPJ 62552447000120 · Alocação mínima · Versão e prevalência: Leitura específica das cláusulas indicadas; condições e conflitos preservados. Seleção documental atual não comprova vigência jurídica por data isolada.</a:t>
            </a:r>
          </a:p>
          <a:p>
            <a:r>
              <a:t>CNPJ 63953620000165 · Alocação mínima · Base da comparação IME: {"criterion_id": "allocation", "observed_value": 93.29241106598856, "unit": "percent", "competence": "08/2026", "status": "not_comparable", "reason": "Vigência efetiva não comprovada; data do documento isolada não certifica enquadramento histórico.", "formula": "credit_rights / net_asset_value × 100",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50.0}</a:t>
            </a:r>
          </a:p>
          <a:p>
            <a:r>
              <a:t>CNPJ 63953620000165 · Alocação mínima · Anexo ao Regulamento · ID 1222863 · 02/06/2026 · versão AnexoConsignadoPrivado02/06/2026 · p. 6 · 4.13 · https://fnet.bmfbovespa.com.br/fnet/publico/visualizarDocumento?id=1222863</a:t>
            </a:r>
          </a:p>
          <a:p>
            <a:r>
              <a:t>CNPJ 63953620000165 · Alocação mínima · Excerto da fonte:</a:t>
            </a:r>
          </a:p>
          <a:p>
            <a:r>
              <a:t>4.13 Decorridos 180 (cento e oitenta) dias do início de suas atividades, a Classe deverá manter alocado, no mínimo, para fins tributários, 67% (sessenta e sete por cento) do seu Patrimônio Líquido em Direitos Creditórios, nos termos da Resolução CMN 5.111, e para fins regulatórios, 50% (cinquenta por cento) do seu Patrimônio Líquido em Direitos Creditórios, nos termos da Resolução CVM 175. 4.14 Nos termos do Art. 45, §7º, inciso II, do Anexo Normativo II da Resolução CVM 175, a Classe poderá ter até 100% (cem por cento) de seu Patrimônio Líquido alocado em Direitos Creditórios, derivativos, observado o disposto nest</a:t>
            </a:r>
          </a:p>
          <a:p>
            <a:r>
              <a:t>CNPJ 63953620000165 · Alocação mínima · Mecânica: {"operator": "&gt;=", "unit": "percent", "denominator": "net_asset_value", "frequency": "not_stated", "layer": "class", "effective_status": "document_date_only", "document_date": "2026-06-02", "limit": 50.0, "numerator": "credit_rights", "requires_initial_date": true}</a:t>
            </a:r>
          </a:p>
          <a:p>
            <a:r>
              <a:t>CNPJ 63953620000165 · Alocação mínima · Versão e prevalência: Leitura específica das cláusulas indicadas; condições e conflitos preservados. Seleção documental atual não comprova vigência jurídica por data isolada.</a:t>
            </a:r>
          </a:p>
          <a:p>
            <a:r>
              <a:t>CNPJ 54871427000194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null, "comparison_required": true, "context_formula": "Direitos creditórios / PL", "context_value": 91.84981349574433, "context_unit": "percent"}</a:t>
            </a:r>
          </a:p>
          <a:p>
            <a:r>
              <a:t>CNPJ 54871427000194 · Alocação para tratamento tributário · Regulamento · ID 670691 · 2024-04-28 · versão 1 · p. 5 · https://fnet.bmfbovespa.com.br/fnet/publico/visualizarDocumento?id=670691</a:t>
            </a:r>
          </a:p>
          <a:p>
            <a:r>
              <a:t>CNPJ 54871427000194 · Alocação para tratamento tributário · Excerto da fonte:</a:t>
            </a:r>
          </a:p>
          <a:p>
            <a:r>
              <a:t>Os rendimentos auf eridos pelo cotista do FUNDO estarão sujeitos à tributação pelo IR, à alíquota de  15% (quinze por cento), na data da distribuição de rendimentos ou d a amortização de cotas,  considerando que o FUNDO seja classificado como entidade de investimento e cumpra os critérios de  composição da carteira com, no mínimo, 67% (sessenta e sete por cento) de direitos creditórios de  acordo com a Lei nº 14.754, de 12 de dezembro de 2023 (“Lei 14.754”) e a Resolução do Conselho  Monetário Nacional nº 5.111, de 21 de dezembro de 2023 (“Resolução CMN 5.111”).</a:t>
            </a:r>
          </a:p>
          <a:p>
            <a:r>
              <a:t>CNPJ 54871427000194 · Alocação para tratamento tributário · Regulamento · ID 670691 · 2024-04-28 · versão 1 · p. 5 · https://fnet.bmfbovespa.com.br/fnet/publico/visualizarDocumento?id=670691</a:t>
            </a:r>
          </a:p>
          <a:p>
            <a:r>
              <a:t>CNPJ 54871427000194 · Alocação para tratamento tributário · Excerto da fonte:</a:t>
            </a:r>
          </a:p>
          <a:p>
            <a:r>
              <a:t>A GESTORA do FUNDO buscará manter o cumprimento do requisito de composição da carteira do  FUNDO com, no mínimo 67% (sessenta e sete por cento) em direitos creditórios acima comentados.</a:t>
            </a:r>
          </a:p>
          <a:p>
            <a:r>
              <a:t> Todavia, caso a composição mínima do patrimônio líquido do FUNDO não seja atingida e ocorra o  ef etivo desenquadramento tributário da carteira, os cotistas pessoa f ísica ou jurídica residentes no  Brasil passarão a se sujeitar à regra geral de tributação de fundos, conforme previsto no art. 17 da Lei</a:t>
            </a:r>
          </a:p>
          <a:p>
            <a:r>
              <a:t> 14.754, segundo a qual: (1) haverá incidência periódica de IR todo mês de maio e novembro de cada  ano-calendário sobre os rendimentos auferidos pelo cotista em relação ao investimento nas cotas do  FUNDO, à alíquota de 15% (quinze por cento) ou 20% (vinte por cento), a depender da carteira do  FUNDO ser classificada, respectivamente, como de curto ou longo prazo; e (2) haverá incidência de IR  complementar, conforme alíquotas regressivas que variam de 22,5% (vinte e dois e meio por cento) a  15% (quinze por cento) a depender do prazo de aplicação, por ocasião da amortização ou liquidação  das Cotas do FUNDO. Certos tipos de investidor podem se benef iciar de alíquotas dif erenciadas.</a:t>
            </a:r>
          </a:p>
          <a:p>
            <a:r>
              <a:t>CNPJ 54871427000194 · Alocação para tratamento tributário · Condição: Documentos atuais selecionados no inventário por categoria/escopo; a data documental isolada não comprova vigência jurídica.</a:t>
            </a:r>
          </a:p>
          <a:p>
            <a:r>
              <a:t>CNPJ 54871427000194 · Alocação para tratamento tributário · Versão e prevalência: Documentos atuais selecionados no inventário por categoria/escopo; a data documental isolada não comprova vigência jurídica.</a:t>
            </a:r>
          </a:p>
          <a:p>
            <a:r>
              <a:t>CNPJ 54871427000194 · Alocação para tratamento tributário · Resumo do histórico: {"count": 1, "dates": ["2024-04-19"], "document_count": 1, "sources": [{"document_id": "670689", "title": "Regulamento", "reference_date": "2024-04-19", "version": "1", "page": 5, "url": "https://fnet.bmfbovespa.com.br/fnet/publico/visualizarDocumento?id=670689", "sha256": "891bc9bc5d87bbc02ec139077a84d2702eb81ea02035fb71d24f5b8366b94a0b"}], "reference": {"path": "history/54871427000194.json", "criterion_id": "tax_allocation", "total_count": 1, "preview_count": 1, "full_text_deferred": true, "sha256": "35d7cd99be50c7287c9fb675cf4f2e736002315295a225a9efa79c8d9186d874"}}</a:t>
            </a:r>
          </a:p>
          <a:p>
            <a:r>
              <a:t>CNPJ 60010416000112 · Alocação para tratamento tributário · Base da comparação IME: {"criterion_id": "tax_allocation", "observed_value": 117.78665480900618, "unit": "percent", "competence": "08/2026", "status": "not_comparable", "reason": "Vigência efetiva não comprovada; data do documento isolada não certifica enquadramento histórico.", "formula": "credit_rights / net_asset_value × 100",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67.0}</a:t>
            </a:r>
          </a:p>
          <a:p>
            <a:r>
              <a:t>CNPJ 60010416000112 · Alocação para tratamento tributário · Regulamento · ID 1051393 · 09/10/2025 · versão Regulamento09/10/2025 · p. 11 · AnexoI4.6 · https://fnet.bmfbovespa.com.br/fnet/publico/visualizarDocumento?id=1051393</a:t>
            </a:r>
          </a:p>
          <a:p>
            <a:r>
              <a:t>CNPJ 60010416000112 · Alocação para tratamento tributário · Excerto da fonte:</a:t>
            </a:r>
          </a:p>
          <a:p>
            <a:r>
              <a:t>4.6 Decorridos 180 (cento e oitenta) dias do início de suas atividades, a Classe deverá manter alocado, no mínimo: para f ins tributários, 67% (sessenta e sete por cento) do seu Patrimônio Líquido em Direitos Creditórios, nos termos da Resolução CMN 5.111; e para fins regulatórios, 50% (cinquenta por cento) do seu Patrimônio Líquido em Direitos Creditórios, nos termos da Resolução CVM 175. BTG Pactual SAC: 0800 772 28 27 - Ouvidoria: 0800 722 00 48 - btgpactual.com 11</a:t>
            </a:r>
          </a:p>
          <a:p>
            <a:r>
              <a:t>CNPJ 60010416000112 · Alocação para tratamento tributário · Mecânica: {"operator": "&gt;=", "unit": "percent", "denominator": "net_asset_value", "frequency": "not_stated", "layer": "class", "effective_status": "document_date_only", "document_date": "2025-10-09", "numerator": "credit_rights", "limit": 67.0, "requires_initial_date": true}</a:t>
            </a:r>
          </a:p>
          <a:p>
            <a:r>
              <a:t>CNPJ 60010416000112 · Alocação para tratamento tributário · Versão e prevalência: Leitura específica das cláusulas indicadas; condições e conflitos preservados. Seleção documental atual não comprova vigência jurídica por data isolada.</a:t>
            </a:r>
          </a:p>
          <a:p>
            <a:r>
              <a:t>CNPJ 60010416000112 · Alocação para tratamento tributário · Resumo do histórico: {"count": 1, "dates": ["2025-03-20"], "document_count": 1, "sources": [{"document_id": "993786", "title": "Regulamento", "reference_date": "2025-03-20", "version": "1", "page": 6, "clause": "5.3", "url": "https://fnet.bmfbovespa.com.br/fnet/publico/visualizarDocumento?id=993786", "sha256": "fd0fdd369a195510d81f81f505195a0b09e5f43522a990afa7d58c4f872921c8"}], "reference": {"path": "history/60010416000112.json", "criterion_id": "tax_allocation", "total_count": 1, "preview_count": 1, "full_text_deferred": true, "sha256": "8e2bd813f4c51cf01f6bfaad164bafe69d2bbb192f753eac92da3a01c2e63046"}}</a:t>
            </a:r>
          </a:p>
          <a:p>
            <a:r>
              <a:t>CNPJ 62696791000193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null, "comparison_required": true, "context_formula": "Direitos creditórios / PL", "context_value": null, "context_unit": "percent"}</a:t>
            </a:r>
          </a:p>
          <a:p>
            <a:r>
              <a:t>CNPJ 62696791000193 · Alocação para tratamento tributário · Regulamento · ID 1143317 · 2026-03-20 · versão 1 · p. 30 · https://fnet.bmfbovespa.com.br/fnet/publico/visualizarDocumento?id=1143317</a:t>
            </a:r>
          </a:p>
          <a:p>
            <a:r>
              <a:t>CNPJ 62696791000193 · Alocação para tratamento tributário · Excerto da fonte:</a:t>
            </a:r>
          </a:p>
          <a:p>
            <a:r>
              <a:t>Os rendimentos distribuídos pela Classe, de modo geral, sujeitam-se à incidência do IRF à alíquota  de 20% (vinte por cento), inclusive quando distribuídos à Cotista que seja pessoa jurídica isenta.</a:t>
            </a:r>
          </a:p>
          <a:p>
            <a:r>
              <a:t> Os ganhos de capital ou rendimentos auf eridos na alienação ou no resgate de cotas da Classe  sujeitam-se à tributação pelo IRF à alíquota de 20% (vinte por cento), no caso de resgate de cotas,  ou conforme normas aplicáveis aos ganhos de capital ou ganhos líquidos auf eridos em renda  variável, nos casos de alienação de cotas.</a:t>
            </a:r>
          </a:p>
          <a:p>
            <a:r>
              <a:t> O IRF pago será considerado: (i) antecipação da tributação corporativa para os investidores pessoa  jurídica (nos regimes de lucro real, presumido ou arbitrado); e (ii) def initivo, nos demais casos,  incluindo de investidores pessoas f ísicas.</a:t>
            </a:r>
          </a:p>
          <a:p>
            <a:r>
              <a:t> Não obstante o disposto no item acima, em conf ormidade com o disposto na Lei 11.033, com a  redação dada pela Lei nº 14.754, o cotista pessoa f ísica f icará isento do IRF e na declaração de  ajuste anual, sobre as distribuições de lucro realizadas pela Classe, exclusivamente na hipótese de  a Classe, cumulativamente: (a) possuir, no mínimo, 100 (cem) cotistas; e (b) as cotas serem  admitidas à negociação exclusivamente em bolsas de valores ou no mercado de balcão organizado.</a:t>
            </a:r>
          </a:p>
          <a:p>
            <a:r>
              <a:t> O benef ício não será concedido ao Cotista que for pessoa física, titular de cotas que representem  10% (dez por cento) ou mais da totalidade das cotas emitidas pela Classe ou cujas cotas lhe derem  direito ao recebimento de rendimento superior a 10% (dez por cento) do total de rendimentos  auf eridos pela Classe.</a:t>
            </a:r>
          </a:p>
          <a:p>
            <a:r>
              <a:t> O benef ício também não será concedido aos Cotistas pessoas físicas que, individualmente ou em  conjunto com parentes até segundo grau, sejam titulares de cotas que representem 30% (trinta por  cento) ou mais da totalidade das cotas emitidas pela Classe, ou ainda cujas cotas lhes derem direito  ao recebimento de rendimento superior a 30% (trinta por cento) do total de rendimentos auf eridos  pela Classe.</a:t>
            </a:r>
          </a:p>
          <a:p>
            <a:r>
              <a:t> Não há garantia de que o benef ício f iscal atualmente vigente não venha a ser posteriormente  restringido, suspenso, revogado ou extinto por legislação superveniente, ocasião na qual poderá vir  a incidir a tributação sobre os rendimentos distribuídos pela Classe, de acordo com os termos da  legislação que vier a estabelecer a incidência tributária.</a:t>
            </a:r>
          </a:p>
          <a:p>
            <a:r>
              <a:t>CNPJ 62696791000193 · Alocação para tratamento tributário · Condição: Documentos atuais selecionados no inventário por categoria/escopo; a data documental isolada não comprova vigência jurídica.</a:t>
            </a:r>
          </a:p>
          <a:p>
            <a:r>
              <a:t>CNPJ 62696791000193 · Alocação para tratamento tributário · Versão e prevalência: Documentos atuais selecionados no inventário por categoria/escopo; a data documental isolada não comprova vigência jurídica.</a:t>
            </a:r>
          </a:p>
          <a:p>
            <a:r>
              <a:t>CNPJ 55563624000109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null, "comparison_required": true, "context_formula": "Direitos creditórios / PL", "context_value": 0.0, "context_unit": "percent"}</a:t>
            </a:r>
          </a:p>
          <a:p>
            <a:r>
              <a:t>CNPJ 55563624000109 · Alocação para tratamento tributário · Regulamento · ID 1192614 · 2026-04-30 · versão 1 · p. 38 · https://fnet.bmfbovespa.com.br/fnet/publico/visualizarDocumento?id=1192614</a:t>
            </a:r>
          </a:p>
          <a:p>
            <a:r>
              <a:t>CNPJ 55563624000109 · Alocação para tratamento tributário · Excerto da fonte:</a:t>
            </a:r>
          </a:p>
          <a:p>
            <a:r>
              <a:t>(xiii) Risco de descaracterização do regime tributário aplicável à Classe. Caso (a) a Classe deixe de  cumprir com o percentual de, pelo menos, 67% (sessenta e sete por cento) do Patrimônio Líquido  aplicado em direitos creditórios, nos termos dos artigos 18, 19 e 24 da Lei 14.754, para fins de  enquadramento do FUNDO e da Classe como “Entidade de Investimento” na forma da Resolução do  CMN nº 5.111, de 21 de dezembro de 2023, conforme alterada, ou qualquer outra norma que venha  a substitui-la, sujeitando o FUNDO e a Classe ao “Regime Específico dos Fundos Não Sujeitos à  Tributação Periódica” conforme a na Seção III da Lei 14.754 ou deixe de satisfazer qualquer uma das  condições previstas na Lei 14.754, neste Anexo e/ou no Regulamento; e/ou (b) o FUNDO ou Classe  deixe de ser enquadrado como “Entidade de Investimento” na forma da Resolução do CMN nº 5.111,  de 21 de dezembro de 2023, ou demais normas do CMN e da CVM, não é possível garantir que o  FUNDO e/ou Classe continuarão a receber o tratamento tributário destinado ao “Regime Específico  dos Fundos Não Sujeitos à Tributação Periódica”, conforme definido na legislação específica.</a:t>
            </a:r>
          </a:p>
          <a:p>
            <a:r>
              <a:t>CNPJ 55563624000109 · Alocação para tratamento tributário · Regulamento · ID 1192614 · 2026-04-30 · versão 1 · p. 6 · https://fnet.bmfbovespa.com.br/fnet/publico/visualizarDocumento?id=1192614</a:t>
            </a:r>
          </a:p>
          <a:p>
            <a:r>
              <a:t>CNPJ 55563624000109 · Alocação para tratamento tributário · Excerto da fonte:</a:t>
            </a:r>
          </a:p>
          <a:p>
            <a:r>
              <a:t>No caso de Fundos de Investimento em Direitos Creditórios (FIDC) classificados como “entidade de investimento” e  cuja carteira seja composta por, no mínimo, 67% (sessenta e sete por cento) de direitos creditórios conforme definições  prescritas em regulamentação expedida pelo Conselho Monetário Nacional, os rendimentos auferidos na amortização  ou no resgate das cotas, inclusive quando decorrentes da liquidação do FUNDO, ficam sujeitos à incidência do IRF à  alíquota de 15% (quinze por cento) sobre a diferença positiva entre o valor de amortização ou resgate e o custo de  aquisição das Cotas.</a:t>
            </a:r>
          </a:p>
          <a:p>
            <a:r>
              <a:t>CNPJ 55563624000109 · Alocação para tratamento tributário · Condição: Documentos atuais selecionados no inventário por categoria/escopo; a data documental isolada não comprova vigência jurídica.</a:t>
            </a:r>
          </a:p>
          <a:p>
            <a:r>
              <a:t>CNPJ 55563624000109 · Alocação para tratamento tributário · Versão e prevalência: Documentos atuais selecionados no inventário por categoria/escopo; a data documental isolada não comprova vigência jurídica.</a:t>
            </a:r>
          </a:p>
          <a:p>
            <a:r>
              <a:t>CNPJ 55563624000109 · Alocação para tratamento tributário · Resumo do histórico: {"count": 2, "dates": ["2025-01-31", "2026-01-31"], "document_count": 2, "sources": [{"document_id": "1178840", "title": "Demonstrações Financeiras", "reference_date": "2026-01-31", "version": "1", "page": 23, "url": "https://fnet.bmfbovespa.com.br/fnet/publico/visualizarDocumento?id=1178840", "sha256": "c458e98664c5c907ddb5a05a94b120bed4e05295b2bfc420f5ba69af0a229abe"}, {"document_id": "891861", "title": "Demonstrações Financeiras", "reference_date": "2025-01-31", "version": "1", "page": 24, "url": "https://fnet.bmfbovespa.com.br/fnet/publico/visualizarDocumento?id=891861", "sha256": "e9cb9e6ddbe505fe068cfcac33605165a98313489de0d3ce6d4d238263c3f3e7"}], "reference": {"path": "history/55563624000109.json", "criterion_id": "tax_allocation", "total_count": 2, "preview_count": 2, "full_text_deferred": true, "sha256": "7835d573fb58a3c19adf5b8ecc2aee2bdbb9a88f7a0c0209b5f262b64c7522e3"}}</a:t>
            </a:r>
          </a:p>
          <a:p>
            <a:r>
              <a:t>CNPJ 62552447000120 · Alocação para tratamento tributário · Base da comparação IME: {"criterion_id": "tax_allocation", "observed_value": 104.36099466414683, "unit": "percent", "competence": "08/2026", "status": "not_comparable", "reason": "Vigência efetiva não comprovada; data do documento isolada não certifica enquadramento histórico.", "formula": "credit_rights / net_asset_value × 100",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67.0}</a:t>
            </a:r>
          </a:p>
          <a:p>
            <a:r>
              <a:t>CNPJ 62552447000120 · Alocação para tratamento tributário · Regulamento · ID 1200623 · 21/05/2026 · versão Consolidado21/05/2026 aprovado pelo ato1200625 · p. 14 · AnexoI4.9 · https://fnet.bmfbovespa.com.br/fnet/publico/visualizarDocumento?id=1200623</a:t>
            </a:r>
          </a:p>
          <a:p>
            <a:r>
              <a:t>CNPJ 62552447000120 · Alocação para tratamento tributário · Excerto da fonte:</a:t>
            </a:r>
          </a:p>
          <a:p>
            <a:r>
              <a:t>4.9 Decorridos 180 (cento e oitenta) dias da Data da Primeira Integralização, a Classe deverá manter alocados em Direitos Creditórios, no mínimo, para fins tributários, 67% (sessenta e sete por cento) do seu Patrimônio Líquido, nos termos da Lei 14.754 e da Resolução CMN 5.111, e, para fins regulatórios, 50% (cinquenta por cento) do seu Patrimônio Líquido, nos termos da Resolução CVM 175. Eventual desenquadramento da Carteira obrigará o Gestor aos procedimentos de desenquadramento e reenquadramento previstos na Lei 14.754 e na Resolução CMN 5.111, para f ins tributários, e na Resolução CVM 175, par</a:t>
            </a:r>
          </a:p>
          <a:p>
            <a:r>
              <a:t>CNPJ 62552447000120 · Alocação para tratamento tributário · Mecânica: {"operator": "&gt;=", "unit": "percent", "numerator": "credit_rights", "denominator": "net_asset_value", "frequency": "not_stated", "layer": "class", "effective_status": "document_date_only", "document_date": "2026-05-21", "requires_initial_date": true, "limit": 67.0}</a:t>
            </a:r>
          </a:p>
          <a:p>
            <a:r>
              <a:t>CNPJ 62552447000120 · Alocação para tratamento tributário · Versão e prevalência: Leitura específica das cláusulas indicadas; condições e conflitos preservados. Seleção documental atual não comprova vigência jurídica por data isolada.</a:t>
            </a:r>
          </a:p>
          <a:p>
            <a:r>
              <a:t>CNPJ 63953620000165 · Alocação para tratamento tributário · Base da comparação IME: {"criterion_id": "tax_allocation", "observed_value": 93.29241106598856, "unit": "percent", "competence": "08/2026", "status": "not_comparable", "reason": "Vigência efetiva não comprovada; data do documento isolada não certifica enquadramento histórico.", "formula": "credit_rights / net_asset_value × 100",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67.0}</a:t>
            </a:r>
          </a:p>
          <a:p>
            <a:r>
              <a:t>CNPJ 63953620000165 · Alocação para tratamento tributário · Anexo ao Regulamento · ID 1222863 · 02/06/2026 · versão AnexoConsignadoPrivado02/06/2026 · p. 6 · 4.13 · https://fnet.bmfbovespa.com.br/fnet/publico/visualizarDocumento?id=1222863</a:t>
            </a:r>
          </a:p>
          <a:p>
            <a:r>
              <a:t>CNPJ 63953620000165 · Alocação para tratamento tributário · Excerto da fonte:</a:t>
            </a:r>
          </a:p>
          <a:p>
            <a:r>
              <a:t>4.13 Decorridos 180 (cento e oitenta) dias do início de suas atividades, a Classe deverá manter alocado, no mínimo, para fins tributários, 67% (sessenta e sete por cento) do seu Patrimônio Líquido em Direitos Creditórios, nos termos da Resolução CMN 5.111, e para fins regulatórios, 50% (cinquenta por cento) do seu Patrimônio Líquido em Direitos Creditórios, nos termos da Resolução CVM 175. 4.14 Nos termos do Art. 45, §7º, inciso II, do Anexo Normativo II da Resolução CVM 175, a Classe poderá ter até 100% (cem por cento) de seu Patrimônio Líquido alocado em Direitos Creditórios, derivativos, observado o disposto nest</a:t>
            </a:r>
          </a:p>
          <a:p>
            <a:r>
              <a:t>CNPJ 63953620000165 · Alocação para tratamento tributário · Mecânica: {"operator": "&gt;=", "unit": "percent", "denominator": "net_asset_value", "frequency": "not_stated", "layer": "class", "effective_status": "document_date_only", "document_date": "2026-06-02", "limit": 67.0, "numerator": "credit_rights", "requires_initial_date": true}</a:t>
            </a:r>
          </a:p>
          <a:p>
            <a:r>
              <a:t>CNPJ 63953620000165 · Alocação para tratamento tributário · Versão e prevalência: Leitura específica das cláusulas indicadas; condições e conflitos preservados. Seleção documental atual não comprova vigência jurídica por data isolada.</a:t>
            </a:r>
          </a:p>
          <a:p>
            <a:r>
              <a:t>CNPJ 54871427000194 · Classes investidas e limites do FIC · Demonstrações Financeiras - Fusão, cisão e incorporação · ID 1219522 · 2026-02-02 · versão 1 · p. 31 · https://fnet.bmfbovespa.com.br/fnet/publico/visualizarDocumento?id=1219522</a:t>
            </a:r>
          </a:p>
          <a:p>
            <a:r>
              <a:t>CNPJ 54871427000194 · Classes investidas e limites do FIC · Excerto da fonte:</a:t>
            </a:r>
          </a:p>
          <a:p>
            <a:r>
              <a:t>xv) Risco Regulatório e Judicial. Eventuais alterações ou novas normas ou leis aplicáveis à Classe,  seus ativos e a eventuais fundos investidos, incluindo, mas não se limitando àquelas referentes  a tributos, bem como decisões judiciais ou jurisprudência aplicando as regulamentações  existentes ou interpretando novas regulamentações, podem causar um efeito adverso relevante  no preço dos ativos e/ou na performance das posições financeiras adquiridas pela Classe e/ou  pelos fundos Investidos. Ainda, nesse sentido, poderão ocorrer interferências de autoridades  governamentais e órgãos reguladores na regulação dos mercados, bem como alterações das  políticas monetária e cambial. Tais eventos poderão impactar de maneira adversa o valor das  Cotas.</a:t>
            </a:r>
          </a:p>
          <a:p>
            <a:r>
              <a:t>CNPJ 54871427000194 · Classes investidas e limites do FIC · Condição: Documentos atuais selecionados no inventário por categoria/escopo; a data documental isolada não comprova vigência jurídica.</a:t>
            </a:r>
          </a:p>
          <a:p>
            <a:r>
              <a:t>CNPJ 54871427000194 · Classes investidas e limites do FIC · Versão e prevalência: Documentos atuais selecionados no inventário por categoria/escopo; a data documental isolada não comprova vigência jurídica.</a:t>
            </a:r>
          </a:p>
          <a:p>
            <a:r>
              <a:t>CNPJ 54871427000194 · Classes investidas e limites do FIC · Resumo do histórico: {"count": 5, "dates": ["2024-12-31", "2025-01-01", "2025-12-31"], "document_count": 3, "sources": [{"document_id": "1151805", "title": "Demonstrações Financeiras", "reference_date": "2025-12-31", "version": "1", "page": 31, "url": "https://fnet.bmfbovespa.com.br/fnet/publico/visualizarDocumento?id=1151805", "sha256": "f1cea70b152968bf96ef9221b27225953cb20aeef487b2798db3c25e11b528d4"}, {"document_id": "869529", "title": "Demonstrações Financeiras", "reference_date": "2025-01-01", "version": "1", "page": 32, "url": "https://fnet.bmfbovespa.com.br/fnet/publico/visualizarDocumento?id=869529", "sha256": "9a93a9369ac8efdbc54ff8fcee3ccac3abf88edab4807b9323d3852450771b2a"}, {"document_id": "870070", "title": "Demonstrações Financeiras", "reference_date": "2024-12-31", "version": "1", "page": 32, "url": "https://fnet.bmfbovespa.com.br/fnet/publico/visualizarDocumento?id=870070", "sha256": "9a93a9369ac8efdbc54ff8fcee3ccac3abf88edab4807b9323d3852450771b2a"}], "reference": {"path": "history/54871427000194.json", "criterion_id": "investee", "total_count": 5, "preview_count": 3, "full_text_deferred": true, "sha256": "35d7cd99be50c7287c9fb675cf4f2e736002315295a225a9efa79c8d9186d874"}}</a:t>
            </a:r>
          </a:p>
          <a:p>
            <a:r>
              <a:t>CNPJ 60010416000112 · Classes investidas e limites do FIC · Motivo: Não localizada uma cláusula material para este critério nos textos identificados e processados. A ausência de resultado não comprova inexistência da regra.</a:t>
            </a:r>
          </a:p>
          <a:p>
            <a:r>
              <a:t>CNPJ 62696791000193 · Classes investidas e limites do FIC · Regulamento · ID 1143317 · 20/03/2026 · versão Regulamento — referência 20/03/2026 · p. 7 · Anexo I, 1.1, Objetivo, categoria Geral · https://fnet.bmfbovespa.com.br/fnet/publico/visualizarDocumento?id=1143317</a:t>
            </a:r>
          </a:p>
          <a:p>
            <a:r>
              <a:t>CNPJ 62696791000193 · Classes investidas e limites do FIC · Excerto da fonte:</a:t>
            </a:r>
          </a:p>
          <a:p>
            <a:r>
              <a:t>(D) Categoria “Geral” (“Ativos em Geral do Agronegócio”): (i) cotas de classes que apliquem mais de 50% (cinquenta por cento) de seu patrimônio líquido nos ativos referidos nos incisos “A” a “D” acima, o que inclui cotas de outros FIAGRO, mas não se limita a essa categoria de f undos. Os Ativos Imobiliários do Agronegócio, Participações do Agronegócio, Ativos Financeiros do Agronegócio e Ativos em Geral do Agronegócio, quando ref eridos em conjunto, os “Outros Ativos”. Não há limites máximos de aplicação por emissor ou devedor, em função de um percentual do Patrimônio Líquido. O objetivo da Classe não representa, sob qualquer hipótese, garantia da Classe ou de seus Prestadores de Serviços Essenciais e/ou da Cogestora quanto à segurança, rentabilidade e liquidez dos títu</a:t>
            </a:r>
          </a:p>
          <a:p>
            <a:r>
              <a:t>CNPJ 62696791000193 · Classes investidas e limites do FIC · Regulamento · ID 1143317 · 20/03/2026 · versão Regulamento — referência 20/03/2026 · p. 11 · Anexo I, 4.8–4.9 · https://fnet.bmfbovespa.com.br/fnet/publico/visualizarDocumento?id=1143317</a:t>
            </a:r>
          </a:p>
          <a:p>
            <a:r>
              <a:t>CNPJ 62696791000193 · Classes investidas e limites do FIC · Excerto da fonte:</a:t>
            </a:r>
          </a:p>
          <a:p>
            <a:r>
              <a:t>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relacionadas ao Gestor. 4.8.1 As aplicações em Direitos Creditórios do Agronegócio decorrentes de receitas públicas originárias ou derivadas da União, dos Estados, do Distrito Federal e dos Municípios ou de suas autarquias e f undações, assim como em Direitos Creditórios do Agronegócio cedidos ou originados por empresas controladas pelo poder público, não estão submetidas ao limite de concentração por emissor previsto no caput. 4.9 Nos termos do Art. 45 do Anexo</a:t>
            </a:r>
          </a:p>
          <a:p>
            <a:r>
              <a:t>CNPJ 62696791000193 · Classes investidas e limites do FIC · Condição: O regulamento não identifica CNPJs de classes efetivamente investidas. Permissão de investimento não comprova posição.</a:t>
            </a:r>
          </a:p>
          <a:p>
            <a:r>
              <a:t>CNPJ 62696791000193 · Classes investidas e limites do FIC · Versão e prevalência: Leitura específica das cláusulas indicadas; condições e conflitos preservados. Seleção documental atual não comprova vigência jurídica por data isolada.</a:t>
            </a:r>
          </a:p>
          <a:p>
            <a:r>
              <a:t>CNPJ 55563624000109 · Classes investidas e limites do FIC · Regulamento · ID 1192614 · 30/04/2026 · versão Regulamento30/04/2026 · p. 11 · AnexoI4.1 · https://fnet.bmfbovespa.com.br/fnet/publico/visualizarDocumento?id=1192614</a:t>
            </a:r>
          </a:p>
          <a:p>
            <a:r>
              <a:t>CNPJ 55563624000109 · Classes investidas e limites do FIC · Excerto da fonte:</a:t>
            </a:r>
          </a:p>
          <a:p>
            <a:r>
              <a:t>4.1 Observados os demais termos deste Anexo, o objetivo da Classe é investir seus recursos em (i) cotas subordinadas mezanino de emissão da classe única do MERCADO CRÉDITO II BRASIL FUNDO DE INVESTIMENTO EM DIREITOS CREDITÓRIOS NÃO PADRONIZADOS, fundo de investimento em direitos creditórios inscrito no CNPJ sob o nº 41.970.012/0001-26 (“Cotas da Classe Investida” e “Classe Investida”, respectivamente), a qual, por sua vez, aplica seus recursos preponderantemente em direitos creditórios originados pela Mercado Pago, de acordo com os termos e condições est</a:t>
            </a:r>
          </a:p>
          <a:p>
            <a:r>
              <a:t>CNPJ 55563624000109 · Classes investidas e limites do FIC · Condição: Vínculo contratual identificado; quantidade de cotas efetivamente detida exige posição do FIC. Não somar PL do FIC e do investido.</a:t>
            </a:r>
          </a:p>
          <a:p>
            <a:r>
              <a:t>CNPJ 55563624000109 · Classes investidas e limites do FIC · Versão e prevalência: Leitura específica das cláusulas indicadas; condições e conflitos preservados. Seleção documental atual não comprova vigência jurídica por data isolada.</a:t>
            </a:r>
          </a:p>
          <a:p>
            <a:r>
              <a:t>CNPJ 55563624000109 · Classes investidas e limites do FIC · Resumo do histórico: {"count": 2, "dates": ["2025-01-31", "2026-01-31"], "document_count": 2, "sources": [{"document_id": "1178840", "title": "Demonstrações Financeiras", "reference_date": "2026-01-31", "version": "1", "page": 4, "url": "https://fnet.bmfbovespa.com.br/fnet/publico/visualizarDocumento?id=1178840", "sha256": "c458e98664c5c907ddb5a05a94b120bed4e05295b2bfc420f5ba69af0a229abe"}, {"document_id": "891861", "title": "Demonstrações Financeiras", "reference_date": "2025-01-31", "version": "1", "page": 18, "url": "https://fnet.bmfbovespa.com.br/fnet/publico/visualizarDocumento?id=891861", "sha256": "e9cb9e6ddbe505fe068cfcac33605165a98313489de0d3ce6d4d238263c3f3e7"}], "reference": {"path": "history/55563624000109.json", "criterion_id": "investee", "total_count": 2, "preview_count": 2, "full_text_deferred": true, "sha256": "7835d573fb58a3c19adf5b8ecc2aee2bdbb9a88f7a0c0209b5f262b64c7522e3"}}</a:t>
            </a:r>
          </a:p>
          <a:p>
            <a:r>
              <a:t>CNPJ 62552447000120 · Classes investidas e limites do FIC · Regulamento · ID 1200623 · 2026-05-21 · versão 1 · p. 6 · https://fnet.bmfbovespa.com.br/fnet/publico/visualizarDocumento?id=1200623</a:t>
            </a:r>
          </a:p>
          <a:p>
            <a:r>
              <a:t>CNPJ 62552447000120 · Classes investidas e limites do FIC · Excerto da fonte:</a:t>
            </a:r>
          </a:p>
          <a:p>
            <a:r>
              <a:t>integrantes do conglomerado econômico de instituições  f inanceiras classificadas como S1 pelo Banco Central do  Brasil (“BACEN” e “Instituições Financeiras S1”,  respectivamente), desde que não representem títulos de  emissão ou coobrigação de instituições financeiras, bem  como cotas de f undos de investimento que invistam  preponderantemente nestes direitos, títulos e/ou valores  mobiliários; e</a:t>
            </a:r>
          </a:p>
          <a:p>
            <a:r>
              <a:t> (d) “Direitos Creditórios Refinanciamento Livre”, na forma  de CCBs originadas no âmbito de um refinanciamento, de  acordo com a política de cobrança vigente, de Direitos  Creditórios Consignado Privado e de Direitos Creditórios  FGTS, que não contem com o lastro de Consignação ou  de cessão f iduciária do Saque-Aniversário,  respectivamente; e</a:t>
            </a:r>
          </a:p>
          <a:p>
            <a:r>
              <a:t> (ii) “Ativos Financeiros”, assim entendidos como, em conjunto:</a:t>
            </a:r>
          </a:p>
          <a:p>
            <a:r>
              <a:t> (a) moeda corrente nacional;</a:t>
            </a:r>
          </a:p>
          <a:p>
            <a:r>
              <a:t> (b) títulos públicos f ederais;</a:t>
            </a:r>
          </a:p>
          <a:p>
            <a:r>
              <a:t> (c) ativos f inanceiros de renda f ixa de emissão ou  coobrigação de Instituições Financeiras S1;</a:t>
            </a:r>
          </a:p>
          <a:p>
            <a:r>
              <a:t> (d) operações compromissadas, desde que lastreadas nos  títulos mencionados nas alíneas (b) e (c) acima; e</a:t>
            </a:r>
          </a:p>
          <a:p>
            <a:r>
              <a:t> (e) cotas do BTG Pactual Tesouro Selic Fundo de  Investimento Renda Fixa Ref erenciado DI, inscrito no  CNPJ sob o nº 09.215.250/0001-13;</a:t>
            </a:r>
          </a:p>
          <a:p>
            <a:r>
              <a:t> observados todos os limites de composição e diversificação da carteira da  Classe (“Carteira”), estabelecidos neste Regulamento e na  regulamentação aplicável.</a:t>
            </a:r>
          </a:p>
          <a:p>
            <a:r>
              <a:t> O objetivo da Classe não representa, sob qualquer hipótese, promessa,  garantia ou sugestão da Classe ou de seus Prestadores de Serviços  Essenciais quanto à segurança, rentabilidade e liquidez dos títulos  componentes de sua Carteira.</a:t>
            </a:r>
          </a:p>
          <a:p>
            <a:r>
              <a:t>CNPJ 62552447000120 · Classes investidas e limites do FIC · Condição: Documentos atuais selecionados no inventário por categoria/escopo; a data documental isolada não comprova vigência jurídica.</a:t>
            </a:r>
          </a:p>
          <a:p>
            <a:r>
              <a:t>CNPJ 62552447000120 · Classes investidas e limites do FIC · Versão e prevalência: Documentos atuais selecionados no inventário por categoria/escopo; a data documental isolada não comprova vigência jurídica.</a:t>
            </a:r>
          </a:p>
          <a:p>
            <a:r>
              <a:t>CNPJ 63953620000165 · Classes investidas e limites do FIC · Motivo: Não localizada uma cláusula material para este critério nos textos identificados e processados. A ausência de resultado não comprova inexistência da regra.</a:t>
            </a:r>
          </a:p>
          <a:p>
            <a:r>
              <a:t>CNPJ 54871427000194 · Classe, subclasse e responsabilidade · Regulamento · ID 670691 · 2024-04-28 · versão 1 · p. 29 · https://fnet.bmfbovespa.com.br/fnet/publico/visualizarDocumento?id=670691</a:t>
            </a:r>
          </a:p>
          <a:p>
            <a:r>
              <a:t>CNPJ 54871427000194 · Classe, subclasse e responsabilidade · Excerto da fonte:</a:t>
            </a:r>
          </a:p>
          <a:p>
            <a:r>
              <a:t>Anexo I ao Regulamento CLASSE ÚNICA DE RESPONSABILIDADE LIMITADA DO CONSIGNADO DELTA RECEIVABLES I FUNDO DE INVESTIMENTO EM DIREITOS CREDITÓRIOS  pelo Endossante e depositados em seu conta de sua titularidade para posterior repasse à  Classe. Neste caso, a Classe poderá sofrer perdas principalmente em relação ao atraso na  regularização da titularidade e pagamento dos Direitos Creditórios.</a:t>
            </a:r>
          </a:p>
          <a:p>
            <a:r>
              <a:t> (v) Risco de pré-pagamento dos Direitos Creditórios. A ocorrência de pré-  pagamentos em relação a um ou mais Direitos Creditórios poderá ocasionar perdas à Classe.</a:t>
            </a:r>
          </a:p>
          <a:p>
            <a:r>
              <a:t> A ocorrência de pré-pagamentos (pagamento em data anterior àquela originalmente pactuada)  de Direitos Creditórios reduz o horizonte original de rendimentos esperados pela Classe de  tais Direitos Creditórios, uma vez que o pré-pagamento poderá, se assim permitido pela  documentação do Direito Creditório ou, conf orme o caso, pela legislação aplicável, ser  realizado pelo valor de emissão do Direito Creditório atualizado até a data do pré-pagamento  pela taxa de juros pactuada entre os Endossantes e os Devedores de tais Direitos Creditórios,  de modo que os juros remuneratórios incidentes desde a data da realização do pré-pagamento  até a data de vencimento do respectivo Direito Creditório deixam de ser devidos à Classe.</a:t>
            </a:r>
          </a:p>
          <a:p>
            <a:r>
              <a:t> (vi) Riscos associados aos Devedores: os Direitos Creditórios a serem cedidos à  Classe serão descontados da remuneração do Devedor, através de desconto em f olha de  pagamento ou de benefício. Nesse sentido, na ocorrência de pré-pagamento, as parcelas  serão pagas antecipadamente e a Classe deverá utilizar tais montantes no pré-pagamento dos  Direitos Creditórios. Nesta hipótese, a Classe poderá não encontrar Direitos Creditórios  disponíveis para serem adquiridos pela Classe, o que poderá afetar a rentabilidade da Classe.</a:t>
            </a:r>
          </a:p>
          <a:p>
            <a:r>
              <a:t> (vii) Risco de Competição: o mercado de empréstimos experimentou grande  expansão no Brasil nos últimos anos. Nesse contexto, a Resolução CMN nº 4.292, alterada  pela Resolução nº 4.762, de 27 de novembro de 2019, dispõe que deve ser garantido às  pessoas naturais devedoras de operações de crédito (tais como as CCB) a possibilidade de  realizarem a portabilidade destas operações para outras instituições financeiras, inclusive nos  casos em que tenham sido objeto de cessão (tais como as realizadas à Classe). Nesse  cenário, é possível que os competidores do Endossante ofereçam condições e taxas mais  vantajosas para os empréstimos pessoais com consignação em f olha de pagamento ou de  benef ícios, o que pode causar a migração de clientes da Endossante para outras instituições  f inanceiras, gerando a liquidação antecipada de parte das CCB existentes e/ou redução no  número de Direitos Creditórios cedidos. Referida competição poderá af etar os resultados da  Classe, impactando negativamente os rendimentos dos Cotistas. Ainda, a portabilidade a um  Devedor pode acarretar no recebimento de valores inf eriores aos esperados pela Classe.</a:t>
            </a:r>
          </a:p>
          <a:p>
            <a:r>
              <a:t> (viii) Insuf iciência dos Critérios de Elegibilidade. Os Critérios de Elegibilidade têm a  f inalidade de selecionar os Direitos Creditórios passíveis de aquisição pela Classe. Não  obstante tais Critérios de Elegibilidade, a solvência dos Direitos Creditórios que compõem a  Carteira depende integralmente, mas não somente, da situação econômico-financeira dos  Devedores. Dessa f orma, a observância pelo GESTOR dos Critérios de Elegibilidade não  constitui garantia de adimplência dos Devedores.</a:t>
            </a:r>
          </a:p>
          <a:p>
            <a:r>
              <a:t> Os Endossantes não necessariamente garantem a solvência dos seus respectivos Devedores.</a:t>
            </a:r>
          </a:p>
          <a:p>
            <a:r>
              <a:t> O Endossante dos Direitos Creditórios não assumirá responsabilidade pelo seu pagamento ou  pela solvência dos respectivos Devedores. A Classe sofrerá o impacto do inadimplemento dos  Direitos Creditórios vencidos e não pagos pelos respectivos Devedores.</a:t>
            </a:r>
          </a:p>
          <a:p>
            <a:r>
              <a:t> (ix) Possibilidade de aquisição de Direitos Creditórios cedidos por Endossante  e/ou devidos por Devedores cujas demonstrações financeiras não sejam auditadas. A Classe,  desde que sejam respeitados os limites de concentração previstos neste Regulamento, poderá  manter a qualquer tempo em sua Carteira, Direitos Creditórios cedidos por Endossante e/ou  devidos por Devedores cujas demonstrações f inanceiras não sejam auditadas por Auditor  Independente registrado na CVM. Nesse sentido, não haverá verificação independente sobre  tais demonstrações f inanceiras que af irme se estas representam adequadamente, em todos  os aspectos relevantes, as respectivas posições patrimoniais e f inanceiras, os resultados de  suas operações, as mutações de seus respectivos patrimônios líquidos tampouco as origens  e aplicações de seus recursos.</a:t>
            </a:r>
          </a:p>
          <a:p>
            <a:r>
              <a:t>CNPJ 54871427000194 · Classe, subclasse e responsabilidade · Regulamento · ID 670691 · 2024-04-28 · versão 1 · p. 15 · 7.2 · https://fnet.bmfbovespa.com.br/fnet/publico/visualizarDocumento?id=670691</a:t>
            </a:r>
          </a:p>
          <a:p>
            <a:r>
              <a:t>CNPJ 54871427000194 · Classe, subclasse e responsabilidade · Excerto da fonte:</a:t>
            </a:r>
          </a:p>
          <a:p>
            <a:r>
              <a:t>7.2 As amortizações de Cotas serão realizadas a qualquer tempo, a critério do GESTOR, observada a  disponibilidade de recursos da Classe Única e a ordem de alocação de recursos prevista neste Anexo  Descritivo.</a:t>
            </a:r>
          </a:p>
          <a:p>
            <a:r>
              <a:t>CNPJ 54871427000194 · Classe, subclasse e responsabilidade · Instrumento Particular de Alteração do Regulamento · ID 670690 · 2024-05-28 · versão 1 · p. 1 · https://fnet.bmfbovespa.com.br/fnet/publico/visualizarDocumento?id=670690</a:t>
            </a:r>
          </a:p>
          <a:p>
            <a:r>
              <a:t>CNPJ 54871427000194 · Classe, subclasse e responsabilidade · Excerto da fonte:</a:t>
            </a:r>
          </a:p>
          <a:p>
            <a:r>
              <a:t>ATA DA ASSEMBLEIA ESPECIAL DE COTISTAS  CLASSE ÚNICA DE RESPONSABILIDADE LIMITADA DO CONSIGNADO DELTA RECEIVABLES I  FUNDO DE INVESTIMENTO EM DIREITOS CREDITÓRIOS  CNPJ nº 54.871.427/0001-94  (“Classe Única” e “Fundo”, respectivamente)</a:t>
            </a:r>
          </a:p>
          <a:p>
            <a:r>
              <a:t>CNPJ 54871427000194 · Classe, subclasse e responsabilidade · Condição: Documentos atuais selecionados no inventário por categoria/escopo; a data documental isolada não comprova vigência jurídica.</a:t>
            </a:r>
          </a:p>
          <a:p>
            <a:r>
              <a:t>CNPJ 54871427000194 · Classe, subclasse e responsabilidade · Versão e prevalência: Documentos atuais selecionados no inventário por categoria/escopo; a data documental isolada não comprova vigência jurídica.</a:t>
            </a:r>
          </a:p>
          <a:p>
            <a:r>
              <a:t>CNPJ 54871427000194 · Classe, subclasse e responsabilidade · Resumo do histórico: {"count": 4, "dates": ["2024-04-19", "2024-04-28", "2024-05-24"], "document_count": 3, "sources": [{"document_id": "668387", "title": "Instrumento Particular de Emissão de Cotas", "reference_date": "2024-05-24", "version": "1", "page": 1, "url": "https://fnet.bmfbovespa.com.br/fnet/publico/visualizarDocumento?id=668387", "sha256": "be2913bed5f468a7399afcd27f92bac2083451584ee580b5054e9f525e68cc4a"}, {"document_id": "670691", "title": "Regulamento", "reference_date": "2024-04-28", "version": "1", "page": 29, "url": "https://fnet.bmfbovespa.com.br/fnet/publico/visualizarDocumento?id=670691", "sha256": "bf16dd7f1a62d5cdbf2e2d54fef81783783f7310fbc99c3a8f00459bdf9d037b"}, {"document_id": "670687", "title": "Instrumento Particular de Constituição/Encerramento do Fundo", "reference_date": "2024-04-19", "version": "1", "page": 1, "url": "https://fnet.bmfbovespa.com.br/fnet/publico/visualizarDocumento?id=670687", "sha256": "999f2a47d39f7022b0fcee3d16fd1db33948537b897e92c4c9e14b436bf5eb96"}], "reference": {"path": "history/54871427000194.json", "criterion_id": "perimeter", "total_count": 4, "preview_count": 3, "full_text_deferred": true, "sha256": "35d7cd99be50c7287c9fb675cf4f2e736002315295a225a9efa79c8d9186d874"}}</a:t>
            </a:r>
          </a:p>
          <a:p>
            <a:r>
              <a:t>CNPJ 60010416000112 · Classe, subclasse e responsabilidade · Regulamento · ID 1051393 · 2025-10-09 · versão 1 · p. 10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a:t>
            </a:r>
          </a:p>
          <a:p>
            <a:r>
              <a:t> (ii) o saldo dos Direitos Creditórios devidos pelo mesmo Devedor à Classe, considerando, pro  forma, o endosso pretendido, não deverá exceder R$ 100.000,00 (cem mil reais), observado  o disposto no item 4.4.1 abaixo;</a:t>
            </a:r>
          </a:p>
          <a:p>
            <a:r>
              <a:t> (iii) o prazo de vencimento das CCB representativas dos Direitos Creditórios deverá ser, no  máximo, equivalente ao prazo máximo permitido pelas leis e regulamentações aplicáveis; e</a:t>
            </a:r>
          </a:p>
          <a:p>
            <a:r>
              <a:t> (iv) os Direitos Creditórios não poderão ser devidos por Devedores que tenham acima de 64  (sessenta e quatro) anos 11 (onze) meses e 29 (vinte e nove) dias na data de emissão da  respectiva CCB.</a:t>
            </a:r>
          </a:p>
          <a:p>
            <a:r>
              <a:t>CNPJ 60010416000112 · Classe, subclasse e responsabilidade · Regulamento · ID 1051393 · 2025-10-09 · versão 1 · p. 11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  com a transf erência, à Classe, de f orma definitiva, sem coobrigação do Endossante, da plena  titularidade desse Direito Creditório, juntamente com todos os direitos, privilégios, pref erências,  prerrogativas, garantias e ações a ele relacionados, bem como correção monetária, juros e  encargos, sem prejuízo do direito da Classe (i) de exigir a recompra compulsória do respectivo  Direito Creditório, de acordo com os termos do Contrato de Endosso; ou (ii) de vender Direitos  Creditórios ao Agente de Retenção/Cobrança (opção de venda), em ambos os casos estritamente  nos termos do Contrato de Endosso.</a:t>
            </a:r>
          </a:p>
          <a:p>
            <a:r>
              <a:t>CNPJ 60010416000112 · Classe, subclasse e responsabilidade · Regulamento · ID 1051393 · 2025-10-09 · versão 1 · p. 18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a:t>
            </a:r>
          </a:p>
          <a:p>
            <a:r>
              <a:t> (ii) alterar este Anexo I e seus complementos, incluindo mas não se limitando aos Apêndices de cada  uma das subclasses;</a:t>
            </a:r>
          </a:p>
          <a:p>
            <a:r>
              <a:t> (iii) deliberar sobre substituição de Prestadores de Serviços Essenciais, observado o disposto no Art.</a:t>
            </a:r>
          </a:p>
          <a:p>
            <a:r>
              <a:t> 70, §1º da parte geral da Resolução CVM 175, quando aplicável, ou do Custodiante;</a:t>
            </a:r>
          </a:p>
          <a:p>
            <a:r>
              <a:t> (iv) deliberar sobre elevação da Taxa de Administração, inclusive na hipótese de restabelecimento de  taxa que tenha sido objeto de redução;</a:t>
            </a:r>
          </a:p>
          <a:p>
            <a:r>
              <a:t> (v) deliberar sobre incorporação, fusão, cisão total ou parcial, a transformação ou liquidação da Classe;</a:t>
            </a:r>
          </a:p>
          <a:p>
            <a:r>
              <a:t> (vi) alterações das características, vantagens, direitos e obrigações das Cotas;</a:t>
            </a:r>
          </a:p>
          <a:p>
            <a:r>
              <a:t> (vii) alterar critérios e procedimentos para Amortização e/ou resgate de Cotas mediante dação em  pagamento de Direitos Creditórios;</a:t>
            </a:r>
          </a:p>
          <a:p>
            <a:r>
              <a:t> (viii) aprovar a contratação de Agente de Retenção/Cobrança dos Direitos Creditórios Inadimplidos, bem  como decidir sobre sua substituição ou destituição;</a:t>
            </a:r>
          </a:p>
          <a:p>
            <a:r>
              <a:t> (ix) alterar a f orma de amortização do principal e dos valores acumulados relacionados às Cotas;</a:t>
            </a:r>
          </a:p>
          <a:p>
            <a:r>
              <a:t> (x) aprovar emissão de novas Cotas da Classe, em montante além do Capital Autorizado;</a:t>
            </a:r>
          </a:p>
          <a:p>
            <a:r>
              <a:t> (xi) deliberar sobre a eventual necessidade de aportes adicionais de recursos na Classe pelos Cotistas;</a:t>
            </a:r>
          </a:p>
          <a:p>
            <a:r>
              <a:t> (xii) alterações na Política de Investimentos;</a:t>
            </a:r>
          </a:p>
          <a:p>
            <a:r>
              <a:t> (xiii) alterações nos Critérios de Elegibilidade;</a:t>
            </a:r>
          </a:p>
          <a:p>
            <a:r>
              <a:t> (xiv) decidir se um Evento de Avaliação será considerado como Evento de Liquidação, sujeito a este  Regulamento;</a:t>
            </a:r>
          </a:p>
          <a:p>
            <a:r>
              <a:t> (xv) decidir, na ocorrência de qualquer Evento de Liquidação, se esse Evento de Liquidação não deverá  causar a liquidação antecipada da Classe;</a:t>
            </a:r>
          </a:p>
          <a:p>
            <a:r>
              <a:t> (xvi) plano de resolução do Patrimônio Líquido negativo da Classe, nos termos da Resolução CVM 175;</a:t>
            </a:r>
          </a:p>
          <a:p>
            <a:r>
              <a:t> (xvii)pedido de declaração judicial de insolvência da Classe; e</a:t>
            </a:r>
          </a:p>
          <a:p>
            <a:r>
              <a:t> (xviii) deliberar sobre a alteração da data de resgate e/ou prazo de duração de cada Série de Cotas  Seniores, do Benchmark, bem como de quaisquer outras características de qualquer Série de Cotas  Seniores;</a:t>
            </a:r>
          </a:p>
          <a:p>
            <a:r>
              <a:t>CNPJ 60010416000112 · Classe, subclasse e responsabilidade · Condição: Documentos atuais selecionados no inventário por categoria/escopo; a data documental isolada não comprova vigência jurídica.</a:t>
            </a:r>
          </a:p>
          <a:p>
            <a:r>
              <a:t>CNPJ 60010416000112 · Classe, subclasse e responsabilidade · Versão e prevalência: Documentos atuais selecionados no inventário por categoria/escopo; a data documental isolada não comprova vigência jurídica.</a:t>
            </a:r>
          </a:p>
          <a:p>
            <a:r>
              <a:t>CNPJ 60010416000112 · Classe, subclasse e responsabilidade · Resumo do histórico: {"count": 1, "dates": ["2025-05-12"], "document_count": 1, "sources": [{"document_id": "1004656", "title": "AGE", "reference_date": "2025-05-12", "version": "1", "page": 4, "url": "https://fnet.bmfbovespa.com.br/fnet/publico/visualizarDocumento?id=1004656", "sha256": "f6c9c009f6170e2b29f074b98522accec73f0c40efbf11f9ec2c8d3f1402616b"}], "reference": {"path": "history/60010416000112.json", "criterion_id": "perimeter", "total_count": 1, "preview_count": 1, "full_text_deferred": true, "sha256": "8e2bd813f4c51cf01f6bfaad164bafe69d2bbb192f753eac92da3a01c2e63046"}}</a:t>
            </a:r>
          </a:p>
          <a:p>
            <a:r>
              <a:t>CNPJ 62696791000193 · Classe, subclasse e responsabilidade · Regulamento · ID 1143317 · 20/03/2026 · versão Regulamento — referência 20/03/2026 · p. 9 · Anexo I, 2.1 · https://fnet.bmfbovespa.com.br/fnet/publico/visualizarDocumento?id=1143317</a:t>
            </a:r>
          </a:p>
          <a:p>
            <a:r>
              <a:t>CNPJ 62696791000193 · Classe, subclasse e responsabilidade · Excerto da fonte:</a:t>
            </a:r>
          </a:p>
          <a:p>
            <a:r>
              <a:t>2.1 A responsabilidade do Cotista está limitada ao valor por ele subscrito. 2.2 Os seguintes eventos obrigarão o Administrador a verif icar se o Patrimônio Líquido está negativo: (i) qualquer pedido de declaração judicial de insolvência de Classe; (ii) inadimplência de obrigações financeiras de devedor e/ou emissor de ativos detidos pela Classe que representem mais de 10% (dez por cento) de seu Patrimônio Líquido, naquela data de ref erência; (iii) pedido de recuperação extrajudicial, proposta de recuperação judicial, f alência, intervenção, liquidação extrajudicial e/ou regime de administração temporária de devedor e/ou emissor de ativos detidos pela Classe; e (iv) condenação da Classe, de natureza judicial e/ou arbitral e/ou administrativa e/ou outras similares, ao pagamento de mais de 10% (dez por cento) de seu Patrimônio Líquido. 2.3 Caso o Administrador verifique que o Patrimônio Líquido está negativo, ou tenha ciência de pedido de declaração judicial de insolvência da Classe ou da declaração judicial de insolvência da Classe, deverá adotar as medidas aplicáveis previstas na Resolução CVM 175. 2.4 Serão aplicáveis as disp</a:t>
            </a:r>
          </a:p>
          <a:p>
            <a:r>
              <a:t>CNPJ 62696791000193 · Classe, subclasse e responsabilidade · Regulamento · ID 1143317 · 20/03/2026 · versão Regulamento — referência 20/03/2026 · p. 18 · Anexo I, 8.8.1 · https://fnet.bmfbovespa.com.br/fnet/publico/visualizarDocumento?id=1143317</a:t>
            </a:r>
          </a:p>
          <a:p>
            <a:r>
              <a:t>CNPJ 62696791000193 · Classe, subclasse e responsabilidade · Excerto da fonte:</a:t>
            </a:r>
          </a:p>
          <a:p>
            <a:r>
              <a:t>8.8.1 As Chamadas de Capital para a realização de investimentos serão realizadas a qualquer momento durante o Período de Investimento e estarão limitadas ao valor do capital subscrito de cada Cotista. As Chamadas de Capital para o pagamento de despesas e encargos do Fundo poderão ser realizadas a qualquer momento durante o Prazo de Duração, mas não estarão limitadas ao valor do capital subscrito de cada Cotista. 8.8.2 Ao receber uma Chamada de Capital, os Cotistas serão obrigados a integralizar parte ou a totalidade de suas Cotas no prazo previsto na ref erida Chamada de Capital, o qual não poderá ser inf erior a 5 (cinco) Dias Úteis contados do recebimento da Chamada de Capital, conforme solicitado pelo Administrador em observância às instruções do Gestor e de acordo com o disposto nos respectivos Compromissos de Investimento. 8.8.3 O Administrador poderá, eventualmente, realizar Chamadas de Capital aos Cotistas de forma desproporcional entre Cotistas, de modo que um ou mais Cotista venha a integralizar, em uma ou mais Chamadas de Capital, uma parcela maior ou menor, conforme o caso, das Cotas por</a:t>
            </a:r>
          </a:p>
          <a:p>
            <a:r>
              <a:t>CNPJ 62696791000193 · Classe, subclasse e responsabilidade · Regulamento · ID 1143317 · 20/03/2026 · versão Regulamento — referência 20/03/2026 · p. 16 · Anexo I, 7.2 · https://fnet.bmfbovespa.com.br/fnet/publico/visualizarDocumento?id=1143317</a:t>
            </a:r>
          </a:p>
          <a:p>
            <a:r>
              <a:t>CNPJ 62696791000193 · Classe, subclasse e responsabilidade · Excerto da fonte:</a:t>
            </a:r>
          </a:p>
          <a:p>
            <a:r>
              <a:t>7.2 A Classe possui 3 (três) Subclasses de Cotas, quais sejam, a subclasse sênior (“Subclasse Sênior” e “Cotas Seniores”), a subclasse mezanino (“Subclasse Mezanino” e “Cotas Mezanino”) e a subclasse subordinada (“Subclasse Subordinada” e “Cotas Subordinadas” – as Cotas Subordinadas, Cotas Seniores e Cotas Mezanino, quando ref eridas em conjunto, “Cotas”), admitindo ainda a emissão de novas séries (“Séries”) de Cotas Seniores, nos termos do seu respectivo Apêndice. As características, os direitos e as condições de emissão, distribuição, subscrição, integralização, remuneração, amortização e resgate das Cotas estão descritos neste Capítulo e nos respectivos Apêndices. 7.3 As Cotas são escriturais, nominativas e correspondem a f rações ideais do patrimônio da Classe, cuja propriedade presume-se: (i) pelo registro do nome do Cotista no livro de registro de Cotistas, enquanto mantidas em conta de depósito mantidas junto ao Escriturador em nome dos respectivos Cotistas, nos termos do Art. 15 da Resolução CVM 175; (ii) pelos controles de titularidade mantidos pelo depositário BTG Pactual SAC: 0800 772 2827 | Ouvidoria: 0800 722 0048 | btgpactual.co m 11</a:t>
            </a:r>
          </a:p>
          <a:p>
            <a:r>
              <a:t>CNPJ 62696791000193 · Classe, subclasse e responsabilidade · Condição: Contradição interna no alcance da responsabilidade limitada. Não apresentar a cláusula de despesas como obrigação irrestrita pacificada.</a:t>
            </a:r>
          </a:p>
          <a:p>
            <a:r>
              <a:t>CNPJ 62696791000193 · Classe, subclasse e responsabilidade · Versão e prevalência: Leitura específica das cláusulas indicadas; condições e conflitos preservados. Seleção documental atual não comprova vigência jurídica por data isolada.</a:t>
            </a:r>
          </a:p>
          <a:p>
            <a:r>
              <a:t>CNPJ 55563624000109 · Classe, subclasse e responsabilidade · Regulamento · ID 1192614 · 2026-04-30 · versão 1 · p. 40 · https://fnet.bmfbovespa.com.br/fnet/publico/visualizarDocumento?id=1192614</a:t>
            </a:r>
          </a:p>
          <a:p>
            <a:r>
              <a:t>CNPJ 55563624000109 · Classe, subclasse e responsabilidade · Excerto da fonte:</a:t>
            </a:r>
          </a:p>
          <a:p>
            <a:r>
              <a:t>(xxiv) Subordinação de determinadas Cotas da Classe Investida a outras subclasses ou séries de  cotas das Classes Investidas aos quais pertencem. A Classe Investida adquirirá apenas cotas  subordinadas mezaninos da Classe Investida, as quais se subordinam às cotas seniores da Classe  Investida para efeitos de resgate. Os resgates de cotas subordinadas mezanino tipicamente têm sua  realização condicionada ainda à manutenção da razão de garantia e à existência de disponibilidades  da Classe Investida. O ADMINISTRADOR, o GESTOR e o CUSTODIANTE e suas respectivas partes  relacionadas, encontram-se impossibilitados de assegurar que a amortização e o resgate das cotas  subordinadas mezanino da Classe Investida que venham a ser adquiridas pela Classe ocorrerão nas  datas originalmente previstas, sendo que, caso tais amortizações e/ou resgates não ocorram, não será  devido pelo FUNDO ou qualquer pessoa, incluindo o ADMINISTRADOR, o GESTOR e o CUSTODIANTE,  do FUNDO ou da Classe Investida qualquer multa ou penalidade, de qualquer natureza. O não resgate  de cotas subordinadas mezanino da Classe Investida detidas pela Classe poderá impactar  negativamente no fluxo de pagamento de resgate da Classe e/ou no valor patrimonial das Cotas da  Classe.</a:t>
            </a:r>
          </a:p>
          <a:p>
            <a:r>
              <a:t>CNPJ 55563624000109 · Classe, subclasse e responsabilidade · Regulamento · ID 1192614 · 2026-04-30 · versão 1 · p. 2 · 1.2 · https://fnet.bmfbovespa.com.br/fnet/publico/visualizarDocumento?id=1192614</a:t>
            </a:r>
          </a:p>
          <a:p>
            <a:r>
              <a:t>CNPJ 55563624000109 · Classe, subclasse e responsabilidade · Excerto da fonte:</a:t>
            </a:r>
          </a:p>
          <a:p>
            <a:r>
              <a:t>1.2 Este regulamento é composto por esta parte geral, um ou mais anexos, conforme o número de classes aqui  previsto e respectivos apêndices relativos a cada subclasse de cotas, conforme aplicável (respectivamente,  “Regulamento”, “Parte Geral”, “Anexos” e “Apêndices”).</a:t>
            </a:r>
          </a:p>
          <a:p>
            <a:r>
              <a:t> Denominação da Classe Anexo  CLASSE ÚNICA DE RESPONSABILIDADE LIMITADA DO  PLGN MARKETPLACE FUNDO DE INVESTIMENTO EM  Anexo Único (“Anexo”)  COTAS DE FUNDO DE INVESTIMENTO EM DIREITOS  CREDITÓRIOS (“Classe” ou “Classe Única”)</a:t>
            </a:r>
          </a:p>
          <a:p>
            <a:r>
              <a:t>CNPJ 55563624000109 · Classe, subclasse e responsabilidade · Regulamento · ID 1192614 · 2026-04-30 · versão 1 · p. 24 · 12.3 · https://fnet.bmfbovespa.com.br/fnet/publico/visualizarDocumento?id=1192614</a:t>
            </a:r>
          </a:p>
          <a:p>
            <a:r>
              <a:t>CNPJ 55563624000109 · Classe, subclasse e responsabilidade · Excerto da fonte:</a:t>
            </a:r>
          </a:p>
          <a:p>
            <a:r>
              <a:t>12.3 Incluem-se entre as obrigações do ADMINISTRADOR, sem prejuízo de outras previstas na regulamentação:</a:t>
            </a:r>
          </a:p>
          <a:p>
            <a:r>
              <a:t> (i) sem prejuízo da observância dos procedimentos relativos às demonstrações contábeis, manter,  separadamente, registros com informações completas sobre toda e qualquer modalidade de negociação  realizada entre o ADMINISTRADOR, GESTOR, CUSTODIANTE, e/ou suas respectivas partes relacionadas,  tais como definidas pelas regras contábeis que tratam desse assunto, de um lado; e a Classe, de outro;</a:t>
            </a:r>
          </a:p>
          <a:p>
            <a:r>
              <a:t> (ii) diligenciar para que sejam mantidos, às suas expensas, atualizados e em perfeita ordem:</a:t>
            </a:r>
          </a:p>
          <a:p>
            <a:r>
              <a:t> (a) o registro de Cotistas;</a:t>
            </a:r>
          </a:p>
          <a:p>
            <a:r>
              <a:t> (b) o livro de atas das Assembleias de Cotistas;</a:t>
            </a:r>
          </a:p>
          <a:p>
            <a:r>
              <a:t> (c) o livro ou lista de presença de Cotistas;</a:t>
            </a:r>
          </a:p>
          <a:p>
            <a:r>
              <a:t> (d) os pareceres do Auditor Independente; e</a:t>
            </a:r>
          </a:p>
          <a:p>
            <a:r>
              <a:t> (e) os registros contábeis referentes às operações e ao patrimônio da Classe;</a:t>
            </a:r>
          </a:p>
          <a:p>
            <a:r>
              <a:t> (iii) pagar a multa cominatória às suas expensas, nos termos da legislação vigente, por cada dia de atraso no  cumprimento dos prazos previstos na regulamentação aplicável;</a:t>
            </a:r>
          </a:p>
          <a:p>
            <a:r>
              <a:t> (iv) elaborar e divulgar as informações periódicas e eventuais da Classe, nos termos deste Anexo e da  regulamentação e da autorregulação em vigor;</a:t>
            </a:r>
          </a:p>
          <a:p>
            <a:r>
              <a:t> (v) manter atualizada junto à CVM a lista de todos os prestadores de serviços contratados pela Classe,  inclusive os Prestadores de Serviços Essenciais, bem como as demais informações cadastrais da Classe e  suas Subclasses;</a:t>
            </a:r>
          </a:p>
          <a:p>
            <a:r>
              <a:t> (vi) manter serviço de atendimento aos Cotistas, responsável pelo esclarecimento de dúvidas e pelo  recebimento de reclamações;</a:t>
            </a:r>
          </a:p>
          <a:p>
            <a:r>
              <a:t> (vii) receber e processar os pedidos de resgate;</a:t>
            </a:r>
          </a:p>
          <a:p>
            <a:r>
              <a:t> (viii) monitorar os Eventos de Verificação do Patrimônio;</a:t>
            </a:r>
          </a:p>
          <a:p>
            <a:r>
              <a:t> (ix) monitorar os Eventos de Avaliação e Eventos de Liquidação;</a:t>
            </a:r>
          </a:p>
          <a:p>
            <a:r>
              <a:t> (x) observar as disposições constantes do Regulamento;</a:t>
            </a:r>
          </a:p>
          <a:p>
            <a:r>
              <a:t> (xi) cumprir as deliberações da Assembleia de Cotistas; e</a:t>
            </a:r>
          </a:p>
          <a:p>
            <a:r>
              <a:t> (xii) observar as disposições do Código ANBIMA e das Regras e Procedimentos ANBIMA</a:t>
            </a:r>
          </a:p>
          <a:p>
            <a:r>
              <a:t>CNPJ 55563624000109 · Classe, subclasse e responsabilidade · Condição: Documentos atuais selecionados no inventário por categoria/escopo; a data documental isolada não comprova vigência jurídica.</a:t>
            </a:r>
          </a:p>
          <a:p>
            <a:r>
              <a:t>CNPJ 55563624000109 · Classe, subclasse e responsabilidade · Versão e prevalência: Documentos atuais selecionados no inventário por categoria/escopo; a data documental isolada não comprova vigência jurídica.</a:t>
            </a:r>
          </a:p>
          <a:p>
            <a:r>
              <a:t>CNPJ 55563624000109 · Classe, subclasse e responsabilidade · Resumo do histórico: {"count": 5, "dates": ["2024-07-03", "2025-01-31", "2026-01-31"], "document_count": 3, "sources": [{"document_id": "1178840", "title": "Demonstrações Financeiras", "reference_date": "2026-01-31", "version": "1", "page": 3, "url": "https://fnet.bmfbovespa.com.br/fnet/publico/visualizarDocumento?id=1178840", "sha256": "c458e98664c5c907ddb5a05a94b120bed4e05295b2bfc420f5ba69af0a229abe"}, {"document_id": "891861", "title": "Demonstrações Financeiras", "reference_date": "2025-01-31", "version": "1", "page": 27, "url": "https://fnet.bmfbovespa.com.br/fnet/publico/visualizarDocumento?id=891861", "sha256": "e9cb9e6ddbe505fe068cfcac33605165a98313489de0d3ce6d4d238263c3f3e7"}, {"document_id": "703295", "title": "Anúncio de Início", "reference_date": "2024-07-03", "version": "2", "page": 1, "url": "https://fnet.bmfbovespa.com.br/fnet/publico/visualizarDocumento?id=703295", "sha256": "12322b6dbf75e673723bd60910373db249451b72666792e18e0c7b6128f4608a"}], "reference": {"path": "history/55563624000109.json", "criterion_id": "perimeter", "total_count": 5, "preview_count": 3, "full_text_deferred": true, "sha256": "7835d573fb58a3c19adf5b8ecc2aee2bdbb9a88f7a0c0209b5f262b64c7522e3"}}</a:t>
            </a:r>
          </a:p>
          <a:p>
            <a:r>
              <a:t>CNPJ 62552447000120 · Classe, subclasse e responsabilidade · Regulamento · ID 1200623 · 2026-05-21 · versão 1 · p. 1 · 1.3 · https://fnet.bmfbovespa.com.br/fnet/publico/visualizarDocumento?id=1200623</a:t>
            </a:r>
          </a:p>
          <a:p>
            <a:r>
              <a:t>CNPJ 62552447000120 · Classe, subclasse e responsabilidade · Excerto da fonte:</a:t>
            </a:r>
          </a:p>
          <a:p>
            <a:r>
              <a:t>1.3 Durante o seu prazo de duração, o Fundo, por ato conjunto dos Prestadores de Serviços Essenciais,  poderá constituir diferentes Classes e Subclasses , sendo que cada Classe terá patrimônio segregado e</a:t>
            </a:r>
          </a:p>
          <a:p>
            <a:r>
              <a:t>CNPJ 62552447000120 · Classe, subclasse e responsabilidade · Regulamento · ID 1200623 · 2026-05-21 · versão 1 · p. 1 · 1.1 · https://fnet.bmfbovespa.com.br/fnet/publico/visualizarDocumento?id=1200623</a:t>
            </a:r>
          </a:p>
          <a:p>
            <a:r>
              <a:t>CNPJ 62552447000120 · Classe, subclasse e responsabilidade · Excerto da fonte:</a:t>
            </a:r>
          </a:p>
          <a:p>
            <a:r>
              <a:t>1.1 V CDT 1 FUNDO DE INVESTIMENTO EM DIREITOS CREDITÓRIOS RESPONSABILIDADE  LIMITADA (“Fundo”), regido pela Lei n.º 10.406, de 10 de janeiro de 2002, conforme alterada (“Código  Civil”), pela Resolução da Comissão de Valores Mobiliários (“CVM”) n.º 175, de 23 de dezembro de  2022, conf orme alterada (“Resolução CVM 175”), que inclui sua Parte Geral (“Parte Geral da  Resolução CVM 175”) e seu Anexo Normativo II (“Anexo Normativo II”) terá como principais  características:</a:t>
            </a:r>
          </a:p>
          <a:p>
            <a:r>
              <a:t>CNPJ 62552447000120 · Classe, subclasse e responsabilidade · Regulamento · ID 1200623 · 2026-05-21 · versão 1 · p. 1 · https://fnet.bmfbovespa.com.br/fnet/publico/visualizarDocumento?id=1200623</a:t>
            </a:r>
          </a:p>
          <a:p>
            <a:r>
              <a:t>CNPJ 62552447000120 · Classe, subclasse e responsabilidade · Excerto da fonte:</a:t>
            </a:r>
          </a:p>
          <a:p>
            <a:r>
              <a:t>CLASSE ÚNICA DO V CDT 1 FUNDO DE  INVESTIMENTO EM DIREITOS CREDITÓRIOS Anexo I (“Anexo I”)  RESPONSABILIDADE LIMITADA</a:t>
            </a:r>
          </a:p>
          <a:p>
            <a:r>
              <a:t>CNPJ 62552447000120 · Classe, subclasse e responsabilidade · Condição: Documentos atuais selecionados no inventário por categoria/escopo; a data documental isolada não comprova vigência jurídica.</a:t>
            </a:r>
          </a:p>
          <a:p>
            <a:r>
              <a:t>CNPJ 62552447000120 · Classe, subclasse e responsabilidade · Versão e prevalência: Documentos atuais selecionados no inventário por categoria/escopo; a data documental isolada não comprova vigência jurídica.</a:t>
            </a:r>
          </a:p>
          <a:p>
            <a:r>
              <a:t>CNPJ 62552447000120 · Classe, subclasse e responsabilidade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"perimeter", "total_count": 1, "preview_count": 1, "full_text_deferred": true, "sha256": "d95db8c0613d67ee84118c734588665265ea6b02f86a0318d6a844cbe1d0f82f"}}</a:t>
            </a:r>
          </a:p>
          <a:p>
            <a:r>
              <a:t>CNPJ 63953620000165 · Classe, subclasse e responsabilidade · Anexo ao Regulamento · ID 1222863 · 02/06/2026 · versão AnexoConsignadoPrivado02/06/2026 · p. 3 · 2.1 · https://fnet.bmfbovespa.com.br/fnet/publico/visualizarDocumento?id=1222863</a:t>
            </a:r>
          </a:p>
          <a:p>
            <a:r>
              <a:t>CNPJ 63953620000165 · Classe, subclasse e responsabilidade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deverá adotar as medidas aplicáveis previstas na Resolução CVM 175. 2.3 Serão aplicáveis as disposições da Resolução CVM 175 no que se refere aos procedimentos a serem adotados pelo Administrador na hipótese de Patrimônio Líquido negativo da Classe. BTG Pactual SAC: 0800 772 28 27 - Ouvidoria: 0800 722 00 48 - btgpactual.com</a:t>
            </a:r>
          </a:p>
          <a:p>
            <a:r>
              <a:t>CNPJ 63953620000165 · Classe, subclasse e responsabilidade · Anexo ao Regulamento · ID 1222863 · 02/06/2026 · versão AnexoConsignadoPrivado02/06/2026 · p. 10 · 6.7.1 · https://fnet.bmfbovespa.com.br/fnet/publico/visualizarDocumento?id=1222863</a:t>
            </a:r>
          </a:p>
          <a:p>
            <a:r>
              <a:t>CNPJ 63953620000165 · Classe, subclasse e responsabilidade · Excerto da fonte:</a:t>
            </a:r>
          </a:p>
          <a:p>
            <a:r>
              <a:t>6.7.1 As Chamadas de Capital para a realização de investimentos serão realizadas a qualquer momento durante o Período de Investimento e estarão limitadas ao valor do capital subscrito de cada Cotista. As Chamadas de Capital para o pagamento de despesas e encargos do Fundo, com exceção de despesas relacionadas à instrumentos de derivativos e/ou Encargos não previstos no âmbito deste regulamento, poderão ser realizadas a qualquer momento durante o Prazo de Duração, mas não estarão limitadas ao valor do capital subscrito de cada Cotista. 6.7.2 Ao receber uma Chamada d</a:t>
            </a:r>
          </a:p>
          <a:p>
            <a:r>
              <a:t>CNPJ 63953620000165 · Classe, subclasse e responsabilidade · Condição: Alcance das chamadas além do capital comprometido não resolvido textualmente; não certificar limitação apenas por título do fundo.</a:t>
            </a:r>
          </a:p>
          <a:p>
            <a:r>
              <a:t>CNPJ 63953620000165 · Classe, subclasse e responsabilidade · Versão e prevalência: Leitura específica das cláusulas indicadas; condições e conflitos preservados. Seleção documental atual não comprova vigência jurídica por data isolada.</a:t>
            </a:r>
          </a:p>
          <a:p>
            <a:r>
              <a:t>CNPJ 63953620000165 · Classe, subclasse e responsabilidade · Resumo do histórico: {"count": 4, "dates": ["2026-04-28", "2026-05-08", "2026-05-15"], "document_count": 3, "sources": [{"document_id": "1327859", "title": "Demonstrações Financeiras - Fusão, cisão e incorporação", "reference_date": "2026-05-15", "version": "1", "page": 1, "url": "https://fnet.bmfbovespa.com.br/fnet/publico/visualizarDocumento?id=1327859", "sha256": "dca1c68babb97f887528c3e2e47596a9c30f507b067981a35655b2f2da9c8054"}, {"document_id": "1298691", "title": "Demonstrações Financeiras - Fusão, cisão e incorporação", "reference_date": "2026-05-08", "version": "1", "page": 1, "url": "https://fnet.bmfbovespa.com.br/fnet/publico/visualizarDocumento?id=1298691", "sha256": "58c570d9b8d4d265330d3db3ea81c435b8e44a6dab4002aa37790652a1ee9819"}, {"document_id": "1205431", "title": "AGE", "reference_date": "2026-04-28", "version": "1", "page": 1, "clause": "4.1", "url": "https://fnet.bmfbovespa.com.br/fnet/publico/visualizarDocumento?id=1205431", "sha256": "e0b59c701c5d0dbf60de698ea7664d442240863b7043bacdb334ce484188b2ac"}], "reference": {"path": "history/63953620000165.json", "criterion_id": "perimeter", "total_count": 4, "preview_count": 3, "full_text_deferred": true, "sha256": "a7b89077f5e21098c2d601c303faabc3ff6b9729f89d8afecdc60fe1404720c1"}}</a:t>
            </a:r>
          </a:p>
          <a:p>
            <a:r>
              <a:t>CNPJ 54871427000194 · Adaptação à Resolução CVM 175 · Regulamento · ID 670691 · 28/04/2024 · versão Regulamento — referência 28/04/2024 · p. 1 · Parte Geral, 1.1 · https://fnet.bmfbovespa.com.br/fnet/publico/visualizarDocumento?id=670691</a:t>
            </a:r>
          </a:p>
          <a:p>
            <a:r>
              <a:t>CNPJ 54871427000194 · Adaptação à Resolução CVM 175 · Excerto da fonte:</a:t>
            </a:r>
          </a:p>
          <a:p>
            <a:r>
              <a:t>1.1 CONSIGNADO DELTA RECEIVABLES I FUNDO DE INVESTIMENTO EM DIREITOS CREDITÓRIOS (“FUNDO”), regido pela Lei nº 10.406, de 10 de janeiro de 2002, conf orme alterada (“Código Civil”), pela parte geral e o Anexo Normativo II da Resolução nº 175, de 23 de dezembro de 2022, conforme alterada, da Comissão de Valores Mobiliários (respectivamente, “CVM” e “Resolução CVM 175”), terá como principais características: Classe de Cotas Classe única. Indeterminado, exceto se de outra f orma vier a ser deliberado pelos cotistas Prazo de Duração reunidos em assembleia geral de cotistas. BTG Pactual Serviços Financeiros S.A. Distribuidora de Títulos e Valores Mobiliários, instituição f inanceira, com sede na Cidade e Estado do Rio de Janeiro, na Praia de Botafogo, nº 501, 5º andar (parte), Torre Corcovado, ADMINISTRADOR Botafogo, CEP 22250-040, inscrita no CNPJ sob o nº 59.281.253/0001-23 e credenciada como administradora de carteira, de acordo com o Ato Declaratório CVM nº</a:t>
            </a:r>
          </a:p>
          <a:p>
            <a:r>
              <a:t>CNPJ 54871427000194 · Adaptação à Resolução CVM 175 · Regulamento · ID 670691 · 28/04/2024 · versão Regulamento — referência 28/04/2024 · p. 8 · Anexo I, 2.1 · https://fnet.bmfbovespa.com.br/fnet/publico/visualizarDocumento?id=670691</a:t>
            </a:r>
          </a:p>
          <a:p>
            <a:r>
              <a:t>CNPJ 54871427000194 · Adaptação à Resolução CVM 175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deverá adotar as medidas aplicáveis previstas na Resolução CVM 175. 2.3 Serão aplicáveis as disposições da Resolução CVM 175 no que se refere aos procedimentos a serem adotados pelo ADMINISTRADOR na hipótese de Patrimônio Líquido negativo da Classe. CAPÍTULO 3 – ENCARGOS DA CLASSE 3.1 A Classe terá Encargos que lhe poderão ser debitados diretamente, nos termos do art. 53 do Anexo Normativo II da Resolução CVM 175, além de encargos adicionais, e quaisquer despesas que não constituam Encargos correm por conta do Prestador de Serviço Essencial que a tiver contratado: (i) despesas com a contratação de consultoria especializada, conf orme o caso; (ii) despesas com a contratação do Agente de Cobrança, conf orme aplicável; (iii) Taxa Máxima de Custódia; (iv) despesas com registro de Direitos Creditórios; (v) despesas com serviços de originação, cobranças ordinária e/ou extraordinária dos D</a:t>
            </a:r>
          </a:p>
          <a:p>
            <a:r>
              <a:t>CNPJ 54871427000194 · Adaptação à Resolução CVM 175 · Versão e prevalência: Leitura específica das cláusulas indicadas; condições e conflitos preservados. Seleção documental atual não comprova vigência jurídica por data isolada.</a:t>
            </a:r>
          </a:p>
          <a:p>
            <a:r>
              <a:t>CNPJ 54871427000194 · Adaptação à Resolução CVM 175 · Resumo do histórico: {"count": 2, "dates": ["2024-04-19"], "document_count": 2, "sources": [{"document_id": "670687", "title": "Instrumento Particular de Constituição/Encerramento do Fundo", "reference_date": "2024-04-19", "version": "1", "page": 1, "url": "https://fnet.bmfbovespa.com.br/fnet/publico/visualizarDocumento?id=670687", "sha256": "999f2a47d39f7022b0fcee3d16fd1db33948537b897e92c4c9e14b436bf5eb96"}, {"document_id": "670689", "title": "Regulamento", "reference_date": "2024-04-19", "version": "1", "page": 11, "clause": "4.10", "url": "https://fnet.bmfbovespa.com.br/fnet/publico/visualizarDocumento?id=670689", "sha256": "891bc9bc5d87bbc02ec139077a84d2702eb81ea02035fb71d24f5b8366b94a0b"}], "reference": {"path": "history/54871427000194.json", "criterion_id": "res175", "total_count": 2, "preview_count": 2, "full_text_deferred": true, "sha256": "35d7cd99be50c7287c9fb675cf4f2e736002315295a225a9efa79c8d9186d874"}}</a:t>
            </a:r>
          </a:p>
          <a:p>
            <a:r>
              <a:t>CNPJ 60010416000112 · Adaptação à Resolução CVM 175 · Regulamento · ID 1051393 · 09/10/2025 · versão Regulamento09/10/2025 · p. 8 · AnexoI1.2 · https://fnet.bmfbovespa.com.br/fnet/publico/visualizarDocumento?id=1051393</a:t>
            </a:r>
          </a:p>
          <a:p>
            <a:r>
              <a:t>CNPJ 60010416000112 · Adaptação à Resolução CVM 175 · Excerto da fonte:</a:t>
            </a:r>
          </a:p>
          <a:p>
            <a:r>
              <a:t>Tipo de Condomínio Fechado. Prazo de Duração Indeterminado. Classe de Investimento Não. em Cotas Tipo “Financeiro”. Classificação ANBIMA Foco de atuação “Créditos Consignados”. O objetivo da classe é proporcionar aos seus Cotistas a valorização de suas Cotas por meio da aplicação de seu Patrimônio Líquido na aquisição de: (i) Direitos Creditórios que atendam aos Critérios de Elegibilidade, estabelecidos no Ca</a:t>
            </a:r>
          </a:p>
          <a:p>
            <a:r>
              <a:t>CNPJ 60010416000112 · Adaptação à Resolução CVM 175 · Regulamento · ID 1051393 · 09/10/2025 · versão Regulamento09/10/2025 · p. 9 · AnexoI2.1–2.3 · https://fnet.bmfbovespa.com.br/fnet/publico/visualizarDocumento?id=1051393</a:t>
            </a:r>
          </a:p>
          <a:p>
            <a:r>
              <a:t>CNPJ 60010416000112 · Adaptação à Resolução CVM 175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o Administrador deverá adotar as medidas aplicáveis previstas na Resolução CVM 175 2.3 Serão aplicáveis as disposições da Resolução CVM 175 no que se ref ere aos procedimentos a serem adotados pelo Administrador na hipótese de Patrimônio Líquido negativo da Classe, visando a liquidação da Classe e que não remanesçam</a:t>
            </a:r>
          </a:p>
          <a:p>
            <a:r>
              <a:t>CNPJ 60010416000112 · Adaptação à Resolução CVM 175 · Versão e prevalência: Leitura específica das cláusulas indicadas; condições e conflitos preservados. Seleção documental atual não comprova vigência jurídica por data isolada.</a:t>
            </a:r>
          </a:p>
          <a:p>
            <a:r>
              <a:t>CNPJ 60010416000112 · Adaptação à Resolução CVM 175 · Resumo do histórico: {"count": 2, "dates": ["2025-03-20"], "document_count": 2, "sources": [{"document_id": "993785", "title": "Instrumento Particular de Constituição/Encerramento do Fundo", "reference_date": "2025-03-20", "version": "1", "page": 1, "url": "https://fnet.bmfbovespa.com.br/fnet/publico/visualizarDocumento?id=993785", "sha256": "0826e0eae2c51afabf59bbc49fc7647598d03da5ca6de0f9725850a8bd6af457"}, {"document_id": "993786", "title": "Regulamento", "reference_date": "2025-03-20", "version": "1", "page": 12, "clause": "4.8", "url": "https://fnet.bmfbovespa.com.br/fnet/publico/visualizarDocumento?id=993786", "sha256": "fd0fdd369a195510d81f81f505195a0b09e5f43522a990afa7d58c4f872921c8"}], "reference": {"path": "history/60010416000112.json", "criterion_id": "res175", "total_count": 2, "preview_count": 2, "full_text_deferred": true, "sha256": "8e2bd813f4c51cf01f6bfaad164bafe69d2bbb192f753eac92da3a01c2e63046"}}</a:t>
            </a:r>
          </a:p>
          <a:p>
            <a:r>
              <a:t>CNPJ 62696791000193 · Adaptação à Resolução CVM 175 · AGE · ID 1143319 · 20/03/2026 10:00 · versão AGE — referência 20/03/2026 10:00 · p. 1 · AGC, 4.1(a)–(b) · https://fnet.bmfbovespa.com.br/fnet/publico/visualizarDocumento?id=1143319</a:t>
            </a:r>
          </a:p>
          <a:p>
            <a:r>
              <a:t>CNPJ 62696791000193 · Adaptação à Resolução CVM 175 · Excerto da fonte:</a:t>
            </a:r>
          </a:p>
          <a:p>
            <a:r>
              <a:t>4.1. Aprovar a transformação do Fundo, bem como de sua Classe única, em um fundo de investimento nas cadeias produtivas do agronegócio (“Transformação”), nos termos da parte geral e do Anexo Normativo VI da Resolução nº 175 da CVM, de 23 de dezembro de 2022, conforme alterada (“Resolução CVM 175”). a. Aprovar a alteração da denominação do Fundo, que passará a vigorar como BTG PACTUAL CERES CONFINA FUNDO DE INVESTIMENTO NAS CADEIAS PRODUTIVAS DO AGRONEGÓCIO RESPONSABILIDADE LIMITADA, e de sua Classe única, que passará a vigorar como CLASSE ÚNICA DO BTG PACTUAL CERES CONFINA FUNDO DE INVESTIMENTO NAS CADEIAS PRODUTIVAS DO AGRONEGÓCIO RESPONSABILIDADE LIMITADA (“Classe”); b. Aprovar a reforma integral do Regulamento do Fundo, bem como do Anexo descritivo da Classe, para realizar todos os ajustes necessários à implementação da Transformação, incluindo, mas não se limitando, a política de investimentos, o regime tributário e os fatores de risco aplicáveis, conforme itens abaixo; c. Aprovar a alteração do quadro de características gerais do Fundo, considerando a contratação do Cogestor pelo Gestor, nos termos do artigo 52, II, da parte geral da Resolução CVM 175 e no co</a:t>
            </a:r>
          </a:p>
          <a:p>
            <a:r>
              <a:t>CNPJ 62696791000193 · Adaptação à Resolução CVM 175 · AGE · ID 1143319 · 20/03/2026 10:00 · versão AGE — referência 20/03/2026 10:00 · p. 3 · AGC 20/03/2026, 4.1(j)–(k) · https://fnet.bmfbovespa.com.br/fnet/publico/visualizarDocumento?id=1143319</a:t>
            </a:r>
          </a:p>
          <a:p>
            <a:r>
              <a:t>CNPJ 62696791000193 · Adaptação à Resolução CVM 175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Adaptação à Resolução CVM 175 · Regulamento · ID 1143317 · 20/03/2026 · versão Regulamento — referência 20/03/2026 · p. 1 · Parte Geral, 1.1 · https://fnet.bmfbovespa.com.br/fnet/publico/visualizarDocumento?id=1143317</a:t>
            </a:r>
          </a:p>
          <a:p>
            <a:r>
              <a:t>CNPJ 62696791000193 · Adaptação à Resolução CVM 175 · Excerto da fonte:</a:t>
            </a:r>
          </a:p>
          <a:p>
            <a:r>
              <a:t>1.1 BTG PACTUAL CERES CONFINA FUNDO DE INVESTIMENTO NAS CADEIAS PRODUTIVAS DO AGRONEGÓCIO RESPONSABILIDADE LIMITADA (“Fundo”), regido pela Lei nº 10.406, de 10 de janeiro de 2002, conf orme alterada (“Código Civil”), pela Lei n.º 8.668, de 25 de junho de 1993, conf orme alterada (“Lei 8.668”), pela parte geral, Anexo Normativo VI e, subsidiariamente, Anexo Normativo II da Resolução nº 175, de 23 de dezembro de 2022, conforme alterada, da Comissão de Valores Mobiliários (respectivamente, “Resolução CVM 175” e “CVM”), terá como principais características: Classe Classe única. Indeterminado, exceto se de outra f orma vier a ser deliberado pelos Cotistas Prazo de Duração reunidos em assembleia geral de Cotistas (“Prazo de Duração”). BTG Pactual Serviços Financeiros S.A. Distribuidora de Títulos e Valores Mobiliários, sociedade anônima, com sede no município e Estado do Rio de Janeiro, na Praia de Botafogo, nº 501, 5º andar (parte), Torre Corcovado, Administrador Botafogo, CEP 22250-040, inscrita no CNPJ sob o nº 59.281.253/0001-23 e</a:t>
            </a:r>
          </a:p>
          <a:p>
            <a:r>
              <a:t>CNPJ 62696791000193 · Adaptação à Resolução CVM 175 · Condição: Posição comumfev/26 é anterior à transformação e demanda o regime/regulamento anterior.</a:t>
            </a:r>
          </a:p>
          <a:p>
            <a:r>
              <a:t>CNPJ 62696791000193 · Adaptação à Resolução CVM 175 · Versão e prevalência: Leitura específica das cláusulas indicadas; condições e conflitos preservados. Seleção documental atual não comprova vigência jurídica por data isolada.</a:t>
            </a:r>
          </a:p>
          <a:p>
            <a:r>
              <a:t>CNPJ 55563624000109 · Adaptação à Resolução CVM 175 · Regulamento · ID 1192614 · 2026-04-30 · versão 1 · p. 13 · 4.11 · https://fnet.bmfbovespa.com.br/fnet/publico/visualizarDocumento?id=1192614</a:t>
            </a:r>
          </a:p>
          <a:p>
            <a:r>
              <a:t>CNPJ 55563624000109 · Adaptação à Resolução CVM 175 · Excerto da fonte:</a:t>
            </a:r>
          </a:p>
          <a:p>
            <a:r>
              <a:t>4.11 Nos termos dos artigos 45, parágrafo 7º, e 47 parágrafo único do Anexo Normativo II à Resolução CVM 175, uma  vez que as Cotas são destinadas exclusivamente a Investidores Profissionais, a Classe poderá ter até 100% (cem  por cento) de seu Patrimônio Líquido alocado em Cotas da Classe Investida, as quais são emitidas pela Classe  Investida.</a:t>
            </a:r>
          </a:p>
          <a:p>
            <a:r>
              <a:t>CNPJ 55563624000109 · Adaptação à Resolução CVM 175 · Regulamento · ID 1192614 · 2026-04-30 · versão 1 · p. 31 · 15.1.1 · https://fnet.bmfbovespa.com.br/fnet/publico/visualizarDocumento?id=1192614</a:t>
            </a:r>
          </a:p>
          <a:p>
            <a:r>
              <a:t>CNPJ 55563624000109 · Adaptação à Resolução CVM 175 · Excerto da fonte:</a:t>
            </a:r>
          </a:p>
          <a:p>
            <a:r>
              <a:t>15.1.1 Riscos de Crédito:</a:t>
            </a:r>
          </a:p>
          <a:p>
            <a:r>
              <a:t> (i) Risco de concentração na Classe Investida. Nos termos do presente Regulamento, a Classe  deverá manter alocado, no mínimo, 67% (sessenta e sete por cento) do Patrimônio Líquido nas Cotas  da Classe Investida. Alterações na condição econômico-financeira e na expectativa de desempenho ou  resultados da Classe Investida poderão, isolada ou cumulativamente, afetar negativamente o  rendimento do investimento nas Cotas, de forma mais severa do que se a Classe adotasse uma  estratégia de investimento de maior diversificação. O risco associado às aplicações de qualquer fundo  de investimento é diretamente proporcional à concentração da sua carteira, sendo que, quanto maior  essa concentração, maior será a sua vulnerabilidade.</a:t>
            </a:r>
          </a:p>
          <a:p>
            <a:r>
              <a:t> (ii) Risco relativo à Classe Investida. Nos termos deste Anexo, a Classe deverá manter alocado, no  mínimo, 67% (sessenta e sete por cento) do Patrimônio Líquido em Cotas da Classe Investida. Os  investimentos realizados pela Classe Investida poderão estar sujeitos a flutuações típicas do mercado,  risco de crédito, risco sistêmico, condições adversas de liquidez e negociação atípica nos mercados de  atuação, bem como outros riscos diversos. Este Anexo não contém a descrição de todas as  características, incluindo os riscos, da Classe Investida.</a:t>
            </a:r>
          </a:p>
          <a:p>
            <a:r>
              <a:t> (iii) Risco Relativo ao Pagamento de Encargos da Classe Investida. Tendo em vista a estrutura da  Classe Investida – que emitiu cotas sêniores, cotas subordinadas mezanino e cotas subordinadas júnior  – em situação ordinária os encargos da Classe Investida são arcados pelas cotas subordinadas júnior,  que se subordinam às cotas subordinadas mezanino e às cotas sêniores para fins de amortização,  resgate e distribuição de rendimentos, não impactando, portanto, as Cotas da Classe Investida. Não  obstante o funcionamento da Classe Investida em situação ordinária, em cenários extraordinários, na  eventualidade do valor das cotas subordinadas júnior ficar reduzido a zero ou a valor negativo, os  encargos da Classe Investida conforme previstos em seu regulamento, inclusive mas não se limitando  as remunerações dos prestadores de serviços essenciais, passarão a ser arcados pelas cotas  subordinadas mezanino (que são as Cotas da Classe Investida), impactando no valor do investimento  da Classe na Classe Investida, e consequentemente, o investimento dos Cotistas na Classe.</a:t>
            </a:r>
          </a:p>
          <a:p>
            <a:r>
              <a:t> (iv) Riscos referentes à carteira da Classe Investida. Na forma do Anexo Normativo II da Resolução  CVM 175, a Classe Investida investe, direta ou indiretamente, no mínimo, 67% (sessenta e sete por  cento) do seu patrimônio em direitos creditórios originados pela Mercado Pago. O investimento em tais  direitos creditórios está sujeito a fatores de risco específicos, conforme detalhados no regulamento da  Classe Investida, incluindo, mas não se limitando a:</a:t>
            </a:r>
          </a:p>
          <a:p>
            <a:r>
              <a:t> (a) Risco de liquidez dos direitos creditórios. O investimento da Classe Investida em direitos  creditórios apresenta peculiaridades em relação às aplicações usuais da maioria dos  fundos de investimento brasileiros, haja vista que não existe, no Brasil, mercado  secundário com liquidez para tais direitos creditórios. Caso a Classe Investida precise  vender os direitos creditórios adquiridos, poderá não haver mercado comprador para  tais créditos, bem como o preço de alienação de tais direitos creditórios poderá refletir  essa falta de liquidez, causando perda ao patrimônio da Classe Investida e,  consequentemente, à Classe.</a:t>
            </a:r>
          </a:p>
          <a:p>
            <a:r>
              <a:t>CNPJ 55563624000109 · Adaptação à Resolução CVM 175 · Regulamento · ID 1192614 · 2026-04-30 · versão 1 · p. 28 · 13.2 · https://fnet.bmfbovespa.com.br/fnet/publico/visualizarDocumento?id=1192614</a:t>
            </a:r>
          </a:p>
          <a:p>
            <a:r>
              <a:t>CNPJ 55563624000109 · Adaptação à Resolução CVM 175 · Excerto da fonte:</a:t>
            </a:r>
          </a:p>
          <a:p>
            <a:r>
              <a:t>13.2 Em condições ordinárias, as Cotas da Classe Investida não pagarão remuneração aos prestadores de serviços  essenciais da Classe Investida, nos termos de seu regulamento. Não obstante, em cenário extraordinário  conforme descrito no item 15.1.1 (iii), e para fins de atendimento ao artigo 98 da parte geral da Resolução CVM  175, a taxa máxima de administração corresponderá ao valor da Taxa Mínima de Administração acrescida de até  0,10% (dez centésimos por cento) ao ano incidente sobre o patrimônio líquido da Classe Investida,  compreendendo a taxa de administração da Classe Investida geridos por partes relacionadas ao GESTOR, cujas  cotas não estão admitidas à negociação em mercado organizado, conforme prevista no regulamento da Classe  Investida (“Taxa Máxima de Administração” e, quando referida em conjunto com a Taxa Mínima de  Administração, como “Taxa de Administração”). Caso a taxa de administração da Classe Investida não se  enquadre no disposto acima, estará disposta no regulamento da Classe Investida.</a:t>
            </a:r>
          </a:p>
          <a:p>
            <a:r>
              <a:t>CNPJ 55563624000109 · Adaptação à Resolução CVM 175 · Condição: Documentos atuais selecionados no inventário por categoria/escopo; a data documental isolada não comprova vigência jurídica.</a:t>
            </a:r>
          </a:p>
          <a:p>
            <a:r>
              <a:t>CNPJ 55563624000109 · Adaptação à Resolução CVM 175 · Versão e prevalência: Documentos atuais selecionados no inventário por categoria/escopo; a data documental isolada não comprova vigência jurídica.</a:t>
            </a:r>
          </a:p>
          <a:p>
            <a:r>
              <a:t>CNPJ 55563624000109 · Adaptação à Resolução CVM 175 · Resumo do histórico: {"count": 3, "dates": ["2024-07-03", "2025-01-31", "2026-01-31"], "document_count": 3, "sources": [{"document_id": "1178840", "title": "Demonstrações Financeiras", "reference_date": "2026-01-31", "version": "1", "page": 29, "url": "https://fnet.bmfbovespa.com.br/fnet/publico/visualizarDocumento?id=1178840", "sha256": "c458e98664c5c907ddb5a05a94b120bed4e05295b2bfc420f5ba69af0a229abe"}, {"document_id": "891861", "title": "Demonstrações Financeiras", "reference_date": "2025-01-31", "version": "1", "page": 30, "url": "https://fnet.bmfbovespa.com.br/fnet/publico/visualizarDocumento?id=891861", "sha256": "e9cb9e6ddbe505fe068cfcac33605165a98313489de0d3ce6d4d238263c3f3e7"}, {"document_id": "691674", "title": "Instrumento Particular de Emissão de Cotas", "reference_date": "2024-07-03", "version": "1", "page": 1, "url": "https://fnet.bmfbovespa.com.br/fnet/publico/visualizarDocumento?id=691674", "sha256": "78bf7b350f1785beae5f43bd209b5ed19e863cb9a2cff01542aac11dd63ca554"}], "reference": {"path": "history/55563624000109.json", "criterion_id": "res175", "total_count": 3, "preview_count": 3, "full_text_deferred": true, "sha256": "7835d573fb58a3c19adf5b8ecc2aee2bdbb9a88f7a0c0209b5f262b64c7522e3"}}</a:t>
            </a:r>
          </a:p>
          <a:p>
            <a:r>
              <a:t>CNPJ 62552447000120 · Adaptação à Resolução CVM 175 · Regulamento · ID 1200623 · 21/05/2026 · versão Consolidado21/05/2026 aprovado pelo ato1200625 · p. 1 · ParteGeral1.1 · https://fnet.bmfbovespa.com.br/fnet/publico/visualizarDocumento?id=1200623</a:t>
            </a:r>
          </a:p>
          <a:p>
            <a:r>
              <a:t>CNPJ 62552447000120 · Adaptação à Resolução CVM 175 · Excerto da fonte:</a:t>
            </a:r>
          </a:p>
          <a:p>
            <a:r>
              <a:t>1.1 V CDT 1 FUNDO DE INVESTIMENTO EM DIREITOS CREDITÓRIOS RESPONSABILIDADE LIMITADA (“Fundo”), regido pela Lei n.º 10.406, de 10 de janeiro de 2002, conforme alterada (“Código Civil”), pela Resolução da Comissão de Valores Mobiliários (“CVM”) n.º 175, de 23 de dezembro de 2022, conf orme alterada (“Resolução CVM 175”), que inclui sua Parte Geral (“Parte Geral da Resolução CVM 175”) e seu Anexo Normativo II (“Anexo Normativo II”) terá como principais características: Classe de Cotas Classe única. Indeterminado, exceto se de outra forma vier a ser deliberado pelos titulares</a:t>
            </a:r>
          </a:p>
          <a:p>
            <a:r>
              <a:t>CNPJ 62552447000120 · Adaptação à Resolução CVM 175 · Regulamento · ID 1200623 · 21/05/2026 · versão Consolidado21/05/2026 aprovado pelo ato1200625 · p. 2 · ParteGeral1.6(v) · https://fnet.bmfbovespa.com.br/fnet/publico/visualizarDocumento?id=1200623</a:t>
            </a:r>
          </a:p>
          <a:p>
            <a:r>
              <a:t>CNPJ 62552447000120 · Adaptação à Resolução CVM 175 · Excerto da fonte:</a:t>
            </a:r>
          </a:p>
          <a:p>
            <a:r>
              <a:t>V CDT 1 FUNDO DE INVESTIMENTO EM DIREITOS CREDITÓRIOS RESPONSABILIDADE LIMITADA direitos e obrigações distintos das demais Classes, nos termos do art. 5º da Parte Geral da Resolução CVM 175. 1.4 O Anexo de cada classe de Cotas (“Classe”), conforme aplicável, dispõe, sem prejuízo de outros requisitos e inf ormações previstos na regulamentação, sobre: (i) características gerais, incluindo a indicação dos demais prestadores de serviços; (ii) responsabilidade dos Cotistas e regime de insolvência; (iii) características, direitos, condições de emissão, subscrição, integralização,</a:t>
            </a:r>
          </a:p>
          <a:p>
            <a:r>
              <a:t>CNPJ 62552447000120 · Adaptação à Resolução CVM 175 · Regulamento · ID 1200623 · 21/05/2026 · versão Consolidado21/05/2026 aprovado pelo ato1200625 · p. 16 · AnexoI5.1 · https://fnet.bmfbovespa.com.br/fnet/publico/visualizarDocumento?id=1200623</a:t>
            </a:r>
          </a:p>
          <a:p>
            <a:r>
              <a:t>CNPJ 62552447000120 · Adaptação à Resolução CVM 175 · Excerto da fonte:</a:t>
            </a:r>
          </a:p>
          <a:p>
            <a:r>
              <a:t>5.1 A Classe não possui Subclasse. As características, os direitos e as condições de emissão, distribuição, subscrição, integralização, remuneração, Amortização e resgate das Cotas estão descritos neste Capítulo e no Capítulo 6. 5.1.1 Não obstante, por deliberação conjunta dos Prestadores de Serviços Essenciais e mediante aprovação em Assembleia Especial, poderá haver a divisão de Classes em Subclasses, nos termos da Resolução CVM 175. Após a primeira emissão de Cotas, novas emissões de Cotas (de quaisquer Subclasses) dependem de aprovação dos Cotistas. 5.2 As Cotas são escrit</a:t>
            </a:r>
          </a:p>
          <a:p>
            <a:r>
              <a:t>CNPJ 62552447000120 · Adaptação à Resolução CVM 175 · Versão e prevalência: Leitura específica das cláusulas indicadas; condições e conflitos preservados. Seleção documental atual não comprova vigência jurídica por data isolada.</a:t>
            </a:r>
          </a:p>
          <a:p>
            <a:r>
              <a:t>CNPJ 62552447000120 · Adaptação à Resolução CVM 175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"res175", "total_count": 1, "preview_count": 1, "full_text_deferred": true, "sha256": "d95db8c0613d67ee84118c734588665265ea6b02f86a0318d6a844cbe1d0f82f"}}</a:t>
            </a:r>
          </a:p>
          <a:p>
            <a:r>
              <a:t>CNPJ 63953620000165 · Adaptação à Resolução CVM 175 · Anexo ao Regulamento · ID 1222863 · 02/06/2026 · versão AnexoConsignadoPrivado02/06/2026 · p. 1 · AnexoI1.1 · https://fnet.bmfbovespa.com.br/fnet/publico/visualizarDocumento?id=1222863</a:t>
            </a:r>
          </a:p>
          <a:p>
            <a:r>
              <a:t>CNPJ 63953620000165 · Adaptação à Resolução CVM 175 · Excerto da fonte:</a:t>
            </a:r>
          </a:p>
          <a:p>
            <a:r>
              <a:t>1.1 As principais características da Classe Consignado Privado (para fins deste Anexo, “Classe”) estão descritas abaixo: Tipo de Condomínio Fechado. Indeterminado, exceto se de outra forma vier a ser deliberado pelos Cotistas Prazo de Duração reunidos em Assembleia Especial de Cotistas. (“Prazo de Duração”) Tipo “Financeiro”. Classificação ANBIMA Foco de atuação “Créditos Consignados”. O obje</a:t>
            </a:r>
          </a:p>
          <a:p>
            <a:r>
              <a:t>CNPJ 63953620000165 · Adaptação à Resolução CVM 175 · Anexo ao Regulamento · ID 1222863 · 02/06/2026 · versão AnexoConsignadoPrivado02/06/2026 · p. 9 · 5.1 · https://fnet.bmfbovespa.com.br/fnet/publico/visualizarDocumento?id=1222863</a:t>
            </a:r>
          </a:p>
          <a:p>
            <a:r>
              <a:t>CNPJ 63953620000165 · Adaptação à Resolução CVM 175 · Excerto da fonte:</a:t>
            </a:r>
          </a:p>
          <a:p>
            <a:r>
              <a:t>5.1 A Classe possui 2 (duas) Subclasses de Cotas, quais sejam, a subclasse sênior (“Subclasse Sênior” e “Cotas Seniores”) e a subclasse subordinada (“Subclasse Subordinada” e “Cotas Subordinadas” – as Cotas Subordinadas e Cotas Seniores, quando referidas em conjunto, “Cotas”). As características, os direitos e as condições de emissão, distribuição, subscrição, integralização, remuneração, amortização e resgate das Cotas estão descritos neste Capítulo e nos respectivos Apêndices. 5.2 As Cotas são escriturais, nominativas e correspondem a frações ideais do patrimônio da Classe, cuja propriedade presume-se: (i) pelo</a:t>
            </a:r>
          </a:p>
          <a:p>
            <a:r>
              <a:t>CNPJ 63953620000165 · Adaptação à Resolução CVM 175 · Condição: Vigência efetiva da versão 02/06/2026 não inferida da data de publicação; não aplicar a fev/26 automaticamente.</a:t>
            </a:r>
          </a:p>
          <a:p>
            <a:r>
              <a:t>CNPJ 63953620000165 · Adaptação à Resolução CVM 175 · Versão e prevalência: Leitura específica das cláusulas indicadas; condições e conflitos preservados. Seleção documental atual não comprova vigência jurídica por data isolada.</a:t>
            </a:r>
          </a:p>
          <a:p>
            <a:r>
              <a:t>CNPJ 63953620000165 · Adaptação à Resolução CVM 175 · Resumo do histórico: {"count": 9, "dates": ["2026-04-28", "2026-05-08", "2026-05-15"], "document_count": 3, "sources": [{"document_id": "1327859", "title": "Demonstrações Financeiras - Fusão, cisão e incorporação", "reference_date": "2026-05-15", "version": "1", "page": 31, "clause": "15.000.000", "url": "https://fnet.bmfbovespa.com.br/fnet/publico/visualizarDocumento?id=1327859", "sha256": "dca1c68babb97f887528c3e2e47596a9c30f507b067981a35655b2f2da9c8054"}, {"document_id": "1298691", "title": "Demonstrações Financeiras - Fusão, cisão e incorporação", "reference_date": "2026-05-08", "version": "1", "page": 32, "url": "https://fnet.bmfbovespa.com.br/fnet/publico/visualizarDocumento?id=1298691", "sha256": "58c570d9b8d4d265330d3db3ea81c435b8e44a6dab4002aa37790652a1ee9819"}, {"document_id": "1282180", "title": "Demonstrações Financeiras - Fusão, cisão e incorporação", "reference_date": "2026-04-28", "version": "1", "page": 32, "clause": "15.000.000", "url": "https://fnet.bmfbovespa.com.br/fnet/publico/visualizarDocumento?id=1282180", "sha256": "afaaa0e6809be4385e5bdb6c911aac582032c5bdbac3d7750234bf9eaf00438a"}], "reference": {"path": "history/63953620000165.json", "criterion_id": "res175", "total_count": 9, "preview_count": 3, "full_text_deferred": true, "sha256": "a7b89077f5e21098c2d601c303faabc3ff6b9729f89d8afecdc60fe1404720c1"}}</a:t>
            </a:r>
          </a:p>
          <a:p>
            <a:r>
              <a:t>CNPJ 54871427000194 · Duração e público-alvo · Demonstrações Financeiras - Fusão, cisão e incorporação · ID 1219522 · 2026-02-02 · versão 1 · p. 11 · https://fnet.bmfbovespa.com.br/fnet/publico/visualizarDocumento?id=1219522</a:t>
            </a:r>
          </a:p>
          <a:p>
            <a:r>
              <a:t>CNPJ 54871427000194 · Duração e público-alvo · Excerto da fonte:</a:t>
            </a:r>
          </a:p>
          <a:p>
            <a:r>
              <a:t>O Consignado Delta Receivables I Fundo de Investimento em Direitos Creditórios possui uma classe única de cotas, denominada Classe Única de Responsabilidade Limitada do Consignado Delta Receivables I Fundo de Investimento em Direitos Creditórios (“Classe”). A Classe foi constituída em 19 de abril de 2024, sob a forma de condomínio fechado e iniciou suas operações em 27 de maio de 2024. A Classe possui prazo de duração Indeterminado.</a:t>
            </a:r>
          </a:p>
          <a:p>
            <a:r>
              <a:t>CNPJ 54871427000194 · Duração e público-alvo · Condição: Documentos atuais selecionados no inventário por categoria/escopo; a data documental isolada não comprova vigência jurídica.</a:t>
            </a:r>
          </a:p>
          <a:p>
            <a:r>
              <a:t>CNPJ 54871427000194 · Duração e público-alvo · Versão e prevalência: Documentos atuais selecionados no inventário por categoria/escopo; a data documental isolada não comprova vigência jurídica.</a:t>
            </a:r>
          </a:p>
          <a:p>
            <a:r>
              <a:t>CNPJ 54871427000194 · Duração e público-alvo · Resumo do histórico: {"count": 11, "dates": ["2024-12-31", "2025-01-01", "2025-12-31"], "document_count": 3, "sources": [{"document_id": "1151805", "title": "Demonstrações Financeiras", "reference_date": "2025-12-31", "version": "1", "page": 11, "url": "https://fnet.bmfbovespa.com.br/fnet/publico/visualizarDocumento?id=1151805", "sha256": "f1cea70b152968bf96ef9221b27225953cb20aeef487b2798db3c25e11b528d4"}, {"document_id": "869529", "title": "Demonstrações Financeiras", "reference_date": "2025-01-01", "version": "1", "page": 11, "url": "https://fnet.bmfbovespa.com.br/fnet/publico/visualizarDocumento?id=869529", "sha256": "9a93a9369ac8efdbc54ff8fcee3ccac3abf88edab4807b9323d3852450771b2a"}, {"document_id": "870070", "title": "Demonstrações Financeiras", "reference_date": "2024-12-31", "version": "1", "page": 11, "url": "https://fnet.bmfbovespa.com.br/fnet/publico/visualizarDocumento?id=870070", "sha256": "9a93a9369ac8efdbc54ff8fcee3ccac3abf88edab4807b9323d3852450771b2a"}], "reference": {"path": "history/54871427000194.json", "criterion_id": "duration_investors", "total_count": 11, "preview_count": 3, "full_text_deferred": true, "sha256": "35d7cd99be50c7287c9fb675cf4f2e736002315295a225a9efa79c8d9186d874"}}</a:t>
            </a:r>
          </a:p>
          <a:p>
            <a:r>
              <a:t>CNPJ 60010416000112 · Duração e público-alvo · Demonstrações Financeiras - Fusão, cisão e incorporação · ID 1298690 · 2026-05-08 · versão 1 · p. 9 · https://fnet.bmfbovespa.com.br/fnet/publico/visualizarDocumento?id=1298690</a:t>
            </a:r>
          </a:p>
          <a:p>
            <a:r>
              <a:t>CNPJ 60010416000112 · Duração e público-alvo · Excerto da fonte:</a:t>
            </a:r>
          </a:p>
          <a:p>
            <a:r>
              <a:t>1. Contexto operacional  O MT Consignado Privado I Fundo de Investimento em Direitos Creditórios (“Fundo”) possui uma  classe única de cotas, denominada Classe Única do MT I Consignado Privado I Fundo de  Investimento em Direitos Creditórios Responsabilidade Limitada (“Classe”). A Classe foi  constituída em 20 de março de 2025, sob a forma de condomínio fechado e iniciou suas  operações em 21 de março de 2025. A Classe possui prazo de duração indeterminado.</a:t>
            </a:r>
          </a:p>
          <a:p>
            <a:r>
              <a:t>CNPJ 60010416000112 · Duração e público-alvo · Demonstrações Financeiras - Fusão, cisão e incorporação · ID 1298690 · 2026-05-08 · versão 1 · p. 22 · https://fnet.bmfbovespa.com.br/fnet/publico/visualizarDocumento?id=1298690</a:t>
            </a:r>
          </a:p>
          <a:p>
            <a:r>
              <a:t>CNPJ 60010416000112 · Duração e público-alvo · Excerto da fonte:</a:t>
            </a:r>
          </a:p>
          <a:p>
            <a:r>
              <a:t>(ii) Riscos do mercado secundário: A Classe é constituída sob a forma de condomínio  fechado, de modo que as Cotas Subordinadas somente serão resgatadas em virtude da  liquidação da Classe e as Cotas Seniores ao término do seu prazo de duração, conforme  estabelecidos nos respectivos Suplementos. Uma vez que o prazo de duração da Classe  é indeterminado, o Cotista titular das Cotas Subordinadas não terá liquidez em seu  investimento na Classe, exceto (a) por ocasião das amortizações e dos resgates, nos  termos do Regulamento; (b) por meio da alienação de suas Cotas no mercado  secundário, observado, neste caso, que sua alienação apenas é permitida para o Público-  Alvo das Cotas Subordinadas; ou (c) na liquidação antecipada do Fundo ou da Classe.</a:t>
            </a:r>
          </a:p>
          <a:p>
            <a:r>
              <a:t> Além disso, atualmente, o mercado secundário de cotas de fundos de investimento  apresenta baixa liquidez, o que pode dificultar a venda das Cotas ou ocasionar a obtenção  de um preço de venda que cause perda de patrimônio ao Cotista. Não há qualquer  garantia da Administradora, da Gestora, da consultora ou do Custodiante em relação à  possibilidade de venda das Cotas no mercado secundário ou ao preço obtido por elas,  ou mesmo garantia de saída ao Cotista.</a:t>
            </a:r>
          </a:p>
          <a:p>
            <a:r>
              <a:t>CNPJ 60010416000112 · Duração e público-alvo · Condição: Documentos atuais selecionados no inventário por categoria/escopo; a data documental isolada não comprova vigência jurídica.</a:t>
            </a:r>
          </a:p>
          <a:p>
            <a:r>
              <a:t>CNPJ 60010416000112 · Duração e público-alvo · Versão e prevalência: Documentos atuais selecionados no inventário por categoria/escopo; a data documental isolada não comprova vigência jurídica.</a:t>
            </a:r>
          </a:p>
          <a:p>
            <a:r>
              <a:t>CNPJ 60010416000112 · Duração e público-alvo · Resumo do histórico: {"count": 9, "dates": ["2025-11-30", "2026-03-18", "2026-04-16"], "document_count": 3, "sources": [{"document_id": "1282181", "title": "Demonstrações Financeiras - Fusão, cisão e incorporação", "reference_date": "2026-04-16", "version": "1", "page": 23, "url": "https://fnet.bmfbovespa.com.br/fnet/publico/visualizarDocumento?id=1282181", "sha256": "b1c6566e43a00bcd00c8a7f30c77b7f86e351bd8e355bbea113f46d1dafda703"}, {"document_id": "1224477", "title": "Demonstrações Financeiras - Fusão, cisão e incorporação", "reference_date": "2026-03-18", "version": "1", "page": 23, "url": "https://fnet.bmfbovespa.com.br/fnet/publico/visualizarDocumento?id=1224477", "sha256": "0751bf0a75bc3b44c2748f5000226665c6ec6698a90c4dc6170b4e6c187759ae"}, {"document_id": "1126154", "title": "Demonstrações Financeiras", "reference_date": "2025-11-30", "version": "1", "page": 23, "url": "https://fnet.bmfbovespa.com.br/fnet/publico/visualizarDocumento?id=1126154", "sha256": "a01e7ccf88c548f12c95cba8526d7efbef6b585c112cd4668eca781c292090b0"}], "reference": {"path": "history/60010416000112.json", "criterion_id": "duration_investors", "total_count": 9, "preview_count": 3, "full_text_deferred": true, "sha256": "8e2bd813f4c51cf01f6bfaad164bafe69d2bbb192f753eac92da3a01c2e63046"}}</a:t>
            </a:r>
          </a:p>
          <a:p>
            <a:r>
              <a:t>CNPJ 62696791000193 · Duração e público-alvo · Regulamento · ID 1143317 · 2026-03-20 · versão 1 · p. 18 · 8.8.1 · https://fnet.bmfbovespa.com.br/fnet/publico/visualizarDocumento?id=1143317</a:t>
            </a:r>
          </a:p>
          <a:p>
            <a:r>
              <a:t>CNPJ 62696791000193 · Duração e público-alvo · Excerto da fonte:</a:t>
            </a:r>
          </a:p>
          <a:p>
            <a:r>
              <a:t>8.8.1 As Chamadas de Capital para a realização de investimentos serão realizadas a qualquer  momento durante o Período de Investimento e estarão limitadas ao valor do capital subscrito  de cada Cotista. As Chamadas de Capital para o pagamento de despesas e encargos do Fundo  poderão ser realizadas a qualquer momento durante o Prazo de Duração, mas não estarão  limitadas ao valor do capital subscrito de cada Cotista.</a:t>
            </a:r>
          </a:p>
          <a:p>
            <a:r>
              <a:t>CNPJ 62696791000193 · Duração e público-alvo · Regulamento · ID 1143317 · 2026-03-20 · versão 1 · p. 20 · 9.5.1 · https://fnet.bmfbovespa.com.br/fnet/publico/visualizarDocumento?id=1143317</a:t>
            </a:r>
          </a:p>
          <a:p>
            <a:r>
              <a:t>CNPJ 62696791000193 · Duração e público-alvo · Excerto da fonte:</a:t>
            </a:r>
          </a:p>
          <a:p>
            <a:r>
              <a:t>9.5.1 Ao f inal do Prazo de Duração ou quando da liquidação antecipada da Classe, todas as Cotas  deverão ter seu valor integralmente amortizado. Não havendo recursos em moeda corrente  nacional suficientes para realizar o pagamento da amortização total das Cotas em circulação à  época da liquidação da Classe, o Administrador deverá convocar a Assembleia Especial de  Cotistas a fim de deliberar sobre a prorrogação do Prazo de Duração ou o resgate de Cotas em  Direitos Creditórios do Agronegócio e/ou Outros Ativos .</a:t>
            </a:r>
          </a:p>
          <a:p>
            <a:r>
              <a:t>10 ASSEMBLEIA ESPECIAL DE COTISTAS</a:t>
            </a:r>
          </a:p>
          <a:p>
            <a:r>
              <a:t>CNPJ 62696791000193 · Duração e público-alvo · Regulamento · ID 1143317 · 2026-03-20 · versão 1 · p. 23 · 11.1 · https://fnet.bmfbovespa.com.br/fnet/publico/visualizarDocumento?id=1143317</a:t>
            </a:r>
          </a:p>
          <a:p>
            <a:r>
              <a:t>CNPJ 62696791000193 · Duração e público-alvo · Excerto da fonte:</a:t>
            </a:r>
          </a:p>
          <a:p>
            <a:r>
              <a:t>11.1 A Classe será liquidada (i) em caso da liquidação antecipada deliberada em Assembleia Especial de  Cotistas; ou (ii) pelo encerramento do Prazo de Duração da Classe.</a:t>
            </a:r>
          </a:p>
          <a:p>
            <a:r>
              <a:t>CNPJ 62696791000193 · Duração e público-alvo · Condição: Documentos atuais selecionados no inventário por categoria/escopo; a data documental isolada não comprova vigência jurídica.</a:t>
            </a:r>
          </a:p>
          <a:p>
            <a:r>
              <a:t>CNPJ 62696791000193 · Duração e público-alvo · Versão e prevalência: Documentos atuais selecionados no inventário por categoria/escopo; a data documental isolada não comprova vigência jurídica.</a:t>
            </a:r>
          </a:p>
          <a:p>
            <a:r>
              <a:t>CNPJ 55563624000109 · Duração e público-alvo · AGE · ID 1306189 · 2026-08-25 · versão 1 · p. 1 · 4.1 · https://fnet.bmfbovespa.com.br/fnet/publico/visualizarDocumento?id=1306189</a:t>
            </a:r>
          </a:p>
          <a:p>
            <a:r>
              <a:t>CNPJ 55563624000109 · Duração e público-alvo · Excerto da fonte:</a:t>
            </a:r>
          </a:p>
          <a:p>
            <a:r>
              <a:t>4.1 Nos termos do Anexo da Classe, aprovar:</a:t>
            </a:r>
          </a:p>
          <a:p>
            <a:r>
              <a:t>(i) a liquidação da Subclasse A da Classe, considerando o encerramento do seu prazo de duração, por meio do  resgate integral de Cotas da Subclasse A com entrega de financeiro aos Cotistas. Será utilizada como data  base no cálculo da cota do dia 25 de agosto de 2026, com efetivação no fechamento do dia 27 de agosto de  2026; e</a:t>
            </a:r>
          </a:p>
          <a:p>
            <a:r>
              <a:t>(ii) a liquidação antecipada da Subclasse C da Classe, por meio do resgate integral de Cotas da Subclasse C com  entrega de financeiro aos Cotistas. Será utilizada como data base no cálculo da cota do dia 25 de agosto de  2026, com efetivação no fechamento do dia 27 de agosto de 2026.</a:t>
            </a:r>
          </a:p>
          <a:p>
            <a:r>
              <a:t>CNPJ 55563624000109 · Duração e público-alvo · Condição: Documentos atuais selecionados no inventário por categoria/escopo; a data documental isolada não comprova vigência jurídica.</a:t>
            </a:r>
          </a:p>
          <a:p>
            <a:r>
              <a:t>CNPJ 55563624000109 · Duração e público-alvo · Versão e prevalência: Documentos atuais selecionados no inventário por categoria/escopo; a data documental isolada não comprova vigência jurídica.</a:t>
            </a:r>
          </a:p>
          <a:p>
            <a:r>
              <a:t>CNPJ 55563624000109 · Duração e público-alvo · Resumo do histórico: {"count": 6, "dates": ["2026-04-30"], "document_count": 2, "sources": [{"document_id": "1192614", "title": "Regulamento", "reference_date": "2026-04-30", "version": "1", "page": "9, 15, 45-50", "url": "https://fnet.bmfbovespa.com.br/fnet/publico/visualizarDocumento?id=1192614", "sha256": "f56e63ace0acde41d2f47fb48f1ac7f3f7df5e2d32de092d7c5e075a52516632"}, {"document_id": "1192614", "title": "Regulamento", "reference_date": "2026-04-30", "version": "1", "page": 5, "clause": "4.7.1", "url": "https://fnet.bmfbovespa.com.br/fnet/publico/visualizarDocumento?id=1192614", "sha256": "f56e63ace0acde41d2f47fb48f1ac7f3f7df5e2d32de092d7c5e075a52516632"}, {"document_id": "1192603", "title": "AGE", "reference_date": "2026-04-30", "version": "1", "page": 1, "clause": "4.1", "url": "https://fnet.bmfbovespa.com.br/fnet/publico/visualizarDocumento?id=1192603", "sha256": "f53ff2a5b715f5365536305a098f9cc0c54b5a01128942d784915bed8eeb0288"}], "reference": {"path": "history/55563624000109.json", "criterion_id": "duration_investors", "total_count": 6, "preview_count": 3, "full_text_deferred": true, "sha256": "7835d573fb58a3c19adf5b8ecc2aee2bdbb9a88f7a0c0209b5f262b64c7522e3"}}</a:t>
            </a:r>
          </a:p>
          <a:p>
            <a:r>
              <a:t>CNPJ 62552447000120 · Duração e público-alvo · Regulamento · ID 1200623 · 2026-05-21 · versão 1 · p. 22 · 10.4 · https://fnet.bmfbovespa.com.br/fnet/publico/visualizarDocumento?id=1200623</a:t>
            </a:r>
          </a:p>
          <a:p>
            <a:r>
              <a:t>CNPJ 62552447000120 · Duração e público-alvo · Excerto da fonte:</a:t>
            </a:r>
          </a:p>
          <a:p>
            <a:r>
              <a:t>10.4 Tendo em vista que a Classe é exclusivamente destinada a Investidores Profissionais, não serão  aplicáveis as vedações ao direito a voto em assembleia de cotistas dispostas no artigo 78 da Resolução  CVM 175, conf orme disposto no artigo 114 da ref erida Resolução.</a:t>
            </a:r>
          </a:p>
          <a:p>
            <a:r>
              <a:t>CNPJ 62552447000120 · Duração e público-alvo · Regulamento · ID 1200623 · 2026-05-21 · versão 1 · p. 35 · https://fnet.bmfbovespa.com.br/fnet/publico/visualizarDocumento?id=1200623</a:t>
            </a:r>
          </a:p>
          <a:p>
            <a:r>
              <a:t>CNPJ 62552447000120 · Duração e público-alvo · Excerto da fonte:</a:t>
            </a:r>
          </a:p>
          <a:p>
            <a:r>
              <a:t>ativos desses emissores, causando perdas à Classe e ao Cotista. Além disso, a f alta de capacidade ou disposição de pagar por qualquer dos emissores dos Ativos Financeiros de Liquidez ou das contrapartes nas transações que compõem a Carteira causará perdas à Classe, e o que também poderá incorrer em custos para f ins de recuperação de seus recebíveis.</a:t>
            </a:r>
          </a:p>
          <a:p>
            <a:r>
              <a:t>(v) Riscos associados aos Devedores: no caso de Devedores no âmbito das operações de consignado privado, a sua capacidade de pagamento poderá ser af etada se, por exemplo, o Devedor tiver o seu contrato de emprego rescindido ou em virtude de decisão judicial, o Devedor for obrigado a pagar alimentos, que têm prioridade sobre o empréstimo para f ins de desconto na f 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 etar a rentabilidade da Classe. Já no caso de Devedores no âmbito das operações de Saque-aniversário, como os Direitos Creditórios a serem endossados à Classe serão descontados pelo FGTS da remuneração do Devedor, na ocorrência de qualquer evento que, nos termos da legislação aplicável, determine o pagamento antecipado do Saque-aniversário ao Devedor, a exemplo do falecimento do Devedor, dentre outros, as parcelas do Saque- aniversário serão pagas antecipadamente e a Classe deverá utilizar tais montantes no pré-pagamento dos Direitos Creditórios. Nesta hipótese, a Classe poderá não encontrar Direitos Creditórios disponíveis para serem adquiridos pela Classe, o que poderá af etar a rentabilidade da Classe.</a:t>
            </a:r>
          </a:p>
          <a:p>
            <a:r>
              <a:t>Risco de liquidez</a:t>
            </a:r>
          </a:p>
          <a:p>
            <a:r>
              <a:t>(i) Risco de liquidez: consiste no risco de redução ou inexistência de demanda pelos ativos que compõem a Classe nos respectivos mercados em que são negociados, devido às condições específicas desses ativos ou aos mercados em que são negociados. Devido a esses riscos, o Gestor poderá encontrar dificuldades em liquidar posições ou negociar esses ativos pelo preço e prazo desejados, de acordo com a estratégia de gestão adotada pela Classe, que permanecerá exposto, durante o período de baixa liquidez, aos riscos associados a esses ativos e posições assumidas em mercados de derivativos, se houver, que poderão até exigir que o Gestor aceite descontos em seus preços para realizar negociações no mercado. Esses f atores poderão prejudicar o pagamento de Amortizações ao Cotista, nos valores e dentro dos termos aqui estabelecidos.</a:t>
            </a:r>
          </a:p>
          <a:p>
            <a:r>
              <a:t>(ii) Riscos do mercado secundário: A Classe é constituída sob a f orma de condomínio fechado, de modo que as Cotas somente serão resgatadas em virtude da liquidação da Classe. Uma vez que o Prazo de Duração da Classe é indeterminado, o Cotista titular das Cotas não terá liquidez em seu investimento na Classe, exceto</a:t>
            </a:r>
          </a:p>
          <a:p>
            <a:r>
              <a:t>(a) por ocasião das Amortizações e dos resgates, nos termos deste Regulamento; (b) por meio da alienação de suas Cotas no mercado secundário; ou (c) na liquidação antecipada do FUNDO ou da Classe.</a:t>
            </a:r>
          </a:p>
          <a:p>
            <a:r>
              <a:t>Além disso, atualmente, o mercado secundário de cotas de fundos de investimento apresenta baixa liquidez, o que pode dificultar a venda das Cotas ou ocasionar a obtenção de um preço de venda que cause perda de patrimônio ao Cotista. Não há qualquer garantia do Administrador, do Gestor, da consultora ou do Custodiante em relação à possibilidade de venda das Cotas no mercado secundário ou ao preço obtido por elas, ou mesmo garantia de saída ao Cotista.</a:t>
            </a:r>
          </a:p>
          <a:p>
            <a:r>
              <a:t>Riscos específicos</a:t>
            </a:r>
          </a:p>
          <a:p>
            <a:r>
              <a:t>(i)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ficar inadimplente e, consequentemente, não haverá repasse à Classe do respectivo Direito Creditório, o que poderá resultar em perdas f inanceiras à Classe e aos Cotistas. Para os f ins deste Regulamento, “Empregador” signif ica a empresa com qual o Devedor mantém vínculo empregatício registrado junto à CTPS.</a:t>
            </a:r>
          </a:p>
          <a:p>
            <a:r>
              <a:t>(ii) Risco do Empregador não efetuar o desconto em folha: o repasse dos recursos oriundos dos Direitos Creditórios à Classe depende da realização, pelo Empregador, da escrituração da Consignação a ser</a:t>
            </a:r>
          </a:p>
          <a:p>
            <a:r>
              <a:t>CNPJ 62552447000120 · Duração e público-alvo · Regulamento · ID 1200623 · 2026-05-21 · versão 1 · p. 1 · 1.3 · https://fnet.bmfbovespa.com.br/fnet/publico/visualizarDocumento?id=1200623</a:t>
            </a:r>
          </a:p>
          <a:p>
            <a:r>
              <a:t>CNPJ 62552447000120 · Duração e público-alvo · Excerto da fonte:</a:t>
            </a:r>
          </a:p>
          <a:p>
            <a:r>
              <a:t>1.3 Durante o seu prazo de duração, o Fundo, por ato conjunto dos Prestadores de Serviços Essenciais,  poderá constituir diferentes Classes e Subclasses , sendo que cada Classe terá patrimônio segregado e</a:t>
            </a:r>
          </a:p>
          <a:p>
            <a:r>
              <a:t>CNPJ 62552447000120 · Duração e público-alvo · Condição: Documentos atuais selecionados no inventário por categoria/escopo; a data documental isolada não comprova vigência jurídica.</a:t>
            </a:r>
          </a:p>
          <a:p>
            <a:r>
              <a:t>CNPJ 62552447000120 · Duração e público-alvo · Versão e prevalência: Documentos atuais selecionados no inventário por categoria/escopo; a data documental isolada não comprova vigência jurídica.</a:t>
            </a:r>
          </a:p>
          <a:p>
            <a:r>
              <a:t>CNPJ 62552447000120 · Duração e público-alvo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"duration_investors", "total_count": 1, "preview_count": 1, "full_text_deferred": true, "sha256": "d95db8c0613d67ee84118c734588665265ea6b02f86a0318d6a844cbe1d0f82f"}}</a:t>
            </a:r>
          </a:p>
          <a:p>
            <a:r>
              <a:t>CNPJ 63953620000165 · Duração e público-alvo · Anexo ao Regulamento · ID 1222863 · 2026-06-02 · versão 1 · p. 2 · https://fnet.bmfbovespa.com.br/fnet/publico/visualizarDocumento?id=1222863</a:t>
            </a:r>
          </a:p>
          <a:p>
            <a:r>
              <a:t>CNPJ 63953620000165 · Duração e público-alvo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Duração e público-alvo · Anexo ao Regulamento · ID 1222863 · 2026-06-02 · versão 1 · p. 1 · 1.1 · https://fnet.bmfbovespa.com.br/fnet/publico/visualizarDocumento?id=1222863</a:t>
            </a:r>
          </a:p>
          <a:p>
            <a:r>
              <a:t>CNPJ 63953620000165 · Duração e público-alvo · Excerto da fonte:</a:t>
            </a:r>
          </a:p>
          <a:p>
            <a:r>
              <a:t>1.1 As principais características da Classe Consignado Privado (para fins deste Anexo, “Classe”) estão descritas  abaixo:</a:t>
            </a:r>
          </a:p>
          <a:p>
            <a:r>
              <a:t> Tipo de Condomínio Fechado.</a:t>
            </a:r>
          </a:p>
          <a:p>
            <a:r>
              <a:t> Indeterminado, exceto se de outra forma vier a ser deliberado pelos Cotistas  Prazo de Duração  reunidos em Assembleia Especial de Cotistas. (“Prazo de Duração”)  Tipo “Financeiro”.</a:t>
            </a:r>
          </a:p>
          <a:p>
            <a:r>
              <a:t> Classificação ANBIMA  Foco de atuação “Créditos Consignados”.</a:t>
            </a:r>
          </a:p>
          <a:p>
            <a:r>
              <a:t> O objetivo da classe é proporcionar aos seus Cotistas a valorização de suas Cotas  por meio da aplicação de seu Patrimônio Líquido (conforme definido abaixo) na  aquisição de: (i) “Direitos Creditórios Crédito Consignado”, representados por  cédula de crédito bancário regida pela Lei nº 10.931, emitida eletronicamente por  um devedor em favor do endossante (“CCB”) e, consequentemente, os recebíveis  decorrente de cada uma das parcelas vincendas, representando um empréstimo  consignado concedido pelo endossante ao devedor, e cujo pagamento ordinário  é feito por desconto de cada prestação vincenda de uma CCB na folha de  pagamentos do devedor (“Consignação”), efetuada pela Caixa Econômica  Federal, de acordo com a legislação aplicável e em conformidade com os  procedimentos estabelecidos no convênio celebrado entre o Endossante e a  Empresa de Tecnologia e Informações da Previdência – DATAPREV e paga na  Conta Vinculada do Endossante (“Convênio Consignado Privado”); e/ou (ii)  “Direitos Creditórios TVM”, representados por direitos, títulos e/ou valores  mobiliários representativos de créditos originados no âmbito de operações de  sociedades integrantes do conglomerado econômico de instituições financeiras  classificadas como S1 pelo BACEN, desde que não representem títulos de  emissão ou coobrigação de instituições financeiras, bem como cotas de fundos  de investimento que invistam preponderantemente nestes direitos, títulos e/ou  Objetivo  valores mobiliários (Direitos Creditórios TVM quando referidos em conjunto  com os Direitos Creditórios Consignado Privado, “Direitos Creditórios”)  observados todos os limites de composição e diversificação da carteira da Classe  (“Carteira”), estabelecidos neste Regulamento e na regulamentação aplicável.</a:t>
            </a:r>
          </a:p>
          <a:p>
            <a:r>
              <a:t> Subsidiariamente, a parcela do Patrimônio Líquido que não esteja alocada em  Direitos Creditórios poderá estar alocado em: (1) certificados de depósito  bancário (CDB) ou recibos de depósito bancário (RDB) com prazo máximo de  vencimento equivalente ao prazo remanescente do Período de Investimento, com  liquidez diária, emitidos por Parati Crédito, Financiamento e Investimento S.A.</a:t>
            </a:r>
          </a:p>
          <a:p>
            <a:r>
              <a:t> e/ou pelo Endossante (“Ativos de Liquidez MT”); e/ou (2) (i) moeda corrente  nacional; (ii) títulos do Tesouro SELIC, anteriormente denominado letra financeira  do Tesouro Nacional (LFT); (iii) certificados de depósito bancário (CDB) ou recibos  de depósito bancário (RDB) com prazo máximo de vencimento equivalente ao  prazo remanescente do Período de Investimento, com liquidez diária, emitidos  por (a) Itaú Unibanco S.A.; (b) Banco Bradesco S.A.; (c) Caixa Econômica Federal;</a:t>
            </a:r>
          </a:p>
          <a:p>
            <a:r>
              <a:t> (d) Banco do Brasil S.A.; (e) Banco Santander (Brasil) S.A.; (f) Banco BTG Pactual  S.A.; (g) Banco Sistema S.A. (“Instituições Autorizadas”); (iv) operações  compromissadas, desde que lastreadas nos títulos mencionados nas alíneas (i) a</a:t>
            </a:r>
          </a:p>
          <a:p>
            <a:r>
              <a:t> (iii) acima, emitidas por Instituições Autorizadas, com liquidez diária e vencimento</a:t>
            </a:r>
          </a:p>
          <a:p>
            <a:r>
              <a:t>CNPJ 63953620000165 · Duração e público-alvo · Anexo ao Regulamento · ID 1222863 · 2026-06-02 · versão 1 · p. 10 · 6.7.1 · https://fnet.bmfbovespa.com.br/fnet/publico/visualizarDocumento?id=1222863</a:t>
            </a:r>
          </a:p>
          <a:p>
            <a:r>
              <a:t>CNPJ 63953620000165 · Duração e público-alvo · Excerto da fonte:</a:t>
            </a:r>
          </a:p>
          <a:p>
            <a:r>
              <a:t>6.7.1 As Chamadas de Capital para a realização de investimentos serão realizadas a qualquer momento  durante o Período de Investimento e estarão limitadas ao valor do capital subscrito de cada Cotista. As  Chamadas de Capital para o pagamento de despesas e encargos do Fundo, com exceção de despesas  relacionadas à instrumentos de derivativos e/ou Encargos não previstos no âmbito deste regulamento,  poderão ser realizadas a qualquer momento durante o Prazo de Duração, mas não estarão limitadas ao  valor do capital subscrito de cada Cotista.</a:t>
            </a:r>
          </a:p>
          <a:p>
            <a:r>
              <a:t>CNPJ 63953620000165 · Duração e público-alvo · Condição: Documentos atuais selecionados no inventário por categoria/escopo; a data documental isolada não comprova vigência jurídica.</a:t>
            </a:r>
          </a:p>
          <a:p>
            <a:r>
              <a:t>CNPJ 63953620000165 · Duração e público-alvo · Versão e prevalência: Documentos atuais selecionados no inventário por categoria/escopo; a data documental isolada não comprova vigência jurídica.</a:t>
            </a:r>
          </a:p>
          <a:p>
            <a:r>
              <a:t>CNPJ 63953620000165 · Duração e público-alvo · Resumo do histórico: {"count": 8, "dates": ["2026-04-28", "2026-05-08", "2026-05-15"], "document_count": 3, "sources": [{"document_id": "1327859", "title": "Demonstrações Financeiras - Fusão, cisão e incorporação", "reference_date": "2026-05-15", "version": "1", "page": 9, "url": "https://fnet.bmfbovespa.com.br/fnet/publico/visualizarDocumento?id=1327859", "sha256": "dca1c68babb97f887528c3e2e47596a9c30f507b067981a35655b2f2da9c8054"}, {"document_id": "1298691", "title": "Demonstrações Financeiras - Fusão, cisão e incorporação", "reference_date": "2026-05-08", "version": "1", "page": 9, "url": "https://fnet.bmfbovespa.com.br/fnet/publico/visualizarDocumento?id=1298691", "sha256": "58c570d9b8d4d265330d3db3ea81c435b8e44a6dab4002aa37790652a1ee9819"}, {"document_id": "1282180", "title": "Demonstrações Financeiras - Fusão, cisão e incorporação", "reference_date": "2026-04-28", "version": "1", "page": 9, "url": "https://fnet.bmfbovespa.com.br/fnet/publico/visualizarDocumento?id=1282180", "sha256": "afaaa0e6809be4385e5bdb6c911aac582032c5bdbac3d7750234bf9eaf00438a"}], "reference": {"path": "history/63953620000165.json", "criterion_id": "duration_investors",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Alocação e perímetro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Alocação mínima · Base da comparação IME: {"criterion_id": "allocation", "observed_value": 91.84981349574433, "unit": "percent", "competence": "08/2026", "status": "not_comparable", "reason": "Vigência efetiva não comprovada; data do documento isolada não certifica enquadramento histórico.", "formula": "credit_rights / net_asset_value × 100",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50.0}</a:t>
            </a:r>
          </a:p>
          <a:p>
            <a:r>
              <a:t>CNPJ 54871427000194 · Alocação mínima · Regulamento · ID 670691 · 28/04/2024 · versão Regulamento — referência 28/04/2024 · p. 11 · Anexo I, 4.9 · https://fnet.bmfbovespa.com.br/fnet/publico/visualizarDocumento?id=670691</a:t>
            </a:r>
          </a:p>
          <a:p>
            <a:r>
              <a:t>CNPJ 54871427000194 · Alocação mínima · Excerto da fonte:</a:t>
            </a:r>
          </a:p>
          <a:p>
            <a:r>
              <a:t>4.9 Decorridos 180 (cento e oitenta) dias da Data da 1ª Integralização de Cotas, a Classe deverá manter alocado, no mínimo, 50% (cinquenta por cento) do seu Patrimônio Líquido em Direitos Creditórios . 4.10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4.11 A Classe poderá, direta ou indiretamente e, nos termos da legislação aplicável: (i) adquirir Direitos Creditórios que sejam cedidos e/ou originados pelo ADMINISTRADOR e/ou pelo GESTOR, ou partes a eles relacionadas, tal como definidas pelas regras contábeis que tratam desse assunto; e (ii) ceder Direitos Creditórios a qualquer das pessoas, fundos de investimento ou entidades referidas n</a:t>
            </a:r>
          </a:p>
          <a:p>
            <a:r>
              <a:t>CNPJ 54871427000194 · Alocação mínima · Mecânica: {"operator": "&gt;=", "limit": 50.0, "unit": "percent", "numerator": "credit_rights", "denominator": "net_asset_value", "frequency": "daily", "layer": "54871427000194", "document_date": "2024-04-28", "effective_status": "document_date_only", "initial_days": 180}</a:t>
            </a:r>
          </a:p>
          <a:p>
            <a:r>
              <a:t>CNPJ 54871427000194 · Alocação mínima · Versão e prevalência: Leitura específica das cláusulas indicadas; condições e conflitos preservados. Seleção documental atual não comprova vigência jurídica por data isolada.</a:t>
            </a:r>
          </a:p>
          <a:p>
            <a:r>
              <a:t>CNPJ 54871427000194 · Alocação mínima · Resumo do histórico: {"count": 2, "dates": ["2024-04-19", "2024-04-28"], "document_count": 2, "sources": [{"document_id": "670691", "title": "Regulamento", "reference_date": "2024-04-28", "version": "1", "page": "11", "url": "https://fnet.bmfbovespa.com.br/fnet/publico/visualizarDocumento?id=670691", "sha256": "bf16dd7f1a62d5cdbf2e2d54fef81783783f7310fbc99c3a8f00459bdf9d037b"}, {"document_id": "670689", "title": "Regulamento", "reference_date": "2024-04-19", "version": "1", "page": 11, "clause": "4.9", "url": "https://fnet.bmfbovespa.com.br/fnet/publico/visualizarDocumento?id=670689", "sha256": "891bc9bc5d87bbc02ec139077a84d2702eb81ea02035fb71d24f5b8366b94a0b"}], "reference": {"path": "history/54871427000194.json", "criterion_id": "allocation", "total_count": 2, "preview_count": 2, "full_text_deferred": true, "sha256": "35d7cd99be50c7287c9fb675cf4f2e736002315295a225a9efa79c8d9186d874"}}</a:t>
            </a:r>
          </a:p>
          <a:p>
            <a:r>
              <a:t>CNPJ 60010416000112 · Alocação mínima · Base da comparação IME: {"criterion_id": "allocation", "observed_value": 117.78665480900618, "unit": "percent", "competence": "08/2026", "status": "not_comparable", "reason": "Vigência efetiva não comprovada; data do documento isolada não certifica enquadramento histórico.", "formula": "credit_rights / net_asset_value × 100",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50.0}</a:t>
            </a:r>
          </a:p>
          <a:p>
            <a:r>
              <a:t>CNPJ 60010416000112 · Alocação mínima · Regulamento · ID 1051393 · 09/10/2025 · versão Regulamento09/10/2025 · p. 11 · AnexoI4.6 · https://fnet.bmfbovespa.com.br/fnet/publico/visualizarDocumento?id=1051393</a:t>
            </a:r>
          </a:p>
          <a:p>
            <a:r>
              <a:t>CNPJ 60010416000112 · Alocação mínima · Excerto da fonte:</a:t>
            </a:r>
          </a:p>
          <a:p>
            <a:r>
              <a:t>4.6 Decorridos 180 (cento e oitenta) dias do início de suas atividades, a Classe deverá manter alocado, no mínimo: para f ins tributários, 67% (sessenta e sete por cento) do seu Patrimônio Líquido em Direitos Creditórios, nos termos da Resolução CMN 5.111; e para fins regulatórios, 50% (cinquenta por cento) do seu Patrimônio Líquido em Direitos Creditórios, nos termos da Resolução CVM 175. BTG Pactual SAC: 0800 772 28 27 - Ouvidoria: 0800 722 00 48 - btgpactual.com 11</a:t>
            </a:r>
          </a:p>
          <a:p>
            <a:r>
              <a:t>CNPJ 60010416000112 · Alocação mínima · Mecânica: {"operator": "&gt;=", "unit": "percent", "denominator": "net_asset_value", "frequency": "not_stated", "layer": "class", "effective_status": "document_date_only", "document_date": "2025-10-09", "numerator": "credit_rights", "limit": 50.0, "requires_initial_date": true}</a:t>
            </a:r>
          </a:p>
          <a:p>
            <a:r>
              <a:t>CNPJ 60010416000112 · Alocação mínima · Versão e prevalência: Leitura específica das cláusulas indicadas; condições e conflitos preservados. Seleção documental atual não comprova vigência jurídica por data isolada.</a:t>
            </a:r>
          </a:p>
          <a:p>
            <a:r>
              <a:t>CNPJ 60010416000112 · Alocação mínima · Resumo do histórico: {"count": 2, "dates": ["2025-03-20", "2025-10-09"], "document_count": 2, "sources": [{"document_id": "1051393", "title": "Regulamento", "reference_date": "2025-10-09", "version": "1", "page": "11", "url": "https://fnet.bmfbovespa.com.br/fnet/publico/visualizarDocumento?id=1051393", "sha256": "8469d613078ffd5a6c1d217885d8a397a16342c0b937ae4aa24b106505f233ae"}, {"document_id": "993786", "title": "Regulamento", "reference_date": "2025-03-20", "version": "1", "page": 6, "clause": "5.3", "url": "https://fnet.bmfbovespa.com.br/fnet/publico/visualizarDocumento?id=993786", "sha256": "fd0fdd369a195510d81f81f505195a0b09e5f43522a990afa7d58c4f872921c8"}], "reference": {"path": "history/60010416000112.json", "criterion_id": "allocation", "total_count": 2, "preview_count": 2, "full_text_deferred": true, "sha256": "8e2bd813f4c51cf01f6bfaad164bafe69d2bbb192f753eac92da3a01c2e63046"}}</a:t>
            </a:r>
          </a:p>
          <a:p>
            <a:r>
              <a:t>CNPJ 62696791000193 · Alocação mínima · Base da comparação IME: {"criterion_id": "allocation", "observed_value": null, "unit": "percent", "competence": "08/2026", "status": "not_comparable", "reason": "Operador, unidade, numerador ou base contratual sem correspondência exata no IME; proxies de PL/ativos não são intercambiáveis. CPR declarada no FIAGRO não comprova elegibilidade individual nem correspondência integral com a definição contratual de direitos creditórios do agronegócio.",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51.0, "comparison_required": true, "context_value": 99.72659520720684, "context_unit": "percent", "context_formula": "CPR / PL (rubrica declarada no FIAGRO)"}</a:t>
            </a:r>
          </a:p>
          <a:p>
            <a:r>
              <a:t>CNPJ 62696791000193 · Alocação mínima · Regulamento · ID 1143317 · 20/03/2026 · versão Regulamento — referência 20/03/2026 · p. 10 · Anexo I, 4.2 · https://fnet.bmfbovespa.com.br/fnet/publico/visualizarDocumento?id=1143317</a:t>
            </a:r>
          </a:p>
          <a:p>
            <a:r>
              <a:t>CNPJ 62696791000193 · Alocação mínima · Excerto da fonte:</a:t>
            </a:r>
          </a:p>
          <a:p>
            <a:r>
              <a:t>4.2 Decorridos 180 (cento e oitenta) dias do início de suas atividades, a Classe deverá possuir parcela mínima de 51% (cinquenta e um por cento) de seu Patrimônio Líquido representados por Direitos Creditórios do Agronegócio, enquanto a parcela de 49% (quarenta e nove por cento) remanescente deverá ser alocada em Outros Ativos ou Ativos Financeiros de Liquidez. 4.3 Os Direitos Creditórios do Agronegócio serão adquiridos integral ou parcialmente, sempre de acordo com a Política de Investimentos. 4.4 Tendo em vista (i) a natureza variada dos Direitos Creditórios do Agronegócio passíveis de aquisição pela Classe; (ii) a amplitude da Política de Investimentos; e (iii) a potencial diversificação de Cedentes/Endossantes e Devedores, não é possível precisar os processos de origem dos Direitos Creditórios do Agronegócio e as políticas de concessão de crédito adotadas pelos Cedentes/Endossantes. 4.5 Os Direitos Creditórios do Agronegócio deverão contar com toda a documentação necessária para o exercício das prerrogativas decorrentes da titularidade dos ativos, e capaz de comprovar a origem, a existência e a exigibilidade dos Direitos Creditórios do Agronegócio (“Documentos Comprobatórios”)</a:t>
            </a:r>
          </a:p>
          <a:p>
            <a:r>
              <a:t>CNPJ 62696791000193 · Alocação mínima · AGE · ID 1143319 · 20/03/2026 10:00 · versão AGE — referência 20/03/2026 10:00 · p. 3 · AGC 20/03/2026, 4.1(j)–(k) · https://fnet.bmfbovespa.com.br/fnet/publico/visualizarDocumento?id=1143319</a:t>
            </a:r>
          </a:p>
          <a:p>
            <a:r>
              <a:t>CNPJ 62696791000193 · Alocação mínima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Alocação mínima · Condição: Vigente a partir do fechamento de 23/03/2026. O agregado genérico de direitos do IME não comprova, sozinho, a natureza agronegócio de todos os ativos nem a conclusão da carência inicial.</a:t>
            </a:r>
          </a:p>
          <a:p>
            <a:r>
              <a:t>CNPJ 62696791000193 · Alocação mínima · Mecânica: {"operator": "&gt;=", "limit": 51.0, "unit": "percent", "numerator": "agribusiness_credit_rights", "denominator": "net_asset_value", "frequency": "daily", "layer": "62696791000193", "effective_from": "2026-03-23", "effective_status": "explicit_assembly_effective_date", "initial_days": 180, "initial_date": null}</a:t>
            </a:r>
          </a:p>
          <a:p>
            <a:r>
              <a:t>CNPJ 62696791000193 · Alocação mínima · Versão e prevalência: Leitura específica das cláusulas indicadas; condições e conflitos preservados. Seleção documental atual não comprova vigência jurídica por data isolada.</a:t>
            </a:r>
          </a:p>
          <a:p>
            <a:r>
              <a:t>CNPJ 55563624000109 · Alocação mínima · Base da comparação IME: {"criterion_id": "allocation", "observed_value": 99.87020304792446, "unit": "percent", "competence": "08/2026", "status": "not_comparable", "reason": "Vigência efetiva não comprovada; data do documento isolada não certifica enquadramento histórico.", "formula": "fidc_quotas / net_asset_value × 100",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67.0}</a:t>
            </a:r>
          </a:p>
          <a:p>
            <a:r>
              <a:t>CNPJ 55563624000109 · Alocação mínima · Regulamento · ID 1192614 · 30/04/2026 · versão Regulamento30/04/2026 · p. 13 · AnexoI4.10 · https://fnet.bmfbovespa.com.br/fnet/publico/visualizarDocumento?id=1192614</a:t>
            </a:r>
          </a:p>
          <a:p>
            <a:r>
              <a:t>CNPJ 55563624000109 · Alocação mínima · Excerto da fonte:</a:t>
            </a:r>
          </a:p>
          <a:p>
            <a:r>
              <a:t>4.10 Decorridos 180 (cento e oitenta) dias da Data da 1ª Integralização da Classe, a Classe deverá manter alocado, no mínimo, 67% (sessenta e sete por cento) do seu Patrimônio Líquido em Cotas da Classe Investida. 4.11 Nos termos dos artigos 45, parágrafo 7º, e 47 parágrafo único do Anexo Normativo II à Resolução CVM 175, uma vez que as Cotas são destinadas exclusivamente a Investidores Profissionais, a Classe poderá ter até 100% (cem por cento) de seu Patrimônio Líquido alocado em Cotas da Classe Investida, as quais são emitidas pela Classe Investida.</a:t>
            </a:r>
          </a:p>
          <a:p>
            <a:r>
              <a:t>CNPJ 55563624000109 · Alocação mínima · Regulamento · ID 1192614 · 30/04/2026 · versão Regulamento30/04/2026 · p. 12 · AnexoI4.9 · https://fnet.bmfbovespa.com.br/fnet/publico/visualizarDocumento?id=1192614</a:t>
            </a:r>
          </a:p>
          <a:p>
            <a:r>
              <a:t>CNPJ 55563624000109 · Alocação mínima · Excerto da fonte:</a:t>
            </a:r>
          </a:p>
          <a:p>
            <a:r>
              <a:t>4.9 A parcela do Patrimônio Líquido que não estiver alocada em Cotas da Classe Investida será necessariamente alocada em Ativos Financeiros de Liquidez. BTG Pactual SAC: 0800 772 28 27 - Ouvidoria: 0800 722 00 48 - btgpactual.com 5</a:t>
            </a:r>
          </a:p>
          <a:p>
            <a:r>
              <a:t>CNPJ 55563624000109 · Alocação mínima · Mecânica: {"operator": "&gt;=", "limit": 67.0, "unit": "percent", "numerator": "fidc_quotas", "denominator": "net_asset_value", "frequency": "not_stated", "layer": "class", "effective_status": "document_date_only", "document_date": "2026-04-30", "requires_initial_date": true}</a:t>
            </a:r>
          </a:p>
          <a:p>
            <a:r>
              <a:t>CNPJ 55563624000109 · Alocação mínima · Versão e prevalência: Leitura específica das cláusulas indicadas; condições e conflitos preservados. Seleção documental atual não comprova vigência jurídica por data isolada.</a:t>
            </a:r>
          </a:p>
          <a:p>
            <a:r>
              <a:t>CNPJ 55563624000109 · Alocação mínima · Resumo do histórico: {"count": 1, "dates": ["2026-04-30"], "document_count": 1, "sources": [{"document_id": "1192614", "title": "Regulamento", "reference_date": "2026-04-30", "version": "1", "page": "11-13", "url": "https://fnet.bmfbovespa.com.br/fnet/publico/visualizarDocumento?id=1192614", "sha256": "f56e63ace0acde41d2f47fb48f1ac7f3f7df5e2d32de092d7c5e075a52516632"}], "reference": {"path": "history/55563624000109.json", "criterion_id": "allocation", "total_count": 1, "preview_count": 1, "full_text_deferred": true, "sha256": "7835d573fb58a3c19adf5b8ecc2aee2bdbb9a88f7a0c0209b5f262b64c7522e3"}}</a:t>
            </a:r>
          </a:p>
          <a:p>
            <a:r>
              <a:t>CNPJ 62552447000120 · Alocação mínima · Base da comparação IME: {"criterion_id": "allocation", "observed_value": 104.36099466414683, "unit": "percent", "competence": "08/2026", "status": "not_comparable", "reason": "Vigência efetiva não comprovada; data do documento isolada não certifica enquadramento histórico.", "formula": "credit_rights / net_asset_value × 100",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50.0}</a:t>
            </a:r>
          </a:p>
          <a:p>
            <a:r>
              <a:t>CNPJ 62552447000120 · Alocação mínima · Regulamento · ID 1200623 · 21/05/2026 · versão Consolidado21/05/2026 aprovado pelo ato1200625 · p. 14 · AnexoI4.9 · https://fnet.bmfbovespa.com.br/fnet/publico/visualizarDocumento?id=1200623</a:t>
            </a:r>
          </a:p>
          <a:p>
            <a:r>
              <a:t>CNPJ 62552447000120 · Alocação mínima · Excerto da fonte:</a:t>
            </a:r>
          </a:p>
          <a:p>
            <a:r>
              <a:t>4.9 Decorridos 180 (cento e oitenta) dias da Data da Primeira Integralização, a Classe deverá manter alocados em Direitos Creditórios, no mínimo, para fins tributários, 67% (sessenta e sete por cento) do seu Patrimônio Líquido, nos termos da Lei 14.754 e da Resolução CMN 5.111, e, para fins regulatórios, 50% (cinquenta por cento) do seu Patrimônio Líquido, nos termos da Resolução CVM 175. Eventual desenquadramento da Carteira obrigará o Gestor aos procedimentos de desenquadramento e reenquadramento previstos na Lei 14.754 e na Resolução CMN 5.111, para f ins tributários, e na Resolução CVM 175, par</a:t>
            </a:r>
          </a:p>
          <a:p>
            <a:r>
              <a:t>CNPJ 62552447000120 · Alocação mínima · Mecânica: {"operator": "&gt;=", "unit": "percent", "numerator": "credit_rights", "denominator": "net_asset_value", "frequency": "not_stated", "layer": "class", "effective_status": "document_date_only", "document_date": "2026-05-21", "requires_initial_date": true, "limit": 50.0}</a:t>
            </a:r>
          </a:p>
          <a:p>
            <a:r>
              <a:t>CNPJ 62552447000120 · Alocação mínima · Versão e prevalência: Leitura específica das cláusulas indicadas; condições e conflitos preservados. Seleção documental atual não comprova vigência jurídica por data isolada.</a:t>
            </a:r>
          </a:p>
          <a:p>
            <a:r>
              <a:t>CNPJ 63953620000165 · Alocação mínima · Base da comparação IME: {"criterion_id": "allocation", "observed_value": 93.29241106598856, "unit": "percent", "competence": "08/2026", "status": "not_comparable", "reason": "Vigência efetiva não comprovada; data do documento isolada não certifica enquadramento histórico.", "formula": "credit_rights / net_asset_value × 100",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50.0}</a:t>
            </a:r>
          </a:p>
          <a:p>
            <a:r>
              <a:t>CNPJ 63953620000165 · Alocação mínima · Anexo ao Regulamento · ID 1222863 · 02/06/2026 · versão AnexoConsignadoPrivado02/06/2026 · p. 6 · 4.13 · https://fnet.bmfbovespa.com.br/fnet/publico/visualizarDocumento?id=1222863</a:t>
            </a:r>
          </a:p>
          <a:p>
            <a:r>
              <a:t>CNPJ 63953620000165 · Alocação mínima · Excerto da fonte:</a:t>
            </a:r>
          </a:p>
          <a:p>
            <a:r>
              <a:t>4.13 Decorridos 180 (cento e oitenta) dias do início de suas atividades, a Classe deverá manter alocado, no mínimo, para fins tributários, 67% (sessenta e sete por cento) do seu Patrimônio Líquido em Direitos Creditórios, nos termos da Resolução CMN 5.111, e para fins regulatórios, 50% (cinquenta por cento) do seu Patrimônio Líquido em Direitos Creditórios, nos termos da Resolução CVM 175. 4.14 Nos termos do Art. 45, §7º, inciso II, do Anexo Normativo II da Resolução CVM 175, a Classe poderá ter até 100% (cem por cento) de seu Patrimônio Líquido alocado em Direitos Creditórios, derivativos, observado o disposto nest</a:t>
            </a:r>
          </a:p>
          <a:p>
            <a:r>
              <a:t>CNPJ 63953620000165 · Alocação mínima · Mecânica: {"operator": "&gt;=", "unit": "percent", "denominator": "net_asset_value", "frequency": "not_stated", "layer": "class", "effective_status": "document_date_only", "document_date": "2026-06-02", "limit": 50.0, "numerator": "credit_rights", "requires_initial_date": true}</a:t>
            </a:r>
          </a:p>
          <a:p>
            <a:r>
              <a:t>CNPJ 63953620000165 · Alocação mínima · Versão e prevalência: Leitura específica das cláusulas indicadas; condições e conflitos preservados. Seleção documental atual não comprova vigência jurídica por data isolada.</a:t>
            </a:r>
          </a:p>
          <a:p>
            <a:r>
              <a:t>CNPJ 54871427000194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null, "comparison_required": true, "context_formula": "Direitos creditórios / PL", "context_value": 91.84981349574433, "context_unit": "percent"}</a:t>
            </a:r>
          </a:p>
          <a:p>
            <a:r>
              <a:t>CNPJ 54871427000194 · Alocação para tratamento tributário · Regulamento · ID 670691 · 2024-04-28 · versão 1 · p. 5 · https://fnet.bmfbovespa.com.br/fnet/publico/visualizarDocumento?id=670691</a:t>
            </a:r>
          </a:p>
          <a:p>
            <a:r>
              <a:t>CNPJ 54871427000194 · Alocação para tratamento tributário · Excerto da fonte:</a:t>
            </a:r>
          </a:p>
          <a:p>
            <a:r>
              <a:t>Os rendimentos auf eridos pelo cotista do FUNDO estarão sujeitos à tributação pelo IR, à alíquota de  15% (quinze por cento), na data da distribuição de rendimentos ou d a amortização de cotas,  considerando que o FUNDO seja classificado como entidade de investimento e cumpra os critérios de  composição da carteira com, no mínimo, 67% (sessenta e sete por cento) de direitos creditórios de  acordo com a Lei nº 14.754, de 12 de dezembro de 2023 (“Lei 14.754”) e a Resolução do Conselho  Monetário Nacional nº 5.111, de 21 de dezembro de 2023 (“Resolução CMN 5.111”).</a:t>
            </a:r>
          </a:p>
          <a:p>
            <a:r>
              <a:t>CNPJ 54871427000194 · Alocação para tratamento tributário · Regulamento · ID 670691 · 2024-04-28 · versão 1 · p. 5 · https://fnet.bmfbovespa.com.br/fnet/publico/visualizarDocumento?id=670691</a:t>
            </a:r>
          </a:p>
          <a:p>
            <a:r>
              <a:t>CNPJ 54871427000194 · Alocação para tratamento tributário · Excerto da fonte:</a:t>
            </a:r>
          </a:p>
          <a:p>
            <a:r>
              <a:t>A GESTORA do FUNDO buscará manter o cumprimento do requisito de composição da carteira do  FUNDO com, no mínimo 67% (sessenta e sete por cento) em direitos creditórios acima comentados.</a:t>
            </a:r>
          </a:p>
          <a:p>
            <a:r>
              <a:t> Todavia, caso a composição mínima do patrimônio líquido do FUNDO não seja atingida e ocorra o  ef etivo desenquadramento tributário da carteira, os cotistas pessoa f ísica ou jurídica residentes no  Brasil passarão a se sujeitar à regra geral de tributação de fundos, conforme previsto no art. 17 da Lei</a:t>
            </a:r>
          </a:p>
          <a:p>
            <a:r>
              <a:t> 14.754, segundo a qual: (1) haverá incidência periódica de IR todo mês de maio e novembro de cada  ano-calendário sobre os rendimentos auferidos pelo cotista em relação ao investimento nas cotas do  FUNDO, à alíquota de 15% (quinze por cento) ou 20% (vinte por cento), a depender da carteira do  FUNDO ser classificada, respectivamente, como de curto ou longo prazo; e (2) haverá incidência de IR  complementar, conforme alíquotas regressivas que variam de 22,5% (vinte e dois e meio por cento) a  15% (quinze por cento) a depender do prazo de aplicação, por ocasião da amortização ou liquidação  das Cotas do FUNDO. Certos tipos de investidor podem se benef iciar de alíquotas dif erenciadas.</a:t>
            </a:r>
          </a:p>
          <a:p>
            <a:r>
              <a:t>CNPJ 54871427000194 · Alocação para tratamento tributário · Condição: Documentos atuais selecionados no inventário por categoria/escopo; a data documental isolada não comprova vigência jurídica.</a:t>
            </a:r>
          </a:p>
          <a:p>
            <a:r>
              <a:t>CNPJ 54871427000194 · Alocação para tratamento tributário · Versão e prevalência: Documentos atuais selecionados no inventário por categoria/escopo; a data documental isolada não comprova vigência jurídica.</a:t>
            </a:r>
          </a:p>
          <a:p>
            <a:r>
              <a:t>CNPJ 54871427000194 · Alocação para tratamento tributário · Resumo do histórico: {"count": 1, "dates": ["2024-04-19"], "document_count": 1, "sources": [{"document_id": "670689", "title": "Regulamento", "reference_date": "2024-04-19", "version": "1", "page": 5, "url": "https://fnet.bmfbovespa.com.br/fnet/publico/visualizarDocumento?id=670689", "sha256": "891bc9bc5d87bbc02ec139077a84d2702eb81ea02035fb71d24f5b8366b94a0b"}], "reference": {"path": "history/54871427000194.json", "criterion_id": "tax_allocation", "total_count": 1, "preview_count": 1, "full_text_deferred": true, "sha256": "35d7cd99be50c7287c9fb675cf4f2e736002315295a225a9efa79c8d9186d874"}}</a:t>
            </a:r>
          </a:p>
          <a:p>
            <a:r>
              <a:t>CNPJ 60010416000112 · Alocação para tratamento tributário · Base da comparação IME: {"criterion_id": "tax_allocation", "observed_value": 117.78665480900618, "unit": "percent", "competence": "08/2026", "status": "not_comparable", "reason": "Vigência efetiva não comprovada; data do documento isolada não certifica enquadramento histórico.", "formula": "credit_rights / net_asset_value × 100",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67.0}</a:t>
            </a:r>
          </a:p>
          <a:p>
            <a:r>
              <a:t>CNPJ 60010416000112 · Alocação para tratamento tributário · Regulamento · ID 1051393 · 09/10/2025 · versão Regulamento09/10/2025 · p. 11 · AnexoI4.6 · https://fnet.bmfbovespa.com.br/fnet/publico/visualizarDocumento?id=1051393</a:t>
            </a:r>
          </a:p>
          <a:p>
            <a:r>
              <a:t>CNPJ 60010416000112 · Alocação para tratamento tributário · Excerto da fonte:</a:t>
            </a:r>
          </a:p>
          <a:p>
            <a:r>
              <a:t>4.6 Decorridos 180 (cento e oitenta) dias do início de suas atividades, a Classe deverá manter alocado, no mínimo: para f ins tributários, 67% (sessenta e sete por cento) do seu Patrimônio Líquido em Direitos Creditórios, nos termos da Resolução CMN 5.111; e para fins regulatórios, 50% (cinquenta por cento) do seu Patrimônio Líquido em Direitos Creditórios, nos termos da Resolução CVM 175. BTG Pactual SAC: 0800 772 28 27 - Ouvidoria: 0800 722 00 48 - btgpactual.com 11</a:t>
            </a:r>
          </a:p>
          <a:p>
            <a:r>
              <a:t>CNPJ 60010416000112 · Alocação para tratamento tributário · Mecânica: {"operator": "&gt;=", "unit": "percent", "denominator": "net_asset_value", "frequency": "not_stated", "layer": "class", "effective_status": "document_date_only", "document_date": "2025-10-09", "numerator": "credit_rights", "limit": 67.0, "requires_initial_date": true}</a:t>
            </a:r>
          </a:p>
          <a:p>
            <a:r>
              <a:t>CNPJ 60010416000112 · Alocação para tratamento tributário · Versão e prevalência: Leitura específica das cláusulas indicadas; condições e conflitos preservados. Seleção documental atual não comprova vigência jurídica por data isolada.</a:t>
            </a:r>
          </a:p>
          <a:p>
            <a:r>
              <a:t>CNPJ 60010416000112 · Alocação para tratamento tributário · Resumo do histórico: {"count": 1, "dates": ["2025-03-20"], "document_count": 1, "sources": [{"document_id": "993786", "title": "Regulamento", "reference_date": "2025-03-20", "version": "1", "page": 6, "clause": "5.3", "url": "https://fnet.bmfbovespa.com.br/fnet/publico/visualizarDocumento?id=993786", "sha256": "fd0fdd369a195510d81f81f505195a0b09e5f43522a990afa7d58c4f872921c8"}], "reference": {"path": "history/60010416000112.json", "criterion_id": "tax_allocation", "total_count": 1, "preview_count": 1, "full_text_deferred": true, "sha256": "8e2bd813f4c51cf01f6bfaad164bafe69d2bbb192f753eac92da3a01c2e63046"}}</a:t>
            </a:r>
          </a:p>
          <a:p>
            <a:r>
              <a:t>CNPJ 62696791000193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null, "comparison_required": true, "context_formula": "Direitos creditórios / PL", "context_value": null, "context_unit": "percent"}</a:t>
            </a:r>
          </a:p>
          <a:p>
            <a:r>
              <a:t>CNPJ 62696791000193 · Alocação para tratamento tributário · Regulamento · ID 1143317 · 2026-03-20 · versão 1 · p. 30 · https://fnet.bmfbovespa.com.br/fnet/publico/visualizarDocumento?id=1143317</a:t>
            </a:r>
          </a:p>
          <a:p>
            <a:r>
              <a:t>CNPJ 62696791000193 · Alocação para tratamento tributário · Excerto da fonte:</a:t>
            </a:r>
          </a:p>
          <a:p>
            <a:r>
              <a:t>Os rendimentos distribuídos pela Classe, de modo geral, sujeitam-se à incidência do IRF à alíquota  de 20% (vinte por cento), inclusive quando distribuídos à Cotista que seja pessoa jurídica isenta.</a:t>
            </a:r>
          </a:p>
          <a:p>
            <a:r>
              <a:t> Os ganhos de capital ou rendimentos auf eridos na alienação ou no resgate de cotas da Classe  sujeitam-se à tributação pelo IRF à alíquota de 20% (vinte por cento), no caso de resgate de cotas,  ou conforme normas aplicáveis aos ganhos de capital ou ganhos líquidos auf eridos em renda  variável, nos casos de alienação de cotas.</a:t>
            </a:r>
          </a:p>
          <a:p>
            <a:r>
              <a:t> O IRF pago será considerado: (i) antecipação da tributação corporativa para os investidores pessoa  jurídica (nos regimes de lucro real, presumido ou arbitrado); e (ii) def initivo, nos demais casos,  incluindo de investidores pessoas f ísicas.</a:t>
            </a:r>
          </a:p>
          <a:p>
            <a:r>
              <a:t> Não obstante o disposto no item acima, em conf ormidade com o disposto na Lei 11.033, com a  redação dada pela Lei nº 14.754, o cotista pessoa f ísica f icará isento do IRF e na declaração de  ajuste anual, sobre as distribuições de lucro realizadas pela Classe, exclusivamente na hipótese de  a Classe, cumulativamente: (a) possuir, no mínimo, 100 (cem) cotistas; e (b) as cotas serem  admitidas à negociação exclusivamente em bolsas de valores ou no mercado de balcão organizado.</a:t>
            </a:r>
          </a:p>
          <a:p>
            <a:r>
              <a:t> O benef ício não será concedido ao Cotista que for pessoa física, titular de cotas que representem  10% (dez por cento) ou mais da totalidade das cotas emitidas pela Classe ou cujas cotas lhe derem  direito ao recebimento de rendimento superior a 10% (dez por cento) do total de rendimentos  auf eridos pela Classe.</a:t>
            </a:r>
          </a:p>
          <a:p>
            <a:r>
              <a:t> O benef ício também não será concedido aos Cotistas pessoas físicas que, individualmente ou em  conjunto com parentes até segundo grau, sejam titulares de cotas que representem 30% (trinta por  cento) ou mais da totalidade das cotas emitidas pela Classe, ou ainda cujas cotas lhes derem direito  ao recebimento de rendimento superior a 30% (trinta por cento) do total de rendimentos auf eridos  pela Classe.</a:t>
            </a:r>
          </a:p>
          <a:p>
            <a:r>
              <a:t> Não há garantia de que o benef ício f iscal atualmente vigente não venha a ser posteriormente  restringido, suspenso, revogado ou extinto por legislação superveniente, ocasião na qual poderá vir  a incidir a tributação sobre os rendimentos distribuídos pela Classe, de acordo com os termos da  legislação que vier a estabelecer a incidência tributária.</a:t>
            </a:r>
          </a:p>
          <a:p>
            <a:r>
              <a:t>CNPJ 62696791000193 · Alocação para tratamento tributário · Condição: Documentos atuais selecionados no inventário por categoria/escopo; a data documental isolada não comprova vigência jurídica.</a:t>
            </a:r>
          </a:p>
          <a:p>
            <a:r>
              <a:t>CNPJ 62696791000193 · Alocação para tratamento tributário · Versão e prevalência: Documentos atuais selecionados no inventário por categoria/escopo; a data documental isolada não comprova vigência jurídica.</a:t>
            </a:r>
          </a:p>
          <a:p>
            <a:r>
              <a:t>CNPJ 55563624000109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null, "comparison_required": true, "context_formula": "Direitos creditórios / PL", "context_value": 0.0, "context_unit": "percent"}</a:t>
            </a:r>
          </a:p>
          <a:p>
            <a:r>
              <a:t>CNPJ 55563624000109 · Alocação para tratamento tributário · Regulamento · ID 1192614 · 2026-04-30 · versão 1 · p. 38 · https://fnet.bmfbovespa.com.br/fnet/publico/visualizarDocumento?id=1192614</a:t>
            </a:r>
          </a:p>
          <a:p>
            <a:r>
              <a:t>CNPJ 55563624000109 · Alocação para tratamento tributário · Excerto da fonte:</a:t>
            </a:r>
          </a:p>
          <a:p>
            <a:r>
              <a:t>(xiii) Risco de descaracterização do regime tributário aplicável à Classe. Caso (a) a Classe deixe de  cumprir com o percentual de, pelo menos, 67% (sessenta e sete por cento) do Patrimônio Líquido  aplicado em direitos creditórios, nos termos dos artigos 18, 19 e 24 da Lei 14.754, para fins de  enquadramento do FUNDO e da Classe como “Entidade de Investimento” na forma da Resolução do  CMN nº 5.111, de 21 de dezembro de 2023, conforme alterada, ou qualquer outra norma que venha  a substitui-la, sujeitando o FUNDO e a Classe ao “Regime Específico dos Fundos Não Sujeitos à  Tributação Periódica” conforme a na Seção III da Lei 14.754 ou deixe de satisfazer qualquer uma das  condições previstas na Lei 14.754, neste Anexo e/ou no Regulamento; e/ou (b) o FUNDO ou Classe  deixe de ser enquadrado como “Entidade de Investimento” na forma da Resolução do CMN nº 5.111,  de 21 de dezembro de 2023, ou demais normas do CMN e da CVM, não é possível garantir que o  FUNDO e/ou Classe continuarão a receber o tratamento tributário destinado ao “Regime Específico  dos Fundos Não Sujeitos à Tributação Periódica”, conforme definido na legislação específica.</a:t>
            </a:r>
          </a:p>
          <a:p>
            <a:r>
              <a:t>CNPJ 55563624000109 · Alocação para tratamento tributário · Regulamento · ID 1192614 · 2026-04-30 · versão 1 · p. 6 · https://fnet.bmfbovespa.com.br/fnet/publico/visualizarDocumento?id=1192614</a:t>
            </a:r>
          </a:p>
          <a:p>
            <a:r>
              <a:t>CNPJ 55563624000109 · Alocação para tratamento tributário · Excerto da fonte:</a:t>
            </a:r>
          </a:p>
          <a:p>
            <a:r>
              <a:t>No caso de Fundos de Investimento em Direitos Creditórios (FIDC) classificados como “entidade de investimento” e  cuja carteira seja composta por, no mínimo, 67% (sessenta e sete por cento) de direitos creditórios conforme definições  prescritas em regulamentação expedida pelo Conselho Monetário Nacional, os rendimentos auferidos na amortização  ou no resgate das cotas, inclusive quando decorrentes da liquidação do FUNDO, ficam sujeitos à incidência do IRF à  alíquota de 15% (quinze por cento) sobre a diferença positiva entre o valor de amortização ou resgate e o custo de  aquisição das Cotas.</a:t>
            </a:r>
          </a:p>
          <a:p>
            <a:r>
              <a:t>CNPJ 55563624000109 · Alocação para tratamento tributário · Condição: Documentos atuais selecionados no inventário por categoria/escopo; a data documental isolada não comprova vigência jurídica.</a:t>
            </a:r>
          </a:p>
          <a:p>
            <a:r>
              <a:t>CNPJ 55563624000109 · Alocação para tratamento tributário · Versão e prevalência: Documentos atuais selecionados no inventário por categoria/escopo; a data documental isolada não comprova vigência jurídica.</a:t>
            </a:r>
          </a:p>
          <a:p>
            <a:r>
              <a:t>CNPJ 55563624000109 · Alocação para tratamento tributário · Resumo do histórico: {"count": 2, "dates": ["2025-01-31", "2026-01-31"], "document_count": 2, "sources": [{"document_id": "1178840", "title": "Demonstrações Financeiras", "reference_date": "2026-01-31", "version": "1", "page": 23, "url": "https://fnet.bmfbovespa.com.br/fnet/publico/visualizarDocumento?id=1178840", "sha256": "c458e98664c5c907ddb5a05a94b120bed4e05295b2bfc420f5ba69af0a229abe"}, {"document_id": "891861", "title": "Demonstrações Financeiras", "reference_date": "2025-01-31", "version": "1", "page": 24, "url": "https://fnet.bmfbovespa.com.br/fnet/publico/visualizarDocumento?id=891861", "sha256": "e9cb9e6ddbe505fe068cfcac33605165a98313489de0d3ce6d4d238263c3f3e7"}], "reference": {"path": "history/55563624000109.json", "criterion_id": "tax_allocation", "total_count": 2, "preview_count": 2, "full_text_deferred": true, "sha256": "7835d573fb58a3c19adf5b8ecc2aee2bdbb9a88f7a0c0209b5f262b64c7522e3"}}</a:t>
            </a:r>
          </a:p>
          <a:p>
            <a:r>
              <a:t>CNPJ 62552447000120 · Alocação para tratamento tributário · Base da comparação IME: {"criterion_id": "tax_allocation", "observed_value": 104.36099466414683, "unit": "percent", "competence": "08/2026", "status": "not_comparable", "reason": "Vigência efetiva não comprovada; data do documento isolada não certifica enquadramento histórico.", "formula": "credit_rights / net_asset_value × 100",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67.0}</a:t>
            </a:r>
          </a:p>
          <a:p>
            <a:r>
              <a:t>CNPJ 62552447000120 · Alocação para tratamento tributário · Regulamento · ID 1200623 · 21/05/2026 · versão Consolidado21/05/2026 aprovado pelo ato1200625 · p. 14 · AnexoI4.9 · https://fnet.bmfbovespa.com.br/fnet/publico/visualizarDocumento?id=1200623</a:t>
            </a:r>
          </a:p>
          <a:p>
            <a:r>
              <a:t>CNPJ 62552447000120 · Alocação para tratamento tributário · Excerto da fonte:</a:t>
            </a:r>
          </a:p>
          <a:p>
            <a:r>
              <a:t>4.9 Decorridos 180 (cento e oitenta) dias da Data da Primeira Integralização, a Classe deverá manter alocados em Direitos Creditórios, no mínimo, para fins tributários, 67% (sessenta e sete por cento) do seu Patrimônio Líquido, nos termos da Lei 14.754 e da Resolução CMN 5.111, e, para fins regulatórios, 50% (cinquenta por cento) do seu Patrimônio Líquido, nos termos da Resolução CVM 175. Eventual desenquadramento da Carteira obrigará o Gestor aos procedimentos de desenquadramento e reenquadramento previstos na Lei 14.754 e na Resolução CMN 5.111, para f ins tributários, e na Resolução CVM 175, par</a:t>
            </a:r>
          </a:p>
          <a:p>
            <a:r>
              <a:t>CNPJ 62552447000120 · Alocação para tratamento tributário · Mecânica: {"operator": "&gt;=", "unit": "percent", "numerator": "credit_rights", "denominator": "net_asset_value", "frequency": "not_stated", "layer": "class", "effective_status": "document_date_only", "document_date": "2026-05-21", "requires_initial_date": true, "limit": 67.0}</a:t>
            </a:r>
          </a:p>
          <a:p>
            <a:r>
              <a:t>CNPJ 62552447000120 · Alocação para tratamento tributário · Versão e prevalência: Leitura específica das cláusulas indicadas; condições e conflitos preservados. Seleção documental atual não comprova vigência jurídica por data isolada.</a:t>
            </a:r>
          </a:p>
          <a:p>
            <a:r>
              <a:t>CNPJ 63953620000165 · Alocação para tratamento tributário · Base da comparação IME: {"criterion_id": "tax_allocation", "observed_value": 93.29241106598856, "unit": "percent", "competence": "08/2026", "status": "not_comparable", "reason": "Vigência efetiva não comprovada; data do documento isolada não certifica enquadramento histórico.", "formula": "credit_rights / net_asset_value × 100",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67.0}</a:t>
            </a:r>
          </a:p>
          <a:p>
            <a:r>
              <a:t>CNPJ 63953620000165 · Alocação para tratamento tributário · Anexo ao Regulamento · ID 1222863 · 02/06/2026 · versão AnexoConsignadoPrivado02/06/2026 · p. 6 · 4.13 · https://fnet.bmfbovespa.com.br/fnet/publico/visualizarDocumento?id=1222863</a:t>
            </a:r>
          </a:p>
          <a:p>
            <a:r>
              <a:t>CNPJ 63953620000165 · Alocação para tratamento tributário · Excerto da fonte:</a:t>
            </a:r>
          </a:p>
          <a:p>
            <a:r>
              <a:t>4.13 Decorridos 180 (cento e oitenta) dias do início de suas atividades, a Classe deverá manter alocado, no mínimo, para fins tributários, 67% (sessenta e sete por cento) do seu Patrimônio Líquido em Direitos Creditórios, nos termos da Resolução CMN 5.111, e para fins regulatórios, 50% (cinquenta por cento) do seu Patrimônio Líquido em Direitos Creditórios, nos termos da Resolução CVM 175. 4.14 Nos termos do Art. 45, §7º, inciso II, do Anexo Normativo II da Resolução CVM 175, a Classe poderá ter até 100% (cem por cento) de seu Patrimônio Líquido alocado em Direitos Creditórios, derivativos, observado o disposto nest</a:t>
            </a:r>
          </a:p>
          <a:p>
            <a:r>
              <a:t>CNPJ 63953620000165 · Alocação para tratamento tributário · Mecânica: {"operator": "&gt;=", "unit": "percent", "denominator": "net_asset_value", "frequency": "not_stated", "layer": "class", "effective_status": "document_date_only", "document_date": "2026-06-02", "limit": 67.0, "numerator": "credit_rights", "requires_initial_date": true}</a:t>
            </a:r>
          </a:p>
          <a:p>
            <a:r>
              <a:t>CNPJ 63953620000165 · Alocação para tratamento tributário · Versão e prevalência: Leitura específica das cláusulas indicadas; condições e conflitos preservados. Seleção documental atual não comprova vigência jurídica por data isolada.</a:t>
            </a:r>
          </a:p>
          <a:p>
            <a:r>
              <a:t>CNPJ 54871427000194 · Classes investidas e limites do FIC · Demonstrações Financeiras - Fusão, cisão e incorporação · ID 1219522 · 2026-02-02 · versão 1 · p. 31 · https://fnet.bmfbovespa.com.br/fnet/publico/visualizarDocumento?id=1219522</a:t>
            </a:r>
          </a:p>
          <a:p>
            <a:r>
              <a:t>CNPJ 54871427000194 · Classes investidas e limites do FIC · Excerto da fonte:</a:t>
            </a:r>
          </a:p>
          <a:p>
            <a:r>
              <a:t>xv) Risco Regulatório e Judicial. Eventuais alterações ou novas normas ou leis aplicáveis à Classe,  seus ativos e a eventuais fundos investidos, incluindo, mas não se limitando àquelas referentes  a tributos, bem como decisões judiciais ou jurisprudência aplicando as regulamentações  existentes ou interpretando novas regulamentações, podem causar um efeito adverso relevante  no preço dos ativos e/ou na performance das posições financeiras adquiridas pela Classe e/ou  pelos fundos Investidos. Ainda, nesse sentido, poderão ocorrer interferências de autoridades  governamentais e órgãos reguladores na regulação dos mercados, bem como alterações das  políticas monetária e cambial. Tais eventos poderão impactar de maneira adversa o valor das  Cotas.</a:t>
            </a:r>
          </a:p>
          <a:p>
            <a:r>
              <a:t>CNPJ 54871427000194 · Classes investidas e limites do FIC · Condição: Documentos atuais selecionados no inventário por categoria/escopo; a data documental isolada não comprova vigência jurídica.</a:t>
            </a:r>
          </a:p>
          <a:p>
            <a:r>
              <a:t>CNPJ 54871427000194 · Classes investidas e limites do FIC · Versão e prevalência: Documentos atuais selecionados no inventário por categoria/escopo; a data documental isolada não comprova vigência jurídica.</a:t>
            </a:r>
          </a:p>
          <a:p>
            <a:r>
              <a:t>CNPJ 54871427000194 · Classes investidas e limites do FIC · Resumo do histórico: {"count": 5, "dates": ["2024-12-31", "2025-01-01", "2025-12-31"], "document_count": 3, "sources": [{"document_id": "1151805", "title": "Demonstrações Financeiras", "reference_date": "2025-12-31", "version": "1", "page": 31, "url": "https://fnet.bmfbovespa.com.br/fnet/publico/visualizarDocumento?id=1151805", "sha256": "f1cea70b152968bf96ef9221b27225953cb20aeef487b2798db3c25e11b528d4"}, {"document_id": "869529", "title": "Demonstrações Financeiras", "reference_date": "2025-01-01", "version": "1", "page": 32, "url": "https://fnet.bmfbovespa.com.br/fnet/publico/visualizarDocumento?id=869529", "sha256": "9a93a9369ac8efdbc54ff8fcee3ccac3abf88edab4807b9323d3852450771b2a"}, {"document_id": "870070", "title": "Demonstrações Financeiras", "reference_date": "2024-12-31", "version": "1", "page": 32, "url": "https://fnet.bmfbovespa.com.br/fnet/publico/visualizarDocumento?id=870070", "sha256": "9a93a9369ac8efdbc54ff8fcee3ccac3abf88edab4807b9323d3852450771b2a"}], "reference": {"path": "history/54871427000194.json", "criterion_id": "investee", "total_count": 5, "preview_count": 3, "full_text_deferred": true, "sha256": "35d7cd99be50c7287c9fb675cf4f2e736002315295a225a9efa79c8d9186d874"}}</a:t>
            </a:r>
          </a:p>
          <a:p>
            <a:r>
              <a:t>CNPJ 60010416000112 · Classes investidas e limites do FIC · Motivo: Não localizada uma cláusula material para este critério nos textos identificados e processados. A ausência de resultado não comprova inexistência da regra.</a:t>
            </a:r>
          </a:p>
          <a:p>
            <a:r>
              <a:t>CNPJ 62696791000193 · Classes investidas e limites do FIC · Regulamento · ID 1143317 · 20/03/2026 · versão Regulamento — referência 20/03/2026 · p. 7 · Anexo I, 1.1, Objetivo, categoria Geral · https://fnet.bmfbovespa.com.br/fnet/publico/visualizarDocumento?id=1143317</a:t>
            </a:r>
          </a:p>
          <a:p>
            <a:r>
              <a:t>CNPJ 62696791000193 · Classes investidas e limites do FIC · Excerto da fonte:</a:t>
            </a:r>
          </a:p>
          <a:p>
            <a:r>
              <a:t>(D) Categoria “Geral” (“Ativos em Geral do Agronegócio”): (i) cotas de classes que apliquem mais de 50% (cinquenta por cento) de seu patrimônio líquido nos ativos referidos nos incisos “A” a “D” acima, o que inclui cotas de outros FIAGRO, mas não se limita a essa categoria de f undos. Os Ativos Imobiliários do Agronegócio, Participações do Agronegócio, Ativos Financeiros do Agronegócio e Ativos em Geral do Agronegócio, quando ref eridos em conjunto, os “Outros Ativos”. Não há limites máximos de aplicação por emissor ou devedor, em função de um percentual do Patrimônio Líquido. O objetivo da Classe não representa, sob qualquer hipótese, garantia da Classe ou de seus Prestadores de Serviços Essenciais e/ou da Cogestora quanto à segurança, rentabilidade e liquidez dos títu</a:t>
            </a:r>
          </a:p>
          <a:p>
            <a:r>
              <a:t>CNPJ 62696791000193 · Classes investidas e limites do FIC · Regulamento · ID 1143317 · 20/03/2026 · versão Regulamento — referência 20/03/2026 · p. 11 · Anexo I, 4.8–4.9 · https://fnet.bmfbovespa.com.br/fnet/publico/visualizarDocumento?id=1143317</a:t>
            </a:r>
          </a:p>
          <a:p>
            <a:r>
              <a:t>CNPJ 62696791000193 · Classes investidas e limites do FIC · Excerto da fonte:</a:t>
            </a:r>
          </a:p>
          <a:p>
            <a:r>
              <a:t>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relacionadas ao Gestor. 4.8.1 As aplicações em Direitos Creditórios do Agronegócio decorrentes de receitas públicas originárias ou derivadas da União, dos Estados, do Distrito Federal e dos Municípios ou de suas autarquias e f undações, assim como em Direitos Creditórios do Agronegócio cedidos ou originados por empresas controladas pelo poder público, não estão submetidas ao limite de concentração por emissor previsto no caput. 4.9 Nos termos do Art. 45 do Anexo</a:t>
            </a:r>
          </a:p>
          <a:p>
            <a:r>
              <a:t>CNPJ 62696791000193 · Classes investidas e limites do FIC · Condição: O regulamento não identifica CNPJs de classes efetivamente investidas. Permissão de investimento não comprova posição.</a:t>
            </a:r>
          </a:p>
          <a:p>
            <a:r>
              <a:t>CNPJ 62696791000193 · Classes investidas e limites do FIC · Versão e prevalência: Leitura específica das cláusulas indicadas; condições e conflitos preservados. Seleção documental atual não comprova vigência jurídica por data isolada.</a:t>
            </a:r>
          </a:p>
          <a:p>
            <a:r>
              <a:t>CNPJ 55563624000109 · Classes investidas e limites do FIC · Regulamento · ID 1192614 · 30/04/2026 · versão Regulamento30/04/2026 · p. 11 · AnexoI4.1 · https://fnet.bmfbovespa.com.br/fnet/publico/visualizarDocumento?id=1192614</a:t>
            </a:r>
          </a:p>
          <a:p>
            <a:r>
              <a:t>CNPJ 55563624000109 · Classes investidas e limites do FIC · Excerto da fonte:</a:t>
            </a:r>
          </a:p>
          <a:p>
            <a:r>
              <a:t>4.1 Observados os demais termos deste Anexo, o objetivo da Classe é investir seus recursos em (i) cotas subordinadas mezanino de emissão da classe única do MERCADO CRÉDITO II BRASIL FUNDO DE INVESTIMENTO EM DIREITOS CREDITÓRIOS NÃO PADRONIZADOS, fundo de investimento em direitos creditórios inscrito no CNPJ sob o nº 41.970.012/0001-26 (“Cotas da Classe Investida” e “Classe Investida”, respectivamente), a qual, por sua vez, aplica seus recursos preponderantemente em direitos creditórios originados pela Mercado Pago, de acordo com os termos e condições est</a:t>
            </a:r>
          </a:p>
          <a:p>
            <a:r>
              <a:t>CNPJ 55563624000109 · Classes investidas e limites do FIC · Condição: Vínculo contratual identificado; quantidade de cotas efetivamente detida exige posição do FIC. Não somar PL do FIC e do investido.</a:t>
            </a:r>
          </a:p>
          <a:p>
            <a:r>
              <a:t>CNPJ 55563624000109 · Classes investidas e limites do FIC · Versão e prevalência: Leitura específica das cláusulas indicadas; condições e conflitos preservados. Seleção documental atual não comprova vigência jurídica por data isolada.</a:t>
            </a:r>
          </a:p>
          <a:p>
            <a:r>
              <a:t>CNPJ 55563624000109 · Classes investidas e limites do FIC · Resumo do histórico: {"count": 2, "dates": ["2025-01-31", "2026-01-31"], "document_count": 2, "sources": [{"document_id": "1178840", "title": "Demonstrações Financeiras", "reference_date": "2026-01-31", "version": "1", "page": 4, "url": "https://fnet.bmfbovespa.com.br/fnet/publico/visualizarDocumento?id=1178840", "sha256": "c458e98664c5c907ddb5a05a94b120bed4e05295b2bfc420f5ba69af0a229abe"}, {"document_id": "891861", "title": "Demonstrações Financeiras", "reference_date": "2025-01-31", "version": "1", "page": 18, "url": "https://fnet.bmfbovespa.com.br/fnet/publico/visualizarDocumento?id=891861", "sha256": "e9cb9e6ddbe505fe068cfcac33605165a98313489de0d3ce6d4d238263c3f3e7"}], "reference": {"path": "history/55563624000109.json", "criterion_id": "investee", "total_count": 2, "preview_count": 2, "full_text_deferred": true, "sha256": "7835d573fb58a3c19adf5b8ecc2aee2bdbb9a88f7a0c0209b5f262b64c7522e3"}}</a:t>
            </a:r>
          </a:p>
          <a:p>
            <a:r>
              <a:t>CNPJ 62552447000120 · Classes investidas e limites do FIC · Regulamento · ID 1200623 · 2026-05-21 · versão 1 · p. 6 · https://fnet.bmfbovespa.com.br/fnet/publico/visualizarDocumento?id=1200623</a:t>
            </a:r>
          </a:p>
          <a:p>
            <a:r>
              <a:t>CNPJ 62552447000120 · Classes investidas e limites do FIC · Excerto da fonte:</a:t>
            </a:r>
          </a:p>
          <a:p>
            <a:r>
              <a:t>integrantes do conglomerado econômico de instituições  f inanceiras classificadas como S1 pelo Banco Central do  Brasil (“BACEN” e “Instituições Financeiras S1”,  respectivamente), desde que não representem títulos de  emissão ou coobrigação de instituições financeiras, bem  como cotas de f undos de investimento que invistam  preponderantemente nestes direitos, títulos e/ou valores  mobiliários; e</a:t>
            </a:r>
          </a:p>
          <a:p>
            <a:r>
              <a:t> (d) “Direitos Creditórios Refinanciamento Livre”, na forma  de CCBs originadas no âmbito de um refinanciamento, de  acordo com a política de cobrança vigente, de Direitos  Creditórios Consignado Privado e de Direitos Creditórios  FGTS, que não contem com o lastro de Consignação ou  de cessão f iduciária do Saque-Aniversário,  respectivamente; e</a:t>
            </a:r>
          </a:p>
          <a:p>
            <a:r>
              <a:t> (ii) “Ativos Financeiros”, assim entendidos como, em conjunto:</a:t>
            </a:r>
          </a:p>
          <a:p>
            <a:r>
              <a:t> (a) moeda corrente nacional;</a:t>
            </a:r>
          </a:p>
          <a:p>
            <a:r>
              <a:t> (b) títulos públicos f ederais;</a:t>
            </a:r>
          </a:p>
          <a:p>
            <a:r>
              <a:t> (c) ativos f inanceiros de renda f ixa de emissão ou  coobrigação de Instituições Financeiras S1;</a:t>
            </a:r>
          </a:p>
          <a:p>
            <a:r>
              <a:t> (d) operações compromissadas, desde que lastreadas nos  títulos mencionados nas alíneas (b) e (c) acima; e</a:t>
            </a:r>
          </a:p>
          <a:p>
            <a:r>
              <a:t> (e) cotas do BTG Pactual Tesouro Selic Fundo de  Investimento Renda Fixa Ref erenciado DI, inscrito no  CNPJ sob o nº 09.215.250/0001-13;</a:t>
            </a:r>
          </a:p>
          <a:p>
            <a:r>
              <a:t> observados todos os limites de composição e diversificação da carteira da  Classe (“Carteira”), estabelecidos neste Regulamento e na  regulamentação aplicável.</a:t>
            </a:r>
          </a:p>
          <a:p>
            <a:r>
              <a:t> O objetivo da Classe não representa, sob qualquer hipótese, promessa,  garantia ou sugestão da Classe ou de seus Prestadores de Serviços  Essenciais quanto à segurança, rentabilidade e liquidez dos títulos  componentes de sua Carteira.</a:t>
            </a:r>
          </a:p>
          <a:p>
            <a:r>
              <a:t>CNPJ 62552447000120 · Classes investidas e limites do FIC · Condição: Documentos atuais selecionados no inventário por categoria/escopo; a data documental isolada não comprova vigência jurídica.</a:t>
            </a:r>
          </a:p>
          <a:p>
            <a:r>
              <a:t>CNPJ 62552447000120 · Classes investidas e limites do FIC · Versão e prevalência: Documentos atuais selecionados no inventário por categoria/escopo; a data documental isolada não comprova vigência jurídica.</a:t>
            </a:r>
          </a:p>
          <a:p>
            <a:r>
              <a:t>CNPJ 63953620000165 · Classes investidas e limites do FIC · Motivo: Não localizada uma cláusula material para este critério nos textos identificados e processados. A ausência de resultado não comprova inexistência da regra.</a:t>
            </a:r>
          </a:p>
          <a:p>
            <a:r>
              <a:t>CNPJ 54871427000194 · Classe, subclasse e responsabilidade · Regulamento · ID 670691 · 2024-04-28 · versão 1 · p. 29 · https://fnet.bmfbovespa.com.br/fnet/publico/visualizarDocumento?id=670691</a:t>
            </a:r>
          </a:p>
          <a:p>
            <a:r>
              <a:t>CNPJ 54871427000194 · Classe, subclasse e responsabilidade · Excerto da fonte:</a:t>
            </a:r>
          </a:p>
          <a:p>
            <a:r>
              <a:t>Anexo I ao Regulamento CLASSE ÚNICA DE RESPONSABILIDADE LIMITADA DO CONSIGNADO DELTA RECEIVABLES I FUNDO DE INVESTIMENTO EM DIREITOS CREDITÓRIOS  pelo Endossante e depositados em seu conta de sua titularidade para posterior repasse à  Classe. Neste caso, a Classe poderá sofrer perdas principalmente em relação ao atraso na  regularização da titularidade e pagamento dos Direitos Creditórios.</a:t>
            </a:r>
          </a:p>
          <a:p>
            <a:r>
              <a:t> (v) Risco de pré-pagamento dos Direitos Creditórios. A ocorrência de pré-  pagamentos em relação a um ou mais Direitos Creditórios poderá ocasionar perdas à Classe.</a:t>
            </a:r>
          </a:p>
          <a:p>
            <a:r>
              <a:t> A ocorrência de pré-pagamentos (pagamento em data anterior àquela originalmente pactuada)  de Direitos Creditórios reduz o horizonte original de rendimentos esperados pela Classe de  tais Direitos Creditórios, uma vez que o pré-pagamento poderá, se assim permitido pela  documentação do Direito Creditório ou, conf orme o caso, pela legislação aplicável, ser  realizado pelo valor de emissão do Direito Creditório atualizado até a data do pré-pagamento  pela taxa de juros pactuada entre os Endossantes e os Devedores de tais Direitos Creditórios,  de modo que os juros remuneratórios incidentes desde a data da realização do pré-pagamento  até a data de vencimento do respectivo Direito Creditório deixam de ser devidos à Classe.</a:t>
            </a:r>
          </a:p>
          <a:p>
            <a:r>
              <a:t> (vi) Riscos associados aos Devedores: os Direitos Creditórios a serem cedidos à  Classe serão descontados da remuneração do Devedor, através de desconto em f olha de  pagamento ou de benefício. Nesse sentido, na ocorrência de pré-pagamento, as parcelas  serão pagas antecipadamente e a Classe deverá utilizar tais montantes no pré-pagamento dos  Direitos Creditórios. Nesta hipótese, a Classe poderá não encontrar Direitos Creditórios  disponíveis para serem adquiridos pela Classe, o que poderá afetar a rentabilidade da Classe.</a:t>
            </a:r>
          </a:p>
          <a:p>
            <a:r>
              <a:t> (vii) Risco de Competição: o mercado de empréstimos experimentou grande  expansão no Brasil nos últimos anos. Nesse contexto, a Resolução CMN nº 4.292, alterada  pela Resolução nº 4.762, de 27 de novembro de 2019, dispõe que deve ser garantido às  pessoas naturais devedoras de operações de crédito (tais como as CCB) a possibilidade de  realizarem a portabilidade destas operações para outras instituições financeiras, inclusive nos  casos em que tenham sido objeto de cessão (tais como as realizadas à Classe). Nesse  cenário, é possível que os competidores do Endossante ofereçam condições e taxas mais  vantajosas para os empréstimos pessoais com consignação em f olha de pagamento ou de  benef ícios, o que pode causar a migração de clientes da Endossante para outras instituições  f inanceiras, gerando a liquidação antecipada de parte das CCB existentes e/ou redução no  número de Direitos Creditórios cedidos. Referida competição poderá af etar os resultados da  Classe, impactando negativamente os rendimentos dos Cotistas. Ainda, a portabilidade a um  Devedor pode acarretar no recebimento de valores inf eriores aos esperados pela Classe.</a:t>
            </a:r>
          </a:p>
          <a:p>
            <a:r>
              <a:t> (viii) Insuf iciência dos Critérios de Elegibilidade. Os Critérios de Elegibilidade têm a  f inalidade de selecionar os Direitos Creditórios passíveis de aquisição pela Classe. Não  obstante tais Critérios de Elegibilidade, a solvência dos Direitos Creditórios que compõem a  Carteira depende integralmente, mas não somente, da situação econômico-financeira dos  Devedores. Dessa f orma, a observância pelo GESTOR dos Critérios de Elegibilidade não  constitui garantia de adimplência dos Devedores.</a:t>
            </a:r>
          </a:p>
          <a:p>
            <a:r>
              <a:t> Os Endossantes não necessariamente garantem a solvência dos seus respectivos Devedores.</a:t>
            </a:r>
          </a:p>
          <a:p>
            <a:r>
              <a:t> O Endossante dos Direitos Creditórios não assumirá responsabilidade pelo seu pagamento ou  pela solvência dos respectivos Devedores. A Classe sofrerá o impacto do inadimplemento dos  Direitos Creditórios vencidos e não pagos pelos respectivos Devedores.</a:t>
            </a:r>
          </a:p>
          <a:p>
            <a:r>
              <a:t> (ix) Possibilidade de aquisição de Direitos Creditórios cedidos por Endossante  e/ou devidos por Devedores cujas demonstrações financeiras não sejam auditadas. A Classe,  desde que sejam respeitados os limites de concentração previstos neste Regulamento, poderá  manter a qualquer tempo em sua Carteira, Direitos Creditórios cedidos por Endossante e/ou  devidos por Devedores cujas demonstrações f inanceiras não sejam auditadas por Auditor  Independente registrado na CVM. Nesse sentido, não haverá verificação independente sobre  tais demonstrações f inanceiras que af irme se estas representam adequadamente, em todos  os aspectos relevantes, as respectivas posições patrimoniais e f inanceiras, os resultados de  suas operações, as mutações de seus respectivos patrimônios líquidos tampouco as origens  e aplicações de seus recursos.</a:t>
            </a:r>
          </a:p>
          <a:p>
            <a:r>
              <a:t>CNPJ 54871427000194 · Classe, subclasse e responsabilidade · Regulamento · ID 670691 · 2024-04-28 · versão 1 · p. 15 · 7.2 · https://fnet.bmfbovespa.com.br/fnet/publico/visualizarDocumento?id=670691</a:t>
            </a:r>
          </a:p>
          <a:p>
            <a:r>
              <a:t>CNPJ 54871427000194 · Classe, subclasse e responsabilidade · Excerto da fonte:</a:t>
            </a:r>
          </a:p>
          <a:p>
            <a:r>
              <a:t>7.2 As amortizações de Cotas serão realizadas a qualquer tempo, a critério do GESTOR, observada a  disponibilidade de recursos da Classe Única e a ordem de alocação de recursos prevista neste Anexo  Descritivo.</a:t>
            </a:r>
          </a:p>
          <a:p>
            <a:r>
              <a:t>CNPJ 54871427000194 · Classe, subclasse e responsabilidade · Instrumento Particular de Alteração do Regulamento · ID 670690 · 2024-05-28 · versão 1 · p. 1 · https://fnet.bmfbovespa.com.br/fnet/publico/visualizarDocumento?id=670690</a:t>
            </a:r>
          </a:p>
          <a:p>
            <a:r>
              <a:t>CNPJ 54871427000194 · Classe, subclasse e responsabilidade · Excerto da fonte:</a:t>
            </a:r>
          </a:p>
          <a:p>
            <a:r>
              <a:t>ATA DA ASSEMBLEIA ESPECIAL DE COTISTAS  CLASSE ÚNICA DE RESPONSABILIDADE LIMITADA DO CONSIGNADO DELTA RECEIVABLES I  FUNDO DE INVESTIMENTO EM DIREITOS CREDITÓRIOS  CNPJ nº 54.871.427/0001-94  (“Classe Única” e “Fundo”, respectivamente)</a:t>
            </a:r>
          </a:p>
          <a:p>
            <a:r>
              <a:t>CNPJ 54871427000194 · Classe, subclasse e responsabilidade · Condição: Documentos atuais selecionados no inventário por categoria/escopo; a data documental isolada não comprova vigência jurídica.</a:t>
            </a:r>
          </a:p>
          <a:p>
            <a:r>
              <a:t>CNPJ 54871427000194 · Classe, subclasse e responsabilidade · Versão e prevalência: Documentos atuais selecionados no inventário por categoria/escopo; a data documental isolada não comprova vigência jurídica.</a:t>
            </a:r>
          </a:p>
          <a:p>
            <a:r>
              <a:t>CNPJ 54871427000194 · Classe, subclasse e responsabilidade · Resumo do histórico: {"count": 4, "dates": ["2024-04-19", "2024-04-28", "2024-05-24"], "document_count": 3, "sources": [{"document_id": "668387", "title": "Instrumento Particular de Emissão de Cotas", "reference_date": "2024-05-24", "version": "1", "page": 1, "url": "https://fnet.bmfbovespa.com.br/fnet/publico/visualizarDocumento?id=668387", "sha256": "be2913bed5f468a7399afcd27f92bac2083451584ee580b5054e9f525e68cc4a"}, {"document_id": "670691", "title": "Regulamento", "reference_date": "2024-04-28", "version": "1", "page": 29, "url": "https://fnet.bmfbovespa.com.br/fnet/publico/visualizarDocumento?id=670691", "sha256": "bf16dd7f1a62d5cdbf2e2d54fef81783783f7310fbc99c3a8f00459bdf9d037b"}, {"document_id": "670687", "title": "Instrumento Particular de Constituição/Encerramento do Fundo", "reference_date": "2024-04-19", "version": "1", "page": 1, "url": "https://fnet.bmfbovespa.com.br/fnet/publico/visualizarDocumento?id=670687", "sha256": "999f2a47d39f7022b0fcee3d16fd1db33948537b897e92c4c9e14b436bf5eb96"}], "reference": {"path": "history/54871427000194.json", "criterion_id": "perimeter", "total_count": 4, "preview_count": 3, "full_text_deferred": true, "sha256": "35d7cd99be50c7287c9fb675cf4f2e736002315295a225a9efa79c8d9186d874"}}</a:t>
            </a:r>
          </a:p>
          <a:p>
            <a:r>
              <a:t>CNPJ 60010416000112 · Classe, subclasse e responsabilidade · Regulamento · ID 1051393 · 2025-10-09 · versão 1 · p. 10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a:t>
            </a:r>
          </a:p>
          <a:p>
            <a:r>
              <a:t> (ii) o saldo dos Direitos Creditórios devidos pelo mesmo Devedor à Classe, considerando, pro  forma, o endosso pretendido, não deverá exceder R$ 100.000,00 (cem mil reais), observado  o disposto no item 4.4.1 abaixo;</a:t>
            </a:r>
          </a:p>
          <a:p>
            <a:r>
              <a:t> (iii) o prazo de vencimento das CCB representativas dos Direitos Creditórios deverá ser, no  máximo, equivalente ao prazo máximo permitido pelas leis e regulamentações aplicáveis; e</a:t>
            </a:r>
          </a:p>
          <a:p>
            <a:r>
              <a:t> (iv) os Direitos Creditórios não poderão ser devidos por Devedores que tenham acima de 64  (sessenta e quatro) anos 11 (onze) meses e 29 (vinte e nove) dias na data de emissão da  respectiva CCB.</a:t>
            </a:r>
          </a:p>
          <a:p>
            <a:r>
              <a:t>CNPJ 60010416000112 · Classe, subclasse e responsabilidade · Regulamento · ID 1051393 · 2025-10-09 · versão 1 · p. 11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  com a transf erência, à Classe, de f orma definitiva, sem coobrigação do Endossante, da plena  titularidade desse Direito Creditório, juntamente com todos os direitos, privilégios, pref erências,  prerrogativas, garantias e ações a ele relacionados, bem como correção monetária, juros e  encargos, sem prejuízo do direito da Classe (i) de exigir a recompra compulsória do respectivo  Direito Creditório, de acordo com os termos do Contrato de Endosso; ou (ii) de vender Direitos  Creditórios ao Agente de Retenção/Cobrança (opção de venda), em ambos os casos estritamente  nos termos do Contrato de Endosso.</a:t>
            </a:r>
          </a:p>
          <a:p>
            <a:r>
              <a:t>CNPJ 60010416000112 · Classe, subclasse e responsabilidade · Regulamento · ID 1051393 · 2025-10-09 · versão 1 · p. 18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a:t>
            </a:r>
          </a:p>
          <a:p>
            <a:r>
              <a:t> (ii) alterar este Anexo I e seus complementos, incluindo mas não se limitando aos Apêndices de cada  uma das subclasses;</a:t>
            </a:r>
          </a:p>
          <a:p>
            <a:r>
              <a:t> (iii) deliberar sobre substituição de Prestadores de Serviços Essenciais, observado o disposto no Art.</a:t>
            </a:r>
          </a:p>
          <a:p>
            <a:r>
              <a:t> 70, §1º da parte geral da Resolução CVM 175, quando aplicável, ou do Custodiante;</a:t>
            </a:r>
          </a:p>
          <a:p>
            <a:r>
              <a:t> (iv) deliberar sobre elevação da Taxa de Administração, inclusive na hipótese de restabelecimento de  taxa que tenha sido objeto de redução;</a:t>
            </a:r>
          </a:p>
          <a:p>
            <a:r>
              <a:t> (v) deliberar sobre incorporação, fusão, cisão total ou parcial, a transformação ou liquidação da Classe;</a:t>
            </a:r>
          </a:p>
          <a:p>
            <a:r>
              <a:t> (vi) alterações das características, vantagens, direitos e obrigações das Cotas;</a:t>
            </a:r>
          </a:p>
          <a:p>
            <a:r>
              <a:t> (vii) alterar critérios e procedimentos para Amortização e/ou resgate de Cotas mediante dação em  pagamento de Direitos Creditórios;</a:t>
            </a:r>
          </a:p>
          <a:p>
            <a:r>
              <a:t> (viii) aprovar a contratação de Agente de Retenção/Cobrança dos Direitos Creditórios Inadimplidos, bem  como decidir sobre sua substituição ou destituição;</a:t>
            </a:r>
          </a:p>
          <a:p>
            <a:r>
              <a:t> (ix) alterar a f orma de amortização do principal e dos valores acumulados relacionados às Cotas;</a:t>
            </a:r>
          </a:p>
          <a:p>
            <a:r>
              <a:t> (x) aprovar emissão de novas Cotas da Classe, em montante além do Capital Autorizado;</a:t>
            </a:r>
          </a:p>
          <a:p>
            <a:r>
              <a:t> (xi) deliberar sobre a eventual necessidade de aportes adicionais de recursos na Classe pelos Cotistas;</a:t>
            </a:r>
          </a:p>
          <a:p>
            <a:r>
              <a:t> (xii) alterações na Política de Investimentos;</a:t>
            </a:r>
          </a:p>
          <a:p>
            <a:r>
              <a:t> (xiii) alterações nos Critérios de Elegibilidade;</a:t>
            </a:r>
          </a:p>
          <a:p>
            <a:r>
              <a:t> (xiv) decidir se um Evento de Avaliação será considerado como Evento de Liquidação, sujeito a este  Regulamento;</a:t>
            </a:r>
          </a:p>
          <a:p>
            <a:r>
              <a:t> (xv) decidir, na ocorrência de qualquer Evento de Liquidação, se esse Evento de Liquidação não deverá  causar a liquidação antecipada da Classe;</a:t>
            </a:r>
          </a:p>
          <a:p>
            <a:r>
              <a:t> (xvi) plano de resolução do Patrimônio Líquido negativo da Classe, nos termos da Resolução CVM 175;</a:t>
            </a:r>
          </a:p>
          <a:p>
            <a:r>
              <a:t> (xvii)pedido de declaração judicial de insolvência da Classe; e</a:t>
            </a:r>
          </a:p>
          <a:p>
            <a:r>
              <a:t> (xviii) deliberar sobre a alteração da data de resgate e/ou prazo de duração de cada Série de Cotas  Seniores, do Benchmark, bem como de quaisquer outras características de qualquer Série de Cotas  Seniores;</a:t>
            </a:r>
          </a:p>
          <a:p>
            <a:r>
              <a:t>CNPJ 60010416000112 · Classe, subclasse e responsabilidade · Condição: Documentos atuais selecionados no inventário por categoria/escopo; a data documental isolada não comprova vigência jurídica.</a:t>
            </a:r>
          </a:p>
          <a:p>
            <a:r>
              <a:t>CNPJ 60010416000112 · Classe, subclasse e responsabilidade · Versão e prevalência: Documentos atuais selecionados no inventário por categoria/escopo; a data documental isolada não comprova vigência jurídica.</a:t>
            </a:r>
          </a:p>
          <a:p>
            <a:r>
              <a:t>CNPJ 60010416000112 · Classe, subclasse e responsabilidade · Resumo do histórico: {"count": 1, "dates": ["2025-05-12"], "document_count": 1, "sources": [{"document_id": "1004656", "title": "AGE", "reference_date": "2025-05-12", "version": "1", "page": 4, "url": "https://fnet.bmfbovespa.com.br/fnet/publico/visualizarDocumento?id=1004656", "sha256": "f6c9c009f6170e2b29f074b98522accec73f0c40efbf11f9ec2c8d3f1402616b"}], "reference": {"path": "history/60010416000112.json", "criterion_id": "perimeter", "total_count": 1, "preview_count": 1, "full_text_deferred": true, "sha256": "8e2bd813f4c51cf01f6bfaad164bafe69d2bbb192f753eac92da3a01c2e63046"}}</a:t>
            </a:r>
          </a:p>
          <a:p>
            <a:r>
              <a:t>CNPJ 62696791000193 · Classe, subclasse e responsabilidade · Regulamento · ID 1143317 · 20/03/2026 · versão Regulamento — referência 20/03/2026 · p. 9 · Anexo I, 2.1 · https://fnet.bmfbovespa.com.br/fnet/publico/visualizarDocumento?id=1143317</a:t>
            </a:r>
          </a:p>
          <a:p>
            <a:r>
              <a:t>CNPJ 62696791000193 · Classe, subclasse e responsabilidade · Excerto da fonte:</a:t>
            </a:r>
          </a:p>
          <a:p>
            <a:r>
              <a:t>2.1 A responsabilidade do Cotista está limitada ao valor por ele subscrito. 2.2 Os seguintes eventos obrigarão o Administrador a verif icar se o Patrimônio Líquido está negativo: (i) qualquer pedido de declaração judicial de insolvência de Classe; (ii) inadimplência de obrigações financeiras de devedor e/ou emissor de ativos detidos pela Classe que representem mais de 10% (dez por cento) de seu Patrimônio Líquido, naquela data de ref erência; (iii) pedido de recuperação extrajudicial, proposta de recuperação judicial, f alência, intervenção, liquidação extrajudicial e/ou regime de administração temporária de devedor e/ou emissor de ativos detidos pela Classe; e (iv) condenação da Classe, de natureza judicial e/ou arbitral e/ou administrativa e/ou outras similares, ao pagamento de mais de 10% (dez por cento) de seu Patrimônio Líquido. 2.3 Caso o Administrador verifique que o Patrimônio Líquido está negativo, ou tenha ciência de pedido de declaração judicial de insolvência da Classe ou da declaração judicial de insolvência da Classe, deverá adotar as medidas aplicáveis previstas na Resolução CVM 175. 2.4 Serão aplicáveis as disp</a:t>
            </a:r>
          </a:p>
          <a:p>
            <a:r>
              <a:t>CNPJ 62696791000193 · Classe, subclasse e responsabilidade · Regulamento · ID 1143317 · 20/03/2026 · versão Regulamento — referência 20/03/2026 · p. 18 · Anexo I, 8.8.1 · https://fnet.bmfbovespa.com.br/fnet/publico/visualizarDocumento?id=1143317</a:t>
            </a:r>
          </a:p>
          <a:p>
            <a:r>
              <a:t>CNPJ 62696791000193 · Classe, subclasse e responsabilidade · Excerto da fonte:</a:t>
            </a:r>
          </a:p>
          <a:p>
            <a:r>
              <a:t>8.8.1 As Chamadas de Capital para a realização de investimentos serão realizadas a qualquer momento durante o Período de Investimento e estarão limitadas ao valor do capital subscrito de cada Cotista. As Chamadas de Capital para o pagamento de despesas e encargos do Fundo poderão ser realizadas a qualquer momento durante o Prazo de Duração, mas não estarão limitadas ao valor do capital subscrito de cada Cotista. 8.8.2 Ao receber uma Chamada de Capital, os Cotistas serão obrigados a integralizar parte ou a totalidade de suas Cotas no prazo previsto na ref erida Chamada de Capital, o qual não poderá ser inf erior a 5 (cinco) Dias Úteis contados do recebimento da Chamada de Capital, conforme solicitado pelo Administrador em observância às instruções do Gestor e de acordo com o disposto nos respectivos Compromissos de Investimento. 8.8.3 O Administrador poderá, eventualmente, realizar Chamadas de Capital aos Cotistas de forma desproporcional entre Cotistas, de modo que um ou mais Cotista venha a integralizar, em uma ou mais Chamadas de Capital, uma parcela maior ou menor, conforme o caso, das Cotas por</a:t>
            </a:r>
          </a:p>
          <a:p>
            <a:r>
              <a:t>CNPJ 62696791000193 · Classe, subclasse e responsabilidade · Regulamento · ID 1143317 · 20/03/2026 · versão Regulamento — referência 20/03/2026 · p. 16 · Anexo I, 7.2 · https://fnet.bmfbovespa.com.br/fnet/publico/visualizarDocumento?id=1143317</a:t>
            </a:r>
          </a:p>
          <a:p>
            <a:r>
              <a:t>CNPJ 62696791000193 · Classe, subclasse e responsabilidade · Excerto da fonte:</a:t>
            </a:r>
          </a:p>
          <a:p>
            <a:r>
              <a:t>7.2 A Classe possui 3 (três) Subclasses de Cotas, quais sejam, a subclasse sênior (“Subclasse Sênior” e “Cotas Seniores”), a subclasse mezanino (“Subclasse Mezanino” e “Cotas Mezanino”) e a subclasse subordinada (“Subclasse Subordinada” e “Cotas Subordinadas” – as Cotas Subordinadas, Cotas Seniores e Cotas Mezanino, quando ref eridas em conjunto, “Cotas”), admitindo ainda a emissão de novas séries (“Séries”) de Cotas Seniores, nos termos do seu respectivo Apêndice. As características, os direitos e as condições de emissão, distribuição, subscrição, integralização, remuneração, amortização e resgate das Cotas estão descritos neste Capítulo e nos respectivos Apêndices. 7.3 As Cotas são escriturais, nominativas e correspondem a f rações ideais do patrimônio da Classe, cuja propriedade presume-se: (i) pelo registro do nome do Cotista no livro de registro de Cotistas, enquanto mantidas em conta de depósito mantidas junto ao Escriturador em nome dos respectivos Cotistas, nos termos do Art. 15 da Resolução CVM 175; (ii) pelos controles de titularidade mantidos pelo depositário BTG Pactual SAC: 0800 772 2827 | Ouvidoria: 0800 722 0048 | btgpactual.co m 11</a:t>
            </a:r>
          </a:p>
          <a:p>
            <a:r>
              <a:t>CNPJ 62696791000193 · Classe, subclasse e responsabilidade · Condição: Contradição interna no alcance da responsabilidade limitada. Não apresentar a cláusula de despesas como obrigação irrestrita pacificada.</a:t>
            </a:r>
          </a:p>
          <a:p>
            <a:r>
              <a:t>CNPJ 62696791000193 · Classe, subclasse e responsabilidade · Versão e prevalência: Leitura específica das cláusulas indicadas; condições e conflitos preservados. Seleção documental atual não comprova vigência jurídica por data isolada.</a:t>
            </a:r>
          </a:p>
          <a:p>
            <a:r>
              <a:t>CNPJ 55563624000109 · Classe, subclasse e responsabilidade · Regulamento · ID 1192614 · 2026-04-30 · versão 1 · p. 40 · https://fnet.bmfbovespa.com.br/fnet/publico/visualizarDocumento?id=1192614</a:t>
            </a:r>
          </a:p>
          <a:p>
            <a:r>
              <a:t>CNPJ 55563624000109 · Classe, subclasse e responsabilidade · Excerto da fonte:</a:t>
            </a:r>
          </a:p>
          <a:p>
            <a:r>
              <a:t>(xxiv) Subordinação de determinadas Cotas da Classe Investida a outras subclasses ou séries de  cotas das Classes Investidas aos quais pertencem. A Classe Investida adquirirá apenas cotas  subordinadas mezaninos da Classe Investida, as quais se subordinam às cotas seniores da Classe  Investida para efeitos de resgate. Os resgates de cotas subordinadas mezanino tipicamente têm sua  realização condicionada ainda à manutenção da razão de garantia e à existência de disponibilidades  da Classe Investida. O ADMINISTRADOR, o GESTOR e o CUSTODIANTE e suas respectivas partes  relacionadas, encontram-se impossibilitados de assegurar que a amortização e o resgate das cotas  subordinadas mezanino da Classe Investida que venham a ser adquiridas pela Classe ocorrerão nas  datas originalmente previstas, sendo que, caso tais amortizações e/ou resgates não ocorram, não será  devido pelo FUNDO ou qualquer pessoa, incluindo o ADMINISTRADOR, o GESTOR e o CUSTODIANTE,  do FUNDO ou da Classe Investida qualquer multa ou penalidade, de qualquer natureza. O não resgate  de cotas subordinadas mezanino da Classe Investida detidas pela Classe poderá impactar  negativamente no fluxo de pagamento de resgate da Classe e/ou no valor patrimonial das Cotas da  Classe.</a:t>
            </a:r>
          </a:p>
          <a:p>
            <a:r>
              <a:t>CNPJ 55563624000109 · Classe, subclasse e responsabilidade · Regulamento · ID 1192614 · 2026-04-30 · versão 1 · p. 2 · 1.2 · https://fnet.bmfbovespa.com.br/fnet/publico/visualizarDocumento?id=1192614</a:t>
            </a:r>
          </a:p>
          <a:p>
            <a:r>
              <a:t>CNPJ 55563624000109 · Classe, subclasse e responsabilidade · Excerto da fonte:</a:t>
            </a:r>
          </a:p>
          <a:p>
            <a:r>
              <a:t>1.2 Este regulamento é composto por esta parte geral, um ou mais anexos, conforme o número de classes aqui  previsto e respectivos apêndices relativos a cada subclasse de cotas, conforme aplicável (respectivamente,  “Regulamento”, “Parte Geral”, “Anexos” e “Apêndices”).</a:t>
            </a:r>
          </a:p>
          <a:p>
            <a:r>
              <a:t> Denominação da Classe Anexo  CLASSE ÚNICA DE RESPONSABILIDADE LIMITADA DO  PLGN MARKETPLACE FUNDO DE INVESTIMENTO EM  Anexo Único (“Anexo”)  COTAS DE FUNDO DE INVESTIMENTO EM DIREITOS  CREDITÓRIOS (“Classe” ou “Classe Única”)</a:t>
            </a:r>
          </a:p>
          <a:p>
            <a:r>
              <a:t>CNPJ 55563624000109 · Classe, subclasse e responsabilidade · Regulamento · ID 1192614 · 2026-04-30 · versão 1 · p. 24 · 12.3 · https://fnet.bmfbovespa.com.br/fnet/publico/visualizarDocumento?id=1192614</a:t>
            </a:r>
          </a:p>
          <a:p>
            <a:r>
              <a:t>CNPJ 55563624000109 · Classe, subclasse e responsabilidade · Excerto da fonte:</a:t>
            </a:r>
          </a:p>
          <a:p>
            <a:r>
              <a:t>12.3 Incluem-se entre as obrigações do ADMINISTRADOR, sem prejuízo de outras previstas na regulamentação:</a:t>
            </a:r>
          </a:p>
          <a:p>
            <a:r>
              <a:t> (i) sem prejuízo da observância dos procedimentos relativos às demonstrações contábeis, manter,  separadamente, registros com informações completas sobre toda e qualquer modalidade de negociação  realizada entre o ADMINISTRADOR, GESTOR, CUSTODIANTE, e/ou suas respectivas partes relacionadas,  tais como definidas pelas regras contábeis que tratam desse assunto, de um lado; e a Classe, de outro;</a:t>
            </a:r>
          </a:p>
          <a:p>
            <a:r>
              <a:t> (ii) diligenciar para que sejam mantidos, às suas expensas, atualizados e em perfeita ordem:</a:t>
            </a:r>
          </a:p>
          <a:p>
            <a:r>
              <a:t> (a) o registro de Cotistas;</a:t>
            </a:r>
          </a:p>
          <a:p>
            <a:r>
              <a:t> (b) o livro de atas das Assembleias de Cotistas;</a:t>
            </a:r>
          </a:p>
          <a:p>
            <a:r>
              <a:t> (c) o livro ou lista de presença de Cotistas;</a:t>
            </a:r>
          </a:p>
          <a:p>
            <a:r>
              <a:t> (d) os pareceres do Auditor Independente; e</a:t>
            </a:r>
          </a:p>
          <a:p>
            <a:r>
              <a:t> (e) os registros contábeis referentes às operações e ao patrimônio da Classe;</a:t>
            </a:r>
          </a:p>
          <a:p>
            <a:r>
              <a:t> (iii) pagar a multa cominatória às suas expensas, nos termos da legislação vigente, por cada dia de atraso no  cumprimento dos prazos previstos na regulamentação aplicável;</a:t>
            </a:r>
          </a:p>
          <a:p>
            <a:r>
              <a:t> (iv) elaborar e divulgar as informações periódicas e eventuais da Classe, nos termos deste Anexo e da  regulamentação e da autorregulação em vigor;</a:t>
            </a:r>
          </a:p>
          <a:p>
            <a:r>
              <a:t> (v) manter atualizada junto à CVM a lista de todos os prestadores de serviços contratados pela Classe,  inclusive os Prestadores de Serviços Essenciais, bem como as demais informações cadastrais da Classe e  suas Subclasses;</a:t>
            </a:r>
          </a:p>
          <a:p>
            <a:r>
              <a:t> (vi) manter serviço de atendimento aos Cotistas, responsável pelo esclarecimento de dúvidas e pelo  recebimento de reclamações;</a:t>
            </a:r>
          </a:p>
          <a:p>
            <a:r>
              <a:t> (vii) receber e processar os pedidos de resgate;</a:t>
            </a:r>
          </a:p>
          <a:p>
            <a:r>
              <a:t> (viii) monitorar os Eventos de Verificação do Patrimônio;</a:t>
            </a:r>
          </a:p>
          <a:p>
            <a:r>
              <a:t> (ix) monitorar os Eventos de Avaliação e Eventos de Liquidação;</a:t>
            </a:r>
          </a:p>
          <a:p>
            <a:r>
              <a:t> (x) observar as disposições constantes do Regulamento;</a:t>
            </a:r>
          </a:p>
          <a:p>
            <a:r>
              <a:t> (xi) cumprir as deliberações da Assembleia de Cotistas; e</a:t>
            </a:r>
          </a:p>
          <a:p>
            <a:r>
              <a:t> (xii) observar as disposições do Código ANBIMA e das Regras e Procedimentos ANBIMA</a:t>
            </a:r>
          </a:p>
          <a:p>
            <a:r>
              <a:t>CNPJ 55563624000109 · Classe, subclasse e responsabilidade · Condição: Documentos atuais selecionados no inventário por categoria/escopo; a data documental isolada não comprova vigência jurídica.</a:t>
            </a:r>
          </a:p>
          <a:p>
            <a:r>
              <a:t>CNPJ 55563624000109 · Classe, subclasse e responsabilidade · Versão e prevalência: Documentos atuais selecionados no inventário por categoria/escopo; a data documental isolada não comprova vigência jurídica.</a:t>
            </a:r>
          </a:p>
          <a:p>
            <a:r>
              <a:t>CNPJ 55563624000109 · Classe, subclasse e responsabilidade · Resumo do histórico: {"count": 5, "dates": ["2024-07-03", "2025-01-31", "2026-01-31"], "document_count": 3, "sources": [{"document_id": "1178840", "title": "Demonstrações Financeiras", "reference_date": "2026-01-31", "version": "1", "page": 3, "url": "https://fnet.bmfbovespa.com.br/fnet/publico/visualizarDocumento?id=1178840", "sha256": "c458e98664c5c907ddb5a05a94b120bed4e05295b2bfc420f5ba69af0a229abe"}, {"document_id": "891861", "title": "Demonstrações Financeiras", "reference_date": "2025-01-31", "version": "1", "page": 27, "url": "https://fnet.bmfbovespa.com.br/fnet/publico/visualizarDocumento?id=891861", "sha256": "e9cb9e6ddbe505fe068cfcac33605165a98313489de0d3ce6d4d238263c3f3e7"}, {"document_id": "703295", "title": "Anúncio de Início", "reference_date": "2024-07-03", "version": "2", "page": 1, "url": "https://fnet.bmfbovespa.com.br/fnet/publico/visualizarDocumento?id=703295", "sha256": "12322b6dbf75e673723bd60910373db249451b72666792e18e0c7b6128f4608a"}], "reference": {"path": "history/55563624000109.json", "criterion_id": "perimeter", "total_count": 5, "preview_count": 3, "full_text_deferred": true, "sha256": "7835d573fb58a3c19adf5b8ecc2aee2bdbb9a88f7a0c0209b5f262b64c7522e3"}}</a:t>
            </a:r>
          </a:p>
          <a:p>
            <a:r>
              <a:t>CNPJ 62552447000120 · Classe, subclasse e responsabilidade · Regulamento · ID 1200623 · 2026-05-21 · versão 1 · p. 1 · 1.3 · https://fnet.bmfbovespa.com.br/fnet/publico/visualizarDocumento?id=1200623</a:t>
            </a:r>
          </a:p>
          <a:p>
            <a:r>
              <a:t>CNPJ 62552447000120 · Classe, subclasse e responsabilidade · Excerto da fonte:</a:t>
            </a:r>
          </a:p>
          <a:p>
            <a:r>
              <a:t>1.3 Durante o seu prazo de duração, o Fundo, por ato conjunto dos Prestadores de Serviços Essenciais,  poderá constituir diferentes Classes e Subclasses , sendo que cada Classe terá patrimônio segregado e</a:t>
            </a:r>
          </a:p>
          <a:p>
            <a:r>
              <a:t>CNPJ 62552447000120 · Classe, subclasse e responsabilidade · Regulamento · ID 1200623 · 2026-05-21 · versão 1 · p. 1 · 1.1 · https://fnet.bmfbovespa.com.br/fnet/publico/visualizarDocumento?id=1200623</a:t>
            </a:r>
          </a:p>
          <a:p>
            <a:r>
              <a:t>CNPJ 62552447000120 · Classe, subclasse e responsabilidade · Excerto da fonte:</a:t>
            </a:r>
          </a:p>
          <a:p>
            <a:r>
              <a:t>1.1 V CDT 1 FUNDO DE INVESTIMENTO EM DIREITOS CREDITÓRIOS RESPONSABILIDADE  LIMITADA (“Fundo”), regido pela Lei n.º 10.406, de 10 de janeiro de 2002, conforme alterada (“Código  Civil”), pela Resolução da Comissão de Valores Mobiliários (“CVM”) n.º 175, de 23 de dezembro de  2022, conf orme alterada (“Resolução CVM 175”), que inclui sua Parte Geral (“Parte Geral da  Resolução CVM 175”) e seu Anexo Normativo II (“Anexo Normativo II”) terá como principais  características:</a:t>
            </a:r>
          </a:p>
          <a:p>
            <a:r>
              <a:t>CNPJ 62552447000120 · Classe, subclasse e responsabilidade · Regulamento · ID 1200623 · 2026-05-21 · versão 1 · p. 1 · https://fnet.bmfbovespa.com.br/fnet/publico/visualizarDocumento?id=1200623</a:t>
            </a:r>
          </a:p>
          <a:p>
            <a:r>
              <a:t>CNPJ 62552447000120 · Classe, subclasse e responsabilidade · Excerto da fonte:</a:t>
            </a:r>
          </a:p>
          <a:p>
            <a:r>
              <a:t>CLASSE ÚNICA DO V CDT 1 FUNDO DE  INVESTIMENTO EM DIREITOS CREDITÓRIOS Anexo I (“Anexo I”)  RESPONSABILIDADE LIMITADA</a:t>
            </a:r>
          </a:p>
          <a:p>
            <a:r>
              <a:t>CNPJ 62552447000120 · Classe, subclasse e responsabilidade · Condição: Documentos atuais selecionados no inventário por categoria/escopo; a data documental isolada não comprova vigência jurídica.</a:t>
            </a:r>
          </a:p>
          <a:p>
            <a:r>
              <a:t>CNPJ 62552447000120 · Classe, subclasse e responsabilidade · Versão e prevalência: Documentos atuais selecionados no inventário por categoria/escopo; a data documental isolada não comprova vigência jurídica.</a:t>
            </a:r>
          </a:p>
          <a:p>
            <a:r>
              <a:t>CNPJ 62552447000120 · Classe, subclasse e responsabilidade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"perimeter", "total_count": 1, "preview_count": 1, "full_text_deferred": true, "sha256": "d95db8c0613d67ee84118c734588665265ea6b02f86a0318d6a844cbe1d0f82f"}}</a:t>
            </a:r>
          </a:p>
          <a:p>
            <a:r>
              <a:t>CNPJ 63953620000165 · Classe, subclasse e responsabilidade · Anexo ao Regulamento · ID 1222863 · 02/06/2026 · versão AnexoConsignadoPrivado02/06/2026 · p. 3 · 2.1 · https://fnet.bmfbovespa.com.br/fnet/publico/visualizarDocumento?id=1222863</a:t>
            </a:r>
          </a:p>
          <a:p>
            <a:r>
              <a:t>CNPJ 63953620000165 · Classe, subclasse e responsabilidade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deverá adotar as medidas aplicáveis previstas na Resolução CVM 175. 2.3 Serão aplicáveis as disposições da Resolução CVM 175 no que se refere aos procedimentos a serem adotados pelo Administrador na hipótese de Patrimônio Líquido negativo da Classe. BTG Pactual SAC: 0800 772 28 27 - Ouvidoria: 0800 722 00 48 - btgpactual.com</a:t>
            </a:r>
          </a:p>
          <a:p>
            <a:r>
              <a:t>CNPJ 63953620000165 · Classe, subclasse e responsabilidade · Anexo ao Regulamento · ID 1222863 · 02/06/2026 · versão AnexoConsignadoPrivado02/06/2026 · p. 10 · 6.7.1 · https://fnet.bmfbovespa.com.br/fnet/publico/visualizarDocumento?id=1222863</a:t>
            </a:r>
          </a:p>
          <a:p>
            <a:r>
              <a:t>CNPJ 63953620000165 · Classe, subclasse e responsabilidade · Excerto da fonte:</a:t>
            </a:r>
          </a:p>
          <a:p>
            <a:r>
              <a:t>6.7.1 As Chamadas de Capital para a realização de investimentos serão realizadas a qualquer momento durante o Período de Investimento e estarão limitadas ao valor do capital subscrito de cada Cotista. As Chamadas de Capital para o pagamento de despesas e encargos do Fundo, com exceção de despesas relacionadas à instrumentos de derivativos e/ou Encargos não previstos no âmbito deste regulamento, poderão ser realizadas a qualquer momento durante o Prazo de Duração, mas não estarão limitadas ao valor do capital subscrito de cada Cotista. 6.7.2 Ao receber uma Chamada d</a:t>
            </a:r>
          </a:p>
          <a:p>
            <a:r>
              <a:t>CNPJ 63953620000165 · Classe, subclasse e responsabilidade · Condição: Alcance das chamadas além do capital comprometido não resolvido textualmente; não certificar limitação apenas por título do fundo.</a:t>
            </a:r>
          </a:p>
          <a:p>
            <a:r>
              <a:t>CNPJ 63953620000165 · Classe, subclasse e responsabilidade · Versão e prevalência: Leitura específica das cláusulas indicadas; condições e conflitos preservados. Seleção documental atual não comprova vigência jurídica por data isolada.</a:t>
            </a:r>
          </a:p>
          <a:p>
            <a:r>
              <a:t>CNPJ 63953620000165 · Classe, subclasse e responsabilidade · Resumo do histórico: {"count": 4, "dates": ["2026-04-28", "2026-05-08", "2026-05-15"], "document_count": 3, "sources": [{"document_id": "1327859", "title": "Demonstrações Financeiras - Fusão, cisão e incorporação", "reference_date": "2026-05-15", "version": "1", "page": 1, "url": "https://fnet.bmfbovespa.com.br/fnet/publico/visualizarDocumento?id=1327859", "sha256": "dca1c68babb97f887528c3e2e47596a9c30f507b067981a35655b2f2da9c8054"}, {"document_id": "1298691", "title": "Demonstrações Financeiras - Fusão, cisão e incorporação", "reference_date": "2026-05-08", "version": "1", "page": 1, "url": "https://fnet.bmfbovespa.com.br/fnet/publico/visualizarDocumento?id=1298691", "sha256": "58c570d9b8d4d265330d3db3ea81c435b8e44a6dab4002aa37790652a1ee9819"}, {"document_id": "1205431", "title": "AGE", "reference_date": "2026-04-28", "version": "1", "page": 1, "clause": "4.1", "url": "https://fnet.bmfbovespa.com.br/fnet/publico/visualizarDocumento?id=1205431", "sha256": "e0b59c701c5d0dbf60de698ea7664d442240863b7043bacdb334ce484188b2ac"}], "reference": {"path": "history/63953620000165.json", "criterion_id": "perimeter", "total_count": 4, "preview_count": 3, "full_text_deferred": true, "sha256": "a7b89077f5e21098c2d601c303faabc3ff6b9729f89d8afecdc60fe1404720c1"}}</a:t>
            </a:r>
          </a:p>
          <a:p>
            <a:r>
              <a:t>CNPJ 54871427000194 · Adaptação à Resolução CVM 175 · Regulamento · ID 670691 · 28/04/2024 · versão Regulamento — referência 28/04/2024 · p. 1 · Parte Geral, 1.1 · https://fnet.bmfbovespa.com.br/fnet/publico/visualizarDocumento?id=670691</a:t>
            </a:r>
          </a:p>
          <a:p>
            <a:r>
              <a:t>CNPJ 54871427000194 · Adaptação à Resolução CVM 175 · Excerto da fonte:</a:t>
            </a:r>
          </a:p>
          <a:p>
            <a:r>
              <a:t>1.1 CONSIGNADO DELTA RECEIVABLES I FUNDO DE INVESTIMENTO EM DIREITOS CREDITÓRIOS (“FUNDO”), regido pela Lei nº 10.406, de 10 de janeiro de 2002, conf orme alterada (“Código Civil”), pela parte geral e o Anexo Normativo II da Resolução nº 175, de 23 de dezembro de 2022, conforme alterada, da Comissão de Valores Mobiliários (respectivamente, “CVM” e “Resolução CVM 175”), terá como principais características: Classe de Cotas Classe única. Indeterminado, exceto se de outra f orma vier a ser deliberado pelos cotistas Prazo de Duração reunidos em assembleia geral de cotistas. BTG Pactual Serviços Financeiros S.A. Distribuidora de Títulos e Valores Mobiliários, instituição f inanceira, com sede na Cidade e Estado do Rio de Janeiro, na Praia de Botafogo, nº 501, 5º andar (parte), Torre Corcovado, ADMINISTRADOR Botafogo, CEP 22250-040, inscrita no CNPJ sob o nº 59.281.253/0001-23 e credenciada como administradora de carteira, de acordo com o Ato Declaratório CVM nº</a:t>
            </a:r>
          </a:p>
          <a:p>
            <a:r>
              <a:t>CNPJ 54871427000194 · Adaptação à Resolução CVM 175 · Regulamento · ID 670691 · 28/04/2024 · versão Regulamento — referência 28/04/2024 · p. 8 · Anexo I, 2.1 · https://fnet.bmfbovespa.com.br/fnet/publico/visualizarDocumento?id=670691</a:t>
            </a:r>
          </a:p>
          <a:p>
            <a:r>
              <a:t>CNPJ 54871427000194 · Adaptação à Resolução CVM 175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deverá adotar as medidas aplicáveis previstas na Resolução CVM 175. 2.3 Serão aplicáveis as disposições da Resolução CVM 175 no que se refere aos procedimentos a serem adotados pelo ADMINISTRADOR na hipótese de Patrimônio Líquido negativo da Classe. CAPÍTULO 3 – ENCARGOS DA CLASSE 3.1 A Classe terá Encargos que lhe poderão ser debitados diretamente, nos termos do art. 53 do Anexo Normativo II da Resolução CVM 175, além de encargos adicionais, e quaisquer despesas que não constituam Encargos correm por conta do Prestador de Serviço Essencial que a tiver contratado: (i) despesas com a contratação de consultoria especializada, conf orme o caso; (ii) despesas com a contratação do Agente de Cobrança, conf orme aplicável; (iii) Taxa Máxima de Custódia; (iv) despesas com registro de Direitos Creditórios; (v) despesas com serviços de originação, cobranças ordinária e/ou extraordinária dos D</a:t>
            </a:r>
          </a:p>
          <a:p>
            <a:r>
              <a:t>CNPJ 54871427000194 · Adaptação à Resolução CVM 175 · Versão e prevalência: Leitura específica das cláusulas indicadas; condições e conflitos preservados. Seleção documental atual não comprova vigência jurídica por data isolada.</a:t>
            </a:r>
          </a:p>
          <a:p>
            <a:r>
              <a:t>CNPJ 54871427000194 · Adaptação à Resolução CVM 175 · Resumo do histórico: {"count": 2, "dates": ["2024-04-19"], "document_count": 2, "sources": [{"document_id": "670687", "title": "Instrumento Particular de Constituição/Encerramento do Fundo", "reference_date": "2024-04-19", "version": "1", "page": 1, "url": "https://fnet.bmfbovespa.com.br/fnet/publico/visualizarDocumento?id=670687", "sha256": "999f2a47d39f7022b0fcee3d16fd1db33948537b897e92c4c9e14b436bf5eb96"}, {"document_id": "670689", "title": "Regulamento", "reference_date": "2024-04-19", "version": "1", "page": 11, "clause": "4.10", "url": "https://fnet.bmfbovespa.com.br/fnet/publico/visualizarDocumento?id=670689", "sha256": "891bc9bc5d87bbc02ec139077a84d2702eb81ea02035fb71d24f5b8366b94a0b"}], "reference": {"path": "history/54871427000194.json", "criterion_id": "res175", "total_count": 2, "preview_count": 2, "full_text_deferred": true, "sha256": "35d7cd99be50c7287c9fb675cf4f2e736002315295a225a9efa79c8d9186d874"}}</a:t>
            </a:r>
          </a:p>
          <a:p>
            <a:r>
              <a:t>CNPJ 60010416000112 · Adaptação à Resolução CVM 175 · Regulamento · ID 1051393 · 09/10/2025 · versão Regulamento09/10/2025 · p. 8 · AnexoI1.2 · https://fnet.bmfbovespa.com.br/fnet/publico/visualizarDocumento?id=1051393</a:t>
            </a:r>
          </a:p>
          <a:p>
            <a:r>
              <a:t>CNPJ 60010416000112 · Adaptação à Resolução CVM 175 · Excerto da fonte:</a:t>
            </a:r>
          </a:p>
          <a:p>
            <a:r>
              <a:t>Tipo de Condomínio Fechado. Prazo de Duração Indeterminado. Classe de Investimento Não. em Cotas Tipo “Financeiro”. Classificação ANBIMA Foco de atuação “Créditos Consignados”. O objetivo da classe é proporcionar aos seus Cotistas a valorização de suas Cotas por meio da aplicação de seu Patrimônio Líquido na aquisição de: (i) Direitos Creditórios que atendam aos Critérios de Elegibilidade, estabelecidos no Ca</a:t>
            </a:r>
          </a:p>
          <a:p>
            <a:r>
              <a:t>CNPJ 60010416000112 · Adaptação à Resolução CVM 175 · Regulamento · ID 1051393 · 09/10/2025 · versão Regulamento09/10/2025 · p. 9 · AnexoI2.1–2.3 · https://fnet.bmfbovespa.com.br/fnet/publico/visualizarDocumento?id=1051393</a:t>
            </a:r>
          </a:p>
          <a:p>
            <a:r>
              <a:t>CNPJ 60010416000112 · Adaptação à Resolução CVM 175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o Administrador deverá adotar as medidas aplicáveis previstas na Resolução CVM 175 2.3 Serão aplicáveis as disposições da Resolução CVM 175 no que se ref ere aos procedimentos a serem adotados pelo Administrador na hipótese de Patrimônio Líquido negativo da Classe, visando a liquidação da Classe e que não remanesçam</a:t>
            </a:r>
          </a:p>
          <a:p>
            <a:r>
              <a:t>CNPJ 60010416000112 · Adaptação à Resolução CVM 175 · Versão e prevalência: Leitura específica das cláusulas indicadas; condições e conflitos preservados. Seleção documental atual não comprova vigência jurídica por data isolada.</a:t>
            </a:r>
          </a:p>
          <a:p>
            <a:r>
              <a:t>CNPJ 60010416000112 · Adaptação à Resolução CVM 175 · Resumo do histórico: {"count": 2, "dates": ["2025-03-20"], "document_count": 2, "sources": [{"document_id": "993785", "title": "Instrumento Particular de Constituição/Encerramento do Fundo", "reference_date": "2025-03-20", "version": "1", "page": 1, "url": "https://fnet.bmfbovespa.com.br/fnet/publico/visualizarDocumento?id=993785", "sha256": "0826e0eae2c51afabf59bbc49fc7647598d03da5ca6de0f9725850a8bd6af457"}, {"document_id": "993786", "title": "Regulamento", "reference_date": "2025-03-20", "version": "1", "page": 12, "clause": "4.8", "url": "https://fnet.bmfbovespa.com.br/fnet/publico/visualizarDocumento?id=993786", "sha256": "fd0fdd369a195510d81f81f505195a0b09e5f43522a990afa7d58c4f872921c8"}], "reference": {"path": "history/60010416000112.json", "criterion_id": "res175", "total_count": 2, "preview_count": 2, "full_text_deferred": true, "sha256": "8e2bd813f4c51cf01f6bfaad164bafe69d2bbb192f753eac92da3a01c2e63046"}}</a:t>
            </a:r>
          </a:p>
          <a:p>
            <a:r>
              <a:t>CNPJ 62696791000193 · Adaptação à Resolução CVM 175 · AGE · ID 1143319 · 20/03/2026 10:00 · versão AGE — referência 20/03/2026 10:00 · p. 1 · AGC, 4.1(a)–(b) · https://fnet.bmfbovespa.com.br/fnet/publico/visualizarDocumento?id=1143319</a:t>
            </a:r>
          </a:p>
          <a:p>
            <a:r>
              <a:t>CNPJ 62696791000193 · Adaptação à Resolução CVM 175 · Excerto da fonte:</a:t>
            </a:r>
          </a:p>
          <a:p>
            <a:r>
              <a:t>4.1. Aprovar a transformação do Fundo, bem como de sua Classe única, em um fundo de investimento nas cadeias produtivas do agronegócio (“Transformação”), nos termos da parte geral e do Anexo Normativo VI da Resolução nº 175 da CVM, de 23 de dezembro de 2022, conforme alterada (“Resolução CVM 175”). a. Aprovar a alteração da denominação do Fundo, que passará a vigorar como BTG PACTUAL CERES CONFINA FUNDO DE INVESTIMENTO NAS CADEIAS PRODUTIVAS DO AGRONEGÓCIO RESPONSABILIDADE LIMITADA, e de sua Classe única, que passará a vigorar como CLASSE ÚNICA DO BTG PACTUAL CERES CONFINA FUNDO DE INVESTIMENTO NAS CADEIAS PRODUTIVAS DO AGRONEGÓCIO RESPONSABILIDADE LIMITADA (“Classe”); b. Aprovar a reforma integral do Regulamento do Fundo, bem como do Anexo descritivo da Classe, para realizar todos os ajustes necessários à implementação da Transformação, incluindo, mas não se limitando, a política de investimentos, o regime tributário e os fatores de risco aplicáveis, conforme itens abaixo; c. Aprovar a alteração do quadro de características gerais do Fundo, considerando a contratação do Cogestor pelo Gestor, nos termos do artigo 52, II, da parte geral da Resolução CVM 175 e no co</a:t>
            </a:r>
          </a:p>
          <a:p>
            <a:r>
              <a:t>CNPJ 62696791000193 · Adaptação à Resolução CVM 175 · AGE · ID 1143319 · 20/03/2026 10:00 · versão AGE — referência 20/03/2026 10:00 · p. 3 · AGC 20/03/2026, 4.1(j)–(k) · https://fnet.bmfbovespa.com.br/fnet/publico/visualizarDocumento?id=1143319</a:t>
            </a:r>
          </a:p>
          <a:p>
            <a:r>
              <a:t>CNPJ 62696791000193 · Adaptação à Resolução CVM 175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Adaptação à Resolução CVM 175 · Regulamento · ID 1143317 · 20/03/2026 · versão Regulamento — referência 20/03/2026 · p. 1 · Parte Geral, 1.1 · https://fnet.bmfbovespa.com.br/fnet/publico/visualizarDocumento?id=1143317</a:t>
            </a:r>
          </a:p>
          <a:p>
            <a:r>
              <a:t>CNPJ 62696791000193 · Adaptação à Resolução CVM 175 · Excerto da fonte:</a:t>
            </a:r>
          </a:p>
          <a:p>
            <a:r>
              <a:t>1.1 BTG PACTUAL CERES CONFINA FUNDO DE INVESTIMENTO NAS CADEIAS PRODUTIVAS DO AGRONEGÓCIO RESPONSABILIDADE LIMITADA (“Fundo”), regido pela Lei nº 10.406, de 10 de janeiro de 2002, conf orme alterada (“Código Civil”), pela Lei n.º 8.668, de 25 de junho de 1993, conf orme alterada (“Lei 8.668”), pela parte geral, Anexo Normativo VI e, subsidiariamente, Anexo Normativo II da Resolução nº 175, de 23 de dezembro de 2022, conforme alterada, da Comissão de Valores Mobiliários (respectivamente, “Resolução CVM 175” e “CVM”), terá como principais características: Classe Classe única. Indeterminado, exceto se de outra f orma vier a ser deliberado pelos Cotistas Prazo de Duração reunidos em assembleia geral de Cotistas (“Prazo de Duração”). BTG Pactual Serviços Financeiros S.A. Distribuidora de Títulos e Valores Mobiliários, sociedade anônima, com sede no município e Estado do Rio de Janeiro, na Praia de Botafogo, nº 501, 5º andar (parte), Torre Corcovado, Administrador Botafogo, CEP 22250-040, inscrita no CNPJ sob o nº 59.281.253/0001-23 e</a:t>
            </a:r>
          </a:p>
          <a:p>
            <a:r>
              <a:t>CNPJ 62696791000193 · Adaptação à Resolução CVM 175 · Condição: Posição comumfev/26 é anterior à transformação e demanda o regime/regulamento anterior.</a:t>
            </a:r>
          </a:p>
          <a:p>
            <a:r>
              <a:t>CNPJ 62696791000193 · Adaptação à Resolução CVM 175 · Versão e prevalência: Leitura específica das cláusulas indicadas; condições e conflitos preservados. Seleção documental atual não comprova vigência jurídica por data isolada.</a:t>
            </a:r>
          </a:p>
          <a:p>
            <a:r>
              <a:t>CNPJ 55563624000109 · Adaptação à Resolução CVM 175 · Regulamento · ID 1192614 · 2026-04-30 · versão 1 · p. 13 · 4.11 · https://fnet.bmfbovespa.com.br/fnet/publico/visualizarDocumento?id=1192614</a:t>
            </a:r>
          </a:p>
          <a:p>
            <a:r>
              <a:t>CNPJ 55563624000109 · Adaptação à Resolução CVM 175 · Excerto da fonte:</a:t>
            </a:r>
          </a:p>
          <a:p>
            <a:r>
              <a:t>4.11 Nos termos dos artigos 45, parágrafo 7º, e 47 parágrafo único do Anexo Normativo II à Resolução CVM 175, uma  vez que as Cotas são destinadas exclusivamente a Investidores Profissionais, a Classe poderá ter até 100% (cem  por cento) de seu Patrimônio Líquido alocado em Cotas da Classe Investida, as quais são emitidas pela Classe  Investida.</a:t>
            </a:r>
          </a:p>
          <a:p>
            <a:r>
              <a:t>CNPJ 55563624000109 · Adaptação à Resolução CVM 175 · Regulamento · ID 1192614 · 2026-04-30 · versão 1 · p. 31 · 15.1.1 · https://fnet.bmfbovespa.com.br/fnet/publico/visualizarDocumento?id=1192614</a:t>
            </a:r>
          </a:p>
          <a:p>
            <a:r>
              <a:t>CNPJ 55563624000109 · Adaptação à Resolução CVM 175 · Excerto da fonte:</a:t>
            </a:r>
          </a:p>
          <a:p>
            <a:r>
              <a:t>15.1.1 Riscos de Crédito:</a:t>
            </a:r>
          </a:p>
          <a:p>
            <a:r>
              <a:t> (i) Risco de concentração na Classe Investida. Nos termos do presente Regulamento, a Classe  deverá manter alocado, no mínimo, 67% (sessenta e sete por cento) do Patrimônio Líquido nas Cotas  da Classe Investida. Alterações na condição econômico-financeira e na expectativa de desempenho ou  resultados da Classe Investida poderão, isolada ou cumulativamente, afetar negativamente o  rendimento do investimento nas Cotas, de forma mais severa do que se a Classe adotasse uma  estratégia de investimento de maior diversificação. O risco associado às aplicações de qualquer fundo  de investimento é diretamente proporcional à concentração da sua carteira, sendo que, quanto maior  essa concentração, maior será a sua vulnerabilidade.</a:t>
            </a:r>
          </a:p>
          <a:p>
            <a:r>
              <a:t> (ii) Risco relativo à Classe Investida. Nos termos deste Anexo, a Classe deverá manter alocado, no  mínimo, 67% (sessenta e sete por cento) do Patrimônio Líquido em Cotas da Classe Investida. Os  investimentos realizados pela Classe Investida poderão estar sujeitos a flutuações típicas do mercado,  risco de crédito, risco sistêmico, condições adversas de liquidez e negociação atípica nos mercados de  atuação, bem como outros riscos diversos. Este Anexo não contém a descrição de todas as  características, incluindo os riscos, da Classe Investida.</a:t>
            </a:r>
          </a:p>
          <a:p>
            <a:r>
              <a:t> (iii) Risco Relativo ao Pagamento de Encargos da Classe Investida. Tendo em vista a estrutura da  Classe Investida – que emitiu cotas sêniores, cotas subordinadas mezanino e cotas subordinadas júnior  – em situação ordinária os encargos da Classe Investida são arcados pelas cotas subordinadas júnior,  que se subordinam às cotas subordinadas mezanino e às cotas sêniores para fins de amortização,  resgate e distribuição de rendimentos, não impactando, portanto, as Cotas da Classe Investida. Não  obstante o funcionamento da Classe Investida em situação ordinária, em cenários extraordinários, na  eventualidade do valor das cotas subordinadas júnior ficar reduzido a zero ou a valor negativo, os  encargos da Classe Investida conforme previstos em seu regulamento, inclusive mas não se limitando  as remunerações dos prestadores de serviços essenciais, passarão a ser arcados pelas cotas  subordinadas mezanino (que são as Cotas da Classe Investida), impactando no valor do investimento  da Classe na Classe Investida, e consequentemente, o investimento dos Cotistas na Classe.</a:t>
            </a:r>
          </a:p>
          <a:p>
            <a:r>
              <a:t> (iv) Riscos referentes à carteira da Classe Investida. Na forma do Anexo Normativo II da Resolução  CVM 175, a Classe Investida investe, direta ou indiretamente, no mínimo, 67% (sessenta e sete por  cento) do seu patrimônio em direitos creditórios originados pela Mercado Pago. O investimento em tais  direitos creditórios está sujeito a fatores de risco específicos, conforme detalhados no regulamento da  Classe Investida, incluindo, mas não se limitando a:</a:t>
            </a:r>
          </a:p>
          <a:p>
            <a:r>
              <a:t> (a) Risco de liquidez dos direitos creditórios. O investimento da Classe Investida em direitos  creditórios apresenta peculiaridades em relação às aplicações usuais da maioria dos  fundos de investimento brasileiros, haja vista que não existe, no Brasil, mercado  secundário com liquidez para tais direitos creditórios. Caso a Classe Investida precise  vender os direitos creditórios adquiridos, poderá não haver mercado comprador para  tais créditos, bem como o preço de alienação de tais direitos creditórios poderá refletir  essa falta de liquidez, causando perda ao patrimônio da Classe Investida e,  consequentemente, à Classe.</a:t>
            </a:r>
          </a:p>
          <a:p>
            <a:r>
              <a:t>CNPJ 55563624000109 · Adaptação à Resolução CVM 175 · Regulamento · ID 1192614 · 2026-04-30 · versão 1 · p. 28 · 13.2 · https://fnet.bmfbovespa.com.br/fnet/publico/visualizarDocumento?id=1192614</a:t>
            </a:r>
          </a:p>
          <a:p>
            <a:r>
              <a:t>CNPJ 55563624000109 · Adaptação à Resolução CVM 175 · Excerto da fonte:</a:t>
            </a:r>
          </a:p>
          <a:p>
            <a:r>
              <a:t>13.2 Em condições ordinárias, as Cotas da Classe Investida não pagarão remuneração aos prestadores de serviços  essenciais da Classe Investida, nos termos de seu regulamento. Não obstante, em cenário extraordinário  conforme descrito no item 15.1.1 (iii), e para fins de atendimento ao artigo 98 da parte geral da Resolução CVM  175, a taxa máxima de administração corresponderá ao valor da Taxa Mínima de Administração acrescida de até  0,10% (dez centésimos por cento) ao ano incidente sobre o patrimônio líquido da Classe Investida,  compreendendo a taxa de administração da Classe Investida geridos por partes relacionadas ao GESTOR, cujas  cotas não estão admitidas à negociação em mercado organizado, conforme prevista no regulamento da Classe  Investida (“Taxa Máxima de Administração” e, quando referida em conjunto com a Taxa Mínima de  Administração, como “Taxa de Administração”). Caso a taxa de administração da Classe Investida não se  enquadre no disposto acima, estará disposta no regulamento da Classe Investida.</a:t>
            </a:r>
          </a:p>
          <a:p>
            <a:r>
              <a:t>CNPJ 55563624000109 · Adaptação à Resolução CVM 175 · Condição: Documentos atuais selecionados no inventário por categoria/escopo; a data documental isolada não comprova vigência jurídica.</a:t>
            </a:r>
          </a:p>
          <a:p>
            <a:r>
              <a:t>CNPJ 55563624000109 · Adaptação à Resolução CVM 175 · Versão e prevalência: Documentos atuais selecionados no inventário por categoria/escopo; a data documental isolada não comprova vigência jurídica.</a:t>
            </a:r>
          </a:p>
          <a:p>
            <a:r>
              <a:t>CNPJ 55563624000109 · Adaptação à Resolução CVM 175 · Resumo do histórico: {"count": 3, "dates": ["2024-07-03", "2025-01-31", "2026-01-31"], "document_count": 3, "sources": [{"document_id": "1178840", "title": "Demonstrações Financeiras", "reference_date": "2026-01-31", "version": "1", "page": 29, "url": "https://fnet.bmfbovespa.com.br/fnet/publico/visualizarDocumento?id=1178840", "sha256": "c458e98664c5c907ddb5a05a94b120bed4e05295b2bfc420f5ba69af0a229abe"}, {"document_id": "891861", "title": "Demonstrações Financeiras", "reference_date": "2025-01-31", "version": "1", "page": 30, "url": "https://fnet.bmfbovespa.com.br/fnet/publico/visualizarDocumento?id=891861", "sha256": "e9cb9e6ddbe505fe068cfcac33605165a98313489de0d3ce6d4d238263c3f3e7"}, {"document_id": "691674", "title": "Instrumento Particular de Emissão de Cotas", "reference_date": "2024-07-03", "version": "1", "page": 1, "url": "https://fnet.bmfbovespa.com.br/fnet/publico/visualizarDocumento?id=691674", "sha256": "78bf7b350f1785beae5f43bd209b5ed19e863cb9a2cff01542aac11dd63ca554"}], "reference": {"path": "history/55563624000109.json", "criterion_id": "res175", "total_count": 3, "preview_count": 3, "full_text_deferred": true, "sha256": "7835d573fb58a3c19adf5b8ecc2aee2bdbb9a88f7a0c0209b5f262b64c7522e3"}}</a:t>
            </a:r>
          </a:p>
          <a:p>
            <a:r>
              <a:t>CNPJ 62552447000120 · Adaptação à Resolução CVM 175 · Regulamento · ID 1200623 · 21/05/2026 · versão Consolidado21/05/2026 aprovado pelo ato1200625 · p. 1 · ParteGeral1.1 · https://fnet.bmfbovespa.com.br/fnet/publico/visualizarDocumento?id=1200623</a:t>
            </a:r>
          </a:p>
          <a:p>
            <a:r>
              <a:t>CNPJ 62552447000120 · Adaptação à Resolução CVM 175 · Excerto da fonte:</a:t>
            </a:r>
          </a:p>
          <a:p>
            <a:r>
              <a:t>1.1 V CDT 1 FUNDO DE INVESTIMENTO EM DIREITOS CREDITÓRIOS RESPONSABILIDADE LIMITADA (“Fundo”), regido pela Lei n.º 10.406, de 10 de janeiro de 2002, conforme alterada (“Código Civil”), pela Resolução da Comissão de Valores Mobiliários (“CVM”) n.º 175, de 23 de dezembro de 2022, conf orme alterada (“Resolução CVM 175”), que inclui sua Parte Geral (“Parte Geral da Resolução CVM 175”) e seu Anexo Normativo II (“Anexo Normativo II”) terá como principais características: Classe de Cotas Classe única. Indeterminado, exceto se de outra forma vier a ser deliberado pelos titulares</a:t>
            </a:r>
          </a:p>
          <a:p>
            <a:r>
              <a:t>CNPJ 62552447000120 · Adaptação à Resolução CVM 175 · Regulamento · ID 1200623 · 21/05/2026 · versão Consolidado21/05/2026 aprovado pelo ato1200625 · p. 2 · ParteGeral1.6(v) · https://fnet.bmfbovespa.com.br/fnet/publico/visualizarDocumento?id=1200623</a:t>
            </a:r>
          </a:p>
          <a:p>
            <a:r>
              <a:t>CNPJ 62552447000120 · Adaptação à Resolução CVM 175 · Excerto da fonte:</a:t>
            </a:r>
          </a:p>
          <a:p>
            <a:r>
              <a:t>V CDT 1 FUNDO DE INVESTIMENTO EM DIREITOS CREDITÓRIOS RESPONSABILIDADE LIMITADA direitos e obrigações distintos das demais Classes, nos termos do art. 5º da Parte Geral da Resolução CVM 175. 1.4 O Anexo de cada classe de Cotas (“Classe”), conforme aplicável, dispõe, sem prejuízo de outros requisitos e inf ormações previstos na regulamentação, sobre: (i) características gerais, incluindo a indicação dos demais prestadores de serviços; (ii) responsabilidade dos Cotistas e regime de insolvência; (iii) características, direitos, condições de emissão, subscrição, integralização,</a:t>
            </a:r>
          </a:p>
          <a:p>
            <a:r>
              <a:t>CNPJ 62552447000120 · Adaptação à Resolução CVM 175 · Regulamento · ID 1200623 · 21/05/2026 · versão Consolidado21/05/2026 aprovado pelo ato1200625 · p. 16 · AnexoI5.1 · https://fnet.bmfbovespa.com.br/fnet/publico/visualizarDocumento?id=1200623</a:t>
            </a:r>
          </a:p>
          <a:p>
            <a:r>
              <a:t>CNPJ 62552447000120 · Adaptação à Resolução CVM 175 · Excerto da fonte:</a:t>
            </a:r>
          </a:p>
          <a:p>
            <a:r>
              <a:t>5.1 A Classe não possui Subclasse. As características, os direitos e as condições de emissão, distribuição, subscrição, integralização, remuneração, Amortização e resgate das Cotas estão descritos neste Capítulo e no Capítulo 6. 5.1.1 Não obstante, por deliberação conjunta dos Prestadores de Serviços Essenciais e mediante aprovação em Assembleia Especial, poderá haver a divisão de Classes em Subclasses, nos termos da Resolução CVM 175. Após a primeira emissão de Cotas, novas emissões de Cotas (de quaisquer Subclasses) dependem de aprovação dos Cotistas. 5.2 As Cotas são escrit</a:t>
            </a:r>
          </a:p>
          <a:p>
            <a:r>
              <a:t>CNPJ 62552447000120 · Adaptação à Resolução CVM 175 · Versão e prevalência: Leitura específica das cláusulas indicadas; condições e conflitos preservados. Seleção documental atual não comprova vigência jurídica por data isolada.</a:t>
            </a:r>
          </a:p>
          <a:p>
            <a:r>
              <a:t>CNPJ 62552447000120 · Adaptação à Resolução CVM 175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"res175", "total_count": 1, "preview_count": 1, "full_text_deferred": true, "sha256": "d95db8c0613d67ee84118c734588665265ea6b02f86a0318d6a844cbe1d0f82f"}}</a:t>
            </a:r>
          </a:p>
          <a:p>
            <a:r>
              <a:t>CNPJ 63953620000165 · Adaptação à Resolução CVM 175 · Anexo ao Regulamento · ID 1222863 · 02/06/2026 · versão AnexoConsignadoPrivado02/06/2026 · p. 1 · AnexoI1.1 · https://fnet.bmfbovespa.com.br/fnet/publico/visualizarDocumento?id=1222863</a:t>
            </a:r>
          </a:p>
          <a:p>
            <a:r>
              <a:t>CNPJ 63953620000165 · Adaptação à Resolução CVM 175 · Excerto da fonte:</a:t>
            </a:r>
          </a:p>
          <a:p>
            <a:r>
              <a:t>1.1 As principais características da Classe Consignado Privado (para fins deste Anexo, “Classe”) estão descritas abaixo: Tipo de Condomínio Fechado. Indeterminado, exceto se de outra forma vier a ser deliberado pelos Cotistas Prazo de Duração reunidos em Assembleia Especial de Cotistas. (“Prazo de Duração”) Tipo “Financeiro”. Classificação ANBIMA Foco de atuação “Créditos Consignados”. O obje</a:t>
            </a:r>
          </a:p>
          <a:p>
            <a:r>
              <a:t>CNPJ 63953620000165 · Adaptação à Resolução CVM 175 · Anexo ao Regulamento · ID 1222863 · 02/06/2026 · versão AnexoConsignadoPrivado02/06/2026 · p. 9 · 5.1 · https://fnet.bmfbovespa.com.br/fnet/publico/visualizarDocumento?id=1222863</a:t>
            </a:r>
          </a:p>
          <a:p>
            <a:r>
              <a:t>CNPJ 63953620000165 · Adaptação à Resolução CVM 175 · Excerto da fonte:</a:t>
            </a:r>
          </a:p>
          <a:p>
            <a:r>
              <a:t>5.1 A Classe possui 2 (duas) Subclasses de Cotas, quais sejam, a subclasse sênior (“Subclasse Sênior” e “Cotas Seniores”) e a subclasse subordinada (“Subclasse Subordinada” e “Cotas Subordinadas” – as Cotas Subordinadas e Cotas Seniores, quando referidas em conjunto, “Cotas”). As características, os direitos e as condições de emissão, distribuição, subscrição, integralização, remuneração, amortização e resgate das Cotas estão descritos neste Capítulo e nos respectivos Apêndices. 5.2 As Cotas são escriturais, nominativas e correspondem a frações ideais do patrimônio da Classe, cuja propriedade presume-se: (i) pelo</a:t>
            </a:r>
          </a:p>
          <a:p>
            <a:r>
              <a:t>CNPJ 63953620000165 · Adaptação à Resolução CVM 175 · Condição: Vigência efetiva da versão 02/06/2026 não inferida da data de publicação; não aplicar a fev/26 automaticamente.</a:t>
            </a:r>
          </a:p>
          <a:p>
            <a:r>
              <a:t>CNPJ 63953620000165 · Adaptação à Resolução CVM 175 · Versão e prevalência: Leitura específica das cláusulas indicadas; condições e conflitos preservados. Seleção documental atual não comprova vigência jurídica por data isolada.</a:t>
            </a:r>
          </a:p>
          <a:p>
            <a:r>
              <a:t>CNPJ 63953620000165 · Adaptação à Resolução CVM 175 · Resumo do histórico: {"count": 9, "dates": ["2026-04-28", "2026-05-08", "2026-05-15"], "document_count": 3, "sources": [{"document_id": "1327859", "title": "Demonstrações Financeiras - Fusão, cisão e incorporação", "reference_date": "2026-05-15", "version": "1", "page": 31, "clause": "15.000.000", "url": "https://fnet.bmfbovespa.com.br/fnet/publico/visualizarDocumento?id=1327859", "sha256": "dca1c68babb97f887528c3e2e47596a9c30f507b067981a35655b2f2da9c8054"}, {"document_id": "1298691", "title": "Demonstrações Financeiras - Fusão, cisão e incorporação", "reference_date": "2026-05-08", "version": "1", "page": 32, "url": "https://fnet.bmfbovespa.com.br/fnet/publico/visualizarDocumento?id=1298691", "sha256": "58c570d9b8d4d265330d3db3ea81c435b8e44a6dab4002aa37790652a1ee9819"}, {"document_id": "1282180", "title": "Demonstrações Financeiras - Fusão, cisão e incorporação", "reference_date": "2026-04-28", "version": "1", "page": 32, "clause": "15.000.000", "url": "https://fnet.bmfbovespa.com.br/fnet/publico/visualizarDocumento?id=1282180", "sha256": "afaaa0e6809be4385e5bdb6c911aac582032c5bdbac3d7750234bf9eaf00438a"}], "reference": {"path": "history/63953620000165.json", "criterion_id": "res175", "total_count": 9, "preview_count": 3, "full_text_deferred": true, "sha256": "a7b89077f5e21098c2d601c303faabc3ff6b9729f89d8afecdc60fe1404720c1"}}</a:t>
            </a:r>
          </a:p>
          <a:p>
            <a:r>
              <a:t>CNPJ 54871427000194 · Duração e público-alvo · Demonstrações Financeiras - Fusão, cisão e incorporação · ID 1219522 · 2026-02-02 · versão 1 · p. 11 · https://fnet.bmfbovespa.com.br/fnet/publico/visualizarDocumento?id=1219522</a:t>
            </a:r>
          </a:p>
          <a:p>
            <a:r>
              <a:t>CNPJ 54871427000194 · Duração e público-alvo · Excerto da fonte:</a:t>
            </a:r>
          </a:p>
          <a:p>
            <a:r>
              <a:t>O Consignado Delta Receivables I Fundo de Investimento em Direitos Creditórios possui uma classe única de cotas, denominada Classe Única de Responsabilidade Limitada do Consignado Delta Receivables I Fundo de Investimento em Direitos Creditórios (“Classe”). A Classe foi constituída em 19 de abril de 2024, sob a forma de condomínio fechado e iniciou suas operações em 27 de maio de 2024. A Classe possui prazo de duração Indeterminado.</a:t>
            </a:r>
          </a:p>
          <a:p>
            <a:r>
              <a:t>CNPJ 54871427000194 · Duração e público-alvo · Condição: Documentos atuais selecionados no inventário por categoria/escopo; a data documental isolada não comprova vigência jurídica.</a:t>
            </a:r>
          </a:p>
          <a:p>
            <a:r>
              <a:t>CNPJ 54871427000194 · Duração e público-alvo · Versão e prevalência: Documentos atuais selecionados no inventário por categoria/escopo; a data documental isolada não comprova vigência jurídica.</a:t>
            </a:r>
          </a:p>
          <a:p>
            <a:r>
              <a:t>CNPJ 54871427000194 · Duração e público-alvo · Resumo do histórico: {"count": 11, "dates": ["2024-12-31", "2025-01-01", "2025-12-31"], "document_count": 3, "sources": [{"document_id": "1151805", "title": "Demonstrações Financeiras", "reference_date": "2025-12-31", "version": "1", "page": 11, "url": "https://fnet.bmfbovespa.com.br/fnet/publico/visualizarDocumento?id=1151805", "sha256": "f1cea70b152968bf96ef9221b27225953cb20aeef487b2798db3c25e11b528d4"}, {"document_id": "869529", "title": "Demonstrações Financeiras", "reference_date": "2025-01-01", "version": "1", "page": 11, "url": "https://fnet.bmfbovespa.com.br/fnet/publico/visualizarDocumento?id=869529", "sha256": "9a93a9369ac8efdbc54ff8fcee3ccac3abf88edab4807b9323d3852450771b2a"}, {"document_id": "870070", "title": "Demonstrações Financeiras", "reference_date": "2024-12-31", "version": "1", "page": 11, "url": "https://fnet.bmfbovespa.com.br/fnet/publico/visualizarDocumento?id=870070", "sha256": "9a93a9369ac8efdbc54ff8fcee3ccac3abf88edab4807b9323d3852450771b2a"}], "reference": {"path": "history/54871427000194.json", "criterion_id": "duration_investors", "total_count": 11, "preview_count": 3, "full_text_deferred": true, "sha256": "35d7cd99be50c7287c9fb675cf4f2e736002315295a225a9efa79c8d9186d874"}}</a:t>
            </a:r>
          </a:p>
          <a:p>
            <a:r>
              <a:t>CNPJ 60010416000112 · Duração e público-alvo · Demonstrações Financeiras - Fusão, cisão e incorporação · ID 1298690 · 2026-05-08 · versão 1 · p. 9 · https://fnet.bmfbovespa.com.br/fnet/publico/visualizarDocumento?id=1298690</a:t>
            </a:r>
          </a:p>
          <a:p>
            <a:r>
              <a:t>CNPJ 60010416000112 · Duração e público-alvo · Excerto da fonte:</a:t>
            </a:r>
          </a:p>
          <a:p>
            <a:r>
              <a:t>1. Contexto operacional  O MT Consignado Privado I Fundo de Investimento em Direitos Creditórios (“Fundo”) possui uma  classe única de cotas, denominada Classe Única do MT I Consignado Privado I Fundo de  Investimento em Direitos Creditórios Responsabilidade Limitada (“Classe”). A Classe foi  constituída em 20 de março de 2025, sob a forma de condomínio fechado e iniciou suas  operações em 21 de março de 2025. A Classe possui prazo de duração indeterminado.</a:t>
            </a:r>
          </a:p>
          <a:p>
            <a:r>
              <a:t>CNPJ 60010416000112 · Duração e público-alvo · Demonstrações Financeiras - Fusão, cisão e incorporação · ID 1298690 · 2026-05-08 · versão 1 · p. 22 · https://fnet.bmfbovespa.com.br/fnet/publico/visualizarDocumento?id=1298690</a:t>
            </a:r>
          </a:p>
          <a:p>
            <a:r>
              <a:t>CNPJ 60010416000112 · Duração e público-alvo · Excerto da fonte:</a:t>
            </a:r>
          </a:p>
          <a:p>
            <a:r>
              <a:t>(ii) Riscos do mercado secundário: A Classe é constituída sob a forma de condomínio  fechado, de modo que as Cotas Subordinadas somente serão resgatadas em virtude da  liquidação da Classe e as Cotas Seniores ao término do seu prazo de duração, conforme  estabelecidos nos respectivos Suplementos. Uma vez que o prazo de duração da Classe  é indeterminado, o Cotista titular das Cotas Subordinadas não terá liquidez em seu  investimento na Classe, exceto (a) por ocasião das amortizações e dos resgates, nos  termos do Regulamento; (b) por meio da alienação de suas Cotas no mercado  secundário, observado, neste caso, que sua alienação apenas é permitida para o Público-  Alvo das Cotas Subordinadas; ou (c) na liquidação antecipada do Fundo ou da Classe.</a:t>
            </a:r>
          </a:p>
          <a:p>
            <a:r>
              <a:t> Além disso, atualmente, o mercado secundário de cotas de fundos de investimento  apresenta baixa liquidez, o que pode dificultar a venda das Cotas ou ocasionar a obtenção  de um preço de venda que cause perda de patrimônio ao Cotista. Não há qualquer  garantia da Administradora, da Gestora, da consultora ou do Custodiante em relação à  possibilidade de venda das Cotas no mercado secundário ou ao preço obtido por elas,  ou mesmo garantia de saída ao Cotista.</a:t>
            </a:r>
          </a:p>
          <a:p>
            <a:r>
              <a:t>CNPJ 60010416000112 · Duração e público-alvo · Condição: Documentos atuais selecionados no inventário por categoria/escopo; a data documental isolada não comprova vigência jurídica.</a:t>
            </a:r>
          </a:p>
          <a:p>
            <a:r>
              <a:t>CNPJ 60010416000112 · Duração e público-alvo · Versão e prevalência: Documentos atuais selecionados no inventário por categoria/escopo; a data documental isolada não comprova vigência jurídica.</a:t>
            </a:r>
          </a:p>
          <a:p>
            <a:r>
              <a:t>CNPJ 60010416000112 · Duração e público-alvo · Resumo do histórico: {"count": 9, "dates": ["2025-11-30", "2026-03-18", "2026-04-16"], "document_count": 3, "sources": [{"document_id": "1282181", "title": "Demonstrações Financeiras - Fusão, cisão e incorporação", "reference_date": "2026-04-16", "version": "1", "page": 23, "url": "https://fnet.bmfbovespa.com.br/fnet/publico/visualizarDocumento?id=1282181", "sha256": "b1c6566e43a00bcd00c8a7f30c77b7f86e351bd8e355bbea113f46d1dafda703"}, {"document_id": "1224477", "title": "Demonstrações Financeiras - Fusão, cisão e incorporação", "reference_date": "2026-03-18", "version": "1", "page": 23, "url": "https://fnet.bmfbovespa.com.br/fnet/publico/visualizarDocumento?id=1224477", "sha256": "0751bf0a75bc3b44c2748f5000226665c6ec6698a90c4dc6170b4e6c187759ae"}, {"document_id": "1126154", "title": "Demonstrações Financeiras", "reference_date": "2025-11-30", "version": "1", "page": 23, "url": "https://fnet.bmfbovespa.com.br/fnet/publico/visualizarDocumento?id=1126154", "sha256": "a01e7ccf88c548f12c95cba8526d7efbef6b585c112cd4668eca781c292090b0"}], "reference": {"path": "history/60010416000112.json", "criterion_id": "duration_investors", "total_count": 9, "preview_count": 3, "full_text_deferred": true, "sha256": "8e2bd813f4c51cf01f6bfaad164bafe69d2bbb192f753eac92da3a01c2e63046"}}</a:t>
            </a:r>
          </a:p>
          <a:p>
            <a:r>
              <a:t>CNPJ 62696791000193 · Duração e público-alvo · Regulamento · ID 1143317 · 2026-03-20 · versão 1 · p. 18 · 8.8.1 · https://fnet.bmfbovespa.com.br/fnet/publico/visualizarDocumento?id=1143317</a:t>
            </a:r>
          </a:p>
          <a:p>
            <a:r>
              <a:t>CNPJ 62696791000193 · Duração e público-alvo · Excerto da fonte:</a:t>
            </a:r>
          </a:p>
          <a:p>
            <a:r>
              <a:t>8.8.1 As Chamadas de Capital para a realização de investimentos serão realizadas a qualquer  momento durante o Período de Investimento e estarão limitadas ao valor do capital subscrito  de cada Cotista. As Chamadas de Capital para o pagamento de despesas e encargos do Fundo  poderão ser realizadas a qualquer momento durante o Prazo de Duração, mas não estarão  limitadas ao valor do capital subscrito de cada Cotista.</a:t>
            </a:r>
          </a:p>
          <a:p>
            <a:r>
              <a:t>CNPJ 62696791000193 · Duração e público-alvo · Regulamento · ID 1143317 · 2026-03-20 · versão 1 · p. 20 · 9.5.1 · https://fnet.bmfbovespa.com.br/fnet/publico/visualizarDocumento?id=1143317</a:t>
            </a:r>
          </a:p>
          <a:p>
            <a:r>
              <a:t>CNPJ 62696791000193 · Duração e público-alvo · Excerto da fonte:</a:t>
            </a:r>
          </a:p>
          <a:p>
            <a:r>
              <a:t>9.5.1 Ao f inal do Prazo de Duração ou quando da liquidação antecipada da Classe, todas as Cotas  deverão ter seu valor integralmente amortizado. Não havendo recursos em moeda corrente  nacional suficientes para realizar o pagamento da amortização total das Cotas em circulação à  época da liquidação da Classe, o Administrador deverá convocar a Assembleia Especial de  Cotistas a fim de deliberar sobre a prorrogação do Prazo de Duração ou o resgate de Cotas em  Direitos Creditórios do Agronegócio e/ou Outros Ativos .</a:t>
            </a:r>
          </a:p>
          <a:p>
            <a:r>
              <a:t>10 ASSEMBLEIA ESPECIAL DE COTISTAS</a:t>
            </a:r>
          </a:p>
          <a:p>
            <a:r>
              <a:t>CNPJ 62696791000193 · Duração e público-alvo · Regulamento · ID 1143317 · 2026-03-20 · versão 1 · p. 23 · 11.1 · https://fnet.bmfbovespa.com.br/fnet/publico/visualizarDocumento?id=1143317</a:t>
            </a:r>
          </a:p>
          <a:p>
            <a:r>
              <a:t>CNPJ 62696791000193 · Duração e público-alvo · Excerto da fonte:</a:t>
            </a:r>
          </a:p>
          <a:p>
            <a:r>
              <a:t>11.1 A Classe será liquidada (i) em caso da liquidação antecipada deliberada em Assembleia Especial de  Cotistas; ou (ii) pelo encerramento do Prazo de Duração da Classe.</a:t>
            </a:r>
          </a:p>
          <a:p>
            <a:r>
              <a:t>CNPJ 62696791000193 · Duração e público-alvo · Condição: Documentos atuais selecionados no inventário por categoria/escopo; a data documental isolada não comprova vigência jurídica.</a:t>
            </a:r>
          </a:p>
          <a:p>
            <a:r>
              <a:t>CNPJ 62696791000193 · Duração e público-alvo · Versão e prevalência: Documentos atuais selecionados no inventário por categoria/escopo; a data documental isolada não comprova vigência jurídica.</a:t>
            </a:r>
          </a:p>
          <a:p>
            <a:r>
              <a:t>CNPJ 55563624000109 · Duração e público-alvo · AGE · ID 1306189 · 2026-08-25 · versão 1 · p. 1 · 4.1 · https://fnet.bmfbovespa.com.br/fnet/publico/visualizarDocumento?id=1306189</a:t>
            </a:r>
          </a:p>
          <a:p>
            <a:r>
              <a:t>CNPJ 55563624000109 · Duração e público-alvo · Excerto da fonte:</a:t>
            </a:r>
          </a:p>
          <a:p>
            <a:r>
              <a:t>4.1 Nos termos do Anexo da Classe, aprovar:</a:t>
            </a:r>
          </a:p>
          <a:p>
            <a:r>
              <a:t>(i) a liquidação da Subclasse A da Classe, considerando o encerramento do seu prazo de duração, por meio do  resgate integral de Cotas da Subclasse A com entrega de financeiro aos Cotistas. Será utilizada como data  base no cálculo da cota do dia 25 de agosto de 2026, com efetivação no fechamento do dia 27 de agosto de  2026; e</a:t>
            </a:r>
          </a:p>
          <a:p>
            <a:r>
              <a:t>(ii) a liquidação antecipada da Subclasse C da Classe, por meio do resgate integral de Cotas da Subclasse C com  entrega de financeiro aos Cotistas. Será utilizada como data base no cálculo da cota do dia 25 de agosto de  2026, com efetivação no fechamento do dia 27 de agosto de 2026.</a:t>
            </a:r>
          </a:p>
          <a:p>
            <a:r>
              <a:t>CNPJ 55563624000109 · Duração e público-alvo · Condição: Documentos atuais selecionados no inventário por categoria/escopo; a data documental isolada não comprova vigência jurídica.</a:t>
            </a:r>
          </a:p>
          <a:p>
            <a:r>
              <a:t>CNPJ 55563624000109 · Duração e público-alvo · Versão e prevalência: Documentos atuais selecionados no inventário por categoria/escopo; a data documental isolada não comprova vigência jurídica.</a:t>
            </a:r>
          </a:p>
          <a:p>
            <a:r>
              <a:t>CNPJ 55563624000109 · Duração e público-alvo · Resumo do histórico: {"count": 6, "dates": ["2026-04-30"], "document_count": 2, "sources": [{"document_id": "1192614", "title": "Regulamento", "reference_date": "2026-04-30", "version": "1", "page": "9, 15, 45-50", "url": "https://fnet.bmfbovespa.com.br/fnet/publico/visualizarDocumento?id=1192614", "sha256": "f56e63ace0acde41d2f47fb48f1ac7f3f7df5e2d32de092d7c5e075a52516632"}, {"document_id": "1192614", "title": "Regulamento", "reference_date": "2026-04-30", "version": "1", "page": 5, "clause": "4.7.1", "url": "https://fnet.bmfbovespa.com.br/fnet/publico/visualizarDocumento?id=1192614", "sha256": "f56e63ace0acde41d2f47fb48f1ac7f3f7df5e2d32de092d7c5e075a52516632"}, {"document_id": "1192603", "title": "AGE", "reference_date": "2026-04-30", "version": "1", "page": 1, "clause": "4.1", "url": "https://fnet.bmfbovespa.com.br/fnet/publico/visualizarDocumento?id=1192603", "sha256": "f53ff2a5b715f5365536305a098f9cc0c54b5a01128942d784915bed8eeb0288"}], "reference": {"path": "history/55563624000109.json", "criterion_id": "duration_investors", "total_count": 6, "preview_count": 3, "full_text_deferred": true, "sha256": "7835d573fb58a3c19adf5b8ecc2aee2bdbb9a88f7a0c0209b5f262b64c7522e3"}}</a:t>
            </a:r>
          </a:p>
          <a:p>
            <a:r>
              <a:t>CNPJ 62552447000120 · Duração e público-alvo · Regulamento · ID 1200623 · 2026-05-21 · versão 1 · p. 22 · 10.4 · https://fnet.bmfbovespa.com.br/fnet/publico/visualizarDocumento?id=1200623</a:t>
            </a:r>
          </a:p>
          <a:p>
            <a:r>
              <a:t>CNPJ 62552447000120 · Duração e público-alvo · Excerto da fonte:</a:t>
            </a:r>
          </a:p>
          <a:p>
            <a:r>
              <a:t>10.4 Tendo em vista que a Classe é exclusivamente destinada a Investidores Profissionais, não serão  aplicáveis as vedações ao direito a voto em assembleia de cotistas dispostas no artigo 78 da Resolução  CVM 175, conf orme disposto no artigo 114 da ref erida Resolução.</a:t>
            </a:r>
          </a:p>
          <a:p>
            <a:r>
              <a:t>CNPJ 62552447000120 · Duração e público-alvo · Regulamento · ID 1200623 · 2026-05-21 · versão 1 · p. 35 · https://fnet.bmfbovespa.com.br/fnet/publico/visualizarDocumento?id=1200623</a:t>
            </a:r>
          </a:p>
          <a:p>
            <a:r>
              <a:t>CNPJ 62552447000120 · Duração e público-alvo · Excerto da fonte:</a:t>
            </a:r>
          </a:p>
          <a:p>
            <a:r>
              <a:t>ativos desses emissores, causando perdas à Classe e ao Cotista. Além disso, a f alta de capacidade ou disposição de pagar por qualquer dos emissores dos Ativos Financeiros de Liquidez ou das contrapartes nas transações que compõem a Carteira causará perdas à Classe, e o que também poderá incorrer em custos para f ins de recuperação de seus recebíveis.</a:t>
            </a:r>
          </a:p>
          <a:p>
            <a:r>
              <a:t>(v) Riscos associados aos Devedores: no caso de Devedores no âmbito das operações de consignado privado, a sua capacidade de pagamento poderá ser af etada se, por exemplo, o Devedor tiver o seu contrato de emprego rescindido ou em virtude de decisão judicial, o Devedor for obrigado a pagar alimentos, que têm prioridade sobre o empréstimo para f ins de desconto na f 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 etar a rentabilidade da Classe. Já no caso de Devedores no âmbito das operações de Saque-aniversário, como os Direitos Creditórios a serem endossados à Classe serão descontados pelo FGTS da remuneração do Devedor, na ocorrência de qualquer evento que, nos termos da legislação aplicável, determine o pagamento antecipado do Saque-aniversário ao Devedor, a exemplo do falecimento do Devedor, dentre outros, as parcelas do Saque- aniversário serão pagas antecipadamente e a Classe deverá utilizar tais montantes no pré-pagamento dos Direitos Creditórios. Nesta hipótese, a Classe poderá não encontrar Direitos Creditórios disponíveis para serem adquiridos pela Classe, o que poderá af etar a rentabilidade da Classe.</a:t>
            </a:r>
          </a:p>
          <a:p>
            <a:r>
              <a:t>Risco de liquidez</a:t>
            </a:r>
          </a:p>
          <a:p>
            <a:r>
              <a:t>(i) Risco de liquidez: consiste no risco de redução ou inexistência de demanda pelos ativos que compõem a Classe nos respectivos mercados em que são negociados, devido às condições específicas desses ativos ou aos mercados em que são negociados. Devido a esses riscos, o Gestor poderá encontrar dificuldades em liquidar posições ou negociar esses ativos pelo preço e prazo desejados, de acordo com a estratégia de gestão adotada pela Classe, que permanecerá exposto, durante o período de baixa liquidez, aos riscos associados a esses ativos e posições assumidas em mercados de derivativos, se houver, que poderão até exigir que o Gestor aceite descontos em seus preços para realizar negociações no mercado. Esses f atores poderão prejudicar o pagamento de Amortizações ao Cotista, nos valores e dentro dos termos aqui estabelecidos.</a:t>
            </a:r>
          </a:p>
          <a:p>
            <a:r>
              <a:t>(ii) Riscos do mercado secundário: A Classe é constituída sob a f orma de condomínio fechado, de modo que as Cotas somente serão resgatadas em virtude da liquidação da Classe. Uma vez que o Prazo de Duração da Classe é indeterminado, o Cotista titular das Cotas não terá liquidez em seu investimento na Classe, exceto</a:t>
            </a:r>
          </a:p>
          <a:p>
            <a:r>
              <a:t>(a) por ocasião das Amortizações e dos resgates, nos termos deste Regulamento; (b) por meio da alienação de suas Cotas no mercado secundário; ou (c) na liquidação antecipada do FUNDO ou da Classe.</a:t>
            </a:r>
          </a:p>
          <a:p>
            <a:r>
              <a:t>Além disso, atualmente, o mercado secundário de cotas de fundos de investimento apresenta baixa liquidez, o que pode dificultar a venda das Cotas ou ocasionar a obtenção de um preço de venda que cause perda de patrimônio ao Cotista. Não há qualquer garantia do Administrador, do Gestor, da consultora ou do Custodiante em relação à possibilidade de venda das Cotas no mercado secundário ou ao preço obtido por elas, ou mesmo garantia de saída ao Cotista.</a:t>
            </a:r>
          </a:p>
          <a:p>
            <a:r>
              <a:t>Riscos específicos</a:t>
            </a:r>
          </a:p>
          <a:p>
            <a:r>
              <a:t>(i)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ficar inadimplente e, consequentemente, não haverá repasse à Classe do respectivo Direito Creditório, o que poderá resultar em perdas f inanceiras à Classe e aos Cotistas. Para os f ins deste Regulamento, “Empregador” signif ica a empresa com qual o Devedor mantém vínculo empregatício registrado junto à CTPS.</a:t>
            </a:r>
          </a:p>
          <a:p>
            <a:r>
              <a:t>(ii) Risco do Empregador não efetuar o desconto em folha: o repasse dos recursos oriundos dos Direitos Creditórios à Classe depende da realização, pelo Empregador, da escrituração da Consignação a ser</a:t>
            </a:r>
          </a:p>
          <a:p>
            <a:r>
              <a:t>CNPJ 62552447000120 · Duração e público-alvo · Regulamento · ID 1200623 · 2026-05-21 · versão 1 · p. 1 · 1.3 · https://fnet.bmfbovespa.com.br/fnet/publico/visualizarDocumento?id=1200623</a:t>
            </a:r>
          </a:p>
          <a:p>
            <a:r>
              <a:t>CNPJ 62552447000120 · Duração e público-alvo · Excerto da fonte:</a:t>
            </a:r>
          </a:p>
          <a:p>
            <a:r>
              <a:t>1.3 Durante o seu prazo de duração, o Fundo, por ato conjunto dos Prestadores de Serviços Essenciais,  poderá constituir diferentes Classes e Subclasses , sendo que cada Classe terá patrimônio segregado e</a:t>
            </a:r>
          </a:p>
          <a:p>
            <a:r>
              <a:t>CNPJ 62552447000120 · Duração e público-alvo · Condição: Documentos atuais selecionados no inventário por categoria/escopo; a data documental isolada não comprova vigência jurídica.</a:t>
            </a:r>
          </a:p>
          <a:p>
            <a:r>
              <a:t>CNPJ 62552447000120 · Duração e público-alvo · Versão e prevalência: Documentos atuais selecionados no inventário por categoria/escopo; a data documental isolada não comprova vigência jurídica.</a:t>
            </a:r>
          </a:p>
          <a:p>
            <a:r>
              <a:t>CNPJ 62552447000120 · Duração e público-alvo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"duration_investors", "total_count": 1, "preview_count": 1, "full_text_deferred": true, "sha256": "d95db8c0613d67ee84118c734588665265ea6b02f86a0318d6a844cbe1d0f82f"}}</a:t>
            </a:r>
          </a:p>
          <a:p>
            <a:r>
              <a:t>CNPJ 63953620000165 · Duração e público-alvo · Anexo ao Regulamento · ID 1222863 · 2026-06-02 · versão 1 · p. 2 · https://fnet.bmfbovespa.com.br/fnet/publico/visualizarDocumento?id=1222863</a:t>
            </a:r>
          </a:p>
          <a:p>
            <a:r>
              <a:t>CNPJ 63953620000165 · Duração e público-alvo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Duração e público-alvo · Anexo ao Regulamento · ID 1222863 · 2026-06-02 · versão 1 · p. 1 · 1.1 · https://fnet.bmfbovespa.com.br/fnet/publico/visualizarDocumento?id=1222863</a:t>
            </a:r>
          </a:p>
          <a:p>
            <a:r>
              <a:t>CNPJ 63953620000165 · Duração e público-alvo · Excerto da fonte:</a:t>
            </a:r>
          </a:p>
          <a:p>
            <a:r>
              <a:t>1.1 As principais características da Classe Consignado Privado (para fins deste Anexo, “Classe”) estão descritas  abaixo:</a:t>
            </a:r>
          </a:p>
          <a:p>
            <a:r>
              <a:t> Tipo de Condomínio Fechado.</a:t>
            </a:r>
          </a:p>
          <a:p>
            <a:r>
              <a:t> Indeterminado, exceto se de outra forma vier a ser deliberado pelos Cotistas  Prazo de Duração  reunidos em Assembleia Especial de Cotistas. (“Prazo de Duração”)  Tipo “Financeiro”.</a:t>
            </a:r>
          </a:p>
          <a:p>
            <a:r>
              <a:t> Classificação ANBIMA  Foco de atuação “Créditos Consignados”.</a:t>
            </a:r>
          </a:p>
          <a:p>
            <a:r>
              <a:t> O objetivo da classe é proporcionar aos seus Cotistas a valorização de suas Cotas  por meio da aplicação de seu Patrimônio Líquido (conforme definido abaixo) na  aquisição de: (i) “Direitos Creditórios Crédito Consignado”, representados por  cédula de crédito bancário regida pela Lei nº 10.931, emitida eletronicamente por  um devedor em favor do endossante (“CCB”) e, consequentemente, os recebíveis  decorrente de cada uma das parcelas vincendas, representando um empréstimo  consignado concedido pelo endossante ao devedor, e cujo pagamento ordinário  é feito por desconto de cada prestação vincenda de uma CCB na folha de  pagamentos do devedor (“Consignação”), efetuada pela Caixa Econômica  Federal, de acordo com a legislação aplicável e em conformidade com os  procedimentos estabelecidos no convênio celebrado entre o Endossante e a  Empresa de Tecnologia e Informações da Previdência – DATAPREV e paga na  Conta Vinculada do Endossante (“Convênio Consignado Privado”); e/ou (ii)  “Direitos Creditórios TVM”, representados por direitos, títulos e/ou valores  mobiliários representativos de créditos originados no âmbito de operações de  sociedades integrantes do conglomerado econômico de instituições financeiras  classificadas como S1 pelo BACEN, desde que não representem títulos de  emissão ou coobrigação de instituições financeiras, bem como cotas de fundos  de investimento que invistam preponderantemente nestes direitos, títulos e/ou  Objetivo  valores mobiliários (Direitos Creditórios TVM quando referidos em conjunto  com os Direitos Creditórios Consignado Privado, “Direitos Creditórios”)  observados todos os limites de composição e diversificação da carteira da Classe  (“Carteira”), estabelecidos neste Regulamento e na regulamentação aplicável.</a:t>
            </a:r>
          </a:p>
          <a:p>
            <a:r>
              <a:t> Subsidiariamente, a parcela do Patrimônio Líquido que não esteja alocada em  Direitos Creditórios poderá estar alocado em: (1) certificados de depósito  bancário (CDB) ou recibos de depósito bancário (RDB) com prazo máximo de  vencimento equivalente ao prazo remanescente do Período de Investimento, com  liquidez diária, emitidos por Parati Crédito, Financiamento e Investimento S.A.</a:t>
            </a:r>
          </a:p>
          <a:p>
            <a:r>
              <a:t> e/ou pelo Endossante (“Ativos de Liquidez MT”); e/ou (2) (i) moeda corrente  nacional; (ii) títulos do Tesouro SELIC, anteriormente denominado letra financeira  do Tesouro Nacional (LFT); (iii) certificados de depósito bancário (CDB) ou recibos  de depósito bancário (RDB) com prazo máximo de vencimento equivalente ao  prazo remanescente do Período de Investimento, com liquidez diária, emitidos  por (a) Itaú Unibanco S.A.; (b) Banco Bradesco S.A.; (c) Caixa Econômica Federal;</a:t>
            </a:r>
          </a:p>
          <a:p>
            <a:r>
              <a:t> (d) Banco do Brasil S.A.; (e) Banco Santander (Brasil) S.A.; (f) Banco BTG Pactual  S.A.; (g) Banco Sistema S.A. (“Instituições Autorizadas”); (iv) operações  compromissadas, desde que lastreadas nos títulos mencionados nas alíneas (i) a</a:t>
            </a:r>
          </a:p>
          <a:p>
            <a:r>
              <a:t> (iii) acima, emitidas por Instituições Autorizadas, com liquidez diária e vencimento</a:t>
            </a:r>
          </a:p>
          <a:p>
            <a:r>
              <a:t>CNPJ 63953620000165 · Duração e público-alvo · Anexo ao Regulamento · ID 1222863 · 2026-06-02 · versão 1 · p. 10 · 6.7.1 · https://fnet.bmfbovespa.com.br/fnet/publico/visualizarDocumento?id=1222863</a:t>
            </a:r>
          </a:p>
          <a:p>
            <a:r>
              <a:t>CNPJ 63953620000165 · Duração e público-alvo · Excerto da fonte:</a:t>
            </a:r>
          </a:p>
          <a:p>
            <a:r>
              <a:t>6.7.1 As Chamadas de Capital para a realização de investimentos serão realizadas a qualquer momento  durante o Período de Investimento e estarão limitadas ao valor do capital subscrito de cada Cotista. As  Chamadas de Capital para o pagamento de despesas e encargos do Fundo, com exceção de despesas  relacionadas à instrumentos de derivativos e/ou Encargos não previstos no âmbito deste regulamento,  poderão ser realizadas a qualquer momento durante o Prazo de Duração, mas não estarão limitadas ao  valor do capital subscrito de cada Cotista.</a:t>
            </a:r>
          </a:p>
          <a:p>
            <a:r>
              <a:t>CNPJ 63953620000165 · Duração e público-alvo · Condição: Documentos atuais selecionados no inventário por categoria/escopo; a data documental isolada não comprova vigência jurídica.</a:t>
            </a:r>
          </a:p>
          <a:p>
            <a:r>
              <a:t>CNPJ 63953620000165 · Duração e público-alvo · Versão e prevalência: Documentos atuais selecionados no inventário por categoria/escopo; a data documental isolada não comprova vigência jurídica.</a:t>
            </a:r>
          </a:p>
          <a:p>
            <a:r>
              <a:t>CNPJ 63953620000165 · Duração e público-alvo · Resumo do histórico: {"count": 8, "dates": ["2026-04-28", "2026-05-08", "2026-05-15"], "document_count": 3, "sources": [{"document_id": "1327859", "title": "Demonstrações Financeiras - Fusão, cisão e incorporação", "reference_date": "2026-05-15", "version": "1", "page": 9, "url": "https://fnet.bmfbovespa.com.br/fnet/publico/visualizarDocumento?id=1327859", "sha256": "dca1c68babb97f887528c3e2e47596a9c30f507b067981a35655b2f2da9c8054"}, {"document_id": "1298691", "title": "Demonstrações Financeiras - Fusão, cisão e incorporação", "reference_date": "2026-05-08", "version": "1", "page": 9, "url": "https://fnet.bmfbovespa.com.br/fnet/publico/visualizarDocumento?id=1298691", "sha256": "58c570d9b8d4d265330d3db3ea81c435b8e44a6dab4002aa37790652a1ee9819"}, {"document_id": "1282180", "title": "Demonstrações Financeiras - Fusão, cisão e incorporação", "reference_date": "2026-04-28", "version": "1", "page": 9, "url": "https://fnet.bmfbovespa.com.br/fnet/publico/visualizarDocumento?id=1282180", "sha256": "afaaa0e6809be4385e5bdb6c911aac582032c5bdbac3d7750234bf9eaf00438a"}], "reference": {"path": "history/63953620000165.json", "criterion_id": "duration_investors",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Alocação e perímetro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Alocação mínima · Base da comparação IME: {"criterion_id": "allocation", "observed_value": 91.84981349574433, "unit": "percent", "competence": "08/2026", "status": "not_comparable", "reason": "Vigência efetiva não comprovada; data do documento isolada não certifica enquadramento histórico.", "formula": "credit_rights / net_asset_value × 100",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50.0}</a:t>
            </a:r>
          </a:p>
          <a:p>
            <a:r>
              <a:t>CNPJ 54871427000194 · Alocação mínima · Regulamento · ID 670691 · 28/04/2024 · versão Regulamento — referência 28/04/2024 · p. 11 · Anexo I, 4.9 · https://fnet.bmfbovespa.com.br/fnet/publico/visualizarDocumento?id=670691</a:t>
            </a:r>
          </a:p>
          <a:p>
            <a:r>
              <a:t>CNPJ 54871427000194 · Alocação mínima · Excerto da fonte:</a:t>
            </a:r>
          </a:p>
          <a:p>
            <a:r>
              <a:t>4.9 Decorridos 180 (cento e oitenta) dias da Data da 1ª Integralização de Cotas, a Classe deverá manter alocado, no mínimo, 50% (cinquenta por cento) do seu Patrimônio Líquido em Direitos Creditórios . 4.10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4.11 A Classe poderá, direta ou indiretamente e, nos termos da legislação aplicável: (i) adquirir Direitos Creditórios que sejam cedidos e/ou originados pelo ADMINISTRADOR e/ou pelo GESTOR, ou partes a eles relacionadas, tal como definidas pelas regras contábeis que tratam desse assunto; e (ii) ceder Direitos Creditórios a qualquer das pessoas, fundos de investimento ou entidades referidas n</a:t>
            </a:r>
          </a:p>
          <a:p>
            <a:r>
              <a:t>CNPJ 54871427000194 · Alocação mínima · Mecânica: {"operator": "&gt;=", "limit": 50.0, "unit": "percent", "numerator": "credit_rights", "denominator": "net_asset_value", "frequency": "daily", "layer": "54871427000194", "document_date": "2024-04-28", "effective_status": "document_date_only", "initial_days": 180}</a:t>
            </a:r>
          </a:p>
          <a:p>
            <a:r>
              <a:t>CNPJ 54871427000194 · Alocação mínima · Versão e prevalência: Leitura específica das cláusulas indicadas; condições e conflitos preservados. Seleção documental atual não comprova vigência jurídica por data isolada.</a:t>
            </a:r>
          </a:p>
          <a:p>
            <a:r>
              <a:t>CNPJ 54871427000194 · Alocação mínima · Resumo do histórico: {"count": 2, "dates": ["2024-04-19", "2024-04-28"], "document_count": 2, "sources": [{"document_id": "670691", "title": "Regulamento", "reference_date": "2024-04-28", "version": "1", "page": "11", "url": "https://fnet.bmfbovespa.com.br/fnet/publico/visualizarDocumento?id=670691", "sha256": "bf16dd7f1a62d5cdbf2e2d54fef81783783f7310fbc99c3a8f00459bdf9d037b"}, {"document_id": "670689", "title": "Regulamento", "reference_date": "2024-04-19", "version": "1", "page": 11, "clause": "4.9", "url": "https://fnet.bmfbovespa.com.br/fnet/publico/visualizarDocumento?id=670689", "sha256": "891bc9bc5d87bbc02ec139077a84d2702eb81ea02035fb71d24f5b8366b94a0b"}], "reference": {"path": "history/54871427000194.json", "criterion_id": "allocation", "total_count": 2, "preview_count": 2, "full_text_deferred": true, "sha256": "35d7cd99be50c7287c9fb675cf4f2e736002315295a225a9efa79c8d9186d874"}}</a:t>
            </a:r>
          </a:p>
          <a:p>
            <a:r>
              <a:t>CNPJ 60010416000112 · Alocação mínima · Base da comparação IME: {"criterion_id": "allocation", "observed_value": 117.78665480900618, "unit": "percent", "competence": "08/2026", "status": "not_comparable", "reason": "Vigência efetiva não comprovada; data do documento isolada não certifica enquadramento histórico.", "formula": "credit_rights / net_asset_value × 100",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50.0}</a:t>
            </a:r>
          </a:p>
          <a:p>
            <a:r>
              <a:t>CNPJ 60010416000112 · Alocação mínima · Regulamento · ID 1051393 · 09/10/2025 · versão Regulamento09/10/2025 · p. 11 · AnexoI4.6 · https://fnet.bmfbovespa.com.br/fnet/publico/visualizarDocumento?id=1051393</a:t>
            </a:r>
          </a:p>
          <a:p>
            <a:r>
              <a:t>CNPJ 60010416000112 · Alocação mínima · Excerto da fonte:</a:t>
            </a:r>
          </a:p>
          <a:p>
            <a:r>
              <a:t>4.6 Decorridos 180 (cento e oitenta) dias do início de suas atividades, a Classe deverá manter alocado, no mínimo: para f ins tributários, 67% (sessenta e sete por cento) do seu Patrimônio Líquido em Direitos Creditórios, nos termos da Resolução CMN 5.111; e para fins regulatórios, 50% (cinquenta por cento) do seu Patrimônio Líquido em Direitos Creditórios, nos termos da Resolução CVM 175. BTG Pactual SAC: 0800 772 28 27 - Ouvidoria: 0800 722 00 48 - btgpactual.com 11</a:t>
            </a:r>
          </a:p>
          <a:p>
            <a:r>
              <a:t>CNPJ 60010416000112 · Alocação mínima · Mecânica: {"operator": "&gt;=", "unit": "percent", "denominator": "net_asset_value", "frequency": "not_stated", "layer": "class", "effective_status": "document_date_only", "document_date": "2025-10-09", "numerator": "credit_rights", "limit": 50.0, "requires_initial_date": true}</a:t>
            </a:r>
          </a:p>
          <a:p>
            <a:r>
              <a:t>CNPJ 60010416000112 · Alocação mínima · Versão e prevalência: Leitura específica das cláusulas indicadas; condições e conflitos preservados. Seleção documental atual não comprova vigência jurídica por data isolada.</a:t>
            </a:r>
          </a:p>
          <a:p>
            <a:r>
              <a:t>CNPJ 60010416000112 · Alocação mínima · Resumo do histórico: {"count": 2, "dates": ["2025-03-20", "2025-10-09"], "document_count": 2, "sources": [{"document_id": "1051393", "title": "Regulamento", "reference_date": "2025-10-09", "version": "1", "page": "11", "url": "https://fnet.bmfbovespa.com.br/fnet/publico/visualizarDocumento?id=1051393", "sha256": "8469d613078ffd5a6c1d217885d8a397a16342c0b937ae4aa24b106505f233ae"}, {"document_id": "993786", "title": "Regulamento", "reference_date": "2025-03-20", "version": "1", "page": 6, "clause": "5.3", "url": "https://fnet.bmfbovespa.com.br/fnet/publico/visualizarDocumento?id=993786", "sha256": "fd0fdd369a195510d81f81f505195a0b09e5f43522a990afa7d58c4f872921c8"}], "reference": {"path": "history/60010416000112.json", "criterion_id": "allocation", "total_count": 2, "preview_count": 2, "full_text_deferred": true, "sha256": "8e2bd813f4c51cf01f6bfaad164bafe69d2bbb192f753eac92da3a01c2e63046"}}</a:t>
            </a:r>
          </a:p>
          <a:p>
            <a:r>
              <a:t>CNPJ 62696791000193 · Alocação mínima · Base da comparação IME: {"criterion_id": "allocation", "observed_value": null, "unit": "percent", "competence": "08/2026", "status": "not_comparable", "reason": "Operador, unidade, numerador ou base contratual sem correspondência exata no IME; proxies de PL/ativos não são intercambiáveis. CPR declarada no FIAGRO não comprova elegibilidade individual nem correspondência integral com a definição contratual de direitos creditórios do agronegócio.",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51.0, "comparison_required": true, "context_value": 99.72659520720684, "context_unit": "percent", "context_formula": "CPR / PL (rubrica declarada no FIAGRO)"}</a:t>
            </a:r>
          </a:p>
          <a:p>
            <a:r>
              <a:t>CNPJ 62696791000193 · Alocação mínima · Regulamento · ID 1143317 · 20/03/2026 · versão Regulamento — referência 20/03/2026 · p. 10 · Anexo I, 4.2 · https://fnet.bmfbovespa.com.br/fnet/publico/visualizarDocumento?id=1143317</a:t>
            </a:r>
          </a:p>
          <a:p>
            <a:r>
              <a:t>CNPJ 62696791000193 · Alocação mínima · Excerto da fonte:</a:t>
            </a:r>
          </a:p>
          <a:p>
            <a:r>
              <a:t>4.2 Decorridos 180 (cento e oitenta) dias do início de suas atividades, a Classe deverá possuir parcela mínima de 51% (cinquenta e um por cento) de seu Patrimônio Líquido representados por Direitos Creditórios do Agronegócio, enquanto a parcela de 49% (quarenta e nove por cento) remanescente deverá ser alocada em Outros Ativos ou Ativos Financeiros de Liquidez. 4.3 Os Direitos Creditórios do Agronegócio serão adquiridos integral ou parcialmente, sempre de acordo com a Política de Investimentos. 4.4 Tendo em vista (i) a natureza variada dos Direitos Creditórios do Agronegócio passíveis de aquisição pela Classe; (ii) a amplitude da Política de Investimentos; e (iii) a potencial diversificação de Cedentes/Endossantes e Devedores, não é possível precisar os processos de origem dos Direitos Creditórios do Agronegócio e as políticas de concessão de crédito adotadas pelos Cedentes/Endossantes. 4.5 Os Direitos Creditórios do Agronegócio deverão contar com toda a documentação necessária para o exercício das prerrogativas decorrentes da titularidade dos ativos, e capaz de comprovar a origem, a existência e a exigibilidade dos Direitos Creditórios do Agronegócio (“Documentos Comprobatórios”)</a:t>
            </a:r>
          </a:p>
          <a:p>
            <a:r>
              <a:t>CNPJ 62696791000193 · Alocação mínima · AGE · ID 1143319 · 20/03/2026 10:00 · versão AGE — referência 20/03/2026 10:00 · p. 3 · AGC 20/03/2026, 4.1(j)–(k) · https://fnet.bmfbovespa.com.br/fnet/publico/visualizarDocumento?id=1143319</a:t>
            </a:r>
          </a:p>
          <a:p>
            <a:r>
              <a:t>CNPJ 62696791000193 · Alocação mínima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Alocação mínima · Condição: Vigente a partir do fechamento de 23/03/2026. O agregado genérico de direitos do IME não comprova, sozinho, a natureza agronegócio de todos os ativos nem a conclusão da carência inicial.</a:t>
            </a:r>
          </a:p>
          <a:p>
            <a:r>
              <a:t>CNPJ 62696791000193 · Alocação mínima · Mecânica: {"operator": "&gt;=", "limit": 51.0, "unit": "percent", "numerator": "agribusiness_credit_rights", "denominator": "net_asset_value", "frequency": "daily", "layer": "62696791000193", "effective_from": "2026-03-23", "effective_status": "explicit_assembly_effective_date", "initial_days": 180, "initial_date": null}</a:t>
            </a:r>
          </a:p>
          <a:p>
            <a:r>
              <a:t>CNPJ 62696791000193 · Alocação mínima · Versão e prevalência: Leitura específica das cláusulas indicadas; condições e conflitos preservados. Seleção documental atual não comprova vigência jurídica por data isolada.</a:t>
            </a:r>
          </a:p>
          <a:p>
            <a:r>
              <a:t>CNPJ 55563624000109 · Alocação mínima · Base da comparação IME: {"criterion_id": "allocation", "observed_value": 99.87020304792446, "unit": "percent", "competence": "08/2026", "status": "not_comparable", "reason": "Vigência efetiva não comprovada; data do documento isolada não certifica enquadramento histórico.", "formula": "fidc_quotas / net_asset_value × 100",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67.0}</a:t>
            </a:r>
          </a:p>
          <a:p>
            <a:r>
              <a:t>CNPJ 55563624000109 · Alocação mínima · Regulamento · ID 1192614 · 30/04/2026 · versão Regulamento30/04/2026 · p. 13 · AnexoI4.10 · https://fnet.bmfbovespa.com.br/fnet/publico/visualizarDocumento?id=1192614</a:t>
            </a:r>
          </a:p>
          <a:p>
            <a:r>
              <a:t>CNPJ 55563624000109 · Alocação mínima · Excerto da fonte:</a:t>
            </a:r>
          </a:p>
          <a:p>
            <a:r>
              <a:t>4.10 Decorridos 180 (cento e oitenta) dias da Data da 1ª Integralização da Classe, a Classe deverá manter alocado, no mínimo, 67% (sessenta e sete por cento) do seu Patrimônio Líquido em Cotas da Classe Investida. 4.11 Nos termos dos artigos 45, parágrafo 7º, e 47 parágrafo único do Anexo Normativo II à Resolução CVM 175, uma vez que as Cotas são destinadas exclusivamente a Investidores Profissionais, a Classe poderá ter até 100% (cem por cento) de seu Patrimônio Líquido alocado em Cotas da Classe Investida, as quais são emitidas pela Classe Investida.</a:t>
            </a:r>
          </a:p>
          <a:p>
            <a:r>
              <a:t>CNPJ 55563624000109 · Alocação mínima · Regulamento · ID 1192614 · 30/04/2026 · versão Regulamento30/04/2026 · p. 12 · AnexoI4.9 · https://fnet.bmfbovespa.com.br/fnet/publico/visualizarDocumento?id=1192614</a:t>
            </a:r>
          </a:p>
          <a:p>
            <a:r>
              <a:t>CNPJ 55563624000109 · Alocação mínima · Excerto da fonte:</a:t>
            </a:r>
          </a:p>
          <a:p>
            <a:r>
              <a:t>4.9 A parcela do Patrimônio Líquido que não estiver alocada em Cotas da Classe Investida será necessariamente alocada em Ativos Financeiros de Liquidez. BTG Pactual SAC: 0800 772 28 27 - Ouvidoria: 0800 722 00 48 - btgpactual.com 5</a:t>
            </a:r>
          </a:p>
          <a:p>
            <a:r>
              <a:t>CNPJ 55563624000109 · Alocação mínima · Mecânica: {"operator": "&gt;=", "limit": 67.0, "unit": "percent", "numerator": "fidc_quotas", "denominator": "net_asset_value", "frequency": "not_stated", "layer": "class", "effective_status": "document_date_only", "document_date": "2026-04-30", "requires_initial_date": true}</a:t>
            </a:r>
          </a:p>
          <a:p>
            <a:r>
              <a:t>CNPJ 55563624000109 · Alocação mínima · Versão e prevalência: Leitura específica das cláusulas indicadas; condições e conflitos preservados. Seleção documental atual não comprova vigência jurídica por data isolada.</a:t>
            </a:r>
          </a:p>
          <a:p>
            <a:r>
              <a:t>CNPJ 55563624000109 · Alocação mínima · Resumo do histórico: {"count": 1, "dates": ["2026-04-30"], "document_count": 1, "sources": [{"document_id": "1192614", "title": "Regulamento", "reference_date": "2026-04-30", "version": "1", "page": "11-13", "url": "https://fnet.bmfbovespa.com.br/fnet/publico/visualizarDocumento?id=1192614", "sha256": "f56e63ace0acde41d2f47fb48f1ac7f3f7df5e2d32de092d7c5e075a52516632"}], "reference": {"path": "history/55563624000109.json", "criterion_id": "allocation", "total_count": 1, "preview_count": 1, "full_text_deferred": true, "sha256": "7835d573fb58a3c19adf5b8ecc2aee2bdbb9a88f7a0c0209b5f262b64c7522e3"}}</a:t>
            </a:r>
          </a:p>
          <a:p>
            <a:r>
              <a:t>CNPJ 62552447000120 · Alocação mínima · Base da comparação IME: {"criterion_id": "allocation", "observed_value": 104.36099466414683, "unit": "percent", "competence": "08/2026", "status": "not_comparable", "reason": "Vigência efetiva não comprovada; data do documento isolada não certifica enquadramento histórico.", "formula": "credit_rights / net_asset_value × 100",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50.0}</a:t>
            </a:r>
          </a:p>
          <a:p>
            <a:r>
              <a:t>CNPJ 62552447000120 · Alocação mínima · Regulamento · ID 1200623 · 21/05/2026 · versão Consolidado21/05/2026 aprovado pelo ato1200625 · p. 14 · AnexoI4.9 · https://fnet.bmfbovespa.com.br/fnet/publico/visualizarDocumento?id=1200623</a:t>
            </a:r>
          </a:p>
          <a:p>
            <a:r>
              <a:t>CNPJ 62552447000120 · Alocação mínima · Excerto da fonte:</a:t>
            </a:r>
          </a:p>
          <a:p>
            <a:r>
              <a:t>4.9 Decorridos 180 (cento e oitenta) dias da Data da Primeira Integralização, a Classe deverá manter alocados em Direitos Creditórios, no mínimo, para fins tributários, 67% (sessenta e sete por cento) do seu Patrimônio Líquido, nos termos da Lei 14.754 e da Resolução CMN 5.111, e, para fins regulatórios, 50% (cinquenta por cento) do seu Patrimônio Líquido, nos termos da Resolução CVM 175. Eventual desenquadramento da Carteira obrigará o Gestor aos procedimentos de desenquadramento e reenquadramento previstos na Lei 14.754 e na Resolução CMN 5.111, para f ins tributários, e na Resolução CVM 175, par</a:t>
            </a:r>
          </a:p>
          <a:p>
            <a:r>
              <a:t>CNPJ 62552447000120 · Alocação mínima · Mecânica: {"operator": "&gt;=", "unit": "percent", "numerator": "credit_rights", "denominator": "net_asset_value", "frequency": "not_stated", "layer": "class", "effective_status": "document_date_only", "document_date": "2026-05-21", "requires_initial_date": true, "limit": 50.0}</a:t>
            </a:r>
          </a:p>
          <a:p>
            <a:r>
              <a:t>CNPJ 62552447000120 · Alocação mínima · Versão e prevalência: Leitura específica das cláusulas indicadas; condições e conflitos preservados. Seleção documental atual não comprova vigência jurídica por data isolada.</a:t>
            </a:r>
          </a:p>
          <a:p>
            <a:r>
              <a:t>CNPJ 63953620000165 · Alocação mínima · Base da comparação IME: {"criterion_id": "allocation", "observed_value": 93.29241106598856, "unit": "percent", "competence": "08/2026", "status": "not_comparable", "reason": "Vigência efetiva não comprovada; data do documento isolada não certifica enquadramento histórico.", "formula": "credit_rights / net_asset_value × 100",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50.0}</a:t>
            </a:r>
          </a:p>
          <a:p>
            <a:r>
              <a:t>CNPJ 63953620000165 · Alocação mínima · Anexo ao Regulamento · ID 1222863 · 02/06/2026 · versão AnexoConsignadoPrivado02/06/2026 · p. 6 · 4.13 · https://fnet.bmfbovespa.com.br/fnet/publico/visualizarDocumento?id=1222863</a:t>
            </a:r>
          </a:p>
          <a:p>
            <a:r>
              <a:t>CNPJ 63953620000165 · Alocação mínima · Excerto da fonte:</a:t>
            </a:r>
          </a:p>
          <a:p>
            <a:r>
              <a:t>4.13 Decorridos 180 (cento e oitenta) dias do início de suas atividades, a Classe deverá manter alocado, no mínimo, para fins tributários, 67% (sessenta e sete por cento) do seu Patrimônio Líquido em Direitos Creditórios, nos termos da Resolução CMN 5.111, e para fins regulatórios, 50% (cinquenta por cento) do seu Patrimônio Líquido em Direitos Creditórios, nos termos da Resolução CVM 175. 4.14 Nos termos do Art. 45, §7º, inciso II, do Anexo Normativo II da Resolução CVM 175, a Classe poderá ter até 100% (cem por cento) de seu Patrimônio Líquido alocado em Direitos Creditórios, derivativos, observado o disposto nest</a:t>
            </a:r>
          </a:p>
          <a:p>
            <a:r>
              <a:t>CNPJ 63953620000165 · Alocação mínima · Mecânica: {"operator": "&gt;=", "unit": "percent", "denominator": "net_asset_value", "frequency": "not_stated", "layer": "class", "effective_status": "document_date_only", "document_date": "2026-06-02", "limit": 50.0, "numerator": "credit_rights", "requires_initial_date": true}</a:t>
            </a:r>
          </a:p>
          <a:p>
            <a:r>
              <a:t>CNPJ 63953620000165 · Alocação mínima · Versão e prevalência: Leitura específica das cláusulas indicadas; condições e conflitos preservados. Seleção documental atual não comprova vigência jurídica por data isolada.</a:t>
            </a:r>
          </a:p>
          <a:p>
            <a:r>
              <a:t>CNPJ 54871427000194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null, "comparison_required": true, "context_formula": "Direitos creditórios / PL", "context_value": 91.84981349574433, "context_unit": "percent"}</a:t>
            </a:r>
          </a:p>
          <a:p>
            <a:r>
              <a:t>CNPJ 54871427000194 · Alocação para tratamento tributário · Regulamento · ID 670691 · 2024-04-28 · versão 1 · p. 5 · https://fnet.bmfbovespa.com.br/fnet/publico/visualizarDocumento?id=670691</a:t>
            </a:r>
          </a:p>
          <a:p>
            <a:r>
              <a:t>CNPJ 54871427000194 · Alocação para tratamento tributário · Excerto da fonte:</a:t>
            </a:r>
          </a:p>
          <a:p>
            <a:r>
              <a:t>Os rendimentos auf eridos pelo cotista do FUNDO estarão sujeitos à tributação pelo IR, à alíquota de  15% (quinze por cento), na data da distribuição de rendimentos ou d a amortização de cotas,  considerando que o FUNDO seja classificado como entidade de investimento e cumpra os critérios de  composição da carteira com, no mínimo, 67% (sessenta e sete por cento) de direitos creditórios de  acordo com a Lei nº 14.754, de 12 de dezembro de 2023 (“Lei 14.754”) e a Resolução do Conselho  Monetário Nacional nº 5.111, de 21 de dezembro de 2023 (“Resolução CMN 5.111”).</a:t>
            </a:r>
          </a:p>
          <a:p>
            <a:r>
              <a:t>CNPJ 54871427000194 · Alocação para tratamento tributário · Regulamento · ID 670691 · 2024-04-28 · versão 1 · p. 5 · https://fnet.bmfbovespa.com.br/fnet/publico/visualizarDocumento?id=670691</a:t>
            </a:r>
          </a:p>
          <a:p>
            <a:r>
              <a:t>CNPJ 54871427000194 · Alocação para tratamento tributário · Excerto da fonte:</a:t>
            </a:r>
          </a:p>
          <a:p>
            <a:r>
              <a:t>A GESTORA do FUNDO buscará manter o cumprimento do requisito de composição da carteira do  FUNDO com, no mínimo 67% (sessenta e sete por cento) em direitos creditórios acima comentados.</a:t>
            </a:r>
          </a:p>
          <a:p>
            <a:r>
              <a:t> Todavia, caso a composição mínima do patrimônio líquido do FUNDO não seja atingida e ocorra o  ef etivo desenquadramento tributário da carteira, os cotistas pessoa f ísica ou jurídica residentes no  Brasil passarão a se sujeitar à regra geral de tributação de fundos, conforme previsto no art. 17 da Lei</a:t>
            </a:r>
          </a:p>
          <a:p>
            <a:r>
              <a:t> 14.754, segundo a qual: (1) haverá incidência periódica de IR todo mês de maio e novembro de cada  ano-calendário sobre os rendimentos auferidos pelo cotista em relação ao investimento nas cotas do  FUNDO, à alíquota de 15% (quinze por cento) ou 20% (vinte por cento), a depender da carteira do  FUNDO ser classificada, respectivamente, como de curto ou longo prazo; e (2) haverá incidência de IR  complementar, conforme alíquotas regressivas que variam de 22,5% (vinte e dois e meio por cento) a  15% (quinze por cento) a depender do prazo de aplicação, por ocasião da amortização ou liquidação  das Cotas do FUNDO. Certos tipos de investidor podem se benef iciar de alíquotas dif erenciadas.</a:t>
            </a:r>
          </a:p>
          <a:p>
            <a:r>
              <a:t>CNPJ 54871427000194 · Alocação para tratamento tributário · Condição: Documentos atuais selecionados no inventário por categoria/escopo; a data documental isolada não comprova vigência jurídica.</a:t>
            </a:r>
          </a:p>
          <a:p>
            <a:r>
              <a:t>CNPJ 54871427000194 · Alocação para tratamento tributário · Versão e prevalência: Documentos atuais selecionados no inventário por categoria/escopo; a data documental isolada não comprova vigência jurídica.</a:t>
            </a:r>
          </a:p>
          <a:p>
            <a:r>
              <a:t>CNPJ 54871427000194 · Alocação para tratamento tributário · Resumo do histórico: {"count": 1, "dates": ["2024-04-19"], "document_count": 1, "sources": [{"document_id": "670689", "title": "Regulamento", "reference_date": "2024-04-19", "version": "1", "page": 5, "url": "https://fnet.bmfbovespa.com.br/fnet/publico/visualizarDocumento?id=670689", "sha256": "891bc9bc5d87bbc02ec139077a84d2702eb81ea02035fb71d24f5b8366b94a0b"}], "reference": {"path": "history/54871427000194.json", "criterion_id": "tax_allocation", "total_count": 1, "preview_count": 1, "full_text_deferred": true, "sha256": "35d7cd99be50c7287c9fb675cf4f2e736002315295a225a9efa79c8d9186d874"}}</a:t>
            </a:r>
          </a:p>
          <a:p>
            <a:r>
              <a:t>CNPJ 60010416000112 · Alocação para tratamento tributário · Base da comparação IME: {"criterion_id": "tax_allocation", "observed_value": 117.78665480900618, "unit": "percent", "competence": "08/2026", "status": "not_comparable", "reason": "Vigência efetiva não comprovada; data do documento isolada não certifica enquadramento histórico.", "formula": "credit_rights / net_asset_value × 100",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67.0}</a:t>
            </a:r>
          </a:p>
          <a:p>
            <a:r>
              <a:t>CNPJ 60010416000112 · Alocação para tratamento tributário · Regulamento · ID 1051393 · 09/10/2025 · versão Regulamento09/10/2025 · p. 11 · AnexoI4.6 · https://fnet.bmfbovespa.com.br/fnet/publico/visualizarDocumento?id=1051393</a:t>
            </a:r>
          </a:p>
          <a:p>
            <a:r>
              <a:t>CNPJ 60010416000112 · Alocação para tratamento tributário · Excerto da fonte:</a:t>
            </a:r>
          </a:p>
          <a:p>
            <a:r>
              <a:t>4.6 Decorridos 180 (cento e oitenta) dias do início de suas atividades, a Classe deverá manter alocado, no mínimo: para f ins tributários, 67% (sessenta e sete por cento) do seu Patrimônio Líquido em Direitos Creditórios, nos termos da Resolução CMN 5.111; e para fins regulatórios, 50% (cinquenta por cento) do seu Patrimônio Líquido em Direitos Creditórios, nos termos da Resolução CVM 175. BTG Pactual SAC: 0800 772 28 27 - Ouvidoria: 0800 722 00 48 - btgpactual.com 11</a:t>
            </a:r>
          </a:p>
          <a:p>
            <a:r>
              <a:t>CNPJ 60010416000112 · Alocação para tratamento tributário · Mecânica: {"operator": "&gt;=", "unit": "percent", "denominator": "net_asset_value", "frequency": "not_stated", "layer": "class", "effective_status": "document_date_only", "document_date": "2025-10-09", "numerator": "credit_rights", "limit": 67.0, "requires_initial_date": true}</a:t>
            </a:r>
          </a:p>
          <a:p>
            <a:r>
              <a:t>CNPJ 60010416000112 · Alocação para tratamento tributário · Versão e prevalência: Leitura específica das cláusulas indicadas; condições e conflitos preservados. Seleção documental atual não comprova vigência jurídica por data isolada.</a:t>
            </a:r>
          </a:p>
          <a:p>
            <a:r>
              <a:t>CNPJ 60010416000112 · Alocação para tratamento tributário · Resumo do histórico: {"count": 1, "dates": ["2025-03-20"], "document_count": 1, "sources": [{"document_id": "993786", "title": "Regulamento", "reference_date": "2025-03-20", "version": "1", "page": 6, "clause": "5.3", "url": "https://fnet.bmfbovespa.com.br/fnet/publico/visualizarDocumento?id=993786", "sha256": "fd0fdd369a195510d81f81f505195a0b09e5f43522a990afa7d58c4f872921c8"}], "reference": {"path": "history/60010416000112.json", "criterion_id": "tax_allocation", "total_count": 1, "preview_count": 1, "full_text_deferred": true, "sha256": "8e2bd813f4c51cf01f6bfaad164bafe69d2bbb192f753eac92da3a01c2e63046"}}</a:t>
            </a:r>
          </a:p>
          <a:p>
            <a:r>
              <a:t>CNPJ 62696791000193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null, "comparison_required": true, "context_formula": "Direitos creditórios / PL", "context_value": null, "context_unit": "percent"}</a:t>
            </a:r>
          </a:p>
          <a:p>
            <a:r>
              <a:t>CNPJ 62696791000193 · Alocação para tratamento tributário · Regulamento · ID 1143317 · 2026-03-20 · versão 1 · p. 30 · https://fnet.bmfbovespa.com.br/fnet/publico/visualizarDocumento?id=1143317</a:t>
            </a:r>
          </a:p>
          <a:p>
            <a:r>
              <a:t>CNPJ 62696791000193 · Alocação para tratamento tributário · Excerto da fonte:</a:t>
            </a:r>
          </a:p>
          <a:p>
            <a:r>
              <a:t>Os rendimentos distribuídos pela Classe, de modo geral, sujeitam-se à incidência do IRF à alíquota  de 20% (vinte por cento), inclusive quando distribuídos à Cotista que seja pessoa jurídica isenta.</a:t>
            </a:r>
          </a:p>
          <a:p>
            <a:r>
              <a:t> Os ganhos de capital ou rendimentos auf eridos na alienação ou no resgate de cotas da Classe  sujeitam-se à tributação pelo IRF à alíquota de 20% (vinte por cento), no caso de resgate de cotas,  ou conforme normas aplicáveis aos ganhos de capital ou ganhos líquidos auf eridos em renda  variável, nos casos de alienação de cotas.</a:t>
            </a:r>
          </a:p>
          <a:p>
            <a:r>
              <a:t> O IRF pago será considerado: (i) antecipação da tributação corporativa para os investidores pessoa  jurídica (nos regimes de lucro real, presumido ou arbitrado); e (ii) def initivo, nos demais casos,  incluindo de investidores pessoas f ísicas.</a:t>
            </a:r>
          </a:p>
          <a:p>
            <a:r>
              <a:t> Não obstante o disposto no item acima, em conf ormidade com o disposto na Lei 11.033, com a  redação dada pela Lei nº 14.754, o cotista pessoa f ísica f icará isento do IRF e na declaração de  ajuste anual, sobre as distribuições de lucro realizadas pela Classe, exclusivamente na hipótese de  a Classe, cumulativamente: (a) possuir, no mínimo, 100 (cem) cotistas; e (b) as cotas serem  admitidas à negociação exclusivamente em bolsas de valores ou no mercado de balcão organizado.</a:t>
            </a:r>
          </a:p>
          <a:p>
            <a:r>
              <a:t> O benef ício não será concedido ao Cotista que for pessoa física, titular de cotas que representem  10% (dez por cento) ou mais da totalidade das cotas emitidas pela Classe ou cujas cotas lhe derem  direito ao recebimento de rendimento superior a 10% (dez por cento) do total de rendimentos  auf eridos pela Classe.</a:t>
            </a:r>
          </a:p>
          <a:p>
            <a:r>
              <a:t> O benef ício também não será concedido aos Cotistas pessoas físicas que, individualmente ou em  conjunto com parentes até segundo grau, sejam titulares de cotas que representem 30% (trinta por  cento) ou mais da totalidade das cotas emitidas pela Classe, ou ainda cujas cotas lhes derem direito  ao recebimento de rendimento superior a 30% (trinta por cento) do total de rendimentos auf eridos  pela Classe.</a:t>
            </a:r>
          </a:p>
          <a:p>
            <a:r>
              <a:t> Não há garantia de que o benef ício f iscal atualmente vigente não venha a ser posteriormente  restringido, suspenso, revogado ou extinto por legislação superveniente, ocasião na qual poderá vir  a incidir a tributação sobre os rendimentos distribuídos pela Classe, de acordo com os termos da  legislação que vier a estabelecer a incidência tributária.</a:t>
            </a:r>
          </a:p>
          <a:p>
            <a:r>
              <a:t>CNPJ 62696791000193 · Alocação para tratamento tributário · Condição: Documentos atuais selecionados no inventário por categoria/escopo; a data documental isolada não comprova vigência jurídica.</a:t>
            </a:r>
          </a:p>
          <a:p>
            <a:r>
              <a:t>CNPJ 62696791000193 · Alocação para tratamento tributário · Versão e prevalência: Documentos atuais selecionados no inventário por categoria/escopo; a data documental isolada não comprova vigência jurídica.</a:t>
            </a:r>
          </a:p>
          <a:p>
            <a:r>
              <a:t>CNPJ 55563624000109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null, "comparison_required": true, "context_formula": "Direitos creditórios / PL", "context_value": 0.0, "context_unit": "percent"}</a:t>
            </a:r>
          </a:p>
          <a:p>
            <a:r>
              <a:t>CNPJ 55563624000109 · Alocação para tratamento tributário · Regulamento · ID 1192614 · 2026-04-30 · versão 1 · p. 38 · https://fnet.bmfbovespa.com.br/fnet/publico/visualizarDocumento?id=1192614</a:t>
            </a:r>
          </a:p>
          <a:p>
            <a:r>
              <a:t>CNPJ 55563624000109 · Alocação para tratamento tributário · Excerto da fonte:</a:t>
            </a:r>
          </a:p>
          <a:p>
            <a:r>
              <a:t>(xiii) Risco de descaracterização do regime tributário aplicável à Classe. Caso (a) a Classe deixe de  cumprir com o percentual de, pelo menos, 67% (sessenta e sete por cento) do Patrimônio Líquido  aplicado em direitos creditórios, nos termos dos artigos 18, 19 e 24 da Lei 14.754, para fins de  enquadramento do FUNDO e da Classe como “Entidade de Investimento” na forma da Resolução do  CMN nº 5.111, de 21 de dezembro de 2023, conforme alterada, ou qualquer outra norma que venha  a substitui-la, sujeitando o FUNDO e a Classe ao “Regime Específico dos Fundos Não Sujeitos à  Tributação Periódica” conforme a na Seção III da Lei 14.754 ou deixe de satisfazer qualquer uma das  condições previstas na Lei 14.754, neste Anexo e/ou no Regulamento; e/ou (b) o FUNDO ou Classe  deixe de ser enquadrado como “Entidade de Investimento” na forma da Resolução do CMN nº 5.111,  de 21 de dezembro de 2023, ou demais normas do CMN e da CVM, não é possível garantir que o  FUNDO e/ou Classe continuarão a receber o tratamento tributário destinado ao “Regime Específico  dos Fundos Não Sujeitos à Tributação Periódica”, conforme definido na legislação específica.</a:t>
            </a:r>
          </a:p>
          <a:p>
            <a:r>
              <a:t>CNPJ 55563624000109 · Alocação para tratamento tributário · Regulamento · ID 1192614 · 2026-04-30 · versão 1 · p. 6 · https://fnet.bmfbovespa.com.br/fnet/publico/visualizarDocumento?id=1192614</a:t>
            </a:r>
          </a:p>
          <a:p>
            <a:r>
              <a:t>CNPJ 55563624000109 · Alocação para tratamento tributário · Excerto da fonte:</a:t>
            </a:r>
          </a:p>
          <a:p>
            <a:r>
              <a:t>No caso de Fundos de Investimento em Direitos Creditórios (FIDC) classificados como “entidade de investimento” e  cuja carteira seja composta por, no mínimo, 67% (sessenta e sete por cento) de direitos creditórios conforme definições  prescritas em regulamentação expedida pelo Conselho Monetário Nacional, os rendimentos auferidos na amortização  ou no resgate das cotas, inclusive quando decorrentes da liquidação do FUNDO, ficam sujeitos à incidência do IRF à  alíquota de 15% (quinze por cento) sobre a diferença positiva entre o valor de amortização ou resgate e o custo de  aquisição das Cotas.</a:t>
            </a:r>
          </a:p>
          <a:p>
            <a:r>
              <a:t>CNPJ 55563624000109 · Alocação para tratamento tributário · Condição: Documentos atuais selecionados no inventário por categoria/escopo; a data documental isolada não comprova vigência jurídica.</a:t>
            </a:r>
          </a:p>
          <a:p>
            <a:r>
              <a:t>CNPJ 55563624000109 · Alocação para tratamento tributário · Versão e prevalência: Documentos atuais selecionados no inventário por categoria/escopo; a data documental isolada não comprova vigência jurídica.</a:t>
            </a:r>
          </a:p>
          <a:p>
            <a:r>
              <a:t>CNPJ 55563624000109 · Alocação para tratamento tributário · Resumo do histórico: {"count": 2, "dates": ["2025-01-31", "2026-01-31"], "document_count": 2, "sources": [{"document_id": "1178840", "title": "Demonstrações Financeiras", "reference_date": "2026-01-31", "version": "1", "page": 23, "url": "https://fnet.bmfbovespa.com.br/fnet/publico/visualizarDocumento?id=1178840", "sha256": "c458e98664c5c907ddb5a05a94b120bed4e05295b2bfc420f5ba69af0a229abe"}, {"document_id": "891861", "title": "Demonstrações Financeiras", "reference_date": "2025-01-31", "version": "1", "page": 24, "url": "https://fnet.bmfbovespa.com.br/fnet/publico/visualizarDocumento?id=891861", "sha256": "e9cb9e6ddbe505fe068cfcac33605165a98313489de0d3ce6d4d238263c3f3e7"}], "reference": {"path": "history/55563624000109.json", "criterion_id": "tax_allocation", "total_count": 2, "preview_count": 2, "full_text_deferred": true, "sha256": "7835d573fb58a3c19adf5b8ecc2aee2bdbb9a88f7a0c0209b5f262b64c7522e3"}}</a:t>
            </a:r>
          </a:p>
          <a:p>
            <a:r>
              <a:t>CNPJ 62552447000120 · Alocação para tratamento tributário · Base da comparação IME: {"criterion_id": "tax_allocation", "observed_value": 104.36099466414683, "unit": "percent", "competence": "08/2026", "status": "not_comparable", "reason": "Vigência efetiva não comprovada; data do documento isolada não certifica enquadramento histórico.", "formula": "credit_rights / net_asset_value × 100",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67.0}</a:t>
            </a:r>
          </a:p>
          <a:p>
            <a:r>
              <a:t>CNPJ 62552447000120 · Alocação para tratamento tributário · Regulamento · ID 1200623 · 21/05/2026 · versão Consolidado21/05/2026 aprovado pelo ato1200625 · p. 14 · AnexoI4.9 · https://fnet.bmfbovespa.com.br/fnet/publico/visualizarDocumento?id=1200623</a:t>
            </a:r>
          </a:p>
          <a:p>
            <a:r>
              <a:t>CNPJ 62552447000120 · Alocação para tratamento tributário · Excerto da fonte:</a:t>
            </a:r>
          </a:p>
          <a:p>
            <a:r>
              <a:t>4.9 Decorridos 180 (cento e oitenta) dias da Data da Primeira Integralização, a Classe deverá manter alocados em Direitos Creditórios, no mínimo, para fins tributários, 67% (sessenta e sete por cento) do seu Patrimônio Líquido, nos termos da Lei 14.754 e da Resolução CMN 5.111, e, para fins regulatórios, 50% (cinquenta por cento) do seu Patrimônio Líquido, nos termos da Resolução CVM 175. Eventual desenquadramento da Carteira obrigará o Gestor aos procedimentos de desenquadramento e reenquadramento previstos na Lei 14.754 e na Resolução CMN 5.111, para f ins tributários, e na Resolução CVM 175, par</a:t>
            </a:r>
          </a:p>
          <a:p>
            <a:r>
              <a:t>CNPJ 62552447000120 · Alocação para tratamento tributário · Mecânica: {"operator": "&gt;=", "unit": "percent", "numerator": "credit_rights", "denominator": "net_asset_value", "frequency": "not_stated", "layer": "class", "effective_status": "document_date_only", "document_date": "2026-05-21", "requires_initial_date": true, "limit": 67.0}</a:t>
            </a:r>
          </a:p>
          <a:p>
            <a:r>
              <a:t>CNPJ 62552447000120 · Alocação para tratamento tributário · Versão e prevalência: Leitura específica das cláusulas indicadas; condições e conflitos preservados. Seleção documental atual não comprova vigência jurídica por data isolada.</a:t>
            </a:r>
          </a:p>
          <a:p>
            <a:r>
              <a:t>CNPJ 63953620000165 · Alocação para tratamento tributário · Base da comparação IME: {"criterion_id": "tax_allocation", "observed_value": 93.29241106598856, "unit": "percent", "competence": "08/2026", "status": "not_comparable", "reason": "Vigência efetiva não comprovada; data do documento isolada não certifica enquadramento histórico.", "formula": "credit_rights / net_asset_value × 100",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67.0}</a:t>
            </a:r>
          </a:p>
          <a:p>
            <a:r>
              <a:t>CNPJ 63953620000165 · Alocação para tratamento tributário · Anexo ao Regulamento · ID 1222863 · 02/06/2026 · versão AnexoConsignadoPrivado02/06/2026 · p. 6 · 4.13 · https://fnet.bmfbovespa.com.br/fnet/publico/visualizarDocumento?id=1222863</a:t>
            </a:r>
          </a:p>
          <a:p>
            <a:r>
              <a:t>CNPJ 63953620000165 · Alocação para tratamento tributário · Excerto da fonte:</a:t>
            </a:r>
          </a:p>
          <a:p>
            <a:r>
              <a:t>4.13 Decorridos 180 (cento e oitenta) dias do início de suas atividades, a Classe deverá manter alocado, no mínimo, para fins tributários, 67% (sessenta e sete por cento) do seu Patrimônio Líquido em Direitos Creditórios, nos termos da Resolução CMN 5.111, e para fins regulatórios, 50% (cinquenta por cento) do seu Patrimônio Líquido em Direitos Creditórios, nos termos da Resolução CVM 175. 4.14 Nos termos do Art. 45, §7º, inciso II, do Anexo Normativo II da Resolução CVM 175, a Classe poderá ter até 100% (cem por cento) de seu Patrimônio Líquido alocado em Direitos Creditórios, derivativos, observado o disposto nest</a:t>
            </a:r>
          </a:p>
          <a:p>
            <a:r>
              <a:t>CNPJ 63953620000165 · Alocação para tratamento tributário · Mecânica: {"operator": "&gt;=", "unit": "percent", "denominator": "net_asset_value", "frequency": "not_stated", "layer": "class", "effective_status": "document_date_only", "document_date": "2026-06-02", "limit": 67.0, "numerator": "credit_rights", "requires_initial_date": true}</a:t>
            </a:r>
          </a:p>
          <a:p>
            <a:r>
              <a:t>CNPJ 63953620000165 · Alocação para tratamento tributário · Versão e prevalência: Leitura específica das cláusulas indicadas; condições e conflitos preservados. Seleção documental atual não comprova vigência jurídica por data isolada.</a:t>
            </a:r>
          </a:p>
          <a:p>
            <a:r>
              <a:t>CNPJ 54871427000194 · Classes investidas e limites do FIC · Demonstrações Financeiras - Fusão, cisão e incorporação · ID 1219522 · 2026-02-02 · versão 1 · p. 31 · https://fnet.bmfbovespa.com.br/fnet/publico/visualizarDocumento?id=1219522</a:t>
            </a:r>
          </a:p>
          <a:p>
            <a:r>
              <a:t>CNPJ 54871427000194 · Classes investidas e limites do FIC · Excerto da fonte:</a:t>
            </a:r>
          </a:p>
          <a:p>
            <a:r>
              <a:t>xv) Risco Regulatório e Judicial. Eventuais alterações ou novas normas ou leis aplicáveis à Classe,  seus ativos e a eventuais fundos investidos, incluindo, mas não se limitando àquelas referentes  a tributos, bem como decisões judiciais ou jurisprudência aplicando as regulamentações  existentes ou interpretando novas regulamentações, podem causar um efeito adverso relevante  no preço dos ativos e/ou na performance das posições financeiras adquiridas pela Classe e/ou  pelos fundos Investidos. Ainda, nesse sentido, poderão ocorrer interferências de autoridades  governamentais e órgãos reguladores na regulação dos mercados, bem como alterações das  políticas monetária e cambial. Tais eventos poderão impactar de maneira adversa o valor das  Cotas.</a:t>
            </a:r>
          </a:p>
          <a:p>
            <a:r>
              <a:t>CNPJ 54871427000194 · Classes investidas e limites do FIC · Condição: Documentos atuais selecionados no inventário por categoria/escopo; a data documental isolada não comprova vigência jurídica.</a:t>
            </a:r>
          </a:p>
          <a:p>
            <a:r>
              <a:t>CNPJ 54871427000194 · Classes investidas e limites do FIC · Versão e prevalência: Documentos atuais selecionados no inventário por categoria/escopo; a data documental isolada não comprova vigência jurídica.</a:t>
            </a:r>
          </a:p>
          <a:p>
            <a:r>
              <a:t>CNPJ 54871427000194 · Classes investidas e limites do FIC · Resumo do histórico: {"count": 5, "dates": ["2024-12-31", "2025-01-01", "2025-12-31"], "document_count": 3, "sources": [{"document_id": "1151805", "title": "Demonstrações Financeiras", "reference_date": "2025-12-31", "version": "1", "page": 31, "url": "https://fnet.bmfbovespa.com.br/fnet/publico/visualizarDocumento?id=1151805", "sha256": "f1cea70b152968bf96ef9221b27225953cb20aeef487b2798db3c25e11b528d4"}, {"document_id": "869529", "title": "Demonstrações Financeiras", "reference_date": "2025-01-01", "version": "1", "page": 32, "url": "https://fnet.bmfbovespa.com.br/fnet/publico/visualizarDocumento?id=869529", "sha256": "9a93a9369ac8efdbc54ff8fcee3ccac3abf88edab4807b9323d3852450771b2a"}, {"document_id": "870070", "title": "Demonstrações Financeiras", "reference_date": "2024-12-31", "version": "1", "page": 32, "url": "https://fnet.bmfbovespa.com.br/fnet/publico/visualizarDocumento?id=870070", "sha256": "9a93a9369ac8efdbc54ff8fcee3ccac3abf88edab4807b9323d3852450771b2a"}], "reference": {"path": "history/54871427000194.json", "criterion_id": "investee", "total_count": 5, "preview_count": 3, "full_text_deferred": true, "sha256": "35d7cd99be50c7287c9fb675cf4f2e736002315295a225a9efa79c8d9186d874"}}</a:t>
            </a:r>
          </a:p>
          <a:p>
            <a:r>
              <a:t>CNPJ 60010416000112 · Classes investidas e limites do FIC · Motivo: Não localizada uma cláusula material para este critério nos textos identificados e processados. A ausência de resultado não comprova inexistência da regra.</a:t>
            </a:r>
          </a:p>
          <a:p>
            <a:r>
              <a:t>CNPJ 62696791000193 · Classes investidas e limites do FIC · Regulamento · ID 1143317 · 20/03/2026 · versão Regulamento — referência 20/03/2026 · p. 7 · Anexo I, 1.1, Objetivo, categoria Geral · https://fnet.bmfbovespa.com.br/fnet/publico/visualizarDocumento?id=1143317</a:t>
            </a:r>
          </a:p>
          <a:p>
            <a:r>
              <a:t>CNPJ 62696791000193 · Classes investidas e limites do FIC · Excerto da fonte:</a:t>
            </a:r>
          </a:p>
          <a:p>
            <a:r>
              <a:t>(D) Categoria “Geral” (“Ativos em Geral do Agronegócio”): (i) cotas de classes que apliquem mais de 50% (cinquenta por cento) de seu patrimônio líquido nos ativos referidos nos incisos “A” a “D” acima, o que inclui cotas de outros FIAGRO, mas não se limita a essa categoria de f undos. Os Ativos Imobiliários do Agronegócio, Participações do Agronegócio, Ativos Financeiros do Agronegócio e Ativos em Geral do Agronegócio, quando ref eridos em conjunto, os “Outros Ativos”. Não há limites máximos de aplicação por emissor ou devedor, em função de um percentual do Patrimônio Líquido. O objetivo da Classe não representa, sob qualquer hipótese, garantia da Classe ou de seus Prestadores de Serviços Essenciais e/ou da Cogestora quanto à segurança, rentabilidade e liquidez dos títu</a:t>
            </a:r>
          </a:p>
          <a:p>
            <a:r>
              <a:t>CNPJ 62696791000193 · Classes investidas e limites do FIC · Regulamento · ID 1143317 · 20/03/2026 · versão Regulamento — referência 20/03/2026 · p. 11 · Anexo I, 4.8–4.9 · https://fnet.bmfbovespa.com.br/fnet/publico/visualizarDocumento?id=1143317</a:t>
            </a:r>
          </a:p>
          <a:p>
            <a:r>
              <a:t>CNPJ 62696791000193 · Classes investidas e limites do FIC · Excerto da fonte:</a:t>
            </a:r>
          </a:p>
          <a:p>
            <a:r>
              <a:t>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relacionadas ao Gestor. 4.8.1 As aplicações em Direitos Creditórios do Agronegócio decorrentes de receitas públicas originárias ou derivadas da União, dos Estados, do Distrito Federal e dos Municípios ou de suas autarquias e f undações, assim como em Direitos Creditórios do Agronegócio cedidos ou originados por empresas controladas pelo poder público, não estão submetidas ao limite de concentração por emissor previsto no caput. 4.9 Nos termos do Art. 45 do Anexo</a:t>
            </a:r>
          </a:p>
          <a:p>
            <a:r>
              <a:t>CNPJ 62696791000193 · Classes investidas e limites do FIC · Condição: O regulamento não identifica CNPJs de classes efetivamente investidas. Permissão de investimento não comprova posição.</a:t>
            </a:r>
          </a:p>
          <a:p>
            <a:r>
              <a:t>CNPJ 62696791000193 · Classes investidas e limites do FIC · Versão e prevalência: Leitura específica das cláusulas indicadas; condições e conflitos preservados. Seleção documental atual não comprova vigência jurídica por data isolada.</a:t>
            </a:r>
          </a:p>
          <a:p>
            <a:r>
              <a:t>CNPJ 55563624000109 · Classes investidas e limites do FIC · Regulamento · ID 1192614 · 30/04/2026 · versão Regulamento30/04/2026 · p. 11 · AnexoI4.1 · https://fnet.bmfbovespa.com.br/fnet/publico/visualizarDocumento?id=1192614</a:t>
            </a:r>
          </a:p>
          <a:p>
            <a:r>
              <a:t>CNPJ 55563624000109 · Classes investidas e limites do FIC · Excerto da fonte:</a:t>
            </a:r>
          </a:p>
          <a:p>
            <a:r>
              <a:t>4.1 Observados os demais termos deste Anexo, o objetivo da Classe é investir seus recursos em (i) cotas subordinadas mezanino de emissão da classe única do MERCADO CRÉDITO II BRASIL FUNDO DE INVESTIMENTO EM DIREITOS CREDITÓRIOS NÃO PADRONIZADOS, fundo de investimento em direitos creditórios inscrito no CNPJ sob o nº 41.970.012/0001-26 (“Cotas da Classe Investida” e “Classe Investida”, respectivamente), a qual, por sua vez, aplica seus recursos preponderantemente em direitos creditórios originados pela Mercado Pago, de acordo com os termos e condições est</a:t>
            </a:r>
          </a:p>
          <a:p>
            <a:r>
              <a:t>CNPJ 55563624000109 · Classes investidas e limites do FIC · Condição: Vínculo contratual identificado; quantidade de cotas efetivamente detida exige posição do FIC. Não somar PL do FIC e do investido.</a:t>
            </a:r>
          </a:p>
          <a:p>
            <a:r>
              <a:t>CNPJ 55563624000109 · Classes investidas e limites do FIC · Versão e prevalência: Leitura específica das cláusulas indicadas; condições e conflitos preservados. Seleção documental atual não comprova vigência jurídica por data isolada.</a:t>
            </a:r>
          </a:p>
          <a:p>
            <a:r>
              <a:t>CNPJ 55563624000109 · Classes investidas e limites do FIC · Resumo do histórico: {"count": 2, "dates": ["2025-01-31", "2026-01-31"], "document_count": 2, "sources": [{"document_id": "1178840", "title": "Demonstrações Financeiras", "reference_date": "2026-01-31", "version": "1", "page": 4, "url": "https://fnet.bmfbovespa.com.br/fnet/publico/visualizarDocumento?id=1178840", "sha256": "c458e98664c5c907ddb5a05a94b120bed4e05295b2bfc420f5ba69af0a229abe"}, {"document_id": "891861", "title": "Demonstrações Financeiras", "reference_date": "2025-01-31", "version": "1", "page": 18, "url": "https://fnet.bmfbovespa.com.br/fnet/publico/visualizarDocumento?id=891861", "sha256": "e9cb9e6ddbe505fe068cfcac33605165a98313489de0d3ce6d4d238263c3f3e7"}], "reference": {"path": "history/55563624000109.json", "criterion_id": "investee", "total_count": 2, "preview_count": 2, "full_text_deferred": true, "sha256": "7835d573fb58a3c19adf5b8ecc2aee2bdbb9a88f7a0c0209b5f262b64c7522e3"}}</a:t>
            </a:r>
          </a:p>
          <a:p>
            <a:r>
              <a:t>CNPJ 62552447000120 · Classes investidas e limites do FIC · Regulamento · ID 1200623 · 2026-05-21 · versão 1 · p. 6 · https://fnet.bmfbovespa.com.br/fnet/publico/visualizarDocumento?id=1200623</a:t>
            </a:r>
          </a:p>
          <a:p>
            <a:r>
              <a:t>CNPJ 62552447000120 · Classes investidas e limites do FIC · Excerto da fonte:</a:t>
            </a:r>
          </a:p>
          <a:p>
            <a:r>
              <a:t>integrantes do conglomerado econômico de instituições  f inanceiras classificadas como S1 pelo Banco Central do  Brasil (“BACEN” e “Instituições Financeiras S1”,  respectivamente), desde que não representem títulos de  emissão ou coobrigação de instituições financeiras, bem  como cotas de f undos de investimento que invistam  preponderantemente nestes direitos, títulos e/ou valores  mobiliários; e</a:t>
            </a:r>
          </a:p>
          <a:p>
            <a:r>
              <a:t> (d) “Direitos Creditórios Refinanciamento Livre”, na forma  de CCBs originadas no âmbito de um refinanciamento, de  acordo com a política de cobrança vigente, de Direitos  Creditórios Consignado Privado e de Direitos Creditórios  FGTS, que não contem com o lastro de Consignação ou  de cessão f iduciária do Saque-Aniversário,  respectivamente; e</a:t>
            </a:r>
          </a:p>
          <a:p>
            <a:r>
              <a:t> (ii) “Ativos Financeiros”, assim entendidos como, em conjunto:</a:t>
            </a:r>
          </a:p>
          <a:p>
            <a:r>
              <a:t> (a) moeda corrente nacional;</a:t>
            </a:r>
          </a:p>
          <a:p>
            <a:r>
              <a:t> (b) títulos públicos f ederais;</a:t>
            </a:r>
          </a:p>
          <a:p>
            <a:r>
              <a:t> (c) ativos f inanceiros de renda f ixa de emissão ou  coobrigação de Instituições Financeiras S1;</a:t>
            </a:r>
          </a:p>
          <a:p>
            <a:r>
              <a:t> (d) operações compromissadas, desde que lastreadas nos  títulos mencionados nas alíneas (b) e (c) acima; e</a:t>
            </a:r>
          </a:p>
          <a:p>
            <a:r>
              <a:t> (e) cotas do BTG Pactual Tesouro Selic Fundo de  Investimento Renda Fixa Ref erenciado DI, inscrito no  CNPJ sob o nº 09.215.250/0001-13;</a:t>
            </a:r>
          </a:p>
          <a:p>
            <a:r>
              <a:t> observados todos os limites de composição e diversificação da carteira da  Classe (“Carteira”), estabelecidos neste Regulamento e na  regulamentação aplicável.</a:t>
            </a:r>
          </a:p>
          <a:p>
            <a:r>
              <a:t> O objetivo da Classe não representa, sob qualquer hipótese, promessa,  garantia ou sugestão da Classe ou de seus Prestadores de Serviços  Essenciais quanto à segurança, rentabilidade e liquidez dos títulos  componentes de sua Carteira.</a:t>
            </a:r>
          </a:p>
          <a:p>
            <a:r>
              <a:t>CNPJ 62552447000120 · Classes investidas e limites do FIC · Condição: Documentos atuais selecionados no inventário por categoria/escopo; a data documental isolada não comprova vigência jurídica.</a:t>
            </a:r>
          </a:p>
          <a:p>
            <a:r>
              <a:t>CNPJ 62552447000120 · Classes investidas e limites do FIC · Versão e prevalência: Documentos atuais selecionados no inventário por categoria/escopo; a data documental isolada não comprova vigência jurídica.</a:t>
            </a:r>
          </a:p>
          <a:p>
            <a:r>
              <a:t>CNPJ 63953620000165 · Classes investidas e limites do FIC · Motivo: Não localizada uma cláusula material para este critério nos textos identificados e processados. A ausência de resultado não comprova inexistência da regra.</a:t>
            </a:r>
          </a:p>
          <a:p>
            <a:r>
              <a:t>CNPJ 54871427000194 · Classe, subclasse e responsabilidade · Regulamento · ID 670691 · 2024-04-28 · versão 1 · p. 29 · https://fnet.bmfbovespa.com.br/fnet/publico/visualizarDocumento?id=670691</a:t>
            </a:r>
          </a:p>
          <a:p>
            <a:r>
              <a:t>CNPJ 54871427000194 · Classe, subclasse e responsabilidade · Excerto da fonte:</a:t>
            </a:r>
          </a:p>
          <a:p>
            <a:r>
              <a:t>Anexo I ao Regulamento CLASSE ÚNICA DE RESPONSABILIDADE LIMITADA DO CONSIGNADO DELTA RECEIVABLES I FUNDO DE INVESTIMENTO EM DIREITOS CREDITÓRIOS  pelo Endossante e depositados em seu conta de sua titularidade para posterior repasse à  Classe. Neste caso, a Classe poderá sofrer perdas principalmente em relação ao atraso na  regularização da titularidade e pagamento dos Direitos Creditórios.</a:t>
            </a:r>
          </a:p>
          <a:p>
            <a:r>
              <a:t> (v) Risco de pré-pagamento dos Direitos Creditórios. A ocorrência de pré-  pagamentos em relação a um ou mais Direitos Creditórios poderá ocasionar perdas à Classe.</a:t>
            </a:r>
          </a:p>
          <a:p>
            <a:r>
              <a:t> A ocorrência de pré-pagamentos (pagamento em data anterior àquela originalmente pactuada)  de Direitos Creditórios reduz o horizonte original de rendimentos esperados pela Classe de  tais Direitos Creditórios, uma vez que o pré-pagamento poderá, se assim permitido pela  documentação do Direito Creditório ou, conf orme o caso, pela legislação aplicável, ser  realizado pelo valor de emissão do Direito Creditório atualizado até a data do pré-pagamento  pela taxa de juros pactuada entre os Endossantes e os Devedores de tais Direitos Creditórios,  de modo que os juros remuneratórios incidentes desde a data da realização do pré-pagamento  até a data de vencimento do respectivo Direito Creditório deixam de ser devidos à Classe.</a:t>
            </a:r>
          </a:p>
          <a:p>
            <a:r>
              <a:t> (vi) Riscos associados aos Devedores: os Direitos Creditórios a serem cedidos à  Classe serão descontados da remuneração do Devedor, através de desconto em f olha de  pagamento ou de benefício. Nesse sentido, na ocorrência de pré-pagamento, as parcelas  serão pagas antecipadamente e a Classe deverá utilizar tais montantes no pré-pagamento dos  Direitos Creditórios. Nesta hipótese, a Classe poderá não encontrar Direitos Creditórios  disponíveis para serem adquiridos pela Classe, o que poderá afetar a rentabilidade da Classe.</a:t>
            </a:r>
          </a:p>
          <a:p>
            <a:r>
              <a:t> (vii) Risco de Competição: o mercado de empréstimos experimentou grande  expansão no Brasil nos últimos anos. Nesse contexto, a Resolução CMN nº 4.292, alterada  pela Resolução nº 4.762, de 27 de novembro de 2019, dispõe que deve ser garantido às  pessoas naturais devedoras de operações de crédito (tais como as CCB) a possibilidade de  realizarem a portabilidade destas operações para outras instituições financeiras, inclusive nos  casos em que tenham sido objeto de cessão (tais como as realizadas à Classe). Nesse  cenário, é possível que os competidores do Endossante ofereçam condições e taxas mais  vantajosas para os empréstimos pessoais com consignação em f olha de pagamento ou de  benef ícios, o que pode causar a migração de clientes da Endossante para outras instituições  f inanceiras, gerando a liquidação antecipada de parte das CCB existentes e/ou redução no  número de Direitos Creditórios cedidos. Referida competição poderá af etar os resultados da  Classe, impactando negativamente os rendimentos dos Cotistas. Ainda, a portabilidade a um  Devedor pode acarretar no recebimento de valores inf eriores aos esperados pela Classe.</a:t>
            </a:r>
          </a:p>
          <a:p>
            <a:r>
              <a:t> (viii) Insuf iciência dos Critérios de Elegibilidade. Os Critérios de Elegibilidade têm a  f inalidade de selecionar os Direitos Creditórios passíveis de aquisição pela Classe. Não  obstante tais Critérios de Elegibilidade, a solvência dos Direitos Creditórios que compõem a  Carteira depende integralmente, mas não somente, da situação econômico-financeira dos  Devedores. Dessa f orma, a observância pelo GESTOR dos Critérios de Elegibilidade não  constitui garantia de adimplência dos Devedores.</a:t>
            </a:r>
          </a:p>
          <a:p>
            <a:r>
              <a:t> Os Endossantes não necessariamente garantem a solvência dos seus respectivos Devedores.</a:t>
            </a:r>
          </a:p>
          <a:p>
            <a:r>
              <a:t> O Endossante dos Direitos Creditórios não assumirá responsabilidade pelo seu pagamento ou  pela solvência dos respectivos Devedores. A Classe sofrerá o impacto do inadimplemento dos  Direitos Creditórios vencidos e não pagos pelos respectivos Devedores.</a:t>
            </a:r>
          </a:p>
          <a:p>
            <a:r>
              <a:t> (ix) Possibilidade de aquisição de Direitos Creditórios cedidos por Endossante  e/ou devidos por Devedores cujas demonstrações financeiras não sejam auditadas. A Classe,  desde que sejam respeitados os limites de concentração previstos neste Regulamento, poderá  manter a qualquer tempo em sua Carteira, Direitos Creditórios cedidos por Endossante e/ou  devidos por Devedores cujas demonstrações f inanceiras não sejam auditadas por Auditor  Independente registrado na CVM. Nesse sentido, não haverá verificação independente sobre  tais demonstrações f inanceiras que af irme se estas representam adequadamente, em todos  os aspectos relevantes, as respectivas posições patrimoniais e f inanceiras, os resultados de  suas operações, as mutações de seus respectivos patrimônios líquidos tampouco as origens  e aplicações de seus recursos.</a:t>
            </a:r>
          </a:p>
          <a:p>
            <a:r>
              <a:t>CNPJ 54871427000194 · Classe, subclasse e responsabilidade · Regulamento · ID 670691 · 2024-04-28 · versão 1 · p. 15 · 7.2 · https://fnet.bmfbovespa.com.br/fnet/publico/visualizarDocumento?id=670691</a:t>
            </a:r>
          </a:p>
          <a:p>
            <a:r>
              <a:t>CNPJ 54871427000194 · Classe, subclasse e responsabilidade · Excerto da fonte:</a:t>
            </a:r>
          </a:p>
          <a:p>
            <a:r>
              <a:t>7.2 As amortizações de Cotas serão realizadas a qualquer tempo, a critério do GESTOR, observada a  disponibilidade de recursos da Classe Única e a ordem de alocação de recursos prevista neste Anexo  Descritivo.</a:t>
            </a:r>
          </a:p>
          <a:p>
            <a:r>
              <a:t>CNPJ 54871427000194 · Classe, subclasse e responsabilidade · Instrumento Particular de Alteração do Regulamento · ID 670690 · 2024-05-28 · versão 1 · p. 1 · https://fnet.bmfbovespa.com.br/fnet/publico/visualizarDocumento?id=670690</a:t>
            </a:r>
          </a:p>
          <a:p>
            <a:r>
              <a:t>CNPJ 54871427000194 · Classe, subclasse e responsabilidade · Excerto da fonte:</a:t>
            </a:r>
          </a:p>
          <a:p>
            <a:r>
              <a:t>ATA DA ASSEMBLEIA ESPECIAL DE COTISTAS  CLASSE ÚNICA DE RESPONSABILIDADE LIMITADA DO CONSIGNADO DELTA RECEIVABLES I  FUNDO DE INVESTIMENTO EM DIREITOS CREDITÓRIOS  CNPJ nº 54.871.427/0001-94  (“Classe Única” e “Fundo”, respectivamente)</a:t>
            </a:r>
          </a:p>
          <a:p>
            <a:r>
              <a:t>CNPJ 54871427000194 · Classe, subclasse e responsabilidade · Condição: Documentos atuais selecionados no inventário por categoria/escopo; a data documental isolada não comprova vigência jurídica.</a:t>
            </a:r>
          </a:p>
          <a:p>
            <a:r>
              <a:t>CNPJ 54871427000194 · Classe, subclasse e responsabilidade · Versão e prevalência: Documentos atuais selecionados no inventário por categoria/escopo; a data documental isolada não comprova vigência jurídica.</a:t>
            </a:r>
          </a:p>
          <a:p>
            <a:r>
              <a:t>CNPJ 54871427000194 · Classe, subclasse e responsabilidade · Resumo do histórico: {"count": 4, "dates": ["2024-04-19", "2024-04-28", "2024-05-24"], "document_count": 3, "sources": [{"document_id": "668387", "title": "Instrumento Particular de Emissão de Cotas", "reference_date": "2024-05-24", "version": "1", "page": 1, "url": "https://fnet.bmfbovespa.com.br/fnet/publico/visualizarDocumento?id=668387", "sha256": "be2913bed5f468a7399afcd27f92bac2083451584ee580b5054e9f525e68cc4a"}, {"document_id": "670691", "title": "Regulamento", "reference_date": "2024-04-28", "version": "1", "page": 29, "url": "https://fnet.bmfbovespa.com.br/fnet/publico/visualizarDocumento?id=670691", "sha256": "bf16dd7f1a62d5cdbf2e2d54fef81783783f7310fbc99c3a8f00459bdf9d037b"}, {"document_id": "670687", "title": "Instrumento Particular de Constituição/Encerramento do Fundo", "reference_date": "2024-04-19", "version": "1", "page": 1, "url": "https://fnet.bmfbovespa.com.br/fnet/publico/visualizarDocumento?id=670687", "sha256": "999f2a47d39f7022b0fcee3d16fd1db33948537b897e92c4c9e14b436bf5eb96"}], "reference": {"path": "history/54871427000194.json", "criterion_id": "perimeter", "total_count": 4, "preview_count": 3, "full_text_deferred": true, "sha256": "35d7cd99be50c7287c9fb675cf4f2e736002315295a225a9efa79c8d9186d874"}}</a:t>
            </a:r>
          </a:p>
          <a:p>
            <a:r>
              <a:t>CNPJ 60010416000112 · Classe, subclasse e responsabilidade · Regulamento · ID 1051393 · 2025-10-09 · versão 1 · p. 10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a:t>
            </a:r>
          </a:p>
          <a:p>
            <a:r>
              <a:t> (ii) o saldo dos Direitos Creditórios devidos pelo mesmo Devedor à Classe, considerando, pro  forma, o endosso pretendido, não deverá exceder R$ 100.000,00 (cem mil reais), observado  o disposto no item 4.4.1 abaixo;</a:t>
            </a:r>
          </a:p>
          <a:p>
            <a:r>
              <a:t> (iii) o prazo de vencimento das CCB representativas dos Direitos Creditórios deverá ser, no  máximo, equivalente ao prazo máximo permitido pelas leis e regulamentações aplicáveis; e</a:t>
            </a:r>
          </a:p>
          <a:p>
            <a:r>
              <a:t> (iv) os Direitos Creditórios não poderão ser devidos por Devedores que tenham acima de 64  (sessenta e quatro) anos 11 (onze) meses e 29 (vinte e nove) dias na data de emissão da  respectiva CCB.</a:t>
            </a:r>
          </a:p>
          <a:p>
            <a:r>
              <a:t>CNPJ 60010416000112 · Classe, subclasse e responsabilidade · Regulamento · ID 1051393 · 2025-10-09 · versão 1 · p. 11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  com a transf erência, à Classe, de f orma definitiva, sem coobrigação do Endossante, da plena  titularidade desse Direito Creditório, juntamente com todos os direitos, privilégios, pref erências,  prerrogativas, garantias e ações a ele relacionados, bem como correção monetária, juros e  encargos, sem prejuízo do direito da Classe (i) de exigir a recompra compulsória do respectivo  Direito Creditório, de acordo com os termos do Contrato de Endosso; ou (ii) de vender Direitos  Creditórios ao Agente de Retenção/Cobrança (opção de venda), em ambos os casos estritamente  nos termos do Contrato de Endosso.</a:t>
            </a:r>
          </a:p>
          <a:p>
            <a:r>
              <a:t>CNPJ 60010416000112 · Classe, subclasse e responsabilidade · Regulamento · ID 1051393 · 2025-10-09 · versão 1 · p. 18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a:t>
            </a:r>
          </a:p>
          <a:p>
            <a:r>
              <a:t> (ii) alterar este Anexo I e seus complementos, incluindo mas não se limitando aos Apêndices de cada  uma das subclasses;</a:t>
            </a:r>
          </a:p>
          <a:p>
            <a:r>
              <a:t> (iii) deliberar sobre substituição de Prestadores de Serviços Essenciais, observado o disposto no Art.</a:t>
            </a:r>
          </a:p>
          <a:p>
            <a:r>
              <a:t> 70, §1º da parte geral da Resolução CVM 175, quando aplicável, ou do Custodiante;</a:t>
            </a:r>
          </a:p>
          <a:p>
            <a:r>
              <a:t> (iv) deliberar sobre elevação da Taxa de Administração, inclusive na hipótese de restabelecimento de  taxa que tenha sido objeto de redução;</a:t>
            </a:r>
          </a:p>
          <a:p>
            <a:r>
              <a:t> (v) deliberar sobre incorporação, fusão, cisão total ou parcial, a transformação ou liquidação da Classe;</a:t>
            </a:r>
          </a:p>
          <a:p>
            <a:r>
              <a:t> (vi) alterações das características, vantagens, direitos e obrigações das Cotas;</a:t>
            </a:r>
          </a:p>
          <a:p>
            <a:r>
              <a:t> (vii) alterar critérios e procedimentos para Amortização e/ou resgate de Cotas mediante dação em  pagamento de Direitos Creditórios;</a:t>
            </a:r>
          </a:p>
          <a:p>
            <a:r>
              <a:t> (viii) aprovar a contratação de Agente de Retenção/Cobrança dos Direitos Creditórios Inadimplidos, bem  como decidir sobre sua substituição ou destituição;</a:t>
            </a:r>
          </a:p>
          <a:p>
            <a:r>
              <a:t> (ix) alterar a f orma de amortização do principal e dos valores acumulados relacionados às Cotas;</a:t>
            </a:r>
          </a:p>
          <a:p>
            <a:r>
              <a:t> (x) aprovar emissão de novas Cotas da Classe, em montante além do Capital Autorizado;</a:t>
            </a:r>
          </a:p>
          <a:p>
            <a:r>
              <a:t> (xi) deliberar sobre a eventual necessidade de aportes adicionais de recursos na Classe pelos Cotistas;</a:t>
            </a:r>
          </a:p>
          <a:p>
            <a:r>
              <a:t> (xii) alterações na Política de Investimentos;</a:t>
            </a:r>
          </a:p>
          <a:p>
            <a:r>
              <a:t> (xiii) alterações nos Critérios de Elegibilidade;</a:t>
            </a:r>
          </a:p>
          <a:p>
            <a:r>
              <a:t> (xiv) decidir se um Evento de Avaliação será considerado como Evento de Liquidação, sujeito a este  Regulamento;</a:t>
            </a:r>
          </a:p>
          <a:p>
            <a:r>
              <a:t> (xv) decidir, na ocorrência de qualquer Evento de Liquidação, se esse Evento de Liquidação não deverá  causar a liquidação antecipada da Classe;</a:t>
            </a:r>
          </a:p>
          <a:p>
            <a:r>
              <a:t> (xvi) plano de resolução do Patrimônio Líquido negativo da Classe, nos termos da Resolução CVM 175;</a:t>
            </a:r>
          </a:p>
          <a:p>
            <a:r>
              <a:t> (xvii)pedido de declaração judicial de insolvência da Classe; e</a:t>
            </a:r>
          </a:p>
          <a:p>
            <a:r>
              <a:t> (xviii) deliberar sobre a alteração da data de resgate e/ou prazo de duração de cada Série de Cotas  Seniores, do Benchmark, bem como de quaisquer outras características de qualquer Série de Cotas  Seniores;</a:t>
            </a:r>
          </a:p>
          <a:p>
            <a:r>
              <a:t>CNPJ 60010416000112 · Classe, subclasse e responsabilidade · Condição: Documentos atuais selecionados no inventário por categoria/escopo; a data documental isolada não comprova vigência jurídica.</a:t>
            </a:r>
          </a:p>
          <a:p>
            <a:r>
              <a:t>CNPJ 60010416000112 · Classe, subclasse e responsabilidade · Versão e prevalência: Documentos atuais selecionados no inventário por categoria/escopo; a data documental isolada não comprova vigência jurídica.</a:t>
            </a:r>
          </a:p>
          <a:p>
            <a:r>
              <a:t>CNPJ 60010416000112 · Classe, subclasse e responsabilidade · Resumo do histórico: {"count": 1, "dates": ["2025-05-12"], "document_count": 1, "sources": [{"document_id": "1004656", "title": "AGE", "reference_date": "2025-05-12", "version": "1", "page": 4, "url": "https://fnet.bmfbovespa.com.br/fnet/publico/visualizarDocumento?id=1004656", "sha256": "f6c9c009f6170e2b29f074b98522accec73f0c40efbf11f9ec2c8d3f1402616b"}], "reference": {"path": "history/60010416000112.json", "criterion_id": "perimeter", "total_count": 1, "preview_count": 1, "full_text_deferred": true, "sha256": "8e2bd813f4c51cf01f6bfaad164bafe69d2bbb192f753eac92da3a01c2e63046"}}</a:t>
            </a:r>
          </a:p>
          <a:p>
            <a:r>
              <a:t>CNPJ 62696791000193 · Classe, subclasse e responsabilidade · Regulamento · ID 1143317 · 20/03/2026 · versão Regulamento — referência 20/03/2026 · p. 9 · Anexo I, 2.1 · https://fnet.bmfbovespa.com.br/fnet/publico/visualizarDocumento?id=1143317</a:t>
            </a:r>
          </a:p>
          <a:p>
            <a:r>
              <a:t>CNPJ 62696791000193 · Classe, subclasse e responsabilidade · Excerto da fonte:</a:t>
            </a:r>
          </a:p>
          <a:p>
            <a:r>
              <a:t>2.1 A responsabilidade do Cotista está limitada ao valor por ele subscrito. 2.2 Os seguintes eventos obrigarão o Administrador a verif icar se o Patrimônio Líquido está negativo: (i) qualquer pedido de declaração judicial de insolvência de Classe; (ii) inadimplência de obrigações financeiras de devedor e/ou emissor de ativos detidos pela Classe que representem mais de 10% (dez por cento) de seu Patrimônio Líquido, naquela data de ref erência; (iii) pedido de recuperação extrajudicial, proposta de recuperação judicial, f alência, intervenção, liquidação extrajudicial e/ou regime de administração temporária de devedor e/ou emissor de ativos detidos pela Classe; e (iv) condenação da Classe, de natureza judicial e/ou arbitral e/ou administrativa e/ou outras similares, ao pagamento de mais de 10% (dez por cento) de seu Patrimônio Líquido. 2.3 Caso o Administrador verifique que o Patrimônio Líquido está negativo, ou tenha ciência de pedido de declaração judicial de insolvência da Classe ou da declaração judicial de insolvência da Classe, deverá adotar as medidas aplicáveis previstas na Resolução CVM 175. 2.4 Serão aplicáveis as disp</a:t>
            </a:r>
          </a:p>
          <a:p>
            <a:r>
              <a:t>CNPJ 62696791000193 · Classe, subclasse e responsabilidade · Regulamento · ID 1143317 · 20/03/2026 · versão Regulamento — referência 20/03/2026 · p. 18 · Anexo I, 8.8.1 · https://fnet.bmfbovespa.com.br/fnet/publico/visualizarDocumento?id=1143317</a:t>
            </a:r>
          </a:p>
          <a:p>
            <a:r>
              <a:t>CNPJ 62696791000193 · Classe, subclasse e responsabilidade · Excerto da fonte:</a:t>
            </a:r>
          </a:p>
          <a:p>
            <a:r>
              <a:t>8.8.1 As Chamadas de Capital para a realização de investimentos serão realizadas a qualquer momento durante o Período de Investimento e estarão limitadas ao valor do capital subscrito de cada Cotista. As Chamadas de Capital para o pagamento de despesas e encargos do Fundo poderão ser realizadas a qualquer momento durante o Prazo de Duração, mas não estarão limitadas ao valor do capital subscrito de cada Cotista. 8.8.2 Ao receber uma Chamada de Capital, os Cotistas serão obrigados a integralizar parte ou a totalidade de suas Cotas no prazo previsto na ref erida Chamada de Capital, o qual não poderá ser inf erior a 5 (cinco) Dias Úteis contados do recebimento da Chamada de Capital, conforme solicitado pelo Administrador em observância às instruções do Gestor e de acordo com o disposto nos respectivos Compromissos de Investimento. 8.8.3 O Administrador poderá, eventualmente, realizar Chamadas de Capital aos Cotistas de forma desproporcional entre Cotistas, de modo que um ou mais Cotista venha a integralizar, em uma ou mais Chamadas de Capital, uma parcela maior ou menor, conforme o caso, das Cotas por</a:t>
            </a:r>
          </a:p>
          <a:p>
            <a:r>
              <a:t>CNPJ 62696791000193 · Classe, subclasse e responsabilidade · Regulamento · ID 1143317 · 20/03/2026 · versão Regulamento — referência 20/03/2026 · p. 16 · Anexo I, 7.2 · https://fnet.bmfbovespa.com.br/fnet/publico/visualizarDocumento?id=1143317</a:t>
            </a:r>
          </a:p>
          <a:p>
            <a:r>
              <a:t>CNPJ 62696791000193 · Classe, subclasse e responsabilidade · Excerto da fonte:</a:t>
            </a:r>
          </a:p>
          <a:p>
            <a:r>
              <a:t>7.2 A Classe possui 3 (três) Subclasses de Cotas, quais sejam, a subclasse sênior (“Subclasse Sênior” e “Cotas Seniores”), a subclasse mezanino (“Subclasse Mezanino” e “Cotas Mezanino”) e a subclasse subordinada (“Subclasse Subordinada” e “Cotas Subordinadas” – as Cotas Subordinadas, Cotas Seniores e Cotas Mezanino, quando ref eridas em conjunto, “Cotas”), admitindo ainda a emissão de novas séries (“Séries”) de Cotas Seniores, nos termos do seu respectivo Apêndice. As características, os direitos e as condições de emissão, distribuição, subscrição, integralização, remuneração, amortização e resgate das Cotas estão descritos neste Capítulo e nos respectivos Apêndices. 7.3 As Cotas são escriturais, nominativas e correspondem a f rações ideais do patrimônio da Classe, cuja propriedade presume-se: (i) pelo registro do nome do Cotista no livro de registro de Cotistas, enquanto mantidas em conta de depósito mantidas junto ao Escriturador em nome dos respectivos Cotistas, nos termos do Art. 15 da Resolução CVM 175; (ii) pelos controles de titularidade mantidos pelo depositário BTG Pactual SAC: 0800 772 2827 | Ouvidoria: 0800 722 0048 | btgpactual.co m 11</a:t>
            </a:r>
          </a:p>
          <a:p>
            <a:r>
              <a:t>CNPJ 62696791000193 · Classe, subclasse e responsabilidade · Condição: Contradição interna no alcance da responsabilidade limitada. Não apresentar a cláusula de despesas como obrigação irrestrita pacificada.</a:t>
            </a:r>
          </a:p>
          <a:p>
            <a:r>
              <a:t>CNPJ 62696791000193 · Classe, subclasse e responsabilidade · Versão e prevalência: Leitura específica das cláusulas indicadas; condições e conflitos preservados. Seleção documental atual não comprova vigência jurídica por data isolada.</a:t>
            </a:r>
          </a:p>
          <a:p>
            <a:r>
              <a:t>CNPJ 55563624000109 · Classe, subclasse e responsabilidade · Regulamento · ID 1192614 · 2026-04-30 · versão 1 · p. 40 · https://fnet.bmfbovespa.com.br/fnet/publico/visualizarDocumento?id=1192614</a:t>
            </a:r>
          </a:p>
          <a:p>
            <a:r>
              <a:t>CNPJ 55563624000109 · Classe, subclasse e responsabilidade · Excerto da fonte:</a:t>
            </a:r>
          </a:p>
          <a:p>
            <a:r>
              <a:t>(xxiv) Subordinação de determinadas Cotas da Classe Investida a outras subclasses ou séries de  cotas das Classes Investidas aos quais pertencem. A Classe Investida adquirirá apenas cotas  subordinadas mezaninos da Classe Investida, as quais se subordinam às cotas seniores da Classe  Investida para efeitos de resgate. Os resgates de cotas subordinadas mezanino tipicamente têm sua  realização condicionada ainda à manutenção da razão de garantia e à existência de disponibilidades  da Classe Investida. O ADMINISTRADOR, o GESTOR e o CUSTODIANTE e suas respectivas partes  relacionadas, encontram-se impossibilitados de assegurar que a amortização e o resgate das cotas  subordinadas mezanino da Classe Investida que venham a ser adquiridas pela Classe ocorrerão nas  datas originalmente previstas, sendo que, caso tais amortizações e/ou resgates não ocorram, não será  devido pelo FUNDO ou qualquer pessoa, incluindo o ADMINISTRADOR, o GESTOR e o CUSTODIANTE,  do FUNDO ou da Classe Investida qualquer multa ou penalidade, de qualquer natureza. O não resgate  de cotas subordinadas mezanino da Classe Investida detidas pela Classe poderá impactar  negativamente no fluxo de pagamento de resgate da Classe e/ou no valor patrimonial das Cotas da  Classe.</a:t>
            </a:r>
          </a:p>
          <a:p>
            <a:r>
              <a:t>CNPJ 55563624000109 · Classe, subclasse e responsabilidade · Regulamento · ID 1192614 · 2026-04-30 · versão 1 · p. 2 · 1.2 · https://fnet.bmfbovespa.com.br/fnet/publico/visualizarDocumento?id=1192614</a:t>
            </a:r>
          </a:p>
          <a:p>
            <a:r>
              <a:t>CNPJ 55563624000109 · Classe, subclasse e responsabilidade · Excerto da fonte:</a:t>
            </a:r>
          </a:p>
          <a:p>
            <a:r>
              <a:t>1.2 Este regulamento é composto por esta parte geral, um ou mais anexos, conforme o número de classes aqui  previsto e respectivos apêndices relativos a cada subclasse de cotas, conforme aplicável (respectivamente,  “Regulamento”, “Parte Geral”, “Anexos” e “Apêndices”).</a:t>
            </a:r>
          </a:p>
          <a:p>
            <a:r>
              <a:t> Denominação da Classe Anexo  CLASSE ÚNICA DE RESPONSABILIDADE LIMITADA DO  PLGN MARKETPLACE FUNDO DE INVESTIMENTO EM  Anexo Único (“Anexo”)  COTAS DE FUNDO DE INVESTIMENTO EM DIREITOS  CREDITÓRIOS (“Classe” ou “Classe Única”)</a:t>
            </a:r>
          </a:p>
          <a:p>
            <a:r>
              <a:t>CNPJ 55563624000109 · Classe, subclasse e responsabilidade · Regulamento · ID 1192614 · 2026-04-30 · versão 1 · p. 24 · 12.3 · https://fnet.bmfbovespa.com.br/fnet/publico/visualizarDocumento?id=1192614</a:t>
            </a:r>
          </a:p>
          <a:p>
            <a:r>
              <a:t>CNPJ 55563624000109 · Classe, subclasse e responsabilidade · Excerto da fonte:</a:t>
            </a:r>
          </a:p>
          <a:p>
            <a:r>
              <a:t>12.3 Incluem-se entre as obrigações do ADMINISTRADOR, sem prejuízo de outras previstas na regulamentação:</a:t>
            </a:r>
          </a:p>
          <a:p>
            <a:r>
              <a:t> (i) sem prejuízo da observância dos procedimentos relativos às demonstrações contábeis, manter,  separadamente, registros com informações completas sobre toda e qualquer modalidade de negociação  realizada entre o ADMINISTRADOR, GESTOR, CUSTODIANTE, e/ou suas respectivas partes relacionadas,  tais como definidas pelas regras contábeis que tratam desse assunto, de um lado; e a Classe, de outro;</a:t>
            </a:r>
          </a:p>
          <a:p>
            <a:r>
              <a:t> (ii) diligenciar para que sejam mantidos, às suas expensas, atualizados e em perfeita ordem:</a:t>
            </a:r>
          </a:p>
          <a:p>
            <a:r>
              <a:t> (a) o registro de Cotistas;</a:t>
            </a:r>
          </a:p>
          <a:p>
            <a:r>
              <a:t> (b) o livro de atas das Assembleias de Cotistas;</a:t>
            </a:r>
          </a:p>
          <a:p>
            <a:r>
              <a:t> (c) o livro ou lista de presença de Cotistas;</a:t>
            </a:r>
          </a:p>
          <a:p>
            <a:r>
              <a:t> (d) os pareceres do Auditor Independente; e</a:t>
            </a:r>
          </a:p>
          <a:p>
            <a:r>
              <a:t> (e) os registros contábeis referentes às operações e ao patrimônio da Classe;</a:t>
            </a:r>
          </a:p>
          <a:p>
            <a:r>
              <a:t> (iii) pagar a multa cominatória às suas expensas, nos termos da legislação vigente, por cada dia de atraso no  cumprimento dos prazos previstos na regulamentação aplicável;</a:t>
            </a:r>
          </a:p>
          <a:p>
            <a:r>
              <a:t> (iv) elaborar e divulgar as informações periódicas e eventuais da Classe, nos termos deste Anexo e da  regulamentação e da autorregulação em vigor;</a:t>
            </a:r>
          </a:p>
          <a:p>
            <a:r>
              <a:t> (v) manter atualizada junto à CVM a lista de todos os prestadores de serviços contratados pela Classe,  inclusive os Prestadores de Serviços Essenciais, bem como as demais informações cadastrais da Classe e  suas Subclasses;</a:t>
            </a:r>
          </a:p>
          <a:p>
            <a:r>
              <a:t> (vi) manter serviço de atendimento aos Cotistas, responsável pelo esclarecimento de dúvidas e pelo  recebimento de reclamações;</a:t>
            </a:r>
          </a:p>
          <a:p>
            <a:r>
              <a:t> (vii) receber e processar os pedidos de resgate;</a:t>
            </a:r>
          </a:p>
          <a:p>
            <a:r>
              <a:t> (viii) monitorar os Eventos de Verificação do Patrimônio;</a:t>
            </a:r>
          </a:p>
          <a:p>
            <a:r>
              <a:t> (ix) monitorar os Eventos de Avaliação e Eventos de Liquidação;</a:t>
            </a:r>
          </a:p>
          <a:p>
            <a:r>
              <a:t> (x) observar as disposições constantes do Regulamento;</a:t>
            </a:r>
          </a:p>
          <a:p>
            <a:r>
              <a:t> (xi) cumprir as deliberações da Assembleia de Cotistas; e</a:t>
            </a:r>
          </a:p>
          <a:p>
            <a:r>
              <a:t> (xii) observar as disposições do Código ANBIMA e das Regras e Procedimentos ANBIMA</a:t>
            </a:r>
          </a:p>
          <a:p>
            <a:r>
              <a:t>CNPJ 55563624000109 · Classe, subclasse e responsabilidade · Condição: Documentos atuais selecionados no inventário por categoria/escopo; a data documental isolada não comprova vigência jurídica.</a:t>
            </a:r>
          </a:p>
          <a:p>
            <a:r>
              <a:t>CNPJ 55563624000109 · Classe, subclasse e responsabilidade · Versão e prevalência: Documentos atuais selecionados no inventário por categoria/escopo; a data documental isolada não comprova vigência jurídica.</a:t>
            </a:r>
          </a:p>
          <a:p>
            <a:r>
              <a:t>CNPJ 55563624000109 · Classe, subclasse e responsabilidade · Resumo do histórico: {"count": 5, "dates": ["2024-07-03", "2025-01-31", "2026-01-31"], "document_count": 3, "sources": [{"document_id": "1178840", "title": "Demonstrações Financeiras", "reference_date": "2026-01-31", "version": "1", "page": 3, "url": "https://fnet.bmfbovespa.com.br/fnet/publico/visualizarDocumento?id=1178840", "sha256": "c458e98664c5c907ddb5a05a94b120bed4e05295b2bfc420f5ba69af0a229abe"}, {"document_id": "891861", "title": "Demonstrações Financeiras", "reference_date": "2025-01-31", "version": "1", "page": 27, "url": "https://fnet.bmfbovespa.com.br/fnet/publico/visualizarDocumento?id=891861", "sha256": "e9cb9e6ddbe505fe068cfcac33605165a98313489de0d3ce6d4d238263c3f3e7"}, {"document_id": "703295", "title": "Anúncio de Início", "reference_date": "2024-07-03", "version": "2", "page": 1, "url": "https://fnet.bmfbovespa.com.br/fnet/publico/visualizarDocumento?id=703295", "sha256": "12322b6dbf75e673723bd60910373db249451b72666792e18e0c7b6128f4608a"}], "reference": {"path": "history/55563624000109.json", "criterion_id": "perimeter", "total_count": 5, "preview_count": 3, "full_text_deferred": true, "sha256": "7835d573fb58a3c19adf5b8ecc2aee2bdbb9a88f7a0c0209b5f262b64c7522e3"}}</a:t>
            </a:r>
          </a:p>
          <a:p>
            <a:r>
              <a:t>CNPJ 62552447000120 · Classe, subclasse e responsabilidade · Regulamento · ID 1200623 · 2026-05-21 · versão 1 · p. 1 · 1.3 · https://fnet.bmfbovespa.com.br/fnet/publico/visualizarDocumento?id=1200623</a:t>
            </a:r>
          </a:p>
          <a:p>
            <a:r>
              <a:t>CNPJ 62552447000120 · Classe, subclasse e responsabilidade · Excerto da fonte:</a:t>
            </a:r>
          </a:p>
          <a:p>
            <a:r>
              <a:t>1.3 Durante o seu prazo de duração, o Fundo, por ato conjunto dos Prestadores de Serviços Essenciais,  poderá constituir diferentes Classes e Subclasses , sendo que cada Classe terá patrimônio segregado e</a:t>
            </a:r>
          </a:p>
          <a:p>
            <a:r>
              <a:t>CNPJ 62552447000120 · Classe, subclasse e responsabilidade · Regulamento · ID 1200623 · 2026-05-21 · versão 1 · p. 1 · 1.1 · https://fnet.bmfbovespa.com.br/fnet/publico/visualizarDocumento?id=1200623</a:t>
            </a:r>
          </a:p>
          <a:p>
            <a:r>
              <a:t>CNPJ 62552447000120 · Classe, subclasse e responsabilidade · Excerto da fonte:</a:t>
            </a:r>
          </a:p>
          <a:p>
            <a:r>
              <a:t>1.1 V CDT 1 FUNDO DE INVESTIMENTO EM DIREITOS CREDITÓRIOS RESPONSABILIDADE  LIMITADA (“Fundo”), regido pela Lei n.º 10.406, de 10 de janeiro de 2002, conforme alterada (“Código  Civil”), pela Resolução da Comissão de Valores Mobiliários (“CVM”) n.º 175, de 23 de dezembro de  2022, conf orme alterada (“Resolução CVM 175”), que inclui sua Parte Geral (“Parte Geral da  Resolução CVM 175”) e seu Anexo Normativo II (“Anexo Normativo II”) terá como principais  características:</a:t>
            </a:r>
          </a:p>
          <a:p>
            <a:r>
              <a:t>CNPJ 62552447000120 · Classe, subclasse e responsabilidade · Regulamento · ID 1200623 · 2026-05-21 · versão 1 · p. 1 · https://fnet.bmfbovespa.com.br/fnet/publico/visualizarDocumento?id=1200623</a:t>
            </a:r>
          </a:p>
          <a:p>
            <a:r>
              <a:t>CNPJ 62552447000120 · Classe, subclasse e responsabilidade · Excerto da fonte:</a:t>
            </a:r>
          </a:p>
          <a:p>
            <a:r>
              <a:t>CLASSE ÚNICA DO V CDT 1 FUNDO DE  INVESTIMENTO EM DIREITOS CREDITÓRIOS Anexo I (“Anexo I”)  RESPONSABILIDADE LIMITADA</a:t>
            </a:r>
          </a:p>
          <a:p>
            <a:r>
              <a:t>CNPJ 62552447000120 · Classe, subclasse e responsabilidade · Condição: Documentos atuais selecionados no inventário por categoria/escopo; a data documental isolada não comprova vigência jurídica.</a:t>
            </a:r>
          </a:p>
          <a:p>
            <a:r>
              <a:t>CNPJ 62552447000120 · Classe, subclasse e responsabilidade · Versão e prevalência: Documentos atuais selecionados no inventário por categoria/escopo; a data documental isolada não comprova vigência jurídica.</a:t>
            </a:r>
          </a:p>
          <a:p>
            <a:r>
              <a:t>CNPJ 62552447000120 · Classe, subclasse e responsabilidade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"perimeter", "total_count": 1, "preview_count": 1, "full_text_deferred": true, "sha256": "d95db8c0613d67ee84118c734588665265ea6b02f86a0318d6a844cbe1d0f82f"}}</a:t>
            </a:r>
          </a:p>
          <a:p>
            <a:r>
              <a:t>CNPJ 63953620000165 · Classe, subclasse e responsabilidade · Anexo ao Regulamento · ID 1222863 · 02/06/2026 · versão AnexoConsignadoPrivado02/06/2026 · p. 3 · 2.1 · https://fnet.bmfbovespa.com.br/fnet/publico/visualizarDocumento?id=1222863</a:t>
            </a:r>
          </a:p>
          <a:p>
            <a:r>
              <a:t>CNPJ 63953620000165 · Classe, subclasse e responsabilidade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deverá adotar as medidas aplicáveis previstas na Resolução CVM 175. 2.3 Serão aplicáveis as disposições da Resolução CVM 175 no que se refere aos procedimentos a serem adotados pelo Administrador na hipótese de Patrimônio Líquido negativo da Classe. BTG Pactual SAC: 0800 772 28 27 - Ouvidoria: 0800 722 00 48 - btgpactual.com</a:t>
            </a:r>
          </a:p>
          <a:p>
            <a:r>
              <a:t>CNPJ 63953620000165 · Classe, subclasse e responsabilidade · Anexo ao Regulamento · ID 1222863 · 02/06/2026 · versão AnexoConsignadoPrivado02/06/2026 · p. 10 · 6.7.1 · https://fnet.bmfbovespa.com.br/fnet/publico/visualizarDocumento?id=1222863</a:t>
            </a:r>
          </a:p>
          <a:p>
            <a:r>
              <a:t>CNPJ 63953620000165 · Classe, subclasse e responsabilidade · Excerto da fonte:</a:t>
            </a:r>
          </a:p>
          <a:p>
            <a:r>
              <a:t>6.7.1 As Chamadas de Capital para a realização de investimentos serão realizadas a qualquer momento durante o Período de Investimento e estarão limitadas ao valor do capital subscrito de cada Cotista. As Chamadas de Capital para o pagamento de despesas e encargos do Fundo, com exceção de despesas relacionadas à instrumentos de derivativos e/ou Encargos não previstos no âmbito deste regulamento, poderão ser realizadas a qualquer momento durante o Prazo de Duração, mas não estarão limitadas ao valor do capital subscrito de cada Cotista. 6.7.2 Ao receber uma Chamada d</a:t>
            </a:r>
          </a:p>
          <a:p>
            <a:r>
              <a:t>CNPJ 63953620000165 · Classe, subclasse e responsabilidade · Condição: Alcance das chamadas além do capital comprometido não resolvido textualmente; não certificar limitação apenas por título do fundo.</a:t>
            </a:r>
          </a:p>
          <a:p>
            <a:r>
              <a:t>CNPJ 63953620000165 · Classe, subclasse e responsabilidade · Versão e prevalência: Leitura específica das cláusulas indicadas; condições e conflitos preservados. Seleção documental atual não comprova vigência jurídica por data isolada.</a:t>
            </a:r>
          </a:p>
          <a:p>
            <a:r>
              <a:t>CNPJ 63953620000165 · Classe, subclasse e responsabilidade · Resumo do histórico: {"count": 4, "dates": ["2026-04-28", "2026-05-08", "2026-05-15"], "document_count": 3, "sources": [{"document_id": "1327859", "title": "Demonstrações Financeiras - Fusão, cisão e incorporação", "reference_date": "2026-05-15", "version": "1", "page": 1, "url": "https://fnet.bmfbovespa.com.br/fnet/publico/visualizarDocumento?id=1327859", "sha256": "dca1c68babb97f887528c3e2e47596a9c30f507b067981a35655b2f2da9c8054"}, {"document_id": "1298691", "title": "Demonstrações Financeiras - Fusão, cisão e incorporação", "reference_date": "2026-05-08", "version": "1", "page": 1, "url": "https://fnet.bmfbovespa.com.br/fnet/publico/visualizarDocumento?id=1298691", "sha256": "58c570d9b8d4d265330d3db3ea81c435b8e44a6dab4002aa37790652a1ee9819"}, {"document_id": "1205431", "title": "AGE", "reference_date": "2026-04-28", "version": "1", "page": 1, "clause": "4.1", "url": "https://fnet.bmfbovespa.com.br/fnet/publico/visualizarDocumento?id=1205431", "sha256": "e0b59c701c5d0dbf60de698ea7664d442240863b7043bacdb334ce484188b2ac"}], "reference": {"path": "history/63953620000165.json", "criterion_id": "perimeter", "total_count": 4, "preview_count": 3, "full_text_deferred": true, "sha256": "a7b89077f5e21098c2d601c303faabc3ff6b9729f89d8afecdc60fe1404720c1"}}</a:t>
            </a:r>
          </a:p>
          <a:p>
            <a:r>
              <a:t>CNPJ 54871427000194 · Adaptação à Resolução CVM 175 · Regulamento · ID 670691 · 28/04/2024 · versão Regulamento — referência 28/04/2024 · p. 1 · Parte Geral, 1.1 · https://fnet.bmfbovespa.com.br/fnet/publico/visualizarDocumento?id=670691</a:t>
            </a:r>
          </a:p>
          <a:p>
            <a:r>
              <a:t>CNPJ 54871427000194 · Adaptação à Resolução CVM 175 · Excerto da fonte:</a:t>
            </a:r>
          </a:p>
          <a:p>
            <a:r>
              <a:t>1.1 CONSIGNADO DELTA RECEIVABLES I FUNDO DE INVESTIMENTO EM DIREITOS CREDITÓRIOS (“FUNDO”), regido pela Lei nº 10.406, de 10 de janeiro de 2002, conf orme alterada (“Código Civil”), pela parte geral e o Anexo Normativo II da Resolução nº 175, de 23 de dezembro de 2022, conforme alterada, da Comissão de Valores Mobiliários (respectivamente, “CVM” e “Resolução CVM 175”), terá como principais características: Classe de Cotas Classe única. Indeterminado, exceto se de outra f orma vier a ser deliberado pelos cotistas Prazo de Duração reunidos em assembleia geral de cotistas. BTG Pactual Serviços Financeiros S.A. Distribuidora de Títulos e Valores Mobiliários, instituição f inanceira, com sede na Cidade e Estado do Rio de Janeiro, na Praia de Botafogo, nº 501, 5º andar (parte), Torre Corcovado, ADMINISTRADOR Botafogo, CEP 22250-040, inscrita no CNPJ sob o nº 59.281.253/0001-23 e credenciada como administradora de carteira, de acordo com o Ato Declaratório CVM nº</a:t>
            </a:r>
          </a:p>
          <a:p>
            <a:r>
              <a:t>CNPJ 54871427000194 · Adaptação à Resolução CVM 175 · Regulamento · ID 670691 · 28/04/2024 · versão Regulamento — referência 28/04/2024 · p. 8 · Anexo I, 2.1 · https://fnet.bmfbovespa.com.br/fnet/publico/visualizarDocumento?id=670691</a:t>
            </a:r>
          </a:p>
          <a:p>
            <a:r>
              <a:t>CNPJ 54871427000194 · Adaptação à Resolução CVM 175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deverá adotar as medidas aplicáveis previstas na Resolução CVM 175. 2.3 Serão aplicáveis as disposições da Resolução CVM 175 no que se refere aos procedimentos a serem adotados pelo ADMINISTRADOR na hipótese de Patrimônio Líquido negativo da Classe. CAPÍTULO 3 – ENCARGOS DA CLASSE 3.1 A Classe terá Encargos que lhe poderão ser debitados diretamente, nos termos do art. 53 do Anexo Normativo II da Resolução CVM 175, além de encargos adicionais, e quaisquer despesas que não constituam Encargos correm por conta do Prestador de Serviço Essencial que a tiver contratado: (i) despesas com a contratação de consultoria especializada, conf orme o caso; (ii) despesas com a contratação do Agente de Cobrança, conf orme aplicável; (iii) Taxa Máxima de Custódia; (iv) despesas com registro de Direitos Creditórios; (v) despesas com serviços de originação, cobranças ordinária e/ou extraordinária dos D</a:t>
            </a:r>
          </a:p>
          <a:p>
            <a:r>
              <a:t>CNPJ 54871427000194 · Adaptação à Resolução CVM 175 · Versão e prevalência: Leitura específica das cláusulas indicadas; condições e conflitos preservados. Seleção documental atual não comprova vigência jurídica por data isolada.</a:t>
            </a:r>
          </a:p>
          <a:p>
            <a:r>
              <a:t>CNPJ 54871427000194 · Adaptação à Resolução CVM 175 · Resumo do histórico: {"count": 2, "dates": ["2024-04-19"], "document_count": 2, "sources": [{"document_id": "670687", "title": "Instrumento Particular de Constituição/Encerramento do Fundo", "reference_date": "2024-04-19", "version": "1", "page": 1, "url": "https://fnet.bmfbovespa.com.br/fnet/publico/visualizarDocumento?id=670687", "sha256": "999f2a47d39f7022b0fcee3d16fd1db33948537b897e92c4c9e14b436bf5eb96"}, {"document_id": "670689", "title": "Regulamento", "reference_date": "2024-04-19", "version": "1", "page": 11, "clause": "4.10", "url": "https://fnet.bmfbovespa.com.br/fnet/publico/visualizarDocumento?id=670689", "sha256": "891bc9bc5d87bbc02ec139077a84d2702eb81ea02035fb71d24f5b8366b94a0b"}], "reference": {"path": "history/54871427000194.json", "criterion_id": "res175", "total_count": 2, "preview_count": 2, "full_text_deferred": true, "sha256": "35d7cd99be50c7287c9fb675cf4f2e736002315295a225a9efa79c8d9186d874"}}</a:t>
            </a:r>
          </a:p>
          <a:p>
            <a:r>
              <a:t>CNPJ 60010416000112 · Adaptação à Resolução CVM 175 · Regulamento · ID 1051393 · 09/10/2025 · versão Regulamento09/10/2025 · p. 8 · AnexoI1.2 · https://fnet.bmfbovespa.com.br/fnet/publico/visualizarDocumento?id=1051393</a:t>
            </a:r>
          </a:p>
          <a:p>
            <a:r>
              <a:t>CNPJ 60010416000112 · Adaptação à Resolução CVM 175 · Excerto da fonte:</a:t>
            </a:r>
          </a:p>
          <a:p>
            <a:r>
              <a:t>Tipo de Condomínio Fechado. Prazo de Duração Indeterminado. Classe de Investimento Não. em Cotas Tipo “Financeiro”. Classificação ANBIMA Foco de atuação “Créditos Consignados”. O objetivo da classe é proporcionar aos seus Cotistas a valorização de suas Cotas por meio da aplicação de seu Patrimônio Líquido na aquisição de: (i) Direitos Creditórios que atendam aos Critérios de Elegibilidade, estabelecidos no Ca</a:t>
            </a:r>
          </a:p>
          <a:p>
            <a:r>
              <a:t>CNPJ 60010416000112 · Adaptação à Resolução CVM 175 · Regulamento · ID 1051393 · 09/10/2025 · versão Regulamento09/10/2025 · p. 9 · AnexoI2.1–2.3 · https://fnet.bmfbovespa.com.br/fnet/publico/visualizarDocumento?id=1051393</a:t>
            </a:r>
          </a:p>
          <a:p>
            <a:r>
              <a:t>CNPJ 60010416000112 · Adaptação à Resolução CVM 175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o Administrador deverá adotar as medidas aplicáveis previstas na Resolução CVM 175 2.3 Serão aplicáveis as disposições da Resolução CVM 175 no que se ref ere aos procedimentos a serem adotados pelo Administrador na hipótese de Patrimônio Líquido negativo da Classe, visando a liquidação da Classe e que não remanesçam</a:t>
            </a:r>
          </a:p>
          <a:p>
            <a:r>
              <a:t>CNPJ 60010416000112 · Adaptação à Resolução CVM 175 · Versão e prevalência: Leitura específica das cláusulas indicadas; condições e conflitos preservados. Seleção documental atual não comprova vigência jurídica por data isolada.</a:t>
            </a:r>
          </a:p>
          <a:p>
            <a:r>
              <a:t>CNPJ 60010416000112 · Adaptação à Resolução CVM 175 · Resumo do histórico: {"count": 2, "dates": ["2025-03-20"], "document_count": 2, "sources": [{"document_id": "993785", "title": "Instrumento Particular de Constituição/Encerramento do Fundo", "reference_date": "2025-03-20", "version": "1", "page": 1, "url": "https://fnet.bmfbovespa.com.br/fnet/publico/visualizarDocumento?id=993785", "sha256": "0826e0eae2c51afabf59bbc49fc7647598d03da5ca6de0f9725850a8bd6af457"}, {"document_id": "993786", "title": "Regulamento", "reference_date": "2025-03-20", "version": "1", "page": 12, "clause": "4.8", "url": "https://fnet.bmfbovespa.com.br/fnet/publico/visualizarDocumento?id=993786", "sha256": "fd0fdd369a195510d81f81f505195a0b09e5f43522a990afa7d58c4f872921c8"}], "reference": {"path": "history/60010416000112.json", "criterion_id": "res175", "total_count": 2, "preview_count": 2, "full_text_deferred": true, "sha256": "8e2bd813f4c51cf01f6bfaad164bafe69d2bbb192f753eac92da3a01c2e63046"}}</a:t>
            </a:r>
          </a:p>
          <a:p>
            <a:r>
              <a:t>CNPJ 62696791000193 · Adaptação à Resolução CVM 175 · AGE · ID 1143319 · 20/03/2026 10:00 · versão AGE — referência 20/03/2026 10:00 · p. 1 · AGC, 4.1(a)–(b) · https://fnet.bmfbovespa.com.br/fnet/publico/visualizarDocumento?id=1143319</a:t>
            </a:r>
          </a:p>
          <a:p>
            <a:r>
              <a:t>CNPJ 62696791000193 · Adaptação à Resolução CVM 175 · Excerto da fonte:</a:t>
            </a:r>
          </a:p>
          <a:p>
            <a:r>
              <a:t>4.1. Aprovar a transformação do Fundo, bem como de sua Classe única, em um fundo de investimento nas cadeias produtivas do agronegócio (“Transformação”), nos termos da parte geral e do Anexo Normativo VI da Resolução nº 175 da CVM, de 23 de dezembro de 2022, conforme alterada (“Resolução CVM 175”). a. Aprovar a alteração da denominação do Fundo, que passará a vigorar como BTG PACTUAL CERES CONFINA FUNDO DE INVESTIMENTO NAS CADEIAS PRODUTIVAS DO AGRONEGÓCIO RESPONSABILIDADE LIMITADA, e de sua Classe única, que passará a vigorar como CLASSE ÚNICA DO BTG PACTUAL CERES CONFINA FUNDO DE INVESTIMENTO NAS CADEIAS PRODUTIVAS DO AGRONEGÓCIO RESPONSABILIDADE LIMITADA (“Classe”); b. Aprovar a reforma integral do Regulamento do Fundo, bem como do Anexo descritivo da Classe, para realizar todos os ajustes necessários à implementação da Transformação, incluindo, mas não se limitando, a política de investimentos, o regime tributário e os fatores de risco aplicáveis, conforme itens abaixo; c. Aprovar a alteração do quadro de características gerais do Fundo, considerando a contratação do Cogestor pelo Gestor, nos termos do artigo 52, II, da parte geral da Resolução CVM 175 e no co</a:t>
            </a:r>
          </a:p>
          <a:p>
            <a:r>
              <a:t>CNPJ 62696791000193 · Adaptação à Resolução CVM 175 · AGE · ID 1143319 · 20/03/2026 10:00 · versão AGE — referência 20/03/2026 10:00 · p. 3 · AGC 20/03/2026, 4.1(j)–(k) · https://fnet.bmfbovespa.com.br/fnet/publico/visualizarDocumento?id=1143319</a:t>
            </a:r>
          </a:p>
          <a:p>
            <a:r>
              <a:t>CNPJ 62696791000193 · Adaptação à Resolução CVM 175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Adaptação à Resolução CVM 175 · Regulamento · ID 1143317 · 20/03/2026 · versão Regulamento — referência 20/03/2026 · p. 1 · Parte Geral, 1.1 · https://fnet.bmfbovespa.com.br/fnet/publico/visualizarDocumento?id=1143317</a:t>
            </a:r>
          </a:p>
          <a:p>
            <a:r>
              <a:t>CNPJ 62696791000193 · Adaptação à Resolução CVM 175 · Excerto da fonte:</a:t>
            </a:r>
          </a:p>
          <a:p>
            <a:r>
              <a:t>1.1 BTG PACTUAL CERES CONFINA FUNDO DE INVESTIMENTO NAS CADEIAS PRODUTIVAS DO AGRONEGÓCIO RESPONSABILIDADE LIMITADA (“Fundo”), regido pela Lei nº 10.406, de 10 de janeiro de 2002, conf orme alterada (“Código Civil”), pela Lei n.º 8.668, de 25 de junho de 1993, conf orme alterada (“Lei 8.668”), pela parte geral, Anexo Normativo VI e, subsidiariamente, Anexo Normativo II da Resolução nº 175, de 23 de dezembro de 2022, conforme alterada, da Comissão de Valores Mobiliários (respectivamente, “Resolução CVM 175” e “CVM”), terá como principais características: Classe Classe única. Indeterminado, exceto se de outra f orma vier a ser deliberado pelos Cotistas Prazo de Duração reunidos em assembleia geral de Cotistas (“Prazo de Duração”). BTG Pactual Serviços Financeiros S.A. Distribuidora de Títulos e Valores Mobiliários, sociedade anônima, com sede no município e Estado do Rio de Janeiro, na Praia de Botafogo, nº 501, 5º andar (parte), Torre Corcovado, Administrador Botafogo, CEP 22250-040, inscrita no CNPJ sob o nº 59.281.253/0001-23 e</a:t>
            </a:r>
          </a:p>
          <a:p>
            <a:r>
              <a:t>CNPJ 62696791000193 · Adaptação à Resolução CVM 175 · Condição: Posição comumfev/26 é anterior à transformação e demanda o regime/regulamento anterior.</a:t>
            </a:r>
          </a:p>
          <a:p>
            <a:r>
              <a:t>CNPJ 62696791000193 · Adaptação à Resolução CVM 175 · Versão e prevalência: Leitura específica das cláusulas indicadas; condições e conflitos preservados. Seleção documental atual não comprova vigência jurídica por data isolada.</a:t>
            </a:r>
          </a:p>
          <a:p>
            <a:r>
              <a:t>CNPJ 55563624000109 · Adaptação à Resolução CVM 175 · Regulamento · ID 1192614 · 2026-04-30 · versão 1 · p. 13 · 4.11 · https://fnet.bmfbovespa.com.br/fnet/publico/visualizarDocumento?id=1192614</a:t>
            </a:r>
          </a:p>
          <a:p>
            <a:r>
              <a:t>CNPJ 55563624000109 · Adaptação à Resolução CVM 175 · Excerto da fonte:</a:t>
            </a:r>
          </a:p>
          <a:p>
            <a:r>
              <a:t>4.11 Nos termos dos artigos 45, parágrafo 7º, e 47 parágrafo único do Anexo Normativo II à Resolução CVM 175, uma  vez que as Cotas são destinadas exclusivamente a Investidores Profissionais, a Classe poderá ter até 100% (cem  por cento) de seu Patrimônio Líquido alocado em Cotas da Classe Investida, as quais são emitidas pela Classe  Investida.</a:t>
            </a:r>
          </a:p>
          <a:p>
            <a:r>
              <a:t>CNPJ 55563624000109 · Adaptação à Resolução CVM 175 · Regulamento · ID 1192614 · 2026-04-30 · versão 1 · p. 31 · 15.1.1 · https://fnet.bmfbovespa.com.br/fnet/publico/visualizarDocumento?id=1192614</a:t>
            </a:r>
          </a:p>
          <a:p>
            <a:r>
              <a:t>CNPJ 55563624000109 · Adaptação à Resolução CVM 175 · Excerto da fonte:</a:t>
            </a:r>
          </a:p>
          <a:p>
            <a:r>
              <a:t>15.1.1 Riscos de Crédito:</a:t>
            </a:r>
          </a:p>
          <a:p>
            <a:r>
              <a:t> (i) Risco de concentração na Classe Investida. Nos termos do presente Regulamento, a Classe  deverá manter alocado, no mínimo, 67% (sessenta e sete por cento) do Patrimônio Líquido nas Cotas  da Classe Investida. Alterações na condição econômico-financeira e na expectativa de desempenho ou  resultados da Classe Investida poderão, isolada ou cumulativamente, afetar negativamente o  rendimento do investimento nas Cotas, de forma mais severa do que se a Classe adotasse uma  estratégia de investimento de maior diversificação. O risco associado às aplicações de qualquer fundo  de investimento é diretamente proporcional à concentração da sua carteira, sendo que, quanto maior  essa concentração, maior será a sua vulnerabilidade.</a:t>
            </a:r>
          </a:p>
          <a:p>
            <a:r>
              <a:t> (ii) Risco relativo à Classe Investida. Nos termos deste Anexo, a Classe deverá manter alocado, no  mínimo, 67% (sessenta e sete por cento) do Patrimônio Líquido em Cotas da Classe Investida. Os  investimentos realizados pela Classe Investida poderão estar sujeitos a flutuações típicas do mercado,  risco de crédito, risco sistêmico, condições adversas de liquidez e negociação atípica nos mercados de  atuação, bem como outros riscos diversos. Este Anexo não contém a descrição de todas as  características, incluindo os riscos, da Classe Investida.</a:t>
            </a:r>
          </a:p>
          <a:p>
            <a:r>
              <a:t> (iii) Risco Relativo ao Pagamento de Encargos da Classe Investida. Tendo em vista a estrutura da  Classe Investida – que emitiu cotas sêniores, cotas subordinadas mezanino e cotas subordinadas júnior  – em situação ordinária os encargos da Classe Investida são arcados pelas cotas subordinadas júnior,  que se subordinam às cotas subordinadas mezanino e às cotas sêniores para fins de amortização,  resgate e distribuição de rendimentos, não impactando, portanto, as Cotas da Classe Investida. Não  obstante o funcionamento da Classe Investida em situação ordinária, em cenários extraordinários, na  eventualidade do valor das cotas subordinadas júnior ficar reduzido a zero ou a valor negativo, os  encargos da Classe Investida conforme previstos em seu regulamento, inclusive mas não se limitando  as remunerações dos prestadores de serviços essenciais, passarão a ser arcados pelas cotas  subordinadas mezanino (que são as Cotas da Classe Investida), impactando no valor do investimento  da Classe na Classe Investida, e consequentemente, o investimento dos Cotistas na Classe.</a:t>
            </a:r>
          </a:p>
          <a:p>
            <a:r>
              <a:t> (iv) Riscos referentes à carteira da Classe Investida. Na forma do Anexo Normativo II da Resolução  CVM 175, a Classe Investida investe, direta ou indiretamente, no mínimo, 67% (sessenta e sete por  cento) do seu patrimônio em direitos creditórios originados pela Mercado Pago. O investimento em tais  direitos creditórios está sujeito a fatores de risco específicos, conforme detalhados no regulamento da  Classe Investida, incluindo, mas não se limitando a:</a:t>
            </a:r>
          </a:p>
          <a:p>
            <a:r>
              <a:t> (a) Risco de liquidez dos direitos creditórios. O investimento da Classe Investida em direitos  creditórios apresenta peculiaridades em relação às aplicações usuais da maioria dos  fundos de investimento brasileiros, haja vista que não existe, no Brasil, mercado  secundário com liquidez para tais direitos creditórios. Caso a Classe Investida precise  vender os direitos creditórios adquiridos, poderá não haver mercado comprador para  tais créditos, bem como o preço de alienação de tais direitos creditórios poderá refletir  essa falta de liquidez, causando perda ao patrimônio da Classe Investida e,  consequentemente, à Classe.</a:t>
            </a:r>
          </a:p>
          <a:p>
            <a:r>
              <a:t>CNPJ 55563624000109 · Adaptação à Resolução CVM 175 · Regulamento · ID 1192614 · 2026-04-30 · versão 1 · p. 28 · 13.2 · https://fnet.bmfbovespa.com.br/fnet/publico/visualizarDocumento?id=1192614</a:t>
            </a:r>
          </a:p>
          <a:p>
            <a:r>
              <a:t>CNPJ 55563624000109 · Adaptação à Resolução CVM 175 · Excerto da fonte:</a:t>
            </a:r>
          </a:p>
          <a:p>
            <a:r>
              <a:t>13.2 Em condições ordinárias, as Cotas da Classe Investida não pagarão remuneração aos prestadores de serviços  essenciais da Classe Investida, nos termos de seu regulamento. Não obstante, em cenário extraordinário  conforme descrito no item 15.1.1 (iii), e para fins de atendimento ao artigo 98 da parte geral da Resolução CVM  175, a taxa máxima de administração corresponderá ao valor da Taxa Mínima de Administração acrescida de até  0,10% (dez centésimos por cento) ao ano incidente sobre o patrimônio líquido da Classe Investida,  compreendendo a taxa de administração da Classe Investida geridos por partes relacionadas ao GESTOR, cujas  cotas não estão admitidas à negociação em mercado organizado, conforme prevista no regulamento da Classe  Investida (“Taxa Máxima de Administração” e, quando referida em conjunto com a Taxa Mínima de  Administração, como “Taxa de Administração”). Caso a taxa de administração da Classe Investida não se  enquadre no disposto acima, estará disposta no regulamento da Classe Investida.</a:t>
            </a:r>
          </a:p>
          <a:p>
            <a:r>
              <a:t>CNPJ 55563624000109 · Adaptação à Resolução CVM 175 · Condição: Documentos atuais selecionados no inventário por categoria/escopo; a data documental isolada não comprova vigência jurídica.</a:t>
            </a:r>
          </a:p>
          <a:p>
            <a:r>
              <a:t>CNPJ 55563624000109 · Adaptação à Resolução CVM 175 · Versão e prevalência: Documentos atuais selecionados no inventário por categoria/escopo; a data documental isolada não comprova vigência jurídica.</a:t>
            </a:r>
          </a:p>
          <a:p>
            <a:r>
              <a:t>CNPJ 55563624000109 · Adaptação à Resolução CVM 175 · Resumo do histórico: {"count": 3, "dates": ["2024-07-03", "2025-01-31", "2026-01-31"], "document_count": 3, "sources": [{"document_id": "1178840", "title": "Demonstrações Financeiras", "reference_date": "2026-01-31", "version": "1", "page": 29, "url": "https://fnet.bmfbovespa.com.br/fnet/publico/visualizarDocumento?id=1178840", "sha256": "c458e98664c5c907ddb5a05a94b120bed4e05295b2bfc420f5ba69af0a229abe"}, {"document_id": "891861", "title": "Demonstrações Financeiras", "reference_date": "2025-01-31", "version": "1", "page": 30, "url": "https://fnet.bmfbovespa.com.br/fnet/publico/visualizarDocumento?id=891861", "sha256": "e9cb9e6ddbe505fe068cfcac33605165a98313489de0d3ce6d4d238263c3f3e7"}, {"document_id": "691674", "title": "Instrumento Particular de Emissão de Cotas", "reference_date": "2024-07-03", "version": "1", "page": 1, "url": "https://fnet.bmfbovespa.com.br/fnet/publico/visualizarDocumento?id=691674", "sha256": "78bf7b350f1785beae5f43bd209b5ed19e863cb9a2cff01542aac11dd63ca554"}], "reference": {"path": "history/55563624000109.json", "criterion_id": "res175", "total_count": 3, "preview_count": 3, "full_text_deferred": true, "sha256": "7835d573fb58a3c19adf5b8ecc2aee2bdbb9a88f7a0c0209b5f262b64c7522e3"}}</a:t>
            </a:r>
          </a:p>
          <a:p>
            <a:r>
              <a:t>CNPJ 62552447000120 · Adaptação à Resolução CVM 175 · Regulamento · ID 1200623 · 21/05/2026 · versão Consolidado21/05/2026 aprovado pelo ato1200625 · p. 1 · ParteGeral1.1 · https://fnet.bmfbovespa.com.br/fnet/publico/visualizarDocumento?id=1200623</a:t>
            </a:r>
          </a:p>
          <a:p>
            <a:r>
              <a:t>CNPJ 62552447000120 · Adaptação à Resolução CVM 175 · Excerto da fonte:</a:t>
            </a:r>
          </a:p>
          <a:p>
            <a:r>
              <a:t>1.1 V CDT 1 FUNDO DE INVESTIMENTO EM DIREITOS CREDITÓRIOS RESPONSABILIDADE LIMITADA (“Fundo”), regido pela Lei n.º 10.406, de 10 de janeiro de 2002, conforme alterada (“Código Civil”), pela Resolução da Comissão de Valores Mobiliários (“CVM”) n.º 175, de 23 de dezembro de 2022, conf orme alterada (“Resolução CVM 175”), que inclui sua Parte Geral (“Parte Geral da Resolução CVM 175”) e seu Anexo Normativo II (“Anexo Normativo II”) terá como principais características: Classe de Cotas Classe única. Indeterminado, exceto se de outra forma vier a ser deliberado pelos titulares</a:t>
            </a:r>
          </a:p>
          <a:p>
            <a:r>
              <a:t>CNPJ 62552447000120 · Adaptação à Resolução CVM 175 · Regulamento · ID 1200623 · 21/05/2026 · versão Consolidado21/05/2026 aprovado pelo ato1200625 · p. 2 · ParteGeral1.6(v) · https://fnet.bmfbovespa.com.br/fnet/publico/visualizarDocumento?id=1200623</a:t>
            </a:r>
          </a:p>
          <a:p>
            <a:r>
              <a:t>CNPJ 62552447000120 · Adaptação à Resolução CVM 175 · Excerto da fonte:</a:t>
            </a:r>
          </a:p>
          <a:p>
            <a:r>
              <a:t>V CDT 1 FUNDO DE INVESTIMENTO EM DIREITOS CREDITÓRIOS RESPONSABILIDADE LIMITADA direitos e obrigações distintos das demais Classes, nos termos do art. 5º da Parte Geral da Resolução CVM 175. 1.4 O Anexo de cada classe de Cotas (“Classe”), conforme aplicável, dispõe, sem prejuízo de outros requisitos e inf ormações previstos na regulamentação, sobre: (i) características gerais, incluindo a indicação dos demais prestadores de serviços; (ii) responsabilidade dos Cotistas e regime de insolvência; (iii) características, direitos, condições de emissão, subscrição, integralização,</a:t>
            </a:r>
          </a:p>
          <a:p>
            <a:r>
              <a:t>CNPJ 62552447000120 · Adaptação à Resolução CVM 175 · Regulamento · ID 1200623 · 21/05/2026 · versão Consolidado21/05/2026 aprovado pelo ato1200625 · p. 16 · AnexoI5.1 · https://fnet.bmfbovespa.com.br/fnet/publico/visualizarDocumento?id=1200623</a:t>
            </a:r>
          </a:p>
          <a:p>
            <a:r>
              <a:t>CNPJ 62552447000120 · Adaptação à Resolução CVM 175 · Excerto da fonte:</a:t>
            </a:r>
          </a:p>
          <a:p>
            <a:r>
              <a:t>5.1 A Classe não possui Subclasse. As características, os direitos e as condições de emissão, distribuição, subscrição, integralização, remuneração, Amortização e resgate das Cotas estão descritos neste Capítulo e no Capítulo 6. 5.1.1 Não obstante, por deliberação conjunta dos Prestadores de Serviços Essenciais e mediante aprovação em Assembleia Especial, poderá haver a divisão de Classes em Subclasses, nos termos da Resolução CVM 175. Após a primeira emissão de Cotas, novas emissões de Cotas (de quaisquer Subclasses) dependem de aprovação dos Cotistas. 5.2 As Cotas são escrit</a:t>
            </a:r>
          </a:p>
          <a:p>
            <a:r>
              <a:t>CNPJ 62552447000120 · Adaptação à Resolução CVM 175 · Versão e prevalência: Leitura específica das cláusulas indicadas; condições e conflitos preservados. Seleção documental atual não comprova vigência jurídica por data isolada.</a:t>
            </a:r>
          </a:p>
          <a:p>
            <a:r>
              <a:t>CNPJ 62552447000120 · Adaptação à Resolução CVM 175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"res175", "total_count": 1, "preview_count": 1, "full_text_deferred": true, "sha256": "d95db8c0613d67ee84118c734588665265ea6b02f86a0318d6a844cbe1d0f82f"}}</a:t>
            </a:r>
          </a:p>
          <a:p>
            <a:r>
              <a:t>CNPJ 63953620000165 · Adaptação à Resolução CVM 175 · Anexo ao Regulamento · ID 1222863 · 02/06/2026 · versão AnexoConsignadoPrivado02/06/2026 · p. 1 · AnexoI1.1 · https://fnet.bmfbovespa.com.br/fnet/publico/visualizarDocumento?id=1222863</a:t>
            </a:r>
          </a:p>
          <a:p>
            <a:r>
              <a:t>CNPJ 63953620000165 · Adaptação à Resolução CVM 175 · Excerto da fonte:</a:t>
            </a:r>
          </a:p>
          <a:p>
            <a:r>
              <a:t>1.1 As principais características da Classe Consignado Privado (para fins deste Anexo, “Classe”) estão descritas abaixo: Tipo de Condomínio Fechado. Indeterminado, exceto se de outra forma vier a ser deliberado pelos Cotistas Prazo de Duração reunidos em Assembleia Especial de Cotistas. (“Prazo de Duração”) Tipo “Financeiro”. Classificação ANBIMA Foco de atuação “Créditos Consignados”. O obje</a:t>
            </a:r>
          </a:p>
          <a:p>
            <a:r>
              <a:t>CNPJ 63953620000165 · Adaptação à Resolução CVM 175 · Anexo ao Regulamento · ID 1222863 · 02/06/2026 · versão AnexoConsignadoPrivado02/06/2026 · p. 9 · 5.1 · https://fnet.bmfbovespa.com.br/fnet/publico/visualizarDocumento?id=1222863</a:t>
            </a:r>
          </a:p>
          <a:p>
            <a:r>
              <a:t>CNPJ 63953620000165 · Adaptação à Resolução CVM 175 · Excerto da fonte:</a:t>
            </a:r>
          </a:p>
          <a:p>
            <a:r>
              <a:t>5.1 A Classe possui 2 (duas) Subclasses de Cotas, quais sejam, a subclasse sênior (“Subclasse Sênior” e “Cotas Seniores”) e a subclasse subordinada (“Subclasse Subordinada” e “Cotas Subordinadas” – as Cotas Subordinadas e Cotas Seniores, quando referidas em conjunto, “Cotas”). As características, os direitos e as condições de emissão, distribuição, subscrição, integralização, remuneração, amortização e resgate das Cotas estão descritos neste Capítulo e nos respectivos Apêndices. 5.2 As Cotas são escriturais, nominativas e correspondem a frações ideais do patrimônio da Classe, cuja propriedade presume-se: (i) pelo</a:t>
            </a:r>
          </a:p>
          <a:p>
            <a:r>
              <a:t>CNPJ 63953620000165 · Adaptação à Resolução CVM 175 · Condição: Vigência efetiva da versão 02/06/2026 não inferida da data de publicação; não aplicar a fev/26 automaticamente.</a:t>
            </a:r>
          </a:p>
          <a:p>
            <a:r>
              <a:t>CNPJ 63953620000165 · Adaptação à Resolução CVM 175 · Versão e prevalência: Leitura específica das cláusulas indicadas; condições e conflitos preservados. Seleção documental atual não comprova vigência jurídica por data isolada.</a:t>
            </a:r>
          </a:p>
          <a:p>
            <a:r>
              <a:t>CNPJ 63953620000165 · Adaptação à Resolução CVM 175 · Resumo do histórico: {"count": 9, "dates": ["2026-04-28", "2026-05-08", "2026-05-15"], "document_count": 3, "sources": [{"document_id": "1327859", "title": "Demonstrações Financeiras - Fusão, cisão e incorporação", "reference_date": "2026-05-15", "version": "1", "page": 31, "clause": "15.000.000", "url": "https://fnet.bmfbovespa.com.br/fnet/publico/visualizarDocumento?id=1327859", "sha256": "dca1c68babb97f887528c3e2e47596a9c30f507b067981a35655b2f2da9c8054"}, {"document_id": "1298691", "title": "Demonstrações Financeiras - Fusão, cisão e incorporação", "reference_date": "2026-05-08", "version": "1", "page": 32, "url": "https://fnet.bmfbovespa.com.br/fnet/publico/visualizarDocumento?id=1298691", "sha256": "58c570d9b8d4d265330d3db3ea81c435b8e44a6dab4002aa37790652a1ee9819"}, {"document_id": "1282180", "title": "Demonstrações Financeiras - Fusão, cisão e incorporação", "reference_date": "2026-04-28", "version": "1", "page": 32, "clause": "15.000.000", "url": "https://fnet.bmfbovespa.com.br/fnet/publico/visualizarDocumento?id=1282180", "sha256": "afaaa0e6809be4385e5bdb6c911aac582032c5bdbac3d7750234bf9eaf00438a"}], "reference": {"path": "history/63953620000165.json", "criterion_id": "res175", "total_count": 9, "preview_count": 3, "full_text_deferred": true, "sha256": "a7b89077f5e21098c2d601c303faabc3ff6b9729f89d8afecdc60fe1404720c1"}}</a:t>
            </a:r>
          </a:p>
          <a:p>
            <a:r>
              <a:t>CNPJ 54871427000194 · Duração e público-alvo · Demonstrações Financeiras - Fusão, cisão e incorporação · ID 1219522 · 2026-02-02 · versão 1 · p. 11 · https://fnet.bmfbovespa.com.br/fnet/publico/visualizarDocumento?id=1219522</a:t>
            </a:r>
          </a:p>
          <a:p>
            <a:r>
              <a:t>CNPJ 54871427000194 · Duração e público-alvo · Excerto da fonte:</a:t>
            </a:r>
          </a:p>
          <a:p>
            <a:r>
              <a:t>O Consignado Delta Receivables I Fundo de Investimento em Direitos Creditórios possui uma classe única de cotas, denominada Classe Única de Responsabilidade Limitada do Consignado Delta Receivables I Fundo de Investimento em Direitos Creditórios (“Classe”). A Classe foi constituída em 19 de abril de 2024, sob a forma de condomínio fechado e iniciou suas operações em 27 de maio de 2024. A Classe possui prazo de duração Indeterminado.</a:t>
            </a:r>
          </a:p>
          <a:p>
            <a:r>
              <a:t>CNPJ 54871427000194 · Duração e público-alvo · Condição: Documentos atuais selecionados no inventário por categoria/escopo; a data documental isolada não comprova vigência jurídica.</a:t>
            </a:r>
          </a:p>
          <a:p>
            <a:r>
              <a:t>CNPJ 54871427000194 · Duração e público-alvo · Versão e prevalência: Documentos atuais selecionados no inventário por categoria/escopo; a data documental isolada não comprova vigência jurídica.</a:t>
            </a:r>
          </a:p>
          <a:p>
            <a:r>
              <a:t>CNPJ 54871427000194 · Duração e público-alvo · Resumo do histórico: {"count": 11, "dates": ["2024-12-31", "2025-01-01", "2025-12-31"], "document_count": 3, "sources": [{"document_id": "1151805", "title": "Demonstrações Financeiras", "reference_date": "2025-12-31", "version": "1", "page": 11, "url": "https://fnet.bmfbovespa.com.br/fnet/publico/visualizarDocumento?id=1151805", "sha256": "f1cea70b152968bf96ef9221b27225953cb20aeef487b2798db3c25e11b528d4"}, {"document_id": "869529", "title": "Demonstrações Financeiras", "reference_date": "2025-01-01", "version": "1", "page": 11, "url": "https://fnet.bmfbovespa.com.br/fnet/publico/visualizarDocumento?id=869529", "sha256": "9a93a9369ac8efdbc54ff8fcee3ccac3abf88edab4807b9323d3852450771b2a"}, {"document_id": "870070", "title": "Demonstrações Financeiras", "reference_date": "2024-12-31", "version": "1", "page": 11, "url": "https://fnet.bmfbovespa.com.br/fnet/publico/visualizarDocumento?id=870070", "sha256": "9a93a9369ac8efdbc54ff8fcee3ccac3abf88edab4807b9323d3852450771b2a"}], "reference": {"path": "history/54871427000194.json", "criterion_id": "duration_investors", "total_count": 11, "preview_count": 3, "full_text_deferred": true, "sha256": "35d7cd99be50c7287c9fb675cf4f2e736002315295a225a9efa79c8d9186d874"}}</a:t>
            </a:r>
          </a:p>
          <a:p>
            <a:r>
              <a:t>CNPJ 60010416000112 · Duração e público-alvo · Demonstrações Financeiras - Fusão, cisão e incorporação · ID 1298690 · 2026-05-08 · versão 1 · p. 9 · https://fnet.bmfbovespa.com.br/fnet/publico/visualizarDocumento?id=1298690</a:t>
            </a:r>
          </a:p>
          <a:p>
            <a:r>
              <a:t>CNPJ 60010416000112 · Duração e público-alvo · Excerto da fonte:</a:t>
            </a:r>
          </a:p>
          <a:p>
            <a:r>
              <a:t>1. Contexto operacional  O MT Consignado Privado I Fundo de Investimento em Direitos Creditórios (“Fundo”) possui uma  classe única de cotas, denominada Classe Única do MT I Consignado Privado I Fundo de  Investimento em Direitos Creditórios Responsabilidade Limitada (“Classe”). A Classe foi  constituída em 20 de março de 2025, sob a forma de condomínio fechado e iniciou suas  operações em 21 de março de 2025. A Classe possui prazo de duração indeterminado.</a:t>
            </a:r>
          </a:p>
          <a:p>
            <a:r>
              <a:t>CNPJ 60010416000112 · Duração e público-alvo · Demonstrações Financeiras - Fusão, cisão e incorporação · ID 1298690 · 2026-05-08 · versão 1 · p. 22 · https://fnet.bmfbovespa.com.br/fnet/publico/visualizarDocumento?id=1298690</a:t>
            </a:r>
          </a:p>
          <a:p>
            <a:r>
              <a:t>CNPJ 60010416000112 · Duração e público-alvo · Excerto da fonte:</a:t>
            </a:r>
          </a:p>
          <a:p>
            <a:r>
              <a:t>(ii) Riscos do mercado secundário: A Classe é constituída sob a forma de condomínio  fechado, de modo que as Cotas Subordinadas somente serão resgatadas em virtude da  liquidação da Classe e as Cotas Seniores ao término do seu prazo de duração, conforme  estabelecidos nos respectivos Suplementos. Uma vez que o prazo de duração da Classe  é indeterminado, o Cotista titular das Cotas Subordinadas não terá liquidez em seu  investimento na Classe, exceto (a) por ocasião das amortizações e dos resgates, nos  termos do Regulamento; (b) por meio da alienação de suas Cotas no mercado  secundário, observado, neste caso, que sua alienação apenas é permitida para o Público-  Alvo das Cotas Subordinadas; ou (c) na liquidação antecipada do Fundo ou da Classe.</a:t>
            </a:r>
          </a:p>
          <a:p>
            <a:r>
              <a:t> Além disso, atualmente, o mercado secundário de cotas de fundos de investimento  apresenta baixa liquidez, o que pode dificultar a venda das Cotas ou ocasionar a obtenção  de um preço de venda que cause perda de patrimônio ao Cotista. Não há qualquer  garantia da Administradora, da Gestora, da consultora ou do Custodiante em relação à  possibilidade de venda das Cotas no mercado secundário ou ao preço obtido por elas,  ou mesmo garantia de saída ao Cotista.</a:t>
            </a:r>
          </a:p>
          <a:p>
            <a:r>
              <a:t>CNPJ 60010416000112 · Duração e público-alvo · Condição: Documentos atuais selecionados no inventário por categoria/escopo; a data documental isolada não comprova vigência jurídica.</a:t>
            </a:r>
          </a:p>
          <a:p>
            <a:r>
              <a:t>CNPJ 60010416000112 · Duração e público-alvo · Versão e prevalência: Documentos atuais selecionados no inventário por categoria/escopo; a data documental isolada não comprova vigência jurídica.</a:t>
            </a:r>
          </a:p>
          <a:p>
            <a:r>
              <a:t>CNPJ 60010416000112 · Duração e público-alvo · Resumo do histórico: {"count": 9, "dates": ["2025-11-30", "2026-03-18", "2026-04-16"], "document_count": 3, "sources": [{"document_id": "1282181", "title": "Demonstrações Financeiras - Fusão, cisão e incorporação", "reference_date": "2026-04-16", "version": "1", "page": 23, "url": "https://fnet.bmfbovespa.com.br/fnet/publico/visualizarDocumento?id=1282181", "sha256": "b1c6566e43a00bcd00c8a7f30c77b7f86e351bd8e355bbea113f46d1dafda703"}, {"document_id": "1224477", "title": "Demonstrações Financeiras - Fusão, cisão e incorporação", "reference_date": "2026-03-18", "version": "1", "page": 23, "url": "https://fnet.bmfbovespa.com.br/fnet/publico/visualizarDocumento?id=1224477", "sha256": "0751bf0a75bc3b44c2748f5000226665c6ec6698a90c4dc6170b4e6c187759ae"}, {"document_id": "1126154", "title": "Demonstrações Financeiras", "reference_date": "2025-11-30", "version": "1", "page": 23, "url": "https://fnet.bmfbovespa.com.br/fnet/publico/visualizarDocumento?id=1126154", "sha256": "a01e7ccf88c548f12c95cba8526d7efbef6b585c112cd4668eca781c292090b0"}], "reference": {"path": "history/60010416000112.json", "criterion_id": "duration_investors", "total_count": 9, "preview_count": 3, "full_text_deferred": true, "sha256": "8e2bd813f4c51cf01f6bfaad164bafe69d2bbb192f753eac92da3a01c2e63046"}}</a:t>
            </a:r>
          </a:p>
          <a:p>
            <a:r>
              <a:t>CNPJ 62696791000193 · Duração e público-alvo · Regulamento · ID 1143317 · 2026-03-20 · versão 1 · p. 18 · 8.8.1 · https://fnet.bmfbovespa.com.br/fnet/publico/visualizarDocumento?id=1143317</a:t>
            </a:r>
          </a:p>
          <a:p>
            <a:r>
              <a:t>CNPJ 62696791000193 · Duração e público-alvo · Excerto da fonte:</a:t>
            </a:r>
          </a:p>
          <a:p>
            <a:r>
              <a:t>8.8.1 As Chamadas de Capital para a realização de investimentos serão realizadas a qualquer  momento durante o Período de Investimento e estarão limitadas ao valor do capital subscrito  de cada Cotista. As Chamadas de Capital para o pagamento de despesas e encargos do Fundo  poderão ser realizadas a qualquer momento durante o Prazo de Duração, mas não estarão  limitadas ao valor do capital subscrito de cada Cotista.</a:t>
            </a:r>
          </a:p>
          <a:p>
            <a:r>
              <a:t>CNPJ 62696791000193 · Duração e público-alvo · Regulamento · ID 1143317 · 2026-03-20 · versão 1 · p. 20 · 9.5.1 · https://fnet.bmfbovespa.com.br/fnet/publico/visualizarDocumento?id=1143317</a:t>
            </a:r>
          </a:p>
          <a:p>
            <a:r>
              <a:t>CNPJ 62696791000193 · Duração e público-alvo · Excerto da fonte:</a:t>
            </a:r>
          </a:p>
          <a:p>
            <a:r>
              <a:t>9.5.1 Ao f inal do Prazo de Duração ou quando da liquidação antecipada da Classe, todas as Cotas  deverão ter seu valor integralmente amortizado. Não havendo recursos em moeda corrente  nacional suficientes para realizar o pagamento da amortização total das Cotas em circulação à  época da liquidação da Classe, o Administrador deverá convocar a Assembleia Especial de  Cotistas a fim de deliberar sobre a prorrogação do Prazo de Duração ou o resgate de Cotas em  Direitos Creditórios do Agronegócio e/ou Outros Ativos .</a:t>
            </a:r>
          </a:p>
          <a:p>
            <a:r>
              <a:t>10 ASSEMBLEIA ESPECIAL DE COTISTAS</a:t>
            </a:r>
          </a:p>
          <a:p>
            <a:r>
              <a:t>CNPJ 62696791000193 · Duração e público-alvo · Regulamento · ID 1143317 · 2026-03-20 · versão 1 · p. 23 · 11.1 · https://fnet.bmfbovespa.com.br/fnet/publico/visualizarDocumento?id=1143317</a:t>
            </a:r>
          </a:p>
          <a:p>
            <a:r>
              <a:t>CNPJ 62696791000193 · Duração e público-alvo · Excerto da fonte:</a:t>
            </a:r>
          </a:p>
          <a:p>
            <a:r>
              <a:t>11.1 A Classe será liquidada (i) em caso da liquidação antecipada deliberada em Assembleia Especial de  Cotistas; ou (ii) pelo encerramento do Prazo de Duração da Classe.</a:t>
            </a:r>
          </a:p>
          <a:p>
            <a:r>
              <a:t>CNPJ 62696791000193 · Duração e público-alvo · Condição: Documentos atuais selecionados no inventário por categoria/escopo; a data documental isolada não comprova vigência jurídica.</a:t>
            </a:r>
          </a:p>
          <a:p>
            <a:r>
              <a:t>CNPJ 62696791000193 · Duração e público-alvo · Versão e prevalência: Documentos atuais selecionados no inventário por categoria/escopo; a data documental isolada não comprova vigência jurídica.</a:t>
            </a:r>
          </a:p>
          <a:p>
            <a:r>
              <a:t>CNPJ 55563624000109 · Duração e público-alvo · AGE · ID 1306189 · 2026-08-25 · versão 1 · p. 1 · 4.1 · https://fnet.bmfbovespa.com.br/fnet/publico/visualizarDocumento?id=1306189</a:t>
            </a:r>
          </a:p>
          <a:p>
            <a:r>
              <a:t>CNPJ 55563624000109 · Duração e público-alvo · Excerto da fonte:</a:t>
            </a:r>
          </a:p>
          <a:p>
            <a:r>
              <a:t>4.1 Nos termos do Anexo da Classe, aprovar:</a:t>
            </a:r>
          </a:p>
          <a:p>
            <a:r>
              <a:t>(i) a liquidação da Subclasse A da Classe, considerando o encerramento do seu prazo de duração, por meio do  resgate integral de Cotas da Subclasse A com entrega de financeiro aos Cotistas. Será utilizada como data  base no cálculo da cota do dia 25 de agosto de 2026, com efetivação no fechamento do dia 27 de agosto de  2026; e</a:t>
            </a:r>
          </a:p>
          <a:p>
            <a:r>
              <a:t>(ii) a liquidação antecipada da Subclasse C da Classe, por meio do resgate integral de Cotas da Subclasse C com  entrega de financeiro aos Cotistas. Será utilizada como data base no cálculo da cota do dia 25 de agosto de  2026, com efetivação no fechamento do dia 27 de agosto de 2026.</a:t>
            </a:r>
          </a:p>
          <a:p>
            <a:r>
              <a:t>CNPJ 55563624000109 · Duração e público-alvo · Condição: Documentos atuais selecionados no inventário por categoria/escopo; a data documental isolada não comprova vigência jurídica.</a:t>
            </a:r>
          </a:p>
          <a:p>
            <a:r>
              <a:t>CNPJ 55563624000109 · Duração e público-alvo · Versão e prevalência: Documentos atuais selecionados no inventário por categoria/escopo; a data documental isolada não comprova vigência jurídica.</a:t>
            </a:r>
          </a:p>
          <a:p>
            <a:r>
              <a:t>CNPJ 55563624000109 · Duração e público-alvo · Resumo do histórico: {"count": 6, "dates": ["2026-04-30"], "document_count": 2, "sources": [{"document_id": "1192614", "title": "Regulamento", "reference_date": "2026-04-30", "version": "1", "page": "9, 15, 45-50", "url": "https://fnet.bmfbovespa.com.br/fnet/publico/visualizarDocumento?id=1192614", "sha256": "f56e63ace0acde41d2f47fb48f1ac7f3f7df5e2d32de092d7c5e075a52516632"}, {"document_id": "1192614", "title": "Regulamento", "reference_date": "2026-04-30", "version": "1", "page": 5, "clause": "4.7.1", "url": "https://fnet.bmfbovespa.com.br/fnet/publico/visualizarDocumento?id=1192614", "sha256": "f56e63ace0acde41d2f47fb48f1ac7f3f7df5e2d32de092d7c5e075a52516632"}, {"document_id": "1192603", "title": "AGE", "reference_date": "2026-04-30", "version": "1", "page": 1, "clause": "4.1", "url": "https://fnet.bmfbovespa.com.br/fnet/publico/visualizarDocumento?id=1192603", "sha256": "f53ff2a5b715f5365536305a098f9cc0c54b5a01128942d784915bed8eeb0288"}], "reference": {"path": "history/55563624000109.json", "criterion_id": "duration_investors", "total_count": 6, "preview_count": 3, "full_text_deferred": true, "sha256": "7835d573fb58a3c19adf5b8ecc2aee2bdbb9a88f7a0c0209b5f262b64c7522e3"}}</a:t>
            </a:r>
          </a:p>
          <a:p>
            <a:r>
              <a:t>CNPJ 62552447000120 · Duração e público-alvo · Regulamento · ID 1200623 · 2026-05-21 · versão 1 · p. 22 · 10.4 · https://fnet.bmfbovespa.com.br/fnet/publico/visualizarDocumento?id=1200623</a:t>
            </a:r>
          </a:p>
          <a:p>
            <a:r>
              <a:t>CNPJ 62552447000120 · Duração e público-alvo · Excerto da fonte:</a:t>
            </a:r>
          </a:p>
          <a:p>
            <a:r>
              <a:t>10.4 Tendo em vista que a Classe é exclusivamente destinada a Investidores Profissionais, não serão  aplicáveis as vedações ao direito a voto em assembleia de cotistas dispostas no artigo 78 da Resolução  CVM 175, conf orme disposto no artigo 114 da ref erida Resolução.</a:t>
            </a:r>
          </a:p>
          <a:p>
            <a:r>
              <a:t>CNPJ 62552447000120 · Duração e público-alvo · Regulamento · ID 1200623 · 2026-05-21 · versão 1 · p. 35 · https://fnet.bmfbovespa.com.br/fnet/publico/visualizarDocumento?id=1200623</a:t>
            </a:r>
          </a:p>
          <a:p>
            <a:r>
              <a:t>CNPJ 62552447000120 · Duração e público-alvo · Excerto da fonte:</a:t>
            </a:r>
          </a:p>
          <a:p>
            <a:r>
              <a:t>ativos desses emissores, causando perdas à Classe e ao Cotista. Além disso, a f alta de capacidade ou disposição de pagar por qualquer dos emissores dos Ativos Financeiros de Liquidez ou das contrapartes nas transações que compõem a Carteira causará perdas à Classe, e o que também poderá incorrer em custos para f ins de recuperação de seus recebíveis.</a:t>
            </a:r>
          </a:p>
          <a:p>
            <a:r>
              <a:t>(v) Riscos associados aos Devedores: no caso de Devedores no âmbito das operações de consignado privado, a sua capacidade de pagamento poderá ser af etada se, por exemplo, o Devedor tiver o seu contrato de emprego rescindido ou em virtude de decisão judicial, o Devedor for obrigado a pagar alimentos, que têm prioridade sobre o empréstimo para f ins de desconto na f 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 etar a rentabilidade da Classe. Já no caso de Devedores no âmbito das operações de Saque-aniversário, como os Direitos Creditórios a serem endossados à Classe serão descontados pelo FGTS da remuneração do Devedor, na ocorrência de qualquer evento que, nos termos da legislação aplicável, determine o pagamento antecipado do Saque-aniversário ao Devedor, a exemplo do falecimento do Devedor, dentre outros, as parcelas do Saque- aniversário serão pagas antecipadamente e a Classe deverá utilizar tais montantes no pré-pagamento dos Direitos Creditórios. Nesta hipótese, a Classe poderá não encontrar Direitos Creditórios disponíveis para serem adquiridos pela Classe, o que poderá af etar a rentabilidade da Classe.</a:t>
            </a:r>
          </a:p>
          <a:p>
            <a:r>
              <a:t>Risco de liquidez</a:t>
            </a:r>
          </a:p>
          <a:p>
            <a:r>
              <a:t>(i) Risco de liquidez: consiste no risco de redução ou inexistência de demanda pelos ativos que compõem a Classe nos respectivos mercados em que são negociados, devido às condições específicas desses ativos ou aos mercados em que são negociados. Devido a esses riscos, o Gestor poderá encontrar dificuldades em liquidar posições ou negociar esses ativos pelo preço e prazo desejados, de acordo com a estratégia de gestão adotada pela Classe, que permanecerá exposto, durante o período de baixa liquidez, aos riscos associados a esses ativos e posições assumidas em mercados de derivativos, se houver, que poderão até exigir que o Gestor aceite descontos em seus preços para realizar negociações no mercado. Esses f atores poderão prejudicar o pagamento de Amortizações ao Cotista, nos valores e dentro dos termos aqui estabelecidos.</a:t>
            </a:r>
          </a:p>
          <a:p>
            <a:r>
              <a:t>(ii) Riscos do mercado secundário: A Classe é constituída sob a f orma de condomínio fechado, de modo que as Cotas somente serão resgatadas em virtude da liquidação da Classe. Uma vez que o Prazo de Duração da Classe é indeterminado, o Cotista titular das Cotas não terá liquidez em seu investimento na Classe, exceto</a:t>
            </a:r>
          </a:p>
          <a:p>
            <a:r>
              <a:t>(a) por ocasião das Amortizações e dos resgates, nos termos deste Regulamento; (b) por meio da alienação de suas Cotas no mercado secundário; ou (c) na liquidação antecipada do FUNDO ou da Classe.</a:t>
            </a:r>
          </a:p>
          <a:p>
            <a:r>
              <a:t>Além disso, atualmente, o mercado secundário de cotas de fundos de investimento apresenta baixa liquidez, o que pode dificultar a venda das Cotas ou ocasionar a obtenção de um preço de venda que cause perda de patrimônio ao Cotista. Não há qualquer garantia do Administrador, do Gestor, da consultora ou do Custodiante em relação à possibilidade de venda das Cotas no mercado secundário ou ao preço obtido por elas, ou mesmo garantia de saída ao Cotista.</a:t>
            </a:r>
          </a:p>
          <a:p>
            <a:r>
              <a:t>Riscos específicos</a:t>
            </a:r>
          </a:p>
          <a:p>
            <a:r>
              <a:t>(i)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ficar inadimplente e, consequentemente, não haverá repasse à Classe do respectivo Direito Creditório, o que poderá resultar em perdas f inanceiras à Classe e aos Cotistas. Para os f ins deste Regulamento, “Empregador” signif ica a empresa com qual o Devedor mantém vínculo empregatício registrado junto à CTPS.</a:t>
            </a:r>
          </a:p>
          <a:p>
            <a:r>
              <a:t>(ii) Risco do Empregador não efetuar o desconto em folha: o repasse dos recursos oriundos dos Direitos Creditórios à Classe depende da realização, pelo Empregador, da escrituração da Consignação a ser</a:t>
            </a:r>
          </a:p>
          <a:p>
            <a:r>
              <a:t>CNPJ 62552447000120 · Duração e público-alvo · Regulamento · ID 1200623 · 2026-05-21 · versão 1 · p. 1 · 1.3 · https://fnet.bmfbovespa.com.br/fnet/publico/visualizarDocumento?id=1200623</a:t>
            </a:r>
          </a:p>
          <a:p>
            <a:r>
              <a:t>CNPJ 62552447000120 · Duração e público-alvo · Excerto da fonte:</a:t>
            </a:r>
          </a:p>
          <a:p>
            <a:r>
              <a:t>1.3 Durante o seu prazo de duração, o Fundo, por ato conjunto dos Prestadores de Serviços Essenciais,  poderá constituir diferentes Classes e Subclasses , sendo que cada Classe terá patrimônio segregado e</a:t>
            </a:r>
          </a:p>
          <a:p>
            <a:r>
              <a:t>CNPJ 62552447000120 · Duração e público-alvo · Condição: Documentos atuais selecionados no inventário por categoria/escopo; a data documental isolada não comprova vigência jurídica.</a:t>
            </a:r>
          </a:p>
          <a:p>
            <a:r>
              <a:t>CNPJ 62552447000120 · Duração e público-alvo · Versão e prevalência: Documentos atuais selecionados no inventário por categoria/escopo; a data documental isolada não comprova vigência jurídica.</a:t>
            </a:r>
          </a:p>
          <a:p>
            <a:r>
              <a:t>CNPJ 62552447000120 · Duração e público-alvo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"duration_investors", "total_count": 1, "preview_count": 1, "full_text_deferred": true, "sha256": "d95db8c0613d67ee84118c734588665265ea6b02f86a0318d6a844cbe1d0f82f"}}</a:t>
            </a:r>
          </a:p>
          <a:p>
            <a:r>
              <a:t>CNPJ 63953620000165 · Duração e público-alvo · Anexo ao Regulamento · ID 1222863 · 2026-06-02 · versão 1 · p. 2 · https://fnet.bmfbovespa.com.br/fnet/publico/visualizarDocumento?id=1222863</a:t>
            </a:r>
          </a:p>
          <a:p>
            <a:r>
              <a:t>CNPJ 63953620000165 · Duração e público-alvo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Duração e público-alvo · Anexo ao Regulamento · ID 1222863 · 2026-06-02 · versão 1 · p. 1 · 1.1 · https://fnet.bmfbovespa.com.br/fnet/publico/visualizarDocumento?id=1222863</a:t>
            </a:r>
          </a:p>
          <a:p>
            <a:r>
              <a:t>CNPJ 63953620000165 · Duração e público-alvo · Excerto da fonte:</a:t>
            </a:r>
          </a:p>
          <a:p>
            <a:r>
              <a:t>1.1 As principais características da Classe Consignado Privado (para fins deste Anexo, “Classe”) estão descritas  abaixo:</a:t>
            </a:r>
          </a:p>
          <a:p>
            <a:r>
              <a:t> Tipo de Condomínio Fechado.</a:t>
            </a:r>
          </a:p>
          <a:p>
            <a:r>
              <a:t> Indeterminado, exceto se de outra forma vier a ser deliberado pelos Cotistas  Prazo de Duração  reunidos em Assembleia Especial de Cotistas. (“Prazo de Duração”)  Tipo “Financeiro”.</a:t>
            </a:r>
          </a:p>
          <a:p>
            <a:r>
              <a:t> Classificação ANBIMA  Foco de atuação “Créditos Consignados”.</a:t>
            </a:r>
          </a:p>
          <a:p>
            <a:r>
              <a:t> O objetivo da classe é proporcionar aos seus Cotistas a valorização de suas Cotas  por meio da aplicação de seu Patrimônio Líquido (conforme definido abaixo) na  aquisição de: (i) “Direitos Creditórios Crédito Consignado”, representados por  cédula de crédito bancário regida pela Lei nº 10.931, emitida eletronicamente por  um devedor em favor do endossante (“CCB”) e, consequentemente, os recebíveis  decorrente de cada uma das parcelas vincendas, representando um empréstimo  consignado concedido pelo endossante ao devedor, e cujo pagamento ordinário  é feito por desconto de cada prestação vincenda de uma CCB na folha de  pagamentos do devedor (“Consignação”), efetuada pela Caixa Econômica  Federal, de acordo com a legislação aplicável e em conformidade com os  procedimentos estabelecidos no convênio celebrado entre o Endossante e a  Empresa de Tecnologia e Informações da Previdência – DATAPREV e paga na  Conta Vinculada do Endossante (“Convênio Consignado Privado”); e/ou (ii)  “Direitos Creditórios TVM”, representados por direitos, títulos e/ou valores  mobiliários representativos de créditos originados no âmbito de operações de  sociedades integrantes do conglomerado econômico de instituições financeiras  classificadas como S1 pelo BACEN, desde que não representem títulos de  emissão ou coobrigação de instituições financeiras, bem como cotas de fundos  de investimento que invistam preponderantemente nestes direitos, títulos e/ou  Objetivo  valores mobiliários (Direitos Creditórios TVM quando referidos em conjunto  com os Direitos Creditórios Consignado Privado, “Direitos Creditórios”)  observados todos os limites de composição e diversificação da carteira da Classe  (“Carteira”), estabelecidos neste Regulamento e na regulamentação aplicável.</a:t>
            </a:r>
          </a:p>
          <a:p>
            <a:r>
              <a:t> Subsidiariamente, a parcela do Patrimônio Líquido que não esteja alocada em  Direitos Creditórios poderá estar alocado em: (1) certificados de depósito  bancário (CDB) ou recibos de depósito bancário (RDB) com prazo máximo de  vencimento equivalente ao prazo remanescente do Período de Investimento, com  liquidez diária, emitidos por Parati Crédito, Financiamento e Investimento S.A.</a:t>
            </a:r>
          </a:p>
          <a:p>
            <a:r>
              <a:t> e/ou pelo Endossante (“Ativos de Liquidez MT”); e/ou (2) (i) moeda corrente  nacional; (ii) títulos do Tesouro SELIC, anteriormente denominado letra financeira  do Tesouro Nacional (LFT); (iii) certificados de depósito bancário (CDB) ou recibos  de depósito bancário (RDB) com prazo máximo de vencimento equivalente ao  prazo remanescente do Período de Investimento, com liquidez diária, emitidos  por (a) Itaú Unibanco S.A.; (b) Banco Bradesco S.A.; (c) Caixa Econômica Federal;</a:t>
            </a:r>
          </a:p>
          <a:p>
            <a:r>
              <a:t> (d) Banco do Brasil S.A.; (e) Banco Santander (Brasil) S.A.; (f) Banco BTG Pactual  S.A.; (g) Banco Sistema S.A. (“Instituições Autorizadas”); (iv) operações  compromissadas, desde que lastreadas nos títulos mencionados nas alíneas (i) a</a:t>
            </a:r>
          </a:p>
          <a:p>
            <a:r>
              <a:t> (iii) acima, emitidas por Instituições Autorizadas, com liquidez diária e vencimento</a:t>
            </a:r>
          </a:p>
          <a:p>
            <a:r>
              <a:t>CNPJ 63953620000165 · Duração e público-alvo · Anexo ao Regulamento · ID 1222863 · 2026-06-02 · versão 1 · p. 10 · 6.7.1 · https://fnet.bmfbovespa.com.br/fnet/publico/visualizarDocumento?id=1222863</a:t>
            </a:r>
          </a:p>
          <a:p>
            <a:r>
              <a:t>CNPJ 63953620000165 · Duração e público-alvo · Excerto da fonte:</a:t>
            </a:r>
          </a:p>
          <a:p>
            <a:r>
              <a:t>6.7.1 As Chamadas de Capital para a realização de investimentos serão realizadas a qualquer momento  durante o Período de Investimento e estarão limitadas ao valor do capital subscrito de cada Cotista. As  Chamadas de Capital para o pagamento de despesas e encargos do Fundo, com exceção de despesas  relacionadas à instrumentos de derivativos e/ou Encargos não previstos no âmbito deste regulamento,  poderão ser realizadas a qualquer momento durante o Prazo de Duração, mas não estarão limitadas ao  valor do capital subscrito de cada Cotista.</a:t>
            </a:r>
          </a:p>
          <a:p>
            <a:r>
              <a:t>CNPJ 63953620000165 · Duração e público-alvo · Condição: Documentos atuais selecionados no inventário por categoria/escopo; a data documental isolada não comprova vigência jurídica.</a:t>
            </a:r>
          </a:p>
          <a:p>
            <a:r>
              <a:t>CNPJ 63953620000165 · Duração e público-alvo · Versão e prevalência: Documentos atuais selecionados no inventário por categoria/escopo; a data documental isolada não comprova vigência jurídica.</a:t>
            </a:r>
          </a:p>
          <a:p>
            <a:r>
              <a:t>CNPJ 63953620000165 · Duração e público-alvo · Resumo do histórico: {"count": 8, "dates": ["2026-04-28", "2026-05-08", "2026-05-15"], "document_count": 3, "sources": [{"document_id": "1327859", "title": "Demonstrações Financeiras - Fusão, cisão e incorporação", "reference_date": "2026-05-15", "version": "1", "page": 9, "url": "https://fnet.bmfbovespa.com.br/fnet/publico/visualizarDocumento?id=1327859", "sha256": "dca1c68babb97f887528c3e2e47596a9c30f507b067981a35655b2f2da9c8054"}, {"document_id": "1298691", "title": "Demonstrações Financeiras - Fusão, cisão e incorporação", "reference_date": "2026-05-08", "version": "1", "page": 9, "url": "https://fnet.bmfbovespa.com.br/fnet/publico/visualizarDocumento?id=1298691", "sha256": "58c570d9b8d4d265330d3db3ea81c435b8e44a6dab4002aa37790652a1ee9819"}, {"document_id": "1282180", "title": "Demonstrações Financeiras - Fusão, cisão e incorporação", "reference_date": "2026-04-28", "version": "1", "page": 9, "url": "https://fnet.bmfbovespa.com.br/fnet/publico/visualizarDocumento?id=1282180", "sha256": "afaaa0e6809be4385e5bdb6c911aac582032c5bdbac3d7750234bf9eaf00438a"}], "reference": {"path": "history/63953620000165.json", "criterion_id": "duration_investors",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Alocação e perímetro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Alocação mínima · Base da comparação IME: {"criterion_id": "allocation", "observed_value": 91.84981349574433, "unit": "percent", "competence": "08/2026", "status": "not_comparable", "reason": "Vigência efetiva não comprovada; data do documento isolada não certifica enquadramento histórico.", "formula": "credit_rights / net_asset_value × 100",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50.0}</a:t>
            </a:r>
          </a:p>
          <a:p>
            <a:r>
              <a:t>CNPJ 54871427000194 · Alocação mínima · Regulamento · ID 670691 · 28/04/2024 · versão Regulamento — referência 28/04/2024 · p. 11 · Anexo I, 4.9 · https://fnet.bmfbovespa.com.br/fnet/publico/visualizarDocumento?id=670691</a:t>
            </a:r>
          </a:p>
          <a:p>
            <a:r>
              <a:t>CNPJ 54871427000194 · Alocação mínima · Excerto da fonte:</a:t>
            </a:r>
          </a:p>
          <a:p>
            <a:r>
              <a:t>4.9 Decorridos 180 (cento e oitenta) dias da Data da 1ª Integralização de Cotas, a Classe deverá manter alocado, no mínimo, 50% (cinquenta por cento) do seu Patrimônio Líquido em Direitos Creditórios . 4.10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4.11 A Classe poderá, direta ou indiretamente e, nos termos da legislação aplicável: (i) adquirir Direitos Creditórios que sejam cedidos e/ou originados pelo ADMINISTRADOR e/ou pelo GESTOR, ou partes a eles relacionadas, tal como definidas pelas regras contábeis que tratam desse assunto; e (ii) ceder Direitos Creditórios a qualquer das pessoas, fundos de investimento ou entidades referidas n</a:t>
            </a:r>
          </a:p>
          <a:p>
            <a:r>
              <a:t>CNPJ 54871427000194 · Alocação mínima · Mecânica: {"operator": "&gt;=", "limit": 50.0, "unit": "percent", "numerator": "credit_rights", "denominator": "net_asset_value", "frequency": "daily", "layer": "54871427000194", "document_date": "2024-04-28", "effective_status": "document_date_only", "initial_days": 180}</a:t>
            </a:r>
          </a:p>
          <a:p>
            <a:r>
              <a:t>CNPJ 54871427000194 · Alocação mínima · Versão e prevalência: Leitura específica das cláusulas indicadas; condições e conflitos preservados. Seleção documental atual não comprova vigência jurídica por data isolada.</a:t>
            </a:r>
          </a:p>
          <a:p>
            <a:r>
              <a:t>CNPJ 54871427000194 · Alocação mínima · Resumo do histórico: {"count": 2, "dates": ["2024-04-19", "2024-04-28"], "document_count": 2, "sources": [{"document_id": "670691", "title": "Regulamento", "reference_date": "2024-04-28", "version": "1", "page": "11", "url": "https://fnet.bmfbovespa.com.br/fnet/publico/visualizarDocumento?id=670691", "sha256": "bf16dd7f1a62d5cdbf2e2d54fef81783783f7310fbc99c3a8f00459bdf9d037b"}, {"document_id": "670689", "title": "Regulamento", "reference_date": "2024-04-19", "version": "1", "page": 11, "clause": "4.9", "url": "https://fnet.bmfbovespa.com.br/fnet/publico/visualizarDocumento?id=670689", "sha256": "891bc9bc5d87bbc02ec139077a84d2702eb81ea02035fb71d24f5b8366b94a0b"}], "reference": {"path": "history/54871427000194.json", "criterion_id": "allocation", "total_count": 2, "preview_count": 2, "full_text_deferred": true, "sha256": "35d7cd99be50c7287c9fb675cf4f2e736002315295a225a9efa79c8d9186d874"}}</a:t>
            </a:r>
          </a:p>
          <a:p>
            <a:r>
              <a:t>CNPJ 60010416000112 · Alocação mínima · Base da comparação IME: {"criterion_id": "allocation", "observed_value": 117.78665480900618, "unit": "percent", "competence": "08/2026", "status": "not_comparable", "reason": "Vigência efetiva não comprovada; data do documento isolada não certifica enquadramento histórico.", "formula": "credit_rights / net_asset_value × 100",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50.0}</a:t>
            </a:r>
          </a:p>
          <a:p>
            <a:r>
              <a:t>CNPJ 60010416000112 · Alocação mínima · Regulamento · ID 1051393 · 09/10/2025 · versão Regulamento09/10/2025 · p. 11 · AnexoI4.6 · https://fnet.bmfbovespa.com.br/fnet/publico/visualizarDocumento?id=1051393</a:t>
            </a:r>
          </a:p>
          <a:p>
            <a:r>
              <a:t>CNPJ 60010416000112 · Alocação mínima · Excerto da fonte:</a:t>
            </a:r>
          </a:p>
          <a:p>
            <a:r>
              <a:t>4.6 Decorridos 180 (cento e oitenta) dias do início de suas atividades, a Classe deverá manter alocado, no mínimo: para f ins tributários, 67% (sessenta e sete por cento) do seu Patrimônio Líquido em Direitos Creditórios, nos termos da Resolução CMN 5.111; e para fins regulatórios, 50% (cinquenta por cento) do seu Patrimônio Líquido em Direitos Creditórios, nos termos da Resolução CVM 175. BTG Pactual SAC: 0800 772 28 27 - Ouvidoria: 0800 722 00 48 - btgpactual.com 11</a:t>
            </a:r>
          </a:p>
          <a:p>
            <a:r>
              <a:t>CNPJ 60010416000112 · Alocação mínima · Mecânica: {"operator": "&gt;=", "unit": "percent", "denominator": "net_asset_value", "frequency": "not_stated", "layer": "class", "effective_status": "document_date_only", "document_date": "2025-10-09", "numerator": "credit_rights", "limit": 50.0, "requires_initial_date": true}</a:t>
            </a:r>
          </a:p>
          <a:p>
            <a:r>
              <a:t>CNPJ 60010416000112 · Alocação mínima · Versão e prevalência: Leitura específica das cláusulas indicadas; condições e conflitos preservados. Seleção documental atual não comprova vigência jurídica por data isolada.</a:t>
            </a:r>
          </a:p>
          <a:p>
            <a:r>
              <a:t>CNPJ 60010416000112 · Alocação mínima · Resumo do histórico: {"count": 2, "dates": ["2025-03-20", "2025-10-09"], "document_count": 2, "sources": [{"document_id": "1051393", "title": "Regulamento", "reference_date": "2025-10-09", "version": "1", "page": "11", "url": "https://fnet.bmfbovespa.com.br/fnet/publico/visualizarDocumento?id=1051393", "sha256": "8469d613078ffd5a6c1d217885d8a397a16342c0b937ae4aa24b106505f233ae"}, {"document_id": "993786", "title": "Regulamento", "reference_date": "2025-03-20", "version": "1", "page": 6, "clause": "5.3", "url": "https://fnet.bmfbovespa.com.br/fnet/publico/visualizarDocumento?id=993786", "sha256": "fd0fdd369a195510d81f81f505195a0b09e5f43522a990afa7d58c4f872921c8"}], "reference": {"path": "history/60010416000112.json", "criterion_id": "allocation", "total_count": 2, "preview_count": 2, "full_text_deferred": true, "sha256": "8e2bd813f4c51cf01f6bfaad164bafe69d2bbb192f753eac92da3a01c2e63046"}}</a:t>
            </a:r>
          </a:p>
          <a:p>
            <a:r>
              <a:t>CNPJ 62696791000193 · Alocação mínima · Base da comparação IME: {"criterion_id": "allocation", "observed_value": null, "unit": "percent", "competence": "08/2026", "status": "not_comparable", "reason": "Operador, unidade, numerador ou base contratual sem correspondência exata no IME; proxies de PL/ativos não são intercambiáveis. CPR declarada no FIAGRO não comprova elegibilidade individual nem correspondência integral com a definição contratual de direitos creditórios do agronegócio.",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51.0, "comparison_required": true, "context_value": 99.72659520720684, "context_unit": "percent", "context_formula": "CPR / PL (rubrica declarada no FIAGRO)"}</a:t>
            </a:r>
          </a:p>
          <a:p>
            <a:r>
              <a:t>CNPJ 62696791000193 · Alocação mínima · Regulamento · ID 1143317 · 20/03/2026 · versão Regulamento — referência 20/03/2026 · p. 10 · Anexo I, 4.2 · https://fnet.bmfbovespa.com.br/fnet/publico/visualizarDocumento?id=1143317</a:t>
            </a:r>
          </a:p>
          <a:p>
            <a:r>
              <a:t>CNPJ 62696791000193 · Alocação mínima · Excerto da fonte:</a:t>
            </a:r>
          </a:p>
          <a:p>
            <a:r>
              <a:t>4.2 Decorridos 180 (cento e oitenta) dias do início de suas atividades, a Classe deverá possuir parcela mínima de 51% (cinquenta e um por cento) de seu Patrimônio Líquido representados por Direitos Creditórios do Agronegócio, enquanto a parcela de 49% (quarenta e nove por cento) remanescente deverá ser alocada em Outros Ativos ou Ativos Financeiros de Liquidez. 4.3 Os Direitos Creditórios do Agronegócio serão adquiridos integral ou parcialmente, sempre de acordo com a Política de Investimentos. 4.4 Tendo em vista (i) a natureza variada dos Direitos Creditórios do Agronegócio passíveis de aquisição pela Classe; (ii) a amplitude da Política de Investimentos; e (iii) a potencial diversificação de Cedentes/Endossantes e Devedores, não é possível precisar os processos de origem dos Direitos Creditórios do Agronegócio e as políticas de concessão de crédito adotadas pelos Cedentes/Endossantes. 4.5 Os Direitos Creditórios do Agronegócio deverão contar com toda a documentação necessária para o exercício das prerrogativas decorrentes da titularidade dos ativos, e capaz de comprovar a origem, a existência e a exigibilidade dos Direitos Creditórios do Agronegócio (“Documentos Comprobatórios”)</a:t>
            </a:r>
          </a:p>
          <a:p>
            <a:r>
              <a:t>CNPJ 62696791000193 · Alocação mínima · AGE · ID 1143319 · 20/03/2026 10:00 · versão AGE — referência 20/03/2026 10:00 · p. 3 · AGC 20/03/2026, 4.1(j)–(k) · https://fnet.bmfbovespa.com.br/fnet/publico/visualizarDocumento?id=1143319</a:t>
            </a:r>
          </a:p>
          <a:p>
            <a:r>
              <a:t>CNPJ 62696791000193 · Alocação mínima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Alocação mínima · Condição: Vigente a partir do fechamento de 23/03/2026. O agregado genérico de direitos do IME não comprova, sozinho, a natureza agronegócio de todos os ativos nem a conclusão da carência inicial.</a:t>
            </a:r>
          </a:p>
          <a:p>
            <a:r>
              <a:t>CNPJ 62696791000193 · Alocação mínima · Mecânica: {"operator": "&gt;=", "limit": 51.0, "unit": "percent", "numerator": "agribusiness_credit_rights", "denominator": "net_asset_value", "frequency": "daily", "layer": "62696791000193", "effective_from": "2026-03-23", "effective_status": "explicit_assembly_effective_date", "initial_days": 180, "initial_date": null}</a:t>
            </a:r>
          </a:p>
          <a:p>
            <a:r>
              <a:t>CNPJ 62696791000193 · Alocação mínima · Versão e prevalência: Leitura específica das cláusulas indicadas; condições e conflitos preservados. Seleção documental atual não comprova vigência jurídica por data isolada.</a:t>
            </a:r>
          </a:p>
          <a:p>
            <a:r>
              <a:t>CNPJ 55563624000109 · Alocação mínima · Base da comparação IME: {"criterion_id": "allocation", "observed_value": 99.87020304792446, "unit": "percent", "competence": "08/2026", "status": "not_comparable", "reason": "Vigência efetiva não comprovada; data do documento isolada não certifica enquadramento histórico.", "formula": "fidc_quotas / net_asset_value × 100",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67.0}</a:t>
            </a:r>
          </a:p>
          <a:p>
            <a:r>
              <a:t>CNPJ 55563624000109 · Alocação mínima · Regulamento · ID 1192614 · 30/04/2026 · versão Regulamento30/04/2026 · p. 13 · AnexoI4.10 · https://fnet.bmfbovespa.com.br/fnet/publico/visualizarDocumento?id=1192614</a:t>
            </a:r>
          </a:p>
          <a:p>
            <a:r>
              <a:t>CNPJ 55563624000109 · Alocação mínima · Excerto da fonte:</a:t>
            </a:r>
          </a:p>
          <a:p>
            <a:r>
              <a:t>4.10 Decorridos 180 (cento e oitenta) dias da Data da 1ª Integralização da Classe, a Classe deverá manter alocado, no mínimo, 67% (sessenta e sete por cento) do seu Patrimônio Líquido em Cotas da Classe Investida. 4.11 Nos termos dos artigos 45, parágrafo 7º, e 47 parágrafo único do Anexo Normativo II à Resolução CVM 175, uma vez que as Cotas são destinadas exclusivamente a Investidores Profissionais, a Classe poderá ter até 100% (cem por cento) de seu Patrimônio Líquido alocado em Cotas da Classe Investida, as quais são emitidas pela Classe Investida.</a:t>
            </a:r>
          </a:p>
          <a:p>
            <a:r>
              <a:t>CNPJ 55563624000109 · Alocação mínima · Regulamento · ID 1192614 · 30/04/2026 · versão Regulamento30/04/2026 · p. 12 · AnexoI4.9 · https://fnet.bmfbovespa.com.br/fnet/publico/visualizarDocumento?id=1192614</a:t>
            </a:r>
          </a:p>
          <a:p>
            <a:r>
              <a:t>CNPJ 55563624000109 · Alocação mínima · Excerto da fonte:</a:t>
            </a:r>
          </a:p>
          <a:p>
            <a:r>
              <a:t>4.9 A parcela do Patrimônio Líquido que não estiver alocada em Cotas da Classe Investida será necessariamente alocada em Ativos Financeiros de Liquidez. BTG Pactual SAC: 0800 772 28 27 - Ouvidoria: 0800 722 00 48 - btgpactual.com 5</a:t>
            </a:r>
          </a:p>
          <a:p>
            <a:r>
              <a:t>CNPJ 55563624000109 · Alocação mínima · Mecânica: {"operator": "&gt;=", "limit": 67.0, "unit": "percent", "numerator": "fidc_quotas", "denominator": "net_asset_value", "frequency": "not_stated", "layer": "class", "effective_status": "document_date_only", "document_date": "2026-04-30", "requires_initial_date": true}</a:t>
            </a:r>
          </a:p>
          <a:p>
            <a:r>
              <a:t>CNPJ 55563624000109 · Alocação mínima · Versão e prevalência: Leitura específica das cláusulas indicadas; condições e conflitos preservados. Seleção documental atual não comprova vigência jurídica por data isolada.</a:t>
            </a:r>
          </a:p>
          <a:p>
            <a:r>
              <a:t>CNPJ 55563624000109 · Alocação mínima · Resumo do histórico: {"count": 1, "dates": ["2026-04-30"], "document_count": 1, "sources": [{"document_id": "1192614", "title": "Regulamento", "reference_date": "2026-04-30", "version": "1", "page": "11-13", "url": "https://fnet.bmfbovespa.com.br/fnet/publico/visualizarDocumento?id=1192614", "sha256": "f56e63ace0acde41d2f47fb48f1ac7f3f7df5e2d32de092d7c5e075a52516632"}], "reference": {"path": "history/55563624000109.json", "criterion_id": "allocation", "total_count": 1, "preview_count": 1, "full_text_deferred": true, "sha256": "7835d573fb58a3c19adf5b8ecc2aee2bdbb9a88f7a0c0209b5f262b64c7522e3"}}</a:t>
            </a:r>
          </a:p>
          <a:p>
            <a:r>
              <a:t>CNPJ 62552447000120 · Alocação mínima · Base da comparação IME: {"criterion_id": "allocation", "observed_value": 104.36099466414683, "unit": "percent", "competence": "08/2026", "status": "not_comparable", "reason": "Vigência efetiva não comprovada; data do documento isolada não certifica enquadramento histórico.", "formula": "credit_rights / net_asset_value × 100",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50.0}</a:t>
            </a:r>
          </a:p>
          <a:p>
            <a:r>
              <a:t>CNPJ 62552447000120 · Alocação mínima · Regulamento · ID 1200623 · 21/05/2026 · versão Consolidado21/05/2026 aprovado pelo ato1200625 · p. 14 · AnexoI4.9 · https://fnet.bmfbovespa.com.br/fnet/publico/visualizarDocumento?id=1200623</a:t>
            </a:r>
          </a:p>
          <a:p>
            <a:r>
              <a:t>CNPJ 62552447000120 · Alocação mínima · Excerto da fonte:</a:t>
            </a:r>
          </a:p>
          <a:p>
            <a:r>
              <a:t>4.9 Decorridos 180 (cento e oitenta) dias da Data da Primeira Integralização, a Classe deverá manter alocados em Direitos Creditórios, no mínimo, para fins tributários, 67% (sessenta e sete por cento) do seu Patrimônio Líquido, nos termos da Lei 14.754 e da Resolução CMN 5.111, e, para fins regulatórios, 50% (cinquenta por cento) do seu Patrimônio Líquido, nos termos da Resolução CVM 175. Eventual desenquadramento da Carteira obrigará o Gestor aos procedimentos de desenquadramento e reenquadramento previstos na Lei 14.754 e na Resolução CMN 5.111, para f ins tributários, e na Resolução CVM 175, par</a:t>
            </a:r>
          </a:p>
          <a:p>
            <a:r>
              <a:t>CNPJ 62552447000120 · Alocação mínima · Mecânica: {"operator": "&gt;=", "unit": "percent", "numerator": "credit_rights", "denominator": "net_asset_value", "frequency": "not_stated", "layer": "class", "effective_status": "document_date_only", "document_date": "2026-05-21", "requires_initial_date": true, "limit": 50.0}</a:t>
            </a:r>
          </a:p>
          <a:p>
            <a:r>
              <a:t>CNPJ 62552447000120 · Alocação mínima · Versão e prevalência: Leitura específica das cláusulas indicadas; condições e conflitos preservados. Seleção documental atual não comprova vigência jurídica por data isolada.</a:t>
            </a:r>
          </a:p>
          <a:p>
            <a:r>
              <a:t>CNPJ 63953620000165 · Alocação mínima · Base da comparação IME: {"criterion_id": "allocation", "observed_value": 93.29241106598856, "unit": "percent", "competence": "08/2026", "status": "not_comparable", "reason": "Vigência efetiva não comprovada; data do documento isolada não certifica enquadramento histórico.", "formula": "credit_rights / net_asset_value × 100",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50.0}</a:t>
            </a:r>
          </a:p>
          <a:p>
            <a:r>
              <a:t>CNPJ 63953620000165 · Alocação mínima · Anexo ao Regulamento · ID 1222863 · 02/06/2026 · versão AnexoConsignadoPrivado02/06/2026 · p. 6 · 4.13 · https://fnet.bmfbovespa.com.br/fnet/publico/visualizarDocumento?id=1222863</a:t>
            </a:r>
          </a:p>
          <a:p>
            <a:r>
              <a:t>CNPJ 63953620000165 · Alocação mínima · Excerto da fonte:</a:t>
            </a:r>
          </a:p>
          <a:p>
            <a:r>
              <a:t>4.13 Decorridos 180 (cento e oitenta) dias do início de suas atividades, a Classe deverá manter alocado, no mínimo, para fins tributários, 67% (sessenta e sete por cento) do seu Patrimônio Líquido em Direitos Creditórios, nos termos da Resolução CMN 5.111, e para fins regulatórios, 50% (cinquenta por cento) do seu Patrimônio Líquido em Direitos Creditórios, nos termos da Resolução CVM 175. 4.14 Nos termos do Art. 45, §7º, inciso II, do Anexo Normativo II da Resolução CVM 175, a Classe poderá ter até 100% (cem por cento) de seu Patrimônio Líquido alocado em Direitos Creditórios, derivativos, observado o disposto nest</a:t>
            </a:r>
          </a:p>
          <a:p>
            <a:r>
              <a:t>CNPJ 63953620000165 · Alocação mínima · Mecânica: {"operator": "&gt;=", "unit": "percent", "denominator": "net_asset_value", "frequency": "not_stated", "layer": "class", "effective_status": "document_date_only", "document_date": "2026-06-02", "limit": 50.0, "numerator": "credit_rights", "requires_initial_date": true}</a:t>
            </a:r>
          </a:p>
          <a:p>
            <a:r>
              <a:t>CNPJ 63953620000165 · Alocação mínima · Versão e prevalência: Leitura específica das cláusulas indicadas; condições e conflitos preservados. Seleção documental atual não comprova vigência jurídica por data isolada.</a:t>
            </a:r>
          </a:p>
          <a:p>
            <a:r>
              <a:t>CNPJ 54871427000194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null, "comparison_required": true, "context_formula": "Direitos creditórios / PL", "context_value": 91.84981349574433, "context_unit": "percent"}</a:t>
            </a:r>
          </a:p>
          <a:p>
            <a:r>
              <a:t>CNPJ 54871427000194 · Alocação para tratamento tributário · Regulamento · ID 670691 · 2024-04-28 · versão 1 · p. 5 · https://fnet.bmfbovespa.com.br/fnet/publico/visualizarDocumento?id=670691</a:t>
            </a:r>
          </a:p>
          <a:p>
            <a:r>
              <a:t>CNPJ 54871427000194 · Alocação para tratamento tributário · Excerto da fonte:</a:t>
            </a:r>
          </a:p>
          <a:p>
            <a:r>
              <a:t>Os rendimentos auf eridos pelo cotista do FUNDO estarão sujeitos à tributação pelo IR, à alíquota de  15% (quinze por cento), na data da distribuição de rendimentos ou d a amortização de cotas,  considerando que o FUNDO seja classificado como entidade de investimento e cumpra os critérios de  composição da carteira com, no mínimo, 67% (sessenta e sete por cento) de direitos creditórios de  acordo com a Lei nº 14.754, de 12 de dezembro de 2023 (“Lei 14.754”) e a Resolução do Conselho  Monetário Nacional nº 5.111, de 21 de dezembro de 2023 (“Resolução CMN 5.111”).</a:t>
            </a:r>
          </a:p>
          <a:p>
            <a:r>
              <a:t>CNPJ 54871427000194 · Alocação para tratamento tributário · Regulamento · ID 670691 · 2024-04-28 · versão 1 · p. 5 · https://fnet.bmfbovespa.com.br/fnet/publico/visualizarDocumento?id=670691</a:t>
            </a:r>
          </a:p>
          <a:p>
            <a:r>
              <a:t>CNPJ 54871427000194 · Alocação para tratamento tributário · Excerto da fonte:</a:t>
            </a:r>
          </a:p>
          <a:p>
            <a:r>
              <a:t>A GESTORA do FUNDO buscará manter o cumprimento do requisito de composição da carteira do  FUNDO com, no mínimo 67% (sessenta e sete por cento) em direitos creditórios acima comentados.</a:t>
            </a:r>
          </a:p>
          <a:p>
            <a:r>
              <a:t> Todavia, caso a composição mínima do patrimônio líquido do FUNDO não seja atingida e ocorra o  ef etivo desenquadramento tributário da carteira, os cotistas pessoa f ísica ou jurídica residentes no  Brasil passarão a se sujeitar à regra geral de tributação de fundos, conforme previsto no art. 17 da Lei</a:t>
            </a:r>
          </a:p>
          <a:p>
            <a:r>
              <a:t> 14.754, segundo a qual: (1) haverá incidência periódica de IR todo mês de maio e novembro de cada  ano-calendário sobre os rendimentos auferidos pelo cotista em relação ao investimento nas cotas do  FUNDO, à alíquota de 15% (quinze por cento) ou 20% (vinte por cento), a depender da carteira do  FUNDO ser classificada, respectivamente, como de curto ou longo prazo; e (2) haverá incidência de IR  complementar, conforme alíquotas regressivas que variam de 22,5% (vinte e dois e meio por cento) a  15% (quinze por cento) a depender do prazo de aplicação, por ocasião da amortização ou liquidação  das Cotas do FUNDO. Certos tipos de investidor podem se benef iciar de alíquotas dif erenciadas.</a:t>
            </a:r>
          </a:p>
          <a:p>
            <a:r>
              <a:t>CNPJ 54871427000194 · Alocação para tratamento tributário · Condição: Documentos atuais selecionados no inventário por categoria/escopo; a data documental isolada não comprova vigência jurídica.</a:t>
            </a:r>
          </a:p>
          <a:p>
            <a:r>
              <a:t>CNPJ 54871427000194 · Alocação para tratamento tributário · Versão e prevalência: Documentos atuais selecionados no inventário por categoria/escopo; a data documental isolada não comprova vigência jurídica.</a:t>
            </a:r>
          </a:p>
          <a:p>
            <a:r>
              <a:t>CNPJ 54871427000194 · Alocação para tratamento tributário · Resumo do histórico: {"count": 1, "dates": ["2024-04-19"], "document_count": 1, "sources": [{"document_id": "670689", "title": "Regulamento", "reference_date": "2024-04-19", "version": "1", "page": 5, "url": "https://fnet.bmfbovespa.com.br/fnet/publico/visualizarDocumento?id=670689", "sha256": "891bc9bc5d87bbc02ec139077a84d2702eb81ea02035fb71d24f5b8366b94a0b"}], "reference": {"path": "history/54871427000194.json", "criterion_id": "tax_allocation", "total_count": 1, "preview_count": 1, "full_text_deferred": true, "sha256": "35d7cd99be50c7287c9fb675cf4f2e736002315295a225a9efa79c8d9186d874"}}</a:t>
            </a:r>
          </a:p>
          <a:p>
            <a:r>
              <a:t>CNPJ 60010416000112 · Alocação para tratamento tributário · Base da comparação IME: {"criterion_id": "tax_allocation", "observed_value": 117.78665480900618, "unit": "percent", "competence": "08/2026", "status": "not_comparable", "reason": "Vigência efetiva não comprovada; data do documento isolada não certifica enquadramento histórico.", "formula": "credit_rights / net_asset_value × 100",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67.0}</a:t>
            </a:r>
          </a:p>
          <a:p>
            <a:r>
              <a:t>CNPJ 60010416000112 · Alocação para tratamento tributário · Regulamento · ID 1051393 · 09/10/2025 · versão Regulamento09/10/2025 · p. 11 · AnexoI4.6 · https://fnet.bmfbovespa.com.br/fnet/publico/visualizarDocumento?id=1051393</a:t>
            </a:r>
          </a:p>
          <a:p>
            <a:r>
              <a:t>CNPJ 60010416000112 · Alocação para tratamento tributário · Excerto da fonte:</a:t>
            </a:r>
          </a:p>
          <a:p>
            <a:r>
              <a:t>4.6 Decorridos 180 (cento e oitenta) dias do início de suas atividades, a Classe deverá manter alocado, no mínimo: para f ins tributários, 67% (sessenta e sete por cento) do seu Patrimônio Líquido em Direitos Creditórios, nos termos da Resolução CMN 5.111; e para fins regulatórios, 50% (cinquenta por cento) do seu Patrimônio Líquido em Direitos Creditórios, nos termos da Resolução CVM 175. BTG Pactual SAC: 0800 772 28 27 - Ouvidoria: 0800 722 00 48 - btgpactual.com 11</a:t>
            </a:r>
          </a:p>
          <a:p>
            <a:r>
              <a:t>CNPJ 60010416000112 · Alocação para tratamento tributário · Mecânica: {"operator": "&gt;=", "unit": "percent", "denominator": "net_asset_value", "frequency": "not_stated", "layer": "class", "effective_status": "document_date_only", "document_date": "2025-10-09", "numerator": "credit_rights", "limit": 67.0, "requires_initial_date": true}</a:t>
            </a:r>
          </a:p>
          <a:p>
            <a:r>
              <a:t>CNPJ 60010416000112 · Alocação para tratamento tributário · Versão e prevalência: Leitura específica das cláusulas indicadas; condições e conflitos preservados. Seleção documental atual não comprova vigência jurídica por data isolada.</a:t>
            </a:r>
          </a:p>
          <a:p>
            <a:r>
              <a:t>CNPJ 60010416000112 · Alocação para tratamento tributário · Resumo do histórico: {"count": 1, "dates": ["2025-03-20"], "document_count": 1, "sources": [{"document_id": "993786", "title": "Regulamento", "reference_date": "2025-03-20", "version": "1", "page": 6, "clause": "5.3", "url": "https://fnet.bmfbovespa.com.br/fnet/publico/visualizarDocumento?id=993786", "sha256": "fd0fdd369a195510d81f81f505195a0b09e5f43522a990afa7d58c4f872921c8"}], "reference": {"path": "history/60010416000112.json", "criterion_id": "tax_allocation", "total_count": 1, "preview_count": 1, "full_text_deferred": true, "sha256": "8e2bd813f4c51cf01f6bfaad164bafe69d2bbb192f753eac92da3a01c2e63046"}}</a:t>
            </a:r>
          </a:p>
          <a:p>
            <a:r>
              <a:t>CNPJ 62696791000193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null, "comparison_required": true, "context_formula": "Direitos creditórios / PL", "context_value": null, "context_unit": "percent"}</a:t>
            </a:r>
          </a:p>
          <a:p>
            <a:r>
              <a:t>CNPJ 62696791000193 · Alocação para tratamento tributário · Regulamento · ID 1143317 · 2026-03-20 · versão 1 · p. 30 · https://fnet.bmfbovespa.com.br/fnet/publico/visualizarDocumento?id=1143317</a:t>
            </a:r>
          </a:p>
          <a:p>
            <a:r>
              <a:t>CNPJ 62696791000193 · Alocação para tratamento tributário · Excerto da fonte:</a:t>
            </a:r>
          </a:p>
          <a:p>
            <a:r>
              <a:t>Os rendimentos distribuídos pela Classe, de modo geral, sujeitam-se à incidência do IRF à alíquota  de 20% (vinte por cento), inclusive quando distribuídos à Cotista que seja pessoa jurídica isenta.</a:t>
            </a:r>
          </a:p>
          <a:p>
            <a:r>
              <a:t> Os ganhos de capital ou rendimentos auf eridos na alienação ou no resgate de cotas da Classe  sujeitam-se à tributação pelo IRF à alíquota de 20% (vinte por cento), no caso de resgate de cotas,  ou conforme normas aplicáveis aos ganhos de capital ou ganhos líquidos auf eridos em renda  variável, nos casos de alienação de cotas.</a:t>
            </a:r>
          </a:p>
          <a:p>
            <a:r>
              <a:t> O IRF pago será considerado: (i) antecipação da tributação corporativa para os investidores pessoa  jurídica (nos regimes de lucro real, presumido ou arbitrado); e (ii) def initivo, nos demais casos,  incluindo de investidores pessoas f ísicas.</a:t>
            </a:r>
          </a:p>
          <a:p>
            <a:r>
              <a:t> Não obstante o disposto no item acima, em conf ormidade com o disposto na Lei 11.033, com a  redação dada pela Lei nº 14.754, o cotista pessoa f ísica f icará isento do IRF e na declaração de  ajuste anual, sobre as distribuições de lucro realizadas pela Classe, exclusivamente na hipótese de  a Classe, cumulativamente: (a) possuir, no mínimo, 100 (cem) cotistas; e (b) as cotas serem  admitidas à negociação exclusivamente em bolsas de valores ou no mercado de balcão organizado.</a:t>
            </a:r>
          </a:p>
          <a:p>
            <a:r>
              <a:t> O benef ício não será concedido ao Cotista que for pessoa física, titular de cotas que representem  10% (dez por cento) ou mais da totalidade das cotas emitidas pela Classe ou cujas cotas lhe derem  direito ao recebimento de rendimento superior a 10% (dez por cento) do total de rendimentos  auf eridos pela Classe.</a:t>
            </a:r>
          </a:p>
          <a:p>
            <a:r>
              <a:t> O benef ício também não será concedido aos Cotistas pessoas físicas que, individualmente ou em  conjunto com parentes até segundo grau, sejam titulares de cotas que representem 30% (trinta por  cento) ou mais da totalidade das cotas emitidas pela Classe, ou ainda cujas cotas lhes derem direito  ao recebimento de rendimento superior a 30% (trinta por cento) do total de rendimentos auf eridos  pela Classe.</a:t>
            </a:r>
          </a:p>
          <a:p>
            <a:r>
              <a:t> Não há garantia de que o benef ício f iscal atualmente vigente não venha a ser posteriormente  restringido, suspenso, revogado ou extinto por legislação superveniente, ocasião na qual poderá vir  a incidir a tributação sobre os rendimentos distribuídos pela Classe, de acordo com os termos da  legislação que vier a estabelecer a incidência tributária.</a:t>
            </a:r>
          </a:p>
          <a:p>
            <a:r>
              <a:t>CNPJ 62696791000193 · Alocação para tratamento tributário · Condição: Documentos atuais selecionados no inventário por categoria/escopo; a data documental isolada não comprova vigência jurídica.</a:t>
            </a:r>
          </a:p>
          <a:p>
            <a:r>
              <a:t>CNPJ 62696791000193 · Alocação para tratamento tributário · Versão e prevalência: Documentos atuais selecionados no inventário por categoria/escopo; a data documental isolada não comprova vigência jurídica.</a:t>
            </a:r>
          </a:p>
          <a:p>
            <a:r>
              <a:t>CNPJ 55563624000109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null, "comparison_required": true, "context_formula": "Direitos creditórios / PL", "context_value": 0.0, "context_unit": "percent"}</a:t>
            </a:r>
          </a:p>
          <a:p>
            <a:r>
              <a:t>CNPJ 55563624000109 · Alocação para tratamento tributário · Regulamento · ID 1192614 · 2026-04-30 · versão 1 · p. 38 · https://fnet.bmfbovespa.com.br/fnet/publico/visualizarDocumento?id=1192614</a:t>
            </a:r>
          </a:p>
          <a:p>
            <a:r>
              <a:t>CNPJ 55563624000109 · Alocação para tratamento tributário · Excerto da fonte:</a:t>
            </a:r>
          </a:p>
          <a:p>
            <a:r>
              <a:t>(xiii) Risco de descaracterização do regime tributário aplicável à Classe. Caso (a) a Classe deixe de  cumprir com o percentual de, pelo menos, 67% (sessenta e sete por cento) do Patrimônio Líquido  aplicado em direitos creditórios, nos termos dos artigos 18, 19 e 24 da Lei 14.754, para fins de  enquadramento do FUNDO e da Classe como “Entidade de Investimento” na forma da Resolução do  CMN nº 5.111, de 21 de dezembro de 2023, conforme alterada, ou qualquer outra norma que venha  a substitui-la, sujeitando o FUNDO e a Classe ao “Regime Específico dos Fundos Não Sujeitos à  Tributação Periódica” conforme a na Seção III da Lei 14.754 ou deixe de satisfazer qualquer uma das  condições previstas na Lei 14.754, neste Anexo e/ou no Regulamento; e/ou (b) o FUNDO ou Classe  deixe de ser enquadrado como “Entidade de Investimento” na forma da Resolução do CMN nº 5.111,  de 21 de dezembro de 2023, ou demais normas do CMN e da CVM, não é possível garantir que o  FUNDO e/ou Classe continuarão a receber o tratamento tributário destinado ao “Regime Específico  dos Fundos Não Sujeitos à Tributação Periódica”, conforme definido na legislação específica.</a:t>
            </a:r>
          </a:p>
          <a:p>
            <a:r>
              <a:t>CNPJ 55563624000109 · Alocação para tratamento tributário · Regulamento · ID 1192614 · 2026-04-30 · versão 1 · p. 6 · https://fnet.bmfbovespa.com.br/fnet/publico/visualizarDocumento?id=1192614</a:t>
            </a:r>
          </a:p>
          <a:p>
            <a:r>
              <a:t>CNPJ 55563624000109 · Alocação para tratamento tributário · Excerto da fonte:</a:t>
            </a:r>
          </a:p>
          <a:p>
            <a:r>
              <a:t>No caso de Fundos de Investimento em Direitos Creditórios (FIDC) classificados como “entidade de investimento” e  cuja carteira seja composta por, no mínimo, 67% (sessenta e sete por cento) de direitos creditórios conforme definições  prescritas em regulamentação expedida pelo Conselho Monetário Nacional, os rendimentos auferidos na amortização  ou no resgate das cotas, inclusive quando decorrentes da liquidação do FUNDO, ficam sujeitos à incidência do IRF à  alíquota de 15% (quinze por cento) sobre a diferença positiva entre o valor de amortização ou resgate e o custo de  aquisição das Cotas.</a:t>
            </a:r>
          </a:p>
          <a:p>
            <a:r>
              <a:t>CNPJ 55563624000109 · Alocação para tratamento tributário · Condição: Documentos atuais selecionados no inventário por categoria/escopo; a data documental isolada não comprova vigência jurídica.</a:t>
            </a:r>
          </a:p>
          <a:p>
            <a:r>
              <a:t>CNPJ 55563624000109 · Alocação para tratamento tributário · Versão e prevalência: Documentos atuais selecionados no inventário por categoria/escopo; a data documental isolada não comprova vigência jurídica.</a:t>
            </a:r>
          </a:p>
          <a:p>
            <a:r>
              <a:t>CNPJ 55563624000109 · Alocação para tratamento tributário · Resumo do histórico: {"count": 2, "dates": ["2025-01-31", "2026-01-31"], "document_count": 2, "sources": [{"document_id": "1178840", "title": "Demonstrações Financeiras", "reference_date": "2026-01-31", "version": "1", "page": 23, "url": "https://fnet.bmfbovespa.com.br/fnet/publico/visualizarDocumento?id=1178840", "sha256": "c458e98664c5c907ddb5a05a94b120bed4e05295b2bfc420f5ba69af0a229abe"}, {"document_id": "891861", "title": "Demonstrações Financeiras", "reference_date": "2025-01-31", "version": "1", "page": 24, "url": "https://fnet.bmfbovespa.com.br/fnet/publico/visualizarDocumento?id=891861", "sha256": "e9cb9e6ddbe505fe068cfcac33605165a98313489de0d3ce6d4d238263c3f3e7"}], "reference": {"path": "history/55563624000109.json", "criterion_id": "tax_allocation", "total_count": 2, "preview_count": 2, "full_text_deferred": true, "sha256": "7835d573fb58a3c19adf5b8ecc2aee2bdbb9a88f7a0c0209b5f262b64c7522e3"}}</a:t>
            </a:r>
          </a:p>
          <a:p>
            <a:r>
              <a:t>CNPJ 62552447000120 · Alocação para tratamento tributário · Base da comparação IME: {"criterion_id": "tax_allocation", "observed_value": 104.36099466414683, "unit": "percent", "competence": "08/2026", "status": "not_comparable", "reason": "Vigência efetiva não comprovada; data do documento isolada não certifica enquadramento histórico.", "formula": "credit_rights / net_asset_value × 100",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67.0}</a:t>
            </a:r>
          </a:p>
          <a:p>
            <a:r>
              <a:t>CNPJ 62552447000120 · Alocação para tratamento tributário · Regulamento · ID 1200623 · 21/05/2026 · versão Consolidado21/05/2026 aprovado pelo ato1200625 · p. 14 · AnexoI4.9 · https://fnet.bmfbovespa.com.br/fnet/publico/visualizarDocumento?id=1200623</a:t>
            </a:r>
          </a:p>
          <a:p>
            <a:r>
              <a:t>CNPJ 62552447000120 · Alocação para tratamento tributário · Excerto da fonte:</a:t>
            </a:r>
          </a:p>
          <a:p>
            <a:r>
              <a:t>4.9 Decorridos 180 (cento e oitenta) dias da Data da Primeira Integralização, a Classe deverá manter alocados em Direitos Creditórios, no mínimo, para fins tributários, 67% (sessenta e sete por cento) do seu Patrimônio Líquido, nos termos da Lei 14.754 e da Resolução CMN 5.111, e, para fins regulatórios, 50% (cinquenta por cento) do seu Patrimônio Líquido, nos termos da Resolução CVM 175. Eventual desenquadramento da Carteira obrigará o Gestor aos procedimentos de desenquadramento e reenquadramento previstos na Lei 14.754 e na Resolução CMN 5.111, para f ins tributários, e na Resolução CVM 175, par</a:t>
            </a:r>
          </a:p>
          <a:p>
            <a:r>
              <a:t>CNPJ 62552447000120 · Alocação para tratamento tributário · Mecânica: {"operator": "&gt;=", "unit": "percent", "numerator": "credit_rights", "denominator": "net_asset_value", "frequency": "not_stated", "layer": "class", "effective_status": "document_date_only", "document_date": "2026-05-21", "requires_initial_date": true, "limit": 67.0}</a:t>
            </a:r>
          </a:p>
          <a:p>
            <a:r>
              <a:t>CNPJ 62552447000120 · Alocação para tratamento tributário · Versão e prevalência: Leitura específica das cláusulas indicadas; condições e conflitos preservados. Seleção documental atual não comprova vigência jurídica por data isolada.</a:t>
            </a:r>
          </a:p>
          <a:p>
            <a:r>
              <a:t>CNPJ 63953620000165 · Alocação para tratamento tributário · Base da comparação IME: {"criterion_id": "tax_allocation", "observed_value": 93.29241106598856, "unit": "percent", "competence": "08/2026", "status": "not_comparable", "reason": "Vigência efetiva não comprovada; data do documento isolada não certifica enquadramento histórico.", "formula": "credit_rights / net_asset_value × 100",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67.0}</a:t>
            </a:r>
          </a:p>
          <a:p>
            <a:r>
              <a:t>CNPJ 63953620000165 · Alocação para tratamento tributário · Anexo ao Regulamento · ID 1222863 · 02/06/2026 · versão AnexoConsignadoPrivado02/06/2026 · p. 6 · 4.13 · https://fnet.bmfbovespa.com.br/fnet/publico/visualizarDocumento?id=1222863</a:t>
            </a:r>
          </a:p>
          <a:p>
            <a:r>
              <a:t>CNPJ 63953620000165 · Alocação para tratamento tributário · Excerto da fonte:</a:t>
            </a:r>
          </a:p>
          <a:p>
            <a:r>
              <a:t>4.13 Decorridos 180 (cento e oitenta) dias do início de suas atividades, a Classe deverá manter alocado, no mínimo, para fins tributários, 67% (sessenta e sete por cento) do seu Patrimônio Líquido em Direitos Creditórios, nos termos da Resolução CMN 5.111, e para fins regulatórios, 50% (cinquenta por cento) do seu Patrimônio Líquido em Direitos Creditórios, nos termos da Resolução CVM 175. 4.14 Nos termos do Art. 45, §7º, inciso II, do Anexo Normativo II da Resolução CVM 175, a Classe poderá ter até 100% (cem por cento) de seu Patrimônio Líquido alocado em Direitos Creditórios, derivativos, observado o disposto nest</a:t>
            </a:r>
          </a:p>
          <a:p>
            <a:r>
              <a:t>CNPJ 63953620000165 · Alocação para tratamento tributário · Mecânica: {"operator": "&gt;=", "unit": "percent", "denominator": "net_asset_value", "frequency": "not_stated", "layer": "class", "effective_status": "document_date_only", "document_date": "2026-06-02", "limit": 67.0, "numerator": "credit_rights", "requires_initial_date": true}</a:t>
            </a:r>
          </a:p>
          <a:p>
            <a:r>
              <a:t>CNPJ 63953620000165 · Alocação para tratamento tributário · Versão e prevalência: Leitura específica das cláusulas indicadas; condições e conflitos preservados. Seleção documental atual não comprova vigência jurídica por data isolada.</a:t>
            </a:r>
          </a:p>
          <a:p>
            <a:r>
              <a:t>CNPJ 54871427000194 · Classes investidas e limites do FIC · Demonstrações Financeiras - Fusão, cisão e incorporação · ID 1219522 · 2026-02-02 · versão 1 · p. 31 · https://fnet.bmfbovespa.com.br/fnet/publico/visualizarDocumento?id=1219522</a:t>
            </a:r>
          </a:p>
          <a:p>
            <a:r>
              <a:t>CNPJ 54871427000194 · Classes investidas e limites do FIC · Excerto da fonte:</a:t>
            </a:r>
          </a:p>
          <a:p>
            <a:r>
              <a:t>xv) Risco Regulatório e Judicial. Eventuais alterações ou novas normas ou leis aplicáveis à Classe,  seus ativos e a eventuais fundos investidos, incluindo, mas não se limitando àquelas referentes  a tributos, bem como decisões judiciais ou jurisprudência aplicando as regulamentações  existentes ou interpretando novas regulamentações, podem causar um efeito adverso relevante  no preço dos ativos e/ou na performance das posições financeiras adquiridas pela Classe e/ou  pelos fundos Investidos. Ainda, nesse sentido, poderão ocorrer interferências de autoridades  governamentais e órgãos reguladores na regulação dos mercados, bem como alterações das  políticas monetária e cambial. Tais eventos poderão impactar de maneira adversa o valor das  Cotas.</a:t>
            </a:r>
          </a:p>
          <a:p>
            <a:r>
              <a:t>CNPJ 54871427000194 · Classes investidas e limites do FIC · Condição: Documentos atuais selecionados no inventário por categoria/escopo; a data documental isolada não comprova vigência jurídica.</a:t>
            </a:r>
          </a:p>
          <a:p>
            <a:r>
              <a:t>CNPJ 54871427000194 · Classes investidas e limites do FIC · Versão e prevalência: Documentos atuais selecionados no inventário por categoria/escopo; a data documental isolada não comprova vigência jurídica.</a:t>
            </a:r>
          </a:p>
          <a:p>
            <a:r>
              <a:t>CNPJ 54871427000194 · Classes investidas e limites do FIC · Resumo do histórico: {"count": 5, "dates": ["2024-12-31", "2025-01-01", "2025-12-31"], "document_count": 3, "sources": [{"document_id": "1151805", "title": "Demonstrações Financeiras", "reference_date": "2025-12-31", "version": "1", "page": 31, "url": "https://fnet.bmfbovespa.com.br/fnet/publico/visualizarDocumento?id=1151805", "sha256": "f1cea70b152968bf96ef9221b27225953cb20aeef487b2798db3c25e11b528d4"}, {"document_id": "869529", "title": "Demonstrações Financeiras", "reference_date": "2025-01-01", "version": "1", "page": 32, "url": "https://fnet.bmfbovespa.com.br/fnet/publico/visualizarDocumento?id=869529", "sha256": "9a93a9369ac8efdbc54ff8fcee3ccac3abf88edab4807b9323d3852450771b2a"}, {"document_id": "870070", "title": "Demonstrações Financeiras", "reference_date": "2024-12-31", "version": "1", "page": 32, "url": "https://fnet.bmfbovespa.com.br/fnet/publico/visualizarDocumento?id=870070", "sha256": "9a93a9369ac8efdbc54ff8fcee3ccac3abf88edab4807b9323d3852450771b2a"}], "reference": {"path": "history/54871427000194.json", "criterion_id": "investee", "total_count": 5, "preview_count": 3, "full_text_deferred": true, "sha256": "35d7cd99be50c7287c9fb675cf4f2e736002315295a225a9efa79c8d9186d874"}}</a:t>
            </a:r>
          </a:p>
          <a:p>
            <a:r>
              <a:t>CNPJ 60010416000112 · Classes investidas e limites do FIC · Motivo: Não localizada uma cláusula material para este critério nos textos identificados e processados. A ausência de resultado não comprova inexistência da regra.</a:t>
            </a:r>
          </a:p>
          <a:p>
            <a:r>
              <a:t>CNPJ 62696791000193 · Classes investidas e limites do FIC · Regulamento · ID 1143317 · 20/03/2026 · versão Regulamento — referência 20/03/2026 · p. 7 · Anexo I, 1.1, Objetivo, categoria Geral · https://fnet.bmfbovespa.com.br/fnet/publico/visualizarDocumento?id=1143317</a:t>
            </a:r>
          </a:p>
          <a:p>
            <a:r>
              <a:t>CNPJ 62696791000193 · Classes investidas e limites do FIC · Excerto da fonte:</a:t>
            </a:r>
          </a:p>
          <a:p>
            <a:r>
              <a:t>(D) Categoria “Geral” (“Ativos em Geral do Agronegócio”): (i) cotas de classes que apliquem mais de 50% (cinquenta por cento) de seu patrimônio líquido nos ativos referidos nos incisos “A” a “D” acima, o que inclui cotas de outros FIAGRO, mas não se limita a essa categoria de f undos. Os Ativos Imobiliários do Agronegócio, Participações do Agronegócio, Ativos Financeiros do Agronegócio e Ativos em Geral do Agronegócio, quando ref eridos em conjunto, os “Outros Ativos”. Não há limites máximos de aplicação por emissor ou devedor, em função de um percentual do Patrimônio Líquido. O objetivo da Classe não representa, sob qualquer hipótese, garantia da Classe ou de seus Prestadores de Serviços Essenciais e/ou da Cogestora quanto à segurança, rentabilidade e liquidez dos títu</a:t>
            </a:r>
          </a:p>
          <a:p>
            <a:r>
              <a:t>CNPJ 62696791000193 · Classes investidas e limites do FIC · Regulamento · ID 1143317 · 20/03/2026 · versão Regulamento — referência 20/03/2026 · p. 11 · Anexo I, 4.8–4.9 · https://fnet.bmfbovespa.com.br/fnet/publico/visualizarDocumento?id=1143317</a:t>
            </a:r>
          </a:p>
          <a:p>
            <a:r>
              <a:t>CNPJ 62696791000193 · Classes investidas e limites do FIC · Excerto da fonte:</a:t>
            </a:r>
          </a:p>
          <a:p>
            <a:r>
              <a:t>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relacionadas ao Gestor. 4.8.1 As aplicações em Direitos Creditórios do Agronegócio decorrentes de receitas públicas originárias ou derivadas da União, dos Estados, do Distrito Federal e dos Municípios ou de suas autarquias e f undações, assim como em Direitos Creditórios do Agronegócio cedidos ou originados por empresas controladas pelo poder público, não estão submetidas ao limite de concentração por emissor previsto no caput. 4.9 Nos termos do Art. 45 do Anexo</a:t>
            </a:r>
          </a:p>
          <a:p>
            <a:r>
              <a:t>CNPJ 62696791000193 · Classes investidas e limites do FIC · Condição: O regulamento não identifica CNPJs de classes efetivamente investidas. Permissão de investimento não comprova posição.</a:t>
            </a:r>
          </a:p>
          <a:p>
            <a:r>
              <a:t>CNPJ 62696791000193 · Classes investidas e limites do FIC · Versão e prevalência: Leitura específica das cláusulas indicadas; condições e conflitos preservados. Seleção documental atual não comprova vigência jurídica por data isolada.</a:t>
            </a:r>
          </a:p>
          <a:p>
            <a:r>
              <a:t>CNPJ 55563624000109 · Classes investidas e limites do FIC · Regulamento · ID 1192614 · 30/04/2026 · versão Regulamento30/04/2026 · p. 11 · AnexoI4.1 · https://fnet.bmfbovespa.com.br/fnet/publico/visualizarDocumento?id=1192614</a:t>
            </a:r>
          </a:p>
          <a:p>
            <a:r>
              <a:t>CNPJ 55563624000109 · Classes investidas e limites do FIC · Excerto da fonte:</a:t>
            </a:r>
          </a:p>
          <a:p>
            <a:r>
              <a:t>4.1 Observados os demais termos deste Anexo, o objetivo da Classe é investir seus recursos em (i) cotas subordinadas mezanino de emissão da classe única do MERCADO CRÉDITO II BRASIL FUNDO DE INVESTIMENTO EM DIREITOS CREDITÓRIOS NÃO PADRONIZADOS, fundo de investimento em direitos creditórios inscrito no CNPJ sob o nº 41.970.012/0001-26 (“Cotas da Classe Investida” e “Classe Investida”, respectivamente), a qual, por sua vez, aplica seus recursos preponderantemente em direitos creditórios originados pela Mercado Pago, de acordo com os termos e condições est</a:t>
            </a:r>
          </a:p>
          <a:p>
            <a:r>
              <a:t>CNPJ 55563624000109 · Classes investidas e limites do FIC · Condição: Vínculo contratual identificado; quantidade de cotas efetivamente detida exige posição do FIC. Não somar PL do FIC e do investido.</a:t>
            </a:r>
          </a:p>
          <a:p>
            <a:r>
              <a:t>CNPJ 55563624000109 · Classes investidas e limites do FIC · Versão e prevalência: Leitura específica das cláusulas indicadas; condições e conflitos preservados. Seleção documental atual não comprova vigência jurídica por data isolada.</a:t>
            </a:r>
          </a:p>
          <a:p>
            <a:r>
              <a:t>CNPJ 55563624000109 · Classes investidas e limites do FIC · Resumo do histórico: {"count": 2, "dates": ["2025-01-31", "2026-01-31"], "document_count": 2, "sources": [{"document_id": "1178840", "title": "Demonstrações Financeiras", "reference_date": "2026-01-31", "version": "1", "page": 4, "url": "https://fnet.bmfbovespa.com.br/fnet/publico/visualizarDocumento?id=1178840", "sha256": "c458e98664c5c907ddb5a05a94b120bed4e05295b2bfc420f5ba69af0a229abe"}, {"document_id": "891861", "title": "Demonstrações Financeiras", "reference_date": "2025-01-31", "version": "1", "page": 18, "url": "https://fnet.bmfbovespa.com.br/fnet/publico/visualizarDocumento?id=891861", "sha256": "e9cb9e6ddbe505fe068cfcac33605165a98313489de0d3ce6d4d238263c3f3e7"}], "reference": {"path": "history/55563624000109.json", "criterion_id": "investee", "total_count": 2, "preview_count": 2, "full_text_deferred": true, "sha256": "7835d573fb58a3c19adf5b8ecc2aee2bdbb9a88f7a0c0209b5f262b64c7522e3"}}</a:t>
            </a:r>
          </a:p>
          <a:p>
            <a:r>
              <a:t>CNPJ 62552447000120 · Classes investidas e limites do FIC · Regulamento · ID 1200623 · 2026-05-21 · versão 1 · p. 6 · https://fnet.bmfbovespa.com.br/fnet/publico/visualizarDocumento?id=1200623</a:t>
            </a:r>
          </a:p>
          <a:p>
            <a:r>
              <a:t>CNPJ 62552447000120 · Classes investidas e limites do FIC · Excerto da fonte:</a:t>
            </a:r>
          </a:p>
          <a:p>
            <a:r>
              <a:t>integrantes do conglomerado econômico de instituições  f inanceiras classificadas como S1 pelo Banco Central do  Brasil (“BACEN” e “Instituições Financeiras S1”,  respectivamente), desde que não representem títulos de  emissão ou coobrigação de instituições financeiras, bem  como cotas de f undos de investimento que invistam  preponderantemente nestes direitos, títulos e/ou valores  mobiliários; e</a:t>
            </a:r>
          </a:p>
          <a:p>
            <a:r>
              <a:t> (d) “Direitos Creditórios Refinanciamento Livre”, na forma  de CCBs originadas no âmbito de um refinanciamento, de  acordo com a política de cobrança vigente, de Direitos  Creditórios Consignado Privado e de Direitos Creditórios  FGTS, que não contem com o lastro de Consignação ou  de cessão f iduciária do Saque-Aniversário,  respectivamente; e</a:t>
            </a:r>
          </a:p>
          <a:p>
            <a:r>
              <a:t> (ii) “Ativos Financeiros”, assim entendidos como, em conjunto:</a:t>
            </a:r>
          </a:p>
          <a:p>
            <a:r>
              <a:t> (a) moeda corrente nacional;</a:t>
            </a:r>
          </a:p>
          <a:p>
            <a:r>
              <a:t> (b) títulos públicos f ederais;</a:t>
            </a:r>
          </a:p>
          <a:p>
            <a:r>
              <a:t> (c) ativos f inanceiros de renda f ixa de emissão ou  coobrigação de Instituições Financeiras S1;</a:t>
            </a:r>
          </a:p>
          <a:p>
            <a:r>
              <a:t> (d) operações compromissadas, desde que lastreadas nos  títulos mencionados nas alíneas (b) e (c) acima; e</a:t>
            </a:r>
          </a:p>
          <a:p>
            <a:r>
              <a:t> (e) cotas do BTG Pactual Tesouro Selic Fundo de  Investimento Renda Fixa Ref erenciado DI, inscrito no  CNPJ sob o nº 09.215.250/0001-13;</a:t>
            </a:r>
          </a:p>
          <a:p>
            <a:r>
              <a:t> observados todos os limites de composição e diversificação da carteira da  Classe (“Carteira”), estabelecidos neste Regulamento e na  regulamentação aplicável.</a:t>
            </a:r>
          </a:p>
          <a:p>
            <a:r>
              <a:t> O objetivo da Classe não representa, sob qualquer hipótese, promessa,  garantia ou sugestão da Classe ou de seus Prestadores de Serviços  Essenciais quanto à segurança, rentabilidade e liquidez dos títulos  componentes de sua Carteira.</a:t>
            </a:r>
          </a:p>
          <a:p>
            <a:r>
              <a:t>CNPJ 62552447000120 · Classes investidas e limites do FIC · Condição: Documentos atuais selecionados no inventário por categoria/escopo; a data documental isolada não comprova vigência jurídica.</a:t>
            </a:r>
          </a:p>
          <a:p>
            <a:r>
              <a:t>CNPJ 62552447000120 · Classes investidas e limites do FIC · Versão e prevalência: Documentos atuais selecionados no inventário por categoria/escopo; a data documental isolada não comprova vigência jurídica.</a:t>
            </a:r>
          </a:p>
          <a:p>
            <a:r>
              <a:t>CNPJ 63953620000165 · Classes investidas e limites do FIC · Motivo: Não localizada uma cláusula material para este critério nos textos identificados e processados. A ausência de resultado não comprova inexistência da regra.</a:t>
            </a:r>
          </a:p>
          <a:p>
            <a:r>
              <a:t>CNPJ 54871427000194 · Classe, subclasse e responsabilidade · Regulamento · ID 670691 · 2024-04-28 · versão 1 · p. 29 · https://fnet.bmfbovespa.com.br/fnet/publico/visualizarDocumento?id=670691</a:t>
            </a:r>
          </a:p>
          <a:p>
            <a:r>
              <a:t>CNPJ 54871427000194 · Classe, subclasse e responsabilidade · Excerto da fonte:</a:t>
            </a:r>
          </a:p>
          <a:p>
            <a:r>
              <a:t>Anexo I ao Regulamento CLASSE ÚNICA DE RESPONSABILIDADE LIMITADA DO CONSIGNADO DELTA RECEIVABLES I FUNDO DE INVESTIMENTO EM DIREITOS CREDITÓRIOS  pelo Endossante e depositados em seu conta de sua titularidade para posterior repasse à  Classe. Neste caso, a Classe poderá sofrer perdas principalmente em relação ao atraso na  regularização da titularidade e pagamento dos Direitos Creditórios.</a:t>
            </a:r>
          </a:p>
          <a:p>
            <a:r>
              <a:t> (v) Risco de pré-pagamento dos Direitos Creditórios. A ocorrência de pré-  pagamentos em relação a um ou mais Direitos Creditórios poderá ocasionar perdas à Classe.</a:t>
            </a:r>
          </a:p>
          <a:p>
            <a:r>
              <a:t> A ocorrência de pré-pagamentos (pagamento em data anterior àquela originalmente pactuada)  de Direitos Creditórios reduz o horizonte original de rendimentos esperados pela Classe de  tais Direitos Creditórios, uma vez que o pré-pagamento poderá, se assim permitido pela  documentação do Direito Creditório ou, conf orme o caso, pela legislação aplicável, ser  realizado pelo valor de emissão do Direito Creditório atualizado até a data do pré-pagamento  pela taxa de juros pactuada entre os Endossantes e os Devedores de tais Direitos Creditórios,  de modo que os juros remuneratórios incidentes desde a data da realização do pré-pagamento  até a data de vencimento do respectivo Direito Creditório deixam de ser devidos à Classe.</a:t>
            </a:r>
          </a:p>
          <a:p>
            <a:r>
              <a:t> (vi) Riscos associados aos Devedores: os Direitos Creditórios a serem cedidos à  Classe serão descontados da remuneração do Devedor, através de desconto em f olha de  pagamento ou de benefício. Nesse sentido, na ocorrência de pré-pagamento, as parcelas  serão pagas antecipadamente e a Classe deverá utilizar tais montantes no pré-pagamento dos  Direitos Creditórios. Nesta hipótese, a Classe poderá não encontrar Direitos Creditórios  disponíveis para serem adquiridos pela Classe, o que poderá afetar a rentabilidade da Classe.</a:t>
            </a:r>
          </a:p>
          <a:p>
            <a:r>
              <a:t> (vii) Risco de Competição: o mercado de empréstimos experimentou grande  expansão no Brasil nos últimos anos. Nesse contexto, a Resolução CMN nº 4.292, alterada  pela Resolução nº 4.762, de 27 de novembro de 2019, dispõe que deve ser garantido às  pessoas naturais devedoras de operações de crédito (tais como as CCB) a possibilidade de  realizarem a portabilidade destas operações para outras instituições financeiras, inclusive nos  casos em que tenham sido objeto de cessão (tais como as realizadas à Classe). Nesse  cenário, é possível que os competidores do Endossante ofereçam condições e taxas mais  vantajosas para os empréstimos pessoais com consignação em f olha de pagamento ou de  benef ícios, o que pode causar a migração de clientes da Endossante para outras instituições  f inanceiras, gerando a liquidação antecipada de parte das CCB existentes e/ou redução no  número de Direitos Creditórios cedidos. Referida competição poderá af etar os resultados da  Classe, impactando negativamente os rendimentos dos Cotistas. Ainda, a portabilidade a um  Devedor pode acarretar no recebimento de valores inf eriores aos esperados pela Classe.</a:t>
            </a:r>
          </a:p>
          <a:p>
            <a:r>
              <a:t> (viii) Insuf iciência dos Critérios de Elegibilidade. Os Critérios de Elegibilidade têm a  f inalidade de selecionar os Direitos Creditórios passíveis de aquisição pela Classe. Não  obstante tais Critérios de Elegibilidade, a solvência dos Direitos Creditórios que compõem a  Carteira depende integralmente, mas não somente, da situação econômico-financeira dos  Devedores. Dessa f orma, a observância pelo GESTOR dos Critérios de Elegibilidade não  constitui garantia de adimplência dos Devedores.</a:t>
            </a:r>
          </a:p>
          <a:p>
            <a:r>
              <a:t> Os Endossantes não necessariamente garantem a solvência dos seus respectivos Devedores.</a:t>
            </a:r>
          </a:p>
          <a:p>
            <a:r>
              <a:t> O Endossante dos Direitos Creditórios não assumirá responsabilidade pelo seu pagamento ou  pela solvência dos respectivos Devedores. A Classe sofrerá o impacto do inadimplemento dos  Direitos Creditórios vencidos e não pagos pelos respectivos Devedores.</a:t>
            </a:r>
          </a:p>
          <a:p>
            <a:r>
              <a:t> (ix) Possibilidade de aquisição de Direitos Creditórios cedidos por Endossante  e/ou devidos por Devedores cujas demonstrações financeiras não sejam auditadas. A Classe,  desde que sejam respeitados os limites de concentração previstos neste Regulamento, poderá  manter a qualquer tempo em sua Carteira, Direitos Creditórios cedidos por Endossante e/ou  devidos por Devedores cujas demonstrações f inanceiras não sejam auditadas por Auditor  Independente registrado na CVM. Nesse sentido, não haverá verificação independente sobre  tais demonstrações f inanceiras que af irme se estas representam adequadamente, em todos  os aspectos relevantes, as respectivas posições patrimoniais e f inanceiras, os resultados de  suas operações, as mutações de seus respectivos patrimônios líquidos tampouco as origens  e aplicações de seus recursos.</a:t>
            </a:r>
          </a:p>
          <a:p>
            <a:r>
              <a:t>CNPJ 54871427000194 · Classe, subclasse e responsabilidade · Regulamento · ID 670691 · 2024-04-28 · versão 1 · p. 15 · 7.2 · https://fnet.bmfbovespa.com.br/fnet/publico/visualizarDocumento?id=670691</a:t>
            </a:r>
          </a:p>
          <a:p>
            <a:r>
              <a:t>CNPJ 54871427000194 · Classe, subclasse e responsabilidade · Excerto da fonte:</a:t>
            </a:r>
          </a:p>
          <a:p>
            <a:r>
              <a:t>7.2 As amortizações de Cotas serão realizadas a qualquer tempo, a critério do GESTOR, observada a  disponibilidade de recursos da Classe Única e a ordem de alocação de recursos prevista neste Anexo  Descritivo.</a:t>
            </a:r>
          </a:p>
          <a:p>
            <a:r>
              <a:t>CNPJ 54871427000194 · Classe, subclasse e responsabilidade · Instrumento Particular de Alteração do Regulamento · ID 670690 · 2024-05-28 · versão 1 · p. 1 · https://fnet.bmfbovespa.com.br/fnet/publico/visualizarDocumento?id=670690</a:t>
            </a:r>
          </a:p>
          <a:p>
            <a:r>
              <a:t>CNPJ 54871427000194 · Classe, subclasse e responsabilidade · Excerto da fonte:</a:t>
            </a:r>
          </a:p>
          <a:p>
            <a:r>
              <a:t>ATA DA ASSEMBLEIA ESPECIAL DE COTISTAS  CLASSE ÚNICA DE RESPONSABILIDADE LIMITADA DO CONSIGNADO DELTA RECEIVABLES I  FUNDO DE INVESTIMENTO EM DIREITOS CREDITÓRIOS  CNPJ nº 54.871.427/0001-94  (“Classe Única” e “Fundo”, respectivamente)</a:t>
            </a:r>
          </a:p>
          <a:p>
            <a:r>
              <a:t>CNPJ 54871427000194 · Classe, subclasse e responsabilidade · Condição: Documentos atuais selecionados no inventário por categoria/escopo; a data documental isolada não comprova vigência jurídica.</a:t>
            </a:r>
          </a:p>
          <a:p>
            <a:r>
              <a:t>CNPJ 54871427000194 · Classe, subclasse e responsabilidade · Versão e prevalência: Documentos atuais selecionados no inventário por categoria/escopo; a data documental isolada não comprova vigência jurídica.</a:t>
            </a:r>
          </a:p>
          <a:p>
            <a:r>
              <a:t>CNPJ 54871427000194 · Classe, subclasse e responsabilidade · Resumo do histórico: {"count": 4, "dates": ["2024-04-19", "2024-04-28", "2024-05-24"], "document_count": 3, "sources": [{"document_id": "668387", "title": "Instrumento Particular de Emissão de Cotas", "reference_date": "2024-05-24", "version": "1", "page": 1, "url": "https://fnet.bmfbovespa.com.br/fnet/publico/visualizarDocumento?id=668387", "sha256": "be2913bed5f468a7399afcd27f92bac2083451584ee580b5054e9f525e68cc4a"}, {"document_id": "670691", "title": "Regulamento", "reference_date": "2024-04-28", "version": "1", "page": 29, "url": "https://fnet.bmfbovespa.com.br/fnet/publico/visualizarDocumento?id=670691", "sha256": "bf16dd7f1a62d5cdbf2e2d54fef81783783f7310fbc99c3a8f00459bdf9d037b"}, {"document_id": "670687", "title": "Instrumento Particular de Constituição/Encerramento do Fundo", "reference_date": "2024-04-19", "version": "1", "page": 1, "url": "https://fnet.bmfbovespa.com.br/fnet/publico/visualizarDocumento?id=670687", "sha256": "999f2a47d39f7022b0fcee3d16fd1db33948537b897e92c4c9e14b436bf5eb96"}], "reference": {"path": "history/54871427000194.json", "criterion_id": "perimeter", "total_count": 4, "preview_count": 3, "full_text_deferred": true, "sha256": "35d7cd99be50c7287c9fb675cf4f2e736002315295a225a9efa79c8d9186d874"}}</a:t>
            </a:r>
          </a:p>
          <a:p>
            <a:r>
              <a:t>CNPJ 60010416000112 · Classe, subclasse e responsabilidade · Regulamento · ID 1051393 · 2025-10-09 · versão 1 · p. 10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a:t>
            </a:r>
          </a:p>
          <a:p>
            <a:r>
              <a:t> (ii) o saldo dos Direitos Creditórios devidos pelo mesmo Devedor à Classe, considerando, pro  forma, o endosso pretendido, não deverá exceder R$ 100.000,00 (cem mil reais), observado  o disposto no item 4.4.1 abaixo;</a:t>
            </a:r>
          </a:p>
          <a:p>
            <a:r>
              <a:t> (iii) o prazo de vencimento das CCB representativas dos Direitos Creditórios deverá ser, no  máximo, equivalente ao prazo máximo permitido pelas leis e regulamentações aplicáveis; e</a:t>
            </a:r>
          </a:p>
          <a:p>
            <a:r>
              <a:t> (iv) os Direitos Creditórios não poderão ser devidos por Devedores que tenham acima de 64  (sessenta e quatro) anos 11 (onze) meses e 29 (vinte e nove) dias na data de emissão da  respectiva CCB.</a:t>
            </a:r>
          </a:p>
          <a:p>
            <a:r>
              <a:t>CNPJ 60010416000112 · Classe, subclasse e responsabilidade · Regulamento · ID 1051393 · 2025-10-09 · versão 1 · p. 11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  com a transf erência, à Classe, de f orma definitiva, sem coobrigação do Endossante, da plena  titularidade desse Direito Creditório, juntamente com todos os direitos, privilégios, pref erências,  prerrogativas, garantias e ações a ele relacionados, bem como correção monetária, juros e  encargos, sem prejuízo do direito da Classe (i) de exigir a recompra compulsória do respectivo  Direito Creditório, de acordo com os termos do Contrato de Endosso; ou (ii) de vender Direitos  Creditórios ao Agente de Retenção/Cobrança (opção de venda), em ambos os casos estritamente  nos termos do Contrato de Endosso.</a:t>
            </a:r>
          </a:p>
          <a:p>
            <a:r>
              <a:t>CNPJ 60010416000112 · Classe, subclasse e responsabilidade · Regulamento · ID 1051393 · 2025-10-09 · versão 1 · p. 18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a:t>
            </a:r>
          </a:p>
          <a:p>
            <a:r>
              <a:t> (ii) alterar este Anexo I e seus complementos, incluindo mas não se limitando aos Apêndices de cada  uma das subclasses;</a:t>
            </a:r>
          </a:p>
          <a:p>
            <a:r>
              <a:t> (iii) deliberar sobre substituição de Prestadores de Serviços Essenciais, observado o disposto no Art.</a:t>
            </a:r>
          </a:p>
          <a:p>
            <a:r>
              <a:t> 70, §1º da parte geral da Resolução CVM 175, quando aplicável, ou do Custodiante;</a:t>
            </a:r>
          </a:p>
          <a:p>
            <a:r>
              <a:t> (iv) deliberar sobre elevação da Taxa de Administração, inclusive na hipótese de restabelecimento de  taxa que tenha sido objeto de redução;</a:t>
            </a:r>
          </a:p>
          <a:p>
            <a:r>
              <a:t> (v) deliberar sobre incorporação, fusão, cisão total ou parcial, a transformação ou liquidação da Classe;</a:t>
            </a:r>
          </a:p>
          <a:p>
            <a:r>
              <a:t> (vi) alterações das características, vantagens, direitos e obrigações das Cotas;</a:t>
            </a:r>
          </a:p>
          <a:p>
            <a:r>
              <a:t> (vii) alterar critérios e procedimentos para Amortização e/ou resgate de Cotas mediante dação em  pagamento de Direitos Creditórios;</a:t>
            </a:r>
          </a:p>
          <a:p>
            <a:r>
              <a:t> (viii) aprovar a contratação de Agente de Retenção/Cobrança dos Direitos Creditórios Inadimplidos, bem  como decidir sobre sua substituição ou destituição;</a:t>
            </a:r>
          </a:p>
          <a:p>
            <a:r>
              <a:t> (ix) alterar a f orma de amortização do principal e dos valores acumulados relacionados às Cotas;</a:t>
            </a:r>
          </a:p>
          <a:p>
            <a:r>
              <a:t> (x) aprovar emissão de novas Cotas da Classe, em montante além do Capital Autorizado;</a:t>
            </a:r>
          </a:p>
          <a:p>
            <a:r>
              <a:t> (xi) deliberar sobre a eventual necessidade de aportes adicionais de recursos na Classe pelos Cotistas;</a:t>
            </a:r>
          </a:p>
          <a:p>
            <a:r>
              <a:t> (xii) alterações na Política de Investimentos;</a:t>
            </a:r>
          </a:p>
          <a:p>
            <a:r>
              <a:t> (xiii) alterações nos Critérios de Elegibilidade;</a:t>
            </a:r>
          </a:p>
          <a:p>
            <a:r>
              <a:t> (xiv) decidir se um Evento de Avaliação será considerado como Evento de Liquidação, sujeito a este  Regulamento;</a:t>
            </a:r>
          </a:p>
          <a:p>
            <a:r>
              <a:t> (xv) decidir, na ocorrência de qualquer Evento de Liquidação, se esse Evento de Liquidação não deverá  causar a liquidação antecipada da Classe;</a:t>
            </a:r>
          </a:p>
          <a:p>
            <a:r>
              <a:t> (xvi) plano de resolução do Patrimônio Líquido negativo da Classe, nos termos da Resolução CVM 175;</a:t>
            </a:r>
          </a:p>
          <a:p>
            <a:r>
              <a:t> (xvii)pedido de declaração judicial de insolvência da Classe; e</a:t>
            </a:r>
          </a:p>
          <a:p>
            <a:r>
              <a:t> (xviii) deliberar sobre a alteração da data de resgate e/ou prazo de duração de cada Série de Cotas  Seniores, do Benchmark, bem como de quaisquer outras características de qualquer Série de Cotas  Seniores;</a:t>
            </a:r>
          </a:p>
          <a:p>
            <a:r>
              <a:t>CNPJ 60010416000112 · Classe, subclasse e responsabilidade · Condição: Documentos atuais selecionados no inventário por categoria/escopo; a data documental isolada não comprova vigência jurídica.</a:t>
            </a:r>
          </a:p>
          <a:p>
            <a:r>
              <a:t>CNPJ 60010416000112 · Classe, subclasse e responsabilidade · Versão e prevalência: Documentos atuais selecionados no inventário por categoria/escopo; a data documental isolada não comprova vigência jurídica.</a:t>
            </a:r>
          </a:p>
          <a:p>
            <a:r>
              <a:t>CNPJ 60010416000112 · Classe, subclasse e responsabilidade · Resumo do histórico: {"count": 1, "dates": ["2025-05-12"], "document_count": 1, "sources": [{"document_id": "1004656", "title": "AGE", "reference_date": "2025-05-12", "version": "1", "page": 4, "url": "https://fnet.bmfbovespa.com.br/fnet/publico/visualizarDocumento?id=1004656", "sha256": "f6c9c009f6170e2b29f074b98522accec73f0c40efbf11f9ec2c8d3f1402616b"}], "reference": {"path": "history/60010416000112.json", "criterion_id": "perimeter", "total_count": 1, "preview_count": 1, "full_text_deferred": true, "sha256": "8e2bd813f4c51cf01f6bfaad164bafe69d2bbb192f753eac92da3a01c2e63046"}}</a:t>
            </a:r>
          </a:p>
          <a:p>
            <a:r>
              <a:t>CNPJ 62696791000193 · Classe, subclasse e responsabilidade · Regulamento · ID 1143317 · 20/03/2026 · versão Regulamento — referência 20/03/2026 · p. 9 · Anexo I, 2.1 · https://fnet.bmfbovespa.com.br/fnet/publico/visualizarDocumento?id=1143317</a:t>
            </a:r>
          </a:p>
          <a:p>
            <a:r>
              <a:t>CNPJ 62696791000193 · Classe, subclasse e responsabilidade · Excerto da fonte:</a:t>
            </a:r>
          </a:p>
          <a:p>
            <a:r>
              <a:t>2.1 A responsabilidade do Cotista está limitada ao valor por ele subscrito. 2.2 Os seguintes eventos obrigarão o Administrador a verif icar se o Patrimônio Líquido está negativo: (i) qualquer pedido de declaração judicial de insolvência de Classe; (ii) inadimplência de obrigações financeiras de devedor e/ou emissor de ativos detidos pela Classe que representem mais de 10% (dez por cento) de seu Patrimônio Líquido, naquela data de ref erência; (iii) pedido de recuperação extrajudicial, proposta de recuperação judicial, f alência, intervenção, liquidação extrajudicial e/ou regime de administração temporária de devedor e/ou emissor de ativos detidos pela Classe; e (iv) condenação da Classe, de natureza judicial e/ou arbitral e/ou administrativa e/ou outras similares, ao pagamento de mais de 10% (dez por cento) de seu Patrimônio Líquido. 2.3 Caso o Administrador verifique que o Patrimônio Líquido está negativo, ou tenha ciência de pedido de declaração judicial de insolvência da Classe ou da declaração judicial de insolvência da Classe, deverá adotar as medidas aplicáveis previstas na Resolução CVM 175. 2.4 Serão aplicáveis as disp</a:t>
            </a:r>
          </a:p>
          <a:p>
            <a:r>
              <a:t>CNPJ 62696791000193 · Classe, subclasse e responsabilidade · Regulamento · ID 1143317 · 20/03/2026 · versão Regulamento — referência 20/03/2026 · p. 18 · Anexo I, 8.8.1 · https://fnet.bmfbovespa.com.br/fnet/publico/visualizarDocumento?id=1143317</a:t>
            </a:r>
          </a:p>
          <a:p>
            <a:r>
              <a:t>CNPJ 62696791000193 · Classe, subclasse e responsabilidade · Excerto da fonte:</a:t>
            </a:r>
          </a:p>
          <a:p>
            <a:r>
              <a:t>8.8.1 As Chamadas de Capital para a realização de investimentos serão realizadas a qualquer momento durante o Período de Investimento e estarão limitadas ao valor do capital subscrito de cada Cotista. As Chamadas de Capital para o pagamento de despesas e encargos do Fundo poderão ser realizadas a qualquer momento durante o Prazo de Duração, mas não estarão limitadas ao valor do capital subscrito de cada Cotista. 8.8.2 Ao receber uma Chamada de Capital, os Cotistas serão obrigados a integralizar parte ou a totalidade de suas Cotas no prazo previsto na ref erida Chamada de Capital, o qual não poderá ser inf erior a 5 (cinco) Dias Úteis contados do recebimento da Chamada de Capital, conforme solicitado pelo Administrador em observância às instruções do Gestor e de acordo com o disposto nos respectivos Compromissos de Investimento. 8.8.3 O Administrador poderá, eventualmente, realizar Chamadas de Capital aos Cotistas de forma desproporcional entre Cotistas, de modo que um ou mais Cotista venha a integralizar, em uma ou mais Chamadas de Capital, uma parcela maior ou menor, conforme o caso, das Cotas por</a:t>
            </a:r>
          </a:p>
          <a:p>
            <a:r>
              <a:t>CNPJ 62696791000193 · Classe, subclasse e responsabilidade · Regulamento · ID 1143317 · 20/03/2026 · versão Regulamento — referência 20/03/2026 · p. 16 · Anexo I, 7.2 · https://fnet.bmfbovespa.com.br/fnet/publico/visualizarDocumento?id=1143317</a:t>
            </a:r>
          </a:p>
          <a:p>
            <a:r>
              <a:t>CNPJ 62696791000193 · Classe, subclasse e responsabilidade · Excerto da fonte:</a:t>
            </a:r>
          </a:p>
          <a:p>
            <a:r>
              <a:t>7.2 A Classe possui 3 (três) Subclasses de Cotas, quais sejam, a subclasse sênior (“Subclasse Sênior” e “Cotas Seniores”), a subclasse mezanino (“Subclasse Mezanino” e “Cotas Mezanino”) e a subclasse subordinada (“Subclasse Subordinada” e “Cotas Subordinadas” – as Cotas Subordinadas, Cotas Seniores e Cotas Mezanino, quando ref eridas em conjunto, “Cotas”), admitindo ainda a emissão de novas séries (“Séries”) de Cotas Seniores, nos termos do seu respectivo Apêndice. As características, os direitos e as condições de emissão, distribuição, subscrição, integralização, remuneração, amortização e resgate das Cotas estão descritos neste Capítulo e nos respectivos Apêndices. 7.3 As Cotas são escriturais, nominativas e correspondem a f rações ideais do patrimônio da Classe, cuja propriedade presume-se: (i) pelo registro do nome do Cotista no livro de registro de Cotistas, enquanto mantidas em conta de depósito mantidas junto ao Escriturador em nome dos respectivos Cotistas, nos termos do Art. 15 da Resolução CVM 175; (ii) pelos controles de titularidade mantidos pelo depositário BTG Pactual SAC: 0800 772 2827 | Ouvidoria: 0800 722 0048 | btgpactual.co m 11</a:t>
            </a:r>
          </a:p>
          <a:p>
            <a:r>
              <a:t>CNPJ 62696791000193 · Classe, subclasse e responsabilidade · Condição: Contradição interna no alcance da responsabilidade limitada. Não apresentar a cláusula de despesas como obrigação irrestrita pacificada.</a:t>
            </a:r>
          </a:p>
          <a:p>
            <a:r>
              <a:t>CNPJ 62696791000193 · Classe, subclasse e responsabilidade · Versão e prevalência: Leitura específica das cláusulas indicadas; condições e conflitos preservados. Seleção documental atual não comprova vigência jurídica por data isolada.</a:t>
            </a:r>
          </a:p>
          <a:p>
            <a:r>
              <a:t>CNPJ 55563624000109 · Classe, subclasse e responsabilidade · Regulamento · ID 1192614 · 2026-04-30 · versão 1 · p. 40 · https://fnet.bmfbovespa.com.br/fnet/publico/visualizarDocumento?id=1192614</a:t>
            </a:r>
          </a:p>
          <a:p>
            <a:r>
              <a:t>CNPJ 55563624000109 · Classe, subclasse e responsabilidade · Excerto da fonte:</a:t>
            </a:r>
          </a:p>
          <a:p>
            <a:r>
              <a:t>(xxiv) Subordinação de determinadas Cotas da Classe Investida a outras subclasses ou séries de  cotas das Classes Investidas aos quais pertencem. A Classe Investida adquirirá apenas cotas  subordinadas mezaninos da Classe Investida, as quais se subordinam às cotas seniores da Classe  Investida para efeitos de resgate. Os resgates de cotas subordinadas mezanino tipicamente têm sua  realização condicionada ainda à manutenção da razão de garantia e à existência de disponibilidades  da Classe Investida. O ADMINISTRADOR, o GESTOR e o CUSTODIANTE e suas respectivas partes  relacionadas, encontram-se impossibilitados de assegurar que a amortização e o resgate das cotas  subordinadas mezanino da Classe Investida que venham a ser adquiridas pela Classe ocorrerão nas  datas originalmente previstas, sendo que, caso tais amortizações e/ou resgates não ocorram, não será  devido pelo FUNDO ou qualquer pessoa, incluindo o ADMINISTRADOR, o GESTOR e o CUSTODIANTE,  do FUNDO ou da Classe Investida qualquer multa ou penalidade, de qualquer natureza. O não resgate  de cotas subordinadas mezanino da Classe Investida detidas pela Classe poderá impactar  negativamente no fluxo de pagamento de resgate da Classe e/ou no valor patrimonial das Cotas da  Classe.</a:t>
            </a:r>
          </a:p>
          <a:p>
            <a:r>
              <a:t>CNPJ 55563624000109 · Classe, subclasse e responsabilidade · Regulamento · ID 1192614 · 2026-04-30 · versão 1 · p. 2 · 1.2 · https://fnet.bmfbovespa.com.br/fnet/publico/visualizarDocumento?id=1192614</a:t>
            </a:r>
          </a:p>
          <a:p>
            <a:r>
              <a:t>CNPJ 55563624000109 · Classe, subclasse e responsabilidade · Excerto da fonte:</a:t>
            </a:r>
          </a:p>
          <a:p>
            <a:r>
              <a:t>1.2 Este regulamento é composto por esta parte geral, um ou mais anexos, conforme o número de classes aqui  previsto e respectivos apêndices relativos a cada subclasse de cotas, conforme aplicável (respectivamente,  “Regulamento”, “Parte Geral”, “Anexos” e “Apêndices”).</a:t>
            </a:r>
          </a:p>
          <a:p>
            <a:r>
              <a:t> Denominação da Classe Anexo  CLASSE ÚNICA DE RESPONSABILIDADE LIMITADA DO  PLGN MARKETPLACE FUNDO DE INVESTIMENTO EM  Anexo Único (“Anexo”)  COTAS DE FUNDO DE INVESTIMENTO EM DIREITOS  CREDITÓRIOS (“Classe” ou “Classe Única”)</a:t>
            </a:r>
          </a:p>
          <a:p>
            <a:r>
              <a:t>CNPJ 55563624000109 · Classe, subclasse e responsabilidade · Regulamento · ID 1192614 · 2026-04-30 · versão 1 · p. 24 · 12.3 · https://fnet.bmfbovespa.com.br/fnet/publico/visualizarDocumento?id=1192614</a:t>
            </a:r>
          </a:p>
          <a:p>
            <a:r>
              <a:t>CNPJ 55563624000109 · Classe, subclasse e responsabilidade · Excerto da fonte:</a:t>
            </a:r>
          </a:p>
          <a:p>
            <a:r>
              <a:t>12.3 Incluem-se entre as obrigações do ADMINISTRADOR, sem prejuízo de outras previstas na regulamentação:</a:t>
            </a:r>
          </a:p>
          <a:p>
            <a:r>
              <a:t> (i) sem prejuízo da observância dos procedimentos relativos às demonstrações contábeis, manter,  separadamente, registros com informações completas sobre toda e qualquer modalidade de negociação  realizada entre o ADMINISTRADOR, GESTOR, CUSTODIANTE, e/ou suas respectivas partes relacionadas,  tais como definidas pelas regras contábeis que tratam desse assunto, de um lado; e a Classe, de outro;</a:t>
            </a:r>
          </a:p>
          <a:p>
            <a:r>
              <a:t> (ii) diligenciar para que sejam mantidos, às suas expensas, atualizados e em perfeita ordem:</a:t>
            </a:r>
          </a:p>
          <a:p>
            <a:r>
              <a:t> (a) o registro de Cotistas;</a:t>
            </a:r>
          </a:p>
          <a:p>
            <a:r>
              <a:t> (b) o livro de atas das Assembleias de Cotistas;</a:t>
            </a:r>
          </a:p>
          <a:p>
            <a:r>
              <a:t> (c) o livro ou lista de presença de Cotistas;</a:t>
            </a:r>
          </a:p>
          <a:p>
            <a:r>
              <a:t> (d) os pareceres do Auditor Independente; e</a:t>
            </a:r>
          </a:p>
          <a:p>
            <a:r>
              <a:t> (e) os registros contábeis referentes às operações e ao patrimônio da Classe;</a:t>
            </a:r>
          </a:p>
          <a:p>
            <a:r>
              <a:t> (iii) pagar a multa cominatória às suas expensas, nos termos da legislação vigente, por cada dia de atraso no  cumprimento dos prazos previstos na regulamentação aplicável;</a:t>
            </a:r>
          </a:p>
          <a:p>
            <a:r>
              <a:t> (iv) elaborar e divulgar as informações periódicas e eventuais da Classe, nos termos deste Anexo e da  regulamentação e da autorregulação em vigor;</a:t>
            </a:r>
          </a:p>
          <a:p>
            <a:r>
              <a:t> (v) manter atualizada junto à CVM a lista de todos os prestadores de serviços contratados pela Classe,  inclusive os Prestadores de Serviços Essenciais, bem como as demais informações cadastrais da Classe e  suas Subclasses;</a:t>
            </a:r>
          </a:p>
          <a:p>
            <a:r>
              <a:t> (vi) manter serviço de atendimento aos Cotistas, responsável pelo esclarecimento de dúvidas e pelo  recebimento de reclamações;</a:t>
            </a:r>
          </a:p>
          <a:p>
            <a:r>
              <a:t> (vii) receber e processar os pedidos de resgate;</a:t>
            </a:r>
          </a:p>
          <a:p>
            <a:r>
              <a:t> (viii) monitorar os Eventos de Verificação do Patrimônio;</a:t>
            </a:r>
          </a:p>
          <a:p>
            <a:r>
              <a:t> (ix) monitorar os Eventos de Avaliação e Eventos de Liquidação;</a:t>
            </a:r>
          </a:p>
          <a:p>
            <a:r>
              <a:t> (x) observar as disposições constantes do Regulamento;</a:t>
            </a:r>
          </a:p>
          <a:p>
            <a:r>
              <a:t> (xi) cumprir as deliberações da Assembleia de Cotistas; e</a:t>
            </a:r>
          </a:p>
          <a:p>
            <a:r>
              <a:t> (xii) observar as disposições do Código ANBIMA e das Regras e Procedimentos ANBIMA</a:t>
            </a:r>
          </a:p>
          <a:p>
            <a:r>
              <a:t>CNPJ 55563624000109 · Classe, subclasse e responsabilidade · Condição: Documentos atuais selecionados no inventário por categoria/escopo; a data documental isolada não comprova vigência jurídica.</a:t>
            </a:r>
          </a:p>
          <a:p>
            <a:r>
              <a:t>CNPJ 55563624000109 · Classe, subclasse e responsabilidade · Versão e prevalência: Documentos atuais selecionados no inventário por categoria/escopo; a data documental isolada não comprova vigência jurídica.</a:t>
            </a:r>
          </a:p>
          <a:p>
            <a:r>
              <a:t>CNPJ 55563624000109 · Classe, subclasse e responsabilidade · Resumo do histórico: {"count": 5, "dates": ["2024-07-03", "2025-01-31", "2026-01-31"], "document_count": 3, "sources": [{"document_id": "1178840", "title": "Demonstrações Financeiras", "reference_date": "2026-01-31", "version": "1", "page": 3, "url": "https://fnet.bmfbovespa.com.br/fnet/publico/visualizarDocumento?id=1178840", "sha256": "c458e98664c5c907ddb5a05a94b120bed4e05295b2bfc420f5ba69af0a229abe"}, {"document_id": "891861", "title": "Demonstrações Financeiras", "reference_date": "2025-01-31", "version": "1", "page": 27, "url": "https://fnet.bmfbovespa.com.br/fnet/publico/visualizarDocumento?id=891861", "sha256": "e9cb9e6ddbe505fe068cfcac33605165a98313489de0d3ce6d4d238263c3f3e7"}, {"document_id": "703295", "title": "Anúncio de Início", "reference_date": "2024-07-03", "version": "2", "page": 1, "url": "https://fnet.bmfbovespa.com.br/fnet/publico/visualizarDocumento?id=703295", "sha256": "12322b6dbf75e673723bd60910373db249451b72666792e18e0c7b6128f4608a"}], "reference": {"path": "history/55563624000109.json", "criterion_id": "perimeter", "total_count": 5, "preview_count": 3, "full_text_deferred": true, "sha256": "7835d573fb58a3c19adf5b8ecc2aee2bdbb9a88f7a0c0209b5f262b64c7522e3"}}</a:t>
            </a:r>
          </a:p>
          <a:p>
            <a:r>
              <a:t>CNPJ 62552447000120 · Classe, subclasse e responsabilidade · Regulamento · ID 1200623 · 2026-05-21 · versão 1 · p. 1 · 1.3 · https://fnet.bmfbovespa.com.br/fnet/publico/visualizarDocumento?id=1200623</a:t>
            </a:r>
          </a:p>
          <a:p>
            <a:r>
              <a:t>CNPJ 62552447000120 · Classe, subclasse e responsabilidade · Excerto da fonte:</a:t>
            </a:r>
          </a:p>
          <a:p>
            <a:r>
              <a:t>1.3 Durante o seu prazo de duração, o Fundo, por ato conjunto dos Prestadores de Serviços Essenciais,  poderá constituir diferentes Classes e Subclasses , sendo que cada Classe terá patrimônio segregado e</a:t>
            </a:r>
          </a:p>
          <a:p>
            <a:r>
              <a:t>CNPJ 62552447000120 · Classe, subclasse e responsabilidade · Regulamento · ID 1200623 · 2026-05-21 · versão 1 · p. 1 · 1.1 · https://fnet.bmfbovespa.com.br/fnet/publico/visualizarDocumento?id=1200623</a:t>
            </a:r>
          </a:p>
          <a:p>
            <a:r>
              <a:t>CNPJ 62552447000120 · Classe, subclasse e responsabilidade · Excerto da fonte:</a:t>
            </a:r>
          </a:p>
          <a:p>
            <a:r>
              <a:t>1.1 V CDT 1 FUNDO DE INVESTIMENTO EM DIREITOS CREDITÓRIOS RESPONSABILIDADE  LIMITADA (“Fundo”), regido pela Lei n.º 10.406, de 10 de janeiro de 2002, conforme alterada (“Código  Civil”), pela Resolução da Comissão de Valores Mobiliários (“CVM”) n.º 175, de 23 de dezembro de  2022, conf orme alterada (“Resolução CVM 175”), que inclui sua Parte Geral (“Parte Geral da  Resolução CVM 175”) e seu Anexo Normativo II (“Anexo Normativo II”) terá como principais  características:</a:t>
            </a:r>
          </a:p>
          <a:p>
            <a:r>
              <a:t>CNPJ 62552447000120 · Classe, subclasse e responsabilidade · Regulamento · ID 1200623 · 2026-05-21 · versão 1 · p. 1 · https://fnet.bmfbovespa.com.br/fnet/publico/visualizarDocumento?id=1200623</a:t>
            </a:r>
          </a:p>
          <a:p>
            <a:r>
              <a:t>CNPJ 62552447000120 · Classe, subclasse e responsabilidade · Excerto da fonte:</a:t>
            </a:r>
          </a:p>
          <a:p>
            <a:r>
              <a:t>CLASSE ÚNICA DO V CDT 1 FUNDO DE  INVESTIMENTO EM DIREITOS CREDITÓRIOS Anexo I (“Anexo I”)  RESPONSABILIDADE LIMITADA</a:t>
            </a:r>
          </a:p>
          <a:p>
            <a:r>
              <a:t>CNPJ 62552447000120 · Classe, subclasse e responsabilidade · Condição: Documentos atuais selecionados no inventário por categoria/escopo; a data documental isolada não comprova vigência jurídica.</a:t>
            </a:r>
          </a:p>
          <a:p>
            <a:r>
              <a:t>CNPJ 62552447000120 · Classe, subclasse e responsabilidade · Versão e prevalência: Documentos atuais selecionados no inventário por categoria/escopo; a data documental isolada não comprova vigência jurídica.</a:t>
            </a:r>
          </a:p>
          <a:p>
            <a:r>
              <a:t>CNPJ 62552447000120 · Classe, subclasse e responsabilidade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"perimeter", "total_count": 1, "preview_count": 1, "full_text_deferred": true, "sha256": "d95db8c0613d67ee84118c734588665265ea6b02f86a0318d6a844cbe1d0f82f"}}</a:t>
            </a:r>
          </a:p>
          <a:p>
            <a:r>
              <a:t>CNPJ 63953620000165 · Classe, subclasse e responsabilidade · Anexo ao Regulamento · ID 1222863 · 02/06/2026 · versão AnexoConsignadoPrivado02/06/2026 · p. 3 · 2.1 · https://fnet.bmfbovespa.com.br/fnet/publico/visualizarDocumento?id=1222863</a:t>
            </a:r>
          </a:p>
          <a:p>
            <a:r>
              <a:t>CNPJ 63953620000165 · Classe, subclasse e responsabilidade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deverá adotar as medidas aplicáveis previstas na Resolução CVM 175. 2.3 Serão aplicáveis as disposições da Resolução CVM 175 no que se refere aos procedimentos a serem adotados pelo Administrador na hipótese de Patrimônio Líquido negativo da Classe. BTG Pactual SAC: 0800 772 28 27 - Ouvidoria: 0800 722 00 48 - btgpactual.com</a:t>
            </a:r>
          </a:p>
          <a:p>
            <a:r>
              <a:t>CNPJ 63953620000165 · Classe, subclasse e responsabilidade · Anexo ao Regulamento · ID 1222863 · 02/06/2026 · versão AnexoConsignadoPrivado02/06/2026 · p. 10 · 6.7.1 · https://fnet.bmfbovespa.com.br/fnet/publico/visualizarDocumento?id=1222863</a:t>
            </a:r>
          </a:p>
          <a:p>
            <a:r>
              <a:t>CNPJ 63953620000165 · Classe, subclasse e responsabilidade · Excerto da fonte:</a:t>
            </a:r>
          </a:p>
          <a:p>
            <a:r>
              <a:t>6.7.1 As Chamadas de Capital para a realização de investimentos serão realizadas a qualquer momento durante o Período de Investimento e estarão limitadas ao valor do capital subscrito de cada Cotista. As Chamadas de Capital para o pagamento de despesas e encargos do Fundo, com exceção de despesas relacionadas à instrumentos de derivativos e/ou Encargos não previstos no âmbito deste regulamento, poderão ser realizadas a qualquer momento durante o Prazo de Duração, mas não estarão limitadas ao valor do capital subscrito de cada Cotista. 6.7.2 Ao receber uma Chamada d</a:t>
            </a:r>
          </a:p>
          <a:p>
            <a:r>
              <a:t>CNPJ 63953620000165 · Classe, subclasse e responsabilidade · Condição: Alcance das chamadas além do capital comprometido não resolvido textualmente; não certificar limitação apenas por título do fundo.</a:t>
            </a:r>
          </a:p>
          <a:p>
            <a:r>
              <a:t>CNPJ 63953620000165 · Classe, subclasse e responsabilidade · Versão e prevalência: Leitura específica das cláusulas indicadas; condições e conflitos preservados. Seleção documental atual não comprova vigência jurídica por data isolada.</a:t>
            </a:r>
          </a:p>
          <a:p>
            <a:r>
              <a:t>CNPJ 63953620000165 · Classe, subclasse e responsabilidade · Resumo do histórico: {"count": 4, "dates": ["2026-04-28", "2026-05-08", "2026-05-15"], "document_count": 3, "sources": [{"document_id": "1327859", "title": "Demonstrações Financeiras - Fusão, cisão e incorporação", "reference_date": "2026-05-15", "version": "1", "page": 1, "url": "https://fnet.bmfbovespa.com.br/fnet/publico/visualizarDocumento?id=1327859", "sha256": "dca1c68babb97f887528c3e2e47596a9c30f507b067981a35655b2f2da9c8054"}, {"document_id": "1298691", "title": "Demonstrações Financeiras - Fusão, cisão e incorporação", "reference_date": "2026-05-08", "version": "1", "page": 1, "url": "https://fnet.bmfbovespa.com.br/fnet/publico/visualizarDocumento?id=1298691", "sha256": "58c570d9b8d4d265330d3db3ea81c435b8e44a6dab4002aa37790652a1ee9819"}, {"document_id": "1205431", "title": "AGE", "reference_date": "2026-04-28", "version": "1", "page": 1, "clause": "4.1", "url": "https://fnet.bmfbovespa.com.br/fnet/publico/visualizarDocumento?id=1205431", "sha256": "e0b59c701c5d0dbf60de698ea7664d442240863b7043bacdb334ce484188b2ac"}], "reference": {"path": "history/63953620000165.json", "criterion_id": "perimeter", "total_count": 4, "preview_count": 3, "full_text_deferred": true, "sha256": "a7b89077f5e21098c2d601c303faabc3ff6b9729f89d8afecdc60fe1404720c1"}}</a:t>
            </a:r>
          </a:p>
          <a:p>
            <a:r>
              <a:t>CNPJ 54871427000194 · Adaptação à Resolução CVM 175 · Regulamento · ID 670691 · 28/04/2024 · versão Regulamento — referência 28/04/2024 · p. 1 · Parte Geral, 1.1 · https://fnet.bmfbovespa.com.br/fnet/publico/visualizarDocumento?id=670691</a:t>
            </a:r>
          </a:p>
          <a:p>
            <a:r>
              <a:t>CNPJ 54871427000194 · Adaptação à Resolução CVM 175 · Excerto da fonte:</a:t>
            </a:r>
          </a:p>
          <a:p>
            <a:r>
              <a:t>1.1 CONSIGNADO DELTA RECEIVABLES I FUNDO DE INVESTIMENTO EM DIREITOS CREDITÓRIOS (“FUNDO”), regido pela Lei nº 10.406, de 10 de janeiro de 2002, conf orme alterada (“Código Civil”), pela parte geral e o Anexo Normativo II da Resolução nº 175, de 23 de dezembro de 2022, conforme alterada, da Comissão de Valores Mobiliários (respectivamente, “CVM” e “Resolução CVM 175”), terá como principais características: Classe de Cotas Classe única. Indeterminado, exceto se de outra f orma vier a ser deliberado pelos cotistas Prazo de Duração reunidos em assembleia geral de cotistas. BTG Pactual Serviços Financeiros S.A. Distribuidora de Títulos e Valores Mobiliários, instituição f inanceira, com sede na Cidade e Estado do Rio de Janeiro, na Praia de Botafogo, nº 501, 5º andar (parte), Torre Corcovado, ADMINISTRADOR Botafogo, CEP 22250-040, inscrita no CNPJ sob o nº 59.281.253/0001-23 e credenciada como administradora de carteira, de acordo com o Ato Declaratório CVM nº</a:t>
            </a:r>
          </a:p>
          <a:p>
            <a:r>
              <a:t>CNPJ 54871427000194 · Adaptação à Resolução CVM 175 · Regulamento · ID 670691 · 28/04/2024 · versão Regulamento — referência 28/04/2024 · p. 8 · Anexo I, 2.1 · https://fnet.bmfbovespa.com.br/fnet/publico/visualizarDocumento?id=670691</a:t>
            </a:r>
          </a:p>
          <a:p>
            <a:r>
              <a:t>CNPJ 54871427000194 · Adaptação à Resolução CVM 175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deverá adotar as medidas aplicáveis previstas na Resolução CVM 175. 2.3 Serão aplicáveis as disposições da Resolução CVM 175 no que se refere aos procedimentos a serem adotados pelo ADMINISTRADOR na hipótese de Patrimônio Líquido negativo da Classe. CAPÍTULO 3 – ENCARGOS DA CLASSE 3.1 A Classe terá Encargos que lhe poderão ser debitados diretamente, nos termos do art. 53 do Anexo Normativo II da Resolução CVM 175, além de encargos adicionais, e quaisquer despesas que não constituam Encargos correm por conta do Prestador de Serviço Essencial que a tiver contratado: (i) despesas com a contratação de consultoria especializada, conf orme o caso; (ii) despesas com a contratação do Agente de Cobrança, conf orme aplicável; (iii) Taxa Máxima de Custódia; (iv) despesas com registro de Direitos Creditórios; (v) despesas com serviços de originação, cobranças ordinária e/ou extraordinária dos D</a:t>
            </a:r>
          </a:p>
          <a:p>
            <a:r>
              <a:t>CNPJ 54871427000194 · Adaptação à Resolução CVM 175 · Versão e prevalência: Leitura específica das cláusulas indicadas; condições e conflitos preservados. Seleção documental atual não comprova vigência jurídica por data isolada.</a:t>
            </a:r>
          </a:p>
          <a:p>
            <a:r>
              <a:t>CNPJ 54871427000194 · Adaptação à Resolução CVM 175 · Resumo do histórico: {"count": 2, "dates": ["2024-04-19"], "document_count": 2, "sources": [{"document_id": "670687", "title": "Instrumento Particular de Constituição/Encerramento do Fundo", "reference_date": "2024-04-19", "version": "1", "page": 1, "url": "https://fnet.bmfbovespa.com.br/fnet/publico/visualizarDocumento?id=670687", "sha256": "999f2a47d39f7022b0fcee3d16fd1db33948537b897e92c4c9e14b436bf5eb96"}, {"document_id": "670689", "title": "Regulamento", "reference_date": "2024-04-19", "version": "1", "page": 11, "clause": "4.10", "url": "https://fnet.bmfbovespa.com.br/fnet/publico/visualizarDocumento?id=670689", "sha256": "891bc9bc5d87bbc02ec139077a84d2702eb81ea02035fb71d24f5b8366b94a0b"}], "reference": {"path": "history/54871427000194.json", "criterion_id": "res175", "total_count": 2, "preview_count": 2, "full_text_deferred": true, "sha256": "35d7cd99be50c7287c9fb675cf4f2e736002315295a225a9efa79c8d9186d874"}}</a:t>
            </a:r>
          </a:p>
          <a:p>
            <a:r>
              <a:t>CNPJ 60010416000112 · Adaptação à Resolução CVM 175 · Regulamento · ID 1051393 · 09/10/2025 · versão Regulamento09/10/2025 · p. 8 · AnexoI1.2 · https://fnet.bmfbovespa.com.br/fnet/publico/visualizarDocumento?id=1051393</a:t>
            </a:r>
          </a:p>
          <a:p>
            <a:r>
              <a:t>CNPJ 60010416000112 · Adaptação à Resolução CVM 175 · Excerto da fonte:</a:t>
            </a:r>
          </a:p>
          <a:p>
            <a:r>
              <a:t>Tipo de Condomínio Fechado. Prazo de Duração Indeterminado. Classe de Investimento Não. em Cotas Tipo “Financeiro”. Classificação ANBIMA Foco de atuação “Créditos Consignados”. O objetivo da classe é proporcionar aos seus Cotistas a valorização de suas Cotas por meio da aplicação de seu Patrimônio Líquido na aquisição de: (i) Direitos Creditórios que atendam aos Critérios de Elegibilidade, estabelecidos no Ca</a:t>
            </a:r>
          </a:p>
          <a:p>
            <a:r>
              <a:t>CNPJ 60010416000112 · Adaptação à Resolução CVM 175 · Regulamento · ID 1051393 · 09/10/2025 · versão Regulamento09/10/2025 · p. 9 · AnexoI2.1–2.3 · https://fnet.bmfbovespa.com.br/fnet/publico/visualizarDocumento?id=1051393</a:t>
            </a:r>
          </a:p>
          <a:p>
            <a:r>
              <a:t>CNPJ 60010416000112 · Adaptação à Resolução CVM 175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o Administrador deverá adotar as medidas aplicáveis previstas na Resolução CVM 175 2.3 Serão aplicáveis as disposições da Resolução CVM 175 no que se ref ere aos procedimentos a serem adotados pelo Administrador na hipótese de Patrimônio Líquido negativo da Classe, visando a liquidação da Classe e que não remanesçam</a:t>
            </a:r>
          </a:p>
          <a:p>
            <a:r>
              <a:t>CNPJ 60010416000112 · Adaptação à Resolução CVM 175 · Versão e prevalência: Leitura específica das cláusulas indicadas; condições e conflitos preservados. Seleção documental atual não comprova vigência jurídica por data isolada.</a:t>
            </a:r>
          </a:p>
          <a:p>
            <a:r>
              <a:t>CNPJ 60010416000112 · Adaptação à Resolução CVM 175 · Resumo do histórico: {"count": 2, "dates": ["2025-03-20"], "document_count": 2, "sources": [{"document_id": "993785", "title": "Instrumento Particular de Constituição/Encerramento do Fundo", "reference_date": "2025-03-20", "version": "1", "page": 1, "url": "https://fnet.bmfbovespa.com.br/fnet/publico/visualizarDocumento?id=993785", "sha256": "0826e0eae2c51afabf59bbc49fc7647598d03da5ca6de0f9725850a8bd6af457"}, {"document_id": "993786", "title": "Regulamento", "reference_date": "2025-03-20", "version": "1", "page": 12, "clause": "4.8", "url": "https://fnet.bmfbovespa.com.br/fnet/publico/visualizarDocumento?id=993786", "sha256": "fd0fdd369a195510d81f81f505195a0b09e5f43522a990afa7d58c4f872921c8"}], "reference": {"path": "history/60010416000112.json", "criterion_id": "res175", "total_count": 2, "preview_count": 2, "full_text_deferred": true, "sha256": "8e2bd813f4c51cf01f6bfaad164bafe69d2bbb192f753eac92da3a01c2e63046"}}</a:t>
            </a:r>
          </a:p>
          <a:p>
            <a:r>
              <a:t>CNPJ 62696791000193 · Adaptação à Resolução CVM 175 · AGE · ID 1143319 · 20/03/2026 10:00 · versão AGE — referência 20/03/2026 10:00 · p. 1 · AGC, 4.1(a)–(b) · https://fnet.bmfbovespa.com.br/fnet/publico/visualizarDocumento?id=1143319</a:t>
            </a:r>
          </a:p>
          <a:p>
            <a:r>
              <a:t>CNPJ 62696791000193 · Adaptação à Resolução CVM 175 · Excerto da fonte:</a:t>
            </a:r>
          </a:p>
          <a:p>
            <a:r>
              <a:t>4.1. Aprovar a transformação do Fundo, bem como de sua Classe única, em um fundo de investimento nas cadeias produtivas do agronegócio (“Transformação”), nos termos da parte geral e do Anexo Normativo VI da Resolução nº 175 da CVM, de 23 de dezembro de 2022, conforme alterada (“Resolução CVM 175”). a. Aprovar a alteração da denominação do Fundo, que passará a vigorar como BTG PACTUAL CERES CONFINA FUNDO DE INVESTIMENTO NAS CADEIAS PRODUTIVAS DO AGRONEGÓCIO RESPONSABILIDADE LIMITADA, e de sua Classe única, que passará a vigorar como CLASSE ÚNICA DO BTG PACTUAL CERES CONFINA FUNDO DE INVESTIMENTO NAS CADEIAS PRODUTIVAS DO AGRONEGÓCIO RESPONSABILIDADE LIMITADA (“Classe”); b. Aprovar a reforma integral do Regulamento do Fundo, bem como do Anexo descritivo da Classe, para realizar todos os ajustes necessários à implementação da Transformação, incluindo, mas não se limitando, a política de investimentos, o regime tributário e os fatores de risco aplicáveis, conforme itens abaixo; c. Aprovar a alteração do quadro de características gerais do Fundo, considerando a contratação do Cogestor pelo Gestor, nos termos do artigo 52, II, da parte geral da Resolução CVM 175 e no co</a:t>
            </a:r>
          </a:p>
          <a:p>
            <a:r>
              <a:t>CNPJ 62696791000193 · Adaptação à Resolução CVM 175 · AGE · ID 1143319 · 20/03/2026 10:00 · versão AGE — referência 20/03/2026 10:00 · p. 3 · AGC 20/03/2026, 4.1(j)–(k) · https://fnet.bmfbovespa.com.br/fnet/publico/visualizarDocumento?id=1143319</a:t>
            </a:r>
          </a:p>
          <a:p>
            <a:r>
              <a:t>CNPJ 62696791000193 · Adaptação à Resolução CVM 175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Adaptação à Resolução CVM 175 · Regulamento · ID 1143317 · 20/03/2026 · versão Regulamento — referência 20/03/2026 · p. 1 · Parte Geral, 1.1 · https://fnet.bmfbovespa.com.br/fnet/publico/visualizarDocumento?id=1143317</a:t>
            </a:r>
          </a:p>
          <a:p>
            <a:r>
              <a:t>CNPJ 62696791000193 · Adaptação à Resolução CVM 175 · Excerto da fonte:</a:t>
            </a:r>
          </a:p>
          <a:p>
            <a:r>
              <a:t>1.1 BTG PACTUAL CERES CONFINA FUNDO DE INVESTIMENTO NAS CADEIAS PRODUTIVAS DO AGRONEGÓCIO RESPONSABILIDADE LIMITADA (“Fundo”), regido pela Lei nº 10.406, de 10 de janeiro de 2002, conf orme alterada (“Código Civil”), pela Lei n.º 8.668, de 25 de junho de 1993, conf orme alterada (“Lei 8.668”), pela parte geral, Anexo Normativo VI e, subsidiariamente, Anexo Normativo II da Resolução nº 175, de 23 de dezembro de 2022, conforme alterada, da Comissão de Valores Mobiliários (respectivamente, “Resolução CVM 175” e “CVM”), terá como principais características: Classe Classe única. Indeterminado, exceto se de outra f orma vier a ser deliberado pelos Cotistas Prazo de Duração reunidos em assembleia geral de Cotistas (“Prazo de Duração”). BTG Pactual Serviços Financeiros S.A. Distribuidora de Títulos e Valores Mobiliários, sociedade anônima, com sede no município e Estado do Rio de Janeiro, na Praia de Botafogo, nº 501, 5º andar (parte), Torre Corcovado, Administrador Botafogo, CEP 22250-040, inscrita no CNPJ sob o nº 59.281.253/0001-23 e</a:t>
            </a:r>
          </a:p>
          <a:p>
            <a:r>
              <a:t>CNPJ 62696791000193 · Adaptação à Resolução CVM 175 · Condição: Posição comumfev/26 é anterior à transformação e demanda o regime/regulamento anterior.</a:t>
            </a:r>
          </a:p>
          <a:p>
            <a:r>
              <a:t>CNPJ 62696791000193 · Adaptação à Resolução CVM 175 · Versão e prevalência: Leitura específica das cláusulas indicadas; condições e conflitos preservados. Seleção documental atual não comprova vigência jurídica por data isolada.</a:t>
            </a:r>
          </a:p>
          <a:p>
            <a:r>
              <a:t>CNPJ 55563624000109 · Adaptação à Resolução CVM 175 · Regulamento · ID 1192614 · 2026-04-30 · versão 1 · p. 13 · 4.11 · https://fnet.bmfbovespa.com.br/fnet/publico/visualizarDocumento?id=1192614</a:t>
            </a:r>
          </a:p>
          <a:p>
            <a:r>
              <a:t>CNPJ 55563624000109 · Adaptação à Resolução CVM 175 · Excerto da fonte:</a:t>
            </a:r>
          </a:p>
          <a:p>
            <a:r>
              <a:t>4.11 Nos termos dos artigos 45, parágrafo 7º, e 47 parágrafo único do Anexo Normativo II à Resolução CVM 175, uma  vez que as Cotas são destinadas exclusivamente a Investidores Profissionais, a Classe poderá ter até 100% (cem  por cento) de seu Patrimônio Líquido alocado em Cotas da Classe Investida, as quais são emitidas pela Classe  Investida.</a:t>
            </a:r>
          </a:p>
          <a:p>
            <a:r>
              <a:t>CNPJ 55563624000109 · Adaptação à Resolução CVM 175 · Regulamento · ID 1192614 · 2026-04-30 · versão 1 · p. 31 · 15.1.1 · https://fnet.bmfbovespa.com.br/fnet/publico/visualizarDocumento?id=1192614</a:t>
            </a:r>
          </a:p>
          <a:p>
            <a:r>
              <a:t>CNPJ 55563624000109 · Adaptação à Resolução CVM 175 · Excerto da fonte:</a:t>
            </a:r>
          </a:p>
          <a:p>
            <a:r>
              <a:t>15.1.1 Riscos de Crédito:</a:t>
            </a:r>
          </a:p>
          <a:p>
            <a:r>
              <a:t> (i) Risco de concentração na Classe Investida. Nos termos do presente Regulamento, a Classe  deverá manter alocado, no mínimo, 67% (sessenta e sete por cento) do Patrimônio Líquido nas Cotas  da Classe Investida. Alterações na condição econômico-financeira e na expectativa de desempenho ou  resultados da Classe Investida poderão, isolada ou cumulativamente, afetar negativamente o  rendimento do investimento nas Cotas, de forma mais severa do que se a Classe adotasse uma  estratégia de investimento de maior diversificação. O risco associado às aplicações de qualquer fundo  de investimento é diretamente proporcional à concentração da sua carteira, sendo que, quanto maior  essa concentração, maior será a sua vulnerabilidade.</a:t>
            </a:r>
          </a:p>
          <a:p>
            <a:r>
              <a:t> (ii) Risco relativo à Classe Investida. Nos termos deste Anexo, a Classe deverá manter alocado, no  mínimo, 67% (sessenta e sete por cento) do Patrimônio Líquido em Cotas da Classe Investida. Os  investimentos realizados pela Classe Investida poderão estar sujeitos a flutuações típicas do mercado,  risco de crédito, risco sistêmico, condições adversas de liquidez e negociação atípica nos mercados de  atuação, bem como outros riscos diversos. Este Anexo não contém a descrição de todas as  características, incluindo os riscos, da Classe Investida.</a:t>
            </a:r>
          </a:p>
          <a:p>
            <a:r>
              <a:t> (iii) Risco Relativo ao Pagamento de Encargos da Classe Investida. Tendo em vista a estrutura da  Classe Investida – que emitiu cotas sêniores, cotas subordinadas mezanino e cotas subordinadas júnior  – em situação ordinária os encargos da Classe Investida são arcados pelas cotas subordinadas júnior,  que se subordinam às cotas subordinadas mezanino e às cotas sêniores para fins de amortização,  resgate e distribuição de rendimentos, não impactando, portanto, as Cotas da Classe Investida. Não  obstante o funcionamento da Classe Investida em situação ordinária, em cenários extraordinários, na  eventualidade do valor das cotas subordinadas júnior ficar reduzido a zero ou a valor negativo, os  encargos da Classe Investida conforme previstos em seu regulamento, inclusive mas não se limitando  as remunerações dos prestadores de serviços essenciais, passarão a ser arcados pelas cotas  subordinadas mezanino (que são as Cotas da Classe Investida), impactando no valor do investimento  da Classe na Classe Investida, e consequentemente, o investimento dos Cotistas na Classe.</a:t>
            </a:r>
          </a:p>
          <a:p>
            <a:r>
              <a:t> (iv) Riscos referentes à carteira da Classe Investida. Na forma do Anexo Normativo II da Resolução  CVM 175, a Classe Investida investe, direta ou indiretamente, no mínimo, 67% (sessenta e sete por  cento) do seu patrimônio em direitos creditórios originados pela Mercado Pago. O investimento em tais  direitos creditórios está sujeito a fatores de risco específicos, conforme detalhados no regulamento da  Classe Investida, incluindo, mas não se limitando a:</a:t>
            </a:r>
          </a:p>
          <a:p>
            <a:r>
              <a:t> (a) Risco de liquidez dos direitos creditórios. O investimento da Classe Investida em direitos  creditórios apresenta peculiaridades em relação às aplicações usuais da maioria dos  fundos de investimento brasileiros, haja vista que não existe, no Brasil, mercado  secundário com liquidez para tais direitos creditórios. Caso a Classe Investida precise  vender os direitos creditórios adquiridos, poderá não haver mercado comprador para  tais créditos, bem como o preço de alienação de tais direitos creditórios poderá refletir  essa falta de liquidez, causando perda ao patrimônio da Classe Investida e,  consequentemente, à Classe.</a:t>
            </a:r>
          </a:p>
          <a:p>
            <a:r>
              <a:t>CNPJ 55563624000109 · Adaptação à Resolução CVM 175 · Regulamento · ID 1192614 · 2026-04-30 · versão 1 · p. 28 · 13.2 · https://fnet.bmfbovespa.com.br/fnet/publico/visualizarDocumento?id=1192614</a:t>
            </a:r>
          </a:p>
          <a:p>
            <a:r>
              <a:t>CNPJ 55563624000109 · Adaptação à Resolução CVM 175 · Excerto da fonte:</a:t>
            </a:r>
          </a:p>
          <a:p>
            <a:r>
              <a:t>13.2 Em condições ordinárias, as Cotas da Classe Investida não pagarão remuneração aos prestadores de serviços  essenciais da Classe Investida, nos termos de seu regulamento. Não obstante, em cenário extraordinário  conforme descrito no item 15.1.1 (iii), e para fins de atendimento ao artigo 98 da parte geral da Resolução CVM  175, a taxa máxima de administração corresponderá ao valor da Taxa Mínima de Administração acrescida de até  0,10% (dez centésimos por cento) ao ano incidente sobre o patrimônio líquido da Classe Investida,  compreendendo a taxa de administração da Classe Investida geridos por partes relacionadas ao GESTOR, cujas  cotas não estão admitidas à negociação em mercado organizado, conforme prevista no regulamento da Classe  Investida (“Taxa Máxima de Administração” e, quando referida em conjunto com a Taxa Mínima de  Administração, como “Taxa de Administração”). Caso a taxa de administração da Classe Investida não se  enquadre no disposto acima, estará disposta no regulamento da Classe Investida.</a:t>
            </a:r>
          </a:p>
          <a:p>
            <a:r>
              <a:t>CNPJ 55563624000109 · Adaptação à Resolução CVM 175 · Condição: Documentos atuais selecionados no inventário por categoria/escopo; a data documental isolada não comprova vigência jurídica.</a:t>
            </a:r>
          </a:p>
          <a:p>
            <a:r>
              <a:t>CNPJ 55563624000109 · Adaptação à Resolução CVM 175 · Versão e prevalência: Documentos atuais selecionados no inventário por categoria/escopo; a data documental isolada não comprova vigência jurídica.</a:t>
            </a:r>
          </a:p>
          <a:p>
            <a:r>
              <a:t>CNPJ 55563624000109 · Adaptação à Resolução CVM 175 · Resumo do histórico: {"count": 3, "dates": ["2024-07-03", "2025-01-31", "2026-01-31"], "document_count": 3, "sources": [{"document_id": "1178840", "title": "Demonstrações Financeiras", "reference_date": "2026-01-31", "version": "1", "page": 29, "url": "https://fnet.bmfbovespa.com.br/fnet/publico/visualizarDocumento?id=1178840", "sha256": "c458e98664c5c907ddb5a05a94b120bed4e05295b2bfc420f5ba69af0a229abe"}, {"document_id": "891861", "title": "Demonstrações Financeiras", "reference_date": "2025-01-31", "version": "1", "page": 30, "url": "https://fnet.bmfbovespa.com.br/fnet/publico/visualizarDocumento?id=891861", "sha256": "e9cb9e6ddbe505fe068cfcac33605165a98313489de0d3ce6d4d238263c3f3e7"}, {"document_id": "691674", "title": "Instrumento Particular de Emissão de Cotas", "reference_date": "2024-07-03", "version": "1", "page": 1, "url": "https://fnet.bmfbovespa.com.br/fnet/publico/visualizarDocumento?id=691674", "sha256": "78bf7b350f1785beae5f43bd209b5ed19e863cb9a2cff01542aac11dd63ca554"}], "reference": {"path": "history/55563624000109.json", "criterion_id": "res175", "total_count": 3, "preview_count": 3, "full_text_deferred": true, "sha256": "7835d573fb58a3c19adf5b8ecc2aee2bdbb9a88f7a0c0209b5f262b64c7522e3"}}</a:t>
            </a:r>
          </a:p>
          <a:p>
            <a:r>
              <a:t>CNPJ 62552447000120 · Adaptação à Resolução CVM 175 · Regulamento · ID 1200623 · 21/05/2026 · versão Consolidado21/05/2026 aprovado pelo ato1200625 · p. 1 · ParteGeral1.1 · https://fnet.bmfbovespa.com.br/fnet/publico/visualizarDocumento?id=1200623</a:t>
            </a:r>
          </a:p>
          <a:p>
            <a:r>
              <a:t>CNPJ 62552447000120 · Adaptação à Resolução CVM 175 · Excerto da fonte:</a:t>
            </a:r>
          </a:p>
          <a:p>
            <a:r>
              <a:t>1.1 V CDT 1 FUNDO DE INVESTIMENTO EM DIREITOS CREDITÓRIOS RESPONSABILIDADE LIMITADA (“Fundo”), regido pela Lei n.º 10.406, de 10 de janeiro de 2002, conforme alterada (“Código Civil”), pela Resolução da Comissão de Valores Mobiliários (“CVM”) n.º 175, de 23 de dezembro de 2022, conf orme alterada (“Resolução CVM 175”), que inclui sua Parte Geral (“Parte Geral da Resolução CVM 175”) e seu Anexo Normativo II (“Anexo Normativo II”) terá como principais características: Classe de Cotas Classe única. Indeterminado, exceto se de outra forma vier a ser deliberado pelos titulares</a:t>
            </a:r>
          </a:p>
          <a:p>
            <a:r>
              <a:t>CNPJ 62552447000120 · Adaptação à Resolução CVM 175 · Regulamento · ID 1200623 · 21/05/2026 · versão Consolidado21/05/2026 aprovado pelo ato1200625 · p. 2 · ParteGeral1.6(v) · https://fnet.bmfbovespa.com.br/fnet/publico/visualizarDocumento?id=1200623</a:t>
            </a:r>
          </a:p>
          <a:p>
            <a:r>
              <a:t>CNPJ 62552447000120 · Adaptação à Resolução CVM 175 · Excerto da fonte:</a:t>
            </a:r>
          </a:p>
          <a:p>
            <a:r>
              <a:t>V CDT 1 FUNDO DE INVESTIMENTO EM DIREITOS CREDITÓRIOS RESPONSABILIDADE LIMITADA direitos e obrigações distintos das demais Classes, nos termos do art. 5º da Parte Geral da Resolução CVM 175. 1.4 O Anexo de cada classe de Cotas (“Classe”), conforme aplicável, dispõe, sem prejuízo de outros requisitos e inf ormações previstos na regulamentação, sobre: (i) características gerais, incluindo a indicação dos demais prestadores de serviços; (ii) responsabilidade dos Cotistas e regime de insolvência; (iii) características, direitos, condições de emissão, subscrição, integralização,</a:t>
            </a:r>
          </a:p>
          <a:p>
            <a:r>
              <a:t>CNPJ 62552447000120 · Adaptação à Resolução CVM 175 · Regulamento · ID 1200623 · 21/05/2026 · versão Consolidado21/05/2026 aprovado pelo ato1200625 · p. 16 · AnexoI5.1 · https://fnet.bmfbovespa.com.br/fnet/publico/visualizarDocumento?id=1200623</a:t>
            </a:r>
          </a:p>
          <a:p>
            <a:r>
              <a:t>CNPJ 62552447000120 · Adaptação à Resolução CVM 175 · Excerto da fonte:</a:t>
            </a:r>
          </a:p>
          <a:p>
            <a:r>
              <a:t>5.1 A Classe não possui Subclasse. As características, os direitos e as condições de emissão, distribuição, subscrição, integralização, remuneração, Amortização e resgate das Cotas estão descritos neste Capítulo e no Capítulo 6. 5.1.1 Não obstante, por deliberação conjunta dos Prestadores de Serviços Essenciais e mediante aprovação em Assembleia Especial, poderá haver a divisão de Classes em Subclasses, nos termos da Resolução CVM 175. Após a primeira emissão de Cotas, novas emissões de Cotas (de quaisquer Subclasses) dependem de aprovação dos Cotistas. 5.2 As Cotas são escrit</a:t>
            </a:r>
          </a:p>
          <a:p>
            <a:r>
              <a:t>CNPJ 62552447000120 · Adaptação à Resolução CVM 175 · Versão e prevalência: Leitura específica das cláusulas indicadas; condições e conflitos preservados. Seleção documental atual não comprova vigência jurídica por data isolada.</a:t>
            </a:r>
          </a:p>
          <a:p>
            <a:r>
              <a:t>CNPJ 62552447000120 · Adaptação à Resolução CVM 175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"res175", "total_count": 1, "preview_count": 1, "full_text_deferred": true, "sha256": "d95db8c0613d67ee84118c734588665265ea6b02f86a0318d6a844cbe1d0f82f"}}</a:t>
            </a:r>
          </a:p>
          <a:p>
            <a:r>
              <a:t>CNPJ 63953620000165 · Adaptação à Resolução CVM 175 · Anexo ao Regulamento · ID 1222863 · 02/06/2026 · versão AnexoConsignadoPrivado02/06/2026 · p. 1 · AnexoI1.1 · https://fnet.bmfbovespa.com.br/fnet/publico/visualizarDocumento?id=1222863</a:t>
            </a:r>
          </a:p>
          <a:p>
            <a:r>
              <a:t>CNPJ 63953620000165 · Adaptação à Resolução CVM 175 · Excerto da fonte:</a:t>
            </a:r>
          </a:p>
          <a:p>
            <a:r>
              <a:t>1.1 As principais características da Classe Consignado Privado (para fins deste Anexo, “Classe”) estão descritas abaixo: Tipo de Condomínio Fechado. Indeterminado, exceto se de outra forma vier a ser deliberado pelos Cotistas Prazo de Duração reunidos em Assembleia Especial de Cotistas. (“Prazo de Duração”) Tipo “Financeiro”. Classificação ANBIMA Foco de atuação “Créditos Consignados”. O obje</a:t>
            </a:r>
          </a:p>
          <a:p>
            <a:r>
              <a:t>CNPJ 63953620000165 · Adaptação à Resolução CVM 175 · Anexo ao Regulamento · ID 1222863 · 02/06/2026 · versão AnexoConsignadoPrivado02/06/2026 · p. 9 · 5.1 · https://fnet.bmfbovespa.com.br/fnet/publico/visualizarDocumento?id=1222863</a:t>
            </a:r>
          </a:p>
          <a:p>
            <a:r>
              <a:t>CNPJ 63953620000165 · Adaptação à Resolução CVM 175 · Excerto da fonte:</a:t>
            </a:r>
          </a:p>
          <a:p>
            <a:r>
              <a:t>5.1 A Classe possui 2 (duas) Subclasses de Cotas, quais sejam, a subclasse sênior (“Subclasse Sênior” e “Cotas Seniores”) e a subclasse subordinada (“Subclasse Subordinada” e “Cotas Subordinadas” – as Cotas Subordinadas e Cotas Seniores, quando referidas em conjunto, “Cotas”). As características, os direitos e as condições de emissão, distribuição, subscrição, integralização, remuneração, amortização e resgate das Cotas estão descritos neste Capítulo e nos respectivos Apêndices. 5.2 As Cotas são escriturais, nominativas e correspondem a frações ideais do patrimônio da Classe, cuja propriedade presume-se: (i) pelo</a:t>
            </a:r>
          </a:p>
          <a:p>
            <a:r>
              <a:t>CNPJ 63953620000165 · Adaptação à Resolução CVM 175 · Condição: Vigência efetiva da versão 02/06/2026 não inferida da data de publicação; não aplicar a fev/26 automaticamente.</a:t>
            </a:r>
          </a:p>
          <a:p>
            <a:r>
              <a:t>CNPJ 63953620000165 · Adaptação à Resolução CVM 175 · Versão e prevalência: Leitura específica das cláusulas indicadas; condições e conflitos preservados. Seleção documental atual não comprova vigência jurídica por data isolada.</a:t>
            </a:r>
          </a:p>
          <a:p>
            <a:r>
              <a:t>CNPJ 63953620000165 · Adaptação à Resolução CVM 175 · Resumo do histórico: {"count": 9, "dates": ["2026-04-28", "2026-05-08", "2026-05-15"], "document_count": 3, "sources": [{"document_id": "1327859", "title": "Demonstrações Financeiras - Fusão, cisão e incorporação", "reference_date": "2026-05-15", "version": "1", "page": 31, "clause": "15.000.000", "url": "https://fnet.bmfbovespa.com.br/fnet/publico/visualizarDocumento?id=1327859", "sha256": "dca1c68babb97f887528c3e2e47596a9c30f507b067981a35655b2f2da9c8054"}, {"document_id": "1298691", "title": "Demonstrações Financeiras - Fusão, cisão e incorporação", "reference_date": "2026-05-08", "version": "1", "page": 32, "url": "https://fnet.bmfbovespa.com.br/fnet/publico/visualizarDocumento?id=1298691", "sha256": "58c570d9b8d4d265330d3db3ea81c435b8e44a6dab4002aa37790652a1ee9819"}, {"document_id": "1282180", "title": "Demonstrações Financeiras - Fusão, cisão e incorporação", "reference_date": "2026-04-28", "version": "1", "page": 32, "clause": "15.000.000", "url": "https://fnet.bmfbovespa.com.br/fnet/publico/visualizarDocumento?id=1282180", "sha256": "afaaa0e6809be4385e5bdb6c911aac582032c5bdbac3d7750234bf9eaf00438a"}], "reference": {"path": "history/63953620000165.json", "criterion_id": "res175", "total_count": 9, "preview_count": 3, "full_text_deferred": true, "sha256": "a7b89077f5e21098c2d601c303faabc3ff6b9729f89d8afecdc60fe1404720c1"}}</a:t>
            </a:r>
          </a:p>
          <a:p>
            <a:r>
              <a:t>CNPJ 54871427000194 · Duração e público-alvo · Demonstrações Financeiras - Fusão, cisão e incorporação · ID 1219522 · 2026-02-02 · versão 1 · p. 11 · https://fnet.bmfbovespa.com.br/fnet/publico/visualizarDocumento?id=1219522</a:t>
            </a:r>
          </a:p>
          <a:p>
            <a:r>
              <a:t>CNPJ 54871427000194 · Duração e público-alvo · Excerto da fonte:</a:t>
            </a:r>
          </a:p>
          <a:p>
            <a:r>
              <a:t>O Consignado Delta Receivables I Fundo de Investimento em Direitos Creditórios possui uma classe única de cotas, denominada Classe Única de Responsabilidade Limitada do Consignado Delta Receivables I Fundo de Investimento em Direitos Creditórios (“Classe”). A Classe foi constituída em 19 de abril de 2024, sob a forma de condomínio fechado e iniciou suas operações em 27 de maio de 2024. A Classe possui prazo de duração Indeterminado.</a:t>
            </a:r>
          </a:p>
          <a:p>
            <a:r>
              <a:t>CNPJ 54871427000194 · Duração e público-alvo · Condição: Documentos atuais selecionados no inventário por categoria/escopo; a data documental isolada não comprova vigência jurídica.</a:t>
            </a:r>
          </a:p>
          <a:p>
            <a:r>
              <a:t>CNPJ 54871427000194 · Duração e público-alvo · Versão e prevalência: Documentos atuais selecionados no inventário por categoria/escopo; a data documental isolada não comprova vigência jurídica.</a:t>
            </a:r>
          </a:p>
          <a:p>
            <a:r>
              <a:t>CNPJ 54871427000194 · Duração e público-alvo · Resumo do histórico: {"count": 11, "dates": ["2024-12-31", "2025-01-01", "2025-12-31"], "document_count": 3, "sources": [{"document_id": "1151805", "title": "Demonstrações Financeiras", "reference_date": "2025-12-31", "version": "1", "page": 11, "url": "https://fnet.bmfbovespa.com.br/fnet/publico/visualizarDocumento?id=1151805", "sha256": "f1cea70b152968bf96ef9221b27225953cb20aeef487b2798db3c25e11b528d4"}, {"document_id": "869529", "title": "Demonstrações Financeiras", "reference_date": "2025-01-01", "version": "1", "page": 11, "url": "https://fnet.bmfbovespa.com.br/fnet/publico/visualizarDocumento?id=869529", "sha256": "9a93a9369ac8efdbc54ff8fcee3ccac3abf88edab4807b9323d3852450771b2a"}, {"document_id": "870070", "title": "Demonstrações Financeiras", "reference_date": "2024-12-31", "version": "1", "page": 11, "url": "https://fnet.bmfbovespa.com.br/fnet/publico/visualizarDocumento?id=870070", "sha256": "9a93a9369ac8efdbc54ff8fcee3ccac3abf88edab4807b9323d3852450771b2a"}], "reference": {"path": "history/54871427000194.json", "criterion_id": "duration_investors", "total_count": 11, "preview_count": 3, "full_text_deferred": true, "sha256": "35d7cd99be50c7287c9fb675cf4f2e736002315295a225a9efa79c8d9186d874"}}</a:t>
            </a:r>
          </a:p>
          <a:p>
            <a:r>
              <a:t>CNPJ 60010416000112 · Duração e público-alvo · Demonstrações Financeiras - Fusão, cisão e incorporação · ID 1298690 · 2026-05-08 · versão 1 · p. 9 · https://fnet.bmfbovespa.com.br/fnet/publico/visualizarDocumento?id=1298690</a:t>
            </a:r>
          </a:p>
          <a:p>
            <a:r>
              <a:t>CNPJ 60010416000112 · Duração e público-alvo · Excerto da fonte:</a:t>
            </a:r>
          </a:p>
          <a:p>
            <a:r>
              <a:t>1. Contexto operacional  O MT Consignado Privado I Fundo de Investimento em Direitos Creditórios (“Fundo”) possui uma  classe única de cotas, denominada Classe Única do MT I Consignado Privado I Fundo de  Investimento em Direitos Creditórios Responsabilidade Limitada (“Classe”). A Classe foi  constituída em 20 de março de 2025, sob a forma de condomínio fechado e iniciou suas  operações em 21 de março de 2025. A Classe possui prazo de duração indeterminado.</a:t>
            </a:r>
          </a:p>
          <a:p>
            <a:r>
              <a:t>CNPJ 60010416000112 · Duração e público-alvo · Demonstrações Financeiras - Fusão, cisão e incorporação · ID 1298690 · 2026-05-08 · versão 1 · p. 22 · https://fnet.bmfbovespa.com.br/fnet/publico/visualizarDocumento?id=1298690</a:t>
            </a:r>
          </a:p>
          <a:p>
            <a:r>
              <a:t>CNPJ 60010416000112 · Duração e público-alvo · Excerto da fonte:</a:t>
            </a:r>
          </a:p>
          <a:p>
            <a:r>
              <a:t>(ii) Riscos do mercado secundário: A Classe é constituída sob a forma de condomínio  fechado, de modo que as Cotas Subordinadas somente serão resgatadas em virtude da  liquidação da Classe e as Cotas Seniores ao término do seu prazo de duração, conforme  estabelecidos nos respectivos Suplementos. Uma vez que o prazo de duração da Classe  é indeterminado, o Cotista titular das Cotas Subordinadas não terá liquidez em seu  investimento na Classe, exceto (a) por ocasião das amortizações e dos resgates, nos  termos do Regulamento; (b) por meio da alienação de suas Cotas no mercado  secundário, observado, neste caso, que sua alienação apenas é permitida para o Público-  Alvo das Cotas Subordinadas; ou (c) na liquidação antecipada do Fundo ou da Classe.</a:t>
            </a:r>
          </a:p>
          <a:p>
            <a:r>
              <a:t> Além disso, atualmente, o mercado secundário de cotas de fundos de investimento  apresenta baixa liquidez, o que pode dificultar a venda das Cotas ou ocasionar a obtenção  de um preço de venda que cause perda de patrimônio ao Cotista. Não há qualquer  garantia da Administradora, da Gestora, da consultora ou do Custodiante em relação à  possibilidade de venda das Cotas no mercado secundário ou ao preço obtido por elas,  ou mesmo garantia de saída ao Cotista.</a:t>
            </a:r>
          </a:p>
          <a:p>
            <a:r>
              <a:t>CNPJ 60010416000112 · Duração e público-alvo · Condição: Documentos atuais selecionados no inventário por categoria/escopo; a data documental isolada não comprova vigência jurídica.</a:t>
            </a:r>
          </a:p>
          <a:p>
            <a:r>
              <a:t>CNPJ 60010416000112 · Duração e público-alvo · Versão e prevalência: Documentos atuais selecionados no inventário por categoria/escopo; a data documental isolada não comprova vigência jurídica.</a:t>
            </a:r>
          </a:p>
          <a:p>
            <a:r>
              <a:t>CNPJ 60010416000112 · Duração e público-alvo · Resumo do histórico: {"count": 9, "dates": ["2025-11-30", "2026-03-18", "2026-04-16"], "document_count": 3, "sources": [{"document_id": "1282181", "title": "Demonstrações Financeiras - Fusão, cisão e incorporação", "reference_date": "2026-04-16", "version": "1", "page": 23, "url": "https://fnet.bmfbovespa.com.br/fnet/publico/visualizarDocumento?id=1282181", "sha256": "b1c6566e43a00bcd00c8a7f30c77b7f86e351bd8e355bbea113f46d1dafda703"}, {"document_id": "1224477", "title": "Demonstrações Financeiras - Fusão, cisão e incorporação", "reference_date": "2026-03-18", "version": "1", "page": 23, "url": "https://fnet.bmfbovespa.com.br/fnet/publico/visualizarDocumento?id=1224477", "sha256": "0751bf0a75bc3b44c2748f5000226665c6ec6698a90c4dc6170b4e6c187759ae"}, {"document_id": "1126154", "title": "Demonstrações Financeiras", "reference_date": "2025-11-30", "version": "1", "page": 23, "url": "https://fnet.bmfbovespa.com.br/fnet/publico/visualizarDocumento?id=1126154", "sha256": "a01e7ccf88c548f12c95cba8526d7efbef6b585c112cd4668eca781c292090b0"}], "reference": {"path": "history/60010416000112.json", "criterion_id": "duration_investors", "total_count": 9, "preview_count": 3, "full_text_deferred": true, "sha256": "8e2bd813f4c51cf01f6bfaad164bafe69d2bbb192f753eac92da3a01c2e63046"}}</a:t>
            </a:r>
          </a:p>
          <a:p>
            <a:r>
              <a:t>CNPJ 62696791000193 · Duração e público-alvo · Regulamento · ID 1143317 · 2026-03-20 · versão 1 · p. 18 · 8.8.1 · https://fnet.bmfbovespa.com.br/fnet/publico/visualizarDocumento?id=1143317</a:t>
            </a:r>
          </a:p>
          <a:p>
            <a:r>
              <a:t>CNPJ 62696791000193 · Duração e público-alvo · Excerto da fonte:</a:t>
            </a:r>
          </a:p>
          <a:p>
            <a:r>
              <a:t>8.8.1 As Chamadas de Capital para a realização de investimentos serão realizadas a qualquer  momento durante o Período de Investimento e estarão limitadas ao valor do capital subscrito  de cada Cotista. As Chamadas de Capital para o pagamento de despesas e encargos do Fundo  poderão ser realizadas a qualquer momento durante o Prazo de Duração, mas não estarão  limitadas ao valor do capital subscrito de cada Cotista.</a:t>
            </a:r>
          </a:p>
          <a:p>
            <a:r>
              <a:t>CNPJ 62696791000193 · Duração e público-alvo · Regulamento · ID 1143317 · 2026-03-20 · versão 1 · p. 20 · 9.5.1 · https://fnet.bmfbovespa.com.br/fnet/publico/visualizarDocumento?id=1143317</a:t>
            </a:r>
          </a:p>
          <a:p>
            <a:r>
              <a:t>CNPJ 62696791000193 · Duração e público-alvo · Excerto da fonte:</a:t>
            </a:r>
          </a:p>
          <a:p>
            <a:r>
              <a:t>9.5.1 Ao f inal do Prazo de Duração ou quando da liquidação antecipada da Classe, todas as Cotas  deverão ter seu valor integralmente amortizado. Não havendo recursos em moeda corrente  nacional suficientes para realizar o pagamento da amortização total das Cotas em circulação à  época da liquidação da Classe, o Administrador deverá convocar a Assembleia Especial de  Cotistas a fim de deliberar sobre a prorrogação do Prazo de Duração ou o resgate de Cotas em  Direitos Creditórios do Agronegócio e/ou Outros Ativos .</a:t>
            </a:r>
          </a:p>
          <a:p>
            <a:r>
              <a:t>10 ASSEMBLEIA ESPECIAL DE COTISTAS</a:t>
            </a:r>
          </a:p>
          <a:p>
            <a:r>
              <a:t>CNPJ 62696791000193 · Duração e público-alvo · Regulamento · ID 1143317 · 2026-03-20 · versão 1 · p. 23 · 11.1 · https://fnet.bmfbovespa.com.br/fnet/publico/visualizarDocumento?id=1143317</a:t>
            </a:r>
          </a:p>
          <a:p>
            <a:r>
              <a:t>CNPJ 62696791000193 · Duração e público-alvo · Excerto da fonte:</a:t>
            </a:r>
          </a:p>
          <a:p>
            <a:r>
              <a:t>11.1 A Classe será liquidada (i) em caso da liquidação antecipada deliberada em Assembleia Especial de  Cotistas; ou (ii) pelo encerramento do Prazo de Duração da Classe.</a:t>
            </a:r>
          </a:p>
          <a:p>
            <a:r>
              <a:t>CNPJ 62696791000193 · Duração e público-alvo · Condição: Documentos atuais selecionados no inventário por categoria/escopo; a data documental isolada não comprova vigência jurídica.</a:t>
            </a:r>
          </a:p>
          <a:p>
            <a:r>
              <a:t>CNPJ 62696791000193 · Duração e público-alvo · Versão e prevalência: Documentos atuais selecionados no inventário por categoria/escopo; a data documental isolada não comprova vigência jurídica.</a:t>
            </a:r>
          </a:p>
          <a:p>
            <a:r>
              <a:t>CNPJ 55563624000109 · Duração e público-alvo · AGE · ID 1306189 · 2026-08-25 · versão 1 · p. 1 · 4.1 · https://fnet.bmfbovespa.com.br/fnet/publico/visualizarDocumento?id=1306189</a:t>
            </a:r>
          </a:p>
          <a:p>
            <a:r>
              <a:t>CNPJ 55563624000109 · Duração e público-alvo · Excerto da fonte:</a:t>
            </a:r>
          </a:p>
          <a:p>
            <a:r>
              <a:t>4.1 Nos termos do Anexo da Classe, aprovar:</a:t>
            </a:r>
          </a:p>
          <a:p>
            <a:r>
              <a:t>(i) a liquidação da Subclasse A da Classe, considerando o encerramento do seu prazo de duração, por meio do  resgate integral de Cotas da Subclasse A com entrega de financeiro aos Cotistas. Será utilizada como data  base no cálculo da cota do dia 25 de agosto de 2026, com efetivação no fechamento do dia 27 de agosto de  2026; e</a:t>
            </a:r>
          </a:p>
          <a:p>
            <a:r>
              <a:t>(ii) a liquidação antecipada da Subclasse C da Classe, por meio do resgate integral de Cotas da Subclasse C com  entrega de financeiro aos Cotistas. Será utilizada como data base no cálculo da cota do dia 25 de agosto de  2026, com efetivação no fechamento do dia 27 de agosto de 2026.</a:t>
            </a:r>
          </a:p>
          <a:p>
            <a:r>
              <a:t>CNPJ 55563624000109 · Duração e público-alvo · Condição: Documentos atuais selecionados no inventário por categoria/escopo; a data documental isolada não comprova vigência jurídica.</a:t>
            </a:r>
          </a:p>
          <a:p>
            <a:r>
              <a:t>CNPJ 55563624000109 · Duração e público-alvo · Versão e prevalência: Documentos atuais selecionados no inventário por categoria/escopo; a data documental isolada não comprova vigência jurídica.</a:t>
            </a:r>
          </a:p>
          <a:p>
            <a:r>
              <a:t>CNPJ 55563624000109 · Duração e público-alvo · Resumo do histórico: {"count": 6, "dates": ["2026-04-30"], "document_count": 2, "sources": [{"document_id": "1192614", "title": "Regulamento", "reference_date": "2026-04-30", "version": "1", "page": "9, 15, 45-50", "url": "https://fnet.bmfbovespa.com.br/fnet/publico/visualizarDocumento?id=1192614", "sha256": "f56e63ace0acde41d2f47fb48f1ac7f3f7df5e2d32de092d7c5e075a52516632"}, {"document_id": "1192614", "title": "Regulamento", "reference_date": "2026-04-30", "version": "1", "page": 5, "clause": "4.7.1", "url": "https://fnet.bmfbovespa.com.br/fnet/publico/visualizarDocumento?id=1192614", "sha256": "f56e63ace0acde41d2f47fb48f1ac7f3f7df5e2d32de092d7c5e075a52516632"}, {"document_id": "1192603", "title": "AGE", "reference_date": "2026-04-30", "version": "1", "page": 1, "clause": "4.1", "url": "https://fnet.bmfbovespa.com.br/fnet/publico/visualizarDocumento?id=1192603", "sha256": "f53ff2a5b715f5365536305a098f9cc0c54b5a01128942d784915bed8eeb0288"}], "reference": {"path": "history/55563624000109.json", "criterion_id": "duration_investors", "total_count": 6, "preview_count": 3, "full_text_deferred": true, "sha256": "7835d573fb58a3c19adf5b8ecc2aee2bdbb9a88f7a0c0209b5f262b64c7522e3"}}</a:t>
            </a:r>
          </a:p>
          <a:p>
            <a:r>
              <a:t>CNPJ 62552447000120 · Duração e público-alvo · Regulamento · ID 1200623 · 2026-05-21 · versão 1 · p. 22 · 10.4 · https://fnet.bmfbovespa.com.br/fnet/publico/visualizarDocumento?id=1200623</a:t>
            </a:r>
          </a:p>
          <a:p>
            <a:r>
              <a:t>CNPJ 62552447000120 · Duração e público-alvo · Excerto da fonte:</a:t>
            </a:r>
          </a:p>
          <a:p>
            <a:r>
              <a:t>10.4 Tendo em vista que a Classe é exclusivamente destinada a Investidores Profissionais, não serão  aplicáveis as vedações ao direito a voto em assembleia de cotistas dispostas no artigo 78 da Resolução  CVM 175, conf orme disposto no artigo 114 da ref erida Resolução.</a:t>
            </a:r>
          </a:p>
          <a:p>
            <a:r>
              <a:t>CNPJ 62552447000120 · Duração e público-alvo · Regulamento · ID 1200623 · 2026-05-21 · versão 1 · p. 35 · https://fnet.bmfbovespa.com.br/fnet/publico/visualizarDocumento?id=1200623</a:t>
            </a:r>
          </a:p>
          <a:p>
            <a:r>
              <a:t>CNPJ 62552447000120 · Duração e público-alvo · Excerto da fonte:</a:t>
            </a:r>
          </a:p>
          <a:p>
            <a:r>
              <a:t>ativos desses emissores, causando perdas à Classe e ao Cotista. Além disso, a f alta de capacidade ou disposição de pagar por qualquer dos emissores dos Ativos Financeiros de Liquidez ou das contrapartes nas transações que compõem a Carteira causará perdas à Classe, e o que também poderá incorrer em custos para f ins de recuperação de seus recebíveis.</a:t>
            </a:r>
          </a:p>
          <a:p>
            <a:r>
              <a:t>(v) Riscos associados aos Devedores: no caso de Devedores no âmbito das operações de consignado privado, a sua capacidade de pagamento poderá ser af etada se, por exemplo, o Devedor tiver o seu contrato de emprego rescindido ou em virtude de decisão judicial, o Devedor for obrigado a pagar alimentos, que têm prioridade sobre o empréstimo para f ins de desconto na f 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 etar a rentabilidade da Classe. Já no caso de Devedores no âmbito das operações de Saque-aniversário, como os Direitos Creditórios a serem endossados à Classe serão descontados pelo FGTS da remuneração do Devedor, na ocorrência de qualquer evento que, nos termos da legislação aplicável, determine o pagamento antecipado do Saque-aniversário ao Devedor, a exemplo do falecimento do Devedor, dentre outros, as parcelas do Saque- aniversário serão pagas antecipadamente e a Classe deverá utilizar tais montantes no pré-pagamento dos Direitos Creditórios. Nesta hipótese, a Classe poderá não encontrar Direitos Creditórios disponíveis para serem adquiridos pela Classe, o que poderá af etar a rentabilidade da Classe.</a:t>
            </a:r>
          </a:p>
          <a:p>
            <a:r>
              <a:t>Risco de liquidez</a:t>
            </a:r>
          </a:p>
          <a:p>
            <a:r>
              <a:t>(i) Risco de liquidez: consiste no risco de redução ou inexistência de demanda pelos ativos que compõem a Classe nos respectivos mercados em que são negociados, devido às condições específicas desses ativos ou aos mercados em que são negociados. Devido a esses riscos, o Gestor poderá encontrar dificuldades em liquidar posições ou negociar esses ativos pelo preço e prazo desejados, de acordo com a estratégia de gestão adotada pela Classe, que permanecerá exposto, durante o período de baixa liquidez, aos riscos associados a esses ativos e posições assumidas em mercados de derivativos, se houver, que poderão até exigir que o Gestor aceite descontos em seus preços para realizar negociações no mercado. Esses f atores poderão prejudicar o pagamento de Amortizações ao Cotista, nos valores e dentro dos termos aqui estabelecidos.</a:t>
            </a:r>
          </a:p>
          <a:p>
            <a:r>
              <a:t>(ii) Riscos do mercado secundário: A Classe é constituída sob a f orma de condomínio fechado, de modo que as Cotas somente serão resgatadas em virtude da liquidação da Classe. Uma vez que o Prazo de Duração da Classe é indeterminado, o Cotista titular das Cotas não terá liquidez em seu investimento na Classe, exceto</a:t>
            </a:r>
          </a:p>
          <a:p>
            <a:r>
              <a:t>(a) por ocasião das Amortizações e dos resgates, nos termos deste Regulamento; (b) por meio da alienação de suas Cotas no mercado secundário; ou (c) na liquidação antecipada do FUNDO ou da Classe.</a:t>
            </a:r>
          </a:p>
          <a:p>
            <a:r>
              <a:t>Além disso, atualmente, o mercado secundário de cotas de fundos de investimento apresenta baixa liquidez, o que pode dificultar a venda das Cotas ou ocasionar a obtenção de um preço de venda que cause perda de patrimônio ao Cotista. Não há qualquer garantia do Administrador, do Gestor, da consultora ou do Custodiante em relação à possibilidade de venda das Cotas no mercado secundário ou ao preço obtido por elas, ou mesmo garantia de saída ao Cotista.</a:t>
            </a:r>
          </a:p>
          <a:p>
            <a:r>
              <a:t>Riscos específicos</a:t>
            </a:r>
          </a:p>
          <a:p>
            <a:r>
              <a:t>(i)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ficar inadimplente e, consequentemente, não haverá repasse à Classe do respectivo Direito Creditório, o que poderá resultar em perdas f inanceiras à Classe e aos Cotistas. Para os f ins deste Regulamento, “Empregador” signif ica a empresa com qual o Devedor mantém vínculo empregatício registrado junto à CTPS.</a:t>
            </a:r>
          </a:p>
          <a:p>
            <a:r>
              <a:t>(ii) Risco do Empregador não efetuar o desconto em folha: o repasse dos recursos oriundos dos Direitos Creditórios à Classe depende da realização, pelo Empregador, da escrituração da Consignação a ser</a:t>
            </a:r>
          </a:p>
          <a:p>
            <a:r>
              <a:t>CNPJ 62552447000120 · Duração e público-alvo · Regulamento · ID 1200623 · 2026-05-21 · versão 1 · p. 1 · 1.3 · https://fnet.bmfbovespa.com.br/fnet/publico/visualizarDocumento?id=1200623</a:t>
            </a:r>
          </a:p>
          <a:p>
            <a:r>
              <a:t>CNPJ 62552447000120 · Duração e público-alvo · Excerto da fonte:</a:t>
            </a:r>
          </a:p>
          <a:p>
            <a:r>
              <a:t>1.3 Durante o seu prazo de duração, o Fundo, por ato conjunto dos Prestadores de Serviços Essenciais,  poderá constituir diferentes Classes e Subclasses , sendo que cada Classe terá patrimônio segregado e</a:t>
            </a:r>
          </a:p>
          <a:p>
            <a:r>
              <a:t>CNPJ 62552447000120 · Duração e público-alvo · Condição: Documentos atuais selecionados no inventário por categoria/escopo; a data documental isolada não comprova vigência jurídica.</a:t>
            </a:r>
          </a:p>
          <a:p>
            <a:r>
              <a:t>CNPJ 62552447000120 · Duração e público-alvo · Versão e prevalência: Documentos atuais selecionados no inventário por categoria/escopo; a data documental isolada não comprova vigência jurídica.</a:t>
            </a:r>
          </a:p>
          <a:p>
            <a:r>
              <a:t>CNPJ 62552447000120 · Duração e público-alvo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"duration_investors", "total_count": 1, "preview_count": 1, "full_text_deferred": true, "sha256": "d95db8c0613d67ee84118c734588665265ea6b02f86a0318d6a844cbe1d0f82f"}}</a:t>
            </a:r>
          </a:p>
          <a:p>
            <a:r>
              <a:t>CNPJ 63953620000165 · Duração e público-alvo · Anexo ao Regulamento · ID 1222863 · 2026-06-02 · versão 1 · p. 2 · https://fnet.bmfbovespa.com.br/fnet/publico/visualizarDocumento?id=1222863</a:t>
            </a:r>
          </a:p>
          <a:p>
            <a:r>
              <a:t>CNPJ 63953620000165 · Duração e público-alvo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Duração e público-alvo · Anexo ao Regulamento · ID 1222863 · 2026-06-02 · versão 1 · p. 1 · 1.1 · https://fnet.bmfbovespa.com.br/fnet/publico/visualizarDocumento?id=1222863</a:t>
            </a:r>
          </a:p>
          <a:p>
            <a:r>
              <a:t>CNPJ 63953620000165 · Duração e público-alvo · Excerto da fonte:</a:t>
            </a:r>
          </a:p>
          <a:p>
            <a:r>
              <a:t>1.1 As principais características da Classe Consignado Privado (para fins deste Anexo, “Classe”) estão descritas  abaixo:</a:t>
            </a:r>
          </a:p>
          <a:p>
            <a:r>
              <a:t> Tipo de Condomínio Fechado.</a:t>
            </a:r>
          </a:p>
          <a:p>
            <a:r>
              <a:t> Indeterminado, exceto se de outra forma vier a ser deliberado pelos Cotistas  Prazo de Duração  reunidos em Assembleia Especial de Cotistas. (“Prazo de Duração”)  Tipo “Financeiro”.</a:t>
            </a:r>
          </a:p>
          <a:p>
            <a:r>
              <a:t> Classificação ANBIMA  Foco de atuação “Créditos Consignados”.</a:t>
            </a:r>
          </a:p>
          <a:p>
            <a:r>
              <a:t> O objetivo da classe é proporcionar aos seus Cotistas a valorização de suas Cotas  por meio da aplicação de seu Patrimônio Líquido (conforme definido abaixo) na  aquisição de: (i) “Direitos Creditórios Crédito Consignado”, representados por  cédula de crédito bancário regida pela Lei nº 10.931, emitida eletronicamente por  um devedor em favor do endossante (“CCB”) e, consequentemente, os recebíveis  decorrente de cada uma das parcelas vincendas, representando um empréstimo  consignado concedido pelo endossante ao devedor, e cujo pagamento ordinário  é feito por desconto de cada prestação vincenda de uma CCB na folha de  pagamentos do devedor (“Consignação”), efetuada pela Caixa Econômica  Federal, de acordo com a legislação aplicável e em conformidade com os  procedimentos estabelecidos no convênio celebrado entre o Endossante e a  Empresa de Tecnologia e Informações da Previdência – DATAPREV e paga na  Conta Vinculada do Endossante (“Convênio Consignado Privado”); e/ou (ii)  “Direitos Creditórios TVM”, representados por direitos, títulos e/ou valores  mobiliários representativos de créditos originados no âmbito de operações de  sociedades integrantes do conglomerado econômico de instituições financeiras  classificadas como S1 pelo BACEN, desde que não representem títulos de  emissão ou coobrigação de instituições financeiras, bem como cotas de fundos  de investimento que invistam preponderantemente nestes direitos, títulos e/ou  Objetivo  valores mobiliários (Direitos Creditórios TVM quando referidos em conjunto  com os Direitos Creditórios Consignado Privado, “Direitos Creditórios”)  observados todos os limites de composição e diversificação da carteira da Classe  (“Carteira”), estabelecidos neste Regulamento e na regulamentação aplicável.</a:t>
            </a:r>
          </a:p>
          <a:p>
            <a:r>
              <a:t> Subsidiariamente, a parcela do Patrimônio Líquido que não esteja alocada em  Direitos Creditórios poderá estar alocado em: (1) certificados de depósito  bancário (CDB) ou recibos de depósito bancário (RDB) com prazo máximo de  vencimento equivalente ao prazo remanescente do Período de Investimento, com  liquidez diária, emitidos por Parati Crédito, Financiamento e Investimento S.A.</a:t>
            </a:r>
          </a:p>
          <a:p>
            <a:r>
              <a:t> e/ou pelo Endossante (“Ativos de Liquidez MT”); e/ou (2) (i) moeda corrente  nacional; (ii) títulos do Tesouro SELIC, anteriormente denominado letra financeira  do Tesouro Nacional (LFT); (iii) certificados de depósito bancário (CDB) ou recibos  de depósito bancário (RDB) com prazo máximo de vencimento equivalente ao  prazo remanescente do Período de Investimento, com liquidez diária, emitidos  por (a) Itaú Unibanco S.A.; (b) Banco Bradesco S.A.; (c) Caixa Econômica Federal;</a:t>
            </a:r>
          </a:p>
          <a:p>
            <a:r>
              <a:t> (d) Banco do Brasil S.A.; (e) Banco Santander (Brasil) S.A.; (f) Banco BTG Pactual  S.A.; (g) Banco Sistema S.A. (“Instituições Autorizadas”); (iv) operações  compromissadas, desde que lastreadas nos títulos mencionados nas alíneas (i) a</a:t>
            </a:r>
          </a:p>
          <a:p>
            <a:r>
              <a:t> (iii) acima, emitidas por Instituições Autorizadas, com liquidez diária e vencimento</a:t>
            </a:r>
          </a:p>
          <a:p>
            <a:r>
              <a:t>CNPJ 63953620000165 · Duração e público-alvo · Anexo ao Regulamento · ID 1222863 · 2026-06-02 · versão 1 · p. 10 · 6.7.1 · https://fnet.bmfbovespa.com.br/fnet/publico/visualizarDocumento?id=1222863</a:t>
            </a:r>
          </a:p>
          <a:p>
            <a:r>
              <a:t>CNPJ 63953620000165 · Duração e público-alvo · Excerto da fonte:</a:t>
            </a:r>
          </a:p>
          <a:p>
            <a:r>
              <a:t>6.7.1 As Chamadas de Capital para a realização de investimentos serão realizadas a qualquer momento  durante o Período de Investimento e estarão limitadas ao valor do capital subscrito de cada Cotista. As  Chamadas de Capital para o pagamento de despesas e encargos do Fundo, com exceção de despesas  relacionadas à instrumentos de derivativos e/ou Encargos não previstos no âmbito deste regulamento,  poderão ser realizadas a qualquer momento durante o Prazo de Duração, mas não estarão limitadas ao  valor do capital subscrito de cada Cotista.</a:t>
            </a:r>
          </a:p>
          <a:p>
            <a:r>
              <a:t>CNPJ 63953620000165 · Duração e público-alvo · Condição: Documentos atuais selecionados no inventário por categoria/escopo; a data documental isolada não comprova vigência jurídica.</a:t>
            </a:r>
          </a:p>
          <a:p>
            <a:r>
              <a:t>CNPJ 63953620000165 · Duração e público-alvo · Versão e prevalência: Documentos atuais selecionados no inventário por categoria/escopo; a data documental isolada não comprova vigência jurídica.</a:t>
            </a:r>
          </a:p>
          <a:p>
            <a:r>
              <a:t>CNPJ 63953620000165 · Duração e público-alvo · Resumo do histórico: {"count": 8, "dates": ["2026-04-28", "2026-05-08", "2026-05-15"], "document_count": 3, "sources": [{"document_id": "1327859", "title": "Demonstrações Financeiras - Fusão, cisão e incorporação", "reference_date": "2026-05-15", "version": "1", "page": 9, "url": "https://fnet.bmfbovespa.com.br/fnet/publico/visualizarDocumento?id=1327859", "sha256": "dca1c68babb97f887528c3e2e47596a9c30f507b067981a35655b2f2da9c8054"}, {"document_id": "1298691", "title": "Demonstrações Financeiras - Fusão, cisão e incorporação", "reference_date": "2026-05-08", "version": "1", "page": 9, "url": "https://fnet.bmfbovespa.com.br/fnet/publico/visualizarDocumento?id=1298691", "sha256": "58c570d9b8d4d265330d3db3ea81c435b8e44a6dab4002aa37790652a1ee9819"}, {"document_id": "1282180", "title": "Demonstrações Financeiras - Fusão, cisão e incorporação", "reference_date": "2026-04-28", "version": "1", "page": 9, "url": "https://fnet.bmfbovespa.com.br/fnet/publico/visualizarDocumento?id=1282180", "sha256": "afaaa0e6809be4385e5bdb6c911aac582032c5bdbac3d7750234bf9eaf00438a"}], "reference": {"path": "history/63953620000165.json", "criterion_id": "duration_investors",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Alocação e perímetro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Alocação mínima · Base da comparação IME: {"criterion_id": "allocation", "observed_value": 91.84981349574433, "unit": "percent", "competence": "08/2026", "status": "not_comparable", "reason": "Vigência efetiva não comprovada; data do documento isolada não certifica enquadramento histórico.", "formula": "credit_rights / net_asset_value × 100",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50.0}</a:t>
            </a:r>
          </a:p>
          <a:p>
            <a:r>
              <a:t>CNPJ 54871427000194 · Alocação mínima · Regulamento · ID 670691 · 28/04/2024 · versão Regulamento — referência 28/04/2024 · p. 11 · Anexo I, 4.9 · https://fnet.bmfbovespa.com.br/fnet/publico/visualizarDocumento?id=670691</a:t>
            </a:r>
          </a:p>
          <a:p>
            <a:r>
              <a:t>CNPJ 54871427000194 · Alocação mínima · Excerto da fonte:</a:t>
            </a:r>
          </a:p>
          <a:p>
            <a:r>
              <a:t>4.9 Decorridos 180 (cento e oitenta) dias da Data da 1ª Integralização de Cotas, a Classe deverá manter alocado, no mínimo, 50% (cinquenta por cento) do seu Patrimônio Líquido em Direitos Creditórios . 4.10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4.11 A Classe poderá, direta ou indiretamente e, nos termos da legislação aplicável: (i) adquirir Direitos Creditórios que sejam cedidos e/ou originados pelo ADMINISTRADOR e/ou pelo GESTOR, ou partes a eles relacionadas, tal como definidas pelas regras contábeis que tratam desse assunto; e (ii) ceder Direitos Creditórios a qualquer das pessoas, fundos de investimento ou entidades referidas n</a:t>
            </a:r>
          </a:p>
          <a:p>
            <a:r>
              <a:t>CNPJ 54871427000194 · Alocação mínima · Mecânica: {"operator": "&gt;=", "limit": 50.0, "unit": "percent", "numerator": "credit_rights", "denominator": "net_asset_value", "frequency": "daily", "layer": "54871427000194", "document_date": "2024-04-28", "effective_status": "document_date_only", "initial_days": 180}</a:t>
            </a:r>
          </a:p>
          <a:p>
            <a:r>
              <a:t>CNPJ 54871427000194 · Alocação mínima · Versão e prevalência: Leitura específica das cláusulas indicadas; condições e conflitos preservados. Seleção documental atual não comprova vigência jurídica por data isolada.</a:t>
            </a:r>
          </a:p>
          <a:p>
            <a:r>
              <a:t>CNPJ 54871427000194 · Alocação mínima · Resumo do histórico: {"count": 2, "dates": ["2024-04-19", "2024-04-28"], "document_count": 2, "sources": [{"document_id": "670691", "title": "Regulamento", "reference_date": "2024-04-28", "version": "1", "page": "11", "url": "https://fnet.bmfbovespa.com.br/fnet/publico/visualizarDocumento?id=670691", "sha256": "bf16dd7f1a62d5cdbf2e2d54fef81783783f7310fbc99c3a8f00459bdf9d037b"}, {"document_id": "670689", "title": "Regulamento", "reference_date": "2024-04-19", "version": "1", "page": 11, "clause": "4.9", "url": "https://fnet.bmfbovespa.com.br/fnet/publico/visualizarDocumento?id=670689", "sha256": "891bc9bc5d87bbc02ec139077a84d2702eb81ea02035fb71d24f5b8366b94a0b"}], "reference": {"path": "history/54871427000194.json", "criterion_id": "allocation", "total_count": 2, "preview_count": 2, "full_text_deferred": true, "sha256": "35d7cd99be50c7287c9fb675cf4f2e736002315295a225a9efa79c8d9186d874"}}</a:t>
            </a:r>
          </a:p>
          <a:p>
            <a:r>
              <a:t>CNPJ 60010416000112 · Alocação mínima · Base da comparação IME: {"criterion_id": "allocation", "observed_value": 117.78665480900618, "unit": "percent", "competence": "08/2026", "status": "not_comparable", "reason": "Vigência efetiva não comprovada; data do documento isolada não certifica enquadramento histórico.", "formula": "credit_rights / net_asset_value × 100",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50.0}</a:t>
            </a:r>
          </a:p>
          <a:p>
            <a:r>
              <a:t>CNPJ 60010416000112 · Alocação mínima · Regulamento · ID 1051393 · 09/10/2025 · versão Regulamento09/10/2025 · p. 11 · AnexoI4.6 · https://fnet.bmfbovespa.com.br/fnet/publico/visualizarDocumento?id=1051393</a:t>
            </a:r>
          </a:p>
          <a:p>
            <a:r>
              <a:t>CNPJ 60010416000112 · Alocação mínima · Excerto da fonte:</a:t>
            </a:r>
          </a:p>
          <a:p>
            <a:r>
              <a:t>4.6 Decorridos 180 (cento e oitenta) dias do início de suas atividades, a Classe deverá manter alocado, no mínimo: para f ins tributários, 67% (sessenta e sete por cento) do seu Patrimônio Líquido em Direitos Creditórios, nos termos da Resolução CMN 5.111; e para fins regulatórios, 50% (cinquenta por cento) do seu Patrimônio Líquido em Direitos Creditórios, nos termos da Resolução CVM 175. BTG Pactual SAC: 0800 772 28 27 - Ouvidoria: 0800 722 00 48 - btgpactual.com 11</a:t>
            </a:r>
          </a:p>
          <a:p>
            <a:r>
              <a:t>CNPJ 60010416000112 · Alocação mínima · Mecânica: {"operator": "&gt;=", "unit": "percent", "denominator": "net_asset_value", "frequency": "not_stated", "layer": "class", "effective_status": "document_date_only", "document_date": "2025-10-09", "numerator": "credit_rights", "limit": 50.0, "requires_initial_date": true}</a:t>
            </a:r>
          </a:p>
          <a:p>
            <a:r>
              <a:t>CNPJ 60010416000112 · Alocação mínima · Versão e prevalência: Leitura específica das cláusulas indicadas; condições e conflitos preservados. Seleção documental atual não comprova vigência jurídica por data isolada.</a:t>
            </a:r>
          </a:p>
          <a:p>
            <a:r>
              <a:t>CNPJ 60010416000112 · Alocação mínima · Resumo do histórico: {"count": 2, "dates": ["2025-03-20", "2025-10-09"], "document_count": 2, "sources": [{"document_id": "1051393", "title": "Regulamento", "reference_date": "2025-10-09", "version": "1", "page": "11", "url": "https://fnet.bmfbovespa.com.br/fnet/publico/visualizarDocumento?id=1051393", "sha256": "8469d613078ffd5a6c1d217885d8a397a16342c0b937ae4aa24b106505f233ae"}, {"document_id": "993786", "title": "Regulamento", "reference_date": "2025-03-20", "version": "1", "page": 6, "clause": "5.3", "url": "https://fnet.bmfbovespa.com.br/fnet/publico/visualizarDocumento?id=993786", "sha256": "fd0fdd369a195510d81f81f505195a0b09e5f43522a990afa7d58c4f872921c8"}], "reference": {"path": "history/60010416000112.json", "criterion_id": "allocation", "total_count": 2, "preview_count": 2, "full_text_deferred": true, "sha256": "8e2bd813f4c51cf01f6bfaad164bafe69d2bbb192f753eac92da3a01c2e63046"}}</a:t>
            </a:r>
          </a:p>
          <a:p>
            <a:r>
              <a:t>CNPJ 62696791000193 · Alocação mínima · Base da comparação IME: {"criterion_id": "allocation", "observed_value": null, "unit": "percent", "competence": "08/2026", "status": "not_comparable", "reason": "Operador, unidade, numerador ou base contratual sem correspondência exata no IME; proxies de PL/ativos não são intercambiáveis. CPR declarada no FIAGRO não comprova elegibilidade individual nem correspondência integral com a definição contratual de direitos creditórios do agronegócio.",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51.0, "comparison_required": true, "context_value": 99.72659520720684, "context_unit": "percent", "context_formula": "CPR / PL (rubrica declarada no FIAGRO)"}</a:t>
            </a:r>
          </a:p>
          <a:p>
            <a:r>
              <a:t>CNPJ 62696791000193 · Alocação mínima · Regulamento · ID 1143317 · 20/03/2026 · versão Regulamento — referência 20/03/2026 · p. 10 · Anexo I, 4.2 · https://fnet.bmfbovespa.com.br/fnet/publico/visualizarDocumento?id=1143317</a:t>
            </a:r>
          </a:p>
          <a:p>
            <a:r>
              <a:t>CNPJ 62696791000193 · Alocação mínima · Excerto da fonte:</a:t>
            </a:r>
          </a:p>
          <a:p>
            <a:r>
              <a:t>4.2 Decorridos 180 (cento e oitenta) dias do início de suas atividades, a Classe deverá possuir parcela mínima de 51% (cinquenta e um por cento) de seu Patrimônio Líquido representados por Direitos Creditórios do Agronegócio, enquanto a parcela de 49% (quarenta e nove por cento) remanescente deverá ser alocada em Outros Ativos ou Ativos Financeiros de Liquidez. 4.3 Os Direitos Creditórios do Agronegócio serão adquiridos integral ou parcialmente, sempre de acordo com a Política de Investimentos. 4.4 Tendo em vista (i) a natureza variada dos Direitos Creditórios do Agronegócio passíveis de aquisição pela Classe; (ii) a amplitude da Política de Investimentos; e (iii) a potencial diversificação de Cedentes/Endossantes e Devedores, não é possível precisar os processos de origem dos Direitos Creditórios do Agronegócio e as políticas de concessão de crédito adotadas pelos Cedentes/Endossantes. 4.5 Os Direitos Creditórios do Agronegócio deverão contar com toda a documentação necessária para o exercício das prerrogativas decorrentes da titularidade dos ativos, e capaz de comprovar a origem, a existência e a exigibilidade dos Direitos Creditórios do Agronegócio (“Documentos Comprobatórios”)</a:t>
            </a:r>
          </a:p>
          <a:p>
            <a:r>
              <a:t>CNPJ 62696791000193 · Alocação mínima · AGE · ID 1143319 · 20/03/2026 10:00 · versão AGE — referência 20/03/2026 10:00 · p. 3 · AGC 20/03/2026, 4.1(j)–(k) · https://fnet.bmfbovespa.com.br/fnet/publico/visualizarDocumento?id=1143319</a:t>
            </a:r>
          </a:p>
          <a:p>
            <a:r>
              <a:t>CNPJ 62696791000193 · Alocação mínima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Alocação mínima · Condição: Vigente a partir do fechamento de 23/03/2026. O agregado genérico de direitos do IME não comprova, sozinho, a natureza agronegócio de todos os ativos nem a conclusão da carência inicial.</a:t>
            </a:r>
          </a:p>
          <a:p>
            <a:r>
              <a:t>CNPJ 62696791000193 · Alocação mínima · Mecânica: {"operator": "&gt;=", "limit": 51.0, "unit": "percent", "numerator": "agribusiness_credit_rights", "denominator": "net_asset_value", "frequency": "daily", "layer": "62696791000193", "effective_from": "2026-03-23", "effective_status": "explicit_assembly_effective_date", "initial_days": 180, "initial_date": null}</a:t>
            </a:r>
          </a:p>
          <a:p>
            <a:r>
              <a:t>CNPJ 62696791000193 · Alocação mínima · Versão e prevalência: Leitura específica das cláusulas indicadas; condições e conflitos preservados. Seleção documental atual não comprova vigência jurídica por data isolada.</a:t>
            </a:r>
          </a:p>
          <a:p>
            <a:r>
              <a:t>CNPJ 55563624000109 · Alocação mínima · Base da comparação IME: {"criterion_id": "allocation", "observed_value": 99.87020304792446, "unit": "percent", "competence": "08/2026", "status": "not_comparable", "reason": "Vigência efetiva não comprovada; data do documento isolada não certifica enquadramento histórico.", "formula": "fidc_quotas / net_asset_value × 100",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67.0}</a:t>
            </a:r>
          </a:p>
          <a:p>
            <a:r>
              <a:t>CNPJ 55563624000109 · Alocação mínima · Regulamento · ID 1192614 · 30/04/2026 · versão Regulamento30/04/2026 · p. 13 · AnexoI4.10 · https://fnet.bmfbovespa.com.br/fnet/publico/visualizarDocumento?id=1192614</a:t>
            </a:r>
          </a:p>
          <a:p>
            <a:r>
              <a:t>CNPJ 55563624000109 · Alocação mínima · Excerto da fonte:</a:t>
            </a:r>
          </a:p>
          <a:p>
            <a:r>
              <a:t>4.10 Decorridos 180 (cento e oitenta) dias da Data da 1ª Integralização da Classe, a Classe deverá manter alocado, no mínimo, 67% (sessenta e sete por cento) do seu Patrimônio Líquido em Cotas da Classe Investida. 4.11 Nos termos dos artigos 45, parágrafo 7º, e 47 parágrafo único do Anexo Normativo II à Resolução CVM 175, uma vez que as Cotas são destinadas exclusivamente a Investidores Profissionais, a Classe poderá ter até 100% (cem por cento) de seu Patrimônio Líquido alocado em Cotas da Classe Investida, as quais são emitidas pela Classe Investida.</a:t>
            </a:r>
          </a:p>
          <a:p>
            <a:r>
              <a:t>CNPJ 55563624000109 · Alocação mínima · Regulamento · ID 1192614 · 30/04/2026 · versão Regulamento30/04/2026 · p. 12 · AnexoI4.9 · https://fnet.bmfbovespa.com.br/fnet/publico/visualizarDocumento?id=1192614</a:t>
            </a:r>
          </a:p>
          <a:p>
            <a:r>
              <a:t>CNPJ 55563624000109 · Alocação mínima · Excerto da fonte:</a:t>
            </a:r>
          </a:p>
          <a:p>
            <a:r>
              <a:t>4.9 A parcela do Patrimônio Líquido que não estiver alocada em Cotas da Classe Investida será necessariamente alocada em Ativos Financeiros de Liquidez. BTG Pactual SAC: 0800 772 28 27 - Ouvidoria: 0800 722 00 48 - btgpactual.com 5</a:t>
            </a:r>
          </a:p>
          <a:p>
            <a:r>
              <a:t>CNPJ 55563624000109 · Alocação mínima · Mecânica: {"operator": "&gt;=", "limit": 67.0, "unit": "percent", "numerator": "fidc_quotas", "denominator": "net_asset_value", "frequency": "not_stated", "layer": "class", "effective_status": "document_date_only", "document_date": "2026-04-30", "requires_initial_date": true}</a:t>
            </a:r>
          </a:p>
          <a:p>
            <a:r>
              <a:t>CNPJ 55563624000109 · Alocação mínima · Versão e prevalência: Leitura específica das cláusulas indicadas; condições e conflitos preservados. Seleção documental atual não comprova vigência jurídica por data isolada.</a:t>
            </a:r>
          </a:p>
          <a:p>
            <a:r>
              <a:t>CNPJ 55563624000109 · Alocação mínima · Resumo do histórico: {"count": 1, "dates": ["2026-04-30"], "document_count": 1, "sources": [{"document_id": "1192614", "title": "Regulamento", "reference_date": "2026-04-30", "version": "1", "page": "11-13", "url": "https://fnet.bmfbovespa.com.br/fnet/publico/visualizarDocumento?id=1192614", "sha256": "f56e63ace0acde41d2f47fb48f1ac7f3f7df5e2d32de092d7c5e075a52516632"}], "reference": {"path": "history/55563624000109.json", "criterion_id": "allocation", "total_count": 1, "preview_count": 1, "full_text_deferred": true, "sha256": "7835d573fb58a3c19adf5b8ecc2aee2bdbb9a88f7a0c0209b5f262b64c7522e3"}}</a:t>
            </a:r>
          </a:p>
          <a:p>
            <a:r>
              <a:t>CNPJ 62552447000120 · Alocação mínima · Base da comparação IME: {"criterion_id": "allocation", "observed_value": 104.36099466414683, "unit": "percent", "competence": "08/2026", "status": "not_comparable", "reason": "Vigência efetiva não comprovada; data do documento isolada não certifica enquadramento histórico.", "formula": "credit_rights / net_asset_value × 100",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50.0}</a:t>
            </a:r>
          </a:p>
          <a:p>
            <a:r>
              <a:t>CNPJ 62552447000120 · Alocação mínima · Regulamento · ID 1200623 · 21/05/2026 · versão Consolidado21/05/2026 aprovado pelo ato1200625 · p. 14 · AnexoI4.9 · https://fnet.bmfbovespa.com.br/fnet/publico/visualizarDocumento?id=1200623</a:t>
            </a:r>
          </a:p>
          <a:p>
            <a:r>
              <a:t>CNPJ 62552447000120 · Alocação mínima · Excerto da fonte:</a:t>
            </a:r>
          </a:p>
          <a:p>
            <a:r>
              <a:t>4.9 Decorridos 180 (cento e oitenta) dias da Data da Primeira Integralização, a Classe deverá manter alocados em Direitos Creditórios, no mínimo, para fins tributários, 67% (sessenta e sete por cento) do seu Patrimônio Líquido, nos termos da Lei 14.754 e da Resolução CMN 5.111, e, para fins regulatórios, 50% (cinquenta por cento) do seu Patrimônio Líquido, nos termos da Resolução CVM 175. Eventual desenquadramento da Carteira obrigará o Gestor aos procedimentos de desenquadramento e reenquadramento previstos na Lei 14.754 e na Resolução CMN 5.111, para f ins tributários, e na Resolução CVM 175, par</a:t>
            </a:r>
          </a:p>
          <a:p>
            <a:r>
              <a:t>CNPJ 62552447000120 · Alocação mínima · Mecânica: {"operator": "&gt;=", "unit": "percent", "numerator": "credit_rights", "denominator": "net_asset_value", "frequency": "not_stated", "layer": "class", "effective_status": "document_date_only", "document_date": "2026-05-21", "requires_initial_date": true, "limit": 50.0}</a:t>
            </a:r>
          </a:p>
          <a:p>
            <a:r>
              <a:t>CNPJ 62552447000120 · Alocação mínima · Versão e prevalência: Leitura específica das cláusulas indicadas; condições e conflitos preservados. Seleção documental atual não comprova vigência jurídica por data isolada.</a:t>
            </a:r>
          </a:p>
          <a:p>
            <a:r>
              <a:t>CNPJ 63953620000165 · Alocação mínima · Base da comparação IME: {"criterion_id": "allocation", "observed_value": 93.29241106598856, "unit": "percent", "competence": "08/2026", "status": "not_comparable", "reason": "Vigência efetiva não comprovada; data do documento isolada não certifica enquadramento histórico.", "formula": "credit_rights / net_asset_value × 100",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50.0}</a:t>
            </a:r>
          </a:p>
          <a:p>
            <a:r>
              <a:t>CNPJ 63953620000165 · Alocação mínima · Anexo ao Regulamento · ID 1222863 · 02/06/2026 · versão AnexoConsignadoPrivado02/06/2026 · p. 6 · 4.13 · https://fnet.bmfbovespa.com.br/fnet/publico/visualizarDocumento?id=1222863</a:t>
            </a:r>
          </a:p>
          <a:p>
            <a:r>
              <a:t>CNPJ 63953620000165 · Alocação mínima · Excerto da fonte:</a:t>
            </a:r>
          </a:p>
          <a:p>
            <a:r>
              <a:t>4.13 Decorridos 180 (cento e oitenta) dias do início de suas atividades, a Classe deverá manter alocado, no mínimo, para fins tributários, 67% (sessenta e sete por cento) do seu Patrimônio Líquido em Direitos Creditórios, nos termos da Resolução CMN 5.111, e para fins regulatórios, 50% (cinquenta por cento) do seu Patrimônio Líquido em Direitos Creditórios, nos termos da Resolução CVM 175. 4.14 Nos termos do Art. 45, §7º, inciso II, do Anexo Normativo II da Resolução CVM 175, a Classe poderá ter até 100% (cem por cento) de seu Patrimônio Líquido alocado em Direitos Creditórios, derivativos, observado o disposto nest</a:t>
            </a:r>
          </a:p>
          <a:p>
            <a:r>
              <a:t>CNPJ 63953620000165 · Alocação mínima · Mecânica: {"operator": "&gt;=", "unit": "percent", "denominator": "net_asset_value", "frequency": "not_stated", "layer": "class", "effective_status": "document_date_only", "document_date": "2026-06-02", "limit": 50.0, "numerator": "credit_rights", "requires_initial_date": true}</a:t>
            </a:r>
          </a:p>
          <a:p>
            <a:r>
              <a:t>CNPJ 63953620000165 · Alocação mínima · Versão e prevalência: Leitura específica das cláusulas indicadas; condições e conflitos preservados. Seleção documental atual não comprova vigência jurídica por data isolada.</a:t>
            </a:r>
          </a:p>
          <a:p>
            <a:r>
              <a:t>CNPJ 54871427000194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null, "comparison_required": true, "context_formula": "Direitos creditórios / PL", "context_value": 91.84981349574433, "context_unit": "percent"}</a:t>
            </a:r>
          </a:p>
          <a:p>
            <a:r>
              <a:t>CNPJ 54871427000194 · Alocação para tratamento tributário · Regulamento · ID 670691 · 2024-04-28 · versão 1 · p. 5 · https://fnet.bmfbovespa.com.br/fnet/publico/visualizarDocumento?id=670691</a:t>
            </a:r>
          </a:p>
          <a:p>
            <a:r>
              <a:t>CNPJ 54871427000194 · Alocação para tratamento tributário · Excerto da fonte:</a:t>
            </a:r>
          </a:p>
          <a:p>
            <a:r>
              <a:t>Os rendimentos auf eridos pelo cotista do FUNDO estarão sujeitos à tributação pelo IR, à alíquota de  15% (quinze por cento), na data da distribuição de rendimentos ou d a amortização de cotas,  considerando que o FUNDO seja classificado como entidade de investimento e cumpra os critérios de  composição da carteira com, no mínimo, 67% (sessenta e sete por cento) de direitos creditórios de  acordo com a Lei nº 14.754, de 12 de dezembro de 2023 (“Lei 14.754”) e a Resolução do Conselho  Monetário Nacional nº 5.111, de 21 de dezembro de 2023 (“Resolução CMN 5.111”).</a:t>
            </a:r>
          </a:p>
          <a:p>
            <a:r>
              <a:t>CNPJ 54871427000194 · Alocação para tratamento tributário · Regulamento · ID 670691 · 2024-04-28 · versão 1 · p. 5 · https://fnet.bmfbovespa.com.br/fnet/publico/visualizarDocumento?id=670691</a:t>
            </a:r>
          </a:p>
          <a:p>
            <a:r>
              <a:t>CNPJ 54871427000194 · Alocação para tratamento tributário · Excerto da fonte:</a:t>
            </a:r>
          </a:p>
          <a:p>
            <a:r>
              <a:t>A GESTORA do FUNDO buscará manter o cumprimento do requisito de composição da carteira do  FUNDO com, no mínimo 67% (sessenta e sete por cento) em direitos creditórios acima comentados.</a:t>
            </a:r>
          </a:p>
          <a:p>
            <a:r>
              <a:t> Todavia, caso a composição mínima do patrimônio líquido do FUNDO não seja atingida e ocorra o  ef etivo desenquadramento tributário da carteira, os cotistas pessoa f ísica ou jurídica residentes no  Brasil passarão a se sujeitar à regra geral de tributação de fundos, conforme previsto no art. 17 da Lei</a:t>
            </a:r>
          </a:p>
          <a:p>
            <a:r>
              <a:t> 14.754, segundo a qual: (1) haverá incidência periódica de IR todo mês de maio e novembro de cada  ano-calendário sobre os rendimentos auferidos pelo cotista em relação ao investimento nas cotas do  FUNDO, à alíquota de 15% (quinze por cento) ou 20% (vinte por cento), a depender da carteira do  FUNDO ser classificada, respectivamente, como de curto ou longo prazo; e (2) haverá incidência de IR  complementar, conforme alíquotas regressivas que variam de 22,5% (vinte e dois e meio por cento) a  15% (quinze por cento) a depender do prazo de aplicação, por ocasião da amortização ou liquidação  das Cotas do FUNDO. Certos tipos de investidor podem se benef iciar de alíquotas dif erenciadas.</a:t>
            </a:r>
          </a:p>
          <a:p>
            <a:r>
              <a:t>CNPJ 54871427000194 · Alocação para tratamento tributário · Condição: Documentos atuais selecionados no inventário por categoria/escopo; a data documental isolada não comprova vigência jurídica.</a:t>
            </a:r>
          </a:p>
          <a:p>
            <a:r>
              <a:t>CNPJ 54871427000194 · Alocação para tratamento tributário · Versão e prevalência: Documentos atuais selecionados no inventário por categoria/escopo; a data documental isolada não comprova vigência jurídica.</a:t>
            </a:r>
          </a:p>
          <a:p>
            <a:r>
              <a:t>CNPJ 54871427000194 · Alocação para tratamento tributário · Resumo do histórico: {"count": 1, "dates": ["2024-04-19"], "document_count": 1, "sources": [{"document_id": "670689", "title": "Regulamento", "reference_date": "2024-04-19", "version": "1", "page": 5, "url": "https://fnet.bmfbovespa.com.br/fnet/publico/visualizarDocumento?id=670689", "sha256": "891bc9bc5d87bbc02ec139077a84d2702eb81ea02035fb71d24f5b8366b94a0b"}], "reference": {"path": "history/54871427000194.json", "criterion_id": "tax_allocation", "total_count": 1, "preview_count": 1, "full_text_deferred": true, "sha256": "35d7cd99be50c7287c9fb675cf4f2e736002315295a225a9efa79c8d9186d874"}}</a:t>
            </a:r>
          </a:p>
          <a:p>
            <a:r>
              <a:t>CNPJ 60010416000112 · Alocação para tratamento tributário · Base da comparação IME: {"criterion_id": "tax_allocation", "observed_value": 117.78665480900618, "unit": "percent", "competence": "08/2026", "status": "not_comparable", "reason": "Vigência efetiva não comprovada; data do documento isolada não certifica enquadramento histórico.", "formula": "credit_rights / net_asset_value × 100",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67.0}</a:t>
            </a:r>
          </a:p>
          <a:p>
            <a:r>
              <a:t>CNPJ 60010416000112 · Alocação para tratamento tributário · Regulamento · ID 1051393 · 09/10/2025 · versão Regulamento09/10/2025 · p. 11 · AnexoI4.6 · https://fnet.bmfbovespa.com.br/fnet/publico/visualizarDocumento?id=1051393</a:t>
            </a:r>
          </a:p>
          <a:p>
            <a:r>
              <a:t>CNPJ 60010416000112 · Alocação para tratamento tributário · Excerto da fonte:</a:t>
            </a:r>
          </a:p>
          <a:p>
            <a:r>
              <a:t>4.6 Decorridos 180 (cento e oitenta) dias do início de suas atividades, a Classe deverá manter alocado, no mínimo: para f ins tributários, 67% (sessenta e sete por cento) do seu Patrimônio Líquido em Direitos Creditórios, nos termos da Resolução CMN 5.111; e para fins regulatórios, 50% (cinquenta por cento) do seu Patrimônio Líquido em Direitos Creditórios, nos termos da Resolução CVM 175. BTG Pactual SAC: 0800 772 28 27 - Ouvidoria: 0800 722 00 48 - btgpactual.com 11</a:t>
            </a:r>
          </a:p>
          <a:p>
            <a:r>
              <a:t>CNPJ 60010416000112 · Alocação para tratamento tributário · Mecânica: {"operator": "&gt;=", "unit": "percent", "denominator": "net_asset_value", "frequency": "not_stated", "layer": "class", "effective_status": "document_date_only", "document_date": "2025-10-09", "numerator": "credit_rights", "limit": 67.0, "requires_initial_date": true}</a:t>
            </a:r>
          </a:p>
          <a:p>
            <a:r>
              <a:t>CNPJ 60010416000112 · Alocação para tratamento tributário · Versão e prevalência: Leitura específica das cláusulas indicadas; condições e conflitos preservados. Seleção documental atual não comprova vigência jurídica por data isolada.</a:t>
            </a:r>
          </a:p>
          <a:p>
            <a:r>
              <a:t>CNPJ 60010416000112 · Alocação para tratamento tributário · Resumo do histórico: {"count": 1, "dates": ["2025-03-20"], "document_count": 1, "sources": [{"document_id": "993786", "title": "Regulamento", "reference_date": "2025-03-20", "version": "1", "page": 6, "clause": "5.3", "url": "https://fnet.bmfbovespa.com.br/fnet/publico/visualizarDocumento?id=993786", "sha256": "fd0fdd369a195510d81f81f505195a0b09e5f43522a990afa7d58c4f872921c8"}], "reference": {"path": "history/60010416000112.json", "criterion_id": "tax_allocation", "total_count": 1, "preview_count": 1, "full_text_deferred": true, "sha256": "8e2bd813f4c51cf01f6bfaad164bafe69d2bbb192f753eac92da3a01c2e63046"}}</a:t>
            </a:r>
          </a:p>
          <a:p>
            <a:r>
              <a:t>CNPJ 62696791000193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null, "comparison_required": true, "context_formula": "Direitos creditórios / PL", "context_value": null, "context_unit": "percent"}</a:t>
            </a:r>
          </a:p>
          <a:p>
            <a:r>
              <a:t>CNPJ 62696791000193 · Alocação para tratamento tributário · Regulamento · ID 1143317 · 2026-03-20 · versão 1 · p. 30 · https://fnet.bmfbovespa.com.br/fnet/publico/visualizarDocumento?id=1143317</a:t>
            </a:r>
          </a:p>
          <a:p>
            <a:r>
              <a:t>CNPJ 62696791000193 · Alocação para tratamento tributário · Excerto da fonte:</a:t>
            </a:r>
          </a:p>
          <a:p>
            <a:r>
              <a:t>Os rendimentos distribuídos pela Classe, de modo geral, sujeitam-se à incidência do IRF à alíquota  de 20% (vinte por cento), inclusive quando distribuídos à Cotista que seja pessoa jurídica isenta.</a:t>
            </a:r>
          </a:p>
          <a:p>
            <a:r>
              <a:t> Os ganhos de capital ou rendimentos auf eridos na alienação ou no resgate de cotas da Classe  sujeitam-se à tributação pelo IRF à alíquota de 20% (vinte por cento), no caso de resgate de cotas,  ou conforme normas aplicáveis aos ganhos de capital ou ganhos líquidos auf eridos em renda  variável, nos casos de alienação de cotas.</a:t>
            </a:r>
          </a:p>
          <a:p>
            <a:r>
              <a:t> O IRF pago será considerado: (i) antecipação da tributação corporativa para os investidores pessoa  jurídica (nos regimes de lucro real, presumido ou arbitrado); e (ii) def initivo, nos demais casos,  incluindo de investidores pessoas f ísicas.</a:t>
            </a:r>
          </a:p>
          <a:p>
            <a:r>
              <a:t> Não obstante o disposto no item acima, em conf ormidade com o disposto na Lei 11.033, com a  redação dada pela Lei nº 14.754, o cotista pessoa f ísica f icará isento do IRF e na declaração de  ajuste anual, sobre as distribuições de lucro realizadas pela Classe, exclusivamente na hipótese de  a Classe, cumulativamente: (a) possuir, no mínimo, 100 (cem) cotistas; e (b) as cotas serem  admitidas à negociação exclusivamente em bolsas de valores ou no mercado de balcão organizado.</a:t>
            </a:r>
          </a:p>
          <a:p>
            <a:r>
              <a:t> O benef ício não será concedido ao Cotista que for pessoa física, titular de cotas que representem  10% (dez por cento) ou mais da totalidade das cotas emitidas pela Classe ou cujas cotas lhe derem  direito ao recebimento de rendimento superior a 10% (dez por cento) do total de rendimentos  auf eridos pela Classe.</a:t>
            </a:r>
          </a:p>
          <a:p>
            <a:r>
              <a:t> O benef ício também não será concedido aos Cotistas pessoas físicas que, individualmente ou em  conjunto com parentes até segundo grau, sejam titulares de cotas que representem 30% (trinta por  cento) ou mais da totalidade das cotas emitidas pela Classe, ou ainda cujas cotas lhes derem direito  ao recebimento de rendimento superior a 30% (trinta por cento) do total de rendimentos auf eridos  pela Classe.</a:t>
            </a:r>
          </a:p>
          <a:p>
            <a:r>
              <a:t> Não há garantia de que o benef ício f iscal atualmente vigente não venha a ser posteriormente  restringido, suspenso, revogado ou extinto por legislação superveniente, ocasião na qual poderá vir  a incidir a tributação sobre os rendimentos distribuídos pela Classe, de acordo com os termos da  legislação que vier a estabelecer a incidência tributária.</a:t>
            </a:r>
          </a:p>
          <a:p>
            <a:r>
              <a:t>CNPJ 62696791000193 · Alocação para tratamento tributário · Condição: Documentos atuais selecionados no inventário por categoria/escopo; a data documental isolada não comprova vigência jurídica.</a:t>
            </a:r>
          </a:p>
          <a:p>
            <a:r>
              <a:t>CNPJ 62696791000193 · Alocação para tratamento tributário · Versão e prevalência: Documentos atuais selecionados no inventário por categoria/escopo; a data documental isolada não comprova vigência jurídica.</a:t>
            </a:r>
          </a:p>
          <a:p>
            <a:r>
              <a:t>CNPJ 55563624000109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null, "comparison_required": true, "context_formula": "Direitos creditórios / PL", "context_value": 0.0, "context_unit": "percent"}</a:t>
            </a:r>
          </a:p>
          <a:p>
            <a:r>
              <a:t>CNPJ 55563624000109 · Alocação para tratamento tributário · Regulamento · ID 1192614 · 2026-04-30 · versão 1 · p. 38 · https://fnet.bmfbovespa.com.br/fnet/publico/visualizarDocumento?id=1192614</a:t>
            </a:r>
          </a:p>
          <a:p>
            <a:r>
              <a:t>CNPJ 55563624000109 · Alocação para tratamento tributário · Excerto da fonte:</a:t>
            </a:r>
          </a:p>
          <a:p>
            <a:r>
              <a:t>(xiii) Risco de descaracterização do regime tributário aplicável à Classe. Caso (a) a Classe deixe de  cumprir com o percentual de, pelo menos, 67% (sessenta e sete por cento) do Patrimônio Líquido  aplicado em direitos creditórios, nos termos dos artigos 18, 19 e 24 da Lei 14.754, para fins de  enquadramento do FUNDO e da Classe como “Entidade de Investimento” na forma da Resolução do  CMN nº 5.111, de 21 de dezembro de 2023, conforme alterada, ou qualquer outra norma que venha  a substitui-la, sujeitando o FUNDO e a Classe ao “Regime Específico dos Fundos Não Sujeitos à  Tributação Periódica” conforme a na Seção III da Lei 14.754 ou deixe de satisfazer qualquer uma das  condições previstas na Lei 14.754, neste Anexo e/ou no Regulamento; e/ou (b) o FUNDO ou Classe  deixe de ser enquadrado como “Entidade de Investimento” na forma da Resolução do CMN nº 5.111,  de 21 de dezembro de 2023, ou demais normas do CMN e da CVM, não é possível garantir que o  FUNDO e/ou Classe continuarão a receber o tratamento tributário destinado ao “Regime Específico  dos Fundos Não Sujeitos à Tributação Periódica”, conforme definido na legislação específica.</a:t>
            </a:r>
          </a:p>
          <a:p>
            <a:r>
              <a:t>CNPJ 55563624000109 · Alocação para tratamento tributário · Regulamento · ID 1192614 · 2026-04-30 · versão 1 · p. 6 · https://fnet.bmfbovespa.com.br/fnet/publico/visualizarDocumento?id=1192614</a:t>
            </a:r>
          </a:p>
          <a:p>
            <a:r>
              <a:t>CNPJ 55563624000109 · Alocação para tratamento tributário · Excerto da fonte:</a:t>
            </a:r>
          </a:p>
          <a:p>
            <a:r>
              <a:t>No caso de Fundos de Investimento em Direitos Creditórios (FIDC) classificados como “entidade de investimento” e  cuja carteira seja composta por, no mínimo, 67% (sessenta e sete por cento) de direitos creditórios conforme definições  prescritas em regulamentação expedida pelo Conselho Monetário Nacional, os rendimentos auferidos na amortização  ou no resgate das cotas, inclusive quando decorrentes da liquidação do FUNDO, ficam sujeitos à incidência do IRF à  alíquota de 15% (quinze por cento) sobre a diferença positiva entre o valor de amortização ou resgate e o custo de  aquisição das Cotas.</a:t>
            </a:r>
          </a:p>
          <a:p>
            <a:r>
              <a:t>CNPJ 55563624000109 · Alocação para tratamento tributário · Condição: Documentos atuais selecionados no inventário por categoria/escopo; a data documental isolada não comprova vigência jurídica.</a:t>
            </a:r>
          </a:p>
          <a:p>
            <a:r>
              <a:t>CNPJ 55563624000109 · Alocação para tratamento tributário · Versão e prevalência: Documentos atuais selecionados no inventário por categoria/escopo; a data documental isolada não comprova vigência jurídica.</a:t>
            </a:r>
          </a:p>
          <a:p>
            <a:r>
              <a:t>CNPJ 55563624000109 · Alocação para tratamento tributário · Resumo do histórico: {"count": 2, "dates": ["2025-01-31", "2026-01-31"], "document_count": 2, "sources": [{"document_id": "1178840", "title": "Demonstrações Financeiras", "reference_date": "2026-01-31", "version": "1", "page": 23, "url": "https://fnet.bmfbovespa.com.br/fnet/publico/visualizarDocumento?id=1178840", "sha256": "c458e98664c5c907ddb5a05a94b120bed4e05295b2bfc420f5ba69af0a229abe"}, {"document_id": "891861", "title": "Demonstrações Financeiras", "reference_date": "2025-01-31", "version": "1", "page": 24, "url": "https://fnet.bmfbovespa.com.br/fnet/publico/visualizarDocumento?id=891861", "sha256": "e9cb9e6ddbe505fe068cfcac33605165a98313489de0d3ce6d4d238263c3f3e7"}], "reference": {"path": "history/55563624000109.json", "criterion_id": "tax_allocation", "total_count": 2, "preview_count": 2, "full_text_deferred": true, "sha256": "7835d573fb58a3c19adf5b8ecc2aee2bdbb9a88f7a0c0209b5f262b64c7522e3"}}</a:t>
            </a:r>
          </a:p>
          <a:p>
            <a:r>
              <a:t>CNPJ 62552447000120 · Alocação para tratamento tributário · Base da comparação IME: {"criterion_id": "tax_allocation", "observed_value": 104.36099466414683, "unit": "percent", "competence": "08/2026", "status": "not_comparable", "reason": "Vigência efetiva não comprovada; data do documento isolada não certifica enquadramento histórico.", "formula": "credit_rights / net_asset_value × 100",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67.0}</a:t>
            </a:r>
          </a:p>
          <a:p>
            <a:r>
              <a:t>CNPJ 62552447000120 · Alocação para tratamento tributário · Regulamento · ID 1200623 · 21/05/2026 · versão Consolidado21/05/2026 aprovado pelo ato1200625 · p. 14 · AnexoI4.9 · https://fnet.bmfbovespa.com.br/fnet/publico/visualizarDocumento?id=1200623</a:t>
            </a:r>
          </a:p>
          <a:p>
            <a:r>
              <a:t>CNPJ 62552447000120 · Alocação para tratamento tributário · Excerto da fonte:</a:t>
            </a:r>
          </a:p>
          <a:p>
            <a:r>
              <a:t>4.9 Decorridos 180 (cento e oitenta) dias da Data da Primeira Integralização, a Classe deverá manter alocados em Direitos Creditórios, no mínimo, para fins tributários, 67% (sessenta e sete por cento) do seu Patrimônio Líquido, nos termos da Lei 14.754 e da Resolução CMN 5.111, e, para fins regulatórios, 50% (cinquenta por cento) do seu Patrimônio Líquido, nos termos da Resolução CVM 175. Eventual desenquadramento da Carteira obrigará o Gestor aos procedimentos de desenquadramento e reenquadramento previstos na Lei 14.754 e na Resolução CMN 5.111, para f ins tributários, e na Resolução CVM 175, par</a:t>
            </a:r>
          </a:p>
          <a:p>
            <a:r>
              <a:t>CNPJ 62552447000120 · Alocação para tratamento tributário · Mecânica: {"operator": "&gt;=", "unit": "percent", "numerator": "credit_rights", "denominator": "net_asset_value", "frequency": "not_stated", "layer": "class", "effective_status": "document_date_only", "document_date": "2026-05-21", "requires_initial_date": true, "limit": 67.0}</a:t>
            </a:r>
          </a:p>
          <a:p>
            <a:r>
              <a:t>CNPJ 62552447000120 · Alocação para tratamento tributário · Versão e prevalência: Leitura específica das cláusulas indicadas; condições e conflitos preservados. Seleção documental atual não comprova vigência jurídica por data isolada.</a:t>
            </a:r>
          </a:p>
          <a:p>
            <a:r>
              <a:t>CNPJ 63953620000165 · Alocação para tratamento tributário · Base da comparação IME: {"criterion_id": "tax_allocation", "observed_value": 93.29241106598856, "unit": "percent", "competence": "08/2026", "status": "not_comparable", "reason": "Vigência efetiva não comprovada; data do documento isolada não certifica enquadramento histórico.", "formula": "credit_rights / net_asset_value × 100",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67.0}</a:t>
            </a:r>
          </a:p>
          <a:p>
            <a:r>
              <a:t>CNPJ 63953620000165 · Alocação para tratamento tributário · Anexo ao Regulamento · ID 1222863 · 02/06/2026 · versão AnexoConsignadoPrivado02/06/2026 · p. 6 · 4.13 · https://fnet.bmfbovespa.com.br/fnet/publico/visualizarDocumento?id=1222863</a:t>
            </a:r>
          </a:p>
          <a:p>
            <a:r>
              <a:t>CNPJ 63953620000165 · Alocação para tratamento tributário · Excerto da fonte:</a:t>
            </a:r>
          </a:p>
          <a:p>
            <a:r>
              <a:t>4.13 Decorridos 180 (cento e oitenta) dias do início de suas atividades, a Classe deverá manter alocado, no mínimo, para fins tributários, 67% (sessenta e sete por cento) do seu Patrimônio Líquido em Direitos Creditórios, nos termos da Resolução CMN 5.111, e para fins regulatórios, 50% (cinquenta por cento) do seu Patrimônio Líquido em Direitos Creditórios, nos termos da Resolução CVM 175. 4.14 Nos termos do Art. 45, §7º, inciso II, do Anexo Normativo II da Resolução CVM 175, a Classe poderá ter até 100% (cem por cento) de seu Patrimônio Líquido alocado em Direitos Creditórios, derivativos, observado o disposto nest</a:t>
            </a:r>
          </a:p>
          <a:p>
            <a:r>
              <a:t>CNPJ 63953620000165 · Alocação para tratamento tributário · Mecânica: {"operator": "&gt;=", "unit": "percent", "denominator": "net_asset_value", "frequency": "not_stated", "layer": "class", "effective_status": "document_date_only", "document_date": "2026-06-02", "limit": 67.0, "numerator": "credit_rights", "requires_initial_date": true}</a:t>
            </a:r>
          </a:p>
          <a:p>
            <a:r>
              <a:t>CNPJ 63953620000165 · Alocação para tratamento tributário · Versão e prevalência: Leitura específica das cláusulas indicadas; condições e conflitos preservados. Seleção documental atual não comprova vigência jurídica por data isolada.</a:t>
            </a:r>
          </a:p>
          <a:p>
            <a:r>
              <a:t>CNPJ 54871427000194 · Classes investidas e limites do FIC · Demonstrações Financeiras - Fusão, cisão e incorporação · ID 1219522 · 2026-02-02 · versão 1 · p. 31 · https://fnet.bmfbovespa.com.br/fnet/publico/visualizarDocumento?id=1219522</a:t>
            </a:r>
          </a:p>
          <a:p>
            <a:r>
              <a:t>CNPJ 54871427000194 · Classes investidas e limites do FIC · Excerto da fonte:</a:t>
            </a:r>
          </a:p>
          <a:p>
            <a:r>
              <a:t>xv) Risco Regulatório e Judicial. Eventuais alterações ou novas normas ou leis aplicáveis à Classe,  seus ativos e a eventuais fundos investidos, incluindo, mas não se limitando àquelas referentes  a tributos, bem como decisões judiciais ou jurisprudência aplicando as regulamentações  existentes ou interpretando novas regulamentações, podem causar um efeito adverso relevante  no preço dos ativos e/ou na performance das posições financeiras adquiridas pela Classe e/ou  pelos fundos Investidos. Ainda, nesse sentido, poderão ocorrer interferências de autoridades  governamentais e órgãos reguladores na regulação dos mercados, bem como alterações das  políticas monetária e cambial. Tais eventos poderão impactar de maneira adversa o valor das  Cotas.</a:t>
            </a:r>
          </a:p>
          <a:p>
            <a:r>
              <a:t>CNPJ 54871427000194 · Classes investidas e limites do FIC · Condição: Documentos atuais selecionados no inventário por categoria/escopo; a data documental isolada não comprova vigência jurídica.</a:t>
            </a:r>
          </a:p>
          <a:p>
            <a:r>
              <a:t>CNPJ 54871427000194 · Classes investidas e limites do FIC · Versão e prevalência: Documentos atuais selecionados no inventário por categoria/escopo; a data documental isolada não comprova vigência jurídica.</a:t>
            </a:r>
          </a:p>
          <a:p>
            <a:r>
              <a:t>CNPJ 54871427000194 · Classes investidas e limites do FIC · Resumo do histórico: {"count": 5, "dates": ["2024-12-31", "2025-01-01", "2025-12-31"], "document_count": 3, "sources": [{"document_id": "1151805", "title": "Demonstrações Financeiras", "reference_date": "2025-12-31", "version": "1", "page": 31, "url": "https://fnet.bmfbovespa.com.br/fnet/publico/visualizarDocumento?id=1151805", "sha256": "f1cea70b152968bf96ef9221b27225953cb20aeef487b2798db3c25e11b528d4"}, {"document_id": "869529", "title": "Demonstrações Financeiras", "reference_date": "2025-01-01", "version": "1", "page": 32, "url": "https://fnet.bmfbovespa.com.br/fnet/publico/visualizarDocumento?id=869529", "sha256": "9a93a9369ac8efdbc54ff8fcee3ccac3abf88edab4807b9323d3852450771b2a"}, {"document_id": "870070", "title": "Demonstrações Financeiras", "reference_date": "2024-12-31", "version": "1", "page": 32, "url": "https://fnet.bmfbovespa.com.br/fnet/publico/visualizarDocumento?id=870070", "sha256": "9a93a9369ac8efdbc54ff8fcee3ccac3abf88edab4807b9323d3852450771b2a"}], "reference": {"path": "history/54871427000194.json", "criterion_id": "investee", "total_count": 5, "preview_count": 3, "full_text_deferred": true, "sha256": "35d7cd99be50c7287c9fb675cf4f2e736002315295a225a9efa79c8d9186d874"}}</a:t>
            </a:r>
          </a:p>
          <a:p>
            <a:r>
              <a:t>CNPJ 60010416000112 · Classes investidas e limites do FIC · Motivo: Não localizada uma cláusula material para este critério nos textos identificados e processados. A ausência de resultado não comprova inexistência da regra.</a:t>
            </a:r>
          </a:p>
          <a:p>
            <a:r>
              <a:t>CNPJ 62696791000193 · Classes investidas e limites do FIC · Regulamento · ID 1143317 · 20/03/2026 · versão Regulamento — referência 20/03/2026 · p. 7 · Anexo I, 1.1, Objetivo, categoria Geral · https://fnet.bmfbovespa.com.br/fnet/publico/visualizarDocumento?id=1143317</a:t>
            </a:r>
          </a:p>
          <a:p>
            <a:r>
              <a:t>CNPJ 62696791000193 · Classes investidas e limites do FIC · Excerto da fonte:</a:t>
            </a:r>
          </a:p>
          <a:p>
            <a:r>
              <a:t>(D) Categoria “Geral” (“Ativos em Geral do Agronegócio”): (i) cotas de classes que apliquem mais de 50% (cinquenta por cento) de seu patrimônio líquido nos ativos referidos nos incisos “A” a “D” acima, o que inclui cotas de outros FIAGRO, mas não se limita a essa categoria de f undos. Os Ativos Imobiliários do Agronegócio, Participações do Agronegócio, Ativos Financeiros do Agronegócio e Ativos em Geral do Agronegócio, quando ref eridos em conjunto, os “Outros Ativos”. Não há limites máximos de aplicação por emissor ou devedor, em função de um percentual do Patrimônio Líquido. O objetivo da Classe não representa, sob qualquer hipótese, garantia da Classe ou de seus Prestadores de Serviços Essenciais e/ou da Cogestora quanto à segurança, rentabilidade e liquidez dos títu</a:t>
            </a:r>
          </a:p>
          <a:p>
            <a:r>
              <a:t>CNPJ 62696791000193 · Classes investidas e limites do FIC · Regulamento · ID 1143317 · 20/03/2026 · versão Regulamento — referência 20/03/2026 · p. 11 · Anexo I, 4.8–4.9 · https://fnet.bmfbovespa.com.br/fnet/publico/visualizarDocumento?id=1143317</a:t>
            </a:r>
          </a:p>
          <a:p>
            <a:r>
              <a:t>CNPJ 62696791000193 · Classes investidas e limites do FIC · Excerto da fonte:</a:t>
            </a:r>
          </a:p>
          <a:p>
            <a:r>
              <a:t>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relacionadas ao Gestor. 4.8.1 As aplicações em Direitos Creditórios do Agronegócio decorrentes de receitas públicas originárias ou derivadas da União, dos Estados, do Distrito Federal e dos Municípios ou de suas autarquias e f undações, assim como em Direitos Creditórios do Agronegócio cedidos ou originados por empresas controladas pelo poder público, não estão submetidas ao limite de concentração por emissor previsto no caput. 4.9 Nos termos do Art. 45 do Anexo</a:t>
            </a:r>
          </a:p>
          <a:p>
            <a:r>
              <a:t>CNPJ 62696791000193 · Classes investidas e limites do FIC · Condição: O regulamento não identifica CNPJs de classes efetivamente investidas. Permissão de investimento não comprova posição.</a:t>
            </a:r>
          </a:p>
          <a:p>
            <a:r>
              <a:t>CNPJ 62696791000193 · Classes investidas e limites do FIC · Versão e prevalência: Leitura específica das cláusulas indicadas; condições e conflitos preservados. Seleção documental atual não comprova vigência jurídica por data isolada.</a:t>
            </a:r>
          </a:p>
          <a:p>
            <a:r>
              <a:t>CNPJ 55563624000109 · Classes investidas e limites do FIC · Regulamento · ID 1192614 · 30/04/2026 · versão Regulamento30/04/2026 · p. 11 · AnexoI4.1 · https://fnet.bmfbovespa.com.br/fnet/publico/visualizarDocumento?id=1192614</a:t>
            </a:r>
          </a:p>
          <a:p>
            <a:r>
              <a:t>CNPJ 55563624000109 · Classes investidas e limites do FIC · Excerto da fonte:</a:t>
            </a:r>
          </a:p>
          <a:p>
            <a:r>
              <a:t>4.1 Observados os demais termos deste Anexo, o objetivo da Classe é investir seus recursos em (i) cotas subordinadas mezanino de emissão da classe única do MERCADO CRÉDITO II BRASIL FUNDO DE INVESTIMENTO EM DIREITOS CREDITÓRIOS NÃO PADRONIZADOS, fundo de investimento em direitos creditórios inscrito no CNPJ sob o nº 41.970.012/0001-26 (“Cotas da Classe Investida” e “Classe Investida”, respectivamente), a qual, por sua vez, aplica seus recursos preponderantemente em direitos creditórios originados pela Mercado Pago, de acordo com os termos e condições est</a:t>
            </a:r>
          </a:p>
          <a:p>
            <a:r>
              <a:t>CNPJ 55563624000109 · Classes investidas e limites do FIC · Condição: Vínculo contratual identificado; quantidade de cotas efetivamente detida exige posição do FIC. Não somar PL do FIC e do investido.</a:t>
            </a:r>
          </a:p>
          <a:p>
            <a:r>
              <a:t>CNPJ 55563624000109 · Classes investidas e limites do FIC · Versão e prevalência: Leitura específica das cláusulas indicadas; condições e conflitos preservados. Seleção documental atual não comprova vigência jurídica por data isolada.</a:t>
            </a:r>
          </a:p>
          <a:p>
            <a:r>
              <a:t>CNPJ 55563624000109 · Classes investidas e limites do FIC · Resumo do histórico: {"count": 2, "dates": ["2025-01-31", "2026-01-31"], "document_count": 2, "sources": [{"document_id": "1178840", "title": "Demonstrações Financeiras", "reference_date": "2026-01-31", "version": "1", "page": 4, "url": "https://fnet.bmfbovespa.com.br/fnet/publico/visualizarDocumento?id=1178840", "sha256": "c458e98664c5c907ddb5a05a94b120bed4e05295b2bfc420f5ba69af0a229abe"}, {"document_id": "891861", "title": "Demonstrações Financeiras", "reference_date": "2025-01-31", "version": "1", "page": 18, "url": "https://fnet.bmfbovespa.com.br/fnet/publico/visualizarDocumento?id=891861", "sha256": "e9cb9e6ddbe505fe068cfcac33605165a98313489de0d3ce6d4d238263c3f3e7"}], "reference": {"path": "history/55563624000109.json", "criterion_id": "investee", "total_count": 2, "preview_count": 2, "full_text_deferred": true, "sha256": "7835d573fb58a3c19adf5b8ecc2aee2bdbb9a88f7a0c0209b5f262b64c7522e3"}}</a:t>
            </a:r>
          </a:p>
          <a:p>
            <a:r>
              <a:t>CNPJ 62552447000120 · Classes investidas e limites do FIC · Regulamento · ID 1200623 · 2026-05-21 · versão 1 · p. 6 · https://fnet.bmfbovespa.com.br/fnet/publico/visualizarDocumento?id=1200623</a:t>
            </a:r>
          </a:p>
          <a:p>
            <a:r>
              <a:t>CNPJ 62552447000120 · Classes investidas e limites do FIC · Excerto da fonte:</a:t>
            </a:r>
          </a:p>
          <a:p>
            <a:r>
              <a:t>integrantes do conglomerado econômico de instituições  f inanceiras classificadas como S1 pelo Banco Central do  Brasil (“BACEN” e “Instituições Financeiras S1”,  respectivamente), desde que não representem títulos de  emissão ou coobrigação de instituições financeiras, bem  como cotas de f undos de investimento que invistam  preponderantemente nestes direitos, títulos e/ou valores  mobiliários; e</a:t>
            </a:r>
          </a:p>
          <a:p>
            <a:r>
              <a:t> (d) “Direitos Creditórios Refinanciamento Livre”, na forma  de CCBs originadas no âmbito de um refinanciamento, de  acordo com a política de cobrança vigente, de Direitos  Creditórios Consignado Privado e de Direitos Creditórios  FGTS, que não contem com o lastro de Consignação ou  de cessão f iduciária do Saque-Aniversário,  respectivamente; e</a:t>
            </a:r>
          </a:p>
          <a:p>
            <a:r>
              <a:t> (ii) “Ativos Financeiros”, assim entendidos como, em conjunto:</a:t>
            </a:r>
          </a:p>
          <a:p>
            <a:r>
              <a:t> (a) moeda corrente nacional;</a:t>
            </a:r>
          </a:p>
          <a:p>
            <a:r>
              <a:t> (b) títulos públicos f ederais;</a:t>
            </a:r>
          </a:p>
          <a:p>
            <a:r>
              <a:t> (c) ativos f inanceiros de renda f ixa de emissão ou  coobrigação de Instituições Financeiras S1;</a:t>
            </a:r>
          </a:p>
          <a:p>
            <a:r>
              <a:t> (d) operações compromissadas, desde que lastreadas nos  títulos mencionados nas alíneas (b) e (c) acima; e</a:t>
            </a:r>
          </a:p>
          <a:p>
            <a:r>
              <a:t> (e) cotas do BTG Pactual Tesouro Selic Fundo de  Investimento Renda Fixa Ref erenciado DI, inscrito no  CNPJ sob o nº 09.215.250/0001-13;</a:t>
            </a:r>
          </a:p>
          <a:p>
            <a:r>
              <a:t> observados todos os limites de composição e diversificação da carteira da  Classe (“Carteira”), estabelecidos neste Regulamento e na  regulamentação aplicável.</a:t>
            </a:r>
          </a:p>
          <a:p>
            <a:r>
              <a:t> O objetivo da Classe não representa, sob qualquer hipótese, promessa,  garantia ou sugestão da Classe ou de seus Prestadores de Serviços  Essenciais quanto à segurança, rentabilidade e liquidez dos títulos  componentes de sua Carteira.</a:t>
            </a:r>
          </a:p>
          <a:p>
            <a:r>
              <a:t>CNPJ 62552447000120 · Classes investidas e limites do FIC · Condição: Documentos atuais selecionados no inventário por categoria/escopo; a data documental isolada não comprova vigência jurídica.</a:t>
            </a:r>
          </a:p>
          <a:p>
            <a:r>
              <a:t>CNPJ 62552447000120 · Classes investidas e limites do FIC · Versão e prevalência: Documentos atuais selecionados no inventário por categoria/escopo; a data documental isolada não comprova vigência jurídica.</a:t>
            </a:r>
          </a:p>
          <a:p>
            <a:r>
              <a:t>CNPJ 63953620000165 · Classes investidas e limites do FIC · Motivo: Não localizada uma cláusula material para este critério nos textos identificados e processados. A ausência de resultado não comprova inexistência da regra.</a:t>
            </a:r>
          </a:p>
          <a:p>
            <a:r>
              <a:t>CNPJ 54871427000194 · Classe, subclasse e responsabilidade · Regulamento · ID 670691 · 2024-04-28 · versão 1 · p. 29 · https://fnet.bmfbovespa.com.br/fnet/publico/visualizarDocumento?id=670691</a:t>
            </a:r>
          </a:p>
          <a:p>
            <a:r>
              <a:t>CNPJ 54871427000194 · Classe, subclasse e responsabilidade · Excerto da fonte:</a:t>
            </a:r>
          </a:p>
          <a:p>
            <a:r>
              <a:t>Anexo I ao Regulamento CLASSE ÚNICA DE RESPONSABILIDADE LIMITADA DO CONSIGNADO DELTA RECEIVABLES I FUNDO DE INVESTIMENTO EM DIREITOS CREDITÓRIOS  pelo Endossante e depositados em seu conta de sua titularidade para posterior repasse à  Classe. Neste caso, a Classe poderá sofrer perdas principalmente em relação ao atraso na  regularização da titularidade e pagamento dos Direitos Creditórios.</a:t>
            </a:r>
          </a:p>
          <a:p>
            <a:r>
              <a:t> (v) Risco de pré-pagamento dos Direitos Creditórios. A ocorrência de pré-  pagamentos em relação a um ou mais Direitos Creditórios poderá ocasionar perdas à Classe.</a:t>
            </a:r>
          </a:p>
          <a:p>
            <a:r>
              <a:t> A ocorrência de pré-pagamentos (pagamento em data anterior àquela originalmente pactuada)  de Direitos Creditórios reduz o horizonte original de rendimentos esperados pela Classe de  tais Direitos Creditórios, uma vez que o pré-pagamento poderá, se assim permitido pela  documentação do Direito Creditório ou, conf orme o caso, pela legislação aplicável, ser  realizado pelo valor de emissão do Direito Creditório atualizado até a data do pré-pagamento  pela taxa de juros pactuada entre os Endossantes e os Devedores de tais Direitos Creditórios,  de modo que os juros remuneratórios incidentes desde a data da realização do pré-pagamento  até a data de vencimento do respectivo Direito Creditório deixam de ser devidos à Classe.</a:t>
            </a:r>
          </a:p>
          <a:p>
            <a:r>
              <a:t> (vi) Riscos associados aos Devedores: os Direitos Creditórios a serem cedidos à  Classe serão descontados da remuneração do Devedor, através de desconto em f olha de  pagamento ou de benefício. Nesse sentido, na ocorrência de pré-pagamento, as parcelas  serão pagas antecipadamente e a Classe deverá utilizar tais montantes no pré-pagamento dos  Direitos Creditórios. Nesta hipótese, a Classe poderá não encontrar Direitos Creditórios  disponíveis para serem adquiridos pela Classe, o que poderá afetar a rentabilidade da Classe.</a:t>
            </a:r>
          </a:p>
          <a:p>
            <a:r>
              <a:t> (vii) Risco de Competição: o mercado de empréstimos experimentou grande  expansão no Brasil nos últimos anos. Nesse contexto, a Resolução CMN nº 4.292, alterada  pela Resolução nº 4.762, de 27 de novembro de 2019, dispõe que deve ser garantido às  pessoas naturais devedoras de operações de crédito (tais como as CCB) a possibilidade de  realizarem a portabilidade destas operações para outras instituições financeiras, inclusive nos  casos em que tenham sido objeto de cessão (tais como as realizadas à Classe). Nesse  cenário, é possível que os competidores do Endossante ofereçam condições e taxas mais  vantajosas para os empréstimos pessoais com consignação em f olha de pagamento ou de  benef ícios, o que pode causar a migração de clientes da Endossante para outras instituições  f inanceiras, gerando a liquidação antecipada de parte das CCB existentes e/ou redução no  número de Direitos Creditórios cedidos. Referida competição poderá af etar os resultados da  Classe, impactando negativamente os rendimentos dos Cotistas. Ainda, a portabilidade a um  Devedor pode acarretar no recebimento de valores inf eriores aos esperados pela Classe.</a:t>
            </a:r>
          </a:p>
          <a:p>
            <a:r>
              <a:t> (viii) Insuf iciência dos Critérios de Elegibilidade. Os Critérios de Elegibilidade têm a  f inalidade de selecionar os Direitos Creditórios passíveis de aquisição pela Classe. Não  obstante tais Critérios de Elegibilidade, a solvência dos Direitos Creditórios que compõem a  Carteira depende integralmente, mas não somente, da situação econômico-financeira dos  Devedores. Dessa f orma, a observância pelo GESTOR dos Critérios de Elegibilidade não  constitui garantia de adimplência dos Devedores.</a:t>
            </a:r>
          </a:p>
          <a:p>
            <a:r>
              <a:t> Os Endossantes não necessariamente garantem a solvência dos seus respectivos Devedores.</a:t>
            </a:r>
          </a:p>
          <a:p>
            <a:r>
              <a:t> O Endossante dos Direitos Creditórios não assumirá responsabilidade pelo seu pagamento ou  pela solvência dos respectivos Devedores. A Classe sofrerá o impacto do inadimplemento dos  Direitos Creditórios vencidos e não pagos pelos respectivos Devedores.</a:t>
            </a:r>
          </a:p>
          <a:p>
            <a:r>
              <a:t> (ix) Possibilidade de aquisição de Direitos Creditórios cedidos por Endossante  e/ou devidos por Devedores cujas demonstrações financeiras não sejam auditadas. A Classe,  desde que sejam respeitados os limites de concentração previstos neste Regulamento, poderá  manter a qualquer tempo em sua Carteira, Direitos Creditórios cedidos por Endossante e/ou  devidos por Devedores cujas demonstrações f inanceiras não sejam auditadas por Auditor  Independente registrado na CVM. Nesse sentido, não haverá verificação independente sobre  tais demonstrações f inanceiras que af irme se estas representam adequadamente, em todos  os aspectos relevantes, as respectivas posições patrimoniais e f inanceiras, os resultados de  suas operações, as mutações de seus respectivos patrimônios líquidos tampouco as origens  e aplicações de seus recursos.</a:t>
            </a:r>
          </a:p>
          <a:p>
            <a:r>
              <a:t>CNPJ 54871427000194 · Classe, subclasse e responsabilidade · Regulamento · ID 670691 · 2024-04-28 · versão 1 · p. 15 · 7.2 · https://fnet.bmfbovespa.com.br/fnet/publico/visualizarDocumento?id=670691</a:t>
            </a:r>
          </a:p>
          <a:p>
            <a:r>
              <a:t>CNPJ 54871427000194 · Classe, subclasse e responsabilidade · Excerto da fonte:</a:t>
            </a:r>
          </a:p>
          <a:p>
            <a:r>
              <a:t>7.2 As amortizações de Cotas serão realizadas a qualquer tempo, a critério do GESTOR, observada a  disponibilidade de recursos da Classe Única e a ordem de alocação de recursos prevista neste Anexo  Descritivo.</a:t>
            </a:r>
          </a:p>
          <a:p>
            <a:r>
              <a:t>CNPJ 54871427000194 · Classe, subclasse e responsabilidade · Instrumento Particular de Alteração do Regulamento · ID 670690 · 2024-05-28 · versão 1 · p. 1 · https://fnet.bmfbovespa.com.br/fnet/publico/visualizarDocumento?id=670690</a:t>
            </a:r>
          </a:p>
          <a:p>
            <a:r>
              <a:t>CNPJ 54871427000194 · Classe, subclasse e responsabilidade · Excerto da fonte:</a:t>
            </a:r>
          </a:p>
          <a:p>
            <a:r>
              <a:t>ATA DA ASSEMBLEIA ESPECIAL DE COTISTAS  CLASSE ÚNICA DE RESPONSABILIDADE LIMITADA DO CONSIGNADO DELTA RECEIVABLES I  FUNDO DE INVESTIMENTO EM DIREITOS CREDITÓRIOS  CNPJ nº 54.871.427/0001-94  (“Classe Única” e “Fundo”, respectivamente)</a:t>
            </a:r>
          </a:p>
          <a:p>
            <a:r>
              <a:t>CNPJ 54871427000194 · Classe, subclasse e responsabilidade · Condição: Documentos atuais selecionados no inventário por categoria/escopo; a data documental isolada não comprova vigência jurídica.</a:t>
            </a:r>
          </a:p>
          <a:p>
            <a:r>
              <a:t>CNPJ 54871427000194 · Classe, subclasse e responsabilidade · Versão e prevalência: Documentos atuais selecionados no inventário por categoria/escopo; a data documental isolada não comprova vigência jurídica.</a:t>
            </a:r>
          </a:p>
          <a:p>
            <a:r>
              <a:t>CNPJ 54871427000194 · Classe, subclasse e responsabilidade · Resumo do histórico: {"count": 4, "dates": ["2024-04-19", "2024-04-28", "2024-05-24"], "document_count": 3, "sources": [{"document_id": "668387", "title": "Instrumento Particular de Emissão de Cotas", "reference_date": "2024-05-24", "version": "1", "page": 1, "url": "https://fnet.bmfbovespa.com.br/fnet/publico/visualizarDocumento?id=668387", "sha256": "be2913bed5f468a7399afcd27f92bac2083451584ee580b5054e9f525e68cc4a"}, {"document_id": "670691", "title": "Regulamento", "reference_date": "2024-04-28", "version": "1", "page": 29, "url": "https://fnet.bmfbovespa.com.br/fnet/publico/visualizarDocumento?id=670691", "sha256": "bf16dd7f1a62d5cdbf2e2d54fef81783783f7310fbc99c3a8f00459bdf9d037b"}, {"document_id": "670687", "title": "Instrumento Particular de Constituição/Encerramento do Fundo", "reference_date": "2024-04-19", "version": "1", "page": 1, "url": "https://fnet.bmfbovespa.com.br/fnet/publico/visualizarDocumento?id=670687", "sha256": "999f2a47d39f7022b0fcee3d16fd1db33948537b897e92c4c9e14b436bf5eb96"}], "reference": {"path": "history/54871427000194.json", "criterion_id": "perimeter", "total_count": 4, "preview_count": 3, "full_text_deferred": true, "sha256": "35d7cd99be50c7287c9fb675cf4f2e736002315295a225a9efa79c8d9186d874"}}</a:t>
            </a:r>
          </a:p>
          <a:p>
            <a:r>
              <a:t>CNPJ 60010416000112 · Classe, subclasse e responsabilidade · Regulamento · ID 1051393 · 2025-10-09 · versão 1 · p. 10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a:t>
            </a:r>
          </a:p>
          <a:p>
            <a:r>
              <a:t> (ii) o saldo dos Direitos Creditórios devidos pelo mesmo Devedor à Classe, considerando, pro  forma, o endosso pretendido, não deverá exceder R$ 100.000,00 (cem mil reais), observado  o disposto no item 4.4.1 abaixo;</a:t>
            </a:r>
          </a:p>
          <a:p>
            <a:r>
              <a:t> (iii) o prazo de vencimento das CCB representativas dos Direitos Creditórios deverá ser, no  máximo, equivalente ao prazo máximo permitido pelas leis e regulamentações aplicáveis; e</a:t>
            </a:r>
          </a:p>
          <a:p>
            <a:r>
              <a:t> (iv) os Direitos Creditórios não poderão ser devidos por Devedores que tenham acima de 64  (sessenta e quatro) anos 11 (onze) meses e 29 (vinte e nove) dias na data de emissão da  respectiva CCB.</a:t>
            </a:r>
          </a:p>
          <a:p>
            <a:r>
              <a:t>CNPJ 60010416000112 · Classe, subclasse e responsabilidade · Regulamento · ID 1051393 · 2025-10-09 · versão 1 · p. 11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  com a transf erência, à Classe, de f orma definitiva, sem coobrigação do Endossante, da plena  titularidade desse Direito Creditório, juntamente com todos os direitos, privilégios, pref erências,  prerrogativas, garantias e ações a ele relacionados, bem como correção monetária, juros e  encargos, sem prejuízo do direito da Classe (i) de exigir a recompra compulsória do respectivo  Direito Creditório, de acordo com os termos do Contrato de Endosso; ou (ii) de vender Direitos  Creditórios ao Agente de Retenção/Cobrança (opção de venda), em ambos os casos estritamente  nos termos do Contrato de Endosso.</a:t>
            </a:r>
          </a:p>
          <a:p>
            <a:r>
              <a:t>CNPJ 60010416000112 · Classe, subclasse e responsabilidade · Regulamento · ID 1051393 · 2025-10-09 · versão 1 · p. 18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a:t>
            </a:r>
          </a:p>
          <a:p>
            <a:r>
              <a:t> (ii) alterar este Anexo I e seus complementos, incluindo mas não se limitando aos Apêndices de cada  uma das subclasses;</a:t>
            </a:r>
          </a:p>
          <a:p>
            <a:r>
              <a:t> (iii) deliberar sobre substituição de Prestadores de Serviços Essenciais, observado o disposto no Art.</a:t>
            </a:r>
          </a:p>
          <a:p>
            <a:r>
              <a:t> 70, §1º da parte geral da Resolução CVM 175, quando aplicável, ou do Custodiante;</a:t>
            </a:r>
          </a:p>
          <a:p>
            <a:r>
              <a:t> (iv) deliberar sobre elevação da Taxa de Administração, inclusive na hipótese de restabelecimento de  taxa que tenha sido objeto de redução;</a:t>
            </a:r>
          </a:p>
          <a:p>
            <a:r>
              <a:t> (v) deliberar sobre incorporação, fusão, cisão total ou parcial, a transformação ou liquidação da Classe;</a:t>
            </a:r>
          </a:p>
          <a:p>
            <a:r>
              <a:t> (vi) alterações das características, vantagens, direitos e obrigações das Cotas;</a:t>
            </a:r>
          </a:p>
          <a:p>
            <a:r>
              <a:t> (vii) alterar critérios e procedimentos para Amortização e/ou resgate de Cotas mediante dação em  pagamento de Direitos Creditórios;</a:t>
            </a:r>
          </a:p>
          <a:p>
            <a:r>
              <a:t> (viii) aprovar a contratação de Agente de Retenção/Cobrança dos Direitos Creditórios Inadimplidos, bem  como decidir sobre sua substituição ou destituição;</a:t>
            </a:r>
          </a:p>
          <a:p>
            <a:r>
              <a:t> (ix) alterar a f orma de amortização do principal e dos valores acumulados relacionados às Cotas;</a:t>
            </a:r>
          </a:p>
          <a:p>
            <a:r>
              <a:t> (x) aprovar emissão de novas Cotas da Classe, em montante além do Capital Autorizado;</a:t>
            </a:r>
          </a:p>
          <a:p>
            <a:r>
              <a:t> (xi) deliberar sobre a eventual necessidade de aportes adicionais de recursos na Classe pelos Cotistas;</a:t>
            </a:r>
          </a:p>
          <a:p>
            <a:r>
              <a:t> (xii) alterações na Política de Investimentos;</a:t>
            </a:r>
          </a:p>
          <a:p>
            <a:r>
              <a:t> (xiii) alterações nos Critérios de Elegibilidade;</a:t>
            </a:r>
          </a:p>
          <a:p>
            <a:r>
              <a:t> (xiv) decidir se um Evento de Avaliação será considerado como Evento de Liquidação, sujeito a este  Regulamento;</a:t>
            </a:r>
          </a:p>
          <a:p>
            <a:r>
              <a:t> (xv) decidir, na ocorrência de qualquer Evento de Liquidação, se esse Evento de Liquidação não deverá  causar a liquidação antecipada da Classe;</a:t>
            </a:r>
          </a:p>
          <a:p>
            <a:r>
              <a:t> (xvi) plano de resolução do Patrimônio Líquido negativo da Classe, nos termos da Resolução CVM 175;</a:t>
            </a:r>
          </a:p>
          <a:p>
            <a:r>
              <a:t> (xvii)pedido de declaração judicial de insolvência da Classe; e</a:t>
            </a:r>
          </a:p>
          <a:p>
            <a:r>
              <a:t> (xviii) deliberar sobre a alteração da data de resgate e/ou prazo de duração de cada Série de Cotas  Seniores, do Benchmark, bem como de quaisquer outras características de qualquer Série de Cotas  Seniores;</a:t>
            </a:r>
          </a:p>
          <a:p>
            <a:r>
              <a:t>CNPJ 60010416000112 · Classe, subclasse e responsabilidade · Condição: Documentos atuais selecionados no inventário por categoria/escopo; a data documental isolada não comprova vigência jurídica.</a:t>
            </a:r>
          </a:p>
          <a:p>
            <a:r>
              <a:t>CNPJ 60010416000112 · Classe, subclasse e responsabilidade · Versão e prevalência: Documentos atuais selecionados no inventário por categoria/escopo; a data documental isolada não comprova vigência jurídica.</a:t>
            </a:r>
          </a:p>
          <a:p>
            <a:r>
              <a:t>CNPJ 60010416000112 · Classe, subclasse e responsabilidade · Resumo do histórico: {"count": 1, "dates": ["2025-05-12"], "document_count": 1, "sources": [{"document_id": "1004656", "title": "AGE", "reference_date": "2025-05-12", "version": "1", "page": 4, "url": "https://fnet.bmfbovespa.com.br/fnet/publico/visualizarDocumento?id=1004656", "sha256": "f6c9c009f6170e2b29f074b98522accec73f0c40efbf11f9ec2c8d3f1402616b"}], "reference": {"path": "history/60010416000112.json", "criterion_id": "perimeter", "total_count": 1, "preview_count": 1, "full_text_deferred": true, "sha256": "8e2bd813f4c51cf01f6bfaad164bafe69d2bbb192f753eac92da3a01c2e63046"}}</a:t>
            </a:r>
          </a:p>
          <a:p>
            <a:r>
              <a:t>CNPJ 62696791000193 · Classe, subclasse e responsabilidade · Regulamento · ID 1143317 · 20/03/2026 · versão Regulamento — referência 20/03/2026 · p. 9 · Anexo I, 2.1 · https://fnet.bmfbovespa.com.br/fnet/publico/visualizarDocumento?id=1143317</a:t>
            </a:r>
          </a:p>
          <a:p>
            <a:r>
              <a:t>CNPJ 62696791000193 · Classe, subclasse e responsabilidade · Excerto da fonte:</a:t>
            </a:r>
          </a:p>
          <a:p>
            <a:r>
              <a:t>2.1 A responsabilidade do Cotista está limitada ao valor por ele subscrito. 2.2 Os seguintes eventos obrigarão o Administrador a verif icar se o Patrimônio Líquido está negativo: (i) qualquer pedido de declaração judicial de insolvência de Classe; (ii) inadimplência de obrigações financeiras de devedor e/ou emissor de ativos detidos pela Classe que representem mais de 10% (dez por cento) de seu Patrimônio Líquido, naquela data de ref erência; (iii) pedido de recuperação extrajudicial, proposta de recuperação judicial, f alência, intervenção, liquidação extrajudicial e/ou regime de administração temporária de devedor e/ou emissor de ativos detidos pela Classe; e (iv) condenação da Classe, de natureza judicial e/ou arbitral e/ou administrativa e/ou outras similares, ao pagamento de mais de 10% (dez por cento) de seu Patrimônio Líquido. 2.3 Caso o Administrador verifique que o Patrimônio Líquido está negativo, ou tenha ciência de pedido de declaração judicial de insolvência da Classe ou da declaração judicial de insolvência da Classe, deverá adotar as medidas aplicáveis previstas na Resolução CVM 175. 2.4 Serão aplicáveis as disp</a:t>
            </a:r>
          </a:p>
          <a:p>
            <a:r>
              <a:t>CNPJ 62696791000193 · Classe, subclasse e responsabilidade · Regulamento · ID 1143317 · 20/03/2026 · versão Regulamento — referência 20/03/2026 · p. 18 · Anexo I, 8.8.1 · https://fnet.bmfbovespa.com.br/fnet/publico/visualizarDocumento?id=1143317</a:t>
            </a:r>
          </a:p>
          <a:p>
            <a:r>
              <a:t>CNPJ 62696791000193 · Classe, subclasse e responsabilidade · Excerto da fonte:</a:t>
            </a:r>
          </a:p>
          <a:p>
            <a:r>
              <a:t>8.8.1 As Chamadas de Capital para a realização de investimentos serão realizadas a qualquer momento durante o Período de Investimento e estarão limitadas ao valor do capital subscrito de cada Cotista. As Chamadas de Capital para o pagamento de despesas e encargos do Fundo poderão ser realizadas a qualquer momento durante o Prazo de Duração, mas não estarão limitadas ao valor do capital subscrito de cada Cotista. 8.8.2 Ao receber uma Chamada de Capital, os Cotistas serão obrigados a integralizar parte ou a totalidade de suas Cotas no prazo previsto na ref erida Chamada de Capital, o qual não poderá ser inf erior a 5 (cinco) Dias Úteis contados do recebimento da Chamada de Capital, conforme solicitado pelo Administrador em observância às instruções do Gestor e de acordo com o disposto nos respectivos Compromissos de Investimento. 8.8.3 O Administrador poderá, eventualmente, realizar Chamadas de Capital aos Cotistas de forma desproporcional entre Cotistas, de modo que um ou mais Cotista venha a integralizar, em uma ou mais Chamadas de Capital, uma parcela maior ou menor, conforme o caso, das Cotas por</a:t>
            </a:r>
          </a:p>
          <a:p>
            <a:r>
              <a:t>CNPJ 62696791000193 · Classe, subclasse e responsabilidade · Regulamento · ID 1143317 · 20/03/2026 · versão Regulamento — referência 20/03/2026 · p. 16 · Anexo I, 7.2 · https://fnet.bmfbovespa.com.br/fnet/publico/visualizarDocumento?id=1143317</a:t>
            </a:r>
          </a:p>
          <a:p>
            <a:r>
              <a:t>CNPJ 62696791000193 · Classe, subclasse e responsabilidade · Excerto da fonte:</a:t>
            </a:r>
          </a:p>
          <a:p>
            <a:r>
              <a:t>7.2 A Classe possui 3 (três) Subclasses de Cotas, quais sejam, a subclasse sênior (“Subclasse Sênior” e “Cotas Seniores”), a subclasse mezanino (“Subclasse Mezanino” e “Cotas Mezanino”) e a subclasse subordinada (“Subclasse Subordinada” e “Cotas Subordinadas” – as Cotas Subordinadas, Cotas Seniores e Cotas Mezanino, quando ref eridas em conjunto, “Cotas”), admitindo ainda a emissão de novas séries (“Séries”) de Cotas Seniores, nos termos do seu respectivo Apêndice. As características, os direitos e as condições de emissão, distribuição, subscrição, integralização, remuneração, amortização e resgate das Cotas estão descritos neste Capítulo e nos respectivos Apêndices. 7.3 As Cotas são escriturais, nominativas e correspondem a f rações ideais do patrimônio da Classe, cuja propriedade presume-se: (i) pelo registro do nome do Cotista no livro de registro de Cotistas, enquanto mantidas em conta de depósito mantidas junto ao Escriturador em nome dos respectivos Cotistas, nos termos do Art. 15 da Resolução CVM 175; (ii) pelos controles de titularidade mantidos pelo depositário BTG Pactual SAC: 0800 772 2827 | Ouvidoria: 0800 722 0048 | btgpactual.co m 11</a:t>
            </a:r>
          </a:p>
          <a:p>
            <a:r>
              <a:t>CNPJ 62696791000193 · Classe, subclasse e responsabilidade · Condição: Contradição interna no alcance da responsabilidade limitada. Não apresentar a cláusula de despesas como obrigação irrestrita pacificada.</a:t>
            </a:r>
          </a:p>
          <a:p>
            <a:r>
              <a:t>CNPJ 62696791000193 · Classe, subclasse e responsabilidade · Versão e prevalência: Leitura específica das cláusulas indicadas; condições e conflitos preservados. Seleção documental atual não comprova vigência jurídica por data isolada.</a:t>
            </a:r>
          </a:p>
          <a:p>
            <a:r>
              <a:t>CNPJ 55563624000109 · Classe, subclasse e responsabilidade · Regulamento · ID 1192614 · 2026-04-30 · versão 1 · p. 40 · https://fnet.bmfbovespa.com.br/fnet/publico/visualizarDocumento?id=1192614</a:t>
            </a:r>
          </a:p>
          <a:p>
            <a:r>
              <a:t>CNPJ 55563624000109 · Classe, subclasse e responsabilidade · Excerto da fonte:</a:t>
            </a:r>
          </a:p>
          <a:p>
            <a:r>
              <a:t>(xxiv) Subordinação de determinadas Cotas da Classe Investida a outras subclasses ou séries de  cotas das Classes Investidas aos quais pertencem. A Classe Investida adquirirá apenas cotas  subordinadas mezaninos da Classe Investida, as quais se subordinam às cotas seniores da Classe  Investida para efeitos de resgate. Os resgates de cotas subordinadas mezanino tipicamente têm sua  realização condicionada ainda à manutenção da razão de garantia e à existência de disponibilidades  da Classe Investida. O ADMINISTRADOR, o GESTOR e o CUSTODIANTE e suas respectivas partes  relacionadas, encontram-se impossibilitados de assegurar que a amortização e o resgate das cotas  subordinadas mezanino da Classe Investida que venham a ser adquiridas pela Classe ocorrerão nas  datas originalmente previstas, sendo que, caso tais amortizações e/ou resgates não ocorram, não será  devido pelo FUNDO ou qualquer pessoa, incluindo o ADMINISTRADOR, o GESTOR e o CUSTODIANTE,  do FUNDO ou da Classe Investida qualquer multa ou penalidade, de qualquer natureza. O não resgate  de cotas subordinadas mezanino da Classe Investida detidas pela Classe poderá impactar  negativamente no fluxo de pagamento de resgate da Classe e/ou no valor patrimonial das Cotas da  Classe.</a:t>
            </a:r>
          </a:p>
          <a:p>
            <a:r>
              <a:t>CNPJ 55563624000109 · Classe, subclasse e responsabilidade · Regulamento · ID 1192614 · 2026-04-30 · versão 1 · p. 2 · 1.2 · https://fnet.bmfbovespa.com.br/fnet/publico/visualizarDocumento?id=1192614</a:t>
            </a:r>
          </a:p>
          <a:p>
            <a:r>
              <a:t>CNPJ 55563624000109 · Classe, subclasse e responsabilidade · Excerto da fonte:</a:t>
            </a:r>
          </a:p>
          <a:p>
            <a:r>
              <a:t>1.2 Este regulamento é composto por esta parte geral, um ou mais anexos, conforme o número de classes aqui  previsto e respectivos apêndices relativos a cada subclasse de cotas, conforme aplicável (respectivamente,  “Regulamento”, “Parte Geral”, “Anexos” e “Apêndices”).</a:t>
            </a:r>
          </a:p>
          <a:p>
            <a:r>
              <a:t> Denominação da Classe Anexo  CLASSE ÚNICA DE RESPONSABILIDADE LIMITADA DO  PLGN MARKETPLACE FUNDO DE INVESTIMENTO EM  Anexo Único (“Anexo”)  COTAS DE FUNDO DE INVESTIMENTO EM DIREITOS  CREDITÓRIOS (“Classe” ou “Classe Única”)</a:t>
            </a:r>
          </a:p>
          <a:p>
            <a:r>
              <a:t>CNPJ 55563624000109 · Classe, subclasse e responsabilidade · Regulamento · ID 1192614 · 2026-04-30 · versão 1 · p. 24 · 12.3 · https://fnet.bmfbovespa.com.br/fnet/publico/visualizarDocumento?id=1192614</a:t>
            </a:r>
          </a:p>
          <a:p>
            <a:r>
              <a:t>CNPJ 55563624000109 · Classe, subclasse e responsabilidade · Excerto da fonte:</a:t>
            </a:r>
          </a:p>
          <a:p>
            <a:r>
              <a:t>12.3 Incluem-se entre as obrigações do ADMINISTRADOR, sem prejuízo de outras previstas na regulamentação:</a:t>
            </a:r>
          </a:p>
          <a:p>
            <a:r>
              <a:t> (i) sem prejuízo da observância dos procedimentos relativos às demonstrações contábeis, manter,  separadamente, registros com informações completas sobre toda e qualquer modalidade de negociação  realizada entre o ADMINISTRADOR, GESTOR, CUSTODIANTE, e/ou suas respectivas partes relacionadas,  tais como definidas pelas regras contábeis que tratam desse assunto, de um lado; e a Classe, de outro;</a:t>
            </a:r>
          </a:p>
          <a:p>
            <a:r>
              <a:t> (ii) diligenciar para que sejam mantidos, às suas expensas, atualizados e em perfeita ordem:</a:t>
            </a:r>
          </a:p>
          <a:p>
            <a:r>
              <a:t> (a) o registro de Cotistas;</a:t>
            </a:r>
          </a:p>
          <a:p>
            <a:r>
              <a:t> (b) o livro de atas das Assembleias de Cotistas;</a:t>
            </a:r>
          </a:p>
          <a:p>
            <a:r>
              <a:t> (c) o livro ou lista de presença de Cotistas;</a:t>
            </a:r>
          </a:p>
          <a:p>
            <a:r>
              <a:t> (d) os pareceres do Auditor Independente; e</a:t>
            </a:r>
          </a:p>
          <a:p>
            <a:r>
              <a:t> (e) os registros contábeis referentes às operações e ao patrimônio da Classe;</a:t>
            </a:r>
          </a:p>
          <a:p>
            <a:r>
              <a:t> (iii) pagar a multa cominatória às suas expensas, nos termos da legislação vigente, por cada dia de atraso no  cumprimento dos prazos previstos na regulamentação aplicável;</a:t>
            </a:r>
          </a:p>
          <a:p>
            <a:r>
              <a:t> (iv) elaborar e divulgar as informações periódicas e eventuais da Classe, nos termos deste Anexo e da  regulamentação e da autorregulação em vigor;</a:t>
            </a:r>
          </a:p>
          <a:p>
            <a:r>
              <a:t> (v) manter atualizada junto à CVM a lista de todos os prestadores de serviços contratados pela Classe,  inclusive os Prestadores de Serviços Essenciais, bem como as demais informações cadastrais da Classe e  suas Subclasses;</a:t>
            </a:r>
          </a:p>
          <a:p>
            <a:r>
              <a:t> (vi) manter serviço de atendimento aos Cotistas, responsável pelo esclarecimento de dúvidas e pelo  recebimento de reclamações;</a:t>
            </a:r>
          </a:p>
          <a:p>
            <a:r>
              <a:t> (vii) receber e processar os pedidos de resgate;</a:t>
            </a:r>
          </a:p>
          <a:p>
            <a:r>
              <a:t> (viii) monitorar os Eventos de Verificação do Patrimônio;</a:t>
            </a:r>
          </a:p>
          <a:p>
            <a:r>
              <a:t> (ix) monitorar os Eventos de Avaliação e Eventos de Liquidação;</a:t>
            </a:r>
          </a:p>
          <a:p>
            <a:r>
              <a:t> (x) observar as disposições constantes do Regulamento;</a:t>
            </a:r>
          </a:p>
          <a:p>
            <a:r>
              <a:t> (xi) cumprir as deliberações da Assembleia de Cotistas; e</a:t>
            </a:r>
          </a:p>
          <a:p>
            <a:r>
              <a:t> (xii) observar as disposições do Código ANBIMA e das Regras e Procedimentos ANBIMA</a:t>
            </a:r>
          </a:p>
          <a:p>
            <a:r>
              <a:t>CNPJ 55563624000109 · Classe, subclasse e responsabilidade · Condição: Documentos atuais selecionados no inventário por categoria/escopo; a data documental isolada não comprova vigência jurídica.</a:t>
            </a:r>
          </a:p>
          <a:p>
            <a:r>
              <a:t>CNPJ 55563624000109 · Classe, subclasse e responsabilidade · Versão e prevalência: Documentos atuais selecionados no inventário por categoria/escopo; a data documental isolada não comprova vigência jurídica.</a:t>
            </a:r>
          </a:p>
          <a:p>
            <a:r>
              <a:t>CNPJ 55563624000109 · Classe, subclasse e responsabilidade · Resumo do histórico: {"count": 5, "dates": ["2024-07-03", "2025-01-31", "2026-01-31"], "document_count": 3, "sources": [{"document_id": "1178840", "title": "Demonstrações Financeiras", "reference_date": "2026-01-31", "version": "1", "page": 3, "url": "https://fnet.bmfbovespa.com.br/fnet/publico/visualizarDocumento?id=1178840", "sha256": "c458e98664c5c907ddb5a05a94b120bed4e05295b2bfc420f5ba69af0a229abe"}, {"document_id": "891861", "title": "Demonstrações Financeiras", "reference_date": "2025-01-31", "version": "1", "page": 27, "url": "https://fnet.bmfbovespa.com.br/fnet/publico/visualizarDocumento?id=891861", "sha256": "e9cb9e6ddbe505fe068cfcac33605165a98313489de0d3ce6d4d238263c3f3e7"}, {"document_id": "703295", "title": "Anúncio de Início", "reference_date": "2024-07-03", "version": "2", "page": 1, "url": "https://fnet.bmfbovespa.com.br/fnet/publico/visualizarDocumento?id=703295", "sha256": "12322b6dbf75e673723bd60910373db249451b72666792e18e0c7b6128f4608a"}], "reference": {"path": "history/55563624000109.json", "criterion_id": "perimeter", "total_count": 5, "preview_count": 3, "full_text_deferred": true, "sha256": "7835d573fb58a3c19adf5b8ecc2aee2bdbb9a88f7a0c0209b5f262b64c7522e3"}}</a:t>
            </a:r>
          </a:p>
          <a:p>
            <a:r>
              <a:t>CNPJ 62552447000120 · Classe, subclasse e responsabilidade · Regulamento · ID 1200623 · 2026-05-21 · versão 1 · p. 1 · 1.3 · https://fnet.bmfbovespa.com.br/fnet/publico/visualizarDocumento?id=1200623</a:t>
            </a:r>
          </a:p>
          <a:p>
            <a:r>
              <a:t>CNPJ 62552447000120 · Classe, subclasse e responsabilidade · Excerto da fonte:</a:t>
            </a:r>
          </a:p>
          <a:p>
            <a:r>
              <a:t>1.3 Durante o seu prazo de duração, o Fundo, por ato conjunto dos Prestadores de Serviços Essenciais,  poderá constituir diferentes Classes e Subclasses , sendo que cada Classe terá patrimônio segregado e</a:t>
            </a:r>
          </a:p>
          <a:p>
            <a:r>
              <a:t>CNPJ 62552447000120 · Classe, subclasse e responsabilidade · Regulamento · ID 1200623 · 2026-05-21 · versão 1 · p. 1 · 1.1 · https://fnet.bmfbovespa.com.br/fnet/publico/visualizarDocumento?id=1200623</a:t>
            </a:r>
          </a:p>
          <a:p>
            <a:r>
              <a:t>CNPJ 62552447000120 · Classe, subclasse e responsabilidade · Excerto da fonte:</a:t>
            </a:r>
          </a:p>
          <a:p>
            <a:r>
              <a:t>1.1 V CDT 1 FUNDO DE INVESTIMENTO EM DIREITOS CREDITÓRIOS RESPONSABILIDADE  LIMITADA (“Fundo”), regido pela Lei n.º 10.406, de 10 de janeiro de 2002, conforme alterada (“Código  Civil”), pela Resolução da Comissão de Valores Mobiliários (“CVM”) n.º 175, de 23 de dezembro de  2022, conf orme alterada (“Resolução CVM 175”), que inclui sua Parte Geral (“Parte Geral da  Resolução CVM 175”) e seu Anexo Normativo II (“Anexo Normativo II”) terá como principais  características:</a:t>
            </a:r>
          </a:p>
          <a:p>
            <a:r>
              <a:t>CNPJ 62552447000120 · Classe, subclasse e responsabilidade · Regulamento · ID 1200623 · 2026-05-21 · versão 1 · p. 1 · https://fnet.bmfbovespa.com.br/fnet/publico/visualizarDocumento?id=1200623</a:t>
            </a:r>
          </a:p>
          <a:p>
            <a:r>
              <a:t>CNPJ 62552447000120 · Classe, subclasse e responsabilidade · Excerto da fonte:</a:t>
            </a:r>
          </a:p>
          <a:p>
            <a:r>
              <a:t>CLASSE ÚNICA DO V CDT 1 FUNDO DE  INVESTIMENTO EM DIREITOS CREDITÓRIOS Anexo I (“Anexo I”)  RESPONSABILIDADE LIMITADA</a:t>
            </a:r>
          </a:p>
          <a:p>
            <a:r>
              <a:t>CNPJ 62552447000120 · Classe, subclasse e responsabilidade · Condição: Documentos atuais selecionados no inventário por categoria/escopo; a data documental isolada não comprova vigência jurídica.</a:t>
            </a:r>
          </a:p>
          <a:p>
            <a:r>
              <a:t>CNPJ 62552447000120 · Classe, subclasse e responsabilidade · Versão e prevalência: Documentos atuais selecionados no inventário por categoria/escopo; a data documental isolada não comprova vigência jurídica.</a:t>
            </a:r>
          </a:p>
          <a:p>
            <a:r>
              <a:t>CNPJ 62552447000120 · Classe, subclasse e responsabilidade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"perimeter", "total_count": 1, "preview_count": 1, "full_text_deferred": true, "sha256": "d95db8c0613d67ee84118c734588665265ea6b02f86a0318d6a844cbe1d0f82f"}}</a:t>
            </a:r>
          </a:p>
          <a:p>
            <a:r>
              <a:t>CNPJ 63953620000165 · Classe, subclasse e responsabilidade · Anexo ao Regulamento · ID 1222863 · 02/06/2026 · versão AnexoConsignadoPrivado02/06/2026 · p. 3 · 2.1 · https://fnet.bmfbovespa.com.br/fnet/publico/visualizarDocumento?id=1222863</a:t>
            </a:r>
          </a:p>
          <a:p>
            <a:r>
              <a:t>CNPJ 63953620000165 · Classe, subclasse e responsabilidade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deverá adotar as medidas aplicáveis previstas na Resolução CVM 175. 2.3 Serão aplicáveis as disposições da Resolução CVM 175 no que se refere aos procedimentos a serem adotados pelo Administrador na hipótese de Patrimônio Líquido negativo da Classe. BTG Pactual SAC: 0800 772 28 27 - Ouvidoria: 0800 722 00 48 - btgpactual.com</a:t>
            </a:r>
          </a:p>
          <a:p>
            <a:r>
              <a:t>CNPJ 63953620000165 · Classe, subclasse e responsabilidade · Anexo ao Regulamento · ID 1222863 · 02/06/2026 · versão AnexoConsignadoPrivado02/06/2026 · p. 10 · 6.7.1 · https://fnet.bmfbovespa.com.br/fnet/publico/visualizarDocumento?id=1222863</a:t>
            </a:r>
          </a:p>
          <a:p>
            <a:r>
              <a:t>CNPJ 63953620000165 · Classe, subclasse e responsabilidade · Excerto da fonte:</a:t>
            </a:r>
          </a:p>
          <a:p>
            <a:r>
              <a:t>6.7.1 As Chamadas de Capital para a realização de investimentos serão realizadas a qualquer momento durante o Período de Investimento e estarão limitadas ao valor do capital subscrito de cada Cotista. As Chamadas de Capital para o pagamento de despesas e encargos do Fundo, com exceção de despesas relacionadas à instrumentos de derivativos e/ou Encargos não previstos no âmbito deste regulamento, poderão ser realizadas a qualquer momento durante o Prazo de Duração, mas não estarão limitadas ao valor do capital subscrito de cada Cotista. 6.7.2 Ao receber uma Chamada d</a:t>
            </a:r>
          </a:p>
          <a:p>
            <a:r>
              <a:t>CNPJ 63953620000165 · Classe, subclasse e responsabilidade · Condição: Alcance das chamadas além do capital comprometido não resolvido textualmente; não certificar limitação apenas por título do fundo.</a:t>
            </a:r>
          </a:p>
          <a:p>
            <a:r>
              <a:t>CNPJ 63953620000165 · Classe, subclasse e responsabilidade · Versão e prevalência: Leitura específica das cláusulas indicadas; condições e conflitos preservados. Seleção documental atual não comprova vigência jurídica por data isolada.</a:t>
            </a:r>
          </a:p>
          <a:p>
            <a:r>
              <a:t>CNPJ 63953620000165 · Classe, subclasse e responsabilidade · Resumo do histórico: {"count": 4, "dates": ["2026-04-28", "2026-05-08", "2026-05-15"], "document_count": 3, "sources": [{"document_id": "1327859", "title": "Demonstrações Financeiras - Fusão, cisão e incorporação", "reference_date": "2026-05-15", "version": "1", "page": 1, "url": "https://fnet.bmfbovespa.com.br/fnet/publico/visualizarDocumento?id=1327859", "sha256": "dca1c68babb97f887528c3e2e47596a9c30f507b067981a35655b2f2da9c8054"}, {"document_id": "1298691", "title": "Demonstrações Financeiras - Fusão, cisão e incorporação", "reference_date": "2026-05-08", "version": "1", "page": 1, "url": "https://fnet.bmfbovespa.com.br/fnet/publico/visualizarDocumento?id=1298691", "sha256": "58c570d9b8d4d265330d3db3ea81c435b8e44a6dab4002aa37790652a1ee9819"}, {"document_id": "1205431", "title": "AGE", "reference_date": "2026-04-28", "version": "1", "page": 1, "clause": "4.1", "url": "https://fnet.bmfbovespa.com.br/fnet/publico/visualizarDocumento?id=1205431", "sha256": "e0b59c701c5d0dbf60de698ea7664d442240863b7043bacdb334ce484188b2ac"}], "reference": {"path": "history/63953620000165.json", "criterion_id": "perimeter", "total_count": 4, "preview_count": 3, "full_text_deferred": true, "sha256": "a7b89077f5e21098c2d601c303faabc3ff6b9729f89d8afecdc60fe1404720c1"}}</a:t>
            </a:r>
          </a:p>
          <a:p>
            <a:r>
              <a:t>CNPJ 54871427000194 · Adaptação à Resolução CVM 175 · Regulamento · ID 670691 · 28/04/2024 · versão Regulamento — referência 28/04/2024 · p. 1 · Parte Geral, 1.1 · https://fnet.bmfbovespa.com.br/fnet/publico/visualizarDocumento?id=670691</a:t>
            </a:r>
          </a:p>
          <a:p>
            <a:r>
              <a:t>CNPJ 54871427000194 · Adaptação à Resolução CVM 175 · Excerto da fonte:</a:t>
            </a:r>
          </a:p>
          <a:p>
            <a:r>
              <a:t>1.1 CONSIGNADO DELTA RECEIVABLES I FUNDO DE INVESTIMENTO EM DIREITOS CREDITÓRIOS (“FUNDO”), regido pela Lei nº 10.406, de 10 de janeiro de 2002, conf orme alterada (“Código Civil”), pela parte geral e o Anexo Normativo II da Resolução nº 175, de 23 de dezembro de 2022, conforme alterada, da Comissão de Valores Mobiliários (respectivamente, “CVM” e “Resolução CVM 175”), terá como principais características: Classe de Cotas Classe única. Indeterminado, exceto se de outra f orma vier a ser deliberado pelos cotistas Prazo de Duração reunidos em assembleia geral de cotistas. BTG Pactual Serviços Financeiros S.A. Distribuidora de Títulos e Valores Mobiliários, instituição f inanceira, com sede na Cidade e Estado do Rio de Janeiro, na Praia de Botafogo, nº 501, 5º andar (parte), Torre Corcovado, ADMINISTRADOR Botafogo, CEP 22250-040, inscrita no CNPJ sob o nº 59.281.253/0001-23 e credenciada como administradora de carteira, de acordo com o Ato Declaratório CVM nº</a:t>
            </a:r>
          </a:p>
          <a:p>
            <a:r>
              <a:t>CNPJ 54871427000194 · Adaptação à Resolução CVM 175 · Regulamento · ID 670691 · 28/04/2024 · versão Regulamento — referência 28/04/2024 · p. 8 · Anexo I, 2.1 · https://fnet.bmfbovespa.com.br/fnet/publico/visualizarDocumento?id=670691</a:t>
            </a:r>
          </a:p>
          <a:p>
            <a:r>
              <a:t>CNPJ 54871427000194 · Adaptação à Resolução CVM 175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deverá adotar as medidas aplicáveis previstas na Resolução CVM 175. 2.3 Serão aplicáveis as disposições da Resolução CVM 175 no que se refere aos procedimentos a serem adotados pelo ADMINISTRADOR na hipótese de Patrimônio Líquido negativo da Classe. CAPÍTULO 3 – ENCARGOS DA CLASSE 3.1 A Classe terá Encargos que lhe poderão ser debitados diretamente, nos termos do art. 53 do Anexo Normativo II da Resolução CVM 175, além de encargos adicionais, e quaisquer despesas que não constituam Encargos correm por conta do Prestador de Serviço Essencial que a tiver contratado: (i) despesas com a contratação de consultoria especializada, conf orme o caso; (ii) despesas com a contratação do Agente de Cobrança, conf orme aplicável; (iii) Taxa Máxima de Custódia; (iv) despesas com registro de Direitos Creditórios; (v) despesas com serviços de originação, cobranças ordinária e/ou extraordinária dos D</a:t>
            </a:r>
          </a:p>
          <a:p>
            <a:r>
              <a:t>CNPJ 54871427000194 · Adaptação à Resolução CVM 175 · Versão e prevalência: Leitura específica das cláusulas indicadas; condições e conflitos preservados. Seleção documental atual não comprova vigência jurídica por data isolada.</a:t>
            </a:r>
          </a:p>
          <a:p>
            <a:r>
              <a:t>CNPJ 54871427000194 · Adaptação à Resolução CVM 175 · Resumo do histórico: {"count": 2, "dates": ["2024-04-19"], "document_count": 2, "sources": [{"document_id": "670687", "title": "Instrumento Particular de Constituição/Encerramento do Fundo", "reference_date": "2024-04-19", "version": "1", "page": 1, "url": "https://fnet.bmfbovespa.com.br/fnet/publico/visualizarDocumento?id=670687", "sha256": "999f2a47d39f7022b0fcee3d16fd1db33948537b897e92c4c9e14b436bf5eb96"}, {"document_id": "670689", "title": "Regulamento", "reference_date": "2024-04-19", "version": "1", "page": 11, "clause": "4.10", "url": "https://fnet.bmfbovespa.com.br/fnet/publico/visualizarDocumento?id=670689", "sha256": "891bc9bc5d87bbc02ec139077a84d2702eb81ea02035fb71d24f5b8366b94a0b"}], "reference": {"path": "history/54871427000194.json", "criterion_id": "res175", "total_count": 2, "preview_count": 2, "full_text_deferred": true, "sha256": "35d7cd99be50c7287c9fb675cf4f2e736002315295a225a9efa79c8d9186d874"}}</a:t>
            </a:r>
          </a:p>
          <a:p>
            <a:r>
              <a:t>CNPJ 60010416000112 · Adaptação à Resolução CVM 175 · Regulamento · ID 1051393 · 09/10/2025 · versão Regulamento09/10/2025 · p. 8 · AnexoI1.2 · https://fnet.bmfbovespa.com.br/fnet/publico/visualizarDocumento?id=1051393</a:t>
            </a:r>
          </a:p>
          <a:p>
            <a:r>
              <a:t>CNPJ 60010416000112 · Adaptação à Resolução CVM 175 · Excerto da fonte:</a:t>
            </a:r>
          </a:p>
          <a:p>
            <a:r>
              <a:t>Tipo de Condomínio Fechado. Prazo de Duração Indeterminado. Classe de Investimento Não. em Cotas Tipo “Financeiro”. Classificação ANBIMA Foco de atuação “Créditos Consignados”. O objetivo da classe é proporcionar aos seus Cotistas a valorização de suas Cotas por meio da aplicação de seu Patrimônio Líquido na aquisição de: (i) Direitos Creditórios que atendam aos Critérios de Elegibilidade, estabelecidos no Ca</a:t>
            </a:r>
          </a:p>
          <a:p>
            <a:r>
              <a:t>CNPJ 60010416000112 · Adaptação à Resolução CVM 175 · Regulamento · ID 1051393 · 09/10/2025 · versão Regulamento09/10/2025 · p. 9 · AnexoI2.1–2.3 · https://fnet.bmfbovespa.com.br/fnet/publico/visualizarDocumento?id=1051393</a:t>
            </a:r>
          </a:p>
          <a:p>
            <a:r>
              <a:t>CNPJ 60010416000112 · Adaptação à Resolução CVM 175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o Administrador deverá adotar as medidas aplicáveis previstas na Resolução CVM 175 2.3 Serão aplicáveis as disposições da Resolução CVM 175 no que se ref ere aos procedimentos a serem adotados pelo Administrador na hipótese de Patrimônio Líquido negativo da Classe, visando a liquidação da Classe e que não remanesçam</a:t>
            </a:r>
          </a:p>
          <a:p>
            <a:r>
              <a:t>CNPJ 60010416000112 · Adaptação à Resolução CVM 175 · Versão e prevalência: Leitura específica das cláusulas indicadas; condições e conflitos preservados. Seleção documental atual não comprova vigência jurídica por data isolada.</a:t>
            </a:r>
          </a:p>
          <a:p>
            <a:r>
              <a:t>CNPJ 60010416000112 · Adaptação à Resolução CVM 175 · Resumo do histórico: {"count": 2, "dates": ["2025-03-20"], "document_count": 2, "sources": [{"document_id": "993785", "title": "Instrumento Particular de Constituição/Encerramento do Fundo", "reference_date": "2025-03-20", "version": "1", "page": 1, "url": "https://fnet.bmfbovespa.com.br/fnet/publico/visualizarDocumento?id=993785", "sha256": "0826e0eae2c51afabf59bbc49fc7647598d03da5ca6de0f9725850a8bd6af457"}, {"document_id": "993786", "title": "Regulamento", "reference_date": "2025-03-20", "version": "1", "page": 12, "clause": "4.8", "url": "https://fnet.bmfbovespa.com.br/fnet/publico/visualizarDocumento?id=993786", "sha256": "fd0fdd369a195510d81f81f505195a0b09e5f43522a990afa7d58c4f872921c8"}], "reference": {"path": "history/60010416000112.json", "criterion_id": "res175", "total_count": 2, "preview_count": 2, "full_text_deferred": true, "sha256": "8e2bd813f4c51cf01f6bfaad164bafe69d2bbb192f753eac92da3a01c2e63046"}}</a:t>
            </a:r>
          </a:p>
          <a:p>
            <a:r>
              <a:t>CNPJ 62696791000193 · Adaptação à Resolução CVM 175 · AGE · ID 1143319 · 20/03/2026 10:00 · versão AGE — referência 20/03/2026 10:00 · p. 1 · AGC, 4.1(a)–(b) · https://fnet.bmfbovespa.com.br/fnet/publico/visualizarDocumento?id=1143319</a:t>
            </a:r>
          </a:p>
          <a:p>
            <a:r>
              <a:t>CNPJ 62696791000193 · Adaptação à Resolução CVM 175 · Excerto da fonte:</a:t>
            </a:r>
          </a:p>
          <a:p>
            <a:r>
              <a:t>4.1. Aprovar a transformação do Fundo, bem como de sua Classe única, em um fundo de investimento nas cadeias produtivas do agronegócio (“Transformação”), nos termos da parte geral e do Anexo Normativo VI da Resolução nº 175 da CVM, de 23 de dezembro de 2022, conforme alterada (“Resolução CVM 175”). a. Aprovar a alteração da denominação do Fundo, que passará a vigorar como BTG PACTUAL CERES CONFINA FUNDO DE INVESTIMENTO NAS CADEIAS PRODUTIVAS DO AGRONEGÓCIO RESPONSABILIDADE LIMITADA, e de sua Classe única, que passará a vigorar como CLASSE ÚNICA DO BTG PACTUAL CERES CONFINA FUNDO DE INVESTIMENTO NAS CADEIAS PRODUTIVAS DO AGRONEGÓCIO RESPONSABILIDADE LIMITADA (“Classe”); b. Aprovar a reforma integral do Regulamento do Fundo, bem como do Anexo descritivo da Classe, para realizar todos os ajustes necessários à implementação da Transformação, incluindo, mas não se limitando, a política de investimentos, o regime tributário e os fatores de risco aplicáveis, conforme itens abaixo; c. Aprovar a alteração do quadro de características gerais do Fundo, considerando a contratação do Cogestor pelo Gestor, nos termos do artigo 52, II, da parte geral da Resolução CVM 175 e no co</a:t>
            </a:r>
          </a:p>
          <a:p>
            <a:r>
              <a:t>CNPJ 62696791000193 · Adaptação à Resolução CVM 175 · AGE · ID 1143319 · 20/03/2026 10:00 · versão AGE — referência 20/03/2026 10:00 · p. 3 · AGC 20/03/2026, 4.1(j)–(k) · https://fnet.bmfbovespa.com.br/fnet/publico/visualizarDocumento?id=1143319</a:t>
            </a:r>
          </a:p>
          <a:p>
            <a:r>
              <a:t>CNPJ 62696791000193 · Adaptação à Resolução CVM 175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Adaptação à Resolução CVM 175 · Regulamento · ID 1143317 · 20/03/2026 · versão Regulamento — referência 20/03/2026 · p. 1 · Parte Geral, 1.1 · https://fnet.bmfbovespa.com.br/fnet/publico/visualizarDocumento?id=1143317</a:t>
            </a:r>
          </a:p>
          <a:p>
            <a:r>
              <a:t>CNPJ 62696791000193 · Adaptação à Resolução CVM 175 · Excerto da fonte:</a:t>
            </a:r>
          </a:p>
          <a:p>
            <a:r>
              <a:t>1.1 BTG PACTUAL CERES CONFINA FUNDO DE INVESTIMENTO NAS CADEIAS PRODUTIVAS DO AGRONEGÓCIO RESPONSABILIDADE LIMITADA (“Fundo”), regido pela Lei nº 10.406, de 10 de janeiro de 2002, conf orme alterada (“Código Civil”), pela Lei n.º 8.668, de 25 de junho de 1993, conf orme alterada (“Lei 8.668”), pela parte geral, Anexo Normativo VI e, subsidiariamente, Anexo Normativo II da Resolução nº 175, de 23 de dezembro de 2022, conforme alterada, da Comissão de Valores Mobiliários (respectivamente, “Resolução CVM 175” e “CVM”), terá como principais características: Classe Classe única. Indeterminado, exceto se de outra f orma vier a ser deliberado pelos Cotistas Prazo de Duração reunidos em assembleia geral de Cotistas (“Prazo de Duração”). BTG Pactual Serviços Financeiros S.A. Distribuidora de Títulos e Valores Mobiliários, sociedade anônima, com sede no município e Estado do Rio de Janeiro, na Praia de Botafogo, nº 501, 5º andar (parte), Torre Corcovado, Administrador Botafogo, CEP 22250-040, inscrita no CNPJ sob o nº 59.281.253/0001-23 e</a:t>
            </a:r>
          </a:p>
          <a:p>
            <a:r>
              <a:t>CNPJ 62696791000193 · Adaptação à Resolução CVM 175 · Condição: Posição comumfev/26 é anterior à transformação e demanda o regime/regulamento anterior.</a:t>
            </a:r>
          </a:p>
          <a:p>
            <a:r>
              <a:t>CNPJ 62696791000193 · Adaptação à Resolução CVM 175 · Versão e prevalência: Leitura específica das cláusulas indicadas; condições e conflitos preservados. Seleção documental atual não comprova vigência jurídica por data isolada.</a:t>
            </a:r>
          </a:p>
          <a:p>
            <a:r>
              <a:t>CNPJ 55563624000109 · Adaptação à Resolução CVM 175 · Regulamento · ID 1192614 · 2026-04-30 · versão 1 · p. 13 · 4.11 · https://fnet.bmfbovespa.com.br/fnet/publico/visualizarDocumento?id=1192614</a:t>
            </a:r>
          </a:p>
          <a:p>
            <a:r>
              <a:t>CNPJ 55563624000109 · Adaptação à Resolução CVM 175 · Excerto da fonte:</a:t>
            </a:r>
          </a:p>
          <a:p>
            <a:r>
              <a:t>4.11 Nos termos dos artigos 45, parágrafo 7º, e 47 parágrafo único do Anexo Normativo II à Resolução CVM 175, uma  vez que as Cotas são destinadas exclusivamente a Investidores Profissionais, a Classe poderá ter até 100% (cem  por cento) de seu Patrimônio Líquido alocado em Cotas da Classe Investida, as quais são emitidas pela Classe  Investida.</a:t>
            </a:r>
          </a:p>
          <a:p>
            <a:r>
              <a:t>CNPJ 55563624000109 · Adaptação à Resolução CVM 175 · Regulamento · ID 1192614 · 2026-04-30 · versão 1 · p. 31 · 15.1.1 · https://fnet.bmfbovespa.com.br/fnet/publico/visualizarDocumento?id=1192614</a:t>
            </a:r>
          </a:p>
          <a:p>
            <a:r>
              <a:t>CNPJ 55563624000109 · Adaptação à Resolução CVM 175 · Excerto da fonte:</a:t>
            </a:r>
          </a:p>
          <a:p>
            <a:r>
              <a:t>15.1.1 Riscos de Crédito:</a:t>
            </a:r>
          </a:p>
          <a:p>
            <a:r>
              <a:t> (i) Risco de concentração na Classe Investida. Nos termos do presente Regulamento, a Classe  deverá manter alocado, no mínimo, 67% (sessenta e sete por cento) do Patrimônio Líquido nas Cotas  da Classe Investida. Alterações na condição econômico-financeira e na expectativa de desempenho ou  resultados da Classe Investida poderão, isolada ou cumulativamente, afetar negativamente o  rendimento do investimento nas Cotas, de forma mais severa do que se a Classe adotasse uma  estratégia de investimento de maior diversificação. O risco associado às aplicações de qualquer fundo  de investimento é diretamente proporcional à concentração da sua carteira, sendo que, quanto maior  essa concentração, maior será a sua vulnerabilidade.</a:t>
            </a:r>
          </a:p>
          <a:p>
            <a:r>
              <a:t> (ii) Risco relativo à Classe Investida. Nos termos deste Anexo, a Classe deverá manter alocado, no  mínimo, 67% (sessenta e sete por cento) do Patrimônio Líquido em Cotas da Classe Investida. Os  investimentos realizados pela Classe Investida poderão estar sujeitos a flutuações típicas do mercado,  risco de crédito, risco sistêmico, condições adversas de liquidez e negociação atípica nos mercados de  atuação, bem como outros riscos diversos. Este Anexo não contém a descrição de todas as  características, incluindo os riscos, da Classe Investida.</a:t>
            </a:r>
          </a:p>
          <a:p>
            <a:r>
              <a:t> (iii) Risco Relativo ao Pagamento de Encargos da Classe Investida. Tendo em vista a estrutura da  Classe Investida – que emitiu cotas sêniores, cotas subordinadas mezanino e cotas subordinadas júnior  – em situação ordinária os encargos da Classe Investida são arcados pelas cotas subordinadas júnior,  que se subordinam às cotas subordinadas mezanino e às cotas sêniores para fins de amortização,  resgate e distribuição de rendimentos, não impactando, portanto, as Cotas da Classe Investida. Não  obstante o funcionamento da Classe Investida em situação ordinária, em cenários extraordinários, na  eventualidade do valor das cotas subordinadas júnior ficar reduzido a zero ou a valor negativo, os  encargos da Classe Investida conforme previstos em seu regulamento, inclusive mas não se limitando  as remunerações dos prestadores de serviços essenciais, passarão a ser arcados pelas cotas  subordinadas mezanino (que são as Cotas da Classe Investida), impactando no valor do investimento  da Classe na Classe Investida, e consequentemente, o investimento dos Cotistas na Classe.</a:t>
            </a:r>
          </a:p>
          <a:p>
            <a:r>
              <a:t> (iv) Riscos referentes à carteira da Classe Investida. Na forma do Anexo Normativo II da Resolução  CVM 175, a Classe Investida investe, direta ou indiretamente, no mínimo, 67% (sessenta e sete por  cento) do seu patrimônio em direitos creditórios originados pela Mercado Pago. O investimento em tais  direitos creditórios está sujeito a fatores de risco específicos, conforme detalhados no regulamento da  Classe Investida, incluindo, mas não se limitando a:</a:t>
            </a:r>
          </a:p>
          <a:p>
            <a:r>
              <a:t> (a) Risco de liquidez dos direitos creditórios. O investimento da Classe Investida em direitos  creditórios apresenta peculiaridades em relação às aplicações usuais da maioria dos  fundos de investimento brasileiros, haja vista que não existe, no Brasil, mercado  secundário com liquidez para tais direitos creditórios. Caso a Classe Investida precise  vender os direitos creditórios adquiridos, poderá não haver mercado comprador para  tais créditos, bem como o preço de alienação de tais direitos creditórios poderá refletir  essa falta de liquidez, causando perda ao patrimônio da Classe Investida e,  consequentemente, à Classe.</a:t>
            </a:r>
          </a:p>
          <a:p>
            <a:r>
              <a:t>CNPJ 55563624000109 · Adaptação à Resolução CVM 175 · Regulamento · ID 1192614 · 2026-04-30 · versão 1 · p. 28 · 13.2 · https://fnet.bmfbovespa.com.br/fnet/publico/visualizarDocumento?id=1192614</a:t>
            </a:r>
          </a:p>
          <a:p>
            <a:r>
              <a:t>CNPJ 55563624000109 · Adaptação à Resolução CVM 175 · Excerto da fonte:</a:t>
            </a:r>
          </a:p>
          <a:p>
            <a:r>
              <a:t>13.2 Em condições ordinárias, as Cotas da Classe Investida não pagarão remuneração aos prestadores de serviços  essenciais da Classe Investida, nos termos de seu regulamento. Não obstante, em cenário extraordinário  conforme descrito no item 15.1.1 (iii), e para fins de atendimento ao artigo 98 da parte geral da Resolução CVM  175, a taxa máxima de administração corresponderá ao valor da Taxa Mínima de Administração acrescida de até  0,10% (dez centésimos por cento) ao ano incidente sobre o patrimônio líquido da Classe Investida,  compreendendo a taxa de administração da Classe Investida geridos por partes relacionadas ao GESTOR, cujas  cotas não estão admitidas à negociação em mercado organizado, conforme prevista no regulamento da Classe  Investida (“Taxa Máxima de Administração” e, quando referida em conjunto com a Taxa Mínima de  Administração, como “Taxa de Administração”). Caso a taxa de administração da Classe Investida não se  enquadre no disposto acima, estará disposta no regulamento da Classe Investida.</a:t>
            </a:r>
          </a:p>
          <a:p>
            <a:r>
              <a:t>CNPJ 55563624000109 · Adaptação à Resolução CVM 175 · Condição: Documentos atuais selecionados no inventário por categoria/escopo; a data documental isolada não comprova vigência jurídica.</a:t>
            </a:r>
          </a:p>
          <a:p>
            <a:r>
              <a:t>CNPJ 55563624000109 · Adaptação à Resolução CVM 175 · Versão e prevalência: Documentos atuais selecionados no inventário por categoria/escopo; a data documental isolada não comprova vigência jurídica.</a:t>
            </a:r>
          </a:p>
          <a:p>
            <a:r>
              <a:t>CNPJ 55563624000109 · Adaptação à Resolução CVM 175 · Resumo do histórico: {"count": 3, "dates": ["2024-07-03", "2025-01-31", "2026-01-31"], "document_count": 3, "sources": [{"document_id": "1178840", "title": "Demonstrações Financeiras", "reference_date": "2026-01-31", "version": "1", "page": 29, "url": "https://fnet.bmfbovespa.com.br/fnet/publico/visualizarDocumento?id=1178840", "sha256": "c458e98664c5c907ddb5a05a94b120bed4e05295b2bfc420f5ba69af0a229abe"}, {"document_id": "891861", "title": "Demonstrações Financeiras", "reference_date": "2025-01-31", "version": "1", "page": 30, "url": "https://fnet.bmfbovespa.com.br/fnet/publico/visualizarDocumento?id=891861", "sha256": "e9cb9e6ddbe505fe068cfcac33605165a98313489de0d3ce6d4d238263c3f3e7"}, {"document_id": "691674", "title": "Instrumento Particular de Emissão de Cotas", "reference_date": "2024-07-03", "version": "1", "page": 1, "url": "https://fnet.bmfbovespa.com.br/fnet/publico/visualizarDocumento?id=691674", "sha256": "78bf7b350f1785beae5f43bd209b5ed19e863cb9a2cff01542aac11dd63ca554"}], "reference": {"path": "history/55563624000109.json", "criterion_id": "res175", "total_count": 3, "preview_count": 3, "full_text_deferred": true, "sha256": "7835d573fb58a3c19adf5b8ecc2aee2bdbb9a88f7a0c0209b5f262b64c7522e3"}}</a:t>
            </a:r>
          </a:p>
          <a:p>
            <a:r>
              <a:t>CNPJ 62552447000120 · Adaptação à Resolução CVM 175 · Regulamento · ID 1200623 · 21/05/2026 · versão Consolidado21/05/2026 aprovado pelo ato1200625 · p. 1 · ParteGeral1.1 · https://fnet.bmfbovespa.com.br/fnet/publico/visualizarDocumento?id=1200623</a:t>
            </a:r>
          </a:p>
          <a:p>
            <a:r>
              <a:t>CNPJ 62552447000120 · Adaptação à Resolução CVM 175 · Excerto da fonte:</a:t>
            </a:r>
          </a:p>
          <a:p>
            <a:r>
              <a:t>1.1 V CDT 1 FUNDO DE INVESTIMENTO EM DIREITOS CREDITÓRIOS RESPONSABILIDADE LIMITADA (“Fundo”), regido pela Lei n.º 10.406, de 10 de janeiro de 2002, conforme alterada (“Código Civil”), pela Resolução da Comissão de Valores Mobiliários (“CVM”) n.º 175, de 23 de dezembro de 2022, conf orme alterada (“Resolução CVM 175”), que inclui sua Parte Geral (“Parte Geral da Resolução CVM 175”) e seu Anexo Normativo II (“Anexo Normativo II”) terá como principais características: Classe de Cotas Classe única. Indeterminado, exceto se de outra forma vier a ser deliberado pelos titulares</a:t>
            </a:r>
          </a:p>
          <a:p>
            <a:r>
              <a:t>CNPJ 62552447000120 · Adaptação à Resolução CVM 175 · Regulamento · ID 1200623 · 21/05/2026 · versão Consolidado21/05/2026 aprovado pelo ato1200625 · p. 2 · ParteGeral1.6(v) · https://fnet.bmfbovespa.com.br/fnet/publico/visualizarDocumento?id=1200623</a:t>
            </a:r>
          </a:p>
          <a:p>
            <a:r>
              <a:t>CNPJ 62552447000120 · Adaptação à Resolução CVM 175 · Excerto da fonte:</a:t>
            </a:r>
          </a:p>
          <a:p>
            <a:r>
              <a:t>V CDT 1 FUNDO DE INVESTIMENTO EM DIREITOS CREDITÓRIOS RESPONSABILIDADE LIMITADA direitos e obrigações distintos das demais Classes, nos termos do art. 5º da Parte Geral da Resolução CVM 175. 1.4 O Anexo de cada classe de Cotas (“Classe”), conforme aplicável, dispõe, sem prejuízo de outros requisitos e inf ormações previstos na regulamentação, sobre: (i) características gerais, incluindo a indicação dos demais prestadores de serviços; (ii) responsabilidade dos Cotistas e regime de insolvência; (iii) características, direitos, condições de emissão, subscrição, integralização,</a:t>
            </a:r>
          </a:p>
          <a:p>
            <a:r>
              <a:t>CNPJ 62552447000120 · Adaptação à Resolução CVM 175 · Regulamento · ID 1200623 · 21/05/2026 · versão Consolidado21/05/2026 aprovado pelo ato1200625 · p. 16 · AnexoI5.1 · https://fnet.bmfbovespa.com.br/fnet/publico/visualizarDocumento?id=1200623</a:t>
            </a:r>
          </a:p>
          <a:p>
            <a:r>
              <a:t>CNPJ 62552447000120 · Adaptação à Resolução CVM 175 · Excerto da fonte:</a:t>
            </a:r>
          </a:p>
          <a:p>
            <a:r>
              <a:t>5.1 A Classe não possui Subclasse. As características, os direitos e as condições de emissão, distribuição, subscrição, integralização, remuneração, Amortização e resgate das Cotas estão descritos neste Capítulo e no Capítulo 6. 5.1.1 Não obstante, por deliberação conjunta dos Prestadores de Serviços Essenciais e mediante aprovação em Assembleia Especial, poderá haver a divisão de Classes em Subclasses, nos termos da Resolução CVM 175. Após a primeira emissão de Cotas, novas emissões de Cotas (de quaisquer Subclasses) dependem de aprovação dos Cotistas. 5.2 As Cotas são escrit</a:t>
            </a:r>
          </a:p>
          <a:p>
            <a:r>
              <a:t>CNPJ 62552447000120 · Adaptação à Resolução CVM 175 · Versão e prevalência: Leitura específica das cláusulas indicadas; condições e conflitos preservados. Seleção documental atual não comprova vigência jurídica por data isolada.</a:t>
            </a:r>
          </a:p>
          <a:p>
            <a:r>
              <a:t>CNPJ 62552447000120 · Adaptação à Resolução CVM 175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"res175", "total_count": 1, "preview_count": 1, "full_text_deferred": true, "sha256": "d95db8c0613d67ee84118c734588665265ea6b02f86a0318d6a844cbe1d0f82f"}}</a:t>
            </a:r>
          </a:p>
          <a:p>
            <a:r>
              <a:t>CNPJ 63953620000165 · Adaptação à Resolução CVM 175 · Anexo ao Regulamento · ID 1222863 · 02/06/2026 · versão AnexoConsignadoPrivado02/06/2026 · p. 1 · AnexoI1.1 · https://fnet.bmfbovespa.com.br/fnet/publico/visualizarDocumento?id=1222863</a:t>
            </a:r>
          </a:p>
          <a:p>
            <a:r>
              <a:t>CNPJ 63953620000165 · Adaptação à Resolução CVM 175 · Excerto da fonte:</a:t>
            </a:r>
          </a:p>
          <a:p>
            <a:r>
              <a:t>1.1 As principais características da Classe Consignado Privado (para fins deste Anexo, “Classe”) estão descritas abaixo: Tipo de Condomínio Fechado. Indeterminado, exceto se de outra forma vier a ser deliberado pelos Cotistas Prazo de Duração reunidos em Assembleia Especial de Cotistas. (“Prazo de Duração”) Tipo “Financeiro”. Classificação ANBIMA Foco de atuação “Créditos Consignados”. O obje</a:t>
            </a:r>
          </a:p>
          <a:p>
            <a:r>
              <a:t>CNPJ 63953620000165 · Adaptação à Resolução CVM 175 · Anexo ao Regulamento · ID 1222863 · 02/06/2026 · versão AnexoConsignadoPrivado02/06/2026 · p. 9 · 5.1 · https://fnet.bmfbovespa.com.br/fnet/publico/visualizarDocumento?id=1222863</a:t>
            </a:r>
          </a:p>
          <a:p>
            <a:r>
              <a:t>CNPJ 63953620000165 · Adaptação à Resolução CVM 175 · Excerto da fonte:</a:t>
            </a:r>
          </a:p>
          <a:p>
            <a:r>
              <a:t>5.1 A Classe possui 2 (duas) Subclasses de Cotas, quais sejam, a subclasse sênior (“Subclasse Sênior” e “Cotas Seniores”) e a subclasse subordinada (“Subclasse Subordinada” e “Cotas Subordinadas” – as Cotas Subordinadas e Cotas Seniores, quando referidas em conjunto, “Cotas”). As características, os direitos e as condições de emissão, distribuição, subscrição, integralização, remuneração, amortização e resgate das Cotas estão descritos neste Capítulo e nos respectivos Apêndices. 5.2 As Cotas são escriturais, nominativas e correspondem a frações ideais do patrimônio da Classe, cuja propriedade presume-se: (i) pelo</a:t>
            </a:r>
          </a:p>
          <a:p>
            <a:r>
              <a:t>CNPJ 63953620000165 · Adaptação à Resolução CVM 175 · Condição: Vigência efetiva da versão 02/06/2026 não inferida da data de publicação; não aplicar a fev/26 automaticamente.</a:t>
            </a:r>
          </a:p>
          <a:p>
            <a:r>
              <a:t>CNPJ 63953620000165 · Adaptação à Resolução CVM 175 · Versão e prevalência: Leitura específica das cláusulas indicadas; condições e conflitos preservados. Seleção documental atual não comprova vigência jurídica por data isolada.</a:t>
            </a:r>
          </a:p>
          <a:p>
            <a:r>
              <a:t>CNPJ 63953620000165 · Adaptação à Resolução CVM 175 · Resumo do histórico: {"count": 9, "dates": ["2026-04-28", "2026-05-08", "2026-05-15"], "document_count": 3, "sources": [{"document_id": "1327859", "title": "Demonstrações Financeiras - Fusão, cisão e incorporação", "reference_date": "2026-05-15", "version": "1", "page": 31, "clause": "15.000.000", "url": "https://fnet.bmfbovespa.com.br/fnet/publico/visualizarDocumento?id=1327859", "sha256": "dca1c68babb97f887528c3e2e47596a9c30f507b067981a35655b2f2da9c8054"}, {"document_id": "1298691", "title": "Demonstrações Financeiras - Fusão, cisão e incorporação", "reference_date": "2026-05-08", "version": "1", "page": 32, "url": "https://fnet.bmfbovespa.com.br/fnet/publico/visualizarDocumento?id=1298691", "sha256": "58c570d9b8d4d265330d3db3ea81c435b8e44a6dab4002aa37790652a1ee9819"}, {"document_id": "1282180", "title": "Demonstrações Financeiras - Fusão, cisão e incorporação", "reference_date": "2026-04-28", "version": "1", "page": 32, "clause": "15.000.000", "url": "https://fnet.bmfbovespa.com.br/fnet/publico/visualizarDocumento?id=1282180", "sha256": "afaaa0e6809be4385e5bdb6c911aac582032c5bdbac3d7750234bf9eaf00438a"}], "reference": {"path": "history/63953620000165.json", "criterion_id": "res175", "total_count": 9, "preview_count": 3, "full_text_deferred": true, "sha256": "a7b89077f5e21098c2d601c303faabc3ff6b9729f89d8afecdc60fe1404720c1"}}</a:t>
            </a:r>
          </a:p>
          <a:p>
            <a:r>
              <a:t>CNPJ 54871427000194 · Duração e público-alvo · Demonstrações Financeiras - Fusão, cisão e incorporação · ID 1219522 · 2026-02-02 · versão 1 · p. 11 · https://fnet.bmfbovespa.com.br/fnet/publico/visualizarDocumento?id=1219522</a:t>
            </a:r>
          </a:p>
          <a:p>
            <a:r>
              <a:t>CNPJ 54871427000194 · Duração e público-alvo · Excerto da fonte:</a:t>
            </a:r>
          </a:p>
          <a:p>
            <a:r>
              <a:t>O Consignado Delta Receivables I Fundo de Investimento em Direitos Creditórios possui uma classe única de cotas, denominada Classe Única de Responsabilidade Limitada do Consignado Delta Receivables I Fundo de Investimento em Direitos Creditórios (“Classe”). A Classe foi constituída em 19 de abril de 2024, sob a forma de condomínio fechado e iniciou suas operações em 27 de maio de 2024. A Classe possui prazo de duração Indeterminado.</a:t>
            </a:r>
          </a:p>
          <a:p>
            <a:r>
              <a:t>CNPJ 54871427000194 · Duração e público-alvo · Condição: Documentos atuais selecionados no inventário por categoria/escopo; a data documental isolada não comprova vigência jurídica.</a:t>
            </a:r>
          </a:p>
          <a:p>
            <a:r>
              <a:t>CNPJ 54871427000194 · Duração e público-alvo · Versão e prevalência: Documentos atuais selecionados no inventário por categoria/escopo; a data documental isolada não comprova vigência jurídica.</a:t>
            </a:r>
          </a:p>
          <a:p>
            <a:r>
              <a:t>CNPJ 54871427000194 · Duração e público-alvo · Resumo do histórico: {"count": 11, "dates": ["2024-12-31", "2025-01-01", "2025-12-31"], "document_count": 3, "sources": [{"document_id": "1151805", "title": "Demonstrações Financeiras", "reference_date": "2025-12-31", "version": "1", "page": 11, "url": "https://fnet.bmfbovespa.com.br/fnet/publico/visualizarDocumento?id=1151805", "sha256": "f1cea70b152968bf96ef9221b27225953cb20aeef487b2798db3c25e11b528d4"}, {"document_id": "869529", "title": "Demonstrações Financeiras", "reference_date": "2025-01-01", "version": "1", "page": 11, "url": "https://fnet.bmfbovespa.com.br/fnet/publico/visualizarDocumento?id=869529", "sha256": "9a93a9369ac8efdbc54ff8fcee3ccac3abf88edab4807b9323d3852450771b2a"}, {"document_id": "870070", "title": "Demonstrações Financeiras", "reference_date": "2024-12-31", "version": "1", "page": 11, "url": "https://fnet.bmfbovespa.com.br/fnet/publico/visualizarDocumento?id=870070", "sha256": "9a93a9369ac8efdbc54ff8fcee3ccac3abf88edab4807b9323d3852450771b2a"}], "reference": {"path": "history/54871427000194.json", "criterion_id": "duration_investors", "total_count": 11, "preview_count": 3, "full_text_deferred": true, "sha256": "35d7cd99be50c7287c9fb675cf4f2e736002315295a225a9efa79c8d9186d874"}}</a:t>
            </a:r>
          </a:p>
          <a:p>
            <a:r>
              <a:t>CNPJ 60010416000112 · Duração e público-alvo · Demonstrações Financeiras - Fusão, cisão e incorporação · ID 1298690 · 2026-05-08 · versão 1 · p. 9 · https://fnet.bmfbovespa.com.br/fnet/publico/visualizarDocumento?id=1298690</a:t>
            </a:r>
          </a:p>
          <a:p>
            <a:r>
              <a:t>CNPJ 60010416000112 · Duração e público-alvo · Excerto da fonte:</a:t>
            </a:r>
          </a:p>
          <a:p>
            <a:r>
              <a:t>1. Contexto operacional  O MT Consignado Privado I Fundo de Investimento em Direitos Creditórios (“Fundo”) possui uma  classe única de cotas, denominada Classe Única do MT I Consignado Privado I Fundo de  Investimento em Direitos Creditórios Responsabilidade Limitada (“Classe”). A Classe foi  constituída em 20 de março de 2025, sob a forma de condomínio fechado e iniciou suas  operações em 21 de março de 2025. A Classe possui prazo de duração indeterminado.</a:t>
            </a:r>
          </a:p>
          <a:p>
            <a:r>
              <a:t>CNPJ 60010416000112 · Duração e público-alvo · Demonstrações Financeiras - Fusão, cisão e incorporação · ID 1298690 · 2026-05-08 · versão 1 · p. 22 · https://fnet.bmfbovespa.com.br/fnet/publico/visualizarDocumento?id=1298690</a:t>
            </a:r>
          </a:p>
          <a:p>
            <a:r>
              <a:t>CNPJ 60010416000112 · Duração e público-alvo · Excerto da fonte:</a:t>
            </a:r>
          </a:p>
          <a:p>
            <a:r>
              <a:t>(ii) Riscos do mercado secundário: A Classe é constituída sob a forma de condomínio  fechado, de modo que as Cotas Subordinadas somente serão resgatadas em virtude da  liquidação da Classe e as Cotas Seniores ao término do seu prazo de duração, conforme  estabelecidos nos respectivos Suplementos. Uma vez que o prazo de duração da Classe  é indeterminado, o Cotista titular das Cotas Subordinadas não terá liquidez em seu  investimento na Classe, exceto (a) por ocasião das amortizações e dos resgates, nos  termos do Regulamento; (b) por meio da alienação de suas Cotas no mercado  secundário, observado, neste caso, que sua alienação apenas é permitida para o Público-  Alvo das Cotas Subordinadas; ou (c) na liquidação antecipada do Fundo ou da Classe.</a:t>
            </a:r>
          </a:p>
          <a:p>
            <a:r>
              <a:t> Além disso, atualmente, o mercado secundário de cotas de fundos de investimento  apresenta baixa liquidez, o que pode dificultar a venda das Cotas ou ocasionar a obtenção  de um preço de venda que cause perda de patrimônio ao Cotista. Não há qualquer  garantia da Administradora, da Gestora, da consultora ou do Custodiante em relação à  possibilidade de venda das Cotas no mercado secundário ou ao preço obtido por elas,  ou mesmo garantia de saída ao Cotista.</a:t>
            </a:r>
          </a:p>
          <a:p>
            <a:r>
              <a:t>CNPJ 60010416000112 · Duração e público-alvo · Condição: Documentos atuais selecionados no inventário por categoria/escopo; a data documental isolada não comprova vigência jurídica.</a:t>
            </a:r>
          </a:p>
          <a:p>
            <a:r>
              <a:t>CNPJ 60010416000112 · Duração e público-alvo · Versão e prevalência: Documentos atuais selecionados no inventário por categoria/escopo; a data documental isolada não comprova vigência jurídica.</a:t>
            </a:r>
          </a:p>
          <a:p>
            <a:r>
              <a:t>CNPJ 60010416000112 · Duração e público-alvo · Resumo do histórico: {"count": 9, "dates": ["2025-11-30", "2026-03-18", "2026-04-16"], "document_count": 3, "sources": [{"document_id": "1282181", "title": "Demonstrações Financeiras - Fusão, cisão e incorporação", "reference_date": "2026-04-16", "version": "1", "page": 23, "url": "https://fnet.bmfbovespa.com.br/fnet/publico/visualizarDocumento?id=1282181", "sha256": "b1c6566e43a00bcd00c8a7f30c77b7f86e351bd8e355bbea113f46d1dafda703"}, {"document_id": "1224477", "title": "Demonstrações Financeiras - Fusão, cisão e incorporação", "reference_date": "2026-03-18", "version": "1", "page": 23, "url": "https://fnet.bmfbovespa.com.br/fnet/publico/visualizarDocumento?id=1224477", "sha256": "0751bf0a75bc3b44c2748f5000226665c6ec6698a90c4dc6170b4e6c187759ae"}, {"document_id": "1126154", "title": "Demonstrações Financeiras", "reference_date": "2025-11-30", "version": "1", "page": 23, "url": "https://fnet.bmfbovespa.com.br/fnet/publico/visualizarDocumento?id=1126154", "sha256": "a01e7ccf88c548f12c95cba8526d7efbef6b585c112cd4668eca781c292090b0"}], "reference": {"path": "history/60010416000112.json", "criterion_id": "duration_investors", "total_count": 9, "preview_count": 3, "full_text_deferred": true, "sha256": "8e2bd813f4c51cf01f6bfaad164bafe69d2bbb192f753eac92da3a01c2e63046"}}</a:t>
            </a:r>
          </a:p>
          <a:p>
            <a:r>
              <a:t>CNPJ 62696791000193 · Duração e público-alvo · Regulamento · ID 1143317 · 2026-03-20 · versão 1 · p. 18 · 8.8.1 · https://fnet.bmfbovespa.com.br/fnet/publico/visualizarDocumento?id=1143317</a:t>
            </a:r>
          </a:p>
          <a:p>
            <a:r>
              <a:t>CNPJ 62696791000193 · Duração e público-alvo · Excerto da fonte:</a:t>
            </a:r>
          </a:p>
          <a:p>
            <a:r>
              <a:t>8.8.1 As Chamadas de Capital para a realização de investimentos serão realizadas a qualquer  momento durante o Período de Investimento e estarão limitadas ao valor do capital subscrito  de cada Cotista. As Chamadas de Capital para o pagamento de despesas e encargos do Fundo  poderão ser realizadas a qualquer momento durante o Prazo de Duração, mas não estarão  limitadas ao valor do capital subscrito de cada Cotista.</a:t>
            </a:r>
          </a:p>
          <a:p>
            <a:r>
              <a:t>CNPJ 62696791000193 · Duração e público-alvo · Regulamento · ID 1143317 · 2026-03-20 · versão 1 · p. 20 · 9.5.1 · https://fnet.bmfbovespa.com.br/fnet/publico/visualizarDocumento?id=1143317</a:t>
            </a:r>
          </a:p>
          <a:p>
            <a:r>
              <a:t>CNPJ 62696791000193 · Duração e público-alvo · Excerto da fonte:</a:t>
            </a:r>
          </a:p>
          <a:p>
            <a:r>
              <a:t>9.5.1 Ao f inal do Prazo de Duração ou quando da liquidação antecipada da Classe, todas as Cotas  deverão ter seu valor integralmente amortizado. Não havendo recursos em moeda corrente  nacional suficientes para realizar o pagamento da amortização total das Cotas em circulação à  época da liquidação da Classe, o Administrador deverá convocar a Assembleia Especial de  Cotistas a fim de deliberar sobre a prorrogação do Prazo de Duração ou o resgate de Cotas em  Direitos Creditórios do Agronegócio e/ou Outros Ativos .</a:t>
            </a:r>
          </a:p>
          <a:p>
            <a:r>
              <a:t>10 ASSEMBLEIA ESPECIAL DE COTISTAS</a:t>
            </a:r>
          </a:p>
          <a:p>
            <a:r>
              <a:t>CNPJ 62696791000193 · Duração e público-alvo · Regulamento · ID 1143317 · 2026-03-20 · versão 1 · p. 23 · 11.1 · https://fnet.bmfbovespa.com.br/fnet/publico/visualizarDocumento?id=1143317</a:t>
            </a:r>
          </a:p>
          <a:p>
            <a:r>
              <a:t>CNPJ 62696791000193 · Duração e público-alvo · Excerto da fonte:</a:t>
            </a:r>
          </a:p>
          <a:p>
            <a:r>
              <a:t>11.1 A Classe será liquidada (i) em caso da liquidação antecipada deliberada em Assembleia Especial de  Cotistas; ou (ii) pelo encerramento do Prazo de Duração da Classe.</a:t>
            </a:r>
          </a:p>
          <a:p>
            <a:r>
              <a:t>CNPJ 62696791000193 · Duração e público-alvo · Condição: Documentos atuais selecionados no inventário por categoria/escopo; a data documental isolada não comprova vigência jurídica.</a:t>
            </a:r>
          </a:p>
          <a:p>
            <a:r>
              <a:t>CNPJ 62696791000193 · Duração e público-alvo · Versão e prevalência: Documentos atuais selecionados no inventário por categoria/escopo; a data documental isolada não comprova vigência jurídica.</a:t>
            </a:r>
          </a:p>
          <a:p>
            <a:r>
              <a:t>CNPJ 55563624000109 · Duração e público-alvo · AGE · ID 1306189 · 2026-08-25 · versão 1 · p. 1 · 4.1 · https://fnet.bmfbovespa.com.br/fnet/publico/visualizarDocumento?id=1306189</a:t>
            </a:r>
          </a:p>
          <a:p>
            <a:r>
              <a:t>CNPJ 55563624000109 · Duração e público-alvo · Excerto da fonte:</a:t>
            </a:r>
          </a:p>
          <a:p>
            <a:r>
              <a:t>4.1 Nos termos do Anexo da Classe, aprovar:</a:t>
            </a:r>
          </a:p>
          <a:p>
            <a:r>
              <a:t>(i) a liquidação da Subclasse A da Classe, considerando o encerramento do seu prazo de duração, por meio do  resgate integral de Cotas da Subclasse A com entrega de financeiro aos Cotistas. Será utilizada como data  base no cálculo da cota do dia 25 de agosto de 2026, com efetivação no fechamento do dia 27 de agosto de  2026; e</a:t>
            </a:r>
          </a:p>
          <a:p>
            <a:r>
              <a:t>(ii) a liquidação antecipada da Subclasse C da Classe, por meio do resgate integral de Cotas da Subclasse C com  entrega de financeiro aos Cotistas. Será utilizada como data base no cálculo da cota do dia 25 de agosto de  2026, com efetivação no fechamento do dia 27 de agosto de 2026.</a:t>
            </a:r>
          </a:p>
          <a:p>
            <a:r>
              <a:t>CNPJ 55563624000109 · Duração e público-alvo · Condição: Documentos atuais selecionados no inventário por categoria/escopo; a data documental isolada não comprova vigência jurídica.</a:t>
            </a:r>
          </a:p>
          <a:p>
            <a:r>
              <a:t>CNPJ 55563624000109 · Duração e público-alvo · Versão e prevalência: Documentos atuais selecionados no inventário por categoria/escopo; a data documental isolada não comprova vigência jurídica.</a:t>
            </a:r>
          </a:p>
          <a:p>
            <a:r>
              <a:t>CNPJ 55563624000109 · Duração e público-alvo · Resumo do histórico: {"count": 6, "dates": ["2026-04-30"], "document_count": 2, "sources": [{"document_id": "1192614", "title": "Regulamento", "reference_date": "2026-04-30", "version": "1", "page": "9, 15, 45-50", "url": "https://fnet.bmfbovespa.com.br/fnet/publico/visualizarDocumento?id=1192614", "sha256": "f56e63ace0acde41d2f47fb48f1ac7f3f7df5e2d32de092d7c5e075a52516632"}, {"document_id": "1192614", "title": "Regulamento", "reference_date": "2026-04-30", "version": "1", "page": 5, "clause": "4.7.1", "url": "https://fnet.bmfbovespa.com.br/fnet/publico/visualizarDocumento?id=1192614", "sha256": "f56e63ace0acde41d2f47fb48f1ac7f3f7df5e2d32de092d7c5e075a52516632"}, {"document_id": "1192603", "title": "AGE", "reference_date": "2026-04-30", "version": "1", "page": 1, "clause": "4.1", "url": "https://fnet.bmfbovespa.com.br/fnet/publico/visualizarDocumento?id=1192603", "sha256": "f53ff2a5b715f5365536305a098f9cc0c54b5a01128942d784915bed8eeb0288"}], "reference": {"path": "history/55563624000109.json", "criterion_id": "duration_investors", "total_count": 6, "preview_count": 3, "full_text_deferred": true, "sha256": "7835d573fb58a3c19adf5b8ecc2aee2bdbb9a88f7a0c0209b5f262b64c7522e3"}}</a:t>
            </a:r>
          </a:p>
          <a:p>
            <a:r>
              <a:t>CNPJ 62552447000120 · Duração e público-alvo · Regulamento · ID 1200623 · 2026-05-21 · versão 1 · p. 22 · 10.4 · https://fnet.bmfbovespa.com.br/fnet/publico/visualizarDocumento?id=1200623</a:t>
            </a:r>
          </a:p>
          <a:p>
            <a:r>
              <a:t>CNPJ 62552447000120 · Duração e público-alvo · Excerto da fonte:</a:t>
            </a:r>
          </a:p>
          <a:p>
            <a:r>
              <a:t>10.4 Tendo em vista que a Classe é exclusivamente destinada a Investidores Profissionais, não serão  aplicáveis as vedações ao direito a voto em assembleia de cotistas dispostas no artigo 78 da Resolução  CVM 175, conf orme disposto no artigo 114 da ref erida Resolução.</a:t>
            </a:r>
          </a:p>
          <a:p>
            <a:r>
              <a:t>CNPJ 62552447000120 · Duração e público-alvo · Regulamento · ID 1200623 · 2026-05-21 · versão 1 · p. 35 · https://fnet.bmfbovespa.com.br/fnet/publico/visualizarDocumento?id=1200623</a:t>
            </a:r>
          </a:p>
          <a:p>
            <a:r>
              <a:t>CNPJ 62552447000120 · Duração e público-alvo · Excerto da fonte:</a:t>
            </a:r>
          </a:p>
          <a:p>
            <a:r>
              <a:t>ativos desses emissores, causando perdas à Classe e ao Cotista. Além disso, a f alta de capacidade ou disposição de pagar por qualquer dos emissores dos Ativos Financeiros de Liquidez ou das contrapartes nas transações que compõem a Carteira causará perdas à Classe, e o que também poderá incorrer em custos para f ins de recuperação de seus recebíveis.</a:t>
            </a:r>
          </a:p>
          <a:p>
            <a:r>
              <a:t>(v) Riscos associados aos Devedores: no caso de Devedores no âmbito das operações de consignado privado, a sua capacidade de pagamento poderá ser af etada se, por exemplo, o Devedor tiver o seu contrato de emprego rescindido ou em virtude de decisão judicial, o Devedor for obrigado a pagar alimentos, que têm prioridade sobre o empréstimo para f ins de desconto na f 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 etar a rentabilidade da Classe. Já no caso de Devedores no âmbito das operações de Saque-aniversário, como os Direitos Creditórios a serem endossados à Classe serão descontados pelo FGTS da remuneração do Devedor, na ocorrência de qualquer evento que, nos termos da legislação aplicável, determine o pagamento antecipado do Saque-aniversário ao Devedor, a exemplo do falecimento do Devedor, dentre outros, as parcelas do Saque- aniversário serão pagas antecipadamente e a Classe deverá utilizar tais montantes no pré-pagamento dos Direitos Creditórios. Nesta hipótese, a Classe poderá não encontrar Direitos Creditórios disponíveis para serem adquiridos pela Classe, o que poderá af etar a rentabilidade da Classe.</a:t>
            </a:r>
          </a:p>
          <a:p>
            <a:r>
              <a:t>Risco de liquidez</a:t>
            </a:r>
          </a:p>
          <a:p>
            <a:r>
              <a:t>(i) Risco de liquidez: consiste no risco de redução ou inexistência de demanda pelos ativos que compõem a Classe nos respectivos mercados em que são negociados, devido às condições específicas desses ativos ou aos mercados em que são negociados. Devido a esses riscos, o Gestor poderá encontrar dificuldades em liquidar posições ou negociar esses ativos pelo preço e prazo desejados, de acordo com a estratégia de gestão adotada pela Classe, que permanecerá exposto, durante o período de baixa liquidez, aos riscos associados a esses ativos e posições assumidas em mercados de derivativos, se houver, que poderão até exigir que o Gestor aceite descontos em seus preços para realizar negociações no mercado. Esses f atores poderão prejudicar o pagamento de Amortizações ao Cotista, nos valores e dentro dos termos aqui estabelecidos.</a:t>
            </a:r>
          </a:p>
          <a:p>
            <a:r>
              <a:t>(ii) Riscos do mercado secundário: A Classe é constituída sob a f orma de condomínio fechado, de modo que as Cotas somente serão resgatadas em virtude da liquidação da Classe. Uma vez que o Prazo de Duração da Classe é indeterminado, o Cotista titular das Cotas não terá liquidez em seu investimento na Classe, exceto</a:t>
            </a:r>
          </a:p>
          <a:p>
            <a:r>
              <a:t>(a) por ocasião das Amortizações e dos resgates, nos termos deste Regulamento; (b) por meio da alienação de suas Cotas no mercado secundário; ou (c) na liquidação antecipada do FUNDO ou da Classe.</a:t>
            </a:r>
          </a:p>
          <a:p>
            <a:r>
              <a:t>Além disso, atualmente, o mercado secundário de cotas de fundos de investimento apresenta baixa liquidez, o que pode dificultar a venda das Cotas ou ocasionar a obtenção de um preço de venda que cause perda de patrimônio ao Cotista. Não há qualquer garantia do Administrador, do Gestor, da consultora ou do Custodiante em relação à possibilidade de venda das Cotas no mercado secundário ou ao preço obtido por elas, ou mesmo garantia de saída ao Cotista.</a:t>
            </a:r>
          </a:p>
          <a:p>
            <a:r>
              <a:t>Riscos específicos</a:t>
            </a:r>
          </a:p>
          <a:p>
            <a:r>
              <a:t>(i)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ficar inadimplente e, consequentemente, não haverá repasse à Classe do respectivo Direito Creditório, o que poderá resultar em perdas f inanceiras à Classe e aos Cotistas. Para os f ins deste Regulamento, “Empregador” signif ica a empresa com qual o Devedor mantém vínculo empregatício registrado junto à CTPS.</a:t>
            </a:r>
          </a:p>
          <a:p>
            <a:r>
              <a:t>(ii) Risco do Empregador não efetuar o desconto em folha: o repasse dos recursos oriundos dos Direitos Creditórios à Classe depende da realização, pelo Empregador, da escrituração da Consignação a ser</a:t>
            </a:r>
          </a:p>
          <a:p>
            <a:r>
              <a:t>CNPJ 62552447000120 · Duração e público-alvo · Regulamento · ID 1200623 · 2026-05-21 · versão 1 · p. 1 · 1.3 · https://fnet.bmfbovespa.com.br/fnet/publico/visualizarDocumento?id=1200623</a:t>
            </a:r>
          </a:p>
          <a:p>
            <a:r>
              <a:t>CNPJ 62552447000120 · Duração e público-alvo · Excerto da fonte:</a:t>
            </a:r>
          </a:p>
          <a:p>
            <a:r>
              <a:t>1.3 Durante o seu prazo de duração, o Fundo, por ato conjunto dos Prestadores de Serviços Essenciais,  poderá constituir diferentes Classes e Subclasses , sendo que cada Classe terá patrimônio segregado e</a:t>
            </a:r>
          </a:p>
          <a:p>
            <a:r>
              <a:t>CNPJ 62552447000120 · Duração e público-alvo · Condição: Documentos atuais selecionados no inventário por categoria/escopo; a data documental isolada não comprova vigência jurídica.</a:t>
            </a:r>
          </a:p>
          <a:p>
            <a:r>
              <a:t>CNPJ 62552447000120 · Duração e público-alvo · Versão e prevalência: Documentos atuais selecionados no inventário por categoria/escopo; a data documental isolada não comprova vigência jurídica.</a:t>
            </a:r>
          </a:p>
          <a:p>
            <a:r>
              <a:t>CNPJ 62552447000120 · Duração e público-alvo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"duration_investors", "total_count": 1, "preview_count": 1, "full_text_deferred": true, "sha256": "d95db8c0613d67ee84118c734588665265ea6b02f86a0318d6a844cbe1d0f82f"}}</a:t>
            </a:r>
          </a:p>
          <a:p>
            <a:r>
              <a:t>CNPJ 63953620000165 · Duração e público-alvo · Anexo ao Regulamento · ID 1222863 · 2026-06-02 · versão 1 · p. 2 · https://fnet.bmfbovespa.com.br/fnet/publico/visualizarDocumento?id=1222863</a:t>
            </a:r>
          </a:p>
          <a:p>
            <a:r>
              <a:t>CNPJ 63953620000165 · Duração e público-alvo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Duração e público-alvo · Anexo ao Regulamento · ID 1222863 · 2026-06-02 · versão 1 · p. 1 · 1.1 · https://fnet.bmfbovespa.com.br/fnet/publico/visualizarDocumento?id=1222863</a:t>
            </a:r>
          </a:p>
          <a:p>
            <a:r>
              <a:t>CNPJ 63953620000165 · Duração e público-alvo · Excerto da fonte:</a:t>
            </a:r>
          </a:p>
          <a:p>
            <a:r>
              <a:t>1.1 As principais características da Classe Consignado Privado (para fins deste Anexo, “Classe”) estão descritas  abaixo:</a:t>
            </a:r>
          </a:p>
          <a:p>
            <a:r>
              <a:t> Tipo de Condomínio Fechado.</a:t>
            </a:r>
          </a:p>
          <a:p>
            <a:r>
              <a:t> Indeterminado, exceto se de outra forma vier a ser deliberado pelos Cotistas  Prazo de Duração  reunidos em Assembleia Especial de Cotistas. (“Prazo de Duração”)  Tipo “Financeiro”.</a:t>
            </a:r>
          </a:p>
          <a:p>
            <a:r>
              <a:t> Classificação ANBIMA  Foco de atuação “Créditos Consignados”.</a:t>
            </a:r>
          </a:p>
          <a:p>
            <a:r>
              <a:t> O objetivo da classe é proporcionar aos seus Cotistas a valorização de suas Cotas  por meio da aplicação de seu Patrimônio Líquido (conforme definido abaixo) na  aquisição de: (i) “Direitos Creditórios Crédito Consignado”, representados por  cédula de crédito bancário regida pela Lei nº 10.931, emitida eletronicamente por  um devedor em favor do endossante (“CCB”) e, consequentemente, os recebíveis  decorrente de cada uma das parcelas vincendas, representando um empréstimo  consignado concedido pelo endossante ao devedor, e cujo pagamento ordinário  é feito por desconto de cada prestação vincenda de uma CCB na folha de  pagamentos do devedor (“Consignação”), efetuada pela Caixa Econômica  Federal, de acordo com a legislação aplicável e em conformidade com os  procedimentos estabelecidos no convênio celebrado entre o Endossante e a  Empresa de Tecnologia e Informações da Previdência – DATAPREV e paga na  Conta Vinculada do Endossante (“Convênio Consignado Privado”); e/ou (ii)  “Direitos Creditórios TVM”, representados por direitos, títulos e/ou valores  mobiliários representativos de créditos originados no âmbito de operações de  sociedades integrantes do conglomerado econômico de instituições financeiras  classificadas como S1 pelo BACEN, desde que não representem títulos de  emissão ou coobrigação de instituições financeiras, bem como cotas de fundos  de investimento que invistam preponderantemente nestes direitos, títulos e/ou  Objetivo  valores mobiliários (Direitos Creditórios TVM quando referidos em conjunto  com os Direitos Creditórios Consignado Privado, “Direitos Creditórios”)  observados todos os limites de composição e diversificação da carteira da Classe  (“Carteira”), estabelecidos neste Regulamento e na regulamentação aplicável.</a:t>
            </a:r>
          </a:p>
          <a:p>
            <a:r>
              <a:t> Subsidiariamente, a parcela do Patrimônio Líquido que não esteja alocada em  Direitos Creditórios poderá estar alocado em: (1) certificados de depósito  bancário (CDB) ou recibos de depósito bancário (RDB) com prazo máximo de  vencimento equivalente ao prazo remanescente do Período de Investimento, com  liquidez diária, emitidos por Parati Crédito, Financiamento e Investimento S.A.</a:t>
            </a:r>
          </a:p>
          <a:p>
            <a:r>
              <a:t> e/ou pelo Endossante (“Ativos de Liquidez MT”); e/ou (2) (i) moeda corrente  nacional; (ii) títulos do Tesouro SELIC, anteriormente denominado letra financeira  do Tesouro Nacional (LFT); (iii) certificados de depósito bancário (CDB) ou recibos  de depósito bancário (RDB) com prazo máximo de vencimento equivalente ao  prazo remanescente do Período de Investimento, com liquidez diária, emitidos  por (a) Itaú Unibanco S.A.; (b) Banco Bradesco S.A.; (c) Caixa Econômica Federal;</a:t>
            </a:r>
          </a:p>
          <a:p>
            <a:r>
              <a:t> (d) Banco do Brasil S.A.; (e) Banco Santander (Brasil) S.A.; (f) Banco BTG Pactual  S.A.; (g) Banco Sistema S.A. (“Instituições Autorizadas”); (iv) operações  compromissadas, desde que lastreadas nos títulos mencionados nas alíneas (i) a</a:t>
            </a:r>
          </a:p>
          <a:p>
            <a:r>
              <a:t> (iii) acima, emitidas por Instituições Autorizadas, com liquidez diária e vencimento</a:t>
            </a:r>
          </a:p>
          <a:p>
            <a:r>
              <a:t>CNPJ 63953620000165 · Duração e público-alvo · Anexo ao Regulamento · ID 1222863 · 2026-06-02 · versão 1 · p. 10 · 6.7.1 · https://fnet.bmfbovespa.com.br/fnet/publico/visualizarDocumento?id=1222863</a:t>
            </a:r>
          </a:p>
          <a:p>
            <a:r>
              <a:t>CNPJ 63953620000165 · Duração e público-alvo · Excerto da fonte:</a:t>
            </a:r>
          </a:p>
          <a:p>
            <a:r>
              <a:t>6.7.1 As Chamadas de Capital para a realização de investimentos serão realizadas a qualquer momento  durante o Período de Investimento e estarão limitadas ao valor do capital subscrito de cada Cotista. As  Chamadas de Capital para o pagamento de despesas e encargos do Fundo, com exceção de despesas  relacionadas à instrumentos de derivativos e/ou Encargos não previstos no âmbito deste regulamento,  poderão ser realizadas a qualquer momento durante o Prazo de Duração, mas não estarão limitadas ao  valor do capital subscrito de cada Cotista.</a:t>
            </a:r>
          </a:p>
          <a:p>
            <a:r>
              <a:t>CNPJ 63953620000165 · Duração e público-alvo · Condição: Documentos atuais selecionados no inventário por categoria/escopo; a data documental isolada não comprova vigência jurídica.</a:t>
            </a:r>
          </a:p>
          <a:p>
            <a:r>
              <a:t>CNPJ 63953620000165 · Duração e público-alvo · Versão e prevalência: Documentos atuais selecionados no inventário por categoria/escopo; a data documental isolada não comprova vigência jurídica.</a:t>
            </a:r>
          </a:p>
          <a:p>
            <a:r>
              <a:t>CNPJ 63953620000165 · Duração e público-alvo · Resumo do histórico: {"count": 8, "dates": ["2026-04-28", "2026-05-08", "2026-05-15"], "document_count": 3, "sources": [{"document_id": "1327859", "title": "Demonstrações Financeiras - Fusão, cisão e incorporação", "reference_date": "2026-05-15", "version": "1", "page": 9, "url": "https://fnet.bmfbovespa.com.br/fnet/publico/visualizarDocumento?id=1327859", "sha256": "dca1c68babb97f887528c3e2e47596a9c30f507b067981a35655b2f2da9c8054"}, {"document_id": "1298691", "title": "Demonstrações Financeiras - Fusão, cisão e incorporação", "reference_date": "2026-05-08", "version": "1", "page": 9, "url": "https://fnet.bmfbovespa.com.br/fnet/publico/visualizarDocumento?id=1298691", "sha256": "58c570d9b8d4d265330d3db3ea81c435b8e44a6dab4002aa37790652a1ee9819"}, {"document_id": "1282180", "title": "Demonstrações Financeiras - Fusão, cisão e incorporação", "reference_date": "2026-04-28", "version": "1", "page": 9, "url": "https://fnet.bmfbovespa.com.br/fnet/publico/visualizarDocumento?id=1282180", "sha256": "afaaa0e6809be4385e5bdb6c911aac582032c5bdbac3d7750234bf9eaf00438a"}], "reference": {"path": "history/63953620000165.json", "criterion_id": "duration_investors",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Alocação e perímetro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Alocação mínima · Base da comparação IME: {"criterion_id": "allocation", "observed_value": 91.84981349574433, "unit": "percent", "competence": "08/2026", "status": "not_comparable", "reason": "Vigência efetiva não comprovada; data do documento isolada não certifica enquadramento histórico.", "formula": "credit_rights / net_asset_value × 100",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50.0}</a:t>
            </a:r>
          </a:p>
          <a:p>
            <a:r>
              <a:t>CNPJ 54871427000194 · Alocação mínima · Regulamento · ID 670691 · 28/04/2024 · versão Regulamento — referência 28/04/2024 · p. 11 · Anexo I, 4.9 · https://fnet.bmfbovespa.com.br/fnet/publico/visualizarDocumento?id=670691</a:t>
            </a:r>
          </a:p>
          <a:p>
            <a:r>
              <a:t>CNPJ 54871427000194 · Alocação mínima · Excerto da fonte:</a:t>
            </a:r>
          </a:p>
          <a:p>
            <a:r>
              <a:t>4.9 Decorridos 180 (cento e oitenta) dias da Data da 1ª Integralização de Cotas, a Classe deverá manter alocado, no mínimo, 50% (cinquenta por cento) do seu Patrimônio Líquido em Direitos Creditórios . 4.10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4.11 A Classe poderá, direta ou indiretamente e, nos termos da legislação aplicável: (i) adquirir Direitos Creditórios que sejam cedidos e/ou originados pelo ADMINISTRADOR e/ou pelo GESTOR, ou partes a eles relacionadas, tal como definidas pelas regras contábeis que tratam desse assunto; e (ii) ceder Direitos Creditórios a qualquer das pessoas, fundos de investimento ou entidades referidas n</a:t>
            </a:r>
          </a:p>
          <a:p>
            <a:r>
              <a:t>CNPJ 54871427000194 · Alocação mínima · Mecânica: {"operator": "&gt;=", "limit": 50.0, "unit": "percent", "numerator": "credit_rights", "denominator": "net_asset_value", "frequency": "daily", "layer": "54871427000194", "document_date": "2024-04-28", "effective_status": "document_date_only", "initial_days": 180}</a:t>
            </a:r>
          </a:p>
          <a:p>
            <a:r>
              <a:t>CNPJ 54871427000194 · Alocação mínima · Versão e prevalência: Leitura específica das cláusulas indicadas; condições e conflitos preservados. Seleção documental atual não comprova vigência jurídica por data isolada.</a:t>
            </a:r>
          </a:p>
          <a:p>
            <a:r>
              <a:t>CNPJ 54871427000194 · Alocação mínima · Resumo do histórico: {"count": 2, "dates": ["2024-04-19", "2024-04-28"], "document_count": 2, "sources": [{"document_id": "670691", "title": "Regulamento", "reference_date": "2024-04-28", "version": "1", "page": "11", "url": "https://fnet.bmfbovespa.com.br/fnet/publico/visualizarDocumento?id=670691", "sha256": "bf16dd7f1a62d5cdbf2e2d54fef81783783f7310fbc99c3a8f00459bdf9d037b"}, {"document_id": "670689", "title": "Regulamento", "reference_date": "2024-04-19", "version": "1", "page": 11, "clause": "4.9", "url": "https://fnet.bmfbovespa.com.br/fnet/publico/visualizarDocumento?id=670689", "sha256": "891bc9bc5d87bbc02ec139077a84d2702eb81ea02035fb71d24f5b8366b94a0b"}], "reference": {"path": "history/54871427000194.json", "criterion_id": "allocation", "total_count": 2, "preview_count": 2, "full_text_deferred": true, "sha256": "35d7cd99be50c7287c9fb675cf4f2e736002315295a225a9efa79c8d9186d874"}}</a:t>
            </a:r>
          </a:p>
          <a:p>
            <a:r>
              <a:t>CNPJ 60010416000112 · Alocação mínima · Base da comparação IME: {"criterion_id": "allocation", "observed_value": 117.78665480900618, "unit": "percent", "competence": "08/2026", "status": "not_comparable", "reason": "Vigência efetiva não comprovada; data do documento isolada não certifica enquadramento histórico.", "formula": "credit_rights / net_asset_value × 100",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50.0}</a:t>
            </a:r>
          </a:p>
          <a:p>
            <a:r>
              <a:t>CNPJ 60010416000112 · Alocação mínima · Regulamento · ID 1051393 · 09/10/2025 · versão Regulamento09/10/2025 · p. 11 · AnexoI4.6 · https://fnet.bmfbovespa.com.br/fnet/publico/visualizarDocumento?id=1051393</a:t>
            </a:r>
          </a:p>
          <a:p>
            <a:r>
              <a:t>CNPJ 60010416000112 · Alocação mínima · Excerto da fonte:</a:t>
            </a:r>
          </a:p>
          <a:p>
            <a:r>
              <a:t>4.6 Decorridos 180 (cento e oitenta) dias do início de suas atividades, a Classe deverá manter alocado, no mínimo: para f ins tributários, 67% (sessenta e sete por cento) do seu Patrimônio Líquido em Direitos Creditórios, nos termos da Resolução CMN 5.111; e para fins regulatórios, 50% (cinquenta por cento) do seu Patrimônio Líquido em Direitos Creditórios, nos termos da Resolução CVM 175. BTG Pactual SAC: 0800 772 28 27 - Ouvidoria: 0800 722 00 48 - btgpactual.com 11</a:t>
            </a:r>
          </a:p>
          <a:p>
            <a:r>
              <a:t>CNPJ 60010416000112 · Alocação mínima · Mecânica: {"operator": "&gt;=", "unit": "percent", "denominator": "net_asset_value", "frequency": "not_stated", "layer": "class", "effective_status": "document_date_only", "document_date": "2025-10-09", "numerator": "credit_rights", "limit": 50.0, "requires_initial_date": true}</a:t>
            </a:r>
          </a:p>
          <a:p>
            <a:r>
              <a:t>CNPJ 60010416000112 · Alocação mínima · Versão e prevalência: Leitura específica das cláusulas indicadas; condições e conflitos preservados. Seleção documental atual não comprova vigência jurídica por data isolada.</a:t>
            </a:r>
          </a:p>
          <a:p>
            <a:r>
              <a:t>CNPJ 60010416000112 · Alocação mínima · Resumo do histórico: {"count": 2, "dates": ["2025-03-20", "2025-10-09"], "document_count": 2, "sources": [{"document_id": "1051393", "title": "Regulamento", "reference_date": "2025-10-09", "version": "1", "page": "11", "url": "https://fnet.bmfbovespa.com.br/fnet/publico/visualizarDocumento?id=1051393", "sha256": "8469d613078ffd5a6c1d217885d8a397a16342c0b937ae4aa24b106505f233ae"}, {"document_id": "993786", "title": "Regulamento", "reference_date": "2025-03-20", "version": "1", "page": 6, "clause": "5.3", "url": "https://fnet.bmfbovespa.com.br/fnet/publico/visualizarDocumento?id=993786", "sha256": "fd0fdd369a195510d81f81f505195a0b09e5f43522a990afa7d58c4f872921c8"}], "reference": {"path": "history/60010416000112.json", "criterion_id": "allocation", "total_count": 2, "preview_count": 2, "full_text_deferred": true, "sha256": "8e2bd813f4c51cf01f6bfaad164bafe69d2bbb192f753eac92da3a01c2e63046"}}</a:t>
            </a:r>
          </a:p>
          <a:p>
            <a:r>
              <a:t>CNPJ 62696791000193 · Alocação mínima · Base da comparação IME: {"criterion_id": "allocation", "observed_value": null, "unit": "percent", "competence": "08/2026", "status": "not_comparable", "reason": "Operador, unidade, numerador ou base contratual sem correspondência exata no IME; proxies de PL/ativos não são intercambiáveis. CPR declarada no FIAGRO não comprova elegibilidade individual nem correspondência integral com a definição contratual de direitos creditórios do agronegócio.",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51.0, "comparison_required": true, "context_value": 99.72659520720684, "context_unit": "percent", "context_formula": "CPR / PL (rubrica declarada no FIAGRO)"}</a:t>
            </a:r>
          </a:p>
          <a:p>
            <a:r>
              <a:t>CNPJ 62696791000193 · Alocação mínima · Regulamento · ID 1143317 · 20/03/2026 · versão Regulamento — referência 20/03/2026 · p. 10 · Anexo I, 4.2 · https://fnet.bmfbovespa.com.br/fnet/publico/visualizarDocumento?id=1143317</a:t>
            </a:r>
          </a:p>
          <a:p>
            <a:r>
              <a:t>CNPJ 62696791000193 · Alocação mínima · Excerto da fonte:</a:t>
            </a:r>
          </a:p>
          <a:p>
            <a:r>
              <a:t>4.2 Decorridos 180 (cento e oitenta) dias do início de suas atividades, a Classe deverá possuir parcela mínima de 51% (cinquenta e um por cento) de seu Patrimônio Líquido representados por Direitos Creditórios do Agronegócio, enquanto a parcela de 49% (quarenta e nove por cento) remanescente deverá ser alocada em Outros Ativos ou Ativos Financeiros de Liquidez. 4.3 Os Direitos Creditórios do Agronegócio serão adquiridos integral ou parcialmente, sempre de acordo com a Política de Investimentos. 4.4 Tendo em vista (i) a natureza variada dos Direitos Creditórios do Agronegócio passíveis de aquisição pela Classe; (ii) a amplitude da Política de Investimentos; e (iii) a potencial diversificação de Cedentes/Endossantes e Devedores, não é possível precisar os processos de origem dos Direitos Creditórios do Agronegócio e as políticas de concessão de crédito adotadas pelos Cedentes/Endossantes. 4.5 Os Direitos Creditórios do Agronegócio deverão contar com toda a documentação necessária para o exercício das prerrogativas decorrentes da titularidade dos ativos, e capaz de comprovar a origem, a existência e a exigibilidade dos Direitos Creditórios do Agronegócio (“Documentos Comprobatórios”)</a:t>
            </a:r>
          </a:p>
          <a:p>
            <a:r>
              <a:t>CNPJ 62696791000193 · Alocação mínima · AGE · ID 1143319 · 20/03/2026 10:00 · versão AGE — referência 20/03/2026 10:00 · p. 3 · AGC 20/03/2026, 4.1(j)–(k) · https://fnet.bmfbovespa.com.br/fnet/publico/visualizarDocumento?id=1143319</a:t>
            </a:r>
          </a:p>
          <a:p>
            <a:r>
              <a:t>CNPJ 62696791000193 · Alocação mínima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Alocação mínima · Condição: Vigente a partir do fechamento de 23/03/2026. O agregado genérico de direitos do IME não comprova, sozinho, a natureza agronegócio de todos os ativos nem a conclusão da carência inicial.</a:t>
            </a:r>
          </a:p>
          <a:p>
            <a:r>
              <a:t>CNPJ 62696791000193 · Alocação mínima · Mecânica: {"operator": "&gt;=", "limit": 51.0, "unit": "percent", "numerator": "agribusiness_credit_rights", "denominator": "net_asset_value", "frequency": "daily", "layer": "62696791000193", "effective_from": "2026-03-23", "effective_status": "explicit_assembly_effective_date", "initial_days": 180, "initial_date": null}</a:t>
            </a:r>
          </a:p>
          <a:p>
            <a:r>
              <a:t>CNPJ 62696791000193 · Alocação mínima · Versão e prevalência: Leitura específica das cláusulas indicadas; condições e conflitos preservados. Seleção documental atual não comprova vigência jurídica por data isolada.</a:t>
            </a:r>
          </a:p>
          <a:p>
            <a:r>
              <a:t>CNPJ 55563624000109 · Alocação mínima · Base da comparação IME: {"criterion_id": "allocation", "observed_value": 99.87020304792446, "unit": "percent", "competence": "08/2026", "status": "not_comparable", "reason": "Vigência efetiva não comprovada; data do documento isolada não certifica enquadramento histórico.", "formula": "fidc_quotas / net_asset_value × 100",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67.0}</a:t>
            </a:r>
          </a:p>
          <a:p>
            <a:r>
              <a:t>CNPJ 55563624000109 · Alocação mínima · Regulamento · ID 1192614 · 30/04/2026 · versão Regulamento30/04/2026 · p. 13 · AnexoI4.10 · https://fnet.bmfbovespa.com.br/fnet/publico/visualizarDocumento?id=1192614</a:t>
            </a:r>
          </a:p>
          <a:p>
            <a:r>
              <a:t>CNPJ 55563624000109 · Alocação mínima · Excerto da fonte:</a:t>
            </a:r>
          </a:p>
          <a:p>
            <a:r>
              <a:t>4.10 Decorridos 180 (cento e oitenta) dias da Data da 1ª Integralização da Classe, a Classe deverá manter alocado, no mínimo, 67% (sessenta e sete por cento) do seu Patrimônio Líquido em Cotas da Classe Investida. 4.11 Nos termos dos artigos 45, parágrafo 7º, e 47 parágrafo único do Anexo Normativo II à Resolução CVM 175, uma vez que as Cotas são destinadas exclusivamente a Investidores Profissionais, a Classe poderá ter até 100% (cem por cento) de seu Patrimônio Líquido alocado em Cotas da Classe Investida, as quais são emitidas pela Classe Investida.</a:t>
            </a:r>
          </a:p>
          <a:p>
            <a:r>
              <a:t>CNPJ 55563624000109 · Alocação mínima · Regulamento · ID 1192614 · 30/04/2026 · versão Regulamento30/04/2026 · p. 12 · AnexoI4.9 · https://fnet.bmfbovespa.com.br/fnet/publico/visualizarDocumento?id=1192614</a:t>
            </a:r>
          </a:p>
          <a:p>
            <a:r>
              <a:t>CNPJ 55563624000109 · Alocação mínima · Excerto da fonte:</a:t>
            </a:r>
          </a:p>
          <a:p>
            <a:r>
              <a:t>4.9 A parcela do Patrimônio Líquido que não estiver alocada em Cotas da Classe Investida será necessariamente alocada em Ativos Financeiros de Liquidez. BTG Pactual SAC: 0800 772 28 27 - Ouvidoria: 0800 722 00 48 - btgpactual.com 5</a:t>
            </a:r>
          </a:p>
          <a:p>
            <a:r>
              <a:t>CNPJ 55563624000109 · Alocação mínima · Mecânica: {"operator": "&gt;=", "limit": 67.0, "unit": "percent", "numerator": "fidc_quotas", "denominator": "net_asset_value", "frequency": "not_stated", "layer": "class", "effective_status": "document_date_only", "document_date": "2026-04-30", "requires_initial_date": true}</a:t>
            </a:r>
          </a:p>
          <a:p>
            <a:r>
              <a:t>CNPJ 55563624000109 · Alocação mínima · Versão e prevalência: Leitura específica das cláusulas indicadas; condições e conflitos preservados. Seleção documental atual não comprova vigência jurídica por data isolada.</a:t>
            </a:r>
          </a:p>
          <a:p>
            <a:r>
              <a:t>CNPJ 55563624000109 · Alocação mínima · Resumo do histórico: {"count": 1, "dates": ["2026-04-30"], "document_count": 1, "sources": [{"document_id": "1192614", "title": "Regulamento", "reference_date": "2026-04-30", "version": "1", "page": "11-13", "url": "https://fnet.bmfbovespa.com.br/fnet/publico/visualizarDocumento?id=1192614", "sha256": "f56e63ace0acde41d2f47fb48f1ac7f3f7df5e2d32de092d7c5e075a52516632"}], "reference": {"path": "history/55563624000109.json", "criterion_id": "allocation", "total_count": 1, "preview_count": 1, "full_text_deferred": true, "sha256": "7835d573fb58a3c19adf5b8ecc2aee2bdbb9a88f7a0c0209b5f262b64c7522e3"}}</a:t>
            </a:r>
          </a:p>
          <a:p>
            <a:r>
              <a:t>CNPJ 62552447000120 · Alocação mínima · Base da comparação IME: {"criterion_id": "allocation", "observed_value": 104.36099466414683, "unit": "percent", "competence": "08/2026", "status": "not_comparable", "reason": "Vigência efetiva não comprovada; data do documento isolada não certifica enquadramento histórico.", "formula": "credit_rights / net_asset_value × 100",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50.0}</a:t>
            </a:r>
          </a:p>
          <a:p>
            <a:r>
              <a:t>CNPJ 62552447000120 · Alocação mínima · Regulamento · ID 1200623 · 21/05/2026 · versão Consolidado21/05/2026 aprovado pelo ato1200625 · p. 14 · AnexoI4.9 · https://fnet.bmfbovespa.com.br/fnet/publico/visualizarDocumento?id=1200623</a:t>
            </a:r>
          </a:p>
          <a:p>
            <a:r>
              <a:t>CNPJ 62552447000120 · Alocação mínima · Excerto da fonte:</a:t>
            </a:r>
          </a:p>
          <a:p>
            <a:r>
              <a:t>4.9 Decorridos 180 (cento e oitenta) dias da Data da Primeira Integralização, a Classe deverá manter alocados em Direitos Creditórios, no mínimo, para fins tributários, 67% (sessenta e sete por cento) do seu Patrimônio Líquido, nos termos da Lei 14.754 e da Resolução CMN 5.111, e, para fins regulatórios, 50% (cinquenta por cento) do seu Patrimônio Líquido, nos termos da Resolução CVM 175. Eventual desenquadramento da Carteira obrigará o Gestor aos procedimentos de desenquadramento e reenquadramento previstos na Lei 14.754 e na Resolução CMN 5.111, para f ins tributários, e na Resolução CVM 175, par</a:t>
            </a:r>
          </a:p>
          <a:p>
            <a:r>
              <a:t>CNPJ 62552447000120 · Alocação mínima · Mecânica: {"operator": "&gt;=", "unit": "percent", "numerator": "credit_rights", "denominator": "net_asset_value", "frequency": "not_stated", "layer": "class", "effective_status": "document_date_only", "document_date": "2026-05-21", "requires_initial_date": true, "limit": 50.0}</a:t>
            </a:r>
          </a:p>
          <a:p>
            <a:r>
              <a:t>CNPJ 62552447000120 · Alocação mínima · Versão e prevalência: Leitura específica das cláusulas indicadas; condições e conflitos preservados. Seleção documental atual não comprova vigência jurídica por data isolada.</a:t>
            </a:r>
          </a:p>
          <a:p>
            <a:r>
              <a:t>CNPJ 63953620000165 · Alocação mínima · Base da comparação IME: {"criterion_id": "allocation", "observed_value": 93.29241106598856, "unit": "percent", "competence": "08/2026", "status": "not_comparable", "reason": "Vigência efetiva não comprovada; data do documento isolada não certifica enquadramento histórico.", "formula": "credit_rights / net_asset_value × 100",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50.0}</a:t>
            </a:r>
          </a:p>
          <a:p>
            <a:r>
              <a:t>CNPJ 63953620000165 · Alocação mínima · Anexo ao Regulamento · ID 1222863 · 02/06/2026 · versão AnexoConsignadoPrivado02/06/2026 · p. 6 · 4.13 · https://fnet.bmfbovespa.com.br/fnet/publico/visualizarDocumento?id=1222863</a:t>
            </a:r>
          </a:p>
          <a:p>
            <a:r>
              <a:t>CNPJ 63953620000165 · Alocação mínima · Excerto da fonte:</a:t>
            </a:r>
          </a:p>
          <a:p>
            <a:r>
              <a:t>4.13 Decorridos 180 (cento e oitenta) dias do início de suas atividades, a Classe deverá manter alocado, no mínimo, para fins tributários, 67% (sessenta e sete por cento) do seu Patrimônio Líquido em Direitos Creditórios, nos termos da Resolução CMN 5.111, e para fins regulatórios, 50% (cinquenta por cento) do seu Patrimônio Líquido em Direitos Creditórios, nos termos da Resolução CVM 175. 4.14 Nos termos do Art. 45, §7º, inciso II, do Anexo Normativo II da Resolução CVM 175, a Classe poderá ter até 100% (cem por cento) de seu Patrimônio Líquido alocado em Direitos Creditórios, derivativos, observado o disposto nest</a:t>
            </a:r>
          </a:p>
          <a:p>
            <a:r>
              <a:t>CNPJ 63953620000165 · Alocação mínima · Mecânica: {"operator": "&gt;=", "unit": "percent", "denominator": "net_asset_value", "frequency": "not_stated", "layer": "class", "effective_status": "document_date_only", "document_date": "2026-06-02", "limit": 50.0, "numerator": "credit_rights", "requires_initial_date": true}</a:t>
            </a:r>
          </a:p>
          <a:p>
            <a:r>
              <a:t>CNPJ 63953620000165 · Alocação mínima · Versão e prevalência: Leitura específica das cláusulas indicadas; condições e conflitos preservados. Seleção documental atual não comprova vigência jurídica por data isolada.</a:t>
            </a:r>
          </a:p>
          <a:p>
            <a:r>
              <a:t>CNPJ 54871427000194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null, "comparison_required": true, "context_formula": "Direitos creditórios / PL", "context_value": 91.84981349574433, "context_unit": "percent"}</a:t>
            </a:r>
          </a:p>
          <a:p>
            <a:r>
              <a:t>CNPJ 54871427000194 · Alocação para tratamento tributário · Regulamento · ID 670691 · 2024-04-28 · versão 1 · p. 5 · https://fnet.bmfbovespa.com.br/fnet/publico/visualizarDocumento?id=670691</a:t>
            </a:r>
          </a:p>
          <a:p>
            <a:r>
              <a:t>CNPJ 54871427000194 · Alocação para tratamento tributário · Excerto da fonte:</a:t>
            </a:r>
          </a:p>
          <a:p>
            <a:r>
              <a:t>Os rendimentos auf eridos pelo cotista do FUNDO estarão sujeitos à tributação pelo IR, à alíquota de  15% (quinze por cento), na data da distribuição de rendimentos ou d a amortização de cotas,  considerando que o FUNDO seja classificado como entidade de investimento e cumpra os critérios de  composição da carteira com, no mínimo, 67% (sessenta e sete por cento) de direitos creditórios de  acordo com a Lei nº 14.754, de 12 de dezembro de 2023 (“Lei 14.754”) e a Resolução do Conselho  Monetário Nacional nº 5.111, de 21 de dezembro de 2023 (“Resolução CMN 5.111”).</a:t>
            </a:r>
          </a:p>
          <a:p>
            <a:r>
              <a:t>CNPJ 54871427000194 · Alocação para tratamento tributário · Regulamento · ID 670691 · 2024-04-28 · versão 1 · p. 5 · https://fnet.bmfbovespa.com.br/fnet/publico/visualizarDocumento?id=670691</a:t>
            </a:r>
          </a:p>
          <a:p>
            <a:r>
              <a:t>CNPJ 54871427000194 · Alocação para tratamento tributário · Excerto da fonte:</a:t>
            </a:r>
          </a:p>
          <a:p>
            <a:r>
              <a:t>A GESTORA do FUNDO buscará manter o cumprimento do requisito de composição da carteira do  FUNDO com, no mínimo 67% (sessenta e sete por cento) em direitos creditórios acima comentados.</a:t>
            </a:r>
          </a:p>
          <a:p>
            <a:r>
              <a:t> Todavia, caso a composição mínima do patrimônio líquido do FUNDO não seja atingida e ocorra o  ef etivo desenquadramento tributário da carteira, os cotistas pessoa f ísica ou jurídica residentes no  Brasil passarão a se sujeitar à regra geral de tributação de fundos, conforme previsto no art. 17 da Lei</a:t>
            </a:r>
          </a:p>
          <a:p>
            <a:r>
              <a:t> 14.754, segundo a qual: (1) haverá incidência periódica de IR todo mês de maio e novembro de cada  ano-calendário sobre os rendimentos auferidos pelo cotista em relação ao investimento nas cotas do  FUNDO, à alíquota de 15% (quinze por cento) ou 20% (vinte por cento), a depender da carteira do  FUNDO ser classificada, respectivamente, como de curto ou longo prazo; e (2) haverá incidência de IR  complementar, conforme alíquotas regressivas que variam de 22,5% (vinte e dois e meio por cento) a  15% (quinze por cento) a depender do prazo de aplicação, por ocasião da amortização ou liquidação  das Cotas do FUNDO. Certos tipos de investidor podem se benef iciar de alíquotas dif erenciadas.</a:t>
            </a:r>
          </a:p>
          <a:p>
            <a:r>
              <a:t>CNPJ 54871427000194 · Alocação para tratamento tributário · Condição: Documentos atuais selecionados no inventário por categoria/escopo; a data documental isolada não comprova vigência jurídica.</a:t>
            </a:r>
          </a:p>
          <a:p>
            <a:r>
              <a:t>CNPJ 54871427000194 · Alocação para tratamento tributário · Versão e prevalência: Documentos atuais selecionados no inventário por categoria/escopo; a data documental isolada não comprova vigência jurídica.</a:t>
            </a:r>
          </a:p>
          <a:p>
            <a:r>
              <a:t>CNPJ 54871427000194 · Alocação para tratamento tributário · Resumo do histórico: {"count": 1, "dates": ["2024-04-19"], "document_count": 1, "sources": [{"document_id": "670689", "title": "Regulamento", "reference_date": "2024-04-19", "version": "1", "page": 5, "url": "https://fnet.bmfbovespa.com.br/fnet/publico/visualizarDocumento?id=670689", "sha256": "891bc9bc5d87bbc02ec139077a84d2702eb81ea02035fb71d24f5b8366b94a0b"}], "reference": {"path": "history/54871427000194.json", "criterion_id": "tax_allocation", "total_count": 1, "preview_count": 1, "full_text_deferred": true, "sha256": "35d7cd99be50c7287c9fb675cf4f2e736002315295a225a9efa79c8d9186d874"}}</a:t>
            </a:r>
          </a:p>
          <a:p>
            <a:r>
              <a:t>CNPJ 60010416000112 · Alocação para tratamento tributário · Base da comparação IME: {"criterion_id": "tax_allocation", "observed_value": 117.78665480900618, "unit": "percent", "competence": "08/2026", "status": "not_comparable", "reason": "Vigência efetiva não comprovada; data do documento isolada não certifica enquadramento histórico.", "formula": "credit_rights / net_asset_value × 100",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67.0}</a:t>
            </a:r>
          </a:p>
          <a:p>
            <a:r>
              <a:t>CNPJ 60010416000112 · Alocação para tratamento tributário · Regulamento · ID 1051393 · 09/10/2025 · versão Regulamento09/10/2025 · p. 11 · AnexoI4.6 · https://fnet.bmfbovespa.com.br/fnet/publico/visualizarDocumento?id=1051393</a:t>
            </a:r>
          </a:p>
          <a:p>
            <a:r>
              <a:t>CNPJ 60010416000112 · Alocação para tratamento tributário · Excerto da fonte:</a:t>
            </a:r>
          </a:p>
          <a:p>
            <a:r>
              <a:t>4.6 Decorridos 180 (cento e oitenta) dias do início de suas atividades, a Classe deverá manter alocado, no mínimo: para f ins tributários, 67% (sessenta e sete por cento) do seu Patrimônio Líquido em Direitos Creditórios, nos termos da Resolução CMN 5.111; e para fins regulatórios, 50% (cinquenta por cento) do seu Patrimônio Líquido em Direitos Creditórios, nos termos da Resolução CVM 175. BTG Pactual SAC: 0800 772 28 27 - Ouvidoria: 0800 722 00 48 - btgpactual.com 11</a:t>
            </a:r>
          </a:p>
          <a:p>
            <a:r>
              <a:t>CNPJ 60010416000112 · Alocação para tratamento tributário · Mecânica: {"operator": "&gt;=", "unit": "percent", "denominator": "net_asset_value", "frequency": "not_stated", "layer": "class", "effective_status": "document_date_only", "document_date": "2025-10-09", "numerator": "credit_rights", "limit": 67.0, "requires_initial_date": true}</a:t>
            </a:r>
          </a:p>
          <a:p>
            <a:r>
              <a:t>CNPJ 60010416000112 · Alocação para tratamento tributário · Versão e prevalência: Leitura específica das cláusulas indicadas; condições e conflitos preservados. Seleção documental atual não comprova vigência jurídica por data isolada.</a:t>
            </a:r>
          </a:p>
          <a:p>
            <a:r>
              <a:t>CNPJ 60010416000112 · Alocação para tratamento tributário · Resumo do histórico: {"count": 1, "dates": ["2025-03-20"], "document_count": 1, "sources": [{"document_id": "993786", "title": "Regulamento", "reference_date": "2025-03-20", "version": "1", "page": 6, "clause": "5.3", "url": "https://fnet.bmfbovespa.com.br/fnet/publico/visualizarDocumento?id=993786", "sha256": "fd0fdd369a195510d81f81f505195a0b09e5f43522a990afa7d58c4f872921c8"}], "reference": {"path": "history/60010416000112.json", "criterion_id": "tax_allocation", "total_count": 1, "preview_count": 1, "full_text_deferred": true, "sha256": "8e2bd813f4c51cf01f6bfaad164bafe69d2bbb192f753eac92da3a01c2e63046"}}</a:t>
            </a:r>
          </a:p>
          <a:p>
            <a:r>
              <a:t>CNPJ 62696791000193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null, "comparison_required": true, "context_formula": "Direitos creditórios / PL", "context_value": null, "context_unit": "percent"}</a:t>
            </a:r>
          </a:p>
          <a:p>
            <a:r>
              <a:t>CNPJ 62696791000193 · Alocação para tratamento tributário · Regulamento · ID 1143317 · 2026-03-20 · versão 1 · p. 30 · https://fnet.bmfbovespa.com.br/fnet/publico/visualizarDocumento?id=1143317</a:t>
            </a:r>
          </a:p>
          <a:p>
            <a:r>
              <a:t>CNPJ 62696791000193 · Alocação para tratamento tributário · Excerto da fonte:</a:t>
            </a:r>
          </a:p>
          <a:p>
            <a:r>
              <a:t>Os rendimentos distribuídos pela Classe, de modo geral, sujeitam-se à incidência do IRF à alíquota  de 20% (vinte por cento), inclusive quando distribuídos à Cotista que seja pessoa jurídica isenta.</a:t>
            </a:r>
          </a:p>
          <a:p>
            <a:r>
              <a:t> Os ganhos de capital ou rendimentos auf eridos na alienação ou no resgate de cotas da Classe  sujeitam-se à tributação pelo IRF à alíquota de 20% (vinte por cento), no caso de resgate de cotas,  ou conforme normas aplicáveis aos ganhos de capital ou ganhos líquidos auf eridos em renda  variável, nos casos de alienação de cotas.</a:t>
            </a:r>
          </a:p>
          <a:p>
            <a:r>
              <a:t> O IRF pago será considerado: (i) antecipação da tributação corporativa para os investidores pessoa  jurídica (nos regimes de lucro real, presumido ou arbitrado); e (ii) def initivo, nos demais casos,  incluindo de investidores pessoas f ísicas.</a:t>
            </a:r>
          </a:p>
          <a:p>
            <a:r>
              <a:t> Não obstante o disposto no item acima, em conf ormidade com o disposto na Lei 11.033, com a  redação dada pela Lei nº 14.754, o cotista pessoa f ísica f icará isento do IRF e na declaração de  ajuste anual, sobre as distribuições de lucro realizadas pela Classe, exclusivamente na hipótese de  a Classe, cumulativamente: (a) possuir, no mínimo, 100 (cem) cotistas; e (b) as cotas serem  admitidas à negociação exclusivamente em bolsas de valores ou no mercado de balcão organizado.</a:t>
            </a:r>
          </a:p>
          <a:p>
            <a:r>
              <a:t> O benef ício não será concedido ao Cotista que for pessoa física, titular de cotas que representem  10% (dez por cento) ou mais da totalidade das cotas emitidas pela Classe ou cujas cotas lhe derem  direito ao recebimento de rendimento superior a 10% (dez por cento) do total de rendimentos  auf eridos pela Classe.</a:t>
            </a:r>
          </a:p>
          <a:p>
            <a:r>
              <a:t> O benef ício também não será concedido aos Cotistas pessoas físicas que, individualmente ou em  conjunto com parentes até segundo grau, sejam titulares de cotas que representem 30% (trinta por  cento) ou mais da totalidade das cotas emitidas pela Classe, ou ainda cujas cotas lhes derem direito  ao recebimento de rendimento superior a 30% (trinta por cento) do total de rendimentos auf eridos  pela Classe.</a:t>
            </a:r>
          </a:p>
          <a:p>
            <a:r>
              <a:t> Não há garantia de que o benef ício f iscal atualmente vigente não venha a ser posteriormente  restringido, suspenso, revogado ou extinto por legislação superveniente, ocasião na qual poderá vir  a incidir a tributação sobre os rendimentos distribuídos pela Classe, de acordo com os termos da  legislação que vier a estabelecer a incidência tributária.</a:t>
            </a:r>
          </a:p>
          <a:p>
            <a:r>
              <a:t>CNPJ 62696791000193 · Alocação para tratamento tributário · Condição: Documentos atuais selecionados no inventário por categoria/escopo; a data documental isolada não comprova vigência jurídica.</a:t>
            </a:r>
          </a:p>
          <a:p>
            <a:r>
              <a:t>CNPJ 62696791000193 · Alocação para tratamento tributário · Versão e prevalência: Documentos atuais selecionados no inventário por categoria/escopo; a data documental isolada não comprova vigência jurídica.</a:t>
            </a:r>
          </a:p>
          <a:p>
            <a:r>
              <a:t>CNPJ 55563624000109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null, "comparison_required": true, "context_formula": "Direitos creditórios / PL", "context_value": 0.0, "context_unit": "percent"}</a:t>
            </a:r>
          </a:p>
          <a:p>
            <a:r>
              <a:t>CNPJ 55563624000109 · Alocação para tratamento tributário · Regulamento · ID 1192614 · 2026-04-30 · versão 1 · p. 38 · https://fnet.bmfbovespa.com.br/fnet/publico/visualizarDocumento?id=1192614</a:t>
            </a:r>
          </a:p>
          <a:p>
            <a:r>
              <a:t>CNPJ 55563624000109 · Alocação para tratamento tributário · Excerto da fonte:</a:t>
            </a:r>
          </a:p>
          <a:p>
            <a:r>
              <a:t>(xiii) Risco de descaracterização do regime tributário aplicável à Classe. Caso (a) a Classe deixe de  cumprir com o percentual de, pelo menos, 67% (sessenta e sete por cento) do Patrimônio Líquido  aplicado em direitos creditórios, nos termos dos artigos 18, 19 e 24 da Lei 14.754, para fins de  enquadramento do FUNDO e da Classe como “Entidade de Investimento” na forma da Resolução do  CMN nº 5.111, de 21 de dezembro de 2023, conforme alterada, ou qualquer outra norma que venha  a substitui-la, sujeitando o FUNDO e a Classe ao “Regime Específico dos Fundos Não Sujeitos à  Tributação Periódica” conforme a na Seção III da Lei 14.754 ou deixe de satisfazer qualquer uma das  condições previstas na Lei 14.754, neste Anexo e/ou no Regulamento; e/ou (b) o FUNDO ou Classe  deixe de ser enquadrado como “Entidade de Investimento” na forma da Resolução do CMN nº 5.111,  de 21 de dezembro de 2023, ou demais normas do CMN e da CVM, não é possível garantir que o  FUNDO e/ou Classe continuarão a receber o tratamento tributário destinado ao “Regime Específico  dos Fundos Não Sujeitos à Tributação Periódica”, conforme definido na legislação específica.</a:t>
            </a:r>
          </a:p>
          <a:p>
            <a:r>
              <a:t>CNPJ 55563624000109 · Alocação para tratamento tributário · Regulamento · ID 1192614 · 2026-04-30 · versão 1 · p. 6 · https://fnet.bmfbovespa.com.br/fnet/publico/visualizarDocumento?id=1192614</a:t>
            </a:r>
          </a:p>
          <a:p>
            <a:r>
              <a:t>CNPJ 55563624000109 · Alocação para tratamento tributário · Excerto da fonte:</a:t>
            </a:r>
          </a:p>
          <a:p>
            <a:r>
              <a:t>No caso de Fundos de Investimento em Direitos Creditórios (FIDC) classificados como “entidade de investimento” e  cuja carteira seja composta por, no mínimo, 67% (sessenta e sete por cento) de direitos creditórios conforme definições  prescritas em regulamentação expedida pelo Conselho Monetário Nacional, os rendimentos auferidos na amortização  ou no resgate das cotas, inclusive quando decorrentes da liquidação do FUNDO, ficam sujeitos à incidência do IRF à  alíquota de 15% (quinze por cento) sobre a diferença positiva entre o valor de amortização ou resgate e o custo de  aquisição das Cotas.</a:t>
            </a:r>
          </a:p>
          <a:p>
            <a:r>
              <a:t>CNPJ 55563624000109 · Alocação para tratamento tributário · Condição: Documentos atuais selecionados no inventário por categoria/escopo; a data documental isolada não comprova vigência jurídica.</a:t>
            </a:r>
          </a:p>
          <a:p>
            <a:r>
              <a:t>CNPJ 55563624000109 · Alocação para tratamento tributário · Versão e prevalência: Documentos atuais selecionados no inventário por categoria/escopo; a data documental isolada não comprova vigência jurídica.</a:t>
            </a:r>
          </a:p>
          <a:p>
            <a:r>
              <a:t>CNPJ 55563624000109 · Alocação para tratamento tributário · Resumo do histórico: {"count": 2, "dates": ["2025-01-31", "2026-01-31"], "document_count": 2, "sources": [{"document_id": "1178840", "title": "Demonstrações Financeiras", "reference_date": "2026-01-31", "version": "1", "page": 23, "url": "https://fnet.bmfbovespa.com.br/fnet/publico/visualizarDocumento?id=1178840", "sha256": "c458e98664c5c907ddb5a05a94b120bed4e05295b2bfc420f5ba69af0a229abe"}, {"document_id": "891861", "title": "Demonstrações Financeiras", "reference_date": "2025-01-31", "version": "1", "page": 24, "url": "https://fnet.bmfbovespa.com.br/fnet/publico/visualizarDocumento?id=891861", "sha256": "e9cb9e6ddbe505fe068cfcac33605165a98313489de0d3ce6d4d238263c3f3e7"}], "reference": {"path": "history/55563624000109.json", "criterion_id": "tax_allocation", "total_count": 2, "preview_count": 2, "full_text_deferred": true, "sha256": "7835d573fb58a3c19adf5b8ecc2aee2bdbb9a88f7a0c0209b5f262b64c7522e3"}}</a:t>
            </a:r>
          </a:p>
          <a:p>
            <a:r>
              <a:t>CNPJ 62552447000120 · Alocação para tratamento tributário · Base da comparação IME: {"criterion_id": "tax_allocation", "observed_value": 104.36099466414683, "unit": "percent", "competence": "08/2026", "status": "not_comparable", "reason": "Vigência efetiva não comprovada; data do documento isolada não certifica enquadramento histórico.", "formula": "credit_rights / net_asset_value × 100",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67.0}</a:t>
            </a:r>
          </a:p>
          <a:p>
            <a:r>
              <a:t>CNPJ 62552447000120 · Alocação para tratamento tributário · Regulamento · ID 1200623 · 21/05/2026 · versão Consolidado21/05/2026 aprovado pelo ato1200625 · p. 14 · AnexoI4.9 · https://fnet.bmfbovespa.com.br/fnet/publico/visualizarDocumento?id=1200623</a:t>
            </a:r>
          </a:p>
          <a:p>
            <a:r>
              <a:t>CNPJ 62552447000120 · Alocação para tratamento tributário · Excerto da fonte:</a:t>
            </a:r>
          </a:p>
          <a:p>
            <a:r>
              <a:t>4.9 Decorridos 180 (cento e oitenta) dias da Data da Primeira Integralização, a Classe deverá manter alocados em Direitos Creditórios, no mínimo, para fins tributários, 67% (sessenta e sete por cento) do seu Patrimônio Líquido, nos termos da Lei 14.754 e da Resolução CMN 5.111, e, para fins regulatórios, 50% (cinquenta por cento) do seu Patrimônio Líquido, nos termos da Resolução CVM 175. Eventual desenquadramento da Carteira obrigará o Gestor aos procedimentos de desenquadramento e reenquadramento previstos na Lei 14.754 e na Resolução CMN 5.111, para f ins tributários, e na Resolução CVM 175, par</a:t>
            </a:r>
          </a:p>
          <a:p>
            <a:r>
              <a:t>CNPJ 62552447000120 · Alocação para tratamento tributário · Mecânica: {"operator": "&gt;=", "unit": "percent", "numerator": "credit_rights", "denominator": "net_asset_value", "frequency": "not_stated", "layer": "class", "effective_status": "document_date_only", "document_date": "2026-05-21", "requires_initial_date": true, "limit": 67.0}</a:t>
            </a:r>
          </a:p>
          <a:p>
            <a:r>
              <a:t>CNPJ 62552447000120 · Alocação para tratamento tributário · Versão e prevalência: Leitura específica das cláusulas indicadas; condições e conflitos preservados. Seleção documental atual não comprova vigência jurídica por data isolada.</a:t>
            </a:r>
          </a:p>
          <a:p>
            <a:r>
              <a:t>CNPJ 63953620000165 · Alocação para tratamento tributário · Base da comparação IME: {"criterion_id": "tax_allocation", "observed_value": 93.29241106598856, "unit": "percent", "competence": "08/2026", "status": "not_comparable", "reason": "Vigência efetiva não comprovada; data do documento isolada não certifica enquadramento histórico.", "formula": "credit_rights / net_asset_value × 100",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67.0}</a:t>
            </a:r>
          </a:p>
          <a:p>
            <a:r>
              <a:t>CNPJ 63953620000165 · Alocação para tratamento tributário · Anexo ao Regulamento · ID 1222863 · 02/06/2026 · versão AnexoConsignadoPrivado02/06/2026 · p. 6 · 4.13 · https://fnet.bmfbovespa.com.br/fnet/publico/visualizarDocumento?id=1222863</a:t>
            </a:r>
          </a:p>
          <a:p>
            <a:r>
              <a:t>CNPJ 63953620000165 · Alocação para tratamento tributário · Excerto da fonte:</a:t>
            </a:r>
          </a:p>
          <a:p>
            <a:r>
              <a:t>4.13 Decorridos 180 (cento e oitenta) dias do início de suas atividades, a Classe deverá manter alocado, no mínimo, para fins tributários, 67% (sessenta e sete por cento) do seu Patrimônio Líquido em Direitos Creditórios, nos termos da Resolução CMN 5.111, e para fins regulatórios, 50% (cinquenta por cento) do seu Patrimônio Líquido em Direitos Creditórios, nos termos da Resolução CVM 175. 4.14 Nos termos do Art. 45, §7º, inciso II, do Anexo Normativo II da Resolução CVM 175, a Classe poderá ter até 100% (cem por cento) de seu Patrimônio Líquido alocado em Direitos Creditórios, derivativos, observado o disposto nest</a:t>
            </a:r>
          </a:p>
          <a:p>
            <a:r>
              <a:t>CNPJ 63953620000165 · Alocação para tratamento tributário · Mecânica: {"operator": "&gt;=", "unit": "percent", "denominator": "net_asset_value", "frequency": "not_stated", "layer": "class", "effective_status": "document_date_only", "document_date": "2026-06-02", "limit": 67.0, "numerator": "credit_rights", "requires_initial_date": true}</a:t>
            </a:r>
          </a:p>
          <a:p>
            <a:r>
              <a:t>CNPJ 63953620000165 · Alocação para tratamento tributário · Versão e prevalência: Leitura específica das cláusulas indicadas; condições e conflitos preservados. Seleção documental atual não comprova vigência jurídica por data isolada.</a:t>
            </a:r>
          </a:p>
          <a:p>
            <a:r>
              <a:t>CNPJ 54871427000194 · Classes investidas e limites do FIC · Demonstrações Financeiras - Fusão, cisão e incorporação · ID 1219522 · 2026-02-02 · versão 1 · p. 31 · https://fnet.bmfbovespa.com.br/fnet/publico/visualizarDocumento?id=1219522</a:t>
            </a:r>
          </a:p>
          <a:p>
            <a:r>
              <a:t>CNPJ 54871427000194 · Classes investidas e limites do FIC · Excerto da fonte:</a:t>
            </a:r>
          </a:p>
          <a:p>
            <a:r>
              <a:t>xv) Risco Regulatório e Judicial. Eventuais alterações ou novas normas ou leis aplicáveis à Classe,  seus ativos e a eventuais fundos investidos, incluindo, mas não se limitando àquelas referentes  a tributos, bem como decisões judiciais ou jurisprudência aplicando as regulamentações  existentes ou interpretando novas regulamentações, podem causar um efeito adverso relevante  no preço dos ativos e/ou na performance das posições financeiras adquiridas pela Classe e/ou  pelos fundos Investidos. Ainda, nesse sentido, poderão ocorrer interferências de autoridades  governamentais e órgãos reguladores na regulação dos mercados, bem como alterações das  políticas monetária e cambial. Tais eventos poderão impactar de maneira adversa o valor das  Cotas.</a:t>
            </a:r>
          </a:p>
          <a:p>
            <a:r>
              <a:t>CNPJ 54871427000194 · Classes investidas e limites do FIC · Condição: Documentos atuais selecionados no inventário por categoria/escopo; a data documental isolada não comprova vigência jurídica.</a:t>
            </a:r>
          </a:p>
          <a:p>
            <a:r>
              <a:t>CNPJ 54871427000194 · Classes investidas e limites do FIC · Versão e prevalência: Documentos atuais selecionados no inventário por categoria/escopo; a data documental isolada não comprova vigência jurídica.</a:t>
            </a:r>
          </a:p>
          <a:p>
            <a:r>
              <a:t>CNPJ 54871427000194 · Classes investidas e limites do FIC · Resumo do histórico: {"count": 5, "dates": ["2024-12-31", "2025-01-01", "2025-12-31"], "document_count": 3, "sources": [{"document_id": "1151805", "title": "Demonstrações Financeiras", "reference_date": "2025-12-31", "version": "1", "page": 31, "url": "https://fnet.bmfbovespa.com.br/fnet/publico/visualizarDocumento?id=1151805", "sha256": "f1cea70b152968bf96ef9221b27225953cb20aeef487b2798db3c25e11b528d4"}, {"document_id": "869529", "title": "Demonstrações Financeiras", "reference_date": "2025-01-01", "version": "1", "page": 32, "url": "https://fnet.bmfbovespa.com.br/fnet/publico/visualizarDocumento?id=869529", "sha256": "9a93a9369ac8efdbc54ff8fcee3ccac3abf88edab4807b9323d3852450771b2a"}, {"document_id": "870070", "title": "Demonstrações Financeiras", "reference_date": "2024-12-31", "version": "1", "page": 32, "url": "https://fnet.bmfbovespa.com.br/fnet/publico/visualizarDocumento?id=870070", "sha256": "9a93a9369ac8efdbc54ff8fcee3ccac3abf88edab4807b9323d3852450771b2a"}], "reference": {"path": "history/54871427000194.json", "criterion_id": "investee", "total_count": 5, "preview_count": 3, "full_text_deferred": true, "sha256": "35d7cd99be50c7287c9fb675cf4f2e736002315295a225a9efa79c8d9186d874"}}</a:t>
            </a:r>
          </a:p>
          <a:p>
            <a:r>
              <a:t>CNPJ 60010416000112 · Classes investidas e limites do FIC · Motivo: Não localizada uma cláusula material para este critério nos textos identificados e processados. A ausência de resultado não comprova inexistência da regra.</a:t>
            </a:r>
          </a:p>
          <a:p>
            <a:r>
              <a:t>CNPJ 62696791000193 · Classes investidas e limites do FIC · Regulamento · ID 1143317 · 20/03/2026 · versão Regulamento — referência 20/03/2026 · p. 7 · Anexo I, 1.1, Objetivo, categoria Geral · https://fnet.bmfbovespa.com.br/fnet/publico/visualizarDocumento?id=1143317</a:t>
            </a:r>
          </a:p>
          <a:p>
            <a:r>
              <a:t>CNPJ 62696791000193 · Classes investidas e limites do FIC · Excerto da fonte:</a:t>
            </a:r>
          </a:p>
          <a:p>
            <a:r>
              <a:t>(D) Categoria “Geral” (“Ativos em Geral do Agronegócio”): (i) cotas de classes que apliquem mais de 50% (cinquenta por cento) de seu patrimônio líquido nos ativos referidos nos incisos “A” a “D” acima, o que inclui cotas de outros FIAGRO, mas não se limita a essa categoria de f undos. Os Ativos Imobiliários do Agronegócio, Participações do Agronegócio, Ativos Financeiros do Agronegócio e Ativos em Geral do Agronegócio, quando ref eridos em conjunto, os “Outros Ativos”. Não há limites máximos de aplicação por emissor ou devedor, em função de um percentual do Patrimônio Líquido. O objetivo da Classe não representa, sob qualquer hipótese, garantia da Classe ou de seus Prestadores de Serviços Essenciais e/ou da Cogestora quanto à segurança, rentabilidade e liquidez dos títu</a:t>
            </a:r>
          </a:p>
          <a:p>
            <a:r>
              <a:t>CNPJ 62696791000193 · Classes investidas e limites do FIC · Regulamento · ID 1143317 · 20/03/2026 · versão Regulamento — referência 20/03/2026 · p. 11 · Anexo I, 4.8–4.9 · https://fnet.bmfbovespa.com.br/fnet/publico/visualizarDocumento?id=1143317</a:t>
            </a:r>
          </a:p>
          <a:p>
            <a:r>
              <a:t>CNPJ 62696791000193 · Classes investidas e limites do FIC · Excerto da fonte:</a:t>
            </a:r>
          </a:p>
          <a:p>
            <a:r>
              <a:t>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relacionadas ao Gestor. 4.8.1 As aplicações em Direitos Creditórios do Agronegócio decorrentes de receitas públicas originárias ou derivadas da União, dos Estados, do Distrito Federal e dos Municípios ou de suas autarquias e f undações, assim como em Direitos Creditórios do Agronegócio cedidos ou originados por empresas controladas pelo poder público, não estão submetidas ao limite de concentração por emissor previsto no caput. 4.9 Nos termos do Art. 45 do Anexo</a:t>
            </a:r>
          </a:p>
          <a:p>
            <a:r>
              <a:t>CNPJ 62696791000193 · Classes investidas e limites do FIC · Condição: O regulamento não identifica CNPJs de classes efetivamente investidas. Permissão de investimento não comprova posição.</a:t>
            </a:r>
          </a:p>
          <a:p>
            <a:r>
              <a:t>CNPJ 62696791000193 · Classes investidas e limites do FIC · Versão e prevalência: Leitura específica das cláusulas indicadas; condições e conflitos preservados. Seleção documental atual não comprova vigência jurídica por data isolada.</a:t>
            </a:r>
          </a:p>
          <a:p>
            <a:r>
              <a:t>CNPJ 55563624000109 · Classes investidas e limites do FIC · Regulamento · ID 1192614 · 30/04/2026 · versão Regulamento30/04/2026 · p. 11 · AnexoI4.1 · https://fnet.bmfbovespa.com.br/fnet/publico/visualizarDocumento?id=1192614</a:t>
            </a:r>
          </a:p>
          <a:p>
            <a:r>
              <a:t>CNPJ 55563624000109 · Classes investidas e limites do FIC · Excerto da fonte:</a:t>
            </a:r>
          </a:p>
          <a:p>
            <a:r>
              <a:t>4.1 Observados os demais termos deste Anexo, o objetivo da Classe é investir seus recursos em (i) cotas subordinadas mezanino de emissão da classe única do MERCADO CRÉDITO II BRASIL FUNDO DE INVESTIMENTO EM DIREITOS CREDITÓRIOS NÃO PADRONIZADOS, fundo de investimento em direitos creditórios inscrito no CNPJ sob o nº 41.970.012/0001-26 (“Cotas da Classe Investida” e “Classe Investida”, respectivamente), a qual, por sua vez, aplica seus recursos preponderantemente em direitos creditórios originados pela Mercado Pago, de acordo com os termos e condições est</a:t>
            </a:r>
          </a:p>
          <a:p>
            <a:r>
              <a:t>CNPJ 55563624000109 · Classes investidas e limites do FIC · Condição: Vínculo contratual identificado; quantidade de cotas efetivamente detida exige posição do FIC. Não somar PL do FIC e do investido.</a:t>
            </a:r>
          </a:p>
          <a:p>
            <a:r>
              <a:t>CNPJ 55563624000109 · Classes investidas e limites do FIC · Versão e prevalência: Leitura específica das cláusulas indicadas; condições e conflitos preservados. Seleção documental atual não comprova vigência jurídica por data isolada.</a:t>
            </a:r>
          </a:p>
          <a:p>
            <a:r>
              <a:t>CNPJ 55563624000109 · Classes investidas e limites do FIC · Resumo do histórico: {"count": 2, "dates": ["2025-01-31", "2026-01-31"], "document_count": 2, "sources": [{"document_id": "1178840", "title": "Demonstrações Financeiras", "reference_date": "2026-01-31", "version": "1", "page": 4, "url": "https://fnet.bmfbovespa.com.br/fnet/publico/visualizarDocumento?id=1178840", "sha256": "c458e98664c5c907ddb5a05a94b120bed4e05295b2bfc420f5ba69af0a229abe"}, {"document_id": "891861", "title": "Demonstrações Financeiras", "reference_date": "2025-01-31", "version": "1", "page": 18, "url": "https://fnet.bmfbovespa.com.br/fnet/publico/visualizarDocumento?id=891861", "sha256": "e9cb9e6ddbe505fe068cfcac33605165a98313489de0d3ce6d4d238263c3f3e7"}], "reference": {"path": "history/55563624000109.json", "criterion_id": "investee", "total_count": 2, "preview_count": 2, "full_text_deferred": true, "sha256": "7835d573fb58a3c19adf5b8ecc2aee2bdbb9a88f7a0c0209b5f262b64c7522e3"}}</a:t>
            </a:r>
          </a:p>
          <a:p>
            <a:r>
              <a:t>CNPJ 62552447000120 · Classes investidas e limites do FIC · Regulamento · ID 1200623 · 2026-05-21 · versão 1 · p. 6 · https://fnet.bmfbovespa.com.br/fnet/publico/visualizarDocumento?id=1200623</a:t>
            </a:r>
          </a:p>
          <a:p>
            <a:r>
              <a:t>CNPJ 62552447000120 · Classes investidas e limites do FIC · Excerto da fonte:</a:t>
            </a:r>
          </a:p>
          <a:p>
            <a:r>
              <a:t>integrantes do conglomerado econômico de instituições  f inanceiras classificadas como S1 pelo Banco Central do  Brasil (“BACEN” e “Instituições Financeiras S1”,  respectivamente), desde que não representem títulos de  emissão ou coobrigação de instituições financeiras, bem  como cotas de f undos de investimento que invistam  preponderantemente nestes direitos, títulos e/ou valores  mobiliários; e</a:t>
            </a:r>
          </a:p>
          <a:p>
            <a:r>
              <a:t> (d) “Direitos Creditórios Refinanciamento Livre”, na forma  de CCBs originadas no âmbito de um refinanciamento, de  acordo com a política de cobrança vigente, de Direitos  Creditórios Consignado Privado e de Direitos Creditórios  FGTS, que não contem com o lastro de Consignação ou  de cessão f iduciária do Saque-Aniversário,  respectivamente; e</a:t>
            </a:r>
          </a:p>
          <a:p>
            <a:r>
              <a:t> (ii) “Ativos Financeiros”, assim entendidos como, em conjunto:</a:t>
            </a:r>
          </a:p>
          <a:p>
            <a:r>
              <a:t> (a) moeda corrente nacional;</a:t>
            </a:r>
          </a:p>
          <a:p>
            <a:r>
              <a:t> (b) títulos públicos f ederais;</a:t>
            </a:r>
          </a:p>
          <a:p>
            <a:r>
              <a:t> (c) ativos f inanceiros de renda f ixa de emissão ou  coobrigação de Instituições Financeiras S1;</a:t>
            </a:r>
          </a:p>
          <a:p>
            <a:r>
              <a:t> (d) operações compromissadas, desde que lastreadas nos  títulos mencionados nas alíneas (b) e (c) acima; e</a:t>
            </a:r>
          </a:p>
          <a:p>
            <a:r>
              <a:t> (e) cotas do BTG Pactual Tesouro Selic Fundo de  Investimento Renda Fixa Ref erenciado DI, inscrito no  CNPJ sob o nº 09.215.250/0001-13;</a:t>
            </a:r>
          </a:p>
          <a:p>
            <a:r>
              <a:t> observados todos os limites de composição e diversificação da carteira da  Classe (“Carteira”), estabelecidos neste Regulamento e na  regulamentação aplicável.</a:t>
            </a:r>
          </a:p>
          <a:p>
            <a:r>
              <a:t> O objetivo da Classe não representa, sob qualquer hipótese, promessa,  garantia ou sugestão da Classe ou de seus Prestadores de Serviços  Essenciais quanto à segurança, rentabilidade e liquidez dos títulos  componentes de sua Carteira.</a:t>
            </a:r>
          </a:p>
          <a:p>
            <a:r>
              <a:t>CNPJ 62552447000120 · Classes investidas e limites do FIC · Condição: Documentos atuais selecionados no inventário por categoria/escopo; a data documental isolada não comprova vigência jurídica.</a:t>
            </a:r>
          </a:p>
          <a:p>
            <a:r>
              <a:t>CNPJ 62552447000120 · Classes investidas e limites do FIC · Versão e prevalência: Documentos atuais selecionados no inventário por categoria/escopo; a data documental isolada não comprova vigência jurídica.</a:t>
            </a:r>
          </a:p>
          <a:p>
            <a:r>
              <a:t>CNPJ 63953620000165 · Classes investidas e limites do FIC · Motivo: Não localizada uma cláusula material para este critério nos textos identificados e processados. A ausência de resultado não comprova inexistência da regra.</a:t>
            </a:r>
          </a:p>
          <a:p>
            <a:r>
              <a:t>CNPJ 54871427000194 · Classe, subclasse e responsabilidade · Regulamento · ID 670691 · 2024-04-28 · versão 1 · p. 29 · https://fnet.bmfbovespa.com.br/fnet/publico/visualizarDocumento?id=670691</a:t>
            </a:r>
          </a:p>
          <a:p>
            <a:r>
              <a:t>CNPJ 54871427000194 · Classe, subclasse e responsabilidade · Excerto da fonte:</a:t>
            </a:r>
          </a:p>
          <a:p>
            <a:r>
              <a:t>Anexo I ao Regulamento CLASSE ÚNICA DE RESPONSABILIDADE LIMITADA DO CONSIGNADO DELTA RECEIVABLES I FUNDO DE INVESTIMENTO EM DIREITOS CREDITÓRIOS  pelo Endossante e depositados em seu conta de sua titularidade para posterior repasse à  Classe. Neste caso, a Classe poderá sofrer perdas principalmente em relação ao atraso na  regularização da titularidade e pagamento dos Direitos Creditórios.</a:t>
            </a:r>
          </a:p>
          <a:p>
            <a:r>
              <a:t> (v) Risco de pré-pagamento dos Direitos Creditórios. A ocorrência de pré-  pagamentos em relação a um ou mais Direitos Creditórios poderá ocasionar perdas à Classe.</a:t>
            </a:r>
          </a:p>
          <a:p>
            <a:r>
              <a:t> A ocorrência de pré-pagamentos (pagamento em data anterior àquela originalmente pactuada)  de Direitos Creditórios reduz o horizonte original de rendimentos esperados pela Classe de  tais Direitos Creditórios, uma vez que o pré-pagamento poderá, se assim permitido pela  documentação do Direito Creditório ou, conf orme o caso, pela legislação aplicável, ser  realizado pelo valor de emissão do Direito Creditório atualizado até a data do pré-pagamento  pela taxa de juros pactuada entre os Endossantes e os Devedores de tais Direitos Creditórios,  de modo que os juros remuneratórios incidentes desde a data da realização do pré-pagamento  até a data de vencimento do respectivo Direito Creditório deixam de ser devidos à Classe.</a:t>
            </a:r>
          </a:p>
          <a:p>
            <a:r>
              <a:t> (vi) Riscos associados aos Devedores: os Direitos Creditórios a serem cedidos à  Classe serão descontados da remuneração do Devedor, através de desconto em f olha de  pagamento ou de benefício. Nesse sentido, na ocorrência de pré-pagamento, as parcelas  serão pagas antecipadamente e a Classe deverá utilizar tais montantes no pré-pagamento dos  Direitos Creditórios. Nesta hipótese, a Classe poderá não encontrar Direitos Creditórios  disponíveis para serem adquiridos pela Classe, o que poderá afetar a rentabilidade da Classe.</a:t>
            </a:r>
          </a:p>
          <a:p>
            <a:r>
              <a:t> (vii) Risco de Competição: o mercado de empréstimos experimentou grande  expansão no Brasil nos últimos anos. Nesse contexto, a Resolução CMN nº 4.292, alterada  pela Resolução nº 4.762, de 27 de novembro de 2019, dispõe que deve ser garantido às  pessoas naturais devedoras de operações de crédito (tais como as CCB) a possibilidade de  realizarem a portabilidade destas operações para outras instituições financeiras, inclusive nos  casos em que tenham sido objeto de cessão (tais como as realizadas à Classe). Nesse  cenário, é possível que os competidores do Endossante ofereçam condições e taxas mais  vantajosas para os empréstimos pessoais com consignação em f olha de pagamento ou de  benef ícios, o que pode causar a migração de clientes da Endossante para outras instituições  f inanceiras, gerando a liquidação antecipada de parte das CCB existentes e/ou redução no  número de Direitos Creditórios cedidos. Referida competição poderá af etar os resultados da  Classe, impactando negativamente os rendimentos dos Cotistas. Ainda, a portabilidade a um  Devedor pode acarretar no recebimento de valores inf eriores aos esperados pela Classe.</a:t>
            </a:r>
          </a:p>
          <a:p>
            <a:r>
              <a:t> (viii) Insuf iciência dos Critérios de Elegibilidade. Os Critérios de Elegibilidade têm a  f inalidade de selecionar os Direitos Creditórios passíveis de aquisição pela Classe. Não  obstante tais Critérios de Elegibilidade, a solvência dos Direitos Creditórios que compõem a  Carteira depende integralmente, mas não somente, da situação econômico-financeira dos  Devedores. Dessa f orma, a observância pelo GESTOR dos Critérios de Elegibilidade não  constitui garantia de adimplência dos Devedores.</a:t>
            </a:r>
          </a:p>
          <a:p>
            <a:r>
              <a:t> Os Endossantes não necessariamente garantem a solvência dos seus respectivos Devedores.</a:t>
            </a:r>
          </a:p>
          <a:p>
            <a:r>
              <a:t> O Endossante dos Direitos Creditórios não assumirá responsabilidade pelo seu pagamento ou  pela solvência dos respectivos Devedores. A Classe sofrerá o impacto do inadimplemento dos  Direitos Creditórios vencidos e não pagos pelos respectivos Devedores.</a:t>
            </a:r>
          </a:p>
          <a:p>
            <a:r>
              <a:t> (ix) Possibilidade de aquisição de Direitos Creditórios cedidos por Endossante  e/ou devidos por Devedores cujas demonstrações financeiras não sejam auditadas. A Classe,  desde que sejam respeitados os limites de concentração previstos neste Regulamento, poderá  manter a qualquer tempo em sua Carteira, Direitos Creditórios cedidos por Endossante e/ou  devidos por Devedores cujas demonstrações f inanceiras não sejam auditadas por Auditor  Independente registrado na CVM. Nesse sentido, não haverá verificação independente sobre  tais demonstrações f inanceiras que af irme se estas representam adequadamente, em todos  os aspectos relevantes, as respectivas posições patrimoniais e f inanceiras, os resultados de  suas operações, as mutações de seus respectivos patrimônios líquidos tampouco as origens  e aplicações de seus recursos.</a:t>
            </a:r>
          </a:p>
          <a:p>
            <a:r>
              <a:t>CNPJ 54871427000194 · Classe, subclasse e responsabilidade · Regulamento · ID 670691 · 2024-04-28 · versão 1 · p. 15 · 7.2 · https://fnet.bmfbovespa.com.br/fnet/publico/visualizarDocumento?id=670691</a:t>
            </a:r>
          </a:p>
          <a:p>
            <a:r>
              <a:t>CNPJ 54871427000194 · Classe, subclasse e responsabilidade · Excerto da fonte:</a:t>
            </a:r>
          </a:p>
          <a:p>
            <a:r>
              <a:t>7.2 As amortizações de Cotas serão realizadas a qualquer tempo, a critério do GESTOR, observada a  disponibilidade de recursos da Classe Única e a ordem de alocação de recursos prevista neste Anexo  Descritivo.</a:t>
            </a:r>
          </a:p>
          <a:p>
            <a:r>
              <a:t>CNPJ 54871427000194 · Classe, subclasse e responsabilidade · Instrumento Particular de Alteração do Regulamento · ID 670690 · 2024-05-28 · versão 1 · p. 1 · https://fnet.bmfbovespa.com.br/fnet/publico/visualizarDocumento?id=670690</a:t>
            </a:r>
          </a:p>
          <a:p>
            <a:r>
              <a:t>CNPJ 54871427000194 · Classe, subclasse e responsabilidade · Excerto da fonte:</a:t>
            </a:r>
          </a:p>
          <a:p>
            <a:r>
              <a:t>ATA DA ASSEMBLEIA ESPECIAL DE COTISTAS  CLASSE ÚNICA DE RESPONSABILIDADE LIMITADA DO CONSIGNADO DELTA RECEIVABLES I  FUNDO DE INVESTIMENTO EM DIREITOS CREDITÓRIOS  CNPJ nº 54.871.427/0001-94  (“Classe Única” e “Fundo”, respectivamente)</a:t>
            </a:r>
          </a:p>
          <a:p>
            <a:r>
              <a:t>CNPJ 54871427000194 · Classe, subclasse e responsabilidade · Condição: Documentos atuais selecionados no inventário por categoria/escopo; a data documental isolada não comprova vigência jurídica.</a:t>
            </a:r>
          </a:p>
          <a:p>
            <a:r>
              <a:t>CNPJ 54871427000194 · Classe, subclasse e responsabilidade · Versão e prevalência: Documentos atuais selecionados no inventário por categoria/escopo; a data documental isolada não comprova vigência jurídica.</a:t>
            </a:r>
          </a:p>
          <a:p>
            <a:r>
              <a:t>CNPJ 54871427000194 · Classe, subclasse e responsabilidade · Resumo do histórico: {"count": 4, "dates": ["2024-04-19", "2024-04-28", "2024-05-24"], "document_count": 3, "sources": [{"document_id": "668387", "title": "Instrumento Particular de Emissão de Cotas", "reference_date": "2024-05-24", "version": "1", "page": 1, "url": "https://fnet.bmfbovespa.com.br/fnet/publico/visualizarDocumento?id=668387", "sha256": "be2913bed5f468a7399afcd27f92bac2083451584ee580b5054e9f525e68cc4a"}, {"document_id": "670691", "title": "Regulamento", "reference_date": "2024-04-28", "version": "1", "page": 29, "url": "https://fnet.bmfbovespa.com.br/fnet/publico/visualizarDocumento?id=670691", "sha256": "bf16dd7f1a62d5cdbf2e2d54fef81783783f7310fbc99c3a8f00459bdf9d037b"}, {"document_id": "670687", "title": "Instrumento Particular de Constituição/Encerramento do Fundo", "reference_date": "2024-04-19", "version": "1", "page": 1, "url": "https://fnet.bmfbovespa.com.br/fnet/publico/visualizarDocumento?id=670687", "sha256": "999f2a47d39f7022b0fcee3d16fd1db33948537b897e92c4c9e14b436bf5eb96"}], "reference": {"path": "history/54871427000194.json", "criterion_id": "perimeter", "total_count": 4, "preview_count": 3, "full_text_deferred": true, "sha256": "35d7cd99be50c7287c9fb675cf4f2e736002315295a225a9efa79c8d9186d874"}}</a:t>
            </a:r>
          </a:p>
          <a:p>
            <a:r>
              <a:t>CNPJ 60010416000112 · Classe, subclasse e responsabilidade · Regulamento · ID 1051393 · 2025-10-09 · versão 1 · p. 10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a:t>
            </a:r>
          </a:p>
          <a:p>
            <a:r>
              <a:t> (ii) o saldo dos Direitos Creditórios devidos pelo mesmo Devedor à Classe, considerando, pro  forma, o endosso pretendido, não deverá exceder R$ 100.000,00 (cem mil reais), observado  o disposto no item 4.4.1 abaixo;</a:t>
            </a:r>
          </a:p>
          <a:p>
            <a:r>
              <a:t> (iii) o prazo de vencimento das CCB representativas dos Direitos Creditórios deverá ser, no  máximo, equivalente ao prazo máximo permitido pelas leis e regulamentações aplicáveis; e</a:t>
            </a:r>
          </a:p>
          <a:p>
            <a:r>
              <a:t> (iv) os Direitos Creditórios não poderão ser devidos por Devedores que tenham acima de 64  (sessenta e quatro) anos 11 (onze) meses e 29 (vinte e nove) dias na data de emissão da  respectiva CCB.</a:t>
            </a:r>
          </a:p>
          <a:p>
            <a:r>
              <a:t>CNPJ 60010416000112 · Classe, subclasse e responsabilidade · Regulamento · ID 1051393 · 2025-10-09 · versão 1 · p. 11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  com a transf erência, à Classe, de f orma definitiva, sem coobrigação do Endossante, da plena  titularidade desse Direito Creditório, juntamente com todos os direitos, privilégios, pref erências,  prerrogativas, garantias e ações a ele relacionados, bem como correção monetária, juros e  encargos, sem prejuízo do direito da Classe (i) de exigir a recompra compulsória do respectivo  Direito Creditório, de acordo com os termos do Contrato de Endosso; ou (ii) de vender Direitos  Creditórios ao Agente de Retenção/Cobrança (opção de venda), em ambos os casos estritamente  nos termos do Contrato de Endosso.</a:t>
            </a:r>
          </a:p>
          <a:p>
            <a:r>
              <a:t>CNPJ 60010416000112 · Classe, subclasse e responsabilidade · Regulamento · ID 1051393 · 2025-10-09 · versão 1 · p. 18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a:t>
            </a:r>
          </a:p>
          <a:p>
            <a:r>
              <a:t> (ii) alterar este Anexo I e seus complementos, incluindo mas não se limitando aos Apêndices de cada  uma das subclasses;</a:t>
            </a:r>
          </a:p>
          <a:p>
            <a:r>
              <a:t> (iii) deliberar sobre substituição de Prestadores de Serviços Essenciais, observado o disposto no Art.</a:t>
            </a:r>
          </a:p>
          <a:p>
            <a:r>
              <a:t> 70, §1º da parte geral da Resolução CVM 175, quando aplicável, ou do Custodiante;</a:t>
            </a:r>
          </a:p>
          <a:p>
            <a:r>
              <a:t> (iv) deliberar sobre elevação da Taxa de Administração, inclusive na hipótese de restabelecimento de  taxa que tenha sido objeto de redução;</a:t>
            </a:r>
          </a:p>
          <a:p>
            <a:r>
              <a:t> (v) deliberar sobre incorporação, fusão, cisão total ou parcial, a transformação ou liquidação da Classe;</a:t>
            </a:r>
          </a:p>
          <a:p>
            <a:r>
              <a:t> (vi) alterações das características, vantagens, direitos e obrigações das Cotas;</a:t>
            </a:r>
          </a:p>
          <a:p>
            <a:r>
              <a:t> (vii) alterar critérios e procedimentos para Amortização e/ou resgate de Cotas mediante dação em  pagamento de Direitos Creditórios;</a:t>
            </a:r>
          </a:p>
          <a:p>
            <a:r>
              <a:t> (viii) aprovar a contratação de Agente de Retenção/Cobrança dos Direitos Creditórios Inadimplidos, bem  como decidir sobre sua substituição ou destituição;</a:t>
            </a:r>
          </a:p>
          <a:p>
            <a:r>
              <a:t> (ix) alterar a f orma de amortização do principal e dos valores acumulados relacionados às Cotas;</a:t>
            </a:r>
          </a:p>
          <a:p>
            <a:r>
              <a:t> (x) aprovar emissão de novas Cotas da Classe, em montante além do Capital Autorizado;</a:t>
            </a:r>
          </a:p>
          <a:p>
            <a:r>
              <a:t> (xi) deliberar sobre a eventual necessidade de aportes adicionais de recursos na Classe pelos Cotistas;</a:t>
            </a:r>
          </a:p>
          <a:p>
            <a:r>
              <a:t> (xii) alterações na Política de Investimentos;</a:t>
            </a:r>
          </a:p>
          <a:p>
            <a:r>
              <a:t> (xiii) alterações nos Critérios de Elegibilidade;</a:t>
            </a:r>
          </a:p>
          <a:p>
            <a:r>
              <a:t> (xiv) decidir se um Evento de Avaliação será considerado como Evento de Liquidação, sujeito a este  Regulamento;</a:t>
            </a:r>
          </a:p>
          <a:p>
            <a:r>
              <a:t> (xv) decidir, na ocorrência de qualquer Evento de Liquidação, se esse Evento de Liquidação não deverá  causar a liquidação antecipada da Classe;</a:t>
            </a:r>
          </a:p>
          <a:p>
            <a:r>
              <a:t> (xvi) plano de resolução do Patrimônio Líquido negativo da Classe, nos termos da Resolução CVM 175;</a:t>
            </a:r>
          </a:p>
          <a:p>
            <a:r>
              <a:t> (xvii)pedido de declaração judicial de insolvência da Classe; e</a:t>
            </a:r>
          </a:p>
          <a:p>
            <a:r>
              <a:t> (xviii) deliberar sobre a alteração da data de resgate e/ou prazo de duração de cada Série de Cotas  Seniores, do Benchmark, bem como de quaisquer outras características de qualquer Série de Cotas  Seniores;</a:t>
            </a:r>
          </a:p>
          <a:p>
            <a:r>
              <a:t>CNPJ 60010416000112 · Classe, subclasse e responsabilidade · Condição: Documentos atuais selecionados no inventário por categoria/escopo; a data documental isolada não comprova vigência jurídica.</a:t>
            </a:r>
          </a:p>
          <a:p>
            <a:r>
              <a:t>CNPJ 60010416000112 · Classe, subclasse e responsabilidade · Versão e prevalência: Documentos atuais selecionados no inventário por categoria/escopo; a data documental isolada não comprova vigência jurídica.</a:t>
            </a:r>
          </a:p>
          <a:p>
            <a:r>
              <a:t>CNPJ 60010416000112 · Classe, subclasse e responsabilidade · Resumo do histórico: {"count": 1, "dates": ["2025-05-12"], "document_count": 1, "sources": [{"document_id": "1004656", "title": "AGE", "reference_date": "2025-05-12", "version": "1", "page": 4, "url": "https://fnet.bmfbovespa.com.br/fnet/publico/visualizarDocumento?id=1004656", "sha256": "f6c9c009f6170e2b29f074b98522accec73f0c40efbf11f9ec2c8d3f1402616b"}], "reference": {"path": "history/60010416000112.json", "criterion_id": "perimeter", "total_count": 1, "preview_count": 1, "full_text_deferred": true, "sha256": "8e2bd813f4c51cf01f6bfaad164bafe69d2bbb192f753eac92da3a01c2e63046"}}</a:t>
            </a:r>
          </a:p>
          <a:p>
            <a:r>
              <a:t>CNPJ 62696791000193 · Classe, subclasse e responsabilidade · Regulamento · ID 1143317 · 20/03/2026 · versão Regulamento — referência 20/03/2026 · p. 9 · Anexo I, 2.1 · https://fnet.bmfbovespa.com.br/fnet/publico/visualizarDocumento?id=1143317</a:t>
            </a:r>
          </a:p>
          <a:p>
            <a:r>
              <a:t>CNPJ 62696791000193 · Classe, subclasse e responsabilidade · Excerto da fonte:</a:t>
            </a:r>
          </a:p>
          <a:p>
            <a:r>
              <a:t>2.1 A responsabilidade do Cotista está limitada ao valor por ele subscrito. 2.2 Os seguintes eventos obrigarão o Administrador a verif icar se o Patrimônio Líquido está negativo: (i) qualquer pedido de declaração judicial de insolvência de Classe; (ii) inadimplência de obrigações financeiras de devedor e/ou emissor de ativos detidos pela Classe que representem mais de 10% (dez por cento) de seu Patrimônio Líquido, naquela data de ref erência; (iii) pedido de recuperação extrajudicial, proposta de recuperação judicial, f alência, intervenção, liquidação extrajudicial e/ou regime de administração temporária de devedor e/ou emissor de ativos detidos pela Classe; e (iv) condenação da Classe, de natureza judicial e/ou arbitral e/ou administrativa e/ou outras similares, ao pagamento de mais de 10% (dez por cento) de seu Patrimônio Líquido. 2.3 Caso o Administrador verifique que o Patrimônio Líquido está negativo, ou tenha ciência de pedido de declaração judicial de insolvência da Classe ou da declaração judicial de insolvência da Classe, deverá adotar as medidas aplicáveis previstas na Resolução CVM 175. 2.4 Serão aplicáveis as disp</a:t>
            </a:r>
          </a:p>
          <a:p>
            <a:r>
              <a:t>CNPJ 62696791000193 · Classe, subclasse e responsabilidade · Regulamento · ID 1143317 · 20/03/2026 · versão Regulamento — referência 20/03/2026 · p. 18 · Anexo I, 8.8.1 · https://fnet.bmfbovespa.com.br/fnet/publico/visualizarDocumento?id=1143317</a:t>
            </a:r>
          </a:p>
          <a:p>
            <a:r>
              <a:t>CNPJ 62696791000193 · Classe, subclasse e responsabilidade · Excerto da fonte:</a:t>
            </a:r>
          </a:p>
          <a:p>
            <a:r>
              <a:t>8.8.1 As Chamadas de Capital para a realização de investimentos serão realizadas a qualquer momento durante o Período de Investimento e estarão limitadas ao valor do capital subscrito de cada Cotista. As Chamadas de Capital para o pagamento de despesas e encargos do Fundo poderão ser realizadas a qualquer momento durante o Prazo de Duração, mas não estarão limitadas ao valor do capital subscrito de cada Cotista. 8.8.2 Ao receber uma Chamada de Capital, os Cotistas serão obrigados a integralizar parte ou a totalidade de suas Cotas no prazo previsto na ref erida Chamada de Capital, o qual não poderá ser inf erior a 5 (cinco) Dias Úteis contados do recebimento da Chamada de Capital, conforme solicitado pelo Administrador em observância às instruções do Gestor e de acordo com o disposto nos respectivos Compromissos de Investimento. 8.8.3 O Administrador poderá, eventualmente, realizar Chamadas de Capital aos Cotistas de forma desproporcional entre Cotistas, de modo que um ou mais Cotista venha a integralizar, em uma ou mais Chamadas de Capital, uma parcela maior ou menor, conforme o caso, das Cotas por</a:t>
            </a:r>
          </a:p>
          <a:p>
            <a:r>
              <a:t>CNPJ 62696791000193 · Classe, subclasse e responsabilidade · Regulamento · ID 1143317 · 20/03/2026 · versão Regulamento — referência 20/03/2026 · p. 16 · Anexo I, 7.2 · https://fnet.bmfbovespa.com.br/fnet/publico/visualizarDocumento?id=1143317</a:t>
            </a:r>
          </a:p>
          <a:p>
            <a:r>
              <a:t>CNPJ 62696791000193 · Classe, subclasse e responsabilidade · Excerto da fonte:</a:t>
            </a:r>
          </a:p>
          <a:p>
            <a:r>
              <a:t>7.2 A Classe possui 3 (três) Subclasses de Cotas, quais sejam, a subclasse sênior (“Subclasse Sênior” e “Cotas Seniores”), a subclasse mezanino (“Subclasse Mezanino” e “Cotas Mezanino”) e a subclasse subordinada (“Subclasse Subordinada” e “Cotas Subordinadas” – as Cotas Subordinadas, Cotas Seniores e Cotas Mezanino, quando ref eridas em conjunto, “Cotas”), admitindo ainda a emissão de novas séries (“Séries”) de Cotas Seniores, nos termos do seu respectivo Apêndice. As características, os direitos e as condições de emissão, distribuição, subscrição, integralização, remuneração, amortização e resgate das Cotas estão descritos neste Capítulo e nos respectivos Apêndices. 7.3 As Cotas são escriturais, nominativas e correspondem a f rações ideais do patrimônio da Classe, cuja propriedade presume-se: (i) pelo registro do nome do Cotista no livro de registro de Cotistas, enquanto mantidas em conta de depósito mantidas junto ao Escriturador em nome dos respectivos Cotistas, nos termos do Art. 15 da Resolução CVM 175; (ii) pelos controles de titularidade mantidos pelo depositário BTG Pactual SAC: 0800 772 2827 | Ouvidoria: 0800 722 0048 | btgpactual.co m 11</a:t>
            </a:r>
          </a:p>
          <a:p>
            <a:r>
              <a:t>CNPJ 62696791000193 · Classe, subclasse e responsabilidade · Condição: Contradição interna no alcance da responsabilidade limitada. Não apresentar a cláusula de despesas como obrigação irrestrita pacificada.</a:t>
            </a:r>
          </a:p>
          <a:p>
            <a:r>
              <a:t>CNPJ 62696791000193 · Classe, subclasse e responsabilidade · Versão e prevalência: Leitura específica das cláusulas indicadas; condições e conflitos preservados. Seleção documental atual não comprova vigência jurídica por data isolada.</a:t>
            </a:r>
          </a:p>
          <a:p>
            <a:r>
              <a:t>CNPJ 55563624000109 · Classe, subclasse e responsabilidade · Regulamento · ID 1192614 · 2026-04-30 · versão 1 · p. 40 · https://fnet.bmfbovespa.com.br/fnet/publico/visualizarDocumento?id=1192614</a:t>
            </a:r>
          </a:p>
          <a:p>
            <a:r>
              <a:t>CNPJ 55563624000109 · Classe, subclasse e responsabilidade · Excerto da fonte:</a:t>
            </a:r>
          </a:p>
          <a:p>
            <a:r>
              <a:t>(xxiv) Subordinação de determinadas Cotas da Classe Investida a outras subclasses ou séries de  cotas das Classes Investidas aos quais pertencem. A Classe Investida adquirirá apenas cotas  subordinadas mezaninos da Classe Investida, as quais se subordinam às cotas seniores da Classe  Investida para efeitos de resgate. Os resgates de cotas subordinadas mezanino tipicamente têm sua  realização condicionada ainda à manutenção da razão de garantia e à existência de disponibilidades  da Classe Investida. O ADMINISTRADOR, o GESTOR e o CUSTODIANTE e suas respectivas partes  relacionadas, encontram-se impossibilitados de assegurar que a amortização e o resgate das cotas  subordinadas mezanino da Classe Investida que venham a ser adquiridas pela Classe ocorrerão nas  datas originalmente previstas, sendo que, caso tais amortizações e/ou resgates não ocorram, não será  devido pelo FUNDO ou qualquer pessoa, incluindo o ADMINISTRADOR, o GESTOR e o CUSTODIANTE,  do FUNDO ou da Classe Investida qualquer multa ou penalidade, de qualquer natureza. O não resgate  de cotas subordinadas mezanino da Classe Investida detidas pela Classe poderá impactar  negativamente no fluxo de pagamento de resgate da Classe e/ou no valor patrimonial das Cotas da  Classe.</a:t>
            </a:r>
          </a:p>
          <a:p>
            <a:r>
              <a:t>CNPJ 55563624000109 · Classe, subclasse e responsabilidade · Regulamento · ID 1192614 · 2026-04-30 · versão 1 · p. 2 · 1.2 · https://fnet.bmfbovespa.com.br/fnet/publico/visualizarDocumento?id=1192614</a:t>
            </a:r>
          </a:p>
          <a:p>
            <a:r>
              <a:t>CNPJ 55563624000109 · Classe, subclasse e responsabilidade · Excerto da fonte:</a:t>
            </a:r>
          </a:p>
          <a:p>
            <a:r>
              <a:t>1.2 Este regulamento é composto por esta parte geral, um ou mais anexos, conforme o número de classes aqui  previsto e respectivos apêndices relativos a cada subclasse de cotas, conforme aplicável (respectivamente,  “Regulamento”, “Parte Geral”, “Anexos” e “Apêndices”).</a:t>
            </a:r>
          </a:p>
          <a:p>
            <a:r>
              <a:t> Denominação da Classe Anexo  CLASSE ÚNICA DE RESPONSABILIDADE LIMITADA DO  PLGN MARKETPLACE FUNDO DE INVESTIMENTO EM  Anexo Único (“Anexo”)  COTAS DE FUNDO DE INVESTIMENTO EM DIREITOS  CREDITÓRIOS (“Classe” ou “Classe Única”)</a:t>
            </a:r>
          </a:p>
          <a:p>
            <a:r>
              <a:t>CNPJ 55563624000109 · Classe, subclasse e responsabilidade · Regulamento · ID 1192614 · 2026-04-30 · versão 1 · p. 24 · 12.3 · https://fnet.bmfbovespa.com.br/fnet/publico/visualizarDocumento?id=1192614</a:t>
            </a:r>
          </a:p>
          <a:p>
            <a:r>
              <a:t>CNPJ 55563624000109 · Classe, subclasse e responsabilidade · Excerto da fonte:</a:t>
            </a:r>
          </a:p>
          <a:p>
            <a:r>
              <a:t>12.3 Incluem-se entre as obrigações do ADMINISTRADOR, sem prejuízo de outras previstas na regulamentação:</a:t>
            </a:r>
          </a:p>
          <a:p>
            <a:r>
              <a:t> (i) sem prejuízo da observância dos procedimentos relativos às demonstrações contábeis, manter,  separadamente, registros com informações completas sobre toda e qualquer modalidade de negociação  realizada entre o ADMINISTRADOR, GESTOR, CUSTODIANTE, e/ou suas respectivas partes relacionadas,  tais como definidas pelas regras contábeis que tratam desse assunto, de um lado; e a Classe, de outro;</a:t>
            </a:r>
          </a:p>
          <a:p>
            <a:r>
              <a:t> (ii) diligenciar para que sejam mantidos, às suas expensas, atualizados e em perfeita ordem:</a:t>
            </a:r>
          </a:p>
          <a:p>
            <a:r>
              <a:t> (a) o registro de Cotistas;</a:t>
            </a:r>
          </a:p>
          <a:p>
            <a:r>
              <a:t> (b) o livro de atas das Assembleias de Cotistas;</a:t>
            </a:r>
          </a:p>
          <a:p>
            <a:r>
              <a:t> (c) o livro ou lista de presença de Cotistas;</a:t>
            </a:r>
          </a:p>
          <a:p>
            <a:r>
              <a:t> (d) os pareceres do Auditor Independente; e</a:t>
            </a:r>
          </a:p>
          <a:p>
            <a:r>
              <a:t> (e) os registros contábeis referentes às operações e ao patrimônio da Classe;</a:t>
            </a:r>
          </a:p>
          <a:p>
            <a:r>
              <a:t> (iii) pagar a multa cominatória às suas expensas, nos termos da legislação vigente, por cada dia de atraso no  cumprimento dos prazos previstos na regulamentação aplicável;</a:t>
            </a:r>
          </a:p>
          <a:p>
            <a:r>
              <a:t> (iv) elaborar e divulgar as informações periódicas e eventuais da Classe, nos termos deste Anexo e da  regulamentação e da autorregulação em vigor;</a:t>
            </a:r>
          </a:p>
          <a:p>
            <a:r>
              <a:t> (v) manter atualizada junto à CVM a lista de todos os prestadores de serviços contratados pela Classe,  inclusive os Prestadores de Serviços Essenciais, bem como as demais informações cadastrais da Classe e  suas Subclasses;</a:t>
            </a:r>
          </a:p>
          <a:p>
            <a:r>
              <a:t> (vi) manter serviço de atendimento aos Cotistas, responsável pelo esclarecimento de dúvidas e pelo  recebimento de reclamações;</a:t>
            </a:r>
          </a:p>
          <a:p>
            <a:r>
              <a:t> (vii) receber e processar os pedidos de resgate;</a:t>
            </a:r>
          </a:p>
          <a:p>
            <a:r>
              <a:t> (viii) monitorar os Eventos de Verificação do Patrimônio;</a:t>
            </a:r>
          </a:p>
          <a:p>
            <a:r>
              <a:t> (ix) monitorar os Eventos de Avaliação e Eventos de Liquidação;</a:t>
            </a:r>
          </a:p>
          <a:p>
            <a:r>
              <a:t> (x) observar as disposições constantes do Regulamento;</a:t>
            </a:r>
          </a:p>
          <a:p>
            <a:r>
              <a:t> (xi) cumprir as deliberações da Assembleia de Cotistas; e</a:t>
            </a:r>
          </a:p>
          <a:p>
            <a:r>
              <a:t> (xii) observar as disposições do Código ANBIMA e das Regras e Procedimentos ANBIMA</a:t>
            </a:r>
          </a:p>
          <a:p>
            <a:r>
              <a:t>CNPJ 55563624000109 · Classe, subclasse e responsabilidade · Condição: Documentos atuais selecionados no inventário por categoria/escopo; a data documental isolada não comprova vigência jurídica.</a:t>
            </a:r>
          </a:p>
          <a:p>
            <a:r>
              <a:t>CNPJ 55563624000109 · Classe, subclasse e responsabilidade · Versão e prevalência: Documentos atuais selecionados no inventário por categoria/escopo; a data documental isolada não comprova vigência jurídica.</a:t>
            </a:r>
          </a:p>
          <a:p>
            <a:r>
              <a:t>CNPJ 55563624000109 · Classe, subclasse e responsabilidade · Resumo do histórico: {"count": 5, "dates": ["2024-07-03", "2025-01-31", "2026-01-31"], "document_count": 3, "sources": [{"document_id": "1178840", "title": "Demonstrações Financeiras", "reference_date": "2026-01-31", "version": "1", "page": 3, "url": "https://fnet.bmfbovespa.com.br/fnet/publico/visualizarDocumento?id=1178840", "sha256": "c458e98664c5c907ddb5a05a94b120bed4e05295b2bfc420f5ba69af0a229abe"}, {"document_id": "891861", "title": "Demonstrações Financeiras", "reference_date": "2025-01-31", "version": "1", "page": 27, "url": "https://fnet.bmfbovespa.com.br/fnet/publico/visualizarDocumento?id=891861", "sha256": "e9cb9e6ddbe505fe068cfcac33605165a98313489de0d3ce6d4d238263c3f3e7"}, {"document_id": "703295", "title": "Anúncio de Início", "reference_date": "2024-07-03", "version": "2", "page": 1, "url": "https://fnet.bmfbovespa.com.br/fnet/publico/visualizarDocumento?id=703295", "sha256": "12322b6dbf75e673723bd60910373db249451b72666792e18e0c7b6128f4608a"}], "reference": {"path": "history/55563624000109.json", "criterion_id": "perimeter", "total_count": 5, "preview_count": 3, "full_text_deferred": true, "sha256": "7835d573fb58a3c19adf5b8ecc2aee2bdbb9a88f7a0c0209b5f262b64c7522e3"}}</a:t>
            </a:r>
          </a:p>
          <a:p>
            <a:r>
              <a:t>CNPJ 62552447000120 · Classe, subclasse e responsabilidade · Regulamento · ID 1200623 · 2026-05-21 · versão 1 · p. 1 · 1.3 · https://fnet.bmfbovespa.com.br/fnet/publico/visualizarDocumento?id=1200623</a:t>
            </a:r>
          </a:p>
          <a:p>
            <a:r>
              <a:t>CNPJ 62552447000120 · Classe, subclasse e responsabilidade · Excerto da fonte:</a:t>
            </a:r>
          </a:p>
          <a:p>
            <a:r>
              <a:t>1.3 Durante o seu prazo de duração, o Fundo, por ato conjunto dos Prestadores de Serviços Essenciais,  poderá constituir diferentes Classes e Subclasses , sendo que cada Classe terá patrimônio segregado e</a:t>
            </a:r>
          </a:p>
          <a:p>
            <a:r>
              <a:t>CNPJ 62552447000120 · Classe, subclasse e responsabilidade · Regulamento · ID 1200623 · 2026-05-21 · versão 1 · p. 1 · 1.1 · https://fnet.bmfbovespa.com.br/fnet/publico/visualizarDocumento?id=1200623</a:t>
            </a:r>
          </a:p>
          <a:p>
            <a:r>
              <a:t>CNPJ 62552447000120 · Classe, subclasse e responsabilidade · Excerto da fonte:</a:t>
            </a:r>
          </a:p>
          <a:p>
            <a:r>
              <a:t>1.1 V CDT 1 FUNDO DE INVESTIMENTO EM DIREITOS CREDITÓRIOS RESPONSABILIDADE  LIMITADA (“Fundo”), regido pela Lei n.º 10.406, de 10 de janeiro de 2002, conforme alterada (“Código  Civil”), pela Resolução da Comissão de Valores Mobiliários (“CVM”) n.º 175, de 23 de dezembro de  2022, conf orme alterada (“Resolução CVM 175”), que inclui sua Parte Geral (“Parte Geral da  Resolução CVM 175”) e seu Anexo Normativo II (“Anexo Normativo II”) terá como principais  características:</a:t>
            </a:r>
          </a:p>
          <a:p>
            <a:r>
              <a:t>CNPJ 62552447000120 · Classe, subclasse e responsabilidade · Regulamento · ID 1200623 · 2026-05-21 · versão 1 · p. 1 · https://fnet.bmfbovespa.com.br/fnet/publico/visualizarDocumento?id=1200623</a:t>
            </a:r>
          </a:p>
          <a:p>
            <a:r>
              <a:t>CNPJ 62552447000120 · Classe, subclasse e responsabilidade · Excerto da fonte:</a:t>
            </a:r>
          </a:p>
          <a:p>
            <a:r>
              <a:t>CLASSE ÚNICA DO V CDT 1 FUNDO DE  INVESTIMENTO EM DIREITOS CREDITÓRIOS Anexo I (“Anexo I”)  RESPONSABILIDADE LIMITADA</a:t>
            </a:r>
          </a:p>
          <a:p>
            <a:r>
              <a:t>CNPJ 62552447000120 · Classe, subclasse e responsabilidade · Condição: Documentos atuais selecionados no inventário por categoria/escopo; a data documental isolada não comprova vigência jurídica.</a:t>
            </a:r>
          </a:p>
          <a:p>
            <a:r>
              <a:t>CNPJ 62552447000120 · Classe, subclasse e responsabilidade · Versão e prevalência: Documentos atuais selecionados no inventário por categoria/escopo; a data documental isolada não comprova vigência jurídica.</a:t>
            </a:r>
          </a:p>
          <a:p>
            <a:r>
              <a:t>CNPJ 62552447000120 · Classe, subclasse e responsabilidade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"perimeter", "total_count": 1, "preview_count": 1, "full_text_deferred": true, "sha256": "d95db8c0613d67ee84118c734588665265ea6b02f86a0318d6a844cbe1d0f82f"}}</a:t>
            </a:r>
          </a:p>
          <a:p>
            <a:r>
              <a:t>CNPJ 63953620000165 · Classe, subclasse e responsabilidade · Anexo ao Regulamento · ID 1222863 · 02/06/2026 · versão AnexoConsignadoPrivado02/06/2026 · p. 3 · 2.1 · https://fnet.bmfbovespa.com.br/fnet/publico/visualizarDocumento?id=1222863</a:t>
            </a:r>
          </a:p>
          <a:p>
            <a:r>
              <a:t>CNPJ 63953620000165 · Classe, subclasse e responsabilidade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deverá adotar as medidas aplicáveis previstas na Resolução CVM 175. 2.3 Serão aplicáveis as disposições da Resolução CVM 175 no que se refere aos procedimentos a serem adotados pelo Administrador na hipótese de Patrimônio Líquido negativo da Classe. BTG Pactual SAC: 0800 772 28 27 - Ouvidoria: 0800 722 00 48 - btgpactual.com</a:t>
            </a:r>
          </a:p>
          <a:p>
            <a:r>
              <a:t>CNPJ 63953620000165 · Classe, subclasse e responsabilidade · Anexo ao Regulamento · ID 1222863 · 02/06/2026 · versão AnexoConsignadoPrivado02/06/2026 · p. 10 · 6.7.1 · https://fnet.bmfbovespa.com.br/fnet/publico/visualizarDocumento?id=1222863</a:t>
            </a:r>
          </a:p>
          <a:p>
            <a:r>
              <a:t>CNPJ 63953620000165 · Classe, subclasse e responsabilidade · Excerto da fonte:</a:t>
            </a:r>
          </a:p>
          <a:p>
            <a:r>
              <a:t>6.7.1 As Chamadas de Capital para a realização de investimentos serão realizadas a qualquer momento durante o Período de Investimento e estarão limitadas ao valor do capital subscrito de cada Cotista. As Chamadas de Capital para o pagamento de despesas e encargos do Fundo, com exceção de despesas relacionadas à instrumentos de derivativos e/ou Encargos não previstos no âmbito deste regulamento, poderão ser realizadas a qualquer momento durante o Prazo de Duração, mas não estarão limitadas ao valor do capital subscrito de cada Cotista. 6.7.2 Ao receber uma Chamada d</a:t>
            </a:r>
          </a:p>
          <a:p>
            <a:r>
              <a:t>CNPJ 63953620000165 · Classe, subclasse e responsabilidade · Condição: Alcance das chamadas além do capital comprometido não resolvido textualmente; não certificar limitação apenas por título do fundo.</a:t>
            </a:r>
          </a:p>
          <a:p>
            <a:r>
              <a:t>CNPJ 63953620000165 · Classe, subclasse e responsabilidade · Versão e prevalência: Leitura específica das cláusulas indicadas; condições e conflitos preservados. Seleção documental atual não comprova vigência jurídica por data isolada.</a:t>
            </a:r>
          </a:p>
          <a:p>
            <a:r>
              <a:t>CNPJ 63953620000165 · Classe, subclasse e responsabilidade · Resumo do histórico: {"count": 4, "dates": ["2026-04-28", "2026-05-08", "2026-05-15"], "document_count": 3, "sources": [{"document_id": "1327859", "title": "Demonstrações Financeiras - Fusão, cisão e incorporação", "reference_date": "2026-05-15", "version": "1", "page": 1, "url": "https://fnet.bmfbovespa.com.br/fnet/publico/visualizarDocumento?id=1327859", "sha256": "dca1c68babb97f887528c3e2e47596a9c30f507b067981a35655b2f2da9c8054"}, {"document_id": "1298691", "title": "Demonstrações Financeiras - Fusão, cisão e incorporação", "reference_date": "2026-05-08", "version": "1", "page": 1, "url": "https://fnet.bmfbovespa.com.br/fnet/publico/visualizarDocumento?id=1298691", "sha256": "58c570d9b8d4d265330d3db3ea81c435b8e44a6dab4002aa37790652a1ee9819"}, {"document_id": "1205431", "title": "AGE", "reference_date": "2026-04-28", "version": "1", "page": 1, "clause": "4.1", "url": "https://fnet.bmfbovespa.com.br/fnet/publico/visualizarDocumento?id=1205431", "sha256": "e0b59c701c5d0dbf60de698ea7664d442240863b7043bacdb334ce484188b2ac"}], "reference": {"path": "history/63953620000165.json", "criterion_id": "perimeter", "total_count": 4, "preview_count": 3, "full_text_deferred": true, "sha256": "a7b89077f5e21098c2d601c303faabc3ff6b9729f89d8afecdc60fe1404720c1"}}</a:t>
            </a:r>
          </a:p>
          <a:p>
            <a:r>
              <a:t>CNPJ 54871427000194 · Adaptação à Resolução CVM 175 · Regulamento · ID 670691 · 28/04/2024 · versão Regulamento — referência 28/04/2024 · p. 1 · Parte Geral, 1.1 · https://fnet.bmfbovespa.com.br/fnet/publico/visualizarDocumento?id=670691</a:t>
            </a:r>
          </a:p>
          <a:p>
            <a:r>
              <a:t>CNPJ 54871427000194 · Adaptação à Resolução CVM 175 · Excerto da fonte:</a:t>
            </a:r>
          </a:p>
          <a:p>
            <a:r>
              <a:t>1.1 CONSIGNADO DELTA RECEIVABLES I FUNDO DE INVESTIMENTO EM DIREITOS CREDITÓRIOS (“FUNDO”), regido pela Lei nº 10.406, de 10 de janeiro de 2002, conf orme alterada (“Código Civil”), pela parte geral e o Anexo Normativo II da Resolução nº 175, de 23 de dezembro de 2022, conforme alterada, da Comissão de Valores Mobiliários (respectivamente, “CVM” e “Resolução CVM 175”), terá como principais características: Classe de Cotas Classe única. Indeterminado, exceto se de outra f orma vier a ser deliberado pelos cotistas Prazo de Duração reunidos em assembleia geral de cotistas. BTG Pactual Serviços Financeiros S.A. Distribuidora de Títulos e Valores Mobiliários, instituição f inanceira, com sede na Cidade e Estado do Rio de Janeiro, na Praia de Botafogo, nº 501, 5º andar (parte), Torre Corcovado, ADMINISTRADOR Botafogo, CEP 22250-040, inscrita no CNPJ sob o nº 59.281.253/0001-23 e credenciada como administradora de carteira, de acordo com o Ato Declaratório CVM nº</a:t>
            </a:r>
          </a:p>
          <a:p>
            <a:r>
              <a:t>CNPJ 54871427000194 · Adaptação à Resolução CVM 175 · Regulamento · ID 670691 · 28/04/2024 · versão Regulamento — referência 28/04/2024 · p. 8 · Anexo I, 2.1 · https://fnet.bmfbovespa.com.br/fnet/publico/visualizarDocumento?id=670691</a:t>
            </a:r>
          </a:p>
          <a:p>
            <a:r>
              <a:t>CNPJ 54871427000194 · Adaptação à Resolução CVM 175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deverá adotar as medidas aplicáveis previstas na Resolução CVM 175. 2.3 Serão aplicáveis as disposições da Resolução CVM 175 no que se refere aos procedimentos a serem adotados pelo ADMINISTRADOR na hipótese de Patrimônio Líquido negativo da Classe. CAPÍTULO 3 – ENCARGOS DA CLASSE 3.1 A Classe terá Encargos que lhe poderão ser debitados diretamente, nos termos do art. 53 do Anexo Normativo II da Resolução CVM 175, além de encargos adicionais, e quaisquer despesas que não constituam Encargos correm por conta do Prestador de Serviço Essencial que a tiver contratado: (i) despesas com a contratação de consultoria especializada, conf orme o caso; (ii) despesas com a contratação do Agente de Cobrança, conf orme aplicável; (iii) Taxa Máxima de Custódia; (iv) despesas com registro de Direitos Creditórios; (v) despesas com serviços de originação, cobranças ordinária e/ou extraordinária dos D</a:t>
            </a:r>
          </a:p>
          <a:p>
            <a:r>
              <a:t>CNPJ 54871427000194 · Adaptação à Resolução CVM 175 · Versão e prevalência: Leitura específica das cláusulas indicadas; condições e conflitos preservados. Seleção documental atual não comprova vigência jurídica por data isolada.</a:t>
            </a:r>
          </a:p>
          <a:p>
            <a:r>
              <a:t>CNPJ 54871427000194 · Adaptação à Resolução CVM 175 · Resumo do histórico: {"count": 2, "dates": ["2024-04-19"], "document_count": 2, "sources": [{"document_id": "670687", "title": "Instrumento Particular de Constituição/Encerramento do Fundo", "reference_date": "2024-04-19", "version": "1", "page": 1, "url": "https://fnet.bmfbovespa.com.br/fnet/publico/visualizarDocumento?id=670687", "sha256": "999f2a47d39f7022b0fcee3d16fd1db33948537b897e92c4c9e14b436bf5eb96"}, {"document_id": "670689", "title": "Regulamento", "reference_date": "2024-04-19", "version": "1", "page": 11, "clause": "4.10", "url": "https://fnet.bmfbovespa.com.br/fnet/publico/visualizarDocumento?id=670689", "sha256": "891bc9bc5d87bbc02ec139077a84d2702eb81ea02035fb71d24f5b8366b94a0b"}], "reference": {"path": "history/54871427000194.json", "criterion_id": "res175", "total_count": 2, "preview_count": 2, "full_text_deferred": true, "sha256": "35d7cd99be50c7287c9fb675cf4f2e736002315295a225a9efa79c8d9186d874"}}</a:t>
            </a:r>
          </a:p>
          <a:p>
            <a:r>
              <a:t>CNPJ 60010416000112 · Adaptação à Resolução CVM 175 · Regulamento · ID 1051393 · 09/10/2025 · versão Regulamento09/10/2025 · p. 8 · AnexoI1.2 · https://fnet.bmfbovespa.com.br/fnet/publico/visualizarDocumento?id=1051393</a:t>
            </a:r>
          </a:p>
          <a:p>
            <a:r>
              <a:t>CNPJ 60010416000112 · Adaptação à Resolução CVM 175 · Excerto da fonte:</a:t>
            </a:r>
          </a:p>
          <a:p>
            <a:r>
              <a:t>Tipo de Condomínio Fechado. Prazo de Duração Indeterminado. Classe de Investimento Não. em Cotas Tipo “Financeiro”. Classificação ANBIMA Foco de atuação “Créditos Consignados”. O objetivo da classe é proporcionar aos seus Cotistas a valorização de suas Cotas por meio da aplicação de seu Patrimônio Líquido na aquisição de: (i) Direitos Creditórios que atendam aos Critérios de Elegibilidade, estabelecidos no Ca</a:t>
            </a:r>
          </a:p>
          <a:p>
            <a:r>
              <a:t>CNPJ 60010416000112 · Adaptação à Resolução CVM 175 · Regulamento · ID 1051393 · 09/10/2025 · versão Regulamento09/10/2025 · p. 9 · AnexoI2.1–2.3 · https://fnet.bmfbovespa.com.br/fnet/publico/visualizarDocumento?id=1051393</a:t>
            </a:r>
          </a:p>
          <a:p>
            <a:r>
              <a:t>CNPJ 60010416000112 · Adaptação à Resolução CVM 175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o Administrador deverá adotar as medidas aplicáveis previstas na Resolução CVM 175 2.3 Serão aplicáveis as disposições da Resolução CVM 175 no que se ref ere aos procedimentos a serem adotados pelo Administrador na hipótese de Patrimônio Líquido negativo da Classe, visando a liquidação da Classe e que não remanesçam</a:t>
            </a:r>
          </a:p>
          <a:p>
            <a:r>
              <a:t>CNPJ 60010416000112 · Adaptação à Resolução CVM 175 · Versão e prevalência: Leitura específica das cláusulas indicadas; condições e conflitos preservados. Seleção documental atual não comprova vigência jurídica por data isolada.</a:t>
            </a:r>
          </a:p>
          <a:p>
            <a:r>
              <a:t>CNPJ 60010416000112 · Adaptação à Resolução CVM 175 · Resumo do histórico: {"count": 2, "dates": ["2025-03-20"], "document_count": 2, "sources": [{"document_id": "993785", "title": "Instrumento Particular de Constituição/Encerramento do Fundo", "reference_date": "2025-03-20", "version": "1", "page": 1, "url": "https://fnet.bmfbovespa.com.br/fnet/publico/visualizarDocumento?id=993785", "sha256": "0826e0eae2c51afabf59bbc49fc7647598d03da5ca6de0f9725850a8bd6af457"}, {"document_id": "993786", "title": "Regulamento", "reference_date": "2025-03-20", "version": "1", "page": 12, "clause": "4.8", "url": "https://fnet.bmfbovespa.com.br/fnet/publico/visualizarDocumento?id=993786", "sha256": "fd0fdd369a195510d81f81f505195a0b09e5f43522a990afa7d58c4f872921c8"}], "reference": {"path": "history/60010416000112.json", "criterion_id": "res175", "total_count": 2, "preview_count": 2, "full_text_deferred": true, "sha256": "8e2bd813f4c51cf01f6bfaad164bafe69d2bbb192f753eac92da3a01c2e63046"}}</a:t>
            </a:r>
          </a:p>
          <a:p>
            <a:r>
              <a:t>CNPJ 62696791000193 · Adaptação à Resolução CVM 175 · AGE · ID 1143319 · 20/03/2026 10:00 · versão AGE — referência 20/03/2026 10:00 · p. 1 · AGC, 4.1(a)–(b) · https://fnet.bmfbovespa.com.br/fnet/publico/visualizarDocumento?id=1143319</a:t>
            </a:r>
          </a:p>
          <a:p>
            <a:r>
              <a:t>CNPJ 62696791000193 · Adaptação à Resolução CVM 175 · Excerto da fonte:</a:t>
            </a:r>
          </a:p>
          <a:p>
            <a:r>
              <a:t>4.1. Aprovar a transformação do Fundo, bem como de sua Classe única, em um fundo de investimento nas cadeias produtivas do agronegócio (“Transformação”), nos termos da parte geral e do Anexo Normativo VI da Resolução nº 175 da CVM, de 23 de dezembro de 2022, conforme alterada (“Resolução CVM 175”). a. Aprovar a alteração da denominação do Fundo, que passará a vigorar como BTG PACTUAL CERES CONFINA FUNDO DE INVESTIMENTO NAS CADEIAS PRODUTIVAS DO AGRONEGÓCIO RESPONSABILIDADE LIMITADA, e de sua Classe única, que passará a vigorar como CLASSE ÚNICA DO BTG PACTUAL CERES CONFINA FUNDO DE INVESTIMENTO NAS CADEIAS PRODUTIVAS DO AGRONEGÓCIO RESPONSABILIDADE LIMITADA (“Classe”); b. Aprovar a reforma integral do Regulamento do Fundo, bem como do Anexo descritivo da Classe, para realizar todos os ajustes necessários à implementação da Transformação, incluindo, mas não se limitando, a política de investimentos, o regime tributário e os fatores de risco aplicáveis, conforme itens abaixo; c. Aprovar a alteração do quadro de características gerais do Fundo, considerando a contratação do Cogestor pelo Gestor, nos termos do artigo 52, II, da parte geral da Resolução CVM 175 e no co</a:t>
            </a:r>
          </a:p>
          <a:p>
            <a:r>
              <a:t>CNPJ 62696791000193 · Adaptação à Resolução CVM 175 · AGE · ID 1143319 · 20/03/2026 10:00 · versão AGE — referência 20/03/2026 10:00 · p. 3 · AGC 20/03/2026, 4.1(j)–(k) · https://fnet.bmfbovespa.com.br/fnet/publico/visualizarDocumento?id=1143319</a:t>
            </a:r>
          </a:p>
          <a:p>
            <a:r>
              <a:t>CNPJ 62696791000193 · Adaptação à Resolução CVM 175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Adaptação à Resolução CVM 175 · Regulamento · ID 1143317 · 20/03/2026 · versão Regulamento — referência 20/03/2026 · p. 1 · Parte Geral, 1.1 · https://fnet.bmfbovespa.com.br/fnet/publico/visualizarDocumento?id=1143317</a:t>
            </a:r>
          </a:p>
          <a:p>
            <a:r>
              <a:t>CNPJ 62696791000193 · Adaptação à Resolução CVM 175 · Excerto da fonte:</a:t>
            </a:r>
          </a:p>
          <a:p>
            <a:r>
              <a:t>1.1 BTG PACTUAL CERES CONFINA FUNDO DE INVESTIMENTO NAS CADEIAS PRODUTIVAS DO AGRONEGÓCIO RESPONSABILIDADE LIMITADA (“Fundo”), regido pela Lei nº 10.406, de 10 de janeiro de 2002, conf orme alterada (“Código Civil”), pela Lei n.º 8.668, de 25 de junho de 1993, conf orme alterada (“Lei 8.668”), pela parte geral, Anexo Normativo VI e, subsidiariamente, Anexo Normativo II da Resolução nº 175, de 23 de dezembro de 2022, conforme alterada, da Comissão de Valores Mobiliários (respectivamente, “Resolução CVM 175” e “CVM”), terá como principais características: Classe Classe única. Indeterminado, exceto se de outra f orma vier a ser deliberado pelos Cotistas Prazo de Duração reunidos em assembleia geral de Cotistas (“Prazo de Duração”). BTG Pactual Serviços Financeiros S.A. Distribuidora de Títulos e Valores Mobiliários, sociedade anônima, com sede no município e Estado do Rio de Janeiro, na Praia de Botafogo, nº 501, 5º andar (parte), Torre Corcovado, Administrador Botafogo, CEP 22250-040, inscrita no CNPJ sob o nº 59.281.253/0001-23 e</a:t>
            </a:r>
          </a:p>
          <a:p>
            <a:r>
              <a:t>CNPJ 62696791000193 · Adaptação à Resolução CVM 175 · Condição: Posição comumfev/26 é anterior à transformação e demanda o regime/regulamento anterior.</a:t>
            </a:r>
          </a:p>
          <a:p>
            <a:r>
              <a:t>CNPJ 62696791000193 · Adaptação à Resolução CVM 175 · Versão e prevalência: Leitura específica das cláusulas indicadas; condições e conflitos preservados. Seleção documental atual não comprova vigência jurídica por data isolada.</a:t>
            </a:r>
          </a:p>
          <a:p>
            <a:r>
              <a:t>CNPJ 55563624000109 · Adaptação à Resolução CVM 175 · Regulamento · ID 1192614 · 2026-04-30 · versão 1 · p. 13 · 4.11 · https://fnet.bmfbovespa.com.br/fnet/publico/visualizarDocumento?id=1192614</a:t>
            </a:r>
          </a:p>
          <a:p>
            <a:r>
              <a:t>CNPJ 55563624000109 · Adaptação à Resolução CVM 175 · Excerto da fonte:</a:t>
            </a:r>
          </a:p>
          <a:p>
            <a:r>
              <a:t>4.11 Nos termos dos artigos 45, parágrafo 7º, e 47 parágrafo único do Anexo Normativo II à Resolução CVM 175, uma  vez que as Cotas são destinadas exclusivamente a Investidores Profissionais, a Classe poderá ter até 100% (cem  por cento) de seu Patrimônio Líquido alocado em Cotas da Classe Investida, as quais são emitidas pela Classe  Investida.</a:t>
            </a:r>
          </a:p>
          <a:p>
            <a:r>
              <a:t>CNPJ 55563624000109 · Adaptação à Resolução CVM 175 · Regulamento · ID 1192614 · 2026-04-30 · versão 1 · p. 31 · 15.1.1 · https://fnet.bmfbovespa.com.br/fnet/publico/visualizarDocumento?id=1192614</a:t>
            </a:r>
          </a:p>
          <a:p>
            <a:r>
              <a:t>CNPJ 55563624000109 · Adaptação à Resolução CVM 175 · Excerto da fonte:</a:t>
            </a:r>
          </a:p>
          <a:p>
            <a:r>
              <a:t>15.1.1 Riscos de Crédito:</a:t>
            </a:r>
          </a:p>
          <a:p>
            <a:r>
              <a:t> (i) Risco de concentração na Classe Investida. Nos termos do presente Regulamento, a Classe  deverá manter alocado, no mínimo, 67% (sessenta e sete por cento) do Patrimônio Líquido nas Cotas  da Classe Investida. Alterações na condição econômico-financeira e na expectativa de desempenho ou  resultados da Classe Investida poderão, isolada ou cumulativamente, afetar negativamente o  rendimento do investimento nas Cotas, de forma mais severa do que se a Classe adotasse uma  estratégia de investimento de maior diversificação. O risco associado às aplicações de qualquer fundo  de investimento é diretamente proporcional à concentração da sua carteira, sendo que, quanto maior  essa concentração, maior será a sua vulnerabilidade.</a:t>
            </a:r>
          </a:p>
          <a:p>
            <a:r>
              <a:t> (ii) Risco relativo à Classe Investida. Nos termos deste Anexo, a Classe deverá manter alocado, no  mínimo, 67% (sessenta e sete por cento) do Patrimônio Líquido em Cotas da Classe Investida. Os  investimentos realizados pela Classe Investida poderão estar sujeitos a flutuações típicas do mercado,  risco de crédito, risco sistêmico, condições adversas de liquidez e negociação atípica nos mercados de  atuação, bem como outros riscos diversos. Este Anexo não contém a descrição de todas as  características, incluindo os riscos, da Classe Investida.</a:t>
            </a:r>
          </a:p>
          <a:p>
            <a:r>
              <a:t> (iii) Risco Relativo ao Pagamento de Encargos da Classe Investida. Tendo em vista a estrutura da  Classe Investida – que emitiu cotas sêniores, cotas subordinadas mezanino e cotas subordinadas júnior  – em situação ordinária os encargos da Classe Investida são arcados pelas cotas subordinadas júnior,  que se subordinam às cotas subordinadas mezanino e às cotas sêniores para fins de amortização,  resgate e distribuição de rendimentos, não impactando, portanto, as Cotas da Classe Investida. Não  obstante o funcionamento da Classe Investida em situação ordinária, em cenários extraordinários, na  eventualidade do valor das cotas subordinadas júnior ficar reduzido a zero ou a valor negativo, os  encargos da Classe Investida conforme previstos em seu regulamento, inclusive mas não se limitando  as remunerações dos prestadores de serviços essenciais, passarão a ser arcados pelas cotas  subordinadas mezanino (que são as Cotas da Classe Investida), impactando no valor do investimento  da Classe na Classe Investida, e consequentemente, o investimento dos Cotistas na Classe.</a:t>
            </a:r>
          </a:p>
          <a:p>
            <a:r>
              <a:t> (iv) Riscos referentes à carteira da Classe Investida. Na forma do Anexo Normativo II da Resolução  CVM 175, a Classe Investida investe, direta ou indiretamente, no mínimo, 67% (sessenta e sete por  cento) do seu patrimônio em direitos creditórios originados pela Mercado Pago. O investimento em tais  direitos creditórios está sujeito a fatores de risco específicos, conforme detalhados no regulamento da  Classe Investida, incluindo, mas não se limitando a:</a:t>
            </a:r>
          </a:p>
          <a:p>
            <a:r>
              <a:t> (a) Risco de liquidez dos direitos creditórios. O investimento da Classe Investida em direitos  creditórios apresenta peculiaridades em relação às aplicações usuais da maioria dos  fundos de investimento brasileiros, haja vista que não existe, no Brasil, mercado  secundário com liquidez para tais direitos creditórios. Caso a Classe Investida precise  vender os direitos creditórios adquiridos, poderá não haver mercado comprador para  tais créditos, bem como o preço de alienação de tais direitos creditórios poderá refletir  essa falta de liquidez, causando perda ao patrimônio da Classe Investida e,  consequentemente, à Classe.</a:t>
            </a:r>
          </a:p>
          <a:p>
            <a:r>
              <a:t>CNPJ 55563624000109 · Adaptação à Resolução CVM 175 · Regulamento · ID 1192614 · 2026-04-30 · versão 1 · p. 28 · 13.2 · https://fnet.bmfbovespa.com.br/fnet/publico/visualizarDocumento?id=1192614</a:t>
            </a:r>
          </a:p>
          <a:p>
            <a:r>
              <a:t>CNPJ 55563624000109 · Adaptação à Resolução CVM 175 · Excerto da fonte:</a:t>
            </a:r>
          </a:p>
          <a:p>
            <a:r>
              <a:t>13.2 Em condições ordinárias, as Cotas da Classe Investida não pagarão remuneração aos prestadores de serviços  essenciais da Classe Investida, nos termos de seu regulamento. Não obstante, em cenário extraordinário  conforme descrito no item 15.1.1 (iii), e para fins de atendimento ao artigo 98 da parte geral da Resolução CVM  175, a taxa máxima de administração corresponderá ao valor da Taxa Mínima de Administração acrescida de até  0,10% (dez centésimos por cento) ao ano incidente sobre o patrimônio líquido da Classe Investida,  compreendendo a taxa de administração da Classe Investida geridos por partes relacionadas ao GESTOR, cujas  cotas não estão admitidas à negociação em mercado organizado, conforme prevista no regulamento da Classe  Investida (“Taxa Máxima de Administração” e, quando referida em conjunto com a Taxa Mínima de  Administração, como “Taxa de Administração”). Caso a taxa de administração da Classe Investida não se  enquadre no disposto acima, estará disposta no regulamento da Classe Investida.</a:t>
            </a:r>
          </a:p>
          <a:p>
            <a:r>
              <a:t>CNPJ 55563624000109 · Adaptação à Resolução CVM 175 · Condição: Documentos atuais selecionados no inventário por categoria/escopo; a data documental isolada não comprova vigência jurídica.</a:t>
            </a:r>
          </a:p>
          <a:p>
            <a:r>
              <a:t>CNPJ 55563624000109 · Adaptação à Resolução CVM 175 · Versão e prevalência: Documentos atuais selecionados no inventário por categoria/escopo; a data documental isolada não comprova vigência jurídica.</a:t>
            </a:r>
          </a:p>
          <a:p>
            <a:r>
              <a:t>CNPJ 55563624000109 · Adaptação à Resolução CVM 175 · Resumo do histórico: {"count": 3, "dates": ["2024-07-03", "2025-01-31", "2026-01-31"], "document_count": 3, "sources": [{"document_id": "1178840", "title": "Demonstrações Financeiras", "reference_date": "2026-01-31", "version": "1", "page": 29, "url": "https://fnet.bmfbovespa.com.br/fnet/publico/visualizarDocumento?id=1178840", "sha256": "c458e98664c5c907ddb5a05a94b120bed4e05295b2bfc420f5ba69af0a229abe"}, {"document_id": "891861", "title": "Demonstrações Financeiras", "reference_date": "2025-01-31", "version": "1", "page": 30, "url": "https://fnet.bmfbovespa.com.br/fnet/publico/visualizarDocumento?id=891861", "sha256": "e9cb9e6ddbe505fe068cfcac33605165a98313489de0d3ce6d4d238263c3f3e7"}, {"document_id": "691674", "title": "Instrumento Particular de Emissão de Cotas", "reference_date": "2024-07-03", "version": "1", "page": 1, "url": "https://fnet.bmfbovespa.com.br/fnet/publico/visualizarDocumento?id=691674", "sha256": "78bf7b350f1785beae5f43bd209b5ed19e863cb9a2cff01542aac11dd63ca554"}], "reference": {"path": "history/55563624000109.json", "criterion_id": "res175", "total_count": 3, "preview_count": 3, "full_text_deferred": true, "sha256": "7835d573fb58a3c19adf5b8ecc2aee2bdbb9a88f7a0c0209b5f262b64c7522e3"}}</a:t>
            </a:r>
          </a:p>
          <a:p>
            <a:r>
              <a:t>CNPJ 62552447000120 · Adaptação à Resolução CVM 175 · Regulamento · ID 1200623 · 21/05/2026 · versão Consolidado21/05/2026 aprovado pelo ato1200625 · p. 1 · ParteGeral1.1 · https://fnet.bmfbovespa.com.br/fnet/publico/visualizarDocumento?id=1200623</a:t>
            </a:r>
          </a:p>
          <a:p>
            <a:r>
              <a:t>CNPJ 62552447000120 · Adaptação à Resolução CVM 175 · Excerto da fonte:</a:t>
            </a:r>
          </a:p>
          <a:p>
            <a:r>
              <a:t>1.1 V CDT 1 FUNDO DE INVESTIMENTO EM DIREITOS CREDITÓRIOS RESPONSABILIDADE LIMITADA (“Fundo”), regido pela Lei n.º 10.406, de 10 de janeiro de 2002, conforme alterada (“Código Civil”), pela Resolução da Comissão de Valores Mobiliários (“CVM”) n.º 175, de 23 de dezembro de 2022, conf orme alterada (“Resolução CVM 175”), que inclui sua Parte Geral (“Parte Geral da Resolução CVM 175”) e seu Anexo Normativo II (“Anexo Normativo II”) terá como principais características: Classe de Cotas Classe única. Indeterminado, exceto se de outra forma vier a ser deliberado pelos titulares</a:t>
            </a:r>
          </a:p>
          <a:p>
            <a:r>
              <a:t>CNPJ 62552447000120 · Adaptação à Resolução CVM 175 · Regulamento · ID 1200623 · 21/05/2026 · versão Consolidado21/05/2026 aprovado pelo ato1200625 · p. 2 · ParteGeral1.6(v) · https://fnet.bmfbovespa.com.br/fnet/publico/visualizarDocumento?id=1200623</a:t>
            </a:r>
          </a:p>
          <a:p>
            <a:r>
              <a:t>CNPJ 62552447000120 · Adaptação à Resolução CVM 175 · Excerto da fonte:</a:t>
            </a:r>
          </a:p>
          <a:p>
            <a:r>
              <a:t>V CDT 1 FUNDO DE INVESTIMENTO EM DIREITOS CREDITÓRIOS RESPONSABILIDADE LIMITADA direitos e obrigações distintos das demais Classes, nos termos do art. 5º da Parte Geral da Resolução CVM 175. 1.4 O Anexo de cada classe de Cotas (“Classe”), conforme aplicável, dispõe, sem prejuízo de outros requisitos e inf ormações previstos na regulamentação, sobre: (i) características gerais, incluindo a indicação dos demais prestadores de serviços; (ii) responsabilidade dos Cotistas e regime de insolvência; (iii) características, direitos, condições de emissão, subscrição, integralização,</a:t>
            </a:r>
          </a:p>
          <a:p>
            <a:r>
              <a:t>CNPJ 62552447000120 · Adaptação à Resolução CVM 175 · Regulamento · ID 1200623 · 21/05/2026 · versão Consolidado21/05/2026 aprovado pelo ato1200625 · p. 16 · AnexoI5.1 · https://fnet.bmfbovespa.com.br/fnet/publico/visualizarDocumento?id=1200623</a:t>
            </a:r>
          </a:p>
          <a:p>
            <a:r>
              <a:t>CNPJ 62552447000120 · Adaptação à Resolução CVM 175 · Excerto da fonte:</a:t>
            </a:r>
          </a:p>
          <a:p>
            <a:r>
              <a:t>5.1 A Classe não possui Subclasse. As características, os direitos e as condições de emissão, distribuição, subscrição, integralização, remuneração, Amortização e resgate das Cotas estão descritos neste Capítulo e no Capítulo 6. 5.1.1 Não obstante, por deliberação conjunta dos Prestadores de Serviços Essenciais e mediante aprovação em Assembleia Especial, poderá haver a divisão de Classes em Subclasses, nos termos da Resolução CVM 175. Após a primeira emissão de Cotas, novas emissões de Cotas (de quaisquer Subclasses) dependem de aprovação dos Cotistas. 5.2 As Cotas são escrit</a:t>
            </a:r>
          </a:p>
          <a:p>
            <a:r>
              <a:t>CNPJ 62552447000120 · Adaptação à Resolução CVM 175 · Versão e prevalência: Leitura específica das cláusulas indicadas; condições e conflitos preservados. Seleção documental atual não comprova vigência jurídica por data isolada.</a:t>
            </a:r>
          </a:p>
          <a:p>
            <a:r>
              <a:t>CNPJ 62552447000120 · Adaptação à Resolução CVM 175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"res175", "total_count": 1, "preview_count": 1, "full_text_deferred": true, "sha256": "d95db8c0613d67ee84118c734588665265ea6b02f86a0318d6a844cbe1d0f82f"}}</a:t>
            </a:r>
          </a:p>
          <a:p>
            <a:r>
              <a:t>CNPJ 63953620000165 · Adaptação à Resolução CVM 175 · Anexo ao Regulamento · ID 1222863 · 02/06/2026 · versão AnexoConsignadoPrivado02/06/2026 · p. 1 · AnexoI1.1 · https://fnet.bmfbovespa.com.br/fnet/publico/visualizarDocumento?id=1222863</a:t>
            </a:r>
          </a:p>
          <a:p>
            <a:r>
              <a:t>CNPJ 63953620000165 · Adaptação à Resolução CVM 175 · Excerto da fonte:</a:t>
            </a:r>
          </a:p>
          <a:p>
            <a:r>
              <a:t>1.1 As principais características da Classe Consignado Privado (para fins deste Anexo, “Classe”) estão descritas abaixo: Tipo de Condomínio Fechado. Indeterminado, exceto se de outra forma vier a ser deliberado pelos Cotistas Prazo de Duração reunidos em Assembleia Especial de Cotistas. (“Prazo de Duração”) Tipo “Financeiro”. Classificação ANBIMA Foco de atuação “Créditos Consignados”. O obje</a:t>
            </a:r>
          </a:p>
          <a:p>
            <a:r>
              <a:t>CNPJ 63953620000165 · Adaptação à Resolução CVM 175 · Anexo ao Regulamento · ID 1222863 · 02/06/2026 · versão AnexoConsignadoPrivado02/06/2026 · p. 9 · 5.1 · https://fnet.bmfbovespa.com.br/fnet/publico/visualizarDocumento?id=1222863</a:t>
            </a:r>
          </a:p>
          <a:p>
            <a:r>
              <a:t>CNPJ 63953620000165 · Adaptação à Resolução CVM 175 · Excerto da fonte:</a:t>
            </a:r>
          </a:p>
          <a:p>
            <a:r>
              <a:t>5.1 A Classe possui 2 (duas) Subclasses de Cotas, quais sejam, a subclasse sênior (“Subclasse Sênior” e “Cotas Seniores”) e a subclasse subordinada (“Subclasse Subordinada” e “Cotas Subordinadas” – as Cotas Subordinadas e Cotas Seniores, quando referidas em conjunto, “Cotas”). As características, os direitos e as condições de emissão, distribuição, subscrição, integralização, remuneração, amortização e resgate das Cotas estão descritos neste Capítulo e nos respectivos Apêndices. 5.2 As Cotas são escriturais, nominativas e correspondem a frações ideais do patrimônio da Classe, cuja propriedade presume-se: (i) pelo</a:t>
            </a:r>
          </a:p>
          <a:p>
            <a:r>
              <a:t>CNPJ 63953620000165 · Adaptação à Resolução CVM 175 · Condição: Vigência efetiva da versão 02/06/2026 não inferida da data de publicação; não aplicar a fev/26 automaticamente.</a:t>
            </a:r>
          </a:p>
          <a:p>
            <a:r>
              <a:t>CNPJ 63953620000165 · Adaptação à Resolução CVM 175 · Versão e prevalência: Leitura específica das cláusulas indicadas; condições e conflitos preservados. Seleção documental atual não comprova vigência jurídica por data isolada.</a:t>
            </a:r>
          </a:p>
          <a:p>
            <a:r>
              <a:t>CNPJ 63953620000165 · Adaptação à Resolução CVM 175 · Resumo do histórico: {"count": 9, "dates": ["2026-04-28", "2026-05-08", "2026-05-15"], "document_count": 3, "sources": [{"document_id": "1327859", "title": "Demonstrações Financeiras - Fusão, cisão e incorporação", "reference_date": "2026-05-15", "version": "1", "page": 31, "clause": "15.000.000", "url": "https://fnet.bmfbovespa.com.br/fnet/publico/visualizarDocumento?id=1327859", "sha256": "dca1c68babb97f887528c3e2e47596a9c30f507b067981a35655b2f2da9c8054"}, {"document_id": "1298691", "title": "Demonstrações Financeiras - Fusão, cisão e incorporação", "reference_date": "2026-05-08", "version": "1", "page": 32, "url": "https://fnet.bmfbovespa.com.br/fnet/publico/visualizarDocumento?id=1298691", "sha256": "58c570d9b8d4d265330d3db3ea81c435b8e44a6dab4002aa37790652a1ee9819"}, {"document_id": "1282180", "title": "Demonstrações Financeiras - Fusão, cisão e incorporação", "reference_date": "2026-04-28", "version": "1", "page": 32, "clause": "15.000.000", "url": "https://fnet.bmfbovespa.com.br/fnet/publico/visualizarDocumento?id=1282180", "sha256": "afaaa0e6809be4385e5bdb6c911aac582032c5bdbac3d7750234bf9eaf00438a"}], "reference": {"path": "history/63953620000165.json", "criterion_id": "res175", "total_count": 9, "preview_count": 3, "full_text_deferred": true, "sha256": "a7b89077f5e21098c2d601c303faabc3ff6b9729f89d8afecdc60fe1404720c1"}}</a:t>
            </a:r>
          </a:p>
          <a:p>
            <a:r>
              <a:t>CNPJ 54871427000194 · Duração e público-alvo · Demonstrações Financeiras - Fusão, cisão e incorporação · ID 1219522 · 2026-02-02 · versão 1 · p. 11 · https://fnet.bmfbovespa.com.br/fnet/publico/visualizarDocumento?id=1219522</a:t>
            </a:r>
          </a:p>
          <a:p>
            <a:r>
              <a:t>CNPJ 54871427000194 · Duração e público-alvo · Excerto da fonte:</a:t>
            </a:r>
          </a:p>
          <a:p>
            <a:r>
              <a:t>O Consignado Delta Receivables I Fundo de Investimento em Direitos Creditórios possui uma classe única de cotas, denominada Classe Única de Responsabilidade Limitada do Consignado Delta Receivables I Fundo de Investimento em Direitos Creditórios (“Classe”). A Classe foi constituída em 19 de abril de 2024, sob a forma de condomínio fechado e iniciou suas operações em 27 de maio de 2024. A Classe possui prazo de duração Indeterminado.</a:t>
            </a:r>
          </a:p>
          <a:p>
            <a:r>
              <a:t>CNPJ 54871427000194 · Duração e público-alvo · Condição: Documentos atuais selecionados no inventário por categoria/escopo; a data documental isolada não comprova vigência jurídica.</a:t>
            </a:r>
          </a:p>
          <a:p>
            <a:r>
              <a:t>CNPJ 54871427000194 · Duração e público-alvo · Versão e prevalência: Documentos atuais selecionados no inventário por categoria/escopo; a data documental isolada não comprova vigência jurídica.</a:t>
            </a:r>
          </a:p>
          <a:p>
            <a:r>
              <a:t>CNPJ 54871427000194 · Duração e público-alvo · Resumo do histórico: {"count": 11, "dates": ["2024-12-31", "2025-01-01", "2025-12-31"], "document_count": 3, "sources": [{"document_id": "1151805", "title": "Demonstrações Financeiras", "reference_date": "2025-12-31", "version": "1", "page": 11, "url": "https://fnet.bmfbovespa.com.br/fnet/publico/visualizarDocumento?id=1151805", "sha256": "f1cea70b152968bf96ef9221b27225953cb20aeef487b2798db3c25e11b528d4"}, {"document_id": "869529", "title": "Demonstrações Financeiras", "reference_date": "2025-01-01", "version": "1", "page": 11, "url": "https://fnet.bmfbovespa.com.br/fnet/publico/visualizarDocumento?id=869529", "sha256": "9a93a9369ac8efdbc54ff8fcee3ccac3abf88edab4807b9323d3852450771b2a"}, {"document_id": "870070", "title": "Demonstrações Financeiras", "reference_date": "2024-12-31", "version": "1", "page": 11, "url": "https://fnet.bmfbovespa.com.br/fnet/publico/visualizarDocumento?id=870070", "sha256": "9a93a9369ac8efdbc54ff8fcee3ccac3abf88edab4807b9323d3852450771b2a"}], "reference": {"path": "history/54871427000194.json", "criterion_id": "duration_investors", "total_count": 11, "preview_count": 3, "full_text_deferred": true, "sha256": "35d7cd99be50c7287c9fb675cf4f2e736002315295a225a9efa79c8d9186d874"}}</a:t>
            </a:r>
          </a:p>
          <a:p>
            <a:r>
              <a:t>CNPJ 60010416000112 · Duração e público-alvo · Demonstrações Financeiras - Fusão, cisão e incorporação · ID 1298690 · 2026-05-08 · versão 1 · p. 9 · https://fnet.bmfbovespa.com.br/fnet/publico/visualizarDocumento?id=1298690</a:t>
            </a:r>
          </a:p>
          <a:p>
            <a:r>
              <a:t>CNPJ 60010416000112 · Duração e público-alvo · Excerto da fonte:</a:t>
            </a:r>
          </a:p>
          <a:p>
            <a:r>
              <a:t>1. Contexto operacional  O MT Consignado Privado I Fundo de Investimento em Direitos Creditórios (“Fundo”) possui uma  classe única de cotas, denominada Classe Única do MT I Consignado Privado I Fundo de  Investimento em Direitos Creditórios Responsabilidade Limitada (“Classe”). A Classe foi  constituída em 20 de março de 2025, sob a forma de condomínio fechado e iniciou suas  operações em 21 de março de 2025. A Classe possui prazo de duração indeterminado.</a:t>
            </a:r>
          </a:p>
          <a:p>
            <a:r>
              <a:t>CNPJ 60010416000112 · Duração e público-alvo · Demonstrações Financeiras - Fusão, cisão e incorporação · ID 1298690 · 2026-05-08 · versão 1 · p. 22 · https://fnet.bmfbovespa.com.br/fnet/publico/visualizarDocumento?id=1298690</a:t>
            </a:r>
          </a:p>
          <a:p>
            <a:r>
              <a:t>CNPJ 60010416000112 · Duração e público-alvo · Excerto da fonte:</a:t>
            </a:r>
          </a:p>
          <a:p>
            <a:r>
              <a:t>(ii) Riscos do mercado secundário: A Classe é constituída sob a forma de condomínio  fechado, de modo que as Cotas Subordinadas somente serão resgatadas em virtude da  liquidação da Classe e as Cotas Seniores ao término do seu prazo de duração, conforme  estabelecidos nos respectivos Suplementos. Uma vez que o prazo de duração da Classe  é indeterminado, o Cotista titular das Cotas Subordinadas não terá liquidez em seu  investimento na Classe, exceto (a) por ocasião das amortizações e dos resgates, nos  termos do Regulamento; (b) por meio da alienação de suas Cotas no mercado  secundário, observado, neste caso, que sua alienação apenas é permitida para o Público-  Alvo das Cotas Subordinadas; ou (c) na liquidação antecipada do Fundo ou da Classe.</a:t>
            </a:r>
          </a:p>
          <a:p>
            <a:r>
              <a:t> Além disso, atualmente, o mercado secundário de cotas de fundos de investimento  apresenta baixa liquidez, o que pode dificultar a venda das Cotas ou ocasionar a obtenção  de um preço de venda que cause perda de patrimônio ao Cotista. Não há qualquer  garantia da Administradora, da Gestora, da consultora ou do Custodiante em relação à  possibilidade de venda das Cotas no mercado secundário ou ao preço obtido por elas,  ou mesmo garantia de saída ao Cotista.</a:t>
            </a:r>
          </a:p>
          <a:p>
            <a:r>
              <a:t>CNPJ 60010416000112 · Duração e público-alvo · Condição: Documentos atuais selecionados no inventário por categoria/escopo; a data documental isolada não comprova vigência jurídica.</a:t>
            </a:r>
          </a:p>
          <a:p>
            <a:r>
              <a:t>CNPJ 60010416000112 · Duração e público-alvo · Versão e prevalência: Documentos atuais selecionados no inventário por categoria/escopo; a data documental isolada não comprova vigência jurídica.</a:t>
            </a:r>
          </a:p>
          <a:p>
            <a:r>
              <a:t>CNPJ 60010416000112 · Duração e público-alvo · Resumo do histórico: {"count": 9, "dates": ["2025-11-30", "2026-03-18", "2026-04-16"], "document_count": 3, "sources": [{"document_id": "1282181", "title": "Demonstrações Financeiras - Fusão, cisão e incorporação", "reference_date": "2026-04-16", "version": "1", "page": 23, "url": "https://fnet.bmfbovespa.com.br/fnet/publico/visualizarDocumento?id=1282181", "sha256": "b1c6566e43a00bcd00c8a7f30c77b7f86e351bd8e355bbea113f46d1dafda703"}, {"document_id": "1224477", "title": "Demonstrações Financeiras - Fusão, cisão e incorporação", "reference_date": "2026-03-18", "version": "1", "page": 23, "url": "https://fnet.bmfbovespa.com.br/fnet/publico/visualizarDocumento?id=1224477", "sha256": "0751bf0a75bc3b44c2748f5000226665c6ec6698a90c4dc6170b4e6c187759ae"}, {"document_id": "1126154", "title": "Demonstrações Financeiras", "reference_date": "2025-11-30", "version": "1", "page": 23, "url": "https://fnet.bmfbovespa.com.br/fnet/publico/visualizarDocumento?id=1126154", "sha256": "a01e7ccf88c548f12c95cba8526d7efbef6b585c112cd4668eca781c292090b0"}], "reference": {"path": "history/60010416000112.json", "criterion_id": "duration_investors", "total_count": 9, "preview_count": 3, "full_text_deferred": true, "sha256": "8e2bd813f4c51cf01f6bfaad164bafe69d2bbb192f753eac92da3a01c2e63046"}}</a:t>
            </a:r>
          </a:p>
          <a:p>
            <a:r>
              <a:t>CNPJ 62696791000193 · Duração e público-alvo · Regulamento · ID 1143317 · 2026-03-20 · versão 1 · p. 18 · 8.8.1 · https://fnet.bmfbovespa.com.br/fnet/publico/visualizarDocumento?id=1143317</a:t>
            </a:r>
          </a:p>
          <a:p>
            <a:r>
              <a:t>CNPJ 62696791000193 · Duração e público-alvo · Excerto da fonte:</a:t>
            </a:r>
          </a:p>
          <a:p>
            <a:r>
              <a:t>8.8.1 As Chamadas de Capital para a realização de investimentos serão realizadas a qualquer  momento durante o Período de Investimento e estarão limitadas ao valor do capital subscrito  de cada Cotista. As Chamadas de Capital para o pagamento de despesas e encargos do Fundo  poderão ser realizadas a qualquer momento durante o Prazo de Duração, mas não estarão  limitadas ao valor do capital subscrito de cada Cotista.</a:t>
            </a:r>
          </a:p>
          <a:p>
            <a:r>
              <a:t>CNPJ 62696791000193 · Duração e público-alvo · Regulamento · ID 1143317 · 2026-03-20 · versão 1 · p. 20 · 9.5.1 · https://fnet.bmfbovespa.com.br/fnet/publico/visualizarDocumento?id=1143317</a:t>
            </a:r>
          </a:p>
          <a:p>
            <a:r>
              <a:t>CNPJ 62696791000193 · Duração e público-alvo · Excerto da fonte:</a:t>
            </a:r>
          </a:p>
          <a:p>
            <a:r>
              <a:t>9.5.1 Ao f inal do Prazo de Duração ou quando da liquidação antecipada da Classe, todas as Cotas  deverão ter seu valor integralmente amortizado. Não havendo recursos em moeda corrente  nacional suficientes para realizar o pagamento da amortização total das Cotas em circulação à  época da liquidação da Classe, o Administrador deverá convocar a Assembleia Especial de  Cotistas a fim de deliberar sobre a prorrogação do Prazo de Duração ou o resgate de Cotas em  Direitos Creditórios do Agronegócio e/ou Outros Ativos .</a:t>
            </a:r>
          </a:p>
          <a:p>
            <a:r>
              <a:t>10 ASSEMBLEIA ESPECIAL DE COTISTAS</a:t>
            </a:r>
          </a:p>
          <a:p>
            <a:r>
              <a:t>CNPJ 62696791000193 · Duração e público-alvo · Regulamento · ID 1143317 · 2026-03-20 · versão 1 · p. 23 · 11.1 · https://fnet.bmfbovespa.com.br/fnet/publico/visualizarDocumento?id=1143317</a:t>
            </a:r>
          </a:p>
          <a:p>
            <a:r>
              <a:t>CNPJ 62696791000193 · Duração e público-alvo · Excerto da fonte:</a:t>
            </a:r>
          </a:p>
          <a:p>
            <a:r>
              <a:t>11.1 A Classe será liquidada (i) em caso da liquidação antecipada deliberada em Assembleia Especial de  Cotistas; ou (ii) pelo encerramento do Prazo de Duração da Classe.</a:t>
            </a:r>
          </a:p>
          <a:p>
            <a:r>
              <a:t>CNPJ 62696791000193 · Duração e público-alvo · Condição: Documentos atuais selecionados no inventário por categoria/escopo; a data documental isolada não comprova vigência jurídica.</a:t>
            </a:r>
          </a:p>
          <a:p>
            <a:r>
              <a:t>CNPJ 62696791000193 · Duração e público-alvo · Versão e prevalência: Documentos atuais selecionados no inventário por categoria/escopo; a data documental isolada não comprova vigência jurídica.</a:t>
            </a:r>
          </a:p>
          <a:p>
            <a:r>
              <a:t>CNPJ 55563624000109 · Duração e público-alvo · AGE · ID 1306189 · 2026-08-25 · versão 1 · p. 1 · 4.1 · https://fnet.bmfbovespa.com.br/fnet/publico/visualizarDocumento?id=1306189</a:t>
            </a:r>
          </a:p>
          <a:p>
            <a:r>
              <a:t>CNPJ 55563624000109 · Duração e público-alvo · Excerto da fonte:</a:t>
            </a:r>
          </a:p>
          <a:p>
            <a:r>
              <a:t>4.1 Nos termos do Anexo da Classe, aprovar:</a:t>
            </a:r>
          </a:p>
          <a:p>
            <a:r>
              <a:t>(i) a liquidação da Subclasse A da Classe, considerando o encerramento do seu prazo de duração, por meio do  resgate integral de Cotas da Subclasse A com entrega de financeiro aos Cotistas. Será utilizada como data  base no cálculo da cota do dia 25 de agosto de 2026, com efetivação no fechamento do dia 27 de agosto de  2026; e</a:t>
            </a:r>
          </a:p>
          <a:p>
            <a:r>
              <a:t>(ii) a liquidação antecipada da Subclasse C da Classe, por meio do resgate integral de Cotas da Subclasse C com  entrega de financeiro aos Cotistas. Será utilizada como data base no cálculo da cota do dia 25 de agosto de  2026, com efetivação no fechamento do dia 27 de agosto de 2026.</a:t>
            </a:r>
          </a:p>
          <a:p>
            <a:r>
              <a:t>CNPJ 55563624000109 · Duração e público-alvo · Condição: Documentos atuais selecionados no inventário por categoria/escopo; a data documental isolada não comprova vigência jurídica.</a:t>
            </a:r>
          </a:p>
          <a:p>
            <a:r>
              <a:t>CNPJ 55563624000109 · Duração e público-alvo · Versão e prevalência: Documentos atuais selecionados no inventário por categoria/escopo; a data documental isolada não comprova vigência jurídica.</a:t>
            </a:r>
          </a:p>
          <a:p>
            <a:r>
              <a:t>CNPJ 55563624000109 · Duração e público-alvo · Resumo do histórico: {"count": 6, "dates": ["2026-04-30"], "document_count": 2, "sources": [{"document_id": "1192614", "title": "Regulamento", "reference_date": "2026-04-30", "version": "1", "page": "9, 15, 45-50", "url": "https://fnet.bmfbovespa.com.br/fnet/publico/visualizarDocumento?id=1192614", "sha256": "f56e63ace0acde41d2f47fb48f1ac7f3f7df5e2d32de092d7c5e075a52516632"}, {"document_id": "1192614", "title": "Regulamento", "reference_date": "2026-04-30", "version": "1", "page": 5, "clause": "4.7.1", "url": "https://fnet.bmfbovespa.com.br/fnet/publico/visualizarDocumento?id=1192614", "sha256": "f56e63ace0acde41d2f47fb48f1ac7f3f7df5e2d32de092d7c5e075a52516632"}, {"document_id": "1192603", "title": "AGE", "reference_date": "2026-04-30", "version": "1", "page": 1, "clause": "4.1", "url": "https://fnet.bmfbovespa.com.br/fnet/publico/visualizarDocumento?id=1192603", "sha256": "f53ff2a5b715f5365536305a098f9cc0c54b5a01128942d784915bed8eeb0288"}], "reference": {"path": "history/55563624000109.json", "criterion_id": "duration_investors", "total_count": 6, "preview_count": 3, "full_text_deferred": true, "sha256": "7835d573fb58a3c19adf5b8ecc2aee2bdbb9a88f7a0c0209b5f262b64c7522e3"}}</a:t>
            </a:r>
          </a:p>
          <a:p>
            <a:r>
              <a:t>CNPJ 62552447000120 · Duração e público-alvo · Regulamento · ID 1200623 · 2026-05-21 · versão 1 · p. 22 · 10.4 · https://fnet.bmfbovespa.com.br/fnet/publico/visualizarDocumento?id=1200623</a:t>
            </a:r>
          </a:p>
          <a:p>
            <a:r>
              <a:t>CNPJ 62552447000120 · Duração e público-alvo · Excerto da fonte:</a:t>
            </a:r>
          </a:p>
          <a:p>
            <a:r>
              <a:t>10.4 Tendo em vista que a Classe é exclusivamente destinada a Investidores Profissionais, não serão  aplicáveis as vedações ao direito a voto em assembleia de cotistas dispostas no artigo 78 da Resolução  CVM 175, conf orme disposto no artigo 114 da ref erida Resolução.</a:t>
            </a:r>
          </a:p>
          <a:p>
            <a:r>
              <a:t>CNPJ 62552447000120 · Duração e público-alvo · Regulamento · ID 1200623 · 2026-05-21 · versão 1 · p. 35 · https://fnet.bmfbovespa.com.br/fnet/publico/visualizarDocumento?id=1200623</a:t>
            </a:r>
          </a:p>
          <a:p>
            <a:r>
              <a:t>CNPJ 62552447000120 · Duração e público-alvo · Excerto da fonte:</a:t>
            </a:r>
          </a:p>
          <a:p>
            <a:r>
              <a:t>ativos desses emissores, causando perdas à Classe e ao Cotista. Além disso, a f alta de capacidade ou disposição de pagar por qualquer dos emissores dos Ativos Financeiros de Liquidez ou das contrapartes nas transações que compõem a Carteira causará perdas à Classe, e o que também poderá incorrer em custos para f ins de recuperação de seus recebíveis.</a:t>
            </a:r>
          </a:p>
          <a:p>
            <a:r>
              <a:t>(v) Riscos associados aos Devedores: no caso de Devedores no âmbito das operações de consignado privado, a sua capacidade de pagamento poderá ser af etada se, por exemplo, o Devedor tiver o seu contrato de emprego rescindido ou em virtude de decisão judicial, o Devedor for obrigado a pagar alimentos, que têm prioridade sobre o empréstimo para f ins de desconto na f 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 etar a rentabilidade da Classe. Já no caso de Devedores no âmbito das operações de Saque-aniversário, como os Direitos Creditórios a serem endossados à Classe serão descontados pelo FGTS da remuneração do Devedor, na ocorrência de qualquer evento que, nos termos da legislação aplicável, determine o pagamento antecipado do Saque-aniversário ao Devedor, a exemplo do falecimento do Devedor, dentre outros, as parcelas do Saque- aniversário serão pagas antecipadamente e a Classe deverá utilizar tais montantes no pré-pagamento dos Direitos Creditórios. Nesta hipótese, a Classe poderá não encontrar Direitos Creditórios disponíveis para serem adquiridos pela Classe, o que poderá af etar a rentabilidade da Classe.</a:t>
            </a:r>
          </a:p>
          <a:p>
            <a:r>
              <a:t>Risco de liquidez</a:t>
            </a:r>
          </a:p>
          <a:p>
            <a:r>
              <a:t>(i) Risco de liquidez: consiste no risco de redução ou inexistência de demanda pelos ativos que compõem a Classe nos respectivos mercados em que são negociados, devido às condições específicas desses ativos ou aos mercados em que são negociados. Devido a esses riscos, o Gestor poderá encontrar dificuldades em liquidar posições ou negociar esses ativos pelo preço e prazo desejados, de acordo com a estratégia de gestão adotada pela Classe, que permanecerá exposto, durante o período de baixa liquidez, aos riscos associados a esses ativos e posições assumidas em mercados de derivativos, se houver, que poderão até exigir que o Gestor aceite descontos em seus preços para realizar negociações no mercado. Esses f atores poderão prejudicar o pagamento de Amortizações ao Cotista, nos valores e dentro dos termos aqui estabelecidos.</a:t>
            </a:r>
          </a:p>
          <a:p>
            <a:r>
              <a:t>(ii) Riscos do mercado secundário: A Classe é constituída sob a f orma de condomínio fechado, de modo que as Cotas somente serão resgatadas em virtude da liquidação da Classe. Uma vez que o Prazo de Duração da Classe é indeterminado, o Cotista titular das Cotas não terá liquidez em seu investimento na Classe, exceto</a:t>
            </a:r>
          </a:p>
          <a:p>
            <a:r>
              <a:t>(a) por ocasião das Amortizações e dos resgates, nos termos deste Regulamento; (b) por meio da alienação de suas Cotas no mercado secundário; ou (c) na liquidação antecipada do FUNDO ou da Classe.</a:t>
            </a:r>
          </a:p>
          <a:p>
            <a:r>
              <a:t>Além disso, atualmente, o mercado secundário de cotas de fundos de investimento apresenta baixa liquidez, o que pode dificultar a venda das Cotas ou ocasionar a obtenção de um preço de venda que cause perda de patrimônio ao Cotista. Não há qualquer garantia do Administrador, do Gestor, da consultora ou do Custodiante em relação à possibilidade de venda das Cotas no mercado secundário ou ao preço obtido por elas, ou mesmo garantia de saída ao Cotista.</a:t>
            </a:r>
          </a:p>
          <a:p>
            <a:r>
              <a:t>Riscos específicos</a:t>
            </a:r>
          </a:p>
          <a:p>
            <a:r>
              <a:t>(i)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ficar inadimplente e, consequentemente, não haverá repasse à Classe do respectivo Direito Creditório, o que poderá resultar em perdas f inanceiras à Classe e aos Cotistas. Para os f ins deste Regulamento, “Empregador” signif ica a empresa com qual o Devedor mantém vínculo empregatício registrado junto à CTPS.</a:t>
            </a:r>
          </a:p>
          <a:p>
            <a:r>
              <a:t>(ii) Risco do Empregador não efetuar o desconto em folha: o repasse dos recursos oriundos dos Direitos Creditórios à Classe depende da realização, pelo Empregador, da escrituração da Consignação a ser</a:t>
            </a:r>
          </a:p>
          <a:p>
            <a:r>
              <a:t>CNPJ 62552447000120 · Duração e público-alvo · Regulamento · ID 1200623 · 2026-05-21 · versão 1 · p. 1 · 1.3 · https://fnet.bmfbovespa.com.br/fnet/publico/visualizarDocumento?id=1200623</a:t>
            </a:r>
          </a:p>
          <a:p>
            <a:r>
              <a:t>CNPJ 62552447000120 · Duração e público-alvo · Excerto da fonte:</a:t>
            </a:r>
          </a:p>
          <a:p>
            <a:r>
              <a:t>1.3 Durante o seu prazo de duração, o Fundo, por ato conjunto dos Prestadores de Serviços Essenciais,  poderá constituir diferentes Classes e Subclasses , sendo que cada Classe terá patrimônio segregado e</a:t>
            </a:r>
          </a:p>
          <a:p>
            <a:r>
              <a:t>CNPJ 62552447000120 · Duração e público-alvo · Condição: Documentos atuais selecionados no inventário por categoria/escopo; a data documental isolada não comprova vigência jurídica.</a:t>
            </a:r>
          </a:p>
          <a:p>
            <a:r>
              <a:t>CNPJ 62552447000120 · Duração e público-alvo · Versão e prevalência: Documentos atuais selecionados no inventário por categoria/escopo; a data documental isolada não comprova vigência jurídica.</a:t>
            </a:r>
          </a:p>
          <a:p>
            <a:r>
              <a:t>CNPJ 62552447000120 · Duração e público-alvo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"duration_investors", "total_count": 1, "preview_count": 1, "full_text_deferred": true, "sha256": "d95db8c0613d67ee84118c734588665265ea6b02f86a0318d6a844cbe1d0f82f"}}</a:t>
            </a:r>
          </a:p>
          <a:p>
            <a:r>
              <a:t>CNPJ 63953620000165 · Duração e público-alvo · Anexo ao Regulamento · ID 1222863 · 2026-06-02 · versão 1 · p. 2 · https://fnet.bmfbovespa.com.br/fnet/publico/visualizarDocumento?id=1222863</a:t>
            </a:r>
          </a:p>
          <a:p>
            <a:r>
              <a:t>CNPJ 63953620000165 · Duração e público-alvo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Duração e público-alvo · Anexo ao Regulamento · ID 1222863 · 2026-06-02 · versão 1 · p. 1 · 1.1 · https://fnet.bmfbovespa.com.br/fnet/publico/visualizarDocumento?id=1222863</a:t>
            </a:r>
          </a:p>
          <a:p>
            <a:r>
              <a:t>CNPJ 63953620000165 · Duração e público-alvo · Excerto da fonte:</a:t>
            </a:r>
          </a:p>
          <a:p>
            <a:r>
              <a:t>1.1 As principais características da Classe Consignado Privado (para fins deste Anexo, “Classe”) estão descritas  abaixo:</a:t>
            </a:r>
          </a:p>
          <a:p>
            <a:r>
              <a:t> Tipo de Condomínio Fechado.</a:t>
            </a:r>
          </a:p>
          <a:p>
            <a:r>
              <a:t> Indeterminado, exceto se de outra forma vier a ser deliberado pelos Cotistas  Prazo de Duração  reunidos em Assembleia Especial de Cotistas. (“Prazo de Duração”)  Tipo “Financeiro”.</a:t>
            </a:r>
          </a:p>
          <a:p>
            <a:r>
              <a:t> Classificação ANBIMA  Foco de atuação “Créditos Consignados”.</a:t>
            </a:r>
          </a:p>
          <a:p>
            <a:r>
              <a:t> O objetivo da classe é proporcionar aos seus Cotistas a valorização de suas Cotas  por meio da aplicação de seu Patrimônio Líquido (conforme definido abaixo) na  aquisição de: (i) “Direitos Creditórios Crédito Consignado”, representados por  cédula de crédito bancário regida pela Lei nº 10.931, emitida eletronicamente por  um devedor em favor do endossante (“CCB”) e, consequentemente, os recebíveis  decorrente de cada uma das parcelas vincendas, representando um empréstimo  consignado concedido pelo endossante ao devedor, e cujo pagamento ordinário  é feito por desconto de cada prestação vincenda de uma CCB na folha de  pagamentos do devedor (“Consignação”), efetuada pela Caixa Econômica  Federal, de acordo com a legislação aplicável e em conformidade com os  procedimentos estabelecidos no convênio celebrado entre o Endossante e a  Empresa de Tecnologia e Informações da Previdência – DATAPREV e paga na  Conta Vinculada do Endossante (“Convênio Consignado Privado”); e/ou (ii)  “Direitos Creditórios TVM”, representados por direitos, títulos e/ou valores  mobiliários representativos de créditos originados no âmbito de operações de  sociedades integrantes do conglomerado econômico de instituições financeiras  classificadas como S1 pelo BACEN, desde que não representem títulos de  emissão ou coobrigação de instituições financeiras, bem como cotas de fundos  de investimento que invistam preponderantemente nestes direitos, títulos e/ou  Objetivo  valores mobiliários (Direitos Creditórios TVM quando referidos em conjunto  com os Direitos Creditórios Consignado Privado, “Direitos Creditórios”)  observados todos os limites de composição e diversificação da carteira da Classe  (“Carteira”), estabelecidos neste Regulamento e na regulamentação aplicável.</a:t>
            </a:r>
          </a:p>
          <a:p>
            <a:r>
              <a:t> Subsidiariamente, a parcela do Patrimônio Líquido que não esteja alocada em  Direitos Creditórios poderá estar alocado em: (1) certificados de depósito  bancário (CDB) ou recibos de depósito bancário (RDB) com prazo máximo de  vencimento equivalente ao prazo remanescente do Período de Investimento, com  liquidez diária, emitidos por Parati Crédito, Financiamento e Investimento S.A.</a:t>
            </a:r>
          </a:p>
          <a:p>
            <a:r>
              <a:t> e/ou pelo Endossante (“Ativos de Liquidez MT”); e/ou (2) (i) moeda corrente  nacional; (ii) títulos do Tesouro SELIC, anteriormente denominado letra financeira  do Tesouro Nacional (LFT); (iii) certificados de depósito bancário (CDB) ou recibos  de depósito bancário (RDB) com prazo máximo de vencimento equivalente ao  prazo remanescente do Período de Investimento, com liquidez diária, emitidos  por (a) Itaú Unibanco S.A.; (b) Banco Bradesco S.A.; (c) Caixa Econômica Federal;</a:t>
            </a:r>
          </a:p>
          <a:p>
            <a:r>
              <a:t> (d) Banco do Brasil S.A.; (e) Banco Santander (Brasil) S.A.; (f) Banco BTG Pactual  S.A.; (g) Banco Sistema S.A. (“Instituições Autorizadas”); (iv) operações  compromissadas, desde que lastreadas nos títulos mencionados nas alíneas (i) a</a:t>
            </a:r>
          </a:p>
          <a:p>
            <a:r>
              <a:t> (iii) acima, emitidas por Instituições Autorizadas, com liquidez diária e vencimento</a:t>
            </a:r>
          </a:p>
          <a:p>
            <a:r>
              <a:t>CNPJ 63953620000165 · Duração e público-alvo · Anexo ao Regulamento · ID 1222863 · 2026-06-02 · versão 1 · p. 10 · 6.7.1 · https://fnet.bmfbovespa.com.br/fnet/publico/visualizarDocumento?id=1222863</a:t>
            </a:r>
          </a:p>
          <a:p>
            <a:r>
              <a:t>CNPJ 63953620000165 · Duração e público-alvo · Excerto da fonte:</a:t>
            </a:r>
          </a:p>
          <a:p>
            <a:r>
              <a:t>6.7.1 As Chamadas de Capital para a realização de investimentos serão realizadas a qualquer momento  durante o Período de Investimento e estarão limitadas ao valor do capital subscrito de cada Cotista. As  Chamadas de Capital para o pagamento de despesas e encargos do Fundo, com exceção de despesas  relacionadas à instrumentos de derivativos e/ou Encargos não previstos no âmbito deste regulamento,  poderão ser realizadas a qualquer momento durante o Prazo de Duração, mas não estarão limitadas ao  valor do capital subscrito de cada Cotista.</a:t>
            </a:r>
          </a:p>
          <a:p>
            <a:r>
              <a:t>CNPJ 63953620000165 · Duração e público-alvo · Condição: Documentos atuais selecionados no inventário por categoria/escopo; a data documental isolada não comprova vigência jurídica.</a:t>
            </a:r>
          </a:p>
          <a:p>
            <a:r>
              <a:t>CNPJ 63953620000165 · Duração e público-alvo · Versão e prevalência: Documentos atuais selecionados no inventário por categoria/escopo; a data documental isolada não comprova vigência jurídica.</a:t>
            </a:r>
          </a:p>
          <a:p>
            <a:r>
              <a:t>CNPJ 63953620000165 · Duração e público-alvo · Resumo do histórico: {"count": 8, "dates": ["2026-04-28", "2026-05-08", "2026-05-15"], "document_count": 3, "sources": [{"document_id": "1327859", "title": "Demonstrações Financeiras - Fusão, cisão e incorporação", "reference_date": "2026-05-15", "version": "1", "page": 9, "url": "https://fnet.bmfbovespa.com.br/fnet/publico/visualizarDocumento?id=1327859", "sha256": "dca1c68babb97f887528c3e2e47596a9c30f507b067981a35655b2f2da9c8054"}, {"document_id": "1298691", "title": "Demonstrações Financeiras - Fusão, cisão e incorporação", "reference_date": "2026-05-08", "version": "1", "page": 9, "url": "https://fnet.bmfbovespa.com.br/fnet/publico/visualizarDocumento?id=1298691", "sha256": "58c570d9b8d4d265330d3db3ea81c435b8e44a6dab4002aa37790652a1ee9819"}, {"document_id": "1282180", "title": "Demonstrações Financeiras - Fusão, cisão e incorporação", "reference_date": "2026-04-28", "version": "1", "page": 9, "url": "https://fnet.bmfbovespa.com.br/fnet/publico/visualizarDocumento?id=1282180", "sha256": "afaaa0e6809be4385e5bdb6c911aac582032c5bdbac3d7750234bf9eaf00438a"}], "reference": {"path": "history/63953620000165.json", "criterion_id": "duration_investors",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Alocação e perímetro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Alocação mínima · Base da comparação IME: {"criterion_id": "allocation", "observed_value": 91.84981349574433, "unit": "percent", "competence": "08/2026", "status": "not_comparable", "reason": "Vigência efetiva não comprovada; data do documento isolada não certifica enquadramento histórico.", "formula": "credit_rights / net_asset_value × 100",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50.0}</a:t>
            </a:r>
          </a:p>
          <a:p>
            <a:r>
              <a:t>CNPJ 54871427000194 · Alocação mínima · Regulamento · ID 670691 · 28/04/2024 · versão Regulamento — referência 28/04/2024 · p. 11 · Anexo I, 4.9 · https://fnet.bmfbovespa.com.br/fnet/publico/visualizarDocumento?id=670691</a:t>
            </a:r>
          </a:p>
          <a:p>
            <a:r>
              <a:t>CNPJ 54871427000194 · Alocação mínima · Excerto da fonte:</a:t>
            </a:r>
          </a:p>
          <a:p>
            <a:r>
              <a:t>4.9 Decorridos 180 (cento e oitenta) dias da Data da 1ª Integralização de Cotas, a Classe deverá manter alocado, no mínimo, 50% (cinquenta por cento) do seu Patrimônio Líquido em Direitos Creditórios . 4.10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4.11 A Classe poderá, direta ou indiretamente e, nos termos da legislação aplicável: (i) adquirir Direitos Creditórios que sejam cedidos e/ou originados pelo ADMINISTRADOR e/ou pelo GESTOR, ou partes a eles relacionadas, tal como definidas pelas regras contábeis que tratam desse assunto; e (ii) ceder Direitos Creditórios a qualquer das pessoas, fundos de investimento ou entidades referidas n</a:t>
            </a:r>
          </a:p>
          <a:p>
            <a:r>
              <a:t>CNPJ 54871427000194 · Alocação mínima · Mecânica: {"operator": "&gt;=", "limit": 50.0, "unit": "percent", "numerator": "credit_rights", "denominator": "net_asset_value", "frequency": "daily", "layer": "54871427000194", "document_date": "2024-04-28", "effective_status": "document_date_only", "initial_days": 180}</a:t>
            </a:r>
          </a:p>
          <a:p>
            <a:r>
              <a:t>CNPJ 54871427000194 · Alocação mínima · Versão e prevalência: Leitura específica das cláusulas indicadas; condições e conflitos preservados. Seleção documental atual não comprova vigência jurídica por data isolada.</a:t>
            </a:r>
          </a:p>
          <a:p>
            <a:r>
              <a:t>CNPJ 54871427000194 · Alocação mínima · Resumo do histórico: {"count": 2, "dates": ["2024-04-19", "2024-04-28"], "document_count": 2, "sources": [{"document_id": "670691", "title": "Regulamento", "reference_date": "2024-04-28", "version": "1", "page": "11", "url": "https://fnet.bmfbovespa.com.br/fnet/publico/visualizarDocumento?id=670691", "sha256": "bf16dd7f1a62d5cdbf2e2d54fef81783783f7310fbc99c3a8f00459bdf9d037b"}, {"document_id": "670689", "title": "Regulamento", "reference_date": "2024-04-19", "version": "1", "page": 11, "clause": "4.9", "url": "https://fnet.bmfbovespa.com.br/fnet/publico/visualizarDocumento?id=670689", "sha256": "891bc9bc5d87bbc02ec139077a84d2702eb81ea02035fb71d24f5b8366b94a0b"}], "reference": {"path": "history/54871427000194.json", "criterion_id": "allocation", "total_count": 2, "preview_count": 2, "full_text_deferred": true, "sha256": "35d7cd99be50c7287c9fb675cf4f2e736002315295a225a9efa79c8d9186d874"}}</a:t>
            </a:r>
          </a:p>
          <a:p>
            <a:r>
              <a:t>CNPJ 60010416000112 · Alocação mínima · Base da comparação IME: {"criterion_id": "allocation", "observed_value": 117.78665480900618, "unit": "percent", "competence": "08/2026", "status": "not_comparable", "reason": "Vigência efetiva não comprovada; data do documento isolada não certifica enquadramento histórico.", "formula": "credit_rights / net_asset_value × 100",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50.0}</a:t>
            </a:r>
          </a:p>
          <a:p>
            <a:r>
              <a:t>CNPJ 60010416000112 · Alocação mínima · Regulamento · ID 1051393 · 09/10/2025 · versão Regulamento09/10/2025 · p. 11 · AnexoI4.6 · https://fnet.bmfbovespa.com.br/fnet/publico/visualizarDocumento?id=1051393</a:t>
            </a:r>
          </a:p>
          <a:p>
            <a:r>
              <a:t>CNPJ 60010416000112 · Alocação mínima · Excerto da fonte:</a:t>
            </a:r>
          </a:p>
          <a:p>
            <a:r>
              <a:t>4.6 Decorridos 180 (cento e oitenta) dias do início de suas atividades, a Classe deverá manter alocado, no mínimo: para f ins tributários, 67% (sessenta e sete por cento) do seu Patrimônio Líquido em Direitos Creditórios, nos termos da Resolução CMN 5.111; e para fins regulatórios, 50% (cinquenta por cento) do seu Patrimônio Líquido em Direitos Creditórios, nos termos da Resolução CVM 175. BTG Pactual SAC: 0800 772 28 27 - Ouvidoria: 0800 722 00 48 - btgpactual.com 11</a:t>
            </a:r>
          </a:p>
          <a:p>
            <a:r>
              <a:t>CNPJ 60010416000112 · Alocação mínima · Mecânica: {"operator": "&gt;=", "unit": "percent", "denominator": "net_asset_value", "frequency": "not_stated", "layer": "class", "effective_status": "document_date_only", "document_date": "2025-10-09", "numerator": "credit_rights", "limit": 50.0, "requires_initial_date": true}</a:t>
            </a:r>
          </a:p>
          <a:p>
            <a:r>
              <a:t>CNPJ 60010416000112 · Alocação mínima · Versão e prevalência: Leitura específica das cláusulas indicadas; condições e conflitos preservados. Seleção documental atual não comprova vigência jurídica por data isolada.</a:t>
            </a:r>
          </a:p>
          <a:p>
            <a:r>
              <a:t>CNPJ 60010416000112 · Alocação mínima · Resumo do histórico: {"count": 2, "dates": ["2025-03-20", "2025-10-09"], "document_count": 2, "sources": [{"document_id": "1051393", "title": "Regulamento", "reference_date": "2025-10-09", "version": "1", "page": "11", "url": "https://fnet.bmfbovespa.com.br/fnet/publico/visualizarDocumento?id=1051393", "sha256": "8469d613078ffd5a6c1d217885d8a397a16342c0b937ae4aa24b106505f233ae"}, {"document_id": "993786", "title": "Regulamento", "reference_date": "2025-03-20", "version": "1", "page": 6, "clause": "5.3", "url": "https://fnet.bmfbovespa.com.br/fnet/publico/visualizarDocumento?id=993786", "sha256": "fd0fdd369a195510d81f81f505195a0b09e5f43522a990afa7d58c4f872921c8"}], "reference": {"path": "history/60010416000112.json", "criterion_id": "allocation", "total_count": 2, "preview_count": 2, "full_text_deferred": true, "sha256": "8e2bd813f4c51cf01f6bfaad164bafe69d2bbb192f753eac92da3a01c2e63046"}}</a:t>
            </a:r>
          </a:p>
          <a:p>
            <a:r>
              <a:t>CNPJ 62696791000193 · Alocação mínima · Base da comparação IME: {"criterion_id": "allocation", "observed_value": null, "unit": "percent", "competence": "08/2026", "status": "not_comparable", "reason": "Operador, unidade, numerador ou base contratual sem correspondência exata no IME; proxies de PL/ativos não são intercambiáveis. CPR declarada no FIAGRO não comprova elegibilidade individual nem correspondência integral com a definição contratual de direitos creditórios do agronegócio.",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51.0, "comparison_required": true, "context_value": 99.72659520720684, "context_unit": "percent", "context_formula": "CPR / PL (rubrica declarada no FIAGRO)"}</a:t>
            </a:r>
          </a:p>
          <a:p>
            <a:r>
              <a:t>CNPJ 62696791000193 · Alocação mínima · Regulamento · ID 1143317 · 20/03/2026 · versão Regulamento — referência 20/03/2026 · p. 10 · Anexo I, 4.2 · https://fnet.bmfbovespa.com.br/fnet/publico/visualizarDocumento?id=1143317</a:t>
            </a:r>
          </a:p>
          <a:p>
            <a:r>
              <a:t>CNPJ 62696791000193 · Alocação mínima · Excerto da fonte:</a:t>
            </a:r>
          </a:p>
          <a:p>
            <a:r>
              <a:t>4.2 Decorridos 180 (cento e oitenta) dias do início de suas atividades, a Classe deverá possuir parcela mínima de 51% (cinquenta e um por cento) de seu Patrimônio Líquido representados por Direitos Creditórios do Agronegócio, enquanto a parcela de 49% (quarenta e nove por cento) remanescente deverá ser alocada em Outros Ativos ou Ativos Financeiros de Liquidez. 4.3 Os Direitos Creditórios do Agronegócio serão adquiridos integral ou parcialmente, sempre de acordo com a Política de Investimentos. 4.4 Tendo em vista (i) a natureza variada dos Direitos Creditórios do Agronegócio passíveis de aquisição pela Classe; (ii) a amplitude da Política de Investimentos; e (iii) a potencial diversificação de Cedentes/Endossantes e Devedores, não é possível precisar os processos de origem dos Direitos Creditórios do Agronegócio e as políticas de concessão de crédito adotadas pelos Cedentes/Endossantes. 4.5 Os Direitos Creditórios do Agronegócio deverão contar com toda a documentação necessária para o exercício das prerrogativas decorrentes da titularidade dos ativos, e capaz de comprovar a origem, a existência e a exigibilidade dos Direitos Creditórios do Agronegócio (“Documentos Comprobatórios”)</a:t>
            </a:r>
          </a:p>
          <a:p>
            <a:r>
              <a:t>CNPJ 62696791000193 · Alocação mínima · AGE · ID 1143319 · 20/03/2026 10:00 · versão AGE — referência 20/03/2026 10:00 · p. 3 · AGC 20/03/2026, 4.1(j)–(k) · https://fnet.bmfbovespa.com.br/fnet/publico/visualizarDocumento?id=1143319</a:t>
            </a:r>
          </a:p>
          <a:p>
            <a:r>
              <a:t>CNPJ 62696791000193 · Alocação mínima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Alocação mínima · Condição: Vigente a partir do fechamento de 23/03/2026. O agregado genérico de direitos do IME não comprova, sozinho, a natureza agronegócio de todos os ativos nem a conclusão da carência inicial.</a:t>
            </a:r>
          </a:p>
          <a:p>
            <a:r>
              <a:t>CNPJ 62696791000193 · Alocação mínima · Mecânica: {"operator": "&gt;=", "limit": 51.0, "unit": "percent", "numerator": "agribusiness_credit_rights", "denominator": "net_asset_value", "frequency": "daily", "layer": "62696791000193", "effective_from": "2026-03-23", "effective_status": "explicit_assembly_effective_date", "initial_days": 180, "initial_date": null}</a:t>
            </a:r>
          </a:p>
          <a:p>
            <a:r>
              <a:t>CNPJ 62696791000193 · Alocação mínima · Versão e prevalência: Leitura específica das cláusulas indicadas; condições e conflitos preservados. Seleção documental atual não comprova vigência jurídica por data isolada.</a:t>
            </a:r>
          </a:p>
          <a:p>
            <a:r>
              <a:t>CNPJ 55563624000109 · Alocação mínima · Base da comparação IME: {"criterion_id": "allocation", "observed_value": 99.87020304792446, "unit": "percent", "competence": "08/2026", "status": "not_comparable", "reason": "Vigência efetiva não comprovada; data do documento isolada não certifica enquadramento histórico.", "formula": "fidc_quotas / net_asset_value × 100",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67.0}</a:t>
            </a:r>
          </a:p>
          <a:p>
            <a:r>
              <a:t>CNPJ 55563624000109 · Alocação mínima · Regulamento · ID 1192614 · 30/04/2026 · versão Regulamento30/04/2026 · p. 13 · AnexoI4.10 · https://fnet.bmfbovespa.com.br/fnet/publico/visualizarDocumento?id=1192614</a:t>
            </a:r>
          </a:p>
          <a:p>
            <a:r>
              <a:t>CNPJ 55563624000109 · Alocação mínima · Excerto da fonte:</a:t>
            </a:r>
          </a:p>
          <a:p>
            <a:r>
              <a:t>4.10 Decorridos 180 (cento e oitenta) dias da Data da 1ª Integralização da Classe, a Classe deverá manter alocado, no mínimo, 67% (sessenta e sete por cento) do seu Patrimônio Líquido em Cotas da Classe Investida. 4.11 Nos termos dos artigos 45, parágrafo 7º, e 47 parágrafo único do Anexo Normativo II à Resolução CVM 175, uma vez que as Cotas são destinadas exclusivamente a Investidores Profissionais, a Classe poderá ter até 100% (cem por cento) de seu Patrimônio Líquido alocado em Cotas da Classe Investida, as quais são emitidas pela Classe Investida.</a:t>
            </a:r>
          </a:p>
          <a:p>
            <a:r>
              <a:t>CNPJ 55563624000109 · Alocação mínima · Regulamento · ID 1192614 · 30/04/2026 · versão Regulamento30/04/2026 · p. 12 · AnexoI4.9 · https://fnet.bmfbovespa.com.br/fnet/publico/visualizarDocumento?id=1192614</a:t>
            </a:r>
          </a:p>
          <a:p>
            <a:r>
              <a:t>CNPJ 55563624000109 · Alocação mínima · Excerto da fonte:</a:t>
            </a:r>
          </a:p>
          <a:p>
            <a:r>
              <a:t>4.9 A parcela do Patrimônio Líquido que não estiver alocada em Cotas da Classe Investida será necessariamente alocada em Ativos Financeiros de Liquidez. BTG Pactual SAC: 0800 772 28 27 - Ouvidoria: 0800 722 00 48 - btgpactual.com 5</a:t>
            </a:r>
          </a:p>
          <a:p>
            <a:r>
              <a:t>CNPJ 55563624000109 · Alocação mínima · Mecânica: {"operator": "&gt;=", "limit": 67.0, "unit": "percent", "numerator": "fidc_quotas", "denominator": "net_asset_value", "frequency": "not_stated", "layer": "class", "effective_status": "document_date_only", "document_date": "2026-04-30", "requires_initial_date": true}</a:t>
            </a:r>
          </a:p>
          <a:p>
            <a:r>
              <a:t>CNPJ 55563624000109 · Alocação mínima · Versão e prevalência: Leitura específica das cláusulas indicadas; condições e conflitos preservados. Seleção documental atual não comprova vigência jurídica por data isolada.</a:t>
            </a:r>
          </a:p>
          <a:p>
            <a:r>
              <a:t>CNPJ 55563624000109 · Alocação mínima · Resumo do histórico: {"count": 1, "dates": ["2026-04-30"], "document_count": 1, "sources": [{"document_id": "1192614", "title": "Regulamento", "reference_date": "2026-04-30", "version": "1", "page": "11-13", "url": "https://fnet.bmfbovespa.com.br/fnet/publico/visualizarDocumento?id=1192614", "sha256": "f56e63ace0acde41d2f47fb48f1ac7f3f7df5e2d32de092d7c5e075a52516632"}], "reference": {"path": "history/55563624000109.json", "criterion_id": "allocation", "total_count": 1, "preview_count": 1, "full_text_deferred": true, "sha256": "7835d573fb58a3c19adf5b8ecc2aee2bdbb9a88f7a0c0209b5f262b64c7522e3"}}</a:t>
            </a:r>
          </a:p>
          <a:p>
            <a:r>
              <a:t>CNPJ 62552447000120 · Alocação mínima · Base da comparação IME: {"criterion_id": "allocation", "observed_value": 104.36099466414683, "unit": "percent", "competence": "08/2026", "status": "not_comparable", "reason": "Vigência efetiva não comprovada; data do documento isolada não certifica enquadramento histórico.", "formula": "credit_rights / net_asset_value × 100",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50.0}</a:t>
            </a:r>
          </a:p>
          <a:p>
            <a:r>
              <a:t>CNPJ 62552447000120 · Alocação mínima · Regulamento · ID 1200623 · 21/05/2026 · versão Consolidado21/05/2026 aprovado pelo ato1200625 · p. 14 · AnexoI4.9 · https://fnet.bmfbovespa.com.br/fnet/publico/visualizarDocumento?id=1200623</a:t>
            </a:r>
          </a:p>
          <a:p>
            <a:r>
              <a:t>CNPJ 62552447000120 · Alocação mínima · Excerto da fonte:</a:t>
            </a:r>
          </a:p>
          <a:p>
            <a:r>
              <a:t>4.9 Decorridos 180 (cento e oitenta) dias da Data da Primeira Integralização, a Classe deverá manter alocados em Direitos Creditórios, no mínimo, para fins tributários, 67% (sessenta e sete por cento) do seu Patrimônio Líquido, nos termos da Lei 14.754 e da Resolução CMN 5.111, e, para fins regulatórios, 50% (cinquenta por cento) do seu Patrimônio Líquido, nos termos da Resolução CVM 175. Eventual desenquadramento da Carteira obrigará o Gestor aos procedimentos de desenquadramento e reenquadramento previstos na Lei 14.754 e na Resolução CMN 5.111, para f ins tributários, e na Resolução CVM 175, par</a:t>
            </a:r>
          </a:p>
          <a:p>
            <a:r>
              <a:t>CNPJ 62552447000120 · Alocação mínima · Mecânica: {"operator": "&gt;=", "unit": "percent", "numerator": "credit_rights", "denominator": "net_asset_value", "frequency": "not_stated", "layer": "class", "effective_status": "document_date_only", "document_date": "2026-05-21", "requires_initial_date": true, "limit": 50.0}</a:t>
            </a:r>
          </a:p>
          <a:p>
            <a:r>
              <a:t>CNPJ 62552447000120 · Alocação mínima · Versão e prevalência: Leitura específica das cláusulas indicadas; condições e conflitos preservados. Seleção documental atual não comprova vigência jurídica por data isolada.</a:t>
            </a:r>
          </a:p>
          <a:p>
            <a:r>
              <a:t>CNPJ 63953620000165 · Alocação mínima · Base da comparação IME: {"criterion_id": "allocation", "observed_value": 93.29241106598856, "unit": "percent", "competence": "08/2026", "status": "not_comparable", "reason": "Vigência efetiva não comprovada; data do documento isolada não certifica enquadramento histórico.", "formula": "credit_rights / net_asset_value × 100",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50.0}</a:t>
            </a:r>
          </a:p>
          <a:p>
            <a:r>
              <a:t>CNPJ 63953620000165 · Alocação mínima · Anexo ao Regulamento · ID 1222863 · 02/06/2026 · versão AnexoConsignadoPrivado02/06/2026 · p. 6 · 4.13 · https://fnet.bmfbovespa.com.br/fnet/publico/visualizarDocumento?id=1222863</a:t>
            </a:r>
          </a:p>
          <a:p>
            <a:r>
              <a:t>CNPJ 63953620000165 · Alocação mínima · Excerto da fonte:</a:t>
            </a:r>
          </a:p>
          <a:p>
            <a:r>
              <a:t>4.13 Decorridos 180 (cento e oitenta) dias do início de suas atividades, a Classe deverá manter alocado, no mínimo, para fins tributários, 67% (sessenta e sete por cento) do seu Patrimônio Líquido em Direitos Creditórios, nos termos da Resolução CMN 5.111, e para fins regulatórios, 50% (cinquenta por cento) do seu Patrimônio Líquido em Direitos Creditórios, nos termos da Resolução CVM 175. 4.14 Nos termos do Art. 45, §7º, inciso II, do Anexo Normativo II da Resolução CVM 175, a Classe poderá ter até 100% (cem por cento) de seu Patrimônio Líquido alocado em Direitos Creditórios, derivativos, observado o disposto nest</a:t>
            </a:r>
          </a:p>
          <a:p>
            <a:r>
              <a:t>CNPJ 63953620000165 · Alocação mínima · Mecânica: {"operator": "&gt;=", "unit": "percent", "denominator": "net_asset_value", "frequency": "not_stated", "layer": "class", "effective_status": "document_date_only", "document_date": "2026-06-02", "limit": 50.0, "numerator": "credit_rights", "requires_initial_date": true}</a:t>
            </a:r>
          </a:p>
          <a:p>
            <a:r>
              <a:t>CNPJ 63953620000165 · Alocação mínima · Versão e prevalência: Leitura específica das cláusulas indicadas; condições e conflitos preservados. Seleção documental atual não comprova vigência jurídica por data isolada.</a:t>
            </a:r>
          </a:p>
          <a:p>
            <a:r>
              <a:t>CNPJ 54871427000194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null, "comparison_required": true, "context_formula": "Direitos creditórios / PL", "context_value": 91.84981349574433, "context_unit": "percent"}</a:t>
            </a:r>
          </a:p>
          <a:p>
            <a:r>
              <a:t>CNPJ 54871427000194 · Alocação para tratamento tributário · Regulamento · ID 670691 · 2024-04-28 · versão 1 · p. 5 · https://fnet.bmfbovespa.com.br/fnet/publico/visualizarDocumento?id=670691</a:t>
            </a:r>
          </a:p>
          <a:p>
            <a:r>
              <a:t>CNPJ 54871427000194 · Alocação para tratamento tributário · Excerto da fonte:</a:t>
            </a:r>
          </a:p>
          <a:p>
            <a:r>
              <a:t>Os rendimentos auf eridos pelo cotista do FUNDO estarão sujeitos à tributação pelo IR, à alíquota de  15% (quinze por cento), na data da distribuição de rendimentos ou d a amortização de cotas,  considerando que o FUNDO seja classificado como entidade de investimento e cumpra os critérios de  composição da carteira com, no mínimo, 67% (sessenta e sete por cento) de direitos creditórios de  acordo com a Lei nº 14.754, de 12 de dezembro de 2023 (“Lei 14.754”) e a Resolução do Conselho  Monetário Nacional nº 5.111, de 21 de dezembro de 2023 (“Resolução CMN 5.111”).</a:t>
            </a:r>
          </a:p>
          <a:p>
            <a:r>
              <a:t>CNPJ 54871427000194 · Alocação para tratamento tributário · Regulamento · ID 670691 · 2024-04-28 · versão 1 · p. 5 · https://fnet.bmfbovespa.com.br/fnet/publico/visualizarDocumento?id=670691</a:t>
            </a:r>
          </a:p>
          <a:p>
            <a:r>
              <a:t>CNPJ 54871427000194 · Alocação para tratamento tributário · Excerto da fonte:</a:t>
            </a:r>
          </a:p>
          <a:p>
            <a:r>
              <a:t>A GESTORA do FUNDO buscará manter o cumprimento do requisito de composição da carteira do  FUNDO com, no mínimo 67% (sessenta e sete por cento) em direitos creditórios acima comentados.</a:t>
            </a:r>
          </a:p>
          <a:p>
            <a:r>
              <a:t> Todavia, caso a composição mínima do patrimônio líquido do FUNDO não seja atingida e ocorra o  ef etivo desenquadramento tributário da carteira, os cotistas pessoa f ísica ou jurídica residentes no  Brasil passarão a se sujeitar à regra geral de tributação de fundos, conforme previsto no art. 17 da Lei</a:t>
            </a:r>
          </a:p>
          <a:p>
            <a:r>
              <a:t> 14.754, segundo a qual: (1) haverá incidência periódica de IR todo mês de maio e novembro de cada  ano-calendário sobre os rendimentos auferidos pelo cotista em relação ao investimento nas cotas do  FUNDO, à alíquota de 15% (quinze por cento) ou 20% (vinte por cento), a depender da carteira do  FUNDO ser classificada, respectivamente, como de curto ou longo prazo; e (2) haverá incidência de IR  complementar, conforme alíquotas regressivas que variam de 22,5% (vinte e dois e meio por cento) a  15% (quinze por cento) a depender do prazo de aplicação, por ocasião da amortização ou liquidação  das Cotas do FUNDO. Certos tipos de investidor podem se benef iciar de alíquotas dif erenciadas.</a:t>
            </a:r>
          </a:p>
          <a:p>
            <a:r>
              <a:t>CNPJ 54871427000194 · Alocação para tratamento tributário · Condição: Documentos atuais selecionados no inventário por categoria/escopo; a data documental isolada não comprova vigência jurídica.</a:t>
            </a:r>
          </a:p>
          <a:p>
            <a:r>
              <a:t>CNPJ 54871427000194 · Alocação para tratamento tributário · Versão e prevalência: Documentos atuais selecionados no inventário por categoria/escopo; a data documental isolada não comprova vigência jurídica.</a:t>
            </a:r>
          </a:p>
          <a:p>
            <a:r>
              <a:t>CNPJ 54871427000194 · Alocação para tratamento tributário · Resumo do histórico: {"count": 1, "dates": ["2024-04-19"], "document_count": 1, "sources": [{"document_id": "670689", "title": "Regulamento", "reference_date": "2024-04-19", "version": "1", "page": 5, "url": "https://fnet.bmfbovespa.com.br/fnet/publico/visualizarDocumento?id=670689", "sha256": "891bc9bc5d87bbc02ec139077a84d2702eb81ea02035fb71d24f5b8366b94a0b"}], "reference": {"path": "history/54871427000194.json", "criterion_id": "tax_allocation", "total_count": 1, "preview_count": 1, "full_text_deferred": true, "sha256": "35d7cd99be50c7287c9fb675cf4f2e736002315295a225a9efa79c8d9186d874"}}</a:t>
            </a:r>
          </a:p>
          <a:p>
            <a:r>
              <a:t>CNPJ 60010416000112 · Alocação para tratamento tributário · Base da comparação IME: {"criterion_id": "tax_allocation", "observed_value": 117.78665480900618, "unit": "percent", "competence": "08/2026", "status": "not_comparable", "reason": "Vigência efetiva não comprovada; data do documento isolada não certifica enquadramento histórico.", "formula": "credit_rights / net_asset_value × 100",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67.0}</a:t>
            </a:r>
          </a:p>
          <a:p>
            <a:r>
              <a:t>CNPJ 60010416000112 · Alocação para tratamento tributário · Regulamento · ID 1051393 · 09/10/2025 · versão Regulamento09/10/2025 · p. 11 · AnexoI4.6 · https://fnet.bmfbovespa.com.br/fnet/publico/visualizarDocumento?id=1051393</a:t>
            </a:r>
          </a:p>
          <a:p>
            <a:r>
              <a:t>CNPJ 60010416000112 · Alocação para tratamento tributário · Excerto da fonte:</a:t>
            </a:r>
          </a:p>
          <a:p>
            <a:r>
              <a:t>4.6 Decorridos 180 (cento e oitenta) dias do início de suas atividades, a Classe deverá manter alocado, no mínimo: para f ins tributários, 67% (sessenta e sete por cento) do seu Patrimônio Líquido em Direitos Creditórios, nos termos da Resolução CMN 5.111; e para fins regulatórios, 50% (cinquenta por cento) do seu Patrimônio Líquido em Direitos Creditórios, nos termos da Resolução CVM 175. BTG Pactual SAC: 0800 772 28 27 - Ouvidoria: 0800 722 00 48 - btgpactual.com 11</a:t>
            </a:r>
          </a:p>
          <a:p>
            <a:r>
              <a:t>CNPJ 60010416000112 · Alocação para tratamento tributário · Mecânica: {"operator": "&gt;=", "unit": "percent", "denominator": "net_asset_value", "frequency": "not_stated", "layer": "class", "effective_status": "document_date_only", "document_date": "2025-10-09", "numerator": "credit_rights", "limit": 67.0, "requires_initial_date": true}</a:t>
            </a:r>
          </a:p>
          <a:p>
            <a:r>
              <a:t>CNPJ 60010416000112 · Alocação para tratamento tributário · Versão e prevalência: Leitura específica das cláusulas indicadas; condições e conflitos preservados. Seleção documental atual não comprova vigência jurídica por data isolada.</a:t>
            </a:r>
          </a:p>
          <a:p>
            <a:r>
              <a:t>CNPJ 60010416000112 · Alocação para tratamento tributário · Resumo do histórico: {"count": 1, "dates": ["2025-03-20"], "document_count": 1, "sources": [{"document_id": "993786", "title": "Regulamento", "reference_date": "2025-03-20", "version": "1", "page": 6, "clause": "5.3", "url": "https://fnet.bmfbovespa.com.br/fnet/publico/visualizarDocumento?id=993786", "sha256": "fd0fdd369a195510d81f81f505195a0b09e5f43522a990afa7d58c4f872921c8"}], "reference": {"path": "history/60010416000112.json", "criterion_id": "tax_allocation", "total_count": 1, "preview_count": 1, "full_text_deferred": true, "sha256": "8e2bd813f4c51cf01f6bfaad164bafe69d2bbb192f753eac92da3a01c2e63046"}}</a:t>
            </a:r>
          </a:p>
          <a:p>
            <a:r>
              <a:t>CNPJ 62696791000193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null, "comparison_required": true, "context_formula": "Direitos creditórios / PL", "context_value": null, "context_unit": "percent"}</a:t>
            </a:r>
          </a:p>
          <a:p>
            <a:r>
              <a:t>CNPJ 62696791000193 · Alocação para tratamento tributário · Regulamento · ID 1143317 · 2026-03-20 · versão 1 · p. 30 · https://fnet.bmfbovespa.com.br/fnet/publico/visualizarDocumento?id=1143317</a:t>
            </a:r>
          </a:p>
          <a:p>
            <a:r>
              <a:t>CNPJ 62696791000193 · Alocação para tratamento tributário · Excerto da fonte:</a:t>
            </a:r>
          </a:p>
          <a:p>
            <a:r>
              <a:t>Os rendimentos distribuídos pela Classe, de modo geral, sujeitam-se à incidência do IRF à alíquota  de 20% (vinte por cento), inclusive quando distribuídos à Cotista que seja pessoa jurídica isenta.</a:t>
            </a:r>
          </a:p>
          <a:p>
            <a:r>
              <a:t> Os ganhos de capital ou rendimentos auf eridos na alienação ou no resgate de cotas da Classe  sujeitam-se à tributação pelo IRF à alíquota de 20% (vinte por cento), no caso de resgate de cotas,  ou conforme normas aplicáveis aos ganhos de capital ou ganhos líquidos auf eridos em renda  variável, nos casos de alienação de cotas.</a:t>
            </a:r>
          </a:p>
          <a:p>
            <a:r>
              <a:t> O IRF pago será considerado: (i) antecipação da tributação corporativa para os investidores pessoa  jurídica (nos regimes de lucro real, presumido ou arbitrado); e (ii) def initivo, nos demais casos,  incluindo de investidores pessoas f ísicas.</a:t>
            </a:r>
          </a:p>
          <a:p>
            <a:r>
              <a:t> Não obstante o disposto no item acima, em conf ormidade com o disposto na Lei 11.033, com a  redação dada pela Lei nº 14.754, o cotista pessoa f ísica f icará isento do IRF e na declaração de  ajuste anual, sobre as distribuições de lucro realizadas pela Classe, exclusivamente na hipótese de  a Classe, cumulativamente: (a) possuir, no mínimo, 100 (cem) cotistas; e (b) as cotas serem  admitidas à negociação exclusivamente em bolsas de valores ou no mercado de balcão organizado.</a:t>
            </a:r>
          </a:p>
          <a:p>
            <a:r>
              <a:t> O benef ício não será concedido ao Cotista que for pessoa física, titular de cotas que representem  10% (dez por cento) ou mais da totalidade das cotas emitidas pela Classe ou cujas cotas lhe derem  direito ao recebimento de rendimento superior a 10% (dez por cento) do total de rendimentos  auf eridos pela Classe.</a:t>
            </a:r>
          </a:p>
          <a:p>
            <a:r>
              <a:t> O benef ício também não será concedido aos Cotistas pessoas físicas que, individualmente ou em  conjunto com parentes até segundo grau, sejam titulares de cotas que representem 30% (trinta por  cento) ou mais da totalidade das cotas emitidas pela Classe, ou ainda cujas cotas lhes derem direito  ao recebimento de rendimento superior a 30% (trinta por cento) do total de rendimentos auf eridos  pela Classe.</a:t>
            </a:r>
          </a:p>
          <a:p>
            <a:r>
              <a:t> Não há garantia de que o benef ício f iscal atualmente vigente não venha a ser posteriormente  restringido, suspenso, revogado ou extinto por legislação superveniente, ocasião na qual poderá vir  a incidir a tributação sobre os rendimentos distribuídos pela Classe, de acordo com os termos da  legislação que vier a estabelecer a incidência tributária.</a:t>
            </a:r>
          </a:p>
          <a:p>
            <a:r>
              <a:t>CNPJ 62696791000193 · Alocação para tratamento tributário · Condição: Documentos atuais selecionados no inventário por categoria/escopo; a data documental isolada não comprova vigência jurídica.</a:t>
            </a:r>
          </a:p>
          <a:p>
            <a:r>
              <a:t>CNPJ 62696791000193 · Alocação para tratamento tributário · Versão e prevalência: Documentos atuais selecionados no inventário por categoria/escopo; a data documental isolada não comprova vigência jurídica.</a:t>
            </a:r>
          </a:p>
          <a:p>
            <a:r>
              <a:t>CNPJ 55563624000109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null, "comparison_required": true, "context_formula": "Direitos creditórios / PL", "context_value": 0.0, "context_unit": "percent"}</a:t>
            </a:r>
          </a:p>
          <a:p>
            <a:r>
              <a:t>CNPJ 55563624000109 · Alocação para tratamento tributário · Regulamento · ID 1192614 · 2026-04-30 · versão 1 · p. 38 · https://fnet.bmfbovespa.com.br/fnet/publico/visualizarDocumento?id=1192614</a:t>
            </a:r>
          </a:p>
          <a:p>
            <a:r>
              <a:t>CNPJ 55563624000109 · Alocação para tratamento tributário · Excerto da fonte:</a:t>
            </a:r>
          </a:p>
          <a:p>
            <a:r>
              <a:t>(xiii) Risco de descaracterização do regime tributário aplicável à Classe. Caso (a) a Classe deixe de  cumprir com o percentual de, pelo menos, 67% (sessenta e sete por cento) do Patrimônio Líquido  aplicado em direitos creditórios, nos termos dos artigos 18, 19 e 24 da Lei 14.754, para fins de  enquadramento do FUNDO e da Classe como “Entidade de Investimento” na forma da Resolução do  CMN nº 5.111, de 21 de dezembro de 2023, conforme alterada, ou qualquer outra norma que venha  a substitui-la, sujeitando o FUNDO e a Classe ao “Regime Específico dos Fundos Não Sujeitos à  Tributação Periódica” conforme a na Seção III da Lei 14.754 ou deixe de satisfazer qualquer uma das  condições previstas na Lei 14.754, neste Anexo e/ou no Regulamento; e/ou (b) o FUNDO ou Classe  deixe de ser enquadrado como “Entidade de Investimento” na forma da Resolução do CMN nº 5.111,  de 21 de dezembro de 2023, ou demais normas do CMN e da CVM, não é possível garantir que o  FUNDO e/ou Classe continuarão a receber o tratamento tributário destinado ao “Regime Específico  dos Fundos Não Sujeitos à Tributação Periódica”, conforme definido na legislação específica.</a:t>
            </a:r>
          </a:p>
          <a:p>
            <a:r>
              <a:t>CNPJ 55563624000109 · Alocação para tratamento tributário · Regulamento · ID 1192614 · 2026-04-30 · versão 1 · p. 6 · https://fnet.bmfbovespa.com.br/fnet/publico/visualizarDocumento?id=1192614</a:t>
            </a:r>
          </a:p>
          <a:p>
            <a:r>
              <a:t>CNPJ 55563624000109 · Alocação para tratamento tributário · Excerto da fonte:</a:t>
            </a:r>
          </a:p>
          <a:p>
            <a:r>
              <a:t>No caso de Fundos de Investimento em Direitos Creditórios (FIDC) classificados como “entidade de investimento” e  cuja carteira seja composta por, no mínimo, 67% (sessenta e sete por cento) de direitos creditórios conforme definições  prescritas em regulamentação expedida pelo Conselho Monetário Nacional, os rendimentos auferidos na amortização  ou no resgate das cotas, inclusive quando decorrentes da liquidação do FUNDO, ficam sujeitos à incidência do IRF à  alíquota de 15% (quinze por cento) sobre a diferença positiva entre o valor de amortização ou resgate e o custo de  aquisição das Cotas.</a:t>
            </a:r>
          </a:p>
          <a:p>
            <a:r>
              <a:t>CNPJ 55563624000109 · Alocação para tratamento tributário · Condição: Documentos atuais selecionados no inventário por categoria/escopo; a data documental isolada não comprova vigência jurídica.</a:t>
            </a:r>
          </a:p>
          <a:p>
            <a:r>
              <a:t>CNPJ 55563624000109 · Alocação para tratamento tributário · Versão e prevalência: Documentos atuais selecionados no inventário por categoria/escopo; a data documental isolada não comprova vigência jurídica.</a:t>
            </a:r>
          </a:p>
          <a:p>
            <a:r>
              <a:t>CNPJ 55563624000109 · Alocação para tratamento tributário · Resumo do histórico: {"count": 2, "dates": ["2025-01-31", "2026-01-31"], "document_count": 2, "sources": [{"document_id": "1178840", "title": "Demonstrações Financeiras", "reference_date": "2026-01-31", "version": "1", "page": 23, "url": "https://fnet.bmfbovespa.com.br/fnet/publico/visualizarDocumento?id=1178840", "sha256": "c458e98664c5c907ddb5a05a94b120bed4e05295b2bfc420f5ba69af0a229abe"}, {"document_id": "891861", "title": "Demonstrações Financeiras", "reference_date": "2025-01-31", "version": "1", "page": 24, "url": "https://fnet.bmfbovespa.com.br/fnet/publico/visualizarDocumento?id=891861", "sha256": "e9cb9e6ddbe505fe068cfcac33605165a98313489de0d3ce6d4d238263c3f3e7"}], "reference": {"path": "history/55563624000109.json", "criterion_id": "tax_allocation", "total_count": 2, "preview_count": 2, "full_text_deferred": true, "sha256": "7835d573fb58a3c19adf5b8ecc2aee2bdbb9a88f7a0c0209b5f262b64c7522e3"}}</a:t>
            </a:r>
          </a:p>
          <a:p>
            <a:r>
              <a:t>CNPJ 62552447000120 · Alocação para tratamento tributário · Base da comparação IME: {"criterion_id": "tax_allocation", "observed_value": 104.36099466414683, "unit": "percent", "competence": "08/2026", "status": "not_comparable", "reason": "Vigência efetiva não comprovada; data do documento isolada não certifica enquadramento histórico.", "formula": "credit_rights / net_asset_value × 100",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67.0}</a:t>
            </a:r>
          </a:p>
          <a:p>
            <a:r>
              <a:t>CNPJ 62552447000120 · Alocação para tratamento tributário · Regulamento · ID 1200623 · 21/05/2026 · versão Consolidado21/05/2026 aprovado pelo ato1200625 · p. 14 · AnexoI4.9 · https://fnet.bmfbovespa.com.br/fnet/publico/visualizarDocumento?id=1200623</a:t>
            </a:r>
          </a:p>
          <a:p>
            <a:r>
              <a:t>CNPJ 62552447000120 · Alocação para tratamento tributário · Excerto da fonte:</a:t>
            </a:r>
          </a:p>
          <a:p>
            <a:r>
              <a:t>4.9 Decorridos 180 (cento e oitenta) dias da Data da Primeira Integralização, a Classe deverá manter alocados em Direitos Creditórios, no mínimo, para fins tributários, 67% (sessenta e sete por cento) do seu Patrimônio Líquido, nos termos da Lei 14.754 e da Resolução CMN 5.111, e, para fins regulatórios, 50% (cinquenta por cento) do seu Patrimônio Líquido, nos termos da Resolução CVM 175. Eventual desenquadramento da Carteira obrigará o Gestor aos procedimentos de desenquadramento e reenquadramento previstos na Lei 14.754 e na Resolução CMN 5.111, para f ins tributários, e na Resolução CVM 175, par</a:t>
            </a:r>
          </a:p>
          <a:p>
            <a:r>
              <a:t>CNPJ 62552447000120 · Alocação para tratamento tributário · Mecânica: {"operator": "&gt;=", "unit": "percent", "numerator": "credit_rights", "denominator": "net_asset_value", "frequency": "not_stated", "layer": "class", "effective_status": "document_date_only", "document_date": "2026-05-21", "requires_initial_date": true, "limit": 67.0}</a:t>
            </a:r>
          </a:p>
          <a:p>
            <a:r>
              <a:t>CNPJ 62552447000120 · Alocação para tratamento tributário · Versão e prevalência: Leitura específica das cláusulas indicadas; condições e conflitos preservados. Seleção documental atual não comprova vigência jurídica por data isolada.</a:t>
            </a:r>
          </a:p>
          <a:p>
            <a:r>
              <a:t>CNPJ 63953620000165 · Alocação para tratamento tributário · Base da comparação IME: {"criterion_id": "tax_allocation", "observed_value": 93.29241106598856, "unit": "percent", "competence": "08/2026", "status": "not_comparable", "reason": "Vigência efetiva não comprovada; data do documento isolada não certifica enquadramento histórico.", "formula": "credit_rights / net_asset_value × 100",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67.0}</a:t>
            </a:r>
          </a:p>
          <a:p>
            <a:r>
              <a:t>CNPJ 63953620000165 · Alocação para tratamento tributário · Anexo ao Regulamento · ID 1222863 · 02/06/2026 · versão AnexoConsignadoPrivado02/06/2026 · p. 6 · 4.13 · https://fnet.bmfbovespa.com.br/fnet/publico/visualizarDocumento?id=1222863</a:t>
            </a:r>
          </a:p>
          <a:p>
            <a:r>
              <a:t>CNPJ 63953620000165 · Alocação para tratamento tributário · Excerto da fonte:</a:t>
            </a:r>
          </a:p>
          <a:p>
            <a:r>
              <a:t>4.13 Decorridos 180 (cento e oitenta) dias do início de suas atividades, a Classe deverá manter alocado, no mínimo, para fins tributários, 67% (sessenta e sete por cento) do seu Patrimônio Líquido em Direitos Creditórios, nos termos da Resolução CMN 5.111, e para fins regulatórios, 50% (cinquenta por cento) do seu Patrimônio Líquido em Direitos Creditórios, nos termos da Resolução CVM 175. 4.14 Nos termos do Art. 45, §7º, inciso II, do Anexo Normativo II da Resolução CVM 175, a Classe poderá ter até 100% (cem por cento) de seu Patrimônio Líquido alocado em Direitos Creditórios, derivativos, observado o disposto nest</a:t>
            </a:r>
          </a:p>
          <a:p>
            <a:r>
              <a:t>CNPJ 63953620000165 · Alocação para tratamento tributário · Mecânica: {"operator": "&gt;=", "unit": "percent", "denominator": "net_asset_value", "frequency": "not_stated", "layer": "class", "effective_status": "document_date_only", "document_date": "2026-06-02", "limit": 67.0, "numerator": "credit_rights", "requires_initial_date": true}</a:t>
            </a:r>
          </a:p>
          <a:p>
            <a:r>
              <a:t>CNPJ 63953620000165 · Alocação para tratamento tributário · Versão e prevalência: Leitura específica das cláusulas indicadas; condições e conflitos preservados. Seleção documental atual não comprova vigência jurídica por data isolada.</a:t>
            </a:r>
          </a:p>
          <a:p>
            <a:r>
              <a:t>CNPJ 54871427000194 · Classes investidas e limites do FIC · Demonstrações Financeiras - Fusão, cisão e incorporação · ID 1219522 · 2026-02-02 · versão 1 · p. 31 · https://fnet.bmfbovespa.com.br/fnet/publico/visualizarDocumento?id=1219522</a:t>
            </a:r>
          </a:p>
          <a:p>
            <a:r>
              <a:t>CNPJ 54871427000194 · Classes investidas e limites do FIC · Excerto da fonte:</a:t>
            </a:r>
          </a:p>
          <a:p>
            <a:r>
              <a:t>xv) Risco Regulatório e Judicial. Eventuais alterações ou novas normas ou leis aplicáveis à Classe,  seus ativos e a eventuais fundos investidos, incluindo, mas não se limitando àquelas referentes  a tributos, bem como decisões judiciais ou jurisprudência aplicando as regulamentações  existentes ou interpretando novas regulamentações, podem causar um efeito adverso relevante  no preço dos ativos e/ou na performance das posições financeiras adquiridas pela Classe e/ou  pelos fundos Investidos. Ainda, nesse sentido, poderão ocorrer interferências de autoridades  governamentais e órgãos reguladores na regulação dos mercados, bem como alterações das  políticas monetária e cambial. Tais eventos poderão impactar de maneira adversa o valor das  Cotas.</a:t>
            </a:r>
          </a:p>
          <a:p>
            <a:r>
              <a:t>CNPJ 54871427000194 · Classes investidas e limites do FIC · Condição: Documentos atuais selecionados no inventário por categoria/escopo; a data documental isolada não comprova vigência jurídica.</a:t>
            </a:r>
          </a:p>
          <a:p>
            <a:r>
              <a:t>CNPJ 54871427000194 · Classes investidas e limites do FIC · Versão e prevalência: Documentos atuais selecionados no inventário por categoria/escopo; a data documental isolada não comprova vigência jurídica.</a:t>
            </a:r>
          </a:p>
          <a:p>
            <a:r>
              <a:t>CNPJ 54871427000194 · Classes investidas e limites do FIC · Resumo do histórico: {"count": 5, "dates": ["2024-12-31", "2025-01-01", "2025-12-31"], "document_count": 3, "sources": [{"document_id": "1151805", "title": "Demonstrações Financeiras", "reference_date": "2025-12-31", "version": "1", "page": 31, "url": "https://fnet.bmfbovespa.com.br/fnet/publico/visualizarDocumento?id=1151805", "sha256": "f1cea70b152968bf96ef9221b27225953cb20aeef487b2798db3c25e11b528d4"}, {"document_id": "869529", "title": "Demonstrações Financeiras", "reference_date": "2025-01-01", "version": "1", "page": 32, "url": "https://fnet.bmfbovespa.com.br/fnet/publico/visualizarDocumento?id=869529", "sha256": "9a93a9369ac8efdbc54ff8fcee3ccac3abf88edab4807b9323d3852450771b2a"}, {"document_id": "870070", "title": "Demonstrações Financeiras", "reference_date": "2024-12-31", "version": "1", "page": 32, "url": "https://fnet.bmfbovespa.com.br/fnet/publico/visualizarDocumento?id=870070", "sha256": "9a93a9369ac8efdbc54ff8fcee3ccac3abf88edab4807b9323d3852450771b2a"}], "reference": {"path": "history/54871427000194.json", "criterion_id": "investee", "total_count": 5, "preview_count": 3, "full_text_deferred": true, "sha256": "35d7cd99be50c7287c9fb675cf4f2e736002315295a225a9efa79c8d9186d874"}}</a:t>
            </a:r>
          </a:p>
          <a:p>
            <a:r>
              <a:t>CNPJ 60010416000112 · Classes investidas e limites do FIC · Motivo: Não localizada uma cláusula material para este critério nos textos identificados e processados. A ausência de resultado não comprova inexistência da regra.</a:t>
            </a:r>
          </a:p>
          <a:p>
            <a:r>
              <a:t>CNPJ 62696791000193 · Classes investidas e limites do FIC · Regulamento · ID 1143317 · 20/03/2026 · versão Regulamento — referência 20/03/2026 · p. 7 · Anexo I, 1.1, Objetivo, categoria Geral · https://fnet.bmfbovespa.com.br/fnet/publico/visualizarDocumento?id=1143317</a:t>
            </a:r>
          </a:p>
          <a:p>
            <a:r>
              <a:t>CNPJ 62696791000193 · Classes investidas e limites do FIC · Excerto da fonte:</a:t>
            </a:r>
          </a:p>
          <a:p>
            <a:r>
              <a:t>(D) Categoria “Geral” (“Ativos em Geral do Agronegócio”): (i) cotas de classes que apliquem mais de 50% (cinquenta por cento) de seu patrimônio líquido nos ativos referidos nos incisos “A” a “D” acima, o que inclui cotas de outros FIAGRO, mas não se limita a essa categoria de f undos. Os Ativos Imobiliários do Agronegócio, Participações do Agronegócio, Ativos Financeiros do Agronegócio e Ativos em Geral do Agronegócio, quando ref eridos em conjunto, os “Outros Ativos”. Não há limites máximos de aplicação por emissor ou devedor, em função de um percentual do Patrimônio Líquido. O objetivo da Classe não representa, sob qualquer hipótese, garantia da Classe ou de seus Prestadores de Serviços Essenciais e/ou da Cogestora quanto à segurança, rentabilidade e liquidez dos títu</a:t>
            </a:r>
          </a:p>
          <a:p>
            <a:r>
              <a:t>CNPJ 62696791000193 · Classes investidas e limites do FIC · Regulamento · ID 1143317 · 20/03/2026 · versão Regulamento — referência 20/03/2026 · p. 11 · Anexo I, 4.8–4.9 · https://fnet.bmfbovespa.com.br/fnet/publico/visualizarDocumento?id=1143317</a:t>
            </a:r>
          </a:p>
          <a:p>
            <a:r>
              <a:t>CNPJ 62696791000193 · Classes investidas e limites do FIC · Excerto da fonte:</a:t>
            </a:r>
          </a:p>
          <a:p>
            <a:r>
              <a:t>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relacionadas ao Gestor. 4.8.1 As aplicações em Direitos Creditórios do Agronegócio decorrentes de receitas públicas originárias ou derivadas da União, dos Estados, do Distrito Federal e dos Municípios ou de suas autarquias e f undações, assim como em Direitos Creditórios do Agronegócio cedidos ou originados por empresas controladas pelo poder público, não estão submetidas ao limite de concentração por emissor previsto no caput. 4.9 Nos termos do Art. 45 do Anexo</a:t>
            </a:r>
          </a:p>
          <a:p>
            <a:r>
              <a:t>CNPJ 62696791000193 · Classes investidas e limites do FIC · Condição: O regulamento não identifica CNPJs de classes efetivamente investidas. Permissão de investimento não comprova posição.</a:t>
            </a:r>
          </a:p>
          <a:p>
            <a:r>
              <a:t>CNPJ 62696791000193 · Classes investidas e limites do FIC · Versão e prevalência: Leitura específica das cláusulas indicadas; condições e conflitos preservados. Seleção documental atual não comprova vigência jurídica por data isolada.</a:t>
            </a:r>
          </a:p>
          <a:p>
            <a:r>
              <a:t>CNPJ 55563624000109 · Classes investidas e limites do FIC · Regulamento · ID 1192614 · 30/04/2026 · versão Regulamento30/04/2026 · p. 11 · AnexoI4.1 · https://fnet.bmfbovespa.com.br/fnet/publico/visualizarDocumento?id=1192614</a:t>
            </a:r>
          </a:p>
          <a:p>
            <a:r>
              <a:t>CNPJ 55563624000109 · Classes investidas e limites do FIC · Excerto da fonte:</a:t>
            </a:r>
          </a:p>
          <a:p>
            <a:r>
              <a:t>4.1 Observados os demais termos deste Anexo, o objetivo da Classe é investir seus recursos em (i) cotas subordinadas mezanino de emissão da classe única do MERCADO CRÉDITO II BRASIL FUNDO DE INVESTIMENTO EM DIREITOS CREDITÓRIOS NÃO PADRONIZADOS, fundo de investimento em direitos creditórios inscrito no CNPJ sob o nº 41.970.012/0001-26 (“Cotas da Classe Investida” e “Classe Investida”, respectivamente), a qual, por sua vez, aplica seus recursos preponderantemente em direitos creditórios originados pela Mercado Pago, de acordo com os termos e condições est</a:t>
            </a:r>
          </a:p>
          <a:p>
            <a:r>
              <a:t>CNPJ 55563624000109 · Classes investidas e limites do FIC · Condição: Vínculo contratual identificado; quantidade de cotas efetivamente detida exige posição do FIC. Não somar PL do FIC e do investido.</a:t>
            </a:r>
          </a:p>
          <a:p>
            <a:r>
              <a:t>CNPJ 55563624000109 · Classes investidas e limites do FIC · Versão e prevalência: Leitura específica das cláusulas indicadas; condições e conflitos preservados. Seleção documental atual não comprova vigência jurídica por data isolada.</a:t>
            </a:r>
          </a:p>
          <a:p>
            <a:r>
              <a:t>CNPJ 55563624000109 · Classes investidas e limites do FIC · Resumo do histórico: {"count": 2, "dates": ["2025-01-31", "2026-01-31"], "document_count": 2, "sources": [{"document_id": "1178840", "title": "Demonstrações Financeiras", "reference_date": "2026-01-31", "version": "1", "page": 4, "url": "https://fnet.bmfbovespa.com.br/fnet/publico/visualizarDocumento?id=1178840", "sha256": "c458e98664c5c907ddb5a05a94b120bed4e05295b2bfc420f5ba69af0a229abe"}, {"document_id": "891861", "title": "Demonstrações Financeiras", "reference_date": "2025-01-31", "version": "1", "page": 18, "url": "https://fnet.bmfbovespa.com.br/fnet/publico/visualizarDocumento?id=891861", "sha256": "e9cb9e6ddbe505fe068cfcac33605165a98313489de0d3ce6d4d238263c3f3e7"}], "reference": {"path": "history/55563624000109.json", "criterion_id": "investee", "total_count": 2, "preview_count": 2, "full_text_deferred": true, "sha256": "7835d573fb58a3c19adf5b8ecc2aee2bdbb9a88f7a0c0209b5f262b64c7522e3"}}</a:t>
            </a:r>
          </a:p>
          <a:p>
            <a:r>
              <a:t>CNPJ 62552447000120 · Classes investidas e limites do FIC · Regulamento · ID 1200623 · 2026-05-21 · versão 1 · p. 6 · https://fnet.bmfbovespa.com.br/fnet/publico/visualizarDocumento?id=1200623</a:t>
            </a:r>
          </a:p>
          <a:p>
            <a:r>
              <a:t>CNPJ 62552447000120 · Classes investidas e limites do FIC · Excerto da fonte:</a:t>
            </a:r>
          </a:p>
          <a:p>
            <a:r>
              <a:t>integrantes do conglomerado econômico de instituições  f inanceiras classificadas como S1 pelo Banco Central do  Brasil (“BACEN” e “Instituições Financeiras S1”,  respectivamente), desde que não representem títulos de  emissão ou coobrigação de instituições financeiras, bem  como cotas de f undos de investimento que invistam  preponderantemente nestes direitos, títulos e/ou valores  mobiliários; e</a:t>
            </a:r>
          </a:p>
          <a:p>
            <a:r>
              <a:t> (d) “Direitos Creditórios Refinanciamento Livre”, na forma  de CCBs originadas no âmbito de um refinanciamento, de  acordo com a política de cobrança vigente, de Direitos  Creditórios Consignado Privado e de Direitos Creditórios  FGTS, que não contem com o lastro de Consignação ou  de cessão f iduciária do Saque-Aniversário,  respectivamente; e</a:t>
            </a:r>
          </a:p>
          <a:p>
            <a:r>
              <a:t> (ii) “Ativos Financeiros”, assim entendidos como, em conjunto:</a:t>
            </a:r>
          </a:p>
          <a:p>
            <a:r>
              <a:t> (a) moeda corrente nacional;</a:t>
            </a:r>
          </a:p>
          <a:p>
            <a:r>
              <a:t> (b) títulos públicos f ederais;</a:t>
            </a:r>
          </a:p>
          <a:p>
            <a:r>
              <a:t> (c) ativos f inanceiros de renda f ixa de emissão ou  coobrigação de Instituições Financeiras S1;</a:t>
            </a:r>
          </a:p>
          <a:p>
            <a:r>
              <a:t> (d) operações compromissadas, desde que lastreadas nos  títulos mencionados nas alíneas (b) e (c) acima; e</a:t>
            </a:r>
          </a:p>
          <a:p>
            <a:r>
              <a:t> (e) cotas do BTG Pactual Tesouro Selic Fundo de  Investimento Renda Fixa Ref erenciado DI, inscrito no  CNPJ sob o nº 09.215.250/0001-13;</a:t>
            </a:r>
          </a:p>
          <a:p>
            <a:r>
              <a:t> observados todos os limites de composição e diversificação da carteira da  Classe (“Carteira”), estabelecidos neste Regulamento e na  regulamentação aplicável.</a:t>
            </a:r>
          </a:p>
          <a:p>
            <a:r>
              <a:t> O objetivo da Classe não representa, sob qualquer hipótese, promessa,  garantia ou sugestão da Classe ou de seus Prestadores de Serviços  Essenciais quanto à segurança, rentabilidade e liquidez dos títulos  componentes de sua Carteira.</a:t>
            </a:r>
          </a:p>
          <a:p>
            <a:r>
              <a:t>CNPJ 62552447000120 · Classes investidas e limites do FIC · Condição: Documentos atuais selecionados no inventário por categoria/escopo; a data documental isolada não comprova vigência jurídica.</a:t>
            </a:r>
          </a:p>
          <a:p>
            <a:r>
              <a:t>CNPJ 62552447000120 · Classes investidas e limites do FIC · Versão e prevalência: Documentos atuais selecionados no inventário por categoria/escopo; a data documental isolada não comprova vigência jurídica.</a:t>
            </a:r>
          </a:p>
          <a:p>
            <a:r>
              <a:t>CNPJ 63953620000165 · Classes investidas e limites do FIC · Motivo: Não localizada uma cláusula material para este critério nos textos identificados e processados. A ausência de resultado não comprova inexistência da regra.</a:t>
            </a:r>
          </a:p>
          <a:p>
            <a:r>
              <a:t>CNPJ 54871427000194 · Classe, subclasse e responsabilidade · Regulamento · ID 670691 · 2024-04-28 · versão 1 · p. 29 · https://fnet.bmfbovespa.com.br/fnet/publico/visualizarDocumento?id=670691</a:t>
            </a:r>
          </a:p>
          <a:p>
            <a:r>
              <a:t>CNPJ 54871427000194 · Classe, subclasse e responsabilidade · Excerto da fonte:</a:t>
            </a:r>
          </a:p>
          <a:p>
            <a:r>
              <a:t>Anexo I ao Regulamento CLASSE ÚNICA DE RESPONSABILIDADE LIMITADA DO CONSIGNADO DELTA RECEIVABLES I FUNDO DE INVESTIMENTO EM DIREITOS CREDITÓRIOS  pelo Endossante e depositados em seu conta de sua titularidade para posterior repasse à  Classe. Neste caso, a Classe poderá sofrer perdas principalmente em relação ao atraso na  regularização da titularidade e pagamento dos Direitos Creditórios.</a:t>
            </a:r>
          </a:p>
          <a:p>
            <a:r>
              <a:t> (v) Risco de pré-pagamento dos Direitos Creditórios. A ocorrência de pré-  pagamentos em relação a um ou mais Direitos Creditórios poderá ocasionar perdas à Classe.</a:t>
            </a:r>
          </a:p>
          <a:p>
            <a:r>
              <a:t> A ocorrência de pré-pagamentos (pagamento em data anterior àquela originalmente pactuada)  de Direitos Creditórios reduz o horizonte original de rendimentos esperados pela Classe de  tais Direitos Creditórios, uma vez que o pré-pagamento poderá, se assim permitido pela  documentação do Direito Creditório ou, conf orme o caso, pela legislação aplicável, ser  realizado pelo valor de emissão do Direito Creditório atualizado até a data do pré-pagamento  pela taxa de juros pactuada entre os Endossantes e os Devedores de tais Direitos Creditórios,  de modo que os juros remuneratórios incidentes desde a data da realização do pré-pagamento  até a data de vencimento do respectivo Direito Creditório deixam de ser devidos à Classe.</a:t>
            </a:r>
          </a:p>
          <a:p>
            <a:r>
              <a:t> (vi) Riscos associados aos Devedores: os Direitos Creditórios a serem cedidos à  Classe serão descontados da remuneração do Devedor, através de desconto em f olha de  pagamento ou de benefício. Nesse sentido, na ocorrência de pré-pagamento, as parcelas  serão pagas antecipadamente e a Classe deverá utilizar tais montantes no pré-pagamento dos  Direitos Creditórios. Nesta hipótese, a Classe poderá não encontrar Direitos Creditórios  disponíveis para serem adquiridos pela Classe, o que poderá afetar a rentabilidade da Classe.</a:t>
            </a:r>
          </a:p>
          <a:p>
            <a:r>
              <a:t> (vii) Risco de Competição: o mercado de empréstimos experimentou grande  expansão no Brasil nos últimos anos. Nesse contexto, a Resolução CMN nº 4.292, alterada  pela Resolução nº 4.762, de 27 de novembro de 2019, dispõe que deve ser garantido às  pessoas naturais devedoras de operações de crédito (tais como as CCB) a possibilidade de  realizarem a portabilidade destas operações para outras instituições financeiras, inclusive nos  casos em que tenham sido objeto de cessão (tais como as realizadas à Classe). Nesse  cenário, é possível que os competidores do Endossante ofereçam condições e taxas mais  vantajosas para os empréstimos pessoais com consignação em f olha de pagamento ou de  benef ícios, o que pode causar a migração de clientes da Endossante para outras instituições  f inanceiras, gerando a liquidação antecipada de parte das CCB existentes e/ou redução no  número de Direitos Creditórios cedidos. Referida competição poderá af etar os resultados da  Classe, impactando negativamente os rendimentos dos Cotistas. Ainda, a portabilidade a um  Devedor pode acarretar no recebimento de valores inf eriores aos esperados pela Classe.</a:t>
            </a:r>
          </a:p>
          <a:p>
            <a:r>
              <a:t> (viii) Insuf iciência dos Critérios de Elegibilidade. Os Critérios de Elegibilidade têm a  f inalidade de selecionar os Direitos Creditórios passíveis de aquisição pela Classe. Não  obstante tais Critérios de Elegibilidade, a solvência dos Direitos Creditórios que compõem a  Carteira depende integralmente, mas não somente, da situação econômico-financeira dos  Devedores. Dessa f orma, a observância pelo GESTOR dos Critérios de Elegibilidade não  constitui garantia de adimplência dos Devedores.</a:t>
            </a:r>
          </a:p>
          <a:p>
            <a:r>
              <a:t> Os Endossantes não necessariamente garantem a solvência dos seus respectivos Devedores.</a:t>
            </a:r>
          </a:p>
          <a:p>
            <a:r>
              <a:t> O Endossante dos Direitos Creditórios não assumirá responsabilidade pelo seu pagamento ou  pela solvência dos respectivos Devedores. A Classe sofrerá o impacto do inadimplemento dos  Direitos Creditórios vencidos e não pagos pelos respectivos Devedores.</a:t>
            </a:r>
          </a:p>
          <a:p>
            <a:r>
              <a:t> (ix) Possibilidade de aquisição de Direitos Creditórios cedidos por Endossante  e/ou devidos por Devedores cujas demonstrações financeiras não sejam auditadas. A Classe,  desde que sejam respeitados os limites de concentração previstos neste Regulamento, poderá  manter a qualquer tempo em sua Carteira, Direitos Creditórios cedidos por Endossante e/ou  devidos por Devedores cujas demonstrações f inanceiras não sejam auditadas por Auditor  Independente registrado na CVM. Nesse sentido, não haverá verificação independente sobre  tais demonstrações f inanceiras que af irme se estas representam adequadamente, em todos  os aspectos relevantes, as respectivas posições patrimoniais e f inanceiras, os resultados de  suas operações, as mutações de seus respectivos patrimônios líquidos tampouco as origens  e aplicações de seus recursos.</a:t>
            </a:r>
          </a:p>
          <a:p>
            <a:r>
              <a:t>CNPJ 54871427000194 · Classe, subclasse e responsabilidade · Regulamento · ID 670691 · 2024-04-28 · versão 1 · p. 15 · 7.2 · https://fnet.bmfbovespa.com.br/fnet/publico/visualizarDocumento?id=670691</a:t>
            </a:r>
          </a:p>
          <a:p>
            <a:r>
              <a:t>CNPJ 54871427000194 · Classe, subclasse e responsabilidade · Excerto da fonte:</a:t>
            </a:r>
          </a:p>
          <a:p>
            <a:r>
              <a:t>7.2 As amortizações de Cotas serão realizadas a qualquer tempo, a critério do GESTOR, observada a  disponibilidade de recursos da Classe Única e a ordem de alocação de recursos prevista neste Anexo  Descritivo.</a:t>
            </a:r>
          </a:p>
          <a:p>
            <a:r>
              <a:t>CNPJ 54871427000194 · Classe, subclasse e responsabilidade · Instrumento Particular de Alteração do Regulamento · ID 670690 · 2024-05-28 · versão 1 · p. 1 · https://fnet.bmfbovespa.com.br/fnet/publico/visualizarDocumento?id=670690</a:t>
            </a:r>
          </a:p>
          <a:p>
            <a:r>
              <a:t>CNPJ 54871427000194 · Classe, subclasse e responsabilidade · Excerto da fonte:</a:t>
            </a:r>
          </a:p>
          <a:p>
            <a:r>
              <a:t>ATA DA ASSEMBLEIA ESPECIAL DE COTISTAS  CLASSE ÚNICA DE RESPONSABILIDADE LIMITADA DO CONSIGNADO DELTA RECEIVABLES I  FUNDO DE INVESTIMENTO EM DIREITOS CREDITÓRIOS  CNPJ nº 54.871.427/0001-94  (“Classe Única” e “Fundo”, respectivamente)</a:t>
            </a:r>
          </a:p>
          <a:p>
            <a:r>
              <a:t>CNPJ 54871427000194 · Classe, subclasse e responsabilidade · Condição: Documentos atuais selecionados no inventário por categoria/escopo; a data documental isolada não comprova vigência jurídica.</a:t>
            </a:r>
          </a:p>
          <a:p>
            <a:r>
              <a:t>CNPJ 54871427000194 · Classe, subclasse e responsabilidade · Versão e prevalência: Documentos atuais selecionados no inventário por categoria/escopo; a data documental isolada não comprova vigência jurídica.</a:t>
            </a:r>
          </a:p>
          <a:p>
            <a:r>
              <a:t>CNPJ 54871427000194 · Classe, subclasse e responsabilidade · Resumo do histórico: {"count": 4, "dates": ["2024-04-19", "2024-04-28", "2024-05-24"], "document_count": 3, "sources": [{"document_id": "668387", "title": "Instrumento Particular de Emissão de Cotas", "reference_date": "2024-05-24", "version": "1", "page": 1, "url": "https://fnet.bmfbovespa.com.br/fnet/publico/visualizarDocumento?id=668387", "sha256": "be2913bed5f468a7399afcd27f92bac2083451584ee580b5054e9f525e68cc4a"}, {"document_id": "670691", "title": "Regulamento", "reference_date": "2024-04-28", "version": "1", "page": 29, "url": "https://fnet.bmfbovespa.com.br/fnet/publico/visualizarDocumento?id=670691", "sha256": "bf16dd7f1a62d5cdbf2e2d54fef81783783f7310fbc99c3a8f00459bdf9d037b"}, {"document_id": "670687", "title": "Instrumento Particular de Constituição/Encerramento do Fundo", "reference_date": "2024-04-19", "version": "1", "page": 1, "url": "https://fnet.bmfbovespa.com.br/fnet/publico/visualizarDocumento?id=670687", "sha256": "999f2a47d39f7022b0fcee3d16fd1db33948537b897e92c4c9e14b436bf5eb96"}], "reference": {"path": "history/54871427000194.json", "criterion_id": "perimeter", "total_count": 4, "preview_count": 3, "full_text_deferred": true, "sha256": "35d7cd99be50c7287c9fb675cf4f2e736002315295a225a9efa79c8d9186d874"}}</a:t>
            </a:r>
          </a:p>
          <a:p>
            <a:r>
              <a:t>CNPJ 60010416000112 · Classe, subclasse e responsabilidade · Regulamento · ID 1051393 · 2025-10-09 · versão 1 · p. 10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a:t>
            </a:r>
          </a:p>
          <a:p>
            <a:r>
              <a:t> (ii) o saldo dos Direitos Creditórios devidos pelo mesmo Devedor à Classe, considerando, pro  forma, o endosso pretendido, não deverá exceder R$ 100.000,00 (cem mil reais), observado  o disposto no item 4.4.1 abaixo;</a:t>
            </a:r>
          </a:p>
          <a:p>
            <a:r>
              <a:t> (iii) o prazo de vencimento das CCB representativas dos Direitos Creditórios deverá ser, no  máximo, equivalente ao prazo máximo permitido pelas leis e regulamentações aplicáveis; e</a:t>
            </a:r>
          </a:p>
          <a:p>
            <a:r>
              <a:t> (iv) os Direitos Creditórios não poderão ser devidos por Devedores que tenham acima de 64  (sessenta e quatro) anos 11 (onze) meses e 29 (vinte e nove) dias na data de emissão da  respectiva CCB.</a:t>
            </a:r>
          </a:p>
          <a:p>
            <a:r>
              <a:t>CNPJ 60010416000112 · Classe, subclasse e responsabilidade · Regulamento · ID 1051393 · 2025-10-09 · versão 1 · p. 11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  com a transf erência, à Classe, de f orma definitiva, sem coobrigação do Endossante, da plena  titularidade desse Direito Creditório, juntamente com todos os direitos, privilégios, pref erências,  prerrogativas, garantias e ações a ele relacionados, bem como correção monetária, juros e  encargos, sem prejuízo do direito da Classe (i) de exigir a recompra compulsória do respectivo  Direito Creditório, de acordo com os termos do Contrato de Endosso; ou (ii) de vender Direitos  Creditórios ao Agente de Retenção/Cobrança (opção de venda), em ambos os casos estritamente  nos termos do Contrato de Endosso.</a:t>
            </a:r>
          </a:p>
          <a:p>
            <a:r>
              <a:t>CNPJ 60010416000112 · Classe, subclasse e responsabilidade · Regulamento · ID 1051393 · 2025-10-09 · versão 1 · p. 18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a:t>
            </a:r>
          </a:p>
          <a:p>
            <a:r>
              <a:t> (ii) alterar este Anexo I e seus complementos, incluindo mas não se limitando aos Apêndices de cada  uma das subclasses;</a:t>
            </a:r>
          </a:p>
          <a:p>
            <a:r>
              <a:t> (iii) deliberar sobre substituição de Prestadores de Serviços Essenciais, observado o disposto no Art.</a:t>
            </a:r>
          </a:p>
          <a:p>
            <a:r>
              <a:t> 70, §1º da parte geral da Resolução CVM 175, quando aplicável, ou do Custodiante;</a:t>
            </a:r>
          </a:p>
          <a:p>
            <a:r>
              <a:t> (iv) deliberar sobre elevação da Taxa de Administração, inclusive na hipótese de restabelecimento de  taxa que tenha sido objeto de redução;</a:t>
            </a:r>
          </a:p>
          <a:p>
            <a:r>
              <a:t> (v) deliberar sobre incorporação, fusão, cisão total ou parcial, a transformação ou liquidação da Classe;</a:t>
            </a:r>
          </a:p>
          <a:p>
            <a:r>
              <a:t> (vi) alterações das características, vantagens, direitos e obrigações das Cotas;</a:t>
            </a:r>
          </a:p>
          <a:p>
            <a:r>
              <a:t> (vii) alterar critérios e procedimentos para Amortização e/ou resgate de Cotas mediante dação em  pagamento de Direitos Creditórios;</a:t>
            </a:r>
          </a:p>
          <a:p>
            <a:r>
              <a:t> (viii) aprovar a contratação de Agente de Retenção/Cobrança dos Direitos Creditórios Inadimplidos, bem  como decidir sobre sua substituição ou destituição;</a:t>
            </a:r>
          </a:p>
          <a:p>
            <a:r>
              <a:t> (ix) alterar a f orma de amortização do principal e dos valores acumulados relacionados às Cotas;</a:t>
            </a:r>
          </a:p>
          <a:p>
            <a:r>
              <a:t> (x) aprovar emissão de novas Cotas da Classe, em montante além do Capital Autorizado;</a:t>
            </a:r>
          </a:p>
          <a:p>
            <a:r>
              <a:t> (xi) deliberar sobre a eventual necessidade de aportes adicionais de recursos na Classe pelos Cotistas;</a:t>
            </a:r>
          </a:p>
          <a:p>
            <a:r>
              <a:t> (xii) alterações na Política de Investimentos;</a:t>
            </a:r>
          </a:p>
          <a:p>
            <a:r>
              <a:t> (xiii) alterações nos Critérios de Elegibilidade;</a:t>
            </a:r>
          </a:p>
          <a:p>
            <a:r>
              <a:t> (xiv) decidir se um Evento de Avaliação será considerado como Evento de Liquidação, sujeito a este  Regulamento;</a:t>
            </a:r>
          </a:p>
          <a:p>
            <a:r>
              <a:t> (xv) decidir, na ocorrência de qualquer Evento de Liquidação, se esse Evento de Liquidação não deverá  causar a liquidação antecipada da Classe;</a:t>
            </a:r>
          </a:p>
          <a:p>
            <a:r>
              <a:t> (xvi) plano de resolução do Patrimônio Líquido negativo da Classe, nos termos da Resolução CVM 175;</a:t>
            </a:r>
          </a:p>
          <a:p>
            <a:r>
              <a:t> (xvii)pedido de declaração judicial de insolvência da Classe; e</a:t>
            </a:r>
          </a:p>
          <a:p>
            <a:r>
              <a:t> (xviii) deliberar sobre a alteração da data de resgate e/ou prazo de duração de cada Série de Cotas  Seniores, do Benchmark, bem como de quaisquer outras características de qualquer Série de Cotas  Seniores;</a:t>
            </a:r>
          </a:p>
          <a:p>
            <a:r>
              <a:t>CNPJ 60010416000112 · Classe, subclasse e responsabilidade · Condição: Documentos atuais selecionados no inventário por categoria/escopo; a data documental isolada não comprova vigência jurídica.</a:t>
            </a:r>
          </a:p>
          <a:p>
            <a:r>
              <a:t>CNPJ 60010416000112 · Classe, subclasse e responsabilidade · Versão e prevalência: Documentos atuais selecionados no inventário por categoria/escopo; a data documental isolada não comprova vigência jurídica.</a:t>
            </a:r>
          </a:p>
          <a:p>
            <a:r>
              <a:t>CNPJ 60010416000112 · Classe, subclasse e responsabilidade · Resumo do histórico: {"count": 1, "dates": ["2025-05-12"], "document_count": 1, "sources": [{"document_id": "1004656", "title": "AGE", "reference_date": "2025-05-12", "version": "1", "page": 4, "url": "https://fnet.bmfbovespa.com.br/fnet/publico/visualizarDocumento?id=1004656", "sha256": "f6c9c009f6170e2b29f074b98522accec73f0c40efbf11f9ec2c8d3f1402616b"}], "reference": {"path": "history/60010416000112.json", "criterion_id": "perimeter", "total_count": 1, "preview_count": 1, "full_text_deferred": true, "sha256": "8e2bd813f4c51cf01f6bfaad164bafe69d2bbb192f753eac92da3a01c2e63046"}}</a:t>
            </a:r>
          </a:p>
          <a:p>
            <a:r>
              <a:t>CNPJ 62696791000193 · Classe, subclasse e responsabilidade · Regulamento · ID 1143317 · 20/03/2026 · versão Regulamento — referência 20/03/2026 · p. 9 · Anexo I, 2.1 · https://fnet.bmfbovespa.com.br/fnet/publico/visualizarDocumento?id=1143317</a:t>
            </a:r>
          </a:p>
          <a:p>
            <a:r>
              <a:t>CNPJ 62696791000193 · Classe, subclasse e responsabilidade · Excerto da fonte:</a:t>
            </a:r>
          </a:p>
          <a:p>
            <a:r>
              <a:t>2.1 A responsabilidade do Cotista está limitada ao valor por ele subscrito. 2.2 Os seguintes eventos obrigarão o Administrador a verif icar se o Patrimônio Líquido está negativo: (i) qualquer pedido de declaração judicial de insolvência de Classe; (ii) inadimplência de obrigações financeiras de devedor e/ou emissor de ativos detidos pela Classe que representem mais de 10% (dez por cento) de seu Patrimônio Líquido, naquela data de ref erência; (iii) pedido de recuperação extrajudicial, proposta de recuperação judicial, f alência, intervenção, liquidação extrajudicial e/ou regime de administração temporária de devedor e/ou emissor de ativos detidos pela Classe; e (iv) condenação da Classe, de natureza judicial e/ou arbitral e/ou administrativa e/ou outras similares, ao pagamento de mais de 10% (dez por cento) de seu Patrimônio Líquido. 2.3 Caso o Administrador verifique que o Patrimônio Líquido está negativo, ou tenha ciência de pedido de declaração judicial de insolvência da Classe ou da declaração judicial de insolvência da Classe, deverá adotar as medidas aplicáveis previstas na Resolução CVM 175. 2.4 Serão aplicáveis as disp</a:t>
            </a:r>
          </a:p>
          <a:p>
            <a:r>
              <a:t>CNPJ 62696791000193 · Classe, subclasse e responsabilidade · Regulamento · ID 1143317 · 20/03/2026 · versão Regulamento — referência 20/03/2026 · p. 18 · Anexo I, 8.8.1 · https://fnet.bmfbovespa.com.br/fnet/publico/visualizarDocumento?id=1143317</a:t>
            </a:r>
          </a:p>
          <a:p>
            <a:r>
              <a:t>CNPJ 62696791000193 · Classe, subclasse e responsabilidade · Excerto da fonte:</a:t>
            </a:r>
          </a:p>
          <a:p>
            <a:r>
              <a:t>8.8.1 As Chamadas de Capital para a realização de investimentos serão realizadas a qualquer momento durante o Período de Investimento e estarão limitadas ao valor do capital subscrito de cada Cotista. As Chamadas de Capital para o pagamento de despesas e encargos do Fundo poderão ser realizadas a qualquer momento durante o Prazo de Duração, mas não estarão limitadas ao valor do capital subscrito de cada Cotista. 8.8.2 Ao receber uma Chamada de Capital, os Cotistas serão obrigados a integralizar parte ou a totalidade de suas Cotas no prazo previsto na ref erida Chamada de Capital, o qual não poderá ser inf erior a 5 (cinco) Dias Úteis contados do recebimento da Chamada de Capital, conforme solicitado pelo Administrador em observância às instruções do Gestor e de acordo com o disposto nos respectivos Compromissos de Investimento. 8.8.3 O Administrador poderá, eventualmente, realizar Chamadas de Capital aos Cotistas de forma desproporcional entre Cotistas, de modo que um ou mais Cotista venha a integralizar, em uma ou mais Chamadas de Capital, uma parcela maior ou menor, conforme o caso, das Cotas por</a:t>
            </a:r>
          </a:p>
          <a:p>
            <a:r>
              <a:t>CNPJ 62696791000193 · Classe, subclasse e responsabilidade · Regulamento · ID 1143317 · 20/03/2026 · versão Regulamento — referência 20/03/2026 · p. 16 · Anexo I, 7.2 · https://fnet.bmfbovespa.com.br/fnet/publico/visualizarDocumento?id=1143317</a:t>
            </a:r>
          </a:p>
          <a:p>
            <a:r>
              <a:t>CNPJ 62696791000193 · Classe, subclasse e responsabilidade · Excerto da fonte:</a:t>
            </a:r>
          </a:p>
          <a:p>
            <a:r>
              <a:t>7.2 A Classe possui 3 (três) Subclasses de Cotas, quais sejam, a subclasse sênior (“Subclasse Sênior” e “Cotas Seniores”), a subclasse mezanino (“Subclasse Mezanino” e “Cotas Mezanino”) e a subclasse subordinada (“Subclasse Subordinada” e “Cotas Subordinadas” – as Cotas Subordinadas, Cotas Seniores e Cotas Mezanino, quando ref eridas em conjunto, “Cotas”), admitindo ainda a emissão de novas séries (“Séries”) de Cotas Seniores, nos termos do seu respectivo Apêndice. As características, os direitos e as condições de emissão, distribuição, subscrição, integralização, remuneração, amortização e resgate das Cotas estão descritos neste Capítulo e nos respectivos Apêndices. 7.3 As Cotas são escriturais, nominativas e correspondem a f rações ideais do patrimônio da Classe, cuja propriedade presume-se: (i) pelo registro do nome do Cotista no livro de registro de Cotistas, enquanto mantidas em conta de depósito mantidas junto ao Escriturador em nome dos respectivos Cotistas, nos termos do Art. 15 da Resolução CVM 175; (ii) pelos controles de titularidade mantidos pelo depositário BTG Pactual SAC: 0800 772 2827 | Ouvidoria: 0800 722 0048 | btgpactual.co m 11</a:t>
            </a:r>
          </a:p>
          <a:p>
            <a:r>
              <a:t>CNPJ 62696791000193 · Classe, subclasse e responsabilidade · Condição: Contradição interna no alcance da responsabilidade limitada. Não apresentar a cláusula de despesas como obrigação irrestrita pacificada.</a:t>
            </a:r>
          </a:p>
          <a:p>
            <a:r>
              <a:t>CNPJ 62696791000193 · Classe, subclasse e responsabilidade · Versão e prevalência: Leitura específica das cláusulas indicadas; condições e conflitos preservados. Seleção documental atual não comprova vigência jurídica por data isolada.</a:t>
            </a:r>
          </a:p>
          <a:p>
            <a:r>
              <a:t>CNPJ 55563624000109 · Classe, subclasse e responsabilidade · Regulamento · ID 1192614 · 2026-04-30 · versão 1 · p. 40 · https://fnet.bmfbovespa.com.br/fnet/publico/visualizarDocumento?id=1192614</a:t>
            </a:r>
          </a:p>
          <a:p>
            <a:r>
              <a:t>CNPJ 55563624000109 · Classe, subclasse e responsabilidade · Excerto da fonte:</a:t>
            </a:r>
          </a:p>
          <a:p>
            <a:r>
              <a:t>(xxiv) Subordinação de determinadas Cotas da Classe Investida a outras subclasses ou séries de  cotas das Classes Investidas aos quais pertencem. A Classe Investida adquirirá apenas cotas  subordinadas mezaninos da Classe Investida, as quais se subordinam às cotas seniores da Classe  Investida para efeitos de resgate. Os resgates de cotas subordinadas mezanino tipicamente têm sua  realização condicionada ainda à manutenção da razão de garantia e à existência de disponibilidades  da Classe Investida. O ADMINISTRADOR, o GESTOR e o CUSTODIANTE e suas respectivas partes  relacionadas, encontram-se impossibilitados de assegurar que a amortização e o resgate das cotas  subordinadas mezanino da Classe Investida que venham a ser adquiridas pela Classe ocorrerão nas  datas originalmente previstas, sendo que, caso tais amortizações e/ou resgates não ocorram, não será  devido pelo FUNDO ou qualquer pessoa, incluindo o ADMINISTRADOR, o GESTOR e o CUSTODIANTE,  do FUNDO ou da Classe Investida qualquer multa ou penalidade, de qualquer natureza. O não resgate  de cotas subordinadas mezanino da Classe Investida detidas pela Classe poderá impactar  negativamente no fluxo de pagamento de resgate da Classe e/ou no valor patrimonial das Cotas da  Classe.</a:t>
            </a:r>
          </a:p>
          <a:p>
            <a:r>
              <a:t>CNPJ 55563624000109 · Classe, subclasse e responsabilidade · Regulamento · ID 1192614 · 2026-04-30 · versão 1 · p. 2 · 1.2 · https://fnet.bmfbovespa.com.br/fnet/publico/visualizarDocumento?id=1192614</a:t>
            </a:r>
          </a:p>
          <a:p>
            <a:r>
              <a:t>CNPJ 55563624000109 · Classe, subclasse e responsabilidade · Excerto da fonte:</a:t>
            </a:r>
          </a:p>
          <a:p>
            <a:r>
              <a:t>1.2 Este regulamento é composto por esta parte geral, um ou mais anexos, conforme o número de classes aqui  previsto e respectivos apêndices relativos a cada subclasse de cotas, conforme aplicável (respectivamente,  “Regulamento”, “Parte Geral”, “Anexos” e “Apêndices”).</a:t>
            </a:r>
          </a:p>
          <a:p>
            <a:r>
              <a:t> Denominação da Classe Anexo  CLASSE ÚNICA DE RESPONSABILIDADE LIMITADA DO  PLGN MARKETPLACE FUNDO DE INVESTIMENTO EM  Anexo Único (“Anexo”)  COTAS DE FUNDO DE INVESTIMENTO EM DIREITOS  CREDITÓRIOS (“Classe” ou “Classe Única”)</a:t>
            </a:r>
          </a:p>
          <a:p>
            <a:r>
              <a:t>CNPJ 55563624000109 · Classe, subclasse e responsabilidade · Regulamento · ID 1192614 · 2026-04-30 · versão 1 · p. 24 · 12.3 · https://fnet.bmfbovespa.com.br/fnet/publico/visualizarDocumento?id=1192614</a:t>
            </a:r>
          </a:p>
          <a:p>
            <a:r>
              <a:t>CNPJ 55563624000109 · Classe, subclasse e responsabilidade · Excerto da fonte:</a:t>
            </a:r>
          </a:p>
          <a:p>
            <a:r>
              <a:t>12.3 Incluem-se entre as obrigações do ADMINISTRADOR, sem prejuízo de outras previstas na regulamentação:</a:t>
            </a:r>
          </a:p>
          <a:p>
            <a:r>
              <a:t> (i) sem prejuízo da observância dos procedimentos relativos às demonstrações contábeis, manter,  separadamente, registros com informações completas sobre toda e qualquer modalidade de negociação  realizada entre o ADMINISTRADOR, GESTOR, CUSTODIANTE, e/ou suas respectivas partes relacionadas,  tais como definidas pelas regras contábeis que tratam desse assunto, de um lado; e a Classe, de outro;</a:t>
            </a:r>
          </a:p>
          <a:p>
            <a:r>
              <a:t> (ii) diligenciar para que sejam mantidos, às suas expensas, atualizados e em perfeita ordem:</a:t>
            </a:r>
          </a:p>
          <a:p>
            <a:r>
              <a:t> (a) o registro de Cotistas;</a:t>
            </a:r>
          </a:p>
          <a:p>
            <a:r>
              <a:t> (b) o livro de atas das Assembleias de Cotistas;</a:t>
            </a:r>
          </a:p>
          <a:p>
            <a:r>
              <a:t> (c) o livro ou lista de presença de Cotistas;</a:t>
            </a:r>
          </a:p>
          <a:p>
            <a:r>
              <a:t> (d) os pareceres do Auditor Independente; e</a:t>
            </a:r>
          </a:p>
          <a:p>
            <a:r>
              <a:t> (e) os registros contábeis referentes às operações e ao patrimônio da Classe;</a:t>
            </a:r>
          </a:p>
          <a:p>
            <a:r>
              <a:t> (iii) pagar a multa cominatória às suas expensas, nos termos da legislação vigente, por cada dia de atraso no  cumprimento dos prazos previstos na regulamentação aplicável;</a:t>
            </a:r>
          </a:p>
          <a:p>
            <a:r>
              <a:t> (iv) elaborar e divulgar as informações periódicas e eventuais da Classe, nos termos deste Anexo e da  regulamentação e da autorregulação em vigor;</a:t>
            </a:r>
          </a:p>
          <a:p>
            <a:r>
              <a:t> (v) manter atualizada junto à CVM a lista de todos os prestadores de serviços contratados pela Classe,  inclusive os Prestadores de Serviços Essenciais, bem como as demais informações cadastrais da Classe e  suas Subclasses;</a:t>
            </a:r>
          </a:p>
          <a:p>
            <a:r>
              <a:t> (vi) manter serviço de atendimento aos Cotistas, responsável pelo esclarecimento de dúvidas e pelo  recebimento de reclamações;</a:t>
            </a:r>
          </a:p>
          <a:p>
            <a:r>
              <a:t> (vii) receber e processar os pedidos de resgate;</a:t>
            </a:r>
          </a:p>
          <a:p>
            <a:r>
              <a:t> (viii) monitorar os Eventos de Verificação do Patrimônio;</a:t>
            </a:r>
          </a:p>
          <a:p>
            <a:r>
              <a:t> (ix) monitorar os Eventos de Avaliação e Eventos de Liquidação;</a:t>
            </a:r>
          </a:p>
          <a:p>
            <a:r>
              <a:t> (x) observar as disposições constantes do Regulamento;</a:t>
            </a:r>
          </a:p>
          <a:p>
            <a:r>
              <a:t> (xi) cumprir as deliberações da Assembleia de Cotistas; e</a:t>
            </a:r>
          </a:p>
          <a:p>
            <a:r>
              <a:t> (xii) observar as disposições do Código ANBIMA e das Regras e Procedimentos ANBIMA</a:t>
            </a:r>
          </a:p>
          <a:p>
            <a:r>
              <a:t>CNPJ 55563624000109 · Classe, subclasse e responsabilidade · Condição: Documentos atuais selecionados no inventário por categoria/escopo; a data documental isolada não comprova vigência jurídica.</a:t>
            </a:r>
          </a:p>
          <a:p>
            <a:r>
              <a:t>CNPJ 55563624000109 · Classe, subclasse e responsabilidade · Versão e prevalência: Documentos atuais selecionados no inventário por categoria/escopo; a data documental isolada não comprova vigência jurídica.</a:t>
            </a:r>
          </a:p>
          <a:p>
            <a:r>
              <a:t>CNPJ 55563624000109 · Classe, subclasse e responsabilidade · Resumo do histórico: {"count": 5, "dates": ["2024-07-03", "2025-01-31", "2026-01-31"], "document_count": 3, "sources": [{"document_id": "1178840", "title": "Demonstrações Financeiras", "reference_date": "2026-01-31", "version": "1", "page": 3, "url": "https://fnet.bmfbovespa.com.br/fnet/publico/visualizarDocumento?id=1178840", "sha256": "c458e98664c5c907ddb5a05a94b120bed4e05295b2bfc420f5ba69af0a229abe"}, {"document_id": "891861", "title": "Demonstrações Financeiras", "reference_date": "2025-01-31", "version": "1", "page": 27, "url": "https://fnet.bmfbovespa.com.br/fnet/publico/visualizarDocumento?id=891861", "sha256": "e9cb9e6ddbe505fe068cfcac33605165a98313489de0d3ce6d4d238263c3f3e7"}, {"document_id": "703295", "title": "Anúncio de Início", "reference_date": "2024-07-03", "version": "2", "page": 1, "url": "https://fnet.bmfbovespa.com.br/fnet/publico/visualizarDocumento?id=703295", "sha256": "12322b6dbf75e673723bd60910373db249451b72666792e18e0c7b6128f4608a"}], "reference": {"path": "history/55563624000109.json", "criterion_id": "perimeter", "total_count": 5, "preview_count": 3, "full_text_deferred": true, "sha256": "7835d573fb58a3c19adf5b8ecc2aee2bdbb9a88f7a0c0209b5f262b64c7522e3"}}</a:t>
            </a:r>
          </a:p>
          <a:p>
            <a:r>
              <a:t>CNPJ 62552447000120 · Classe, subclasse e responsabilidade · Regulamento · ID 1200623 · 2026-05-21 · versão 1 · p. 1 · 1.3 · https://fnet.bmfbovespa.com.br/fnet/publico/visualizarDocumento?id=1200623</a:t>
            </a:r>
          </a:p>
          <a:p>
            <a:r>
              <a:t>CNPJ 62552447000120 · Classe, subclasse e responsabilidade · Excerto da fonte:</a:t>
            </a:r>
          </a:p>
          <a:p>
            <a:r>
              <a:t>1.3 Durante o seu prazo de duração, o Fundo, por ato conjunto dos Prestadores de Serviços Essenciais,  poderá constituir diferentes Classes e Subclasses , sendo que cada Classe terá patrimônio segregado e</a:t>
            </a:r>
          </a:p>
          <a:p>
            <a:r>
              <a:t>CNPJ 62552447000120 · Classe, subclasse e responsabilidade · Regulamento · ID 1200623 · 2026-05-21 · versão 1 · p. 1 · 1.1 · https://fnet.bmfbovespa.com.br/fnet/publico/visualizarDocumento?id=1200623</a:t>
            </a:r>
          </a:p>
          <a:p>
            <a:r>
              <a:t>CNPJ 62552447000120 · Classe, subclasse e responsabilidade · Excerto da fonte:</a:t>
            </a:r>
          </a:p>
          <a:p>
            <a:r>
              <a:t>1.1 V CDT 1 FUNDO DE INVESTIMENTO EM DIREITOS CREDITÓRIOS RESPONSABILIDADE  LIMITADA (“Fundo”), regido pela Lei n.º 10.406, de 10 de janeiro de 2002, conforme alterada (“Código  Civil”), pela Resolução da Comissão de Valores Mobiliários (“CVM”) n.º 175, de 23 de dezembro de  2022, conf orme alterada (“Resolução CVM 175”), que inclui sua Parte Geral (“Parte Geral da  Resolução CVM 175”) e seu Anexo Normativo II (“Anexo Normativo II”) terá como principais  características:</a:t>
            </a:r>
          </a:p>
          <a:p>
            <a:r>
              <a:t>CNPJ 62552447000120 · Classe, subclasse e responsabilidade · Regulamento · ID 1200623 · 2026-05-21 · versão 1 · p. 1 · https://fnet.bmfbovespa.com.br/fnet/publico/visualizarDocumento?id=1200623</a:t>
            </a:r>
          </a:p>
          <a:p>
            <a:r>
              <a:t>CNPJ 62552447000120 · Classe, subclasse e responsabilidade · Excerto da fonte:</a:t>
            </a:r>
          </a:p>
          <a:p>
            <a:r>
              <a:t>CLASSE ÚNICA DO V CDT 1 FUNDO DE  INVESTIMENTO EM DIREITOS CREDITÓRIOS Anexo I (“Anexo I”)  RESPONSABILIDADE LIMITADA</a:t>
            </a:r>
          </a:p>
          <a:p>
            <a:r>
              <a:t>CNPJ 62552447000120 · Classe, subclasse e responsabilidade · Condição: Documentos atuais selecionados no inventário por categoria/escopo; a data documental isolada não comprova vigência jurídica.</a:t>
            </a:r>
          </a:p>
          <a:p>
            <a:r>
              <a:t>CNPJ 62552447000120 · Classe, subclasse e responsabilidade · Versão e prevalência: Documentos atuais selecionados no inventário por categoria/escopo; a data documental isolada não comprova vigência jurídica.</a:t>
            </a:r>
          </a:p>
          <a:p>
            <a:r>
              <a:t>CNPJ 62552447000120 · Classe, subclasse e responsabilidade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"perimeter", "total_count": 1, "preview_count": 1, "full_text_deferred": true, "sha256": "d95db8c0613d67ee84118c734588665265ea6b02f86a0318d6a844cbe1d0f82f"}}</a:t>
            </a:r>
          </a:p>
          <a:p>
            <a:r>
              <a:t>CNPJ 63953620000165 · Classe, subclasse e responsabilidade · Anexo ao Regulamento · ID 1222863 · 02/06/2026 · versão AnexoConsignadoPrivado02/06/2026 · p. 3 · 2.1 · https://fnet.bmfbovespa.com.br/fnet/publico/visualizarDocumento?id=1222863</a:t>
            </a:r>
          </a:p>
          <a:p>
            <a:r>
              <a:t>CNPJ 63953620000165 · Classe, subclasse e responsabilidade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deverá adotar as medidas aplicáveis previstas na Resolução CVM 175. 2.3 Serão aplicáveis as disposições da Resolução CVM 175 no que se refere aos procedimentos a serem adotados pelo Administrador na hipótese de Patrimônio Líquido negativo da Classe. BTG Pactual SAC: 0800 772 28 27 - Ouvidoria: 0800 722 00 48 - btgpactual.com</a:t>
            </a:r>
          </a:p>
          <a:p>
            <a:r>
              <a:t>CNPJ 63953620000165 · Classe, subclasse e responsabilidade · Anexo ao Regulamento · ID 1222863 · 02/06/2026 · versão AnexoConsignadoPrivado02/06/2026 · p. 10 · 6.7.1 · https://fnet.bmfbovespa.com.br/fnet/publico/visualizarDocumento?id=1222863</a:t>
            </a:r>
          </a:p>
          <a:p>
            <a:r>
              <a:t>CNPJ 63953620000165 · Classe, subclasse e responsabilidade · Excerto da fonte:</a:t>
            </a:r>
          </a:p>
          <a:p>
            <a:r>
              <a:t>6.7.1 As Chamadas de Capital para a realização de investimentos serão realizadas a qualquer momento durante o Período de Investimento e estarão limitadas ao valor do capital subscrito de cada Cotista. As Chamadas de Capital para o pagamento de despesas e encargos do Fundo, com exceção de despesas relacionadas à instrumentos de derivativos e/ou Encargos não previstos no âmbito deste regulamento, poderão ser realizadas a qualquer momento durante o Prazo de Duração, mas não estarão limitadas ao valor do capital subscrito de cada Cotista. 6.7.2 Ao receber uma Chamada d</a:t>
            </a:r>
          </a:p>
          <a:p>
            <a:r>
              <a:t>CNPJ 63953620000165 · Classe, subclasse e responsabilidade · Condição: Alcance das chamadas além do capital comprometido não resolvido textualmente; não certificar limitação apenas por título do fundo.</a:t>
            </a:r>
          </a:p>
          <a:p>
            <a:r>
              <a:t>CNPJ 63953620000165 · Classe, subclasse e responsabilidade · Versão e prevalência: Leitura específica das cláusulas indicadas; condições e conflitos preservados. Seleção documental atual não comprova vigência jurídica por data isolada.</a:t>
            </a:r>
          </a:p>
          <a:p>
            <a:r>
              <a:t>CNPJ 63953620000165 · Classe, subclasse e responsabilidade · Resumo do histórico: {"count": 4, "dates": ["2026-04-28", "2026-05-08", "2026-05-15"], "document_count": 3, "sources": [{"document_id": "1327859", "title": "Demonstrações Financeiras - Fusão, cisão e incorporação", "reference_date": "2026-05-15", "version": "1", "page": 1, "url": "https://fnet.bmfbovespa.com.br/fnet/publico/visualizarDocumento?id=1327859", "sha256": "dca1c68babb97f887528c3e2e47596a9c30f507b067981a35655b2f2da9c8054"}, {"document_id": "1298691", "title": "Demonstrações Financeiras - Fusão, cisão e incorporação", "reference_date": "2026-05-08", "version": "1", "page": 1, "url": "https://fnet.bmfbovespa.com.br/fnet/publico/visualizarDocumento?id=1298691", "sha256": "58c570d9b8d4d265330d3db3ea81c435b8e44a6dab4002aa37790652a1ee9819"}, {"document_id": "1205431", "title": "AGE", "reference_date": "2026-04-28", "version": "1", "page": 1, "clause": "4.1", "url": "https://fnet.bmfbovespa.com.br/fnet/publico/visualizarDocumento?id=1205431", "sha256": "e0b59c701c5d0dbf60de698ea7664d442240863b7043bacdb334ce484188b2ac"}], "reference": {"path": "history/63953620000165.json", "criterion_id": "perimeter", "total_count": 4, "preview_count": 3, "full_text_deferred": true, "sha256": "a7b89077f5e21098c2d601c303faabc3ff6b9729f89d8afecdc60fe1404720c1"}}</a:t>
            </a:r>
          </a:p>
          <a:p>
            <a:r>
              <a:t>CNPJ 54871427000194 · Adaptação à Resolução CVM 175 · Regulamento · ID 670691 · 28/04/2024 · versão Regulamento — referência 28/04/2024 · p. 1 · Parte Geral, 1.1 · https://fnet.bmfbovespa.com.br/fnet/publico/visualizarDocumento?id=670691</a:t>
            </a:r>
          </a:p>
          <a:p>
            <a:r>
              <a:t>CNPJ 54871427000194 · Adaptação à Resolução CVM 175 · Excerto da fonte:</a:t>
            </a:r>
          </a:p>
          <a:p>
            <a:r>
              <a:t>1.1 CONSIGNADO DELTA RECEIVABLES I FUNDO DE INVESTIMENTO EM DIREITOS CREDITÓRIOS (“FUNDO”), regido pela Lei nº 10.406, de 10 de janeiro de 2002, conf orme alterada (“Código Civil”), pela parte geral e o Anexo Normativo II da Resolução nº 175, de 23 de dezembro de 2022, conforme alterada, da Comissão de Valores Mobiliários (respectivamente, “CVM” e “Resolução CVM 175”), terá como principais características: Classe de Cotas Classe única. Indeterminado, exceto se de outra f orma vier a ser deliberado pelos cotistas Prazo de Duração reunidos em assembleia geral de cotistas. BTG Pactual Serviços Financeiros S.A. Distribuidora de Títulos e Valores Mobiliários, instituição f inanceira, com sede na Cidade e Estado do Rio de Janeiro, na Praia de Botafogo, nº 501, 5º andar (parte), Torre Corcovado, ADMINISTRADOR Botafogo, CEP 22250-040, inscrita no CNPJ sob o nº 59.281.253/0001-23 e credenciada como administradora de carteira, de acordo com o Ato Declaratório CVM nº</a:t>
            </a:r>
          </a:p>
          <a:p>
            <a:r>
              <a:t>CNPJ 54871427000194 · Adaptação à Resolução CVM 175 · Regulamento · ID 670691 · 28/04/2024 · versão Regulamento — referência 28/04/2024 · p. 8 · Anexo I, 2.1 · https://fnet.bmfbovespa.com.br/fnet/publico/visualizarDocumento?id=670691</a:t>
            </a:r>
          </a:p>
          <a:p>
            <a:r>
              <a:t>CNPJ 54871427000194 · Adaptação à Resolução CVM 175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deverá adotar as medidas aplicáveis previstas na Resolução CVM 175. 2.3 Serão aplicáveis as disposições da Resolução CVM 175 no que se refere aos procedimentos a serem adotados pelo ADMINISTRADOR na hipótese de Patrimônio Líquido negativo da Classe. CAPÍTULO 3 – ENCARGOS DA CLASSE 3.1 A Classe terá Encargos que lhe poderão ser debitados diretamente, nos termos do art. 53 do Anexo Normativo II da Resolução CVM 175, além de encargos adicionais, e quaisquer despesas que não constituam Encargos correm por conta do Prestador de Serviço Essencial que a tiver contratado: (i) despesas com a contratação de consultoria especializada, conf orme o caso; (ii) despesas com a contratação do Agente de Cobrança, conf orme aplicável; (iii) Taxa Máxima de Custódia; (iv) despesas com registro de Direitos Creditórios; (v) despesas com serviços de originação, cobranças ordinária e/ou extraordinária dos D</a:t>
            </a:r>
          </a:p>
          <a:p>
            <a:r>
              <a:t>CNPJ 54871427000194 · Adaptação à Resolução CVM 175 · Versão e prevalência: Leitura específica das cláusulas indicadas; condições e conflitos preservados. Seleção documental atual não comprova vigência jurídica por data isolada.</a:t>
            </a:r>
          </a:p>
          <a:p>
            <a:r>
              <a:t>CNPJ 54871427000194 · Adaptação à Resolução CVM 175 · Resumo do histórico: {"count": 2, "dates": ["2024-04-19"], "document_count": 2, "sources": [{"document_id": "670687", "title": "Instrumento Particular de Constituição/Encerramento do Fundo", "reference_date": "2024-04-19", "version": "1", "page": 1, "url": "https://fnet.bmfbovespa.com.br/fnet/publico/visualizarDocumento?id=670687", "sha256": "999f2a47d39f7022b0fcee3d16fd1db33948537b897e92c4c9e14b436bf5eb96"}, {"document_id": "670689", "title": "Regulamento", "reference_date": "2024-04-19", "version": "1", "page": 11, "clause": "4.10", "url": "https://fnet.bmfbovespa.com.br/fnet/publico/visualizarDocumento?id=670689", "sha256": "891bc9bc5d87bbc02ec139077a84d2702eb81ea02035fb71d24f5b8366b94a0b"}], "reference": {"path": "history/54871427000194.json", "criterion_id": "res175", "total_count": 2, "preview_count": 2, "full_text_deferred": true, "sha256": "35d7cd99be50c7287c9fb675cf4f2e736002315295a225a9efa79c8d9186d874"}}</a:t>
            </a:r>
          </a:p>
          <a:p>
            <a:r>
              <a:t>CNPJ 60010416000112 · Adaptação à Resolução CVM 175 · Regulamento · ID 1051393 · 09/10/2025 · versão Regulamento09/10/2025 · p. 8 · AnexoI1.2 · https://fnet.bmfbovespa.com.br/fnet/publico/visualizarDocumento?id=1051393</a:t>
            </a:r>
          </a:p>
          <a:p>
            <a:r>
              <a:t>CNPJ 60010416000112 · Adaptação à Resolução CVM 175 · Excerto da fonte:</a:t>
            </a:r>
          </a:p>
          <a:p>
            <a:r>
              <a:t>Tipo de Condomínio Fechado. Prazo de Duração Indeterminado. Classe de Investimento Não. em Cotas Tipo “Financeiro”. Classificação ANBIMA Foco de atuação “Créditos Consignados”. O objetivo da classe é proporcionar aos seus Cotistas a valorização de suas Cotas por meio da aplicação de seu Patrimônio Líquido na aquisição de: (i) Direitos Creditórios que atendam aos Critérios de Elegibilidade, estabelecidos no Ca</a:t>
            </a:r>
          </a:p>
          <a:p>
            <a:r>
              <a:t>CNPJ 60010416000112 · Adaptação à Resolução CVM 175 · Regulamento · ID 1051393 · 09/10/2025 · versão Regulamento09/10/2025 · p. 9 · AnexoI2.1–2.3 · https://fnet.bmfbovespa.com.br/fnet/publico/visualizarDocumento?id=1051393</a:t>
            </a:r>
          </a:p>
          <a:p>
            <a:r>
              <a:t>CNPJ 60010416000112 · Adaptação à Resolução CVM 175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o Administrador deverá adotar as medidas aplicáveis previstas na Resolução CVM 175 2.3 Serão aplicáveis as disposições da Resolução CVM 175 no que se ref ere aos procedimentos a serem adotados pelo Administrador na hipótese de Patrimônio Líquido negativo da Classe, visando a liquidação da Classe e que não remanesçam</a:t>
            </a:r>
          </a:p>
          <a:p>
            <a:r>
              <a:t>CNPJ 60010416000112 · Adaptação à Resolução CVM 175 · Versão e prevalência: Leitura específica das cláusulas indicadas; condições e conflitos preservados. Seleção documental atual não comprova vigência jurídica por data isolada.</a:t>
            </a:r>
          </a:p>
          <a:p>
            <a:r>
              <a:t>CNPJ 60010416000112 · Adaptação à Resolução CVM 175 · Resumo do histórico: {"count": 2, "dates": ["2025-03-20"], "document_count": 2, "sources": [{"document_id": "993785", "title": "Instrumento Particular de Constituição/Encerramento do Fundo", "reference_date": "2025-03-20", "version": "1", "page": 1, "url": "https://fnet.bmfbovespa.com.br/fnet/publico/visualizarDocumento?id=993785", "sha256": "0826e0eae2c51afabf59bbc49fc7647598d03da5ca6de0f9725850a8bd6af457"}, {"document_id": "993786", "title": "Regulamento", "reference_date": "2025-03-20", "version": "1", "page": 12, "clause": "4.8", "url": "https://fnet.bmfbovespa.com.br/fnet/publico/visualizarDocumento?id=993786", "sha256": "fd0fdd369a195510d81f81f505195a0b09e5f43522a990afa7d58c4f872921c8"}], "reference": {"path": "history/60010416000112.json", "criterion_id": "res175", "total_count": 2, "preview_count": 2, "full_text_deferred": true, "sha256": "8e2bd813f4c51cf01f6bfaad164bafe69d2bbb192f753eac92da3a01c2e63046"}}</a:t>
            </a:r>
          </a:p>
          <a:p>
            <a:r>
              <a:t>CNPJ 62696791000193 · Adaptação à Resolução CVM 175 · AGE · ID 1143319 · 20/03/2026 10:00 · versão AGE — referência 20/03/2026 10:00 · p. 1 · AGC, 4.1(a)–(b) · https://fnet.bmfbovespa.com.br/fnet/publico/visualizarDocumento?id=1143319</a:t>
            </a:r>
          </a:p>
          <a:p>
            <a:r>
              <a:t>CNPJ 62696791000193 · Adaptação à Resolução CVM 175 · Excerto da fonte:</a:t>
            </a:r>
          </a:p>
          <a:p>
            <a:r>
              <a:t>4.1. Aprovar a transformação do Fundo, bem como de sua Classe única, em um fundo de investimento nas cadeias produtivas do agronegócio (“Transformação”), nos termos da parte geral e do Anexo Normativo VI da Resolução nº 175 da CVM, de 23 de dezembro de 2022, conforme alterada (“Resolução CVM 175”). a. Aprovar a alteração da denominação do Fundo, que passará a vigorar como BTG PACTUAL CERES CONFINA FUNDO DE INVESTIMENTO NAS CADEIAS PRODUTIVAS DO AGRONEGÓCIO RESPONSABILIDADE LIMITADA, e de sua Classe única, que passará a vigorar como CLASSE ÚNICA DO BTG PACTUAL CERES CONFINA FUNDO DE INVESTIMENTO NAS CADEIAS PRODUTIVAS DO AGRONEGÓCIO RESPONSABILIDADE LIMITADA (“Classe”); b. Aprovar a reforma integral do Regulamento do Fundo, bem como do Anexo descritivo da Classe, para realizar todos os ajustes necessários à implementação da Transformação, incluindo, mas não se limitando, a política de investimentos, o regime tributário e os fatores de risco aplicáveis, conforme itens abaixo; c. Aprovar a alteração do quadro de características gerais do Fundo, considerando a contratação do Cogestor pelo Gestor, nos termos do artigo 52, II, da parte geral da Resolução CVM 175 e no co</a:t>
            </a:r>
          </a:p>
          <a:p>
            <a:r>
              <a:t>CNPJ 62696791000193 · Adaptação à Resolução CVM 175 · AGE · ID 1143319 · 20/03/2026 10:00 · versão AGE — referência 20/03/2026 10:00 · p. 3 · AGC 20/03/2026, 4.1(j)–(k) · https://fnet.bmfbovespa.com.br/fnet/publico/visualizarDocumento?id=1143319</a:t>
            </a:r>
          </a:p>
          <a:p>
            <a:r>
              <a:t>CNPJ 62696791000193 · Adaptação à Resolução CVM 175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Adaptação à Resolução CVM 175 · Regulamento · ID 1143317 · 20/03/2026 · versão Regulamento — referência 20/03/2026 · p. 1 · Parte Geral, 1.1 · https://fnet.bmfbovespa.com.br/fnet/publico/visualizarDocumento?id=1143317</a:t>
            </a:r>
          </a:p>
          <a:p>
            <a:r>
              <a:t>CNPJ 62696791000193 · Adaptação à Resolução CVM 175 · Excerto da fonte:</a:t>
            </a:r>
          </a:p>
          <a:p>
            <a:r>
              <a:t>1.1 BTG PACTUAL CERES CONFINA FUNDO DE INVESTIMENTO NAS CADEIAS PRODUTIVAS DO AGRONEGÓCIO RESPONSABILIDADE LIMITADA (“Fundo”), regido pela Lei nº 10.406, de 10 de janeiro de 2002, conf orme alterada (“Código Civil”), pela Lei n.º 8.668, de 25 de junho de 1993, conf orme alterada (“Lei 8.668”), pela parte geral, Anexo Normativo VI e, subsidiariamente, Anexo Normativo II da Resolução nº 175, de 23 de dezembro de 2022, conforme alterada, da Comissão de Valores Mobiliários (respectivamente, “Resolução CVM 175” e “CVM”), terá como principais características: Classe Classe única. Indeterminado, exceto se de outra f orma vier a ser deliberado pelos Cotistas Prazo de Duração reunidos em assembleia geral de Cotistas (“Prazo de Duração”). BTG Pactual Serviços Financeiros S.A. Distribuidora de Títulos e Valores Mobiliários, sociedade anônima, com sede no município e Estado do Rio de Janeiro, na Praia de Botafogo, nº 501, 5º andar (parte), Torre Corcovado, Administrador Botafogo, CEP 22250-040, inscrita no CNPJ sob o nº 59.281.253/0001-23 e</a:t>
            </a:r>
          </a:p>
          <a:p>
            <a:r>
              <a:t>CNPJ 62696791000193 · Adaptação à Resolução CVM 175 · Condição: Posição comumfev/26 é anterior à transformação e demanda o regime/regulamento anterior.</a:t>
            </a:r>
          </a:p>
          <a:p>
            <a:r>
              <a:t>CNPJ 62696791000193 · Adaptação à Resolução CVM 175 · Versão e prevalência: Leitura específica das cláusulas indicadas; condições e conflitos preservados. Seleção documental atual não comprova vigência jurídica por data isolada.</a:t>
            </a:r>
          </a:p>
          <a:p>
            <a:r>
              <a:t>CNPJ 55563624000109 · Adaptação à Resolução CVM 175 · Regulamento · ID 1192614 · 2026-04-30 · versão 1 · p. 13 · 4.11 · https://fnet.bmfbovespa.com.br/fnet/publico/visualizarDocumento?id=1192614</a:t>
            </a:r>
          </a:p>
          <a:p>
            <a:r>
              <a:t>CNPJ 55563624000109 · Adaptação à Resolução CVM 175 · Excerto da fonte:</a:t>
            </a:r>
          </a:p>
          <a:p>
            <a:r>
              <a:t>4.11 Nos termos dos artigos 45, parágrafo 7º, e 47 parágrafo único do Anexo Normativo II à Resolução CVM 175, uma  vez que as Cotas são destinadas exclusivamente a Investidores Profissionais, a Classe poderá ter até 100% (cem  por cento) de seu Patrimônio Líquido alocado em Cotas da Classe Investida, as quais são emitidas pela Classe  Investida.</a:t>
            </a:r>
          </a:p>
          <a:p>
            <a:r>
              <a:t>CNPJ 55563624000109 · Adaptação à Resolução CVM 175 · Regulamento · ID 1192614 · 2026-04-30 · versão 1 · p. 31 · 15.1.1 · https://fnet.bmfbovespa.com.br/fnet/publico/visualizarDocumento?id=1192614</a:t>
            </a:r>
          </a:p>
          <a:p>
            <a:r>
              <a:t>CNPJ 55563624000109 · Adaptação à Resolução CVM 175 · Excerto da fonte:</a:t>
            </a:r>
          </a:p>
          <a:p>
            <a:r>
              <a:t>15.1.1 Riscos de Crédito:</a:t>
            </a:r>
          </a:p>
          <a:p>
            <a:r>
              <a:t> (i) Risco de concentração na Classe Investida. Nos termos do presente Regulamento, a Classe  deverá manter alocado, no mínimo, 67% (sessenta e sete por cento) do Patrimônio Líquido nas Cotas  da Classe Investida. Alterações na condição econômico-financeira e na expectativa de desempenho ou  resultados da Classe Investida poderão, isolada ou cumulativamente, afetar negativamente o  rendimento do investimento nas Cotas, de forma mais severa do que se a Classe adotasse uma  estratégia de investimento de maior diversificação. O risco associado às aplicações de qualquer fundo  de investimento é diretamente proporcional à concentração da sua carteira, sendo que, quanto maior  essa concentração, maior será a sua vulnerabilidade.</a:t>
            </a:r>
          </a:p>
          <a:p>
            <a:r>
              <a:t> (ii) Risco relativo à Classe Investida. Nos termos deste Anexo, a Classe deverá manter alocado, no  mínimo, 67% (sessenta e sete por cento) do Patrimônio Líquido em Cotas da Classe Investida. Os  investimentos realizados pela Classe Investida poderão estar sujeitos a flutuações típicas do mercado,  risco de crédito, risco sistêmico, condições adversas de liquidez e negociação atípica nos mercados de  atuação, bem como outros riscos diversos. Este Anexo não contém a descrição de todas as  características, incluindo os riscos, da Classe Investida.</a:t>
            </a:r>
          </a:p>
          <a:p>
            <a:r>
              <a:t> (iii) Risco Relativo ao Pagamento de Encargos da Classe Investida. Tendo em vista a estrutura da  Classe Investida – que emitiu cotas sêniores, cotas subordinadas mezanino e cotas subordinadas júnior  – em situação ordinária os encargos da Classe Investida são arcados pelas cotas subordinadas júnior,  que se subordinam às cotas subordinadas mezanino e às cotas sêniores para fins de amortização,  resgate e distribuição de rendimentos, não impactando, portanto, as Cotas da Classe Investida. Não  obstante o funcionamento da Classe Investida em situação ordinária, em cenários extraordinários, na  eventualidade do valor das cotas subordinadas júnior ficar reduzido a zero ou a valor negativo, os  encargos da Classe Investida conforme previstos em seu regulamento, inclusive mas não se limitando  as remunerações dos prestadores de serviços essenciais, passarão a ser arcados pelas cotas  subordinadas mezanino (que são as Cotas da Classe Investida), impactando no valor do investimento  da Classe na Classe Investida, e consequentemente, o investimento dos Cotistas na Classe.</a:t>
            </a:r>
          </a:p>
          <a:p>
            <a:r>
              <a:t> (iv) Riscos referentes à carteira da Classe Investida. Na forma do Anexo Normativo II da Resolução  CVM 175, a Classe Investida investe, direta ou indiretamente, no mínimo, 67% (sessenta e sete por  cento) do seu patrimônio em direitos creditórios originados pela Mercado Pago. O investimento em tais  direitos creditórios está sujeito a fatores de risco específicos, conforme detalhados no regulamento da  Classe Investida, incluindo, mas não se limitando a:</a:t>
            </a:r>
          </a:p>
          <a:p>
            <a:r>
              <a:t> (a) Risco de liquidez dos direitos creditórios. O investimento da Classe Investida em direitos  creditórios apresenta peculiaridades em relação às aplicações usuais da maioria dos  fundos de investimento brasileiros, haja vista que não existe, no Brasil, mercado  secundário com liquidez para tais direitos creditórios. Caso a Classe Investida precise  vender os direitos creditórios adquiridos, poderá não haver mercado comprador para  tais créditos, bem como o preço de alienação de tais direitos creditórios poderá refletir  essa falta de liquidez, causando perda ao patrimônio da Classe Investida e,  consequentemente, à Classe.</a:t>
            </a:r>
          </a:p>
          <a:p>
            <a:r>
              <a:t>CNPJ 55563624000109 · Adaptação à Resolução CVM 175 · Regulamento · ID 1192614 · 2026-04-30 · versão 1 · p. 28 · 13.2 · https://fnet.bmfbovespa.com.br/fnet/publico/visualizarDocumento?id=1192614</a:t>
            </a:r>
          </a:p>
          <a:p>
            <a:r>
              <a:t>CNPJ 55563624000109 · Adaptação à Resolução CVM 175 · Excerto da fonte:</a:t>
            </a:r>
          </a:p>
          <a:p>
            <a:r>
              <a:t>13.2 Em condições ordinárias, as Cotas da Classe Investida não pagarão remuneração aos prestadores de serviços  essenciais da Classe Investida, nos termos de seu regulamento. Não obstante, em cenário extraordinário  conforme descrito no item 15.1.1 (iii), e para fins de atendimento ao artigo 98 da parte geral da Resolução CVM  175, a taxa máxima de administração corresponderá ao valor da Taxa Mínima de Administração acrescida de até  0,10% (dez centésimos por cento) ao ano incidente sobre o patrimônio líquido da Classe Investida,  compreendendo a taxa de administração da Classe Investida geridos por partes relacionadas ao GESTOR, cujas  cotas não estão admitidas à negociação em mercado organizado, conforme prevista no regulamento da Classe  Investida (“Taxa Máxima de Administração” e, quando referida em conjunto com a Taxa Mínima de  Administração, como “Taxa de Administração”). Caso a taxa de administração da Classe Investida não se  enquadre no disposto acima, estará disposta no regulamento da Classe Investida.</a:t>
            </a:r>
          </a:p>
          <a:p>
            <a:r>
              <a:t>CNPJ 55563624000109 · Adaptação à Resolução CVM 175 · Condição: Documentos atuais selecionados no inventário por categoria/escopo; a data documental isolada não comprova vigência jurídica.</a:t>
            </a:r>
          </a:p>
          <a:p>
            <a:r>
              <a:t>CNPJ 55563624000109 · Adaptação à Resolução CVM 175 · Versão e prevalência: Documentos atuais selecionados no inventário por categoria/escopo; a data documental isolada não comprova vigência jurídica.</a:t>
            </a:r>
          </a:p>
          <a:p>
            <a:r>
              <a:t>CNPJ 55563624000109 · Adaptação à Resolução CVM 175 · Resumo do histórico: {"count": 3, "dates": ["2024-07-03", "2025-01-31", "2026-01-31"], "document_count": 3, "sources": [{"document_id": "1178840", "title": "Demonstrações Financeiras", "reference_date": "2026-01-31", "version": "1", "page": 29, "url": "https://fnet.bmfbovespa.com.br/fnet/publico/visualizarDocumento?id=1178840", "sha256": "c458e98664c5c907ddb5a05a94b120bed4e05295b2bfc420f5ba69af0a229abe"}, {"document_id": "891861", "title": "Demonstrações Financeiras", "reference_date": "2025-01-31", "version": "1", "page": 30, "url": "https://fnet.bmfbovespa.com.br/fnet/publico/visualizarDocumento?id=891861", "sha256": "e9cb9e6ddbe505fe068cfcac33605165a98313489de0d3ce6d4d238263c3f3e7"}, {"document_id": "691674", "title": "Instrumento Particular de Emissão de Cotas", "reference_date": "2024-07-03", "version": "1", "page": 1, "url": "https://fnet.bmfbovespa.com.br/fnet/publico/visualizarDocumento?id=691674", "sha256": "78bf7b350f1785beae5f43bd209b5ed19e863cb9a2cff01542aac11dd63ca554"}], "reference": {"path": "history/55563624000109.json", "criterion_id": "res175", "total_count": 3, "preview_count": 3, "full_text_deferred": true, "sha256": "7835d573fb58a3c19adf5b8ecc2aee2bdbb9a88f7a0c0209b5f262b64c7522e3"}}</a:t>
            </a:r>
          </a:p>
          <a:p>
            <a:r>
              <a:t>CNPJ 62552447000120 · Adaptação à Resolução CVM 175 · Regulamento · ID 1200623 · 21/05/2026 · versão Consolidado21/05/2026 aprovado pelo ato1200625 · p. 1 · ParteGeral1.1 · https://fnet.bmfbovespa.com.br/fnet/publico/visualizarDocumento?id=1200623</a:t>
            </a:r>
          </a:p>
          <a:p>
            <a:r>
              <a:t>CNPJ 62552447000120 · Adaptação à Resolução CVM 175 · Excerto da fonte:</a:t>
            </a:r>
          </a:p>
          <a:p>
            <a:r>
              <a:t>1.1 V CDT 1 FUNDO DE INVESTIMENTO EM DIREITOS CREDITÓRIOS RESPONSABILIDADE LIMITADA (“Fundo”), regido pela Lei n.º 10.406, de 10 de janeiro de 2002, conforme alterada (“Código Civil”), pela Resolução da Comissão de Valores Mobiliários (“CVM”) n.º 175, de 23 de dezembro de 2022, conf orme alterada (“Resolução CVM 175”), que inclui sua Parte Geral (“Parte Geral da Resolução CVM 175”) e seu Anexo Normativo II (“Anexo Normativo II”) terá como principais características: Classe de Cotas Classe única. Indeterminado, exceto se de outra forma vier a ser deliberado pelos titulares</a:t>
            </a:r>
          </a:p>
          <a:p>
            <a:r>
              <a:t>CNPJ 62552447000120 · Adaptação à Resolução CVM 175 · Regulamento · ID 1200623 · 21/05/2026 · versão Consolidado21/05/2026 aprovado pelo ato1200625 · p. 2 · ParteGeral1.6(v) · https://fnet.bmfbovespa.com.br/fnet/publico/visualizarDocumento?id=1200623</a:t>
            </a:r>
          </a:p>
          <a:p>
            <a:r>
              <a:t>CNPJ 62552447000120 · Adaptação à Resolução CVM 175 · Excerto da fonte:</a:t>
            </a:r>
          </a:p>
          <a:p>
            <a:r>
              <a:t>V CDT 1 FUNDO DE INVESTIMENTO EM DIREITOS CREDITÓRIOS RESPONSABILIDADE LIMITADA direitos e obrigações distintos das demais Classes, nos termos do art. 5º da Parte Geral da Resolução CVM 175. 1.4 O Anexo de cada classe de Cotas (“Classe”), conforme aplicável, dispõe, sem prejuízo de outros requisitos e inf ormações previstos na regulamentação, sobre: (i) características gerais, incluindo a indicação dos demais prestadores de serviços; (ii) responsabilidade dos Cotistas e regime de insolvência; (iii) características, direitos, condições de emissão, subscrição, integralização,</a:t>
            </a:r>
          </a:p>
          <a:p>
            <a:r>
              <a:t>CNPJ 62552447000120 · Adaptação à Resolução CVM 175 · Regulamento · ID 1200623 · 21/05/2026 · versão Consolidado21/05/2026 aprovado pelo ato1200625 · p. 16 · AnexoI5.1 · https://fnet.bmfbovespa.com.br/fnet/publico/visualizarDocumento?id=1200623</a:t>
            </a:r>
          </a:p>
          <a:p>
            <a:r>
              <a:t>CNPJ 62552447000120 · Adaptação à Resolução CVM 175 · Excerto da fonte:</a:t>
            </a:r>
          </a:p>
          <a:p>
            <a:r>
              <a:t>5.1 A Classe não possui Subclasse. As características, os direitos e as condições de emissão, distribuição, subscrição, integralização, remuneração, Amortização e resgate das Cotas estão descritos neste Capítulo e no Capítulo 6. 5.1.1 Não obstante, por deliberação conjunta dos Prestadores de Serviços Essenciais e mediante aprovação em Assembleia Especial, poderá haver a divisão de Classes em Subclasses, nos termos da Resolução CVM 175. Após a primeira emissão de Cotas, novas emissões de Cotas (de quaisquer Subclasses) dependem de aprovação dos Cotistas. 5.2 As Cotas são escrit</a:t>
            </a:r>
          </a:p>
          <a:p>
            <a:r>
              <a:t>CNPJ 62552447000120 · Adaptação à Resolução CVM 175 · Versão e prevalência: Leitura específica das cláusulas indicadas; condições e conflitos preservados. Seleção documental atual não comprova vigência jurídica por data isolada.</a:t>
            </a:r>
          </a:p>
          <a:p>
            <a:r>
              <a:t>CNPJ 62552447000120 · Adaptação à Resolução CVM 175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"res175", "total_count": 1, "preview_count": 1, "full_text_deferred": true, "sha256": "d95db8c0613d67ee84118c734588665265ea6b02f86a0318d6a844cbe1d0f82f"}}</a:t>
            </a:r>
          </a:p>
          <a:p>
            <a:r>
              <a:t>CNPJ 63953620000165 · Adaptação à Resolução CVM 175 · Anexo ao Regulamento · ID 1222863 · 02/06/2026 · versão AnexoConsignadoPrivado02/06/2026 · p. 1 · AnexoI1.1 · https://fnet.bmfbovespa.com.br/fnet/publico/visualizarDocumento?id=1222863</a:t>
            </a:r>
          </a:p>
          <a:p>
            <a:r>
              <a:t>CNPJ 63953620000165 · Adaptação à Resolução CVM 175 · Excerto da fonte:</a:t>
            </a:r>
          </a:p>
          <a:p>
            <a:r>
              <a:t>1.1 As principais características da Classe Consignado Privado (para fins deste Anexo, “Classe”) estão descritas abaixo: Tipo de Condomínio Fechado. Indeterminado, exceto se de outra forma vier a ser deliberado pelos Cotistas Prazo de Duração reunidos em Assembleia Especial de Cotistas. (“Prazo de Duração”) Tipo “Financeiro”. Classificação ANBIMA Foco de atuação “Créditos Consignados”. O obje</a:t>
            </a:r>
          </a:p>
          <a:p>
            <a:r>
              <a:t>CNPJ 63953620000165 · Adaptação à Resolução CVM 175 · Anexo ao Regulamento · ID 1222863 · 02/06/2026 · versão AnexoConsignadoPrivado02/06/2026 · p. 9 · 5.1 · https://fnet.bmfbovespa.com.br/fnet/publico/visualizarDocumento?id=1222863</a:t>
            </a:r>
          </a:p>
          <a:p>
            <a:r>
              <a:t>CNPJ 63953620000165 · Adaptação à Resolução CVM 175 · Excerto da fonte:</a:t>
            </a:r>
          </a:p>
          <a:p>
            <a:r>
              <a:t>5.1 A Classe possui 2 (duas) Subclasses de Cotas, quais sejam, a subclasse sênior (“Subclasse Sênior” e “Cotas Seniores”) e a subclasse subordinada (“Subclasse Subordinada” e “Cotas Subordinadas” – as Cotas Subordinadas e Cotas Seniores, quando referidas em conjunto, “Cotas”). As características, os direitos e as condições de emissão, distribuição, subscrição, integralização, remuneração, amortização e resgate das Cotas estão descritos neste Capítulo e nos respectivos Apêndices. 5.2 As Cotas são escriturais, nominativas e correspondem a frações ideais do patrimônio da Classe, cuja propriedade presume-se: (i) pelo</a:t>
            </a:r>
          </a:p>
          <a:p>
            <a:r>
              <a:t>CNPJ 63953620000165 · Adaptação à Resolução CVM 175 · Condição: Vigência efetiva da versão 02/06/2026 não inferida da data de publicação; não aplicar a fev/26 automaticamente.</a:t>
            </a:r>
          </a:p>
          <a:p>
            <a:r>
              <a:t>CNPJ 63953620000165 · Adaptação à Resolução CVM 175 · Versão e prevalência: Leitura específica das cláusulas indicadas; condições e conflitos preservados. Seleção documental atual não comprova vigência jurídica por data isolada.</a:t>
            </a:r>
          </a:p>
          <a:p>
            <a:r>
              <a:t>CNPJ 63953620000165 · Adaptação à Resolução CVM 175 · Resumo do histórico: {"count": 9, "dates": ["2026-04-28", "2026-05-08", "2026-05-15"], "document_count": 3, "sources": [{"document_id": "1327859", "title": "Demonstrações Financeiras - Fusão, cisão e incorporação", "reference_date": "2026-05-15", "version": "1", "page": 31, "clause": "15.000.000", "url": "https://fnet.bmfbovespa.com.br/fnet/publico/visualizarDocumento?id=1327859", "sha256": "dca1c68babb97f887528c3e2e47596a9c30f507b067981a35655b2f2da9c8054"}, {"document_id": "1298691", "title": "Demonstrações Financeiras - Fusão, cisão e incorporação", "reference_date": "2026-05-08", "version": "1", "page": 32, "url": "https://fnet.bmfbovespa.com.br/fnet/publico/visualizarDocumento?id=1298691", "sha256": "58c570d9b8d4d265330d3db3ea81c435b8e44a6dab4002aa37790652a1ee9819"}, {"document_id": "1282180", "title": "Demonstrações Financeiras - Fusão, cisão e incorporação", "reference_date": "2026-04-28", "version": "1", "page": 32, "clause": "15.000.000", "url": "https://fnet.bmfbovespa.com.br/fnet/publico/visualizarDocumento?id=1282180", "sha256": "afaaa0e6809be4385e5bdb6c911aac582032c5bdbac3d7750234bf9eaf00438a"}], "reference": {"path": "history/63953620000165.json", "criterion_id": "res175", "total_count": 9, "preview_count": 3, "full_text_deferred": true, "sha256": "a7b89077f5e21098c2d601c303faabc3ff6b9729f89d8afecdc60fe1404720c1"}}</a:t>
            </a:r>
          </a:p>
          <a:p>
            <a:r>
              <a:t>CNPJ 54871427000194 · Duração e público-alvo · Demonstrações Financeiras - Fusão, cisão e incorporação · ID 1219522 · 2026-02-02 · versão 1 · p. 11 · https://fnet.bmfbovespa.com.br/fnet/publico/visualizarDocumento?id=1219522</a:t>
            </a:r>
          </a:p>
          <a:p>
            <a:r>
              <a:t>CNPJ 54871427000194 · Duração e público-alvo · Excerto da fonte:</a:t>
            </a:r>
          </a:p>
          <a:p>
            <a:r>
              <a:t>O Consignado Delta Receivables I Fundo de Investimento em Direitos Creditórios possui uma classe única de cotas, denominada Classe Única de Responsabilidade Limitada do Consignado Delta Receivables I Fundo de Investimento em Direitos Creditórios (“Classe”). A Classe foi constituída em 19 de abril de 2024, sob a forma de condomínio fechado e iniciou suas operações em 27 de maio de 2024. A Classe possui prazo de duração Indeterminado.</a:t>
            </a:r>
          </a:p>
          <a:p>
            <a:r>
              <a:t>CNPJ 54871427000194 · Duração e público-alvo · Condição: Documentos atuais selecionados no inventário por categoria/escopo; a data documental isolada não comprova vigência jurídica.</a:t>
            </a:r>
          </a:p>
          <a:p>
            <a:r>
              <a:t>CNPJ 54871427000194 · Duração e público-alvo · Versão e prevalência: Documentos atuais selecionados no inventário por categoria/escopo; a data documental isolada não comprova vigência jurídica.</a:t>
            </a:r>
          </a:p>
          <a:p>
            <a:r>
              <a:t>CNPJ 54871427000194 · Duração e público-alvo · Resumo do histórico: {"count": 11, "dates": ["2024-12-31", "2025-01-01", "2025-12-31"], "document_count": 3, "sources": [{"document_id": "1151805", "title": "Demonstrações Financeiras", "reference_date": "2025-12-31", "version": "1", "page": 11, "url": "https://fnet.bmfbovespa.com.br/fnet/publico/visualizarDocumento?id=1151805", "sha256": "f1cea70b152968bf96ef9221b27225953cb20aeef487b2798db3c25e11b528d4"}, {"document_id": "869529", "title": "Demonstrações Financeiras", "reference_date": "2025-01-01", "version": "1", "page": 11, "url": "https://fnet.bmfbovespa.com.br/fnet/publico/visualizarDocumento?id=869529", "sha256": "9a93a9369ac8efdbc54ff8fcee3ccac3abf88edab4807b9323d3852450771b2a"}, {"document_id": "870070", "title": "Demonstrações Financeiras", "reference_date": "2024-12-31", "version": "1", "page": 11, "url": "https://fnet.bmfbovespa.com.br/fnet/publico/visualizarDocumento?id=870070", "sha256": "9a93a9369ac8efdbc54ff8fcee3ccac3abf88edab4807b9323d3852450771b2a"}], "reference": {"path": "history/54871427000194.json", "criterion_id": "duration_investors", "total_count": 11, "preview_count": 3, "full_text_deferred": true, "sha256": "35d7cd99be50c7287c9fb675cf4f2e736002315295a225a9efa79c8d9186d874"}}</a:t>
            </a:r>
          </a:p>
          <a:p>
            <a:r>
              <a:t>CNPJ 60010416000112 · Duração e público-alvo · Demonstrações Financeiras - Fusão, cisão e incorporação · ID 1298690 · 2026-05-08 · versão 1 · p. 9 · https://fnet.bmfbovespa.com.br/fnet/publico/visualizarDocumento?id=1298690</a:t>
            </a:r>
          </a:p>
          <a:p>
            <a:r>
              <a:t>CNPJ 60010416000112 · Duração e público-alvo · Excerto da fonte:</a:t>
            </a:r>
          </a:p>
          <a:p>
            <a:r>
              <a:t>1. Contexto operacional  O MT Consignado Privado I Fundo de Investimento em Direitos Creditórios (“Fundo”) possui uma  classe única de cotas, denominada Classe Única do MT I Consignado Privado I Fundo de  Investimento em Direitos Creditórios Responsabilidade Limitada (“Classe”). A Classe foi  constituída em 20 de março de 2025, sob a forma de condomínio fechado e iniciou suas  operações em 21 de março de 2025. A Classe possui prazo de duração indeterminado.</a:t>
            </a:r>
          </a:p>
          <a:p>
            <a:r>
              <a:t>CNPJ 60010416000112 · Duração e público-alvo · Demonstrações Financeiras - Fusão, cisão e incorporação · ID 1298690 · 2026-05-08 · versão 1 · p. 22 · https://fnet.bmfbovespa.com.br/fnet/publico/visualizarDocumento?id=1298690</a:t>
            </a:r>
          </a:p>
          <a:p>
            <a:r>
              <a:t>CNPJ 60010416000112 · Duração e público-alvo · Excerto da fonte:</a:t>
            </a:r>
          </a:p>
          <a:p>
            <a:r>
              <a:t>(ii) Riscos do mercado secundário: A Classe é constituída sob a forma de condomínio  fechado, de modo que as Cotas Subordinadas somente serão resgatadas em virtude da  liquidação da Classe e as Cotas Seniores ao término do seu prazo de duração, conforme  estabelecidos nos respectivos Suplementos. Uma vez que o prazo de duração da Classe  é indeterminado, o Cotista titular das Cotas Subordinadas não terá liquidez em seu  investimento na Classe, exceto (a) por ocasião das amortizações e dos resgates, nos  termos do Regulamento; (b) por meio da alienação de suas Cotas no mercado  secundário, observado, neste caso, que sua alienação apenas é permitida para o Público-  Alvo das Cotas Subordinadas; ou (c) na liquidação antecipada do Fundo ou da Classe.</a:t>
            </a:r>
          </a:p>
          <a:p>
            <a:r>
              <a:t> Além disso, atualmente, o mercado secundário de cotas de fundos de investimento  apresenta baixa liquidez, o que pode dificultar a venda das Cotas ou ocasionar a obtenção  de um preço de venda que cause perda de patrimônio ao Cotista. Não há qualquer  garantia da Administradora, da Gestora, da consultora ou do Custodiante em relação à  possibilidade de venda das Cotas no mercado secundário ou ao preço obtido por elas,  ou mesmo garantia de saída ao Cotista.</a:t>
            </a:r>
          </a:p>
          <a:p>
            <a:r>
              <a:t>CNPJ 60010416000112 · Duração e público-alvo · Condição: Documentos atuais selecionados no inventário por categoria/escopo; a data documental isolada não comprova vigência jurídica.</a:t>
            </a:r>
          </a:p>
          <a:p>
            <a:r>
              <a:t>CNPJ 60010416000112 · Duração e público-alvo · Versão e prevalência: Documentos atuais selecionados no inventário por categoria/escopo; a data documental isolada não comprova vigência jurídica.</a:t>
            </a:r>
          </a:p>
          <a:p>
            <a:r>
              <a:t>CNPJ 60010416000112 · Duração e público-alvo · Resumo do histórico: {"count": 9, "dates": ["2025-11-30", "2026-03-18", "2026-04-16"], "document_count": 3, "sources": [{"document_id": "1282181", "title": "Demonstrações Financeiras - Fusão, cisão e incorporação", "reference_date": "2026-04-16", "version": "1", "page": 23, "url": "https://fnet.bmfbovespa.com.br/fnet/publico/visualizarDocumento?id=1282181", "sha256": "b1c6566e43a00bcd00c8a7f30c77b7f86e351bd8e355bbea113f46d1dafda703"}, {"document_id": "1224477", "title": "Demonstrações Financeiras - Fusão, cisão e incorporação", "reference_date": "2026-03-18", "version": "1", "page": 23, "url": "https://fnet.bmfbovespa.com.br/fnet/publico/visualizarDocumento?id=1224477", "sha256": "0751bf0a75bc3b44c2748f5000226665c6ec6698a90c4dc6170b4e6c187759ae"}, {"document_id": "1126154", "title": "Demonstrações Financeiras", "reference_date": "2025-11-30", "version": "1", "page": 23, "url": "https://fnet.bmfbovespa.com.br/fnet/publico/visualizarDocumento?id=1126154", "sha256": "a01e7ccf88c548f12c95cba8526d7efbef6b585c112cd4668eca781c292090b0"}], "reference": {"path": "history/60010416000112.json", "criterion_id": "duration_investors", "total_count": 9, "preview_count": 3, "full_text_deferred": true, "sha256": "8e2bd813f4c51cf01f6bfaad164bafe69d2bbb192f753eac92da3a01c2e63046"}}</a:t>
            </a:r>
          </a:p>
          <a:p>
            <a:r>
              <a:t>CNPJ 62696791000193 · Duração e público-alvo · Regulamento · ID 1143317 · 2026-03-20 · versão 1 · p. 18 · 8.8.1 · https://fnet.bmfbovespa.com.br/fnet/publico/visualizarDocumento?id=1143317</a:t>
            </a:r>
          </a:p>
          <a:p>
            <a:r>
              <a:t>CNPJ 62696791000193 · Duração e público-alvo · Excerto da fonte:</a:t>
            </a:r>
          </a:p>
          <a:p>
            <a:r>
              <a:t>8.8.1 As Chamadas de Capital para a realização de investimentos serão realizadas a qualquer  momento durante o Período de Investimento e estarão limitadas ao valor do capital subscrito  de cada Cotista. As Chamadas de Capital para o pagamento de despesas e encargos do Fundo  poderão ser realizadas a qualquer momento durante o Prazo de Duração, mas não estarão  limitadas ao valor do capital subscrito de cada Cotista.</a:t>
            </a:r>
          </a:p>
          <a:p>
            <a:r>
              <a:t>CNPJ 62696791000193 · Duração e público-alvo · Regulamento · ID 1143317 · 2026-03-20 · versão 1 · p. 20 · 9.5.1 · https://fnet.bmfbovespa.com.br/fnet/publico/visualizarDocumento?id=1143317</a:t>
            </a:r>
          </a:p>
          <a:p>
            <a:r>
              <a:t>CNPJ 62696791000193 · Duração e público-alvo · Excerto da fonte:</a:t>
            </a:r>
          </a:p>
          <a:p>
            <a:r>
              <a:t>9.5.1 Ao f inal do Prazo de Duração ou quando da liquidação antecipada da Classe, todas as Cotas  deverão ter seu valor integralmente amortizado. Não havendo recursos em moeda corrente  nacional suficientes para realizar o pagamento da amortização total das Cotas em circulação à  época da liquidação da Classe, o Administrador deverá convocar a Assembleia Especial de  Cotistas a fim de deliberar sobre a prorrogação do Prazo de Duração ou o resgate de Cotas em  Direitos Creditórios do Agronegócio e/ou Outros Ativos .</a:t>
            </a:r>
          </a:p>
          <a:p>
            <a:r>
              <a:t>10 ASSEMBLEIA ESPECIAL DE COTISTAS</a:t>
            </a:r>
          </a:p>
          <a:p>
            <a:r>
              <a:t>CNPJ 62696791000193 · Duração e público-alvo · Regulamento · ID 1143317 · 2026-03-20 · versão 1 · p. 23 · 11.1 · https://fnet.bmfbovespa.com.br/fnet/publico/visualizarDocumento?id=1143317</a:t>
            </a:r>
          </a:p>
          <a:p>
            <a:r>
              <a:t>CNPJ 62696791000193 · Duração e público-alvo · Excerto da fonte:</a:t>
            </a:r>
          </a:p>
          <a:p>
            <a:r>
              <a:t>11.1 A Classe será liquidada (i) em caso da liquidação antecipada deliberada em Assembleia Especial de  Cotistas; ou (ii) pelo encerramento do Prazo de Duração da Classe.</a:t>
            </a:r>
          </a:p>
          <a:p>
            <a:r>
              <a:t>CNPJ 62696791000193 · Duração e público-alvo · Condição: Documentos atuais selecionados no inventário por categoria/escopo; a data documental isolada não comprova vigência jurídica.</a:t>
            </a:r>
          </a:p>
          <a:p>
            <a:r>
              <a:t>CNPJ 62696791000193 · Duração e público-alvo · Versão e prevalência: Documentos atuais selecionados no inventário por categoria/escopo; a data documental isolada não comprova vigência jurídica.</a:t>
            </a:r>
          </a:p>
          <a:p>
            <a:r>
              <a:t>CNPJ 55563624000109 · Duração e público-alvo · AGE · ID 1306189 · 2026-08-25 · versão 1 · p. 1 · 4.1 · https://fnet.bmfbovespa.com.br/fnet/publico/visualizarDocumento?id=1306189</a:t>
            </a:r>
          </a:p>
          <a:p>
            <a:r>
              <a:t>CNPJ 55563624000109 · Duração e público-alvo · Excerto da fonte:</a:t>
            </a:r>
          </a:p>
          <a:p>
            <a:r>
              <a:t>4.1 Nos termos do Anexo da Classe, aprovar:</a:t>
            </a:r>
          </a:p>
          <a:p>
            <a:r>
              <a:t>(i) a liquidação da Subclasse A da Classe, considerando o encerramento do seu prazo de duração, por meio do  resgate integral de Cotas da Subclasse A com entrega de financeiro aos Cotistas. Será utilizada como data  base no cálculo da cota do dia 25 de agosto de 2026, com efetivação no fechamento do dia 27 de agosto de  2026; e</a:t>
            </a:r>
          </a:p>
          <a:p>
            <a:r>
              <a:t>(ii) a liquidação antecipada da Subclasse C da Classe, por meio do resgate integral de Cotas da Subclasse C com  entrega de financeiro aos Cotistas. Será utilizada como data base no cálculo da cota do dia 25 de agosto de  2026, com efetivação no fechamento do dia 27 de agosto de 2026.</a:t>
            </a:r>
          </a:p>
          <a:p>
            <a:r>
              <a:t>CNPJ 55563624000109 · Duração e público-alvo · Condição: Documentos atuais selecionados no inventário por categoria/escopo; a data documental isolada não comprova vigência jurídica.</a:t>
            </a:r>
          </a:p>
          <a:p>
            <a:r>
              <a:t>CNPJ 55563624000109 · Duração e público-alvo · Versão e prevalência: Documentos atuais selecionados no inventário por categoria/escopo; a data documental isolada não comprova vigência jurídica.</a:t>
            </a:r>
          </a:p>
          <a:p>
            <a:r>
              <a:t>CNPJ 55563624000109 · Duração e público-alvo · Resumo do histórico: {"count": 6, "dates": ["2026-04-30"], "document_count": 2, "sources": [{"document_id": "1192614", "title": "Regulamento", "reference_date": "2026-04-30", "version": "1", "page": "9, 15, 45-50", "url": "https://fnet.bmfbovespa.com.br/fnet/publico/visualizarDocumento?id=1192614", "sha256": "f56e63ace0acde41d2f47fb48f1ac7f3f7df5e2d32de092d7c5e075a52516632"}, {"document_id": "1192614", "title": "Regulamento", "reference_date": "2026-04-30", "version": "1", "page": 5, "clause": "4.7.1", "url": "https://fnet.bmfbovespa.com.br/fnet/publico/visualizarDocumento?id=1192614", "sha256": "f56e63ace0acde41d2f47fb48f1ac7f3f7df5e2d32de092d7c5e075a52516632"}, {"document_id": "1192603", "title": "AGE", "reference_date": "2026-04-30", "version": "1", "page": 1, "clause": "4.1", "url": "https://fnet.bmfbovespa.com.br/fnet/publico/visualizarDocumento?id=1192603", "sha256": "f53ff2a5b715f5365536305a098f9cc0c54b5a01128942d784915bed8eeb0288"}], "reference": {"path": "history/55563624000109.json", "criterion_id": "duration_investors", "total_count": 6, "preview_count": 3, "full_text_deferred": true, "sha256": "7835d573fb58a3c19adf5b8ecc2aee2bdbb9a88f7a0c0209b5f262b64c7522e3"}}</a:t>
            </a:r>
          </a:p>
          <a:p>
            <a:r>
              <a:t>CNPJ 62552447000120 · Duração e público-alvo · Regulamento · ID 1200623 · 2026-05-21 · versão 1 · p. 22 · 10.4 · https://fnet.bmfbovespa.com.br/fnet/publico/visualizarDocumento?id=1200623</a:t>
            </a:r>
          </a:p>
          <a:p>
            <a:r>
              <a:t>CNPJ 62552447000120 · Duração e público-alvo · Excerto da fonte:</a:t>
            </a:r>
          </a:p>
          <a:p>
            <a:r>
              <a:t>10.4 Tendo em vista que a Classe é exclusivamente destinada a Investidores Profissionais, não serão  aplicáveis as vedações ao direito a voto em assembleia de cotistas dispostas no artigo 78 da Resolução  CVM 175, conf orme disposto no artigo 114 da ref erida Resolução.</a:t>
            </a:r>
          </a:p>
          <a:p>
            <a:r>
              <a:t>CNPJ 62552447000120 · Duração e público-alvo · Regulamento · ID 1200623 · 2026-05-21 · versão 1 · p. 35 · https://fnet.bmfbovespa.com.br/fnet/publico/visualizarDocumento?id=1200623</a:t>
            </a:r>
          </a:p>
          <a:p>
            <a:r>
              <a:t>CNPJ 62552447000120 · Duração e público-alvo · Excerto da fonte:</a:t>
            </a:r>
          </a:p>
          <a:p>
            <a:r>
              <a:t>ativos desses emissores, causando perdas à Classe e ao Cotista. Além disso, a f alta de capacidade ou disposição de pagar por qualquer dos emissores dos Ativos Financeiros de Liquidez ou das contrapartes nas transações que compõem a Carteira causará perdas à Classe, e o que também poderá incorrer em custos para f ins de recuperação de seus recebíveis.</a:t>
            </a:r>
          </a:p>
          <a:p>
            <a:r>
              <a:t>(v) Riscos associados aos Devedores: no caso de Devedores no âmbito das operações de consignado privado, a sua capacidade de pagamento poderá ser af etada se, por exemplo, o Devedor tiver o seu contrato de emprego rescindido ou em virtude de decisão judicial, o Devedor for obrigado a pagar alimentos, que têm prioridade sobre o empréstimo para f ins de desconto na f 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 etar a rentabilidade da Classe. Já no caso de Devedores no âmbito das operações de Saque-aniversário, como os Direitos Creditórios a serem endossados à Classe serão descontados pelo FGTS da remuneração do Devedor, na ocorrência de qualquer evento que, nos termos da legislação aplicável, determine o pagamento antecipado do Saque-aniversário ao Devedor, a exemplo do falecimento do Devedor, dentre outros, as parcelas do Saque- aniversário serão pagas antecipadamente e a Classe deverá utilizar tais montantes no pré-pagamento dos Direitos Creditórios. Nesta hipótese, a Classe poderá não encontrar Direitos Creditórios disponíveis para serem adquiridos pela Classe, o que poderá af etar a rentabilidade da Classe.</a:t>
            </a:r>
          </a:p>
          <a:p>
            <a:r>
              <a:t>Risco de liquidez</a:t>
            </a:r>
          </a:p>
          <a:p>
            <a:r>
              <a:t>(i) Risco de liquidez: consiste no risco de redução ou inexistência de demanda pelos ativos que compõem a Classe nos respectivos mercados em que são negociados, devido às condições específicas desses ativos ou aos mercados em que são negociados. Devido a esses riscos, o Gestor poderá encontrar dificuldades em liquidar posições ou negociar esses ativos pelo preço e prazo desejados, de acordo com a estratégia de gestão adotada pela Classe, que permanecerá exposto, durante o período de baixa liquidez, aos riscos associados a esses ativos e posições assumidas em mercados de derivativos, se houver, que poderão até exigir que o Gestor aceite descontos em seus preços para realizar negociações no mercado. Esses f atores poderão prejudicar o pagamento de Amortizações ao Cotista, nos valores e dentro dos termos aqui estabelecidos.</a:t>
            </a:r>
          </a:p>
          <a:p>
            <a:r>
              <a:t>(ii) Riscos do mercado secundário: A Classe é constituída sob a f orma de condomínio fechado, de modo que as Cotas somente serão resgatadas em virtude da liquidação da Classe. Uma vez que o Prazo de Duração da Classe é indeterminado, o Cotista titular das Cotas não terá liquidez em seu investimento na Classe, exceto</a:t>
            </a:r>
          </a:p>
          <a:p>
            <a:r>
              <a:t>(a) por ocasião das Amortizações e dos resgates, nos termos deste Regulamento; (b) por meio da alienação de suas Cotas no mercado secundário; ou (c) na liquidação antecipada do FUNDO ou da Classe.</a:t>
            </a:r>
          </a:p>
          <a:p>
            <a:r>
              <a:t>Além disso, atualmente, o mercado secundário de cotas de fundos de investimento apresenta baixa liquidez, o que pode dificultar a venda das Cotas ou ocasionar a obtenção de um preço de venda que cause perda de patrimônio ao Cotista. Não há qualquer garantia do Administrador, do Gestor, da consultora ou do Custodiante em relação à possibilidade de venda das Cotas no mercado secundário ou ao preço obtido por elas, ou mesmo garantia de saída ao Cotista.</a:t>
            </a:r>
          </a:p>
          <a:p>
            <a:r>
              <a:t>Riscos específicos</a:t>
            </a:r>
          </a:p>
          <a:p>
            <a:r>
              <a:t>(i)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ficar inadimplente e, consequentemente, não haverá repasse à Classe do respectivo Direito Creditório, o que poderá resultar em perdas f inanceiras à Classe e aos Cotistas. Para os f ins deste Regulamento, “Empregador” signif ica a empresa com qual o Devedor mantém vínculo empregatício registrado junto à CTPS.</a:t>
            </a:r>
          </a:p>
          <a:p>
            <a:r>
              <a:t>(ii) Risco do Empregador não efetuar o desconto em folha: o repasse dos recursos oriundos dos Direitos Creditórios à Classe depende da realização, pelo Empregador, da escrituração da Consignação a ser</a:t>
            </a:r>
          </a:p>
          <a:p>
            <a:r>
              <a:t>CNPJ 62552447000120 · Duração e público-alvo · Regulamento · ID 1200623 · 2026-05-21 · versão 1 · p. 1 · 1.3 · https://fnet.bmfbovespa.com.br/fnet/publico/visualizarDocumento?id=1200623</a:t>
            </a:r>
          </a:p>
          <a:p>
            <a:r>
              <a:t>CNPJ 62552447000120 · Duração e público-alvo · Excerto da fonte:</a:t>
            </a:r>
          </a:p>
          <a:p>
            <a:r>
              <a:t>1.3 Durante o seu prazo de duração, o Fundo, por ato conjunto dos Prestadores de Serviços Essenciais,  poderá constituir diferentes Classes e Subclasses , sendo que cada Classe terá patrimônio segregado e</a:t>
            </a:r>
          </a:p>
          <a:p>
            <a:r>
              <a:t>CNPJ 62552447000120 · Duração e público-alvo · Condição: Documentos atuais selecionados no inventário por categoria/escopo; a data documental isolada não comprova vigência jurídica.</a:t>
            </a:r>
          </a:p>
          <a:p>
            <a:r>
              <a:t>CNPJ 62552447000120 · Duração e público-alvo · Versão e prevalência: Documentos atuais selecionados no inventário por categoria/escopo; a data documental isolada não comprova vigência jurídica.</a:t>
            </a:r>
          </a:p>
          <a:p>
            <a:r>
              <a:t>CNPJ 62552447000120 · Duração e público-alvo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"duration_investors", "total_count": 1, "preview_count": 1, "full_text_deferred": true, "sha256": "d95db8c0613d67ee84118c734588665265ea6b02f86a0318d6a844cbe1d0f82f"}}</a:t>
            </a:r>
          </a:p>
          <a:p>
            <a:r>
              <a:t>CNPJ 63953620000165 · Duração e público-alvo · Anexo ao Regulamento · ID 1222863 · 2026-06-02 · versão 1 · p. 2 · https://fnet.bmfbovespa.com.br/fnet/publico/visualizarDocumento?id=1222863</a:t>
            </a:r>
          </a:p>
          <a:p>
            <a:r>
              <a:t>CNPJ 63953620000165 · Duração e público-alvo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Duração e público-alvo · Anexo ao Regulamento · ID 1222863 · 2026-06-02 · versão 1 · p. 1 · 1.1 · https://fnet.bmfbovespa.com.br/fnet/publico/visualizarDocumento?id=1222863</a:t>
            </a:r>
          </a:p>
          <a:p>
            <a:r>
              <a:t>CNPJ 63953620000165 · Duração e público-alvo · Excerto da fonte:</a:t>
            </a:r>
          </a:p>
          <a:p>
            <a:r>
              <a:t>1.1 As principais características da Classe Consignado Privado (para fins deste Anexo, “Classe”) estão descritas  abaixo:</a:t>
            </a:r>
          </a:p>
          <a:p>
            <a:r>
              <a:t> Tipo de Condomínio Fechado.</a:t>
            </a:r>
          </a:p>
          <a:p>
            <a:r>
              <a:t> Indeterminado, exceto se de outra forma vier a ser deliberado pelos Cotistas  Prazo de Duração  reunidos em Assembleia Especial de Cotistas. (“Prazo de Duração”)  Tipo “Financeiro”.</a:t>
            </a:r>
          </a:p>
          <a:p>
            <a:r>
              <a:t> Classificação ANBIMA  Foco de atuação “Créditos Consignados”.</a:t>
            </a:r>
          </a:p>
          <a:p>
            <a:r>
              <a:t> O objetivo da classe é proporcionar aos seus Cotistas a valorização de suas Cotas  por meio da aplicação de seu Patrimônio Líquido (conforme definido abaixo) na  aquisição de: (i) “Direitos Creditórios Crédito Consignado”, representados por  cédula de crédito bancário regida pela Lei nº 10.931, emitida eletronicamente por  um devedor em favor do endossante (“CCB”) e, consequentemente, os recebíveis  decorrente de cada uma das parcelas vincendas, representando um empréstimo  consignado concedido pelo endossante ao devedor, e cujo pagamento ordinário  é feito por desconto de cada prestação vincenda de uma CCB na folha de  pagamentos do devedor (“Consignação”), efetuada pela Caixa Econômica  Federal, de acordo com a legislação aplicável e em conformidade com os  procedimentos estabelecidos no convênio celebrado entre o Endossante e a  Empresa de Tecnologia e Informações da Previdência – DATAPREV e paga na  Conta Vinculada do Endossante (“Convênio Consignado Privado”); e/ou (ii)  “Direitos Creditórios TVM”, representados por direitos, títulos e/ou valores  mobiliários representativos de créditos originados no âmbito de operações de  sociedades integrantes do conglomerado econômico de instituições financeiras  classificadas como S1 pelo BACEN, desde que não representem títulos de  emissão ou coobrigação de instituições financeiras, bem como cotas de fundos  de investimento que invistam preponderantemente nestes direitos, títulos e/ou  Objetivo  valores mobiliários (Direitos Creditórios TVM quando referidos em conjunto  com os Direitos Creditórios Consignado Privado, “Direitos Creditórios”)  observados todos os limites de composição e diversificação da carteira da Classe  (“Carteira”), estabelecidos neste Regulamento e na regulamentação aplicável.</a:t>
            </a:r>
          </a:p>
          <a:p>
            <a:r>
              <a:t> Subsidiariamente, a parcela do Patrimônio Líquido que não esteja alocada em  Direitos Creditórios poderá estar alocado em: (1) certificados de depósito  bancário (CDB) ou recibos de depósito bancário (RDB) com prazo máximo de  vencimento equivalente ao prazo remanescente do Período de Investimento, com  liquidez diária, emitidos por Parati Crédito, Financiamento e Investimento S.A.</a:t>
            </a:r>
          </a:p>
          <a:p>
            <a:r>
              <a:t> e/ou pelo Endossante (“Ativos de Liquidez MT”); e/ou (2) (i) moeda corrente  nacional; (ii) títulos do Tesouro SELIC, anteriormente denominado letra financeira  do Tesouro Nacional (LFT); (iii) certificados de depósito bancário (CDB) ou recibos  de depósito bancário (RDB) com prazo máximo de vencimento equivalente ao  prazo remanescente do Período de Investimento, com liquidez diária, emitidos  por (a) Itaú Unibanco S.A.; (b) Banco Bradesco S.A.; (c) Caixa Econômica Federal;</a:t>
            </a:r>
          </a:p>
          <a:p>
            <a:r>
              <a:t> (d) Banco do Brasil S.A.; (e) Banco Santander (Brasil) S.A.; (f) Banco BTG Pactual  S.A.; (g) Banco Sistema S.A. (“Instituições Autorizadas”); (iv) operações  compromissadas, desde que lastreadas nos títulos mencionados nas alíneas (i) a</a:t>
            </a:r>
          </a:p>
          <a:p>
            <a:r>
              <a:t> (iii) acima, emitidas por Instituições Autorizadas, com liquidez diária e vencimento</a:t>
            </a:r>
          </a:p>
          <a:p>
            <a:r>
              <a:t>CNPJ 63953620000165 · Duração e público-alvo · Anexo ao Regulamento · ID 1222863 · 2026-06-02 · versão 1 · p. 10 · 6.7.1 · https://fnet.bmfbovespa.com.br/fnet/publico/visualizarDocumento?id=1222863</a:t>
            </a:r>
          </a:p>
          <a:p>
            <a:r>
              <a:t>CNPJ 63953620000165 · Duração e público-alvo · Excerto da fonte:</a:t>
            </a:r>
          </a:p>
          <a:p>
            <a:r>
              <a:t>6.7.1 As Chamadas de Capital para a realização de investimentos serão realizadas a qualquer momento  durante o Período de Investimento e estarão limitadas ao valor do capital subscrito de cada Cotista. As  Chamadas de Capital para o pagamento de despesas e encargos do Fundo, com exceção de despesas  relacionadas à instrumentos de derivativos e/ou Encargos não previstos no âmbito deste regulamento,  poderão ser realizadas a qualquer momento durante o Prazo de Duração, mas não estarão limitadas ao  valor do capital subscrito de cada Cotista.</a:t>
            </a:r>
          </a:p>
          <a:p>
            <a:r>
              <a:t>CNPJ 63953620000165 · Duração e público-alvo · Condição: Documentos atuais selecionados no inventário por categoria/escopo; a data documental isolada não comprova vigência jurídica.</a:t>
            </a:r>
          </a:p>
          <a:p>
            <a:r>
              <a:t>CNPJ 63953620000165 · Duração e público-alvo · Versão e prevalência: Documentos atuais selecionados no inventário por categoria/escopo; a data documental isolada não comprova vigência jurídica.</a:t>
            </a:r>
          </a:p>
          <a:p>
            <a:r>
              <a:t>CNPJ 63953620000165 · Duração e público-alvo · Resumo do histórico: {"count": 8, "dates": ["2026-04-28", "2026-05-08", "2026-05-15"], "document_count": 3, "sources": [{"document_id": "1327859", "title": "Demonstrações Financeiras - Fusão, cisão e incorporação", "reference_date": "2026-05-15", "version": "1", "page": 9, "url": "https://fnet.bmfbovespa.com.br/fnet/publico/visualizarDocumento?id=1327859", "sha256": "dca1c68babb97f887528c3e2e47596a9c30f507b067981a35655b2f2da9c8054"}, {"document_id": "1298691", "title": "Demonstrações Financeiras - Fusão, cisão e incorporação", "reference_date": "2026-05-08", "version": "1", "page": 9, "url": "https://fnet.bmfbovespa.com.br/fnet/publico/visualizarDocumento?id=1298691", "sha256": "58c570d9b8d4d265330d3db3ea81c435b8e44a6dab4002aa37790652a1ee9819"}, {"document_id": "1282180", "title": "Demonstrações Financeiras - Fusão, cisão e incorporação", "reference_date": "2026-04-28", "version": "1", "page": 9, "url": "https://fnet.bmfbovespa.com.br/fnet/publico/visualizarDocumento?id=1282180", "sha256": "afaaa0e6809be4385e5bdb6c911aac582032c5bdbac3d7750234bf9eaf00438a"}], "reference": {"path": "history/63953620000165.json", "criterion_id": "duration_investors",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Alocação e perímetro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Alocação mínima · Base da comparação IME: {"criterion_id": "allocation", "observed_value": 91.84981349574433, "unit": "percent", "competence": "08/2026", "status": "not_comparable", "reason": "Vigência efetiva não comprovada; data do documento isolada não certifica enquadramento histórico.", "formula": "credit_rights / net_asset_value × 100",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50.0}</a:t>
            </a:r>
          </a:p>
          <a:p>
            <a:r>
              <a:t>CNPJ 54871427000194 · Alocação mínima · Regulamento · ID 670691 · 28/04/2024 · versão Regulamento — referência 28/04/2024 · p. 11 · Anexo I, 4.9 · https://fnet.bmfbovespa.com.br/fnet/publico/visualizarDocumento?id=670691</a:t>
            </a:r>
          </a:p>
          <a:p>
            <a:r>
              <a:t>CNPJ 54871427000194 · Alocação mínima · Excerto da fonte:</a:t>
            </a:r>
          </a:p>
          <a:p>
            <a:r>
              <a:t>4.9 Decorridos 180 (cento e oitenta) dias da Data da 1ª Integralização de Cotas, a Classe deverá manter alocado, no mínimo, 50% (cinquenta por cento) do seu Patrimônio Líquido em Direitos Creditórios . 4.10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4.11 A Classe poderá, direta ou indiretamente e, nos termos da legislação aplicável: (i) adquirir Direitos Creditórios que sejam cedidos e/ou originados pelo ADMINISTRADOR e/ou pelo GESTOR, ou partes a eles relacionadas, tal como definidas pelas regras contábeis que tratam desse assunto; e (ii) ceder Direitos Creditórios a qualquer das pessoas, fundos de investimento ou entidades referidas n</a:t>
            </a:r>
          </a:p>
          <a:p>
            <a:r>
              <a:t>CNPJ 54871427000194 · Alocação mínima · Mecânica: {"operator": "&gt;=", "limit": 50.0, "unit": "percent", "numerator": "credit_rights", "denominator": "net_asset_value", "frequency": "daily", "layer": "54871427000194", "document_date": "2024-04-28", "effective_status": "document_date_only", "initial_days": 180}</a:t>
            </a:r>
          </a:p>
          <a:p>
            <a:r>
              <a:t>CNPJ 54871427000194 · Alocação mínima · Versão e prevalência: Leitura específica das cláusulas indicadas; condições e conflitos preservados. Seleção documental atual não comprova vigência jurídica por data isolada.</a:t>
            </a:r>
          </a:p>
          <a:p>
            <a:r>
              <a:t>CNPJ 54871427000194 · Alocação mínima · Resumo do histórico: {"count": 2, "dates": ["2024-04-19", "2024-04-28"], "document_count": 2, "sources": [{"document_id": "670691", "title": "Regulamento", "reference_date": "2024-04-28", "version": "1", "page": "11", "url": "https://fnet.bmfbovespa.com.br/fnet/publico/visualizarDocumento?id=670691", "sha256": "bf16dd7f1a62d5cdbf2e2d54fef81783783f7310fbc99c3a8f00459bdf9d037b"}, {"document_id": "670689", "title": "Regulamento", "reference_date": "2024-04-19", "version": "1", "page": 11, "clause": "4.9", "url": "https://fnet.bmfbovespa.com.br/fnet/publico/visualizarDocumento?id=670689", "sha256": "891bc9bc5d87bbc02ec139077a84d2702eb81ea02035fb71d24f5b8366b94a0b"}], "reference": {"path": "history/54871427000194.json", "criterion_id": "allocation", "total_count": 2, "preview_count": 2, "full_text_deferred": true, "sha256": "35d7cd99be50c7287c9fb675cf4f2e736002315295a225a9efa79c8d9186d874"}}</a:t>
            </a:r>
          </a:p>
          <a:p>
            <a:r>
              <a:t>CNPJ 60010416000112 · Alocação mínima · Base da comparação IME: {"criterion_id": "allocation", "observed_value": 117.78665480900618, "unit": "percent", "competence": "08/2026", "status": "not_comparable", "reason": "Vigência efetiva não comprovada; data do documento isolada não certifica enquadramento histórico.", "formula": "credit_rights / net_asset_value × 100",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50.0}</a:t>
            </a:r>
          </a:p>
          <a:p>
            <a:r>
              <a:t>CNPJ 60010416000112 · Alocação mínima · Regulamento · ID 1051393 · 09/10/2025 · versão Regulamento09/10/2025 · p. 11 · AnexoI4.6 · https://fnet.bmfbovespa.com.br/fnet/publico/visualizarDocumento?id=1051393</a:t>
            </a:r>
          </a:p>
          <a:p>
            <a:r>
              <a:t>CNPJ 60010416000112 · Alocação mínima · Excerto da fonte:</a:t>
            </a:r>
          </a:p>
          <a:p>
            <a:r>
              <a:t>4.6 Decorridos 180 (cento e oitenta) dias do início de suas atividades, a Classe deverá manter alocado, no mínimo: para f ins tributários, 67% (sessenta e sete por cento) do seu Patrimônio Líquido em Direitos Creditórios, nos termos da Resolução CMN 5.111; e para fins regulatórios, 50% (cinquenta por cento) do seu Patrimônio Líquido em Direitos Creditórios, nos termos da Resolução CVM 175. BTG Pactual SAC: 0800 772 28 27 - Ouvidoria: 0800 722 00 48 - btgpactual.com 11</a:t>
            </a:r>
          </a:p>
          <a:p>
            <a:r>
              <a:t>CNPJ 60010416000112 · Alocação mínima · Mecânica: {"operator": "&gt;=", "unit": "percent", "denominator": "net_asset_value", "frequency": "not_stated", "layer": "class", "effective_status": "document_date_only", "document_date": "2025-10-09", "numerator": "credit_rights", "limit": 50.0, "requires_initial_date": true}</a:t>
            </a:r>
          </a:p>
          <a:p>
            <a:r>
              <a:t>CNPJ 60010416000112 · Alocação mínima · Versão e prevalência: Leitura específica das cláusulas indicadas; condições e conflitos preservados. Seleção documental atual não comprova vigência jurídica por data isolada.</a:t>
            </a:r>
          </a:p>
          <a:p>
            <a:r>
              <a:t>CNPJ 60010416000112 · Alocação mínima · Resumo do histórico: {"count": 2, "dates": ["2025-03-20", "2025-10-09"], "document_count": 2, "sources": [{"document_id": "1051393", "title": "Regulamento", "reference_date": "2025-10-09", "version": "1", "page": "11", "url": "https://fnet.bmfbovespa.com.br/fnet/publico/visualizarDocumento?id=1051393", "sha256": "8469d613078ffd5a6c1d217885d8a397a16342c0b937ae4aa24b106505f233ae"}, {"document_id": "993786", "title": "Regulamento", "reference_date": "2025-03-20", "version": "1", "page": 6, "clause": "5.3", "url": "https://fnet.bmfbovespa.com.br/fnet/publico/visualizarDocumento?id=993786", "sha256": "fd0fdd369a195510d81f81f505195a0b09e5f43522a990afa7d58c4f872921c8"}], "reference": {"path": "history/60010416000112.json", "criterion_id": "allocation", "total_count": 2, "preview_count": 2, "full_text_deferred": true, "sha256": "8e2bd813f4c51cf01f6bfaad164bafe69d2bbb192f753eac92da3a01c2e63046"}}</a:t>
            </a:r>
          </a:p>
          <a:p>
            <a:r>
              <a:t>CNPJ 62696791000193 · Alocação mínima · Base da comparação IME: {"criterion_id": "allocation", "observed_value": null, "unit": "percent", "competence": "08/2026", "status": "not_comparable", "reason": "Operador, unidade, numerador ou base contratual sem correspondência exata no IME; proxies de PL/ativos não são intercambiáveis. CPR declarada no FIAGRO não comprova elegibilidade individual nem correspondência integral com a definição contratual de direitos creditórios do agronegócio.",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51.0, "comparison_required": true, "context_value": 99.72659520720684, "context_unit": "percent", "context_formula": "CPR / PL (rubrica declarada no FIAGRO)"}</a:t>
            </a:r>
          </a:p>
          <a:p>
            <a:r>
              <a:t>CNPJ 62696791000193 · Alocação mínima · Regulamento · ID 1143317 · 20/03/2026 · versão Regulamento — referência 20/03/2026 · p. 10 · Anexo I, 4.2 · https://fnet.bmfbovespa.com.br/fnet/publico/visualizarDocumento?id=1143317</a:t>
            </a:r>
          </a:p>
          <a:p>
            <a:r>
              <a:t>CNPJ 62696791000193 · Alocação mínima · Excerto da fonte:</a:t>
            </a:r>
          </a:p>
          <a:p>
            <a:r>
              <a:t>4.2 Decorridos 180 (cento e oitenta) dias do início de suas atividades, a Classe deverá possuir parcela mínima de 51% (cinquenta e um por cento) de seu Patrimônio Líquido representados por Direitos Creditórios do Agronegócio, enquanto a parcela de 49% (quarenta e nove por cento) remanescente deverá ser alocada em Outros Ativos ou Ativos Financeiros de Liquidez. 4.3 Os Direitos Creditórios do Agronegócio serão adquiridos integral ou parcialmente, sempre de acordo com a Política de Investimentos. 4.4 Tendo em vista (i) a natureza variada dos Direitos Creditórios do Agronegócio passíveis de aquisição pela Classe; (ii) a amplitude da Política de Investimentos; e (iii) a potencial diversificação de Cedentes/Endossantes e Devedores, não é possível precisar os processos de origem dos Direitos Creditórios do Agronegócio e as políticas de concessão de crédito adotadas pelos Cedentes/Endossantes. 4.5 Os Direitos Creditórios do Agronegócio deverão contar com toda a documentação necessária para o exercício das prerrogativas decorrentes da titularidade dos ativos, e capaz de comprovar a origem, a existência e a exigibilidade dos Direitos Creditórios do Agronegócio (“Documentos Comprobatórios”)</a:t>
            </a:r>
          </a:p>
          <a:p>
            <a:r>
              <a:t>CNPJ 62696791000193 · Alocação mínima · AGE · ID 1143319 · 20/03/2026 10:00 · versão AGE — referência 20/03/2026 10:00 · p. 3 · AGC 20/03/2026, 4.1(j)–(k) · https://fnet.bmfbovespa.com.br/fnet/publico/visualizarDocumento?id=1143319</a:t>
            </a:r>
          </a:p>
          <a:p>
            <a:r>
              <a:t>CNPJ 62696791000193 · Alocação mínima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Alocação mínima · Condição: Vigente a partir do fechamento de 23/03/2026. O agregado genérico de direitos do IME não comprova, sozinho, a natureza agronegócio de todos os ativos nem a conclusão da carência inicial.</a:t>
            </a:r>
          </a:p>
          <a:p>
            <a:r>
              <a:t>CNPJ 62696791000193 · Alocação mínima · Mecânica: {"operator": "&gt;=", "limit": 51.0, "unit": "percent", "numerator": "agribusiness_credit_rights", "denominator": "net_asset_value", "frequency": "daily", "layer": "62696791000193", "effective_from": "2026-03-23", "effective_status": "explicit_assembly_effective_date", "initial_days": 180, "initial_date": null}</a:t>
            </a:r>
          </a:p>
          <a:p>
            <a:r>
              <a:t>CNPJ 62696791000193 · Alocação mínima · Versão e prevalência: Leitura específica das cláusulas indicadas; condições e conflitos preservados. Seleção documental atual não comprova vigência jurídica por data isolada.</a:t>
            </a:r>
          </a:p>
          <a:p>
            <a:r>
              <a:t>CNPJ 55563624000109 · Alocação mínima · Base da comparação IME: {"criterion_id": "allocation", "observed_value": 99.87020304792446, "unit": "percent", "competence": "08/2026", "status": "not_comparable", "reason": "Vigência efetiva não comprovada; data do documento isolada não certifica enquadramento histórico.", "formula": "fidc_quotas / net_asset_value × 100",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67.0}</a:t>
            </a:r>
          </a:p>
          <a:p>
            <a:r>
              <a:t>CNPJ 55563624000109 · Alocação mínima · Regulamento · ID 1192614 · 30/04/2026 · versão Regulamento30/04/2026 · p. 13 · AnexoI4.10 · https://fnet.bmfbovespa.com.br/fnet/publico/visualizarDocumento?id=1192614</a:t>
            </a:r>
          </a:p>
          <a:p>
            <a:r>
              <a:t>CNPJ 55563624000109 · Alocação mínima · Excerto da fonte:</a:t>
            </a:r>
          </a:p>
          <a:p>
            <a:r>
              <a:t>4.10 Decorridos 180 (cento e oitenta) dias da Data da 1ª Integralização da Classe, a Classe deverá manter alocado, no mínimo, 67% (sessenta e sete por cento) do seu Patrimônio Líquido em Cotas da Classe Investida. 4.11 Nos termos dos artigos 45, parágrafo 7º, e 47 parágrafo único do Anexo Normativo II à Resolução CVM 175, uma vez que as Cotas são destinadas exclusivamente a Investidores Profissionais, a Classe poderá ter até 100% (cem por cento) de seu Patrimônio Líquido alocado em Cotas da Classe Investida, as quais são emitidas pela Classe Investida.</a:t>
            </a:r>
          </a:p>
          <a:p>
            <a:r>
              <a:t>CNPJ 55563624000109 · Alocação mínima · Regulamento · ID 1192614 · 30/04/2026 · versão Regulamento30/04/2026 · p. 12 · AnexoI4.9 · https://fnet.bmfbovespa.com.br/fnet/publico/visualizarDocumento?id=1192614</a:t>
            </a:r>
          </a:p>
          <a:p>
            <a:r>
              <a:t>CNPJ 55563624000109 · Alocação mínima · Excerto da fonte:</a:t>
            </a:r>
          </a:p>
          <a:p>
            <a:r>
              <a:t>4.9 A parcela do Patrimônio Líquido que não estiver alocada em Cotas da Classe Investida será necessariamente alocada em Ativos Financeiros de Liquidez. BTG Pactual SAC: 0800 772 28 27 - Ouvidoria: 0800 722 00 48 - btgpactual.com 5</a:t>
            </a:r>
          </a:p>
          <a:p>
            <a:r>
              <a:t>CNPJ 55563624000109 · Alocação mínima · Mecânica: {"operator": "&gt;=", "limit": 67.0, "unit": "percent", "numerator": "fidc_quotas", "denominator": "net_asset_value", "frequency": "not_stated", "layer": "class", "effective_status": "document_date_only", "document_date": "2026-04-30", "requires_initial_date": true}</a:t>
            </a:r>
          </a:p>
          <a:p>
            <a:r>
              <a:t>CNPJ 55563624000109 · Alocação mínima · Versão e prevalência: Leitura específica das cláusulas indicadas; condições e conflitos preservados. Seleção documental atual não comprova vigência jurídica por data isolada.</a:t>
            </a:r>
          </a:p>
          <a:p>
            <a:r>
              <a:t>CNPJ 55563624000109 · Alocação mínima · Resumo do histórico: {"count": 1, "dates": ["2026-04-30"], "document_count": 1, "sources": [{"document_id": "1192614", "title": "Regulamento", "reference_date": "2026-04-30", "version": "1", "page": "11-13", "url": "https://fnet.bmfbovespa.com.br/fnet/publico/visualizarDocumento?id=1192614", "sha256": "f56e63ace0acde41d2f47fb48f1ac7f3f7df5e2d32de092d7c5e075a52516632"}], "reference": {"path": "history/55563624000109.json", "criterion_id": "allocation", "total_count": 1, "preview_count": 1, "full_text_deferred": true, "sha256": "7835d573fb58a3c19adf5b8ecc2aee2bdbb9a88f7a0c0209b5f262b64c7522e3"}}</a:t>
            </a:r>
          </a:p>
          <a:p>
            <a:r>
              <a:t>CNPJ 62552447000120 · Alocação mínima · Base da comparação IME: {"criterion_id": "allocation", "observed_value": 104.36099466414683, "unit": "percent", "competence": "08/2026", "status": "not_comparable", "reason": "Vigência efetiva não comprovada; data do documento isolada não certifica enquadramento histórico.", "formula": "credit_rights / net_asset_value × 100",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50.0}</a:t>
            </a:r>
          </a:p>
          <a:p>
            <a:r>
              <a:t>CNPJ 62552447000120 · Alocação mínima · Regulamento · ID 1200623 · 21/05/2026 · versão Consolidado21/05/2026 aprovado pelo ato1200625 · p. 14 · AnexoI4.9 · https://fnet.bmfbovespa.com.br/fnet/publico/visualizarDocumento?id=1200623</a:t>
            </a:r>
          </a:p>
          <a:p>
            <a:r>
              <a:t>CNPJ 62552447000120 · Alocação mínima · Excerto da fonte:</a:t>
            </a:r>
          </a:p>
          <a:p>
            <a:r>
              <a:t>4.9 Decorridos 180 (cento e oitenta) dias da Data da Primeira Integralização, a Classe deverá manter alocados em Direitos Creditórios, no mínimo, para fins tributários, 67% (sessenta e sete por cento) do seu Patrimônio Líquido, nos termos da Lei 14.754 e da Resolução CMN 5.111, e, para fins regulatórios, 50% (cinquenta por cento) do seu Patrimônio Líquido, nos termos da Resolução CVM 175. Eventual desenquadramento da Carteira obrigará o Gestor aos procedimentos de desenquadramento e reenquadramento previstos na Lei 14.754 e na Resolução CMN 5.111, para f ins tributários, e na Resolução CVM 175, par</a:t>
            </a:r>
          </a:p>
          <a:p>
            <a:r>
              <a:t>CNPJ 62552447000120 · Alocação mínima · Mecânica: {"operator": "&gt;=", "unit": "percent", "numerator": "credit_rights", "denominator": "net_asset_value", "frequency": "not_stated", "layer": "class", "effective_status": "document_date_only", "document_date": "2026-05-21", "requires_initial_date": true, "limit": 50.0}</a:t>
            </a:r>
          </a:p>
          <a:p>
            <a:r>
              <a:t>CNPJ 62552447000120 · Alocação mínima · Versão e prevalência: Leitura específica das cláusulas indicadas; condições e conflitos preservados. Seleção documental atual não comprova vigência jurídica por data isolada.</a:t>
            </a:r>
          </a:p>
          <a:p>
            <a:r>
              <a:t>CNPJ 63953620000165 · Alocação mínima · Base da comparação IME: {"criterion_id": "allocation", "observed_value": 93.29241106598856, "unit": "percent", "competence": "08/2026", "status": "not_comparable", "reason": "Vigência efetiva não comprovada; data do documento isolada não certifica enquadramento histórico.", "formula": "credit_rights / net_asset_value × 100",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50.0}</a:t>
            </a:r>
          </a:p>
          <a:p>
            <a:r>
              <a:t>CNPJ 63953620000165 · Alocação mínima · Anexo ao Regulamento · ID 1222863 · 02/06/2026 · versão AnexoConsignadoPrivado02/06/2026 · p. 6 · 4.13 · https://fnet.bmfbovespa.com.br/fnet/publico/visualizarDocumento?id=1222863</a:t>
            </a:r>
          </a:p>
          <a:p>
            <a:r>
              <a:t>CNPJ 63953620000165 · Alocação mínima · Excerto da fonte:</a:t>
            </a:r>
          </a:p>
          <a:p>
            <a:r>
              <a:t>4.13 Decorridos 180 (cento e oitenta) dias do início de suas atividades, a Classe deverá manter alocado, no mínimo, para fins tributários, 67% (sessenta e sete por cento) do seu Patrimônio Líquido em Direitos Creditórios, nos termos da Resolução CMN 5.111, e para fins regulatórios, 50% (cinquenta por cento) do seu Patrimônio Líquido em Direitos Creditórios, nos termos da Resolução CVM 175. 4.14 Nos termos do Art. 45, §7º, inciso II, do Anexo Normativo II da Resolução CVM 175, a Classe poderá ter até 100% (cem por cento) de seu Patrimônio Líquido alocado em Direitos Creditórios, derivativos, observado o disposto nest</a:t>
            </a:r>
          </a:p>
          <a:p>
            <a:r>
              <a:t>CNPJ 63953620000165 · Alocação mínima · Mecânica: {"operator": "&gt;=", "unit": "percent", "denominator": "net_asset_value", "frequency": "not_stated", "layer": "class", "effective_status": "document_date_only", "document_date": "2026-06-02", "limit": 50.0, "numerator": "credit_rights", "requires_initial_date": true}</a:t>
            </a:r>
          </a:p>
          <a:p>
            <a:r>
              <a:t>CNPJ 63953620000165 · Alocação mínima · Versão e prevalência: Leitura específica das cláusulas indicadas; condições e conflitos preservados. Seleção documental atual não comprova vigência jurídica por data isolada.</a:t>
            </a:r>
          </a:p>
          <a:p>
            <a:r>
              <a:t>CNPJ 54871427000194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null, "comparison_required": true, "context_formula": "Direitos creditórios / PL", "context_value": 91.84981349574433, "context_unit": "percent"}</a:t>
            </a:r>
          </a:p>
          <a:p>
            <a:r>
              <a:t>CNPJ 54871427000194 · Alocação para tratamento tributário · Regulamento · ID 670691 · 2024-04-28 · versão 1 · p. 5 · https://fnet.bmfbovespa.com.br/fnet/publico/visualizarDocumento?id=670691</a:t>
            </a:r>
          </a:p>
          <a:p>
            <a:r>
              <a:t>CNPJ 54871427000194 · Alocação para tratamento tributário · Excerto da fonte:</a:t>
            </a:r>
          </a:p>
          <a:p>
            <a:r>
              <a:t>Os rendimentos auf eridos pelo cotista do FUNDO estarão sujeitos à tributação pelo IR, à alíquota de  15% (quinze por cento), na data da distribuição de rendimentos ou d a amortização de cotas,  considerando que o FUNDO seja classificado como entidade de investimento e cumpra os critérios de  composição da carteira com, no mínimo, 67% (sessenta e sete por cento) de direitos creditórios de  acordo com a Lei nº 14.754, de 12 de dezembro de 2023 (“Lei 14.754”) e a Resolução do Conselho  Monetário Nacional nº 5.111, de 21 de dezembro de 2023 (“Resolução CMN 5.111”).</a:t>
            </a:r>
          </a:p>
          <a:p>
            <a:r>
              <a:t>CNPJ 54871427000194 · Alocação para tratamento tributário · Regulamento · ID 670691 · 2024-04-28 · versão 1 · p. 5 · https://fnet.bmfbovespa.com.br/fnet/publico/visualizarDocumento?id=670691</a:t>
            </a:r>
          </a:p>
          <a:p>
            <a:r>
              <a:t>CNPJ 54871427000194 · Alocação para tratamento tributário · Excerto da fonte:</a:t>
            </a:r>
          </a:p>
          <a:p>
            <a:r>
              <a:t>A GESTORA do FUNDO buscará manter o cumprimento do requisito de composição da carteira do  FUNDO com, no mínimo 67% (sessenta e sete por cento) em direitos creditórios acima comentados.</a:t>
            </a:r>
          </a:p>
          <a:p>
            <a:r>
              <a:t> Todavia, caso a composição mínima do patrimônio líquido do FUNDO não seja atingida e ocorra o  ef etivo desenquadramento tributário da carteira, os cotistas pessoa f ísica ou jurídica residentes no  Brasil passarão a se sujeitar à regra geral de tributação de fundos, conforme previsto no art. 17 da Lei</a:t>
            </a:r>
          </a:p>
          <a:p>
            <a:r>
              <a:t> 14.754, segundo a qual: (1) haverá incidência periódica de IR todo mês de maio e novembro de cada  ano-calendário sobre os rendimentos auferidos pelo cotista em relação ao investimento nas cotas do  FUNDO, à alíquota de 15% (quinze por cento) ou 20% (vinte por cento), a depender da carteira do  FUNDO ser classificada, respectivamente, como de curto ou longo prazo; e (2) haverá incidência de IR  complementar, conforme alíquotas regressivas que variam de 22,5% (vinte e dois e meio por cento) a  15% (quinze por cento) a depender do prazo de aplicação, por ocasião da amortização ou liquidação  das Cotas do FUNDO. Certos tipos de investidor podem se benef iciar de alíquotas dif erenciadas.</a:t>
            </a:r>
          </a:p>
          <a:p>
            <a:r>
              <a:t>CNPJ 54871427000194 · Alocação para tratamento tributário · Condição: Documentos atuais selecionados no inventário por categoria/escopo; a data documental isolada não comprova vigência jurídica.</a:t>
            </a:r>
          </a:p>
          <a:p>
            <a:r>
              <a:t>CNPJ 54871427000194 · Alocação para tratamento tributário · Versão e prevalência: Documentos atuais selecionados no inventário por categoria/escopo; a data documental isolada não comprova vigência jurídica.</a:t>
            </a:r>
          </a:p>
          <a:p>
            <a:r>
              <a:t>CNPJ 54871427000194 · Alocação para tratamento tributário · Resumo do histórico: {"count": 1, "dates": ["2024-04-19"], "document_count": 1, "sources": [{"document_id": "670689", "title": "Regulamento", "reference_date": "2024-04-19", "version": "1", "page": 5, "url": "https://fnet.bmfbovespa.com.br/fnet/publico/visualizarDocumento?id=670689", "sha256": "891bc9bc5d87bbc02ec139077a84d2702eb81ea02035fb71d24f5b8366b94a0b"}], "reference": {"path": "history/54871427000194.json", "criterion_id": "tax_allocation", "total_count": 1, "preview_count": 1, "full_text_deferred": true, "sha256": "35d7cd99be50c7287c9fb675cf4f2e736002315295a225a9efa79c8d9186d874"}}</a:t>
            </a:r>
          </a:p>
          <a:p>
            <a:r>
              <a:t>CNPJ 60010416000112 · Alocação para tratamento tributário · Base da comparação IME: {"criterion_id": "tax_allocation", "observed_value": 117.78665480900618, "unit": "percent", "competence": "08/2026", "status": "not_comparable", "reason": "Vigência efetiva não comprovada; data do documento isolada não certifica enquadramento histórico.", "formula": "credit_rights / net_asset_value × 100",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67.0}</a:t>
            </a:r>
          </a:p>
          <a:p>
            <a:r>
              <a:t>CNPJ 60010416000112 · Alocação para tratamento tributário · Regulamento · ID 1051393 · 09/10/2025 · versão Regulamento09/10/2025 · p. 11 · AnexoI4.6 · https://fnet.bmfbovespa.com.br/fnet/publico/visualizarDocumento?id=1051393</a:t>
            </a:r>
          </a:p>
          <a:p>
            <a:r>
              <a:t>CNPJ 60010416000112 · Alocação para tratamento tributário · Excerto da fonte:</a:t>
            </a:r>
          </a:p>
          <a:p>
            <a:r>
              <a:t>4.6 Decorridos 180 (cento e oitenta) dias do início de suas atividades, a Classe deverá manter alocado, no mínimo: para f ins tributários, 67% (sessenta e sete por cento) do seu Patrimônio Líquido em Direitos Creditórios, nos termos da Resolução CMN 5.111; e para fins regulatórios, 50% (cinquenta por cento) do seu Patrimônio Líquido em Direitos Creditórios, nos termos da Resolução CVM 175. BTG Pactual SAC: 0800 772 28 27 - Ouvidoria: 0800 722 00 48 - btgpactual.com 11</a:t>
            </a:r>
          </a:p>
          <a:p>
            <a:r>
              <a:t>CNPJ 60010416000112 · Alocação para tratamento tributário · Mecânica: {"operator": "&gt;=", "unit": "percent", "denominator": "net_asset_value", "frequency": "not_stated", "layer": "class", "effective_status": "document_date_only", "document_date": "2025-10-09", "numerator": "credit_rights", "limit": 67.0, "requires_initial_date": true}</a:t>
            </a:r>
          </a:p>
          <a:p>
            <a:r>
              <a:t>CNPJ 60010416000112 · Alocação para tratamento tributário · Versão e prevalência: Leitura específica das cláusulas indicadas; condições e conflitos preservados. Seleção documental atual não comprova vigência jurídica por data isolada.</a:t>
            </a:r>
          </a:p>
          <a:p>
            <a:r>
              <a:t>CNPJ 60010416000112 · Alocação para tratamento tributário · Resumo do histórico: {"count": 1, "dates": ["2025-03-20"], "document_count": 1, "sources": [{"document_id": "993786", "title": "Regulamento", "reference_date": "2025-03-20", "version": "1", "page": 6, "clause": "5.3", "url": "https://fnet.bmfbovespa.com.br/fnet/publico/visualizarDocumento?id=993786", "sha256": "fd0fdd369a195510d81f81f505195a0b09e5f43522a990afa7d58c4f872921c8"}], "reference": {"path": "history/60010416000112.json", "criterion_id": "tax_allocation", "total_count": 1, "preview_count": 1, "full_text_deferred": true, "sha256": "8e2bd813f4c51cf01f6bfaad164bafe69d2bbb192f753eac92da3a01c2e63046"}}</a:t>
            </a:r>
          </a:p>
          <a:p>
            <a:r>
              <a:t>CNPJ 62696791000193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null, "comparison_required": true, "context_formula": "Direitos creditórios / PL", "context_value": null, "context_unit": "percent"}</a:t>
            </a:r>
          </a:p>
          <a:p>
            <a:r>
              <a:t>CNPJ 62696791000193 · Alocação para tratamento tributário · Regulamento · ID 1143317 · 2026-03-20 · versão 1 · p. 30 · https://fnet.bmfbovespa.com.br/fnet/publico/visualizarDocumento?id=1143317</a:t>
            </a:r>
          </a:p>
          <a:p>
            <a:r>
              <a:t>CNPJ 62696791000193 · Alocação para tratamento tributário · Excerto da fonte:</a:t>
            </a:r>
          </a:p>
          <a:p>
            <a:r>
              <a:t>Os rendimentos distribuídos pela Classe, de modo geral, sujeitam-se à incidência do IRF à alíquota  de 20% (vinte por cento), inclusive quando distribuídos à Cotista que seja pessoa jurídica isenta.</a:t>
            </a:r>
          </a:p>
          <a:p>
            <a:r>
              <a:t> Os ganhos de capital ou rendimentos auf eridos na alienação ou no resgate de cotas da Classe  sujeitam-se à tributação pelo IRF à alíquota de 20% (vinte por cento), no caso de resgate de cotas,  ou conforme normas aplicáveis aos ganhos de capital ou ganhos líquidos auf eridos em renda  variável, nos casos de alienação de cotas.</a:t>
            </a:r>
          </a:p>
          <a:p>
            <a:r>
              <a:t> O IRF pago será considerado: (i) antecipação da tributação corporativa para os investidores pessoa  jurídica (nos regimes de lucro real, presumido ou arbitrado); e (ii) def initivo, nos demais casos,  incluindo de investidores pessoas f ísicas.</a:t>
            </a:r>
          </a:p>
          <a:p>
            <a:r>
              <a:t> Não obstante o disposto no item acima, em conf ormidade com o disposto na Lei 11.033, com a  redação dada pela Lei nº 14.754, o cotista pessoa f ísica f icará isento do IRF e na declaração de  ajuste anual, sobre as distribuições de lucro realizadas pela Classe, exclusivamente na hipótese de  a Classe, cumulativamente: (a) possuir, no mínimo, 100 (cem) cotistas; e (b) as cotas serem  admitidas à negociação exclusivamente em bolsas de valores ou no mercado de balcão organizado.</a:t>
            </a:r>
          </a:p>
          <a:p>
            <a:r>
              <a:t> O benef ício não será concedido ao Cotista que for pessoa física, titular de cotas que representem  10% (dez por cento) ou mais da totalidade das cotas emitidas pela Classe ou cujas cotas lhe derem  direito ao recebimento de rendimento superior a 10% (dez por cento) do total de rendimentos  auf eridos pela Classe.</a:t>
            </a:r>
          </a:p>
          <a:p>
            <a:r>
              <a:t> O benef ício também não será concedido aos Cotistas pessoas físicas que, individualmente ou em  conjunto com parentes até segundo grau, sejam titulares de cotas que representem 30% (trinta por  cento) ou mais da totalidade das cotas emitidas pela Classe, ou ainda cujas cotas lhes derem direito  ao recebimento de rendimento superior a 30% (trinta por cento) do total de rendimentos auf eridos  pela Classe.</a:t>
            </a:r>
          </a:p>
          <a:p>
            <a:r>
              <a:t> Não há garantia de que o benef ício f iscal atualmente vigente não venha a ser posteriormente  restringido, suspenso, revogado ou extinto por legislação superveniente, ocasião na qual poderá vir  a incidir a tributação sobre os rendimentos distribuídos pela Classe, de acordo com os termos da  legislação que vier a estabelecer a incidência tributária.</a:t>
            </a:r>
          </a:p>
          <a:p>
            <a:r>
              <a:t>CNPJ 62696791000193 · Alocação para tratamento tributário · Condição: Documentos atuais selecionados no inventário por categoria/escopo; a data documental isolada não comprova vigência jurídica.</a:t>
            </a:r>
          </a:p>
          <a:p>
            <a:r>
              <a:t>CNPJ 62696791000193 · Alocação para tratamento tributário · Versão e prevalência: Documentos atuais selecionados no inventário por categoria/escopo; a data documental isolada não comprova vigência jurídica.</a:t>
            </a:r>
          </a:p>
          <a:p>
            <a:r>
              <a:t>CNPJ 55563624000109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null, "comparison_required": true, "context_formula": "Direitos creditórios / PL", "context_value": 0.0, "context_unit": "percent"}</a:t>
            </a:r>
          </a:p>
          <a:p>
            <a:r>
              <a:t>CNPJ 55563624000109 · Alocação para tratamento tributário · Regulamento · ID 1192614 · 2026-04-30 · versão 1 · p. 38 · https://fnet.bmfbovespa.com.br/fnet/publico/visualizarDocumento?id=1192614</a:t>
            </a:r>
          </a:p>
          <a:p>
            <a:r>
              <a:t>CNPJ 55563624000109 · Alocação para tratamento tributário · Excerto da fonte:</a:t>
            </a:r>
          </a:p>
          <a:p>
            <a:r>
              <a:t>(xiii) Risco de descaracterização do regime tributário aplicável à Classe. Caso (a) a Classe deixe de  cumprir com o percentual de, pelo menos, 67% (sessenta e sete por cento) do Patrimônio Líquido  aplicado em direitos creditórios, nos termos dos artigos 18, 19 e 24 da Lei 14.754, para fins de  enquadramento do FUNDO e da Classe como “Entidade de Investimento” na forma da Resolução do  CMN nº 5.111, de 21 de dezembro de 2023, conforme alterada, ou qualquer outra norma que venha  a substitui-la, sujeitando o FUNDO e a Classe ao “Regime Específico dos Fundos Não Sujeitos à  Tributação Periódica” conforme a na Seção III da Lei 14.754 ou deixe de satisfazer qualquer uma das  condições previstas na Lei 14.754, neste Anexo e/ou no Regulamento; e/ou (b) o FUNDO ou Classe  deixe de ser enquadrado como “Entidade de Investimento” na forma da Resolução do CMN nº 5.111,  de 21 de dezembro de 2023, ou demais normas do CMN e da CVM, não é possível garantir que o  FUNDO e/ou Classe continuarão a receber o tratamento tributário destinado ao “Regime Específico  dos Fundos Não Sujeitos à Tributação Periódica”, conforme definido na legislação específica.</a:t>
            </a:r>
          </a:p>
          <a:p>
            <a:r>
              <a:t>CNPJ 55563624000109 · Alocação para tratamento tributário · Regulamento · ID 1192614 · 2026-04-30 · versão 1 · p. 6 · https://fnet.bmfbovespa.com.br/fnet/publico/visualizarDocumento?id=1192614</a:t>
            </a:r>
          </a:p>
          <a:p>
            <a:r>
              <a:t>CNPJ 55563624000109 · Alocação para tratamento tributário · Excerto da fonte:</a:t>
            </a:r>
          </a:p>
          <a:p>
            <a:r>
              <a:t>No caso de Fundos de Investimento em Direitos Creditórios (FIDC) classificados como “entidade de investimento” e  cuja carteira seja composta por, no mínimo, 67% (sessenta e sete por cento) de direitos creditórios conforme definições  prescritas em regulamentação expedida pelo Conselho Monetário Nacional, os rendimentos auferidos na amortização  ou no resgate das cotas, inclusive quando decorrentes da liquidação do FUNDO, ficam sujeitos à incidência do IRF à  alíquota de 15% (quinze por cento) sobre a diferença positiva entre o valor de amortização ou resgate e o custo de  aquisição das Cotas.</a:t>
            </a:r>
          </a:p>
          <a:p>
            <a:r>
              <a:t>CNPJ 55563624000109 · Alocação para tratamento tributário · Condição: Documentos atuais selecionados no inventário por categoria/escopo; a data documental isolada não comprova vigência jurídica.</a:t>
            </a:r>
          </a:p>
          <a:p>
            <a:r>
              <a:t>CNPJ 55563624000109 · Alocação para tratamento tributário · Versão e prevalência: Documentos atuais selecionados no inventário por categoria/escopo; a data documental isolada não comprova vigência jurídica.</a:t>
            </a:r>
          </a:p>
          <a:p>
            <a:r>
              <a:t>CNPJ 55563624000109 · Alocação para tratamento tributário · Resumo do histórico: {"count": 2, "dates": ["2025-01-31", "2026-01-31"], "document_count": 2, "sources": [{"document_id": "1178840", "title": "Demonstrações Financeiras", "reference_date": "2026-01-31", "version": "1", "page": 23, "url": "https://fnet.bmfbovespa.com.br/fnet/publico/visualizarDocumento?id=1178840", "sha256": "c458e98664c5c907ddb5a05a94b120bed4e05295b2bfc420f5ba69af0a229abe"}, {"document_id": "891861", "title": "Demonstrações Financeiras", "reference_date": "2025-01-31", "version": "1", "page": 24, "url": "https://fnet.bmfbovespa.com.br/fnet/publico/visualizarDocumento?id=891861", "sha256": "e9cb9e6ddbe505fe068cfcac33605165a98313489de0d3ce6d4d238263c3f3e7"}], "reference": {"path": "history/55563624000109.json", "criterion_id": "tax_allocation", "total_count": 2, "preview_count": 2, "full_text_deferred": true, "sha256": "7835d573fb58a3c19adf5b8ecc2aee2bdbb9a88f7a0c0209b5f262b64c7522e3"}}</a:t>
            </a:r>
          </a:p>
          <a:p>
            <a:r>
              <a:t>CNPJ 62552447000120 · Alocação para tratamento tributário · Base da comparação IME: {"criterion_id": "tax_allocation", "observed_value": 104.36099466414683, "unit": "percent", "competence": "08/2026", "status": "not_comparable", "reason": "Vigência efetiva não comprovada; data do documento isolada não certifica enquadramento histórico.", "formula": "credit_rights / net_asset_value × 100",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67.0}</a:t>
            </a:r>
          </a:p>
          <a:p>
            <a:r>
              <a:t>CNPJ 62552447000120 · Alocação para tratamento tributário · Regulamento · ID 1200623 · 21/05/2026 · versão Consolidado21/05/2026 aprovado pelo ato1200625 · p. 14 · AnexoI4.9 · https://fnet.bmfbovespa.com.br/fnet/publico/visualizarDocumento?id=1200623</a:t>
            </a:r>
          </a:p>
          <a:p>
            <a:r>
              <a:t>CNPJ 62552447000120 · Alocação para tratamento tributário · Excerto da fonte:</a:t>
            </a:r>
          </a:p>
          <a:p>
            <a:r>
              <a:t>4.9 Decorridos 180 (cento e oitenta) dias da Data da Primeira Integralização, a Classe deverá manter alocados em Direitos Creditórios, no mínimo, para fins tributários, 67% (sessenta e sete por cento) do seu Patrimônio Líquido, nos termos da Lei 14.754 e da Resolução CMN 5.111, e, para fins regulatórios, 50% (cinquenta por cento) do seu Patrimônio Líquido, nos termos da Resolução CVM 175. Eventual desenquadramento da Carteira obrigará o Gestor aos procedimentos de desenquadramento e reenquadramento previstos na Lei 14.754 e na Resolução CMN 5.111, para f ins tributários, e na Resolução CVM 175, par</a:t>
            </a:r>
          </a:p>
          <a:p>
            <a:r>
              <a:t>CNPJ 62552447000120 · Alocação para tratamento tributário · Mecânica: {"operator": "&gt;=", "unit": "percent", "numerator": "credit_rights", "denominator": "net_asset_value", "frequency": "not_stated", "layer": "class", "effective_status": "document_date_only", "document_date": "2026-05-21", "requires_initial_date": true, "limit": 67.0}</a:t>
            </a:r>
          </a:p>
          <a:p>
            <a:r>
              <a:t>CNPJ 62552447000120 · Alocação para tratamento tributário · Versão e prevalência: Leitura específica das cláusulas indicadas; condições e conflitos preservados. Seleção documental atual não comprova vigência jurídica por data isolada.</a:t>
            </a:r>
          </a:p>
          <a:p>
            <a:r>
              <a:t>CNPJ 63953620000165 · Alocação para tratamento tributário · Base da comparação IME: {"criterion_id": "tax_allocation", "observed_value": 93.29241106598856, "unit": "percent", "competence": "08/2026", "status": "not_comparable", "reason": "Vigência efetiva não comprovada; data do documento isolada não certifica enquadramento histórico.", "formula": "credit_rights / net_asset_value × 100",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67.0}</a:t>
            </a:r>
          </a:p>
          <a:p>
            <a:r>
              <a:t>CNPJ 63953620000165 · Alocação para tratamento tributário · Anexo ao Regulamento · ID 1222863 · 02/06/2026 · versão AnexoConsignadoPrivado02/06/2026 · p. 6 · 4.13 · https://fnet.bmfbovespa.com.br/fnet/publico/visualizarDocumento?id=1222863</a:t>
            </a:r>
          </a:p>
          <a:p>
            <a:r>
              <a:t>CNPJ 63953620000165 · Alocação para tratamento tributário · Excerto da fonte:</a:t>
            </a:r>
          </a:p>
          <a:p>
            <a:r>
              <a:t>4.13 Decorridos 180 (cento e oitenta) dias do início de suas atividades, a Classe deverá manter alocado, no mínimo, para fins tributários, 67% (sessenta e sete por cento) do seu Patrimônio Líquido em Direitos Creditórios, nos termos da Resolução CMN 5.111, e para fins regulatórios, 50% (cinquenta por cento) do seu Patrimônio Líquido em Direitos Creditórios, nos termos da Resolução CVM 175. 4.14 Nos termos do Art. 45, §7º, inciso II, do Anexo Normativo II da Resolução CVM 175, a Classe poderá ter até 100% (cem por cento) de seu Patrimônio Líquido alocado em Direitos Creditórios, derivativos, observado o disposto nest</a:t>
            </a:r>
          </a:p>
          <a:p>
            <a:r>
              <a:t>CNPJ 63953620000165 · Alocação para tratamento tributário · Mecânica: {"operator": "&gt;=", "unit": "percent", "denominator": "net_asset_value", "frequency": "not_stated", "layer": "class", "effective_status": "document_date_only", "document_date": "2026-06-02", "limit": 67.0, "numerator": "credit_rights", "requires_initial_date": true}</a:t>
            </a:r>
          </a:p>
          <a:p>
            <a:r>
              <a:t>CNPJ 63953620000165 · Alocação para tratamento tributário · Versão e prevalência: Leitura específica das cláusulas indicadas; condições e conflitos preservados. Seleção documental atual não comprova vigência jurídica por data isolada.</a:t>
            </a:r>
          </a:p>
          <a:p>
            <a:r>
              <a:t>CNPJ 54871427000194 · Classes investidas e limites do FIC · Demonstrações Financeiras - Fusão, cisão e incorporação · ID 1219522 · 2026-02-02 · versão 1 · p. 31 · https://fnet.bmfbovespa.com.br/fnet/publico/visualizarDocumento?id=1219522</a:t>
            </a:r>
          </a:p>
          <a:p>
            <a:r>
              <a:t>CNPJ 54871427000194 · Classes investidas e limites do FIC · Excerto da fonte:</a:t>
            </a:r>
          </a:p>
          <a:p>
            <a:r>
              <a:t>xv) Risco Regulatório e Judicial. Eventuais alterações ou novas normas ou leis aplicáveis à Classe,  seus ativos e a eventuais fundos investidos, incluindo, mas não se limitando àquelas referentes  a tributos, bem como decisões judiciais ou jurisprudência aplicando as regulamentações  existentes ou interpretando novas regulamentações, podem causar um efeito adverso relevante  no preço dos ativos e/ou na performance das posições financeiras adquiridas pela Classe e/ou  pelos fundos Investidos. Ainda, nesse sentido, poderão ocorrer interferências de autoridades  governamentais e órgãos reguladores na regulação dos mercados, bem como alterações das  políticas monetária e cambial. Tais eventos poderão impactar de maneira adversa o valor das  Cotas.</a:t>
            </a:r>
          </a:p>
          <a:p>
            <a:r>
              <a:t>CNPJ 54871427000194 · Classes investidas e limites do FIC · Condição: Documentos atuais selecionados no inventário por categoria/escopo; a data documental isolada não comprova vigência jurídica.</a:t>
            </a:r>
          </a:p>
          <a:p>
            <a:r>
              <a:t>CNPJ 54871427000194 · Classes investidas e limites do FIC · Versão e prevalência: Documentos atuais selecionados no inventário por categoria/escopo; a data documental isolada não comprova vigência jurídica.</a:t>
            </a:r>
          </a:p>
          <a:p>
            <a:r>
              <a:t>CNPJ 54871427000194 · Classes investidas e limites do FIC · Resumo do histórico: {"count": 5, "dates": ["2024-12-31", "2025-01-01", "2025-12-31"], "document_count": 3, "sources": [{"document_id": "1151805", "title": "Demonstrações Financeiras", "reference_date": "2025-12-31", "version": "1", "page": 31, "url": "https://fnet.bmfbovespa.com.br/fnet/publico/visualizarDocumento?id=1151805", "sha256": "f1cea70b152968bf96ef9221b27225953cb20aeef487b2798db3c25e11b528d4"}, {"document_id": "869529", "title": "Demonstrações Financeiras", "reference_date": "2025-01-01", "version": "1", "page": 32, "url": "https://fnet.bmfbovespa.com.br/fnet/publico/visualizarDocumento?id=869529", "sha256": "9a93a9369ac8efdbc54ff8fcee3ccac3abf88edab4807b9323d3852450771b2a"}, {"document_id": "870070", "title": "Demonstrações Financeiras", "reference_date": "2024-12-31", "version": "1", "page": 32, "url": "https://fnet.bmfbovespa.com.br/fnet/publico/visualizarDocumento?id=870070", "sha256": "9a93a9369ac8efdbc54ff8fcee3ccac3abf88edab4807b9323d3852450771b2a"}], "reference": {"path": "history/54871427000194.json", "criterion_id": "investee", "total_count": 5, "preview_count": 3, "full_text_deferred": true, "sha256": "35d7cd99be50c7287c9fb675cf4f2e736002315295a225a9efa79c8d9186d874"}}</a:t>
            </a:r>
          </a:p>
          <a:p>
            <a:r>
              <a:t>CNPJ 60010416000112 · Classes investidas e limites do FIC · Motivo: Não localizada uma cláusula material para este critério nos textos identificados e processados. A ausência de resultado não comprova inexistência da regra.</a:t>
            </a:r>
          </a:p>
          <a:p>
            <a:r>
              <a:t>CNPJ 62696791000193 · Classes investidas e limites do FIC · Regulamento · ID 1143317 · 20/03/2026 · versão Regulamento — referência 20/03/2026 · p. 7 · Anexo I, 1.1, Objetivo, categoria Geral · https://fnet.bmfbovespa.com.br/fnet/publico/visualizarDocumento?id=1143317</a:t>
            </a:r>
          </a:p>
          <a:p>
            <a:r>
              <a:t>CNPJ 62696791000193 · Classes investidas e limites do FIC · Excerto da fonte:</a:t>
            </a:r>
          </a:p>
          <a:p>
            <a:r>
              <a:t>(D) Categoria “Geral” (“Ativos em Geral do Agronegócio”): (i) cotas de classes que apliquem mais de 50% (cinquenta por cento) de seu patrimônio líquido nos ativos referidos nos incisos “A” a “D” acima, o que inclui cotas de outros FIAGRO, mas não se limita a essa categoria de f undos. Os Ativos Imobiliários do Agronegócio, Participações do Agronegócio, Ativos Financeiros do Agronegócio e Ativos em Geral do Agronegócio, quando ref eridos em conjunto, os “Outros Ativos”. Não há limites máximos de aplicação por emissor ou devedor, em função de um percentual do Patrimônio Líquido. O objetivo da Classe não representa, sob qualquer hipótese, garantia da Classe ou de seus Prestadores de Serviços Essenciais e/ou da Cogestora quanto à segurança, rentabilidade e liquidez dos títu</a:t>
            </a:r>
          </a:p>
          <a:p>
            <a:r>
              <a:t>CNPJ 62696791000193 · Classes investidas e limites do FIC · Regulamento · ID 1143317 · 20/03/2026 · versão Regulamento — referência 20/03/2026 · p. 11 · Anexo I, 4.8–4.9 · https://fnet.bmfbovespa.com.br/fnet/publico/visualizarDocumento?id=1143317</a:t>
            </a:r>
          </a:p>
          <a:p>
            <a:r>
              <a:t>CNPJ 62696791000193 · Classes investidas e limites do FIC · Excerto da fonte:</a:t>
            </a:r>
          </a:p>
          <a:p>
            <a:r>
              <a:t>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relacionadas ao Gestor. 4.8.1 As aplicações em Direitos Creditórios do Agronegócio decorrentes de receitas públicas originárias ou derivadas da União, dos Estados, do Distrito Federal e dos Municípios ou de suas autarquias e f undações, assim como em Direitos Creditórios do Agronegócio cedidos ou originados por empresas controladas pelo poder público, não estão submetidas ao limite de concentração por emissor previsto no caput. 4.9 Nos termos do Art. 45 do Anexo</a:t>
            </a:r>
          </a:p>
          <a:p>
            <a:r>
              <a:t>CNPJ 62696791000193 · Classes investidas e limites do FIC · Condição: O regulamento não identifica CNPJs de classes efetivamente investidas. Permissão de investimento não comprova posição.</a:t>
            </a:r>
          </a:p>
          <a:p>
            <a:r>
              <a:t>CNPJ 62696791000193 · Classes investidas e limites do FIC · Versão e prevalência: Leitura específica das cláusulas indicadas; condições e conflitos preservados. Seleção documental atual não comprova vigência jurídica por data isolada.</a:t>
            </a:r>
          </a:p>
          <a:p>
            <a:r>
              <a:t>CNPJ 55563624000109 · Classes investidas e limites do FIC · Regulamento · ID 1192614 · 30/04/2026 · versão Regulamento30/04/2026 · p. 11 · AnexoI4.1 · https://fnet.bmfbovespa.com.br/fnet/publico/visualizarDocumento?id=1192614</a:t>
            </a:r>
          </a:p>
          <a:p>
            <a:r>
              <a:t>CNPJ 55563624000109 · Classes investidas e limites do FIC · Excerto da fonte:</a:t>
            </a:r>
          </a:p>
          <a:p>
            <a:r>
              <a:t>4.1 Observados os demais termos deste Anexo, o objetivo da Classe é investir seus recursos em (i) cotas subordinadas mezanino de emissão da classe única do MERCADO CRÉDITO II BRASIL FUNDO DE INVESTIMENTO EM DIREITOS CREDITÓRIOS NÃO PADRONIZADOS, fundo de investimento em direitos creditórios inscrito no CNPJ sob o nº 41.970.012/0001-26 (“Cotas da Classe Investida” e “Classe Investida”, respectivamente), a qual, por sua vez, aplica seus recursos preponderantemente em direitos creditórios originados pela Mercado Pago, de acordo com os termos e condições est</a:t>
            </a:r>
          </a:p>
          <a:p>
            <a:r>
              <a:t>CNPJ 55563624000109 · Classes investidas e limites do FIC · Condição: Vínculo contratual identificado; quantidade de cotas efetivamente detida exige posição do FIC. Não somar PL do FIC e do investido.</a:t>
            </a:r>
          </a:p>
          <a:p>
            <a:r>
              <a:t>CNPJ 55563624000109 · Classes investidas e limites do FIC · Versão e prevalência: Leitura específica das cláusulas indicadas; condições e conflitos preservados. Seleção documental atual não comprova vigência jurídica por data isolada.</a:t>
            </a:r>
          </a:p>
          <a:p>
            <a:r>
              <a:t>CNPJ 55563624000109 · Classes investidas e limites do FIC · Resumo do histórico: {"count": 2, "dates": ["2025-01-31", "2026-01-31"], "document_count": 2, "sources": [{"document_id": "1178840", "title": "Demonstrações Financeiras", "reference_date": "2026-01-31", "version": "1", "page": 4, "url": "https://fnet.bmfbovespa.com.br/fnet/publico/visualizarDocumento?id=1178840", "sha256": "c458e98664c5c907ddb5a05a94b120bed4e05295b2bfc420f5ba69af0a229abe"}, {"document_id": "891861", "title": "Demonstrações Financeiras", "reference_date": "2025-01-31", "version": "1", "page": 18, "url": "https://fnet.bmfbovespa.com.br/fnet/publico/visualizarDocumento?id=891861", "sha256": "e9cb9e6ddbe505fe068cfcac33605165a98313489de0d3ce6d4d238263c3f3e7"}], "reference": {"path": "history/55563624000109.json", "criterion_id": "investee", "total_count": 2, "preview_count": 2, "full_text_deferred": true, "sha256": "7835d573fb58a3c19adf5b8ecc2aee2bdbb9a88f7a0c0209b5f262b64c7522e3"}}</a:t>
            </a:r>
          </a:p>
          <a:p>
            <a:r>
              <a:t>CNPJ 62552447000120 · Classes investidas e limites do FIC · Regulamento · ID 1200623 · 2026-05-21 · versão 1 · p. 6 · https://fnet.bmfbovespa.com.br/fnet/publico/visualizarDocumento?id=1200623</a:t>
            </a:r>
          </a:p>
          <a:p>
            <a:r>
              <a:t>CNPJ 62552447000120 · Classes investidas e limites do FIC · Excerto da fonte:</a:t>
            </a:r>
          </a:p>
          <a:p>
            <a:r>
              <a:t>integrantes do conglomerado econômico de instituições  f inanceiras classificadas como S1 pelo Banco Central do  Brasil (“BACEN” e “Instituições Financeiras S1”,  respectivamente), desde que não representem títulos de  emissão ou coobrigação de instituições financeiras, bem  como cotas de f undos de investimento que invistam  preponderantemente nestes direitos, títulos e/ou valores  mobiliários; e</a:t>
            </a:r>
          </a:p>
          <a:p>
            <a:r>
              <a:t> (d) “Direitos Creditórios Refinanciamento Livre”, na forma  de CCBs originadas no âmbito de um refinanciamento, de  acordo com a política de cobrança vigente, de Direitos  Creditórios Consignado Privado e de Direitos Creditórios  FGTS, que não contem com o lastro de Consignação ou  de cessão f iduciária do Saque-Aniversário,  respectivamente; e</a:t>
            </a:r>
          </a:p>
          <a:p>
            <a:r>
              <a:t> (ii) “Ativos Financeiros”, assim entendidos como, em conjunto:</a:t>
            </a:r>
          </a:p>
          <a:p>
            <a:r>
              <a:t> (a) moeda corrente nacional;</a:t>
            </a:r>
          </a:p>
          <a:p>
            <a:r>
              <a:t> (b) títulos públicos f ederais;</a:t>
            </a:r>
          </a:p>
          <a:p>
            <a:r>
              <a:t> (c) ativos f inanceiros de renda f ixa de emissão ou  coobrigação de Instituições Financeiras S1;</a:t>
            </a:r>
          </a:p>
          <a:p>
            <a:r>
              <a:t> (d) operações compromissadas, desde que lastreadas nos  títulos mencionados nas alíneas (b) e (c) acima; e</a:t>
            </a:r>
          </a:p>
          <a:p>
            <a:r>
              <a:t> (e) cotas do BTG Pactual Tesouro Selic Fundo de  Investimento Renda Fixa Ref erenciado DI, inscrito no  CNPJ sob o nº 09.215.250/0001-13;</a:t>
            </a:r>
          </a:p>
          <a:p>
            <a:r>
              <a:t> observados todos os limites de composição e diversificação da carteira da  Classe (“Carteira”), estabelecidos neste Regulamento e na  regulamentação aplicável.</a:t>
            </a:r>
          </a:p>
          <a:p>
            <a:r>
              <a:t> O objetivo da Classe não representa, sob qualquer hipótese, promessa,  garantia ou sugestão da Classe ou de seus Prestadores de Serviços  Essenciais quanto à segurança, rentabilidade e liquidez dos títulos  componentes de sua Carteira.</a:t>
            </a:r>
          </a:p>
          <a:p>
            <a:r>
              <a:t>CNPJ 62552447000120 · Classes investidas e limites do FIC · Condição: Documentos atuais selecionados no inventário por categoria/escopo; a data documental isolada não comprova vigência jurídica.</a:t>
            </a:r>
          </a:p>
          <a:p>
            <a:r>
              <a:t>CNPJ 62552447000120 · Classes investidas e limites do FIC · Versão e prevalência: Documentos atuais selecionados no inventário por categoria/escopo; a data documental isolada não comprova vigência jurídica.</a:t>
            </a:r>
          </a:p>
          <a:p>
            <a:r>
              <a:t>CNPJ 63953620000165 · Classes investidas e limites do FIC · Motivo: Não localizada uma cláusula material para este critério nos textos identificados e processados. A ausência de resultado não comprova inexistência da regra.</a:t>
            </a:r>
          </a:p>
          <a:p>
            <a:r>
              <a:t>CNPJ 54871427000194 · Classe, subclasse e responsabilidade · Regulamento · ID 670691 · 2024-04-28 · versão 1 · p. 29 · https://fnet.bmfbovespa.com.br/fnet/publico/visualizarDocumento?id=670691</a:t>
            </a:r>
          </a:p>
          <a:p>
            <a:r>
              <a:t>CNPJ 54871427000194 · Classe, subclasse e responsabilidade · Excerto da fonte:</a:t>
            </a:r>
          </a:p>
          <a:p>
            <a:r>
              <a:t>Anexo I ao Regulamento CLASSE ÚNICA DE RESPONSABILIDADE LIMITADA DO CONSIGNADO DELTA RECEIVABLES I FUNDO DE INVESTIMENTO EM DIREITOS CREDITÓRIOS  pelo Endossante e depositados em seu conta de sua titularidade para posterior repasse à  Classe. Neste caso, a Classe poderá sofrer perdas principalmente em relação ao atraso na  regularização da titularidade e pagamento dos Direitos Creditórios.</a:t>
            </a:r>
          </a:p>
          <a:p>
            <a:r>
              <a:t> (v) Risco de pré-pagamento dos Direitos Creditórios. A ocorrência de pré-  pagamentos em relação a um ou mais Direitos Creditórios poderá ocasionar perdas à Classe.</a:t>
            </a:r>
          </a:p>
          <a:p>
            <a:r>
              <a:t> A ocorrência de pré-pagamentos (pagamento em data anterior àquela originalmente pactuada)  de Direitos Creditórios reduz o horizonte original de rendimentos esperados pela Classe de  tais Direitos Creditórios, uma vez que o pré-pagamento poderá, se assim permitido pela  documentação do Direito Creditório ou, conf orme o caso, pela legislação aplicável, ser  realizado pelo valor de emissão do Direito Creditório atualizado até a data do pré-pagamento  pela taxa de juros pactuada entre os Endossantes e os Devedores de tais Direitos Creditórios,  de modo que os juros remuneratórios incidentes desde a data da realização do pré-pagamento  até a data de vencimento do respectivo Direito Creditório deixam de ser devidos à Classe.</a:t>
            </a:r>
          </a:p>
          <a:p>
            <a:r>
              <a:t> (vi) Riscos associados aos Devedores: os Direitos Creditórios a serem cedidos à  Classe serão descontados da remuneração do Devedor, através de desconto em f olha de  pagamento ou de benefício. Nesse sentido, na ocorrência de pré-pagamento, as parcelas  serão pagas antecipadamente e a Classe deverá utilizar tais montantes no pré-pagamento dos  Direitos Creditórios. Nesta hipótese, a Classe poderá não encontrar Direitos Creditórios  disponíveis para serem adquiridos pela Classe, o que poderá afetar a rentabilidade da Classe.</a:t>
            </a:r>
          </a:p>
          <a:p>
            <a:r>
              <a:t> (vii) Risco de Competição: o mercado de empréstimos experimentou grande  expansão no Brasil nos últimos anos. Nesse contexto, a Resolução CMN nº 4.292, alterada  pela Resolução nº 4.762, de 27 de novembro de 2019, dispõe que deve ser garantido às  pessoas naturais devedoras de operações de crédito (tais como as CCB) a possibilidade de  realizarem a portabilidade destas operações para outras instituições financeiras, inclusive nos  casos em que tenham sido objeto de cessão (tais como as realizadas à Classe). Nesse  cenário, é possível que os competidores do Endossante ofereçam condições e taxas mais  vantajosas para os empréstimos pessoais com consignação em f olha de pagamento ou de  benef ícios, o que pode causar a migração de clientes da Endossante para outras instituições  f inanceiras, gerando a liquidação antecipada de parte das CCB existentes e/ou redução no  número de Direitos Creditórios cedidos. Referida competição poderá af etar os resultados da  Classe, impactando negativamente os rendimentos dos Cotistas. Ainda, a portabilidade a um  Devedor pode acarretar no recebimento de valores inf eriores aos esperados pela Classe.</a:t>
            </a:r>
          </a:p>
          <a:p>
            <a:r>
              <a:t> (viii) Insuf iciência dos Critérios de Elegibilidade. Os Critérios de Elegibilidade têm a  f inalidade de selecionar os Direitos Creditórios passíveis de aquisição pela Classe. Não  obstante tais Critérios de Elegibilidade, a solvência dos Direitos Creditórios que compõem a  Carteira depende integralmente, mas não somente, da situação econômico-financeira dos  Devedores. Dessa f orma, a observância pelo GESTOR dos Critérios de Elegibilidade não  constitui garantia de adimplência dos Devedores.</a:t>
            </a:r>
          </a:p>
          <a:p>
            <a:r>
              <a:t> Os Endossantes não necessariamente garantem a solvência dos seus respectivos Devedores.</a:t>
            </a:r>
          </a:p>
          <a:p>
            <a:r>
              <a:t> O Endossante dos Direitos Creditórios não assumirá responsabilidade pelo seu pagamento ou  pela solvência dos respectivos Devedores. A Classe sofrerá o impacto do inadimplemento dos  Direitos Creditórios vencidos e não pagos pelos respectivos Devedores.</a:t>
            </a:r>
          </a:p>
          <a:p>
            <a:r>
              <a:t> (ix) Possibilidade de aquisição de Direitos Creditórios cedidos por Endossante  e/ou devidos por Devedores cujas demonstrações financeiras não sejam auditadas. A Classe,  desde que sejam respeitados os limites de concentração previstos neste Regulamento, poderá  manter a qualquer tempo em sua Carteira, Direitos Creditórios cedidos por Endossante e/ou  devidos por Devedores cujas demonstrações f inanceiras não sejam auditadas por Auditor  Independente registrado na CVM. Nesse sentido, não haverá verificação independente sobre  tais demonstrações f inanceiras que af irme se estas representam adequadamente, em todos  os aspectos relevantes, as respectivas posições patrimoniais e f inanceiras, os resultados de  suas operações, as mutações de seus respectivos patrimônios líquidos tampouco as origens  e aplicações de seus recursos.</a:t>
            </a:r>
          </a:p>
          <a:p>
            <a:r>
              <a:t>CNPJ 54871427000194 · Classe, subclasse e responsabilidade · Regulamento · ID 670691 · 2024-04-28 · versão 1 · p. 15 · 7.2 · https://fnet.bmfbovespa.com.br/fnet/publico/visualizarDocumento?id=670691</a:t>
            </a:r>
          </a:p>
          <a:p>
            <a:r>
              <a:t>CNPJ 54871427000194 · Classe, subclasse e responsabilidade · Excerto da fonte:</a:t>
            </a:r>
          </a:p>
          <a:p>
            <a:r>
              <a:t>7.2 As amortizações de Cotas serão realizadas a qualquer tempo, a critério do GESTOR, observada a  disponibilidade de recursos da Classe Única e a ordem de alocação de recursos prevista neste Anexo  Descritivo.</a:t>
            </a:r>
          </a:p>
          <a:p>
            <a:r>
              <a:t>CNPJ 54871427000194 · Classe, subclasse e responsabilidade · Instrumento Particular de Alteração do Regulamento · ID 670690 · 2024-05-28 · versão 1 · p. 1 · https://fnet.bmfbovespa.com.br/fnet/publico/visualizarDocumento?id=670690</a:t>
            </a:r>
          </a:p>
          <a:p>
            <a:r>
              <a:t>CNPJ 54871427000194 · Classe, subclasse e responsabilidade · Excerto da fonte:</a:t>
            </a:r>
          </a:p>
          <a:p>
            <a:r>
              <a:t>ATA DA ASSEMBLEIA ESPECIAL DE COTISTAS  CLASSE ÚNICA DE RESPONSABILIDADE LIMITADA DO CONSIGNADO DELTA RECEIVABLES I  FUNDO DE INVESTIMENTO EM DIREITOS CREDITÓRIOS  CNPJ nº 54.871.427/0001-94  (“Classe Única” e “Fundo”, respectivamente)</a:t>
            </a:r>
          </a:p>
          <a:p>
            <a:r>
              <a:t>CNPJ 54871427000194 · Classe, subclasse e responsabilidade · Condição: Documentos atuais selecionados no inventário por categoria/escopo; a data documental isolada não comprova vigência jurídica.</a:t>
            </a:r>
          </a:p>
          <a:p>
            <a:r>
              <a:t>CNPJ 54871427000194 · Classe, subclasse e responsabilidade · Versão e prevalência: Documentos atuais selecionados no inventário por categoria/escopo; a data documental isolada não comprova vigência jurídica.</a:t>
            </a:r>
          </a:p>
          <a:p>
            <a:r>
              <a:t>CNPJ 54871427000194 · Classe, subclasse e responsabilidade · Resumo do histórico: {"count": 4, "dates": ["2024-04-19", "2024-04-28", "2024-05-24"], "document_count": 3, "sources": [{"document_id": "668387", "title": "Instrumento Particular de Emissão de Cotas", "reference_date": "2024-05-24", "version": "1", "page": 1, "url": "https://fnet.bmfbovespa.com.br/fnet/publico/visualizarDocumento?id=668387", "sha256": "be2913bed5f468a7399afcd27f92bac2083451584ee580b5054e9f525e68cc4a"}, {"document_id": "670691", "title": "Regulamento", "reference_date": "2024-04-28", "version": "1", "page": 29, "url": "https://fnet.bmfbovespa.com.br/fnet/publico/visualizarDocumento?id=670691", "sha256": "bf16dd7f1a62d5cdbf2e2d54fef81783783f7310fbc99c3a8f00459bdf9d037b"}, {"document_id": "670687", "title": "Instrumento Particular de Constituição/Encerramento do Fundo", "reference_date": "2024-04-19", "version": "1", "page": 1, "url": "https://fnet.bmfbovespa.com.br/fnet/publico/visualizarDocumento?id=670687", "sha256": "999f2a47d39f7022b0fcee3d16fd1db33948537b897e92c4c9e14b436bf5eb96"}], "reference": {"path": "history/54871427000194.json", "criterion_id": "perimeter", "total_count": 4, "preview_count": 3, "full_text_deferred": true, "sha256": "35d7cd99be50c7287c9fb675cf4f2e736002315295a225a9efa79c8d9186d874"}}</a:t>
            </a:r>
          </a:p>
          <a:p>
            <a:r>
              <a:t>CNPJ 60010416000112 · Classe, subclasse e responsabilidade · Regulamento · ID 1051393 · 2025-10-09 · versão 1 · p. 10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a:t>
            </a:r>
          </a:p>
          <a:p>
            <a:r>
              <a:t> (ii) o saldo dos Direitos Creditórios devidos pelo mesmo Devedor à Classe, considerando, pro  forma, o endosso pretendido, não deverá exceder R$ 100.000,00 (cem mil reais), observado  o disposto no item 4.4.1 abaixo;</a:t>
            </a:r>
          </a:p>
          <a:p>
            <a:r>
              <a:t> (iii) o prazo de vencimento das CCB representativas dos Direitos Creditórios deverá ser, no  máximo, equivalente ao prazo máximo permitido pelas leis e regulamentações aplicáveis; e</a:t>
            </a:r>
          </a:p>
          <a:p>
            <a:r>
              <a:t> (iv) os Direitos Creditórios não poderão ser devidos por Devedores que tenham acima de 64  (sessenta e quatro) anos 11 (onze) meses e 29 (vinte e nove) dias na data de emissão da  respectiva CCB.</a:t>
            </a:r>
          </a:p>
          <a:p>
            <a:r>
              <a:t>CNPJ 60010416000112 · Classe, subclasse e responsabilidade · Regulamento · ID 1051393 · 2025-10-09 · versão 1 · p. 11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  com a transf erência, à Classe, de f orma definitiva, sem coobrigação do Endossante, da plena  titularidade desse Direito Creditório, juntamente com todos os direitos, privilégios, pref erências,  prerrogativas, garantias e ações a ele relacionados, bem como correção monetária, juros e  encargos, sem prejuízo do direito da Classe (i) de exigir a recompra compulsória do respectivo  Direito Creditório, de acordo com os termos do Contrato de Endosso; ou (ii) de vender Direitos  Creditórios ao Agente de Retenção/Cobrança (opção de venda), em ambos os casos estritamente  nos termos do Contrato de Endosso.</a:t>
            </a:r>
          </a:p>
          <a:p>
            <a:r>
              <a:t>CNPJ 60010416000112 · Classe, subclasse e responsabilidade · Regulamento · ID 1051393 · 2025-10-09 · versão 1 · p. 18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a:t>
            </a:r>
          </a:p>
          <a:p>
            <a:r>
              <a:t> (ii) alterar este Anexo I e seus complementos, incluindo mas não se limitando aos Apêndices de cada  uma das subclasses;</a:t>
            </a:r>
          </a:p>
          <a:p>
            <a:r>
              <a:t> (iii) deliberar sobre substituição de Prestadores de Serviços Essenciais, observado o disposto no Art.</a:t>
            </a:r>
          </a:p>
          <a:p>
            <a:r>
              <a:t> 70, §1º da parte geral da Resolução CVM 175, quando aplicável, ou do Custodiante;</a:t>
            </a:r>
          </a:p>
          <a:p>
            <a:r>
              <a:t> (iv) deliberar sobre elevação da Taxa de Administração, inclusive na hipótese de restabelecimento de  taxa que tenha sido objeto de redução;</a:t>
            </a:r>
          </a:p>
          <a:p>
            <a:r>
              <a:t> (v) deliberar sobre incorporação, fusão, cisão total ou parcial, a transformação ou liquidação da Classe;</a:t>
            </a:r>
          </a:p>
          <a:p>
            <a:r>
              <a:t> (vi) alterações das características, vantagens, direitos e obrigações das Cotas;</a:t>
            </a:r>
          </a:p>
          <a:p>
            <a:r>
              <a:t> (vii) alterar critérios e procedimentos para Amortização e/ou resgate de Cotas mediante dação em  pagamento de Direitos Creditórios;</a:t>
            </a:r>
          </a:p>
          <a:p>
            <a:r>
              <a:t> (viii) aprovar a contratação de Agente de Retenção/Cobrança dos Direitos Creditórios Inadimplidos, bem  como decidir sobre sua substituição ou destituição;</a:t>
            </a:r>
          </a:p>
          <a:p>
            <a:r>
              <a:t> (ix) alterar a f orma de amortização do principal e dos valores acumulados relacionados às Cotas;</a:t>
            </a:r>
          </a:p>
          <a:p>
            <a:r>
              <a:t> (x) aprovar emissão de novas Cotas da Classe, em montante além do Capital Autorizado;</a:t>
            </a:r>
          </a:p>
          <a:p>
            <a:r>
              <a:t> (xi) deliberar sobre a eventual necessidade de aportes adicionais de recursos na Classe pelos Cotistas;</a:t>
            </a:r>
          </a:p>
          <a:p>
            <a:r>
              <a:t> (xii) alterações na Política de Investimentos;</a:t>
            </a:r>
          </a:p>
          <a:p>
            <a:r>
              <a:t> (xiii) alterações nos Critérios de Elegibilidade;</a:t>
            </a:r>
          </a:p>
          <a:p>
            <a:r>
              <a:t> (xiv) decidir se um Evento de Avaliação será considerado como Evento de Liquidação, sujeito a este  Regulamento;</a:t>
            </a:r>
          </a:p>
          <a:p>
            <a:r>
              <a:t> (xv) decidir, na ocorrência de qualquer Evento de Liquidação, se esse Evento de Liquidação não deverá  causar a liquidação antecipada da Classe;</a:t>
            </a:r>
          </a:p>
          <a:p>
            <a:r>
              <a:t> (xvi) plano de resolução do Patrimônio Líquido negativo da Classe, nos termos da Resolução CVM 175;</a:t>
            </a:r>
          </a:p>
          <a:p>
            <a:r>
              <a:t> (xvii)pedido de declaração judicial de insolvência da Classe; e</a:t>
            </a:r>
          </a:p>
          <a:p>
            <a:r>
              <a:t> (xviii) deliberar sobre a alteração da data de resgate e/ou prazo de duração de cada Série de Cotas  Seniores, do Benchmark, bem como de quaisquer outras características de qualquer Série de Cotas  Seniores;</a:t>
            </a:r>
          </a:p>
          <a:p>
            <a:r>
              <a:t>CNPJ 60010416000112 · Classe, subclasse e responsabilidade · Condição: Documentos atuais selecionados no inventário por categoria/escopo; a data documental isolada não comprova vigência jurídica.</a:t>
            </a:r>
          </a:p>
          <a:p>
            <a:r>
              <a:t>CNPJ 60010416000112 · Classe, subclasse e responsabilidade · Versão e prevalência: Documentos atuais selecionados no inventário por categoria/escopo; a data documental isolada não comprova vigência jurídica.</a:t>
            </a:r>
          </a:p>
          <a:p>
            <a:r>
              <a:t>CNPJ 60010416000112 · Classe, subclasse e responsabilidade · Resumo do histórico: {"count": 1, "dates": ["2025-05-12"], "document_count": 1, "sources": [{"document_id": "1004656", "title": "AGE", "reference_date": "2025-05-12", "version": "1", "page": 4, "url": "https://fnet.bmfbovespa.com.br/fnet/publico/visualizarDocumento?id=1004656", "sha256": "f6c9c009f6170e2b29f074b98522accec73f0c40efbf11f9ec2c8d3f1402616b"}], "reference": {"path": "history/60010416000112.json", "criterion_id": "perimeter", "total_count": 1, "preview_count": 1, "full_text_deferred": true, "sha256": "8e2bd813f4c51cf01f6bfaad164bafe69d2bbb192f753eac92da3a01c2e63046"}}</a:t>
            </a:r>
          </a:p>
          <a:p>
            <a:r>
              <a:t>CNPJ 62696791000193 · Classe, subclasse e responsabilidade · Regulamento · ID 1143317 · 20/03/2026 · versão Regulamento — referência 20/03/2026 · p. 9 · Anexo I, 2.1 · https://fnet.bmfbovespa.com.br/fnet/publico/visualizarDocumento?id=1143317</a:t>
            </a:r>
          </a:p>
          <a:p>
            <a:r>
              <a:t>CNPJ 62696791000193 · Classe, subclasse e responsabilidade · Excerto da fonte:</a:t>
            </a:r>
          </a:p>
          <a:p>
            <a:r>
              <a:t>2.1 A responsabilidade do Cotista está limitada ao valor por ele subscrito. 2.2 Os seguintes eventos obrigarão o Administrador a verif icar se o Patrimônio Líquido está negativo: (i) qualquer pedido de declaração judicial de insolvência de Classe; (ii) inadimplência de obrigações financeiras de devedor e/ou emissor de ativos detidos pela Classe que representem mais de 10% (dez por cento) de seu Patrimônio Líquido, naquela data de ref erência; (iii) pedido de recuperação extrajudicial, proposta de recuperação judicial, f alência, intervenção, liquidação extrajudicial e/ou regime de administração temporária de devedor e/ou emissor de ativos detidos pela Classe; e (iv) condenação da Classe, de natureza judicial e/ou arbitral e/ou administrativa e/ou outras similares, ao pagamento de mais de 10% (dez por cento) de seu Patrimônio Líquido. 2.3 Caso o Administrador verifique que o Patrimônio Líquido está negativo, ou tenha ciência de pedido de declaração judicial de insolvência da Classe ou da declaração judicial de insolvência da Classe, deverá adotar as medidas aplicáveis previstas na Resolução CVM 175. 2.4 Serão aplicáveis as disp</a:t>
            </a:r>
          </a:p>
          <a:p>
            <a:r>
              <a:t>CNPJ 62696791000193 · Classe, subclasse e responsabilidade · Regulamento · ID 1143317 · 20/03/2026 · versão Regulamento — referência 20/03/2026 · p. 18 · Anexo I, 8.8.1 · https://fnet.bmfbovespa.com.br/fnet/publico/visualizarDocumento?id=1143317</a:t>
            </a:r>
          </a:p>
          <a:p>
            <a:r>
              <a:t>CNPJ 62696791000193 · Classe, subclasse e responsabilidade · Excerto da fonte:</a:t>
            </a:r>
          </a:p>
          <a:p>
            <a:r>
              <a:t>8.8.1 As Chamadas de Capital para a realização de investimentos serão realizadas a qualquer momento durante o Período de Investimento e estarão limitadas ao valor do capital subscrito de cada Cotista. As Chamadas de Capital para o pagamento de despesas e encargos do Fundo poderão ser realizadas a qualquer momento durante o Prazo de Duração, mas não estarão limitadas ao valor do capital subscrito de cada Cotista. 8.8.2 Ao receber uma Chamada de Capital, os Cotistas serão obrigados a integralizar parte ou a totalidade de suas Cotas no prazo previsto na ref erida Chamada de Capital, o qual não poderá ser inf erior a 5 (cinco) Dias Úteis contados do recebimento da Chamada de Capital, conforme solicitado pelo Administrador em observância às instruções do Gestor e de acordo com o disposto nos respectivos Compromissos de Investimento. 8.8.3 O Administrador poderá, eventualmente, realizar Chamadas de Capital aos Cotistas de forma desproporcional entre Cotistas, de modo que um ou mais Cotista venha a integralizar, em uma ou mais Chamadas de Capital, uma parcela maior ou menor, conforme o caso, das Cotas por</a:t>
            </a:r>
          </a:p>
          <a:p>
            <a:r>
              <a:t>CNPJ 62696791000193 · Classe, subclasse e responsabilidade · Regulamento · ID 1143317 · 20/03/2026 · versão Regulamento — referência 20/03/2026 · p. 16 · Anexo I, 7.2 · https://fnet.bmfbovespa.com.br/fnet/publico/visualizarDocumento?id=1143317</a:t>
            </a:r>
          </a:p>
          <a:p>
            <a:r>
              <a:t>CNPJ 62696791000193 · Classe, subclasse e responsabilidade · Excerto da fonte:</a:t>
            </a:r>
          </a:p>
          <a:p>
            <a:r>
              <a:t>7.2 A Classe possui 3 (três) Subclasses de Cotas, quais sejam, a subclasse sênior (“Subclasse Sênior” e “Cotas Seniores”), a subclasse mezanino (“Subclasse Mezanino” e “Cotas Mezanino”) e a subclasse subordinada (“Subclasse Subordinada” e “Cotas Subordinadas” – as Cotas Subordinadas, Cotas Seniores e Cotas Mezanino, quando ref eridas em conjunto, “Cotas”), admitindo ainda a emissão de novas séries (“Séries”) de Cotas Seniores, nos termos do seu respectivo Apêndice. As características, os direitos e as condições de emissão, distribuição, subscrição, integralização, remuneração, amortização e resgate das Cotas estão descritos neste Capítulo e nos respectivos Apêndices. 7.3 As Cotas são escriturais, nominativas e correspondem a f rações ideais do patrimônio da Classe, cuja propriedade presume-se: (i) pelo registro do nome do Cotista no livro de registro de Cotistas, enquanto mantidas em conta de depósito mantidas junto ao Escriturador em nome dos respectivos Cotistas, nos termos do Art. 15 da Resolução CVM 175; (ii) pelos controles de titularidade mantidos pelo depositário BTG Pactual SAC: 0800 772 2827 | Ouvidoria: 0800 722 0048 | btgpactual.co m 11</a:t>
            </a:r>
          </a:p>
          <a:p>
            <a:r>
              <a:t>CNPJ 62696791000193 · Classe, subclasse e responsabilidade · Condição: Contradição interna no alcance da responsabilidade limitada. Não apresentar a cláusula de despesas como obrigação irrestrita pacificada.</a:t>
            </a:r>
          </a:p>
          <a:p>
            <a:r>
              <a:t>CNPJ 62696791000193 · Classe, subclasse e responsabilidade · Versão e prevalência: Leitura específica das cláusulas indicadas; condições e conflitos preservados. Seleção documental atual não comprova vigência jurídica por data isolada.</a:t>
            </a:r>
          </a:p>
          <a:p>
            <a:r>
              <a:t>CNPJ 55563624000109 · Classe, subclasse e responsabilidade · Regulamento · ID 1192614 · 2026-04-30 · versão 1 · p. 40 · https://fnet.bmfbovespa.com.br/fnet/publico/visualizarDocumento?id=1192614</a:t>
            </a:r>
          </a:p>
          <a:p>
            <a:r>
              <a:t>CNPJ 55563624000109 · Classe, subclasse e responsabilidade · Excerto da fonte:</a:t>
            </a:r>
          </a:p>
          <a:p>
            <a:r>
              <a:t>(xxiv) Subordinação de determinadas Cotas da Classe Investida a outras subclasses ou séries de  cotas das Classes Investidas aos quais pertencem. A Classe Investida adquirirá apenas cotas  subordinadas mezaninos da Classe Investida, as quais se subordinam às cotas seniores da Classe  Investida para efeitos de resgate. Os resgates de cotas subordinadas mezanino tipicamente têm sua  realização condicionada ainda à manutenção da razão de garantia e à existência de disponibilidades  da Classe Investida. O ADMINISTRADOR, o GESTOR e o CUSTODIANTE e suas respectivas partes  relacionadas, encontram-se impossibilitados de assegurar que a amortização e o resgate das cotas  subordinadas mezanino da Classe Investida que venham a ser adquiridas pela Classe ocorrerão nas  datas originalmente previstas, sendo que, caso tais amortizações e/ou resgates não ocorram, não será  devido pelo FUNDO ou qualquer pessoa, incluindo o ADMINISTRADOR, o GESTOR e o CUSTODIANTE,  do FUNDO ou da Classe Investida qualquer multa ou penalidade, de qualquer natureza. O não resgate  de cotas subordinadas mezanino da Classe Investida detidas pela Classe poderá impactar  negativamente no fluxo de pagamento de resgate da Classe e/ou no valor patrimonial das Cotas da  Classe.</a:t>
            </a:r>
          </a:p>
          <a:p>
            <a:r>
              <a:t>CNPJ 55563624000109 · Classe, subclasse e responsabilidade · Regulamento · ID 1192614 · 2026-04-30 · versão 1 · p. 2 · 1.2 · https://fnet.bmfbovespa.com.br/fnet/publico/visualizarDocumento?id=1192614</a:t>
            </a:r>
          </a:p>
          <a:p>
            <a:r>
              <a:t>CNPJ 55563624000109 · Classe, subclasse e responsabilidade · Excerto da fonte:</a:t>
            </a:r>
          </a:p>
          <a:p>
            <a:r>
              <a:t>1.2 Este regulamento é composto por esta parte geral, um ou mais anexos, conforme o número de classes aqui  previsto e respectivos apêndices relativos a cada subclasse de cotas, conforme aplicável (respectivamente,  “Regulamento”, “Parte Geral”, “Anexos” e “Apêndices”).</a:t>
            </a:r>
          </a:p>
          <a:p>
            <a:r>
              <a:t> Denominação da Classe Anexo  CLASSE ÚNICA DE RESPONSABILIDADE LIMITADA DO  PLGN MARKETPLACE FUNDO DE INVESTIMENTO EM  Anexo Único (“Anexo”)  COTAS DE FUNDO DE INVESTIMENTO EM DIREITOS  CREDITÓRIOS (“Classe” ou “Classe Única”)</a:t>
            </a:r>
          </a:p>
          <a:p>
            <a:r>
              <a:t>CNPJ 55563624000109 · Classe, subclasse e responsabilidade · Regulamento · ID 1192614 · 2026-04-30 · versão 1 · p. 24 · 12.3 · https://fnet.bmfbovespa.com.br/fnet/publico/visualizarDocumento?id=1192614</a:t>
            </a:r>
          </a:p>
          <a:p>
            <a:r>
              <a:t>CNPJ 55563624000109 · Classe, subclasse e responsabilidade · Excerto da fonte:</a:t>
            </a:r>
          </a:p>
          <a:p>
            <a:r>
              <a:t>12.3 Incluem-se entre as obrigações do ADMINISTRADOR, sem prejuízo de outras previstas na regulamentação:</a:t>
            </a:r>
          </a:p>
          <a:p>
            <a:r>
              <a:t> (i) sem prejuízo da observância dos procedimentos relativos às demonstrações contábeis, manter,  separadamente, registros com informações completas sobre toda e qualquer modalidade de negociação  realizada entre o ADMINISTRADOR, GESTOR, CUSTODIANTE, e/ou suas respectivas partes relacionadas,  tais como definidas pelas regras contábeis que tratam desse assunto, de um lado; e a Classe, de outro;</a:t>
            </a:r>
          </a:p>
          <a:p>
            <a:r>
              <a:t> (ii) diligenciar para que sejam mantidos, às suas expensas, atualizados e em perfeita ordem:</a:t>
            </a:r>
          </a:p>
          <a:p>
            <a:r>
              <a:t> (a) o registro de Cotistas;</a:t>
            </a:r>
          </a:p>
          <a:p>
            <a:r>
              <a:t> (b) o livro de atas das Assembleias de Cotistas;</a:t>
            </a:r>
          </a:p>
          <a:p>
            <a:r>
              <a:t> (c) o livro ou lista de presença de Cotistas;</a:t>
            </a:r>
          </a:p>
          <a:p>
            <a:r>
              <a:t> (d) os pareceres do Auditor Independente; e</a:t>
            </a:r>
          </a:p>
          <a:p>
            <a:r>
              <a:t> (e) os registros contábeis referentes às operações e ao patrimônio da Classe;</a:t>
            </a:r>
          </a:p>
          <a:p>
            <a:r>
              <a:t> (iii) pagar a multa cominatória às suas expensas, nos termos da legislação vigente, por cada dia de atraso no  cumprimento dos prazos previstos na regulamentação aplicável;</a:t>
            </a:r>
          </a:p>
          <a:p>
            <a:r>
              <a:t> (iv) elaborar e divulgar as informações periódicas e eventuais da Classe, nos termos deste Anexo e da  regulamentação e da autorregulação em vigor;</a:t>
            </a:r>
          </a:p>
          <a:p>
            <a:r>
              <a:t> (v) manter atualizada junto à CVM a lista de todos os prestadores de serviços contratados pela Classe,  inclusive os Prestadores de Serviços Essenciais, bem como as demais informações cadastrais da Classe e  suas Subclasses;</a:t>
            </a:r>
          </a:p>
          <a:p>
            <a:r>
              <a:t> (vi) manter serviço de atendimento aos Cotistas, responsável pelo esclarecimento de dúvidas e pelo  recebimento de reclamações;</a:t>
            </a:r>
          </a:p>
          <a:p>
            <a:r>
              <a:t> (vii) receber e processar os pedidos de resgate;</a:t>
            </a:r>
          </a:p>
          <a:p>
            <a:r>
              <a:t> (viii) monitorar os Eventos de Verificação do Patrimônio;</a:t>
            </a:r>
          </a:p>
          <a:p>
            <a:r>
              <a:t> (ix) monitorar os Eventos de Avaliação e Eventos de Liquidação;</a:t>
            </a:r>
          </a:p>
          <a:p>
            <a:r>
              <a:t> (x) observar as disposições constantes do Regulamento;</a:t>
            </a:r>
          </a:p>
          <a:p>
            <a:r>
              <a:t> (xi) cumprir as deliberações da Assembleia de Cotistas; e</a:t>
            </a:r>
          </a:p>
          <a:p>
            <a:r>
              <a:t> (xii) observar as disposições do Código ANBIMA e das Regras e Procedimentos ANBIMA</a:t>
            </a:r>
          </a:p>
          <a:p>
            <a:r>
              <a:t>CNPJ 55563624000109 · Classe, subclasse e responsabilidade · Condição: Documentos atuais selecionados no inventário por categoria/escopo; a data documental isolada não comprova vigência jurídica.</a:t>
            </a:r>
          </a:p>
          <a:p>
            <a:r>
              <a:t>CNPJ 55563624000109 · Classe, subclasse e responsabilidade · Versão e prevalência: Documentos atuais selecionados no inventário por categoria/escopo; a data documental isolada não comprova vigência jurídica.</a:t>
            </a:r>
          </a:p>
          <a:p>
            <a:r>
              <a:t>CNPJ 55563624000109 · Classe, subclasse e responsabilidade · Resumo do histórico: {"count": 5, "dates": ["2024-07-03", "2025-01-31", "2026-01-31"], "document_count": 3, "sources": [{"document_id": "1178840", "title": "Demonstrações Financeiras", "reference_date": "2026-01-31", "version": "1", "page": 3, "url": "https://fnet.bmfbovespa.com.br/fnet/publico/visualizarDocumento?id=1178840", "sha256": "c458e98664c5c907ddb5a05a94b120bed4e05295b2bfc420f5ba69af0a229abe"}, {"document_id": "891861", "title": "Demonstrações Financeiras", "reference_date": "2025-01-31", "version": "1", "page": 27, "url": "https://fnet.bmfbovespa.com.br/fnet/publico/visualizarDocumento?id=891861", "sha256": "e9cb9e6ddbe505fe068cfcac33605165a98313489de0d3ce6d4d238263c3f3e7"}, {"document_id": "703295", "title": "Anúncio de Início", "reference_date": "2024-07-03", "version": "2", "page": 1, "url": "https://fnet.bmfbovespa.com.br/fnet/publico/visualizarDocumento?id=703295", "sha256": "12322b6dbf75e673723bd60910373db249451b72666792e18e0c7b6128f4608a"}], "reference": {"path": "history/55563624000109.json", "criterion_id": "perimeter", "total_count": 5, "preview_count": 3, "full_text_deferred": true, "sha256": "7835d573fb58a3c19adf5b8ecc2aee2bdbb9a88f7a0c0209b5f262b64c7522e3"}}</a:t>
            </a:r>
          </a:p>
          <a:p>
            <a:r>
              <a:t>CNPJ 62552447000120 · Classe, subclasse e responsabilidade · Regulamento · ID 1200623 · 2026-05-21 · versão 1 · p. 1 · 1.3 · https://fnet.bmfbovespa.com.br/fnet/publico/visualizarDocumento?id=1200623</a:t>
            </a:r>
          </a:p>
          <a:p>
            <a:r>
              <a:t>CNPJ 62552447000120 · Classe, subclasse e responsabilidade · Excerto da fonte:</a:t>
            </a:r>
          </a:p>
          <a:p>
            <a:r>
              <a:t>1.3 Durante o seu prazo de duração, o Fundo, por ato conjunto dos Prestadores de Serviços Essenciais,  poderá constituir diferentes Classes e Subclasses , sendo que cada Classe terá patrimônio segregado e</a:t>
            </a:r>
          </a:p>
          <a:p>
            <a:r>
              <a:t>CNPJ 62552447000120 · Classe, subclasse e responsabilidade · Regulamento · ID 1200623 · 2026-05-21 · versão 1 · p. 1 · 1.1 · https://fnet.bmfbovespa.com.br/fnet/publico/visualizarDocumento?id=1200623</a:t>
            </a:r>
          </a:p>
          <a:p>
            <a:r>
              <a:t>CNPJ 62552447000120 · Classe, subclasse e responsabilidade · Excerto da fonte:</a:t>
            </a:r>
          </a:p>
          <a:p>
            <a:r>
              <a:t>1.1 V CDT 1 FUNDO DE INVESTIMENTO EM DIREITOS CREDITÓRIOS RESPONSABILIDADE  LIMITADA (“Fundo”), regido pela Lei n.º 10.406, de 10 de janeiro de 2002, conforme alterada (“Código  Civil”), pela Resolução da Comissão de Valores Mobiliários (“CVM”) n.º 175, de 23 de dezembro de  2022, conf orme alterada (“Resolução CVM 175”), que inclui sua Parte Geral (“Parte Geral da  Resolução CVM 175”) e seu Anexo Normativo II (“Anexo Normativo II”) terá como principais  características:</a:t>
            </a:r>
          </a:p>
          <a:p>
            <a:r>
              <a:t>CNPJ 62552447000120 · Classe, subclasse e responsabilidade · Regulamento · ID 1200623 · 2026-05-21 · versão 1 · p. 1 · https://fnet.bmfbovespa.com.br/fnet/publico/visualizarDocumento?id=1200623</a:t>
            </a:r>
          </a:p>
          <a:p>
            <a:r>
              <a:t>CNPJ 62552447000120 · Classe, subclasse e responsabilidade · Excerto da fonte:</a:t>
            </a:r>
          </a:p>
          <a:p>
            <a:r>
              <a:t>CLASSE ÚNICA DO V CDT 1 FUNDO DE  INVESTIMENTO EM DIREITOS CREDITÓRIOS Anexo I (“Anexo I”)  RESPONSABILIDADE LIMITADA</a:t>
            </a:r>
          </a:p>
          <a:p>
            <a:r>
              <a:t>CNPJ 62552447000120 · Classe, subclasse e responsabilidade · Condição: Documentos atuais selecionados no inventário por categoria/escopo; a data documental isolada não comprova vigência jurídica.</a:t>
            </a:r>
          </a:p>
          <a:p>
            <a:r>
              <a:t>CNPJ 62552447000120 · Classe, subclasse e responsabilidade · Versão e prevalência: Documentos atuais selecionados no inventário por categoria/escopo; a data documental isolada não comprova vigência jurídica.</a:t>
            </a:r>
          </a:p>
          <a:p>
            <a:r>
              <a:t>CNPJ 62552447000120 · Classe, subclasse e responsabilidade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"perimeter", "total_count": 1, "preview_count": 1, "full_text_deferred": true, "sha256": "d95db8c0613d67ee84118c734588665265ea6b02f86a0318d6a844cbe1d0f82f"}}</a:t>
            </a:r>
          </a:p>
          <a:p>
            <a:r>
              <a:t>CNPJ 63953620000165 · Classe, subclasse e responsabilidade · Anexo ao Regulamento · ID 1222863 · 02/06/2026 · versão AnexoConsignadoPrivado02/06/2026 · p. 3 · 2.1 · https://fnet.bmfbovespa.com.br/fnet/publico/visualizarDocumento?id=1222863</a:t>
            </a:r>
          </a:p>
          <a:p>
            <a:r>
              <a:t>CNPJ 63953620000165 · Classe, subclasse e responsabilidade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deverá adotar as medidas aplicáveis previstas na Resolução CVM 175. 2.3 Serão aplicáveis as disposições da Resolução CVM 175 no que se refere aos procedimentos a serem adotados pelo Administrador na hipótese de Patrimônio Líquido negativo da Classe. BTG Pactual SAC: 0800 772 28 27 - Ouvidoria: 0800 722 00 48 - btgpactual.com</a:t>
            </a:r>
          </a:p>
          <a:p>
            <a:r>
              <a:t>CNPJ 63953620000165 · Classe, subclasse e responsabilidade · Anexo ao Regulamento · ID 1222863 · 02/06/2026 · versão AnexoConsignadoPrivado02/06/2026 · p. 10 · 6.7.1 · https://fnet.bmfbovespa.com.br/fnet/publico/visualizarDocumento?id=1222863</a:t>
            </a:r>
          </a:p>
          <a:p>
            <a:r>
              <a:t>CNPJ 63953620000165 · Classe, subclasse e responsabilidade · Excerto da fonte:</a:t>
            </a:r>
          </a:p>
          <a:p>
            <a:r>
              <a:t>6.7.1 As Chamadas de Capital para a realização de investimentos serão realizadas a qualquer momento durante o Período de Investimento e estarão limitadas ao valor do capital subscrito de cada Cotista. As Chamadas de Capital para o pagamento de despesas e encargos do Fundo, com exceção de despesas relacionadas à instrumentos de derivativos e/ou Encargos não previstos no âmbito deste regulamento, poderão ser realizadas a qualquer momento durante o Prazo de Duração, mas não estarão limitadas ao valor do capital subscrito de cada Cotista. 6.7.2 Ao receber uma Chamada d</a:t>
            </a:r>
          </a:p>
          <a:p>
            <a:r>
              <a:t>CNPJ 63953620000165 · Classe, subclasse e responsabilidade · Condição: Alcance das chamadas além do capital comprometido não resolvido textualmente; não certificar limitação apenas por título do fundo.</a:t>
            </a:r>
          </a:p>
          <a:p>
            <a:r>
              <a:t>CNPJ 63953620000165 · Classe, subclasse e responsabilidade · Versão e prevalência: Leitura específica das cláusulas indicadas; condições e conflitos preservados. Seleção documental atual não comprova vigência jurídica por data isolada.</a:t>
            </a:r>
          </a:p>
          <a:p>
            <a:r>
              <a:t>CNPJ 63953620000165 · Classe, subclasse e responsabilidade · Resumo do histórico: {"count": 4, "dates": ["2026-04-28", "2026-05-08", "2026-05-15"], "document_count": 3, "sources": [{"document_id": "1327859", "title": "Demonstrações Financeiras - Fusão, cisão e incorporação", "reference_date": "2026-05-15", "version": "1", "page": 1, "url": "https://fnet.bmfbovespa.com.br/fnet/publico/visualizarDocumento?id=1327859", "sha256": "dca1c68babb97f887528c3e2e47596a9c30f507b067981a35655b2f2da9c8054"}, {"document_id": "1298691", "title": "Demonstrações Financeiras - Fusão, cisão e incorporação", "reference_date": "2026-05-08", "version": "1", "page": 1, "url": "https://fnet.bmfbovespa.com.br/fnet/publico/visualizarDocumento?id=1298691", "sha256": "58c570d9b8d4d265330d3db3ea81c435b8e44a6dab4002aa37790652a1ee9819"}, {"document_id": "1205431", "title": "AGE", "reference_date": "2026-04-28", "version": "1", "page": 1, "clause": "4.1", "url": "https://fnet.bmfbovespa.com.br/fnet/publico/visualizarDocumento?id=1205431", "sha256": "e0b59c701c5d0dbf60de698ea7664d442240863b7043bacdb334ce484188b2ac"}], "reference": {"path": "history/63953620000165.json", "criterion_id": "perimeter", "total_count": 4, "preview_count": 3, "full_text_deferred": true, "sha256": "a7b89077f5e21098c2d601c303faabc3ff6b9729f89d8afecdc60fe1404720c1"}}</a:t>
            </a:r>
          </a:p>
          <a:p>
            <a:r>
              <a:t>CNPJ 54871427000194 · Adaptação à Resolução CVM 175 · Regulamento · ID 670691 · 28/04/2024 · versão Regulamento — referência 28/04/2024 · p. 1 · Parte Geral, 1.1 · https://fnet.bmfbovespa.com.br/fnet/publico/visualizarDocumento?id=670691</a:t>
            </a:r>
          </a:p>
          <a:p>
            <a:r>
              <a:t>CNPJ 54871427000194 · Adaptação à Resolução CVM 175 · Excerto da fonte:</a:t>
            </a:r>
          </a:p>
          <a:p>
            <a:r>
              <a:t>1.1 CONSIGNADO DELTA RECEIVABLES I FUNDO DE INVESTIMENTO EM DIREITOS CREDITÓRIOS (“FUNDO”), regido pela Lei nº 10.406, de 10 de janeiro de 2002, conf orme alterada (“Código Civil”), pela parte geral e o Anexo Normativo II da Resolução nº 175, de 23 de dezembro de 2022, conforme alterada, da Comissão de Valores Mobiliários (respectivamente, “CVM” e “Resolução CVM 175”), terá como principais características: Classe de Cotas Classe única. Indeterminado, exceto se de outra f orma vier a ser deliberado pelos cotistas Prazo de Duração reunidos em assembleia geral de cotistas. BTG Pactual Serviços Financeiros S.A. Distribuidora de Títulos e Valores Mobiliários, instituição f inanceira, com sede na Cidade e Estado do Rio de Janeiro, na Praia de Botafogo, nº 501, 5º andar (parte), Torre Corcovado, ADMINISTRADOR Botafogo, CEP 22250-040, inscrita no CNPJ sob o nº 59.281.253/0001-23 e credenciada como administradora de carteira, de acordo com o Ato Declaratório CVM nº</a:t>
            </a:r>
          </a:p>
          <a:p>
            <a:r>
              <a:t>CNPJ 54871427000194 · Adaptação à Resolução CVM 175 · Regulamento · ID 670691 · 28/04/2024 · versão Regulamento — referência 28/04/2024 · p. 8 · Anexo I, 2.1 · https://fnet.bmfbovespa.com.br/fnet/publico/visualizarDocumento?id=670691</a:t>
            </a:r>
          </a:p>
          <a:p>
            <a:r>
              <a:t>CNPJ 54871427000194 · Adaptação à Resolução CVM 175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deverá adotar as medidas aplicáveis previstas na Resolução CVM 175. 2.3 Serão aplicáveis as disposições da Resolução CVM 175 no que se refere aos procedimentos a serem adotados pelo ADMINISTRADOR na hipótese de Patrimônio Líquido negativo da Classe. CAPÍTULO 3 – ENCARGOS DA CLASSE 3.1 A Classe terá Encargos que lhe poderão ser debitados diretamente, nos termos do art. 53 do Anexo Normativo II da Resolução CVM 175, além de encargos adicionais, e quaisquer despesas que não constituam Encargos correm por conta do Prestador de Serviço Essencial que a tiver contratado: (i) despesas com a contratação de consultoria especializada, conf orme o caso; (ii) despesas com a contratação do Agente de Cobrança, conf orme aplicável; (iii) Taxa Máxima de Custódia; (iv) despesas com registro de Direitos Creditórios; (v) despesas com serviços de originação, cobranças ordinária e/ou extraordinária dos D</a:t>
            </a:r>
          </a:p>
          <a:p>
            <a:r>
              <a:t>CNPJ 54871427000194 · Adaptação à Resolução CVM 175 · Versão e prevalência: Leitura específica das cláusulas indicadas; condições e conflitos preservados. Seleção documental atual não comprova vigência jurídica por data isolada.</a:t>
            </a:r>
          </a:p>
          <a:p>
            <a:r>
              <a:t>CNPJ 54871427000194 · Adaptação à Resolução CVM 175 · Resumo do histórico: {"count": 2, "dates": ["2024-04-19"], "document_count": 2, "sources": [{"document_id": "670687", "title": "Instrumento Particular de Constituição/Encerramento do Fundo", "reference_date": "2024-04-19", "version": "1", "page": 1, "url": "https://fnet.bmfbovespa.com.br/fnet/publico/visualizarDocumento?id=670687", "sha256": "999f2a47d39f7022b0fcee3d16fd1db33948537b897e92c4c9e14b436bf5eb96"}, {"document_id": "670689", "title": "Regulamento", "reference_date": "2024-04-19", "version": "1", "page": 11, "clause": "4.10", "url": "https://fnet.bmfbovespa.com.br/fnet/publico/visualizarDocumento?id=670689", "sha256": "891bc9bc5d87bbc02ec139077a84d2702eb81ea02035fb71d24f5b8366b94a0b"}], "reference": {"path": "history/54871427000194.json", "criterion_id": "res175", "total_count": 2, "preview_count": 2, "full_text_deferred": true, "sha256": "35d7cd99be50c7287c9fb675cf4f2e736002315295a225a9efa79c8d9186d874"}}</a:t>
            </a:r>
          </a:p>
          <a:p>
            <a:r>
              <a:t>CNPJ 60010416000112 · Adaptação à Resolução CVM 175 · Regulamento · ID 1051393 · 09/10/2025 · versão Regulamento09/10/2025 · p. 8 · AnexoI1.2 · https://fnet.bmfbovespa.com.br/fnet/publico/visualizarDocumento?id=1051393</a:t>
            </a:r>
          </a:p>
          <a:p>
            <a:r>
              <a:t>CNPJ 60010416000112 · Adaptação à Resolução CVM 175 · Excerto da fonte:</a:t>
            </a:r>
          </a:p>
          <a:p>
            <a:r>
              <a:t>Tipo de Condomínio Fechado. Prazo de Duração Indeterminado. Classe de Investimento Não. em Cotas Tipo “Financeiro”. Classificação ANBIMA Foco de atuação “Créditos Consignados”. O objetivo da classe é proporcionar aos seus Cotistas a valorização de suas Cotas por meio da aplicação de seu Patrimônio Líquido na aquisição de: (i) Direitos Creditórios que atendam aos Critérios de Elegibilidade, estabelecidos no Ca</a:t>
            </a:r>
          </a:p>
          <a:p>
            <a:r>
              <a:t>CNPJ 60010416000112 · Adaptação à Resolução CVM 175 · Regulamento · ID 1051393 · 09/10/2025 · versão Regulamento09/10/2025 · p. 9 · AnexoI2.1–2.3 · https://fnet.bmfbovespa.com.br/fnet/publico/visualizarDocumento?id=1051393</a:t>
            </a:r>
          </a:p>
          <a:p>
            <a:r>
              <a:t>CNPJ 60010416000112 · Adaptação à Resolução CVM 175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o Administrador deverá adotar as medidas aplicáveis previstas na Resolução CVM 175 2.3 Serão aplicáveis as disposições da Resolução CVM 175 no que se ref ere aos procedimentos a serem adotados pelo Administrador na hipótese de Patrimônio Líquido negativo da Classe, visando a liquidação da Classe e que não remanesçam</a:t>
            </a:r>
          </a:p>
          <a:p>
            <a:r>
              <a:t>CNPJ 60010416000112 · Adaptação à Resolução CVM 175 · Versão e prevalência: Leitura específica das cláusulas indicadas; condições e conflitos preservados. Seleção documental atual não comprova vigência jurídica por data isolada.</a:t>
            </a:r>
          </a:p>
          <a:p>
            <a:r>
              <a:t>CNPJ 60010416000112 · Adaptação à Resolução CVM 175 · Resumo do histórico: {"count": 2, "dates": ["2025-03-20"], "document_count": 2, "sources": [{"document_id": "993785", "title": "Instrumento Particular de Constituição/Encerramento do Fundo", "reference_date": "2025-03-20", "version": "1", "page": 1, "url": "https://fnet.bmfbovespa.com.br/fnet/publico/visualizarDocumento?id=993785", "sha256": "0826e0eae2c51afabf59bbc49fc7647598d03da5ca6de0f9725850a8bd6af457"}, {"document_id": "993786", "title": "Regulamento", "reference_date": "2025-03-20", "version": "1", "page": 12, "clause": "4.8", "url": "https://fnet.bmfbovespa.com.br/fnet/publico/visualizarDocumento?id=993786", "sha256": "fd0fdd369a195510d81f81f505195a0b09e5f43522a990afa7d58c4f872921c8"}], "reference": {"path": "history/60010416000112.json", "criterion_id": "res175", "total_count": 2, "preview_count": 2, "full_text_deferred": true, "sha256": "8e2bd813f4c51cf01f6bfaad164bafe69d2bbb192f753eac92da3a01c2e63046"}}</a:t>
            </a:r>
          </a:p>
          <a:p>
            <a:r>
              <a:t>CNPJ 62696791000193 · Adaptação à Resolução CVM 175 · AGE · ID 1143319 · 20/03/2026 10:00 · versão AGE — referência 20/03/2026 10:00 · p. 1 · AGC, 4.1(a)–(b) · https://fnet.bmfbovespa.com.br/fnet/publico/visualizarDocumento?id=1143319</a:t>
            </a:r>
          </a:p>
          <a:p>
            <a:r>
              <a:t>CNPJ 62696791000193 · Adaptação à Resolução CVM 175 · Excerto da fonte:</a:t>
            </a:r>
          </a:p>
          <a:p>
            <a:r>
              <a:t>4.1. Aprovar a transformação do Fundo, bem como de sua Classe única, em um fundo de investimento nas cadeias produtivas do agronegócio (“Transformação”), nos termos da parte geral e do Anexo Normativo VI da Resolução nº 175 da CVM, de 23 de dezembro de 2022, conforme alterada (“Resolução CVM 175”). a. Aprovar a alteração da denominação do Fundo, que passará a vigorar como BTG PACTUAL CERES CONFINA FUNDO DE INVESTIMENTO NAS CADEIAS PRODUTIVAS DO AGRONEGÓCIO RESPONSABILIDADE LIMITADA, e de sua Classe única, que passará a vigorar como CLASSE ÚNICA DO BTG PACTUAL CERES CONFINA FUNDO DE INVESTIMENTO NAS CADEIAS PRODUTIVAS DO AGRONEGÓCIO RESPONSABILIDADE LIMITADA (“Classe”); b. Aprovar a reforma integral do Regulamento do Fundo, bem como do Anexo descritivo da Classe, para realizar todos os ajustes necessários à implementação da Transformação, incluindo, mas não se limitando, a política de investimentos, o regime tributário e os fatores de risco aplicáveis, conforme itens abaixo; c. Aprovar a alteração do quadro de características gerais do Fundo, considerando a contratação do Cogestor pelo Gestor, nos termos do artigo 52, II, da parte geral da Resolução CVM 175 e no co</a:t>
            </a:r>
          </a:p>
          <a:p>
            <a:r>
              <a:t>CNPJ 62696791000193 · Adaptação à Resolução CVM 175 · AGE · ID 1143319 · 20/03/2026 10:00 · versão AGE — referência 20/03/2026 10:00 · p. 3 · AGC 20/03/2026, 4.1(j)–(k) · https://fnet.bmfbovespa.com.br/fnet/publico/visualizarDocumento?id=1143319</a:t>
            </a:r>
          </a:p>
          <a:p>
            <a:r>
              <a:t>CNPJ 62696791000193 · Adaptação à Resolução CVM 175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Adaptação à Resolução CVM 175 · Regulamento · ID 1143317 · 20/03/2026 · versão Regulamento — referência 20/03/2026 · p. 1 · Parte Geral, 1.1 · https://fnet.bmfbovespa.com.br/fnet/publico/visualizarDocumento?id=1143317</a:t>
            </a:r>
          </a:p>
          <a:p>
            <a:r>
              <a:t>CNPJ 62696791000193 · Adaptação à Resolução CVM 175 · Excerto da fonte:</a:t>
            </a:r>
          </a:p>
          <a:p>
            <a:r>
              <a:t>1.1 BTG PACTUAL CERES CONFINA FUNDO DE INVESTIMENTO NAS CADEIAS PRODUTIVAS DO AGRONEGÓCIO RESPONSABILIDADE LIMITADA (“Fundo”), regido pela Lei nº 10.406, de 10 de janeiro de 2002, conf orme alterada (“Código Civil”), pela Lei n.º 8.668, de 25 de junho de 1993, conf orme alterada (“Lei 8.668”), pela parte geral, Anexo Normativo VI e, subsidiariamente, Anexo Normativo II da Resolução nº 175, de 23 de dezembro de 2022, conforme alterada, da Comissão de Valores Mobiliários (respectivamente, “Resolução CVM 175” e “CVM”), terá como principais características: Classe Classe única. Indeterminado, exceto se de outra f orma vier a ser deliberado pelos Cotistas Prazo de Duração reunidos em assembleia geral de Cotistas (“Prazo de Duração”). BTG Pactual Serviços Financeiros S.A. Distribuidora de Títulos e Valores Mobiliários, sociedade anônima, com sede no município e Estado do Rio de Janeiro, na Praia de Botafogo, nº 501, 5º andar (parte), Torre Corcovado, Administrador Botafogo, CEP 22250-040, inscrita no CNPJ sob o nº 59.281.253/0001-23 e</a:t>
            </a:r>
          </a:p>
          <a:p>
            <a:r>
              <a:t>CNPJ 62696791000193 · Adaptação à Resolução CVM 175 · Condição: Posição comumfev/26 é anterior à transformação e demanda o regime/regulamento anterior.</a:t>
            </a:r>
          </a:p>
          <a:p>
            <a:r>
              <a:t>CNPJ 62696791000193 · Adaptação à Resolução CVM 175 · Versão e prevalência: Leitura específica das cláusulas indicadas; condições e conflitos preservados. Seleção documental atual não comprova vigência jurídica por data isolada.</a:t>
            </a:r>
          </a:p>
          <a:p>
            <a:r>
              <a:t>CNPJ 55563624000109 · Adaptação à Resolução CVM 175 · Regulamento · ID 1192614 · 2026-04-30 · versão 1 · p. 13 · 4.11 · https://fnet.bmfbovespa.com.br/fnet/publico/visualizarDocumento?id=1192614</a:t>
            </a:r>
          </a:p>
          <a:p>
            <a:r>
              <a:t>CNPJ 55563624000109 · Adaptação à Resolução CVM 175 · Excerto da fonte:</a:t>
            </a:r>
          </a:p>
          <a:p>
            <a:r>
              <a:t>4.11 Nos termos dos artigos 45, parágrafo 7º, e 47 parágrafo único do Anexo Normativo II à Resolução CVM 175, uma  vez que as Cotas são destinadas exclusivamente a Investidores Profissionais, a Classe poderá ter até 100% (cem  por cento) de seu Patrimônio Líquido alocado em Cotas da Classe Investida, as quais são emitidas pela Classe  Investida.</a:t>
            </a:r>
          </a:p>
          <a:p>
            <a:r>
              <a:t>CNPJ 55563624000109 · Adaptação à Resolução CVM 175 · Regulamento · ID 1192614 · 2026-04-30 · versão 1 · p. 31 · 15.1.1 · https://fnet.bmfbovespa.com.br/fnet/publico/visualizarDocumento?id=1192614</a:t>
            </a:r>
          </a:p>
          <a:p>
            <a:r>
              <a:t>CNPJ 55563624000109 · Adaptação à Resolução CVM 175 · Excerto da fonte:</a:t>
            </a:r>
          </a:p>
          <a:p>
            <a:r>
              <a:t>15.1.1 Riscos de Crédito:</a:t>
            </a:r>
          </a:p>
          <a:p>
            <a:r>
              <a:t> (i) Risco de concentração na Classe Investida. Nos termos do presente Regulamento, a Classe  deverá manter alocado, no mínimo, 67% (sessenta e sete por cento) do Patrimônio Líquido nas Cotas  da Classe Investida. Alterações na condição econômico-financeira e na expectativa de desempenho ou  resultados da Classe Investida poderão, isolada ou cumulativamente, afetar negativamente o  rendimento do investimento nas Cotas, de forma mais severa do que se a Classe adotasse uma  estratégia de investimento de maior diversificação. O risco associado às aplicações de qualquer fundo  de investimento é diretamente proporcional à concentração da sua carteira, sendo que, quanto maior  essa concentração, maior será a sua vulnerabilidade.</a:t>
            </a:r>
          </a:p>
          <a:p>
            <a:r>
              <a:t> (ii) Risco relativo à Classe Investida. Nos termos deste Anexo, a Classe deverá manter alocado, no  mínimo, 67% (sessenta e sete por cento) do Patrimônio Líquido em Cotas da Classe Investida. Os  investimentos realizados pela Classe Investida poderão estar sujeitos a flutuações típicas do mercado,  risco de crédito, risco sistêmico, condições adversas de liquidez e negociação atípica nos mercados de  atuação, bem como outros riscos diversos. Este Anexo não contém a descrição de todas as  características, incluindo os riscos, da Classe Investida.</a:t>
            </a:r>
          </a:p>
          <a:p>
            <a:r>
              <a:t> (iii) Risco Relativo ao Pagamento de Encargos da Classe Investida. Tendo em vista a estrutura da  Classe Investida – que emitiu cotas sêniores, cotas subordinadas mezanino e cotas subordinadas júnior  – em situação ordinária os encargos da Classe Investida são arcados pelas cotas subordinadas júnior,  que se subordinam às cotas subordinadas mezanino e às cotas sêniores para fins de amortização,  resgate e distribuição de rendimentos, não impactando, portanto, as Cotas da Classe Investida. Não  obstante o funcionamento da Classe Investida em situação ordinária, em cenários extraordinários, na  eventualidade do valor das cotas subordinadas júnior ficar reduzido a zero ou a valor negativo, os  encargos da Classe Investida conforme previstos em seu regulamento, inclusive mas não se limitando  as remunerações dos prestadores de serviços essenciais, passarão a ser arcados pelas cotas  subordinadas mezanino (que são as Cotas da Classe Investida), impactando no valor do investimento  da Classe na Classe Investida, e consequentemente, o investimento dos Cotistas na Classe.</a:t>
            </a:r>
          </a:p>
          <a:p>
            <a:r>
              <a:t> (iv) Riscos referentes à carteira da Classe Investida. Na forma do Anexo Normativo II da Resolução  CVM 175, a Classe Investida investe, direta ou indiretamente, no mínimo, 67% (sessenta e sete por  cento) do seu patrimônio em direitos creditórios originados pela Mercado Pago. O investimento em tais  direitos creditórios está sujeito a fatores de risco específicos, conforme detalhados no regulamento da  Classe Investida, incluindo, mas não se limitando a:</a:t>
            </a:r>
          </a:p>
          <a:p>
            <a:r>
              <a:t> (a) Risco de liquidez dos direitos creditórios. O investimento da Classe Investida em direitos  creditórios apresenta peculiaridades em relação às aplicações usuais da maioria dos  fundos de investimento brasileiros, haja vista que não existe, no Brasil, mercado  secundário com liquidez para tais direitos creditórios. Caso a Classe Investida precise  vender os direitos creditórios adquiridos, poderá não haver mercado comprador para  tais créditos, bem como o preço de alienação de tais direitos creditórios poderá refletir  essa falta de liquidez, causando perda ao patrimônio da Classe Investida e,  consequentemente, à Classe.</a:t>
            </a:r>
          </a:p>
          <a:p>
            <a:r>
              <a:t>CNPJ 55563624000109 · Adaptação à Resolução CVM 175 · Regulamento · ID 1192614 · 2026-04-30 · versão 1 · p. 28 · 13.2 · https://fnet.bmfbovespa.com.br/fnet/publico/visualizarDocumento?id=1192614</a:t>
            </a:r>
          </a:p>
          <a:p>
            <a:r>
              <a:t>CNPJ 55563624000109 · Adaptação à Resolução CVM 175 · Excerto da fonte:</a:t>
            </a:r>
          </a:p>
          <a:p>
            <a:r>
              <a:t>13.2 Em condições ordinárias, as Cotas da Classe Investida não pagarão remuneração aos prestadores de serviços  essenciais da Classe Investida, nos termos de seu regulamento. Não obstante, em cenário extraordinário  conforme descrito no item 15.1.1 (iii), e para fins de atendimento ao artigo 98 da parte geral da Resolução CVM  175, a taxa máxima de administração corresponderá ao valor da Taxa Mínima de Administração acrescida de até  0,10% (dez centésimos por cento) ao ano incidente sobre o patrimônio líquido da Classe Investida,  compreendendo a taxa de administração da Classe Investida geridos por partes relacionadas ao GESTOR, cujas  cotas não estão admitidas à negociação em mercado organizado, conforme prevista no regulamento da Classe  Investida (“Taxa Máxima de Administração” e, quando referida em conjunto com a Taxa Mínima de  Administração, como “Taxa de Administração”). Caso a taxa de administração da Classe Investida não se  enquadre no disposto acima, estará disposta no regulamento da Classe Investida.</a:t>
            </a:r>
          </a:p>
          <a:p>
            <a:r>
              <a:t>CNPJ 55563624000109 · Adaptação à Resolução CVM 175 · Condição: Documentos atuais selecionados no inventário por categoria/escopo; a data documental isolada não comprova vigência jurídica.</a:t>
            </a:r>
          </a:p>
          <a:p>
            <a:r>
              <a:t>CNPJ 55563624000109 · Adaptação à Resolução CVM 175 · Versão e prevalência: Documentos atuais selecionados no inventário por categoria/escopo; a data documental isolada não comprova vigência jurídica.</a:t>
            </a:r>
          </a:p>
          <a:p>
            <a:r>
              <a:t>CNPJ 55563624000109 · Adaptação à Resolução CVM 175 · Resumo do histórico: {"count": 3, "dates": ["2024-07-03", "2025-01-31", "2026-01-31"], "document_count": 3, "sources": [{"document_id": "1178840", "title": "Demonstrações Financeiras", "reference_date": "2026-01-31", "version": "1", "page": 29, "url": "https://fnet.bmfbovespa.com.br/fnet/publico/visualizarDocumento?id=1178840", "sha256": "c458e98664c5c907ddb5a05a94b120bed4e05295b2bfc420f5ba69af0a229abe"}, {"document_id": "891861", "title": "Demonstrações Financeiras", "reference_date": "2025-01-31", "version": "1", "page": 30, "url": "https://fnet.bmfbovespa.com.br/fnet/publico/visualizarDocumento?id=891861", "sha256": "e9cb9e6ddbe505fe068cfcac33605165a98313489de0d3ce6d4d238263c3f3e7"}, {"document_id": "691674", "title": "Instrumento Particular de Emissão de Cotas", "reference_date": "2024-07-03", "version": "1", "page": 1, "url": "https://fnet.bmfbovespa.com.br/fnet/publico/visualizarDocumento?id=691674", "sha256": "78bf7b350f1785beae5f43bd209b5ed19e863cb9a2cff01542aac11dd63ca554"}], "reference": {"path": "history/55563624000109.json", "criterion_id": "res175", "total_count": 3, "preview_count": 3, "full_text_deferred": true, "sha256": "7835d573fb58a3c19adf5b8ecc2aee2bdbb9a88f7a0c0209b5f262b64c7522e3"}}</a:t>
            </a:r>
          </a:p>
          <a:p>
            <a:r>
              <a:t>CNPJ 62552447000120 · Adaptação à Resolução CVM 175 · Regulamento · ID 1200623 · 21/05/2026 · versão Consolidado21/05/2026 aprovado pelo ato1200625 · p. 1 · ParteGeral1.1 · https://fnet.bmfbovespa.com.br/fnet/publico/visualizarDocumento?id=1200623</a:t>
            </a:r>
          </a:p>
          <a:p>
            <a:r>
              <a:t>CNPJ 62552447000120 · Adaptação à Resolução CVM 175 · Excerto da fonte:</a:t>
            </a:r>
          </a:p>
          <a:p>
            <a:r>
              <a:t>1.1 V CDT 1 FUNDO DE INVESTIMENTO EM DIREITOS CREDITÓRIOS RESPONSABILIDADE LIMITADA (“Fundo”), regido pela Lei n.º 10.406, de 10 de janeiro de 2002, conforme alterada (“Código Civil”), pela Resolução da Comissão de Valores Mobiliários (“CVM”) n.º 175, de 23 de dezembro de 2022, conf orme alterada (“Resolução CVM 175”), que inclui sua Parte Geral (“Parte Geral da Resolução CVM 175”) e seu Anexo Normativo II (“Anexo Normativo II”) terá como principais características: Classe de Cotas Classe única. Indeterminado, exceto se de outra forma vier a ser deliberado pelos titulares</a:t>
            </a:r>
          </a:p>
          <a:p>
            <a:r>
              <a:t>CNPJ 62552447000120 · Adaptação à Resolução CVM 175 · Regulamento · ID 1200623 · 21/05/2026 · versão Consolidado21/05/2026 aprovado pelo ato1200625 · p. 2 · ParteGeral1.6(v) · https://fnet.bmfbovespa.com.br/fnet/publico/visualizarDocumento?id=1200623</a:t>
            </a:r>
          </a:p>
          <a:p>
            <a:r>
              <a:t>CNPJ 62552447000120 · Adaptação à Resolução CVM 175 · Excerto da fonte:</a:t>
            </a:r>
          </a:p>
          <a:p>
            <a:r>
              <a:t>V CDT 1 FUNDO DE INVESTIMENTO EM DIREITOS CREDITÓRIOS RESPONSABILIDADE LIMITADA direitos e obrigações distintos das demais Classes, nos termos do art. 5º da Parte Geral da Resolução CVM 175. 1.4 O Anexo de cada classe de Cotas (“Classe”), conforme aplicável, dispõe, sem prejuízo de outros requisitos e inf ormações previstos na regulamentação, sobre: (i) características gerais, incluindo a indicação dos demais prestadores de serviços; (ii) responsabilidade dos Cotistas e regime de insolvência; (iii) características, direitos, condições de emissão, subscrição, integralização,</a:t>
            </a:r>
          </a:p>
          <a:p>
            <a:r>
              <a:t>CNPJ 62552447000120 · Adaptação à Resolução CVM 175 · Regulamento · ID 1200623 · 21/05/2026 · versão Consolidado21/05/2026 aprovado pelo ato1200625 · p. 16 · AnexoI5.1 · https://fnet.bmfbovespa.com.br/fnet/publico/visualizarDocumento?id=1200623</a:t>
            </a:r>
          </a:p>
          <a:p>
            <a:r>
              <a:t>CNPJ 62552447000120 · Adaptação à Resolução CVM 175 · Excerto da fonte:</a:t>
            </a:r>
          </a:p>
          <a:p>
            <a:r>
              <a:t>5.1 A Classe não possui Subclasse. As características, os direitos e as condições de emissão, distribuição, subscrição, integralização, remuneração, Amortização e resgate das Cotas estão descritos neste Capítulo e no Capítulo 6. 5.1.1 Não obstante, por deliberação conjunta dos Prestadores de Serviços Essenciais e mediante aprovação em Assembleia Especial, poderá haver a divisão de Classes em Subclasses, nos termos da Resolução CVM 175. Após a primeira emissão de Cotas, novas emissões de Cotas (de quaisquer Subclasses) dependem de aprovação dos Cotistas. 5.2 As Cotas são escrit</a:t>
            </a:r>
          </a:p>
          <a:p>
            <a:r>
              <a:t>CNPJ 62552447000120 · Adaptação à Resolução CVM 175 · Versão e prevalência: Leitura específica das cláusulas indicadas; condições e conflitos preservados. Seleção documental atual não comprova vigência jurídica por data isolada.</a:t>
            </a:r>
          </a:p>
          <a:p>
            <a:r>
              <a:t>CNPJ 62552447000120 · Adaptação à Resolução CVM 175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"res175", "total_count": 1, "preview_count": 1, "full_text_deferred": true, "sha256": "d95db8c0613d67ee84118c734588665265ea6b02f86a0318d6a844cbe1d0f82f"}}</a:t>
            </a:r>
          </a:p>
          <a:p>
            <a:r>
              <a:t>CNPJ 63953620000165 · Adaptação à Resolução CVM 175 · Anexo ao Regulamento · ID 1222863 · 02/06/2026 · versão AnexoConsignadoPrivado02/06/2026 · p. 1 · AnexoI1.1 · https://fnet.bmfbovespa.com.br/fnet/publico/visualizarDocumento?id=1222863</a:t>
            </a:r>
          </a:p>
          <a:p>
            <a:r>
              <a:t>CNPJ 63953620000165 · Adaptação à Resolução CVM 175 · Excerto da fonte:</a:t>
            </a:r>
          </a:p>
          <a:p>
            <a:r>
              <a:t>1.1 As principais características da Classe Consignado Privado (para fins deste Anexo, “Classe”) estão descritas abaixo: Tipo de Condomínio Fechado. Indeterminado, exceto se de outra forma vier a ser deliberado pelos Cotistas Prazo de Duração reunidos em Assembleia Especial de Cotistas. (“Prazo de Duração”) Tipo “Financeiro”. Classificação ANBIMA Foco de atuação “Créditos Consignados”. O obje</a:t>
            </a:r>
          </a:p>
          <a:p>
            <a:r>
              <a:t>CNPJ 63953620000165 · Adaptação à Resolução CVM 175 · Anexo ao Regulamento · ID 1222863 · 02/06/2026 · versão AnexoConsignadoPrivado02/06/2026 · p. 9 · 5.1 · https://fnet.bmfbovespa.com.br/fnet/publico/visualizarDocumento?id=1222863</a:t>
            </a:r>
          </a:p>
          <a:p>
            <a:r>
              <a:t>CNPJ 63953620000165 · Adaptação à Resolução CVM 175 · Excerto da fonte:</a:t>
            </a:r>
          </a:p>
          <a:p>
            <a:r>
              <a:t>5.1 A Classe possui 2 (duas) Subclasses de Cotas, quais sejam, a subclasse sênior (“Subclasse Sênior” e “Cotas Seniores”) e a subclasse subordinada (“Subclasse Subordinada” e “Cotas Subordinadas” – as Cotas Subordinadas e Cotas Seniores, quando referidas em conjunto, “Cotas”). As características, os direitos e as condições de emissão, distribuição, subscrição, integralização, remuneração, amortização e resgate das Cotas estão descritos neste Capítulo e nos respectivos Apêndices. 5.2 As Cotas são escriturais, nominativas e correspondem a frações ideais do patrimônio da Classe, cuja propriedade presume-se: (i) pelo</a:t>
            </a:r>
          </a:p>
          <a:p>
            <a:r>
              <a:t>CNPJ 63953620000165 · Adaptação à Resolução CVM 175 · Condição: Vigência efetiva da versão 02/06/2026 não inferida da data de publicação; não aplicar a fev/26 automaticamente.</a:t>
            </a:r>
          </a:p>
          <a:p>
            <a:r>
              <a:t>CNPJ 63953620000165 · Adaptação à Resolução CVM 175 · Versão e prevalência: Leitura específica das cláusulas indicadas; condições e conflitos preservados. Seleção documental atual não comprova vigência jurídica por data isolada.</a:t>
            </a:r>
          </a:p>
          <a:p>
            <a:r>
              <a:t>CNPJ 63953620000165 · Adaptação à Resolução CVM 175 · Resumo do histórico: {"count": 9, "dates": ["2026-04-28", "2026-05-08", "2026-05-15"], "document_count": 3, "sources": [{"document_id": "1327859", "title": "Demonstrações Financeiras - Fusão, cisão e incorporação", "reference_date": "2026-05-15", "version": "1", "page": 31, "clause": "15.000.000", "url": "https://fnet.bmfbovespa.com.br/fnet/publico/visualizarDocumento?id=1327859", "sha256": "dca1c68babb97f887528c3e2e47596a9c30f507b067981a35655b2f2da9c8054"}, {"document_id": "1298691", "title": "Demonstrações Financeiras - Fusão, cisão e incorporação", "reference_date": "2026-05-08", "version": "1", "page": 32, "url": "https://fnet.bmfbovespa.com.br/fnet/publico/visualizarDocumento?id=1298691", "sha256": "58c570d9b8d4d265330d3db3ea81c435b8e44a6dab4002aa37790652a1ee9819"}, {"document_id": "1282180", "title": "Demonstrações Financeiras - Fusão, cisão e incorporação", "reference_date": "2026-04-28", "version": "1", "page": 32, "clause": "15.000.000", "url": "https://fnet.bmfbovespa.com.br/fnet/publico/visualizarDocumento?id=1282180", "sha256": "afaaa0e6809be4385e5bdb6c911aac582032c5bdbac3d7750234bf9eaf00438a"}], "reference": {"path": "history/63953620000165.json", "criterion_id": "res175", "total_count": 9, "preview_count": 3, "full_text_deferred": true, "sha256": "a7b89077f5e21098c2d601c303faabc3ff6b9729f89d8afecdc60fe1404720c1"}}</a:t>
            </a:r>
          </a:p>
          <a:p>
            <a:r>
              <a:t>CNPJ 54871427000194 · Duração e público-alvo · Demonstrações Financeiras - Fusão, cisão e incorporação · ID 1219522 · 2026-02-02 · versão 1 · p. 11 · https://fnet.bmfbovespa.com.br/fnet/publico/visualizarDocumento?id=1219522</a:t>
            </a:r>
          </a:p>
          <a:p>
            <a:r>
              <a:t>CNPJ 54871427000194 · Duração e público-alvo · Excerto da fonte:</a:t>
            </a:r>
          </a:p>
          <a:p>
            <a:r>
              <a:t>O Consignado Delta Receivables I Fundo de Investimento em Direitos Creditórios possui uma classe única de cotas, denominada Classe Única de Responsabilidade Limitada do Consignado Delta Receivables I Fundo de Investimento em Direitos Creditórios (“Classe”). A Classe foi constituída em 19 de abril de 2024, sob a forma de condomínio fechado e iniciou suas operações em 27 de maio de 2024. A Classe possui prazo de duração Indeterminado.</a:t>
            </a:r>
          </a:p>
          <a:p>
            <a:r>
              <a:t>CNPJ 54871427000194 · Duração e público-alvo · Condição: Documentos atuais selecionados no inventário por categoria/escopo; a data documental isolada não comprova vigência jurídica.</a:t>
            </a:r>
          </a:p>
          <a:p>
            <a:r>
              <a:t>CNPJ 54871427000194 · Duração e público-alvo · Versão e prevalência: Documentos atuais selecionados no inventário por categoria/escopo; a data documental isolada não comprova vigência jurídica.</a:t>
            </a:r>
          </a:p>
          <a:p>
            <a:r>
              <a:t>CNPJ 54871427000194 · Duração e público-alvo · Resumo do histórico: {"count": 11, "dates": ["2024-12-31", "2025-01-01", "2025-12-31"], "document_count": 3, "sources": [{"document_id": "1151805", "title": "Demonstrações Financeiras", "reference_date": "2025-12-31", "version": "1", "page": 11, "url": "https://fnet.bmfbovespa.com.br/fnet/publico/visualizarDocumento?id=1151805", "sha256": "f1cea70b152968bf96ef9221b27225953cb20aeef487b2798db3c25e11b528d4"}, {"document_id": "869529", "title": "Demonstrações Financeiras", "reference_date": "2025-01-01", "version": "1", "page": 11, "url": "https://fnet.bmfbovespa.com.br/fnet/publico/visualizarDocumento?id=869529", "sha256": "9a93a9369ac8efdbc54ff8fcee3ccac3abf88edab4807b9323d3852450771b2a"}, {"document_id": "870070", "title": "Demonstrações Financeiras", "reference_date": "2024-12-31", "version": "1", "page": 11, "url": "https://fnet.bmfbovespa.com.br/fnet/publico/visualizarDocumento?id=870070", "sha256": "9a93a9369ac8efdbc54ff8fcee3ccac3abf88edab4807b9323d3852450771b2a"}], "reference": {"path": "history/54871427000194.json", "criterion_id": "duration_investors", "total_count": 11, "preview_count": 3, "full_text_deferred": true, "sha256": "35d7cd99be50c7287c9fb675cf4f2e736002315295a225a9efa79c8d9186d874"}}</a:t>
            </a:r>
          </a:p>
          <a:p>
            <a:r>
              <a:t>CNPJ 60010416000112 · Duração e público-alvo · Demonstrações Financeiras - Fusão, cisão e incorporação · ID 1298690 · 2026-05-08 · versão 1 · p. 9 · https://fnet.bmfbovespa.com.br/fnet/publico/visualizarDocumento?id=1298690</a:t>
            </a:r>
          </a:p>
          <a:p>
            <a:r>
              <a:t>CNPJ 60010416000112 · Duração e público-alvo · Excerto da fonte:</a:t>
            </a:r>
          </a:p>
          <a:p>
            <a:r>
              <a:t>1. Contexto operacional  O MT Consignado Privado I Fundo de Investimento em Direitos Creditórios (“Fundo”) possui uma  classe única de cotas, denominada Classe Única do MT I Consignado Privado I Fundo de  Investimento em Direitos Creditórios Responsabilidade Limitada (“Classe”). A Classe foi  constituída em 20 de março de 2025, sob a forma de condomínio fechado e iniciou suas  operações em 21 de março de 2025. A Classe possui prazo de duração indeterminado.</a:t>
            </a:r>
          </a:p>
          <a:p>
            <a:r>
              <a:t>CNPJ 60010416000112 · Duração e público-alvo · Demonstrações Financeiras - Fusão, cisão e incorporação · ID 1298690 · 2026-05-08 · versão 1 · p. 22 · https://fnet.bmfbovespa.com.br/fnet/publico/visualizarDocumento?id=1298690</a:t>
            </a:r>
          </a:p>
          <a:p>
            <a:r>
              <a:t>CNPJ 60010416000112 · Duração e público-alvo · Excerto da fonte:</a:t>
            </a:r>
          </a:p>
          <a:p>
            <a:r>
              <a:t>(ii) Riscos do mercado secundário: A Classe é constituída sob a forma de condomínio  fechado, de modo que as Cotas Subordinadas somente serão resgatadas em virtude da  liquidação da Classe e as Cotas Seniores ao término do seu prazo de duração, conforme  estabelecidos nos respectivos Suplementos. Uma vez que o prazo de duração da Classe  é indeterminado, o Cotista titular das Cotas Subordinadas não terá liquidez em seu  investimento na Classe, exceto (a) por ocasião das amortizações e dos resgates, nos  termos do Regulamento; (b) por meio da alienação de suas Cotas no mercado  secundário, observado, neste caso, que sua alienação apenas é permitida para o Público-  Alvo das Cotas Subordinadas; ou (c) na liquidação antecipada do Fundo ou da Classe.</a:t>
            </a:r>
          </a:p>
          <a:p>
            <a:r>
              <a:t> Além disso, atualmente, o mercado secundário de cotas de fundos de investimento  apresenta baixa liquidez, o que pode dificultar a venda das Cotas ou ocasionar a obtenção  de um preço de venda que cause perda de patrimônio ao Cotista. Não há qualquer  garantia da Administradora, da Gestora, da consultora ou do Custodiante em relação à  possibilidade de venda das Cotas no mercado secundário ou ao preço obtido por elas,  ou mesmo garantia de saída ao Cotista.</a:t>
            </a:r>
          </a:p>
          <a:p>
            <a:r>
              <a:t>CNPJ 60010416000112 · Duração e público-alvo · Condição: Documentos atuais selecionados no inventário por categoria/escopo; a data documental isolada não comprova vigência jurídica.</a:t>
            </a:r>
          </a:p>
          <a:p>
            <a:r>
              <a:t>CNPJ 60010416000112 · Duração e público-alvo · Versão e prevalência: Documentos atuais selecionados no inventário por categoria/escopo; a data documental isolada não comprova vigência jurídica.</a:t>
            </a:r>
          </a:p>
          <a:p>
            <a:r>
              <a:t>CNPJ 60010416000112 · Duração e público-alvo · Resumo do histórico: {"count": 9, "dates": ["2025-11-30", "2026-03-18", "2026-04-16"], "document_count": 3, "sources": [{"document_id": "1282181", "title": "Demonstrações Financeiras - Fusão, cisão e incorporação", "reference_date": "2026-04-16", "version": "1", "page": 23, "url": "https://fnet.bmfbovespa.com.br/fnet/publico/visualizarDocumento?id=1282181", "sha256": "b1c6566e43a00bcd00c8a7f30c77b7f86e351bd8e355bbea113f46d1dafda703"}, {"document_id": "1224477", "title": "Demonstrações Financeiras - Fusão, cisão e incorporação", "reference_date": "2026-03-18", "version": "1", "page": 23, "url": "https://fnet.bmfbovespa.com.br/fnet/publico/visualizarDocumento?id=1224477", "sha256": "0751bf0a75bc3b44c2748f5000226665c6ec6698a90c4dc6170b4e6c187759ae"}, {"document_id": "1126154", "title": "Demonstrações Financeiras", "reference_date": "2025-11-30", "version": "1", "page": 23, "url": "https://fnet.bmfbovespa.com.br/fnet/publico/visualizarDocumento?id=1126154", "sha256": "a01e7ccf88c548f12c95cba8526d7efbef6b585c112cd4668eca781c292090b0"}], "reference": {"path": "history/60010416000112.json", "criterion_id": "duration_investors", "total_count": 9, "preview_count": 3, "full_text_deferred": true, "sha256": "8e2bd813f4c51cf01f6bfaad164bafe69d2bbb192f753eac92da3a01c2e63046"}}</a:t>
            </a:r>
          </a:p>
          <a:p>
            <a:r>
              <a:t>CNPJ 62696791000193 · Duração e público-alvo · Regulamento · ID 1143317 · 2026-03-20 · versão 1 · p. 18 · 8.8.1 · https://fnet.bmfbovespa.com.br/fnet/publico/visualizarDocumento?id=1143317</a:t>
            </a:r>
          </a:p>
          <a:p>
            <a:r>
              <a:t>CNPJ 62696791000193 · Duração e público-alvo · Excerto da fonte:</a:t>
            </a:r>
          </a:p>
          <a:p>
            <a:r>
              <a:t>8.8.1 As Chamadas de Capital para a realização de investimentos serão realizadas a qualquer  momento durante o Período de Investimento e estarão limitadas ao valor do capital subscrito  de cada Cotista. As Chamadas de Capital para o pagamento de despesas e encargos do Fundo  poderão ser realizadas a qualquer momento durante o Prazo de Duração, mas não estarão  limitadas ao valor do capital subscrito de cada Cotista.</a:t>
            </a:r>
          </a:p>
          <a:p>
            <a:r>
              <a:t>CNPJ 62696791000193 · Duração e público-alvo · Regulamento · ID 1143317 · 2026-03-20 · versão 1 · p. 20 · 9.5.1 · https://fnet.bmfbovespa.com.br/fnet/publico/visualizarDocumento?id=1143317</a:t>
            </a:r>
          </a:p>
          <a:p>
            <a:r>
              <a:t>CNPJ 62696791000193 · Duração e público-alvo · Excerto da fonte:</a:t>
            </a:r>
          </a:p>
          <a:p>
            <a:r>
              <a:t>9.5.1 Ao f inal do Prazo de Duração ou quando da liquidação antecipada da Classe, todas as Cotas  deverão ter seu valor integralmente amortizado. Não havendo recursos em moeda corrente  nacional suficientes para realizar o pagamento da amortização total das Cotas em circulação à  época da liquidação da Classe, o Administrador deverá convocar a Assembleia Especial de  Cotistas a fim de deliberar sobre a prorrogação do Prazo de Duração ou o resgate de Cotas em  Direitos Creditórios do Agronegócio e/ou Outros Ativos .</a:t>
            </a:r>
          </a:p>
          <a:p>
            <a:r>
              <a:t>10 ASSEMBLEIA ESPECIAL DE COTISTAS</a:t>
            </a:r>
          </a:p>
          <a:p>
            <a:r>
              <a:t>CNPJ 62696791000193 · Duração e público-alvo · Regulamento · ID 1143317 · 2026-03-20 · versão 1 · p. 23 · 11.1 · https://fnet.bmfbovespa.com.br/fnet/publico/visualizarDocumento?id=1143317</a:t>
            </a:r>
          </a:p>
          <a:p>
            <a:r>
              <a:t>CNPJ 62696791000193 · Duração e público-alvo · Excerto da fonte:</a:t>
            </a:r>
          </a:p>
          <a:p>
            <a:r>
              <a:t>11.1 A Classe será liquidada (i) em caso da liquidação antecipada deliberada em Assembleia Especial de  Cotistas; ou (ii) pelo encerramento do Prazo de Duração da Classe.</a:t>
            </a:r>
          </a:p>
          <a:p>
            <a:r>
              <a:t>CNPJ 62696791000193 · Duração e público-alvo · Condição: Documentos atuais selecionados no inventário por categoria/escopo; a data documental isolada não comprova vigência jurídica.</a:t>
            </a:r>
          </a:p>
          <a:p>
            <a:r>
              <a:t>CNPJ 62696791000193 · Duração e público-alvo · Versão e prevalência: Documentos atuais selecionados no inventário por categoria/escopo; a data documental isolada não comprova vigência jurídica.</a:t>
            </a:r>
          </a:p>
          <a:p>
            <a:r>
              <a:t>CNPJ 55563624000109 · Duração e público-alvo · AGE · ID 1306189 · 2026-08-25 · versão 1 · p. 1 · 4.1 · https://fnet.bmfbovespa.com.br/fnet/publico/visualizarDocumento?id=1306189</a:t>
            </a:r>
          </a:p>
          <a:p>
            <a:r>
              <a:t>CNPJ 55563624000109 · Duração e público-alvo · Excerto da fonte:</a:t>
            </a:r>
          </a:p>
          <a:p>
            <a:r>
              <a:t>4.1 Nos termos do Anexo da Classe, aprovar:</a:t>
            </a:r>
          </a:p>
          <a:p>
            <a:r>
              <a:t>(i) a liquidação da Subclasse A da Classe, considerando o encerramento do seu prazo de duração, por meio do  resgate integral de Cotas da Subclasse A com entrega de financeiro aos Cotistas. Será utilizada como data  base no cálculo da cota do dia 25 de agosto de 2026, com efetivação no fechamento do dia 27 de agosto de  2026; e</a:t>
            </a:r>
          </a:p>
          <a:p>
            <a:r>
              <a:t>(ii) a liquidação antecipada da Subclasse C da Classe, por meio do resgate integral de Cotas da Subclasse C com  entrega de financeiro aos Cotistas. Será utilizada como data base no cálculo da cota do dia 25 de agosto de  2026, com efetivação no fechamento do dia 27 de agosto de 2026.</a:t>
            </a:r>
          </a:p>
          <a:p>
            <a:r>
              <a:t>CNPJ 55563624000109 · Duração e público-alvo · Condição: Documentos atuais selecionados no inventário por categoria/escopo; a data documental isolada não comprova vigência jurídica.</a:t>
            </a:r>
          </a:p>
          <a:p>
            <a:r>
              <a:t>CNPJ 55563624000109 · Duração e público-alvo · Versão e prevalência: Documentos atuais selecionados no inventário por categoria/escopo; a data documental isolada não comprova vigência jurídica.</a:t>
            </a:r>
          </a:p>
          <a:p>
            <a:r>
              <a:t>CNPJ 55563624000109 · Duração e público-alvo · Resumo do histórico: {"count": 6, "dates": ["2026-04-30"], "document_count": 2, "sources": [{"document_id": "1192614", "title": "Regulamento", "reference_date": "2026-04-30", "version": "1", "page": "9, 15, 45-50", "url": "https://fnet.bmfbovespa.com.br/fnet/publico/visualizarDocumento?id=1192614", "sha256": "f56e63ace0acde41d2f47fb48f1ac7f3f7df5e2d32de092d7c5e075a52516632"}, {"document_id": "1192614", "title": "Regulamento", "reference_date": "2026-04-30", "version": "1", "page": 5, "clause": "4.7.1", "url": "https://fnet.bmfbovespa.com.br/fnet/publico/visualizarDocumento?id=1192614", "sha256": "f56e63ace0acde41d2f47fb48f1ac7f3f7df5e2d32de092d7c5e075a52516632"}, {"document_id": "1192603", "title": "AGE", "reference_date": "2026-04-30", "version": "1", "page": 1, "clause": "4.1", "url": "https://fnet.bmfbovespa.com.br/fnet/publico/visualizarDocumento?id=1192603", "sha256": "f53ff2a5b715f5365536305a098f9cc0c54b5a01128942d784915bed8eeb0288"}], "reference": {"path": "history/55563624000109.json", "criterion_id": "duration_investors", "total_count": 6, "preview_count": 3, "full_text_deferred": true, "sha256": "7835d573fb58a3c19adf5b8ecc2aee2bdbb9a88f7a0c0209b5f262b64c7522e3"}}</a:t>
            </a:r>
          </a:p>
          <a:p>
            <a:r>
              <a:t>CNPJ 62552447000120 · Duração e público-alvo · Regulamento · ID 1200623 · 2026-05-21 · versão 1 · p. 22 · 10.4 · https://fnet.bmfbovespa.com.br/fnet/publico/visualizarDocumento?id=1200623</a:t>
            </a:r>
          </a:p>
          <a:p>
            <a:r>
              <a:t>CNPJ 62552447000120 · Duração e público-alvo · Excerto da fonte:</a:t>
            </a:r>
          </a:p>
          <a:p>
            <a:r>
              <a:t>10.4 Tendo em vista que a Classe é exclusivamente destinada a Investidores Profissionais, não serão  aplicáveis as vedações ao direito a voto em assembleia de cotistas dispostas no artigo 78 da Resolução  CVM 175, conf orme disposto no artigo 114 da ref erida Resolução.</a:t>
            </a:r>
          </a:p>
          <a:p>
            <a:r>
              <a:t>CNPJ 62552447000120 · Duração e público-alvo · Regulamento · ID 1200623 · 2026-05-21 · versão 1 · p. 35 · https://fnet.bmfbovespa.com.br/fnet/publico/visualizarDocumento?id=1200623</a:t>
            </a:r>
          </a:p>
          <a:p>
            <a:r>
              <a:t>CNPJ 62552447000120 · Duração e público-alvo · Excerto da fonte:</a:t>
            </a:r>
          </a:p>
          <a:p>
            <a:r>
              <a:t>ativos desses emissores, causando perdas à Classe e ao Cotista. Além disso, a f alta de capacidade ou disposição de pagar por qualquer dos emissores dos Ativos Financeiros de Liquidez ou das contrapartes nas transações que compõem a Carteira causará perdas à Classe, e o que também poderá incorrer em custos para f ins de recuperação de seus recebíveis.</a:t>
            </a:r>
          </a:p>
          <a:p>
            <a:r>
              <a:t>(v) Riscos associados aos Devedores: no caso de Devedores no âmbito das operações de consignado privado, a sua capacidade de pagamento poderá ser af etada se, por exemplo, o Devedor tiver o seu contrato de emprego rescindido ou em virtude de decisão judicial, o Devedor for obrigado a pagar alimentos, que têm prioridade sobre o empréstimo para f ins de desconto na f 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 etar a rentabilidade da Classe. Já no caso de Devedores no âmbito das operações de Saque-aniversário, como os Direitos Creditórios a serem endossados à Classe serão descontados pelo FGTS da remuneração do Devedor, na ocorrência de qualquer evento que, nos termos da legislação aplicável, determine o pagamento antecipado do Saque-aniversário ao Devedor, a exemplo do falecimento do Devedor, dentre outros, as parcelas do Saque- aniversário serão pagas antecipadamente e a Classe deverá utilizar tais montantes no pré-pagamento dos Direitos Creditórios. Nesta hipótese, a Classe poderá não encontrar Direitos Creditórios disponíveis para serem adquiridos pela Classe, o que poderá af etar a rentabilidade da Classe.</a:t>
            </a:r>
          </a:p>
          <a:p>
            <a:r>
              <a:t>Risco de liquidez</a:t>
            </a:r>
          </a:p>
          <a:p>
            <a:r>
              <a:t>(i) Risco de liquidez: consiste no risco de redução ou inexistência de demanda pelos ativos que compõem a Classe nos respectivos mercados em que são negociados, devido às condições específicas desses ativos ou aos mercados em que são negociados. Devido a esses riscos, o Gestor poderá encontrar dificuldades em liquidar posições ou negociar esses ativos pelo preço e prazo desejados, de acordo com a estratégia de gestão adotada pela Classe, que permanecerá exposto, durante o período de baixa liquidez, aos riscos associados a esses ativos e posições assumidas em mercados de derivativos, se houver, que poderão até exigir que o Gestor aceite descontos em seus preços para realizar negociações no mercado. Esses f atores poderão prejudicar o pagamento de Amortizações ao Cotista, nos valores e dentro dos termos aqui estabelecidos.</a:t>
            </a:r>
          </a:p>
          <a:p>
            <a:r>
              <a:t>(ii) Riscos do mercado secundário: A Classe é constituída sob a f orma de condomínio fechado, de modo que as Cotas somente serão resgatadas em virtude da liquidação da Classe. Uma vez que o Prazo de Duração da Classe é indeterminado, o Cotista titular das Cotas não terá liquidez em seu investimento na Classe, exceto</a:t>
            </a:r>
          </a:p>
          <a:p>
            <a:r>
              <a:t>(a) por ocasião das Amortizações e dos resgates, nos termos deste Regulamento; (b) por meio da alienação de suas Cotas no mercado secundário; ou (c) na liquidação antecipada do FUNDO ou da Classe.</a:t>
            </a:r>
          </a:p>
          <a:p>
            <a:r>
              <a:t>Além disso, atualmente, o mercado secundário de cotas de fundos de investimento apresenta baixa liquidez, o que pode dificultar a venda das Cotas ou ocasionar a obtenção de um preço de venda que cause perda de patrimônio ao Cotista. Não há qualquer garantia do Administrador, do Gestor, da consultora ou do Custodiante em relação à possibilidade de venda das Cotas no mercado secundário ou ao preço obtido por elas, ou mesmo garantia de saída ao Cotista.</a:t>
            </a:r>
          </a:p>
          <a:p>
            <a:r>
              <a:t>Riscos específicos</a:t>
            </a:r>
          </a:p>
          <a:p>
            <a:r>
              <a:t>(i)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ficar inadimplente e, consequentemente, não haverá repasse à Classe do respectivo Direito Creditório, o que poderá resultar em perdas f inanceiras à Classe e aos Cotistas. Para os f ins deste Regulamento, “Empregador” signif ica a empresa com qual o Devedor mantém vínculo empregatício registrado junto à CTPS.</a:t>
            </a:r>
          </a:p>
          <a:p>
            <a:r>
              <a:t>(ii) Risco do Empregador não efetuar o desconto em folha: o repasse dos recursos oriundos dos Direitos Creditórios à Classe depende da realização, pelo Empregador, da escrituração da Consignação a ser</a:t>
            </a:r>
          </a:p>
          <a:p>
            <a:r>
              <a:t>CNPJ 62552447000120 · Duração e público-alvo · Regulamento · ID 1200623 · 2026-05-21 · versão 1 · p. 1 · 1.3 · https://fnet.bmfbovespa.com.br/fnet/publico/visualizarDocumento?id=1200623</a:t>
            </a:r>
          </a:p>
          <a:p>
            <a:r>
              <a:t>CNPJ 62552447000120 · Duração e público-alvo · Excerto da fonte:</a:t>
            </a:r>
          </a:p>
          <a:p>
            <a:r>
              <a:t>1.3 Durante o seu prazo de duração, o Fundo, por ato conjunto dos Prestadores de Serviços Essenciais,  poderá constituir diferentes Classes e Subclasses , sendo que cada Classe terá patrimônio segregado e</a:t>
            </a:r>
          </a:p>
          <a:p>
            <a:r>
              <a:t>CNPJ 62552447000120 · Duração e público-alvo · Condição: Documentos atuais selecionados no inventário por categoria/escopo; a data documental isolada não comprova vigência jurídica.</a:t>
            </a:r>
          </a:p>
          <a:p>
            <a:r>
              <a:t>CNPJ 62552447000120 · Duração e público-alvo · Versão e prevalência: Documentos atuais selecionados no inventário por categoria/escopo; a data documental isolada não comprova vigência jurídica.</a:t>
            </a:r>
          </a:p>
          <a:p>
            <a:r>
              <a:t>CNPJ 62552447000120 · Duração e público-alvo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"duration_investors", "total_count": 1, "preview_count": 1, "full_text_deferred": true, "sha256": "d95db8c0613d67ee84118c734588665265ea6b02f86a0318d6a844cbe1d0f82f"}}</a:t>
            </a:r>
          </a:p>
          <a:p>
            <a:r>
              <a:t>CNPJ 63953620000165 · Duração e público-alvo · Anexo ao Regulamento · ID 1222863 · 2026-06-02 · versão 1 · p. 2 · https://fnet.bmfbovespa.com.br/fnet/publico/visualizarDocumento?id=1222863</a:t>
            </a:r>
          </a:p>
          <a:p>
            <a:r>
              <a:t>CNPJ 63953620000165 · Duração e público-alvo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Duração e público-alvo · Anexo ao Regulamento · ID 1222863 · 2026-06-02 · versão 1 · p. 1 · 1.1 · https://fnet.bmfbovespa.com.br/fnet/publico/visualizarDocumento?id=1222863</a:t>
            </a:r>
          </a:p>
          <a:p>
            <a:r>
              <a:t>CNPJ 63953620000165 · Duração e público-alvo · Excerto da fonte:</a:t>
            </a:r>
          </a:p>
          <a:p>
            <a:r>
              <a:t>1.1 As principais características da Classe Consignado Privado (para fins deste Anexo, “Classe”) estão descritas  abaixo:</a:t>
            </a:r>
          </a:p>
          <a:p>
            <a:r>
              <a:t> Tipo de Condomínio Fechado.</a:t>
            </a:r>
          </a:p>
          <a:p>
            <a:r>
              <a:t> Indeterminado, exceto se de outra forma vier a ser deliberado pelos Cotistas  Prazo de Duração  reunidos em Assembleia Especial de Cotistas. (“Prazo de Duração”)  Tipo “Financeiro”.</a:t>
            </a:r>
          </a:p>
          <a:p>
            <a:r>
              <a:t> Classificação ANBIMA  Foco de atuação “Créditos Consignados”.</a:t>
            </a:r>
          </a:p>
          <a:p>
            <a:r>
              <a:t> O objetivo da classe é proporcionar aos seus Cotistas a valorização de suas Cotas  por meio da aplicação de seu Patrimônio Líquido (conforme definido abaixo) na  aquisição de: (i) “Direitos Creditórios Crédito Consignado”, representados por  cédula de crédito bancário regida pela Lei nº 10.931, emitida eletronicamente por  um devedor em favor do endossante (“CCB”) e, consequentemente, os recebíveis  decorrente de cada uma das parcelas vincendas, representando um empréstimo  consignado concedido pelo endossante ao devedor, e cujo pagamento ordinário  é feito por desconto de cada prestação vincenda de uma CCB na folha de  pagamentos do devedor (“Consignação”), efetuada pela Caixa Econômica  Federal, de acordo com a legislação aplicável e em conformidade com os  procedimentos estabelecidos no convênio celebrado entre o Endossante e a  Empresa de Tecnologia e Informações da Previdência – DATAPREV e paga na  Conta Vinculada do Endossante (“Convênio Consignado Privado”); e/ou (ii)  “Direitos Creditórios TVM”, representados por direitos, títulos e/ou valores  mobiliários representativos de créditos originados no âmbito de operações de  sociedades integrantes do conglomerado econômico de instituições financeiras  classificadas como S1 pelo BACEN, desde que não representem títulos de  emissão ou coobrigação de instituições financeiras, bem como cotas de fundos  de investimento que invistam preponderantemente nestes direitos, títulos e/ou  Objetivo  valores mobiliários (Direitos Creditórios TVM quando referidos em conjunto  com os Direitos Creditórios Consignado Privado, “Direitos Creditórios”)  observados todos os limites de composição e diversificação da carteira da Classe  (“Carteira”), estabelecidos neste Regulamento e na regulamentação aplicável.</a:t>
            </a:r>
          </a:p>
          <a:p>
            <a:r>
              <a:t> Subsidiariamente, a parcela do Patrimônio Líquido que não esteja alocada em  Direitos Creditórios poderá estar alocado em: (1) certificados de depósito  bancário (CDB) ou recibos de depósito bancário (RDB) com prazo máximo de  vencimento equivalente ao prazo remanescente do Período de Investimento, com  liquidez diária, emitidos por Parati Crédito, Financiamento e Investimento S.A.</a:t>
            </a:r>
          </a:p>
          <a:p>
            <a:r>
              <a:t> e/ou pelo Endossante (“Ativos de Liquidez MT”); e/ou (2) (i) moeda corrente  nacional; (ii) títulos do Tesouro SELIC, anteriormente denominado letra financeira  do Tesouro Nacional (LFT); (iii) certificados de depósito bancário (CDB) ou recibos  de depósito bancário (RDB) com prazo máximo de vencimento equivalente ao  prazo remanescente do Período de Investimento, com liquidez diária, emitidos  por (a) Itaú Unibanco S.A.; (b) Banco Bradesco S.A.; (c) Caixa Econômica Federal;</a:t>
            </a:r>
          </a:p>
          <a:p>
            <a:r>
              <a:t> (d) Banco do Brasil S.A.; (e) Banco Santander (Brasil) S.A.; (f) Banco BTG Pactual  S.A.; (g) Banco Sistema S.A. (“Instituições Autorizadas”); (iv) operações  compromissadas, desde que lastreadas nos títulos mencionados nas alíneas (i) a</a:t>
            </a:r>
          </a:p>
          <a:p>
            <a:r>
              <a:t> (iii) acima, emitidas por Instituições Autorizadas, com liquidez diária e vencimento</a:t>
            </a:r>
          </a:p>
          <a:p>
            <a:r>
              <a:t>CNPJ 63953620000165 · Duração e público-alvo · Anexo ao Regulamento · ID 1222863 · 2026-06-02 · versão 1 · p. 10 · 6.7.1 · https://fnet.bmfbovespa.com.br/fnet/publico/visualizarDocumento?id=1222863</a:t>
            </a:r>
          </a:p>
          <a:p>
            <a:r>
              <a:t>CNPJ 63953620000165 · Duração e público-alvo · Excerto da fonte:</a:t>
            </a:r>
          </a:p>
          <a:p>
            <a:r>
              <a:t>6.7.1 As Chamadas de Capital para a realização de investimentos serão realizadas a qualquer momento  durante o Período de Investimento e estarão limitadas ao valor do capital subscrito de cada Cotista. As  Chamadas de Capital para o pagamento de despesas e encargos do Fundo, com exceção de despesas  relacionadas à instrumentos de derivativos e/ou Encargos não previstos no âmbito deste regulamento,  poderão ser realizadas a qualquer momento durante o Prazo de Duração, mas não estarão limitadas ao  valor do capital subscrito de cada Cotista.</a:t>
            </a:r>
          </a:p>
          <a:p>
            <a:r>
              <a:t>CNPJ 63953620000165 · Duração e público-alvo · Condição: Documentos atuais selecionados no inventário por categoria/escopo; a data documental isolada não comprova vigência jurídica.</a:t>
            </a:r>
          </a:p>
          <a:p>
            <a:r>
              <a:t>CNPJ 63953620000165 · Duração e público-alvo · Versão e prevalência: Documentos atuais selecionados no inventário por categoria/escopo; a data documental isolada não comprova vigência jurídica.</a:t>
            </a:r>
          </a:p>
          <a:p>
            <a:r>
              <a:t>CNPJ 63953620000165 · Duração e público-alvo · Resumo do histórico: {"count": 8, "dates": ["2026-04-28", "2026-05-08", "2026-05-15"], "document_count": 3, "sources": [{"document_id": "1327859", "title": "Demonstrações Financeiras - Fusão, cisão e incorporação", "reference_date": "2026-05-15", "version": "1", "page": 9, "url": "https://fnet.bmfbovespa.com.br/fnet/publico/visualizarDocumento?id=1327859", "sha256": "dca1c68babb97f887528c3e2e47596a9c30f507b067981a35655b2f2da9c8054"}, {"document_id": "1298691", "title": "Demonstrações Financeiras - Fusão, cisão e incorporação", "reference_date": "2026-05-08", "version": "1", "page": 9, "url": "https://fnet.bmfbovespa.com.br/fnet/publico/visualizarDocumento?id=1298691", "sha256": "58c570d9b8d4d265330d3db3ea81c435b8e44a6dab4002aa37790652a1ee9819"}, {"document_id": "1282180", "title": "Demonstrações Financeiras - Fusão, cisão e incorporação", "reference_date": "2026-04-28", "version": "1", "page": 9, "url": "https://fnet.bmfbovespa.com.br/fnet/publico/visualizarDocumento?id=1282180", "sha256": "afaaa0e6809be4385e5bdb6c911aac582032c5bdbac3d7750234bf9eaf00438a"}], "reference": {"path": "history/63953620000165.json", "criterion_id": "duration_investors",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Alocação e perímetro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Alocação mínima · Base da comparação IME: {"criterion_id": "allocation", "observed_value": 91.84981349574433, "unit": "percent", "competence": "08/2026", "status": "not_comparable", "reason": "Vigência efetiva não comprovada; data do documento isolada não certifica enquadramento histórico.", "formula": "credit_rights / net_asset_value × 100",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50.0}</a:t>
            </a:r>
          </a:p>
          <a:p>
            <a:r>
              <a:t>CNPJ 54871427000194 · Alocação mínima · Regulamento · ID 670691 · 28/04/2024 · versão Regulamento — referência 28/04/2024 · p. 11 · Anexo I, 4.9 · https://fnet.bmfbovespa.com.br/fnet/publico/visualizarDocumento?id=670691</a:t>
            </a:r>
          </a:p>
          <a:p>
            <a:r>
              <a:t>CNPJ 54871427000194 · Alocação mínima · Excerto da fonte:</a:t>
            </a:r>
          </a:p>
          <a:p>
            <a:r>
              <a:t>4.9 Decorridos 180 (cento e oitenta) dias da Data da 1ª Integralização de Cotas, a Classe deverá manter alocado, no mínimo, 50% (cinquenta por cento) do seu Patrimônio Líquido em Direitos Creditórios . 4.10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4.11 A Classe poderá, direta ou indiretamente e, nos termos da legislação aplicável: (i) adquirir Direitos Creditórios que sejam cedidos e/ou originados pelo ADMINISTRADOR e/ou pelo GESTOR, ou partes a eles relacionadas, tal como definidas pelas regras contábeis que tratam desse assunto; e (ii) ceder Direitos Creditórios a qualquer das pessoas, fundos de investimento ou entidades referidas n</a:t>
            </a:r>
          </a:p>
          <a:p>
            <a:r>
              <a:t>CNPJ 54871427000194 · Alocação mínima · Mecânica: {"operator": "&gt;=", "limit": 50.0, "unit": "percent", "numerator": "credit_rights", "denominator": "net_asset_value", "frequency": "daily", "layer": "54871427000194", "document_date": "2024-04-28", "effective_status": "document_date_only", "initial_days": 180}</a:t>
            </a:r>
          </a:p>
          <a:p>
            <a:r>
              <a:t>CNPJ 54871427000194 · Alocação mínima · Versão e prevalência: Leitura específica das cláusulas indicadas; condições e conflitos preservados. Seleção documental atual não comprova vigência jurídica por data isolada.</a:t>
            </a:r>
          </a:p>
          <a:p>
            <a:r>
              <a:t>CNPJ 54871427000194 · Alocação mínima · Resumo do histórico: {"count": 2, "dates": ["2024-04-19", "2024-04-28"], "document_count": 2, "sources": [{"document_id": "670691", "title": "Regulamento", "reference_date": "2024-04-28", "version": "1", "page": "11", "url": "https://fnet.bmfbovespa.com.br/fnet/publico/visualizarDocumento?id=670691", "sha256": "bf16dd7f1a62d5cdbf2e2d54fef81783783f7310fbc99c3a8f00459bdf9d037b"}, {"document_id": "670689", "title": "Regulamento", "reference_date": "2024-04-19", "version": "1", "page": 11, "clause": "4.9", "url": "https://fnet.bmfbovespa.com.br/fnet/publico/visualizarDocumento?id=670689", "sha256": "891bc9bc5d87bbc02ec139077a84d2702eb81ea02035fb71d24f5b8366b94a0b"}], "reference": {"path": "history/54871427000194.json", "criterion_id": "allocation", "total_count": 2, "preview_count": 2, "full_text_deferred": true, "sha256": "35d7cd99be50c7287c9fb675cf4f2e736002315295a225a9efa79c8d9186d874"}}</a:t>
            </a:r>
          </a:p>
          <a:p>
            <a:r>
              <a:t>CNPJ 60010416000112 · Alocação mínima · Base da comparação IME: {"criterion_id": "allocation", "observed_value": 117.78665480900618, "unit": "percent", "competence": "08/2026", "status": "not_comparable", "reason": "Vigência efetiva não comprovada; data do documento isolada não certifica enquadramento histórico.", "formula": "credit_rights / net_asset_value × 100",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50.0}</a:t>
            </a:r>
          </a:p>
          <a:p>
            <a:r>
              <a:t>CNPJ 60010416000112 · Alocação mínima · Regulamento · ID 1051393 · 09/10/2025 · versão Regulamento09/10/2025 · p. 11 · AnexoI4.6 · https://fnet.bmfbovespa.com.br/fnet/publico/visualizarDocumento?id=1051393</a:t>
            </a:r>
          </a:p>
          <a:p>
            <a:r>
              <a:t>CNPJ 60010416000112 · Alocação mínima · Excerto da fonte:</a:t>
            </a:r>
          </a:p>
          <a:p>
            <a:r>
              <a:t>4.6 Decorridos 180 (cento e oitenta) dias do início de suas atividades, a Classe deverá manter alocado, no mínimo: para f ins tributários, 67% (sessenta e sete por cento) do seu Patrimônio Líquido em Direitos Creditórios, nos termos da Resolução CMN 5.111; e para fins regulatórios, 50% (cinquenta por cento) do seu Patrimônio Líquido em Direitos Creditórios, nos termos da Resolução CVM 175. BTG Pactual SAC: 0800 772 28 27 - Ouvidoria: 0800 722 00 48 - btgpactual.com 11</a:t>
            </a:r>
          </a:p>
          <a:p>
            <a:r>
              <a:t>CNPJ 60010416000112 · Alocação mínima · Mecânica: {"operator": "&gt;=", "unit": "percent", "denominator": "net_asset_value", "frequency": "not_stated", "layer": "class", "effective_status": "document_date_only", "document_date": "2025-10-09", "numerator": "credit_rights", "limit": 50.0, "requires_initial_date": true}</a:t>
            </a:r>
          </a:p>
          <a:p>
            <a:r>
              <a:t>CNPJ 60010416000112 · Alocação mínima · Versão e prevalência: Leitura específica das cláusulas indicadas; condições e conflitos preservados. Seleção documental atual não comprova vigência jurídica por data isolada.</a:t>
            </a:r>
          </a:p>
          <a:p>
            <a:r>
              <a:t>CNPJ 60010416000112 · Alocação mínima · Resumo do histórico: {"count": 2, "dates": ["2025-03-20", "2025-10-09"], "document_count": 2, "sources": [{"document_id": "1051393", "title": "Regulamento", "reference_date": "2025-10-09", "version": "1", "page": "11", "url": "https://fnet.bmfbovespa.com.br/fnet/publico/visualizarDocumento?id=1051393", "sha256": "8469d613078ffd5a6c1d217885d8a397a16342c0b937ae4aa24b106505f233ae"}, {"document_id": "993786", "title": "Regulamento", "reference_date": "2025-03-20", "version": "1", "page": 6, "clause": "5.3", "url": "https://fnet.bmfbovespa.com.br/fnet/publico/visualizarDocumento?id=993786", "sha256": "fd0fdd369a195510d81f81f505195a0b09e5f43522a990afa7d58c4f872921c8"}], "reference": {"path": "history/60010416000112.json", "criterion_id": "allocation", "total_count": 2, "preview_count": 2, "full_text_deferred": true, "sha256": "8e2bd813f4c51cf01f6bfaad164bafe69d2bbb192f753eac92da3a01c2e63046"}}</a:t>
            </a:r>
          </a:p>
          <a:p>
            <a:r>
              <a:t>CNPJ 62696791000193 · Alocação mínima · Base da comparação IME: {"criterion_id": "allocation", "observed_value": null, "unit": "percent", "competence": "08/2026", "status": "not_comparable", "reason": "Operador, unidade, numerador ou base contratual sem correspondência exata no IME; proxies de PL/ativos não são intercambiáveis. CPR declarada no FIAGRO não comprova elegibilidade individual nem correspondência integral com a definição contratual de direitos creditórios do agronegócio.",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51.0, "comparison_required": true, "context_value": 99.72659520720684, "context_unit": "percent", "context_formula": "CPR / PL (rubrica declarada no FIAGRO)"}</a:t>
            </a:r>
          </a:p>
          <a:p>
            <a:r>
              <a:t>CNPJ 62696791000193 · Alocação mínima · Regulamento · ID 1143317 · 20/03/2026 · versão Regulamento — referência 20/03/2026 · p. 10 · Anexo I, 4.2 · https://fnet.bmfbovespa.com.br/fnet/publico/visualizarDocumento?id=1143317</a:t>
            </a:r>
          </a:p>
          <a:p>
            <a:r>
              <a:t>CNPJ 62696791000193 · Alocação mínima · Excerto da fonte:</a:t>
            </a:r>
          </a:p>
          <a:p>
            <a:r>
              <a:t>4.2 Decorridos 180 (cento e oitenta) dias do início de suas atividades, a Classe deverá possuir parcela mínima de 51% (cinquenta e um por cento) de seu Patrimônio Líquido representados por Direitos Creditórios do Agronegócio, enquanto a parcela de 49% (quarenta e nove por cento) remanescente deverá ser alocada em Outros Ativos ou Ativos Financeiros de Liquidez. 4.3 Os Direitos Creditórios do Agronegócio serão adquiridos integral ou parcialmente, sempre de acordo com a Política de Investimentos. 4.4 Tendo em vista (i) a natureza variada dos Direitos Creditórios do Agronegócio passíveis de aquisição pela Classe; (ii) a amplitude da Política de Investimentos; e (iii) a potencial diversificação de Cedentes/Endossantes e Devedores, não é possível precisar os processos de origem dos Direitos Creditórios do Agronegócio e as políticas de concessão de crédito adotadas pelos Cedentes/Endossantes. 4.5 Os Direitos Creditórios do Agronegócio deverão contar com toda a documentação necessária para o exercício das prerrogativas decorrentes da titularidade dos ativos, e capaz de comprovar a origem, a existência e a exigibilidade dos Direitos Creditórios do Agronegócio (“Documentos Comprobatórios”)</a:t>
            </a:r>
          </a:p>
          <a:p>
            <a:r>
              <a:t>CNPJ 62696791000193 · Alocação mínima · AGE · ID 1143319 · 20/03/2026 10:00 · versão AGE — referência 20/03/2026 10:00 · p. 3 · AGC 20/03/2026, 4.1(j)–(k) · https://fnet.bmfbovespa.com.br/fnet/publico/visualizarDocumento?id=1143319</a:t>
            </a:r>
          </a:p>
          <a:p>
            <a:r>
              <a:t>CNPJ 62696791000193 · Alocação mínima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Alocação mínima · Condição: Vigente a partir do fechamento de 23/03/2026. O agregado genérico de direitos do IME não comprova, sozinho, a natureza agronegócio de todos os ativos nem a conclusão da carência inicial.</a:t>
            </a:r>
          </a:p>
          <a:p>
            <a:r>
              <a:t>CNPJ 62696791000193 · Alocação mínima · Mecânica: {"operator": "&gt;=", "limit": 51.0, "unit": "percent", "numerator": "agribusiness_credit_rights", "denominator": "net_asset_value", "frequency": "daily", "layer": "62696791000193", "effective_from": "2026-03-23", "effective_status": "explicit_assembly_effective_date", "initial_days": 180, "initial_date": null}</a:t>
            </a:r>
          </a:p>
          <a:p>
            <a:r>
              <a:t>CNPJ 62696791000193 · Alocação mínima · Versão e prevalência: Leitura específica das cláusulas indicadas; condições e conflitos preservados. Seleção documental atual não comprova vigência jurídica por data isolada.</a:t>
            </a:r>
          </a:p>
          <a:p>
            <a:r>
              <a:t>CNPJ 55563624000109 · Alocação mínima · Base da comparação IME: {"criterion_id": "allocation", "observed_value": 99.87020304792446, "unit": "percent", "competence": "08/2026", "status": "not_comparable", "reason": "Vigência efetiva não comprovada; data do documento isolada não certifica enquadramento histórico.", "formula": "fidc_quotas / net_asset_value × 100",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67.0}</a:t>
            </a:r>
          </a:p>
          <a:p>
            <a:r>
              <a:t>CNPJ 55563624000109 · Alocação mínima · Regulamento · ID 1192614 · 30/04/2026 · versão Regulamento30/04/2026 · p. 13 · AnexoI4.10 · https://fnet.bmfbovespa.com.br/fnet/publico/visualizarDocumento?id=1192614</a:t>
            </a:r>
          </a:p>
          <a:p>
            <a:r>
              <a:t>CNPJ 55563624000109 · Alocação mínima · Excerto da fonte:</a:t>
            </a:r>
          </a:p>
          <a:p>
            <a:r>
              <a:t>4.10 Decorridos 180 (cento e oitenta) dias da Data da 1ª Integralização da Classe, a Classe deverá manter alocado, no mínimo, 67% (sessenta e sete por cento) do seu Patrimônio Líquido em Cotas da Classe Investida. 4.11 Nos termos dos artigos 45, parágrafo 7º, e 47 parágrafo único do Anexo Normativo II à Resolução CVM 175, uma vez que as Cotas são destinadas exclusivamente a Investidores Profissionais, a Classe poderá ter até 100% (cem por cento) de seu Patrimônio Líquido alocado em Cotas da Classe Investida, as quais são emitidas pela Classe Investida.</a:t>
            </a:r>
          </a:p>
          <a:p>
            <a:r>
              <a:t>CNPJ 55563624000109 · Alocação mínima · Regulamento · ID 1192614 · 30/04/2026 · versão Regulamento30/04/2026 · p. 12 · AnexoI4.9 · https://fnet.bmfbovespa.com.br/fnet/publico/visualizarDocumento?id=1192614</a:t>
            </a:r>
          </a:p>
          <a:p>
            <a:r>
              <a:t>CNPJ 55563624000109 · Alocação mínima · Excerto da fonte:</a:t>
            </a:r>
          </a:p>
          <a:p>
            <a:r>
              <a:t>4.9 A parcela do Patrimônio Líquido que não estiver alocada em Cotas da Classe Investida será necessariamente alocada em Ativos Financeiros de Liquidez. BTG Pactual SAC: 0800 772 28 27 - Ouvidoria: 0800 722 00 48 - btgpactual.com 5</a:t>
            </a:r>
          </a:p>
          <a:p>
            <a:r>
              <a:t>CNPJ 55563624000109 · Alocação mínima · Mecânica: {"operator": "&gt;=", "limit": 67.0, "unit": "percent", "numerator": "fidc_quotas", "denominator": "net_asset_value", "frequency": "not_stated", "layer": "class", "effective_status": "document_date_only", "document_date": "2026-04-30", "requires_initial_date": true}</a:t>
            </a:r>
          </a:p>
          <a:p>
            <a:r>
              <a:t>CNPJ 55563624000109 · Alocação mínima · Versão e prevalência: Leitura específica das cláusulas indicadas; condições e conflitos preservados. Seleção documental atual não comprova vigência jurídica por data isolada.</a:t>
            </a:r>
          </a:p>
          <a:p>
            <a:r>
              <a:t>CNPJ 55563624000109 · Alocação mínima · Resumo do histórico: {"count": 1, "dates": ["2026-04-30"], "document_count": 1, "sources": [{"document_id": "1192614", "title": "Regulamento", "reference_date": "2026-04-30", "version": "1", "page": "11-13", "url": "https://fnet.bmfbovespa.com.br/fnet/publico/visualizarDocumento?id=1192614", "sha256": "f56e63ace0acde41d2f47fb48f1ac7f3f7df5e2d32de092d7c5e075a52516632"}], "reference": {"path": "history/55563624000109.json", "criterion_id": "allocation", "total_count": 1, "preview_count": 1, "full_text_deferred": true, "sha256": "7835d573fb58a3c19adf5b8ecc2aee2bdbb9a88f7a0c0209b5f262b64c7522e3"}}</a:t>
            </a:r>
          </a:p>
          <a:p>
            <a:r>
              <a:t>CNPJ 62552447000120 · Alocação mínima · Base da comparação IME: {"criterion_id": "allocation", "observed_value": 104.36099466414683, "unit": "percent", "competence": "08/2026", "status": "not_comparable", "reason": "Vigência efetiva não comprovada; data do documento isolada não certifica enquadramento histórico.", "formula": "credit_rights / net_asset_value × 100",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50.0}</a:t>
            </a:r>
          </a:p>
          <a:p>
            <a:r>
              <a:t>CNPJ 62552447000120 · Alocação mínima · Regulamento · ID 1200623 · 21/05/2026 · versão Consolidado21/05/2026 aprovado pelo ato1200625 · p. 14 · AnexoI4.9 · https://fnet.bmfbovespa.com.br/fnet/publico/visualizarDocumento?id=1200623</a:t>
            </a:r>
          </a:p>
          <a:p>
            <a:r>
              <a:t>CNPJ 62552447000120 · Alocação mínima · Excerto da fonte:</a:t>
            </a:r>
          </a:p>
          <a:p>
            <a:r>
              <a:t>4.9 Decorridos 180 (cento e oitenta) dias da Data da Primeira Integralização, a Classe deverá manter alocados em Direitos Creditórios, no mínimo, para fins tributários, 67% (sessenta e sete por cento) do seu Patrimônio Líquido, nos termos da Lei 14.754 e da Resolução CMN 5.111, e, para fins regulatórios, 50% (cinquenta por cento) do seu Patrimônio Líquido, nos termos da Resolução CVM 175. Eventual desenquadramento da Carteira obrigará o Gestor aos procedimentos de desenquadramento e reenquadramento previstos na Lei 14.754 e na Resolução CMN 5.111, para f ins tributários, e na Resolução CVM 175, par</a:t>
            </a:r>
          </a:p>
          <a:p>
            <a:r>
              <a:t>CNPJ 62552447000120 · Alocação mínima · Mecânica: {"operator": "&gt;=", "unit": "percent", "numerator": "credit_rights", "denominator": "net_asset_value", "frequency": "not_stated", "layer": "class", "effective_status": "document_date_only", "document_date": "2026-05-21", "requires_initial_date": true, "limit": 50.0}</a:t>
            </a:r>
          </a:p>
          <a:p>
            <a:r>
              <a:t>CNPJ 62552447000120 · Alocação mínima · Versão e prevalência: Leitura específica das cláusulas indicadas; condições e conflitos preservados. Seleção documental atual não comprova vigência jurídica por data isolada.</a:t>
            </a:r>
          </a:p>
          <a:p>
            <a:r>
              <a:t>CNPJ 63953620000165 · Alocação mínima · Base da comparação IME: {"criterion_id": "allocation", "observed_value": 93.29241106598856, "unit": "percent", "competence": "08/2026", "status": "not_comparable", "reason": "Vigência efetiva não comprovada; data do documento isolada não certifica enquadramento histórico.", "formula": "credit_rights / net_asset_value × 100",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50.0}</a:t>
            </a:r>
          </a:p>
          <a:p>
            <a:r>
              <a:t>CNPJ 63953620000165 · Alocação mínima · Anexo ao Regulamento · ID 1222863 · 02/06/2026 · versão AnexoConsignadoPrivado02/06/2026 · p. 6 · 4.13 · https://fnet.bmfbovespa.com.br/fnet/publico/visualizarDocumento?id=1222863</a:t>
            </a:r>
          </a:p>
          <a:p>
            <a:r>
              <a:t>CNPJ 63953620000165 · Alocação mínima · Excerto da fonte:</a:t>
            </a:r>
          </a:p>
          <a:p>
            <a:r>
              <a:t>4.13 Decorridos 180 (cento e oitenta) dias do início de suas atividades, a Classe deverá manter alocado, no mínimo, para fins tributários, 67% (sessenta e sete por cento) do seu Patrimônio Líquido em Direitos Creditórios, nos termos da Resolução CMN 5.111, e para fins regulatórios, 50% (cinquenta por cento) do seu Patrimônio Líquido em Direitos Creditórios, nos termos da Resolução CVM 175. 4.14 Nos termos do Art. 45, §7º, inciso II, do Anexo Normativo II da Resolução CVM 175, a Classe poderá ter até 100% (cem por cento) de seu Patrimônio Líquido alocado em Direitos Creditórios, derivativos, observado o disposto nest</a:t>
            </a:r>
          </a:p>
          <a:p>
            <a:r>
              <a:t>CNPJ 63953620000165 · Alocação mínima · Mecânica: {"operator": "&gt;=", "unit": "percent", "denominator": "net_asset_value", "frequency": "not_stated", "layer": "class", "effective_status": "document_date_only", "document_date": "2026-06-02", "limit": 50.0, "numerator": "credit_rights", "requires_initial_date": true}</a:t>
            </a:r>
          </a:p>
          <a:p>
            <a:r>
              <a:t>CNPJ 63953620000165 · Alocação mínima · Versão e prevalência: Leitura específica das cláusulas indicadas; condições e conflitos preservados. Seleção documental atual não comprova vigência jurídica por data isolada.</a:t>
            </a:r>
          </a:p>
          <a:p>
            <a:r>
              <a:t>CNPJ 54871427000194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null, "comparison_required": true, "context_formula": "Direitos creditórios / PL", "context_value": 91.84981349574433, "context_unit": "percent"}</a:t>
            </a:r>
          </a:p>
          <a:p>
            <a:r>
              <a:t>CNPJ 54871427000194 · Alocação para tratamento tributário · Regulamento · ID 670691 · 2024-04-28 · versão 1 · p. 5 · https://fnet.bmfbovespa.com.br/fnet/publico/visualizarDocumento?id=670691</a:t>
            </a:r>
          </a:p>
          <a:p>
            <a:r>
              <a:t>CNPJ 54871427000194 · Alocação para tratamento tributário · Excerto da fonte:</a:t>
            </a:r>
          </a:p>
          <a:p>
            <a:r>
              <a:t>Os rendimentos auf eridos pelo cotista do FUNDO estarão sujeitos à tributação pelo IR, à alíquota de  15% (quinze por cento), na data da distribuição de rendimentos ou d a amortização de cotas,  considerando que o FUNDO seja classificado como entidade de investimento e cumpra os critérios de  composição da carteira com, no mínimo, 67% (sessenta e sete por cento) de direitos creditórios de  acordo com a Lei nº 14.754, de 12 de dezembro de 2023 (“Lei 14.754”) e a Resolução do Conselho  Monetário Nacional nº 5.111, de 21 de dezembro de 2023 (“Resolução CMN 5.111”).</a:t>
            </a:r>
          </a:p>
          <a:p>
            <a:r>
              <a:t>CNPJ 54871427000194 · Alocação para tratamento tributário · Regulamento · ID 670691 · 2024-04-28 · versão 1 · p. 5 · https://fnet.bmfbovespa.com.br/fnet/publico/visualizarDocumento?id=670691</a:t>
            </a:r>
          </a:p>
          <a:p>
            <a:r>
              <a:t>CNPJ 54871427000194 · Alocação para tratamento tributário · Excerto da fonte:</a:t>
            </a:r>
          </a:p>
          <a:p>
            <a:r>
              <a:t>A GESTORA do FUNDO buscará manter o cumprimento do requisito de composição da carteira do  FUNDO com, no mínimo 67% (sessenta e sete por cento) em direitos creditórios acima comentados.</a:t>
            </a:r>
          </a:p>
          <a:p>
            <a:r>
              <a:t> Todavia, caso a composição mínima do patrimônio líquido do FUNDO não seja atingida e ocorra o  ef etivo desenquadramento tributário da carteira, os cotistas pessoa f ísica ou jurídica residentes no  Brasil passarão a se sujeitar à regra geral de tributação de fundos, conforme previsto no art. 17 da Lei</a:t>
            </a:r>
          </a:p>
          <a:p>
            <a:r>
              <a:t> 14.754, segundo a qual: (1) haverá incidência periódica de IR todo mês de maio e novembro de cada  ano-calendário sobre os rendimentos auferidos pelo cotista em relação ao investimento nas cotas do  FUNDO, à alíquota de 15% (quinze por cento) ou 20% (vinte por cento), a depender da carteira do  FUNDO ser classificada, respectivamente, como de curto ou longo prazo; e (2) haverá incidência de IR  complementar, conforme alíquotas regressivas que variam de 22,5% (vinte e dois e meio por cento) a  15% (quinze por cento) a depender do prazo de aplicação, por ocasião da amortização ou liquidação  das Cotas do FUNDO. Certos tipos de investidor podem se benef iciar de alíquotas dif erenciadas.</a:t>
            </a:r>
          </a:p>
          <a:p>
            <a:r>
              <a:t>CNPJ 54871427000194 · Alocação para tratamento tributário · Condição: Documentos atuais selecionados no inventário por categoria/escopo; a data documental isolada não comprova vigência jurídica.</a:t>
            </a:r>
          </a:p>
          <a:p>
            <a:r>
              <a:t>CNPJ 54871427000194 · Alocação para tratamento tributário · Versão e prevalência: Documentos atuais selecionados no inventário por categoria/escopo; a data documental isolada não comprova vigência jurídica.</a:t>
            </a:r>
          </a:p>
          <a:p>
            <a:r>
              <a:t>CNPJ 54871427000194 · Alocação para tratamento tributário · Resumo do histórico: {"count": 1, "dates": ["2024-04-19"], "document_count": 1, "sources": [{"document_id": "670689", "title": "Regulamento", "reference_date": "2024-04-19", "version": "1", "page": 5, "url": "https://fnet.bmfbovespa.com.br/fnet/publico/visualizarDocumento?id=670689", "sha256": "891bc9bc5d87bbc02ec139077a84d2702eb81ea02035fb71d24f5b8366b94a0b"}], "reference": {"path": "history/54871427000194.json", "criterion_id": "tax_allocation", "total_count": 1, "preview_count": 1, "full_text_deferred": true, "sha256": "35d7cd99be50c7287c9fb675cf4f2e736002315295a225a9efa79c8d9186d874"}}</a:t>
            </a:r>
          </a:p>
          <a:p>
            <a:r>
              <a:t>CNPJ 60010416000112 · Alocação para tratamento tributário · Base da comparação IME: {"criterion_id": "tax_allocation", "observed_value": 117.78665480900618, "unit": "percent", "competence": "08/2026", "status": "not_comparable", "reason": "Vigência efetiva não comprovada; data do documento isolada não certifica enquadramento histórico.", "formula": "credit_rights / net_asset_value × 100",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67.0}</a:t>
            </a:r>
          </a:p>
          <a:p>
            <a:r>
              <a:t>CNPJ 60010416000112 · Alocação para tratamento tributário · Regulamento · ID 1051393 · 09/10/2025 · versão Regulamento09/10/2025 · p. 11 · AnexoI4.6 · https://fnet.bmfbovespa.com.br/fnet/publico/visualizarDocumento?id=1051393</a:t>
            </a:r>
          </a:p>
          <a:p>
            <a:r>
              <a:t>CNPJ 60010416000112 · Alocação para tratamento tributário · Excerto da fonte:</a:t>
            </a:r>
          </a:p>
          <a:p>
            <a:r>
              <a:t>4.6 Decorridos 180 (cento e oitenta) dias do início de suas atividades, a Classe deverá manter alocado, no mínimo: para f ins tributários, 67% (sessenta e sete por cento) do seu Patrimônio Líquido em Direitos Creditórios, nos termos da Resolução CMN 5.111; e para fins regulatórios, 50% (cinquenta por cento) do seu Patrimônio Líquido em Direitos Creditórios, nos termos da Resolução CVM 175. BTG Pactual SAC: 0800 772 28 27 - Ouvidoria: 0800 722 00 48 - btgpactual.com 11</a:t>
            </a:r>
          </a:p>
          <a:p>
            <a:r>
              <a:t>CNPJ 60010416000112 · Alocação para tratamento tributário · Mecânica: {"operator": "&gt;=", "unit": "percent", "denominator": "net_asset_value", "frequency": "not_stated", "layer": "class", "effective_status": "document_date_only", "document_date": "2025-10-09", "numerator": "credit_rights", "limit": 67.0, "requires_initial_date": true}</a:t>
            </a:r>
          </a:p>
          <a:p>
            <a:r>
              <a:t>CNPJ 60010416000112 · Alocação para tratamento tributário · Versão e prevalência: Leitura específica das cláusulas indicadas; condições e conflitos preservados. Seleção documental atual não comprova vigência jurídica por data isolada.</a:t>
            </a:r>
          </a:p>
          <a:p>
            <a:r>
              <a:t>CNPJ 60010416000112 · Alocação para tratamento tributário · Resumo do histórico: {"count": 1, "dates": ["2025-03-20"], "document_count": 1, "sources": [{"document_id": "993786", "title": "Regulamento", "reference_date": "2025-03-20", "version": "1", "page": 6, "clause": "5.3", "url": "https://fnet.bmfbovespa.com.br/fnet/publico/visualizarDocumento?id=993786", "sha256": "fd0fdd369a195510d81f81f505195a0b09e5f43522a990afa7d58c4f872921c8"}], "reference": {"path": "history/60010416000112.json", "criterion_id": "tax_allocation", "total_count": 1, "preview_count": 1, "full_text_deferred": true, "sha256": "8e2bd813f4c51cf01f6bfaad164bafe69d2bbb192f753eac92da3a01c2e63046"}}</a:t>
            </a:r>
          </a:p>
          <a:p>
            <a:r>
              <a:t>CNPJ 62696791000193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null, "comparison_required": true, "context_formula": "Direitos creditórios / PL", "context_value": null, "context_unit": "percent"}</a:t>
            </a:r>
          </a:p>
          <a:p>
            <a:r>
              <a:t>CNPJ 62696791000193 · Alocação para tratamento tributário · Regulamento · ID 1143317 · 2026-03-20 · versão 1 · p. 30 · https://fnet.bmfbovespa.com.br/fnet/publico/visualizarDocumento?id=1143317</a:t>
            </a:r>
          </a:p>
          <a:p>
            <a:r>
              <a:t>CNPJ 62696791000193 · Alocação para tratamento tributário · Excerto da fonte:</a:t>
            </a:r>
          </a:p>
          <a:p>
            <a:r>
              <a:t>Os rendimentos distribuídos pela Classe, de modo geral, sujeitam-se à incidência do IRF à alíquota  de 20% (vinte por cento), inclusive quando distribuídos à Cotista que seja pessoa jurídica isenta.</a:t>
            </a:r>
          </a:p>
          <a:p>
            <a:r>
              <a:t> Os ganhos de capital ou rendimentos auf eridos na alienação ou no resgate de cotas da Classe  sujeitam-se à tributação pelo IRF à alíquota de 20% (vinte por cento), no caso de resgate de cotas,  ou conforme normas aplicáveis aos ganhos de capital ou ganhos líquidos auf eridos em renda  variável, nos casos de alienação de cotas.</a:t>
            </a:r>
          </a:p>
          <a:p>
            <a:r>
              <a:t> O IRF pago será considerado: (i) antecipação da tributação corporativa para os investidores pessoa  jurídica (nos regimes de lucro real, presumido ou arbitrado); e (ii) def initivo, nos demais casos,  incluindo de investidores pessoas f ísicas.</a:t>
            </a:r>
          </a:p>
          <a:p>
            <a:r>
              <a:t> Não obstante o disposto no item acima, em conf ormidade com o disposto na Lei 11.033, com a  redação dada pela Lei nº 14.754, o cotista pessoa f ísica f icará isento do IRF e na declaração de  ajuste anual, sobre as distribuições de lucro realizadas pela Classe, exclusivamente na hipótese de  a Classe, cumulativamente: (a) possuir, no mínimo, 100 (cem) cotistas; e (b) as cotas serem  admitidas à negociação exclusivamente em bolsas de valores ou no mercado de balcão organizado.</a:t>
            </a:r>
          </a:p>
          <a:p>
            <a:r>
              <a:t> O benef ício não será concedido ao Cotista que for pessoa física, titular de cotas que representem  10% (dez por cento) ou mais da totalidade das cotas emitidas pela Classe ou cujas cotas lhe derem  direito ao recebimento de rendimento superior a 10% (dez por cento) do total de rendimentos  auf eridos pela Classe.</a:t>
            </a:r>
          </a:p>
          <a:p>
            <a:r>
              <a:t> O benef ício também não será concedido aos Cotistas pessoas físicas que, individualmente ou em  conjunto com parentes até segundo grau, sejam titulares de cotas que representem 30% (trinta por  cento) ou mais da totalidade das cotas emitidas pela Classe, ou ainda cujas cotas lhes derem direito  ao recebimento de rendimento superior a 30% (trinta por cento) do total de rendimentos auf eridos  pela Classe.</a:t>
            </a:r>
          </a:p>
          <a:p>
            <a:r>
              <a:t> Não há garantia de que o benef ício f iscal atualmente vigente não venha a ser posteriormente  restringido, suspenso, revogado ou extinto por legislação superveniente, ocasião na qual poderá vir  a incidir a tributação sobre os rendimentos distribuídos pela Classe, de acordo com os termos da  legislação que vier a estabelecer a incidência tributária.</a:t>
            </a:r>
          </a:p>
          <a:p>
            <a:r>
              <a:t>CNPJ 62696791000193 · Alocação para tratamento tributário · Condição: Documentos atuais selecionados no inventário por categoria/escopo; a data documental isolada não comprova vigência jurídica.</a:t>
            </a:r>
          </a:p>
          <a:p>
            <a:r>
              <a:t>CNPJ 62696791000193 · Alocação para tratamento tributário · Versão e prevalência: Documentos atuais selecionados no inventário por categoria/escopo; a data documental isolada não comprova vigência jurídica.</a:t>
            </a:r>
          </a:p>
          <a:p>
            <a:r>
              <a:t>CNPJ 55563624000109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null, "comparison_required": true, "context_formula": "Direitos creditórios / PL", "context_value": 0.0, "context_unit": "percent"}</a:t>
            </a:r>
          </a:p>
          <a:p>
            <a:r>
              <a:t>CNPJ 55563624000109 · Alocação para tratamento tributário · Regulamento · ID 1192614 · 2026-04-30 · versão 1 · p. 38 · https://fnet.bmfbovespa.com.br/fnet/publico/visualizarDocumento?id=1192614</a:t>
            </a:r>
          </a:p>
          <a:p>
            <a:r>
              <a:t>CNPJ 55563624000109 · Alocação para tratamento tributário · Excerto da fonte:</a:t>
            </a:r>
          </a:p>
          <a:p>
            <a:r>
              <a:t>(xiii) Risco de descaracterização do regime tributário aplicável à Classe. Caso (a) a Classe deixe de  cumprir com o percentual de, pelo menos, 67% (sessenta e sete por cento) do Patrimônio Líquido  aplicado em direitos creditórios, nos termos dos artigos 18, 19 e 24 da Lei 14.754, para fins de  enquadramento do FUNDO e da Classe como “Entidade de Investimento” na forma da Resolução do  CMN nº 5.111, de 21 de dezembro de 2023, conforme alterada, ou qualquer outra norma que venha  a substitui-la, sujeitando o FUNDO e a Classe ao “Regime Específico dos Fundos Não Sujeitos à  Tributação Periódica” conforme a na Seção III da Lei 14.754 ou deixe de satisfazer qualquer uma das  condições previstas na Lei 14.754, neste Anexo e/ou no Regulamento; e/ou (b) o FUNDO ou Classe  deixe de ser enquadrado como “Entidade de Investimento” na forma da Resolução do CMN nº 5.111,  de 21 de dezembro de 2023, ou demais normas do CMN e da CVM, não é possível garantir que o  FUNDO e/ou Classe continuarão a receber o tratamento tributário destinado ao “Regime Específico  dos Fundos Não Sujeitos à Tributação Periódica”, conforme definido na legislação específica.</a:t>
            </a:r>
          </a:p>
          <a:p>
            <a:r>
              <a:t>CNPJ 55563624000109 · Alocação para tratamento tributário · Regulamento · ID 1192614 · 2026-04-30 · versão 1 · p. 6 · https://fnet.bmfbovespa.com.br/fnet/publico/visualizarDocumento?id=1192614</a:t>
            </a:r>
          </a:p>
          <a:p>
            <a:r>
              <a:t>CNPJ 55563624000109 · Alocação para tratamento tributário · Excerto da fonte:</a:t>
            </a:r>
          </a:p>
          <a:p>
            <a:r>
              <a:t>No caso de Fundos de Investimento em Direitos Creditórios (FIDC) classificados como “entidade de investimento” e  cuja carteira seja composta por, no mínimo, 67% (sessenta e sete por cento) de direitos creditórios conforme definições  prescritas em regulamentação expedida pelo Conselho Monetário Nacional, os rendimentos auferidos na amortização  ou no resgate das cotas, inclusive quando decorrentes da liquidação do FUNDO, ficam sujeitos à incidência do IRF à  alíquota de 15% (quinze por cento) sobre a diferença positiva entre o valor de amortização ou resgate e o custo de  aquisição das Cotas.</a:t>
            </a:r>
          </a:p>
          <a:p>
            <a:r>
              <a:t>CNPJ 55563624000109 · Alocação para tratamento tributário · Condição: Documentos atuais selecionados no inventário por categoria/escopo; a data documental isolada não comprova vigência jurídica.</a:t>
            </a:r>
          </a:p>
          <a:p>
            <a:r>
              <a:t>CNPJ 55563624000109 · Alocação para tratamento tributário · Versão e prevalência: Documentos atuais selecionados no inventário por categoria/escopo; a data documental isolada não comprova vigência jurídica.</a:t>
            </a:r>
          </a:p>
          <a:p>
            <a:r>
              <a:t>CNPJ 55563624000109 · Alocação para tratamento tributário · Resumo do histórico: {"count": 2, "dates": ["2025-01-31", "2026-01-31"], "document_count": 2, "sources": [{"document_id": "1178840", "title": "Demonstrações Financeiras", "reference_date": "2026-01-31", "version": "1", "page": 23, "url": "https://fnet.bmfbovespa.com.br/fnet/publico/visualizarDocumento?id=1178840", "sha256": "c458e98664c5c907ddb5a05a94b120bed4e05295b2bfc420f5ba69af0a229abe"}, {"document_id": "891861", "title": "Demonstrações Financeiras", "reference_date": "2025-01-31", "version": "1", "page": 24, "url": "https://fnet.bmfbovespa.com.br/fnet/publico/visualizarDocumento?id=891861", "sha256": "e9cb9e6ddbe505fe068cfcac33605165a98313489de0d3ce6d4d238263c3f3e7"}], "reference": {"path": "history/55563624000109.json", "criterion_id": "tax_allocation", "total_count": 2, "preview_count": 2, "full_text_deferred": true, "sha256": "7835d573fb58a3c19adf5b8ecc2aee2bdbb9a88f7a0c0209b5f262b64c7522e3"}}</a:t>
            </a:r>
          </a:p>
          <a:p>
            <a:r>
              <a:t>CNPJ 62552447000120 · Alocação para tratamento tributário · Base da comparação IME: {"criterion_id": "tax_allocation", "observed_value": 104.36099466414683, "unit": "percent", "competence": "08/2026", "status": "not_comparable", "reason": "Vigência efetiva não comprovada; data do documento isolada não certifica enquadramento histórico.", "formula": "credit_rights / net_asset_value × 100",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67.0}</a:t>
            </a:r>
          </a:p>
          <a:p>
            <a:r>
              <a:t>CNPJ 62552447000120 · Alocação para tratamento tributário · Regulamento · ID 1200623 · 21/05/2026 · versão Consolidado21/05/2026 aprovado pelo ato1200625 · p. 14 · AnexoI4.9 · https://fnet.bmfbovespa.com.br/fnet/publico/visualizarDocumento?id=1200623</a:t>
            </a:r>
          </a:p>
          <a:p>
            <a:r>
              <a:t>CNPJ 62552447000120 · Alocação para tratamento tributário · Excerto da fonte:</a:t>
            </a:r>
          </a:p>
          <a:p>
            <a:r>
              <a:t>4.9 Decorridos 180 (cento e oitenta) dias da Data da Primeira Integralização, a Classe deverá manter alocados em Direitos Creditórios, no mínimo, para fins tributários, 67% (sessenta e sete por cento) do seu Patrimônio Líquido, nos termos da Lei 14.754 e da Resolução CMN 5.111, e, para fins regulatórios, 50% (cinquenta por cento) do seu Patrimônio Líquido, nos termos da Resolução CVM 175. Eventual desenquadramento da Carteira obrigará o Gestor aos procedimentos de desenquadramento e reenquadramento previstos na Lei 14.754 e na Resolução CMN 5.111, para f ins tributários, e na Resolução CVM 175, par</a:t>
            </a:r>
          </a:p>
          <a:p>
            <a:r>
              <a:t>CNPJ 62552447000120 · Alocação para tratamento tributário · Mecânica: {"operator": "&gt;=", "unit": "percent", "numerator": "credit_rights", "denominator": "net_asset_value", "frequency": "not_stated", "layer": "class", "effective_status": "document_date_only", "document_date": "2026-05-21", "requires_initial_date": true, "limit": 67.0}</a:t>
            </a:r>
          </a:p>
          <a:p>
            <a:r>
              <a:t>CNPJ 62552447000120 · Alocação para tratamento tributário · Versão e prevalência: Leitura específica das cláusulas indicadas; condições e conflitos preservados. Seleção documental atual não comprova vigência jurídica por data isolada.</a:t>
            </a:r>
          </a:p>
          <a:p>
            <a:r>
              <a:t>CNPJ 63953620000165 · Alocação para tratamento tributário · Base da comparação IME: {"criterion_id": "tax_allocation", "observed_value": 93.29241106598856, "unit": "percent", "competence": "08/2026", "status": "not_comparable", "reason": "Vigência efetiva não comprovada; data do documento isolada não certifica enquadramento histórico.", "formula": "credit_rights / net_asset_value × 100",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67.0}</a:t>
            </a:r>
          </a:p>
          <a:p>
            <a:r>
              <a:t>CNPJ 63953620000165 · Alocação para tratamento tributário · Anexo ao Regulamento · ID 1222863 · 02/06/2026 · versão AnexoConsignadoPrivado02/06/2026 · p. 6 · 4.13 · https://fnet.bmfbovespa.com.br/fnet/publico/visualizarDocumento?id=1222863</a:t>
            </a:r>
          </a:p>
          <a:p>
            <a:r>
              <a:t>CNPJ 63953620000165 · Alocação para tratamento tributário · Excerto da fonte:</a:t>
            </a:r>
          </a:p>
          <a:p>
            <a:r>
              <a:t>4.13 Decorridos 180 (cento e oitenta) dias do início de suas atividades, a Classe deverá manter alocado, no mínimo, para fins tributários, 67% (sessenta e sete por cento) do seu Patrimônio Líquido em Direitos Creditórios, nos termos da Resolução CMN 5.111, e para fins regulatórios, 50% (cinquenta por cento) do seu Patrimônio Líquido em Direitos Creditórios, nos termos da Resolução CVM 175. 4.14 Nos termos do Art. 45, §7º, inciso II, do Anexo Normativo II da Resolução CVM 175, a Classe poderá ter até 100% (cem por cento) de seu Patrimônio Líquido alocado em Direitos Creditórios, derivativos, observado o disposto nest</a:t>
            </a:r>
          </a:p>
          <a:p>
            <a:r>
              <a:t>CNPJ 63953620000165 · Alocação para tratamento tributário · Mecânica: {"operator": "&gt;=", "unit": "percent", "denominator": "net_asset_value", "frequency": "not_stated", "layer": "class", "effective_status": "document_date_only", "document_date": "2026-06-02", "limit": 67.0, "numerator": "credit_rights", "requires_initial_date": true}</a:t>
            </a:r>
          </a:p>
          <a:p>
            <a:r>
              <a:t>CNPJ 63953620000165 · Alocação para tratamento tributário · Versão e prevalência: Leitura específica das cláusulas indicadas; condições e conflitos preservados. Seleção documental atual não comprova vigência jurídica por data isolada.</a:t>
            </a:r>
          </a:p>
          <a:p>
            <a:r>
              <a:t>CNPJ 54871427000194 · Classes investidas e limites do FIC · Demonstrações Financeiras - Fusão, cisão e incorporação · ID 1219522 · 2026-02-02 · versão 1 · p. 31 · https://fnet.bmfbovespa.com.br/fnet/publico/visualizarDocumento?id=1219522</a:t>
            </a:r>
          </a:p>
          <a:p>
            <a:r>
              <a:t>CNPJ 54871427000194 · Classes investidas e limites do FIC · Excerto da fonte:</a:t>
            </a:r>
          </a:p>
          <a:p>
            <a:r>
              <a:t>xv) Risco Regulatório e Judicial. Eventuais alterações ou novas normas ou leis aplicáveis à Classe,  seus ativos e a eventuais fundos investidos, incluindo, mas não se limitando àquelas referentes  a tributos, bem como decisões judiciais ou jurisprudência aplicando as regulamentações  existentes ou interpretando novas regulamentações, podem causar um efeito adverso relevante  no preço dos ativos e/ou na performance das posições financeiras adquiridas pela Classe e/ou  pelos fundos Investidos. Ainda, nesse sentido, poderão ocorrer interferências de autoridades  governamentais e órgãos reguladores na regulação dos mercados, bem como alterações das  políticas monetária e cambial. Tais eventos poderão impactar de maneira adversa o valor das  Cotas.</a:t>
            </a:r>
          </a:p>
          <a:p>
            <a:r>
              <a:t>CNPJ 54871427000194 · Classes investidas e limites do FIC · Condição: Documentos atuais selecionados no inventário por categoria/escopo; a data documental isolada não comprova vigência jurídica.</a:t>
            </a:r>
          </a:p>
          <a:p>
            <a:r>
              <a:t>CNPJ 54871427000194 · Classes investidas e limites do FIC · Versão e prevalência: Documentos atuais selecionados no inventário por categoria/escopo; a data documental isolada não comprova vigência jurídica.</a:t>
            </a:r>
          </a:p>
          <a:p>
            <a:r>
              <a:t>CNPJ 54871427000194 · Classes investidas e limites do FIC · Resumo do histórico: {"count": 5, "dates": ["2024-12-31", "2025-01-01", "2025-12-31"], "document_count": 3, "sources": [{"document_id": "1151805", "title": "Demonstrações Financeiras", "reference_date": "2025-12-31", "version": "1", "page": 31, "url": "https://fnet.bmfbovespa.com.br/fnet/publico/visualizarDocumento?id=1151805", "sha256": "f1cea70b152968bf96ef9221b27225953cb20aeef487b2798db3c25e11b528d4"}, {"document_id": "869529", "title": "Demonstrações Financeiras", "reference_date": "2025-01-01", "version": "1", "page": 32, "url": "https://fnet.bmfbovespa.com.br/fnet/publico/visualizarDocumento?id=869529", "sha256": "9a93a9369ac8efdbc54ff8fcee3ccac3abf88edab4807b9323d3852450771b2a"}, {"document_id": "870070", "title": "Demonstrações Financeiras", "reference_date": "2024-12-31", "version": "1", "page": 32, "url": "https://fnet.bmfbovespa.com.br/fnet/publico/visualizarDocumento?id=870070", "sha256": "9a93a9369ac8efdbc54ff8fcee3ccac3abf88edab4807b9323d3852450771b2a"}], "reference": {"path": "history/54871427000194.json", "criterion_id": "investee", "total_count": 5, "preview_count": 3, "full_text_deferred": true, "sha256": "35d7cd99be50c7287c9fb675cf4f2e736002315295a225a9efa79c8d9186d874"}}</a:t>
            </a:r>
          </a:p>
          <a:p>
            <a:r>
              <a:t>CNPJ 60010416000112 · Classes investidas e limites do FIC · Motivo: Não localizada uma cláusula material para este critério nos textos identificados e processados. A ausência de resultado não comprova inexistência da regra.</a:t>
            </a:r>
          </a:p>
          <a:p>
            <a:r>
              <a:t>CNPJ 62696791000193 · Classes investidas e limites do FIC · Regulamento · ID 1143317 · 20/03/2026 · versão Regulamento — referência 20/03/2026 · p. 7 · Anexo I, 1.1, Objetivo, categoria Geral · https://fnet.bmfbovespa.com.br/fnet/publico/visualizarDocumento?id=1143317</a:t>
            </a:r>
          </a:p>
          <a:p>
            <a:r>
              <a:t>CNPJ 62696791000193 · Classes investidas e limites do FIC · Excerto da fonte:</a:t>
            </a:r>
          </a:p>
          <a:p>
            <a:r>
              <a:t>(D) Categoria “Geral” (“Ativos em Geral do Agronegócio”): (i) cotas de classes que apliquem mais de 50% (cinquenta por cento) de seu patrimônio líquido nos ativos referidos nos incisos “A” a “D” acima, o que inclui cotas de outros FIAGRO, mas não se limita a essa categoria de f undos. Os Ativos Imobiliários do Agronegócio, Participações do Agronegócio, Ativos Financeiros do Agronegócio e Ativos em Geral do Agronegócio, quando ref eridos em conjunto, os “Outros Ativos”. Não há limites máximos de aplicação por emissor ou devedor, em função de um percentual do Patrimônio Líquido. O objetivo da Classe não representa, sob qualquer hipótese, garantia da Classe ou de seus Prestadores de Serviços Essenciais e/ou da Cogestora quanto à segurança, rentabilidade e liquidez dos títu</a:t>
            </a:r>
          </a:p>
          <a:p>
            <a:r>
              <a:t>CNPJ 62696791000193 · Classes investidas e limites do FIC · Regulamento · ID 1143317 · 20/03/2026 · versão Regulamento — referência 20/03/2026 · p. 11 · Anexo I, 4.8–4.9 · https://fnet.bmfbovespa.com.br/fnet/publico/visualizarDocumento?id=1143317</a:t>
            </a:r>
          </a:p>
          <a:p>
            <a:r>
              <a:t>CNPJ 62696791000193 · Classes investidas e limites do FIC · Excerto da fonte:</a:t>
            </a:r>
          </a:p>
          <a:p>
            <a:r>
              <a:t>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relacionadas ao Gestor. 4.8.1 As aplicações em Direitos Creditórios do Agronegócio decorrentes de receitas públicas originárias ou derivadas da União, dos Estados, do Distrito Federal e dos Municípios ou de suas autarquias e f undações, assim como em Direitos Creditórios do Agronegócio cedidos ou originados por empresas controladas pelo poder público, não estão submetidas ao limite de concentração por emissor previsto no caput. 4.9 Nos termos do Art. 45 do Anexo</a:t>
            </a:r>
          </a:p>
          <a:p>
            <a:r>
              <a:t>CNPJ 62696791000193 · Classes investidas e limites do FIC · Condição: O regulamento não identifica CNPJs de classes efetivamente investidas. Permissão de investimento não comprova posição.</a:t>
            </a:r>
          </a:p>
          <a:p>
            <a:r>
              <a:t>CNPJ 62696791000193 · Classes investidas e limites do FIC · Versão e prevalência: Leitura específica das cláusulas indicadas; condições e conflitos preservados. Seleção documental atual não comprova vigência jurídica por data isolada.</a:t>
            </a:r>
          </a:p>
          <a:p>
            <a:r>
              <a:t>CNPJ 55563624000109 · Classes investidas e limites do FIC · Regulamento · ID 1192614 · 30/04/2026 · versão Regulamento30/04/2026 · p. 11 · AnexoI4.1 · https://fnet.bmfbovespa.com.br/fnet/publico/visualizarDocumento?id=1192614</a:t>
            </a:r>
          </a:p>
          <a:p>
            <a:r>
              <a:t>CNPJ 55563624000109 · Classes investidas e limites do FIC · Excerto da fonte:</a:t>
            </a:r>
          </a:p>
          <a:p>
            <a:r>
              <a:t>4.1 Observados os demais termos deste Anexo, o objetivo da Classe é investir seus recursos em (i) cotas subordinadas mezanino de emissão da classe única do MERCADO CRÉDITO II BRASIL FUNDO DE INVESTIMENTO EM DIREITOS CREDITÓRIOS NÃO PADRONIZADOS, fundo de investimento em direitos creditórios inscrito no CNPJ sob o nº 41.970.012/0001-26 (“Cotas da Classe Investida” e “Classe Investida”, respectivamente), a qual, por sua vez, aplica seus recursos preponderantemente em direitos creditórios originados pela Mercado Pago, de acordo com os termos e condições est</a:t>
            </a:r>
          </a:p>
          <a:p>
            <a:r>
              <a:t>CNPJ 55563624000109 · Classes investidas e limites do FIC · Condição: Vínculo contratual identificado; quantidade de cotas efetivamente detida exige posição do FIC. Não somar PL do FIC e do investido.</a:t>
            </a:r>
          </a:p>
          <a:p>
            <a:r>
              <a:t>CNPJ 55563624000109 · Classes investidas e limites do FIC · Versão e prevalência: Leitura específica das cláusulas indicadas; condições e conflitos preservados. Seleção documental atual não comprova vigência jurídica por data isolada.</a:t>
            </a:r>
          </a:p>
          <a:p>
            <a:r>
              <a:t>CNPJ 55563624000109 · Classes investidas e limites do FIC · Resumo do histórico: {"count": 2, "dates": ["2025-01-31", "2026-01-31"], "document_count": 2, "sources": [{"document_id": "1178840", "title": "Demonstrações Financeiras", "reference_date": "2026-01-31", "version": "1", "page": 4, "url": "https://fnet.bmfbovespa.com.br/fnet/publico/visualizarDocumento?id=1178840", "sha256": "c458e98664c5c907ddb5a05a94b120bed4e05295b2bfc420f5ba69af0a229abe"}, {"document_id": "891861", "title": "Demonstrações Financeiras", "reference_date": "2025-01-31", "version": "1", "page": 18, "url": "https://fnet.bmfbovespa.com.br/fnet/publico/visualizarDocumento?id=891861", "sha256": "e9cb9e6ddbe505fe068cfcac33605165a98313489de0d3ce6d4d238263c3f3e7"}], "reference": {"path": "history/55563624000109.json", "criterion_id": "investee", "total_count": 2, "preview_count": 2, "full_text_deferred": true, "sha256": "7835d573fb58a3c19adf5b8ecc2aee2bdbb9a88f7a0c0209b5f262b64c7522e3"}}</a:t>
            </a:r>
          </a:p>
          <a:p>
            <a:r>
              <a:t>CNPJ 62552447000120 · Classes investidas e limites do FIC · Regulamento · ID 1200623 · 2026-05-21 · versão 1 · p. 6 · https://fnet.bmfbovespa.com.br/fnet/publico/visualizarDocumento?id=1200623</a:t>
            </a:r>
          </a:p>
          <a:p>
            <a:r>
              <a:t>CNPJ 62552447000120 · Classes investidas e limites do FIC · Excerto da fonte:</a:t>
            </a:r>
          </a:p>
          <a:p>
            <a:r>
              <a:t>integrantes do conglomerado econômico de instituições  f inanceiras classificadas como S1 pelo Banco Central do  Brasil (“BACEN” e “Instituições Financeiras S1”,  respectivamente), desde que não representem títulos de  emissão ou coobrigação de instituições financeiras, bem  como cotas de f undos de investimento que invistam  preponderantemente nestes direitos, títulos e/ou valores  mobiliários; e</a:t>
            </a:r>
          </a:p>
          <a:p>
            <a:r>
              <a:t> (d) “Direitos Creditórios Refinanciamento Livre”, na forma  de CCBs originadas no âmbito de um refinanciamento, de  acordo com a política de cobrança vigente, de Direitos  Creditórios Consignado Privado e de Direitos Creditórios  FGTS, que não contem com o lastro de Consignação ou  de cessão f iduciária do Saque-Aniversário,  respectivamente; e</a:t>
            </a:r>
          </a:p>
          <a:p>
            <a:r>
              <a:t> (ii) “Ativos Financeiros”, assim entendidos como, em conjunto:</a:t>
            </a:r>
          </a:p>
          <a:p>
            <a:r>
              <a:t> (a) moeda corrente nacional;</a:t>
            </a:r>
          </a:p>
          <a:p>
            <a:r>
              <a:t> (b) títulos públicos f ederais;</a:t>
            </a:r>
          </a:p>
          <a:p>
            <a:r>
              <a:t> (c) ativos f inanceiros de renda f ixa de emissão ou  coobrigação de Instituições Financeiras S1;</a:t>
            </a:r>
          </a:p>
          <a:p>
            <a:r>
              <a:t> (d) operações compromissadas, desde que lastreadas nos  títulos mencionados nas alíneas (b) e (c) acima; e</a:t>
            </a:r>
          </a:p>
          <a:p>
            <a:r>
              <a:t> (e) cotas do BTG Pactual Tesouro Selic Fundo de  Investimento Renda Fixa Ref erenciado DI, inscrito no  CNPJ sob o nº 09.215.250/0001-13;</a:t>
            </a:r>
          </a:p>
          <a:p>
            <a:r>
              <a:t> observados todos os limites de composição e diversificação da carteira da  Classe (“Carteira”), estabelecidos neste Regulamento e na  regulamentação aplicável.</a:t>
            </a:r>
          </a:p>
          <a:p>
            <a:r>
              <a:t> O objetivo da Classe não representa, sob qualquer hipótese, promessa,  garantia ou sugestão da Classe ou de seus Prestadores de Serviços  Essenciais quanto à segurança, rentabilidade e liquidez dos títulos  componentes de sua Carteira.</a:t>
            </a:r>
          </a:p>
          <a:p>
            <a:r>
              <a:t>CNPJ 62552447000120 · Classes investidas e limites do FIC · Condição: Documentos atuais selecionados no inventário por categoria/escopo; a data documental isolada não comprova vigência jurídica.</a:t>
            </a:r>
          </a:p>
          <a:p>
            <a:r>
              <a:t>CNPJ 62552447000120 · Classes investidas e limites do FIC · Versão e prevalência: Documentos atuais selecionados no inventário por categoria/escopo; a data documental isolada não comprova vigência jurídica.</a:t>
            </a:r>
          </a:p>
          <a:p>
            <a:r>
              <a:t>CNPJ 63953620000165 · Classes investidas e limites do FIC · Motivo: Não localizada uma cláusula material para este critério nos textos identificados e processados. A ausência de resultado não comprova inexistência da regra.</a:t>
            </a:r>
          </a:p>
          <a:p>
            <a:r>
              <a:t>CNPJ 54871427000194 · Classe, subclasse e responsabilidade · Regulamento · ID 670691 · 2024-04-28 · versão 1 · p. 29 · https://fnet.bmfbovespa.com.br/fnet/publico/visualizarDocumento?id=670691</a:t>
            </a:r>
          </a:p>
          <a:p>
            <a:r>
              <a:t>CNPJ 54871427000194 · Classe, subclasse e responsabilidade · Excerto da fonte:</a:t>
            </a:r>
          </a:p>
          <a:p>
            <a:r>
              <a:t>Anexo I ao Regulamento CLASSE ÚNICA DE RESPONSABILIDADE LIMITADA DO CONSIGNADO DELTA RECEIVABLES I FUNDO DE INVESTIMENTO EM DIREITOS CREDITÓRIOS  pelo Endossante e depositados em seu conta de sua titularidade para posterior repasse à  Classe. Neste caso, a Classe poderá sofrer perdas principalmente em relação ao atraso na  regularização da titularidade e pagamento dos Direitos Creditórios.</a:t>
            </a:r>
          </a:p>
          <a:p>
            <a:r>
              <a:t> (v) Risco de pré-pagamento dos Direitos Creditórios. A ocorrência de pré-  pagamentos em relação a um ou mais Direitos Creditórios poderá ocasionar perdas à Classe.</a:t>
            </a:r>
          </a:p>
          <a:p>
            <a:r>
              <a:t> A ocorrência de pré-pagamentos (pagamento em data anterior àquela originalmente pactuada)  de Direitos Creditórios reduz o horizonte original de rendimentos esperados pela Classe de  tais Direitos Creditórios, uma vez que o pré-pagamento poderá, se assim permitido pela  documentação do Direito Creditório ou, conf orme o caso, pela legislação aplicável, ser  realizado pelo valor de emissão do Direito Creditório atualizado até a data do pré-pagamento  pela taxa de juros pactuada entre os Endossantes e os Devedores de tais Direitos Creditórios,  de modo que os juros remuneratórios incidentes desde a data da realização do pré-pagamento  até a data de vencimento do respectivo Direito Creditório deixam de ser devidos à Classe.</a:t>
            </a:r>
          </a:p>
          <a:p>
            <a:r>
              <a:t> (vi) Riscos associados aos Devedores: os Direitos Creditórios a serem cedidos à  Classe serão descontados da remuneração do Devedor, através de desconto em f olha de  pagamento ou de benefício. Nesse sentido, na ocorrência de pré-pagamento, as parcelas  serão pagas antecipadamente e a Classe deverá utilizar tais montantes no pré-pagamento dos  Direitos Creditórios. Nesta hipótese, a Classe poderá não encontrar Direitos Creditórios  disponíveis para serem adquiridos pela Classe, o que poderá afetar a rentabilidade da Classe.</a:t>
            </a:r>
          </a:p>
          <a:p>
            <a:r>
              <a:t> (vii) Risco de Competição: o mercado de empréstimos experimentou grande  expansão no Brasil nos últimos anos. Nesse contexto, a Resolução CMN nº 4.292, alterada  pela Resolução nº 4.762, de 27 de novembro de 2019, dispõe que deve ser garantido às  pessoas naturais devedoras de operações de crédito (tais como as CCB) a possibilidade de  realizarem a portabilidade destas operações para outras instituições financeiras, inclusive nos  casos em que tenham sido objeto de cessão (tais como as realizadas à Classe). Nesse  cenário, é possível que os competidores do Endossante ofereçam condições e taxas mais  vantajosas para os empréstimos pessoais com consignação em f olha de pagamento ou de  benef ícios, o que pode causar a migração de clientes da Endossante para outras instituições  f inanceiras, gerando a liquidação antecipada de parte das CCB existentes e/ou redução no  número de Direitos Creditórios cedidos. Referida competição poderá af etar os resultados da  Classe, impactando negativamente os rendimentos dos Cotistas. Ainda, a portabilidade a um  Devedor pode acarretar no recebimento de valores inf eriores aos esperados pela Classe.</a:t>
            </a:r>
          </a:p>
          <a:p>
            <a:r>
              <a:t> (viii) Insuf iciência dos Critérios de Elegibilidade. Os Critérios de Elegibilidade têm a  f inalidade de selecionar os Direitos Creditórios passíveis de aquisição pela Classe. Não  obstante tais Critérios de Elegibilidade, a solvência dos Direitos Creditórios que compõem a  Carteira depende integralmente, mas não somente, da situação econômico-financeira dos  Devedores. Dessa f orma, a observância pelo GESTOR dos Critérios de Elegibilidade não  constitui garantia de adimplência dos Devedores.</a:t>
            </a:r>
          </a:p>
          <a:p>
            <a:r>
              <a:t> Os Endossantes não necessariamente garantem a solvência dos seus respectivos Devedores.</a:t>
            </a:r>
          </a:p>
          <a:p>
            <a:r>
              <a:t> O Endossante dos Direitos Creditórios não assumirá responsabilidade pelo seu pagamento ou  pela solvência dos respectivos Devedores. A Classe sofrerá o impacto do inadimplemento dos  Direitos Creditórios vencidos e não pagos pelos respectivos Devedores.</a:t>
            </a:r>
          </a:p>
          <a:p>
            <a:r>
              <a:t> (ix) Possibilidade de aquisição de Direitos Creditórios cedidos por Endossante  e/ou devidos por Devedores cujas demonstrações financeiras não sejam auditadas. A Classe,  desde que sejam respeitados os limites de concentração previstos neste Regulamento, poderá  manter a qualquer tempo em sua Carteira, Direitos Creditórios cedidos por Endossante e/ou  devidos por Devedores cujas demonstrações f inanceiras não sejam auditadas por Auditor  Independente registrado na CVM. Nesse sentido, não haverá verificação independente sobre  tais demonstrações f inanceiras que af irme se estas representam adequadamente, em todos  os aspectos relevantes, as respectivas posições patrimoniais e f inanceiras, os resultados de  suas operações, as mutações de seus respectivos patrimônios líquidos tampouco as origens  e aplicações de seus recursos.</a:t>
            </a:r>
          </a:p>
          <a:p>
            <a:r>
              <a:t>CNPJ 54871427000194 · Classe, subclasse e responsabilidade · Regulamento · ID 670691 · 2024-04-28 · versão 1 · p. 15 · 7.2 · https://fnet.bmfbovespa.com.br/fnet/publico/visualizarDocumento?id=670691</a:t>
            </a:r>
          </a:p>
          <a:p>
            <a:r>
              <a:t>CNPJ 54871427000194 · Classe, subclasse e responsabilidade · Excerto da fonte:</a:t>
            </a:r>
          </a:p>
          <a:p>
            <a:r>
              <a:t>7.2 As amortizações de Cotas serão realizadas a qualquer tempo, a critério do GESTOR, observada a  disponibilidade de recursos da Classe Única e a ordem de alocação de recursos prevista neste Anexo  Descritivo.</a:t>
            </a:r>
          </a:p>
          <a:p>
            <a:r>
              <a:t>CNPJ 54871427000194 · Classe, subclasse e responsabilidade · Instrumento Particular de Alteração do Regulamento · ID 670690 · 2024-05-28 · versão 1 · p. 1 · https://fnet.bmfbovespa.com.br/fnet/publico/visualizarDocumento?id=670690</a:t>
            </a:r>
          </a:p>
          <a:p>
            <a:r>
              <a:t>CNPJ 54871427000194 · Classe, subclasse e responsabilidade · Excerto da fonte:</a:t>
            </a:r>
          </a:p>
          <a:p>
            <a:r>
              <a:t>ATA DA ASSEMBLEIA ESPECIAL DE COTISTAS  CLASSE ÚNICA DE RESPONSABILIDADE LIMITADA DO CONSIGNADO DELTA RECEIVABLES I  FUNDO DE INVESTIMENTO EM DIREITOS CREDITÓRIOS  CNPJ nº 54.871.427/0001-94  (“Classe Única” e “Fundo”, respectivamente)</a:t>
            </a:r>
          </a:p>
          <a:p>
            <a:r>
              <a:t>CNPJ 54871427000194 · Classe, subclasse e responsabilidade · Condição: Documentos atuais selecionados no inventário por categoria/escopo; a data documental isolada não comprova vigência jurídica.</a:t>
            </a:r>
          </a:p>
          <a:p>
            <a:r>
              <a:t>CNPJ 54871427000194 · Classe, subclasse e responsabilidade · Versão e prevalência: Documentos atuais selecionados no inventário por categoria/escopo; a data documental isolada não comprova vigência jurídica.</a:t>
            </a:r>
          </a:p>
          <a:p>
            <a:r>
              <a:t>CNPJ 54871427000194 · Classe, subclasse e responsabilidade · Resumo do histórico: {"count": 4, "dates": ["2024-04-19", "2024-04-28", "2024-05-24"], "document_count": 3, "sources": [{"document_id": "668387", "title": "Instrumento Particular de Emissão de Cotas", "reference_date": "2024-05-24", "version": "1", "page": 1, "url": "https://fnet.bmfbovespa.com.br/fnet/publico/visualizarDocumento?id=668387", "sha256": "be2913bed5f468a7399afcd27f92bac2083451584ee580b5054e9f525e68cc4a"}, {"document_id": "670691", "title": "Regulamento", "reference_date": "2024-04-28", "version": "1", "page": 29, "url": "https://fnet.bmfbovespa.com.br/fnet/publico/visualizarDocumento?id=670691", "sha256": "bf16dd7f1a62d5cdbf2e2d54fef81783783f7310fbc99c3a8f00459bdf9d037b"}, {"document_id": "670687", "title": "Instrumento Particular de Constituição/Encerramento do Fundo", "reference_date": "2024-04-19", "version": "1", "page": 1, "url": "https://fnet.bmfbovespa.com.br/fnet/publico/visualizarDocumento?id=670687", "sha256": "999f2a47d39f7022b0fcee3d16fd1db33948537b897e92c4c9e14b436bf5eb96"}], "reference": {"path": "history/54871427000194.json", "criterion_id": "perimeter", "total_count": 4, "preview_count": 3, "full_text_deferred": true, "sha256": "35d7cd99be50c7287c9fb675cf4f2e736002315295a225a9efa79c8d9186d874"}}</a:t>
            </a:r>
          </a:p>
          <a:p>
            <a:r>
              <a:t>CNPJ 60010416000112 · Classe, subclasse e responsabilidade · Regulamento · ID 1051393 · 2025-10-09 · versão 1 · p. 10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a:t>
            </a:r>
          </a:p>
          <a:p>
            <a:r>
              <a:t> (ii) o saldo dos Direitos Creditórios devidos pelo mesmo Devedor à Classe, considerando, pro  forma, o endosso pretendido, não deverá exceder R$ 100.000,00 (cem mil reais), observado  o disposto no item 4.4.1 abaixo;</a:t>
            </a:r>
          </a:p>
          <a:p>
            <a:r>
              <a:t> (iii) o prazo de vencimento das CCB representativas dos Direitos Creditórios deverá ser, no  máximo, equivalente ao prazo máximo permitido pelas leis e regulamentações aplicáveis; e</a:t>
            </a:r>
          </a:p>
          <a:p>
            <a:r>
              <a:t> (iv) os Direitos Creditórios não poderão ser devidos por Devedores que tenham acima de 64  (sessenta e quatro) anos 11 (onze) meses e 29 (vinte e nove) dias na data de emissão da  respectiva CCB.</a:t>
            </a:r>
          </a:p>
          <a:p>
            <a:r>
              <a:t>CNPJ 60010416000112 · Classe, subclasse e responsabilidade · Regulamento · ID 1051393 · 2025-10-09 · versão 1 · p. 11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  com a transf erência, à Classe, de f orma definitiva, sem coobrigação do Endossante, da plena  titularidade desse Direito Creditório, juntamente com todos os direitos, privilégios, pref erências,  prerrogativas, garantias e ações a ele relacionados, bem como correção monetária, juros e  encargos, sem prejuízo do direito da Classe (i) de exigir a recompra compulsória do respectivo  Direito Creditório, de acordo com os termos do Contrato de Endosso; ou (ii) de vender Direitos  Creditórios ao Agente de Retenção/Cobrança (opção de venda), em ambos os casos estritamente  nos termos do Contrato de Endosso.</a:t>
            </a:r>
          </a:p>
          <a:p>
            <a:r>
              <a:t>CNPJ 60010416000112 · Classe, subclasse e responsabilidade · Regulamento · ID 1051393 · 2025-10-09 · versão 1 · p. 18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a:t>
            </a:r>
          </a:p>
          <a:p>
            <a:r>
              <a:t> (ii) alterar este Anexo I e seus complementos, incluindo mas não se limitando aos Apêndices de cada  uma das subclasses;</a:t>
            </a:r>
          </a:p>
          <a:p>
            <a:r>
              <a:t> (iii) deliberar sobre substituição de Prestadores de Serviços Essenciais, observado o disposto no Art.</a:t>
            </a:r>
          </a:p>
          <a:p>
            <a:r>
              <a:t> 70, §1º da parte geral da Resolução CVM 175, quando aplicável, ou do Custodiante;</a:t>
            </a:r>
          </a:p>
          <a:p>
            <a:r>
              <a:t> (iv) deliberar sobre elevação da Taxa de Administração, inclusive na hipótese de restabelecimento de  taxa que tenha sido objeto de redução;</a:t>
            </a:r>
          </a:p>
          <a:p>
            <a:r>
              <a:t> (v) deliberar sobre incorporação, fusão, cisão total ou parcial, a transformação ou liquidação da Classe;</a:t>
            </a:r>
          </a:p>
          <a:p>
            <a:r>
              <a:t> (vi) alterações das características, vantagens, direitos e obrigações das Cotas;</a:t>
            </a:r>
          </a:p>
          <a:p>
            <a:r>
              <a:t> (vii) alterar critérios e procedimentos para Amortização e/ou resgate de Cotas mediante dação em  pagamento de Direitos Creditórios;</a:t>
            </a:r>
          </a:p>
          <a:p>
            <a:r>
              <a:t> (viii) aprovar a contratação de Agente de Retenção/Cobrança dos Direitos Creditórios Inadimplidos, bem  como decidir sobre sua substituição ou destituição;</a:t>
            </a:r>
          </a:p>
          <a:p>
            <a:r>
              <a:t> (ix) alterar a f orma de amortização do principal e dos valores acumulados relacionados às Cotas;</a:t>
            </a:r>
          </a:p>
          <a:p>
            <a:r>
              <a:t> (x) aprovar emissão de novas Cotas da Classe, em montante além do Capital Autorizado;</a:t>
            </a:r>
          </a:p>
          <a:p>
            <a:r>
              <a:t> (xi) deliberar sobre a eventual necessidade de aportes adicionais de recursos na Classe pelos Cotistas;</a:t>
            </a:r>
          </a:p>
          <a:p>
            <a:r>
              <a:t> (xii) alterações na Política de Investimentos;</a:t>
            </a:r>
          </a:p>
          <a:p>
            <a:r>
              <a:t> (xiii) alterações nos Critérios de Elegibilidade;</a:t>
            </a:r>
          </a:p>
          <a:p>
            <a:r>
              <a:t> (xiv) decidir se um Evento de Avaliação será considerado como Evento de Liquidação, sujeito a este  Regulamento;</a:t>
            </a:r>
          </a:p>
          <a:p>
            <a:r>
              <a:t> (xv) decidir, na ocorrência de qualquer Evento de Liquidação, se esse Evento de Liquidação não deverá  causar a liquidação antecipada da Classe;</a:t>
            </a:r>
          </a:p>
          <a:p>
            <a:r>
              <a:t> (xvi) plano de resolução do Patrimônio Líquido negativo da Classe, nos termos da Resolução CVM 175;</a:t>
            </a:r>
          </a:p>
          <a:p>
            <a:r>
              <a:t> (xvii)pedido de declaração judicial de insolvência da Classe; e</a:t>
            </a:r>
          </a:p>
          <a:p>
            <a:r>
              <a:t> (xviii) deliberar sobre a alteração da data de resgate e/ou prazo de duração de cada Série de Cotas  Seniores, do Benchmark, bem como de quaisquer outras características de qualquer Série de Cotas  Seniores;</a:t>
            </a:r>
          </a:p>
          <a:p>
            <a:r>
              <a:t>CNPJ 60010416000112 · Classe, subclasse e responsabilidade · Condição: Documentos atuais selecionados no inventário por categoria/escopo; a data documental isolada não comprova vigência jurídica.</a:t>
            </a:r>
          </a:p>
          <a:p>
            <a:r>
              <a:t>CNPJ 60010416000112 · Classe, subclasse e responsabilidade · Versão e prevalência: Documentos atuais selecionados no inventário por categoria/escopo; a data documental isolada não comprova vigência jurídica.</a:t>
            </a:r>
          </a:p>
          <a:p>
            <a:r>
              <a:t>CNPJ 60010416000112 · Classe, subclasse e responsabilidade · Resumo do histórico: {"count": 1, "dates": ["2025-05-12"], "document_count": 1, "sources": [{"document_id": "1004656", "title": "AGE", "reference_date": "2025-05-12", "version": "1", "page": 4, "url": "https://fnet.bmfbovespa.com.br/fnet/publico/visualizarDocumento?id=1004656", "sha256": "f6c9c009f6170e2b29f074b98522accec73f0c40efbf11f9ec2c8d3f1402616b"}], "reference": {"path": "history/60010416000112.json", "criterion_id": "perimeter", "total_count": 1, "preview_count": 1, "full_text_deferred": true, "sha256": "8e2bd813f4c51cf01f6bfaad164bafe69d2bbb192f753eac92da3a01c2e63046"}}</a:t>
            </a:r>
          </a:p>
          <a:p>
            <a:r>
              <a:t>CNPJ 62696791000193 · Classe, subclasse e responsabilidade · Regulamento · ID 1143317 · 20/03/2026 · versão Regulamento — referência 20/03/2026 · p. 9 · Anexo I, 2.1 · https://fnet.bmfbovespa.com.br/fnet/publico/visualizarDocumento?id=1143317</a:t>
            </a:r>
          </a:p>
          <a:p>
            <a:r>
              <a:t>CNPJ 62696791000193 · Classe, subclasse e responsabilidade · Excerto da fonte:</a:t>
            </a:r>
          </a:p>
          <a:p>
            <a:r>
              <a:t>2.1 A responsabilidade do Cotista está limitada ao valor por ele subscrito. 2.2 Os seguintes eventos obrigarão o Administrador a verif icar se o Patrimônio Líquido está negativo: (i) qualquer pedido de declaração judicial de insolvência de Classe; (ii) inadimplência de obrigações financeiras de devedor e/ou emissor de ativos detidos pela Classe que representem mais de 10% (dez por cento) de seu Patrimônio Líquido, naquela data de ref erência; (iii) pedido de recuperação extrajudicial, proposta de recuperação judicial, f alência, intervenção, liquidação extrajudicial e/ou regime de administração temporária de devedor e/ou emissor de ativos detidos pela Classe; e (iv) condenação da Classe, de natureza judicial e/ou arbitral e/ou administrativa e/ou outras similares, ao pagamento de mais de 10% (dez por cento) de seu Patrimônio Líquido. 2.3 Caso o Administrador verifique que o Patrimônio Líquido está negativo, ou tenha ciência de pedido de declaração judicial de insolvência da Classe ou da declaração judicial de insolvência da Classe, deverá adotar as medidas aplicáveis previstas na Resolução CVM 175. 2.4 Serão aplicáveis as disp</a:t>
            </a:r>
          </a:p>
          <a:p>
            <a:r>
              <a:t>CNPJ 62696791000193 · Classe, subclasse e responsabilidade · Regulamento · ID 1143317 · 20/03/2026 · versão Regulamento — referência 20/03/2026 · p. 18 · Anexo I, 8.8.1 · https://fnet.bmfbovespa.com.br/fnet/publico/visualizarDocumento?id=1143317</a:t>
            </a:r>
          </a:p>
          <a:p>
            <a:r>
              <a:t>CNPJ 62696791000193 · Classe, subclasse e responsabilidade · Excerto da fonte:</a:t>
            </a:r>
          </a:p>
          <a:p>
            <a:r>
              <a:t>8.8.1 As Chamadas de Capital para a realização de investimentos serão realizadas a qualquer momento durante o Período de Investimento e estarão limitadas ao valor do capital subscrito de cada Cotista. As Chamadas de Capital para o pagamento de despesas e encargos do Fundo poderão ser realizadas a qualquer momento durante o Prazo de Duração, mas não estarão limitadas ao valor do capital subscrito de cada Cotista. 8.8.2 Ao receber uma Chamada de Capital, os Cotistas serão obrigados a integralizar parte ou a totalidade de suas Cotas no prazo previsto na ref erida Chamada de Capital, o qual não poderá ser inf erior a 5 (cinco) Dias Úteis contados do recebimento da Chamada de Capital, conforme solicitado pelo Administrador em observância às instruções do Gestor e de acordo com o disposto nos respectivos Compromissos de Investimento. 8.8.3 O Administrador poderá, eventualmente, realizar Chamadas de Capital aos Cotistas de forma desproporcional entre Cotistas, de modo que um ou mais Cotista venha a integralizar, em uma ou mais Chamadas de Capital, uma parcela maior ou menor, conforme o caso, das Cotas por</a:t>
            </a:r>
          </a:p>
          <a:p>
            <a:r>
              <a:t>CNPJ 62696791000193 · Classe, subclasse e responsabilidade · Regulamento · ID 1143317 · 20/03/2026 · versão Regulamento — referência 20/03/2026 · p. 16 · Anexo I, 7.2 · https://fnet.bmfbovespa.com.br/fnet/publico/visualizarDocumento?id=1143317</a:t>
            </a:r>
          </a:p>
          <a:p>
            <a:r>
              <a:t>CNPJ 62696791000193 · Classe, subclasse e responsabilidade · Excerto da fonte:</a:t>
            </a:r>
          </a:p>
          <a:p>
            <a:r>
              <a:t>7.2 A Classe possui 3 (três) Subclasses de Cotas, quais sejam, a subclasse sênior (“Subclasse Sênior” e “Cotas Seniores”), a subclasse mezanino (“Subclasse Mezanino” e “Cotas Mezanino”) e a subclasse subordinada (“Subclasse Subordinada” e “Cotas Subordinadas” – as Cotas Subordinadas, Cotas Seniores e Cotas Mezanino, quando ref eridas em conjunto, “Cotas”), admitindo ainda a emissão de novas séries (“Séries”) de Cotas Seniores, nos termos do seu respectivo Apêndice. As características, os direitos e as condições de emissão, distribuição, subscrição, integralização, remuneração, amortização e resgate das Cotas estão descritos neste Capítulo e nos respectivos Apêndices. 7.3 As Cotas são escriturais, nominativas e correspondem a f rações ideais do patrimônio da Classe, cuja propriedade presume-se: (i) pelo registro do nome do Cotista no livro de registro de Cotistas, enquanto mantidas em conta de depósito mantidas junto ao Escriturador em nome dos respectivos Cotistas, nos termos do Art. 15 da Resolução CVM 175; (ii) pelos controles de titularidade mantidos pelo depositário BTG Pactual SAC: 0800 772 2827 | Ouvidoria: 0800 722 0048 | btgpactual.co m 11</a:t>
            </a:r>
          </a:p>
          <a:p>
            <a:r>
              <a:t>CNPJ 62696791000193 · Classe, subclasse e responsabilidade · Condição: Contradição interna no alcance da responsabilidade limitada. Não apresentar a cláusula de despesas como obrigação irrestrita pacificada.</a:t>
            </a:r>
          </a:p>
          <a:p>
            <a:r>
              <a:t>CNPJ 62696791000193 · Classe, subclasse e responsabilidade · Versão e prevalência: Leitura específica das cláusulas indicadas; condições e conflitos preservados. Seleção documental atual não comprova vigência jurídica por data isolada.</a:t>
            </a:r>
          </a:p>
          <a:p>
            <a:r>
              <a:t>CNPJ 55563624000109 · Classe, subclasse e responsabilidade · Regulamento · ID 1192614 · 2026-04-30 · versão 1 · p. 40 · https://fnet.bmfbovespa.com.br/fnet/publico/visualizarDocumento?id=1192614</a:t>
            </a:r>
          </a:p>
          <a:p>
            <a:r>
              <a:t>CNPJ 55563624000109 · Classe, subclasse e responsabilidade · Excerto da fonte:</a:t>
            </a:r>
          </a:p>
          <a:p>
            <a:r>
              <a:t>(xxiv) Subordinação de determinadas Cotas da Classe Investida a outras subclasses ou séries de  cotas das Classes Investidas aos quais pertencem. A Classe Investida adquirirá apenas cotas  subordinadas mezaninos da Classe Investida, as quais se subordinam às cotas seniores da Classe  Investida para efeitos de resgate. Os resgates de cotas subordinadas mezanino tipicamente têm sua  realização condicionada ainda à manutenção da razão de garantia e à existência de disponibilidades  da Classe Investida. O ADMINISTRADOR, o GESTOR e o CUSTODIANTE e suas respectivas partes  relacionadas, encontram-se impossibilitados de assegurar que a amortização e o resgate das cotas  subordinadas mezanino da Classe Investida que venham a ser adquiridas pela Classe ocorrerão nas  datas originalmente previstas, sendo que, caso tais amortizações e/ou resgates não ocorram, não será  devido pelo FUNDO ou qualquer pessoa, incluindo o ADMINISTRADOR, o GESTOR e o CUSTODIANTE,  do FUNDO ou da Classe Investida qualquer multa ou penalidade, de qualquer natureza. O não resgate  de cotas subordinadas mezanino da Classe Investida detidas pela Classe poderá impactar  negativamente no fluxo de pagamento de resgate da Classe e/ou no valor patrimonial das Cotas da  Classe.</a:t>
            </a:r>
          </a:p>
          <a:p>
            <a:r>
              <a:t>CNPJ 55563624000109 · Classe, subclasse e responsabilidade · Regulamento · ID 1192614 · 2026-04-30 · versão 1 · p. 2 · 1.2 · https://fnet.bmfbovespa.com.br/fnet/publico/visualizarDocumento?id=1192614</a:t>
            </a:r>
          </a:p>
          <a:p>
            <a:r>
              <a:t>CNPJ 55563624000109 · Classe, subclasse e responsabilidade · Excerto da fonte:</a:t>
            </a:r>
          </a:p>
          <a:p>
            <a:r>
              <a:t>1.2 Este regulamento é composto por esta parte geral, um ou mais anexos, conforme o número de classes aqui  previsto e respectivos apêndices relativos a cada subclasse de cotas, conforme aplicável (respectivamente,  “Regulamento”, “Parte Geral”, “Anexos” e “Apêndices”).</a:t>
            </a:r>
          </a:p>
          <a:p>
            <a:r>
              <a:t> Denominação da Classe Anexo  CLASSE ÚNICA DE RESPONSABILIDADE LIMITADA DO  PLGN MARKETPLACE FUNDO DE INVESTIMENTO EM  Anexo Único (“Anexo”)  COTAS DE FUNDO DE INVESTIMENTO EM DIREITOS  CREDITÓRIOS (“Classe” ou “Classe Única”)</a:t>
            </a:r>
          </a:p>
          <a:p>
            <a:r>
              <a:t>CNPJ 55563624000109 · Classe, subclasse e responsabilidade · Regulamento · ID 1192614 · 2026-04-30 · versão 1 · p. 24 · 12.3 · https://fnet.bmfbovespa.com.br/fnet/publico/visualizarDocumento?id=1192614</a:t>
            </a:r>
          </a:p>
          <a:p>
            <a:r>
              <a:t>CNPJ 55563624000109 · Classe, subclasse e responsabilidade · Excerto da fonte:</a:t>
            </a:r>
          </a:p>
          <a:p>
            <a:r>
              <a:t>12.3 Incluem-se entre as obrigações do ADMINISTRADOR, sem prejuízo de outras previstas na regulamentação:</a:t>
            </a:r>
          </a:p>
          <a:p>
            <a:r>
              <a:t> (i) sem prejuízo da observância dos procedimentos relativos às demonstrações contábeis, manter,  separadamente, registros com informações completas sobre toda e qualquer modalidade de negociação  realizada entre o ADMINISTRADOR, GESTOR, CUSTODIANTE, e/ou suas respectivas partes relacionadas,  tais como definidas pelas regras contábeis que tratam desse assunto, de um lado; e a Classe, de outro;</a:t>
            </a:r>
          </a:p>
          <a:p>
            <a:r>
              <a:t> (ii) diligenciar para que sejam mantidos, às suas expensas, atualizados e em perfeita ordem:</a:t>
            </a:r>
          </a:p>
          <a:p>
            <a:r>
              <a:t> (a) o registro de Cotistas;</a:t>
            </a:r>
          </a:p>
          <a:p>
            <a:r>
              <a:t> (b) o livro de atas das Assembleias de Cotistas;</a:t>
            </a:r>
          </a:p>
          <a:p>
            <a:r>
              <a:t> (c) o livro ou lista de presença de Cotistas;</a:t>
            </a:r>
          </a:p>
          <a:p>
            <a:r>
              <a:t> (d) os pareceres do Auditor Independente; e</a:t>
            </a:r>
          </a:p>
          <a:p>
            <a:r>
              <a:t> (e) os registros contábeis referentes às operações e ao patrimônio da Classe;</a:t>
            </a:r>
          </a:p>
          <a:p>
            <a:r>
              <a:t> (iii) pagar a multa cominatória às suas expensas, nos termos da legislação vigente, por cada dia de atraso no  cumprimento dos prazos previstos na regulamentação aplicável;</a:t>
            </a:r>
          </a:p>
          <a:p>
            <a:r>
              <a:t> (iv) elaborar e divulgar as informações periódicas e eventuais da Classe, nos termos deste Anexo e da  regulamentação e da autorregulação em vigor;</a:t>
            </a:r>
          </a:p>
          <a:p>
            <a:r>
              <a:t> (v) manter atualizada junto à CVM a lista de todos os prestadores de serviços contratados pela Classe,  inclusive os Prestadores de Serviços Essenciais, bem como as demais informações cadastrais da Classe e  suas Subclasses;</a:t>
            </a:r>
          </a:p>
          <a:p>
            <a:r>
              <a:t> (vi) manter serviço de atendimento aos Cotistas, responsável pelo esclarecimento de dúvidas e pelo  recebimento de reclamações;</a:t>
            </a:r>
          </a:p>
          <a:p>
            <a:r>
              <a:t> (vii) receber e processar os pedidos de resgate;</a:t>
            </a:r>
          </a:p>
          <a:p>
            <a:r>
              <a:t> (viii) monitorar os Eventos de Verificação do Patrimônio;</a:t>
            </a:r>
          </a:p>
          <a:p>
            <a:r>
              <a:t> (ix) monitorar os Eventos de Avaliação e Eventos de Liquidação;</a:t>
            </a:r>
          </a:p>
          <a:p>
            <a:r>
              <a:t> (x) observar as disposições constantes do Regulamento;</a:t>
            </a:r>
          </a:p>
          <a:p>
            <a:r>
              <a:t> (xi) cumprir as deliberações da Assembleia de Cotistas; e</a:t>
            </a:r>
          </a:p>
          <a:p>
            <a:r>
              <a:t> (xii) observar as disposições do Código ANBIMA e das Regras e Procedimentos ANBIMA</a:t>
            </a:r>
          </a:p>
          <a:p>
            <a:r>
              <a:t>CNPJ 55563624000109 · Classe, subclasse e responsabilidade · Condição: Documentos atuais selecionados no inventário por categoria/escopo; a data documental isolada não comprova vigência jurídica.</a:t>
            </a:r>
          </a:p>
          <a:p>
            <a:r>
              <a:t>CNPJ 55563624000109 · Classe, subclasse e responsabilidade · Versão e prevalência: Documentos atuais selecionados no inventário por categoria/escopo; a data documental isolada não comprova vigência jurídica.</a:t>
            </a:r>
          </a:p>
          <a:p>
            <a:r>
              <a:t>CNPJ 55563624000109 · Classe, subclasse e responsabilidade · Resumo do histórico: {"count": 5, "dates": ["2024-07-03", "2025-01-31", "2026-01-31"], "document_count": 3, "sources": [{"document_id": "1178840", "title": "Demonstrações Financeiras", "reference_date": "2026-01-31", "version": "1", "page": 3, "url": "https://fnet.bmfbovespa.com.br/fnet/publico/visualizarDocumento?id=1178840", "sha256": "c458e98664c5c907ddb5a05a94b120bed4e05295b2bfc420f5ba69af0a229abe"}, {"document_id": "891861", "title": "Demonstrações Financeiras", "reference_date": "2025-01-31", "version": "1", "page": 27, "url": "https://fnet.bmfbovespa.com.br/fnet/publico/visualizarDocumento?id=891861", "sha256": "e9cb9e6ddbe505fe068cfcac33605165a98313489de0d3ce6d4d238263c3f3e7"}, {"document_id": "703295", "title": "Anúncio de Início", "reference_date": "2024-07-03", "version": "2", "page": 1, "url": "https://fnet.bmfbovespa.com.br/fnet/publico/visualizarDocumento?id=703295", "sha256": "12322b6dbf75e673723bd60910373db249451b72666792e18e0c7b6128f4608a"}], "reference": {"path": "history/55563624000109.json", "criterion_id": "perimeter", "total_count": 5, "preview_count": 3, "full_text_deferred": true, "sha256": "7835d573fb58a3c19adf5b8ecc2aee2bdbb9a88f7a0c0209b5f262b64c7522e3"}}</a:t>
            </a:r>
          </a:p>
          <a:p>
            <a:r>
              <a:t>CNPJ 62552447000120 · Classe, subclasse e responsabilidade · Regulamento · ID 1200623 · 2026-05-21 · versão 1 · p. 1 · 1.3 · https://fnet.bmfbovespa.com.br/fnet/publico/visualizarDocumento?id=1200623</a:t>
            </a:r>
          </a:p>
          <a:p>
            <a:r>
              <a:t>CNPJ 62552447000120 · Classe, subclasse e responsabilidade · Excerto da fonte:</a:t>
            </a:r>
          </a:p>
          <a:p>
            <a:r>
              <a:t>1.3 Durante o seu prazo de duração, o Fundo, por ato conjunto dos Prestadores de Serviços Essenciais,  poderá constituir diferentes Classes e Subclasses , sendo que cada Classe terá patrimônio segregado e</a:t>
            </a:r>
          </a:p>
          <a:p>
            <a:r>
              <a:t>CNPJ 62552447000120 · Classe, subclasse e responsabilidade · Regulamento · ID 1200623 · 2026-05-21 · versão 1 · p. 1 · 1.1 · https://fnet.bmfbovespa.com.br/fnet/publico/visualizarDocumento?id=1200623</a:t>
            </a:r>
          </a:p>
          <a:p>
            <a:r>
              <a:t>CNPJ 62552447000120 · Classe, subclasse e responsabilidade · Excerto da fonte:</a:t>
            </a:r>
          </a:p>
          <a:p>
            <a:r>
              <a:t>1.1 V CDT 1 FUNDO DE INVESTIMENTO EM DIREITOS CREDITÓRIOS RESPONSABILIDADE  LIMITADA (“Fundo”), regido pela Lei n.º 10.406, de 10 de janeiro de 2002, conforme alterada (“Código  Civil”), pela Resolução da Comissão de Valores Mobiliários (“CVM”) n.º 175, de 23 de dezembro de  2022, conf orme alterada (“Resolução CVM 175”), que inclui sua Parte Geral (“Parte Geral da  Resolução CVM 175”) e seu Anexo Normativo II (“Anexo Normativo II”) terá como principais  características:</a:t>
            </a:r>
          </a:p>
          <a:p>
            <a:r>
              <a:t>CNPJ 62552447000120 · Classe, subclasse e responsabilidade · Regulamento · ID 1200623 · 2026-05-21 · versão 1 · p. 1 · https://fnet.bmfbovespa.com.br/fnet/publico/visualizarDocumento?id=1200623</a:t>
            </a:r>
          </a:p>
          <a:p>
            <a:r>
              <a:t>CNPJ 62552447000120 · Classe, subclasse e responsabilidade · Excerto da fonte:</a:t>
            </a:r>
          </a:p>
          <a:p>
            <a:r>
              <a:t>CLASSE ÚNICA DO V CDT 1 FUNDO DE  INVESTIMENTO EM DIREITOS CREDITÓRIOS Anexo I (“Anexo I”)  RESPONSABILIDADE LIMITADA</a:t>
            </a:r>
          </a:p>
          <a:p>
            <a:r>
              <a:t>CNPJ 62552447000120 · Classe, subclasse e responsabilidade · Condição: Documentos atuais selecionados no inventário por categoria/escopo; a data documental isolada não comprova vigência jurídica.</a:t>
            </a:r>
          </a:p>
          <a:p>
            <a:r>
              <a:t>CNPJ 62552447000120 · Classe, subclasse e responsabilidade · Versão e prevalência: Documentos atuais selecionados no inventário por categoria/escopo; a data documental isolada não comprova vigência jurídica.</a:t>
            </a:r>
          </a:p>
          <a:p>
            <a:r>
              <a:t>CNPJ 62552447000120 · Classe, subclasse e responsabilidade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"perimeter", "total_count": 1, "preview_count": 1, "full_text_deferred": true, "sha256": "d95db8c0613d67ee84118c734588665265ea6b02f86a0318d6a844cbe1d0f82f"}}</a:t>
            </a:r>
          </a:p>
          <a:p>
            <a:r>
              <a:t>CNPJ 63953620000165 · Classe, subclasse e responsabilidade · Anexo ao Regulamento · ID 1222863 · 02/06/2026 · versão AnexoConsignadoPrivado02/06/2026 · p. 3 · 2.1 · https://fnet.bmfbovespa.com.br/fnet/publico/visualizarDocumento?id=1222863</a:t>
            </a:r>
          </a:p>
          <a:p>
            <a:r>
              <a:t>CNPJ 63953620000165 · Classe, subclasse e responsabilidade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deverá adotar as medidas aplicáveis previstas na Resolução CVM 175. 2.3 Serão aplicáveis as disposições da Resolução CVM 175 no que se refere aos procedimentos a serem adotados pelo Administrador na hipótese de Patrimônio Líquido negativo da Classe. BTG Pactual SAC: 0800 772 28 27 - Ouvidoria: 0800 722 00 48 - btgpactual.com</a:t>
            </a:r>
          </a:p>
          <a:p>
            <a:r>
              <a:t>CNPJ 63953620000165 · Classe, subclasse e responsabilidade · Anexo ao Regulamento · ID 1222863 · 02/06/2026 · versão AnexoConsignadoPrivado02/06/2026 · p. 10 · 6.7.1 · https://fnet.bmfbovespa.com.br/fnet/publico/visualizarDocumento?id=1222863</a:t>
            </a:r>
          </a:p>
          <a:p>
            <a:r>
              <a:t>CNPJ 63953620000165 · Classe, subclasse e responsabilidade · Excerto da fonte:</a:t>
            </a:r>
          </a:p>
          <a:p>
            <a:r>
              <a:t>6.7.1 As Chamadas de Capital para a realização de investimentos serão realizadas a qualquer momento durante o Período de Investimento e estarão limitadas ao valor do capital subscrito de cada Cotista. As Chamadas de Capital para o pagamento de despesas e encargos do Fundo, com exceção de despesas relacionadas à instrumentos de derivativos e/ou Encargos não previstos no âmbito deste regulamento, poderão ser realizadas a qualquer momento durante o Prazo de Duração, mas não estarão limitadas ao valor do capital subscrito de cada Cotista. 6.7.2 Ao receber uma Chamada d</a:t>
            </a:r>
          </a:p>
          <a:p>
            <a:r>
              <a:t>CNPJ 63953620000165 · Classe, subclasse e responsabilidade · Condição: Alcance das chamadas além do capital comprometido não resolvido textualmente; não certificar limitação apenas por título do fundo.</a:t>
            </a:r>
          </a:p>
          <a:p>
            <a:r>
              <a:t>CNPJ 63953620000165 · Classe, subclasse e responsabilidade · Versão e prevalência: Leitura específica das cláusulas indicadas; condições e conflitos preservados. Seleção documental atual não comprova vigência jurídica por data isolada.</a:t>
            </a:r>
          </a:p>
          <a:p>
            <a:r>
              <a:t>CNPJ 63953620000165 · Classe, subclasse e responsabilidade · Resumo do histórico: {"count": 4, "dates": ["2026-04-28", "2026-05-08", "2026-05-15"], "document_count": 3, "sources": [{"document_id": "1327859", "title": "Demonstrações Financeiras - Fusão, cisão e incorporação", "reference_date": "2026-05-15", "version": "1", "page": 1, "url": "https://fnet.bmfbovespa.com.br/fnet/publico/visualizarDocumento?id=1327859", "sha256": "dca1c68babb97f887528c3e2e47596a9c30f507b067981a35655b2f2da9c8054"}, {"document_id": "1298691", "title": "Demonstrações Financeiras - Fusão, cisão e incorporação", "reference_date": "2026-05-08", "version": "1", "page": 1, "url": "https://fnet.bmfbovespa.com.br/fnet/publico/visualizarDocumento?id=1298691", "sha256": "58c570d9b8d4d265330d3db3ea81c435b8e44a6dab4002aa37790652a1ee9819"}, {"document_id": "1205431", "title": "AGE", "reference_date": "2026-04-28", "version": "1", "page": 1, "clause": "4.1", "url": "https://fnet.bmfbovespa.com.br/fnet/publico/visualizarDocumento?id=1205431", "sha256": "e0b59c701c5d0dbf60de698ea7664d442240863b7043bacdb334ce484188b2ac"}], "reference": {"path": "history/63953620000165.json", "criterion_id": "perimeter", "total_count": 4, "preview_count": 3, "full_text_deferred": true, "sha256": "a7b89077f5e21098c2d601c303faabc3ff6b9729f89d8afecdc60fe1404720c1"}}</a:t>
            </a:r>
          </a:p>
          <a:p>
            <a:r>
              <a:t>CNPJ 54871427000194 · Adaptação à Resolução CVM 175 · Regulamento · ID 670691 · 28/04/2024 · versão Regulamento — referência 28/04/2024 · p. 1 · Parte Geral, 1.1 · https://fnet.bmfbovespa.com.br/fnet/publico/visualizarDocumento?id=670691</a:t>
            </a:r>
          </a:p>
          <a:p>
            <a:r>
              <a:t>CNPJ 54871427000194 · Adaptação à Resolução CVM 175 · Excerto da fonte:</a:t>
            </a:r>
          </a:p>
          <a:p>
            <a:r>
              <a:t>1.1 CONSIGNADO DELTA RECEIVABLES I FUNDO DE INVESTIMENTO EM DIREITOS CREDITÓRIOS (“FUNDO”), regido pela Lei nº 10.406, de 10 de janeiro de 2002, conf orme alterada (“Código Civil”), pela parte geral e o Anexo Normativo II da Resolução nº 175, de 23 de dezembro de 2022, conforme alterada, da Comissão de Valores Mobiliários (respectivamente, “CVM” e “Resolução CVM 175”), terá como principais características: Classe de Cotas Classe única. Indeterminado, exceto se de outra f orma vier a ser deliberado pelos cotistas Prazo de Duração reunidos em assembleia geral de cotistas. BTG Pactual Serviços Financeiros S.A. Distribuidora de Títulos e Valores Mobiliários, instituição f inanceira, com sede na Cidade e Estado do Rio de Janeiro, na Praia de Botafogo, nº 501, 5º andar (parte), Torre Corcovado, ADMINISTRADOR Botafogo, CEP 22250-040, inscrita no CNPJ sob o nº 59.281.253/0001-23 e credenciada como administradora de carteira, de acordo com o Ato Declaratório CVM nº</a:t>
            </a:r>
          </a:p>
          <a:p>
            <a:r>
              <a:t>CNPJ 54871427000194 · Adaptação à Resolução CVM 175 · Regulamento · ID 670691 · 28/04/2024 · versão Regulamento — referência 28/04/2024 · p. 8 · Anexo I, 2.1 · https://fnet.bmfbovespa.com.br/fnet/publico/visualizarDocumento?id=670691</a:t>
            </a:r>
          </a:p>
          <a:p>
            <a:r>
              <a:t>CNPJ 54871427000194 · Adaptação à Resolução CVM 175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deverá adotar as medidas aplicáveis previstas na Resolução CVM 175. 2.3 Serão aplicáveis as disposições da Resolução CVM 175 no que se refere aos procedimentos a serem adotados pelo ADMINISTRADOR na hipótese de Patrimônio Líquido negativo da Classe. CAPÍTULO 3 – ENCARGOS DA CLASSE 3.1 A Classe terá Encargos que lhe poderão ser debitados diretamente, nos termos do art. 53 do Anexo Normativo II da Resolução CVM 175, além de encargos adicionais, e quaisquer despesas que não constituam Encargos correm por conta do Prestador de Serviço Essencial que a tiver contratado: (i) despesas com a contratação de consultoria especializada, conf orme o caso; (ii) despesas com a contratação do Agente de Cobrança, conf orme aplicável; (iii) Taxa Máxima de Custódia; (iv) despesas com registro de Direitos Creditórios; (v) despesas com serviços de originação, cobranças ordinária e/ou extraordinária dos D</a:t>
            </a:r>
          </a:p>
          <a:p>
            <a:r>
              <a:t>CNPJ 54871427000194 · Adaptação à Resolução CVM 175 · Versão e prevalência: Leitura específica das cláusulas indicadas; condições e conflitos preservados. Seleção documental atual não comprova vigência jurídica por data isolada.</a:t>
            </a:r>
          </a:p>
          <a:p>
            <a:r>
              <a:t>CNPJ 54871427000194 · Adaptação à Resolução CVM 175 · Resumo do histórico: {"count": 2, "dates": ["2024-04-19"], "document_count": 2, "sources": [{"document_id": "670687", "title": "Instrumento Particular de Constituição/Encerramento do Fundo", "reference_date": "2024-04-19", "version": "1", "page": 1, "url": "https://fnet.bmfbovespa.com.br/fnet/publico/visualizarDocumento?id=670687", "sha256": "999f2a47d39f7022b0fcee3d16fd1db33948537b897e92c4c9e14b436bf5eb96"}, {"document_id": "670689", "title": "Regulamento", "reference_date": "2024-04-19", "version": "1", "page": 11, "clause": "4.10", "url": "https://fnet.bmfbovespa.com.br/fnet/publico/visualizarDocumento?id=670689", "sha256": "891bc9bc5d87bbc02ec139077a84d2702eb81ea02035fb71d24f5b8366b94a0b"}], "reference": {"path": "history/54871427000194.json", "criterion_id": "res175", "total_count": 2, "preview_count": 2, "full_text_deferred": true, "sha256": "35d7cd99be50c7287c9fb675cf4f2e736002315295a225a9efa79c8d9186d874"}}</a:t>
            </a:r>
          </a:p>
          <a:p>
            <a:r>
              <a:t>CNPJ 60010416000112 · Adaptação à Resolução CVM 175 · Regulamento · ID 1051393 · 09/10/2025 · versão Regulamento09/10/2025 · p. 8 · AnexoI1.2 · https://fnet.bmfbovespa.com.br/fnet/publico/visualizarDocumento?id=1051393</a:t>
            </a:r>
          </a:p>
          <a:p>
            <a:r>
              <a:t>CNPJ 60010416000112 · Adaptação à Resolução CVM 175 · Excerto da fonte:</a:t>
            </a:r>
          </a:p>
          <a:p>
            <a:r>
              <a:t>Tipo de Condomínio Fechado. Prazo de Duração Indeterminado. Classe de Investimento Não. em Cotas Tipo “Financeiro”. Classificação ANBIMA Foco de atuação “Créditos Consignados”. O objetivo da classe é proporcionar aos seus Cotistas a valorização de suas Cotas por meio da aplicação de seu Patrimônio Líquido na aquisição de: (i) Direitos Creditórios que atendam aos Critérios de Elegibilidade, estabelecidos no Ca</a:t>
            </a:r>
          </a:p>
          <a:p>
            <a:r>
              <a:t>CNPJ 60010416000112 · Adaptação à Resolução CVM 175 · Regulamento · ID 1051393 · 09/10/2025 · versão Regulamento09/10/2025 · p. 9 · AnexoI2.1–2.3 · https://fnet.bmfbovespa.com.br/fnet/publico/visualizarDocumento?id=1051393</a:t>
            </a:r>
          </a:p>
          <a:p>
            <a:r>
              <a:t>CNPJ 60010416000112 · Adaptação à Resolução CVM 175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o Administrador deverá adotar as medidas aplicáveis previstas na Resolução CVM 175 2.3 Serão aplicáveis as disposições da Resolução CVM 175 no que se ref ere aos procedimentos a serem adotados pelo Administrador na hipótese de Patrimônio Líquido negativo da Classe, visando a liquidação da Classe e que não remanesçam</a:t>
            </a:r>
          </a:p>
          <a:p>
            <a:r>
              <a:t>CNPJ 60010416000112 · Adaptação à Resolução CVM 175 · Versão e prevalência: Leitura específica das cláusulas indicadas; condições e conflitos preservados. Seleção documental atual não comprova vigência jurídica por data isolada.</a:t>
            </a:r>
          </a:p>
          <a:p>
            <a:r>
              <a:t>CNPJ 60010416000112 · Adaptação à Resolução CVM 175 · Resumo do histórico: {"count": 2, "dates": ["2025-03-20"], "document_count": 2, "sources": [{"document_id": "993785", "title": "Instrumento Particular de Constituição/Encerramento do Fundo", "reference_date": "2025-03-20", "version": "1", "page": 1, "url": "https://fnet.bmfbovespa.com.br/fnet/publico/visualizarDocumento?id=993785", "sha256": "0826e0eae2c51afabf59bbc49fc7647598d03da5ca6de0f9725850a8bd6af457"}, {"document_id": "993786", "title": "Regulamento", "reference_date": "2025-03-20", "version": "1", "page": 12, "clause": "4.8", "url": "https://fnet.bmfbovespa.com.br/fnet/publico/visualizarDocumento?id=993786", "sha256": "fd0fdd369a195510d81f81f505195a0b09e5f43522a990afa7d58c4f872921c8"}], "reference": {"path": "history/60010416000112.json", "criterion_id": "res175", "total_count": 2, "preview_count": 2, "full_text_deferred": true, "sha256": "8e2bd813f4c51cf01f6bfaad164bafe69d2bbb192f753eac92da3a01c2e63046"}}</a:t>
            </a:r>
          </a:p>
          <a:p>
            <a:r>
              <a:t>CNPJ 62696791000193 · Adaptação à Resolução CVM 175 · AGE · ID 1143319 · 20/03/2026 10:00 · versão AGE — referência 20/03/2026 10:00 · p. 1 · AGC, 4.1(a)–(b) · https://fnet.bmfbovespa.com.br/fnet/publico/visualizarDocumento?id=1143319</a:t>
            </a:r>
          </a:p>
          <a:p>
            <a:r>
              <a:t>CNPJ 62696791000193 · Adaptação à Resolução CVM 175 · Excerto da fonte:</a:t>
            </a:r>
          </a:p>
          <a:p>
            <a:r>
              <a:t>4.1. Aprovar a transformação do Fundo, bem como de sua Classe única, em um fundo de investimento nas cadeias produtivas do agronegócio (“Transformação”), nos termos da parte geral e do Anexo Normativo VI da Resolução nº 175 da CVM, de 23 de dezembro de 2022, conforme alterada (“Resolução CVM 175”). a. Aprovar a alteração da denominação do Fundo, que passará a vigorar como BTG PACTUAL CERES CONFINA FUNDO DE INVESTIMENTO NAS CADEIAS PRODUTIVAS DO AGRONEGÓCIO RESPONSABILIDADE LIMITADA, e de sua Classe única, que passará a vigorar como CLASSE ÚNICA DO BTG PACTUAL CERES CONFINA FUNDO DE INVESTIMENTO NAS CADEIAS PRODUTIVAS DO AGRONEGÓCIO RESPONSABILIDADE LIMITADA (“Classe”); b. Aprovar a reforma integral do Regulamento do Fundo, bem como do Anexo descritivo da Classe, para realizar todos os ajustes necessários à implementação da Transformação, incluindo, mas não se limitando, a política de investimentos, o regime tributário e os fatores de risco aplicáveis, conforme itens abaixo; c. Aprovar a alteração do quadro de características gerais do Fundo, considerando a contratação do Cogestor pelo Gestor, nos termos do artigo 52, II, da parte geral da Resolução CVM 175 e no co</a:t>
            </a:r>
          </a:p>
          <a:p>
            <a:r>
              <a:t>CNPJ 62696791000193 · Adaptação à Resolução CVM 175 · AGE · ID 1143319 · 20/03/2026 10:00 · versão AGE — referência 20/03/2026 10:00 · p. 3 · AGC 20/03/2026, 4.1(j)–(k) · https://fnet.bmfbovespa.com.br/fnet/publico/visualizarDocumento?id=1143319</a:t>
            </a:r>
          </a:p>
          <a:p>
            <a:r>
              <a:t>CNPJ 62696791000193 · Adaptação à Resolução CVM 175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Adaptação à Resolução CVM 175 · Regulamento · ID 1143317 · 20/03/2026 · versão Regulamento — referência 20/03/2026 · p. 1 · Parte Geral, 1.1 · https://fnet.bmfbovespa.com.br/fnet/publico/visualizarDocumento?id=1143317</a:t>
            </a:r>
          </a:p>
          <a:p>
            <a:r>
              <a:t>CNPJ 62696791000193 · Adaptação à Resolução CVM 175 · Excerto da fonte:</a:t>
            </a:r>
          </a:p>
          <a:p>
            <a:r>
              <a:t>1.1 BTG PACTUAL CERES CONFINA FUNDO DE INVESTIMENTO NAS CADEIAS PRODUTIVAS DO AGRONEGÓCIO RESPONSABILIDADE LIMITADA (“Fundo”), regido pela Lei nº 10.406, de 10 de janeiro de 2002, conf orme alterada (“Código Civil”), pela Lei n.º 8.668, de 25 de junho de 1993, conf orme alterada (“Lei 8.668”), pela parte geral, Anexo Normativo VI e, subsidiariamente, Anexo Normativo II da Resolução nº 175, de 23 de dezembro de 2022, conforme alterada, da Comissão de Valores Mobiliários (respectivamente, “Resolução CVM 175” e “CVM”), terá como principais características: Classe Classe única. Indeterminado, exceto se de outra f orma vier a ser deliberado pelos Cotistas Prazo de Duração reunidos em assembleia geral de Cotistas (“Prazo de Duração”). BTG Pactual Serviços Financeiros S.A. Distribuidora de Títulos e Valores Mobiliários, sociedade anônima, com sede no município e Estado do Rio de Janeiro, na Praia de Botafogo, nº 501, 5º andar (parte), Torre Corcovado, Administrador Botafogo, CEP 22250-040, inscrita no CNPJ sob o nº 59.281.253/0001-23 e</a:t>
            </a:r>
          </a:p>
          <a:p>
            <a:r>
              <a:t>CNPJ 62696791000193 · Adaptação à Resolução CVM 175 · Condição: Posição comumfev/26 é anterior à transformação e demanda o regime/regulamento anterior.</a:t>
            </a:r>
          </a:p>
          <a:p>
            <a:r>
              <a:t>CNPJ 62696791000193 · Adaptação à Resolução CVM 175 · Versão e prevalência: Leitura específica das cláusulas indicadas; condições e conflitos preservados. Seleção documental atual não comprova vigência jurídica por data isolada.</a:t>
            </a:r>
          </a:p>
          <a:p>
            <a:r>
              <a:t>CNPJ 55563624000109 · Adaptação à Resolução CVM 175 · Regulamento · ID 1192614 · 2026-04-30 · versão 1 · p. 13 · 4.11 · https://fnet.bmfbovespa.com.br/fnet/publico/visualizarDocumento?id=1192614</a:t>
            </a:r>
          </a:p>
          <a:p>
            <a:r>
              <a:t>CNPJ 55563624000109 · Adaptação à Resolução CVM 175 · Excerto da fonte:</a:t>
            </a:r>
          </a:p>
          <a:p>
            <a:r>
              <a:t>4.11 Nos termos dos artigos 45, parágrafo 7º, e 47 parágrafo único do Anexo Normativo II à Resolução CVM 175, uma  vez que as Cotas são destinadas exclusivamente a Investidores Profissionais, a Classe poderá ter até 100% (cem  por cento) de seu Patrimônio Líquido alocado em Cotas da Classe Investida, as quais são emitidas pela Classe  Investida.</a:t>
            </a:r>
          </a:p>
          <a:p>
            <a:r>
              <a:t>CNPJ 55563624000109 · Adaptação à Resolução CVM 175 · Regulamento · ID 1192614 · 2026-04-30 · versão 1 · p. 31 · 15.1.1 · https://fnet.bmfbovespa.com.br/fnet/publico/visualizarDocumento?id=1192614</a:t>
            </a:r>
          </a:p>
          <a:p>
            <a:r>
              <a:t>CNPJ 55563624000109 · Adaptação à Resolução CVM 175 · Excerto da fonte:</a:t>
            </a:r>
          </a:p>
          <a:p>
            <a:r>
              <a:t>15.1.1 Riscos de Crédito:</a:t>
            </a:r>
          </a:p>
          <a:p>
            <a:r>
              <a:t> (i) Risco de concentração na Classe Investida. Nos termos do presente Regulamento, a Classe  deverá manter alocado, no mínimo, 67% (sessenta e sete por cento) do Patrimônio Líquido nas Cotas  da Classe Investida. Alterações na condição econômico-financeira e na expectativa de desempenho ou  resultados da Classe Investida poderão, isolada ou cumulativamente, afetar negativamente o  rendimento do investimento nas Cotas, de forma mais severa do que se a Classe adotasse uma  estratégia de investimento de maior diversificação. O risco associado às aplicações de qualquer fundo  de investimento é diretamente proporcional à concentração da sua carteira, sendo que, quanto maior  essa concentração, maior será a sua vulnerabilidade.</a:t>
            </a:r>
          </a:p>
          <a:p>
            <a:r>
              <a:t> (ii) Risco relativo à Classe Investida. Nos termos deste Anexo, a Classe deverá manter alocado, no  mínimo, 67% (sessenta e sete por cento) do Patrimônio Líquido em Cotas da Classe Investida. Os  investimentos realizados pela Classe Investida poderão estar sujeitos a flutuações típicas do mercado,  risco de crédito, risco sistêmico, condições adversas de liquidez e negociação atípica nos mercados de  atuação, bem como outros riscos diversos. Este Anexo não contém a descrição de todas as  características, incluindo os riscos, da Classe Investida.</a:t>
            </a:r>
          </a:p>
          <a:p>
            <a:r>
              <a:t> (iii) Risco Relativo ao Pagamento de Encargos da Classe Investida. Tendo em vista a estrutura da  Classe Investida – que emitiu cotas sêniores, cotas subordinadas mezanino e cotas subordinadas júnior  – em situação ordinária os encargos da Classe Investida são arcados pelas cotas subordinadas júnior,  que se subordinam às cotas subordinadas mezanino e às cotas sêniores para fins de amortização,  resgate e distribuição de rendimentos, não impactando, portanto, as Cotas da Classe Investida. Não  obstante o funcionamento da Classe Investida em situação ordinária, em cenários extraordinários, na  eventualidade do valor das cotas subordinadas júnior ficar reduzido a zero ou a valor negativo, os  encargos da Classe Investida conforme previstos em seu regulamento, inclusive mas não se limitando  as remunerações dos prestadores de serviços essenciais, passarão a ser arcados pelas cotas  subordinadas mezanino (que são as Cotas da Classe Investida), impactando no valor do investimento  da Classe na Classe Investida, e consequentemente, o investimento dos Cotistas na Classe.</a:t>
            </a:r>
          </a:p>
          <a:p>
            <a:r>
              <a:t> (iv) Riscos referentes à carteira da Classe Investida. Na forma do Anexo Normativo II da Resolução  CVM 175, a Classe Investida investe, direta ou indiretamente, no mínimo, 67% (sessenta e sete por  cento) do seu patrimônio em direitos creditórios originados pela Mercado Pago. O investimento em tais  direitos creditórios está sujeito a fatores de risco específicos, conforme detalhados no regulamento da  Classe Investida, incluindo, mas não se limitando a:</a:t>
            </a:r>
          </a:p>
          <a:p>
            <a:r>
              <a:t> (a) Risco de liquidez dos direitos creditórios. O investimento da Classe Investida em direitos  creditórios apresenta peculiaridades em relação às aplicações usuais da maioria dos  fundos de investimento brasileiros, haja vista que não existe, no Brasil, mercado  secundário com liquidez para tais direitos creditórios. Caso a Classe Investida precise  vender os direitos creditórios adquiridos, poderá não haver mercado comprador para  tais créditos, bem como o preço de alienação de tais direitos creditórios poderá refletir  essa falta de liquidez, causando perda ao patrimônio da Classe Investida e,  consequentemente, à Classe.</a:t>
            </a:r>
          </a:p>
          <a:p>
            <a:r>
              <a:t>CNPJ 55563624000109 · Adaptação à Resolução CVM 175 · Regulamento · ID 1192614 · 2026-04-30 · versão 1 · p. 28 · 13.2 · https://fnet.bmfbovespa.com.br/fnet/publico/visualizarDocumento?id=1192614</a:t>
            </a:r>
          </a:p>
          <a:p>
            <a:r>
              <a:t>CNPJ 55563624000109 · Adaptação à Resolução CVM 175 · Excerto da fonte:</a:t>
            </a:r>
          </a:p>
          <a:p>
            <a:r>
              <a:t>13.2 Em condições ordinárias, as Cotas da Classe Investida não pagarão remuneração aos prestadores de serviços  essenciais da Classe Investida, nos termos de seu regulamento. Não obstante, em cenário extraordinário  conforme descrito no item 15.1.1 (iii), e para fins de atendimento ao artigo 98 da parte geral da Resolução CVM  175, a taxa máxima de administração corresponderá ao valor da Taxa Mínima de Administração acrescida de até  0,10% (dez centésimos por cento) ao ano incidente sobre o patrimônio líquido da Classe Investida,  compreendendo a taxa de administração da Classe Investida geridos por partes relacionadas ao GESTOR, cujas  cotas não estão admitidas à negociação em mercado organizado, conforme prevista no regulamento da Classe  Investida (“Taxa Máxima de Administração” e, quando referida em conjunto com a Taxa Mínima de  Administração, como “Taxa de Administração”). Caso a taxa de administração da Classe Investida não se  enquadre no disposto acima, estará disposta no regulamento da Classe Investida.</a:t>
            </a:r>
          </a:p>
          <a:p>
            <a:r>
              <a:t>CNPJ 55563624000109 · Adaptação à Resolução CVM 175 · Condição: Documentos atuais selecionados no inventário por categoria/escopo; a data documental isolada não comprova vigência jurídica.</a:t>
            </a:r>
          </a:p>
          <a:p>
            <a:r>
              <a:t>CNPJ 55563624000109 · Adaptação à Resolução CVM 175 · Versão e prevalência: Documentos atuais selecionados no inventário por categoria/escopo; a data documental isolada não comprova vigência jurídica.</a:t>
            </a:r>
          </a:p>
          <a:p>
            <a:r>
              <a:t>CNPJ 55563624000109 · Adaptação à Resolução CVM 175 · Resumo do histórico: {"count": 3, "dates": ["2024-07-03", "2025-01-31", "2026-01-31"], "document_count": 3, "sources": [{"document_id": "1178840", "title": "Demonstrações Financeiras", "reference_date": "2026-01-31", "version": "1", "page": 29, "url": "https://fnet.bmfbovespa.com.br/fnet/publico/visualizarDocumento?id=1178840", "sha256": "c458e98664c5c907ddb5a05a94b120bed4e05295b2bfc420f5ba69af0a229abe"}, {"document_id": "891861", "title": "Demonstrações Financeiras", "reference_date": "2025-01-31", "version": "1", "page": 30, "url": "https://fnet.bmfbovespa.com.br/fnet/publico/visualizarDocumento?id=891861", "sha256": "e9cb9e6ddbe505fe068cfcac33605165a98313489de0d3ce6d4d238263c3f3e7"}, {"document_id": "691674", "title": "Instrumento Particular de Emissão de Cotas", "reference_date": "2024-07-03", "version": "1", "page": 1, "url": "https://fnet.bmfbovespa.com.br/fnet/publico/visualizarDocumento?id=691674", "sha256": "78bf7b350f1785beae5f43bd209b5ed19e863cb9a2cff01542aac11dd63ca554"}], "reference": {"path": "history/55563624000109.json", "criterion_id": "res175", "total_count": 3, "preview_count": 3, "full_text_deferred": true, "sha256": "7835d573fb58a3c19adf5b8ecc2aee2bdbb9a88f7a0c0209b5f262b64c7522e3"}}</a:t>
            </a:r>
          </a:p>
          <a:p>
            <a:r>
              <a:t>CNPJ 62552447000120 · Adaptação à Resolução CVM 175 · Regulamento · ID 1200623 · 21/05/2026 · versão Consolidado21/05/2026 aprovado pelo ato1200625 · p. 1 · ParteGeral1.1 · https://fnet.bmfbovespa.com.br/fnet/publico/visualizarDocumento?id=1200623</a:t>
            </a:r>
          </a:p>
          <a:p>
            <a:r>
              <a:t>CNPJ 62552447000120 · Adaptação à Resolução CVM 175 · Excerto da fonte:</a:t>
            </a:r>
          </a:p>
          <a:p>
            <a:r>
              <a:t>1.1 V CDT 1 FUNDO DE INVESTIMENTO EM DIREITOS CREDITÓRIOS RESPONSABILIDADE LIMITADA (“Fundo”), regido pela Lei n.º 10.406, de 10 de janeiro de 2002, conforme alterada (“Código Civil”), pela Resolução da Comissão de Valores Mobiliários (“CVM”) n.º 175, de 23 de dezembro de 2022, conf orme alterada (“Resolução CVM 175”), que inclui sua Parte Geral (“Parte Geral da Resolução CVM 175”) e seu Anexo Normativo II (“Anexo Normativo II”) terá como principais características: Classe de Cotas Classe única. Indeterminado, exceto se de outra forma vier a ser deliberado pelos titulares</a:t>
            </a:r>
          </a:p>
          <a:p>
            <a:r>
              <a:t>CNPJ 62552447000120 · Adaptação à Resolução CVM 175 · Regulamento · ID 1200623 · 21/05/2026 · versão Consolidado21/05/2026 aprovado pelo ato1200625 · p. 2 · ParteGeral1.6(v) · https://fnet.bmfbovespa.com.br/fnet/publico/visualizarDocumento?id=1200623</a:t>
            </a:r>
          </a:p>
          <a:p>
            <a:r>
              <a:t>CNPJ 62552447000120 · Adaptação à Resolução CVM 175 · Excerto da fonte:</a:t>
            </a:r>
          </a:p>
          <a:p>
            <a:r>
              <a:t>V CDT 1 FUNDO DE INVESTIMENTO EM DIREITOS CREDITÓRIOS RESPONSABILIDADE LIMITADA direitos e obrigações distintos das demais Classes, nos termos do art. 5º da Parte Geral da Resolução CVM 175. 1.4 O Anexo de cada classe de Cotas (“Classe”), conforme aplicável, dispõe, sem prejuízo de outros requisitos e inf ormações previstos na regulamentação, sobre: (i) características gerais, incluindo a indicação dos demais prestadores de serviços; (ii) responsabilidade dos Cotistas e regime de insolvência; (iii) características, direitos, condições de emissão, subscrição, integralização,</a:t>
            </a:r>
          </a:p>
          <a:p>
            <a:r>
              <a:t>CNPJ 62552447000120 · Adaptação à Resolução CVM 175 · Regulamento · ID 1200623 · 21/05/2026 · versão Consolidado21/05/2026 aprovado pelo ato1200625 · p. 16 · AnexoI5.1 · https://fnet.bmfbovespa.com.br/fnet/publico/visualizarDocumento?id=1200623</a:t>
            </a:r>
          </a:p>
          <a:p>
            <a:r>
              <a:t>CNPJ 62552447000120 · Adaptação à Resolução CVM 175 · Excerto da fonte:</a:t>
            </a:r>
          </a:p>
          <a:p>
            <a:r>
              <a:t>5.1 A Classe não possui Subclasse. As características, os direitos e as condições de emissão, distribuição, subscrição, integralização, remuneração, Amortização e resgate das Cotas estão descritos neste Capítulo e no Capítulo 6. 5.1.1 Não obstante, por deliberação conjunta dos Prestadores de Serviços Essenciais e mediante aprovação em Assembleia Especial, poderá haver a divisão de Classes em Subclasses, nos termos da Resolução CVM 175. Após a primeira emissão de Cotas, novas emissões de Cotas (de quaisquer Subclasses) dependem de aprovação dos Cotistas. 5.2 As Cotas são escrit</a:t>
            </a:r>
          </a:p>
          <a:p>
            <a:r>
              <a:t>CNPJ 62552447000120 · Adaptação à Resolução CVM 175 · Versão e prevalência: Leitura específica das cláusulas indicadas; condições e conflitos preservados. Seleção documental atual não comprova vigência jurídica por data isolada.</a:t>
            </a:r>
          </a:p>
          <a:p>
            <a:r>
              <a:t>CNPJ 62552447000120 · Adaptação à Resolução CVM 175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"res175", "total_count": 1, "preview_count": 1, "full_text_deferred": true, "sha256": "d95db8c0613d67ee84118c734588665265ea6b02f86a0318d6a844cbe1d0f82f"}}</a:t>
            </a:r>
          </a:p>
          <a:p>
            <a:r>
              <a:t>CNPJ 63953620000165 · Adaptação à Resolução CVM 175 · Anexo ao Regulamento · ID 1222863 · 02/06/2026 · versão AnexoConsignadoPrivado02/06/2026 · p. 1 · AnexoI1.1 · https://fnet.bmfbovespa.com.br/fnet/publico/visualizarDocumento?id=1222863</a:t>
            </a:r>
          </a:p>
          <a:p>
            <a:r>
              <a:t>CNPJ 63953620000165 · Adaptação à Resolução CVM 175 · Excerto da fonte:</a:t>
            </a:r>
          </a:p>
          <a:p>
            <a:r>
              <a:t>1.1 As principais características da Classe Consignado Privado (para fins deste Anexo, “Classe”) estão descritas abaixo: Tipo de Condomínio Fechado. Indeterminado, exceto se de outra forma vier a ser deliberado pelos Cotistas Prazo de Duração reunidos em Assembleia Especial de Cotistas. (“Prazo de Duração”) Tipo “Financeiro”. Classificação ANBIMA Foco de atuação “Créditos Consignados”. O obje</a:t>
            </a:r>
          </a:p>
          <a:p>
            <a:r>
              <a:t>CNPJ 63953620000165 · Adaptação à Resolução CVM 175 · Anexo ao Regulamento · ID 1222863 · 02/06/2026 · versão AnexoConsignadoPrivado02/06/2026 · p. 9 · 5.1 · https://fnet.bmfbovespa.com.br/fnet/publico/visualizarDocumento?id=1222863</a:t>
            </a:r>
          </a:p>
          <a:p>
            <a:r>
              <a:t>CNPJ 63953620000165 · Adaptação à Resolução CVM 175 · Excerto da fonte:</a:t>
            </a:r>
          </a:p>
          <a:p>
            <a:r>
              <a:t>5.1 A Classe possui 2 (duas) Subclasses de Cotas, quais sejam, a subclasse sênior (“Subclasse Sênior” e “Cotas Seniores”) e a subclasse subordinada (“Subclasse Subordinada” e “Cotas Subordinadas” – as Cotas Subordinadas e Cotas Seniores, quando referidas em conjunto, “Cotas”). As características, os direitos e as condições de emissão, distribuição, subscrição, integralização, remuneração, amortização e resgate das Cotas estão descritos neste Capítulo e nos respectivos Apêndices. 5.2 As Cotas são escriturais, nominativas e correspondem a frações ideais do patrimônio da Classe, cuja propriedade presume-se: (i) pelo</a:t>
            </a:r>
          </a:p>
          <a:p>
            <a:r>
              <a:t>CNPJ 63953620000165 · Adaptação à Resolução CVM 175 · Condição: Vigência efetiva da versão 02/06/2026 não inferida da data de publicação; não aplicar a fev/26 automaticamente.</a:t>
            </a:r>
          </a:p>
          <a:p>
            <a:r>
              <a:t>CNPJ 63953620000165 · Adaptação à Resolução CVM 175 · Versão e prevalência: Leitura específica das cláusulas indicadas; condições e conflitos preservados. Seleção documental atual não comprova vigência jurídica por data isolada.</a:t>
            </a:r>
          </a:p>
          <a:p>
            <a:r>
              <a:t>CNPJ 63953620000165 · Adaptação à Resolução CVM 175 · Resumo do histórico: {"count": 9, "dates": ["2026-04-28", "2026-05-08", "2026-05-15"], "document_count": 3, "sources": [{"document_id": "1327859", "title": "Demonstrações Financeiras - Fusão, cisão e incorporação", "reference_date": "2026-05-15", "version": "1", "page": 31, "clause": "15.000.000", "url": "https://fnet.bmfbovespa.com.br/fnet/publico/visualizarDocumento?id=1327859", "sha256": "dca1c68babb97f887528c3e2e47596a9c30f507b067981a35655b2f2da9c8054"}, {"document_id": "1298691", "title": "Demonstrações Financeiras - Fusão, cisão e incorporação", "reference_date": "2026-05-08", "version": "1", "page": 32, "url": "https://fnet.bmfbovespa.com.br/fnet/publico/visualizarDocumento?id=1298691", "sha256": "58c570d9b8d4d265330d3db3ea81c435b8e44a6dab4002aa37790652a1ee9819"}, {"document_id": "1282180", "title": "Demonstrações Financeiras - Fusão, cisão e incorporação", "reference_date": "2026-04-28", "version": "1", "page": 32, "clause": "15.000.000", "url": "https://fnet.bmfbovespa.com.br/fnet/publico/visualizarDocumento?id=1282180", "sha256": "afaaa0e6809be4385e5bdb6c911aac582032c5bdbac3d7750234bf9eaf00438a"}], "reference": {"path": "history/63953620000165.json", "criterion_id": "res175", "total_count": 9, "preview_count": 3, "full_text_deferred": true, "sha256": "a7b89077f5e21098c2d601c303faabc3ff6b9729f89d8afecdc60fe1404720c1"}}</a:t>
            </a:r>
          </a:p>
          <a:p>
            <a:r>
              <a:t>CNPJ 54871427000194 · Duração e público-alvo · Demonstrações Financeiras - Fusão, cisão e incorporação · ID 1219522 · 2026-02-02 · versão 1 · p. 11 · https://fnet.bmfbovespa.com.br/fnet/publico/visualizarDocumento?id=1219522</a:t>
            </a:r>
          </a:p>
          <a:p>
            <a:r>
              <a:t>CNPJ 54871427000194 · Duração e público-alvo · Excerto da fonte:</a:t>
            </a:r>
          </a:p>
          <a:p>
            <a:r>
              <a:t>O Consignado Delta Receivables I Fundo de Investimento em Direitos Creditórios possui uma classe única de cotas, denominada Classe Única de Responsabilidade Limitada do Consignado Delta Receivables I Fundo de Investimento em Direitos Creditórios (“Classe”). A Classe foi constituída em 19 de abril de 2024, sob a forma de condomínio fechado e iniciou suas operações em 27 de maio de 2024. A Classe possui prazo de duração Indeterminado.</a:t>
            </a:r>
          </a:p>
          <a:p>
            <a:r>
              <a:t>CNPJ 54871427000194 · Duração e público-alvo · Condição: Documentos atuais selecionados no inventário por categoria/escopo; a data documental isolada não comprova vigência jurídica.</a:t>
            </a:r>
          </a:p>
          <a:p>
            <a:r>
              <a:t>CNPJ 54871427000194 · Duração e público-alvo · Versão e prevalência: Documentos atuais selecionados no inventário por categoria/escopo; a data documental isolada não comprova vigência jurídica.</a:t>
            </a:r>
          </a:p>
          <a:p>
            <a:r>
              <a:t>CNPJ 54871427000194 · Duração e público-alvo · Resumo do histórico: {"count": 11, "dates": ["2024-12-31", "2025-01-01", "2025-12-31"], "document_count": 3, "sources": [{"document_id": "1151805", "title": "Demonstrações Financeiras", "reference_date": "2025-12-31", "version": "1", "page": 11, "url": "https://fnet.bmfbovespa.com.br/fnet/publico/visualizarDocumento?id=1151805", "sha256": "f1cea70b152968bf96ef9221b27225953cb20aeef487b2798db3c25e11b528d4"}, {"document_id": "869529", "title": "Demonstrações Financeiras", "reference_date": "2025-01-01", "version": "1", "page": 11, "url": "https://fnet.bmfbovespa.com.br/fnet/publico/visualizarDocumento?id=869529", "sha256": "9a93a9369ac8efdbc54ff8fcee3ccac3abf88edab4807b9323d3852450771b2a"}, {"document_id": "870070", "title": "Demonstrações Financeiras", "reference_date": "2024-12-31", "version": "1", "page": 11, "url": "https://fnet.bmfbovespa.com.br/fnet/publico/visualizarDocumento?id=870070", "sha256": "9a93a9369ac8efdbc54ff8fcee3ccac3abf88edab4807b9323d3852450771b2a"}], "reference": {"path": "history/54871427000194.json", "criterion_id": "duration_investors", "total_count": 11, "preview_count": 3, "full_text_deferred": true, "sha256": "35d7cd99be50c7287c9fb675cf4f2e736002315295a225a9efa79c8d9186d874"}}</a:t>
            </a:r>
          </a:p>
          <a:p>
            <a:r>
              <a:t>CNPJ 60010416000112 · Duração e público-alvo · Demonstrações Financeiras - Fusão, cisão e incorporação · ID 1298690 · 2026-05-08 · versão 1 · p. 9 · https://fnet.bmfbovespa.com.br/fnet/publico/visualizarDocumento?id=1298690</a:t>
            </a:r>
          </a:p>
          <a:p>
            <a:r>
              <a:t>CNPJ 60010416000112 · Duração e público-alvo · Excerto da fonte:</a:t>
            </a:r>
          </a:p>
          <a:p>
            <a:r>
              <a:t>1. Contexto operacional  O MT Consignado Privado I Fundo de Investimento em Direitos Creditórios (“Fundo”) possui uma  classe única de cotas, denominada Classe Única do MT I Consignado Privado I Fundo de  Investimento em Direitos Creditórios Responsabilidade Limitada (“Classe”). A Classe foi  constituída em 20 de março de 2025, sob a forma de condomínio fechado e iniciou suas  operações em 21 de março de 2025. A Classe possui prazo de duração indeterminado.</a:t>
            </a:r>
          </a:p>
          <a:p>
            <a:r>
              <a:t>CNPJ 60010416000112 · Duração e público-alvo · Demonstrações Financeiras - Fusão, cisão e incorporação · ID 1298690 · 2026-05-08 · versão 1 · p. 22 · https://fnet.bmfbovespa.com.br/fnet/publico/visualizarDocumento?id=1298690</a:t>
            </a:r>
          </a:p>
          <a:p>
            <a:r>
              <a:t>CNPJ 60010416000112 · Duração e público-alvo · Excerto da fonte:</a:t>
            </a:r>
          </a:p>
          <a:p>
            <a:r>
              <a:t>(ii) Riscos do mercado secundário: A Classe é constituída sob a forma de condomínio  fechado, de modo que as Cotas Subordinadas somente serão resgatadas em virtude da  liquidação da Classe e as Cotas Seniores ao término do seu prazo de duração, conforme  estabelecidos nos respectivos Suplementos. Uma vez que o prazo de duração da Classe  é indeterminado, o Cotista titular das Cotas Subordinadas não terá liquidez em seu  investimento na Classe, exceto (a) por ocasião das amortizações e dos resgates, nos  termos do Regulamento; (b) por meio da alienação de suas Cotas no mercado  secundário, observado, neste caso, que sua alienação apenas é permitida para o Público-  Alvo das Cotas Subordinadas; ou (c) na liquidação antecipada do Fundo ou da Classe.</a:t>
            </a:r>
          </a:p>
          <a:p>
            <a:r>
              <a:t> Além disso, atualmente, o mercado secundário de cotas de fundos de investimento  apresenta baixa liquidez, o que pode dificultar a venda das Cotas ou ocasionar a obtenção  de um preço de venda que cause perda de patrimônio ao Cotista. Não há qualquer  garantia da Administradora, da Gestora, da consultora ou do Custodiante em relação à  possibilidade de venda das Cotas no mercado secundário ou ao preço obtido por elas,  ou mesmo garantia de saída ao Cotista.</a:t>
            </a:r>
          </a:p>
          <a:p>
            <a:r>
              <a:t>CNPJ 60010416000112 · Duração e público-alvo · Condição: Documentos atuais selecionados no inventário por categoria/escopo; a data documental isolada não comprova vigência jurídica.</a:t>
            </a:r>
          </a:p>
          <a:p>
            <a:r>
              <a:t>CNPJ 60010416000112 · Duração e público-alvo · Versão e prevalência: Documentos atuais selecionados no inventário por categoria/escopo; a data documental isolada não comprova vigência jurídica.</a:t>
            </a:r>
          </a:p>
          <a:p>
            <a:r>
              <a:t>CNPJ 60010416000112 · Duração e público-alvo · Resumo do histórico: {"count": 9, "dates": ["2025-11-30", "2026-03-18", "2026-04-16"], "document_count": 3, "sources": [{"document_id": "1282181", "title": "Demonstrações Financeiras - Fusão, cisão e incorporação", "reference_date": "2026-04-16", "version": "1", "page": 23, "url": "https://fnet.bmfbovespa.com.br/fnet/publico/visualizarDocumento?id=1282181", "sha256": "b1c6566e43a00bcd00c8a7f30c77b7f86e351bd8e355bbea113f46d1dafda703"}, {"document_id": "1224477", "title": "Demonstrações Financeiras - Fusão, cisão e incorporação", "reference_date": "2026-03-18", "version": "1", "page": 23, "url": "https://fnet.bmfbovespa.com.br/fnet/publico/visualizarDocumento?id=1224477", "sha256": "0751bf0a75bc3b44c2748f5000226665c6ec6698a90c4dc6170b4e6c187759ae"}, {"document_id": "1126154", "title": "Demonstrações Financeiras", "reference_date": "2025-11-30", "version": "1", "page": 23, "url": "https://fnet.bmfbovespa.com.br/fnet/publico/visualizarDocumento?id=1126154", "sha256": "a01e7ccf88c548f12c95cba8526d7efbef6b585c112cd4668eca781c292090b0"}], "reference": {"path": "history/60010416000112.json", "criterion_id": "duration_investors", "total_count": 9, "preview_count": 3, "full_text_deferred": true, "sha256": "8e2bd813f4c51cf01f6bfaad164bafe69d2bbb192f753eac92da3a01c2e63046"}}</a:t>
            </a:r>
          </a:p>
          <a:p>
            <a:r>
              <a:t>CNPJ 62696791000193 · Duração e público-alvo · Regulamento · ID 1143317 · 2026-03-20 · versão 1 · p. 18 · 8.8.1 · https://fnet.bmfbovespa.com.br/fnet/publico/visualizarDocumento?id=1143317</a:t>
            </a:r>
          </a:p>
          <a:p>
            <a:r>
              <a:t>CNPJ 62696791000193 · Duração e público-alvo · Excerto da fonte:</a:t>
            </a:r>
          </a:p>
          <a:p>
            <a:r>
              <a:t>8.8.1 As Chamadas de Capital para a realização de investimentos serão realizadas a qualquer  momento durante o Período de Investimento e estarão limitadas ao valor do capital subscrito  de cada Cotista. As Chamadas de Capital para o pagamento de despesas e encargos do Fundo  poderão ser realizadas a qualquer momento durante o Prazo de Duração, mas não estarão  limitadas ao valor do capital subscrito de cada Cotista.</a:t>
            </a:r>
          </a:p>
          <a:p>
            <a:r>
              <a:t>CNPJ 62696791000193 · Duração e público-alvo · Regulamento · ID 1143317 · 2026-03-20 · versão 1 · p. 20 · 9.5.1 · https://fnet.bmfbovespa.com.br/fnet/publico/visualizarDocumento?id=1143317</a:t>
            </a:r>
          </a:p>
          <a:p>
            <a:r>
              <a:t>CNPJ 62696791000193 · Duração e público-alvo · Excerto da fonte:</a:t>
            </a:r>
          </a:p>
          <a:p>
            <a:r>
              <a:t>9.5.1 Ao f inal do Prazo de Duração ou quando da liquidação antecipada da Classe, todas as Cotas  deverão ter seu valor integralmente amortizado. Não havendo recursos em moeda corrente  nacional suficientes para realizar o pagamento da amortização total das Cotas em circulação à  época da liquidação da Classe, o Administrador deverá convocar a Assembleia Especial de  Cotistas a fim de deliberar sobre a prorrogação do Prazo de Duração ou o resgate de Cotas em  Direitos Creditórios do Agronegócio e/ou Outros Ativos .</a:t>
            </a:r>
          </a:p>
          <a:p>
            <a:r>
              <a:t>10 ASSEMBLEIA ESPECIAL DE COTISTAS</a:t>
            </a:r>
          </a:p>
          <a:p>
            <a:r>
              <a:t>CNPJ 62696791000193 · Duração e público-alvo · Regulamento · ID 1143317 · 2026-03-20 · versão 1 · p. 23 · 11.1 · https://fnet.bmfbovespa.com.br/fnet/publico/visualizarDocumento?id=1143317</a:t>
            </a:r>
          </a:p>
          <a:p>
            <a:r>
              <a:t>CNPJ 62696791000193 · Duração e público-alvo · Excerto da fonte:</a:t>
            </a:r>
          </a:p>
          <a:p>
            <a:r>
              <a:t>11.1 A Classe será liquidada (i) em caso da liquidação antecipada deliberada em Assembleia Especial de  Cotistas; ou (ii) pelo encerramento do Prazo de Duração da Classe.</a:t>
            </a:r>
          </a:p>
          <a:p>
            <a:r>
              <a:t>CNPJ 62696791000193 · Duração e público-alvo · Condição: Documentos atuais selecionados no inventário por categoria/escopo; a data documental isolada não comprova vigência jurídica.</a:t>
            </a:r>
          </a:p>
          <a:p>
            <a:r>
              <a:t>CNPJ 62696791000193 · Duração e público-alvo · Versão e prevalência: Documentos atuais selecionados no inventário por categoria/escopo; a data documental isolada não comprova vigência jurídica.</a:t>
            </a:r>
          </a:p>
          <a:p>
            <a:r>
              <a:t>CNPJ 55563624000109 · Duração e público-alvo · AGE · ID 1306189 · 2026-08-25 · versão 1 · p. 1 · 4.1 · https://fnet.bmfbovespa.com.br/fnet/publico/visualizarDocumento?id=1306189</a:t>
            </a:r>
          </a:p>
          <a:p>
            <a:r>
              <a:t>CNPJ 55563624000109 · Duração e público-alvo · Excerto da fonte:</a:t>
            </a:r>
          </a:p>
          <a:p>
            <a:r>
              <a:t>4.1 Nos termos do Anexo da Classe, aprovar:</a:t>
            </a:r>
          </a:p>
          <a:p>
            <a:r>
              <a:t>(i) a liquidação da Subclasse A da Classe, considerando o encerramento do seu prazo de duração, por meio do  resgate integral de Cotas da Subclasse A com entrega de financeiro aos Cotistas. Será utilizada como data  base no cálculo da cota do dia 25 de agosto de 2026, com efetivação no fechamento do dia 27 de agosto de  2026; e</a:t>
            </a:r>
          </a:p>
          <a:p>
            <a:r>
              <a:t>(ii) a liquidação antecipada da Subclasse C da Classe, por meio do resgate integral de Cotas da Subclasse C com  entrega de financeiro aos Cotistas. Será utilizada como data base no cálculo da cota do dia 25 de agosto de  2026, com efetivação no fechamento do dia 27 de agosto de 2026.</a:t>
            </a:r>
          </a:p>
          <a:p>
            <a:r>
              <a:t>CNPJ 55563624000109 · Duração e público-alvo · Condição: Documentos atuais selecionados no inventário por categoria/escopo; a data documental isolada não comprova vigência jurídica.</a:t>
            </a:r>
          </a:p>
          <a:p>
            <a:r>
              <a:t>CNPJ 55563624000109 · Duração e público-alvo · Versão e prevalência: Documentos atuais selecionados no inventário por categoria/escopo; a data documental isolada não comprova vigência jurídica.</a:t>
            </a:r>
          </a:p>
          <a:p>
            <a:r>
              <a:t>CNPJ 55563624000109 · Duração e público-alvo · Resumo do histórico: {"count": 6, "dates": ["2026-04-30"], "document_count": 2, "sources": [{"document_id": "1192614", "title": "Regulamento", "reference_date": "2026-04-30", "version": "1", "page": "9, 15, 45-50", "url": "https://fnet.bmfbovespa.com.br/fnet/publico/visualizarDocumento?id=1192614", "sha256": "f56e63ace0acde41d2f47fb48f1ac7f3f7df5e2d32de092d7c5e075a52516632"}, {"document_id": "1192614", "title": "Regulamento", "reference_date": "2026-04-30", "version": "1", "page": 5, "clause": "4.7.1", "url": "https://fnet.bmfbovespa.com.br/fnet/publico/visualizarDocumento?id=1192614", "sha256": "f56e63ace0acde41d2f47fb48f1ac7f3f7df5e2d32de092d7c5e075a52516632"}, {"document_id": "1192603", "title": "AGE", "reference_date": "2026-04-30", "version": "1", "page": 1, "clause": "4.1", "url": "https://fnet.bmfbovespa.com.br/fnet/publico/visualizarDocumento?id=1192603", "sha256": "f53ff2a5b715f5365536305a098f9cc0c54b5a01128942d784915bed8eeb0288"}], "reference": {"path": "history/55563624000109.json", "criterion_id": "duration_investors", "total_count": 6, "preview_count": 3, "full_text_deferred": true, "sha256": "7835d573fb58a3c19adf5b8ecc2aee2bdbb9a88f7a0c0209b5f262b64c7522e3"}}</a:t>
            </a:r>
          </a:p>
          <a:p>
            <a:r>
              <a:t>CNPJ 62552447000120 · Duração e público-alvo · Regulamento · ID 1200623 · 2026-05-21 · versão 1 · p. 22 · 10.4 · https://fnet.bmfbovespa.com.br/fnet/publico/visualizarDocumento?id=1200623</a:t>
            </a:r>
          </a:p>
          <a:p>
            <a:r>
              <a:t>CNPJ 62552447000120 · Duração e público-alvo · Excerto da fonte:</a:t>
            </a:r>
          </a:p>
          <a:p>
            <a:r>
              <a:t>10.4 Tendo em vista que a Classe é exclusivamente destinada a Investidores Profissionais, não serão  aplicáveis as vedações ao direito a voto em assembleia de cotistas dispostas no artigo 78 da Resolução  CVM 175, conf orme disposto no artigo 114 da ref erida Resolução.</a:t>
            </a:r>
          </a:p>
          <a:p>
            <a:r>
              <a:t>CNPJ 62552447000120 · Duração e público-alvo · Regulamento · ID 1200623 · 2026-05-21 · versão 1 · p. 35 · https://fnet.bmfbovespa.com.br/fnet/publico/visualizarDocumento?id=1200623</a:t>
            </a:r>
          </a:p>
          <a:p>
            <a:r>
              <a:t>CNPJ 62552447000120 · Duração e público-alvo · Excerto da fonte:</a:t>
            </a:r>
          </a:p>
          <a:p>
            <a:r>
              <a:t>ativos desses emissores, causando perdas à Classe e ao Cotista. Além disso, a f alta de capacidade ou disposição de pagar por qualquer dos emissores dos Ativos Financeiros de Liquidez ou das contrapartes nas transações que compõem a Carteira causará perdas à Classe, e o que também poderá incorrer em custos para f ins de recuperação de seus recebíveis.</a:t>
            </a:r>
          </a:p>
          <a:p>
            <a:r>
              <a:t>(v) Riscos associados aos Devedores: no caso de Devedores no âmbito das operações de consignado privado, a sua capacidade de pagamento poderá ser af etada se, por exemplo, o Devedor tiver o seu contrato de emprego rescindido ou em virtude de decisão judicial, o Devedor for obrigado a pagar alimentos, que têm prioridade sobre o empréstimo para f ins de desconto na f 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 etar a rentabilidade da Classe. Já no caso de Devedores no âmbito das operações de Saque-aniversário, como os Direitos Creditórios a serem endossados à Classe serão descontados pelo FGTS da remuneração do Devedor, na ocorrência de qualquer evento que, nos termos da legislação aplicável, determine o pagamento antecipado do Saque-aniversário ao Devedor, a exemplo do falecimento do Devedor, dentre outros, as parcelas do Saque- aniversário serão pagas antecipadamente e a Classe deverá utilizar tais montantes no pré-pagamento dos Direitos Creditórios. Nesta hipótese, a Classe poderá não encontrar Direitos Creditórios disponíveis para serem adquiridos pela Classe, o que poderá af etar a rentabilidade da Classe.</a:t>
            </a:r>
          </a:p>
          <a:p>
            <a:r>
              <a:t>Risco de liquidez</a:t>
            </a:r>
          </a:p>
          <a:p>
            <a:r>
              <a:t>(i) Risco de liquidez: consiste no risco de redução ou inexistência de demanda pelos ativos que compõem a Classe nos respectivos mercados em que são negociados, devido às condições específicas desses ativos ou aos mercados em que são negociados. Devido a esses riscos, o Gestor poderá encontrar dificuldades em liquidar posições ou negociar esses ativos pelo preço e prazo desejados, de acordo com a estratégia de gestão adotada pela Classe, que permanecerá exposto, durante o período de baixa liquidez, aos riscos associados a esses ativos e posições assumidas em mercados de derivativos, se houver, que poderão até exigir que o Gestor aceite descontos em seus preços para realizar negociações no mercado. Esses f atores poderão prejudicar o pagamento de Amortizações ao Cotista, nos valores e dentro dos termos aqui estabelecidos.</a:t>
            </a:r>
          </a:p>
          <a:p>
            <a:r>
              <a:t>(ii) Riscos do mercado secundário: A Classe é constituída sob a f orma de condomínio fechado, de modo que as Cotas somente serão resgatadas em virtude da liquidação da Classe. Uma vez que o Prazo de Duração da Classe é indeterminado, o Cotista titular das Cotas não terá liquidez em seu investimento na Classe, exceto</a:t>
            </a:r>
          </a:p>
          <a:p>
            <a:r>
              <a:t>(a) por ocasião das Amortizações e dos resgates, nos termos deste Regulamento; (b) por meio da alienação de suas Cotas no mercado secundário; ou (c) na liquidação antecipada do FUNDO ou da Classe.</a:t>
            </a:r>
          </a:p>
          <a:p>
            <a:r>
              <a:t>Além disso, atualmente, o mercado secundário de cotas de fundos de investimento apresenta baixa liquidez, o que pode dificultar a venda das Cotas ou ocasionar a obtenção de um preço de venda que cause perda de patrimônio ao Cotista. Não há qualquer garantia do Administrador, do Gestor, da consultora ou do Custodiante em relação à possibilidade de venda das Cotas no mercado secundário ou ao preço obtido por elas, ou mesmo garantia de saída ao Cotista.</a:t>
            </a:r>
          </a:p>
          <a:p>
            <a:r>
              <a:t>Riscos específicos</a:t>
            </a:r>
          </a:p>
          <a:p>
            <a:r>
              <a:t>(i)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ficar inadimplente e, consequentemente, não haverá repasse à Classe do respectivo Direito Creditório, o que poderá resultar em perdas f inanceiras à Classe e aos Cotistas. Para os f ins deste Regulamento, “Empregador” signif ica a empresa com qual o Devedor mantém vínculo empregatício registrado junto à CTPS.</a:t>
            </a:r>
          </a:p>
          <a:p>
            <a:r>
              <a:t>(ii) Risco do Empregador não efetuar o desconto em folha: o repasse dos recursos oriundos dos Direitos Creditórios à Classe depende da realização, pelo Empregador, da escrituração da Consignação a ser</a:t>
            </a:r>
          </a:p>
          <a:p>
            <a:r>
              <a:t>CNPJ 62552447000120 · Duração e público-alvo · Regulamento · ID 1200623 · 2026-05-21 · versão 1 · p. 1 · 1.3 · https://fnet.bmfbovespa.com.br/fnet/publico/visualizarDocumento?id=1200623</a:t>
            </a:r>
          </a:p>
          <a:p>
            <a:r>
              <a:t>CNPJ 62552447000120 · Duração e público-alvo · Excerto da fonte:</a:t>
            </a:r>
          </a:p>
          <a:p>
            <a:r>
              <a:t>1.3 Durante o seu prazo de duração, o Fundo, por ato conjunto dos Prestadores de Serviços Essenciais,  poderá constituir diferentes Classes e Subclasses , sendo que cada Classe terá patrimônio segregado e</a:t>
            </a:r>
          </a:p>
          <a:p>
            <a:r>
              <a:t>CNPJ 62552447000120 · Duração e público-alvo · Condição: Documentos atuais selecionados no inventário por categoria/escopo; a data documental isolada não comprova vigência jurídica.</a:t>
            </a:r>
          </a:p>
          <a:p>
            <a:r>
              <a:t>CNPJ 62552447000120 · Duração e público-alvo · Versão e prevalência: Documentos atuais selecionados no inventário por categoria/escopo; a data documental isolada não comprova vigência jurídica.</a:t>
            </a:r>
          </a:p>
          <a:p>
            <a:r>
              <a:t>CNPJ 62552447000120 · Duração e público-alvo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"duration_investors", "total_count": 1, "preview_count": 1, "full_text_deferred": true, "sha256": "d95db8c0613d67ee84118c734588665265ea6b02f86a0318d6a844cbe1d0f82f"}}</a:t>
            </a:r>
          </a:p>
          <a:p>
            <a:r>
              <a:t>CNPJ 63953620000165 · Duração e público-alvo · Anexo ao Regulamento · ID 1222863 · 2026-06-02 · versão 1 · p. 2 · https://fnet.bmfbovespa.com.br/fnet/publico/visualizarDocumento?id=1222863</a:t>
            </a:r>
          </a:p>
          <a:p>
            <a:r>
              <a:t>CNPJ 63953620000165 · Duração e público-alvo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Duração e público-alvo · Anexo ao Regulamento · ID 1222863 · 2026-06-02 · versão 1 · p. 1 · 1.1 · https://fnet.bmfbovespa.com.br/fnet/publico/visualizarDocumento?id=1222863</a:t>
            </a:r>
          </a:p>
          <a:p>
            <a:r>
              <a:t>CNPJ 63953620000165 · Duração e público-alvo · Excerto da fonte:</a:t>
            </a:r>
          </a:p>
          <a:p>
            <a:r>
              <a:t>1.1 As principais características da Classe Consignado Privado (para fins deste Anexo, “Classe”) estão descritas  abaixo:</a:t>
            </a:r>
          </a:p>
          <a:p>
            <a:r>
              <a:t> Tipo de Condomínio Fechado.</a:t>
            </a:r>
          </a:p>
          <a:p>
            <a:r>
              <a:t> Indeterminado, exceto se de outra forma vier a ser deliberado pelos Cotistas  Prazo de Duração  reunidos em Assembleia Especial de Cotistas. (“Prazo de Duração”)  Tipo “Financeiro”.</a:t>
            </a:r>
          </a:p>
          <a:p>
            <a:r>
              <a:t> Classificação ANBIMA  Foco de atuação “Créditos Consignados”.</a:t>
            </a:r>
          </a:p>
          <a:p>
            <a:r>
              <a:t> O objetivo da classe é proporcionar aos seus Cotistas a valorização de suas Cotas  por meio da aplicação de seu Patrimônio Líquido (conforme definido abaixo) na  aquisição de: (i) “Direitos Creditórios Crédito Consignado”, representados por  cédula de crédito bancário regida pela Lei nº 10.931, emitida eletronicamente por  um devedor em favor do endossante (“CCB”) e, consequentemente, os recebíveis  decorrente de cada uma das parcelas vincendas, representando um empréstimo  consignado concedido pelo endossante ao devedor, e cujo pagamento ordinário  é feito por desconto de cada prestação vincenda de uma CCB na folha de  pagamentos do devedor (“Consignação”), efetuada pela Caixa Econômica  Federal, de acordo com a legislação aplicável e em conformidade com os  procedimentos estabelecidos no convênio celebrado entre o Endossante e a  Empresa de Tecnologia e Informações da Previdência – DATAPREV e paga na  Conta Vinculada do Endossante (“Convênio Consignado Privado”); e/ou (ii)  “Direitos Creditórios TVM”, representados por direitos, títulos e/ou valores  mobiliários representativos de créditos originados no âmbito de operações de  sociedades integrantes do conglomerado econômico de instituições financeiras  classificadas como S1 pelo BACEN, desde que não representem títulos de  emissão ou coobrigação de instituições financeiras, bem como cotas de fundos  de investimento que invistam preponderantemente nestes direitos, títulos e/ou  Objetivo  valores mobiliários (Direitos Creditórios TVM quando referidos em conjunto  com os Direitos Creditórios Consignado Privado, “Direitos Creditórios”)  observados todos os limites de composição e diversificação da carteira da Classe  (“Carteira”), estabelecidos neste Regulamento e na regulamentação aplicável.</a:t>
            </a:r>
          </a:p>
          <a:p>
            <a:r>
              <a:t> Subsidiariamente, a parcela do Patrimônio Líquido que não esteja alocada em  Direitos Creditórios poderá estar alocado em: (1) certificados de depósito  bancário (CDB) ou recibos de depósito bancário (RDB) com prazo máximo de  vencimento equivalente ao prazo remanescente do Período de Investimento, com  liquidez diária, emitidos por Parati Crédito, Financiamento e Investimento S.A.</a:t>
            </a:r>
          </a:p>
          <a:p>
            <a:r>
              <a:t> e/ou pelo Endossante (“Ativos de Liquidez MT”); e/ou (2) (i) moeda corrente  nacional; (ii) títulos do Tesouro SELIC, anteriormente denominado letra financeira  do Tesouro Nacional (LFT); (iii) certificados de depósito bancário (CDB) ou recibos  de depósito bancário (RDB) com prazo máximo de vencimento equivalente ao  prazo remanescente do Período de Investimento, com liquidez diária, emitidos  por (a) Itaú Unibanco S.A.; (b) Banco Bradesco S.A.; (c) Caixa Econômica Federal;</a:t>
            </a:r>
          </a:p>
          <a:p>
            <a:r>
              <a:t> (d) Banco do Brasil S.A.; (e) Banco Santander (Brasil) S.A.; (f) Banco BTG Pactual  S.A.; (g) Banco Sistema S.A. (“Instituições Autorizadas”); (iv) operações  compromissadas, desde que lastreadas nos títulos mencionados nas alíneas (i) a</a:t>
            </a:r>
          </a:p>
          <a:p>
            <a:r>
              <a:t> (iii) acima, emitidas por Instituições Autorizadas, com liquidez diária e vencimento</a:t>
            </a:r>
          </a:p>
          <a:p>
            <a:r>
              <a:t>CNPJ 63953620000165 · Duração e público-alvo · Anexo ao Regulamento · ID 1222863 · 2026-06-02 · versão 1 · p. 10 · 6.7.1 · https://fnet.bmfbovespa.com.br/fnet/publico/visualizarDocumento?id=1222863</a:t>
            </a:r>
          </a:p>
          <a:p>
            <a:r>
              <a:t>CNPJ 63953620000165 · Duração e público-alvo · Excerto da fonte:</a:t>
            </a:r>
          </a:p>
          <a:p>
            <a:r>
              <a:t>6.7.1 As Chamadas de Capital para a realização de investimentos serão realizadas a qualquer momento  durante o Período de Investimento e estarão limitadas ao valor do capital subscrito de cada Cotista. As  Chamadas de Capital para o pagamento de despesas e encargos do Fundo, com exceção de despesas  relacionadas à instrumentos de derivativos e/ou Encargos não previstos no âmbito deste regulamento,  poderão ser realizadas a qualquer momento durante o Prazo de Duração, mas não estarão limitadas ao  valor do capital subscrito de cada Cotista.</a:t>
            </a:r>
          </a:p>
          <a:p>
            <a:r>
              <a:t>CNPJ 63953620000165 · Duração e público-alvo · Condição: Documentos atuais selecionados no inventário por categoria/escopo; a data documental isolada não comprova vigência jurídica.</a:t>
            </a:r>
          </a:p>
          <a:p>
            <a:r>
              <a:t>CNPJ 63953620000165 · Duração e público-alvo · Versão e prevalência: Documentos atuais selecionados no inventário por categoria/escopo; a data documental isolada não comprova vigência jurídica.</a:t>
            </a:r>
          </a:p>
          <a:p>
            <a:r>
              <a:t>CNPJ 63953620000165 · Duração e público-alvo · Resumo do histórico: {"count": 8, "dates": ["2026-04-28", "2026-05-08", "2026-05-15"], "document_count": 3, "sources": [{"document_id": "1327859", "title": "Demonstrações Financeiras - Fusão, cisão e incorporação", "reference_date": "2026-05-15", "version": "1", "page": 9, "url": "https://fnet.bmfbovespa.com.br/fnet/publico/visualizarDocumento?id=1327859", "sha256": "dca1c68babb97f887528c3e2e47596a9c30f507b067981a35655b2f2da9c8054"}, {"document_id": "1298691", "title": "Demonstrações Financeiras - Fusão, cisão e incorporação", "reference_date": "2026-05-08", "version": "1", "page": 9, "url": "https://fnet.bmfbovespa.com.br/fnet/publico/visualizarDocumento?id=1298691", "sha256": "58c570d9b8d4d265330d3db3ea81c435b8e44a6dab4002aa37790652a1ee9819"}, {"document_id": "1282180", "title": "Demonstrações Financeiras - Fusão, cisão e incorporação", "reference_date": "2026-04-28", "version": "1", "page": 9, "url": "https://fnet.bmfbovespa.com.br/fnet/publico/visualizarDocumento?id=1282180", "sha256": "afaaa0e6809be4385e5bdb6c911aac582032c5bdbac3d7750234bf9eaf00438a"}], "reference": {"path": "history/63953620000165.json", "criterion_id": "duration_investors",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Alocação e perímetro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Alocação mínima · Base da comparação IME: {"criterion_id": "allocation", "observed_value": 91.84981349574433, "unit": "percent", "competence": "08/2026", "status": "not_comparable", "reason": "Vigência efetiva não comprovada; data do documento isolada não certifica enquadramento histórico.", "formula": "credit_rights / net_asset_value × 100",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50.0}</a:t>
            </a:r>
          </a:p>
          <a:p>
            <a:r>
              <a:t>CNPJ 54871427000194 · Alocação mínima · Regulamento · ID 670691 · 28/04/2024 · versão Regulamento — referência 28/04/2024 · p. 11 · Anexo I, 4.9 · https://fnet.bmfbovespa.com.br/fnet/publico/visualizarDocumento?id=670691</a:t>
            </a:r>
          </a:p>
          <a:p>
            <a:r>
              <a:t>CNPJ 54871427000194 · Alocação mínima · Excerto da fonte:</a:t>
            </a:r>
          </a:p>
          <a:p>
            <a:r>
              <a:t>4.9 Decorridos 180 (cento e oitenta) dias da Data da 1ª Integralização de Cotas, a Classe deverá manter alocado, no mínimo, 50% (cinquenta por cento) do seu Patrimônio Líquido em Direitos Creditórios . 4.10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4.11 A Classe poderá, direta ou indiretamente e, nos termos da legislação aplicável: (i) adquirir Direitos Creditórios que sejam cedidos e/ou originados pelo ADMINISTRADOR e/ou pelo GESTOR, ou partes a eles relacionadas, tal como definidas pelas regras contábeis que tratam desse assunto; e (ii) ceder Direitos Creditórios a qualquer das pessoas, fundos de investimento ou entidades referidas n</a:t>
            </a:r>
          </a:p>
          <a:p>
            <a:r>
              <a:t>CNPJ 54871427000194 · Alocação mínima · Mecânica: {"operator": "&gt;=", "limit": 50.0, "unit": "percent", "numerator": "credit_rights", "denominator": "net_asset_value", "frequency": "daily", "layer": "54871427000194", "document_date": "2024-04-28", "effective_status": "document_date_only", "initial_days": 180}</a:t>
            </a:r>
          </a:p>
          <a:p>
            <a:r>
              <a:t>CNPJ 54871427000194 · Alocação mínima · Versão e prevalência: Leitura específica das cláusulas indicadas; condições e conflitos preservados. Seleção documental atual não comprova vigência jurídica por data isolada.</a:t>
            </a:r>
          </a:p>
          <a:p>
            <a:r>
              <a:t>CNPJ 54871427000194 · Alocação mínima · Resumo do histórico: {"count": 2, "dates": ["2024-04-19", "2024-04-28"], "document_count": 2, "sources": [{"document_id": "670691", "title": "Regulamento", "reference_date": "2024-04-28", "version": "1", "page": "11", "url": "https://fnet.bmfbovespa.com.br/fnet/publico/visualizarDocumento?id=670691", "sha256": "bf16dd7f1a62d5cdbf2e2d54fef81783783f7310fbc99c3a8f00459bdf9d037b"}, {"document_id": "670689", "title": "Regulamento", "reference_date": "2024-04-19", "version": "1", "page": 11, "clause": "4.9", "url": "https://fnet.bmfbovespa.com.br/fnet/publico/visualizarDocumento?id=670689", "sha256": "891bc9bc5d87bbc02ec139077a84d2702eb81ea02035fb71d24f5b8366b94a0b"}], "reference": {"path": "history/54871427000194.json", "criterion_id": "allocation", "total_count": 2, "preview_count": 2, "full_text_deferred": true, "sha256": "35d7cd99be50c7287c9fb675cf4f2e736002315295a225a9efa79c8d9186d874"}}</a:t>
            </a:r>
          </a:p>
          <a:p>
            <a:r>
              <a:t>CNPJ 60010416000112 · Alocação mínima · Base da comparação IME: {"criterion_id": "allocation", "observed_value": 117.78665480900618, "unit": "percent", "competence": "08/2026", "status": "not_comparable", "reason": "Vigência efetiva não comprovada; data do documento isolada não certifica enquadramento histórico.", "formula": "credit_rights / net_asset_value × 100",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50.0}</a:t>
            </a:r>
          </a:p>
          <a:p>
            <a:r>
              <a:t>CNPJ 60010416000112 · Alocação mínima · Regulamento · ID 1051393 · 09/10/2025 · versão Regulamento09/10/2025 · p. 11 · AnexoI4.6 · https://fnet.bmfbovespa.com.br/fnet/publico/visualizarDocumento?id=1051393</a:t>
            </a:r>
          </a:p>
          <a:p>
            <a:r>
              <a:t>CNPJ 60010416000112 · Alocação mínima · Excerto da fonte:</a:t>
            </a:r>
          </a:p>
          <a:p>
            <a:r>
              <a:t>4.6 Decorridos 180 (cento e oitenta) dias do início de suas atividades, a Classe deverá manter alocado, no mínimo: para f ins tributários, 67% (sessenta e sete por cento) do seu Patrimônio Líquido em Direitos Creditórios, nos termos da Resolução CMN 5.111; e para fins regulatórios, 50% (cinquenta por cento) do seu Patrimônio Líquido em Direitos Creditórios, nos termos da Resolução CVM 175. BTG Pactual SAC: 0800 772 28 27 - Ouvidoria: 0800 722 00 48 - btgpactual.com 11</a:t>
            </a:r>
          </a:p>
          <a:p>
            <a:r>
              <a:t>CNPJ 60010416000112 · Alocação mínima · Mecânica: {"operator": "&gt;=", "unit": "percent", "denominator": "net_asset_value", "frequency": "not_stated", "layer": "class", "effective_status": "document_date_only", "document_date": "2025-10-09", "numerator": "credit_rights", "limit": 50.0, "requires_initial_date": true}</a:t>
            </a:r>
          </a:p>
          <a:p>
            <a:r>
              <a:t>CNPJ 60010416000112 · Alocação mínima · Versão e prevalência: Leitura específica das cláusulas indicadas; condições e conflitos preservados. Seleção documental atual não comprova vigência jurídica por data isolada.</a:t>
            </a:r>
          </a:p>
          <a:p>
            <a:r>
              <a:t>CNPJ 60010416000112 · Alocação mínima · Resumo do histórico: {"count": 2, "dates": ["2025-03-20", "2025-10-09"], "document_count": 2, "sources": [{"document_id": "1051393", "title": "Regulamento", "reference_date": "2025-10-09", "version": "1", "page": "11", "url": "https://fnet.bmfbovespa.com.br/fnet/publico/visualizarDocumento?id=1051393", "sha256": "8469d613078ffd5a6c1d217885d8a397a16342c0b937ae4aa24b106505f233ae"}, {"document_id": "993786", "title": "Regulamento", "reference_date": "2025-03-20", "version": "1", "page": 6, "clause": "5.3", "url": "https://fnet.bmfbovespa.com.br/fnet/publico/visualizarDocumento?id=993786", "sha256": "fd0fdd369a195510d81f81f505195a0b09e5f43522a990afa7d58c4f872921c8"}], "reference": {"path": "history/60010416000112.json", "criterion_id": "allocation", "total_count": 2, "preview_count": 2, "full_text_deferred": true, "sha256": "8e2bd813f4c51cf01f6bfaad164bafe69d2bbb192f753eac92da3a01c2e63046"}}</a:t>
            </a:r>
          </a:p>
          <a:p>
            <a:r>
              <a:t>CNPJ 62696791000193 · Alocação mínima · Base da comparação IME: {"criterion_id": "allocation", "observed_value": null, "unit": "percent", "competence": "08/2026", "status": "not_comparable", "reason": "Operador, unidade, numerador ou base contratual sem correspondência exata no IME; proxies de PL/ativos não são intercambiáveis. CPR declarada no FIAGRO não comprova elegibilidade individual nem correspondência integral com a definição contratual de direitos creditórios do agronegócio.",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51.0, "comparison_required": true, "context_value": 99.72659520720684, "context_unit": "percent", "context_formula": "CPR / PL (rubrica declarada no FIAGRO)"}</a:t>
            </a:r>
          </a:p>
          <a:p>
            <a:r>
              <a:t>CNPJ 62696791000193 · Alocação mínima · Regulamento · ID 1143317 · 20/03/2026 · versão Regulamento — referência 20/03/2026 · p. 10 · Anexo I, 4.2 · https://fnet.bmfbovespa.com.br/fnet/publico/visualizarDocumento?id=1143317</a:t>
            </a:r>
          </a:p>
          <a:p>
            <a:r>
              <a:t>CNPJ 62696791000193 · Alocação mínima · Excerto da fonte:</a:t>
            </a:r>
          </a:p>
          <a:p>
            <a:r>
              <a:t>4.2 Decorridos 180 (cento e oitenta) dias do início de suas atividades, a Classe deverá possuir parcela mínima de 51% (cinquenta e um por cento) de seu Patrimônio Líquido representados por Direitos Creditórios do Agronegócio, enquanto a parcela de 49% (quarenta e nove por cento) remanescente deverá ser alocada em Outros Ativos ou Ativos Financeiros de Liquidez. 4.3 Os Direitos Creditórios do Agronegócio serão adquiridos integral ou parcialmente, sempre de acordo com a Política de Investimentos. 4.4 Tendo em vista (i) a natureza variada dos Direitos Creditórios do Agronegócio passíveis de aquisição pela Classe; (ii) a amplitude da Política de Investimentos; e (iii) a potencial diversificação de Cedentes/Endossantes e Devedores, não é possível precisar os processos de origem dos Direitos Creditórios do Agronegócio e as políticas de concessão de crédito adotadas pelos Cedentes/Endossantes. 4.5 Os Direitos Creditórios do Agronegócio deverão contar com toda a documentação necessária para o exercício das prerrogativas decorrentes da titularidade dos ativos, e capaz de comprovar a origem, a existência e a exigibilidade dos Direitos Creditórios do Agronegócio (“Documentos Comprobatórios”)</a:t>
            </a:r>
          </a:p>
          <a:p>
            <a:r>
              <a:t>CNPJ 62696791000193 · Alocação mínima · AGE · ID 1143319 · 20/03/2026 10:00 · versão AGE — referência 20/03/2026 10:00 · p. 3 · AGC 20/03/2026, 4.1(j)–(k) · https://fnet.bmfbovespa.com.br/fnet/publico/visualizarDocumento?id=1143319</a:t>
            </a:r>
          </a:p>
          <a:p>
            <a:r>
              <a:t>CNPJ 62696791000193 · Alocação mínima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Alocação mínima · Condição: Vigente a partir do fechamento de 23/03/2026. O agregado genérico de direitos do IME não comprova, sozinho, a natureza agronegócio de todos os ativos nem a conclusão da carência inicial.</a:t>
            </a:r>
          </a:p>
          <a:p>
            <a:r>
              <a:t>CNPJ 62696791000193 · Alocação mínima · Mecânica: {"operator": "&gt;=", "limit": 51.0, "unit": "percent", "numerator": "agribusiness_credit_rights", "denominator": "net_asset_value", "frequency": "daily", "layer": "62696791000193", "effective_from": "2026-03-23", "effective_status": "explicit_assembly_effective_date", "initial_days": 180, "initial_date": null}</a:t>
            </a:r>
          </a:p>
          <a:p>
            <a:r>
              <a:t>CNPJ 62696791000193 · Alocação mínima · Versão e prevalência: Leitura específica das cláusulas indicadas; condições e conflitos preservados. Seleção documental atual não comprova vigência jurídica por data isolada.</a:t>
            </a:r>
          </a:p>
          <a:p>
            <a:r>
              <a:t>CNPJ 55563624000109 · Alocação mínima · Base da comparação IME: {"criterion_id": "allocation", "observed_value": 99.87020304792446, "unit": "percent", "competence": "08/2026", "status": "not_comparable", "reason": "Vigência efetiva não comprovada; data do documento isolada não certifica enquadramento histórico.", "formula": "fidc_quotas / net_asset_value × 100",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67.0}</a:t>
            </a:r>
          </a:p>
          <a:p>
            <a:r>
              <a:t>CNPJ 55563624000109 · Alocação mínima · Regulamento · ID 1192614 · 30/04/2026 · versão Regulamento30/04/2026 · p. 13 · AnexoI4.10 · https://fnet.bmfbovespa.com.br/fnet/publico/visualizarDocumento?id=1192614</a:t>
            </a:r>
          </a:p>
          <a:p>
            <a:r>
              <a:t>CNPJ 55563624000109 · Alocação mínima · Excerto da fonte:</a:t>
            </a:r>
          </a:p>
          <a:p>
            <a:r>
              <a:t>4.10 Decorridos 180 (cento e oitenta) dias da Data da 1ª Integralização da Classe, a Classe deverá manter alocado, no mínimo, 67% (sessenta e sete por cento) do seu Patrimônio Líquido em Cotas da Classe Investida. 4.11 Nos termos dos artigos 45, parágrafo 7º, e 47 parágrafo único do Anexo Normativo II à Resolução CVM 175, uma vez que as Cotas são destinadas exclusivamente a Investidores Profissionais, a Classe poderá ter até 100% (cem por cento) de seu Patrimônio Líquido alocado em Cotas da Classe Investida, as quais são emitidas pela Classe Investida.</a:t>
            </a:r>
          </a:p>
          <a:p>
            <a:r>
              <a:t>CNPJ 55563624000109 · Alocação mínima · Regulamento · ID 1192614 · 30/04/2026 · versão Regulamento30/04/2026 · p. 12 · AnexoI4.9 · https://fnet.bmfbovespa.com.br/fnet/publico/visualizarDocumento?id=1192614</a:t>
            </a:r>
          </a:p>
          <a:p>
            <a:r>
              <a:t>CNPJ 55563624000109 · Alocação mínima · Excerto da fonte:</a:t>
            </a:r>
          </a:p>
          <a:p>
            <a:r>
              <a:t>4.9 A parcela do Patrimônio Líquido que não estiver alocada em Cotas da Classe Investida será necessariamente alocada em Ativos Financeiros de Liquidez. BTG Pactual SAC: 0800 772 28 27 - Ouvidoria: 0800 722 00 48 - btgpactual.com 5</a:t>
            </a:r>
          </a:p>
          <a:p>
            <a:r>
              <a:t>CNPJ 55563624000109 · Alocação mínima · Mecânica: {"operator": "&gt;=", "limit": 67.0, "unit": "percent", "numerator": "fidc_quotas", "denominator": "net_asset_value", "frequency": "not_stated", "layer": "class", "effective_status": "document_date_only", "document_date": "2026-04-30", "requires_initial_date": true}</a:t>
            </a:r>
          </a:p>
          <a:p>
            <a:r>
              <a:t>CNPJ 55563624000109 · Alocação mínima · Versão e prevalência: Leitura específica das cláusulas indicadas; condições e conflitos preservados. Seleção documental atual não comprova vigência jurídica por data isolada.</a:t>
            </a:r>
          </a:p>
          <a:p>
            <a:r>
              <a:t>CNPJ 55563624000109 · Alocação mínima · Resumo do histórico: {"count": 1, "dates": ["2026-04-30"], "document_count": 1, "sources": [{"document_id": "1192614", "title": "Regulamento", "reference_date": "2026-04-30", "version": "1", "page": "11-13", "url": "https://fnet.bmfbovespa.com.br/fnet/publico/visualizarDocumento?id=1192614", "sha256": "f56e63ace0acde41d2f47fb48f1ac7f3f7df5e2d32de092d7c5e075a52516632"}], "reference": {"path": "history/55563624000109.json", "criterion_id": "allocation", "total_count": 1, "preview_count": 1, "full_text_deferred": true, "sha256": "7835d573fb58a3c19adf5b8ecc2aee2bdbb9a88f7a0c0209b5f262b64c7522e3"}}</a:t>
            </a:r>
          </a:p>
          <a:p>
            <a:r>
              <a:t>CNPJ 62552447000120 · Alocação mínima · Base da comparação IME: {"criterion_id": "allocation", "observed_value": 104.36099466414683, "unit": "percent", "competence": "08/2026", "status": "not_comparable", "reason": "Vigência efetiva não comprovada; data do documento isolada não certifica enquadramento histórico.", "formula": "credit_rights / net_asset_value × 100",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50.0}</a:t>
            </a:r>
          </a:p>
          <a:p>
            <a:r>
              <a:t>CNPJ 62552447000120 · Alocação mínima · Regulamento · ID 1200623 · 21/05/2026 · versão Consolidado21/05/2026 aprovado pelo ato1200625 · p. 14 · AnexoI4.9 · https://fnet.bmfbovespa.com.br/fnet/publico/visualizarDocumento?id=1200623</a:t>
            </a:r>
          </a:p>
          <a:p>
            <a:r>
              <a:t>CNPJ 62552447000120 · Alocação mínima · Excerto da fonte:</a:t>
            </a:r>
          </a:p>
          <a:p>
            <a:r>
              <a:t>4.9 Decorridos 180 (cento e oitenta) dias da Data da Primeira Integralização, a Classe deverá manter alocados em Direitos Creditórios, no mínimo, para fins tributários, 67% (sessenta e sete por cento) do seu Patrimônio Líquido, nos termos da Lei 14.754 e da Resolução CMN 5.111, e, para fins regulatórios, 50% (cinquenta por cento) do seu Patrimônio Líquido, nos termos da Resolução CVM 175. Eventual desenquadramento da Carteira obrigará o Gestor aos procedimentos de desenquadramento e reenquadramento previstos na Lei 14.754 e na Resolução CMN 5.111, para f ins tributários, e na Resolução CVM 175, par</a:t>
            </a:r>
          </a:p>
          <a:p>
            <a:r>
              <a:t>CNPJ 62552447000120 · Alocação mínima · Mecânica: {"operator": "&gt;=", "unit": "percent", "numerator": "credit_rights", "denominator": "net_asset_value", "frequency": "not_stated", "layer": "class", "effective_status": "document_date_only", "document_date": "2026-05-21", "requires_initial_date": true, "limit": 50.0}</a:t>
            </a:r>
          </a:p>
          <a:p>
            <a:r>
              <a:t>CNPJ 62552447000120 · Alocação mínima · Versão e prevalência: Leitura específica das cláusulas indicadas; condições e conflitos preservados. Seleção documental atual não comprova vigência jurídica por data isolada.</a:t>
            </a:r>
          </a:p>
          <a:p>
            <a:r>
              <a:t>CNPJ 63953620000165 · Alocação mínima · Base da comparação IME: {"criterion_id": "allocation", "observed_value": 93.29241106598856, "unit": "percent", "competence": "08/2026", "status": "not_comparable", "reason": "Vigência efetiva não comprovada; data do documento isolada não certifica enquadramento histórico.", "formula": "credit_rights / net_asset_value × 100",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50.0}</a:t>
            </a:r>
          </a:p>
          <a:p>
            <a:r>
              <a:t>CNPJ 63953620000165 · Alocação mínima · Anexo ao Regulamento · ID 1222863 · 02/06/2026 · versão AnexoConsignadoPrivado02/06/2026 · p. 6 · 4.13 · https://fnet.bmfbovespa.com.br/fnet/publico/visualizarDocumento?id=1222863</a:t>
            </a:r>
          </a:p>
          <a:p>
            <a:r>
              <a:t>CNPJ 63953620000165 · Alocação mínima · Excerto da fonte:</a:t>
            </a:r>
          </a:p>
          <a:p>
            <a:r>
              <a:t>4.13 Decorridos 180 (cento e oitenta) dias do início de suas atividades, a Classe deverá manter alocado, no mínimo, para fins tributários, 67% (sessenta e sete por cento) do seu Patrimônio Líquido em Direitos Creditórios, nos termos da Resolução CMN 5.111, e para fins regulatórios, 50% (cinquenta por cento) do seu Patrimônio Líquido em Direitos Creditórios, nos termos da Resolução CVM 175. 4.14 Nos termos do Art. 45, §7º, inciso II, do Anexo Normativo II da Resolução CVM 175, a Classe poderá ter até 100% (cem por cento) de seu Patrimônio Líquido alocado em Direitos Creditórios, derivativos, observado o disposto nest</a:t>
            </a:r>
          </a:p>
          <a:p>
            <a:r>
              <a:t>CNPJ 63953620000165 · Alocação mínima · Mecânica: {"operator": "&gt;=", "unit": "percent", "denominator": "net_asset_value", "frequency": "not_stated", "layer": "class", "effective_status": "document_date_only", "document_date": "2026-06-02", "limit": 50.0, "numerator": "credit_rights", "requires_initial_date": true}</a:t>
            </a:r>
          </a:p>
          <a:p>
            <a:r>
              <a:t>CNPJ 63953620000165 · Alocação mínima · Versão e prevalência: Leitura específica das cláusulas indicadas; condições e conflitos preservados. Seleção documental atual não comprova vigência jurídica por data isolada.</a:t>
            </a:r>
          </a:p>
          <a:p>
            <a:r>
              <a:t>CNPJ 54871427000194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null, "comparison_required": true, "context_formula": "Direitos creditórios / PL", "context_value": 91.84981349574433, "context_unit": "percent"}</a:t>
            </a:r>
          </a:p>
          <a:p>
            <a:r>
              <a:t>CNPJ 54871427000194 · Alocação para tratamento tributário · Regulamento · ID 670691 · 2024-04-28 · versão 1 · p. 5 · https://fnet.bmfbovespa.com.br/fnet/publico/visualizarDocumento?id=670691</a:t>
            </a:r>
          </a:p>
          <a:p>
            <a:r>
              <a:t>CNPJ 54871427000194 · Alocação para tratamento tributário · Excerto da fonte:</a:t>
            </a:r>
          </a:p>
          <a:p>
            <a:r>
              <a:t>Os rendimentos auf eridos pelo cotista do FUNDO estarão sujeitos à tributação pelo IR, à alíquota de  15% (quinze por cento), na data da distribuição de rendimentos ou d a amortização de cotas,  considerando que o FUNDO seja classificado como entidade de investimento e cumpra os critérios de  composição da carteira com, no mínimo, 67% (sessenta e sete por cento) de direitos creditórios de  acordo com a Lei nº 14.754, de 12 de dezembro de 2023 (“Lei 14.754”) e a Resolução do Conselho  Monetário Nacional nº 5.111, de 21 de dezembro de 2023 (“Resolução CMN 5.111”).</a:t>
            </a:r>
          </a:p>
          <a:p>
            <a:r>
              <a:t>CNPJ 54871427000194 · Alocação para tratamento tributário · Regulamento · ID 670691 · 2024-04-28 · versão 1 · p. 5 · https://fnet.bmfbovespa.com.br/fnet/publico/visualizarDocumento?id=670691</a:t>
            </a:r>
          </a:p>
          <a:p>
            <a:r>
              <a:t>CNPJ 54871427000194 · Alocação para tratamento tributário · Excerto da fonte:</a:t>
            </a:r>
          </a:p>
          <a:p>
            <a:r>
              <a:t>A GESTORA do FUNDO buscará manter o cumprimento do requisito de composição da carteira do  FUNDO com, no mínimo 67% (sessenta e sete por cento) em direitos creditórios acima comentados.</a:t>
            </a:r>
          </a:p>
          <a:p>
            <a:r>
              <a:t> Todavia, caso a composição mínima do patrimônio líquido do FUNDO não seja atingida e ocorra o  ef etivo desenquadramento tributário da carteira, os cotistas pessoa f ísica ou jurídica residentes no  Brasil passarão a se sujeitar à regra geral de tributação de fundos, conforme previsto no art. 17 da Lei</a:t>
            </a:r>
          </a:p>
          <a:p>
            <a:r>
              <a:t> 14.754, segundo a qual: (1) haverá incidência periódica de IR todo mês de maio e novembro de cada  ano-calendário sobre os rendimentos auferidos pelo cotista em relação ao investimento nas cotas do  FUNDO, à alíquota de 15% (quinze por cento) ou 20% (vinte por cento), a depender da carteira do  FUNDO ser classificada, respectivamente, como de curto ou longo prazo; e (2) haverá incidência de IR  complementar, conforme alíquotas regressivas que variam de 22,5% (vinte e dois e meio por cento) a  15% (quinze por cento) a depender do prazo de aplicação, por ocasião da amortização ou liquidação  das Cotas do FUNDO. Certos tipos de investidor podem se benef iciar de alíquotas dif erenciadas.</a:t>
            </a:r>
          </a:p>
          <a:p>
            <a:r>
              <a:t>CNPJ 54871427000194 · Alocação para tratamento tributário · Condição: Documentos atuais selecionados no inventário por categoria/escopo; a data documental isolada não comprova vigência jurídica.</a:t>
            </a:r>
          </a:p>
          <a:p>
            <a:r>
              <a:t>CNPJ 54871427000194 · Alocação para tratamento tributário · Versão e prevalência: Documentos atuais selecionados no inventário por categoria/escopo; a data documental isolada não comprova vigência jurídica.</a:t>
            </a:r>
          </a:p>
          <a:p>
            <a:r>
              <a:t>CNPJ 54871427000194 · Alocação para tratamento tributário · Resumo do histórico: {"count": 1, "dates": ["2024-04-19"], "document_count": 1, "sources": [{"document_id": "670689", "title": "Regulamento", "reference_date": "2024-04-19", "version": "1", "page": 5, "url": "https://fnet.bmfbovespa.com.br/fnet/publico/visualizarDocumento?id=670689", "sha256": "891bc9bc5d87bbc02ec139077a84d2702eb81ea02035fb71d24f5b8366b94a0b"}], "reference": {"path": "history/54871427000194.json", "criterion_id": "tax_allocation", "total_count": 1, "preview_count": 1, "full_text_deferred": true, "sha256": "35d7cd99be50c7287c9fb675cf4f2e736002315295a225a9efa79c8d9186d874"}}</a:t>
            </a:r>
          </a:p>
          <a:p>
            <a:r>
              <a:t>CNPJ 60010416000112 · Alocação para tratamento tributário · Base da comparação IME: {"criterion_id": "tax_allocation", "observed_value": 117.78665480900618, "unit": "percent", "competence": "08/2026", "status": "not_comparable", "reason": "Vigência efetiva não comprovada; data do documento isolada não certifica enquadramento histórico.", "formula": "credit_rights / net_asset_value × 100",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67.0}</a:t>
            </a:r>
          </a:p>
          <a:p>
            <a:r>
              <a:t>CNPJ 60010416000112 · Alocação para tratamento tributário · Regulamento · ID 1051393 · 09/10/2025 · versão Regulamento09/10/2025 · p. 11 · AnexoI4.6 · https://fnet.bmfbovespa.com.br/fnet/publico/visualizarDocumento?id=1051393</a:t>
            </a:r>
          </a:p>
          <a:p>
            <a:r>
              <a:t>CNPJ 60010416000112 · Alocação para tratamento tributário · Excerto da fonte:</a:t>
            </a:r>
          </a:p>
          <a:p>
            <a:r>
              <a:t>4.6 Decorridos 180 (cento e oitenta) dias do início de suas atividades, a Classe deverá manter alocado, no mínimo: para f ins tributários, 67% (sessenta e sete por cento) do seu Patrimônio Líquido em Direitos Creditórios, nos termos da Resolução CMN 5.111; e para fins regulatórios, 50% (cinquenta por cento) do seu Patrimônio Líquido em Direitos Creditórios, nos termos da Resolução CVM 175. BTG Pactual SAC: 0800 772 28 27 - Ouvidoria: 0800 722 00 48 - btgpactual.com 11</a:t>
            </a:r>
          </a:p>
          <a:p>
            <a:r>
              <a:t>CNPJ 60010416000112 · Alocação para tratamento tributário · Mecânica: {"operator": "&gt;=", "unit": "percent", "denominator": "net_asset_value", "frequency": "not_stated", "layer": "class", "effective_status": "document_date_only", "document_date": "2025-10-09", "numerator": "credit_rights", "limit": 67.0, "requires_initial_date": true}</a:t>
            </a:r>
          </a:p>
          <a:p>
            <a:r>
              <a:t>CNPJ 60010416000112 · Alocação para tratamento tributário · Versão e prevalência: Leitura específica das cláusulas indicadas; condições e conflitos preservados. Seleção documental atual não comprova vigência jurídica por data isolada.</a:t>
            </a:r>
          </a:p>
          <a:p>
            <a:r>
              <a:t>CNPJ 60010416000112 · Alocação para tratamento tributário · Resumo do histórico: {"count": 1, "dates": ["2025-03-20"], "document_count": 1, "sources": [{"document_id": "993786", "title": "Regulamento", "reference_date": "2025-03-20", "version": "1", "page": 6, "clause": "5.3", "url": "https://fnet.bmfbovespa.com.br/fnet/publico/visualizarDocumento?id=993786", "sha256": "fd0fdd369a195510d81f81f505195a0b09e5f43522a990afa7d58c4f872921c8"}], "reference": {"path": "history/60010416000112.json", "criterion_id": "tax_allocation", "total_count": 1, "preview_count": 1, "full_text_deferred": true, "sha256": "8e2bd813f4c51cf01f6bfaad164bafe69d2bbb192f753eac92da3a01c2e63046"}}</a:t>
            </a:r>
          </a:p>
          <a:p>
            <a:r>
              <a:t>CNPJ 62696791000193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null, "comparison_required": true, "context_formula": "Direitos creditórios / PL", "context_value": null, "context_unit": "percent"}</a:t>
            </a:r>
          </a:p>
          <a:p>
            <a:r>
              <a:t>CNPJ 62696791000193 · Alocação para tratamento tributário · Regulamento · ID 1143317 · 2026-03-20 · versão 1 · p. 30 · https://fnet.bmfbovespa.com.br/fnet/publico/visualizarDocumento?id=1143317</a:t>
            </a:r>
          </a:p>
          <a:p>
            <a:r>
              <a:t>CNPJ 62696791000193 · Alocação para tratamento tributário · Excerto da fonte:</a:t>
            </a:r>
          </a:p>
          <a:p>
            <a:r>
              <a:t>Os rendimentos distribuídos pela Classe, de modo geral, sujeitam-se à incidência do IRF à alíquota  de 20% (vinte por cento), inclusive quando distribuídos à Cotista que seja pessoa jurídica isenta.</a:t>
            </a:r>
          </a:p>
          <a:p>
            <a:r>
              <a:t> Os ganhos de capital ou rendimentos auf eridos na alienação ou no resgate de cotas da Classe  sujeitam-se à tributação pelo IRF à alíquota de 20% (vinte por cento), no caso de resgate de cotas,  ou conforme normas aplicáveis aos ganhos de capital ou ganhos líquidos auf eridos em renda  variável, nos casos de alienação de cotas.</a:t>
            </a:r>
          </a:p>
          <a:p>
            <a:r>
              <a:t> O IRF pago será considerado: (i) antecipação da tributação corporativa para os investidores pessoa  jurídica (nos regimes de lucro real, presumido ou arbitrado); e (ii) def initivo, nos demais casos,  incluindo de investidores pessoas f ísicas.</a:t>
            </a:r>
          </a:p>
          <a:p>
            <a:r>
              <a:t> Não obstante o disposto no item acima, em conf ormidade com o disposto na Lei 11.033, com a  redação dada pela Lei nº 14.754, o cotista pessoa f ísica f icará isento do IRF e na declaração de  ajuste anual, sobre as distribuições de lucro realizadas pela Classe, exclusivamente na hipótese de  a Classe, cumulativamente: (a) possuir, no mínimo, 100 (cem) cotistas; e (b) as cotas serem  admitidas à negociação exclusivamente em bolsas de valores ou no mercado de balcão organizado.</a:t>
            </a:r>
          </a:p>
          <a:p>
            <a:r>
              <a:t> O benef ício não será concedido ao Cotista que for pessoa física, titular de cotas que representem  10% (dez por cento) ou mais da totalidade das cotas emitidas pela Classe ou cujas cotas lhe derem  direito ao recebimento de rendimento superior a 10% (dez por cento) do total de rendimentos  auf eridos pela Classe.</a:t>
            </a:r>
          </a:p>
          <a:p>
            <a:r>
              <a:t> O benef ício também não será concedido aos Cotistas pessoas físicas que, individualmente ou em  conjunto com parentes até segundo grau, sejam titulares de cotas que representem 30% (trinta por  cento) ou mais da totalidade das cotas emitidas pela Classe, ou ainda cujas cotas lhes derem direito  ao recebimento de rendimento superior a 30% (trinta por cento) do total de rendimentos auf eridos  pela Classe.</a:t>
            </a:r>
          </a:p>
          <a:p>
            <a:r>
              <a:t> Não há garantia de que o benef ício f iscal atualmente vigente não venha a ser posteriormente  restringido, suspenso, revogado ou extinto por legislação superveniente, ocasião na qual poderá vir  a incidir a tributação sobre os rendimentos distribuídos pela Classe, de acordo com os termos da  legislação que vier a estabelecer a incidência tributária.</a:t>
            </a:r>
          </a:p>
          <a:p>
            <a:r>
              <a:t>CNPJ 62696791000193 · Alocação para tratamento tributário · Condição: Documentos atuais selecionados no inventário por categoria/escopo; a data documental isolada não comprova vigência jurídica.</a:t>
            </a:r>
          </a:p>
          <a:p>
            <a:r>
              <a:t>CNPJ 62696791000193 · Alocação para tratamento tributário · Versão e prevalência: Documentos atuais selecionados no inventário por categoria/escopo; a data documental isolada não comprova vigência jurídica.</a:t>
            </a:r>
          </a:p>
          <a:p>
            <a:r>
              <a:t>CNPJ 55563624000109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null, "comparison_required": true, "context_formula": "Direitos creditórios / PL", "context_value": 0.0, "context_unit": "percent"}</a:t>
            </a:r>
          </a:p>
          <a:p>
            <a:r>
              <a:t>CNPJ 55563624000109 · Alocação para tratamento tributário · Regulamento · ID 1192614 · 2026-04-30 · versão 1 · p. 38 · https://fnet.bmfbovespa.com.br/fnet/publico/visualizarDocumento?id=1192614</a:t>
            </a:r>
          </a:p>
          <a:p>
            <a:r>
              <a:t>CNPJ 55563624000109 · Alocação para tratamento tributário · Excerto da fonte:</a:t>
            </a:r>
          </a:p>
          <a:p>
            <a:r>
              <a:t>(xiii) Risco de descaracterização do regime tributário aplicável à Classe. Caso (a) a Classe deixe de  cumprir com o percentual de, pelo menos, 67% (sessenta e sete por cento) do Patrimônio Líquido  aplicado em direitos creditórios, nos termos dos artigos 18, 19 e 24 da Lei 14.754, para fins de  enquadramento do FUNDO e da Classe como “Entidade de Investimento” na forma da Resolução do  CMN nº 5.111, de 21 de dezembro de 2023, conforme alterada, ou qualquer outra norma que venha  a substitui-la, sujeitando o FUNDO e a Classe ao “Regime Específico dos Fundos Não Sujeitos à  Tributação Periódica” conforme a na Seção III da Lei 14.754 ou deixe de satisfazer qualquer uma das  condições previstas na Lei 14.754, neste Anexo e/ou no Regulamento; e/ou (b) o FUNDO ou Classe  deixe de ser enquadrado como “Entidade de Investimento” na forma da Resolução do CMN nº 5.111,  de 21 de dezembro de 2023, ou demais normas do CMN e da CVM, não é possível garantir que o  FUNDO e/ou Classe continuarão a receber o tratamento tributário destinado ao “Regime Específico  dos Fundos Não Sujeitos à Tributação Periódica”, conforme definido na legislação específica.</a:t>
            </a:r>
          </a:p>
          <a:p>
            <a:r>
              <a:t>CNPJ 55563624000109 · Alocação para tratamento tributário · Regulamento · ID 1192614 · 2026-04-30 · versão 1 · p. 6 · https://fnet.bmfbovespa.com.br/fnet/publico/visualizarDocumento?id=1192614</a:t>
            </a:r>
          </a:p>
          <a:p>
            <a:r>
              <a:t>CNPJ 55563624000109 · Alocação para tratamento tributário · Excerto da fonte:</a:t>
            </a:r>
          </a:p>
          <a:p>
            <a:r>
              <a:t>No caso de Fundos de Investimento em Direitos Creditórios (FIDC) classificados como “entidade de investimento” e  cuja carteira seja composta por, no mínimo, 67% (sessenta e sete por cento) de direitos creditórios conforme definições  prescritas em regulamentação expedida pelo Conselho Monetário Nacional, os rendimentos auferidos na amortização  ou no resgate das cotas, inclusive quando decorrentes da liquidação do FUNDO, ficam sujeitos à incidência do IRF à  alíquota de 15% (quinze por cento) sobre a diferença positiva entre o valor de amortização ou resgate e o custo de  aquisição das Cotas.</a:t>
            </a:r>
          </a:p>
          <a:p>
            <a:r>
              <a:t>CNPJ 55563624000109 · Alocação para tratamento tributário · Condição: Documentos atuais selecionados no inventário por categoria/escopo; a data documental isolada não comprova vigência jurídica.</a:t>
            </a:r>
          </a:p>
          <a:p>
            <a:r>
              <a:t>CNPJ 55563624000109 · Alocação para tratamento tributário · Versão e prevalência: Documentos atuais selecionados no inventário por categoria/escopo; a data documental isolada não comprova vigência jurídica.</a:t>
            </a:r>
          </a:p>
          <a:p>
            <a:r>
              <a:t>CNPJ 55563624000109 · Alocação para tratamento tributário · Resumo do histórico: {"count": 2, "dates": ["2025-01-31", "2026-01-31"], "document_count": 2, "sources": [{"document_id": "1178840", "title": "Demonstrações Financeiras", "reference_date": "2026-01-31", "version": "1", "page": 23, "url": "https://fnet.bmfbovespa.com.br/fnet/publico/visualizarDocumento?id=1178840", "sha256": "c458e98664c5c907ddb5a05a94b120bed4e05295b2bfc420f5ba69af0a229abe"}, {"document_id": "891861", "title": "Demonstrações Financeiras", "reference_date": "2025-01-31", "version": "1", "page": 24, "url": "https://fnet.bmfbovespa.com.br/fnet/publico/visualizarDocumento?id=891861", "sha256": "e9cb9e6ddbe505fe068cfcac33605165a98313489de0d3ce6d4d238263c3f3e7"}], "reference": {"path": "history/55563624000109.json", "criterion_id": "tax_allocation", "total_count": 2, "preview_count": 2, "full_text_deferred": true, "sha256": "7835d573fb58a3c19adf5b8ecc2aee2bdbb9a88f7a0c0209b5f262b64c7522e3"}}</a:t>
            </a:r>
          </a:p>
          <a:p>
            <a:r>
              <a:t>CNPJ 62552447000120 · Alocação para tratamento tributário · Base da comparação IME: {"criterion_id": "tax_allocation", "observed_value": 104.36099466414683, "unit": "percent", "competence": "08/2026", "status": "not_comparable", "reason": "Vigência efetiva não comprovada; data do documento isolada não certifica enquadramento histórico.", "formula": "credit_rights / net_asset_value × 100",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67.0}</a:t>
            </a:r>
          </a:p>
          <a:p>
            <a:r>
              <a:t>CNPJ 62552447000120 · Alocação para tratamento tributário · Regulamento · ID 1200623 · 21/05/2026 · versão Consolidado21/05/2026 aprovado pelo ato1200625 · p. 14 · AnexoI4.9 · https://fnet.bmfbovespa.com.br/fnet/publico/visualizarDocumento?id=1200623</a:t>
            </a:r>
          </a:p>
          <a:p>
            <a:r>
              <a:t>CNPJ 62552447000120 · Alocação para tratamento tributário · Excerto da fonte:</a:t>
            </a:r>
          </a:p>
          <a:p>
            <a:r>
              <a:t>4.9 Decorridos 180 (cento e oitenta) dias da Data da Primeira Integralização, a Classe deverá manter alocados em Direitos Creditórios, no mínimo, para fins tributários, 67% (sessenta e sete por cento) do seu Patrimônio Líquido, nos termos da Lei 14.754 e da Resolução CMN 5.111, e, para fins regulatórios, 50% (cinquenta por cento) do seu Patrimônio Líquido, nos termos da Resolução CVM 175. Eventual desenquadramento da Carteira obrigará o Gestor aos procedimentos de desenquadramento e reenquadramento previstos na Lei 14.754 e na Resolução CMN 5.111, para f ins tributários, e na Resolução CVM 175, par</a:t>
            </a:r>
          </a:p>
          <a:p>
            <a:r>
              <a:t>CNPJ 62552447000120 · Alocação para tratamento tributário · Mecânica: {"operator": "&gt;=", "unit": "percent", "numerator": "credit_rights", "denominator": "net_asset_value", "frequency": "not_stated", "layer": "class", "effective_status": "document_date_only", "document_date": "2026-05-21", "requires_initial_date": true, "limit": 67.0}</a:t>
            </a:r>
          </a:p>
          <a:p>
            <a:r>
              <a:t>CNPJ 62552447000120 · Alocação para tratamento tributário · Versão e prevalência: Leitura específica das cláusulas indicadas; condições e conflitos preservados. Seleção documental atual não comprova vigência jurídica por data isolada.</a:t>
            </a:r>
          </a:p>
          <a:p>
            <a:r>
              <a:t>CNPJ 63953620000165 · Alocação para tratamento tributário · Base da comparação IME: {"criterion_id": "tax_allocation", "observed_value": 93.29241106598856, "unit": "percent", "competence": "08/2026", "status": "not_comparable", "reason": "Vigência efetiva não comprovada; data do documento isolada não certifica enquadramento histórico.", "formula": "credit_rights / net_asset_value × 100",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67.0}</a:t>
            </a:r>
          </a:p>
          <a:p>
            <a:r>
              <a:t>CNPJ 63953620000165 · Alocação para tratamento tributário · Anexo ao Regulamento · ID 1222863 · 02/06/2026 · versão AnexoConsignadoPrivado02/06/2026 · p. 6 · 4.13 · https://fnet.bmfbovespa.com.br/fnet/publico/visualizarDocumento?id=1222863</a:t>
            </a:r>
          </a:p>
          <a:p>
            <a:r>
              <a:t>CNPJ 63953620000165 · Alocação para tratamento tributário · Excerto da fonte:</a:t>
            </a:r>
          </a:p>
          <a:p>
            <a:r>
              <a:t>4.13 Decorridos 180 (cento e oitenta) dias do início de suas atividades, a Classe deverá manter alocado, no mínimo, para fins tributários, 67% (sessenta e sete por cento) do seu Patrimônio Líquido em Direitos Creditórios, nos termos da Resolução CMN 5.111, e para fins regulatórios, 50% (cinquenta por cento) do seu Patrimônio Líquido em Direitos Creditórios, nos termos da Resolução CVM 175. 4.14 Nos termos do Art. 45, §7º, inciso II, do Anexo Normativo II da Resolução CVM 175, a Classe poderá ter até 100% (cem por cento) de seu Patrimônio Líquido alocado em Direitos Creditórios, derivativos, observado o disposto nest</a:t>
            </a:r>
          </a:p>
          <a:p>
            <a:r>
              <a:t>CNPJ 63953620000165 · Alocação para tratamento tributário · Mecânica: {"operator": "&gt;=", "unit": "percent", "denominator": "net_asset_value", "frequency": "not_stated", "layer": "class", "effective_status": "document_date_only", "document_date": "2026-06-02", "limit": 67.0, "numerator": "credit_rights", "requires_initial_date": true}</a:t>
            </a:r>
          </a:p>
          <a:p>
            <a:r>
              <a:t>CNPJ 63953620000165 · Alocação para tratamento tributário · Versão e prevalência: Leitura específica das cláusulas indicadas; condições e conflitos preservados. Seleção documental atual não comprova vigência jurídica por data isolada.</a:t>
            </a:r>
          </a:p>
          <a:p>
            <a:r>
              <a:t>CNPJ 54871427000194 · Classes investidas e limites do FIC · Demonstrações Financeiras - Fusão, cisão e incorporação · ID 1219522 · 2026-02-02 · versão 1 · p. 31 · https://fnet.bmfbovespa.com.br/fnet/publico/visualizarDocumento?id=1219522</a:t>
            </a:r>
          </a:p>
          <a:p>
            <a:r>
              <a:t>CNPJ 54871427000194 · Classes investidas e limites do FIC · Excerto da fonte:</a:t>
            </a:r>
          </a:p>
          <a:p>
            <a:r>
              <a:t>xv) Risco Regulatório e Judicial. Eventuais alterações ou novas normas ou leis aplicáveis à Classe,  seus ativos e a eventuais fundos investidos, incluindo, mas não se limitando àquelas referentes  a tributos, bem como decisões judiciais ou jurisprudência aplicando as regulamentações  existentes ou interpretando novas regulamentações, podem causar um efeito adverso relevante  no preço dos ativos e/ou na performance das posições financeiras adquiridas pela Classe e/ou  pelos fundos Investidos. Ainda, nesse sentido, poderão ocorrer interferências de autoridades  governamentais e órgãos reguladores na regulação dos mercados, bem como alterações das  políticas monetária e cambial. Tais eventos poderão impactar de maneira adversa o valor das  Cotas.</a:t>
            </a:r>
          </a:p>
          <a:p>
            <a:r>
              <a:t>CNPJ 54871427000194 · Classes investidas e limites do FIC · Condição: Documentos atuais selecionados no inventário por categoria/escopo; a data documental isolada não comprova vigência jurídica.</a:t>
            </a:r>
          </a:p>
          <a:p>
            <a:r>
              <a:t>CNPJ 54871427000194 · Classes investidas e limites do FIC · Versão e prevalência: Documentos atuais selecionados no inventário por categoria/escopo; a data documental isolada não comprova vigência jurídica.</a:t>
            </a:r>
          </a:p>
          <a:p>
            <a:r>
              <a:t>CNPJ 54871427000194 · Classes investidas e limites do FIC · Resumo do histórico: {"count": 5, "dates": ["2024-12-31", "2025-01-01", "2025-12-31"], "document_count": 3, "sources": [{"document_id": "1151805", "title": "Demonstrações Financeiras", "reference_date": "2025-12-31", "version": "1", "page": 31, "url": "https://fnet.bmfbovespa.com.br/fnet/publico/visualizarDocumento?id=1151805", "sha256": "f1cea70b152968bf96ef9221b27225953cb20aeef487b2798db3c25e11b528d4"}, {"document_id": "869529", "title": "Demonstrações Financeiras", "reference_date": "2025-01-01", "version": "1", "page": 32, "url": "https://fnet.bmfbovespa.com.br/fnet/publico/visualizarDocumento?id=869529", "sha256": "9a93a9369ac8efdbc54ff8fcee3ccac3abf88edab4807b9323d3852450771b2a"}, {"document_id": "870070", "title": "Demonstrações Financeiras", "reference_date": "2024-12-31", "version": "1", "page": 32, "url": "https://fnet.bmfbovespa.com.br/fnet/publico/visualizarDocumento?id=870070", "sha256": "9a93a9369ac8efdbc54ff8fcee3ccac3abf88edab4807b9323d3852450771b2a"}], "reference": {"path": "history/54871427000194.json", "criterion_id": "investee", "total_count": 5, "preview_count": 3, "full_text_deferred": true, "sha256": "35d7cd99be50c7287c9fb675cf4f2e736002315295a225a9efa79c8d9186d874"}}</a:t>
            </a:r>
          </a:p>
          <a:p>
            <a:r>
              <a:t>CNPJ 60010416000112 · Classes investidas e limites do FIC · Motivo: Não localizada uma cláusula material para este critério nos textos identificados e processados. A ausência de resultado não comprova inexistência da regra.</a:t>
            </a:r>
          </a:p>
          <a:p>
            <a:r>
              <a:t>CNPJ 62696791000193 · Classes investidas e limites do FIC · Regulamento · ID 1143317 · 20/03/2026 · versão Regulamento — referência 20/03/2026 · p. 7 · Anexo I, 1.1, Objetivo, categoria Geral · https://fnet.bmfbovespa.com.br/fnet/publico/visualizarDocumento?id=1143317</a:t>
            </a:r>
          </a:p>
          <a:p>
            <a:r>
              <a:t>CNPJ 62696791000193 · Classes investidas e limites do FIC · Excerto da fonte:</a:t>
            </a:r>
          </a:p>
          <a:p>
            <a:r>
              <a:t>(D) Categoria “Geral” (“Ativos em Geral do Agronegócio”): (i) cotas de classes que apliquem mais de 50% (cinquenta por cento) de seu patrimônio líquido nos ativos referidos nos incisos “A” a “D” acima, o que inclui cotas de outros FIAGRO, mas não se limita a essa categoria de f undos. Os Ativos Imobiliários do Agronegócio, Participações do Agronegócio, Ativos Financeiros do Agronegócio e Ativos em Geral do Agronegócio, quando ref eridos em conjunto, os “Outros Ativos”. Não há limites máximos de aplicação por emissor ou devedor, em função de um percentual do Patrimônio Líquido. O objetivo da Classe não representa, sob qualquer hipótese, garantia da Classe ou de seus Prestadores de Serviços Essenciais e/ou da Cogestora quanto à segurança, rentabilidade e liquidez dos títu</a:t>
            </a:r>
          </a:p>
          <a:p>
            <a:r>
              <a:t>CNPJ 62696791000193 · Classes investidas e limites do FIC · Regulamento · ID 1143317 · 20/03/2026 · versão Regulamento — referência 20/03/2026 · p. 11 · Anexo I, 4.8–4.9 · https://fnet.bmfbovespa.com.br/fnet/publico/visualizarDocumento?id=1143317</a:t>
            </a:r>
          </a:p>
          <a:p>
            <a:r>
              <a:t>CNPJ 62696791000193 · Classes investidas e limites do FIC · Excerto da fonte:</a:t>
            </a:r>
          </a:p>
          <a:p>
            <a:r>
              <a:t>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relacionadas ao Gestor. 4.8.1 As aplicações em Direitos Creditórios do Agronegócio decorrentes de receitas públicas originárias ou derivadas da União, dos Estados, do Distrito Federal e dos Municípios ou de suas autarquias e f undações, assim como em Direitos Creditórios do Agronegócio cedidos ou originados por empresas controladas pelo poder público, não estão submetidas ao limite de concentração por emissor previsto no caput. 4.9 Nos termos do Art. 45 do Anexo</a:t>
            </a:r>
          </a:p>
          <a:p>
            <a:r>
              <a:t>CNPJ 62696791000193 · Classes investidas e limites do FIC · Condição: O regulamento não identifica CNPJs de classes efetivamente investidas. Permissão de investimento não comprova posição.</a:t>
            </a:r>
          </a:p>
          <a:p>
            <a:r>
              <a:t>CNPJ 62696791000193 · Classes investidas e limites do FIC · Versão e prevalência: Leitura específica das cláusulas indicadas; condições e conflitos preservados. Seleção documental atual não comprova vigência jurídica por data isolada.</a:t>
            </a:r>
          </a:p>
          <a:p>
            <a:r>
              <a:t>CNPJ 55563624000109 · Classes investidas e limites do FIC · Regulamento · ID 1192614 · 30/04/2026 · versão Regulamento30/04/2026 · p. 11 · AnexoI4.1 · https://fnet.bmfbovespa.com.br/fnet/publico/visualizarDocumento?id=1192614</a:t>
            </a:r>
          </a:p>
          <a:p>
            <a:r>
              <a:t>CNPJ 55563624000109 · Classes investidas e limites do FIC · Excerto da fonte:</a:t>
            </a:r>
          </a:p>
          <a:p>
            <a:r>
              <a:t>4.1 Observados os demais termos deste Anexo, o objetivo da Classe é investir seus recursos em (i) cotas subordinadas mezanino de emissão da classe única do MERCADO CRÉDITO II BRASIL FUNDO DE INVESTIMENTO EM DIREITOS CREDITÓRIOS NÃO PADRONIZADOS, fundo de investimento em direitos creditórios inscrito no CNPJ sob o nº 41.970.012/0001-26 (“Cotas da Classe Investida” e “Classe Investida”, respectivamente), a qual, por sua vez, aplica seus recursos preponderantemente em direitos creditórios originados pela Mercado Pago, de acordo com os termos e condições est</a:t>
            </a:r>
          </a:p>
          <a:p>
            <a:r>
              <a:t>CNPJ 55563624000109 · Classes investidas e limites do FIC · Condição: Vínculo contratual identificado; quantidade de cotas efetivamente detida exige posição do FIC. Não somar PL do FIC e do investido.</a:t>
            </a:r>
          </a:p>
          <a:p>
            <a:r>
              <a:t>CNPJ 55563624000109 · Classes investidas e limites do FIC · Versão e prevalência: Leitura específica das cláusulas indicadas; condições e conflitos preservados. Seleção documental atual não comprova vigência jurídica por data isolada.</a:t>
            </a:r>
          </a:p>
          <a:p>
            <a:r>
              <a:t>CNPJ 55563624000109 · Classes investidas e limites do FIC · Resumo do histórico: {"count": 2, "dates": ["2025-01-31", "2026-01-31"], "document_count": 2, "sources": [{"document_id": "1178840", "title": "Demonstrações Financeiras", "reference_date": "2026-01-31", "version": "1", "page": 4, "url": "https://fnet.bmfbovespa.com.br/fnet/publico/visualizarDocumento?id=1178840", "sha256": "c458e98664c5c907ddb5a05a94b120bed4e05295b2bfc420f5ba69af0a229abe"}, {"document_id": "891861", "title": "Demonstrações Financeiras", "reference_date": "2025-01-31", "version": "1", "page": 18, "url": "https://fnet.bmfbovespa.com.br/fnet/publico/visualizarDocumento?id=891861", "sha256": "e9cb9e6ddbe505fe068cfcac33605165a98313489de0d3ce6d4d238263c3f3e7"}], "reference": {"path": "history/55563624000109.json", "criterion_id": "investee", "total_count": 2, "preview_count": 2, "full_text_deferred": true, "sha256": "7835d573fb58a3c19adf5b8ecc2aee2bdbb9a88f7a0c0209b5f262b64c7522e3"}}</a:t>
            </a:r>
          </a:p>
          <a:p>
            <a:r>
              <a:t>CNPJ 62552447000120 · Classes investidas e limites do FIC · Regulamento · ID 1200623 · 2026-05-21 · versão 1 · p. 6 · https://fnet.bmfbovespa.com.br/fnet/publico/visualizarDocumento?id=1200623</a:t>
            </a:r>
          </a:p>
          <a:p>
            <a:r>
              <a:t>CNPJ 62552447000120 · Classes investidas e limites do FIC · Excerto da fonte:</a:t>
            </a:r>
          </a:p>
          <a:p>
            <a:r>
              <a:t>integrantes do conglomerado econômico de instituições  f inanceiras classificadas como S1 pelo Banco Central do  Brasil (“BACEN” e “Instituições Financeiras S1”,  respectivamente), desde que não representem títulos de  emissão ou coobrigação de instituições financeiras, bem  como cotas de f undos de investimento que invistam  preponderantemente nestes direitos, títulos e/ou valores  mobiliários; e</a:t>
            </a:r>
          </a:p>
          <a:p>
            <a:r>
              <a:t> (d) “Direitos Creditórios Refinanciamento Livre”, na forma  de CCBs originadas no âmbito de um refinanciamento, de  acordo com a política de cobrança vigente, de Direitos  Creditórios Consignado Privado e de Direitos Creditórios  FGTS, que não contem com o lastro de Consignação ou  de cessão f iduciária do Saque-Aniversário,  respectivamente; e</a:t>
            </a:r>
          </a:p>
          <a:p>
            <a:r>
              <a:t> (ii) “Ativos Financeiros”, assim entendidos como, em conjunto:</a:t>
            </a:r>
          </a:p>
          <a:p>
            <a:r>
              <a:t> (a) moeda corrente nacional;</a:t>
            </a:r>
          </a:p>
          <a:p>
            <a:r>
              <a:t> (b) títulos públicos f ederais;</a:t>
            </a:r>
          </a:p>
          <a:p>
            <a:r>
              <a:t> (c) ativos f inanceiros de renda f ixa de emissão ou  coobrigação de Instituições Financeiras S1;</a:t>
            </a:r>
          </a:p>
          <a:p>
            <a:r>
              <a:t> (d) operações compromissadas, desde que lastreadas nos  títulos mencionados nas alíneas (b) e (c) acima; e</a:t>
            </a:r>
          </a:p>
          <a:p>
            <a:r>
              <a:t> (e) cotas do BTG Pactual Tesouro Selic Fundo de  Investimento Renda Fixa Ref erenciado DI, inscrito no  CNPJ sob o nº 09.215.250/0001-13;</a:t>
            </a:r>
          </a:p>
          <a:p>
            <a:r>
              <a:t> observados todos os limites de composição e diversificação da carteira da  Classe (“Carteira”), estabelecidos neste Regulamento e na  regulamentação aplicável.</a:t>
            </a:r>
          </a:p>
          <a:p>
            <a:r>
              <a:t> O objetivo da Classe não representa, sob qualquer hipótese, promessa,  garantia ou sugestão da Classe ou de seus Prestadores de Serviços  Essenciais quanto à segurança, rentabilidade e liquidez dos títulos  componentes de sua Carteira.</a:t>
            </a:r>
          </a:p>
          <a:p>
            <a:r>
              <a:t>CNPJ 62552447000120 · Classes investidas e limites do FIC · Condição: Documentos atuais selecionados no inventário por categoria/escopo; a data documental isolada não comprova vigência jurídica.</a:t>
            </a:r>
          </a:p>
          <a:p>
            <a:r>
              <a:t>CNPJ 62552447000120 · Classes investidas e limites do FIC · Versão e prevalência: Documentos atuais selecionados no inventário por categoria/escopo; a data documental isolada não comprova vigência jurídica.</a:t>
            </a:r>
          </a:p>
          <a:p>
            <a:r>
              <a:t>CNPJ 63953620000165 · Classes investidas e limites do FIC · Motivo: Não localizada uma cláusula material para este critério nos textos identificados e processados. A ausência de resultado não comprova inexistência da regra.</a:t>
            </a:r>
          </a:p>
          <a:p>
            <a:r>
              <a:t>CNPJ 54871427000194 · Classe, subclasse e responsabilidade · Regulamento · ID 670691 · 2024-04-28 · versão 1 · p. 29 · https://fnet.bmfbovespa.com.br/fnet/publico/visualizarDocumento?id=670691</a:t>
            </a:r>
          </a:p>
          <a:p>
            <a:r>
              <a:t>CNPJ 54871427000194 · Classe, subclasse e responsabilidade · Excerto da fonte:</a:t>
            </a:r>
          </a:p>
          <a:p>
            <a:r>
              <a:t>Anexo I ao Regulamento CLASSE ÚNICA DE RESPONSABILIDADE LIMITADA DO CONSIGNADO DELTA RECEIVABLES I FUNDO DE INVESTIMENTO EM DIREITOS CREDITÓRIOS  pelo Endossante e depositados em seu conta de sua titularidade para posterior repasse à  Classe. Neste caso, a Classe poderá sofrer perdas principalmente em relação ao atraso na  regularização da titularidade e pagamento dos Direitos Creditórios.</a:t>
            </a:r>
          </a:p>
          <a:p>
            <a:r>
              <a:t> (v) Risco de pré-pagamento dos Direitos Creditórios. A ocorrência de pré-  pagamentos em relação a um ou mais Direitos Creditórios poderá ocasionar perdas à Classe.</a:t>
            </a:r>
          </a:p>
          <a:p>
            <a:r>
              <a:t> A ocorrência de pré-pagamentos (pagamento em data anterior àquela originalmente pactuada)  de Direitos Creditórios reduz o horizonte original de rendimentos esperados pela Classe de  tais Direitos Creditórios, uma vez que o pré-pagamento poderá, se assim permitido pela  documentação do Direito Creditório ou, conf orme o caso, pela legislação aplicável, ser  realizado pelo valor de emissão do Direito Creditório atualizado até a data do pré-pagamento  pela taxa de juros pactuada entre os Endossantes e os Devedores de tais Direitos Creditórios,  de modo que os juros remuneratórios incidentes desde a data da realização do pré-pagamento  até a data de vencimento do respectivo Direito Creditório deixam de ser devidos à Classe.</a:t>
            </a:r>
          </a:p>
          <a:p>
            <a:r>
              <a:t> (vi) Riscos associados aos Devedores: os Direitos Creditórios a serem cedidos à  Classe serão descontados da remuneração do Devedor, através de desconto em f olha de  pagamento ou de benefício. Nesse sentido, na ocorrência de pré-pagamento, as parcelas  serão pagas antecipadamente e a Classe deverá utilizar tais montantes no pré-pagamento dos  Direitos Creditórios. Nesta hipótese, a Classe poderá não encontrar Direitos Creditórios  disponíveis para serem adquiridos pela Classe, o que poderá afetar a rentabilidade da Classe.</a:t>
            </a:r>
          </a:p>
          <a:p>
            <a:r>
              <a:t> (vii) Risco de Competição: o mercado de empréstimos experimentou grande  expansão no Brasil nos últimos anos. Nesse contexto, a Resolução CMN nº 4.292, alterada  pela Resolução nº 4.762, de 27 de novembro de 2019, dispõe que deve ser garantido às  pessoas naturais devedoras de operações de crédito (tais como as CCB) a possibilidade de  realizarem a portabilidade destas operações para outras instituições financeiras, inclusive nos  casos em que tenham sido objeto de cessão (tais como as realizadas à Classe). Nesse  cenário, é possível que os competidores do Endossante ofereçam condições e taxas mais  vantajosas para os empréstimos pessoais com consignação em f olha de pagamento ou de  benef ícios, o que pode causar a migração de clientes da Endossante para outras instituições  f inanceiras, gerando a liquidação antecipada de parte das CCB existentes e/ou redução no  número de Direitos Creditórios cedidos. Referida competição poderá af etar os resultados da  Classe, impactando negativamente os rendimentos dos Cotistas. Ainda, a portabilidade a um  Devedor pode acarretar no recebimento de valores inf eriores aos esperados pela Classe.</a:t>
            </a:r>
          </a:p>
          <a:p>
            <a:r>
              <a:t> (viii) Insuf iciência dos Critérios de Elegibilidade. Os Critérios de Elegibilidade têm a  f inalidade de selecionar os Direitos Creditórios passíveis de aquisição pela Classe. Não  obstante tais Critérios de Elegibilidade, a solvência dos Direitos Creditórios que compõem a  Carteira depende integralmente, mas não somente, da situação econômico-financeira dos  Devedores. Dessa f orma, a observância pelo GESTOR dos Critérios de Elegibilidade não  constitui garantia de adimplência dos Devedores.</a:t>
            </a:r>
          </a:p>
          <a:p>
            <a:r>
              <a:t> Os Endossantes não necessariamente garantem a solvência dos seus respectivos Devedores.</a:t>
            </a:r>
          </a:p>
          <a:p>
            <a:r>
              <a:t> O Endossante dos Direitos Creditórios não assumirá responsabilidade pelo seu pagamento ou  pela solvência dos respectivos Devedores. A Classe sofrerá o impacto do inadimplemento dos  Direitos Creditórios vencidos e não pagos pelos respectivos Devedores.</a:t>
            </a:r>
          </a:p>
          <a:p>
            <a:r>
              <a:t> (ix) Possibilidade de aquisição de Direitos Creditórios cedidos por Endossante  e/ou devidos por Devedores cujas demonstrações financeiras não sejam auditadas. A Classe,  desde que sejam respeitados os limites de concentração previstos neste Regulamento, poderá  manter a qualquer tempo em sua Carteira, Direitos Creditórios cedidos por Endossante e/ou  devidos por Devedores cujas demonstrações f inanceiras não sejam auditadas por Auditor  Independente registrado na CVM. Nesse sentido, não haverá verificação independente sobre  tais demonstrações f inanceiras que af irme se estas representam adequadamente, em todos  os aspectos relevantes, as respectivas posições patrimoniais e f inanceiras, os resultados de  suas operações, as mutações de seus respectivos patrimônios líquidos tampouco as origens  e aplicações de seus recursos.</a:t>
            </a:r>
          </a:p>
          <a:p>
            <a:r>
              <a:t>CNPJ 54871427000194 · Classe, subclasse e responsabilidade · Regulamento · ID 670691 · 2024-04-28 · versão 1 · p. 15 · 7.2 · https://fnet.bmfbovespa.com.br/fnet/publico/visualizarDocumento?id=670691</a:t>
            </a:r>
          </a:p>
          <a:p>
            <a:r>
              <a:t>CNPJ 54871427000194 · Classe, subclasse e responsabilidade · Excerto da fonte:</a:t>
            </a:r>
          </a:p>
          <a:p>
            <a:r>
              <a:t>7.2 As amortizações de Cotas serão realizadas a qualquer tempo, a critério do GESTOR, observada a  disponibilidade de recursos da Classe Única e a ordem de alocação de recursos prevista neste Anexo  Descritivo.</a:t>
            </a:r>
          </a:p>
          <a:p>
            <a:r>
              <a:t>CNPJ 54871427000194 · Classe, subclasse e responsabilidade · Instrumento Particular de Alteração do Regulamento · ID 670690 · 2024-05-28 · versão 1 · p. 1 · https://fnet.bmfbovespa.com.br/fnet/publico/visualizarDocumento?id=670690</a:t>
            </a:r>
          </a:p>
          <a:p>
            <a:r>
              <a:t>CNPJ 54871427000194 · Classe, subclasse e responsabilidade · Excerto da fonte:</a:t>
            </a:r>
          </a:p>
          <a:p>
            <a:r>
              <a:t>ATA DA ASSEMBLEIA ESPECIAL DE COTISTAS  CLASSE ÚNICA DE RESPONSABILIDADE LIMITADA DO CONSIGNADO DELTA RECEIVABLES I  FUNDO DE INVESTIMENTO EM DIREITOS CREDITÓRIOS  CNPJ nº 54.871.427/0001-94  (“Classe Única” e “Fundo”, respectivamente)</a:t>
            </a:r>
          </a:p>
          <a:p>
            <a:r>
              <a:t>CNPJ 54871427000194 · Classe, subclasse e responsabilidade · Condição: Documentos atuais selecionados no inventário por categoria/escopo; a data documental isolada não comprova vigência jurídica.</a:t>
            </a:r>
          </a:p>
          <a:p>
            <a:r>
              <a:t>CNPJ 54871427000194 · Classe, subclasse e responsabilidade · Versão e prevalência: Documentos atuais selecionados no inventário por categoria/escopo; a data documental isolada não comprova vigência jurídica.</a:t>
            </a:r>
          </a:p>
          <a:p>
            <a:r>
              <a:t>CNPJ 54871427000194 · Classe, subclasse e responsabilidade · Resumo do histórico: {"count": 4, "dates": ["2024-04-19", "2024-04-28", "2024-05-24"], "document_count": 3, "sources": [{"document_id": "668387", "title": "Instrumento Particular de Emissão de Cotas", "reference_date": "2024-05-24", "version": "1", "page": 1, "url": "https://fnet.bmfbovespa.com.br/fnet/publico/visualizarDocumento?id=668387", "sha256": "be2913bed5f468a7399afcd27f92bac2083451584ee580b5054e9f525e68cc4a"}, {"document_id": "670691", "title": "Regulamento", "reference_date": "2024-04-28", "version": "1", "page": 29, "url": "https://fnet.bmfbovespa.com.br/fnet/publico/visualizarDocumento?id=670691", "sha256": "bf16dd7f1a62d5cdbf2e2d54fef81783783f7310fbc99c3a8f00459bdf9d037b"}, {"document_id": "670687", "title": "Instrumento Particular de Constituição/Encerramento do Fundo", "reference_date": "2024-04-19", "version": "1", "page": 1, "url": "https://fnet.bmfbovespa.com.br/fnet/publico/visualizarDocumento?id=670687", "sha256": "999f2a47d39f7022b0fcee3d16fd1db33948537b897e92c4c9e14b436bf5eb96"}], "reference": {"path": "history/54871427000194.json", "criterion_id": "perimeter", "total_count": 4, "preview_count": 3, "full_text_deferred": true, "sha256": "35d7cd99be50c7287c9fb675cf4f2e736002315295a225a9efa79c8d9186d874"}}</a:t>
            </a:r>
          </a:p>
          <a:p>
            <a:r>
              <a:t>CNPJ 60010416000112 · Classe, subclasse e responsabilidade · Regulamento · ID 1051393 · 2025-10-09 · versão 1 · p. 10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a:t>
            </a:r>
          </a:p>
          <a:p>
            <a:r>
              <a:t> (ii) o saldo dos Direitos Creditórios devidos pelo mesmo Devedor à Classe, considerando, pro  forma, o endosso pretendido, não deverá exceder R$ 100.000,00 (cem mil reais), observado  o disposto no item 4.4.1 abaixo;</a:t>
            </a:r>
          </a:p>
          <a:p>
            <a:r>
              <a:t> (iii) o prazo de vencimento das CCB representativas dos Direitos Creditórios deverá ser, no  máximo, equivalente ao prazo máximo permitido pelas leis e regulamentações aplicáveis; e</a:t>
            </a:r>
          </a:p>
          <a:p>
            <a:r>
              <a:t> (iv) os Direitos Creditórios não poderão ser devidos por Devedores que tenham acima de 64  (sessenta e quatro) anos 11 (onze) meses e 29 (vinte e nove) dias na data de emissão da  respectiva CCB.</a:t>
            </a:r>
          </a:p>
          <a:p>
            <a:r>
              <a:t>CNPJ 60010416000112 · Classe, subclasse e responsabilidade · Regulamento · ID 1051393 · 2025-10-09 · versão 1 · p. 11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  com a transf erência, à Classe, de f orma definitiva, sem coobrigação do Endossante, da plena  titularidade desse Direito Creditório, juntamente com todos os direitos, privilégios, pref erências,  prerrogativas, garantias e ações a ele relacionados, bem como correção monetária, juros e  encargos, sem prejuízo do direito da Classe (i) de exigir a recompra compulsória do respectivo  Direito Creditório, de acordo com os termos do Contrato de Endosso; ou (ii) de vender Direitos  Creditórios ao Agente de Retenção/Cobrança (opção de venda), em ambos os casos estritamente  nos termos do Contrato de Endosso.</a:t>
            </a:r>
          </a:p>
          <a:p>
            <a:r>
              <a:t>CNPJ 60010416000112 · Classe, subclasse e responsabilidade · Regulamento · ID 1051393 · 2025-10-09 · versão 1 · p. 18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a:t>
            </a:r>
          </a:p>
          <a:p>
            <a:r>
              <a:t> (ii) alterar este Anexo I e seus complementos, incluindo mas não se limitando aos Apêndices de cada  uma das subclasses;</a:t>
            </a:r>
          </a:p>
          <a:p>
            <a:r>
              <a:t> (iii) deliberar sobre substituição de Prestadores de Serviços Essenciais, observado o disposto no Art.</a:t>
            </a:r>
          </a:p>
          <a:p>
            <a:r>
              <a:t> 70, §1º da parte geral da Resolução CVM 175, quando aplicável, ou do Custodiante;</a:t>
            </a:r>
          </a:p>
          <a:p>
            <a:r>
              <a:t> (iv) deliberar sobre elevação da Taxa de Administração, inclusive na hipótese de restabelecimento de  taxa que tenha sido objeto de redução;</a:t>
            </a:r>
          </a:p>
          <a:p>
            <a:r>
              <a:t> (v) deliberar sobre incorporação, fusão, cisão total ou parcial, a transformação ou liquidação da Classe;</a:t>
            </a:r>
          </a:p>
          <a:p>
            <a:r>
              <a:t> (vi) alterações das características, vantagens, direitos e obrigações das Cotas;</a:t>
            </a:r>
          </a:p>
          <a:p>
            <a:r>
              <a:t> (vii) alterar critérios e procedimentos para Amortização e/ou resgate de Cotas mediante dação em  pagamento de Direitos Creditórios;</a:t>
            </a:r>
          </a:p>
          <a:p>
            <a:r>
              <a:t> (viii) aprovar a contratação de Agente de Retenção/Cobrança dos Direitos Creditórios Inadimplidos, bem  como decidir sobre sua substituição ou destituição;</a:t>
            </a:r>
          </a:p>
          <a:p>
            <a:r>
              <a:t> (ix) alterar a f orma de amortização do principal e dos valores acumulados relacionados às Cotas;</a:t>
            </a:r>
          </a:p>
          <a:p>
            <a:r>
              <a:t> (x) aprovar emissão de novas Cotas da Classe, em montante além do Capital Autorizado;</a:t>
            </a:r>
          </a:p>
          <a:p>
            <a:r>
              <a:t> (xi) deliberar sobre a eventual necessidade de aportes adicionais de recursos na Classe pelos Cotistas;</a:t>
            </a:r>
          </a:p>
          <a:p>
            <a:r>
              <a:t> (xii) alterações na Política de Investimentos;</a:t>
            </a:r>
          </a:p>
          <a:p>
            <a:r>
              <a:t> (xiii) alterações nos Critérios de Elegibilidade;</a:t>
            </a:r>
          </a:p>
          <a:p>
            <a:r>
              <a:t> (xiv) decidir se um Evento de Avaliação será considerado como Evento de Liquidação, sujeito a este  Regulamento;</a:t>
            </a:r>
          </a:p>
          <a:p>
            <a:r>
              <a:t> (xv) decidir, na ocorrência de qualquer Evento de Liquidação, se esse Evento de Liquidação não deverá  causar a liquidação antecipada da Classe;</a:t>
            </a:r>
          </a:p>
          <a:p>
            <a:r>
              <a:t> (xvi) plano de resolução do Patrimônio Líquido negativo da Classe, nos termos da Resolução CVM 175;</a:t>
            </a:r>
          </a:p>
          <a:p>
            <a:r>
              <a:t> (xvii)pedido de declaração judicial de insolvência da Classe; e</a:t>
            </a:r>
          </a:p>
          <a:p>
            <a:r>
              <a:t> (xviii) deliberar sobre a alteração da data de resgate e/ou prazo de duração de cada Série de Cotas  Seniores, do Benchmark, bem como de quaisquer outras características de qualquer Série de Cotas  Seniores;</a:t>
            </a:r>
          </a:p>
          <a:p>
            <a:r>
              <a:t>CNPJ 60010416000112 · Classe, subclasse e responsabilidade · Condição: Documentos atuais selecionados no inventário por categoria/escopo; a data documental isolada não comprova vigência jurídica.</a:t>
            </a:r>
          </a:p>
          <a:p>
            <a:r>
              <a:t>CNPJ 60010416000112 · Classe, subclasse e responsabilidade · Versão e prevalência: Documentos atuais selecionados no inventário por categoria/escopo; a data documental isolada não comprova vigência jurídica.</a:t>
            </a:r>
          </a:p>
          <a:p>
            <a:r>
              <a:t>CNPJ 60010416000112 · Classe, subclasse e responsabilidade · Resumo do histórico: {"count": 1, "dates": ["2025-05-12"], "document_count": 1, "sources": [{"document_id": "1004656", "title": "AGE", "reference_date": "2025-05-12", "version": "1", "page": 4, "url": "https://fnet.bmfbovespa.com.br/fnet/publico/visualizarDocumento?id=1004656", "sha256": "f6c9c009f6170e2b29f074b98522accec73f0c40efbf11f9ec2c8d3f1402616b"}], "reference": {"path": "history/60010416000112.json", "criterion_id": "perimeter", "total_count": 1, "preview_count": 1, "full_text_deferred": true, "sha256": "8e2bd813f4c51cf01f6bfaad164bafe69d2bbb192f753eac92da3a01c2e63046"}}</a:t>
            </a:r>
          </a:p>
          <a:p>
            <a:r>
              <a:t>CNPJ 62696791000193 · Classe, subclasse e responsabilidade · Regulamento · ID 1143317 · 20/03/2026 · versão Regulamento — referência 20/03/2026 · p. 9 · Anexo I, 2.1 · https://fnet.bmfbovespa.com.br/fnet/publico/visualizarDocumento?id=1143317</a:t>
            </a:r>
          </a:p>
          <a:p>
            <a:r>
              <a:t>CNPJ 62696791000193 · Classe, subclasse e responsabilidade · Excerto da fonte:</a:t>
            </a:r>
          </a:p>
          <a:p>
            <a:r>
              <a:t>2.1 A responsabilidade do Cotista está limitada ao valor por ele subscrito. 2.2 Os seguintes eventos obrigarão o Administrador a verif icar se o Patrimônio Líquido está negativo: (i) qualquer pedido de declaração judicial de insolvência de Classe; (ii) inadimplência de obrigações financeiras de devedor e/ou emissor de ativos detidos pela Classe que representem mais de 10% (dez por cento) de seu Patrimônio Líquido, naquela data de ref erência; (iii) pedido de recuperação extrajudicial, proposta de recuperação judicial, f alência, intervenção, liquidação extrajudicial e/ou regime de administração temporária de devedor e/ou emissor de ativos detidos pela Classe; e (iv) condenação da Classe, de natureza judicial e/ou arbitral e/ou administrativa e/ou outras similares, ao pagamento de mais de 10% (dez por cento) de seu Patrimônio Líquido. 2.3 Caso o Administrador verifique que o Patrimônio Líquido está negativo, ou tenha ciência de pedido de declaração judicial de insolvência da Classe ou da declaração judicial de insolvência da Classe, deverá adotar as medidas aplicáveis previstas na Resolução CVM 175. 2.4 Serão aplicáveis as disp</a:t>
            </a:r>
          </a:p>
          <a:p>
            <a:r>
              <a:t>CNPJ 62696791000193 · Classe, subclasse e responsabilidade · Regulamento · ID 1143317 · 20/03/2026 · versão Regulamento — referência 20/03/2026 · p. 18 · Anexo I, 8.8.1 · https://fnet.bmfbovespa.com.br/fnet/publico/visualizarDocumento?id=1143317</a:t>
            </a:r>
          </a:p>
          <a:p>
            <a:r>
              <a:t>CNPJ 62696791000193 · Classe, subclasse e responsabilidade · Excerto da fonte:</a:t>
            </a:r>
          </a:p>
          <a:p>
            <a:r>
              <a:t>8.8.1 As Chamadas de Capital para a realização de investimentos serão realizadas a qualquer momento durante o Período de Investimento e estarão limitadas ao valor do capital subscrito de cada Cotista. As Chamadas de Capital para o pagamento de despesas e encargos do Fundo poderão ser realizadas a qualquer momento durante o Prazo de Duração, mas não estarão limitadas ao valor do capital subscrito de cada Cotista. 8.8.2 Ao receber uma Chamada de Capital, os Cotistas serão obrigados a integralizar parte ou a totalidade de suas Cotas no prazo previsto na ref erida Chamada de Capital, o qual não poderá ser inf erior a 5 (cinco) Dias Úteis contados do recebimento da Chamada de Capital, conforme solicitado pelo Administrador em observância às instruções do Gestor e de acordo com o disposto nos respectivos Compromissos de Investimento. 8.8.3 O Administrador poderá, eventualmente, realizar Chamadas de Capital aos Cotistas de forma desproporcional entre Cotistas, de modo que um ou mais Cotista venha a integralizar, em uma ou mais Chamadas de Capital, uma parcela maior ou menor, conforme o caso, das Cotas por</a:t>
            </a:r>
          </a:p>
          <a:p>
            <a:r>
              <a:t>CNPJ 62696791000193 · Classe, subclasse e responsabilidade · Regulamento · ID 1143317 · 20/03/2026 · versão Regulamento — referência 20/03/2026 · p. 16 · Anexo I, 7.2 · https://fnet.bmfbovespa.com.br/fnet/publico/visualizarDocumento?id=1143317</a:t>
            </a:r>
          </a:p>
          <a:p>
            <a:r>
              <a:t>CNPJ 62696791000193 · Classe, subclasse e responsabilidade · Excerto da fonte:</a:t>
            </a:r>
          </a:p>
          <a:p>
            <a:r>
              <a:t>7.2 A Classe possui 3 (três) Subclasses de Cotas, quais sejam, a subclasse sênior (“Subclasse Sênior” e “Cotas Seniores”), a subclasse mezanino (“Subclasse Mezanino” e “Cotas Mezanino”) e a subclasse subordinada (“Subclasse Subordinada” e “Cotas Subordinadas” – as Cotas Subordinadas, Cotas Seniores e Cotas Mezanino, quando ref eridas em conjunto, “Cotas”), admitindo ainda a emissão de novas séries (“Séries”) de Cotas Seniores, nos termos do seu respectivo Apêndice. As características, os direitos e as condições de emissão, distribuição, subscrição, integralização, remuneração, amortização e resgate das Cotas estão descritos neste Capítulo e nos respectivos Apêndices. 7.3 As Cotas são escriturais, nominativas e correspondem a f rações ideais do patrimônio da Classe, cuja propriedade presume-se: (i) pelo registro do nome do Cotista no livro de registro de Cotistas, enquanto mantidas em conta de depósito mantidas junto ao Escriturador em nome dos respectivos Cotistas, nos termos do Art. 15 da Resolução CVM 175; (ii) pelos controles de titularidade mantidos pelo depositário BTG Pactual SAC: 0800 772 2827 | Ouvidoria: 0800 722 0048 | btgpactual.co m 11</a:t>
            </a:r>
          </a:p>
          <a:p>
            <a:r>
              <a:t>CNPJ 62696791000193 · Classe, subclasse e responsabilidade · Condição: Contradição interna no alcance da responsabilidade limitada. Não apresentar a cláusula de despesas como obrigação irrestrita pacificada.</a:t>
            </a:r>
          </a:p>
          <a:p>
            <a:r>
              <a:t>CNPJ 62696791000193 · Classe, subclasse e responsabilidade · Versão e prevalência: Leitura específica das cláusulas indicadas; condições e conflitos preservados. Seleção documental atual não comprova vigência jurídica por data isolada.</a:t>
            </a:r>
          </a:p>
          <a:p>
            <a:r>
              <a:t>CNPJ 55563624000109 · Classe, subclasse e responsabilidade · Regulamento · ID 1192614 · 2026-04-30 · versão 1 · p. 40 · https://fnet.bmfbovespa.com.br/fnet/publico/visualizarDocumento?id=1192614</a:t>
            </a:r>
          </a:p>
          <a:p>
            <a:r>
              <a:t>CNPJ 55563624000109 · Classe, subclasse e responsabilidade · Excerto da fonte:</a:t>
            </a:r>
          </a:p>
          <a:p>
            <a:r>
              <a:t>(xxiv) Subordinação de determinadas Cotas da Classe Investida a outras subclasses ou séries de  cotas das Classes Investidas aos quais pertencem. A Classe Investida adquirirá apenas cotas  subordinadas mezaninos da Classe Investida, as quais se subordinam às cotas seniores da Classe  Investida para efeitos de resgate. Os resgates de cotas subordinadas mezanino tipicamente têm sua  realização condicionada ainda à manutenção da razão de garantia e à existência de disponibilidades  da Classe Investida. O ADMINISTRADOR, o GESTOR e o CUSTODIANTE e suas respectivas partes  relacionadas, encontram-se impossibilitados de assegurar que a amortização e o resgate das cotas  subordinadas mezanino da Classe Investida que venham a ser adquiridas pela Classe ocorrerão nas  datas originalmente previstas, sendo que, caso tais amortizações e/ou resgates não ocorram, não será  devido pelo FUNDO ou qualquer pessoa, incluindo o ADMINISTRADOR, o GESTOR e o CUSTODIANTE,  do FUNDO ou da Classe Investida qualquer multa ou penalidade, de qualquer natureza. O não resgate  de cotas subordinadas mezanino da Classe Investida detidas pela Classe poderá impactar  negativamente no fluxo de pagamento de resgate da Classe e/ou no valor patrimonial das Cotas da  Classe.</a:t>
            </a:r>
          </a:p>
          <a:p>
            <a:r>
              <a:t>CNPJ 55563624000109 · Classe, subclasse e responsabilidade · Regulamento · ID 1192614 · 2026-04-30 · versão 1 · p. 2 · 1.2 · https://fnet.bmfbovespa.com.br/fnet/publico/visualizarDocumento?id=1192614</a:t>
            </a:r>
          </a:p>
          <a:p>
            <a:r>
              <a:t>CNPJ 55563624000109 · Classe, subclasse e responsabilidade · Excerto da fonte:</a:t>
            </a:r>
          </a:p>
          <a:p>
            <a:r>
              <a:t>1.2 Este regulamento é composto por esta parte geral, um ou mais anexos, conforme o número de classes aqui  previsto e respectivos apêndices relativos a cada subclasse de cotas, conforme aplicável (respectivamente,  “Regulamento”, “Parte Geral”, “Anexos” e “Apêndices”).</a:t>
            </a:r>
          </a:p>
          <a:p>
            <a:r>
              <a:t> Denominação da Classe Anexo  CLASSE ÚNICA DE RESPONSABILIDADE LIMITADA DO  PLGN MARKETPLACE FUNDO DE INVESTIMENTO EM  Anexo Único (“Anexo”)  COTAS DE FUNDO DE INVESTIMENTO EM DIREITOS  CREDITÓRIOS (“Classe” ou “Classe Única”)</a:t>
            </a:r>
          </a:p>
          <a:p>
            <a:r>
              <a:t>CNPJ 55563624000109 · Classe, subclasse e responsabilidade · Regulamento · ID 1192614 · 2026-04-30 · versão 1 · p. 24 · 12.3 · https://fnet.bmfbovespa.com.br/fnet/publico/visualizarDocumento?id=1192614</a:t>
            </a:r>
          </a:p>
          <a:p>
            <a:r>
              <a:t>CNPJ 55563624000109 · Classe, subclasse e responsabilidade · Excerto da fonte:</a:t>
            </a:r>
          </a:p>
          <a:p>
            <a:r>
              <a:t>12.3 Incluem-se entre as obrigações do ADMINISTRADOR, sem prejuízo de outras previstas na regulamentação:</a:t>
            </a:r>
          </a:p>
          <a:p>
            <a:r>
              <a:t> (i) sem prejuízo da observância dos procedimentos relativos às demonstrações contábeis, manter,  separadamente, registros com informações completas sobre toda e qualquer modalidade de negociação  realizada entre o ADMINISTRADOR, GESTOR, CUSTODIANTE, e/ou suas respectivas partes relacionadas,  tais como definidas pelas regras contábeis que tratam desse assunto, de um lado; e a Classe, de outro;</a:t>
            </a:r>
          </a:p>
          <a:p>
            <a:r>
              <a:t> (ii) diligenciar para que sejam mantidos, às suas expensas, atualizados e em perfeita ordem:</a:t>
            </a:r>
          </a:p>
          <a:p>
            <a:r>
              <a:t> (a) o registro de Cotistas;</a:t>
            </a:r>
          </a:p>
          <a:p>
            <a:r>
              <a:t> (b) o livro de atas das Assembleias de Cotistas;</a:t>
            </a:r>
          </a:p>
          <a:p>
            <a:r>
              <a:t> (c) o livro ou lista de presença de Cotistas;</a:t>
            </a:r>
          </a:p>
          <a:p>
            <a:r>
              <a:t> (d) os pareceres do Auditor Independente; e</a:t>
            </a:r>
          </a:p>
          <a:p>
            <a:r>
              <a:t> (e) os registros contábeis referentes às operações e ao patrimônio da Classe;</a:t>
            </a:r>
          </a:p>
          <a:p>
            <a:r>
              <a:t> (iii) pagar a multa cominatória às suas expensas, nos termos da legislação vigente, por cada dia de atraso no  cumprimento dos prazos previstos na regulamentação aplicável;</a:t>
            </a:r>
          </a:p>
          <a:p>
            <a:r>
              <a:t> (iv) elaborar e divulgar as informações periódicas e eventuais da Classe, nos termos deste Anexo e da  regulamentação e da autorregulação em vigor;</a:t>
            </a:r>
          </a:p>
          <a:p>
            <a:r>
              <a:t> (v) manter atualizada junto à CVM a lista de todos os prestadores de serviços contratados pela Classe,  inclusive os Prestadores de Serviços Essenciais, bem como as demais informações cadastrais da Classe e  suas Subclasses;</a:t>
            </a:r>
          </a:p>
          <a:p>
            <a:r>
              <a:t> (vi) manter serviço de atendimento aos Cotistas, responsável pelo esclarecimento de dúvidas e pelo  recebimento de reclamações;</a:t>
            </a:r>
          </a:p>
          <a:p>
            <a:r>
              <a:t> (vii) receber e processar os pedidos de resgate;</a:t>
            </a:r>
          </a:p>
          <a:p>
            <a:r>
              <a:t> (viii) monitorar os Eventos de Verificação do Patrimônio;</a:t>
            </a:r>
          </a:p>
          <a:p>
            <a:r>
              <a:t> (ix) monitorar os Eventos de Avaliação e Eventos de Liquidação;</a:t>
            </a:r>
          </a:p>
          <a:p>
            <a:r>
              <a:t> (x) observar as disposições constantes do Regulamento;</a:t>
            </a:r>
          </a:p>
          <a:p>
            <a:r>
              <a:t> (xi) cumprir as deliberações da Assembleia de Cotistas; e</a:t>
            </a:r>
          </a:p>
          <a:p>
            <a:r>
              <a:t> (xii) observar as disposições do Código ANBIMA e das Regras e Procedimentos ANBIMA</a:t>
            </a:r>
          </a:p>
          <a:p>
            <a:r>
              <a:t>CNPJ 55563624000109 · Classe, subclasse e responsabilidade · Condição: Documentos atuais selecionados no inventário por categoria/escopo; a data documental isolada não comprova vigência jurídica.</a:t>
            </a:r>
          </a:p>
          <a:p>
            <a:r>
              <a:t>CNPJ 55563624000109 · Classe, subclasse e responsabilidade · Versão e prevalência: Documentos atuais selecionados no inventário por categoria/escopo; a data documental isolada não comprova vigência jurídica.</a:t>
            </a:r>
          </a:p>
          <a:p>
            <a:r>
              <a:t>CNPJ 55563624000109 · Classe, subclasse e responsabilidade · Resumo do histórico: {"count": 5, "dates": ["2024-07-03", "2025-01-31", "2026-01-31"], "document_count": 3, "sources": [{"document_id": "1178840", "title": "Demonstrações Financeiras", "reference_date": "2026-01-31", "version": "1", "page": 3, "url": "https://fnet.bmfbovespa.com.br/fnet/publico/visualizarDocumento?id=1178840", "sha256": "c458e98664c5c907ddb5a05a94b120bed4e05295b2bfc420f5ba69af0a229abe"}, {"document_id": "891861", "title": "Demonstrações Financeiras", "reference_date": "2025-01-31", "version": "1", "page": 27, "url": "https://fnet.bmfbovespa.com.br/fnet/publico/visualizarDocumento?id=891861", "sha256": "e9cb9e6ddbe505fe068cfcac33605165a98313489de0d3ce6d4d238263c3f3e7"}, {"document_id": "703295", "title": "Anúncio de Início", "reference_date": "2024-07-03", "version": "2", "page": 1, "url": "https://fnet.bmfbovespa.com.br/fnet/publico/visualizarDocumento?id=703295", "sha256": "12322b6dbf75e673723bd60910373db249451b72666792e18e0c7b6128f4608a"}], "reference": {"path": "history/55563624000109.json", "criterion_id": "perimeter", "total_count": 5, "preview_count": 3, "full_text_deferred": true, "sha256": "7835d573fb58a3c19adf5b8ecc2aee2bdbb9a88f7a0c0209b5f262b64c7522e3"}}</a:t>
            </a:r>
          </a:p>
          <a:p>
            <a:r>
              <a:t>CNPJ 62552447000120 · Classe, subclasse e responsabilidade · Regulamento · ID 1200623 · 2026-05-21 · versão 1 · p. 1 · 1.3 · https://fnet.bmfbovespa.com.br/fnet/publico/visualizarDocumento?id=1200623</a:t>
            </a:r>
          </a:p>
          <a:p>
            <a:r>
              <a:t>CNPJ 62552447000120 · Classe, subclasse e responsabilidade · Excerto da fonte:</a:t>
            </a:r>
          </a:p>
          <a:p>
            <a:r>
              <a:t>1.3 Durante o seu prazo de duração, o Fundo, por ato conjunto dos Prestadores de Serviços Essenciais,  poderá constituir diferentes Classes e Subclasses , sendo que cada Classe terá patrimônio segregado e</a:t>
            </a:r>
          </a:p>
          <a:p>
            <a:r>
              <a:t>CNPJ 62552447000120 · Classe, subclasse e responsabilidade · Regulamento · ID 1200623 · 2026-05-21 · versão 1 · p. 1 · 1.1 · https://fnet.bmfbovespa.com.br/fnet/publico/visualizarDocumento?id=1200623</a:t>
            </a:r>
          </a:p>
          <a:p>
            <a:r>
              <a:t>CNPJ 62552447000120 · Classe, subclasse e responsabilidade · Excerto da fonte:</a:t>
            </a:r>
          </a:p>
          <a:p>
            <a:r>
              <a:t>1.1 V CDT 1 FUNDO DE INVESTIMENTO EM DIREITOS CREDITÓRIOS RESPONSABILIDADE  LIMITADA (“Fundo”), regido pela Lei n.º 10.406, de 10 de janeiro de 2002, conforme alterada (“Código  Civil”), pela Resolução da Comissão de Valores Mobiliários (“CVM”) n.º 175, de 23 de dezembro de  2022, conf orme alterada (“Resolução CVM 175”), que inclui sua Parte Geral (“Parte Geral da  Resolução CVM 175”) e seu Anexo Normativo II (“Anexo Normativo II”) terá como principais  características:</a:t>
            </a:r>
          </a:p>
          <a:p>
            <a:r>
              <a:t>CNPJ 62552447000120 · Classe, subclasse e responsabilidade · Regulamento · ID 1200623 · 2026-05-21 · versão 1 · p. 1 · https://fnet.bmfbovespa.com.br/fnet/publico/visualizarDocumento?id=1200623</a:t>
            </a:r>
          </a:p>
          <a:p>
            <a:r>
              <a:t>CNPJ 62552447000120 · Classe, subclasse e responsabilidade · Excerto da fonte:</a:t>
            </a:r>
          </a:p>
          <a:p>
            <a:r>
              <a:t>CLASSE ÚNICA DO V CDT 1 FUNDO DE  INVESTIMENTO EM DIREITOS CREDITÓRIOS Anexo I (“Anexo I”)  RESPONSABILIDADE LIMITADA</a:t>
            </a:r>
          </a:p>
          <a:p>
            <a:r>
              <a:t>CNPJ 62552447000120 · Classe, subclasse e responsabilidade · Condição: Documentos atuais selecionados no inventário por categoria/escopo; a data documental isolada não comprova vigência jurídica.</a:t>
            </a:r>
          </a:p>
          <a:p>
            <a:r>
              <a:t>CNPJ 62552447000120 · Classe, subclasse e responsabilidade · Versão e prevalência: Documentos atuais selecionados no inventário por categoria/escopo; a data documental isolada não comprova vigência jurídica.</a:t>
            </a:r>
          </a:p>
          <a:p>
            <a:r>
              <a:t>CNPJ 62552447000120 · Classe, subclasse e responsabilidade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"perimeter", "total_count": 1, "preview_count": 1, "full_text_deferred": true, "sha256": "d95db8c0613d67ee84118c734588665265ea6b02f86a0318d6a844cbe1d0f82f"}}</a:t>
            </a:r>
          </a:p>
          <a:p>
            <a:r>
              <a:t>CNPJ 63953620000165 · Classe, subclasse e responsabilidade · Anexo ao Regulamento · ID 1222863 · 02/06/2026 · versão AnexoConsignadoPrivado02/06/2026 · p. 3 · 2.1 · https://fnet.bmfbovespa.com.br/fnet/publico/visualizarDocumento?id=1222863</a:t>
            </a:r>
          </a:p>
          <a:p>
            <a:r>
              <a:t>CNPJ 63953620000165 · Classe, subclasse e responsabilidade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deverá adotar as medidas aplicáveis previstas na Resolução CVM 175. 2.3 Serão aplicáveis as disposições da Resolução CVM 175 no que se refere aos procedimentos a serem adotados pelo Administrador na hipótese de Patrimônio Líquido negativo da Classe. BTG Pactual SAC: 0800 772 28 27 - Ouvidoria: 0800 722 00 48 - btgpactual.com</a:t>
            </a:r>
          </a:p>
          <a:p>
            <a:r>
              <a:t>CNPJ 63953620000165 · Classe, subclasse e responsabilidade · Anexo ao Regulamento · ID 1222863 · 02/06/2026 · versão AnexoConsignadoPrivado02/06/2026 · p. 10 · 6.7.1 · https://fnet.bmfbovespa.com.br/fnet/publico/visualizarDocumento?id=1222863</a:t>
            </a:r>
          </a:p>
          <a:p>
            <a:r>
              <a:t>CNPJ 63953620000165 · Classe, subclasse e responsabilidade · Excerto da fonte:</a:t>
            </a:r>
          </a:p>
          <a:p>
            <a:r>
              <a:t>6.7.1 As Chamadas de Capital para a realização de investimentos serão realizadas a qualquer momento durante o Período de Investimento e estarão limitadas ao valor do capital subscrito de cada Cotista. As Chamadas de Capital para o pagamento de despesas e encargos do Fundo, com exceção de despesas relacionadas à instrumentos de derivativos e/ou Encargos não previstos no âmbito deste regulamento, poderão ser realizadas a qualquer momento durante o Prazo de Duração, mas não estarão limitadas ao valor do capital subscrito de cada Cotista. 6.7.2 Ao receber uma Chamada d</a:t>
            </a:r>
          </a:p>
          <a:p>
            <a:r>
              <a:t>CNPJ 63953620000165 · Classe, subclasse e responsabilidade · Condição: Alcance das chamadas além do capital comprometido não resolvido textualmente; não certificar limitação apenas por título do fundo.</a:t>
            </a:r>
          </a:p>
          <a:p>
            <a:r>
              <a:t>CNPJ 63953620000165 · Classe, subclasse e responsabilidade · Versão e prevalência: Leitura específica das cláusulas indicadas; condições e conflitos preservados. Seleção documental atual não comprova vigência jurídica por data isolada.</a:t>
            </a:r>
          </a:p>
          <a:p>
            <a:r>
              <a:t>CNPJ 63953620000165 · Classe, subclasse e responsabilidade · Resumo do histórico: {"count": 4, "dates": ["2026-04-28", "2026-05-08", "2026-05-15"], "document_count": 3, "sources": [{"document_id": "1327859", "title": "Demonstrações Financeiras - Fusão, cisão e incorporação", "reference_date": "2026-05-15", "version": "1", "page": 1, "url": "https://fnet.bmfbovespa.com.br/fnet/publico/visualizarDocumento?id=1327859", "sha256": "dca1c68babb97f887528c3e2e47596a9c30f507b067981a35655b2f2da9c8054"}, {"document_id": "1298691", "title": "Demonstrações Financeiras - Fusão, cisão e incorporação", "reference_date": "2026-05-08", "version": "1", "page": 1, "url": "https://fnet.bmfbovespa.com.br/fnet/publico/visualizarDocumento?id=1298691", "sha256": "58c570d9b8d4d265330d3db3ea81c435b8e44a6dab4002aa37790652a1ee9819"}, {"document_id": "1205431", "title": "AGE", "reference_date": "2026-04-28", "version": "1", "page": 1, "clause": "4.1", "url": "https://fnet.bmfbovespa.com.br/fnet/publico/visualizarDocumento?id=1205431", "sha256": "e0b59c701c5d0dbf60de698ea7664d442240863b7043bacdb334ce484188b2ac"}], "reference": {"path": "history/63953620000165.json", "criterion_id": "perimeter", "total_count": 4, "preview_count": 3, "full_text_deferred": true, "sha256": "a7b89077f5e21098c2d601c303faabc3ff6b9729f89d8afecdc60fe1404720c1"}}</a:t>
            </a:r>
          </a:p>
          <a:p>
            <a:r>
              <a:t>CNPJ 54871427000194 · Adaptação à Resolução CVM 175 · Regulamento · ID 670691 · 28/04/2024 · versão Regulamento — referência 28/04/2024 · p. 1 · Parte Geral, 1.1 · https://fnet.bmfbovespa.com.br/fnet/publico/visualizarDocumento?id=670691</a:t>
            </a:r>
          </a:p>
          <a:p>
            <a:r>
              <a:t>CNPJ 54871427000194 · Adaptação à Resolução CVM 175 · Excerto da fonte:</a:t>
            </a:r>
          </a:p>
          <a:p>
            <a:r>
              <a:t>1.1 CONSIGNADO DELTA RECEIVABLES I FUNDO DE INVESTIMENTO EM DIREITOS CREDITÓRIOS (“FUNDO”), regido pela Lei nº 10.406, de 10 de janeiro de 2002, conf orme alterada (“Código Civil”), pela parte geral e o Anexo Normativo II da Resolução nº 175, de 23 de dezembro de 2022, conforme alterada, da Comissão de Valores Mobiliários (respectivamente, “CVM” e “Resolução CVM 175”), terá como principais características: Classe de Cotas Classe única. Indeterminado, exceto se de outra f orma vier a ser deliberado pelos cotistas Prazo de Duração reunidos em assembleia geral de cotistas. BTG Pactual Serviços Financeiros S.A. Distribuidora de Títulos e Valores Mobiliários, instituição f inanceira, com sede na Cidade e Estado do Rio de Janeiro, na Praia de Botafogo, nº 501, 5º andar (parte), Torre Corcovado, ADMINISTRADOR Botafogo, CEP 22250-040, inscrita no CNPJ sob o nº 59.281.253/0001-23 e credenciada como administradora de carteira, de acordo com o Ato Declaratório CVM nº</a:t>
            </a:r>
          </a:p>
          <a:p>
            <a:r>
              <a:t>CNPJ 54871427000194 · Adaptação à Resolução CVM 175 · Regulamento · ID 670691 · 28/04/2024 · versão Regulamento — referência 28/04/2024 · p. 8 · Anexo I, 2.1 · https://fnet.bmfbovespa.com.br/fnet/publico/visualizarDocumento?id=670691</a:t>
            </a:r>
          </a:p>
          <a:p>
            <a:r>
              <a:t>CNPJ 54871427000194 · Adaptação à Resolução CVM 175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deverá adotar as medidas aplicáveis previstas na Resolução CVM 175. 2.3 Serão aplicáveis as disposições da Resolução CVM 175 no que se refere aos procedimentos a serem adotados pelo ADMINISTRADOR na hipótese de Patrimônio Líquido negativo da Classe. CAPÍTULO 3 – ENCARGOS DA CLASSE 3.1 A Classe terá Encargos que lhe poderão ser debitados diretamente, nos termos do art. 53 do Anexo Normativo II da Resolução CVM 175, além de encargos adicionais, e quaisquer despesas que não constituam Encargos correm por conta do Prestador de Serviço Essencial que a tiver contratado: (i) despesas com a contratação de consultoria especializada, conf orme o caso; (ii) despesas com a contratação do Agente de Cobrança, conf orme aplicável; (iii) Taxa Máxima de Custódia; (iv) despesas com registro de Direitos Creditórios; (v) despesas com serviços de originação, cobranças ordinária e/ou extraordinária dos D</a:t>
            </a:r>
          </a:p>
          <a:p>
            <a:r>
              <a:t>CNPJ 54871427000194 · Adaptação à Resolução CVM 175 · Versão e prevalência: Leitura específica das cláusulas indicadas; condições e conflitos preservados. Seleção documental atual não comprova vigência jurídica por data isolada.</a:t>
            </a:r>
          </a:p>
          <a:p>
            <a:r>
              <a:t>CNPJ 54871427000194 · Adaptação à Resolução CVM 175 · Resumo do histórico: {"count": 2, "dates": ["2024-04-19"], "document_count": 2, "sources": [{"document_id": "670687", "title": "Instrumento Particular de Constituição/Encerramento do Fundo", "reference_date": "2024-04-19", "version": "1", "page": 1, "url": "https://fnet.bmfbovespa.com.br/fnet/publico/visualizarDocumento?id=670687", "sha256": "999f2a47d39f7022b0fcee3d16fd1db33948537b897e92c4c9e14b436bf5eb96"}, {"document_id": "670689", "title": "Regulamento", "reference_date": "2024-04-19", "version": "1", "page": 11, "clause": "4.10", "url": "https://fnet.bmfbovespa.com.br/fnet/publico/visualizarDocumento?id=670689", "sha256": "891bc9bc5d87bbc02ec139077a84d2702eb81ea02035fb71d24f5b8366b94a0b"}], "reference": {"path": "history/54871427000194.json", "criterion_id": "res175", "total_count": 2, "preview_count": 2, "full_text_deferred": true, "sha256": "35d7cd99be50c7287c9fb675cf4f2e736002315295a225a9efa79c8d9186d874"}}</a:t>
            </a:r>
          </a:p>
          <a:p>
            <a:r>
              <a:t>CNPJ 60010416000112 · Adaptação à Resolução CVM 175 · Regulamento · ID 1051393 · 09/10/2025 · versão Regulamento09/10/2025 · p. 8 · AnexoI1.2 · https://fnet.bmfbovespa.com.br/fnet/publico/visualizarDocumento?id=1051393</a:t>
            </a:r>
          </a:p>
          <a:p>
            <a:r>
              <a:t>CNPJ 60010416000112 · Adaptação à Resolução CVM 175 · Excerto da fonte:</a:t>
            </a:r>
          </a:p>
          <a:p>
            <a:r>
              <a:t>Tipo de Condomínio Fechado. Prazo de Duração Indeterminado. Classe de Investimento Não. em Cotas Tipo “Financeiro”. Classificação ANBIMA Foco de atuação “Créditos Consignados”. O objetivo da classe é proporcionar aos seus Cotistas a valorização de suas Cotas por meio da aplicação de seu Patrimônio Líquido na aquisição de: (i) Direitos Creditórios que atendam aos Critérios de Elegibilidade, estabelecidos no Ca</a:t>
            </a:r>
          </a:p>
          <a:p>
            <a:r>
              <a:t>CNPJ 60010416000112 · Adaptação à Resolução CVM 175 · Regulamento · ID 1051393 · 09/10/2025 · versão Regulamento09/10/2025 · p. 9 · AnexoI2.1–2.3 · https://fnet.bmfbovespa.com.br/fnet/publico/visualizarDocumento?id=1051393</a:t>
            </a:r>
          </a:p>
          <a:p>
            <a:r>
              <a:t>CNPJ 60010416000112 · Adaptação à Resolução CVM 175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o Administrador deverá adotar as medidas aplicáveis previstas na Resolução CVM 175 2.3 Serão aplicáveis as disposições da Resolução CVM 175 no que se ref ere aos procedimentos a serem adotados pelo Administrador na hipótese de Patrimônio Líquido negativo da Classe, visando a liquidação da Classe e que não remanesçam</a:t>
            </a:r>
          </a:p>
          <a:p>
            <a:r>
              <a:t>CNPJ 60010416000112 · Adaptação à Resolução CVM 175 · Versão e prevalência: Leitura específica das cláusulas indicadas; condições e conflitos preservados. Seleção documental atual não comprova vigência jurídica por data isolada.</a:t>
            </a:r>
          </a:p>
          <a:p>
            <a:r>
              <a:t>CNPJ 60010416000112 · Adaptação à Resolução CVM 175 · Resumo do histórico: {"count": 2, "dates": ["2025-03-20"], "document_count": 2, "sources": [{"document_id": "993785", "title": "Instrumento Particular de Constituição/Encerramento do Fundo", "reference_date": "2025-03-20", "version": "1", "page": 1, "url": "https://fnet.bmfbovespa.com.br/fnet/publico/visualizarDocumento?id=993785", "sha256": "0826e0eae2c51afabf59bbc49fc7647598d03da5ca6de0f9725850a8bd6af457"}, {"document_id": "993786", "title": "Regulamento", "reference_date": "2025-03-20", "version": "1", "page": 12, "clause": "4.8", "url": "https://fnet.bmfbovespa.com.br/fnet/publico/visualizarDocumento?id=993786", "sha256": "fd0fdd369a195510d81f81f505195a0b09e5f43522a990afa7d58c4f872921c8"}], "reference": {"path": "history/60010416000112.json", "criterion_id": "res175", "total_count": 2, "preview_count": 2, "full_text_deferred": true, "sha256": "8e2bd813f4c51cf01f6bfaad164bafe69d2bbb192f753eac92da3a01c2e63046"}}</a:t>
            </a:r>
          </a:p>
          <a:p>
            <a:r>
              <a:t>CNPJ 62696791000193 · Adaptação à Resolução CVM 175 · AGE · ID 1143319 · 20/03/2026 10:00 · versão AGE — referência 20/03/2026 10:00 · p. 1 · AGC, 4.1(a)–(b) · https://fnet.bmfbovespa.com.br/fnet/publico/visualizarDocumento?id=1143319</a:t>
            </a:r>
          </a:p>
          <a:p>
            <a:r>
              <a:t>CNPJ 62696791000193 · Adaptação à Resolução CVM 175 · Excerto da fonte:</a:t>
            </a:r>
          </a:p>
          <a:p>
            <a:r>
              <a:t>4.1. Aprovar a transformação do Fundo, bem como de sua Classe única, em um fundo de investimento nas cadeias produtivas do agronegócio (“Transformação”), nos termos da parte geral e do Anexo Normativo VI da Resolução nº 175 da CVM, de 23 de dezembro de 2022, conforme alterada (“Resolução CVM 175”). a. Aprovar a alteração da denominação do Fundo, que passará a vigorar como BTG PACTUAL CERES CONFINA FUNDO DE INVESTIMENTO NAS CADEIAS PRODUTIVAS DO AGRONEGÓCIO RESPONSABILIDADE LIMITADA, e de sua Classe única, que passará a vigorar como CLASSE ÚNICA DO BTG PACTUAL CERES CONFINA FUNDO DE INVESTIMENTO NAS CADEIAS PRODUTIVAS DO AGRONEGÓCIO RESPONSABILIDADE LIMITADA (“Classe”); b. Aprovar a reforma integral do Regulamento do Fundo, bem como do Anexo descritivo da Classe, para realizar todos os ajustes necessários à implementação da Transformação, incluindo, mas não se limitando, a política de investimentos, o regime tributário e os fatores de risco aplicáveis, conforme itens abaixo; c. Aprovar a alteração do quadro de características gerais do Fundo, considerando a contratação do Cogestor pelo Gestor, nos termos do artigo 52, II, da parte geral da Resolução CVM 175 e no co</a:t>
            </a:r>
          </a:p>
          <a:p>
            <a:r>
              <a:t>CNPJ 62696791000193 · Adaptação à Resolução CVM 175 · AGE · ID 1143319 · 20/03/2026 10:00 · versão AGE — referência 20/03/2026 10:00 · p. 3 · AGC 20/03/2026, 4.1(j)–(k) · https://fnet.bmfbovespa.com.br/fnet/publico/visualizarDocumento?id=1143319</a:t>
            </a:r>
          </a:p>
          <a:p>
            <a:r>
              <a:t>CNPJ 62696791000193 · Adaptação à Resolução CVM 175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Adaptação à Resolução CVM 175 · Regulamento · ID 1143317 · 20/03/2026 · versão Regulamento — referência 20/03/2026 · p. 1 · Parte Geral, 1.1 · https://fnet.bmfbovespa.com.br/fnet/publico/visualizarDocumento?id=1143317</a:t>
            </a:r>
          </a:p>
          <a:p>
            <a:r>
              <a:t>CNPJ 62696791000193 · Adaptação à Resolução CVM 175 · Excerto da fonte:</a:t>
            </a:r>
          </a:p>
          <a:p>
            <a:r>
              <a:t>1.1 BTG PACTUAL CERES CONFINA FUNDO DE INVESTIMENTO NAS CADEIAS PRODUTIVAS DO AGRONEGÓCIO RESPONSABILIDADE LIMITADA (“Fundo”), regido pela Lei nº 10.406, de 10 de janeiro de 2002, conf orme alterada (“Código Civil”), pela Lei n.º 8.668, de 25 de junho de 1993, conf orme alterada (“Lei 8.668”), pela parte geral, Anexo Normativo VI e, subsidiariamente, Anexo Normativo II da Resolução nº 175, de 23 de dezembro de 2022, conforme alterada, da Comissão de Valores Mobiliários (respectivamente, “Resolução CVM 175” e “CVM”), terá como principais características: Classe Classe única. Indeterminado, exceto se de outra f orma vier a ser deliberado pelos Cotistas Prazo de Duração reunidos em assembleia geral de Cotistas (“Prazo de Duração”). BTG Pactual Serviços Financeiros S.A. Distribuidora de Títulos e Valores Mobiliários, sociedade anônima, com sede no município e Estado do Rio de Janeiro, na Praia de Botafogo, nº 501, 5º andar (parte), Torre Corcovado, Administrador Botafogo, CEP 22250-040, inscrita no CNPJ sob o nº 59.281.253/0001-23 e</a:t>
            </a:r>
          </a:p>
          <a:p>
            <a:r>
              <a:t>CNPJ 62696791000193 · Adaptação à Resolução CVM 175 · Condição: Posição comumfev/26 é anterior à transformação e demanda o regime/regulamento anterior.</a:t>
            </a:r>
          </a:p>
          <a:p>
            <a:r>
              <a:t>CNPJ 62696791000193 · Adaptação à Resolução CVM 175 · Versão e prevalência: Leitura específica das cláusulas indicadas; condições e conflitos preservados. Seleção documental atual não comprova vigência jurídica por data isolada.</a:t>
            </a:r>
          </a:p>
          <a:p>
            <a:r>
              <a:t>CNPJ 55563624000109 · Adaptação à Resolução CVM 175 · Regulamento · ID 1192614 · 2026-04-30 · versão 1 · p. 13 · 4.11 · https://fnet.bmfbovespa.com.br/fnet/publico/visualizarDocumento?id=1192614</a:t>
            </a:r>
          </a:p>
          <a:p>
            <a:r>
              <a:t>CNPJ 55563624000109 · Adaptação à Resolução CVM 175 · Excerto da fonte:</a:t>
            </a:r>
          </a:p>
          <a:p>
            <a:r>
              <a:t>4.11 Nos termos dos artigos 45, parágrafo 7º, e 47 parágrafo único do Anexo Normativo II à Resolução CVM 175, uma  vez que as Cotas são destinadas exclusivamente a Investidores Profissionais, a Classe poderá ter até 100% (cem  por cento) de seu Patrimônio Líquido alocado em Cotas da Classe Investida, as quais são emitidas pela Classe  Investida.</a:t>
            </a:r>
          </a:p>
          <a:p>
            <a:r>
              <a:t>CNPJ 55563624000109 · Adaptação à Resolução CVM 175 · Regulamento · ID 1192614 · 2026-04-30 · versão 1 · p. 31 · 15.1.1 · https://fnet.bmfbovespa.com.br/fnet/publico/visualizarDocumento?id=1192614</a:t>
            </a:r>
          </a:p>
          <a:p>
            <a:r>
              <a:t>CNPJ 55563624000109 · Adaptação à Resolução CVM 175 · Excerto da fonte:</a:t>
            </a:r>
          </a:p>
          <a:p>
            <a:r>
              <a:t>15.1.1 Riscos de Crédito:</a:t>
            </a:r>
          </a:p>
          <a:p>
            <a:r>
              <a:t> (i) Risco de concentração na Classe Investida. Nos termos do presente Regulamento, a Classe  deverá manter alocado, no mínimo, 67% (sessenta e sete por cento) do Patrimônio Líquido nas Cotas  da Classe Investida. Alterações na condição econômico-financeira e na expectativa de desempenho ou  resultados da Classe Investida poderão, isolada ou cumulativamente, afetar negativamente o  rendimento do investimento nas Cotas, de forma mais severa do que se a Classe adotasse uma  estratégia de investimento de maior diversificação. O risco associado às aplicações de qualquer fundo  de investimento é diretamente proporcional à concentração da sua carteira, sendo que, quanto maior  essa concentração, maior será a sua vulnerabilidade.</a:t>
            </a:r>
          </a:p>
          <a:p>
            <a:r>
              <a:t> (ii) Risco relativo à Classe Investida. Nos termos deste Anexo, a Classe deverá manter alocado, no  mínimo, 67% (sessenta e sete por cento) do Patrimônio Líquido em Cotas da Classe Investida. Os  investimentos realizados pela Classe Investida poderão estar sujeitos a flutuações típicas do mercado,  risco de crédito, risco sistêmico, condições adversas de liquidez e negociação atípica nos mercados de  atuação, bem como outros riscos diversos. Este Anexo não contém a descrição de todas as  características, incluindo os riscos, da Classe Investida.</a:t>
            </a:r>
          </a:p>
          <a:p>
            <a:r>
              <a:t> (iii) Risco Relativo ao Pagamento de Encargos da Classe Investida. Tendo em vista a estrutura da  Classe Investida – que emitiu cotas sêniores, cotas subordinadas mezanino e cotas subordinadas júnior  – em situação ordinária os encargos da Classe Investida são arcados pelas cotas subordinadas júnior,  que se subordinam às cotas subordinadas mezanino e às cotas sêniores para fins de amortização,  resgate e distribuição de rendimentos, não impactando, portanto, as Cotas da Classe Investida. Não  obstante o funcionamento da Classe Investida em situação ordinária, em cenários extraordinários, na  eventualidade do valor das cotas subordinadas júnior ficar reduzido a zero ou a valor negativo, os  encargos da Classe Investida conforme previstos em seu regulamento, inclusive mas não se limitando  as remunerações dos prestadores de serviços essenciais, passarão a ser arcados pelas cotas  subordinadas mezanino (que são as Cotas da Classe Investida), impactando no valor do investimento  da Classe na Classe Investida, e consequentemente, o investimento dos Cotistas na Classe.</a:t>
            </a:r>
          </a:p>
          <a:p>
            <a:r>
              <a:t> (iv) Riscos referentes à carteira da Classe Investida. Na forma do Anexo Normativo II da Resolução  CVM 175, a Classe Investida investe, direta ou indiretamente, no mínimo, 67% (sessenta e sete por  cento) do seu patrimônio em direitos creditórios originados pela Mercado Pago. O investimento em tais  direitos creditórios está sujeito a fatores de risco específicos, conforme detalhados no regulamento da  Classe Investida, incluindo, mas não se limitando a:</a:t>
            </a:r>
          </a:p>
          <a:p>
            <a:r>
              <a:t> (a) Risco de liquidez dos direitos creditórios. O investimento da Classe Investida em direitos  creditórios apresenta peculiaridades em relação às aplicações usuais da maioria dos  fundos de investimento brasileiros, haja vista que não existe, no Brasil, mercado  secundário com liquidez para tais direitos creditórios. Caso a Classe Investida precise  vender os direitos creditórios adquiridos, poderá não haver mercado comprador para  tais créditos, bem como o preço de alienação de tais direitos creditórios poderá refletir  essa falta de liquidez, causando perda ao patrimônio da Classe Investida e,  consequentemente, à Classe.</a:t>
            </a:r>
          </a:p>
          <a:p>
            <a:r>
              <a:t>CNPJ 55563624000109 · Adaptação à Resolução CVM 175 · Regulamento · ID 1192614 · 2026-04-30 · versão 1 · p. 28 · 13.2 · https://fnet.bmfbovespa.com.br/fnet/publico/visualizarDocumento?id=1192614</a:t>
            </a:r>
          </a:p>
          <a:p>
            <a:r>
              <a:t>CNPJ 55563624000109 · Adaptação à Resolução CVM 175 · Excerto da fonte:</a:t>
            </a:r>
          </a:p>
          <a:p>
            <a:r>
              <a:t>13.2 Em condições ordinárias, as Cotas da Classe Investida não pagarão remuneração aos prestadores de serviços  essenciais da Classe Investida, nos termos de seu regulamento. Não obstante, em cenário extraordinário  conforme descrito no item 15.1.1 (iii), e para fins de atendimento ao artigo 98 da parte geral da Resolução CVM  175, a taxa máxima de administração corresponderá ao valor da Taxa Mínima de Administração acrescida de até  0,10% (dez centésimos por cento) ao ano incidente sobre o patrimônio líquido da Classe Investida,  compreendendo a taxa de administração da Classe Investida geridos por partes relacionadas ao GESTOR, cujas  cotas não estão admitidas à negociação em mercado organizado, conforme prevista no regulamento da Classe  Investida (“Taxa Máxima de Administração” e, quando referida em conjunto com a Taxa Mínima de  Administração, como “Taxa de Administração”). Caso a taxa de administração da Classe Investida não se  enquadre no disposto acima, estará disposta no regulamento da Classe Investida.</a:t>
            </a:r>
          </a:p>
          <a:p>
            <a:r>
              <a:t>CNPJ 55563624000109 · Adaptação à Resolução CVM 175 · Condição: Documentos atuais selecionados no inventário por categoria/escopo; a data documental isolada não comprova vigência jurídica.</a:t>
            </a:r>
          </a:p>
          <a:p>
            <a:r>
              <a:t>CNPJ 55563624000109 · Adaptação à Resolução CVM 175 · Versão e prevalência: Documentos atuais selecionados no inventário por categoria/escopo; a data documental isolada não comprova vigência jurídica.</a:t>
            </a:r>
          </a:p>
          <a:p>
            <a:r>
              <a:t>CNPJ 55563624000109 · Adaptação à Resolução CVM 175 · Resumo do histórico: {"count": 3, "dates": ["2024-07-03", "2025-01-31", "2026-01-31"], "document_count": 3, "sources": [{"document_id": "1178840", "title": "Demonstrações Financeiras", "reference_date": "2026-01-31", "version": "1", "page": 29, "url": "https://fnet.bmfbovespa.com.br/fnet/publico/visualizarDocumento?id=1178840", "sha256": "c458e98664c5c907ddb5a05a94b120bed4e05295b2bfc420f5ba69af0a229abe"}, {"document_id": "891861", "title": "Demonstrações Financeiras", "reference_date": "2025-01-31", "version": "1", "page": 30, "url": "https://fnet.bmfbovespa.com.br/fnet/publico/visualizarDocumento?id=891861", "sha256": "e9cb9e6ddbe505fe068cfcac33605165a98313489de0d3ce6d4d238263c3f3e7"}, {"document_id": "691674", "title": "Instrumento Particular de Emissão de Cotas", "reference_date": "2024-07-03", "version": "1", "page": 1, "url": "https://fnet.bmfbovespa.com.br/fnet/publico/visualizarDocumento?id=691674", "sha256": "78bf7b350f1785beae5f43bd209b5ed19e863cb9a2cff01542aac11dd63ca554"}], "reference": {"path": "history/55563624000109.json", "criterion_id": "res175", "total_count": 3, "preview_count": 3, "full_text_deferred": true, "sha256": "7835d573fb58a3c19adf5b8ecc2aee2bdbb9a88f7a0c0209b5f262b64c7522e3"}}</a:t>
            </a:r>
          </a:p>
          <a:p>
            <a:r>
              <a:t>CNPJ 62552447000120 · Adaptação à Resolução CVM 175 · Regulamento · ID 1200623 · 21/05/2026 · versão Consolidado21/05/2026 aprovado pelo ato1200625 · p. 1 · ParteGeral1.1 · https://fnet.bmfbovespa.com.br/fnet/publico/visualizarDocumento?id=1200623</a:t>
            </a:r>
          </a:p>
          <a:p>
            <a:r>
              <a:t>CNPJ 62552447000120 · Adaptação à Resolução CVM 175 · Excerto da fonte:</a:t>
            </a:r>
          </a:p>
          <a:p>
            <a:r>
              <a:t>1.1 V CDT 1 FUNDO DE INVESTIMENTO EM DIREITOS CREDITÓRIOS RESPONSABILIDADE LIMITADA (“Fundo”), regido pela Lei n.º 10.406, de 10 de janeiro de 2002, conforme alterada (“Código Civil”), pela Resolução da Comissão de Valores Mobiliários (“CVM”) n.º 175, de 23 de dezembro de 2022, conf orme alterada (“Resolução CVM 175”), que inclui sua Parte Geral (“Parte Geral da Resolução CVM 175”) e seu Anexo Normativo II (“Anexo Normativo II”) terá como principais características: Classe de Cotas Classe única. Indeterminado, exceto se de outra forma vier a ser deliberado pelos titulares</a:t>
            </a:r>
          </a:p>
          <a:p>
            <a:r>
              <a:t>CNPJ 62552447000120 · Adaptação à Resolução CVM 175 · Regulamento · ID 1200623 · 21/05/2026 · versão Consolidado21/05/2026 aprovado pelo ato1200625 · p. 2 · ParteGeral1.6(v) · https://fnet.bmfbovespa.com.br/fnet/publico/visualizarDocumento?id=1200623</a:t>
            </a:r>
          </a:p>
          <a:p>
            <a:r>
              <a:t>CNPJ 62552447000120 · Adaptação à Resolução CVM 175 · Excerto da fonte:</a:t>
            </a:r>
          </a:p>
          <a:p>
            <a:r>
              <a:t>V CDT 1 FUNDO DE INVESTIMENTO EM DIREITOS CREDITÓRIOS RESPONSABILIDADE LIMITADA direitos e obrigações distintos das demais Classes, nos termos do art. 5º da Parte Geral da Resolução CVM 175. 1.4 O Anexo de cada classe de Cotas (“Classe”), conforme aplicável, dispõe, sem prejuízo de outros requisitos e inf ormações previstos na regulamentação, sobre: (i) características gerais, incluindo a indicação dos demais prestadores de serviços; (ii) responsabilidade dos Cotistas e regime de insolvência; (iii) características, direitos, condições de emissão, subscrição, integralização,</a:t>
            </a:r>
          </a:p>
          <a:p>
            <a:r>
              <a:t>CNPJ 62552447000120 · Adaptação à Resolução CVM 175 · Regulamento · ID 1200623 · 21/05/2026 · versão Consolidado21/05/2026 aprovado pelo ato1200625 · p. 16 · AnexoI5.1 · https://fnet.bmfbovespa.com.br/fnet/publico/visualizarDocumento?id=1200623</a:t>
            </a:r>
          </a:p>
          <a:p>
            <a:r>
              <a:t>CNPJ 62552447000120 · Adaptação à Resolução CVM 175 · Excerto da fonte:</a:t>
            </a:r>
          </a:p>
          <a:p>
            <a:r>
              <a:t>5.1 A Classe não possui Subclasse. As características, os direitos e as condições de emissão, distribuição, subscrição, integralização, remuneração, Amortização e resgate das Cotas estão descritos neste Capítulo e no Capítulo 6. 5.1.1 Não obstante, por deliberação conjunta dos Prestadores de Serviços Essenciais e mediante aprovação em Assembleia Especial, poderá haver a divisão de Classes em Subclasses, nos termos da Resolução CVM 175. Após a primeira emissão de Cotas, novas emissões de Cotas (de quaisquer Subclasses) dependem de aprovação dos Cotistas. 5.2 As Cotas são escrit</a:t>
            </a:r>
          </a:p>
          <a:p>
            <a:r>
              <a:t>CNPJ 62552447000120 · Adaptação à Resolução CVM 175 · Versão e prevalência: Leitura específica das cláusulas indicadas; condições e conflitos preservados. Seleção documental atual não comprova vigência jurídica por data isolada.</a:t>
            </a:r>
          </a:p>
          <a:p>
            <a:r>
              <a:t>CNPJ 62552447000120 · Adaptação à Resolução CVM 175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"res175", "total_count": 1, "preview_count": 1, "full_text_deferred": true, "sha256": "d95db8c0613d67ee84118c734588665265ea6b02f86a0318d6a844cbe1d0f82f"}}</a:t>
            </a:r>
          </a:p>
          <a:p>
            <a:r>
              <a:t>CNPJ 63953620000165 · Adaptação à Resolução CVM 175 · Anexo ao Regulamento · ID 1222863 · 02/06/2026 · versão AnexoConsignadoPrivado02/06/2026 · p. 1 · AnexoI1.1 · https://fnet.bmfbovespa.com.br/fnet/publico/visualizarDocumento?id=1222863</a:t>
            </a:r>
          </a:p>
          <a:p>
            <a:r>
              <a:t>CNPJ 63953620000165 · Adaptação à Resolução CVM 175 · Excerto da fonte:</a:t>
            </a:r>
          </a:p>
          <a:p>
            <a:r>
              <a:t>1.1 As principais características da Classe Consignado Privado (para fins deste Anexo, “Classe”) estão descritas abaixo: Tipo de Condomínio Fechado. Indeterminado, exceto se de outra forma vier a ser deliberado pelos Cotistas Prazo de Duração reunidos em Assembleia Especial de Cotistas. (“Prazo de Duração”) Tipo “Financeiro”. Classificação ANBIMA Foco de atuação “Créditos Consignados”. O obje</a:t>
            </a:r>
          </a:p>
          <a:p>
            <a:r>
              <a:t>CNPJ 63953620000165 · Adaptação à Resolução CVM 175 · Anexo ao Regulamento · ID 1222863 · 02/06/2026 · versão AnexoConsignadoPrivado02/06/2026 · p. 9 · 5.1 · https://fnet.bmfbovespa.com.br/fnet/publico/visualizarDocumento?id=1222863</a:t>
            </a:r>
          </a:p>
          <a:p>
            <a:r>
              <a:t>CNPJ 63953620000165 · Adaptação à Resolução CVM 175 · Excerto da fonte:</a:t>
            </a:r>
          </a:p>
          <a:p>
            <a:r>
              <a:t>5.1 A Classe possui 2 (duas) Subclasses de Cotas, quais sejam, a subclasse sênior (“Subclasse Sênior” e “Cotas Seniores”) e a subclasse subordinada (“Subclasse Subordinada” e “Cotas Subordinadas” – as Cotas Subordinadas e Cotas Seniores, quando referidas em conjunto, “Cotas”). As características, os direitos e as condições de emissão, distribuição, subscrição, integralização, remuneração, amortização e resgate das Cotas estão descritos neste Capítulo e nos respectivos Apêndices. 5.2 As Cotas são escriturais, nominativas e correspondem a frações ideais do patrimônio da Classe, cuja propriedade presume-se: (i) pelo</a:t>
            </a:r>
          </a:p>
          <a:p>
            <a:r>
              <a:t>CNPJ 63953620000165 · Adaptação à Resolução CVM 175 · Condição: Vigência efetiva da versão 02/06/2026 não inferida da data de publicação; não aplicar a fev/26 automaticamente.</a:t>
            </a:r>
          </a:p>
          <a:p>
            <a:r>
              <a:t>CNPJ 63953620000165 · Adaptação à Resolução CVM 175 · Versão e prevalência: Leitura específica das cláusulas indicadas; condições e conflitos preservados. Seleção documental atual não comprova vigência jurídica por data isolada.</a:t>
            </a:r>
          </a:p>
          <a:p>
            <a:r>
              <a:t>CNPJ 63953620000165 · Adaptação à Resolução CVM 175 · Resumo do histórico: {"count": 9, "dates": ["2026-04-28", "2026-05-08", "2026-05-15"], "document_count": 3, "sources": [{"document_id": "1327859", "title": "Demonstrações Financeiras - Fusão, cisão e incorporação", "reference_date": "2026-05-15", "version": "1", "page": 31, "clause": "15.000.000", "url": "https://fnet.bmfbovespa.com.br/fnet/publico/visualizarDocumento?id=1327859", "sha256": "dca1c68babb97f887528c3e2e47596a9c30f507b067981a35655b2f2da9c8054"}, {"document_id": "1298691", "title": "Demonstrações Financeiras - Fusão, cisão e incorporação", "reference_date": "2026-05-08", "version": "1", "page": 32, "url": "https://fnet.bmfbovespa.com.br/fnet/publico/visualizarDocumento?id=1298691", "sha256": "58c570d9b8d4d265330d3db3ea81c435b8e44a6dab4002aa37790652a1ee9819"}, {"document_id": "1282180", "title": "Demonstrações Financeiras - Fusão, cisão e incorporação", "reference_date": "2026-04-28", "version": "1", "page": 32, "clause": "15.000.000", "url": "https://fnet.bmfbovespa.com.br/fnet/publico/visualizarDocumento?id=1282180", "sha256": "afaaa0e6809be4385e5bdb6c911aac582032c5bdbac3d7750234bf9eaf00438a"}], "reference": {"path": "history/63953620000165.json", "criterion_id": "res175", "total_count": 9, "preview_count": 3, "full_text_deferred": true, "sha256": "a7b89077f5e21098c2d601c303faabc3ff6b9729f89d8afecdc60fe1404720c1"}}</a:t>
            </a:r>
          </a:p>
          <a:p>
            <a:r>
              <a:t>CNPJ 54871427000194 · Duração e público-alvo · Demonstrações Financeiras - Fusão, cisão e incorporação · ID 1219522 · 2026-02-02 · versão 1 · p. 11 · https://fnet.bmfbovespa.com.br/fnet/publico/visualizarDocumento?id=1219522</a:t>
            </a:r>
          </a:p>
          <a:p>
            <a:r>
              <a:t>CNPJ 54871427000194 · Duração e público-alvo · Excerto da fonte:</a:t>
            </a:r>
          </a:p>
          <a:p>
            <a:r>
              <a:t>O Consignado Delta Receivables I Fundo de Investimento em Direitos Creditórios possui uma classe única de cotas, denominada Classe Única de Responsabilidade Limitada do Consignado Delta Receivables I Fundo de Investimento em Direitos Creditórios (“Classe”). A Classe foi constituída em 19 de abril de 2024, sob a forma de condomínio fechado e iniciou suas operações em 27 de maio de 2024. A Classe possui prazo de duração Indeterminado.</a:t>
            </a:r>
          </a:p>
          <a:p>
            <a:r>
              <a:t>CNPJ 54871427000194 · Duração e público-alvo · Condição: Documentos atuais selecionados no inventário por categoria/escopo; a data documental isolada não comprova vigência jurídica.</a:t>
            </a:r>
          </a:p>
          <a:p>
            <a:r>
              <a:t>CNPJ 54871427000194 · Duração e público-alvo · Versão e prevalência: Documentos atuais selecionados no inventário por categoria/escopo; a data documental isolada não comprova vigência jurídica.</a:t>
            </a:r>
          </a:p>
          <a:p>
            <a:r>
              <a:t>CNPJ 54871427000194 · Duração e público-alvo · Resumo do histórico: {"count": 11, "dates": ["2024-12-31", "2025-01-01", "2025-12-31"], "document_count": 3, "sources": [{"document_id": "1151805", "title": "Demonstrações Financeiras", "reference_date": "2025-12-31", "version": "1", "page": 11, "url": "https://fnet.bmfbovespa.com.br/fnet/publico/visualizarDocumento?id=1151805", "sha256": "f1cea70b152968bf96ef9221b27225953cb20aeef487b2798db3c25e11b528d4"}, {"document_id": "869529", "title": "Demonstrações Financeiras", "reference_date": "2025-01-01", "version": "1", "page": 11, "url": "https://fnet.bmfbovespa.com.br/fnet/publico/visualizarDocumento?id=869529", "sha256": "9a93a9369ac8efdbc54ff8fcee3ccac3abf88edab4807b9323d3852450771b2a"}, {"document_id": "870070", "title": "Demonstrações Financeiras", "reference_date": "2024-12-31", "version": "1", "page": 11, "url": "https://fnet.bmfbovespa.com.br/fnet/publico/visualizarDocumento?id=870070", "sha256": "9a93a9369ac8efdbc54ff8fcee3ccac3abf88edab4807b9323d3852450771b2a"}], "reference": {"path": "history/54871427000194.json", "criterion_id": "duration_investors", "total_count": 11, "preview_count": 3, "full_text_deferred": true, "sha256": "35d7cd99be50c7287c9fb675cf4f2e736002315295a225a9efa79c8d9186d874"}}</a:t>
            </a:r>
          </a:p>
          <a:p>
            <a:r>
              <a:t>CNPJ 60010416000112 · Duração e público-alvo · Demonstrações Financeiras - Fusão, cisão e incorporação · ID 1298690 · 2026-05-08 · versão 1 · p. 9 · https://fnet.bmfbovespa.com.br/fnet/publico/visualizarDocumento?id=1298690</a:t>
            </a:r>
          </a:p>
          <a:p>
            <a:r>
              <a:t>CNPJ 60010416000112 · Duração e público-alvo · Excerto da fonte:</a:t>
            </a:r>
          </a:p>
          <a:p>
            <a:r>
              <a:t>1. Contexto operacional  O MT Consignado Privado I Fundo de Investimento em Direitos Creditórios (“Fundo”) possui uma  classe única de cotas, denominada Classe Única do MT I Consignado Privado I Fundo de  Investimento em Direitos Creditórios Responsabilidade Limitada (“Classe”). A Classe foi  constituída em 20 de março de 2025, sob a forma de condomínio fechado e iniciou suas  operações em 21 de março de 2025. A Classe possui prazo de duração indeterminado.</a:t>
            </a:r>
          </a:p>
          <a:p>
            <a:r>
              <a:t>CNPJ 60010416000112 · Duração e público-alvo · Demonstrações Financeiras - Fusão, cisão e incorporação · ID 1298690 · 2026-05-08 · versão 1 · p. 22 · https://fnet.bmfbovespa.com.br/fnet/publico/visualizarDocumento?id=1298690</a:t>
            </a:r>
          </a:p>
          <a:p>
            <a:r>
              <a:t>CNPJ 60010416000112 · Duração e público-alvo · Excerto da fonte:</a:t>
            </a:r>
          </a:p>
          <a:p>
            <a:r>
              <a:t>(ii) Riscos do mercado secundário: A Classe é constituída sob a forma de condomínio  fechado, de modo que as Cotas Subordinadas somente serão resgatadas em virtude da  liquidação da Classe e as Cotas Seniores ao término do seu prazo de duração, conforme  estabelecidos nos respectivos Suplementos. Uma vez que o prazo de duração da Classe  é indeterminado, o Cotista titular das Cotas Subordinadas não terá liquidez em seu  investimento na Classe, exceto (a) por ocasião das amortizações e dos resgates, nos  termos do Regulamento; (b) por meio da alienação de suas Cotas no mercado  secundário, observado, neste caso, que sua alienação apenas é permitida para o Público-  Alvo das Cotas Subordinadas; ou (c) na liquidação antecipada do Fundo ou da Classe.</a:t>
            </a:r>
          </a:p>
          <a:p>
            <a:r>
              <a:t> Além disso, atualmente, o mercado secundário de cotas de fundos de investimento  apresenta baixa liquidez, o que pode dificultar a venda das Cotas ou ocasionar a obtenção  de um preço de venda que cause perda de patrimônio ao Cotista. Não há qualquer  garantia da Administradora, da Gestora, da consultora ou do Custodiante em relação à  possibilidade de venda das Cotas no mercado secundário ou ao preço obtido por elas,  ou mesmo garantia de saída ao Cotista.</a:t>
            </a:r>
          </a:p>
          <a:p>
            <a:r>
              <a:t>CNPJ 60010416000112 · Duração e público-alvo · Condição: Documentos atuais selecionados no inventário por categoria/escopo; a data documental isolada não comprova vigência jurídica.</a:t>
            </a:r>
          </a:p>
          <a:p>
            <a:r>
              <a:t>CNPJ 60010416000112 · Duração e público-alvo · Versão e prevalência: Documentos atuais selecionados no inventário por categoria/escopo; a data documental isolada não comprova vigência jurídica.</a:t>
            </a:r>
          </a:p>
          <a:p>
            <a:r>
              <a:t>CNPJ 60010416000112 · Duração e público-alvo · Resumo do histórico: {"count": 9, "dates": ["2025-11-30", "2026-03-18", "2026-04-16"], "document_count": 3, "sources": [{"document_id": "1282181", "title": "Demonstrações Financeiras - Fusão, cisão e incorporação", "reference_date": "2026-04-16", "version": "1", "page": 23, "url": "https://fnet.bmfbovespa.com.br/fnet/publico/visualizarDocumento?id=1282181", "sha256": "b1c6566e43a00bcd00c8a7f30c77b7f86e351bd8e355bbea113f46d1dafda703"}, {"document_id": "1224477", "title": "Demonstrações Financeiras - Fusão, cisão e incorporação", "reference_date": "2026-03-18", "version": "1", "page": 23, "url": "https://fnet.bmfbovespa.com.br/fnet/publico/visualizarDocumento?id=1224477", "sha256": "0751bf0a75bc3b44c2748f5000226665c6ec6698a90c4dc6170b4e6c187759ae"}, {"document_id": "1126154", "title": "Demonstrações Financeiras", "reference_date": "2025-11-30", "version": "1", "page": 23, "url": "https://fnet.bmfbovespa.com.br/fnet/publico/visualizarDocumento?id=1126154", "sha256": "a01e7ccf88c548f12c95cba8526d7efbef6b585c112cd4668eca781c292090b0"}], "reference": {"path": "history/60010416000112.json", "criterion_id": "duration_investors", "total_count": 9, "preview_count": 3, "full_text_deferred": true, "sha256": "8e2bd813f4c51cf01f6bfaad164bafe69d2bbb192f753eac92da3a01c2e63046"}}</a:t>
            </a:r>
          </a:p>
          <a:p>
            <a:r>
              <a:t>CNPJ 62696791000193 · Duração e público-alvo · Regulamento · ID 1143317 · 2026-03-20 · versão 1 · p. 18 · 8.8.1 · https://fnet.bmfbovespa.com.br/fnet/publico/visualizarDocumento?id=1143317</a:t>
            </a:r>
          </a:p>
          <a:p>
            <a:r>
              <a:t>CNPJ 62696791000193 · Duração e público-alvo · Excerto da fonte:</a:t>
            </a:r>
          </a:p>
          <a:p>
            <a:r>
              <a:t>8.8.1 As Chamadas de Capital para a realização de investimentos serão realizadas a qualquer  momento durante o Período de Investimento e estarão limitadas ao valor do capital subscrito  de cada Cotista. As Chamadas de Capital para o pagamento de despesas e encargos do Fundo  poderão ser realizadas a qualquer momento durante o Prazo de Duração, mas não estarão  limitadas ao valor do capital subscrito de cada Cotista.</a:t>
            </a:r>
          </a:p>
          <a:p>
            <a:r>
              <a:t>CNPJ 62696791000193 · Duração e público-alvo · Regulamento · ID 1143317 · 2026-03-20 · versão 1 · p. 20 · 9.5.1 · https://fnet.bmfbovespa.com.br/fnet/publico/visualizarDocumento?id=1143317</a:t>
            </a:r>
          </a:p>
          <a:p>
            <a:r>
              <a:t>CNPJ 62696791000193 · Duração e público-alvo · Excerto da fonte:</a:t>
            </a:r>
          </a:p>
          <a:p>
            <a:r>
              <a:t>9.5.1 Ao f inal do Prazo de Duração ou quando da liquidação antecipada da Classe, todas as Cotas  deverão ter seu valor integralmente amortizado. Não havendo recursos em moeda corrente  nacional suficientes para realizar o pagamento da amortização total das Cotas em circulação à  época da liquidação da Classe, o Administrador deverá convocar a Assembleia Especial de  Cotistas a fim de deliberar sobre a prorrogação do Prazo de Duração ou o resgate de Cotas em  Direitos Creditórios do Agronegócio e/ou Outros Ativos .</a:t>
            </a:r>
          </a:p>
          <a:p>
            <a:r>
              <a:t>10 ASSEMBLEIA ESPECIAL DE COTISTAS</a:t>
            </a:r>
          </a:p>
          <a:p>
            <a:r>
              <a:t>CNPJ 62696791000193 · Duração e público-alvo · Regulamento · ID 1143317 · 2026-03-20 · versão 1 · p. 23 · 11.1 · https://fnet.bmfbovespa.com.br/fnet/publico/visualizarDocumento?id=1143317</a:t>
            </a:r>
          </a:p>
          <a:p>
            <a:r>
              <a:t>CNPJ 62696791000193 · Duração e público-alvo · Excerto da fonte:</a:t>
            </a:r>
          </a:p>
          <a:p>
            <a:r>
              <a:t>11.1 A Classe será liquidada (i) em caso da liquidação antecipada deliberada em Assembleia Especial de  Cotistas; ou (ii) pelo encerramento do Prazo de Duração da Classe.</a:t>
            </a:r>
          </a:p>
          <a:p>
            <a:r>
              <a:t>CNPJ 62696791000193 · Duração e público-alvo · Condição: Documentos atuais selecionados no inventário por categoria/escopo; a data documental isolada não comprova vigência jurídica.</a:t>
            </a:r>
          </a:p>
          <a:p>
            <a:r>
              <a:t>CNPJ 62696791000193 · Duração e público-alvo · Versão e prevalência: Documentos atuais selecionados no inventário por categoria/escopo; a data documental isolada não comprova vigência jurídica.</a:t>
            </a:r>
          </a:p>
          <a:p>
            <a:r>
              <a:t>CNPJ 55563624000109 · Duração e público-alvo · AGE · ID 1306189 · 2026-08-25 · versão 1 · p. 1 · 4.1 · https://fnet.bmfbovespa.com.br/fnet/publico/visualizarDocumento?id=1306189</a:t>
            </a:r>
          </a:p>
          <a:p>
            <a:r>
              <a:t>CNPJ 55563624000109 · Duração e público-alvo · Excerto da fonte:</a:t>
            </a:r>
          </a:p>
          <a:p>
            <a:r>
              <a:t>4.1 Nos termos do Anexo da Classe, aprovar:</a:t>
            </a:r>
          </a:p>
          <a:p>
            <a:r>
              <a:t>(i) a liquidação da Subclasse A da Classe, considerando o encerramento do seu prazo de duração, por meio do  resgate integral de Cotas da Subclasse A com entrega de financeiro aos Cotistas. Será utilizada como data  base no cálculo da cota do dia 25 de agosto de 2026, com efetivação no fechamento do dia 27 de agosto de  2026; e</a:t>
            </a:r>
          </a:p>
          <a:p>
            <a:r>
              <a:t>(ii) a liquidação antecipada da Subclasse C da Classe, por meio do resgate integral de Cotas da Subclasse C com  entrega de financeiro aos Cotistas. Será utilizada como data base no cálculo da cota do dia 25 de agosto de  2026, com efetivação no fechamento do dia 27 de agosto de 2026.</a:t>
            </a:r>
          </a:p>
          <a:p>
            <a:r>
              <a:t>CNPJ 55563624000109 · Duração e público-alvo · Condição: Documentos atuais selecionados no inventário por categoria/escopo; a data documental isolada não comprova vigência jurídica.</a:t>
            </a:r>
          </a:p>
          <a:p>
            <a:r>
              <a:t>CNPJ 55563624000109 · Duração e público-alvo · Versão e prevalência: Documentos atuais selecionados no inventário por categoria/escopo; a data documental isolada não comprova vigência jurídica.</a:t>
            </a:r>
          </a:p>
          <a:p>
            <a:r>
              <a:t>CNPJ 55563624000109 · Duração e público-alvo · Resumo do histórico: {"count": 6, "dates": ["2026-04-30"], "document_count": 2, "sources": [{"document_id": "1192614", "title": "Regulamento", "reference_date": "2026-04-30", "version": "1", "page": "9, 15, 45-50", "url": "https://fnet.bmfbovespa.com.br/fnet/publico/visualizarDocumento?id=1192614", "sha256": "f56e63ace0acde41d2f47fb48f1ac7f3f7df5e2d32de092d7c5e075a52516632"}, {"document_id": "1192614", "title": "Regulamento", "reference_date": "2026-04-30", "version": "1", "page": 5, "clause": "4.7.1", "url": "https://fnet.bmfbovespa.com.br/fnet/publico/visualizarDocumento?id=1192614", "sha256": "f56e63ace0acde41d2f47fb48f1ac7f3f7df5e2d32de092d7c5e075a52516632"}, {"document_id": "1192603", "title": "AGE", "reference_date": "2026-04-30", "version": "1", "page": 1, "clause": "4.1", "url": "https://fnet.bmfbovespa.com.br/fnet/publico/visualizarDocumento?id=1192603", "sha256": "f53ff2a5b715f5365536305a098f9cc0c54b5a01128942d784915bed8eeb0288"}], "reference": {"path": "history/55563624000109.json", "criterion_id": "duration_investors", "total_count": 6, "preview_count": 3, "full_text_deferred": true, "sha256": "7835d573fb58a3c19adf5b8ecc2aee2bdbb9a88f7a0c0209b5f262b64c7522e3"}}</a:t>
            </a:r>
          </a:p>
          <a:p>
            <a:r>
              <a:t>CNPJ 62552447000120 · Duração e público-alvo · Regulamento · ID 1200623 · 2026-05-21 · versão 1 · p. 22 · 10.4 · https://fnet.bmfbovespa.com.br/fnet/publico/visualizarDocumento?id=1200623</a:t>
            </a:r>
          </a:p>
          <a:p>
            <a:r>
              <a:t>CNPJ 62552447000120 · Duração e público-alvo · Excerto da fonte:</a:t>
            </a:r>
          </a:p>
          <a:p>
            <a:r>
              <a:t>10.4 Tendo em vista que a Classe é exclusivamente destinada a Investidores Profissionais, não serão  aplicáveis as vedações ao direito a voto em assembleia de cotistas dispostas no artigo 78 da Resolução  CVM 175, conf orme disposto no artigo 114 da ref erida Resolução.</a:t>
            </a:r>
          </a:p>
          <a:p>
            <a:r>
              <a:t>CNPJ 62552447000120 · Duração e público-alvo · Regulamento · ID 1200623 · 2026-05-21 · versão 1 · p. 35 · https://fnet.bmfbovespa.com.br/fnet/publico/visualizarDocumento?id=1200623</a:t>
            </a:r>
          </a:p>
          <a:p>
            <a:r>
              <a:t>CNPJ 62552447000120 · Duração e público-alvo · Excerto da fonte:</a:t>
            </a:r>
          </a:p>
          <a:p>
            <a:r>
              <a:t>ativos desses emissores, causando perdas à Classe e ao Cotista. Além disso, a f alta de capacidade ou disposição de pagar por qualquer dos emissores dos Ativos Financeiros de Liquidez ou das contrapartes nas transações que compõem a Carteira causará perdas à Classe, e o que também poderá incorrer em custos para f ins de recuperação de seus recebíveis.</a:t>
            </a:r>
          </a:p>
          <a:p>
            <a:r>
              <a:t>(v) Riscos associados aos Devedores: no caso de Devedores no âmbito das operações de consignado privado, a sua capacidade de pagamento poderá ser af etada se, por exemplo, o Devedor tiver o seu contrato de emprego rescindido ou em virtude de decisão judicial, o Devedor for obrigado a pagar alimentos, que têm prioridade sobre o empréstimo para f ins de desconto na f 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 etar a rentabilidade da Classe. Já no caso de Devedores no âmbito das operações de Saque-aniversário, como os Direitos Creditórios a serem endossados à Classe serão descontados pelo FGTS da remuneração do Devedor, na ocorrência de qualquer evento que, nos termos da legislação aplicável, determine o pagamento antecipado do Saque-aniversário ao Devedor, a exemplo do falecimento do Devedor, dentre outros, as parcelas do Saque- aniversário serão pagas antecipadamente e a Classe deverá utilizar tais montantes no pré-pagamento dos Direitos Creditórios. Nesta hipótese, a Classe poderá não encontrar Direitos Creditórios disponíveis para serem adquiridos pela Classe, o que poderá af etar a rentabilidade da Classe.</a:t>
            </a:r>
          </a:p>
          <a:p>
            <a:r>
              <a:t>Risco de liquidez</a:t>
            </a:r>
          </a:p>
          <a:p>
            <a:r>
              <a:t>(i) Risco de liquidez: consiste no risco de redução ou inexistência de demanda pelos ativos que compõem a Classe nos respectivos mercados em que são negociados, devido às condições específicas desses ativos ou aos mercados em que são negociados. Devido a esses riscos, o Gestor poderá encontrar dificuldades em liquidar posições ou negociar esses ativos pelo preço e prazo desejados, de acordo com a estratégia de gestão adotada pela Classe, que permanecerá exposto, durante o período de baixa liquidez, aos riscos associados a esses ativos e posições assumidas em mercados de derivativos, se houver, que poderão até exigir que o Gestor aceite descontos em seus preços para realizar negociações no mercado. Esses f atores poderão prejudicar o pagamento de Amortizações ao Cotista, nos valores e dentro dos termos aqui estabelecidos.</a:t>
            </a:r>
          </a:p>
          <a:p>
            <a:r>
              <a:t>(ii) Riscos do mercado secundário: A Classe é constituída sob a f orma de condomínio fechado, de modo que as Cotas somente serão resgatadas em virtude da liquidação da Classe. Uma vez que o Prazo de Duração da Classe é indeterminado, o Cotista titular das Cotas não terá liquidez em seu investimento na Classe, exceto</a:t>
            </a:r>
          </a:p>
          <a:p>
            <a:r>
              <a:t>(a) por ocasião das Amortizações e dos resgates, nos termos deste Regulamento; (b) por meio da alienação de suas Cotas no mercado secundário; ou (c) na liquidação antecipada do FUNDO ou da Classe.</a:t>
            </a:r>
          </a:p>
          <a:p>
            <a:r>
              <a:t>Além disso, atualmente, o mercado secundário de cotas de fundos de investimento apresenta baixa liquidez, o que pode dificultar a venda das Cotas ou ocasionar a obtenção de um preço de venda que cause perda de patrimônio ao Cotista. Não há qualquer garantia do Administrador, do Gestor, da consultora ou do Custodiante em relação à possibilidade de venda das Cotas no mercado secundário ou ao preço obtido por elas, ou mesmo garantia de saída ao Cotista.</a:t>
            </a:r>
          </a:p>
          <a:p>
            <a:r>
              <a:t>Riscos específicos</a:t>
            </a:r>
          </a:p>
          <a:p>
            <a:r>
              <a:t>(i)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ficar inadimplente e, consequentemente, não haverá repasse à Classe do respectivo Direito Creditório, o que poderá resultar em perdas f inanceiras à Classe e aos Cotistas. Para os f ins deste Regulamento, “Empregador” signif ica a empresa com qual o Devedor mantém vínculo empregatício registrado junto à CTPS.</a:t>
            </a:r>
          </a:p>
          <a:p>
            <a:r>
              <a:t>(ii) Risco do Empregador não efetuar o desconto em folha: o repasse dos recursos oriundos dos Direitos Creditórios à Classe depende da realização, pelo Empregador, da escrituração da Consignação a ser</a:t>
            </a:r>
          </a:p>
          <a:p>
            <a:r>
              <a:t>CNPJ 62552447000120 · Duração e público-alvo · Regulamento · ID 1200623 · 2026-05-21 · versão 1 · p. 1 · 1.3 · https://fnet.bmfbovespa.com.br/fnet/publico/visualizarDocumento?id=1200623</a:t>
            </a:r>
          </a:p>
          <a:p>
            <a:r>
              <a:t>CNPJ 62552447000120 · Duração e público-alvo · Excerto da fonte:</a:t>
            </a:r>
          </a:p>
          <a:p>
            <a:r>
              <a:t>1.3 Durante o seu prazo de duração, o Fundo, por ato conjunto dos Prestadores de Serviços Essenciais,  poderá constituir diferentes Classes e Subclasses , sendo que cada Classe terá patrimônio segregado e</a:t>
            </a:r>
          </a:p>
          <a:p>
            <a:r>
              <a:t>CNPJ 62552447000120 · Duração e público-alvo · Condição: Documentos atuais selecionados no inventário por categoria/escopo; a data documental isolada não comprova vigência jurídica.</a:t>
            </a:r>
          </a:p>
          <a:p>
            <a:r>
              <a:t>CNPJ 62552447000120 · Duração e público-alvo · Versão e prevalência: Documentos atuais selecionados no inventário por categoria/escopo; a data documental isolada não comprova vigência jurídica.</a:t>
            </a:r>
          </a:p>
          <a:p>
            <a:r>
              <a:t>CNPJ 62552447000120 · Duração e público-alvo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"duration_investors", "total_count": 1, "preview_count": 1, "full_text_deferred": true, "sha256": "d95db8c0613d67ee84118c734588665265ea6b02f86a0318d6a844cbe1d0f82f"}}</a:t>
            </a:r>
          </a:p>
          <a:p>
            <a:r>
              <a:t>CNPJ 63953620000165 · Duração e público-alvo · Anexo ao Regulamento · ID 1222863 · 2026-06-02 · versão 1 · p. 2 · https://fnet.bmfbovespa.com.br/fnet/publico/visualizarDocumento?id=1222863</a:t>
            </a:r>
          </a:p>
          <a:p>
            <a:r>
              <a:t>CNPJ 63953620000165 · Duração e público-alvo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Duração e público-alvo · Anexo ao Regulamento · ID 1222863 · 2026-06-02 · versão 1 · p. 1 · 1.1 · https://fnet.bmfbovespa.com.br/fnet/publico/visualizarDocumento?id=1222863</a:t>
            </a:r>
          </a:p>
          <a:p>
            <a:r>
              <a:t>CNPJ 63953620000165 · Duração e público-alvo · Excerto da fonte:</a:t>
            </a:r>
          </a:p>
          <a:p>
            <a:r>
              <a:t>1.1 As principais características da Classe Consignado Privado (para fins deste Anexo, “Classe”) estão descritas  abaixo:</a:t>
            </a:r>
          </a:p>
          <a:p>
            <a:r>
              <a:t> Tipo de Condomínio Fechado.</a:t>
            </a:r>
          </a:p>
          <a:p>
            <a:r>
              <a:t> Indeterminado, exceto se de outra forma vier a ser deliberado pelos Cotistas  Prazo de Duração  reunidos em Assembleia Especial de Cotistas. (“Prazo de Duração”)  Tipo “Financeiro”.</a:t>
            </a:r>
          </a:p>
          <a:p>
            <a:r>
              <a:t> Classificação ANBIMA  Foco de atuação “Créditos Consignados”.</a:t>
            </a:r>
          </a:p>
          <a:p>
            <a:r>
              <a:t> O objetivo da classe é proporcionar aos seus Cotistas a valorização de suas Cotas  por meio da aplicação de seu Patrimônio Líquido (conforme definido abaixo) na  aquisição de: (i) “Direitos Creditórios Crédito Consignado”, representados por  cédula de crédito bancário regida pela Lei nº 10.931, emitida eletronicamente por  um devedor em favor do endossante (“CCB”) e, consequentemente, os recebíveis  decorrente de cada uma das parcelas vincendas, representando um empréstimo  consignado concedido pelo endossante ao devedor, e cujo pagamento ordinário  é feito por desconto de cada prestação vincenda de uma CCB na folha de  pagamentos do devedor (“Consignação”), efetuada pela Caixa Econômica  Federal, de acordo com a legislação aplicável e em conformidade com os  procedimentos estabelecidos no convênio celebrado entre o Endossante e a  Empresa de Tecnologia e Informações da Previdência – DATAPREV e paga na  Conta Vinculada do Endossante (“Convênio Consignado Privado”); e/ou (ii)  “Direitos Creditórios TVM”, representados por direitos, títulos e/ou valores  mobiliários representativos de créditos originados no âmbito de operações de  sociedades integrantes do conglomerado econômico de instituições financeiras  classificadas como S1 pelo BACEN, desde que não representem títulos de  emissão ou coobrigação de instituições financeiras, bem como cotas de fundos  de investimento que invistam preponderantemente nestes direitos, títulos e/ou  Objetivo  valores mobiliários (Direitos Creditórios TVM quando referidos em conjunto  com os Direitos Creditórios Consignado Privado, “Direitos Creditórios”)  observados todos os limites de composição e diversificação da carteira da Classe  (“Carteira”), estabelecidos neste Regulamento e na regulamentação aplicável.</a:t>
            </a:r>
          </a:p>
          <a:p>
            <a:r>
              <a:t> Subsidiariamente, a parcela do Patrimônio Líquido que não esteja alocada em  Direitos Creditórios poderá estar alocado em: (1) certificados de depósito  bancário (CDB) ou recibos de depósito bancário (RDB) com prazo máximo de  vencimento equivalente ao prazo remanescente do Período de Investimento, com  liquidez diária, emitidos por Parati Crédito, Financiamento e Investimento S.A.</a:t>
            </a:r>
          </a:p>
          <a:p>
            <a:r>
              <a:t> e/ou pelo Endossante (“Ativos de Liquidez MT”); e/ou (2) (i) moeda corrente  nacional; (ii) títulos do Tesouro SELIC, anteriormente denominado letra financeira  do Tesouro Nacional (LFT); (iii) certificados de depósito bancário (CDB) ou recibos  de depósito bancário (RDB) com prazo máximo de vencimento equivalente ao  prazo remanescente do Período de Investimento, com liquidez diária, emitidos  por (a) Itaú Unibanco S.A.; (b) Banco Bradesco S.A.; (c) Caixa Econômica Federal;</a:t>
            </a:r>
          </a:p>
          <a:p>
            <a:r>
              <a:t> (d) Banco do Brasil S.A.; (e) Banco Santander (Brasil) S.A.; (f) Banco BTG Pactual  S.A.; (g) Banco Sistema S.A. (“Instituições Autorizadas”); (iv) operações  compromissadas, desde que lastreadas nos títulos mencionados nas alíneas (i) a</a:t>
            </a:r>
          </a:p>
          <a:p>
            <a:r>
              <a:t> (iii) acima, emitidas por Instituições Autorizadas, com liquidez diária e vencimento</a:t>
            </a:r>
          </a:p>
          <a:p>
            <a:r>
              <a:t>CNPJ 63953620000165 · Duração e público-alvo · Anexo ao Regulamento · ID 1222863 · 2026-06-02 · versão 1 · p. 10 · 6.7.1 · https://fnet.bmfbovespa.com.br/fnet/publico/visualizarDocumento?id=1222863</a:t>
            </a:r>
          </a:p>
          <a:p>
            <a:r>
              <a:t>CNPJ 63953620000165 · Duração e público-alvo · Excerto da fonte:</a:t>
            </a:r>
          </a:p>
          <a:p>
            <a:r>
              <a:t>6.7.1 As Chamadas de Capital para a realização de investimentos serão realizadas a qualquer momento  durante o Período de Investimento e estarão limitadas ao valor do capital subscrito de cada Cotista. As  Chamadas de Capital para o pagamento de despesas e encargos do Fundo, com exceção de despesas  relacionadas à instrumentos de derivativos e/ou Encargos não previstos no âmbito deste regulamento,  poderão ser realizadas a qualquer momento durante o Prazo de Duração, mas não estarão limitadas ao  valor do capital subscrito de cada Cotista.</a:t>
            </a:r>
          </a:p>
          <a:p>
            <a:r>
              <a:t>CNPJ 63953620000165 · Duração e público-alvo · Condição: Documentos atuais selecionados no inventário por categoria/escopo; a data documental isolada não comprova vigência jurídica.</a:t>
            </a:r>
          </a:p>
          <a:p>
            <a:r>
              <a:t>CNPJ 63953620000165 · Duração e público-alvo · Versão e prevalência: Documentos atuais selecionados no inventário por categoria/escopo; a data documental isolada não comprova vigência jurídica.</a:t>
            </a:r>
          </a:p>
          <a:p>
            <a:r>
              <a:t>CNPJ 63953620000165 · Duração e público-alvo · Resumo do histórico: {"count": 8, "dates": ["2026-04-28", "2026-05-08", "2026-05-15"], "document_count": 3, "sources": [{"document_id": "1327859", "title": "Demonstrações Financeiras - Fusão, cisão e incorporação", "reference_date": "2026-05-15", "version": "1", "page": 9, "url": "https://fnet.bmfbovespa.com.br/fnet/publico/visualizarDocumento?id=1327859", "sha256": "dca1c68babb97f887528c3e2e47596a9c30f507b067981a35655b2f2da9c8054"}, {"document_id": "1298691", "title": "Demonstrações Financeiras - Fusão, cisão e incorporação", "reference_date": "2026-05-08", "version": "1", "page": 9, "url": "https://fnet.bmfbovespa.com.br/fnet/publico/visualizarDocumento?id=1298691", "sha256": "58c570d9b8d4d265330d3db3ea81c435b8e44a6dab4002aa37790652a1ee9819"}, {"document_id": "1282180", "title": "Demonstrações Financeiras - Fusão, cisão e incorporação", "reference_date": "2026-04-28", "version": "1", "page": 9, "url": "https://fnet.bmfbovespa.com.br/fnet/publico/visualizarDocumento?id=1282180", "sha256": "afaaa0e6809be4385e5bdb6c911aac582032c5bdbac3d7750234bf9eaf00438a"}], "reference": {"path": "history/63953620000165.json", "criterion_id": "duration_investors",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Alocação e perímetro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Alocação mínima · Base da comparação IME: {"criterion_id": "allocation", "observed_value": 91.84981349574433, "unit": "percent", "competence": "08/2026", "status": "not_comparable", "reason": "Vigência efetiva não comprovada; data do documento isolada não certifica enquadramento histórico.", "formula": "credit_rights / net_asset_value × 100",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50.0}</a:t>
            </a:r>
          </a:p>
          <a:p>
            <a:r>
              <a:t>CNPJ 54871427000194 · Alocação mínima · Regulamento · ID 670691 · 28/04/2024 · versão Regulamento — referência 28/04/2024 · p. 11 · Anexo I, 4.9 · https://fnet.bmfbovespa.com.br/fnet/publico/visualizarDocumento?id=670691</a:t>
            </a:r>
          </a:p>
          <a:p>
            <a:r>
              <a:t>CNPJ 54871427000194 · Alocação mínima · Excerto da fonte:</a:t>
            </a:r>
          </a:p>
          <a:p>
            <a:r>
              <a:t>4.9 Decorridos 180 (cento e oitenta) dias da Data da 1ª Integralização de Cotas, a Classe deverá manter alocado, no mínimo, 50% (cinquenta por cento) do seu Patrimônio Líquido em Direitos Creditórios . 4.10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4.11 A Classe poderá, direta ou indiretamente e, nos termos da legislação aplicável: (i) adquirir Direitos Creditórios que sejam cedidos e/ou originados pelo ADMINISTRADOR e/ou pelo GESTOR, ou partes a eles relacionadas, tal como definidas pelas regras contábeis que tratam desse assunto; e (ii) ceder Direitos Creditórios a qualquer das pessoas, fundos de investimento ou entidades referidas n</a:t>
            </a:r>
          </a:p>
          <a:p>
            <a:r>
              <a:t>CNPJ 54871427000194 · Alocação mínima · Mecânica: {"operator": "&gt;=", "limit": 50.0, "unit": "percent", "numerator": "credit_rights", "denominator": "net_asset_value", "frequency": "daily", "layer": "54871427000194", "document_date": "2024-04-28", "effective_status": "document_date_only", "initial_days": 180}</a:t>
            </a:r>
          </a:p>
          <a:p>
            <a:r>
              <a:t>CNPJ 54871427000194 · Alocação mínima · Versão e prevalência: Leitura específica das cláusulas indicadas; condições e conflitos preservados. Seleção documental atual não comprova vigência jurídica por data isolada.</a:t>
            </a:r>
          </a:p>
          <a:p>
            <a:r>
              <a:t>CNPJ 54871427000194 · Alocação mínima · Resumo do histórico: {"count": 2, "dates": ["2024-04-19", "2024-04-28"], "document_count": 2, "sources": [{"document_id": "670691", "title": "Regulamento", "reference_date": "2024-04-28", "version": "1", "page": "11", "url": "https://fnet.bmfbovespa.com.br/fnet/publico/visualizarDocumento?id=670691", "sha256": "bf16dd7f1a62d5cdbf2e2d54fef81783783f7310fbc99c3a8f00459bdf9d037b"}, {"document_id": "670689", "title": "Regulamento", "reference_date": "2024-04-19", "version": "1", "page": 11, "clause": "4.9", "url": "https://fnet.bmfbovespa.com.br/fnet/publico/visualizarDocumento?id=670689", "sha256": "891bc9bc5d87bbc02ec139077a84d2702eb81ea02035fb71d24f5b8366b94a0b"}], "reference": {"path": "history/54871427000194.json", "criterion_id": "allocation", "total_count": 2, "preview_count": 2, "full_text_deferred": true, "sha256": "35d7cd99be50c7287c9fb675cf4f2e736002315295a225a9efa79c8d9186d874"}}</a:t>
            </a:r>
          </a:p>
          <a:p>
            <a:r>
              <a:t>CNPJ 60010416000112 · Alocação mínima · Base da comparação IME: {"criterion_id": "allocation", "observed_value": 117.78665480900618, "unit": "percent", "competence": "08/2026", "status": "not_comparable", "reason": "Vigência efetiva não comprovada; data do documento isolada não certifica enquadramento histórico.", "formula": "credit_rights / net_asset_value × 100",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50.0}</a:t>
            </a:r>
          </a:p>
          <a:p>
            <a:r>
              <a:t>CNPJ 60010416000112 · Alocação mínima · Regulamento · ID 1051393 · 09/10/2025 · versão Regulamento09/10/2025 · p. 11 · AnexoI4.6 · https://fnet.bmfbovespa.com.br/fnet/publico/visualizarDocumento?id=1051393</a:t>
            </a:r>
          </a:p>
          <a:p>
            <a:r>
              <a:t>CNPJ 60010416000112 · Alocação mínima · Excerto da fonte:</a:t>
            </a:r>
          </a:p>
          <a:p>
            <a:r>
              <a:t>4.6 Decorridos 180 (cento e oitenta) dias do início de suas atividades, a Classe deverá manter alocado, no mínimo: para f ins tributários, 67% (sessenta e sete por cento) do seu Patrimônio Líquido em Direitos Creditórios, nos termos da Resolução CMN 5.111; e para fins regulatórios, 50% (cinquenta por cento) do seu Patrimônio Líquido em Direitos Creditórios, nos termos da Resolução CVM 175. BTG Pactual SAC: 0800 772 28 27 - Ouvidoria: 0800 722 00 48 - btgpactual.com 11</a:t>
            </a:r>
          </a:p>
          <a:p>
            <a:r>
              <a:t>CNPJ 60010416000112 · Alocação mínima · Mecânica: {"operator": "&gt;=", "unit": "percent", "denominator": "net_asset_value", "frequency": "not_stated", "layer": "class", "effective_status": "document_date_only", "document_date": "2025-10-09", "numerator": "credit_rights", "limit": 50.0, "requires_initial_date": true}</a:t>
            </a:r>
          </a:p>
          <a:p>
            <a:r>
              <a:t>CNPJ 60010416000112 · Alocação mínima · Versão e prevalência: Leitura específica das cláusulas indicadas; condições e conflitos preservados. Seleção documental atual não comprova vigência jurídica por data isolada.</a:t>
            </a:r>
          </a:p>
          <a:p>
            <a:r>
              <a:t>CNPJ 60010416000112 · Alocação mínima · Resumo do histórico: {"count": 2, "dates": ["2025-03-20", "2025-10-09"], "document_count": 2, "sources": [{"document_id": "1051393", "title": "Regulamento", "reference_date": "2025-10-09", "version": "1", "page": "11", "url": "https://fnet.bmfbovespa.com.br/fnet/publico/visualizarDocumento?id=1051393", "sha256": "8469d613078ffd5a6c1d217885d8a397a16342c0b937ae4aa24b106505f233ae"}, {"document_id": "993786", "title": "Regulamento", "reference_date": "2025-03-20", "version": "1", "page": 6, "clause": "5.3", "url": "https://fnet.bmfbovespa.com.br/fnet/publico/visualizarDocumento?id=993786", "sha256": "fd0fdd369a195510d81f81f505195a0b09e5f43522a990afa7d58c4f872921c8"}], "reference": {"path": "history/60010416000112.json", "criterion_id": "allocation", "total_count": 2, "preview_count": 2, "full_text_deferred": true, "sha256": "8e2bd813f4c51cf01f6bfaad164bafe69d2bbb192f753eac92da3a01c2e63046"}}</a:t>
            </a:r>
          </a:p>
          <a:p>
            <a:r>
              <a:t>CNPJ 62696791000193 · Alocação mínima · Base da comparação IME: {"criterion_id": "allocation", "observed_value": null, "unit": "percent", "competence": "08/2026", "status": "not_comparable", "reason": "Operador, unidade, numerador ou base contratual sem correspondência exata no IME; proxies de PL/ativos não são intercambiáveis. CPR declarada no FIAGRO não comprova elegibilidade individual nem correspondência integral com a definição contratual de direitos creditórios do agronegócio.",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51.0, "comparison_required": true, "context_value": 99.72659520720684, "context_unit": "percent", "context_formula": "CPR / PL (rubrica declarada no FIAGRO)"}</a:t>
            </a:r>
          </a:p>
          <a:p>
            <a:r>
              <a:t>CNPJ 62696791000193 · Alocação mínima · Regulamento · ID 1143317 · 20/03/2026 · versão Regulamento — referência 20/03/2026 · p. 10 · Anexo I, 4.2 · https://fnet.bmfbovespa.com.br/fnet/publico/visualizarDocumento?id=1143317</a:t>
            </a:r>
          </a:p>
          <a:p>
            <a:r>
              <a:t>CNPJ 62696791000193 · Alocação mínima · Excerto da fonte:</a:t>
            </a:r>
          </a:p>
          <a:p>
            <a:r>
              <a:t>4.2 Decorridos 180 (cento e oitenta) dias do início de suas atividades, a Classe deverá possuir parcela mínima de 51% (cinquenta e um por cento) de seu Patrimônio Líquido representados por Direitos Creditórios do Agronegócio, enquanto a parcela de 49% (quarenta e nove por cento) remanescente deverá ser alocada em Outros Ativos ou Ativos Financeiros de Liquidez. 4.3 Os Direitos Creditórios do Agronegócio serão adquiridos integral ou parcialmente, sempre de acordo com a Política de Investimentos. 4.4 Tendo em vista (i) a natureza variada dos Direitos Creditórios do Agronegócio passíveis de aquisição pela Classe; (ii) a amplitude da Política de Investimentos; e (iii) a potencial diversificação de Cedentes/Endossantes e Devedores, não é possível precisar os processos de origem dos Direitos Creditórios do Agronegócio e as políticas de concessão de crédito adotadas pelos Cedentes/Endossantes. 4.5 Os Direitos Creditórios do Agronegócio deverão contar com toda a documentação necessária para o exercício das prerrogativas decorrentes da titularidade dos ativos, e capaz de comprovar a origem, a existência e a exigibilidade dos Direitos Creditórios do Agronegócio (“Documentos Comprobatórios”)</a:t>
            </a:r>
          </a:p>
          <a:p>
            <a:r>
              <a:t>CNPJ 62696791000193 · Alocação mínima · AGE · ID 1143319 · 20/03/2026 10:00 · versão AGE — referência 20/03/2026 10:00 · p. 3 · AGC 20/03/2026, 4.1(j)–(k) · https://fnet.bmfbovespa.com.br/fnet/publico/visualizarDocumento?id=1143319</a:t>
            </a:r>
          </a:p>
          <a:p>
            <a:r>
              <a:t>CNPJ 62696791000193 · Alocação mínima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Alocação mínima · Condição: Vigente a partir do fechamento de 23/03/2026. O agregado genérico de direitos do IME não comprova, sozinho, a natureza agronegócio de todos os ativos nem a conclusão da carência inicial.</a:t>
            </a:r>
          </a:p>
          <a:p>
            <a:r>
              <a:t>CNPJ 62696791000193 · Alocação mínima · Mecânica: {"operator": "&gt;=", "limit": 51.0, "unit": "percent", "numerator": "agribusiness_credit_rights", "denominator": "net_asset_value", "frequency": "daily", "layer": "62696791000193", "effective_from": "2026-03-23", "effective_status": "explicit_assembly_effective_date", "initial_days": 180, "initial_date": null}</a:t>
            </a:r>
          </a:p>
          <a:p>
            <a:r>
              <a:t>CNPJ 62696791000193 · Alocação mínima · Versão e prevalência: Leitura específica das cláusulas indicadas; condições e conflitos preservados. Seleção documental atual não comprova vigência jurídica por data isolada.</a:t>
            </a:r>
          </a:p>
          <a:p>
            <a:r>
              <a:t>CNPJ 55563624000109 · Alocação mínima · Base da comparação IME: {"criterion_id": "allocation", "observed_value": 99.87020304792446, "unit": "percent", "competence": "08/2026", "status": "not_comparable", "reason": "Vigência efetiva não comprovada; data do documento isolada não certifica enquadramento histórico.", "formula": "fidc_quotas / net_asset_value × 100",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67.0}</a:t>
            </a:r>
          </a:p>
          <a:p>
            <a:r>
              <a:t>CNPJ 55563624000109 · Alocação mínima · Regulamento · ID 1192614 · 30/04/2026 · versão Regulamento30/04/2026 · p. 13 · AnexoI4.10 · https://fnet.bmfbovespa.com.br/fnet/publico/visualizarDocumento?id=1192614</a:t>
            </a:r>
          </a:p>
          <a:p>
            <a:r>
              <a:t>CNPJ 55563624000109 · Alocação mínima · Excerto da fonte:</a:t>
            </a:r>
          </a:p>
          <a:p>
            <a:r>
              <a:t>4.10 Decorridos 180 (cento e oitenta) dias da Data da 1ª Integralização da Classe, a Classe deverá manter alocado, no mínimo, 67% (sessenta e sete por cento) do seu Patrimônio Líquido em Cotas da Classe Investida. 4.11 Nos termos dos artigos 45, parágrafo 7º, e 47 parágrafo único do Anexo Normativo II à Resolução CVM 175, uma vez que as Cotas são destinadas exclusivamente a Investidores Profissionais, a Classe poderá ter até 100% (cem por cento) de seu Patrimônio Líquido alocado em Cotas da Classe Investida, as quais são emitidas pela Classe Investida.</a:t>
            </a:r>
          </a:p>
          <a:p>
            <a:r>
              <a:t>CNPJ 55563624000109 · Alocação mínima · Regulamento · ID 1192614 · 30/04/2026 · versão Regulamento30/04/2026 · p. 12 · AnexoI4.9 · https://fnet.bmfbovespa.com.br/fnet/publico/visualizarDocumento?id=1192614</a:t>
            </a:r>
          </a:p>
          <a:p>
            <a:r>
              <a:t>CNPJ 55563624000109 · Alocação mínima · Excerto da fonte:</a:t>
            </a:r>
          </a:p>
          <a:p>
            <a:r>
              <a:t>4.9 A parcela do Patrimônio Líquido que não estiver alocada em Cotas da Classe Investida será necessariamente alocada em Ativos Financeiros de Liquidez. BTG Pactual SAC: 0800 772 28 27 - Ouvidoria: 0800 722 00 48 - btgpactual.com 5</a:t>
            </a:r>
          </a:p>
          <a:p>
            <a:r>
              <a:t>CNPJ 55563624000109 · Alocação mínima · Mecânica: {"operator": "&gt;=", "limit": 67.0, "unit": "percent", "numerator": "fidc_quotas", "denominator": "net_asset_value", "frequency": "not_stated", "layer": "class", "effective_status": "document_date_only", "document_date": "2026-04-30", "requires_initial_date": true}</a:t>
            </a:r>
          </a:p>
          <a:p>
            <a:r>
              <a:t>CNPJ 55563624000109 · Alocação mínima · Versão e prevalência: Leitura específica das cláusulas indicadas; condições e conflitos preservados. Seleção documental atual não comprova vigência jurídica por data isolada.</a:t>
            </a:r>
          </a:p>
          <a:p>
            <a:r>
              <a:t>CNPJ 55563624000109 · Alocação mínima · Resumo do histórico: {"count": 1, "dates": ["2026-04-30"], "document_count": 1, "sources": [{"document_id": "1192614", "title": "Regulamento", "reference_date": "2026-04-30", "version": "1", "page": "11-13", "url": "https://fnet.bmfbovespa.com.br/fnet/publico/visualizarDocumento?id=1192614", "sha256": "f56e63ace0acde41d2f47fb48f1ac7f3f7df5e2d32de092d7c5e075a52516632"}], "reference": {"path": "history/55563624000109.json", "criterion_id": "allocation", "total_count": 1, "preview_count": 1, "full_text_deferred": true, "sha256": "7835d573fb58a3c19adf5b8ecc2aee2bdbb9a88f7a0c0209b5f262b64c7522e3"}}</a:t>
            </a:r>
          </a:p>
          <a:p>
            <a:r>
              <a:t>CNPJ 62552447000120 · Alocação mínima · Base da comparação IME: {"criterion_id": "allocation", "observed_value": 104.36099466414683, "unit": "percent", "competence": "08/2026", "status": "not_comparable", "reason": "Vigência efetiva não comprovada; data do documento isolada não certifica enquadramento histórico.", "formula": "credit_rights / net_asset_value × 100",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50.0}</a:t>
            </a:r>
          </a:p>
          <a:p>
            <a:r>
              <a:t>CNPJ 62552447000120 · Alocação mínima · Regulamento · ID 1200623 · 21/05/2026 · versão Consolidado21/05/2026 aprovado pelo ato1200625 · p. 14 · AnexoI4.9 · https://fnet.bmfbovespa.com.br/fnet/publico/visualizarDocumento?id=1200623</a:t>
            </a:r>
          </a:p>
          <a:p>
            <a:r>
              <a:t>CNPJ 62552447000120 · Alocação mínima · Excerto da fonte:</a:t>
            </a:r>
          </a:p>
          <a:p>
            <a:r>
              <a:t>4.9 Decorridos 180 (cento e oitenta) dias da Data da Primeira Integralização, a Classe deverá manter alocados em Direitos Creditórios, no mínimo, para fins tributários, 67% (sessenta e sete por cento) do seu Patrimônio Líquido, nos termos da Lei 14.754 e da Resolução CMN 5.111, e, para fins regulatórios, 50% (cinquenta por cento) do seu Patrimônio Líquido, nos termos da Resolução CVM 175. Eventual desenquadramento da Carteira obrigará o Gestor aos procedimentos de desenquadramento e reenquadramento previstos na Lei 14.754 e na Resolução CMN 5.111, para f ins tributários, e na Resolução CVM 175, par</a:t>
            </a:r>
          </a:p>
          <a:p>
            <a:r>
              <a:t>CNPJ 62552447000120 · Alocação mínima · Mecânica: {"operator": "&gt;=", "unit": "percent", "numerator": "credit_rights", "denominator": "net_asset_value", "frequency": "not_stated", "layer": "class", "effective_status": "document_date_only", "document_date": "2026-05-21", "requires_initial_date": true, "limit": 50.0}</a:t>
            </a:r>
          </a:p>
          <a:p>
            <a:r>
              <a:t>CNPJ 62552447000120 · Alocação mínima · Versão e prevalência: Leitura específica das cláusulas indicadas; condições e conflitos preservados. Seleção documental atual não comprova vigência jurídica por data isolada.</a:t>
            </a:r>
          </a:p>
          <a:p>
            <a:r>
              <a:t>CNPJ 63953620000165 · Alocação mínima · Base da comparação IME: {"criterion_id": "allocation", "observed_value": 93.29241106598856, "unit": "percent", "competence": "08/2026", "status": "not_comparable", "reason": "Vigência efetiva não comprovada; data do documento isolada não certifica enquadramento histórico.", "formula": "credit_rights / net_asset_value × 100",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50.0}</a:t>
            </a:r>
          </a:p>
          <a:p>
            <a:r>
              <a:t>CNPJ 63953620000165 · Alocação mínima · Anexo ao Regulamento · ID 1222863 · 02/06/2026 · versão AnexoConsignadoPrivado02/06/2026 · p. 6 · 4.13 · https://fnet.bmfbovespa.com.br/fnet/publico/visualizarDocumento?id=1222863</a:t>
            </a:r>
          </a:p>
          <a:p>
            <a:r>
              <a:t>CNPJ 63953620000165 · Alocação mínima · Excerto da fonte:</a:t>
            </a:r>
          </a:p>
          <a:p>
            <a:r>
              <a:t>4.13 Decorridos 180 (cento e oitenta) dias do início de suas atividades, a Classe deverá manter alocado, no mínimo, para fins tributários, 67% (sessenta e sete por cento) do seu Patrimônio Líquido em Direitos Creditórios, nos termos da Resolução CMN 5.111, e para fins regulatórios, 50% (cinquenta por cento) do seu Patrimônio Líquido em Direitos Creditórios, nos termos da Resolução CVM 175. 4.14 Nos termos do Art. 45, §7º, inciso II, do Anexo Normativo II da Resolução CVM 175, a Classe poderá ter até 100% (cem por cento) de seu Patrimônio Líquido alocado em Direitos Creditórios, derivativos, observado o disposto nest</a:t>
            </a:r>
          </a:p>
          <a:p>
            <a:r>
              <a:t>CNPJ 63953620000165 · Alocação mínima · Mecânica: {"operator": "&gt;=", "unit": "percent", "denominator": "net_asset_value", "frequency": "not_stated", "layer": "class", "effective_status": "document_date_only", "document_date": "2026-06-02", "limit": 50.0, "numerator": "credit_rights", "requires_initial_date": true}</a:t>
            </a:r>
          </a:p>
          <a:p>
            <a:r>
              <a:t>CNPJ 63953620000165 · Alocação mínima · Versão e prevalência: Leitura específica das cláusulas indicadas; condições e conflitos preservados. Seleção documental atual não comprova vigência jurídica por data isolada.</a:t>
            </a:r>
          </a:p>
          <a:p>
            <a:r>
              <a:t>CNPJ 54871427000194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null, "comparison_required": true, "context_formula": "Direitos creditórios / PL", "context_value": 91.84981349574433, "context_unit": "percent"}</a:t>
            </a:r>
          </a:p>
          <a:p>
            <a:r>
              <a:t>CNPJ 54871427000194 · Alocação para tratamento tributário · Regulamento · ID 670691 · 2024-04-28 · versão 1 · p. 5 · https://fnet.bmfbovespa.com.br/fnet/publico/visualizarDocumento?id=670691</a:t>
            </a:r>
          </a:p>
          <a:p>
            <a:r>
              <a:t>CNPJ 54871427000194 · Alocação para tratamento tributário · Excerto da fonte:</a:t>
            </a:r>
          </a:p>
          <a:p>
            <a:r>
              <a:t>Os rendimentos auf eridos pelo cotista do FUNDO estarão sujeitos à tributação pelo IR, à alíquota de  15% (quinze por cento), na data da distribuição de rendimentos ou d a amortização de cotas,  considerando que o FUNDO seja classificado como entidade de investimento e cumpra os critérios de  composição da carteira com, no mínimo, 67% (sessenta e sete por cento) de direitos creditórios de  acordo com a Lei nº 14.754, de 12 de dezembro de 2023 (“Lei 14.754”) e a Resolução do Conselho  Monetário Nacional nº 5.111, de 21 de dezembro de 2023 (“Resolução CMN 5.111”).</a:t>
            </a:r>
          </a:p>
          <a:p>
            <a:r>
              <a:t>CNPJ 54871427000194 · Alocação para tratamento tributário · Regulamento · ID 670691 · 2024-04-28 · versão 1 · p. 5 · https://fnet.bmfbovespa.com.br/fnet/publico/visualizarDocumento?id=670691</a:t>
            </a:r>
          </a:p>
          <a:p>
            <a:r>
              <a:t>CNPJ 54871427000194 · Alocação para tratamento tributário · Excerto da fonte:</a:t>
            </a:r>
          </a:p>
          <a:p>
            <a:r>
              <a:t>A GESTORA do FUNDO buscará manter o cumprimento do requisito de composição da carteira do  FUNDO com, no mínimo 67% (sessenta e sete por cento) em direitos creditórios acima comentados.</a:t>
            </a:r>
          </a:p>
          <a:p>
            <a:r>
              <a:t> Todavia, caso a composição mínima do patrimônio líquido do FUNDO não seja atingida e ocorra o  ef etivo desenquadramento tributário da carteira, os cotistas pessoa f ísica ou jurídica residentes no  Brasil passarão a se sujeitar à regra geral de tributação de fundos, conforme previsto no art. 17 da Lei</a:t>
            </a:r>
          </a:p>
          <a:p>
            <a:r>
              <a:t> 14.754, segundo a qual: (1) haverá incidência periódica de IR todo mês de maio e novembro de cada  ano-calendário sobre os rendimentos auferidos pelo cotista em relação ao investimento nas cotas do  FUNDO, à alíquota de 15% (quinze por cento) ou 20% (vinte por cento), a depender da carteira do  FUNDO ser classificada, respectivamente, como de curto ou longo prazo; e (2) haverá incidência de IR  complementar, conforme alíquotas regressivas que variam de 22,5% (vinte e dois e meio por cento) a  15% (quinze por cento) a depender do prazo de aplicação, por ocasião da amortização ou liquidação  das Cotas do FUNDO. Certos tipos de investidor podem se benef iciar de alíquotas dif erenciadas.</a:t>
            </a:r>
          </a:p>
          <a:p>
            <a:r>
              <a:t>CNPJ 54871427000194 · Alocação para tratamento tributário · Condição: Documentos atuais selecionados no inventário por categoria/escopo; a data documental isolada não comprova vigência jurídica.</a:t>
            </a:r>
          </a:p>
          <a:p>
            <a:r>
              <a:t>CNPJ 54871427000194 · Alocação para tratamento tributário · Versão e prevalência: Documentos atuais selecionados no inventário por categoria/escopo; a data documental isolada não comprova vigência jurídica.</a:t>
            </a:r>
          </a:p>
          <a:p>
            <a:r>
              <a:t>CNPJ 54871427000194 · Alocação para tratamento tributário · Resumo do histórico: {"count": 1, "dates": ["2024-04-19"], "document_count": 1, "sources": [{"document_id": "670689", "title": "Regulamento", "reference_date": "2024-04-19", "version": "1", "page": 5, "url": "https://fnet.bmfbovespa.com.br/fnet/publico/visualizarDocumento?id=670689", "sha256": "891bc9bc5d87bbc02ec139077a84d2702eb81ea02035fb71d24f5b8366b94a0b"}], "reference": {"path": "history/54871427000194.json", "criterion_id": "tax_allocation", "total_count": 1, "preview_count": 1, "full_text_deferred": true, "sha256": "35d7cd99be50c7287c9fb675cf4f2e736002315295a225a9efa79c8d9186d874"}}</a:t>
            </a:r>
          </a:p>
          <a:p>
            <a:r>
              <a:t>CNPJ 60010416000112 · Alocação para tratamento tributário · Base da comparação IME: {"criterion_id": "tax_allocation", "observed_value": 117.78665480900618, "unit": "percent", "competence": "08/2026", "status": "not_comparable", "reason": "Vigência efetiva não comprovada; data do documento isolada não certifica enquadramento histórico.", "formula": "credit_rights / net_asset_value × 100",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67.0}</a:t>
            </a:r>
          </a:p>
          <a:p>
            <a:r>
              <a:t>CNPJ 60010416000112 · Alocação para tratamento tributário · Regulamento · ID 1051393 · 09/10/2025 · versão Regulamento09/10/2025 · p. 11 · AnexoI4.6 · https://fnet.bmfbovespa.com.br/fnet/publico/visualizarDocumento?id=1051393</a:t>
            </a:r>
          </a:p>
          <a:p>
            <a:r>
              <a:t>CNPJ 60010416000112 · Alocação para tratamento tributário · Excerto da fonte:</a:t>
            </a:r>
          </a:p>
          <a:p>
            <a:r>
              <a:t>4.6 Decorridos 180 (cento e oitenta) dias do início de suas atividades, a Classe deverá manter alocado, no mínimo: para f ins tributários, 67% (sessenta e sete por cento) do seu Patrimônio Líquido em Direitos Creditórios, nos termos da Resolução CMN 5.111; e para fins regulatórios, 50% (cinquenta por cento) do seu Patrimônio Líquido em Direitos Creditórios, nos termos da Resolução CVM 175. BTG Pactual SAC: 0800 772 28 27 - Ouvidoria: 0800 722 00 48 - btgpactual.com 11</a:t>
            </a:r>
          </a:p>
          <a:p>
            <a:r>
              <a:t>CNPJ 60010416000112 · Alocação para tratamento tributário · Mecânica: {"operator": "&gt;=", "unit": "percent", "denominator": "net_asset_value", "frequency": "not_stated", "layer": "class", "effective_status": "document_date_only", "document_date": "2025-10-09", "numerator": "credit_rights", "limit": 67.0, "requires_initial_date": true}</a:t>
            </a:r>
          </a:p>
          <a:p>
            <a:r>
              <a:t>CNPJ 60010416000112 · Alocação para tratamento tributário · Versão e prevalência: Leitura específica das cláusulas indicadas; condições e conflitos preservados. Seleção documental atual não comprova vigência jurídica por data isolada.</a:t>
            </a:r>
          </a:p>
          <a:p>
            <a:r>
              <a:t>CNPJ 60010416000112 · Alocação para tratamento tributário · Resumo do histórico: {"count": 1, "dates": ["2025-03-20"], "document_count": 1, "sources": [{"document_id": "993786", "title": "Regulamento", "reference_date": "2025-03-20", "version": "1", "page": 6, "clause": "5.3", "url": "https://fnet.bmfbovespa.com.br/fnet/publico/visualizarDocumento?id=993786", "sha256": "fd0fdd369a195510d81f81f505195a0b09e5f43522a990afa7d58c4f872921c8"}], "reference": {"path": "history/60010416000112.json", "criterion_id": "tax_allocation", "total_count": 1, "preview_count": 1, "full_text_deferred": true, "sha256": "8e2bd813f4c51cf01f6bfaad164bafe69d2bbb192f753eac92da3a01c2e63046"}}</a:t>
            </a:r>
          </a:p>
          <a:p>
            <a:r>
              <a:t>CNPJ 62696791000193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null, "comparison_required": true, "context_formula": "Direitos creditórios / PL", "context_value": null, "context_unit": "percent"}</a:t>
            </a:r>
          </a:p>
          <a:p>
            <a:r>
              <a:t>CNPJ 62696791000193 · Alocação para tratamento tributário · Regulamento · ID 1143317 · 2026-03-20 · versão 1 · p. 30 · https://fnet.bmfbovespa.com.br/fnet/publico/visualizarDocumento?id=1143317</a:t>
            </a:r>
          </a:p>
          <a:p>
            <a:r>
              <a:t>CNPJ 62696791000193 · Alocação para tratamento tributário · Excerto da fonte:</a:t>
            </a:r>
          </a:p>
          <a:p>
            <a:r>
              <a:t>Os rendimentos distribuídos pela Classe, de modo geral, sujeitam-se à incidência do IRF à alíquota  de 20% (vinte por cento), inclusive quando distribuídos à Cotista que seja pessoa jurídica isenta.</a:t>
            </a:r>
          </a:p>
          <a:p>
            <a:r>
              <a:t> Os ganhos de capital ou rendimentos auf eridos na alienação ou no resgate de cotas da Classe  sujeitam-se à tributação pelo IRF à alíquota de 20% (vinte por cento), no caso de resgate de cotas,  ou conforme normas aplicáveis aos ganhos de capital ou ganhos líquidos auf eridos em renda  variável, nos casos de alienação de cotas.</a:t>
            </a:r>
          </a:p>
          <a:p>
            <a:r>
              <a:t> O IRF pago será considerado: (i) antecipação da tributação corporativa para os investidores pessoa  jurídica (nos regimes de lucro real, presumido ou arbitrado); e (ii) def initivo, nos demais casos,  incluindo de investidores pessoas f ísicas.</a:t>
            </a:r>
          </a:p>
          <a:p>
            <a:r>
              <a:t> Não obstante o disposto no item acima, em conf ormidade com o disposto na Lei 11.033, com a  redação dada pela Lei nº 14.754, o cotista pessoa f ísica f icará isento do IRF e na declaração de  ajuste anual, sobre as distribuições de lucro realizadas pela Classe, exclusivamente na hipótese de  a Classe, cumulativamente: (a) possuir, no mínimo, 100 (cem) cotistas; e (b) as cotas serem  admitidas à negociação exclusivamente em bolsas de valores ou no mercado de balcão organizado.</a:t>
            </a:r>
          </a:p>
          <a:p>
            <a:r>
              <a:t> O benef ício não será concedido ao Cotista que for pessoa física, titular de cotas que representem  10% (dez por cento) ou mais da totalidade das cotas emitidas pela Classe ou cujas cotas lhe derem  direito ao recebimento de rendimento superior a 10% (dez por cento) do total de rendimentos  auf eridos pela Classe.</a:t>
            </a:r>
          </a:p>
          <a:p>
            <a:r>
              <a:t> O benef ício também não será concedido aos Cotistas pessoas físicas que, individualmente ou em  conjunto com parentes até segundo grau, sejam titulares de cotas que representem 30% (trinta por  cento) ou mais da totalidade das cotas emitidas pela Classe, ou ainda cujas cotas lhes derem direito  ao recebimento de rendimento superior a 30% (trinta por cento) do total de rendimentos auf eridos  pela Classe.</a:t>
            </a:r>
          </a:p>
          <a:p>
            <a:r>
              <a:t> Não há garantia de que o benef ício f iscal atualmente vigente não venha a ser posteriormente  restringido, suspenso, revogado ou extinto por legislação superveniente, ocasião na qual poderá vir  a incidir a tributação sobre os rendimentos distribuídos pela Classe, de acordo com os termos da  legislação que vier a estabelecer a incidência tributária.</a:t>
            </a:r>
          </a:p>
          <a:p>
            <a:r>
              <a:t>CNPJ 62696791000193 · Alocação para tratamento tributário · Condição: Documentos atuais selecionados no inventário por categoria/escopo; a data documental isolada não comprova vigência jurídica.</a:t>
            </a:r>
          </a:p>
          <a:p>
            <a:r>
              <a:t>CNPJ 62696791000193 · Alocação para tratamento tributário · Versão e prevalência: Documentos atuais selecionados no inventário por categoria/escopo; a data documental isolada não comprova vigência jurídica.</a:t>
            </a:r>
          </a:p>
          <a:p>
            <a:r>
              <a:t>CNPJ 55563624000109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null, "comparison_required": true, "context_formula": "Direitos creditórios / PL", "context_value": 0.0, "context_unit": "percent"}</a:t>
            </a:r>
          </a:p>
          <a:p>
            <a:r>
              <a:t>CNPJ 55563624000109 · Alocação para tratamento tributário · Regulamento · ID 1192614 · 2026-04-30 · versão 1 · p. 38 · https://fnet.bmfbovespa.com.br/fnet/publico/visualizarDocumento?id=1192614</a:t>
            </a:r>
          </a:p>
          <a:p>
            <a:r>
              <a:t>CNPJ 55563624000109 · Alocação para tratamento tributário · Excerto da fonte:</a:t>
            </a:r>
          </a:p>
          <a:p>
            <a:r>
              <a:t>(xiii) Risco de descaracterização do regime tributário aplicável à Classe. Caso (a) a Classe deixe de  cumprir com o percentual de, pelo menos, 67% (sessenta e sete por cento) do Patrimônio Líquido  aplicado em direitos creditórios, nos termos dos artigos 18, 19 e 24 da Lei 14.754, para fins de  enquadramento do FUNDO e da Classe como “Entidade de Investimento” na forma da Resolução do  CMN nº 5.111, de 21 de dezembro de 2023, conforme alterada, ou qualquer outra norma que venha  a substitui-la, sujeitando o FUNDO e a Classe ao “Regime Específico dos Fundos Não Sujeitos à  Tributação Periódica” conforme a na Seção III da Lei 14.754 ou deixe de satisfazer qualquer uma das  condições previstas na Lei 14.754, neste Anexo e/ou no Regulamento; e/ou (b) o FUNDO ou Classe  deixe de ser enquadrado como “Entidade de Investimento” na forma da Resolução do CMN nº 5.111,  de 21 de dezembro de 2023, ou demais normas do CMN e da CVM, não é possível garantir que o  FUNDO e/ou Classe continuarão a receber o tratamento tributário destinado ao “Regime Específico  dos Fundos Não Sujeitos à Tributação Periódica”, conforme definido na legislação específica.</a:t>
            </a:r>
          </a:p>
          <a:p>
            <a:r>
              <a:t>CNPJ 55563624000109 · Alocação para tratamento tributário · Regulamento · ID 1192614 · 2026-04-30 · versão 1 · p. 6 · https://fnet.bmfbovespa.com.br/fnet/publico/visualizarDocumento?id=1192614</a:t>
            </a:r>
          </a:p>
          <a:p>
            <a:r>
              <a:t>CNPJ 55563624000109 · Alocação para tratamento tributário · Excerto da fonte:</a:t>
            </a:r>
          </a:p>
          <a:p>
            <a:r>
              <a:t>No caso de Fundos de Investimento em Direitos Creditórios (FIDC) classificados como “entidade de investimento” e  cuja carteira seja composta por, no mínimo, 67% (sessenta e sete por cento) de direitos creditórios conforme definições  prescritas em regulamentação expedida pelo Conselho Monetário Nacional, os rendimentos auferidos na amortização  ou no resgate das cotas, inclusive quando decorrentes da liquidação do FUNDO, ficam sujeitos à incidência do IRF à  alíquota de 15% (quinze por cento) sobre a diferença positiva entre o valor de amortização ou resgate e o custo de  aquisição das Cotas.</a:t>
            </a:r>
          </a:p>
          <a:p>
            <a:r>
              <a:t>CNPJ 55563624000109 · Alocação para tratamento tributário · Condição: Documentos atuais selecionados no inventário por categoria/escopo; a data documental isolada não comprova vigência jurídica.</a:t>
            </a:r>
          </a:p>
          <a:p>
            <a:r>
              <a:t>CNPJ 55563624000109 · Alocação para tratamento tributário · Versão e prevalência: Documentos atuais selecionados no inventário por categoria/escopo; a data documental isolada não comprova vigência jurídica.</a:t>
            </a:r>
          </a:p>
          <a:p>
            <a:r>
              <a:t>CNPJ 55563624000109 · Alocação para tratamento tributário · Resumo do histórico: {"count": 2, "dates": ["2025-01-31", "2026-01-31"], "document_count": 2, "sources": [{"document_id": "1178840", "title": "Demonstrações Financeiras", "reference_date": "2026-01-31", "version": "1", "page": 23, "url": "https://fnet.bmfbovespa.com.br/fnet/publico/visualizarDocumento?id=1178840", "sha256": "c458e98664c5c907ddb5a05a94b120bed4e05295b2bfc420f5ba69af0a229abe"}, {"document_id": "891861", "title": "Demonstrações Financeiras", "reference_date": "2025-01-31", "version": "1", "page": 24, "url": "https://fnet.bmfbovespa.com.br/fnet/publico/visualizarDocumento?id=891861", "sha256": "e9cb9e6ddbe505fe068cfcac33605165a98313489de0d3ce6d4d238263c3f3e7"}], "reference": {"path": "history/55563624000109.json", "criterion_id": "tax_allocation", "total_count": 2, "preview_count": 2, "full_text_deferred": true, "sha256": "7835d573fb58a3c19adf5b8ecc2aee2bdbb9a88f7a0c0209b5f262b64c7522e3"}}</a:t>
            </a:r>
          </a:p>
          <a:p>
            <a:r>
              <a:t>CNPJ 62552447000120 · Alocação para tratamento tributário · Base da comparação IME: {"criterion_id": "tax_allocation", "observed_value": 104.36099466414683, "unit": "percent", "competence": "08/2026", "status": "not_comparable", "reason": "Vigência efetiva não comprovada; data do documento isolada não certifica enquadramento histórico.", "formula": "credit_rights / net_asset_value × 100",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67.0}</a:t>
            </a:r>
          </a:p>
          <a:p>
            <a:r>
              <a:t>CNPJ 62552447000120 · Alocação para tratamento tributário · Regulamento · ID 1200623 · 21/05/2026 · versão Consolidado21/05/2026 aprovado pelo ato1200625 · p. 14 · AnexoI4.9 · https://fnet.bmfbovespa.com.br/fnet/publico/visualizarDocumento?id=1200623</a:t>
            </a:r>
          </a:p>
          <a:p>
            <a:r>
              <a:t>CNPJ 62552447000120 · Alocação para tratamento tributário · Excerto da fonte:</a:t>
            </a:r>
          </a:p>
          <a:p>
            <a:r>
              <a:t>4.9 Decorridos 180 (cento e oitenta) dias da Data da Primeira Integralização, a Classe deverá manter alocados em Direitos Creditórios, no mínimo, para fins tributários, 67% (sessenta e sete por cento) do seu Patrimônio Líquido, nos termos da Lei 14.754 e da Resolução CMN 5.111, e, para fins regulatórios, 50% (cinquenta por cento) do seu Patrimônio Líquido, nos termos da Resolução CVM 175. Eventual desenquadramento da Carteira obrigará o Gestor aos procedimentos de desenquadramento e reenquadramento previstos na Lei 14.754 e na Resolução CMN 5.111, para f ins tributários, e na Resolução CVM 175, par</a:t>
            </a:r>
          </a:p>
          <a:p>
            <a:r>
              <a:t>CNPJ 62552447000120 · Alocação para tratamento tributário · Mecânica: {"operator": "&gt;=", "unit": "percent", "numerator": "credit_rights", "denominator": "net_asset_value", "frequency": "not_stated", "layer": "class", "effective_status": "document_date_only", "document_date": "2026-05-21", "requires_initial_date": true, "limit": 67.0}</a:t>
            </a:r>
          </a:p>
          <a:p>
            <a:r>
              <a:t>CNPJ 62552447000120 · Alocação para tratamento tributário · Versão e prevalência: Leitura específica das cláusulas indicadas; condições e conflitos preservados. Seleção documental atual não comprova vigência jurídica por data isolada.</a:t>
            </a:r>
          </a:p>
          <a:p>
            <a:r>
              <a:t>CNPJ 63953620000165 · Alocação para tratamento tributário · Base da comparação IME: {"criterion_id": "tax_allocation", "observed_value": 93.29241106598856, "unit": "percent", "competence": "08/2026", "status": "not_comparable", "reason": "Vigência efetiva não comprovada; data do documento isolada não certifica enquadramento histórico.", "formula": "credit_rights / net_asset_value × 100",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67.0}</a:t>
            </a:r>
          </a:p>
          <a:p>
            <a:r>
              <a:t>CNPJ 63953620000165 · Alocação para tratamento tributário · Anexo ao Regulamento · ID 1222863 · 02/06/2026 · versão AnexoConsignadoPrivado02/06/2026 · p. 6 · 4.13 · https://fnet.bmfbovespa.com.br/fnet/publico/visualizarDocumento?id=1222863</a:t>
            </a:r>
          </a:p>
          <a:p>
            <a:r>
              <a:t>CNPJ 63953620000165 · Alocação para tratamento tributário · Excerto da fonte:</a:t>
            </a:r>
          </a:p>
          <a:p>
            <a:r>
              <a:t>4.13 Decorridos 180 (cento e oitenta) dias do início de suas atividades, a Classe deverá manter alocado, no mínimo, para fins tributários, 67% (sessenta e sete por cento) do seu Patrimônio Líquido em Direitos Creditórios, nos termos da Resolução CMN 5.111, e para fins regulatórios, 50% (cinquenta por cento) do seu Patrimônio Líquido em Direitos Creditórios, nos termos da Resolução CVM 175. 4.14 Nos termos do Art. 45, §7º, inciso II, do Anexo Normativo II da Resolução CVM 175, a Classe poderá ter até 100% (cem por cento) de seu Patrimônio Líquido alocado em Direitos Creditórios, derivativos, observado o disposto nest</a:t>
            </a:r>
          </a:p>
          <a:p>
            <a:r>
              <a:t>CNPJ 63953620000165 · Alocação para tratamento tributário · Mecânica: {"operator": "&gt;=", "unit": "percent", "denominator": "net_asset_value", "frequency": "not_stated", "layer": "class", "effective_status": "document_date_only", "document_date": "2026-06-02", "limit": 67.0, "numerator": "credit_rights", "requires_initial_date": true}</a:t>
            </a:r>
          </a:p>
          <a:p>
            <a:r>
              <a:t>CNPJ 63953620000165 · Alocação para tratamento tributário · Versão e prevalência: Leitura específica das cláusulas indicadas; condições e conflitos preservados. Seleção documental atual não comprova vigência jurídica por data isolada.</a:t>
            </a:r>
          </a:p>
          <a:p>
            <a:r>
              <a:t>CNPJ 54871427000194 · Classes investidas e limites do FIC · Demonstrações Financeiras - Fusão, cisão e incorporação · ID 1219522 · 2026-02-02 · versão 1 · p. 31 · https://fnet.bmfbovespa.com.br/fnet/publico/visualizarDocumento?id=1219522</a:t>
            </a:r>
          </a:p>
          <a:p>
            <a:r>
              <a:t>CNPJ 54871427000194 · Classes investidas e limites do FIC · Excerto da fonte:</a:t>
            </a:r>
          </a:p>
          <a:p>
            <a:r>
              <a:t>xv) Risco Regulatório e Judicial. Eventuais alterações ou novas normas ou leis aplicáveis à Classe,  seus ativos e a eventuais fundos investidos, incluindo, mas não se limitando àquelas referentes  a tributos, bem como decisões judiciais ou jurisprudência aplicando as regulamentações  existentes ou interpretando novas regulamentações, podem causar um efeito adverso relevante  no preço dos ativos e/ou na performance das posições financeiras adquiridas pela Classe e/ou  pelos fundos Investidos. Ainda, nesse sentido, poderão ocorrer interferências de autoridades  governamentais e órgãos reguladores na regulação dos mercados, bem como alterações das  políticas monetária e cambial. Tais eventos poderão impactar de maneira adversa o valor das  Cotas.</a:t>
            </a:r>
          </a:p>
          <a:p>
            <a:r>
              <a:t>CNPJ 54871427000194 · Classes investidas e limites do FIC · Condição: Documentos atuais selecionados no inventário por categoria/escopo; a data documental isolada não comprova vigência jurídica.</a:t>
            </a:r>
          </a:p>
          <a:p>
            <a:r>
              <a:t>CNPJ 54871427000194 · Classes investidas e limites do FIC · Versão e prevalência: Documentos atuais selecionados no inventário por categoria/escopo; a data documental isolada não comprova vigência jurídica.</a:t>
            </a:r>
          </a:p>
          <a:p>
            <a:r>
              <a:t>CNPJ 54871427000194 · Classes investidas e limites do FIC · Resumo do histórico: {"count": 5, "dates": ["2024-12-31", "2025-01-01", "2025-12-31"], "document_count": 3, "sources": [{"document_id": "1151805", "title": "Demonstrações Financeiras", "reference_date": "2025-12-31", "version": "1", "page": 31, "url": "https://fnet.bmfbovespa.com.br/fnet/publico/visualizarDocumento?id=1151805", "sha256": "f1cea70b152968bf96ef9221b27225953cb20aeef487b2798db3c25e11b528d4"}, {"document_id": "869529", "title": "Demonstrações Financeiras", "reference_date": "2025-01-01", "version": "1", "page": 32, "url": "https://fnet.bmfbovespa.com.br/fnet/publico/visualizarDocumento?id=869529", "sha256": "9a93a9369ac8efdbc54ff8fcee3ccac3abf88edab4807b9323d3852450771b2a"}, {"document_id": "870070", "title": "Demonstrações Financeiras", "reference_date": "2024-12-31", "version": "1", "page": 32, "url": "https://fnet.bmfbovespa.com.br/fnet/publico/visualizarDocumento?id=870070", "sha256": "9a93a9369ac8efdbc54ff8fcee3ccac3abf88edab4807b9323d3852450771b2a"}], "reference": {"path": "history/54871427000194.json", "criterion_id": "investee", "total_count": 5, "preview_count": 3, "full_text_deferred": true, "sha256": "35d7cd99be50c7287c9fb675cf4f2e736002315295a225a9efa79c8d9186d874"}}</a:t>
            </a:r>
          </a:p>
          <a:p>
            <a:r>
              <a:t>CNPJ 60010416000112 · Classes investidas e limites do FIC · Motivo: Não localizada uma cláusula material para este critério nos textos identificados e processados. A ausência de resultado não comprova inexistência da regra.</a:t>
            </a:r>
          </a:p>
          <a:p>
            <a:r>
              <a:t>CNPJ 62696791000193 · Classes investidas e limites do FIC · Regulamento · ID 1143317 · 20/03/2026 · versão Regulamento — referência 20/03/2026 · p. 7 · Anexo I, 1.1, Objetivo, categoria Geral · https://fnet.bmfbovespa.com.br/fnet/publico/visualizarDocumento?id=1143317</a:t>
            </a:r>
          </a:p>
          <a:p>
            <a:r>
              <a:t>CNPJ 62696791000193 · Classes investidas e limites do FIC · Excerto da fonte:</a:t>
            </a:r>
          </a:p>
          <a:p>
            <a:r>
              <a:t>(D) Categoria “Geral” (“Ativos em Geral do Agronegócio”): (i) cotas de classes que apliquem mais de 50% (cinquenta por cento) de seu patrimônio líquido nos ativos referidos nos incisos “A” a “D” acima, o que inclui cotas de outros FIAGRO, mas não se limita a essa categoria de f undos. Os Ativos Imobiliários do Agronegócio, Participações do Agronegócio, Ativos Financeiros do Agronegócio e Ativos em Geral do Agronegócio, quando ref eridos em conjunto, os “Outros Ativos”. Não há limites máximos de aplicação por emissor ou devedor, em função de um percentual do Patrimônio Líquido. O objetivo da Classe não representa, sob qualquer hipótese, garantia da Classe ou de seus Prestadores de Serviços Essenciais e/ou da Cogestora quanto à segurança, rentabilidade e liquidez dos títu</a:t>
            </a:r>
          </a:p>
          <a:p>
            <a:r>
              <a:t>CNPJ 62696791000193 · Classes investidas e limites do FIC · Regulamento · ID 1143317 · 20/03/2026 · versão Regulamento — referência 20/03/2026 · p. 11 · Anexo I, 4.8–4.9 · https://fnet.bmfbovespa.com.br/fnet/publico/visualizarDocumento?id=1143317</a:t>
            </a:r>
          </a:p>
          <a:p>
            <a:r>
              <a:t>CNPJ 62696791000193 · Classes investidas e limites do FIC · Excerto da fonte:</a:t>
            </a:r>
          </a:p>
          <a:p>
            <a:r>
              <a:t>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relacionadas ao Gestor. 4.8.1 As aplicações em Direitos Creditórios do Agronegócio decorrentes de receitas públicas originárias ou derivadas da União, dos Estados, do Distrito Federal e dos Municípios ou de suas autarquias e f undações, assim como em Direitos Creditórios do Agronegócio cedidos ou originados por empresas controladas pelo poder público, não estão submetidas ao limite de concentração por emissor previsto no caput. 4.9 Nos termos do Art. 45 do Anexo</a:t>
            </a:r>
          </a:p>
          <a:p>
            <a:r>
              <a:t>CNPJ 62696791000193 · Classes investidas e limites do FIC · Condição: O regulamento não identifica CNPJs de classes efetivamente investidas. Permissão de investimento não comprova posição.</a:t>
            </a:r>
          </a:p>
          <a:p>
            <a:r>
              <a:t>CNPJ 62696791000193 · Classes investidas e limites do FIC · Versão e prevalência: Leitura específica das cláusulas indicadas; condições e conflitos preservados. Seleção documental atual não comprova vigência jurídica por data isolada.</a:t>
            </a:r>
          </a:p>
          <a:p>
            <a:r>
              <a:t>CNPJ 55563624000109 · Classes investidas e limites do FIC · Regulamento · ID 1192614 · 30/04/2026 · versão Regulamento30/04/2026 · p. 11 · AnexoI4.1 · https://fnet.bmfbovespa.com.br/fnet/publico/visualizarDocumento?id=1192614</a:t>
            </a:r>
          </a:p>
          <a:p>
            <a:r>
              <a:t>CNPJ 55563624000109 · Classes investidas e limites do FIC · Excerto da fonte:</a:t>
            </a:r>
          </a:p>
          <a:p>
            <a:r>
              <a:t>4.1 Observados os demais termos deste Anexo, o objetivo da Classe é investir seus recursos em (i) cotas subordinadas mezanino de emissão da classe única do MERCADO CRÉDITO II BRASIL FUNDO DE INVESTIMENTO EM DIREITOS CREDITÓRIOS NÃO PADRONIZADOS, fundo de investimento em direitos creditórios inscrito no CNPJ sob o nº 41.970.012/0001-26 (“Cotas da Classe Investida” e “Classe Investida”, respectivamente), a qual, por sua vez, aplica seus recursos preponderantemente em direitos creditórios originados pela Mercado Pago, de acordo com os termos e condições est</a:t>
            </a:r>
          </a:p>
          <a:p>
            <a:r>
              <a:t>CNPJ 55563624000109 · Classes investidas e limites do FIC · Condição: Vínculo contratual identificado; quantidade de cotas efetivamente detida exige posição do FIC. Não somar PL do FIC e do investido.</a:t>
            </a:r>
          </a:p>
          <a:p>
            <a:r>
              <a:t>CNPJ 55563624000109 · Classes investidas e limites do FIC · Versão e prevalência: Leitura específica das cláusulas indicadas; condições e conflitos preservados. Seleção documental atual não comprova vigência jurídica por data isolada.</a:t>
            </a:r>
          </a:p>
          <a:p>
            <a:r>
              <a:t>CNPJ 55563624000109 · Classes investidas e limites do FIC · Resumo do histórico: {"count": 2, "dates": ["2025-01-31", "2026-01-31"], "document_count": 2, "sources": [{"document_id": "1178840", "title": "Demonstrações Financeiras", "reference_date": "2026-01-31", "version": "1", "page": 4, "url": "https://fnet.bmfbovespa.com.br/fnet/publico/visualizarDocumento?id=1178840", "sha256": "c458e98664c5c907ddb5a05a94b120bed4e05295b2bfc420f5ba69af0a229abe"}, {"document_id": "891861", "title": "Demonstrações Financeiras", "reference_date": "2025-01-31", "version": "1", "page": 18, "url": "https://fnet.bmfbovespa.com.br/fnet/publico/visualizarDocumento?id=891861", "sha256": "e9cb9e6ddbe505fe068cfcac33605165a98313489de0d3ce6d4d238263c3f3e7"}], "reference": {"path": "history/55563624000109.json", "criterion_id": "investee", "total_count": 2, "preview_count": 2, "full_text_deferred": true, "sha256": "7835d573fb58a3c19adf5b8ecc2aee2bdbb9a88f7a0c0209b5f262b64c7522e3"}}</a:t>
            </a:r>
          </a:p>
          <a:p>
            <a:r>
              <a:t>CNPJ 62552447000120 · Classes investidas e limites do FIC · Regulamento · ID 1200623 · 2026-05-21 · versão 1 · p. 6 · https://fnet.bmfbovespa.com.br/fnet/publico/visualizarDocumento?id=1200623</a:t>
            </a:r>
          </a:p>
          <a:p>
            <a:r>
              <a:t>CNPJ 62552447000120 · Classes investidas e limites do FIC · Excerto da fonte:</a:t>
            </a:r>
          </a:p>
          <a:p>
            <a:r>
              <a:t>integrantes do conglomerado econômico de instituições  f inanceiras classificadas como S1 pelo Banco Central do  Brasil (“BACEN” e “Instituições Financeiras S1”,  respectivamente), desde que não representem títulos de  emissão ou coobrigação de instituições financeiras, bem  como cotas de f undos de investimento que invistam  preponderantemente nestes direitos, títulos e/ou valores  mobiliários; e</a:t>
            </a:r>
          </a:p>
          <a:p>
            <a:r>
              <a:t> (d) “Direitos Creditórios Refinanciamento Livre”, na forma  de CCBs originadas no âmbito de um refinanciamento, de  acordo com a política de cobrança vigente, de Direitos  Creditórios Consignado Privado e de Direitos Creditórios  FGTS, que não contem com o lastro de Consignação ou  de cessão f iduciária do Saque-Aniversário,  respectivamente; e</a:t>
            </a:r>
          </a:p>
          <a:p>
            <a:r>
              <a:t> (ii) “Ativos Financeiros”, assim entendidos como, em conjunto:</a:t>
            </a:r>
          </a:p>
          <a:p>
            <a:r>
              <a:t> (a) moeda corrente nacional;</a:t>
            </a:r>
          </a:p>
          <a:p>
            <a:r>
              <a:t> (b) títulos públicos f ederais;</a:t>
            </a:r>
          </a:p>
          <a:p>
            <a:r>
              <a:t> (c) ativos f inanceiros de renda f ixa de emissão ou  coobrigação de Instituições Financeiras S1;</a:t>
            </a:r>
          </a:p>
          <a:p>
            <a:r>
              <a:t> (d) operações compromissadas, desde que lastreadas nos  títulos mencionados nas alíneas (b) e (c) acima; e</a:t>
            </a:r>
          </a:p>
          <a:p>
            <a:r>
              <a:t> (e) cotas do BTG Pactual Tesouro Selic Fundo de  Investimento Renda Fixa Ref erenciado DI, inscrito no  CNPJ sob o nº 09.215.250/0001-13;</a:t>
            </a:r>
          </a:p>
          <a:p>
            <a:r>
              <a:t> observados todos os limites de composição e diversificação da carteira da  Classe (“Carteira”), estabelecidos neste Regulamento e na  regulamentação aplicável.</a:t>
            </a:r>
          </a:p>
          <a:p>
            <a:r>
              <a:t> O objetivo da Classe não representa, sob qualquer hipótese, promessa,  garantia ou sugestão da Classe ou de seus Prestadores de Serviços  Essenciais quanto à segurança, rentabilidade e liquidez dos títulos  componentes de sua Carteira.</a:t>
            </a:r>
          </a:p>
          <a:p>
            <a:r>
              <a:t>CNPJ 62552447000120 · Classes investidas e limites do FIC · Condição: Documentos atuais selecionados no inventário por categoria/escopo; a data documental isolada não comprova vigência jurídica.</a:t>
            </a:r>
          </a:p>
          <a:p>
            <a:r>
              <a:t>CNPJ 62552447000120 · Classes investidas e limites do FIC · Versão e prevalência: Documentos atuais selecionados no inventário por categoria/escopo; a data documental isolada não comprova vigência jurídica.</a:t>
            </a:r>
          </a:p>
          <a:p>
            <a:r>
              <a:t>CNPJ 63953620000165 · Classes investidas e limites do FIC · Motivo: Não localizada uma cláusula material para este critério nos textos identificados e processados. A ausência de resultado não comprova inexistência da regra.</a:t>
            </a:r>
          </a:p>
          <a:p>
            <a:r>
              <a:t>CNPJ 54871427000194 · Classe, subclasse e responsabilidade · Regulamento · ID 670691 · 2024-04-28 · versão 1 · p. 29 · https://fnet.bmfbovespa.com.br/fnet/publico/visualizarDocumento?id=670691</a:t>
            </a:r>
          </a:p>
          <a:p>
            <a:r>
              <a:t>CNPJ 54871427000194 · Classe, subclasse e responsabilidade · Excerto da fonte:</a:t>
            </a:r>
          </a:p>
          <a:p>
            <a:r>
              <a:t>Anexo I ao Regulamento CLASSE ÚNICA DE RESPONSABILIDADE LIMITADA DO CONSIGNADO DELTA RECEIVABLES I FUNDO DE INVESTIMENTO EM DIREITOS CREDITÓRIOS  pelo Endossante e depositados em seu conta de sua titularidade para posterior repasse à  Classe. Neste caso, a Classe poderá sofrer perdas principalmente em relação ao atraso na  regularização da titularidade e pagamento dos Direitos Creditórios.</a:t>
            </a:r>
          </a:p>
          <a:p>
            <a:r>
              <a:t> (v) Risco de pré-pagamento dos Direitos Creditórios. A ocorrência de pré-  pagamentos em relação a um ou mais Direitos Creditórios poderá ocasionar perdas à Classe.</a:t>
            </a:r>
          </a:p>
          <a:p>
            <a:r>
              <a:t> A ocorrência de pré-pagamentos (pagamento em data anterior àquela originalmente pactuada)  de Direitos Creditórios reduz o horizonte original de rendimentos esperados pela Classe de  tais Direitos Creditórios, uma vez que o pré-pagamento poderá, se assim permitido pela  documentação do Direito Creditório ou, conf orme o caso, pela legislação aplicável, ser  realizado pelo valor de emissão do Direito Creditório atualizado até a data do pré-pagamento  pela taxa de juros pactuada entre os Endossantes e os Devedores de tais Direitos Creditórios,  de modo que os juros remuneratórios incidentes desde a data da realização do pré-pagamento  até a data de vencimento do respectivo Direito Creditório deixam de ser devidos à Classe.</a:t>
            </a:r>
          </a:p>
          <a:p>
            <a:r>
              <a:t> (vi) Riscos associados aos Devedores: os Direitos Creditórios a serem cedidos à  Classe serão descontados da remuneração do Devedor, através de desconto em f olha de  pagamento ou de benefício. Nesse sentido, na ocorrência de pré-pagamento, as parcelas  serão pagas antecipadamente e a Classe deverá utilizar tais montantes no pré-pagamento dos  Direitos Creditórios. Nesta hipótese, a Classe poderá não encontrar Direitos Creditórios  disponíveis para serem adquiridos pela Classe, o que poderá afetar a rentabilidade da Classe.</a:t>
            </a:r>
          </a:p>
          <a:p>
            <a:r>
              <a:t> (vii) Risco de Competição: o mercado de empréstimos experimentou grande  expansão no Brasil nos últimos anos. Nesse contexto, a Resolução CMN nº 4.292, alterada  pela Resolução nº 4.762, de 27 de novembro de 2019, dispõe que deve ser garantido às  pessoas naturais devedoras de operações de crédito (tais como as CCB) a possibilidade de  realizarem a portabilidade destas operações para outras instituições financeiras, inclusive nos  casos em que tenham sido objeto de cessão (tais como as realizadas à Classe). Nesse  cenário, é possível que os competidores do Endossante ofereçam condições e taxas mais  vantajosas para os empréstimos pessoais com consignação em f olha de pagamento ou de  benef ícios, o que pode causar a migração de clientes da Endossante para outras instituições  f inanceiras, gerando a liquidação antecipada de parte das CCB existentes e/ou redução no  número de Direitos Creditórios cedidos. Referida competição poderá af etar os resultados da  Classe, impactando negativamente os rendimentos dos Cotistas. Ainda, a portabilidade a um  Devedor pode acarretar no recebimento de valores inf eriores aos esperados pela Classe.</a:t>
            </a:r>
          </a:p>
          <a:p>
            <a:r>
              <a:t> (viii) Insuf iciência dos Critérios de Elegibilidade. Os Critérios de Elegibilidade têm a  f inalidade de selecionar os Direitos Creditórios passíveis de aquisição pela Classe. Não  obstante tais Critérios de Elegibilidade, a solvência dos Direitos Creditórios que compõem a  Carteira depende integralmente, mas não somente, da situação econômico-financeira dos  Devedores. Dessa f orma, a observância pelo GESTOR dos Critérios de Elegibilidade não  constitui garantia de adimplência dos Devedores.</a:t>
            </a:r>
          </a:p>
          <a:p>
            <a:r>
              <a:t> Os Endossantes não necessariamente garantem a solvência dos seus respectivos Devedores.</a:t>
            </a:r>
          </a:p>
          <a:p>
            <a:r>
              <a:t> O Endossante dos Direitos Creditórios não assumirá responsabilidade pelo seu pagamento ou  pela solvência dos respectivos Devedores. A Classe sofrerá o impacto do inadimplemento dos  Direitos Creditórios vencidos e não pagos pelos respectivos Devedores.</a:t>
            </a:r>
          </a:p>
          <a:p>
            <a:r>
              <a:t> (ix) Possibilidade de aquisição de Direitos Creditórios cedidos por Endossante  e/ou devidos por Devedores cujas demonstrações financeiras não sejam auditadas. A Classe,  desde que sejam respeitados os limites de concentração previstos neste Regulamento, poderá  manter a qualquer tempo em sua Carteira, Direitos Creditórios cedidos por Endossante e/ou  devidos por Devedores cujas demonstrações f inanceiras não sejam auditadas por Auditor  Independente registrado na CVM. Nesse sentido, não haverá verificação independente sobre  tais demonstrações f inanceiras que af irme se estas representam adequadamente, em todos  os aspectos relevantes, as respectivas posições patrimoniais e f inanceiras, os resultados de  suas operações, as mutações de seus respectivos patrimônios líquidos tampouco as origens  e aplicações de seus recursos.</a:t>
            </a:r>
          </a:p>
          <a:p>
            <a:r>
              <a:t>CNPJ 54871427000194 · Classe, subclasse e responsabilidade · Regulamento · ID 670691 · 2024-04-28 · versão 1 · p. 15 · 7.2 · https://fnet.bmfbovespa.com.br/fnet/publico/visualizarDocumento?id=670691</a:t>
            </a:r>
          </a:p>
          <a:p>
            <a:r>
              <a:t>CNPJ 54871427000194 · Classe, subclasse e responsabilidade · Excerto da fonte:</a:t>
            </a:r>
          </a:p>
          <a:p>
            <a:r>
              <a:t>7.2 As amortizações de Cotas serão realizadas a qualquer tempo, a critério do GESTOR, observada a  disponibilidade de recursos da Classe Única e a ordem de alocação de recursos prevista neste Anexo  Descritivo.</a:t>
            </a:r>
          </a:p>
          <a:p>
            <a:r>
              <a:t>CNPJ 54871427000194 · Classe, subclasse e responsabilidade · Instrumento Particular de Alteração do Regulamento · ID 670690 · 2024-05-28 · versão 1 · p. 1 · https://fnet.bmfbovespa.com.br/fnet/publico/visualizarDocumento?id=670690</a:t>
            </a:r>
          </a:p>
          <a:p>
            <a:r>
              <a:t>CNPJ 54871427000194 · Classe, subclasse e responsabilidade · Excerto da fonte:</a:t>
            </a:r>
          </a:p>
          <a:p>
            <a:r>
              <a:t>ATA DA ASSEMBLEIA ESPECIAL DE COTISTAS  CLASSE ÚNICA DE RESPONSABILIDADE LIMITADA DO CONSIGNADO DELTA RECEIVABLES I  FUNDO DE INVESTIMENTO EM DIREITOS CREDITÓRIOS  CNPJ nº 54.871.427/0001-94  (“Classe Única” e “Fundo”, respectivamente)</a:t>
            </a:r>
          </a:p>
          <a:p>
            <a:r>
              <a:t>CNPJ 54871427000194 · Classe, subclasse e responsabilidade · Condição: Documentos atuais selecionados no inventário por categoria/escopo; a data documental isolada não comprova vigência jurídica.</a:t>
            </a:r>
          </a:p>
          <a:p>
            <a:r>
              <a:t>CNPJ 54871427000194 · Classe, subclasse e responsabilidade · Versão e prevalência: Documentos atuais selecionados no inventário por categoria/escopo; a data documental isolada não comprova vigência jurídica.</a:t>
            </a:r>
          </a:p>
          <a:p>
            <a:r>
              <a:t>CNPJ 54871427000194 · Classe, subclasse e responsabilidade · Resumo do histórico: {"count": 4, "dates": ["2024-04-19", "2024-04-28", "2024-05-24"], "document_count": 3, "sources": [{"document_id": "668387", "title": "Instrumento Particular de Emissão de Cotas", "reference_date": "2024-05-24", "version": "1", "page": 1, "url": "https://fnet.bmfbovespa.com.br/fnet/publico/visualizarDocumento?id=668387", "sha256": "be2913bed5f468a7399afcd27f92bac2083451584ee580b5054e9f525e68cc4a"}, {"document_id": "670691", "title": "Regulamento", "reference_date": "2024-04-28", "version": "1", "page": 29, "url": "https://fnet.bmfbovespa.com.br/fnet/publico/visualizarDocumento?id=670691", "sha256": "bf16dd7f1a62d5cdbf2e2d54fef81783783f7310fbc99c3a8f00459bdf9d037b"}, {"document_id": "670687", "title": "Instrumento Particular de Constituição/Encerramento do Fundo", "reference_date": "2024-04-19", "version": "1", "page": 1, "url": "https://fnet.bmfbovespa.com.br/fnet/publico/visualizarDocumento?id=670687", "sha256": "999f2a47d39f7022b0fcee3d16fd1db33948537b897e92c4c9e14b436bf5eb96"}], "reference": {"path": "history/54871427000194.json", "criterion_id": "perimeter", "total_count": 4, "preview_count": 3, "full_text_deferred": true, "sha256": "35d7cd99be50c7287c9fb675cf4f2e736002315295a225a9efa79c8d9186d874"}}</a:t>
            </a:r>
          </a:p>
          <a:p>
            <a:r>
              <a:t>CNPJ 60010416000112 · Classe, subclasse e responsabilidade · Regulamento · ID 1051393 · 2025-10-09 · versão 1 · p. 10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a:t>
            </a:r>
          </a:p>
          <a:p>
            <a:r>
              <a:t> (ii) o saldo dos Direitos Creditórios devidos pelo mesmo Devedor à Classe, considerando, pro  forma, o endosso pretendido, não deverá exceder R$ 100.000,00 (cem mil reais), observado  o disposto no item 4.4.1 abaixo;</a:t>
            </a:r>
          </a:p>
          <a:p>
            <a:r>
              <a:t> (iii) o prazo de vencimento das CCB representativas dos Direitos Creditórios deverá ser, no  máximo, equivalente ao prazo máximo permitido pelas leis e regulamentações aplicáveis; e</a:t>
            </a:r>
          </a:p>
          <a:p>
            <a:r>
              <a:t> (iv) os Direitos Creditórios não poderão ser devidos por Devedores que tenham acima de 64  (sessenta e quatro) anos 11 (onze) meses e 29 (vinte e nove) dias na data de emissão da  respectiva CCB.</a:t>
            </a:r>
          </a:p>
          <a:p>
            <a:r>
              <a:t>CNPJ 60010416000112 · Classe, subclasse e responsabilidade · Regulamento · ID 1051393 · 2025-10-09 · versão 1 · p. 11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  com a transf erência, à Classe, de f orma definitiva, sem coobrigação do Endossante, da plena  titularidade desse Direito Creditório, juntamente com todos os direitos, privilégios, pref erências,  prerrogativas, garantias e ações a ele relacionados, bem como correção monetária, juros e  encargos, sem prejuízo do direito da Classe (i) de exigir a recompra compulsória do respectivo  Direito Creditório, de acordo com os termos do Contrato de Endosso; ou (ii) de vender Direitos  Creditórios ao Agente de Retenção/Cobrança (opção de venda), em ambos os casos estritamente  nos termos do Contrato de Endosso.</a:t>
            </a:r>
          </a:p>
          <a:p>
            <a:r>
              <a:t>CNPJ 60010416000112 · Classe, subclasse e responsabilidade · Regulamento · ID 1051393 · 2025-10-09 · versão 1 · p. 18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a:t>
            </a:r>
          </a:p>
          <a:p>
            <a:r>
              <a:t> (ii) alterar este Anexo I e seus complementos, incluindo mas não se limitando aos Apêndices de cada  uma das subclasses;</a:t>
            </a:r>
          </a:p>
          <a:p>
            <a:r>
              <a:t> (iii) deliberar sobre substituição de Prestadores de Serviços Essenciais, observado o disposto no Art.</a:t>
            </a:r>
          </a:p>
          <a:p>
            <a:r>
              <a:t> 70, §1º da parte geral da Resolução CVM 175, quando aplicável, ou do Custodiante;</a:t>
            </a:r>
          </a:p>
          <a:p>
            <a:r>
              <a:t> (iv) deliberar sobre elevação da Taxa de Administração, inclusive na hipótese de restabelecimento de  taxa que tenha sido objeto de redução;</a:t>
            </a:r>
          </a:p>
          <a:p>
            <a:r>
              <a:t> (v) deliberar sobre incorporação, fusão, cisão total ou parcial, a transformação ou liquidação da Classe;</a:t>
            </a:r>
          </a:p>
          <a:p>
            <a:r>
              <a:t> (vi) alterações das características, vantagens, direitos e obrigações das Cotas;</a:t>
            </a:r>
          </a:p>
          <a:p>
            <a:r>
              <a:t> (vii) alterar critérios e procedimentos para Amortização e/ou resgate de Cotas mediante dação em  pagamento de Direitos Creditórios;</a:t>
            </a:r>
          </a:p>
          <a:p>
            <a:r>
              <a:t> (viii) aprovar a contratação de Agente de Retenção/Cobrança dos Direitos Creditórios Inadimplidos, bem  como decidir sobre sua substituição ou destituição;</a:t>
            </a:r>
          </a:p>
          <a:p>
            <a:r>
              <a:t> (ix) alterar a f orma de amortização do principal e dos valores acumulados relacionados às Cotas;</a:t>
            </a:r>
          </a:p>
          <a:p>
            <a:r>
              <a:t> (x) aprovar emissão de novas Cotas da Classe, em montante além do Capital Autorizado;</a:t>
            </a:r>
          </a:p>
          <a:p>
            <a:r>
              <a:t> (xi) deliberar sobre a eventual necessidade de aportes adicionais de recursos na Classe pelos Cotistas;</a:t>
            </a:r>
          </a:p>
          <a:p>
            <a:r>
              <a:t> (xii) alterações na Política de Investimentos;</a:t>
            </a:r>
          </a:p>
          <a:p>
            <a:r>
              <a:t> (xiii) alterações nos Critérios de Elegibilidade;</a:t>
            </a:r>
          </a:p>
          <a:p>
            <a:r>
              <a:t> (xiv) decidir se um Evento de Avaliação será considerado como Evento de Liquidação, sujeito a este  Regulamento;</a:t>
            </a:r>
          </a:p>
          <a:p>
            <a:r>
              <a:t> (xv) decidir, na ocorrência de qualquer Evento de Liquidação, se esse Evento de Liquidação não deverá  causar a liquidação antecipada da Classe;</a:t>
            </a:r>
          </a:p>
          <a:p>
            <a:r>
              <a:t> (xvi) plano de resolução do Patrimônio Líquido negativo da Classe, nos termos da Resolução CVM 175;</a:t>
            </a:r>
          </a:p>
          <a:p>
            <a:r>
              <a:t> (xvii)pedido de declaração judicial de insolvência da Classe; e</a:t>
            </a:r>
          </a:p>
          <a:p>
            <a:r>
              <a:t> (xviii) deliberar sobre a alteração da data de resgate e/ou prazo de duração de cada Série de Cotas  Seniores, do Benchmark, bem como de quaisquer outras características de qualquer Série de Cotas  Seniores;</a:t>
            </a:r>
          </a:p>
          <a:p>
            <a:r>
              <a:t>CNPJ 60010416000112 · Classe, subclasse e responsabilidade · Condição: Documentos atuais selecionados no inventário por categoria/escopo; a data documental isolada não comprova vigência jurídica.</a:t>
            </a:r>
          </a:p>
          <a:p>
            <a:r>
              <a:t>CNPJ 60010416000112 · Classe, subclasse e responsabilidade · Versão e prevalência: Documentos atuais selecionados no inventário por categoria/escopo; a data documental isolada não comprova vigência jurídica.</a:t>
            </a:r>
          </a:p>
          <a:p>
            <a:r>
              <a:t>CNPJ 60010416000112 · Classe, subclasse e responsabilidade · Resumo do histórico: {"count": 1, "dates": ["2025-05-12"], "document_count": 1, "sources": [{"document_id": "1004656", "title": "AGE", "reference_date": "2025-05-12", "version": "1", "page": 4, "url": "https://fnet.bmfbovespa.com.br/fnet/publico/visualizarDocumento?id=1004656", "sha256": "f6c9c009f6170e2b29f074b98522accec73f0c40efbf11f9ec2c8d3f1402616b"}], "reference": {"path": "history/60010416000112.json", "criterion_id": "perimeter", "total_count": 1, "preview_count": 1, "full_text_deferred": true, "sha256": "8e2bd813f4c51cf01f6bfaad164bafe69d2bbb192f753eac92da3a01c2e63046"}}</a:t>
            </a:r>
          </a:p>
          <a:p>
            <a:r>
              <a:t>CNPJ 62696791000193 · Classe, subclasse e responsabilidade · Regulamento · ID 1143317 · 20/03/2026 · versão Regulamento — referência 20/03/2026 · p. 9 · Anexo I, 2.1 · https://fnet.bmfbovespa.com.br/fnet/publico/visualizarDocumento?id=1143317</a:t>
            </a:r>
          </a:p>
          <a:p>
            <a:r>
              <a:t>CNPJ 62696791000193 · Classe, subclasse e responsabilidade · Excerto da fonte:</a:t>
            </a:r>
          </a:p>
          <a:p>
            <a:r>
              <a:t>2.1 A responsabilidade do Cotista está limitada ao valor por ele subscrito. 2.2 Os seguintes eventos obrigarão o Administrador a verif icar se o Patrimônio Líquido está negativo: (i) qualquer pedido de declaração judicial de insolvência de Classe; (ii) inadimplência de obrigações financeiras de devedor e/ou emissor de ativos detidos pela Classe que representem mais de 10% (dez por cento) de seu Patrimônio Líquido, naquela data de ref erência; (iii) pedido de recuperação extrajudicial, proposta de recuperação judicial, f alência, intervenção, liquidação extrajudicial e/ou regime de administração temporária de devedor e/ou emissor de ativos detidos pela Classe; e (iv) condenação da Classe, de natureza judicial e/ou arbitral e/ou administrativa e/ou outras similares, ao pagamento de mais de 10% (dez por cento) de seu Patrimônio Líquido. 2.3 Caso o Administrador verifique que o Patrimônio Líquido está negativo, ou tenha ciência de pedido de declaração judicial de insolvência da Classe ou da declaração judicial de insolvência da Classe, deverá adotar as medidas aplicáveis previstas na Resolução CVM 175. 2.4 Serão aplicáveis as disp</a:t>
            </a:r>
          </a:p>
          <a:p>
            <a:r>
              <a:t>CNPJ 62696791000193 · Classe, subclasse e responsabilidade · Regulamento · ID 1143317 · 20/03/2026 · versão Regulamento — referência 20/03/2026 · p. 18 · Anexo I, 8.8.1 · https://fnet.bmfbovespa.com.br/fnet/publico/visualizarDocumento?id=1143317</a:t>
            </a:r>
          </a:p>
          <a:p>
            <a:r>
              <a:t>CNPJ 62696791000193 · Classe, subclasse e responsabilidade · Excerto da fonte:</a:t>
            </a:r>
          </a:p>
          <a:p>
            <a:r>
              <a:t>8.8.1 As Chamadas de Capital para a realização de investimentos serão realizadas a qualquer momento durante o Período de Investimento e estarão limitadas ao valor do capital subscrito de cada Cotista. As Chamadas de Capital para o pagamento de despesas e encargos do Fundo poderão ser realizadas a qualquer momento durante o Prazo de Duração, mas não estarão limitadas ao valor do capital subscrito de cada Cotista. 8.8.2 Ao receber uma Chamada de Capital, os Cotistas serão obrigados a integralizar parte ou a totalidade de suas Cotas no prazo previsto na ref erida Chamada de Capital, o qual não poderá ser inf erior a 5 (cinco) Dias Úteis contados do recebimento da Chamada de Capital, conforme solicitado pelo Administrador em observância às instruções do Gestor e de acordo com o disposto nos respectivos Compromissos de Investimento. 8.8.3 O Administrador poderá, eventualmente, realizar Chamadas de Capital aos Cotistas de forma desproporcional entre Cotistas, de modo que um ou mais Cotista venha a integralizar, em uma ou mais Chamadas de Capital, uma parcela maior ou menor, conforme o caso, das Cotas por</a:t>
            </a:r>
          </a:p>
          <a:p>
            <a:r>
              <a:t>CNPJ 62696791000193 · Classe, subclasse e responsabilidade · Regulamento · ID 1143317 · 20/03/2026 · versão Regulamento — referência 20/03/2026 · p. 16 · Anexo I, 7.2 · https://fnet.bmfbovespa.com.br/fnet/publico/visualizarDocumento?id=1143317</a:t>
            </a:r>
          </a:p>
          <a:p>
            <a:r>
              <a:t>CNPJ 62696791000193 · Classe, subclasse e responsabilidade · Excerto da fonte:</a:t>
            </a:r>
          </a:p>
          <a:p>
            <a:r>
              <a:t>7.2 A Classe possui 3 (três) Subclasses de Cotas, quais sejam, a subclasse sênior (“Subclasse Sênior” e “Cotas Seniores”), a subclasse mezanino (“Subclasse Mezanino” e “Cotas Mezanino”) e a subclasse subordinada (“Subclasse Subordinada” e “Cotas Subordinadas” – as Cotas Subordinadas, Cotas Seniores e Cotas Mezanino, quando ref eridas em conjunto, “Cotas”), admitindo ainda a emissão de novas séries (“Séries”) de Cotas Seniores, nos termos do seu respectivo Apêndice. As características, os direitos e as condições de emissão, distribuição, subscrição, integralização, remuneração, amortização e resgate das Cotas estão descritos neste Capítulo e nos respectivos Apêndices. 7.3 As Cotas são escriturais, nominativas e correspondem a f rações ideais do patrimônio da Classe, cuja propriedade presume-se: (i) pelo registro do nome do Cotista no livro de registro de Cotistas, enquanto mantidas em conta de depósito mantidas junto ao Escriturador em nome dos respectivos Cotistas, nos termos do Art. 15 da Resolução CVM 175; (ii) pelos controles de titularidade mantidos pelo depositário BTG Pactual SAC: 0800 772 2827 | Ouvidoria: 0800 722 0048 | btgpactual.co m 11</a:t>
            </a:r>
          </a:p>
          <a:p>
            <a:r>
              <a:t>CNPJ 62696791000193 · Classe, subclasse e responsabilidade · Condição: Contradição interna no alcance da responsabilidade limitada. Não apresentar a cláusula de despesas como obrigação irrestrita pacificada.</a:t>
            </a:r>
          </a:p>
          <a:p>
            <a:r>
              <a:t>CNPJ 62696791000193 · Classe, subclasse e responsabilidade · Versão e prevalência: Leitura específica das cláusulas indicadas; condições e conflitos preservados. Seleção documental atual não comprova vigência jurídica por data isolada.</a:t>
            </a:r>
          </a:p>
          <a:p>
            <a:r>
              <a:t>CNPJ 55563624000109 · Classe, subclasse e responsabilidade · Regulamento · ID 1192614 · 2026-04-30 · versão 1 · p. 40 · https://fnet.bmfbovespa.com.br/fnet/publico/visualizarDocumento?id=1192614</a:t>
            </a:r>
          </a:p>
          <a:p>
            <a:r>
              <a:t>CNPJ 55563624000109 · Classe, subclasse e responsabilidade · Excerto da fonte:</a:t>
            </a:r>
          </a:p>
          <a:p>
            <a:r>
              <a:t>(xxiv) Subordinação de determinadas Cotas da Classe Investida a outras subclasses ou séries de  cotas das Classes Investidas aos quais pertencem. A Classe Investida adquirirá apenas cotas  subordinadas mezaninos da Classe Investida, as quais se subordinam às cotas seniores da Classe  Investida para efeitos de resgate. Os resgates de cotas subordinadas mezanino tipicamente têm sua  realização condicionada ainda à manutenção da razão de garantia e à existência de disponibilidades  da Classe Investida. O ADMINISTRADOR, o GESTOR e o CUSTODIANTE e suas respectivas partes  relacionadas, encontram-se impossibilitados de assegurar que a amortização e o resgate das cotas  subordinadas mezanino da Classe Investida que venham a ser adquiridas pela Classe ocorrerão nas  datas originalmente previstas, sendo que, caso tais amortizações e/ou resgates não ocorram, não será  devido pelo FUNDO ou qualquer pessoa, incluindo o ADMINISTRADOR, o GESTOR e o CUSTODIANTE,  do FUNDO ou da Classe Investida qualquer multa ou penalidade, de qualquer natureza. O não resgate  de cotas subordinadas mezanino da Classe Investida detidas pela Classe poderá impactar  negativamente no fluxo de pagamento de resgate da Classe e/ou no valor patrimonial das Cotas da  Classe.</a:t>
            </a:r>
          </a:p>
          <a:p>
            <a:r>
              <a:t>CNPJ 55563624000109 · Classe, subclasse e responsabilidade · Regulamento · ID 1192614 · 2026-04-30 · versão 1 · p. 2 · 1.2 · https://fnet.bmfbovespa.com.br/fnet/publico/visualizarDocumento?id=1192614</a:t>
            </a:r>
          </a:p>
          <a:p>
            <a:r>
              <a:t>CNPJ 55563624000109 · Classe, subclasse e responsabilidade · Excerto da fonte:</a:t>
            </a:r>
          </a:p>
          <a:p>
            <a:r>
              <a:t>1.2 Este regulamento é composto por esta parte geral, um ou mais anexos, conforme o número de classes aqui  previsto e respectivos apêndices relativos a cada subclasse de cotas, conforme aplicável (respectivamente,  “Regulamento”, “Parte Geral”, “Anexos” e “Apêndices”).</a:t>
            </a:r>
          </a:p>
          <a:p>
            <a:r>
              <a:t> Denominação da Classe Anexo  CLASSE ÚNICA DE RESPONSABILIDADE LIMITADA DO  PLGN MARKETPLACE FUNDO DE INVESTIMENTO EM  Anexo Único (“Anexo”)  COTAS DE FUNDO DE INVESTIMENTO EM DIREITOS  CREDITÓRIOS (“Classe” ou “Classe Única”)</a:t>
            </a:r>
          </a:p>
          <a:p>
            <a:r>
              <a:t>CNPJ 55563624000109 · Classe, subclasse e responsabilidade · Regulamento · ID 1192614 · 2026-04-30 · versão 1 · p. 24 · 12.3 · https://fnet.bmfbovespa.com.br/fnet/publico/visualizarDocumento?id=1192614</a:t>
            </a:r>
          </a:p>
          <a:p>
            <a:r>
              <a:t>CNPJ 55563624000109 · Classe, subclasse e responsabilidade · Excerto da fonte:</a:t>
            </a:r>
          </a:p>
          <a:p>
            <a:r>
              <a:t>12.3 Incluem-se entre as obrigações do ADMINISTRADOR, sem prejuízo de outras previstas na regulamentação:</a:t>
            </a:r>
          </a:p>
          <a:p>
            <a:r>
              <a:t> (i) sem prejuízo da observância dos procedimentos relativos às demonstrações contábeis, manter,  separadamente, registros com informações completas sobre toda e qualquer modalidade de negociação  realizada entre o ADMINISTRADOR, GESTOR, CUSTODIANTE, e/ou suas respectivas partes relacionadas,  tais como definidas pelas regras contábeis que tratam desse assunto, de um lado; e a Classe, de outro;</a:t>
            </a:r>
          </a:p>
          <a:p>
            <a:r>
              <a:t> (ii) diligenciar para que sejam mantidos, às suas expensas, atualizados e em perfeita ordem:</a:t>
            </a:r>
          </a:p>
          <a:p>
            <a:r>
              <a:t> (a) o registro de Cotistas;</a:t>
            </a:r>
          </a:p>
          <a:p>
            <a:r>
              <a:t> (b) o livro de atas das Assembleias de Cotistas;</a:t>
            </a:r>
          </a:p>
          <a:p>
            <a:r>
              <a:t> (c) o livro ou lista de presença de Cotistas;</a:t>
            </a:r>
          </a:p>
          <a:p>
            <a:r>
              <a:t> (d) os pareceres do Auditor Independente; e</a:t>
            </a:r>
          </a:p>
          <a:p>
            <a:r>
              <a:t> (e) os registros contábeis referentes às operações e ao patrimônio da Classe;</a:t>
            </a:r>
          </a:p>
          <a:p>
            <a:r>
              <a:t> (iii) pagar a multa cominatória às suas expensas, nos termos da legislação vigente, por cada dia de atraso no  cumprimento dos prazos previstos na regulamentação aplicável;</a:t>
            </a:r>
          </a:p>
          <a:p>
            <a:r>
              <a:t> (iv) elaborar e divulgar as informações periódicas e eventuais da Classe, nos termos deste Anexo e da  regulamentação e da autorregulação em vigor;</a:t>
            </a:r>
          </a:p>
          <a:p>
            <a:r>
              <a:t> (v) manter atualizada junto à CVM a lista de todos os prestadores de serviços contratados pela Classe,  inclusive os Prestadores de Serviços Essenciais, bem como as demais informações cadastrais da Classe e  suas Subclasses;</a:t>
            </a:r>
          </a:p>
          <a:p>
            <a:r>
              <a:t> (vi) manter serviço de atendimento aos Cotistas, responsável pelo esclarecimento de dúvidas e pelo  recebimento de reclamações;</a:t>
            </a:r>
          </a:p>
          <a:p>
            <a:r>
              <a:t> (vii) receber e processar os pedidos de resgate;</a:t>
            </a:r>
          </a:p>
          <a:p>
            <a:r>
              <a:t> (viii) monitorar os Eventos de Verificação do Patrimônio;</a:t>
            </a:r>
          </a:p>
          <a:p>
            <a:r>
              <a:t> (ix) monitorar os Eventos de Avaliação e Eventos de Liquidação;</a:t>
            </a:r>
          </a:p>
          <a:p>
            <a:r>
              <a:t> (x) observar as disposições constantes do Regulamento;</a:t>
            </a:r>
          </a:p>
          <a:p>
            <a:r>
              <a:t> (xi) cumprir as deliberações da Assembleia de Cotistas; e</a:t>
            </a:r>
          </a:p>
          <a:p>
            <a:r>
              <a:t> (xii) observar as disposições do Código ANBIMA e das Regras e Procedimentos ANBIMA</a:t>
            </a:r>
          </a:p>
          <a:p>
            <a:r>
              <a:t>CNPJ 55563624000109 · Classe, subclasse e responsabilidade · Condição: Documentos atuais selecionados no inventário por categoria/escopo; a data documental isolada não comprova vigência jurídica.</a:t>
            </a:r>
          </a:p>
          <a:p>
            <a:r>
              <a:t>CNPJ 55563624000109 · Classe, subclasse e responsabilidade · Versão e prevalência: Documentos atuais selecionados no inventário por categoria/escopo; a data documental isolada não comprova vigência jurídica.</a:t>
            </a:r>
          </a:p>
          <a:p>
            <a:r>
              <a:t>CNPJ 55563624000109 · Classe, subclasse e responsabilidade · Resumo do histórico: {"count": 5, "dates": ["2024-07-03", "2025-01-31", "2026-01-31"], "document_count": 3, "sources": [{"document_id": "1178840", "title": "Demonstrações Financeiras", "reference_date": "2026-01-31", "version": "1", "page": 3, "url": "https://fnet.bmfbovespa.com.br/fnet/publico/visualizarDocumento?id=1178840", "sha256": "c458e98664c5c907ddb5a05a94b120bed4e05295b2bfc420f5ba69af0a229abe"}, {"document_id": "891861", "title": "Demonstrações Financeiras", "reference_date": "2025-01-31", "version": "1", "page": 27, "url": "https://fnet.bmfbovespa.com.br/fnet/publico/visualizarDocumento?id=891861", "sha256": "e9cb9e6ddbe505fe068cfcac33605165a98313489de0d3ce6d4d238263c3f3e7"}, {"document_id": "703295", "title": "Anúncio de Início", "reference_date": "2024-07-03", "version": "2", "page": 1, "url": "https://fnet.bmfbovespa.com.br/fnet/publico/visualizarDocumento?id=703295", "sha256": "12322b6dbf75e673723bd60910373db249451b72666792e18e0c7b6128f4608a"}], "reference": {"path": "history/55563624000109.json", "criterion_id": "perimeter", "total_count": 5, "preview_count": 3, "full_text_deferred": true, "sha256": "7835d573fb58a3c19adf5b8ecc2aee2bdbb9a88f7a0c0209b5f262b64c7522e3"}}</a:t>
            </a:r>
          </a:p>
          <a:p>
            <a:r>
              <a:t>CNPJ 62552447000120 · Classe, subclasse e responsabilidade · Regulamento · ID 1200623 · 2026-05-21 · versão 1 · p. 1 · 1.3 · https://fnet.bmfbovespa.com.br/fnet/publico/visualizarDocumento?id=1200623</a:t>
            </a:r>
          </a:p>
          <a:p>
            <a:r>
              <a:t>CNPJ 62552447000120 · Classe, subclasse e responsabilidade · Excerto da fonte:</a:t>
            </a:r>
          </a:p>
          <a:p>
            <a:r>
              <a:t>1.3 Durante o seu prazo de duração, o Fundo, por ato conjunto dos Prestadores de Serviços Essenciais,  poderá constituir diferentes Classes e Subclasses , sendo que cada Classe terá patrimônio segregado e</a:t>
            </a:r>
          </a:p>
          <a:p>
            <a:r>
              <a:t>CNPJ 62552447000120 · Classe, subclasse e responsabilidade · Regulamento · ID 1200623 · 2026-05-21 · versão 1 · p. 1 · 1.1 · https://fnet.bmfbovespa.com.br/fnet/publico/visualizarDocumento?id=1200623</a:t>
            </a:r>
          </a:p>
          <a:p>
            <a:r>
              <a:t>CNPJ 62552447000120 · Classe, subclasse e responsabilidade · Excerto da fonte:</a:t>
            </a:r>
          </a:p>
          <a:p>
            <a:r>
              <a:t>1.1 V CDT 1 FUNDO DE INVESTIMENTO EM DIREITOS CREDITÓRIOS RESPONSABILIDADE  LIMITADA (“Fundo”), regido pela Lei n.º 10.406, de 10 de janeiro de 2002, conforme alterada (“Código  Civil”), pela Resolução da Comissão de Valores Mobiliários (“CVM”) n.º 175, de 23 de dezembro de  2022, conf orme alterada (“Resolução CVM 175”), que inclui sua Parte Geral (“Parte Geral da  Resolução CVM 175”) e seu Anexo Normativo II (“Anexo Normativo II”) terá como principais  características:</a:t>
            </a:r>
          </a:p>
          <a:p>
            <a:r>
              <a:t>CNPJ 62552447000120 · Classe, subclasse e responsabilidade · Regulamento · ID 1200623 · 2026-05-21 · versão 1 · p. 1 · https://fnet.bmfbovespa.com.br/fnet/publico/visualizarDocumento?id=1200623</a:t>
            </a:r>
          </a:p>
          <a:p>
            <a:r>
              <a:t>CNPJ 62552447000120 · Classe, subclasse e responsabilidade · Excerto da fonte:</a:t>
            </a:r>
          </a:p>
          <a:p>
            <a:r>
              <a:t>CLASSE ÚNICA DO V CDT 1 FUNDO DE  INVESTIMENTO EM DIREITOS CREDITÓRIOS Anexo I (“Anexo I”)  RESPONSABILIDADE LIMITADA</a:t>
            </a:r>
          </a:p>
          <a:p>
            <a:r>
              <a:t>CNPJ 62552447000120 · Classe, subclasse e responsabilidade · Condição: Documentos atuais selecionados no inventário por categoria/escopo; a data documental isolada não comprova vigência jurídica.</a:t>
            </a:r>
          </a:p>
          <a:p>
            <a:r>
              <a:t>CNPJ 62552447000120 · Classe, subclasse e responsabilidade · Versão e prevalência: Documentos atuais selecionados no inventário por categoria/escopo; a data documental isolada não comprova vigência jurídica.</a:t>
            </a:r>
          </a:p>
          <a:p>
            <a:r>
              <a:t>CNPJ 62552447000120 · Classe, subclasse e responsabilidade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"perimeter", "total_count": 1, "preview_count": 1, "full_text_deferred": true, "sha256": "d95db8c0613d67ee84118c734588665265ea6b02f86a0318d6a844cbe1d0f82f"}}</a:t>
            </a:r>
          </a:p>
          <a:p>
            <a:r>
              <a:t>CNPJ 63953620000165 · Classe, subclasse e responsabilidade · Anexo ao Regulamento · ID 1222863 · 02/06/2026 · versão AnexoConsignadoPrivado02/06/2026 · p. 3 · 2.1 · https://fnet.bmfbovespa.com.br/fnet/publico/visualizarDocumento?id=1222863</a:t>
            </a:r>
          </a:p>
          <a:p>
            <a:r>
              <a:t>CNPJ 63953620000165 · Classe, subclasse e responsabilidade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deverá adotar as medidas aplicáveis previstas na Resolução CVM 175. 2.3 Serão aplicáveis as disposições da Resolução CVM 175 no que se refere aos procedimentos a serem adotados pelo Administrador na hipótese de Patrimônio Líquido negativo da Classe. BTG Pactual SAC: 0800 772 28 27 - Ouvidoria: 0800 722 00 48 - btgpactual.com</a:t>
            </a:r>
          </a:p>
          <a:p>
            <a:r>
              <a:t>CNPJ 63953620000165 · Classe, subclasse e responsabilidade · Anexo ao Regulamento · ID 1222863 · 02/06/2026 · versão AnexoConsignadoPrivado02/06/2026 · p. 10 · 6.7.1 · https://fnet.bmfbovespa.com.br/fnet/publico/visualizarDocumento?id=1222863</a:t>
            </a:r>
          </a:p>
          <a:p>
            <a:r>
              <a:t>CNPJ 63953620000165 · Classe, subclasse e responsabilidade · Excerto da fonte:</a:t>
            </a:r>
          </a:p>
          <a:p>
            <a:r>
              <a:t>6.7.1 As Chamadas de Capital para a realização de investimentos serão realizadas a qualquer momento durante o Período de Investimento e estarão limitadas ao valor do capital subscrito de cada Cotista. As Chamadas de Capital para o pagamento de despesas e encargos do Fundo, com exceção de despesas relacionadas à instrumentos de derivativos e/ou Encargos não previstos no âmbito deste regulamento, poderão ser realizadas a qualquer momento durante o Prazo de Duração, mas não estarão limitadas ao valor do capital subscrito de cada Cotista. 6.7.2 Ao receber uma Chamada d</a:t>
            </a:r>
          </a:p>
          <a:p>
            <a:r>
              <a:t>CNPJ 63953620000165 · Classe, subclasse e responsabilidade · Condição: Alcance das chamadas além do capital comprometido não resolvido textualmente; não certificar limitação apenas por título do fundo.</a:t>
            </a:r>
          </a:p>
          <a:p>
            <a:r>
              <a:t>CNPJ 63953620000165 · Classe, subclasse e responsabilidade · Versão e prevalência: Leitura específica das cláusulas indicadas; condições e conflitos preservados. Seleção documental atual não comprova vigência jurídica por data isolada.</a:t>
            </a:r>
          </a:p>
          <a:p>
            <a:r>
              <a:t>CNPJ 63953620000165 · Classe, subclasse e responsabilidade · Resumo do histórico: {"count": 4, "dates": ["2026-04-28", "2026-05-08", "2026-05-15"], "document_count": 3, "sources": [{"document_id": "1327859", "title": "Demonstrações Financeiras - Fusão, cisão e incorporação", "reference_date": "2026-05-15", "version": "1", "page": 1, "url": "https://fnet.bmfbovespa.com.br/fnet/publico/visualizarDocumento?id=1327859", "sha256": "dca1c68babb97f887528c3e2e47596a9c30f507b067981a35655b2f2da9c8054"}, {"document_id": "1298691", "title": "Demonstrações Financeiras - Fusão, cisão e incorporação", "reference_date": "2026-05-08", "version": "1", "page": 1, "url": "https://fnet.bmfbovespa.com.br/fnet/publico/visualizarDocumento?id=1298691", "sha256": "58c570d9b8d4d265330d3db3ea81c435b8e44a6dab4002aa37790652a1ee9819"}, {"document_id": "1205431", "title": "AGE", "reference_date": "2026-04-28", "version": "1", "page": 1, "clause": "4.1", "url": "https://fnet.bmfbovespa.com.br/fnet/publico/visualizarDocumento?id=1205431", "sha256": "e0b59c701c5d0dbf60de698ea7664d442240863b7043bacdb334ce484188b2ac"}], "reference": {"path": "history/63953620000165.json", "criterion_id": "perimeter", "total_count": 4, "preview_count": 3, "full_text_deferred": true, "sha256": "a7b89077f5e21098c2d601c303faabc3ff6b9729f89d8afecdc60fe1404720c1"}}</a:t>
            </a:r>
          </a:p>
          <a:p>
            <a:r>
              <a:t>CNPJ 54871427000194 · Adaptação à Resolução CVM 175 · Regulamento · ID 670691 · 28/04/2024 · versão Regulamento — referência 28/04/2024 · p. 1 · Parte Geral, 1.1 · https://fnet.bmfbovespa.com.br/fnet/publico/visualizarDocumento?id=670691</a:t>
            </a:r>
          </a:p>
          <a:p>
            <a:r>
              <a:t>CNPJ 54871427000194 · Adaptação à Resolução CVM 175 · Excerto da fonte:</a:t>
            </a:r>
          </a:p>
          <a:p>
            <a:r>
              <a:t>1.1 CONSIGNADO DELTA RECEIVABLES I FUNDO DE INVESTIMENTO EM DIREITOS CREDITÓRIOS (“FUNDO”), regido pela Lei nº 10.406, de 10 de janeiro de 2002, conf orme alterada (“Código Civil”), pela parte geral e o Anexo Normativo II da Resolução nº 175, de 23 de dezembro de 2022, conforme alterada, da Comissão de Valores Mobiliários (respectivamente, “CVM” e “Resolução CVM 175”), terá como principais características: Classe de Cotas Classe única. Indeterminado, exceto se de outra f orma vier a ser deliberado pelos cotistas Prazo de Duração reunidos em assembleia geral de cotistas. BTG Pactual Serviços Financeiros S.A. Distribuidora de Títulos e Valores Mobiliários, instituição f inanceira, com sede na Cidade e Estado do Rio de Janeiro, na Praia de Botafogo, nº 501, 5º andar (parte), Torre Corcovado, ADMINISTRADOR Botafogo, CEP 22250-040, inscrita no CNPJ sob o nº 59.281.253/0001-23 e credenciada como administradora de carteira, de acordo com o Ato Declaratório CVM nº</a:t>
            </a:r>
          </a:p>
          <a:p>
            <a:r>
              <a:t>CNPJ 54871427000194 · Adaptação à Resolução CVM 175 · Regulamento · ID 670691 · 28/04/2024 · versão Regulamento — referência 28/04/2024 · p. 8 · Anexo I, 2.1 · https://fnet.bmfbovespa.com.br/fnet/publico/visualizarDocumento?id=670691</a:t>
            </a:r>
          </a:p>
          <a:p>
            <a:r>
              <a:t>CNPJ 54871427000194 · Adaptação à Resolução CVM 175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deverá adotar as medidas aplicáveis previstas na Resolução CVM 175. 2.3 Serão aplicáveis as disposições da Resolução CVM 175 no que se refere aos procedimentos a serem adotados pelo ADMINISTRADOR na hipótese de Patrimônio Líquido negativo da Classe. CAPÍTULO 3 – ENCARGOS DA CLASSE 3.1 A Classe terá Encargos que lhe poderão ser debitados diretamente, nos termos do art. 53 do Anexo Normativo II da Resolução CVM 175, além de encargos adicionais, e quaisquer despesas que não constituam Encargos correm por conta do Prestador de Serviço Essencial que a tiver contratado: (i) despesas com a contratação de consultoria especializada, conf orme o caso; (ii) despesas com a contratação do Agente de Cobrança, conf orme aplicável; (iii) Taxa Máxima de Custódia; (iv) despesas com registro de Direitos Creditórios; (v) despesas com serviços de originação, cobranças ordinária e/ou extraordinária dos D</a:t>
            </a:r>
          </a:p>
          <a:p>
            <a:r>
              <a:t>CNPJ 54871427000194 · Adaptação à Resolução CVM 175 · Versão e prevalência: Leitura específica das cláusulas indicadas; condições e conflitos preservados. Seleção documental atual não comprova vigência jurídica por data isolada.</a:t>
            </a:r>
          </a:p>
          <a:p>
            <a:r>
              <a:t>CNPJ 54871427000194 · Adaptação à Resolução CVM 175 · Resumo do histórico: {"count": 2, "dates": ["2024-04-19"], "document_count": 2, "sources": [{"document_id": "670687", "title": "Instrumento Particular de Constituição/Encerramento do Fundo", "reference_date": "2024-04-19", "version": "1", "page": 1, "url": "https://fnet.bmfbovespa.com.br/fnet/publico/visualizarDocumento?id=670687", "sha256": "999f2a47d39f7022b0fcee3d16fd1db33948537b897e92c4c9e14b436bf5eb96"}, {"document_id": "670689", "title": "Regulamento", "reference_date": "2024-04-19", "version": "1", "page": 11, "clause": "4.10", "url": "https://fnet.bmfbovespa.com.br/fnet/publico/visualizarDocumento?id=670689", "sha256": "891bc9bc5d87bbc02ec139077a84d2702eb81ea02035fb71d24f5b8366b94a0b"}], "reference": {"path": "history/54871427000194.json", "criterion_id": "res175", "total_count": 2, "preview_count": 2, "full_text_deferred": true, "sha256": "35d7cd99be50c7287c9fb675cf4f2e736002315295a225a9efa79c8d9186d874"}}</a:t>
            </a:r>
          </a:p>
          <a:p>
            <a:r>
              <a:t>CNPJ 60010416000112 · Adaptação à Resolução CVM 175 · Regulamento · ID 1051393 · 09/10/2025 · versão Regulamento09/10/2025 · p. 8 · AnexoI1.2 · https://fnet.bmfbovespa.com.br/fnet/publico/visualizarDocumento?id=1051393</a:t>
            </a:r>
          </a:p>
          <a:p>
            <a:r>
              <a:t>CNPJ 60010416000112 · Adaptação à Resolução CVM 175 · Excerto da fonte:</a:t>
            </a:r>
          </a:p>
          <a:p>
            <a:r>
              <a:t>Tipo de Condomínio Fechado. Prazo de Duração Indeterminado. Classe de Investimento Não. em Cotas Tipo “Financeiro”. Classificação ANBIMA Foco de atuação “Créditos Consignados”. O objetivo da classe é proporcionar aos seus Cotistas a valorização de suas Cotas por meio da aplicação de seu Patrimônio Líquido na aquisição de: (i) Direitos Creditórios que atendam aos Critérios de Elegibilidade, estabelecidos no Ca</a:t>
            </a:r>
          </a:p>
          <a:p>
            <a:r>
              <a:t>CNPJ 60010416000112 · Adaptação à Resolução CVM 175 · Regulamento · ID 1051393 · 09/10/2025 · versão Regulamento09/10/2025 · p. 9 · AnexoI2.1–2.3 · https://fnet.bmfbovespa.com.br/fnet/publico/visualizarDocumento?id=1051393</a:t>
            </a:r>
          </a:p>
          <a:p>
            <a:r>
              <a:t>CNPJ 60010416000112 · Adaptação à Resolução CVM 175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o Administrador deverá adotar as medidas aplicáveis previstas na Resolução CVM 175 2.3 Serão aplicáveis as disposições da Resolução CVM 175 no que se ref ere aos procedimentos a serem adotados pelo Administrador na hipótese de Patrimônio Líquido negativo da Classe, visando a liquidação da Classe e que não remanesçam</a:t>
            </a:r>
          </a:p>
          <a:p>
            <a:r>
              <a:t>CNPJ 60010416000112 · Adaptação à Resolução CVM 175 · Versão e prevalência: Leitura específica das cláusulas indicadas; condições e conflitos preservados. Seleção documental atual não comprova vigência jurídica por data isolada.</a:t>
            </a:r>
          </a:p>
          <a:p>
            <a:r>
              <a:t>CNPJ 60010416000112 · Adaptação à Resolução CVM 175 · Resumo do histórico: {"count": 2, "dates": ["2025-03-20"], "document_count": 2, "sources": [{"document_id": "993785", "title": "Instrumento Particular de Constituição/Encerramento do Fundo", "reference_date": "2025-03-20", "version": "1", "page": 1, "url": "https://fnet.bmfbovespa.com.br/fnet/publico/visualizarDocumento?id=993785", "sha256": "0826e0eae2c51afabf59bbc49fc7647598d03da5ca6de0f9725850a8bd6af457"}, {"document_id": "993786", "title": "Regulamento", "reference_date": "2025-03-20", "version": "1", "page": 12, "clause": "4.8", "url": "https://fnet.bmfbovespa.com.br/fnet/publico/visualizarDocumento?id=993786", "sha256": "fd0fdd369a195510d81f81f505195a0b09e5f43522a990afa7d58c4f872921c8"}], "reference": {"path": "history/60010416000112.json", "criterion_id": "res175", "total_count": 2, "preview_count": 2, "full_text_deferred": true, "sha256": "8e2bd813f4c51cf01f6bfaad164bafe69d2bbb192f753eac92da3a01c2e63046"}}</a:t>
            </a:r>
          </a:p>
          <a:p>
            <a:r>
              <a:t>CNPJ 62696791000193 · Adaptação à Resolução CVM 175 · AGE · ID 1143319 · 20/03/2026 10:00 · versão AGE — referência 20/03/2026 10:00 · p. 1 · AGC, 4.1(a)–(b) · https://fnet.bmfbovespa.com.br/fnet/publico/visualizarDocumento?id=1143319</a:t>
            </a:r>
          </a:p>
          <a:p>
            <a:r>
              <a:t>CNPJ 62696791000193 · Adaptação à Resolução CVM 175 · Excerto da fonte:</a:t>
            </a:r>
          </a:p>
          <a:p>
            <a:r>
              <a:t>4.1. Aprovar a transformação do Fundo, bem como de sua Classe única, em um fundo de investimento nas cadeias produtivas do agronegócio (“Transformação”), nos termos da parte geral e do Anexo Normativo VI da Resolução nº 175 da CVM, de 23 de dezembro de 2022, conforme alterada (“Resolução CVM 175”). a. Aprovar a alteração da denominação do Fundo, que passará a vigorar como BTG PACTUAL CERES CONFINA FUNDO DE INVESTIMENTO NAS CADEIAS PRODUTIVAS DO AGRONEGÓCIO RESPONSABILIDADE LIMITADA, e de sua Classe única, que passará a vigorar como CLASSE ÚNICA DO BTG PACTUAL CERES CONFINA FUNDO DE INVESTIMENTO NAS CADEIAS PRODUTIVAS DO AGRONEGÓCIO RESPONSABILIDADE LIMITADA (“Classe”); b. Aprovar a reforma integral do Regulamento do Fundo, bem como do Anexo descritivo da Classe, para realizar todos os ajustes necessários à implementação da Transformação, incluindo, mas não se limitando, a política de investimentos, o regime tributário e os fatores de risco aplicáveis, conforme itens abaixo; c. Aprovar a alteração do quadro de características gerais do Fundo, considerando a contratação do Cogestor pelo Gestor, nos termos do artigo 52, II, da parte geral da Resolução CVM 175 e no co</a:t>
            </a:r>
          </a:p>
          <a:p>
            <a:r>
              <a:t>CNPJ 62696791000193 · Adaptação à Resolução CVM 175 · AGE · ID 1143319 · 20/03/2026 10:00 · versão AGE — referência 20/03/2026 10:00 · p. 3 · AGC 20/03/2026, 4.1(j)–(k) · https://fnet.bmfbovespa.com.br/fnet/publico/visualizarDocumento?id=1143319</a:t>
            </a:r>
          </a:p>
          <a:p>
            <a:r>
              <a:t>CNPJ 62696791000193 · Adaptação à Resolução CVM 175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Adaptação à Resolução CVM 175 · Regulamento · ID 1143317 · 20/03/2026 · versão Regulamento — referência 20/03/2026 · p. 1 · Parte Geral, 1.1 · https://fnet.bmfbovespa.com.br/fnet/publico/visualizarDocumento?id=1143317</a:t>
            </a:r>
          </a:p>
          <a:p>
            <a:r>
              <a:t>CNPJ 62696791000193 · Adaptação à Resolução CVM 175 · Excerto da fonte:</a:t>
            </a:r>
          </a:p>
          <a:p>
            <a:r>
              <a:t>1.1 BTG PACTUAL CERES CONFINA FUNDO DE INVESTIMENTO NAS CADEIAS PRODUTIVAS DO AGRONEGÓCIO RESPONSABILIDADE LIMITADA (“Fundo”), regido pela Lei nº 10.406, de 10 de janeiro de 2002, conf orme alterada (“Código Civil”), pela Lei n.º 8.668, de 25 de junho de 1993, conf orme alterada (“Lei 8.668”), pela parte geral, Anexo Normativo VI e, subsidiariamente, Anexo Normativo II da Resolução nº 175, de 23 de dezembro de 2022, conforme alterada, da Comissão de Valores Mobiliários (respectivamente, “Resolução CVM 175” e “CVM”), terá como principais características: Classe Classe única. Indeterminado, exceto se de outra f orma vier a ser deliberado pelos Cotistas Prazo de Duração reunidos em assembleia geral de Cotistas (“Prazo de Duração”). BTG Pactual Serviços Financeiros S.A. Distribuidora de Títulos e Valores Mobiliários, sociedade anônima, com sede no município e Estado do Rio de Janeiro, na Praia de Botafogo, nº 501, 5º andar (parte), Torre Corcovado, Administrador Botafogo, CEP 22250-040, inscrita no CNPJ sob o nº 59.281.253/0001-23 e</a:t>
            </a:r>
          </a:p>
          <a:p>
            <a:r>
              <a:t>CNPJ 62696791000193 · Adaptação à Resolução CVM 175 · Condição: Posição comumfev/26 é anterior à transformação e demanda o regime/regulamento anterior.</a:t>
            </a:r>
          </a:p>
          <a:p>
            <a:r>
              <a:t>CNPJ 62696791000193 · Adaptação à Resolução CVM 175 · Versão e prevalência: Leitura específica das cláusulas indicadas; condições e conflitos preservados. Seleção documental atual não comprova vigência jurídica por data isolada.</a:t>
            </a:r>
          </a:p>
          <a:p>
            <a:r>
              <a:t>CNPJ 55563624000109 · Adaptação à Resolução CVM 175 · Regulamento · ID 1192614 · 2026-04-30 · versão 1 · p. 13 · 4.11 · https://fnet.bmfbovespa.com.br/fnet/publico/visualizarDocumento?id=1192614</a:t>
            </a:r>
          </a:p>
          <a:p>
            <a:r>
              <a:t>CNPJ 55563624000109 · Adaptação à Resolução CVM 175 · Excerto da fonte:</a:t>
            </a:r>
          </a:p>
          <a:p>
            <a:r>
              <a:t>4.11 Nos termos dos artigos 45, parágrafo 7º, e 47 parágrafo único do Anexo Normativo II à Resolução CVM 175, uma  vez que as Cotas são destinadas exclusivamente a Investidores Profissionais, a Classe poderá ter até 100% (cem  por cento) de seu Patrimônio Líquido alocado em Cotas da Classe Investida, as quais são emitidas pela Classe  Investida.</a:t>
            </a:r>
          </a:p>
          <a:p>
            <a:r>
              <a:t>CNPJ 55563624000109 · Adaptação à Resolução CVM 175 · Regulamento · ID 1192614 · 2026-04-30 · versão 1 · p. 31 · 15.1.1 · https://fnet.bmfbovespa.com.br/fnet/publico/visualizarDocumento?id=1192614</a:t>
            </a:r>
          </a:p>
          <a:p>
            <a:r>
              <a:t>CNPJ 55563624000109 · Adaptação à Resolução CVM 175 · Excerto da fonte:</a:t>
            </a:r>
          </a:p>
          <a:p>
            <a:r>
              <a:t>15.1.1 Riscos de Crédito:</a:t>
            </a:r>
          </a:p>
          <a:p>
            <a:r>
              <a:t> (i) Risco de concentração na Classe Investida. Nos termos do presente Regulamento, a Classe  deverá manter alocado, no mínimo, 67% (sessenta e sete por cento) do Patrimônio Líquido nas Cotas  da Classe Investida. Alterações na condição econômico-financeira e na expectativa de desempenho ou  resultados da Classe Investida poderão, isolada ou cumulativamente, afetar negativamente o  rendimento do investimento nas Cotas, de forma mais severa do que se a Classe adotasse uma  estratégia de investimento de maior diversificação. O risco associado às aplicações de qualquer fundo  de investimento é diretamente proporcional à concentração da sua carteira, sendo que, quanto maior  essa concentração, maior será a sua vulnerabilidade.</a:t>
            </a:r>
          </a:p>
          <a:p>
            <a:r>
              <a:t> (ii) Risco relativo à Classe Investida. Nos termos deste Anexo, a Classe deverá manter alocado, no  mínimo, 67% (sessenta e sete por cento) do Patrimônio Líquido em Cotas da Classe Investida. Os  investimentos realizados pela Classe Investida poderão estar sujeitos a flutuações típicas do mercado,  risco de crédito, risco sistêmico, condições adversas de liquidez e negociação atípica nos mercados de  atuação, bem como outros riscos diversos. Este Anexo não contém a descrição de todas as  características, incluindo os riscos, da Classe Investida.</a:t>
            </a:r>
          </a:p>
          <a:p>
            <a:r>
              <a:t> (iii) Risco Relativo ao Pagamento de Encargos da Classe Investida. Tendo em vista a estrutura da  Classe Investida – que emitiu cotas sêniores, cotas subordinadas mezanino e cotas subordinadas júnior  – em situação ordinária os encargos da Classe Investida são arcados pelas cotas subordinadas júnior,  que se subordinam às cotas subordinadas mezanino e às cotas sêniores para fins de amortização,  resgate e distribuição de rendimentos, não impactando, portanto, as Cotas da Classe Investida. Não  obstante o funcionamento da Classe Investida em situação ordinária, em cenários extraordinários, na  eventualidade do valor das cotas subordinadas júnior ficar reduzido a zero ou a valor negativo, os  encargos da Classe Investida conforme previstos em seu regulamento, inclusive mas não se limitando  as remunerações dos prestadores de serviços essenciais, passarão a ser arcados pelas cotas  subordinadas mezanino (que são as Cotas da Classe Investida), impactando no valor do investimento  da Classe na Classe Investida, e consequentemente, o investimento dos Cotistas na Classe.</a:t>
            </a:r>
          </a:p>
          <a:p>
            <a:r>
              <a:t> (iv) Riscos referentes à carteira da Classe Investida. Na forma do Anexo Normativo II da Resolução  CVM 175, a Classe Investida investe, direta ou indiretamente, no mínimo, 67% (sessenta e sete por  cento) do seu patrimônio em direitos creditórios originados pela Mercado Pago. O investimento em tais  direitos creditórios está sujeito a fatores de risco específicos, conforme detalhados no regulamento da  Classe Investida, incluindo, mas não se limitando a:</a:t>
            </a:r>
          </a:p>
          <a:p>
            <a:r>
              <a:t> (a) Risco de liquidez dos direitos creditórios. O investimento da Classe Investida em direitos  creditórios apresenta peculiaridades em relação às aplicações usuais da maioria dos  fundos de investimento brasileiros, haja vista que não existe, no Brasil, mercado  secundário com liquidez para tais direitos creditórios. Caso a Classe Investida precise  vender os direitos creditórios adquiridos, poderá não haver mercado comprador para  tais créditos, bem como o preço de alienação de tais direitos creditórios poderá refletir  essa falta de liquidez, causando perda ao patrimônio da Classe Investida e,  consequentemente, à Classe.</a:t>
            </a:r>
          </a:p>
          <a:p>
            <a:r>
              <a:t>CNPJ 55563624000109 · Adaptação à Resolução CVM 175 · Regulamento · ID 1192614 · 2026-04-30 · versão 1 · p. 28 · 13.2 · https://fnet.bmfbovespa.com.br/fnet/publico/visualizarDocumento?id=1192614</a:t>
            </a:r>
          </a:p>
          <a:p>
            <a:r>
              <a:t>CNPJ 55563624000109 · Adaptação à Resolução CVM 175 · Excerto da fonte:</a:t>
            </a:r>
          </a:p>
          <a:p>
            <a:r>
              <a:t>13.2 Em condições ordinárias, as Cotas da Classe Investida não pagarão remuneração aos prestadores de serviços  essenciais da Classe Investida, nos termos de seu regulamento. Não obstante, em cenário extraordinário  conforme descrito no item 15.1.1 (iii), e para fins de atendimento ao artigo 98 da parte geral da Resolução CVM  175, a taxa máxima de administração corresponderá ao valor da Taxa Mínima de Administração acrescida de até  0,10% (dez centésimos por cento) ao ano incidente sobre o patrimônio líquido da Classe Investida,  compreendendo a taxa de administração da Classe Investida geridos por partes relacionadas ao GESTOR, cujas  cotas não estão admitidas à negociação em mercado organizado, conforme prevista no regulamento da Classe  Investida (“Taxa Máxima de Administração” e, quando referida em conjunto com a Taxa Mínima de  Administração, como “Taxa de Administração”). Caso a taxa de administração da Classe Investida não se  enquadre no disposto acima, estará disposta no regulamento da Classe Investida.</a:t>
            </a:r>
          </a:p>
          <a:p>
            <a:r>
              <a:t>CNPJ 55563624000109 · Adaptação à Resolução CVM 175 · Condição: Documentos atuais selecionados no inventário por categoria/escopo; a data documental isolada não comprova vigência jurídica.</a:t>
            </a:r>
          </a:p>
          <a:p>
            <a:r>
              <a:t>CNPJ 55563624000109 · Adaptação à Resolução CVM 175 · Versão e prevalência: Documentos atuais selecionados no inventário por categoria/escopo; a data documental isolada não comprova vigência jurídica.</a:t>
            </a:r>
          </a:p>
          <a:p>
            <a:r>
              <a:t>CNPJ 55563624000109 · Adaptação à Resolução CVM 175 · Resumo do histórico: {"count": 3, "dates": ["2024-07-03", "2025-01-31", "2026-01-31"], "document_count": 3, "sources": [{"document_id": "1178840", "title": "Demonstrações Financeiras", "reference_date": "2026-01-31", "version": "1", "page": 29, "url": "https://fnet.bmfbovespa.com.br/fnet/publico/visualizarDocumento?id=1178840", "sha256": "c458e98664c5c907ddb5a05a94b120bed4e05295b2bfc420f5ba69af0a229abe"}, {"document_id": "891861", "title": "Demonstrações Financeiras", "reference_date": "2025-01-31", "version": "1", "page": 30, "url": "https://fnet.bmfbovespa.com.br/fnet/publico/visualizarDocumento?id=891861", "sha256": "e9cb9e6ddbe505fe068cfcac33605165a98313489de0d3ce6d4d238263c3f3e7"}, {"document_id": "691674", "title": "Instrumento Particular de Emissão de Cotas", "reference_date": "2024-07-03", "version": "1", "page": 1, "url": "https://fnet.bmfbovespa.com.br/fnet/publico/visualizarDocumento?id=691674", "sha256": "78bf7b350f1785beae5f43bd209b5ed19e863cb9a2cff01542aac11dd63ca554"}], "reference": {"path": "history/55563624000109.json", "criterion_id": "res175", "total_count": 3, "preview_count": 3, "full_text_deferred": true, "sha256": "7835d573fb58a3c19adf5b8ecc2aee2bdbb9a88f7a0c0209b5f262b64c7522e3"}}</a:t>
            </a:r>
          </a:p>
          <a:p>
            <a:r>
              <a:t>CNPJ 62552447000120 · Adaptação à Resolução CVM 175 · Regulamento · ID 1200623 · 21/05/2026 · versão Consolidado21/05/2026 aprovado pelo ato1200625 · p. 1 · ParteGeral1.1 · https://fnet.bmfbovespa.com.br/fnet/publico/visualizarDocumento?id=1200623</a:t>
            </a:r>
          </a:p>
          <a:p>
            <a:r>
              <a:t>CNPJ 62552447000120 · Adaptação à Resolução CVM 175 · Excerto da fonte:</a:t>
            </a:r>
          </a:p>
          <a:p>
            <a:r>
              <a:t>1.1 V CDT 1 FUNDO DE INVESTIMENTO EM DIREITOS CREDITÓRIOS RESPONSABILIDADE LIMITADA (“Fundo”), regido pela Lei n.º 10.406, de 10 de janeiro de 2002, conforme alterada (“Código Civil”), pela Resolução da Comissão de Valores Mobiliários (“CVM”) n.º 175, de 23 de dezembro de 2022, conf orme alterada (“Resolução CVM 175”), que inclui sua Parte Geral (“Parte Geral da Resolução CVM 175”) e seu Anexo Normativo II (“Anexo Normativo II”) terá como principais características: Classe de Cotas Classe única. Indeterminado, exceto se de outra forma vier a ser deliberado pelos titulares</a:t>
            </a:r>
          </a:p>
          <a:p>
            <a:r>
              <a:t>CNPJ 62552447000120 · Adaptação à Resolução CVM 175 · Regulamento · ID 1200623 · 21/05/2026 · versão Consolidado21/05/2026 aprovado pelo ato1200625 · p. 2 · ParteGeral1.6(v) · https://fnet.bmfbovespa.com.br/fnet/publico/visualizarDocumento?id=1200623</a:t>
            </a:r>
          </a:p>
          <a:p>
            <a:r>
              <a:t>CNPJ 62552447000120 · Adaptação à Resolução CVM 175 · Excerto da fonte:</a:t>
            </a:r>
          </a:p>
          <a:p>
            <a:r>
              <a:t>V CDT 1 FUNDO DE INVESTIMENTO EM DIREITOS CREDITÓRIOS RESPONSABILIDADE LIMITADA direitos e obrigações distintos das demais Classes, nos termos do art. 5º da Parte Geral da Resolução CVM 175. 1.4 O Anexo de cada classe de Cotas (“Classe”), conforme aplicável, dispõe, sem prejuízo de outros requisitos e inf ormações previstos na regulamentação, sobre: (i) características gerais, incluindo a indicação dos demais prestadores de serviços; (ii) responsabilidade dos Cotistas e regime de insolvência; (iii) características, direitos, condições de emissão, subscrição, integralização,</a:t>
            </a:r>
          </a:p>
          <a:p>
            <a:r>
              <a:t>CNPJ 62552447000120 · Adaptação à Resolução CVM 175 · Regulamento · ID 1200623 · 21/05/2026 · versão Consolidado21/05/2026 aprovado pelo ato1200625 · p. 16 · AnexoI5.1 · https://fnet.bmfbovespa.com.br/fnet/publico/visualizarDocumento?id=1200623</a:t>
            </a:r>
          </a:p>
          <a:p>
            <a:r>
              <a:t>CNPJ 62552447000120 · Adaptação à Resolução CVM 175 · Excerto da fonte:</a:t>
            </a:r>
          </a:p>
          <a:p>
            <a:r>
              <a:t>5.1 A Classe não possui Subclasse. As características, os direitos e as condições de emissão, distribuição, subscrição, integralização, remuneração, Amortização e resgate das Cotas estão descritos neste Capítulo e no Capítulo 6. 5.1.1 Não obstante, por deliberação conjunta dos Prestadores de Serviços Essenciais e mediante aprovação em Assembleia Especial, poderá haver a divisão de Classes em Subclasses, nos termos da Resolução CVM 175. Após a primeira emissão de Cotas, novas emissões de Cotas (de quaisquer Subclasses) dependem de aprovação dos Cotistas. 5.2 As Cotas são escrit</a:t>
            </a:r>
          </a:p>
          <a:p>
            <a:r>
              <a:t>CNPJ 62552447000120 · Adaptação à Resolução CVM 175 · Versão e prevalência: Leitura específica das cláusulas indicadas; condições e conflitos preservados. Seleção documental atual não comprova vigência jurídica por data isolada.</a:t>
            </a:r>
          </a:p>
          <a:p>
            <a:r>
              <a:t>CNPJ 62552447000120 · Adaptação à Resolução CVM 175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"res175", "total_count": 1, "preview_count": 1, "full_text_deferred": true, "sha256": "d95db8c0613d67ee84118c734588665265ea6b02f86a0318d6a844cbe1d0f82f"}}</a:t>
            </a:r>
          </a:p>
          <a:p>
            <a:r>
              <a:t>CNPJ 63953620000165 · Adaptação à Resolução CVM 175 · Anexo ao Regulamento · ID 1222863 · 02/06/2026 · versão AnexoConsignadoPrivado02/06/2026 · p. 1 · AnexoI1.1 · https://fnet.bmfbovespa.com.br/fnet/publico/visualizarDocumento?id=1222863</a:t>
            </a:r>
          </a:p>
          <a:p>
            <a:r>
              <a:t>CNPJ 63953620000165 · Adaptação à Resolução CVM 175 · Excerto da fonte:</a:t>
            </a:r>
          </a:p>
          <a:p>
            <a:r>
              <a:t>1.1 As principais características da Classe Consignado Privado (para fins deste Anexo, “Classe”) estão descritas abaixo: Tipo de Condomínio Fechado. Indeterminado, exceto se de outra forma vier a ser deliberado pelos Cotistas Prazo de Duração reunidos em Assembleia Especial de Cotistas. (“Prazo de Duração”) Tipo “Financeiro”. Classificação ANBIMA Foco de atuação “Créditos Consignados”. O obje</a:t>
            </a:r>
          </a:p>
          <a:p>
            <a:r>
              <a:t>CNPJ 63953620000165 · Adaptação à Resolução CVM 175 · Anexo ao Regulamento · ID 1222863 · 02/06/2026 · versão AnexoConsignadoPrivado02/06/2026 · p. 9 · 5.1 · https://fnet.bmfbovespa.com.br/fnet/publico/visualizarDocumento?id=1222863</a:t>
            </a:r>
          </a:p>
          <a:p>
            <a:r>
              <a:t>CNPJ 63953620000165 · Adaptação à Resolução CVM 175 · Excerto da fonte:</a:t>
            </a:r>
          </a:p>
          <a:p>
            <a:r>
              <a:t>5.1 A Classe possui 2 (duas) Subclasses de Cotas, quais sejam, a subclasse sênior (“Subclasse Sênior” e “Cotas Seniores”) e a subclasse subordinada (“Subclasse Subordinada” e “Cotas Subordinadas” – as Cotas Subordinadas e Cotas Seniores, quando referidas em conjunto, “Cotas”). As características, os direitos e as condições de emissão, distribuição, subscrição, integralização, remuneração, amortização e resgate das Cotas estão descritos neste Capítulo e nos respectivos Apêndices. 5.2 As Cotas são escriturais, nominativas e correspondem a frações ideais do patrimônio da Classe, cuja propriedade presume-se: (i) pelo</a:t>
            </a:r>
          </a:p>
          <a:p>
            <a:r>
              <a:t>CNPJ 63953620000165 · Adaptação à Resolução CVM 175 · Condição: Vigência efetiva da versão 02/06/2026 não inferida da data de publicação; não aplicar a fev/26 automaticamente.</a:t>
            </a:r>
          </a:p>
          <a:p>
            <a:r>
              <a:t>CNPJ 63953620000165 · Adaptação à Resolução CVM 175 · Versão e prevalência: Leitura específica das cláusulas indicadas; condições e conflitos preservados. Seleção documental atual não comprova vigência jurídica por data isolada.</a:t>
            </a:r>
          </a:p>
          <a:p>
            <a:r>
              <a:t>CNPJ 63953620000165 · Adaptação à Resolução CVM 175 · Resumo do histórico: {"count": 9, "dates": ["2026-04-28", "2026-05-08", "2026-05-15"], "document_count": 3, "sources": [{"document_id": "1327859", "title": "Demonstrações Financeiras - Fusão, cisão e incorporação", "reference_date": "2026-05-15", "version": "1", "page": 31, "clause": "15.000.000", "url": "https://fnet.bmfbovespa.com.br/fnet/publico/visualizarDocumento?id=1327859", "sha256": "dca1c68babb97f887528c3e2e47596a9c30f507b067981a35655b2f2da9c8054"}, {"document_id": "1298691", "title": "Demonstrações Financeiras - Fusão, cisão e incorporação", "reference_date": "2026-05-08", "version": "1", "page": 32, "url": "https://fnet.bmfbovespa.com.br/fnet/publico/visualizarDocumento?id=1298691", "sha256": "58c570d9b8d4d265330d3db3ea81c435b8e44a6dab4002aa37790652a1ee9819"}, {"document_id": "1282180", "title": "Demonstrações Financeiras - Fusão, cisão e incorporação", "reference_date": "2026-04-28", "version": "1", "page": 32, "clause": "15.000.000", "url": "https://fnet.bmfbovespa.com.br/fnet/publico/visualizarDocumento?id=1282180", "sha256": "afaaa0e6809be4385e5bdb6c911aac582032c5bdbac3d7750234bf9eaf00438a"}], "reference": {"path": "history/63953620000165.json", "criterion_id": "res175", "total_count": 9, "preview_count": 3, "full_text_deferred": true, "sha256": "a7b89077f5e21098c2d601c303faabc3ff6b9729f89d8afecdc60fe1404720c1"}}</a:t>
            </a:r>
          </a:p>
          <a:p>
            <a:r>
              <a:t>CNPJ 54871427000194 · Duração e público-alvo · Demonstrações Financeiras - Fusão, cisão e incorporação · ID 1219522 · 2026-02-02 · versão 1 · p. 11 · https://fnet.bmfbovespa.com.br/fnet/publico/visualizarDocumento?id=1219522</a:t>
            </a:r>
          </a:p>
          <a:p>
            <a:r>
              <a:t>CNPJ 54871427000194 · Duração e público-alvo · Excerto da fonte:</a:t>
            </a:r>
          </a:p>
          <a:p>
            <a:r>
              <a:t>O Consignado Delta Receivables I Fundo de Investimento em Direitos Creditórios possui uma classe única de cotas, denominada Classe Única de Responsabilidade Limitada do Consignado Delta Receivables I Fundo de Investimento em Direitos Creditórios (“Classe”). A Classe foi constituída em 19 de abril de 2024, sob a forma de condomínio fechado e iniciou suas operações em 27 de maio de 2024. A Classe possui prazo de duração Indeterminado.</a:t>
            </a:r>
          </a:p>
          <a:p>
            <a:r>
              <a:t>CNPJ 54871427000194 · Duração e público-alvo · Condição: Documentos atuais selecionados no inventário por categoria/escopo; a data documental isolada não comprova vigência jurídica.</a:t>
            </a:r>
          </a:p>
          <a:p>
            <a:r>
              <a:t>CNPJ 54871427000194 · Duração e público-alvo · Versão e prevalência: Documentos atuais selecionados no inventário por categoria/escopo; a data documental isolada não comprova vigência jurídica.</a:t>
            </a:r>
          </a:p>
          <a:p>
            <a:r>
              <a:t>CNPJ 54871427000194 · Duração e público-alvo · Resumo do histórico: {"count": 11, "dates": ["2024-12-31", "2025-01-01", "2025-12-31"], "document_count": 3, "sources": [{"document_id": "1151805", "title": "Demonstrações Financeiras", "reference_date": "2025-12-31", "version": "1", "page": 11, "url": "https://fnet.bmfbovespa.com.br/fnet/publico/visualizarDocumento?id=1151805", "sha256": "f1cea70b152968bf96ef9221b27225953cb20aeef487b2798db3c25e11b528d4"}, {"document_id": "869529", "title": "Demonstrações Financeiras", "reference_date": "2025-01-01", "version": "1", "page": 11, "url": "https://fnet.bmfbovespa.com.br/fnet/publico/visualizarDocumento?id=869529", "sha256": "9a93a9369ac8efdbc54ff8fcee3ccac3abf88edab4807b9323d3852450771b2a"}, {"document_id": "870070", "title": "Demonstrações Financeiras", "reference_date": "2024-12-31", "version": "1", "page": 11, "url": "https://fnet.bmfbovespa.com.br/fnet/publico/visualizarDocumento?id=870070", "sha256": "9a93a9369ac8efdbc54ff8fcee3ccac3abf88edab4807b9323d3852450771b2a"}], "reference": {"path": "history/54871427000194.json", "criterion_id": "duration_investors", "total_count": 11, "preview_count": 3, "full_text_deferred": true, "sha256": "35d7cd99be50c7287c9fb675cf4f2e736002315295a225a9efa79c8d9186d874"}}</a:t>
            </a:r>
          </a:p>
          <a:p>
            <a:r>
              <a:t>CNPJ 60010416000112 · Duração e público-alvo · Demonstrações Financeiras - Fusão, cisão e incorporação · ID 1298690 · 2026-05-08 · versão 1 · p. 9 · https://fnet.bmfbovespa.com.br/fnet/publico/visualizarDocumento?id=1298690</a:t>
            </a:r>
          </a:p>
          <a:p>
            <a:r>
              <a:t>CNPJ 60010416000112 · Duração e público-alvo · Excerto da fonte:</a:t>
            </a:r>
          </a:p>
          <a:p>
            <a:r>
              <a:t>1. Contexto operacional  O MT Consignado Privado I Fundo de Investimento em Direitos Creditórios (“Fundo”) possui uma  classe única de cotas, denominada Classe Única do MT I Consignado Privado I Fundo de  Investimento em Direitos Creditórios Responsabilidade Limitada (“Classe”). A Classe foi  constituída em 20 de março de 2025, sob a forma de condomínio fechado e iniciou suas  operações em 21 de março de 2025. A Classe possui prazo de duração indeterminado.</a:t>
            </a:r>
          </a:p>
          <a:p>
            <a:r>
              <a:t>CNPJ 60010416000112 · Duração e público-alvo · Demonstrações Financeiras - Fusão, cisão e incorporação · ID 1298690 · 2026-05-08 · versão 1 · p. 22 · https://fnet.bmfbovespa.com.br/fnet/publico/visualizarDocumento?id=1298690</a:t>
            </a:r>
          </a:p>
          <a:p>
            <a:r>
              <a:t>CNPJ 60010416000112 · Duração e público-alvo · Excerto da fonte:</a:t>
            </a:r>
          </a:p>
          <a:p>
            <a:r>
              <a:t>(ii) Riscos do mercado secundário: A Classe é constituída sob a forma de condomínio  fechado, de modo que as Cotas Subordinadas somente serão resgatadas em virtude da  liquidação da Classe e as Cotas Seniores ao término do seu prazo de duração, conforme  estabelecidos nos respectivos Suplementos. Uma vez que o prazo de duração da Classe  é indeterminado, o Cotista titular das Cotas Subordinadas não terá liquidez em seu  investimento na Classe, exceto (a) por ocasião das amortizações e dos resgates, nos  termos do Regulamento; (b) por meio da alienação de suas Cotas no mercado  secundário, observado, neste caso, que sua alienação apenas é permitida para o Público-  Alvo das Cotas Subordinadas; ou (c) na liquidação antecipada do Fundo ou da Classe.</a:t>
            </a:r>
          </a:p>
          <a:p>
            <a:r>
              <a:t> Além disso, atualmente, o mercado secundário de cotas de fundos de investimento  apresenta baixa liquidez, o que pode dificultar a venda das Cotas ou ocasionar a obtenção  de um preço de venda que cause perda de patrimônio ao Cotista. Não há qualquer  garantia da Administradora, da Gestora, da consultora ou do Custodiante em relação à  possibilidade de venda das Cotas no mercado secundário ou ao preço obtido por elas,  ou mesmo garantia de saída ao Cotista.</a:t>
            </a:r>
          </a:p>
          <a:p>
            <a:r>
              <a:t>CNPJ 60010416000112 · Duração e público-alvo · Condição: Documentos atuais selecionados no inventário por categoria/escopo; a data documental isolada não comprova vigência jurídica.</a:t>
            </a:r>
          </a:p>
          <a:p>
            <a:r>
              <a:t>CNPJ 60010416000112 · Duração e público-alvo · Versão e prevalência: Documentos atuais selecionados no inventário por categoria/escopo; a data documental isolada não comprova vigência jurídica.</a:t>
            </a:r>
          </a:p>
          <a:p>
            <a:r>
              <a:t>CNPJ 60010416000112 · Duração e público-alvo · Resumo do histórico: {"count": 9, "dates": ["2025-11-30", "2026-03-18", "2026-04-16"], "document_count": 3, "sources": [{"document_id": "1282181", "title": "Demonstrações Financeiras - Fusão, cisão e incorporação", "reference_date": "2026-04-16", "version": "1", "page": 23, "url": "https://fnet.bmfbovespa.com.br/fnet/publico/visualizarDocumento?id=1282181", "sha256": "b1c6566e43a00bcd00c8a7f30c77b7f86e351bd8e355bbea113f46d1dafda703"}, {"document_id": "1224477", "title": "Demonstrações Financeiras - Fusão, cisão e incorporação", "reference_date": "2026-03-18", "version": "1", "page": 23, "url": "https://fnet.bmfbovespa.com.br/fnet/publico/visualizarDocumento?id=1224477", "sha256": "0751bf0a75bc3b44c2748f5000226665c6ec6698a90c4dc6170b4e6c187759ae"}, {"document_id": "1126154", "title": "Demonstrações Financeiras", "reference_date": "2025-11-30", "version": "1", "page": 23, "url": "https://fnet.bmfbovespa.com.br/fnet/publico/visualizarDocumento?id=1126154", "sha256": "a01e7ccf88c548f12c95cba8526d7efbef6b585c112cd4668eca781c292090b0"}], "reference": {"path": "history/60010416000112.json", "criterion_id": "duration_investors", "total_count": 9, "preview_count": 3, "full_text_deferred": true, "sha256": "8e2bd813f4c51cf01f6bfaad164bafe69d2bbb192f753eac92da3a01c2e63046"}}</a:t>
            </a:r>
          </a:p>
          <a:p>
            <a:r>
              <a:t>CNPJ 62696791000193 · Duração e público-alvo · Regulamento · ID 1143317 · 2026-03-20 · versão 1 · p. 18 · 8.8.1 · https://fnet.bmfbovespa.com.br/fnet/publico/visualizarDocumento?id=1143317</a:t>
            </a:r>
          </a:p>
          <a:p>
            <a:r>
              <a:t>CNPJ 62696791000193 · Duração e público-alvo · Excerto da fonte:</a:t>
            </a:r>
          </a:p>
          <a:p>
            <a:r>
              <a:t>8.8.1 As Chamadas de Capital para a realização de investimentos serão realizadas a qualquer  momento durante o Período de Investimento e estarão limitadas ao valor do capital subscrito  de cada Cotista. As Chamadas de Capital para o pagamento de despesas e encargos do Fundo  poderão ser realizadas a qualquer momento durante o Prazo de Duração, mas não estarão  limitadas ao valor do capital subscrito de cada Cotista.</a:t>
            </a:r>
          </a:p>
          <a:p>
            <a:r>
              <a:t>CNPJ 62696791000193 · Duração e público-alvo · Regulamento · ID 1143317 · 2026-03-20 · versão 1 · p. 20 · 9.5.1 · https://fnet.bmfbovespa.com.br/fnet/publico/visualizarDocumento?id=1143317</a:t>
            </a:r>
          </a:p>
          <a:p>
            <a:r>
              <a:t>CNPJ 62696791000193 · Duração e público-alvo · Excerto da fonte:</a:t>
            </a:r>
          </a:p>
          <a:p>
            <a:r>
              <a:t>9.5.1 Ao f inal do Prazo de Duração ou quando da liquidação antecipada da Classe, todas as Cotas  deverão ter seu valor integralmente amortizado. Não havendo recursos em moeda corrente  nacional suficientes para realizar o pagamento da amortização total das Cotas em circulação à  época da liquidação da Classe, o Administrador deverá convocar a Assembleia Especial de  Cotistas a fim de deliberar sobre a prorrogação do Prazo de Duração ou o resgate de Cotas em  Direitos Creditórios do Agronegócio e/ou Outros Ativos .</a:t>
            </a:r>
          </a:p>
          <a:p>
            <a:r>
              <a:t>10 ASSEMBLEIA ESPECIAL DE COTISTAS</a:t>
            </a:r>
          </a:p>
          <a:p>
            <a:r>
              <a:t>CNPJ 62696791000193 · Duração e público-alvo · Regulamento · ID 1143317 · 2026-03-20 · versão 1 · p. 23 · 11.1 · https://fnet.bmfbovespa.com.br/fnet/publico/visualizarDocumento?id=1143317</a:t>
            </a:r>
          </a:p>
          <a:p>
            <a:r>
              <a:t>CNPJ 62696791000193 · Duração e público-alvo · Excerto da fonte:</a:t>
            </a:r>
          </a:p>
          <a:p>
            <a:r>
              <a:t>11.1 A Classe será liquidada (i) em caso da liquidação antecipada deliberada em Assembleia Especial de  Cotistas; ou (ii) pelo encerramento do Prazo de Duração da Classe.</a:t>
            </a:r>
          </a:p>
          <a:p>
            <a:r>
              <a:t>CNPJ 62696791000193 · Duração e público-alvo · Condição: Documentos atuais selecionados no inventário por categoria/escopo; a data documental isolada não comprova vigência jurídica.</a:t>
            </a:r>
          </a:p>
          <a:p>
            <a:r>
              <a:t>CNPJ 62696791000193 · Duração e público-alvo · Versão e prevalência: Documentos atuais selecionados no inventário por categoria/escopo; a data documental isolada não comprova vigência jurídica.</a:t>
            </a:r>
          </a:p>
          <a:p>
            <a:r>
              <a:t>CNPJ 55563624000109 · Duração e público-alvo · AGE · ID 1306189 · 2026-08-25 · versão 1 · p. 1 · 4.1 · https://fnet.bmfbovespa.com.br/fnet/publico/visualizarDocumento?id=1306189</a:t>
            </a:r>
          </a:p>
          <a:p>
            <a:r>
              <a:t>CNPJ 55563624000109 · Duração e público-alvo · Excerto da fonte:</a:t>
            </a:r>
          </a:p>
          <a:p>
            <a:r>
              <a:t>4.1 Nos termos do Anexo da Classe, aprovar:</a:t>
            </a:r>
          </a:p>
          <a:p>
            <a:r>
              <a:t>(i) a liquidação da Subclasse A da Classe, considerando o encerramento do seu prazo de duração, por meio do  resgate integral de Cotas da Subclasse A com entrega de financeiro aos Cotistas. Será utilizada como data  base no cálculo da cota do dia 25 de agosto de 2026, com efetivação no fechamento do dia 27 de agosto de  2026; e</a:t>
            </a:r>
          </a:p>
          <a:p>
            <a:r>
              <a:t>(ii) a liquidação antecipada da Subclasse C da Classe, por meio do resgate integral de Cotas da Subclasse C com  entrega de financeiro aos Cotistas. Será utilizada como data base no cálculo da cota do dia 25 de agosto de  2026, com efetivação no fechamento do dia 27 de agosto de 2026.</a:t>
            </a:r>
          </a:p>
          <a:p>
            <a:r>
              <a:t>CNPJ 55563624000109 · Duração e público-alvo · Condição: Documentos atuais selecionados no inventário por categoria/escopo; a data documental isolada não comprova vigência jurídica.</a:t>
            </a:r>
          </a:p>
          <a:p>
            <a:r>
              <a:t>CNPJ 55563624000109 · Duração e público-alvo · Versão e prevalência: Documentos atuais selecionados no inventário por categoria/escopo; a data documental isolada não comprova vigência jurídica.</a:t>
            </a:r>
          </a:p>
          <a:p>
            <a:r>
              <a:t>CNPJ 55563624000109 · Duração e público-alvo · Resumo do histórico: {"count": 6, "dates": ["2026-04-30"], "document_count": 2, "sources": [{"document_id": "1192614", "title": "Regulamento", "reference_date": "2026-04-30", "version": "1", "page": "9, 15, 45-50", "url": "https://fnet.bmfbovespa.com.br/fnet/publico/visualizarDocumento?id=1192614", "sha256": "f56e63ace0acde41d2f47fb48f1ac7f3f7df5e2d32de092d7c5e075a52516632"}, {"document_id": "1192614", "title": "Regulamento", "reference_date": "2026-04-30", "version": "1", "page": 5, "clause": "4.7.1", "url": "https://fnet.bmfbovespa.com.br/fnet/publico/visualizarDocumento?id=1192614", "sha256": "f56e63ace0acde41d2f47fb48f1ac7f3f7df5e2d32de092d7c5e075a52516632"}, {"document_id": "1192603", "title": "AGE", "reference_date": "2026-04-30", "version": "1", "page": 1, "clause": "4.1", "url": "https://fnet.bmfbovespa.com.br/fnet/publico/visualizarDocumento?id=1192603", "sha256": "f53ff2a5b715f5365536305a098f9cc0c54b5a01128942d784915bed8eeb0288"}], "reference": {"path": "history/55563624000109.json", "criterion_id": "duration_investors", "total_count": 6, "preview_count": 3, "full_text_deferred": true, "sha256": "7835d573fb58a3c19adf5b8ecc2aee2bdbb9a88f7a0c0209b5f262b64c7522e3"}}</a:t>
            </a:r>
          </a:p>
          <a:p>
            <a:r>
              <a:t>CNPJ 62552447000120 · Duração e público-alvo · Regulamento · ID 1200623 · 2026-05-21 · versão 1 · p. 22 · 10.4 · https://fnet.bmfbovespa.com.br/fnet/publico/visualizarDocumento?id=1200623</a:t>
            </a:r>
          </a:p>
          <a:p>
            <a:r>
              <a:t>CNPJ 62552447000120 · Duração e público-alvo · Excerto da fonte:</a:t>
            </a:r>
          </a:p>
          <a:p>
            <a:r>
              <a:t>10.4 Tendo em vista que a Classe é exclusivamente destinada a Investidores Profissionais, não serão  aplicáveis as vedações ao direito a voto em assembleia de cotistas dispostas no artigo 78 da Resolução  CVM 175, conf orme disposto no artigo 114 da ref erida Resolução.</a:t>
            </a:r>
          </a:p>
          <a:p>
            <a:r>
              <a:t>CNPJ 62552447000120 · Duração e público-alvo · Regulamento · ID 1200623 · 2026-05-21 · versão 1 · p. 35 · https://fnet.bmfbovespa.com.br/fnet/publico/visualizarDocumento?id=1200623</a:t>
            </a:r>
          </a:p>
          <a:p>
            <a:r>
              <a:t>CNPJ 62552447000120 · Duração e público-alvo · Excerto da fonte:</a:t>
            </a:r>
          </a:p>
          <a:p>
            <a:r>
              <a:t>ativos desses emissores, causando perdas à Classe e ao Cotista. Além disso, a f alta de capacidade ou disposição de pagar por qualquer dos emissores dos Ativos Financeiros de Liquidez ou das contrapartes nas transações que compõem a Carteira causará perdas à Classe, e o que também poderá incorrer em custos para f ins de recuperação de seus recebíveis.</a:t>
            </a:r>
          </a:p>
          <a:p>
            <a:r>
              <a:t>(v) Riscos associados aos Devedores: no caso de Devedores no âmbito das operações de consignado privado, a sua capacidade de pagamento poderá ser af etada se, por exemplo, o Devedor tiver o seu contrato de emprego rescindido ou em virtude de decisão judicial, o Devedor for obrigado a pagar alimentos, que têm prioridade sobre o empréstimo para f ins de desconto na f 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 etar a rentabilidade da Classe. Já no caso de Devedores no âmbito das operações de Saque-aniversário, como os Direitos Creditórios a serem endossados à Classe serão descontados pelo FGTS da remuneração do Devedor, na ocorrência de qualquer evento que, nos termos da legislação aplicável, determine o pagamento antecipado do Saque-aniversário ao Devedor, a exemplo do falecimento do Devedor, dentre outros, as parcelas do Saque- aniversário serão pagas antecipadamente e a Classe deverá utilizar tais montantes no pré-pagamento dos Direitos Creditórios. Nesta hipótese, a Classe poderá não encontrar Direitos Creditórios disponíveis para serem adquiridos pela Classe, o que poderá af etar a rentabilidade da Classe.</a:t>
            </a:r>
          </a:p>
          <a:p>
            <a:r>
              <a:t>Risco de liquidez</a:t>
            </a:r>
          </a:p>
          <a:p>
            <a:r>
              <a:t>(i) Risco de liquidez: consiste no risco de redução ou inexistência de demanda pelos ativos que compõem a Classe nos respectivos mercados em que são negociados, devido às condições específicas desses ativos ou aos mercados em que são negociados. Devido a esses riscos, o Gestor poderá encontrar dificuldades em liquidar posições ou negociar esses ativos pelo preço e prazo desejados, de acordo com a estratégia de gestão adotada pela Classe, que permanecerá exposto, durante o período de baixa liquidez, aos riscos associados a esses ativos e posições assumidas em mercados de derivativos, se houver, que poderão até exigir que o Gestor aceite descontos em seus preços para realizar negociações no mercado. Esses f atores poderão prejudicar o pagamento de Amortizações ao Cotista, nos valores e dentro dos termos aqui estabelecidos.</a:t>
            </a:r>
          </a:p>
          <a:p>
            <a:r>
              <a:t>(ii) Riscos do mercado secundário: A Classe é constituída sob a f orma de condomínio fechado, de modo que as Cotas somente serão resgatadas em virtude da liquidação da Classe. Uma vez que o Prazo de Duração da Classe é indeterminado, o Cotista titular das Cotas não terá liquidez em seu investimento na Classe, exceto</a:t>
            </a:r>
          </a:p>
          <a:p>
            <a:r>
              <a:t>(a) por ocasião das Amortizações e dos resgates, nos termos deste Regulamento; (b) por meio da alienação de suas Cotas no mercado secundário; ou (c) na liquidação antecipada do FUNDO ou da Classe.</a:t>
            </a:r>
          </a:p>
          <a:p>
            <a:r>
              <a:t>Além disso, atualmente, o mercado secundário de cotas de fundos de investimento apresenta baixa liquidez, o que pode dificultar a venda das Cotas ou ocasionar a obtenção de um preço de venda que cause perda de patrimônio ao Cotista. Não há qualquer garantia do Administrador, do Gestor, da consultora ou do Custodiante em relação à possibilidade de venda das Cotas no mercado secundário ou ao preço obtido por elas, ou mesmo garantia de saída ao Cotista.</a:t>
            </a:r>
          </a:p>
          <a:p>
            <a:r>
              <a:t>Riscos específicos</a:t>
            </a:r>
          </a:p>
          <a:p>
            <a:r>
              <a:t>(i)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ficar inadimplente e, consequentemente, não haverá repasse à Classe do respectivo Direito Creditório, o que poderá resultar em perdas f inanceiras à Classe e aos Cotistas. Para os f ins deste Regulamento, “Empregador” signif ica a empresa com qual o Devedor mantém vínculo empregatício registrado junto à CTPS.</a:t>
            </a:r>
          </a:p>
          <a:p>
            <a:r>
              <a:t>(ii) Risco do Empregador não efetuar o desconto em folha: o repasse dos recursos oriundos dos Direitos Creditórios à Classe depende da realização, pelo Empregador, da escrituração da Consignação a ser</a:t>
            </a:r>
          </a:p>
          <a:p>
            <a:r>
              <a:t>CNPJ 62552447000120 · Duração e público-alvo · Regulamento · ID 1200623 · 2026-05-21 · versão 1 · p. 1 · 1.3 · https://fnet.bmfbovespa.com.br/fnet/publico/visualizarDocumento?id=1200623</a:t>
            </a:r>
          </a:p>
          <a:p>
            <a:r>
              <a:t>CNPJ 62552447000120 · Duração e público-alvo · Excerto da fonte:</a:t>
            </a:r>
          </a:p>
          <a:p>
            <a:r>
              <a:t>1.3 Durante o seu prazo de duração, o Fundo, por ato conjunto dos Prestadores de Serviços Essenciais,  poderá constituir diferentes Classes e Subclasses , sendo que cada Classe terá patrimônio segregado e</a:t>
            </a:r>
          </a:p>
          <a:p>
            <a:r>
              <a:t>CNPJ 62552447000120 · Duração e público-alvo · Condição: Documentos atuais selecionados no inventário por categoria/escopo; a data documental isolada não comprova vigência jurídica.</a:t>
            </a:r>
          </a:p>
          <a:p>
            <a:r>
              <a:t>CNPJ 62552447000120 · Duração e público-alvo · Versão e prevalência: Documentos atuais selecionados no inventário por categoria/escopo; a data documental isolada não comprova vigência jurídica.</a:t>
            </a:r>
          </a:p>
          <a:p>
            <a:r>
              <a:t>CNPJ 62552447000120 · Duração e público-alvo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"duration_investors", "total_count": 1, "preview_count": 1, "full_text_deferred": true, "sha256": "d95db8c0613d67ee84118c734588665265ea6b02f86a0318d6a844cbe1d0f82f"}}</a:t>
            </a:r>
          </a:p>
          <a:p>
            <a:r>
              <a:t>CNPJ 63953620000165 · Duração e público-alvo · Anexo ao Regulamento · ID 1222863 · 2026-06-02 · versão 1 · p. 2 · https://fnet.bmfbovespa.com.br/fnet/publico/visualizarDocumento?id=1222863</a:t>
            </a:r>
          </a:p>
          <a:p>
            <a:r>
              <a:t>CNPJ 63953620000165 · Duração e público-alvo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Duração e público-alvo · Anexo ao Regulamento · ID 1222863 · 2026-06-02 · versão 1 · p. 1 · 1.1 · https://fnet.bmfbovespa.com.br/fnet/publico/visualizarDocumento?id=1222863</a:t>
            </a:r>
          </a:p>
          <a:p>
            <a:r>
              <a:t>CNPJ 63953620000165 · Duração e público-alvo · Excerto da fonte:</a:t>
            </a:r>
          </a:p>
          <a:p>
            <a:r>
              <a:t>1.1 As principais características da Classe Consignado Privado (para fins deste Anexo, “Classe”) estão descritas  abaixo:</a:t>
            </a:r>
          </a:p>
          <a:p>
            <a:r>
              <a:t> Tipo de Condomínio Fechado.</a:t>
            </a:r>
          </a:p>
          <a:p>
            <a:r>
              <a:t> Indeterminado, exceto se de outra forma vier a ser deliberado pelos Cotistas  Prazo de Duração  reunidos em Assembleia Especial de Cotistas. (“Prazo de Duração”)  Tipo “Financeiro”.</a:t>
            </a:r>
          </a:p>
          <a:p>
            <a:r>
              <a:t> Classificação ANBIMA  Foco de atuação “Créditos Consignados”.</a:t>
            </a:r>
          </a:p>
          <a:p>
            <a:r>
              <a:t> O objetivo da classe é proporcionar aos seus Cotistas a valorização de suas Cotas  por meio da aplicação de seu Patrimônio Líquido (conforme definido abaixo) na  aquisição de: (i) “Direitos Creditórios Crédito Consignado”, representados por  cédula de crédito bancário regida pela Lei nº 10.931, emitida eletronicamente por  um devedor em favor do endossante (“CCB”) e, consequentemente, os recebíveis  decorrente de cada uma das parcelas vincendas, representando um empréstimo  consignado concedido pelo endossante ao devedor, e cujo pagamento ordinário  é feito por desconto de cada prestação vincenda de uma CCB na folha de  pagamentos do devedor (“Consignação”), efetuada pela Caixa Econômica  Federal, de acordo com a legislação aplicável e em conformidade com os  procedimentos estabelecidos no convênio celebrado entre o Endossante e a  Empresa de Tecnologia e Informações da Previdência – DATAPREV e paga na  Conta Vinculada do Endossante (“Convênio Consignado Privado”); e/ou (ii)  “Direitos Creditórios TVM”, representados por direitos, títulos e/ou valores  mobiliários representativos de créditos originados no âmbito de operações de  sociedades integrantes do conglomerado econômico de instituições financeiras  classificadas como S1 pelo BACEN, desde que não representem títulos de  emissão ou coobrigação de instituições financeiras, bem como cotas de fundos  de investimento que invistam preponderantemente nestes direitos, títulos e/ou  Objetivo  valores mobiliários (Direitos Creditórios TVM quando referidos em conjunto  com os Direitos Creditórios Consignado Privado, “Direitos Creditórios”)  observados todos os limites de composição e diversificação da carteira da Classe  (“Carteira”), estabelecidos neste Regulamento e na regulamentação aplicável.</a:t>
            </a:r>
          </a:p>
          <a:p>
            <a:r>
              <a:t> Subsidiariamente, a parcela do Patrimônio Líquido que não esteja alocada em  Direitos Creditórios poderá estar alocado em: (1) certificados de depósito  bancário (CDB) ou recibos de depósito bancário (RDB) com prazo máximo de  vencimento equivalente ao prazo remanescente do Período de Investimento, com  liquidez diária, emitidos por Parati Crédito, Financiamento e Investimento S.A.</a:t>
            </a:r>
          </a:p>
          <a:p>
            <a:r>
              <a:t> e/ou pelo Endossante (“Ativos de Liquidez MT”); e/ou (2) (i) moeda corrente  nacional; (ii) títulos do Tesouro SELIC, anteriormente denominado letra financeira  do Tesouro Nacional (LFT); (iii) certificados de depósito bancário (CDB) ou recibos  de depósito bancário (RDB) com prazo máximo de vencimento equivalente ao  prazo remanescente do Período de Investimento, com liquidez diária, emitidos  por (a) Itaú Unibanco S.A.; (b) Banco Bradesco S.A.; (c) Caixa Econômica Federal;</a:t>
            </a:r>
          </a:p>
          <a:p>
            <a:r>
              <a:t> (d) Banco do Brasil S.A.; (e) Banco Santander (Brasil) S.A.; (f) Banco BTG Pactual  S.A.; (g) Banco Sistema S.A. (“Instituições Autorizadas”); (iv) operações  compromissadas, desde que lastreadas nos títulos mencionados nas alíneas (i) a</a:t>
            </a:r>
          </a:p>
          <a:p>
            <a:r>
              <a:t> (iii) acima, emitidas por Instituições Autorizadas, com liquidez diária e vencimento</a:t>
            </a:r>
          </a:p>
          <a:p>
            <a:r>
              <a:t>CNPJ 63953620000165 · Duração e público-alvo · Anexo ao Regulamento · ID 1222863 · 2026-06-02 · versão 1 · p. 10 · 6.7.1 · https://fnet.bmfbovespa.com.br/fnet/publico/visualizarDocumento?id=1222863</a:t>
            </a:r>
          </a:p>
          <a:p>
            <a:r>
              <a:t>CNPJ 63953620000165 · Duração e público-alvo · Excerto da fonte:</a:t>
            </a:r>
          </a:p>
          <a:p>
            <a:r>
              <a:t>6.7.1 As Chamadas de Capital para a realização de investimentos serão realizadas a qualquer momento  durante o Período de Investimento e estarão limitadas ao valor do capital subscrito de cada Cotista. As  Chamadas de Capital para o pagamento de despesas e encargos do Fundo, com exceção de despesas  relacionadas à instrumentos de derivativos e/ou Encargos não previstos no âmbito deste regulamento,  poderão ser realizadas a qualquer momento durante o Prazo de Duração, mas não estarão limitadas ao  valor do capital subscrito de cada Cotista.</a:t>
            </a:r>
          </a:p>
          <a:p>
            <a:r>
              <a:t>CNPJ 63953620000165 · Duração e público-alvo · Condição: Documentos atuais selecionados no inventário por categoria/escopo; a data documental isolada não comprova vigência jurídica.</a:t>
            </a:r>
          </a:p>
          <a:p>
            <a:r>
              <a:t>CNPJ 63953620000165 · Duração e público-alvo · Versão e prevalência: Documentos atuais selecionados no inventário por categoria/escopo; a data documental isolada não comprova vigência jurídica.</a:t>
            </a:r>
          </a:p>
          <a:p>
            <a:r>
              <a:t>CNPJ 63953620000165 · Duração e público-alvo · Resumo do histórico: {"count": 8, "dates": ["2026-04-28", "2026-05-08", "2026-05-15"], "document_count": 3, "sources": [{"document_id": "1327859", "title": "Demonstrações Financeiras - Fusão, cisão e incorporação", "reference_date": "2026-05-15", "version": "1", "page": 9, "url": "https://fnet.bmfbovespa.com.br/fnet/publico/visualizarDocumento?id=1327859", "sha256": "dca1c68babb97f887528c3e2e47596a9c30f507b067981a35655b2f2da9c8054"}, {"document_id": "1298691", "title": "Demonstrações Financeiras - Fusão, cisão e incorporação", "reference_date": "2026-05-08", "version": "1", "page": 9, "url": "https://fnet.bmfbovespa.com.br/fnet/publico/visualizarDocumento?id=1298691", "sha256": "58c570d9b8d4d265330d3db3ea81c435b8e44a6dab4002aa37790652a1ee9819"}, {"document_id": "1282180", "title": "Demonstrações Financeiras - Fusão, cisão e incorporação", "reference_date": "2026-04-28", "version": "1", "page": 9, "url": "https://fnet.bmfbovespa.com.br/fnet/publico/visualizarDocumento?id=1282180", "sha256": "afaaa0e6809be4385e5bdb6c911aac582032c5bdbac3d7750234bf9eaf00438a"}], "reference": {"path": "history/63953620000165.json", "criterion_id": "duration_investors",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Alocação e perímetro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Alocação mínima · Base da comparação IME: {"criterion_id": "allocation", "observed_value": 91.84981349574433, "unit": "percent", "competence": "08/2026", "status": "not_comparable", "reason": "Vigência efetiva não comprovada; data do documento isolada não certifica enquadramento histórico.", "formula": "credit_rights / net_asset_value × 100",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50.0}</a:t>
            </a:r>
          </a:p>
          <a:p>
            <a:r>
              <a:t>CNPJ 54871427000194 · Alocação mínima · Regulamento · ID 670691 · 28/04/2024 · versão Regulamento — referência 28/04/2024 · p. 11 · Anexo I, 4.9 · https://fnet.bmfbovespa.com.br/fnet/publico/visualizarDocumento?id=670691</a:t>
            </a:r>
          </a:p>
          <a:p>
            <a:r>
              <a:t>CNPJ 54871427000194 · Alocação mínima · Excerto da fonte:</a:t>
            </a:r>
          </a:p>
          <a:p>
            <a:r>
              <a:t>4.9 Decorridos 180 (cento e oitenta) dias da Data da 1ª Integralização de Cotas, a Classe deverá manter alocado, no mínimo, 50% (cinquenta por cento) do seu Patrimônio Líquido em Direitos Creditórios . 4.10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4.11 A Classe poderá, direta ou indiretamente e, nos termos da legislação aplicável: (i) adquirir Direitos Creditórios que sejam cedidos e/ou originados pelo ADMINISTRADOR e/ou pelo GESTOR, ou partes a eles relacionadas, tal como definidas pelas regras contábeis que tratam desse assunto; e (ii) ceder Direitos Creditórios a qualquer das pessoas, fundos de investimento ou entidades referidas n</a:t>
            </a:r>
          </a:p>
          <a:p>
            <a:r>
              <a:t>CNPJ 54871427000194 · Alocação mínima · Mecânica: {"operator": "&gt;=", "limit": 50.0, "unit": "percent", "numerator": "credit_rights", "denominator": "net_asset_value", "frequency": "daily", "layer": "54871427000194", "document_date": "2024-04-28", "effective_status": "document_date_only", "initial_days": 180}</a:t>
            </a:r>
          </a:p>
          <a:p>
            <a:r>
              <a:t>CNPJ 54871427000194 · Alocação mínima · Versão e prevalência: Leitura específica das cláusulas indicadas; condições e conflitos preservados. Seleção documental atual não comprova vigência jurídica por data isolada.</a:t>
            </a:r>
          </a:p>
          <a:p>
            <a:r>
              <a:t>CNPJ 54871427000194 · Alocação mínima · Resumo do histórico: {"count": 2, "dates": ["2024-04-19", "2024-04-28"], "document_count": 2, "sources": [{"document_id": "670691", "title": "Regulamento", "reference_date": "2024-04-28", "version": "1", "page": "11", "url": "https://fnet.bmfbovespa.com.br/fnet/publico/visualizarDocumento?id=670691", "sha256": "bf16dd7f1a62d5cdbf2e2d54fef81783783f7310fbc99c3a8f00459bdf9d037b"}, {"document_id": "670689", "title": "Regulamento", "reference_date": "2024-04-19", "version": "1", "page": 11, "clause": "4.9", "url": "https://fnet.bmfbovespa.com.br/fnet/publico/visualizarDocumento?id=670689", "sha256": "891bc9bc5d87bbc02ec139077a84d2702eb81ea02035fb71d24f5b8366b94a0b"}], "reference": {"path": "history/54871427000194.json", "criterion_id": "allocation", "total_count": 2, "preview_count": 2, "full_text_deferred": true, "sha256": "35d7cd99be50c7287c9fb675cf4f2e736002315295a225a9efa79c8d9186d874"}}</a:t>
            </a:r>
          </a:p>
          <a:p>
            <a:r>
              <a:t>CNPJ 60010416000112 · Alocação mínima · Base da comparação IME: {"criterion_id": "allocation", "observed_value": 117.78665480900618, "unit": "percent", "competence": "08/2026", "status": "not_comparable", "reason": "Vigência efetiva não comprovada; data do documento isolada não certifica enquadramento histórico.", "formula": "credit_rights / net_asset_value × 100",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50.0}</a:t>
            </a:r>
          </a:p>
          <a:p>
            <a:r>
              <a:t>CNPJ 60010416000112 · Alocação mínima · Regulamento · ID 1051393 · 09/10/2025 · versão Regulamento09/10/2025 · p. 11 · AnexoI4.6 · https://fnet.bmfbovespa.com.br/fnet/publico/visualizarDocumento?id=1051393</a:t>
            </a:r>
          </a:p>
          <a:p>
            <a:r>
              <a:t>CNPJ 60010416000112 · Alocação mínima · Excerto da fonte:</a:t>
            </a:r>
          </a:p>
          <a:p>
            <a:r>
              <a:t>4.6 Decorridos 180 (cento e oitenta) dias do início de suas atividades, a Classe deverá manter alocado, no mínimo: para f ins tributários, 67% (sessenta e sete por cento) do seu Patrimônio Líquido em Direitos Creditórios, nos termos da Resolução CMN 5.111; e para fins regulatórios, 50% (cinquenta por cento) do seu Patrimônio Líquido em Direitos Creditórios, nos termos da Resolução CVM 175. BTG Pactual SAC: 0800 772 28 27 - Ouvidoria: 0800 722 00 48 - btgpactual.com 11</a:t>
            </a:r>
          </a:p>
          <a:p>
            <a:r>
              <a:t>CNPJ 60010416000112 · Alocação mínima · Mecânica: {"operator": "&gt;=", "unit": "percent", "denominator": "net_asset_value", "frequency": "not_stated", "layer": "class", "effective_status": "document_date_only", "document_date": "2025-10-09", "numerator": "credit_rights", "limit": 50.0, "requires_initial_date": true}</a:t>
            </a:r>
          </a:p>
          <a:p>
            <a:r>
              <a:t>CNPJ 60010416000112 · Alocação mínima · Versão e prevalência: Leitura específica das cláusulas indicadas; condições e conflitos preservados. Seleção documental atual não comprova vigência jurídica por data isolada.</a:t>
            </a:r>
          </a:p>
          <a:p>
            <a:r>
              <a:t>CNPJ 60010416000112 · Alocação mínima · Resumo do histórico: {"count": 2, "dates": ["2025-03-20", "2025-10-09"], "document_count": 2, "sources": [{"document_id": "1051393", "title": "Regulamento", "reference_date": "2025-10-09", "version": "1", "page": "11", "url": "https://fnet.bmfbovespa.com.br/fnet/publico/visualizarDocumento?id=1051393", "sha256": "8469d613078ffd5a6c1d217885d8a397a16342c0b937ae4aa24b106505f233ae"}, {"document_id": "993786", "title": "Regulamento", "reference_date": "2025-03-20", "version": "1", "page": 6, "clause": "5.3", "url": "https://fnet.bmfbovespa.com.br/fnet/publico/visualizarDocumento?id=993786", "sha256": "fd0fdd369a195510d81f81f505195a0b09e5f43522a990afa7d58c4f872921c8"}], "reference": {"path": "history/60010416000112.json", "criterion_id": "allocation", "total_count": 2, "preview_count": 2, "full_text_deferred": true, "sha256": "8e2bd813f4c51cf01f6bfaad164bafe69d2bbb192f753eac92da3a01c2e63046"}}</a:t>
            </a:r>
          </a:p>
          <a:p>
            <a:r>
              <a:t>CNPJ 62696791000193 · Alocação mínima · Base da comparação IME: {"criterion_id": "allocation", "observed_value": null, "unit": "percent", "competence": "08/2026", "status": "not_comparable", "reason": "Operador, unidade, numerador ou base contratual sem correspondência exata no IME; proxies de PL/ativos não são intercambiáveis. CPR declarada no FIAGRO não comprova elegibilidade individual nem correspondência integral com a definição contratual de direitos creditórios do agronegócio.",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51.0, "comparison_required": true, "context_value": 99.72659520720684, "context_unit": "percent", "context_formula": "CPR / PL (rubrica declarada no FIAGRO)"}</a:t>
            </a:r>
          </a:p>
          <a:p>
            <a:r>
              <a:t>CNPJ 62696791000193 · Alocação mínima · Regulamento · ID 1143317 · 20/03/2026 · versão Regulamento — referência 20/03/2026 · p. 10 · Anexo I, 4.2 · https://fnet.bmfbovespa.com.br/fnet/publico/visualizarDocumento?id=1143317</a:t>
            </a:r>
          </a:p>
          <a:p>
            <a:r>
              <a:t>CNPJ 62696791000193 · Alocação mínima · Excerto da fonte:</a:t>
            </a:r>
          </a:p>
          <a:p>
            <a:r>
              <a:t>4.2 Decorridos 180 (cento e oitenta) dias do início de suas atividades, a Classe deverá possuir parcela mínima de 51% (cinquenta e um por cento) de seu Patrimônio Líquido representados por Direitos Creditórios do Agronegócio, enquanto a parcela de 49% (quarenta e nove por cento) remanescente deverá ser alocada em Outros Ativos ou Ativos Financeiros de Liquidez. 4.3 Os Direitos Creditórios do Agronegócio serão adquiridos integral ou parcialmente, sempre de acordo com a Política de Investimentos. 4.4 Tendo em vista (i) a natureza variada dos Direitos Creditórios do Agronegócio passíveis de aquisição pela Classe; (ii) a amplitude da Política de Investimentos; e (iii) a potencial diversificação de Cedentes/Endossantes e Devedores, não é possível precisar os processos de origem dos Direitos Creditórios do Agronegócio e as políticas de concessão de crédito adotadas pelos Cedentes/Endossantes. 4.5 Os Direitos Creditórios do Agronegócio deverão contar com toda a documentação necessária para o exercício das prerrogativas decorrentes da titularidade dos ativos, e capaz de comprovar a origem, a existência e a exigibilidade dos Direitos Creditórios do Agronegócio (“Documentos Comprobatórios”)</a:t>
            </a:r>
          </a:p>
          <a:p>
            <a:r>
              <a:t>CNPJ 62696791000193 · Alocação mínima · AGE · ID 1143319 · 20/03/2026 10:00 · versão AGE — referência 20/03/2026 10:00 · p. 3 · AGC 20/03/2026, 4.1(j)–(k) · https://fnet.bmfbovespa.com.br/fnet/publico/visualizarDocumento?id=1143319</a:t>
            </a:r>
          </a:p>
          <a:p>
            <a:r>
              <a:t>CNPJ 62696791000193 · Alocação mínima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Alocação mínima · Condição: Vigente a partir do fechamento de 23/03/2026. O agregado genérico de direitos do IME não comprova, sozinho, a natureza agronegócio de todos os ativos nem a conclusão da carência inicial.</a:t>
            </a:r>
          </a:p>
          <a:p>
            <a:r>
              <a:t>CNPJ 62696791000193 · Alocação mínima · Mecânica: {"operator": "&gt;=", "limit": 51.0, "unit": "percent", "numerator": "agribusiness_credit_rights", "denominator": "net_asset_value", "frequency": "daily", "layer": "62696791000193", "effective_from": "2026-03-23", "effective_status": "explicit_assembly_effective_date", "initial_days": 180, "initial_date": null}</a:t>
            </a:r>
          </a:p>
          <a:p>
            <a:r>
              <a:t>CNPJ 62696791000193 · Alocação mínima · Versão e prevalência: Leitura específica das cláusulas indicadas; condições e conflitos preservados. Seleção documental atual não comprova vigência jurídica por data isolada.</a:t>
            </a:r>
          </a:p>
          <a:p>
            <a:r>
              <a:t>CNPJ 55563624000109 · Alocação mínima · Base da comparação IME: {"criterion_id": "allocation", "observed_value": 99.87020304792446, "unit": "percent", "competence": "08/2026", "status": "not_comparable", "reason": "Vigência efetiva não comprovada; data do documento isolada não certifica enquadramento histórico.", "formula": "fidc_quotas / net_asset_value × 100",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67.0}</a:t>
            </a:r>
          </a:p>
          <a:p>
            <a:r>
              <a:t>CNPJ 55563624000109 · Alocação mínima · Regulamento · ID 1192614 · 30/04/2026 · versão Regulamento30/04/2026 · p. 13 · AnexoI4.10 · https://fnet.bmfbovespa.com.br/fnet/publico/visualizarDocumento?id=1192614</a:t>
            </a:r>
          </a:p>
          <a:p>
            <a:r>
              <a:t>CNPJ 55563624000109 · Alocação mínima · Excerto da fonte:</a:t>
            </a:r>
          </a:p>
          <a:p>
            <a:r>
              <a:t>4.10 Decorridos 180 (cento e oitenta) dias da Data da 1ª Integralização da Classe, a Classe deverá manter alocado, no mínimo, 67% (sessenta e sete por cento) do seu Patrimônio Líquido em Cotas da Classe Investida. 4.11 Nos termos dos artigos 45, parágrafo 7º, e 47 parágrafo único do Anexo Normativo II à Resolução CVM 175, uma vez que as Cotas são destinadas exclusivamente a Investidores Profissionais, a Classe poderá ter até 100% (cem por cento) de seu Patrimônio Líquido alocado em Cotas da Classe Investida, as quais são emitidas pela Classe Investida.</a:t>
            </a:r>
          </a:p>
          <a:p>
            <a:r>
              <a:t>CNPJ 55563624000109 · Alocação mínima · Regulamento · ID 1192614 · 30/04/2026 · versão Regulamento30/04/2026 · p. 12 · AnexoI4.9 · https://fnet.bmfbovespa.com.br/fnet/publico/visualizarDocumento?id=1192614</a:t>
            </a:r>
          </a:p>
          <a:p>
            <a:r>
              <a:t>CNPJ 55563624000109 · Alocação mínima · Excerto da fonte:</a:t>
            </a:r>
          </a:p>
          <a:p>
            <a:r>
              <a:t>4.9 A parcela do Patrimônio Líquido que não estiver alocada em Cotas da Classe Investida será necessariamente alocada em Ativos Financeiros de Liquidez. BTG Pactual SAC: 0800 772 28 27 - Ouvidoria: 0800 722 00 48 - btgpactual.com 5</a:t>
            </a:r>
          </a:p>
          <a:p>
            <a:r>
              <a:t>CNPJ 55563624000109 · Alocação mínima · Mecânica: {"operator": "&gt;=", "limit": 67.0, "unit": "percent", "numerator": "fidc_quotas", "denominator": "net_asset_value", "frequency": "not_stated", "layer": "class", "effective_status": "document_date_only", "document_date": "2026-04-30", "requires_initial_date": true}</a:t>
            </a:r>
          </a:p>
          <a:p>
            <a:r>
              <a:t>CNPJ 55563624000109 · Alocação mínima · Versão e prevalência: Leitura específica das cláusulas indicadas; condições e conflitos preservados. Seleção documental atual não comprova vigência jurídica por data isolada.</a:t>
            </a:r>
          </a:p>
          <a:p>
            <a:r>
              <a:t>CNPJ 55563624000109 · Alocação mínima · Resumo do histórico: {"count": 1, "dates": ["2026-04-30"], "document_count": 1, "sources": [{"document_id": "1192614", "title": "Regulamento", "reference_date": "2026-04-30", "version": "1", "page": "11-13", "url": "https://fnet.bmfbovespa.com.br/fnet/publico/visualizarDocumento?id=1192614", "sha256": "f56e63ace0acde41d2f47fb48f1ac7f3f7df5e2d32de092d7c5e075a52516632"}], "reference": {"path": "history/55563624000109.json", "criterion_id": "allocation", "total_count": 1, "preview_count": 1, "full_text_deferred": true, "sha256": "7835d573fb58a3c19adf5b8ecc2aee2bdbb9a88f7a0c0209b5f262b64c7522e3"}}</a:t>
            </a:r>
          </a:p>
          <a:p>
            <a:r>
              <a:t>CNPJ 62552447000120 · Alocação mínima · Base da comparação IME: {"criterion_id": "allocation", "observed_value": 104.36099466414683, "unit": "percent", "competence": "08/2026", "status": "not_comparable", "reason": "Vigência efetiva não comprovada; data do documento isolada não certifica enquadramento histórico.", "formula": "credit_rights / net_asset_value × 100",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50.0}</a:t>
            </a:r>
          </a:p>
          <a:p>
            <a:r>
              <a:t>CNPJ 62552447000120 · Alocação mínima · Regulamento · ID 1200623 · 21/05/2026 · versão Consolidado21/05/2026 aprovado pelo ato1200625 · p. 14 · AnexoI4.9 · https://fnet.bmfbovespa.com.br/fnet/publico/visualizarDocumento?id=1200623</a:t>
            </a:r>
          </a:p>
          <a:p>
            <a:r>
              <a:t>CNPJ 62552447000120 · Alocação mínima · Excerto da fonte:</a:t>
            </a:r>
          </a:p>
          <a:p>
            <a:r>
              <a:t>4.9 Decorridos 180 (cento e oitenta) dias da Data da Primeira Integralização, a Classe deverá manter alocados em Direitos Creditórios, no mínimo, para fins tributários, 67% (sessenta e sete por cento) do seu Patrimônio Líquido, nos termos da Lei 14.754 e da Resolução CMN 5.111, e, para fins regulatórios, 50% (cinquenta por cento) do seu Patrimônio Líquido, nos termos da Resolução CVM 175. Eventual desenquadramento da Carteira obrigará o Gestor aos procedimentos de desenquadramento e reenquadramento previstos na Lei 14.754 e na Resolução CMN 5.111, para f ins tributários, e na Resolução CVM 175, par</a:t>
            </a:r>
          </a:p>
          <a:p>
            <a:r>
              <a:t>CNPJ 62552447000120 · Alocação mínima · Mecânica: {"operator": "&gt;=", "unit": "percent", "numerator": "credit_rights", "denominator": "net_asset_value", "frequency": "not_stated", "layer": "class", "effective_status": "document_date_only", "document_date": "2026-05-21", "requires_initial_date": true, "limit": 50.0}</a:t>
            </a:r>
          </a:p>
          <a:p>
            <a:r>
              <a:t>CNPJ 62552447000120 · Alocação mínima · Versão e prevalência: Leitura específica das cláusulas indicadas; condições e conflitos preservados. Seleção documental atual não comprova vigência jurídica por data isolada.</a:t>
            </a:r>
          </a:p>
          <a:p>
            <a:r>
              <a:t>CNPJ 63953620000165 · Alocação mínima · Base da comparação IME: {"criterion_id": "allocation", "observed_value": 93.29241106598856, "unit": "percent", "competence": "08/2026", "status": "not_comparable", "reason": "Vigência efetiva não comprovada; data do documento isolada não certifica enquadramento histórico.", "formula": "credit_rights / net_asset_value × 100",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50.0}</a:t>
            </a:r>
          </a:p>
          <a:p>
            <a:r>
              <a:t>CNPJ 63953620000165 · Alocação mínima · Anexo ao Regulamento · ID 1222863 · 02/06/2026 · versão AnexoConsignadoPrivado02/06/2026 · p. 6 · 4.13 · https://fnet.bmfbovespa.com.br/fnet/publico/visualizarDocumento?id=1222863</a:t>
            </a:r>
          </a:p>
          <a:p>
            <a:r>
              <a:t>CNPJ 63953620000165 · Alocação mínima · Excerto da fonte:</a:t>
            </a:r>
          </a:p>
          <a:p>
            <a:r>
              <a:t>4.13 Decorridos 180 (cento e oitenta) dias do início de suas atividades, a Classe deverá manter alocado, no mínimo, para fins tributários, 67% (sessenta e sete por cento) do seu Patrimônio Líquido em Direitos Creditórios, nos termos da Resolução CMN 5.111, e para fins regulatórios, 50% (cinquenta por cento) do seu Patrimônio Líquido em Direitos Creditórios, nos termos da Resolução CVM 175. 4.14 Nos termos do Art. 45, §7º, inciso II, do Anexo Normativo II da Resolução CVM 175, a Classe poderá ter até 100% (cem por cento) de seu Patrimônio Líquido alocado em Direitos Creditórios, derivativos, observado o disposto nest</a:t>
            </a:r>
          </a:p>
          <a:p>
            <a:r>
              <a:t>CNPJ 63953620000165 · Alocação mínima · Mecânica: {"operator": "&gt;=", "unit": "percent", "denominator": "net_asset_value", "frequency": "not_stated", "layer": "class", "effective_status": "document_date_only", "document_date": "2026-06-02", "limit": 50.0, "numerator": "credit_rights", "requires_initial_date": true}</a:t>
            </a:r>
          </a:p>
          <a:p>
            <a:r>
              <a:t>CNPJ 63953620000165 · Alocação mínima · Versão e prevalência: Leitura específica das cláusulas indicadas; condições e conflitos preservados. Seleção documental atual não comprova vigência jurídica por data isolada.</a:t>
            </a:r>
          </a:p>
          <a:p>
            <a:r>
              <a:t>CNPJ 54871427000194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null, "comparison_required": true, "context_formula": "Direitos creditórios / PL", "context_value": 91.84981349574433, "context_unit": "percent"}</a:t>
            </a:r>
          </a:p>
          <a:p>
            <a:r>
              <a:t>CNPJ 54871427000194 · Alocação para tratamento tributário · Regulamento · ID 670691 · 2024-04-28 · versão 1 · p. 5 · https://fnet.bmfbovespa.com.br/fnet/publico/visualizarDocumento?id=670691</a:t>
            </a:r>
          </a:p>
          <a:p>
            <a:r>
              <a:t>CNPJ 54871427000194 · Alocação para tratamento tributário · Excerto da fonte:</a:t>
            </a:r>
          </a:p>
          <a:p>
            <a:r>
              <a:t>Os rendimentos auf eridos pelo cotista do FUNDO estarão sujeitos à tributação pelo IR, à alíquota de  15% (quinze por cento), na data da distribuição de rendimentos ou d a amortização de cotas,  considerando que o FUNDO seja classificado como entidade de investimento e cumpra os critérios de  composição da carteira com, no mínimo, 67% (sessenta e sete por cento) de direitos creditórios de  acordo com a Lei nº 14.754, de 12 de dezembro de 2023 (“Lei 14.754”) e a Resolução do Conselho  Monetário Nacional nº 5.111, de 21 de dezembro de 2023 (“Resolução CMN 5.111”).</a:t>
            </a:r>
          </a:p>
          <a:p>
            <a:r>
              <a:t>CNPJ 54871427000194 · Alocação para tratamento tributário · Regulamento · ID 670691 · 2024-04-28 · versão 1 · p. 5 · https://fnet.bmfbovespa.com.br/fnet/publico/visualizarDocumento?id=670691</a:t>
            </a:r>
          </a:p>
          <a:p>
            <a:r>
              <a:t>CNPJ 54871427000194 · Alocação para tratamento tributário · Excerto da fonte:</a:t>
            </a:r>
          </a:p>
          <a:p>
            <a:r>
              <a:t>A GESTORA do FUNDO buscará manter o cumprimento do requisito de composição da carteira do  FUNDO com, no mínimo 67% (sessenta e sete por cento) em direitos creditórios acima comentados.</a:t>
            </a:r>
          </a:p>
          <a:p>
            <a:r>
              <a:t> Todavia, caso a composição mínima do patrimônio líquido do FUNDO não seja atingida e ocorra o  ef etivo desenquadramento tributário da carteira, os cotistas pessoa f ísica ou jurídica residentes no  Brasil passarão a se sujeitar à regra geral de tributação de fundos, conforme previsto no art. 17 da Lei</a:t>
            </a:r>
          </a:p>
          <a:p>
            <a:r>
              <a:t> 14.754, segundo a qual: (1) haverá incidência periódica de IR todo mês de maio e novembro de cada  ano-calendário sobre os rendimentos auferidos pelo cotista em relação ao investimento nas cotas do  FUNDO, à alíquota de 15% (quinze por cento) ou 20% (vinte por cento), a depender da carteira do  FUNDO ser classificada, respectivamente, como de curto ou longo prazo; e (2) haverá incidência de IR  complementar, conforme alíquotas regressivas que variam de 22,5% (vinte e dois e meio por cento) a  15% (quinze por cento) a depender do prazo de aplicação, por ocasião da amortização ou liquidação  das Cotas do FUNDO. Certos tipos de investidor podem se benef iciar de alíquotas dif erenciadas.</a:t>
            </a:r>
          </a:p>
          <a:p>
            <a:r>
              <a:t>CNPJ 54871427000194 · Alocação para tratamento tributário · Condição: Documentos atuais selecionados no inventário por categoria/escopo; a data documental isolada não comprova vigência jurídica.</a:t>
            </a:r>
          </a:p>
          <a:p>
            <a:r>
              <a:t>CNPJ 54871427000194 · Alocação para tratamento tributário · Versão e prevalência: Documentos atuais selecionados no inventário por categoria/escopo; a data documental isolada não comprova vigência jurídica.</a:t>
            </a:r>
          </a:p>
          <a:p>
            <a:r>
              <a:t>CNPJ 54871427000194 · Alocação para tratamento tributário · Resumo do histórico: {"count": 1, "dates": ["2024-04-19"], "document_count": 1, "sources": [{"document_id": "670689", "title": "Regulamento", "reference_date": "2024-04-19", "version": "1", "page": 5, "url": "https://fnet.bmfbovespa.com.br/fnet/publico/visualizarDocumento?id=670689", "sha256": "891bc9bc5d87bbc02ec139077a84d2702eb81ea02035fb71d24f5b8366b94a0b"}], "reference": {"path": "history/54871427000194.json", "criterion_id": "tax_allocation", "total_count": 1, "preview_count": 1, "full_text_deferred": true, "sha256": "35d7cd99be50c7287c9fb675cf4f2e736002315295a225a9efa79c8d9186d874"}}</a:t>
            </a:r>
          </a:p>
          <a:p>
            <a:r>
              <a:t>CNPJ 60010416000112 · Alocação para tratamento tributário · Base da comparação IME: {"criterion_id": "tax_allocation", "observed_value": 117.78665480900618, "unit": "percent", "competence": "08/2026", "status": "not_comparable", "reason": "Vigência efetiva não comprovada; data do documento isolada não certifica enquadramento histórico.", "formula": "credit_rights / net_asset_value × 100",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67.0}</a:t>
            </a:r>
          </a:p>
          <a:p>
            <a:r>
              <a:t>CNPJ 60010416000112 · Alocação para tratamento tributário · Regulamento · ID 1051393 · 09/10/2025 · versão Regulamento09/10/2025 · p. 11 · AnexoI4.6 · https://fnet.bmfbovespa.com.br/fnet/publico/visualizarDocumento?id=1051393</a:t>
            </a:r>
          </a:p>
          <a:p>
            <a:r>
              <a:t>CNPJ 60010416000112 · Alocação para tratamento tributário · Excerto da fonte:</a:t>
            </a:r>
          </a:p>
          <a:p>
            <a:r>
              <a:t>4.6 Decorridos 180 (cento e oitenta) dias do início de suas atividades, a Classe deverá manter alocado, no mínimo: para f ins tributários, 67% (sessenta e sete por cento) do seu Patrimônio Líquido em Direitos Creditórios, nos termos da Resolução CMN 5.111; e para fins regulatórios, 50% (cinquenta por cento) do seu Patrimônio Líquido em Direitos Creditórios, nos termos da Resolução CVM 175. BTG Pactual SAC: 0800 772 28 27 - Ouvidoria: 0800 722 00 48 - btgpactual.com 11</a:t>
            </a:r>
          </a:p>
          <a:p>
            <a:r>
              <a:t>CNPJ 60010416000112 · Alocação para tratamento tributário · Mecânica: {"operator": "&gt;=", "unit": "percent", "denominator": "net_asset_value", "frequency": "not_stated", "layer": "class", "effective_status": "document_date_only", "document_date": "2025-10-09", "numerator": "credit_rights", "limit": 67.0, "requires_initial_date": true}</a:t>
            </a:r>
          </a:p>
          <a:p>
            <a:r>
              <a:t>CNPJ 60010416000112 · Alocação para tratamento tributário · Versão e prevalência: Leitura específica das cláusulas indicadas; condições e conflitos preservados. Seleção documental atual não comprova vigência jurídica por data isolada.</a:t>
            </a:r>
          </a:p>
          <a:p>
            <a:r>
              <a:t>CNPJ 60010416000112 · Alocação para tratamento tributário · Resumo do histórico: {"count": 1, "dates": ["2025-03-20"], "document_count": 1, "sources": [{"document_id": "993786", "title": "Regulamento", "reference_date": "2025-03-20", "version": "1", "page": 6, "clause": "5.3", "url": "https://fnet.bmfbovespa.com.br/fnet/publico/visualizarDocumento?id=993786", "sha256": "fd0fdd369a195510d81f81f505195a0b09e5f43522a990afa7d58c4f872921c8"}], "reference": {"path": "history/60010416000112.json", "criterion_id": "tax_allocation", "total_count": 1, "preview_count": 1, "full_text_deferred": true, "sha256": "8e2bd813f4c51cf01f6bfaad164bafe69d2bbb192f753eac92da3a01c2e63046"}}</a:t>
            </a:r>
          </a:p>
          <a:p>
            <a:r>
              <a:t>CNPJ 62696791000193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null, "comparison_required": true, "context_formula": "Direitos creditórios / PL", "context_value": null, "context_unit": "percent"}</a:t>
            </a:r>
          </a:p>
          <a:p>
            <a:r>
              <a:t>CNPJ 62696791000193 · Alocação para tratamento tributário · Regulamento · ID 1143317 · 2026-03-20 · versão 1 · p. 30 · https://fnet.bmfbovespa.com.br/fnet/publico/visualizarDocumento?id=1143317</a:t>
            </a:r>
          </a:p>
          <a:p>
            <a:r>
              <a:t>CNPJ 62696791000193 · Alocação para tratamento tributário · Excerto da fonte:</a:t>
            </a:r>
          </a:p>
          <a:p>
            <a:r>
              <a:t>Os rendimentos distribuídos pela Classe, de modo geral, sujeitam-se à incidência do IRF à alíquota  de 20% (vinte por cento), inclusive quando distribuídos à Cotista que seja pessoa jurídica isenta.</a:t>
            </a:r>
          </a:p>
          <a:p>
            <a:r>
              <a:t> Os ganhos de capital ou rendimentos auf eridos na alienação ou no resgate de cotas da Classe  sujeitam-se à tributação pelo IRF à alíquota de 20% (vinte por cento), no caso de resgate de cotas,  ou conforme normas aplicáveis aos ganhos de capital ou ganhos líquidos auf eridos em renda  variável, nos casos de alienação de cotas.</a:t>
            </a:r>
          </a:p>
          <a:p>
            <a:r>
              <a:t> O IRF pago será considerado: (i) antecipação da tributação corporativa para os investidores pessoa  jurídica (nos regimes de lucro real, presumido ou arbitrado); e (ii) def initivo, nos demais casos,  incluindo de investidores pessoas f ísicas.</a:t>
            </a:r>
          </a:p>
          <a:p>
            <a:r>
              <a:t> Não obstante o disposto no item acima, em conf ormidade com o disposto na Lei 11.033, com a  redação dada pela Lei nº 14.754, o cotista pessoa f ísica f icará isento do IRF e na declaração de  ajuste anual, sobre as distribuições de lucro realizadas pela Classe, exclusivamente na hipótese de  a Classe, cumulativamente: (a) possuir, no mínimo, 100 (cem) cotistas; e (b) as cotas serem  admitidas à negociação exclusivamente em bolsas de valores ou no mercado de balcão organizado.</a:t>
            </a:r>
          </a:p>
          <a:p>
            <a:r>
              <a:t> O benef ício não será concedido ao Cotista que for pessoa física, titular de cotas que representem  10% (dez por cento) ou mais da totalidade das cotas emitidas pela Classe ou cujas cotas lhe derem  direito ao recebimento de rendimento superior a 10% (dez por cento) do total de rendimentos  auf eridos pela Classe.</a:t>
            </a:r>
          </a:p>
          <a:p>
            <a:r>
              <a:t> O benef ício também não será concedido aos Cotistas pessoas físicas que, individualmente ou em  conjunto com parentes até segundo grau, sejam titulares de cotas que representem 30% (trinta por  cento) ou mais da totalidade das cotas emitidas pela Classe, ou ainda cujas cotas lhes derem direito  ao recebimento de rendimento superior a 30% (trinta por cento) do total de rendimentos auf eridos  pela Classe.</a:t>
            </a:r>
          </a:p>
          <a:p>
            <a:r>
              <a:t> Não há garantia de que o benef ício f iscal atualmente vigente não venha a ser posteriormente  restringido, suspenso, revogado ou extinto por legislação superveniente, ocasião na qual poderá vir  a incidir a tributação sobre os rendimentos distribuídos pela Classe, de acordo com os termos da  legislação que vier a estabelecer a incidência tributária.</a:t>
            </a:r>
          </a:p>
          <a:p>
            <a:r>
              <a:t>CNPJ 62696791000193 · Alocação para tratamento tributário · Condição: Documentos atuais selecionados no inventário por categoria/escopo; a data documental isolada não comprova vigência jurídica.</a:t>
            </a:r>
          </a:p>
          <a:p>
            <a:r>
              <a:t>CNPJ 62696791000193 · Alocação para tratamento tributário · Versão e prevalência: Documentos atuais selecionados no inventário por categoria/escopo; a data documental isolada não comprova vigência jurídica.</a:t>
            </a:r>
          </a:p>
          <a:p>
            <a:r>
              <a:t>CNPJ 55563624000109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null, "comparison_required": true, "context_formula": "Direitos creditórios / PL", "context_value": 0.0, "context_unit": "percent"}</a:t>
            </a:r>
          </a:p>
          <a:p>
            <a:r>
              <a:t>CNPJ 55563624000109 · Alocação para tratamento tributário · Regulamento · ID 1192614 · 2026-04-30 · versão 1 · p. 38 · https://fnet.bmfbovespa.com.br/fnet/publico/visualizarDocumento?id=1192614</a:t>
            </a:r>
          </a:p>
          <a:p>
            <a:r>
              <a:t>CNPJ 55563624000109 · Alocação para tratamento tributário · Excerto da fonte:</a:t>
            </a:r>
          </a:p>
          <a:p>
            <a:r>
              <a:t>(xiii) Risco de descaracterização do regime tributário aplicável à Classe. Caso (a) a Classe deixe de  cumprir com o percentual de, pelo menos, 67% (sessenta e sete por cento) do Patrimônio Líquido  aplicado em direitos creditórios, nos termos dos artigos 18, 19 e 24 da Lei 14.754, para fins de  enquadramento do FUNDO e da Classe como “Entidade de Investimento” na forma da Resolução do  CMN nº 5.111, de 21 de dezembro de 2023, conforme alterada, ou qualquer outra norma que venha  a substitui-la, sujeitando o FUNDO e a Classe ao “Regime Específico dos Fundos Não Sujeitos à  Tributação Periódica” conforme a na Seção III da Lei 14.754 ou deixe de satisfazer qualquer uma das  condições previstas na Lei 14.754, neste Anexo e/ou no Regulamento; e/ou (b) o FUNDO ou Classe  deixe de ser enquadrado como “Entidade de Investimento” na forma da Resolução do CMN nº 5.111,  de 21 de dezembro de 2023, ou demais normas do CMN e da CVM, não é possível garantir que o  FUNDO e/ou Classe continuarão a receber o tratamento tributário destinado ao “Regime Específico  dos Fundos Não Sujeitos à Tributação Periódica”, conforme definido na legislação específica.</a:t>
            </a:r>
          </a:p>
          <a:p>
            <a:r>
              <a:t>CNPJ 55563624000109 · Alocação para tratamento tributário · Regulamento · ID 1192614 · 2026-04-30 · versão 1 · p. 6 · https://fnet.bmfbovespa.com.br/fnet/publico/visualizarDocumento?id=1192614</a:t>
            </a:r>
          </a:p>
          <a:p>
            <a:r>
              <a:t>CNPJ 55563624000109 · Alocação para tratamento tributário · Excerto da fonte:</a:t>
            </a:r>
          </a:p>
          <a:p>
            <a:r>
              <a:t>No caso de Fundos de Investimento em Direitos Creditórios (FIDC) classificados como “entidade de investimento” e  cuja carteira seja composta por, no mínimo, 67% (sessenta e sete por cento) de direitos creditórios conforme definições  prescritas em regulamentação expedida pelo Conselho Monetário Nacional, os rendimentos auferidos na amortização  ou no resgate das cotas, inclusive quando decorrentes da liquidação do FUNDO, ficam sujeitos à incidência do IRF à  alíquota de 15% (quinze por cento) sobre a diferença positiva entre o valor de amortização ou resgate e o custo de  aquisição das Cotas.</a:t>
            </a:r>
          </a:p>
          <a:p>
            <a:r>
              <a:t>CNPJ 55563624000109 · Alocação para tratamento tributário · Condição: Documentos atuais selecionados no inventário por categoria/escopo; a data documental isolada não comprova vigência jurídica.</a:t>
            </a:r>
          </a:p>
          <a:p>
            <a:r>
              <a:t>CNPJ 55563624000109 · Alocação para tratamento tributário · Versão e prevalência: Documentos atuais selecionados no inventário por categoria/escopo; a data documental isolada não comprova vigência jurídica.</a:t>
            </a:r>
          </a:p>
          <a:p>
            <a:r>
              <a:t>CNPJ 55563624000109 · Alocação para tratamento tributário · Resumo do histórico: {"count": 2, "dates": ["2025-01-31", "2026-01-31"], "document_count": 2, "sources": [{"document_id": "1178840", "title": "Demonstrações Financeiras", "reference_date": "2026-01-31", "version": "1", "page": 23, "url": "https://fnet.bmfbovespa.com.br/fnet/publico/visualizarDocumento?id=1178840", "sha256": "c458e98664c5c907ddb5a05a94b120bed4e05295b2bfc420f5ba69af0a229abe"}, {"document_id": "891861", "title": "Demonstrações Financeiras", "reference_date": "2025-01-31", "version": "1", "page": 24, "url": "https://fnet.bmfbovespa.com.br/fnet/publico/visualizarDocumento?id=891861", "sha256": "e9cb9e6ddbe505fe068cfcac33605165a98313489de0d3ce6d4d238263c3f3e7"}], "reference": {"path": "history/55563624000109.json", "criterion_id": "tax_allocation", "total_count": 2, "preview_count": 2, "full_text_deferred": true, "sha256": "7835d573fb58a3c19adf5b8ecc2aee2bdbb9a88f7a0c0209b5f262b64c7522e3"}}</a:t>
            </a:r>
          </a:p>
          <a:p>
            <a:r>
              <a:t>CNPJ 62552447000120 · Alocação para tratamento tributário · Base da comparação IME: {"criterion_id": "tax_allocation", "observed_value": 104.36099466414683, "unit": "percent", "competence": "08/2026", "status": "not_comparable", "reason": "Vigência efetiva não comprovada; data do documento isolada não certifica enquadramento histórico.", "formula": "credit_rights / net_asset_value × 100",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67.0}</a:t>
            </a:r>
          </a:p>
          <a:p>
            <a:r>
              <a:t>CNPJ 62552447000120 · Alocação para tratamento tributário · Regulamento · ID 1200623 · 21/05/2026 · versão Consolidado21/05/2026 aprovado pelo ato1200625 · p. 14 · AnexoI4.9 · https://fnet.bmfbovespa.com.br/fnet/publico/visualizarDocumento?id=1200623</a:t>
            </a:r>
          </a:p>
          <a:p>
            <a:r>
              <a:t>CNPJ 62552447000120 · Alocação para tratamento tributário · Excerto da fonte:</a:t>
            </a:r>
          </a:p>
          <a:p>
            <a:r>
              <a:t>4.9 Decorridos 180 (cento e oitenta) dias da Data da Primeira Integralização, a Classe deverá manter alocados em Direitos Creditórios, no mínimo, para fins tributários, 67% (sessenta e sete por cento) do seu Patrimônio Líquido, nos termos da Lei 14.754 e da Resolução CMN 5.111, e, para fins regulatórios, 50% (cinquenta por cento) do seu Patrimônio Líquido, nos termos da Resolução CVM 175. Eventual desenquadramento da Carteira obrigará o Gestor aos procedimentos de desenquadramento e reenquadramento previstos na Lei 14.754 e na Resolução CMN 5.111, para f ins tributários, e na Resolução CVM 175, par</a:t>
            </a:r>
          </a:p>
          <a:p>
            <a:r>
              <a:t>CNPJ 62552447000120 · Alocação para tratamento tributário · Mecânica: {"operator": "&gt;=", "unit": "percent", "numerator": "credit_rights", "denominator": "net_asset_value", "frequency": "not_stated", "layer": "class", "effective_status": "document_date_only", "document_date": "2026-05-21", "requires_initial_date": true, "limit": 67.0}</a:t>
            </a:r>
          </a:p>
          <a:p>
            <a:r>
              <a:t>CNPJ 62552447000120 · Alocação para tratamento tributário · Versão e prevalência: Leitura específica das cláusulas indicadas; condições e conflitos preservados. Seleção documental atual não comprova vigência jurídica por data isolada.</a:t>
            </a:r>
          </a:p>
          <a:p>
            <a:r>
              <a:t>CNPJ 63953620000165 · Alocação para tratamento tributário · Base da comparação IME: {"criterion_id": "tax_allocation", "observed_value": 93.29241106598856, "unit": "percent", "competence": "08/2026", "status": "not_comparable", "reason": "Vigência efetiva não comprovada; data do documento isolada não certifica enquadramento histórico.", "formula": "credit_rights / net_asset_value × 100",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67.0}</a:t>
            </a:r>
          </a:p>
          <a:p>
            <a:r>
              <a:t>CNPJ 63953620000165 · Alocação para tratamento tributário · Anexo ao Regulamento · ID 1222863 · 02/06/2026 · versão AnexoConsignadoPrivado02/06/2026 · p. 6 · 4.13 · https://fnet.bmfbovespa.com.br/fnet/publico/visualizarDocumento?id=1222863</a:t>
            </a:r>
          </a:p>
          <a:p>
            <a:r>
              <a:t>CNPJ 63953620000165 · Alocação para tratamento tributário · Excerto da fonte:</a:t>
            </a:r>
          </a:p>
          <a:p>
            <a:r>
              <a:t>4.13 Decorridos 180 (cento e oitenta) dias do início de suas atividades, a Classe deverá manter alocado, no mínimo, para fins tributários, 67% (sessenta e sete por cento) do seu Patrimônio Líquido em Direitos Creditórios, nos termos da Resolução CMN 5.111, e para fins regulatórios, 50% (cinquenta por cento) do seu Patrimônio Líquido em Direitos Creditórios, nos termos da Resolução CVM 175. 4.14 Nos termos do Art. 45, §7º, inciso II, do Anexo Normativo II da Resolução CVM 175, a Classe poderá ter até 100% (cem por cento) de seu Patrimônio Líquido alocado em Direitos Creditórios, derivativos, observado o disposto nest</a:t>
            </a:r>
          </a:p>
          <a:p>
            <a:r>
              <a:t>CNPJ 63953620000165 · Alocação para tratamento tributário · Mecânica: {"operator": "&gt;=", "unit": "percent", "denominator": "net_asset_value", "frequency": "not_stated", "layer": "class", "effective_status": "document_date_only", "document_date": "2026-06-02", "limit": 67.0, "numerator": "credit_rights", "requires_initial_date": true}</a:t>
            </a:r>
          </a:p>
          <a:p>
            <a:r>
              <a:t>CNPJ 63953620000165 · Alocação para tratamento tributário · Versão e prevalência: Leitura específica das cláusulas indicadas; condições e conflitos preservados. Seleção documental atual não comprova vigência jurídica por data isolada.</a:t>
            </a:r>
          </a:p>
          <a:p>
            <a:r>
              <a:t>CNPJ 54871427000194 · Classes investidas e limites do FIC · Demonstrações Financeiras - Fusão, cisão e incorporação · ID 1219522 · 2026-02-02 · versão 1 · p. 31 · https://fnet.bmfbovespa.com.br/fnet/publico/visualizarDocumento?id=1219522</a:t>
            </a:r>
          </a:p>
          <a:p>
            <a:r>
              <a:t>CNPJ 54871427000194 · Classes investidas e limites do FIC · Excerto da fonte:</a:t>
            </a:r>
          </a:p>
          <a:p>
            <a:r>
              <a:t>xv) Risco Regulatório e Judicial. Eventuais alterações ou novas normas ou leis aplicáveis à Classe,  seus ativos e a eventuais fundos investidos, incluindo, mas não se limitando àquelas referentes  a tributos, bem como decisões judiciais ou jurisprudência aplicando as regulamentações  existentes ou interpretando novas regulamentações, podem causar um efeito adverso relevante  no preço dos ativos e/ou na performance das posições financeiras adquiridas pela Classe e/ou  pelos fundos Investidos. Ainda, nesse sentido, poderão ocorrer interferências de autoridades  governamentais e órgãos reguladores na regulação dos mercados, bem como alterações das  políticas monetária e cambial. Tais eventos poderão impactar de maneira adversa o valor das  Cotas.</a:t>
            </a:r>
          </a:p>
          <a:p>
            <a:r>
              <a:t>CNPJ 54871427000194 · Classes investidas e limites do FIC · Condição: Documentos atuais selecionados no inventário por categoria/escopo; a data documental isolada não comprova vigência jurídica.</a:t>
            </a:r>
          </a:p>
          <a:p>
            <a:r>
              <a:t>CNPJ 54871427000194 · Classes investidas e limites do FIC · Versão e prevalência: Documentos atuais selecionados no inventário por categoria/escopo; a data documental isolada não comprova vigência jurídica.</a:t>
            </a:r>
          </a:p>
          <a:p>
            <a:r>
              <a:t>CNPJ 54871427000194 · Classes investidas e limites do FIC · Resumo do histórico: {"count": 5, "dates": ["2024-12-31", "2025-01-01", "2025-12-31"], "document_count": 3, "sources": [{"document_id": "1151805", "title": "Demonstrações Financeiras", "reference_date": "2025-12-31", "version": "1", "page": 31, "url": "https://fnet.bmfbovespa.com.br/fnet/publico/visualizarDocumento?id=1151805", "sha256": "f1cea70b152968bf96ef9221b27225953cb20aeef487b2798db3c25e11b528d4"}, {"document_id": "869529", "title": "Demonstrações Financeiras", "reference_date": "2025-01-01", "version": "1", "page": 32, "url": "https://fnet.bmfbovespa.com.br/fnet/publico/visualizarDocumento?id=869529", "sha256": "9a93a9369ac8efdbc54ff8fcee3ccac3abf88edab4807b9323d3852450771b2a"}, {"document_id": "870070", "title": "Demonstrações Financeiras", "reference_date": "2024-12-31", "version": "1", "page": 32, "url": "https://fnet.bmfbovespa.com.br/fnet/publico/visualizarDocumento?id=870070", "sha256": "9a93a9369ac8efdbc54ff8fcee3ccac3abf88edab4807b9323d3852450771b2a"}], "reference": {"path": "history/54871427000194.json", "criterion_id": "investee", "total_count": 5, "preview_count": 3, "full_text_deferred": true, "sha256": "35d7cd99be50c7287c9fb675cf4f2e736002315295a225a9efa79c8d9186d874"}}</a:t>
            </a:r>
          </a:p>
          <a:p>
            <a:r>
              <a:t>CNPJ 60010416000112 · Classes investidas e limites do FIC · Motivo: Não localizada uma cláusula material para este critério nos textos identificados e processados. A ausência de resultado não comprova inexistência da regra.</a:t>
            </a:r>
          </a:p>
          <a:p>
            <a:r>
              <a:t>CNPJ 62696791000193 · Classes investidas e limites do FIC · Regulamento · ID 1143317 · 20/03/2026 · versão Regulamento — referência 20/03/2026 · p. 7 · Anexo I, 1.1, Objetivo, categoria Geral · https://fnet.bmfbovespa.com.br/fnet/publico/visualizarDocumento?id=1143317</a:t>
            </a:r>
          </a:p>
          <a:p>
            <a:r>
              <a:t>CNPJ 62696791000193 · Classes investidas e limites do FIC · Excerto da fonte:</a:t>
            </a:r>
          </a:p>
          <a:p>
            <a:r>
              <a:t>(D) Categoria “Geral” (“Ativos em Geral do Agronegócio”): (i) cotas de classes que apliquem mais de 50% (cinquenta por cento) de seu patrimônio líquido nos ativos referidos nos incisos “A” a “D” acima, o que inclui cotas de outros FIAGRO, mas não se limita a essa categoria de f undos. Os Ativos Imobiliários do Agronegócio, Participações do Agronegócio, Ativos Financeiros do Agronegócio e Ativos em Geral do Agronegócio, quando ref eridos em conjunto, os “Outros Ativos”. Não há limites máximos de aplicação por emissor ou devedor, em função de um percentual do Patrimônio Líquido. O objetivo da Classe não representa, sob qualquer hipótese, garantia da Classe ou de seus Prestadores de Serviços Essenciais e/ou da Cogestora quanto à segurança, rentabilidade e liquidez dos títu</a:t>
            </a:r>
          </a:p>
          <a:p>
            <a:r>
              <a:t>CNPJ 62696791000193 · Classes investidas e limites do FIC · Regulamento · ID 1143317 · 20/03/2026 · versão Regulamento — referência 20/03/2026 · p. 11 · Anexo I, 4.8–4.9 · https://fnet.bmfbovespa.com.br/fnet/publico/visualizarDocumento?id=1143317</a:t>
            </a:r>
          </a:p>
          <a:p>
            <a:r>
              <a:t>CNPJ 62696791000193 · Classes investidas e limites do FIC · Excerto da fonte:</a:t>
            </a:r>
          </a:p>
          <a:p>
            <a:r>
              <a:t>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relacionadas ao Gestor. 4.8.1 As aplicações em Direitos Creditórios do Agronegócio decorrentes de receitas públicas originárias ou derivadas da União, dos Estados, do Distrito Federal e dos Municípios ou de suas autarquias e f undações, assim como em Direitos Creditórios do Agronegócio cedidos ou originados por empresas controladas pelo poder público, não estão submetidas ao limite de concentração por emissor previsto no caput. 4.9 Nos termos do Art. 45 do Anexo</a:t>
            </a:r>
          </a:p>
          <a:p>
            <a:r>
              <a:t>CNPJ 62696791000193 · Classes investidas e limites do FIC · Condição: O regulamento não identifica CNPJs de classes efetivamente investidas. Permissão de investimento não comprova posição.</a:t>
            </a:r>
          </a:p>
          <a:p>
            <a:r>
              <a:t>CNPJ 62696791000193 · Classes investidas e limites do FIC · Versão e prevalência: Leitura específica das cláusulas indicadas; condições e conflitos preservados. Seleção documental atual não comprova vigência jurídica por data isolada.</a:t>
            </a:r>
          </a:p>
          <a:p>
            <a:r>
              <a:t>CNPJ 55563624000109 · Classes investidas e limites do FIC · Regulamento · ID 1192614 · 30/04/2026 · versão Regulamento30/04/2026 · p. 11 · AnexoI4.1 · https://fnet.bmfbovespa.com.br/fnet/publico/visualizarDocumento?id=1192614</a:t>
            </a:r>
          </a:p>
          <a:p>
            <a:r>
              <a:t>CNPJ 55563624000109 · Classes investidas e limites do FIC · Excerto da fonte:</a:t>
            </a:r>
          </a:p>
          <a:p>
            <a:r>
              <a:t>4.1 Observados os demais termos deste Anexo, o objetivo da Classe é investir seus recursos em (i) cotas subordinadas mezanino de emissão da classe única do MERCADO CRÉDITO II BRASIL FUNDO DE INVESTIMENTO EM DIREITOS CREDITÓRIOS NÃO PADRONIZADOS, fundo de investimento em direitos creditórios inscrito no CNPJ sob o nº 41.970.012/0001-26 (“Cotas da Classe Investida” e “Classe Investida”, respectivamente), a qual, por sua vez, aplica seus recursos preponderantemente em direitos creditórios originados pela Mercado Pago, de acordo com os termos e condições est</a:t>
            </a:r>
          </a:p>
          <a:p>
            <a:r>
              <a:t>CNPJ 55563624000109 · Classes investidas e limites do FIC · Condição: Vínculo contratual identificado; quantidade de cotas efetivamente detida exige posição do FIC. Não somar PL do FIC e do investido.</a:t>
            </a:r>
          </a:p>
          <a:p>
            <a:r>
              <a:t>CNPJ 55563624000109 · Classes investidas e limites do FIC · Versão e prevalência: Leitura específica das cláusulas indicadas; condições e conflitos preservados. Seleção documental atual não comprova vigência jurídica por data isolada.</a:t>
            </a:r>
          </a:p>
          <a:p>
            <a:r>
              <a:t>CNPJ 55563624000109 · Classes investidas e limites do FIC · Resumo do histórico: {"count": 2, "dates": ["2025-01-31", "2026-01-31"], "document_count": 2, "sources": [{"document_id": "1178840", "title": "Demonstrações Financeiras", "reference_date": "2026-01-31", "version": "1", "page": 4, "url": "https://fnet.bmfbovespa.com.br/fnet/publico/visualizarDocumento?id=1178840", "sha256": "c458e98664c5c907ddb5a05a94b120bed4e05295b2bfc420f5ba69af0a229abe"}, {"document_id": "891861", "title": "Demonstrações Financeiras", "reference_date": "2025-01-31", "version": "1", "page": 18, "url": "https://fnet.bmfbovespa.com.br/fnet/publico/visualizarDocumento?id=891861", "sha256": "e9cb9e6ddbe505fe068cfcac33605165a98313489de0d3ce6d4d238263c3f3e7"}], "reference": {"path": "history/55563624000109.json", "criterion_id": "investee", "total_count": 2, "preview_count": 2, "full_text_deferred": true, "sha256": "7835d573fb58a3c19adf5b8ecc2aee2bdbb9a88f7a0c0209b5f262b64c7522e3"}}</a:t>
            </a:r>
          </a:p>
          <a:p>
            <a:r>
              <a:t>CNPJ 62552447000120 · Classes investidas e limites do FIC · Regulamento · ID 1200623 · 2026-05-21 · versão 1 · p. 6 · https://fnet.bmfbovespa.com.br/fnet/publico/visualizarDocumento?id=1200623</a:t>
            </a:r>
          </a:p>
          <a:p>
            <a:r>
              <a:t>CNPJ 62552447000120 · Classes investidas e limites do FIC · Excerto da fonte:</a:t>
            </a:r>
          </a:p>
          <a:p>
            <a:r>
              <a:t>integrantes do conglomerado econômico de instituições  f inanceiras classificadas como S1 pelo Banco Central do  Brasil (“BACEN” e “Instituições Financeiras S1”,  respectivamente), desde que não representem títulos de  emissão ou coobrigação de instituições financeiras, bem  como cotas de f undos de investimento que invistam  preponderantemente nestes direitos, títulos e/ou valores  mobiliários; e</a:t>
            </a:r>
          </a:p>
          <a:p>
            <a:r>
              <a:t> (d) “Direitos Creditórios Refinanciamento Livre”, na forma  de CCBs originadas no âmbito de um refinanciamento, de  acordo com a política de cobrança vigente, de Direitos  Creditórios Consignado Privado e de Direitos Creditórios  FGTS, que não contem com o lastro de Consignação ou  de cessão f iduciária do Saque-Aniversário,  respectivamente; e</a:t>
            </a:r>
          </a:p>
          <a:p>
            <a:r>
              <a:t> (ii) “Ativos Financeiros”, assim entendidos como, em conjunto:</a:t>
            </a:r>
          </a:p>
          <a:p>
            <a:r>
              <a:t> (a) moeda corrente nacional;</a:t>
            </a:r>
          </a:p>
          <a:p>
            <a:r>
              <a:t> (b) títulos públicos f ederais;</a:t>
            </a:r>
          </a:p>
          <a:p>
            <a:r>
              <a:t> (c) ativos f inanceiros de renda f ixa de emissão ou  coobrigação de Instituições Financeiras S1;</a:t>
            </a:r>
          </a:p>
          <a:p>
            <a:r>
              <a:t> (d) operações compromissadas, desde que lastreadas nos  títulos mencionados nas alíneas (b) e (c) acima; e</a:t>
            </a:r>
          </a:p>
          <a:p>
            <a:r>
              <a:t> (e) cotas do BTG Pactual Tesouro Selic Fundo de  Investimento Renda Fixa Ref erenciado DI, inscrito no  CNPJ sob o nº 09.215.250/0001-13;</a:t>
            </a:r>
          </a:p>
          <a:p>
            <a:r>
              <a:t> observados todos os limites de composição e diversificação da carteira da  Classe (“Carteira”), estabelecidos neste Regulamento e na  regulamentação aplicável.</a:t>
            </a:r>
          </a:p>
          <a:p>
            <a:r>
              <a:t> O objetivo da Classe não representa, sob qualquer hipótese, promessa,  garantia ou sugestão da Classe ou de seus Prestadores de Serviços  Essenciais quanto à segurança, rentabilidade e liquidez dos títulos  componentes de sua Carteira.</a:t>
            </a:r>
          </a:p>
          <a:p>
            <a:r>
              <a:t>CNPJ 62552447000120 · Classes investidas e limites do FIC · Condição: Documentos atuais selecionados no inventário por categoria/escopo; a data documental isolada não comprova vigência jurídica.</a:t>
            </a:r>
          </a:p>
          <a:p>
            <a:r>
              <a:t>CNPJ 62552447000120 · Classes investidas e limites do FIC · Versão e prevalência: Documentos atuais selecionados no inventário por categoria/escopo; a data documental isolada não comprova vigência jurídica.</a:t>
            </a:r>
          </a:p>
          <a:p>
            <a:r>
              <a:t>CNPJ 63953620000165 · Classes investidas e limites do FIC · Motivo: Não localizada uma cláusula material para este critério nos textos identificados e processados. A ausência de resultado não comprova inexistência da regra.</a:t>
            </a:r>
          </a:p>
          <a:p>
            <a:r>
              <a:t>CNPJ 54871427000194 · Classe, subclasse e responsabilidade · Regulamento · ID 670691 · 2024-04-28 · versão 1 · p. 29 · https://fnet.bmfbovespa.com.br/fnet/publico/visualizarDocumento?id=670691</a:t>
            </a:r>
          </a:p>
          <a:p>
            <a:r>
              <a:t>CNPJ 54871427000194 · Classe, subclasse e responsabilidade · Excerto da fonte:</a:t>
            </a:r>
          </a:p>
          <a:p>
            <a:r>
              <a:t>Anexo I ao Regulamento CLASSE ÚNICA DE RESPONSABILIDADE LIMITADA DO CONSIGNADO DELTA RECEIVABLES I FUNDO DE INVESTIMENTO EM DIREITOS CREDITÓRIOS  pelo Endossante e depositados em seu conta de sua titularidade para posterior repasse à  Classe. Neste caso, a Classe poderá sofrer perdas principalmente em relação ao atraso na  regularização da titularidade e pagamento dos Direitos Creditórios.</a:t>
            </a:r>
          </a:p>
          <a:p>
            <a:r>
              <a:t> (v) Risco de pré-pagamento dos Direitos Creditórios. A ocorrência de pré-  pagamentos em relação a um ou mais Direitos Creditórios poderá ocasionar perdas à Classe.</a:t>
            </a:r>
          </a:p>
          <a:p>
            <a:r>
              <a:t> A ocorrência de pré-pagamentos (pagamento em data anterior àquela originalmente pactuada)  de Direitos Creditórios reduz o horizonte original de rendimentos esperados pela Classe de  tais Direitos Creditórios, uma vez que o pré-pagamento poderá, se assim permitido pela  documentação do Direito Creditório ou, conf orme o caso, pela legislação aplicável, ser  realizado pelo valor de emissão do Direito Creditório atualizado até a data do pré-pagamento  pela taxa de juros pactuada entre os Endossantes e os Devedores de tais Direitos Creditórios,  de modo que os juros remuneratórios incidentes desde a data da realização do pré-pagamento  até a data de vencimento do respectivo Direito Creditório deixam de ser devidos à Classe.</a:t>
            </a:r>
          </a:p>
          <a:p>
            <a:r>
              <a:t> (vi) Riscos associados aos Devedores: os Direitos Creditórios a serem cedidos à  Classe serão descontados da remuneração do Devedor, através de desconto em f olha de  pagamento ou de benefício. Nesse sentido, na ocorrência de pré-pagamento, as parcelas  serão pagas antecipadamente e a Classe deverá utilizar tais montantes no pré-pagamento dos  Direitos Creditórios. Nesta hipótese, a Classe poderá não encontrar Direitos Creditórios  disponíveis para serem adquiridos pela Classe, o que poderá afetar a rentabilidade da Classe.</a:t>
            </a:r>
          </a:p>
          <a:p>
            <a:r>
              <a:t> (vii) Risco de Competição: o mercado de empréstimos experimentou grande  expansão no Brasil nos últimos anos. Nesse contexto, a Resolução CMN nº 4.292, alterada  pela Resolução nº 4.762, de 27 de novembro de 2019, dispõe que deve ser garantido às  pessoas naturais devedoras de operações de crédito (tais como as CCB) a possibilidade de  realizarem a portabilidade destas operações para outras instituições financeiras, inclusive nos  casos em que tenham sido objeto de cessão (tais como as realizadas à Classe). Nesse  cenário, é possível que os competidores do Endossante ofereçam condições e taxas mais  vantajosas para os empréstimos pessoais com consignação em f olha de pagamento ou de  benef ícios, o que pode causar a migração de clientes da Endossante para outras instituições  f inanceiras, gerando a liquidação antecipada de parte das CCB existentes e/ou redução no  número de Direitos Creditórios cedidos. Referida competição poderá af etar os resultados da  Classe, impactando negativamente os rendimentos dos Cotistas. Ainda, a portabilidade a um  Devedor pode acarretar no recebimento de valores inf eriores aos esperados pela Classe.</a:t>
            </a:r>
          </a:p>
          <a:p>
            <a:r>
              <a:t> (viii) Insuf iciência dos Critérios de Elegibilidade. Os Critérios de Elegibilidade têm a  f inalidade de selecionar os Direitos Creditórios passíveis de aquisição pela Classe. Não  obstante tais Critérios de Elegibilidade, a solvência dos Direitos Creditórios que compõem a  Carteira depende integralmente, mas não somente, da situação econômico-financeira dos  Devedores. Dessa f orma, a observância pelo GESTOR dos Critérios de Elegibilidade não  constitui garantia de adimplência dos Devedores.</a:t>
            </a:r>
          </a:p>
          <a:p>
            <a:r>
              <a:t> Os Endossantes não necessariamente garantem a solvência dos seus respectivos Devedores.</a:t>
            </a:r>
          </a:p>
          <a:p>
            <a:r>
              <a:t> O Endossante dos Direitos Creditórios não assumirá responsabilidade pelo seu pagamento ou  pela solvência dos respectivos Devedores. A Classe sofrerá o impacto do inadimplemento dos  Direitos Creditórios vencidos e não pagos pelos respectivos Devedores.</a:t>
            </a:r>
          </a:p>
          <a:p>
            <a:r>
              <a:t> (ix) Possibilidade de aquisição de Direitos Creditórios cedidos por Endossante  e/ou devidos por Devedores cujas demonstrações financeiras não sejam auditadas. A Classe,  desde que sejam respeitados os limites de concentração previstos neste Regulamento, poderá  manter a qualquer tempo em sua Carteira, Direitos Creditórios cedidos por Endossante e/ou  devidos por Devedores cujas demonstrações f inanceiras não sejam auditadas por Auditor  Independente registrado na CVM. Nesse sentido, não haverá verificação independente sobre  tais demonstrações f inanceiras que af irme se estas representam adequadamente, em todos  os aspectos relevantes, as respectivas posições patrimoniais e f inanceiras, os resultados de  suas operações, as mutações de seus respectivos patrimônios líquidos tampouco as origens  e aplicações de seus recursos.</a:t>
            </a:r>
          </a:p>
          <a:p>
            <a:r>
              <a:t>CNPJ 54871427000194 · Classe, subclasse e responsabilidade · Regulamento · ID 670691 · 2024-04-28 · versão 1 · p. 15 · 7.2 · https://fnet.bmfbovespa.com.br/fnet/publico/visualizarDocumento?id=670691</a:t>
            </a:r>
          </a:p>
          <a:p>
            <a:r>
              <a:t>CNPJ 54871427000194 · Classe, subclasse e responsabilidade · Excerto da fonte:</a:t>
            </a:r>
          </a:p>
          <a:p>
            <a:r>
              <a:t>7.2 As amortizações de Cotas serão realizadas a qualquer tempo, a critério do GESTOR, observada a  disponibilidade de recursos da Classe Única e a ordem de alocação de recursos prevista neste Anexo  Descritivo.</a:t>
            </a:r>
          </a:p>
          <a:p>
            <a:r>
              <a:t>CNPJ 54871427000194 · Classe, subclasse e responsabilidade · Instrumento Particular de Alteração do Regulamento · ID 670690 · 2024-05-28 · versão 1 · p. 1 · https://fnet.bmfbovespa.com.br/fnet/publico/visualizarDocumento?id=670690</a:t>
            </a:r>
          </a:p>
          <a:p>
            <a:r>
              <a:t>CNPJ 54871427000194 · Classe, subclasse e responsabilidade · Excerto da fonte:</a:t>
            </a:r>
          </a:p>
          <a:p>
            <a:r>
              <a:t>ATA DA ASSEMBLEIA ESPECIAL DE COTISTAS  CLASSE ÚNICA DE RESPONSABILIDADE LIMITADA DO CONSIGNADO DELTA RECEIVABLES I  FUNDO DE INVESTIMENTO EM DIREITOS CREDITÓRIOS  CNPJ nº 54.871.427/0001-94  (“Classe Única” e “Fundo”, respectivamente)</a:t>
            </a:r>
          </a:p>
          <a:p>
            <a:r>
              <a:t>CNPJ 54871427000194 · Classe, subclasse e responsabilidade · Condição: Documentos atuais selecionados no inventário por categoria/escopo; a data documental isolada não comprova vigência jurídica.</a:t>
            </a:r>
          </a:p>
          <a:p>
            <a:r>
              <a:t>CNPJ 54871427000194 · Classe, subclasse e responsabilidade · Versão e prevalência: Documentos atuais selecionados no inventário por categoria/escopo; a data documental isolada não comprova vigência jurídica.</a:t>
            </a:r>
          </a:p>
          <a:p>
            <a:r>
              <a:t>CNPJ 54871427000194 · Classe, subclasse e responsabilidade · Resumo do histórico: {"count": 4, "dates": ["2024-04-19", "2024-04-28", "2024-05-24"], "document_count": 3, "sources": [{"document_id": "668387", "title": "Instrumento Particular de Emissão de Cotas", "reference_date": "2024-05-24", "version": "1", "page": 1, "url": "https://fnet.bmfbovespa.com.br/fnet/publico/visualizarDocumento?id=668387", "sha256": "be2913bed5f468a7399afcd27f92bac2083451584ee580b5054e9f525e68cc4a"}, {"document_id": "670691", "title": "Regulamento", "reference_date": "2024-04-28", "version": "1", "page": 29, "url": "https://fnet.bmfbovespa.com.br/fnet/publico/visualizarDocumento?id=670691", "sha256": "bf16dd7f1a62d5cdbf2e2d54fef81783783f7310fbc99c3a8f00459bdf9d037b"}, {"document_id": "670687", "title": "Instrumento Particular de Constituição/Encerramento do Fundo", "reference_date": "2024-04-19", "version": "1", "page": 1, "url": "https://fnet.bmfbovespa.com.br/fnet/publico/visualizarDocumento?id=670687", "sha256": "999f2a47d39f7022b0fcee3d16fd1db33948537b897e92c4c9e14b436bf5eb96"}], "reference": {"path": "history/54871427000194.json", "criterion_id": "perimeter", "total_count": 4, "preview_count": 3, "full_text_deferred": true, "sha256": "35d7cd99be50c7287c9fb675cf4f2e736002315295a225a9efa79c8d9186d874"}}</a:t>
            </a:r>
          </a:p>
          <a:p>
            <a:r>
              <a:t>CNPJ 60010416000112 · Classe, subclasse e responsabilidade · Regulamento · ID 1051393 · 2025-10-09 · versão 1 · p. 10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a:t>
            </a:r>
          </a:p>
          <a:p>
            <a:r>
              <a:t> (ii) o saldo dos Direitos Creditórios devidos pelo mesmo Devedor à Classe, considerando, pro  forma, o endosso pretendido, não deverá exceder R$ 100.000,00 (cem mil reais), observado  o disposto no item 4.4.1 abaixo;</a:t>
            </a:r>
          </a:p>
          <a:p>
            <a:r>
              <a:t> (iii) o prazo de vencimento das CCB representativas dos Direitos Creditórios deverá ser, no  máximo, equivalente ao prazo máximo permitido pelas leis e regulamentações aplicáveis; e</a:t>
            </a:r>
          </a:p>
          <a:p>
            <a:r>
              <a:t> (iv) os Direitos Creditórios não poderão ser devidos por Devedores que tenham acima de 64  (sessenta e quatro) anos 11 (onze) meses e 29 (vinte e nove) dias na data de emissão da  respectiva CCB.</a:t>
            </a:r>
          </a:p>
          <a:p>
            <a:r>
              <a:t>CNPJ 60010416000112 · Classe, subclasse e responsabilidade · Regulamento · ID 1051393 · 2025-10-09 · versão 1 · p. 11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  com a transf erência, à Classe, de f orma definitiva, sem coobrigação do Endossante, da plena  titularidade desse Direito Creditório, juntamente com todos os direitos, privilégios, pref erências,  prerrogativas, garantias e ações a ele relacionados, bem como correção monetária, juros e  encargos, sem prejuízo do direito da Classe (i) de exigir a recompra compulsória do respectivo  Direito Creditório, de acordo com os termos do Contrato de Endosso; ou (ii) de vender Direitos  Creditórios ao Agente de Retenção/Cobrança (opção de venda), em ambos os casos estritamente  nos termos do Contrato de Endosso.</a:t>
            </a:r>
          </a:p>
          <a:p>
            <a:r>
              <a:t>CNPJ 60010416000112 · Classe, subclasse e responsabilidade · Regulamento · ID 1051393 · 2025-10-09 · versão 1 · p. 18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a:t>
            </a:r>
          </a:p>
          <a:p>
            <a:r>
              <a:t> (ii) alterar este Anexo I e seus complementos, incluindo mas não se limitando aos Apêndices de cada  uma das subclasses;</a:t>
            </a:r>
          </a:p>
          <a:p>
            <a:r>
              <a:t> (iii) deliberar sobre substituição de Prestadores de Serviços Essenciais, observado o disposto no Art.</a:t>
            </a:r>
          </a:p>
          <a:p>
            <a:r>
              <a:t> 70, §1º da parte geral da Resolução CVM 175, quando aplicável, ou do Custodiante;</a:t>
            </a:r>
          </a:p>
          <a:p>
            <a:r>
              <a:t> (iv) deliberar sobre elevação da Taxa de Administração, inclusive na hipótese de restabelecimento de  taxa que tenha sido objeto de redução;</a:t>
            </a:r>
          </a:p>
          <a:p>
            <a:r>
              <a:t> (v) deliberar sobre incorporação, fusão, cisão total ou parcial, a transformação ou liquidação da Classe;</a:t>
            </a:r>
          </a:p>
          <a:p>
            <a:r>
              <a:t> (vi) alterações das características, vantagens, direitos e obrigações das Cotas;</a:t>
            </a:r>
          </a:p>
          <a:p>
            <a:r>
              <a:t> (vii) alterar critérios e procedimentos para Amortização e/ou resgate de Cotas mediante dação em  pagamento de Direitos Creditórios;</a:t>
            </a:r>
          </a:p>
          <a:p>
            <a:r>
              <a:t> (viii) aprovar a contratação de Agente de Retenção/Cobrança dos Direitos Creditórios Inadimplidos, bem  como decidir sobre sua substituição ou destituição;</a:t>
            </a:r>
          </a:p>
          <a:p>
            <a:r>
              <a:t> (ix) alterar a f orma de amortização do principal e dos valores acumulados relacionados às Cotas;</a:t>
            </a:r>
          </a:p>
          <a:p>
            <a:r>
              <a:t> (x) aprovar emissão de novas Cotas da Classe, em montante além do Capital Autorizado;</a:t>
            </a:r>
          </a:p>
          <a:p>
            <a:r>
              <a:t> (xi) deliberar sobre a eventual necessidade de aportes adicionais de recursos na Classe pelos Cotistas;</a:t>
            </a:r>
          </a:p>
          <a:p>
            <a:r>
              <a:t> (xii) alterações na Política de Investimentos;</a:t>
            </a:r>
          </a:p>
          <a:p>
            <a:r>
              <a:t> (xiii) alterações nos Critérios de Elegibilidade;</a:t>
            </a:r>
          </a:p>
          <a:p>
            <a:r>
              <a:t> (xiv) decidir se um Evento de Avaliação será considerado como Evento de Liquidação, sujeito a este  Regulamento;</a:t>
            </a:r>
          </a:p>
          <a:p>
            <a:r>
              <a:t> (xv) decidir, na ocorrência de qualquer Evento de Liquidação, se esse Evento de Liquidação não deverá  causar a liquidação antecipada da Classe;</a:t>
            </a:r>
          </a:p>
          <a:p>
            <a:r>
              <a:t> (xvi) plano de resolução do Patrimônio Líquido negativo da Classe, nos termos da Resolução CVM 175;</a:t>
            </a:r>
          </a:p>
          <a:p>
            <a:r>
              <a:t> (xvii)pedido de declaração judicial de insolvência da Classe; e</a:t>
            </a:r>
          </a:p>
          <a:p>
            <a:r>
              <a:t> (xviii) deliberar sobre a alteração da data de resgate e/ou prazo de duração de cada Série de Cotas  Seniores, do Benchmark, bem como de quaisquer outras características de qualquer Série de Cotas  Seniores;</a:t>
            </a:r>
          </a:p>
          <a:p>
            <a:r>
              <a:t>CNPJ 60010416000112 · Classe, subclasse e responsabilidade · Condição: Documentos atuais selecionados no inventário por categoria/escopo; a data documental isolada não comprova vigência jurídica.</a:t>
            </a:r>
          </a:p>
          <a:p>
            <a:r>
              <a:t>CNPJ 60010416000112 · Classe, subclasse e responsabilidade · Versão e prevalência: Documentos atuais selecionados no inventário por categoria/escopo; a data documental isolada não comprova vigência jurídica.</a:t>
            </a:r>
          </a:p>
          <a:p>
            <a:r>
              <a:t>CNPJ 60010416000112 · Classe, subclasse e responsabilidade · Resumo do histórico: {"count": 1, "dates": ["2025-05-12"], "document_count": 1, "sources": [{"document_id": "1004656", "title": "AGE", "reference_date": "2025-05-12", "version": "1", "page": 4, "url": "https://fnet.bmfbovespa.com.br/fnet/publico/visualizarDocumento?id=1004656", "sha256": "f6c9c009f6170e2b29f074b98522accec73f0c40efbf11f9ec2c8d3f1402616b"}], "reference": {"path": "history/60010416000112.json", "criterion_id": "perimeter", "total_count": 1, "preview_count": 1, "full_text_deferred": true, "sha256": "8e2bd813f4c51cf01f6bfaad164bafe69d2bbb192f753eac92da3a01c2e63046"}}</a:t>
            </a:r>
          </a:p>
          <a:p>
            <a:r>
              <a:t>CNPJ 62696791000193 · Classe, subclasse e responsabilidade · Regulamento · ID 1143317 · 20/03/2026 · versão Regulamento — referência 20/03/2026 · p. 9 · Anexo I, 2.1 · https://fnet.bmfbovespa.com.br/fnet/publico/visualizarDocumento?id=1143317</a:t>
            </a:r>
          </a:p>
          <a:p>
            <a:r>
              <a:t>CNPJ 62696791000193 · Classe, subclasse e responsabilidade · Excerto da fonte:</a:t>
            </a:r>
          </a:p>
          <a:p>
            <a:r>
              <a:t>2.1 A responsabilidade do Cotista está limitada ao valor por ele subscrito. 2.2 Os seguintes eventos obrigarão o Administrador a verif icar se o Patrimônio Líquido está negativo: (i) qualquer pedido de declaração judicial de insolvência de Classe; (ii) inadimplência de obrigações financeiras de devedor e/ou emissor de ativos detidos pela Classe que representem mais de 10% (dez por cento) de seu Patrimônio Líquido, naquela data de ref erência; (iii) pedido de recuperação extrajudicial, proposta de recuperação judicial, f alência, intervenção, liquidação extrajudicial e/ou regime de administração temporária de devedor e/ou emissor de ativos detidos pela Classe; e (iv) condenação da Classe, de natureza judicial e/ou arbitral e/ou administrativa e/ou outras similares, ao pagamento de mais de 10% (dez por cento) de seu Patrimônio Líquido. 2.3 Caso o Administrador verifique que o Patrimônio Líquido está negativo, ou tenha ciência de pedido de declaração judicial de insolvência da Classe ou da declaração judicial de insolvência da Classe, deverá adotar as medidas aplicáveis previstas na Resolução CVM 175. 2.4 Serão aplicáveis as disp</a:t>
            </a:r>
          </a:p>
          <a:p>
            <a:r>
              <a:t>CNPJ 62696791000193 · Classe, subclasse e responsabilidade · Regulamento · ID 1143317 · 20/03/2026 · versão Regulamento — referência 20/03/2026 · p. 18 · Anexo I, 8.8.1 · https://fnet.bmfbovespa.com.br/fnet/publico/visualizarDocumento?id=1143317</a:t>
            </a:r>
          </a:p>
          <a:p>
            <a:r>
              <a:t>CNPJ 62696791000193 · Classe, subclasse e responsabilidade · Excerto da fonte:</a:t>
            </a:r>
          </a:p>
          <a:p>
            <a:r>
              <a:t>8.8.1 As Chamadas de Capital para a realização de investimentos serão realizadas a qualquer momento durante o Período de Investimento e estarão limitadas ao valor do capital subscrito de cada Cotista. As Chamadas de Capital para o pagamento de despesas e encargos do Fundo poderão ser realizadas a qualquer momento durante o Prazo de Duração, mas não estarão limitadas ao valor do capital subscrito de cada Cotista. 8.8.2 Ao receber uma Chamada de Capital, os Cotistas serão obrigados a integralizar parte ou a totalidade de suas Cotas no prazo previsto na ref erida Chamada de Capital, o qual não poderá ser inf erior a 5 (cinco) Dias Úteis contados do recebimento da Chamada de Capital, conforme solicitado pelo Administrador em observância às instruções do Gestor e de acordo com o disposto nos respectivos Compromissos de Investimento. 8.8.3 O Administrador poderá, eventualmente, realizar Chamadas de Capital aos Cotistas de forma desproporcional entre Cotistas, de modo que um ou mais Cotista venha a integralizar, em uma ou mais Chamadas de Capital, uma parcela maior ou menor, conforme o caso, das Cotas por</a:t>
            </a:r>
          </a:p>
          <a:p>
            <a:r>
              <a:t>CNPJ 62696791000193 · Classe, subclasse e responsabilidade · Regulamento · ID 1143317 · 20/03/2026 · versão Regulamento — referência 20/03/2026 · p. 16 · Anexo I, 7.2 · https://fnet.bmfbovespa.com.br/fnet/publico/visualizarDocumento?id=1143317</a:t>
            </a:r>
          </a:p>
          <a:p>
            <a:r>
              <a:t>CNPJ 62696791000193 · Classe, subclasse e responsabilidade · Excerto da fonte:</a:t>
            </a:r>
          </a:p>
          <a:p>
            <a:r>
              <a:t>7.2 A Classe possui 3 (três) Subclasses de Cotas, quais sejam, a subclasse sênior (“Subclasse Sênior” e “Cotas Seniores”), a subclasse mezanino (“Subclasse Mezanino” e “Cotas Mezanino”) e a subclasse subordinada (“Subclasse Subordinada” e “Cotas Subordinadas” – as Cotas Subordinadas, Cotas Seniores e Cotas Mezanino, quando ref eridas em conjunto, “Cotas”), admitindo ainda a emissão de novas séries (“Séries”) de Cotas Seniores, nos termos do seu respectivo Apêndice. As características, os direitos e as condições de emissão, distribuição, subscrição, integralização, remuneração, amortização e resgate das Cotas estão descritos neste Capítulo e nos respectivos Apêndices. 7.3 As Cotas são escriturais, nominativas e correspondem a f rações ideais do patrimônio da Classe, cuja propriedade presume-se: (i) pelo registro do nome do Cotista no livro de registro de Cotistas, enquanto mantidas em conta de depósito mantidas junto ao Escriturador em nome dos respectivos Cotistas, nos termos do Art. 15 da Resolução CVM 175; (ii) pelos controles de titularidade mantidos pelo depositário BTG Pactual SAC: 0800 772 2827 | Ouvidoria: 0800 722 0048 | btgpactual.co m 11</a:t>
            </a:r>
          </a:p>
          <a:p>
            <a:r>
              <a:t>CNPJ 62696791000193 · Classe, subclasse e responsabilidade · Condição: Contradição interna no alcance da responsabilidade limitada. Não apresentar a cláusula de despesas como obrigação irrestrita pacificada.</a:t>
            </a:r>
          </a:p>
          <a:p>
            <a:r>
              <a:t>CNPJ 62696791000193 · Classe, subclasse e responsabilidade · Versão e prevalência: Leitura específica das cláusulas indicadas; condições e conflitos preservados. Seleção documental atual não comprova vigência jurídica por data isolada.</a:t>
            </a:r>
          </a:p>
          <a:p>
            <a:r>
              <a:t>CNPJ 55563624000109 · Classe, subclasse e responsabilidade · Regulamento · ID 1192614 · 2026-04-30 · versão 1 · p. 40 · https://fnet.bmfbovespa.com.br/fnet/publico/visualizarDocumento?id=1192614</a:t>
            </a:r>
          </a:p>
          <a:p>
            <a:r>
              <a:t>CNPJ 55563624000109 · Classe, subclasse e responsabilidade · Excerto da fonte:</a:t>
            </a:r>
          </a:p>
          <a:p>
            <a:r>
              <a:t>(xxiv) Subordinação de determinadas Cotas da Classe Investida a outras subclasses ou séries de  cotas das Classes Investidas aos quais pertencem. A Classe Investida adquirirá apenas cotas  subordinadas mezaninos da Classe Investida, as quais se subordinam às cotas seniores da Classe  Investida para efeitos de resgate. Os resgates de cotas subordinadas mezanino tipicamente têm sua  realização condicionada ainda à manutenção da razão de garantia e à existência de disponibilidades  da Classe Investida. O ADMINISTRADOR, o GESTOR e o CUSTODIANTE e suas respectivas partes  relacionadas, encontram-se impossibilitados de assegurar que a amortização e o resgate das cotas  subordinadas mezanino da Classe Investida que venham a ser adquiridas pela Classe ocorrerão nas  datas originalmente previstas, sendo que, caso tais amortizações e/ou resgates não ocorram, não será  devido pelo FUNDO ou qualquer pessoa, incluindo o ADMINISTRADOR, o GESTOR e o CUSTODIANTE,  do FUNDO ou da Classe Investida qualquer multa ou penalidade, de qualquer natureza. O não resgate  de cotas subordinadas mezanino da Classe Investida detidas pela Classe poderá impactar  negativamente no fluxo de pagamento de resgate da Classe e/ou no valor patrimonial das Cotas da  Classe.</a:t>
            </a:r>
          </a:p>
          <a:p>
            <a:r>
              <a:t>CNPJ 55563624000109 · Classe, subclasse e responsabilidade · Regulamento · ID 1192614 · 2026-04-30 · versão 1 · p. 2 · 1.2 · https://fnet.bmfbovespa.com.br/fnet/publico/visualizarDocumento?id=1192614</a:t>
            </a:r>
          </a:p>
          <a:p>
            <a:r>
              <a:t>CNPJ 55563624000109 · Classe, subclasse e responsabilidade · Excerto da fonte:</a:t>
            </a:r>
          </a:p>
          <a:p>
            <a:r>
              <a:t>1.2 Este regulamento é composto por esta parte geral, um ou mais anexos, conforme o número de classes aqui  previsto e respectivos apêndices relativos a cada subclasse de cotas, conforme aplicável (respectivamente,  “Regulamento”, “Parte Geral”, “Anexos” e “Apêndices”).</a:t>
            </a:r>
          </a:p>
          <a:p>
            <a:r>
              <a:t> Denominação da Classe Anexo  CLASSE ÚNICA DE RESPONSABILIDADE LIMITADA DO  PLGN MARKETPLACE FUNDO DE INVESTIMENTO EM  Anexo Único (“Anexo”)  COTAS DE FUNDO DE INVESTIMENTO EM DIREITOS  CREDITÓRIOS (“Classe” ou “Classe Única”)</a:t>
            </a:r>
          </a:p>
          <a:p>
            <a:r>
              <a:t>CNPJ 55563624000109 · Classe, subclasse e responsabilidade · Regulamento · ID 1192614 · 2026-04-30 · versão 1 · p. 24 · 12.3 · https://fnet.bmfbovespa.com.br/fnet/publico/visualizarDocumento?id=1192614</a:t>
            </a:r>
          </a:p>
          <a:p>
            <a:r>
              <a:t>CNPJ 55563624000109 · Classe, subclasse e responsabilidade · Excerto da fonte:</a:t>
            </a:r>
          </a:p>
          <a:p>
            <a:r>
              <a:t>12.3 Incluem-se entre as obrigações do ADMINISTRADOR, sem prejuízo de outras previstas na regulamentação:</a:t>
            </a:r>
          </a:p>
          <a:p>
            <a:r>
              <a:t> (i) sem prejuízo da observância dos procedimentos relativos às demonstrações contábeis, manter,  separadamente, registros com informações completas sobre toda e qualquer modalidade de negociação  realizada entre o ADMINISTRADOR, GESTOR, CUSTODIANTE, e/ou suas respectivas partes relacionadas,  tais como definidas pelas regras contábeis que tratam desse assunto, de um lado; e a Classe, de outro;</a:t>
            </a:r>
          </a:p>
          <a:p>
            <a:r>
              <a:t> (ii) diligenciar para que sejam mantidos, às suas expensas, atualizados e em perfeita ordem:</a:t>
            </a:r>
          </a:p>
          <a:p>
            <a:r>
              <a:t> (a) o registro de Cotistas;</a:t>
            </a:r>
          </a:p>
          <a:p>
            <a:r>
              <a:t> (b) o livro de atas das Assembleias de Cotistas;</a:t>
            </a:r>
          </a:p>
          <a:p>
            <a:r>
              <a:t> (c) o livro ou lista de presença de Cotistas;</a:t>
            </a:r>
          </a:p>
          <a:p>
            <a:r>
              <a:t> (d) os pareceres do Auditor Independente; e</a:t>
            </a:r>
          </a:p>
          <a:p>
            <a:r>
              <a:t> (e) os registros contábeis referentes às operações e ao patrimônio da Classe;</a:t>
            </a:r>
          </a:p>
          <a:p>
            <a:r>
              <a:t> (iii) pagar a multa cominatória às suas expensas, nos termos da legislação vigente, por cada dia de atraso no  cumprimento dos prazos previstos na regulamentação aplicável;</a:t>
            </a:r>
          </a:p>
          <a:p>
            <a:r>
              <a:t> (iv) elaborar e divulgar as informações periódicas e eventuais da Classe, nos termos deste Anexo e da  regulamentação e da autorregulação em vigor;</a:t>
            </a:r>
          </a:p>
          <a:p>
            <a:r>
              <a:t> (v) manter atualizada junto à CVM a lista de todos os prestadores de serviços contratados pela Classe,  inclusive os Prestadores de Serviços Essenciais, bem como as demais informações cadastrais da Classe e  suas Subclasses;</a:t>
            </a:r>
          </a:p>
          <a:p>
            <a:r>
              <a:t> (vi) manter serviço de atendimento aos Cotistas, responsável pelo esclarecimento de dúvidas e pelo  recebimento de reclamações;</a:t>
            </a:r>
          </a:p>
          <a:p>
            <a:r>
              <a:t> (vii) receber e processar os pedidos de resgate;</a:t>
            </a:r>
          </a:p>
          <a:p>
            <a:r>
              <a:t> (viii) monitorar os Eventos de Verificação do Patrimônio;</a:t>
            </a:r>
          </a:p>
          <a:p>
            <a:r>
              <a:t> (ix) monitorar os Eventos de Avaliação e Eventos de Liquidação;</a:t>
            </a:r>
          </a:p>
          <a:p>
            <a:r>
              <a:t> (x) observar as disposições constantes do Regulamento;</a:t>
            </a:r>
          </a:p>
          <a:p>
            <a:r>
              <a:t> (xi) cumprir as deliberações da Assembleia de Cotistas; e</a:t>
            </a:r>
          </a:p>
          <a:p>
            <a:r>
              <a:t> (xii) observar as disposições do Código ANBIMA e das Regras e Procedimentos ANBIMA</a:t>
            </a:r>
          </a:p>
          <a:p>
            <a:r>
              <a:t>CNPJ 55563624000109 · Classe, subclasse e responsabilidade · Condição: Documentos atuais selecionados no inventário por categoria/escopo; a data documental isolada não comprova vigência jurídica.</a:t>
            </a:r>
          </a:p>
          <a:p>
            <a:r>
              <a:t>CNPJ 55563624000109 · Classe, subclasse e responsabilidade · Versão e prevalência: Documentos atuais selecionados no inventário por categoria/escopo; a data documental isolada não comprova vigência jurídica.</a:t>
            </a:r>
          </a:p>
          <a:p>
            <a:r>
              <a:t>CNPJ 55563624000109 · Classe, subclasse e responsabilidade · Resumo do histórico: {"count": 5, "dates": ["2024-07-03", "2025-01-31", "2026-01-31"], "document_count": 3, "sources": [{"document_id": "1178840", "title": "Demonstrações Financeiras", "reference_date": "2026-01-31", "version": "1", "page": 3, "url": "https://fnet.bmfbovespa.com.br/fnet/publico/visualizarDocumento?id=1178840", "sha256": "c458e98664c5c907ddb5a05a94b120bed4e05295b2bfc420f5ba69af0a229abe"}, {"document_id": "891861", "title": "Demonstrações Financeiras", "reference_date": "2025-01-31", "version": "1", "page": 27, "url": "https://fnet.bmfbovespa.com.br/fnet/publico/visualizarDocumento?id=891861", "sha256": "e9cb9e6ddbe505fe068cfcac33605165a98313489de0d3ce6d4d238263c3f3e7"}, {"document_id": "703295", "title": "Anúncio de Início", "reference_date": "2024-07-03", "version": "2", "page": 1, "url": "https://fnet.bmfbovespa.com.br/fnet/publico/visualizarDocumento?id=703295", "sha256": "12322b6dbf75e673723bd60910373db249451b72666792e18e0c7b6128f4608a"}], "reference": {"path": "history/55563624000109.json", "criterion_id": "perimeter", "total_count": 5, "preview_count": 3, "full_text_deferred": true, "sha256": "7835d573fb58a3c19adf5b8ecc2aee2bdbb9a88f7a0c0209b5f262b64c7522e3"}}</a:t>
            </a:r>
          </a:p>
          <a:p>
            <a:r>
              <a:t>CNPJ 62552447000120 · Classe, subclasse e responsabilidade · Regulamento · ID 1200623 · 2026-05-21 · versão 1 · p. 1 · 1.3 · https://fnet.bmfbovespa.com.br/fnet/publico/visualizarDocumento?id=1200623</a:t>
            </a:r>
          </a:p>
          <a:p>
            <a:r>
              <a:t>CNPJ 62552447000120 · Classe, subclasse e responsabilidade · Excerto da fonte:</a:t>
            </a:r>
          </a:p>
          <a:p>
            <a:r>
              <a:t>1.3 Durante o seu prazo de duração, o Fundo, por ato conjunto dos Prestadores de Serviços Essenciais,  poderá constituir diferentes Classes e Subclasses , sendo que cada Classe terá patrimônio segregado e</a:t>
            </a:r>
          </a:p>
          <a:p>
            <a:r>
              <a:t>CNPJ 62552447000120 · Classe, subclasse e responsabilidade · Regulamento · ID 1200623 · 2026-05-21 · versão 1 · p. 1 · 1.1 · https://fnet.bmfbovespa.com.br/fnet/publico/visualizarDocumento?id=1200623</a:t>
            </a:r>
          </a:p>
          <a:p>
            <a:r>
              <a:t>CNPJ 62552447000120 · Classe, subclasse e responsabilidade · Excerto da fonte:</a:t>
            </a:r>
          </a:p>
          <a:p>
            <a:r>
              <a:t>1.1 V CDT 1 FUNDO DE INVESTIMENTO EM DIREITOS CREDITÓRIOS RESPONSABILIDADE  LIMITADA (“Fundo”), regido pela Lei n.º 10.406, de 10 de janeiro de 2002, conforme alterada (“Código  Civil”), pela Resolução da Comissão de Valores Mobiliários (“CVM”) n.º 175, de 23 de dezembro de  2022, conf orme alterada (“Resolução CVM 175”), que inclui sua Parte Geral (“Parte Geral da  Resolução CVM 175”) e seu Anexo Normativo II (“Anexo Normativo II”) terá como principais  características:</a:t>
            </a:r>
          </a:p>
          <a:p>
            <a:r>
              <a:t>CNPJ 62552447000120 · Classe, subclasse e responsabilidade · Regulamento · ID 1200623 · 2026-05-21 · versão 1 · p. 1 · https://fnet.bmfbovespa.com.br/fnet/publico/visualizarDocumento?id=1200623</a:t>
            </a:r>
          </a:p>
          <a:p>
            <a:r>
              <a:t>CNPJ 62552447000120 · Classe, subclasse e responsabilidade · Excerto da fonte:</a:t>
            </a:r>
          </a:p>
          <a:p>
            <a:r>
              <a:t>CLASSE ÚNICA DO V CDT 1 FUNDO DE  INVESTIMENTO EM DIREITOS CREDITÓRIOS Anexo I (“Anexo I”)  RESPONSABILIDADE LIMITADA</a:t>
            </a:r>
          </a:p>
          <a:p>
            <a:r>
              <a:t>CNPJ 62552447000120 · Classe, subclasse e responsabilidade · Condição: Documentos atuais selecionados no inventário por categoria/escopo; a data documental isolada não comprova vigência jurídica.</a:t>
            </a:r>
          </a:p>
          <a:p>
            <a:r>
              <a:t>CNPJ 62552447000120 · Classe, subclasse e responsabilidade · Versão e prevalência: Documentos atuais selecionados no inventário por categoria/escopo; a data documental isolada não comprova vigência jurídica.</a:t>
            </a:r>
          </a:p>
          <a:p>
            <a:r>
              <a:t>CNPJ 62552447000120 · Classe, subclasse e responsabilidade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"perimeter", "total_count": 1, "preview_count": 1, "full_text_deferred": true, "sha256": "d95db8c0613d67ee84118c734588665265ea6b02f86a0318d6a844cbe1d0f82f"}}</a:t>
            </a:r>
          </a:p>
          <a:p>
            <a:r>
              <a:t>CNPJ 63953620000165 · Classe, subclasse e responsabilidade · Anexo ao Regulamento · ID 1222863 · 02/06/2026 · versão AnexoConsignadoPrivado02/06/2026 · p. 3 · 2.1 · https://fnet.bmfbovespa.com.br/fnet/publico/visualizarDocumento?id=1222863</a:t>
            </a:r>
          </a:p>
          <a:p>
            <a:r>
              <a:t>CNPJ 63953620000165 · Classe, subclasse e responsabilidade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deverá adotar as medidas aplicáveis previstas na Resolução CVM 175. 2.3 Serão aplicáveis as disposições da Resolução CVM 175 no que se refere aos procedimentos a serem adotados pelo Administrador na hipótese de Patrimônio Líquido negativo da Classe. BTG Pactual SAC: 0800 772 28 27 - Ouvidoria: 0800 722 00 48 - btgpactual.com</a:t>
            </a:r>
          </a:p>
          <a:p>
            <a:r>
              <a:t>CNPJ 63953620000165 · Classe, subclasse e responsabilidade · Anexo ao Regulamento · ID 1222863 · 02/06/2026 · versão AnexoConsignadoPrivado02/06/2026 · p. 10 · 6.7.1 · https://fnet.bmfbovespa.com.br/fnet/publico/visualizarDocumento?id=1222863</a:t>
            </a:r>
          </a:p>
          <a:p>
            <a:r>
              <a:t>CNPJ 63953620000165 · Classe, subclasse e responsabilidade · Excerto da fonte:</a:t>
            </a:r>
          </a:p>
          <a:p>
            <a:r>
              <a:t>6.7.1 As Chamadas de Capital para a realização de investimentos serão realizadas a qualquer momento durante o Período de Investimento e estarão limitadas ao valor do capital subscrito de cada Cotista. As Chamadas de Capital para o pagamento de despesas e encargos do Fundo, com exceção de despesas relacionadas à instrumentos de derivativos e/ou Encargos não previstos no âmbito deste regulamento, poderão ser realizadas a qualquer momento durante o Prazo de Duração, mas não estarão limitadas ao valor do capital subscrito de cada Cotista. 6.7.2 Ao receber uma Chamada d</a:t>
            </a:r>
          </a:p>
          <a:p>
            <a:r>
              <a:t>CNPJ 63953620000165 · Classe, subclasse e responsabilidade · Condição: Alcance das chamadas além do capital comprometido não resolvido textualmente; não certificar limitação apenas por título do fundo.</a:t>
            </a:r>
          </a:p>
          <a:p>
            <a:r>
              <a:t>CNPJ 63953620000165 · Classe, subclasse e responsabilidade · Versão e prevalência: Leitura específica das cláusulas indicadas; condições e conflitos preservados. Seleção documental atual não comprova vigência jurídica por data isolada.</a:t>
            </a:r>
          </a:p>
          <a:p>
            <a:r>
              <a:t>CNPJ 63953620000165 · Classe, subclasse e responsabilidade · Resumo do histórico: {"count": 4, "dates": ["2026-04-28", "2026-05-08", "2026-05-15"], "document_count": 3, "sources": [{"document_id": "1327859", "title": "Demonstrações Financeiras - Fusão, cisão e incorporação", "reference_date": "2026-05-15", "version": "1", "page": 1, "url": "https://fnet.bmfbovespa.com.br/fnet/publico/visualizarDocumento?id=1327859", "sha256": "dca1c68babb97f887528c3e2e47596a9c30f507b067981a35655b2f2da9c8054"}, {"document_id": "1298691", "title": "Demonstrações Financeiras - Fusão, cisão e incorporação", "reference_date": "2026-05-08", "version": "1", "page": 1, "url": "https://fnet.bmfbovespa.com.br/fnet/publico/visualizarDocumento?id=1298691", "sha256": "58c570d9b8d4d265330d3db3ea81c435b8e44a6dab4002aa37790652a1ee9819"}, {"document_id": "1205431", "title": "AGE", "reference_date": "2026-04-28", "version": "1", "page": 1, "clause": "4.1", "url": "https://fnet.bmfbovespa.com.br/fnet/publico/visualizarDocumento?id=1205431", "sha256": "e0b59c701c5d0dbf60de698ea7664d442240863b7043bacdb334ce484188b2ac"}], "reference": {"path": "history/63953620000165.json", "criterion_id": "perimeter", "total_count": 4, "preview_count": 3, "full_text_deferred": true, "sha256": "a7b89077f5e21098c2d601c303faabc3ff6b9729f89d8afecdc60fe1404720c1"}}</a:t>
            </a:r>
          </a:p>
          <a:p>
            <a:r>
              <a:t>CNPJ 54871427000194 · Adaptação à Resolução CVM 175 · Regulamento · ID 670691 · 28/04/2024 · versão Regulamento — referência 28/04/2024 · p. 1 · Parte Geral, 1.1 · https://fnet.bmfbovespa.com.br/fnet/publico/visualizarDocumento?id=670691</a:t>
            </a:r>
          </a:p>
          <a:p>
            <a:r>
              <a:t>CNPJ 54871427000194 · Adaptação à Resolução CVM 175 · Excerto da fonte:</a:t>
            </a:r>
          </a:p>
          <a:p>
            <a:r>
              <a:t>1.1 CONSIGNADO DELTA RECEIVABLES I FUNDO DE INVESTIMENTO EM DIREITOS CREDITÓRIOS (“FUNDO”), regido pela Lei nº 10.406, de 10 de janeiro de 2002, conf orme alterada (“Código Civil”), pela parte geral e o Anexo Normativo II da Resolução nº 175, de 23 de dezembro de 2022, conforme alterada, da Comissão de Valores Mobiliários (respectivamente, “CVM” e “Resolução CVM 175”), terá como principais características: Classe de Cotas Classe única. Indeterminado, exceto se de outra f orma vier a ser deliberado pelos cotistas Prazo de Duração reunidos em assembleia geral de cotistas. BTG Pactual Serviços Financeiros S.A. Distribuidora de Títulos e Valores Mobiliários, instituição f inanceira, com sede na Cidade e Estado do Rio de Janeiro, na Praia de Botafogo, nº 501, 5º andar (parte), Torre Corcovado, ADMINISTRADOR Botafogo, CEP 22250-040, inscrita no CNPJ sob o nº 59.281.253/0001-23 e credenciada como administradora de carteira, de acordo com o Ato Declaratório CVM nº</a:t>
            </a:r>
          </a:p>
          <a:p>
            <a:r>
              <a:t>CNPJ 54871427000194 · Adaptação à Resolução CVM 175 · Regulamento · ID 670691 · 28/04/2024 · versão Regulamento — referência 28/04/2024 · p. 8 · Anexo I, 2.1 · https://fnet.bmfbovespa.com.br/fnet/publico/visualizarDocumento?id=670691</a:t>
            </a:r>
          </a:p>
          <a:p>
            <a:r>
              <a:t>CNPJ 54871427000194 · Adaptação à Resolução CVM 175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deverá adotar as medidas aplicáveis previstas na Resolução CVM 175. 2.3 Serão aplicáveis as disposições da Resolução CVM 175 no que se refere aos procedimentos a serem adotados pelo ADMINISTRADOR na hipótese de Patrimônio Líquido negativo da Classe. CAPÍTULO 3 – ENCARGOS DA CLASSE 3.1 A Classe terá Encargos que lhe poderão ser debitados diretamente, nos termos do art. 53 do Anexo Normativo II da Resolução CVM 175, além de encargos adicionais, e quaisquer despesas que não constituam Encargos correm por conta do Prestador de Serviço Essencial que a tiver contratado: (i) despesas com a contratação de consultoria especializada, conf orme o caso; (ii) despesas com a contratação do Agente de Cobrança, conf orme aplicável; (iii) Taxa Máxima de Custódia; (iv) despesas com registro de Direitos Creditórios; (v) despesas com serviços de originação, cobranças ordinária e/ou extraordinária dos D</a:t>
            </a:r>
          </a:p>
          <a:p>
            <a:r>
              <a:t>CNPJ 54871427000194 · Adaptação à Resolução CVM 175 · Versão e prevalência: Leitura específica das cláusulas indicadas; condições e conflitos preservados. Seleção documental atual não comprova vigência jurídica por data isolada.</a:t>
            </a:r>
          </a:p>
          <a:p>
            <a:r>
              <a:t>CNPJ 54871427000194 · Adaptação à Resolução CVM 175 · Resumo do histórico: {"count": 2, "dates": ["2024-04-19"], "document_count": 2, "sources": [{"document_id": "670687", "title": "Instrumento Particular de Constituição/Encerramento do Fundo", "reference_date": "2024-04-19", "version": "1", "page": 1, "url": "https://fnet.bmfbovespa.com.br/fnet/publico/visualizarDocumento?id=670687", "sha256": "999f2a47d39f7022b0fcee3d16fd1db33948537b897e92c4c9e14b436bf5eb96"}, {"document_id": "670689", "title": "Regulamento", "reference_date": "2024-04-19", "version": "1", "page": 11, "clause": "4.10", "url": "https://fnet.bmfbovespa.com.br/fnet/publico/visualizarDocumento?id=670689", "sha256": "891bc9bc5d87bbc02ec139077a84d2702eb81ea02035fb71d24f5b8366b94a0b"}], "reference": {"path": "history/54871427000194.json", "criterion_id": "res175", "total_count": 2, "preview_count": 2, "full_text_deferred": true, "sha256": "35d7cd99be50c7287c9fb675cf4f2e736002315295a225a9efa79c8d9186d874"}}</a:t>
            </a:r>
          </a:p>
          <a:p>
            <a:r>
              <a:t>CNPJ 60010416000112 · Adaptação à Resolução CVM 175 · Regulamento · ID 1051393 · 09/10/2025 · versão Regulamento09/10/2025 · p. 8 · AnexoI1.2 · https://fnet.bmfbovespa.com.br/fnet/publico/visualizarDocumento?id=1051393</a:t>
            </a:r>
          </a:p>
          <a:p>
            <a:r>
              <a:t>CNPJ 60010416000112 · Adaptação à Resolução CVM 175 · Excerto da fonte:</a:t>
            </a:r>
          </a:p>
          <a:p>
            <a:r>
              <a:t>Tipo de Condomínio Fechado. Prazo de Duração Indeterminado. Classe de Investimento Não. em Cotas Tipo “Financeiro”. Classificação ANBIMA Foco de atuação “Créditos Consignados”. O objetivo da classe é proporcionar aos seus Cotistas a valorização de suas Cotas por meio da aplicação de seu Patrimônio Líquido na aquisição de: (i) Direitos Creditórios que atendam aos Critérios de Elegibilidade, estabelecidos no Ca</a:t>
            </a:r>
          </a:p>
          <a:p>
            <a:r>
              <a:t>CNPJ 60010416000112 · Adaptação à Resolução CVM 175 · Regulamento · ID 1051393 · 09/10/2025 · versão Regulamento09/10/2025 · p. 9 · AnexoI2.1–2.3 · https://fnet.bmfbovespa.com.br/fnet/publico/visualizarDocumento?id=1051393</a:t>
            </a:r>
          </a:p>
          <a:p>
            <a:r>
              <a:t>CNPJ 60010416000112 · Adaptação à Resolução CVM 175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o Administrador deverá adotar as medidas aplicáveis previstas na Resolução CVM 175 2.3 Serão aplicáveis as disposições da Resolução CVM 175 no que se ref ere aos procedimentos a serem adotados pelo Administrador na hipótese de Patrimônio Líquido negativo da Classe, visando a liquidação da Classe e que não remanesçam</a:t>
            </a:r>
          </a:p>
          <a:p>
            <a:r>
              <a:t>CNPJ 60010416000112 · Adaptação à Resolução CVM 175 · Versão e prevalência: Leitura específica das cláusulas indicadas; condições e conflitos preservados. Seleção documental atual não comprova vigência jurídica por data isolada.</a:t>
            </a:r>
          </a:p>
          <a:p>
            <a:r>
              <a:t>CNPJ 60010416000112 · Adaptação à Resolução CVM 175 · Resumo do histórico: {"count": 2, "dates": ["2025-03-20"], "document_count": 2, "sources": [{"document_id": "993785", "title": "Instrumento Particular de Constituição/Encerramento do Fundo", "reference_date": "2025-03-20", "version": "1", "page": 1, "url": "https://fnet.bmfbovespa.com.br/fnet/publico/visualizarDocumento?id=993785", "sha256": "0826e0eae2c51afabf59bbc49fc7647598d03da5ca6de0f9725850a8bd6af457"}, {"document_id": "993786", "title": "Regulamento", "reference_date": "2025-03-20", "version": "1", "page": 12, "clause": "4.8", "url": "https://fnet.bmfbovespa.com.br/fnet/publico/visualizarDocumento?id=993786", "sha256": "fd0fdd369a195510d81f81f505195a0b09e5f43522a990afa7d58c4f872921c8"}], "reference": {"path": "history/60010416000112.json", "criterion_id": "res175", "total_count": 2, "preview_count": 2, "full_text_deferred": true, "sha256": "8e2bd813f4c51cf01f6bfaad164bafe69d2bbb192f753eac92da3a01c2e63046"}}</a:t>
            </a:r>
          </a:p>
          <a:p>
            <a:r>
              <a:t>CNPJ 62696791000193 · Adaptação à Resolução CVM 175 · AGE · ID 1143319 · 20/03/2026 10:00 · versão AGE — referência 20/03/2026 10:00 · p. 1 · AGC, 4.1(a)–(b) · https://fnet.bmfbovespa.com.br/fnet/publico/visualizarDocumento?id=1143319</a:t>
            </a:r>
          </a:p>
          <a:p>
            <a:r>
              <a:t>CNPJ 62696791000193 · Adaptação à Resolução CVM 175 · Excerto da fonte:</a:t>
            </a:r>
          </a:p>
          <a:p>
            <a:r>
              <a:t>4.1. Aprovar a transformação do Fundo, bem como de sua Classe única, em um fundo de investimento nas cadeias produtivas do agronegócio (“Transformação”), nos termos da parte geral e do Anexo Normativo VI da Resolução nº 175 da CVM, de 23 de dezembro de 2022, conforme alterada (“Resolução CVM 175”). a. Aprovar a alteração da denominação do Fundo, que passará a vigorar como BTG PACTUAL CERES CONFINA FUNDO DE INVESTIMENTO NAS CADEIAS PRODUTIVAS DO AGRONEGÓCIO RESPONSABILIDADE LIMITADA, e de sua Classe única, que passará a vigorar como CLASSE ÚNICA DO BTG PACTUAL CERES CONFINA FUNDO DE INVESTIMENTO NAS CADEIAS PRODUTIVAS DO AGRONEGÓCIO RESPONSABILIDADE LIMITADA (“Classe”); b. Aprovar a reforma integral do Regulamento do Fundo, bem como do Anexo descritivo da Classe, para realizar todos os ajustes necessários à implementação da Transformação, incluindo, mas não se limitando, a política de investimentos, o regime tributário e os fatores de risco aplicáveis, conforme itens abaixo; c. Aprovar a alteração do quadro de características gerais do Fundo, considerando a contratação do Cogestor pelo Gestor, nos termos do artigo 52, II, da parte geral da Resolução CVM 175 e no co</a:t>
            </a:r>
          </a:p>
          <a:p>
            <a:r>
              <a:t>CNPJ 62696791000193 · Adaptação à Resolução CVM 175 · AGE · ID 1143319 · 20/03/2026 10:00 · versão AGE — referência 20/03/2026 10:00 · p. 3 · AGC 20/03/2026, 4.1(j)–(k) · https://fnet.bmfbovespa.com.br/fnet/publico/visualizarDocumento?id=1143319</a:t>
            </a:r>
          </a:p>
          <a:p>
            <a:r>
              <a:t>CNPJ 62696791000193 · Adaptação à Resolução CVM 175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Adaptação à Resolução CVM 175 · Regulamento · ID 1143317 · 20/03/2026 · versão Regulamento — referência 20/03/2026 · p. 1 · Parte Geral, 1.1 · https://fnet.bmfbovespa.com.br/fnet/publico/visualizarDocumento?id=1143317</a:t>
            </a:r>
          </a:p>
          <a:p>
            <a:r>
              <a:t>CNPJ 62696791000193 · Adaptação à Resolução CVM 175 · Excerto da fonte:</a:t>
            </a:r>
          </a:p>
          <a:p>
            <a:r>
              <a:t>1.1 BTG PACTUAL CERES CONFINA FUNDO DE INVESTIMENTO NAS CADEIAS PRODUTIVAS DO AGRONEGÓCIO RESPONSABILIDADE LIMITADA (“Fundo”), regido pela Lei nº 10.406, de 10 de janeiro de 2002, conf orme alterada (“Código Civil”), pela Lei n.º 8.668, de 25 de junho de 1993, conf orme alterada (“Lei 8.668”), pela parte geral, Anexo Normativo VI e, subsidiariamente, Anexo Normativo II da Resolução nº 175, de 23 de dezembro de 2022, conforme alterada, da Comissão de Valores Mobiliários (respectivamente, “Resolução CVM 175” e “CVM”), terá como principais características: Classe Classe única. Indeterminado, exceto se de outra f orma vier a ser deliberado pelos Cotistas Prazo de Duração reunidos em assembleia geral de Cotistas (“Prazo de Duração”). BTG Pactual Serviços Financeiros S.A. Distribuidora de Títulos e Valores Mobiliários, sociedade anônima, com sede no município e Estado do Rio de Janeiro, na Praia de Botafogo, nº 501, 5º andar (parte), Torre Corcovado, Administrador Botafogo, CEP 22250-040, inscrita no CNPJ sob o nº 59.281.253/0001-23 e</a:t>
            </a:r>
          </a:p>
          <a:p>
            <a:r>
              <a:t>CNPJ 62696791000193 · Adaptação à Resolução CVM 175 · Condição: Posição comumfev/26 é anterior à transformação e demanda o regime/regulamento anterior.</a:t>
            </a:r>
          </a:p>
          <a:p>
            <a:r>
              <a:t>CNPJ 62696791000193 · Adaptação à Resolução CVM 175 · Versão e prevalência: Leitura específica das cláusulas indicadas; condições e conflitos preservados. Seleção documental atual não comprova vigência jurídica por data isolada.</a:t>
            </a:r>
          </a:p>
          <a:p>
            <a:r>
              <a:t>CNPJ 55563624000109 · Adaptação à Resolução CVM 175 · Regulamento · ID 1192614 · 2026-04-30 · versão 1 · p. 13 · 4.11 · https://fnet.bmfbovespa.com.br/fnet/publico/visualizarDocumento?id=1192614</a:t>
            </a:r>
          </a:p>
          <a:p>
            <a:r>
              <a:t>CNPJ 55563624000109 · Adaptação à Resolução CVM 175 · Excerto da fonte:</a:t>
            </a:r>
          </a:p>
          <a:p>
            <a:r>
              <a:t>4.11 Nos termos dos artigos 45, parágrafo 7º, e 47 parágrafo único do Anexo Normativo II à Resolução CVM 175, uma  vez que as Cotas são destinadas exclusivamente a Investidores Profissionais, a Classe poderá ter até 100% (cem  por cento) de seu Patrimônio Líquido alocado em Cotas da Classe Investida, as quais são emitidas pela Classe  Investida.</a:t>
            </a:r>
          </a:p>
          <a:p>
            <a:r>
              <a:t>CNPJ 55563624000109 · Adaptação à Resolução CVM 175 · Regulamento · ID 1192614 · 2026-04-30 · versão 1 · p. 31 · 15.1.1 · https://fnet.bmfbovespa.com.br/fnet/publico/visualizarDocumento?id=1192614</a:t>
            </a:r>
          </a:p>
          <a:p>
            <a:r>
              <a:t>CNPJ 55563624000109 · Adaptação à Resolução CVM 175 · Excerto da fonte:</a:t>
            </a:r>
          </a:p>
          <a:p>
            <a:r>
              <a:t>15.1.1 Riscos de Crédito:</a:t>
            </a:r>
          </a:p>
          <a:p>
            <a:r>
              <a:t> (i) Risco de concentração na Classe Investida. Nos termos do presente Regulamento, a Classe  deverá manter alocado, no mínimo, 67% (sessenta e sete por cento) do Patrimônio Líquido nas Cotas  da Classe Investida. Alterações na condição econômico-financeira e na expectativa de desempenho ou  resultados da Classe Investida poderão, isolada ou cumulativamente, afetar negativamente o  rendimento do investimento nas Cotas, de forma mais severa do que se a Classe adotasse uma  estratégia de investimento de maior diversificação. O risco associado às aplicações de qualquer fundo  de investimento é diretamente proporcional à concentração da sua carteira, sendo que, quanto maior  essa concentração, maior será a sua vulnerabilidade.</a:t>
            </a:r>
          </a:p>
          <a:p>
            <a:r>
              <a:t> (ii) Risco relativo à Classe Investida. Nos termos deste Anexo, a Classe deverá manter alocado, no  mínimo, 67% (sessenta e sete por cento) do Patrimônio Líquido em Cotas da Classe Investida. Os  investimentos realizados pela Classe Investida poderão estar sujeitos a flutuações típicas do mercado,  risco de crédito, risco sistêmico, condições adversas de liquidez e negociação atípica nos mercados de  atuação, bem como outros riscos diversos. Este Anexo não contém a descrição de todas as  características, incluindo os riscos, da Classe Investida.</a:t>
            </a:r>
          </a:p>
          <a:p>
            <a:r>
              <a:t> (iii) Risco Relativo ao Pagamento de Encargos da Classe Investida. Tendo em vista a estrutura da  Classe Investida – que emitiu cotas sêniores, cotas subordinadas mezanino e cotas subordinadas júnior  – em situação ordinária os encargos da Classe Investida são arcados pelas cotas subordinadas júnior,  que se subordinam às cotas subordinadas mezanino e às cotas sêniores para fins de amortização,  resgate e distribuição de rendimentos, não impactando, portanto, as Cotas da Classe Investida. Não  obstante o funcionamento da Classe Investida em situação ordinária, em cenários extraordinários, na  eventualidade do valor das cotas subordinadas júnior ficar reduzido a zero ou a valor negativo, os  encargos da Classe Investida conforme previstos em seu regulamento, inclusive mas não se limitando  as remunerações dos prestadores de serviços essenciais, passarão a ser arcados pelas cotas  subordinadas mezanino (que são as Cotas da Classe Investida), impactando no valor do investimento  da Classe na Classe Investida, e consequentemente, o investimento dos Cotistas na Classe.</a:t>
            </a:r>
          </a:p>
          <a:p>
            <a:r>
              <a:t> (iv) Riscos referentes à carteira da Classe Investida. Na forma do Anexo Normativo II da Resolução  CVM 175, a Classe Investida investe, direta ou indiretamente, no mínimo, 67% (sessenta e sete por  cento) do seu patrimônio em direitos creditórios originados pela Mercado Pago. O investimento em tais  direitos creditórios está sujeito a fatores de risco específicos, conforme detalhados no regulamento da  Classe Investida, incluindo, mas não se limitando a:</a:t>
            </a:r>
          </a:p>
          <a:p>
            <a:r>
              <a:t> (a) Risco de liquidez dos direitos creditórios. O investimento da Classe Investida em direitos  creditórios apresenta peculiaridades em relação às aplicações usuais da maioria dos  fundos de investimento brasileiros, haja vista que não existe, no Brasil, mercado  secundário com liquidez para tais direitos creditórios. Caso a Classe Investida precise  vender os direitos creditórios adquiridos, poderá não haver mercado comprador para  tais créditos, bem como o preço de alienação de tais direitos creditórios poderá refletir  essa falta de liquidez, causando perda ao patrimônio da Classe Investida e,  consequentemente, à Classe.</a:t>
            </a:r>
          </a:p>
          <a:p>
            <a:r>
              <a:t>CNPJ 55563624000109 · Adaptação à Resolução CVM 175 · Regulamento · ID 1192614 · 2026-04-30 · versão 1 · p. 28 · 13.2 · https://fnet.bmfbovespa.com.br/fnet/publico/visualizarDocumento?id=1192614</a:t>
            </a:r>
          </a:p>
          <a:p>
            <a:r>
              <a:t>CNPJ 55563624000109 · Adaptação à Resolução CVM 175 · Excerto da fonte:</a:t>
            </a:r>
          </a:p>
          <a:p>
            <a:r>
              <a:t>13.2 Em condições ordinárias, as Cotas da Classe Investida não pagarão remuneração aos prestadores de serviços  essenciais da Classe Investida, nos termos de seu regulamento. Não obstante, em cenário extraordinário  conforme descrito no item 15.1.1 (iii), e para fins de atendimento ao artigo 98 da parte geral da Resolução CVM  175, a taxa máxima de administração corresponderá ao valor da Taxa Mínima de Administração acrescida de até  0,10% (dez centésimos por cento) ao ano incidente sobre o patrimônio líquido da Classe Investida,  compreendendo a taxa de administração da Classe Investida geridos por partes relacionadas ao GESTOR, cujas  cotas não estão admitidas à negociação em mercado organizado, conforme prevista no regulamento da Classe  Investida (“Taxa Máxima de Administração” e, quando referida em conjunto com a Taxa Mínima de  Administração, como “Taxa de Administração”). Caso a taxa de administração da Classe Investida não se  enquadre no disposto acima, estará disposta no regulamento da Classe Investida.</a:t>
            </a:r>
          </a:p>
          <a:p>
            <a:r>
              <a:t>CNPJ 55563624000109 · Adaptação à Resolução CVM 175 · Condição: Documentos atuais selecionados no inventário por categoria/escopo; a data documental isolada não comprova vigência jurídica.</a:t>
            </a:r>
          </a:p>
          <a:p>
            <a:r>
              <a:t>CNPJ 55563624000109 · Adaptação à Resolução CVM 175 · Versão e prevalência: Documentos atuais selecionados no inventário por categoria/escopo; a data documental isolada não comprova vigência jurídica.</a:t>
            </a:r>
          </a:p>
          <a:p>
            <a:r>
              <a:t>CNPJ 55563624000109 · Adaptação à Resolução CVM 175 · Resumo do histórico: {"count": 3, "dates": ["2024-07-03", "2025-01-31", "2026-01-31"], "document_count": 3, "sources": [{"document_id": "1178840", "title": "Demonstrações Financeiras", "reference_date": "2026-01-31", "version": "1", "page": 29, "url": "https://fnet.bmfbovespa.com.br/fnet/publico/visualizarDocumento?id=1178840", "sha256": "c458e98664c5c907ddb5a05a94b120bed4e05295b2bfc420f5ba69af0a229abe"}, {"document_id": "891861", "title": "Demonstrações Financeiras", "reference_date": "2025-01-31", "version": "1", "page": 30, "url": "https://fnet.bmfbovespa.com.br/fnet/publico/visualizarDocumento?id=891861", "sha256": "e9cb9e6ddbe505fe068cfcac33605165a98313489de0d3ce6d4d238263c3f3e7"}, {"document_id": "691674", "title": "Instrumento Particular de Emissão de Cotas", "reference_date": "2024-07-03", "version": "1", "page": 1, "url": "https://fnet.bmfbovespa.com.br/fnet/publico/visualizarDocumento?id=691674", "sha256": "78bf7b350f1785beae5f43bd209b5ed19e863cb9a2cff01542aac11dd63ca554"}], "reference": {"path": "history/55563624000109.json", "criterion_id": "res175", "total_count": 3, "preview_count": 3, "full_text_deferred": true, "sha256": "7835d573fb58a3c19adf5b8ecc2aee2bdbb9a88f7a0c0209b5f262b64c7522e3"}}</a:t>
            </a:r>
          </a:p>
          <a:p>
            <a:r>
              <a:t>CNPJ 62552447000120 · Adaptação à Resolução CVM 175 · Regulamento · ID 1200623 · 21/05/2026 · versão Consolidado21/05/2026 aprovado pelo ato1200625 · p. 1 · ParteGeral1.1 · https://fnet.bmfbovespa.com.br/fnet/publico/visualizarDocumento?id=1200623</a:t>
            </a:r>
          </a:p>
          <a:p>
            <a:r>
              <a:t>CNPJ 62552447000120 · Adaptação à Resolução CVM 175 · Excerto da fonte:</a:t>
            </a:r>
          </a:p>
          <a:p>
            <a:r>
              <a:t>1.1 V CDT 1 FUNDO DE INVESTIMENTO EM DIREITOS CREDITÓRIOS RESPONSABILIDADE LIMITADA (“Fundo”), regido pela Lei n.º 10.406, de 10 de janeiro de 2002, conforme alterada (“Código Civil”), pela Resolução da Comissão de Valores Mobiliários (“CVM”) n.º 175, de 23 de dezembro de 2022, conf orme alterada (“Resolução CVM 175”), que inclui sua Parte Geral (“Parte Geral da Resolução CVM 175”) e seu Anexo Normativo II (“Anexo Normativo II”) terá como principais características: Classe de Cotas Classe única. Indeterminado, exceto se de outra forma vier a ser deliberado pelos titulares</a:t>
            </a:r>
          </a:p>
          <a:p>
            <a:r>
              <a:t>CNPJ 62552447000120 · Adaptação à Resolução CVM 175 · Regulamento · ID 1200623 · 21/05/2026 · versão Consolidado21/05/2026 aprovado pelo ato1200625 · p. 2 · ParteGeral1.6(v) · https://fnet.bmfbovespa.com.br/fnet/publico/visualizarDocumento?id=1200623</a:t>
            </a:r>
          </a:p>
          <a:p>
            <a:r>
              <a:t>CNPJ 62552447000120 · Adaptação à Resolução CVM 175 · Excerto da fonte:</a:t>
            </a:r>
          </a:p>
          <a:p>
            <a:r>
              <a:t>V CDT 1 FUNDO DE INVESTIMENTO EM DIREITOS CREDITÓRIOS RESPONSABILIDADE LIMITADA direitos e obrigações distintos das demais Classes, nos termos do art. 5º da Parte Geral da Resolução CVM 175. 1.4 O Anexo de cada classe de Cotas (“Classe”), conforme aplicável, dispõe, sem prejuízo de outros requisitos e inf ormações previstos na regulamentação, sobre: (i) características gerais, incluindo a indicação dos demais prestadores de serviços; (ii) responsabilidade dos Cotistas e regime de insolvência; (iii) características, direitos, condições de emissão, subscrição, integralização,</a:t>
            </a:r>
          </a:p>
          <a:p>
            <a:r>
              <a:t>CNPJ 62552447000120 · Adaptação à Resolução CVM 175 · Regulamento · ID 1200623 · 21/05/2026 · versão Consolidado21/05/2026 aprovado pelo ato1200625 · p. 16 · AnexoI5.1 · https://fnet.bmfbovespa.com.br/fnet/publico/visualizarDocumento?id=1200623</a:t>
            </a:r>
          </a:p>
          <a:p>
            <a:r>
              <a:t>CNPJ 62552447000120 · Adaptação à Resolução CVM 175 · Excerto da fonte:</a:t>
            </a:r>
          </a:p>
          <a:p>
            <a:r>
              <a:t>5.1 A Classe não possui Subclasse. As características, os direitos e as condições de emissão, distribuição, subscrição, integralização, remuneração, Amortização e resgate das Cotas estão descritos neste Capítulo e no Capítulo 6. 5.1.1 Não obstante, por deliberação conjunta dos Prestadores de Serviços Essenciais e mediante aprovação em Assembleia Especial, poderá haver a divisão de Classes em Subclasses, nos termos da Resolução CVM 175. Após a primeira emissão de Cotas, novas emissões de Cotas (de quaisquer Subclasses) dependem de aprovação dos Cotistas. 5.2 As Cotas são escrit</a:t>
            </a:r>
          </a:p>
          <a:p>
            <a:r>
              <a:t>CNPJ 62552447000120 · Adaptação à Resolução CVM 175 · Versão e prevalência: Leitura específica das cláusulas indicadas; condições e conflitos preservados. Seleção documental atual não comprova vigência jurídica por data isolada.</a:t>
            </a:r>
          </a:p>
          <a:p>
            <a:r>
              <a:t>CNPJ 62552447000120 · Adaptação à Resolução CVM 175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"res175", "total_count": 1, "preview_count": 1, "full_text_deferred": true, "sha256": "d95db8c0613d67ee84118c734588665265ea6b02f86a0318d6a844cbe1d0f82f"}}</a:t>
            </a:r>
          </a:p>
          <a:p>
            <a:r>
              <a:t>CNPJ 63953620000165 · Adaptação à Resolução CVM 175 · Anexo ao Regulamento · ID 1222863 · 02/06/2026 · versão AnexoConsignadoPrivado02/06/2026 · p. 1 · AnexoI1.1 · https://fnet.bmfbovespa.com.br/fnet/publico/visualizarDocumento?id=1222863</a:t>
            </a:r>
          </a:p>
          <a:p>
            <a:r>
              <a:t>CNPJ 63953620000165 · Adaptação à Resolução CVM 175 · Excerto da fonte:</a:t>
            </a:r>
          </a:p>
          <a:p>
            <a:r>
              <a:t>1.1 As principais características da Classe Consignado Privado (para fins deste Anexo, “Classe”) estão descritas abaixo: Tipo de Condomínio Fechado. Indeterminado, exceto se de outra forma vier a ser deliberado pelos Cotistas Prazo de Duração reunidos em Assembleia Especial de Cotistas. (“Prazo de Duração”) Tipo “Financeiro”. Classificação ANBIMA Foco de atuação “Créditos Consignados”. O obje</a:t>
            </a:r>
          </a:p>
          <a:p>
            <a:r>
              <a:t>CNPJ 63953620000165 · Adaptação à Resolução CVM 175 · Anexo ao Regulamento · ID 1222863 · 02/06/2026 · versão AnexoConsignadoPrivado02/06/2026 · p. 9 · 5.1 · https://fnet.bmfbovespa.com.br/fnet/publico/visualizarDocumento?id=1222863</a:t>
            </a:r>
          </a:p>
          <a:p>
            <a:r>
              <a:t>CNPJ 63953620000165 · Adaptação à Resolução CVM 175 · Excerto da fonte:</a:t>
            </a:r>
          </a:p>
          <a:p>
            <a:r>
              <a:t>5.1 A Classe possui 2 (duas) Subclasses de Cotas, quais sejam, a subclasse sênior (“Subclasse Sênior” e “Cotas Seniores”) e a subclasse subordinada (“Subclasse Subordinada” e “Cotas Subordinadas” – as Cotas Subordinadas e Cotas Seniores, quando referidas em conjunto, “Cotas”). As características, os direitos e as condições de emissão, distribuição, subscrição, integralização, remuneração, amortização e resgate das Cotas estão descritos neste Capítulo e nos respectivos Apêndices. 5.2 As Cotas são escriturais, nominativas e correspondem a frações ideais do patrimônio da Classe, cuja propriedade presume-se: (i) pelo</a:t>
            </a:r>
          </a:p>
          <a:p>
            <a:r>
              <a:t>CNPJ 63953620000165 · Adaptação à Resolução CVM 175 · Condição: Vigência efetiva da versão 02/06/2026 não inferida da data de publicação; não aplicar a fev/26 automaticamente.</a:t>
            </a:r>
          </a:p>
          <a:p>
            <a:r>
              <a:t>CNPJ 63953620000165 · Adaptação à Resolução CVM 175 · Versão e prevalência: Leitura específica das cláusulas indicadas; condições e conflitos preservados. Seleção documental atual não comprova vigência jurídica por data isolada.</a:t>
            </a:r>
          </a:p>
          <a:p>
            <a:r>
              <a:t>CNPJ 63953620000165 · Adaptação à Resolução CVM 175 · Resumo do histórico: {"count": 9, "dates": ["2026-04-28", "2026-05-08", "2026-05-15"], "document_count": 3, "sources": [{"document_id": "1327859", "title": "Demonstrações Financeiras - Fusão, cisão e incorporação", "reference_date": "2026-05-15", "version": "1", "page": 31, "clause": "15.000.000", "url": "https://fnet.bmfbovespa.com.br/fnet/publico/visualizarDocumento?id=1327859", "sha256": "dca1c68babb97f887528c3e2e47596a9c30f507b067981a35655b2f2da9c8054"}, {"document_id": "1298691", "title": "Demonstrações Financeiras - Fusão, cisão e incorporação", "reference_date": "2026-05-08", "version": "1", "page": 32, "url": "https://fnet.bmfbovespa.com.br/fnet/publico/visualizarDocumento?id=1298691", "sha256": "58c570d9b8d4d265330d3db3ea81c435b8e44a6dab4002aa37790652a1ee9819"}, {"document_id": "1282180", "title": "Demonstrações Financeiras - Fusão, cisão e incorporação", "reference_date": "2026-04-28", "version": "1", "page": 32, "clause": "15.000.000", "url": "https://fnet.bmfbovespa.com.br/fnet/publico/visualizarDocumento?id=1282180", "sha256": "afaaa0e6809be4385e5bdb6c911aac582032c5bdbac3d7750234bf9eaf00438a"}], "reference": {"path": "history/63953620000165.json", "criterion_id": "res175", "total_count": 9, "preview_count": 3, "full_text_deferred": true, "sha256": "a7b89077f5e21098c2d601c303faabc3ff6b9729f89d8afecdc60fe1404720c1"}}</a:t>
            </a:r>
          </a:p>
          <a:p>
            <a:r>
              <a:t>CNPJ 54871427000194 · Duração e público-alvo · Demonstrações Financeiras - Fusão, cisão e incorporação · ID 1219522 · 2026-02-02 · versão 1 · p. 11 · https://fnet.bmfbovespa.com.br/fnet/publico/visualizarDocumento?id=1219522</a:t>
            </a:r>
          </a:p>
          <a:p>
            <a:r>
              <a:t>CNPJ 54871427000194 · Duração e público-alvo · Excerto da fonte:</a:t>
            </a:r>
          </a:p>
          <a:p>
            <a:r>
              <a:t>O Consignado Delta Receivables I Fundo de Investimento em Direitos Creditórios possui uma classe única de cotas, denominada Classe Única de Responsabilidade Limitada do Consignado Delta Receivables I Fundo de Investimento em Direitos Creditórios (“Classe”). A Classe foi constituída em 19 de abril de 2024, sob a forma de condomínio fechado e iniciou suas operações em 27 de maio de 2024. A Classe possui prazo de duração Indeterminado.</a:t>
            </a:r>
          </a:p>
          <a:p>
            <a:r>
              <a:t>CNPJ 54871427000194 · Duração e público-alvo · Condição: Documentos atuais selecionados no inventário por categoria/escopo; a data documental isolada não comprova vigência jurídica.</a:t>
            </a:r>
          </a:p>
          <a:p>
            <a:r>
              <a:t>CNPJ 54871427000194 · Duração e público-alvo · Versão e prevalência: Documentos atuais selecionados no inventário por categoria/escopo; a data documental isolada não comprova vigência jurídica.</a:t>
            </a:r>
          </a:p>
          <a:p>
            <a:r>
              <a:t>CNPJ 54871427000194 · Duração e público-alvo · Resumo do histórico: {"count": 11, "dates": ["2024-12-31", "2025-01-01", "2025-12-31"], "document_count": 3, "sources": [{"document_id": "1151805", "title": "Demonstrações Financeiras", "reference_date": "2025-12-31", "version": "1", "page": 11, "url": "https://fnet.bmfbovespa.com.br/fnet/publico/visualizarDocumento?id=1151805", "sha256": "f1cea70b152968bf96ef9221b27225953cb20aeef487b2798db3c25e11b528d4"}, {"document_id": "869529", "title": "Demonstrações Financeiras", "reference_date": "2025-01-01", "version": "1", "page": 11, "url": "https://fnet.bmfbovespa.com.br/fnet/publico/visualizarDocumento?id=869529", "sha256": "9a93a9369ac8efdbc54ff8fcee3ccac3abf88edab4807b9323d3852450771b2a"}, {"document_id": "870070", "title": "Demonstrações Financeiras", "reference_date": "2024-12-31", "version": "1", "page": 11, "url": "https://fnet.bmfbovespa.com.br/fnet/publico/visualizarDocumento?id=870070", "sha256": "9a93a9369ac8efdbc54ff8fcee3ccac3abf88edab4807b9323d3852450771b2a"}], "reference": {"path": "history/54871427000194.json", "criterion_id": "duration_investors", "total_count": 11, "preview_count": 3, "full_text_deferred": true, "sha256": "35d7cd99be50c7287c9fb675cf4f2e736002315295a225a9efa79c8d9186d874"}}</a:t>
            </a:r>
          </a:p>
          <a:p>
            <a:r>
              <a:t>CNPJ 60010416000112 · Duração e público-alvo · Demonstrações Financeiras - Fusão, cisão e incorporação · ID 1298690 · 2026-05-08 · versão 1 · p. 9 · https://fnet.bmfbovespa.com.br/fnet/publico/visualizarDocumento?id=1298690</a:t>
            </a:r>
          </a:p>
          <a:p>
            <a:r>
              <a:t>CNPJ 60010416000112 · Duração e público-alvo · Excerto da fonte:</a:t>
            </a:r>
          </a:p>
          <a:p>
            <a:r>
              <a:t>1. Contexto operacional  O MT Consignado Privado I Fundo de Investimento em Direitos Creditórios (“Fundo”) possui uma  classe única de cotas, denominada Classe Única do MT I Consignado Privado I Fundo de  Investimento em Direitos Creditórios Responsabilidade Limitada (“Classe”). A Classe foi  constituída em 20 de março de 2025, sob a forma de condomínio fechado e iniciou suas  operações em 21 de março de 2025. A Classe possui prazo de duração indeterminado.</a:t>
            </a:r>
          </a:p>
          <a:p>
            <a:r>
              <a:t>CNPJ 60010416000112 · Duração e público-alvo · Demonstrações Financeiras - Fusão, cisão e incorporação · ID 1298690 · 2026-05-08 · versão 1 · p. 22 · https://fnet.bmfbovespa.com.br/fnet/publico/visualizarDocumento?id=1298690</a:t>
            </a:r>
          </a:p>
          <a:p>
            <a:r>
              <a:t>CNPJ 60010416000112 · Duração e público-alvo · Excerto da fonte:</a:t>
            </a:r>
          </a:p>
          <a:p>
            <a:r>
              <a:t>(ii) Riscos do mercado secundário: A Classe é constituída sob a forma de condomínio  fechado, de modo que as Cotas Subordinadas somente serão resgatadas em virtude da  liquidação da Classe e as Cotas Seniores ao término do seu prazo de duração, conforme  estabelecidos nos respectivos Suplementos. Uma vez que o prazo de duração da Classe  é indeterminado, o Cotista titular das Cotas Subordinadas não terá liquidez em seu  investimento na Classe, exceto (a) por ocasião das amortizações e dos resgates, nos  termos do Regulamento; (b) por meio da alienação de suas Cotas no mercado  secundário, observado, neste caso, que sua alienação apenas é permitida para o Público-  Alvo das Cotas Subordinadas; ou (c) na liquidação antecipada do Fundo ou da Classe.</a:t>
            </a:r>
          </a:p>
          <a:p>
            <a:r>
              <a:t> Além disso, atualmente, o mercado secundário de cotas de fundos de investimento  apresenta baixa liquidez, o que pode dificultar a venda das Cotas ou ocasionar a obtenção  de um preço de venda que cause perda de patrimônio ao Cotista. Não há qualquer  garantia da Administradora, da Gestora, da consultora ou do Custodiante em relação à  possibilidade de venda das Cotas no mercado secundário ou ao preço obtido por elas,  ou mesmo garantia de saída ao Cotista.</a:t>
            </a:r>
          </a:p>
          <a:p>
            <a:r>
              <a:t>CNPJ 60010416000112 · Duração e público-alvo · Condição: Documentos atuais selecionados no inventário por categoria/escopo; a data documental isolada não comprova vigência jurídica.</a:t>
            </a:r>
          </a:p>
          <a:p>
            <a:r>
              <a:t>CNPJ 60010416000112 · Duração e público-alvo · Versão e prevalência: Documentos atuais selecionados no inventário por categoria/escopo; a data documental isolada não comprova vigência jurídica.</a:t>
            </a:r>
          </a:p>
          <a:p>
            <a:r>
              <a:t>CNPJ 60010416000112 · Duração e público-alvo · Resumo do histórico: {"count": 9, "dates": ["2025-11-30", "2026-03-18", "2026-04-16"], "document_count": 3, "sources": [{"document_id": "1282181", "title": "Demonstrações Financeiras - Fusão, cisão e incorporação", "reference_date": "2026-04-16", "version": "1", "page": 23, "url": "https://fnet.bmfbovespa.com.br/fnet/publico/visualizarDocumento?id=1282181", "sha256": "b1c6566e43a00bcd00c8a7f30c77b7f86e351bd8e355bbea113f46d1dafda703"}, {"document_id": "1224477", "title": "Demonstrações Financeiras - Fusão, cisão e incorporação", "reference_date": "2026-03-18", "version": "1", "page": 23, "url": "https://fnet.bmfbovespa.com.br/fnet/publico/visualizarDocumento?id=1224477", "sha256": "0751bf0a75bc3b44c2748f5000226665c6ec6698a90c4dc6170b4e6c187759ae"}, {"document_id": "1126154", "title": "Demonstrações Financeiras", "reference_date": "2025-11-30", "version": "1", "page": 23, "url": "https://fnet.bmfbovespa.com.br/fnet/publico/visualizarDocumento?id=1126154", "sha256": "a01e7ccf88c548f12c95cba8526d7efbef6b585c112cd4668eca781c292090b0"}], "reference": {"path": "history/60010416000112.json", "criterion_id": "duration_investors", "total_count": 9, "preview_count": 3, "full_text_deferred": true, "sha256": "8e2bd813f4c51cf01f6bfaad164bafe69d2bbb192f753eac92da3a01c2e63046"}}</a:t>
            </a:r>
          </a:p>
          <a:p>
            <a:r>
              <a:t>CNPJ 62696791000193 · Duração e público-alvo · Regulamento · ID 1143317 · 2026-03-20 · versão 1 · p. 18 · 8.8.1 · https://fnet.bmfbovespa.com.br/fnet/publico/visualizarDocumento?id=1143317</a:t>
            </a:r>
          </a:p>
          <a:p>
            <a:r>
              <a:t>CNPJ 62696791000193 · Duração e público-alvo · Excerto da fonte:</a:t>
            </a:r>
          </a:p>
          <a:p>
            <a:r>
              <a:t>8.8.1 As Chamadas de Capital para a realização de investimentos serão realizadas a qualquer  momento durante o Período de Investimento e estarão limitadas ao valor do capital subscrito  de cada Cotista. As Chamadas de Capital para o pagamento de despesas e encargos do Fundo  poderão ser realizadas a qualquer momento durante o Prazo de Duração, mas não estarão  limitadas ao valor do capital subscrito de cada Cotista.</a:t>
            </a:r>
          </a:p>
          <a:p>
            <a:r>
              <a:t>CNPJ 62696791000193 · Duração e público-alvo · Regulamento · ID 1143317 · 2026-03-20 · versão 1 · p. 20 · 9.5.1 · https://fnet.bmfbovespa.com.br/fnet/publico/visualizarDocumento?id=1143317</a:t>
            </a:r>
          </a:p>
          <a:p>
            <a:r>
              <a:t>CNPJ 62696791000193 · Duração e público-alvo · Excerto da fonte:</a:t>
            </a:r>
          </a:p>
          <a:p>
            <a:r>
              <a:t>9.5.1 Ao f inal do Prazo de Duração ou quando da liquidação antecipada da Classe, todas as Cotas  deverão ter seu valor integralmente amortizado. Não havendo recursos em moeda corrente  nacional suficientes para realizar o pagamento da amortização total das Cotas em circulação à  época da liquidação da Classe, o Administrador deverá convocar a Assembleia Especial de  Cotistas a fim de deliberar sobre a prorrogação do Prazo de Duração ou o resgate de Cotas em  Direitos Creditórios do Agronegócio e/ou Outros Ativos .</a:t>
            </a:r>
          </a:p>
          <a:p>
            <a:r>
              <a:t>10 ASSEMBLEIA ESPECIAL DE COTISTAS</a:t>
            </a:r>
          </a:p>
          <a:p>
            <a:r>
              <a:t>CNPJ 62696791000193 · Duração e público-alvo · Regulamento · ID 1143317 · 2026-03-20 · versão 1 · p. 23 · 11.1 · https://fnet.bmfbovespa.com.br/fnet/publico/visualizarDocumento?id=1143317</a:t>
            </a:r>
          </a:p>
          <a:p>
            <a:r>
              <a:t>CNPJ 62696791000193 · Duração e público-alvo · Excerto da fonte:</a:t>
            </a:r>
          </a:p>
          <a:p>
            <a:r>
              <a:t>11.1 A Classe será liquidada (i) em caso da liquidação antecipada deliberada em Assembleia Especial de  Cotistas; ou (ii) pelo encerramento do Prazo de Duração da Classe.</a:t>
            </a:r>
          </a:p>
          <a:p>
            <a:r>
              <a:t>CNPJ 62696791000193 · Duração e público-alvo · Condição: Documentos atuais selecionados no inventário por categoria/escopo; a data documental isolada não comprova vigência jurídica.</a:t>
            </a:r>
          </a:p>
          <a:p>
            <a:r>
              <a:t>CNPJ 62696791000193 · Duração e público-alvo · Versão e prevalência: Documentos atuais selecionados no inventário por categoria/escopo; a data documental isolada não comprova vigência jurídica.</a:t>
            </a:r>
          </a:p>
          <a:p>
            <a:r>
              <a:t>CNPJ 55563624000109 · Duração e público-alvo · AGE · ID 1306189 · 2026-08-25 · versão 1 · p. 1 · 4.1 · https://fnet.bmfbovespa.com.br/fnet/publico/visualizarDocumento?id=1306189</a:t>
            </a:r>
          </a:p>
          <a:p>
            <a:r>
              <a:t>CNPJ 55563624000109 · Duração e público-alvo · Excerto da fonte:</a:t>
            </a:r>
          </a:p>
          <a:p>
            <a:r>
              <a:t>4.1 Nos termos do Anexo da Classe, aprovar:</a:t>
            </a:r>
          </a:p>
          <a:p>
            <a:r>
              <a:t>(i) a liquidação da Subclasse A da Classe, considerando o encerramento do seu prazo de duração, por meio do  resgate integral de Cotas da Subclasse A com entrega de financeiro aos Cotistas. Será utilizada como data  base no cálculo da cota do dia 25 de agosto de 2026, com efetivação no fechamento do dia 27 de agosto de  2026; e</a:t>
            </a:r>
          </a:p>
          <a:p>
            <a:r>
              <a:t>(ii) a liquidação antecipada da Subclasse C da Classe, por meio do resgate integral de Cotas da Subclasse C com  entrega de financeiro aos Cotistas. Será utilizada como data base no cálculo da cota do dia 25 de agosto de  2026, com efetivação no fechamento do dia 27 de agosto de 2026.</a:t>
            </a:r>
          </a:p>
          <a:p>
            <a:r>
              <a:t>CNPJ 55563624000109 · Duração e público-alvo · Condição: Documentos atuais selecionados no inventário por categoria/escopo; a data documental isolada não comprova vigência jurídica.</a:t>
            </a:r>
          </a:p>
          <a:p>
            <a:r>
              <a:t>CNPJ 55563624000109 · Duração e público-alvo · Versão e prevalência: Documentos atuais selecionados no inventário por categoria/escopo; a data documental isolada não comprova vigência jurídica.</a:t>
            </a:r>
          </a:p>
          <a:p>
            <a:r>
              <a:t>CNPJ 55563624000109 · Duração e público-alvo · Resumo do histórico: {"count": 6, "dates": ["2026-04-30"], "document_count": 2, "sources": [{"document_id": "1192614", "title": "Regulamento", "reference_date": "2026-04-30", "version": "1", "page": "9, 15, 45-50", "url": "https://fnet.bmfbovespa.com.br/fnet/publico/visualizarDocumento?id=1192614", "sha256": "f56e63ace0acde41d2f47fb48f1ac7f3f7df5e2d32de092d7c5e075a52516632"}, {"document_id": "1192614", "title": "Regulamento", "reference_date": "2026-04-30", "version": "1", "page": 5, "clause": "4.7.1", "url": "https://fnet.bmfbovespa.com.br/fnet/publico/visualizarDocumento?id=1192614", "sha256": "f56e63ace0acde41d2f47fb48f1ac7f3f7df5e2d32de092d7c5e075a52516632"}, {"document_id": "1192603", "title": "AGE", "reference_date": "2026-04-30", "version": "1", "page": 1, "clause": "4.1", "url": "https://fnet.bmfbovespa.com.br/fnet/publico/visualizarDocumento?id=1192603", "sha256": "f53ff2a5b715f5365536305a098f9cc0c54b5a01128942d784915bed8eeb0288"}], "reference": {"path": "history/55563624000109.json", "criterion_id": "duration_investors", "total_count": 6, "preview_count": 3, "full_text_deferred": true, "sha256": "7835d573fb58a3c19adf5b8ecc2aee2bdbb9a88f7a0c0209b5f262b64c7522e3"}}</a:t>
            </a:r>
          </a:p>
          <a:p>
            <a:r>
              <a:t>CNPJ 62552447000120 · Duração e público-alvo · Regulamento · ID 1200623 · 2026-05-21 · versão 1 · p. 22 · 10.4 · https://fnet.bmfbovespa.com.br/fnet/publico/visualizarDocumento?id=1200623</a:t>
            </a:r>
          </a:p>
          <a:p>
            <a:r>
              <a:t>CNPJ 62552447000120 · Duração e público-alvo · Excerto da fonte:</a:t>
            </a:r>
          </a:p>
          <a:p>
            <a:r>
              <a:t>10.4 Tendo em vista que a Classe é exclusivamente destinada a Investidores Profissionais, não serão  aplicáveis as vedações ao direito a voto em assembleia de cotistas dispostas no artigo 78 da Resolução  CVM 175, conf orme disposto no artigo 114 da ref erida Resolução.</a:t>
            </a:r>
          </a:p>
          <a:p>
            <a:r>
              <a:t>CNPJ 62552447000120 · Duração e público-alvo · Regulamento · ID 1200623 · 2026-05-21 · versão 1 · p. 35 · https://fnet.bmfbovespa.com.br/fnet/publico/visualizarDocumento?id=1200623</a:t>
            </a:r>
          </a:p>
          <a:p>
            <a:r>
              <a:t>CNPJ 62552447000120 · Duração e público-alvo · Excerto da fonte:</a:t>
            </a:r>
          </a:p>
          <a:p>
            <a:r>
              <a:t>ativos desses emissores, causando perdas à Classe e ao Cotista. Além disso, a f alta de capacidade ou disposição de pagar por qualquer dos emissores dos Ativos Financeiros de Liquidez ou das contrapartes nas transações que compõem a Carteira causará perdas à Classe, e o que também poderá incorrer em custos para f ins de recuperação de seus recebíveis.</a:t>
            </a:r>
          </a:p>
          <a:p>
            <a:r>
              <a:t>(v) Riscos associados aos Devedores: no caso de Devedores no âmbito das operações de consignado privado, a sua capacidade de pagamento poderá ser af etada se, por exemplo, o Devedor tiver o seu contrato de emprego rescindido ou em virtude de decisão judicial, o Devedor for obrigado a pagar alimentos, que têm prioridade sobre o empréstimo para f ins de desconto na f 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 etar a rentabilidade da Classe. Já no caso de Devedores no âmbito das operações de Saque-aniversário, como os Direitos Creditórios a serem endossados à Classe serão descontados pelo FGTS da remuneração do Devedor, na ocorrência de qualquer evento que, nos termos da legislação aplicável, determine o pagamento antecipado do Saque-aniversário ao Devedor, a exemplo do falecimento do Devedor, dentre outros, as parcelas do Saque- aniversário serão pagas antecipadamente e a Classe deverá utilizar tais montantes no pré-pagamento dos Direitos Creditórios. Nesta hipótese, a Classe poderá não encontrar Direitos Creditórios disponíveis para serem adquiridos pela Classe, o que poderá af etar a rentabilidade da Classe.</a:t>
            </a:r>
          </a:p>
          <a:p>
            <a:r>
              <a:t>Risco de liquidez</a:t>
            </a:r>
          </a:p>
          <a:p>
            <a:r>
              <a:t>(i) Risco de liquidez: consiste no risco de redução ou inexistência de demanda pelos ativos que compõem a Classe nos respectivos mercados em que são negociados, devido às condições específicas desses ativos ou aos mercados em que são negociados. Devido a esses riscos, o Gestor poderá encontrar dificuldades em liquidar posições ou negociar esses ativos pelo preço e prazo desejados, de acordo com a estratégia de gestão adotada pela Classe, que permanecerá exposto, durante o período de baixa liquidez, aos riscos associados a esses ativos e posições assumidas em mercados de derivativos, se houver, que poderão até exigir que o Gestor aceite descontos em seus preços para realizar negociações no mercado. Esses f atores poderão prejudicar o pagamento de Amortizações ao Cotista, nos valores e dentro dos termos aqui estabelecidos.</a:t>
            </a:r>
          </a:p>
          <a:p>
            <a:r>
              <a:t>(ii) Riscos do mercado secundário: A Classe é constituída sob a f orma de condomínio fechado, de modo que as Cotas somente serão resgatadas em virtude da liquidação da Classe. Uma vez que o Prazo de Duração da Classe é indeterminado, o Cotista titular das Cotas não terá liquidez em seu investimento na Classe, exceto</a:t>
            </a:r>
          </a:p>
          <a:p>
            <a:r>
              <a:t>(a) por ocasião das Amortizações e dos resgates, nos termos deste Regulamento; (b) por meio da alienação de suas Cotas no mercado secundário; ou (c) na liquidação antecipada do FUNDO ou da Classe.</a:t>
            </a:r>
          </a:p>
          <a:p>
            <a:r>
              <a:t>Além disso, atualmente, o mercado secundário de cotas de fundos de investimento apresenta baixa liquidez, o que pode dificultar a venda das Cotas ou ocasionar a obtenção de um preço de venda que cause perda de patrimônio ao Cotista. Não há qualquer garantia do Administrador, do Gestor, da consultora ou do Custodiante em relação à possibilidade de venda das Cotas no mercado secundário ou ao preço obtido por elas, ou mesmo garantia de saída ao Cotista.</a:t>
            </a:r>
          </a:p>
          <a:p>
            <a:r>
              <a:t>Riscos específicos</a:t>
            </a:r>
          </a:p>
          <a:p>
            <a:r>
              <a:t>(i)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ficar inadimplente e, consequentemente, não haverá repasse à Classe do respectivo Direito Creditório, o que poderá resultar em perdas f inanceiras à Classe e aos Cotistas. Para os f ins deste Regulamento, “Empregador” signif ica a empresa com qual o Devedor mantém vínculo empregatício registrado junto à CTPS.</a:t>
            </a:r>
          </a:p>
          <a:p>
            <a:r>
              <a:t>(ii) Risco do Empregador não efetuar o desconto em folha: o repasse dos recursos oriundos dos Direitos Creditórios à Classe depende da realização, pelo Empregador, da escrituração da Consignação a ser</a:t>
            </a:r>
          </a:p>
          <a:p>
            <a:r>
              <a:t>CNPJ 62552447000120 · Duração e público-alvo · Regulamento · ID 1200623 · 2026-05-21 · versão 1 · p. 1 · 1.3 · https://fnet.bmfbovespa.com.br/fnet/publico/visualizarDocumento?id=1200623</a:t>
            </a:r>
          </a:p>
          <a:p>
            <a:r>
              <a:t>CNPJ 62552447000120 · Duração e público-alvo · Excerto da fonte:</a:t>
            </a:r>
          </a:p>
          <a:p>
            <a:r>
              <a:t>1.3 Durante o seu prazo de duração, o Fundo, por ato conjunto dos Prestadores de Serviços Essenciais,  poderá constituir diferentes Classes e Subclasses , sendo que cada Classe terá patrimônio segregado e</a:t>
            </a:r>
          </a:p>
          <a:p>
            <a:r>
              <a:t>CNPJ 62552447000120 · Duração e público-alvo · Condição: Documentos atuais selecionados no inventário por categoria/escopo; a data documental isolada não comprova vigência jurídica.</a:t>
            </a:r>
          </a:p>
          <a:p>
            <a:r>
              <a:t>CNPJ 62552447000120 · Duração e público-alvo · Versão e prevalência: Documentos atuais selecionados no inventário por categoria/escopo; a data documental isolada não comprova vigência jurídica.</a:t>
            </a:r>
          </a:p>
          <a:p>
            <a:r>
              <a:t>CNPJ 62552447000120 · Duração e público-alvo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"duration_investors", "total_count": 1, "preview_count": 1, "full_text_deferred": true, "sha256": "d95db8c0613d67ee84118c734588665265ea6b02f86a0318d6a844cbe1d0f82f"}}</a:t>
            </a:r>
          </a:p>
          <a:p>
            <a:r>
              <a:t>CNPJ 63953620000165 · Duração e público-alvo · Anexo ao Regulamento · ID 1222863 · 2026-06-02 · versão 1 · p. 2 · https://fnet.bmfbovespa.com.br/fnet/publico/visualizarDocumento?id=1222863</a:t>
            </a:r>
          </a:p>
          <a:p>
            <a:r>
              <a:t>CNPJ 63953620000165 · Duração e público-alvo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Duração e público-alvo · Anexo ao Regulamento · ID 1222863 · 2026-06-02 · versão 1 · p. 1 · 1.1 · https://fnet.bmfbovespa.com.br/fnet/publico/visualizarDocumento?id=1222863</a:t>
            </a:r>
          </a:p>
          <a:p>
            <a:r>
              <a:t>CNPJ 63953620000165 · Duração e público-alvo · Excerto da fonte:</a:t>
            </a:r>
          </a:p>
          <a:p>
            <a:r>
              <a:t>1.1 As principais características da Classe Consignado Privado (para fins deste Anexo, “Classe”) estão descritas  abaixo:</a:t>
            </a:r>
          </a:p>
          <a:p>
            <a:r>
              <a:t> Tipo de Condomínio Fechado.</a:t>
            </a:r>
          </a:p>
          <a:p>
            <a:r>
              <a:t> Indeterminado, exceto se de outra forma vier a ser deliberado pelos Cotistas  Prazo de Duração  reunidos em Assembleia Especial de Cotistas. (“Prazo de Duração”)  Tipo “Financeiro”.</a:t>
            </a:r>
          </a:p>
          <a:p>
            <a:r>
              <a:t> Classificação ANBIMA  Foco de atuação “Créditos Consignados”.</a:t>
            </a:r>
          </a:p>
          <a:p>
            <a:r>
              <a:t> O objetivo da classe é proporcionar aos seus Cotistas a valorização de suas Cotas  por meio da aplicação de seu Patrimônio Líquido (conforme definido abaixo) na  aquisição de: (i) “Direitos Creditórios Crédito Consignado”, representados por  cédula de crédito bancário regida pela Lei nº 10.931, emitida eletronicamente por  um devedor em favor do endossante (“CCB”) e, consequentemente, os recebíveis  decorrente de cada uma das parcelas vincendas, representando um empréstimo  consignado concedido pelo endossante ao devedor, e cujo pagamento ordinário  é feito por desconto de cada prestação vincenda de uma CCB na folha de  pagamentos do devedor (“Consignação”), efetuada pela Caixa Econômica  Federal, de acordo com a legislação aplicável e em conformidade com os  procedimentos estabelecidos no convênio celebrado entre o Endossante e a  Empresa de Tecnologia e Informações da Previdência – DATAPREV e paga na  Conta Vinculada do Endossante (“Convênio Consignado Privado”); e/ou (ii)  “Direitos Creditórios TVM”, representados por direitos, títulos e/ou valores  mobiliários representativos de créditos originados no âmbito de operações de  sociedades integrantes do conglomerado econômico de instituições financeiras  classificadas como S1 pelo BACEN, desde que não representem títulos de  emissão ou coobrigação de instituições financeiras, bem como cotas de fundos  de investimento que invistam preponderantemente nestes direitos, títulos e/ou  Objetivo  valores mobiliários (Direitos Creditórios TVM quando referidos em conjunto  com os Direitos Creditórios Consignado Privado, “Direitos Creditórios”)  observados todos os limites de composição e diversificação da carteira da Classe  (“Carteira”), estabelecidos neste Regulamento e na regulamentação aplicável.</a:t>
            </a:r>
          </a:p>
          <a:p>
            <a:r>
              <a:t> Subsidiariamente, a parcela do Patrimônio Líquido que não esteja alocada em  Direitos Creditórios poderá estar alocado em: (1) certificados de depósito  bancário (CDB) ou recibos de depósito bancário (RDB) com prazo máximo de  vencimento equivalente ao prazo remanescente do Período de Investimento, com  liquidez diária, emitidos por Parati Crédito, Financiamento e Investimento S.A.</a:t>
            </a:r>
          </a:p>
          <a:p>
            <a:r>
              <a:t> e/ou pelo Endossante (“Ativos de Liquidez MT”); e/ou (2) (i) moeda corrente  nacional; (ii) títulos do Tesouro SELIC, anteriormente denominado letra financeira  do Tesouro Nacional (LFT); (iii) certificados de depósito bancário (CDB) ou recibos  de depósito bancário (RDB) com prazo máximo de vencimento equivalente ao  prazo remanescente do Período de Investimento, com liquidez diária, emitidos  por (a) Itaú Unibanco S.A.; (b) Banco Bradesco S.A.; (c) Caixa Econômica Federal;</a:t>
            </a:r>
          </a:p>
          <a:p>
            <a:r>
              <a:t> (d) Banco do Brasil S.A.; (e) Banco Santander (Brasil) S.A.; (f) Banco BTG Pactual  S.A.; (g) Banco Sistema S.A. (“Instituições Autorizadas”); (iv) operações  compromissadas, desde que lastreadas nos títulos mencionados nas alíneas (i) a</a:t>
            </a:r>
          </a:p>
          <a:p>
            <a:r>
              <a:t> (iii) acima, emitidas por Instituições Autorizadas, com liquidez diária e vencimento</a:t>
            </a:r>
          </a:p>
          <a:p>
            <a:r>
              <a:t>CNPJ 63953620000165 · Duração e público-alvo · Anexo ao Regulamento · ID 1222863 · 2026-06-02 · versão 1 · p. 10 · 6.7.1 · https://fnet.bmfbovespa.com.br/fnet/publico/visualizarDocumento?id=1222863</a:t>
            </a:r>
          </a:p>
          <a:p>
            <a:r>
              <a:t>CNPJ 63953620000165 · Duração e público-alvo · Excerto da fonte:</a:t>
            </a:r>
          </a:p>
          <a:p>
            <a:r>
              <a:t>6.7.1 As Chamadas de Capital para a realização de investimentos serão realizadas a qualquer momento  durante o Período de Investimento e estarão limitadas ao valor do capital subscrito de cada Cotista. As  Chamadas de Capital para o pagamento de despesas e encargos do Fundo, com exceção de despesas  relacionadas à instrumentos de derivativos e/ou Encargos não previstos no âmbito deste regulamento,  poderão ser realizadas a qualquer momento durante o Prazo de Duração, mas não estarão limitadas ao  valor do capital subscrito de cada Cotista.</a:t>
            </a:r>
          </a:p>
          <a:p>
            <a:r>
              <a:t>CNPJ 63953620000165 · Duração e público-alvo · Condição: Documentos atuais selecionados no inventário por categoria/escopo; a data documental isolada não comprova vigência jurídica.</a:t>
            </a:r>
          </a:p>
          <a:p>
            <a:r>
              <a:t>CNPJ 63953620000165 · Duração e público-alvo · Versão e prevalência: Documentos atuais selecionados no inventário por categoria/escopo; a data documental isolada não comprova vigência jurídica.</a:t>
            </a:r>
          </a:p>
          <a:p>
            <a:r>
              <a:t>CNPJ 63953620000165 · Duração e público-alvo · Resumo do histórico: {"count": 8, "dates": ["2026-04-28", "2026-05-08", "2026-05-15"], "document_count": 3, "sources": [{"document_id": "1327859", "title": "Demonstrações Financeiras - Fusão, cisão e incorporação", "reference_date": "2026-05-15", "version": "1", "page": 9, "url": "https://fnet.bmfbovespa.com.br/fnet/publico/visualizarDocumento?id=1327859", "sha256": "dca1c68babb97f887528c3e2e47596a9c30f507b067981a35655b2f2da9c8054"}, {"document_id": "1298691", "title": "Demonstrações Financeiras - Fusão, cisão e incorporação", "reference_date": "2026-05-08", "version": "1", "page": 9, "url": "https://fnet.bmfbovespa.com.br/fnet/publico/visualizarDocumento?id=1298691", "sha256": "58c570d9b8d4d265330d3db3ea81c435b8e44a6dab4002aa37790652a1ee9819"}, {"document_id": "1282180", "title": "Demonstrações Financeiras - Fusão, cisão e incorporação", "reference_date": "2026-04-28", "version": "1", "page": 9, "url": "https://fnet.bmfbovespa.com.br/fnet/publico/visualizarDocumento?id=1282180", "sha256": "afaaa0e6809be4385e5bdb6c911aac582032c5bdbac3d7750234bf9eaf00438a"}], "reference": {"path": "history/63953620000165.json", "criterion_id": "duration_investors",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Alocação e perímetro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Alocação mínima · Base da comparação IME: {"criterion_id": "allocation", "observed_value": 91.84981349574433, "unit": "percent", "competence": "08/2026", "status": "not_comparable", "reason": "Vigência efetiva não comprovada; data do documento isolada não certifica enquadramento histórico.", "formula": "credit_rights / net_asset_value × 100",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50.0}</a:t>
            </a:r>
          </a:p>
          <a:p>
            <a:r>
              <a:t>CNPJ 54871427000194 · Alocação mínima · Regulamento · ID 670691 · 28/04/2024 · versão Regulamento — referência 28/04/2024 · p. 11 · Anexo I, 4.9 · https://fnet.bmfbovespa.com.br/fnet/publico/visualizarDocumento?id=670691</a:t>
            </a:r>
          </a:p>
          <a:p>
            <a:r>
              <a:t>CNPJ 54871427000194 · Alocação mínima · Excerto da fonte:</a:t>
            </a:r>
          </a:p>
          <a:p>
            <a:r>
              <a:t>4.9 Decorridos 180 (cento e oitenta) dias da Data da 1ª Integralização de Cotas, a Classe deverá manter alocado, no mínimo, 50% (cinquenta por cento) do seu Patrimônio Líquido em Direitos Creditórios . 4.10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4.11 A Classe poderá, direta ou indiretamente e, nos termos da legislação aplicável: (i) adquirir Direitos Creditórios que sejam cedidos e/ou originados pelo ADMINISTRADOR e/ou pelo GESTOR, ou partes a eles relacionadas, tal como definidas pelas regras contábeis que tratam desse assunto; e (ii) ceder Direitos Creditórios a qualquer das pessoas, fundos de investimento ou entidades referidas n</a:t>
            </a:r>
          </a:p>
          <a:p>
            <a:r>
              <a:t>CNPJ 54871427000194 · Alocação mínima · Mecânica: {"operator": "&gt;=", "limit": 50.0, "unit": "percent", "numerator": "credit_rights", "denominator": "net_asset_value", "frequency": "daily", "layer": "54871427000194", "document_date": "2024-04-28", "effective_status": "document_date_only", "initial_days": 180}</a:t>
            </a:r>
          </a:p>
          <a:p>
            <a:r>
              <a:t>CNPJ 54871427000194 · Alocação mínima · Versão e prevalência: Leitura específica das cláusulas indicadas; condições e conflitos preservados. Seleção documental atual não comprova vigência jurídica por data isolada.</a:t>
            </a:r>
          </a:p>
          <a:p>
            <a:r>
              <a:t>CNPJ 54871427000194 · Alocação mínima · Resumo do histórico: {"count": 2, "dates": ["2024-04-19", "2024-04-28"], "document_count": 2, "sources": [{"document_id": "670691", "title": "Regulamento", "reference_date": "2024-04-28", "version": "1", "page": "11", "url": "https://fnet.bmfbovespa.com.br/fnet/publico/visualizarDocumento?id=670691", "sha256": "bf16dd7f1a62d5cdbf2e2d54fef81783783f7310fbc99c3a8f00459bdf9d037b"}, {"document_id": "670689", "title": "Regulamento", "reference_date": "2024-04-19", "version": "1", "page": 11, "clause": "4.9", "url": "https://fnet.bmfbovespa.com.br/fnet/publico/visualizarDocumento?id=670689", "sha256": "891bc9bc5d87bbc02ec139077a84d2702eb81ea02035fb71d24f5b8366b94a0b"}], "reference": {"path": "history/54871427000194.json", "criterion_id": "allocation", "total_count": 2, "preview_count": 2, "full_text_deferred": true, "sha256": "35d7cd99be50c7287c9fb675cf4f2e736002315295a225a9efa79c8d9186d874"}}</a:t>
            </a:r>
          </a:p>
          <a:p>
            <a:r>
              <a:t>CNPJ 60010416000112 · Alocação mínima · Base da comparação IME: {"criterion_id": "allocation", "observed_value": 117.78665480900618, "unit": "percent", "competence": "08/2026", "status": "not_comparable", "reason": "Vigência efetiva não comprovada; data do documento isolada não certifica enquadramento histórico.", "formula": "credit_rights / net_asset_value × 100",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50.0}</a:t>
            </a:r>
          </a:p>
          <a:p>
            <a:r>
              <a:t>CNPJ 60010416000112 · Alocação mínima · Regulamento · ID 1051393 · 09/10/2025 · versão Regulamento09/10/2025 · p. 11 · AnexoI4.6 · https://fnet.bmfbovespa.com.br/fnet/publico/visualizarDocumento?id=1051393</a:t>
            </a:r>
          </a:p>
          <a:p>
            <a:r>
              <a:t>CNPJ 60010416000112 · Alocação mínima · Excerto da fonte:</a:t>
            </a:r>
          </a:p>
          <a:p>
            <a:r>
              <a:t>4.6 Decorridos 180 (cento e oitenta) dias do início de suas atividades, a Classe deverá manter alocado, no mínimo: para f ins tributários, 67% (sessenta e sete por cento) do seu Patrimônio Líquido em Direitos Creditórios, nos termos da Resolução CMN 5.111; e para fins regulatórios, 50% (cinquenta por cento) do seu Patrimônio Líquido em Direitos Creditórios, nos termos da Resolução CVM 175. BTG Pactual SAC: 0800 772 28 27 - Ouvidoria: 0800 722 00 48 - btgpactual.com 11</a:t>
            </a:r>
          </a:p>
          <a:p>
            <a:r>
              <a:t>CNPJ 60010416000112 · Alocação mínima · Mecânica: {"operator": "&gt;=", "unit": "percent", "denominator": "net_asset_value", "frequency": "not_stated", "layer": "class", "effective_status": "document_date_only", "document_date": "2025-10-09", "numerator": "credit_rights", "limit": 50.0, "requires_initial_date": true}</a:t>
            </a:r>
          </a:p>
          <a:p>
            <a:r>
              <a:t>CNPJ 60010416000112 · Alocação mínima · Versão e prevalência: Leitura específica das cláusulas indicadas; condições e conflitos preservados. Seleção documental atual não comprova vigência jurídica por data isolada.</a:t>
            </a:r>
          </a:p>
          <a:p>
            <a:r>
              <a:t>CNPJ 60010416000112 · Alocação mínima · Resumo do histórico: {"count": 2, "dates": ["2025-03-20", "2025-10-09"], "document_count": 2, "sources": [{"document_id": "1051393", "title": "Regulamento", "reference_date": "2025-10-09", "version": "1", "page": "11", "url": "https://fnet.bmfbovespa.com.br/fnet/publico/visualizarDocumento?id=1051393", "sha256": "8469d613078ffd5a6c1d217885d8a397a16342c0b937ae4aa24b106505f233ae"}, {"document_id": "993786", "title": "Regulamento", "reference_date": "2025-03-20", "version": "1", "page": 6, "clause": "5.3", "url": "https://fnet.bmfbovespa.com.br/fnet/publico/visualizarDocumento?id=993786", "sha256": "fd0fdd369a195510d81f81f505195a0b09e5f43522a990afa7d58c4f872921c8"}], "reference": {"path": "history/60010416000112.json", "criterion_id": "allocation", "total_count": 2, "preview_count": 2, "full_text_deferred": true, "sha256": "8e2bd813f4c51cf01f6bfaad164bafe69d2bbb192f753eac92da3a01c2e63046"}}</a:t>
            </a:r>
          </a:p>
          <a:p>
            <a:r>
              <a:t>CNPJ 62696791000193 · Alocação mínima · Base da comparação IME: {"criterion_id": "allocation", "observed_value": null, "unit": "percent", "competence": "08/2026", "status": "not_comparable", "reason": "Operador, unidade, numerador ou base contratual sem correspondência exata no IME; proxies de PL/ativos não são intercambiáveis. CPR declarada no FIAGRO não comprova elegibilidade individual nem correspondência integral com a definição contratual de direitos creditórios do agronegócio.",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51.0, "comparison_required": true, "context_value": 99.72659520720684, "context_unit": "percent", "context_formula": "CPR / PL (rubrica declarada no FIAGRO)"}</a:t>
            </a:r>
          </a:p>
          <a:p>
            <a:r>
              <a:t>CNPJ 62696791000193 · Alocação mínima · Regulamento · ID 1143317 · 20/03/2026 · versão Regulamento — referência 20/03/2026 · p. 10 · Anexo I, 4.2 · https://fnet.bmfbovespa.com.br/fnet/publico/visualizarDocumento?id=1143317</a:t>
            </a:r>
          </a:p>
          <a:p>
            <a:r>
              <a:t>CNPJ 62696791000193 · Alocação mínima · Excerto da fonte:</a:t>
            </a:r>
          </a:p>
          <a:p>
            <a:r>
              <a:t>4.2 Decorridos 180 (cento e oitenta) dias do início de suas atividades, a Classe deverá possuir parcela mínima de 51% (cinquenta e um por cento) de seu Patrimônio Líquido representados por Direitos Creditórios do Agronegócio, enquanto a parcela de 49% (quarenta e nove por cento) remanescente deverá ser alocada em Outros Ativos ou Ativos Financeiros de Liquidez. 4.3 Os Direitos Creditórios do Agronegócio serão adquiridos integral ou parcialmente, sempre de acordo com a Política de Investimentos. 4.4 Tendo em vista (i) a natureza variada dos Direitos Creditórios do Agronegócio passíveis de aquisição pela Classe; (ii) a amplitude da Política de Investimentos; e (iii) a potencial diversificação de Cedentes/Endossantes e Devedores, não é possível precisar os processos de origem dos Direitos Creditórios do Agronegócio e as políticas de concessão de crédito adotadas pelos Cedentes/Endossantes. 4.5 Os Direitos Creditórios do Agronegócio deverão contar com toda a documentação necessária para o exercício das prerrogativas decorrentes da titularidade dos ativos, e capaz de comprovar a origem, a existência e a exigibilidade dos Direitos Creditórios do Agronegócio (“Documentos Comprobatórios”)</a:t>
            </a:r>
          </a:p>
          <a:p>
            <a:r>
              <a:t>CNPJ 62696791000193 · Alocação mínima · AGE · ID 1143319 · 20/03/2026 10:00 · versão AGE — referência 20/03/2026 10:00 · p. 3 · AGC 20/03/2026, 4.1(j)–(k) · https://fnet.bmfbovespa.com.br/fnet/publico/visualizarDocumento?id=1143319</a:t>
            </a:r>
          </a:p>
          <a:p>
            <a:r>
              <a:t>CNPJ 62696791000193 · Alocação mínima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Alocação mínima · Condição: Vigente a partir do fechamento de 23/03/2026. O agregado genérico de direitos do IME não comprova, sozinho, a natureza agronegócio de todos os ativos nem a conclusão da carência inicial.</a:t>
            </a:r>
          </a:p>
          <a:p>
            <a:r>
              <a:t>CNPJ 62696791000193 · Alocação mínima · Mecânica: {"operator": "&gt;=", "limit": 51.0, "unit": "percent", "numerator": "agribusiness_credit_rights", "denominator": "net_asset_value", "frequency": "daily", "layer": "62696791000193", "effective_from": "2026-03-23", "effective_status": "explicit_assembly_effective_date", "initial_days": 180, "initial_date": null}</a:t>
            </a:r>
          </a:p>
          <a:p>
            <a:r>
              <a:t>CNPJ 62696791000193 · Alocação mínima · Versão e prevalência: Leitura específica das cláusulas indicadas; condições e conflitos preservados. Seleção documental atual não comprova vigência jurídica por data isolada.</a:t>
            </a:r>
          </a:p>
          <a:p>
            <a:r>
              <a:t>CNPJ 55563624000109 · Alocação mínima · Base da comparação IME: {"criterion_id": "allocation", "observed_value": 99.87020304792446, "unit": "percent", "competence": "08/2026", "status": "not_comparable", "reason": "Vigência efetiva não comprovada; data do documento isolada não certifica enquadramento histórico.", "formula": "fidc_quotas / net_asset_value × 100",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67.0}</a:t>
            </a:r>
          </a:p>
          <a:p>
            <a:r>
              <a:t>CNPJ 55563624000109 · Alocação mínima · Regulamento · ID 1192614 · 30/04/2026 · versão Regulamento30/04/2026 · p. 13 · AnexoI4.10 · https://fnet.bmfbovespa.com.br/fnet/publico/visualizarDocumento?id=1192614</a:t>
            </a:r>
          </a:p>
          <a:p>
            <a:r>
              <a:t>CNPJ 55563624000109 · Alocação mínima · Excerto da fonte:</a:t>
            </a:r>
          </a:p>
          <a:p>
            <a:r>
              <a:t>4.10 Decorridos 180 (cento e oitenta) dias da Data da 1ª Integralização da Classe, a Classe deverá manter alocado, no mínimo, 67% (sessenta e sete por cento) do seu Patrimônio Líquido em Cotas da Classe Investida. 4.11 Nos termos dos artigos 45, parágrafo 7º, e 47 parágrafo único do Anexo Normativo II à Resolução CVM 175, uma vez que as Cotas são destinadas exclusivamente a Investidores Profissionais, a Classe poderá ter até 100% (cem por cento) de seu Patrimônio Líquido alocado em Cotas da Classe Investida, as quais são emitidas pela Classe Investida.</a:t>
            </a:r>
          </a:p>
          <a:p>
            <a:r>
              <a:t>CNPJ 55563624000109 · Alocação mínima · Regulamento · ID 1192614 · 30/04/2026 · versão Regulamento30/04/2026 · p. 12 · AnexoI4.9 · https://fnet.bmfbovespa.com.br/fnet/publico/visualizarDocumento?id=1192614</a:t>
            </a:r>
          </a:p>
          <a:p>
            <a:r>
              <a:t>CNPJ 55563624000109 · Alocação mínima · Excerto da fonte:</a:t>
            </a:r>
          </a:p>
          <a:p>
            <a:r>
              <a:t>4.9 A parcela do Patrimônio Líquido que não estiver alocada em Cotas da Classe Investida será necessariamente alocada em Ativos Financeiros de Liquidez. BTG Pactual SAC: 0800 772 28 27 - Ouvidoria: 0800 722 00 48 - btgpactual.com 5</a:t>
            </a:r>
          </a:p>
          <a:p>
            <a:r>
              <a:t>CNPJ 55563624000109 · Alocação mínima · Mecânica: {"operator": "&gt;=", "limit": 67.0, "unit": "percent", "numerator": "fidc_quotas", "denominator": "net_asset_value", "frequency": "not_stated", "layer": "class", "effective_status": "document_date_only", "document_date": "2026-04-30", "requires_initial_date": true}</a:t>
            </a:r>
          </a:p>
          <a:p>
            <a:r>
              <a:t>CNPJ 55563624000109 · Alocação mínima · Versão e prevalência: Leitura específica das cláusulas indicadas; condições e conflitos preservados. Seleção documental atual não comprova vigência jurídica por data isolada.</a:t>
            </a:r>
          </a:p>
          <a:p>
            <a:r>
              <a:t>CNPJ 55563624000109 · Alocação mínima · Resumo do histórico: {"count": 1, "dates": ["2026-04-30"], "document_count": 1, "sources": [{"document_id": "1192614", "title": "Regulamento", "reference_date": "2026-04-30", "version": "1", "page": "11-13", "url": "https://fnet.bmfbovespa.com.br/fnet/publico/visualizarDocumento?id=1192614", "sha256": "f56e63ace0acde41d2f47fb48f1ac7f3f7df5e2d32de092d7c5e075a52516632"}], "reference": {"path": "history/55563624000109.json", "criterion_id": "allocation", "total_count": 1, "preview_count": 1, "full_text_deferred": true, "sha256": "7835d573fb58a3c19adf5b8ecc2aee2bdbb9a88f7a0c0209b5f262b64c7522e3"}}</a:t>
            </a:r>
          </a:p>
          <a:p>
            <a:r>
              <a:t>CNPJ 62552447000120 · Alocação mínima · Base da comparação IME: {"criterion_id": "allocation", "observed_value": 104.36099466414683, "unit": "percent", "competence": "08/2026", "status": "not_comparable", "reason": "Vigência efetiva não comprovada; data do documento isolada não certifica enquadramento histórico.", "formula": "credit_rights / net_asset_value × 100",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50.0}</a:t>
            </a:r>
          </a:p>
          <a:p>
            <a:r>
              <a:t>CNPJ 62552447000120 · Alocação mínima · Regulamento · ID 1200623 · 21/05/2026 · versão Consolidado21/05/2026 aprovado pelo ato1200625 · p. 14 · AnexoI4.9 · https://fnet.bmfbovespa.com.br/fnet/publico/visualizarDocumento?id=1200623</a:t>
            </a:r>
          </a:p>
          <a:p>
            <a:r>
              <a:t>CNPJ 62552447000120 · Alocação mínima · Excerto da fonte:</a:t>
            </a:r>
          </a:p>
          <a:p>
            <a:r>
              <a:t>4.9 Decorridos 180 (cento e oitenta) dias da Data da Primeira Integralização, a Classe deverá manter alocados em Direitos Creditórios, no mínimo, para fins tributários, 67% (sessenta e sete por cento) do seu Patrimônio Líquido, nos termos da Lei 14.754 e da Resolução CMN 5.111, e, para fins regulatórios, 50% (cinquenta por cento) do seu Patrimônio Líquido, nos termos da Resolução CVM 175. Eventual desenquadramento da Carteira obrigará o Gestor aos procedimentos de desenquadramento e reenquadramento previstos na Lei 14.754 e na Resolução CMN 5.111, para f ins tributários, e na Resolução CVM 175, par</a:t>
            </a:r>
          </a:p>
          <a:p>
            <a:r>
              <a:t>CNPJ 62552447000120 · Alocação mínima · Mecânica: {"operator": "&gt;=", "unit": "percent", "numerator": "credit_rights", "denominator": "net_asset_value", "frequency": "not_stated", "layer": "class", "effective_status": "document_date_only", "document_date": "2026-05-21", "requires_initial_date": true, "limit": 50.0}</a:t>
            </a:r>
          </a:p>
          <a:p>
            <a:r>
              <a:t>CNPJ 62552447000120 · Alocação mínima · Versão e prevalência: Leitura específica das cláusulas indicadas; condições e conflitos preservados. Seleção documental atual não comprova vigência jurídica por data isolada.</a:t>
            </a:r>
          </a:p>
          <a:p>
            <a:r>
              <a:t>CNPJ 63953620000165 · Alocação mínima · Base da comparação IME: {"criterion_id": "allocation", "observed_value": 93.29241106598856, "unit": "percent", "competence": "08/2026", "status": "not_comparable", "reason": "Vigência efetiva não comprovada; data do documento isolada não certifica enquadramento histórico.", "formula": "credit_rights / net_asset_value × 100",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50.0}</a:t>
            </a:r>
          </a:p>
          <a:p>
            <a:r>
              <a:t>CNPJ 63953620000165 · Alocação mínima · Anexo ao Regulamento · ID 1222863 · 02/06/2026 · versão AnexoConsignadoPrivado02/06/2026 · p. 6 · 4.13 · https://fnet.bmfbovespa.com.br/fnet/publico/visualizarDocumento?id=1222863</a:t>
            </a:r>
          </a:p>
          <a:p>
            <a:r>
              <a:t>CNPJ 63953620000165 · Alocação mínima · Excerto da fonte:</a:t>
            </a:r>
          </a:p>
          <a:p>
            <a:r>
              <a:t>4.13 Decorridos 180 (cento e oitenta) dias do início de suas atividades, a Classe deverá manter alocado, no mínimo, para fins tributários, 67% (sessenta e sete por cento) do seu Patrimônio Líquido em Direitos Creditórios, nos termos da Resolução CMN 5.111, e para fins regulatórios, 50% (cinquenta por cento) do seu Patrimônio Líquido em Direitos Creditórios, nos termos da Resolução CVM 175. 4.14 Nos termos do Art. 45, §7º, inciso II, do Anexo Normativo II da Resolução CVM 175, a Classe poderá ter até 100% (cem por cento) de seu Patrimônio Líquido alocado em Direitos Creditórios, derivativos, observado o disposto nest</a:t>
            </a:r>
          </a:p>
          <a:p>
            <a:r>
              <a:t>CNPJ 63953620000165 · Alocação mínima · Mecânica: {"operator": "&gt;=", "unit": "percent", "denominator": "net_asset_value", "frequency": "not_stated", "layer": "class", "effective_status": "document_date_only", "document_date": "2026-06-02", "limit": 50.0, "numerator": "credit_rights", "requires_initial_date": true}</a:t>
            </a:r>
          </a:p>
          <a:p>
            <a:r>
              <a:t>CNPJ 63953620000165 · Alocação mínima · Versão e prevalência: Leitura específica das cláusulas indicadas; condições e conflitos preservados. Seleção documental atual não comprova vigência jurídica por data isolada.</a:t>
            </a:r>
          </a:p>
          <a:p>
            <a:r>
              <a:t>CNPJ 54871427000194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null, "comparison_required": true, "context_formula": "Direitos creditórios / PL", "context_value": 91.84981349574433, "context_unit": "percent"}</a:t>
            </a:r>
          </a:p>
          <a:p>
            <a:r>
              <a:t>CNPJ 54871427000194 · Alocação para tratamento tributário · Regulamento · ID 670691 · 2024-04-28 · versão 1 · p. 5 · https://fnet.bmfbovespa.com.br/fnet/publico/visualizarDocumento?id=670691</a:t>
            </a:r>
          </a:p>
          <a:p>
            <a:r>
              <a:t>CNPJ 54871427000194 · Alocação para tratamento tributário · Excerto da fonte:</a:t>
            </a:r>
          </a:p>
          <a:p>
            <a:r>
              <a:t>Os rendimentos auf eridos pelo cotista do FUNDO estarão sujeitos à tributação pelo IR, à alíquota de  15% (quinze por cento), na data da distribuição de rendimentos ou d a amortização de cotas,  considerando que o FUNDO seja classificado como entidade de investimento e cumpra os critérios de  composição da carteira com, no mínimo, 67% (sessenta e sete por cento) de direitos creditórios de  acordo com a Lei nº 14.754, de 12 de dezembro de 2023 (“Lei 14.754”) e a Resolução do Conselho  Monetário Nacional nº 5.111, de 21 de dezembro de 2023 (“Resolução CMN 5.111”).</a:t>
            </a:r>
          </a:p>
          <a:p>
            <a:r>
              <a:t>CNPJ 54871427000194 · Alocação para tratamento tributário · Regulamento · ID 670691 · 2024-04-28 · versão 1 · p. 5 · https://fnet.bmfbovespa.com.br/fnet/publico/visualizarDocumento?id=670691</a:t>
            </a:r>
          </a:p>
          <a:p>
            <a:r>
              <a:t>CNPJ 54871427000194 · Alocação para tratamento tributário · Excerto da fonte:</a:t>
            </a:r>
          </a:p>
          <a:p>
            <a:r>
              <a:t>A GESTORA do FUNDO buscará manter o cumprimento do requisito de composição da carteira do  FUNDO com, no mínimo 67% (sessenta e sete por cento) em direitos creditórios acima comentados.</a:t>
            </a:r>
          </a:p>
          <a:p>
            <a:r>
              <a:t> Todavia, caso a composição mínima do patrimônio líquido do FUNDO não seja atingida e ocorra o  ef etivo desenquadramento tributário da carteira, os cotistas pessoa f ísica ou jurídica residentes no  Brasil passarão a se sujeitar à regra geral de tributação de fundos, conforme previsto no art. 17 da Lei</a:t>
            </a:r>
          </a:p>
          <a:p>
            <a:r>
              <a:t> 14.754, segundo a qual: (1) haverá incidência periódica de IR todo mês de maio e novembro de cada  ano-calendário sobre os rendimentos auferidos pelo cotista em relação ao investimento nas cotas do  FUNDO, à alíquota de 15% (quinze por cento) ou 20% (vinte por cento), a depender da carteira do  FUNDO ser classificada, respectivamente, como de curto ou longo prazo; e (2) haverá incidência de IR  complementar, conforme alíquotas regressivas que variam de 22,5% (vinte e dois e meio por cento) a  15% (quinze por cento) a depender do prazo de aplicação, por ocasião da amortização ou liquidação  das Cotas do FUNDO. Certos tipos de investidor podem se benef iciar de alíquotas dif erenciadas.</a:t>
            </a:r>
          </a:p>
          <a:p>
            <a:r>
              <a:t>CNPJ 54871427000194 · Alocação para tratamento tributário · Condição: Documentos atuais selecionados no inventário por categoria/escopo; a data documental isolada não comprova vigência jurídica.</a:t>
            </a:r>
          </a:p>
          <a:p>
            <a:r>
              <a:t>CNPJ 54871427000194 · Alocação para tratamento tributário · Versão e prevalência: Documentos atuais selecionados no inventário por categoria/escopo; a data documental isolada não comprova vigência jurídica.</a:t>
            </a:r>
          </a:p>
          <a:p>
            <a:r>
              <a:t>CNPJ 54871427000194 · Alocação para tratamento tributário · Resumo do histórico: {"count": 1, "dates": ["2024-04-19"], "document_count": 1, "sources": [{"document_id": "670689", "title": "Regulamento", "reference_date": "2024-04-19", "version": "1", "page": 5, "url": "https://fnet.bmfbovespa.com.br/fnet/publico/visualizarDocumento?id=670689", "sha256": "891bc9bc5d87bbc02ec139077a84d2702eb81ea02035fb71d24f5b8366b94a0b"}], "reference": {"path": "history/54871427000194.json", "criterion_id": "tax_allocation", "total_count": 1, "preview_count": 1, "full_text_deferred": true, "sha256": "35d7cd99be50c7287c9fb675cf4f2e736002315295a225a9efa79c8d9186d874"}}</a:t>
            </a:r>
          </a:p>
          <a:p>
            <a:r>
              <a:t>CNPJ 60010416000112 · Alocação para tratamento tributário · Base da comparação IME: {"criterion_id": "tax_allocation", "observed_value": 117.78665480900618, "unit": "percent", "competence": "08/2026", "status": "not_comparable", "reason": "Vigência efetiva não comprovada; data do documento isolada não certifica enquadramento histórico.", "formula": "credit_rights / net_asset_value × 100",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67.0}</a:t>
            </a:r>
          </a:p>
          <a:p>
            <a:r>
              <a:t>CNPJ 60010416000112 · Alocação para tratamento tributário · Regulamento · ID 1051393 · 09/10/2025 · versão Regulamento09/10/2025 · p. 11 · AnexoI4.6 · https://fnet.bmfbovespa.com.br/fnet/publico/visualizarDocumento?id=1051393</a:t>
            </a:r>
          </a:p>
          <a:p>
            <a:r>
              <a:t>CNPJ 60010416000112 · Alocação para tratamento tributário · Excerto da fonte:</a:t>
            </a:r>
          </a:p>
          <a:p>
            <a:r>
              <a:t>4.6 Decorridos 180 (cento e oitenta) dias do início de suas atividades, a Classe deverá manter alocado, no mínimo: para f ins tributários, 67% (sessenta e sete por cento) do seu Patrimônio Líquido em Direitos Creditórios, nos termos da Resolução CMN 5.111; e para fins regulatórios, 50% (cinquenta por cento) do seu Patrimônio Líquido em Direitos Creditórios, nos termos da Resolução CVM 175. BTG Pactual SAC: 0800 772 28 27 - Ouvidoria: 0800 722 00 48 - btgpactual.com 11</a:t>
            </a:r>
          </a:p>
          <a:p>
            <a:r>
              <a:t>CNPJ 60010416000112 · Alocação para tratamento tributário · Mecânica: {"operator": "&gt;=", "unit": "percent", "denominator": "net_asset_value", "frequency": "not_stated", "layer": "class", "effective_status": "document_date_only", "document_date": "2025-10-09", "numerator": "credit_rights", "limit": 67.0, "requires_initial_date": true}</a:t>
            </a:r>
          </a:p>
          <a:p>
            <a:r>
              <a:t>CNPJ 60010416000112 · Alocação para tratamento tributário · Versão e prevalência: Leitura específica das cláusulas indicadas; condições e conflitos preservados. Seleção documental atual não comprova vigência jurídica por data isolada.</a:t>
            </a:r>
          </a:p>
          <a:p>
            <a:r>
              <a:t>CNPJ 60010416000112 · Alocação para tratamento tributário · Resumo do histórico: {"count": 1, "dates": ["2025-03-20"], "document_count": 1, "sources": [{"document_id": "993786", "title": "Regulamento", "reference_date": "2025-03-20", "version": "1", "page": 6, "clause": "5.3", "url": "https://fnet.bmfbovespa.com.br/fnet/publico/visualizarDocumento?id=993786", "sha256": "fd0fdd369a195510d81f81f505195a0b09e5f43522a990afa7d58c4f872921c8"}], "reference": {"path": "history/60010416000112.json", "criterion_id": "tax_allocation", "total_count": 1, "preview_count": 1, "full_text_deferred": true, "sha256": "8e2bd813f4c51cf01f6bfaad164bafe69d2bbb192f753eac92da3a01c2e63046"}}</a:t>
            </a:r>
          </a:p>
          <a:p>
            <a:r>
              <a:t>CNPJ 62696791000193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null, "comparison_required": true, "context_formula": "Direitos creditórios / PL", "context_value": null, "context_unit": "percent"}</a:t>
            </a:r>
          </a:p>
          <a:p>
            <a:r>
              <a:t>CNPJ 62696791000193 · Alocação para tratamento tributário · Regulamento · ID 1143317 · 2026-03-20 · versão 1 · p. 30 · https://fnet.bmfbovespa.com.br/fnet/publico/visualizarDocumento?id=1143317</a:t>
            </a:r>
          </a:p>
          <a:p>
            <a:r>
              <a:t>CNPJ 62696791000193 · Alocação para tratamento tributário · Excerto da fonte:</a:t>
            </a:r>
          </a:p>
          <a:p>
            <a:r>
              <a:t>Os rendimentos distribuídos pela Classe, de modo geral, sujeitam-se à incidência do IRF à alíquota  de 20% (vinte por cento), inclusive quando distribuídos à Cotista que seja pessoa jurídica isenta.</a:t>
            </a:r>
          </a:p>
          <a:p>
            <a:r>
              <a:t> Os ganhos de capital ou rendimentos auf eridos na alienação ou no resgate de cotas da Classe  sujeitam-se à tributação pelo IRF à alíquota de 20% (vinte por cento), no caso de resgate de cotas,  ou conforme normas aplicáveis aos ganhos de capital ou ganhos líquidos auf eridos em renda  variável, nos casos de alienação de cotas.</a:t>
            </a:r>
          </a:p>
          <a:p>
            <a:r>
              <a:t> O IRF pago será considerado: (i) antecipação da tributação corporativa para os investidores pessoa  jurídica (nos regimes de lucro real, presumido ou arbitrado); e (ii) def initivo, nos demais casos,  incluindo de investidores pessoas f ísicas.</a:t>
            </a:r>
          </a:p>
          <a:p>
            <a:r>
              <a:t> Não obstante o disposto no item acima, em conf ormidade com o disposto na Lei 11.033, com a  redação dada pela Lei nº 14.754, o cotista pessoa f ísica f icará isento do IRF e na declaração de  ajuste anual, sobre as distribuições de lucro realizadas pela Classe, exclusivamente na hipótese de  a Classe, cumulativamente: (a) possuir, no mínimo, 100 (cem) cotistas; e (b) as cotas serem  admitidas à negociação exclusivamente em bolsas de valores ou no mercado de balcão organizado.</a:t>
            </a:r>
          </a:p>
          <a:p>
            <a:r>
              <a:t> O benef ício não será concedido ao Cotista que for pessoa física, titular de cotas que representem  10% (dez por cento) ou mais da totalidade das cotas emitidas pela Classe ou cujas cotas lhe derem  direito ao recebimento de rendimento superior a 10% (dez por cento) do total de rendimentos  auf eridos pela Classe.</a:t>
            </a:r>
          </a:p>
          <a:p>
            <a:r>
              <a:t> O benef ício também não será concedido aos Cotistas pessoas físicas que, individualmente ou em  conjunto com parentes até segundo grau, sejam titulares de cotas que representem 30% (trinta por  cento) ou mais da totalidade das cotas emitidas pela Classe, ou ainda cujas cotas lhes derem direito  ao recebimento de rendimento superior a 30% (trinta por cento) do total de rendimentos auf eridos  pela Classe.</a:t>
            </a:r>
          </a:p>
          <a:p>
            <a:r>
              <a:t> Não há garantia de que o benef ício f iscal atualmente vigente não venha a ser posteriormente  restringido, suspenso, revogado ou extinto por legislação superveniente, ocasião na qual poderá vir  a incidir a tributação sobre os rendimentos distribuídos pela Classe, de acordo com os termos da  legislação que vier a estabelecer a incidência tributária.</a:t>
            </a:r>
          </a:p>
          <a:p>
            <a:r>
              <a:t>CNPJ 62696791000193 · Alocação para tratamento tributário · Condição: Documentos atuais selecionados no inventário por categoria/escopo; a data documental isolada não comprova vigência jurídica.</a:t>
            </a:r>
          </a:p>
          <a:p>
            <a:r>
              <a:t>CNPJ 62696791000193 · Alocação para tratamento tributário · Versão e prevalência: Documentos atuais selecionados no inventário por categoria/escopo; a data documental isolada não comprova vigência jurídica.</a:t>
            </a:r>
          </a:p>
          <a:p>
            <a:r>
              <a:t>CNPJ 55563624000109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null, "comparison_required": true, "context_formula": "Direitos creditórios / PL", "context_value": 0.0, "context_unit": "percent"}</a:t>
            </a:r>
          </a:p>
          <a:p>
            <a:r>
              <a:t>CNPJ 55563624000109 · Alocação para tratamento tributário · Regulamento · ID 1192614 · 2026-04-30 · versão 1 · p. 38 · https://fnet.bmfbovespa.com.br/fnet/publico/visualizarDocumento?id=1192614</a:t>
            </a:r>
          </a:p>
          <a:p>
            <a:r>
              <a:t>CNPJ 55563624000109 · Alocação para tratamento tributário · Excerto da fonte:</a:t>
            </a:r>
          </a:p>
          <a:p>
            <a:r>
              <a:t>(xiii) Risco de descaracterização do regime tributário aplicável à Classe. Caso (a) a Classe deixe de  cumprir com o percentual de, pelo menos, 67% (sessenta e sete por cento) do Patrimônio Líquido  aplicado em direitos creditórios, nos termos dos artigos 18, 19 e 24 da Lei 14.754, para fins de  enquadramento do FUNDO e da Classe como “Entidade de Investimento” na forma da Resolução do  CMN nº 5.111, de 21 de dezembro de 2023, conforme alterada, ou qualquer outra norma que venha  a substitui-la, sujeitando o FUNDO e a Classe ao “Regime Específico dos Fundos Não Sujeitos à  Tributação Periódica” conforme a na Seção III da Lei 14.754 ou deixe de satisfazer qualquer uma das  condições previstas na Lei 14.754, neste Anexo e/ou no Regulamento; e/ou (b) o FUNDO ou Classe  deixe de ser enquadrado como “Entidade de Investimento” na forma da Resolução do CMN nº 5.111,  de 21 de dezembro de 2023, ou demais normas do CMN e da CVM, não é possível garantir que o  FUNDO e/ou Classe continuarão a receber o tratamento tributário destinado ao “Regime Específico  dos Fundos Não Sujeitos à Tributação Periódica”, conforme definido na legislação específica.</a:t>
            </a:r>
          </a:p>
          <a:p>
            <a:r>
              <a:t>CNPJ 55563624000109 · Alocação para tratamento tributário · Regulamento · ID 1192614 · 2026-04-30 · versão 1 · p. 6 · https://fnet.bmfbovespa.com.br/fnet/publico/visualizarDocumento?id=1192614</a:t>
            </a:r>
          </a:p>
          <a:p>
            <a:r>
              <a:t>CNPJ 55563624000109 · Alocação para tratamento tributário · Excerto da fonte:</a:t>
            </a:r>
          </a:p>
          <a:p>
            <a:r>
              <a:t>No caso de Fundos de Investimento em Direitos Creditórios (FIDC) classificados como “entidade de investimento” e  cuja carteira seja composta por, no mínimo, 67% (sessenta e sete por cento) de direitos creditórios conforme definições  prescritas em regulamentação expedida pelo Conselho Monetário Nacional, os rendimentos auferidos na amortização  ou no resgate das cotas, inclusive quando decorrentes da liquidação do FUNDO, ficam sujeitos à incidência do IRF à  alíquota de 15% (quinze por cento) sobre a diferença positiva entre o valor de amortização ou resgate e o custo de  aquisição das Cotas.</a:t>
            </a:r>
          </a:p>
          <a:p>
            <a:r>
              <a:t>CNPJ 55563624000109 · Alocação para tratamento tributário · Condição: Documentos atuais selecionados no inventário por categoria/escopo; a data documental isolada não comprova vigência jurídica.</a:t>
            </a:r>
          </a:p>
          <a:p>
            <a:r>
              <a:t>CNPJ 55563624000109 · Alocação para tratamento tributário · Versão e prevalência: Documentos atuais selecionados no inventário por categoria/escopo; a data documental isolada não comprova vigência jurídica.</a:t>
            </a:r>
          </a:p>
          <a:p>
            <a:r>
              <a:t>CNPJ 55563624000109 · Alocação para tratamento tributário · Resumo do histórico: {"count": 2, "dates": ["2025-01-31", "2026-01-31"], "document_count": 2, "sources": [{"document_id": "1178840", "title": "Demonstrações Financeiras", "reference_date": "2026-01-31", "version": "1", "page": 23, "url": "https://fnet.bmfbovespa.com.br/fnet/publico/visualizarDocumento?id=1178840", "sha256": "c458e98664c5c907ddb5a05a94b120bed4e05295b2bfc420f5ba69af0a229abe"}, {"document_id": "891861", "title": "Demonstrações Financeiras", "reference_date": "2025-01-31", "version": "1", "page": 24, "url": "https://fnet.bmfbovespa.com.br/fnet/publico/visualizarDocumento?id=891861", "sha256": "e9cb9e6ddbe505fe068cfcac33605165a98313489de0d3ce6d4d238263c3f3e7"}], "reference": {"path": "history/55563624000109.json", "criterion_id": "tax_allocation", "total_count": 2, "preview_count": 2, "full_text_deferred": true, "sha256": "7835d573fb58a3c19adf5b8ecc2aee2bdbb9a88f7a0c0209b5f262b64c7522e3"}}</a:t>
            </a:r>
          </a:p>
          <a:p>
            <a:r>
              <a:t>CNPJ 62552447000120 · Alocação para tratamento tributário · Base da comparação IME: {"criterion_id": "tax_allocation", "observed_value": 104.36099466414683, "unit": "percent", "competence": "08/2026", "status": "not_comparable", "reason": "Vigência efetiva não comprovada; data do documento isolada não certifica enquadramento histórico.", "formula": "credit_rights / net_asset_value × 100",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67.0}</a:t>
            </a:r>
          </a:p>
          <a:p>
            <a:r>
              <a:t>CNPJ 62552447000120 · Alocação para tratamento tributário · Regulamento · ID 1200623 · 21/05/2026 · versão Consolidado21/05/2026 aprovado pelo ato1200625 · p. 14 · AnexoI4.9 · https://fnet.bmfbovespa.com.br/fnet/publico/visualizarDocumento?id=1200623</a:t>
            </a:r>
          </a:p>
          <a:p>
            <a:r>
              <a:t>CNPJ 62552447000120 · Alocação para tratamento tributário · Excerto da fonte:</a:t>
            </a:r>
          </a:p>
          <a:p>
            <a:r>
              <a:t>4.9 Decorridos 180 (cento e oitenta) dias da Data da Primeira Integralização, a Classe deverá manter alocados em Direitos Creditórios, no mínimo, para fins tributários, 67% (sessenta e sete por cento) do seu Patrimônio Líquido, nos termos da Lei 14.754 e da Resolução CMN 5.111, e, para fins regulatórios, 50% (cinquenta por cento) do seu Patrimônio Líquido, nos termos da Resolução CVM 175. Eventual desenquadramento da Carteira obrigará o Gestor aos procedimentos de desenquadramento e reenquadramento previstos na Lei 14.754 e na Resolução CMN 5.111, para f ins tributários, e na Resolução CVM 175, par</a:t>
            </a:r>
          </a:p>
          <a:p>
            <a:r>
              <a:t>CNPJ 62552447000120 · Alocação para tratamento tributário · Mecânica: {"operator": "&gt;=", "unit": "percent", "numerator": "credit_rights", "denominator": "net_asset_value", "frequency": "not_stated", "layer": "class", "effective_status": "document_date_only", "document_date": "2026-05-21", "requires_initial_date": true, "limit": 67.0}</a:t>
            </a:r>
          </a:p>
          <a:p>
            <a:r>
              <a:t>CNPJ 62552447000120 · Alocação para tratamento tributário · Versão e prevalência: Leitura específica das cláusulas indicadas; condições e conflitos preservados. Seleção documental atual não comprova vigência jurídica por data isolada.</a:t>
            </a:r>
          </a:p>
          <a:p>
            <a:r>
              <a:t>CNPJ 63953620000165 · Alocação para tratamento tributário · Base da comparação IME: {"criterion_id": "tax_allocation", "observed_value": 93.29241106598856, "unit": "percent", "competence": "08/2026", "status": "not_comparable", "reason": "Vigência efetiva não comprovada; data do documento isolada não certifica enquadramento histórico.", "formula": "credit_rights / net_asset_value × 100",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67.0}</a:t>
            </a:r>
          </a:p>
          <a:p>
            <a:r>
              <a:t>CNPJ 63953620000165 · Alocação para tratamento tributário · Anexo ao Regulamento · ID 1222863 · 02/06/2026 · versão AnexoConsignadoPrivado02/06/2026 · p. 6 · 4.13 · https://fnet.bmfbovespa.com.br/fnet/publico/visualizarDocumento?id=1222863</a:t>
            </a:r>
          </a:p>
          <a:p>
            <a:r>
              <a:t>CNPJ 63953620000165 · Alocação para tratamento tributário · Excerto da fonte:</a:t>
            </a:r>
          </a:p>
          <a:p>
            <a:r>
              <a:t>4.13 Decorridos 180 (cento e oitenta) dias do início de suas atividades, a Classe deverá manter alocado, no mínimo, para fins tributários, 67% (sessenta e sete por cento) do seu Patrimônio Líquido em Direitos Creditórios, nos termos da Resolução CMN 5.111, e para fins regulatórios, 50% (cinquenta por cento) do seu Patrimônio Líquido em Direitos Creditórios, nos termos da Resolução CVM 175. 4.14 Nos termos do Art. 45, §7º, inciso II, do Anexo Normativo II da Resolução CVM 175, a Classe poderá ter até 100% (cem por cento) de seu Patrimônio Líquido alocado em Direitos Creditórios, derivativos, observado o disposto nest</a:t>
            </a:r>
          </a:p>
          <a:p>
            <a:r>
              <a:t>CNPJ 63953620000165 · Alocação para tratamento tributário · Mecânica: {"operator": "&gt;=", "unit": "percent", "denominator": "net_asset_value", "frequency": "not_stated", "layer": "class", "effective_status": "document_date_only", "document_date": "2026-06-02", "limit": 67.0, "numerator": "credit_rights", "requires_initial_date": true}</a:t>
            </a:r>
          </a:p>
          <a:p>
            <a:r>
              <a:t>CNPJ 63953620000165 · Alocação para tratamento tributário · Versão e prevalência: Leitura específica das cláusulas indicadas; condições e conflitos preservados. Seleção documental atual não comprova vigência jurídica por data isolada.</a:t>
            </a:r>
          </a:p>
          <a:p>
            <a:r>
              <a:t>CNPJ 54871427000194 · Classes investidas e limites do FIC · Demonstrações Financeiras - Fusão, cisão e incorporação · ID 1219522 · 2026-02-02 · versão 1 · p. 31 · https://fnet.bmfbovespa.com.br/fnet/publico/visualizarDocumento?id=1219522</a:t>
            </a:r>
          </a:p>
          <a:p>
            <a:r>
              <a:t>CNPJ 54871427000194 · Classes investidas e limites do FIC · Excerto da fonte:</a:t>
            </a:r>
          </a:p>
          <a:p>
            <a:r>
              <a:t>xv) Risco Regulatório e Judicial. Eventuais alterações ou novas normas ou leis aplicáveis à Classe,  seus ativos e a eventuais fundos investidos, incluindo, mas não se limitando àquelas referentes  a tributos, bem como decisões judiciais ou jurisprudência aplicando as regulamentações  existentes ou interpretando novas regulamentações, podem causar um efeito adverso relevante  no preço dos ativos e/ou na performance das posições financeiras adquiridas pela Classe e/ou  pelos fundos Investidos. Ainda, nesse sentido, poderão ocorrer interferências de autoridades  governamentais e órgãos reguladores na regulação dos mercados, bem como alterações das  políticas monetária e cambial. Tais eventos poderão impactar de maneira adversa o valor das  Cotas.</a:t>
            </a:r>
          </a:p>
          <a:p>
            <a:r>
              <a:t>CNPJ 54871427000194 · Classes investidas e limites do FIC · Condição: Documentos atuais selecionados no inventário por categoria/escopo; a data documental isolada não comprova vigência jurídica.</a:t>
            </a:r>
          </a:p>
          <a:p>
            <a:r>
              <a:t>CNPJ 54871427000194 · Classes investidas e limites do FIC · Versão e prevalência: Documentos atuais selecionados no inventário por categoria/escopo; a data documental isolada não comprova vigência jurídica.</a:t>
            </a:r>
          </a:p>
          <a:p>
            <a:r>
              <a:t>CNPJ 54871427000194 · Classes investidas e limites do FIC · Resumo do histórico: {"count": 5, "dates": ["2024-12-31", "2025-01-01", "2025-12-31"], "document_count": 3, "sources": [{"document_id": "1151805", "title": "Demonstrações Financeiras", "reference_date": "2025-12-31", "version": "1", "page": 31, "url": "https://fnet.bmfbovespa.com.br/fnet/publico/visualizarDocumento?id=1151805", "sha256": "f1cea70b152968bf96ef9221b27225953cb20aeef487b2798db3c25e11b528d4"}, {"document_id": "869529", "title": "Demonstrações Financeiras", "reference_date": "2025-01-01", "version": "1", "page": 32, "url": "https://fnet.bmfbovespa.com.br/fnet/publico/visualizarDocumento?id=869529", "sha256": "9a93a9369ac8efdbc54ff8fcee3ccac3abf88edab4807b9323d3852450771b2a"}, {"document_id": "870070", "title": "Demonstrações Financeiras", "reference_date": "2024-12-31", "version": "1", "page": 32, "url": "https://fnet.bmfbovespa.com.br/fnet/publico/visualizarDocumento?id=870070", "sha256": "9a93a9369ac8efdbc54ff8fcee3ccac3abf88edab4807b9323d3852450771b2a"}], "reference": {"path": "history/54871427000194.json", "criterion_id": "investee", "total_count": 5, "preview_count": 3, "full_text_deferred": true, "sha256": "35d7cd99be50c7287c9fb675cf4f2e736002315295a225a9efa79c8d9186d874"}}</a:t>
            </a:r>
          </a:p>
          <a:p>
            <a:r>
              <a:t>CNPJ 60010416000112 · Classes investidas e limites do FIC · Motivo: Não localizada uma cláusula material para este critério nos textos identificados e processados. A ausência de resultado não comprova inexistência da regra.</a:t>
            </a:r>
          </a:p>
          <a:p>
            <a:r>
              <a:t>CNPJ 62696791000193 · Classes investidas e limites do FIC · Regulamento · ID 1143317 · 20/03/2026 · versão Regulamento — referência 20/03/2026 · p. 7 · Anexo I, 1.1, Objetivo, categoria Geral · https://fnet.bmfbovespa.com.br/fnet/publico/visualizarDocumento?id=1143317</a:t>
            </a:r>
          </a:p>
          <a:p>
            <a:r>
              <a:t>CNPJ 62696791000193 · Classes investidas e limites do FIC · Excerto da fonte:</a:t>
            </a:r>
          </a:p>
          <a:p>
            <a:r>
              <a:t>(D) Categoria “Geral” (“Ativos em Geral do Agronegócio”): (i) cotas de classes que apliquem mais de 50% (cinquenta por cento) de seu patrimônio líquido nos ativos referidos nos incisos “A” a “D” acima, o que inclui cotas de outros FIAGRO, mas não se limita a essa categoria de f undos. Os Ativos Imobiliários do Agronegócio, Participações do Agronegócio, Ativos Financeiros do Agronegócio e Ativos em Geral do Agronegócio, quando ref eridos em conjunto, os “Outros Ativos”. Não há limites máximos de aplicação por emissor ou devedor, em função de um percentual do Patrimônio Líquido. O objetivo da Classe não representa, sob qualquer hipótese, garantia da Classe ou de seus Prestadores de Serviços Essenciais e/ou da Cogestora quanto à segurança, rentabilidade e liquidez dos títu</a:t>
            </a:r>
          </a:p>
          <a:p>
            <a:r>
              <a:t>CNPJ 62696791000193 · Classes investidas e limites do FIC · Regulamento · ID 1143317 · 20/03/2026 · versão Regulamento — referência 20/03/2026 · p. 11 · Anexo I, 4.8–4.9 · https://fnet.bmfbovespa.com.br/fnet/publico/visualizarDocumento?id=1143317</a:t>
            </a:r>
          </a:p>
          <a:p>
            <a:r>
              <a:t>CNPJ 62696791000193 · Classes investidas e limites do FIC · Excerto da fonte:</a:t>
            </a:r>
          </a:p>
          <a:p>
            <a:r>
              <a:t>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relacionadas ao Gestor. 4.8.1 As aplicações em Direitos Creditórios do Agronegócio decorrentes de receitas públicas originárias ou derivadas da União, dos Estados, do Distrito Federal e dos Municípios ou de suas autarquias e f undações, assim como em Direitos Creditórios do Agronegócio cedidos ou originados por empresas controladas pelo poder público, não estão submetidas ao limite de concentração por emissor previsto no caput. 4.9 Nos termos do Art. 45 do Anexo</a:t>
            </a:r>
          </a:p>
          <a:p>
            <a:r>
              <a:t>CNPJ 62696791000193 · Classes investidas e limites do FIC · Condição: O regulamento não identifica CNPJs de classes efetivamente investidas. Permissão de investimento não comprova posição.</a:t>
            </a:r>
          </a:p>
          <a:p>
            <a:r>
              <a:t>CNPJ 62696791000193 · Classes investidas e limites do FIC · Versão e prevalência: Leitura específica das cláusulas indicadas; condições e conflitos preservados. Seleção documental atual não comprova vigência jurídica por data isolada.</a:t>
            </a:r>
          </a:p>
          <a:p>
            <a:r>
              <a:t>CNPJ 55563624000109 · Classes investidas e limites do FIC · Regulamento · ID 1192614 · 30/04/2026 · versão Regulamento30/04/2026 · p. 11 · AnexoI4.1 · https://fnet.bmfbovespa.com.br/fnet/publico/visualizarDocumento?id=1192614</a:t>
            </a:r>
          </a:p>
          <a:p>
            <a:r>
              <a:t>CNPJ 55563624000109 · Classes investidas e limites do FIC · Excerto da fonte:</a:t>
            </a:r>
          </a:p>
          <a:p>
            <a:r>
              <a:t>4.1 Observados os demais termos deste Anexo, o objetivo da Classe é investir seus recursos em (i) cotas subordinadas mezanino de emissão da classe única do MERCADO CRÉDITO II BRASIL FUNDO DE INVESTIMENTO EM DIREITOS CREDITÓRIOS NÃO PADRONIZADOS, fundo de investimento em direitos creditórios inscrito no CNPJ sob o nº 41.970.012/0001-26 (“Cotas da Classe Investida” e “Classe Investida”, respectivamente), a qual, por sua vez, aplica seus recursos preponderantemente em direitos creditórios originados pela Mercado Pago, de acordo com os termos e condições est</a:t>
            </a:r>
          </a:p>
          <a:p>
            <a:r>
              <a:t>CNPJ 55563624000109 · Classes investidas e limites do FIC · Condição: Vínculo contratual identificado; quantidade de cotas efetivamente detida exige posição do FIC. Não somar PL do FIC e do investido.</a:t>
            </a:r>
          </a:p>
          <a:p>
            <a:r>
              <a:t>CNPJ 55563624000109 · Classes investidas e limites do FIC · Versão e prevalência: Leitura específica das cláusulas indicadas; condições e conflitos preservados. Seleção documental atual não comprova vigência jurídica por data isolada.</a:t>
            </a:r>
          </a:p>
          <a:p>
            <a:r>
              <a:t>CNPJ 55563624000109 · Classes investidas e limites do FIC · Resumo do histórico: {"count": 2, "dates": ["2025-01-31", "2026-01-31"], "document_count": 2, "sources": [{"document_id": "1178840", "title": "Demonstrações Financeiras", "reference_date": "2026-01-31", "version": "1", "page": 4, "url": "https://fnet.bmfbovespa.com.br/fnet/publico/visualizarDocumento?id=1178840", "sha256": "c458e98664c5c907ddb5a05a94b120bed4e05295b2bfc420f5ba69af0a229abe"}, {"document_id": "891861", "title": "Demonstrações Financeiras", "reference_date": "2025-01-31", "version": "1", "page": 18, "url": "https://fnet.bmfbovespa.com.br/fnet/publico/visualizarDocumento?id=891861", "sha256": "e9cb9e6ddbe505fe068cfcac33605165a98313489de0d3ce6d4d238263c3f3e7"}], "reference": {"path": "history/55563624000109.json", "criterion_id": "investee", "total_count": 2, "preview_count": 2, "full_text_deferred": true, "sha256": "7835d573fb58a3c19adf5b8ecc2aee2bdbb9a88f7a0c0209b5f262b64c7522e3"}}</a:t>
            </a:r>
          </a:p>
          <a:p>
            <a:r>
              <a:t>CNPJ 62552447000120 · Classes investidas e limites do FIC · Regulamento · ID 1200623 · 2026-05-21 · versão 1 · p. 6 · https://fnet.bmfbovespa.com.br/fnet/publico/visualizarDocumento?id=1200623</a:t>
            </a:r>
          </a:p>
          <a:p>
            <a:r>
              <a:t>CNPJ 62552447000120 · Classes investidas e limites do FIC · Excerto da fonte:</a:t>
            </a:r>
          </a:p>
          <a:p>
            <a:r>
              <a:t>integrantes do conglomerado econômico de instituições  f inanceiras classificadas como S1 pelo Banco Central do  Brasil (“BACEN” e “Instituições Financeiras S1”,  respectivamente), desde que não representem títulos de  emissão ou coobrigação de instituições financeiras, bem  como cotas de f undos de investimento que invistam  preponderantemente nestes direitos, títulos e/ou valores  mobiliários; e</a:t>
            </a:r>
          </a:p>
          <a:p>
            <a:r>
              <a:t> (d) “Direitos Creditórios Refinanciamento Livre”, na forma  de CCBs originadas no âmbito de um refinanciamento, de  acordo com a política de cobrança vigente, de Direitos  Creditórios Consignado Privado e de Direitos Creditórios  FGTS, que não contem com o lastro de Consignação ou  de cessão f iduciária do Saque-Aniversário,  respectivamente; e</a:t>
            </a:r>
          </a:p>
          <a:p>
            <a:r>
              <a:t> (ii) “Ativos Financeiros”, assim entendidos como, em conjunto:</a:t>
            </a:r>
          </a:p>
          <a:p>
            <a:r>
              <a:t> (a) moeda corrente nacional;</a:t>
            </a:r>
          </a:p>
          <a:p>
            <a:r>
              <a:t> (b) títulos públicos f ederais;</a:t>
            </a:r>
          </a:p>
          <a:p>
            <a:r>
              <a:t> (c) ativos f inanceiros de renda f ixa de emissão ou  coobrigação de Instituições Financeiras S1;</a:t>
            </a:r>
          </a:p>
          <a:p>
            <a:r>
              <a:t> (d) operações compromissadas, desde que lastreadas nos  títulos mencionados nas alíneas (b) e (c) acima; e</a:t>
            </a:r>
          </a:p>
          <a:p>
            <a:r>
              <a:t> (e) cotas do BTG Pactual Tesouro Selic Fundo de  Investimento Renda Fixa Ref erenciado DI, inscrito no  CNPJ sob o nº 09.215.250/0001-13;</a:t>
            </a:r>
          </a:p>
          <a:p>
            <a:r>
              <a:t> observados todos os limites de composição e diversificação da carteira da  Classe (“Carteira”), estabelecidos neste Regulamento e na  regulamentação aplicável.</a:t>
            </a:r>
          </a:p>
          <a:p>
            <a:r>
              <a:t> O objetivo da Classe não representa, sob qualquer hipótese, promessa,  garantia ou sugestão da Classe ou de seus Prestadores de Serviços  Essenciais quanto à segurança, rentabilidade e liquidez dos títulos  componentes de sua Carteira.</a:t>
            </a:r>
          </a:p>
          <a:p>
            <a:r>
              <a:t>CNPJ 62552447000120 · Classes investidas e limites do FIC · Condição: Documentos atuais selecionados no inventário por categoria/escopo; a data documental isolada não comprova vigência jurídica.</a:t>
            </a:r>
          </a:p>
          <a:p>
            <a:r>
              <a:t>CNPJ 62552447000120 · Classes investidas e limites do FIC · Versão e prevalência: Documentos atuais selecionados no inventário por categoria/escopo; a data documental isolada não comprova vigência jurídica.</a:t>
            </a:r>
          </a:p>
          <a:p>
            <a:r>
              <a:t>CNPJ 63953620000165 · Classes investidas e limites do FIC · Motivo: Não localizada uma cláusula material para este critério nos textos identificados e processados. A ausência de resultado não comprova inexistência da regra.</a:t>
            </a:r>
          </a:p>
          <a:p>
            <a:r>
              <a:t>CNPJ 54871427000194 · Classe, subclasse e responsabilidade · Regulamento · ID 670691 · 2024-04-28 · versão 1 · p. 29 · https://fnet.bmfbovespa.com.br/fnet/publico/visualizarDocumento?id=670691</a:t>
            </a:r>
          </a:p>
          <a:p>
            <a:r>
              <a:t>CNPJ 54871427000194 · Classe, subclasse e responsabilidade · Excerto da fonte:</a:t>
            </a:r>
          </a:p>
          <a:p>
            <a:r>
              <a:t>Anexo I ao Regulamento CLASSE ÚNICA DE RESPONSABILIDADE LIMITADA DO CONSIGNADO DELTA RECEIVABLES I FUNDO DE INVESTIMENTO EM DIREITOS CREDITÓRIOS  pelo Endossante e depositados em seu conta de sua titularidade para posterior repasse à  Classe. Neste caso, a Classe poderá sofrer perdas principalmente em relação ao atraso na  regularização da titularidade e pagamento dos Direitos Creditórios.</a:t>
            </a:r>
          </a:p>
          <a:p>
            <a:r>
              <a:t> (v) Risco de pré-pagamento dos Direitos Creditórios. A ocorrência de pré-  pagamentos em relação a um ou mais Direitos Creditórios poderá ocasionar perdas à Classe.</a:t>
            </a:r>
          </a:p>
          <a:p>
            <a:r>
              <a:t> A ocorrência de pré-pagamentos (pagamento em data anterior àquela originalmente pactuada)  de Direitos Creditórios reduz o horizonte original de rendimentos esperados pela Classe de  tais Direitos Creditórios, uma vez que o pré-pagamento poderá, se assim permitido pela  documentação do Direito Creditório ou, conf orme o caso, pela legislação aplicável, ser  realizado pelo valor de emissão do Direito Creditório atualizado até a data do pré-pagamento  pela taxa de juros pactuada entre os Endossantes e os Devedores de tais Direitos Creditórios,  de modo que os juros remuneratórios incidentes desde a data da realização do pré-pagamento  até a data de vencimento do respectivo Direito Creditório deixam de ser devidos à Classe.</a:t>
            </a:r>
          </a:p>
          <a:p>
            <a:r>
              <a:t> (vi) Riscos associados aos Devedores: os Direitos Creditórios a serem cedidos à  Classe serão descontados da remuneração do Devedor, através de desconto em f olha de  pagamento ou de benefício. Nesse sentido, na ocorrência de pré-pagamento, as parcelas  serão pagas antecipadamente e a Classe deverá utilizar tais montantes no pré-pagamento dos  Direitos Creditórios. Nesta hipótese, a Classe poderá não encontrar Direitos Creditórios  disponíveis para serem adquiridos pela Classe, o que poderá afetar a rentabilidade da Classe.</a:t>
            </a:r>
          </a:p>
          <a:p>
            <a:r>
              <a:t> (vii) Risco de Competição: o mercado de empréstimos experimentou grande  expansão no Brasil nos últimos anos. Nesse contexto, a Resolução CMN nº 4.292, alterada  pela Resolução nº 4.762, de 27 de novembro de 2019, dispõe que deve ser garantido às  pessoas naturais devedoras de operações de crédito (tais como as CCB) a possibilidade de  realizarem a portabilidade destas operações para outras instituições financeiras, inclusive nos  casos em que tenham sido objeto de cessão (tais como as realizadas à Classe). Nesse  cenário, é possível que os competidores do Endossante ofereçam condições e taxas mais  vantajosas para os empréstimos pessoais com consignação em f olha de pagamento ou de  benef ícios, o que pode causar a migração de clientes da Endossante para outras instituições  f inanceiras, gerando a liquidação antecipada de parte das CCB existentes e/ou redução no  número de Direitos Creditórios cedidos. Referida competição poderá af etar os resultados da  Classe, impactando negativamente os rendimentos dos Cotistas. Ainda, a portabilidade a um  Devedor pode acarretar no recebimento de valores inf eriores aos esperados pela Classe.</a:t>
            </a:r>
          </a:p>
          <a:p>
            <a:r>
              <a:t> (viii) Insuf iciência dos Critérios de Elegibilidade. Os Critérios de Elegibilidade têm a  f inalidade de selecionar os Direitos Creditórios passíveis de aquisição pela Classe. Não  obstante tais Critérios de Elegibilidade, a solvência dos Direitos Creditórios que compõem a  Carteira depende integralmente, mas não somente, da situação econômico-financeira dos  Devedores. Dessa f orma, a observância pelo GESTOR dos Critérios de Elegibilidade não  constitui garantia de adimplência dos Devedores.</a:t>
            </a:r>
          </a:p>
          <a:p>
            <a:r>
              <a:t> Os Endossantes não necessariamente garantem a solvência dos seus respectivos Devedores.</a:t>
            </a:r>
          </a:p>
          <a:p>
            <a:r>
              <a:t> O Endossante dos Direitos Creditórios não assumirá responsabilidade pelo seu pagamento ou  pela solvência dos respectivos Devedores. A Classe sofrerá o impacto do inadimplemento dos  Direitos Creditórios vencidos e não pagos pelos respectivos Devedores.</a:t>
            </a:r>
          </a:p>
          <a:p>
            <a:r>
              <a:t> (ix) Possibilidade de aquisição de Direitos Creditórios cedidos por Endossante  e/ou devidos por Devedores cujas demonstrações financeiras não sejam auditadas. A Classe,  desde que sejam respeitados os limites de concentração previstos neste Regulamento, poderá  manter a qualquer tempo em sua Carteira, Direitos Creditórios cedidos por Endossante e/ou  devidos por Devedores cujas demonstrações f inanceiras não sejam auditadas por Auditor  Independente registrado na CVM. Nesse sentido, não haverá verificação independente sobre  tais demonstrações f inanceiras que af irme se estas representam adequadamente, em todos  os aspectos relevantes, as respectivas posições patrimoniais e f inanceiras, os resultados de  suas operações, as mutações de seus respectivos patrimônios líquidos tampouco as origens  e aplicações de seus recursos.</a:t>
            </a:r>
          </a:p>
          <a:p>
            <a:r>
              <a:t>CNPJ 54871427000194 · Classe, subclasse e responsabilidade · Regulamento · ID 670691 · 2024-04-28 · versão 1 · p. 15 · 7.2 · https://fnet.bmfbovespa.com.br/fnet/publico/visualizarDocumento?id=670691</a:t>
            </a:r>
          </a:p>
          <a:p>
            <a:r>
              <a:t>CNPJ 54871427000194 · Classe, subclasse e responsabilidade · Excerto da fonte:</a:t>
            </a:r>
          </a:p>
          <a:p>
            <a:r>
              <a:t>7.2 As amortizações de Cotas serão realizadas a qualquer tempo, a critério do GESTOR, observada a  disponibilidade de recursos da Classe Única e a ordem de alocação de recursos prevista neste Anexo  Descritivo.</a:t>
            </a:r>
          </a:p>
          <a:p>
            <a:r>
              <a:t>CNPJ 54871427000194 · Classe, subclasse e responsabilidade · Instrumento Particular de Alteração do Regulamento · ID 670690 · 2024-05-28 · versão 1 · p. 1 · https://fnet.bmfbovespa.com.br/fnet/publico/visualizarDocumento?id=670690</a:t>
            </a:r>
          </a:p>
          <a:p>
            <a:r>
              <a:t>CNPJ 54871427000194 · Classe, subclasse e responsabilidade · Excerto da fonte:</a:t>
            </a:r>
          </a:p>
          <a:p>
            <a:r>
              <a:t>ATA DA ASSEMBLEIA ESPECIAL DE COTISTAS  CLASSE ÚNICA DE RESPONSABILIDADE LIMITADA DO CONSIGNADO DELTA RECEIVABLES I  FUNDO DE INVESTIMENTO EM DIREITOS CREDITÓRIOS  CNPJ nº 54.871.427/0001-94  (“Classe Única” e “Fundo”, respectivamente)</a:t>
            </a:r>
          </a:p>
          <a:p>
            <a:r>
              <a:t>CNPJ 54871427000194 · Classe, subclasse e responsabilidade · Condição: Documentos atuais selecionados no inventário por categoria/escopo; a data documental isolada não comprova vigência jurídica.</a:t>
            </a:r>
          </a:p>
          <a:p>
            <a:r>
              <a:t>CNPJ 54871427000194 · Classe, subclasse e responsabilidade · Versão e prevalência: Documentos atuais selecionados no inventário por categoria/escopo; a data documental isolada não comprova vigência jurídica.</a:t>
            </a:r>
          </a:p>
          <a:p>
            <a:r>
              <a:t>CNPJ 54871427000194 · Classe, subclasse e responsabilidade · Resumo do histórico: {"count": 4, "dates": ["2024-04-19", "2024-04-28", "2024-05-24"], "document_count": 3, "sources": [{"document_id": "668387", "title": "Instrumento Particular de Emissão de Cotas", "reference_date": "2024-05-24", "version": "1", "page": 1, "url": "https://fnet.bmfbovespa.com.br/fnet/publico/visualizarDocumento?id=668387", "sha256": "be2913bed5f468a7399afcd27f92bac2083451584ee580b5054e9f525e68cc4a"}, {"document_id": "670691", "title": "Regulamento", "reference_date": "2024-04-28", "version": "1", "page": 29, "url": "https://fnet.bmfbovespa.com.br/fnet/publico/visualizarDocumento?id=670691", "sha256": "bf16dd7f1a62d5cdbf2e2d54fef81783783f7310fbc99c3a8f00459bdf9d037b"}, {"document_id": "670687", "title": "Instrumento Particular de Constituição/Encerramento do Fundo", "reference_date": "2024-04-19", "version": "1", "page": 1, "url": "https://fnet.bmfbovespa.com.br/fnet/publico/visualizarDocumento?id=670687", "sha256": "999f2a47d39f7022b0fcee3d16fd1db33948537b897e92c4c9e14b436bf5eb96"}], "reference": {"path": "history/54871427000194.json", "criterion_id": "perimeter", "total_count": 4, "preview_count": 3, "full_text_deferred": true, "sha256": "35d7cd99be50c7287c9fb675cf4f2e736002315295a225a9efa79c8d9186d874"}}</a:t>
            </a:r>
          </a:p>
          <a:p>
            <a:r>
              <a:t>CNPJ 60010416000112 · Classe, subclasse e responsabilidade · Regulamento · ID 1051393 · 2025-10-09 · versão 1 · p. 10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a:t>
            </a:r>
          </a:p>
          <a:p>
            <a:r>
              <a:t> (ii) o saldo dos Direitos Creditórios devidos pelo mesmo Devedor à Classe, considerando, pro  forma, o endosso pretendido, não deverá exceder R$ 100.000,00 (cem mil reais), observado  o disposto no item 4.4.1 abaixo;</a:t>
            </a:r>
          </a:p>
          <a:p>
            <a:r>
              <a:t> (iii) o prazo de vencimento das CCB representativas dos Direitos Creditórios deverá ser, no  máximo, equivalente ao prazo máximo permitido pelas leis e regulamentações aplicáveis; e</a:t>
            </a:r>
          </a:p>
          <a:p>
            <a:r>
              <a:t> (iv) os Direitos Creditórios não poderão ser devidos por Devedores que tenham acima de 64  (sessenta e quatro) anos 11 (onze) meses e 29 (vinte e nove) dias na data de emissão da  respectiva CCB.</a:t>
            </a:r>
          </a:p>
          <a:p>
            <a:r>
              <a:t>CNPJ 60010416000112 · Classe, subclasse e responsabilidade · Regulamento · ID 1051393 · 2025-10-09 · versão 1 · p. 11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  com a transf erência, à Classe, de f orma definitiva, sem coobrigação do Endossante, da plena  titularidade desse Direito Creditório, juntamente com todos os direitos, privilégios, pref erências,  prerrogativas, garantias e ações a ele relacionados, bem como correção monetária, juros e  encargos, sem prejuízo do direito da Classe (i) de exigir a recompra compulsória do respectivo  Direito Creditório, de acordo com os termos do Contrato de Endosso; ou (ii) de vender Direitos  Creditórios ao Agente de Retenção/Cobrança (opção de venda), em ambos os casos estritamente  nos termos do Contrato de Endosso.</a:t>
            </a:r>
          </a:p>
          <a:p>
            <a:r>
              <a:t>CNPJ 60010416000112 · Classe, subclasse e responsabilidade · Regulamento · ID 1051393 · 2025-10-09 · versão 1 · p. 18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a:t>
            </a:r>
          </a:p>
          <a:p>
            <a:r>
              <a:t> (ii) alterar este Anexo I e seus complementos, incluindo mas não se limitando aos Apêndices de cada  uma das subclasses;</a:t>
            </a:r>
          </a:p>
          <a:p>
            <a:r>
              <a:t> (iii) deliberar sobre substituição de Prestadores de Serviços Essenciais, observado o disposto no Art.</a:t>
            </a:r>
          </a:p>
          <a:p>
            <a:r>
              <a:t> 70, §1º da parte geral da Resolução CVM 175, quando aplicável, ou do Custodiante;</a:t>
            </a:r>
          </a:p>
          <a:p>
            <a:r>
              <a:t> (iv) deliberar sobre elevação da Taxa de Administração, inclusive na hipótese de restabelecimento de  taxa que tenha sido objeto de redução;</a:t>
            </a:r>
          </a:p>
          <a:p>
            <a:r>
              <a:t> (v) deliberar sobre incorporação, fusão, cisão total ou parcial, a transformação ou liquidação da Classe;</a:t>
            </a:r>
          </a:p>
          <a:p>
            <a:r>
              <a:t> (vi) alterações das características, vantagens, direitos e obrigações das Cotas;</a:t>
            </a:r>
          </a:p>
          <a:p>
            <a:r>
              <a:t> (vii) alterar critérios e procedimentos para Amortização e/ou resgate de Cotas mediante dação em  pagamento de Direitos Creditórios;</a:t>
            </a:r>
          </a:p>
          <a:p>
            <a:r>
              <a:t> (viii) aprovar a contratação de Agente de Retenção/Cobrança dos Direitos Creditórios Inadimplidos, bem  como decidir sobre sua substituição ou destituição;</a:t>
            </a:r>
          </a:p>
          <a:p>
            <a:r>
              <a:t> (ix) alterar a f orma de amortização do principal e dos valores acumulados relacionados às Cotas;</a:t>
            </a:r>
          </a:p>
          <a:p>
            <a:r>
              <a:t> (x) aprovar emissão de novas Cotas da Classe, em montante além do Capital Autorizado;</a:t>
            </a:r>
          </a:p>
          <a:p>
            <a:r>
              <a:t> (xi) deliberar sobre a eventual necessidade de aportes adicionais de recursos na Classe pelos Cotistas;</a:t>
            </a:r>
          </a:p>
          <a:p>
            <a:r>
              <a:t> (xii) alterações na Política de Investimentos;</a:t>
            </a:r>
          </a:p>
          <a:p>
            <a:r>
              <a:t> (xiii) alterações nos Critérios de Elegibilidade;</a:t>
            </a:r>
          </a:p>
          <a:p>
            <a:r>
              <a:t> (xiv) decidir se um Evento de Avaliação será considerado como Evento de Liquidação, sujeito a este  Regulamento;</a:t>
            </a:r>
          </a:p>
          <a:p>
            <a:r>
              <a:t> (xv) decidir, na ocorrência de qualquer Evento de Liquidação, se esse Evento de Liquidação não deverá  causar a liquidação antecipada da Classe;</a:t>
            </a:r>
          </a:p>
          <a:p>
            <a:r>
              <a:t> (xvi) plano de resolução do Patrimônio Líquido negativo da Classe, nos termos da Resolução CVM 175;</a:t>
            </a:r>
          </a:p>
          <a:p>
            <a:r>
              <a:t> (xvii)pedido de declaração judicial de insolvência da Classe; e</a:t>
            </a:r>
          </a:p>
          <a:p>
            <a:r>
              <a:t> (xviii) deliberar sobre a alteração da data de resgate e/ou prazo de duração de cada Série de Cotas  Seniores, do Benchmark, bem como de quaisquer outras características de qualquer Série de Cotas  Seniores;</a:t>
            </a:r>
          </a:p>
          <a:p>
            <a:r>
              <a:t>CNPJ 60010416000112 · Classe, subclasse e responsabilidade · Condição: Documentos atuais selecionados no inventário por categoria/escopo; a data documental isolada não comprova vigência jurídica.</a:t>
            </a:r>
          </a:p>
          <a:p>
            <a:r>
              <a:t>CNPJ 60010416000112 · Classe, subclasse e responsabilidade · Versão e prevalência: Documentos atuais selecionados no inventário por categoria/escopo; a data documental isolada não comprova vigência jurídica.</a:t>
            </a:r>
          </a:p>
          <a:p>
            <a:r>
              <a:t>CNPJ 60010416000112 · Classe, subclasse e responsabilidade · Resumo do histórico: {"count": 1, "dates": ["2025-05-12"], "document_count": 1, "sources": [{"document_id": "1004656", "title": "AGE", "reference_date": "2025-05-12", "version": "1", "page": 4, "url": "https://fnet.bmfbovespa.com.br/fnet/publico/visualizarDocumento?id=1004656", "sha256": "f6c9c009f6170e2b29f074b98522accec73f0c40efbf11f9ec2c8d3f1402616b"}], "reference": {"path": "history/60010416000112.json", "criterion_id": "perimeter", "total_count": 1, "preview_count": 1, "full_text_deferred": true, "sha256": "8e2bd813f4c51cf01f6bfaad164bafe69d2bbb192f753eac92da3a01c2e63046"}}</a:t>
            </a:r>
          </a:p>
          <a:p>
            <a:r>
              <a:t>CNPJ 62696791000193 · Classe, subclasse e responsabilidade · Regulamento · ID 1143317 · 20/03/2026 · versão Regulamento — referência 20/03/2026 · p. 9 · Anexo I, 2.1 · https://fnet.bmfbovespa.com.br/fnet/publico/visualizarDocumento?id=1143317</a:t>
            </a:r>
          </a:p>
          <a:p>
            <a:r>
              <a:t>CNPJ 62696791000193 · Classe, subclasse e responsabilidade · Excerto da fonte:</a:t>
            </a:r>
          </a:p>
          <a:p>
            <a:r>
              <a:t>2.1 A responsabilidade do Cotista está limitada ao valor por ele subscrito. 2.2 Os seguintes eventos obrigarão o Administrador a verif icar se o Patrimônio Líquido está negativo: (i) qualquer pedido de declaração judicial de insolvência de Classe; (ii) inadimplência de obrigações financeiras de devedor e/ou emissor de ativos detidos pela Classe que representem mais de 10% (dez por cento) de seu Patrimônio Líquido, naquela data de ref erência; (iii) pedido de recuperação extrajudicial, proposta de recuperação judicial, f alência, intervenção, liquidação extrajudicial e/ou regime de administração temporária de devedor e/ou emissor de ativos detidos pela Classe; e (iv) condenação da Classe, de natureza judicial e/ou arbitral e/ou administrativa e/ou outras similares, ao pagamento de mais de 10% (dez por cento) de seu Patrimônio Líquido. 2.3 Caso o Administrador verifique que o Patrimônio Líquido está negativo, ou tenha ciência de pedido de declaração judicial de insolvência da Classe ou da declaração judicial de insolvência da Classe, deverá adotar as medidas aplicáveis previstas na Resolução CVM 175. 2.4 Serão aplicáveis as disp</a:t>
            </a:r>
          </a:p>
          <a:p>
            <a:r>
              <a:t>CNPJ 62696791000193 · Classe, subclasse e responsabilidade · Regulamento · ID 1143317 · 20/03/2026 · versão Regulamento — referência 20/03/2026 · p. 18 · Anexo I, 8.8.1 · https://fnet.bmfbovespa.com.br/fnet/publico/visualizarDocumento?id=1143317</a:t>
            </a:r>
          </a:p>
          <a:p>
            <a:r>
              <a:t>CNPJ 62696791000193 · Classe, subclasse e responsabilidade · Excerto da fonte:</a:t>
            </a:r>
          </a:p>
          <a:p>
            <a:r>
              <a:t>8.8.1 As Chamadas de Capital para a realização de investimentos serão realizadas a qualquer momento durante o Período de Investimento e estarão limitadas ao valor do capital subscrito de cada Cotista. As Chamadas de Capital para o pagamento de despesas e encargos do Fundo poderão ser realizadas a qualquer momento durante o Prazo de Duração, mas não estarão limitadas ao valor do capital subscrito de cada Cotista. 8.8.2 Ao receber uma Chamada de Capital, os Cotistas serão obrigados a integralizar parte ou a totalidade de suas Cotas no prazo previsto na ref erida Chamada de Capital, o qual não poderá ser inf erior a 5 (cinco) Dias Úteis contados do recebimento da Chamada de Capital, conforme solicitado pelo Administrador em observância às instruções do Gestor e de acordo com o disposto nos respectivos Compromissos de Investimento. 8.8.3 O Administrador poderá, eventualmente, realizar Chamadas de Capital aos Cotistas de forma desproporcional entre Cotistas, de modo que um ou mais Cotista venha a integralizar, em uma ou mais Chamadas de Capital, uma parcela maior ou menor, conforme o caso, das Cotas por</a:t>
            </a:r>
          </a:p>
          <a:p>
            <a:r>
              <a:t>CNPJ 62696791000193 · Classe, subclasse e responsabilidade · Regulamento · ID 1143317 · 20/03/2026 · versão Regulamento — referência 20/03/2026 · p. 16 · Anexo I, 7.2 · https://fnet.bmfbovespa.com.br/fnet/publico/visualizarDocumento?id=1143317</a:t>
            </a:r>
          </a:p>
          <a:p>
            <a:r>
              <a:t>CNPJ 62696791000193 · Classe, subclasse e responsabilidade · Excerto da fonte:</a:t>
            </a:r>
          </a:p>
          <a:p>
            <a:r>
              <a:t>7.2 A Classe possui 3 (três) Subclasses de Cotas, quais sejam, a subclasse sênior (“Subclasse Sênior” e “Cotas Seniores”), a subclasse mezanino (“Subclasse Mezanino” e “Cotas Mezanino”) e a subclasse subordinada (“Subclasse Subordinada” e “Cotas Subordinadas” – as Cotas Subordinadas, Cotas Seniores e Cotas Mezanino, quando ref eridas em conjunto, “Cotas”), admitindo ainda a emissão de novas séries (“Séries”) de Cotas Seniores, nos termos do seu respectivo Apêndice. As características, os direitos e as condições de emissão, distribuição, subscrição, integralização, remuneração, amortização e resgate das Cotas estão descritos neste Capítulo e nos respectivos Apêndices. 7.3 As Cotas são escriturais, nominativas e correspondem a f rações ideais do patrimônio da Classe, cuja propriedade presume-se: (i) pelo registro do nome do Cotista no livro de registro de Cotistas, enquanto mantidas em conta de depósito mantidas junto ao Escriturador em nome dos respectivos Cotistas, nos termos do Art. 15 da Resolução CVM 175; (ii) pelos controles de titularidade mantidos pelo depositário BTG Pactual SAC: 0800 772 2827 | Ouvidoria: 0800 722 0048 | btgpactual.co m 11</a:t>
            </a:r>
          </a:p>
          <a:p>
            <a:r>
              <a:t>CNPJ 62696791000193 · Classe, subclasse e responsabilidade · Condição: Contradição interna no alcance da responsabilidade limitada. Não apresentar a cláusula de despesas como obrigação irrestrita pacificada.</a:t>
            </a:r>
          </a:p>
          <a:p>
            <a:r>
              <a:t>CNPJ 62696791000193 · Classe, subclasse e responsabilidade · Versão e prevalência: Leitura específica das cláusulas indicadas; condições e conflitos preservados. Seleção documental atual não comprova vigência jurídica por data isolada.</a:t>
            </a:r>
          </a:p>
          <a:p>
            <a:r>
              <a:t>CNPJ 55563624000109 · Classe, subclasse e responsabilidade · Regulamento · ID 1192614 · 2026-04-30 · versão 1 · p. 40 · https://fnet.bmfbovespa.com.br/fnet/publico/visualizarDocumento?id=1192614</a:t>
            </a:r>
          </a:p>
          <a:p>
            <a:r>
              <a:t>CNPJ 55563624000109 · Classe, subclasse e responsabilidade · Excerto da fonte:</a:t>
            </a:r>
          </a:p>
          <a:p>
            <a:r>
              <a:t>(xxiv) Subordinação de determinadas Cotas da Classe Investida a outras subclasses ou séries de  cotas das Classes Investidas aos quais pertencem. A Classe Investida adquirirá apenas cotas  subordinadas mezaninos da Classe Investida, as quais se subordinam às cotas seniores da Classe  Investida para efeitos de resgate. Os resgates de cotas subordinadas mezanino tipicamente têm sua  realização condicionada ainda à manutenção da razão de garantia e à existência de disponibilidades  da Classe Investida. O ADMINISTRADOR, o GESTOR e o CUSTODIANTE e suas respectivas partes  relacionadas, encontram-se impossibilitados de assegurar que a amortização e o resgate das cotas  subordinadas mezanino da Classe Investida que venham a ser adquiridas pela Classe ocorrerão nas  datas originalmente previstas, sendo que, caso tais amortizações e/ou resgates não ocorram, não será  devido pelo FUNDO ou qualquer pessoa, incluindo o ADMINISTRADOR, o GESTOR e o CUSTODIANTE,  do FUNDO ou da Classe Investida qualquer multa ou penalidade, de qualquer natureza. O não resgate  de cotas subordinadas mezanino da Classe Investida detidas pela Classe poderá impactar  negativamente no fluxo de pagamento de resgate da Classe e/ou no valor patrimonial das Cotas da  Classe.</a:t>
            </a:r>
          </a:p>
          <a:p>
            <a:r>
              <a:t>CNPJ 55563624000109 · Classe, subclasse e responsabilidade · Regulamento · ID 1192614 · 2026-04-30 · versão 1 · p. 2 · 1.2 · https://fnet.bmfbovespa.com.br/fnet/publico/visualizarDocumento?id=1192614</a:t>
            </a:r>
          </a:p>
          <a:p>
            <a:r>
              <a:t>CNPJ 55563624000109 · Classe, subclasse e responsabilidade · Excerto da fonte:</a:t>
            </a:r>
          </a:p>
          <a:p>
            <a:r>
              <a:t>1.2 Este regulamento é composto por esta parte geral, um ou mais anexos, conforme o número de classes aqui  previsto e respectivos apêndices relativos a cada subclasse de cotas, conforme aplicável (respectivamente,  “Regulamento”, “Parte Geral”, “Anexos” e “Apêndices”).</a:t>
            </a:r>
          </a:p>
          <a:p>
            <a:r>
              <a:t> Denominação da Classe Anexo  CLASSE ÚNICA DE RESPONSABILIDADE LIMITADA DO  PLGN MARKETPLACE FUNDO DE INVESTIMENTO EM  Anexo Único (“Anexo”)  COTAS DE FUNDO DE INVESTIMENTO EM DIREITOS  CREDITÓRIOS (“Classe” ou “Classe Única”)</a:t>
            </a:r>
          </a:p>
          <a:p>
            <a:r>
              <a:t>CNPJ 55563624000109 · Classe, subclasse e responsabilidade · Regulamento · ID 1192614 · 2026-04-30 · versão 1 · p. 24 · 12.3 · https://fnet.bmfbovespa.com.br/fnet/publico/visualizarDocumento?id=1192614</a:t>
            </a:r>
          </a:p>
          <a:p>
            <a:r>
              <a:t>CNPJ 55563624000109 · Classe, subclasse e responsabilidade · Excerto da fonte:</a:t>
            </a:r>
          </a:p>
          <a:p>
            <a:r>
              <a:t>12.3 Incluem-se entre as obrigações do ADMINISTRADOR, sem prejuízo de outras previstas na regulamentação:</a:t>
            </a:r>
          </a:p>
          <a:p>
            <a:r>
              <a:t> (i) sem prejuízo da observância dos procedimentos relativos às demonstrações contábeis, manter,  separadamente, registros com informações completas sobre toda e qualquer modalidade de negociação  realizada entre o ADMINISTRADOR, GESTOR, CUSTODIANTE, e/ou suas respectivas partes relacionadas,  tais como definidas pelas regras contábeis que tratam desse assunto, de um lado; e a Classe, de outro;</a:t>
            </a:r>
          </a:p>
          <a:p>
            <a:r>
              <a:t> (ii) diligenciar para que sejam mantidos, às suas expensas, atualizados e em perfeita ordem:</a:t>
            </a:r>
          </a:p>
          <a:p>
            <a:r>
              <a:t> (a) o registro de Cotistas;</a:t>
            </a:r>
          </a:p>
          <a:p>
            <a:r>
              <a:t> (b) o livro de atas das Assembleias de Cotistas;</a:t>
            </a:r>
          </a:p>
          <a:p>
            <a:r>
              <a:t> (c) o livro ou lista de presença de Cotistas;</a:t>
            </a:r>
          </a:p>
          <a:p>
            <a:r>
              <a:t> (d) os pareceres do Auditor Independente; e</a:t>
            </a:r>
          </a:p>
          <a:p>
            <a:r>
              <a:t> (e) os registros contábeis referentes às operações e ao patrimônio da Classe;</a:t>
            </a:r>
          </a:p>
          <a:p>
            <a:r>
              <a:t> (iii) pagar a multa cominatória às suas expensas, nos termos da legislação vigente, por cada dia de atraso no  cumprimento dos prazos previstos na regulamentação aplicável;</a:t>
            </a:r>
          </a:p>
          <a:p>
            <a:r>
              <a:t> (iv) elaborar e divulgar as informações periódicas e eventuais da Classe, nos termos deste Anexo e da  regulamentação e da autorregulação em vigor;</a:t>
            </a:r>
          </a:p>
          <a:p>
            <a:r>
              <a:t> (v) manter atualizada junto à CVM a lista de todos os prestadores de serviços contratados pela Classe,  inclusive os Prestadores de Serviços Essenciais, bem como as demais informações cadastrais da Classe e  suas Subclasses;</a:t>
            </a:r>
          </a:p>
          <a:p>
            <a:r>
              <a:t> (vi) manter serviço de atendimento aos Cotistas, responsável pelo esclarecimento de dúvidas e pelo  recebimento de reclamações;</a:t>
            </a:r>
          </a:p>
          <a:p>
            <a:r>
              <a:t> (vii) receber e processar os pedidos de resgate;</a:t>
            </a:r>
          </a:p>
          <a:p>
            <a:r>
              <a:t> (viii) monitorar os Eventos de Verificação do Patrimônio;</a:t>
            </a:r>
          </a:p>
          <a:p>
            <a:r>
              <a:t> (ix) monitorar os Eventos de Avaliação e Eventos de Liquidação;</a:t>
            </a:r>
          </a:p>
          <a:p>
            <a:r>
              <a:t> (x) observar as disposições constantes do Regulamento;</a:t>
            </a:r>
          </a:p>
          <a:p>
            <a:r>
              <a:t> (xi) cumprir as deliberações da Assembleia de Cotistas; e</a:t>
            </a:r>
          </a:p>
          <a:p>
            <a:r>
              <a:t> (xii) observar as disposições do Código ANBIMA e das Regras e Procedimentos ANBIMA</a:t>
            </a:r>
          </a:p>
          <a:p>
            <a:r>
              <a:t>CNPJ 55563624000109 · Classe, subclasse e responsabilidade · Condição: Documentos atuais selecionados no inventário por categoria/escopo; a data documental isolada não comprova vigência jurídica.</a:t>
            </a:r>
          </a:p>
          <a:p>
            <a:r>
              <a:t>CNPJ 55563624000109 · Classe, subclasse e responsabilidade · Versão e prevalência: Documentos atuais selecionados no inventário por categoria/escopo; a data documental isolada não comprova vigência jurídica.</a:t>
            </a:r>
          </a:p>
          <a:p>
            <a:r>
              <a:t>CNPJ 55563624000109 · Classe, subclasse e responsabilidade · Resumo do histórico: {"count": 5, "dates": ["2024-07-03", "2025-01-31", "2026-01-31"], "document_count": 3, "sources": [{"document_id": "1178840", "title": "Demonstrações Financeiras", "reference_date": "2026-01-31", "version": "1", "page": 3, "url": "https://fnet.bmfbovespa.com.br/fnet/publico/visualizarDocumento?id=1178840", "sha256": "c458e98664c5c907ddb5a05a94b120bed4e05295b2bfc420f5ba69af0a229abe"}, {"document_id": "891861", "title": "Demonstrações Financeiras", "reference_date": "2025-01-31", "version": "1", "page": 27, "url": "https://fnet.bmfbovespa.com.br/fnet/publico/visualizarDocumento?id=891861", "sha256": "e9cb9e6ddbe505fe068cfcac33605165a98313489de0d3ce6d4d238263c3f3e7"}, {"document_id": "703295", "title": "Anúncio de Início", "reference_date": "2024-07-03", "version": "2", "page": 1, "url": "https://fnet.bmfbovespa.com.br/fnet/publico/visualizarDocumento?id=703295", "sha256": "12322b6dbf75e673723bd60910373db249451b72666792e18e0c7b6128f4608a"}], "reference": {"path": "history/55563624000109.json", "criterion_id": "perimeter", "total_count": 5, "preview_count": 3, "full_text_deferred": true, "sha256": "7835d573fb58a3c19adf5b8ecc2aee2bdbb9a88f7a0c0209b5f262b64c7522e3"}}</a:t>
            </a:r>
          </a:p>
          <a:p>
            <a:r>
              <a:t>CNPJ 62552447000120 · Classe, subclasse e responsabilidade · Regulamento · ID 1200623 · 2026-05-21 · versão 1 · p. 1 · 1.3 · https://fnet.bmfbovespa.com.br/fnet/publico/visualizarDocumento?id=1200623</a:t>
            </a:r>
          </a:p>
          <a:p>
            <a:r>
              <a:t>CNPJ 62552447000120 · Classe, subclasse e responsabilidade · Excerto da fonte:</a:t>
            </a:r>
          </a:p>
          <a:p>
            <a:r>
              <a:t>1.3 Durante o seu prazo de duração, o Fundo, por ato conjunto dos Prestadores de Serviços Essenciais,  poderá constituir diferentes Classes e Subclasses , sendo que cada Classe terá patrimônio segregado e</a:t>
            </a:r>
          </a:p>
          <a:p>
            <a:r>
              <a:t>CNPJ 62552447000120 · Classe, subclasse e responsabilidade · Regulamento · ID 1200623 · 2026-05-21 · versão 1 · p. 1 · 1.1 · https://fnet.bmfbovespa.com.br/fnet/publico/visualizarDocumento?id=1200623</a:t>
            </a:r>
          </a:p>
          <a:p>
            <a:r>
              <a:t>CNPJ 62552447000120 · Classe, subclasse e responsabilidade · Excerto da fonte:</a:t>
            </a:r>
          </a:p>
          <a:p>
            <a:r>
              <a:t>1.1 V CDT 1 FUNDO DE INVESTIMENTO EM DIREITOS CREDITÓRIOS RESPONSABILIDADE  LIMITADA (“Fundo”), regido pela Lei n.º 10.406, de 10 de janeiro de 2002, conforme alterada (“Código  Civil”), pela Resolução da Comissão de Valores Mobiliários (“CVM”) n.º 175, de 23 de dezembro de  2022, conf orme alterada (“Resolução CVM 175”), que inclui sua Parte Geral (“Parte Geral da  Resolução CVM 175”) e seu Anexo Normativo II (“Anexo Normativo II”) terá como principais  características:</a:t>
            </a:r>
          </a:p>
          <a:p>
            <a:r>
              <a:t>CNPJ 62552447000120 · Classe, subclasse e responsabilidade · Regulamento · ID 1200623 · 2026-05-21 · versão 1 · p. 1 · https://fnet.bmfbovespa.com.br/fnet/publico/visualizarDocumento?id=1200623</a:t>
            </a:r>
          </a:p>
          <a:p>
            <a:r>
              <a:t>CNPJ 62552447000120 · Classe, subclasse e responsabilidade · Excerto da fonte:</a:t>
            </a:r>
          </a:p>
          <a:p>
            <a:r>
              <a:t>CLASSE ÚNICA DO V CDT 1 FUNDO DE  INVESTIMENTO EM DIREITOS CREDITÓRIOS Anexo I (“Anexo I”)  RESPONSABILIDADE LIMITADA</a:t>
            </a:r>
          </a:p>
          <a:p>
            <a:r>
              <a:t>CNPJ 62552447000120 · Classe, subclasse e responsabilidade · Condição: Documentos atuais selecionados no inventário por categoria/escopo; a data documental isolada não comprova vigência jurídica.</a:t>
            </a:r>
          </a:p>
          <a:p>
            <a:r>
              <a:t>CNPJ 62552447000120 · Classe, subclasse e responsabilidade · Versão e prevalência: Documentos atuais selecionados no inventário por categoria/escopo; a data documental isolada não comprova vigência jurídica.</a:t>
            </a:r>
          </a:p>
          <a:p>
            <a:r>
              <a:t>CNPJ 62552447000120 · Classe, subclasse e responsabilidade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"perimeter", "total_count": 1, "preview_count": 1, "full_text_deferred": true, "sha256": "d95db8c0613d67ee84118c734588665265ea6b02f86a0318d6a844cbe1d0f82f"}}</a:t>
            </a:r>
          </a:p>
          <a:p>
            <a:r>
              <a:t>CNPJ 63953620000165 · Classe, subclasse e responsabilidade · Anexo ao Regulamento · ID 1222863 · 02/06/2026 · versão AnexoConsignadoPrivado02/06/2026 · p. 3 · 2.1 · https://fnet.bmfbovespa.com.br/fnet/publico/visualizarDocumento?id=1222863</a:t>
            </a:r>
          </a:p>
          <a:p>
            <a:r>
              <a:t>CNPJ 63953620000165 · Classe, subclasse e responsabilidade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deverá adotar as medidas aplicáveis previstas na Resolução CVM 175. 2.3 Serão aplicáveis as disposições da Resolução CVM 175 no que se refere aos procedimentos a serem adotados pelo Administrador na hipótese de Patrimônio Líquido negativo da Classe. BTG Pactual SAC: 0800 772 28 27 - Ouvidoria: 0800 722 00 48 - btgpactual.com</a:t>
            </a:r>
          </a:p>
          <a:p>
            <a:r>
              <a:t>CNPJ 63953620000165 · Classe, subclasse e responsabilidade · Anexo ao Regulamento · ID 1222863 · 02/06/2026 · versão AnexoConsignadoPrivado02/06/2026 · p. 10 · 6.7.1 · https://fnet.bmfbovespa.com.br/fnet/publico/visualizarDocumento?id=1222863</a:t>
            </a:r>
          </a:p>
          <a:p>
            <a:r>
              <a:t>CNPJ 63953620000165 · Classe, subclasse e responsabilidade · Excerto da fonte:</a:t>
            </a:r>
          </a:p>
          <a:p>
            <a:r>
              <a:t>6.7.1 As Chamadas de Capital para a realização de investimentos serão realizadas a qualquer momento durante o Período de Investimento e estarão limitadas ao valor do capital subscrito de cada Cotista. As Chamadas de Capital para o pagamento de despesas e encargos do Fundo, com exceção de despesas relacionadas à instrumentos de derivativos e/ou Encargos não previstos no âmbito deste regulamento, poderão ser realizadas a qualquer momento durante o Prazo de Duração, mas não estarão limitadas ao valor do capital subscrito de cada Cotista. 6.7.2 Ao receber uma Chamada d</a:t>
            </a:r>
          </a:p>
          <a:p>
            <a:r>
              <a:t>CNPJ 63953620000165 · Classe, subclasse e responsabilidade · Condição: Alcance das chamadas além do capital comprometido não resolvido textualmente; não certificar limitação apenas por título do fundo.</a:t>
            </a:r>
          </a:p>
          <a:p>
            <a:r>
              <a:t>CNPJ 63953620000165 · Classe, subclasse e responsabilidade · Versão e prevalência: Leitura específica das cláusulas indicadas; condições e conflitos preservados. Seleção documental atual não comprova vigência jurídica por data isolada.</a:t>
            </a:r>
          </a:p>
          <a:p>
            <a:r>
              <a:t>CNPJ 63953620000165 · Classe, subclasse e responsabilidade · Resumo do histórico: {"count": 4, "dates": ["2026-04-28", "2026-05-08", "2026-05-15"], "document_count": 3, "sources": [{"document_id": "1327859", "title": "Demonstrações Financeiras - Fusão, cisão e incorporação", "reference_date": "2026-05-15", "version": "1", "page": 1, "url": "https://fnet.bmfbovespa.com.br/fnet/publico/visualizarDocumento?id=1327859", "sha256": "dca1c68babb97f887528c3e2e47596a9c30f507b067981a35655b2f2da9c8054"}, {"document_id": "1298691", "title": "Demonstrações Financeiras - Fusão, cisão e incorporação", "reference_date": "2026-05-08", "version": "1", "page": 1, "url": "https://fnet.bmfbovespa.com.br/fnet/publico/visualizarDocumento?id=1298691", "sha256": "58c570d9b8d4d265330d3db3ea81c435b8e44a6dab4002aa37790652a1ee9819"}, {"document_id": "1205431", "title": "AGE", "reference_date": "2026-04-28", "version": "1", "page": 1, "clause": "4.1", "url": "https://fnet.bmfbovespa.com.br/fnet/publico/visualizarDocumento?id=1205431", "sha256": "e0b59c701c5d0dbf60de698ea7664d442240863b7043bacdb334ce484188b2ac"}], "reference": {"path": "history/63953620000165.json", "criterion_id": "perimeter", "total_count": 4, "preview_count": 3, "full_text_deferred": true, "sha256": "a7b89077f5e21098c2d601c303faabc3ff6b9729f89d8afecdc60fe1404720c1"}}</a:t>
            </a:r>
          </a:p>
          <a:p>
            <a:r>
              <a:t>CNPJ 54871427000194 · Adaptação à Resolução CVM 175 · Regulamento · ID 670691 · 28/04/2024 · versão Regulamento — referência 28/04/2024 · p. 1 · Parte Geral, 1.1 · https://fnet.bmfbovespa.com.br/fnet/publico/visualizarDocumento?id=670691</a:t>
            </a:r>
          </a:p>
          <a:p>
            <a:r>
              <a:t>CNPJ 54871427000194 · Adaptação à Resolução CVM 175 · Excerto da fonte:</a:t>
            </a:r>
          </a:p>
          <a:p>
            <a:r>
              <a:t>1.1 CONSIGNADO DELTA RECEIVABLES I FUNDO DE INVESTIMENTO EM DIREITOS CREDITÓRIOS (“FUNDO”), regido pela Lei nº 10.406, de 10 de janeiro de 2002, conf orme alterada (“Código Civil”), pela parte geral e o Anexo Normativo II da Resolução nº 175, de 23 de dezembro de 2022, conforme alterada, da Comissão de Valores Mobiliários (respectivamente, “CVM” e “Resolução CVM 175”), terá como principais características: Classe de Cotas Classe única. Indeterminado, exceto se de outra f orma vier a ser deliberado pelos cotistas Prazo de Duração reunidos em assembleia geral de cotistas. BTG Pactual Serviços Financeiros S.A. Distribuidora de Títulos e Valores Mobiliários, instituição f inanceira, com sede na Cidade e Estado do Rio de Janeiro, na Praia de Botafogo, nº 501, 5º andar (parte), Torre Corcovado, ADMINISTRADOR Botafogo, CEP 22250-040, inscrita no CNPJ sob o nº 59.281.253/0001-23 e credenciada como administradora de carteira, de acordo com o Ato Declaratório CVM nº</a:t>
            </a:r>
          </a:p>
          <a:p>
            <a:r>
              <a:t>CNPJ 54871427000194 · Adaptação à Resolução CVM 175 · Regulamento · ID 670691 · 28/04/2024 · versão Regulamento — referência 28/04/2024 · p. 8 · Anexo I, 2.1 · https://fnet.bmfbovespa.com.br/fnet/publico/visualizarDocumento?id=670691</a:t>
            </a:r>
          </a:p>
          <a:p>
            <a:r>
              <a:t>CNPJ 54871427000194 · Adaptação à Resolução CVM 175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deverá adotar as medidas aplicáveis previstas na Resolução CVM 175. 2.3 Serão aplicáveis as disposições da Resolução CVM 175 no que se refere aos procedimentos a serem adotados pelo ADMINISTRADOR na hipótese de Patrimônio Líquido negativo da Classe. CAPÍTULO 3 – ENCARGOS DA CLASSE 3.1 A Classe terá Encargos que lhe poderão ser debitados diretamente, nos termos do art. 53 do Anexo Normativo II da Resolução CVM 175, além de encargos adicionais, e quaisquer despesas que não constituam Encargos correm por conta do Prestador de Serviço Essencial que a tiver contratado: (i) despesas com a contratação de consultoria especializada, conf orme o caso; (ii) despesas com a contratação do Agente de Cobrança, conf orme aplicável; (iii) Taxa Máxima de Custódia; (iv) despesas com registro de Direitos Creditórios; (v) despesas com serviços de originação, cobranças ordinária e/ou extraordinária dos D</a:t>
            </a:r>
          </a:p>
          <a:p>
            <a:r>
              <a:t>CNPJ 54871427000194 · Adaptação à Resolução CVM 175 · Versão e prevalência: Leitura específica das cláusulas indicadas; condições e conflitos preservados. Seleção documental atual não comprova vigência jurídica por data isolada.</a:t>
            </a:r>
          </a:p>
          <a:p>
            <a:r>
              <a:t>CNPJ 54871427000194 · Adaptação à Resolução CVM 175 · Resumo do histórico: {"count": 2, "dates": ["2024-04-19"], "document_count": 2, "sources": [{"document_id": "670687", "title": "Instrumento Particular de Constituição/Encerramento do Fundo", "reference_date": "2024-04-19", "version": "1", "page": 1, "url": "https://fnet.bmfbovespa.com.br/fnet/publico/visualizarDocumento?id=670687", "sha256": "999f2a47d39f7022b0fcee3d16fd1db33948537b897e92c4c9e14b436bf5eb96"}, {"document_id": "670689", "title": "Regulamento", "reference_date": "2024-04-19", "version": "1", "page": 11, "clause": "4.10", "url": "https://fnet.bmfbovespa.com.br/fnet/publico/visualizarDocumento?id=670689", "sha256": "891bc9bc5d87bbc02ec139077a84d2702eb81ea02035fb71d24f5b8366b94a0b"}], "reference": {"path": "history/54871427000194.json", "criterion_id": "res175", "total_count": 2, "preview_count": 2, "full_text_deferred": true, "sha256": "35d7cd99be50c7287c9fb675cf4f2e736002315295a225a9efa79c8d9186d874"}}</a:t>
            </a:r>
          </a:p>
          <a:p>
            <a:r>
              <a:t>CNPJ 60010416000112 · Adaptação à Resolução CVM 175 · Regulamento · ID 1051393 · 09/10/2025 · versão Regulamento09/10/2025 · p. 8 · AnexoI1.2 · https://fnet.bmfbovespa.com.br/fnet/publico/visualizarDocumento?id=1051393</a:t>
            </a:r>
          </a:p>
          <a:p>
            <a:r>
              <a:t>CNPJ 60010416000112 · Adaptação à Resolução CVM 175 · Excerto da fonte:</a:t>
            </a:r>
          </a:p>
          <a:p>
            <a:r>
              <a:t>Tipo de Condomínio Fechado. Prazo de Duração Indeterminado. Classe de Investimento Não. em Cotas Tipo “Financeiro”. Classificação ANBIMA Foco de atuação “Créditos Consignados”. O objetivo da classe é proporcionar aos seus Cotistas a valorização de suas Cotas por meio da aplicação de seu Patrimônio Líquido na aquisição de: (i) Direitos Creditórios que atendam aos Critérios de Elegibilidade, estabelecidos no Ca</a:t>
            </a:r>
          </a:p>
          <a:p>
            <a:r>
              <a:t>CNPJ 60010416000112 · Adaptação à Resolução CVM 175 · Regulamento · ID 1051393 · 09/10/2025 · versão Regulamento09/10/2025 · p. 9 · AnexoI2.1–2.3 · https://fnet.bmfbovespa.com.br/fnet/publico/visualizarDocumento?id=1051393</a:t>
            </a:r>
          </a:p>
          <a:p>
            <a:r>
              <a:t>CNPJ 60010416000112 · Adaptação à Resolução CVM 175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o Administrador deverá adotar as medidas aplicáveis previstas na Resolução CVM 175 2.3 Serão aplicáveis as disposições da Resolução CVM 175 no que se ref ere aos procedimentos a serem adotados pelo Administrador na hipótese de Patrimônio Líquido negativo da Classe, visando a liquidação da Classe e que não remanesçam</a:t>
            </a:r>
          </a:p>
          <a:p>
            <a:r>
              <a:t>CNPJ 60010416000112 · Adaptação à Resolução CVM 175 · Versão e prevalência: Leitura específica das cláusulas indicadas; condições e conflitos preservados. Seleção documental atual não comprova vigência jurídica por data isolada.</a:t>
            </a:r>
          </a:p>
          <a:p>
            <a:r>
              <a:t>CNPJ 60010416000112 · Adaptação à Resolução CVM 175 · Resumo do histórico: {"count": 2, "dates": ["2025-03-20"], "document_count": 2, "sources": [{"document_id": "993785", "title": "Instrumento Particular de Constituição/Encerramento do Fundo", "reference_date": "2025-03-20", "version": "1", "page": 1, "url": "https://fnet.bmfbovespa.com.br/fnet/publico/visualizarDocumento?id=993785", "sha256": "0826e0eae2c51afabf59bbc49fc7647598d03da5ca6de0f9725850a8bd6af457"}, {"document_id": "993786", "title": "Regulamento", "reference_date": "2025-03-20", "version": "1", "page": 12, "clause": "4.8", "url": "https://fnet.bmfbovespa.com.br/fnet/publico/visualizarDocumento?id=993786", "sha256": "fd0fdd369a195510d81f81f505195a0b09e5f43522a990afa7d58c4f872921c8"}], "reference": {"path": "history/60010416000112.json", "criterion_id": "res175", "total_count": 2, "preview_count": 2, "full_text_deferred": true, "sha256": "8e2bd813f4c51cf01f6bfaad164bafe69d2bbb192f753eac92da3a01c2e63046"}}</a:t>
            </a:r>
          </a:p>
          <a:p>
            <a:r>
              <a:t>CNPJ 62696791000193 · Adaptação à Resolução CVM 175 · AGE · ID 1143319 · 20/03/2026 10:00 · versão AGE — referência 20/03/2026 10:00 · p. 1 · AGC, 4.1(a)–(b) · https://fnet.bmfbovespa.com.br/fnet/publico/visualizarDocumento?id=1143319</a:t>
            </a:r>
          </a:p>
          <a:p>
            <a:r>
              <a:t>CNPJ 62696791000193 · Adaptação à Resolução CVM 175 · Excerto da fonte:</a:t>
            </a:r>
          </a:p>
          <a:p>
            <a:r>
              <a:t>4.1. Aprovar a transformação do Fundo, bem como de sua Classe única, em um fundo de investimento nas cadeias produtivas do agronegócio (“Transformação”), nos termos da parte geral e do Anexo Normativo VI da Resolução nº 175 da CVM, de 23 de dezembro de 2022, conforme alterada (“Resolução CVM 175”). a. Aprovar a alteração da denominação do Fundo, que passará a vigorar como BTG PACTUAL CERES CONFINA FUNDO DE INVESTIMENTO NAS CADEIAS PRODUTIVAS DO AGRONEGÓCIO RESPONSABILIDADE LIMITADA, e de sua Classe única, que passará a vigorar como CLASSE ÚNICA DO BTG PACTUAL CERES CONFINA FUNDO DE INVESTIMENTO NAS CADEIAS PRODUTIVAS DO AGRONEGÓCIO RESPONSABILIDADE LIMITADA (“Classe”); b. Aprovar a reforma integral do Regulamento do Fundo, bem como do Anexo descritivo da Classe, para realizar todos os ajustes necessários à implementação da Transformação, incluindo, mas não se limitando, a política de investimentos, o regime tributário e os fatores de risco aplicáveis, conforme itens abaixo; c. Aprovar a alteração do quadro de características gerais do Fundo, considerando a contratação do Cogestor pelo Gestor, nos termos do artigo 52, II, da parte geral da Resolução CVM 175 e no co</a:t>
            </a:r>
          </a:p>
          <a:p>
            <a:r>
              <a:t>CNPJ 62696791000193 · Adaptação à Resolução CVM 175 · AGE · ID 1143319 · 20/03/2026 10:00 · versão AGE — referência 20/03/2026 10:00 · p. 3 · AGC 20/03/2026, 4.1(j)–(k) · https://fnet.bmfbovespa.com.br/fnet/publico/visualizarDocumento?id=1143319</a:t>
            </a:r>
          </a:p>
          <a:p>
            <a:r>
              <a:t>CNPJ 62696791000193 · Adaptação à Resolução CVM 175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Adaptação à Resolução CVM 175 · Regulamento · ID 1143317 · 20/03/2026 · versão Regulamento — referência 20/03/2026 · p. 1 · Parte Geral, 1.1 · https://fnet.bmfbovespa.com.br/fnet/publico/visualizarDocumento?id=1143317</a:t>
            </a:r>
          </a:p>
          <a:p>
            <a:r>
              <a:t>CNPJ 62696791000193 · Adaptação à Resolução CVM 175 · Excerto da fonte:</a:t>
            </a:r>
          </a:p>
          <a:p>
            <a:r>
              <a:t>1.1 BTG PACTUAL CERES CONFINA FUNDO DE INVESTIMENTO NAS CADEIAS PRODUTIVAS DO AGRONEGÓCIO RESPONSABILIDADE LIMITADA (“Fundo”), regido pela Lei nº 10.406, de 10 de janeiro de 2002, conf orme alterada (“Código Civil”), pela Lei n.º 8.668, de 25 de junho de 1993, conf orme alterada (“Lei 8.668”), pela parte geral, Anexo Normativo VI e, subsidiariamente, Anexo Normativo II da Resolução nº 175, de 23 de dezembro de 2022, conforme alterada, da Comissão de Valores Mobiliários (respectivamente, “Resolução CVM 175” e “CVM”), terá como principais características: Classe Classe única. Indeterminado, exceto se de outra f orma vier a ser deliberado pelos Cotistas Prazo de Duração reunidos em assembleia geral de Cotistas (“Prazo de Duração”). BTG Pactual Serviços Financeiros S.A. Distribuidora de Títulos e Valores Mobiliários, sociedade anônima, com sede no município e Estado do Rio de Janeiro, na Praia de Botafogo, nº 501, 5º andar (parte), Torre Corcovado, Administrador Botafogo, CEP 22250-040, inscrita no CNPJ sob o nº 59.281.253/0001-23 e</a:t>
            </a:r>
          </a:p>
          <a:p>
            <a:r>
              <a:t>CNPJ 62696791000193 · Adaptação à Resolução CVM 175 · Condição: Posição comumfev/26 é anterior à transformação e demanda o regime/regulamento anterior.</a:t>
            </a:r>
          </a:p>
          <a:p>
            <a:r>
              <a:t>CNPJ 62696791000193 · Adaptação à Resolução CVM 175 · Versão e prevalência: Leitura específica das cláusulas indicadas; condições e conflitos preservados. Seleção documental atual não comprova vigência jurídica por data isolada.</a:t>
            </a:r>
          </a:p>
          <a:p>
            <a:r>
              <a:t>CNPJ 55563624000109 · Adaptação à Resolução CVM 175 · Regulamento · ID 1192614 · 2026-04-30 · versão 1 · p. 13 · 4.11 · https://fnet.bmfbovespa.com.br/fnet/publico/visualizarDocumento?id=1192614</a:t>
            </a:r>
          </a:p>
          <a:p>
            <a:r>
              <a:t>CNPJ 55563624000109 · Adaptação à Resolução CVM 175 · Excerto da fonte:</a:t>
            </a:r>
          </a:p>
          <a:p>
            <a:r>
              <a:t>4.11 Nos termos dos artigos 45, parágrafo 7º, e 47 parágrafo único do Anexo Normativo II à Resolução CVM 175, uma  vez que as Cotas são destinadas exclusivamente a Investidores Profissionais, a Classe poderá ter até 100% (cem  por cento) de seu Patrimônio Líquido alocado em Cotas da Classe Investida, as quais são emitidas pela Classe  Investida.</a:t>
            </a:r>
          </a:p>
          <a:p>
            <a:r>
              <a:t>CNPJ 55563624000109 · Adaptação à Resolução CVM 175 · Regulamento · ID 1192614 · 2026-04-30 · versão 1 · p. 31 · 15.1.1 · https://fnet.bmfbovespa.com.br/fnet/publico/visualizarDocumento?id=1192614</a:t>
            </a:r>
          </a:p>
          <a:p>
            <a:r>
              <a:t>CNPJ 55563624000109 · Adaptação à Resolução CVM 175 · Excerto da fonte:</a:t>
            </a:r>
          </a:p>
          <a:p>
            <a:r>
              <a:t>15.1.1 Riscos de Crédito:</a:t>
            </a:r>
          </a:p>
          <a:p>
            <a:r>
              <a:t> (i) Risco de concentração na Classe Investida. Nos termos do presente Regulamento, a Classe  deverá manter alocado, no mínimo, 67% (sessenta e sete por cento) do Patrimônio Líquido nas Cotas  da Classe Investida. Alterações na condição econômico-financeira e na expectativa de desempenho ou  resultados da Classe Investida poderão, isolada ou cumulativamente, afetar negativamente o  rendimento do investimento nas Cotas, de forma mais severa do que se a Classe adotasse uma  estratégia de investimento de maior diversificação. O risco associado às aplicações de qualquer fundo  de investimento é diretamente proporcional à concentração da sua carteira, sendo que, quanto maior  essa concentração, maior será a sua vulnerabilidade.</a:t>
            </a:r>
          </a:p>
          <a:p>
            <a:r>
              <a:t> (ii) Risco relativo à Classe Investida. Nos termos deste Anexo, a Classe deverá manter alocado, no  mínimo, 67% (sessenta e sete por cento) do Patrimônio Líquido em Cotas da Classe Investida. Os  investimentos realizados pela Classe Investida poderão estar sujeitos a flutuações típicas do mercado,  risco de crédito, risco sistêmico, condições adversas de liquidez e negociação atípica nos mercados de  atuação, bem como outros riscos diversos. Este Anexo não contém a descrição de todas as  características, incluindo os riscos, da Classe Investida.</a:t>
            </a:r>
          </a:p>
          <a:p>
            <a:r>
              <a:t> (iii) Risco Relativo ao Pagamento de Encargos da Classe Investida. Tendo em vista a estrutura da  Classe Investida – que emitiu cotas sêniores, cotas subordinadas mezanino e cotas subordinadas júnior  – em situação ordinária os encargos da Classe Investida são arcados pelas cotas subordinadas júnior,  que se subordinam às cotas subordinadas mezanino e às cotas sêniores para fins de amortização,  resgate e distribuição de rendimentos, não impactando, portanto, as Cotas da Classe Investida. Não  obstante o funcionamento da Classe Investida em situação ordinária, em cenários extraordinários, na  eventualidade do valor das cotas subordinadas júnior ficar reduzido a zero ou a valor negativo, os  encargos da Classe Investida conforme previstos em seu regulamento, inclusive mas não se limitando  as remunerações dos prestadores de serviços essenciais, passarão a ser arcados pelas cotas  subordinadas mezanino (que são as Cotas da Classe Investida), impactando no valor do investimento  da Classe na Classe Investida, e consequentemente, o investimento dos Cotistas na Classe.</a:t>
            </a:r>
          </a:p>
          <a:p>
            <a:r>
              <a:t> (iv) Riscos referentes à carteira da Classe Investida. Na forma do Anexo Normativo II da Resolução  CVM 175, a Classe Investida investe, direta ou indiretamente, no mínimo, 67% (sessenta e sete por  cento) do seu patrimônio em direitos creditórios originados pela Mercado Pago. O investimento em tais  direitos creditórios está sujeito a fatores de risco específicos, conforme detalhados no regulamento da  Classe Investida, incluindo, mas não se limitando a:</a:t>
            </a:r>
          </a:p>
          <a:p>
            <a:r>
              <a:t> (a) Risco de liquidez dos direitos creditórios. O investimento da Classe Investida em direitos  creditórios apresenta peculiaridades em relação às aplicações usuais da maioria dos  fundos de investimento brasileiros, haja vista que não existe, no Brasil, mercado  secundário com liquidez para tais direitos creditórios. Caso a Classe Investida precise  vender os direitos creditórios adquiridos, poderá não haver mercado comprador para  tais créditos, bem como o preço de alienação de tais direitos creditórios poderá refletir  essa falta de liquidez, causando perda ao patrimônio da Classe Investida e,  consequentemente, à Classe.</a:t>
            </a:r>
          </a:p>
          <a:p>
            <a:r>
              <a:t>CNPJ 55563624000109 · Adaptação à Resolução CVM 175 · Regulamento · ID 1192614 · 2026-04-30 · versão 1 · p. 28 · 13.2 · https://fnet.bmfbovespa.com.br/fnet/publico/visualizarDocumento?id=1192614</a:t>
            </a:r>
          </a:p>
          <a:p>
            <a:r>
              <a:t>CNPJ 55563624000109 · Adaptação à Resolução CVM 175 · Excerto da fonte:</a:t>
            </a:r>
          </a:p>
          <a:p>
            <a:r>
              <a:t>13.2 Em condições ordinárias, as Cotas da Classe Investida não pagarão remuneração aos prestadores de serviços  essenciais da Classe Investida, nos termos de seu regulamento. Não obstante, em cenário extraordinário  conforme descrito no item 15.1.1 (iii), e para fins de atendimento ao artigo 98 da parte geral da Resolução CVM  175, a taxa máxima de administração corresponderá ao valor da Taxa Mínima de Administração acrescida de até  0,10% (dez centésimos por cento) ao ano incidente sobre o patrimônio líquido da Classe Investida,  compreendendo a taxa de administração da Classe Investida geridos por partes relacionadas ao GESTOR, cujas  cotas não estão admitidas à negociação em mercado organizado, conforme prevista no regulamento da Classe  Investida (“Taxa Máxima de Administração” e, quando referida em conjunto com a Taxa Mínima de  Administração, como “Taxa de Administração”). Caso a taxa de administração da Classe Investida não se  enquadre no disposto acima, estará disposta no regulamento da Classe Investida.</a:t>
            </a:r>
          </a:p>
          <a:p>
            <a:r>
              <a:t>CNPJ 55563624000109 · Adaptação à Resolução CVM 175 · Condição: Documentos atuais selecionados no inventário por categoria/escopo; a data documental isolada não comprova vigência jurídica.</a:t>
            </a:r>
          </a:p>
          <a:p>
            <a:r>
              <a:t>CNPJ 55563624000109 · Adaptação à Resolução CVM 175 · Versão e prevalência: Documentos atuais selecionados no inventário por categoria/escopo; a data documental isolada não comprova vigência jurídica.</a:t>
            </a:r>
          </a:p>
          <a:p>
            <a:r>
              <a:t>CNPJ 55563624000109 · Adaptação à Resolução CVM 175 · Resumo do histórico: {"count": 3, "dates": ["2024-07-03", "2025-01-31", "2026-01-31"], "document_count": 3, "sources": [{"document_id": "1178840", "title": "Demonstrações Financeiras", "reference_date": "2026-01-31", "version": "1", "page": 29, "url": "https://fnet.bmfbovespa.com.br/fnet/publico/visualizarDocumento?id=1178840", "sha256": "c458e98664c5c907ddb5a05a94b120bed4e05295b2bfc420f5ba69af0a229abe"}, {"document_id": "891861", "title": "Demonstrações Financeiras", "reference_date": "2025-01-31", "version": "1", "page": 30, "url": "https://fnet.bmfbovespa.com.br/fnet/publico/visualizarDocumento?id=891861", "sha256": "e9cb9e6ddbe505fe068cfcac33605165a98313489de0d3ce6d4d238263c3f3e7"}, {"document_id": "691674", "title": "Instrumento Particular de Emissão de Cotas", "reference_date": "2024-07-03", "version": "1", "page": 1, "url": "https://fnet.bmfbovespa.com.br/fnet/publico/visualizarDocumento?id=691674", "sha256": "78bf7b350f1785beae5f43bd209b5ed19e863cb9a2cff01542aac11dd63ca554"}], "reference": {"path": "history/55563624000109.json", "criterion_id": "res175", "total_count": 3, "preview_count": 3, "full_text_deferred": true, "sha256": "7835d573fb58a3c19adf5b8ecc2aee2bdbb9a88f7a0c0209b5f262b64c7522e3"}}</a:t>
            </a:r>
          </a:p>
          <a:p>
            <a:r>
              <a:t>CNPJ 62552447000120 · Adaptação à Resolução CVM 175 · Regulamento · ID 1200623 · 21/05/2026 · versão Consolidado21/05/2026 aprovado pelo ato1200625 · p. 1 · ParteGeral1.1 · https://fnet.bmfbovespa.com.br/fnet/publico/visualizarDocumento?id=1200623</a:t>
            </a:r>
          </a:p>
          <a:p>
            <a:r>
              <a:t>CNPJ 62552447000120 · Adaptação à Resolução CVM 175 · Excerto da fonte:</a:t>
            </a:r>
          </a:p>
          <a:p>
            <a:r>
              <a:t>1.1 V CDT 1 FUNDO DE INVESTIMENTO EM DIREITOS CREDITÓRIOS RESPONSABILIDADE LIMITADA (“Fundo”), regido pela Lei n.º 10.406, de 10 de janeiro de 2002, conforme alterada (“Código Civil”), pela Resolução da Comissão de Valores Mobiliários (“CVM”) n.º 175, de 23 de dezembro de 2022, conf orme alterada (“Resolução CVM 175”), que inclui sua Parte Geral (“Parte Geral da Resolução CVM 175”) e seu Anexo Normativo II (“Anexo Normativo II”) terá como principais características: Classe de Cotas Classe única. Indeterminado, exceto se de outra forma vier a ser deliberado pelos titulares</a:t>
            </a:r>
          </a:p>
          <a:p>
            <a:r>
              <a:t>CNPJ 62552447000120 · Adaptação à Resolução CVM 175 · Regulamento · ID 1200623 · 21/05/2026 · versão Consolidado21/05/2026 aprovado pelo ato1200625 · p. 2 · ParteGeral1.6(v) · https://fnet.bmfbovespa.com.br/fnet/publico/visualizarDocumento?id=1200623</a:t>
            </a:r>
          </a:p>
          <a:p>
            <a:r>
              <a:t>CNPJ 62552447000120 · Adaptação à Resolução CVM 175 · Excerto da fonte:</a:t>
            </a:r>
          </a:p>
          <a:p>
            <a:r>
              <a:t>V CDT 1 FUNDO DE INVESTIMENTO EM DIREITOS CREDITÓRIOS RESPONSABILIDADE LIMITADA direitos e obrigações distintos das demais Classes, nos termos do art. 5º da Parte Geral da Resolução CVM 175. 1.4 O Anexo de cada classe de Cotas (“Classe”), conforme aplicável, dispõe, sem prejuízo de outros requisitos e inf ormações previstos na regulamentação, sobre: (i) características gerais, incluindo a indicação dos demais prestadores de serviços; (ii) responsabilidade dos Cotistas e regime de insolvência; (iii) características, direitos, condições de emissão, subscrição, integralização,</a:t>
            </a:r>
          </a:p>
          <a:p>
            <a:r>
              <a:t>CNPJ 62552447000120 · Adaptação à Resolução CVM 175 · Regulamento · ID 1200623 · 21/05/2026 · versão Consolidado21/05/2026 aprovado pelo ato1200625 · p. 16 · AnexoI5.1 · https://fnet.bmfbovespa.com.br/fnet/publico/visualizarDocumento?id=1200623</a:t>
            </a:r>
          </a:p>
          <a:p>
            <a:r>
              <a:t>CNPJ 62552447000120 · Adaptação à Resolução CVM 175 · Excerto da fonte:</a:t>
            </a:r>
          </a:p>
          <a:p>
            <a:r>
              <a:t>5.1 A Classe não possui Subclasse. As características, os direitos e as condições de emissão, distribuição, subscrição, integralização, remuneração, Amortização e resgate das Cotas estão descritos neste Capítulo e no Capítulo 6. 5.1.1 Não obstante, por deliberação conjunta dos Prestadores de Serviços Essenciais e mediante aprovação em Assembleia Especial, poderá haver a divisão de Classes em Subclasses, nos termos da Resolução CVM 175. Após a primeira emissão de Cotas, novas emissões de Cotas (de quaisquer Subclasses) dependem de aprovação dos Cotistas. 5.2 As Cotas são escrit</a:t>
            </a:r>
          </a:p>
          <a:p>
            <a:r>
              <a:t>CNPJ 62552447000120 · Adaptação à Resolução CVM 175 · Versão e prevalência: Leitura específica das cláusulas indicadas; condições e conflitos preservados. Seleção documental atual não comprova vigência jurídica por data isolada.</a:t>
            </a:r>
          </a:p>
          <a:p>
            <a:r>
              <a:t>CNPJ 62552447000120 · Adaptação à Resolução CVM 175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"res175", "total_count": 1, "preview_count": 1, "full_text_deferred": true, "sha256": "d95db8c0613d67ee84118c734588665265ea6b02f86a0318d6a844cbe1d0f82f"}}</a:t>
            </a:r>
          </a:p>
          <a:p>
            <a:r>
              <a:t>CNPJ 63953620000165 · Adaptação à Resolução CVM 175 · Anexo ao Regulamento · ID 1222863 · 02/06/2026 · versão AnexoConsignadoPrivado02/06/2026 · p. 1 · AnexoI1.1 · https://fnet.bmfbovespa.com.br/fnet/publico/visualizarDocumento?id=1222863</a:t>
            </a:r>
          </a:p>
          <a:p>
            <a:r>
              <a:t>CNPJ 63953620000165 · Adaptação à Resolução CVM 175 · Excerto da fonte:</a:t>
            </a:r>
          </a:p>
          <a:p>
            <a:r>
              <a:t>1.1 As principais características da Classe Consignado Privado (para fins deste Anexo, “Classe”) estão descritas abaixo: Tipo de Condomínio Fechado. Indeterminado, exceto se de outra forma vier a ser deliberado pelos Cotistas Prazo de Duração reunidos em Assembleia Especial de Cotistas. (“Prazo de Duração”) Tipo “Financeiro”. Classificação ANBIMA Foco de atuação “Créditos Consignados”. O obje</a:t>
            </a:r>
          </a:p>
          <a:p>
            <a:r>
              <a:t>CNPJ 63953620000165 · Adaptação à Resolução CVM 175 · Anexo ao Regulamento · ID 1222863 · 02/06/2026 · versão AnexoConsignadoPrivado02/06/2026 · p. 9 · 5.1 · https://fnet.bmfbovespa.com.br/fnet/publico/visualizarDocumento?id=1222863</a:t>
            </a:r>
          </a:p>
          <a:p>
            <a:r>
              <a:t>CNPJ 63953620000165 · Adaptação à Resolução CVM 175 · Excerto da fonte:</a:t>
            </a:r>
          </a:p>
          <a:p>
            <a:r>
              <a:t>5.1 A Classe possui 2 (duas) Subclasses de Cotas, quais sejam, a subclasse sênior (“Subclasse Sênior” e “Cotas Seniores”) e a subclasse subordinada (“Subclasse Subordinada” e “Cotas Subordinadas” – as Cotas Subordinadas e Cotas Seniores, quando referidas em conjunto, “Cotas”). As características, os direitos e as condições de emissão, distribuição, subscrição, integralização, remuneração, amortização e resgate das Cotas estão descritos neste Capítulo e nos respectivos Apêndices. 5.2 As Cotas são escriturais, nominativas e correspondem a frações ideais do patrimônio da Classe, cuja propriedade presume-se: (i) pelo</a:t>
            </a:r>
          </a:p>
          <a:p>
            <a:r>
              <a:t>CNPJ 63953620000165 · Adaptação à Resolução CVM 175 · Condição: Vigência efetiva da versão 02/06/2026 não inferida da data de publicação; não aplicar a fev/26 automaticamente.</a:t>
            </a:r>
          </a:p>
          <a:p>
            <a:r>
              <a:t>CNPJ 63953620000165 · Adaptação à Resolução CVM 175 · Versão e prevalência: Leitura específica das cláusulas indicadas; condições e conflitos preservados. Seleção documental atual não comprova vigência jurídica por data isolada.</a:t>
            </a:r>
          </a:p>
          <a:p>
            <a:r>
              <a:t>CNPJ 63953620000165 · Adaptação à Resolução CVM 175 · Resumo do histórico: {"count": 9, "dates": ["2026-04-28", "2026-05-08", "2026-05-15"], "document_count": 3, "sources": [{"document_id": "1327859", "title": "Demonstrações Financeiras - Fusão, cisão e incorporação", "reference_date": "2026-05-15", "version": "1", "page": 31, "clause": "15.000.000", "url": "https://fnet.bmfbovespa.com.br/fnet/publico/visualizarDocumento?id=1327859", "sha256": "dca1c68babb97f887528c3e2e47596a9c30f507b067981a35655b2f2da9c8054"}, {"document_id": "1298691", "title": "Demonstrações Financeiras - Fusão, cisão e incorporação", "reference_date": "2026-05-08", "version": "1", "page": 32, "url": "https://fnet.bmfbovespa.com.br/fnet/publico/visualizarDocumento?id=1298691", "sha256": "58c570d9b8d4d265330d3db3ea81c435b8e44a6dab4002aa37790652a1ee9819"}, {"document_id": "1282180", "title": "Demonstrações Financeiras - Fusão, cisão e incorporação", "reference_date": "2026-04-28", "version": "1", "page": 32, "clause": "15.000.000", "url": "https://fnet.bmfbovespa.com.br/fnet/publico/visualizarDocumento?id=1282180", "sha256": "afaaa0e6809be4385e5bdb6c911aac582032c5bdbac3d7750234bf9eaf00438a"}], "reference": {"path": "history/63953620000165.json", "criterion_id": "res175", "total_count": 9, "preview_count": 3, "full_text_deferred": true, "sha256": "a7b89077f5e21098c2d601c303faabc3ff6b9729f89d8afecdc60fe1404720c1"}}</a:t>
            </a:r>
          </a:p>
          <a:p>
            <a:r>
              <a:t>CNPJ 54871427000194 · Duração e público-alvo · Demonstrações Financeiras - Fusão, cisão e incorporação · ID 1219522 · 2026-02-02 · versão 1 · p. 11 · https://fnet.bmfbovespa.com.br/fnet/publico/visualizarDocumento?id=1219522</a:t>
            </a:r>
          </a:p>
          <a:p>
            <a:r>
              <a:t>CNPJ 54871427000194 · Duração e público-alvo · Excerto da fonte:</a:t>
            </a:r>
          </a:p>
          <a:p>
            <a:r>
              <a:t>O Consignado Delta Receivables I Fundo de Investimento em Direitos Creditórios possui uma classe única de cotas, denominada Classe Única de Responsabilidade Limitada do Consignado Delta Receivables I Fundo de Investimento em Direitos Creditórios (“Classe”). A Classe foi constituída em 19 de abril de 2024, sob a forma de condomínio fechado e iniciou suas operações em 27 de maio de 2024. A Classe possui prazo de duração Indeterminado.</a:t>
            </a:r>
          </a:p>
          <a:p>
            <a:r>
              <a:t>CNPJ 54871427000194 · Duração e público-alvo · Condição: Documentos atuais selecionados no inventário por categoria/escopo; a data documental isolada não comprova vigência jurídica.</a:t>
            </a:r>
          </a:p>
          <a:p>
            <a:r>
              <a:t>CNPJ 54871427000194 · Duração e público-alvo · Versão e prevalência: Documentos atuais selecionados no inventário por categoria/escopo; a data documental isolada não comprova vigência jurídica.</a:t>
            </a:r>
          </a:p>
          <a:p>
            <a:r>
              <a:t>CNPJ 54871427000194 · Duração e público-alvo · Resumo do histórico: {"count": 11, "dates": ["2024-12-31", "2025-01-01", "2025-12-31"], "document_count": 3, "sources": [{"document_id": "1151805", "title": "Demonstrações Financeiras", "reference_date": "2025-12-31", "version": "1", "page": 11, "url": "https://fnet.bmfbovespa.com.br/fnet/publico/visualizarDocumento?id=1151805", "sha256": "f1cea70b152968bf96ef9221b27225953cb20aeef487b2798db3c25e11b528d4"}, {"document_id": "869529", "title": "Demonstrações Financeiras", "reference_date": "2025-01-01", "version": "1", "page": 11, "url": "https://fnet.bmfbovespa.com.br/fnet/publico/visualizarDocumento?id=869529", "sha256": "9a93a9369ac8efdbc54ff8fcee3ccac3abf88edab4807b9323d3852450771b2a"}, {"document_id": "870070", "title": "Demonstrações Financeiras", "reference_date": "2024-12-31", "version": "1", "page": 11, "url": "https://fnet.bmfbovespa.com.br/fnet/publico/visualizarDocumento?id=870070", "sha256": "9a93a9369ac8efdbc54ff8fcee3ccac3abf88edab4807b9323d3852450771b2a"}], "reference": {"path": "history/54871427000194.json", "criterion_id": "duration_investors", "total_count": 11, "preview_count": 3, "full_text_deferred": true, "sha256": "35d7cd99be50c7287c9fb675cf4f2e736002315295a225a9efa79c8d9186d874"}}</a:t>
            </a:r>
          </a:p>
          <a:p>
            <a:r>
              <a:t>CNPJ 60010416000112 · Duração e público-alvo · Demonstrações Financeiras - Fusão, cisão e incorporação · ID 1298690 · 2026-05-08 · versão 1 · p. 9 · https://fnet.bmfbovespa.com.br/fnet/publico/visualizarDocumento?id=1298690</a:t>
            </a:r>
          </a:p>
          <a:p>
            <a:r>
              <a:t>CNPJ 60010416000112 · Duração e público-alvo · Excerto da fonte:</a:t>
            </a:r>
          </a:p>
          <a:p>
            <a:r>
              <a:t>1. Contexto operacional  O MT Consignado Privado I Fundo de Investimento em Direitos Creditórios (“Fundo”) possui uma  classe única de cotas, denominada Classe Única do MT I Consignado Privado I Fundo de  Investimento em Direitos Creditórios Responsabilidade Limitada (“Classe”). A Classe foi  constituída em 20 de março de 2025, sob a forma de condomínio fechado e iniciou suas  operações em 21 de março de 2025. A Classe possui prazo de duração indeterminado.</a:t>
            </a:r>
          </a:p>
          <a:p>
            <a:r>
              <a:t>CNPJ 60010416000112 · Duração e público-alvo · Demonstrações Financeiras - Fusão, cisão e incorporação · ID 1298690 · 2026-05-08 · versão 1 · p. 22 · https://fnet.bmfbovespa.com.br/fnet/publico/visualizarDocumento?id=1298690</a:t>
            </a:r>
          </a:p>
          <a:p>
            <a:r>
              <a:t>CNPJ 60010416000112 · Duração e público-alvo · Excerto da fonte:</a:t>
            </a:r>
          </a:p>
          <a:p>
            <a:r>
              <a:t>(ii) Riscos do mercado secundário: A Classe é constituída sob a forma de condomínio  fechado, de modo que as Cotas Subordinadas somente serão resgatadas em virtude da  liquidação da Classe e as Cotas Seniores ao término do seu prazo de duração, conforme  estabelecidos nos respectivos Suplementos. Uma vez que o prazo de duração da Classe  é indeterminado, o Cotista titular das Cotas Subordinadas não terá liquidez em seu  investimento na Classe, exceto (a) por ocasião das amortizações e dos resgates, nos  termos do Regulamento; (b) por meio da alienação de suas Cotas no mercado  secundário, observado, neste caso, que sua alienação apenas é permitida para o Público-  Alvo das Cotas Subordinadas; ou (c) na liquidação antecipada do Fundo ou da Classe.</a:t>
            </a:r>
          </a:p>
          <a:p>
            <a:r>
              <a:t> Além disso, atualmente, o mercado secundário de cotas de fundos de investimento  apresenta baixa liquidez, o que pode dificultar a venda das Cotas ou ocasionar a obtenção  de um preço de venda que cause perda de patrimônio ao Cotista. Não há qualquer  garantia da Administradora, da Gestora, da consultora ou do Custodiante em relação à  possibilidade de venda das Cotas no mercado secundário ou ao preço obtido por elas,  ou mesmo garantia de saída ao Cotista.</a:t>
            </a:r>
          </a:p>
          <a:p>
            <a:r>
              <a:t>CNPJ 60010416000112 · Duração e público-alvo · Condição: Documentos atuais selecionados no inventário por categoria/escopo; a data documental isolada não comprova vigência jurídica.</a:t>
            </a:r>
          </a:p>
          <a:p>
            <a:r>
              <a:t>CNPJ 60010416000112 · Duração e público-alvo · Versão e prevalência: Documentos atuais selecionados no inventário por categoria/escopo; a data documental isolada não comprova vigência jurídica.</a:t>
            </a:r>
          </a:p>
          <a:p>
            <a:r>
              <a:t>CNPJ 60010416000112 · Duração e público-alvo · Resumo do histórico: {"count": 9, "dates": ["2025-11-30", "2026-03-18", "2026-04-16"], "document_count": 3, "sources": [{"document_id": "1282181", "title": "Demonstrações Financeiras - Fusão, cisão e incorporação", "reference_date": "2026-04-16", "version": "1", "page": 23, "url": "https://fnet.bmfbovespa.com.br/fnet/publico/visualizarDocumento?id=1282181", "sha256": "b1c6566e43a00bcd00c8a7f30c77b7f86e351bd8e355bbea113f46d1dafda703"}, {"document_id": "1224477", "title": "Demonstrações Financeiras - Fusão, cisão e incorporação", "reference_date": "2026-03-18", "version": "1", "page": 23, "url": "https://fnet.bmfbovespa.com.br/fnet/publico/visualizarDocumento?id=1224477", "sha256": "0751bf0a75bc3b44c2748f5000226665c6ec6698a90c4dc6170b4e6c187759ae"}, {"document_id": "1126154", "title": "Demonstrações Financeiras", "reference_date": "2025-11-30", "version": "1", "page": 23, "url": "https://fnet.bmfbovespa.com.br/fnet/publico/visualizarDocumento?id=1126154", "sha256": "a01e7ccf88c548f12c95cba8526d7efbef6b585c112cd4668eca781c292090b0"}], "reference": {"path": "history/60010416000112.json", "criterion_id": "duration_investors", "total_count": 9, "preview_count": 3, "full_text_deferred": true, "sha256": "8e2bd813f4c51cf01f6bfaad164bafe69d2bbb192f753eac92da3a01c2e63046"}}</a:t>
            </a:r>
          </a:p>
          <a:p>
            <a:r>
              <a:t>CNPJ 62696791000193 · Duração e público-alvo · Regulamento · ID 1143317 · 2026-03-20 · versão 1 · p. 18 · 8.8.1 · https://fnet.bmfbovespa.com.br/fnet/publico/visualizarDocumento?id=1143317</a:t>
            </a:r>
          </a:p>
          <a:p>
            <a:r>
              <a:t>CNPJ 62696791000193 · Duração e público-alvo · Excerto da fonte:</a:t>
            </a:r>
          </a:p>
          <a:p>
            <a:r>
              <a:t>8.8.1 As Chamadas de Capital para a realização de investimentos serão realizadas a qualquer  momento durante o Período de Investimento e estarão limitadas ao valor do capital subscrito  de cada Cotista. As Chamadas de Capital para o pagamento de despesas e encargos do Fundo  poderão ser realizadas a qualquer momento durante o Prazo de Duração, mas não estarão  limitadas ao valor do capital subscrito de cada Cotista.</a:t>
            </a:r>
          </a:p>
          <a:p>
            <a:r>
              <a:t>CNPJ 62696791000193 · Duração e público-alvo · Regulamento · ID 1143317 · 2026-03-20 · versão 1 · p. 20 · 9.5.1 · https://fnet.bmfbovespa.com.br/fnet/publico/visualizarDocumento?id=1143317</a:t>
            </a:r>
          </a:p>
          <a:p>
            <a:r>
              <a:t>CNPJ 62696791000193 · Duração e público-alvo · Excerto da fonte:</a:t>
            </a:r>
          </a:p>
          <a:p>
            <a:r>
              <a:t>9.5.1 Ao f inal do Prazo de Duração ou quando da liquidação antecipada da Classe, todas as Cotas  deverão ter seu valor integralmente amortizado. Não havendo recursos em moeda corrente  nacional suficientes para realizar o pagamento da amortização total das Cotas em circulação à  época da liquidação da Classe, o Administrador deverá convocar a Assembleia Especial de  Cotistas a fim de deliberar sobre a prorrogação do Prazo de Duração ou o resgate de Cotas em  Direitos Creditórios do Agronegócio e/ou Outros Ativos .</a:t>
            </a:r>
          </a:p>
          <a:p>
            <a:r>
              <a:t>10 ASSEMBLEIA ESPECIAL DE COTISTAS</a:t>
            </a:r>
          </a:p>
          <a:p>
            <a:r>
              <a:t>CNPJ 62696791000193 · Duração e público-alvo · Regulamento · ID 1143317 · 2026-03-20 · versão 1 · p. 23 · 11.1 · https://fnet.bmfbovespa.com.br/fnet/publico/visualizarDocumento?id=1143317</a:t>
            </a:r>
          </a:p>
          <a:p>
            <a:r>
              <a:t>CNPJ 62696791000193 · Duração e público-alvo · Excerto da fonte:</a:t>
            </a:r>
          </a:p>
          <a:p>
            <a:r>
              <a:t>11.1 A Classe será liquidada (i) em caso da liquidação antecipada deliberada em Assembleia Especial de  Cotistas; ou (ii) pelo encerramento do Prazo de Duração da Classe.</a:t>
            </a:r>
          </a:p>
          <a:p>
            <a:r>
              <a:t>CNPJ 62696791000193 · Duração e público-alvo · Condição: Documentos atuais selecionados no inventário por categoria/escopo; a data documental isolada não comprova vigência jurídica.</a:t>
            </a:r>
          </a:p>
          <a:p>
            <a:r>
              <a:t>CNPJ 62696791000193 · Duração e público-alvo · Versão e prevalência: Documentos atuais selecionados no inventário por categoria/escopo; a data documental isolada não comprova vigência jurídica.</a:t>
            </a:r>
          </a:p>
          <a:p>
            <a:r>
              <a:t>CNPJ 55563624000109 · Duração e público-alvo · AGE · ID 1306189 · 2026-08-25 · versão 1 · p. 1 · 4.1 · https://fnet.bmfbovespa.com.br/fnet/publico/visualizarDocumento?id=1306189</a:t>
            </a:r>
          </a:p>
          <a:p>
            <a:r>
              <a:t>CNPJ 55563624000109 · Duração e público-alvo · Excerto da fonte:</a:t>
            </a:r>
          </a:p>
          <a:p>
            <a:r>
              <a:t>4.1 Nos termos do Anexo da Classe, aprovar:</a:t>
            </a:r>
          </a:p>
          <a:p>
            <a:r>
              <a:t>(i) a liquidação da Subclasse A da Classe, considerando o encerramento do seu prazo de duração, por meio do  resgate integral de Cotas da Subclasse A com entrega de financeiro aos Cotistas. Será utilizada como data  base no cálculo da cota do dia 25 de agosto de 2026, com efetivação no fechamento do dia 27 de agosto de  2026; e</a:t>
            </a:r>
          </a:p>
          <a:p>
            <a:r>
              <a:t>(ii) a liquidação antecipada da Subclasse C da Classe, por meio do resgate integral de Cotas da Subclasse C com  entrega de financeiro aos Cotistas. Será utilizada como data base no cálculo da cota do dia 25 de agosto de  2026, com efetivação no fechamento do dia 27 de agosto de 2026.</a:t>
            </a:r>
          </a:p>
          <a:p>
            <a:r>
              <a:t>CNPJ 55563624000109 · Duração e público-alvo · Condição: Documentos atuais selecionados no inventário por categoria/escopo; a data documental isolada não comprova vigência jurídica.</a:t>
            </a:r>
          </a:p>
          <a:p>
            <a:r>
              <a:t>CNPJ 55563624000109 · Duração e público-alvo · Versão e prevalência: Documentos atuais selecionados no inventário por categoria/escopo; a data documental isolada não comprova vigência jurídica.</a:t>
            </a:r>
          </a:p>
          <a:p>
            <a:r>
              <a:t>CNPJ 55563624000109 · Duração e público-alvo · Resumo do histórico: {"count": 6, "dates": ["2026-04-30"], "document_count": 2, "sources": [{"document_id": "1192614", "title": "Regulamento", "reference_date": "2026-04-30", "version": "1", "page": "9, 15, 45-50", "url": "https://fnet.bmfbovespa.com.br/fnet/publico/visualizarDocumento?id=1192614", "sha256": "f56e63ace0acde41d2f47fb48f1ac7f3f7df5e2d32de092d7c5e075a52516632"}, {"document_id": "1192614", "title": "Regulamento", "reference_date": "2026-04-30", "version": "1", "page": 5, "clause": "4.7.1", "url": "https://fnet.bmfbovespa.com.br/fnet/publico/visualizarDocumento?id=1192614", "sha256": "f56e63ace0acde41d2f47fb48f1ac7f3f7df5e2d32de092d7c5e075a52516632"}, {"document_id": "1192603", "title": "AGE", "reference_date": "2026-04-30", "version": "1", "page": 1, "clause": "4.1", "url": "https://fnet.bmfbovespa.com.br/fnet/publico/visualizarDocumento?id=1192603", "sha256": "f53ff2a5b715f5365536305a098f9cc0c54b5a01128942d784915bed8eeb0288"}], "reference": {"path": "history/55563624000109.json", "criterion_id": "duration_investors", "total_count": 6, "preview_count": 3, "full_text_deferred": true, "sha256": "7835d573fb58a3c19adf5b8ecc2aee2bdbb9a88f7a0c0209b5f262b64c7522e3"}}</a:t>
            </a:r>
          </a:p>
          <a:p>
            <a:r>
              <a:t>CNPJ 62552447000120 · Duração e público-alvo · Regulamento · ID 1200623 · 2026-05-21 · versão 1 · p. 22 · 10.4 · https://fnet.bmfbovespa.com.br/fnet/publico/visualizarDocumento?id=1200623</a:t>
            </a:r>
          </a:p>
          <a:p>
            <a:r>
              <a:t>CNPJ 62552447000120 · Duração e público-alvo · Excerto da fonte:</a:t>
            </a:r>
          </a:p>
          <a:p>
            <a:r>
              <a:t>10.4 Tendo em vista que a Classe é exclusivamente destinada a Investidores Profissionais, não serão  aplicáveis as vedações ao direito a voto em assembleia de cotistas dispostas no artigo 78 da Resolução  CVM 175, conf orme disposto no artigo 114 da ref erida Resolução.</a:t>
            </a:r>
          </a:p>
          <a:p>
            <a:r>
              <a:t>CNPJ 62552447000120 · Duração e público-alvo · Regulamento · ID 1200623 · 2026-05-21 · versão 1 · p. 35 · https://fnet.bmfbovespa.com.br/fnet/publico/visualizarDocumento?id=1200623</a:t>
            </a:r>
          </a:p>
          <a:p>
            <a:r>
              <a:t>CNPJ 62552447000120 · Duração e público-alvo · Excerto da fonte:</a:t>
            </a:r>
          </a:p>
          <a:p>
            <a:r>
              <a:t>ativos desses emissores, causando perdas à Classe e ao Cotista. Além disso, a f alta de capacidade ou disposição de pagar por qualquer dos emissores dos Ativos Financeiros de Liquidez ou das contrapartes nas transações que compõem a Carteira causará perdas à Classe, e o que também poderá incorrer em custos para f ins de recuperação de seus recebíveis.</a:t>
            </a:r>
          </a:p>
          <a:p>
            <a:r>
              <a:t>(v) Riscos associados aos Devedores: no caso de Devedores no âmbito das operações de consignado privado, a sua capacidade de pagamento poderá ser af etada se, por exemplo, o Devedor tiver o seu contrato de emprego rescindido ou em virtude de decisão judicial, o Devedor for obrigado a pagar alimentos, que têm prioridade sobre o empréstimo para f ins de desconto na f 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 etar a rentabilidade da Classe. Já no caso de Devedores no âmbito das operações de Saque-aniversário, como os Direitos Creditórios a serem endossados à Classe serão descontados pelo FGTS da remuneração do Devedor, na ocorrência de qualquer evento que, nos termos da legislação aplicável, determine o pagamento antecipado do Saque-aniversário ao Devedor, a exemplo do falecimento do Devedor, dentre outros, as parcelas do Saque- aniversário serão pagas antecipadamente e a Classe deverá utilizar tais montantes no pré-pagamento dos Direitos Creditórios. Nesta hipótese, a Classe poderá não encontrar Direitos Creditórios disponíveis para serem adquiridos pela Classe, o que poderá af etar a rentabilidade da Classe.</a:t>
            </a:r>
          </a:p>
          <a:p>
            <a:r>
              <a:t>Risco de liquidez</a:t>
            </a:r>
          </a:p>
          <a:p>
            <a:r>
              <a:t>(i) Risco de liquidez: consiste no risco de redução ou inexistência de demanda pelos ativos que compõem a Classe nos respectivos mercados em que são negociados, devido às condições específicas desses ativos ou aos mercados em que são negociados. Devido a esses riscos, o Gestor poderá encontrar dificuldades em liquidar posições ou negociar esses ativos pelo preço e prazo desejados, de acordo com a estratégia de gestão adotada pela Classe, que permanecerá exposto, durante o período de baixa liquidez, aos riscos associados a esses ativos e posições assumidas em mercados de derivativos, se houver, que poderão até exigir que o Gestor aceite descontos em seus preços para realizar negociações no mercado. Esses f atores poderão prejudicar o pagamento de Amortizações ao Cotista, nos valores e dentro dos termos aqui estabelecidos.</a:t>
            </a:r>
          </a:p>
          <a:p>
            <a:r>
              <a:t>(ii) Riscos do mercado secundário: A Classe é constituída sob a f orma de condomínio fechado, de modo que as Cotas somente serão resgatadas em virtude da liquidação da Classe. Uma vez que o Prazo de Duração da Classe é indeterminado, o Cotista titular das Cotas não terá liquidez em seu investimento na Classe, exceto</a:t>
            </a:r>
          </a:p>
          <a:p>
            <a:r>
              <a:t>(a) por ocasião das Amortizações e dos resgates, nos termos deste Regulamento; (b) por meio da alienação de suas Cotas no mercado secundário; ou (c) na liquidação antecipada do FUNDO ou da Classe.</a:t>
            </a:r>
          </a:p>
          <a:p>
            <a:r>
              <a:t>Além disso, atualmente, o mercado secundário de cotas de fundos de investimento apresenta baixa liquidez, o que pode dificultar a venda das Cotas ou ocasionar a obtenção de um preço de venda que cause perda de patrimônio ao Cotista. Não há qualquer garantia do Administrador, do Gestor, da consultora ou do Custodiante em relação à possibilidade de venda das Cotas no mercado secundário ou ao preço obtido por elas, ou mesmo garantia de saída ao Cotista.</a:t>
            </a:r>
          </a:p>
          <a:p>
            <a:r>
              <a:t>Riscos específicos</a:t>
            </a:r>
          </a:p>
          <a:p>
            <a:r>
              <a:t>(i)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ficar inadimplente e, consequentemente, não haverá repasse à Classe do respectivo Direito Creditório, o que poderá resultar em perdas f inanceiras à Classe e aos Cotistas. Para os f ins deste Regulamento, “Empregador” signif ica a empresa com qual o Devedor mantém vínculo empregatício registrado junto à CTPS.</a:t>
            </a:r>
          </a:p>
          <a:p>
            <a:r>
              <a:t>(ii) Risco do Empregador não efetuar o desconto em folha: o repasse dos recursos oriundos dos Direitos Creditórios à Classe depende da realização, pelo Empregador, da escrituração da Consignação a ser</a:t>
            </a:r>
          </a:p>
          <a:p>
            <a:r>
              <a:t>CNPJ 62552447000120 · Duração e público-alvo · Regulamento · ID 1200623 · 2026-05-21 · versão 1 · p. 1 · 1.3 · https://fnet.bmfbovespa.com.br/fnet/publico/visualizarDocumento?id=1200623</a:t>
            </a:r>
          </a:p>
          <a:p>
            <a:r>
              <a:t>CNPJ 62552447000120 · Duração e público-alvo · Excerto da fonte:</a:t>
            </a:r>
          </a:p>
          <a:p>
            <a:r>
              <a:t>1.3 Durante o seu prazo de duração, o Fundo, por ato conjunto dos Prestadores de Serviços Essenciais,  poderá constituir diferentes Classes e Subclasses , sendo que cada Classe terá patrimônio segregado e</a:t>
            </a:r>
          </a:p>
          <a:p>
            <a:r>
              <a:t>CNPJ 62552447000120 · Duração e público-alvo · Condição: Documentos atuais selecionados no inventário por categoria/escopo; a data documental isolada não comprova vigência jurídica.</a:t>
            </a:r>
          </a:p>
          <a:p>
            <a:r>
              <a:t>CNPJ 62552447000120 · Duração e público-alvo · Versão e prevalência: Documentos atuais selecionados no inventário por categoria/escopo; a data documental isolada não comprova vigência jurídica.</a:t>
            </a:r>
          </a:p>
          <a:p>
            <a:r>
              <a:t>CNPJ 62552447000120 · Duração e público-alvo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"duration_investors", "total_count": 1, "preview_count": 1, "full_text_deferred": true, "sha256": "d95db8c0613d67ee84118c734588665265ea6b02f86a0318d6a844cbe1d0f82f"}}</a:t>
            </a:r>
          </a:p>
          <a:p>
            <a:r>
              <a:t>CNPJ 63953620000165 · Duração e público-alvo · Anexo ao Regulamento · ID 1222863 · 2026-06-02 · versão 1 · p. 2 · https://fnet.bmfbovespa.com.br/fnet/publico/visualizarDocumento?id=1222863</a:t>
            </a:r>
          </a:p>
          <a:p>
            <a:r>
              <a:t>CNPJ 63953620000165 · Duração e público-alvo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Duração e público-alvo · Anexo ao Regulamento · ID 1222863 · 2026-06-02 · versão 1 · p. 1 · 1.1 · https://fnet.bmfbovespa.com.br/fnet/publico/visualizarDocumento?id=1222863</a:t>
            </a:r>
          </a:p>
          <a:p>
            <a:r>
              <a:t>CNPJ 63953620000165 · Duração e público-alvo · Excerto da fonte:</a:t>
            </a:r>
          </a:p>
          <a:p>
            <a:r>
              <a:t>1.1 As principais características da Classe Consignado Privado (para fins deste Anexo, “Classe”) estão descritas  abaixo:</a:t>
            </a:r>
          </a:p>
          <a:p>
            <a:r>
              <a:t> Tipo de Condomínio Fechado.</a:t>
            </a:r>
          </a:p>
          <a:p>
            <a:r>
              <a:t> Indeterminado, exceto se de outra forma vier a ser deliberado pelos Cotistas  Prazo de Duração  reunidos em Assembleia Especial de Cotistas. (“Prazo de Duração”)  Tipo “Financeiro”.</a:t>
            </a:r>
          </a:p>
          <a:p>
            <a:r>
              <a:t> Classificação ANBIMA  Foco de atuação “Créditos Consignados”.</a:t>
            </a:r>
          </a:p>
          <a:p>
            <a:r>
              <a:t> O objetivo da classe é proporcionar aos seus Cotistas a valorização de suas Cotas  por meio da aplicação de seu Patrimônio Líquido (conforme definido abaixo) na  aquisição de: (i) “Direitos Creditórios Crédito Consignado”, representados por  cédula de crédito bancário regida pela Lei nº 10.931, emitida eletronicamente por  um devedor em favor do endossante (“CCB”) e, consequentemente, os recebíveis  decorrente de cada uma das parcelas vincendas, representando um empréstimo  consignado concedido pelo endossante ao devedor, e cujo pagamento ordinário  é feito por desconto de cada prestação vincenda de uma CCB na folha de  pagamentos do devedor (“Consignação”), efetuada pela Caixa Econômica  Federal, de acordo com a legislação aplicável e em conformidade com os  procedimentos estabelecidos no convênio celebrado entre o Endossante e a  Empresa de Tecnologia e Informações da Previdência – DATAPREV e paga na  Conta Vinculada do Endossante (“Convênio Consignado Privado”); e/ou (ii)  “Direitos Creditórios TVM”, representados por direitos, títulos e/ou valores  mobiliários representativos de créditos originados no âmbito de operações de  sociedades integrantes do conglomerado econômico de instituições financeiras  classificadas como S1 pelo BACEN, desde que não representem títulos de  emissão ou coobrigação de instituições financeiras, bem como cotas de fundos  de investimento que invistam preponderantemente nestes direitos, títulos e/ou  Objetivo  valores mobiliários (Direitos Creditórios TVM quando referidos em conjunto  com os Direitos Creditórios Consignado Privado, “Direitos Creditórios”)  observados todos os limites de composição e diversificação da carteira da Classe  (“Carteira”), estabelecidos neste Regulamento e na regulamentação aplicável.</a:t>
            </a:r>
          </a:p>
          <a:p>
            <a:r>
              <a:t> Subsidiariamente, a parcela do Patrimônio Líquido que não esteja alocada em  Direitos Creditórios poderá estar alocado em: (1) certificados de depósito  bancário (CDB) ou recibos de depósito bancário (RDB) com prazo máximo de  vencimento equivalente ao prazo remanescente do Período de Investimento, com  liquidez diária, emitidos por Parati Crédito, Financiamento e Investimento S.A.</a:t>
            </a:r>
          </a:p>
          <a:p>
            <a:r>
              <a:t> e/ou pelo Endossante (“Ativos de Liquidez MT”); e/ou (2) (i) moeda corrente  nacional; (ii) títulos do Tesouro SELIC, anteriormente denominado letra financeira  do Tesouro Nacional (LFT); (iii) certificados de depósito bancário (CDB) ou recibos  de depósito bancário (RDB) com prazo máximo de vencimento equivalente ao  prazo remanescente do Período de Investimento, com liquidez diária, emitidos  por (a) Itaú Unibanco S.A.; (b) Banco Bradesco S.A.; (c) Caixa Econômica Federal;</a:t>
            </a:r>
          </a:p>
          <a:p>
            <a:r>
              <a:t> (d) Banco do Brasil S.A.; (e) Banco Santander (Brasil) S.A.; (f) Banco BTG Pactual  S.A.; (g) Banco Sistema S.A. (“Instituições Autorizadas”); (iv) operações  compromissadas, desde que lastreadas nos títulos mencionados nas alíneas (i) a</a:t>
            </a:r>
          </a:p>
          <a:p>
            <a:r>
              <a:t> (iii) acima, emitidas por Instituições Autorizadas, com liquidez diária e vencimento</a:t>
            </a:r>
          </a:p>
          <a:p>
            <a:r>
              <a:t>CNPJ 63953620000165 · Duração e público-alvo · Anexo ao Regulamento · ID 1222863 · 2026-06-02 · versão 1 · p. 10 · 6.7.1 · https://fnet.bmfbovespa.com.br/fnet/publico/visualizarDocumento?id=1222863</a:t>
            </a:r>
          </a:p>
          <a:p>
            <a:r>
              <a:t>CNPJ 63953620000165 · Duração e público-alvo · Excerto da fonte:</a:t>
            </a:r>
          </a:p>
          <a:p>
            <a:r>
              <a:t>6.7.1 As Chamadas de Capital para a realização de investimentos serão realizadas a qualquer momento  durante o Período de Investimento e estarão limitadas ao valor do capital subscrito de cada Cotista. As  Chamadas de Capital para o pagamento de despesas e encargos do Fundo, com exceção de despesas  relacionadas à instrumentos de derivativos e/ou Encargos não previstos no âmbito deste regulamento,  poderão ser realizadas a qualquer momento durante o Prazo de Duração, mas não estarão limitadas ao  valor do capital subscrito de cada Cotista.</a:t>
            </a:r>
          </a:p>
          <a:p>
            <a:r>
              <a:t>CNPJ 63953620000165 · Duração e público-alvo · Condição: Documentos atuais selecionados no inventário por categoria/escopo; a data documental isolada não comprova vigência jurídica.</a:t>
            </a:r>
          </a:p>
          <a:p>
            <a:r>
              <a:t>CNPJ 63953620000165 · Duração e público-alvo · Versão e prevalência: Documentos atuais selecionados no inventário por categoria/escopo; a data documental isolada não comprova vigência jurídica.</a:t>
            </a:r>
          </a:p>
          <a:p>
            <a:r>
              <a:t>CNPJ 63953620000165 · Duração e público-alvo · Resumo do histórico: {"count": 8, "dates": ["2026-04-28", "2026-05-08", "2026-05-15"], "document_count": 3, "sources": [{"document_id": "1327859", "title": "Demonstrações Financeiras - Fusão, cisão e incorporação", "reference_date": "2026-05-15", "version": "1", "page": 9, "url": "https://fnet.bmfbovespa.com.br/fnet/publico/visualizarDocumento?id=1327859", "sha256": "dca1c68babb97f887528c3e2e47596a9c30f507b067981a35655b2f2da9c8054"}, {"document_id": "1298691", "title": "Demonstrações Financeiras - Fusão, cisão e incorporação", "reference_date": "2026-05-08", "version": "1", "page": 9, "url": "https://fnet.bmfbovespa.com.br/fnet/publico/visualizarDocumento?id=1298691", "sha256": "58c570d9b8d4d265330d3db3ea81c435b8e44a6dab4002aa37790652a1ee9819"}, {"document_id": "1282180", "title": "Demonstrações Financeiras - Fusão, cisão e incorporação", "reference_date": "2026-04-28", "version": "1", "page": 9, "url": "https://fnet.bmfbovespa.com.br/fnet/publico/visualizarDocumento?id=1282180", "sha256": "afaaa0e6809be4385e5bdb6c911aac582032c5bdbac3d7750234bf9eaf00438a"}], "reference": {"path": "history/63953620000165.json", "criterion_id": "duration_investors",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Alocação e perímetro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Alocação mínima · Base da comparação IME: {"criterion_id": "allocation", "observed_value": 91.84981349574433, "unit": "percent", "competence": "08/2026", "status": "not_comparable", "reason": "Vigência efetiva não comprovada; data do documento isolada não certifica enquadramento histórico.", "formula": "credit_rights / net_asset_value × 100",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50.0}</a:t>
            </a:r>
          </a:p>
          <a:p>
            <a:r>
              <a:t>CNPJ 54871427000194 · Alocação mínima · Regulamento · ID 670691 · 28/04/2024 · versão Regulamento — referência 28/04/2024 · p. 11 · Anexo I, 4.9 · https://fnet.bmfbovespa.com.br/fnet/publico/visualizarDocumento?id=670691</a:t>
            </a:r>
          </a:p>
          <a:p>
            <a:r>
              <a:t>CNPJ 54871427000194 · Alocação mínima · Excerto da fonte:</a:t>
            </a:r>
          </a:p>
          <a:p>
            <a:r>
              <a:t>4.9 Decorridos 180 (cento e oitenta) dias da Data da 1ª Integralização de Cotas, a Classe deverá manter alocado, no mínimo, 50% (cinquenta por cento) do seu Patrimônio Líquido em Direitos Creditórios . 4.10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4.11 A Classe poderá, direta ou indiretamente e, nos termos da legislação aplicável: (i) adquirir Direitos Creditórios que sejam cedidos e/ou originados pelo ADMINISTRADOR e/ou pelo GESTOR, ou partes a eles relacionadas, tal como definidas pelas regras contábeis que tratam desse assunto; e (ii) ceder Direitos Creditórios a qualquer das pessoas, fundos de investimento ou entidades referidas n</a:t>
            </a:r>
          </a:p>
          <a:p>
            <a:r>
              <a:t>CNPJ 54871427000194 · Alocação mínima · Mecânica: {"operator": "&gt;=", "limit": 50.0, "unit": "percent", "numerator": "credit_rights", "denominator": "net_asset_value", "frequency": "daily", "layer": "54871427000194", "document_date": "2024-04-28", "effective_status": "document_date_only", "initial_days": 180}</a:t>
            </a:r>
          </a:p>
          <a:p>
            <a:r>
              <a:t>CNPJ 54871427000194 · Alocação mínima · Versão e prevalência: Leitura específica das cláusulas indicadas; condições e conflitos preservados. Seleção documental atual não comprova vigência jurídica por data isolada.</a:t>
            </a:r>
          </a:p>
          <a:p>
            <a:r>
              <a:t>CNPJ 54871427000194 · Alocação mínima · Resumo do histórico: {"count": 2, "dates": ["2024-04-19", "2024-04-28"], "document_count": 2, "sources": [{"document_id": "670691", "title": "Regulamento", "reference_date": "2024-04-28", "version": "1", "page": "11", "url": "https://fnet.bmfbovespa.com.br/fnet/publico/visualizarDocumento?id=670691", "sha256": "bf16dd7f1a62d5cdbf2e2d54fef81783783f7310fbc99c3a8f00459bdf9d037b"}, {"document_id": "670689", "title": "Regulamento", "reference_date": "2024-04-19", "version": "1", "page": 11, "clause": "4.9", "url": "https://fnet.bmfbovespa.com.br/fnet/publico/visualizarDocumento?id=670689", "sha256": "891bc9bc5d87bbc02ec139077a84d2702eb81ea02035fb71d24f5b8366b94a0b"}], "reference": {"path": "history/54871427000194.json", "criterion_id": "allocation", "total_count": 2, "preview_count": 2, "full_text_deferred": true, "sha256": "35d7cd99be50c7287c9fb675cf4f2e736002315295a225a9efa79c8d9186d874"}}</a:t>
            </a:r>
          </a:p>
          <a:p>
            <a:r>
              <a:t>CNPJ 60010416000112 · Alocação mínima · Base da comparação IME: {"criterion_id": "allocation", "observed_value": 117.78665480900618, "unit": "percent", "competence": "08/2026", "status": "not_comparable", "reason": "Vigência efetiva não comprovada; data do documento isolada não certifica enquadramento histórico.", "formula": "credit_rights / net_asset_value × 100",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50.0}</a:t>
            </a:r>
          </a:p>
          <a:p>
            <a:r>
              <a:t>CNPJ 60010416000112 · Alocação mínima · Regulamento · ID 1051393 · 09/10/2025 · versão Regulamento09/10/2025 · p. 11 · AnexoI4.6 · https://fnet.bmfbovespa.com.br/fnet/publico/visualizarDocumento?id=1051393</a:t>
            </a:r>
          </a:p>
          <a:p>
            <a:r>
              <a:t>CNPJ 60010416000112 · Alocação mínima · Excerto da fonte:</a:t>
            </a:r>
          </a:p>
          <a:p>
            <a:r>
              <a:t>4.6 Decorridos 180 (cento e oitenta) dias do início de suas atividades, a Classe deverá manter alocado, no mínimo: para f ins tributários, 67% (sessenta e sete por cento) do seu Patrimônio Líquido em Direitos Creditórios, nos termos da Resolução CMN 5.111; e para fins regulatórios, 50% (cinquenta por cento) do seu Patrimônio Líquido em Direitos Creditórios, nos termos da Resolução CVM 175. BTG Pactual SAC: 0800 772 28 27 - Ouvidoria: 0800 722 00 48 - btgpactual.com 11</a:t>
            </a:r>
          </a:p>
          <a:p>
            <a:r>
              <a:t>CNPJ 60010416000112 · Alocação mínima · Mecânica: {"operator": "&gt;=", "unit": "percent", "denominator": "net_asset_value", "frequency": "not_stated", "layer": "class", "effective_status": "document_date_only", "document_date": "2025-10-09", "numerator": "credit_rights", "limit": 50.0, "requires_initial_date": true}</a:t>
            </a:r>
          </a:p>
          <a:p>
            <a:r>
              <a:t>CNPJ 60010416000112 · Alocação mínima · Versão e prevalência: Leitura específica das cláusulas indicadas; condições e conflitos preservados. Seleção documental atual não comprova vigência jurídica por data isolada.</a:t>
            </a:r>
          </a:p>
          <a:p>
            <a:r>
              <a:t>CNPJ 60010416000112 · Alocação mínima · Resumo do histórico: {"count": 2, "dates": ["2025-03-20", "2025-10-09"], "document_count": 2, "sources": [{"document_id": "1051393", "title": "Regulamento", "reference_date": "2025-10-09", "version": "1", "page": "11", "url": "https://fnet.bmfbovespa.com.br/fnet/publico/visualizarDocumento?id=1051393", "sha256": "8469d613078ffd5a6c1d217885d8a397a16342c0b937ae4aa24b106505f233ae"}, {"document_id": "993786", "title": "Regulamento", "reference_date": "2025-03-20", "version": "1", "page": 6, "clause": "5.3", "url": "https://fnet.bmfbovespa.com.br/fnet/publico/visualizarDocumento?id=993786", "sha256": "fd0fdd369a195510d81f81f505195a0b09e5f43522a990afa7d58c4f872921c8"}], "reference": {"path": "history/60010416000112.json", "criterion_id": "allocation", "total_count": 2, "preview_count": 2, "full_text_deferred": true, "sha256": "8e2bd813f4c51cf01f6bfaad164bafe69d2bbb192f753eac92da3a01c2e63046"}}</a:t>
            </a:r>
          </a:p>
          <a:p>
            <a:r>
              <a:t>CNPJ 62696791000193 · Alocação mínima · Base da comparação IME: {"criterion_id": "allocation", "observed_value": null, "unit": "percent", "competence": "08/2026", "status": "not_comparable", "reason": "Operador, unidade, numerador ou base contratual sem correspondência exata no IME; proxies de PL/ativos não são intercambiáveis. CPR declarada no FIAGRO não comprova elegibilidade individual nem correspondência integral com a definição contratual de direitos creditórios do agronegócio.",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51.0, "comparison_required": true, "context_value": 99.72659520720684, "context_unit": "percent", "context_formula": "CPR / PL (rubrica declarada no FIAGRO)"}</a:t>
            </a:r>
          </a:p>
          <a:p>
            <a:r>
              <a:t>CNPJ 62696791000193 · Alocação mínima · Regulamento · ID 1143317 · 20/03/2026 · versão Regulamento — referência 20/03/2026 · p. 10 · Anexo I, 4.2 · https://fnet.bmfbovespa.com.br/fnet/publico/visualizarDocumento?id=1143317</a:t>
            </a:r>
          </a:p>
          <a:p>
            <a:r>
              <a:t>CNPJ 62696791000193 · Alocação mínima · Excerto da fonte:</a:t>
            </a:r>
          </a:p>
          <a:p>
            <a:r>
              <a:t>4.2 Decorridos 180 (cento e oitenta) dias do início de suas atividades, a Classe deverá possuir parcela mínima de 51% (cinquenta e um por cento) de seu Patrimônio Líquido representados por Direitos Creditórios do Agronegócio, enquanto a parcela de 49% (quarenta e nove por cento) remanescente deverá ser alocada em Outros Ativos ou Ativos Financeiros de Liquidez. 4.3 Os Direitos Creditórios do Agronegócio serão adquiridos integral ou parcialmente, sempre de acordo com a Política de Investimentos. 4.4 Tendo em vista (i) a natureza variada dos Direitos Creditórios do Agronegócio passíveis de aquisição pela Classe; (ii) a amplitude da Política de Investimentos; e (iii) a potencial diversificação de Cedentes/Endossantes e Devedores, não é possível precisar os processos de origem dos Direitos Creditórios do Agronegócio e as políticas de concessão de crédito adotadas pelos Cedentes/Endossantes. 4.5 Os Direitos Creditórios do Agronegócio deverão contar com toda a documentação necessária para o exercício das prerrogativas decorrentes da titularidade dos ativos, e capaz de comprovar a origem, a existência e a exigibilidade dos Direitos Creditórios do Agronegócio (“Documentos Comprobatórios”)</a:t>
            </a:r>
          </a:p>
          <a:p>
            <a:r>
              <a:t>CNPJ 62696791000193 · Alocação mínima · AGE · ID 1143319 · 20/03/2026 10:00 · versão AGE — referência 20/03/2026 10:00 · p. 3 · AGC 20/03/2026, 4.1(j)–(k) · https://fnet.bmfbovespa.com.br/fnet/publico/visualizarDocumento?id=1143319</a:t>
            </a:r>
          </a:p>
          <a:p>
            <a:r>
              <a:t>CNPJ 62696791000193 · Alocação mínima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Alocação mínima · Condição: Vigente a partir do fechamento de 23/03/2026. O agregado genérico de direitos do IME não comprova, sozinho, a natureza agronegócio de todos os ativos nem a conclusão da carência inicial.</a:t>
            </a:r>
          </a:p>
          <a:p>
            <a:r>
              <a:t>CNPJ 62696791000193 · Alocação mínima · Mecânica: {"operator": "&gt;=", "limit": 51.0, "unit": "percent", "numerator": "agribusiness_credit_rights", "denominator": "net_asset_value", "frequency": "daily", "layer": "62696791000193", "effective_from": "2026-03-23", "effective_status": "explicit_assembly_effective_date", "initial_days": 180, "initial_date": null}</a:t>
            </a:r>
          </a:p>
          <a:p>
            <a:r>
              <a:t>CNPJ 62696791000193 · Alocação mínima · Versão e prevalência: Leitura específica das cláusulas indicadas; condições e conflitos preservados. Seleção documental atual não comprova vigência jurídica por data isolada.</a:t>
            </a:r>
          </a:p>
          <a:p>
            <a:r>
              <a:t>CNPJ 55563624000109 · Alocação mínima · Base da comparação IME: {"criterion_id": "allocation", "observed_value": 99.87020304792446, "unit": "percent", "competence": "08/2026", "status": "not_comparable", "reason": "Vigência efetiva não comprovada; data do documento isolada não certifica enquadramento histórico.", "formula": "fidc_quotas / net_asset_value × 100",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67.0}</a:t>
            </a:r>
          </a:p>
          <a:p>
            <a:r>
              <a:t>CNPJ 55563624000109 · Alocação mínima · Regulamento · ID 1192614 · 30/04/2026 · versão Regulamento30/04/2026 · p. 13 · AnexoI4.10 · https://fnet.bmfbovespa.com.br/fnet/publico/visualizarDocumento?id=1192614</a:t>
            </a:r>
          </a:p>
          <a:p>
            <a:r>
              <a:t>CNPJ 55563624000109 · Alocação mínima · Excerto da fonte:</a:t>
            </a:r>
          </a:p>
          <a:p>
            <a:r>
              <a:t>4.10 Decorridos 180 (cento e oitenta) dias da Data da 1ª Integralização da Classe, a Classe deverá manter alocado, no mínimo, 67% (sessenta e sete por cento) do seu Patrimônio Líquido em Cotas da Classe Investida. 4.11 Nos termos dos artigos 45, parágrafo 7º, e 47 parágrafo único do Anexo Normativo II à Resolução CVM 175, uma vez que as Cotas são destinadas exclusivamente a Investidores Profissionais, a Classe poderá ter até 100% (cem por cento) de seu Patrimônio Líquido alocado em Cotas da Classe Investida, as quais são emitidas pela Classe Investida.</a:t>
            </a:r>
          </a:p>
          <a:p>
            <a:r>
              <a:t>CNPJ 55563624000109 · Alocação mínima · Regulamento · ID 1192614 · 30/04/2026 · versão Regulamento30/04/2026 · p. 12 · AnexoI4.9 · https://fnet.bmfbovespa.com.br/fnet/publico/visualizarDocumento?id=1192614</a:t>
            </a:r>
          </a:p>
          <a:p>
            <a:r>
              <a:t>CNPJ 55563624000109 · Alocação mínima · Excerto da fonte:</a:t>
            </a:r>
          </a:p>
          <a:p>
            <a:r>
              <a:t>4.9 A parcela do Patrimônio Líquido que não estiver alocada em Cotas da Classe Investida será necessariamente alocada em Ativos Financeiros de Liquidez. BTG Pactual SAC: 0800 772 28 27 - Ouvidoria: 0800 722 00 48 - btgpactual.com 5</a:t>
            </a:r>
          </a:p>
          <a:p>
            <a:r>
              <a:t>CNPJ 55563624000109 · Alocação mínima · Mecânica: {"operator": "&gt;=", "limit": 67.0, "unit": "percent", "numerator": "fidc_quotas", "denominator": "net_asset_value", "frequency": "not_stated", "layer": "class", "effective_status": "document_date_only", "document_date": "2026-04-30", "requires_initial_date": true}</a:t>
            </a:r>
          </a:p>
          <a:p>
            <a:r>
              <a:t>CNPJ 55563624000109 · Alocação mínima · Versão e prevalência: Leitura específica das cláusulas indicadas; condições e conflitos preservados. Seleção documental atual não comprova vigência jurídica por data isolada.</a:t>
            </a:r>
          </a:p>
          <a:p>
            <a:r>
              <a:t>CNPJ 55563624000109 · Alocação mínima · Resumo do histórico: {"count": 1, "dates": ["2026-04-30"], "document_count": 1, "sources": [{"document_id": "1192614", "title": "Regulamento", "reference_date": "2026-04-30", "version": "1", "page": "11-13", "url": "https://fnet.bmfbovespa.com.br/fnet/publico/visualizarDocumento?id=1192614", "sha256": "f56e63ace0acde41d2f47fb48f1ac7f3f7df5e2d32de092d7c5e075a52516632"}], "reference": {"path": "history/55563624000109.json", "criterion_id": "allocation", "total_count": 1, "preview_count": 1, "full_text_deferred": true, "sha256": "7835d573fb58a3c19adf5b8ecc2aee2bdbb9a88f7a0c0209b5f262b64c7522e3"}}</a:t>
            </a:r>
          </a:p>
          <a:p>
            <a:r>
              <a:t>CNPJ 62552447000120 · Alocação mínima · Base da comparação IME: {"criterion_id": "allocation", "observed_value": 104.36099466414683, "unit": "percent", "competence": "08/2026", "status": "not_comparable", "reason": "Vigência efetiva não comprovada; data do documento isolada não certifica enquadramento histórico.", "formula": "credit_rights / net_asset_value × 100",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50.0}</a:t>
            </a:r>
          </a:p>
          <a:p>
            <a:r>
              <a:t>CNPJ 62552447000120 · Alocação mínima · Regulamento · ID 1200623 · 21/05/2026 · versão Consolidado21/05/2026 aprovado pelo ato1200625 · p. 14 · AnexoI4.9 · https://fnet.bmfbovespa.com.br/fnet/publico/visualizarDocumento?id=1200623</a:t>
            </a:r>
          </a:p>
          <a:p>
            <a:r>
              <a:t>CNPJ 62552447000120 · Alocação mínima · Excerto da fonte:</a:t>
            </a:r>
          </a:p>
          <a:p>
            <a:r>
              <a:t>4.9 Decorridos 180 (cento e oitenta) dias da Data da Primeira Integralização, a Classe deverá manter alocados em Direitos Creditórios, no mínimo, para fins tributários, 67% (sessenta e sete por cento) do seu Patrimônio Líquido, nos termos da Lei 14.754 e da Resolução CMN 5.111, e, para fins regulatórios, 50% (cinquenta por cento) do seu Patrimônio Líquido, nos termos da Resolução CVM 175. Eventual desenquadramento da Carteira obrigará o Gestor aos procedimentos de desenquadramento e reenquadramento previstos na Lei 14.754 e na Resolução CMN 5.111, para f ins tributários, e na Resolução CVM 175, par</a:t>
            </a:r>
          </a:p>
          <a:p>
            <a:r>
              <a:t>CNPJ 62552447000120 · Alocação mínima · Mecânica: {"operator": "&gt;=", "unit": "percent", "numerator": "credit_rights", "denominator": "net_asset_value", "frequency": "not_stated", "layer": "class", "effective_status": "document_date_only", "document_date": "2026-05-21", "requires_initial_date": true, "limit": 50.0}</a:t>
            </a:r>
          </a:p>
          <a:p>
            <a:r>
              <a:t>CNPJ 62552447000120 · Alocação mínima · Versão e prevalência: Leitura específica das cláusulas indicadas; condições e conflitos preservados. Seleção documental atual não comprova vigência jurídica por data isolada.</a:t>
            </a:r>
          </a:p>
          <a:p>
            <a:r>
              <a:t>CNPJ 63953620000165 · Alocação mínima · Base da comparação IME: {"criterion_id": "allocation", "observed_value": 93.29241106598856, "unit": "percent", "competence": "08/2026", "status": "not_comparable", "reason": "Vigência efetiva não comprovada; data do documento isolada não certifica enquadramento histórico.", "formula": "credit_rights / net_asset_value × 100",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50.0}</a:t>
            </a:r>
          </a:p>
          <a:p>
            <a:r>
              <a:t>CNPJ 63953620000165 · Alocação mínima · Anexo ao Regulamento · ID 1222863 · 02/06/2026 · versão AnexoConsignadoPrivado02/06/2026 · p. 6 · 4.13 · https://fnet.bmfbovespa.com.br/fnet/publico/visualizarDocumento?id=1222863</a:t>
            </a:r>
          </a:p>
          <a:p>
            <a:r>
              <a:t>CNPJ 63953620000165 · Alocação mínima · Excerto da fonte:</a:t>
            </a:r>
          </a:p>
          <a:p>
            <a:r>
              <a:t>4.13 Decorridos 180 (cento e oitenta) dias do início de suas atividades, a Classe deverá manter alocado, no mínimo, para fins tributários, 67% (sessenta e sete por cento) do seu Patrimônio Líquido em Direitos Creditórios, nos termos da Resolução CMN 5.111, e para fins regulatórios, 50% (cinquenta por cento) do seu Patrimônio Líquido em Direitos Creditórios, nos termos da Resolução CVM 175. 4.14 Nos termos do Art. 45, §7º, inciso II, do Anexo Normativo II da Resolução CVM 175, a Classe poderá ter até 100% (cem por cento) de seu Patrimônio Líquido alocado em Direitos Creditórios, derivativos, observado o disposto nest</a:t>
            </a:r>
          </a:p>
          <a:p>
            <a:r>
              <a:t>CNPJ 63953620000165 · Alocação mínima · Mecânica: {"operator": "&gt;=", "unit": "percent", "denominator": "net_asset_value", "frequency": "not_stated", "layer": "class", "effective_status": "document_date_only", "document_date": "2026-06-02", "limit": 50.0, "numerator": "credit_rights", "requires_initial_date": true}</a:t>
            </a:r>
          </a:p>
          <a:p>
            <a:r>
              <a:t>CNPJ 63953620000165 · Alocação mínima · Versão e prevalência: Leitura específica das cláusulas indicadas; condições e conflitos preservados. Seleção documental atual não comprova vigência jurídica por data isolada.</a:t>
            </a:r>
          </a:p>
          <a:p>
            <a:r>
              <a:t>CNPJ 54871427000194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null, "comparison_required": true, "context_formula": "Direitos creditórios / PL", "context_value": 91.84981349574433, "context_unit": "percent"}</a:t>
            </a:r>
          </a:p>
          <a:p>
            <a:r>
              <a:t>CNPJ 54871427000194 · Alocação para tratamento tributário · Regulamento · ID 670691 · 2024-04-28 · versão 1 · p. 5 · https://fnet.bmfbovespa.com.br/fnet/publico/visualizarDocumento?id=670691</a:t>
            </a:r>
          </a:p>
          <a:p>
            <a:r>
              <a:t>CNPJ 54871427000194 · Alocação para tratamento tributário · Excerto da fonte:</a:t>
            </a:r>
          </a:p>
          <a:p>
            <a:r>
              <a:t>Os rendimentos auf eridos pelo cotista do FUNDO estarão sujeitos à tributação pelo IR, à alíquota de  15% (quinze por cento), na data da distribuição de rendimentos ou d a amortização de cotas,  considerando que o FUNDO seja classificado como entidade de investimento e cumpra os critérios de  composição da carteira com, no mínimo, 67% (sessenta e sete por cento) de direitos creditórios de  acordo com a Lei nº 14.754, de 12 de dezembro de 2023 (“Lei 14.754”) e a Resolução do Conselho  Monetário Nacional nº 5.111, de 21 de dezembro de 2023 (“Resolução CMN 5.111”).</a:t>
            </a:r>
          </a:p>
          <a:p>
            <a:r>
              <a:t>CNPJ 54871427000194 · Alocação para tratamento tributário · Regulamento · ID 670691 · 2024-04-28 · versão 1 · p. 5 · https://fnet.bmfbovespa.com.br/fnet/publico/visualizarDocumento?id=670691</a:t>
            </a:r>
          </a:p>
          <a:p>
            <a:r>
              <a:t>CNPJ 54871427000194 · Alocação para tratamento tributário · Excerto da fonte:</a:t>
            </a:r>
          </a:p>
          <a:p>
            <a:r>
              <a:t>A GESTORA do FUNDO buscará manter o cumprimento do requisito de composição da carteira do  FUNDO com, no mínimo 67% (sessenta e sete por cento) em direitos creditórios acima comentados.</a:t>
            </a:r>
          </a:p>
          <a:p>
            <a:r>
              <a:t> Todavia, caso a composição mínima do patrimônio líquido do FUNDO não seja atingida e ocorra o  ef etivo desenquadramento tributário da carteira, os cotistas pessoa f ísica ou jurídica residentes no  Brasil passarão a se sujeitar à regra geral de tributação de fundos, conforme previsto no art. 17 da Lei</a:t>
            </a:r>
          </a:p>
          <a:p>
            <a:r>
              <a:t> 14.754, segundo a qual: (1) haverá incidência periódica de IR todo mês de maio e novembro de cada  ano-calendário sobre os rendimentos auferidos pelo cotista em relação ao investimento nas cotas do  FUNDO, à alíquota de 15% (quinze por cento) ou 20% (vinte por cento), a depender da carteira do  FUNDO ser classificada, respectivamente, como de curto ou longo prazo; e (2) haverá incidência de IR  complementar, conforme alíquotas regressivas que variam de 22,5% (vinte e dois e meio por cento) a  15% (quinze por cento) a depender do prazo de aplicação, por ocasião da amortização ou liquidação  das Cotas do FUNDO. Certos tipos de investidor podem se benef iciar de alíquotas dif erenciadas.</a:t>
            </a:r>
          </a:p>
          <a:p>
            <a:r>
              <a:t>CNPJ 54871427000194 · Alocação para tratamento tributário · Condição: Documentos atuais selecionados no inventário por categoria/escopo; a data documental isolada não comprova vigência jurídica.</a:t>
            </a:r>
          </a:p>
          <a:p>
            <a:r>
              <a:t>CNPJ 54871427000194 · Alocação para tratamento tributário · Versão e prevalência: Documentos atuais selecionados no inventário por categoria/escopo; a data documental isolada não comprova vigência jurídica.</a:t>
            </a:r>
          </a:p>
          <a:p>
            <a:r>
              <a:t>CNPJ 54871427000194 · Alocação para tratamento tributário · Resumo do histórico: {"count": 1, "dates": ["2024-04-19"], "document_count": 1, "sources": [{"document_id": "670689", "title": "Regulamento", "reference_date": "2024-04-19", "version": "1", "page": 5, "url": "https://fnet.bmfbovespa.com.br/fnet/publico/visualizarDocumento?id=670689", "sha256": "891bc9bc5d87bbc02ec139077a84d2702eb81ea02035fb71d24f5b8366b94a0b"}], "reference": {"path": "history/54871427000194.json", "criterion_id": "tax_allocation", "total_count": 1, "preview_count": 1, "full_text_deferred": true, "sha256": "35d7cd99be50c7287c9fb675cf4f2e736002315295a225a9efa79c8d9186d874"}}</a:t>
            </a:r>
          </a:p>
          <a:p>
            <a:r>
              <a:t>CNPJ 60010416000112 · Alocação para tratamento tributário · Base da comparação IME: {"criterion_id": "tax_allocation", "observed_value": 117.78665480900618, "unit": "percent", "competence": "08/2026", "status": "not_comparable", "reason": "Vigência efetiva não comprovada; data do documento isolada não certifica enquadramento histórico.", "formula": "credit_rights / net_asset_value × 100",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67.0}</a:t>
            </a:r>
          </a:p>
          <a:p>
            <a:r>
              <a:t>CNPJ 60010416000112 · Alocação para tratamento tributário · Regulamento · ID 1051393 · 09/10/2025 · versão Regulamento09/10/2025 · p. 11 · AnexoI4.6 · https://fnet.bmfbovespa.com.br/fnet/publico/visualizarDocumento?id=1051393</a:t>
            </a:r>
          </a:p>
          <a:p>
            <a:r>
              <a:t>CNPJ 60010416000112 · Alocação para tratamento tributário · Excerto da fonte:</a:t>
            </a:r>
          </a:p>
          <a:p>
            <a:r>
              <a:t>4.6 Decorridos 180 (cento e oitenta) dias do início de suas atividades, a Classe deverá manter alocado, no mínimo: para f ins tributários, 67% (sessenta e sete por cento) do seu Patrimônio Líquido em Direitos Creditórios, nos termos da Resolução CMN 5.111; e para fins regulatórios, 50% (cinquenta por cento) do seu Patrimônio Líquido em Direitos Creditórios, nos termos da Resolução CVM 175. BTG Pactual SAC: 0800 772 28 27 - Ouvidoria: 0800 722 00 48 - btgpactual.com 11</a:t>
            </a:r>
          </a:p>
          <a:p>
            <a:r>
              <a:t>CNPJ 60010416000112 · Alocação para tratamento tributário · Mecânica: {"operator": "&gt;=", "unit": "percent", "denominator": "net_asset_value", "frequency": "not_stated", "layer": "class", "effective_status": "document_date_only", "document_date": "2025-10-09", "numerator": "credit_rights", "limit": 67.0, "requires_initial_date": true}</a:t>
            </a:r>
          </a:p>
          <a:p>
            <a:r>
              <a:t>CNPJ 60010416000112 · Alocação para tratamento tributário · Versão e prevalência: Leitura específica das cláusulas indicadas; condições e conflitos preservados. Seleção documental atual não comprova vigência jurídica por data isolada.</a:t>
            </a:r>
          </a:p>
          <a:p>
            <a:r>
              <a:t>CNPJ 60010416000112 · Alocação para tratamento tributário · Resumo do histórico: {"count": 1, "dates": ["2025-03-20"], "document_count": 1, "sources": [{"document_id": "993786", "title": "Regulamento", "reference_date": "2025-03-20", "version": "1", "page": 6, "clause": "5.3", "url": "https://fnet.bmfbovespa.com.br/fnet/publico/visualizarDocumento?id=993786", "sha256": "fd0fdd369a195510d81f81f505195a0b09e5f43522a990afa7d58c4f872921c8"}], "reference": {"path": "history/60010416000112.json", "criterion_id": "tax_allocation", "total_count": 1, "preview_count": 1, "full_text_deferred": true, "sha256": "8e2bd813f4c51cf01f6bfaad164bafe69d2bbb192f753eac92da3a01c2e63046"}}</a:t>
            </a:r>
          </a:p>
          <a:p>
            <a:r>
              <a:t>CNPJ 62696791000193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null, "comparison_required": true, "context_formula": "Direitos creditórios / PL", "context_value": null, "context_unit": "percent"}</a:t>
            </a:r>
          </a:p>
          <a:p>
            <a:r>
              <a:t>CNPJ 62696791000193 · Alocação para tratamento tributário · Regulamento · ID 1143317 · 2026-03-20 · versão 1 · p. 30 · https://fnet.bmfbovespa.com.br/fnet/publico/visualizarDocumento?id=1143317</a:t>
            </a:r>
          </a:p>
          <a:p>
            <a:r>
              <a:t>CNPJ 62696791000193 · Alocação para tratamento tributário · Excerto da fonte:</a:t>
            </a:r>
          </a:p>
          <a:p>
            <a:r>
              <a:t>Os rendimentos distribuídos pela Classe, de modo geral, sujeitam-se à incidência do IRF à alíquota  de 20% (vinte por cento), inclusive quando distribuídos à Cotista que seja pessoa jurídica isenta.</a:t>
            </a:r>
          </a:p>
          <a:p>
            <a:r>
              <a:t> Os ganhos de capital ou rendimentos auf eridos na alienação ou no resgate de cotas da Classe  sujeitam-se à tributação pelo IRF à alíquota de 20% (vinte por cento), no caso de resgate de cotas,  ou conforme normas aplicáveis aos ganhos de capital ou ganhos líquidos auf eridos em renda  variável, nos casos de alienação de cotas.</a:t>
            </a:r>
          </a:p>
          <a:p>
            <a:r>
              <a:t> O IRF pago será considerado: (i) antecipação da tributação corporativa para os investidores pessoa  jurídica (nos regimes de lucro real, presumido ou arbitrado); e (ii) def initivo, nos demais casos,  incluindo de investidores pessoas f ísicas.</a:t>
            </a:r>
          </a:p>
          <a:p>
            <a:r>
              <a:t> Não obstante o disposto no item acima, em conf ormidade com o disposto na Lei 11.033, com a  redação dada pela Lei nº 14.754, o cotista pessoa f ísica f icará isento do IRF e na declaração de  ajuste anual, sobre as distribuições de lucro realizadas pela Classe, exclusivamente na hipótese de  a Classe, cumulativamente: (a) possuir, no mínimo, 100 (cem) cotistas; e (b) as cotas serem  admitidas à negociação exclusivamente em bolsas de valores ou no mercado de balcão organizado.</a:t>
            </a:r>
          </a:p>
          <a:p>
            <a:r>
              <a:t> O benef ício não será concedido ao Cotista que for pessoa física, titular de cotas que representem  10% (dez por cento) ou mais da totalidade das cotas emitidas pela Classe ou cujas cotas lhe derem  direito ao recebimento de rendimento superior a 10% (dez por cento) do total de rendimentos  auf eridos pela Classe.</a:t>
            </a:r>
          </a:p>
          <a:p>
            <a:r>
              <a:t> O benef ício também não será concedido aos Cotistas pessoas físicas que, individualmente ou em  conjunto com parentes até segundo grau, sejam titulares de cotas que representem 30% (trinta por  cento) ou mais da totalidade das cotas emitidas pela Classe, ou ainda cujas cotas lhes derem direito  ao recebimento de rendimento superior a 30% (trinta por cento) do total de rendimentos auf eridos  pela Classe.</a:t>
            </a:r>
          </a:p>
          <a:p>
            <a:r>
              <a:t> Não há garantia de que o benef ício f iscal atualmente vigente não venha a ser posteriormente  restringido, suspenso, revogado ou extinto por legislação superveniente, ocasião na qual poderá vir  a incidir a tributação sobre os rendimentos distribuídos pela Classe, de acordo com os termos da  legislação que vier a estabelecer a incidência tributária.</a:t>
            </a:r>
          </a:p>
          <a:p>
            <a:r>
              <a:t>CNPJ 62696791000193 · Alocação para tratamento tributário · Condição: Documentos atuais selecionados no inventário por categoria/escopo; a data documental isolada não comprova vigência jurídica.</a:t>
            </a:r>
          </a:p>
          <a:p>
            <a:r>
              <a:t>CNPJ 62696791000193 · Alocação para tratamento tributário · Versão e prevalência: Documentos atuais selecionados no inventário por categoria/escopo; a data documental isolada não comprova vigência jurídica.</a:t>
            </a:r>
          </a:p>
          <a:p>
            <a:r>
              <a:t>CNPJ 55563624000109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null, "comparison_required": true, "context_formula": "Direitos creditórios / PL", "context_value": 0.0, "context_unit": "percent"}</a:t>
            </a:r>
          </a:p>
          <a:p>
            <a:r>
              <a:t>CNPJ 55563624000109 · Alocação para tratamento tributário · Regulamento · ID 1192614 · 2026-04-30 · versão 1 · p. 38 · https://fnet.bmfbovespa.com.br/fnet/publico/visualizarDocumento?id=1192614</a:t>
            </a:r>
          </a:p>
          <a:p>
            <a:r>
              <a:t>CNPJ 55563624000109 · Alocação para tratamento tributário · Excerto da fonte:</a:t>
            </a:r>
          </a:p>
          <a:p>
            <a:r>
              <a:t>(xiii) Risco de descaracterização do regime tributário aplicável à Classe. Caso (a) a Classe deixe de  cumprir com o percentual de, pelo menos, 67% (sessenta e sete por cento) do Patrimônio Líquido  aplicado em direitos creditórios, nos termos dos artigos 18, 19 e 24 da Lei 14.754, para fins de  enquadramento do FUNDO e da Classe como “Entidade de Investimento” na forma da Resolução do  CMN nº 5.111, de 21 de dezembro de 2023, conforme alterada, ou qualquer outra norma que venha  a substitui-la, sujeitando o FUNDO e a Classe ao “Regime Específico dos Fundos Não Sujeitos à  Tributação Periódica” conforme a na Seção III da Lei 14.754 ou deixe de satisfazer qualquer uma das  condições previstas na Lei 14.754, neste Anexo e/ou no Regulamento; e/ou (b) o FUNDO ou Classe  deixe de ser enquadrado como “Entidade de Investimento” na forma da Resolução do CMN nº 5.111,  de 21 de dezembro de 2023, ou demais normas do CMN e da CVM, não é possível garantir que o  FUNDO e/ou Classe continuarão a receber o tratamento tributário destinado ao “Regime Específico  dos Fundos Não Sujeitos à Tributação Periódica”, conforme definido na legislação específica.</a:t>
            </a:r>
          </a:p>
          <a:p>
            <a:r>
              <a:t>CNPJ 55563624000109 · Alocação para tratamento tributário · Regulamento · ID 1192614 · 2026-04-30 · versão 1 · p. 6 · https://fnet.bmfbovespa.com.br/fnet/publico/visualizarDocumento?id=1192614</a:t>
            </a:r>
          </a:p>
          <a:p>
            <a:r>
              <a:t>CNPJ 55563624000109 · Alocação para tratamento tributário · Excerto da fonte:</a:t>
            </a:r>
          </a:p>
          <a:p>
            <a:r>
              <a:t>No caso de Fundos de Investimento em Direitos Creditórios (FIDC) classificados como “entidade de investimento” e  cuja carteira seja composta por, no mínimo, 67% (sessenta e sete por cento) de direitos creditórios conforme definições  prescritas em regulamentação expedida pelo Conselho Monetário Nacional, os rendimentos auferidos na amortização  ou no resgate das cotas, inclusive quando decorrentes da liquidação do FUNDO, ficam sujeitos à incidência do IRF à  alíquota de 15% (quinze por cento) sobre a diferença positiva entre o valor de amortização ou resgate e o custo de  aquisição das Cotas.</a:t>
            </a:r>
          </a:p>
          <a:p>
            <a:r>
              <a:t>CNPJ 55563624000109 · Alocação para tratamento tributário · Condição: Documentos atuais selecionados no inventário por categoria/escopo; a data documental isolada não comprova vigência jurídica.</a:t>
            </a:r>
          </a:p>
          <a:p>
            <a:r>
              <a:t>CNPJ 55563624000109 · Alocação para tratamento tributário · Versão e prevalência: Documentos atuais selecionados no inventário por categoria/escopo; a data documental isolada não comprova vigência jurídica.</a:t>
            </a:r>
          </a:p>
          <a:p>
            <a:r>
              <a:t>CNPJ 55563624000109 · Alocação para tratamento tributário · Resumo do histórico: {"count": 2, "dates": ["2025-01-31", "2026-01-31"], "document_count": 2, "sources": [{"document_id": "1178840", "title": "Demonstrações Financeiras", "reference_date": "2026-01-31", "version": "1", "page": 23, "url": "https://fnet.bmfbovespa.com.br/fnet/publico/visualizarDocumento?id=1178840", "sha256": "c458e98664c5c907ddb5a05a94b120bed4e05295b2bfc420f5ba69af0a229abe"}, {"document_id": "891861", "title": "Demonstrações Financeiras", "reference_date": "2025-01-31", "version": "1", "page": 24, "url": "https://fnet.bmfbovespa.com.br/fnet/publico/visualizarDocumento?id=891861", "sha256": "e9cb9e6ddbe505fe068cfcac33605165a98313489de0d3ce6d4d238263c3f3e7"}], "reference": {"path": "history/55563624000109.json", "criterion_id": "tax_allocation", "total_count": 2, "preview_count": 2, "full_text_deferred": true, "sha256": "7835d573fb58a3c19adf5b8ecc2aee2bdbb9a88f7a0c0209b5f262b64c7522e3"}}</a:t>
            </a:r>
          </a:p>
          <a:p>
            <a:r>
              <a:t>CNPJ 62552447000120 · Alocação para tratamento tributário · Base da comparação IME: {"criterion_id": "tax_allocation", "observed_value": 104.36099466414683, "unit": "percent", "competence": "08/2026", "status": "not_comparable", "reason": "Vigência efetiva não comprovada; data do documento isolada não certifica enquadramento histórico.", "formula": "credit_rights / net_asset_value × 100",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67.0}</a:t>
            </a:r>
          </a:p>
          <a:p>
            <a:r>
              <a:t>CNPJ 62552447000120 · Alocação para tratamento tributário · Regulamento · ID 1200623 · 21/05/2026 · versão Consolidado21/05/2026 aprovado pelo ato1200625 · p. 14 · AnexoI4.9 · https://fnet.bmfbovespa.com.br/fnet/publico/visualizarDocumento?id=1200623</a:t>
            </a:r>
          </a:p>
          <a:p>
            <a:r>
              <a:t>CNPJ 62552447000120 · Alocação para tratamento tributário · Excerto da fonte:</a:t>
            </a:r>
          </a:p>
          <a:p>
            <a:r>
              <a:t>4.9 Decorridos 180 (cento e oitenta) dias da Data da Primeira Integralização, a Classe deverá manter alocados em Direitos Creditórios, no mínimo, para fins tributários, 67% (sessenta e sete por cento) do seu Patrimônio Líquido, nos termos da Lei 14.754 e da Resolução CMN 5.111, e, para fins regulatórios, 50% (cinquenta por cento) do seu Patrimônio Líquido, nos termos da Resolução CVM 175. Eventual desenquadramento da Carteira obrigará o Gestor aos procedimentos de desenquadramento e reenquadramento previstos na Lei 14.754 e na Resolução CMN 5.111, para f ins tributários, e na Resolução CVM 175, par</a:t>
            </a:r>
          </a:p>
          <a:p>
            <a:r>
              <a:t>CNPJ 62552447000120 · Alocação para tratamento tributário · Mecânica: {"operator": "&gt;=", "unit": "percent", "numerator": "credit_rights", "denominator": "net_asset_value", "frequency": "not_stated", "layer": "class", "effective_status": "document_date_only", "document_date": "2026-05-21", "requires_initial_date": true, "limit": 67.0}</a:t>
            </a:r>
          </a:p>
          <a:p>
            <a:r>
              <a:t>CNPJ 62552447000120 · Alocação para tratamento tributário · Versão e prevalência: Leitura específica das cláusulas indicadas; condições e conflitos preservados. Seleção documental atual não comprova vigência jurídica por data isolada.</a:t>
            </a:r>
          </a:p>
          <a:p>
            <a:r>
              <a:t>CNPJ 63953620000165 · Alocação para tratamento tributário · Base da comparação IME: {"criterion_id": "tax_allocation", "observed_value": 93.29241106598856, "unit": "percent", "competence": "08/2026", "status": "not_comparable", "reason": "Vigência efetiva não comprovada; data do documento isolada não certifica enquadramento histórico.", "formula": "credit_rights / net_asset_value × 100",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67.0}</a:t>
            </a:r>
          </a:p>
          <a:p>
            <a:r>
              <a:t>CNPJ 63953620000165 · Alocação para tratamento tributário · Anexo ao Regulamento · ID 1222863 · 02/06/2026 · versão AnexoConsignadoPrivado02/06/2026 · p. 6 · 4.13 · https://fnet.bmfbovespa.com.br/fnet/publico/visualizarDocumento?id=1222863</a:t>
            </a:r>
          </a:p>
          <a:p>
            <a:r>
              <a:t>CNPJ 63953620000165 · Alocação para tratamento tributário · Excerto da fonte:</a:t>
            </a:r>
          </a:p>
          <a:p>
            <a:r>
              <a:t>4.13 Decorridos 180 (cento e oitenta) dias do início de suas atividades, a Classe deverá manter alocado, no mínimo, para fins tributários, 67% (sessenta e sete por cento) do seu Patrimônio Líquido em Direitos Creditórios, nos termos da Resolução CMN 5.111, e para fins regulatórios, 50% (cinquenta por cento) do seu Patrimônio Líquido em Direitos Creditórios, nos termos da Resolução CVM 175. 4.14 Nos termos do Art. 45, §7º, inciso II, do Anexo Normativo II da Resolução CVM 175, a Classe poderá ter até 100% (cem por cento) de seu Patrimônio Líquido alocado em Direitos Creditórios, derivativos, observado o disposto nest</a:t>
            </a:r>
          </a:p>
          <a:p>
            <a:r>
              <a:t>CNPJ 63953620000165 · Alocação para tratamento tributário · Mecânica: {"operator": "&gt;=", "unit": "percent", "denominator": "net_asset_value", "frequency": "not_stated", "layer": "class", "effective_status": "document_date_only", "document_date": "2026-06-02", "limit": 67.0, "numerator": "credit_rights", "requires_initial_date": true}</a:t>
            </a:r>
          </a:p>
          <a:p>
            <a:r>
              <a:t>CNPJ 63953620000165 · Alocação para tratamento tributário · Versão e prevalência: Leitura específica das cláusulas indicadas; condições e conflitos preservados. Seleção documental atual não comprova vigência jurídica por data isolada.</a:t>
            </a:r>
          </a:p>
          <a:p>
            <a:r>
              <a:t>CNPJ 54871427000194 · Classes investidas e limites do FIC · Demonstrações Financeiras - Fusão, cisão e incorporação · ID 1219522 · 2026-02-02 · versão 1 · p. 31 · https://fnet.bmfbovespa.com.br/fnet/publico/visualizarDocumento?id=1219522</a:t>
            </a:r>
          </a:p>
          <a:p>
            <a:r>
              <a:t>CNPJ 54871427000194 · Classes investidas e limites do FIC · Excerto da fonte:</a:t>
            </a:r>
          </a:p>
          <a:p>
            <a:r>
              <a:t>xv) Risco Regulatório e Judicial. Eventuais alterações ou novas normas ou leis aplicáveis à Classe,  seus ativos e a eventuais fundos investidos, incluindo, mas não se limitando àquelas referentes  a tributos, bem como decisões judiciais ou jurisprudência aplicando as regulamentações  existentes ou interpretando novas regulamentações, podem causar um efeito adverso relevante  no preço dos ativos e/ou na performance das posições financeiras adquiridas pela Classe e/ou  pelos fundos Investidos. Ainda, nesse sentido, poderão ocorrer interferências de autoridades  governamentais e órgãos reguladores na regulação dos mercados, bem como alterações das  políticas monetária e cambial. Tais eventos poderão impactar de maneira adversa o valor das  Cotas.</a:t>
            </a:r>
          </a:p>
          <a:p>
            <a:r>
              <a:t>CNPJ 54871427000194 · Classes investidas e limites do FIC · Condição: Documentos atuais selecionados no inventário por categoria/escopo; a data documental isolada não comprova vigência jurídica.</a:t>
            </a:r>
          </a:p>
          <a:p>
            <a:r>
              <a:t>CNPJ 54871427000194 · Classes investidas e limites do FIC · Versão e prevalência: Documentos atuais selecionados no inventário por categoria/escopo; a data documental isolada não comprova vigência jurídica.</a:t>
            </a:r>
          </a:p>
          <a:p>
            <a:r>
              <a:t>CNPJ 54871427000194 · Classes investidas e limites do FIC · Resumo do histórico: {"count": 5, "dates": ["2024-12-31", "2025-01-01", "2025-12-31"], "document_count": 3, "sources": [{"document_id": "1151805", "title": "Demonstrações Financeiras", "reference_date": "2025-12-31", "version": "1", "page": 31, "url": "https://fnet.bmfbovespa.com.br/fnet/publico/visualizarDocumento?id=1151805", "sha256": "f1cea70b152968bf96ef9221b27225953cb20aeef487b2798db3c25e11b528d4"}, {"document_id": "869529", "title": "Demonstrações Financeiras", "reference_date": "2025-01-01", "version": "1", "page": 32, "url": "https://fnet.bmfbovespa.com.br/fnet/publico/visualizarDocumento?id=869529", "sha256": "9a93a9369ac8efdbc54ff8fcee3ccac3abf88edab4807b9323d3852450771b2a"}, {"document_id": "870070", "title": "Demonstrações Financeiras", "reference_date": "2024-12-31", "version": "1", "page": 32, "url": "https://fnet.bmfbovespa.com.br/fnet/publico/visualizarDocumento?id=870070", "sha256": "9a93a9369ac8efdbc54ff8fcee3ccac3abf88edab4807b9323d3852450771b2a"}], "reference": {"path": "history/54871427000194.json", "criterion_id": "investee", "total_count": 5, "preview_count": 3, "full_text_deferred": true, "sha256": "35d7cd99be50c7287c9fb675cf4f2e736002315295a225a9efa79c8d9186d874"}}</a:t>
            </a:r>
          </a:p>
          <a:p>
            <a:r>
              <a:t>CNPJ 60010416000112 · Classes investidas e limites do FIC · Motivo: Não localizada uma cláusula material para este critério nos textos identificados e processados. A ausência de resultado não comprova inexistência da regra.</a:t>
            </a:r>
          </a:p>
          <a:p>
            <a:r>
              <a:t>CNPJ 62696791000193 · Classes investidas e limites do FIC · Regulamento · ID 1143317 · 20/03/2026 · versão Regulamento — referência 20/03/2026 · p. 7 · Anexo I, 1.1, Objetivo, categoria Geral · https://fnet.bmfbovespa.com.br/fnet/publico/visualizarDocumento?id=1143317</a:t>
            </a:r>
          </a:p>
          <a:p>
            <a:r>
              <a:t>CNPJ 62696791000193 · Classes investidas e limites do FIC · Excerto da fonte:</a:t>
            </a:r>
          </a:p>
          <a:p>
            <a:r>
              <a:t>(D) Categoria “Geral” (“Ativos em Geral do Agronegócio”): (i) cotas de classes que apliquem mais de 50% (cinquenta por cento) de seu patrimônio líquido nos ativos referidos nos incisos “A” a “D” acima, o que inclui cotas de outros FIAGRO, mas não se limita a essa categoria de f undos. Os Ativos Imobiliários do Agronegócio, Participações do Agronegócio, Ativos Financeiros do Agronegócio e Ativos em Geral do Agronegócio, quando ref eridos em conjunto, os “Outros Ativos”. Não há limites máximos de aplicação por emissor ou devedor, em função de um percentual do Patrimônio Líquido. O objetivo da Classe não representa, sob qualquer hipótese, garantia da Classe ou de seus Prestadores de Serviços Essenciais e/ou da Cogestora quanto à segurança, rentabilidade e liquidez dos títu</a:t>
            </a:r>
          </a:p>
          <a:p>
            <a:r>
              <a:t>CNPJ 62696791000193 · Classes investidas e limites do FIC · Regulamento · ID 1143317 · 20/03/2026 · versão Regulamento — referência 20/03/2026 · p. 11 · Anexo I, 4.8–4.9 · https://fnet.bmfbovespa.com.br/fnet/publico/visualizarDocumento?id=1143317</a:t>
            </a:r>
          </a:p>
          <a:p>
            <a:r>
              <a:t>CNPJ 62696791000193 · Classes investidas e limites do FIC · Excerto da fonte:</a:t>
            </a:r>
          </a:p>
          <a:p>
            <a:r>
              <a:t>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relacionadas ao Gestor. 4.8.1 As aplicações em Direitos Creditórios do Agronegócio decorrentes de receitas públicas originárias ou derivadas da União, dos Estados, do Distrito Federal e dos Municípios ou de suas autarquias e f undações, assim como em Direitos Creditórios do Agronegócio cedidos ou originados por empresas controladas pelo poder público, não estão submetidas ao limite de concentração por emissor previsto no caput. 4.9 Nos termos do Art. 45 do Anexo</a:t>
            </a:r>
          </a:p>
          <a:p>
            <a:r>
              <a:t>CNPJ 62696791000193 · Classes investidas e limites do FIC · Condição: O regulamento não identifica CNPJs de classes efetivamente investidas. Permissão de investimento não comprova posição.</a:t>
            </a:r>
          </a:p>
          <a:p>
            <a:r>
              <a:t>CNPJ 62696791000193 · Classes investidas e limites do FIC · Versão e prevalência: Leitura específica das cláusulas indicadas; condições e conflitos preservados. Seleção documental atual não comprova vigência jurídica por data isolada.</a:t>
            </a:r>
          </a:p>
          <a:p>
            <a:r>
              <a:t>CNPJ 55563624000109 · Classes investidas e limites do FIC · Regulamento · ID 1192614 · 30/04/2026 · versão Regulamento30/04/2026 · p. 11 · AnexoI4.1 · https://fnet.bmfbovespa.com.br/fnet/publico/visualizarDocumento?id=1192614</a:t>
            </a:r>
          </a:p>
          <a:p>
            <a:r>
              <a:t>CNPJ 55563624000109 · Classes investidas e limites do FIC · Excerto da fonte:</a:t>
            </a:r>
          </a:p>
          <a:p>
            <a:r>
              <a:t>4.1 Observados os demais termos deste Anexo, o objetivo da Classe é investir seus recursos em (i) cotas subordinadas mezanino de emissão da classe única do MERCADO CRÉDITO II BRASIL FUNDO DE INVESTIMENTO EM DIREITOS CREDITÓRIOS NÃO PADRONIZADOS, fundo de investimento em direitos creditórios inscrito no CNPJ sob o nº 41.970.012/0001-26 (“Cotas da Classe Investida” e “Classe Investida”, respectivamente), a qual, por sua vez, aplica seus recursos preponderantemente em direitos creditórios originados pela Mercado Pago, de acordo com os termos e condições est</a:t>
            </a:r>
          </a:p>
          <a:p>
            <a:r>
              <a:t>CNPJ 55563624000109 · Classes investidas e limites do FIC · Condição: Vínculo contratual identificado; quantidade de cotas efetivamente detida exige posição do FIC. Não somar PL do FIC e do investido.</a:t>
            </a:r>
          </a:p>
          <a:p>
            <a:r>
              <a:t>CNPJ 55563624000109 · Classes investidas e limites do FIC · Versão e prevalência: Leitura específica das cláusulas indicadas; condições e conflitos preservados. Seleção documental atual não comprova vigência jurídica por data isolada.</a:t>
            </a:r>
          </a:p>
          <a:p>
            <a:r>
              <a:t>CNPJ 55563624000109 · Classes investidas e limites do FIC · Resumo do histórico: {"count": 2, "dates": ["2025-01-31", "2026-01-31"], "document_count": 2, "sources": [{"document_id": "1178840", "title": "Demonstrações Financeiras", "reference_date": "2026-01-31", "version": "1", "page": 4, "url": "https://fnet.bmfbovespa.com.br/fnet/publico/visualizarDocumento?id=1178840", "sha256": "c458e98664c5c907ddb5a05a94b120bed4e05295b2bfc420f5ba69af0a229abe"}, {"document_id": "891861", "title": "Demonstrações Financeiras", "reference_date": "2025-01-31", "version": "1", "page": 18, "url": "https://fnet.bmfbovespa.com.br/fnet/publico/visualizarDocumento?id=891861", "sha256": "e9cb9e6ddbe505fe068cfcac33605165a98313489de0d3ce6d4d238263c3f3e7"}], "reference": {"path": "history/55563624000109.json", "criterion_id": "investee", "total_count": 2, "preview_count": 2, "full_text_deferred": true, "sha256": "7835d573fb58a3c19adf5b8ecc2aee2bdbb9a88f7a0c0209b5f262b64c7522e3"}}</a:t>
            </a:r>
          </a:p>
          <a:p>
            <a:r>
              <a:t>CNPJ 62552447000120 · Classes investidas e limites do FIC · Regulamento · ID 1200623 · 2026-05-21 · versão 1 · p. 6 · https://fnet.bmfbovespa.com.br/fnet/publico/visualizarDocumento?id=1200623</a:t>
            </a:r>
          </a:p>
          <a:p>
            <a:r>
              <a:t>CNPJ 62552447000120 · Classes investidas e limites do FIC · Excerto da fonte:</a:t>
            </a:r>
          </a:p>
          <a:p>
            <a:r>
              <a:t>integrantes do conglomerado econômico de instituições  f inanceiras classificadas como S1 pelo Banco Central do  Brasil (“BACEN” e “Instituições Financeiras S1”,  respectivamente), desde que não representem títulos de  emissão ou coobrigação de instituições financeiras, bem  como cotas de f undos de investimento que invistam  preponderantemente nestes direitos, títulos e/ou valores  mobiliários; e</a:t>
            </a:r>
          </a:p>
          <a:p>
            <a:r>
              <a:t> (d) “Direitos Creditórios Refinanciamento Livre”, na forma  de CCBs originadas no âmbito de um refinanciamento, de  acordo com a política de cobrança vigente, de Direitos  Creditórios Consignado Privado e de Direitos Creditórios  FGTS, que não contem com o lastro de Consignação ou  de cessão f iduciária do Saque-Aniversário,  respectivamente; e</a:t>
            </a:r>
          </a:p>
          <a:p>
            <a:r>
              <a:t> (ii) “Ativos Financeiros”, assim entendidos como, em conjunto:</a:t>
            </a:r>
          </a:p>
          <a:p>
            <a:r>
              <a:t> (a) moeda corrente nacional;</a:t>
            </a:r>
          </a:p>
          <a:p>
            <a:r>
              <a:t> (b) títulos públicos f ederais;</a:t>
            </a:r>
          </a:p>
          <a:p>
            <a:r>
              <a:t> (c) ativos f inanceiros de renda f ixa de emissão ou  coobrigação de Instituições Financeiras S1;</a:t>
            </a:r>
          </a:p>
          <a:p>
            <a:r>
              <a:t> (d) operações compromissadas, desde que lastreadas nos  títulos mencionados nas alíneas (b) e (c) acima; e</a:t>
            </a:r>
          </a:p>
          <a:p>
            <a:r>
              <a:t> (e) cotas do BTG Pactual Tesouro Selic Fundo de  Investimento Renda Fixa Ref erenciado DI, inscrito no  CNPJ sob o nº 09.215.250/0001-13;</a:t>
            </a:r>
          </a:p>
          <a:p>
            <a:r>
              <a:t> observados todos os limites de composição e diversificação da carteira da  Classe (“Carteira”), estabelecidos neste Regulamento e na  regulamentação aplicável.</a:t>
            </a:r>
          </a:p>
          <a:p>
            <a:r>
              <a:t> O objetivo da Classe não representa, sob qualquer hipótese, promessa,  garantia ou sugestão da Classe ou de seus Prestadores de Serviços  Essenciais quanto à segurança, rentabilidade e liquidez dos títulos  componentes de sua Carteira.</a:t>
            </a:r>
          </a:p>
          <a:p>
            <a:r>
              <a:t>CNPJ 62552447000120 · Classes investidas e limites do FIC · Condição: Documentos atuais selecionados no inventário por categoria/escopo; a data documental isolada não comprova vigência jurídica.</a:t>
            </a:r>
          </a:p>
          <a:p>
            <a:r>
              <a:t>CNPJ 62552447000120 · Classes investidas e limites do FIC · Versão e prevalência: Documentos atuais selecionados no inventário por categoria/escopo; a data documental isolada não comprova vigência jurídica.</a:t>
            </a:r>
          </a:p>
          <a:p>
            <a:r>
              <a:t>CNPJ 63953620000165 · Classes investidas e limites do FIC · Motivo: Não localizada uma cláusula material para este critério nos textos identificados e processados. A ausência de resultado não comprova inexistência da regra.</a:t>
            </a:r>
          </a:p>
          <a:p>
            <a:r>
              <a:t>CNPJ 54871427000194 · Classe, subclasse e responsabilidade · Regulamento · ID 670691 · 2024-04-28 · versão 1 · p. 29 · https://fnet.bmfbovespa.com.br/fnet/publico/visualizarDocumento?id=670691</a:t>
            </a:r>
          </a:p>
          <a:p>
            <a:r>
              <a:t>CNPJ 54871427000194 · Classe, subclasse e responsabilidade · Excerto da fonte:</a:t>
            </a:r>
          </a:p>
          <a:p>
            <a:r>
              <a:t>Anexo I ao Regulamento CLASSE ÚNICA DE RESPONSABILIDADE LIMITADA DO CONSIGNADO DELTA RECEIVABLES I FUNDO DE INVESTIMENTO EM DIREITOS CREDITÓRIOS  pelo Endossante e depositados em seu conta de sua titularidade para posterior repasse à  Classe. Neste caso, a Classe poderá sofrer perdas principalmente em relação ao atraso na  regularização da titularidade e pagamento dos Direitos Creditórios.</a:t>
            </a:r>
          </a:p>
          <a:p>
            <a:r>
              <a:t> (v) Risco de pré-pagamento dos Direitos Creditórios. A ocorrência de pré-  pagamentos em relação a um ou mais Direitos Creditórios poderá ocasionar perdas à Classe.</a:t>
            </a:r>
          </a:p>
          <a:p>
            <a:r>
              <a:t> A ocorrência de pré-pagamentos (pagamento em data anterior àquela originalmente pactuada)  de Direitos Creditórios reduz o horizonte original de rendimentos esperados pela Classe de  tais Direitos Creditórios, uma vez que o pré-pagamento poderá, se assim permitido pela  documentação do Direito Creditório ou, conf orme o caso, pela legislação aplicável, ser  realizado pelo valor de emissão do Direito Creditório atualizado até a data do pré-pagamento  pela taxa de juros pactuada entre os Endossantes e os Devedores de tais Direitos Creditórios,  de modo que os juros remuneratórios incidentes desde a data da realização do pré-pagamento  até a data de vencimento do respectivo Direito Creditório deixam de ser devidos à Classe.</a:t>
            </a:r>
          </a:p>
          <a:p>
            <a:r>
              <a:t> (vi) Riscos associados aos Devedores: os Direitos Creditórios a serem cedidos à  Classe serão descontados da remuneração do Devedor, através de desconto em f olha de  pagamento ou de benefício. Nesse sentido, na ocorrência de pré-pagamento, as parcelas  serão pagas antecipadamente e a Classe deverá utilizar tais montantes no pré-pagamento dos  Direitos Creditórios. Nesta hipótese, a Classe poderá não encontrar Direitos Creditórios  disponíveis para serem adquiridos pela Classe, o que poderá afetar a rentabilidade da Classe.</a:t>
            </a:r>
          </a:p>
          <a:p>
            <a:r>
              <a:t> (vii) Risco de Competição: o mercado de empréstimos experimentou grande  expansão no Brasil nos últimos anos. Nesse contexto, a Resolução CMN nº 4.292, alterada  pela Resolução nº 4.762, de 27 de novembro de 2019, dispõe que deve ser garantido às  pessoas naturais devedoras de operações de crédito (tais como as CCB) a possibilidade de  realizarem a portabilidade destas operações para outras instituições financeiras, inclusive nos  casos em que tenham sido objeto de cessão (tais como as realizadas à Classe). Nesse  cenário, é possível que os competidores do Endossante ofereçam condições e taxas mais  vantajosas para os empréstimos pessoais com consignação em f olha de pagamento ou de  benef ícios, o que pode causar a migração de clientes da Endossante para outras instituições  f inanceiras, gerando a liquidação antecipada de parte das CCB existentes e/ou redução no  número de Direitos Creditórios cedidos. Referida competição poderá af etar os resultados da  Classe, impactando negativamente os rendimentos dos Cotistas. Ainda, a portabilidade a um  Devedor pode acarretar no recebimento de valores inf eriores aos esperados pela Classe.</a:t>
            </a:r>
          </a:p>
          <a:p>
            <a:r>
              <a:t> (viii) Insuf iciência dos Critérios de Elegibilidade. Os Critérios de Elegibilidade têm a  f inalidade de selecionar os Direitos Creditórios passíveis de aquisição pela Classe. Não  obstante tais Critérios de Elegibilidade, a solvência dos Direitos Creditórios que compõem a  Carteira depende integralmente, mas não somente, da situação econômico-financeira dos  Devedores. Dessa f orma, a observância pelo GESTOR dos Critérios de Elegibilidade não  constitui garantia de adimplência dos Devedores.</a:t>
            </a:r>
          </a:p>
          <a:p>
            <a:r>
              <a:t> Os Endossantes não necessariamente garantem a solvência dos seus respectivos Devedores.</a:t>
            </a:r>
          </a:p>
          <a:p>
            <a:r>
              <a:t> O Endossante dos Direitos Creditórios não assumirá responsabilidade pelo seu pagamento ou  pela solvência dos respectivos Devedores. A Classe sofrerá o impacto do inadimplemento dos  Direitos Creditórios vencidos e não pagos pelos respectivos Devedores.</a:t>
            </a:r>
          </a:p>
          <a:p>
            <a:r>
              <a:t> (ix) Possibilidade de aquisição de Direitos Creditórios cedidos por Endossante  e/ou devidos por Devedores cujas demonstrações financeiras não sejam auditadas. A Classe,  desde que sejam respeitados os limites de concentração previstos neste Regulamento, poderá  manter a qualquer tempo em sua Carteira, Direitos Creditórios cedidos por Endossante e/ou  devidos por Devedores cujas demonstrações f inanceiras não sejam auditadas por Auditor  Independente registrado na CVM. Nesse sentido, não haverá verificação independente sobre  tais demonstrações f inanceiras que af irme se estas representam adequadamente, em todos  os aspectos relevantes, as respectivas posições patrimoniais e f inanceiras, os resultados de  suas operações, as mutações de seus respectivos patrimônios líquidos tampouco as origens  e aplicações de seus recursos.</a:t>
            </a:r>
          </a:p>
          <a:p>
            <a:r>
              <a:t>CNPJ 54871427000194 · Classe, subclasse e responsabilidade · Regulamento · ID 670691 · 2024-04-28 · versão 1 · p. 15 · 7.2 · https://fnet.bmfbovespa.com.br/fnet/publico/visualizarDocumento?id=670691</a:t>
            </a:r>
          </a:p>
          <a:p>
            <a:r>
              <a:t>CNPJ 54871427000194 · Classe, subclasse e responsabilidade · Excerto da fonte:</a:t>
            </a:r>
          </a:p>
          <a:p>
            <a:r>
              <a:t>7.2 As amortizações de Cotas serão realizadas a qualquer tempo, a critério do GESTOR, observada a  disponibilidade de recursos da Classe Única e a ordem de alocação de recursos prevista neste Anexo  Descritivo.</a:t>
            </a:r>
          </a:p>
          <a:p>
            <a:r>
              <a:t>CNPJ 54871427000194 · Classe, subclasse e responsabilidade · Instrumento Particular de Alteração do Regulamento · ID 670690 · 2024-05-28 · versão 1 · p. 1 · https://fnet.bmfbovespa.com.br/fnet/publico/visualizarDocumento?id=670690</a:t>
            </a:r>
          </a:p>
          <a:p>
            <a:r>
              <a:t>CNPJ 54871427000194 · Classe, subclasse e responsabilidade · Excerto da fonte:</a:t>
            </a:r>
          </a:p>
          <a:p>
            <a:r>
              <a:t>ATA DA ASSEMBLEIA ESPECIAL DE COTISTAS  CLASSE ÚNICA DE RESPONSABILIDADE LIMITADA DO CONSIGNADO DELTA RECEIVABLES I  FUNDO DE INVESTIMENTO EM DIREITOS CREDITÓRIOS  CNPJ nº 54.871.427/0001-94  (“Classe Única” e “Fundo”, respectivamente)</a:t>
            </a:r>
          </a:p>
          <a:p>
            <a:r>
              <a:t>CNPJ 54871427000194 · Classe, subclasse e responsabilidade · Condição: Documentos atuais selecionados no inventário por categoria/escopo; a data documental isolada não comprova vigência jurídica.</a:t>
            </a:r>
          </a:p>
          <a:p>
            <a:r>
              <a:t>CNPJ 54871427000194 · Classe, subclasse e responsabilidade · Versão e prevalência: Documentos atuais selecionados no inventário por categoria/escopo; a data documental isolada não comprova vigência jurídica.</a:t>
            </a:r>
          </a:p>
          <a:p>
            <a:r>
              <a:t>CNPJ 54871427000194 · Classe, subclasse e responsabilidade · Resumo do histórico: {"count": 4, "dates": ["2024-04-19", "2024-04-28", "2024-05-24"], "document_count": 3, "sources": [{"document_id": "668387", "title": "Instrumento Particular de Emissão de Cotas", "reference_date": "2024-05-24", "version": "1", "page": 1, "url": "https://fnet.bmfbovespa.com.br/fnet/publico/visualizarDocumento?id=668387", "sha256": "be2913bed5f468a7399afcd27f92bac2083451584ee580b5054e9f525e68cc4a"}, {"document_id": "670691", "title": "Regulamento", "reference_date": "2024-04-28", "version": "1", "page": 29, "url": "https://fnet.bmfbovespa.com.br/fnet/publico/visualizarDocumento?id=670691", "sha256": "bf16dd7f1a62d5cdbf2e2d54fef81783783f7310fbc99c3a8f00459bdf9d037b"}, {"document_id": "670687", "title": "Instrumento Particular de Constituição/Encerramento do Fundo", "reference_date": "2024-04-19", "version": "1", "page": 1, "url": "https://fnet.bmfbovespa.com.br/fnet/publico/visualizarDocumento?id=670687", "sha256": "999f2a47d39f7022b0fcee3d16fd1db33948537b897e92c4c9e14b436bf5eb96"}], "reference": {"path": "history/54871427000194.json", "criterion_id": "perimeter", "total_count": 4, "preview_count": 3, "full_text_deferred": true, "sha256": "35d7cd99be50c7287c9fb675cf4f2e736002315295a225a9efa79c8d9186d874"}}</a:t>
            </a:r>
          </a:p>
          <a:p>
            <a:r>
              <a:t>CNPJ 60010416000112 · Classe, subclasse e responsabilidade · Regulamento · ID 1051393 · 2025-10-09 · versão 1 · p. 10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a:t>
            </a:r>
          </a:p>
          <a:p>
            <a:r>
              <a:t> (ii) o saldo dos Direitos Creditórios devidos pelo mesmo Devedor à Classe, considerando, pro  forma, o endosso pretendido, não deverá exceder R$ 100.000,00 (cem mil reais), observado  o disposto no item 4.4.1 abaixo;</a:t>
            </a:r>
          </a:p>
          <a:p>
            <a:r>
              <a:t> (iii) o prazo de vencimento das CCB representativas dos Direitos Creditórios deverá ser, no  máximo, equivalente ao prazo máximo permitido pelas leis e regulamentações aplicáveis; e</a:t>
            </a:r>
          </a:p>
          <a:p>
            <a:r>
              <a:t> (iv) os Direitos Creditórios não poderão ser devidos por Devedores que tenham acima de 64  (sessenta e quatro) anos 11 (onze) meses e 29 (vinte e nove) dias na data de emissão da  respectiva CCB.</a:t>
            </a:r>
          </a:p>
          <a:p>
            <a:r>
              <a:t>CNPJ 60010416000112 · Classe, subclasse e responsabilidade · Regulamento · ID 1051393 · 2025-10-09 · versão 1 · p. 11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  com a transf erência, à Classe, de f orma definitiva, sem coobrigação do Endossante, da plena  titularidade desse Direito Creditório, juntamente com todos os direitos, privilégios, pref erências,  prerrogativas, garantias e ações a ele relacionados, bem como correção monetária, juros e  encargos, sem prejuízo do direito da Classe (i) de exigir a recompra compulsória do respectivo  Direito Creditório, de acordo com os termos do Contrato de Endosso; ou (ii) de vender Direitos  Creditórios ao Agente de Retenção/Cobrança (opção de venda), em ambos os casos estritamente  nos termos do Contrato de Endosso.</a:t>
            </a:r>
          </a:p>
          <a:p>
            <a:r>
              <a:t>CNPJ 60010416000112 · Classe, subclasse e responsabilidade · Regulamento · ID 1051393 · 2025-10-09 · versão 1 · p. 18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a:t>
            </a:r>
          </a:p>
          <a:p>
            <a:r>
              <a:t> (ii) alterar este Anexo I e seus complementos, incluindo mas não se limitando aos Apêndices de cada  uma das subclasses;</a:t>
            </a:r>
          </a:p>
          <a:p>
            <a:r>
              <a:t> (iii) deliberar sobre substituição de Prestadores de Serviços Essenciais, observado o disposto no Art.</a:t>
            </a:r>
          </a:p>
          <a:p>
            <a:r>
              <a:t> 70, §1º da parte geral da Resolução CVM 175, quando aplicável, ou do Custodiante;</a:t>
            </a:r>
          </a:p>
          <a:p>
            <a:r>
              <a:t> (iv) deliberar sobre elevação da Taxa de Administração, inclusive na hipótese de restabelecimento de  taxa que tenha sido objeto de redução;</a:t>
            </a:r>
          </a:p>
          <a:p>
            <a:r>
              <a:t> (v) deliberar sobre incorporação, fusão, cisão total ou parcial, a transformação ou liquidação da Classe;</a:t>
            </a:r>
          </a:p>
          <a:p>
            <a:r>
              <a:t> (vi) alterações das características, vantagens, direitos e obrigações das Cotas;</a:t>
            </a:r>
          </a:p>
          <a:p>
            <a:r>
              <a:t> (vii) alterar critérios e procedimentos para Amortização e/ou resgate de Cotas mediante dação em  pagamento de Direitos Creditórios;</a:t>
            </a:r>
          </a:p>
          <a:p>
            <a:r>
              <a:t> (viii) aprovar a contratação de Agente de Retenção/Cobrança dos Direitos Creditórios Inadimplidos, bem  como decidir sobre sua substituição ou destituição;</a:t>
            </a:r>
          </a:p>
          <a:p>
            <a:r>
              <a:t> (ix) alterar a f orma de amortização do principal e dos valores acumulados relacionados às Cotas;</a:t>
            </a:r>
          </a:p>
          <a:p>
            <a:r>
              <a:t> (x) aprovar emissão de novas Cotas da Classe, em montante além do Capital Autorizado;</a:t>
            </a:r>
          </a:p>
          <a:p>
            <a:r>
              <a:t> (xi) deliberar sobre a eventual necessidade de aportes adicionais de recursos na Classe pelos Cotistas;</a:t>
            </a:r>
          </a:p>
          <a:p>
            <a:r>
              <a:t> (xii) alterações na Política de Investimentos;</a:t>
            </a:r>
          </a:p>
          <a:p>
            <a:r>
              <a:t> (xiii) alterações nos Critérios de Elegibilidade;</a:t>
            </a:r>
          </a:p>
          <a:p>
            <a:r>
              <a:t> (xiv) decidir se um Evento de Avaliação será considerado como Evento de Liquidação, sujeito a este  Regulamento;</a:t>
            </a:r>
          </a:p>
          <a:p>
            <a:r>
              <a:t> (xv) decidir, na ocorrência de qualquer Evento de Liquidação, se esse Evento de Liquidação não deverá  causar a liquidação antecipada da Classe;</a:t>
            </a:r>
          </a:p>
          <a:p>
            <a:r>
              <a:t> (xvi) plano de resolução do Patrimônio Líquido negativo da Classe, nos termos da Resolução CVM 175;</a:t>
            </a:r>
          </a:p>
          <a:p>
            <a:r>
              <a:t> (xvii)pedido de declaração judicial de insolvência da Classe; e</a:t>
            </a:r>
          </a:p>
          <a:p>
            <a:r>
              <a:t> (xviii) deliberar sobre a alteração da data de resgate e/ou prazo de duração de cada Série de Cotas  Seniores, do Benchmark, bem como de quaisquer outras características de qualquer Série de Cotas  Seniores;</a:t>
            </a:r>
          </a:p>
          <a:p>
            <a:r>
              <a:t>CNPJ 60010416000112 · Classe, subclasse e responsabilidade · Condição: Documentos atuais selecionados no inventário por categoria/escopo; a data documental isolada não comprova vigência jurídica.</a:t>
            </a:r>
          </a:p>
          <a:p>
            <a:r>
              <a:t>CNPJ 60010416000112 · Classe, subclasse e responsabilidade · Versão e prevalência: Documentos atuais selecionados no inventário por categoria/escopo; a data documental isolada não comprova vigência jurídica.</a:t>
            </a:r>
          </a:p>
          <a:p>
            <a:r>
              <a:t>CNPJ 60010416000112 · Classe, subclasse e responsabilidade · Resumo do histórico: {"count": 1, "dates": ["2025-05-12"], "document_count": 1, "sources": [{"document_id": "1004656", "title": "AGE", "reference_date": "2025-05-12", "version": "1", "page": 4, "url": "https://fnet.bmfbovespa.com.br/fnet/publico/visualizarDocumento?id=1004656", "sha256": "f6c9c009f6170e2b29f074b98522accec73f0c40efbf11f9ec2c8d3f1402616b"}], "reference": {"path": "history/60010416000112.json", "criterion_id": "perimeter", "total_count": 1, "preview_count": 1, "full_text_deferred": true, "sha256": "8e2bd813f4c51cf01f6bfaad164bafe69d2bbb192f753eac92da3a01c2e63046"}}</a:t>
            </a:r>
          </a:p>
          <a:p>
            <a:r>
              <a:t>CNPJ 62696791000193 · Classe, subclasse e responsabilidade · Regulamento · ID 1143317 · 20/03/2026 · versão Regulamento — referência 20/03/2026 · p. 9 · Anexo I, 2.1 · https://fnet.bmfbovespa.com.br/fnet/publico/visualizarDocumento?id=1143317</a:t>
            </a:r>
          </a:p>
          <a:p>
            <a:r>
              <a:t>CNPJ 62696791000193 · Classe, subclasse e responsabilidade · Excerto da fonte:</a:t>
            </a:r>
          </a:p>
          <a:p>
            <a:r>
              <a:t>2.1 A responsabilidade do Cotista está limitada ao valor por ele subscrito. 2.2 Os seguintes eventos obrigarão o Administrador a verif icar se o Patrimônio Líquido está negativo: (i) qualquer pedido de declaração judicial de insolvência de Classe; (ii) inadimplência de obrigações financeiras de devedor e/ou emissor de ativos detidos pela Classe que representem mais de 10% (dez por cento) de seu Patrimônio Líquido, naquela data de ref erência; (iii) pedido de recuperação extrajudicial, proposta de recuperação judicial, f alência, intervenção, liquidação extrajudicial e/ou regime de administração temporária de devedor e/ou emissor de ativos detidos pela Classe; e (iv) condenação da Classe, de natureza judicial e/ou arbitral e/ou administrativa e/ou outras similares, ao pagamento de mais de 10% (dez por cento) de seu Patrimônio Líquido. 2.3 Caso o Administrador verifique que o Patrimônio Líquido está negativo, ou tenha ciência de pedido de declaração judicial de insolvência da Classe ou da declaração judicial de insolvência da Classe, deverá adotar as medidas aplicáveis previstas na Resolução CVM 175. 2.4 Serão aplicáveis as disp</a:t>
            </a:r>
          </a:p>
          <a:p>
            <a:r>
              <a:t>CNPJ 62696791000193 · Classe, subclasse e responsabilidade · Regulamento · ID 1143317 · 20/03/2026 · versão Regulamento — referência 20/03/2026 · p. 18 · Anexo I, 8.8.1 · https://fnet.bmfbovespa.com.br/fnet/publico/visualizarDocumento?id=1143317</a:t>
            </a:r>
          </a:p>
          <a:p>
            <a:r>
              <a:t>CNPJ 62696791000193 · Classe, subclasse e responsabilidade · Excerto da fonte:</a:t>
            </a:r>
          </a:p>
          <a:p>
            <a:r>
              <a:t>8.8.1 As Chamadas de Capital para a realização de investimentos serão realizadas a qualquer momento durante o Período de Investimento e estarão limitadas ao valor do capital subscrito de cada Cotista. As Chamadas de Capital para o pagamento de despesas e encargos do Fundo poderão ser realizadas a qualquer momento durante o Prazo de Duração, mas não estarão limitadas ao valor do capital subscrito de cada Cotista. 8.8.2 Ao receber uma Chamada de Capital, os Cotistas serão obrigados a integralizar parte ou a totalidade de suas Cotas no prazo previsto na ref erida Chamada de Capital, o qual não poderá ser inf erior a 5 (cinco) Dias Úteis contados do recebimento da Chamada de Capital, conforme solicitado pelo Administrador em observância às instruções do Gestor e de acordo com o disposto nos respectivos Compromissos de Investimento. 8.8.3 O Administrador poderá, eventualmente, realizar Chamadas de Capital aos Cotistas de forma desproporcional entre Cotistas, de modo que um ou mais Cotista venha a integralizar, em uma ou mais Chamadas de Capital, uma parcela maior ou menor, conforme o caso, das Cotas por</a:t>
            </a:r>
          </a:p>
          <a:p>
            <a:r>
              <a:t>CNPJ 62696791000193 · Classe, subclasse e responsabilidade · Regulamento · ID 1143317 · 20/03/2026 · versão Regulamento — referência 20/03/2026 · p. 16 · Anexo I, 7.2 · https://fnet.bmfbovespa.com.br/fnet/publico/visualizarDocumento?id=1143317</a:t>
            </a:r>
          </a:p>
          <a:p>
            <a:r>
              <a:t>CNPJ 62696791000193 · Classe, subclasse e responsabilidade · Excerto da fonte:</a:t>
            </a:r>
          </a:p>
          <a:p>
            <a:r>
              <a:t>7.2 A Classe possui 3 (três) Subclasses de Cotas, quais sejam, a subclasse sênior (“Subclasse Sênior” e “Cotas Seniores”), a subclasse mezanino (“Subclasse Mezanino” e “Cotas Mezanino”) e a subclasse subordinada (“Subclasse Subordinada” e “Cotas Subordinadas” – as Cotas Subordinadas, Cotas Seniores e Cotas Mezanino, quando ref eridas em conjunto, “Cotas”), admitindo ainda a emissão de novas séries (“Séries”) de Cotas Seniores, nos termos do seu respectivo Apêndice. As características, os direitos e as condições de emissão, distribuição, subscrição, integralização, remuneração, amortização e resgate das Cotas estão descritos neste Capítulo e nos respectivos Apêndices. 7.3 As Cotas são escriturais, nominativas e correspondem a f rações ideais do patrimônio da Classe, cuja propriedade presume-se: (i) pelo registro do nome do Cotista no livro de registro de Cotistas, enquanto mantidas em conta de depósito mantidas junto ao Escriturador em nome dos respectivos Cotistas, nos termos do Art. 15 da Resolução CVM 175; (ii) pelos controles de titularidade mantidos pelo depositário BTG Pactual SAC: 0800 772 2827 | Ouvidoria: 0800 722 0048 | btgpactual.co m 11</a:t>
            </a:r>
          </a:p>
          <a:p>
            <a:r>
              <a:t>CNPJ 62696791000193 · Classe, subclasse e responsabilidade · Condição: Contradição interna no alcance da responsabilidade limitada. Não apresentar a cláusula de despesas como obrigação irrestrita pacificada.</a:t>
            </a:r>
          </a:p>
          <a:p>
            <a:r>
              <a:t>CNPJ 62696791000193 · Classe, subclasse e responsabilidade · Versão e prevalência: Leitura específica das cláusulas indicadas; condições e conflitos preservados. Seleção documental atual não comprova vigência jurídica por data isolada.</a:t>
            </a:r>
          </a:p>
          <a:p>
            <a:r>
              <a:t>CNPJ 55563624000109 · Classe, subclasse e responsabilidade · Regulamento · ID 1192614 · 2026-04-30 · versão 1 · p. 40 · https://fnet.bmfbovespa.com.br/fnet/publico/visualizarDocumento?id=1192614</a:t>
            </a:r>
          </a:p>
          <a:p>
            <a:r>
              <a:t>CNPJ 55563624000109 · Classe, subclasse e responsabilidade · Excerto da fonte:</a:t>
            </a:r>
          </a:p>
          <a:p>
            <a:r>
              <a:t>(xxiv) Subordinação de determinadas Cotas da Classe Investida a outras subclasses ou séries de  cotas das Classes Investidas aos quais pertencem. A Classe Investida adquirirá apenas cotas  subordinadas mezaninos da Classe Investida, as quais se subordinam às cotas seniores da Classe  Investida para efeitos de resgate. Os resgates de cotas subordinadas mezanino tipicamente têm sua  realização condicionada ainda à manutenção da razão de garantia e à existência de disponibilidades  da Classe Investida. O ADMINISTRADOR, o GESTOR e o CUSTODIANTE e suas respectivas partes  relacionadas, encontram-se impossibilitados de assegurar que a amortização e o resgate das cotas  subordinadas mezanino da Classe Investida que venham a ser adquiridas pela Classe ocorrerão nas  datas originalmente previstas, sendo que, caso tais amortizações e/ou resgates não ocorram, não será  devido pelo FUNDO ou qualquer pessoa, incluindo o ADMINISTRADOR, o GESTOR e o CUSTODIANTE,  do FUNDO ou da Classe Investida qualquer multa ou penalidade, de qualquer natureza. O não resgate  de cotas subordinadas mezanino da Classe Investida detidas pela Classe poderá impactar  negativamente no fluxo de pagamento de resgate da Classe e/ou no valor patrimonial das Cotas da  Classe.</a:t>
            </a:r>
          </a:p>
          <a:p>
            <a:r>
              <a:t>CNPJ 55563624000109 · Classe, subclasse e responsabilidade · Regulamento · ID 1192614 · 2026-04-30 · versão 1 · p. 2 · 1.2 · https://fnet.bmfbovespa.com.br/fnet/publico/visualizarDocumento?id=1192614</a:t>
            </a:r>
          </a:p>
          <a:p>
            <a:r>
              <a:t>CNPJ 55563624000109 · Classe, subclasse e responsabilidade · Excerto da fonte:</a:t>
            </a:r>
          </a:p>
          <a:p>
            <a:r>
              <a:t>1.2 Este regulamento é composto por esta parte geral, um ou mais anexos, conforme o número de classes aqui  previsto e respectivos apêndices relativos a cada subclasse de cotas, conforme aplicável (respectivamente,  “Regulamento”, “Parte Geral”, “Anexos” e “Apêndices”).</a:t>
            </a:r>
          </a:p>
          <a:p>
            <a:r>
              <a:t> Denominação da Classe Anexo  CLASSE ÚNICA DE RESPONSABILIDADE LIMITADA DO  PLGN MARKETPLACE FUNDO DE INVESTIMENTO EM  Anexo Único (“Anexo”)  COTAS DE FUNDO DE INVESTIMENTO EM DIREITOS  CREDITÓRIOS (“Classe” ou “Classe Única”)</a:t>
            </a:r>
          </a:p>
          <a:p>
            <a:r>
              <a:t>CNPJ 55563624000109 · Classe, subclasse e responsabilidade · Regulamento · ID 1192614 · 2026-04-30 · versão 1 · p. 24 · 12.3 · https://fnet.bmfbovespa.com.br/fnet/publico/visualizarDocumento?id=1192614</a:t>
            </a:r>
          </a:p>
          <a:p>
            <a:r>
              <a:t>CNPJ 55563624000109 · Classe, subclasse e responsabilidade · Excerto da fonte:</a:t>
            </a:r>
          </a:p>
          <a:p>
            <a:r>
              <a:t>12.3 Incluem-se entre as obrigações do ADMINISTRADOR, sem prejuízo de outras previstas na regulamentação:</a:t>
            </a:r>
          </a:p>
          <a:p>
            <a:r>
              <a:t> (i) sem prejuízo da observância dos procedimentos relativos às demonstrações contábeis, manter,  separadamente, registros com informações completas sobre toda e qualquer modalidade de negociação  realizada entre o ADMINISTRADOR, GESTOR, CUSTODIANTE, e/ou suas respectivas partes relacionadas,  tais como definidas pelas regras contábeis que tratam desse assunto, de um lado; e a Classe, de outro;</a:t>
            </a:r>
          </a:p>
          <a:p>
            <a:r>
              <a:t> (ii) diligenciar para que sejam mantidos, às suas expensas, atualizados e em perfeita ordem:</a:t>
            </a:r>
          </a:p>
          <a:p>
            <a:r>
              <a:t> (a) o registro de Cotistas;</a:t>
            </a:r>
          </a:p>
          <a:p>
            <a:r>
              <a:t> (b) o livro de atas das Assembleias de Cotistas;</a:t>
            </a:r>
          </a:p>
          <a:p>
            <a:r>
              <a:t> (c) o livro ou lista de presença de Cotistas;</a:t>
            </a:r>
          </a:p>
          <a:p>
            <a:r>
              <a:t> (d) os pareceres do Auditor Independente; e</a:t>
            </a:r>
          </a:p>
          <a:p>
            <a:r>
              <a:t> (e) os registros contábeis referentes às operações e ao patrimônio da Classe;</a:t>
            </a:r>
          </a:p>
          <a:p>
            <a:r>
              <a:t> (iii) pagar a multa cominatória às suas expensas, nos termos da legislação vigente, por cada dia de atraso no  cumprimento dos prazos previstos na regulamentação aplicável;</a:t>
            </a:r>
          </a:p>
          <a:p>
            <a:r>
              <a:t> (iv) elaborar e divulgar as informações periódicas e eventuais da Classe, nos termos deste Anexo e da  regulamentação e da autorregulação em vigor;</a:t>
            </a:r>
          </a:p>
          <a:p>
            <a:r>
              <a:t> (v) manter atualizada junto à CVM a lista de todos os prestadores de serviços contratados pela Classe,  inclusive os Prestadores de Serviços Essenciais, bem como as demais informações cadastrais da Classe e  suas Subclasses;</a:t>
            </a:r>
          </a:p>
          <a:p>
            <a:r>
              <a:t> (vi) manter serviço de atendimento aos Cotistas, responsável pelo esclarecimento de dúvidas e pelo  recebimento de reclamações;</a:t>
            </a:r>
          </a:p>
          <a:p>
            <a:r>
              <a:t> (vii) receber e processar os pedidos de resgate;</a:t>
            </a:r>
          </a:p>
          <a:p>
            <a:r>
              <a:t> (viii) monitorar os Eventos de Verificação do Patrimônio;</a:t>
            </a:r>
          </a:p>
          <a:p>
            <a:r>
              <a:t> (ix) monitorar os Eventos de Avaliação e Eventos de Liquidação;</a:t>
            </a:r>
          </a:p>
          <a:p>
            <a:r>
              <a:t> (x) observar as disposições constantes do Regulamento;</a:t>
            </a:r>
          </a:p>
          <a:p>
            <a:r>
              <a:t> (xi) cumprir as deliberações da Assembleia de Cotistas; e</a:t>
            </a:r>
          </a:p>
          <a:p>
            <a:r>
              <a:t> (xii) observar as disposições do Código ANBIMA e das Regras e Procedimentos ANBIMA</a:t>
            </a:r>
          </a:p>
          <a:p>
            <a:r>
              <a:t>CNPJ 55563624000109 · Classe, subclasse e responsabilidade · Condição: Documentos atuais selecionados no inventário por categoria/escopo; a data documental isolada não comprova vigência jurídica.</a:t>
            </a:r>
          </a:p>
          <a:p>
            <a:r>
              <a:t>CNPJ 55563624000109 · Classe, subclasse e responsabilidade · Versão e prevalência: Documentos atuais selecionados no inventário por categoria/escopo; a data documental isolada não comprova vigência jurídica.</a:t>
            </a:r>
          </a:p>
          <a:p>
            <a:r>
              <a:t>CNPJ 55563624000109 · Classe, subclasse e responsabilidade · Resumo do histórico: {"count": 5, "dates": ["2024-07-03", "2025-01-31", "2026-01-31"], "document_count": 3, "sources": [{"document_id": "1178840", "title": "Demonstrações Financeiras", "reference_date": "2026-01-31", "version": "1", "page": 3, "url": "https://fnet.bmfbovespa.com.br/fnet/publico/visualizarDocumento?id=1178840", "sha256": "c458e98664c5c907ddb5a05a94b120bed4e05295b2bfc420f5ba69af0a229abe"}, {"document_id": "891861", "title": "Demonstrações Financeiras", "reference_date": "2025-01-31", "version": "1", "page": 27, "url": "https://fnet.bmfbovespa.com.br/fnet/publico/visualizarDocumento?id=891861", "sha256": "e9cb9e6ddbe505fe068cfcac33605165a98313489de0d3ce6d4d238263c3f3e7"}, {"document_id": "703295", "title": "Anúncio de Início", "reference_date": "2024-07-03", "version": "2", "page": 1, "url": "https://fnet.bmfbovespa.com.br/fnet/publico/visualizarDocumento?id=703295", "sha256": "12322b6dbf75e673723bd60910373db249451b72666792e18e0c7b6128f4608a"}], "reference": {"path": "history/55563624000109.json", "criterion_id": "perimeter", "total_count": 5, "preview_count": 3, "full_text_deferred": true, "sha256": "7835d573fb58a3c19adf5b8ecc2aee2bdbb9a88f7a0c0209b5f262b64c7522e3"}}</a:t>
            </a:r>
          </a:p>
          <a:p>
            <a:r>
              <a:t>CNPJ 62552447000120 · Classe, subclasse e responsabilidade · Regulamento · ID 1200623 · 2026-05-21 · versão 1 · p. 1 · 1.3 · https://fnet.bmfbovespa.com.br/fnet/publico/visualizarDocumento?id=1200623</a:t>
            </a:r>
          </a:p>
          <a:p>
            <a:r>
              <a:t>CNPJ 62552447000120 · Classe, subclasse e responsabilidade · Excerto da fonte:</a:t>
            </a:r>
          </a:p>
          <a:p>
            <a:r>
              <a:t>1.3 Durante o seu prazo de duração, o Fundo, por ato conjunto dos Prestadores de Serviços Essenciais,  poderá constituir diferentes Classes e Subclasses , sendo que cada Classe terá patrimônio segregado e</a:t>
            </a:r>
          </a:p>
          <a:p>
            <a:r>
              <a:t>CNPJ 62552447000120 · Classe, subclasse e responsabilidade · Regulamento · ID 1200623 · 2026-05-21 · versão 1 · p. 1 · 1.1 · https://fnet.bmfbovespa.com.br/fnet/publico/visualizarDocumento?id=1200623</a:t>
            </a:r>
          </a:p>
          <a:p>
            <a:r>
              <a:t>CNPJ 62552447000120 · Classe, subclasse e responsabilidade · Excerto da fonte:</a:t>
            </a:r>
          </a:p>
          <a:p>
            <a:r>
              <a:t>1.1 V CDT 1 FUNDO DE INVESTIMENTO EM DIREITOS CREDITÓRIOS RESPONSABILIDADE  LIMITADA (“Fundo”), regido pela Lei n.º 10.406, de 10 de janeiro de 2002, conforme alterada (“Código  Civil”), pela Resolução da Comissão de Valores Mobiliários (“CVM”) n.º 175, de 23 de dezembro de  2022, conf orme alterada (“Resolução CVM 175”), que inclui sua Parte Geral (“Parte Geral da  Resolução CVM 175”) e seu Anexo Normativo II (“Anexo Normativo II”) terá como principais  características:</a:t>
            </a:r>
          </a:p>
          <a:p>
            <a:r>
              <a:t>CNPJ 62552447000120 · Classe, subclasse e responsabilidade · Regulamento · ID 1200623 · 2026-05-21 · versão 1 · p. 1 · https://fnet.bmfbovespa.com.br/fnet/publico/visualizarDocumento?id=1200623</a:t>
            </a:r>
          </a:p>
          <a:p>
            <a:r>
              <a:t>CNPJ 62552447000120 · Classe, subclasse e responsabilidade · Excerto da fonte:</a:t>
            </a:r>
          </a:p>
          <a:p>
            <a:r>
              <a:t>CLASSE ÚNICA DO V CDT 1 FUNDO DE  INVESTIMENTO EM DIREITOS CREDITÓRIOS Anexo I (“Anexo I”)  RESPONSABILIDADE LIMITADA</a:t>
            </a:r>
          </a:p>
          <a:p>
            <a:r>
              <a:t>CNPJ 62552447000120 · Classe, subclasse e responsabilidade · Condição: Documentos atuais selecionados no inventário por categoria/escopo; a data documental isolada não comprova vigência jurídica.</a:t>
            </a:r>
          </a:p>
          <a:p>
            <a:r>
              <a:t>CNPJ 62552447000120 · Classe, subclasse e responsabilidade · Versão e prevalência: Documentos atuais selecionados no inventário por categoria/escopo; a data documental isolada não comprova vigência jurídica.</a:t>
            </a:r>
          </a:p>
          <a:p>
            <a:r>
              <a:t>CNPJ 62552447000120 · Classe, subclasse e responsabilidade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"perimeter", "total_count": 1, "preview_count": 1, "full_text_deferred": true, "sha256": "d95db8c0613d67ee84118c734588665265ea6b02f86a0318d6a844cbe1d0f82f"}}</a:t>
            </a:r>
          </a:p>
          <a:p>
            <a:r>
              <a:t>CNPJ 63953620000165 · Classe, subclasse e responsabilidade · Anexo ao Regulamento · ID 1222863 · 02/06/2026 · versão AnexoConsignadoPrivado02/06/2026 · p. 3 · 2.1 · https://fnet.bmfbovespa.com.br/fnet/publico/visualizarDocumento?id=1222863</a:t>
            </a:r>
          </a:p>
          <a:p>
            <a:r>
              <a:t>CNPJ 63953620000165 · Classe, subclasse e responsabilidade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deverá adotar as medidas aplicáveis previstas na Resolução CVM 175. 2.3 Serão aplicáveis as disposições da Resolução CVM 175 no que se refere aos procedimentos a serem adotados pelo Administrador na hipótese de Patrimônio Líquido negativo da Classe. BTG Pactual SAC: 0800 772 28 27 - Ouvidoria: 0800 722 00 48 - btgpactual.com</a:t>
            </a:r>
          </a:p>
          <a:p>
            <a:r>
              <a:t>CNPJ 63953620000165 · Classe, subclasse e responsabilidade · Anexo ao Regulamento · ID 1222863 · 02/06/2026 · versão AnexoConsignadoPrivado02/06/2026 · p. 10 · 6.7.1 · https://fnet.bmfbovespa.com.br/fnet/publico/visualizarDocumento?id=1222863</a:t>
            </a:r>
          </a:p>
          <a:p>
            <a:r>
              <a:t>CNPJ 63953620000165 · Classe, subclasse e responsabilidade · Excerto da fonte:</a:t>
            </a:r>
          </a:p>
          <a:p>
            <a:r>
              <a:t>6.7.1 As Chamadas de Capital para a realização de investimentos serão realizadas a qualquer momento durante o Período de Investimento e estarão limitadas ao valor do capital subscrito de cada Cotista. As Chamadas de Capital para o pagamento de despesas e encargos do Fundo, com exceção de despesas relacionadas à instrumentos de derivativos e/ou Encargos não previstos no âmbito deste regulamento, poderão ser realizadas a qualquer momento durante o Prazo de Duração, mas não estarão limitadas ao valor do capital subscrito de cada Cotista. 6.7.2 Ao receber uma Chamada d</a:t>
            </a:r>
          </a:p>
          <a:p>
            <a:r>
              <a:t>CNPJ 63953620000165 · Classe, subclasse e responsabilidade · Condição: Alcance das chamadas além do capital comprometido não resolvido textualmente; não certificar limitação apenas por título do fundo.</a:t>
            </a:r>
          </a:p>
          <a:p>
            <a:r>
              <a:t>CNPJ 63953620000165 · Classe, subclasse e responsabilidade · Versão e prevalência: Leitura específica das cláusulas indicadas; condições e conflitos preservados. Seleção documental atual não comprova vigência jurídica por data isolada.</a:t>
            </a:r>
          </a:p>
          <a:p>
            <a:r>
              <a:t>CNPJ 63953620000165 · Classe, subclasse e responsabilidade · Resumo do histórico: {"count": 4, "dates": ["2026-04-28", "2026-05-08", "2026-05-15"], "document_count": 3, "sources": [{"document_id": "1327859", "title": "Demonstrações Financeiras - Fusão, cisão e incorporação", "reference_date": "2026-05-15", "version": "1", "page": 1, "url": "https://fnet.bmfbovespa.com.br/fnet/publico/visualizarDocumento?id=1327859", "sha256": "dca1c68babb97f887528c3e2e47596a9c30f507b067981a35655b2f2da9c8054"}, {"document_id": "1298691", "title": "Demonstrações Financeiras - Fusão, cisão e incorporação", "reference_date": "2026-05-08", "version": "1", "page": 1, "url": "https://fnet.bmfbovespa.com.br/fnet/publico/visualizarDocumento?id=1298691", "sha256": "58c570d9b8d4d265330d3db3ea81c435b8e44a6dab4002aa37790652a1ee9819"}, {"document_id": "1205431", "title": "AGE", "reference_date": "2026-04-28", "version": "1", "page": 1, "clause": "4.1", "url": "https://fnet.bmfbovespa.com.br/fnet/publico/visualizarDocumento?id=1205431", "sha256": "e0b59c701c5d0dbf60de698ea7664d442240863b7043bacdb334ce484188b2ac"}], "reference": {"path": "history/63953620000165.json", "criterion_id": "perimeter", "total_count": 4, "preview_count": 3, "full_text_deferred": true, "sha256": "a7b89077f5e21098c2d601c303faabc3ff6b9729f89d8afecdc60fe1404720c1"}}</a:t>
            </a:r>
          </a:p>
          <a:p>
            <a:r>
              <a:t>CNPJ 54871427000194 · Adaptação à Resolução CVM 175 · Regulamento · ID 670691 · 28/04/2024 · versão Regulamento — referência 28/04/2024 · p. 1 · Parte Geral, 1.1 · https://fnet.bmfbovespa.com.br/fnet/publico/visualizarDocumento?id=670691</a:t>
            </a:r>
          </a:p>
          <a:p>
            <a:r>
              <a:t>CNPJ 54871427000194 · Adaptação à Resolução CVM 175 · Excerto da fonte:</a:t>
            </a:r>
          </a:p>
          <a:p>
            <a:r>
              <a:t>1.1 CONSIGNADO DELTA RECEIVABLES I FUNDO DE INVESTIMENTO EM DIREITOS CREDITÓRIOS (“FUNDO”), regido pela Lei nº 10.406, de 10 de janeiro de 2002, conf orme alterada (“Código Civil”), pela parte geral e o Anexo Normativo II da Resolução nº 175, de 23 de dezembro de 2022, conforme alterada, da Comissão de Valores Mobiliários (respectivamente, “CVM” e “Resolução CVM 175”), terá como principais características: Classe de Cotas Classe única. Indeterminado, exceto se de outra f orma vier a ser deliberado pelos cotistas Prazo de Duração reunidos em assembleia geral de cotistas. BTG Pactual Serviços Financeiros S.A. Distribuidora de Títulos e Valores Mobiliários, instituição f inanceira, com sede na Cidade e Estado do Rio de Janeiro, na Praia de Botafogo, nº 501, 5º andar (parte), Torre Corcovado, ADMINISTRADOR Botafogo, CEP 22250-040, inscrita no CNPJ sob o nº 59.281.253/0001-23 e credenciada como administradora de carteira, de acordo com o Ato Declaratório CVM nº</a:t>
            </a:r>
          </a:p>
          <a:p>
            <a:r>
              <a:t>CNPJ 54871427000194 · Adaptação à Resolução CVM 175 · Regulamento · ID 670691 · 28/04/2024 · versão Regulamento — referência 28/04/2024 · p. 8 · Anexo I, 2.1 · https://fnet.bmfbovespa.com.br/fnet/publico/visualizarDocumento?id=670691</a:t>
            </a:r>
          </a:p>
          <a:p>
            <a:r>
              <a:t>CNPJ 54871427000194 · Adaptação à Resolução CVM 175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deverá adotar as medidas aplicáveis previstas na Resolução CVM 175. 2.3 Serão aplicáveis as disposições da Resolução CVM 175 no que se refere aos procedimentos a serem adotados pelo ADMINISTRADOR na hipótese de Patrimônio Líquido negativo da Classe. CAPÍTULO 3 – ENCARGOS DA CLASSE 3.1 A Classe terá Encargos que lhe poderão ser debitados diretamente, nos termos do art. 53 do Anexo Normativo II da Resolução CVM 175, além de encargos adicionais, e quaisquer despesas que não constituam Encargos correm por conta do Prestador de Serviço Essencial que a tiver contratado: (i) despesas com a contratação de consultoria especializada, conf orme o caso; (ii) despesas com a contratação do Agente de Cobrança, conf orme aplicável; (iii) Taxa Máxima de Custódia; (iv) despesas com registro de Direitos Creditórios; (v) despesas com serviços de originação, cobranças ordinária e/ou extraordinária dos D</a:t>
            </a:r>
          </a:p>
          <a:p>
            <a:r>
              <a:t>CNPJ 54871427000194 · Adaptação à Resolução CVM 175 · Versão e prevalência: Leitura específica das cláusulas indicadas; condições e conflitos preservados. Seleção documental atual não comprova vigência jurídica por data isolada.</a:t>
            </a:r>
          </a:p>
          <a:p>
            <a:r>
              <a:t>CNPJ 54871427000194 · Adaptação à Resolução CVM 175 · Resumo do histórico: {"count": 2, "dates": ["2024-04-19"], "document_count": 2, "sources": [{"document_id": "670687", "title": "Instrumento Particular de Constituição/Encerramento do Fundo", "reference_date": "2024-04-19", "version": "1", "page": 1, "url": "https://fnet.bmfbovespa.com.br/fnet/publico/visualizarDocumento?id=670687", "sha256": "999f2a47d39f7022b0fcee3d16fd1db33948537b897e92c4c9e14b436bf5eb96"}, {"document_id": "670689", "title": "Regulamento", "reference_date": "2024-04-19", "version": "1", "page": 11, "clause": "4.10", "url": "https://fnet.bmfbovespa.com.br/fnet/publico/visualizarDocumento?id=670689", "sha256": "891bc9bc5d87bbc02ec139077a84d2702eb81ea02035fb71d24f5b8366b94a0b"}], "reference": {"path": "history/54871427000194.json", "criterion_id": "res175", "total_count": 2, "preview_count": 2, "full_text_deferred": true, "sha256": "35d7cd99be50c7287c9fb675cf4f2e736002315295a225a9efa79c8d9186d874"}}</a:t>
            </a:r>
          </a:p>
          <a:p>
            <a:r>
              <a:t>CNPJ 60010416000112 · Adaptação à Resolução CVM 175 · Regulamento · ID 1051393 · 09/10/2025 · versão Regulamento09/10/2025 · p. 8 · AnexoI1.2 · https://fnet.bmfbovespa.com.br/fnet/publico/visualizarDocumento?id=1051393</a:t>
            </a:r>
          </a:p>
          <a:p>
            <a:r>
              <a:t>CNPJ 60010416000112 · Adaptação à Resolução CVM 175 · Excerto da fonte:</a:t>
            </a:r>
          </a:p>
          <a:p>
            <a:r>
              <a:t>Tipo de Condomínio Fechado. Prazo de Duração Indeterminado. Classe de Investimento Não. em Cotas Tipo “Financeiro”. Classificação ANBIMA Foco de atuação “Créditos Consignados”. O objetivo da classe é proporcionar aos seus Cotistas a valorização de suas Cotas por meio da aplicação de seu Patrimônio Líquido na aquisição de: (i) Direitos Creditórios que atendam aos Critérios de Elegibilidade, estabelecidos no Ca</a:t>
            </a:r>
          </a:p>
          <a:p>
            <a:r>
              <a:t>CNPJ 60010416000112 · Adaptação à Resolução CVM 175 · Regulamento · ID 1051393 · 09/10/2025 · versão Regulamento09/10/2025 · p. 9 · AnexoI2.1–2.3 · https://fnet.bmfbovespa.com.br/fnet/publico/visualizarDocumento?id=1051393</a:t>
            </a:r>
          </a:p>
          <a:p>
            <a:r>
              <a:t>CNPJ 60010416000112 · Adaptação à Resolução CVM 175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o Administrador deverá adotar as medidas aplicáveis previstas na Resolução CVM 175 2.3 Serão aplicáveis as disposições da Resolução CVM 175 no que se ref ere aos procedimentos a serem adotados pelo Administrador na hipótese de Patrimônio Líquido negativo da Classe, visando a liquidação da Classe e que não remanesçam</a:t>
            </a:r>
          </a:p>
          <a:p>
            <a:r>
              <a:t>CNPJ 60010416000112 · Adaptação à Resolução CVM 175 · Versão e prevalência: Leitura específica das cláusulas indicadas; condições e conflitos preservados. Seleção documental atual não comprova vigência jurídica por data isolada.</a:t>
            </a:r>
          </a:p>
          <a:p>
            <a:r>
              <a:t>CNPJ 60010416000112 · Adaptação à Resolução CVM 175 · Resumo do histórico: {"count": 2, "dates": ["2025-03-20"], "document_count": 2, "sources": [{"document_id": "993785", "title": "Instrumento Particular de Constituição/Encerramento do Fundo", "reference_date": "2025-03-20", "version": "1", "page": 1, "url": "https://fnet.bmfbovespa.com.br/fnet/publico/visualizarDocumento?id=993785", "sha256": "0826e0eae2c51afabf59bbc49fc7647598d03da5ca6de0f9725850a8bd6af457"}, {"document_id": "993786", "title": "Regulamento", "reference_date": "2025-03-20", "version": "1", "page": 12, "clause": "4.8", "url": "https://fnet.bmfbovespa.com.br/fnet/publico/visualizarDocumento?id=993786", "sha256": "fd0fdd369a195510d81f81f505195a0b09e5f43522a990afa7d58c4f872921c8"}], "reference": {"path": "history/60010416000112.json", "criterion_id": "res175", "total_count": 2, "preview_count": 2, "full_text_deferred": true, "sha256": "8e2bd813f4c51cf01f6bfaad164bafe69d2bbb192f753eac92da3a01c2e63046"}}</a:t>
            </a:r>
          </a:p>
          <a:p>
            <a:r>
              <a:t>CNPJ 62696791000193 · Adaptação à Resolução CVM 175 · AGE · ID 1143319 · 20/03/2026 10:00 · versão AGE — referência 20/03/2026 10:00 · p. 1 · AGC, 4.1(a)–(b) · https://fnet.bmfbovespa.com.br/fnet/publico/visualizarDocumento?id=1143319</a:t>
            </a:r>
          </a:p>
          <a:p>
            <a:r>
              <a:t>CNPJ 62696791000193 · Adaptação à Resolução CVM 175 · Excerto da fonte:</a:t>
            </a:r>
          </a:p>
          <a:p>
            <a:r>
              <a:t>4.1. Aprovar a transformação do Fundo, bem como de sua Classe única, em um fundo de investimento nas cadeias produtivas do agronegócio (“Transformação”), nos termos da parte geral e do Anexo Normativo VI da Resolução nº 175 da CVM, de 23 de dezembro de 2022, conforme alterada (“Resolução CVM 175”). a. Aprovar a alteração da denominação do Fundo, que passará a vigorar como BTG PACTUAL CERES CONFINA FUNDO DE INVESTIMENTO NAS CADEIAS PRODUTIVAS DO AGRONEGÓCIO RESPONSABILIDADE LIMITADA, e de sua Classe única, que passará a vigorar como CLASSE ÚNICA DO BTG PACTUAL CERES CONFINA FUNDO DE INVESTIMENTO NAS CADEIAS PRODUTIVAS DO AGRONEGÓCIO RESPONSABILIDADE LIMITADA (“Classe”); b. Aprovar a reforma integral do Regulamento do Fundo, bem como do Anexo descritivo da Classe, para realizar todos os ajustes necessários à implementação da Transformação, incluindo, mas não se limitando, a política de investimentos, o regime tributário e os fatores de risco aplicáveis, conforme itens abaixo; c. Aprovar a alteração do quadro de características gerais do Fundo, considerando a contratação do Cogestor pelo Gestor, nos termos do artigo 52, II, da parte geral da Resolução CVM 175 e no co</a:t>
            </a:r>
          </a:p>
          <a:p>
            <a:r>
              <a:t>CNPJ 62696791000193 · Adaptação à Resolução CVM 175 · AGE · ID 1143319 · 20/03/2026 10:00 · versão AGE — referência 20/03/2026 10:00 · p. 3 · AGC 20/03/2026, 4.1(j)–(k) · https://fnet.bmfbovespa.com.br/fnet/publico/visualizarDocumento?id=1143319</a:t>
            </a:r>
          </a:p>
          <a:p>
            <a:r>
              <a:t>CNPJ 62696791000193 · Adaptação à Resolução CVM 175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Adaptação à Resolução CVM 175 · Regulamento · ID 1143317 · 20/03/2026 · versão Regulamento — referência 20/03/2026 · p. 1 · Parte Geral, 1.1 · https://fnet.bmfbovespa.com.br/fnet/publico/visualizarDocumento?id=1143317</a:t>
            </a:r>
          </a:p>
          <a:p>
            <a:r>
              <a:t>CNPJ 62696791000193 · Adaptação à Resolução CVM 175 · Excerto da fonte:</a:t>
            </a:r>
          </a:p>
          <a:p>
            <a:r>
              <a:t>1.1 BTG PACTUAL CERES CONFINA FUNDO DE INVESTIMENTO NAS CADEIAS PRODUTIVAS DO AGRONEGÓCIO RESPONSABILIDADE LIMITADA (“Fundo”), regido pela Lei nº 10.406, de 10 de janeiro de 2002, conf orme alterada (“Código Civil”), pela Lei n.º 8.668, de 25 de junho de 1993, conf orme alterada (“Lei 8.668”), pela parte geral, Anexo Normativo VI e, subsidiariamente, Anexo Normativo II da Resolução nº 175, de 23 de dezembro de 2022, conforme alterada, da Comissão de Valores Mobiliários (respectivamente, “Resolução CVM 175” e “CVM”), terá como principais características: Classe Classe única. Indeterminado, exceto se de outra f orma vier a ser deliberado pelos Cotistas Prazo de Duração reunidos em assembleia geral de Cotistas (“Prazo de Duração”). BTG Pactual Serviços Financeiros S.A. Distribuidora de Títulos e Valores Mobiliários, sociedade anônima, com sede no município e Estado do Rio de Janeiro, na Praia de Botafogo, nº 501, 5º andar (parte), Torre Corcovado, Administrador Botafogo, CEP 22250-040, inscrita no CNPJ sob o nº 59.281.253/0001-23 e</a:t>
            </a:r>
          </a:p>
          <a:p>
            <a:r>
              <a:t>CNPJ 62696791000193 · Adaptação à Resolução CVM 175 · Condição: Posição comumfev/26 é anterior à transformação e demanda o regime/regulamento anterior.</a:t>
            </a:r>
          </a:p>
          <a:p>
            <a:r>
              <a:t>CNPJ 62696791000193 · Adaptação à Resolução CVM 175 · Versão e prevalência: Leitura específica das cláusulas indicadas; condições e conflitos preservados. Seleção documental atual não comprova vigência jurídica por data isolada.</a:t>
            </a:r>
          </a:p>
          <a:p>
            <a:r>
              <a:t>CNPJ 55563624000109 · Adaptação à Resolução CVM 175 · Regulamento · ID 1192614 · 2026-04-30 · versão 1 · p. 13 · 4.11 · https://fnet.bmfbovespa.com.br/fnet/publico/visualizarDocumento?id=1192614</a:t>
            </a:r>
          </a:p>
          <a:p>
            <a:r>
              <a:t>CNPJ 55563624000109 · Adaptação à Resolução CVM 175 · Excerto da fonte:</a:t>
            </a:r>
          </a:p>
          <a:p>
            <a:r>
              <a:t>4.11 Nos termos dos artigos 45, parágrafo 7º, e 47 parágrafo único do Anexo Normativo II à Resolução CVM 175, uma  vez que as Cotas são destinadas exclusivamente a Investidores Profissionais, a Classe poderá ter até 100% (cem  por cento) de seu Patrimônio Líquido alocado em Cotas da Classe Investida, as quais são emitidas pela Classe  Investida.</a:t>
            </a:r>
          </a:p>
          <a:p>
            <a:r>
              <a:t>CNPJ 55563624000109 · Adaptação à Resolução CVM 175 · Regulamento · ID 1192614 · 2026-04-30 · versão 1 · p. 31 · 15.1.1 · https://fnet.bmfbovespa.com.br/fnet/publico/visualizarDocumento?id=1192614</a:t>
            </a:r>
          </a:p>
          <a:p>
            <a:r>
              <a:t>CNPJ 55563624000109 · Adaptação à Resolução CVM 175 · Excerto da fonte:</a:t>
            </a:r>
          </a:p>
          <a:p>
            <a:r>
              <a:t>15.1.1 Riscos de Crédito:</a:t>
            </a:r>
          </a:p>
          <a:p>
            <a:r>
              <a:t> (i) Risco de concentração na Classe Investida. Nos termos do presente Regulamento, a Classe  deverá manter alocado, no mínimo, 67% (sessenta e sete por cento) do Patrimônio Líquido nas Cotas  da Classe Investida. Alterações na condição econômico-financeira e na expectativa de desempenho ou  resultados da Classe Investida poderão, isolada ou cumulativamente, afetar negativamente o  rendimento do investimento nas Cotas, de forma mais severa do que se a Classe adotasse uma  estratégia de investimento de maior diversificação. O risco associado às aplicações de qualquer fundo  de investimento é diretamente proporcional à concentração da sua carteira, sendo que, quanto maior  essa concentração, maior será a sua vulnerabilidade.</a:t>
            </a:r>
          </a:p>
          <a:p>
            <a:r>
              <a:t> (ii) Risco relativo à Classe Investida. Nos termos deste Anexo, a Classe deverá manter alocado, no  mínimo, 67% (sessenta e sete por cento) do Patrimônio Líquido em Cotas da Classe Investida. Os  investimentos realizados pela Classe Investida poderão estar sujeitos a flutuações típicas do mercado,  risco de crédito, risco sistêmico, condições adversas de liquidez e negociação atípica nos mercados de  atuação, bem como outros riscos diversos. Este Anexo não contém a descrição de todas as  características, incluindo os riscos, da Classe Investida.</a:t>
            </a:r>
          </a:p>
          <a:p>
            <a:r>
              <a:t> (iii) Risco Relativo ao Pagamento de Encargos da Classe Investida. Tendo em vista a estrutura da  Classe Investida – que emitiu cotas sêniores, cotas subordinadas mezanino e cotas subordinadas júnior  – em situação ordinária os encargos da Classe Investida são arcados pelas cotas subordinadas júnior,  que se subordinam às cotas subordinadas mezanino e às cotas sêniores para fins de amortização,  resgate e distribuição de rendimentos, não impactando, portanto, as Cotas da Classe Investida. Não  obstante o funcionamento da Classe Investida em situação ordinária, em cenários extraordinários, na  eventualidade do valor das cotas subordinadas júnior ficar reduzido a zero ou a valor negativo, os  encargos da Classe Investida conforme previstos em seu regulamento, inclusive mas não se limitando  as remunerações dos prestadores de serviços essenciais, passarão a ser arcados pelas cotas  subordinadas mezanino (que são as Cotas da Classe Investida), impactando no valor do investimento  da Classe na Classe Investida, e consequentemente, o investimento dos Cotistas na Classe.</a:t>
            </a:r>
          </a:p>
          <a:p>
            <a:r>
              <a:t> (iv) Riscos referentes à carteira da Classe Investida. Na forma do Anexo Normativo II da Resolução  CVM 175, a Classe Investida investe, direta ou indiretamente, no mínimo, 67% (sessenta e sete por  cento) do seu patrimônio em direitos creditórios originados pela Mercado Pago. O investimento em tais  direitos creditórios está sujeito a fatores de risco específicos, conforme detalhados no regulamento da  Classe Investida, incluindo, mas não se limitando a:</a:t>
            </a:r>
          </a:p>
          <a:p>
            <a:r>
              <a:t> (a) Risco de liquidez dos direitos creditórios. O investimento da Classe Investida em direitos  creditórios apresenta peculiaridades em relação às aplicações usuais da maioria dos  fundos de investimento brasileiros, haja vista que não existe, no Brasil, mercado  secundário com liquidez para tais direitos creditórios. Caso a Classe Investida precise  vender os direitos creditórios adquiridos, poderá não haver mercado comprador para  tais créditos, bem como o preço de alienação de tais direitos creditórios poderá refletir  essa falta de liquidez, causando perda ao patrimônio da Classe Investida e,  consequentemente, à Classe.</a:t>
            </a:r>
          </a:p>
          <a:p>
            <a:r>
              <a:t>CNPJ 55563624000109 · Adaptação à Resolução CVM 175 · Regulamento · ID 1192614 · 2026-04-30 · versão 1 · p. 28 · 13.2 · https://fnet.bmfbovespa.com.br/fnet/publico/visualizarDocumento?id=1192614</a:t>
            </a:r>
          </a:p>
          <a:p>
            <a:r>
              <a:t>CNPJ 55563624000109 · Adaptação à Resolução CVM 175 · Excerto da fonte:</a:t>
            </a:r>
          </a:p>
          <a:p>
            <a:r>
              <a:t>13.2 Em condições ordinárias, as Cotas da Classe Investida não pagarão remuneração aos prestadores de serviços  essenciais da Classe Investida, nos termos de seu regulamento. Não obstante, em cenário extraordinário  conforme descrito no item 15.1.1 (iii), e para fins de atendimento ao artigo 98 da parte geral da Resolução CVM  175, a taxa máxima de administração corresponderá ao valor da Taxa Mínima de Administração acrescida de até  0,10% (dez centésimos por cento) ao ano incidente sobre o patrimônio líquido da Classe Investida,  compreendendo a taxa de administração da Classe Investida geridos por partes relacionadas ao GESTOR, cujas  cotas não estão admitidas à negociação em mercado organizado, conforme prevista no regulamento da Classe  Investida (“Taxa Máxima de Administração” e, quando referida em conjunto com a Taxa Mínima de  Administração, como “Taxa de Administração”). Caso a taxa de administração da Classe Investida não se  enquadre no disposto acima, estará disposta no regulamento da Classe Investida.</a:t>
            </a:r>
          </a:p>
          <a:p>
            <a:r>
              <a:t>CNPJ 55563624000109 · Adaptação à Resolução CVM 175 · Condição: Documentos atuais selecionados no inventário por categoria/escopo; a data documental isolada não comprova vigência jurídica.</a:t>
            </a:r>
          </a:p>
          <a:p>
            <a:r>
              <a:t>CNPJ 55563624000109 · Adaptação à Resolução CVM 175 · Versão e prevalência: Documentos atuais selecionados no inventário por categoria/escopo; a data documental isolada não comprova vigência jurídica.</a:t>
            </a:r>
          </a:p>
          <a:p>
            <a:r>
              <a:t>CNPJ 55563624000109 · Adaptação à Resolução CVM 175 · Resumo do histórico: {"count": 3, "dates": ["2024-07-03", "2025-01-31", "2026-01-31"], "document_count": 3, "sources": [{"document_id": "1178840", "title": "Demonstrações Financeiras", "reference_date": "2026-01-31", "version": "1", "page": 29, "url": "https://fnet.bmfbovespa.com.br/fnet/publico/visualizarDocumento?id=1178840", "sha256": "c458e98664c5c907ddb5a05a94b120bed4e05295b2bfc420f5ba69af0a229abe"}, {"document_id": "891861", "title": "Demonstrações Financeiras", "reference_date": "2025-01-31", "version": "1", "page": 30, "url": "https://fnet.bmfbovespa.com.br/fnet/publico/visualizarDocumento?id=891861", "sha256": "e9cb9e6ddbe505fe068cfcac33605165a98313489de0d3ce6d4d238263c3f3e7"}, {"document_id": "691674", "title": "Instrumento Particular de Emissão de Cotas", "reference_date": "2024-07-03", "version": "1", "page": 1, "url": "https://fnet.bmfbovespa.com.br/fnet/publico/visualizarDocumento?id=691674", "sha256": "78bf7b350f1785beae5f43bd209b5ed19e863cb9a2cff01542aac11dd63ca554"}], "reference": {"path": "history/55563624000109.json", "criterion_id": "res175", "total_count": 3, "preview_count": 3, "full_text_deferred": true, "sha256": "7835d573fb58a3c19adf5b8ecc2aee2bdbb9a88f7a0c0209b5f262b64c7522e3"}}</a:t>
            </a:r>
          </a:p>
          <a:p>
            <a:r>
              <a:t>CNPJ 62552447000120 · Adaptação à Resolução CVM 175 · Regulamento · ID 1200623 · 21/05/2026 · versão Consolidado21/05/2026 aprovado pelo ato1200625 · p. 1 · ParteGeral1.1 · https://fnet.bmfbovespa.com.br/fnet/publico/visualizarDocumento?id=1200623</a:t>
            </a:r>
          </a:p>
          <a:p>
            <a:r>
              <a:t>CNPJ 62552447000120 · Adaptação à Resolução CVM 175 · Excerto da fonte:</a:t>
            </a:r>
          </a:p>
          <a:p>
            <a:r>
              <a:t>1.1 V CDT 1 FUNDO DE INVESTIMENTO EM DIREITOS CREDITÓRIOS RESPONSABILIDADE LIMITADA (“Fundo”), regido pela Lei n.º 10.406, de 10 de janeiro de 2002, conforme alterada (“Código Civil”), pela Resolução da Comissão de Valores Mobiliários (“CVM”) n.º 175, de 23 de dezembro de 2022, conf orme alterada (“Resolução CVM 175”), que inclui sua Parte Geral (“Parte Geral da Resolução CVM 175”) e seu Anexo Normativo II (“Anexo Normativo II”) terá como principais características: Classe de Cotas Classe única. Indeterminado, exceto se de outra forma vier a ser deliberado pelos titulares</a:t>
            </a:r>
          </a:p>
          <a:p>
            <a:r>
              <a:t>CNPJ 62552447000120 · Adaptação à Resolução CVM 175 · Regulamento · ID 1200623 · 21/05/2026 · versão Consolidado21/05/2026 aprovado pelo ato1200625 · p. 2 · ParteGeral1.6(v) · https://fnet.bmfbovespa.com.br/fnet/publico/visualizarDocumento?id=1200623</a:t>
            </a:r>
          </a:p>
          <a:p>
            <a:r>
              <a:t>CNPJ 62552447000120 · Adaptação à Resolução CVM 175 · Excerto da fonte:</a:t>
            </a:r>
          </a:p>
          <a:p>
            <a:r>
              <a:t>V CDT 1 FUNDO DE INVESTIMENTO EM DIREITOS CREDITÓRIOS RESPONSABILIDADE LIMITADA direitos e obrigações distintos das demais Classes, nos termos do art. 5º da Parte Geral da Resolução CVM 175. 1.4 O Anexo de cada classe de Cotas (“Classe”), conforme aplicável, dispõe, sem prejuízo de outros requisitos e inf ormações previstos na regulamentação, sobre: (i) características gerais, incluindo a indicação dos demais prestadores de serviços; (ii) responsabilidade dos Cotistas e regime de insolvência; (iii) características, direitos, condições de emissão, subscrição, integralização,</a:t>
            </a:r>
          </a:p>
          <a:p>
            <a:r>
              <a:t>CNPJ 62552447000120 · Adaptação à Resolução CVM 175 · Regulamento · ID 1200623 · 21/05/2026 · versão Consolidado21/05/2026 aprovado pelo ato1200625 · p. 16 · AnexoI5.1 · https://fnet.bmfbovespa.com.br/fnet/publico/visualizarDocumento?id=1200623</a:t>
            </a:r>
          </a:p>
          <a:p>
            <a:r>
              <a:t>CNPJ 62552447000120 · Adaptação à Resolução CVM 175 · Excerto da fonte:</a:t>
            </a:r>
          </a:p>
          <a:p>
            <a:r>
              <a:t>5.1 A Classe não possui Subclasse. As características, os direitos e as condições de emissão, distribuição, subscrição, integralização, remuneração, Amortização e resgate das Cotas estão descritos neste Capítulo e no Capítulo 6. 5.1.1 Não obstante, por deliberação conjunta dos Prestadores de Serviços Essenciais e mediante aprovação em Assembleia Especial, poderá haver a divisão de Classes em Subclasses, nos termos da Resolução CVM 175. Após a primeira emissão de Cotas, novas emissões de Cotas (de quaisquer Subclasses) dependem de aprovação dos Cotistas. 5.2 As Cotas são escrit</a:t>
            </a:r>
          </a:p>
          <a:p>
            <a:r>
              <a:t>CNPJ 62552447000120 · Adaptação à Resolução CVM 175 · Versão e prevalência: Leitura específica das cláusulas indicadas; condições e conflitos preservados. Seleção documental atual não comprova vigência jurídica por data isolada.</a:t>
            </a:r>
          </a:p>
          <a:p>
            <a:r>
              <a:t>CNPJ 62552447000120 · Adaptação à Resolução CVM 175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"res175", "total_count": 1, "preview_count": 1, "full_text_deferred": true, "sha256": "d95db8c0613d67ee84118c734588665265ea6b02f86a0318d6a844cbe1d0f82f"}}</a:t>
            </a:r>
          </a:p>
          <a:p>
            <a:r>
              <a:t>CNPJ 63953620000165 · Adaptação à Resolução CVM 175 · Anexo ao Regulamento · ID 1222863 · 02/06/2026 · versão AnexoConsignadoPrivado02/06/2026 · p. 1 · AnexoI1.1 · https://fnet.bmfbovespa.com.br/fnet/publico/visualizarDocumento?id=1222863</a:t>
            </a:r>
          </a:p>
          <a:p>
            <a:r>
              <a:t>CNPJ 63953620000165 · Adaptação à Resolução CVM 175 · Excerto da fonte:</a:t>
            </a:r>
          </a:p>
          <a:p>
            <a:r>
              <a:t>1.1 As principais características da Classe Consignado Privado (para fins deste Anexo, “Classe”) estão descritas abaixo: Tipo de Condomínio Fechado. Indeterminado, exceto se de outra forma vier a ser deliberado pelos Cotistas Prazo de Duração reunidos em Assembleia Especial de Cotistas. (“Prazo de Duração”) Tipo “Financeiro”. Classificação ANBIMA Foco de atuação “Créditos Consignados”. O obje</a:t>
            </a:r>
          </a:p>
          <a:p>
            <a:r>
              <a:t>CNPJ 63953620000165 · Adaptação à Resolução CVM 175 · Anexo ao Regulamento · ID 1222863 · 02/06/2026 · versão AnexoConsignadoPrivado02/06/2026 · p. 9 · 5.1 · https://fnet.bmfbovespa.com.br/fnet/publico/visualizarDocumento?id=1222863</a:t>
            </a:r>
          </a:p>
          <a:p>
            <a:r>
              <a:t>CNPJ 63953620000165 · Adaptação à Resolução CVM 175 · Excerto da fonte:</a:t>
            </a:r>
          </a:p>
          <a:p>
            <a:r>
              <a:t>5.1 A Classe possui 2 (duas) Subclasses de Cotas, quais sejam, a subclasse sênior (“Subclasse Sênior” e “Cotas Seniores”) e a subclasse subordinada (“Subclasse Subordinada” e “Cotas Subordinadas” – as Cotas Subordinadas e Cotas Seniores, quando referidas em conjunto, “Cotas”). As características, os direitos e as condições de emissão, distribuição, subscrição, integralização, remuneração, amortização e resgate das Cotas estão descritos neste Capítulo e nos respectivos Apêndices. 5.2 As Cotas são escriturais, nominativas e correspondem a frações ideais do patrimônio da Classe, cuja propriedade presume-se: (i) pelo</a:t>
            </a:r>
          </a:p>
          <a:p>
            <a:r>
              <a:t>CNPJ 63953620000165 · Adaptação à Resolução CVM 175 · Condição: Vigência efetiva da versão 02/06/2026 não inferida da data de publicação; não aplicar a fev/26 automaticamente.</a:t>
            </a:r>
          </a:p>
          <a:p>
            <a:r>
              <a:t>CNPJ 63953620000165 · Adaptação à Resolução CVM 175 · Versão e prevalência: Leitura específica das cláusulas indicadas; condições e conflitos preservados. Seleção documental atual não comprova vigência jurídica por data isolada.</a:t>
            </a:r>
          </a:p>
          <a:p>
            <a:r>
              <a:t>CNPJ 63953620000165 · Adaptação à Resolução CVM 175 · Resumo do histórico: {"count": 9, "dates": ["2026-04-28", "2026-05-08", "2026-05-15"], "document_count": 3, "sources": [{"document_id": "1327859", "title": "Demonstrações Financeiras - Fusão, cisão e incorporação", "reference_date": "2026-05-15", "version": "1", "page": 31, "clause": "15.000.000", "url": "https://fnet.bmfbovespa.com.br/fnet/publico/visualizarDocumento?id=1327859", "sha256": "dca1c68babb97f887528c3e2e47596a9c30f507b067981a35655b2f2da9c8054"}, {"document_id": "1298691", "title": "Demonstrações Financeiras - Fusão, cisão e incorporação", "reference_date": "2026-05-08", "version": "1", "page": 32, "url": "https://fnet.bmfbovespa.com.br/fnet/publico/visualizarDocumento?id=1298691", "sha256": "58c570d9b8d4d265330d3db3ea81c435b8e44a6dab4002aa37790652a1ee9819"}, {"document_id": "1282180", "title": "Demonstrações Financeiras - Fusão, cisão e incorporação", "reference_date": "2026-04-28", "version": "1", "page": 32, "clause": "15.000.000", "url": "https://fnet.bmfbovespa.com.br/fnet/publico/visualizarDocumento?id=1282180", "sha256": "afaaa0e6809be4385e5bdb6c911aac582032c5bdbac3d7750234bf9eaf00438a"}], "reference": {"path": "history/63953620000165.json", "criterion_id": "res175", "total_count": 9, "preview_count": 3, "full_text_deferred": true, "sha256": "a7b89077f5e21098c2d601c303faabc3ff6b9729f89d8afecdc60fe1404720c1"}}</a:t>
            </a:r>
          </a:p>
          <a:p>
            <a:r>
              <a:t>CNPJ 54871427000194 · Duração e público-alvo · Demonstrações Financeiras - Fusão, cisão e incorporação · ID 1219522 · 2026-02-02 · versão 1 · p. 11 · https://fnet.bmfbovespa.com.br/fnet/publico/visualizarDocumento?id=1219522</a:t>
            </a:r>
          </a:p>
          <a:p>
            <a:r>
              <a:t>CNPJ 54871427000194 · Duração e público-alvo · Excerto da fonte:</a:t>
            </a:r>
          </a:p>
          <a:p>
            <a:r>
              <a:t>O Consignado Delta Receivables I Fundo de Investimento em Direitos Creditórios possui uma classe única de cotas, denominada Classe Única de Responsabilidade Limitada do Consignado Delta Receivables I Fundo de Investimento em Direitos Creditórios (“Classe”). A Classe foi constituída em 19 de abril de 2024, sob a forma de condomínio fechado e iniciou suas operações em 27 de maio de 2024. A Classe possui prazo de duração Indeterminado.</a:t>
            </a:r>
          </a:p>
          <a:p>
            <a:r>
              <a:t>CNPJ 54871427000194 · Duração e público-alvo · Condição: Documentos atuais selecionados no inventário por categoria/escopo; a data documental isolada não comprova vigência jurídica.</a:t>
            </a:r>
          </a:p>
          <a:p>
            <a:r>
              <a:t>CNPJ 54871427000194 · Duração e público-alvo · Versão e prevalência: Documentos atuais selecionados no inventário por categoria/escopo; a data documental isolada não comprova vigência jurídica.</a:t>
            </a:r>
          </a:p>
          <a:p>
            <a:r>
              <a:t>CNPJ 54871427000194 · Duração e público-alvo · Resumo do histórico: {"count": 11, "dates": ["2024-12-31", "2025-01-01", "2025-12-31"], "document_count": 3, "sources": [{"document_id": "1151805", "title": "Demonstrações Financeiras", "reference_date": "2025-12-31", "version": "1", "page": 11, "url": "https://fnet.bmfbovespa.com.br/fnet/publico/visualizarDocumento?id=1151805", "sha256": "f1cea70b152968bf96ef9221b27225953cb20aeef487b2798db3c25e11b528d4"}, {"document_id": "869529", "title": "Demonstrações Financeiras", "reference_date": "2025-01-01", "version": "1", "page": 11, "url": "https://fnet.bmfbovespa.com.br/fnet/publico/visualizarDocumento?id=869529", "sha256": "9a93a9369ac8efdbc54ff8fcee3ccac3abf88edab4807b9323d3852450771b2a"}, {"document_id": "870070", "title": "Demonstrações Financeiras", "reference_date": "2024-12-31", "version": "1", "page": 11, "url": "https://fnet.bmfbovespa.com.br/fnet/publico/visualizarDocumento?id=870070", "sha256": "9a93a9369ac8efdbc54ff8fcee3ccac3abf88edab4807b9323d3852450771b2a"}], "reference": {"path": "history/54871427000194.json", "criterion_id": "duration_investors", "total_count": 11, "preview_count": 3, "full_text_deferred": true, "sha256": "35d7cd99be50c7287c9fb675cf4f2e736002315295a225a9efa79c8d9186d874"}}</a:t>
            </a:r>
          </a:p>
          <a:p>
            <a:r>
              <a:t>CNPJ 60010416000112 · Duração e público-alvo · Demonstrações Financeiras - Fusão, cisão e incorporação · ID 1298690 · 2026-05-08 · versão 1 · p. 9 · https://fnet.bmfbovespa.com.br/fnet/publico/visualizarDocumento?id=1298690</a:t>
            </a:r>
          </a:p>
          <a:p>
            <a:r>
              <a:t>CNPJ 60010416000112 · Duração e público-alvo · Excerto da fonte:</a:t>
            </a:r>
          </a:p>
          <a:p>
            <a:r>
              <a:t>1. Contexto operacional  O MT Consignado Privado I Fundo de Investimento em Direitos Creditórios (“Fundo”) possui uma  classe única de cotas, denominada Classe Única do MT I Consignado Privado I Fundo de  Investimento em Direitos Creditórios Responsabilidade Limitada (“Classe”). A Classe foi  constituída em 20 de março de 2025, sob a forma de condomínio fechado e iniciou suas  operações em 21 de março de 2025. A Classe possui prazo de duração indeterminado.</a:t>
            </a:r>
          </a:p>
          <a:p>
            <a:r>
              <a:t>CNPJ 60010416000112 · Duração e público-alvo · Demonstrações Financeiras - Fusão, cisão e incorporação · ID 1298690 · 2026-05-08 · versão 1 · p. 22 · https://fnet.bmfbovespa.com.br/fnet/publico/visualizarDocumento?id=1298690</a:t>
            </a:r>
          </a:p>
          <a:p>
            <a:r>
              <a:t>CNPJ 60010416000112 · Duração e público-alvo · Excerto da fonte:</a:t>
            </a:r>
          </a:p>
          <a:p>
            <a:r>
              <a:t>(ii) Riscos do mercado secundário: A Classe é constituída sob a forma de condomínio  fechado, de modo que as Cotas Subordinadas somente serão resgatadas em virtude da  liquidação da Classe e as Cotas Seniores ao término do seu prazo de duração, conforme  estabelecidos nos respectivos Suplementos. Uma vez que o prazo de duração da Classe  é indeterminado, o Cotista titular das Cotas Subordinadas não terá liquidez em seu  investimento na Classe, exceto (a) por ocasião das amortizações e dos resgates, nos  termos do Regulamento; (b) por meio da alienação de suas Cotas no mercado  secundário, observado, neste caso, que sua alienação apenas é permitida para o Público-  Alvo das Cotas Subordinadas; ou (c) na liquidação antecipada do Fundo ou da Classe.</a:t>
            </a:r>
          </a:p>
          <a:p>
            <a:r>
              <a:t> Além disso, atualmente, o mercado secundário de cotas de fundos de investimento  apresenta baixa liquidez, o que pode dificultar a venda das Cotas ou ocasionar a obtenção  de um preço de venda que cause perda de patrimônio ao Cotista. Não há qualquer  garantia da Administradora, da Gestora, da consultora ou do Custodiante em relação à  possibilidade de venda das Cotas no mercado secundário ou ao preço obtido por elas,  ou mesmo garantia de saída ao Cotista.</a:t>
            </a:r>
          </a:p>
          <a:p>
            <a:r>
              <a:t>CNPJ 60010416000112 · Duração e público-alvo · Condição: Documentos atuais selecionados no inventário por categoria/escopo; a data documental isolada não comprova vigência jurídica.</a:t>
            </a:r>
          </a:p>
          <a:p>
            <a:r>
              <a:t>CNPJ 60010416000112 · Duração e público-alvo · Versão e prevalência: Documentos atuais selecionados no inventário por categoria/escopo; a data documental isolada não comprova vigência jurídica.</a:t>
            </a:r>
          </a:p>
          <a:p>
            <a:r>
              <a:t>CNPJ 60010416000112 · Duração e público-alvo · Resumo do histórico: {"count": 9, "dates": ["2025-11-30", "2026-03-18", "2026-04-16"], "document_count": 3, "sources": [{"document_id": "1282181", "title": "Demonstrações Financeiras - Fusão, cisão e incorporação", "reference_date": "2026-04-16", "version": "1", "page": 23, "url": "https://fnet.bmfbovespa.com.br/fnet/publico/visualizarDocumento?id=1282181", "sha256": "b1c6566e43a00bcd00c8a7f30c77b7f86e351bd8e355bbea113f46d1dafda703"}, {"document_id": "1224477", "title": "Demonstrações Financeiras - Fusão, cisão e incorporação", "reference_date": "2026-03-18", "version": "1", "page": 23, "url": "https://fnet.bmfbovespa.com.br/fnet/publico/visualizarDocumento?id=1224477", "sha256": "0751bf0a75bc3b44c2748f5000226665c6ec6698a90c4dc6170b4e6c187759ae"}, {"document_id": "1126154", "title": "Demonstrações Financeiras", "reference_date": "2025-11-30", "version": "1", "page": 23, "url": "https://fnet.bmfbovespa.com.br/fnet/publico/visualizarDocumento?id=1126154", "sha256": "a01e7ccf88c548f12c95cba8526d7efbef6b585c112cd4668eca781c292090b0"}], "reference": {"path": "history/60010416000112.json", "criterion_id": "duration_investors", "total_count": 9, "preview_count": 3, "full_text_deferred": true, "sha256": "8e2bd813f4c51cf01f6bfaad164bafe69d2bbb192f753eac92da3a01c2e63046"}}</a:t>
            </a:r>
          </a:p>
          <a:p>
            <a:r>
              <a:t>CNPJ 62696791000193 · Duração e público-alvo · Regulamento · ID 1143317 · 2026-03-20 · versão 1 · p. 18 · 8.8.1 · https://fnet.bmfbovespa.com.br/fnet/publico/visualizarDocumento?id=1143317</a:t>
            </a:r>
          </a:p>
          <a:p>
            <a:r>
              <a:t>CNPJ 62696791000193 · Duração e público-alvo · Excerto da fonte:</a:t>
            </a:r>
          </a:p>
          <a:p>
            <a:r>
              <a:t>8.8.1 As Chamadas de Capital para a realização de investimentos serão realizadas a qualquer  momento durante o Período de Investimento e estarão limitadas ao valor do capital subscrito  de cada Cotista. As Chamadas de Capital para o pagamento de despesas e encargos do Fundo  poderão ser realizadas a qualquer momento durante o Prazo de Duração, mas não estarão  limitadas ao valor do capital subscrito de cada Cotista.</a:t>
            </a:r>
          </a:p>
          <a:p>
            <a:r>
              <a:t>CNPJ 62696791000193 · Duração e público-alvo · Regulamento · ID 1143317 · 2026-03-20 · versão 1 · p. 20 · 9.5.1 · https://fnet.bmfbovespa.com.br/fnet/publico/visualizarDocumento?id=1143317</a:t>
            </a:r>
          </a:p>
          <a:p>
            <a:r>
              <a:t>CNPJ 62696791000193 · Duração e público-alvo · Excerto da fonte:</a:t>
            </a:r>
          </a:p>
          <a:p>
            <a:r>
              <a:t>9.5.1 Ao f inal do Prazo de Duração ou quando da liquidação antecipada da Classe, todas as Cotas  deverão ter seu valor integralmente amortizado. Não havendo recursos em moeda corrente  nacional suficientes para realizar o pagamento da amortização total das Cotas em circulação à  época da liquidação da Classe, o Administrador deverá convocar a Assembleia Especial de  Cotistas a fim de deliberar sobre a prorrogação do Prazo de Duração ou o resgate de Cotas em  Direitos Creditórios do Agronegócio e/ou Outros Ativos .</a:t>
            </a:r>
          </a:p>
          <a:p>
            <a:r>
              <a:t>10 ASSEMBLEIA ESPECIAL DE COTISTAS</a:t>
            </a:r>
          </a:p>
          <a:p>
            <a:r>
              <a:t>CNPJ 62696791000193 · Duração e público-alvo · Regulamento · ID 1143317 · 2026-03-20 · versão 1 · p. 23 · 11.1 · https://fnet.bmfbovespa.com.br/fnet/publico/visualizarDocumento?id=1143317</a:t>
            </a:r>
          </a:p>
          <a:p>
            <a:r>
              <a:t>CNPJ 62696791000193 · Duração e público-alvo · Excerto da fonte:</a:t>
            </a:r>
          </a:p>
          <a:p>
            <a:r>
              <a:t>11.1 A Classe será liquidada (i) em caso da liquidação antecipada deliberada em Assembleia Especial de  Cotistas; ou (ii) pelo encerramento do Prazo de Duração da Classe.</a:t>
            </a:r>
          </a:p>
          <a:p>
            <a:r>
              <a:t>CNPJ 62696791000193 · Duração e público-alvo · Condição: Documentos atuais selecionados no inventário por categoria/escopo; a data documental isolada não comprova vigência jurídica.</a:t>
            </a:r>
          </a:p>
          <a:p>
            <a:r>
              <a:t>CNPJ 62696791000193 · Duração e público-alvo · Versão e prevalência: Documentos atuais selecionados no inventário por categoria/escopo; a data documental isolada não comprova vigência jurídica.</a:t>
            </a:r>
          </a:p>
          <a:p>
            <a:r>
              <a:t>CNPJ 55563624000109 · Duração e público-alvo · AGE · ID 1306189 · 2026-08-25 · versão 1 · p. 1 · 4.1 · https://fnet.bmfbovespa.com.br/fnet/publico/visualizarDocumento?id=1306189</a:t>
            </a:r>
          </a:p>
          <a:p>
            <a:r>
              <a:t>CNPJ 55563624000109 · Duração e público-alvo · Excerto da fonte:</a:t>
            </a:r>
          </a:p>
          <a:p>
            <a:r>
              <a:t>4.1 Nos termos do Anexo da Classe, aprovar:</a:t>
            </a:r>
          </a:p>
          <a:p>
            <a:r>
              <a:t>(i) a liquidação da Subclasse A da Classe, considerando o encerramento do seu prazo de duração, por meio do  resgate integral de Cotas da Subclasse A com entrega de financeiro aos Cotistas. Será utilizada como data  base no cálculo da cota do dia 25 de agosto de 2026, com efetivação no fechamento do dia 27 de agosto de  2026; e</a:t>
            </a:r>
          </a:p>
          <a:p>
            <a:r>
              <a:t>(ii) a liquidação antecipada da Subclasse C da Classe, por meio do resgate integral de Cotas da Subclasse C com  entrega de financeiro aos Cotistas. Será utilizada como data base no cálculo da cota do dia 25 de agosto de  2026, com efetivação no fechamento do dia 27 de agosto de 2026.</a:t>
            </a:r>
          </a:p>
          <a:p>
            <a:r>
              <a:t>CNPJ 55563624000109 · Duração e público-alvo · Condição: Documentos atuais selecionados no inventário por categoria/escopo; a data documental isolada não comprova vigência jurídica.</a:t>
            </a:r>
          </a:p>
          <a:p>
            <a:r>
              <a:t>CNPJ 55563624000109 · Duração e público-alvo · Versão e prevalência: Documentos atuais selecionados no inventário por categoria/escopo; a data documental isolada não comprova vigência jurídica.</a:t>
            </a:r>
          </a:p>
          <a:p>
            <a:r>
              <a:t>CNPJ 55563624000109 · Duração e público-alvo · Resumo do histórico: {"count": 6, "dates": ["2026-04-30"], "document_count": 2, "sources": [{"document_id": "1192614", "title": "Regulamento", "reference_date": "2026-04-30", "version": "1", "page": "9, 15, 45-50", "url": "https://fnet.bmfbovespa.com.br/fnet/publico/visualizarDocumento?id=1192614", "sha256": "f56e63ace0acde41d2f47fb48f1ac7f3f7df5e2d32de092d7c5e075a52516632"}, {"document_id": "1192614", "title": "Regulamento", "reference_date": "2026-04-30", "version": "1", "page": 5, "clause": "4.7.1", "url": "https://fnet.bmfbovespa.com.br/fnet/publico/visualizarDocumento?id=1192614", "sha256": "f56e63ace0acde41d2f47fb48f1ac7f3f7df5e2d32de092d7c5e075a52516632"}, {"document_id": "1192603", "title": "AGE", "reference_date": "2026-04-30", "version": "1", "page": 1, "clause": "4.1", "url": "https://fnet.bmfbovespa.com.br/fnet/publico/visualizarDocumento?id=1192603", "sha256": "f53ff2a5b715f5365536305a098f9cc0c54b5a01128942d784915bed8eeb0288"}], "reference": {"path": "history/55563624000109.json", "criterion_id": "duration_investors", "total_count": 6, "preview_count": 3, "full_text_deferred": true, "sha256": "7835d573fb58a3c19adf5b8ecc2aee2bdbb9a88f7a0c0209b5f262b64c7522e3"}}</a:t>
            </a:r>
          </a:p>
          <a:p>
            <a:r>
              <a:t>CNPJ 62552447000120 · Duração e público-alvo · Regulamento · ID 1200623 · 2026-05-21 · versão 1 · p. 22 · 10.4 · https://fnet.bmfbovespa.com.br/fnet/publico/visualizarDocumento?id=1200623</a:t>
            </a:r>
          </a:p>
          <a:p>
            <a:r>
              <a:t>CNPJ 62552447000120 · Duração e público-alvo · Excerto da fonte:</a:t>
            </a:r>
          </a:p>
          <a:p>
            <a:r>
              <a:t>10.4 Tendo em vista que a Classe é exclusivamente destinada a Investidores Profissionais, não serão  aplicáveis as vedações ao direito a voto em assembleia de cotistas dispostas no artigo 78 da Resolução  CVM 175, conf orme disposto no artigo 114 da ref erida Resolução.</a:t>
            </a:r>
          </a:p>
          <a:p>
            <a:r>
              <a:t>CNPJ 62552447000120 · Duração e público-alvo · Regulamento · ID 1200623 · 2026-05-21 · versão 1 · p. 35 · https://fnet.bmfbovespa.com.br/fnet/publico/visualizarDocumento?id=1200623</a:t>
            </a:r>
          </a:p>
          <a:p>
            <a:r>
              <a:t>CNPJ 62552447000120 · Duração e público-alvo · Excerto da fonte:</a:t>
            </a:r>
          </a:p>
          <a:p>
            <a:r>
              <a:t>ativos desses emissores, causando perdas à Classe e ao Cotista. Além disso, a f alta de capacidade ou disposição de pagar por qualquer dos emissores dos Ativos Financeiros de Liquidez ou das contrapartes nas transações que compõem a Carteira causará perdas à Classe, e o que também poderá incorrer em custos para f ins de recuperação de seus recebíveis.</a:t>
            </a:r>
          </a:p>
          <a:p>
            <a:r>
              <a:t>(v) Riscos associados aos Devedores: no caso de Devedores no âmbito das operações de consignado privado, a sua capacidade de pagamento poderá ser af etada se, por exemplo, o Devedor tiver o seu contrato de emprego rescindido ou em virtude de decisão judicial, o Devedor for obrigado a pagar alimentos, que têm prioridade sobre o empréstimo para f ins de desconto na f 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 etar a rentabilidade da Classe. Já no caso de Devedores no âmbito das operações de Saque-aniversário, como os Direitos Creditórios a serem endossados à Classe serão descontados pelo FGTS da remuneração do Devedor, na ocorrência de qualquer evento que, nos termos da legislação aplicável, determine o pagamento antecipado do Saque-aniversário ao Devedor, a exemplo do falecimento do Devedor, dentre outros, as parcelas do Saque- aniversário serão pagas antecipadamente e a Classe deverá utilizar tais montantes no pré-pagamento dos Direitos Creditórios. Nesta hipótese, a Classe poderá não encontrar Direitos Creditórios disponíveis para serem adquiridos pela Classe, o que poderá af etar a rentabilidade da Classe.</a:t>
            </a:r>
          </a:p>
          <a:p>
            <a:r>
              <a:t>Risco de liquidez</a:t>
            </a:r>
          </a:p>
          <a:p>
            <a:r>
              <a:t>(i) Risco de liquidez: consiste no risco de redução ou inexistência de demanda pelos ativos que compõem a Classe nos respectivos mercados em que são negociados, devido às condições específicas desses ativos ou aos mercados em que são negociados. Devido a esses riscos, o Gestor poderá encontrar dificuldades em liquidar posições ou negociar esses ativos pelo preço e prazo desejados, de acordo com a estratégia de gestão adotada pela Classe, que permanecerá exposto, durante o período de baixa liquidez, aos riscos associados a esses ativos e posições assumidas em mercados de derivativos, se houver, que poderão até exigir que o Gestor aceite descontos em seus preços para realizar negociações no mercado. Esses f atores poderão prejudicar o pagamento de Amortizações ao Cotista, nos valores e dentro dos termos aqui estabelecidos.</a:t>
            </a:r>
          </a:p>
          <a:p>
            <a:r>
              <a:t>(ii) Riscos do mercado secundário: A Classe é constituída sob a f orma de condomínio fechado, de modo que as Cotas somente serão resgatadas em virtude da liquidação da Classe. Uma vez que o Prazo de Duração da Classe é indeterminado, o Cotista titular das Cotas não terá liquidez em seu investimento na Classe, exceto</a:t>
            </a:r>
          </a:p>
          <a:p>
            <a:r>
              <a:t>(a) por ocasião das Amortizações e dos resgates, nos termos deste Regulamento; (b) por meio da alienação de suas Cotas no mercado secundário; ou (c) na liquidação antecipada do FUNDO ou da Classe.</a:t>
            </a:r>
          </a:p>
          <a:p>
            <a:r>
              <a:t>Além disso, atualmente, o mercado secundário de cotas de fundos de investimento apresenta baixa liquidez, o que pode dificultar a venda das Cotas ou ocasionar a obtenção de um preço de venda que cause perda de patrimônio ao Cotista. Não há qualquer garantia do Administrador, do Gestor, da consultora ou do Custodiante em relação à possibilidade de venda das Cotas no mercado secundário ou ao preço obtido por elas, ou mesmo garantia de saída ao Cotista.</a:t>
            </a:r>
          </a:p>
          <a:p>
            <a:r>
              <a:t>Riscos específicos</a:t>
            </a:r>
          </a:p>
          <a:p>
            <a:r>
              <a:t>(i)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ficar inadimplente e, consequentemente, não haverá repasse à Classe do respectivo Direito Creditório, o que poderá resultar em perdas f inanceiras à Classe e aos Cotistas. Para os f ins deste Regulamento, “Empregador” signif ica a empresa com qual o Devedor mantém vínculo empregatício registrado junto à CTPS.</a:t>
            </a:r>
          </a:p>
          <a:p>
            <a:r>
              <a:t>(ii) Risco do Empregador não efetuar o desconto em folha: o repasse dos recursos oriundos dos Direitos Creditórios à Classe depende da realização, pelo Empregador, da escrituração da Consignação a ser</a:t>
            </a:r>
          </a:p>
          <a:p>
            <a:r>
              <a:t>CNPJ 62552447000120 · Duração e público-alvo · Regulamento · ID 1200623 · 2026-05-21 · versão 1 · p. 1 · 1.3 · https://fnet.bmfbovespa.com.br/fnet/publico/visualizarDocumento?id=1200623</a:t>
            </a:r>
          </a:p>
          <a:p>
            <a:r>
              <a:t>CNPJ 62552447000120 · Duração e público-alvo · Excerto da fonte:</a:t>
            </a:r>
          </a:p>
          <a:p>
            <a:r>
              <a:t>1.3 Durante o seu prazo de duração, o Fundo, por ato conjunto dos Prestadores de Serviços Essenciais,  poderá constituir diferentes Classes e Subclasses , sendo que cada Classe terá patrimônio segregado e</a:t>
            </a:r>
          </a:p>
          <a:p>
            <a:r>
              <a:t>CNPJ 62552447000120 · Duração e público-alvo · Condição: Documentos atuais selecionados no inventário por categoria/escopo; a data documental isolada não comprova vigência jurídica.</a:t>
            </a:r>
          </a:p>
          <a:p>
            <a:r>
              <a:t>CNPJ 62552447000120 · Duração e público-alvo · Versão e prevalência: Documentos atuais selecionados no inventário por categoria/escopo; a data documental isolada não comprova vigência jurídica.</a:t>
            </a:r>
          </a:p>
          <a:p>
            <a:r>
              <a:t>CNPJ 62552447000120 · Duração e público-alvo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"duration_investors", "total_count": 1, "preview_count": 1, "full_text_deferred": true, "sha256": "d95db8c0613d67ee84118c734588665265ea6b02f86a0318d6a844cbe1d0f82f"}}</a:t>
            </a:r>
          </a:p>
          <a:p>
            <a:r>
              <a:t>CNPJ 63953620000165 · Duração e público-alvo · Anexo ao Regulamento · ID 1222863 · 2026-06-02 · versão 1 · p. 2 · https://fnet.bmfbovespa.com.br/fnet/publico/visualizarDocumento?id=1222863</a:t>
            </a:r>
          </a:p>
          <a:p>
            <a:r>
              <a:t>CNPJ 63953620000165 · Duração e público-alvo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Duração e público-alvo · Anexo ao Regulamento · ID 1222863 · 2026-06-02 · versão 1 · p. 1 · 1.1 · https://fnet.bmfbovespa.com.br/fnet/publico/visualizarDocumento?id=1222863</a:t>
            </a:r>
          </a:p>
          <a:p>
            <a:r>
              <a:t>CNPJ 63953620000165 · Duração e público-alvo · Excerto da fonte:</a:t>
            </a:r>
          </a:p>
          <a:p>
            <a:r>
              <a:t>1.1 As principais características da Classe Consignado Privado (para fins deste Anexo, “Classe”) estão descritas  abaixo:</a:t>
            </a:r>
          </a:p>
          <a:p>
            <a:r>
              <a:t> Tipo de Condomínio Fechado.</a:t>
            </a:r>
          </a:p>
          <a:p>
            <a:r>
              <a:t> Indeterminado, exceto se de outra forma vier a ser deliberado pelos Cotistas  Prazo de Duração  reunidos em Assembleia Especial de Cotistas. (“Prazo de Duração”)  Tipo “Financeiro”.</a:t>
            </a:r>
          </a:p>
          <a:p>
            <a:r>
              <a:t> Classificação ANBIMA  Foco de atuação “Créditos Consignados”.</a:t>
            </a:r>
          </a:p>
          <a:p>
            <a:r>
              <a:t> O objetivo da classe é proporcionar aos seus Cotistas a valorização de suas Cotas  por meio da aplicação de seu Patrimônio Líquido (conforme definido abaixo) na  aquisição de: (i) “Direitos Creditórios Crédito Consignado”, representados por  cédula de crédito bancário regida pela Lei nº 10.931, emitida eletronicamente por  um devedor em favor do endossante (“CCB”) e, consequentemente, os recebíveis  decorrente de cada uma das parcelas vincendas, representando um empréstimo  consignado concedido pelo endossante ao devedor, e cujo pagamento ordinário  é feito por desconto de cada prestação vincenda de uma CCB na folha de  pagamentos do devedor (“Consignação”), efetuada pela Caixa Econômica  Federal, de acordo com a legislação aplicável e em conformidade com os  procedimentos estabelecidos no convênio celebrado entre o Endossante e a  Empresa de Tecnologia e Informações da Previdência – DATAPREV e paga na  Conta Vinculada do Endossante (“Convênio Consignado Privado”); e/ou (ii)  “Direitos Creditórios TVM”, representados por direitos, títulos e/ou valores  mobiliários representativos de créditos originados no âmbito de operações de  sociedades integrantes do conglomerado econômico de instituições financeiras  classificadas como S1 pelo BACEN, desde que não representem títulos de  emissão ou coobrigação de instituições financeiras, bem como cotas de fundos  de investimento que invistam preponderantemente nestes direitos, títulos e/ou  Objetivo  valores mobiliários (Direitos Creditórios TVM quando referidos em conjunto  com os Direitos Creditórios Consignado Privado, “Direitos Creditórios”)  observados todos os limites de composição e diversificação da carteira da Classe  (“Carteira”), estabelecidos neste Regulamento e na regulamentação aplicável.</a:t>
            </a:r>
          </a:p>
          <a:p>
            <a:r>
              <a:t> Subsidiariamente, a parcela do Patrimônio Líquido que não esteja alocada em  Direitos Creditórios poderá estar alocado em: (1) certificados de depósito  bancário (CDB) ou recibos de depósito bancário (RDB) com prazo máximo de  vencimento equivalente ao prazo remanescente do Período de Investimento, com  liquidez diária, emitidos por Parati Crédito, Financiamento e Investimento S.A.</a:t>
            </a:r>
          </a:p>
          <a:p>
            <a:r>
              <a:t> e/ou pelo Endossante (“Ativos de Liquidez MT”); e/ou (2) (i) moeda corrente  nacional; (ii) títulos do Tesouro SELIC, anteriormente denominado letra financeira  do Tesouro Nacional (LFT); (iii) certificados de depósito bancário (CDB) ou recibos  de depósito bancário (RDB) com prazo máximo de vencimento equivalente ao  prazo remanescente do Período de Investimento, com liquidez diária, emitidos  por (a) Itaú Unibanco S.A.; (b) Banco Bradesco S.A.; (c) Caixa Econômica Federal;</a:t>
            </a:r>
          </a:p>
          <a:p>
            <a:r>
              <a:t> (d) Banco do Brasil S.A.; (e) Banco Santander (Brasil) S.A.; (f) Banco BTG Pactual  S.A.; (g) Banco Sistema S.A. (“Instituições Autorizadas”); (iv) operações  compromissadas, desde que lastreadas nos títulos mencionados nas alíneas (i) a</a:t>
            </a:r>
          </a:p>
          <a:p>
            <a:r>
              <a:t> (iii) acima, emitidas por Instituições Autorizadas, com liquidez diária e vencimento</a:t>
            </a:r>
          </a:p>
          <a:p>
            <a:r>
              <a:t>CNPJ 63953620000165 · Duração e público-alvo · Anexo ao Regulamento · ID 1222863 · 2026-06-02 · versão 1 · p. 10 · 6.7.1 · https://fnet.bmfbovespa.com.br/fnet/publico/visualizarDocumento?id=1222863</a:t>
            </a:r>
          </a:p>
          <a:p>
            <a:r>
              <a:t>CNPJ 63953620000165 · Duração e público-alvo · Excerto da fonte:</a:t>
            </a:r>
          </a:p>
          <a:p>
            <a:r>
              <a:t>6.7.1 As Chamadas de Capital para a realização de investimentos serão realizadas a qualquer momento  durante o Período de Investimento e estarão limitadas ao valor do capital subscrito de cada Cotista. As  Chamadas de Capital para o pagamento de despesas e encargos do Fundo, com exceção de despesas  relacionadas à instrumentos de derivativos e/ou Encargos não previstos no âmbito deste regulamento,  poderão ser realizadas a qualquer momento durante o Prazo de Duração, mas não estarão limitadas ao  valor do capital subscrito de cada Cotista.</a:t>
            </a:r>
          </a:p>
          <a:p>
            <a:r>
              <a:t>CNPJ 63953620000165 · Duração e público-alvo · Condição: Documentos atuais selecionados no inventário por categoria/escopo; a data documental isolada não comprova vigência jurídica.</a:t>
            </a:r>
          </a:p>
          <a:p>
            <a:r>
              <a:t>CNPJ 63953620000165 · Duração e público-alvo · Versão e prevalência: Documentos atuais selecionados no inventário por categoria/escopo; a data documental isolada não comprova vigência jurídica.</a:t>
            </a:r>
          </a:p>
          <a:p>
            <a:r>
              <a:t>CNPJ 63953620000165 · Duração e público-alvo · Resumo do histórico: {"count": 8, "dates": ["2026-04-28", "2026-05-08", "2026-05-15"], "document_count": 3, "sources": [{"document_id": "1327859", "title": "Demonstrações Financeiras - Fusão, cisão e incorporação", "reference_date": "2026-05-15", "version": "1", "page": 9, "url": "https://fnet.bmfbovespa.com.br/fnet/publico/visualizarDocumento?id=1327859", "sha256": "dca1c68babb97f887528c3e2e47596a9c30f507b067981a35655b2f2da9c8054"}, {"document_id": "1298691", "title": "Demonstrações Financeiras - Fusão, cisão e incorporação", "reference_date": "2026-05-08", "version": "1", "page": 9, "url": "https://fnet.bmfbovespa.com.br/fnet/publico/visualizarDocumento?id=1298691", "sha256": "58c570d9b8d4d265330d3db3ea81c435b8e44a6dab4002aa37790652a1ee9819"}, {"document_id": "1282180", "title": "Demonstrações Financeiras - Fusão, cisão e incorporação", "reference_date": "2026-04-28", "version": "1", "page": 9, "url": "https://fnet.bmfbovespa.com.br/fnet/publico/visualizarDocumento?id=1282180", "sha256": "afaaa0e6809be4385e5bdb6c911aac582032c5bdbac3d7750234bf9eaf00438a"}], "reference": {"path": "history/63953620000165.json", "criterion_id": "duration_investors",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Alocação e perímetro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Alocação mínima · Base da comparação IME: {"criterion_id": "allocation", "observed_value": 91.84981349574433, "unit": "percent", "competence": "08/2026", "status": "not_comparable", "reason": "Vigência efetiva não comprovada; data do documento isolada não certifica enquadramento histórico.", "formula": "credit_rights / net_asset_value × 100",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50.0}</a:t>
            </a:r>
          </a:p>
          <a:p>
            <a:r>
              <a:t>CNPJ 54871427000194 · Alocação mínima · Regulamento · ID 670691 · 28/04/2024 · versão Regulamento — referência 28/04/2024 · p. 11 · Anexo I, 4.9 · https://fnet.bmfbovespa.com.br/fnet/publico/visualizarDocumento?id=670691</a:t>
            </a:r>
          </a:p>
          <a:p>
            <a:r>
              <a:t>CNPJ 54871427000194 · Alocação mínima · Excerto da fonte:</a:t>
            </a:r>
          </a:p>
          <a:p>
            <a:r>
              <a:t>4.9 Decorridos 180 (cento e oitenta) dias da Data da 1ª Integralização de Cotas, a Classe deverá manter alocado, no mínimo, 50% (cinquenta por cento) do seu Patrimônio Líquido em Direitos Creditórios . 4.10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4.11 A Classe poderá, direta ou indiretamente e, nos termos da legislação aplicável: (i) adquirir Direitos Creditórios que sejam cedidos e/ou originados pelo ADMINISTRADOR e/ou pelo GESTOR, ou partes a eles relacionadas, tal como definidas pelas regras contábeis que tratam desse assunto; e (ii) ceder Direitos Creditórios a qualquer das pessoas, fundos de investimento ou entidades referidas n</a:t>
            </a:r>
          </a:p>
          <a:p>
            <a:r>
              <a:t>CNPJ 54871427000194 · Alocação mínima · Mecânica: {"operator": "&gt;=", "limit": 50.0, "unit": "percent", "numerator": "credit_rights", "denominator": "net_asset_value", "frequency": "daily", "layer": "54871427000194", "document_date": "2024-04-28", "effective_status": "document_date_only", "initial_days": 180}</a:t>
            </a:r>
          </a:p>
          <a:p>
            <a:r>
              <a:t>CNPJ 54871427000194 · Alocação mínima · Versão e prevalência: Leitura específica das cláusulas indicadas; condições e conflitos preservados. Seleção documental atual não comprova vigência jurídica por data isolada.</a:t>
            </a:r>
          </a:p>
          <a:p>
            <a:r>
              <a:t>CNPJ 54871427000194 · Alocação mínima · Resumo do histórico: {"count": 2, "dates": ["2024-04-19", "2024-04-28"], "document_count": 2, "sources": [{"document_id": "670691", "title": "Regulamento", "reference_date": "2024-04-28", "version": "1", "page": "11", "url": "https://fnet.bmfbovespa.com.br/fnet/publico/visualizarDocumento?id=670691", "sha256": "bf16dd7f1a62d5cdbf2e2d54fef81783783f7310fbc99c3a8f00459bdf9d037b"}, {"document_id": "670689", "title": "Regulamento", "reference_date": "2024-04-19", "version": "1", "page": 11, "clause": "4.9", "url": "https://fnet.bmfbovespa.com.br/fnet/publico/visualizarDocumento?id=670689", "sha256": "891bc9bc5d87bbc02ec139077a84d2702eb81ea02035fb71d24f5b8366b94a0b"}], "reference": {"path": "history/54871427000194.json", "criterion_id": "allocation", "total_count": 2, "preview_count": 2, "full_text_deferred": true, "sha256": "35d7cd99be50c7287c9fb675cf4f2e736002315295a225a9efa79c8d9186d874"}}</a:t>
            </a:r>
          </a:p>
          <a:p>
            <a:r>
              <a:t>CNPJ 60010416000112 · Alocação mínima · Base da comparação IME: {"criterion_id": "allocation", "observed_value": 117.78665480900618, "unit": "percent", "competence": "08/2026", "status": "not_comparable", "reason": "Vigência efetiva não comprovada; data do documento isolada não certifica enquadramento histórico.", "formula": "credit_rights / net_asset_value × 100",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50.0}</a:t>
            </a:r>
          </a:p>
          <a:p>
            <a:r>
              <a:t>CNPJ 60010416000112 · Alocação mínima · Regulamento · ID 1051393 · 09/10/2025 · versão Regulamento09/10/2025 · p. 11 · AnexoI4.6 · https://fnet.bmfbovespa.com.br/fnet/publico/visualizarDocumento?id=1051393</a:t>
            </a:r>
          </a:p>
          <a:p>
            <a:r>
              <a:t>CNPJ 60010416000112 · Alocação mínima · Excerto da fonte:</a:t>
            </a:r>
          </a:p>
          <a:p>
            <a:r>
              <a:t>4.6 Decorridos 180 (cento e oitenta) dias do início de suas atividades, a Classe deverá manter alocado, no mínimo: para f ins tributários, 67% (sessenta e sete por cento) do seu Patrimônio Líquido em Direitos Creditórios, nos termos da Resolução CMN 5.111; e para fins regulatórios, 50% (cinquenta por cento) do seu Patrimônio Líquido em Direitos Creditórios, nos termos da Resolução CVM 175. BTG Pactual SAC: 0800 772 28 27 - Ouvidoria: 0800 722 00 48 - btgpactual.com 11</a:t>
            </a:r>
          </a:p>
          <a:p>
            <a:r>
              <a:t>CNPJ 60010416000112 · Alocação mínima · Mecânica: {"operator": "&gt;=", "unit": "percent", "denominator": "net_asset_value", "frequency": "not_stated", "layer": "class", "effective_status": "document_date_only", "document_date": "2025-10-09", "numerator": "credit_rights", "limit": 50.0, "requires_initial_date": true}</a:t>
            </a:r>
          </a:p>
          <a:p>
            <a:r>
              <a:t>CNPJ 60010416000112 · Alocação mínima · Versão e prevalência: Leitura específica das cláusulas indicadas; condições e conflitos preservados. Seleção documental atual não comprova vigência jurídica por data isolada.</a:t>
            </a:r>
          </a:p>
          <a:p>
            <a:r>
              <a:t>CNPJ 60010416000112 · Alocação mínima · Resumo do histórico: {"count": 2, "dates": ["2025-03-20", "2025-10-09"], "document_count": 2, "sources": [{"document_id": "1051393", "title": "Regulamento", "reference_date": "2025-10-09", "version": "1", "page": "11", "url": "https://fnet.bmfbovespa.com.br/fnet/publico/visualizarDocumento?id=1051393", "sha256": "8469d613078ffd5a6c1d217885d8a397a16342c0b937ae4aa24b106505f233ae"}, {"document_id": "993786", "title": "Regulamento", "reference_date": "2025-03-20", "version": "1", "page": 6, "clause": "5.3", "url": "https://fnet.bmfbovespa.com.br/fnet/publico/visualizarDocumento?id=993786", "sha256": "fd0fdd369a195510d81f81f505195a0b09e5f43522a990afa7d58c4f872921c8"}], "reference": {"path": "history/60010416000112.json", "criterion_id": "allocation", "total_count": 2, "preview_count": 2, "full_text_deferred": true, "sha256": "8e2bd813f4c51cf01f6bfaad164bafe69d2bbb192f753eac92da3a01c2e63046"}}</a:t>
            </a:r>
          </a:p>
          <a:p>
            <a:r>
              <a:t>CNPJ 62696791000193 · Alocação mínima · Base da comparação IME: {"criterion_id": "allocation", "observed_value": null, "unit": "percent", "competence": "08/2026", "status": "not_comparable", "reason": "Operador, unidade, numerador ou base contratual sem correspondência exata no IME; proxies de PL/ativos não são intercambiáveis. CPR declarada no FIAGRO não comprova elegibilidade individual nem correspondência integral com a definição contratual de direitos creditórios do agronegócio.",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51.0, "comparison_required": true, "context_value": 99.72659520720684, "context_unit": "percent", "context_formula": "CPR / PL (rubrica declarada no FIAGRO)"}</a:t>
            </a:r>
          </a:p>
          <a:p>
            <a:r>
              <a:t>CNPJ 62696791000193 · Alocação mínima · Regulamento · ID 1143317 · 20/03/2026 · versão Regulamento — referência 20/03/2026 · p. 10 · Anexo I, 4.2 · https://fnet.bmfbovespa.com.br/fnet/publico/visualizarDocumento?id=1143317</a:t>
            </a:r>
          </a:p>
          <a:p>
            <a:r>
              <a:t>CNPJ 62696791000193 · Alocação mínima · Excerto da fonte:</a:t>
            </a:r>
          </a:p>
          <a:p>
            <a:r>
              <a:t>4.2 Decorridos 180 (cento e oitenta) dias do início de suas atividades, a Classe deverá possuir parcela mínima de 51% (cinquenta e um por cento) de seu Patrimônio Líquido representados por Direitos Creditórios do Agronegócio, enquanto a parcela de 49% (quarenta e nove por cento) remanescente deverá ser alocada em Outros Ativos ou Ativos Financeiros de Liquidez. 4.3 Os Direitos Creditórios do Agronegócio serão adquiridos integral ou parcialmente, sempre de acordo com a Política de Investimentos. 4.4 Tendo em vista (i) a natureza variada dos Direitos Creditórios do Agronegócio passíveis de aquisição pela Classe; (ii) a amplitude da Política de Investimentos; e (iii) a potencial diversificação de Cedentes/Endossantes e Devedores, não é possível precisar os processos de origem dos Direitos Creditórios do Agronegócio e as políticas de concessão de crédito adotadas pelos Cedentes/Endossantes. 4.5 Os Direitos Creditórios do Agronegócio deverão contar com toda a documentação necessária para o exercício das prerrogativas decorrentes da titularidade dos ativos, e capaz de comprovar a origem, a existência e a exigibilidade dos Direitos Creditórios do Agronegócio (“Documentos Comprobatórios”)</a:t>
            </a:r>
          </a:p>
          <a:p>
            <a:r>
              <a:t>CNPJ 62696791000193 · Alocação mínima · AGE · ID 1143319 · 20/03/2026 10:00 · versão AGE — referência 20/03/2026 10:00 · p. 3 · AGC 20/03/2026, 4.1(j)–(k) · https://fnet.bmfbovespa.com.br/fnet/publico/visualizarDocumento?id=1143319</a:t>
            </a:r>
          </a:p>
          <a:p>
            <a:r>
              <a:t>CNPJ 62696791000193 · Alocação mínima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Alocação mínima · Condição: Vigente a partir do fechamento de 23/03/2026. O agregado genérico de direitos do IME não comprova, sozinho, a natureza agronegócio de todos os ativos nem a conclusão da carência inicial.</a:t>
            </a:r>
          </a:p>
          <a:p>
            <a:r>
              <a:t>CNPJ 62696791000193 · Alocação mínima · Mecânica: {"operator": "&gt;=", "limit": 51.0, "unit": "percent", "numerator": "agribusiness_credit_rights", "denominator": "net_asset_value", "frequency": "daily", "layer": "62696791000193", "effective_from": "2026-03-23", "effective_status": "explicit_assembly_effective_date", "initial_days": 180, "initial_date": null}</a:t>
            </a:r>
          </a:p>
          <a:p>
            <a:r>
              <a:t>CNPJ 62696791000193 · Alocação mínima · Versão e prevalência: Leitura específica das cláusulas indicadas; condições e conflitos preservados. Seleção documental atual não comprova vigência jurídica por data isolada.</a:t>
            </a:r>
          </a:p>
          <a:p>
            <a:r>
              <a:t>CNPJ 55563624000109 · Alocação mínima · Base da comparação IME: {"criterion_id": "allocation", "observed_value": 99.87020304792446, "unit": "percent", "competence": "08/2026", "status": "not_comparable", "reason": "Vigência efetiva não comprovada; data do documento isolada não certifica enquadramento histórico.", "formula": "fidc_quotas / net_asset_value × 100",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67.0}</a:t>
            </a:r>
          </a:p>
          <a:p>
            <a:r>
              <a:t>CNPJ 55563624000109 · Alocação mínima · Regulamento · ID 1192614 · 30/04/2026 · versão Regulamento30/04/2026 · p. 13 · AnexoI4.10 · https://fnet.bmfbovespa.com.br/fnet/publico/visualizarDocumento?id=1192614</a:t>
            </a:r>
          </a:p>
          <a:p>
            <a:r>
              <a:t>CNPJ 55563624000109 · Alocação mínima · Excerto da fonte:</a:t>
            </a:r>
          </a:p>
          <a:p>
            <a:r>
              <a:t>4.10 Decorridos 180 (cento e oitenta) dias da Data da 1ª Integralização da Classe, a Classe deverá manter alocado, no mínimo, 67% (sessenta e sete por cento) do seu Patrimônio Líquido em Cotas da Classe Investida. 4.11 Nos termos dos artigos 45, parágrafo 7º, e 47 parágrafo único do Anexo Normativo II à Resolução CVM 175, uma vez que as Cotas são destinadas exclusivamente a Investidores Profissionais, a Classe poderá ter até 100% (cem por cento) de seu Patrimônio Líquido alocado em Cotas da Classe Investida, as quais são emitidas pela Classe Investida.</a:t>
            </a:r>
          </a:p>
          <a:p>
            <a:r>
              <a:t>CNPJ 55563624000109 · Alocação mínima · Regulamento · ID 1192614 · 30/04/2026 · versão Regulamento30/04/2026 · p. 12 · AnexoI4.9 · https://fnet.bmfbovespa.com.br/fnet/publico/visualizarDocumento?id=1192614</a:t>
            </a:r>
          </a:p>
          <a:p>
            <a:r>
              <a:t>CNPJ 55563624000109 · Alocação mínima · Excerto da fonte:</a:t>
            </a:r>
          </a:p>
          <a:p>
            <a:r>
              <a:t>4.9 A parcela do Patrimônio Líquido que não estiver alocada em Cotas da Classe Investida será necessariamente alocada em Ativos Financeiros de Liquidez. BTG Pactual SAC: 0800 772 28 27 - Ouvidoria: 0800 722 00 48 - btgpactual.com 5</a:t>
            </a:r>
          </a:p>
          <a:p>
            <a:r>
              <a:t>CNPJ 55563624000109 · Alocação mínima · Mecânica: {"operator": "&gt;=", "limit": 67.0, "unit": "percent", "numerator": "fidc_quotas", "denominator": "net_asset_value", "frequency": "not_stated", "layer": "class", "effective_status": "document_date_only", "document_date": "2026-04-30", "requires_initial_date": true}</a:t>
            </a:r>
          </a:p>
          <a:p>
            <a:r>
              <a:t>CNPJ 55563624000109 · Alocação mínima · Versão e prevalência: Leitura específica das cláusulas indicadas; condições e conflitos preservados. Seleção documental atual não comprova vigência jurídica por data isolada.</a:t>
            </a:r>
          </a:p>
          <a:p>
            <a:r>
              <a:t>CNPJ 55563624000109 · Alocação mínima · Resumo do histórico: {"count": 1, "dates": ["2026-04-30"], "document_count": 1, "sources": [{"document_id": "1192614", "title": "Regulamento", "reference_date": "2026-04-30", "version": "1", "page": "11-13", "url": "https://fnet.bmfbovespa.com.br/fnet/publico/visualizarDocumento?id=1192614", "sha256": "f56e63ace0acde41d2f47fb48f1ac7f3f7df5e2d32de092d7c5e075a52516632"}], "reference": {"path": "history/55563624000109.json", "criterion_id": "allocation", "total_count": 1, "preview_count": 1, "full_text_deferred": true, "sha256": "7835d573fb58a3c19adf5b8ecc2aee2bdbb9a88f7a0c0209b5f262b64c7522e3"}}</a:t>
            </a:r>
          </a:p>
          <a:p>
            <a:r>
              <a:t>CNPJ 62552447000120 · Alocação mínima · Base da comparação IME: {"criterion_id": "allocation", "observed_value": 104.36099466414683, "unit": "percent", "competence": "08/2026", "status": "not_comparable", "reason": "Vigência efetiva não comprovada; data do documento isolada não certifica enquadramento histórico.", "formula": "credit_rights / net_asset_value × 100",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50.0}</a:t>
            </a:r>
          </a:p>
          <a:p>
            <a:r>
              <a:t>CNPJ 62552447000120 · Alocação mínima · Regulamento · ID 1200623 · 21/05/2026 · versão Consolidado21/05/2026 aprovado pelo ato1200625 · p. 14 · AnexoI4.9 · https://fnet.bmfbovespa.com.br/fnet/publico/visualizarDocumento?id=1200623</a:t>
            </a:r>
          </a:p>
          <a:p>
            <a:r>
              <a:t>CNPJ 62552447000120 · Alocação mínima · Excerto da fonte:</a:t>
            </a:r>
          </a:p>
          <a:p>
            <a:r>
              <a:t>4.9 Decorridos 180 (cento e oitenta) dias da Data da Primeira Integralização, a Classe deverá manter alocados em Direitos Creditórios, no mínimo, para fins tributários, 67% (sessenta e sete por cento) do seu Patrimônio Líquido, nos termos da Lei 14.754 e da Resolução CMN 5.111, e, para fins regulatórios, 50% (cinquenta por cento) do seu Patrimônio Líquido, nos termos da Resolução CVM 175. Eventual desenquadramento da Carteira obrigará o Gestor aos procedimentos de desenquadramento e reenquadramento previstos na Lei 14.754 e na Resolução CMN 5.111, para f ins tributários, e na Resolução CVM 175, par</a:t>
            </a:r>
          </a:p>
          <a:p>
            <a:r>
              <a:t>CNPJ 62552447000120 · Alocação mínima · Mecânica: {"operator": "&gt;=", "unit": "percent", "numerator": "credit_rights", "denominator": "net_asset_value", "frequency": "not_stated", "layer": "class", "effective_status": "document_date_only", "document_date": "2026-05-21", "requires_initial_date": true, "limit": 50.0}</a:t>
            </a:r>
          </a:p>
          <a:p>
            <a:r>
              <a:t>CNPJ 62552447000120 · Alocação mínima · Versão e prevalência: Leitura específica das cláusulas indicadas; condições e conflitos preservados. Seleção documental atual não comprova vigência jurídica por data isolada.</a:t>
            </a:r>
          </a:p>
          <a:p>
            <a:r>
              <a:t>CNPJ 63953620000165 · Alocação mínima · Base da comparação IME: {"criterion_id": "allocation", "observed_value": 93.29241106598856, "unit": "percent", "competence": "08/2026", "status": "not_comparable", "reason": "Vigência efetiva não comprovada; data do documento isolada não certifica enquadramento histórico.", "formula": "credit_rights / net_asset_value × 100",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50.0}</a:t>
            </a:r>
          </a:p>
          <a:p>
            <a:r>
              <a:t>CNPJ 63953620000165 · Alocação mínima · Anexo ao Regulamento · ID 1222863 · 02/06/2026 · versão AnexoConsignadoPrivado02/06/2026 · p. 6 · 4.13 · https://fnet.bmfbovespa.com.br/fnet/publico/visualizarDocumento?id=1222863</a:t>
            </a:r>
          </a:p>
          <a:p>
            <a:r>
              <a:t>CNPJ 63953620000165 · Alocação mínima · Excerto da fonte:</a:t>
            </a:r>
          </a:p>
          <a:p>
            <a:r>
              <a:t>4.13 Decorridos 180 (cento e oitenta) dias do início de suas atividades, a Classe deverá manter alocado, no mínimo, para fins tributários, 67% (sessenta e sete por cento) do seu Patrimônio Líquido em Direitos Creditórios, nos termos da Resolução CMN 5.111, e para fins regulatórios, 50% (cinquenta por cento) do seu Patrimônio Líquido em Direitos Creditórios, nos termos da Resolução CVM 175. 4.14 Nos termos do Art. 45, §7º, inciso II, do Anexo Normativo II da Resolução CVM 175, a Classe poderá ter até 100% (cem por cento) de seu Patrimônio Líquido alocado em Direitos Creditórios, derivativos, observado o disposto nest</a:t>
            </a:r>
          </a:p>
          <a:p>
            <a:r>
              <a:t>CNPJ 63953620000165 · Alocação mínima · Mecânica: {"operator": "&gt;=", "unit": "percent", "denominator": "net_asset_value", "frequency": "not_stated", "layer": "class", "effective_status": "document_date_only", "document_date": "2026-06-02", "limit": 50.0, "numerator": "credit_rights", "requires_initial_date": true}</a:t>
            </a:r>
          </a:p>
          <a:p>
            <a:r>
              <a:t>CNPJ 63953620000165 · Alocação mínima · Versão e prevalência: Leitura específica das cláusulas indicadas; condições e conflitos preservados. Seleção documental atual não comprova vigência jurídica por data isolada.</a:t>
            </a:r>
          </a:p>
          <a:p>
            <a:r>
              <a:t>CNPJ 54871427000194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null, "comparison_required": true, "context_formula": "Direitos creditórios / PL", "context_value": 91.84981349574433, "context_unit": "percent"}</a:t>
            </a:r>
          </a:p>
          <a:p>
            <a:r>
              <a:t>CNPJ 54871427000194 · Alocação para tratamento tributário · Regulamento · ID 670691 · 2024-04-28 · versão 1 · p. 5 · https://fnet.bmfbovespa.com.br/fnet/publico/visualizarDocumento?id=670691</a:t>
            </a:r>
          </a:p>
          <a:p>
            <a:r>
              <a:t>CNPJ 54871427000194 · Alocação para tratamento tributário · Excerto da fonte:</a:t>
            </a:r>
          </a:p>
          <a:p>
            <a:r>
              <a:t>Os rendimentos auf eridos pelo cotista do FUNDO estarão sujeitos à tributação pelo IR, à alíquota de  15% (quinze por cento), na data da distribuição de rendimentos ou d a amortização de cotas,  considerando que o FUNDO seja classificado como entidade de investimento e cumpra os critérios de  composição da carteira com, no mínimo, 67% (sessenta e sete por cento) de direitos creditórios de  acordo com a Lei nº 14.754, de 12 de dezembro de 2023 (“Lei 14.754”) e a Resolução do Conselho  Monetário Nacional nº 5.111, de 21 de dezembro de 2023 (“Resolução CMN 5.111”).</a:t>
            </a:r>
          </a:p>
          <a:p>
            <a:r>
              <a:t>CNPJ 54871427000194 · Alocação para tratamento tributário · Regulamento · ID 670691 · 2024-04-28 · versão 1 · p. 5 · https://fnet.bmfbovespa.com.br/fnet/publico/visualizarDocumento?id=670691</a:t>
            </a:r>
          </a:p>
          <a:p>
            <a:r>
              <a:t>CNPJ 54871427000194 · Alocação para tratamento tributário · Excerto da fonte:</a:t>
            </a:r>
          </a:p>
          <a:p>
            <a:r>
              <a:t>A GESTORA do FUNDO buscará manter o cumprimento do requisito de composição da carteira do  FUNDO com, no mínimo 67% (sessenta e sete por cento) em direitos creditórios acima comentados.</a:t>
            </a:r>
          </a:p>
          <a:p>
            <a:r>
              <a:t> Todavia, caso a composição mínima do patrimônio líquido do FUNDO não seja atingida e ocorra o  ef etivo desenquadramento tributário da carteira, os cotistas pessoa f ísica ou jurídica residentes no  Brasil passarão a se sujeitar à regra geral de tributação de fundos, conforme previsto no art. 17 da Lei</a:t>
            </a:r>
          </a:p>
          <a:p>
            <a:r>
              <a:t> 14.754, segundo a qual: (1) haverá incidência periódica de IR todo mês de maio e novembro de cada  ano-calendário sobre os rendimentos auferidos pelo cotista em relação ao investimento nas cotas do  FUNDO, à alíquota de 15% (quinze por cento) ou 20% (vinte por cento), a depender da carteira do  FUNDO ser classificada, respectivamente, como de curto ou longo prazo; e (2) haverá incidência de IR  complementar, conforme alíquotas regressivas que variam de 22,5% (vinte e dois e meio por cento) a  15% (quinze por cento) a depender do prazo de aplicação, por ocasião da amortização ou liquidação  das Cotas do FUNDO. Certos tipos de investidor podem se benef iciar de alíquotas dif erenciadas.</a:t>
            </a:r>
          </a:p>
          <a:p>
            <a:r>
              <a:t>CNPJ 54871427000194 · Alocação para tratamento tributário · Condição: Documentos atuais selecionados no inventário por categoria/escopo; a data documental isolada não comprova vigência jurídica.</a:t>
            </a:r>
          </a:p>
          <a:p>
            <a:r>
              <a:t>CNPJ 54871427000194 · Alocação para tratamento tributário · Versão e prevalência: Documentos atuais selecionados no inventário por categoria/escopo; a data documental isolada não comprova vigência jurídica.</a:t>
            </a:r>
          </a:p>
          <a:p>
            <a:r>
              <a:t>CNPJ 54871427000194 · Alocação para tratamento tributário · Resumo do histórico: {"count": 1, "dates": ["2024-04-19"], "document_count": 1, "sources": [{"document_id": "670689", "title": "Regulamento", "reference_date": "2024-04-19", "version": "1", "page": 5, "url": "https://fnet.bmfbovespa.com.br/fnet/publico/visualizarDocumento?id=670689", "sha256": "891bc9bc5d87bbc02ec139077a84d2702eb81ea02035fb71d24f5b8366b94a0b"}], "reference": {"path": "history/54871427000194.json", "criterion_id": "tax_allocation", "total_count": 1, "preview_count": 1, "full_text_deferred": true, "sha256": "35d7cd99be50c7287c9fb675cf4f2e736002315295a225a9efa79c8d9186d874"}}</a:t>
            </a:r>
          </a:p>
          <a:p>
            <a:r>
              <a:t>CNPJ 60010416000112 · Alocação para tratamento tributário · Base da comparação IME: {"criterion_id": "tax_allocation", "observed_value": 117.78665480900618, "unit": "percent", "competence": "08/2026", "status": "not_comparable", "reason": "Vigência efetiva não comprovada; data do documento isolada não certifica enquadramento histórico.", "formula": "credit_rights / net_asset_value × 100",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67.0}</a:t>
            </a:r>
          </a:p>
          <a:p>
            <a:r>
              <a:t>CNPJ 60010416000112 · Alocação para tratamento tributário · Regulamento · ID 1051393 · 09/10/2025 · versão Regulamento09/10/2025 · p. 11 · AnexoI4.6 · https://fnet.bmfbovespa.com.br/fnet/publico/visualizarDocumento?id=1051393</a:t>
            </a:r>
          </a:p>
          <a:p>
            <a:r>
              <a:t>CNPJ 60010416000112 · Alocação para tratamento tributário · Excerto da fonte:</a:t>
            </a:r>
          </a:p>
          <a:p>
            <a:r>
              <a:t>4.6 Decorridos 180 (cento e oitenta) dias do início de suas atividades, a Classe deverá manter alocado, no mínimo: para f ins tributários, 67% (sessenta e sete por cento) do seu Patrimônio Líquido em Direitos Creditórios, nos termos da Resolução CMN 5.111; e para fins regulatórios, 50% (cinquenta por cento) do seu Patrimônio Líquido em Direitos Creditórios, nos termos da Resolução CVM 175. BTG Pactual SAC: 0800 772 28 27 - Ouvidoria: 0800 722 00 48 - btgpactual.com 11</a:t>
            </a:r>
          </a:p>
          <a:p>
            <a:r>
              <a:t>CNPJ 60010416000112 · Alocação para tratamento tributário · Mecânica: {"operator": "&gt;=", "unit": "percent", "denominator": "net_asset_value", "frequency": "not_stated", "layer": "class", "effective_status": "document_date_only", "document_date": "2025-10-09", "numerator": "credit_rights", "limit": 67.0, "requires_initial_date": true}</a:t>
            </a:r>
          </a:p>
          <a:p>
            <a:r>
              <a:t>CNPJ 60010416000112 · Alocação para tratamento tributário · Versão e prevalência: Leitura específica das cláusulas indicadas; condições e conflitos preservados. Seleção documental atual não comprova vigência jurídica por data isolada.</a:t>
            </a:r>
          </a:p>
          <a:p>
            <a:r>
              <a:t>CNPJ 60010416000112 · Alocação para tratamento tributário · Resumo do histórico: {"count": 1, "dates": ["2025-03-20"], "document_count": 1, "sources": [{"document_id": "993786", "title": "Regulamento", "reference_date": "2025-03-20", "version": "1", "page": 6, "clause": "5.3", "url": "https://fnet.bmfbovespa.com.br/fnet/publico/visualizarDocumento?id=993786", "sha256": "fd0fdd369a195510d81f81f505195a0b09e5f43522a990afa7d58c4f872921c8"}], "reference": {"path": "history/60010416000112.json", "criterion_id": "tax_allocation", "total_count": 1, "preview_count": 1, "full_text_deferred": true, "sha256": "8e2bd813f4c51cf01f6bfaad164bafe69d2bbb192f753eac92da3a01c2e63046"}}</a:t>
            </a:r>
          </a:p>
          <a:p>
            <a:r>
              <a:t>CNPJ 62696791000193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null, "comparison_required": true, "context_formula": "Direitos creditórios / PL", "context_value": null, "context_unit": "percent"}</a:t>
            </a:r>
          </a:p>
          <a:p>
            <a:r>
              <a:t>CNPJ 62696791000193 · Alocação para tratamento tributário · Regulamento · ID 1143317 · 2026-03-20 · versão 1 · p. 30 · https://fnet.bmfbovespa.com.br/fnet/publico/visualizarDocumento?id=1143317</a:t>
            </a:r>
          </a:p>
          <a:p>
            <a:r>
              <a:t>CNPJ 62696791000193 · Alocação para tratamento tributário · Excerto da fonte:</a:t>
            </a:r>
          </a:p>
          <a:p>
            <a:r>
              <a:t>Os rendimentos distribuídos pela Classe, de modo geral, sujeitam-se à incidência do IRF à alíquota  de 20% (vinte por cento), inclusive quando distribuídos à Cotista que seja pessoa jurídica isenta.</a:t>
            </a:r>
          </a:p>
          <a:p>
            <a:r>
              <a:t> Os ganhos de capital ou rendimentos auf eridos na alienação ou no resgate de cotas da Classe  sujeitam-se à tributação pelo IRF à alíquota de 20% (vinte por cento), no caso de resgate de cotas,  ou conforme normas aplicáveis aos ganhos de capital ou ganhos líquidos auf eridos em renda  variável, nos casos de alienação de cotas.</a:t>
            </a:r>
          </a:p>
          <a:p>
            <a:r>
              <a:t> O IRF pago será considerado: (i) antecipação da tributação corporativa para os investidores pessoa  jurídica (nos regimes de lucro real, presumido ou arbitrado); e (ii) def initivo, nos demais casos,  incluindo de investidores pessoas f ísicas.</a:t>
            </a:r>
          </a:p>
          <a:p>
            <a:r>
              <a:t> Não obstante o disposto no item acima, em conf ormidade com o disposto na Lei 11.033, com a  redação dada pela Lei nº 14.754, o cotista pessoa f ísica f icará isento do IRF e na declaração de  ajuste anual, sobre as distribuições de lucro realizadas pela Classe, exclusivamente na hipótese de  a Classe, cumulativamente: (a) possuir, no mínimo, 100 (cem) cotistas; e (b) as cotas serem  admitidas à negociação exclusivamente em bolsas de valores ou no mercado de balcão organizado.</a:t>
            </a:r>
          </a:p>
          <a:p>
            <a:r>
              <a:t> O benef ício não será concedido ao Cotista que for pessoa física, titular de cotas que representem  10% (dez por cento) ou mais da totalidade das cotas emitidas pela Classe ou cujas cotas lhe derem  direito ao recebimento de rendimento superior a 10% (dez por cento) do total de rendimentos  auf eridos pela Classe.</a:t>
            </a:r>
          </a:p>
          <a:p>
            <a:r>
              <a:t> O benef ício também não será concedido aos Cotistas pessoas físicas que, individualmente ou em  conjunto com parentes até segundo grau, sejam titulares de cotas que representem 30% (trinta por  cento) ou mais da totalidade das cotas emitidas pela Classe, ou ainda cujas cotas lhes derem direito  ao recebimento de rendimento superior a 30% (trinta por cento) do total de rendimentos auf eridos  pela Classe.</a:t>
            </a:r>
          </a:p>
          <a:p>
            <a:r>
              <a:t> Não há garantia de que o benef ício f iscal atualmente vigente não venha a ser posteriormente  restringido, suspenso, revogado ou extinto por legislação superveniente, ocasião na qual poderá vir  a incidir a tributação sobre os rendimentos distribuídos pela Classe, de acordo com os termos da  legislação que vier a estabelecer a incidência tributária.</a:t>
            </a:r>
          </a:p>
          <a:p>
            <a:r>
              <a:t>CNPJ 62696791000193 · Alocação para tratamento tributário · Condição: Documentos atuais selecionados no inventário por categoria/escopo; a data documental isolada não comprova vigência jurídica.</a:t>
            </a:r>
          </a:p>
          <a:p>
            <a:r>
              <a:t>CNPJ 62696791000193 · Alocação para tratamento tributário · Versão e prevalência: Documentos atuais selecionados no inventário por categoria/escopo; a data documental isolada não comprova vigência jurídica.</a:t>
            </a:r>
          </a:p>
          <a:p>
            <a:r>
              <a:t>CNPJ 55563624000109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null, "comparison_required": true, "context_formula": "Direitos creditórios / PL", "context_value": 0.0, "context_unit": "percent"}</a:t>
            </a:r>
          </a:p>
          <a:p>
            <a:r>
              <a:t>CNPJ 55563624000109 · Alocação para tratamento tributário · Regulamento · ID 1192614 · 2026-04-30 · versão 1 · p. 38 · https://fnet.bmfbovespa.com.br/fnet/publico/visualizarDocumento?id=1192614</a:t>
            </a:r>
          </a:p>
          <a:p>
            <a:r>
              <a:t>CNPJ 55563624000109 · Alocação para tratamento tributário · Excerto da fonte:</a:t>
            </a:r>
          </a:p>
          <a:p>
            <a:r>
              <a:t>(xiii) Risco de descaracterização do regime tributário aplicável à Classe. Caso (a) a Classe deixe de  cumprir com o percentual de, pelo menos, 67% (sessenta e sete por cento) do Patrimônio Líquido  aplicado em direitos creditórios, nos termos dos artigos 18, 19 e 24 da Lei 14.754, para fins de  enquadramento do FUNDO e da Classe como “Entidade de Investimento” na forma da Resolução do  CMN nº 5.111, de 21 de dezembro de 2023, conforme alterada, ou qualquer outra norma que venha  a substitui-la, sujeitando o FUNDO e a Classe ao “Regime Específico dos Fundos Não Sujeitos à  Tributação Periódica” conforme a na Seção III da Lei 14.754 ou deixe de satisfazer qualquer uma das  condições previstas na Lei 14.754, neste Anexo e/ou no Regulamento; e/ou (b) o FUNDO ou Classe  deixe de ser enquadrado como “Entidade de Investimento” na forma da Resolução do CMN nº 5.111,  de 21 de dezembro de 2023, ou demais normas do CMN e da CVM, não é possível garantir que o  FUNDO e/ou Classe continuarão a receber o tratamento tributário destinado ao “Regime Específico  dos Fundos Não Sujeitos à Tributação Periódica”, conforme definido na legislação específica.</a:t>
            </a:r>
          </a:p>
          <a:p>
            <a:r>
              <a:t>CNPJ 55563624000109 · Alocação para tratamento tributário · Regulamento · ID 1192614 · 2026-04-30 · versão 1 · p. 6 · https://fnet.bmfbovespa.com.br/fnet/publico/visualizarDocumento?id=1192614</a:t>
            </a:r>
          </a:p>
          <a:p>
            <a:r>
              <a:t>CNPJ 55563624000109 · Alocação para tratamento tributário · Excerto da fonte:</a:t>
            </a:r>
          </a:p>
          <a:p>
            <a:r>
              <a:t>No caso de Fundos de Investimento em Direitos Creditórios (FIDC) classificados como “entidade de investimento” e  cuja carteira seja composta por, no mínimo, 67% (sessenta e sete por cento) de direitos creditórios conforme definições  prescritas em regulamentação expedida pelo Conselho Monetário Nacional, os rendimentos auferidos na amortização  ou no resgate das cotas, inclusive quando decorrentes da liquidação do FUNDO, ficam sujeitos à incidência do IRF à  alíquota de 15% (quinze por cento) sobre a diferença positiva entre o valor de amortização ou resgate e o custo de  aquisição das Cotas.</a:t>
            </a:r>
          </a:p>
          <a:p>
            <a:r>
              <a:t>CNPJ 55563624000109 · Alocação para tratamento tributário · Condição: Documentos atuais selecionados no inventário por categoria/escopo; a data documental isolada não comprova vigência jurídica.</a:t>
            </a:r>
          </a:p>
          <a:p>
            <a:r>
              <a:t>CNPJ 55563624000109 · Alocação para tratamento tributário · Versão e prevalência: Documentos atuais selecionados no inventário por categoria/escopo; a data documental isolada não comprova vigência jurídica.</a:t>
            </a:r>
          </a:p>
          <a:p>
            <a:r>
              <a:t>CNPJ 55563624000109 · Alocação para tratamento tributário · Resumo do histórico: {"count": 2, "dates": ["2025-01-31", "2026-01-31"], "document_count": 2, "sources": [{"document_id": "1178840", "title": "Demonstrações Financeiras", "reference_date": "2026-01-31", "version": "1", "page": 23, "url": "https://fnet.bmfbovespa.com.br/fnet/publico/visualizarDocumento?id=1178840", "sha256": "c458e98664c5c907ddb5a05a94b120bed4e05295b2bfc420f5ba69af0a229abe"}, {"document_id": "891861", "title": "Demonstrações Financeiras", "reference_date": "2025-01-31", "version": "1", "page": 24, "url": "https://fnet.bmfbovespa.com.br/fnet/publico/visualizarDocumento?id=891861", "sha256": "e9cb9e6ddbe505fe068cfcac33605165a98313489de0d3ce6d4d238263c3f3e7"}], "reference": {"path": "history/55563624000109.json", "criterion_id": "tax_allocation", "total_count": 2, "preview_count": 2, "full_text_deferred": true, "sha256": "7835d573fb58a3c19adf5b8ecc2aee2bdbb9a88f7a0c0209b5f262b64c7522e3"}}</a:t>
            </a:r>
          </a:p>
          <a:p>
            <a:r>
              <a:t>CNPJ 62552447000120 · Alocação para tratamento tributário · Base da comparação IME: {"criterion_id": "tax_allocation", "observed_value": 104.36099466414683, "unit": "percent", "competence": "08/2026", "status": "not_comparable", "reason": "Vigência efetiva não comprovada; data do documento isolada não certifica enquadramento histórico.", "formula": "credit_rights / net_asset_value × 100",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67.0}</a:t>
            </a:r>
          </a:p>
          <a:p>
            <a:r>
              <a:t>CNPJ 62552447000120 · Alocação para tratamento tributário · Regulamento · ID 1200623 · 21/05/2026 · versão Consolidado21/05/2026 aprovado pelo ato1200625 · p. 14 · AnexoI4.9 · https://fnet.bmfbovespa.com.br/fnet/publico/visualizarDocumento?id=1200623</a:t>
            </a:r>
          </a:p>
          <a:p>
            <a:r>
              <a:t>CNPJ 62552447000120 · Alocação para tratamento tributário · Excerto da fonte:</a:t>
            </a:r>
          </a:p>
          <a:p>
            <a:r>
              <a:t>4.9 Decorridos 180 (cento e oitenta) dias da Data da Primeira Integralização, a Classe deverá manter alocados em Direitos Creditórios, no mínimo, para fins tributários, 67% (sessenta e sete por cento) do seu Patrimônio Líquido, nos termos da Lei 14.754 e da Resolução CMN 5.111, e, para fins regulatórios, 50% (cinquenta por cento) do seu Patrimônio Líquido, nos termos da Resolução CVM 175. Eventual desenquadramento da Carteira obrigará o Gestor aos procedimentos de desenquadramento e reenquadramento previstos na Lei 14.754 e na Resolução CMN 5.111, para f ins tributários, e na Resolução CVM 175, par</a:t>
            </a:r>
          </a:p>
          <a:p>
            <a:r>
              <a:t>CNPJ 62552447000120 · Alocação para tratamento tributário · Mecânica: {"operator": "&gt;=", "unit": "percent", "numerator": "credit_rights", "denominator": "net_asset_value", "frequency": "not_stated", "layer": "class", "effective_status": "document_date_only", "document_date": "2026-05-21", "requires_initial_date": true, "limit": 67.0}</a:t>
            </a:r>
          </a:p>
          <a:p>
            <a:r>
              <a:t>CNPJ 62552447000120 · Alocação para tratamento tributário · Versão e prevalência: Leitura específica das cláusulas indicadas; condições e conflitos preservados. Seleção documental atual não comprova vigência jurídica por data isolada.</a:t>
            </a:r>
          </a:p>
          <a:p>
            <a:r>
              <a:t>CNPJ 63953620000165 · Alocação para tratamento tributário · Base da comparação IME: {"criterion_id": "tax_allocation", "observed_value": 93.29241106598856, "unit": "percent", "competence": "08/2026", "status": "not_comparable", "reason": "Vigência efetiva não comprovada; data do documento isolada não certifica enquadramento histórico.", "formula": "credit_rights / net_asset_value × 100",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67.0}</a:t>
            </a:r>
          </a:p>
          <a:p>
            <a:r>
              <a:t>CNPJ 63953620000165 · Alocação para tratamento tributário · Anexo ao Regulamento · ID 1222863 · 02/06/2026 · versão AnexoConsignadoPrivado02/06/2026 · p. 6 · 4.13 · https://fnet.bmfbovespa.com.br/fnet/publico/visualizarDocumento?id=1222863</a:t>
            </a:r>
          </a:p>
          <a:p>
            <a:r>
              <a:t>CNPJ 63953620000165 · Alocação para tratamento tributário · Excerto da fonte:</a:t>
            </a:r>
          </a:p>
          <a:p>
            <a:r>
              <a:t>4.13 Decorridos 180 (cento e oitenta) dias do início de suas atividades, a Classe deverá manter alocado, no mínimo, para fins tributários, 67% (sessenta e sete por cento) do seu Patrimônio Líquido em Direitos Creditórios, nos termos da Resolução CMN 5.111, e para fins regulatórios, 50% (cinquenta por cento) do seu Patrimônio Líquido em Direitos Creditórios, nos termos da Resolução CVM 175. 4.14 Nos termos do Art. 45, §7º, inciso II, do Anexo Normativo II da Resolução CVM 175, a Classe poderá ter até 100% (cem por cento) de seu Patrimônio Líquido alocado em Direitos Creditórios, derivativos, observado o disposto nest</a:t>
            </a:r>
          </a:p>
          <a:p>
            <a:r>
              <a:t>CNPJ 63953620000165 · Alocação para tratamento tributário · Mecânica: {"operator": "&gt;=", "unit": "percent", "denominator": "net_asset_value", "frequency": "not_stated", "layer": "class", "effective_status": "document_date_only", "document_date": "2026-06-02", "limit": 67.0, "numerator": "credit_rights", "requires_initial_date": true}</a:t>
            </a:r>
          </a:p>
          <a:p>
            <a:r>
              <a:t>CNPJ 63953620000165 · Alocação para tratamento tributário · Versão e prevalência: Leitura específica das cláusulas indicadas; condições e conflitos preservados. Seleção documental atual não comprova vigência jurídica por data isolada.</a:t>
            </a:r>
          </a:p>
          <a:p>
            <a:r>
              <a:t>CNPJ 54871427000194 · Classes investidas e limites do FIC · Demonstrações Financeiras - Fusão, cisão e incorporação · ID 1219522 · 2026-02-02 · versão 1 · p. 31 · https://fnet.bmfbovespa.com.br/fnet/publico/visualizarDocumento?id=1219522</a:t>
            </a:r>
          </a:p>
          <a:p>
            <a:r>
              <a:t>CNPJ 54871427000194 · Classes investidas e limites do FIC · Excerto da fonte:</a:t>
            </a:r>
          </a:p>
          <a:p>
            <a:r>
              <a:t>xv) Risco Regulatório e Judicial. Eventuais alterações ou novas normas ou leis aplicáveis à Classe,  seus ativos e a eventuais fundos investidos, incluindo, mas não se limitando àquelas referentes  a tributos, bem como decisões judiciais ou jurisprudência aplicando as regulamentações  existentes ou interpretando novas regulamentações, podem causar um efeito adverso relevante  no preço dos ativos e/ou na performance das posições financeiras adquiridas pela Classe e/ou  pelos fundos Investidos. Ainda, nesse sentido, poderão ocorrer interferências de autoridades  governamentais e órgãos reguladores na regulação dos mercados, bem como alterações das  políticas monetária e cambial. Tais eventos poderão impactar de maneira adversa o valor das  Cotas.</a:t>
            </a:r>
          </a:p>
          <a:p>
            <a:r>
              <a:t>CNPJ 54871427000194 · Classes investidas e limites do FIC · Condição: Documentos atuais selecionados no inventário por categoria/escopo; a data documental isolada não comprova vigência jurídica.</a:t>
            </a:r>
          </a:p>
          <a:p>
            <a:r>
              <a:t>CNPJ 54871427000194 · Classes investidas e limites do FIC · Versão e prevalência: Documentos atuais selecionados no inventário por categoria/escopo; a data documental isolada não comprova vigência jurídica.</a:t>
            </a:r>
          </a:p>
          <a:p>
            <a:r>
              <a:t>CNPJ 54871427000194 · Classes investidas e limites do FIC · Resumo do histórico: {"count": 5, "dates": ["2024-12-31", "2025-01-01", "2025-12-31"], "document_count": 3, "sources": [{"document_id": "1151805", "title": "Demonstrações Financeiras", "reference_date": "2025-12-31", "version": "1", "page": 31, "url": "https://fnet.bmfbovespa.com.br/fnet/publico/visualizarDocumento?id=1151805", "sha256": "f1cea70b152968bf96ef9221b27225953cb20aeef487b2798db3c25e11b528d4"}, {"document_id": "869529", "title": "Demonstrações Financeiras", "reference_date": "2025-01-01", "version": "1", "page": 32, "url": "https://fnet.bmfbovespa.com.br/fnet/publico/visualizarDocumento?id=869529", "sha256": "9a93a9369ac8efdbc54ff8fcee3ccac3abf88edab4807b9323d3852450771b2a"}, {"document_id": "870070", "title": "Demonstrações Financeiras", "reference_date": "2024-12-31", "version": "1", "page": 32, "url": "https://fnet.bmfbovespa.com.br/fnet/publico/visualizarDocumento?id=870070", "sha256": "9a93a9369ac8efdbc54ff8fcee3ccac3abf88edab4807b9323d3852450771b2a"}], "reference": {"path": "history/54871427000194.json", "criterion_id": "investee", "total_count": 5, "preview_count": 3, "full_text_deferred": true, "sha256": "35d7cd99be50c7287c9fb675cf4f2e736002315295a225a9efa79c8d9186d874"}}</a:t>
            </a:r>
          </a:p>
          <a:p>
            <a:r>
              <a:t>CNPJ 60010416000112 · Classes investidas e limites do FIC · Motivo: Não localizada uma cláusula material para este critério nos textos identificados e processados. A ausência de resultado não comprova inexistência da regra.</a:t>
            </a:r>
          </a:p>
          <a:p>
            <a:r>
              <a:t>CNPJ 62696791000193 · Classes investidas e limites do FIC · Regulamento · ID 1143317 · 20/03/2026 · versão Regulamento — referência 20/03/2026 · p. 7 · Anexo I, 1.1, Objetivo, categoria Geral · https://fnet.bmfbovespa.com.br/fnet/publico/visualizarDocumento?id=1143317</a:t>
            </a:r>
          </a:p>
          <a:p>
            <a:r>
              <a:t>CNPJ 62696791000193 · Classes investidas e limites do FIC · Excerto da fonte:</a:t>
            </a:r>
          </a:p>
          <a:p>
            <a:r>
              <a:t>(D) Categoria “Geral” (“Ativos em Geral do Agronegócio”): (i) cotas de classes que apliquem mais de 50% (cinquenta por cento) de seu patrimônio líquido nos ativos referidos nos incisos “A” a “D” acima, o que inclui cotas de outros FIAGRO, mas não se limita a essa categoria de f undos. Os Ativos Imobiliários do Agronegócio, Participações do Agronegócio, Ativos Financeiros do Agronegócio e Ativos em Geral do Agronegócio, quando ref eridos em conjunto, os “Outros Ativos”. Não há limites máximos de aplicação por emissor ou devedor, em função de um percentual do Patrimônio Líquido. O objetivo da Classe não representa, sob qualquer hipótese, garantia da Classe ou de seus Prestadores de Serviços Essenciais e/ou da Cogestora quanto à segurança, rentabilidade e liquidez dos títu</a:t>
            </a:r>
          </a:p>
          <a:p>
            <a:r>
              <a:t>CNPJ 62696791000193 · Classes investidas e limites do FIC · Regulamento · ID 1143317 · 20/03/2026 · versão Regulamento — referência 20/03/2026 · p. 11 · Anexo I, 4.8–4.9 · https://fnet.bmfbovespa.com.br/fnet/publico/visualizarDocumento?id=1143317</a:t>
            </a:r>
          </a:p>
          <a:p>
            <a:r>
              <a:t>CNPJ 62696791000193 · Classes investidas e limites do FIC · Excerto da fonte:</a:t>
            </a:r>
          </a:p>
          <a:p>
            <a:r>
              <a:t>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relacionadas ao Gestor. 4.8.1 As aplicações em Direitos Creditórios do Agronegócio decorrentes de receitas públicas originárias ou derivadas da União, dos Estados, do Distrito Federal e dos Municípios ou de suas autarquias e f undações, assim como em Direitos Creditórios do Agronegócio cedidos ou originados por empresas controladas pelo poder público, não estão submetidas ao limite de concentração por emissor previsto no caput. 4.9 Nos termos do Art. 45 do Anexo</a:t>
            </a:r>
          </a:p>
          <a:p>
            <a:r>
              <a:t>CNPJ 62696791000193 · Classes investidas e limites do FIC · Condição: O regulamento não identifica CNPJs de classes efetivamente investidas. Permissão de investimento não comprova posição.</a:t>
            </a:r>
          </a:p>
          <a:p>
            <a:r>
              <a:t>CNPJ 62696791000193 · Classes investidas e limites do FIC · Versão e prevalência: Leitura específica das cláusulas indicadas; condições e conflitos preservados. Seleção documental atual não comprova vigência jurídica por data isolada.</a:t>
            </a:r>
          </a:p>
          <a:p>
            <a:r>
              <a:t>CNPJ 55563624000109 · Classes investidas e limites do FIC · Regulamento · ID 1192614 · 30/04/2026 · versão Regulamento30/04/2026 · p. 11 · AnexoI4.1 · https://fnet.bmfbovespa.com.br/fnet/publico/visualizarDocumento?id=1192614</a:t>
            </a:r>
          </a:p>
          <a:p>
            <a:r>
              <a:t>CNPJ 55563624000109 · Classes investidas e limites do FIC · Excerto da fonte:</a:t>
            </a:r>
          </a:p>
          <a:p>
            <a:r>
              <a:t>4.1 Observados os demais termos deste Anexo, o objetivo da Classe é investir seus recursos em (i) cotas subordinadas mezanino de emissão da classe única do MERCADO CRÉDITO II BRASIL FUNDO DE INVESTIMENTO EM DIREITOS CREDITÓRIOS NÃO PADRONIZADOS, fundo de investimento em direitos creditórios inscrito no CNPJ sob o nº 41.970.012/0001-26 (“Cotas da Classe Investida” e “Classe Investida”, respectivamente), a qual, por sua vez, aplica seus recursos preponderantemente em direitos creditórios originados pela Mercado Pago, de acordo com os termos e condições est</a:t>
            </a:r>
          </a:p>
          <a:p>
            <a:r>
              <a:t>CNPJ 55563624000109 · Classes investidas e limites do FIC · Condição: Vínculo contratual identificado; quantidade de cotas efetivamente detida exige posição do FIC. Não somar PL do FIC e do investido.</a:t>
            </a:r>
          </a:p>
          <a:p>
            <a:r>
              <a:t>CNPJ 55563624000109 · Classes investidas e limites do FIC · Versão e prevalência: Leitura específica das cláusulas indicadas; condições e conflitos preservados. Seleção documental atual não comprova vigência jurídica por data isolada.</a:t>
            </a:r>
          </a:p>
          <a:p>
            <a:r>
              <a:t>CNPJ 55563624000109 · Classes investidas e limites do FIC · Resumo do histórico: {"count": 2, "dates": ["2025-01-31", "2026-01-31"], "document_count": 2, "sources": [{"document_id": "1178840", "title": "Demonstrações Financeiras", "reference_date": "2026-01-31", "version": "1", "page": 4, "url": "https://fnet.bmfbovespa.com.br/fnet/publico/visualizarDocumento?id=1178840", "sha256": "c458e98664c5c907ddb5a05a94b120bed4e05295b2bfc420f5ba69af0a229abe"}, {"document_id": "891861", "title": "Demonstrações Financeiras", "reference_date": "2025-01-31", "version": "1", "page": 18, "url": "https://fnet.bmfbovespa.com.br/fnet/publico/visualizarDocumento?id=891861", "sha256": "e9cb9e6ddbe505fe068cfcac33605165a98313489de0d3ce6d4d238263c3f3e7"}], "reference": {"path": "history/55563624000109.json", "criterion_id": "investee", "total_count": 2, "preview_count": 2, "full_text_deferred": true, "sha256": "7835d573fb58a3c19adf5b8ecc2aee2bdbb9a88f7a0c0209b5f262b64c7522e3"}}</a:t>
            </a:r>
          </a:p>
          <a:p>
            <a:r>
              <a:t>CNPJ 62552447000120 · Classes investidas e limites do FIC · Regulamento · ID 1200623 · 2026-05-21 · versão 1 · p. 6 · https://fnet.bmfbovespa.com.br/fnet/publico/visualizarDocumento?id=1200623</a:t>
            </a:r>
          </a:p>
          <a:p>
            <a:r>
              <a:t>CNPJ 62552447000120 · Classes investidas e limites do FIC · Excerto da fonte:</a:t>
            </a:r>
          </a:p>
          <a:p>
            <a:r>
              <a:t>integrantes do conglomerado econômico de instituições  f inanceiras classificadas como S1 pelo Banco Central do  Brasil (“BACEN” e “Instituições Financeiras S1”,  respectivamente), desde que não representem títulos de  emissão ou coobrigação de instituições financeiras, bem  como cotas de f undos de investimento que invistam  preponderantemente nestes direitos, títulos e/ou valores  mobiliários; e</a:t>
            </a:r>
          </a:p>
          <a:p>
            <a:r>
              <a:t> (d) “Direitos Creditórios Refinanciamento Livre”, na forma  de CCBs originadas no âmbito de um refinanciamento, de  acordo com a política de cobrança vigente, de Direitos  Creditórios Consignado Privado e de Direitos Creditórios  FGTS, que não contem com o lastro de Consignação ou  de cessão f iduciária do Saque-Aniversário,  respectivamente; e</a:t>
            </a:r>
          </a:p>
          <a:p>
            <a:r>
              <a:t> (ii) “Ativos Financeiros”, assim entendidos como, em conjunto:</a:t>
            </a:r>
          </a:p>
          <a:p>
            <a:r>
              <a:t> (a) moeda corrente nacional;</a:t>
            </a:r>
          </a:p>
          <a:p>
            <a:r>
              <a:t> (b) títulos públicos f ederais;</a:t>
            </a:r>
          </a:p>
          <a:p>
            <a:r>
              <a:t> (c) ativos f inanceiros de renda f ixa de emissão ou  coobrigação de Instituições Financeiras S1;</a:t>
            </a:r>
          </a:p>
          <a:p>
            <a:r>
              <a:t> (d) operações compromissadas, desde que lastreadas nos  títulos mencionados nas alíneas (b) e (c) acima; e</a:t>
            </a:r>
          </a:p>
          <a:p>
            <a:r>
              <a:t> (e) cotas do BTG Pactual Tesouro Selic Fundo de  Investimento Renda Fixa Ref erenciado DI, inscrito no  CNPJ sob o nº 09.215.250/0001-13;</a:t>
            </a:r>
          </a:p>
          <a:p>
            <a:r>
              <a:t> observados todos os limites de composição e diversificação da carteira da  Classe (“Carteira”), estabelecidos neste Regulamento e na  regulamentação aplicável.</a:t>
            </a:r>
          </a:p>
          <a:p>
            <a:r>
              <a:t> O objetivo da Classe não representa, sob qualquer hipótese, promessa,  garantia ou sugestão da Classe ou de seus Prestadores de Serviços  Essenciais quanto à segurança, rentabilidade e liquidez dos títulos  componentes de sua Carteira.</a:t>
            </a:r>
          </a:p>
          <a:p>
            <a:r>
              <a:t>CNPJ 62552447000120 · Classes investidas e limites do FIC · Condição: Documentos atuais selecionados no inventário por categoria/escopo; a data documental isolada não comprova vigência jurídica.</a:t>
            </a:r>
          </a:p>
          <a:p>
            <a:r>
              <a:t>CNPJ 62552447000120 · Classes investidas e limites do FIC · Versão e prevalência: Documentos atuais selecionados no inventário por categoria/escopo; a data documental isolada não comprova vigência jurídica.</a:t>
            </a:r>
          </a:p>
          <a:p>
            <a:r>
              <a:t>CNPJ 63953620000165 · Classes investidas e limites do FIC · Motivo: Não localizada uma cláusula material para este critério nos textos identificados e processados. A ausência de resultado não comprova inexistência da regra.</a:t>
            </a:r>
          </a:p>
          <a:p>
            <a:r>
              <a:t>CNPJ 54871427000194 · Classe, subclasse e responsabilidade · Regulamento · ID 670691 · 2024-04-28 · versão 1 · p. 29 · https://fnet.bmfbovespa.com.br/fnet/publico/visualizarDocumento?id=670691</a:t>
            </a:r>
          </a:p>
          <a:p>
            <a:r>
              <a:t>CNPJ 54871427000194 · Classe, subclasse e responsabilidade · Excerto da fonte:</a:t>
            </a:r>
          </a:p>
          <a:p>
            <a:r>
              <a:t>Anexo I ao Regulamento CLASSE ÚNICA DE RESPONSABILIDADE LIMITADA DO CONSIGNADO DELTA RECEIVABLES I FUNDO DE INVESTIMENTO EM DIREITOS CREDITÓRIOS  pelo Endossante e depositados em seu conta de sua titularidade para posterior repasse à  Classe. Neste caso, a Classe poderá sofrer perdas principalmente em relação ao atraso na  regularização da titularidade e pagamento dos Direitos Creditórios.</a:t>
            </a:r>
          </a:p>
          <a:p>
            <a:r>
              <a:t> (v) Risco de pré-pagamento dos Direitos Creditórios. A ocorrência de pré-  pagamentos em relação a um ou mais Direitos Creditórios poderá ocasionar perdas à Classe.</a:t>
            </a:r>
          </a:p>
          <a:p>
            <a:r>
              <a:t> A ocorrência de pré-pagamentos (pagamento em data anterior àquela originalmente pactuada)  de Direitos Creditórios reduz o horizonte original de rendimentos esperados pela Classe de  tais Direitos Creditórios, uma vez que o pré-pagamento poderá, se assim permitido pela  documentação do Direito Creditório ou, conf orme o caso, pela legislação aplicável, ser  realizado pelo valor de emissão do Direito Creditório atualizado até a data do pré-pagamento  pela taxa de juros pactuada entre os Endossantes e os Devedores de tais Direitos Creditórios,  de modo que os juros remuneratórios incidentes desde a data da realização do pré-pagamento  até a data de vencimento do respectivo Direito Creditório deixam de ser devidos à Classe.</a:t>
            </a:r>
          </a:p>
          <a:p>
            <a:r>
              <a:t> (vi) Riscos associados aos Devedores: os Direitos Creditórios a serem cedidos à  Classe serão descontados da remuneração do Devedor, através de desconto em f olha de  pagamento ou de benefício. Nesse sentido, na ocorrência de pré-pagamento, as parcelas  serão pagas antecipadamente e a Classe deverá utilizar tais montantes no pré-pagamento dos  Direitos Creditórios. Nesta hipótese, a Classe poderá não encontrar Direitos Creditórios  disponíveis para serem adquiridos pela Classe, o que poderá afetar a rentabilidade da Classe.</a:t>
            </a:r>
          </a:p>
          <a:p>
            <a:r>
              <a:t> (vii) Risco de Competição: o mercado de empréstimos experimentou grande  expansão no Brasil nos últimos anos. Nesse contexto, a Resolução CMN nº 4.292, alterada  pela Resolução nº 4.762, de 27 de novembro de 2019, dispõe que deve ser garantido às  pessoas naturais devedoras de operações de crédito (tais como as CCB) a possibilidade de  realizarem a portabilidade destas operações para outras instituições financeiras, inclusive nos  casos em que tenham sido objeto de cessão (tais como as realizadas à Classe). Nesse  cenário, é possível que os competidores do Endossante ofereçam condições e taxas mais  vantajosas para os empréstimos pessoais com consignação em f olha de pagamento ou de  benef ícios, o que pode causar a migração de clientes da Endossante para outras instituições  f inanceiras, gerando a liquidação antecipada de parte das CCB existentes e/ou redução no  número de Direitos Creditórios cedidos. Referida competição poderá af etar os resultados da  Classe, impactando negativamente os rendimentos dos Cotistas. Ainda, a portabilidade a um  Devedor pode acarretar no recebimento de valores inf eriores aos esperados pela Classe.</a:t>
            </a:r>
          </a:p>
          <a:p>
            <a:r>
              <a:t> (viii) Insuf iciência dos Critérios de Elegibilidade. Os Critérios de Elegibilidade têm a  f inalidade de selecionar os Direitos Creditórios passíveis de aquisição pela Classe. Não  obstante tais Critérios de Elegibilidade, a solvência dos Direitos Creditórios que compõem a  Carteira depende integralmente, mas não somente, da situação econômico-financeira dos  Devedores. Dessa f orma, a observância pelo GESTOR dos Critérios de Elegibilidade não  constitui garantia de adimplência dos Devedores.</a:t>
            </a:r>
          </a:p>
          <a:p>
            <a:r>
              <a:t> Os Endossantes não necessariamente garantem a solvência dos seus respectivos Devedores.</a:t>
            </a:r>
          </a:p>
          <a:p>
            <a:r>
              <a:t> O Endossante dos Direitos Creditórios não assumirá responsabilidade pelo seu pagamento ou  pela solvência dos respectivos Devedores. A Classe sofrerá o impacto do inadimplemento dos  Direitos Creditórios vencidos e não pagos pelos respectivos Devedores.</a:t>
            </a:r>
          </a:p>
          <a:p>
            <a:r>
              <a:t> (ix) Possibilidade de aquisição de Direitos Creditórios cedidos por Endossante  e/ou devidos por Devedores cujas demonstrações financeiras não sejam auditadas. A Classe,  desde que sejam respeitados os limites de concentração previstos neste Regulamento, poderá  manter a qualquer tempo em sua Carteira, Direitos Creditórios cedidos por Endossante e/ou  devidos por Devedores cujas demonstrações f inanceiras não sejam auditadas por Auditor  Independente registrado na CVM. Nesse sentido, não haverá verificação independente sobre  tais demonstrações f inanceiras que af irme se estas representam adequadamente, em todos  os aspectos relevantes, as respectivas posições patrimoniais e f inanceiras, os resultados de  suas operações, as mutações de seus respectivos patrimônios líquidos tampouco as origens  e aplicações de seus recursos.</a:t>
            </a:r>
          </a:p>
          <a:p>
            <a:r>
              <a:t>CNPJ 54871427000194 · Classe, subclasse e responsabilidade · Regulamento · ID 670691 · 2024-04-28 · versão 1 · p. 15 · 7.2 · https://fnet.bmfbovespa.com.br/fnet/publico/visualizarDocumento?id=670691</a:t>
            </a:r>
          </a:p>
          <a:p>
            <a:r>
              <a:t>CNPJ 54871427000194 · Classe, subclasse e responsabilidade · Excerto da fonte:</a:t>
            </a:r>
          </a:p>
          <a:p>
            <a:r>
              <a:t>7.2 As amortizações de Cotas serão realizadas a qualquer tempo, a critério do GESTOR, observada a  disponibilidade de recursos da Classe Única e a ordem de alocação de recursos prevista neste Anexo  Descritivo.</a:t>
            </a:r>
          </a:p>
          <a:p>
            <a:r>
              <a:t>CNPJ 54871427000194 · Classe, subclasse e responsabilidade · Instrumento Particular de Alteração do Regulamento · ID 670690 · 2024-05-28 · versão 1 · p. 1 · https://fnet.bmfbovespa.com.br/fnet/publico/visualizarDocumento?id=670690</a:t>
            </a:r>
          </a:p>
          <a:p>
            <a:r>
              <a:t>CNPJ 54871427000194 · Classe, subclasse e responsabilidade · Excerto da fonte:</a:t>
            </a:r>
          </a:p>
          <a:p>
            <a:r>
              <a:t>ATA DA ASSEMBLEIA ESPECIAL DE COTISTAS  CLASSE ÚNICA DE RESPONSABILIDADE LIMITADA DO CONSIGNADO DELTA RECEIVABLES I  FUNDO DE INVESTIMENTO EM DIREITOS CREDITÓRIOS  CNPJ nº 54.871.427/0001-94  (“Classe Única” e “Fundo”, respectivamente)</a:t>
            </a:r>
          </a:p>
          <a:p>
            <a:r>
              <a:t>CNPJ 54871427000194 · Classe, subclasse e responsabilidade · Condição: Documentos atuais selecionados no inventário por categoria/escopo; a data documental isolada não comprova vigência jurídica.</a:t>
            </a:r>
          </a:p>
          <a:p>
            <a:r>
              <a:t>CNPJ 54871427000194 · Classe, subclasse e responsabilidade · Versão e prevalência: Documentos atuais selecionados no inventário por categoria/escopo; a data documental isolada não comprova vigência jurídica.</a:t>
            </a:r>
          </a:p>
          <a:p>
            <a:r>
              <a:t>CNPJ 54871427000194 · Classe, subclasse e responsabilidade · Resumo do histórico: {"count": 4, "dates": ["2024-04-19", "2024-04-28", "2024-05-24"], "document_count": 3, "sources": [{"document_id": "668387", "title": "Instrumento Particular de Emissão de Cotas", "reference_date": "2024-05-24", "version": "1", "page": 1, "url": "https://fnet.bmfbovespa.com.br/fnet/publico/visualizarDocumento?id=668387", "sha256": "be2913bed5f468a7399afcd27f92bac2083451584ee580b5054e9f525e68cc4a"}, {"document_id": "670691", "title": "Regulamento", "reference_date": "2024-04-28", "version": "1", "page": 29, "url": "https://fnet.bmfbovespa.com.br/fnet/publico/visualizarDocumento?id=670691", "sha256": "bf16dd7f1a62d5cdbf2e2d54fef81783783f7310fbc99c3a8f00459bdf9d037b"}, {"document_id": "670687", "title": "Instrumento Particular de Constituição/Encerramento do Fundo", "reference_date": "2024-04-19", "version": "1", "page": 1, "url": "https://fnet.bmfbovespa.com.br/fnet/publico/visualizarDocumento?id=670687", "sha256": "999f2a47d39f7022b0fcee3d16fd1db33948537b897e92c4c9e14b436bf5eb96"}], "reference": {"path": "history/54871427000194.json", "criterion_id": "perimeter", "total_count": 4, "preview_count": 3, "full_text_deferred": true, "sha256": "35d7cd99be50c7287c9fb675cf4f2e736002315295a225a9efa79c8d9186d874"}}</a:t>
            </a:r>
          </a:p>
          <a:p>
            <a:r>
              <a:t>CNPJ 60010416000112 · Classe, subclasse e responsabilidade · Regulamento · ID 1051393 · 2025-10-09 · versão 1 · p. 10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a:t>
            </a:r>
          </a:p>
          <a:p>
            <a:r>
              <a:t> (ii) o saldo dos Direitos Creditórios devidos pelo mesmo Devedor à Classe, considerando, pro  forma, o endosso pretendido, não deverá exceder R$ 100.000,00 (cem mil reais), observado  o disposto no item 4.4.1 abaixo;</a:t>
            </a:r>
          </a:p>
          <a:p>
            <a:r>
              <a:t> (iii) o prazo de vencimento das CCB representativas dos Direitos Creditórios deverá ser, no  máximo, equivalente ao prazo máximo permitido pelas leis e regulamentações aplicáveis; e</a:t>
            </a:r>
          </a:p>
          <a:p>
            <a:r>
              <a:t> (iv) os Direitos Creditórios não poderão ser devidos por Devedores que tenham acima de 64  (sessenta e quatro) anos 11 (onze) meses e 29 (vinte e nove) dias na data de emissão da  respectiva CCB.</a:t>
            </a:r>
          </a:p>
          <a:p>
            <a:r>
              <a:t>CNPJ 60010416000112 · Classe, subclasse e responsabilidade · Regulamento · ID 1051393 · 2025-10-09 · versão 1 · p. 11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  com a transf erência, à Classe, de f orma definitiva, sem coobrigação do Endossante, da plena  titularidade desse Direito Creditório, juntamente com todos os direitos, privilégios, pref erências,  prerrogativas, garantias e ações a ele relacionados, bem como correção monetária, juros e  encargos, sem prejuízo do direito da Classe (i) de exigir a recompra compulsória do respectivo  Direito Creditório, de acordo com os termos do Contrato de Endosso; ou (ii) de vender Direitos  Creditórios ao Agente de Retenção/Cobrança (opção de venda), em ambos os casos estritamente  nos termos do Contrato de Endosso.</a:t>
            </a:r>
          </a:p>
          <a:p>
            <a:r>
              <a:t>CNPJ 60010416000112 · Classe, subclasse e responsabilidade · Regulamento · ID 1051393 · 2025-10-09 · versão 1 · p. 18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a:t>
            </a:r>
          </a:p>
          <a:p>
            <a:r>
              <a:t> (ii) alterar este Anexo I e seus complementos, incluindo mas não se limitando aos Apêndices de cada  uma das subclasses;</a:t>
            </a:r>
          </a:p>
          <a:p>
            <a:r>
              <a:t> (iii) deliberar sobre substituição de Prestadores de Serviços Essenciais, observado o disposto no Art.</a:t>
            </a:r>
          </a:p>
          <a:p>
            <a:r>
              <a:t> 70, §1º da parte geral da Resolução CVM 175, quando aplicável, ou do Custodiante;</a:t>
            </a:r>
          </a:p>
          <a:p>
            <a:r>
              <a:t> (iv) deliberar sobre elevação da Taxa de Administração, inclusive na hipótese de restabelecimento de  taxa que tenha sido objeto de redução;</a:t>
            </a:r>
          </a:p>
          <a:p>
            <a:r>
              <a:t> (v) deliberar sobre incorporação, fusão, cisão total ou parcial, a transformação ou liquidação da Classe;</a:t>
            </a:r>
          </a:p>
          <a:p>
            <a:r>
              <a:t> (vi) alterações das características, vantagens, direitos e obrigações das Cotas;</a:t>
            </a:r>
          </a:p>
          <a:p>
            <a:r>
              <a:t> (vii) alterar critérios e procedimentos para Amortização e/ou resgate de Cotas mediante dação em  pagamento de Direitos Creditórios;</a:t>
            </a:r>
          </a:p>
          <a:p>
            <a:r>
              <a:t> (viii) aprovar a contratação de Agente de Retenção/Cobrança dos Direitos Creditórios Inadimplidos, bem  como decidir sobre sua substituição ou destituição;</a:t>
            </a:r>
          </a:p>
          <a:p>
            <a:r>
              <a:t> (ix) alterar a f orma de amortização do principal e dos valores acumulados relacionados às Cotas;</a:t>
            </a:r>
          </a:p>
          <a:p>
            <a:r>
              <a:t> (x) aprovar emissão de novas Cotas da Classe, em montante além do Capital Autorizado;</a:t>
            </a:r>
          </a:p>
          <a:p>
            <a:r>
              <a:t> (xi) deliberar sobre a eventual necessidade de aportes adicionais de recursos na Classe pelos Cotistas;</a:t>
            </a:r>
          </a:p>
          <a:p>
            <a:r>
              <a:t> (xii) alterações na Política de Investimentos;</a:t>
            </a:r>
          </a:p>
          <a:p>
            <a:r>
              <a:t> (xiii) alterações nos Critérios de Elegibilidade;</a:t>
            </a:r>
          </a:p>
          <a:p>
            <a:r>
              <a:t> (xiv) decidir se um Evento de Avaliação será considerado como Evento de Liquidação, sujeito a este  Regulamento;</a:t>
            </a:r>
          </a:p>
          <a:p>
            <a:r>
              <a:t> (xv) decidir, na ocorrência de qualquer Evento de Liquidação, se esse Evento de Liquidação não deverá  causar a liquidação antecipada da Classe;</a:t>
            </a:r>
          </a:p>
          <a:p>
            <a:r>
              <a:t> (xvi) plano de resolução do Patrimônio Líquido negativo da Classe, nos termos da Resolução CVM 175;</a:t>
            </a:r>
          </a:p>
          <a:p>
            <a:r>
              <a:t> (xvii)pedido de declaração judicial de insolvência da Classe; e</a:t>
            </a:r>
          </a:p>
          <a:p>
            <a:r>
              <a:t> (xviii) deliberar sobre a alteração da data de resgate e/ou prazo de duração de cada Série de Cotas  Seniores, do Benchmark, bem como de quaisquer outras características de qualquer Série de Cotas  Seniores;</a:t>
            </a:r>
          </a:p>
          <a:p>
            <a:r>
              <a:t>CNPJ 60010416000112 · Classe, subclasse e responsabilidade · Condição: Documentos atuais selecionados no inventário por categoria/escopo; a data documental isolada não comprova vigência jurídica.</a:t>
            </a:r>
          </a:p>
          <a:p>
            <a:r>
              <a:t>CNPJ 60010416000112 · Classe, subclasse e responsabilidade · Versão e prevalência: Documentos atuais selecionados no inventário por categoria/escopo; a data documental isolada não comprova vigência jurídica.</a:t>
            </a:r>
          </a:p>
          <a:p>
            <a:r>
              <a:t>CNPJ 60010416000112 · Classe, subclasse e responsabilidade · Resumo do histórico: {"count": 1, "dates": ["2025-05-12"], "document_count": 1, "sources": [{"document_id": "1004656", "title": "AGE", "reference_date": "2025-05-12", "version": "1", "page": 4, "url": "https://fnet.bmfbovespa.com.br/fnet/publico/visualizarDocumento?id=1004656", "sha256": "f6c9c009f6170e2b29f074b98522accec73f0c40efbf11f9ec2c8d3f1402616b"}], "reference": {"path": "history/60010416000112.json", "criterion_id": "perimeter", "total_count": 1, "preview_count": 1, "full_text_deferred": true, "sha256": "8e2bd813f4c51cf01f6bfaad164bafe69d2bbb192f753eac92da3a01c2e63046"}}</a:t>
            </a:r>
          </a:p>
          <a:p>
            <a:r>
              <a:t>CNPJ 62696791000193 · Classe, subclasse e responsabilidade · Regulamento · ID 1143317 · 20/03/2026 · versão Regulamento — referência 20/03/2026 · p. 9 · Anexo I, 2.1 · https://fnet.bmfbovespa.com.br/fnet/publico/visualizarDocumento?id=1143317</a:t>
            </a:r>
          </a:p>
          <a:p>
            <a:r>
              <a:t>CNPJ 62696791000193 · Classe, subclasse e responsabilidade · Excerto da fonte:</a:t>
            </a:r>
          </a:p>
          <a:p>
            <a:r>
              <a:t>2.1 A responsabilidade do Cotista está limitada ao valor por ele subscrito. 2.2 Os seguintes eventos obrigarão o Administrador a verif icar se o Patrimônio Líquido está negativo: (i) qualquer pedido de declaração judicial de insolvência de Classe; (ii) inadimplência de obrigações financeiras de devedor e/ou emissor de ativos detidos pela Classe que representem mais de 10% (dez por cento) de seu Patrimônio Líquido, naquela data de ref erência; (iii) pedido de recuperação extrajudicial, proposta de recuperação judicial, f alência, intervenção, liquidação extrajudicial e/ou regime de administração temporária de devedor e/ou emissor de ativos detidos pela Classe; e (iv) condenação da Classe, de natureza judicial e/ou arbitral e/ou administrativa e/ou outras similares, ao pagamento de mais de 10% (dez por cento) de seu Patrimônio Líquido. 2.3 Caso o Administrador verifique que o Patrimônio Líquido está negativo, ou tenha ciência de pedido de declaração judicial de insolvência da Classe ou da declaração judicial de insolvência da Classe, deverá adotar as medidas aplicáveis previstas na Resolução CVM 175. 2.4 Serão aplicáveis as disp</a:t>
            </a:r>
          </a:p>
          <a:p>
            <a:r>
              <a:t>CNPJ 62696791000193 · Classe, subclasse e responsabilidade · Regulamento · ID 1143317 · 20/03/2026 · versão Regulamento — referência 20/03/2026 · p. 18 · Anexo I, 8.8.1 · https://fnet.bmfbovespa.com.br/fnet/publico/visualizarDocumento?id=1143317</a:t>
            </a:r>
          </a:p>
          <a:p>
            <a:r>
              <a:t>CNPJ 62696791000193 · Classe, subclasse e responsabilidade · Excerto da fonte:</a:t>
            </a:r>
          </a:p>
          <a:p>
            <a:r>
              <a:t>8.8.1 As Chamadas de Capital para a realização de investimentos serão realizadas a qualquer momento durante o Período de Investimento e estarão limitadas ao valor do capital subscrito de cada Cotista. As Chamadas de Capital para o pagamento de despesas e encargos do Fundo poderão ser realizadas a qualquer momento durante o Prazo de Duração, mas não estarão limitadas ao valor do capital subscrito de cada Cotista. 8.8.2 Ao receber uma Chamada de Capital, os Cotistas serão obrigados a integralizar parte ou a totalidade de suas Cotas no prazo previsto na ref erida Chamada de Capital, o qual não poderá ser inf erior a 5 (cinco) Dias Úteis contados do recebimento da Chamada de Capital, conforme solicitado pelo Administrador em observância às instruções do Gestor e de acordo com o disposto nos respectivos Compromissos de Investimento. 8.8.3 O Administrador poderá, eventualmente, realizar Chamadas de Capital aos Cotistas de forma desproporcional entre Cotistas, de modo que um ou mais Cotista venha a integralizar, em uma ou mais Chamadas de Capital, uma parcela maior ou menor, conforme o caso, das Cotas por</a:t>
            </a:r>
          </a:p>
          <a:p>
            <a:r>
              <a:t>CNPJ 62696791000193 · Classe, subclasse e responsabilidade · Regulamento · ID 1143317 · 20/03/2026 · versão Regulamento — referência 20/03/2026 · p. 16 · Anexo I, 7.2 · https://fnet.bmfbovespa.com.br/fnet/publico/visualizarDocumento?id=1143317</a:t>
            </a:r>
          </a:p>
          <a:p>
            <a:r>
              <a:t>CNPJ 62696791000193 · Classe, subclasse e responsabilidade · Excerto da fonte:</a:t>
            </a:r>
          </a:p>
          <a:p>
            <a:r>
              <a:t>7.2 A Classe possui 3 (três) Subclasses de Cotas, quais sejam, a subclasse sênior (“Subclasse Sênior” e “Cotas Seniores”), a subclasse mezanino (“Subclasse Mezanino” e “Cotas Mezanino”) e a subclasse subordinada (“Subclasse Subordinada” e “Cotas Subordinadas” – as Cotas Subordinadas, Cotas Seniores e Cotas Mezanino, quando ref eridas em conjunto, “Cotas”), admitindo ainda a emissão de novas séries (“Séries”) de Cotas Seniores, nos termos do seu respectivo Apêndice. As características, os direitos e as condições de emissão, distribuição, subscrição, integralização, remuneração, amortização e resgate das Cotas estão descritos neste Capítulo e nos respectivos Apêndices. 7.3 As Cotas são escriturais, nominativas e correspondem a f rações ideais do patrimônio da Classe, cuja propriedade presume-se: (i) pelo registro do nome do Cotista no livro de registro de Cotistas, enquanto mantidas em conta de depósito mantidas junto ao Escriturador em nome dos respectivos Cotistas, nos termos do Art. 15 da Resolução CVM 175; (ii) pelos controles de titularidade mantidos pelo depositário BTG Pactual SAC: 0800 772 2827 | Ouvidoria: 0800 722 0048 | btgpactual.co m 11</a:t>
            </a:r>
          </a:p>
          <a:p>
            <a:r>
              <a:t>CNPJ 62696791000193 · Classe, subclasse e responsabilidade · Condição: Contradição interna no alcance da responsabilidade limitada. Não apresentar a cláusula de despesas como obrigação irrestrita pacificada.</a:t>
            </a:r>
          </a:p>
          <a:p>
            <a:r>
              <a:t>CNPJ 62696791000193 · Classe, subclasse e responsabilidade · Versão e prevalência: Leitura específica das cláusulas indicadas; condições e conflitos preservados. Seleção documental atual não comprova vigência jurídica por data isolada.</a:t>
            </a:r>
          </a:p>
          <a:p>
            <a:r>
              <a:t>CNPJ 55563624000109 · Classe, subclasse e responsabilidade · Regulamento · ID 1192614 · 2026-04-30 · versão 1 · p. 40 · https://fnet.bmfbovespa.com.br/fnet/publico/visualizarDocumento?id=1192614</a:t>
            </a:r>
          </a:p>
          <a:p>
            <a:r>
              <a:t>CNPJ 55563624000109 · Classe, subclasse e responsabilidade · Excerto da fonte:</a:t>
            </a:r>
          </a:p>
          <a:p>
            <a:r>
              <a:t>(xxiv) Subordinação de determinadas Cotas da Classe Investida a outras subclasses ou séries de  cotas das Classes Investidas aos quais pertencem. A Classe Investida adquirirá apenas cotas  subordinadas mezaninos da Classe Investida, as quais se subordinam às cotas seniores da Classe  Investida para efeitos de resgate. Os resgates de cotas subordinadas mezanino tipicamente têm sua  realização condicionada ainda à manutenção da razão de garantia e à existência de disponibilidades  da Classe Investida. O ADMINISTRADOR, o GESTOR e o CUSTODIANTE e suas respectivas partes  relacionadas, encontram-se impossibilitados de assegurar que a amortização e o resgate das cotas  subordinadas mezanino da Classe Investida que venham a ser adquiridas pela Classe ocorrerão nas  datas originalmente previstas, sendo que, caso tais amortizações e/ou resgates não ocorram, não será  devido pelo FUNDO ou qualquer pessoa, incluindo o ADMINISTRADOR, o GESTOR e o CUSTODIANTE,  do FUNDO ou da Classe Investida qualquer multa ou penalidade, de qualquer natureza. O não resgate  de cotas subordinadas mezanino da Classe Investida detidas pela Classe poderá impactar  negativamente no fluxo de pagamento de resgate da Classe e/ou no valor patrimonial das Cotas da  Classe.</a:t>
            </a:r>
          </a:p>
          <a:p>
            <a:r>
              <a:t>CNPJ 55563624000109 · Classe, subclasse e responsabilidade · Regulamento · ID 1192614 · 2026-04-30 · versão 1 · p. 2 · 1.2 · https://fnet.bmfbovespa.com.br/fnet/publico/visualizarDocumento?id=1192614</a:t>
            </a:r>
          </a:p>
          <a:p>
            <a:r>
              <a:t>CNPJ 55563624000109 · Classe, subclasse e responsabilidade · Excerto da fonte:</a:t>
            </a:r>
          </a:p>
          <a:p>
            <a:r>
              <a:t>1.2 Este regulamento é composto por esta parte geral, um ou mais anexos, conforme o número de classes aqui  previsto e respectivos apêndices relativos a cada subclasse de cotas, conforme aplicável (respectivamente,  “Regulamento”, “Parte Geral”, “Anexos” e “Apêndices”).</a:t>
            </a:r>
          </a:p>
          <a:p>
            <a:r>
              <a:t> Denominação da Classe Anexo  CLASSE ÚNICA DE RESPONSABILIDADE LIMITADA DO  PLGN MARKETPLACE FUNDO DE INVESTIMENTO EM  Anexo Único (“Anexo”)  COTAS DE FUNDO DE INVESTIMENTO EM DIREITOS  CREDITÓRIOS (“Classe” ou “Classe Única”)</a:t>
            </a:r>
          </a:p>
          <a:p>
            <a:r>
              <a:t>CNPJ 55563624000109 · Classe, subclasse e responsabilidade · Regulamento · ID 1192614 · 2026-04-30 · versão 1 · p. 24 · 12.3 · https://fnet.bmfbovespa.com.br/fnet/publico/visualizarDocumento?id=1192614</a:t>
            </a:r>
          </a:p>
          <a:p>
            <a:r>
              <a:t>CNPJ 55563624000109 · Classe, subclasse e responsabilidade · Excerto da fonte:</a:t>
            </a:r>
          </a:p>
          <a:p>
            <a:r>
              <a:t>12.3 Incluem-se entre as obrigações do ADMINISTRADOR, sem prejuízo de outras previstas na regulamentação:</a:t>
            </a:r>
          </a:p>
          <a:p>
            <a:r>
              <a:t> (i) sem prejuízo da observância dos procedimentos relativos às demonstrações contábeis, manter,  separadamente, registros com informações completas sobre toda e qualquer modalidade de negociação  realizada entre o ADMINISTRADOR, GESTOR, CUSTODIANTE, e/ou suas respectivas partes relacionadas,  tais como definidas pelas regras contábeis que tratam desse assunto, de um lado; e a Classe, de outro;</a:t>
            </a:r>
          </a:p>
          <a:p>
            <a:r>
              <a:t> (ii) diligenciar para que sejam mantidos, às suas expensas, atualizados e em perfeita ordem:</a:t>
            </a:r>
          </a:p>
          <a:p>
            <a:r>
              <a:t> (a) o registro de Cotistas;</a:t>
            </a:r>
          </a:p>
          <a:p>
            <a:r>
              <a:t> (b) o livro de atas das Assembleias de Cotistas;</a:t>
            </a:r>
          </a:p>
          <a:p>
            <a:r>
              <a:t> (c) o livro ou lista de presença de Cotistas;</a:t>
            </a:r>
          </a:p>
          <a:p>
            <a:r>
              <a:t> (d) os pareceres do Auditor Independente; e</a:t>
            </a:r>
          </a:p>
          <a:p>
            <a:r>
              <a:t> (e) os registros contábeis referentes às operações e ao patrimônio da Classe;</a:t>
            </a:r>
          </a:p>
          <a:p>
            <a:r>
              <a:t> (iii) pagar a multa cominatória às suas expensas, nos termos da legislação vigente, por cada dia de atraso no  cumprimento dos prazos previstos na regulamentação aplicável;</a:t>
            </a:r>
          </a:p>
          <a:p>
            <a:r>
              <a:t> (iv) elaborar e divulgar as informações periódicas e eventuais da Classe, nos termos deste Anexo e da  regulamentação e da autorregulação em vigor;</a:t>
            </a:r>
          </a:p>
          <a:p>
            <a:r>
              <a:t> (v) manter atualizada junto à CVM a lista de todos os prestadores de serviços contratados pela Classe,  inclusive os Prestadores de Serviços Essenciais, bem como as demais informações cadastrais da Classe e  suas Subclasses;</a:t>
            </a:r>
          </a:p>
          <a:p>
            <a:r>
              <a:t> (vi) manter serviço de atendimento aos Cotistas, responsável pelo esclarecimento de dúvidas e pelo  recebimento de reclamações;</a:t>
            </a:r>
          </a:p>
          <a:p>
            <a:r>
              <a:t> (vii) receber e processar os pedidos de resgate;</a:t>
            </a:r>
          </a:p>
          <a:p>
            <a:r>
              <a:t> (viii) monitorar os Eventos de Verificação do Patrimônio;</a:t>
            </a:r>
          </a:p>
          <a:p>
            <a:r>
              <a:t> (ix) monitorar os Eventos de Avaliação e Eventos de Liquidação;</a:t>
            </a:r>
          </a:p>
          <a:p>
            <a:r>
              <a:t> (x) observar as disposições constantes do Regulamento;</a:t>
            </a:r>
          </a:p>
          <a:p>
            <a:r>
              <a:t> (xi) cumprir as deliberações da Assembleia de Cotistas; e</a:t>
            </a:r>
          </a:p>
          <a:p>
            <a:r>
              <a:t> (xii) observar as disposições do Código ANBIMA e das Regras e Procedimentos ANBIMA</a:t>
            </a:r>
          </a:p>
          <a:p>
            <a:r>
              <a:t>CNPJ 55563624000109 · Classe, subclasse e responsabilidade · Condição: Documentos atuais selecionados no inventário por categoria/escopo; a data documental isolada não comprova vigência jurídica.</a:t>
            </a:r>
          </a:p>
          <a:p>
            <a:r>
              <a:t>CNPJ 55563624000109 · Classe, subclasse e responsabilidade · Versão e prevalência: Documentos atuais selecionados no inventário por categoria/escopo; a data documental isolada não comprova vigência jurídica.</a:t>
            </a:r>
          </a:p>
          <a:p>
            <a:r>
              <a:t>CNPJ 55563624000109 · Classe, subclasse e responsabilidade · Resumo do histórico: {"count": 5, "dates": ["2024-07-03", "2025-01-31", "2026-01-31"], "document_count": 3, "sources": [{"document_id": "1178840", "title": "Demonstrações Financeiras", "reference_date": "2026-01-31", "version": "1", "page": 3, "url": "https://fnet.bmfbovespa.com.br/fnet/publico/visualizarDocumento?id=1178840", "sha256": "c458e98664c5c907ddb5a05a94b120bed4e05295b2bfc420f5ba69af0a229abe"}, {"document_id": "891861", "title": "Demonstrações Financeiras", "reference_date": "2025-01-31", "version": "1", "page": 27, "url": "https://fnet.bmfbovespa.com.br/fnet/publico/visualizarDocumento?id=891861", "sha256": "e9cb9e6ddbe505fe068cfcac33605165a98313489de0d3ce6d4d238263c3f3e7"}, {"document_id": "703295", "title": "Anúncio de Início", "reference_date": "2024-07-03", "version": "2", "page": 1, "url": "https://fnet.bmfbovespa.com.br/fnet/publico/visualizarDocumento?id=703295", "sha256": "12322b6dbf75e673723bd60910373db249451b72666792e18e0c7b6128f4608a"}], "reference": {"path": "history/55563624000109.json", "criterion_id": "perimeter", "total_count": 5, "preview_count": 3, "full_text_deferred": true, "sha256": "7835d573fb58a3c19adf5b8ecc2aee2bdbb9a88f7a0c0209b5f262b64c7522e3"}}</a:t>
            </a:r>
          </a:p>
          <a:p>
            <a:r>
              <a:t>CNPJ 62552447000120 · Classe, subclasse e responsabilidade · Regulamento · ID 1200623 · 2026-05-21 · versão 1 · p. 1 · 1.3 · https://fnet.bmfbovespa.com.br/fnet/publico/visualizarDocumento?id=1200623</a:t>
            </a:r>
          </a:p>
          <a:p>
            <a:r>
              <a:t>CNPJ 62552447000120 · Classe, subclasse e responsabilidade · Excerto da fonte:</a:t>
            </a:r>
          </a:p>
          <a:p>
            <a:r>
              <a:t>1.3 Durante o seu prazo de duração, o Fundo, por ato conjunto dos Prestadores de Serviços Essenciais,  poderá constituir diferentes Classes e Subclasses , sendo que cada Classe terá patrimônio segregado e</a:t>
            </a:r>
          </a:p>
          <a:p>
            <a:r>
              <a:t>CNPJ 62552447000120 · Classe, subclasse e responsabilidade · Regulamento · ID 1200623 · 2026-05-21 · versão 1 · p. 1 · 1.1 · https://fnet.bmfbovespa.com.br/fnet/publico/visualizarDocumento?id=1200623</a:t>
            </a:r>
          </a:p>
          <a:p>
            <a:r>
              <a:t>CNPJ 62552447000120 · Classe, subclasse e responsabilidade · Excerto da fonte:</a:t>
            </a:r>
          </a:p>
          <a:p>
            <a:r>
              <a:t>1.1 V CDT 1 FUNDO DE INVESTIMENTO EM DIREITOS CREDITÓRIOS RESPONSABILIDADE  LIMITADA (“Fundo”), regido pela Lei n.º 10.406, de 10 de janeiro de 2002, conforme alterada (“Código  Civil”), pela Resolução da Comissão de Valores Mobiliários (“CVM”) n.º 175, de 23 de dezembro de  2022, conf orme alterada (“Resolução CVM 175”), que inclui sua Parte Geral (“Parte Geral da  Resolução CVM 175”) e seu Anexo Normativo II (“Anexo Normativo II”) terá como principais  características:</a:t>
            </a:r>
          </a:p>
          <a:p>
            <a:r>
              <a:t>CNPJ 62552447000120 · Classe, subclasse e responsabilidade · Regulamento · ID 1200623 · 2026-05-21 · versão 1 · p. 1 · https://fnet.bmfbovespa.com.br/fnet/publico/visualizarDocumento?id=1200623</a:t>
            </a:r>
          </a:p>
          <a:p>
            <a:r>
              <a:t>CNPJ 62552447000120 · Classe, subclasse e responsabilidade · Excerto da fonte:</a:t>
            </a:r>
          </a:p>
          <a:p>
            <a:r>
              <a:t>CLASSE ÚNICA DO V CDT 1 FUNDO DE  INVESTIMENTO EM DIREITOS CREDITÓRIOS Anexo I (“Anexo I”)  RESPONSABILIDADE LIMITADA</a:t>
            </a:r>
          </a:p>
          <a:p>
            <a:r>
              <a:t>CNPJ 62552447000120 · Classe, subclasse e responsabilidade · Condição: Documentos atuais selecionados no inventário por categoria/escopo; a data documental isolada não comprova vigência jurídica.</a:t>
            </a:r>
          </a:p>
          <a:p>
            <a:r>
              <a:t>CNPJ 62552447000120 · Classe, subclasse e responsabilidade · Versão e prevalência: Documentos atuais selecionados no inventário por categoria/escopo; a data documental isolada não comprova vigência jurídica.</a:t>
            </a:r>
          </a:p>
          <a:p>
            <a:r>
              <a:t>CNPJ 62552447000120 · Classe, subclasse e responsabilidade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"perimeter", "total_count": 1, "preview_count": 1, "full_text_deferred": true, "sha256": "d95db8c0613d67ee84118c734588665265ea6b02f86a0318d6a844cbe1d0f82f"}}</a:t>
            </a:r>
          </a:p>
          <a:p>
            <a:r>
              <a:t>CNPJ 63953620000165 · Classe, subclasse e responsabilidade · Anexo ao Regulamento · ID 1222863 · 02/06/2026 · versão AnexoConsignadoPrivado02/06/2026 · p. 3 · 2.1 · https://fnet.bmfbovespa.com.br/fnet/publico/visualizarDocumento?id=1222863</a:t>
            </a:r>
          </a:p>
          <a:p>
            <a:r>
              <a:t>CNPJ 63953620000165 · Classe, subclasse e responsabilidade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deverá adotar as medidas aplicáveis previstas na Resolução CVM 175. 2.3 Serão aplicáveis as disposições da Resolução CVM 175 no que se refere aos procedimentos a serem adotados pelo Administrador na hipótese de Patrimônio Líquido negativo da Classe. BTG Pactual SAC: 0800 772 28 27 - Ouvidoria: 0800 722 00 48 - btgpactual.com</a:t>
            </a:r>
          </a:p>
          <a:p>
            <a:r>
              <a:t>CNPJ 63953620000165 · Classe, subclasse e responsabilidade · Anexo ao Regulamento · ID 1222863 · 02/06/2026 · versão AnexoConsignadoPrivado02/06/2026 · p. 10 · 6.7.1 · https://fnet.bmfbovespa.com.br/fnet/publico/visualizarDocumento?id=1222863</a:t>
            </a:r>
          </a:p>
          <a:p>
            <a:r>
              <a:t>CNPJ 63953620000165 · Classe, subclasse e responsabilidade · Excerto da fonte:</a:t>
            </a:r>
          </a:p>
          <a:p>
            <a:r>
              <a:t>6.7.1 As Chamadas de Capital para a realização de investimentos serão realizadas a qualquer momento durante o Período de Investimento e estarão limitadas ao valor do capital subscrito de cada Cotista. As Chamadas de Capital para o pagamento de despesas e encargos do Fundo, com exceção de despesas relacionadas à instrumentos de derivativos e/ou Encargos não previstos no âmbito deste regulamento, poderão ser realizadas a qualquer momento durante o Prazo de Duração, mas não estarão limitadas ao valor do capital subscrito de cada Cotista. 6.7.2 Ao receber uma Chamada d</a:t>
            </a:r>
          </a:p>
          <a:p>
            <a:r>
              <a:t>CNPJ 63953620000165 · Classe, subclasse e responsabilidade · Condição: Alcance das chamadas além do capital comprometido não resolvido textualmente; não certificar limitação apenas por título do fundo.</a:t>
            </a:r>
          </a:p>
          <a:p>
            <a:r>
              <a:t>CNPJ 63953620000165 · Classe, subclasse e responsabilidade · Versão e prevalência: Leitura específica das cláusulas indicadas; condições e conflitos preservados. Seleção documental atual não comprova vigência jurídica por data isolada.</a:t>
            </a:r>
          </a:p>
          <a:p>
            <a:r>
              <a:t>CNPJ 63953620000165 · Classe, subclasse e responsabilidade · Resumo do histórico: {"count": 4, "dates": ["2026-04-28", "2026-05-08", "2026-05-15"], "document_count": 3, "sources": [{"document_id": "1327859", "title": "Demonstrações Financeiras - Fusão, cisão e incorporação", "reference_date": "2026-05-15", "version": "1", "page": 1, "url": "https://fnet.bmfbovespa.com.br/fnet/publico/visualizarDocumento?id=1327859", "sha256": "dca1c68babb97f887528c3e2e47596a9c30f507b067981a35655b2f2da9c8054"}, {"document_id": "1298691", "title": "Demonstrações Financeiras - Fusão, cisão e incorporação", "reference_date": "2026-05-08", "version": "1", "page": 1, "url": "https://fnet.bmfbovespa.com.br/fnet/publico/visualizarDocumento?id=1298691", "sha256": "58c570d9b8d4d265330d3db3ea81c435b8e44a6dab4002aa37790652a1ee9819"}, {"document_id": "1205431", "title": "AGE", "reference_date": "2026-04-28", "version": "1", "page": 1, "clause": "4.1", "url": "https://fnet.bmfbovespa.com.br/fnet/publico/visualizarDocumento?id=1205431", "sha256": "e0b59c701c5d0dbf60de698ea7664d442240863b7043bacdb334ce484188b2ac"}], "reference": {"path": "history/63953620000165.json", "criterion_id": "perimeter", "total_count": 4, "preview_count": 3, "full_text_deferred": true, "sha256": "a7b89077f5e21098c2d601c303faabc3ff6b9729f89d8afecdc60fe1404720c1"}}</a:t>
            </a:r>
          </a:p>
          <a:p>
            <a:r>
              <a:t>CNPJ 54871427000194 · Adaptação à Resolução CVM 175 · Regulamento · ID 670691 · 28/04/2024 · versão Regulamento — referência 28/04/2024 · p. 1 · Parte Geral, 1.1 · https://fnet.bmfbovespa.com.br/fnet/publico/visualizarDocumento?id=670691</a:t>
            </a:r>
          </a:p>
          <a:p>
            <a:r>
              <a:t>CNPJ 54871427000194 · Adaptação à Resolução CVM 175 · Excerto da fonte:</a:t>
            </a:r>
          </a:p>
          <a:p>
            <a:r>
              <a:t>1.1 CONSIGNADO DELTA RECEIVABLES I FUNDO DE INVESTIMENTO EM DIREITOS CREDITÓRIOS (“FUNDO”), regido pela Lei nº 10.406, de 10 de janeiro de 2002, conf orme alterada (“Código Civil”), pela parte geral e o Anexo Normativo II da Resolução nº 175, de 23 de dezembro de 2022, conforme alterada, da Comissão de Valores Mobiliários (respectivamente, “CVM” e “Resolução CVM 175”), terá como principais características: Classe de Cotas Classe única. Indeterminado, exceto se de outra f orma vier a ser deliberado pelos cotistas Prazo de Duração reunidos em assembleia geral de cotistas. BTG Pactual Serviços Financeiros S.A. Distribuidora de Títulos e Valores Mobiliários, instituição f inanceira, com sede na Cidade e Estado do Rio de Janeiro, na Praia de Botafogo, nº 501, 5º andar (parte), Torre Corcovado, ADMINISTRADOR Botafogo, CEP 22250-040, inscrita no CNPJ sob o nº 59.281.253/0001-23 e credenciada como administradora de carteira, de acordo com o Ato Declaratório CVM nº</a:t>
            </a:r>
          </a:p>
          <a:p>
            <a:r>
              <a:t>CNPJ 54871427000194 · Adaptação à Resolução CVM 175 · Regulamento · ID 670691 · 28/04/2024 · versão Regulamento — referência 28/04/2024 · p. 8 · Anexo I, 2.1 · https://fnet.bmfbovespa.com.br/fnet/publico/visualizarDocumento?id=670691</a:t>
            </a:r>
          </a:p>
          <a:p>
            <a:r>
              <a:t>CNPJ 54871427000194 · Adaptação à Resolução CVM 175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deverá adotar as medidas aplicáveis previstas na Resolução CVM 175. 2.3 Serão aplicáveis as disposições da Resolução CVM 175 no que se refere aos procedimentos a serem adotados pelo ADMINISTRADOR na hipótese de Patrimônio Líquido negativo da Classe. CAPÍTULO 3 – ENCARGOS DA CLASSE 3.1 A Classe terá Encargos que lhe poderão ser debitados diretamente, nos termos do art. 53 do Anexo Normativo II da Resolução CVM 175, além de encargos adicionais, e quaisquer despesas que não constituam Encargos correm por conta do Prestador de Serviço Essencial que a tiver contratado: (i) despesas com a contratação de consultoria especializada, conf orme o caso; (ii) despesas com a contratação do Agente de Cobrança, conf orme aplicável; (iii) Taxa Máxima de Custódia; (iv) despesas com registro de Direitos Creditórios; (v) despesas com serviços de originação, cobranças ordinária e/ou extraordinária dos D</a:t>
            </a:r>
          </a:p>
          <a:p>
            <a:r>
              <a:t>CNPJ 54871427000194 · Adaptação à Resolução CVM 175 · Versão e prevalência: Leitura específica das cláusulas indicadas; condições e conflitos preservados. Seleção documental atual não comprova vigência jurídica por data isolada.</a:t>
            </a:r>
          </a:p>
          <a:p>
            <a:r>
              <a:t>CNPJ 54871427000194 · Adaptação à Resolução CVM 175 · Resumo do histórico: {"count": 2, "dates": ["2024-04-19"], "document_count": 2, "sources": [{"document_id": "670687", "title": "Instrumento Particular de Constituição/Encerramento do Fundo", "reference_date": "2024-04-19", "version": "1", "page": 1, "url": "https://fnet.bmfbovespa.com.br/fnet/publico/visualizarDocumento?id=670687", "sha256": "999f2a47d39f7022b0fcee3d16fd1db33948537b897e92c4c9e14b436bf5eb96"}, {"document_id": "670689", "title": "Regulamento", "reference_date": "2024-04-19", "version": "1", "page": 11, "clause": "4.10", "url": "https://fnet.bmfbovespa.com.br/fnet/publico/visualizarDocumento?id=670689", "sha256": "891bc9bc5d87bbc02ec139077a84d2702eb81ea02035fb71d24f5b8366b94a0b"}], "reference": {"path": "history/54871427000194.json", "criterion_id": "res175", "total_count": 2, "preview_count": 2, "full_text_deferred": true, "sha256": "35d7cd99be50c7287c9fb675cf4f2e736002315295a225a9efa79c8d9186d874"}}</a:t>
            </a:r>
          </a:p>
          <a:p>
            <a:r>
              <a:t>CNPJ 60010416000112 · Adaptação à Resolução CVM 175 · Regulamento · ID 1051393 · 09/10/2025 · versão Regulamento09/10/2025 · p. 8 · AnexoI1.2 · https://fnet.bmfbovespa.com.br/fnet/publico/visualizarDocumento?id=1051393</a:t>
            </a:r>
          </a:p>
          <a:p>
            <a:r>
              <a:t>CNPJ 60010416000112 · Adaptação à Resolução CVM 175 · Excerto da fonte:</a:t>
            </a:r>
          </a:p>
          <a:p>
            <a:r>
              <a:t>Tipo de Condomínio Fechado. Prazo de Duração Indeterminado. Classe de Investimento Não. em Cotas Tipo “Financeiro”. Classificação ANBIMA Foco de atuação “Créditos Consignados”. O objetivo da classe é proporcionar aos seus Cotistas a valorização de suas Cotas por meio da aplicação de seu Patrimônio Líquido na aquisição de: (i) Direitos Creditórios que atendam aos Critérios de Elegibilidade, estabelecidos no Ca</a:t>
            </a:r>
          </a:p>
          <a:p>
            <a:r>
              <a:t>CNPJ 60010416000112 · Adaptação à Resolução CVM 175 · Regulamento · ID 1051393 · 09/10/2025 · versão Regulamento09/10/2025 · p. 9 · AnexoI2.1–2.3 · https://fnet.bmfbovespa.com.br/fnet/publico/visualizarDocumento?id=1051393</a:t>
            </a:r>
          </a:p>
          <a:p>
            <a:r>
              <a:t>CNPJ 60010416000112 · Adaptação à Resolução CVM 175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o Administrador deverá adotar as medidas aplicáveis previstas na Resolução CVM 175 2.3 Serão aplicáveis as disposições da Resolução CVM 175 no que se ref ere aos procedimentos a serem adotados pelo Administrador na hipótese de Patrimônio Líquido negativo da Classe, visando a liquidação da Classe e que não remanesçam</a:t>
            </a:r>
          </a:p>
          <a:p>
            <a:r>
              <a:t>CNPJ 60010416000112 · Adaptação à Resolução CVM 175 · Versão e prevalência: Leitura específica das cláusulas indicadas; condições e conflitos preservados. Seleção documental atual não comprova vigência jurídica por data isolada.</a:t>
            </a:r>
          </a:p>
          <a:p>
            <a:r>
              <a:t>CNPJ 60010416000112 · Adaptação à Resolução CVM 175 · Resumo do histórico: {"count": 2, "dates": ["2025-03-20"], "document_count": 2, "sources": [{"document_id": "993785", "title": "Instrumento Particular de Constituição/Encerramento do Fundo", "reference_date": "2025-03-20", "version": "1", "page": 1, "url": "https://fnet.bmfbovespa.com.br/fnet/publico/visualizarDocumento?id=993785", "sha256": "0826e0eae2c51afabf59bbc49fc7647598d03da5ca6de0f9725850a8bd6af457"}, {"document_id": "993786", "title": "Regulamento", "reference_date": "2025-03-20", "version": "1", "page": 12, "clause": "4.8", "url": "https://fnet.bmfbovespa.com.br/fnet/publico/visualizarDocumento?id=993786", "sha256": "fd0fdd369a195510d81f81f505195a0b09e5f43522a990afa7d58c4f872921c8"}], "reference": {"path": "history/60010416000112.json", "criterion_id": "res175", "total_count": 2, "preview_count": 2, "full_text_deferred": true, "sha256": "8e2bd813f4c51cf01f6bfaad164bafe69d2bbb192f753eac92da3a01c2e63046"}}</a:t>
            </a:r>
          </a:p>
          <a:p>
            <a:r>
              <a:t>CNPJ 62696791000193 · Adaptação à Resolução CVM 175 · AGE · ID 1143319 · 20/03/2026 10:00 · versão AGE — referência 20/03/2026 10:00 · p. 1 · AGC, 4.1(a)–(b) · https://fnet.bmfbovespa.com.br/fnet/publico/visualizarDocumento?id=1143319</a:t>
            </a:r>
          </a:p>
          <a:p>
            <a:r>
              <a:t>CNPJ 62696791000193 · Adaptação à Resolução CVM 175 · Excerto da fonte:</a:t>
            </a:r>
          </a:p>
          <a:p>
            <a:r>
              <a:t>4.1. Aprovar a transformação do Fundo, bem como de sua Classe única, em um fundo de investimento nas cadeias produtivas do agronegócio (“Transformação”), nos termos da parte geral e do Anexo Normativo VI da Resolução nº 175 da CVM, de 23 de dezembro de 2022, conforme alterada (“Resolução CVM 175”). a. Aprovar a alteração da denominação do Fundo, que passará a vigorar como BTG PACTUAL CERES CONFINA FUNDO DE INVESTIMENTO NAS CADEIAS PRODUTIVAS DO AGRONEGÓCIO RESPONSABILIDADE LIMITADA, e de sua Classe única, que passará a vigorar como CLASSE ÚNICA DO BTG PACTUAL CERES CONFINA FUNDO DE INVESTIMENTO NAS CADEIAS PRODUTIVAS DO AGRONEGÓCIO RESPONSABILIDADE LIMITADA (“Classe”); b. Aprovar a reforma integral do Regulamento do Fundo, bem como do Anexo descritivo da Classe, para realizar todos os ajustes necessários à implementação da Transformação, incluindo, mas não se limitando, a política de investimentos, o regime tributário e os fatores de risco aplicáveis, conforme itens abaixo; c. Aprovar a alteração do quadro de características gerais do Fundo, considerando a contratação do Cogestor pelo Gestor, nos termos do artigo 52, II, da parte geral da Resolução CVM 175 e no co</a:t>
            </a:r>
          </a:p>
          <a:p>
            <a:r>
              <a:t>CNPJ 62696791000193 · Adaptação à Resolução CVM 175 · AGE · ID 1143319 · 20/03/2026 10:00 · versão AGE — referência 20/03/2026 10:00 · p. 3 · AGC 20/03/2026, 4.1(j)–(k) · https://fnet.bmfbovespa.com.br/fnet/publico/visualizarDocumento?id=1143319</a:t>
            </a:r>
          </a:p>
          <a:p>
            <a:r>
              <a:t>CNPJ 62696791000193 · Adaptação à Resolução CVM 175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Adaptação à Resolução CVM 175 · Regulamento · ID 1143317 · 20/03/2026 · versão Regulamento — referência 20/03/2026 · p. 1 · Parte Geral, 1.1 · https://fnet.bmfbovespa.com.br/fnet/publico/visualizarDocumento?id=1143317</a:t>
            </a:r>
          </a:p>
          <a:p>
            <a:r>
              <a:t>CNPJ 62696791000193 · Adaptação à Resolução CVM 175 · Excerto da fonte:</a:t>
            </a:r>
          </a:p>
          <a:p>
            <a:r>
              <a:t>1.1 BTG PACTUAL CERES CONFINA FUNDO DE INVESTIMENTO NAS CADEIAS PRODUTIVAS DO AGRONEGÓCIO RESPONSABILIDADE LIMITADA (“Fundo”), regido pela Lei nº 10.406, de 10 de janeiro de 2002, conf orme alterada (“Código Civil”), pela Lei n.º 8.668, de 25 de junho de 1993, conf orme alterada (“Lei 8.668”), pela parte geral, Anexo Normativo VI e, subsidiariamente, Anexo Normativo II da Resolução nº 175, de 23 de dezembro de 2022, conforme alterada, da Comissão de Valores Mobiliários (respectivamente, “Resolução CVM 175” e “CVM”), terá como principais características: Classe Classe única. Indeterminado, exceto se de outra f orma vier a ser deliberado pelos Cotistas Prazo de Duração reunidos em assembleia geral de Cotistas (“Prazo de Duração”). BTG Pactual Serviços Financeiros S.A. Distribuidora de Títulos e Valores Mobiliários, sociedade anônima, com sede no município e Estado do Rio de Janeiro, na Praia de Botafogo, nº 501, 5º andar (parte), Torre Corcovado, Administrador Botafogo, CEP 22250-040, inscrita no CNPJ sob o nº 59.281.253/0001-23 e</a:t>
            </a:r>
          </a:p>
          <a:p>
            <a:r>
              <a:t>CNPJ 62696791000193 · Adaptação à Resolução CVM 175 · Condição: Posição comumfev/26 é anterior à transformação e demanda o regime/regulamento anterior.</a:t>
            </a:r>
          </a:p>
          <a:p>
            <a:r>
              <a:t>CNPJ 62696791000193 · Adaptação à Resolução CVM 175 · Versão e prevalência: Leitura específica das cláusulas indicadas; condições e conflitos preservados. Seleção documental atual não comprova vigência jurídica por data isolada.</a:t>
            </a:r>
          </a:p>
          <a:p>
            <a:r>
              <a:t>CNPJ 55563624000109 · Adaptação à Resolução CVM 175 · Regulamento · ID 1192614 · 2026-04-30 · versão 1 · p. 13 · 4.11 · https://fnet.bmfbovespa.com.br/fnet/publico/visualizarDocumento?id=1192614</a:t>
            </a:r>
          </a:p>
          <a:p>
            <a:r>
              <a:t>CNPJ 55563624000109 · Adaptação à Resolução CVM 175 · Excerto da fonte:</a:t>
            </a:r>
          </a:p>
          <a:p>
            <a:r>
              <a:t>4.11 Nos termos dos artigos 45, parágrafo 7º, e 47 parágrafo único do Anexo Normativo II à Resolução CVM 175, uma  vez que as Cotas são destinadas exclusivamente a Investidores Profissionais, a Classe poderá ter até 100% (cem  por cento) de seu Patrimônio Líquido alocado em Cotas da Classe Investida, as quais são emitidas pela Classe  Investida.</a:t>
            </a:r>
          </a:p>
          <a:p>
            <a:r>
              <a:t>CNPJ 55563624000109 · Adaptação à Resolução CVM 175 · Regulamento · ID 1192614 · 2026-04-30 · versão 1 · p. 31 · 15.1.1 · https://fnet.bmfbovespa.com.br/fnet/publico/visualizarDocumento?id=1192614</a:t>
            </a:r>
          </a:p>
          <a:p>
            <a:r>
              <a:t>CNPJ 55563624000109 · Adaptação à Resolução CVM 175 · Excerto da fonte:</a:t>
            </a:r>
          </a:p>
          <a:p>
            <a:r>
              <a:t>15.1.1 Riscos de Crédito:</a:t>
            </a:r>
          </a:p>
          <a:p>
            <a:r>
              <a:t> (i) Risco de concentração na Classe Investida. Nos termos do presente Regulamento, a Classe  deverá manter alocado, no mínimo, 67% (sessenta e sete por cento) do Patrimônio Líquido nas Cotas  da Classe Investida. Alterações na condição econômico-financeira e na expectativa de desempenho ou  resultados da Classe Investida poderão, isolada ou cumulativamente, afetar negativamente o  rendimento do investimento nas Cotas, de forma mais severa do que se a Classe adotasse uma  estratégia de investimento de maior diversificação. O risco associado às aplicações de qualquer fundo  de investimento é diretamente proporcional à concentração da sua carteira, sendo que, quanto maior  essa concentração, maior será a sua vulnerabilidade.</a:t>
            </a:r>
          </a:p>
          <a:p>
            <a:r>
              <a:t> (ii) Risco relativo à Classe Investida. Nos termos deste Anexo, a Classe deverá manter alocado, no  mínimo, 67% (sessenta e sete por cento) do Patrimônio Líquido em Cotas da Classe Investida. Os  investimentos realizados pela Classe Investida poderão estar sujeitos a flutuações típicas do mercado,  risco de crédito, risco sistêmico, condições adversas de liquidez e negociação atípica nos mercados de  atuação, bem como outros riscos diversos. Este Anexo não contém a descrição de todas as  características, incluindo os riscos, da Classe Investida.</a:t>
            </a:r>
          </a:p>
          <a:p>
            <a:r>
              <a:t> (iii) Risco Relativo ao Pagamento de Encargos da Classe Investida. Tendo em vista a estrutura da  Classe Investida – que emitiu cotas sêniores, cotas subordinadas mezanino e cotas subordinadas júnior  – em situação ordinária os encargos da Classe Investida são arcados pelas cotas subordinadas júnior,  que se subordinam às cotas subordinadas mezanino e às cotas sêniores para fins de amortização,  resgate e distribuição de rendimentos, não impactando, portanto, as Cotas da Classe Investida. Não  obstante o funcionamento da Classe Investida em situação ordinária, em cenários extraordinários, na  eventualidade do valor das cotas subordinadas júnior ficar reduzido a zero ou a valor negativo, os  encargos da Classe Investida conforme previstos em seu regulamento, inclusive mas não se limitando  as remunerações dos prestadores de serviços essenciais, passarão a ser arcados pelas cotas  subordinadas mezanino (que são as Cotas da Classe Investida), impactando no valor do investimento  da Classe na Classe Investida, e consequentemente, o investimento dos Cotistas na Classe.</a:t>
            </a:r>
          </a:p>
          <a:p>
            <a:r>
              <a:t> (iv) Riscos referentes à carteira da Classe Investida. Na forma do Anexo Normativo II da Resolução  CVM 175, a Classe Investida investe, direta ou indiretamente, no mínimo, 67% (sessenta e sete por  cento) do seu patrimônio em direitos creditórios originados pela Mercado Pago. O investimento em tais  direitos creditórios está sujeito a fatores de risco específicos, conforme detalhados no regulamento da  Classe Investida, incluindo, mas não se limitando a:</a:t>
            </a:r>
          </a:p>
          <a:p>
            <a:r>
              <a:t> (a) Risco de liquidez dos direitos creditórios. O investimento da Classe Investida em direitos  creditórios apresenta peculiaridades em relação às aplicações usuais da maioria dos  fundos de investimento brasileiros, haja vista que não existe, no Brasil, mercado  secundário com liquidez para tais direitos creditórios. Caso a Classe Investida precise  vender os direitos creditórios adquiridos, poderá não haver mercado comprador para  tais créditos, bem como o preço de alienação de tais direitos creditórios poderá refletir  essa falta de liquidez, causando perda ao patrimônio da Classe Investida e,  consequentemente, à Classe.</a:t>
            </a:r>
          </a:p>
          <a:p>
            <a:r>
              <a:t>CNPJ 55563624000109 · Adaptação à Resolução CVM 175 · Regulamento · ID 1192614 · 2026-04-30 · versão 1 · p. 28 · 13.2 · https://fnet.bmfbovespa.com.br/fnet/publico/visualizarDocumento?id=1192614</a:t>
            </a:r>
          </a:p>
          <a:p>
            <a:r>
              <a:t>CNPJ 55563624000109 · Adaptação à Resolução CVM 175 · Excerto da fonte:</a:t>
            </a:r>
          </a:p>
          <a:p>
            <a:r>
              <a:t>13.2 Em condições ordinárias, as Cotas da Classe Investida não pagarão remuneração aos prestadores de serviços  essenciais da Classe Investida, nos termos de seu regulamento. Não obstante, em cenário extraordinário  conforme descrito no item 15.1.1 (iii), e para fins de atendimento ao artigo 98 da parte geral da Resolução CVM  175, a taxa máxima de administração corresponderá ao valor da Taxa Mínima de Administração acrescida de até  0,10% (dez centésimos por cento) ao ano incidente sobre o patrimônio líquido da Classe Investida,  compreendendo a taxa de administração da Classe Investida geridos por partes relacionadas ao GESTOR, cujas  cotas não estão admitidas à negociação em mercado organizado, conforme prevista no regulamento da Classe  Investida (“Taxa Máxima de Administração” e, quando referida em conjunto com a Taxa Mínima de  Administração, como “Taxa de Administração”). Caso a taxa de administração da Classe Investida não se  enquadre no disposto acima, estará disposta no regulamento da Classe Investida.</a:t>
            </a:r>
          </a:p>
          <a:p>
            <a:r>
              <a:t>CNPJ 55563624000109 · Adaptação à Resolução CVM 175 · Condição: Documentos atuais selecionados no inventário por categoria/escopo; a data documental isolada não comprova vigência jurídica.</a:t>
            </a:r>
          </a:p>
          <a:p>
            <a:r>
              <a:t>CNPJ 55563624000109 · Adaptação à Resolução CVM 175 · Versão e prevalência: Documentos atuais selecionados no inventário por categoria/escopo; a data documental isolada não comprova vigência jurídica.</a:t>
            </a:r>
          </a:p>
          <a:p>
            <a:r>
              <a:t>CNPJ 55563624000109 · Adaptação à Resolução CVM 175 · Resumo do histórico: {"count": 3, "dates": ["2024-07-03", "2025-01-31", "2026-01-31"], "document_count": 3, "sources": [{"document_id": "1178840", "title": "Demonstrações Financeiras", "reference_date": "2026-01-31", "version": "1", "page": 29, "url": "https://fnet.bmfbovespa.com.br/fnet/publico/visualizarDocumento?id=1178840", "sha256": "c458e98664c5c907ddb5a05a94b120bed4e05295b2bfc420f5ba69af0a229abe"}, {"document_id": "891861", "title": "Demonstrações Financeiras", "reference_date": "2025-01-31", "version": "1", "page": 30, "url": "https://fnet.bmfbovespa.com.br/fnet/publico/visualizarDocumento?id=891861", "sha256": "e9cb9e6ddbe505fe068cfcac33605165a98313489de0d3ce6d4d238263c3f3e7"}, {"document_id": "691674", "title": "Instrumento Particular de Emissão de Cotas", "reference_date": "2024-07-03", "version": "1", "page": 1, "url": "https://fnet.bmfbovespa.com.br/fnet/publico/visualizarDocumento?id=691674", "sha256": "78bf7b350f1785beae5f43bd209b5ed19e863cb9a2cff01542aac11dd63ca554"}], "reference": {"path": "history/55563624000109.json", "criterion_id": "res175", "total_count": 3, "preview_count": 3, "full_text_deferred": true, "sha256": "7835d573fb58a3c19adf5b8ecc2aee2bdbb9a88f7a0c0209b5f262b64c7522e3"}}</a:t>
            </a:r>
          </a:p>
          <a:p>
            <a:r>
              <a:t>CNPJ 62552447000120 · Adaptação à Resolução CVM 175 · Regulamento · ID 1200623 · 21/05/2026 · versão Consolidado21/05/2026 aprovado pelo ato1200625 · p. 1 · ParteGeral1.1 · https://fnet.bmfbovespa.com.br/fnet/publico/visualizarDocumento?id=1200623</a:t>
            </a:r>
          </a:p>
          <a:p>
            <a:r>
              <a:t>CNPJ 62552447000120 · Adaptação à Resolução CVM 175 · Excerto da fonte:</a:t>
            </a:r>
          </a:p>
          <a:p>
            <a:r>
              <a:t>1.1 V CDT 1 FUNDO DE INVESTIMENTO EM DIREITOS CREDITÓRIOS RESPONSABILIDADE LIMITADA (“Fundo”), regido pela Lei n.º 10.406, de 10 de janeiro de 2002, conforme alterada (“Código Civil”), pela Resolução da Comissão de Valores Mobiliários (“CVM”) n.º 175, de 23 de dezembro de 2022, conf orme alterada (“Resolução CVM 175”), que inclui sua Parte Geral (“Parte Geral da Resolução CVM 175”) e seu Anexo Normativo II (“Anexo Normativo II”) terá como principais características: Classe de Cotas Classe única. Indeterminado, exceto se de outra forma vier a ser deliberado pelos titulares</a:t>
            </a:r>
          </a:p>
          <a:p>
            <a:r>
              <a:t>CNPJ 62552447000120 · Adaptação à Resolução CVM 175 · Regulamento · ID 1200623 · 21/05/2026 · versão Consolidado21/05/2026 aprovado pelo ato1200625 · p. 2 · ParteGeral1.6(v) · https://fnet.bmfbovespa.com.br/fnet/publico/visualizarDocumento?id=1200623</a:t>
            </a:r>
          </a:p>
          <a:p>
            <a:r>
              <a:t>CNPJ 62552447000120 · Adaptação à Resolução CVM 175 · Excerto da fonte:</a:t>
            </a:r>
          </a:p>
          <a:p>
            <a:r>
              <a:t>V CDT 1 FUNDO DE INVESTIMENTO EM DIREITOS CREDITÓRIOS RESPONSABILIDADE LIMITADA direitos e obrigações distintos das demais Classes, nos termos do art. 5º da Parte Geral da Resolução CVM 175. 1.4 O Anexo de cada classe de Cotas (“Classe”), conforme aplicável, dispõe, sem prejuízo de outros requisitos e inf ormações previstos na regulamentação, sobre: (i) características gerais, incluindo a indicação dos demais prestadores de serviços; (ii) responsabilidade dos Cotistas e regime de insolvência; (iii) características, direitos, condições de emissão, subscrição, integralização,</a:t>
            </a:r>
          </a:p>
          <a:p>
            <a:r>
              <a:t>CNPJ 62552447000120 · Adaptação à Resolução CVM 175 · Regulamento · ID 1200623 · 21/05/2026 · versão Consolidado21/05/2026 aprovado pelo ato1200625 · p. 16 · AnexoI5.1 · https://fnet.bmfbovespa.com.br/fnet/publico/visualizarDocumento?id=1200623</a:t>
            </a:r>
          </a:p>
          <a:p>
            <a:r>
              <a:t>CNPJ 62552447000120 · Adaptação à Resolução CVM 175 · Excerto da fonte:</a:t>
            </a:r>
          </a:p>
          <a:p>
            <a:r>
              <a:t>5.1 A Classe não possui Subclasse. As características, os direitos e as condições de emissão, distribuição, subscrição, integralização, remuneração, Amortização e resgate das Cotas estão descritos neste Capítulo e no Capítulo 6. 5.1.1 Não obstante, por deliberação conjunta dos Prestadores de Serviços Essenciais e mediante aprovação em Assembleia Especial, poderá haver a divisão de Classes em Subclasses, nos termos da Resolução CVM 175. Após a primeira emissão de Cotas, novas emissões de Cotas (de quaisquer Subclasses) dependem de aprovação dos Cotistas. 5.2 As Cotas são escrit</a:t>
            </a:r>
          </a:p>
          <a:p>
            <a:r>
              <a:t>CNPJ 62552447000120 · Adaptação à Resolução CVM 175 · Versão e prevalência: Leitura específica das cláusulas indicadas; condições e conflitos preservados. Seleção documental atual não comprova vigência jurídica por data isolada.</a:t>
            </a:r>
          </a:p>
          <a:p>
            <a:r>
              <a:t>CNPJ 62552447000120 · Adaptação à Resolução CVM 175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"res175", "total_count": 1, "preview_count": 1, "full_text_deferred": true, "sha256": "d95db8c0613d67ee84118c734588665265ea6b02f86a0318d6a844cbe1d0f82f"}}</a:t>
            </a:r>
          </a:p>
          <a:p>
            <a:r>
              <a:t>CNPJ 63953620000165 · Adaptação à Resolução CVM 175 · Anexo ao Regulamento · ID 1222863 · 02/06/2026 · versão AnexoConsignadoPrivado02/06/2026 · p. 1 · AnexoI1.1 · https://fnet.bmfbovespa.com.br/fnet/publico/visualizarDocumento?id=1222863</a:t>
            </a:r>
          </a:p>
          <a:p>
            <a:r>
              <a:t>CNPJ 63953620000165 · Adaptação à Resolução CVM 175 · Excerto da fonte:</a:t>
            </a:r>
          </a:p>
          <a:p>
            <a:r>
              <a:t>1.1 As principais características da Classe Consignado Privado (para fins deste Anexo, “Classe”) estão descritas abaixo: Tipo de Condomínio Fechado. Indeterminado, exceto se de outra forma vier a ser deliberado pelos Cotistas Prazo de Duração reunidos em Assembleia Especial de Cotistas. (“Prazo de Duração”) Tipo “Financeiro”. Classificação ANBIMA Foco de atuação “Créditos Consignados”. O obje</a:t>
            </a:r>
          </a:p>
          <a:p>
            <a:r>
              <a:t>CNPJ 63953620000165 · Adaptação à Resolução CVM 175 · Anexo ao Regulamento · ID 1222863 · 02/06/2026 · versão AnexoConsignadoPrivado02/06/2026 · p. 9 · 5.1 · https://fnet.bmfbovespa.com.br/fnet/publico/visualizarDocumento?id=1222863</a:t>
            </a:r>
          </a:p>
          <a:p>
            <a:r>
              <a:t>CNPJ 63953620000165 · Adaptação à Resolução CVM 175 · Excerto da fonte:</a:t>
            </a:r>
          </a:p>
          <a:p>
            <a:r>
              <a:t>5.1 A Classe possui 2 (duas) Subclasses de Cotas, quais sejam, a subclasse sênior (“Subclasse Sênior” e “Cotas Seniores”) e a subclasse subordinada (“Subclasse Subordinada” e “Cotas Subordinadas” – as Cotas Subordinadas e Cotas Seniores, quando referidas em conjunto, “Cotas”). As características, os direitos e as condições de emissão, distribuição, subscrição, integralização, remuneração, amortização e resgate das Cotas estão descritos neste Capítulo e nos respectivos Apêndices. 5.2 As Cotas são escriturais, nominativas e correspondem a frações ideais do patrimônio da Classe, cuja propriedade presume-se: (i) pelo</a:t>
            </a:r>
          </a:p>
          <a:p>
            <a:r>
              <a:t>CNPJ 63953620000165 · Adaptação à Resolução CVM 175 · Condição: Vigência efetiva da versão 02/06/2026 não inferida da data de publicação; não aplicar a fev/26 automaticamente.</a:t>
            </a:r>
          </a:p>
          <a:p>
            <a:r>
              <a:t>CNPJ 63953620000165 · Adaptação à Resolução CVM 175 · Versão e prevalência: Leitura específica das cláusulas indicadas; condições e conflitos preservados. Seleção documental atual não comprova vigência jurídica por data isolada.</a:t>
            </a:r>
          </a:p>
          <a:p>
            <a:r>
              <a:t>CNPJ 63953620000165 · Adaptação à Resolução CVM 175 · Resumo do histórico: {"count": 9, "dates": ["2026-04-28", "2026-05-08", "2026-05-15"], "document_count": 3, "sources": [{"document_id": "1327859", "title": "Demonstrações Financeiras - Fusão, cisão e incorporação", "reference_date": "2026-05-15", "version": "1", "page": 31, "clause": "15.000.000", "url": "https://fnet.bmfbovespa.com.br/fnet/publico/visualizarDocumento?id=1327859", "sha256": "dca1c68babb97f887528c3e2e47596a9c30f507b067981a35655b2f2da9c8054"}, {"document_id": "1298691", "title": "Demonstrações Financeiras - Fusão, cisão e incorporação", "reference_date": "2026-05-08", "version": "1", "page": 32, "url": "https://fnet.bmfbovespa.com.br/fnet/publico/visualizarDocumento?id=1298691", "sha256": "58c570d9b8d4d265330d3db3ea81c435b8e44a6dab4002aa37790652a1ee9819"}, {"document_id": "1282180", "title": "Demonstrações Financeiras - Fusão, cisão e incorporação", "reference_date": "2026-04-28", "version": "1", "page": 32, "clause": "15.000.000", "url": "https://fnet.bmfbovespa.com.br/fnet/publico/visualizarDocumento?id=1282180", "sha256": "afaaa0e6809be4385e5bdb6c911aac582032c5bdbac3d7750234bf9eaf00438a"}], "reference": {"path": "history/63953620000165.json", "criterion_id": "res175", "total_count": 9, "preview_count": 3, "full_text_deferred": true, "sha256": "a7b89077f5e21098c2d601c303faabc3ff6b9729f89d8afecdc60fe1404720c1"}}</a:t>
            </a:r>
          </a:p>
          <a:p>
            <a:r>
              <a:t>CNPJ 54871427000194 · Duração e público-alvo · Demonstrações Financeiras - Fusão, cisão e incorporação · ID 1219522 · 2026-02-02 · versão 1 · p. 11 · https://fnet.bmfbovespa.com.br/fnet/publico/visualizarDocumento?id=1219522</a:t>
            </a:r>
          </a:p>
          <a:p>
            <a:r>
              <a:t>CNPJ 54871427000194 · Duração e público-alvo · Excerto da fonte:</a:t>
            </a:r>
          </a:p>
          <a:p>
            <a:r>
              <a:t>O Consignado Delta Receivables I Fundo de Investimento em Direitos Creditórios possui uma classe única de cotas, denominada Classe Única de Responsabilidade Limitada do Consignado Delta Receivables I Fundo de Investimento em Direitos Creditórios (“Classe”). A Classe foi constituída em 19 de abril de 2024, sob a forma de condomínio fechado e iniciou suas operações em 27 de maio de 2024. A Classe possui prazo de duração Indeterminado.</a:t>
            </a:r>
          </a:p>
          <a:p>
            <a:r>
              <a:t>CNPJ 54871427000194 · Duração e público-alvo · Condição: Documentos atuais selecionados no inventário por categoria/escopo; a data documental isolada não comprova vigência jurídica.</a:t>
            </a:r>
          </a:p>
          <a:p>
            <a:r>
              <a:t>CNPJ 54871427000194 · Duração e público-alvo · Versão e prevalência: Documentos atuais selecionados no inventário por categoria/escopo; a data documental isolada não comprova vigência jurídica.</a:t>
            </a:r>
          </a:p>
          <a:p>
            <a:r>
              <a:t>CNPJ 54871427000194 · Duração e público-alvo · Resumo do histórico: {"count": 11, "dates": ["2024-12-31", "2025-01-01", "2025-12-31"], "document_count": 3, "sources": [{"document_id": "1151805", "title": "Demonstrações Financeiras", "reference_date": "2025-12-31", "version": "1", "page": 11, "url": "https://fnet.bmfbovespa.com.br/fnet/publico/visualizarDocumento?id=1151805", "sha256": "f1cea70b152968bf96ef9221b27225953cb20aeef487b2798db3c25e11b528d4"}, {"document_id": "869529", "title": "Demonstrações Financeiras", "reference_date": "2025-01-01", "version": "1", "page": 11, "url": "https://fnet.bmfbovespa.com.br/fnet/publico/visualizarDocumento?id=869529", "sha256": "9a93a9369ac8efdbc54ff8fcee3ccac3abf88edab4807b9323d3852450771b2a"}, {"document_id": "870070", "title": "Demonstrações Financeiras", "reference_date": "2024-12-31", "version": "1", "page": 11, "url": "https://fnet.bmfbovespa.com.br/fnet/publico/visualizarDocumento?id=870070", "sha256": "9a93a9369ac8efdbc54ff8fcee3ccac3abf88edab4807b9323d3852450771b2a"}], "reference": {"path": "history/54871427000194.json", "criterion_id": "duration_investors", "total_count": 11, "preview_count": 3, "full_text_deferred": true, "sha256": "35d7cd99be50c7287c9fb675cf4f2e736002315295a225a9efa79c8d9186d874"}}</a:t>
            </a:r>
          </a:p>
          <a:p>
            <a:r>
              <a:t>CNPJ 60010416000112 · Duração e público-alvo · Demonstrações Financeiras - Fusão, cisão e incorporação · ID 1298690 · 2026-05-08 · versão 1 · p. 9 · https://fnet.bmfbovespa.com.br/fnet/publico/visualizarDocumento?id=1298690</a:t>
            </a:r>
          </a:p>
          <a:p>
            <a:r>
              <a:t>CNPJ 60010416000112 · Duração e público-alvo · Excerto da fonte:</a:t>
            </a:r>
          </a:p>
          <a:p>
            <a:r>
              <a:t>1. Contexto operacional  O MT Consignado Privado I Fundo de Investimento em Direitos Creditórios (“Fundo”) possui uma  classe única de cotas, denominada Classe Única do MT I Consignado Privado I Fundo de  Investimento em Direitos Creditórios Responsabilidade Limitada (“Classe”). A Classe foi  constituída em 20 de março de 2025, sob a forma de condomínio fechado e iniciou suas  operações em 21 de março de 2025. A Classe possui prazo de duração indeterminado.</a:t>
            </a:r>
          </a:p>
          <a:p>
            <a:r>
              <a:t>CNPJ 60010416000112 · Duração e público-alvo · Demonstrações Financeiras - Fusão, cisão e incorporação · ID 1298690 · 2026-05-08 · versão 1 · p. 22 · https://fnet.bmfbovespa.com.br/fnet/publico/visualizarDocumento?id=1298690</a:t>
            </a:r>
          </a:p>
          <a:p>
            <a:r>
              <a:t>CNPJ 60010416000112 · Duração e público-alvo · Excerto da fonte:</a:t>
            </a:r>
          </a:p>
          <a:p>
            <a:r>
              <a:t>(ii) Riscos do mercado secundário: A Classe é constituída sob a forma de condomínio  fechado, de modo que as Cotas Subordinadas somente serão resgatadas em virtude da  liquidação da Classe e as Cotas Seniores ao término do seu prazo de duração, conforme  estabelecidos nos respectivos Suplementos. Uma vez que o prazo de duração da Classe  é indeterminado, o Cotista titular das Cotas Subordinadas não terá liquidez em seu  investimento na Classe, exceto (a) por ocasião das amortizações e dos resgates, nos  termos do Regulamento; (b) por meio da alienação de suas Cotas no mercado  secundário, observado, neste caso, que sua alienação apenas é permitida para o Público-  Alvo das Cotas Subordinadas; ou (c) na liquidação antecipada do Fundo ou da Classe.</a:t>
            </a:r>
          </a:p>
          <a:p>
            <a:r>
              <a:t> Além disso, atualmente, o mercado secundário de cotas de fundos de investimento  apresenta baixa liquidez, o que pode dificultar a venda das Cotas ou ocasionar a obtenção  de um preço de venda que cause perda de patrimônio ao Cotista. Não há qualquer  garantia da Administradora, da Gestora, da consultora ou do Custodiante em relação à  possibilidade de venda das Cotas no mercado secundário ou ao preço obtido por elas,  ou mesmo garantia de saída ao Cotista.</a:t>
            </a:r>
          </a:p>
          <a:p>
            <a:r>
              <a:t>CNPJ 60010416000112 · Duração e público-alvo · Condição: Documentos atuais selecionados no inventário por categoria/escopo; a data documental isolada não comprova vigência jurídica.</a:t>
            </a:r>
          </a:p>
          <a:p>
            <a:r>
              <a:t>CNPJ 60010416000112 · Duração e público-alvo · Versão e prevalência: Documentos atuais selecionados no inventário por categoria/escopo; a data documental isolada não comprova vigência jurídica.</a:t>
            </a:r>
          </a:p>
          <a:p>
            <a:r>
              <a:t>CNPJ 60010416000112 · Duração e público-alvo · Resumo do histórico: {"count": 9, "dates": ["2025-11-30", "2026-03-18", "2026-04-16"], "document_count": 3, "sources": [{"document_id": "1282181", "title": "Demonstrações Financeiras - Fusão, cisão e incorporação", "reference_date": "2026-04-16", "version": "1", "page": 23, "url": "https://fnet.bmfbovespa.com.br/fnet/publico/visualizarDocumento?id=1282181", "sha256": "b1c6566e43a00bcd00c8a7f30c77b7f86e351bd8e355bbea113f46d1dafda703"}, {"document_id": "1224477", "title": "Demonstrações Financeiras - Fusão, cisão e incorporação", "reference_date": "2026-03-18", "version": "1", "page": 23, "url": "https://fnet.bmfbovespa.com.br/fnet/publico/visualizarDocumento?id=1224477", "sha256": "0751bf0a75bc3b44c2748f5000226665c6ec6698a90c4dc6170b4e6c187759ae"}, {"document_id": "1126154", "title": "Demonstrações Financeiras", "reference_date": "2025-11-30", "version": "1", "page": 23, "url": "https://fnet.bmfbovespa.com.br/fnet/publico/visualizarDocumento?id=1126154", "sha256": "a01e7ccf88c548f12c95cba8526d7efbef6b585c112cd4668eca781c292090b0"}], "reference": {"path": "history/60010416000112.json", "criterion_id": "duration_investors", "total_count": 9, "preview_count": 3, "full_text_deferred": true, "sha256": "8e2bd813f4c51cf01f6bfaad164bafe69d2bbb192f753eac92da3a01c2e63046"}}</a:t>
            </a:r>
          </a:p>
          <a:p>
            <a:r>
              <a:t>CNPJ 62696791000193 · Duração e público-alvo · Regulamento · ID 1143317 · 2026-03-20 · versão 1 · p. 18 · 8.8.1 · https://fnet.bmfbovespa.com.br/fnet/publico/visualizarDocumento?id=1143317</a:t>
            </a:r>
          </a:p>
          <a:p>
            <a:r>
              <a:t>CNPJ 62696791000193 · Duração e público-alvo · Excerto da fonte:</a:t>
            </a:r>
          </a:p>
          <a:p>
            <a:r>
              <a:t>8.8.1 As Chamadas de Capital para a realização de investimentos serão realizadas a qualquer  momento durante o Período de Investimento e estarão limitadas ao valor do capital subscrito  de cada Cotista. As Chamadas de Capital para o pagamento de despesas e encargos do Fundo  poderão ser realizadas a qualquer momento durante o Prazo de Duração, mas não estarão  limitadas ao valor do capital subscrito de cada Cotista.</a:t>
            </a:r>
          </a:p>
          <a:p>
            <a:r>
              <a:t>CNPJ 62696791000193 · Duração e público-alvo · Regulamento · ID 1143317 · 2026-03-20 · versão 1 · p. 20 · 9.5.1 · https://fnet.bmfbovespa.com.br/fnet/publico/visualizarDocumento?id=1143317</a:t>
            </a:r>
          </a:p>
          <a:p>
            <a:r>
              <a:t>CNPJ 62696791000193 · Duração e público-alvo · Excerto da fonte:</a:t>
            </a:r>
          </a:p>
          <a:p>
            <a:r>
              <a:t>9.5.1 Ao f inal do Prazo de Duração ou quando da liquidação antecipada da Classe, todas as Cotas  deverão ter seu valor integralmente amortizado. Não havendo recursos em moeda corrente  nacional suficientes para realizar o pagamento da amortização total das Cotas em circulação à  época da liquidação da Classe, o Administrador deverá convocar a Assembleia Especial de  Cotistas a fim de deliberar sobre a prorrogação do Prazo de Duração ou o resgate de Cotas em  Direitos Creditórios do Agronegócio e/ou Outros Ativos .</a:t>
            </a:r>
          </a:p>
          <a:p>
            <a:r>
              <a:t>10 ASSEMBLEIA ESPECIAL DE COTISTAS</a:t>
            </a:r>
          </a:p>
          <a:p>
            <a:r>
              <a:t>CNPJ 62696791000193 · Duração e público-alvo · Regulamento · ID 1143317 · 2026-03-20 · versão 1 · p. 23 · 11.1 · https://fnet.bmfbovespa.com.br/fnet/publico/visualizarDocumento?id=1143317</a:t>
            </a:r>
          </a:p>
          <a:p>
            <a:r>
              <a:t>CNPJ 62696791000193 · Duração e público-alvo · Excerto da fonte:</a:t>
            </a:r>
          </a:p>
          <a:p>
            <a:r>
              <a:t>11.1 A Classe será liquidada (i) em caso da liquidação antecipada deliberada em Assembleia Especial de  Cotistas; ou (ii) pelo encerramento do Prazo de Duração da Classe.</a:t>
            </a:r>
          </a:p>
          <a:p>
            <a:r>
              <a:t>CNPJ 62696791000193 · Duração e público-alvo · Condição: Documentos atuais selecionados no inventário por categoria/escopo; a data documental isolada não comprova vigência jurídica.</a:t>
            </a:r>
          </a:p>
          <a:p>
            <a:r>
              <a:t>CNPJ 62696791000193 · Duração e público-alvo · Versão e prevalência: Documentos atuais selecionados no inventário por categoria/escopo; a data documental isolada não comprova vigência jurídica.</a:t>
            </a:r>
          </a:p>
          <a:p>
            <a:r>
              <a:t>CNPJ 55563624000109 · Duração e público-alvo · AGE · ID 1306189 · 2026-08-25 · versão 1 · p. 1 · 4.1 · https://fnet.bmfbovespa.com.br/fnet/publico/visualizarDocumento?id=1306189</a:t>
            </a:r>
          </a:p>
          <a:p>
            <a:r>
              <a:t>CNPJ 55563624000109 · Duração e público-alvo · Excerto da fonte:</a:t>
            </a:r>
          </a:p>
          <a:p>
            <a:r>
              <a:t>4.1 Nos termos do Anexo da Classe, aprovar:</a:t>
            </a:r>
          </a:p>
          <a:p>
            <a:r>
              <a:t>(i) a liquidação da Subclasse A da Classe, considerando o encerramento do seu prazo de duração, por meio do  resgate integral de Cotas da Subclasse A com entrega de financeiro aos Cotistas. Será utilizada como data  base no cálculo da cota do dia 25 de agosto de 2026, com efetivação no fechamento do dia 27 de agosto de  2026; e</a:t>
            </a:r>
          </a:p>
          <a:p>
            <a:r>
              <a:t>(ii) a liquidação antecipada da Subclasse C da Classe, por meio do resgate integral de Cotas da Subclasse C com  entrega de financeiro aos Cotistas. Será utilizada como data base no cálculo da cota do dia 25 de agosto de  2026, com efetivação no fechamento do dia 27 de agosto de 2026.</a:t>
            </a:r>
          </a:p>
          <a:p>
            <a:r>
              <a:t>CNPJ 55563624000109 · Duração e público-alvo · Condição: Documentos atuais selecionados no inventário por categoria/escopo; a data documental isolada não comprova vigência jurídica.</a:t>
            </a:r>
          </a:p>
          <a:p>
            <a:r>
              <a:t>CNPJ 55563624000109 · Duração e público-alvo · Versão e prevalência: Documentos atuais selecionados no inventário por categoria/escopo; a data documental isolada não comprova vigência jurídica.</a:t>
            </a:r>
          </a:p>
          <a:p>
            <a:r>
              <a:t>CNPJ 55563624000109 · Duração e público-alvo · Resumo do histórico: {"count": 6, "dates": ["2026-04-30"], "document_count": 2, "sources": [{"document_id": "1192614", "title": "Regulamento", "reference_date": "2026-04-30", "version": "1", "page": "9, 15, 45-50", "url": "https://fnet.bmfbovespa.com.br/fnet/publico/visualizarDocumento?id=1192614", "sha256": "f56e63ace0acde41d2f47fb48f1ac7f3f7df5e2d32de092d7c5e075a52516632"}, {"document_id": "1192614", "title": "Regulamento", "reference_date": "2026-04-30", "version": "1", "page": 5, "clause": "4.7.1", "url": "https://fnet.bmfbovespa.com.br/fnet/publico/visualizarDocumento?id=1192614", "sha256": "f56e63ace0acde41d2f47fb48f1ac7f3f7df5e2d32de092d7c5e075a52516632"}, {"document_id": "1192603", "title": "AGE", "reference_date": "2026-04-30", "version": "1", "page": 1, "clause": "4.1", "url": "https://fnet.bmfbovespa.com.br/fnet/publico/visualizarDocumento?id=1192603", "sha256": "f53ff2a5b715f5365536305a098f9cc0c54b5a01128942d784915bed8eeb0288"}], "reference": {"path": "history/55563624000109.json", "criterion_id": "duration_investors", "total_count": 6, "preview_count": 3, "full_text_deferred": true, "sha256": "7835d573fb58a3c19adf5b8ecc2aee2bdbb9a88f7a0c0209b5f262b64c7522e3"}}</a:t>
            </a:r>
          </a:p>
          <a:p>
            <a:r>
              <a:t>CNPJ 62552447000120 · Duração e público-alvo · Regulamento · ID 1200623 · 2026-05-21 · versão 1 · p. 22 · 10.4 · https://fnet.bmfbovespa.com.br/fnet/publico/visualizarDocumento?id=1200623</a:t>
            </a:r>
          </a:p>
          <a:p>
            <a:r>
              <a:t>CNPJ 62552447000120 · Duração e público-alvo · Excerto da fonte:</a:t>
            </a:r>
          </a:p>
          <a:p>
            <a:r>
              <a:t>10.4 Tendo em vista que a Classe é exclusivamente destinada a Investidores Profissionais, não serão  aplicáveis as vedações ao direito a voto em assembleia de cotistas dispostas no artigo 78 da Resolução  CVM 175, conf orme disposto no artigo 114 da ref erida Resolução.</a:t>
            </a:r>
          </a:p>
          <a:p>
            <a:r>
              <a:t>CNPJ 62552447000120 · Duração e público-alvo · Regulamento · ID 1200623 · 2026-05-21 · versão 1 · p. 35 · https://fnet.bmfbovespa.com.br/fnet/publico/visualizarDocumento?id=1200623</a:t>
            </a:r>
          </a:p>
          <a:p>
            <a:r>
              <a:t>CNPJ 62552447000120 · Duração e público-alvo · Excerto da fonte:</a:t>
            </a:r>
          </a:p>
          <a:p>
            <a:r>
              <a:t>ativos desses emissores, causando perdas à Classe e ao Cotista. Além disso, a f alta de capacidade ou disposição de pagar por qualquer dos emissores dos Ativos Financeiros de Liquidez ou das contrapartes nas transações que compõem a Carteira causará perdas à Classe, e o que também poderá incorrer em custos para f ins de recuperação de seus recebíveis.</a:t>
            </a:r>
          </a:p>
          <a:p>
            <a:r>
              <a:t>(v) Riscos associados aos Devedores: no caso de Devedores no âmbito das operações de consignado privado, a sua capacidade de pagamento poderá ser af etada se, por exemplo, o Devedor tiver o seu contrato de emprego rescindido ou em virtude de decisão judicial, o Devedor for obrigado a pagar alimentos, que têm prioridade sobre o empréstimo para f ins de desconto na f 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 etar a rentabilidade da Classe. Já no caso de Devedores no âmbito das operações de Saque-aniversário, como os Direitos Creditórios a serem endossados à Classe serão descontados pelo FGTS da remuneração do Devedor, na ocorrência de qualquer evento que, nos termos da legislação aplicável, determine o pagamento antecipado do Saque-aniversário ao Devedor, a exemplo do falecimento do Devedor, dentre outros, as parcelas do Saque- aniversário serão pagas antecipadamente e a Classe deverá utilizar tais montantes no pré-pagamento dos Direitos Creditórios. Nesta hipótese, a Classe poderá não encontrar Direitos Creditórios disponíveis para serem adquiridos pela Classe, o que poderá af etar a rentabilidade da Classe.</a:t>
            </a:r>
          </a:p>
          <a:p>
            <a:r>
              <a:t>Risco de liquidez</a:t>
            </a:r>
          </a:p>
          <a:p>
            <a:r>
              <a:t>(i) Risco de liquidez: consiste no risco de redução ou inexistência de demanda pelos ativos que compõem a Classe nos respectivos mercados em que são negociados, devido às condições específicas desses ativos ou aos mercados em que são negociados. Devido a esses riscos, o Gestor poderá encontrar dificuldades em liquidar posições ou negociar esses ativos pelo preço e prazo desejados, de acordo com a estratégia de gestão adotada pela Classe, que permanecerá exposto, durante o período de baixa liquidez, aos riscos associados a esses ativos e posições assumidas em mercados de derivativos, se houver, que poderão até exigir que o Gestor aceite descontos em seus preços para realizar negociações no mercado. Esses f atores poderão prejudicar o pagamento de Amortizações ao Cotista, nos valores e dentro dos termos aqui estabelecidos.</a:t>
            </a:r>
          </a:p>
          <a:p>
            <a:r>
              <a:t>(ii) Riscos do mercado secundário: A Classe é constituída sob a f orma de condomínio fechado, de modo que as Cotas somente serão resgatadas em virtude da liquidação da Classe. Uma vez que o Prazo de Duração da Classe é indeterminado, o Cotista titular das Cotas não terá liquidez em seu investimento na Classe, exceto</a:t>
            </a:r>
          </a:p>
          <a:p>
            <a:r>
              <a:t>(a) por ocasião das Amortizações e dos resgates, nos termos deste Regulamento; (b) por meio da alienação de suas Cotas no mercado secundário; ou (c) na liquidação antecipada do FUNDO ou da Classe.</a:t>
            </a:r>
          </a:p>
          <a:p>
            <a:r>
              <a:t>Além disso, atualmente, o mercado secundário de cotas de fundos de investimento apresenta baixa liquidez, o que pode dificultar a venda das Cotas ou ocasionar a obtenção de um preço de venda que cause perda de patrimônio ao Cotista. Não há qualquer garantia do Administrador, do Gestor, da consultora ou do Custodiante em relação à possibilidade de venda das Cotas no mercado secundário ou ao preço obtido por elas, ou mesmo garantia de saída ao Cotista.</a:t>
            </a:r>
          </a:p>
          <a:p>
            <a:r>
              <a:t>Riscos específicos</a:t>
            </a:r>
          </a:p>
          <a:p>
            <a:r>
              <a:t>(i)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ficar inadimplente e, consequentemente, não haverá repasse à Classe do respectivo Direito Creditório, o que poderá resultar em perdas f inanceiras à Classe e aos Cotistas. Para os f ins deste Regulamento, “Empregador” signif ica a empresa com qual o Devedor mantém vínculo empregatício registrado junto à CTPS.</a:t>
            </a:r>
          </a:p>
          <a:p>
            <a:r>
              <a:t>(ii) Risco do Empregador não efetuar o desconto em folha: o repasse dos recursos oriundos dos Direitos Creditórios à Classe depende da realização, pelo Empregador, da escrituração da Consignação a ser</a:t>
            </a:r>
          </a:p>
          <a:p>
            <a:r>
              <a:t>CNPJ 62552447000120 · Duração e público-alvo · Regulamento · ID 1200623 · 2026-05-21 · versão 1 · p. 1 · 1.3 · https://fnet.bmfbovespa.com.br/fnet/publico/visualizarDocumento?id=1200623</a:t>
            </a:r>
          </a:p>
          <a:p>
            <a:r>
              <a:t>CNPJ 62552447000120 · Duração e público-alvo · Excerto da fonte:</a:t>
            </a:r>
          </a:p>
          <a:p>
            <a:r>
              <a:t>1.3 Durante o seu prazo de duração, o Fundo, por ato conjunto dos Prestadores de Serviços Essenciais,  poderá constituir diferentes Classes e Subclasses , sendo que cada Classe terá patrimônio segregado e</a:t>
            </a:r>
          </a:p>
          <a:p>
            <a:r>
              <a:t>CNPJ 62552447000120 · Duração e público-alvo · Condição: Documentos atuais selecionados no inventário por categoria/escopo; a data documental isolada não comprova vigência jurídica.</a:t>
            </a:r>
          </a:p>
          <a:p>
            <a:r>
              <a:t>CNPJ 62552447000120 · Duração e público-alvo · Versão e prevalência: Documentos atuais selecionados no inventário por categoria/escopo; a data documental isolada não comprova vigência jurídica.</a:t>
            </a:r>
          </a:p>
          <a:p>
            <a:r>
              <a:t>CNPJ 62552447000120 · Duração e público-alvo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"duration_investors", "total_count": 1, "preview_count": 1, "full_text_deferred": true, "sha256": "d95db8c0613d67ee84118c734588665265ea6b02f86a0318d6a844cbe1d0f82f"}}</a:t>
            </a:r>
          </a:p>
          <a:p>
            <a:r>
              <a:t>CNPJ 63953620000165 · Duração e público-alvo · Anexo ao Regulamento · ID 1222863 · 2026-06-02 · versão 1 · p. 2 · https://fnet.bmfbovespa.com.br/fnet/publico/visualizarDocumento?id=1222863</a:t>
            </a:r>
          </a:p>
          <a:p>
            <a:r>
              <a:t>CNPJ 63953620000165 · Duração e público-alvo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Duração e público-alvo · Anexo ao Regulamento · ID 1222863 · 2026-06-02 · versão 1 · p. 1 · 1.1 · https://fnet.bmfbovespa.com.br/fnet/publico/visualizarDocumento?id=1222863</a:t>
            </a:r>
          </a:p>
          <a:p>
            <a:r>
              <a:t>CNPJ 63953620000165 · Duração e público-alvo · Excerto da fonte:</a:t>
            </a:r>
          </a:p>
          <a:p>
            <a:r>
              <a:t>1.1 As principais características da Classe Consignado Privado (para fins deste Anexo, “Classe”) estão descritas  abaixo:</a:t>
            </a:r>
          </a:p>
          <a:p>
            <a:r>
              <a:t> Tipo de Condomínio Fechado.</a:t>
            </a:r>
          </a:p>
          <a:p>
            <a:r>
              <a:t> Indeterminado, exceto se de outra forma vier a ser deliberado pelos Cotistas  Prazo de Duração  reunidos em Assembleia Especial de Cotistas. (“Prazo de Duração”)  Tipo “Financeiro”.</a:t>
            </a:r>
          </a:p>
          <a:p>
            <a:r>
              <a:t> Classificação ANBIMA  Foco de atuação “Créditos Consignados”.</a:t>
            </a:r>
          </a:p>
          <a:p>
            <a:r>
              <a:t> O objetivo da classe é proporcionar aos seus Cotistas a valorização de suas Cotas  por meio da aplicação de seu Patrimônio Líquido (conforme definido abaixo) na  aquisição de: (i) “Direitos Creditórios Crédito Consignado”, representados por  cédula de crédito bancário regida pela Lei nº 10.931, emitida eletronicamente por  um devedor em favor do endossante (“CCB”) e, consequentemente, os recebíveis  decorrente de cada uma das parcelas vincendas, representando um empréstimo  consignado concedido pelo endossante ao devedor, e cujo pagamento ordinário  é feito por desconto de cada prestação vincenda de uma CCB na folha de  pagamentos do devedor (“Consignação”), efetuada pela Caixa Econômica  Federal, de acordo com a legislação aplicável e em conformidade com os  procedimentos estabelecidos no convênio celebrado entre o Endossante e a  Empresa de Tecnologia e Informações da Previdência – DATAPREV e paga na  Conta Vinculada do Endossante (“Convênio Consignado Privado”); e/ou (ii)  “Direitos Creditórios TVM”, representados por direitos, títulos e/ou valores  mobiliários representativos de créditos originados no âmbito de operações de  sociedades integrantes do conglomerado econômico de instituições financeiras  classificadas como S1 pelo BACEN, desde que não representem títulos de  emissão ou coobrigação de instituições financeiras, bem como cotas de fundos  de investimento que invistam preponderantemente nestes direitos, títulos e/ou  Objetivo  valores mobiliários (Direitos Creditórios TVM quando referidos em conjunto  com os Direitos Creditórios Consignado Privado, “Direitos Creditórios”)  observados todos os limites de composição e diversificação da carteira da Classe  (“Carteira”), estabelecidos neste Regulamento e na regulamentação aplicável.</a:t>
            </a:r>
          </a:p>
          <a:p>
            <a:r>
              <a:t> Subsidiariamente, a parcela do Patrimônio Líquido que não esteja alocada em  Direitos Creditórios poderá estar alocado em: (1) certificados de depósito  bancário (CDB) ou recibos de depósito bancário (RDB) com prazo máximo de  vencimento equivalente ao prazo remanescente do Período de Investimento, com  liquidez diária, emitidos por Parati Crédito, Financiamento e Investimento S.A.</a:t>
            </a:r>
          </a:p>
          <a:p>
            <a:r>
              <a:t> e/ou pelo Endossante (“Ativos de Liquidez MT”); e/ou (2) (i) moeda corrente  nacional; (ii) títulos do Tesouro SELIC, anteriormente denominado letra financeira  do Tesouro Nacional (LFT); (iii) certificados de depósito bancário (CDB) ou recibos  de depósito bancário (RDB) com prazo máximo de vencimento equivalente ao  prazo remanescente do Período de Investimento, com liquidez diária, emitidos  por (a) Itaú Unibanco S.A.; (b) Banco Bradesco S.A.; (c) Caixa Econômica Federal;</a:t>
            </a:r>
          </a:p>
          <a:p>
            <a:r>
              <a:t> (d) Banco do Brasil S.A.; (e) Banco Santander (Brasil) S.A.; (f) Banco BTG Pactual  S.A.; (g) Banco Sistema S.A. (“Instituições Autorizadas”); (iv) operações  compromissadas, desde que lastreadas nos títulos mencionados nas alíneas (i) a</a:t>
            </a:r>
          </a:p>
          <a:p>
            <a:r>
              <a:t> (iii) acima, emitidas por Instituições Autorizadas, com liquidez diária e vencimento</a:t>
            </a:r>
          </a:p>
          <a:p>
            <a:r>
              <a:t>CNPJ 63953620000165 · Duração e público-alvo · Anexo ao Regulamento · ID 1222863 · 2026-06-02 · versão 1 · p. 10 · 6.7.1 · https://fnet.bmfbovespa.com.br/fnet/publico/visualizarDocumento?id=1222863</a:t>
            </a:r>
          </a:p>
          <a:p>
            <a:r>
              <a:t>CNPJ 63953620000165 · Duração e público-alvo · Excerto da fonte:</a:t>
            </a:r>
          </a:p>
          <a:p>
            <a:r>
              <a:t>6.7.1 As Chamadas de Capital para a realização de investimentos serão realizadas a qualquer momento  durante o Período de Investimento e estarão limitadas ao valor do capital subscrito de cada Cotista. As  Chamadas de Capital para o pagamento de despesas e encargos do Fundo, com exceção de despesas  relacionadas à instrumentos de derivativos e/ou Encargos não previstos no âmbito deste regulamento,  poderão ser realizadas a qualquer momento durante o Prazo de Duração, mas não estarão limitadas ao  valor do capital subscrito de cada Cotista.</a:t>
            </a:r>
          </a:p>
          <a:p>
            <a:r>
              <a:t>CNPJ 63953620000165 · Duração e público-alvo · Condição: Documentos atuais selecionados no inventário por categoria/escopo; a data documental isolada não comprova vigência jurídica.</a:t>
            </a:r>
          </a:p>
          <a:p>
            <a:r>
              <a:t>CNPJ 63953620000165 · Duração e público-alvo · Versão e prevalência: Documentos atuais selecionados no inventário por categoria/escopo; a data documental isolada não comprova vigência jurídica.</a:t>
            </a:r>
          </a:p>
          <a:p>
            <a:r>
              <a:t>CNPJ 63953620000165 · Duração e público-alvo · Resumo do histórico: {"count": 8, "dates": ["2026-04-28", "2026-05-08", "2026-05-15"], "document_count": 3, "sources": [{"document_id": "1327859", "title": "Demonstrações Financeiras - Fusão, cisão e incorporação", "reference_date": "2026-05-15", "version": "1", "page": 9, "url": "https://fnet.bmfbovespa.com.br/fnet/publico/visualizarDocumento?id=1327859", "sha256": "dca1c68babb97f887528c3e2e47596a9c30f507b067981a35655b2f2da9c8054"}, {"document_id": "1298691", "title": "Demonstrações Financeiras - Fusão, cisão e incorporação", "reference_date": "2026-05-08", "version": "1", "page": 9, "url": "https://fnet.bmfbovespa.com.br/fnet/publico/visualizarDocumento?id=1298691", "sha256": "58c570d9b8d4d265330d3db3ea81c435b8e44a6dab4002aa37790652a1ee9819"}, {"document_id": "1282180", "title": "Demonstrações Financeiras - Fusão, cisão e incorporação", "reference_date": "2026-04-28", "version": "1", "page": 9, "url": "https://fnet.bmfbovespa.com.br/fnet/publico/visualizarDocumento?id=1282180", "sha256": "afaaa0e6809be4385e5bdb6c911aac582032c5bdbac3d7750234bf9eaf00438a"}], "reference": {"path": "history/63953620000165.json", "criterion_id": "duration_investors",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Alocação e perímetro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Alocação mínima · Base da comparação IME: {"criterion_id": "allocation", "observed_value": 91.84981349574433, "unit": "percent", "competence": "08/2026", "status": "not_comparable", "reason": "Vigência efetiva não comprovada; data do documento isolada não certifica enquadramento histórico.", "formula": "credit_rights / net_asset_value × 100",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50.0}</a:t>
            </a:r>
          </a:p>
          <a:p>
            <a:r>
              <a:t>CNPJ 54871427000194 · Alocação mínima · Regulamento · ID 670691 · 28/04/2024 · versão Regulamento — referência 28/04/2024 · p. 11 · Anexo I, 4.9 · https://fnet.bmfbovespa.com.br/fnet/publico/visualizarDocumento?id=670691</a:t>
            </a:r>
          </a:p>
          <a:p>
            <a:r>
              <a:t>CNPJ 54871427000194 · Alocação mínima · Excerto da fonte:</a:t>
            </a:r>
          </a:p>
          <a:p>
            <a:r>
              <a:t>4.9 Decorridos 180 (cento e oitenta) dias da Data da 1ª Integralização de Cotas, a Classe deverá manter alocado, no mínimo, 50% (cinquenta por cento) do seu Patrimônio Líquido em Direitos Creditórios . 4.10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4.11 A Classe poderá, direta ou indiretamente e, nos termos da legislação aplicável: (i) adquirir Direitos Creditórios que sejam cedidos e/ou originados pelo ADMINISTRADOR e/ou pelo GESTOR, ou partes a eles relacionadas, tal como definidas pelas regras contábeis que tratam desse assunto; e (ii) ceder Direitos Creditórios a qualquer das pessoas, fundos de investimento ou entidades referidas n</a:t>
            </a:r>
          </a:p>
          <a:p>
            <a:r>
              <a:t>CNPJ 54871427000194 · Alocação mínima · Mecânica: {"operator": "&gt;=", "limit": 50.0, "unit": "percent", "numerator": "credit_rights", "denominator": "net_asset_value", "frequency": "daily", "layer": "54871427000194", "document_date": "2024-04-28", "effective_status": "document_date_only", "initial_days": 180}</a:t>
            </a:r>
          </a:p>
          <a:p>
            <a:r>
              <a:t>CNPJ 54871427000194 · Alocação mínima · Versão e prevalência: Leitura específica das cláusulas indicadas; condições e conflitos preservados. Seleção documental atual não comprova vigência jurídica por data isolada.</a:t>
            </a:r>
          </a:p>
          <a:p>
            <a:r>
              <a:t>CNPJ 54871427000194 · Alocação mínima · Resumo do histórico: {"count": 2, "dates": ["2024-04-19", "2024-04-28"], "document_count": 2, "sources": [{"document_id": "670691", "title": "Regulamento", "reference_date": "2024-04-28", "version": "1", "page": "11", "url": "https://fnet.bmfbovespa.com.br/fnet/publico/visualizarDocumento?id=670691", "sha256": "bf16dd7f1a62d5cdbf2e2d54fef81783783f7310fbc99c3a8f00459bdf9d037b"}, {"document_id": "670689", "title": "Regulamento", "reference_date": "2024-04-19", "version": "1", "page": 11, "clause": "4.9", "url": "https://fnet.bmfbovespa.com.br/fnet/publico/visualizarDocumento?id=670689", "sha256": "891bc9bc5d87bbc02ec139077a84d2702eb81ea02035fb71d24f5b8366b94a0b"}], "reference": {"path": "history/54871427000194.json", "criterion_id": "allocation", "total_count": 2, "preview_count": 2, "full_text_deferred": true, "sha256": "35d7cd99be50c7287c9fb675cf4f2e736002315295a225a9efa79c8d9186d874"}}</a:t>
            </a:r>
          </a:p>
          <a:p>
            <a:r>
              <a:t>CNPJ 60010416000112 · Alocação mínima · Base da comparação IME: {"criterion_id": "allocation", "observed_value": 117.78665480900618, "unit": "percent", "competence": "08/2026", "status": "not_comparable", "reason": "Vigência efetiva não comprovada; data do documento isolada não certifica enquadramento histórico.", "formula": "credit_rights / net_asset_value × 100",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50.0}</a:t>
            </a:r>
          </a:p>
          <a:p>
            <a:r>
              <a:t>CNPJ 60010416000112 · Alocação mínima · Regulamento · ID 1051393 · 09/10/2025 · versão Regulamento09/10/2025 · p. 11 · AnexoI4.6 · https://fnet.bmfbovespa.com.br/fnet/publico/visualizarDocumento?id=1051393</a:t>
            </a:r>
          </a:p>
          <a:p>
            <a:r>
              <a:t>CNPJ 60010416000112 · Alocação mínima · Excerto da fonte:</a:t>
            </a:r>
          </a:p>
          <a:p>
            <a:r>
              <a:t>4.6 Decorridos 180 (cento e oitenta) dias do início de suas atividades, a Classe deverá manter alocado, no mínimo: para f ins tributários, 67% (sessenta e sete por cento) do seu Patrimônio Líquido em Direitos Creditórios, nos termos da Resolução CMN 5.111; e para fins regulatórios, 50% (cinquenta por cento) do seu Patrimônio Líquido em Direitos Creditórios, nos termos da Resolução CVM 175. BTG Pactual SAC: 0800 772 28 27 - Ouvidoria: 0800 722 00 48 - btgpactual.com 11</a:t>
            </a:r>
          </a:p>
          <a:p>
            <a:r>
              <a:t>CNPJ 60010416000112 · Alocação mínima · Mecânica: {"operator": "&gt;=", "unit": "percent", "denominator": "net_asset_value", "frequency": "not_stated", "layer": "class", "effective_status": "document_date_only", "document_date": "2025-10-09", "numerator": "credit_rights", "limit": 50.0, "requires_initial_date": true}</a:t>
            </a:r>
          </a:p>
          <a:p>
            <a:r>
              <a:t>CNPJ 60010416000112 · Alocação mínima · Versão e prevalência: Leitura específica das cláusulas indicadas; condições e conflitos preservados. Seleção documental atual não comprova vigência jurídica por data isolada.</a:t>
            </a:r>
          </a:p>
          <a:p>
            <a:r>
              <a:t>CNPJ 60010416000112 · Alocação mínima · Resumo do histórico: {"count": 2, "dates": ["2025-03-20", "2025-10-09"], "document_count": 2, "sources": [{"document_id": "1051393", "title": "Regulamento", "reference_date": "2025-10-09", "version": "1", "page": "11", "url": "https://fnet.bmfbovespa.com.br/fnet/publico/visualizarDocumento?id=1051393", "sha256": "8469d613078ffd5a6c1d217885d8a397a16342c0b937ae4aa24b106505f233ae"}, {"document_id": "993786", "title": "Regulamento", "reference_date": "2025-03-20", "version": "1", "page": 6, "clause": "5.3", "url": "https://fnet.bmfbovespa.com.br/fnet/publico/visualizarDocumento?id=993786", "sha256": "fd0fdd369a195510d81f81f505195a0b09e5f43522a990afa7d58c4f872921c8"}], "reference": {"path": "history/60010416000112.json", "criterion_id": "allocation", "total_count": 2, "preview_count": 2, "full_text_deferred": true, "sha256": "8e2bd813f4c51cf01f6bfaad164bafe69d2bbb192f753eac92da3a01c2e63046"}}</a:t>
            </a:r>
          </a:p>
          <a:p>
            <a:r>
              <a:t>CNPJ 62696791000193 · Alocação mínima · Base da comparação IME: {"criterion_id": "allocation", "observed_value": null, "unit": "percent", "competence": "08/2026", "status": "not_comparable", "reason": "Operador, unidade, numerador ou base contratual sem correspondência exata no IME; proxies de PL/ativos não são intercambiáveis. CPR declarada no FIAGRO não comprova elegibilidade individual nem correspondência integral com a definição contratual de direitos creditórios do agronegócio.",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51.0, "comparison_required": true, "context_value": 99.72659520720684, "context_unit": "percent", "context_formula": "CPR / PL (rubrica declarada no FIAGRO)"}</a:t>
            </a:r>
          </a:p>
          <a:p>
            <a:r>
              <a:t>CNPJ 62696791000193 · Alocação mínima · Regulamento · ID 1143317 · 20/03/2026 · versão Regulamento — referência 20/03/2026 · p. 10 · Anexo I, 4.2 · https://fnet.bmfbovespa.com.br/fnet/publico/visualizarDocumento?id=1143317</a:t>
            </a:r>
          </a:p>
          <a:p>
            <a:r>
              <a:t>CNPJ 62696791000193 · Alocação mínima · Excerto da fonte:</a:t>
            </a:r>
          </a:p>
          <a:p>
            <a:r>
              <a:t>4.2 Decorridos 180 (cento e oitenta) dias do início de suas atividades, a Classe deverá possuir parcela mínima de 51% (cinquenta e um por cento) de seu Patrimônio Líquido representados por Direitos Creditórios do Agronegócio, enquanto a parcela de 49% (quarenta e nove por cento) remanescente deverá ser alocada em Outros Ativos ou Ativos Financeiros de Liquidez. 4.3 Os Direitos Creditórios do Agronegócio serão adquiridos integral ou parcialmente, sempre de acordo com a Política de Investimentos. 4.4 Tendo em vista (i) a natureza variada dos Direitos Creditórios do Agronegócio passíveis de aquisição pela Classe; (ii) a amplitude da Política de Investimentos; e (iii) a potencial diversificação de Cedentes/Endossantes e Devedores, não é possível precisar os processos de origem dos Direitos Creditórios do Agronegócio e as políticas de concessão de crédito adotadas pelos Cedentes/Endossantes. 4.5 Os Direitos Creditórios do Agronegócio deverão contar com toda a documentação necessária para o exercício das prerrogativas decorrentes da titularidade dos ativos, e capaz de comprovar a origem, a existência e a exigibilidade dos Direitos Creditórios do Agronegócio (“Documentos Comprobatórios”)</a:t>
            </a:r>
          </a:p>
          <a:p>
            <a:r>
              <a:t>CNPJ 62696791000193 · Alocação mínima · AGE · ID 1143319 · 20/03/2026 10:00 · versão AGE — referência 20/03/2026 10:00 · p. 3 · AGC 20/03/2026, 4.1(j)–(k) · https://fnet.bmfbovespa.com.br/fnet/publico/visualizarDocumento?id=1143319</a:t>
            </a:r>
          </a:p>
          <a:p>
            <a:r>
              <a:t>CNPJ 62696791000193 · Alocação mínima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Alocação mínima · Condição: Vigente a partir do fechamento de 23/03/2026. O agregado genérico de direitos do IME não comprova, sozinho, a natureza agronegócio de todos os ativos nem a conclusão da carência inicial.</a:t>
            </a:r>
          </a:p>
          <a:p>
            <a:r>
              <a:t>CNPJ 62696791000193 · Alocação mínima · Mecânica: {"operator": "&gt;=", "limit": 51.0, "unit": "percent", "numerator": "agribusiness_credit_rights", "denominator": "net_asset_value", "frequency": "daily", "layer": "62696791000193", "effective_from": "2026-03-23", "effective_status": "explicit_assembly_effective_date", "initial_days": 180, "initial_date": null}</a:t>
            </a:r>
          </a:p>
          <a:p>
            <a:r>
              <a:t>CNPJ 62696791000193 · Alocação mínima · Versão e prevalência: Leitura específica das cláusulas indicadas; condições e conflitos preservados. Seleção documental atual não comprova vigência jurídica por data isolada.</a:t>
            </a:r>
          </a:p>
          <a:p>
            <a:r>
              <a:t>CNPJ 55563624000109 · Alocação mínima · Base da comparação IME: {"criterion_id": "allocation", "observed_value": 99.87020304792446, "unit": "percent", "competence": "08/2026", "status": "not_comparable", "reason": "Vigência efetiva não comprovada; data do documento isolada não certifica enquadramento histórico.", "formula": "fidc_quotas / net_asset_value × 100",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67.0}</a:t>
            </a:r>
          </a:p>
          <a:p>
            <a:r>
              <a:t>CNPJ 55563624000109 · Alocação mínima · Regulamento · ID 1192614 · 30/04/2026 · versão Regulamento30/04/2026 · p. 13 · AnexoI4.10 · https://fnet.bmfbovespa.com.br/fnet/publico/visualizarDocumento?id=1192614</a:t>
            </a:r>
          </a:p>
          <a:p>
            <a:r>
              <a:t>CNPJ 55563624000109 · Alocação mínima · Excerto da fonte:</a:t>
            </a:r>
          </a:p>
          <a:p>
            <a:r>
              <a:t>4.10 Decorridos 180 (cento e oitenta) dias da Data da 1ª Integralização da Classe, a Classe deverá manter alocado, no mínimo, 67% (sessenta e sete por cento) do seu Patrimônio Líquido em Cotas da Classe Investida. 4.11 Nos termos dos artigos 45, parágrafo 7º, e 47 parágrafo único do Anexo Normativo II à Resolução CVM 175, uma vez que as Cotas são destinadas exclusivamente a Investidores Profissionais, a Classe poderá ter até 100% (cem por cento) de seu Patrimônio Líquido alocado em Cotas da Classe Investida, as quais são emitidas pela Classe Investida.</a:t>
            </a:r>
          </a:p>
          <a:p>
            <a:r>
              <a:t>CNPJ 55563624000109 · Alocação mínima · Regulamento · ID 1192614 · 30/04/2026 · versão Regulamento30/04/2026 · p. 12 · AnexoI4.9 · https://fnet.bmfbovespa.com.br/fnet/publico/visualizarDocumento?id=1192614</a:t>
            </a:r>
          </a:p>
          <a:p>
            <a:r>
              <a:t>CNPJ 55563624000109 · Alocação mínima · Excerto da fonte:</a:t>
            </a:r>
          </a:p>
          <a:p>
            <a:r>
              <a:t>4.9 A parcela do Patrimônio Líquido que não estiver alocada em Cotas da Classe Investida será necessariamente alocada em Ativos Financeiros de Liquidez. BTG Pactual SAC: 0800 772 28 27 - Ouvidoria: 0800 722 00 48 - btgpactual.com 5</a:t>
            </a:r>
          </a:p>
          <a:p>
            <a:r>
              <a:t>CNPJ 55563624000109 · Alocação mínima · Mecânica: {"operator": "&gt;=", "limit": 67.0, "unit": "percent", "numerator": "fidc_quotas", "denominator": "net_asset_value", "frequency": "not_stated", "layer": "class", "effective_status": "document_date_only", "document_date": "2026-04-30", "requires_initial_date": true}</a:t>
            </a:r>
          </a:p>
          <a:p>
            <a:r>
              <a:t>CNPJ 55563624000109 · Alocação mínima · Versão e prevalência: Leitura específica das cláusulas indicadas; condições e conflitos preservados. Seleção documental atual não comprova vigência jurídica por data isolada.</a:t>
            </a:r>
          </a:p>
          <a:p>
            <a:r>
              <a:t>CNPJ 55563624000109 · Alocação mínima · Resumo do histórico: {"count": 1, "dates": ["2026-04-30"], "document_count": 1, "sources": [{"document_id": "1192614", "title": "Regulamento", "reference_date": "2026-04-30", "version": "1", "page": "11-13", "url": "https://fnet.bmfbovespa.com.br/fnet/publico/visualizarDocumento?id=1192614", "sha256": "f56e63ace0acde41d2f47fb48f1ac7f3f7df5e2d32de092d7c5e075a52516632"}], "reference": {"path": "history/55563624000109.json", "criterion_id": "allocation", "total_count": 1, "preview_count": 1, "full_text_deferred": true, "sha256": "7835d573fb58a3c19adf5b8ecc2aee2bdbb9a88f7a0c0209b5f262b64c7522e3"}}</a:t>
            </a:r>
          </a:p>
          <a:p>
            <a:r>
              <a:t>CNPJ 62552447000120 · Alocação mínima · Base da comparação IME: {"criterion_id": "allocation", "observed_value": 104.36099466414683, "unit": "percent", "competence": "08/2026", "status": "not_comparable", "reason": "Vigência efetiva não comprovada; data do documento isolada não certifica enquadramento histórico.", "formula": "credit_rights / net_asset_value × 100",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50.0}</a:t>
            </a:r>
          </a:p>
          <a:p>
            <a:r>
              <a:t>CNPJ 62552447000120 · Alocação mínima · Regulamento · ID 1200623 · 21/05/2026 · versão Consolidado21/05/2026 aprovado pelo ato1200625 · p. 14 · AnexoI4.9 · https://fnet.bmfbovespa.com.br/fnet/publico/visualizarDocumento?id=1200623</a:t>
            </a:r>
          </a:p>
          <a:p>
            <a:r>
              <a:t>CNPJ 62552447000120 · Alocação mínima · Excerto da fonte:</a:t>
            </a:r>
          </a:p>
          <a:p>
            <a:r>
              <a:t>4.9 Decorridos 180 (cento e oitenta) dias da Data da Primeira Integralização, a Classe deverá manter alocados em Direitos Creditórios, no mínimo, para fins tributários, 67% (sessenta e sete por cento) do seu Patrimônio Líquido, nos termos da Lei 14.754 e da Resolução CMN 5.111, e, para fins regulatórios, 50% (cinquenta por cento) do seu Patrimônio Líquido, nos termos da Resolução CVM 175. Eventual desenquadramento da Carteira obrigará o Gestor aos procedimentos de desenquadramento e reenquadramento previstos na Lei 14.754 e na Resolução CMN 5.111, para f ins tributários, e na Resolução CVM 175, par</a:t>
            </a:r>
          </a:p>
          <a:p>
            <a:r>
              <a:t>CNPJ 62552447000120 · Alocação mínima · Mecânica: {"operator": "&gt;=", "unit": "percent", "numerator": "credit_rights", "denominator": "net_asset_value", "frequency": "not_stated", "layer": "class", "effective_status": "document_date_only", "document_date": "2026-05-21", "requires_initial_date": true, "limit": 50.0}</a:t>
            </a:r>
          </a:p>
          <a:p>
            <a:r>
              <a:t>CNPJ 62552447000120 · Alocação mínima · Versão e prevalência: Leitura específica das cláusulas indicadas; condições e conflitos preservados. Seleção documental atual não comprova vigência jurídica por data isolada.</a:t>
            </a:r>
          </a:p>
          <a:p>
            <a:r>
              <a:t>CNPJ 63953620000165 · Alocação mínima · Base da comparação IME: {"criterion_id": "allocation", "observed_value": 93.29241106598856, "unit": "percent", "competence": "08/2026", "status": "not_comparable", "reason": "Vigência efetiva não comprovada; data do documento isolada não certifica enquadramento histórico.", "formula": "credit_rights / net_asset_value × 100",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50.0}</a:t>
            </a:r>
          </a:p>
          <a:p>
            <a:r>
              <a:t>CNPJ 63953620000165 · Alocação mínima · Anexo ao Regulamento · ID 1222863 · 02/06/2026 · versão AnexoConsignadoPrivado02/06/2026 · p. 6 · 4.13 · https://fnet.bmfbovespa.com.br/fnet/publico/visualizarDocumento?id=1222863</a:t>
            </a:r>
          </a:p>
          <a:p>
            <a:r>
              <a:t>CNPJ 63953620000165 · Alocação mínima · Excerto da fonte:</a:t>
            </a:r>
          </a:p>
          <a:p>
            <a:r>
              <a:t>4.13 Decorridos 180 (cento e oitenta) dias do início de suas atividades, a Classe deverá manter alocado, no mínimo, para fins tributários, 67% (sessenta e sete por cento) do seu Patrimônio Líquido em Direitos Creditórios, nos termos da Resolução CMN 5.111, e para fins regulatórios, 50% (cinquenta por cento) do seu Patrimônio Líquido em Direitos Creditórios, nos termos da Resolução CVM 175. 4.14 Nos termos do Art. 45, §7º, inciso II, do Anexo Normativo II da Resolução CVM 175, a Classe poderá ter até 100% (cem por cento) de seu Patrimônio Líquido alocado em Direitos Creditórios, derivativos, observado o disposto nest</a:t>
            </a:r>
          </a:p>
          <a:p>
            <a:r>
              <a:t>CNPJ 63953620000165 · Alocação mínima · Mecânica: {"operator": "&gt;=", "unit": "percent", "denominator": "net_asset_value", "frequency": "not_stated", "layer": "class", "effective_status": "document_date_only", "document_date": "2026-06-02", "limit": 50.0, "numerator": "credit_rights", "requires_initial_date": true}</a:t>
            </a:r>
          </a:p>
          <a:p>
            <a:r>
              <a:t>CNPJ 63953620000165 · Alocação mínima · Versão e prevalência: Leitura específica das cláusulas indicadas; condições e conflitos preservados. Seleção documental atual não comprova vigência jurídica por data isolada.</a:t>
            </a:r>
          </a:p>
          <a:p>
            <a:r>
              <a:t>CNPJ 54871427000194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null, "comparison_required": true, "context_formula": "Direitos creditórios / PL", "context_value": 91.84981349574433, "context_unit": "percent"}</a:t>
            </a:r>
          </a:p>
          <a:p>
            <a:r>
              <a:t>CNPJ 54871427000194 · Alocação para tratamento tributário · Regulamento · ID 670691 · 2024-04-28 · versão 1 · p. 5 · https://fnet.bmfbovespa.com.br/fnet/publico/visualizarDocumento?id=670691</a:t>
            </a:r>
          </a:p>
          <a:p>
            <a:r>
              <a:t>CNPJ 54871427000194 · Alocação para tratamento tributário · Excerto da fonte:</a:t>
            </a:r>
          </a:p>
          <a:p>
            <a:r>
              <a:t>Os rendimentos auf eridos pelo cotista do FUNDO estarão sujeitos à tributação pelo IR, à alíquota de  15% (quinze por cento), na data da distribuição de rendimentos ou d a amortização de cotas,  considerando que o FUNDO seja classificado como entidade de investimento e cumpra os critérios de  composição da carteira com, no mínimo, 67% (sessenta e sete por cento) de direitos creditórios de  acordo com a Lei nº 14.754, de 12 de dezembro de 2023 (“Lei 14.754”) e a Resolução do Conselho  Monetário Nacional nº 5.111, de 21 de dezembro de 2023 (“Resolução CMN 5.111”).</a:t>
            </a:r>
          </a:p>
          <a:p>
            <a:r>
              <a:t>CNPJ 54871427000194 · Alocação para tratamento tributário · Regulamento · ID 670691 · 2024-04-28 · versão 1 · p. 5 · https://fnet.bmfbovespa.com.br/fnet/publico/visualizarDocumento?id=670691</a:t>
            </a:r>
          </a:p>
          <a:p>
            <a:r>
              <a:t>CNPJ 54871427000194 · Alocação para tratamento tributário · Excerto da fonte:</a:t>
            </a:r>
          </a:p>
          <a:p>
            <a:r>
              <a:t>A GESTORA do FUNDO buscará manter o cumprimento do requisito de composição da carteira do  FUNDO com, no mínimo 67% (sessenta e sete por cento) em direitos creditórios acima comentados.</a:t>
            </a:r>
          </a:p>
          <a:p>
            <a:r>
              <a:t> Todavia, caso a composição mínima do patrimônio líquido do FUNDO não seja atingida e ocorra o  ef etivo desenquadramento tributário da carteira, os cotistas pessoa f ísica ou jurídica residentes no  Brasil passarão a se sujeitar à regra geral de tributação de fundos, conforme previsto no art. 17 da Lei</a:t>
            </a:r>
          </a:p>
          <a:p>
            <a:r>
              <a:t> 14.754, segundo a qual: (1) haverá incidência periódica de IR todo mês de maio e novembro de cada  ano-calendário sobre os rendimentos auferidos pelo cotista em relação ao investimento nas cotas do  FUNDO, à alíquota de 15% (quinze por cento) ou 20% (vinte por cento), a depender da carteira do  FUNDO ser classificada, respectivamente, como de curto ou longo prazo; e (2) haverá incidência de IR  complementar, conforme alíquotas regressivas que variam de 22,5% (vinte e dois e meio por cento) a  15% (quinze por cento) a depender do prazo de aplicação, por ocasião da amortização ou liquidação  das Cotas do FUNDO. Certos tipos de investidor podem se benef iciar de alíquotas dif erenciadas.</a:t>
            </a:r>
          </a:p>
          <a:p>
            <a:r>
              <a:t>CNPJ 54871427000194 · Alocação para tratamento tributário · Condição: Documentos atuais selecionados no inventário por categoria/escopo; a data documental isolada não comprova vigência jurídica.</a:t>
            </a:r>
          </a:p>
          <a:p>
            <a:r>
              <a:t>CNPJ 54871427000194 · Alocação para tratamento tributário · Versão e prevalência: Documentos atuais selecionados no inventário por categoria/escopo; a data documental isolada não comprova vigência jurídica.</a:t>
            </a:r>
          </a:p>
          <a:p>
            <a:r>
              <a:t>CNPJ 54871427000194 · Alocação para tratamento tributário · Resumo do histórico: {"count": 1, "dates": ["2024-04-19"], "document_count": 1, "sources": [{"document_id": "670689", "title": "Regulamento", "reference_date": "2024-04-19", "version": "1", "page": 5, "url": "https://fnet.bmfbovespa.com.br/fnet/publico/visualizarDocumento?id=670689", "sha256": "891bc9bc5d87bbc02ec139077a84d2702eb81ea02035fb71d24f5b8366b94a0b"}], "reference": {"path": "history/54871427000194.json", "criterion_id": "tax_allocation", "total_count": 1, "preview_count": 1, "full_text_deferred": true, "sha256": "35d7cd99be50c7287c9fb675cf4f2e736002315295a225a9efa79c8d9186d874"}}</a:t>
            </a:r>
          </a:p>
          <a:p>
            <a:r>
              <a:t>CNPJ 60010416000112 · Alocação para tratamento tributário · Base da comparação IME: {"criterion_id": "tax_allocation", "observed_value": 117.78665480900618, "unit": "percent", "competence": "08/2026", "status": "not_comparable", "reason": "Vigência efetiva não comprovada; data do documento isolada não certifica enquadramento histórico.", "formula": "credit_rights / net_asset_value × 100",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67.0}</a:t>
            </a:r>
          </a:p>
          <a:p>
            <a:r>
              <a:t>CNPJ 60010416000112 · Alocação para tratamento tributário · Regulamento · ID 1051393 · 09/10/2025 · versão Regulamento09/10/2025 · p. 11 · AnexoI4.6 · https://fnet.bmfbovespa.com.br/fnet/publico/visualizarDocumento?id=1051393</a:t>
            </a:r>
          </a:p>
          <a:p>
            <a:r>
              <a:t>CNPJ 60010416000112 · Alocação para tratamento tributário · Excerto da fonte:</a:t>
            </a:r>
          </a:p>
          <a:p>
            <a:r>
              <a:t>4.6 Decorridos 180 (cento e oitenta) dias do início de suas atividades, a Classe deverá manter alocado, no mínimo: para f ins tributários, 67% (sessenta e sete por cento) do seu Patrimônio Líquido em Direitos Creditórios, nos termos da Resolução CMN 5.111; e para fins regulatórios, 50% (cinquenta por cento) do seu Patrimônio Líquido em Direitos Creditórios, nos termos da Resolução CVM 175. BTG Pactual SAC: 0800 772 28 27 - Ouvidoria: 0800 722 00 48 - btgpactual.com 11</a:t>
            </a:r>
          </a:p>
          <a:p>
            <a:r>
              <a:t>CNPJ 60010416000112 · Alocação para tratamento tributário · Mecânica: {"operator": "&gt;=", "unit": "percent", "denominator": "net_asset_value", "frequency": "not_stated", "layer": "class", "effective_status": "document_date_only", "document_date": "2025-10-09", "numerator": "credit_rights", "limit": 67.0, "requires_initial_date": true}</a:t>
            </a:r>
          </a:p>
          <a:p>
            <a:r>
              <a:t>CNPJ 60010416000112 · Alocação para tratamento tributário · Versão e prevalência: Leitura específica das cláusulas indicadas; condições e conflitos preservados. Seleção documental atual não comprova vigência jurídica por data isolada.</a:t>
            </a:r>
          </a:p>
          <a:p>
            <a:r>
              <a:t>CNPJ 60010416000112 · Alocação para tratamento tributário · Resumo do histórico: {"count": 1, "dates": ["2025-03-20"], "document_count": 1, "sources": [{"document_id": "993786", "title": "Regulamento", "reference_date": "2025-03-20", "version": "1", "page": 6, "clause": "5.3", "url": "https://fnet.bmfbovespa.com.br/fnet/publico/visualizarDocumento?id=993786", "sha256": "fd0fdd369a195510d81f81f505195a0b09e5f43522a990afa7d58c4f872921c8"}], "reference": {"path": "history/60010416000112.json", "criterion_id": "tax_allocation", "total_count": 1, "preview_count": 1, "full_text_deferred": true, "sha256": "8e2bd813f4c51cf01f6bfaad164bafe69d2bbb192f753eac92da3a01c2e63046"}}</a:t>
            </a:r>
          </a:p>
          <a:p>
            <a:r>
              <a:t>CNPJ 62696791000193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null, "comparison_required": true, "context_formula": "Direitos creditórios / PL", "context_value": null, "context_unit": "percent"}</a:t>
            </a:r>
          </a:p>
          <a:p>
            <a:r>
              <a:t>CNPJ 62696791000193 · Alocação para tratamento tributário · Regulamento · ID 1143317 · 2026-03-20 · versão 1 · p. 30 · https://fnet.bmfbovespa.com.br/fnet/publico/visualizarDocumento?id=1143317</a:t>
            </a:r>
          </a:p>
          <a:p>
            <a:r>
              <a:t>CNPJ 62696791000193 · Alocação para tratamento tributário · Excerto da fonte:</a:t>
            </a:r>
          </a:p>
          <a:p>
            <a:r>
              <a:t>Os rendimentos distribuídos pela Classe, de modo geral, sujeitam-se à incidência do IRF à alíquota  de 20% (vinte por cento), inclusive quando distribuídos à Cotista que seja pessoa jurídica isenta.</a:t>
            </a:r>
          </a:p>
          <a:p>
            <a:r>
              <a:t> Os ganhos de capital ou rendimentos auf eridos na alienação ou no resgate de cotas da Classe  sujeitam-se à tributação pelo IRF à alíquota de 20% (vinte por cento), no caso de resgate de cotas,  ou conforme normas aplicáveis aos ganhos de capital ou ganhos líquidos auf eridos em renda  variável, nos casos de alienação de cotas.</a:t>
            </a:r>
          </a:p>
          <a:p>
            <a:r>
              <a:t> O IRF pago será considerado: (i) antecipação da tributação corporativa para os investidores pessoa  jurídica (nos regimes de lucro real, presumido ou arbitrado); e (ii) def initivo, nos demais casos,  incluindo de investidores pessoas f ísicas.</a:t>
            </a:r>
          </a:p>
          <a:p>
            <a:r>
              <a:t> Não obstante o disposto no item acima, em conf ormidade com o disposto na Lei 11.033, com a  redação dada pela Lei nº 14.754, o cotista pessoa f ísica f icará isento do IRF e na declaração de  ajuste anual, sobre as distribuições de lucro realizadas pela Classe, exclusivamente na hipótese de  a Classe, cumulativamente: (a) possuir, no mínimo, 100 (cem) cotistas; e (b) as cotas serem  admitidas à negociação exclusivamente em bolsas de valores ou no mercado de balcão organizado.</a:t>
            </a:r>
          </a:p>
          <a:p>
            <a:r>
              <a:t> O benef ício não será concedido ao Cotista que for pessoa física, titular de cotas que representem  10% (dez por cento) ou mais da totalidade das cotas emitidas pela Classe ou cujas cotas lhe derem  direito ao recebimento de rendimento superior a 10% (dez por cento) do total de rendimentos  auf eridos pela Classe.</a:t>
            </a:r>
          </a:p>
          <a:p>
            <a:r>
              <a:t> O benef ício também não será concedido aos Cotistas pessoas físicas que, individualmente ou em  conjunto com parentes até segundo grau, sejam titulares de cotas que representem 30% (trinta por  cento) ou mais da totalidade das cotas emitidas pela Classe, ou ainda cujas cotas lhes derem direito  ao recebimento de rendimento superior a 30% (trinta por cento) do total de rendimentos auf eridos  pela Classe.</a:t>
            </a:r>
          </a:p>
          <a:p>
            <a:r>
              <a:t> Não há garantia de que o benef ício f iscal atualmente vigente não venha a ser posteriormente  restringido, suspenso, revogado ou extinto por legislação superveniente, ocasião na qual poderá vir  a incidir a tributação sobre os rendimentos distribuídos pela Classe, de acordo com os termos da  legislação que vier a estabelecer a incidência tributária.</a:t>
            </a:r>
          </a:p>
          <a:p>
            <a:r>
              <a:t>CNPJ 62696791000193 · Alocação para tratamento tributário · Condição: Documentos atuais selecionados no inventário por categoria/escopo; a data documental isolada não comprova vigência jurídica.</a:t>
            </a:r>
          </a:p>
          <a:p>
            <a:r>
              <a:t>CNPJ 62696791000193 · Alocação para tratamento tributário · Versão e prevalência: Documentos atuais selecionados no inventário por categoria/escopo; a data documental isolada não comprova vigência jurídica.</a:t>
            </a:r>
          </a:p>
          <a:p>
            <a:r>
              <a:t>CNPJ 55563624000109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null, "comparison_required": true, "context_formula": "Direitos creditórios / PL", "context_value": 0.0, "context_unit": "percent"}</a:t>
            </a:r>
          </a:p>
          <a:p>
            <a:r>
              <a:t>CNPJ 55563624000109 · Alocação para tratamento tributário · Regulamento · ID 1192614 · 2026-04-30 · versão 1 · p. 38 · https://fnet.bmfbovespa.com.br/fnet/publico/visualizarDocumento?id=1192614</a:t>
            </a:r>
          </a:p>
          <a:p>
            <a:r>
              <a:t>CNPJ 55563624000109 · Alocação para tratamento tributário · Excerto da fonte:</a:t>
            </a:r>
          </a:p>
          <a:p>
            <a:r>
              <a:t>(xiii) Risco de descaracterização do regime tributário aplicável à Classe. Caso (a) a Classe deixe de  cumprir com o percentual de, pelo menos, 67% (sessenta e sete por cento) do Patrimônio Líquido  aplicado em direitos creditórios, nos termos dos artigos 18, 19 e 24 da Lei 14.754, para fins de  enquadramento do FUNDO e da Classe como “Entidade de Investimento” na forma da Resolução do  CMN nº 5.111, de 21 de dezembro de 2023, conforme alterada, ou qualquer outra norma que venha  a substitui-la, sujeitando o FUNDO e a Classe ao “Regime Específico dos Fundos Não Sujeitos à  Tributação Periódica” conforme a na Seção III da Lei 14.754 ou deixe de satisfazer qualquer uma das  condições previstas na Lei 14.754, neste Anexo e/ou no Regulamento; e/ou (b) o FUNDO ou Classe  deixe de ser enquadrado como “Entidade de Investimento” na forma da Resolução do CMN nº 5.111,  de 21 de dezembro de 2023, ou demais normas do CMN e da CVM, não é possível garantir que o  FUNDO e/ou Classe continuarão a receber o tratamento tributário destinado ao “Regime Específico  dos Fundos Não Sujeitos à Tributação Periódica”, conforme definido na legislação específica.</a:t>
            </a:r>
          </a:p>
          <a:p>
            <a:r>
              <a:t>CNPJ 55563624000109 · Alocação para tratamento tributário · Regulamento · ID 1192614 · 2026-04-30 · versão 1 · p. 6 · https://fnet.bmfbovespa.com.br/fnet/publico/visualizarDocumento?id=1192614</a:t>
            </a:r>
          </a:p>
          <a:p>
            <a:r>
              <a:t>CNPJ 55563624000109 · Alocação para tratamento tributário · Excerto da fonte:</a:t>
            </a:r>
          </a:p>
          <a:p>
            <a:r>
              <a:t>No caso de Fundos de Investimento em Direitos Creditórios (FIDC) classificados como “entidade de investimento” e  cuja carteira seja composta por, no mínimo, 67% (sessenta e sete por cento) de direitos creditórios conforme definições  prescritas em regulamentação expedida pelo Conselho Monetário Nacional, os rendimentos auferidos na amortização  ou no resgate das cotas, inclusive quando decorrentes da liquidação do FUNDO, ficam sujeitos à incidência do IRF à  alíquota de 15% (quinze por cento) sobre a diferença positiva entre o valor de amortização ou resgate e o custo de  aquisição das Cotas.</a:t>
            </a:r>
          </a:p>
          <a:p>
            <a:r>
              <a:t>CNPJ 55563624000109 · Alocação para tratamento tributário · Condição: Documentos atuais selecionados no inventário por categoria/escopo; a data documental isolada não comprova vigência jurídica.</a:t>
            </a:r>
          </a:p>
          <a:p>
            <a:r>
              <a:t>CNPJ 55563624000109 · Alocação para tratamento tributário · Versão e prevalência: Documentos atuais selecionados no inventário por categoria/escopo; a data documental isolada não comprova vigência jurídica.</a:t>
            </a:r>
          </a:p>
          <a:p>
            <a:r>
              <a:t>CNPJ 55563624000109 · Alocação para tratamento tributário · Resumo do histórico: {"count": 2, "dates": ["2025-01-31", "2026-01-31"], "document_count": 2, "sources": [{"document_id": "1178840", "title": "Demonstrações Financeiras", "reference_date": "2026-01-31", "version": "1", "page": 23, "url": "https://fnet.bmfbovespa.com.br/fnet/publico/visualizarDocumento?id=1178840", "sha256": "c458e98664c5c907ddb5a05a94b120bed4e05295b2bfc420f5ba69af0a229abe"}, {"document_id": "891861", "title": "Demonstrações Financeiras", "reference_date": "2025-01-31", "version": "1", "page": 24, "url": "https://fnet.bmfbovespa.com.br/fnet/publico/visualizarDocumento?id=891861", "sha256": "e9cb9e6ddbe505fe068cfcac33605165a98313489de0d3ce6d4d238263c3f3e7"}], "reference": {"path": "history/55563624000109.json", "criterion_id": "tax_allocation", "total_count": 2, "preview_count": 2, "full_text_deferred": true, "sha256": "7835d573fb58a3c19adf5b8ecc2aee2bdbb9a88f7a0c0209b5f262b64c7522e3"}}</a:t>
            </a:r>
          </a:p>
          <a:p>
            <a:r>
              <a:t>CNPJ 62552447000120 · Alocação para tratamento tributário · Base da comparação IME: {"criterion_id": "tax_allocation", "observed_value": 104.36099466414683, "unit": "percent", "competence": "08/2026", "status": "not_comparable", "reason": "Vigência efetiva não comprovada; data do documento isolada não certifica enquadramento histórico.", "formula": "credit_rights / net_asset_value × 100",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67.0}</a:t>
            </a:r>
          </a:p>
          <a:p>
            <a:r>
              <a:t>CNPJ 62552447000120 · Alocação para tratamento tributário · Regulamento · ID 1200623 · 21/05/2026 · versão Consolidado21/05/2026 aprovado pelo ato1200625 · p. 14 · AnexoI4.9 · https://fnet.bmfbovespa.com.br/fnet/publico/visualizarDocumento?id=1200623</a:t>
            </a:r>
          </a:p>
          <a:p>
            <a:r>
              <a:t>CNPJ 62552447000120 · Alocação para tratamento tributário · Excerto da fonte:</a:t>
            </a:r>
          </a:p>
          <a:p>
            <a:r>
              <a:t>4.9 Decorridos 180 (cento e oitenta) dias da Data da Primeira Integralização, a Classe deverá manter alocados em Direitos Creditórios, no mínimo, para fins tributários, 67% (sessenta e sete por cento) do seu Patrimônio Líquido, nos termos da Lei 14.754 e da Resolução CMN 5.111, e, para fins regulatórios, 50% (cinquenta por cento) do seu Patrimônio Líquido, nos termos da Resolução CVM 175. Eventual desenquadramento da Carteira obrigará o Gestor aos procedimentos de desenquadramento e reenquadramento previstos na Lei 14.754 e na Resolução CMN 5.111, para f ins tributários, e na Resolução CVM 175, par</a:t>
            </a:r>
          </a:p>
          <a:p>
            <a:r>
              <a:t>CNPJ 62552447000120 · Alocação para tratamento tributário · Mecânica: {"operator": "&gt;=", "unit": "percent", "numerator": "credit_rights", "denominator": "net_asset_value", "frequency": "not_stated", "layer": "class", "effective_status": "document_date_only", "document_date": "2026-05-21", "requires_initial_date": true, "limit": 67.0}</a:t>
            </a:r>
          </a:p>
          <a:p>
            <a:r>
              <a:t>CNPJ 62552447000120 · Alocação para tratamento tributário · Versão e prevalência: Leitura específica das cláusulas indicadas; condições e conflitos preservados. Seleção documental atual não comprova vigência jurídica por data isolada.</a:t>
            </a:r>
          </a:p>
          <a:p>
            <a:r>
              <a:t>CNPJ 63953620000165 · Alocação para tratamento tributário · Base da comparação IME: {"criterion_id": "tax_allocation", "observed_value": 93.29241106598856, "unit": "percent", "competence": "08/2026", "status": "not_comparable", "reason": "Vigência efetiva não comprovada; data do documento isolada não certifica enquadramento histórico.", "formula": "credit_rights / net_asset_value × 100",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67.0}</a:t>
            </a:r>
          </a:p>
          <a:p>
            <a:r>
              <a:t>CNPJ 63953620000165 · Alocação para tratamento tributário · Anexo ao Regulamento · ID 1222863 · 02/06/2026 · versão AnexoConsignadoPrivado02/06/2026 · p. 6 · 4.13 · https://fnet.bmfbovespa.com.br/fnet/publico/visualizarDocumento?id=1222863</a:t>
            </a:r>
          </a:p>
          <a:p>
            <a:r>
              <a:t>CNPJ 63953620000165 · Alocação para tratamento tributário · Excerto da fonte:</a:t>
            </a:r>
          </a:p>
          <a:p>
            <a:r>
              <a:t>4.13 Decorridos 180 (cento e oitenta) dias do início de suas atividades, a Classe deverá manter alocado, no mínimo, para fins tributários, 67% (sessenta e sete por cento) do seu Patrimônio Líquido em Direitos Creditórios, nos termos da Resolução CMN 5.111, e para fins regulatórios, 50% (cinquenta por cento) do seu Patrimônio Líquido em Direitos Creditórios, nos termos da Resolução CVM 175. 4.14 Nos termos do Art. 45, §7º, inciso II, do Anexo Normativo II da Resolução CVM 175, a Classe poderá ter até 100% (cem por cento) de seu Patrimônio Líquido alocado em Direitos Creditórios, derivativos, observado o disposto nest</a:t>
            </a:r>
          </a:p>
          <a:p>
            <a:r>
              <a:t>CNPJ 63953620000165 · Alocação para tratamento tributário · Mecânica: {"operator": "&gt;=", "unit": "percent", "denominator": "net_asset_value", "frequency": "not_stated", "layer": "class", "effective_status": "document_date_only", "document_date": "2026-06-02", "limit": 67.0, "numerator": "credit_rights", "requires_initial_date": true}</a:t>
            </a:r>
          </a:p>
          <a:p>
            <a:r>
              <a:t>CNPJ 63953620000165 · Alocação para tratamento tributário · Versão e prevalência: Leitura específica das cláusulas indicadas; condições e conflitos preservados. Seleção documental atual não comprova vigência jurídica por data isolada.</a:t>
            </a:r>
          </a:p>
          <a:p>
            <a:r>
              <a:t>CNPJ 54871427000194 · Classes investidas e limites do FIC · Demonstrações Financeiras - Fusão, cisão e incorporação · ID 1219522 · 2026-02-02 · versão 1 · p. 31 · https://fnet.bmfbovespa.com.br/fnet/publico/visualizarDocumento?id=1219522</a:t>
            </a:r>
          </a:p>
          <a:p>
            <a:r>
              <a:t>CNPJ 54871427000194 · Classes investidas e limites do FIC · Excerto da fonte:</a:t>
            </a:r>
          </a:p>
          <a:p>
            <a:r>
              <a:t>xv) Risco Regulatório e Judicial. Eventuais alterações ou novas normas ou leis aplicáveis à Classe,  seus ativos e a eventuais fundos investidos, incluindo, mas não se limitando àquelas referentes  a tributos, bem como decisões judiciais ou jurisprudência aplicando as regulamentações  existentes ou interpretando novas regulamentações, podem causar um efeito adverso relevante  no preço dos ativos e/ou na performance das posições financeiras adquiridas pela Classe e/ou  pelos fundos Investidos. Ainda, nesse sentido, poderão ocorrer interferências de autoridades  governamentais e órgãos reguladores na regulação dos mercados, bem como alterações das  políticas monetária e cambial. Tais eventos poderão impactar de maneira adversa o valor das  Cotas.</a:t>
            </a:r>
          </a:p>
          <a:p>
            <a:r>
              <a:t>CNPJ 54871427000194 · Classes investidas e limites do FIC · Condição: Documentos atuais selecionados no inventário por categoria/escopo; a data documental isolada não comprova vigência jurídica.</a:t>
            </a:r>
          </a:p>
          <a:p>
            <a:r>
              <a:t>CNPJ 54871427000194 · Classes investidas e limites do FIC · Versão e prevalência: Documentos atuais selecionados no inventário por categoria/escopo; a data documental isolada não comprova vigência jurídica.</a:t>
            </a:r>
          </a:p>
          <a:p>
            <a:r>
              <a:t>CNPJ 54871427000194 · Classes investidas e limites do FIC · Resumo do histórico: {"count": 5, "dates": ["2024-12-31", "2025-01-01", "2025-12-31"], "document_count": 3, "sources": [{"document_id": "1151805", "title": "Demonstrações Financeiras", "reference_date": "2025-12-31", "version": "1", "page": 31, "url": "https://fnet.bmfbovespa.com.br/fnet/publico/visualizarDocumento?id=1151805", "sha256": "f1cea70b152968bf96ef9221b27225953cb20aeef487b2798db3c25e11b528d4"}, {"document_id": "869529", "title": "Demonstrações Financeiras", "reference_date": "2025-01-01", "version": "1", "page": 32, "url": "https://fnet.bmfbovespa.com.br/fnet/publico/visualizarDocumento?id=869529", "sha256": "9a93a9369ac8efdbc54ff8fcee3ccac3abf88edab4807b9323d3852450771b2a"}, {"document_id": "870070", "title": "Demonstrações Financeiras", "reference_date": "2024-12-31", "version": "1", "page": 32, "url": "https://fnet.bmfbovespa.com.br/fnet/publico/visualizarDocumento?id=870070", "sha256": "9a93a9369ac8efdbc54ff8fcee3ccac3abf88edab4807b9323d3852450771b2a"}], "reference": {"path": "history/54871427000194.json", "criterion_id": "investee", "total_count": 5, "preview_count": 3, "full_text_deferred": true, "sha256": "35d7cd99be50c7287c9fb675cf4f2e736002315295a225a9efa79c8d9186d874"}}</a:t>
            </a:r>
          </a:p>
          <a:p>
            <a:r>
              <a:t>CNPJ 60010416000112 · Classes investidas e limites do FIC · Motivo: Não localizada uma cláusula material para este critério nos textos identificados e processados. A ausência de resultado não comprova inexistência da regra.</a:t>
            </a:r>
          </a:p>
          <a:p>
            <a:r>
              <a:t>CNPJ 62696791000193 · Classes investidas e limites do FIC · Regulamento · ID 1143317 · 20/03/2026 · versão Regulamento — referência 20/03/2026 · p. 7 · Anexo I, 1.1, Objetivo, categoria Geral · https://fnet.bmfbovespa.com.br/fnet/publico/visualizarDocumento?id=1143317</a:t>
            </a:r>
          </a:p>
          <a:p>
            <a:r>
              <a:t>CNPJ 62696791000193 · Classes investidas e limites do FIC · Excerto da fonte:</a:t>
            </a:r>
          </a:p>
          <a:p>
            <a:r>
              <a:t>(D) Categoria “Geral” (“Ativos em Geral do Agronegócio”): (i) cotas de classes que apliquem mais de 50% (cinquenta por cento) de seu patrimônio líquido nos ativos referidos nos incisos “A” a “D” acima, o que inclui cotas de outros FIAGRO, mas não se limita a essa categoria de f undos. Os Ativos Imobiliários do Agronegócio, Participações do Agronegócio, Ativos Financeiros do Agronegócio e Ativos em Geral do Agronegócio, quando ref eridos em conjunto, os “Outros Ativos”. Não há limites máximos de aplicação por emissor ou devedor, em função de um percentual do Patrimônio Líquido. O objetivo da Classe não representa, sob qualquer hipótese, garantia da Classe ou de seus Prestadores de Serviços Essenciais e/ou da Cogestora quanto à segurança, rentabilidade e liquidez dos títu</a:t>
            </a:r>
          </a:p>
          <a:p>
            <a:r>
              <a:t>CNPJ 62696791000193 · Classes investidas e limites do FIC · Regulamento · ID 1143317 · 20/03/2026 · versão Regulamento — referência 20/03/2026 · p. 11 · Anexo I, 4.8–4.9 · https://fnet.bmfbovespa.com.br/fnet/publico/visualizarDocumento?id=1143317</a:t>
            </a:r>
          </a:p>
          <a:p>
            <a:r>
              <a:t>CNPJ 62696791000193 · Classes investidas e limites do FIC · Excerto da fonte:</a:t>
            </a:r>
          </a:p>
          <a:p>
            <a:r>
              <a:t>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relacionadas ao Gestor. 4.8.1 As aplicações em Direitos Creditórios do Agronegócio decorrentes de receitas públicas originárias ou derivadas da União, dos Estados, do Distrito Federal e dos Municípios ou de suas autarquias e f undações, assim como em Direitos Creditórios do Agronegócio cedidos ou originados por empresas controladas pelo poder público, não estão submetidas ao limite de concentração por emissor previsto no caput. 4.9 Nos termos do Art. 45 do Anexo</a:t>
            </a:r>
          </a:p>
          <a:p>
            <a:r>
              <a:t>CNPJ 62696791000193 · Classes investidas e limites do FIC · Condição: O regulamento não identifica CNPJs de classes efetivamente investidas. Permissão de investimento não comprova posição.</a:t>
            </a:r>
          </a:p>
          <a:p>
            <a:r>
              <a:t>CNPJ 62696791000193 · Classes investidas e limites do FIC · Versão e prevalência: Leitura específica das cláusulas indicadas; condições e conflitos preservados. Seleção documental atual não comprova vigência jurídica por data isolada.</a:t>
            </a:r>
          </a:p>
          <a:p>
            <a:r>
              <a:t>CNPJ 55563624000109 · Classes investidas e limites do FIC · Regulamento · ID 1192614 · 30/04/2026 · versão Regulamento30/04/2026 · p. 11 · AnexoI4.1 · https://fnet.bmfbovespa.com.br/fnet/publico/visualizarDocumento?id=1192614</a:t>
            </a:r>
          </a:p>
          <a:p>
            <a:r>
              <a:t>CNPJ 55563624000109 · Classes investidas e limites do FIC · Excerto da fonte:</a:t>
            </a:r>
          </a:p>
          <a:p>
            <a:r>
              <a:t>4.1 Observados os demais termos deste Anexo, o objetivo da Classe é investir seus recursos em (i) cotas subordinadas mezanino de emissão da classe única do MERCADO CRÉDITO II BRASIL FUNDO DE INVESTIMENTO EM DIREITOS CREDITÓRIOS NÃO PADRONIZADOS, fundo de investimento em direitos creditórios inscrito no CNPJ sob o nº 41.970.012/0001-26 (“Cotas da Classe Investida” e “Classe Investida”, respectivamente), a qual, por sua vez, aplica seus recursos preponderantemente em direitos creditórios originados pela Mercado Pago, de acordo com os termos e condições est</a:t>
            </a:r>
          </a:p>
          <a:p>
            <a:r>
              <a:t>CNPJ 55563624000109 · Classes investidas e limites do FIC · Condição: Vínculo contratual identificado; quantidade de cotas efetivamente detida exige posição do FIC. Não somar PL do FIC e do investido.</a:t>
            </a:r>
          </a:p>
          <a:p>
            <a:r>
              <a:t>CNPJ 55563624000109 · Classes investidas e limites do FIC · Versão e prevalência: Leitura específica das cláusulas indicadas; condições e conflitos preservados. Seleção documental atual não comprova vigência jurídica por data isolada.</a:t>
            </a:r>
          </a:p>
          <a:p>
            <a:r>
              <a:t>CNPJ 55563624000109 · Classes investidas e limites do FIC · Resumo do histórico: {"count": 2, "dates": ["2025-01-31", "2026-01-31"], "document_count": 2, "sources": [{"document_id": "1178840", "title": "Demonstrações Financeiras", "reference_date": "2026-01-31", "version": "1", "page": 4, "url": "https://fnet.bmfbovespa.com.br/fnet/publico/visualizarDocumento?id=1178840", "sha256": "c458e98664c5c907ddb5a05a94b120bed4e05295b2bfc420f5ba69af0a229abe"}, {"document_id": "891861", "title": "Demonstrações Financeiras", "reference_date": "2025-01-31", "version": "1", "page": 18, "url": "https://fnet.bmfbovespa.com.br/fnet/publico/visualizarDocumento?id=891861", "sha256": "e9cb9e6ddbe505fe068cfcac33605165a98313489de0d3ce6d4d238263c3f3e7"}], "reference": {"path": "history/55563624000109.json", "criterion_id": "investee", "total_count": 2, "preview_count": 2, "full_text_deferred": true, "sha256": "7835d573fb58a3c19adf5b8ecc2aee2bdbb9a88f7a0c0209b5f262b64c7522e3"}}</a:t>
            </a:r>
          </a:p>
          <a:p>
            <a:r>
              <a:t>CNPJ 62552447000120 · Classes investidas e limites do FIC · Regulamento · ID 1200623 · 2026-05-21 · versão 1 · p. 6 · https://fnet.bmfbovespa.com.br/fnet/publico/visualizarDocumento?id=1200623</a:t>
            </a:r>
          </a:p>
          <a:p>
            <a:r>
              <a:t>CNPJ 62552447000120 · Classes investidas e limites do FIC · Excerto da fonte:</a:t>
            </a:r>
          </a:p>
          <a:p>
            <a:r>
              <a:t>integrantes do conglomerado econômico de instituições  f inanceiras classificadas como S1 pelo Banco Central do  Brasil (“BACEN” e “Instituições Financeiras S1”,  respectivamente), desde que não representem títulos de  emissão ou coobrigação de instituições financeiras, bem  como cotas de f undos de investimento que invistam  preponderantemente nestes direitos, títulos e/ou valores  mobiliários; e</a:t>
            </a:r>
          </a:p>
          <a:p>
            <a:r>
              <a:t> (d) “Direitos Creditórios Refinanciamento Livre”, na forma  de CCBs originadas no âmbito de um refinanciamento, de  acordo com a política de cobrança vigente, de Direitos  Creditórios Consignado Privado e de Direitos Creditórios  FGTS, que não contem com o lastro de Consignação ou  de cessão f iduciária do Saque-Aniversário,  respectivamente; e</a:t>
            </a:r>
          </a:p>
          <a:p>
            <a:r>
              <a:t> (ii) “Ativos Financeiros”, assim entendidos como, em conjunto:</a:t>
            </a:r>
          </a:p>
          <a:p>
            <a:r>
              <a:t> (a) moeda corrente nacional;</a:t>
            </a:r>
          </a:p>
          <a:p>
            <a:r>
              <a:t> (b) títulos públicos f ederais;</a:t>
            </a:r>
          </a:p>
          <a:p>
            <a:r>
              <a:t> (c) ativos f inanceiros de renda f ixa de emissão ou  coobrigação de Instituições Financeiras S1;</a:t>
            </a:r>
          </a:p>
          <a:p>
            <a:r>
              <a:t> (d) operações compromissadas, desde que lastreadas nos  títulos mencionados nas alíneas (b) e (c) acima; e</a:t>
            </a:r>
          </a:p>
          <a:p>
            <a:r>
              <a:t> (e) cotas do BTG Pactual Tesouro Selic Fundo de  Investimento Renda Fixa Ref erenciado DI, inscrito no  CNPJ sob o nº 09.215.250/0001-13;</a:t>
            </a:r>
          </a:p>
          <a:p>
            <a:r>
              <a:t> observados todos os limites de composição e diversificação da carteira da  Classe (“Carteira”), estabelecidos neste Regulamento e na  regulamentação aplicável.</a:t>
            </a:r>
          </a:p>
          <a:p>
            <a:r>
              <a:t> O objetivo da Classe não representa, sob qualquer hipótese, promessa,  garantia ou sugestão da Classe ou de seus Prestadores de Serviços  Essenciais quanto à segurança, rentabilidade e liquidez dos títulos  componentes de sua Carteira.</a:t>
            </a:r>
          </a:p>
          <a:p>
            <a:r>
              <a:t>CNPJ 62552447000120 · Classes investidas e limites do FIC · Condição: Documentos atuais selecionados no inventário por categoria/escopo; a data documental isolada não comprova vigência jurídica.</a:t>
            </a:r>
          </a:p>
          <a:p>
            <a:r>
              <a:t>CNPJ 62552447000120 · Classes investidas e limites do FIC · Versão e prevalência: Documentos atuais selecionados no inventário por categoria/escopo; a data documental isolada não comprova vigência jurídica.</a:t>
            </a:r>
          </a:p>
          <a:p>
            <a:r>
              <a:t>CNPJ 63953620000165 · Classes investidas e limites do FIC · Motivo: Não localizada uma cláusula material para este critério nos textos identificados e processados. A ausência de resultado não comprova inexistência da regra.</a:t>
            </a:r>
          </a:p>
          <a:p>
            <a:r>
              <a:t>CNPJ 54871427000194 · Classe, subclasse e responsabilidade · Regulamento · ID 670691 · 2024-04-28 · versão 1 · p. 29 · https://fnet.bmfbovespa.com.br/fnet/publico/visualizarDocumento?id=670691</a:t>
            </a:r>
          </a:p>
          <a:p>
            <a:r>
              <a:t>CNPJ 54871427000194 · Classe, subclasse e responsabilidade · Excerto da fonte:</a:t>
            </a:r>
          </a:p>
          <a:p>
            <a:r>
              <a:t>Anexo I ao Regulamento CLASSE ÚNICA DE RESPONSABILIDADE LIMITADA DO CONSIGNADO DELTA RECEIVABLES I FUNDO DE INVESTIMENTO EM DIREITOS CREDITÓRIOS  pelo Endossante e depositados em seu conta de sua titularidade para posterior repasse à  Classe. Neste caso, a Classe poderá sofrer perdas principalmente em relação ao atraso na  regularização da titularidade e pagamento dos Direitos Creditórios.</a:t>
            </a:r>
          </a:p>
          <a:p>
            <a:r>
              <a:t> (v) Risco de pré-pagamento dos Direitos Creditórios. A ocorrência de pré-  pagamentos em relação a um ou mais Direitos Creditórios poderá ocasionar perdas à Classe.</a:t>
            </a:r>
          </a:p>
          <a:p>
            <a:r>
              <a:t> A ocorrência de pré-pagamentos (pagamento em data anterior àquela originalmente pactuada)  de Direitos Creditórios reduz o horizonte original de rendimentos esperados pela Classe de  tais Direitos Creditórios, uma vez que o pré-pagamento poderá, se assim permitido pela  documentação do Direito Creditório ou, conf orme o caso, pela legislação aplicável, ser  realizado pelo valor de emissão do Direito Creditório atualizado até a data do pré-pagamento  pela taxa de juros pactuada entre os Endossantes e os Devedores de tais Direitos Creditórios,  de modo que os juros remuneratórios incidentes desde a data da realização do pré-pagamento  até a data de vencimento do respectivo Direito Creditório deixam de ser devidos à Classe.</a:t>
            </a:r>
          </a:p>
          <a:p>
            <a:r>
              <a:t> (vi) Riscos associados aos Devedores: os Direitos Creditórios a serem cedidos à  Classe serão descontados da remuneração do Devedor, através de desconto em f olha de  pagamento ou de benefício. Nesse sentido, na ocorrência de pré-pagamento, as parcelas  serão pagas antecipadamente e a Classe deverá utilizar tais montantes no pré-pagamento dos  Direitos Creditórios. Nesta hipótese, a Classe poderá não encontrar Direitos Creditórios  disponíveis para serem adquiridos pela Classe, o que poderá afetar a rentabilidade da Classe.</a:t>
            </a:r>
          </a:p>
          <a:p>
            <a:r>
              <a:t> (vii) Risco de Competição: o mercado de empréstimos experimentou grande  expansão no Brasil nos últimos anos. Nesse contexto, a Resolução CMN nº 4.292, alterada  pela Resolução nº 4.762, de 27 de novembro de 2019, dispõe que deve ser garantido às  pessoas naturais devedoras de operações de crédito (tais como as CCB) a possibilidade de  realizarem a portabilidade destas operações para outras instituições financeiras, inclusive nos  casos em que tenham sido objeto de cessão (tais como as realizadas à Classe). Nesse  cenário, é possível que os competidores do Endossante ofereçam condições e taxas mais  vantajosas para os empréstimos pessoais com consignação em f olha de pagamento ou de  benef ícios, o que pode causar a migração de clientes da Endossante para outras instituições  f inanceiras, gerando a liquidação antecipada de parte das CCB existentes e/ou redução no  número de Direitos Creditórios cedidos. Referida competição poderá af etar os resultados da  Classe, impactando negativamente os rendimentos dos Cotistas. Ainda, a portabilidade a um  Devedor pode acarretar no recebimento de valores inf eriores aos esperados pela Classe.</a:t>
            </a:r>
          </a:p>
          <a:p>
            <a:r>
              <a:t> (viii) Insuf iciência dos Critérios de Elegibilidade. Os Critérios de Elegibilidade têm a  f inalidade de selecionar os Direitos Creditórios passíveis de aquisição pela Classe. Não  obstante tais Critérios de Elegibilidade, a solvência dos Direitos Creditórios que compõem a  Carteira depende integralmente, mas não somente, da situação econômico-financeira dos  Devedores. Dessa f orma, a observância pelo GESTOR dos Critérios de Elegibilidade não  constitui garantia de adimplência dos Devedores.</a:t>
            </a:r>
          </a:p>
          <a:p>
            <a:r>
              <a:t> Os Endossantes não necessariamente garantem a solvência dos seus respectivos Devedores.</a:t>
            </a:r>
          </a:p>
          <a:p>
            <a:r>
              <a:t> O Endossante dos Direitos Creditórios não assumirá responsabilidade pelo seu pagamento ou  pela solvência dos respectivos Devedores. A Classe sofrerá o impacto do inadimplemento dos  Direitos Creditórios vencidos e não pagos pelos respectivos Devedores.</a:t>
            </a:r>
          </a:p>
          <a:p>
            <a:r>
              <a:t> (ix) Possibilidade de aquisição de Direitos Creditórios cedidos por Endossante  e/ou devidos por Devedores cujas demonstrações financeiras não sejam auditadas. A Classe,  desde que sejam respeitados os limites de concentração previstos neste Regulamento, poderá  manter a qualquer tempo em sua Carteira, Direitos Creditórios cedidos por Endossante e/ou  devidos por Devedores cujas demonstrações f inanceiras não sejam auditadas por Auditor  Independente registrado na CVM. Nesse sentido, não haverá verificação independente sobre  tais demonstrações f inanceiras que af irme se estas representam adequadamente, em todos  os aspectos relevantes, as respectivas posições patrimoniais e f inanceiras, os resultados de  suas operações, as mutações de seus respectivos patrimônios líquidos tampouco as origens  e aplicações de seus recursos.</a:t>
            </a:r>
          </a:p>
          <a:p>
            <a:r>
              <a:t>CNPJ 54871427000194 · Classe, subclasse e responsabilidade · Regulamento · ID 670691 · 2024-04-28 · versão 1 · p. 15 · 7.2 · https://fnet.bmfbovespa.com.br/fnet/publico/visualizarDocumento?id=670691</a:t>
            </a:r>
          </a:p>
          <a:p>
            <a:r>
              <a:t>CNPJ 54871427000194 · Classe, subclasse e responsabilidade · Excerto da fonte:</a:t>
            </a:r>
          </a:p>
          <a:p>
            <a:r>
              <a:t>7.2 As amortizações de Cotas serão realizadas a qualquer tempo, a critério do GESTOR, observada a  disponibilidade de recursos da Classe Única e a ordem de alocação de recursos prevista neste Anexo  Descritivo.</a:t>
            </a:r>
          </a:p>
          <a:p>
            <a:r>
              <a:t>CNPJ 54871427000194 · Classe, subclasse e responsabilidade · Instrumento Particular de Alteração do Regulamento · ID 670690 · 2024-05-28 · versão 1 · p. 1 · https://fnet.bmfbovespa.com.br/fnet/publico/visualizarDocumento?id=670690</a:t>
            </a:r>
          </a:p>
          <a:p>
            <a:r>
              <a:t>CNPJ 54871427000194 · Classe, subclasse e responsabilidade · Excerto da fonte:</a:t>
            </a:r>
          </a:p>
          <a:p>
            <a:r>
              <a:t>ATA DA ASSEMBLEIA ESPECIAL DE COTISTAS  CLASSE ÚNICA DE RESPONSABILIDADE LIMITADA DO CONSIGNADO DELTA RECEIVABLES I  FUNDO DE INVESTIMENTO EM DIREITOS CREDITÓRIOS  CNPJ nº 54.871.427/0001-94  (“Classe Única” e “Fundo”, respectivamente)</a:t>
            </a:r>
          </a:p>
          <a:p>
            <a:r>
              <a:t>CNPJ 54871427000194 · Classe, subclasse e responsabilidade · Condição: Documentos atuais selecionados no inventário por categoria/escopo; a data documental isolada não comprova vigência jurídica.</a:t>
            </a:r>
          </a:p>
          <a:p>
            <a:r>
              <a:t>CNPJ 54871427000194 · Classe, subclasse e responsabilidade · Versão e prevalência: Documentos atuais selecionados no inventário por categoria/escopo; a data documental isolada não comprova vigência jurídica.</a:t>
            </a:r>
          </a:p>
          <a:p>
            <a:r>
              <a:t>CNPJ 54871427000194 · Classe, subclasse e responsabilidade · Resumo do histórico: {"count": 4, "dates": ["2024-04-19", "2024-04-28", "2024-05-24"], "document_count": 3, "sources": [{"document_id": "668387", "title": "Instrumento Particular de Emissão de Cotas", "reference_date": "2024-05-24", "version": "1", "page": 1, "url": "https://fnet.bmfbovespa.com.br/fnet/publico/visualizarDocumento?id=668387", "sha256": "be2913bed5f468a7399afcd27f92bac2083451584ee580b5054e9f525e68cc4a"}, {"document_id": "670691", "title": "Regulamento", "reference_date": "2024-04-28", "version": "1", "page": 29, "url": "https://fnet.bmfbovespa.com.br/fnet/publico/visualizarDocumento?id=670691", "sha256": "bf16dd7f1a62d5cdbf2e2d54fef81783783f7310fbc99c3a8f00459bdf9d037b"}, {"document_id": "670687", "title": "Instrumento Particular de Constituição/Encerramento do Fundo", "reference_date": "2024-04-19", "version": "1", "page": 1, "url": "https://fnet.bmfbovespa.com.br/fnet/publico/visualizarDocumento?id=670687", "sha256": "999f2a47d39f7022b0fcee3d16fd1db33948537b897e92c4c9e14b436bf5eb96"}], "reference": {"path": "history/54871427000194.json", "criterion_id": "perimeter", "total_count": 4, "preview_count": 3, "full_text_deferred": true, "sha256": "35d7cd99be50c7287c9fb675cf4f2e736002315295a225a9efa79c8d9186d874"}}</a:t>
            </a:r>
          </a:p>
          <a:p>
            <a:r>
              <a:t>CNPJ 60010416000112 · Classe, subclasse e responsabilidade · Regulamento · ID 1051393 · 2025-10-09 · versão 1 · p. 10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a:t>
            </a:r>
          </a:p>
          <a:p>
            <a:r>
              <a:t> (ii) o saldo dos Direitos Creditórios devidos pelo mesmo Devedor à Classe, considerando, pro  forma, o endosso pretendido, não deverá exceder R$ 100.000,00 (cem mil reais), observado  o disposto no item 4.4.1 abaixo;</a:t>
            </a:r>
          </a:p>
          <a:p>
            <a:r>
              <a:t> (iii) o prazo de vencimento das CCB representativas dos Direitos Creditórios deverá ser, no  máximo, equivalente ao prazo máximo permitido pelas leis e regulamentações aplicáveis; e</a:t>
            </a:r>
          </a:p>
          <a:p>
            <a:r>
              <a:t> (iv) os Direitos Creditórios não poderão ser devidos por Devedores que tenham acima de 64  (sessenta e quatro) anos 11 (onze) meses e 29 (vinte e nove) dias na data de emissão da  respectiva CCB.</a:t>
            </a:r>
          </a:p>
          <a:p>
            <a:r>
              <a:t>CNPJ 60010416000112 · Classe, subclasse e responsabilidade · Regulamento · ID 1051393 · 2025-10-09 · versão 1 · p. 11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  com a transf erência, à Classe, de f orma definitiva, sem coobrigação do Endossante, da plena  titularidade desse Direito Creditório, juntamente com todos os direitos, privilégios, pref erências,  prerrogativas, garantias e ações a ele relacionados, bem como correção monetária, juros e  encargos, sem prejuízo do direito da Classe (i) de exigir a recompra compulsória do respectivo  Direito Creditório, de acordo com os termos do Contrato de Endosso; ou (ii) de vender Direitos  Creditórios ao Agente de Retenção/Cobrança (opção de venda), em ambos os casos estritamente  nos termos do Contrato de Endosso.</a:t>
            </a:r>
          </a:p>
          <a:p>
            <a:r>
              <a:t>CNPJ 60010416000112 · Classe, subclasse e responsabilidade · Regulamento · ID 1051393 · 2025-10-09 · versão 1 · p. 18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a:t>
            </a:r>
          </a:p>
          <a:p>
            <a:r>
              <a:t> (ii) alterar este Anexo I e seus complementos, incluindo mas não se limitando aos Apêndices de cada  uma das subclasses;</a:t>
            </a:r>
          </a:p>
          <a:p>
            <a:r>
              <a:t> (iii) deliberar sobre substituição de Prestadores de Serviços Essenciais, observado o disposto no Art.</a:t>
            </a:r>
          </a:p>
          <a:p>
            <a:r>
              <a:t> 70, §1º da parte geral da Resolução CVM 175, quando aplicável, ou do Custodiante;</a:t>
            </a:r>
          </a:p>
          <a:p>
            <a:r>
              <a:t> (iv) deliberar sobre elevação da Taxa de Administração, inclusive na hipótese de restabelecimento de  taxa que tenha sido objeto de redução;</a:t>
            </a:r>
          </a:p>
          <a:p>
            <a:r>
              <a:t> (v) deliberar sobre incorporação, fusão, cisão total ou parcial, a transformação ou liquidação da Classe;</a:t>
            </a:r>
          </a:p>
          <a:p>
            <a:r>
              <a:t> (vi) alterações das características, vantagens, direitos e obrigações das Cotas;</a:t>
            </a:r>
          </a:p>
          <a:p>
            <a:r>
              <a:t> (vii) alterar critérios e procedimentos para Amortização e/ou resgate de Cotas mediante dação em  pagamento de Direitos Creditórios;</a:t>
            </a:r>
          </a:p>
          <a:p>
            <a:r>
              <a:t> (viii) aprovar a contratação de Agente de Retenção/Cobrança dos Direitos Creditórios Inadimplidos, bem  como decidir sobre sua substituição ou destituição;</a:t>
            </a:r>
          </a:p>
          <a:p>
            <a:r>
              <a:t> (ix) alterar a f orma de amortização do principal e dos valores acumulados relacionados às Cotas;</a:t>
            </a:r>
          </a:p>
          <a:p>
            <a:r>
              <a:t> (x) aprovar emissão de novas Cotas da Classe, em montante além do Capital Autorizado;</a:t>
            </a:r>
          </a:p>
          <a:p>
            <a:r>
              <a:t> (xi) deliberar sobre a eventual necessidade de aportes adicionais de recursos na Classe pelos Cotistas;</a:t>
            </a:r>
          </a:p>
          <a:p>
            <a:r>
              <a:t> (xii) alterações na Política de Investimentos;</a:t>
            </a:r>
          </a:p>
          <a:p>
            <a:r>
              <a:t> (xiii) alterações nos Critérios de Elegibilidade;</a:t>
            </a:r>
          </a:p>
          <a:p>
            <a:r>
              <a:t> (xiv) decidir se um Evento de Avaliação será considerado como Evento de Liquidação, sujeito a este  Regulamento;</a:t>
            </a:r>
          </a:p>
          <a:p>
            <a:r>
              <a:t> (xv) decidir, na ocorrência de qualquer Evento de Liquidação, se esse Evento de Liquidação não deverá  causar a liquidação antecipada da Classe;</a:t>
            </a:r>
          </a:p>
          <a:p>
            <a:r>
              <a:t> (xvi) plano de resolução do Patrimônio Líquido negativo da Classe, nos termos da Resolução CVM 175;</a:t>
            </a:r>
          </a:p>
          <a:p>
            <a:r>
              <a:t> (xvii)pedido de declaração judicial de insolvência da Classe; e</a:t>
            </a:r>
          </a:p>
          <a:p>
            <a:r>
              <a:t> (xviii) deliberar sobre a alteração da data de resgate e/ou prazo de duração de cada Série de Cotas  Seniores, do Benchmark, bem como de quaisquer outras características de qualquer Série de Cotas  Seniores;</a:t>
            </a:r>
          </a:p>
          <a:p>
            <a:r>
              <a:t>CNPJ 60010416000112 · Classe, subclasse e responsabilidade · Condição: Documentos atuais selecionados no inventário por categoria/escopo; a data documental isolada não comprova vigência jurídica.</a:t>
            </a:r>
          </a:p>
          <a:p>
            <a:r>
              <a:t>CNPJ 60010416000112 · Classe, subclasse e responsabilidade · Versão e prevalência: Documentos atuais selecionados no inventário por categoria/escopo; a data documental isolada não comprova vigência jurídica.</a:t>
            </a:r>
          </a:p>
          <a:p>
            <a:r>
              <a:t>CNPJ 60010416000112 · Classe, subclasse e responsabilidade · Resumo do histórico: {"count": 1, "dates": ["2025-05-12"], "document_count": 1, "sources": [{"document_id": "1004656", "title": "AGE", "reference_date": "2025-05-12", "version": "1", "page": 4, "url": "https://fnet.bmfbovespa.com.br/fnet/publico/visualizarDocumento?id=1004656", "sha256": "f6c9c009f6170e2b29f074b98522accec73f0c40efbf11f9ec2c8d3f1402616b"}], "reference": {"path": "history/60010416000112.json", "criterion_id": "perimeter", "total_count": 1, "preview_count": 1, "full_text_deferred": true, "sha256": "8e2bd813f4c51cf01f6bfaad164bafe69d2bbb192f753eac92da3a01c2e63046"}}</a:t>
            </a:r>
          </a:p>
          <a:p>
            <a:r>
              <a:t>CNPJ 62696791000193 · Classe, subclasse e responsabilidade · Regulamento · ID 1143317 · 20/03/2026 · versão Regulamento — referência 20/03/2026 · p. 9 · Anexo I, 2.1 · https://fnet.bmfbovespa.com.br/fnet/publico/visualizarDocumento?id=1143317</a:t>
            </a:r>
          </a:p>
          <a:p>
            <a:r>
              <a:t>CNPJ 62696791000193 · Classe, subclasse e responsabilidade · Excerto da fonte:</a:t>
            </a:r>
          </a:p>
          <a:p>
            <a:r>
              <a:t>2.1 A responsabilidade do Cotista está limitada ao valor por ele subscrito. 2.2 Os seguintes eventos obrigarão o Administrador a verif icar se o Patrimônio Líquido está negativo: (i) qualquer pedido de declaração judicial de insolvência de Classe; (ii) inadimplência de obrigações financeiras de devedor e/ou emissor de ativos detidos pela Classe que representem mais de 10% (dez por cento) de seu Patrimônio Líquido, naquela data de ref erência; (iii) pedido de recuperação extrajudicial, proposta de recuperação judicial, f alência, intervenção, liquidação extrajudicial e/ou regime de administração temporária de devedor e/ou emissor de ativos detidos pela Classe; e (iv) condenação da Classe, de natureza judicial e/ou arbitral e/ou administrativa e/ou outras similares, ao pagamento de mais de 10% (dez por cento) de seu Patrimônio Líquido. 2.3 Caso o Administrador verifique que o Patrimônio Líquido está negativo, ou tenha ciência de pedido de declaração judicial de insolvência da Classe ou da declaração judicial de insolvência da Classe, deverá adotar as medidas aplicáveis previstas na Resolução CVM 175. 2.4 Serão aplicáveis as disp</a:t>
            </a:r>
          </a:p>
          <a:p>
            <a:r>
              <a:t>CNPJ 62696791000193 · Classe, subclasse e responsabilidade · Regulamento · ID 1143317 · 20/03/2026 · versão Regulamento — referência 20/03/2026 · p. 18 · Anexo I, 8.8.1 · https://fnet.bmfbovespa.com.br/fnet/publico/visualizarDocumento?id=1143317</a:t>
            </a:r>
          </a:p>
          <a:p>
            <a:r>
              <a:t>CNPJ 62696791000193 · Classe, subclasse e responsabilidade · Excerto da fonte:</a:t>
            </a:r>
          </a:p>
          <a:p>
            <a:r>
              <a:t>8.8.1 As Chamadas de Capital para a realização de investimentos serão realizadas a qualquer momento durante o Período de Investimento e estarão limitadas ao valor do capital subscrito de cada Cotista. As Chamadas de Capital para o pagamento de despesas e encargos do Fundo poderão ser realizadas a qualquer momento durante o Prazo de Duração, mas não estarão limitadas ao valor do capital subscrito de cada Cotista. 8.8.2 Ao receber uma Chamada de Capital, os Cotistas serão obrigados a integralizar parte ou a totalidade de suas Cotas no prazo previsto na ref erida Chamada de Capital, o qual não poderá ser inf erior a 5 (cinco) Dias Úteis contados do recebimento da Chamada de Capital, conforme solicitado pelo Administrador em observância às instruções do Gestor e de acordo com o disposto nos respectivos Compromissos de Investimento. 8.8.3 O Administrador poderá, eventualmente, realizar Chamadas de Capital aos Cotistas de forma desproporcional entre Cotistas, de modo que um ou mais Cotista venha a integralizar, em uma ou mais Chamadas de Capital, uma parcela maior ou menor, conforme o caso, das Cotas por</a:t>
            </a:r>
          </a:p>
          <a:p>
            <a:r>
              <a:t>CNPJ 62696791000193 · Classe, subclasse e responsabilidade · Regulamento · ID 1143317 · 20/03/2026 · versão Regulamento — referência 20/03/2026 · p. 16 · Anexo I, 7.2 · https://fnet.bmfbovespa.com.br/fnet/publico/visualizarDocumento?id=1143317</a:t>
            </a:r>
          </a:p>
          <a:p>
            <a:r>
              <a:t>CNPJ 62696791000193 · Classe, subclasse e responsabilidade · Excerto da fonte:</a:t>
            </a:r>
          </a:p>
          <a:p>
            <a:r>
              <a:t>7.2 A Classe possui 3 (três) Subclasses de Cotas, quais sejam, a subclasse sênior (“Subclasse Sênior” e “Cotas Seniores”), a subclasse mezanino (“Subclasse Mezanino” e “Cotas Mezanino”) e a subclasse subordinada (“Subclasse Subordinada” e “Cotas Subordinadas” – as Cotas Subordinadas, Cotas Seniores e Cotas Mezanino, quando ref eridas em conjunto, “Cotas”), admitindo ainda a emissão de novas séries (“Séries”) de Cotas Seniores, nos termos do seu respectivo Apêndice. As características, os direitos e as condições de emissão, distribuição, subscrição, integralização, remuneração, amortização e resgate das Cotas estão descritos neste Capítulo e nos respectivos Apêndices. 7.3 As Cotas são escriturais, nominativas e correspondem a f rações ideais do patrimônio da Classe, cuja propriedade presume-se: (i) pelo registro do nome do Cotista no livro de registro de Cotistas, enquanto mantidas em conta de depósito mantidas junto ao Escriturador em nome dos respectivos Cotistas, nos termos do Art. 15 da Resolução CVM 175; (ii) pelos controles de titularidade mantidos pelo depositário BTG Pactual SAC: 0800 772 2827 | Ouvidoria: 0800 722 0048 | btgpactual.co m 11</a:t>
            </a:r>
          </a:p>
          <a:p>
            <a:r>
              <a:t>CNPJ 62696791000193 · Classe, subclasse e responsabilidade · Condição: Contradição interna no alcance da responsabilidade limitada. Não apresentar a cláusula de despesas como obrigação irrestrita pacificada.</a:t>
            </a:r>
          </a:p>
          <a:p>
            <a:r>
              <a:t>CNPJ 62696791000193 · Classe, subclasse e responsabilidade · Versão e prevalência: Leitura específica das cláusulas indicadas; condições e conflitos preservados. Seleção documental atual não comprova vigência jurídica por data isolada.</a:t>
            </a:r>
          </a:p>
          <a:p>
            <a:r>
              <a:t>CNPJ 55563624000109 · Classe, subclasse e responsabilidade · Regulamento · ID 1192614 · 2026-04-30 · versão 1 · p. 40 · https://fnet.bmfbovespa.com.br/fnet/publico/visualizarDocumento?id=1192614</a:t>
            </a:r>
          </a:p>
          <a:p>
            <a:r>
              <a:t>CNPJ 55563624000109 · Classe, subclasse e responsabilidade · Excerto da fonte:</a:t>
            </a:r>
          </a:p>
          <a:p>
            <a:r>
              <a:t>(xxiv) Subordinação de determinadas Cotas da Classe Investida a outras subclasses ou séries de  cotas das Classes Investidas aos quais pertencem. A Classe Investida adquirirá apenas cotas  subordinadas mezaninos da Classe Investida, as quais se subordinam às cotas seniores da Classe  Investida para efeitos de resgate. Os resgates de cotas subordinadas mezanino tipicamente têm sua  realização condicionada ainda à manutenção da razão de garantia e à existência de disponibilidades  da Classe Investida. O ADMINISTRADOR, o GESTOR e o CUSTODIANTE e suas respectivas partes  relacionadas, encontram-se impossibilitados de assegurar que a amortização e o resgate das cotas  subordinadas mezanino da Classe Investida que venham a ser adquiridas pela Classe ocorrerão nas  datas originalmente previstas, sendo que, caso tais amortizações e/ou resgates não ocorram, não será  devido pelo FUNDO ou qualquer pessoa, incluindo o ADMINISTRADOR, o GESTOR e o CUSTODIANTE,  do FUNDO ou da Classe Investida qualquer multa ou penalidade, de qualquer natureza. O não resgate  de cotas subordinadas mezanino da Classe Investida detidas pela Classe poderá impactar  negativamente no fluxo de pagamento de resgate da Classe e/ou no valor patrimonial das Cotas da  Classe.</a:t>
            </a:r>
          </a:p>
          <a:p>
            <a:r>
              <a:t>CNPJ 55563624000109 · Classe, subclasse e responsabilidade · Regulamento · ID 1192614 · 2026-04-30 · versão 1 · p. 2 · 1.2 · https://fnet.bmfbovespa.com.br/fnet/publico/visualizarDocumento?id=1192614</a:t>
            </a:r>
          </a:p>
          <a:p>
            <a:r>
              <a:t>CNPJ 55563624000109 · Classe, subclasse e responsabilidade · Excerto da fonte:</a:t>
            </a:r>
          </a:p>
          <a:p>
            <a:r>
              <a:t>1.2 Este regulamento é composto por esta parte geral, um ou mais anexos, conforme o número de classes aqui  previsto e respectivos apêndices relativos a cada subclasse de cotas, conforme aplicável (respectivamente,  “Regulamento”, “Parte Geral”, “Anexos” e “Apêndices”).</a:t>
            </a:r>
          </a:p>
          <a:p>
            <a:r>
              <a:t> Denominação da Classe Anexo  CLASSE ÚNICA DE RESPONSABILIDADE LIMITADA DO  PLGN MARKETPLACE FUNDO DE INVESTIMENTO EM  Anexo Único (“Anexo”)  COTAS DE FUNDO DE INVESTIMENTO EM DIREITOS  CREDITÓRIOS (“Classe” ou “Classe Única”)</a:t>
            </a:r>
          </a:p>
          <a:p>
            <a:r>
              <a:t>CNPJ 55563624000109 · Classe, subclasse e responsabilidade · Regulamento · ID 1192614 · 2026-04-30 · versão 1 · p. 24 · 12.3 · https://fnet.bmfbovespa.com.br/fnet/publico/visualizarDocumento?id=1192614</a:t>
            </a:r>
          </a:p>
          <a:p>
            <a:r>
              <a:t>CNPJ 55563624000109 · Classe, subclasse e responsabilidade · Excerto da fonte:</a:t>
            </a:r>
          </a:p>
          <a:p>
            <a:r>
              <a:t>12.3 Incluem-se entre as obrigações do ADMINISTRADOR, sem prejuízo de outras previstas na regulamentação:</a:t>
            </a:r>
          </a:p>
          <a:p>
            <a:r>
              <a:t> (i) sem prejuízo da observância dos procedimentos relativos às demonstrações contábeis, manter,  separadamente, registros com informações completas sobre toda e qualquer modalidade de negociação  realizada entre o ADMINISTRADOR, GESTOR, CUSTODIANTE, e/ou suas respectivas partes relacionadas,  tais como definidas pelas regras contábeis que tratam desse assunto, de um lado; e a Classe, de outro;</a:t>
            </a:r>
          </a:p>
          <a:p>
            <a:r>
              <a:t> (ii) diligenciar para que sejam mantidos, às suas expensas, atualizados e em perfeita ordem:</a:t>
            </a:r>
          </a:p>
          <a:p>
            <a:r>
              <a:t> (a) o registro de Cotistas;</a:t>
            </a:r>
          </a:p>
          <a:p>
            <a:r>
              <a:t> (b) o livro de atas das Assembleias de Cotistas;</a:t>
            </a:r>
          </a:p>
          <a:p>
            <a:r>
              <a:t> (c) o livro ou lista de presença de Cotistas;</a:t>
            </a:r>
          </a:p>
          <a:p>
            <a:r>
              <a:t> (d) os pareceres do Auditor Independente; e</a:t>
            </a:r>
          </a:p>
          <a:p>
            <a:r>
              <a:t> (e) os registros contábeis referentes às operações e ao patrimônio da Classe;</a:t>
            </a:r>
          </a:p>
          <a:p>
            <a:r>
              <a:t> (iii) pagar a multa cominatória às suas expensas, nos termos da legislação vigente, por cada dia de atraso no  cumprimento dos prazos previstos na regulamentação aplicável;</a:t>
            </a:r>
          </a:p>
          <a:p>
            <a:r>
              <a:t> (iv) elaborar e divulgar as informações periódicas e eventuais da Classe, nos termos deste Anexo e da  regulamentação e da autorregulação em vigor;</a:t>
            </a:r>
          </a:p>
          <a:p>
            <a:r>
              <a:t> (v) manter atualizada junto à CVM a lista de todos os prestadores de serviços contratados pela Classe,  inclusive os Prestadores de Serviços Essenciais, bem como as demais informações cadastrais da Classe e  suas Subclasses;</a:t>
            </a:r>
          </a:p>
          <a:p>
            <a:r>
              <a:t> (vi) manter serviço de atendimento aos Cotistas, responsável pelo esclarecimento de dúvidas e pelo  recebimento de reclamações;</a:t>
            </a:r>
          </a:p>
          <a:p>
            <a:r>
              <a:t> (vii) receber e processar os pedidos de resgate;</a:t>
            </a:r>
          </a:p>
          <a:p>
            <a:r>
              <a:t> (viii) monitorar os Eventos de Verificação do Patrimônio;</a:t>
            </a:r>
          </a:p>
          <a:p>
            <a:r>
              <a:t> (ix) monitorar os Eventos de Avaliação e Eventos de Liquidação;</a:t>
            </a:r>
          </a:p>
          <a:p>
            <a:r>
              <a:t> (x) observar as disposições constantes do Regulamento;</a:t>
            </a:r>
          </a:p>
          <a:p>
            <a:r>
              <a:t> (xi) cumprir as deliberações da Assembleia de Cotistas; e</a:t>
            </a:r>
          </a:p>
          <a:p>
            <a:r>
              <a:t> (xii) observar as disposições do Código ANBIMA e das Regras e Procedimentos ANBIMA</a:t>
            </a:r>
          </a:p>
          <a:p>
            <a:r>
              <a:t>CNPJ 55563624000109 · Classe, subclasse e responsabilidade · Condição: Documentos atuais selecionados no inventário por categoria/escopo; a data documental isolada não comprova vigência jurídica.</a:t>
            </a:r>
          </a:p>
          <a:p>
            <a:r>
              <a:t>CNPJ 55563624000109 · Classe, subclasse e responsabilidade · Versão e prevalência: Documentos atuais selecionados no inventário por categoria/escopo; a data documental isolada não comprova vigência jurídica.</a:t>
            </a:r>
          </a:p>
          <a:p>
            <a:r>
              <a:t>CNPJ 55563624000109 · Classe, subclasse e responsabilidade · Resumo do histórico: {"count": 5, "dates": ["2024-07-03", "2025-01-31", "2026-01-31"], "document_count": 3, "sources": [{"document_id": "1178840", "title": "Demonstrações Financeiras", "reference_date": "2026-01-31", "version": "1", "page": 3, "url": "https://fnet.bmfbovespa.com.br/fnet/publico/visualizarDocumento?id=1178840", "sha256": "c458e98664c5c907ddb5a05a94b120bed4e05295b2bfc420f5ba69af0a229abe"}, {"document_id": "891861", "title": "Demonstrações Financeiras", "reference_date": "2025-01-31", "version": "1", "page": 27, "url": "https://fnet.bmfbovespa.com.br/fnet/publico/visualizarDocumento?id=891861", "sha256": "e9cb9e6ddbe505fe068cfcac33605165a98313489de0d3ce6d4d238263c3f3e7"}, {"document_id": "703295", "title": "Anúncio de Início", "reference_date": "2024-07-03", "version": "2", "page": 1, "url": "https://fnet.bmfbovespa.com.br/fnet/publico/visualizarDocumento?id=703295", "sha256": "12322b6dbf75e673723bd60910373db249451b72666792e18e0c7b6128f4608a"}], "reference": {"path": "history/55563624000109.json", "criterion_id": "perimeter", "total_count": 5, "preview_count": 3, "full_text_deferred": true, "sha256": "7835d573fb58a3c19adf5b8ecc2aee2bdbb9a88f7a0c0209b5f262b64c7522e3"}}</a:t>
            </a:r>
          </a:p>
          <a:p>
            <a:r>
              <a:t>CNPJ 62552447000120 · Classe, subclasse e responsabilidade · Regulamento · ID 1200623 · 2026-05-21 · versão 1 · p. 1 · 1.3 · https://fnet.bmfbovespa.com.br/fnet/publico/visualizarDocumento?id=1200623</a:t>
            </a:r>
          </a:p>
          <a:p>
            <a:r>
              <a:t>CNPJ 62552447000120 · Classe, subclasse e responsabilidade · Excerto da fonte:</a:t>
            </a:r>
          </a:p>
          <a:p>
            <a:r>
              <a:t>1.3 Durante o seu prazo de duração, o Fundo, por ato conjunto dos Prestadores de Serviços Essenciais,  poderá constituir diferentes Classes e Subclasses , sendo que cada Classe terá patrimônio segregado e</a:t>
            </a:r>
          </a:p>
          <a:p>
            <a:r>
              <a:t>CNPJ 62552447000120 · Classe, subclasse e responsabilidade · Regulamento · ID 1200623 · 2026-05-21 · versão 1 · p. 1 · 1.1 · https://fnet.bmfbovespa.com.br/fnet/publico/visualizarDocumento?id=1200623</a:t>
            </a:r>
          </a:p>
          <a:p>
            <a:r>
              <a:t>CNPJ 62552447000120 · Classe, subclasse e responsabilidade · Excerto da fonte:</a:t>
            </a:r>
          </a:p>
          <a:p>
            <a:r>
              <a:t>1.1 V CDT 1 FUNDO DE INVESTIMENTO EM DIREITOS CREDITÓRIOS RESPONSABILIDADE  LIMITADA (“Fundo”), regido pela Lei n.º 10.406, de 10 de janeiro de 2002, conforme alterada (“Código  Civil”), pela Resolução da Comissão de Valores Mobiliários (“CVM”) n.º 175, de 23 de dezembro de  2022, conf orme alterada (“Resolução CVM 175”), que inclui sua Parte Geral (“Parte Geral da  Resolução CVM 175”) e seu Anexo Normativo II (“Anexo Normativo II”) terá como principais  características:</a:t>
            </a:r>
          </a:p>
          <a:p>
            <a:r>
              <a:t>CNPJ 62552447000120 · Classe, subclasse e responsabilidade · Regulamento · ID 1200623 · 2026-05-21 · versão 1 · p. 1 · https://fnet.bmfbovespa.com.br/fnet/publico/visualizarDocumento?id=1200623</a:t>
            </a:r>
          </a:p>
          <a:p>
            <a:r>
              <a:t>CNPJ 62552447000120 · Classe, subclasse e responsabilidade · Excerto da fonte:</a:t>
            </a:r>
          </a:p>
          <a:p>
            <a:r>
              <a:t>CLASSE ÚNICA DO V CDT 1 FUNDO DE  INVESTIMENTO EM DIREITOS CREDITÓRIOS Anexo I (“Anexo I”)  RESPONSABILIDADE LIMITADA</a:t>
            </a:r>
          </a:p>
          <a:p>
            <a:r>
              <a:t>CNPJ 62552447000120 · Classe, subclasse e responsabilidade · Condição: Documentos atuais selecionados no inventário por categoria/escopo; a data documental isolada não comprova vigência jurídica.</a:t>
            </a:r>
          </a:p>
          <a:p>
            <a:r>
              <a:t>CNPJ 62552447000120 · Classe, subclasse e responsabilidade · Versão e prevalência: Documentos atuais selecionados no inventário por categoria/escopo; a data documental isolada não comprova vigência jurídica.</a:t>
            </a:r>
          </a:p>
          <a:p>
            <a:r>
              <a:t>CNPJ 62552447000120 · Classe, subclasse e responsabilidade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"perimeter", "total_count": 1, "preview_count": 1, "full_text_deferred": true, "sha256": "d95db8c0613d67ee84118c734588665265ea6b02f86a0318d6a844cbe1d0f82f"}}</a:t>
            </a:r>
          </a:p>
          <a:p>
            <a:r>
              <a:t>CNPJ 63953620000165 · Classe, subclasse e responsabilidade · Anexo ao Regulamento · ID 1222863 · 02/06/2026 · versão AnexoConsignadoPrivado02/06/2026 · p. 3 · 2.1 · https://fnet.bmfbovespa.com.br/fnet/publico/visualizarDocumento?id=1222863</a:t>
            </a:r>
          </a:p>
          <a:p>
            <a:r>
              <a:t>CNPJ 63953620000165 · Classe, subclasse e responsabilidade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deverá adotar as medidas aplicáveis previstas na Resolução CVM 175. 2.3 Serão aplicáveis as disposições da Resolução CVM 175 no que se refere aos procedimentos a serem adotados pelo Administrador na hipótese de Patrimônio Líquido negativo da Classe. BTG Pactual SAC: 0800 772 28 27 - Ouvidoria: 0800 722 00 48 - btgpactual.com</a:t>
            </a:r>
          </a:p>
          <a:p>
            <a:r>
              <a:t>CNPJ 63953620000165 · Classe, subclasse e responsabilidade · Anexo ao Regulamento · ID 1222863 · 02/06/2026 · versão AnexoConsignadoPrivado02/06/2026 · p. 10 · 6.7.1 · https://fnet.bmfbovespa.com.br/fnet/publico/visualizarDocumento?id=1222863</a:t>
            </a:r>
          </a:p>
          <a:p>
            <a:r>
              <a:t>CNPJ 63953620000165 · Classe, subclasse e responsabilidade · Excerto da fonte:</a:t>
            </a:r>
          </a:p>
          <a:p>
            <a:r>
              <a:t>6.7.1 As Chamadas de Capital para a realização de investimentos serão realizadas a qualquer momento durante o Período de Investimento e estarão limitadas ao valor do capital subscrito de cada Cotista. As Chamadas de Capital para o pagamento de despesas e encargos do Fundo, com exceção de despesas relacionadas à instrumentos de derivativos e/ou Encargos não previstos no âmbito deste regulamento, poderão ser realizadas a qualquer momento durante o Prazo de Duração, mas não estarão limitadas ao valor do capital subscrito de cada Cotista. 6.7.2 Ao receber uma Chamada d</a:t>
            </a:r>
          </a:p>
          <a:p>
            <a:r>
              <a:t>CNPJ 63953620000165 · Classe, subclasse e responsabilidade · Condição: Alcance das chamadas além do capital comprometido não resolvido textualmente; não certificar limitação apenas por título do fundo.</a:t>
            </a:r>
          </a:p>
          <a:p>
            <a:r>
              <a:t>CNPJ 63953620000165 · Classe, subclasse e responsabilidade · Versão e prevalência: Leitura específica das cláusulas indicadas; condições e conflitos preservados. Seleção documental atual não comprova vigência jurídica por data isolada.</a:t>
            </a:r>
          </a:p>
          <a:p>
            <a:r>
              <a:t>CNPJ 63953620000165 · Classe, subclasse e responsabilidade · Resumo do histórico: {"count": 4, "dates": ["2026-04-28", "2026-05-08", "2026-05-15"], "document_count": 3, "sources": [{"document_id": "1327859", "title": "Demonstrações Financeiras - Fusão, cisão e incorporação", "reference_date": "2026-05-15", "version": "1", "page": 1, "url": "https://fnet.bmfbovespa.com.br/fnet/publico/visualizarDocumento?id=1327859", "sha256": "dca1c68babb97f887528c3e2e47596a9c30f507b067981a35655b2f2da9c8054"}, {"document_id": "1298691", "title": "Demonstrações Financeiras - Fusão, cisão e incorporação", "reference_date": "2026-05-08", "version": "1", "page": 1, "url": "https://fnet.bmfbovespa.com.br/fnet/publico/visualizarDocumento?id=1298691", "sha256": "58c570d9b8d4d265330d3db3ea81c435b8e44a6dab4002aa37790652a1ee9819"}, {"document_id": "1205431", "title": "AGE", "reference_date": "2026-04-28", "version": "1", "page": 1, "clause": "4.1", "url": "https://fnet.bmfbovespa.com.br/fnet/publico/visualizarDocumento?id=1205431", "sha256": "e0b59c701c5d0dbf60de698ea7664d442240863b7043bacdb334ce484188b2ac"}], "reference": {"path": "history/63953620000165.json", "criterion_id": "perimeter", "total_count": 4, "preview_count": 3, "full_text_deferred": true, "sha256": "a7b89077f5e21098c2d601c303faabc3ff6b9729f89d8afecdc60fe1404720c1"}}</a:t>
            </a:r>
          </a:p>
          <a:p>
            <a:r>
              <a:t>CNPJ 54871427000194 · Adaptação à Resolução CVM 175 · Regulamento · ID 670691 · 28/04/2024 · versão Regulamento — referência 28/04/2024 · p. 1 · Parte Geral, 1.1 · https://fnet.bmfbovespa.com.br/fnet/publico/visualizarDocumento?id=670691</a:t>
            </a:r>
          </a:p>
          <a:p>
            <a:r>
              <a:t>CNPJ 54871427000194 · Adaptação à Resolução CVM 175 · Excerto da fonte:</a:t>
            </a:r>
          </a:p>
          <a:p>
            <a:r>
              <a:t>1.1 CONSIGNADO DELTA RECEIVABLES I FUNDO DE INVESTIMENTO EM DIREITOS CREDITÓRIOS (“FUNDO”), regido pela Lei nº 10.406, de 10 de janeiro de 2002, conf orme alterada (“Código Civil”), pela parte geral e o Anexo Normativo II da Resolução nº 175, de 23 de dezembro de 2022, conforme alterada, da Comissão de Valores Mobiliários (respectivamente, “CVM” e “Resolução CVM 175”), terá como principais características: Classe de Cotas Classe única. Indeterminado, exceto se de outra f orma vier a ser deliberado pelos cotistas Prazo de Duração reunidos em assembleia geral de cotistas. BTG Pactual Serviços Financeiros S.A. Distribuidora de Títulos e Valores Mobiliários, instituição f inanceira, com sede na Cidade e Estado do Rio de Janeiro, na Praia de Botafogo, nº 501, 5º andar (parte), Torre Corcovado, ADMINISTRADOR Botafogo, CEP 22250-040, inscrita no CNPJ sob o nº 59.281.253/0001-23 e credenciada como administradora de carteira, de acordo com o Ato Declaratório CVM nº</a:t>
            </a:r>
          </a:p>
          <a:p>
            <a:r>
              <a:t>CNPJ 54871427000194 · Adaptação à Resolução CVM 175 · Regulamento · ID 670691 · 28/04/2024 · versão Regulamento — referência 28/04/2024 · p. 8 · Anexo I, 2.1 · https://fnet.bmfbovespa.com.br/fnet/publico/visualizarDocumento?id=670691</a:t>
            </a:r>
          </a:p>
          <a:p>
            <a:r>
              <a:t>CNPJ 54871427000194 · Adaptação à Resolução CVM 175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deverá adotar as medidas aplicáveis previstas na Resolução CVM 175. 2.3 Serão aplicáveis as disposições da Resolução CVM 175 no que se refere aos procedimentos a serem adotados pelo ADMINISTRADOR na hipótese de Patrimônio Líquido negativo da Classe. CAPÍTULO 3 – ENCARGOS DA CLASSE 3.1 A Classe terá Encargos que lhe poderão ser debitados diretamente, nos termos do art. 53 do Anexo Normativo II da Resolução CVM 175, além de encargos adicionais, e quaisquer despesas que não constituam Encargos correm por conta do Prestador de Serviço Essencial que a tiver contratado: (i) despesas com a contratação de consultoria especializada, conf orme o caso; (ii) despesas com a contratação do Agente de Cobrança, conf orme aplicável; (iii) Taxa Máxima de Custódia; (iv) despesas com registro de Direitos Creditórios; (v) despesas com serviços de originação, cobranças ordinária e/ou extraordinária dos D</a:t>
            </a:r>
          </a:p>
          <a:p>
            <a:r>
              <a:t>CNPJ 54871427000194 · Adaptação à Resolução CVM 175 · Versão e prevalência: Leitura específica das cláusulas indicadas; condições e conflitos preservados. Seleção documental atual não comprova vigência jurídica por data isolada.</a:t>
            </a:r>
          </a:p>
          <a:p>
            <a:r>
              <a:t>CNPJ 54871427000194 · Adaptação à Resolução CVM 175 · Resumo do histórico: {"count": 2, "dates": ["2024-04-19"], "document_count": 2, "sources": [{"document_id": "670687", "title": "Instrumento Particular de Constituição/Encerramento do Fundo", "reference_date": "2024-04-19", "version": "1", "page": 1, "url": "https://fnet.bmfbovespa.com.br/fnet/publico/visualizarDocumento?id=670687", "sha256": "999f2a47d39f7022b0fcee3d16fd1db33948537b897e92c4c9e14b436bf5eb96"}, {"document_id": "670689", "title": "Regulamento", "reference_date": "2024-04-19", "version": "1", "page": 11, "clause": "4.10", "url": "https://fnet.bmfbovespa.com.br/fnet/publico/visualizarDocumento?id=670689", "sha256": "891bc9bc5d87bbc02ec139077a84d2702eb81ea02035fb71d24f5b8366b94a0b"}], "reference": {"path": "history/54871427000194.json", "criterion_id": "res175", "total_count": 2, "preview_count": 2, "full_text_deferred": true, "sha256": "35d7cd99be50c7287c9fb675cf4f2e736002315295a225a9efa79c8d9186d874"}}</a:t>
            </a:r>
          </a:p>
          <a:p>
            <a:r>
              <a:t>CNPJ 60010416000112 · Adaptação à Resolução CVM 175 · Regulamento · ID 1051393 · 09/10/2025 · versão Regulamento09/10/2025 · p. 8 · AnexoI1.2 · https://fnet.bmfbovespa.com.br/fnet/publico/visualizarDocumento?id=1051393</a:t>
            </a:r>
          </a:p>
          <a:p>
            <a:r>
              <a:t>CNPJ 60010416000112 · Adaptação à Resolução CVM 175 · Excerto da fonte:</a:t>
            </a:r>
          </a:p>
          <a:p>
            <a:r>
              <a:t>Tipo de Condomínio Fechado. Prazo de Duração Indeterminado. Classe de Investimento Não. em Cotas Tipo “Financeiro”. Classificação ANBIMA Foco de atuação “Créditos Consignados”. O objetivo da classe é proporcionar aos seus Cotistas a valorização de suas Cotas por meio da aplicação de seu Patrimônio Líquido na aquisição de: (i) Direitos Creditórios que atendam aos Critérios de Elegibilidade, estabelecidos no Ca</a:t>
            </a:r>
          </a:p>
          <a:p>
            <a:r>
              <a:t>CNPJ 60010416000112 · Adaptação à Resolução CVM 175 · Regulamento · ID 1051393 · 09/10/2025 · versão Regulamento09/10/2025 · p. 9 · AnexoI2.1–2.3 · https://fnet.bmfbovespa.com.br/fnet/publico/visualizarDocumento?id=1051393</a:t>
            </a:r>
          </a:p>
          <a:p>
            <a:r>
              <a:t>CNPJ 60010416000112 · Adaptação à Resolução CVM 175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o Administrador deverá adotar as medidas aplicáveis previstas na Resolução CVM 175 2.3 Serão aplicáveis as disposições da Resolução CVM 175 no que se ref ere aos procedimentos a serem adotados pelo Administrador na hipótese de Patrimônio Líquido negativo da Classe, visando a liquidação da Classe e que não remanesçam</a:t>
            </a:r>
          </a:p>
          <a:p>
            <a:r>
              <a:t>CNPJ 60010416000112 · Adaptação à Resolução CVM 175 · Versão e prevalência: Leitura específica das cláusulas indicadas; condições e conflitos preservados. Seleção documental atual não comprova vigência jurídica por data isolada.</a:t>
            </a:r>
          </a:p>
          <a:p>
            <a:r>
              <a:t>CNPJ 60010416000112 · Adaptação à Resolução CVM 175 · Resumo do histórico: {"count": 2, "dates": ["2025-03-20"], "document_count": 2, "sources": [{"document_id": "993785", "title": "Instrumento Particular de Constituição/Encerramento do Fundo", "reference_date": "2025-03-20", "version": "1", "page": 1, "url": "https://fnet.bmfbovespa.com.br/fnet/publico/visualizarDocumento?id=993785", "sha256": "0826e0eae2c51afabf59bbc49fc7647598d03da5ca6de0f9725850a8bd6af457"}, {"document_id": "993786", "title": "Regulamento", "reference_date": "2025-03-20", "version": "1", "page": 12, "clause": "4.8", "url": "https://fnet.bmfbovespa.com.br/fnet/publico/visualizarDocumento?id=993786", "sha256": "fd0fdd369a195510d81f81f505195a0b09e5f43522a990afa7d58c4f872921c8"}], "reference": {"path": "history/60010416000112.json", "criterion_id": "res175", "total_count": 2, "preview_count": 2, "full_text_deferred": true, "sha256": "8e2bd813f4c51cf01f6bfaad164bafe69d2bbb192f753eac92da3a01c2e63046"}}</a:t>
            </a:r>
          </a:p>
          <a:p>
            <a:r>
              <a:t>CNPJ 62696791000193 · Adaptação à Resolução CVM 175 · AGE · ID 1143319 · 20/03/2026 10:00 · versão AGE — referência 20/03/2026 10:00 · p. 1 · AGC, 4.1(a)–(b) · https://fnet.bmfbovespa.com.br/fnet/publico/visualizarDocumento?id=1143319</a:t>
            </a:r>
          </a:p>
          <a:p>
            <a:r>
              <a:t>CNPJ 62696791000193 · Adaptação à Resolução CVM 175 · Excerto da fonte:</a:t>
            </a:r>
          </a:p>
          <a:p>
            <a:r>
              <a:t>4.1. Aprovar a transformação do Fundo, bem como de sua Classe única, em um fundo de investimento nas cadeias produtivas do agronegócio (“Transformação”), nos termos da parte geral e do Anexo Normativo VI da Resolução nº 175 da CVM, de 23 de dezembro de 2022, conforme alterada (“Resolução CVM 175”). a. Aprovar a alteração da denominação do Fundo, que passará a vigorar como BTG PACTUAL CERES CONFINA FUNDO DE INVESTIMENTO NAS CADEIAS PRODUTIVAS DO AGRONEGÓCIO RESPONSABILIDADE LIMITADA, e de sua Classe única, que passará a vigorar como CLASSE ÚNICA DO BTG PACTUAL CERES CONFINA FUNDO DE INVESTIMENTO NAS CADEIAS PRODUTIVAS DO AGRONEGÓCIO RESPONSABILIDADE LIMITADA (“Classe”); b. Aprovar a reforma integral do Regulamento do Fundo, bem como do Anexo descritivo da Classe, para realizar todos os ajustes necessários à implementação da Transformação, incluindo, mas não se limitando, a política de investimentos, o regime tributário e os fatores de risco aplicáveis, conforme itens abaixo; c. Aprovar a alteração do quadro de características gerais do Fundo, considerando a contratação do Cogestor pelo Gestor, nos termos do artigo 52, II, da parte geral da Resolução CVM 175 e no co</a:t>
            </a:r>
          </a:p>
          <a:p>
            <a:r>
              <a:t>CNPJ 62696791000193 · Adaptação à Resolução CVM 175 · AGE · ID 1143319 · 20/03/2026 10:00 · versão AGE — referência 20/03/2026 10:00 · p. 3 · AGC 20/03/2026, 4.1(j)–(k) · https://fnet.bmfbovespa.com.br/fnet/publico/visualizarDocumento?id=1143319</a:t>
            </a:r>
          </a:p>
          <a:p>
            <a:r>
              <a:t>CNPJ 62696791000193 · Adaptação à Resolução CVM 175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Adaptação à Resolução CVM 175 · Regulamento · ID 1143317 · 20/03/2026 · versão Regulamento — referência 20/03/2026 · p. 1 · Parte Geral, 1.1 · https://fnet.bmfbovespa.com.br/fnet/publico/visualizarDocumento?id=1143317</a:t>
            </a:r>
          </a:p>
          <a:p>
            <a:r>
              <a:t>CNPJ 62696791000193 · Adaptação à Resolução CVM 175 · Excerto da fonte:</a:t>
            </a:r>
          </a:p>
          <a:p>
            <a:r>
              <a:t>1.1 BTG PACTUAL CERES CONFINA FUNDO DE INVESTIMENTO NAS CADEIAS PRODUTIVAS DO AGRONEGÓCIO RESPONSABILIDADE LIMITADA (“Fundo”), regido pela Lei nº 10.406, de 10 de janeiro de 2002, conf orme alterada (“Código Civil”), pela Lei n.º 8.668, de 25 de junho de 1993, conf orme alterada (“Lei 8.668”), pela parte geral, Anexo Normativo VI e, subsidiariamente, Anexo Normativo II da Resolução nº 175, de 23 de dezembro de 2022, conforme alterada, da Comissão de Valores Mobiliários (respectivamente, “Resolução CVM 175” e “CVM”), terá como principais características: Classe Classe única. Indeterminado, exceto se de outra f orma vier a ser deliberado pelos Cotistas Prazo de Duração reunidos em assembleia geral de Cotistas (“Prazo de Duração”). BTG Pactual Serviços Financeiros S.A. Distribuidora de Títulos e Valores Mobiliários, sociedade anônima, com sede no município e Estado do Rio de Janeiro, na Praia de Botafogo, nº 501, 5º andar (parte), Torre Corcovado, Administrador Botafogo, CEP 22250-040, inscrita no CNPJ sob o nº 59.281.253/0001-23 e</a:t>
            </a:r>
          </a:p>
          <a:p>
            <a:r>
              <a:t>CNPJ 62696791000193 · Adaptação à Resolução CVM 175 · Condição: Posição comumfev/26 é anterior à transformação e demanda o regime/regulamento anterior.</a:t>
            </a:r>
          </a:p>
          <a:p>
            <a:r>
              <a:t>CNPJ 62696791000193 · Adaptação à Resolução CVM 175 · Versão e prevalência: Leitura específica das cláusulas indicadas; condições e conflitos preservados. Seleção documental atual não comprova vigência jurídica por data isolada.</a:t>
            </a:r>
          </a:p>
          <a:p>
            <a:r>
              <a:t>CNPJ 55563624000109 · Adaptação à Resolução CVM 175 · Regulamento · ID 1192614 · 2026-04-30 · versão 1 · p. 13 · 4.11 · https://fnet.bmfbovespa.com.br/fnet/publico/visualizarDocumento?id=1192614</a:t>
            </a:r>
          </a:p>
          <a:p>
            <a:r>
              <a:t>CNPJ 55563624000109 · Adaptação à Resolução CVM 175 · Excerto da fonte:</a:t>
            </a:r>
          </a:p>
          <a:p>
            <a:r>
              <a:t>4.11 Nos termos dos artigos 45, parágrafo 7º, e 47 parágrafo único do Anexo Normativo II à Resolução CVM 175, uma  vez que as Cotas são destinadas exclusivamente a Investidores Profissionais, a Classe poderá ter até 100% (cem  por cento) de seu Patrimônio Líquido alocado em Cotas da Classe Investida, as quais são emitidas pela Classe  Investida.</a:t>
            </a:r>
          </a:p>
          <a:p>
            <a:r>
              <a:t>CNPJ 55563624000109 · Adaptação à Resolução CVM 175 · Regulamento · ID 1192614 · 2026-04-30 · versão 1 · p. 31 · 15.1.1 · https://fnet.bmfbovespa.com.br/fnet/publico/visualizarDocumento?id=1192614</a:t>
            </a:r>
          </a:p>
          <a:p>
            <a:r>
              <a:t>CNPJ 55563624000109 · Adaptação à Resolução CVM 175 · Excerto da fonte:</a:t>
            </a:r>
          </a:p>
          <a:p>
            <a:r>
              <a:t>15.1.1 Riscos de Crédito:</a:t>
            </a:r>
          </a:p>
          <a:p>
            <a:r>
              <a:t> (i) Risco de concentração na Classe Investida. Nos termos do presente Regulamento, a Classe  deverá manter alocado, no mínimo, 67% (sessenta e sete por cento) do Patrimônio Líquido nas Cotas  da Classe Investida. Alterações na condição econômico-financeira e na expectativa de desempenho ou  resultados da Classe Investida poderão, isolada ou cumulativamente, afetar negativamente o  rendimento do investimento nas Cotas, de forma mais severa do que se a Classe adotasse uma  estratégia de investimento de maior diversificação. O risco associado às aplicações de qualquer fundo  de investimento é diretamente proporcional à concentração da sua carteira, sendo que, quanto maior  essa concentração, maior será a sua vulnerabilidade.</a:t>
            </a:r>
          </a:p>
          <a:p>
            <a:r>
              <a:t> (ii) Risco relativo à Classe Investida. Nos termos deste Anexo, a Classe deverá manter alocado, no  mínimo, 67% (sessenta e sete por cento) do Patrimônio Líquido em Cotas da Classe Investida. Os  investimentos realizados pela Classe Investida poderão estar sujeitos a flutuações típicas do mercado,  risco de crédito, risco sistêmico, condições adversas de liquidez e negociação atípica nos mercados de  atuação, bem como outros riscos diversos. Este Anexo não contém a descrição de todas as  características, incluindo os riscos, da Classe Investida.</a:t>
            </a:r>
          </a:p>
          <a:p>
            <a:r>
              <a:t> (iii) Risco Relativo ao Pagamento de Encargos da Classe Investida. Tendo em vista a estrutura da  Classe Investida – que emitiu cotas sêniores, cotas subordinadas mezanino e cotas subordinadas júnior  – em situação ordinária os encargos da Classe Investida são arcados pelas cotas subordinadas júnior,  que se subordinam às cotas subordinadas mezanino e às cotas sêniores para fins de amortização,  resgate e distribuição de rendimentos, não impactando, portanto, as Cotas da Classe Investida. Não  obstante o funcionamento da Classe Investida em situação ordinária, em cenários extraordinários, na  eventualidade do valor das cotas subordinadas júnior ficar reduzido a zero ou a valor negativo, os  encargos da Classe Investida conforme previstos em seu regulamento, inclusive mas não se limitando  as remunerações dos prestadores de serviços essenciais, passarão a ser arcados pelas cotas  subordinadas mezanino (que são as Cotas da Classe Investida), impactando no valor do investimento  da Classe na Classe Investida, e consequentemente, o investimento dos Cotistas na Classe.</a:t>
            </a:r>
          </a:p>
          <a:p>
            <a:r>
              <a:t> (iv) Riscos referentes à carteira da Classe Investida. Na forma do Anexo Normativo II da Resolução  CVM 175, a Classe Investida investe, direta ou indiretamente, no mínimo, 67% (sessenta e sete por  cento) do seu patrimônio em direitos creditórios originados pela Mercado Pago. O investimento em tais  direitos creditórios está sujeito a fatores de risco específicos, conforme detalhados no regulamento da  Classe Investida, incluindo, mas não se limitando a:</a:t>
            </a:r>
          </a:p>
          <a:p>
            <a:r>
              <a:t> (a) Risco de liquidez dos direitos creditórios. O investimento da Classe Investida em direitos  creditórios apresenta peculiaridades em relação às aplicações usuais da maioria dos  fundos de investimento brasileiros, haja vista que não existe, no Brasil, mercado  secundário com liquidez para tais direitos creditórios. Caso a Classe Investida precise  vender os direitos creditórios adquiridos, poderá não haver mercado comprador para  tais créditos, bem como o preço de alienação de tais direitos creditórios poderá refletir  essa falta de liquidez, causando perda ao patrimônio da Classe Investida e,  consequentemente, à Classe.</a:t>
            </a:r>
          </a:p>
          <a:p>
            <a:r>
              <a:t>CNPJ 55563624000109 · Adaptação à Resolução CVM 175 · Regulamento · ID 1192614 · 2026-04-30 · versão 1 · p. 28 · 13.2 · https://fnet.bmfbovespa.com.br/fnet/publico/visualizarDocumento?id=1192614</a:t>
            </a:r>
          </a:p>
          <a:p>
            <a:r>
              <a:t>CNPJ 55563624000109 · Adaptação à Resolução CVM 175 · Excerto da fonte:</a:t>
            </a:r>
          </a:p>
          <a:p>
            <a:r>
              <a:t>13.2 Em condições ordinárias, as Cotas da Classe Investida não pagarão remuneração aos prestadores de serviços  essenciais da Classe Investida, nos termos de seu regulamento. Não obstante, em cenário extraordinário  conforme descrito no item 15.1.1 (iii), e para fins de atendimento ao artigo 98 da parte geral da Resolução CVM  175, a taxa máxima de administração corresponderá ao valor da Taxa Mínima de Administração acrescida de até  0,10% (dez centésimos por cento) ao ano incidente sobre o patrimônio líquido da Classe Investida,  compreendendo a taxa de administração da Classe Investida geridos por partes relacionadas ao GESTOR, cujas  cotas não estão admitidas à negociação em mercado organizado, conforme prevista no regulamento da Classe  Investida (“Taxa Máxima de Administração” e, quando referida em conjunto com a Taxa Mínima de  Administração, como “Taxa de Administração”). Caso a taxa de administração da Classe Investida não se  enquadre no disposto acima, estará disposta no regulamento da Classe Investida.</a:t>
            </a:r>
          </a:p>
          <a:p>
            <a:r>
              <a:t>CNPJ 55563624000109 · Adaptação à Resolução CVM 175 · Condição: Documentos atuais selecionados no inventário por categoria/escopo; a data documental isolada não comprova vigência jurídica.</a:t>
            </a:r>
          </a:p>
          <a:p>
            <a:r>
              <a:t>CNPJ 55563624000109 · Adaptação à Resolução CVM 175 · Versão e prevalência: Documentos atuais selecionados no inventário por categoria/escopo; a data documental isolada não comprova vigência jurídica.</a:t>
            </a:r>
          </a:p>
          <a:p>
            <a:r>
              <a:t>CNPJ 55563624000109 · Adaptação à Resolução CVM 175 · Resumo do histórico: {"count": 3, "dates": ["2024-07-03", "2025-01-31", "2026-01-31"], "document_count": 3, "sources": [{"document_id": "1178840", "title": "Demonstrações Financeiras", "reference_date": "2026-01-31", "version": "1", "page": 29, "url": "https://fnet.bmfbovespa.com.br/fnet/publico/visualizarDocumento?id=1178840", "sha256": "c458e98664c5c907ddb5a05a94b120bed4e05295b2bfc420f5ba69af0a229abe"}, {"document_id": "891861", "title": "Demonstrações Financeiras", "reference_date": "2025-01-31", "version": "1", "page": 30, "url": "https://fnet.bmfbovespa.com.br/fnet/publico/visualizarDocumento?id=891861", "sha256": "e9cb9e6ddbe505fe068cfcac33605165a98313489de0d3ce6d4d238263c3f3e7"}, {"document_id": "691674", "title": "Instrumento Particular de Emissão de Cotas", "reference_date": "2024-07-03", "version": "1", "page": 1, "url": "https://fnet.bmfbovespa.com.br/fnet/publico/visualizarDocumento?id=691674", "sha256": "78bf7b350f1785beae5f43bd209b5ed19e863cb9a2cff01542aac11dd63ca554"}], "reference": {"path": "history/55563624000109.json", "criterion_id": "res175", "total_count": 3, "preview_count": 3, "full_text_deferred": true, "sha256": "7835d573fb58a3c19adf5b8ecc2aee2bdbb9a88f7a0c0209b5f262b64c7522e3"}}</a:t>
            </a:r>
          </a:p>
          <a:p>
            <a:r>
              <a:t>CNPJ 62552447000120 · Adaptação à Resolução CVM 175 · Regulamento · ID 1200623 · 21/05/2026 · versão Consolidado21/05/2026 aprovado pelo ato1200625 · p. 1 · ParteGeral1.1 · https://fnet.bmfbovespa.com.br/fnet/publico/visualizarDocumento?id=1200623</a:t>
            </a:r>
          </a:p>
          <a:p>
            <a:r>
              <a:t>CNPJ 62552447000120 · Adaptação à Resolução CVM 175 · Excerto da fonte:</a:t>
            </a:r>
          </a:p>
          <a:p>
            <a:r>
              <a:t>1.1 V CDT 1 FUNDO DE INVESTIMENTO EM DIREITOS CREDITÓRIOS RESPONSABILIDADE LIMITADA (“Fundo”), regido pela Lei n.º 10.406, de 10 de janeiro de 2002, conforme alterada (“Código Civil”), pela Resolução da Comissão de Valores Mobiliários (“CVM”) n.º 175, de 23 de dezembro de 2022, conf orme alterada (“Resolução CVM 175”), que inclui sua Parte Geral (“Parte Geral da Resolução CVM 175”) e seu Anexo Normativo II (“Anexo Normativo II”) terá como principais características: Classe de Cotas Classe única. Indeterminado, exceto se de outra forma vier a ser deliberado pelos titulares</a:t>
            </a:r>
          </a:p>
          <a:p>
            <a:r>
              <a:t>CNPJ 62552447000120 · Adaptação à Resolução CVM 175 · Regulamento · ID 1200623 · 21/05/2026 · versão Consolidado21/05/2026 aprovado pelo ato1200625 · p. 2 · ParteGeral1.6(v) · https://fnet.bmfbovespa.com.br/fnet/publico/visualizarDocumento?id=1200623</a:t>
            </a:r>
          </a:p>
          <a:p>
            <a:r>
              <a:t>CNPJ 62552447000120 · Adaptação à Resolução CVM 175 · Excerto da fonte:</a:t>
            </a:r>
          </a:p>
          <a:p>
            <a:r>
              <a:t>V CDT 1 FUNDO DE INVESTIMENTO EM DIREITOS CREDITÓRIOS RESPONSABILIDADE LIMITADA direitos e obrigações distintos das demais Classes, nos termos do art. 5º da Parte Geral da Resolução CVM 175. 1.4 O Anexo de cada classe de Cotas (“Classe”), conforme aplicável, dispõe, sem prejuízo de outros requisitos e inf ormações previstos na regulamentação, sobre: (i) características gerais, incluindo a indicação dos demais prestadores de serviços; (ii) responsabilidade dos Cotistas e regime de insolvência; (iii) características, direitos, condições de emissão, subscrição, integralização,</a:t>
            </a:r>
          </a:p>
          <a:p>
            <a:r>
              <a:t>CNPJ 62552447000120 · Adaptação à Resolução CVM 175 · Regulamento · ID 1200623 · 21/05/2026 · versão Consolidado21/05/2026 aprovado pelo ato1200625 · p. 16 · AnexoI5.1 · https://fnet.bmfbovespa.com.br/fnet/publico/visualizarDocumento?id=1200623</a:t>
            </a:r>
          </a:p>
          <a:p>
            <a:r>
              <a:t>CNPJ 62552447000120 · Adaptação à Resolução CVM 175 · Excerto da fonte:</a:t>
            </a:r>
          </a:p>
          <a:p>
            <a:r>
              <a:t>5.1 A Classe não possui Subclasse. As características, os direitos e as condições de emissão, distribuição, subscrição, integralização, remuneração, Amortização e resgate das Cotas estão descritos neste Capítulo e no Capítulo 6. 5.1.1 Não obstante, por deliberação conjunta dos Prestadores de Serviços Essenciais e mediante aprovação em Assembleia Especial, poderá haver a divisão de Classes em Subclasses, nos termos da Resolução CVM 175. Após a primeira emissão de Cotas, novas emissões de Cotas (de quaisquer Subclasses) dependem de aprovação dos Cotistas. 5.2 As Cotas são escrit</a:t>
            </a:r>
          </a:p>
          <a:p>
            <a:r>
              <a:t>CNPJ 62552447000120 · Adaptação à Resolução CVM 175 · Versão e prevalência: Leitura específica das cláusulas indicadas; condições e conflitos preservados. Seleção documental atual não comprova vigência jurídica por data isolada.</a:t>
            </a:r>
          </a:p>
          <a:p>
            <a:r>
              <a:t>CNPJ 62552447000120 · Adaptação à Resolução CVM 175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"res175", "total_count": 1, "preview_count": 1, "full_text_deferred": true, "sha256": "d95db8c0613d67ee84118c734588665265ea6b02f86a0318d6a844cbe1d0f82f"}}</a:t>
            </a:r>
          </a:p>
          <a:p>
            <a:r>
              <a:t>CNPJ 63953620000165 · Adaptação à Resolução CVM 175 · Anexo ao Regulamento · ID 1222863 · 02/06/2026 · versão AnexoConsignadoPrivado02/06/2026 · p. 1 · AnexoI1.1 · https://fnet.bmfbovespa.com.br/fnet/publico/visualizarDocumento?id=1222863</a:t>
            </a:r>
          </a:p>
          <a:p>
            <a:r>
              <a:t>CNPJ 63953620000165 · Adaptação à Resolução CVM 175 · Excerto da fonte:</a:t>
            </a:r>
          </a:p>
          <a:p>
            <a:r>
              <a:t>1.1 As principais características da Classe Consignado Privado (para fins deste Anexo, “Classe”) estão descritas abaixo: Tipo de Condomínio Fechado. Indeterminado, exceto se de outra forma vier a ser deliberado pelos Cotistas Prazo de Duração reunidos em Assembleia Especial de Cotistas. (“Prazo de Duração”) Tipo “Financeiro”. Classificação ANBIMA Foco de atuação “Créditos Consignados”. O obje</a:t>
            </a:r>
          </a:p>
          <a:p>
            <a:r>
              <a:t>CNPJ 63953620000165 · Adaptação à Resolução CVM 175 · Anexo ao Regulamento · ID 1222863 · 02/06/2026 · versão AnexoConsignadoPrivado02/06/2026 · p. 9 · 5.1 · https://fnet.bmfbovespa.com.br/fnet/publico/visualizarDocumento?id=1222863</a:t>
            </a:r>
          </a:p>
          <a:p>
            <a:r>
              <a:t>CNPJ 63953620000165 · Adaptação à Resolução CVM 175 · Excerto da fonte:</a:t>
            </a:r>
          </a:p>
          <a:p>
            <a:r>
              <a:t>5.1 A Classe possui 2 (duas) Subclasses de Cotas, quais sejam, a subclasse sênior (“Subclasse Sênior” e “Cotas Seniores”) e a subclasse subordinada (“Subclasse Subordinada” e “Cotas Subordinadas” – as Cotas Subordinadas e Cotas Seniores, quando referidas em conjunto, “Cotas”). As características, os direitos e as condições de emissão, distribuição, subscrição, integralização, remuneração, amortização e resgate das Cotas estão descritos neste Capítulo e nos respectivos Apêndices. 5.2 As Cotas são escriturais, nominativas e correspondem a frações ideais do patrimônio da Classe, cuja propriedade presume-se: (i) pelo</a:t>
            </a:r>
          </a:p>
          <a:p>
            <a:r>
              <a:t>CNPJ 63953620000165 · Adaptação à Resolução CVM 175 · Condição: Vigência efetiva da versão 02/06/2026 não inferida da data de publicação; não aplicar a fev/26 automaticamente.</a:t>
            </a:r>
          </a:p>
          <a:p>
            <a:r>
              <a:t>CNPJ 63953620000165 · Adaptação à Resolução CVM 175 · Versão e prevalência: Leitura específica das cláusulas indicadas; condições e conflitos preservados. Seleção documental atual não comprova vigência jurídica por data isolada.</a:t>
            </a:r>
          </a:p>
          <a:p>
            <a:r>
              <a:t>CNPJ 63953620000165 · Adaptação à Resolução CVM 175 · Resumo do histórico: {"count": 9, "dates": ["2026-04-28", "2026-05-08", "2026-05-15"], "document_count": 3, "sources": [{"document_id": "1327859", "title": "Demonstrações Financeiras - Fusão, cisão e incorporação", "reference_date": "2026-05-15", "version": "1", "page": 31, "clause": "15.000.000", "url": "https://fnet.bmfbovespa.com.br/fnet/publico/visualizarDocumento?id=1327859", "sha256": "dca1c68babb97f887528c3e2e47596a9c30f507b067981a35655b2f2da9c8054"}, {"document_id": "1298691", "title": "Demonstrações Financeiras - Fusão, cisão e incorporação", "reference_date": "2026-05-08", "version": "1", "page": 32, "url": "https://fnet.bmfbovespa.com.br/fnet/publico/visualizarDocumento?id=1298691", "sha256": "58c570d9b8d4d265330d3db3ea81c435b8e44a6dab4002aa37790652a1ee9819"}, {"document_id": "1282180", "title": "Demonstrações Financeiras - Fusão, cisão e incorporação", "reference_date": "2026-04-28", "version": "1", "page": 32, "clause": "15.000.000", "url": "https://fnet.bmfbovespa.com.br/fnet/publico/visualizarDocumento?id=1282180", "sha256": "afaaa0e6809be4385e5bdb6c911aac582032c5bdbac3d7750234bf9eaf00438a"}], "reference": {"path": "history/63953620000165.json", "criterion_id": "res175", "total_count": 9, "preview_count": 3, "full_text_deferred": true, "sha256": "a7b89077f5e21098c2d601c303faabc3ff6b9729f89d8afecdc60fe1404720c1"}}</a:t>
            </a:r>
          </a:p>
          <a:p>
            <a:r>
              <a:t>CNPJ 54871427000194 · Duração e público-alvo · Demonstrações Financeiras - Fusão, cisão e incorporação · ID 1219522 · 2026-02-02 · versão 1 · p. 11 · https://fnet.bmfbovespa.com.br/fnet/publico/visualizarDocumento?id=1219522</a:t>
            </a:r>
          </a:p>
          <a:p>
            <a:r>
              <a:t>CNPJ 54871427000194 · Duração e público-alvo · Excerto da fonte:</a:t>
            </a:r>
          </a:p>
          <a:p>
            <a:r>
              <a:t>O Consignado Delta Receivables I Fundo de Investimento em Direitos Creditórios possui uma classe única de cotas, denominada Classe Única de Responsabilidade Limitada do Consignado Delta Receivables I Fundo de Investimento em Direitos Creditórios (“Classe”). A Classe foi constituída em 19 de abril de 2024, sob a forma de condomínio fechado e iniciou suas operações em 27 de maio de 2024. A Classe possui prazo de duração Indeterminado.</a:t>
            </a:r>
          </a:p>
          <a:p>
            <a:r>
              <a:t>CNPJ 54871427000194 · Duração e público-alvo · Condição: Documentos atuais selecionados no inventário por categoria/escopo; a data documental isolada não comprova vigência jurídica.</a:t>
            </a:r>
          </a:p>
          <a:p>
            <a:r>
              <a:t>CNPJ 54871427000194 · Duração e público-alvo · Versão e prevalência: Documentos atuais selecionados no inventário por categoria/escopo; a data documental isolada não comprova vigência jurídica.</a:t>
            </a:r>
          </a:p>
          <a:p>
            <a:r>
              <a:t>CNPJ 54871427000194 · Duração e público-alvo · Resumo do histórico: {"count": 11, "dates": ["2024-12-31", "2025-01-01", "2025-12-31"], "document_count": 3, "sources": [{"document_id": "1151805", "title": "Demonstrações Financeiras", "reference_date": "2025-12-31", "version": "1", "page": 11, "url": "https://fnet.bmfbovespa.com.br/fnet/publico/visualizarDocumento?id=1151805", "sha256": "f1cea70b152968bf96ef9221b27225953cb20aeef487b2798db3c25e11b528d4"}, {"document_id": "869529", "title": "Demonstrações Financeiras", "reference_date": "2025-01-01", "version": "1", "page": 11, "url": "https://fnet.bmfbovespa.com.br/fnet/publico/visualizarDocumento?id=869529", "sha256": "9a93a9369ac8efdbc54ff8fcee3ccac3abf88edab4807b9323d3852450771b2a"}, {"document_id": "870070", "title": "Demonstrações Financeiras", "reference_date": "2024-12-31", "version": "1", "page": 11, "url": "https://fnet.bmfbovespa.com.br/fnet/publico/visualizarDocumento?id=870070", "sha256": "9a93a9369ac8efdbc54ff8fcee3ccac3abf88edab4807b9323d3852450771b2a"}], "reference": {"path": "history/54871427000194.json", "criterion_id": "duration_investors", "total_count": 11, "preview_count": 3, "full_text_deferred": true, "sha256": "35d7cd99be50c7287c9fb675cf4f2e736002315295a225a9efa79c8d9186d874"}}</a:t>
            </a:r>
          </a:p>
          <a:p>
            <a:r>
              <a:t>CNPJ 60010416000112 · Duração e público-alvo · Demonstrações Financeiras - Fusão, cisão e incorporação · ID 1298690 · 2026-05-08 · versão 1 · p. 9 · https://fnet.bmfbovespa.com.br/fnet/publico/visualizarDocumento?id=1298690</a:t>
            </a:r>
          </a:p>
          <a:p>
            <a:r>
              <a:t>CNPJ 60010416000112 · Duração e público-alvo · Excerto da fonte:</a:t>
            </a:r>
          </a:p>
          <a:p>
            <a:r>
              <a:t>1. Contexto operacional  O MT Consignado Privado I Fundo de Investimento em Direitos Creditórios (“Fundo”) possui uma  classe única de cotas, denominada Classe Única do MT I Consignado Privado I Fundo de  Investimento em Direitos Creditórios Responsabilidade Limitada (“Classe”). A Classe foi  constituída em 20 de março de 2025, sob a forma de condomínio fechado e iniciou suas  operações em 21 de março de 2025. A Classe possui prazo de duração indeterminado.</a:t>
            </a:r>
          </a:p>
          <a:p>
            <a:r>
              <a:t>CNPJ 60010416000112 · Duração e público-alvo · Demonstrações Financeiras - Fusão, cisão e incorporação · ID 1298690 · 2026-05-08 · versão 1 · p. 22 · https://fnet.bmfbovespa.com.br/fnet/publico/visualizarDocumento?id=1298690</a:t>
            </a:r>
          </a:p>
          <a:p>
            <a:r>
              <a:t>CNPJ 60010416000112 · Duração e público-alvo · Excerto da fonte:</a:t>
            </a:r>
          </a:p>
          <a:p>
            <a:r>
              <a:t>(ii) Riscos do mercado secundário: A Classe é constituída sob a forma de condomínio  fechado, de modo que as Cotas Subordinadas somente serão resgatadas em virtude da  liquidação da Classe e as Cotas Seniores ao término do seu prazo de duração, conforme  estabelecidos nos respectivos Suplementos. Uma vez que o prazo de duração da Classe  é indeterminado, o Cotista titular das Cotas Subordinadas não terá liquidez em seu  investimento na Classe, exceto (a) por ocasião das amortizações e dos resgates, nos  termos do Regulamento; (b) por meio da alienação de suas Cotas no mercado  secundário, observado, neste caso, que sua alienação apenas é permitida para o Público-  Alvo das Cotas Subordinadas; ou (c) na liquidação antecipada do Fundo ou da Classe.</a:t>
            </a:r>
          </a:p>
          <a:p>
            <a:r>
              <a:t> Além disso, atualmente, o mercado secundário de cotas de fundos de investimento  apresenta baixa liquidez, o que pode dificultar a venda das Cotas ou ocasionar a obtenção  de um preço de venda que cause perda de patrimônio ao Cotista. Não há qualquer  garantia da Administradora, da Gestora, da consultora ou do Custodiante em relação à  possibilidade de venda das Cotas no mercado secundário ou ao preço obtido por elas,  ou mesmo garantia de saída ao Cotista.</a:t>
            </a:r>
          </a:p>
          <a:p>
            <a:r>
              <a:t>CNPJ 60010416000112 · Duração e público-alvo · Condição: Documentos atuais selecionados no inventário por categoria/escopo; a data documental isolada não comprova vigência jurídica.</a:t>
            </a:r>
          </a:p>
          <a:p>
            <a:r>
              <a:t>CNPJ 60010416000112 · Duração e público-alvo · Versão e prevalência: Documentos atuais selecionados no inventário por categoria/escopo; a data documental isolada não comprova vigência jurídica.</a:t>
            </a:r>
          </a:p>
          <a:p>
            <a:r>
              <a:t>CNPJ 60010416000112 · Duração e público-alvo · Resumo do histórico: {"count": 9, "dates": ["2025-11-30", "2026-03-18", "2026-04-16"], "document_count": 3, "sources": [{"document_id": "1282181", "title": "Demonstrações Financeiras - Fusão, cisão e incorporação", "reference_date": "2026-04-16", "version": "1", "page": 23, "url": "https://fnet.bmfbovespa.com.br/fnet/publico/visualizarDocumento?id=1282181", "sha256": "b1c6566e43a00bcd00c8a7f30c77b7f86e351bd8e355bbea113f46d1dafda703"}, {"document_id": "1224477", "title": "Demonstrações Financeiras - Fusão, cisão e incorporação", "reference_date": "2026-03-18", "version": "1", "page": 23, "url": "https://fnet.bmfbovespa.com.br/fnet/publico/visualizarDocumento?id=1224477", "sha256": "0751bf0a75bc3b44c2748f5000226665c6ec6698a90c4dc6170b4e6c187759ae"}, {"document_id": "1126154", "title": "Demonstrações Financeiras", "reference_date": "2025-11-30", "version": "1", "page": 23, "url": "https://fnet.bmfbovespa.com.br/fnet/publico/visualizarDocumento?id=1126154", "sha256": "a01e7ccf88c548f12c95cba8526d7efbef6b585c112cd4668eca781c292090b0"}], "reference": {"path": "history/60010416000112.json", "criterion_id": "duration_investors", "total_count": 9, "preview_count": 3, "full_text_deferred": true, "sha256": "8e2bd813f4c51cf01f6bfaad164bafe69d2bbb192f753eac92da3a01c2e63046"}}</a:t>
            </a:r>
          </a:p>
          <a:p>
            <a:r>
              <a:t>CNPJ 62696791000193 · Duração e público-alvo · Regulamento · ID 1143317 · 2026-03-20 · versão 1 · p. 18 · 8.8.1 · https://fnet.bmfbovespa.com.br/fnet/publico/visualizarDocumento?id=1143317</a:t>
            </a:r>
          </a:p>
          <a:p>
            <a:r>
              <a:t>CNPJ 62696791000193 · Duração e público-alvo · Excerto da fonte:</a:t>
            </a:r>
          </a:p>
          <a:p>
            <a:r>
              <a:t>8.8.1 As Chamadas de Capital para a realização de investimentos serão realizadas a qualquer  momento durante o Período de Investimento e estarão limitadas ao valor do capital subscrito  de cada Cotista. As Chamadas de Capital para o pagamento de despesas e encargos do Fundo  poderão ser realizadas a qualquer momento durante o Prazo de Duração, mas não estarão  limitadas ao valor do capital subscrito de cada Cotista.</a:t>
            </a:r>
          </a:p>
          <a:p>
            <a:r>
              <a:t>CNPJ 62696791000193 · Duração e público-alvo · Regulamento · ID 1143317 · 2026-03-20 · versão 1 · p. 20 · 9.5.1 · https://fnet.bmfbovespa.com.br/fnet/publico/visualizarDocumento?id=1143317</a:t>
            </a:r>
          </a:p>
          <a:p>
            <a:r>
              <a:t>CNPJ 62696791000193 · Duração e público-alvo · Excerto da fonte:</a:t>
            </a:r>
          </a:p>
          <a:p>
            <a:r>
              <a:t>9.5.1 Ao f inal do Prazo de Duração ou quando da liquidação antecipada da Classe, todas as Cotas  deverão ter seu valor integralmente amortizado. Não havendo recursos em moeda corrente  nacional suficientes para realizar o pagamento da amortização total das Cotas em circulação à  época da liquidação da Classe, o Administrador deverá convocar a Assembleia Especial de  Cotistas a fim de deliberar sobre a prorrogação do Prazo de Duração ou o resgate de Cotas em  Direitos Creditórios do Agronegócio e/ou Outros Ativos .</a:t>
            </a:r>
          </a:p>
          <a:p>
            <a:r>
              <a:t>10 ASSEMBLEIA ESPECIAL DE COTISTAS</a:t>
            </a:r>
          </a:p>
          <a:p>
            <a:r>
              <a:t>CNPJ 62696791000193 · Duração e público-alvo · Regulamento · ID 1143317 · 2026-03-20 · versão 1 · p. 23 · 11.1 · https://fnet.bmfbovespa.com.br/fnet/publico/visualizarDocumento?id=1143317</a:t>
            </a:r>
          </a:p>
          <a:p>
            <a:r>
              <a:t>CNPJ 62696791000193 · Duração e público-alvo · Excerto da fonte:</a:t>
            </a:r>
          </a:p>
          <a:p>
            <a:r>
              <a:t>11.1 A Classe será liquidada (i) em caso da liquidação antecipada deliberada em Assembleia Especial de  Cotistas; ou (ii) pelo encerramento do Prazo de Duração da Classe.</a:t>
            </a:r>
          </a:p>
          <a:p>
            <a:r>
              <a:t>CNPJ 62696791000193 · Duração e público-alvo · Condição: Documentos atuais selecionados no inventário por categoria/escopo; a data documental isolada não comprova vigência jurídica.</a:t>
            </a:r>
          </a:p>
          <a:p>
            <a:r>
              <a:t>CNPJ 62696791000193 · Duração e público-alvo · Versão e prevalência: Documentos atuais selecionados no inventário por categoria/escopo; a data documental isolada não comprova vigência jurídica.</a:t>
            </a:r>
          </a:p>
          <a:p>
            <a:r>
              <a:t>CNPJ 55563624000109 · Duração e público-alvo · AGE · ID 1306189 · 2026-08-25 · versão 1 · p. 1 · 4.1 · https://fnet.bmfbovespa.com.br/fnet/publico/visualizarDocumento?id=1306189</a:t>
            </a:r>
          </a:p>
          <a:p>
            <a:r>
              <a:t>CNPJ 55563624000109 · Duração e público-alvo · Excerto da fonte:</a:t>
            </a:r>
          </a:p>
          <a:p>
            <a:r>
              <a:t>4.1 Nos termos do Anexo da Classe, aprovar:</a:t>
            </a:r>
          </a:p>
          <a:p>
            <a:r>
              <a:t>(i) a liquidação da Subclasse A da Classe, considerando o encerramento do seu prazo de duração, por meio do  resgate integral de Cotas da Subclasse A com entrega de financeiro aos Cotistas. Será utilizada como data  base no cálculo da cota do dia 25 de agosto de 2026, com efetivação no fechamento do dia 27 de agosto de  2026; e</a:t>
            </a:r>
          </a:p>
          <a:p>
            <a:r>
              <a:t>(ii) a liquidação antecipada da Subclasse C da Classe, por meio do resgate integral de Cotas da Subclasse C com  entrega de financeiro aos Cotistas. Será utilizada como data base no cálculo da cota do dia 25 de agosto de  2026, com efetivação no fechamento do dia 27 de agosto de 2026.</a:t>
            </a:r>
          </a:p>
          <a:p>
            <a:r>
              <a:t>CNPJ 55563624000109 · Duração e público-alvo · Condição: Documentos atuais selecionados no inventário por categoria/escopo; a data documental isolada não comprova vigência jurídica.</a:t>
            </a:r>
          </a:p>
          <a:p>
            <a:r>
              <a:t>CNPJ 55563624000109 · Duração e público-alvo · Versão e prevalência: Documentos atuais selecionados no inventário por categoria/escopo; a data documental isolada não comprova vigência jurídica.</a:t>
            </a:r>
          </a:p>
          <a:p>
            <a:r>
              <a:t>CNPJ 55563624000109 · Duração e público-alvo · Resumo do histórico: {"count": 6, "dates": ["2026-04-30"], "document_count": 2, "sources": [{"document_id": "1192614", "title": "Regulamento", "reference_date": "2026-04-30", "version": "1", "page": "9, 15, 45-50", "url": "https://fnet.bmfbovespa.com.br/fnet/publico/visualizarDocumento?id=1192614", "sha256": "f56e63ace0acde41d2f47fb48f1ac7f3f7df5e2d32de092d7c5e075a52516632"}, {"document_id": "1192614", "title": "Regulamento", "reference_date": "2026-04-30", "version": "1", "page": 5, "clause": "4.7.1", "url": "https://fnet.bmfbovespa.com.br/fnet/publico/visualizarDocumento?id=1192614", "sha256": "f56e63ace0acde41d2f47fb48f1ac7f3f7df5e2d32de092d7c5e075a52516632"}, {"document_id": "1192603", "title": "AGE", "reference_date": "2026-04-30", "version": "1", "page": 1, "clause": "4.1", "url": "https://fnet.bmfbovespa.com.br/fnet/publico/visualizarDocumento?id=1192603", "sha256": "f53ff2a5b715f5365536305a098f9cc0c54b5a01128942d784915bed8eeb0288"}], "reference": {"path": "history/55563624000109.json", "criterion_id": "duration_investors", "total_count": 6, "preview_count": 3, "full_text_deferred": true, "sha256": "7835d573fb58a3c19adf5b8ecc2aee2bdbb9a88f7a0c0209b5f262b64c7522e3"}}</a:t>
            </a:r>
          </a:p>
          <a:p>
            <a:r>
              <a:t>CNPJ 62552447000120 · Duração e público-alvo · Regulamento · ID 1200623 · 2026-05-21 · versão 1 · p. 22 · 10.4 · https://fnet.bmfbovespa.com.br/fnet/publico/visualizarDocumento?id=1200623</a:t>
            </a:r>
          </a:p>
          <a:p>
            <a:r>
              <a:t>CNPJ 62552447000120 · Duração e público-alvo · Excerto da fonte:</a:t>
            </a:r>
          </a:p>
          <a:p>
            <a:r>
              <a:t>10.4 Tendo em vista que a Classe é exclusivamente destinada a Investidores Profissionais, não serão  aplicáveis as vedações ao direito a voto em assembleia de cotistas dispostas no artigo 78 da Resolução  CVM 175, conf orme disposto no artigo 114 da ref erida Resolução.</a:t>
            </a:r>
          </a:p>
          <a:p>
            <a:r>
              <a:t>CNPJ 62552447000120 · Duração e público-alvo · Regulamento · ID 1200623 · 2026-05-21 · versão 1 · p. 35 · https://fnet.bmfbovespa.com.br/fnet/publico/visualizarDocumento?id=1200623</a:t>
            </a:r>
          </a:p>
          <a:p>
            <a:r>
              <a:t>CNPJ 62552447000120 · Duração e público-alvo · Excerto da fonte:</a:t>
            </a:r>
          </a:p>
          <a:p>
            <a:r>
              <a:t>ativos desses emissores, causando perdas à Classe e ao Cotista. Além disso, a f alta de capacidade ou disposição de pagar por qualquer dos emissores dos Ativos Financeiros de Liquidez ou das contrapartes nas transações que compõem a Carteira causará perdas à Classe, e o que também poderá incorrer em custos para f ins de recuperação de seus recebíveis.</a:t>
            </a:r>
          </a:p>
          <a:p>
            <a:r>
              <a:t>(v) Riscos associados aos Devedores: no caso de Devedores no âmbito das operações de consignado privado, a sua capacidade de pagamento poderá ser af etada se, por exemplo, o Devedor tiver o seu contrato de emprego rescindido ou em virtude de decisão judicial, o Devedor for obrigado a pagar alimentos, que têm prioridade sobre o empréstimo para f ins de desconto na f 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 etar a rentabilidade da Classe. Já no caso de Devedores no âmbito das operações de Saque-aniversário, como os Direitos Creditórios a serem endossados à Classe serão descontados pelo FGTS da remuneração do Devedor, na ocorrência de qualquer evento que, nos termos da legislação aplicável, determine o pagamento antecipado do Saque-aniversário ao Devedor, a exemplo do falecimento do Devedor, dentre outros, as parcelas do Saque- aniversário serão pagas antecipadamente e a Classe deverá utilizar tais montantes no pré-pagamento dos Direitos Creditórios. Nesta hipótese, a Classe poderá não encontrar Direitos Creditórios disponíveis para serem adquiridos pela Classe, o que poderá af etar a rentabilidade da Classe.</a:t>
            </a:r>
          </a:p>
          <a:p>
            <a:r>
              <a:t>Risco de liquidez</a:t>
            </a:r>
          </a:p>
          <a:p>
            <a:r>
              <a:t>(i) Risco de liquidez: consiste no risco de redução ou inexistência de demanda pelos ativos que compõem a Classe nos respectivos mercados em que são negociados, devido às condições específicas desses ativos ou aos mercados em que são negociados. Devido a esses riscos, o Gestor poderá encontrar dificuldades em liquidar posições ou negociar esses ativos pelo preço e prazo desejados, de acordo com a estratégia de gestão adotada pela Classe, que permanecerá exposto, durante o período de baixa liquidez, aos riscos associados a esses ativos e posições assumidas em mercados de derivativos, se houver, que poderão até exigir que o Gestor aceite descontos em seus preços para realizar negociações no mercado. Esses f atores poderão prejudicar o pagamento de Amortizações ao Cotista, nos valores e dentro dos termos aqui estabelecidos.</a:t>
            </a:r>
          </a:p>
          <a:p>
            <a:r>
              <a:t>(ii) Riscos do mercado secundário: A Classe é constituída sob a f orma de condomínio fechado, de modo que as Cotas somente serão resgatadas em virtude da liquidação da Classe. Uma vez que o Prazo de Duração da Classe é indeterminado, o Cotista titular das Cotas não terá liquidez em seu investimento na Classe, exceto</a:t>
            </a:r>
          </a:p>
          <a:p>
            <a:r>
              <a:t>(a) por ocasião das Amortizações e dos resgates, nos termos deste Regulamento; (b) por meio da alienação de suas Cotas no mercado secundário; ou (c) na liquidação antecipada do FUNDO ou da Classe.</a:t>
            </a:r>
          </a:p>
          <a:p>
            <a:r>
              <a:t>Além disso, atualmente, o mercado secundário de cotas de fundos de investimento apresenta baixa liquidez, o que pode dificultar a venda das Cotas ou ocasionar a obtenção de um preço de venda que cause perda de patrimônio ao Cotista. Não há qualquer garantia do Administrador, do Gestor, da consultora ou do Custodiante em relação à possibilidade de venda das Cotas no mercado secundário ou ao preço obtido por elas, ou mesmo garantia de saída ao Cotista.</a:t>
            </a:r>
          </a:p>
          <a:p>
            <a:r>
              <a:t>Riscos específicos</a:t>
            </a:r>
          </a:p>
          <a:p>
            <a:r>
              <a:t>(i)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ficar inadimplente e, consequentemente, não haverá repasse à Classe do respectivo Direito Creditório, o que poderá resultar em perdas f inanceiras à Classe e aos Cotistas. Para os f ins deste Regulamento, “Empregador” signif ica a empresa com qual o Devedor mantém vínculo empregatício registrado junto à CTPS.</a:t>
            </a:r>
          </a:p>
          <a:p>
            <a:r>
              <a:t>(ii) Risco do Empregador não efetuar o desconto em folha: o repasse dos recursos oriundos dos Direitos Creditórios à Classe depende da realização, pelo Empregador, da escrituração da Consignação a ser</a:t>
            </a:r>
          </a:p>
          <a:p>
            <a:r>
              <a:t>CNPJ 62552447000120 · Duração e público-alvo · Regulamento · ID 1200623 · 2026-05-21 · versão 1 · p. 1 · 1.3 · https://fnet.bmfbovespa.com.br/fnet/publico/visualizarDocumento?id=1200623</a:t>
            </a:r>
          </a:p>
          <a:p>
            <a:r>
              <a:t>CNPJ 62552447000120 · Duração e público-alvo · Excerto da fonte:</a:t>
            </a:r>
          </a:p>
          <a:p>
            <a:r>
              <a:t>1.3 Durante o seu prazo de duração, o Fundo, por ato conjunto dos Prestadores de Serviços Essenciais,  poderá constituir diferentes Classes e Subclasses , sendo que cada Classe terá patrimônio segregado e</a:t>
            </a:r>
          </a:p>
          <a:p>
            <a:r>
              <a:t>CNPJ 62552447000120 · Duração e público-alvo · Condição: Documentos atuais selecionados no inventário por categoria/escopo; a data documental isolada não comprova vigência jurídica.</a:t>
            </a:r>
          </a:p>
          <a:p>
            <a:r>
              <a:t>CNPJ 62552447000120 · Duração e público-alvo · Versão e prevalência: Documentos atuais selecionados no inventário por categoria/escopo; a data documental isolada não comprova vigência jurídica.</a:t>
            </a:r>
          </a:p>
          <a:p>
            <a:r>
              <a:t>CNPJ 62552447000120 · Duração e público-alvo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"duration_investors", "total_count": 1, "preview_count": 1, "full_text_deferred": true, "sha256": "d95db8c0613d67ee84118c734588665265ea6b02f86a0318d6a844cbe1d0f82f"}}</a:t>
            </a:r>
          </a:p>
          <a:p>
            <a:r>
              <a:t>CNPJ 63953620000165 · Duração e público-alvo · Anexo ao Regulamento · ID 1222863 · 2026-06-02 · versão 1 · p. 2 · https://fnet.bmfbovespa.com.br/fnet/publico/visualizarDocumento?id=1222863</a:t>
            </a:r>
          </a:p>
          <a:p>
            <a:r>
              <a:t>CNPJ 63953620000165 · Duração e público-alvo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Duração e público-alvo · Anexo ao Regulamento · ID 1222863 · 2026-06-02 · versão 1 · p. 1 · 1.1 · https://fnet.bmfbovespa.com.br/fnet/publico/visualizarDocumento?id=1222863</a:t>
            </a:r>
          </a:p>
          <a:p>
            <a:r>
              <a:t>CNPJ 63953620000165 · Duração e público-alvo · Excerto da fonte:</a:t>
            </a:r>
          </a:p>
          <a:p>
            <a:r>
              <a:t>1.1 As principais características da Classe Consignado Privado (para fins deste Anexo, “Classe”) estão descritas  abaixo:</a:t>
            </a:r>
          </a:p>
          <a:p>
            <a:r>
              <a:t> Tipo de Condomínio Fechado.</a:t>
            </a:r>
          </a:p>
          <a:p>
            <a:r>
              <a:t> Indeterminado, exceto se de outra forma vier a ser deliberado pelos Cotistas  Prazo de Duração  reunidos em Assembleia Especial de Cotistas. (“Prazo de Duração”)  Tipo “Financeiro”.</a:t>
            </a:r>
          </a:p>
          <a:p>
            <a:r>
              <a:t> Classificação ANBIMA  Foco de atuação “Créditos Consignados”.</a:t>
            </a:r>
          </a:p>
          <a:p>
            <a:r>
              <a:t> O objetivo da classe é proporcionar aos seus Cotistas a valorização de suas Cotas  por meio da aplicação de seu Patrimônio Líquido (conforme definido abaixo) na  aquisição de: (i) “Direitos Creditórios Crédito Consignado”, representados por  cédula de crédito bancário regida pela Lei nº 10.931, emitida eletronicamente por  um devedor em favor do endossante (“CCB”) e, consequentemente, os recebíveis  decorrente de cada uma das parcelas vincendas, representando um empréstimo  consignado concedido pelo endossante ao devedor, e cujo pagamento ordinário  é feito por desconto de cada prestação vincenda de uma CCB na folha de  pagamentos do devedor (“Consignação”), efetuada pela Caixa Econômica  Federal, de acordo com a legislação aplicável e em conformidade com os  procedimentos estabelecidos no convênio celebrado entre o Endossante e a  Empresa de Tecnologia e Informações da Previdência – DATAPREV e paga na  Conta Vinculada do Endossante (“Convênio Consignado Privado”); e/ou (ii)  “Direitos Creditórios TVM”, representados por direitos, títulos e/ou valores  mobiliários representativos de créditos originados no âmbito de operações de  sociedades integrantes do conglomerado econômico de instituições financeiras  classificadas como S1 pelo BACEN, desde que não representem títulos de  emissão ou coobrigação de instituições financeiras, bem como cotas de fundos  de investimento que invistam preponderantemente nestes direitos, títulos e/ou  Objetivo  valores mobiliários (Direitos Creditórios TVM quando referidos em conjunto  com os Direitos Creditórios Consignado Privado, “Direitos Creditórios”)  observados todos os limites de composição e diversificação da carteira da Classe  (“Carteira”), estabelecidos neste Regulamento e na regulamentação aplicável.</a:t>
            </a:r>
          </a:p>
          <a:p>
            <a:r>
              <a:t> Subsidiariamente, a parcela do Patrimônio Líquido que não esteja alocada em  Direitos Creditórios poderá estar alocado em: (1) certificados de depósito  bancário (CDB) ou recibos de depósito bancário (RDB) com prazo máximo de  vencimento equivalente ao prazo remanescente do Período de Investimento, com  liquidez diária, emitidos por Parati Crédito, Financiamento e Investimento S.A.</a:t>
            </a:r>
          </a:p>
          <a:p>
            <a:r>
              <a:t> e/ou pelo Endossante (“Ativos de Liquidez MT”); e/ou (2) (i) moeda corrente  nacional; (ii) títulos do Tesouro SELIC, anteriormente denominado letra financeira  do Tesouro Nacional (LFT); (iii) certificados de depósito bancário (CDB) ou recibos  de depósito bancário (RDB) com prazo máximo de vencimento equivalente ao  prazo remanescente do Período de Investimento, com liquidez diária, emitidos  por (a) Itaú Unibanco S.A.; (b) Banco Bradesco S.A.; (c) Caixa Econômica Federal;</a:t>
            </a:r>
          </a:p>
          <a:p>
            <a:r>
              <a:t> (d) Banco do Brasil S.A.; (e) Banco Santander (Brasil) S.A.; (f) Banco BTG Pactual  S.A.; (g) Banco Sistema S.A. (“Instituições Autorizadas”); (iv) operações  compromissadas, desde que lastreadas nos títulos mencionados nas alíneas (i) a</a:t>
            </a:r>
          </a:p>
          <a:p>
            <a:r>
              <a:t> (iii) acima, emitidas por Instituições Autorizadas, com liquidez diária e vencimento</a:t>
            </a:r>
          </a:p>
          <a:p>
            <a:r>
              <a:t>CNPJ 63953620000165 · Duração e público-alvo · Anexo ao Regulamento · ID 1222863 · 2026-06-02 · versão 1 · p. 10 · 6.7.1 · https://fnet.bmfbovespa.com.br/fnet/publico/visualizarDocumento?id=1222863</a:t>
            </a:r>
          </a:p>
          <a:p>
            <a:r>
              <a:t>CNPJ 63953620000165 · Duração e público-alvo · Excerto da fonte:</a:t>
            </a:r>
          </a:p>
          <a:p>
            <a:r>
              <a:t>6.7.1 As Chamadas de Capital para a realização de investimentos serão realizadas a qualquer momento  durante o Período de Investimento e estarão limitadas ao valor do capital subscrito de cada Cotista. As  Chamadas de Capital para o pagamento de despesas e encargos do Fundo, com exceção de despesas  relacionadas à instrumentos de derivativos e/ou Encargos não previstos no âmbito deste regulamento,  poderão ser realizadas a qualquer momento durante o Prazo de Duração, mas não estarão limitadas ao  valor do capital subscrito de cada Cotista.</a:t>
            </a:r>
          </a:p>
          <a:p>
            <a:r>
              <a:t>CNPJ 63953620000165 · Duração e público-alvo · Condição: Documentos atuais selecionados no inventário por categoria/escopo; a data documental isolada não comprova vigência jurídica.</a:t>
            </a:r>
          </a:p>
          <a:p>
            <a:r>
              <a:t>CNPJ 63953620000165 · Duração e público-alvo · Versão e prevalência: Documentos atuais selecionados no inventário por categoria/escopo; a data documental isolada não comprova vigência jurídica.</a:t>
            </a:r>
          </a:p>
          <a:p>
            <a:r>
              <a:t>CNPJ 63953620000165 · Duração e público-alvo · Resumo do histórico: {"count": 8, "dates": ["2026-04-28", "2026-05-08", "2026-05-15"], "document_count": 3, "sources": [{"document_id": "1327859", "title": "Demonstrações Financeiras - Fusão, cisão e incorporação", "reference_date": "2026-05-15", "version": "1", "page": 9, "url": "https://fnet.bmfbovespa.com.br/fnet/publico/visualizarDocumento?id=1327859", "sha256": "dca1c68babb97f887528c3e2e47596a9c30f507b067981a35655b2f2da9c8054"}, {"document_id": "1298691", "title": "Demonstrações Financeiras - Fusão, cisão e incorporação", "reference_date": "2026-05-08", "version": "1", "page": 9, "url": "https://fnet.bmfbovespa.com.br/fnet/publico/visualizarDocumento?id=1298691", "sha256": "58c570d9b8d4d265330d3db3ea81c435b8e44a6dab4002aa37790652a1ee9819"}, {"document_id": "1282180", "title": "Demonstrações Financeiras - Fusão, cisão e incorporação", "reference_date": "2026-04-28", "version": "1", "page": 9, "url": "https://fnet.bmfbovespa.com.br/fnet/publico/visualizarDocumento?id=1282180", "sha256": "afaaa0e6809be4385e5bdb6c911aac582032c5bdbac3d7750234bf9eaf00438a"}], "reference": {"path": "history/63953620000165.json", "criterion_id": "duration_investors",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Alocação e perímetro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Alocação mínima · Base da comparação IME: {"criterion_id": "allocation", "observed_value": 91.84981349574433, "unit": "percent", "competence": "08/2026", "status": "not_comparable", "reason": "Vigência efetiva não comprovada; data do documento isolada não certifica enquadramento histórico.", "formula": "credit_rights / net_asset_value × 100",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50.0}</a:t>
            </a:r>
          </a:p>
          <a:p>
            <a:r>
              <a:t>CNPJ 54871427000194 · Alocação mínima · Regulamento · ID 670691 · 28/04/2024 · versão Regulamento — referência 28/04/2024 · p. 11 · Anexo I, 4.9 · https://fnet.bmfbovespa.com.br/fnet/publico/visualizarDocumento?id=670691</a:t>
            </a:r>
          </a:p>
          <a:p>
            <a:r>
              <a:t>CNPJ 54871427000194 · Alocação mínima · Excerto da fonte:</a:t>
            </a:r>
          </a:p>
          <a:p>
            <a:r>
              <a:t>4.9 Decorridos 180 (cento e oitenta) dias da Data da 1ª Integralização de Cotas, a Classe deverá manter alocado, no mínimo, 50% (cinquenta por cento) do seu Patrimônio Líquido em Direitos Creditórios . 4.10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4.11 A Classe poderá, direta ou indiretamente e, nos termos da legislação aplicável: (i) adquirir Direitos Creditórios que sejam cedidos e/ou originados pelo ADMINISTRADOR e/ou pelo GESTOR, ou partes a eles relacionadas, tal como definidas pelas regras contábeis que tratam desse assunto; e (ii) ceder Direitos Creditórios a qualquer das pessoas, fundos de investimento ou entidades referidas n</a:t>
            </a:r>
          </a:p>
          <a:p>
            <a:r>
              <a:t>CNPJ 54871427000194 · Alocação mínima · Mecânica: {"operator": "&gt;=", "limit": 50.0, "unit": "percent", "numerator": "credit_rights", "denominator": "net_asset_value", "frequency": "daily", "layer": "54871427000194", "document_date": "2024-04-28", "effective_status": "document_date_only", "initial_days": 180}</a:t>
            </a:r>
          </a:p>
          <a:p>
            <a:r>
              <a:t>CNPJ 54871427000194 · Alocação mínima · Versão e prevalência: Leitura específica das cláusulas indicadas; condições e conflitos preservados. Seleção documental atual não comprova vigência jurídica por data isolada.</a:t>
            </a:r>
          </a:p>
          <a:p>
            <a:r>
              <a:t>CNPJ 54871427000194 · Alocação mínima · Resumo do histórico: {"count": 2, "dates": ["2024-04-19", "2024-04-28"], "document_count": 2, "sources": [{"document_id": "670691", "title": "Regulamento", "reference_date": "2024-04-28", "version": "1", "page": "11", "url": "https://fnet.bmfbovespa.com.br/fnet/publico/visualizarDocumento?id=670691", "sha256": "bf16dd7f1a62d5cdbf2e2d54fef81783783f7310fbc99c3a8f00459bdf9d037b"}, {"document_id": "670689", "title": "Regulamento", "reference_date": "2024-04-19", "version": "1", "page": 11, "clause": "4.9", "url": "https://fnet.bmfbovespa.com.br/fnet/publico/visualizarDocumento?id=670689", "sha256": "891bc9bc5d87bbc02ec139077a84d2702eb81ea02035fb71d24f5b8366b94a0b"}], "reference": {"path": "history/54871427000194.json", "criterion_id": "allocation", "total_count": 2, "preview_count": 2, "full_text_deferred": true, "sha256": "35d7cd99be50c7287c9fb675cf4f2e736002315295a225a9efa79c8d9186d874"}}</a:t>
            </a:r>
          </a:p>
          <a:p>
            <a:r>
              <a:t>CNPJ 60010416000112 · Alocação mínima · Base da comparação IME: {"criterion_id": "allocation", "observed_value": 117.78665480900618, "unit": "percent", "competence": "08/2026", "status": "not_comparable", "reason": "Vigência efetiva não comprovada; data do documento isolada não certifica enquadramento histórico.", "formula": "credit_rights / net_asset_value × 100",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50.0}</a:t>
            </a:r>
          </a:p>
          <a:p>
            <a:r>
              <a:t>CNPJ 60010416000112 · Alocação mínima · Regulamento · ID 1051393 · 09/10/2025 · versão Regulamento09/10/2025 · p. 11 · AnexoI4.6 · https://fnet.bmfbovespa.com.br/fnet/publico/visualizarDocumento?id=1051393</a:t>
            </a:r>
          </a:p>
          <a:p>
            <a:r>
              <a:t>CNPJ 60010416000112 · Alocação mínima · Excerto da fonte:</a:t>
            </a:r>
          </a:p>
          <a:p>
            <a:r>
              <a:t>4.6 Decorridos 180 (cento e oitenta) dias do início de suas atividades, a Classe deverá manter alocado, no mínimo: para f ins tributários, 67% (sessenta e sete por cento) do seu Patrimônio Líquido em Direitos Creditórios, nos termos da Resolução CMN 5.111; e para fins regulatórios, 50% (cinquenta por cento) do seu Patrimônio Líquido em Direitos Creditórios, nos termos da Resolução CVM 175. BTG Pactual SAC: 0800 772 28 27 - Ouvidoria: 0800 722 00 48 - btgpactual.com 11</a:t>
            </a:r>
          </a:p>
          <a:p>
            <a:r>
              <a:t>CNPJ 60010416000112 · Alocação mínima · Mecânica: {"operator": "&gt;=", "unit": "percent", "denominator": "net_asset_value", "frequency": "not_stated", "layer": "class", "effective_status": "document_date_only", "document_date": "2025-10-09", "numerator": "credit_rights", "limit": 50.0, "requires_initial_date": true}</a:t>
            </a:r>
          </a:p>
          <a:p>
            <a:r>
              <a:t>CNPJ 60010416000112 · Alocação mínima · Versão e prevalência: Leitura específica das cláusulas indicadas; condições e conflitos preservados. Seleção documental atual não comprova vigência jurídica por data isolada.</a:t>
            </a:r>
          </a:p>
          <a:p>
            <a:r>
              <a:t>CNPJ 60010416000112 · Alocação mínima · Resumo do histórico: {"count": 2, "dates": ["2025-03-20", "2025-10-09"], "document_count": 2, "sources": [{"document_id": "1051393", "title": "Regulamento", "reference_date": "2025-10-09", "version": "1", "page": "11", "url": "https://fnet.bmfbovespa.com.br/fnet/publico/visualizarDocumento?id=1051393", "sha256": "8469d613078ffd5a6c1d217885d8a397a16342c0b937ae4aa24b106505f233ae"}, {"document_id": "993786", "title": "Regulamento", "reference_date": "2025-03-20", "version": "1", "page": 6, "clause": "5.3", "url": "https://fnet.bmfbovespa.com.br/fnet/publico/visualizarDocumento?id=993786", "sha256": "fd0fdd369a195510d81f81f505195a0b09e5f43522a990afa7d58c4f872921c8"}], "reference": {"path": "history/60010416000112.json", "criterion_id": "allocation", "total_count": 2, "preview_count": 2, "full_text_deferred": true, "sha256": "8e2bd813f4c51cf01f6bfaad164bafe69d2bbb192f753eac92da3a01c2e63046"}}</a:t>
            </a:r>
          </a:p>
          <a:p>
            <a:r>
              <a:t>CNPJ 62696791000193 · Alocação mínima · Base da comparação IME: {"criterion_id": "allocation", "observed_value": null, "unit": "percent", "competence": "08/2026", "status": "not_comparable", "reason": "Operador, unidade, numerador ou base contratual sem correspondência exata no IME; proxies de PL/ativos não são intercambiáveis. CPR declarada no FIAGRO não comprova elegibilidade individual nem correspondência integral com a definição contratual de direitos creditórios do agronegócio.",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51.0, "comparison_required": true, "context_value": 99.72659520720684, "context_unit": "percent", "context_formula": "CPR / PL (rubrica declarada no FIAGRO)"}</a:t>
            </a:r>
          </a:p>
          <a:p>
            <a:r>
              <a:t>CNPJ 62696791000193 · Alocação mínima · Regulamento · ID 1143317 · 20/03/2026 · versão Regulamento — referência 20/03/2026 · p. 10 · Anexo I, 4.2 · https://fnet.bmfbovespa.com.br/fnet/publico/visualizarDocumento?id=1143317</a:t>
            </a:r>
          </a:p>
          <a:p>
            <a:r>
              <a:t>CNPJ 62696791000193 · Alocação mínima · Excerto da fonte:</a:t>
            </a:r>
          </a:p>
          <a:p>
            <a:r>
              <a:t>4.2 Decorridos 180 (cento e oitenta) dias do início de suas atividades, a Classe deverá possuir parcela mínima de 51% (cinquenta e um por cento) de seu Patrimônio Líquido representados por Direitos Creditórios do Agronegócio, enquanto a parcela de 49% (quarenta e nove por cento) remanescente deverá ser alocada em Outros Ativos ou Ativos Financeiros de Liquidez. 4.3 Os Direitos Creditórios do Agronegócio serão adquiridos integral ou parcialmente, sempre de acordo com a Política de Investimentos. 4.4 Tendo em vista (i) a natureza variada dos Direitos Creditórios do Agronegócio passíveis de aquisição pela Classe; (ii) a amplitude da Política de Investimentos; e (iii) a potencial diversificação de Cedentes/Endossantes e Devedores, não é possível precisar os processos de origem dos Direitos Creditórios do Agronegócio e as políticas de concessão de crédito adotadas pelos Cedentes/Endossantes. 4.5 Os Direitos Creditórios do Agronegócio deverão contar com toda a documentação necessária para o exercício das prerrogativas decorrentes da titularidade dos ativos, e capaz de comprovar a origem, a existência e a exigibilidade dos Direitos Creditórios do Agronegócio (“Documentos Comprobatórios”)</a:t>
            </a:r>
          </a:p>
          <a:p>
            <a:r>
              <a:t>CNPJ 62696791000193 · Alocação mínima · AGE · ID 1143319 · 20/03/2026 10:00 · versão AGE — referência 20/03/2026 10:00 · p. 3 · AGC 20/03/2026, 4.1(j)–(k) · https://fnet.bmfbovespa.com.br/fnet/publico/visualizarDocumento?id=1143319</a:t>
            </a:r>
          </a:p>
          <a:p>
            <a:r>
              <a:t>CNPJ 62696791000193 · Alocação mínima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Alocação mínima · Condição: Vigente a partir do fechamento de 23/03/2026. O agregado genérico de direitos do IME não comprova, sozinho, a natureza agronegócio de todos os ativos nem a conclusão da carência inicial.</a:t>
            </a:r>
          </a:p>
          <a:p>
            <a:r>
              <a:t>CNPJ 62696791000193 · Alocação mínima · Mecânica: {"operator": "&gt;=", "limit": 51.0, "unit": "percent", "numerator": "agribusiness_credit_rights", "denominator": "net_asset_value", "frequency": "daily", "layer": "62696791000193", "effective_from": "2026-03-23", "effective_status": "explicit_assembly_effective_date", "initial_days": 180, "initial_date": null}</a:t>
            </a:r>
          </a:p>
          <a:p>
            <a:r>
              <a:t>CNPJ 62696791000193 · Alocação mínima · Versão e prevalência: Leitura específica das cláusulas indicadas; condições e conflitos preservados. Seleção documental atual não comprova vigência jurídica por data isolada.</a:t>
            </a:r>
          </a:p>
          <a:p>
            <a:r>
              <a:t>CNPJ 55563624000109 · Alocação mínima · Base da comparação IME: {"criterion_id": "allocation", "observed_value": 99.87020304792446, "unit": "percent", "competence": "08/2026", "status": "not_comparable", "reason": "Vigência efetiva não comprovada; data do documento isolada não certifica enquadramento histórico.", "formula": "fidc_quotas / net_asset_value × 100",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67.0}</a:t>
            </a:r>
          </a:p>
          <a:p>
            <a:r>
              <a:t>CNPJ 55563624000109 · Alocação mínima · Regulamento · ID 1192614 · 30/04/2026 · versão Regulamento30/04/2026 · p. 13 · AnexoI4.10 · https://fnet.bmfbovespa.com.br/fnet/publico/visualizarDocumento?id=1192614</a:t>
            </a:r>
          </a:p>
          <a:p>
            <a:r>
              <a:t>CNPJ 55563624000109 · Alocação mínima · Excerto da fonte:</a:t>
            </a:r>
          </a:p>
          <a:p>
            <a:r>
              <a:t>4.10 Decorridos 180 (cento e oitenta) dias da Data da 1ª Integralização da Classe, a Classe deverá manter alocado, no mínimo, 67% (sessenta e sete por cento) do seu Patrimônio Líquido em Cotas da Classe Investida. 4.11 Nos termos dos artigos 45, parágrafo 7º, e 47 parágrafo único do Anexo Normativo II à Resolução CVM 175, uma vez que as Cotas são destinadas exclusivamente a Investidores Profissionais, a Classe poderá ter até 100% (cem por cento) de seu Patrimônio Líquido alocado em Cotas da Classe Investida, as quais são emitidas pela Classe Investida.</a:t>
            </a:r>
          </a:p>
          <a:p>
            <a:r>
              <a:t>CNPJ 55563624000109 · Alocação mínima · Regulamento · ID 1192614 · 30/04/2026 · versão Regulamento30/04/2026 · p. 12 · AnexoI4.9 · https://fnet.bmfbovespa.com.br/fnet/publico/visualizarDocumento?id=1192614</a:t>
            </a:r>
          </a:p>
          <a:p>
            <a:r>
              <a:t>CNPJ 55563624000109 · Alocação mínima · Excerto da fonte:</a:t>
            </a:r>
          </a:p>
          <a:p>
            <a:r>
              <a:t>4.9 A parcela do Patrimônio Líquido que não estiver alocada em Cotas da Classe Investida será necessariamente alocada em Ativos Financeiros de Liquidez. BTG Pactual SAC: 0800 772 28 27 - Ouvidoria: 0800 722 00 48 - btgpactual.com 5</a:t>
            </a:r>
          </a:p>
          <a:p>
            <a:r>
              <a:t>CNPJ 55563624000109 · Alocação mínima · Mecânica: {"operator": "&gt;=", "limit": 67.0, "unit": "percent", "numerator": "fidc_quotas", "denominator": "net_asset_value", "frequency": "not_stated", "layer": "class", "effective_status": "document_date_only", "document_date": "2026-04-30", "requires_initial_date": true}</a:t>
            </a:r>
          </a:p>
          <a:p>
            <a:r>
              <a:t>CNPJ 55563624000109 · Alocação mínima · Versão e prevalência: Leitura específica das cláusulas indicadas; condições e conflitos preservados. Seleção documental atual não comprova vigência jurídica por data isolada.</a:t>
            </a:r>
          </a:p>
          <a:p>
            <a:r>
              <a:t>CNPJ 55563624000109 · Alocação mínima · Resumo do histórico: {"count": 1, "dates": ["2026-04-30"], "document_count": 1, "sources": [{"document_id": "1192614", "title": "Regulamento", "reference_date": "2026-04-30", "version": "1", "page": "11-13", "url": "https://fnet.bmfbovespa.com.br/fnet/publico/visualizarDocumento?id=1192614", "sha256": "f56e63ace0acde41d2f47fb48f1ac7f3f7df5e2d32de092d7c5e075a52516632"}], "reference": {"path": "history/55563624000109.json", "criterion_id": "allocation", "total_count": 1, "preview_count": 1, "full_text_deferred": true, "sha256": "7835d573fb58a3c19adf5b8ecc2aee2bdbb9a88f7a0c0209b5f262b64c7522e3"}}</a:t>
            </a:r>
          </a:p>
          <a:p>
            <a:r>
              <a:t>CNPJ 62552447000120 · Alocação mínima · Base da comparação IME: {"criterion_id": "allocation", "observed_value": 104.36099466414683, "unit": "percent", "competence": "08/2026", "status": "not_comparable", "reason": "Vigência efetiva não comprovada; data do documento isolada não certifica enquadramento histórico.", "formula": "credit_rights / net_asset_value × 100",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50.0}</a:t>
            </a:r>
          </a:p>
          <a:p>
            <a:r>
              <a:t>CNPJ 62552447000120 · Alocação mínima · Regulamento · ID 1200623 · 21/05/2026 · versão Consolidado21/05/2026 aprovado pelo ato1200625 · p. 14 · AnexoI4.9 · https://fnet.bmfbovespa.com.br/fnet/publico/visualizarDocumento?id=1200623</a:t>
            </a:r>
          </a:p>
          <a:p>
            <a:r>
              <a:t>CNPJ 62552447000120 · Alocação mínima · Excerto da fonte:</a:t>
            </a:r>
          </a:p>
          <a:p>
            <a:r>
              <a:t>4.9 Decorridos 180 (cento e oitenta) dias da Data da Primeira Integralização, a Classe deverá manter alocados em Direitos Creditórios, no mínimo, para fins tributários, 67% (sessenta e sete por cento) do seu Patrimônio Líquido, nos termos da Lei 14.754 e da Resolução CMN 5.111, e, para fins regulatórios, 50% (cinquenta por cento) do seu Patrimônio Líquido, nos termos da Resolução CVM 175. Eventual desenquadramento da Carteira obrigará o Gestor aos procedimentos de desenquadramento e reenquadramento previstos na Lei 14.754 e na Resolução CMN 5.111, para f ins tributários, e na Resolução CVM 175, par</a:t>
            </a:r>
          </a:p>
          <a:p>
            <a:r>
              <a:t>CNPJ 62552447000120 · Alocação mínima · Mecânica: {"operator": "&gt;=", "unit": "percent", "numerator": "credit_rights", "denominator": "net_asset_value", "frequency": "not_stated", "layer": "class", "effective_status": "document_date_only", "document_date": "2026-05-21", "requires_initial_date": true, "limit": 50.0}</a:t>
            </a:r>
          </a:p>
          <a:p>
            <a:r>
              <a:t>CNPJ 62552447000120 · Alocação mínima · Versão e prevalência: Leitura específica das cláusulas indicadas; condições e conflitos preservados. Seleção documental atual não comprova vigência jurídica por data isolada.</a:t>
            </a:r>
          </a:p>
          <a:p>
            <a:r>
              <a:t>CNPJ 63953620000165 · Alocação mínima · Base da comparação IME: {"criterion_id": "allocation", "observed_value": 93.29241106598856, "unit": "percent", "competence": "08/2026", "status": "not_comparable", "reason": "Vigência efetiva não comprovada; data do documento isolada não certifica enquadramento histórico.", "formula": "credit_rights / net_asset_value × 100",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50.0}</a:t>
            </a:r>
          </a:p>
          <a:p>
            <a:r>
              <a:t>CNPJ 63953620000165 · Alocação mínima · Anexo ao Regulamento · ID 1222863 · 02/06/2026 · versão AnexoConsignadoPrivado02/06/2026 · p. 6 · 4.13 · https://fnet.bmfbovespa.com.br/fnet/publico/visualizarDocumento?id=1222863</a:t>
            </a:r>
          </a:p>
          <a:p>
            <a:r>
              <a:t>CNPJ 63953620000165 · Alocação mínima · Excerto da fonte:</a:t>
            </a:r>
          </a:p>
          <a:p>
            <a:r>
              <a:t>4.13 Decorridos 180 (cento e oitenta) dias do início de suas atividades, a Classe deverá manter alocado, no mínimo, para fins tributários, 67% (sessenta e sete por cento) do seu Patrimônio Líquido em Direitos Creditórios, nos termos da Resolução CMN 5.111, e para fins regulatórios, 50% (cinquenta por cento) do seu Patrimônio Líquido em Direitos Creditórios, nos termos da Resolução CVM 175. 4.14 Nos termos do Art. 45, §7º, inciso II, do Anexo Normativo II da Resolução CVM 175, a Classe poderá ter até 100% (cem por cento) de seu Patrimônio Líquido alocado em Direitos Creditórios, derivativos, observado o disposto nest</a:t>
            </a:r>
          </a:p>
          <a:p>
            <a:r>
              <a:t>CNPJ 63953620000165 · Alocação mínima · Mecânica: {"operator": "&gt;=", "unit": "percent", "denominator": "net_asset_value", "frequency": "not_stated", "layer": "class", "effective_status": "document_date_only", "document_date": "2026-06-02", "limit": 50.0, "numerator": "credit_rights", "requires_initial_date": true}</a:t>
            </a:r>
          </a:p>
          <a:p>
            <a:r>
              <a:t>CNPJ 63953620000165 · Alocação mínima · Versão e prevalência: Leitura específica das cláusulas indicadas; condições e conflitos preservados. Seleção documental atual não comprova vigência jurídica por data isolada.</a:t>
            </a:r>
          </a:p>
          <a:p>
            <a:r>
              <a:t>CNPJ 54871427000194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null, "comparison_required": true, "context_formula": "Direitos creditórios / PL", "context_value": 91.84981349574433, "context_unit": "percent"}</a:t>
            </a:r>
          </a:p>
          <a:p>
            <a:r>
              <a:t>CNPJ 54871427000194 · Alocação para tratamento tributário · Regulamento · ID 670691 · 2024-04-28 · versão 1 · p. 5 · https://fnet.bmfbovespa.com.br/fnet/publico/visualizarDocumento?id=670691</a:t>
            </a:r>
          </a:p>
          <a:p>
            <a:r>
              <a:t>CNPJ 54871427000194 · Alocação para tratamento tributário · Excerto da fonte:</a:t>
            </a:r>
          </a:p>
          <a:p>
            <a:r>
              <a:t>Os rendimentos auf eridos pelo cotista do FUNDO estarão sujeitos à tributação pelo IR, à alíquota de  15% (quinze por cento), na data da distribuição de rendimentos ou d a amortização de cotas,  considerando que o FUNDO seja classificado como entidade de investimento e cumpra os critérios de  composição da carteira com, no mínimo, 67% (sessenta e sete por cento) de direitos creditórios de  acordo com a Lei nº 14.754, de 12 de dezembro de 2023 (“Lei 14.754”) e a Resolução do Conselho  Monetário Nacional nº 5.111, de 21 de dezembro de 2023 (“Resolução CMN 5.111”).</a:t>
            </a:r>
          </a:p>
          <a:p>
            <a:r>
              <a:t>CNPJ 54871427000194 · Alocação para tratamento tributário · Regulamento · ID 670691 · 2024-04-28 · versão 1 · p. 5 · https://fnet.bmfbovespa.com.br/fnet/publico/visualizarDocumento?id=670691</a:t>
            </a:r>
          </a:p>
          <a:p>
            <a:r>
              <a:t>CNPJ 54871427000194 · Alocação para tratamento tributário · Excerto da fonte:</a:t>
            </a:r>
          </a:p>
          <a:p>
            <a:r>
              <a:t>A GESTORA do FUNDO buscará manter o cumprimento do requisito de composição da carteira do  FUNDO com, no mínimo 67% (sessenta e sete por cento) em direitos creditórios acima comentados.</a:t>
            </a:r>
          </a:p>
          <a:p>
            <a:r>
              <a:t> Todavia, caso a composição mínima do patrimônio líquido do FUNDO não seja atingida e ocorra o  ef etivo desenquadramento tributário da carteira, os cotistas pessoa f ísica ou jurídica residentes no  Brasil passarão a se sujeitar à regra geral de tributação de fundos, conforme previsto no art. 17 da Lei</a:t>
            </a:r>
          </a:p>
          <a:p>
            <a:r>
              <a:t> 14.754, segundo a qual: (1) haverá incidência periódica de IR todo mês de maio e novembro de cada  ano-calendário sobre os rendimentos auferidos pelo cotista em relação ao investimento nas cotas do  FUNDO, à alíquota de 15% (quinze por cento) ou 20% (vinte por cento), a depender da carteira do  FUNDO ser classificada, respectivamente, como de curto ou longo prazo; e (2) haverá incidência de IR  complementar, conforme alíquotas regressivas que variam de 22,5% (vinte e dois e meio por cento) a  15% (quinze por cento) a depender do prazo de aplicação, por ocasião da amortização ou liquidação  das Cotas do FUNDO. Certos tipos de investidor podem se benef iciar de alíquotas dif erenciadas.</a:t>
            </a:r>
          </a:p>
          <a:p>
            <a:r>
              <a:t>CNPJ 54871427000194 · Alocação para tratamento tributário · Condição: Documentos atuais selecionados no inventário por categoria/escopo; a data documental isolada não comprova vigência jurídica.</a:t>
            </a:r>
          </a:p>
          <a:p>
            <a:r>
              <a:t>CNPJ 54871427000194 · Alocação para tratamento tributário · Versão e prevalência: Documentos atuais selecionados no inventário por categoria/escopo; a data documental isolada não comprova vigência jurídica.</a:t>
            </a:r>
          </a:p>
          <a:p>
            <a:r>
              <a:t>CNPJ 54871427000194 · Alocação para tratamento tributário · Resumo do histórico: {"count": 1, "dates": ["2024-04-19"], "document_count": 1, "sources": [{"document_id": "670689", "title": "Regulamento", "reference_date": "2024-04-19", "version": "1", "page": 5, "url": "https://fnet.bmfbovespa.com.br/fnet/publico/visualizarDocumento?id=670689", "sha256": "891bc9bc5d87bbc02ec139077a84d2702eb81ea02035fb71d24f5b8366b94a0b"}], "reference": {"path": "history/54871427000194.json", "criterion_id": "tax_allocation", "total_count": 1, "preview_count": 1, "full_text_deferred": true, "sha256": "35d7cd99be50c7287c9fb675cf4f2e736002315295a225a9efa79c8d9186d874"}}</a:t>
            </a:r>
          </a:p>
          <a:p>
            <a:r>
              <a:t>CNPJ 60010416000112 · Alocação para tratamento tributário · Base da comparação IME: {"criterion_id": "tax_allocation", "observed_value": 117.78665480900618, "unit": "percent", "competence": "08/2026", "status": "not_comparable", "reason": "Vigência efetiva não comprovada; data do documento isolada não certifica enquadramento histórico.", "formula": "credit_rights / net_asset_value × 100",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67.0}</a:t>
            </a:r>
          </a:p>
          <a:p>
            <a:r>
              <a:t>CNPJ 60010416000112 · Alocação para tratamento tributário · Regulamento · ID 1051393 · 09/10/2025 · versão Regulamento09/10/2025 · p. 11 · AnexoI4.6 · https://fnet.bmfbovespa.com.br/fnet/publico/visualizarDocumento?id=1051393</a:t>
            </a:r>
          </a:p>
          <a:p>
            <a:r>
              <a:t>CNPJ 60010416000112 · Alocação para tratamento tributário · Excerto da fonte:</a:t>
            </a:r>
          </a:p>
          <a:p>
            <a:r>
              <a:t>4.6 Decorridos 180 (cento e oitenta) dias do início de suas atividades, a Classe deverá manter alocado, no mínimo: para f ins tributários, 67% (sessenta e sete por cento) do seu Patrimônio Líquido em Direitos Creditórios, nos termos da Resolução CMN 5.111; e para fins regulatórios, 50% (cinquenta por cento) do seu Patrimônio Líquido em Direitos Creditórios, nos termos da Resolução CVM 175. BTG Pactual SAC: 0800 772 28 27 - Ouvidoria: 0800 722 00 48 - btgpactual.com 11</a:t>
            </a:r>
          </a:p>
          <a:p>
            <a:r>
              <a:t>CNPJ 60010416000112 · Alocação para tratamento tributário · Mecânica: {"operator": "&gt;=", "unit": "percent", "denominator": "net_asset_value", "frequency": "not_stated", "layer": "class", "effective_status": "document_date_only", "document_date": "2025-10-09", "numerator": "credit_rights", "limit": 67.0, "requires_initial_date": true}</a:t>
            </a:r>
          </a:p>
          <a:p>
            <a:r>
              <a:t>CNPJ 60010416000112 · Alocação para tratamento tributário · Versão e prevalência: Leitura específica das cláusulas indicadas; condições e conflitos preservados. Seleção documental atual não comprova vigência jurídica por data isolada.</a:t>
            </a:r>
          </a:p>
          <a:p>
            <a:r>
              <a:t>CNPJ 60010416000112 · Alocação para tratamento tributário · Resumo do histórico: {"count": 1, "dates": ["2025-03-20"], "document_count": 1, "sources": [{"document_id": "993786", "title": "Regulamento", "reference_date": "2025-03-20", "version": "1", "page": 6, "clause": "5.3", "url": "https://fnet.bmfbovespa.com.br/fnet/publico/visualizarDocumento?id=993786", "sha256": "fd0fdd369a195510d81f81f505195a0b09e5f43522a990afa7d58c4f872921c8"}], "reference": {"path": "history/60010416000112.json", "criterion_id": "tax_allocation", "total_count": 1, "preview_count": 1, "full_text_deferred": true, "sha256": "8e2bd813f4c51cf01f6bfaad164bafe69d2bbb192f753eac92da3a01c2e63046"}}</a:t>
            </a:r>
          </a:p>
          <a:p>
            <a:r>
              <a:t>CNPJ 62696791000193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null, "comparison_required": true, "context_formula": "Direitos creditórios / PL", "context_value": null, "context_unit": "percent"}</a:t>
            </a:r>
          </a:p>
          <a:p>
            <a:r>
              <a:t>CNPJ 62696791000193 · Alocação para tratamento tributário · Regulamento · ID 1143317 · 2026-03-20 · versão 1 · p. 30 · https://fnet.bmfbovespa.com.br/fnet/publico/visualizarDocumento?id=1143317</a:t>
            </a:r>
          </a:p>
          <a:p>
            <a:r>
              <a:t>CNPJ 62696791000193 · Alocação para tratamento tributário · Excerto da fonte:</a:t>
            </a:r>
          </a:p>
          <a:p>
            <a:r>
              <a:t>Os rendimentos distribuídos pela Classe, de modo geral, sujeitam-se à incidência do IRF à alíquota  de 20% (vinte por cento), inclusive quando distribuídos à Cotista que seja pessoa jurídica isenta.</a:t>
            </a:r>
          </a:p>
          <a:p>
            <a:r>
              <a:t> Os ganhos de capital ou rendimentos auf eridos na alienação ou no resgate de cotas da Classe  sujeitam-se à tributação pelo IRF à alíquota de 20% (vinte por cento), no caso de resgate de cotas,  ou conforme normas aplicáveis aos ganhos de capital ou ganhos líquidos auf eridos em renda  variável, nos casos de alienação de cotas.</a:t>
            </a:r>
          </a:p>
          <a:p>
            <a:r>
              <a:t> O IRF pago será considerado: (i) antecipação da tributação corporativa para os investidores pessoa  jurídica (nos regimes de lucro real, presumido ou arbitrado); e (ii) def initivo, nos demais casos,  incluindo de investidores pessoas f ísicas.</a:t>
            </a:r>
          </a:p>
          <a:p>
            <a:r>
              <a:t> Não obstante o disposto no item acima, em conf ormidade com o disposto na Lei 11.033, com a  redação dada pela Lei nº 14.754, o cotista pessoa f ísica f icará isento do IRF e na declaração de  ajuste anual, sobre as distribuições de lucro realizadas pela Classe, exclusivamente na hipótese de  a Classe, cumulativamente: (a) possuir, no mínimo, 100 (cem) cotistas; e (b) as cotas serem  admitidas à negociação exclusivamente em bolsas de valores ou no mercado de balcão organizado.</a:t>
            </a:r>
          </a:p>
          <a:p>
            <a:r>
              <a:t> O benef ício não será concedido ao Cotista que for pessoa física, titular de cotas que representem  10% (dez por cento) ou mais da totalidade das cotas emitidas pela Classe ou cujas cotas lhe derem  direito ao recebimento de rendimento superior a 10% (dez por cento) do total de rendimentos  auf eridos pela Classe.</a:t>
            </a:r>
          </a:p>
          <a:p>
            <a:r>
              <a:t> O benef ício também não será concedido aos Cotistas pessoas físicas que, individualmente ou em  conjunto com parentes até segundo grau, sejam titulares de cotas que representem 30% (trinta por  cento) ou mais da totalidade das cotas emitidas pela Classe, ou ainda cujas cotas lhes derem direito  ao recebimento de rendimento superior a 30% (trinta por cento) do total de rendimentos auf eridos  pela Classe.</a:t>
            </a:r>
          </a:p>
          <a:p>
            <a:r>
              <a:t> Não há garantia de que o benef ício f iscal atualmente vigente não venha a ser posteriormente  restringido, suspenso, revogado ou extinto por legislação superveniente, ocasião na qual poderá vir  a incidir a tributação sobre os rendimentos distribuídos pela Classe, de acordo com os termos da  legislação que vier a estabelecer a incidência tributária.</a:t>
            </a:r>
          </a:p>
          <a:p>
            <a:r>
              <a:t>CNPJ 62696791000193 · Alocação para tratamento tributário · Condição: Documentos atuais selecionados no inventário por categoria/escopo; a data documental isolada não comprova vigência jurídica.</a:t>
            </a:r>
          </a:p>
          <a:p>
            <a:r>
              <a:t>CNPJ 62696791000193 · Alocação para tratamento tributário · Versão e prevalência: Documentos atuais selecionados no inventário por categoria/escopo; a data documental isolada não comprova vigência jurídica.</a:t>
            </a:r>
          </a:p>
          <a:p>
            <a:r>
              <a:t>CNPJ 55563624000109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null, "comparison_required": true, "context_formula": "Direitos creditórios / PL", "context_value": 0.0, "context_unit": "percent"}</a:t>
            </a:r>
          </a:p>
          <a:p>
            <a:r>
              <a:t>CNPJ 55563624000109 · Alocação para tratamento tributário · Regulamento · ID 1192614 · 2026-04-30 · versão 1 · p. 38 · https://fnet.bmfbovespa.com.br/fnet/publico/visualizarDocumento?id=1192614</a:t>
            </a:r>
          </a:p>
          <a:p>
            <a:r>
              <a:t>CNPJ 55563624000109 · Alocação para tratamento tributário · Excerto da fonte:</a:t>
            </a:r>
          </a:p>
          <a:p>
            <a:r>
              <a:t>(xiii) Risco de descaracterização do regime tributário aplicável à Classe. Caso (a) a Classe deixe de  cumprir com o percentual de, pelo menos, 67% (sessenta e sete por cento) do Patrimônio Líquido  aplicado em direitos creditórios, nos termos dos artigos 18, 19 e 24 da Lei 14.754, para fins de  enquadramento do FUNDO e da Classe como “Entidade de Investimento” na forma da Resolução do  CMN nº 5.111, de 21 de dezembro de 2023, conforme alterada, ou qualquer outra norma que venha  a substitui-la, sujeitando o FUNDO e a Classe ao “Regime Específico dos Fundos Não Sujeitos à  Tributação Periódica” conforme a na Seção III da Lei 14.754 ou deixe de satisfazer qualquer uma das  condições previstas na Lei 14.754, neste Anexo e/ou no Regulamento; e/ou (b) o FUNDO ou Classe  deixe de ser enquadrado como “Entidade de Investimento” na forma da Resolução do CMN nº 5.111,  de 21 de dezembro de 2023, ou demais normas do CMN e da CVM, não é possível garantir que o  FUNDO e/ou Classe continuarão a receber o tratamento tributário destinado ao “Regime Específico  dos Fundos Não Sujeitos à Tributação Periódica”, conforme definido na legislação específica.</a:t>
            </a:r>
          </a:p>
          <a:p>
            <a:r>
              <a:t>CNPJ 55563624000109 · Alocação para tratamento tributário · Regulamento · ID 1192614 · 2026-04-30 · versão 1 · p. 6 · https://fnet.bmfbovespa.com.br/fnet/publico/visualizarDocumento?id=1192614</a:t>
            </a:r>
          </a:p>
          <a:p>
            <a:r>
              <a:t>CNPJ 55563624000109 · Alocação para tratamento tributário · Excerto da fonte:</a:t>
            </a:r>
          </a:p>
          <a:p>
            <a:r>
              <a:t>No caso de Fundos de Investimento em Direitos Creditórios (FIDC) classificados como “entidade de investimento” e  cuja carteira seja composta por, no mínimo, 67% (sessenta e sete por cento) de direitos creditórios conforme definições  prescritas em regulamentação expedida pelo Conselho Monetário Nacional, os rendimentos auferidos na amortização  ou no resgate das cotas, inclusive quando decorrentes da liquidação do FUNDO, ficam sujeitos à incidência do IRF à  alíquota de 15% (quinze por cento) sobre a diferença positiva entre o valor de amortização ou resgate e o custo de  aquisição das Cotas.</a:t>
            </a:r>
          </a:p>
          <a:p>
            <a:r>
              <a:t>CNPJ 55563624000109 · Alocação para tratamento tributário · Condição: Documentos atuais selecionados no inventário por categoria/escopo; a data documental isolada não comprova vigência jurídica.</a:t>
            </a:r>
          </a:p>
          <a:p>
            <a:r>
              <a:t>CNPJ 55563624000109 · Alocação para tratamento tributário · Versão e prevalência: Documentos atuais selecionados no inventário por categoria/escopo; a data documental isolada não comprova vigência jurídica.</a:t>
            </a:r>
          </a:p>
          <a:p>
            <a:r>
              <a:t>CNPJ 55563624000109 · Alocação para tratamento tributário · Resumo do histórico: {"count": 2, "dates": ["2025-01-31", "2026-01-31"], "document_count": 2, "sources": [{"document_id": "1178840", "title": "Demonstrações Financeiras", "reference_date": "2026-01-31", "version": "1", "page": 23, "url": "https://fnet.bmfbovespa.com.br/fnet/publico/visualizarDocumento?id=1178840", "sha256": "c458e98664c5c907ddb5a05a94b120bed4e05295b2bfc420f5ba69af0a229abe"}, {"document_id": "891861", "title": "Demonstrações Financeiras", "reference_date": "2025-01-31", "version": "1", "page": 24, "url": "https://fnet.bmfbovespa.com.br/fnet/publico/visualizarDocumento?id=891861", "sha256": "e9cb9e6ddbe505fe068cfcac33605165a98313489de0d3ce6d4d238263c3f3e7"}], "reference": {"path": "history/55563624000109.json", "criterion_id": "tax_allocation", "total_count": 2, "preview_count": 2, "full_text_deferred": true, "sha256": "7835d573fb58a3c19adf5b8ecc2aee2bdbb9a88f7a0c0209b5f262b64c7522e3"}}</a:t>
            </a:r>
          </a:p>
          <a:p>
            <a:r>
              <a:t>CNPJ 62552447000120 · Alocação para tratamento tributário · Base da comparação IME: {"criterion_id": "tax_allocation", "observed_value": 104.36099466414683, "unit": "percent", "competence": "08/2026", "status": "not_comparable", "reason": "Vigência efetiva não comprovada; data do documento isolada não certifica enquadramento histórico.", "formula": "credit_rights / net_asset_value × 100",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67.0}</a:t>
            </a:r>
          </a:p>
          <a:p>
            <a:r>
              <a:t>CNPJ 62552447000120 · Alocação para tratamento tributário · Regulamento · ID 1200623 · 21/05/2026 · versão Consolidado21/05/2026 aprovado pelo ato1200625 · p. 14 · AnexoI4.9 · https://fnet.bmfbovespa.com.br/fnet/publico/visualizarDocumento?id=1200623</a:t>
            </a:r>
          </a:p>
          <a:p>
            <a:r>
              <a:t>CNPJ 62552447000120 · Alocação para tratamento tributário · Excerto da fonte:</a:t>
            </a:r>
          </a:p>
          <a:p>
            <a:r>
              <a:t>4.9 Decorridos 180 (cento e oitenta) dias da Data da Primeira Integralização, a Classe deverá manter alocados em Direitos Creditórios, no mínimo, para fins tributários, 67% (sessenta e sete por cento) do seu Patrimônio Líquido, nos termos da Lei 14.754 e da Resolução CMN 5.111, e, para fins regulatórios, 50% (cinquenta por cento) do seu Patrimônio Líquido, nos termos da Resolução CVM 175. Eventual desenquadramento da Carteira obrigará o Gestor aos procedimentos de desenquadramento e reenquadramento previstos na Lei 14.754 e na Resolução CMN 5.111, para f ins tributários, e na Resolução CVM 175, par</a:t>
            </a:r>
          </a:p>
          <a:p>
            <a:r>
              <a:t>CNPJ 62552447000120 · Alocação para tratamento tributário · Mecânica: {"operator": "&gt;=", "unit": "percent", "numerator": "credit_rights", "denominator": "net_asset_value", "frequency": "not_stated", "layer": "class", "effective_status": "document_date_only", "document_date": "2026-05-21", "requires_initial_date": true, "limit": 67.0}</a:t>
            </a:r>
          </a:p>
          <a:p>
            <a:r>
              <a:t>CNPJ 62552447000120 · Alocação para tratamento tributário · Versão e prevalência: Leitura específica das cláusulas indicadas; condições e conflitos preservados. Seleção documental atual não comprova vigência jurídica por data isolada.</a:t>
            </a:r>
          </a:p>
          <a:p>
            <a:r>
              <a:t>CNPJ 63953620000165 · Alocação para tratamento tributário · Base da comparação IME: {"criterion_id": "tax_allocation", "observed_value": 93.29241106598856, "unit": "percent", "competence": "08/2026", "status": "not_comparable", "reason": "Vigência efetiva não comprovada; data do documento isolada não certifica enquadramento histórico.", "formula": "credit_rights / net_asset_value × 100",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67.0}</a:t>
            </a:r>
          </a:p>
          <a:p>
            <a:r>
              <a:t>CNPJ 63953620000165 · Alocação para tratamento tributário · Anexo ao Regulamento · ID 1222863 · 02/06/2026 · versão AnexoConsignadoPrivado02/06/2026 · p. 6 · 4.13 · https://fnet.bmfbovespa.com.br/fnet/publico/visualizarDocumento?id=1222863</a:t>
            </a:r>
          </a:p>
          <a:p>
            <a:r>
              <a:t>CNPJ 63953620000165 · Alocação para tratamento tributário · Excerto da fonte:</a:t>
            </a:r>
          </a:p>
          <a:p>
            <a:r>
              <a:t>4.13 Decorridos 180 (cento e oitenta) dias do início de suas atividades, a Classe deverá manter alocado, no mínimo, para fins tributários, 67% (sessenta e sete por cento) do seu Patrimônio Líquido em Direitos Creditórios, nos termos da Resolução CMN 5.111, e para fins regulatórios, 50% (cinquenta por cento) do seu Patrimônio Líquido em Direitos Creditórios, nos termos da Resolução CVM 175. 4.14 Nos termos do Art. 45, §7º, inciso II, do Anexo Normativo II da Resolução CVM 175, a Classe poderá ter até 100% (cem por cento) de seu Patrimônio Líquido alocado em Direitos Creditórios, derivativos, observado o disposto nest</a:t>
            </a:r>
          </a:p>
          <a:p>
            <a:r>
              <a:t>CNPJ 63953620000165 · Alocação para tratamento tributário · Mecânica: {"operator": "&gt;=", "unit": "percent", "denominator": "net_asset_value", "frequency": "not_stated", "layer": "class", "effective_status": "document_date_only", "document_date": "2026-06-02", "limit": 67.0, "numerator": "credit_rights", "requires_initial_date": true}</a:t>
            </a:r>
          </a:p>
          <a:p>
            <a:r>
              <a:t>CNPJ 63953620000165 · Alocação para tratamento tributário · Versão e prevalência: Leitura específica das cláusulas indicadas; condições e conflitos preservados. Seleção documental atual não comprova vigência jurídica por data isolada.</a:t>
            </a:r>
          </a:p>
          <a:p>
            <a:r>
              <a:t>CNPJ 54871427000194 · Classes investidas e limites do FIC · Demonstrações Financeiras - Fusão, cisão e incorporação · ID 1219522 · 2026-02-02 · versão 1 · p. 31 · https://fnet.bmfbovespa.com.br/fnet/publico/visualizarDocumento?id=1219522</a:t>
            </a:r>
          </a:p>
          <a:p>
            <a:r>
              <a:t>CNPJ 54871427000194 · Classes investidas e limites do FIC · Excerto da fonte:</a:t>
            </a:r>
          </a:p>
          <a:p>
            <a:r>
              <a:t>xv) Risco Regulatório e Judicial. Eventuais alterações ou novas normas ou leis aplicáveis à Classe,  seus ativos e a eventuais fundos investidos, incluindo, mas não se limitando àquelas referentes  a tributos, bem como decisões judiciais ou jurisprudência aplicando as regulamentações  existentes ou interpretando novas regulamentações, podem causar um efeito adverso relevante  no preço dos ativos e/ou na performance das posições financeiras adquiridas pela Classe e/ou  pelos fundos Investidos. Ainda, nesse sentido, poderão ocorrer interferências de autoridades  governamentais e órgãos reguladores na regulação dos mercados, bem como alterações das  políticas monetária e cambial. Tais eventos poderão impactar de maneira adversa o valor das  Cotas.</a:t>
            </a:r>
          </a:p>
          <a:p>
            <a:r>
              <a:t>CNPJ 54871427000194 · Classes investidas e limites do FIC · Condição: Documentos atuais selecionados no inventário por categoria/escopo; a data documental isolada não comprova vigência jurídica.</a:t>
            </a:r>
          </a:p>
          <a:p>
            <a:r>
              <a:t>CNPJ 54871427000194 · Classes investidas e limites do FIC · Versão e prevalência: Documentos atuais selecionados no inventário por categoria/escopo; a data documental isolada não comprova vigência jurídica.</a:t>
            </a:r>
          </a:p>
          <a:p>
            <a:r>
              <a:t>CNPJ 54871427000194 · Classes investidas e limites do FIC · Resumo do histórico: {"count": 5, "dates": ["2024-12-31", "2025-01-01", "2025-12-31"], "document_count": 3, "sources": [{"document_id": "1151805", "title": "Demonstrações Financeiras", "reference_date": "2025-12-31", "version": "1", "page": 31, "url": "https://fnet.bmfbovespa.com.br/fnet/publico/visualizarDocumento?id=1151805", "sha256": "f1cea70b152968bf96ef9221b27225953cb20aeef487b2798db3c25e11b528d4"}, {"document_id": "869529", "title": "Demonstrações Financeiras", "reference_date": "2025-01-01", "version": "1", "page": 32, "url": "https://fnet.bmfbovespa.com.br/fnet/publico/visualizarDocumento?id=869529", "sha256": "9a93a9369ac8efdbc54ff8fcee3ccac3abf88edab4807b9323d3852450771b2a"}, {"document_id": "870070", "title": "Demonstrações Financeiras", "reference_date": "2024-12-31", "version": "1", "page": 32, "url": "https://fnet.bmfbovespa.com.br/fnet/publico/visualizarDocumento?id=870070", "sha256": "9a93a9369ac8efdbc54ff8fcee3ccac3abf88edab4807b9323d3852450771b2a"}], "reference": {"path": "history/54871427000194.json", "criterion_id": "investee", "total_count": 5, "preview_count": 3, "full_text_deferred": true, "sha256": "35d7cd99be50c7287c9fb675cf4f2e736002315295a225a9efa79c8d9186d874"}}</a:t>
            </a:r>
          </a:p>
          <a:p>
            <a:r>
              <a:t>CNPJ 60010416000112 · Classes investidas e limites do FIC · Motivo: Não localizada uma cláusula material para este critério nos textos identificados e processados. A ausência de resultado não comprova inexistência da regra.</a:t>
            </a:r>
          </a:p>
          <a:p>
            <a:r>
              <a:t>CNPJ 62696791000193 · Classes investidas e limites do FIC · Regulamento · ID 1143317 · 20/03/2026 · versão Regulamento — referência 20/03/2026 · p. 7 · Anexo I, 1.1, Objetivo, categoria Geral · https://fnet.bmfbovespa.com.br/fnet/publico/visualizarDocumento?id=1143317</a:t>
            </a:r>
          </a:p>
          <a:p>
            <a:r>
              <a:t>CNPJ 62696791000193 · Classes investidas e limites do FIC · Excerto da fonte:</a:t>
            </a:r>
          </a:p>
          <a:p>
            <a:r>
              <a:t>(D) Categoria “Geral” (“Ativos em Geral do Agronegócio”): (i) cotas de classes que apliquem mais de 50% (cinquenta por cento) de seu patrimônio líquido nos ativos referidos nos incisos “A” a “D” acima, o que inclui cotas de outros FIAGRO, mas não se limita a essa categoria de f undos. Os Ativos Imobiliários do Agronegócio, Participações do Agronegócio, Ativos Financeiros do Agronegócio e Ativos em Geral do Agronegócio, quando ref eridos em conjunto, os “Outros Ativos”. Não há limites máximos de aplicação por emissor ou devedor, em função de um percentual do Patrimônio Líquido. O objetivo da Classe não representa, sob qualquer hipótese, garantia da Classe ou de seus Prestadores de Serviços Essenciais e/ou da Cogestora quanto à segurança, rentabilidade e liquidez dos títu</a:t>
            </a:r>
          </a:p>
          <a:p>
            <a:r>
              <a:t>CNPJ 62696791000193 · Classes investidas e limites do FIC · Regulamento · ID 1143317 · 20/03/2026 · versão Regulamento — referência 20/03/2026 · p. 11 · Anexo I, 4.8–4.9 · https://fnet.bmfbovespa.com.br/fnet/publico/visualizarDocumento?id=1143317</a:t>
            </a:r>
          </a:p>
          <a:p>
            <a:r>
              <a:t>CNPJ 62696791000193 · Classes investidas e limites do FIC · Excerto da fonte:</a:t>
            </a:r>
          </a:p>
          <a:p>
            <a:r>
              <a:t>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relacionadas ao Gestor. 4.8.1 As aplicações em Direitos Creditórios do Agronegócio decorrentes de receitas públicas originárias ou derivadas da União, dos Estados, do Distrito Federal e dos Municípios ou de suas autarquias e f undações, assim como em Direitos Creditórios do Agronegócio cedidos ou originados por empresas controladas pelo poder público, não estão submetidas ao limite de concentração por emissor previsto no caput. 4.9 Nos termos do Art. 45 do Anexo</a:t>
            </a:r>
          </a:p>
          <a:p>
            <a:r>
              <a:t>CNPJ 62696791000193 · Classes investidas e limites do FIC · Condição: O regulamento não identifica CNPJs de classes efetivamente investidas. Permissão de investimento não comprova posição.</a:t>
            </a:r>
          </a:p>
          <a:p>
            <a:r>
              <a:t>CNPJ 62696791000193 · Classes investidas e limites do FIC · Versão e prevalência: Leitura específica das cláusulas indicadas; condições e conflitos preservados. Seleção documental atual não comprova vigência jurídica por data isolada.</a:t>
            </a:r>
          </a:p>
          <a:p>
            <a:r>
              <a:t>CNPJ 55563624000109 · Classes investidas e limites do FIC · Regulamento · ID 1192614 · 30/04/2026 · versão Regulamento30/04/2026 · p. 11 · AnexoI4.1 · https://fnet.bmfbovespa.com.br/fnet/publico/visualizarDocumento?id=1192614</a:t>
            </a:r>
          </a:p>
          <a:p>
            <a:r>
              <a:t>CNPJ 55563624000109 · Classes investidas e limites do FIC · Excerto da fonte:</a:t>
            </a:r>
          </a:p>
          <a:p>
            <a:r>
              <a:t>4.1 Observados os demais termos deste Anexo, o objetivo da Classe é investir seus recursos em (i) cotas subordinadas mezanino de emissão da classe única do MERCADO CRÉDITO II BRASIL FUNDO DE INVESTIMENTO EM DIREITOS CREDITÓRIOS NÃO PADRONIZADOS, fundo de investimento em direitos creditórios inscrito no CNPJ sob o nº 41.970.012/0001-26 (“Cotas da Classe Investida” e “Classe Investida”, respectivamente), a qual, por sua vez, aplica seus recursos preponderantemente em direitos creditórios originados pela Mercado Pago, de acordo com os termos e condições est</a:t>
            </a:r>
          </a:p>
          <a:p>
            <a:r>
              <a:t>CNPJ 55563624000109 · Classes investidas e limites do FIC · Condição: Vínculo contratual identificado; quantidade de cotas efetivamente detida exige posição do FIC. Não somar PL do FIC e do investido.</a:t>
            </a:r>
          </a:p>
          <a:p>
            <a:r>
              <a:t>CNPJ 55563624000109 · Classes investidas e limites do FIC · Versão e prevalência: Leitura específica das cláusulas indicadas; condições e conflitos preservados. Seleção documental atual não comprova vigência jurídica por data isolada.</a:t>
            </a:r>
          </a:p>
          <a:p>
            <a:r>
              <a:t>CNPJ 55563624000109 · Classes investidas e limites do FIC · Resumo do histórico: {"count": 2, "dates": ["2025-01-31", "2026-01-31"], "document_count": 2, "sources": [{"document_id": "1178840", "title": "Demonstrações Financeiras", "reference_date": "2026-01-31", "version": "1", "page": 4, "url": "https://fnet.bmfbovespa.com.br/fnet/publico/visualizarDocumento?id=1178840", "sha256": "c458e98664c5c907ddb5a05a94b120bed4e05295b2bfc420f5ba69af0a229abe"}, {"document_id": "891861", "title": "Demonstrações Financeiras", "reference_date": "2025-01-31", "version": "1", "page": 18, "url": "https://fnet.bmfbovespa.com.br/fnet/publico/visualizarDocumento?id=891861", "sha256": "e9cb9e6ddbe505fe068cfcac33605165a98313489de0d3ce6d4d238263c3f3e7"}], "reference": {"path": "history/55563624000109.json", "criterion_id": "investee", "total_count": 2, "preview_count": 2, "full_text_deferred": true, "sha256": "7835d573fb58a3c19adf5b8ecc2aee2bdbb9a88f7a0c0209b5f262b64c7522e3"}}</a:t>
            </a:r>
          </a:p>
          <a:p>
            <a:r>
              <a:t>CNPJ 62552447000120 · Classes investidas e limites do FIC · Regulamento · ID 1200623 · 2026-05-21 · versão 1 · p. 6 · https://fnet.bmfbovespa.com.br/fnet/publico/visualizarDocumento?id=1200623</a:t>
            </a:r>
          </a:p>
          <a:p>
            <a:r>
              <a:t>CNPJ 62552447000120 · Classes investidas e limites do FIC · Excerto da fonte:</a:t>
            </a:r>
          </a:p>
          <a:p>
            <a:r>
              <a:t>integrantes do conglomerado econômico de instituições  f inanceiras classificadas como S1 pelo Banco Central do  Brasil (“BACEN” e “Instituições Financeiras S1”,  respectivamente), desde que não representem títulos de  emissão ou coobrigação de instituições financeiras, bem  como cotas de f undos de investimento que invistam  preponderantemente nestes direitos, títulos e/ou valores  mobiliários; e</a:t>
            </a:r>
          </a:p>
          <a:p>
            <a:r>
              <a:t> (d) “Direitos Creditórios Refinanciamento Livre”, na forma  de CCBs originadas no âmbito de um refinanciamento, de  acordo com a política de cobrança vigente, de Direitos  Creditórios Consignado Privado e de Direitos Creditórios  FGTS, que não contem com o lastro de Consignação ou  de cessão f iduciária do Saque-Aniversário,  respectivamente; e</a:t>
            </a:r>
          </a:p>
          <a:p>
            <a:r>
              <a:t> (ii) “Ativos Financeiros”, assim entendidos como, em conjunto:</a:t>
            </a:r>
          </a:p>
          <a:p>
            <a:r>
              <a:t> (a) moeda corrente nacional;</a:t>
            </a:r>
          </a:p>
          <a:p>
            <a:r>
              <a:t> (b) títulos públicos f ederais;</a:t>
            </a:r>
          </a:p>
          <a:p>
            <a:r>
              <a:t> (c) ativos f inanceiros de renda f ixa de emissão ou  coobrigação de Instituições Financeiras S1;</a:t>
            </a:r>
          </a:p>
          <a:p>
            <a:r>
              <a:t> (d) operações compromissadas, desde que lastreadas nos  títulos mencionados nas alíneas (b) e (c) acima; e</a:t>
            </a:r>
          </a:p>
          <a:p>
            <a:r>
              <a:t> (e) cotas do BTG Pactual Tesouro Selic Fundo de  Investimento Renda Fixa Ref erenciado DI, inscrito no  CNPJ sob o nº 09.215.250/0001-13;</a:t>
            </a:r>
          </a:p>
          <a:p>
            <a:r>
              <a:t> observados todos os limites de composição e diversificação da carteira da  Classe (“Carteira”), estabelecidos neste Regulamento e na  regulamentação aplicável.</a:t>
            </a:r>
          </a:p>
          <a:p>
            <a:r>
              <a:t> O objetivo da Classe não representa, sob qualquer hipótese, promessa,  garantia ou sugestão da Classe ou de seus Prestadores de Serviços  Essenciais quanto à segurança, rentabilidade e liquidez dos títulos  componentes de sua Carteira.</a:t>
            </a:r>
          </a:p>
          <a:p>
            <a:r>
              <a:t>CNPJ 62552447000120 · Classes investidas e limites do FIC · Condição: Documentos atuais selecionados no inventário por categoria/escopo; a data documental isolada não comprova vigência jurídica.</a:t>
            </a:r>
          </a:p>
          <a:p>
            <a:r>
              <a:t>CNPJ 62552447000120 · Classes investidas e limites do FIC · Versão e prevalência: Documentos atuais selecionados no inventário por categoria/escopo; a data documental isolada não comprova vigência jurídica.</a:t>
            </a:r>
          </a:p>
          <a:p>
            <a:r>
              <a:t>CNPJ 63953620000165 · Classes investidas e limites do FIC · Motivo: Não localizada uma cláusula material para este critério nos textos identificados e processados. A ausência de resultado não comprova inexistência da regra.</a:t>
            </a:r>
          </a:p>
          <a:p>
            <a:r>
              <a:t>CNPJ 54871427000194 · Classe, subclasse e responsabilidade · Regulamento · ID 670691 · 2024-04-28 · versão 1 · p. 29 · https://fnet.bmfbovespa.com.br/fnet/publico/visualizarDocumento?id=670691</a:t>
            </a:r>
          </a:p>
          <a:p>
            <a:r>
              <a:t>CNPJ 54871427000194 · Classe, subclasse e responsabilidade · Excerto da fonte:</a:t>
            </a:r>
          </a:p>
          <a:p>
            <a:r>
              <a:t>Anexo I ao Regulamento CLASSE ÚNICA DE RESPONSABILIDADE LIMITADA DO CONSIGNADO DELTA RECEIVABLES I FUNDO DE INVESTIMENTO EM DIREITOS CREDITÓRIOS  pelo Endossante e depositados em seu conta de sua titularidade para posterior repasse à  Classe. Neste caso, a Classe poderá sofrer perdas principalmente em relação ao atraso na  regularização da titularidade e pagamento dos Direitos Creditórios.</a:t>
            </a:r>
          </a:p>
          <a:p>
            <a:r>
              <a:t> (v) Risco de pré-pagamento dos Direitos Creditórios. A ocorrência de pré-  pagamentos em relação a um ou mais Direitos Creditórios poderá ocasionar perdas à Classe.</a:t>
            </a:r>
          </a:p>
          <a:p>
            <a:r>
              <a:t> A ocorrência de pré-pagamentos (pagamento em data anterior àquela originalmente pactuada)  de Direitos Creditórios reduz o horizonte original de rendimentos esperados pela Classe de  tais Direitos Creditórios, uma vez que o pré-pagamento poderá, se assim permitido pela  documentação do Direito Creditório ou, conf orme o caso, pela legislação aplicável, ser  realizado pelo valor de emissão do Direito Creditório atualizado até a data do pré-pagamento  pela taxa de juros pactuada entre os Endossantes e os Devedores de tais Direitos Creditórios,  de modo que os juros remuneratórios incidentes desde a data da realização do pré-pagamento  até a data de vencimento do respectivo Direito Creditório deixam de ser devidos à Classe.</a:t>
            </a:r>
          </a:p>
          <a:p>
            <a:r>
              <a:t> (vi) Riscos associados aos Devedores: os Direitos Creditórios a serem cedidos à  Classe serão descontados da remuneração do Devedor, através de desconto em f olha de  pagamento ou de benefício. Nesse sentido, na ocorrência de pré-pagamento, as parcelas  serão pagas antecipadamente e a Classe deverá utilizar tais montantes no pré-pagamento dos  Direitos Creditórios. Nesta hipótese, a Classe poderá não encontrar Direitos Creditórios  disponíveis para serem adquiridos pela Classe, o que poderá afetar a rentabilidade da Classe.</a:t>
            </a:r>
          </a:p>
          <a:p>
            <a:r>
              <a:t> (vii) Risco de Competição: o mercado de empréstimos experimentou grande  expansão no Brasil nos últimos anos. Nesse contexto, a Resolução CMN nº 4.292, alterada  pela Resolução nº 4.762, de 27 de novembro de 2019, dispõe que deve ser garantido às  pessoas naturais devedoras de operações de crédito (tais como as CCB) a possibilidade de  realizarem a portabilidade destas operações para outras instituições financeiras, inclusive nos  casos em que tenham sido objeto de cessão (tais como as realizadas à Classe). Nesse  cenário, é possível que os competidores do Endossante ofereçam condições e taxas mais  vantajosas para os empréstimos pessoais com consignação em f olha de pagamento ou de  benef ícios, o que pode causar a migração de clientes da Endossante para outras instituições  f inanceiras, gerando a liquidação antecipada de parte das CCB existentes e/ou redução no  número de Direitos Creditórios cedidos. Referida competição poderá af etar os resultados da  Classe, impactando negativamente os rendimentos dos Cotistas. Ainda, a portabilidade a um  Devedor pode acarretar no recebimento de valores inf eriores aos esperados pela Classe.</a:t>
            </a:r>
          </a:p>
          <a:p>
            <a:r>
              <a:t> (viii) Insuf iciência dos Critérios de Elegibilidade. Os Critérios de Elegibilidade têm a  f inalidade de selecionar os Direitos Creditórios passíveis de aquisição pela Classe. Não  obstante tais Critérios de Elegibilidade, a solvência dos Direitos Creditórios que compõem a  Carteira depende integralmente, mas não somente, da situação econômico-financeira dos  Devedores. Dessa f orma, a observância pelo GESTOR dos Critérios de Elegibilidade não  constitui garantia de adimplência dos Devedores.</a:t>
            </a:r>
          </a:p>
          <a:p>
            <a:r>
              <a:t> Os Endossantes não necessariamente garantem a solvência dos seus respectivos Devedores.</a:t>
            </a:r>
          </a:p>
          <a:p>
            <a:r>
              <a:t> O Endossante dos Direitos Creditórios não assumirá responsabilidade pelo seu pagamento ou  pela solvência dos respectivos Devedores. A Classe sofrerá o impacto do inadimplemento dos  Direitos Creditórios vencidos e não pagos pelos respectivos Devedores.</a:t>
            </a:r>
          </a:p>
          <a:p>
            <a:r>
              <a:t> (ix) Possibilidade de aquisição de Direitos Creditórios cedidos por Endossante  e/ou devidos por Devedores cujas demonstrações financeiras não sejam auditadas. A Classe,  desde que sejam respeitados os limites de concentração previstos neste Regulamento, poderá  manter a qualquer tempo em sua Carteira, Direitos Creditórios cedidos por Endossante e/ou  devidos por Devedores cujas demonstrações f inanceiras não sejam auditadas por Auditor  Independente registrado na CVM. Nesse sentido, não haverá verificação independente sobre  tais demonstrações f inanceiras que af irme se estas representam adequadamente, em todos  os aspectos relevantes, as respectivas posições patrimoniais e f inanceiras, os resultados de  suas operações, as mutações de seus respectivos patrimônios líquidos tampouco as origens  e aplicações de seus recursos.</a:t>
            </a:r>
          </a:p>
          <a:p>
            <a:r>
              <a:t>CNPJ 54871427000194 · Classe, subclasse e responsabilidade · Regulamento · ID 670691 · 2024-04-28 · versão 1 · p. 15 · 7.2 · https://fnet.bmfbovespa.com.br/fnet/publico/visualizarDocumento?id=670691</a:t>
            </a:r>
          </a:p>
          <a:p>
            <a:r>
              <a:t>CNPJ 54871427000194 · Classe, subclasse e responsabilidade · Excerto da fonte:</a:t>
            </a:r>
          </a:p>
          <a:p>
            <a:r>
              <a:t>7.2 As amortizações de Cotas serão realizadas a qualquer tempo, a critério do GESTOR, observada a  disponibilidade de recursos da Classe Única e a ordem de alocação de recursos prevista neste Anexo  Descritivo.</a:t>
            </a:r>
          </a:p>
          <a:p>
            <a:r>
              <a:t>CNPJ 54871427000194 · Classe, subclasse e responsabilidade · Instrumento Particular de Alteração do Regulamento · ID 670690 · 2024-05-28 · versão 1 · p. 1 · https://fnet.bmfbovespa.com.br/fnet/publico/visualizarDocumento?id=670690</a:t>
            </a:r>
          </a:p>
          <a:p>
            <a:r>
              <a:t>CNPJ 54871427000194 · Classe, subclasse e responsabilidade · Excerto da fonte:</a:t>
            </a:r>
          </a:p>
          <a:p>
            <a:r>
              <a:t>ATA DA ASSEMBLEIA ESPECIAL DE COTISTAS  CLASSE ÚNICA DE RESPONSABILIDADE LIMITADA DO CONSIGNADO DELTA RECEIVABLES I  FUNDO DE INVESTIMENTO EM DIREITOS CREDITÓRIOS  CNPJ nº 54.871.427/0001-94  (“Classe Única” e “Fundo”, respectivamente)</a:t>
            </a:r>
          </a:p>
          <a:p>
            <a:r>
              <a:t>CNPJ 54871427000194 · Classe, subclasse e responsabilidade · Condição: Documentos atuais selecionados no inventário por categoria/escopo; a data documental isolada não comprova vigência jurídica.</a:t>
            </a:r>
          </a:p>
          <a:p>
            <a:r>
              <a:t>CNPJ 54871427000194 · Classe, subclasse e responsabilidade · Versão e prevalência: Documentos atuais selecionados no inventário por categoria/escopo; a data documental isolada não comprova vigência jurídica.</a:t>
            </a:r>
          </a:p>
          <a:p>
            <a:r>
              <a:t>CNPJ 54871427000194 · Classe, subclasse e responsabilidade · Resumo do histórico: {"count": 4, "dates": ["2024-04-19", "2024-04-28", "2024-05-24"], "document_count": 3, "sources": [{"document_id": "668387", "title": "Instrumento Particular de Emissão de Cotas", "reference_date": "2024-05-24", "version": "1", "page": 1, "url": "https://fnet.bmfbovespa.com.br/fnet/publico/visualizarDocumento?id=668387", "sha256": "be2913bed5f468a7399afcd27f92bac2083451584ee580b5054e9f525e68cc4a"}, {"document_id": "670691", "title": "Regulamento", "reference_date": "2024-04-28", "version": "1", "page": 29, "url": "https://fnet.bmfbovespa.com.br/fnet/publico/visualizarDocumento?id=670691", "sha256": "bf16dd7f1a62d5cdbf2e2d54fef81783783f7310fbc99c3a8f00459bdf9d037b"}, {"document_id": "670687", "title": "Instrumento Particular de Constituição/Encerramento do Fundo", "reference_date": "2024-04-19", "version": "1", "page": 1, "url": "https://fnet.bmfbovespa.com.br/fnet/publico/visualizarDocumento?id=670687", "sha256": "999f2a47d39f7022b0fcee3d16fd1db33948537b897e92c4c9e14b436bf5eb96"}], "reference": {"path": "history/54871427000194.json", "criterion_id": "perimeter", "total_count": 4, "preview_count": 3, "full_text_deferred": true, "sha256": "35d7cd99be50c7287c9fb675cf4f2e736002315295a225a9efa79c8d9186d874"}}</a:t>
            </a:r>
          </a:p>
          <a:p>
            <a:r>
              <a:t>CNPJ 60010416000112 · Classe, subclasse e responsabilidade · Regulamento · ID 1051393 · 2025-10-09 · versão 1 · p. 10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a:t>
            </a:r>
          </a:p>
          <a:p>
            <a:r>
              <a:t> (ii) o saldo dos Direitos Creditórios devidos pelo mesmo Devedor à Classe, considerando, pro  forma, o endosso pretendido, não deverá exceder R$ 100.000,00 (cem mil reais), observado  o disposto no item 4.4.1 abaixo;</a:t>
            </a:r>
          </a:p>
          <a:p>
            <a:r>
              <a:t> (iii) o prazo de vencimento das CCB representativas dos Direitos Creditórios deverá ser, no  máximo, equivalente ao prazo máximo permitido pelas leis e regulamentações aplicáveis; e</a:t>
            </a:r>
          </a:p>
          <a:p>
            <a:r>
              <a:t> (iv) os Direitos Creditórios não poderão ser devidos por Devedores que tenham acima de 64  (sessenta e quatro) anos 11 (onze) meses e 29 (vinte e nove) dias na data de emissão da  respectiva CCB.</a:t>
            </a:r>
          </a:p>
          <a:p>
            <a:r>
              <a:t>CNPJ 60010416000112 · Classe, subclasse e responsabilidade · Regulamento · ID 1051393 · 2025-10-09 · versão 1 · p. 11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  com a transf erência, à Classe, de f orma definitiva, sem coobrigação do Endossante, da plena  titularidade desse Direito Creditório, juntamente com todos os direitos, privilégios, pref erências,  prerrogativas, garantias e ações a ele relacionados, bem como correção monetária, juros e  encargos, sem prejuízo do direito da Classe (i) de exigir a recompra compulsória do respectivo  Direito Creditório, de acordo com os termos do Contrato de Endosso; ou (ii) de vender Direitos  Creditórios ao Agente de Retenção/Cobrança (opção de venda), em ambos os casos estritamente  nos termos do Contrato de Endosso.</a:t>
            </a:r>
          </a:p>
          <a:p>
            <a:r>
              <a:t>CNPJ 60010416000112 · Classe, subclasse e responsabilidade · Regulamento · ID 1051393 · 2025-10-09 · versão 1 · p. 18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a:t>
            </a:r>
          </a:p>
          <a:p>
            <a:r>
              <a:t> (ii) alterar este Anexo I e seus complementos, incluindo mas não se limitando aos Apêndices de cada  uma das subclasses;</a:t>
            </a:r>
          </a:p>
          <a:p>
            <a:r>
              <a:t> (iii) deliberar sobre substituição de Prestadores de Serviços Essenciais, observado o disposto no Art.</a:t>
            </a:r>
          </a:p>
          <a:p>
            <a:r>
              <a:t> 70, §1º da parte geral da Resolução CVM 175, quando aplicável, ou do Custodiante;</a:t>
            </a:r>
          </a:p>
          <a:p>
            <a:r>
              <a:t> (iv) deliberar sobre elevação da Taxa de Administração, inclusive na hipótese de restabelecimento de  taxa que tenha sido objeto de redução;</a:t>
            </a:r>
          </a:p>
          <a:p>
            <a:r>
              <a:t> (v) deliberar sobre incorporação, fusão, cisão total ou parcial, a transformação ou liquidação da Classe;</a:t>
            </a:r>
          </a:p>
          <a:p>
            <a:r>
              <a:t> (vi) alterações das características, vantagens, direitos e obrigações das Cotas;</a:t>
            </a:r>
          </a:p>
          <a:p>
            <a:r>
              <a:t> (vii) alterar critérios e procedimentos para Amortização e/ou resgate de Cotas mediante dação em  pagamento de Direitos Creditórios;</a:t>
            </a:r>
          </a:p>
          <a:p>
            <a:r>
              <a:t> (viii) aprovar a contratação de Agente de Retenção/Cobrança dos Direitos Creditórios Inadimplidos, bem  como decidir sobre sua substituição ou destituição;</a:t>
            </a:r>
          </a:p>
          <a:p>
            <a:r>
              <a:t> (ix) alterar a f orma de amortização do principal e dos valores acumulados relacionados às Cotas;</a:t>
            </a:r>
          </a:p>
          <a:p>
            <a:r>
              <a:t> (x) aprovar emissão de novas Cotas da Classe, em montante além do Capital Autorizado;</a:t>
            </a:r>
          </a:p>
          <a:p>
            <a:r>
              <a:t> (xi) deliberar sobre a eventual necessidade de aportes adicionais de recursos na Classe pelos Cotistas;</a:t>
            </a:r>
          </a:p>
          <a:p>
            <a:r>
              <a:t> (xii) alterações na Política de Investimentos;</a:t>
            </a:r>
          </a:p>
          <a:p>
            <a:r>
              <a:t> (xiii) alterações nos Critérios de Elegibilidade;</a:t>
            </a:r>
          </a:p>
          <a:p>
            <a:r>
              <a:t> (xiv) decidir se um Evento de Avaliação será considerado como Evento de Liquidação, sujeito a este  Regulamento;</a:t>
            </a:r>
          </a:p>
          <a:p>
            <a:r>
              <a:t> (xv) decidir, na ocorrência de qualquer Evento de Liquidação, se esse Evento de Liquidação não deverá  causar a liquidação antecipada da Classe;</a:t>
            </a:r>
          </a:p>
          <a:p>
            <a:r>
              <a:t> (xvi) plano de resolução do Patrimônio Líquido negativo da Classe, nos termos da Resolução CVM 175;</a:t>
            </a:r>
          </a:p>
          <a:p>
            <a:r>
              <a:t> (xvii)pedido de declaração judicial de insolvência da Classe; e</a:t>
            </a:r>
          </a:p>
          <a:p>
            <a:r>
              <a:t> (xviii) deliberar sobre a alteração da data de resgate e/ou prazo de duração de cada Série de Cotas  Seniores, do Benchmark, bem como de quaisquer outras características de qualquer Série de Cotas  Seniores;</a:t>
            </a:r>
          </a:p>
          <a:p>
            <a:r>
              <a:t>CNPJ 60010416000112 · Classe, subclasse e responsabilidade · Condição: Documentos atuais selecionados no inventário por categoria/escopo; a data documental isolada não comprova vigência jurídica.</a:t>
            </a:r>
          </a:p>
          <a:p>
            <a:r>
              <a:t>CNPJ 60010416000112 · Classe, subclasse e responsabilidade · Versão e prevalência: Documentos atuais selecionados no inventário por categoria/escopo; a data documental isolada não comprova vigência jurídica.</a:t>
            </a:r>
          </a:p>
          <a:p>
            <a:r>
              <a:t>CNPJ 60010416000112 · Classe, subclasse e responsabilidade · Resumo do histórico: {"count": 1, "dates": ["2025-05-12"], "document_count": 1, "sources": [{"document_id": "1004656", "title": "AGE", "reference_date": "2025-05-12", "version": "1", "page": 4, "url": "https://fnet.bmfbovespa.com.br/fnet/publico/visualizarDocumento?id=1004656", "sha256": "f6c9c009f6170e2b29f074b98522accec73f0c40efbf11f9ec2c8d3f1402616b"}], "reference": {"path": "history/60010416000112.json", "criterion_id": "perimeter", "total_count": 1, "preview_count": 1, "full_text_deferred": true, "sha256": "8e2bd813f4c51cf01f6bfaad164bafe69d2bbb192f753eac92da3a01c2e63046"}}</a:t>
            </a:r>
          </a:p>
          <a:p>
            <a:r>
              <a:t>CNPJ 62696791000193 · Classe, subclasse e responsabilidade · Regulamento · ID 1143317 · 20/03/2026 · versão Regulamento — referência 20/03/2026 · p. 9 · Anexo I, 2.1 · https://fnet.bmfbovespa.com.br/fnet/publico/visualizarDocumento?id=1143317</a:t>
            </a:r>
          </a:p>
          <a:p>
            <a:r>
              <a:t>CNPJ 62696791000193 · Classe, subclasse e responsabilidade · Excerto da fonte:</a:t>
            </a:r>
          </a:p>
          <a:p>
            <a:r>
              <a:t>2.1 A responsabilidade do Cotista está limitada ao valor por ele subscrito. 2.2 Os seguintes eventos obrigarão o Administrador a verif icar se o Patrimônio Líquido está negativo: (i) qualquer pedido de declaração judicial de insolvência de Classe; (ii) inadimplência de obrigações financeiras de devedor e/ou emissor de ativos detidos pela Classe que representem mais de 10% (dez por cento) de seu Patrimônio Líquido, naquela data de ref erência; (iii) pedido de recuperação extrajudicial, proposta de recuperação judicial, f alência, intervenção, liquidação extrajudicial e/ou regime de administração temporária de devedor e/ou emissor de ativos detidos pela Classe; e (iv) condenação da Classe, de natureza judicial e/ou arbitral e/ou administrativa e/ou outras similares, ao pagamento de mais de 10% (dez por cento) de seu Patrimônio Líquido. 2.3 Caso o Administrador verifique que o Patrimônio Líquido está negativo, ou tenha ciência de pedido de declaração judicial de insolvência da Classe ou da declaração judicial de insolvência da Classe, deverá adotar as medidas aplicáveis previstas na Resolução CVM 175. 2.4 Serão aplicáveis as disp</a:t>
            </a:r>
          </a:p>
          <a:p>
            <a:r>
              <a:t>CNPJ 62696791000193 · Classe, subclasse e responsabilidade · Regulamento · ID 1143317 · 20/03/2026 · versão Regulamento — referência 20/03/2026 · p. 18 · Anexo I, 8.8.1 · https://fnet.bmfbovespa.com.br/fnet/publico/visualizarDocumento?id=1143317</a:t>
            </a:r>
          </a:p>
          <a:p>
            <a:r>
              <a:t>CNPJ 62696791000193 · Classe, subclasse e responsabilidade · Excerto da fonte:</a:t>
            </a:r>
          </a:p>
          <a:p>
            <a:r>
              <a:t>8.8.1 As Chamadas de Capital para a realização de investimentos serão realizadas a qualquer momento durante o Período de Investimento e estarão limitadas ao valor do capital subscrito de cada Cotista. As Chamadas de Capital para o pagamento de despesas e encargos do Fundo poderão ser realizadas a qualquer momento durante o Prazo de Duração, mas não estarão limitadas ao valor do capital subscrito de cada Cotista. 8.8.2 Ao receber uma Chamada de Capital, os Cotistas serão obrigados a integralizar parte ou a totalidade de suas Cotas no prazo previsto na ref erida Chamada de Capital, o qual não poderá ser inf erior a 5 (cinco) Dias Úteis contados do recebimento da Chamada de Capital, conforme solicitado pelo Administrador em observância às instruções do Gestor e de acordo com o disposto nos respectivos Compromissos de Investimento. 8.8.3 O Administrador poderá, eventualmente, realizar Chamadas de Capital aos Cotistas de forma desproporcional entre Cotistas, de modo que um ou mais Cotista venha a integralizar, em uma ou mais Chamadas de Capital, uma parcela maior ou menor, conforme o caso, das Cotas por</a:t>
            </a:r>
          </a:p>
          <a:p>
            <a:r>
              <a:t>CNPJ 62696791000193 · Classe, subclasse e responsabilidade · Regulamento · ID 1143317 · 20/03/2026 · versão Regulamento — referência 20/03/2026 · p. 16 · Anexo I, 7.2 · https://fnet.bmfbovespa.com.br/fnet/publico/visualizarDocumento?id=1143317</a:t>
            </a:r>
          </a:p>
          <a:p>
            <a:r>
              <a:t>CNPJ 62696791000193 · Classe, subclasse e responsabilidade · Excerto da fonte:</a:t>
            </a:r>
          </a:p>
          <a:p>
            <a:r>
              <a:t>7.2 A Classe possui 3 (três) Subclasses de Cotas, quais sejam, a subclasse sênior (“Subclasse Sênior” e “Cotas Seniores”), a subclasse mezanino (“Subclasse Mezanino” e “Cotas Mezanino”) e a subclasse subordinada (“Subclasse Subordinada” e “Cotas Subordinadas” – as Cotas Subordinadas, Cotas Seniores e Cotas Mezanino, quando ref eridas em conjunto, “Cotas”), admitindo ainda a emissão de novas séries (“Séries”) de Cotas Seniores, nos termos do seu respectivo Apêndice. As características, os direitos e as condições de emissão, distribuição, subscrição, integralização, remuneração, amortização e resgate das Cotas estão descritos neste Capítulo e nos respectivos Apêndices. 7.3 As Cotas são escriturais, nominativas e correspondem a f rações ideais do patrimônio da Classe, cuja propriedade presume-se: (i) pelo registro do nome do Cotista no livro de registro de Cotistas, enquanto mantidas em conta de depósito mantidas junto ao Escriturador em nome dos respectivos Cotistas, nos termos do Art. 15 da Resolução CVM 175; (ii) pelos controles de titularidade mantidos pelo depositário BTG Pactual SAC: 0800 772 2827 | Ouvidoria: 0800 722 0048 | btgpactual.co m 11</a:t>
            </a:r>
          </a:p>
          <a:p>
            <a:r>
              <a:t>CNPJ 62696791000193 · Classe, subclasse e responsabilidade · Condição: Contradição interna no alcance da responsabilidade limitada. Não apresentar a cláusula de despesas como obrigação irrestrita pacificada.</a:t>
            </a:r>
          </a:p>
          <a:p>
            <a:r>
              <a:t>CNPJ 62696791000193 · Classe, subclasse e responsabilidade · Versão e prevalência: Leitura específica das cláusulas indicadas; condições e conflitos preservados. Seleção documental atual não comprova vigência jurídica por data isolada.</a:t>
            </a:r>
          </a:p>
          <a:p>
            <a:r>
              <a:t>CNPJ 55563624000109 · Classe, subclasse e responsabilidade · Regulamento · ID 1192614 · 2026-04-30 · versão 1 · p. 40 · https://fnet.bmfbovespa.com.br/fnet/publico/visualizarDocumento?id=1192614</a:t>
            </a:r>
          </a:p>
          <a:p>
            <a:r>
              <a:t>CNPJ 55563624000109 · Classe, subclasse e responsabilidade · Excerto da fonte:</a:t>
            </a:r>
          </a:p>
          <a:p>
            <a:r>
              <a:t>(xxiv) Subordinação de determinadas Cotas da Classe Investida a outras subclasses ou séries de  cotas das Classes Investidas aos quais pertencem. A Classe Investida adquirirá apenas cotas  subordinadas mezaninos da Classe Investida, as quais se subordinam às cotas seniores da Classe  Investida para efeitos de resgate. Os resgates de cotas subordinadas mezanino tipicamente têm sua  realização condicionada ainda à manutenção da razão de garantia e à existência de disponibilidades  da Classe Investida. O ADMINISTRADOR, o GESTOR e o CUSTODIANTE e suas respectivas partes  relacionadas, encontram-se impossibilitados de assegurar que a amortização e o resgate das cotas  subordinadas mezanino da Classe Investida que venham a ser adquiridas pela Classe ocorrerão nas  datas originalmente previstas, sendo que, caso tais amortizações e/ou resgates não ocorram, não será  devido pelo FUNDO ou qualquer pessoa, incluindo o ADMINISTRADOR, o GESTOR e o CUSTODIANTE,  do FUNDO ou da Classe Investida qualquer multa ou penalidade, de qualquer natureza. O não resgate  de cotas subordinadas mezanino da Classe Investida detidas pela Classe poderá impactar  negativamente no fluxo de pagamento de resgate da Classe e/ou no valor patrimonial das Cotas da  Classe.</a:t>
            </a:r>
          </a:p>
          <a:p>
            <a:r>
              <a:t>CNPJ 55563624000109 · Classe, subclasse e responsabilidade · Regulamento · ID 1192614 · 2026-04-30 · versão 1 · p. 2 · 1.2 · https://fnet.bmfbovespa.com.br/fnet/publico/visualizarDocumento?id=1192614</a:t>
            </a:r>
          </a:p>
          <a:p>
            <a:r>
              <a:t>CNPJ 55563624000109 · Classe, subclasse e responsabilidade · Excerto da fonte:</a:t>
            </a:r>
          </a:p>
          <a:p>
            <a:r>
              <a:t>1.2 Este regulamento é composto por esta parte geral, um ou mais anexos, conforme o número de classes aqui  previsto e respectivos apêndices relativos a cada subclasse de cotas, conforme aplicável (respectivamente,  “Regulamento”, “Parte Geral”, “Anexos” e “Apêndices”).</a:t>
            </a:r>
          </a:p>
          <a:p>
            <a:r>
              <a:t> Denominação da Classe Anexo  CLASSE ÚNICA DE RESPONSABILIDADE LIMITADA DO  PLGN MARKETPLACE FUNDO DE INVESTIMENTO EM  Anexo Único (“Anexo”)  COTAS DE FUNDO DE INVESTIMENTO EM DIREITOS  CREDITÓRIOS (“Classe” ou “Classe Única”)</a:t>
            </a:r>
          </a:p>
          <a:p>
            <a:r>
              <a:t>CNPJ 55563624000109 · Classe, subclasse e responsabilidade · Regulamento · ID 1192614 · 2026-04-30 · versão 1 · p. 24 · 12.3 · https://fnet.bmfbovespa.com.br/fnet/publico/visualizarDocumento?id=1192614</a:t>
            </a:r>
          </a:p>
          <a:p>
            <a:r>
              <a:t>CNPJ 55563624000109 · Classe, subclasse e responsabilidade · Excerto da fonte:</a:t>
            </a:r>
          </a:p>
          <a:p>
            <a:r>
              <a:t>12.3 Incluem-se entre as obrigações do ADMINISTRADOR, sem prejuízo de outras previstas na regulamentação:</a:t>
            </a:r>
          </a:p>
          <a:p>
            <a:r>
              <a:t> (i) sem prejuízo da observância dos procedimentos relativos às demonstrações contábeis, manter,  separadamente, registros com informações completas sobre toda e qualquer modalidade de negociação  realizada entre o ADMINISTRADOR, GESTOR, CUSTODIANTE, e/ou suas respectivas partes relacionadas,  tais como definidas pelas regras contábeis que tratam desse assunto, de um lado; e a Classe, de outro;</a:t>
            </a:r>
          </a:p>
          <a:p>
            <a:r>
              <a:t> (ii) diligenciar para que sejam mantidos, às suas expensas, atualizados e em perfeita ordem:</a:t>
            </a:r>
          </a:p>
          <a:p>
            <a:r>
              <a:t> (a) o registro de Cotistas;</a:t>
            </a:r>
          </a:p>
          <a:p>
            <a:r>
              <a:t> (b) o livro de atas das Assembleias de Cotistas;</a:t>
            </a:r>
          </a:p>
          <a:p>
            <a:r>
              <a:t> (c) o livro ou lista de presença de Cotistas;</a:t>
            </a:r>
          </a:p>
          <a:p>
            <a:r>
              <a:t> (d) os pareceres do Auditor Independente; e</a:t>
            </a:r>
          </a:p>
          <a:p>
            <a:r>
              <a:t> (e) os registros contábeis referentes às operações e ao patrimônio da Classe;</a:t>
            </a:r>
          </a:p>
          <a:p>
            <a:r>
              <a:t> (iii) pagar a multa cominatória às suas expensas, nos termos da legislação vigente, por cada dia de atraso no  cumprimento dos prazos previstos na regulamentação aplicável;</a:t>
            </a:r>
          </a:p>
          <a:p>
            <a:r>
              <a:t> (iv) elaborar e divulgar as informações periódicas e eventuais da Classe, nos termos deste Anexo e da  regulamentação e da autorregulação em vigor;</a:t>
            </a:r>
          </a:p>
          <a:p>
            <a:r>
              <a:t> (v) manter atualizada junto à CVM a lista de todos os prestadores de serviços contratados pela Classe,  inclusive os Prestadores de Serviços Essenciais, bem como as demais informações cadastrais da Classe e  suas Subclasses;</a:t>
            </a:r>
          </a:p>
          <a:p>
            <a:r>
              <a:t> (vi) manter serviço de atendimento aos Cotistas, responsável pelo esclarecimento de dúvidas e pelo  recebimento de reclamações;</a:t>
            </a:r>
          </a:p>
          <a:p>
            <a:r>
              <a:t> (vii) receber e processar os pedidos de resgate;</a:t>
            </a:r>
          </a:p>
          <a:p>
            <a:r>
              <a:t> (viii) monitorar os Eventos de Verificação do Patrimônio;</a:t>
            </a:r>
          </a:p>
          <a:p>
            <a:r>
              <a:t> (ix) monitorar os Eventos de Avaliação e Eventos de Liquidação;</a:t>
            </a:r>
          </a:p>
          <a:p>
            <a:r>
              <a:t> (x) observar as disposições constantes do Regulamento;</a:t>
            </a:r>
          </a:p>
          <a:p>
            <a:r>
              <a:t> (xi) cumprir as deliberações da Assembleia de Cotistas; e</a:t>
            </a:r>
          </a:p>
          <a:p>
            <a:r>
              <a:t> (xii) observar as disposições do Código ANBIMA e das Regras e Procedimentos ANBIMA</a:t>
            </a:r>
          </a:p>
          <a:p>
            <a:r>
              <a:t>CNPJ 55563624000109 · Classe, subclasse e responsabilidade · Condição: Documentos atuais selecionados no inventário por categoria/escopo; a data documental isolada não comprova vigência jurídica.</a:t>
            </a:r>
          </a:p>
          <a:p>
            <a:r>
              <a:t>CNPJ 55563624000109 · Classe, subclasse e responsabilidade · Versão e prevalência: Documentos atuais selecionados no inventário por categoria/escopo; a data documental isolada não comprova vigência jurídica.</a:t>
            </a:r>
          </a:p>
          <a:p>
            <a:r>
              <a:t>CNPJ 55563624000109 · Classe, subclasse e responsabilidade · Resumo do histórico: {"count": 5, "dates": ["2024-07-03", "2025-01-31", "2026-01-31"], "document_count": 3, "sources": [{"document_id": "1178840", "title": "Demonstrações Financeiras", "reference_date": "2026-01-31", "version": "1", "page": 3, "url": "https://fnet.bmfbovespa.com.br/fnet/publico/visualizarDocumento?id=1178840", "sha256": "c458e98664c5c907ddb5a05a94b120bed4e05295b2bfc420f5ba69af0a229abe"}, {"document_id": "891861", "title": "Demonstrações Financeiras", "reference_date": "2025-01-31", "version": "1", "page": 27, "url": "https://fnet.bmfbovespa.com.br/fnet/publico/visualizarDocumento?id=891861", "sha256": "e9cb9e6ddbe505fe068cfcac33605165a98313489de0d3ce6d4d238263c3f3e7"}, {"document_id": "703295", "title": "Anúncio de Início", "reference_date": "2024-07-03", "version": "2", "page": 1, "url": "https://fnet.bmfbovespa.com.br/fnet/publico/visualizarDocumento?id=703295", "sha256": "12322b6dbf75e673723bd60910373db249451b72666792e18e0c7b6128f4608a"}], "reference": {"path": "history/55563624000109.json", "criterion_id": "perimeter", "total_count": 5, "preview_count": 3, "full_text_deferred": true, "sha256": "7835d573fb58a3c19adf5b8ecc2aee2bdbb9a88f7a0c0209b5f262b64c7522e3"}}</a:t>
            </a:r>
          </a:p>
          <a:p>
            <a:r>
              <a:t>CNPJ 62552447000120 · Classe, subclasse e responsabilidade · Regulamento · ID 1200623 · 2026-05-21 · versão 1 · p. 1 · 1.3 · https://fnet.bmfbovespa.com.br/fnet/publico/visualizarDocumento?id=1200623</a:t>
            </a:r>
          </a:p>
          <a:p>
            <a:r>
              <a:t>CNPJ 62552447000120 · Classe, subclasse e responsabilidade · Excerto da fonte:</a:t>
            </a:r>
          </a:p>
          <a:p>
            <a:r>
              <a:t>1.3 Durante o seu prazo de duração, o Fundo, por ato conjunto dos Prestadores de Serviços Essenciais,  poderá constituir diferentes Classes e Subclasses , sendo que cada Classe terá patrimônio segregado e</a:t>
            </a:r>
          </a:p>
          <a:p>
            <a:r>
              <a:t>CNPJ 62552447000120 · Classe, subclasse e responsabilidade · Regulamento · ID 1200623 · 2026-05-21 · versão 1 · p. 1 · 1.1 · https://fnet.bmfbovespa.com.br/fnet/publico/visualizarDocumento?id=1200623</a:t>
            </a:r>
          </a:p>
          <a:p>
            <a:r>
              <a:t>CNPJ 62552447000120 · Classe, subclasse e responsabilidade · Excerto da fonte:</a:t>
            </a:r>
          </a:p>
          <a:p>
            <a:r>
              <a:t>1.1 V CDT 1 FUNDO DE INVESTIMENTO EM DIREITOS CREDITÓRIOS RESPONSABILIDADE  LIMITADA (“Fundo”), regido pela Lei n.º 10.406, de 10 de janeiro de 2002, conforme alterada (“Código  Civil”), pela Resolução da Comissão de Valores Mobiliários (“CVM”) n.º 175, de 23 de dezembro de  2022, conf orme alterada (“Resolução CVM 175”), que inclui sua Parte Geral (“Parte Geral da  Resolução CVM 175”) e seu Anexo Normativo II (“Anexo Normativo II”) terá como principais  características:</a:t>
            </a:r>
          </a:p>
          <a:p>
            <a:r>
              <a:t>CNPJ 62552447000120 · Classe, subclasse e responsabilidade · Regulamento · ID 1200623 · 2026-05-21 · versão 1 · p. 1 · https://fnet.bmfbovespa.com.br/fnet/publico/visualizarDocumento?id=1200623</a:t>
            </a:r>
          </a:p>
          <a:p>
            <a:r>
              <a:t>CNPJ 62552447000120 · Classe, subclasse e responsabilidade · Excerto da fonte:</a:t>
            </a:r>
          </a:p>
          <a:p>
            <a:r>
              <a:t>CLASSE ÚNICA DO V CDT 1 FUNDO DE  INVESTIMENTO EM DIREITOS CREDITÓRIOS Anexo I (“Anexo I”)  RESPONSABILIDADE LIMITADA</a:t>
            </a:r>
          </a:p>
          <a:p>
            <a:r>
              <a:t>CNPJ 62552447000120 · Classe, subclasse e responsabilidade · Condição: Documentos atuais selecionados no inventário por categoria/escopo; a data documental isolada não comprova vigência jurídica.</a:t>
            </a:r>
          </a:p>
          <a:p>
            <a:r>
              <a:t>CNPJ 62552447000120 · Classe, subclasse e responsabilidade · Versão e prevalência: Documentos atuais selecionados no inventário por categoria/escopo; a data documental isolada não comprova vigência jurídica.</a:t>
            </a:r>
          </a:p>
          <a:p>
            <a:r>
              <a:t>CNPJ 62552447000120 · Classe, subclasse e responsabilidade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"perimeter", "total_count": 1, "preview_count": 1, "full_text_deferred": true, "sha256": "d95db8c0613d67ee84118c734588665265ea6b02f86a0318d6a844cbe1d0f82f"}}</a:t>
            </a:r>
          </a:p>
          <a:p>
            <a:r>
              <a:t>CNPJ 63953620000165 · Classe, subclasse e responsabilidade · Anexo ao Regulamento · ID 1222863 · 02/06/2026 · versão AnexoConsignadoPrivado02/06/2026 · p. 3 · 2.1 · https://fnet.bmfbovespa.com.br/fnet/publico/visualizarDocumento?id=1222863</a:t>
            </a:r>
          </a:p>
          <a:p>
            <a:r>
              <a:t>CNPJ 63953620000165 · Classe, subclasse e responsabilidade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deverá adotar as medidas aplicáveis previstas na Resolução CVM 175. 2.3 Serão aplicáveis as disposições da Resolução CVM 175 no que se refere aos procedimentos a serem adotados pelo Administrador na hipótese de Patrimônio Líquido negativo da Classe. BTG Pactual SAC: 0800 772 28 27 - Ouvidoria: 0800 722 00 48 - btgpactual.com</a:t>
            </a:r>
          </a:p>
          <a:p>
            <a:r>
              <a:t>CNPJ 63953620000165 · Classe, subclasse e responsabilidade · Anexo ao Regulamento · ID 1222863 · 02/06/2026 · versão AnexoConsignadoPrivado02/06/2026 · p. 10 · 6.7.1 · https://fnet.bmfbovespa.com.br/fnet/publico/visualizarDocumento?id=1222863</a:t>
            </a:r>
          </a:p>
          <a:p>
            <a:r>
              <a:t>CNPJ 63953620000165 · Classe, subclasse e responsabilidade · Excerto da fonte:</a:t>
            </a:r>
          </a:p>
          <a:p>
            <a:r>
              <a:t>6.7.1 As Chamadas de Capital para a realização de investimentos serão realizadas a qualquer momento durante o Período de Investimento e estarão limitadas ao valor do capital subscrito de cada Cotista. As Chamadas de Capital para o pagamento de despesas e encargos do Fundo, com exceção de despesas relacionadas à instrumentos de derivativos e/ou Encargos não previstos no âmbito deste regulamento, poderão ser realizadas a qualquer momento durante o Prazo de Duração, mas não estarão limitadas ao valor do capital subscrito de cada Cotista. 6.7.2 Ao receber uma Chamada d</a:t>
            </a:r>
          </a:p>
          <a:p>
            <a:r>
              <a:t>CNPJ 63953620000165 · Classe, subclasse e responsabilidade · Condição: Alcance das chamadas além do capital comprometido não resolvido textualmente; não certificar limitação apenas por título do fundo.</a:t>
            </a:r>
          </a:p>
          <a:p>
            <a:r>
              <a:t>CNPJ 63953620000165 · Classe, subclasse e responsabilidade · Versão e prevalência: Leitura específica das cláusulas indicadas; condições e conflitos preservados. Seleção documental atual não comprova vigência jurídica por data isolada.</a:t>
            </a:r>
          </a:p>
          <a:p>
            <a:r>
              <a:t>CNPJ 63953620000165 · Classe, subclasse e responsabilidade · Resumo do histórico: {"count": 4, "dates": ["2026-04-28", "2026-05-08", "2026-05-15"], "document_count": 3, "sources": [{"document_id": "1327859", "title": "Demonstrações Financeiras - Fusão, cisão e incorporação", "reference_date": "2026-05-15", "version": "1", "page": 1, "url": "https://fnet.bmfbovespa.com.br/fnet/publico/visualizarDocumento?id=1327859", "sha256": "dca1c68babb97f887528c3e2e47596a9c30f507b067981a35655b2f2da9c8054"}, {"document_id": "1298691", "title": "Demonstrações Financeiras - Fusão, cisão e incorporação", "reference_date": "2026-05-08", "version": "1", "page": 1, "url": "https://fnet.bmfbovespa.com.br/fnet/publico/visualizarDocumento?id=1298691", "sha256": "58c570d9b8d4d265330d3db3ea81c435b8e44a6dab4002aa37790652a1ee9819"}, {"document_id": "1205431", "title": "AGE", "reference_date": "2026-04-28", "version": "1", "page": 1, "clause": "4.1", "url": "https://fnet.bmfbovespa.com.br/fnet/publico/visualizarDocumento?id=1205431", "sha256": "e0b59c701c5d0dbf60de698ea7664d442240863b7043bacdb334ce484188b2ac"}], "reference": {"path": "history/63953620000165.json", "criterion_id": "perimeter", "total_count": 4, "preview_count": 3, "full_text_deferred": true, "sha256": "a7b89077f5e21098c2d601c303faabc3ff6b9729f89d8afecdc60fe1404720c1"}}</a:t>
            </a:r>
          </a:p>
          <a:p>
            <a:r>
              <a:t>CNPJ 54871427000194 · Adaptação à Resolução CVM 175 · Regulamento · ID 670691 · 28/04/2024 · versão Regulamento — referência 28/04/2024 · p. 1 · Parte Geral, 1.1 · https://fnet.bmfbovespa.com.br/fnet/publico/visualizarDocumento?id=670691</a:t>
            </a:r>
          </a:p>
          <a:p>
            <a:r>
              <a:t>CNPJ 54871427000194 · Adaptação à Resolução CVM 175 · Excerto da fonte:</a:t>
            </a:r>
          </a:p>
          <a:p>
            <a:r>
              <a:t>1.1 CONSIGNADO DELTA RECEIVABLES I FUNDO DE INVESTIMENTO EM DIREITOS CREDITÓRIOS (“FUNDO”), regido pela Lei nº 10.406, de 10 de janeiro de 2002, conf orme alterada (“Código Civil”), pela parte geral e o Anexo Normativo II da Resolução nº 175, de 23 de dezembro de 2022, conforme alterada, da Comissão de Valores Mobiliários (respectivamente, “CVM” e “Resolução CVM 175”), terá como principais características: Classe de Cotas Classe única. Indeterminado, exceto se de outra f orma vier a ser deliberado pelos cotistas Prazo de Duração reunidos em assembleia geral de cotistas. BTG Pactual Serviços Financeiros S.A. Distribuidora de Títulos e Valores Mobiliários, instituição f inanceira, com sede na Cidade e Estado do Rio de Janeiro, na Praia de Botafogo, nº 501, 5º andar (parte), Torre Corcovado, ADMINISTRADOR Botafogo, CEP 22250-040, inscrita no CNPJ sob o nº 59.281.253/0001-23 e credenciada como administradora de carteira, de acordo com o Ato Declaratório CVM nº</a:t>
            </a:r>
          </a:p>
          <a:p>
            <a:r>
              <a:t>CNPJ 54871427000194 · Adaptação à Resolução CVM 175 · Regulamento · ID 670691 · 28/04/2024 · versão Regulamento — referência 28/04/2024 · p. 8 · Anexo I, 2.1 · https://fnet.bmfbovespa.com.br/fnet/publico/visualizarDocumento?id=670691</a:t>
            </a:r>
          </a:p>
          <a:p>
            <a:r>
              <a:t>CNPJ 54871427000194 · Adaptação à Resolução CVM 175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deverá adotar as medidas aplicáveis previstas na Resolução CVM 175. 2.3 Serão aplicáveis as disposições da Resolução CVM 175 no que se refere aos procedimentos a serem adotados pelo ADMINISTRADOR na hipótese de Patrimônio Líquido negativo da Classe. CAPÍTULO 3 – ENCARGOS DA CLASSE 3.1 A Classe terá Encargos que lhe poderão ser debitados diretamente, nos termos do art. 53 do Anexo Normativo II da Resolução CVM 175, além de encargos adicionais, e quaisquer despesas que não constituam Encargos correm por conta do Prestador de Serviço Essencial que a tiver contratado: (i) despesas com a contratação de consultoria especializada, conf orme o caso; (ii) despesas com a contratação do Agente de Cobrança, conf orme aplicável; (iii) Taxa Máxima de Custódia; (iv) despesas com registro de Direitos Creditórios; (v) despesas com serviços de originação, cobranças ordinária e/ou extraordinária dos D</a:t>
            </a:r>
          </a:p>
          <a:p>
            <a:r>
              <a:t>CNPJ 54871427000194 · Adaptação à Resolução CVM 175 · Versão e prevalência: Leitura específica das cláusulas indicadas; condições e conflitos preservados. Seleção documental atual não comprova vigência jurídica por data isolada.</a:t>
            </a:r>
          </a:p>
          <a:p>
            <a:r>
              <a:t>CNPJ 54871427000194 · Adaptação à Resolução CVM 175 · Resumo do histórico: {"count": 2, "dates": ["2024-04-19"], "document_count": 2, "sources": [{"document_id": "670687", "title": "Instrumento Particular de Constituição/Encerramento do Fundo", "reference_date": "2024-04-19", "version": "1", "page": 1, "url": "https://fnet.bmfbovespa.com.br/fnet/publico/visualizarDocumento?id=670687", "sha256": "999f2a47d39f7022b0fcee3d16fd1db33948537b897e92c4c9e14b436bf5eb96"}, {"document_id": "670689", "title": "Regulamento", "reference_date": "2024-04-19", "version": "1", "page": 11, "clause": "4.10", "url": "https://fnet.bmfbovespa.com.br/fnet/publico/visualizarDocumento?id=670689", "sha256": "891bc9bc5d87bbc02ec139077a84d2702eb81ea02035fb71d24f5b8366b94a0b"}], "reference": {"path": "history/54871427000194.json", "criterion_id": "res175", "total_count": 2, "preview_count": 2, "full_text_deferred": true, "sha256": "35d7cd99be50c7287c9fb675cf4f2e736002315295a225a9efa79c8d9186d874"}}</a:t>
            </a:r>
          </a:p>
          <a:p>
            <a:r>
              <a:t>CNPJ 60010416000112 · Adaptação à Resolução CVM 175 · Regulamento · ID 1051393 · 09/10/2025 · versão Regulamento09/10/2025 · p. 8 · AnexoI1.2 · https://fnet.bmfbovespa.com.br/fnet/publico/visualizarDocumento?id=1051393</a:t>
            </a:r>
          </a:p>
          <a:p>
            <a:r>
              <a:t>CNPJ 60010416000112 · Adaptação à Resolução CVM 175 · Excerto da fonte:</a:t>
            </a:r>
          </a:p>
          <a:p>
            <a:r>
              <a:t>Tipo de Condomínio Fechado. Prazo de Duração Indeterminado. Classe de Investimento Não. em Cotas Tipo “Financeiro”. Classificação ANBIMA Foco de atuação “Créditos Consignados”. O objetivo da classe é proporcionar aos seus Cotistas a valorização de suas Cotas por meio da aplicação de seu Patrimônio Líquido na aquisição de: (i) Direitos Creditórios que atendam aos Critérios de Elegibilidade, estabelecidos no Ca</a:t>
            </a:r>
          </a:p>
          <a:p>
            <a:r>
              <a:t>CNPJ 60010416000112 · Adaptação à Resolução CVM 175 · Regulamento · ID 1051393 · 09/10/2025 · versão Regulamento09/10/2025 · p. 9 · AnexoI2.1–2.3 · https://fnet.bmfbovespa.com.br/fnet/publico/visualizarDocumento?id=1051393</a:t>
            </a:r>
          </a:p>
          <a:p>
            <a:r>
              <a:t>CNPJ 60010416000112 · Adaptação à Resolução CVM 175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o Administrador deverá adotar as medidas aplicáveis previstas na Resolução CVM 175 2.3 Serão aplicáveis as disposições da Resolução CVM 175 no que se ref ere aos procedimentos a serem adotados pelo Administrador na hipótese de Patrimônio Líquido negativo da Classe, visando a liquidação da Classe e que não remanesçam</a:t>
            </a:r>
          </a:p>
          <a:p>
            <a:r>
              <a:t>CNPJ 60010416000112 · Adaptação à Resolução CVM 175 · Versão e prevalência: Leitura específica das cláusulas indicadas; condições e conflitos preservados. Seleção documental atual não comprova vigência jurídica por data isolada.</a:t>
            </a:r>
          </a:p>
          <a:p>
            <a:r>
              <a:t>CNPJ 60010416000112 · Adaptação à Resolução CVM 175 · Resumo do histórico: {"count": 2, "dates": ["2025-03-20"], "document_count": 2, "sources": [{"document_id": "993785", "title": "Instrumento Particular de Constituição/Encerramento do Fundo", "reference_date": "2025-03-20", "version": "1", "page": 1, "url": "https://fnet.bmfbovespa.com.br/fnet/publico/visualizarDocumento?id=993785", "sha256": "0826e0eae2c51afabf59bbc49fc7647598d03da5ca6de0f9725850a8bd6af457"}, {"document_id": "993786", "title": "Regulamento", "reference_date": "2025-03-20", "version": "1", "page": 12, "clause": "4.8", "url": "https://fnet.bmfbovespa.com.br/fnet/publico/visualizarDocumento?id=993786", "sha256": "fd0fdd369a195510d81f81f505195a0b09e5f43522a990afa7d58c4f872921c8"}], "reference": {"path": "history/60010416000112.json", "criterion_id": "res175", "total_count": 2, "preview_count": 2, "full_text_deferred": true, "sha256": "8e2bd813f4c51cf01f6bfaad164bafe69d2bbb192f753eac92da3a01c2e63046"}}</a:t>
            </a:r>
          </a:p>
          <a:p>
            <a:r>
              <a:t>CNPJ 62696791000193 · Adaptação à Resolução CVM 175 · AGE · ID 1143319 · 20/03/2026 10:00 · versão AGE — referência 20/03/2026 10:00 · p. 1 · AGC, 4.1(a)–(b) · https://fnet.bmfbovespa.com.br/fnet/publico/visualizarDocumento?id=1143319</a:t>
            </a:r>
          </a:p>
          <a:p>
            <a:r>
              <a:t>CNPJ 62696791000193 · Adaptação à Resolução CVM 175 · Excerto da fonte:</a:t>
            </a:r>
          </a:p>
          <a:p>
            <a:r>
              <a:t>4.1. Aprovar a transformação do Fundo, bem como de sua Classe única, em um fundo de investimento nas cadeias produtivas do agronegócio (“Transformação”), nos termos da parte geral e do Anexo Normativo VI da Resolução nº 175 da CVM, de 23 de dezembro de 2022, conforme alterada (“Resolução CVM 175”). a. Aprovar a alteração da denominação do Fundo, que passará a vigorar como BTG PACTUAL CERES CONFINA FUNDO DE INVESTIMENTO NAS CADEIAS PRODUTIVAS DO AGRONEGÓCIO RESPONSABILIDADE LIMITADA, e de sua Classe única, que passará a vigorar como CLASSE ÚNICA DO BTG PACTUAL CERES CONFINA FUNDO DE INVESTIMENTO NAS CADEIAS PRODUTIVAS DO AGRONEGÓCIO RESPONSABILIDADE LIMITADA (“Classe”); b. Aprovar a reforma integral do Regulamento do Fundo, bem como do Anexo descritivo da Classe, para realizar todos os ajustes necessários à implementação da Transformação, incluindo, mas não se limitando, a política de investimentos, o regime tributário e os fatores de risco aplicáveis, conforme itens abaixo; c. Aprovar a alteração do quadro de características gerais do Fundo, considerando a contratação do Cogestor pelo Gestor, nos termos do artigo 52, II, da parte geral da Resolução CVM 175 e no co</a:t>
            </a:r>
          </a:p>
          <a:p>
            <a:r>
              <a:t>CNPJ 62696791000193 · Adaptação à Resolução CVM 175 · AGE · ID 1143319 · 20/03/2026 10:00 · versão AGE — referência 20/03/2026 10:00 · p. 3 · AGC 20/03/2026, 4.1(j)–(k) · https://fnet.bmfbovespa.com.br/fnet/publico/visualizarDocumento?id=1143319</a:t>
            </a:r>
          </a:p>
          <a:p>
            <a:r>
              <a:t>CNPJ 62696791000193 · Adaptação à Resolução CVM 175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Adaptação à Resolução CVM 175 · Regulamento · ID 1143317 · 20/03/2026 · versão Regulamento — referência 20/03/2026 · p. 1 · Parte Geral, 1.1 · https://fnet.bmfbovespa.com.br/fnet/publico/visualizarDocumento?id=1143317</a:t>
            </a:r>
          </a:p>
          <a:p>
            <a:r>
              <a:t>CNPJ 62696791000193 · Adaptação à Resolução CVM 175 · Excerto da fonte:</a:t>
            </a:r>
          </a:p>
          <a:p>
            <a:r>
              <a:t>1.1 BTG PACTUAL CERES CONFINA FUNDO DE INVESTIMENTO NAS CADEIAS PRODUTIVAS DO AGRONEGÓCIO RESPONSABILIDADE LIMITADA (“Fundo”), regido pela Lei nº 10.406, de 10 de janeiro de 2002, conf orme alterada (“Código Civil”), pela Lei n.º 8.668, de 25 de junho de 1993, conf orme alterada (“Lei 8.668”), pela parte geral, Anexo Normativo VI e, subsidiariamente, Anexo Normativo II da Resolução nº 175, de 23 de dezembro de 2022, conforme alterada, da Comissão de Valores Mobiliários (respectivamente, “Resolução CVM 175” e “CVM”), terá como principais características: Classe Classe única. Indeterminado, exceto se de outra f orma vier a ser deliberado pelos Cotistas Prazo de Duração reunidos em assembleia geral de Cotistas (“Prazo de Duração”). BTG Pactual Serviços Financeiros S.A. Distribuidora de Títulos e Valores Mobiliários, sociedade anônima, com sede no município e Estado do Rio de Janeiro, na Praia de Botafogo, nº 501, 5º andar (parte), Torre Corcovado, Administrador Botafogo, CEP 22250-040, inscrita no CNPJ sob o nº 59.281.253/0001-23 e</a:t>
            </a:r>
          </a:p>
          <a:p>
            <a:r>
              <a:t>CNPJ 62696791000193 · Adaptação à Resolução CVM 175 · Condição: Posição comumfev/26 é anterior à transformação e demanda o regime/regulamento anterior.</a:t>
            </a:r>
          </a:p>
          <a:p>
            <a:r>
              <a:t>CNPJ 62696791000193 · Adaptação à Resolução CVM 175 · Versão e prevalência: Leitura específica das cláusulas indicadas; condições e conflitos preservados. Seleção documental atual não comprova vigência jurídica por data isolada.</a:t>
            </a:r>
          </a:p>
          <a:p>
            <a:r>
              <a:t>CNPJ 55563624000109 · Adaptação à Resolução CVM 175 · Regulamento · ID 1192614 · 2026-04-30 · versão 1 · p. 13 · 4.11 · https://fnet.bmfbovespa.com.br/fnet/publico/visualizarDocumento?id=1192614</a:t>
            </a:r>
          </a:p>
          <a:p>
            <a:r>
              <a:t>CNPJ 55563624000109 · Adaptação à Resolução CVM 175 · Excerto da fonte:</a:t>
            </a:r>
          </a:p>
          <a:p>
            <a:r>
              <a:t>4.11 Nos termos dos artigos 45, parágrafo 7º, e 47 parágrafo único do Anexo Normativo II à Resolução CVM 175, uma  vez que as Cotas são destinadas exclusivamente a Investidores Profissionais, a Classe poderá ter até 100% (cem  por cento) de seu Patrimônio Líquido alocado em Cotas da Classe Investida, as quais são emitidas pela Classe  Investida.</a:t>
            </a:r>
          </a:p>
          <a:p>
            <a:r>
              <a:t>CNPJ 55563624000109 · Adaptação à Resolução CVM 175 · Regulamento · ID 1192614 · 2026-04-30 · versão 1 · p. 31 · 15.1.1 · https://fnet.bmfbovespa.com.br/fnet/publico/visualizarDocumento?id=1192614</a:t>
            </a:r>
          </a:p>
          <a:p>
            <a:r>
              <a:t>CNPJ 55563624000109 · Adaptação à Resolução CVM 175 · Excerto da fonte:</a:t>
            </a:r>
          </a:p>
          <a:p>
            <a:r>
              <a:t>15.1.1 Riscos de Crédito:</a:t>
            </a:r>
          </a:p>
          <a:p>
            <a:r>
              <a:t> (i) Risco de concentração na Classe Investida. Nos termos do presente Regulamento, a Classe  deverá manter alocado, no mínimo, 67% (sessenta e sete por cento) do Patrimônio Líquido nas Cotas  da Classe Investida. Alterações na condição econômico-financeira e na expectativa de desempenho ou  resultados da Classe Investida poderão, isolada ou cumulativamente, afetar negativamente o  rendimento do investimento nas Cotas, de forma mais severa do que se a Classe adotasse uma  estratégia de investimento de maior diversificação. O risco associado às aplicações de qualquer fundo  de investimento é diretamente proporcional à concentração da sua carteira, sendo que, quanto maior  essa concentração, maior será a sua vulnerabilidade.</a:t>
            </a:r>
          </a:p>
          <a:p>
            <a:r>
              <a:t> (ii) Risco relativo à Classe Investida. Nos termos deste Anexo, a Classe deverá manter alocado, no  mínimo, 67% (sessenta e sete por cento) do Patrimônio Líquido em Cotas da Classe Investida. Os  investimentos realizados pela Classe Investida poderão estar sujeitos a flutuações típicas do mercado,  risco de crédito, risco sistêmico, condições adversas de liquidez e negociação atípica nos mercados de  atuação, bem como outros riscos diversos. Este Anexo não contém a descrição de todas as  características, incluindo os riscos, da Classe Investida.</a:t>
            </a:r>
          </a:p>
          <a:p>
            <a:r>
              <a:t> (iii) Risco Relativo ao Pagamento de Encargos da Classe Investida. Tendo em vista a estrutura da  Classe Investida – que emitiu cotas sêniores, cotas subordinadas mezanino e cotas subordinadas júnior  – em situação ordinária os encargos da Classe Investida são arcados pelas cotas subordinadas júnior,  que se subordinam às cotas subordinadas mezanino e às cotas sêniores para fins de amortização,  resgate e distribuição de rendimentos, não impactando, portanto, as Cotas da Classe Investida. Não  obstante o funcionamento da Classe Investida em situação ordinária, em cenários extraordinários, na  eventualidade do valor das cotas subordinadas júnior ficar reduzido a zero ou a valor negativo, os  encargos da Classe Investida conforme previstos em seu regulamento, inclusive mas não se limitando  as remunerações dos prestadores de serviços essenciais, passarão a ser arcados pelas cotas  subordinadas mezanino (que são as Cotas da Classe Investida), impactando no valor do investimento  da Classe na Classe Investida, e consequentemente, o investimento dos Cotistas na Classe.</a:t>
            </a:r>
          </a:p>
          <a:p>
            <a:r>
              <a:t> (iv) Riscos referentes à carteira da Classe Investida. Na forma do Anexo Normativo II da Resolução  CVM 175, a Classe Investida investe, direta ou indiretamente, no mínimo, 67% (sessenta e sete por  cento) do seu patrimônio em direitos creditórios originados pela Mercado Pago. O investimento em tais  direitos creditórios está sujeito a fatores de risco específicos, conforme detalhados no regulamento da  Classe Investida, incluindo, mas não se limitando a:</a:t>
            </a:r>
          </a:p>
          <a:p>
            <a:r>
              <a:t> (a) Risco de liquidez dos direitos creditórios. O investimento da Classe Investida em direitos  creditórios apresenta peculiaridades em relação às aplicações usuais da maioria dos  fundos de investimento brasileiros, haja vista que não existe, no Brasil, mercado  secundário com liquidez para tais direitos creditórios. Caso a Classe Investida precise  vender os direitos creditórios adquiridos, poderá não haver mercado comprador para  tais créditos, bem como o preço de alienação de tais direitos creditórios poderá refletir  essa falta de liquidez, causando perda ao patrimônio da Classe Investida e,  consequentemente, à Classe.</a:t>
            </a:r>
          </a:p>
          <a:p>
            <a:r>
              <a:t>CNPJ 55563624000109 · Adaptação à Resolução CVM 175 · Regulamento · ID 1192614 · 2026-04-30 · versão 1 · p. 28 · 13.2 · https://fnet.bmfbovespa.com.br/fnet/publico/visualizarDocumento?id=1192614</a:t>
            </a:r>
          </a:p>
          <a:p>
            <a:r>
              <a:t>CNPJ 55563624000109 · Adaptação à Resolução CVM 175 · Excerto da fonte:</a:t>
            </a:r>
          </a:p>
          <a:p>
            <a:r>
              <a:t>13.2 Em condições ordinárias, as Cotas da Classe Investida não pagarão remuneração aos prestadores de serviços  essenciais da Classe Investida, nos termos de seu regulamento. Não obstante, em cenário extraordinário  conforme descrito no item 15.1.1 (iii), e para fins de atendimento ao artigo 98 da parte geral da Resolução CVM  175, a taxa máxima de administração corresponderá ao valor da Taxa Mínima de Administração acrescida de até  0,10% (dez centésimos por cento) ao ano incidente sobre o patrimônio líquido da Classe Investida,  compreendendo a taxa de administração da Classe Investida geridos por partes relacionadas ao GESTOR, cujas  cotas não estão admitidas à negociação em mercado organizado, conforme prevista no regulamento da Classe  Investida (“Taxa Máxima de Administração” e, quando referida em conjunto com a Taxa Mínima de  Administração, como “Taxa de Administração”). Caso a taxa de administração da Classe Investida não se  enquadre no disposto acima, estará disposta no regulamento da Classe Investida.</a:t>
            </a:r>
          </a:p>
          <a:p>
            <a:r>
              <a:t>CNPJ 55563624000109 · Adaptação à Resolução CVM 175 · Condição: Documentos atuais selecionados no inventário por categoria/escopo; a data documental isolada não comprova vigência jurídica.</a:t>
            </a:r>
          </a:p>
          <a:p>
            <a:r>
              <a:t>CNPJ 55563624000109 · Adaptação à Resolução CVM 175 · Versão e prevalência: Documentos atuais selecionados no inventário por categoria/escopo; a data documental isolada não comprova vigência jurídica.</a:t>
            </a:r>
          </a:p>
          <a:p>
            <a:r>
              <a:t>CNPJ 55563624000109 · Adaptação à Resolução CVM 175 · Resumo do histórico: {"count": 3, "dates": ["2024-07-03", "2025-01-31", "2026-01-31"], "document_count": 3, "sources": [{"document_id": "1178840", "title": "Demonstrações Financeiras", "reference_date": "2026-01-31", "version": "1", "page": 29, "url": "https://fnet.bmfbovespa.com.br/fnet/publico/visualizarDocumento?id=1178840", "sha256": "c458e98664c5c907ddb5a05a94b120bed4e05295b2bfc420f5ba69af0a229abe"}, {"document_id": "891861", "title": "Demonstrações Financeiras", "reference_date": "2025-01-31", "version": "1", "page": 30, "url": "https://fnet.bmfbovespa.com.br/fnet/publico/visualizarDocumento?id=891861", "sha256": "e9cb9e6ddbe505fe068cfcac33605165a98313489de0d3ce6d4d238263c3f3e7"}, {"document_id": "691674", "title": "Instrumento Particular de Emissão de Cotas", "reference_date": "2024-07-03", "version": "1", "page": 1, "url": "https://fnet.bmfbovespa.com.br/fnet/publico/visualizarDocumento?id=691674", "sha256": "78bf7b350f1785beae5f43bd209b5ed19e863cb9a2cff01542aac11dd63ca554"}], "reference": {"path": "history/55563624000109.json", "criterion_id": "res175", "total_count": 3, "preview_count": 3, "full_text_deferred": true, "sha256": "7835d573fb58a3c19adf5b8ecc2aee2bdbb9a88f7a0c0209b5f262b64c7522e3"}}</a:t>
            </a:r>
          </a:p>
          <a:p>
            <a:r>
              <a:t>CNPJ 62552447000120 · Adaptação à Resolução CVM 175 · Regulamento · ID 1200623 · 21/05/2026 · versão Consolidado21/05/2026 aprovado pelo ato1200625 · p. 1 · ParteGeral1.1 · https://fnet.bmfbovespa.com.br/fnet/publico/visualizarDocumento?id=1200623</a:t>
            </a:r>
          </a:p>
          <a:p>
            <a:r>
              <a:t>CNPJ 62552447000120 · Adaptação à Resolução CVM 175 · Excerto da fonte:</a:t>
            </a:r>
          </a:p>
          <a:p>
            <a:r>
              <a:t>1.1 V CDT 1 FUNDO DE INVESTIMENTO EM DIREITOS CREDITÓRIOS RESPONSABILIDADE LIMITADA (“Fundo”), regido pela Lei n.º 10.406, de 10 de janeiro de 2002, conforme alterada (“Código Civil”), pela Resolução da Comissão de Valores Mobiliários (“CVM”) n.º 175, de 23 de dezembro de 2022, conf orme alterada (“Resolução CVM 175”), que inclui sua Parte Geral (“Parte Geral da Resolução CVM 175”) e seu Anexo Normativo II (“Anexo Normativo II”) terá como principais características: Classe de Cotas Classe única. Indeterminado, exceto se de outra forma vier a ser deliberado pelos titulares</a:t>
            </a:r>
          </a:p>
          <a:p>
            <a:r>
              <a:t>CNPJ 62552447000120 · Adaptação à Resolução CVM 175 · Regulamento · ID 1200623 · 21/05/2026 · versão Consolidado21/05/2026 aprovado pelo ato1200625 · p. 2 · ParteGeral1.6(v) · https://fnet.bmfbovespa.com.br/fnet/publico/visualizarDocumento?id=1200623</a:t>
            </a:r>
          </a:p>
          <a:p>
            <a:r>
              <a:t>CNPJ 62552447000120 · Adaptação à Resolução CVM 175 · Excerto da fonte:</a:t>
            </a:r>
          </a:p>
          <a:p>
            <a:r>
              <a:t>V CDT 1 FUNDO DE INVESTIMENTO EM DIREITOS CREDITÓRIOS RESPONSABILIDADE LIMITADA direitos e obrigações distintos das demais Classes, nos termos do art. 5º da Parte Geral da Resolução CVM 175. 1.4 O Anexo de cada classe de Cotas (“Classe”), conforme aplicável, dispõe, sem prejuízo de outros requisitos e inf ormações previstos na regulamentação, sobre: (i) características gerais, incluindo a indicação dos demais prestadores de serviços; (ii) responsabilidade dos Cotistas e regime de insolvência; (iii) características, direitos, condições de emissão, subscrição, integralização,</a:t>
            </a:r>
          </a:p>
          <a:p>
            <a:r>
              <a:t>CNPJ 62552447000120 · Adaptação à Resolução CVM 175 · Regulamento · ID 1200623 · 21/05/2026 · versão Consolidado21/05/2026 aprovado pelo ato1200625 · p. 16 · AnexoI5.1 · https://fnet.bmfbovespa.com.br/fnet/publico/visualizarDocumento?id=1200623</a:t>
            </a:r>
          </a:p>
          <a:p>
            <a:r>
              <a:t>CNPJ 62552447000120 · Adaptação à Resolução CVM 175 · Excerto da fonte:</a:t>
            </a:r>
          </a:p>
          <a:p>
            <a:r>
              <a:t>5.1 A Classe não possui Subclasse. As características, os direitos e as condições de emissão, distribuição, subscrição, integralização, remuneração, Amortização e resgate das Cotas estão descritos neste Capítulo e no Capítulo 6. 5.1.1 Não obstante, por deliberação conjunta dos Prestadores de Serviços Essenciais e mediante aprovação em Assembleia Especial, poderá haver a divisão de Classes em Subclasses, nos termos da Resolução CVM 175. Após a primeira emissão de Cotas, novas emissões de Cotas (de quaisquer Subclasses) dependem de aprovação dos Cotistas. 5.2 As Cotas são escrit</a:t>
            </a:r>
          </a:p>
          <a:p>
            <a:r>
              <a:t>CNPJ 62552447000120 · Adaptação à Resolução CVM 175 · Versão e prevalência: Leitura específica das cláusulas indicadas; condições e conflitos preservados. Seleção documental atual não comprova vigência jurídica por data isolada.</a:t>
            </a:r>
          </a:p>
          <a:p>
            <a:r>
              <a:t>CNPJ 62552447000120 · Adaptação à Resolução CVM 175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"res175", "total_count": 1, "preview_count": 1, "full_text_deferred": true, "sha256": "d95db8c0613d67ee84118c734588665265ea6b02f86a0318d6a844cbe1d0f82f"}}</a:t>
            </a:r>
          </a:p>
          <a:p>
            <a:r>
              <a:t>CNPJ 63953620000165 · Adaptação à Resolução CVM 175 · Anexo ao Regulamento · ID 1222863 · 02/06/2026 · versão AnexoConsignadoPrivado02/06/2026 · p. 1 · AnexoI1.1 · https://fnet.bmfbovespa.com.br/fnet/publico/visualizarDocumento?id=1222863</a:t>
            </a:r>
          </a:p>
          <a:p>
            <a:r>
              <a:t>CNPJ 63953620000165 · Adaptação à Resolução CVM 175 · Excerto da fonte:</a:t>
            </a:r>
          </a:p>
          <a:p>
            <a:r>
              <a:t>1.1 As principais características da Classe Consignado Privado (para fins deste Anexo, “Classe”) estão descritas abaixo: Tipo de Condomínio Fechado. Indeterminado, exceto se de outra forma vier a ser deliberado pelos Cotistas Prazo de Duração reunidos em Assembleia Especial de Cotistas. (“Prazo de Duração”) Tipo “Financeiro”. Classificação ANBIMA Foco de atuação “Créditos Consignados”. O obje</a:t>
            </a:r>
          </a:p>
          <a:p>
            <a:r>
              <a:t>CNPJ 63953620000165 · Adaptação à Resolução CVM 175 · Anexo ao Regulamento · ID 1222863 · 02/06/2026 · versão AnexoConsignadoPrivado02/06/2026 · p. 9 · 5.1 · https://fnet.bmfbovespa.com.br/fnet/publico/visualizarDocumento?id=1222863</a:t>
            </a:r>
          </a:p>
          <a:p>
            <a:r>
              <a:t>CNPJ 63953620000165 · Adaptação à Resolução CVM 175 · Excerto da fonte:</a:t>
            </a:r>
          </a:p>
          <a:p>
            <a:r>
              <a:t>5.1 A Classe possui 2 (duas) Subclasses de Cotas, quais sejam, a subclasse sênior (“Subclasse Sênior” e “Cotas Seniores”) e a subclasse subordinada (“Subclasse Subordinada” e “Cotas Subordinadas” – as Cotas Subordinadas e Cotas Seniores, quando referidas em conjunto, “Cotas”). As características, os direitos e as condições de emissão, distribuição, subscrição, integralização, remuneração, amortização e resgate das Cotas estão descritos neste Capítulo e nos respectivos Apêndices. 5.2 As Cotas são escriturais, nominativas e correspondem a frações ideais do patrimônio da Classe, cuja propriedade presume-se: (i) pelo</a:t>
            </a:r>
          </a:p>
          <a:p>
            <a:r>
              <a:t>CNPJ 63953620000165 · Adaptação à Resolução CVM 175 · Condição: Vigência efetiva da versão 02/06/2026 não inferida da data de publicação; não aplicar a fev/26 automaticamente.</a:t>
            </a:r>
          </a:p>
          <a:p>
            <a:r>
              <a:t>CNPJ 63953620000165 · Adaptação à Resolução CVM 175 · Versão e prevalência: Leitura específica das cláusulas indicadas; condições e conflitos preservados. Seleção documental atual não comprova vigência jurídica por data isolada.</a:t>
            </a:r>
          </a:p>
          <a:p>
            <a:r>
              <a:t>CNPJ 63953620000165 · Adaptação à Resolução CVM 175 · Resumo do histórico: {"count": 9, "dates": ["2026-04-28", "2026-05-08", "2026-05-15"], "document_count": 3, "sources": [{"document_id": "1327859", "title": "Demonstrações Financeiras - Fusão, cisão e incorporação", "reference_date": "2026-05-15", "version": "1", "page": 31, "clause": "15.000.000", "url": "https://fnet.bmfbovespa.com.br/fnet/publico/visualizarDocumento?id=1327859", "sha256": "dca1c68babb97f887528c3e2e47596a9c30f507b067981a35655b2f2da9c8054"}, {"document_id": "1298691", "title": "Demonstrações Financeiras - Fusão, cisão e incorporação", "reference_date": "2026-05-08", "version": "1", "page": 32, "url": "https://fnet.bmfbovespa.com.br/fnet/publico/visualizarDocumento?id=1298691", "sha256": "58c570d9b8d4d265330d3db3ea81c435b8e44a6dab4002aa37790652a1ee9819"}, {"document_id": "1282180", "title": "Demonstrações Financeiras - Fusão, cisão e incorporação", "reference_date": "2026-04-28", "version": "1", "page": 32, "clause": "15.000.000", "url": "https://fnet.bmfbovespa.com.br/fnet/publico/visualizarDocumento?id=1282180", "sha256": "afaaa0e6809be4385e5bdb6c911aac582032c5bdbac3d7750234bf9eaf00438a"}], "reference": {"path": "history/63953620000165.json", "criterion_id": "res175", "total_count": 9, "preview_count": 3, "full_text_deferred": true, "sha256": "a7b89077f5e21098c2d601c303faabc3ff6b9729f89d8afecdc60fe1404720c1"}}</a:t>
            </a:r>
          </a:p>
          <a:p>
            <a:r>
              <a:t>CNPJ 54871427000194 · Duração e público-alvo · Demonstrações Financeiras - Fusão, cisão e incorporação · ID 1219522 · 2026-02-02 · versão 1 · p. 11 · https://fnet.bmfbovespa.com.br/fnet/publico/visualizarDocumento?id=1219522</a:t>
            </a:r>
          </a:p>
          <a:p>
            <a:r>
              <a:t>CNPJ 54871427000194 · Duração e público-alvo · Excerto da fonte:</a:t>
            </a:r>
          </a:p>
          <a:p>
            <a:r>
              <a:t>O Consignado Delta Receivables I Fundo de Investimento em Direitos Creditórios possui uma classe única de cotas, denominada Classe Única de Responsabilidade Limitada do Consignado Delta Receivables I Fundo de Investimento em Direitos Creditórios (“Classe”). A Classe foi constituída em 19 de abril de 2024, sob a forma de condomínio fechado e iniciou suas operações em 27 de maio de 2024. A Classe possui prazo de duração Indeterminado.</a:t>
            </a:r>
          </a:p>
          <a:p>
            <a:r>
              <a:t>CNPJ 54871427000194 · Duração e público-alvo · Condição: Documentos atuais selecionados no inventário por categoria/escopo; a data documental isolada não comprova vigência jurídica.</a:t>
            </a:r>
          </a:p>
          <a:p>
            <a:r>
              <a:t>CNPJ 54871427000194 · Duração e público-alvo · Versão e prevalência: Documentos atuais selecionados no inventário por categoria/escopo; a data documental isolada não comprova vigência jurídica.</a:t>
            </a:r>
          </a:p>
          <a:p>
            <a:r>
              <a:t>CNPJ 54871427000194 · Duração e público-alvo · Resumo do histórico: {"count": 11, "dates": ["2024-12-31", "2025-01-01", "2025-12-31"], "document_count": 3, "sources": [{"document_id": "1151805", "title": "Demonstrações Financeiras", "reference_date": "2025-12-31", "version": "1", "page": 11, "url": "https://fnet.bmfbovespa.com.br/fnet/publico/visualizarDocumento?id=1151805", "sha256": "f1cea70b152968bf96ef9221b27225953cb20aeef487b2798db3c25e11b528d4"}, {"document_id": "869529", "title": "Demonstrações Financeiras", "reference_date": "2025-01-01", "version": "1", "page": 11, "url": "https://fnet.bmfbovespa.com.br/fnet/publico/visualizarDocumento?id=869529", "sha256": "9a93a9369ac8efdbc54ff8fcee3ccac3abf88edab4807b9323d3852450771b2a"}, {"document_id": "870070", "title": "Demonstrações Financeiras", "reference_date": "2024-12-31", "version": "1", "page": 11, "url": "https://fnet.bmfbovespa.com.br/fnet/publico/visualizarDocumento?id=870070", "sha256": "9a93a9369ac8efdbc54ff8fcee3ccac3abf88edab4807b9323d3852450771b2a"}], "reference": {"path": "history/54871427000194.json", "criterion_id": "duration_investors", "total_count": 11, "preview_count": 3, "full_text_deferred": true, "sha256": "35d7cd99be50c7287c9fb675cf4f2e736002315295a225a9efa79c8d9186d874"}}</a:t>
            </a:r>
          </a:p>
          <a:p>
            <a:r>
              <a:t>CNPJ 60010416000112 · Duração e público-alvo · Demonstrações Financeiras - Fusão, cisão e incorporação · ID 1298690 · 2026-05-08 · versão 1 · p. 9 · https://fnet.bmfbovespa.com.br/fnet/publico/visualizarDocumento?id=1298690</a:t>
            </a:r>
          </a:p>
          <a:p>
            <a:r>
              <a:t>CNPJ 60010416000112 · Duração e público-alvo · Excerto da fonte:</a:t>
            </a:r>
          </a:p>
          <a:p>
            <a:r>
              <a:t>1. Contexto operacional  O MT Consignado Privado I Fundo de Investimento em Direitos Creditórios (“Fundo”) possui uma  classe única de cotas, denominada Classe Única do MT I Consignado Privado I Fundo de  Investimento em Direitos Creditórios Responsabilidade Limitada (“Classe”). A Classe foi  constituída em 20 de março de 2025, sob a forma de condomínio fechado e iniciou suas  operações em 21 de março de 2025. A Classe possui prazo de duração indeterminado.</a:t>
            </a:r>
          </a:p>
          <a:p>
            <a:r>
              <a:t>CNPJ 60010416000112 · Duração e público-alvo · Demonstrações Financeiras - Fusão, cisão e incorporação · ID 1298690 · 2026-05-08 · versão 1 · p. 22 · https://fnet.bmfbovespa.com.br/fnet/publico/visualizarDocumento?id=1298690</a:t>
            </a:r>
          </a:p>
          <a:p>
            <a:r>
              <a:t>CNPJ 60010416000112 · Duração e público-alvo · Excerto da fonte:</a:t>
            </a:r>
          </a:p>
          <a:p>
            <a:r>
              <a:t>(ii) Riscos do mercado secundário: A Classe é constituída sob a forma de condomínio  fechado, de modo que as Cotas Subordinadas somente serão resgatadas em virtude da  liquidação da Classe e as Cotas Seniores ao término do seu prazo de duração, conforme  estabelecidos nos respectivos Suplementos. Uma vez que o prazo de duração da Classe  é indeterminado, o Cotista titular das Cotas Subordinadas não terá liquidez em seu  investimento na Classe, exceto (a) por ocasião das amortizações e dos resgates, nos  termos do Regulamento; (b) por meio da alienação de suas Cotas no mercado  secundário, observado, neste caso, que sua alienação apenas é permitida para o Público-  Alvo das Cotas Subordinadas; ou (c) na liquidação antecipada do Fundo ou da Classe.</a:t>
            </a:r>
          </a:p>
          <a:p>
            <a:r>
              <a:t> Além disso, atualmente, o mercado secundário de cotas de fundos de investimento  apresenta baixa liquidez, o que pode dificultar a venda das Cotas ou ocasionar a obtenção  de um preço de venda que cause perda de patrimônio ao Cotista. Não há qualquer  garantia da Administradora, da Gestora, da consultora ou do Custodiante em relação à  possibilidade de venda das Cotas no mercado secundário ou ao preço obtido por elas,  ou mesmo garantia de saída ao Cotista.</a:t>
            </a:r>
          </a:p>
          <a:p>
            <a:r>
              <a:t>CNPJ 60010416000112 · Duração e público-alvo · Condição: Documentos atuais selecionados no inventário por categoria/escopo; a data documental isolada não comprova vigência jurídica.</a:t>
            </a:r>
          </a:p>
          <a:p>
            <a:r>
              <a:t>CNPJ 60010416000112 · Duração e público-alvo · Versão e prevalência: Documentos atuais selecionados no inventário por categoria/escopo; a data documental isolada não comprova vigência jurídica.</a:t>
            </a:r>
          </a:p>
          <a:p>
            <a:r>
              <a:t>CNPJ 60010416000112 · Duração e público-alvo · Resumo do histórico: {"count": 9, "dates": ["2025-11-30", "2026-03-18", "2026-04-16"], "document_count": 3, "sources": [{"document_id": "1282181", "title": "Demonstrações Financeiras - Fusão, cisão e incorporação", "reference_date": "2026-04-16", "version": "1", "page": 23, "url": "https://fnet.bmfbovespa.com.br/fnet/publico/visualizarDocumento?id=1282181", "sha256": "b1c6566e43a00bcd00c8a7f30c77b7f86e351bd8e355bbea113f46d1dafda703"}, {"document_id": "1224477", "title": "Demonstrações Financeiras - Fusão, cisão e incorporação", "reference_date": "2026-03-18", "version": "1", "page": 23, "url": "https://fnet.bmfbovespa.com.br/fnet/publico/visualizarDocumento?id=1224477", "sha256": "0751bf0a75bc3b44c2748f5000226665c6ec6698a90c4dc6170b4e6c187759ae"}, {"document_id": "1126154", "title": "Demonstrações Financeiras", "reference_date": "2025-11-30", "version": "1", "page": 23, "url": "https://fnet.bmfbovespa.com.br/fnet/publico/visualizarDocumento?id=1126154", "sha256": "a01e7ccf88c548f12c95cba8526d7efbef6b585c112cd4668eca781c292090b0"}], "reference": {"path": "history/60010416000112.json", "criterion_id": "duration_investors", "total_count": 9, "preview_count": 3, "full_text_deferred": true, "sha256": "8e2bd813f4c51cf01f6bfaad164bafe69d2bbb192f753eac92da3a01c2e63046"}}</a:t>
            </a:r>
          </a:p>
          <a:p>
            <a:r>
              <a:t>CNPJ 62696791000193 · Duração e público-alvo · Regulamento · ID 1143317 · 2026-03-20 · versão 1 · p. 18 · 8.8.1 · https://fnet.bmfbovespa.com.br/fnet/publico/visualizarDocumento?id=1143317</a:t>
            </a:r>
          </a:p>
          <a:p>
            <a:r>
              <a:t>CNPJ 62696791000193 · Duração e público-alvo · Excerto da fonte:</a:t>
            </a:r>
          </a:p>
          <a:p>
            <a:r>
              <a:t>8.8.1 As Chamadas de Capital para a realização de investimentos serão realizadas a qualquer  momento durante o Período de Investimento e estarão limitadas ao valor do capital subscrito  de cada Cotista. As Chamadas de Capital para o pagamento de despesas e encargos do Fundo  poderão ser realizadas a qualquer momento durante o Prazo de Duração, mas não estarão  limitadas ao valor do capital subscrito de cada Cotista.</a:t>
            </a:r>
          </a:p>
          <a:p>
            <a:r>
              <a:t>CNPJ 62696791000193 · Duração e público-alvo · Regulamento · ID 1143317 · 2026-03-20 · versão 1 · p. 20 · 9.5.1 · https://fnet.bmfbovespa.com.br/fnet/publico/visualizarDocumento?id=1143317</a:t>
            </a:r>
          </a:p>
          <a:p>
            <a:r>
              <a:t>CNPJ 62696791000193 · Duração e público-alvo · Excerto da fonte:</a:t>
            </a:r>
          </a:p>
          <a:p>
            <a:r>
              <a:t>9.5.1 Ao f inal do Prazo de Duração ou quando da liquidação antecipada da Classe, todas as Cotas  deverão ter seu valor integralmente amortizado. Não havendo recursos em moeda corrente  nacional suficientes para realizar o pagamento da amortização total das Cotas em circulação à  época da liquidação da Classe, o Administrador deverá convocar a Assembleia Especial de  Cotistas a fim de deliberar sobre a prorrogação do Prazo de Duração ou o resgate de Cotas em  Direitos Creditórios do Agronegócio e/ou Outros Ativos .</a:t>
            </a:r>
          </a:p>
          <a:p>
            <a:r>
              <a:t>10 ASSEMBLEIA ESPECIAL DE COTISTAS</a:t>
            </a:r>
          </a:p>
          <a:p>
            <a:r>
              <a:t>CNPJ 62696791000193 · Duração e público-alvo · Regulamento · ID 1143317 · 2026-03-20 · versão 1 · p. 23 · 11.1 · https://fnet.bmfbovespa.com.br/fnet/publico/visualizarDocumento?id=1143317</a:t>
            </a:r>
          </a:p>
          <a:p>
            <a:r>
              <a:t>CNPJ 62696791000193 · Duração e público-alvo · Excerto da fonte:</a:t>
            </a:r>
          </a:p>
          <a:p>
            <a:r>
              <a:t>11.1 A Classe será liquidada (i) em caso da liquidação antecipada deliberada em Assembleia Especial de  Cotistas; ou (ii) pelo encerramento do Prazo de Duração da Classe.</a:t>
            </a:r>
          </a:p>
          <a:p>
            <a:r>
              <a:t>CNPJ 62696791000193 · Duração e público-alvo · Condição: Documentos atuais selecionados no inventário por categoria/escopo; a data documental isolada não comprova vigência jurídica.</a:t>
            </a:r>
          </a:p>
          <a:p>
            <a:r>
              <a:t>CNPJ 62696791000193 · Duração e público-alvo · Versão e prevalência: Documentos atuais selecionados no inventário por categoria/escopo; a data documental isolada não comprova vigência jurídica.</a:t>
            </a:r>
          </a:p>
          <a:p>
            <a:r>
              <a:t>CNPJ 55563624000109 · Duração e público-alvo · AGE · ID 1306189 · 2026-08-25 · versão 1 · p. 1 · 4.1 · https://fnet.bmfbovespa.com.br/fnet/publico/visualizarDocumento?id=1306189</a:t>
            </a:r>
          </a:p>
          <a:p>
            <a:r>
              <a:t>CNPJ 55563624000109 · Duração e público-alvo · Excerto da fonte:</a:t>
            </a:r>
          </a:p>
          <a:p>
            <a:r>
              <a:t>4.1 Nos termos do Anexo da Classe, aprovar:</a:t>
            </a:r>
          </a:p>
          <a:p>
            <a:r>
              <a:t>(i) a liquidação da Subclasse A da Classe, considerando o encerramento do seu prazo de duração, por meio do  resgate integral de Cotas da Subclasse A com entrega de financeiro aos Cotistas. Será utilizada como data  base no cálculo da cota do dia 25 de agosto de 2026, com efetivação no fechamento do dia 27 de agosto de  2026; e</a:t>
            </a:r>
          </a:p>
          <a:p>
            <a:r>
              <a:t>(ii) a liquidação antecipada da Subclasse C da Classe, por meio do resgate integral de Cotas da Subclasse C com  entrega de financeiro aos Cotistas. Será utilizada como data base no cálculo da cota do dia 25 de agosto de  2026, com efetivação no fechamento do dia 27 de agosto de 2026.</a:t>
            </a:r>
          </a:p>
          <a:p>
            <a:r>
              <a:t>CNPJ 55563624000109 · Duração e público-alvo · Condição: Documentos atuais selecionados no inventário por categoria/escopo; a data documental isolada não comprova vigência jurídica.</a:t>
            </a:r>
          </a:p>
          <a:p>
            <a:r>
              <a:t>CNPJ 55563624000109 · Duração e público-alvo · Versão e prevalência: Documentos atuais selecionados no inventário por categoria/escopo; a data documental isolada não comprova vigência jurídica.</a:t>
            </a:r>
          </a:p>
          <a:p>
            <a:r>
              <a:t>CNPJ 55563624000109 · Duração e público-alvo · Resumo do histórico: {"count": 6, "dates": ["2026-04-30"], "document_count": 2, "sources": [{"document_id": "1192614", "title": "Regulamento", "reference_date": "2026-04-30", "version": "1", "page": "9, 15, 45-50", "url": "https://fnet.bmfbovespa.com.br/fnet/publico/visualizarDocumento?id=1192614", "sha256": "f56e63ace0acde41d2f47fb48f1ac7f3f7df5e2d32de092d7c5e075a52516632"}, {"document_id": "1192614", "title": "Regulamento", "reference_date": "2026-04-30", "version": "1", "page": 5, "clause": "4.7.1", "url": "https://fnet.bmfbovespa.com.br/fnet/publico/visualizarDocumento?id=1192614", "sha256": "f56e63ace0acde41d2f47fb48f1ac7f3f7df5e2d32de092d7c5e075a52516632"}, {"document_id": "1192603", "title": "AGE", "reference_date": "2026-04-30", "version": "1", "page": 1, "clause": "4.1", "url": "https://fnet.bmfbovespa.com.br/fnet/publico/visualizarDocumento?id=1192603", "sha256": "f53ff2a5b715f5365536305a098f9cc0c54b5a01128942d784915bed8eeb0288"}], "reference": {"path": "history/55563624000109.json", "criterion_id": "duration_investors", "total_count": 6, "preview_count": 3, "full_text_deferred": true, "sha256": "7835d573fb58a3c19adf5b8ecc2aee2bdbb9a88f7a0c0209b5f262b64c7522e3"}}</a:t>
            </a:r>
          </a:p>
          <a:p>
            <a:r>
              <a:t>CNPJ 62552447000120 · Duração e público-alvo · Regulamento · ID 1200623 · 2026-05-21 · versão 1 · p. 22 · 10.4 · https://fnet.bmfbovespa.com.br/fnet/publico/visualizarDocumento?id=1200623</a:t>
            </a:r>
          </a:p>
          <a:p>
            <a:r>
              <a:t>CNPJ 62552447000120 · Duração e público-alvo · Excerto da fonte:</a:t>
            </a:r>
          </a:p>
          <a:p>
            <a:r>
              <a:t>10.4 Tendo em vista que a Classe é exclusivamente destinada a Investidores Profissionais, não serão  aplicáveis as vedações ao direito a voto em assembleia de cotistas dispostas no artigo 78 da Resolução  CVM 175, conf orme disposto no artigo 114 da ref erida Resolução.</a:t>
            </a:r>
          </a:p>
          <a:p>
            <a:r>
              <a:t>CNPJ 62552447000120 · Duração e público-alvo · Regulamento · ID 1200623 · 2026-05-21 · versão 1 · p. 35 · https://fnet.bmfbovespa.com.br/fnet/publico/visualizarDocumento?id=1200623</a:t>
            </a:r>
          </a:p>
          <a:p>
            <a:r>
              <a:t>CNPJ 62552447000120 · Duração e público-alvo · Excerto da fonte:</a:t>
            </a:r>
          </a:p>
          <a:p>
            <a:r>
              <a:t>ativos desses emissores, causando perdas à Classe e ao Cotista. Além disso, a f alta de capacidade ou disposição de pagar por qualquer dos emissores dos Ativos Financeiros de Liquidez ou das contrapartes nas transações que compõem a Carteira causará perdas à Classe, e o que também poderá incorrer em custos para f ins de recuperação de seus recebíveis.</a:t>
            </a:r>
          </a:p>
          <a:p>
            <a:r>
              <a:t>(v) Riscos associados aos Devedores: no caso de Devedores no âmbito das operações de consignado privado, a sua capacidade de pagamento poderá ser af etada se, por exemplo, o Devedor tiver o seu contrato de emprego rescindido ou em virtude de decisão judicial, o Devedor for obrigado a pagar alimentos, que têm prioridade sobre o empréstimo para f ins de desconto na f 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 etar a rentabilidade da Classe. Já no caso de Devedores no âmbito das operações de Saque-aniversário, como os Direitos Creditórios a serem endossados à Classe serão descontados pelo FGTS da remuneração do Devedor, na ocorrência de qualquer evento que, nos termos da legislação aplicável, determine o pagamento antecipado do Saque-aniversário ao Devedor, a exemplo do falecimento do Devedor, dentre outros, as parcelas do Saque- aniversário serão pagas antecipadamente e a Classe deverá utilizar tais montantes no pré-pagamento dos Direitos Creditórios. Nesta hipótese, a Classe poderá não encontrar Direitos Creditórios disponíveis para serem adquiridos pela Classe, o que poderá af etar a rentabilidade da Classe.</a:t>
            </a:r>
          </a:p>
          <a:p>
            <a:r>
              <a:t>Risco de liquidez</a:t>
            </a:r>
          </a:p>
          <a:p>
            <a:r>
              <a:t>(i) Risco de liquidez: consiste no risco de redução ou inexistência de demanda pelos ativos que compõem a Classe nos respectivos mercados em que são negociados, devido às condições específicas desses ativos ou aos mercados em que são negociados. Devido a esses riscos, o Gestor poderá encontrar dificuldades em liquidar posições ou negociar esses ativos pelo preço e prazo desejados, de acordo com a estratégia de gestão adotada pela Classe, que permanecerá exposto, durante o período de baixa liquidez, aos riscos associados a esses ativos e posições assumidas em mercados de derivativos, se houver, que poderão até exigir que o Gestor aceite descontos em seus preços para realizar negociações no mercado. Esses f atores poderão prejudicar o pagamento de Amortizações ao Cotista, nos valores e dentro dos termos aqui estabelecidos.</a:t>
            </a:r>
          </a:p>
          <a:p>
            <a:r>
              <a:t>(ii) Riscos do mercado secundário: A Classe é constituída sob a f orma de condomínio fechado, de modo que as Cotas somente serão resgatadas em virtude da liquidação da Classe. Uma vez que o Prazo de Duração da Classe é indeterminado, o Cotista titular das Cotas não terá liquidez em seu investimento na Classe, exceto</a:t>
            </a:r>
          </a:p>
          <a:p>
            <a:r>
              <a:t>(a) por ocasião das Amortizações e dos resgates, nos termos deste Regulamento; (b) por meio da alienação de suas Cotas no mercado secundário; ou (c) na liquidação antecipada do FUNDO ou da Classe.</a:t>
            </a:r>
          </a:p>
          <a:p>
            <a:r>
              <a:t>Além disso, atualmente, o mercado secundário de cotas de fundos de investimento apresenta baixa liquidez, o que pode dificultar a venda das Cotas ou ocasionar a obtenção de um preço de venda que cause perda de patrimônio ao Cotista. Não há qualquer garantia do Administrador, do Gestor, da consultora ou do Custodiante em relação à possibilidade de venda das Cotas no mercado secundário ou ao preço obtido por elas, ou mesmo garantia de saída ao Cotista.</a:t>
            </a:r>
          </a:p>
          <a:p>
            <a:r>
              <a:t>Riscos específicos</a:t>
            </a:r>
          </a:p>
          <a:p>
            <a:r>
              <a:t>(i)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ficar inadimplente e, consequentemente, não haverá repasse à Classe do respectivo Direito Creditório, o que poderá resultar em perdas f inanceiras à Classe e aos Cotistas. Para os f ins deste Regulamento, “Empregador” signif ica a empresa com qual o Devedor mantém vínculo empregatício registrado junto à CTPS.</a:t>
            </a:r>
          </a:p>
          <a:p>
            <a:r>
              <a:t>(ii) Risco do Empregador não efetuar o desconto em folha: o repasse dos recursos oriundos dos Direitos Creditórios à Classe depende da realização, pelo Empregador, da escrituração da Consignação a ser</a:t>
            </a:r>
          </a:p>
          <a:p>
            <a:r>
              <a:t>CNPJ 62552447000120 · Duração e público-alvo · Regulamento · ID 1200623 · 2026-05-21 · versão 1 · p. 1 · 1.3 · https://fnet.bmfbovespa.com.br/fnet/publico/visualizarDocumento?id=1200623</a:t>
            </a:r>
          </a:p>
          <a:p>
            <a:r>
              <a:t>CNPJ 62552447000120 · Duração e público-alvo · Excerto da fonte:</a:t>
            </a:r>
          </a:p>
          <a:p>
            <a:r>
              <a:t>1.3 Durante o seu prazo de duração, o Fundo, por ato conjunto dos Prestadores de Serviços Essenciais,  poderá constituir diferentes Classes e Subclasses , sendo que cada Classe terá patrimônio segregado e</a:t>
            </a:r>
          </a:p>
          <a:p>
            <a:r>
              <a:t>CNPJ 62552447000120 · Duração e público-alvo · Condição: Documentos atuais selecionados no inventário por categoria/escopo; a data documental isolada não comprova vigência jurídica.</a:t>
            </a:r>
          </a:p>
          <a:p>
            <a:r>
              <a:t>CNPJ 62552447000120 · Duração e público-alvo · Versão e prevalência: Documentos atuais selecionados no inventário por categoria/escopo; a data documental isolada não comprova vigência jurídica.</a:t>
            </a:r>
          </a:p>
          <a:p>
            <a:r>
              <a:t>CNPJ 62552447000120 · Duração e público-alvo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"duration_investors", "total_count": 1, "preview_count": 1, "full_text_deferred": true, "sha256": "d95db8c0613d67ee84118c734588665265ea6b02f86a0318d6a844cbe1d0f82f"}}</a:t>
            </a:r>
          </a:p>
          <a:p>
            <a:r>
              <a:t>CNPJ 63953620000165 · Duração e público-alvo · Anexo ao Regulamento · ID 1222863 · 2026-06-02 · versão 1 · p. 2 · https://fnet.bmfbovespa.com.br/fnet/publico/visualizarDocumento?id=1222863</a:t>
            </a:r>
          </a:p>
          <a:p>
            <a:r>
              <a:t>CNPJ 63953620000165 · Duração e público-alvo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Duração e público-alvo · Anexo ao Regulamento · ID 1222863 · 2026-06-02 · versão 1 · p. 1 · 1.1 · https://fnet.bmfbovespa.com.br/fnet/publico/visualizarDocumento?id=1222863</a:t>
            </a:r>
          </a:p>
          <a:p>
            <a:r>
              <a:t>CNPJ 63953620000165 · Duração e público-alvo · Excerto da fonte:</a:t>
            </a:r>
          </a:p>
          <a:p>
            <a:r>
              <a:t>1.1 As principais características da Classe Consignado Privado (para fins deste Anexo, “Classe”) estão descritas  abaixo:</a:t>
            </a:r>
          </a:p>
          <a:p>
            <a:r>
              <a:t> Tipo de Condomínio Fechado.</a:t>
            </a:r>
          </a:p>
          <a:p>
            <a:r>
              <a:t> Indeterminado, exceto se de outra forma vier a ser deliberado pelos Cotistas  Prazo de Duração  reunidos em Assembleia Especial de Cotistas. (“Prazo de Duração”)  Tipo “Financeiro”.</a:t>
            </a:r>
          </a:p>
          <a:p>
            <a:r>
              <a:t> Classificação ANBIMA  Foco de atuação “Créditos Consignados”.</a:t>
            </a:r>
          </a:p>
          <a:p>
            <a:r>
              <a:t> O objetivo da classe é proporcionar aos seus Cotistas a valorização de suas Cotas  por meio da aplicação de seu Patrimônio Líquido (conforme definido abaixo) na  aquisição de: (i) “Direitos Creditórios Crédito Consignado”, representados por  cédula de crédito bancário regida pela Lei nº 10.931, emitida eletronicamente por  um devedor em favor do endossante (“CCB”) e, consequentemente, os recebíveis  decorrente de cada uma das parcelas vincendas, representando um empréstimo  consignado concedido pelo endossante ao devedor, e cujo pagamento ordinário  é feito por desconto de cada prestação vincenda de uma CCB na folha de  pagamentos do devedor (“Consignação”), efetuada pela Caixa Econômica  Federal, de acordo com a legislação aplicável e em conformidade com os  procedimentos estabelecidos no convênio celebrado entre o Endossante e a  Empresa de Tecnologia e Informações da Previdência – DATAPREV e paga na  Conta Vinculada do Endossante (“Convênio Consignado Privado”); e/ou (ii)  “Direitos Creditórios TVM”, representados por direitos, títulos e/ou valores  mobiliários representativos de créditos originados no âmbito de operações de  sociedades integrantes do conglomerado econômico de instituições financeiras  classificadas como S1 pelo BACEN, desde que não representem títulos de  emissão ou coobrigação de instituições financeiras, bem como cotas de fundos  de investimento que invistam preponderantemente nestes direitos, títulos e/ou  Objetivo  valores mobiliários (Direitos Creditórios TVM quando referidos em conjunto  com os Direitos Creditórios Consignado Privado, “Direitos Creditórios”)  observados todos os limites de composição e diversificação da carteira da Classe  (“Carteira”), estabelecidos neste Regulamento e na regulamentação aplicável.</a:t>
            </a:r>
          </a:p>
          <a:p>
            <a:r>
              <a:t> Subsidiariamente, a parcela do Patrimônio Líquido que não esteja alocada em  Direitos Creditórios poderá estar alocado em: (1) certificados de depósito  bancário (CDB) ou recibos de depósito bancário (RDB) com prazo máximo de  vencimento equivalente ao prazo remanescente do Período de Investimento, com  liquidez diária, emitidos por Parati Crédito, Financiamento e Investimento S.A.</a:t>
            </a:r>
          </a:p>
          <a:p>
            <a:r>
              <a:t> e/ou pelo Endossante (“Ativos de Liquidez MT”); e/ou (2) (i) moeda corrente  nacional; (ii) títulos do Tesouro SELIC, anteriormente denominado letra financeira  do Tesouro Nacional (LFT); (iii) certificados de depósito bancário (CDB) ou recibos  de depósito bancário (RDB) com prazo máximo de vencimento equivalente ao  prazo remanescente do Período de Investimento, com liquidez diária, emitidos  por (a) Itaú Unibanco S.A.; (b) Banco Bradesco S.A.; (c) Caixa Econômica Federal;</a:t>
            </a:r>
          </a:p>
          <a:p>
            <a:r>
              <a:t> (d) Banco do Brasil S.A.; (e) Banco Santander (Brasil) S.A.; (f) Banco BTG Pactual  S.A.; (g) Banco Sistema S.A. (“Instituições Autorizadas”); (iv) operações  compromissadas, desde que lastreadas nos títulos mencionados nas alíneas (i) a</a:t>
            </a:r>
          </a:p>
          <a:p>
            <a:r>
              <a:t> (iii) acima, emitidas por Instituições Autorizadas, com liquidez diária e vencimento</a:t>
            </a:r>
          </a:p>
          <a:p>
            <a:r>
              <a:t>CNPJ 63953620000165 · Duração e público-alvo · Anexo ao Regulamento · ID 1222863 · 2026-06-02 · versão 1 · p. 10 · 6.7.1 · https://fnet.bmfbovespa.com.br/fnet/publico/visualizarDocumento?id=1222863</a:t>
            </a:r>
          </a:p>
          <a:p>
            <a:r>
              <a:t>CNPJ 63953620000165 · Duração e público-alvo · Excerto da fonte:</a:t>
            </a:r>
          </a:p>
          <a:p>
            <a:r>
              <a:t>6.7.1 As Chamadas de Capital para a realização de investimentos serão realizadas a qualquer momento  durante o Período de Investimento e estarão limitadas ao valor do capital subscrito de cada Cotista. As  Chamadas de Capital para o pagamento de despesas e encargos do Fundo, com exceção de despesas  relacionadas à instrumentos de derivativos e/ou Encargos não previstos no âmbito deste regulamento,  poderão ser realizadas a qualquer momento durante o Prazo de Duração, mas não estarão limitadas ao  valor do capital subscrito de cada Cotista.</a:t>
            </a:r>
          </a:p>
          <a:p>
            <a:r>
              <a:t>CNPJ 63953620000165 · Duração e público-alvo · Condição: Documentos atuais selecionados no inventário por categoria/escopo; a data documental isolada não comprova vigência jurídica.</a:t>
            </a:r>
          </a:p>
          <a:p>
            <a:r>
              <a:t>CNPJ 63953620000165 · Duração e público-alvo · Versão e prevalência: Documentos atuais selecionados no inventário por categoria/escopo; a data documental isolada não comprova vigência jurídica.</a:t>
            </a:r>
          </a:p>
          <a:p>
            <a:r>
              <a:t>CNPJ 63953620000165 · Duração e público-alvo · Resumo do histórico: {"count": 8, "dates": ["2026-04-28", "2026-05-08", "2026-05-15"], "document_count": 3, "sources": [{"document_id": "1327859", "title": "Demonstrações Financeiras - Fusão, cisão e incorporação", "reference_date": "2026-05-15", "version": "1", "page": 9, "url": "https://fnet.bmfbovespa.com.br/fnet/publico/visualizarDocumento?id=1327859", "sha256": "dca1c68babb97f887528c3e2e47596a9c30f507b067981a35655b2f2da9c8054"}, {"document_id": "1298691", "title": "Demonstrações Financeiras - Fusão, cisão e incorporação", "reference_date": "2026-05-08", "version": "1", "page": 9, "url": "https://fnet.bmfbovespa.com.br/fnet/publico/visualizarDocumento?id=1298691", "sha256": "58c570d9b8d4d265330d3db3ea81c435b8e44a6dab4002aa37790652a1ee9819"}, {"document_id": "1282180", "title": "Demonstrações Financeiras - Fusão, cisão e incorporação", "reference_date": "2026-04-28", "version": "1", "page": 9, "url": "https://fnet.bmfbovespa.com.br/fnet/publico/visualizarDocumento?id=1282180", "sha256": "afaaa0e6809be4385e5bdb6c911aac582032c5bdbac3d7750234bf9eaf00438a"}], "reference": {"path": "history/63953620000165.json", "criterion_id": "duration_investors",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Alocação e perímetro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Alocação mínima · Base da comparação IME: {"criterion_id": "allocation", "observed_value": 91.84981349574433, "unit": "percent", "competence": "08/2026", "status": "not_comparable", "reason": "Vigência efetiva não comprovada; data do documento isolada não certifica enquadramento histórico.", "formula": "credit_rights / net_asset_value × 100",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50.0}</a:t>
            </a:r>
          </a:p>
          <a:p>
            <a:r>
              <a:t>CNPJ 54871427000194 · Alocação mínima · Regulamento · ID 670691 · 28/04/2024 · versão Regulamento — referência 28/04/2024 · p. 11 · Anexo I, 4.9 · https://fnet.bmfbovespa.com.br/fnet/publico/visualizarDocumento?id=670691</a:t>
            </a:r>
          </a:p>
          <a:p>
            <a:r>
              <a:t>CNPJ 54871427000194 · Alocação mínima · Excerto da fonte:</a:t>
            </a:r>
          </a:p>
          <a:p>
            <a:r>
              <a:t>4.9 Decorridos 180 (cento e oitenta) dias da Data da 1ª Integralização de Cotas, a Classe deverá manter alocado, no mínimo, 50% (cinquenta por cento) do seu Patrimônio Líquido em Direitos Creditórios . 4.10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4.11 A Classe poderá, direta ou indiretamente e, nos termos da legislação aplicável: (i) adquirir Direitos Creditórios que sejam cedidos e/ou originados pelo ADMINISTRADOR e/ou pelo GESTOR, ou partes a eles relacionadas, tal como definidas pelas regras contábeis que tratam desse assunto; e (ii) ceder Direitos Creditórios a qualquer das pessoas, fundos de investimento ou entidades referidas n</a:t>
            </a:r>
          </a:p>
          <a:p>
            <a:r>
              <a:t>CNPJ 54871427000194 · Alocação mínima · Mecânica: {"operator": "&gt;=", "limit": 50.0, "unit": "percent", "numerator": "credit_rights", "denominator": "net_asset_value", "frequency": "daily", "layer": "54871427000194", "document_date": "2024-04-28", "effective_status": "document_date_only", "initial_days": 180}</a:t>
            </a:r>
          </a:p>
          <a:p>
            <a:r>
              <a:t>CNPJ 54871427000194 · Alocação mínima · Versão e prevalência: Leitura específica das cláusulas indicadas; condições e conflitos preservados. Seleção documental atual não comprova vigência jurídica por data isolada.</a:t>
            </a:r>
          </a:p>
          <a:p>
            <a:r>
              <a:t>CNPJ 54871427000194 · Alocação mínima · Resumo do histórico: {"count": 2, "dates": ["2024-04-19", "2024-04-28"], "document_count": 2, "sources": [{"document_id": "670691", "title": "Regulamento", "reference_date": "2024-04-28", "version": "1", "page": "11", "url": "https://fnet.bmfbovespa.com.br/fnet/publico/visualizarDocumento?id=670691", "sha256": "bf16dd7f1a62d5cdbf2e2d54fef81783783f7310fbc99c3a8f00459bdf9d037b"}, {"document_id": "670689", "title": "Regulamento", "reference_date": "2024-04-19", "version": "1", "page": 11, "clause": "4.9", "url": "https://fnet.bmfbovespa.com.br/fnet/publico/visualizarDocumento?id=670689", "sha256": "891bc9bc5d87bbc02ec139077a84d2702eb81ea02035fb71d24f5b8366b94a0b"}], "reference": {"path": "history/54871427000194.json", "criterion_id": "allocation", "total_count": 2, "preview_count": 2, "full_text_deferred": true, "sha256": "35d7cd99be50c7287c9fb675cf4f2e736002315295a225a9efa79c8d9186d874"}}</a:t>
            </a:r>
          </a:p>
          <a:p>
            <a:r>
              <a:t>CNPJ 60010416000112 · Alocação mínima · Base da comparação IME: {"criterion_id": "allocation", "observed_value": 117.78665480900618, "unit": "percent", "competence": "08/2026", "status": "not_comparable", "reason": "Vigência efetiva não comprovada; data do documento isolada não certifica enquadramento histórico.", "formula": "credit_rights / net_asset_value × 100",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50.0}</a:t>
            </a:r>
          </a:p>
          <a:p>
            <a:r>
              <a:t>CNPJ 60010416000112 · Alocação mínima · Regulamento · ID 1051393 · 09/10/2025 · versão Regulamento09/10/2025 · p. 11 · AnexoI4.6 · https://fnet.bmfbovespa.com.br/fnet/publico/visualizarDocumento?id=1051393</a:t>
            </a:r>
          </a:p>
          <a:p>
            <a:r>
              <a:t>CNPJ 60010416000112 · Alocação mínima · Excerto da fonte:</a:t>
            </a:r>
          </a:p>
          <a:p>
            <a:r>
              <a:t>4.6 Decorridos 180 (cento e oitenta) dias do início de suas atividades, a Classe deverá manter alocado, no mínimo: para f ins tributários, 67% (sessenta e sete por cento) do seu Patrimônio Líquido em Direitos Creditórios, nos termos da Resolução CMN 5.111; e para fins regulatórios, 50% (cinquenta por cento) do seu Patrimônio Líquido em Direitos Creditórios, nos termos da Resolução CVM 175. BTG Pactual SAC: 0800 772 28 27 - Ouvidoria: 0800 722 00 48 - btgpactual.com 11</a:t>
            </a:r>
          </a:p>
          <a:p>
            <a:r>
              <a:t>CNPJ 60010416000112 · Alocação mínima · Mecânica: {"operator": "&gt;=", "unit": "percent", "denominator": "net_asset_value", "frequency": "not_stated", "layer": "class", "effective_status": "document_date_only", "document_date": "2025-10-09", "numerator": "credit_rights", "limit": 50.0, "requires_initial_date": true}</a:t>
            </a:r>
          </a:p>
          <a:p>
            <a:r>
              <a:t>CNPJ 60010416000112 · Alocação mínima · Versão e prevalência: Leitura específica das cláusulas indicadas; condições e conflitos preservados. Seleção documental atual não comprova vigência jurídica por data isolada.</a:t>
            </a:r>
          </a:p>
          <a:p>
            <a:r>
              <a:t>CNPJ 60010416000112 · Alocação mínima · Resumo do histórico: {"count": 2, "dates": ["2025-03-20", "2025-10-09"], "document_count": 2, "sources": [{"document_id": "1051393", "title": "Regulamento", "reference_date": "2025-10-09", "version": "1", "page": "11", "url": "https://fnet.bmfbovespa.com.br/fnet/publico/visualizarDocumento?id=1051393", "sha256": "8469d613078ffd5a6c1d217885d8a397a16342c0b937ae4aa24b106505f233ae"}, {"document_id": "993786", "title": "Regulamento", "reference_date": "2025-03-20", "version": "1", "page": 6, "clause": "5.3", "url": "https://fnet.bmfbovespa.com.br/fnet/publico/visualizarDocumento?id=993786", "sha256": "fd0fdd369a195510d81f81f505195a0b09e5f43522a990afa7d58c4f872921c8"}], "reference": {"path": "history/60010416000112.json", "criterion_id": "allocation", "total_count": 2, "preview_count": 2, "full_text_deferred": true, "sha256": "8e2bd813f4c51cf01f6bfaad164bafe69d2bbb192f753eac92da3a01c2e63046"}}</a:t>
            </a:r>
          </a:p>
          <a:p>
            <a:r>
              <a:t>CNPJ 62696791000193 · Alocação mínima · Base da comparação IME: {"criterion_id": "allocation", "observed_value": null, "unit": "percent", "competence": "08/2026", "status": "not_comparable", "reason": "Operador, unidade, numerador ou base contratual sem correspondência exata no IME; proxies de PL/ativos não são intercambiáveis. CPR declarada no FIAGRO não comprova elegibilidade individual nem correspondência integral com a definição contratual de direitos creditórios do agronegócio.",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51.0, "comparison_required": true, "context_value": 99.72659520720684, "context_unit": "percent", "context_formula": "CPR / PL (rubrica declarada no FIAGRO)"}</a:t>
            </a:r>
          </a:p>
          <a:p>
            <a:r>
              <a:t>CNPJ 62696791000193 · Alocação mínima · Regulamento · ID 1143317 · 20/03/2026 · versão Regulamento — referência 20/03/2026 · p. 10 · Anexo I, 4.2 · https://fnet.bmfbovespa.com.br/fnet/publico/visualizarDocumento?id=1143317</a:t>
            </a:r>
          </a:p>
          <a:p>
            <a:r>
              <a:t>CNPJ 62696791000193 · Alocação mínima · Excerto da fonte:</a:t>
            </a:r>
          </a:p>
          <a:p>
            <a:r>
              <a:t>4.2 Decorridos 180 (cento e oitenta) dias do início de suas atividades, a Classe deverá possuir parcela mínima de 51% (cinquenta e um por cento) de seu Patrimônio Líquido representados por Direitos Creditórios do Agronegócio, enquanto a parcela de 49% (quarenta e nove por cento) remanescente deverá ser alocada em Outros Ativos ou Ativos Financeiros de Liquidez. 4.3 Os Direitos Creditórios do Agronegócio serão adquiridos integral ou parcialmente, sempre de acordo com a Política de Investimentos. 4.4 Tendo em vista (i) a natureza variada dos Direitos Creditórios do Agronegócio passíveis de aquisição pela Classe; (ii) a amplitude da Política de Investimentos; e (iii) a potencial diversificação de Cedentes/Endossantes e Devedores, não é possível precisar os processos de origem dos Direitos Creditórios do Agronegócio e as políticas de concessão de crédito adotadas pelos Cedentes/Endossantes. 4.5 Os Direitos Creditórios do Agronegócio deverão contar com toda a documentação necessária para o exercício das prerrogativas decorrentes da titularidade dos ativos, e capaz de comprovar a origem, a existência e a exigibilidade dos Direitos Creditórios do Agronegócio (“Documentos Comprobatórios”)</a:t>
            </a:r>
          </a:p>
          <a:p>
            <a:r>
              <a:t>CNPJ 62696791000193 · Alocação mínima · AGE · ID 1143319 · 20/03/2026 10:00 · versão AGE — referência 20/03/2026 10:00 · p. 3 · AGC 20/03/2026, 4.1(j)–(k) · https://fnet.bmfbovespa.com.br/fnet/publico/visualizarDocumento?id=1143319</a:t>
            </a:r>
          </a:p>
          <a:p>
            <a:r>
              <a:t>CNPJ 62696791000193 · Alocação mínima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Alocação mínima · Condição: Vigente a partir do fechamento de 23/03/2026. O agregado genérico de direitos do IME não comprova, sozinho, a natureza agronegócio de todos os ativos nem a conclusão da carência inicial.</a:t>
            </a:r>
          </a:p>
          <a:p>
            <a:r>
              <a:t>CNPJ 62696791000193 · Alocação mínima · Mecânica: {"operator": "&gt;=", "limit": 51.0, "unit": "percent", "numerator": "agribusiness_credit_rights", "denominator": "net_asset_value", "frequency": "daily", "layer": "62696791000193", "effective_from": "2026-03-23", "effective_status": "explicit_assembly_effective_date", "initial_days": 180, "initial_date": null}</a:t>
            </a:r>
          </a:p>
          <a:p>
            <a:r>
              <a:t>CNPJ 62696791000193 · Alocação mínima · Versão e prevalência: Leitura específica das cláusulas indicadas; condições e conflitos preservados. Seleção documental atual não comprova vigência jurídica por data isolada.</a:t>
            </a:r>
          </a:p>
          <a:p>
            <a:r>
              <a:t>CNPJ 55563624000109 · Alocação mínima · Base da comparação IME: {"criterion_id": "allocation", "observed_value": 99.87020304792446, "unit": "percent", "competence": "08/2026", "status": "not_comparable", "reason": "Vigência efetiva não comprovada; data do documento isolada não certifica enquadramento histórico.", "formula": "fidc_quotas / net_asset_value × 100",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67.0}</a:t>
            </a:r>
          </a:p>
          <a:p>
            <a:r>
              <a:t>CNPJ 55563624000109 · Alocação mínima · Regulamento · ID 1192614 · 30/04/2026 · versão Regulamento30/04/2026 · p. 13 · AnexoI4.10 · https://fnet.bmfbovespa.com.br/fnet/publico/visualizarDocumento?id=1192614</a:t>
            </a:r>
          </a:p>
          <a:p>
            <a:r>
              <a:t>CNPJ 55563624000109 · Alocação mínima · Excerto da fonte:</a:t>
            </a:r>
          </a:p>
          <a:p>
            <a:r>
              <a:t>4.10 Decorridos 180 (cento e oitenta) dias da Data da 1ª Integralização da Classe, a Classe deverá manter alocado, no mínimo, 67% (sessenta e sete por cento) do seu Patrimônio Líquido em Cotas da Classe Investida. 4.11 Nos termos dos artigos 45, parágrafo 7º, e 47 parágrafo único do Anexo Normativo II à Resolução CVM 175, uma vez que as Cotas são destinadas exclusivamente a Investidores Profissionais, a Classe poderá ter até 100% (cem por cento) de seu Patrimônio Líquido alocado em Cotas da Classe Investida, as quais são emitidas pela Classe Investida.</a:t>
            </a:r>
          </a:p>
          <a:p>
            <a:r>
              <a:t>CNPJ 55563624000109 · Alocação mínima · Regulamento · ID 1192614 · 30/04/2026 · versão Regulamento30/04/2026 · p. 12 · AnexoI4.9 · https://fnet.bmfbovespa.com.br/fnet/publico/visualizarDocumento?id=1192614</a:t>
            </a:r>
          </a:p>
          <a:p>
            <a:r>
              <a:t>CNPJ 55563624000109 · Alocação mínima · Excerto da fonte:</a:t>
            </a:r>
          </a:p>
          <a:p>
            <a:r>
              <a:t>4.9 A parcela do Patrimônio Líquido que não estiver alocada em Cotas da Classe Investida será necessariamente alocada em Ativos Financeiros de Liquidez. BTG Pactual SAC: 0800 772 28 27 - Ouvidoria: 0800 722 00 48 - btgpactual.com 5</a:t>
            </a:r>
          </a:p>
          <a:p>
            <a:r>
              <a:t>CNPJ 55563624000109 · Alocação mínima · Mecânica: {"operator": "&gt;=", "limit": 67.0, "unit": "percent", "numerator": "fidc_quotas", "denominator": "net_asset_value", "frequency": "not_stated", "layer": "class", "effective_status": "document_date_only", "document_date": "2026-04-30", "requires_initial_date": true}</a:t>
            </a:r>
          </a:p>
          <a:p>
            <a:r>
              <a:t>CNPJ 55563624000109 · Alocação mínima · Versão e prevalência: Leitura específica das cláusulas indicadas; condições e conflitos preservados. Seleção documental atual não comprova vigência jurídica por data isolada.</a:t>
            </a:r>
          </a:p>
          <a:p>
            <a:r>
              <a:t>CNPJ 55563624000109 · Alocação mínima · Resumo do histórico: {"count": 1, "dates": ["2026-04-30"], "document_count": 1, "sources": [{"document_id": "1192614", "title": "Regulamento", "reference_date": "2026-04-30", "version": "1", "page": "11-13", "url": "https://fnet.bmfbovespa.com.br/fnet/publico/visualizarDocumento?id=1192614", "sha256": "f56e63ace0acde41d2f47fb48f1ac7f3f7df5e2d32de092d7c5e075a52516632"}], "reference": {"path": "history/55563624000109.json", "criterion_id": "allocation", "total_count": 1, "preview_count": 1, "full_text_deferred": true, "sha256": "7835d573fb58a3c19adf5b8ecc2aee2bdbb9a88f7a0c0209b5f262b64c7522e3"}}</a:t>
            </a:r>
          </a:p>
          <a:p>
            <a:r>
              <a:t>CNPJ 62552447000120 · Alocação mínima · Base da comparação IME: {"criterion_id": "allocation", "observed_value": 104.36099466414683, "unit": "percent", "competence": "08/2026", "status": "not_comparable", "reason": "Vigência efetiva não comprovada; data do documento isolada não certifica enquadramento histórico.", "formula": "credit_rights / net_asset_value × 100",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50.0}</a:t>
            </a:r>
          </a:p>
          <a:p>
            <a:r>
              <a:t>CNPJ 62552447000120 · Alocação mínima · Regulamento · ID 1200623 · 21/05/2026 · versão Consolidado21/05/2026 aprovado pelo ato1200625 · p. 14 · AnexoI4.9 · https://fnet.bmfbovespa.com.br/fnet/publico/visualizarDocumento?id=1200623</a:t>
            </a:r>
          </a:p>
          <a:p>
            <a:r>
              <a:t>CNPJ 62552447000120 · Alocação mínima · Excerto da fonte:</a:t>
            </a:r>
          </a:p>
          <a:p>
            <a:r>
              <a:t>4.9 Decorridos 180 (cento e oitenta) dias da Data da Primeira Integralização, a Classe deverá manter alocados em Direitos Creditórios, no mínimo, para fins tributários, 67% (sessenta e sete por cento) do seu Patrimônio Líquido, nos termos da Lei 14.754 e da Resolução CMN 5.111, e, para fins regulatórios, 50% (cinquenta por cento) do seu Patrimônio Líquido, nos termos da Resolução CVM 175. Eventual desenquadramento da Carteira obrigará o Gestor aos procedimentos de desenquadramento e reenquadramento previstos na Lei 14.754 e na Resolução CMN 5.111, para f ins tributários, e na Resolução CVM 175, par</a:t>
            </a:r>
          </a:p>
          <a:p>
            <a:r>
              <a:t>CNPJ 62552447000120 · Alocação mínima · Mecânica: {"operator": "&gt;=", "unit": "percent", "numerator": "credit_rights", "denominator": "net_asset_value", "frequency": "not_stated", "layer": "class", "effective_status": "document_date_only", "document_date": "2026-05-21", "requires_initial_date": true, "limit": 50.0}</a:t>
            </a:r>
          </a:p>
          <a:p>
            <a:r>
              <a:t>CNPJ 62552447000120 · Alocação mínima · Versão e prevalência: Leitura específica das cláusulas indicadas; condições e conflitos preservados. Seleção documental atual não comprova vigência jurídica por data isolada.</a:t>
            </a:r>
          </a:p>
          <a:p>
            <a:r>
              <a:t>CNPJ 63953620000165 · Alocação mínima · Base da comparação IME: {"criterion_id": "allocation", "observed_value": 93.29241106598856, "unit": "percent", "competence": "08/2026", "status": "not_comparable", "reason": "Vigência efetiva não comprovada; data do documento isolada não certifica enquadramento histórico.", "formula": "credit_rights / net_asset_value × 100",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50.0}</a:t>
            </a:r>
          </a:p>
          <a:p>
            <a:r>
              <a:t>CNPJ 63953620000165 · Alocação mínima · Anexo ao Regulamento · ID 1222863 · 02/06/2026 · versão AnexoConsignadoPrivado02/06/2026 · p. 6 · 4.13 · https://fnet.bmfbovespa.com.br/fnet/publico/visualizarDocumento?id=1222863</a:t>
            </a:r>
          </a:p>
          <a:p>
            <a:r>
              <a:t>CNPJ 63953620000165 · Alocação mínima · Excerto da fonte:</a:t>
            </a:r>
          </a:p>
          <a:p>
            <a:r>
              <a:t>4.13 Decorridos 180 (cento e oitenta) dias do início de suas atividades, a Classe deverá manter alocado, no mínimo, para fins tributários, 67% (sessenta e sete por cento) do seu Patrimônio Líquido em Direitos Creditórios, nos termos da Resolução CMN 5.111, e para fins regulatórios, 50% (cinquenta por cento) do seu Patrimônio Líquido em Direitos Creditórios, nos termos da Resolução CVM 175. 4.14 Nos termos do Art. 45, §7º, inciso II, do Anexo Normativo II da Resolução CVM 175, a Classe poderá ter até 100% (cem por cento) de seu Patrimônio Líquido alocado em Direitos Creditórios, derivativos, observado o disposto nest</a:t>
            </a:r>
          </a:p>
          <a:p>
            <a:r>
              <a:t>CNPJ 63953620000165 · Alocação mínima · Mecânica: {"operator": "&gt;=", "unit": "percent", "denominator": "net_asset_value", "frequency": "not_stated", "layer": "class", "effective_status": "document_date_only", "document_date": "2026-06-02", "limit": 50.0, "numerator": "credit_rights", "requires_initial_date": true}</a:t>
            </a:r>
          </a:p>
          <a:p>
            <a:r>
              <a:t>CNPJ 63953620000165 · Alocação mínima · Versão e prevalência: Leitura específica das cláusulas indicadas; condições e conflitos preservados. Seleção documental atual não comprova vigência jurídica por data isolada.</a:t>
            </a:r>
          </a:p>
          <a:p>
            <a:r>
              <a:t>CNPJ 54871427000194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null, "comparison_required": true, "context_formula": "Direitos creditórios / PL", "context_value": 91.84981349574433, "context_unit": "percent"}</a:t>
            </a:r>
          </a:p>
          <a:p>
            <a:r>
              <a:t>CNPJ 54871427000194 · Alocação para tratamento tributário · Regulamento · ID 670691 · 2024-04-28 · versão 1 · p. 5 · https://fnet.bmfbovespa.com.br/fnet/publico/visualizarDocumento?id=670691</a:t>
            </a:r>
          </a:p>
          <a:p>
            <a:r>
              <a:t>CNPJ 54871427000194 · Alocação para tratamento tributário · Excerto da fonte:</a:t>
            </a:r>
          </a:p>
          <a:p>
            <a:r>
              <a:t>Os rendimentos auf eridos pelo cotista do FUNDO estarão sujeitos à tributação pelo IR, à alíquota de  15% (quinze por cento), na data da distribuição de rendimentos ou d a amortização de cotas,  considerando que o FUNDO seja classificado como entidade de investimento e cumpra os critérios de  composição da carteira com, no mínimo, 67% (sessenta e sete por cento) de direitos creditórios de  acordo com a Lei nº 14.754, de 12 de dezembro de 2023 (“Lei 14.754”) e a Resolução do Conselho  Monetário Nacional nº 5.111, de 21 de dezembro de 2023 (“Resolução CMN 5.111”).</a:t>
            </a:r>
          </a:p>
          <a:p>
            <a:r>
              <a:t>CNPJ 54871427000194 · Alocação para tratamento tributário · Regulamento · ID 670691 · 2024-04-28 · versão 1 · p. 5 · https://fnet.bmfbovespa.com.br/fnet/publico/visualizarDocumento?id=670691</a:t>
            </a:r>
          </a:p>
          <a:p>
            <a:r>
              <a:t>CNPJ 54871427000194 · Alocação para tratamento tributário · Excerto da fonte:</a:t>
            </a:r>
          </a:p>
          <a:p>
            <a:r>
              <a:t>A GESTORA do FUNDO buscará manter o cumprimento do requisito de composição da carteira do  FUNDO com, no mínimo 67% (sessenta e sete por cento) em direitos creditórios acima comentados.</a:t>
            </a:r>
          </a:p>
          <a:p>
            <a:r>
              <a:t> Todavia, caso a composição mínima do patrimônio líquido do FUNDO não seja atingida e ocorra o  ef etivo desenquadramento tributário da carteira, os cotistas pessoa f ísica ou jurídica residentes no  Brasil passarão a se sujeitar à regra geral de tributação de fundos, conforme previsto no art. 17 da Lei</a:t>
            </a:r>
          </a:p>
          <a:p>
            <a:r>
              <a:t> 14.754, segundo a qual: (1) haverá incidência periódica de IR todo mês de maio e novembro de cada  ano-calendário sobre os rendimentos auferidos pelo cotista em relação ao investimento nas cotas do  FUNDO, à alíquota de 15% (quinze por cento) ou 20% (vinte por cento), a depender da carteira do  FUNDO ser classificada, respectivamente, como de curto ou longo prazo; e (2) haverá incidência de IR  complementar, conforme alíquotas regressivas que variam de 22,5% (vinte e dois e meio por cento) a  15% (quinze por cento) a depender do prazo de aplicação, por ocasião da amortização ou liquidação  das Cotas do FUNDO. Certos tipos de investidor podem se benef iciar de alíquotas dif erenciadas.</a:t>
            </a:r>
          </a:p>
          <a:p>
            <a:r>
              <a:t>CNPJ 54871427000194 · Alocação para tratamento tributário · Condição: Documentos atuais selecionados no inventário por categoria/escopo; a data documental isolada não comprova vigência jurídica.</a:t>
            </a:r>
          </a:p>
          <a:p>
            <a:r>
              <a:t>CNPJ 54871427000194 · Alocação para tratamento tributário · Versão e prevalência: Documentos atuais selecionados no inventário por categoria/escopo; a data documental isolada não comprova vigência jurídica.</a:t>
            </a:r>
          </a:p>
          <a:p>
            <a:r>
              <a:t>CNPJ 54871427000194 · Alocação para tratamento tributário · Resumo do histórico: {"count": 1, "dates": ["2024-04-19"], "document_count": 1, "sources": [{"document_id": "670689", "title": "Regulamento", "reference_date": "2024-04-19", "version": "1", "page": 5, "url": "https://fnet.bmfbovespa.com.br/fnet/publico/visualizarDocumento?id=670689", "sha256": "891bc9bc5d87bbc02ec139077a84d2702eb81ea02035fb71d24f5b8366b94a0b"}], "reference": {"path": "history/54871427000194.json", "criterion_id": "tax_allocation", "total_count": 1, "preview_count": 1, "full_text_deferred": true, "sha256": "35d7cd99be50c7287c9fb675cf4f2e736002315295a225a9efa79c8d9186d874"}}</a:t>
            </a:r>
          </a:p>
          <a:p>
            <a:r>
              <a:t>CNPJ 60010416000112 · Alocação para tratamento tributário · Base da comparação IME: {"criterion_id": "tax_allocation", "observed_value": 117.78665480900618, "unit": "percent", "competence": "08/2026", "status": "not_comparable", "reason": "Vigência efetiva não comprovada; data do documento isolada não certifica enquadramento histórico.", "formula": "credit_rights / net_asset_value × 100",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67.0}</a:t>
            </a:r>
          </a:p>
          <a:p>
            <a:r>
              <a:t>CNPJ 60010416000112 · Alocação para tratamento tributário · Regulamento · ID 1051393 · 09/10/2025 · versão Regulamento09/10/2025 · p. 11 · AnexoI4.6 · https://fnet.bmfbovespa.com.br/fnet/publico/visualizarDocumento?id=1051393</a:t>
            </a:r>
          </a:p>
          <a:p>
            <a:r>
              <a:t>CNPJ 60010416000112 · Alocação para tratamento tributário · Excerto da fonte:</a:t>
            </a:r>
          </a:p>
          <a:p>
            <a:r>
              <a:t>4.6 Decorridos 180 (cento e oitenta) dias do início de suas atividades, a Classe deverá manter alocado, no mínimo: para f ins tributários, 67% (sessenta e sete por cento) do seu Patrimônio Líquido em Direitos Creditórios, nos termos da Resolução CMN 5.111; e para fins regulatórios, 50% (cinquenta por cento) do seu Patrimônio Líquido em Direitos Creditórios, nos termos da Resolução CVM 175. BTG Pactual SAC: 0800 772 28 27 - Ouvidoria: 0800 722 00 48 - btgpactual.com 11</a:t>
            </a:r>
          </a:p>
          <a:p>
            <a:r>
              <a:t>CNPJ 60010416000112 · Alocação para tratamento tributário · Mecânica: {"operator": "&gt;=", "unit": "percent", "denominator": "net_asset_value", "frequency": "not_stated", "layer": "class", "effective_status": "document_date_only", "document_date": "2025-10-09", "numerator": "credit_rights", "limit": 67.0, "requires_initial_date": true}</a:t>
            </a:r>
          </a:p>
          <a:p>
            <a:r>
              <a:t>CNPJ 60010416000112 · Alocação para tratamento tributário · Versão e prevalência: Leitura específica das cláusulas indicadas; condições e conflitos preservados. Seleção documental atual não comprova vigência jurídica por data isolada.</a:t>
            </a:r>
          </a:p>
          <a:p>
            <a:r>
              <a:t>CNPJ 60010416000112 · Alocação para tratamento tributário · Resumo do histórico: {"count": 1, "dates": ["2025-03-20"], "document_count": 1, "sources": [{"document_id": "993786", "title": "Regulamento", "reference_date": "2025-03-20", "version": "1", "page": 6, "clause": "5.3", "url": "https://fnet.bmfbovespa.com.br/fnet/publico/visualizarDocumento?id=993786", "sha256": "fd0fdd369a195510d81f81f505195a0b09e5f43522a990afa7d58c4f872921c8"}], "reference": {"path": "history/60010416000112.json", "criterion_id": "tax_allocation", "total_count": 1, "preview_count": 1, "full_text_deferred": true, "sha256": "8e2bd813f4c51cf01f6bfaad164bafe69d2bbb192f753eac92da3a01c2e63046"}}</a:t>
            </a:r>
          </a:p>
          <a:p>
            <a:r>
              <a:t>CNPJ 62696791000193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null, "comparison_required": true, "context_formula": "Direitos creditórios / PL", "context_value": null, "context_unit": "percent"}</a:t>
            </a:r>
          </a:p>
          <a:p>
            <a:r>
              <a:t>CNPJ 62696791000193 · Alocação para tratamento tributário · Regulamento · ID 1143317 · 2026-03-20 · versão 1 · p. 30 · https://fnet.bmfbovespa.com.br/fnet/publico/visualizarDocumento?id=1143317</a:t>
            </a:r>
          </a:p>
          <a:p>
            <a:r>
              <a:t>CNPJ 62696791000193 · Alocação para tratamento tributário · Excerto da fonte:</a:t>
            </a:r>
          </a:p>
          <a:p>
            <a:r>
              <a:t>Os rendimentos distribuídos pela Classe, de modo geral, sujeitam-se à incidência do IRF à alíquota  de 20% (vinte por cento), inclusive quando distribuídos à Cotista que seja pessoa jurídica isenta.</a:t>
            </a:r>
          </a:p>
          <a:p>
            <a:r>
              <a:t> Os ganhos de capital ou rendimentos auf eridos na alienação ou no resgate de cotas da Classe  sujeitam-se à tributação pelo IRF à alíquota de 20% (vinte por cento), no caso de resgate de cotas,  ou conforme normas aplicáveis aos ganhos de capital ou ganhos líquidos auf eridos em renda  variável, nos casos de alienação de cotas.</a:t>
            </a:r>
          </a:p>
          <a:p>
            <a:r>
              <a:t> O IRF pago será considerado: (i) antecipação da tributação corporativa para os investidores pessoa  jurídica (nos regimes de lucro real, presumido ou arbitrado); e (ii) def initivo, nos demais casos,  incluindo de investidores pessoas f ísicas.</a:t>
            </a:r>
          </a:p>
          <a:p>
            <a:r>
              <a:t> Não obstante o disposto no item acima, em conf ormidade com o disposto na Lei 11.033, com a  redação dada pela Lei nº 14.754, o cotista pessoa f ísica f icará isento do IRF e na declaração de  ajuste anual, sobre as distribuições de lucro realizadas pela Classe, exclusivamente na hipótese de  a Classe, cumulativamente: (a) possuir, no mínimo, 100 (cem) cotistas; e (b) as cotas serem  admitidas à negociação exclusivamente em bolsas de valores ou no mercado de balcão organizado.</a:t>
            </a:r>
          </a:p>
          <a:p>
            <a:r>
              <a:t> O benef ício não será concedido ao Cotista que for pessoa física, titular de cotas que representem  10% (dez por cento) ou mais da totalidade das cotas emitidas pela Classe ou cujas cotas lhe derem  direito ao recebimento de rendimento superior a 10% (dez por cento) do total de rendimentos  auf eridos pela Classe.</a:t>
            </a:r>
          </a:p>
          <a:p>
            <a:r>
              <a:t> O benef ício também não será concedido aos Cotistas pessoas físicas que, individualmente ou em  conjunto com parentes até segundo grau, sejam titulares de cotas que representem 30% (trinta por  cento) ou mais da totalidade das cotas emitidas pela Classe, ou ainda cujas cotas lhes derem direito  ao recebimento de rendimento superior a 30% (trinta por cento) do total de rendimentos auf eridos  pela Classe.</a:t>
            </a:r>
          </a:p>
          <a:p>
            <a:r>
              <a:t> Não há garantia de que o benef ício f iscal atualmente vigente não venha a ser posteriormente  restringido, suspenso, revogado ou extinto por legislação superveniente, ocasião na qual poderá vir  a incidir a tributação sobre os rendimentos distribuídos pela Classe, de acordo com os termos da  legislação que vier a estabelecer a incidência tributária.</a:t>
            </a:r>
          </a:p>
          <a:p>
            <a:r>
              <a:t>CNPJ 62696791000193 · Alocação para tratamento tributário · Condição: Documentos atuais selecionados no inventário por categoria/escopo; a data documental isolada não comprova vigência jurídica.</a:t>
            </a:r>
          </a:p>
          <a:p>
            <a:r>
              <a:t>CNPJ 62696791000193 · Alocação para tratamento tributário · Versão e prevalência: Documentos atuais selecionados no inventário por categoria/escopo; a data documental isolada não comprova vigência jurídica.</a:t>
            </a:r>
          </a:p>
          <a:p>
            <a:r>
              <a:t>CNPJ 55563624000109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null, "comparison_required": true, "context_formula": "Direitos creditórios / PL", "context_value": 0.0, "context_unit": "percent"}</a:t>
            </a:r>
          </a:p>
          <a:p>
            <a:r>
              <a:t>CNPJ 55563624000109 · Alocação para tratamento tributário · Regulamento · ID 1192614 · 2026-04-30 · versão 1 · p. 38 · https://fnet.bmfbovespa.com.br/fnet/publico/visualizarDocumento?id=1192614</a:t>
            </a:r>
          </a:p>
          <a:p>
            <a:r>
              <a:t>CNPJ 55563624000109 · Alocação para tratamento tributário · Excerto da fonte:</a:t>
            </a:r>
          </a:p>
          <a:p>
            <a:r>
              <a:t>(xiii) Risco de descaracterização do regime tributário aplicável à Classe. Caso (a) a Classe deixe de  cumprir com o percentual de, pelo menos, 67% (sessenta e sete por cento) do Patrimônio Líquido  aplicado em direitos creditórios, nos termos dos artigos 18, 19 e 24 da Lei 14.754, para fins de  enquadramento do FUNDO e da Classe como “Entidade de Investimento” na forma da Resolução do  CMN nº 5.111, de 21 de dezembro de 2023, conforme alterada, ou qualquer outra norma que venha  a substitui-la, sujeitando o FUNDO e a Classe ao “Regime Específico dos Fundos Não Sujeitos à  Tributação Periódica” conforme a na Seção III da Lei 14.754 ou deixe de satisfazer qualquer uma das  condições previstas na Lei 14.754, neste Anexo e/ou no Regulamento; e/ou (b) o FUNDO ou Classe  deixe de ser enquadrado como “Entidade de Investimento” na forma da Resolução do CMN nº 5.111,  de 21 de dezembro de 2023, ou demais normas do CMN e da CVM, não é possível garantir que o  FUNDO e/ou Classe continuarão a receber o tratamento tributário destinado ao “Regime Específico  dos Fundos Não Sujeitos à Tributação Periódica”, conforme definido na legislação específica.</a:t>
            </a:r>
          </a:p>
          <a:p>
            <a:r>
              <a:t>CNPJ 55563624000109 · Alocação para tratamento tributário · Regulamento · ID 1192614 · 2026-04-30 · versão 1 · p. 6 · https://fnet.bmfbovespa.com.br/fnet/publico/visualizarDocumento?id=1192614</a:t>
            </a:r>
          </a:p>
          <a:p>
            <a:r>
              <a:t>CNPJ 55563624000109 · Alocação para tratamento tributário · Excerto da fonte:</a:t>
            </a:r>
          </a:p>
          <a:p>
            <a:r>
              <a:t>No caso de Fundos de Investimento em Direitos Creditórios (FIDC) classificados como “entidade de investimento” e  cuja carteira seja composta por, no mínimo, 67% (sessenta e sete por cento) de direitos creditórios conforme definições  prescritas em regulamentação expedida pelo Conselho Monetário Nacional, os rendimentos auferidos na amortização  ou no resgate das cotas, inclusive quando decorrentes da liquidação do FUNDO, ficam sujeitos à incidência do IRF à  alíquota de 15% (quinze por cento) sobre a diferença positiva entre o valor de amortização ou resgate e o custo de  aquisição das Cotas.</a:t>
            </a:r>
          </a:p>
          <a:p>
            <a:r>
              <a:t>CNPJ 55563624000109 · Alocação para tratamento tributário · Condição: Documentos atuais selecionados no inventário por categoria/escopo; a data documental isolada não comprova vigência jurídica.</a:t>
            </a:r>
          </a:p>
          <a:p>
            <a:r>
              <a:t>CNPJ 55563624000109 · Alocação para tratamento tributário · Versão e prevalência: Documentos atuais selecionados no inventário por categoria/escopo; a data documental isolada não comprova vigência jurídica.</a:t>
            </a:r>
          </a:p>
          <a:p>
            <a:r>
              <a:t>CNPJ 55563624000109 · Alocação para tratamento tributário · Resumo do histórico: {"count": 2, "dates": ["2025-01-31", "2026-01-31"], "document_count": 2, "sources": [{"document_id": "1178840", "title": "Demonstrações Financeiras", "reference_date": "2026-01-31", "version": "1", "page": 23, "url": "https://fnet.bmfbovespa.com.br/fnet/publico/visualizarDocumento?id=1178840", "sha256": "c458e98664c5c907ddb5a05a94b120bed4e05295b2bfc420f5ba69af0a229abe"}, {"document_id": "891861", "title": "Demonstrações Financeiras", "reference_date": "2025-01-31", "version": "1", "page": 24, "url": "https://fnet.bmfbovespa.com.br/fnet/publico/visualizarDocumento?id=891861", "sha256": "e9cb9e6ddbe505fe068cfcac33605165a98313489de0d3ce6d4d238263c3f3e7"}], "reference": {"path": "history/55563624000109.json", "criterion_id": "tax_allocation", "total_count": 2, "preview_count": 2, "full_text_deferred": true, "sha256": "7835d573fb58a3c19adf5b8ecc2aee2bdbb9a88f7a0c0209b5f262b64c7522e3"}}</a:t>
            </a:r>
          </a:p>
          <a:p>
            <a:r>
              <a:t>CNPJ 62552447000120 · Alocação para tratamento tributário · Base da comparação IME: {"criterion_id": "tax_allocation", "observed_value": 104.36099466414683, "unit": "percent", "competence": "08/2026", "status": "not_comparable", "reason": "Vigência efetiva não comprovada; data do documento isolada não certifica enquadramento histórico.", "formula": "credit_rights / net_asset_value × 100",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67.0}</a:t>
            </a:r>
          </a:p>
          <a:p>
            <a:r>
              <a:t>CNPJ 62552447000120 · Alocação para tratamento tributário · Regulamento · ID 1200623 · 21/05/2026 · versão Consolidado21/05/2026 aprovado pelo ato1200625 · p. 14 · AnexoI4.9 · https://fnet.bmfbovespa.com.br/fnet/publico/visualizarDocumento?id=1200623</a:t>
            </a:r>
          </a:p>
          <a:p>
            <a:r>
              <a:t>CNPJ 62552447000120 · Alocação para tratamento tributário · Excerto da fonte:</a:t>
            </a:r>
          </a:p>
          <a:p>
            <a:r>
              <a:t>4.9 Decorridos 180 (cento e oitenta) dias da Data da Primeira Integralização, a Classe deverá manter alocados em Direitos Creditórios, no mínimo, para fins tributários, 67% (sessenta e sete por cento) do seu Patrimônio Líquido, nos termos da Lei 14.754 e da Resolução CMN 5.111, e, para fins regulatórios, 50% (cinquenta por cento) do seu Patrimônio Líquido, nos termos da Resolução CVM 175. Eventual desenquadramento da Carteira obrigará o Gestor aos procedimentos de desenquadramento e reenquadramento previstos na Lei 14.754 e na Resolução CMN 5.111, para f ins tributários, e na Resolução CVM 175, par</a:t>
            </a:r>
          </a:p>
          <a:p>
            <a:r>
              <a:t>CNPJ 62552447000120 · Alocação para tratamento tributário · Mecânica: {"operator": "&gt;=", "unit": "percent", "numerator": "credit_rights", "denominator": "net_asset_value", "frequency": "not_stated", "layer": "class", "effective_status": "document_date_only", "document_date": "2026-05-21", "requires_initial_date": true, "limit": 67.0}</a:t>
            </a:r>
          </a:p>
          <a:p>
            <a:r>
              <a:t>CNPJ 62552447000120 · Alocação para tratamento tributário · Versão e prevalência: Leitura específica das cláusulas indicadas; condições e conflitos preservados. Seleção documental atual não comprova vigência jurídica por data isolada.</a:t>
            </a:r>
          </a:p>
          <a:p>
            <a:r>
              <a:t>CNPJ 63953620000165 · Alocação para tratamento tributário · Base da comparação IME: {"criterion_id": "tax_allocation", "observed_value": 93.29241106598856, "unit": "percent", "competence": "08/2026", "status": "not_comparable", "reason": "Vigência efetiva não comprovada; data do documento isolada não certifica enquadramento histórico.", "formula": "credit_rights / net_asset_value × 100",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67.0}</a:t>
            </a:r>
          </a:p>
          <a:p>
            <a:r>
              <a:t>CNPJ 63953620000165 · Alocação para tratamento tributário · Anexo ao Regulamento · ID 1222863 · 02/06/2026 · versão AnexoConsignadoPrivado02/06/2026 · p. 6 · 4.13 · https://fnet.bmfbovespa.com.br/fnet/publico/visualizarDocumento?id=1222863</a:t>
            </a:r>
          </a:p>
          <a:p>
            <a:r>
              <a:t>CNPJ 63953620000165 · Alocação para tratamento tributário · Excerto da fonte:</a:t>
            </a:r>
          </a:p>
          <a:p>
            <a:r>
              <a:t>4.13 Decorridos 180 (cento e oitenta) dias do início de suas atividades, a Classe deverá manter alocado, no mínimo, para fins tributários, 67% (sessenta e sete por cento) do seu Patrimônio Líquido em Direitos Creditórios, nos termos da Resolução CMN 5.111, e para fins regulatórios, 50% (cinquenta por cento) do seu Patrimônio Líquido em Direitos Creditórios, nos termos da Resolução CVM 175. 4.14 Nos termos do Art. 45, §7º, inciso II, do Anexo Normativo II da Resolução CVM 175, a Classe poderá ter até 100% (cem por cento) de seu Patrimônio Líquido alocado em Direitos Creditórios, derivativos, observado o disposto nest</a:t>
            </a:r>
          </a:p>
          <a:p>
            <a:r>
              <a:t>CNPJ 63953620000165 · Alocação para tratamento tributário · Mecânica: {"operator": "&gt;=", "unit": "percent", "denominator": "net_asset_value", "frequency": "not_stated", "layer": "class", "effective_status": "document_date_only", "document_date": "2026-06-02", "limit": 67.0, "numerator": "credit_rights", "requires_initial_date": true}</a:t>
            </a:r>
          </a:p>
          <a:p>
            <a:r>
              <a:t>CNPJ 63953620000165 · Alocação para tratamento tributário · Versão e prevalência: Leitura específica das cláusulas indicadas; condições e conflitos preservados. Seleção documental atual não comprova vigência jurídica por data isolada.</a:t>
            </a:r>
          </a:p>
          <a:p>
            <a:r>
              <a:t>CNPJ 54871427000194 · Classes investidas e limites do FIC · Demonstrações Financeiras - Fusão, cisão e incorporação · ID 1219522 · 2026-02-02 · versão 1 · p. 31 · https://fnet.bmfbovespa.com.br/fnet/publico/visualizarDocumento?id=1219522</a:t>
            </a:r>
          </a:p>
          <a:p>
            <a:r>
              <a:t>CNPJ 54871427000194 · Classes investidas e limites do FIC · Excerto da fonte:</a:t>
            </a:r>
          </a:p>
          <a:p>
            <a:r>
              <a:t>xv) Risco Regulatório e Judicial. Eventuais alterações ou novas normas ou leis aplicáveis à Classe,  seus ativos e a eventuais fundos investidos, incluindo, mas não se limitando àquelas referentes  a tributos, bem como decisões judiciais ou jurisprudência aplicando as regulamentações  existentes ou interpretando novas regulamentações, podem causar um efeito adverso relevante  no preço dos ativos e/ou na performance das posições financeiras adquiridas pela Classe e/ou  pelos fundos Investidos. Ainda, nesse sentido, poderão ocorrer interferências de autoridades  governamentais e órgãos reguladores na regulação dos mercados, bem como alterações das  políticas monetária e cambial. Tais eventos poderão impactar de maneira adversa o valor das  Cotas.</a:t>
            </a:r>
          </a:p>
          <a:p>
            <a:r>
              <a:t>CNPJ 54871427000194 · Classes investidas e limites do FIC · Condição: Documentos atuais selecionados no inventário por categoria/escopo; a data documental isolada não comprova vigência jurídica.</a:t>
            </a:r>
          </a:p>
          <a:p>
            <a:r>
              <a:t>CNPJ 54871427000194 · Classes investidas e limites do FIC · Versão e prevalência: Documentos atuais selecionados no inventário por categoria/escopo; a data documental isolada não comprova vigência jurídica.</a:t>
            </a:r>
          </a:p>
          <a:p>
            <a:r>
              <a:t>CNPJ 54871427000194 · Classes investidas e limites do FIC · Resumo do histórico: {"count": 5, "dates": ["2024-12-31", "2025-01-01", "2025-12-31"], "document_count": 3, "sources": [{"document_id": "1151805", "title": "Demonstrações Financeiras", "reference_date": "2025-12-31", "version": "1", "page": 31, "url": "https://fnet.bmfbovespa.com.br/fnet/publico/visualizarDocumento?id=1151805", "sha256": "f1cea70b152968bf96ef9221b27225953cb20aeef487b2798db3c25e11b528d4"}, {"document_id": "869529", "title": "Demonstrações Financeiras", "reference_date": "2025-01-01", "version": "1", "page": 32, "url": "https://fnet.bmfbovespa.com.br/fnet/publico/visualizarDocumento?id=869529", "sha256": "9a93a9369ac8efdbc54ff8fcee3ccac3abf88edab4807b9323d3852450771b2a"}, {"document_id": "870070", "title": "Demonstrações Financeiras", "reference_date": "2024-12-31", "version": "1", "page": 32, "url": "https://fnet.bmfbovespa.com.br/fnet/publico/visualizarDocumento?id=870070", "sha256": "9a93a9369ac8efdbc54ff8fcee3ccac3abf88edab4807b9323d3852450771b2a"}], "reference": {"path": "history/54871427000194.json", "criterion_id": "investee", "total_count": 5, "preview_count": 3, "full_text_deferred": true, "sha256": "35d7cd99be50c7287c9fb675cf4f2e736002315295a225a9efa79c8d9186d874"}}</a:t>
            </a:r>
          </a:p>
          <a:p>
            <a:r>
              <a:t>CNPJ 60010416000112 · Classes investidas e limites do FIC · Motivo: Não localizada uma cláusula material para este critério nos textos identificados e processados. A ausência de resultado não comprova inexistência da regra.</a:t>
            </a:r>
          </a:p>
          <a:p>
            <a:r>
              <a:t>CNPJ 62696791000193 · Classes investidas e limites do FIC · Regulamento · ID 1143317 · 20/03/2026 · versão Regulamento — referência 20/03/2026 · p. 7 · Anexo I, 1.1, Objetivo, categoria Geral · https://fnet.bmfbovespa.com.br/fnet/publico/visualizarDocumento?id=1143317</a:t>
            </a:r>
          </a:p>
          <a:p>
            <a:r>
              <a:t>CNPJ 62696791000193 · Classes investidas e limites do FIC · Excerto da fonte:</a:t>
            </a:r>
          </a:p>
          <a:p>
            <a:r>
              <a:t>(D) Categoria “Geral” (“Ativos em Geral do Agronegócio”): (i) cotas de classes que apliquem mais de 50% (cinquenta por cento) de seu patrimônio líquido nos ativos referidos nos incisos “A” a “D” acima, o que inclui cotas de outros FIAGRO, mas não se limita a essa categoria de f undos. Os Ativos Imobiliários do Agronegócio, Participações do Agronegócio, Ativos Financeiros do Agronegócio e Ativos em Geral do Agronegócio, quando ref eridos em conjunto, os “Outros Ativos”. Não há limites máximos de aplicação por emissor ou devedor, em função de um percentual do Patrimônio Líquido. O objetivo da Classe não representa, sob qualquer hipótese, garantia da Classe ou de seus Prestadores de Serviços Essenciais e/ou da Cogestora quanto à segurança, rentabilidade e liquidez dos títu</a:t>
            </a:r>
          </a:p>
          <a:p>
            <a:r>
              <a:t>CNPJ 62696791000193 · Classes investidas e limites do FIC · Regulamento · ID 1143317 · 20/03/2026 · versão Regulamento — referência 20/03/2026 · p. 11 · Anexo I, 4.8–4.9 · https://fnet.bmfbovespa.com.br/fnet/publico/visualizarDocumento?id=1143317</a:t>
            </a:r>
          </a:p>
          <a:p>
            <a:r>
              <a:t>CNPJ 62696791000193 · Classes investidas e limites do FIC · Excerto da fonte:</a:t>
            </a:r>
          </a:p>
          <a:p>
            <a:r>
              <a:t>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relacionadas ao Gestor. 4.8.1 As aplicações em Direitos Creditórios do Agronegócio decorrentes de receitas públicas originárias ou derivadas da União, dos Estados, do Distrito Federal e dos Municípios ou de suas autarquias e f undações, assim como em Direitos Creditórios do Agronegócio cedidos ou originados por empresas controladas pelo poder público, não estão submetidas ao limite de concentração por emissor previsto no caput. 4.9 Nos termos do Art. 45 do Anexo</a:t>
            </a:r>
          </a:p>
          <a:p>
            <a:r>
              <a:t>CNPJ 62696791000193 · Classes investidas e limites do FIC · Condição: O regulamento não identifica CNPJs de classes efetivamente investidas. Permissão de investimento não comprova posição.</a:t>
            </a:r>
          </a:p>
          <a:p>
            <a:r>
              <a:t>CNPJ 62696791000193 · Classes investidas e limites do FIC · Versão e prevalência: Leitura específica das cláusulas indicadas; condições e conflitos preservados. Seleção documental atual não comprova vigência jurídica por data isolada.</a:t>
            </a:r>
          </a:p>
          <a:p>
            <a:r>
              <a:t>CNPJ 55563624000109 · Classes investidas e limites do FIC · Regulamento · ID 1192614 · 30/04/2026 · versão Regulamento30/04/2026 · p. 11 · AnexoI4.1 · https://fnet.bmfbovespa.com.br/fnet/publico/visualizarDocumento?id=1192614</a:t>
            </a:r>
          </a:p>
          <a:p>
            <a:r>
              <a:t>CNPJ 55563624000109 · Classes investidas e limites do FIC · Excerto da fonte:</a:t>
            </a:r>
          </a:p>
          <a:p>
            <a:r>
              <a:t>4.1 Observados os demais termos deste Anexo, o objetivo da Classe é investir seus recursos em (i) cotas subordinadas mezanino de emissão da classe única do MERCADO CRÉDITO II BRASIL FUNDO DE INVESTIMENTO EM DIREITOS CREDITÓRIOS NÃO PADRONIZADOS, fundo de investimento em direitos creditórios inscrito no CNPJ sob o nº 41.970.012/0001-26 (“Cotas da Classe Investida” e “Classe Investida”, respectivamente), a qual, por sua vez, aplica seus recursos preponderantemente em direitos creditórios originados pela Mercado Pago, de acordo com os termos e condições est</a:t>
            </a:r>
          </a:p>
          <a:p>
            <a:r>
              <a:t>CNPJ 55563624000109 · Classes investidas e limites do FIC · Condição: Vínculo contratual identificado; quantidade de cotas efetivamente detida exige posição do FIC. Não somar PL do FIC e do investido.</a:t>
            </a:r>
          </a:p>
          <a:p>
            <a:r>
              <a:t>CNPJ 55563624000109 · Classes investidas e limites do FIC · Versão e prevalência: Leitura específica das cláusulas indicadas; condições e conflitos preservados. Seleção documental atual não comprova vigência jurídica por data isolada.</a:t>
            </a:r>
          </a:p>
          <a:p>
            <a:r>
              <a:t>CNPJ 55563624000109 · Classes investidas e limites do FIC · Resumo do histórico: {"count": 2, "dates": ["2025-01-31", "2026-01-31"], "document_count": 2, "sources": [{"document_id": "1178840", "title": "Demonstrações Financeiras", "reference_date": "2026-01-31", "version": "1", "page": 4, "url": "https://fnet.bmfbovespa.com.br/fnet/publico/visualizarDocumento?id=1178840", "sha256": "c458e98664c5c907ddb5a05a94b120bed4e05295b2bfc420f5ba69af0a229abe"}, {"document_id": "891861", "title": "Demonstrações Financeiras", "reference_date": "2025-01-31", "version": "1", "page": 18, "url": "https://fnet.bmfbovespa.com.br/fnet/publico/visualizarDocumento?id=891861", "sha256": "e9cb9e6ddbe505fe068cfcac33605165a98313489de0d3ce6d4d238263c3f3e7"}], "reference": {"path": "history/55563624000109.json", "criterion_id": "investee", "total_count": 2, "preview_count": 2, "full_text_deferred": true, "sha256": "7835d573fb58a3c19adf5b8ecc2aee2bdbb9a88f7a0c0209b5f262b64c7522e3"}}</a:t>
            </a:r>
          </a:p>
          <a:p>
            <a:r>
              <a:t>CNPJ 62552447000120 · Classes investidas e limites do FIC · Regulamento · ID 1200623 · 2026-05-21 · versão 1 · p. 6 · https://fnet.bmfbovespa.com.br/fnet/publico/visualizarDocumento?id=1200623</a:t>
            </a:r>
          </a:p>
          <a:p>
            <a:r>
              <a:t>CNPJ 62552447000120 · Classes investidas e limites do FIC · Excerto da fonte:</a:t>
            </a:r>
          </a:p>
          <a:p>
            <a:r>
              <a:t>integrantes do conglomerado econômico de instituições  f inanceiras classificadas como S1 pelo Banco Central do  Brasil (“BACEN” e “Instituições Financeiras S1”,  respectivamente), desde que não representem títulos de  emissão ou coobrigação de instituições financeiras, bem  como cotas de f undos de investimento que invistam  preponderantemente nestes direitos, títulos e/ou valores  mobiliários; e</a:t>
            </a:r>
          </a:p>
          <a:p>
            <a:r>
              <a:t> (d) “Direitos Creditórios Refinanciamento Livre”, na forma  de CCBs originadas no âmbito de um refinanciamento, de  acordo com a política de cobrança vigente, de Direitos  Creditórios Consignado Privado e de Direitos Creditórios  FGTS, que não contem com o lastro de Consignação ou  de cessão f iduciária do Saque-Aniversário,  respectivamente; e</a:t>
            </a:r>
          </a:p>
          <a:p>
            <a:r>
              <a:t> (ii) “Ativos Financeiros”, assim entendidos como, em conjunto:</a:t>
            </a:r>
          </a:p>
          <a:p>
            <a:r>
              <a:t> (a) moeda corrente nacional;</a:t>
            </a:r>
          </a:p>
          <a:p>
            <a:r>
              <a:t> (b) títulos públicos f ederais;</a:t>
            </a:r>
          </a:p>
          <a:p>
            <a:r>
              <a:t> (c) ativos f inanceiros de renda f ixa de emissão ou  coobrigação de Instituições Financeiras S1;</a:t>
            </a:r>
          </a:p>
          <a:p>
            <a:r>
              <a:t> (d) operações compromissadas, desde que lastreadas nos  títulos mencionados nas alíneas (b) e (c) acima; e</a:t>
            </a:r>
          </a:p>
          <a:p>
            <a:r>
              <a:t> (e) cotas do BTG Pactual Tesouro Selic Fundo de  Investimento Renda Fixa Ref erenciado DI, inscrito no  CNPJ sob o nº 09.215.250/0001-13;</a:t>
            </a:r>
          </a:p>
          <a:p>
            <a:r>
              <a:t> observados todos os limites de composição e diversificação da carteira da  Classe (“Carteira”), estabelecidos neste Regulamento e na  regulamentação aplicável.</a:t>
            </a:r>
          </a:p>
          <a:p>
            <a:r>
              <a:t> O objetivo da Classe não representa, sob qualquer hipótese, promessa,  garantia ou sugestão da Classe ou de seus Prestadores de Serviços  Essenciais quanto à segurança, rentabilidade e liquidez dos títulos  componentes de sua Carteira.</a:t>
            </a:r>
          </a:p>
          <a:p>
            <a:r>
              <a:t>CNPJ 62552447000120 · Classes investidas e limites do FIC · Condição: Documentos atuais selecionados no inventário por categoria/escopo; a data documental isolada não comprova vigência jurídica.</a:t>
            </a:r>
          </a:p>
          <a:p>
            <a:r>
              <a:t>CNPJ 62552447000120 · Classes investidas e limites do FIC · Versão e prevalência: Documentos atuais selecionados no inventário por categoria/escopo; a data documental isolada não comprova vigência jurídica.</a:t>
            </a:r>
          </a:p>
          <a:p>
            <a:r>
              <a:t>CNPJ 63953620000165 · Classes investidas e limites do FIC · Motivo: Não localizada uma cláusula material para este critério nos textos identificados e processados. A ausência de resultado não comprova inexistência da regra.</a:t>
            </a:r>
          </a:p>
          <a:p>
            <a:r>
              <a:t>CNPJ 54871427000194 · Classe, subclasse e responsabilidade · Regulamento · ID 670691 · 2024-04-28 · versão 1 · p. 29 · https://fnet.bmfbovespa.com.br/fnet/publico/visualizarDocumento?id=670691</a:t>
            </a:r>
          </a:p>
          <a:p>
            <a:r>
              <a:t>CNPJ 54871427000194 · Classe, subclasse e responsabilidade · Excerto da fonte:</a:t>
            </a:r>
          </a:p>
          <a:p>
            <a:r>
              <a:t>Anexo I ao Regulamento CLASSE ÚNICA DE RESPONSABILIDADE LIMITADA DO CONSIGNADO DELTA RECEIVABLES I FUNDO DE INVESTIMENTO EM DIREITOS CREDITÓRIOS  pelo Endossante e depositados em seu conta de sua titularidade para posterior repasse à  Classe. Neste caso, a Classe poderá sofrer perdas principalmente em relação ao atraso na  regularização da titularidade e pagamento dos Direitos Creditórios.</a:t>
            </a:r>
          </a:p>
          <a:p>
            <a:r>
              <a:t> (v) Risco de pré-pagamento dos Direitos Creditórios. A ocorrência de pré-  pagamentos em relação a um ou mais Direitos Creditórios poderá ocasionar perdas à Classe.</a:t>
            </a:r>
          </a:p>
          <a:p>
            <a:r>
              <a:t> A ocorrência de pré-pagamentos (pagamento em data anterior àquela originalmente pactuada)  de Direitos Creditórios reduz o horizonte original de rendimentos esperados pela Classe de  tais Direitos Creditórios, uma vez que o pré-pagamento poderá, se assim permitido pela  documentação do Direito Creditório ou, conf orme o caso, pela legislação aplicável, ser  realizado pelo valor de emissão do Direito Creditório atualizado até a data do pré-pagamento  pela taxa de juros pactuada entre os Endossantes e os Devedores de tais Direitos Creditórios,  de modo que os juros remuneratórios incidentes desde a data da realização do pré-pagamento  até a data de vencimento do respectivo Direito Creditório deixam de ser devidos à Classe.</a:t>
            </a:r>
          </a:p>
          <a:p>
            <a:r>
              <a:t> (vi) Riscos associados aos Devedores: os Direitos Creditórios a serem cedidos à  Classe serão descontados da remuneração do Devedor, através de desconto em f olha de  pagamento ou de benefício. Nesse sentido, na ocorrência de pré-pagamento, as parcelas  serão pagas antecipadamente e a Classe deverá utilizar tais montantes no pré-pagamento dos  Direitos Creditórios. Nesta hipótese, a Classe poderá não encontrar Direitos Creditórios  disponíveis para serem adquiridos pela Classe, o que poderá afetar a rentabilidade da Classe.</a:t>
            </a:r>
          </a:p>
          <a:p>
            <a:r>
              <a:t> (vii) Risco de Competição: o mercado de empréstimos experimentou grande  expansão no Brasil nos últimos anos. Nesse contexto, a Resolução CMN nº 4.292, alterada  pela Resolução nº 4.762, de 27 de novembro de 2019, dispõe que deve ser garantido às  pessoas naturais devedoras de operações de crédito (tais como as CCB) a possibilidade de  realizarem a portabilidade destas operações para outras instituições financeiras, inclusive nos  casos em que tenham sido objeto de cessão (tais como as realizadas à Classe). Nesse  cenário, é possível que os competidores do Endossante ofereçam condições e taxas mais  vantajosas para os empréstimos pessoais com consignação em f olha de pagamento ou de  benef ícios, o que pode causar a migração de clientes da Endossante para outras instituições  f inanceiras, gerando a liquidação antecipada de parte das CCB existentes e/ou redução no  número de Direitos Creditórios cedidos. Referida competição poderá af etar os resultados da  Classe, impactando negativamente os rendimentos dos Cotistas. Ainda, a portabilidade a um  Devedor pode acarretar no recebimento de valores inf eriores aos esperados pela Classe.</a:t>
            </a:r>
          </a:p>
          <a:p>
            <a:r>
              <a:t> (viii) Insuf iciência dos Critérios de Elegibilidade. Os Critérios de Elegibilidade têm a  f inalidade de selecionar os Direitos Creditórios passíveis de aquisição pela Classe. Não  obstante tais Critérios de Elegibilidade, a solvência dos Direitos Creditórios que compõem a  Carteira depende integralmente, mas não somente, da situação econômico-financeira dos  Devedores. Dessa f orma, a observância pelo GESTOR dos Critérios de Elegibilidade não  constitui garantia de adimplência dos Devedores.</a:t>
            </a:r>
          </a:p>
          <a:p>
            <a:r>
              <a:t> Os Endossantes não necessariamente garantem a solvência dos seus respectivos Devedores.</a:t>
            </a:r>
          </a:p>
          <a:p>
            <a:r>
              <a:t> O Endossante dos Direitos Creditórios não assumirá responsabilidade pelo seu pagamento ou  pela solvência dos respectivos Devedores. A Classe sofrerá o impacto do inadimplemento dos  Direitos Creditórios vencidos e não pagos pelos respectivos Devedores.</a:t>
            </a:r>
          </a:p>
          <a:p>
            <a:r>
              <a:t> (ix) Possibilidade de aquisição de Direitos Creditórios cedidos por Endossante  e/ou devidos por Devedores cujas demonstrações financeiras não sejam auditadas. A Classe,  desde que sejam respeitados os limites de concentração previstos neste Regulamento, poderá  manter a qualquer tempo em sua Carteira, Direitos Creditórios cedidos por Endossante e/ou  devidos por Devedores cujas demonstrações f inanceiras não sejam auditadas por Auditor  Independente registrado na CVM. Nesse sentido, não haverá verificação independente sobre  tais demonstrações f inanceiras que af irme se estas representam adequadamente, em todos  os aspectos relevantes, as respectivas posições patrimoniais e f inanceiras, os resultados de  suas operações, as mutações de seus respectivos patrimônios líquidos tampouco as origens  e aplicações de seus recursos.</a:t>
            </a:r>
          </a:p>
          <a:p>
            <a:r>
              <a:t>CNPJ 54871427000194 · Classe, subclasse e responsabilidade · Regulamento · ID 670691 · 2024-04-28 · versão 1 · p. 15 · 7.2 · https://fnet.bmfbovespa.com.br/fnet/publico/visualizarDocumento?id=670691</a:t>
            </a:r>
          </a:p>
          <a:p>
            <a:r>
              <a:t>CNPJ 54871427000194 · Classe, subclasse e responsabilidade · Excerto da fonte:</a:t>
            </a:r>
          </a:p>
          <a:p>
            <a:r>
              <a:t>7.2 As amortizações de Cotas serão realizadas a qualquer tempo, a critério do GESTOR, observada a  disponibilidade de recursos da Classe Única e a ordem de alocação de recursos prevista neste Anexo  Descritivo.</a:t>
            </a:r>
          </a:p>
          <a:p>
            <a:r>
              <a:t>CNPJ 54871427000194 · Classe, subclasse e responsabilidade · Instrumento Particular de Alteração do Regulamento · ID 670690 · 2024-05-28 · versão 1 · p. 1 · https://fnet.bmfbovespa.com.br/fnet/publico/visualizarDocumento?id=670690</a:t>
            </a:r>
          </a:p>
          <a:p>
            <a:r>
              <a:t>CNPJ 54871427000194 · Classe, subclasse e responsabilidade · Excerto da fonte:</a:t>
            </a:r>
          </a:p>
          <a:p>
            <a:r>
              <a:t>ATA DA ASSEMBLEIA ESPECIAL DE COTISTAS  CLASSE ÚNICA DE RESPONSABILIDADE LIMITADA DO CONSIGNADO DELTA RECEIVABLES I  FUNDO DE INVESTIMENTO EM DIREITOS CREDITÓRIOS  CNPJ nº 54.871.427/0001-94  (“Classe Única” e “Fundo”, respectivamente)</a:t>
            </a:r>
          </a:p>
          <a:p>
            <a:r>
              <a:t>CNPJ 54871427000194 · Classe, subclasse e responsabilidade · Condição: Documentos atuais selecionados no inventário por categoria/escopo; a data documental isolada não comprova vigência jurídica.</a:t>
            </a:r>
          </a:p>
          <a:p>
            <a:r>
              <a:t>CNPJ 54871427000194 · Classe, subclasse e responsabilidade · Versão e prevalência: Documentos atuais selecionados no inventário por categoria/escopo; a data documental isolada não comprova vigência jurídica.</a:t>
            </a:r>
          </a:p>
          <a:p>
            <a:r>
              <a:t>CNPJ 54871427000194 · Classe, subclasse e responsabilidade · Resumo do histórico: {"count": 4, "dates": ["2024-04-19", "2024-04-28", "2024-05-24"], "document_count": 3, "sources": [{"document_id": "668387", "title": "Instrumento Particular de Emissão de Cotas", "reference_date": "2024-05-24", "version": "1", "page": 1, "url": "https://fnet.bmfbovespa.com.br/fnet/publico/visualizarDocumento?id=668387", "sha256": "be2913bed5f468a7399afcd27f92bac2083451584ee580b5054e9f525e68cc4a"}, {"document_id": "670691", "title": "Regulamento", "reference_date": "2024-04-28", "version": "1", "page": 29, "url": "https://fnet.bmfbovespa.com.br/fnet/publico/visualizarDocumento?id=670691", "sha256": "bf16dd7f1a62d5cdbf2e2d54fef81783783f7310fbc99c3a8f00459bdf9d037b"}, {"document_id": "670687", "title": "Instrumento Particular de Constituição/Encerramento do Fundo", "reference_date": "2024-04-19", "version": "1", "page": 1, "url": "https://fnet.bmfbovespa.com.br/fnet/publico/visualizarDocumento?id=670687", "sha256": "999f2a47d39f7022b0fcee3d16fd1db33948537b897e92c4c9e14b436bf5eb96"}], "reference": {"path": "history/54871427000194.json", "criterion_id": "perimeter", "total_count": 4, "preview_count": 3, "full_text_deferred": true, "sha256": "35d7cd99be50c7287c9fb675cf4f2e736002315295a225a9efa79c8d9186d874"}}</a:t>
            </a:r>
          </a:p>
          <a:p>
            <a:r>
              <a:t>CNPJ 60010416000112 · Classe, subclasse e responsabilidade · Regulamento · ID 1051393 · 2025-10-09 · versão 1 · p. 10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a:t>
            </a:r>
          </a:p>
          <a:p>
            <a:r>
              <a:t> (ii) o saldo dos Direitos Creditórios devidos pelo mesmo Devedor à Classe, considerando, pro  forma, o endosso pretendido, não deverá exceder R$ 100.000,00 (cem mil reais), observado  o disposto no item 4.4.1 abaixo;</a:t>
            </a:r>
          </a:p>
          <a:p>
            <a:r>
              <a:t> (iii) o prazo de vencimento das CCB representativas dos Direitos Creditórios deverá ser, no  máximo, equivalente ao prazo máximo permitido pelas leis e regulamentações aplicáveis; e</a:t>
            </a:r>
          </a:p>
          <a:p>
            <a:r>
              <a:t> (iv) os Direitos Creditórios não poderão ser devidos por Devedores que tenham acima de 64  (sessenta e quatro) anos 11 (onze) meses e 29 (vinte e nove) dias na data de emissão da  respectiva CCB.</a:t>
            </a:r>
          </a:p>
          <a:p>
            <a:r>
              <a:t>CNPJ 60010416000112 · Classe, subclasse e responsabilidade · Regulamento · ID 1051393 · 2025-10-09 · versão 1 · p. 11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  com a transf erência, à Classe, de f orma definitiva, sem coobrigação do Endossante, da plena  titularidade desse Direito Creditório, juntamente com todos os direitos, privilégios, pref erências,  prerrogativas, garantias e ações a ele relacionados, bem como correção monetária, juros e  encargos, sem prejuízo do direito da Classe (i) de exigir a recompra compulsória do respectivo  Direito Creditório, de acordo com os termos do Contrato de Endosso; ou (ii) de vender Direitos  Creditórios ao Agente de Retenção/Cobrança (opção de venda), em ambos os casos estritamente  nos termos do Contrato de Endosso.</a:t>
            </a:r>
          </a:p>
          <a:p>
            <a:r>
              <a:t>CNPJ 60010416000112 · Classe, subclasse e responsabilidade · Regulamento · ID 1051393 · 2025-10-09 · versão 1 · p. 18 · https://fnet.bmfbovespa.com.br/fnet/publico/visualizarDocumento?id=1051393</a:t>
            </a:r>
          </a:p>
          <a:p>
            <a:r>
              <a:t>CNPJ 60010416000112 · Classe, subclasse e responsabilidade · Excerto da fonte:</a:t>
            </a:r>
          </a:p>
          <a:p>
            <a:r>
              <a:t>Anexo I ao Regulamento CLASSE ÚNICA DO MT I CONSIGNADO PRIVADO I FUNDO DE INVESTIMENTO EM DIREITOS CREDITÓRIOS RESPONSABILIDADE LIMITADA</a:t>
            </a:r>
          </a:p>
          <a:p>
            <a:r>
              <a:t> (ii) alterar este Anexo I e seus complementos, incluindo mas não se limitando aos Apêndices de cada  uma das subclasses;</a:t>
            </a:r>
          </a:p>
          <a:p>
            <a:r>
              <a:t> (iii) deliberar sobre substituição de Prestadores de Serviços Essenciais, observado o disposto no Art.</a:t>
            </a:r>
          </a:p>
          <a:p>
            <a:r>
              <a:t> 70, §1º da parte geral da Resolução CVM 175, quando aplicável, ou do Custodiante;</a:t>
            </a:r>
          </a:p>
          <a:p>
            <a:r>
              <a:t> (iv) deliberar sobre elevação da Taxa de Administração, inclusive na hipótese de restabelecimento de  taxa que tenha sido objeto de redução;</a:t>
            </a:r>
          </a:p>
          <a:p>
            <a:r>
              <a:t> (v) deliberar sobre incorporação, fusão, cisão total ou parcial, a transformação ou liquidação da Classe;</a:t>
            </a:r>
          </a:p>
          <a:p>
            <a:r>
              <a:t> (vi) alterações das características, vantagens, direitos e obrigações das Cotas;</a:t>
            </a:r>
          </a:p>
          <a:p>
            <a:r>
              <a:t> (vii) alterar critérios e procedimentos para Amortização e/ou resgate de Cotas mediante dação em  pagamento de Direitos Creditórios;</a:t>
            </a:r>
          </a:p>
          <a:p>
            <a:r>
              <a:t> (viii) aprovar a contratação de Agente de Retenção/Cobrança dos Direitos Creditórios Inadimplidos, bem  como decidir sobre sua substituição ou destituição;</a:t>
            </a:r>
          </a:p>
          <a:p>
            <a:r>
              <a:t> (ix) alterar a f orma de amortização do principal e dos valores acumulados relacionados às Cotas;</a:t>
            </a:r>
          </a:p>
          <a:p>
            <a:r>
              <a:t> (x) aprovar emissão de novas Cotas da Classe, em montante além do Capital Autorizado;</a:t>
            </a:r>
          </a:p>
          <a:p>
            <a:r>
              <a:t> (xi) deliberar sobre a eventual necessidade de aportes adicionais de recursos na Classe pelos Cotistas;</a:t>
            </a:r>
          </a:p>
          <a:p>
            <a:r>
              <a:t> (xii) alterações na Política de Investimentos;</a:t>
            </a:r>
          </a:p>
          <a:p>
            <a:r>
              <a:t> (xiii) alterações nos Critérios de Elegibilidade;</a:t>
            </a:r>
          </a:p>
          <a:p>
            <a:r>
              <a:t> (xiv) decidir se um Evento de Avaliação será considerado como Evento de Liquidação, sujeito a este  Regulamento;</a:t>
            </a:r>
          </a:p>
          <a:p>
            <a:r>
              <a:t> (xv) decidir, na ocorrência de qualquer Evento de Liquidação, se esse Evento de Liquidação não deverá  causar a liquidação antecipada da Classe;</a:t>
            </a:r>
          </a:p>
          <a:p>
            <a:r>
              <a:t> (xvi) plano de resolução do Patrimônio Líquido negativo da Classe, nos termos da Resolução CVM 175;</a:t>
            </a:r>
          </a:p>
          <a:p>
            <a:r>
              <a:t> (xvii)pedido de declaração judicial de insolvência da Classe; e</a:t>
            </a:r>
          </a:p>
          <a:p>
            <a:r>
              <a:t> (xviii) deliberar sobre a alteração da data de resgate e/ou prazo de duração de cada Série de Cotas  Seniores, do Benchmark, bem como de quaisquer outras características de qualquer Série de Cotas  Seniores;</a:t>
            </a:r>
          </a:p>
          <a:p>
            <a:r>
              <a:t>CNPJ 60010416000112 · Classe, subclasse e responsabilidade · Condição: Documentos atuais selecionados no inventário por categoria/escopo; a data documental isolada não comprova vigência jurídica.</a:t>
            </a:r>
          </a:p>
          <a:p>
            <a:r>
              <a:t>CNPJ 60010416000112 · Classe, subclasse e responsabilidade · Versão e prevalência: Documentos atuais selecionados no inventário por categoria/escopo; a data documental isolada não comprova vigência jurídica.</a:t>
            </a:r>
          </a:p>
          <a:p>
            <a:r>
              <a:t>CNPJ 60010416000112 · Classe, subclasse e responsabilidade · Resumo do histórico: {"count": 1, "dates": ["2025-05-12"], "document_count": 1, "sources": [{"document_id": "1004656", "title": "AGE", "reference_date": "2025-05-12", "version": "1", "page": 4, "url": "https://fnet.bmfbovespa.com.br/fnet/publico/visualizarDocumento?id=1004656", "sha256": "f6c9c009f6170e2b29f074b98522accec73f0c40efbf11f9ec2c8d3f1402616b"}], "reference": {"path": "history/60010416000112.json", "criterion_id": "perimeter", "total_count": 1, "preview_count": 1, "full_text_deferred": true, "sha256": "8e2bd813f4c51cf01f6bfaad164bafe69d2bbb192f753eac92da3a01c2e63046"}}</a:t>
            </a:r>
          </a:p>
          <a:p>
            <a:r>
              <a:t>CNPJ 62696791000193 · Classe, subclasse e responsabilidade · Regulamento · ID 1143317 · 20/03/2026 · versão Regulamento — referência 20/03/2026 · p. 9 · Anexo I, 2.1 · https://fnet.bmfbovespa.com.br/fnet/publico/visualizarDocumento?id=1143317</a:t>
            </a:r>
          </a:p>
          <a:p>
            <a:r>
              <a:t>CNPJ 62696791000193 · Classe, subclasse e responsabilidade · Excerto da fonte:</a:t>
            </a:r>
          </a:p>
          <a:p>
            <a:r>
              <a:t>2.1 A responsabilidade do Cotista está limitada ao valor por ele subscrito. 2.2 Os seguintes eventos obrigarão o Administrador a verif icar se o Patrimônio Líquido está negativo: (i) qualquer pedido de declaração judicial de insolvência de Classe; (ii) inadimplência de obrigações financeiras de devedor e/ou emissor de ativos detidos pela Classe que representem mais de 10% (dez por cento) de seu Patrimônio Líquido, naquela data de ref erência; (iii) pedido de recuperação extrajudicial, proposta de recuperação judicial, f alência, intervenção, liquidação extrajudicial e/ou regime de administração temporária de devedor e/ou emissor de ativos detidos pela Classe; e (iv) condenação da Classe, de natureza judicial e/ou arbitral e/ou administrativa e/ou outras similares, ao pagamento de mais de 10% (dez por cento) de seu Patrimônio Líquido. 2.3 Caso o Administrador verifique que o Patrimônio Líquido está negativo, ou tenha ciência de pedido de declaração judicial de insolvência da Classe ou da declaração judicial de insolvência da Classe, deverá adotar as medidas aplicáveis previstas na Resolução CVM 175. 2.4 Serão aplicáveis as disp</a:t>
            </a:r>
          </a:p>
          <a:p>
            <a:r>
              <a:t>CNPJ 62696791000193 · Classe, subclasse e responsabilidade · Regulamento · ID 1143317 · 20/03/2026 · versão Regulamento — referência 20/03/2026 · p. 18 · Anexo I, 8.8.1 · https://fnet.bmfbovespa.com.br/fnet/publico/visualizarDocumento?id=1143317</a:t>
            </a:r>
          </a:p>
          <a:p>
            <a:r>
              <a:t>CNPJ 62696791000193 · Classe, subclasse e responsabilidade · Excerto da fonte:</a:t>
            </a:r>
          </a:p>
          <a:p>
            <a:r>
              <a:t>8.8.1 As Chamadas de Capital para a realização de investimentos serão realizadas a qualquer momento durante o Período de Investimento e estarão limitadas ao valor do capital subscrito de cada Cotista. As Chamadas de Capital para o pagamento de despesas e encargos do Fundo poderão ser realizadas a qualquer momento durante o Prazo de Duração, mas não estarão limitadas ao valor do capital subscrito de cada Cotista. 8.8.2 Ao receber uma Chamada de Capital, os Cotistas serão obrigados a integralizar parte ou a totalidade de suas Cotas no prazo previsto na ref erida Chamada de Capital, o qual não poderá ser inf erior a 5 (cinco) Dias Úteis contados do recebimento da Chamada de Capital, conforme solicitado pelo Administrador em observância às instruções do Gestor e de acordo com o disposto nos respectivos Compromissos de Investimento. 8.8.3 O Administrador poderá, eventualmente, realizar Chamadas de Capital aos Cotistas de forma desproporcional entre Cotistas, de modo que um ou mais Cotista venha a integralizar, em uma ou mais Chamadas de Capital, uma parcela maior ou menor, conforme o caso, das Cotas por</a:t>
            </a:r>
          </a:p>
          <a:p>
            <a:r>
              <a:t>CNPJ 62696791000193 · Classe, subclasse e responsabilidade · Regulamento · ID 1143317 · 20/03/2026 · versão Regulamento — referência 20/03/2026 · p. 16 · Anexo I, 7.2 · https://fnet.bmfbovespa.com.br/fnet/publico/visualizarDocumento?id=1143317</a:t>
            </a:r>
          </a:p>
          <a:p>
            <a:r>
              <a:t>CNPJ 62696791000193 · Classe, subclasse e responsabilidade · Excerto da fonte:</a:t>
            </a:r>
          </a:p>
          <a:p>
            <a:r>
              <a:t>7.2 A Classe possui 3 (três) Subclasses de Cotas, quais sejam, a subclasse sênior (“Subclasse Sênior” e “Cotas Seniores”), a subclasse mezanino (“Subclasse Mezanino” e “Cotas Mezanino”) e a subclasse subordinada (“Subclasse Subordinada” e “Cotas Subordinadas” – as Cotas Subordinadas, Cotas Seniores e Cotas Mezanino, quando ref eridas em conjunto, “Cotas”), admitindo ainda a emissão de novas séries (“Séries”) de Cotas Seniores, nos termos do seu respectivo Apêndice. As características, os direitos e as condições de emissão, distribuição, subscrição, integralização, remuneração, amortização e resgate das Cotas estão descritos neste Capítulo e nos respectivos Apêndices. 7.3 As Cotas são escriturais, nominativas e correspondem a f rações ideais do patrimônio da Classe, cuja propriedade presume-se: (i) pelo registro do nome do Cotista no livro de registro de Cotistas, enquanto mantidas em conta de depósito mantidas junto ao Escriturador em nome dos respectivos Cotistas, nos termos do Art. 15 da Resolução CVM 175; (ii) pelos controles de titularidade mantidos pelo depositário BTG Pactual SAC: 0800 772 2827 | Ouvidoria: 0800 722 0048 | btgpactual.co m 11</a:t>
            </a:r>
          </a:p>
          <a:p>
            <a:r>
              <a:t>CNPJ 62696791000193 · Classe, subclasse e responsabilidade · Condição: Contradição interna no alcance da responsabilidade limitada. Não apresentar a cláusula de despesas como obrigação irrestrita pacificada.</a:t>
            </a:r>
          </a:p>
          <a:p>
            <a:r>
              <a:t>CNPJ 62696791000193 · Classe, subclasse e responsabilidade · Versão e prevalência: Leitura específica das cláusulas indicadas; condições e conflitos preservados. Seleção documental atual não comprova vigência jurídica por data isolada.</a:t>
            </a:r>
          </a:p>
          <a:p>
            <a:r>
              <a:t>CNPJ 55563624000109 · Classe, subclasse e responsabilidade · Regulamento · ID 1192614 · 2026-04-30 · versão 1 · p. 40 · https://fnet.bmfbovespa.com.br/fnet/publico/visualizarDocumento?id=1192614</a:t>
            </a:r>
          </a:p>
          <a:p>
            <a:r>
              <a:t>CNPJ 55563624000109 · Classe, subclasse e responsabilidade · Excerto da fonte:</a:t>
            </a:r>
          </a:p>
          <a:p>
            <a:r>
              <a:t>(xxiv) Subordinação de determinadas Cotas da Classe Investida a outras subclasses ou séries de  cotas das Classes Investidas aos quais pertencem. A Classe Investida adquirirá apenas cotas  subordinadas mezaninos da Classe Investida, as quais se subordinam às cotas seniores da Classe  Investida para efeitos de resgate. Os resgates de cotas subordinadas mezanino tipicamente têm sua  realização condicionada ainda à manutenção da razão de garantia e à existência de disponibilidades  da Classe Investida. O ADMINISTRADOR, o GESTOR e o CUSTODIANTE e suas respectivas partes  relacionadas, encontram-se impossibilitados de assegurar que a amortização e o resgate das cotas  subordinadas mezanino da Classe Investida que venham a ser adquiridas pela Classe ocorrerão nas  datas originalmente previstas, sendo que, caso tais amortizações e/ou resgates não ocorram, não será  devido pelo FUNDO ou qualquer pessoa, incluindo o ADMINISTRADOR, o GESTOR e o CUSTODIANTE,  do FUNDO ou da Classe Investida qualquer multa ou penalidade, de qualquer natureza. O não resgate  de cotas subordinadas mezanino da Classe Investida detidas pela Classe poderá impactar  negativamente no fluxo de pagamento de resgate da Classe e/ou no valor patrimonial das Cotas da  Classe.</a:t>
            </a:r>
          </a:p>
          <a:p>
            <a:r>
              <a:t>CNPJ 55563624000109 · Classe, subclasse e responsabilidade · Regulamento · ID 1192614 · 2026-04-30 · versão 1 · p. 2 · 1.2 · https://fnet.bmfbovespa.com.br/fnet/publico/visualizarDocumento?id=1192614</a:t>
            </a:r>
          </a:p>
          <a:p>
            <a:r>
              <a:t>CNPJ 55563624000109 · Classe, subclasse e responsabilidade · Excerto da fonte:</a:t>
            </a:r>
          </a:p>
          <a:p>
            <a:r>
              <a:t>1.2 Este regulamento é composto por esta parte geral, um ou mais anexos, conforme o número de classes aqui  previsto e respectivos apêndices relativos a cada subclasse de cotas, conforme aplicável (respectivamente,  “Regulamento”, “Parte Geral”, “Anexos” e “Apêndices”).</a:t>
            </a:r>
          </a:p>
          <a:p>
            <a:r>
              <a:t> Denominação da Classe Anexo  CLASSE ÚNICA DE RESPONSABILIDADE LIMITADA DO  PLGN MARKETPLACE FUNDO DE INVESTIMENTO EM  Anexo Único (“Anexo”)  COTAS DE FUNDO DE INVESTIMENTO EM DIREITOS  CREDITÓRIOS (“Classe” ou “Classe Única”)</a:t>
            </a:r>
          </a:p>
          <a:p>
            <a:r>
              <a:t>CNPJ 55563624000109 · Classe, subclasse e responsabilidade · Regulamento · ID 1192614 · 2026-04-30 · versão 1 · p. 24 · 12.3 · https://fnet.bmfbovespa.com.br/fnet/publico/visualizarDocumento?id=1192614</a:t>
            </a:r>
          </a:p>
          <a:p>
            <a:r>
              <a:t>CNPJ 55563624000109 · Classe, subclasse e responsabilidade · Excerto da fonte:</a:t>
            </a:r>
          </a:p>
          <a:p>
            <a:r>
              <a:t>12.3 Incluem-se entre as obrigações do ADMINISTRADOR, sem prejuízo de outras previstas na regulamentação:</a:t>
            </a:r>
          </a:p>
          <a:p>
            <a:r>
              <a:t> (i) sem prejuízo da observância dos procedimentos relativos às demonstrações contábeis, manter,  separadamente, registros com informações completas sobre toda e qualquer modalidade de negociação  realizada entre o ADMINISTRADOR, GESTOR, CUSTODIANTE, e/ou suas respectivas partes relacionadas,  tais como definidas pelas regras contábeis que tratam desse assunto, de um lado; e a Classe, de outro;</a:t>
            </a:r>
          </a:p>
          <a:p>
            <a:r>
              <a:t> (ii) diligenciar para que sejam mantidos, às suas expensas, atualizados e em perfeita ordem:</a:t>
            </a:r>
          </a:p>
          <a:p>
            <a:r>
              <a:t> (a) o registro de Cotistas;</a:t>
            </a:r>
          </a:p>
          <a:p>
            <a:r>
              <a:t> (b) o livro de atas das Assembleias de Cotistas;</a:t>
            </a:r>
          </a:p>
          <a:p>
            <a:r>
              <a:t> (c) o livro ou lista de presença de Cotistas;</a:t>
            </a:r>
          </a:p>
          <a:p>
            <a:r>
              <a:t> (d) os pareceres do Auditor Independente; e</a:t>
            </a:r>
          </a:p>
          <a:p>
            <a:r>
              <a:t> (e) os registros contábeis referentes às operações e ao patrimônio da Classe;</a:t>
            </a:r>
          </a:p>
          <a:p>
            <a:r>
              <a:t> (iii) pagar a multa cominatória às suas expensas, nos termos da legislação vigente, por cada dia de atraso no  cumprimento dos prazos previstos na regulamentação aplicável;</a:t>
            </a:r>
          </a:p>
          <a:p>
            <a:r>
              <a:t> (iv) elaborar e divulgar as informações periódicas e eventuais da Classe, nos termos deste Anexo e da  regulamentação e da autorregulação em vigor;</a:t>
            </a:r>
          </a:p>
          <a:p>
            <a:r>
              <a:t> (v) manter atualizada junto à CVM a lista de todos os prestadores de serviços contratados pela Classe,  inclusive os Prestadores de Serviços Essenciais, bem como as demais informações cadastrais da Classe e  suas Subclasses;</a:t>
            </a:r>
          </a:p>
          <a:p>
            <a:r>
              <a:t> (vi) manter serviço de atendimento aos Cotistas, responsável pelo esclarecimento de dúvidas e pelo  recebimento de reclamações;</a:t>
            </a:r>
          </a:p>
          <a:p>
            <a:r>
              <a:t> (vii) receber e processar os pedidos de resgate;</a:t>
            </a:r>
          </a:p>
          <a:p>
            <a:r>
              <a:t> (viii) monitorar os Eventos de Verificação do Patrimônio;</a:t>
            </a:r>
          </a:p>
          <a:p>
            <a:r>
              <a:t> (ix) monitorar os Eventos de Avaliação e Eventos de Liquidação;</a:t>
            </a:r>
          </a:p>
          <a:p>
            <a:r>
              <a:t> (x) observar as disposições constantes do Regulamento;</a:t>
            </a:r>
          </a:p>
          <a:p>
            <a:r>
              <a:t> (xi) cumprir as deliberações da Assembleia de Cotistas; e</a:t>
            </a:r>
          </a:p>
          <a:p>
            <a:r>
              <a:t> (xii) observar as disposições do Código ANBIMA e das Regras e Procedimentos ANBIMA</a:t>
            </a:r>
          </a:p>
          <a:p>
            <a:r>
              <a:t>CNPJ 55563624000109 · Classe, subclasse e responsabilidade · Condição: Documentos atuais selecionados no inventário por categoria/escopo; a data documental isolada não comprova vigência jurídica.</a:t>
            </a:r>
          </a:p>
          <a:p>
            <a:r>
              <a:t>CNPJ 55563624000109 · Classe, subclasse e responsabilidade · Versão e prevalência: Documentos atuais selecionados no inventário por categoria/escopo; a data documental isolada não comprova vigência jurídica.</a:t>
            </a:r>
          </a:p>
          <a:p>
            <a:r>
              <a:t>CNPJ 55563624000109 · Classe, subclasse e responsabilidade · Resumo do histórico: {"count": 5, "dates": ["2024-07-03", "2025-01-31", "2026-01-31"], "document_count": 3, "sources": [{"document_id": "1178840", "title": "Demonstrações Financeiras", "reference_date": "2026-01-31", "version": "1", "page": 3, "url": "https://fnet.bmfbovespa.com.br/fnet/publico/visualizarDocumento?id=1178840", "sha256": "c458e98664c5c907ddb5a05a94b120bed4e05295b2bfc420f5ba69af0a229abe"}, {"document_id": "891861", "title": "Demonstrações Financeiras", "reference_date": "2025-01-31", "version": "1", "page": 27, "url": "https://fnet.bmfbovespa.com.br/fnet/publico/visualizarDocumento?id=891861", "sha256": "e9cb9e6ddbe505fe068cfcac33605165a98313489de0d3ce6d4d238263c3f3e7"}, {"document_id": "703295", "title": "Anúncio de Início", "reference_date": "2024-07-03", "version": "2", "page": 1, "url": "https://fnet.bmfbovespa.com.br/fnet/publico/visualizarDocumento?id=703295", "sha256": "12322b6dbf75e673723bd60910373db249451b72666792e18e0c7b6128f4608a"}], "reference": {"path": "history/55563624000109.json", "criterion_id": "perimeter", "total_count": 5, "preview_count": 3, "full_text_deferred": true, "sha256": "7835d573fb58a3c19adf5b8ecc2aee2bdbb9a88f7a0c0209b5f262b64c7522e3"}}</a:t>
            </a:r>
          </a:p>
          <a:p>
            <a:r>
              <a:t>CNPJ 62552447000120 · Classe, subclasse e responsabilidade · Regulamento · ID 1200623 · 2026-05-21 · versão 1 · p. 1 · 1.3 · https://fnet.bmfbovespa.com.br/fnet/publico/visualizarDocumento?id=1200623</a:t>
            </a:r>
          </a:p>
          <a:p>
            <a:r>
              <a:t>CNPJ 62552447000120 · Classe, subclasse e responsabilidade · Excerto da fonte:</a:t>
            </a:r>
          </a:p>
          <a:p>
            <a:r>
              <a:t>1.3 Durante o seu prazo de duração, o Fundo, por ato conjunto dos Prestadores de Serviços Essenciais,  poderá constituir diferentes Classes e Subclasses , sendo que cada Classe terá patrimônio segregado e</a:t>
            </a:r>
          </a:p>
          <a:p>
            <a:r>
              <a:t>CNPJ 62552447000120 · Classe, subclasse e responsabilidade · Regulamento · ID 1200623 · 2026-05-21 · versão 1 · p. 1 · 1.1 · https://fnet.bmfbovespa.com.br/fnet/publico/visualizarDocumento?id=1200623</a:t>
            </a:r>
          </a:p>
          <a:p>
            <a:r>
              <a:t>CNPJ 62552447000120 · Classe, subclasse e responsabilidade · Excerto da fonte:</a:t>
            </a:r>
          </a:p>
          <a:p>
            <a:r>
              <a:t>1.1 V CDT 1 FUNDO DE INVESTIMENTO EM DIREITOS CREDITÓRIOS RESPONSABILIDADE  LIMITADA (“Fundo”), regido pela Lei n.º 10.406, de 10 de janeiro de 2002, conforme alterada (“Código  Civil”), pela Resolução da Comissão de Valores Mobiliários (“CVM”) n.º 175, de 23 de dezembro de  2022, conf orme alterada (“Resolução CVM 175”), que inclui sua Parte Geral (“Parte Geral da  Resolução CVM 175”) e seu Anexo Normativo II (“Anexo Normativo II”) terá como principais  características:</a:t>
            </a:r>
          </a:p>
          <a:p>
            <a:r>
              <a:t>CNPJ 62552447000120 · Classe, subclasse e responsabilidade · Regulamento · ID 1200623 · 2026-05-21 · versão 1 · p. 1 · https://fnet.bmfbovespa.com.br/fnet/publico/visualizarDocumento?id=1200623</a:t>
            </a:r>
          </a:p>
          <a:p>
            <a:r>
              <a:t>CNPJ 62552447000120 · Classe, subclasse e responsabilidade · Excerto da fonte:</a:t>
            </a:r>
          </a:p>
          <a:p>
            <a:r>
              <a:t>CLASSE ÚNICA DO V CDT 1 FUNDO DE  INVESTIMENTO EM DIREITOS CREDITÓRIOS Anexo I (“Anexo I”)  RESPONSABILIDADE LIMITADA</a:t>
            </a:r>
          </a:p>
          <a:p>
            <a:r>
              <a:t>CNPJ 62552447000120 · Classe, subclasse e responsabilidade · Condição: Documentos atuais selecionados no inventário por categoria/escopo; a data documental isolada não comprova vigência jurídica.</a:t>
            </a:r>
          </a:p>
          <a:p>
            <a:r>
              <a:t>CNPJ 62552447000120 · Classe, subclasse e responsabilidade · Versão e prevalência: Documentos atuais selecionados no inventário por categoria/escopo; a data documental isolada não comprova vigência jurídica.</a:t>
            </a:r>
          </a:p>
          <a:p>
            <a:r>
              <a:t>CNPJ 62552447000120 · Classe, subclasse e responsabilidade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"perimeter", "total_count": 1, "preview_count": 1, "full_text_deferred": true, "sha256": "d95db8c0613d67ee84118c734588665265ea6b02f86a0318d6a844cbe1d0f82f"}}</a:t>
            </a:r>
          </a:p>
          <a:p>
            <a:r>
              <a:t>CNPJ 63953620000165 · Classe, subclasse e responsabilidade · Anexo ao Regulamento · ID 1222863 · 02/06/2026 · versão AnexoConsignadoPrivado02/06/2026 · p. 3 · 2.1 · https://fnet.bmfbovespa.com.br/fnet/publico/visualizarDocumento?id=1222863</a:t>
            </a:r>
          </a:p>
          <a:p>
            <a:r>
              <a:t>CNPJ 63953620000165 · Classe, subclasse e responsabilidade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deverá adotar as medidas aplicáveis previstas na Resolução CVM 175. 2.3 Serão aplicáveis as disposições da Resolução CVM 175 no que se refere aos procedimentos a serem adotados pelo Administrador na hipótese de Patrimônio Líquido negativo da Classe. BTG Pactual SAC: 0800 772 28 27 - Ouvidoria: 0800 722 00 48 - btgpactual.com</a:t>
            </a:r>
          </a:p>
          <a:p>
            <a:r>
              <a:t>CNPJ 63953620000165 · Classe, subclasse e responsabilidade · Anexo ao Regulamento · ID 1222863 · 02/06/2026 · versão AnexoConsignadoPrivado02/06/2026 · p. 10 · 6.7.1 · https://fnet.bmfbovespa.com.br/fnet/publico/visualizarDocumento?id=1222863</a:t>
            </a:r>
          </a:p>
          <a:p>
            <a:r>
              <a:t>CNPJ 63953620000165 · Classe, subclasse e responsabilidade · Excerto da fonte:</a:t>
            </a:r>
          </a:p>
          <a:p>
            <a:r>
              <a:t>6.7.1 As Chamadas de Capital para a realização de investimentos serão realizadas a qualquer momento durante o Período de Investimento e estarão limitadas ao valor do capital subscrito de cada Cotista. As Chamadas de Capital para o pagamento de despesas e encargos do Fundo, com exceção de despesas relacionadas à instrumentos de derivativos e/ou Encargos não previstos no âmbito deste regulamento, poderão ser realizadas a qualquer momento durante o Prazo de Duração, mas não estarão limitadas ao valor do capital subscrito de cada Cotista. 6.7.2 Ao receber uma Chamada d</a:t>
            </a:r>
          </a:p>
          <a:p>
            <a:r>
              <a:t>CNPJ 63953620000165 · Classe, subclasse e responsabilidade · Condição: Alcance das chamadas além do capital comprometido não resolvido textualmente; não certificar limitação apenas por título do fundo.</a:t>
            </a:r>
          </a:p>
          <a:p>
            <a:r>
              <a:t>CNPJ 63953620000165 · Classe, subclasse e responsabilidade · Versão e prevalência: Leitura específica das cláusulas indicadas; condições e conflitos preservados. Seleção documental atual não comprova vigência jurídica por data isolada.</a:t>
            </a:r>
          </a:p>
          <a:p>
            <a:r>
              <a:t>CNPJ 63953620000165 · Classe, subclasse e responsabilidade · Resumo do histórico: {"count": 4, "dates": ["2026-04-28", "2026-05-08", "2026-05-15"], "document_count": 3, "sources": [{"document_id": "1327859", "title": "Demonstrações Financeiras - Fusão, cisão e incorporação", "reference_date": "2026-05-15", "version": "1", "page": 1, "url": "https://fnet.bmfbovespa.com.br/fnet/publico/visualizarDocumento?id=1327859", "sha256": "dca1c68babb97f887528c3e2e47596a9c30f507b067981a35655b2f2da9c8054"}, {"document_id": "1298691", "title": "Demonstrações Financeiras - Fusão, cisão e incorporação", "reference_date": "2026-05-08", "version": "1", "page": 1, "url": "https://fnet.bmfbovespa.com.br/fnet/publico/visualizarDocumento?id=1298691", "sha256": "58c570d9b8d4d265330d3db3ea81c435b8e44a6dab4002aa37790652a1ee9819"}, {"document_id": "1205431", "title": "AGE", "reference_date": "2026-04-28", "version": "1", "page": 1, "clause": "4.1", "url": "https://fnet.bmfbovespa.com.br/fnet/publico/visualizarDocumento?id=1205431", "sha256": "e0b59c701c5d0dbf60de698ea7664d442240863b7043bacdb334ce484188b2ac"}], "reference": {"path": "history/63953620000165.json", "criterion_id": "perimeter", "total_count": 4, "preview_count": 3, "full_text_deferred": true, "sha256": "a7b89077f5e21098c2d601c303faabc3ff6b9729f89d8afecdc60fe1404720c1"}}</a:t>
            </a:r>
          </a:p>
          <a:p>
            <a:r>
              <a:t>CNPJ 54871427000194 · Adaptação à Resolução CVM 175 · Regulamento · ID 670691 · 28/04/2024 · versão Regulamento — referência 28/04/2024 · p. 1 · Parte Geral, 1.1 · https://fnet.bmfbovespa.com.br/fnet/publico/visualizarDocumento?id=670691</a:t>
            </a:r>
          </a:p>
          <a:p>
            <a:r>
              <a:t>CNPJ 54871427000194 · Adaptação à Resolução CVM 175 · Excerto da fonte:</a:t>
            </a:r>
          </a:p>
          <a:p>
            <a:r>
              <a:t>1.1 CONSIGNADO DELTA RECEIVABLES I FUNDO DE INVESTIMENTO EM DIREITOS CREDITÓRIOS (“FUNDO”), regido pela Lei nº 10.406, de 10 de janeiro de 2002, conf orme alterada (“Código Civil”), pela parte geral e o Anexo Normativo II da Resolução nº 175, de 23 de dezembro de 2022, conforme alterada, da Comissão de Valores Mobiliários (respectivamente, “CVM” e “Resolução CVM 175”), terá como principais características: Classe de Cotas Classe única. Indeterminado, exceto se de outra f orma vier a ser deliberado pelos cotistas Prazo de Duração reunidos em assembleia geral de cotistas. BTG Pactual Serviços Financeiros S.A. Distribuidora de Títulos e Valores Mobiliários, instituição f inanceira, com sede na Cidade e Estado do Rio de Janeiro, na Praia de Botafogo, nº 501, 5º andar (parte), Torre Corcovado, ADMINISTRADOR Botafogo, CEP 22250-040, inscrita no CNPJ sob o nº 59.281.253/0001-23 e credenciada como administradora de carteira, de acordo com o Ato Declaratório CVM nº</a:t>
            </a:r>
          </a:p>
          <a:p>
            <a:r>
              <a:t>CNPJ 54871427000194 · Adaptação à Resolução CVM 175 · Regulamento · ID 670691 · 28/04/2024 · versão Regulamento — referência 28/04/2024 · p. 8 · Anexo I, 2.1 · https://fnet.bmfbovespa.com.br/fnet/publico/visualizarDocumento?id=670691</a:t>
            </a:r>
          </a:p>
          <a:p>
            <a:r>
              <a:t>CNPJ 54871427000194 · Adaptação à Resolução CVM 175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deverá adotar as medidas aplicáveis previstas na Resolução CVM 175. 2.3 Serão aplicáveis as disposições da Resolução CVM 175 no que se refere aos procedimentos a serem adotados pelo ADMINISTRADOR na hipótese de Patrimônio Líquido negativo da Classe. CAPÍTULO 3 – ENCARGOS DA CLASSE 3.1 A Classe terá Encargos que lhe poderão ser debitados diretamente, nos termos do art. 53 do Anexo Normativo II da Resolução CVM 175, além de encargos adicionais, e quaisquer despesas que não constituam Encargos correm por conta do Prestador de Serviço Essencial que a tiver contratado: (i) despesas com a contratação de consultoria especializada, conf orme o caso; (ii) despesas com a contratação do Agente de Cobrança, conf orme aplicável; (iii) Taxa Máxima de Custódia; (iv) despesas com registro de Direitos Creditórios; (v) despesas com serviços de originação, cobranças ordinária e/ou extraordinária dos D</a:t>
            </a:r>
          </a:p>
          <a:p>
            <a:r>
              <a:t>CNPJ 54871427000194 · Adaptação à Resolução CVM 175 · Versão e prevalência: Leitura específica das cláusulas indicadas; condições e conflitos preservados. Seleção documental atual não comprova vigência jurídica por data isolada.</a:t>
            </a:r>
          </a:p>
          <a:p>
            <a:r>
              <a:t>CNPJ 54871427000194 · Adaptação à Resolução CVM 175 · Resumo do histórico: {"count": 2, "dates": ["2024-04-19"], "document_count": 2, "sources": [{"document_id": "670687", "title": "Instrumento Particular de Constituição/Encerramento do Fundo", "reference_date": "2024-04-19", "version": "1", "page": 1, "url": "https://fnet.bmfbovespa.com.br/fnet/publico/visualizarDocumento?id=670687", "sha256": "999f2a47d39f7022b0fcee3d16fd1db33948537b897e92c4c9e14b436bf5eb96"}, {"document_id": "670689", "title": "Regulamento", "reference_date": "2024-04-19", "version": "1", "page": 11, "clause": "4.10", "url": "https://fnet.bmfbovespa.com.br/fnet/publico/visualizarDocumento?id=670689", "sha256": "891bc9bc5d87bbc02ec139077a84d2702eb81ea02035fb71d24f5b8366b94a0b"}], "reference": {"path": "history/54871427000194.json", "criterion_id": "res175", "total_count": 2, "preview_count": 2, "full_text_deferred": true, "sha256": "35d7cd99be50c7287c9fb675cf4f2e736002315295a225a9efa79c8d9186d874"}}</a:t>
            </a:r>
          </a:p>
          <a:p>
            <a:r>
              <a:t>CNPJ 60010416000112 · Adaptação à Resolução CVM 175 · Regulamento · ID 1051393 · 09/10/2025 · versão Regulamento09/10/2025 · p. 8 · AnexoI1.2 · https://fnet.bmfbovespa.com.br/fnet/publico/visualizarDocumento?id=1051393</a:t>
            </a:r>
          </a:p>
          <a:p>
            <a:r>
              <a:t>CNPJ 60010416000112 · Adaptação à Resolução CVM 175 · Excerto da fonte:</a:t>
            </a:r>
          </a:p>
          <a:p>
            <a:r>
              <a:t>Tipo de Condomínio Fechado. Prazo de Duração Indeterminado. Classe de Investimento Não. em Cotas Tipo “Financeiro”. Classificação ANBIMA Foco de atuação “Créditos Consignados”. O objetivo da classe é proporcionar aos seus Cotistas a valorização de suas Cotas por meio da aplicação de seu Patrimônio Líquido na aquisição de: (i) Direitos Creditórios que atendam aos Critérios de Elegibilidade, estabelecidos no Ca</a:t>
            </a:r>
          </a:p>
          <a:p>
            <a:r>
              <a:t>CNPJ 60010416000112 · Adaptação à Resolução CVM 175 · Regulamento · ID 1051393 · 09/10/2025 · versão Regulamento09/10/2025 · p. 9 · AnexoI2.1–2.3 · https://fnet.bmfbovespa.com.br/fnet/publico/visualizarDocumento?id=1051393</a:t>
            </a:r>
          </a:p>
          <a:p>
            <a:r>
              <a:t>CNPJ 60010416000112 · Adaptação à Resolução CVM 175 · Excerto da fonte:</a:t>
            </a:r>
          </a:p>
          <a:p>
            <a:r>
              <a:t>2.1 A responsabilidade do Cotista está limitada ao valor por ele subscrito. 2.2 Caso o Administrador verifique que o Patrimônio Líquido da Classe está negativo, ou tenha ciência de pedido de declaração judicial de insolvência da Classe ou da declaração judicial de insolvência da Classe, o Administrador deverá adotar as medidas aplicáveis previstas na Resolução CVM 175 2.3 Serão aplicáveis as disposições da Resolução CVM 175 no que se ref ere aos procedimentos a serem adotados pelo Administrador na hipótese de Patrimônio Líquido negativo da Classe, visando a liquidação da Classe e que não remanesçam</a:t>
            </a:r>
          </a:p>
          <a:p>
            <a:r>
              <a:t>CNPJ 60010416000112 · Adaptação à Resolução CVM 175 · Versão e prevalência: Leitura específica das cláusulas indicadas; condições e conflitos preservados. Seleção documental atual não comprova vigência jurídica por data isolada.</a:t>
            </a:r>
          </a:p>
          <a:p>
            <a:r>
              <a:t>CNPJ 60010416000112 · Adaptação à Resolução CVM 175 · Resumo do histórico: {"count": 2, "dates": ["2025-03-20"], "document_count": 2, "sources": [{"document_id": "993785", "title": "Instrumento Particular de Constituição/Encerramento do Fundo", "reference_date": "2025-03-20", "version": "1", "page": 1, "url": "https://fnet.bmfbovespa.com.br/fnet/publico/visualizarDocumento?id=993785", "sha256": "0826e0eae2c51afabf59bbc49fc7647598d03da5ca6de0f9725850a8bd6af457"}, {"document_id": "993786", "title": "Regulamento", "reference_date": "2025-03-20", "version": "1", "page": 12, "clause": "4.8", "url": "https://fnet.bmfbovespa.com.br/fnet/publico/visualizarDocumento?id=993786", "sha256": "fd0fdd369a195510d81f81f505195a0b09e5f43522a990afa7d58c4f872921c8"}], "reference": {"path": "history/60010416000112.json", "criterion_id": "res175", "total_count": 2, "preview_count": 2, "full_text_deferred": true, "sha256": "8e2bd813f4c51cf01f6bfaad164bafe69d2bbb192f753eac92da3a01c2e63046"}}</a:t>
            </a:r>
          </a:p>
          <a:p>
            <a:r>
              <a:t>CNPJ 62696791000193 · Adaptação à Resolução CVM 175 · AGE · ID 1143319 · 20/03/2026 10:00 · versão AGE — referência 20/03/2026 10:00 · p. 1 · AGC, 4.1(a)–(b) · https://fnet.bmfbovespa.com.br/fnet/publico/visualizarDocumento?id=1143319</a:t>
            </a:r>
          </a:p>
          <a:p>
            <a:r>
              <a:t>CNPJ 62696791000193 · Adaptação à Resolução CVM 175 · Excerto da fonte:</a:t>
            </a:r>
          </a:p>
          <a:p>
            <a:r>
              <a:t>4.1. Aprovar a transformação do Fundo, bem como de sua Classe única, em um fundo de investimento nas cadeias produtivas do agronegócio (“Transformação”), nos termos da parte geral e do Anexo Normativo VI da Resolução nº 175 da CVM, de 23 de dezembro de 2022, conforme alterada (“Resolução CVM 175”). a. Aprovar a alteração da denominação do Fundo, que passará a vigorar como BTG PACTUAL CERES CONFINA FUNDO DE INVESTIMENTO NAS CADEIAS PRODUTIVAS DO AGRONEGÓCIO RESPONSABILIDADE LIMITADA, e de sua Classe única, que passará a vigorar como CLASSE ÚNICA DO BTG PACTUAL CERES CONFINA FUNDO DE INVESTIMENTO NAS CADEIAS PRODUTIVAS DO AGRONEGÓCIO RESPONSABILIDADE LIMITADA (“Classe”); b. Aprovar a reforma integral do Regulamento do Fundo, bem como do Anexo descritivo da Classe, para realizar todos os ajustes necessários à implementação da Transformação, incluindo, mas não se limitando, a política de investimentos, o regime tributário e os fatores de risco aplicáveis, conforme itens abaixo; c. Aprovar a alteração do quadro de características gerais do Fundo, considerando a contratação do Cogestor pelo Gestor, nos termos do artigo 52, II, da parte geral da Resolução CVM 175 e no co</a:t>
            </a:r>
          </a:p>
          <a:p>
            <a:r>
              <a:t>CNPJ 62696791000193 · Adaptação à Resolução CVM 175 · AGE · ID 1143319 · 20/03/2026 10:00 · versão AGE — referência 20/03/2026 10:00 · p. 3 · AGC 20/03/2026, 4.1(j)–(k) · https://fnet.bmfbovespa.com.br/fnet/publico/visualizarDocumento?id=1143319</a:t>
            </a:r>
          </a:p>
          <a:p>
            <a:r>
              <a:t>CNPJ 62696791000193 · Adaptação à Resolução CVM 175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Adaptação à Resolução CVM 175 · Regulamento · ID 1143317 · 20/03/2026 · versão Regulamento — referência 20/03/2026 · p. 1 · Parte Geral, 1.1 · https://fnet.bmfbovespa.com.br/fnet/publico/visualizarDocumento?id=1143317</a:t>
            </a:r>
          </a:p>
          <a:p>
            <a:r>
              <a:t>CNPJ 62696791000193 · Adaptação à Resolução CVM 175 · Excerto da fonte:</a:t>
            </a:r>
          </a:p>
          <a:p>
            <a:r>
              <a:t>1.1 BTG PACTUAL CERES CONFINA FUNDO DE INVESTIMENTO NAS CADEIAS PRODUTIVAS DO AGRONEGÓCIO RESPONSABILIDADE LIMITADA (“Fundo”), regido pela Lei nº 10.406, de 10 de janeiro de 2002, conf orme alterada (“Código Civil”), pela Lei n.º 8.668, de 25 de junho de 1993, conf orme alterada (“Lei 8.668”), pela parte geral, Anexo Normativo VI e, subsidiariamente, Anexo Normativo II da Resolução nº 175, de 23 de dezembro de 2022, conforme alterada, da Comissão de Valores Mobiliários (respectivamente, “Resolução CVM 175” e “CVM”), terá como principais características: Classe Classe única. Indeterminado, exceto se de outra f orma vier a ser deliberado pelos Cotistas Prazo de Duração reunidos em assembleia geral de Cotistas (“Prazo de Duração”). BTG Pactual Serviços Financeiros S.A. Distribuidora de Títulos e Valores Mobiliários, sociedade anônima, com sede no município e Estado do Rio de Janeiro, na Praia de Botafogo, nº 501, 5º andar (parte), Torre Corcovado, Administrador Botafogo, CEP 22250-040, inscrita no CNPJ sob o nº 59.281.253/0001-23 e</a:t>
            </a:r>
          </a:p>
          <a:p>
            <a:r>
              <a:t>CNPJ 62696791000193 · Adaptação à Resolução CVM 175 · Condição: Posição comumfev/26 é anterior à transformação e demanda o regime/regulamento anterior.</a:t>
            </a:r>
          </a:p>
          <a:p>
            <a:r>
              <a:t>CNPJ 62696791000193 · Adaptação à Resolução CVM 175 · Versão e prevalência: Leitura específica das cláusulas indicadas; condições e conflitos preservados. Seleção documental atual não comprova vigência jurídica por data isolada.</a:t>
            </a:r>
          </a:p>
          <a:p>
            <a:r>
              <a:t>CNPJ 55563624000109 · Adaptação à Resolução CVM 175 · Regulamento · ID 1192614 · 2026-04-30 · versão 1 · p. 13 · 4.11 · https://fnet.bmfbovespa.com.br/fnet/publico/visualizarDocumento?id=1192614</a:t>
            </a:r>
          </a:p>
          <a:p>
            <a:r>
              <a:t>CNPJ 55563624000109 · Adaptação à Resolução CVM 175 · Excerto da fonte:</a:t>
            </a:r>
          </a:p>
          <a:p>
            <a:r>
              <a:t>4.11 Nos termos dos artigos 45, parágrafo 7º, e 47 parágrafo único do Anexo Normativo II à Resolução CVM 175, uma  vez que as Cotas são destinadas exclusivamente a Investidores Profissionais, a Classe poderá ter até 100% (cem  por cento) de seu Patrimônio Líquido alocado em Cotas da Classe Investida, as quais são emitidas pela Classe  Investida.</a:t>
            </a:r>
          </a:p>
          <a:p>
            <a:r>
              <a:t>CNPJ 55563624000109 · Adaptação à Resolução CVM 175 · Regulamento · ID 1192614 · 2026-04-30 · versão 1 · p. 31 · 15.1.1 · https://fnet.bmfbovespa.com.br/fnet/publico/visualizarDocumento?id=1192614</a:t>
            </a:r>
          </a:p>
          <a:p>
            <a:r>
              <a:t>CNPJ 55563624000109 · Adaptação à Resolução CVM 175 · Excerto da fonte:</a:t>
            </a:r>
          </a:p>
          <a:p>
            <a:r>
              <a:t>15.1.1 Riscos de Crédito:</a:t>
            </a:r>
          </a:p>
          <a:p>
            <a:r>
              <a:t> (i) Risco de concentração na Classe Investida. Nos termos do presente Regulamento, a Classe  deverá manter alocado, no mínimo, 67% (sessenta e sete por cento) do Patrimônio Líquido nas Cotas  da Classe Investida. Alterações na condição econômico-financeira e na expectativa de desempenho ou  resultados da Classe Investida poderão, isolada ou cumulativamente, afetar negativamente o  rendimento do investimento nas Cotas, de forma mais severa do que se a Classe adotasse uma  estratégia de investimento de maior diversificação. O risco associado às aplicações de qualquer fundo  de investimento é diretamente proporcional à concentração da sua carteira, sendo que, quanto maior  essa concentração, maior será a sua vulnerabilidade.</a:t>
            </a:r>
          </a:p>
          <a:p>
            <a:r>
              <a:t> (ii) Risco relativo à Classe Investida. Nos termos deste Anexo, a Classe deverá manter alocado, no  mínimo, 67% (sessenta e sete por cento) do Patrimônio Líquido em Cotas da Classe Investida. Os  investimentos realizados pela Classe Investida poderão estar sujeitos a flutuações típicas do mercado,  risco de crédito, risco sistêmico, condições adversas de liquidez e negociação atípica nos mercados de  atuação, bem como outros riscos diversos. Este Anexo não contém a descrição de todas as  características, incluindo os riscos, da Classe Investida.</a:t>
            </a:r>
          </a:p>
          <a:p>
            <a:r>
              <a:t> (iii) Risco Relativo ao Pagamento de Encargos da Classe Investida. Tendo em vista a estrutura da  Classe Investida – que emitiu cotas sêniores, cotas subordinadas mezanino e cotas subordinadas júnior  – em situação ordinária os encargos da Classe Investida são arcados pelas cotas subordinadas júnior,  que se subordinam às cotas subordinadas mezanino e às cotas sêniores para fins de amortização,  resgate e distribuição de rendimentos, não impactando, portanto, as Cotas da Classe Investida. Não  obstante o funcionamento da Classe Investida em situação ordinária, em cenários extraordinários, na  eventualidade do valor das cotas subordinadas júnior ficar reduzido a zero ou a valor negativo, os  encargos da Classe Investida conforme previstos em seu regulamento, inclusive mas não se limitando  as remunerações dos prestadores de serviços essenciais, passarão a ser arcados pelas cotas  subordinadas mezanino (que são as Cotas da Classe Investida), impactando no valor do investimento  da Classe na Classe Investida, e consequentemente, o investimento dos Cotistas na Classe.</a:t>
            </a:r>
          </a:p>
          <a:p>
            <a:r>
              <a:t> (iv) Riscos referentes à carteira da Classe Investida. Na forma do Anexo Normativo II da Resolução  CVM 175, a Classe Investida investe, direta ou indiretamente, no mínimo, 67% (sessenta e sete por  cento) do seu patrimônio em direitos creditórios originados pela Mercado Pago. O investimento em tais  direitos creditórios está sujeito a fatores de risco específicos, conforme detalhados no regulamento da  Classe Investida, incluindo, mas não se limitando a:</a:t>
            </a:r>
          </a:p>
          <a:p>
            <a:r>
              <a:t> (a) Risco de liquidez dos direitos creditórios. O investimento da Classe Investida em direitos  creditórios apresenta peculiaridades em relação às aplicações usuais da maioria dos  fundos de investimento brasileiros, haja vista que não existe, no Brasil, mercado  secundário com liquidez para tais direitos creditórios. Caso a Classe Investida precise  vender os direitos creditórios adquiridos, poderá não haver mercado comprador para  tais créditos, bem como o preço de alienação de tais direitos creditórios poderá refletir  essa falta de liquidez, causando perda ao patrimônio da Classe Investida e,  consequentemente, à Classe.</a:t>
            </a:r>
          </a:p>
          <a:p>
            <a:r>
              <a:t>CNPJ 55563624000109 · Adaptação à Resolução CVM 175 · Regulamento · ID 1192614 · 2026-04-30 · versão 1 · p. 28 · 13.2 · https://fnet.bmfbovespa.com.br/fnet/publico/visualizarDocumento?id=1192614</a:t>
            </a:r>
          </a:p>
          <a:p>
            <a:r>
              <a:t>CNPJ 55563624000109 · Adaptação à Resolução CVM 175 · Excerto da fonte:</a:t>
            </a:r>
          </a:p>
          <a:p>
            <a:r>
              <a:t>13.2 Em condições ordinárias, as Cotas da Classe Investida não pagarão remuneração aos prestadores de serviços  essenciais da Classe Investida, nos termos de seu regulamento. Não obstante, em cenário extraordinário  conforme descrito no item 15.1.1 (iii), e para fins de atendimento ao artigo 98 da parte geral da Resolução CVM  175, a taxa máxima de administração corresponderá ao valor da Taxa Mínima de Administração acrescida de até  0,10% (dez centésimos por cento) ao ano incidente sobre o patrimônio líquido da Classe Investida,  compreendendo a taxa de administração da Classe Investida geridos por partes relacionadas ao GESTOR, cujas  cotas não estão admitidas à negociação em mercado organizado, conforme prevista no regulamento da Classe  Investida (“Taxa Máxima de Administração” e, quando referida em conjunto com a Taxa Mínima de  Administração, como “Taxa de Administração”). Caso a taxa de administração da Classe Investida não se  enquadre no disposto acima, estará disposta no regulamento da Classe Investida.</a:t>
            </a:r>
          </a:p>
          <a:p>
            <a:r>
              <a:t>CNPJ 55563624000109 · Adaptação à Resolução CVM 175 · Condição: Documentos atuais selecionados no inventário por categoria/escopo; a data documental isolada não comprova vigência jurídica.</a:t>
            </a:r>
          </a:p>
          <a:p>
            <a:r>
              <a:t>CNPJ 55563624000109 · Adaptação à Resolução CVM 175 · Versão e prevalência: Documentos atuais selecionados no inventário por categoria/escopo; a data documental isolada não comprova vigência jurídica.</a:t>
            </a:r>
          </a:p>
          <a:p>
            <a:r>
              <a:t>CNPJ 55563624000109 · Adaptação à Resolução CVM 175 · Resumo do histórico: {"count": 3, "dates": ["2024-07-03", "2025-01-31", "2026-01-31"], "document_count": 3, "sources": [{"document_id": "1178840", "title": "Demonstrações Financeiras", "reference_date": "2026-01-31", "version": "1", "page": 29, "url": "https://fnet.bmfbovespa.com.br/fnet/publico/visualizarDocumento?id=1178840", "sha256": "c458e98664c5c907ddb5a05a94b120bed4e05295b2bfc420f5ba69af0a229abe"}, {"document_id": "891861", "title": "Demonstrações Financeiras", "reference_date": "2025-01-31", "version": "1", "page": 30, "url": "https://fnet.bmfbovespa.com.br/fnet/publico/visualizarDocumento?id=891861", "sha256": "e9cb9e6ddbe505fe068cfcac33605165a98313489de0d3ce6d4d238263c3f3e7"}, {"document_id": "691674", "title": "Instrumento Particular de Emissão de Cotas", "reference_date": "2024-07-03", "version": "1", "page": 1, "url": "https://fnet.bmfbovespa.com.br/fnet/publico/visualizarDocumento?id=691674", "sha256": "78bf7b350f1785beae5f43bd209b5ed19e863cb9a2cff01542aac11dd63ca554"}], "reference": {"path": "history/55563624000109.json", "criterion_id": "res175", "total_count": 3, "preview_count": 3, "full_text_deferred": true, "sha256": "7835d573fb58a3c19adf5b8ecc2aee2bdbb9a88f7a0c0209b5f262b64c7522e3"}}</a:t>
            </a:r>
          </a:p>
          <a:p>
            <a:r>
              <a:t>CNPJ 62552447000120 · Adaptação à Resolução CVM 175 · Regulamento · ID 1200623 · 21/05/2026 · versão Consolidado21/05/2026 aprovado pelo ato1200625 · p. 1 · ParteGeral1.1 · https://fnet.bmfbovespa.com.br/fnet/publico/visualizarDocumento?id=1200623</a:t>
            </a:r>
          </a:p>
          <a:p>
            <a:r>
              <a:t>CNPJ 62552447000120 · Adaptação à Resolução CVM 175 · Excerto da fonte:</a:t>
            </a:r>
          </a:p>
          <a:p>
            <a:r>
              <a:t>1.1 V CDT 1 FUNDO DE INVESTIMENTO EM DIREITOS CREDITÓRIOS RESPONSABILIDADE LIMITADA (“Fundo”), regido pela Lei n.º 10.406, de 10 de janeiro de 2002, conforme alterada (“Código Civil”), pela Resolução da Comissão de Valores Mobiliários (“CVM”) n.º 175, de 23 de dezembro de 2022, conf orme alterada (“Resolução CVM 175”), que inclui sua Parte Geral (“Parte Geral da Resolução CVM 175”) e seu Anexo Normativo II (“Anexo Normativo II”) terá como principais características: Classe de Cotas Classe única. Indeterminado, exceto se de outra forma vier a ser deliberado pelos titulares</a:t>
            </a:r>
          </a:p>
          <a:p>
            <a:r>
              <a:t>CNPJ 62552447000120 · Adaptação à Resolução CVM 175 · Regulamento · ID 1200623 · 21/05/2026 · versão Consolidado21/05/2026 aprovado pelo ato1200625 · p. 2 · ParteGeral1.6(v) · https://fnet.bmfbovespa.com.br/fnet/publico/visualizarDocumento?id=1200623</a:t>
            </a:r>
          </a:p>
          <a:p>
            <a:r>
              <a:t>CNPJ 62552447000120 · Adaptação à Resolução CVM 175 · Excerto da fonte:</a:t>
            </a:r>
          </a:p>
          <a:p>
            <a:r>
              <a:t>V CDT 1 FUNDO DE INVESTIMENTO EM DIREITOS CREDITÓRIOS RESPONSABILIDADE LIMITADA direitos e obrigações distintos das demais Classes, nos termos do art. 5º da Parte Geral da Resolução CVM 175. 1.4 O Anexo de cada classe de Cotas (“Classe”), conforme aplicável, dispõe, sem prejuízo de outros requisitos e inf ormações previstos na regulamentação, sobre: (i) características gerais, incluindo a indicação dos demais prestadores de serviços; (ii) responsabilidade dos Cotistas e regime de insolvência; (iii) características, direitos, condições de emissão, subscrição, integralização,</a:t>
            </a:r>
          </a:p>
          <a:p>
            <a:r>
              <a:t>CNPJ 62552447000120 · Adaptação à Resolução CVM 175 · Regulamento · ID 1200623 · 21/05/2026 · versão Consolidado21/05/2026 aprovado pelo ato1200625 · p. 16 · AnexoI5.1 · https://fnet.bmfbovespa.com.br/fnet/publico/visualizarDocumento?id=1200623</a:t>
            </a:r>
          </a:p>
          <a:p>
            <a:r>
              <a:t>CNPJ 62552447000120 · Adaptação à Resolução CVM 175 · Excerto da fonte:</a:t>
            </a:r>
          </a:p>
          <a:p>
            <a:r>
              <a:t>5.1 A Classe não possui Subclasse. As características, os direitos e as condições de emissão, distribuição, subscrição, integralização, remuneração, Amortização e resgate das Cotas estão descritos neste Capítulo e no Capítulo 6. 5.1.1 Não obstante, por deliberação conjunta dos Prestadores de Serviços Essenciais e mediante aprovação em Assembleia Especial, poderá haver a divisão de Classes em Subclasses, nos termos da Resolução CVM 175. Após a primeira emissão de Cotas, novas emissões de Cotas (de quaisquer Subclasses) dependem de aprovação dos Cotistas. 5.2 As Cotas são escrit</a:t>
            </a:r>
          </a:p>
          <a:p>
            <a:r>
              <a:t>CNPJ 62552447000120 · Adaptação à Resolução CVM 175 · Versão e prevalência: Leitura específica das cláusulas indicadas; condições e conflitos preservados. Seleção documental atual não comprova vigência jurídica por data isolada.</a:t>
            </a:r>
          </a:p>
          <a:p>
            <a:r>
              <a:t>CNPJ 62552447000120 · Adaptação à Resolução CVM 175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"res175", "total_count": 1, "preview_count": 1, "full_text_deferred": true, "sha256": "d95db8c0613d67ee84118c734588665265ea6b02f86a0318d6a844cbe1d0f82f"}}</a:t>
            </a:r>
          </a:p>
          <a:p>
            <a:r>
              <a:t>CNPJ 63953620000165 · Adaptação à Resolução CVM 175 · Anexo ao Regulamento · ID 1222863 · 02/06/2026 · versão AnexoConsignadoPrivado02/06/2026 · p. 1 · AnexoI1.1 · https://fnet.bmfbovespa.com.br/fnet/publico/visualizarDocumento?id=1222863</a:t>
            </a:r>
          </a:p>
          <a:p>
            <a:r>
              <a:t>CNPJ 63953620000165 · Adaptação à Resolução CVM 175 · Excerto da fonte:</a:t>
            </a:r>
          </a:p>
          <a:p>
            <a:r>
              <a:t>1.1 As principais características da Classe Consignado Privado (para fins deste Anexo, “Classe”) estão descritas abaixo: Tipo de Condomínio Fechado. Indeterminado, exceto se de outra forma vier a ser deliberado pelos Cotistas Prazo de Duração reunidos em Assembleia Especial de Cotistas. (“Prazo de Duração”) Tipo “Financeiro”. Classificação ANBIMA Foco de atuação “Créditos Consignados”. O obje</a:t>
            </a:r>
          </a:p>
          <a:p>
            <a:r>
              <a:t>CNPJ 63953620000165 · Adaptação à Resolução CVM 175 · Anexo ao Regulamento · ID 1222863 · 02/06/2026 · versão AnexoConsignadoPrivado02/06/2026 · p. 9 · 5.1 · https://fnet.bmfbovespa.com.br/fnet/publico/visualizarDocumento?id=1222863</a:t>
            </a:r>
          </a:p>
          <a:p>
            <a:r>
              <a:t>CNPJ 63953620000165 · Adaptação à Resolução CVM 175 · Excerto da fonte:</a:t>
            </a:r>
          </a:p>
          <a:p>
            <a:r>
              <a:t>5.1 A Classe possui 2 (duas) Subclasses de Cotas, quais sejam, a subclasse sênior (“Subclasse Sênior” e “Cotas Seniores”) e a subclasse subordinada (“Subclasse Subordinada” e “Cotas Subordinadas” – as Cotas Subordinadas e Cotas Seniores, quando referidas em conjunto, “Cotas”). As características, os direitos e as condições de emissão, distribuição, subscrição, integralização, remuneração, amortização e resgate das Cotas estão descritos neste Capítulo e nos respectivos Apêndices. 5.2 As Cotas são escriturais, nominativas e correspondem a frações ideais do patrimônio da Classe, cuja propriedade presume-se: (i) pelo</a:t>
            </a:r>
          </a:p>
          <a:p>
            <a:r>
              <a:t>CNPJ 63953620000165 · Adaptação à Resolução CVM 175 · Condição: Vigência efetiva da versão 02/06/2026 não inferida da data de publicação; não aplicar a fev/26 automaticamente.</a:t>
            </a:r>
          </a:p>
          <a:p>
            <a:r>
              <a:t>CNPJ 63953620000165 · Adaptação à Resolução CVM 175 · Versão e prevalência: Leitura específica das cláusulas indicadas; condições e conflitos preservados. Seleção documental atual não comprova vigência jurídica por data isolada.</a:t>
            </a:r>
          </a:p>
          <a:p>
            <a:r>
              <a:t>CNPJ 63953620000165 · Adaptação à Resolução CVM 175 · Resumo do histórico: {"count": 9, "dates": ["2026-04-28", "2026-05-08", "2026-05-15"], "document_count": 3, "sources": [{"document_id": "1327859", "title": "Demonstrações Financeiras - Fusão, cisão e incorporação", "reference_date": "2026-05-15", "version": "1", "page": 31, "clause": "15.000.000", "url": "https://fnet.bmfbovespa.com.br/fnet/publico/visualizarDocumento?id=1327859", "sha256": "dca1c68babb97f887528c3e2e47596a9c30f507b067981a35655b2f2da9c8054"}, {"document_id": "1298691", "title": "Demonstrações Financeiras - Fusão, cisão e incorporação", "reference_date": "2026-05-08", "version": "1", "page": 32, "url": "https://fnet.bmfbovespa.com.br/fnet/publico/visualizarDocumento?id=1298691", "sha256": "58c570d9b8d4d265330d3db3ea81c435b8e44a6dab4002aa37790652a1ee9819"}, {"document_id": "1282180", "title": "Demonstrações Financeiras - Fusão, cisão e incorporação", "reference_date": "2026-04-28", "version": "1", "page": 32, "clause": "15.000.000", "url": "https://fnet.bmfbovespa.com.br/fnet/publico/visualizarDocumento?id=1282180", "sha256": "afaaa0e6809be4385e5bdb6c911aac582032c5bdbac3d7750234bf9eaf00438a"}], "reference": {"path": "history/63953620000165.json", "criterion_id": "res175", "total_count": 9, "preview_count": 3, "full_text_deferred": true, "sha256": "a7b89077f5e21098c2d601c303faabc3ff6b9729f89d8afecdc60fe1404720c1"}}</a:t>
            </a:r>
          </a:p>
          <a:p>
            <a:r>
              <a:t>CNPJ 54871427000194 · Duração e público-alvo · Demonstrações Financeiras - Fusão, cisão e incorporação · ID 1219522 · 2026-02-02 · versão 1 · p. 11 · https://fnet.bmfbovespa.com.br/fnet/publico/visualizarDocumento?id=1219522</a:t>
            </a:r>
          </a:p>
          <a:p>
            <a:r>
              <a:t>CNPJ 54871427000194 · Duração e público-alvo · Excerto da fonte:</a:t>
            </a:r>
          </a:p>
          <a:p>
            <a:r>
              <a:t>O Consignado Delta Receivables I Fundo de Investimento em Direitos Creditórios possui uma classe única de cotas, denominada Classe Única de Responsabilidade Limitada do Consignado Delta Receivables I Fundo de Investimento em Direitos Creditórios (“Classe”). A Classe foi constituída em 19 de abril de 2024, sob a forma de condomínio fechado e iniciou suas operações em 27 de maio de 2024. A Classe possui prazo de duração Indeterminado.</a:t>
            </a:r>
          </a:p>
          <a:p>
            <a:r>
              <a:t>CNPJ 54871427000194 · Duração e público-alvo · Condição: Documentos atuais selecionados no inventário por categoria/escopo; a data documental isolada não comprova vigência jurídica.</a:t>
            </a:r>
          </a:p>
          <a:p>
            <a:r>
              <a:t>CNPJ 54871427000194 · Duração e público-alvo · Versão e prevalência: Documentos atuais selecionados no inventário por categoria/escopo; a data documental isolada não comprova vigência jurídica.</a:t>
            </a:r>
          </a:p>
          <a:p>
            <a:r>
              <a:t>CNPJ 54871427000194 · Duração e público-alvo · Resumo do histórico: {"count": 11, "dates": ["2024-12-31", "2025-01-01", "2025-12-31"], "document_count": 3, "sources": [{"document_id": "1151805", "title": "Demonstrações Financeiras", "reference_date": "2025-12-31", "version": "1", "page": 11, "url": "https://fnet.bmfbovespa.com.br/fnet/publico/visualizarDocumento?id=1151805", "sha256": "f1cea70b152968bf96ef9221b27225953cb20aeef487b2798db3c25e11b528d4"}, {"document_id": "869529", "title": "Demonstrações Financeiras", "reference_date": "2025-01-01", "version": "1", "page": 11, "url": "https://fnet.bmfbovespa.com.br/fnet/publico/visualizarDocumento?id=869529", "sha256": "9a93a9369ac8efdbc54ff8fcee3ccac3abf88edab4807b9323d3852450771b2a"}, {"document_id": "870070", "title": "Demonstrações Financeiras", "reference_date": "2024-12-31", "version": "1", "page": 11, "url": "https://fnet.bmfbovespa.com.br/fnet/publico/visualizarDocumento?id=870070", "sha256": "9a93a9369ac8efdbc54ff8fcee3ccac3abf88edab4807b9323d3852450771b2a"}], "reference": {"path": "history/54871427000194.json", "criterion_id": "duration_investors", "total_count": 11, "preview_count": 3, "full_text_deferred": true, "sha256": "35d7cd99be50c7287c9fb675cf4f2e736002315295a225a9efa79c8d9186d874"}}</a:t>
            </a:r>
          </a:p>
          <a:p>
            <a:r>
              <a:t>CNPJ 60010416000112 · Duração e público-alvo · Demonstrações Financeiras - Fusão, cisão e incorporação · ID 1298690 · 2026-05-08 · versão 1 · p. 9 · https://fnet.bmfbovespa.com.br/fnet/publico/visualizarDocumento?id=1298690</a:t>
            </a:r>
          </a:p>
          <a:p>
            <a:r>
              <a:t>CNPJ 60010416000112 · Duração e público-alvo · Excerto da fonte:</a:t>
            </a:r>
          </a:p>
          <a:p>
            <a:r>
              <a:t>1. Contexto operacional  O MT Consignado Privado I Fundo de Investimento em Direitos Creditórios (“Fundo”) possui uma  classe única de cotas, denominada Classe Única do MT I Consignado Privado I Fundo de  Investimento em Direitos Creditórios Responsabilidade Limitada (“Classe”). A Classe foi  constituída em 20 de março de 2025, sob a forma de condomínio fechado e iniciou suas  operações em 21 de março de 2025. A Classe possui prazo de duração indeterminado.</a:t>
            </a:r>
          </a:p>
          <a:p>
            <a:r>
              <a:t>CNPJ 60010416000112 · Duração e público-alvo · Demonstrações Financeiras - Fusão, cisão e incorporação · ID 1298690 · 2026-05-08 · versão 1 · p. 22 · https://fnet.bmfbovespa.com.br/fnet/publico/visualizarDocumento?id=1298690</a:t>
            </a:r>
          </a:p>
          <a:p>
            <a:r>
              <a:t>CNPJ 60010416000112 · Duração e público-alvo · Excerto da fonte:</a:t>
            </a:r>
          </a:p>
          <a:p>
            <a:r>
              <a:t>(ii) Riscos do mercado secundário: A Classe é constituída sob a forma de condomínio  fechado, de modo que as Cotas Subordinadas somente serão resgatadas em virtude da  liquidação da Classe e as Cotas Seniores ao término do seu prazo de duração, conforme  estabelecidos nos respectivos Suplementos. Uma vez que o prazo de duração da Classe  é indeterminado, o Cotista titular das Cotas Subordinadas não terá liquidez em seu  investimento na Classe, exceto (a) por ocasião das amortizações e dos resgates, nos  termos do Regulamento; (b) por meio da alienação de suas Cotas no mercado  secundário, observado, neste caso, que sua alienação apenas é permitida para o Público-  Alvo das Cotas Subordinadas; ou (c) na liquidação antecipada do Fundo ou da Classe.</a:t>
            </a:r>
          </a:p>
          <a:p>
            <a:r>
              <a:t> Além disso, atualmente, o mercado secundário de cotas de fundos de investimento  apresenta baixa liquidez, o que pode dificultar a venda das Cotas ou ocasionar a obtenção  de um preço de venda que cause perda de patrimônio ao Cotista. Não há qualquer  garantia da Administradora, da Gestora, da consultora ou do Custodiante em relação à  possibilidade de venda das Cotas no mercado secundário ou ao preço obtido por elas,  ou mesmo garantia de saída ao Cotista.</a:t>
            </a:r>
          </a:p>
          <a:p>
            <a:r>
              <a:t>CNPJ 60010416000112 · Duração e público-alvo · Condição: Documentos atuais selecionados no inventário por categoria/escopo; a data documental isolada não comprova vigência jurídica.</a:t>
            </a:r>
          </a:p>
          <a:p>
            <a:r>
              <a:t>CNPJ 60010416000112 · Duração e público-alvo · Versão e prevalência: Documentos atuais selecionados no inventário por categoria/escopo; a data documental isolada não comprova vigência jurídica.</a:t>
            </a:r>
          </a:p>
          <a:p>
            <a:r>
              <a:t>CNPJ 60010416000112 · Duração e público-alvo · Resumo do histórico: {"count": 9, "dates": ["2025-11-30", "2026-03-18", "2026-04-16"], "document_count": 3, "sources": [{"document_id": "1282181", "title": "Demonstrações Financeiras - Fusão, cisão e incorporação", "reference_date": "2026-04-16", "version": "1", "page": 23, "url": "https://fnet.bmfbovespa.com.br/fnet/publico/visualizarDocumento?id=1282181", "sha256": "b1c6566e43a00bcd00c8a7f30c77b7f86e351bd8e355bbea113f46d1dafda703"}, {"document_id": "1224477", "title": "Demonstrações Financeiras - Fusão, cisão e incorporação", "reference_date": "2026-03-18", "version": "1", "page": 23, "url": "https://fnet.bmfbovespa.com.br/fnet/publico/visualizarDocumento?id=1224477", "sha256": "0751bf0a75bc3b44c2748f5000226665c6ec6698a90c4dc6170b4e6c187759ae"}, {"document_id": "1126154", "title": "Demonstrações Financeiras", "reference_date": "2025-11-30", "version": "1", "page": 23, "url": "https://fnet.bmfbovespa.com.br/fnet/publico/visualizarDocumento?id=1126154", "sha256": "a01e7ccf88c548f12c95cba8526d7efbef6b585c112cd4668eca781c292090b0"}], "reference": {"path": "history/60010416000112.json", "criterion_id": "duration_investors", "total_count": 9, "preview_count": 3, "full_text_deferred": true, "sha256": "8e2bd813f4c51cf01f6bfaad164bafe69d2bbb192f753eac92da3a01c2e63046"}}</a:t>
            </a:r>
          </a:p>
          <a:p>
            <a:r>
              <a:t>CNPJ 62696791000193 · Duração e público-alvo · Regulamento · ID 1143317 · 2026-03-20 · versão 1 · p. 18 · 8.8.1 · https://fnet.bmfbovespa.com.br/fnet/publico/visualizarDocumento?id=1143317</a:t>
            </a:r>
          </a:p>
          <a:p>
            <a:r>
              <a:t>CNPJ 62696791000193 · Duração e público-alvo · Excerto da fonte:</a:t>
            </a:r>
          </a:p>
          <a:p>
            <a:r>
              <a:t>8.8.1 As Chamadas de Capital para a realização de investimentos serão realizadas a qualquer  momento durante o Período de Investimento e estarão limitadas ao valor do capital subscrito  de cada Cotista. As Chamadas de Capital para o pagamento de despesas e encargos do Fundo  poderão ser realizadas a qualquer momento durante o Prazo de Duração, mas não estarão  limitadas ao valor do capital subscrito de cada Cotista.</a:t>
            </a:r>
          </a:p>
          <a:p>
            <a:r>
              <a:t>CNPJ 62696791000193 · Duração e público-alvo · Regulamento · ID 1143317 · 2026-03-20 · versão 1 · p. 20 · 9.5.1 · https://fnet.bmfbovespa.com.br/fnet/publico/visualizarDocumento?id=1143317</a:t>
            </a:r>
          </a:p>
          <a:p>
            <a:r>
              <a:t>CNPJ 62696791000193 · Duração e público-alvo · Excerto da fonte:</a:t>
            </a:r>
          </a:p>
          <a:p>
            <a:r>
              <a:t>9.5.1 Ao f inal do Prazo de Duração ou quando da liquidação antecipada da Classe, todas as Cotas  deverão ter seu valor integralmente amortizado. Não havendo recursos em moeda corrente  nacional suficientes para realizar o pagamento da amortização total das Cotas em circulação à  época da liquidação da Classe, o Administrador deverá convocar a Assembleia Especial de  Cotistas a fim de deliberar sobre a prorrogação do Prazo de Duração ou o resgate de Cotas em  Direitos Creditórios do Agronegócio e/ou Outros Ativos .</a:t>
            </a:r>
          </a:p>
          <a:p>
            <a:r>
              <a:t>10 ASSEMBLEIA ESPECIAL DE COTISTAS</a:t>
            </a:r>
          </a:p>
          <a:p>
            <a:r>
              <a:t>CNPJ 62696791000193 · Duração e público-alvo · Regulamento · ID 1143317 · 2026-03-20 · versão 1 · p. 23 · 11.1 · https://fnet.bmfbovespa.com.br/fnet/publico/visualizarDocumento?id=1143317</a:t>
            </a:r>
          </a:p>
          <a:p>
            <a:r>
              <a:t>CNPJ 62696791000193 · Duração e público-alvo · Excerto da fonte:</a:t>
            </a:r>
          </a:p>
          <a:p>
            <a:r>
              <a:t>11.1 A Classe será liquidada (i) em caso da liquidação antecipada deliberada em Assembleia Especial de  Cotistas; ou (ii) pelo encerramento do Prazo de Duração da Classe.</a:t>
            </a:r>
          </a:p>
          <a:p>
            <a:r>
              <a:t>CNPJ 62696791000193 · Duração e público-alvo · Condição: Documentos atuais selecionados no inventário por categoria/escopo; a data documental isolada não comprova vigência jurídica.</a:t>
            </a:r>
          </a:p>
          <a:p>
            <a:r>
              <a:t>CNPJ 62696791000193 · Duração e público-alvo · Versão e prevalência: Documentos atuais selecionados no inventário por categoria/escopo; a data documental isolada não comprova vigência jurídica.</a:t>
            </a:r>
          </a:p>
          <a:p>
            <a:r>
              <a:t>CNPJ 55563624000109 · Duração e público-alvo · AGE · ID 1306189 · 2026-08-25 · versão 1 · p. 1 · 4.1 · https://fnet.bmfbovespa.com.br/fnet/publico/visualizarDocumento?id=1306189</a:t>
            </a:r>
          </a:p>
          <a:p>
            <a:r>
              <a:t>CNPJ 55563624000109 · Duração e público-alvo · Excerto da fonte:</a:t>
            </a:r>
          </a:p>
          <a:p>
            <a:r>
              <a:t>4.1 Nos termos do Anexo da Classe, aprovar:</a:t>
            </a:r>
          </a:p>
          <a:p>
            <a:r>
              <a:t>(i) a liquidação da Subclasse A da Classe, considerando o encerramento do seu prazo de duração, por meio do  resgate integral de Cotas da Subclasse A com entrega de financeiro aos Cotistas. Será utilizada como data  base no cálculo da cota do dia 25 de agosto de 2026, com efetivação no fechamento do dia 27 de agosto de  2026; e</a:t>
            </a:r>
          </a:p>
          <a:p>
            <a:r>
              <a:t>(ii) a liquidação antecipada da Subclasse C da Classe, por meio do resgate integral de Cotas da Subclasse C com  entrega de financeiro aos Cotistas. Será utilizada como data base no cálculo da cota do dia 25 de agosto de  2026, com efetivação no fechamento do dia 27 de agosto de 2026.</a:t>
            </a:r>
          </a:p>
          <a:p>
            <a:r>
              <a:t>CNPJ 55563624000109 · Duração e público-alvo · Condição: Documentos atuais selecionados no inventário por categoria/escopo; a data documental isolada não comprova vigência jurídica.</a:t>
            </a:r>
          </a:p>
          <a:p>
            <a:r>
              <a:t>CNPJ 55563624000109 · Duração e público-alvo · Versão e prevalência: Documentos atuais selecionados no inventário por categoria/escopo; a data documental isolada não comprova vigência jurídica.</a:t>
            </a:r>
          </a:p>
          <a:p>
            <a:r>
              <a:t>CNPJ 55563624000109 · Duração e público-alvo · Resumo do histórico: {"count": 6, "dates": ["2026-04-30"], "document_count": 2, "sources": [{"document_id": "1192614", "title": "Regulamento", "reference_date": "2026-04-30", "version": "1", "page": "9, 15, 45-50", "url": "https://fnet.bmfbovespa.com.br/fnet/publico/visualizarDocumento?id=1192614", "sha256": "f56e63ace0acde41d2f47fb48f1ac7f3f7df5e2d32de092d7c5e075a52516632"}, {"document_id": "1192614", "title": "Regulamento", "reference_date": "2026-04-30", "version": "1", "page": 5, "clause": "4.7.1", "url": "https://fnet.bmfbovespa.com.br/fnet/publico/visualizarDocumento?id=1192614", "sha256": "f56e63ace0acde41d2f47fb48f1ac7f3f7df5e2d32de092d7c5e075a52516632"}, {"document_id": "1192603", "title": "AGE", "reference_date": "2026-04-30", "version": "1", "page": 1, "clause": "4.1", "url": "https://fnet.bmfbovespa.com.br/fnet/publico/visualizarDocumento?id=1192603", "sha256": "f53ff2a5b715f5365536305a098f9cc0c54b5a01128942d784915bed8eeb0288"}], "reference": {"path": "history/55563624000109.json", "criterion_id": "duration_investors", "total_count": 6, "preview_count": 3, "full_text_deferred": true, "sha256": "7835d573fb58a3c19adf5b8ecc2aee2bdbb9a88f7a0c0209b5f262b64c7522e3"}}</a:t>
            </a:r>
          </a:p>
          <a:p>
            <a:r>
              <a:t>CNPJ 62552447000120 · Duração e público-alvo · Regulamento · ID 1200623 · 2026-05-21 · versão 1 · p. 22 · 10.4 · https://fnet.bmfbovespa.com.br/fnet/publico/visualizarDocumento?id=1200623</a:t>
            </a:r>
          </a:p>
          <a:p>
            <a:r>
              <a:t>CNPJ 62552447000120 · Duração e público-alvo · Excerto da fonte:</a:t>
            </a:r>
          </a:p>
          <a:p>
            <a:r>
              <a:t>10.4 Tendo em vista que a Classe é exclusivamente destinada a Investidores Profissionais, não serão  aplicáveis as vedações ao direito a voto em assembleia de cotistas dispostas no artigo 78 da Resolução  CVM 175, conf orme disposto no artigo 114 da ref erida Resolução.</a:t>
            </a:r>
          </a:p>
          <a:p>
            <a:r>
              <a:t>CNPJ 62552447000120 · Duração e público-alvo · Regulamento · ID 1200623 · 2026-05-21 · versão 1 · p. 35 · https://fnet.bmfbovespa.com.br/fnet/publico/visualizarDocumento?id=1200623</a:t>
            </a:r>
          </a:p>
          <a:p>
            <a:r>
              <a:t>CNPJ 62552447000120 · Duração e público-alvo · Excerto da fonte:</a:t>
            </a:r>
          </a:p>
          <a:p>
            <a:r>
              <a:t>ativos desses emissores, causando perdas à Classe e ao Cotista. Além disso, a f alta de capacidade ou disposição de pagar por qualquer dos emissores dos Ativos Financeiros de Liquidez ou das contrapartes nas transações que compõem a Carteira causará perdas à Classe, e o que também poderá incorrer em custos para f ins de recuperação de seus recebíveis.</a:t>
            </a:r>
          </a:p>
          <a:p>
            <a:r>
              <a:t>(v) Riscos associados aos Devedores: no caso de Devedores no âmbito das operações de consignado privado, a sua capacidade de pagamento poderá ser af etada se, por exemplo, o Devedor tiver o seu contrato de emprego rescindido ou em virtude de decisão judicial, o Devedor for obrigado a pagar alimentos, que têm prioridade sobre o empréstimo para f ins de desconto na f 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 etar a rentabilidade da Classe. Já no caso de Devedores no âmbito das operações de Saque-aniversário, como os Direitos Creditórios a serem endossados à Classe serão descontados pelo FGTS da remuneração do Devedor, na ocorrência de qualquer evento que, nos termos da legislação aplicável, determine o pagamento antecipado do Saque-aniversário ao Devedor, a exemplo do falecimento do Devedor, dentre outros, as parcelas do Saque- aniversário serão pagas antecipadamente e a Classe deverá utilizar tais montantes no pré-pagamento dos Direitos Creditórios. Nesta hipótese, a Classe poderá não encontrar Direitos Creditórios disponíveis para serem adquiridos pela Classe, o que poderá af etar a rentabilidade da Classe.</a:t>
            </a:r>
          </a:p>
          <a:p>
            <a:r>
              <a:t>Risco de liquidez</a:t>
            </a:r>
          </a:p>
          <a:p>
            <a:r>
              <a:t>(i) Risco de liquidez: consiste no risco de redução ou inexistência de demanda pelos ativos que compõem a Classe nos respectivos mercados em que são negociados, devido às condições específicas desses ativos ou aos mercados em que são negociados. Devido a esses riscos, o Gestor poderá encontrar dificuldades em liquidar posições ou negociar esses ativos pelo preço e prazo desejados, de acordo com a estratégia de gestão adotada pela Classe, que permanecerá exposto, durante o período de baixa liquidez, aos riscos associados a esses ativos e posições assumidas em mercados de derivativos, se houver, que poderão até exigir que o Gestor aceite descontos em seus preços para realizar negociações no mercado. Esses f atores poderão prejudicar o pagamento de Amortizações ao Cotista, nos valores e dentro dos termos aqui estabelecidos.</a:t>
            </a:r>
          </a:p>
          <a:p>
            <a:r>
              <a:t>(ii) Riscos do mercado secundário: A Classe é constituída sob a f orma de condomínio fechado, de modo que as Cotas somente serão resgatadas em virtude da liquidação da Classe. Uma vez que o Prazo de Duração da Classe é indeterminado, o Cotista titular das Cotas não terá liquidez em seu investimento na Classe, exceto</a:t>
            </a:r>
          </a:p>
          <a:p>
            <a:r>
              <a:t>(a) por ocasião das Amortizações e dos resgates, nos termos deste Regulamento; (b) por meio da alienação de suas Cotas no mercado secundário; ou (c) na liquidação antecipada do FUNDO ou da Classe.</a:t>
            </a:r>
          </a:p>
          <a:p>
            <a:r>
              <a:t>Além disso, atualmente, o mercado secundário de cotas de fundos de investimento apresenta baixa liquidez, o que pode dificultar a venda das Cotas ou ocasionar a obtenção de um preço de venda que cause perda de patrimônio ao Cotista. Não há qualquer garantia do Administrador, do Gestor, da consultora ou do Custodiante em relação à possibilidade de venda das Cotas no mercado secundário ou ao preço obtido por elas, ou mesmo garantia de saída ao Cotista.</a:t>
            </a:r>
          </a:p>
          <a:p>
            <a:r>
              <a:t>Riscos específicos</a:t>
            </a:r>
          </a:p>
          <a:p>
            <a:r>
              <a:t>(i)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ficar inadimplente e, consequentemente, não haverá repasse à Classe do respectivo Direito Creditório, o que poderá resultar em perdas f inanceiras à Classe e aos Cotistas. Para os f ins deste Regulamento, “Empregador” signif ica a empresa com qual o Devedor mantém vínculo empregatício registrado junto à CTPS.</a:t>
            </a:r>
          </a:p>
          <a:p>
            <a:r>
              <a:t>(ii) Risco do Empregador não efetuar o desconto em folha: o repasse dos recursos oriundos dos Direitos Creditórios à Classe depende da realização, pelo Empregador, da escrituração da Consignação a ser</a:t>
            </a:r>
          </a:p>
          <a:p>
            <a:r>
              <a:t>CNPJ 62552447000120 · Duração e público-alvo · Regulamento · ID 1200623 · 2026-05-21 · versão 1 · p. 1 · 1.3 · https://fnet.bmfbovespa.com.br/fnet/publico/visualizarDocumento?id=1200623</a:t>
            </a:r>
          </a:p>
          <a:p>
            <a:r>
              <a:t>CNPJ 62552447000120 · Duração e público-alvo · Excerto da fonte:</a:t>
            </a:r>
          </a:p>
          <a:p>
            <a:r>
              <a:t>1.3 Durante o seu prazo de duração, o Fundo, por ato conjunto dos Prestadores de Serviços Essenciais,  poderá constituir diferentes Classes e Subclasses , sendo que cada Classe terá patrimônio segregado e</a:t>
            </a:r>
          </a:p>
          <a:p>
            <a:r>
              <a:t>CNPJ 62552447000120 · Duração e público-alvo · Condição: Documentos atuais selecionados no inventário por categoria/escopo; a data documental isolada não comprova vigência jurídica.</a:t>
            </a:r>
          </a:p>
          <a:p>
            <a:r>
              <a:t>CNPJ 62552447000120 · Duração e público-alvo · Versão e prevalência: Documentos atuais selecionados no inventário por categoria/escopo; a data documental isolada não comprova vigência jurídica.</a:t>
            </a:r>
          </a:p>
          <a:p>
            <a:r>
              <a:t>CNPJ 62552447000120 · Duração e público-alvo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"duration_investors", "total_count": 1, "preview_count": 1, "full_text_deferred": true, "sha256": "d95db8c0613d67ee84118c734588665265ea6b02f86a0318d6a844cbe1d0f82f"}}</a:t>
            </a:r>
          </a:p>
          <a:p>
            <a:r>
              <a:t>CNPJ 63953620000165 · Duração e público-alvo · Anexo ao Regulamento · ID 1222863 · 2026-06-02 · versão 1 · p. 2 · https://fnet.bmfbovespa.com.br/fnet/publico/visualizarDocumento?id=1222863</a:t>
            </a:r>
          </a:p>
          <a:p>
            <a:r>
              <a:t>CNPJ 63953620000165 · Duração e público-alvo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Duração e público-alvo · Anexo ao Regulamento · ID 1222863 · 2026-06-02 · versão 1 · p. 1 · 1.1 · https://fnet.bmfbovespa.com.br/fnet/publico/visualizarDocumento?id=1222863</a:t>
            </a:r>
          </a:p>
          <a:p>
            <a:r>
              <a:t>CNPJ 63953620000165 · Duração e público-alvo · Excerto da fonte:</a:t>
            </a:r>
          </a:p>
          <a:p>
            <a:r>
              <a:t>1.1 As principais características da Classe Consignado Privado (para fins deste Anexo, “Classe”) estão descritas  abaixo:</a:t>
            </a:r>
          </a:p>
          <a:p>
            <a:r>
              <a:t> Tipo de Condomínio Fechado.</a:t>
            </a:r>
          </a:p>
          <a:p>
            <a:r>
              <a:t> Indeterminado, exceto se de outra forma vier a ser deliberado pelos Cotistas  Prazo de Duração  reunidos em Assembleia Especial de Cotistas. (“Prazo de Duração”)  Tipo “Financeiro”.</a:t>
            </a:r>
          </a:p>
          <a:p>
            <a:r>
              <a:t> Classificação ANBIMA  Foco de atuação “Créditos Consignados”.</a:t>
            </a:r>
          </a:p>
          <a:p>
            <a:r>
              <a:t> O objetivo da classe é proporcionar aos seus Cotistas a valorização de suas Cotas  por meio da aplicação de seu Patrimônio Líquido (conforme definido abaixo) na  aquisição de: (i) “Direitos Creditórios Crédito Consignado”, representados por  cédula de crédito bancário regida pela Lei nº 10.931, emitida eletronicamente por  um devedor em favor do endossante (“CCB”) e, consequentemente, os recebíveis  decorrente de cada uma das parcelas vincendas, representando um empréstimo  consignado concedido pelo endossante ao devedor, e cujo pagamento ordinário  é feito por desconto de cada prestação vincenda de uma CCB na folha de  pagamentos do devedor (“Consignação”), efetuada pela Caixa Econômica  Federal, de acordo com a legislação aplicável e em conformidade com os  procedimentos estabelecidos no convênio celebrado entre o Endossante e a  Empresa de Tecnologia e Informações da Previdência – DATAPREV e paga na  Conta Vinculada do Endossante (“Convênio Consignado Privado”); e/ou (ii)  “Direitos Creditórios TVM”, representados por direitos, títulos e/ou valores  mobiliários representativos de créditos originados no âmbito de operações de  sociedades integrantes do conglomerado econômico de instituições financeiras  classificadas como S1 pelo BACEN, desde que não representem títulos de  emissão ou coobrigação de instituições financeiras, bem como cotas de fundos  de investimento que invistam preponderantemente nestes direitos, títulos e/ou  Objetivo  valores mobiliários (Direitos Creditórios TVM quando referidos em conjunto  com os Direitos Creditórios Consignado Privado, “Direitos Creditórios”)  observados todos os limites de composição e diversificação da carteira da Classe  (“Carteira”), estabelecidos neste Regulamento e na regulamentação aplicável.</a:t>
            </a:r>
          </a:p>
          <a:p>
            <a:r>
              <a:t> Subsidiariamente, a parcela do Patrimônio Líquido que não esteja alocada em  Direitos Creditórios poderá estar alocado em: (1) certificados de depósito  bancário (CDB) ou recibos de depósito bancário (RDB) com prazo máximo de  vencimento equivalente ao prazo remanescente do Período de Investimento, com  liquidez diária, emitidos por Parati Crédito, Financiamento e Investimento S.A.</a:t>
            </a:r>
          </a:p>
          <a:p>
            <a:r>
              <a:t> e/ou pelo Endossante (“Ativos de Liquidez MT”); e/ou (2) (i) moeda corrente  nacional; (ii) títulos do Tesouro SELIC, anteriormente denominado letra financeira  do Tesouro Nacional (LFT); (iii) certificados de depósito bancário (CDB) ou recibos  de depósito bancário (RDB) com prazo máximo de vencimento equivalente ao  prazo remanescente do Período de Investimento, com liquidez diária, emitidos  por (a) Itaú Unibanco S.A.; (b) Banco Bradesco S.A.; (c) Caixa Econômica Federal;</a:t>
            </a:r>
          </a:p>
          <a:p>
            <a:r>
              <a:t> (d) Banco do Brasil S.A.; (e) Banco Santander (Brasil) S.A.; (f) Banco BTG Pactual  S.A.; (g) Banco Sistema S.A. (“Instituições Autorizadas”); (iv) operações  compromissadas, desde que lastreadas nos títulos mencionados nas alíneas (i) a</a:t>
            </a:r>
          </a:p>
          <a:p>
            <a:r>
              <a:t> (iii) acima, emitidas por Instituições Autorizadas, com liquidez diária e vencimento</a:t>
            </a:r>
          </a:p>
          <a:p>
            <a:r>
              <a:t>CNPJ 63953620000165 · Duração e público-alvo · Anexo ao Regulamento · ID 1222863 · 2026-06-02 · versão 1 · p. 10 · 6.7.1 · https://fnet.bmfbovespa.com.br/fnet/publico/visualizarDocumento?id=1222863</a:t>
            </a:r>
          </a:p>
          <a:p>
            <a:r>
              <a:t>CNPJ 63953620000165 · Duração e público-alvo · Excerto da fonte:</a:t>
            </a:r>
          </a:p>
          <a:p>
            <a:r>
              <a:t>6.7.1 As Chamadas de Capital para a realização de investimentos serão realizadas a qualquer momento  durante o Período de Investimento e estarão limitadas ao valor do capital subscrito de cada Cotista. As  Chamadas de Capital para o pagamento de despesas e encargos do Fundo, com exceção de despesas  relacionadas à instrumentos de derivativos e/ou Encargos não previstos no âmbito deste regulamento,  poderão ser realizadas a qualquer momento durante o Prazo de Duração, mas não estarão limitadas ao  valor do capital subscrito de cada Cotista.</a:t>
            </a:r>
          </a:p>
          <a:p>
            <a:r>
              <a:t>CNPJ 63953620000165 · Duração e público-alvo · Condição: Documentos atuais selecionados no inventário por categoria/escopo; a data documental isolada não comprova vigência jurídica.</a:t>
            </a:r>
          </a:p>
          <a:p>
            <a:r>
              <a:t>CNPJ 63953620000165 · Duração e público-alvo · Versão e prevalência: Documentos atuais selecionados no inventário por categoria/escopo; a data documental isolada não comprova vigência jurídica.</a:t>
            </a:r>
          </a:p>
          <a:p>
            <a:r>
              <a:t>CNPJ 63953620000165 · Duração e público-alvo · Resumo do histórico: {"count": 8, "dates": ["2026-04-28", "2026-05-08", "2026-05-15"], "document_count": 3, "sources": [{"document_id": "1327859", "title": "Demonstrações Financeiras - Fusão, cisão e incorporação", "reference_date": "2026-05-15", "version": "1", "page": 9, "url": "https://fnet.bmfbovespa.com.br/fnet/publico/visualizarDocumento?id=1327859", "sha256": "dca1c68babb97f887528c3e2e47596a9c30f507b067981a35655b2f2da9c8054"}, {"document_id": "1298691", "title": "Demonstrações Financeiras - Fusão, cisão e incorporação", "reference_date": "2026-05-08", "version": "1", "page": 9, "url": "https://fnet.bmfbovespa.com.br/fnet/publico/visualizarDocumento?id=1298691", "sha256": "58c570d9b8d4d265330d3db3ea81c435b8e44a6dab4002aa37790652a1ee9819"}, {"document_id": "1282180", "title": "Demonstrações Financeiras - Fusão, cisão e incorporação", "reference_date": "2026-04-28", "version": "1", "page": 9, "url": "https://fnet.bmfbovespa.com.br/fnet/publico/visualizarDocumento?id=1282180", "sha256": "afaaa0e6809be4385e5bdb6c911aac582032c5bdbac3d7750234bf9eaf00438a"}], "reference": {"path": "history/63953620000165.json", "criterion_id": "duration_investors",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Proteção por camada</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Subordinação mínima · Regulamento · ID 670691 · 28/04/2024 · versão Regulamento — referência 28/04/2024 · p. 13 · Anexo I, 5.1 · https://fnet.bmfbovespa.com.br/fnet/publico/visualizarDocumento?id=670691</a:t>
            </a:r>
          </a:p>
          <a:p>
            <a:r>
              <a:t>CNPJ 54871427000194 · Subordinação mínima · Excerto da fonte:</a:t>
            </a:r>
          </a:p>
          <a:p>
            <a:r>
              <a:t>5.1 O patrimônio da Classe é representado por uma única subclasse e uma única série de Cotas. As características, os direitos e as condições de emissão, distribuição, subscrição, integralização, remuneração, Amortização e resgate das Cotas estão descritos neste Capítulo. As características, os direitos e as condições de emissão, distribuição, subscrição, integralização, remuneração, amortização e resgate das Cotas estão descritos neste Capítulo. 5.2 As Cotas são escriturais, nominativas e correspondem a f rações ideais do patrimônio da Classe, cuja propriedade presume-se: (i) pelo registro do nome do Cotista no livro de registro de Cotistas, enquanto mantidas em conta de depósito mantidas junto ao Agente Escriturador em nome dos respectivos Cotistas, nos termos do Art. 15 da Resolução CVM 175; (ii) pelos controles de titularidade mantidos pelo depositário central junto ao qual as Cotas estejam depositadas, nos termos do Art. 25 da Lei nº 12.810, de 15 de maio de 2013, conf orme alterada. 5.3 As Cotas poderão ser objeto de resgate antecipado apenas na hipótese de ocorrência de Evento de Liquidação, observado o disposto neste Regulamento. BTG Pactual SAC: 0800 772 28 27 - Ouvidoria: 0800 7</a:t>
            </a:r>
          </a:p>
          <a:p>
            <a:r>
              <a:t>CNPJ 54871427000194 · Subordinação mínima · Regulamento · ID 670691 · 28/04/2024 · versão Regulamento — referência 28/04/2024 · p. 14 · Anexo I, 5.4(iv) · https://fnet.bmfbovespa.com.br/fnet/publico/visualizarDocumento?id=670691</a:t>
            </a:r>
          </a:p>
          <a:p>
            <a:r>
              <a:t>CNPJ 54871427000194 · Subordinação mínima · Excerto da fonte:</a:t>
            </a:r>
          </a:p>
          <a:p>
            <a:r>
              <a:t>5.4 As Cotas possuem as seguintes características e atribuem os seguintes direitos e obrigações aos seus titulares: (i) conf erem direito de voto em todas e quaisquer matérias objeto de deliberação nas Assembleias Gerais, sendo que a cada Cota corresponderá 1 (um) voto. (ii) na Data da 1ª Integralização de Cotas, terão Valor Unitário de R$ 1.000,00 (mil reais), sendo que as Cotas distribuídas posteriormente terão seu Valor Unitário de Emissão calculado com base na alínea (iii) abaixo; (iii) seu Valor Unitário será calculado e divulgado na abertura de todo Dia Útil, para ef eito de def inição de seu valor de integralização, Amortização ou resgate, observado que tal valor será equivalente ao resultado da divisão do valor do Patrimônio Líquido pelo número de Cotas em circulação; e (iv) os direitos dos titulares das Cotas contra o Patrimônio Líquido nos termos deste Regulamento, são pari passu entre si, não havendo qualquer tipo de preferência, prioridade ou subordinação entre os titulares de Cotas. Emissão, Subscrição e Integralização das Cotas 5.5 Após a primeira emissão, eventuais nov</a:t>
            </a:r>
          </a:p>
          <a:p>
            <a:r>
              <a:t>CNPJ 54871427000194 · Subordinação mínima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Subordinação mínima · Versão e prevalência: Leitura específica das cláusulas indicadas; condições e conflitos preservados. Seleção documental atual não comprova vigência jurídica por data isolada.</a:t>
            </a:r>
          </a:p>
          <a:p>
            <a:r>
              <a:t>CNPJ 54871427000194 · Subordinação mínima · Resumo do histórico: {"count": 1, "dates": ["2024-04-28"], "document_count": 1, "sources": [{"document_id": "670691", "title": "Regulamento", "reference_date": "2024-04-28", "version": "1", "page": "14", "url": "https://fnet.bmfbovespa.com.br/fnet/publico/visualizarDocumento?id=670691", "sha256": "bf16dd7f1a62d5cdbf2e2d54fef81783783f7310fbc99c3a8f00459bdf9d037b"}], "reference": {"path": "history/54871427000194.json", "criterion_id": "subordination", "total_count": 1, "preview_count": 1, "full_text_deferred": true, "sha256": "35d7cd99be50c7287c9fb675cf4f2e736002315295a225a9efa79c8d9186d874"}}</a:t>
            </a:r>
          </a:p>
          <a:p>
            <a:r>
              <a:t>CNPJ 60010416000112 · Subordinação mínima · Base da comparação IME: {"criterion_id": "subordination", "observed_value": 8.647499534299206, "unit": "percent", "competence": "08/2026", "status": "not_comparable", "reason": "Vigência efetiva não comprovada; data do documento isolada não certifica enquadramento histórico.", "formula": "subordinated_quotas / net_asset_value × 100",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5.0}</a:t>
            </a:r>
          </a:p>
          <a:p>
            <a:r>
              <a:t>CNPJ 60010416000112 · Subordinação mínima · Regulamento · ID 1051393 · 09/10/2025 · versão Regulamento09/10/2025 · p. 45 · GlossárioÍndice de Subordinação · https://fnet.bmfbovespa.com.br/fnet/publico/visualizarDocumento?id=1051393</a:t>
            </a:r>
          </a:p>
          <a:p>
            <a:r>
              <a:t>CNPJ 60010416000112 · Subordinação mínima · Excerto da fonte:</a:t>
            </a:r>
          </a:p>
          <a:p>
            <a:r>
              <a:t>Índice de Subordinação”: signif ica a razão mínima admitida entre: (a) Patrimônio Líquido das Cotas Subordinadas; e (b) o Patrimônio Líquido da Classe, conforme apurada pelo Gestor em cada Dia Útil, equivalente a 5% (cinco por cento); “Instituições Autorizadas”: qualquer das seguintes instituições f inanceiras: (i) Itaú Unibanco S.A.; (ii) Banco Bradesco S.A.; (iii) Caixa Econômica Federal; (iv) Banco do Brasil S.A.; (v) Banco Santander (Brasil) S.A.; (vi) Banco BTG Pactual S.A.; ou (vii) Parati Crédito, Financiamento e Investimento S.A.; “Instrução CVM 489”: Instrução nº 489 da CVM, de 14 de janeiro de 2011, conf orme alterada; “Investidores</a:t>
            </a:r>
          </a:p>
          <a:p>
            <a:r>
              <a:t>CNPJ 60010416000112 · Subordinação mínima · Regulamento · ID 1051393 · 09/10/2025 · versão Regulamento09/10/2025 · p. 14 · AnexoI5.6–5.7 · https://fnet.bmfbovespa.com.br/fnet/publico/visualizarDocumento?id=1051393</a:t>
            </a:r>
          </a:p>
          <a:p>
            <a:r>
              <a:t>CNPJ 60010416000112 · Subordinação mínima · Excerto da fonte:</a:t>
            </a:r>
          </a:p>
          <a:p>
            <a:r>
              <a:t>5.6 Enquanto existirem Cotas Seniores em circulação, a Classe obrigatoriamente deverá observar o Índice Subordinação, o qual será apurado todo Dia Útil e será acessível aos Cotistas da Classe por meio do site do Administrador. 5.7 Caso o Índice de Subordinação não seja atendido em qualquer data de apuração, o Administrador deverá imediatamente, até o Dia Útil seguinte à data de apuração em questão, (a) suspender a aquisição de novos Direitos Creditórios; (b) informar tal fato aos titulares de Cotas Seniores; e (c) comunicar tal fato por escrito aos Cotistas Subordinados, para que, em querendo, s</a:t>
            </a:r>
          </a:p>
          <a:p>
            <a:r>
              <a:t>CNPJ 60010416000112 · Subordinação mínima · Mecânica: {"operator": "&gt;=", "unit": "percent", "denominator": "net_asset_value", "frequency": "daily", "layer": "class", "effective_status": "document_date_only", "document_date": "2025-10-09", "numerator": "subordinated_quotas", "limit": 5.0, "cure_days": 10, "cure_unit": "dias úteis consecutivos", "requires_senior_outstanding": true}</a:t>
            </a:r>
          </a:p>
          <a:p>
            <a:r>
              <a:t>CNPJ 60010416000112 · Subordinação mínima · Versão e prevalência: Leitura específica das cláusulas indicadas; condições e conflitos preservados. Seleção documental atual não comprova vigência jurídica por data isolada.</a:t>
            </a:r>
          </a:p>
          <a:p>
            <a:r>
              <a:t>CNPJ 60010416000112 · Subordinação mínima · Resumo do histórico: {"count": 5, "dates": ["2025-05-09", "2025-05-12", "2025-10-09"], "document_count": 3, "sources": [{"document_id": "1051393", "title": "Regulamento", "reference_date": "2025-10-09", "version": "1", "page": "45", "url": "https://fnet.bmfbovespa.com.br/fnet/publico/visualizarDocumento?id=1051393", "sha256": "8469d613078ffd5a6c1d217885d8a397a16342c0b937ae4aa24b106505f233ae"}, {"document_id": "1004656", "title": "AGE", "reference_date": "2025-05-12", "version": "1", "page": 2, "url": "https://fnet.bmfbovespa.com.br/fnet/publico/visualizarDocumento?id=1004656", "sha256": "f6c9c009f6170e2b29f074b98522accec73f0c40efbf11f9ec2c8d3f1402616b"}, {"document_id": "911262", "title": "AGE", "reference_date": "2025-05-09", "version": "1", "page": 2, "url": "https://fnet.bmfbovespa.com.br/fnet/publico/visualizarDocumento?id=911262", "sha256": "675de4ffe8c5ee95957fb29810625ce850d1a0b69b5231747442266f0cbf32a3"}], "reference": {"path": "history/60010416000112.json", "criterion_id": "subordination", "total_count": 5, "preview_count": 3, "full_text_deferred": true, "sha256": "8e2bd813f4c51cf01f6bfaad164bafe69d2bbb192f753eac92da3a01c2e63046"}}</a:t>
            </a:r>
          </a:p>
          <a:p>
            <a:r>
              <a:t>CNPJ 62696791000193 · Subordinação mínima · Base da comparação IME: {"criterion_id": "subordination", "observed_value": null, "unit": "percent", "competence": "08/2026", "status": "ime_unavailable", "reason": "Campo IME ausente ou cotas não reconciliadas; ausência preservada sem substituir por zero.", "formula": "subordinated_and_mezzanine_quotas / net_asset_value × 100",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5.0}</a:t>
            </a:r>
          </a:p>
          <a:p>
            <a:r>
              <a:t>CNPJ 62696791000193 · Subordinação mínima · Regulamento · ID 1143317 · 20/03/2026 · versão Regulamento — referência 20/03/2026 · p. 34 · Apêndice Sênior, 4.1–4.1.1 · https://fnet.bmfbovespa.com.br/fnet/publico/visualizarDocumento?id=1143317</a:t>
            </a:r>
          </a:p>
          <a:p>
            <a:r>
              <a:t>CNPJ 62696791000193 · Subordinação mínima · Excerto da fonte:</a:t>
            </a:r>
          </a:p>
          <a:p>
            <a:r>
              <a:t>4.1. Após a Data da 1ª Integralização de Cotas Seniores, o Índice de Subordinação Sênior deverá ser igual ou superior a 5% (cinco por cento) (“Índice de Subordinação”). 4.1.1. O Índice de Subordinação Sênior corresponde ao resultado mínimo obrigatório da divisão de (a) o somatório do valor de todas as Cotas Mezanino e das Cotas Subordinadas Júnior em circulação, por (b) o valor do Patrimônio Líquido, expresso na f orma percentual, e será apurado todo Dia Útil pelo Administrador. 5. Negociação das Cotas 5.1. As Cotas Seniores não poderão ser negociadas no mercado secundário. 6. Amortização e Resgate das Cotas Seniores 6.1. Desde que o Patrimônio Líquido da Classe assim permita, a partir de janeiro de 2026, as Cotas Seniores f arão jus à Amortização semestral do Benchmark, a ser realizada no último Dia Útil dos meses de janeiro e de julho de cada ano (“Amortização Programada de Cotas Seniores” e “Data de Amortização Programada de Cotas Seniores”, respectivamente), observada a Ordem de Alocação de Recursos prevista no Anexo. 6.1.1. Caso, em uma Data de Amortização Programa de Cotas Seniores, a Classe não tenha recursos disponíveis suficientes para o seu pagamento integral a diferença entre (i) o Benchmark Sênior apurad</a:t>
            </a:r>
          </a:p>
          <a:p>
            <a:r>
              <a:t>CNPJ 62696791000193 · Subordinação mínima · AGE · ID 1143319 · 20/03/2026 10:00 · versão AGE — referência 20/03/2026 10:00 · p. 3 · AGC 20/03/2026, 4.1(j)–(k) · https://fnet.bmfbovespa.com.br/fnet/publico/visualizarDocumento?id=1143319</a:t>
            </a:r>
          </a:p>
          <a:p>
            <a:r>
              <a:t>CNPJ 62696791000193 · Subordinação mínima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Subordinação mínima · Condição: A fórmula soma mezanino e júnior. Não deve ser substituída apenas por júnior/PL nem por PL/sênior.</a:t>
            </a:r>
          </a:p>
          <a:p>
            <a:r>
              <a:t>CNPJ 62696791000193 · Subordinação mínima · Mecânica: {"operator": "&gt;=", "limit": 5.0, "unit": "percent", "numerator": "subordinated_and_mezzanine_quotas", "denominator": "net_asset_value", "frequency": "daily", "layer": "62696791000193", "effective_from": "2026-03-23", "effective_status": "explicit_assembly_effective_date", "requires_senior_outstanding": true}</a:t>
            </a:r>
          </a:p>
          <a:p>
            <a:r>
              <a:t>CNPJ 62696791000193 · Subordinação mínima · Versão e prevalência: Leitura específica das cláusulas indicadas; condições e conflitos preservados. Seleção documental atual não comprova vigência jurídica por data isolada.</a:t>
            </a:r>
          </a:p>
          <a:p>
            <a:r>
              <a:t>CNPJ 55563624000109 · Subordinação mínima · Regulamento · ID 1192614 · 30/04/2026 · versão Regulamento30/04/2026 · p. 15 · AnexoI5.1 · https://fnet.bmfbovespa.com.br/fnet/publico/visualizarDocumento?id=1192614</a:t>
            </a:r>
          </a:p>
          <a:p>
            <a:r>
              <a:t>CNPJ 55563624000109 · Subordinação mínima · Excerto da fonte:</a:t>
            </a:r>
          </a:p>
          <a:p>
            <a:r>
              <a:t>5.1 A Classe possui 3 (três) Subclasses de Cotas, quais sejam, a subclasse A (“Subclasse A” e “Cotas Subclasse A”), a subclasse B (“Subclasse B” e “Cotas Subclasse B”) e a subclasse C (“Subclasse C” e “Cotas Subclasse C”, sendo a Subclasse A, a Subclasse B referidas em conjunto como “Subclasses”, e as Cotas Subclasse A e as Cotas Subclasse B sendo referidas em conjunto como “Cotas”), diferindo-se, exclusivamente, em relação aos prazos de duração de cada Subclasse, conforme previstos nos seus respectivos Apêndices, sem qualquer tipo de subordinação entre</a:t>
            </a:r>
          </a:p>
          <a:p>
            <a:r>
              <a:t>CNPJ 55563624000109 · Subordinação mínima · Condição: Piso de proteção do Mercado Crédito II pertence ao investido, não às subclasses A/B/Cdo FIC.</a:t>
            </a:r>
          </a:p>
          <a:p>
            <a:r>
              <a:t>CNPJ 55563624000109 · Subordinação mínima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Subordinação mínima · Versão e prevalência: Leitura específica das cláusulas indicadas; condições e conflitos preservados. Seleção documental atual não comprova vigência jurídica por data isolada.</a:t>
            </a:r>
          </a:p>
          <a:p>
            <a:r>
              <a:t>CNPJ 55563624000109 · Subordinação mínima · Resumo do histórico: {"count": 1, "dates": ["2026-04-30"], "document_count": 1, "sources": [{"document_id": "1192614", "title": "Regulamento", "reference_date": "2026-04-30", "version": "1", "page": "15", "url": "https://fnet.bmfbovespa.com.br/fnet/publico/visualizarDocumento?id=1192614", "sha256": "f56e63ace0acde41d2f47fb48f1ac7f3f7df5e2d32de092d7c5e075a52516632"}], "reference": {"path": "history/55563624000109.json", "criterion_id": "subordination", "total_count": 1, "preview_count": 1, "full_text_deferred": true, "sha256": "7835d573fb58a3c19adf5b8ecc2aee2bdbb9a88f7a0c0209b5f262b64c7522e3"}}</a:t>
            </a:r>
          </a:p>
          <a:p>
            <a:r>
              <a:t>CNPJ 62552447000120 · Subordinação mínima · Regulamento · ID 1200623 · 21/05/2026 · versão Consolidado21/05/2026 aprovado pelo ato1200625 · p. 16 · AnexoI5.1–5.1.1 · https://fnet.bmfbovespa.com.br/fnet/publico/visualizarDocumento?id=1200623</a:t>
            </a:r>
          </a:p>
          <a:p>
            <a:r>
              <a:t>CNPJ 62552447000120 · Subordinação mínima · Excerto da fonte:</a:t>
            </a:r>
          </a:p>
          <a:p>
            <a:r>
              <a:t>5.1 A Classe não possui Subclasse. As características, os direitos e as condições de emissão, distribuição, subscrição, integralização, remuneração, Amortização e resgate das Cotas estão descritos neste Capítulo e no Capítulo 6. 5.1.1 Não obstante, por deliberação conjunta dos Prestadores de Serviços Essenciais e mediante aprovação em Assembleia Especial, poderá haver a divisão de Classes em Subclasses, nos termos da Resolução CVM 175. Após a primeira emissão de Cotas, novas emissões de Cotas (de quaisquer Subclasses) dependem de aprovação dos Cotistas. 5.2 As Cotas são escrit</a:t>
            </a:r>
          </a:p>
          <a:p>
            <a:r>
              <a:t>CNPJ 62552447000120 · Subordinação mínima · Regulamento · ID 1200623 · 21/05/2026 · versão Consolidado21/05/2026 aprovado pelo ato1200625 · p. 17 · AnexoI5.4(iv) · https://fnet.bmfbovespa.com.br/fnet/publico/visualizarDocumento?id=1200623</a:t>
            </a:r>
          </a:p>
          <a:p>
            <a:r>
              <a:t>CNPJ 62552447000120 · Subordinação mínima · Excerto da fonte:</a:t>
            </a:r>
          </a:p>
          <a:p>
            <a:r>
              <a:t>pari passu entre si, não havendo qualquer tipo de preferência, prioridade ou subordinação entre os Cotistas. CAPÍTULO 6 – EMISSÃO, SUBSCRIÇÃO, INTEGRALIZAÇÃO E TRANSFERÊNCIA DAS COTAS Emissão das Cotas 6.1 As Emissões de Cotas poderão ser objeto de ofertas públicas, nos termos da Resolução CVM 160 e demais regulações aplicáveis (“Oferta”), ou objeto de colocação privada, sem registro perante a CVM, por não conf igurar uma Of erta, nos termos da regulamentação aplicável (“Colocação Privada”). 6.2 Após a primeira emissão, eventuais novas emissões de Cotas somente poderão ser realizadas com a aprovação de</a:t>
            </a:r>
          </a:p>
          <a:p>
            <a:r>
              <a:t>CNPJ 62552447000120 · Subordinação mínima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Subordinação mínima · Versão e prevalência: Leitura específica das cláusulas indicadas; condições e conflitos preservados. Seleção documental atual não comprova vigência jurídica por data isolada.</a:t>
            </a:r>
          </a:p>
          <a:p>
            <a:r>
              <a:t>CNPJ 62552447000120 · Subordinação mínima · Resumo do histórico: {"count": 1, "dates": ["2025-09-03"], "document_count": 1, "sources": [{"document_id": "988020", "title": "Instrumento Particular de Emissão de Cotas", "reference_date": "2025-09-03", "version": "1", "page": "5", "url": "https://fnet.bmfbovespa.com.br/fnet/publico/visualizarDocumento?id=988020", "sha256": "8ecc8a771bb9713d64e5fc2052c489664cb0433801a9280db68e5187d35bf7a5"}], "reference": {"path": "history/62552447000120.json", "criterion_id": "subordination", "total_count": 1, "preview_count": 1, "full_text_deferred": true, "sha256": "d95db8c0613d67ee84118c734588665265ea6b02f86a0318d6a844cbe1d0f82f"}}</a:t>
            </a:r>
          </a:p>
          <a:p>
            <a:r>
              <a:t>CNPJ 63953620000165 · Subordinação mínima · Base da comparação IME: {"criterion_id": "subordination", "observed_value": 3.6973764433146807, "unit": "percent", "competence": "08/2026", "status": "not_comparable", "reason": "Vigência efetiva não comprovada; data do documento isolada não certifica enquadramento histórico.", "formula": "subordinated_quotas / net_asset_value × 100",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1.0}</a:t>
            </a:r>
          </a:p>
          <a:p>
            <a:r>
              <a:t>CNPJ 63953620000165 · Subordinação mínima · Anexo ao Regulamento · ID 1222863 · 02/06/2026 · versão AnexoConsignadoPrivado02/06/2026 · p. 23 · ApêndiceSênior4.1–4.1.1 · https://fnet.bmfbovespa.com.br/fnet/publico/visualizarDocumento?id=1222863</a:t>
            </a:r>
          </a:p>
          <a:p>
            <a:r>
              <a:t>CNPJ 63953620000165 · Subordinação mínima · Excerto da fonte:</a:t>
            </a:r>
          </a:p>
          <a:p>
            <a:r>
              <a:t>4.1. Após a Data da 1ª Integralização de Cotas Seniores, o Índice de Subordinação Sênior deverá ser igual ou superior a 1% (um por cento) (“Índice de Subordinação Sênior”). 4.1.1. O Índice de Subordinação Sênior corresponde ao resultado mínimo obrigatório da divisão de (a) o somatório do valor de todas as Cotas Subordinadas em circulação, por (b) o valor do Patrimônio Líquido, expresso na forma percentual, e será apurado todo Dia Útil pelo Administrador. 4.1.2. Verificado excesso do Índice de Subordinação Alvo (conforme definido no Apêndice da Subclasse Subordinada), as Cotas Subordinadas poderão ser objeto de Amortização Extra</a:t>
            </a:r>
          </a:p>
          <a:p>
            <a:r>
              <a:t>CNPJ 63953620000165 · Subordinação mínima · Mecânica: {"operator": "&gt;=", "unit": "percent", "denominator": "net_asset_value", "frequency": "daily", "layer": "class", "effective_status": "document_date_only", "document_date": "2026-06-02", "numerator": "subordinated_quotas", "limit": 1.0, "requires_senior_outstanding": true}</a:t>
            </a:r>
          </a:p>
          <a:p>
            <a:r>
              <a:t>CNPJ 63953620000165 · Subordinação mínima · Versão e prevalência: Leitura específica das cláusulas indicadas; condições e conflitos preservados. Seleção documental atual não comprova vigência jurídica por data isolada.</a:t>
            </a:r>
          </a:p>
          <a:p>
            <a:r>
              <a:t>CNPJ 54871427000194 · Razões de cobertura por camada · Motivo: Não localizada uma cláusula material para este critério nos textos identificados e processados. A ausência de resultado não comprova inexistência da regra.</a:t>
            </a:r>
          </a:p>
          <a:p>
            <a:r>
              <a:t>CNPJ 60010416000112 · Razões de cobertura por camada · Motivo: Não localizada uma cláusula material para este critério nos textos identificados e processados. A ausência de resultado não comprova inexistência da regra.</a:t>
            </a:r>
          </a:p>
          <a:p>
            <a:r>
              <a:t>CNPJ 62696791000193 · Razões de cobertura por camada · Motivo: Não localizada uma cláusula material para este critério nos textos identificados e processados. A ausência de resultado não comprova inexistência da regra.</a:t>
            </a:r>
          </a:p>
          <a:p>
            <a:r>
              <a:t>CNPJ 55563624000109 · Razões de cobertura por camada · Motivo: Não localizada uma cláusula material para este critério nos textos identificados e processados. A ausência de resultado não comprova inexistência da regra.</a:t>
            </a:r>
          </a:p>
          <a:p>
            <a:r>
              <a:t>CNPJ 62552447000120 · Razões de cobertura por camada · Motivo: Não localizada uma cláusula material para este critério nos textos identificados e processados. A ausência de resultado não comprova inexistência da regra.</a:t>
            </a:r>
          </a:p>
          <a:p>
            <a:r>
              <a:t>CNPJ 63953620000165 · Razões de cobertura por camada · Motivo: Não localizada uma cláusula material para este critério nos textos identificados e processados. A ausência de resultado não comprova inexistência da regra.</a:t>
            </a:r>
          </a:p>
          <a:p>
            <a:r>
              <a:t>CNPJ 54871427000194 · Liberação e amortização da júnior · Motivo: Não localizada uma cláusula material para este critério nos textos identificados e processados. A ausência de resultado não comprova inexistência da regra.</a:t>
            </a:r>
          </a:p>
          <a:p>
            <a:r>
              <a:t>CNPJ 60010416000112 · Liberação e amortização da júnior · Regulamento · ID 1051393 · 09/10/2025 · versão Regulamento09/10/2025 · p. 15 · AnexoI7.3.1,7.6 · https://fnet.bmfbovespa.com.br/fnet/publico/visualizarDocumento?id=1051393</a:t>
            </a:r>
          </a:p>
          <a:p>
            <a:r>
              <a:t>CNPJ 60010416000112 · Liberação e amortização da júnior · Excerto da fonte:</a:t>
            </a:r>
          </a:p>
          <a:p>
            <a:r>
              <a:t>7.3.1. As Cotas Subordinadas poderão ser amortizadas caso sejam atingidas, cumulativamente, as seguintes condições: (i) o Índice de Subordinação esteja sendo atendido; (ii) desde que não esteja em curso um Evento de Avaliação e/ou Evento de Liquidação; e (iii) não tenha ocorrido ou esteja em andamento nenhum inadimplemento pecuniário pelo Agente de Retenção/Cobrança, nos termos do presente Regulamento, do Contrato de Endosso e do Contrato de Serviços MT. 7.4. As Amortizações serão realizadas tomando-se por base o Valor U</a:t>
            </a:r>
          </a:p>
          <a:p>
            <a:r>
              <a:t>CNPJ 60010416000112 · Liberação e amortização da júnior · Versão e prevalência: Leitura específica das cláusulas indicadas; condições e conflitos preservados. Seleção documental atual não comprova vigência jurídica por data isolada.</a:t>
            </a:r>
          </a:p>
          <a:p>
            <a:r>
              <a:t>CNPJ 60010416000112 · Liberação e amortização da júnior · Resumo do histórico: {"count": 1, "dates": ["2025-03-20"], "document_count": 1, "sources": [{"document_id": "993786", "title": "Regulamento", "reference_date": "2025-03-20", "version": "1", "page": 14, "clause": "5.7", "url": "https://fnet.bmfbovespa.com.br/fnet/publico/visualizarDocumento?id=993786", "sha256": "fd0fdd369a195510d81f81f505195a0b09e5f43522a990afa7d58c4f872921c8"}], "reference": {"path": "history/60010416000112.json", "criterion_id": "junior_release", "total_count": 1, "preview_count": 1, "full_text_deferred": true, "sha256": "8e2bd813f4c51cf01f6bfaad164bafe69d2bbb192f753eac92da3a01c2e63046"}}</a:t>
            </a:r>
          </a:p>
          <a:p>
            <a:r>
              <a:t>CNPJ 62696791000193 · Liberação e amortização da júnior · Regulamento · ID 1143317 · 20/03/2026 · versão Regulamento — referência 20/03/2026 · p. 37 · Apêndice Júnior, 4.1–4.2 e 5.1 · https://fnet.bmfbovespa.com.br/fnet/publico/visualizarDocumento?id=1143317</a:t>
            </a:r>
          </a:p>
          <a:p>
            <a:r>
              <a:t>CNPJ 62696791000193 · Liberação e amortização da júnior · Excerto da fonte:</a:t>
            </a:r>
          </a:p>
          <a:p>
            <a:r>
              <a:t>4.1. Caso o Patrimônio Líquido da Classe assim permita, as Cotas Subordinadas f arão jus à amortização semestral, no último Dia Útil dos meses de janeiro e julho de cada ano, de valor equivalente ao excedente do valor de integralização das Cotas Subordinadas em circulação, limitado ao percentual de 100% (cem por cento) da variação positiva do CDI acrescida de 4,50% (quatro inteiros e cinco décimos por cento) ao ano, considerando, para tanto a razão entre (i) o valor de integralização das Cotas Subordinadas Júnior em circulação e (ii) o valor de cada uma das Cotas Subordinadas, a ser paga na Data de Amortização Programada de Cotas Seniores (“Amortização das Cotas Subordinadas”). 4.2. Em complemento às Amortizações das Cotas Subordinadas, os Cotistas Subordinados farão jus, sempre que o Patrimônio Líquido da Classe assim permita e desde que o Valor Unitário das Cotas Subordinadas esteja superior ao valor de integralização das Cotas Subordinadas em circulação, a 50% (cinquenta por cento) de qualquer valor que exceder a Amortização das Cotas Subordinadas, a ser paga na Data de Amortização Programada de Cotas Seniores (“Amortização Extraordinária de Cotas Seniores”). 5. Excesso de Subordinação 5.1. Verif icado excesso de subordinação,</a:t>
            </a:r>
          </a:p>
          <a:p>
            <a:r>
              <a:t>CNPJ 62696791000193 · Liberação e amortização da júnior · Condição: O piso sênior usa MZ+júnior; a liberação extraordinária citada compara júnior/PL. São bases distintas. Os “Eventos de Avaliação” usados como condição não estão definidos no consolidado obtido.</a:t>
            </a:r>
          </a:p>
          <a:p>
            <a:r>
              <a:t>CNPJ 62696791000193 · Liberação e amortização da júnior · Versão e prevalência: Leitura específica das cláusulas indicadas; condições e conflitos preservados. Seleção documental atual não comprova vigência jurídica por data isolada.</a:t>
            </a:r>
          </a:p>
          <a:p>
            <a:r>
              <a:t>CNPJ 55563624000109 · Liberação e amortização da júnior · Motivo: Não localizada uma cláusula material para este critério nos textos identificados e processados. A ausência de resultado não comprova inexistência da regra.</a:t>
            </a:r>
          </a:p>
          <a:p>
            <a:r>
              <a:t>CNPJ 62552447000120 · Liberação e amortização da júnior · Regulamento · ID 1200623 · 2026-05-21 · versão 1 · p. 19 · 7.2 · https://fnet.bmfbovespa.com.br/fnet/publico/visualizarDocumento?id=1200623</a:t>
            </a:r>
          </a:p>
          <a:p>
            <a:r>
              <a:t>CNPJ 62552447000120 · Liberação e amortização da júnior · Excerto da fonte:</a:t>
            </a:r>
          </a:p>
          <a:p>
            <a:r>
              <a:t>7.2 As Cotas poderão ser amortizadas através de uma Amortização programada, se houver, conforme  prevista nos Apêndices, caso aplicável (“Amortização Programada”), e por meio amortização  extraordinária das Cotas, a ser realizada por (a) por decisão do Gestor, para: (i) reenquadramento da  Carteira ao mínimo de Direitos Creditórios que deve ser detido pela Classe para f ins tributários/legais;</a:t>
            </a:r>
          </a:p>
          <a:p>
            <a:r>
              <a:t> (ii) necessidade de fluxo de caixa da Classe; e (iii) manutenção de liquidez, (b) por deliberação de uma  Assembleia Especial, observando o disposto neste Regulamento quando se tratar da amortização  extraordinária de Cotas de subclasse subordinada mezanino ou Cotas de subclasse subordinada júnior;</a:t>
            </a:r>
          </a:p>
          <a:p>
            <a:r>
              <a:t> e/ou (c) no caso de liquidação antecipada do Fundo ou da Classe (“Amortização Extraordinária” e,  quando ref erida em conjunto com as Amortizações Programadas, “Amortização”). O pagamento da  amortização extraordinária de Cotas decorrente de decisão do Gestor deve ser realizado em moeda  corrente nacional.</a:t>
            </a:r>
          </a:p>
          <a:p>
            <a:r>
              <a:t>CNPJ 62552447000120 · Liberação e amortização da júnior · Condição: Documentos atuais selecionados no inventário por categoria/escopo; a data documental isolada não comprova vigência jurídica.</a:t>
            </a:r>
          </a:p>
          <a:p>
            <a:r>
              <a:t>CNPJ 62552447000120 · Liberação e amortização da júnior · Motivo: Cláusula primária localizada e citada, mas sua lista/condições extensas não admitem uma síntese literal curta confirmada. O trecho integral permanece nas fontes.</a:t>
            </a:r>
          </a:p>
          <a:p>
            <a:r>
              <a:t>CNPJ 62552447000120 · Liberação e amortização da júnior · Versão e prevalência: Documentos atuais selecionados no inventário por categoria/escopo; a data documental isolada não comprova vigência jurídica.</a:t>
            </a:r>
          </a:p>
          <a:p>
            <a:r>
              <a:t>CNPJ 63953620000165 · Liberação e amortização da júnior · Anexo ao Regulamento · ID 1222863 · 02/06/2026 · versão AnexoConsignadoPrivado02/06/2026 · p. 24 · ApêndiceSubordinada4.1 · https://fnet.bmfbovespa.com.br/fnet/publico/visualizarDocumento?id=1222863</a:t>
            </a:r>
          </a:p>
          <a:p>
            <a:r>
              <a:t>CNPJ 63953620000165 · Liberação e amortização da júnior · Excerto da fonte:</a:t>
            </a:r>
          </a:p>
          <a:p>
            <a:r>
              <a:t>4.1. Verificado que o Índice de Subordinação Alvo é atendido, ou seja, que a representatividade de Cotas Subordinadas em relação ao Patrimônio Líquido da Classe é superior à 10,00% (dez por cento) (“Índice de Subordinação Alvo”), as Cotas Subordinadas poderão ser objeto de Amortização Extraordinária até o limite excedente ao Índice de Subordinação Alvo– ainda que tal Amortização Extraordinária ocorra antes do resgate integral das Cotas Seniores – desde que: (i) seja observada a ordem de alocação de recursos definida no item 8.1 acima Anexo; (ii) não existam Obrigações da Classe vencidas e não pagas; (iii) não estejam em curso quaisquer Eventos de</a:t>
            </a:r>
          </a:p>
          <a:p>
            <a:r>
              <a:t>CNPJ 63953620000165 · Liberação e amortização da júnior · Anexo ao Regulamento · ID 1222863 · 02/06/2026 · versão AnexoConsignadoPrivado02/06/2026 · p. 23 · ApêndiceSênior4.1.2 · https://fnet.bmfbovespa.com.br/fnet/publico/visualizarDocumento?id=1222863</a:t>
            </a:r>
          </a:p>
          <a:p>
            <a:r>
              <a:t>CNPJ 63953620000165 · Liberação e amortização da júnior · Excerto da fonte:</a:t>
            </a:r>
          </a:p>
          <a:p>
            <a:r>
              <a:t>4.1.2. Verificado excesso do Índice de Subordinação Alvo (conforme definido no Apêndice da Subclasse Subordinada), as Cotas Subordinadas poderão ser objeto de Amortização Extraordinária até o limite do respectivos Excesso de Subordinação – ainda que tal Amortização Extraordinária ocorra antes do resgate integral das Cotas Seniores – desde que: (a) seja observada a ordem de alocação de recursos definida no item 8.1 acima Anexo; (b) não existam Obrigações da Classe vencidas e não pagas; (c) não estejam em curso quaisquer Eventos de Avaliação e/ou Eventos de Liquidação; (d) existam suficientes Ativos Financeiros e/ou recur</a:t>
            </a:r>
          </a:p>
          <a:p>
            <a:r>
              <a:t>CNPJ 63953620000165 · Liberação e amortização da júnior · Condição: 10% é patamar de liberação, diferente do piso protetivo de 1%.</a:t>
            </a:r>
          </a:p>
          <a:p>
            <a:r>
              <a:t>CNPJ 63953620000165 · Liberação e amortização da júnior · Versão e prevalência: Leitura específica das cláusulas indicadas; condições e conflitos preservados. Seleção documental atual não comprova vigência jurídica por data isolada.</a:t>
            </a:r>
          </a:p>
          <a:p>
            <a:r>
              <a:t>CNPJ 54871427000194 · Reserva de liquidez · Motivo: Não localizada uma cláusula material para este critério nos textos identificados e processados. A ausência de resultado não comprova inexistência da regra.</a:t>
            </a:r>
          </a:p>
          <a:p>
            <a:r>
              <a:t>CNPJ 60010416000112 · Reserva de liquidez · Motivo: Não localizada uma cláusula material para este critério nos textos identificados e processados. A ausência de resultado não comprova inexistência da regra.</a:t>
            </a:r>
          </a:p>
          <a:p>
            <a:r>
              <a:t>CNPJ 62696791000193 · Reserva de liquidez · Motivo: Não localizada uma cláusula material para este critério nos textos identificados e processados. A ausência de resultado não comprova inexistência da regra.</a:t>
            </a:r>
          </a:p>
          <a:p>
            <a:r>
              <a:t>CNPJ 55563624000109 · Reserva de liquidez · Motivo: Não localizada uma cláusula material para este critério nos textos identificados e processados. A ausência de resultado não comprova inexistência da regra.</a:t>
            </a:r>
          </a:p>
          <a:p>
            <a:r>
              <a:t>CNPJ 62552447000120 · Reserva de liquidez · Motivo: Não localizada uma cláusula material para este critério nos textos identificados e processados. A ausência de resultado não comprova inexistência da regra.</a:t>
            </a:r>
          </a:p>
          <a:p>
            <a:r>
              <a:t>CNPJ 63953620000165 · Reserva de liquidez · Base da comparação IME: {"criterion_id": "liquidity_reserve", "observed_value": null, "unit": "", "competence": "08/2026", "status": "not_comparable", "reason": "Reserva contratual exige segregação, ativos elegíveis, cronograma ou despesas; disponibilidades agregadas não comprovam a reserva.", "formula": "",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null, "comparison_required": true, "context_formula": "Disponibilidades", "context_value": 10000.0, "context_unit": "currency"}</a:t>
            </a:r>
          </a:p>
          <a:p>
            <a:r>
              <a:t>CNPJ 63953620000165 · Reserva de liquidez · Anexo ao Regulamento · ID 1222863 · 02/06/2026 · versão AnexoConsignadoPrivado02/06/2026 · p. 12 · 8.2–8.2.1 · https://fnet.bmfbovespa.com.br/fnet/publico/visualizarDocumento?id=1222863</a:t>
            </a:r>
          </a:p>
          <a:p>
            <a:r>
              <a:t>CNPJ 63953620000165 · Reserva de liquidez · Excerto da fonte:</a:t>
            </a:r>
          </a:p>
          <a:p>
            <a:r>
              <a:t>8.2 O Administrador e o Gestor obrigam-se a, a partir da data da primeira integralização de Cotas Seniores (“Data da 1ª Integralização”) até o final do Período de Investimento, constituir e manter, exclusivamente a partir dos valores integralizados pelo Cotista Sênior, uma Reserva da Caixa, em montante correspondente a R$ 150.000.000,00 (cento e cinquenta milhões e quinhentos mil reais) corrigido diariamente pela rentabilidade auferida sob o referido montante (“Reserva de Caixa”). 8.2.1 A deliberação acerca da utilização dos valores mantidos na Reserva de Caixa dependerá de prévia aprovação em Asse</a:t>
            </a:r>
          </a:p>
          <a:p>
            <a:r>
              <a:t>CNPJ 63953620000165 · Reserva de liquidez · Anexo ao Regulamento · ID 1222863 · 02/06/2026 · versão AnexoConsignadoPrivado02/06/2026 · p. 13 · 10.2(xvii) · https://fnet.bmfbovespa.com.br/fnet/publico/visualizarDocumento?id=1222863</a:t>
            </a:r>
          </a:p>
          <a:p>
            <a:r>
              <a:t>CNPJ 63953620000165 · Reserva de liquidez · Excerto da fonte:</a:t>
            </a:r>
          </a:p>
          <a:p>
            <a:r>
              <a:t>(xvii) alterações na disciplina, critérios de constituição, manutenção Maioria das Cotas de cada Subclasse ou utilização da Reserva de Caixa, bem como deliberação acerca da BTG Pactual SAC: 0800 772 28 27 - Ouvidoria: 0800 722 00 48 - btgpactual.com 13 Clicksign 5616d885-8e2b-40d9-861e-75413fca8eb1</a:t>
            </a:r>
          </a:p>
          <a:p>
            <a:r>
              <a:t>CNPJ 63953620000165 · Reserva de liquidez · Condição: Extenso da cláusula 8.2 diz 150 milhões 500 mil, divergindo de R$ 150 milhões. Caixa do IME agregado não demonstra conta segregada/rentabilidade acumulada.</a:t>
            </a:r>
          </a:p>
          <a:p>
            <a:r>
              <a:t>CNPJ 63953620000165 · Reserva de liquidez · Motivo: Não localizada uma cláusula material para este critério nos textos identificados e processados. A ausência de resultado não comprova inexistência da regra.</a:t>
            </a:r>
          </a:p>
          <a:p>
            <a:r>
              <a:t>CNPJ 63953620000165 · Reserva de liquidez · Versão e prevalência: Leitura específica das cláusulas indicadas; condições e conflitos preservados. Seleção documental atual não comprova vigência jurídica por data isolada.</a:t>
            </a:r>
          </a:p>
          <a:p>
            <a:r>
              <a:t>CNPJ 54871427000194 · Reserva de despesas · Motivo: Não localizada uma cláusula material para este critério nos textos identificados e processados. A ausência de resultado não comprova inexistência da regra.</a:t>
            </a:r>
          </a:p>
          <a:p>
            <a:r>
              <a:t>CNPJ 60010416000112 · Reserva de despesas · Motivo: Não localizada uma cláusula material para este critério nos textos identificados e processados. A ausência de resultado não comprova inexistência da regra.</a:t>
            </a:r>
          </a:p>
          <a:p>
            <a:r>
              <a:t>CNPJ 62696791000193 · Reserva de despesas · Base da comparação IME: {"criterion_id": "expense_reserve", "observed_value": null, "unit": "", "competence": "08/2026", "status": "not_comparable", "reason": "Reserva de despesas depende da base de encargos e da segregação previstas; disponibilidades não demonstram meses de despesas cobertos.",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null, "comparison_required": true, "context_formula": "Disponibilidades", "context_value": null, "context_unit": "currency"}</a:t>
            </a:r>
          </a:p>
          <a:p>
            <a:r>
              <a:t>CNPJ 62696791000193 · Reserva de despesas · Regulamento · ID 1143317 · 20/03/2026 · versão Regulamento — referência 20/03/2026 · p. 16 · Anexo I, 6.1(ii) · https://fnet.bmfbovespa.com.br/fnet/publico/visualizarDocumento?id=1143317</a:t>
            </a:r>
          </a:p>
          <a:p>
            <a:r>
              <a:t>CNPJ 62696791000193 · Reserva de despesas · Excerto da fonte:</a:t>
            </a:r>
          </a:p>
          <a:p>
            <a:r>
              <a:t>6.1 O Administrador e o Gestor obrigam-se a, a partir da data da primeira integralização de Cotas até a liquidação integral das obrigações da Classe, utilizar os recursos disponíveis na Conta da Classe e/ou mantidos em Ativos Financeiros de Liquidez em cada Dia Útil, de acordo com a seguinte ordem de prioridade de alocação, de modo que cada item abaixo listado apenas será contemplado após o direcionamento do montante total necessário para a satisfação dos itens anteriores, ressalvada a ocorrência de eventos extraordinários que afetem o funcionamento regular do Fundo e/ou da Classe: (i) pagamento dos encargos do Fundo e/ou da Classe; (ii) constituição e/ou recomposição da reserva de despesas de modo que esta, ao final de cada Dia Útil, seja equivalente ao montante estimado dos encargos, a serem incorridos nos 6 (seis) meses calendário imediatamente subsequentes pelo Fundo e/ou a Classe (“Reserva de Despesas”); (iii) pagamento de Amortização ou resgate de Cotas Seniores, se houver; (iv) pagamento de Amortização ou resgate de Cotas Mezanino, se houver; (v) aquisição pela Cla</a:t>
            </a:r>
          </a:p>
          <a:p>
            <a:r>
              <a:t>CNPJ 62696791000193 · Reserva de despesas · Condição: Saldo agregado de caixa/liquidez do IME não identifica a reserva constituída nem a estimativa futura de encargos.</a:t>
            </a:r>
          </a:p>
          <a:p>
            <a:r>
              <a:t>CNPJ 62696791000193 · Reserva de despesas · Versão e prevalência: Leitura específica das cláusulas indicadas; condições e conflitos preservados. Seleção documental atual não comprova vigência jurídica por data isolada.</a:t>
            </a:r>
          </a:p>
          <a:p>
            <a:r>
              <a:t>CNPJ 55563624000109 · Reserva de despesas · Base da comparação IME: {"criterion_id": "expense_reserve", "observed_value": null, "unit": "", "competence": "08/2026", "status": "not_comparable", "reason": "Reserva de despesas depende da base de encargos e da segregação previstas; disponibilidades não demonstram meses de despesas cobertos.", "formula": "",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null, "comparison_required": true, "context_formula": "Disponibilidades", "context_value": 0.0, "context_unit": "currency"}</a:t>
            </a:r>
          </a:p>
          <a:p>
            <a:r>
              <a:t>CNPJ 55563624000109 · Reserva de despesas · Regulamento · ID 1192614 · 30/04/2026 · versão Regulamento30/04/2026 · p. 18 · AnexoI8.1(ii) · https://fnet.bmfbovespa.com.br/fnet/publico/visualizarDocumento?id=1192614</a:t>
            </a:r>
          </a:p>
          <a:p>
            <a:r>
              <a:t>CNPJ 55563624000109 · Reserva de despesas · Excerto da fonte:</a:t>
            </a:r>
          </a:p>
          <a:p>
            <a:r>
              <a:t>constituição e/ou recomposição da Reserva de Despesas de modo que esta, ao final de cada Dia Útil, seja equivalente ao montante estimado dos Encargos, a serem incorridos nos 3 (três) meses calendário imediatamente subsequentes; (iii) pagamento de resgate de Cotas aos Cotistas Dissidentes, nos termos do item 11.4.1 abaixo; (iv) pagamento de amortização ou resgate de Cotas, se houver; e BTG Pactual SAC: 0800 772 28 27 - Ouvidoria: 0800 722 00 48 - btgpactual.com</a:t>
            </a:r>
          </a:p>
          <a:p>
            <a:r>
              <a:t>CNPJ 55563624000109 · Reserva de despesas · Regulamento · ID 1192614 · 30/04/2026 · versão Regulamento30/04/2026 · p. 44 · GlossárioReserva de Despesas · https://fnet.bmfbovespa.com.br/fnet/publico/visualizarDocumento?id=1192614</a:t>
            </a:r>
          </a:p>
          <a:p>
            <a:r>
              <a:t>CNPJ 55563624000109 · Reserva de despesas · Excerto da fonte:</a:t>
            </a:r>
          </a:p>
          <a:p>
            <a:r>
              <a:t>Reserva de Despesas”: é a parcela do Patrimônio Líquido a ser retida e destinada exclusivamente para pagamento dos Encargos, nos termos do item 8.1(ii) deste Anexo, e mantida exclusivamente em Ativos Financeiros de Liquidez; “Resolução CVM 30”: Resolução CVM nº 30, de 11 de maio de 2021, conforme alterada; “Resolução CVM 175”: Resolução CVM nº 175, de 23 de dezembro de 2022, conforme alterada; “Taxa de Administração”: a taxa que é devida ao ADMINISTRADOR, nos termos do item 13.2 deste Anexo; “Taxa de Gestão”: a taxa mensal que é devida ao GESTOR, nos termos do item 13.5 deste Anexo; “Taxa de Ges</a:t>
            </a:r>
          </a:p>
          <a:p>
            <a:r>
              <a:t>CNPJ 55563624000109 · Reserva de despesas · Condição: Requer orçamento dos 3 meses; caixa agregado do IME não valida sozinho o valor exigido.</a:t>
            </a:r>
          </a:p>
          <a:p>
            <a:r>
              <a:t>CNPJ 55563624000109 · Reserva de despesas · Versão e prevalência: Leitura específica das cláusulas indicadas; condições e conflitos preservados. Seleção documental atual não comprova vigência jurídica por data isolada.</a:t>
            </a:r>
          </a:p>
          <a:p>
            <a:r>
              <a:t>CNPJ 62552447000120 · Reserva de despesas · Base da comparação IME: {"criterion_id": "expense_reserve", "observed_value": null, "unit": "", "competence": "08/2026", "status": "not_comparable", "reason": "Reserva de despesas depende da base de encargos e da segregação previstas; disponibilidades não demonstram meses de despesas cobertos.", "formula": "",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null, "comparison_required": true, "context_formula": "Disponibilidades", "context_value": 0.0, "context_unit": "currency"}</a:t>
            </a:r>
          </a:p>
          <a:p>
            <a:r>
              <a:t>CNPJ 62552447000120 · Reserva de despesas · Regulamento · ID 1200623 · 21/05/2026 · versão Consolidado21/05/2026 aprovado pelo ato1200625 · p. 11 · AnexoI3.4 · https://fnet.bmfbovespa.com.br/fnet/publico/visualizarDocumento?id=1200623</a:t>
            </a:r>
          </a:p>
          <a:p>
            <a:r>
              <a:t>CNPJ 62552447000120 · Reserva de despesas · Excerto da fonte:</a:t>
            </a:r>
          </a:p>
          <a:p>
            <a:r>
              <a:t>3.4 A Classe manterá, em Ativos Financeiros e/ou disponibilidades de caixa, um valor destinado ao pagamento de despesas f ixas e periódicas da Classe (como a remuneração dos Prestadores de Serviços Essenciais e seu contratados, bem como as taxas, impostos ou co ntribuições f ederais, estaduais, municipais ou autárquicas que recaiam ou venham a recair sobre os bens, direitos e obrigações da Classe), estimadas para um horizonte temporal de 6 (seis) meses (“Reserva de Caixa”). 3.5 Adicionalmente aos Encargos, as seguintes despesas serão debitadas diretamente da Classe, nos termos do art. 51 do Anexo Norma</a:t>
            </a:r>
          </a:p>
          <a:p>
            <a:r>
              <a:t>CNPJ 62552447000120 · Reserva de despesas · Regulamento · ID 1200623 · 21/05/2026 · versão Consolidado21/05/2026 aprovado pelo ato1200625 · p. 20 · AnexoI8.1(ii) · https://fnet.bmfbovespa.com.br/fnet/publico/visualizarDocumento?id=1200623</a:t>
            </a:r>
          </a:p>
          <a:p>
            <a:r>
              <a:t>CNPJ 62552447000120 · Reserva de despesas · Excerto da fonte:</a:t>
            </a:r>
          </a:p>
          <a:p>
            <a:r>
              <a:t>constituição e/ou recomposição da Reserva de Caixa, nos termos da Cláusula 3.4 acima; (iii) pagamento de Amortização ou resgate de Cotas, conf orme aplicável; (iv) aquisição pela Classe de Direitos Creditórios, observando-se a Política de Investimentos; e (v) aquisição pela Classe de Ativos Financeiros, observando-se a Política de Investimentos. CAPÍTULO 9 – METODOLOGIA DE AVALIAÇÃO DOS ATIVOS DA CLASSE 9.1 Os Direitos Creditórios e Ativos Financeiros que compõem a Carteira terão seus valores calculados todo Dia Útil conforme a metodologia de avaliação descrita no manual d o Administrador ou, ainda, nos</a:t>
            </a:r>
          </a:p>
          <a:p>
            <a:r>
              <a:t>CNPJ 62552447000120 · Reserva de despesas · Condição: IME de caixa agregado não permite estimar sozinho o orçamento contratual dos 6 meses.</a:t>
            </a:r>
          </a:p>
          <a:p>
            <a:r>
              <a:t>CNPJ 62552447000120 · Reserva de despesas · Motivo: Não localizada uma cláusula material para este critério nos textos identificados e processados. A ausência de resultado não comprova inexistência da regra.</a:t>
            </a:r>
          </a:p>
          <a:p>
            <a:r>
              <a:t>CNPJ 62552447000120 · Reserva de despesas · Versão e prevalência: Leitura específica das cláusulas indicadas; condições e conflitos preservados. Seleção documental atual não comprova vigência jurídica por data isolada.</a:t>
            </a:r>
          </a:p>
          <a:p>
            <a:r>
              <a:t>CNPJ 63953620000165 · Reserva de despesas · Motivo: Não localizada uma cláusula material para este critério nos textos identificados e processados. A ausência de resultado não comprova inexistência da regra.</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Proteção por camada</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Subordinação mínima · Regulamento · ID 670691 · 28/04/2024 · versão Regulamento — referência 28/04/2024 · p. 13 · Anexo I, 5.1 · https://fnet.bmfbovespa.com.br/fnet/publico/visualizarDocumento?id=670691</a:t>
            </a:r>
          </a:p>
          <a:p>
            <a:r>
              <a:t>CNPJ 54871427000194 · Subordinação mínima · Excerto da fonte:</a:t>
            </a:r>
          </a:p>
          <a:p>
            <a:r>
              <a:t>5.1 O patrimônio da Classe é representado por uma única subclasse e uma única série de Cotas. As características, os direitos e as condições de emissão, distribuição, subscrição, integralização, remuneração, Amortização e resgate das Cotas estão descritos neste Capítulo. As características, os direitos e as condições de emissão, distribuição, subscrição, integralização, remuneração, amortização e resgate das Cotas estão descritos neste Capítulo. 5.2 As Cotas são escriturais, nominativas e correspondem a f rações ideais do patrimônio da Classe, cuja propriedade presume-se: (i) pelo registro do nome do Cotista no livro de registro de Cotistas, enquanto mantidas em conta de depósito mantidas junto ao Agente Escriturador em nome dos respectivos Cotistas, nos termos do Art. 15 da Resolução CVM 175; (ii) pelos controles de titularidade mantidos pelo depositário central junto ao qual as Cotas estejam depositadas, nos termos do Art. 25 da Lei nº 12.810, de 15 de maio de 2013, conf orme alterada. 5.3 As Cotas poderão ser objeto de resgate antecipado apenas na hipótese de ocorrência de Evento de Liquidação, observado o disposto neste Regulamento. BTG Pactual SAC: 0800 772 28 27 - Ouvidoria: 0800 7</a:t>
            </a:r>
          </a:p>
          <a:p>
            <a:r>
              <a:t>CNPJ 54871427000194 · Subordinação mínima · Regulamento · ID 670691 · 28/04/2024 · versão Regulamento — referência 28/04/2024 · p. 14 · Anexo I, 5.4(iv) · https://fnet.bmfbovespa.com.br/fnet/publico/visualizarDocumento?id=670691</a:t>
            </a:r>
          </a:p>
          <a:p>
            <a:r>
              <a:t>CNPJ 54871427000194 · Subordinação mínima · Excerto da fonte:</a:t>
            </a:r>
          </a:p>
          <a:p>
            <a:r>
              <a:t>5.4 As Cotas possuem as seguintes características e atribuem os seguintes direitos e obrigações aos seus titulares: (i) conf erem direito de voto em todas e quaisquer matérias objeto de deliberação nas Assembleias Gerais, sendo que a cada Cota corresponderá 1 (um) voto. (ii) na Data da 1ª Integralização de Cotas, terão Valor Unitário de R$ 1.000,00 (mil reais), sendo que as Cotas distribuídas posteriormente terão seu Valor Unitário de Emissão calculado com base na alínea (iii) abaixo; (iii) seu Valor Unitário será calculado e divulgado na abertura de todo Dia Útil, para ef eito de def inição de seu valor de integralização, Amortização ou resgate, observado que tal valor será equivalente ao resultado da divisão do valor do Patrimônio Líquido pelo número de Cotas em circulação; e (iv) os direitos dos titulares das Cotas contra o Patrimônio Líquido nos termos deste Regulamento, são pari passu entre si, não havendo qualquer tipo de preferência, prioridade ou subordinação entre os titulares de Cotas. Emissão, Subscrição e Integralização das Cotas 5.5 Após a primeira emissão, eventuais nov</a:t>
            </a:r>
          </a:p>
          <a:p>
            <a:r>
              <a:t>CNPJ 54871427000194 · Subordinação mínima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Subordinação mínima · Versão e prevalência: Leitura específica das cláusulas indicadas; condições e conflitos preservados. Seleção documental atual não comprova vigência jurídica por data isolada.</a:t>
            </a:r>
          </a:p>
          <a:p>
            <a:r>
              <a:t>CNPJ 54871427000194 · Subordinação mínima · Resumo do histórico: {"count": 1, "dates": ["2024-04-28"], "document_count": 1, "sources": [{"document_id": "670691", "title": "Regulamento", "reference_date": "2024-04-28", "version": "1", "page": "14", "url": "https://fnet.bmfbovespa.com.br/fnet/publico/visualizarDocumento?id=670691", "sha256": "bf16dd7f1a62d5cdbf2e2d54fef81783783f7310fbc99c3a8f00459bdf9d037b"}], "reference": {"path": "history/54871427000194.json", "criterion_id": "subordination", "total_count": 1, "preview_count": 1, "full_text_deferred": true, "sha256": "35d7cd99be50c7287c9fb675cf4f2e736002315295a225a9efa79c8d9186d874"}}</a:t>
            </a:r>
          </a:p>
          <a:p>
            <a:r>
              <a:t>CNPJ 60010416000112 · Subordinação mínima · Base da comparação IME: {"criterion_id": "subordination", "observed_value": 8.647499534299206, "unit": "percent", "competence": "08/2026", "status": "not_comparable", "reason": "Vigência efetiva não comprovada; data do documento isolada não certifica enquadramento histórico.", "formula": "subordinated_quotas / net_asset_value × 100",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5.0}</a:t>
            </a:r>
          </a:p>
          <a:p>
            <a:r>
              <a:t>CNPJ 60010416000112 · Subordinação mínima · Regulamento · ID 1051393 · 09/10/2025 · versão Regulamento09/10/2025 · p. 45 · GlossárioÍndice de Subordinação · https://fnet.bmfbovespa.com.br/fnet/publico/visualizarDocumento?id=1051393</a:t>
            </a:r>
          </a:p>
          <a:p>
            <a:r>
              <a:t>CNPJ 60010416000112 · Subordinação mínima · Excerto da fonte:</a:t>
            </a:r>
          </a:p>
          <a:p>
            <a:r>
              <a:t>Índice de Subordinação”: signif ica a razão mínima admitida entre: (a) Patrimônio Líquido das Cotas Subordinadas; e (b) o Patrimônio Líquido da Classe, conforme apurada pelo Gestor em cada Dia Útil, equivalente a 5% (cinco por cento); “Instituições Autorizadas”: qualquer das seguintes instituições f inanceiras: (i) Itaú Unibanco S.A.; (ii) Banco Bradesco S.A.; (iii) Caixa Econômica Federal; (iv) Banco do Brasil S.A.; (v) Banco Santander (Brasil) S.A.; (vi) Banco BTG Pactual S.A.; ou (vii) Parati Crédito, Financiamento e Investimento S.A.; “Instrução CVM 489”: Instrução nº 489 da CVM, de 14 de janeiro de 2011, conf orme alterada; “Investidores</a:t>
            </a:r>
          </a:p>
          <a:p>
            <a:r>
              <a:t>CNPJ 60010416000112 · Subordinação mínima · Regulamento · ID 1051393 · 09/10/2025 · versão Regulamento09/10/2025 · p. 14 · AnexoI5.6–5.7 · https://fnet.bmfbovespa.com.br/fnet/publico/visualizarDocumento?id=1051393</a:t>
            </a:r>
          </a:p>
          <a:p>
            <a:r>
              <a:t>CNPJ 60010416000112 · Subordinação mínima · Excerto da fonte:</a:t>
            </a:r>
          </a:p>
          <a:p>
            <a:r>
              <a:t>5.6 Enquanto existirem Cotas Seniores em circulação, a Classe obrigatoriamente deverá observar o Índice Subordinação, o qual será apurado todo Dia Útil e será acessível aos Cotistas da Classe por meio do site do Administrador. 5.7 Caso o Índice de Subordinação não seja atendido em qualquer data de apuração, o Administrador deverá imediatamente, até o Dia Útil seguinte à data de apuração em questão, (a) suspender a aquisição de novos Direitos Creditórios; (b) informar tal fato aos titulares de Cotas Seniores; e (c) comunicar tal fato por escrito aos Cotistas Subordinados, para que, em querendo, s</a:t>
            </a:r>
          </a:p>
          <a:p>
            <a:r>
              <a:t>CNPJ 60010416000112 · Subordinação mínima · Mecânica: {"operator": "&gt;=", "unit": "percent", "denominator": "net_asset_value", "frequency": "daily", "layer": "class", "effective_status": "document_date_only", "document_date": "2025-10-09", "numerator": "subordinated_quotas", "limit": 5.0, "cure_days": 10, "cure_unit": "dias úteis consecutivos", "requires_senior_outstanding": true}</a:t>
            </a:r>
          </a:p>
          <a:p>
            <a:r>
              <a:t>CNPJ 60010416000112 · Subordinação mínima · Versão e prevalência: Leitura específica das cláusulas indicadas; condições e conflitos preservados. Seleção documental atual não comprova vigência jurídica por data isolada.</a:t>
            </a:r>
          </a:p>
          <a:p>
            <a:r>
              <a:t>CNPJ 60010416000112 · Subordinação mínima · Resumo do histórico: {"count": 5, "dates": ["2025-05-09", "2025-05-12", "2025-10-09"], "document_count": 3, "sources": [{"document_id": "1051393", "title": "Regulamento", "reference_date": "2025-10-09", "version": "1", "page": "45", "url": "https://fnet.bmfbovespa.com.br/fnet/publico/visualizarDocumento?id=1051393", "sha256": "8469d613078ffd5a6c1d217885d8a397a16342c0b937ae4aa24b106505f233ae"}, {"document_id": "1004656", "title": "AGE", "reference_date": "2025-05-12", "version": "1", "page": 2, "url": "https://fnet.bmfbovespa.com.br/fnet/publico/visualizarDocumento?id=1004656", "sha256": "f6c9c009f6170e2b29f074b98522accec73f0c40efbf11f9ec2c8d3f1402616b"}, {"document_id": "911262", "title": "AGE", "reference_date": "2025-05-09", "version": "1", "page": 2, "url": "https://fnet.bmfbovespa.com.br/fnet/publico/visualizarDocumento?id=911262", "sha256": "675de4ffe8c5ee95957fb29810625ce850d1a0b69b5231747442266f0cbf32a3"}], "reference": {"path": "history/60010416000112.json", "criterion_id": "subordination", "total_count": 5, "preview_count": 3, "full_text_deferred": true, "sha256": "8e2bd813f4c51cf01f6bfaad164bafe69d2bbb192f753eac92da3a01c2e63046"}}</a:t>
            </a:r>
          </a:p>
          <a:p>
            <a:r>
              <a:t>CNPJ 62696791000193 · Subordinação mínima · Base da comparação IME: {"criterion_id": "subordination", "observed_value": null, "unit": "percent", "competence": "08/2026", "status": "ime_unavailable", "reason": "Campo IME ausente ou cotas não reconciliadas; ausência preservada sem substituir por zero.", "formula": "subordinated_and_mezzanine_quotas / net_asset_value × 100",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5.0}</a:t>
            </a:r>
          </a:p>
          <a:p>
            <a:r>
              <a:t>CNPJ 62696791000193 · Subordinação mínima · Regulamento · ID 1143317 · 20/03/2026 · versão Regulamento — referência 20/03/2026 · p. 34 · Apêndice Sênior, 4.1–4.1.1 · https://fnet.bmfbovespa.com.br/fnet/publico/visualizarDocumento?id=1143317</a:t>
            </a:r>
          </a:p>
          <a:p>
            <a:r>
              <a:t>CNPJ 62696791000193 · Subordinação mínima · Excerto da fonte:</a:t>
            </a:r>
          </a:p>
          <a:p>
            <a:r>
              <a:t>4.1. Após a Data da 1ª Integralização de Cotas Seniores, o Índice de Subordinação Sênior deverá ser igual ou superior a 5% (cinco por cento) (“Índice de Subordinação”). 4.1.1. O Índice de Subordinação Sênior corresponde ao resultado mínimo obrigatório da divisão de (a) o somatório do valor de todas as Cotas Mezanino e das Cotas Subordinadas Júnior em circulação, por (b) o valor do Patrimônio Líquido, expresso na f orma percentual, e será apurado todo Dia Útil pelo Administrador. 5. Negociação das Cotas 5.1. As Cotas Seniores não poderão ser negociadas no mercado secundário. 6. Amortização e Resgate das Cotas Seniores 6.1. Desde que o Patrimônio Líquido da Classe assim permita, a partir de janeiro de 2026, as Cotas Seniores f arão jus à Amortização semestral do Benchmark, a ser realizada no último Dia Útil dos meses de janeiro e de julho de cada ano (“Amortização Programada de Cotas Seniores” e “Data de Amortização Programada de Cotas Seniores”, respectivamente), observada a Ordem de Alocação de Recursos prevista no Anexo. 6.1.1. Caso, em uma Data de Amortização Programa de Cotas Seniores, a Classe não tenha recursos disponíveis suficientes para o seu pagamento integral a diferença entre (i) o Benchmark Sênior apurad</a:t>
            </a:r>
          </a:p>
          <a:p>
            <a:r>
              <a:t>CNPJ 62696791000193 · Subordinação mínima · AGE · ID 1143319 · 20/03/2026 10:00 · versão AGE — referência 20/03/2026 10:00 · p. 3 · AGC 20/03/2026, 4.1(j)–(k) · https://fnet.bmfbovespa.com.br/fnet/publico/visualizarDocumento?id=1143319</a:t>
            </a:r>
          </a:p>
          <a:p>
            <a:r>
              <a:t>CNPJ 62696791000193 · Subordinação mínima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Subordinação mínima · Condição: A fórmula soma mezanino e júnior. Não deve ser substituída apenas por júnior/PL nem por PL/sênior.</a:t>
            </a:r>
          </a:p>
          <a:p>
            <a:r>
              <a:t>CNPJ 62696791000193 · Subordinação mínima · Mecânica: {"operator": "&gt;=", "limit": 5.0, "unit": "percent", "numerator": "subordinated_and_mezzanine_quotas", "denominator": "net_asset_value", "frequency": "daily", "layer": "62696791000193", "effective_from": "2026-03-23", "effective_status": "explicit_assembly_effective_date", "requires_senior_outstanding": true}</a:t>
            </a:r>
          </a:p>
          <a:p>
            <a:r>
              <a:t>CNPJ 62696791000193 · Subordinação mínima · Versão e prevalência: Leitura específica das cláusulas indicadas; condições e conflitos preservados. Seleção documental atual não comprova vigência jurídica por data isolada.</a:t>
            </a:r>
          </a:p>
          <a:p>
            <a:r>
              <a:t>CNPJ 55563624000109 · Subordinação mínima · Regulamento · ID 1192614 · 30/04/2026 · versão Regulamento30/04/2026 · p. 15 · AnexoI5.1 · https://fnet.bmfbovespa.com.br/fnet/publico/visualizarDocumento?id=1192614</a:t>
            </a:r>
          </a:p>
          <a:p>
            <a:r>
              <a:t>CNPJ 55563624000109 · Subordinação mínima · Excerto da fonte:</a:t>
            </a:r>
          </a:p>
          <a:p>
            <a:r>
              <a:t>5.1 A Classe possui 3 (três) Subclasses de Cotas, quais sejam, a subclasse A (“Subclasse A” e “Cotas Subclasse A”), a subclasse B (“Subclasse B” e “Cotas Subclasse B”) e a subclasse C (“Subclasse C” e “Cotas Subclasse C”, sendo a Subclasse A, a Subclasse B referidas em conjunto como “Subclasses”, e as Cotas Subclasse A e as Cotas Subclasse B sendo referidas em conjunto como “Cotas”), diferindo-se, exclusivamente, em relação aos prazos de duração de cada Subclasse, conforme previstos nos seus respectivos Apêndices, sem qualquer tipo de subordinação entre</a:t>
            </a:r>
          </a:p>
          <a:p>
            <a:r>
              <a:t>CNPJ 55563624000109 · Subordinação mínima · Condição: Piso de proteção do Mercado Crédito II pertence ao investido, não às subclasses A/B/Cdo FIC.</a:t>
            </a:r>
          </a:p>
          <a:p>
            <a:r>
              <a:t>CNPJ 55563624000109 · Subordinação mínima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Subordinação mínima · Versão e prevalência: Leitura específica das cláusulas indicadas; condições e conflitos preservados. Seleção documental atual não comprova vigência jurídica por data isolada.</a:t>
            </a:r>
          </a:p>
          <a:p>
            <a:r>
              <a:t>CNPJ 55563624000109 · Subordinação mínima · Resumo do histórico: {"count": 1, "dates": ["2026-04-30"], "document_count": 1, "sources": [{"document_id": "1192614", "title": "Regulamento", "reference_date": "2026-04-30", "version": "1", "page": "15", "url": "https://fnet.bmfbovespa.com.br/fnet/publico/visualizarDocumento?id=1192614", "sha256": "f56e63ace0acde41d2f47fb48f1ac7f3f7df5e2d32de092d7c5e075a52516632"}], "reference": {"path": "history/55563624000109.json", "criterion_id": "subordination", "total_count": 1, "preview_count": 1, "full_text_deferred": true, "sha256": "7835d573fb58a3c19adf5b8ecc2aee2bdbb9a88f7a0c0209b5f262b64c7522e3"}}</a:t>
            </a:r>
          </a:p>
          <a:p>
            <a:r>
              <a:t>CNPJ 62552447000120 · Subordinação mínima · Regulamento · ID 1200623 · 21/05/2026 · versão Consolidado21/05/2026 aprovado pelo ato1200625 · p. 16 · AnexoI5.1–5.1.1 · https://fnet.bmfbovespa.com.br/fnet/publico/visualizarDocumento?id=1200623</a:t>
            </a:r>
          </a:p>
          <a:p>
            <a:r>
              <a:t>CNPJ 62552447000120 · Subordinação mínima · Excerto da fonte:</a:t>
            </a:r>
          </a:p>
          <a:p>
            <a:r>
              <a:t>5.1 A Classe não possui Subclasse. As características, os direitos e as condições de emissão, distribuição, subscrição, integralização, remuneração, Amortização e resgate das Cotas estão descritos neste Capítulo e no Capítulo 6. 5.1.1 Não obstante, por deliberação conjunta dos Prestadores de Serviços Essenciais e mediante aprovação em Assembleia Especial, poderá haver a divisão de Classes em Subclasses, nos termos da Resolução CVM 175. Após a primeira emissão de Cotas, novas emissões de Cotas (de quaisquer Subclasses) dependem de aprovação dos Cotistas. 5.2 As Cotas são escrit</a:t>
            </a:r>
          </a:p>
          <a:p>
            <a:r>
              <a:t>CNPJ 62552447000120 · Subordinação mínima · Regulamento · ID 1200623 · 21/05/2026 · versão Consolidado21/05/2026 aprovado pelo ato1200625 · p. 17 · AnexoI5.4(iv) · https://fnet.bmfbovespa.com.br/fnet/publico/visualizarDocumento?id=1200623</a:t>
            </a:r>
          </a:p>
          <a:p>
            <a:r>
              <a:t>CNPJ 62552447000120 · Subordinação mínima · Excerto da fonte:</a:t>
            </a:r>
          </a:p>
          <a:p>
            <a:r>
              <a:t>pari passu entre si, não havendo qualquer tipo de preferência, prioridade ou subordinação entre os Cotistas. CAPÍTULO 6 – EMISSÃO, SUBSCRIÇÃO, INTEGRALIZAÇÃO E TRANSFERÊNCIA DAS COTAS Emissão das Cotas 6.1 As Emissões de Cotas poderão ser objeto de ofertas públicas, nos termos da Resolução CVM 160 e demais regulações aplicáveis (“Oferta”), ou objeto de colocação privada, sem registro perante a CVM, por não conf igurar uma Of erta, nos termos da regulamentação aplicável (“Colocação Privada”). 6.2 Após a primeira emissão, eventuais novas emissões de Cotas somente poderão ser realizadas com a aprovação de</a:t>
            </a:r>
          </a:p>
          <a:p>
            <a:r>
              <a:t>CNPJ 62552447000120 · Subordinação mínima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Subordinação mínima · Versão e prevalência: Leitura específica das cláusulas indicadas; condições e conflitos preservados. Seleção documental atual não comprova vigência jurídica por data isolada.</a:t>
            </a:r>
          </a:p>
          <a:p>
            <a:r>
              <a:t>CNPJ 62552447000120 · Subordinação mínima · Resumo do histórico: {"count": 1, "dates": ["2025-09-03"], "document_count": 1, "sources": [{"document_id": "988020", "title": "Instrumento Particular de Emissão de Cotas", "reference_date": "2025-09-03", "version": "1", "page": "5", "url": "https://fnet.bmfbovespa.com.br/fnet/publico/visualizarDocumento?id=988020", "sha256": "8ecc8a771bb9713d64e5fc2052c489664cb0433801a9280db68e5187d35bf7a5"}], "reference": {"path": "history/62552447000120.json", "criterion_id": "subordination", "total_count": 1, "preview_count": 1, "full_text_deferred": true, "sha256": "d95db8c0613d67ee84118c734588665265ea6b02f86a0318d6a844cbe1d0f82f"}}</a:t>
            </a:r>
          </a:p>
          <a:p>
            <a:r>
              <a:t>CNPJ 63953620000165 · Subordinação mínima · Base da comparação IME: {"criterion_id": "subordination", "observed_value": 3.6973764433146807, "unit": "percent", "competence": "08/2026", "status": "not_comparable", "reason": "Vigência efetiva não comprovada; data do documento isolada não certifica enquadramento histórico.", "formula": "subordinated_quotas / net_asset_value × 100",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1.0}</a:t>
            </a:r>
          </a:p>
          <a:p>
            <a:r>
              <a:t>CNPJ 63953620000165 · Subordinação mínima · Anexo ao Regulamento · ID 1222863 · 02/06/2026 · versão AnexoConsignadoPrivado02/06/2026 · p. 23 · ApêndiceSênior4.1–4.1.1 · https://fnet.bmfbovespa.com.br/fnet/publico/visualizarDocumento?id=1222863</a:t>
            </a:r>
          </a:p>
          <a:p>
            <a:r>
              <a:t>CNPJ 63953620000165 · Subordinação mínima · Excerto da fonte:</a:t>
            </a:r>
          </a:p>
          <a:p>
            <a:r>
              <a:t>4.1. Após a Data da 1ª Integralização de Cotas Seniores, o Índice de Subordinação Sênior deverá ser igual ou superior a 1% (um por cento) (“Índice de Subordinação Sênior”). 4.1.1. O Índice de Subordinação Sênior corresponde ao resultado mínimo obrigatório da divisão de (a) o somatório do valor de todas as Cotas Subordinadas em circulação, por (b) o valor do Patrimônio Líquido, expresso na forma percentual, e será apurado todo Dia Útil pelo Administrador. 4.1.2. Verificado excesso do Índice de Subordinação Alvo (conforme definido no Apêndice da Subclasse Subordinada), as Cotas Subordinadas poderão ser objeto de Amortização Extra</a:t>
            </a:r>
          </a:p>
          <a:p>
            <a:r>
              <a:t>CNPJ 63953620000165 · Subordinação mínima · Mecânica: {"operator": "&gt;=", "unit": "percent", "denominator": "net_asset_value", "frequency": "daily", "layer": "class", "effective_status": "document_date_only", "document_date": "2026-06-02", "numerator": "subordinated_quotas", "limit": 1.0, "requires_senior_outstanding": true}</a:t>
            </a:r>
          </a:p>
          <a:p>
            <a:r>
              <a:t>CNPJ 63953620000165 · Subordinação mínima · Versão e prevalência: Leitura específica das cláusulas indicadas; condições e conflitos preservados. Seleção documental atual não comprova vigência jurídica por data isolada.</a:t>
            </a:r>
          </a:p>
          <a:p>
            <a:r>
              <a:t>CNPJ 54871427000194 · Razões de cobertura por camada · Motivo: Não localizada uma cláusula material para este critério nos textos identificados e processados. A ausência de resultado não comprova inexistência da regra.</a:t>
            </a:r>
          </a:p>
          <a:p>
            <a:r>
              <a:t>CNPJ 60010416000112 · Razões de cobertura por camada · Motivo: Não localizada uma cláusula material para este critério nos textos identificados e processados. A ausência de resultado não comprova inexistência da regra.</a:t>
            </a:r>
          </a:p>
          <a:p>
            <a:r>
              <a:t>CNPJ 62696791000193 · Razões de cobertura por camada · Motivo: Não localizada uma cláusula material para este critério nos textos identificados e processados. A ausência de resultado não comprova inexistência da regra.</a:t>
            </a:r>
          </a:p>
          <a:p>
            <a:r>
              <a:t>CNPJ 55563624000109 · Razões de cobertura por camada · Motivo: Não localizada uma cláusula material para este critério nos textos identificados e processados. A ausência de resultado não comprova inexistência da regra.</a:t>
            </a:r>
          </a:p>
          <a:p>
            <a:r>
              <a:t>CNPJ 62552447000120 · Razões de cobertura por camada · Motivo: Não localizada uma cláusula material para este critério nos textos identificados e processados. A ausência de resultado não comprova inexistência da regra.</a:t>
            </a:r>
          </a:p>
          <a:p>
            <a:r>
              <a:t>CNPJ 63953620000165 · Razões de cobertura por camada · Motivo: Não localizada uma cláusula material para este critério nos textos identificados e processados. A ausência de resultado não comprova inexistência da regra.</a:t>
            </a:r>
          </a:p>
          <a:p>
            <a:r>
              <a:t>CNPJ 54871427000194 · Liberação e amortização da júnior · Motivo: Não localizada uma cláusula material para este critério nos textos identificados e processados. A ausência de resultado não comprova inexistência da regra.</a:t>
            </a:r>
          </a:p>
          <a:p>
            <a:r>
              <a:t>CNPJ 60010416000112 · Liberação e amortização da júnior · Regulamento · ID 1051393 · 09/10/2025 · versão Regulamento09/10/2025 · p. 15 · AnexoI7.3.1,7.6 · https://fnet.bmfbovespa.com.br/fnet/publico/visualizarDocumento?id=1051393</a:t>
            </a:r>
          </a:p>
          <a:p>
            <a:r>
              <a:t>CNPJ 60010416000112 · Liberação e amortização da júnior · Excerto da fonte:</a:t>
            </a:r>
          </a:p>
          <a:p>
            <a:r>
              <a:t>7.3.1. As Cotas Subordinadas poderão ser amortizadas caso sejam atingidas, cumulativamente, as seguintes condições: (i) o Índice de Subordinação esteja sendo atendido; (ii) desde que não esteja em curso um Evento de Avaliação e/ou Evento de Liquidação; e (iii) não tenha ocorrido ou esteja em andamento nenhum inadimplemento pecuniário pelo Agente de Retenção/Cobrança, nos termos do presente Regulamento, do Contrato de Endosso e do Contrato de Serviços MT. 7.4. As Amortizações serão realizadas tomando-se por base o Valor U</a:t>
            </a:r>
          </a:p>
          <a:p>
            <a:r>
              <a:t>CNPJ 60010416000112 · Liberação e amortização da júnior · Versão e prevalência: Leitura específica das cláusulas indicadas; condições e conflitos preservados. Seleção documental atual não comprova vigência jurídica por data isolada.</a:t>
            </a:r>
          </a:p>
          <a:p>
            <a:r>
              <a:t>CNPJ 60010416000112 · Liberação e amortização da júnior · Resumo do histórico: {"count": 1, "dates": ["2025-03-20"], "document_count": 1, "sources": [{"document_id": "993786", "title": "Regulamento", "reference_date": "2025-03-20", "version": "1", "page": 14, "clause": "5.7", "url": "https://fnet.bmfbovespa.com.br/fnet/publico/visualizarDocumento?id=993786", "sha256": "fd0fdd369a195510d81f81f505195a0b09e5f43522a990afa7d58c4f872921c8"}], "reference": {"path": "history/60010416000112.json", "criterion_id": "junior_release", "total_count": 1, "preview_count": 1, "full_text_deferred": true, "sha256": "8e2bd813f4c51cf01f6bfaad164bafe69d2bbb192f753eac92da3a01c2e63046"}}</a:t>
            </a:r>
          </a:p>
          <a:p>
            <a:r>
              <a:t>CNPJ 62696791000193 · Liberação e amortização da júnior · Regulamento · ID 1143317 · 20/03/2026 · versão Regulamento — referência 20/03/2026 · p. 37 · Apêndice Júnior, 4.1–4.2 e 5.1 · https://fnet.bmfbovespa.com.br/fnet/publico/visualizarDocumento?id=1143317</a:t>
            </a:r>
          </a:p>
          <a:p>
            <a:r>
              <a:t>CNPJ 62696791000193 · Liberação e amortização da júnior · Excerto da fonte:</a:t>
            </a:r>
          </a:p>
          <a:p>
            <a:r>
              <a:t>4.1. Caso o Patrimônio Líquido da Classe assim permita, as Cotas Subordinadas f arão jus à amortização semestral, no último Dia Útil dos meses de janeiro e julho de cada ano, de valor equivalente ao excedente do valor de integralização das Cotas Subordinadas em circulação, limitado ao percentual de 100% (cem por cento) da variação positiva do CDI acrescida de 4,50% (quatro inteiros e cinco décimos por cento) ao ano, considerando, para tanto a razão entre (i) o valor de integralização das Cotas Subordinadas Júnior em circulação e (ii) o valor de cada uma das Cotas Subordinadas, a ser paga na Data de Amortização Programada de Cotas Seniores (“Amortização das Cotas Subordinadas”). 4.2. Em complemento às Amortizações das Cotas Subordinadas, os Cotistas Subordinados farão jus, sempre que o Patrimônio Líquido da Classe assim permita e desde que o Valor Unitário das Cotas Subordinadas esteja superior ao valor de integralização das Cotas Subordinadas em circulação, a 50% (cinquenta por cento) de qualquer valor que exceder a Amortização das Cotas Subordinadas, a ser paga na Data de Amortização Programada de Cotas Seniores (“Amortização Extraordinária de Cotas Seniores”). 5. Excesso de Subordinação 5.1. Verif icado excesso de subordinação,</a:t>
            </a:r>
          </a:p>
          <a:p>
            <a:r>
              <a:t>CNPJ 62696791000193 · Liberação e amortização da júnior · Condição: O piso sênior usa MZ+júnior; a liberação extraordinária citada compara júnior/PL. São bases distintas. Os “Eventos de Avaliação” usados como condição não estão definidos no consolidado obtido.</a:t>
            </a:r>
          </a:p>
          <a:p>
            <a:r>
              <a:t>CNPJ 62696791000193 · Liberação e amortização da júnior · Versão e prevalência: Leitura específica das cláusulas indicadas; condições e conflitos preservados. Seleção documental atual não comprova vigência jurídica por data isolada.</a:t>
            </a:r>
          </a:p>
          <a:p>
            <a:r>
              <a:t>CNPJ 55563624000109 · Liberação e amortização da júnior · Motivo: Não localizada uma cláusula material para este critério nos textos identificados e processados. A ausência de resultado não comprova inexistência da regra.</a:t>
            </a:r>
          </a:p>
          <a:p>
            <a:r>
              <a:t>CNPJ 62552447000120 · Liberação e amortização da júnior · Regulamento · ID 1200623 · 2026-05-21 · versão 1 · p. 19 · 7.2 · https://fnet.bmfbovespa.com.br/fnet/publico/visualizarDocumento?id=1200623</a:t>
            </a:r>
          </a:p>
          <a:p>
            <a:r>
              <a:t>CNPJ 62552447000120 · Liberação e amortização da júnior · Excerto da fonte:</a:t>
            </a:r>
          </a:p>
          <a:p>
            <a:r>
              <a:t>7.2 As Cotas poderão ser amortizadas através de uma Amortização programada, se houver, conforme  prevista nos Apêndices, caso aplicável (“Amortização Programada”), e por meio amortização  extraordinária das Cotas, a ser realizada por (a) por decisão do Gestor, para: (i) reenquadramento da  Carteira ao mínimo de Direitos Creditórios que deve ser detido pela Classe para f ins tributários/legais;</a:t>
            </a:r>
          </a:p>
          <a:p>
            <a:r>
              <a:t> (ii) necessidade de fluxo de caixa da Classe; e (iii) manutenção de liquidez, (b) por deliberação de uma  Assembleia Especial, observando o disposto neste Regulamento quando se tratar da amortização  extraordinária de Cotas de subclasse subordinada mezanino ou Cotas de subclasse subordinada júnior;</a:t>
            </a:r>
          </a:p>
          <a:p>
            <a:r>
              <a:t> e/ou (c) no caso de liquidação antecipada do Fundo ou da Classe (“Amortização Extraordinária” e,  quando ref erida em conjunto com as Amortizações Programadas, “Amortização”). O pagamento da  amortização extraordinária de Cotas decorrente de decisão do Gestor deve ser realizado em moeda  corrente nacional.</a:t>
            </a:r>
          </a:p>
          <a:p>
            <a:r>
              <a:t>CNPJ 62552447000120 · Liberação e amortização da júnior · Condição: Documentos atuais selecionados no inventário por categoria/escopo; a data documental isolada não comprova vigência jurídica.</a:t>
            </a:r>
          </a:p>
          <a:p>
            <a:r>
              <a:t>CNPJ 62552447000120 · Liberação e amortização da júnior · Motivo: Cláusula primária localizada e citada, mas sua lista/condições extensas não admitem uma síntese literal curta confirmada. O trecho integral permanece nas fontes.</a:t>
            </a:r>
          </a:p>
          <a:p>
            <a:r>
              <a:t>CNPJ 62552447000120 · Liberação e amortização da júnior · Versão e prevalência: Documentos atuais selecionados no inventário por categoria/escopo; a data documental isolada não comprova vigência jurídica.</a:t>
            </a:r>
          </a:p>
          <a:p>
            <a:r>
              <a:t>CNPJ 63953620000165 · Liberação e amortização da júnior · Anexo ao Regulamento · ID 1222863 · 02/06/2026 · versão AnexoConsignadoPrivado02/06/2026 · p. 24 · ApêndiceSubordinada4.1 · https://fnet.bmfbovespa.com.br/fnet/publico/visualizarDocumento?id=1222863</a:t>
            </a:r>
          </a:p>
          <a:p>
            <a:r>
              <a:t>CNPJ 63953620000165 · Liberação e amortização da júnior · Excerto da fonte:</a:t>
            </a:r>
          </a:p>
          <a:p>
            <a:r>
              <a:t>4.1. Verificado que o Índice de Subordinação Alvo é atendido, ou seja, que a representatividade de Cotas Subordinadas em relação ao Patrimônio Líquido da Classe é superior à 10,00% (dez por cento) (“Índice de Subordinação Alvo”), as Cotas Subordinadas poderão ser objeto de Amortização Extraordinária até o limite excedente ao Índice de Subordinação Alvo– ainda que tal Amortização Extraordinária ocorra antes do resgate integral das Cotas Seniores – desde que: (i) seja observada a ordem de alocação de recursos definida no item 8.1 acima Anexo; (ii) não existam Obrigações da Classe vencidas e não pagas; (iii) não estejam em curso quaisquer Eventos de</a:t>
            </a:r>
          </a:p>
          <a:p>
            <a:r>
              <a:t>CNPJ 63953620000165 · Liberação e amortização da júnior · Anexo ao Regulamento · ID 1222863 · 02/06/2026 · versão AnexoConsignadoPrivado02/06/2026 · p. 23 · ApêndiceSênior4.1.2 · https://fnet.bmfbovespa.com.br/fnet/publico/visualizarDocumento?id=1222863</a:t>
            </a:r>
          </a:p>
          <a:p>
            <a:r>
              <a:t>CNPJ 63953620000165 · Liberação e amortização da júnior · Excerto da fonte:</a:t>
            </a:r>
          </a:p>
          <a:p>
            <a:r>
              <a:t>4.1.2. Verificado excesso do Índice de Subordinação Alvo (conforme definido no Apêndice da Subclasse Subordinada), as Cotas Subordinadas poderão ser objeto de Amortização Extraordinária até o limite do respectivos Excesso de Subordinação – ainda que tal Amortização Extraordinária ocorra antes do resgate integral das Cotas Seniores – desde que: (a) seja observada a ordem de alocação de recursos definida no item 8.1 acima Anexo; (b) não existam Obrigações da Classe vencidas e não pagas; (c) não estejam em curso quaisquer Eventos de Avaliação e/ou Eventos de Liquidação; (d) existam suficientes Ativos Financeiros e/ou recur</a:t>
            </a:r>
          </a:p>
          <a:p>
            <a:r>
              <a:t>CNPJ 63953620000165 · Liberação e amortização da júnior · Condição: 10% é patamar de liberação, diferente do piso protetivo de 1%.</a:t>
            </a:r>
          </a:p>
          <a:p>
            <a:r>
              <a:t>CNPJ 63953620000165 · Liberação e amortização da júnior · Versão e prevalência: Leitura específica das cláusulas indicadas; condições e conflitos preservados. Seleção documental atual não comprova vigência jurídica por data isolada.</a:t>
            </a:r>
          </a:p>
          <a:p>
            <a:r>
              <a:t>CNPJ 54871427000194 · Reserva de liquidez · Motivo: Não localizada uma cláusula material para este critério nos textos identificados e processados. A ausência de resultado não comprova inexistência da regra.</a:t>
            </a:r>
          </a:p>
          <a:p>
            <a:r>
              <a:t>CNPJ 60010416000112 · Reserva de liquidez · Motivo: Não localizada uma cláusula material para este critério nos textos identificados e processados. A ausência de resultado não comprova inexistência da regra.</a:t>
            </a:r>
          </a:p>
          <a:p>
            <a:r>
              <a:t>CNPJ 62696791000193 · Reserva de liquidez · Motivo: Não localizada uma cláusula material para este critério nos textos identificados e processados. A ausência de resultado não comprova inexistência da regra.</a:t>
            </a:r>
          </a:p>
          <a:p>
            <a:r>
              <a:t>CNPJ 55563624000109 · Reserva de liquidez · Motivo: Não localizada uma cláusula material para este critério nos textos identificados e processados. A ausência de resultado não comprova inexistência da regra.</a:t>
            </a:r>
          </a:p>
          <a:p>
            <a:r>
              <a:t>CNPJ 62552447000120 · Reserva de liquidez · Motivo: Não localizada uma cláusula material para este critério nos textos identificados e processados. A ausência de resultado não comprova inexistência da regra.</a:t>
            </a:r>
          </a:p>
          <a:p>
            <a:r>
              <a:t>CNPJ 63953620000165 · Reserva de liquidez · Base da comparação IME: {"criterion_id": "liquidity_reserve", "observed_value": null, "unit": "", "competence": "08/2026", "status": "not_comparable", "reason": "Reserva contratual exige segregação, ativos elegíveis, cronograma ou despesas; disponibilidades agregadas não comprovam a reserva.", "formula": "",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null, "comparison_required": true, "context_formula": "Disponibilidades", "context_value": 10000.0, "context_unit": "currency"}</a:t>
            </a:r>
          </a:p>
          <a:p>
            <a:r>
              <a:t>CNPJ 63953620000165 · Reserva de liquidez · Anexo ao Regulamento · ID 1222863 · 02/06/2026 · versão AnexoConsignadoPrivado02/06/2026 · p. 12 · 8.2–8.2.1 · https://fnet.bmfbovespa.com.br/fnet/publico/visualizarDocumento?id=1222863</a:t>
            </a:r>
          </a:p>
          <a:p>
            <a:r>
              <a:t>CNPJ 63953620000165 · Reserva de liquidez · Excerto da fonte:</a:t>
            </a:r>
          </a:p>
          <a:p>
            <a:r>
              <a:t>8.2 O Administrador e o Gestor obrigam-se a, a partir da data da primeira integralização de Cotas Seniores (“Data da 1ª Integralização”) até o final do Período de Investimento, constituir e manter, exclusivamente a partir dos valores integralizados pelo Cotista Sênior, uma Reserva da Caixa, em montante correspondente a R$ 150.000.000,00 (cento e cinquenta milhões e quinhentos mil reais) corrigido diariamente pela rentabilidade auferida sob o referido montante (“Reserva de Caixa”). 8.2.1 A deliberação acerca da utilização dos valores mantidos na Reserva de Caixa dependerá de prévia aprovação em Asse</a:t>
            </a:r>
          </a:p>
          <a:p>
            <a:r>
              <a:t>CNPJ 63953620000165 · Reserva de liquidez · Anexo ao Regulamento · ID 1222863 · 02/06/2026 · versão AnexoConsignadoPrivado02/06/2026 · p. 13 · 10.2(xvii) · https://fnet.bmfbovespa.com.br/fnet/publico/visualizarDocumento?id=1222863</a:t>
            </a:r>
          </a:p>
          <a:p>
            <a:r>
              <a:t>CNPJ 63953620000165 · Reserva de liquidez · Excerto da fonte:</a:t>
            </a:r>
          </a:p>
          <a:p>
            <a:r>
              <a:t>(xvii) alterações na disciplina, critérios de constituição, manutenção Maioria das Cotas de cada Subclasse ou utilização da Reserva de Caixa, bem como deliberação acerca da BTG Pactual SAC: 0800 772 28 27 - Ouvidoria: 0800 722 00 48 - btgpactual.com 13 Clicksign 5616d885-8e2b-40d9-861e-75413fca8eb1</a:t>
            </a:r>
          </a:p>
          <a:p>
            <a:r>
              <a:t>CNPJ 63953620000165 · Reserva de liquidez · Condição: Extenso da cláusula 8.2 diz 150 milhões 500 mil, divergindo de R$ 150 milhões. Caixa do IME agregado não demonstra conta segregada/rentabilidade acumulada.</a:t>
            </a:r>
          </a:p>
          <a:p>
            <a:r>
              <a:t>CNPJ 63953620000165 · Reserva de liquidez · Motivo: Não localizada uma cláusula material para este critério nos textos identificados e processados. A ausência de resultado não comprova inexistência da regra.</a:t>
            </a:r>
          </a:p>
          <a:p>
            <a:r>
              <a:t>CNPJ 63953620000165 · Reserva de liquidez · Versão e prevalência: Leitura específica das cláusulas indicadas; condições e conflitos preservados. Seleção documental atual não comprova vigência jurídica por data isolada.</a:t>
            </a:r>
          </a:p>
          <a:p>
            <a:r>
              <a:t>CNPJ 54871427000194 · Reserva de despesas · Motivo: Não localizada uma cláusula material para este critério nos textos identificados e processados. A ausência de resultado não comprova inexistência da regra.</a:t>
            </a:r>
          </a:p>
          <a:p>
            <a:r>
              <a:t>CNPJ 60010416000112 · Reserva de despesas · Motivo: Não localizada uma cláusula material para este critério nos textos identificados e processados. A ausência de resultado não comprova inexistência da regra.</a:t>
            </a:r>
          </a:p>
          <a:p>
            <a:r>
              <a:t>CNPJ 62696791000193 · Reserva de despesas · Base da comparação IME: {"criterion_id": "expense_reserve", "observed_value": null, "unit": "", "competence": "08/2026", "status": "not_comparable", "reason": "Reserva de despesas depende da base de encargos e da segregação previstas; disponibilidades não demonstram meses de despesas cobertos.",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null, "comparison_required": true, "context_formula": "Disponibilidades", "context_value": null, "context_unit": "currency"}</a:t>
            </a:r>
          </a:p>
          <a:p>
            <a:r>
              <a:t>CNPJ 62696791000193 · Reserva de despesas · Regulamento · ID 1143317 · 20/03/2026 · versão Regulamento — referência 20/03/2026 · p. 16 · Anexo I, 6.1(ii) · https://fnet.bmfbovespa.com.br/fnet/publico/visualizarDocumento?id=1143317</a:t>
            </a:r>
          </a:p>
          <a:p>
            <a:r>
              <a:t>CNPJ 62696791000193 · Reserva de despesas · Excerto da fonte:</a:t>
            </a:r>
          </a:p>
          <a:p>
            <a:r>
              <a:t>6.1 O Administrador e o Gestor obrigam-se a, a partir da data da primeira integralização de Cotas até a liquidação integral das obrigações da Classe, utilizar os recursos disponíveis na Conta da Classe e/ou mantidos em Ativos Financeiros de Liquidez em cada Dia Útil, de acordo com a seguinte ordem de prioridade de alocação, de modo que cada item abaixo listado apenas será contemplado após o direcionamento do montante total necessário para a satisfação dos itens anteriores, ressalvada a ocorrência de eventos extraordinários que afetem o funcionamento regular do Fundo e/ou da Classe: (i) pagamento dos encargos do Fundo e/ou da Classe; (ii) constituição e/ou recomposição da reserva de despesas de modo que esta, ao final de cada Dia Útil, seja equivalente ao montante estimado dos encargos, a serem incorridos nos 6 (seis) meses calendário imediatamente subsequentes pelo Fundo e/ou a Classe (“Reserva de Despesas”); (iii) pagamento de Amortização ou resgate de Cotas Seniores, se houver; (iv) pagamento de Amortização ou resgate de Cotas Mezanino, se houver; (v) aquisição pela Cla</a:t>
            </a:r>
          </a:p>
          <a:p>
            <a:r>
              <a:t>CNPJ 62696791000193 · Reserva de despesas · Condição: Saldo agregado de caixa/liquidez do IME não identifica a reserva constituída nem a estimativa futura de encargos.</a:t>
            </a:r>
          </a:p>
          <a:p>
            <a:r>
              <a:t>CNPJ 62696791000193 · Reserva de despesas · Versão e prevalência: Leitura específica das cláusulas indicadas; condições e conflitos preservados. Seleção documental atual não comprova vigência jurídica por data isolada.</a:t>
            </a:r>
          </a:p>
          <a:p>
            <a:r>
              <a:t>CNPJ 55563624000109 · Reserva de despesas · Base da comparação IME: {"criterion_id": "expense_reserve", "observed_value": null, "unit": "", "competence": "08/2026", "status": "not_comparable", "reason": "Reserva de despesas depende da base de encargos e da segregação previstas; disponibilidades não demonstram meses de despesas cobertos.", "formula": "",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null, "comparison_required": true, "context_formula": "Disponibilidades", "context_value": 0.0, "context_unit": "currency"}</a:t>
            </a:r>
          </a:p>
          <a:p>
            <a:r>
              <a:t>CNPJ 55563624000109 · Reserva de despesas · Regulamento · ID 1192614 · 30/04/2026 · versão Regulamento30/04/2026 · p. 18 · AnexoI8.1(ii) · https://fnet.bmfbovespa.com.br/fnet/publico/visualizarDocumento?id=1192614</a:t>
            </a:r>
          </a:p>
          <a:p>
            <a:r>
              <a:t>CNPJ 55563624000109 · Reserva de despesas · Excerto da fonte:</a:t>
            </a:r>
          </a:p>
          <a:p>
            <a:r>
              <a:t>constituição e/ou recomposição da Reserva de Despesas de modo que esta, ao final de cada Dia Útil, seja equivalente ao montante estimado dos Encargos, a serem incorridos nos 3 (três) meses calendário imediatamente subsequentes; (iii) pagamento de resgate de Cotas aos Cotistas Dissidentes, nos termos do item 11.4.1 abaixo; (iv) pagamento de amortização ou resgate de Cotas, se houver; e BTG Pactual SAC: 0800 772 28 27 - Ouvidoria: 0800 722 00 48 - btgpactual.com</a:t>
            </a:r>
          </a:p>
          <a:p>
            <a:r>
              <a:t>CNPJ 55563624000109 · Reserva de despesas · Regulamento · ID 1192614 · 30/04/2026 · versão Regulamento30/04/2026 · p. 44 · GlossárioReserva de Despesas · https://fnet.bmfbovespa.com.br/fnet/publico/visualizarDocumento?id=1192614</a:t>
            </a:r>
          </a:p>
          <a:p>
            <a:r>
              <a:t>CNPJ 55563624000109 · Reserva de despesas · Excerto da fonte:</a:t>
            </a:r>
          </a:p>
          <a:p>
            <a:r>
              <a:t>Reserva de Despesas”: é a parcela do Patrimônio Líquido a ser retida e destinada exclusivamente para pagamento dos Encargos, nos termos do item 8.1(ii) deste Anexo, e mantida exclusivamente em Ativos Financeiros de Liquidez; “Resolução CVM 30”: Resolução CVM nº 30, de 11 de maio de 2021, conforme alterada; “Resolução CVM 175”: Resolução CVM nº 175, de 23 de dezembro de 2022, conforme alterada; “Taxa de Administração”: a taxa que é devida ao ADMINISTRADOR, nos termos do item 13.2 deste Anexo; “Taxa de Gestão”: a taxa mensal que é devida ao GESTOR, nos termos do item 13.5 deste Anexo; “Taxa de Ges</a:t>
            </a:r>
          </a:p>
          <a:p>
            <a:r>
              <a:t>CNPJ 55563624000109 · Reserva de despesas · Condição: Requer orçamento dos 3 meses; caixa agregado do IME não valida sozinho o valor exigido.</a:t>
            </a:r>
          </a:p>
          <a:p>
            <a:r>
              <a:t>CNPJ 55563624000109 · Reserva de despesas · Versão e prevalência: Leitura específica das cláusulas indicadas; condições e conflitos preservados. Seleção documental atual não comprova vigência jurídica por data isolada.</a:t>
            </a:r>
          </a:p>
          <a:p>
            <a:r>
              <a:t>CNPJ 62552447000120 · Reserva de despesas · Base da comparação IME: {"criterion_id": "expense_reserve", "observed_value": null, "unit": "", "competence": "08/2026", "status": "not_comparable", "reason": "Reserva de despesas depende da base de encargos e da segregação previstas; disponibilidades não demonstram meses de despesas cobertos.", "formula": "",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null, "comparison_required": true, "context_formula": "Disponibilidades", "context_value": 0.0, "context_unit": "currency"}</a:t>
            </a:r>
          </a:p>
          <a:p>
            <a:r>
              <a:t>CNPJ 62552447000120 · Reserva de despesas · Regulamento · ID 1200623 · 21/05/2026 · versão Consolidado21/05/2026 aprovado pelo ato1200625 · p. 11 · AnexoI3.4 · https://fnet.bmfbovespa.com.br/fnet/publico/visualizarDocumento?id=1200623</a:t>
            </a:r>
          </a:p>
          <a:p>
            <a:r>
              <a:t>CNPJ 62552447000120 · Reserva de despesas · Excerto da fonte:</a:t>
            </a:r>
          </a:p>
          <a:p>
            <a:r>
              <a:t>3.4 A Classe manterá, em Ativos Financeiros e/ou disponibilidades de caixa, um valor destinado ao pagamento de despesas f ixas e periódicas da Classe (como a remuneração dos Prestadores de Serviços Essenciais e seu contratados, bem como as taxas, impostos ou co ntribuições f ederais, estaduais, municipais ou autárquicas que recaiam ou venham a recair sobre os bens, direitos e obrigações da Classe), estimadas para um horizonte temporal de 6 (seis) meses (“Reserva de Caixa”). 3.5 Adicionalmente aos Encargos, as seguintes despesas serão debitadas diretamente da Classe, nos termos do art. 51 do Anexo Norma</a:t>
            </a:r>
          </a:p>
          <a:p>
            <a:r>
              <a:t>CNPJ 62552447000120 · Reserva de despesas · Regulamento · ID 1200623 · 21/05/2026 · versão Consolidado21/05/2026 aprovado pelo ato1200625 · p. 20 · AnexoI8.1(ii) · https://fnet.bmfbovespa.com.br/fnet/publico/visualizarDocumento?id=1200623</a:t>
            </a:r>
          </a:p>
          <a:p>
            <a:r>
              <a:t>CNPJ 62552447000120 · Reserva de despesas · Excerto da fonte:</a:t>
            </a:r>
          </a:p>
          <a:p>
            <a:r>
              <a:t>constituição e/ou recomposição da Reserva de Caixa, nos termos da Cláusula 3.4 acima; (iii) pagamento de Amortização ou resgate de Cotas, conf orme aplicável; (iv) aquisição pela Classe de Direitos Creditórios, observando-se a Política de Investimentos; e (v) aquisição pela Classe de Ativos Financeiros, observando-se a Política de Investimentos. CAPÍTULO 9 – METODOLOGIA DE AVALIAÇÃO DOS ATIVOS DA CLASSE 9.1 Os Direitos Creditórios e Ativos Financeiros que compõem a Carteira terão seus valores calculados todo Dia Útil conforme a metodologia de avaliação descrita no manual d o Administrador ou, ainda, nos</a:t>
            </a:r>
          </a:p>
          <a:p>
            <a:r>
              <a:t>CNPJ 62552447000120 · Reserva de despesas · Condição: IME de caixa agregado não permite estimar sozinho o orçamento contratual dos 6 meses.</a:t>
            </a:r>
          </a:p>
          <a:p>
            <a:r>
              <a:t>CNPJ 62552447000120 · Reserva de despesas · Motivo: Não localizada uma cláusula material para este critério nos textos identificados e processados. A ausência de resultado não comprova inexistência da regra.</a:t>
            </a:r>
          </a:p>
          <a:p>
            <a:r>
              <a:t>CNPJ 62552447000120 · Reserva de despesas · Versão e prevalência: Leitura específica das cláusulas indicadas; condições e conflitos preservados. Seleção documental atual não comprova vigência jurídica por data isolada.</a:t>
            </a:r>
          </a:p>
          <a:p>
            <a:r>
              <a:t>CNPJ 63953620000165 · Reserva de despesas · Motivo: Não localizada uma cláusula material para este critério nos textos identificados e processados. A ausência de resultado não comprova inexistência da regra.</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Proteção por camada</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Subordinação mínima · Regulamento · ID 670691 · 28/04/2024 · versão Regulamento — referência 28/04/2024 · p. 13 · Anexo I, 5.1 · https://fnet.bmfbovespa.com.br/fnet/publico/visualizarDocumento?id=670691</a:t>
            </a:r>
          </a:p>
          <a:p>
            <a:r>
              <a:t>CNPJ 54871427000194 · Subordinação mínima · Excerto da fonte:</a:t>
            </a:r>
          </a:p>
          <a:p>
            <a:r>
              <a:t>5.1 O patrimônio da Classe é representado por uma única subclasse e uma única série de Cotas. As características, os direitos e as condições de emissão, distribuição, subscrição, integralização, remuneração, Amortização e resgate das Cotas estão descritos neste Capítulo. As características, os direitos e as condições de emissão, distribuição, subscrição, integralização, remuneração, amortização e resgate das Cotas estão descritos neste Capítulo. 5.2 As Cotas são escriturais, nominativas e correspondem a f rações ideais do patrimônio da Classe, cuja propriedade presume-se: (i) pelo registro do nome do Cotista no livro de registro de Cotistas, enquanto mantidas em conta de depósito mantidas junto ao Agente Escriturador em nome dos respectivos Cotistas, nos termos do Art. 15 da Resolução CVM 175; (ii) pelos controles de titularidade mantidos pelo depositário central junto ao qual as Cotas estejam depositadas, nos termos do Art. 25 da Lei nº 12.810, de 15 de maio de 2013, conf orme alterada. 5.3 As Cotas poderão ser objeto de resgate antecipado apenas na hipótese de ocorrência de Evento de Liquidação, observado o disposto neste Regulamento. BTG Pactual SAC: 0800 772 28 27 - Ouvidoria: 0800 7</a:t>
            </a:r>
          </a:p>
          <a:p>
            <a:r>
              <a:t>CNPJ 54871427000194 · Subordinação mínima · Regulamento · ID 670691 · 28/04/2024 · versão Regulamento — referência 28/04/2024 · p. 14 · Anexo I, 5.4(iv) · https://fnet.bmfbovespa.com.br/fnet/publico/visualizarDocumento?id=670691</a:t>
            </a:r>
          </a:p>
          <a:p>
            <a:r>
              <a:t>CNPJ 54871427000194 · Subordinação mínima · Excerto da fonte:</a:t>
            </a:r>
          </a:p>
          <a:p>
            <a:r>
              <a:t>5.4 As Cotas possuem as seguintes características e atribuem os seguintes direitos e obrigações aos seus titulares: (i) conf erem direito de voto em todas e quaisquer matérias objeto de deliberação nas Assembleias Gerais, sendo que a cada Cota corresponderá 1 (um) voto. (ii) na Data da 1ª Integralização de Cotas, terão Valor Unitário de R$ 1.000,00 (mil reais), sendo que as Cotas distribuídas posteriormente terão seu Valor Unitário de Emissão calculado com base na alínea (iii) abaixo; (iii) seu Valor Unitário será calculado e divulgado na abertura de todo Dia Útil, para ef eito de def inição de seu valor de integralização, Amortização ou resgate, observado que tal valor será equivalente ao resultado da divisão do valor do Patrimônio Líquido pelo número de Cotas em circulação; e (iv) os direitos dos titulares das Cotas contra o Patrimônio Líquido nos termos deste Regulamento, são pari passu entre si, não havendo qualquer tipo de preferência, prioridade ou subordinação entre os titulares de Cotas. Emissão, Subscrição e Integralização das Cotas 5.5 Após a primeira emissão, eventuais nov</a:t>
            </a:r>
          </a:p>
          <a:p>
            <a:r>
              <a:t>CNPJ 54871427000194 · Subordinação mínima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Subordinação mínima · Versão e prevalência: Leitura específica das cláusulas indicadas; condições e conflitos preservados. Seleção documental atual não comprova vigência jurídica por data isolada.</a:t>
            </a:r>
          </a:p>
          <a:p>
            <a:r>
              <a:t>CNPJ 54871427000194 · Subordinação mínima · Resumo do histórico: {"count": 1, "dates": ["2024-04-28"], "document_count": 1, "sources": [{"document_id": "670691", "title": "Regulamento", "reference_date": "2024-04-28", "version": "1", "page": "14", "url": "https://fnet.bmfbovespa.com.br/fnet/publico/visualizarDocumento?id=670691", "sha256": "bf16dd7f1a62d5cdbf2e2d54fef81783783f7310fbc99c3a8f00459bdf9d037b"}], "reference": {"path": "history/54871427000194.json", "criterion_id": "subordination", "total_count": 1, "preview_count": 1, "full_text_deferred": true, "sha256": "35d7cd99be50c7287c9fb675cf4f2e736002315295a225a9efa79c8d9186d874"}}</a:t>
            </a:r>
          </a:p>
          <a:p>
            <a:r>
              <a:t>CNPJ 60010416000112 · Subordinação mínima · Base da comparação IME: {"criterion_id": "subordination", "observed_value": 8.647499534299206, "unit": "percent", "competence": "08/2026", "status": "not_comparable", "reason": "Vigência efetiva não comprovada; data do documento isolada não certifica enquadramento histórico.", "formula": "subordinated_quotas / net_asset_value × 100",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5.0}</a:t>
            </a:r>
          </a:p>
          <a:p>
            <a:r>
              <a:t>CNPJ 60010416000112 · Subordinação mínima · Regulamento · ID 1051393 · 09/10/2025 · versão Regulamento09/10/2025 · p. 45 · GlossárioÍndice de Subordinação · https://fnet.bmfbovespa.com.br/fnet/publico/visualizarDocumento?id=1051393</a:t>
            </a:r>
          </a:p>
          <a:p>
            <a:r>
              <a:t>CNPJ 60010416000112 · Subordinação mínima · Excerto da fonte:</a:t>
            </a:r>
          </a:p>
          <a:p>
            <a:r>
              <a:t>Índice de Subordinação”: signif ica a razão mínima admitida entre: (a) Patrimônio Líquido das Cotas Subordinadas; e (b) o Patrimônio Líquido da Classe, conforme apurada pelo Gestor em cada Dia Útil, equivalente a 5% (cinco por cento); “Instituições Autorizadas”: qualquer das seguintes instituições f inanceiras: (i) Itaú Unibanco S.A.; (ii) Banco Bradesco S.A.; (iii) Caixa Econômica Federal; (iv) Banco do Brasil S.A.; (v) Banco Santander (Brasil) S.A.; (vi) Banco BTG Pactual S.A.; ou (vii) Parati Crédito, Financiamento e Investimento S.A.; “Instrução CVM 489”: Instrução nº 489 da CVM, de 14 de janeiro de 2011, conf orme alterada; “Investidores</a:t>
            </a:r>
          </a:p>
          <a:p>
            <a:r>
              <a:t>CNPJ 60010416000112 · Subordinação mínima · Regulamento · ID 1051393 · 09/10/2025 · versão Regulamento09/10/2025 · p. 14 · AnexoI5.6–5.7 · https://fnet.bmfbovespa.com.br/fnet/publico/visualizarDocumento?id=1051393</a:t>
            </a:r>
          </a:p>
          <a:p>
            <a:r>
              <a:t>CNPJ 60010416000112 · Subordinação mínima · Excerto da fonte:</a:t>
            </a:r>
          </a:p>
          <a:p>
            <a:r>
              <a:t>5.6 Enquanto existirem Cotas Seniores em circulação, a Classe obrigatoriamente deverá observar o Índice Subordinação, o qual será apurado todo Dia Útil e será acessível aos Cotistas da Classe por meio do site do Administrador. 5.7 Caso o Índice de Subordinação não seja atendido em qualquer data de apuração, o Administrador deverá imediatamente, até o Dia Útil seguinte à data de apuração em questão, (a) suspender a aquisição de novos Direitos Creditórios; (b) informar tal fato aos titulares de Cotas Seniores; e (c) comunicar tal fato por escrito aos Cotistas Subordinados, para que, em querendo, s</a:t>
            </a:r>
          </a:p>
          <a:p>
            <a:r>
              <a:t>CNPJ 60010416000112 · Subordinação mínima · Mecânica: {"operator": "&gt;=", "unit": "percent", "denominator": "net_asset_value", "frequency": "daily", "layer": "class", "effective_status": "document_date_only", "document_date": "2025-10-09", "numerator": "subordinated_quotas", "limit": 5.0, "cure_days": 10, "cure_unit": "dias úteis consecutivos", "requires_senior_outstanding": true}</a:t>
            </a:r>
          </a:p>
          <a:p>
            <a:r>
              <a:t>CNPJ 60010416000112 · Subordinação mínima · Versão e prevalência: Leitura específica das cláusulas indicadas; condições e conflitos preservados. Seleção documental atual não comprova vigência jurídica por data isolada.</a:t>
            </a:r>
          </a:p>
          <a:p>
            <a:r>
              <a:t>CNPJ 60010416000112 · Subordinação mínima · Resumo do histórico: {"count": 5, "dates": ["2025-05-09", "2025-05-12", "2025-10-09"], "document_count": 3, "sources": [{"document_id": "1051393", "title": "Regulamento", "reference_date": "2025-10-09", "version": "1", "page": "45", "url": "https://fnet.bmfbovespa.com.br/fnet/publico/visualizarDocumento?id=1051393", "sha256": "8469d613078ffd5a6c1d217885d8a397a16342c0b937ae4aa24b106505f233ae"}, {"document_id": "1004656", "title": "AGE", "reference_date": "2025-05-12", "version": "1", "page": 2, "url": "https://fnet.bmfbovespa.com.br/fnet/publico/visualizarDocumento?id=1004656", "sha256": "f6c9c009f6170e2b29f074b98522accec73f0c40efbf11f9ec2c8d3f1402616b"}, {"document_id": "911262", "title": "AGE", "reference_date": "2025-05-09", "version": "1", "page": 2, "url": "https://fnet.bmfbovespa.com.br/fnet/publico/visualizarDocumento?id=911262", "sha256": "675de4ffe8c5ee95957fb29810625ce850d1a0b69b5231747442266f0cbf32a3"}], "reference": {"path": "history/60010416000112.json", "criterion_id": "subordination", "total_count": 5, "preview_count": 3, "full_text_deferred": true, "sha256": "8e2bd813f4c51cf01f6bfaad164bafe69d2bbb192f753eac92da3a01c2e63046"}}</a:t>
            </a:r>
          </a:p>
          <a:p>
            <a:r>
              <a:t>CNPJ 62696791000193 · Subordinação mínima · Base da comparação IME: {"criterion_id": "subordination", "observed_value": null, "unit": "percent", "competence": "08/2026", "status": "ime_unavailable", "reason": "Campo IME ausente ou cotas não reconciliadas; ausência preservada sem substituir por zero.", "formula": "subordinated_and_mezzanine_quotas / net_asset_value × 100",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5.0}</a:t>
            </a:r>
          </a:p>
          <a:p>
            <a:r>
              <a:t>CNPJ 62696791000193 · Subordinação mínima · Regulamento · ID 1143317 · 20/03/2026 · versão Regulamento — referência 20/03/2026 · p. 34 · Apêndice Sênior, 4.1–4.1.1 · https://fnet.bmfbovespa.com.br/fnet/publico/visualizarDocumento?id=1143317</a:t>
            </a:r>
          </a:p>
          <a:p>
            <a:r>
              <a:t>CNPJ 62696791000193 · Subordinação mínima · Excerto da fonte:</a:t>
            </a:r>
          </a:p>
          <a:p>
            <a:r>
              <a:t>4.1. Após a Data da 1ª Integralização de Cotas Seniores, o Índice de Subordinação Sênior deverá ser igual ou superior a 5% (cinco por cento) (“Índice de Subordinação”). 4.1.1. O Índice de Subordinação Sênior corresponde ao resultado mínimo obrigatório da divisão de (a) o somatório do valor de todas as Cotas Mezanino e das Cotas Subordinadas Júnior em circulação, por (b) o valor do Patrimônio Líquido, expresso na f orma percentual, e será apurado todo Dia Útil pelo Administrador. 5. Negociação das Cotas 5.1. As Cotas Seniores não poderão ser negociadas no mercado secundário. 6. Amortização e Resgate das Cotas Seniores 6.1. Desde que o Patrimônio Líquido da Classe assim permita, a partir de janeiro de 2026, as Cotas Seniores f arão jus à Amortização semestral do Benchmark, a ser realizada no último Dia Útil dos meses de janeiro e de julho de cada ano (“Amortização Programada de Cotas Seniores” e “Data de Amortização Programada de Cotas Seniores”, respectivamente), observada a Ordem de Alocação de Recursos prevista no Anexo. 6.1.1. Caso, em uma Data de Amortização Programa de Cotas Seniores, a Classe não tenha recursos disponíveis suficientes para o seu pagamento integral a diferença entre (i) o Benchmark Sênior apurad</a:t>
            </a:r>
          </a:p>
          <a:p>
            <a:r>
              <a:t>CNPJ 62696791000193 · Subordinação mínima · AGE · ID 1143319 · 20/03/2026 10:00 · versão AGE — referência 20/03/2026 10:00 · p. 3 · AGC 20/03/2026, 4.1(j)–(k) · https://fnet.bmfbovespa.com.br/fnet/publico/visualizarDocumento?id=1143319</a:t>
            </a:r>
          </a:p>
          <a:p>
            <a:r>
              <a:t>CNPJ 62696791000193 · Subordinação mínima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Subordinação mínima · Condição: A fórmula soma mezanino e júnior. Não deve ser substituída apenas por júnior/PL nem por PL/sênior.</a:t>
            </a:r>
          </a:p>
          <a:p>
            <a:r>
              <a:t>CNPJ 62696791000193 · Subordinação mínima · Mecânica: {"operator": "&gt;=", "limit": 5.0, "unit": "percent", "numerator": "subordinated_and_mezzanine_quotas", "denominator": "net_asset_value", "frequency": "daily", "layer": "62696791000193", "effective_from": "2026-03-23", "effective_status": "explicit_assembly_effective_date", "requires_senior_outstanding": true}</a:t>
            </a:r>
          </a:p>
          <a:p>
            <a:r>
              <a:t>CNPJ 62696791000193 · Subordinação mínima · Versão e prevalência: Leitura específica das cláusulas indicadas; condições e conflitos preservados. Seleção documental atual não comprova vigência jurídica por data isolada.</a:t>
            </a:r>
          </a:p>
          <a:p>
            <a:r>
              <a:t>CNPJ 55563624000109 · Subordinação mínima · Regulamento · ID 1192614 · 30/04/2026 · versão Regulamento30/04/2026 · p. 15 · AnexoI5.1 · https://fnet.bmfbovespa.com.br/fnet/publico/visualizarDocumento?id=1192614</a:t>
            </a:r>
          </a:p>
          <a:p>
            <a:r>
              <a:t>CNPJ 55563624000109 · Subordinação mínima · Excerto da fonte:</a:t>
            </a:r>
          </a:p>
          <a:p>
            <a:r>
              <a:t>5.1 A Classe possui 3 (três) Subclasses de Cotas, quais sejam, a subclasse A (“Subclasse A” e “Cotas Subclasse A”), a subclasse B (“Subclasse B” e “Cotas Subclasse B”) e a subclasse C (“Subclasse C” e “Cotas Subclasse C”, sendo a Subclasse A, a Subclasse B referidas em conjunto como “Subclasses”, e as Cotas Subclasse A e as Cotas Subclasse B sendo referidas em conjunto como “Cotas”), diferindo-se, exclusivamente, em relação aos prazos de duração de cada Subclasse, conforme previstos nos seus respectivos Apêndices, sem qualquer tipo de subordinação entre</a:t>
            </a:r>
          </a:p>
          <a:p>
            <a:r>
              <a:t>CNPJ 55563624000109 · Subordinação mínima · Condição: Piso de proteção do Mercado Crédito II pertence ao investido, não às subclasses A/B/Cdo FIC.</a:t>
            </a:r>
          </a:p>
          <a:p>
            <a:r>
              <a:t>CNPJ 55563624000109 · Subordinação mínima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Subordinação mínima · Versão e prevalência: Leitura específica das cláusulas indicadas; condições e conflitos preservados. Seleção documental atual não comprova vigência jurídica por data isolada.</a:t>
            </a:r>
          </a:p>
          <a:p>
            <a:r>
              <a:t>CNPJ 55563624000109 · Subordinação mínima · Resumo do histórico: {"count": 1, "dates": ["2026-04-30"], "document_count": 1, "sources": [{"document_id": "1192614", "title": "Regulamento", "reference_date": "2026-04-30", "version": "1", "page": "15", "url": "https://fnet.bmfbovespa.com.br/fnet/publico/visualizarDocumento?id=1192614", "sha256": "f56e63ace0acde41d2f47fb48f1ac7f3f7df5e2d32de092d7c5e075a52516632"}], "reference": {"path": "history/55563624000109.json", "criterion_id": "subordination", "total_count": 1, "preview_count": 1, "full_text_deferred": true, "sha256": "7835d573fb58a3c19adf5b8ecc2aee2bdbb9a88f7a0c0209b5f262b64c7522e3"}}</a:t>
            </a:r>
          </a:p>
          <a:p>
            <a:r>
              <a:t>CNPJ 62552447000120 · Subordinação mínima · Regulamento · ID 1200623 · 21/05/2026 · versão Consolidado21/05/2026 aprovado pelo ato1200625 · p. 16 · AnexoI5.1–5.1.1 · https://fnet.bmfbovespa.com.br/fnet/publico/visualizarDocumento?id=1200623</a:t>
            </a:r>
          </a:p>
          <a:p>
            <a:r>
              <a:t>CNPJ 62552447000120 · Subordinação mínima · Excerto da fonte:</a:t>
            </a:r>
          </a:p>
          <a:p>
            <a:r>
              <a:t>5.1 A Classe não possui Subclasse. As características, os direitos e as condições de emissão, distribuição, subscrição, integralização, remuneração, Amortização e resgate das Cotas estão descritos neste Capítulo e no Capítulo 6. 5.1.1 Não obstante, por deliberação conjunta dos Prestadores de Serviços Essenciais e mediante aprovação em Assembleia Especial, poderá haver a divisão de Classes em Subclasses, nos termos da Resolução CVM 175. Após a primeira emissão de Cotas, novas emissões de Cotas (de quaisquer Subclasses) dependem de aprovação dos Cotistas. 5.2 As Cotas são escrit</a:t>
            </a:r>
          </a:p>
          <a:p>
            <a:r>
              <a:t>CNPJ 62552447000120 · Subordinação mínima · Regulamento · ID 1200623 · 21/05/2026 · versão Consolidado21/05/2026 aprovado pelo ato1200625 · p. 17 · AnexoI5.4(iv) · https://fnet.bmfbovespa.com.br/fnet/publico/visualizarDocumento?id=1200623</a:t>
            </a:r>
          </a:p>
          <a:p>
            <a:r>
              <a:t>CNPJ 62552447000120 · Subordinação mínima · Excerto da fonte:</a:t>
            </a:r>
          </a:p>
          <a:p>
            <a:r>
              <a:t>pari passu entre si, não havendo qualquer tipo de preferência, prioridade ou subordinação entre os Cotistas. CAPÍTULO 6 – EMISSÃO, SUBSCRIÇÃO, INTEGRALIZAÇÃO E TRANSFERÊNCIA DAS COTAS Emissão das Cotas 6.1 As Emissões de Cotas poderão ser objeto de ofertas públicas, nos termos da Resolução CVM 160 e demais regulações aplicáveis (“Oferta”), ou objeto de colocação privada, sem registro perante a CVM, por não conf igurar uma Of erta, nos termos da regulamentação aplicável (“Colocação Privada”). 6.2 Após a primeira emissão, eventuais novas emissões de Cotas somente poderão ser realizadas com a aprovação de</a:t>
            </a:r>
          </a:p>
          <a:p>
            <a:r>
              <a:t>CNPJ 62552447000120 · Subordinação mínima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Subordinação mínima · Versão e prevalência: Leitura específica das cláusulas indicadas; condições e conflitos preservados. Seleção documental atual não comprova vigência jurídica por data isolada.</a:t>
            </a:r>
          </a:p>
          <a:p>
            <a:r>
              <a:t>CNPJ 62552447000120 · Subordinação mínima · Resumo do histórico: {"count": 1, "dates": ["2025-09-03"], "document_count": 1, "sources": [{"document_id": "988020", "title": "Instrumento Particular de Emissão de Cotas", "reference_date": "2025-09-03", "version": "1", "page": "5", "url": "https://fnet.bmfbovespa.com.br/fnet/publico/visualizarDocumento?id=988020", "sha256": "8ecc8a771bb9713d64e5fc2052c489664cb0433801a9280db68e5187d35bf7a5"}], "reference": {"path": "history/62552447000120.json", "criterion_id": "subordination", "total_count": 1, "preview_count": 1, "full_text_deferred": true, "sha256": "d95db8c0613d67ee84118c734588665265ea6b02f86a0318d6a844cbe1d0f82f"}}</a:t>
            </a:r>
          </a:p>
          <a:p>
            <a:r>
              <a:t>CNPJ 63953620000165 · Subordinação mínima · Base da comparação IME: {"criterion_id": "subordination", "observed_value": 3.6973764433146807, "unit": "percent", "competence": "08/2026", "status": "not_comparable", "reason": "Vigência efetiva não comprovada; data do documento isolada não certifica enquadramento histórico.", "formula": "subordinated_quotas / net_asset_value × 100",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1.0}</a:t>
            </a:r>
          </a:p>
          <a:p>
            <a:r>
              <a:t>CNPJ 63953620000165 · Subordinação mínima · Anexo ao Regulamento · ID 1222863 · 02/06/2026 · versão AnexoConsignadoPrivado02/06/2026 · p. 23 · ApêndiceSênior4.1–4.1.1 · https://fnet.bmfbovespa.com.br/fnet/publico/visualizarDocumento?id=1222863</a:t>
            </a:r>
          </a:p>
          <a:p>
            <a:r>
              <a:t>CNPJ 63953620000165 · Subordinação mínima · Excerto da fonte:</a:t>
            </a:r>
          </a:p>
          <a:p>
            <a:r>
              <a:t>4.1. Após a Data da 1ª Integralização de Cotas Seniores, o Índice de Subordinação Sênior deverá ser igual ou superior a 1% (um por cento) (“Índice de Subordinação Sênior”). 4.1.1. O Índice de Subordinação Sênior corresponde ao resultado mínimo obrigatório da divisão de (a) o somatório do valor de todas as Cotas Subordinadas em circulação, por (b) o valor do Patrimônio Líquido, expresso na forma percentual, e será apurado todo Dia Útil pelo Administrador. 4.1.2. Verificado excesso do Índice de Subordinação Alvo (conforme definido no Apêndice da Subclasse Subordinada), as Cotas Subordinadas poderão ser objeto de Amortização Extra</a:t>
            </a:r>
          </a:p>
          <a:p>
            <a:r>
              <a:t>CNPJ 63953620000165 · Subordinação mínima · Mecânica: {"operator": "&gt;=", "unit": "percent", "denominator": "net_asset_value", "frequency": "daily", "layer": "class", "effective_status": "document_date_only", "document_date": "2026-06-02", "numerator": "subordinated_quotas", "limit": 1.0, "requires_senior_outstanding": true}</a:t>
            </a:r>
          </a:p>
          <a:p>
            <a:r>
              <a:t>CNPJ 63953620000165 · Subordinação mínima · Versão e prevalência: Leitura específica das cláusulas indicadas; condições e conflitos preservados. Seleção documental atual não comprova vigência jurídica por data isolada.</a:t>
            </a:r>
          </a:p>
          <a:p>
            <a:r>
              <a:t>CNPJ 54871427000194 · Razões de cobertura por camada · Motivo: Não localizada uma cláusula material para este critério nos textos identificados e processados. A ausência de resultado não comprova inexistência da regra.</a:t>
            </a:r>
          </a:p>
          <a:p>
            <a:r>
              <a:t>CNPJ 60010416000112 · Razões de cobertura por camada · Motivo: Não localizada uma cláusula material para este critério nos textos identificados e processados. A ausência de resultado não comprova inexistência da regra.</a:t>
            </a:r>
          </a:p>
          <a:p>
            <a:r>
              <a:t>CNPJ 62696791000193 · Razões de cobertura por camada · Motivo: Não localizada uma cláusula material para este critério nos textos identificados e processados. A ausência de resultado não comprova inexistência da regra.</a:t>
            </a:r>
          </a:p>
          <a:p>
            <a:r>
              <a:t>CNPJ 55563624000109 · Razões de cobertura por camada · Motivo: Não localizada uma cláusula material para este critério nos textos identificados e processados. A ausência de resultado não comprova inexistência da regra.</a:t>
            </a:r>
          </a:p>
          <a:p>
            <a:r>
              <a:t>CNPJ 62552447000120 · Razões de cobertura por camada · Motivo: Não localizada uma cláusula material para este critério nos textos identificados e processados. A ausência de resultado não comprova inexistência da regra.</a:t>
            </a:r>
          </a:p>
          <a:p>
            <a:r>
              <a:t>CNPJ 63953620000165 · Razões de cobertura por camada · Motivo: Não localizada uma cláusula material para este critério nos textos identificados e processados. A ausência de resultado não comprova inexistência da regra.</a:t>
            </a:r>
          </a:p>
          <a:p>
            <a:r>
              <a:t>CNPJ 54871427000194 · Liberação e amortização da júnior · Motivo: Não localizada uma cláusula material para este critério nos textos identificados e processados. A ausência de resultado não comprova inexistência da regra.</a:t>
            </a:r>
          </a:p>
          <a:p>
            <a:r>
              <a:t>CNPJ 60010416000112 · Liberação e amortização da júnior · Regulamento · ID 1051393 · 09/10/2025 · versão Regulamento09/10/2025 · p. 15 · AnexoI7.3.1,7.6 · https://fnet.bmfbovespa.com.br/fnet/publico/visualizarDocumento?id=1051393</a:t>
            </a:r>
          </a:p>
          <a:p>
            <a:r>
              <a:t>CNPJ 60010416000112 · Liberação e amortização da júnior · Excerto da fonte:</a:t>
            </a:r>
          </a:p>
          <a:p>
            <a:r>
              <a:t>7.3.1. As Cotas Subordinadas poderão ser amortizadas caso sejam atingidas, cumulativamente, as seguintes condições: (i) o Índice de Subordinação esteja sendo atendido; (ii) desde que não esteja em curso um Evento de Avaliação e/ou Evento de Liquidação; e (iii) não tenha ocorrido ou esteja em andamento nenhum inadimplemento pecuniário pelo Agente de Retenção/Cobrança, nos termos do presente Regulamento, do Contrato de Endosso e do Contrato de Serviços MT. 7.4. As Amortizações serão realizadas tomando-se por base o Valor U</a:t>
            </a:r>
          </a:p>
          <a:p>
            <a:r>
              <a:t>CNPJ 60010416000112 · Liberação e amortização da júnior · Versão e prevalência: Leitura específica das cláusulas indicadas; condições e conflitos preservados. Seleção documental atual não comprova vigência jurídica por data isolada.</a:t>
            </a:r>
          </a:p>
          <a:p>
            <a:r>
              <a:t>CNPJ 60010416000112 · Liberação e amortização da júnior · Resumo do histórico: {"count": 1, "dates": ["2025-03-20"], "document_count": 1, "sources": [{"document_id": "993786", "title": "Regulamento", "reference_date": "2025-03-20", "version": "1", "page": 14, "clause": "5.7", "url": "https://fnet.bmfbovespa.com.br/fnet/publico/visualizarDocumento?id=993786", "sha256": "fd0fdd369a195510d81f81f505195a0b09e5f43522a990afa7d58c4f872921c8"}], "reference": {"path": "history/60010416000112.json", "criterion_id": "junior_release", "total_count": 1, "preview_count": 1, "full_text_deferred": true, "sha256": "8e2bd813f4c51cf01f6bfaad164bafe69d2bbb192f753eac92da3a01c2e63046"}}</a:t>
            </a:r>
          </a:p>
          <a:p>
            <a:r>
              <a:t>CNPJ 62696791000193 · Liberação e amortização da júnior · Regulamento · ID 1143317 · 20/03/2026 · versão Regulamento — referência 20/03/2026 · p. 37 · Apêndice Júnior, 4.1–4.2 e 5.1 · https://fnet.bmfbovespa.com.br/fnet/publico/visualizarDocumento?id=1143317</a:t>
            </a:r>
          </a:p>
          <a:p>
            <a:r>
              <a:t>CNPJ 62696791000193 · Liberação e amortização da júnior · Excerto da fonte:</a:t>
            </a:r>
          </a:p>
          <a:p>
            <a:r>
              <a:t>4.1. Caso o Patrimônio Líquido da Classe assim permita, as Cotas Subordinadas f arão jus à amortização semestral, no último Dia Útil dos meses de janeiro e julho de cada ano, de valor equivalente ao excedente do valor de integralização das Cotas Subordinadas em circulação, limitado ao percentual de 100% (cem por cento) da variação positiva do CDI acrescida de 4,50% (quatro inteiros e cinco décimos por cento) ao ano, considerando, para tanto a razão entre (i) o valor de integralização das Cotas Subordinadas Júnior em circulação e (ii) o valor de cada uma das Cotas Subordinadas, a ser paga na Data de Amortização Programada de Cotas Seniores (“Amortização das Cotas Subordinadas”). 4.2. Em complemento às Amortizações das Cotas Subordinadas, os Cotistas Subordinados farão jus, sempre que o Patrimônio Líquido da Classe assim permita e desde que o Valor Unitário das Cotas Subordinadas esteja superior ao valor de integralização das Cotas Subordinadas em circulação, a 50% (cinquenta por cento) de qualquer valor que exceder a Amortização das Cotas Subordinadas, a ser paga na Data de Amortização Programada de Cotas Seniores (“Amortização Extraordinária de Cotas Seniores”). 5. Excesso de Subordinação 5.1. Verif icado excesso de subordinação,</a:t>
            </a:r>
          </a:p>
          <a:p>
            <a:r>
              <a:t>CNPJ 62696791000193 · Liberação e amortização da júnior · Condição: O piso sênior usa MZ+júnior; a liberação extraordinária citada compara júnior/PL. São bases distintas. Os “Eventos de Avaliação” usados como condição não estão definidos no consolidado obtido.</a:t>
            </a:r>
          </a:p>
          <a:p>
            <a:r>
              <a:t>CNPJ 62696791000193 · Liberação e amortização da júnior · Versão e prevalência: Leitura específica das cláusulas indicadas; condições e conflitos preservados. Seleção documental atual não comprova vigência jurídica por data isolada.</a:t>
            </a:r>
          </a:p>
          <a:p>
            <a:r>
              <a:t>CNPJ 55563624000109 · Liberação e amortização da júnior · Motivo: Não localizada uma cláusula material para este critério nos textos identificados e processados. A ausência de resultado não comprova inexistência da regra.</a:t>
            </a:r>
          </a:p>
          <a:p>
            <a:r>
              <a:t>CNPJ 62552447000120 · Liberação e amortização da júnior · Regulamento · ID 1200623 · 2026-05-21 · versão 1 · p. 19 · 7.2 · https://fnet.bmfbovespa.com.br/fnet/publico/visualizarDocumento?id=1200623</a:t>
            </a:r>
          </a:p>
          <a:p>
            <a:r>
              <a:t>CNPJ 62552447000120 · Liberação e amortização da júnior · Excerto da fonte:</a:t>
            </a:r>
          </a:p>
          <a:p>
            <a:r>
              <a:t>7.2 As Cotas poderão ser amortizadas através de uma Amortização programada, se houver, conforme  prevista nos Apêndices, caso aplicável (“Amortização Programada”), e por meio amortização  extraordinária das Cotas, a ser realizada por (a) por decisão do Gestor, para: (i) reenquadramento da  Carteira ao mínimo de Direitos Creditórios que deve ser detido pela Classe para f ins tributários/legais;</a:t>
            </a:r>
          </a:p>
          <a:p>
            <a:r>
              <a:t> (ii) necessidade de fluxo de caixa da Classe; e (iii) manutenção de liquidez, (b) por deliberação de uma  Assembleia Especial, observando o disposto neste Regulamento quando se tratar da amortização  extraordinária de Cotas de subclasse subordinada mezanino ou Cotas de subclasse subordinada júnior;</a:t>
            </a:r>
          </a:p>
          <a:p>
            <a:r>
              <a:t> e/ou (c) no caso de liquidação antecipada do Fundo ou da Classe (“Amortização Extraordinária” e,  quando ref erida em conjunto com as Amortizações Programadas, “Amortização”). O pagamento da  amortização extraordinária de Cotas decorrente de decisão do Gestor deve ser realizado em moeda  corrente nacional.</a:t>
            </a:r>
          </a:p>
          <a:p>
            <a:r>
              <a:t>CNPJ 62552447000120 · Liberação e amortização da júnior · Condição: Documentos atuais selecionados no inventário por categoria/escopo; a data documental isolada não comprova vigência jurídica.</a:t>
            </a:r>
          </a:p>
          <a:p>
            <a:r>
              <a:t>CNPJ 62552447000120 · Liberação e amortização da júnior · Motivo: Cláusula primária localizada e citada, mas sua lista/condições extensas não admitem uma síntese literal curta confirmada. O trecho integral permanece nas fontes.</a:t>
            </a:r>
          </a:p>
          <a:p>
            <a:r>
              <a:t>CNPJ 62552447000120 · Liberação e amortização da júnior · Versão e prevalência: Documentos atuais selecionados no inventário por categoria/escopo; a data documental isolada não comprova vigência jurídica.</a:t>
            </a:r>
          </a:p>
          <a:p>
            <a:r>
              <a:t>CNPJ 63953620000165 · Liberação e amortização da júnior · Anexo ao Regulamento · ID 1222863 · 02/06/2026 · versão AnexoConsignadoPrivado02/06/2026 · p. 24 · ApêndiceSubordinada4.1 · https://fnet.bmfbovespa.com.br/fnet/publico/visualizarDocumento?id=1222863</a:t>
            </a:r>
          </a:p>
          <a:p>
            <a:r>
              <a:t>CNPJ 63953620000165 · Liberação e amortização da júnior · Excerto da fonte:</a:t>
            </a:r>
          </a:p>
          <a:p>
            <a:r>
              <a:t>4.1. Verificado que o Índice de Subordinação Alvo é atendido, ou seja, que a representatividade de Cotas Subordinadas em relação ao Patrimônio Líquido da Classe é superior à 10,00% (dez por cento) (“Índice de Subordinação Alvo”), as Cotas Subordinadas poderão ser objeto de Amortização Extraordinária até o limite excedente ao Índice de Subordinação Alvo– ainda que tal Amortização Extraordinária ocorra antes do resgate integral das Cotas Seniores – desde que: (i) seja observada a ordem de alocação de recursos definida no item 8.1 acima Anexo; (ii) não existam Obrigações da Classe vencidas e não pagas; (iii) não estejam em curso quaisquer Eventos de</a:t>
            </a:r>
          </a:p>
          <a:p>
            <a:r>
              <a:t>CNPJ 63953620000165 · Liberação e amortização da júnior · Anexo ao Regulamento · ID 1222863 · 02/06/2026 · versão AnexoConsignadoPrivado02/06/2026 · p. 23 · ApêndiceSênior4.1.2 · https://fnet.bmfbovespa.com.br/fnet/publico/visualizarDocumento?id=1222863</a:t>
            </a:r>
          </a:p>
          <a:p>
            <a:r>
              <a:t>CNPJ 63953620000165 · Liberação e amortização da júnior · Excerto da fonte:</a:t>
            </a:r>
          </a:p>
          <a:p>
            <a:r>
              <a:t>4.1.2. Verificado excesso do Índice de Subordinação Alvo (conforme definido no Apêndice da Subclasse Subordinada), as Cotas Subordinadas poderão ser objeto de Amortização Extraordinária até o limite do respectivos Excesso de Subordinação – ainda que tal Amortização Extraordinária ocorra antes do resgate integral das Cotas Seniores – desde que: (a) seja observada a ordem de alocação de recursos definida no item 8.1 acima Anexo; (b) não existam Obrigações da Classe vencidas e não pagas; (c) não estejam em curso quaisquer Eventos de Avaliação e/ou Eventos de Liquidação; (d) existam suficientes Ativos Financeiros e/ou recur</a:t>
            </a:r>
          </a:p>
          <a:p>
            <a:r>
              <a:t>CNPJ 63953620000165 · Liberação e amortização da júnior · Condição: 10% é patamar de liberação, diferente do piso protetivo de 1%.</a:t>
            </a:r>
          </a:p>
          <a:p>
            <a:r>
              <a:t>CNPJ 63953620000165 · Liberação e amortização da júnior · Versão e prevalência: Leitura específica das cláusulas indicadas; condições e conflitos preservados. Seleção documental atual não comprova vigência jurídica por data isolada.</a:t>
            </a:r>
          </a:p>
          <a:p>
            <a:r>
              <a:t>CNPJ 54871427000194 · Reserva de liquidez · Motivo: Não localizada uma cláusula material para este critério nos textos identificados e processados. A ausência de resultado não comprova inexistência da regra.</a:t>
            </a:r>
          </a:p>
          <a:p>
            <a:r>
              <a:t>CNPJ 60010416000112 · Reserva de liquidez · Motivo: Não localizada uma cláusula material para este critério nos textos identificados e processados. A ausência de resultado não comprova inexistência da regra.</a:t>
            </a:r>
          </a:p>
          <a:p>
            <a:r>
              <a:t>CNPJ 62696791000193 · Reserva de liquidez · Motivo: Não localizada uma cláusula material para este critério nos textos identificados e processados. A ausência de resultado não comprova inexistência da regra.</a:t>
            </a:r>
          </a:p>
          <a:p>
            <a:r>
              <a:t>CNPJ 55563624000109 · Reserva de liquidez · Motivo: Não localizada uma cláusula material para este critério nos textos identificados e processados. A ausência de resultado não comprova inexistência da regra.</a:t>
            </a:r>
          </a:p>
          <a:p>
            <a:r>
              <a:t>CNPJ 62552447000120 · Reserva de liquidez · Motivo: Não localizada uma cláusula material para este critério nos textos identificados e processados. A ausência de resultado não comprova inexistência da regra.</a:t>
            </a:r>
          </a:p>
          <a:p>
            <a:r>
              <a:t>CNPJ 63953620000165 · Reserva de liquidez · Base da comparação IME: {"criterion_id": "liquidity_reserve", "observed_value": null, "unit": "", "competence": "08/2026", "status": "not_comparable", "reason": "Reserva contratual exige segregação, ativos elegíveis, cronograma ou despesas; disponibilidades agregadas não comprovam a reserva.", "formula": "",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null, "comparison_required": true, "context_formula": "Disponibilidades", "context_value": 10000.0, "context_unit": "currency"}</a:t>
            </a:r>
          </a:p>
          <a:p>
            <a:r>
              <a:t>CNPJ 63953620000165 · Reserva de liquidez · Anexo ao Regulamento · ID 1222863 · 02/06/2026 · versão AnexoConsignadoPrivado02/06/2026 · p. 12 · 8.2–8.2.1 · https://fnet.bmfbovespa.com.br/fnet/publico/visualizarDocumento?id=1222863</a:t>
            </a:r>
          </a:p>
          <a:p>
            <a:r>
              <a:t>CNPJ 63953620000165 · Reserva de liquidez · Excerto da fonte:</a:t>
            </a:r>
          </a:p>
          <a:p>
            <a:r>
              <a:t>8.2 O Administrador e o Gestor obrigam-se a, a partir da data da primeira integralização de Cotas Seniores (“Data da 1ª Integralização”) até o final do Período de Investimento, constituir e manter, exclusivamente a partir dos valores integralizados pelo Cotista Sênior, uma Reserva da Caixa, em montante correspondente a R$ 150.000.000,00 (cento e cinquenta milhões e quinhentos mil reais) corrigido diariamente pela rentabilidade auferida sob o referido montante (“Reserva de Caixa”). 8.2.1 A deliberação acerca da utilização dos valores mantidos na Reserva de Caixa dependerá de prévia aprovação em Asse</a:t>
            </a:r>
          </a:p>
          <a:p>
            <a:r>
              <a:t>CNPJ 63953620000165 · Reserva de liquidez · Anexo ao Regulamento · ID 1222863 · 02/06/2026 · versão AnexoConsignadoPrivado02/06/2026 · p. 13 · 10.2(xvii) · https://fnet.bmfbovespa.com.br/fnet/publico/visualizarDocumento?id=1222863</a:t>
            </a:r>
          </a:p>
          <a:p>
            <a:r>
              <a:t>CNPJ 63953620000165 · Reserva de liquidez · Excerto da fonte:</a:t>
            </a:r>
          </a:p>
          <a:p>
            <a:r>
              <a:t>(xvii) alterações na disciplina, critérios de constituição, manutenção Maioria das Cotas de cada Subclasse ou utilização da Reserva de Caixa, bem como deliberação acerca da BTG Pactual SAC: 0800 772 28 27 - Ouvidoria: 0800 722 00 48 - btgpactual.com 13 Clicksign 5616d885-8e2b-40d9-861e-75413fca8eb1</a:t>
            </a:r>
          </a:p>
          <a:p>
            <a:r>
              <a:t>CNPJ 63953620000165 · Reserva de liquidez · Condição: Extenso da cláusula 8.2 diz 150 milhões 500 mil, divergindo de R$ 150 milhões. Caixa do IME agregado não demonstra conta segregada/rentabilidade acumulada.</a:t>
            </a:r>
          </a:p>
          <a:p>
            <a:r>
              <a:t>CNPJ 63953620000165 · Reserva de liquidez · Motivo: Não localizada uma cláusula material para este critério nos textos identificados e processados. A ausência de resultado não comprova inexistência da regra.</a:t>
            </a:r>
          </a:p>
          <a:p>
            <a:r>
              <a:t>CNPJ 63953620000165 · Reserva de liquidez · Versão e prevalência: Leitura específica das cláusulas indicadas; condições e conflitos preservados. Seleção documental atual não comprova vigência jurídica por data isolada.</a:t>
            </a:r>
          </a:p>
          <a:p>
            <a:r>
              <a:t>CNPJ 54871427000194 · Reserva de despesas · Motivo: Não localizada uma cláusula material para este critério nos textos identificados e processados. A ausência de resultado não comprova inexistência da regra.</a:t>
            </a:r>
          </a:p>
          <a:p>
            <a:r>
              <a:t>CNPJ 60010416000112 · Reserva de despesas · Motivo: Não localizada uma cláusula material para este critério nos textos identificados e processados. A ausência de resultado não comprova inexistência da regra.</a:t>
            </a:r>
          </a:p>
          <a:p>
            <a:r>
              <a:t>CNPJ 62696791000193 · Reserva de despesas · Base da comparação IME: {"criterion_id": "expense_reserve", "observed_value": null, "unit": "", "competence": "08/2026", "status": "not_comparable", "reason": "Reserva de despesas depende da base de encargos e da segregação previstas; disponibilidades não demonstram meses de despesas cobertos.",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null, "comparison_required": true, "context_formula": "Disponibilidades", "context_value": null, "context_unit": "currency"}</a:t>
            </a:r>
          </a:p>
          <a:p>
            <a:r>
              <a:t>CNPJ 62696791000193 · Reserva de despesas · Regulamento · ID 1143317 · 20/03/2026 · versão Regulamento — referência 20/03/2026 · p. 16 · Anexo I, 6.1(ii) · https://fnet.bmfbovespa.com.br/fnet/publico/visualizarDocumento?id=1143317</a:t>
            </a:r>
          </a:p>
          <a:p>
            <a:r>
              <a:t>CNPJ 62696791000193 · Reserva de despesas · Excerto da fonte:</a:t>
            </a:r>
          </a:p>
          <a:p>
            <a:r>
              <a:t>6.1 O Administrador e o Gestor obrigam-se a, a partir da data da primeira integralização de Cotas até a liquidação integral das obrigações da Classe, utilizar os recursos disponíveis na Conta da Classe e/ou mantidos em Ativos Financeiros de Liquidez em cada Dia Útil, de acordo com a seguinte ordem de prioridade de alocação, de modo que cada item abaixo listado apenas será contemplado após o direcionamento do montante total necessário para a satisfação dos itens anteriores, ressalvada a ocorrência de eventos extraordinários que afetem o funcionamento regular do Fundo e/ou da Classe: (i) pagamento dos encargos do Fundo e/ou da Classe; (ii) constituição e/ou recomposição da reserva de despesas de modo que esta, ao final de cada Dia Útil, seja equivalente ao montante estimado dos encargos, a serem incorridos nos 6 (seis) meses calendário imediatamente subsequentes pelo Fundo e/ou a Classe (“Reserva de Despesas”); (iii) pagamento de Amortização ou resgate de Cotas Seniores, se houver; (iv) pagamento de Amortização ou resgate de Cotas Mezanino, se houver; (v) aquisição pela Cla</a:t>
            </a:r>
          </a:p>
          <a:p>
            <a:r>
              <a:t>CNPJ 62696791000193 · Reserva de despesas · Condição: Saldo agregado de caixa/liquidez do IME não identifica a reserva constituída nem a estimativa futura de encargos.</a:t>
            </a:r>
          </a:p>
          <a:p>
            <a:r>
              <a:t>CNPJ 62696791000193 · Reserva de despesas · Versão e prevalência: Leitura específica das cláusulas indicadas; condições e conflitos preservados. Seleção documental atual não comprova vigência jurídica por data isolada.</a:t>
            </a:r>
          </a:p>
          <a:p>
            <a:r>
              <a:t>CNPJ 55563624000109 · Reserva de despesas · Base da comparação IME: {"criterion_id": "expense_reserve", "observed_value": null, "unit": "", "competence": "08/2026", "status": "not_comparable", "reason": "Reserva de despesas depende da base de encargos e da segregação previstas; disponibilidades não demonstram meses de despesas cobertos.", "formula": "",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null, "comparison_required": true, "context_formula": "Disponibilidades", "context_value": 0.0, "context_unit": "currency"}</a:t>
            </a:r>
          </a:p>
          <a:p>
            <a:r>
              <a:t>CNPJ 55563624000109 · Reserva de despesas · Regulamento · ID 1192614 · 30/04/2026 · versão Regulamento30/04/2026 · p. 18 · AnexoI8.1(ii) · https://fnet.bmfbovespa.com.br/fnet/publico/visualizarDocumento?id=1192614</a:t>
            </a:r>
          </a:p>
          <a:p>
            <a:r>
              <a:t>CNPJ 55563624000109 · Reserva de despesas · Excerto da fonte:</a:t>
            </a:r>
          </a:p>
          <a:p>
            <a:r>
              <a:t>constituição e/ou recomposição da Reserva de Despesas de modo que esta, ao final de cada Dia Útil, seja equivalente ao montante estimado dos Encargos, a serem incorridos nos 3 (três) meses calendário imediatamente subsequentes; (iii) pagamento de resgate de Cotas aos Cotistas Dissidentes, nos termos do item 11.4.1 abaixo; (iv) pagamento de amortização ou resgate de Cotas, se houver; e BTG Pactual SAC: 0800 772 28 27 - Ouvidoria: 0800 722 00 48 - btgpactual.com</a:t>
            </a:r>
          </a:p>
          <a:p>
            <a:r>
              <a:t>CNPJ 55563624000109 · Reserva de despesas · Regulamento · ID 1192614 · 30/04/2026 · versão Regulamento30/04/2026 · p. 44 · GlossárioReserva de Despesas · https://fnet.bmfbovespa.com.br/fnet/publico/visualizarDocumento?id=1192614</a:t>
            </a:r>
          </a:p>
          <a:p>
            <a:r>
              <a:t>CNPJ 55563624000109 · Reserva de despesas · Excerto da fonte:</a:t>
            </a:r>
          </a:p>
          <a:p>
            <a:r>
              <a:t>Reserva de Despesas”: é a parcela do Patrimônio Líquido a ser retida e destinada exclusivamente para pagamento dos Encargos, nos termos do item 8.1(ii) deste Anexo, e mantida exclusivamente em Ativos Financeiros de Liquidez; “Resolução CVM 30”: Resolução CVM nº 30, de 11 de maio de 2021, conforme alterada; “Resolução CVM 175”: Resolução CVM nº 175, de 23 de dezembro de 2022, conforme alterada; “Taxa de Administração”: a taxa que é devida ao ADMINISTRADOR, nos termos do item 13.2 deste Anexo; “Taxa de Gestão”: a taxa mensal que é devida ao GESTOR, nos termos do item 13.5 deste Anexo; “Taxa de Ges</a:t>
            </a:r>
          </a:p>
          <a:p>
            <a:r>
              <a:t>CNPJ 55563624000109 · Reserva de despesas · Condição: Requer orçamento dos 3 meses; caixa agregado do IME não valida sozinho o valor exigido.</a:t>
            </a:r>
          </a:p>
          <a:p>
            <a:r>
              <a:t>CNPJ 55563624000109 · Reserva de despesas · Versão e prevalência: Leitura específica das cláusulas indicadas; condições e conflitos preservados. Seleção documental atual não comprova vigência jurídica por data isolada.</a:t>
            </a:r>
          </a:p>
          <a:p>
            <a:r>
              <a:t>CNPJ 62552447000120 · Reserva de despesas · Base da comparação IME: {"criterion_id": "expense_reserve", "observed_value": null, "unit": "", "competence": "08/2026", "status": "not_comparable", "reason": "Reserva de despesas depende da base de encargos e da segregação previstas; disponibilidades não demonstram meses de despesas cobertos.", "formula": "",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null, "comparison_required": true, "context_formula": "Disponibilidades", "context_value": 0.0, "context_unit": "currency"}</a:t>
            </a:r>
          </a:p>
          <a:p>
            <a:r>
              <a:t>CNPJ 62552447000120 · Reserva de despesas · Regulamento · ID 1200623 · 21/05/2026 · versão Consolidado21/05/2026 aprovado pelo ato1200625 · p. 11 · AnexoI3.4 · https://fnet.bmfbovespa.com.br/fnet/publico/visualizarDocumento?id=1200623</a:t>
            </a:r>
          </a:p>
          <a:p>
            <a:r>
              <a:t>CNPJ 62552447000120 · Reserva de despesas · Excerto da fonte:</a:t>
            </a:r>
          </a:p>
          <a:p>
            <a:r>
              <a:t>3.4 A Classe manterá, em Ativos Financeiros e/ou disponibilidades de caixa, um valor destinado ao pagamento de despesas f ixas e periódicas da Classe (como a remuneração dos Prestadores de Serviços Essenciais e seu contratados, bem como as taxas, impostos ou co ntribuições f ederais, estaduais, municipais ou autárquicas que recaiam ou venham a recair sobre os bens, direitos e obrigações da Classe), estimadas para um horizonte temporal de 6 (seis) meses (“Reserva de Caixa”). 3.5 Adicionalmente aos Encargos, as seguintes despesas serão debitadas diretamente da Classe, nos termos do art. 51 do Anexo Norma</a:t>
            </a:r>
          </a:p>
          <a:p>
            <a:r>
              <a:t>CNPJ 62552447000120 · Reserva de despesas · Regulamento · ID 1200623 · 21/05/2026 · versão Consolidado21/05/2026 aprovado pelo ato1200625 · p. 20 · AnexoI8.1(ii) · https://fnet.bmfbovespa.com.br/fnet/publico/visualizarDocumento?id=1200623</a:t>
            </a:r>
          </a:p>
          <a:p>
            <a:r>
              <a:t>CNPJ 62552447000120 · Reserva de despesas · Excerto da fonte:</a:t>
            </a:r>
          </a:p>
          <a:p>
            <a:r>
              <a:t>constituição e/ou recomposição da Reserva de Caixa, nos termos da Cláusula 3.4 acima; (iii) pagamento de Amortização ou resgate de Cotas, conf orme aplicável; (iv) aquisição pela Classe de Direitos Creditórios, observando-se a Política de Investimentos; e (v) aquisição pela Classe de Ativos Financeiros, observando-se a Política de Investimentos. CAPÍTULO 9 – METODOLOGIA DE AVALIAÇÃO DOS ATIVOS DA CLASSE 9.1 Os Direitos Creditórios e Ativos Financeiros que compõem a Carteira terão seus valores calculados todo Dia Útil conforme a metodologia de avaliação descrita no manual d o Administrador ou, ainda, nos</a:t>
            </a:r>
          </a:p>
          <a:p>
            <a:r>
              <a:t>CNPJ 62552447000120 · Reserva de despesas · Condição: IME de caixa agregado não permite estimar sozinho o orçamento contratual dos 6 meses.</a:t>
            </a:r>
          </a:p>
          <a:p>
            <a:r>
              <a:t>CNPJ 62552447000120 · Reserva de despesas · Motivo: Não localizada uma cláusula material para este critério nos textos identificados e processados. A ausência de resultado não comprova inexistência da regra.</a:t>
            </a:r>
          </a:p>
          <a:p>
            <a:r>
              <a:t>CNPJ 62552447000120 · Reserva de despesas · Versão e prevalência: Leitura específica das cláusulas indicadas; condições e conflitos preservados. Seleção documental atual não comprova vigência jurídica por data isolada.</a:t>
            </a:r>
          </a:p>
          <a:p>
            <a:r>
              <a:t>CNPJ 63953620000165 · Reserva de despesas · Motivo: Não localizada uma cláusula material para este critério nos textos identificados e processados. A ausência de resultado não comprova inexistência da regra.</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Proteção por camada</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Subordinação mínima · Regulamento · ID 670691 · 28/04/2024 · versão Regulamento — referência 28/04/2024 · p. 13 · Anexo I, 5.1 · https://fnet.bmfbovespa.com.br/fnet/publico/visualizarDocumento?id=670691</a:t>
            </a:r>
          </a:p>
          <a:p>
            <a:r>
              <a:t>CNPJ 54871427000194 · Subordinação mínima · Excerto da fonte:</a:t>
            </a:r>
          </a:p>
          <a:p>
            <a:r>
              <a:t>5.1 O patrimônio da Classe é representado por uma única subclasse e uma única série de Cotas. As características, os direitos e as condições de emissão, distribuição, subscrição, integralização, remuneração, Amortização e resgate das Cotas estão descritos neste Capítulo. As características, os direitos e as condições de emissão, distribuição, subscrição, integralização, remuneração, amortização e resgate das Cotas estão descritos neste Capítulo. 5.2 As Cotas são escriturais, nominativas e correspondem a f rações ideais do patrimônio da Classe, cuja propriedade presume-se: (i) pelo registro do nome do Cotista no livro de registro de Cotistas, enquanto mantidas em conta de depósito mantidas junto ao Agente Escriturador em nome dos respectivos Cotistas, nos termos do Art. 15 da Resolução CVM 175; (ii) pelos controles de titularidade mantidos pelo depositário central junto ao qual as Cotas estejam depositadas, nos termos do Art. 25 da Lei nº 12.810, de 15 de maio de 2013, conf orme alterada. 5.3 As Cotas poderão ser objeto de resgate antecipado apenas na hipótese de ocorrência de Evento de Liquidação, observado o disposto neste Regulamento. BTG Pactual SAC: 0800 772 28 27 - Ouvidoria: 0800 7</a:t>
            </a:r>
          </a:p>
          <a:p>
            <a:r>
              <a:t>CNPJ 54871427000194 · Subordinação mínima · Regulamento · ID 670691 · 28/04/2024 · versão Regulamento — referência 28/04/2024 · p. 14 · Anexo I, 5.4(iv) · https://fnet.bmfbovespa.com.br/fnet/publico/visualizarDocumento?id=670691</a:t>
            </a:r>
          </a:p>
          <a:p>
            <a:r>
              <a:t>CNPJ 54871427000194 · Subordinação mínima · Excerto da fonte:</a:t>
            </a:r>
          </a:p>
          <a:p>
            <a:r>
              <a:t>5.4 As Cotas possuem as seguintes características e atribuem os seguintes direitos e obrigações aos seus titulares: (i) conf erem direito de voto em todas e quaisquer matérias objeto de deliberação nas Assembleias Gerais, sendo que a cada Cota corresponderá 1 (um) voto. (ii) na Data da 1ª Integralização de Cotas, terão Valor Unitário de R$ 1.000,00 (mil reais), sendo que as Cotas distribuídas posteriormente terão seu Valor Unitário de Emissão calculado com base na alínea (iii) abaixo; (iii) seu Valor Unitário será calculado e divulgado na abertura de todo Dia Útil, para ef eito de def inição de seu valor de integralização, Amortização ou resgate, observado que tal valor será equivalente ao resultado da divisão do valor do Patrimônio Líquido pelo número de Cotas em circulação; e (iv) os direitos dos titulares das Cotas contra o Patrimônio Líquido nos termos deste Regulamento, são pari passu entre si, não havendo qualquer tipo de preferência, prioridade ou subordinação entre os titulares de Cotas. Emissão, Subscrição e Integralização das Cotas 5.5 Após a primeira emissão, eventuais nov</a:t>
            </a:r>
          </a:p>
          <a:p>
            <a:r>
              <a:t>CNPJ 54871427000194 · Subordinação mínima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Subordinação mínima · Versão e prevalência: Leitura específica das cláusulas indicadas; condições e conflitos preservados. Seleção documental atual não comprova vigência jurídica por data isolada.</a:t>
            </a:r>
          </a:p>
          <a:p>
            <a:r>
              <a:t>CNPJ 54871427000194 · Subordinação mínima · Resumo do histórico: {"count": 1, "dates": ["2024-04-28"], "document_count": 1, "sources": [{"document_id": "670691", "title": "Regulamento", "reference_date": "2024-04-28", "version": "1", "page": "14", "url": "https://fnet.bmfbovespa.com.br/fnet/publico/visualizarDocumento?id=670691", "sha256": "bf16dd7f1a62d5cdbf2e2d54fef81783783f7310fbc99c3a8f00459bdf9d037b"}], "reference": {"path": "history/54871427000194.json", "criterion_id": "subordination", "total_count": 1, "preview_count": 1, "full_text_deferred": true, "sha256": "35d7cd99be50c7287c9fb675cf4f2e736002315295a225a9efa79c8d9186d874"}}</a:t>
            </a:r>
          </a:p>
          <a:p>
            <a:r>
              <a:t>CNPJ 60010416000112 · Subordinação mínima · Base da comparação IME: {"criterion_id": "subordination", "observed_value": 8.647499534299206, "unit": "percent", "competence": "08/2026", "status": "not_comparable", "reason": "Vigência efetiva não comprovada; data do documento isolada não certifica enquadramento histórico.", "formula": "subordinated_quotas / net_asset_value × 100",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5.0}</a:t>
            </a:r>
          </a:p>
          <a:p>
            <a:r>
              <a:t>CNPJ 60010416000112 · Subordinação mínima · Regulamento · ID 1051393 · 09/10/2025 · versão Regulamento09/10/2025 · p. 45 · GlossárioÍndice de Subordinação · https://fnet.bmfbovespa.com.br/fnet/publico/visualizarDocumento?id=1051393</a:t>
            </a:r>
          </a:p>
          <a:p>
            <a:r>
              <a:t>CNPJ 60010416000112 · Subordinação mínima · Excerto da fonte:</a:t>
            </a:r>
          </a:p>
          <a:p>
            <a:r>
              <a:t>Índice de Subordinação”: signif ica a razão mínima admitida entre: (a) Patrimônio Líquido das Cotas Subordinadas; e (b) o Patrimônio Líquido da Classe, conforme apurada pelo Gestor em cada Dia Útil, equivalente a 5% (cinco por cento); “Instituições Autorizadas”: qualquer das seguintes instituições f inanceiras: (i) Itaú Unibanco S.A.; (ii) Banco Bradesco S.A.; (iii) Caixa Econômica Federal; (iv) Banco do Brasil S.A.; (v) Banco Santander (Brasil) S.A.; (vi) Banco BTG Pactual S.A.; ou (vii) Parati Crédito, Financiamento e Investimento S.A.; “Instrução CVM 489”: Instrução nº 489 da CVM, de 14 de janeiro de 2011, conf orme alterada; “Investidores</a:t>
            </a:r>
          </a:p>
          <a:p>
            <a:r>
              <a:t>CNPJ 60010416000112 · Subordinação mínima · Regulamento · ID 1051393 · 09/10/2025 · versão Regulamento09/10/2025 · p. 14 · AnexoI5.6–5.7 · https://fnet.bmfbovespa.com.br/fnet/publico/visualizarDocumento?id=1051393</a:t>
            </a:r>
          </a:p>
          <a:p>
            <a:r>
              <a:t>CNPJ 60010416000112 · Subordinação mínima · Excerto da fonte:</a:t>
            </a:r>
          </a:p>
          <a:p>
            <a:r>
              <a:t>5.6 Enquanto existirem Cotas Seniores em circulação, a Classe obrigatoriamente deverá observar o Índice Subordinação, o qual será apurado todo Dia Útil e será acessível aos Cotistas da Classe por meio do site do Administrador. 5.7 Caso o Índice de Subordinação não seja atendido em qualquer data de apuração, o Administrador deverá imediatamente, até o Dia Útil seguinte à data de apuração em questão, (a) suspender a aquisição de novos Direitos Creditórios; (b) informar tal fato aos titulares de Cotas Seniores; e (c) comunicar tal fato por escrito aos Cotistas Subordinados, para que, em querendo, s</a:t>
            </a:r>
          </a:p>
          <a:p>
            <a:r>
              <a:t>CNPJ 60010416000112 · Subordinação mínima · Mecânica: {"operator": "&gt;=", "unit": "percent", "denominator": "net_asset_value", "frequency": "daily", "layer": "class", "effective_status": "document_date_only", "document_date": "2025-10-09", "numerator": "subordinated_quotas", "limit": 5.0, "cure_days": 10, "cure_unit": "dias úteis consecutivos", "requires_senior_outstanding": true}</a:t>
            </a:r>
          </a:p>
          <a:p>
            <a:r>
              <a:t>CNPJ 60010416000112 · Subordinação mínima · Versão e prevalência: Leitura específica das cláusulas indicadas; condições e conflitos preservados. Seleção documental atual não comprova vigência jurídica por data isolada.</a:t>
            </a:r>
          </a:p>
          <a:p>
            <a:r>
              <a:t>CNPJ 60010416000112 · Subordinação mínima · Resumo do histórico: {"count": 5, "dates": ["2025-05-09", "2025-05-12", "2025-10-09"], "document_count": 3, "sources": [{"document_id": "1051393", "title": "Regulamento", "reference_date": "2025-10-09", "version": "1", "page": "45", "url": "https://fnet.bmfbovespa.com.br/fnet/publico/visualizarDocumento?id=1051393", "sha256": "8469d613078ffd5a6c1d217885d8a397a16342c0b937ae4aa24b106505f233ae"}, {"document_id": "1004656", "title": "AGE", "reference_date": "2025-05-12", "version": "1", "page": 2, "url": "https://fnet.bmfbovespa.com.br/fnet/publico/visualizarDocumento?id=1004656", "sha256": "f6c9c009f6170e2b29f074b98522accec73f0c40efbf11f9ec2c8d3f1402616b"}, {"document_id": "911262", "title": "AGE", "reference_date": "2025-05-09", "version": "1", "page": 2, "url": "https://fnet.bmfbovespa.com.br/fnet/publico/visualizarDocumento?id=911262", "sha256": "675de4ffe8c5ee95957fb29810625ce850d1a0b69b5231747442266f0cbf32a3"}], "reference": {"path": "history/60010416000112.json", "criterion_id": "subordination", "total_count": 5, "preview_count": 3, "full_text_deferred": true, "sha256": "8e2bd813f4c51cf01f6bfaad164bafe69d2bbb192f753eac92da3a01c2e63046"}}</a:t>
            </a:r>
          </a:p>
          <a:p>
            <a:r>
              <a:t>CNPJ 62696791000193 · Subordinação mínima · Base da comparação IME: {"criterion_id": "subordination", "observed_value": null, "unit": "percent", "competence": "08/2026", "status": "ime_unavailable", "reason": "Campo IME ausente ou cotas não reconciliadas; ausência preservada sem substituir por zero.", "formula": "subordinated_and_mezzanine_quotas / net_asset_value × 100",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5.0}</a:t>
            </a:r>
          </a:p>
          <a:p>
            <a:r>
              <a:t>CNPJ 62696791000193 · Subordinação mínima · Regulamento · ID 1143317 · 20/03/2026 · versão Regulamento — referência 20/03/2026 · p. 34 · Apêndice Sênior, 4.1–4.1.1 · https://fnet.bmfbovespa.com.br/fnet/publico/visualizarDocumento?id=1143317</a:t>
            </a:r>
          </a:p>
          <a:p>
            <a:r>
              <a:t>CNPJ 62696791000193 · Subordinação mínima · Excerto da fonte:</a:t>
            </a:r>
          </a:p>
          <a:p>
            <a:r>
              <a:t>4.1. Após a Data da 1ª Integralização de Cotas Seniores, o Índice de Subordinação Sênior deverá ser igual ou superior a 5% (cinco por cento) (“Índice de Subordinação”). 4.1.1. O Índice de Subordinação Sênior corresponde ao resultado mínimo obrigatório da divisão de (a) o somatório do valor de todas as Cotas Mezanino e das Cotas Subordinadas Júnior em circulação, por (b) o valor do Patrimônio Líquido, expresso na f orma percentual, e será apurado todo Dia Útil pelo Administrador. 5. Negociação das Cotas 5.1. As Cotas Seniores não poderão ser negociadas no mercado secundário. 6. Amortização e Resgate das Cotas Seniores 6.1. Desde que o Patrimônio Líquido da Classe assim permita, a partir de janeiro de 2026, as Cotas Seniores f arão jus à Amortização semestral do Benchmark, a ser realizada no último Dia Útil dos meses de janeiro e de julho de cada ano (“Amortização Programada de Cotas Seniores” e “Data de Amortização Programada de Cotas Seniores”, respectivamente), observada a Ordem de Alocação de Recursos prevista no Anexo. 6.1.1. Caso, em uma Data de Amortização Programa de Cotas Seniores, a Classe não tenha recursos disponíveis suficientes para o seu pagamento integral a diferença entre (i) o Benchmark Sênior apurad</a:t>
            </a:r>
          </a:p>
          <a:p>
            <a:r>
              <a:t>CNPJ 62696791000193 · Subordinação mínima · AGE · ID 1143319 · 20/03/2026 10:00 · versão AGE — referência 20/03/2026 10:00 · p. 3 · AGC 20/03/2026, 4.1(j)–(k) · https://fnet.bmfbovespa.com.br/fnet/publico/visualizarDocumento?id=1143319</a:t>
            </a:r>
          </a:p>
          <a:p>
            <a:r>
              <a:t>CNPJ 62696791000193 · Subordinação mínima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Subordinação mínima · Condição: A fórmula soma mezanino e júnior. Não deve ser substituída apenas por júnior/PL nem por PL/sênior.</a:t>
            </a:r>
          </a:p>
          <a:p>
            <a:r>
              <a:t>CNPJ 62696791000193 · Subordinação mínima · Mecânica: {"operator": "&gt;=", "limit": 5.0, "unit": "percent", "numerator": "subordinated_and_mezzanine_quotas", "denominator": "net_asset_value", "frequency": "daily", "layer": "62696791000193", "effective_from": "2026-03-23", "effective_status": "explicit_assembly_effective_date", "requires_senior_outstanding": true}</a:t>
            </a:r>
          </a:p>
          <a:p>
            <a:r>
              <a:t>CNPJ 62696791000193 · Subordinação mínima · Versão e prevalência: Leitura específica das cláusulas indicadas; condições e conflitos preservados. Seleção documental atual não comprova vigência jurídica por data isolada.</a:t>
            </a:r>
          </a:p>
          <a:p>
            <a:r>
              <a:t>CNPJ 55563624000109 · Subordinação mínima · Regulamento · ID 1192614 · 30/04/2026 · versão Regulamento30/04/2026 · p. 15 · AnexoI5.1 · https://fnet.bmfbovespa.com.br/fnet/publico/visualizarDocumento?id=1192614</a:t>
            </a:r>
          </a:p>
          <a:p>
            <a:r>
              <a:t>CNPJ 55563624000109 · Subordinação mínima · Excerto da fonte:</a:t>
            </a:r>
          </a:p>
          <a:p>
            <a:r>
              <a:t>5.1 A Classe possui 3 (três) Subclasses de Cotas, quais sejam, a subclasse A (“Subclasse A” e “Cotas Subclasse A”), a subclasse B (“Subclasse B” e “Cotas Subclasse B”) e a subclasse C (“Subclasse C” e “Cotas Subclasse C”, sendo a Subclasse A, a Subclasse B referidas em conjunto como “Subclasses”, e as Cotas Subclasse A e as Cotas Subclasse B sendo referidas em conjunto como “Cotas”), diferindo-se, exclusivamente, em relação aos prazos de duração de cada Subclasse, conforme previstos nos seus respectivos Apêndices, sem qualquer tipo de subordinação entre</a:t>
            </a:r>
          </a:p>
          <a:p>
            <a:r>
              <a:t>CNPJ 55563624000109 · Subordinação mínima · Condição: Piso de proteção do Mercado Crédito II pertence ao investido, não às subclasses A/B/Cdo FIC.</a:t>
            </a:r>
          </a:p>
          <a:p>
            <a:r>
              <a:t>CNPJ 55563624000109 · Subordinação mínima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Subordinação mínima · Versão e prevalência: Leitura específica das cláusulas indicadas; condições e conflitos preservados. Seleção documental atual não comprova vigência jurídica por data isolada.</a:t>
            </a:r>
          </a:p>
          <a:p>
            <a:r>
              <a:t>CNPJ 55563624000109 · Subordinação mínima · Resumo do histórico: {"count": 1, "dates": ["2026-04-30"], "document_count": 1, "sources": [{"document_id": "1192614", "title": "Regulamento", "reference_date": "2026-04-30", "version": "1", "page": "15", "url": "https://fnet.bmfbovespa.com.br/fnet/publico/visualizarDocumento?id=1192614", "sha256": "f56e63ace0acde41d2f47fb48f1ac7f3f7df5e2d32de092d7c5e075a52516632"}], "reference": {"path": "history/55563624000109.json", "criterion_id": "subordination", "total_count": 1, "preview_count": 1, "full_text_deferred": true, "sha256": "7835d573fb58a3c19adf5b8ecc2aee2bdbb9a88f7a0c0209b5f262b64c7522e3"}}</a:t>
            </a:r>
          </a:p>
          <a:p>
            <a:r>
              <a:t>CNPJ 62552447000120 · Subordinação mínima · Regulamento · ID 1200623 · 21/05/2026 · versão Consolidado21/05/2026 aprovado pelo ato1200625 · p. 16 · AnexoI5.1–5.1.1 · https://fnet.bmfbovespa.com.br/fnet/publico/visualizarDocumento?id=1200623</a:t>
            </a:r>
          </a:p>
          <a:p>
            <a:r>
              <a:t>CNPJ 62552447000120 · Subordinação mínima · Excerto da fonte:</a:t>
            </a:r>
          </a:p>
          <a:p>
            <a:r>
              <a:t>5.1 A Classe não possui Subclasse. As características, os direitos e as condições de emissão, distribuição, subscrição, integralização, remuneração, Amortização e resgate das Cotas estão descritos neste Capítulo e no Capítulo 6. 5.1.1 Não obstante, por deliberação conjunta dos Prestadores de Serviços Essenciais e mediante aprovação em Assembleia Especial, poderá haver a divisão de Classes em Subclasses, nos termos da Resolução CVM 175. Após a primeira emissão de Cotas, novas emissões de Cotas (de quaisquer Subclasses) dependem de aprovação dos Cotistas. 5.2 As Cotas são escrit</a:t>
            </a:r>
          </a:p>
          <a:p>
            <a:r>
              <a:t>CNPJ 62552447000120 · Subordinação mínima · Regulamento · ID 1200623 · 21/05/2026 · versão Consolidado21/05/2026 aprovado pelo ato1200625 · p. 17 · AnexoI5.4(iv) · https://fnet.bmfbovespa.com.br/fnet/publico/visualizarDocumento?id=1200623</a:t>
            </a:r>
          </a:p>
          <a:p>
            <a:r>
              <a:t>CNPJ 62552447000120 · Subordinação mínima · Excerto da fonte:</a:t>
            </a:r>
          </a:p>
          <a:p>
            <a:r>
              <a:t>pari passu entre si, não havendo qualquer tipo de preferência, prioridade ou subordinação entre os Cotistas. CAPÍTULO 6 – EMISSÃO, SUBSCRIÇÃO, INTEGRALIZAÇÃO E TRANSFERÊNCIA DAS COTAS Emissão das Cotas 6.1 As Emissões de Cotas poderão ser objeto de ofertas públicas, nos termos da Resolução CVM 160 e demais regulações aplicáveis (“Oferta”), ou objeto de colocação privada, sem registro perante a CVM, por não conf igurar uma Of erta, nos termos da regulamentação aplicável (“Colocação Privada”). 6.2 Após a primeira emissão, eventuais novas emissões de Cotas somente poderão ser realizadas com a aprovação de</a:t>
            </a:r>
          </a:p>
          <a:p>
            <a:r>
              <a:t>CNPJ 62552447000120 · Subordinação mínima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Subordinação mínima · Versão e prevalência: Leitura específica das cláusulas indicadas; condições e conflitos preservados. Seleção documental atual não comprova vigência jurídica por data isolada.</a:t>
            </a:r>
          </a:p>
          <a:p>
            <a:r>
              <a:t>CNPJ 62552447000120 · Subordinação mínima · Resumo do histórico: {"count": 1, "dates": ["2025-09-03"], "document_count": 1, "sources": [{"document_id": "988020", "title": "Instrumento Particular de Emissão de Cotas", "reference_date": "2025-09-03", "version": "1", "page": "5", "url": "https://fnet.bmfbovespa.com.br/fnet/publico/visualizarDocumento?id=988020", "sha256": "8ecc8a771bb9713d64e5fc2052c489664cb0433801a9280db68e5187d35bf7a5"}], "reference": {"path": "history/62552447000120.json", "criterion_id": "subordination", "total_count": 1, "preview_count": 1, "full_text_deferred": true, "sha256": "d95db8c0613d67ee84118c734588665265ea6b02f86a0318d6a844cbe1d0f82f"}}</a:t>
            </a:r>
          </a:p>
          <a:p>
            <a:r>
              <a:t>CNPJ 63953620000165 · Subordinação mínima · Base da comparação IME: {"criterion_id": "subordination", "observed_value": 3.6973764433146807, "unit": "percent", "competence": "08/2026", "status": "not_comparable", "reason": "Vigência efetiva não comprovada; data do documento isolada não certifica enquadramento histórico.", "formula": "subordinated_quotas / net_asset_value × 100",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1.0}</a:t>
            </a:r>
          </a:p>
          <a:p>
            <a:r>
              <a:t>CNPJ 63953620000165 · Subordinação mínima · Anexo ao Regulamento · ID 1222863 · 02/06/2026 · versão AnexoConsignadoPrivado02/06/2026 · p. 23 · ApêndiceSênior4.1–4.1.1 · https://fnet.bmfbovespa.com.br/fnet/publico/visualizarDocumento?id=1222863</a:t>
            </a:r>
          </a:p>
          <a:p>
            <a:r>
              <a:t>CNPJ 63953620000165 · Subordinação mínima · Excerto da fonte:</a:t>
            </a:r>
          </a:p>
          <a:p>
            <a:r>
              <a:t>4.1. Após a Data da 1ª Integralização de Cotas Seniores, o Índice de Subordinação Sênior deverá ser igual ou superior a 1% (um por cento) (“Índice de Subordinação Sênior”). 4.1.1. O Índice de Subordinação Sênior corresponde ao resultado mínimo obrigatório da divisão de (a) o somatório do valor de todas as Cotas Subordinadas em circulação, por (b) o valor do Patrimônio Líquido, expresso na forma percentual, e será apurado todo Dia Útil pelo Administrador. 4.1.2. Verificado excesso do Índice de Subordinação Alvo (conforme definido no Apêndice da Subclasse Subordinada), as Cotas Subordinadas poderão ser objeto de Amortização Extra</a:t>
            </a:r>
          </a:p>
          <a:p>
            <a:r>
              <a:t>CNPJ 63953620000165 · Subordinação mínima · Mecânica: {"operator": "&gt;=", "unit": "percent", "denominator": "net_asset_value", "frequency": "daily", "layer": "class", "effective_status": "document_date_only", "document_date": "2026-06-02", "numerator": "subordinated_quotas", "limit": 1.0, "requires_senior_outstanding": true}</a:t>
            </a:r>
          </a:p>
          <a:p>
            <a:r>
              <a:t>CNPJ 63953620000165 · Subordinação mínima · Versão e prevalência: Leitura específica das cláusulas indicadas; condições e conflitos preservados. Seleção documental atual não comprova vigência jurídica por data isolada.</a:t>
            </a:r>
          </a:p>
          <a:p>
            <a:r>
              <a:t>CNPJ 54871427000194 · Razões de cobertura por camada · Motivo: Não localizada uma cláusula material para este critério nos textos identificados e processados. A ausência de resultado não comprova inexistência da regra.</a:t>
            </a:r>
          </a:p>
          <a:p>
            <a:r>
              <a:t>CNPJ 60010416000112 · Razões de cobertura por camada · Motivo: Não localizada uma cláusula material para este critério nos textos identificados e processados. A ausência de resultado não comprova inexistência da regra.</a:t>
            </a:r>
          </a:p>
          <a:p>
            <a:r>
              <a:t>CNPJ 62696791000193 · Razões de cobertura por camada · Motivo: Não localizada uma cláusula material para este critério nos textos identificados e processados. A ausência de resultado não comprova inexistência da regra.</a:t>
            </a:r>
          </a:p>
          <a:p>
            <a:r>
              <a:t>CNPJ 55563624000109 · Razões de cobertura por camada · Motivo: Não localizada uma cláusula material para este critério nos textos identificados e processados. A ausência de resultado não comprova inexistência da regra.</a:t>
            </a:r>
          </a:p>
          <a:p>
            <a:r>
              <a:t>CNPJ 62552447000120 · Razões de cobertura por camada · Motivo: Não localizada uma cláusula material para este critério nos textos identificados e processados. A ausência de resultado não comprova inexistência da regra.</a:t>
            </a:r>
          </a:p>
          <a:p>
            <a:r>
              <a:t>CNPJ 63953620000165 · Razões de cobertura por camada · Motivo: Não localizada uma cláusula material para este critério nos textos identificados e processados. A ausência de resultado não comprova inexistência da regra.</a:t>
            </a:r>
          </a:p>
          <a:p>
            <a:r>
              <a:t>CNPJ 54871427000194 · Liberação e amortização da júnior · Motivo: Não localizada uma cláusula material para este critério nos textos identificados e processados. A ausência de resultado não comprova inexistência da regra.</a:t>
            </a:r>
          </a:p>
          <a:p>
            <a:r>
              <a:t>CNPJ 60010416000112 · Liberação e amortização da júnior · Regulamento · ID 1051393 · 09/10/2025 · versão Regulamento09/10/2025 · p. 15 · AnexoI7.3.1,7.6 · https://fnet.bmfbovespa.com.br/fnet/publico/visualizarDocumento?id=1051393</a:t>
            </a:r>
          </a:p>
          <a:p>
            <a:r>
              <a:t>CNPJ 60010416000112 · Liberação e amortização da júnior · Excerto da fonte:</a:t>
            </a:r>
          </a:p>
          <a:p>
            <a:r>
              <a:t>7.3.1. As Cotas Subordinadas poderão ser amortizadas caso sejam atingidas, cumulativamente, as seguintes condições: (i) o Índice de Subordinação esteja sendo atendido; (ii) desde que não esteja em curso um Evento de Avaliação e/ou Evento de Liquidação; e (iii) não tenha ocorrido ou esteja em andamento nenhum inadimplemento pecuniário pelo Agente de Retenção/Cobrança, nos termos do presente Regulamento, do Contrato de Endosso e do Contrato de Serviços MT. 7.4. As Amortizações serão realizadas tomando-se por base o Valor U</a:t>
            </a:r>
          </a:p>
          <a:p>
            <a:r>
              <a:t>CNPJ 60010416000112 · Liberação e amortização da júnior · Versão e prevalência: Leitura específica das cláusulas indicadas; condições e conflitos preservados. Seleção documental atual não comprova vigência jurídica por data isolada.</a:t>
            </a:r>
          </a:p>
          <a:p>
            <a:r>
              <a:t>CNPJ 60010416000112 · Liberação e amortização da júnior · Resumo do histórico: {"count": 1, "dates": ["2025-03-20"], "document_count": 1, "sources": [{"document_id": "993786", "title": "Regulamento", "reference_date": "2025-03-20", "version": "1", "page": 14, "clause": "5.7", "url": "https://fnet.bmfbovespa.com.br/fnet/publico/visualizarDocumento?id=993786", "sha256": "fd0fdd369a195510d81f81f505195a0b09e5f43522a990afa7d58c4f872921c8"}], "reference": {"path": "history/60010416000112.json", "criterion_id": "junior_release", "total_count": 1, "preview_count": 1, "full_text_deferred": true, "sha256": "8e2bd813f4c51cf01f6bfaad164bafe69d2bbb192f753eac92da3a01c2e63046"}}</a:t>
            </a:r>
          </a:p>
          <a:p>
            <a:r>
              <a:t>CNPJ 62696791000193 · Liberação e amortização da júnior · Regulamento · ID 1143317 · 20/03/2026 · versão Regulamento — referência 20/03/2026 · p. 37 · Apêndice Júnior, 4.1–4.2 e 5.1 · https://fnet.bmfbovespa.com.br/fnet/publico/visualizarDocumento?id=1143317</a:t>
            </a:r>
          </a:p>
          <a:p>
            <a:r>
              <a:t>CNPJ 62696791000193 · Liberação e amortização da júnior · Excerto da fonte:</a:t>
            </a:r>
          </a:p>
          <a:p>
            <a:r>
              <a:t>4.1. Caso o Patrimônio Líquido da Classe assim permita, as Cotas Subordinadas f arão jus à amortização semestral, no último Dia Útil dos meses de janeiro e julho de cada ano, de valor equivalente ao excedente do valor de integralização das Cotas Subordinadas em circulação, limitado ao percentual de 100% (cem por cento) da variação positiva do CDI acrescida de 4,50% (quatro inteiros e cinco décimos por cento) ao ano, considerando, para tanto a razão entre (i) o valor de integralização das Cotas Subordinadas Júnior em circulação e (ii) o valor de cada uma das Cotas Subordinadas, a ser paga na Data de Amortização Programada de Cotas Seniores (“Amortização das Cotas Subordinadas”). 4.2. Em complemento às Amortizações das Cotas Subordinadas, os Cotistas Subordinados farão jus, sempre que o Patrimônio Líquido da Classe assim permita e desde que o Valor Unitário das Cotas Subordinadas esteja superior ao valor de integralização das Cotas Subordinadas em circulação, a 50% (cinquenta por cento) de qualquer valor que exceder a Amortização das Cotas Subordinadas, a ser paga na Data de Amortização Programada de Cotas Seniores (“Amortização Extraordinária de Cotas Seniores”). 5. Excesso de Subordinação 5.1. Verif icado excesso de subordinação,</a:t>
            </a:r>
          </a:p>
          <a:p>
            <a:r>
              <a:t>CNPJ 62696791000193 · Liberação e amortização da júnior · Condição: O piso sênior usa MZ+júnior; a liberação extraordinária citada compara júnior/PL. São bases distintas. Os “Eventos de Avaliação” usados como condição não estão definidos no consolidado obtido.</a:t>
            </a:r>
          </a:p>
          <a:p>
            <a:r>
              <a:t>CNPJ 62696791000193 · Liberação e amortização da júnior · Versão e prevalência: Leitura específica das cláusulas indicadas; condições e conflitos preservados. Seleção documental atual não comprova vigência jurídica por data isolada.</a:t>
            </a:r>
          </a:p>
          <a:p>
            <a:r>
              <a:t>CNPJ 55563624000109 · Liberação e amortização da júnior · Motivo: Não localizada uma cláusula material para este critério nos textos identificados e processados. A ausência de resultado não comprova inexistência da regra.</a:t>
            </a:r>
          </a:p>
          <a:p>
            <a:r>
              <a:t>CNPJ 62552447000120 · Liberação e amortização da júnior · Regulamento · ID 1200623 · 2026-05-21 · versão 1 · p. 19 · 7.2 · https://fnet.bmfbovespa.com.br/fnet/publico/visualizarDocumento?id=1200623</a:t>
            </a:r>
          </a:p>
          <a:p>
            <a:r>
              <a:t>CNPJ 62552447000120 · Liberação e amortização da júnior · Excerto da fonte:</a:t>
            </a:r>
          </a:p>
          <a:p>
            <a:r>
              <a:t>7.2 As Cotas poderão ser amortizadas através de uma Amortização programada, se houver, conforme  prevista nos Apêndices, caso aplicável (“Amortização Programada”), e por meio amortização  extraordinária das Cotas, a ser realizada por (a) por decisão do Gestor, para: (i) reenquadramento da  Carteira ao mínimo de Direitos Creditórios que deve ser detido pela Classe para f ins tributários/legais;</a:t>
            </a:r>
          </a:p>
          <a:p>
            <a:r>
              <a:t> (ii) necessidade de fluxo de caixa da Classe; e (iii) manutenção de liquidez, (b) por deliberação de uma  Assembleia Especial, observando o disposto neste Regulamento quando se tratar da amortização  extraordinária de Cotas de subclasse subordinada mezanino ou Cotas de subclasse subordinada júnior;</a:t>
            </a:r>
          </a:p>
          <a:p>
            <a:r>
              <a:t> e/ou (c) no caso de liquidação antecipada do Fundo ou da Classe (“Amortização Extraordinária” e,  quando ref erida em conjunto com as Amortizações Programadas, “Amortização”). O pagamento da  amortização extraordinária de Cotas decorrente de decisão do Gestor deve ser realizado em moeda  corrente nacional.</a:t>
            </a:r>
          </a:p>
          <a:p>
            <a:r>
              <a:t>CNPJ 62552447000120 · Liberação e amortização da júnior · Condição: Documentos atuais selecionados no inventário por categoria/escopo; a data documental isolada não comprova vigência jurídica.</a:t>
            </a:r>
          </a:p>
          <a:p>
            <a:r>
              <a:t>CNPJ 62552447000120 · Liberação e amortização da júnior · Motivo: Cláusula primária localizada e citada, mas sua lista/condições extensas não admitem uma síntese literal curta confirmada. O trecho integral permanece nas fontes.</a:t>
            </a:r>
          </a:p>
          <a:p>
            <a:r>
              <a:t>CNPJ 62552447000120 · Liberação e amortização da júnior · Versão e prevalência: Documentos atuais selecionados no inventário por categoria/escopo; a data documental isolada não comprova vigência jurídica.</a:t>
            </a:r>
          </a:p>
          <a:p>
            <a:r>
              <a:t>CNPJ 63953620000165 · Liberação e amortização da júnior · Anexo ao Regulamento · ID 1222863 · 02/06/2026 · versão AnexoConsignadoPrivado02/06/2026 · p. 24 · ApêndiceSubordinada4.1 · https://fnet.bmfbovespa.com.br/fnet/publico/visualizarDocumento?id=1222863</a:t>
            </a:r>
          </a:p>
          <a:p>
            <a:r>
              <a:t>CNPJ 63953620000165 · Liberação e amortização da júnior · Excerto da fonte:</a:t>
            </a:r>
          </a:p>
          <a:p>
            <a:r>
              <a:t>4.1. Verificado que o Índice de Subordinação Alvo é atendido, ou seja, que a representatividade de Cotas Subordinadas em relação ao Patrimônio Líquido da Classe é superior à 10,00% (dez por cento) (“Índice de Subordinação Alvo”), as Cotas Subordinadas poderão ser objeto de Amortização Extraordinária até o limite excedente ao Índice de Subordinação Alvo– ainda que tal Amortização Extraordinária ocorra antes do resgate integral das Cotas Seniores – desde que: (i) seja observada a ordem de alocação de recursos definida no item 8.1 acima Anexo; (ii) não existam Obrigações da Classe vencidas e não pagas; (iii) não estejam em curso quaisquer Eventos de</a:t>
            </a:r>
          </a:p>
          <a:p>
            <a:r>
              <a:t>CNPJ 63953620000165 · Liberação e amortização da júnior · Anexo ao Regulamento · ID 1222863 · 02/06/2026 · versão AnexoConsignadoPrivado02/06/2026 · p. 23 · ApêndiceSênior4.1.2 · https://fnet.bmfbovespa.com.br/fnet/publico/visualizarDocumento?id=1222863</a:t>
            </a:r>
          </a:p>
          <a:p>
            <a:r>
              <a:t>CNPJ 63953620000165 · Liberação e amortização da júnior · Excerto da fonte:</a:t>
            </a:r>
          </a:p>
          <a:p>
            <a:r>
              <a:t>4.1.2. Verificado excesso do Índice de Subordinação Alvo (conforme definido no Apêndice da Subclasse Subordinada), as Cotas Subordinadas poderão ser objeto de Amortização Extraordinária até o limite do respectivos Excesso de Subordinação – ainda que tal Amortização Extraordinária ocorra antes do resgate integral das Cotas Seniores – desde que: (a) seja observada a ordem de alocação de recursos definida no item 8.1 acima Anexo; (b) não existam Obrigações da Classe vencidas e não pagas; (c) não estejam em curso quaisquer Eventos de Avaliação e/ou Eventos de Liquidação; (d) existam suficientes Ativos Financeiros e/ou recur</a:t>
            </a:r>
          </a:p>
          <a:p>
            <a:r>
              <a:t>CNPJ 63953620000165 · Liberação e amortização da júnior · Condição: 10% é patamar de liberação, diferente do piso protetivo de 1%.</a:t>
            </a:r>
          </a:p>
          <a:p>
            <a:r>
              <a:t>CNPJ 63953620000165 · Liberação e amortização da júnior · Versão e prevalência: Leitura específica das cláusulas indicadas; condições e conflitos preservados. Seleção documental atual não comprova vigência jurídica por data isolada.</a:t>
            </a:r>
          </a:p>
          <a:p>
            <a:r>
              <a:t>CNPJ 54871427000194 · Reserva de liquidez · Motivo: Não localizada uma cláusula material para este critério nos textos identificados e processados. A ausência de resultado não comprova inexistência da regra.</a:t>
            </a:r>
          </a:p>
          <a:p>
            <a:r>
              <a:t>CNPJ 60010416000112 · Reserva de liquidez · Motivo: Não localizada uma cláusula material para este critério nos textos identificados e processados. A ausência de resultado não comprova inexistência da regra.</a:t>
            </a:r>
          </a:p>
          <a:p>
            <a:r>
              <a:t>CNPJ 62696791000193 · Reserva de liquidez · Motivo: Não localizada uma cláusula material para este critério nos textos identificados e processados. A ausência de resultado não comprova inexistência da regra.</a:t>
            </a:r>
          </a:p>
          <a:p>
            <a:r>
              <a:t>CNPJ 55563624000109 · Reserva de liquidez · Motivo: Não localizada uma cláusula material para este critério nos textos identificados e processados. A ausência de resultado não comprova inexistência da regra.</a:t>
            </a:r>
          </a:p>
          <a:p>
            <a:r>
              <a:t>CNPJ 62552447000120 · Reserva de liquidez · Motivo: Não localizada uma cláusula material para este critério nos textos identificados e processados. A ausência de resultado não comprova inexistência da regra.</a:t>
            </a:r>
          </a:p>
          <a:p>
            <a:r>
              <a:t>CNPJ 63953620000165 · Reserva de liquidez · Base da comparação IME: {"criterion_id": "liquidity_reserve", "observed_value": null, "unit": "", "competence": "08/2026", "status": "not_comparable", "reason": "Reserva contratual exige segregação, ativos elegíveis, cronograma ou despesas; disponibilidades agregadas não comprovam a reserva.", "formula": "",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null, "comparison_required": true, "context_formula": "Disponibilidades", "context_value": 10000.0, "context_unit": "currency"}</a:t>
            </a:r>
          </a:p>
          <a:p>
            <a:r>
              <a:t>CNPJ 63953620000165 · Reserva de liquidez · Anexo ao Regulamento · ID 1222863 · 02/06/2026 · versão AnexoConsignadoPrivado02/06/2026 · p. 12 · 8.2–8.2.1 · https://fnet.bmfbovespa.com.br/fnet/publico/visualizarDocumento?id=1222863</a:t>
            </a:r>
          </a:p>
          <a:p>
            <a:r>
              <a:t>CNPJ 63953620000165 · Reserva de liquidez · Excerto da fonte:</a:t>
            </a:r>
          </a:p>
          <a:p>
            <a:r>
              <a:t>8.2 O Administrador e o Gestor obrigam-se a, a partir da data da primeira integralização de Cotas Seniores (“Data da 1ª Integralização”) até o final do Período de Investimento, constituir e manter, exclusivamente a partir dos valores integralizados pelo Cotista Sênior, uma Reserva da Caixa, em montante correspondente a R$ 150.000.000,00 (cento e cinquenta milhões e quinhentos mil reais) corrigido diariamente pela rentabilidade auferida sob o referido montante (“Reserva de Caixa”). 8.2.1 A deliberação acerca da utilização dos valores mantidos na Reserva de Caixa dependerá de prévia aprovação em Asse</a:t>
            </a:r>
          </a:p>
          <a:p>
            <a:r>
              <a:t>CNPJ 63953620000165 · Reserva de liquidez · Anexo ao Regulamento · ID 1222863 · 02/06/2026 · versão AnexoConsignadoPrivado02/06/2026 · p. 13 · 10.2(xvii) · https://fnet.bmfbovespa.com.br/fnet/publico/visualizarDocumento?id=1222863</a:t>
            </a:r>
          </a:p>
          <a:p>
            <a:r>
              <a:t>CNPJ 63953620000165 · Reserva de liquidez · Excerto da fonte:</a:t>
            </a:r>
          </a:p>
          <a:p>
            <a:r>
              <a:t>(xvii) alterações na disciplina, critérios de constituição, manutenção Maioria das Cotas de cada Subclasse ou utilização da Reserva de Caixa, bem como deliberação acerca da BTG Pactual SAC: 0800 772 28 27 - Ouvidoria: 0800 722 00 48 - btgpactual.com 13 Clicksign 5616d885-8e2b-40d9-861e-75413fca8eb1</a:t>
            </a:r>
          </a:p>
          <a:p>
            <a:r>
              <a:t>CNPJ 63953620000165 · Reserva de liquidez · Condição: Extenso da cláusula 8.2 diz 150 milhões 500 mil, divergindo de R$ 150 milhões. Caixa do IME agregado não demonstra conta segregada/rentabilidade acumulada.</a:t>
            </a:r>
          </a:p>
          <a:p>
            <a:r>
              <a:t>CNPJ 63953620000165 · Reserva de liquidez · Motivo: Não localizada uma cláusula material para este critério nos textos identificados e processados. A ausência de resultado não comprova inexistência da regra.</a:t>
            </a:r>
          </a:p>
          <a:p>
            <a:r>
              <a:t>CNPJ 63953620000165 · Reserva de liquidez · Versão e prevalência: Leitura específica das cláusulas indicadas; condições e conflitos preservados. Seleção documental atual não comprova vigência jurídica por data isolada.</a:t>
            </a:r>
          </a:p>
          <a:p>
            <a:r>
              <a:t>CNPJ 54871427000194 · Reserva de despesas · Motivo: Não localizada uma cláusula material para este critério nos textos identificados e processados. A ausência de resultado não comprova inexistência da regra.</a:t>
            </a:r>
          </a:p>
          <a:p>
            <a:r>
              <a:t>CNPJ 60010416000112 · Reserva de despesas · Motivo: Não localizada uma cláusula material para este critério nos textos identificados e processados. A ausência de resultado não comprova inexistência da regra.</a:t>
            </a:r>
          </a:p>
          <a:p>
            <a:r>
              <a:t>CNPJ 62696791000193 · Reserva de despesas · Base da comparação IME: {"criterion_id": "expense_reserve", "observed_value": null, "unit": "", "competence": "08/2026", "status": "not_comparable", "reason": "Reserva de despesas depende da base de encargos e da segregação previstas; disponibilidades não demonstram meses de despesas cobertos.",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null, "comparison_required": true, "context_formula": "Disponibilidades", "context_value": null, "context_unit": "currency"}</a:t>
            </a:r>
          </a:p>
          <a:p>
            <a:r>
              <a:t>CNPJ 62696791000193 · Reserva de despesas · Regulamento · ID 1143317 · 20/03/2026 · versão Regulamento — referência 20/03/2026 · p. 16 · Anexo I, 6.1(ii) · https://fnet.bmfbovespa.com.br/fnet/publico/visualizarDocumento?id=1143317</a:t>
            </a:r>
          </a:p>
          <a:p>
            <a:r>
              <a:t>CNPJ 62696791000193 · Reserva de despesas · Excerto da fonte:</a:t>
            </a:r>
          </a:p>
          <a:p>
            <a:r>
              <a:t>6.1 O Administrador e o Gestor obrigam-se a, a partir da data da primeira integralização de Cotas até a liquidação integral das obrigações da Classe, utilizar os recursos disponíveis na Conta da Classe e/ou mantidos em Ativos Financeiros de Liquidez em cada Dia Útil, de acordo com a seguinte ordem de prioridade de alocação, de modo que cada item abaixo listado apenas será contemplado após o direcionamento do montante total necessário para a satisfação dos itens anteriores, ressalvada a ocorrência de eventos extraordinários que afetem o funcionamento regular do Fundo e/ou da Classe: (i) pagamento dos encargos do Fundo e/ou da Classe; (ii) constituição e/ou recomposição da reserva de despesas de modo que esta, ao final de cada Dia Útil, seja equivalente ao montante estimado dos encargos, a serem incorridos nos 6 (seis) meses calendário imediatamente subsequentes pelo Fundo e/ou a Classe (“Reserva de Despesas”); (iii) pagamento de Amortização ou resgate de Cotas Seniores, se houver; (iv) pagamento de Amortização ou resgate de Cotas Mezanino, se houver; (v) aquisição pela Cla</a:t>
            </a:r>
          </a:p>
          <a:p>
            <a:r>
              <a:t>CNPJ 62696791000193 · Reserva de despesas · Condição: Saldo agregado de caixa/liquidez do IME não identifica a reserva constituída nem a estimativa futura de encargos.</a:t>
            </a:r>
          </a:p>
          <a:p>
            <a:r>
              <a:t>CNPJ 62696791000193 · Reserva de despesas · Versão e prevalência: Leitura específica das cláusulas indicadas; condições e conflitos preservados. Seleção documental atual não comprova vigência jurídica por data isolada.</a:t>
            </a:r>
          </a:p>
          <a:p>
            <a:r>
              <a:t>CNPJ 55563624000109 · Reserva de despesas · Base da comparação IME: {"criterion_id": "expense_reserve", "observed_value": null, "unit": "", "competence": "08/2026", "status": "not_comparable", "reason": "Reserva de despesas depende da base de encargos e da segregação previstas; disponibilidades não demonstram meses de despesas cobertos.", "formula": "",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null, "comparison_required": true, "context_formula": "Disponibilidades", "context_value": 0.0, "context_unit": "currency"}</a:t>
            </a:r>
          </a:p>
          <a:p>
            <a:r>
              <a:t>CNPJ 55563624000109 · Reserva de despesas · Regulamento · ID 1192614 · 30/04/2026 · versão Regulamento30/04/2026 · p. 18 · AnexoI8.1(ii) · https://fnet.bmfbovespa.com.br/fnet/publico/visualizarDocumento?id=1192614</a:t>
            </a:r>
          </a:p>
          <a:p>
            <a:r>
              <a:t>CNPJ 55563624000109 · Reserva de despesas · Excerto da fonte:</a:t>
            </a:r>
          </a:p>
          <a:p>
            <a:r>
              <a:t>constituição e/ou recomposição da Reserva de Despesas de modo que esta, ao final de cada Dia Útil, seja equivalente ao montante estimado dos Encargos, a serem incorridos nos 3 (três) meses calendário imediatamente subsequentes; (iii) pagamento de resgate de Cotas aos Cotistas Dissidentes, nos termos do item 11.4.1 abaixo; (iv) pagamento de amortização ou resgate de Cotas, se houver; e BTG Pactual SAC: 0800 772 28 27 - Ouvidoria: 0800 722 00 48 - btgpactual.com</a:t>
            </a:r>
          </a:p>
          <a:p>
            <a:r>
              <a:t>CNPJ 55563624000109 · Reserva de despesas · Regulamento · ID 1192614 · 30/04/2026 · versão Regulamento30/04/2026 · p. 44 · GlossárioReserva de Despesas · https://fnet.bmfbovespa.com.br/fnet/publico/visualizarDocumento?id=1192614</a:t>
            </a:r>
          </a:p>
          <a:p>
            <a:r>
              <a:t>CNPJ 55563624000109 · Reserva de despesas · Excerto da fonte:</a:t>
            </a:r>
          </a:p>
          <a:p>
            <a:r>
              <a:t>Reserva de Despesas”: é a parcela do Patrimônio Líquido a ser retida e destinada exclusivamente para pagamento dos Encargos, nos termos do item 8.1(ii) deste Anexo, e mantida exclusivamente em Ativos Financeiros de Liquidez; “Resolução CVM 30”: Resolução CVM nº 30, de 11 de maio de 2021, conforme alterada; “Resolução CVM 175”: Resolução CVM nº 175, de 23 de dezembro de 2022, conforme alterada; “Taxa de Administração”: a taxa que é devida ao ADMINISTRADOR, nos termos do item 13.2 deste Anexo; “Taxa de Gestão”: a taxa mensal que é devida ao GESTOR, nos termos do item 13.5 deste Anexo; “Taxa de Ges</a:t>
            </a:r>
          </a:p>
          <a:p>
            <a:r>
              <a:t>CNPJ 55563624000109 · Reserva de despesas · Condição: Requer orçamento dos 3 meses; caixa agregado do IME não valida sozinho o valor exigido.</a:t>
            </a:r>
          </a:p>
          <a:p>
            <a:r>
              <a:t>CNPJ 55563624000109 · Reserva de despesas · Versão e prevalência: Leitura específica das cláusulas indicadas; condições e conflitos preservados. Seleção documental atual não comprova vigência jurídica por data isolada.</a:t>
            </a:r>
          </a:p>
          <a:p>
            <a:r>
              <a:t>CNPJ 62552447000120 · Reserva de despesas · Base da comparação IME: {"criterion_id": "expense_reserve", "observed_value": null, "unit": "", "competence": "08/2026", "status": "not_comparable", "reason": "Reserva de despesas depende da base de encargos e da segregação previstas; disponibilidades não demonstram meses de despesas cobertos.", "formula": "",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null, "comparison_required": true, "context_formula": "Disponibilidades", "context_value": 0.0, "context_unit": "currency"}</a:t>
            </a:r>
          </a:p>
          <a:p>
            <a:r>
              <a:t>CNPJ 62552447000120 · Reserva de despesas · Regulamento · ID 1200623 · 21/05/2026 · versão Consolidado21/05/2026 aprovado pelo ato1200625 · p. 11 · AnexoI3.4 · https://fnet.bmfbovespa.com.br/fnet/publico/visualizarDocumento?id=1200623</a:t>
            </a:r>
          </a:p>
          <a:p>
            <a:r>
              <a:t>CNPJ 62552447000120 · Reserva de despesas · Excerto da fonte:</a:t>
            </a:r>
          </a:p>
          <a:p>
            <a:r>
              <a:t>3.4 A Classe manterá, em Ativos Financeiros e/ou disponibilidades de caixa, um valor destinado ao pagamento de despesas f ixas e periódicas da Classe (como a remuneração dos Prestadores de Serviços Essenciais e seu contratados, bem como as taxas, impostos ou co ntribuições f ederais, estaduais, municipais ou autárquicas que recaiam ou venham a recair sobre os bens, direitos e obrigações da Classe), estimadas para um horizonte temporal de 6 (seis) meses (“Reserva de Caixa”). 3.5 Adicionalmente aos Encargos, as seguintes despesas serão debitadas diretamente da Classe, nos termos do art. 51 do Anexo Norma</a:t>
            </a:r>
          </a:p>
          <a:p>
            <a:r>
              <a:t>CNPJ 62552447000120 · Reserva de despesas · Regulamento · ID 1200623 · 21/05/2026 · versão Consolidado21/05/2026 aprovado pelo ato1200625 · p. 20 · AnexoI8.1(ii) · https://fnet.bmfbovespa.com.br/fnet/publico/visualizarDocumento?id=1200623</a:t>
            </a:r>
          </a:p>
          <a:p>
            <a:r>
              <a:t>CNPJ 62552447000120 · Reserva de despesas · Excerto da fonte:</a:t>
            </a:r>
          </a:p>
          <a:p>
            <a:r>
              <a:t>constituição e/ou recomposição da Reserva de Caixa, nos termos da Cláusula 3.4 acima; (iii) pagamento de Amortização ou resgate de Cotas, conf orme aplicável; (iv) aquisição pela Classe de Direitos Creditórios, observando-se a Política de Investimentos; e (v) aquisição pela Classe de Ativos Financeiros, observando-se a Política de Investimentos. CAPÍTULO 9 – METODOLOGIA DE AVALIAÇÃO DOS ATIVOS DA CLASSE 9.1 Os Direitos Creditórios e Ativos Financeiros que compõem a Carteira terão seus valores calculados todo Dia Útil conforme a metodologia de avaliação descrita no manual d o Administrador ou, ainda, nos</a:t>
            </a:r>
          </a:p>
          <a:p>
            <a:r>
              <a:t>CNPJ 62552447000120 · Reserva de despesas · Condição: IME de caixa agregado não permite estimar sozinho o orçamento contratual dos 6 meses.</a:t>
            </a:r>
          </a:p>
          <a:p>
            <a:r>
              <a:t>CNPJ 62552447000120 · Reserva de despesas · Motivo: Não localizada uma cláusula material para este critério nos textos identificados e processados. A ausência de resultado não comprova inexistência da regra.</a:t>
            </a:r>
          </a:p>
          <a:p>
            <a:r>
              <a:t>CNPJ 62552447000120 · Reserva de despesas · Versão e prevalência: Leitura específica das cláusulas indicadas; condições e conflitos preservados. Seleção documental atual não comprova vigência jurídica por data isolada.</a:t>
            </a:r>
          </a:p>
          <a:p>
            <a:r>
              <a:t>CNPJ 63953620000165 · Reserva de despesas · Motivo: Não localizada uma cláusula material para este critério nos textos identificados e processados. A ausência de resultado não comprova inexistência da regra.</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Proteção por camada</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Subordinação mínima · Regulamento · ID 670691 · 28/04/2024 · versão Regulamento — referência 28/04/2024 · p. 13 · Anexo I, 5.1 · https://fnet.bmfbovespa.com.br/fnet/publico/visualizarDocumento?id=670691</a:t>
            </a:r>
          </a:p>
          <a:p>
            <a:r>
              <a:t>CNPJ 54871427000194 · Subordinação mínima · Excerto da fonte:</a:t>
            </a:r>
          </a:p>
          <a:p>
            <a:r>
              <a:t>5.1 O patrimônio da Classe é representado por uma única subclasse e uma única série de Cotas. As características, os direitos e as condições de emissão, distribuição, subscrição, integralização, remuneração, Amortização e resgate das Cotas estão descritos neste Capítulo. As características, os direitos e as condições de emissão, distribuição, subscrição, integralização, remuneração, amortização e resgate das Cotas estão descritos neste Capítulo. 5.2 As Cotas são escriturais, nominativas e correspondem a f rações ideais do patrimônio da Classe, cuja propriedade presume-se: (i) pelo registro do nome do Cotista no livro de registro de Cotistas, enquanto mantidas em conta de depósito mantidas junto ao Agente Escriturador em nome dos respectivos Cotistas, nos termos do Art. 15 da Resolução CVM 175; (ii) pelos controles de titularidade mantidos pelo depositário central junto ao qual as Cotas estejam depositadas, nos termos do Art. 25 da Lei nº 12.810, de 15 de maio de 2013, conf orme alterada. 5.3 As Cotas poderão ser objeto de resgate antecipado apenas na hipótese de ocorrência de Evento de Liquidação, observado o disposto neste Regulamento. BTG Pactual SAC: 0800 772 28 27 - Ouvidoria: 0800 7</a:t>
            </a:r>
          </a:p>
          <a:p>
            <a:r>
              <a:t>CNPJ 54871427000194 · Subordinação mínima · Regulamento · ID 670691 · 28/04/2024 · versão Regulamento — referência 28/04/2024 · p. 14 · Anexo I, 5.4(iv) · https://fnet.bmfbovespa.com.br/fnet/publico/visualizarDocumento?id=670691</a:t>
            </a:r>
          </a:p>
          <a:p>
            <a:r>
              <a:t>CNPJ 54871427000194 · Subordinação mínima · Excerto da fonte:</a:t>
            </a:r>
          </a:p>
          <a:p>
            <a:r>
              <a:t>5.4 As Cotas possuem as seguintes características e atribuem os seguintes direitos e obrigações aos seus titulares: (i) conf erem direito de voto em todas e quaisquer matérias objeto de deliberação nas Assembleias Gerais, sendo que a cada Cota corresponderá 1 (um) voto. (ii) na Data da 1ª Integralização de Cotas, terão Valor Unitário de R$ 1.000,00 (mil reais), sendo que as Cotas distribuídas posteriormente terão seu Valor Unitário de Emissão calculado com base na alínea (iii) abaixo; (iii) seu Valor Unitário será calculado e divulgado na abertura de todo Dia Útil, para ef eito de def inição de seu valor de integralização, Amortização ou resgate, observado que tal valor será equivalente ao resultado da divisão do valor do Patrimônio Líquido pelo número de Cotas em circulação; e (iv) os direitos dos titulares das Cotas contra o Patrimônio Líquido nos termos deste Regulamento, são pari passu entre si, não havendo qualquer tipo de preferência, prioridade ou subordinação entre os titulares de Cotas. Emissão, Subscrição e Integralização das Cotas 5.5 Após a primeira emissão, eventuais nov</a:t>
            </a:r>
          </a:p>
          <a:p>
            <a:r>
              <a:t>CNPJ 54871427000194 · Subordinação mínima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Subordinação mínima · Versão e prevalência: Leitura específica das cláusulas indicadas; condições e conflitos preservados. Seleção documental atual não comprova vigência jurídica por data isolada.</a:t>
            </a:r>
          </a:p>
          <a:p>
            <a:r>
              <a:t>CNPJ 54871427000194 · Subordinação mínima · Resumo do histórico: {"count": 1, "dates": ["2024-04-28"], "document_count": 1, "sources": [{"document_id": "670691", "title": "Regulamento", "reference_date": "2024-04-28", "version": "1", "page": "14", "url": "https://fnet.bmfbovespa.com.br/fnet/publico/visualizarDocumento?id=670691", "sha256": "bf16dd7f1a62d5cdbf2e2d54fef81783783f7310fbc99c3a8f00459bdf9d037b"}], "reference": {"path": "history/54871427000194.json", "criterion_id": "subordination", "total_count": 1, "preview_count": 1, "full_text_deferred": true, "sha256": "35d7cd99be50c7287c9fb675cf4f2e736002315295a225a9efa79c8d9186d874"}}</a:t>
            </a:r>
          </a:p>
          <a:p>
            <a:r>
              <a:t>CNPJ 60010416000112 · Subordinação mínima · Base da comparação IME: {"criterion_id": "subordination", "observed_value": 8.647499534299206, "unit": "percent", "competence": "08/2026", "status": "not_comparable", "reason": "Vigência efetiva não comprovada; data do documento isolada não certifica enquadramento histórico.", "formula": "subordinated_quotas / net_asset_value × 100",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5.0}</a:t>
            </a:r>
          </a:p>
          <a:p>
            <a:r>
              <a:t>CNPJ 60010416000112 · Subordinação mínima · Regulamento · ID 1051393 · 09/10/2025 · versão Regulamento09/10/2025 · p. 45 · GlossárioÍndice de Subordinação · https://fnet.bmfbovespa.com.br/fnet/publico/visualizarDocumento?id=1051393</a:t>
            </a:r>
          </a:p>
          <a:p>
            <a:r>
              <a:t>CNPJ 60010416000112 · Subordinação mínima · Excerto da fonte:</a:t>
            </a:r>
          </a:p>
          <a:p>
            <a:r>
              <a:t>Índice de Subordinação”: signif ica a razão mínima admitida entre: (a) Patrimônio Líquido das Cotas Subordinadas; e (b) o Patrimônio Líquido da Classe, conforme apurada pelo Gestor em cada Dia Útil, equivalente a 5% (cinco por cento); “Instituições Autorizadas”: qualquer das seguintes instituições f inanceiras: (i) Itaú Unibanco S.A.; (ii) Banco Bradesco S.A.; (iii) Caixa Econômica Federal; (iv) Banco do Brasil S.A.; (v) Banco Santander (Brasil) S.A.; (vi) Banco BTG Pactual S.A.; ou (vii) Parati Crédito, Financiamento e Investimento S.A.; “Instrução CVM 489”: Instrução nº 489 da CVM, de 14 de janeiro de 2011, conf orme alterada; “Investidores</a:t>
            </a:r>
          </a:p>
          <a:p>
            <a:r>
              <a:t>CNPJ 60010416000112 · Subordinação mínima · Regulamento · ID 1051393 · 09/10/2025 · versão Regulamento09/10/2025 · p. 14 · AnexoI5.6–5.7 · https://fnet.bmfbovespa.com.br/fnet/publico/visualizarDocumento?id=1051393</a:t>
            </a:r>
          </a:p>
          <a:p>
            <a:r>
              <a:t>CNPJ 60010416000112 · Subordinação mínima · Excerto da fonte:</a:t>
            </a:r>
          </a:p>
          <a:p>
            <a:r>
              <a:t>5.6 Enquanto existirem Cotas Seniores em circulação, a Classe obrigatoriamente deverá observar o Índice Subordinação, o qual será apurado todo Dia Útil e será acessível aos Cotistas da Classe por meio do site do Administrador. 5.7 Caso o Índice de Subordinação não seja atendido em qualquer data de apuração, o Administrador deverá imediatamente, até o Dia Útil seguinte à data de apuração em questão, (a) suspender a aquisição de novos Direitos Creditórios; (b) informar tal fato aos titulares de Cotas Seniores; e (c) comunicar tal fato por escrito aos Cotistas Subordinados, para que, em querendo, s</a:t>
            </a:r>
          </a:p>
          <a:p>
            <a:r>
              <a:t>CNPJ 60010416000112 · Subordinação mínima · Mecânica: {"operator": "&gt;=", "unit": "percent", "denominator": "net_asset_value", "frequency": "daily", "layer": "class", "effective_status": "document_date_only", "document_date": "2025-10-09", "numerator": "subordinated_quotas", "limit": 5.0, "cure_days": 10, "cure_unit": "dias úteis consecutivos", "requires_senior_outstanding": true}</a:t>
            </a:r>
          </a:p>
          <a:p>
            <a:r>
              <a:t>CNPJ 60010416000112 · Subordinação mínima · Versão e prevalência: Leitura específica das cláusulas indicadas; condições e conflitos preservados. Seleção documental atual não comprova vigência jurídica por data isolada.</a:t>
            </a:r>
          </a:p>
          <a:p>
            <a:r>
              <a:t>CNPJ 60010416000112 · Subordinação mínima · Resumo do histórico: {"count": 5, "dates": ["2025-05-09", "2025-05-12", "2025-10-09"], "document_count": 3, "sources": [{"document_id": "1051393", "title": "Regulamento", "reference_date": "2025-10-09", "version": "1", "page": "45", "url": "https://fnet.bmfbovespa.com.br/fnet/publico/visualizarDocumento?id=1051393", "sha256": "8469d613078ffd5a6c1d217885d8a397a16342c0b937ae4aa24b106505f233ae"}, {"document_id": "1004656", "title": "AGE", "reference_date": "2025-05-12", "version": "1", "page": 2, "url": "https://fnet.bmfbovespa.com.br/fnet/publico/visualizarDocumento?id=1004656", "sha256": "f6c9c009f6170e2b29f074b98522accec73f0c40efbf11f9ec2c8d3f1402616b"}, {"document_id": "911262", "title": "AGE", "reference_date": "2025-05-09", "version": "1", "page": 2, "url": "https://fnet.bmfbovespa.com.br/fnet/publico/visualizarDocumento?id=911262", "sha256": "675de4ffe8c5ee95957fb29810625ce850d1a0b69b5231747442266f0cbf32a3"}], "reference": {"path": "history/60010416000112.json", "criterion_id": "subordination", "total_count": 5, "preview_count": 3, "full_text_deferred": true, "sha256": "8e2bd813f4c51cf01f6bfaad164bafe69d2bbb192f753eac92da3a01c2e63046"}}</a:t>
            </a:r>
          </a:p>
          <a:p>
            <a:r>
              <a:t>CNPJ 62696791000193 · Subordinação mínima · Base da comparação IME: {"criterion_id": "subordination", "observed_value": null, "unit": "percent", "competence": "08/2026", "status": "ime_unavailable", "reason": "Campo IME ausente ou cotas não reconciliadas; ausência preservada sem substituir por zero.", "formula": "subordinated_and_mezzanine_quotas / net_asset_value × 100",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5.0}</a:t>
            </a:r>
          </a:p>
          <a:p>
            <a:r>
              <a:t>CNPJ 62696791000193 · Subordinação mínima · Regulamento · ID 1143317 · 20/03/2026 · versão Regulamento — referência 20/03/2026 · p. 34 · Apêndice Sênior, 4.1–4.1.1 · https://fnet.bmfbovespa.com.br/fnet/publico/visualizarDocumento?id=1143317</a:t>
            </a:r>
          </a:p>
          <a:p>
            <a:r>
              <a:t>CNPJ 62696791000193 · Subordinação mínima · Excerto da fonte:</a:t>
            </a:r>
          </a:p>
          <a:p>
            <a:r>
              <a:t>4.1. Após a Data da 1ª Integralização de Cotas Seniores, o Índice de Subordinação Sênior deverá ser igual ou superior a 5% (cinco por cento) (“Índice de Subordinação”). 4.1.1. O Índice de Subordinação Sênior corresponde ao resultado mínimo obrigatório da divisão de (a) o somatório do valor de todas as Cotas Mezanino e das Cotas Subordinadas Júnior em circulação, por (b) o valor do Patrimônio Líquido, expresso na f orma percentual, e será apurado todo Dia Útil pelo Administrador. 5. Negociação das Cotas 5.1. As Cotas Seniores não poderão ser negociadas no mercado secundário. 6. Amortização e Resgate das Cotas Seniores 6.1. Desde que o Patrimônio Líquido da Classe assim permita, a partir de janeiro de 2026, as Cotas Seniores f arão jus à Amortização semestral do Benchmark, a ser realizada no último Dia Útil dos meses de janeiro e de julho de cada ano (“Amortização Programada de Cotas Seniores” e “Data de Amortização Programada de Cotas Seniores”, respectivamente), observada a Ordem de Alocação de Recursos prevista no Anexo. 6.1.1. Caso, em uma Data de Amortização Programa de Cotas Seniores, a Classe não tenha recursos disponíveis suficientes para o seu pagamento integral a diferença entre (i) o Benchmark Sênior apurad</a:t>
            </a:r>
          </a:p>
          <a:p>
            <a:r>
              <a:t>CNPJ 62696791000193 · Subordinação mínima · AGE · ID 1143319 · 20/03/2026 10:00 · versão AGE — referência 20/03/2026 10:00 · p. 3 · AGC 20/03/2026, 4.1(j)–(k) · https://fnet.bmfbovespa.com.br/fnet/publico/visualizarDocumento?id=1143319</a:t>
            </a:r>
          </a:p>
          <a:p>
            <a:r>
              <a:t>CNPJ 62696791000193 · Subordinação mínima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Subordinação mínima · Condição: A fórmula soma mezanino e júnior. Não deve ser substituída apenas por júnior/PL nem por PL/sênior.</a:t>
            </a:r>
          </a:p>
          <a:p>
            <a:r>
              <a:t>CNPJ 62696791000193 · Subordinação mínima · Mecânica: {"operator": "&gt;=", "limit": 5.0, "unit": "percent", "numerator": "subordinated_and_mezzanine_quotas", "denominator": "net_asset_value", "frequency": "daily", "layer": "62696791000193", "effective_from": "2026-03-23", "effective_status": "explicit_assembly_effective_date", "requires_senior_outstanding": true}</a:t>
            </a:r>
          </a:p>
          <a:p>
            <a:r>
              <a:t>CNPJ 62696791000193 · Subordinação mínima · Versão e prevalência: Leitura específica das cláusulas indicadas; condições e conflitos preservados. Seleção documental atual não comprova vigência jurídica por data isolada.</a:t>
            </a:r>
          </a:p>
          <a:p>
            <a:r>
              <a:t>CNPJ 55563624000109 · Subordinação mínima · Regulamento · ID 1192614 · 30/04/2026 · versão Regulamento30/04/2026 · p. 15 · AnexoI5.1 · https://fnet.bmfbovespa.com.br/fnet/publico/visualizarDocumento?id=1192614</a:t>
            </a:r>
          </a:p>
          <a:p>
            <a:r>
              <a:t>CNPJ 55563624000109 · Subordinação mínima · Excerto da fonte:</a:t>
            </a:r>
          </a:p>
          <a:p>
            <a:r>
              <a:t>5.1 A Classe possui 3 (três) Subclasses de Cotas, quais sejam, a subclasse A (“Subclasse A” e “Cotas Subclasse A”), a subclasse B (“Subclasse B” e “Cotas Subclasse B”) e a subclasse C (“Subclasse C” e “Cotas Subclasse C”, sendo a Subclasse A, a Subclasse B referidas em conjunto como “Subclasses”, e as Cotas Subclasse A e as Cotas Subclasse B sendo referidas em conjunto como “Cotas”), diferindo-se, exclusivamente, em relação aos prazos de duração de cada Subclasse, conforme previstos nos seus respectivos Apêndices, sem qualquer tipo de subordinação entre</a:t>
            </a:r>
          </a:p>
          <a:p>
            <a:r>
              <a:t>CNPJ 55563624000109 · Subordinação mínima · Condição: Piso de proteção do Mercado Crédito II pertence ao investido, não às subclasses A/B/Cdo FIC.</a:t>
            </a:r>
          </a:p>
          <a:p>
            <a:r>
              <a:t>CNPJ 55563624000109 · Subordinação mínima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Subordinação mínima · Versão e prevalência: Leitura específica das cláusulas indicadas; condições e conflitos preservados. Seleção documental atual não comprova vigência jurídica por data isolada.</a:t>
            </a:r>
          </a:p>
          <a:p>
            <a:r>
              <a:t>CNPJ 55563624000109 · Subordinação mínima · Resumo do histórico: {"count": 1, "dates": ["2026-04-30"], "document_count": 1, "sources": [{"document_id": "1192614", "title": "Regulamento", "reference_date": "2026-04-30", "version": "1", "page": "15", "url": "https://fnet.bmfbovespa.com.br/fnet/publico/visualizarDocumento?id=1192614", "sha256": "f56e63ace0acde41d2f47fb48f1ac7f3f7df5e2d32de092d7c5e075a52516632"}], "reference": {"path": "history/55563624000109.json", "criterion_id": "subordination", "total_count": 1, "preview_count": 1, "full_text_deferred": true, "sha256": "7835d573fb58a3c19adf5b8ecc2aee2bdbb9a88f7a0c0209b5f262b64c7522e3"}}</a:t>
            </a:r>
          </a:p>
          <a:p>
            <a:r>
              <a:t>CNPJ 62552447000120 · Subordinação mínima · Regulamento · ID 1200623 · 21/05/2026 · versão Consolidado21/05/2026 aprovado pelo ato1200625 · p. 16 · AnexoI5.1–5.1.1 · https://fnet.bmfbovespa.com.br/fnet/publico/visualizarDocumento?id=1200623</a:t>
            </a:r>
          </a:p>
          <a:p>
            <a:r>
              <a:t>CNPJ 62552447000120 · Subordinação mínima · Excerto da fonte:</a:t>
            </a:r>
          </a:p>
          <a:p>
            <a:r>
              <a:t>5.1 A Classe não possui Subclasse. As características, os direitos e as condições de emissão, distribuição, subscrição, integralização, remuneração, Amortização e resgate das Cotas estão descritos neste Capítulo e no Capítulo 6. 5.1.1 Não obstante, por deliberação conjunta dos Prestadores de Serviços Essenciais e mediante aprovação em Assembleia Especial, poderá haver a divisão de Classes em Subclasses, nos termos da Resolução CVM 175. Após a primeira emissão de Cotas, novas emissões de Cotas (de quaisquer Subclasses) dependem de aprovação dos Cotistas. 5.2 As Cotas são escrit</a:t>
            </a:r>
          </a:p>
          <a:p>
            <a:r>
              <a:t>CNPJ 62552447000120 · Subordinação mínima · Regulamento · ID 1200623 · 21/05/2026 · versão Consolidado21/05/2026 aprovado pelo ato1200625 · p. 17 · AnexoI5.4(iv) · https://fnet.bmfbovespa.com.br/fnet/publico/visualizarDocumento?id=1200623</a:t>
            </a:r>
          </a:p>
          <a:p>
            <a:r>
              <a:t>CNPJ 62552447000120 · Subordinação mínima · Excerto da fonte:</a:t>
            </a:r>
          </a:p>
          <a:p>
            <a:r>
              <a:t>pari passu entre si, não havendo qualquer tipo de preferência, prioridade ou subordinação entre os Cotistas. CAPÍTULO 6 – EMISSÃO, SUBSCRIÇÃO, INTEGRALIZAÇÃO E TRANSFERÊNCIA DAS COTAS Emissão das Cotas 6.1 As Emissões de Cotas poderão ser objeto de ofertas públicas, nos termos da Resolução CVM 160 e demais regulações aplicáveis (“Oferta”), ou objeto de colocação privada, sem registro perante a CVM, por não conf igurar uma Of erta, nos termos da regulamentação aplicável (“Colocação Privada”). 6.2 Após a primeira emissão, eventuais novas emissões de Cotas somente poderão ser realizadas com a aprovação de</a:t>
            </a:r>
          </a:p>
          <a:p>
            <a:r>
              <a:t>CNPJ 62552447000120 · Subordinação mínima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Subordinação mínima · Versão e prevalência: Leitura específica das cláusulas indicadas; condições e conflitos preservados. Seleção documental atual não comprova vigência jurídica por data isolada.</a:t>
            </a:r>
          </a:p>
          <a:p>
            <a:r>
              <a:t>CNPJ 62552447000120 · Subordinação mínima · Resumo do histórico: {"count": 1, "dates": ["2025-09-03"], "document_count": 1, "sources": [{"document_id": "988020", "title": "Instrumento Particular de Emissão de Cotas", "reference_date": "2025-09-03", "version": "1", "page": "5", "url": "https://fnet.bmfbovespa.com.br/fnet/publico/visualizarDocumento?id=988020", "sha256": "8ecc8a771bb9713d64e5fc2052c489664cb0433801a9280db68e5187d35bf7a5"}], "reference": {"path": "history/62552447000120.json", "criterion_id": "subordination", "total_count": 1, "preview_count": 1, "full_text_deferred": true, "sha256": "d95db8c0613d67ee84118c734588665265ea6b02f86a0318d6a844cbe1d0f82f"}}</a:t>
            </a:r>
          </a:p>
          <a:p>
            <a:r>
              <a:t>CNPJ 63953620000165 · Subordinação mínima · Base da comparação IME: {"criterion_id": "subordination", "observed_value": 3.6973764433146807, "unit": "percent", "competence": "08/2026", "status": "not_comparable", "reason": "Vigência efetiva não comprovada; data do documento isolada não certifica enquadramento histórico.", "formula": "subordinated_quotas / net_asset_value × 100",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1.0}</a:t>
            </a:r>
          </a:p>
          <a:p>
            <a:r>
              <a:t>CNPJ 63953620000165 · Subordinação mínima · Anexo ao Regulamento · ID 1222863 · 02/06/2026 · versão AnexoConsignadoPrivado02/06/2026 · p. 23 · ApêndiceSênior4.1–4.1.1 · https://fnet.bmfbovespa.com.br/fnet/publico/visualizarDocumento?id=1222863</a:t>
            </a:r>
          </a:p>
          <a:p>
            <a:r>
              <a:t>CNPJ 63953620000165 · Subordinação mínima · Excerto da fonte:</a:t>
            </a:r>
          </a:p>
          <a:p>
            <a:r>
              <a:t>4.1. Após a Data da 1ª Integralização de Cotas Seniores, o Índice de Subordinação Sênior deverá ser igual ou superior a 1% (um por cento) (“Índice de Subordinação Sênior”). 4.1.1. O Índice de Subordinação Sênior corresponde ao resultado mínimo obrigatório da divisão de (a) o somatório do valor de todas as Cotas Subordinadas em circulação, por (b) o valor do Patrimônio Líquido, expresso na forma percentual, e será apurado todo Dia Útil pelo Administrador. 4.1.2. Verificado excesso do Índice de Subordinação Alvo (conforme definido no Apêndice da Subclasse Subordinada), as Cotas Subordinadas poderão ser objeto de Amortização Extra</a:t>
            </a:r>
          </a:p>
          <a:p>
            <a:r>
              <a:t>CNPJ 63953620000165 · Subordinação mínima · Mecânica: {"operator": "&gt;=", "unit": "percent", "denominator": "net_asset_value", "frequency": "daily", "layer": "class", "effective_status": "document_date_only", "document_date": "2026-06-02", "numerator": "subordinated_quotas", "limit": 1.0, "requires_senior_outstanding": true}</a:t>
            </a:r>
          </a:p>
          <a:p>
            <a:r>
              <a:t>CNPJ 63953620000165 · Subordinação mínima · Versão e prevalência: Leitura específica das cláusulas indicadas; condições e conflitos preservados. Seleção documental atual não comprova vigência jurídica por data isolada.</a:t>
            </a:r>
          </a:p>
          <a:p>
            <a:r>
              <a:t>CNPJ 54871427000194 · Razões de cobertura por camada · Motivo: Não localizada uma cláusula material para este critério nos textos identificados e processados. A ausência de resultado não comprova inexistência da regra.</a:t>
            </a:r>
          </a:p>
          <a:p>
            <a:r>
              <a:t>CNPJ 60010416000112 · Razões de cobertura por camada · Motivo: Não localizada uma cláusula material para este critério nos textos identificados e processados. A ausência de resultado não comprova inexistência da regra.</a:t>
            </a:r>
          </a:p>
          <a:p>
            <a:r>
              <a:t>CNPJ 62696791000193 · Razões de cobertura por camada · Motivo: Não localizada uma cláusula material para este critério nos textos identificados e processados. A ausência de resultado não comprova inexistência da regra.</a:t>
            </a:r>
          </a:p>
          <a:p>
            <a:r>
              <a:t>CNPJ 55563624000109 · Razões de cobertura por camada · Motivo: Não localizada uma cláusula material para este critério nos textos identificados e processados. A ausência de resultado não comprova inexistência da regra.</a:t>
            </a:r>
          </a:p>
          <a:p>
            <a:r>
              <a:t>CNPJ 62552447000120 · Razões de cobertura por camada · Motivo: Não localizada uma cláusula material para este critério nos textos identificados e processados. A ausência de resultado não comprova inexistência da regra.</a:t>
            </a:r>
          </a:p>
          <a:p>
            <a:r>
              <a:t>CNPJ 63953620000165 · Razões de cobertura por camada · Motivo: Não localizada uma cláusula material para este critério nos textos identificados e processados. A ausência de resultado não comprova inexistência da regra.</a:t>
            </a:r>
          </a:p>
          <a:p>
            <a:r>
              <a:t>CNPJ 54871427000194 · Liberação e amortização da júnior · Motivo: Não localizada uma cláusula material para este critério nos textos identificados e processados. A ausência de resultado não comprova inexistência da regra.</a:t>
            </a:r>
          </a:p>
          <a:p>
            <a:r>
              <a:t>CNPJ 60010416000112 · Liberação e amortização da júnior · Regulamento · ID 1051393 · 09/10/2025 · versão Regulamento09/10/2025 · p. 15 · AnexoI7.3.1,7.6 · https://fnet.bmfbovespa.com.br/fnet/publico/visualizarDocumento?id=1051393</a:t>
            </a:r>
          </a:p>
          <a:p>
            <a:r>
              <a:t>CNPJ 60010416000112 · Liberação e amortização da júnior · Excerto da fonte:</a:t>
            </a:r>
          </a:p>
          <a:p>
            <a:r>
              <a:t>7.3.1. As Cotas Subordinadas poderão ser amortizadas caso sejam atingidas, cumulativamente, as seguintes condições: (i) o Índice de Subordinação esteja sendo atendido; (ii) desde que não esteja em curso um Evento de Avaliação e/ou Evento de Liquidação; e (iii) não tenha ocorrido ou esteja em andamento nenhum inadimplemento pecuniário pelo Agente de Retenção/Cobrança, nos termos do presente Regulamento, do Contrato de Endosso e do Contrato de Serviços MT. 7.4. As Amortizações serão realizadas tomando-se por base o Valor U</a:t>
            </a:r>
          </a:p>
          <a:p>
            <a:r>
              <a:t>CNPJ 60010416000112 · Liberação e amortização da júnior · Versão e prevalência: Leitura específica das cláusulas indicadas; condições e conflitos preservados. Seleção documental atual não comprova vigência jurídica por data isolada.</a:t>
            </a:r>
          </a:p>
          <a:p>
            <a:r>
              <a:t>CNPJ 60010416000112 · Liberação e amortização da júnior · Resumo do histórico: {"count": 1, "dates": ["2025-03-20"], "document_count": 1, "sources": [{"document_id": "993786", "title": "Regulamento", "reference_date": "2025-03-20", "version": "1", "page": 14, "clause": "5.7", "url": "https://fnet.bmfbovespa.com.br/fnet/publico/visualizarDocumento?id=993786", "sha256": "fd0fdd369a195510d81f81f505195a0b09e5f43522a990afa7d58c4f872921c8"}], "reference": {"path": "history/60010416000112.json", "criterion_id": "junior_release", "total_count": 1, "preview_count": 1, "full_text_deferred": true, "sha256": "8e2bd813f4c51cf01f6bfaad164bafe69d2bbb192f753eac92da3a01c2e63046"}}</a:t>
            </a:r>
          </a:p>
          <a:p>
            <a:r>
              <a:t>CNPJ 62696791000193 · Liberação e amortização da júnior · Regulamento · ID 1143317 · 20/03/2026 · versão Regulamento — referência 20/03/2026 · p. 37 · Apêndice Júnior, 4.1–4.2 e 5.1 · https://fnet.bmfbovespa.com.br/fnet/publico/visualizarDocumento?id=1143317</a:t>
            </a:r>
          </a:p>
          <a:p>
            <a:r>
              <a:t>CNPJ 62696791000193 · Liberação e amortização da júnior · Excerto da fonte:</a:t>
            </a:r>
          </a:p>
          <a:p>
            <a:r>
              <a:t>4.1. Caso o Patrimônio Líquido da Classe assim permita, as Cotas Subordinadas f arão jus à amortização semestral, no último Dia Útil dos meses de janeiro e julho de cada ano, de valor equivalente ao excedente do valor de integralização das Cotas Subordinadas em circulação, limitado ao percentual de 100% (cem por cento) da variação positiva do CDI acrescida de 4,50% (quatro inteiros e cinco décimos por cento) ao ano, considerando, para tanto a razão entre (i) o valor de integralização das Cotas Subordinadas Júnior em circulação e (ii) o valor de cada uma das Cotas Subordinadas, a ser paga na Data de Amortização Programada de Cotas Seniores (“Amortização das Cotas Subordinadas”). 4.2. Em complemento às Amortizações das Cotas Subordinadas, os Cotistas Subordinados farão jus, sempre que o Patrimônio Líquido da Classe assim permita e desde que o Valor Unitário das Cotas Subordinadas esteja superior ao valor de integralização das Cotas Subordinadas em circulação, a 50% (cinquenta por cento) de qualquer valor que exceder a Amortização das Cotas Subordinadas, a ser paga na Data de Amortização Programada de Cotas Seniores (“Amortização Extraordinária de Cotas Seniores”). 5. Excesso de Subordinação 5.1. Verif icado excesso de subordinação,</a:t>
            </a:r>
          </a:p>
          <a:p>
            <a:r>
              <a:t>CNPJ 62696791000193 · Liberação e amortização da júnior · Condição: O piso sênior usa MZ+júnior; a liberação extraordinária citada compara júnior/PL. São bases distintas. Os “Eventos de Avaliação” usados como condição não estão definidos no consolidado obtido.</a:t>
            </a:r>
          </a:p>
          <a:p>
            <a:r>
              <a:t>CNPJ 62696791000193 · Liberação e amortização da júnior · Versão e prevalência: Leitura específica das cláusulas indicadas; condições e conflitos preservados. Seleção documental atual não comprova vigência jurídica por data isolada.</a:t>
            </a:r>
          </a:p>
          <a:p>
            <a:r>
              <a:t>CNPJ 55563624000109 · Liberação e amortização da júnior · Motivo: Não localizada uma cláusula material para este critério nos textos identificados e processados. A ausência de resultado não comprova inexistência da regra.</a:t>
            </a:r>
          </a:p>
          <a:p>
            <a:r>
              <a:t>CNPJ 62552447000120 · Liberação e amortização da júnior · Regulamento · ID 1200623 · 2026-05-21 · versão 1 · p. 19 · 7.2 · https://fnet.bmfbovespa.com.br/fnet/publico/visualizarDocumento?id=1200623</a:t>
            </a:r>
          </a:p>
          <a:p>
            <a:r>
              <a:t>CNPJ 62552447000120 · Liberação e amortização da júnior · Excerto da fonte:</a:t>
            </a:r>
          </a:p>
          <a:p>
            <a:r>
              <a:t>7.2 As Cotas poderão ser amortizadas através de uma Amortização programada, se houver, conforme  prevista nos Apêndices, caso aplicável (“Amortização Programada”), e por meio amortização  extraordinária das Cotas, a ser realizada por (a) por decisão do Gestor, para: (i) reenquadramento da  Carteira ao mínimo de Direitos Creditórios que deve ser detido pela Classe para f ins tributários/legais;</a:t>
            </a:r>
          </a:p>
          <a:p>
            <a:r>
              <a:t> (ii) necessidade de fluxo de caixa da Classe; e (iii) manutenção de liquidez, (b) por deliberação de uma  Assembleia Especial, observando o disposto neste Regulamento quando se tratar da amortização  extraordinária de Cotas de subclasse subordinada mezanino ou Cotas de subclasse subordinada júnior;</a:t>
            </a:r>
          </a:p>
          <a:p>
            <a:r>
              <a:t> e/ou (c) no caso de liquidação antecipada do Fundo ou da Classe (“Amortização Extraordinária” e,  quando ref erida em conjunto com as Amortizações Programadas, “Amortização”). O pagamento da  amortização extraordinária de Cotas decorrente de decisão do Gestor deve ser realizado em moeda  corrente nacional.</a:t>
            </a:r>
          </a:p>
          <a:p>
            <a:r>
              <a:t>CNPJ 62552447000120 · Liberação e amortização da júnior · Condição: Documentos atuais selecionados no inventário por categoria/escopo; a data documental isolada não comprova vigência jurídica.</a:t>
            </a:r>
          </a:p>
          <a:p>
            <a:r>
              <a:t>CNPJ 62552447000120 · Liberação e amortização da júnior · Motivo: Cláusula primária localizada e citada, mas sua lista/condições extensas não admitem uma síntese literal curta confirmada. O trecho integral permanece nas fontes.</a:t>
            </a:r>
          </a:p>
          <a:p>
            <a:r>
              <a:t>CNPJ 62552447000120 · Liberação e amortização da júnior · Versão e prevalência: Documentos atuais selecionados no inventário por categoria/escopo; a data documental isolada não comprova vigência jurídica.</a:t>
            </a:r>
          </a:p>
          <a:p>
            <a:r>
              <a:t>CNPJ 63953620000165 · Liberação e amortização da júnior · Anexo ao Regulamento · ID 1222863 · 02/06/2026 · versão AnexoConsignadoPrivado02/06/2026 · p. 24 · ApêndiceSubordinada4.1 · https://fnet.bmfbovespa.com.br/fnet/publico/visualizarDocumento?id=1222863</a:t>
            </a:r>
          </a:p>
          <a:p>
            <a:r>
              <a:t>CNPJ 63953620000165 · Liberação e amortização da júnior · Excerto da fonte:</a:t>
            </a:r>
          </a:p>
          <a:p>
            <a:r>
              <a:t>4.1. Verificado que o Índice de Subordinação Alvo é atendido, ou seja, que a representatividade de Cotas Subordinadas em relação ao Patrimônio Líquido da Classe é superior à 10,00% (dez por cento) (“Índice de Subordinação Alvo”), as Cotas Subordinadas poderão ser objeto de Amortização Extraordinária até o limite excedente ao Índice de Subordinação Alvo– ainda que tal Amortização Extraordinária ocorra antes do resgate integral das Cotas Seniores – desde que: (i) seja observada a ordem de alocação de recursos definida no item 8.1 acima Anexo; (ii) não existam Obrigações da Classe vencidas e não pagas; (iii) não estejam em curso quaisquer Eventos de</a:t>
            </a:r>
          </a:p>
          <a:p>
            <a:r>
              <a:t>CNPJ 63953620000165 · Liberação e amortização da júnior · Anexo ao Regulamento · ID 1222863 · 02/06/2026 · versão AnexoConsignadoPrivado02/06/2026 · p. 23 · ApêndiceSênior4.1.2 · https://fnet.bmfbovespa.com.br/fnet/publico/visualizarDocumento?id=1222863</a:t>
            </a:r>
          </a:p>
          <a:p>
            <a:r>
              <a:t>CNPJ 63953620000165 · Liberação e amortização da júnior · Excerto da fonte:</a:t>
            </a:r>
          </a:p>
          <a:p>
            <a:r>
              <a:t>4.1.2. Verificado excesso do Índice de Subordinação Alvo (conforme definido no Apêndice da Subclasse Subordinada), as Cotas Subordinadas poderão ser objeto de Amortização Extraordinária até o limite do respectivos Excesso de Subordinação – ainda que tal Amortização Extraordinária ocorra antes do resgate integral das Cotas Seniores – desde que: (a) seja observada a ordem de alocação de recursos definida no item 8.1 acima Anexo; (b) não existam Obrigações da Classe vencidas e não pagas; (c) não estejam em curso quaisquer Eventos de Avaliação e/ou Eventos de Liquidação; (d) existam suficientes Ativos Financeiros e/ou recur</a:t>
            </a:r>
          </a:p>
          <a:p>
            <a:r>
              <a:t>CNPJ 63953620000165 · Liberação e amortização da júnior · Condição: 10% é patamar de liberação, diferente do piso protetivo de 1%.</a:t>
            </a:r>
          </a:p>
          <a:p>
            <a:r>
              <a:t>CNPJ 63953620000165 · Liberação e amortização da júnior · Versão e prevalência: Leitura específica das cláusulas indicadas; condições e conflitos preservados. Seleção documental atual não comprova vigência jurídica por data isolada.</a:t>
            </a:r>
          </a:p>
          <a:p>
            <a:r>
              <a:t>CNPJ 54871427000194 · Reserva de liquidez · Motivo: Não localizada uma cláusula material para este critério nos textos identificados e processados. A ausência de resultado não comprova inexistência da regra.</a:t>
            </a:r>
          </a:p>
          <a:p>
            <a:r>
              <a:t>CNPJ 60010416000112 · Reserva de liquidez · Motivo: Não localizada uma cláusula material para este critério nos textos identificados e processados. A ausência de resultado não comprova inexistência da regra.</a:t>
            </a:r>
          </a:p>
          <a:p>
            <a:r>
              <a:t>CNPJ 62696791000193 · Reserva de liquidez · Motivo: Não localizada uma cláusula material para este critério nos textos identificados e processados. A ausência de resultado não comprova inexistência da regra.</a:t>
            </a:r>
          </a:p>
          <a:p>
            <a:r>
              <a:t>CNPJ 55563624000109 · Reserva de liquidez · Motivo: Não localizada uma cláusula material para este critério nos textos identificados e processados. A ausência de resultado não comprova inexistência da regra.</a:t>
            </a:r>
          </a:p>
          <a:p>
            <a:r>
              <a:t>CNPJ 62552447000120 · Reserva de liquidez · Motivo: Não localizada uma cláusula material para este critério nos textos identificados e processados. A ausência de resultado não comprova inexistência da regra.</a:t>
            </a:r>
          </a:p>
          <a:p>
            <a:r>
              <a:t>CNPJ 63953620000165 · Reserva de liquidez · Base da comparação IME: {"criterion_id": "liquidity_reserve", "observed_value": null, "unit": "", "competence": "08/2026", "status": "not_comparable", "reason": "Reserva contratual exige segregação, ativos elegíveis, cronograma ou despesas; disponibilidades agregadas não comprovam a reserva.", "formula": "",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null, "comparison_required": true, "context_formula": "Disponibilidades", "context_value": 10000.0, "context_unit": "currency"}</a:t>
            </a:r>
          </a:p>
          <a:p>
            <a:r>
              <a:t>CNPJ 63953620000165 · Reserva de liquidez · Anexo ao Regulamento · ID 1222863 · 02/06/2026 · versão AnexoConsignadoPrivado02/06/2026 · p. 12 · 8.2–8.2.1 · https://fnet.bmfbovespa.com.br/fnet/publico/visualizarDocumento?id=1222863</a:t>
            </a:r>
          </a:p>
          <a:p>
            <a:r>
              <a:t>CNPJ 63953620000165 · Reserva de liquidez · Excerto da fonte:</a:t>
            </a:r>
          </a:p>
          <a:p>
            <a:r>
              <a:t>8.2 O Administrador e o Gestor obrigam-se a, a partir da data da primeira integralização de Cotas Seniores (“Data da 1ª Integralização”) até o final do Período de Investimento, constituir e manter, exclusivamente a partir dos valores integralizados pelo Cotista Sênior, uma Reserva da Caixa, em montante correspondente a R$ 150.000.000,00 (cento e cinquenta milhões e quinhentos mil reais) corrigido diariamente pela rentabilidade auferida sob o referido montante (“Reserva de Caixa”). 8.2.1 A deliberação acerca da utilização dos valores mantidos na Reserva de Caixa dependerá de prévia aprovação em Asse</a:t>
            </a:r>
          </a:p>
          <a:p>
            <a:r>
              <a:t>CNPJ 63953620000165 · Reserva de liquidez · Anexo ao Regulamento · ID 1222863 · 02/06/2026 · versão AnexoConsignadoPrivado02/06/2026 · p. 13 · 10.2(xvii) · https://fnet.bmfbovespa.com.br/fnet/publico/visualizarDocumento?id=1222863</a:t>
            </a:r>
          </a:p>
          <a:p>
            <a:r>
              <a:t>CNPJ 63953620000165 · Reserva de liquidez · Excerto da fonte:</a:t>
            </a:r>
          </a:p>
          <a:p>
            <a:r>
              <a:t>(xvii) alterações na disciplina, critérios de constituição, manutenção Maioria das Cotas de cada Subclasse ou utilização da Reserva de Caixa, bem como deliberação acerca da BTG Pactual SAC: 0800 772 28 27 - Ouvidoria: 0800 722 00 48 - btgpactual.com 13 Clicksign 5616d885-8e2b-40d9-861e-75413fca8eb1</a:t>
            </a:r>
          </a:p>
          <a:p>
            <a:r>
              <a:t>CNPJ 63953620000165 · Reserva de liquidez · Condição: Extenso da cláusula 8.2 diz 150 milhões 500 mil, divergindo de R$ 150 milhões. Caixa do IME agregado não demonstra conta segregada/rentabilidade acumulada.</a:t>
            </a:r>
          </a:p>
          <a:p>
            <a:r>
              <a:t>CNPJ 63953620000165 · Reserva de liquidez · Motivo: Não localizada uma cláusula material para este critério nos textos identificados e processados. A ausência de resultado não comprova inexistência da regra.</a:t>
            </a:r>
          </a:p>
          <a:p>
            <a:r>
              <a:t>CNPJ 63953620000165 · Reserva de liquidez · Versão e prevalência: Leitura específica das cláusulas indicadas; condições e conflitos preservados. Seleção documental atual não comprova vigência jurídica por data isolada.</a:t>
            </a:r>
          </a:p>
          <a:p>
            <a:r>
              <a:t>CNPJ 54871427000194 · Reserva de despesas · Motivo: Não localizada uma cláusula material para este critério nos textos identificados e processados. A ausência de resultado não comprova inexistência da regra.</a:t>
            </a:r>
          </a:p>
          <a:p>
            <a:r>
              <a:t>CNPJ 60010416000112 · Reserva de despesas · Motivo: Não localizada uma cláusula material para este critério nos textos identificados e processados. A ausência de resultado não comprova inexistência da regra.</a:t>
            </a:r>
          </a:p>
          <a:p>
            <a:r>
              <a:t>CNPJ 62696791000193 · Reserva de despesas · Base da comparação IME: {"criterion_id": "expense_reserve", "observed_value": null, "unit": "", "competence": "08/2026", "status": "not_comparable", "reason": "Reserva de despesas depende da base de encargos e da segregação previstas; disponibilidades não demonstram meses de despesas cobertos.", "formula": "", "source": {"type": "ime_document", "cnpj": "62696791000193", "competence": "08/2026", "path": "data/documentary_diligence/ime/62696791000193_202608.json", "reported_fund_cnpj": "62696791000193", "reported_class_cnpj": "62696791000193", "reported_fund_cnpj_raw": "62696791000193", "reported_class_cnpj_raw": "62696791000193", "identity_basis": "class", "warnings": ["IME sem linhas de cotas suficientes para reconciliar saldos por camada; ausência preservada.", "IME de FIAGRO: CPR e ativos para necessidades de liquidez são rubricas próprias; não equivalem automaticamente a direitos creditórios elegíveis ou reserva contratual. Saldos de subclasse sem identificação sênior/mezanino/júnior não demonstram subordinação."], "numeric_normalization": "FundosNet XML numeric parser; CNPJ strings preserved", "layout": "FIAGRO-IME", "fields": ["net_asset_value", "cpr", "liquid_assets"], "field_paths": {"net_asset_value": ["DOC_ARQ/LISTA_INFORM/VL_PATRIMONIO_LIQUIDO"], "cash": ["DOC_ARQ/LISTA_INFORM/APLIC_ATIVO/VL_DISPONIB"], "fidc_quotas": [], "pdd": ["DOC_ARQ/LISTA_INFORM/APLIC_ATIVO/CRED_EXISTE/VL_PROVIS_REDUC_RECUP", "DOC_ARQ/LISTA_INFORM/APLIC_ATIVO/DICRED/VL_DICRED_PROVIS_REDUC_RECUP"], "cpr": ["DOC_ARQ/LISTA_INFORM/INFO_ATIVO/DET_VL_TOTAL_INVEST/DET_VL_ATIV_FINAN_LATO_SENSU/DET_TIT_CRED/VL_CPR"], "liquid_assets": ["DOC_ARQ/LISTA_INFORM/INFO_ATIVO/VL_TOTAL_MANTIDO_NECES_LIQ"]}, "document_id": "1320183", "version": 1, "delivered_at": "15/09/2026 15:15", "url": "https://fnet.bmfbovespa.com.br/fnet/publico/exibirDocumento?id=1320183", "declared_fields_sha256": "e3f4ef680182b2a13b57cbc2c39bc17c640e9bf9c6aa2c3c793a3c7027c7bb11", "snapshot_path": "data/documentary_diligence/ime/62696791000193_202608.json"}, "headroom": null, "limit": null, "comparison_required": true, "context_formula": "Disponibilidades", "context_value": null, "context_unit": "currency"}</a:t>
            </a:r>
          </a:p>
          <a:p>
            <a:r>
              <a:t>CNPJ 62696791000193 · Reserva de despesas · Regulamento · ID 1143317 · 20/03/2026 · versão Regulamento — referência 20/03/2026 · p. 16 · Anexo I, 6.1(ii) · https://fnet.bmfbovespa.com.br/fnet/publico/visualizarDocumento?id=1143317</a:t>
            </a:r>
          </a:p>
          <a:p>
            <a:r>
              <a:t>CNPJ 62696791000193 · Reserva de despesas · Excerto da fonte:</a:t>
            </a:r>
          </a:p>
          <a:p>
            <a:r>
              <a:t>6.1 O Administrador e o Gestor obrigam-se a, a partir da data da primeira integralização de Cotas até a liquidação integral das obrigações da Classe, utilizar os recursos disponíveis na Conta da Classe e/ou mantidos em Ativos Financeiros de Liquidez em cada Dia Útil, de acordo com a seguinte ordem de prioridade de alocação, de modo que cada item abaixo listado apenas será contemplado após o direcionamento do montante total necessário para a satisfação dos itens anteriores, ressalvada a ocorrência de eventos extraordinários que afetem o funcionamento regular do Fundo e/ou da Classe: (i) pagamento dos encargos do Fundo e/ou da Classe; (ii) constituição e/ou recomposição da reserva de despesas de modo que esta, ao final de cada Dia Útil, seja equivalente ao montante estimado dos encargos, a serem incorridos nos 6 (seis) meses calendário imediatamente subsequentes pelo Fundo e/ou a Classe (“Reserva de Despesas”); (iii) pagamento de Amortização ou resgate de Cotas Seniores, se houver; (iv) pagamento de Amortização ou resgate de Cotas Mezanino, se houver; (v) aquisição pela Cla</a:t>
            </a:r>
          </a:p>
          <a:p>
            <a:r>
              <a:t>CNPJ 62696791000193 · Reserva de despesas · Condição: Saldo agregado de caixa/liquidez do IME não identifica a reserva constituída nem a estimativa futura de encargos.</a:t>
            </a:r>
          </a:p>
          <a:p>
            <a:r>
              <a:t>CNPJ 62696791000193 · Reserva de despesas · Versão e prevalência: Leitura específica das cláusulas indicadas; condições e conflitos preservados. Seleção documental atual não comprova vigência jurídica por data isolada.</a:t>
            </a:r>
          </a:p>
          <a:p>
            <a:r>
              <a:t>CNPJ 55563624000109 · Reserva de despesas · Base da comparação IME: {"criterion_id": "expense_reserve", "observed_value": null, "unit": "", "competence": "08/2026", "status": "not_comparable", "reason": "Reserva de despesas depende da base de encargos e da segregação previstas; disponibilidades não demonstram meses de despesas cobertos.", "formula": "",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null, "comparison_required": true, "context_formula": "Disponibilidades", "context_value": 0.0, "context_unit": "currency"}</a:t>
            </a:r>
          </a:p>
          <a:p>
            <a:r>
              <a:t>CNPJ 55563624000109 · Reserva de despesas · Regulamento · ID 1192614 · 30/04/2026 · versão Regulamento30/04/2026 · p. 18 · AnexoI8.1(ii) · https://fnet.bmfbovespa.com.br/fnet/publico/visualizarDocumento?id=1192614</a:t>
            </a:r>
          </a:p>
          <a:p>
            <a:r>
              <a:t>CNPJ 55563624000109 · Reserva de despesas · Excerto da fonte:</a:t>
            </a:r>
          </a:p>
          <a:p>
            <a:r>
              <a:t>constituição e/ou recomposição da Reserva de Despesas de modo que esta, ao final de cada Dia Útil, seja equivalente ao montante estimado dos Encargos, a serem incorridos nos 3 (três) meses calendário imediatamente subsequentes; (iii) pagamento de resgate de Cotas aos Cotistas Dissidentes, nos termos do item 11.4.1 abaixo; (iv) pagamento de amortização ou resgate de Cotas, se houver; e BTG Pactual SAC: 0800 772 28 27 - Ouvidoria: 0800 722 00 48 - btgpactual.com</a:t>
            </a:r>
          </a:p>
          <a:p>
            <a:r>
              <a:t>CNPJ 55563624000109 · Reserva de despesas · Regulamento · ID 1192614 · 30/04/2026 · versão Regulamento30/04/2026 · p. 44 · GlossárioReserva de Despesas · https://fnet.bmfbovespa.com.br/fnet/publico/visualizarDocumento?id=1192614</a:t>
            </a:r>
          </a:p>
          <a:p>
            <a:r>
              <a:t>CNPJ 55563624000109 · Reserva de despesas · Excerto da fonte:</a:t>
            </a:r>
          </a:p>
          <a:p>
            <a:r>
              <a:t>Reserva de Despesas”: é a parcela do Patrimônio Líquido a ser retida e destinada exclusivamente para pagamento dos Encargos, nos termos do item 8.1(ii) deste Anexo, e mantida exclusivamente em Ativos Financeiros de Liquidez; “Resolução CVM 30”: Resolução CVM nº 30, de 11 de maio de 2021, conforme alterada; “Resolução CVM 175”: Resolução CVM nº 175, de 23 de dezembro de 2022, conforme alterada; “Taxa de Administração”: a taxa que é devida ao ADMINISTRADOR, nos termos do item 13.2 deste Anexo; “Taxa de Gestão”: a taxa mensal que é devida ao GESTOR, nos termos do item 13.5 deste Anexo; “Taxa de Ges</a:t>
            </a:r>
          </a:p>
          <a:p>
            <a:r>
              <a:t>CNPJ 55563624000109 · Reserva de despesas · Condição: Requer orçamento dos 3 meses; caixa agregado do IME não valida sozinho o valor exigido.</a:t>
            </a:r>
          </a:p>
          <a:p>
            <a:r>
              <a:t>CNPJ 55563624000109 · Reserva de despesas · Versão e prevalência: Leitura específica das cláusulas indicadas; condições e conflitos preservados. Seleção documental atual não comprova vigência jurídica por data isolada.</a:t>
            </a:r>
          </a:p>
          <a:p>
            <a:r>
              <a:t>CNPJ 62552447000120 · Reserva de despesas · Base da comparação IME: {"criterion_id": "expense_reserve", "observed_value": null, "unit": "", "competence": "08/2026", "status": "not_comparable", "reason": "Reserva de despesas depende da base de encargos e da segregação previstas; disponibilidades não demonstram meses de despesas cobertos.", "formula": "",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null, "comparison_required": true, "context_formula": "Disponibilidades", "context_value": 0.0, "context_unit": "currency"}</a:t>
            </a:r>
          </a:p>
          <a:p>
            <a:r>
              <a:t>CNPJ 62552447000120 · Reserva de despesas · Regulamento · ID 1200623 · 21/05/2026 · versão Consolidado21/05/2026 aprovado pelo ato1200625 · p. 11 · AnexoI3.4 · https://fnet.bmfbovespa.com.br/fnet/publico/visualizarDocumento?id=1200623</a:t>
            </a:r>
          </a:p>
          <a:p>
            <a:r>
              <a:t>CNPJ 62552447000120 · Reserva de despesas · Excerto da fonte:</a:t>
            </a:r>
          </a:p>
          <a:p>
            <a:r>
              <a:t>3.4 A Classe manterá, em Ativos Financeiros e/ou disponibilidades de caixa, um valor destinado ao pagamento de despesas f ixas e periódicas da Classe (como a remuneração dos Prestadores de Serviços Essenciais e seu contratados, bem como as taxas, impostos ou co ntribuições f ederais, estaduais, municipais ou autárquicas que recaiam ou venham a recair sobre os bens, direitos e obrigações da Classe), estimadas para um horizonte temporal de 6 (seis) meses (“Reserva de Caixa”). 3.5 Adicionalmente aos Encargos, as seguintes despesas serão debitadas diretamente da Classe, nos termos do art. 51 do Anexo Norma</a:t>
            </a:r>
          </a:p>
          <a:p>
            <a:r>
              <a:t>CNPJ 62552447000120 · Reserva de despesas · Regulamento · ID 1200623 · 21/05/2026 · versão Consolidado21/05/2026 aprovado pelo ato1200625 · p. 20 · AnexoI8.1(ii) · https://fnet.bmfbovespa.com.br/fnet/publico/visualizarDocumento?id=1200623</a:t>
            </a:r>
          </a:p>
          <a:p>
            <a:r>
              <a:t>CNPJ 62552447000120 · Reserva de despesas · Excerto da fonte:</a:t>
            </a:r>
          </a:p>
          <a:p>
            <a:r>
              <a:t>constituição e/ou recomposição da Reserva de Caixa, nos termos da Cláusula 3.4 acima; (iii) pagamento de Amortização ou resgate de Cotas, conf orme aplicável; (iv) aquisição pela Classe de Direitos Creditórios, observando-se a Política de Investimentos; e (v) aquisição pela Classe de Ativos Financeiros, observando-se a Política de Investimentos. CAPÍTULO 9 – METODOLOGIA DE AVALIAÇÃO DOS ATIVOS DA CLASSE 9.1 Os Direitos Creditórios e Ativos Financeiros que compõem a Carteira terão seus valores calculados todo Dia Útil conforme a metodologia de avaliação descrita no manual d o Administrador ou, ainda, nos</a:t>
            </a:r>
          </a:p>
          <a:p>
            <a:r>
              <a:t>CNPJ 62552447000120 · Reserva de despesas · Condição: IME de caixa agregado não permite estimar sozinho o orçamento contratual dos 6 meses.</a:t>
            </a:r>
          </a:p>
          <a:p>
            <a:r>
              <a:t>CNPJ 62552447000120 · Reserva de despesas · Motivo: Não localizada uma cláusula material para este critério nos textos identificados e processados. A ausência de resultado não comprova inexistência da regra.</a:t>
            </a:r>
          </a:p>
          <a:p>
            <a:r>
              <a:t>CNPJ 62552447000120 · Reserva de despesas · Versão e prevalência: Leitura específica das cláusulas indicadas; condições e conflitos preservados. Seleção documental atual não comprova vigência jurídica por data isolada.</a:t>
            </a:r>
          </a:p>
          <a:p>
            <a:r>
              <a:t>CNPJ 63953620000165 · Reserva de despesas · Motivo: Não localizada uma cláusula material para este critério nos textos identificados e processados. A ausência de resultado não comprova inexistência da regra.</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Qualidade da carteira</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Metodologia de PDD e curva por atraso · Base da comparação IME: {"criterion_id": "pdd", "observed_value": null, "unit": "", "competence": "08/2026", "status": "not_comparable", "reason": "A curva de PDD requer atraso, contágio e garantias por operação; o agregado mensal não demonstra aplicação da metodologia.", "formula": "",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null, "comparison_required": true, "context_formula": "PDD / direitos creditórios", "context_value": 0.397174994710542, "context_unit": "percent"}</a:t>
            </a:r>
          </a:p>
          <a:p>
            <a:r>
              <a:t>CNPJ 54871427000194 · Metodologia de PDD e curva por atraso · Regulamento · ID 670691 · 28/04/2024 · versão Regulamento — referência 28/04/2024 · p. 17 · Anexo I, 9.2–9.2.1 · https://fnet.bmfbovespa.com.br/fnet/publico/visualizarDocumento?id=670691</a:t>
            </a:r>
          </a:p>
          <a:p>
            <a:r>
              <a:t>CNPJ 54871427000194 · Metodologia de PDD e curva por atraso · Excerto da fonte:</a:t>
            </a:r>
          </a:p>
          <a:p>
            <a:r>
              <a:t>9.2 As provisões para perdas e as perdas havidas com Direitos Creditórios ou com os Ativos Financeiros de Liquidez integrantes da Carteira serão, respectivamente, efetuadas ou reconhecidas nos termos da Instrução CVM 489. Desta forma, o valor do saldo dos Direitos Creditórios e/ou Ativos Financeiros de Liquidez será reduzido pelo valor da provisão ef etuada ou perda reconhecida. 9.2.1 O ef eito de perda ou provisão para devedores duvidosos de Direitos Creditórios de um mesmo Devedor deverá ser mensurado levando-se em consideração o disposto no Art. 13 da Instrução CVM 489, sendo f acultada a análise individualizada dos Direitos Creditórios, observada a metodologia de avaliação descrita no manual d o ADMINISTRADOR ou, ainda, no manual do CUSTODIANTE. CAPÍTULO 10 – ASSEMBLEIA ESPECIAL DE COTISTAS 10.1 Sem prejuízo de outros requisitos e inf ormações previstos na regulamentação vigente, são aplicáveis à Assembleia Especial de Cotistas as mesmas disposições procedimentais da Assembleia Geral de Cotistas. 10.2 A Assembleia Especial de Cotistas é responsável por deliberar sobre as matérias específicas da Classe de Cotas, sem prejuízo das demais disposições previstas</a:t>
            </a:r>
          </a:p>
          <a:p>
            <a:r>
              <a:t>CNPJ 54871427000194 · Metodologia de PDD e curva por atraso · Condição: Os percentuais do Complemento 2 são descontos de cobrança e comissões; não são alíquotas de PDD. O manual operacional referenciado permanece uma fonte separada.</a:t>
            </a:r>
          </a:p>
          <a:p>
            <a:r>
              <a:t>CNPJ 54871427000194 · Metodologia de PDD e curva por atraso · Versão e prevalência: Leitura específica das cláusulas indicadas; condições e conflitos preservados. Seleção documental atual não comprova vigência jurídica por data isolada.</a:t>
            </a:r>
          </a:p>
          <a:p>
            <a:r>
              <a:t>CNPJ 54871427000194 · Metodologia de PDD e curva por atraso · Resumo do histórico: {"count": 4, "dates": ["2024-12-31", "2025-01-01", "2025-12-31"], "document_count": 3, "sources": [{"document_id": "1151805", "title": "Demonstrações Financeiras", "reference_date": "2025-12-31", "version": "1", "page": 17, "url": "https://fnet.bmfbovespa.com.br/fnet/publico/visualizarDocumento?id=1151805", "sha256": "f1cea70b152968bf96ef9221b27225953cb20aeef487b2798db3c25e11b528d4"}, {"document_id": "869529", "title": "Demonstrações Financeiras", "reference_date": "2025-01-01", "version": "1", "page": 17, "url": "https://fnet.bmfbovespa.com.br/fnet/publico/visualizarDocumento?id=869529", "sha256": "9a93a9369ac8efdbc54ff8fcee3ccac3abf88edab4807b9323d3852450771b2a"}, {"document_id": "870070", "title": "Demonstrações Financeiras", "reference_date": "2024-12-31", "version": "1", "page": 17, "url": "https://fnet.bmfbovespa.com.br/fnet/publico/visualizarDocumento?id=870070", "sha256": "9a93a9369ac8efdbc54ff8fcee3ccac3abf88edab4807b9323d3852450771b2a"}], "reference": {"path": "history/54871427000194.json", "criterion_id": "pdd", "total_count": 4, "preview_count": 3, "full_text_deferred": true, "sha256": "35d7cd99be50c7287c9fb675cf4f2e736002315295a225a9efa79c8d9186d874"}}</a:t>
            </a:r>
          </a:p>
          <a:p>
            <a:r>
              <a:t>CNPJ 60010416000112 · Metodologia de PDD e curva por atraso · Base da comparação IME: {"criterion_id": "pdd", "observed_value": null, "unit": "", "competence": "08/2026", "status": "not_comparable", "reason": "A curva de PDD requer atraso, contágio e garantias por operação; o agregado mensal não demonstra aplicação da metodologia.", "formula": "",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null, "comparison_required": true, "context_formula": "PDD / direitos creditórios", "context_value": 19.008881839133778, "context_unit": "percent"}</a:t>
            </a:r>
          </a:p>
          <a:p>
            <a:r>
              <a:t>CNPJ 60010416000112 · Metodologia de PDD e curva por atraso · Regulamento · ID 1051393 · 09/10/2025 · versão Regulamento09/10/2025 · p. 17 · AnexoI8.1(iv)–(v),8.3–8.3.1 · https://fnet.bmfbovespa.com.br/fnet/publico/visualizarDocumento?id=1051393</a:t>
            </a:r>
          </a:p>
          <a:p>
            <a:r>
              <a:t>CNPJ 60010416000112 · Metodologia de PDD e curva por atraso · Excerto da fonte:</a:t>
            </a:r>
          </a:p>
          <a:p>
            <a:r>
              <a:t>8.1 Os ativos da Carteira serão avaliados todos os Dias Úteis de acordo com critérios consistentes e verif icáveis, apoiados por inf ormações externas e internas que levem em consideração aspectos relacionados aos Devedores e às características da transação correspondente, de acordo com a seguinte metodologia de avaliação. (i) os Ativos Financeiros de Liquidez deverão ser registrados e ter seus valores ajustados a mercado, sujeitos às regras e procedimentos definidos no manual de marcação a mercado do Custodiante e de acordo com as regras do Banco Central e da CVM, aplicá</a:t>
            </a:r>
          </a:p>
          <a:p>
            <a:r>
              <a:t>CNPJ 60010416000112 · Metodologia de PDD e curva por atraso · Condição: Curva numérica por atraso não é transcrita; manuais/contrato têm perímetro distinto do indicador agregado do IME.</a:t>
            </a:r>
          </a:p>
          <a:p>
            <a:r>
              <a:t>CNPJ 60010416000112 · Metodologia de PDD e curva por atraso · Motivo: Cláusula primária localizada e citada, mas sua lista/condições extensas não admitem uma síntese literal curta confirmada. O trecho integral permanece nas fontes.</a:t>
            </a:r>
          </a:p>
          <a:p>
            <a:r>
              <a:t>CNPJ 60010416000112 · Metodologia de PDD e curva por atraso · Versão e prevalência: Leitura específica das cláusulas indicadas; condições e conflitos preservados. Seleção documental atual não comprova vigência jurídica por data isolada.</a:t>
            </a:r>
          </a:p>
          <a:p>
            <a:r>
              <a:t>CNPJ 60010416000112 · Metodologia de PDD e curva por atraso · Resumo do histórico: {"count": 1, "dates": ["2025-03-20"], "document_count": 1, "sources": [{"document_id": "993786", "title": "Regulamento", "reference_date": "2025-03-20", "version": "1", "page": 17, "clause": "8.1", "url": "https://fnet.bmfbovespa.com.br/fnet/publico/visualizarDocumento?id=993786", "sha256": "fd0fdd369a195510d81f81f505195a0b09e5f43522a990afa7d58c4f872921c8"}], "reference": {"path": "history/60010416000112.json", "criterion_id": "pdd", "total_count": 1, "preview_count": 1, "full_text_deferred": true, "sha256": "8e2bd813f4c51cf01f6bfaad164bafe69d2bbb192f753eac92da3a01c2e63046"}}</a:t>
            </a:r>
          </a:p>
          <a:p>
            <a:r>
              <a:t>CNPJ 62696791000193 · Metodologia de PDD e curva por atraso · Regulamento · ID 1143317 · 20/03/2026 · versão Regulamento — referência 20/03/2026 · p. 11 · Anexo I, 4.7.3 · https://fnet.bmfbovespa.com.br/fnet/publico/visualizarDocumento?id=1143317</a:t>
            </a:r>
          </a:p>
          <a:p>
            <a:r>
              <a:t>CNPJ 62696791000193 · Metodologia de PDD e curva por atraso · Excerto da fonte:</a:t>
            </a:r>
          </a:p>
          <a:p>
            <a:r>
              <a:t>4.7.3 Na hipótese de eventuais Direitos Creditórios do Agronegócio elegíveis deixarem de atender a qualquer Critério de Elegibilidade após sua aquisição pela Classe, tal f ato não será entendido como um desenquadramento da carteira, tampouco haverá direito de regresso contra o Administrador e/ou o Gestor. Limites de concentração aplicáveis aos Direitos Creditórios do Agronegócio e fundos de investimento em Direitos Creditórios do Agronegócio investidos pela Classe 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t>
            </a:r>
          </a:p>
          <a:p>
            <a:r>
              <a:t>CNPJ 62696791000193 · Metodologia de PDD e curva por atraso · Condição: PDD mensal observada e metodologia contratual são evidências separadas.</a:t>
            </a:r>
          </a:p>
          <a:p>
            <a:r>
              <a:t>CNPJ 62696791000193 · Metodologia de PDD e curva por atraso · Motivo: Leitura do consolidado de 48 páginas não localizou metodologia de PDD/curva por atraso. A cláusula 4.7.3 trata de perda posterior de elegibilidade; não estabelece provisionamento.</a:t>
            </a:r>
          </a:p>
          <a:p>
            <a:r>
              <a:t>CNPJ 62696791000193 · Metodologia de PDD e curva por atraso · Versão e prevalência: Leitura específica das cláusulas indicadas; condições e conflitos preservados. Seleção documental atual não comprova vigência jurídica por data isolada.</a:t>
            </a:r>
          </a:p>
          <a:p>
            <a:r>
              <a:t>CNPJ 55563624000109 · Metodologia de PDD e curva por atraso · Base da comparação IME: {"criterion_id": "pdd", "observed_value": null, "unit": "", "competence": "08/2026", "status": "not_comparable", "reason": "A curva de PDD requer atraso, contágio e garantias por operação; o agregado mensal não demonstra aplicação da metodologia.", "formula": "",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null, "comparison_required": true, "context_formula": "PDD / direitos creditórios", "context_value": null, "context_unit": "percent"}</a:t>
            </a:r>
          </a:p>
          <a:p>
            <a:r>
              <a:t>CNPJ 55563624000109 · Metodologia de PDD e curva por atraso · Regulamento · ID 1192614 · 30/04/2026 · versão Regulamento30/04/2026 · p. 19 · AnexoI9.1–9.2.1 · https://fnet.bmfbovespa.com.br/fnet/publico/visualizarDocumento?id=1192614</a:t>
            </a:r>
          </a:p>
          <a:p>
            <a:r>
              <a:t>CNPJ 55563624000109 · Metodologia de PDD e curva por atraso · Excerto da fonte:</a:t>
            </a:r>
          </a:p>
          <a:p>
            <a:r>
              <a:t>9.1 As Cotas da Classe Investida e Ativos Financeiros de Liquidez que compõem a Carteira da Classe terão seus valores calculados todo Dia Útil conforme a metodologia de avaliação descrita no manual do ADMINISTRADOR, disponível no seu website, no endereço https://www.btgpactual.com/asset-management/administracao- fiduciaria#documentos. 9.2 As provisões para perdas e as perdas havidas com as Cotas da Classe Investida ou com os Ativos Financeiros de Liquidez integrantes da Carteira serão, respectivamente, efetuadas ou reconhecidas pelo ADMINISTRADOR, de</a:t>
            </a:r>
          </a:p>
          <a:p>
            <a:r>
              <a:t>CNPJ 55563624000109 · Metodologia de PDD e curva por atraso · Condição: PDD do FIC reflete cotas/liquidez; atraso/PDD de devedores finais exige IME do investido.</a:t>
            </a:r>
          </a:p>
          <a:p>
            <a:r>
              <a:t>CNPJ 55563624000109 · Metodologia de PDD e curva por atraso · Versão e prevalência: Leitura específica das cláusulas indicadas; condições e conflitos preservados. Seleção documental atual não comprova vigência jurídica por data isolada.</a:t>
            </a:r>
          </a:p>
          <a:p>
            <a:r>
              <a:t>CNPJ 62552447000120 · Metodologia de PDD e curva por atraso · Base da comparação IME: {"criterion_id": "pdd", "observed_value": null, "unit": "", "competence": "08/2026", "status": "not_comparable", "reason": "A curva de PDD requer atraso, contágio e garantias por operação; o agregado mensal não demonstra aplicação da metodologia.", "formula": "",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null, "comparison_required": true, "context_formula": "PDD / direitos creditórios", "context_value": 9.644446353219038, "context_unit": "percent"}</a:t>
            </a:r>
          </a:p>
          <a:p>
            <a:r>
              <a:t>CNPJ 62552447000120 · Metodologia de PDD e curva por atraso · Regulamento · ID 1200623 · 21/05/2026 · versão Consolidado21/05/2026 aprovado pelo ato1200625 · p. 20 · AnexoI9.1–9.2.1 · https://fnet.bmfbovespa.com.br/fnet/publico/visualizarDocumento?id=1200623</a:t>
            </a:r>
          </a:p>
          <a:p>
            <a:r>
              <a:t>CNPJ 62552447000120 · Metodologia de PDD e curva por atraso · Excerto da fonte:</a:t>
            </a:r>
          </a:p>
          <a:p>
            <a:r>
              <a:t>9.1 Os Direitos Creditórios e Ativos Financeiros que compõem a Carteira terão seus valores calculados todo Dia Útil conforme a metodologia de avaliação descrita no manual d o Administrador ou, ainda, nos manuais do Custodiante, disponíveis nos seus respectivos websites, no endereço https://www.btgpactual.com/asset-management/administracao-f iduciaria#documentos. 9.2 As provisões para perdas e as perdas havidas com Direitos Creditórios ou com os Ativos Financeiros integrantes da Carteira serão, respectivamente, efetuadas ou reconhecidas nos termos da Instrução da CVM n.º 489, de 14 de janeiro de 2011, c</a:t>
            </a:r>
          </a:p>
          <a:p>
            <a:r>
              <a:t>CNPJ 62552447000120 · Metodologia de PDD e curva por atraso · Condição: Cláusula não transcreve curva de provisão por faixa de atraso; percentual PDD do IME não reproduz manual.</a:t>
            </a:r>
          </a:p>
          <a:p>
            <a:r>
              <a:t>CNPJ 62552447000120 · Metodologia de PDD e curva por atraso · Motivo: Não localizada uma cláusula material para este critério nos textos identificados e processados. A ausência de resultado não comprova inexistência da regra.</a:t>
            </a:r>
          </a:p>
          <a:p>
            <a:r>
              <a:t>CNPJ 62552447000120 · Metodologia de PDD e curva por atraso · Versão e prevalência: Leitura específica das cláusulas indicadas; condições e conflitos preservados. Seleção documental atual não comprova vigência jurídica por data isolada.</a:t>
            </a:r>
          </a:p>
          <a:p>
            <a:r>
              <a:t>CNPJ 63953620000165 · Metodologia de PDD e curva por atraso · Base da comparação IME: {"criterion_id": "pdd", "observed_value": null, "unit": "", "competence": "08/2026", "status": "not_comparable", "reason": "A curva de PDD requer atraso, contágio e garantias por operação; o agregado mensal não demonstra aplicação da metodologia.", "formula": "",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null, "comparison_required": true, "context_formula": "PDD / direitos creditórios", "context_value": 5.5101286576011415, "context_unit": "percent"}</a:t>
            </a:r>
          </a:p>
          <a:p>
            <a:r>
              <a:t>CNPJ 63953620000165 · Metodologia de PDD e curva por atraso · Anexo ao Regulamento · ID 1222863 · 02/06/2026 · versão AnexoConsignadoPrivado02/06/2026 · p. 12 · 9.1–9.2.1 · https://fnet.bmfbovespa.com.br/fnet/publico/visualizarDocumento?id=1222863</a:t>
            </a:r>
          </a:p>
          <a:p>
            <a:r>
              <a:t>CNPJ 63953620000165 · Metodologia de PDD e curva por atraso · Excerto da fonte:</a:t>
            </a:r>
          </a:p>
          <a:p>
            <a:r>
              <a:t>9.1 Os Direitos Creditórios e Ativos Financeiros que compõem a Carteira da Classe terão seus valores calculados todo Dia Útil conforme a metodologia de avaliação descrita no manual do Administrador ou, ainda, nos manuais do Custodiante, disponíveis nos seus respectivos websites, no endereço https://www.btgpactual.com/asset- management/administracao-fiduciaria#documentos 9.2 As provisões para perdas e as perdas havidas com Direitos Creditórios ou com os Ativos Financeiros integrantes da Carteira serão, respectivamente, efetuadas ou reconhecidas nos termos da Instrução CVM 489. Desta forma, o valor do saldo dos Dire</a:t>
            </a:r>
          </a:p>
          <a:p>
            <a:r>
              <a:t>CNPJ 63953620000165 · Metodologia de PDD e curva por atraso · Versão e prevalência: Leitura específica das cláusulas indicadas; condições e conflitos preservados. Seleção documental atual não comprova vigência jurídica por data isolada.</a:t>
            </a:r>
          </a:p>
          <a:p>
            <a:r>
              <a:t>CNPJ 63953620000165 · Metodologia de PDD e curva por atraso · Resumo do histórico: {"count": 7, "dates": ["2026-04-16", "2026-04-28", "2026-05-08"], "document_count": 3, "sources": [{"document_id": "1298691", "title": "Demonstrações Financeiras - Fusão, cisão e incorporação", "reference_date": "2026-05-08", "version": "1", "page": 18, "url": "https://fnet.bmfbovespa.com.br/fnet/publico/visualizarDocumento?id=1298691", "sha256": "58c570d9b8d4d265330d3db3ea81c435b8e44a6dab4002aa37790652a1ee9819"}, {"document_id": "1282180", "title": "Demonstrações Financeiras - Fusão, cisão e incorporação", "reference_date": "2026-04-28", "version": "1", "page": 18, "url": "https://fnet.bmfbovespa.com.br/fnet/publico/visualizarDocumento?id=1282180", "sha256": "afaaa0e6809be4385e5bdb6c911aac582032c5bdbac3d7750234bf9eaf00438a"}, {"document_id": "1282179", "title": "Demonstrações Financeiras - Fusão, cisão e incorporação", "reference_date": "2026-04-16", "version": "1", "page": 18, "url": "https://fnet.bmfbovespa.com.br/fnet/publico/visualizarDocumento?id=1282179", "sha256": "beb67afbcd64169019477673fd3b7c1edbfabbd9db07379388d8cdd5d3fc9395"}], "reference": {"path": "history/63953620000165.json", "criterion_id": "pdd", "total_count": 7, "preview_count": 3, "full_text_deferred": true, "sha256": "a7b89077f5e21098c2d601c303faabc3ff6b9729f89d8afecdc60fe1404720c1"}}</a:t>
            </a:r>
          </a:p>
          <a:p>
            <a:r>
              <a:t>CNPJ 54871427000194 · Gatilhos de atraso e rolagem · Motivo: Não localizada uma cláusula material para este critério nos textos identificados e processados. A ausência de resultado não comprova inexistência da regra.</a:t>
            </a:r>
          </a:p>
          <a:p>
            <a:r>
              <a:t>CNPJ 60010416000112 · Gatilhos de atraso e rolagem · Motivo: Não localizada uma cláusula material para este critério nos textos identificados e processados. A ausência de resultado não comprova inexistência da regra.</a:t>
            </a:r>
          </a:p>
          <a:p>
            <a:r>
              <a:t>CNPJ 62696791000193 · Gatilhos de atraso e rolagem · Motivo: Não localizada uma cláusula material para este critério nos textos identificados e processados. A ausência de resultado não comprova inexistência da regra.</a:t>
            </a:r>
          </a:p>
          <a:p>
            <a:r>
              <a:t>CNPJ 55563624000109 · Gatilhos de atraso e rolagem · Motivo: Não localizada uma cláusula material para este critério nos textos identificados e processados. A ausência de resultado não comprova inexistência da regra.</a:t>
            </a:r>
          </a:p>
          <a:p>
            <a:r>
              <a:t>CNPJ 62552447000120 · Gatilhos de atraso e rolagem · Motivo: Não localizada uma cláusula material para este critério nos textos identificados e processados. A ausência de resultado não comprova inexistência da regra.</a:t>
            </a:r>
          </a:p>
          <a:p>
            <a:r>
              <a:t>CNPJ 63953620000165 · Gatilhos de atraso e rolagem · Motivo: Não localizada uma cláusula material para este critério nos textos identificados e processados. A ausência de resultado não comprova inexistência da regra.</a:t>
            </a:r>
          </a:p>
          <a:p>
            <a:r>
              <a:t>CNPJ 54871427000194 · Diluição, cancelamento e chargeback · Motivo: Não localizada uma cláusula material para este critério nos textos identificados e processados. A ausência de resultado não comprova inexistência da regra.</a:t>
            </a:r>
          </a:p>
          <a:p>
            <a:r>
              <a:t>CNPJ 60010416000112 · Diluição, cancelamento e chargeback · Motivo: Não localizada uma cláusula material para este critério nos textos identificados e processados. A ausência de resultado não comprova inexistência da regra.</a:t>
            </a:r>
          </a:p>
          <a:p>
            <a:r>
              <a:t>CNPJ 62696791000193 · Diluição, cancelamento e chargeback · Motivo: Não localizada uma cláusula material para este critério nos textos identificados e processados. A ausência de resultado não comprova inexistência da regra.</a:t>
            </a:r>
          </a:p>
          <a:p>
            <a:r>
              <a:t>CNPJ 55563624000109 · Diluição, cancelamento e chargeback · Motivo: Não localizada uma cláusula material para este critério nos textos identificados e processados. A ausência de resultado não comprova inexistência da regra.</a:t>
            </a:r>
          </a:p>
          <a:p>
            <a:r>
              <a:t>CNPJ 62552447000120 · Diluição, cancelamento e chargeback · Motivo: Não localizada uma cláusula material para este critério nos textos identificados e processados. A ausência de resultado não comprova inexistência da regra.</a:t>
            </a:r>
          </a:p>
          <a:p>
            <a:r>
              <a:t>CNPJ 63953620000165 · Diluição, cancelamento e chargeback · Motivo: Não localizada uma cláusula material para este critério nos textos identificados e processados. A ausência de resultado não comprova inexistência da regra.</a:t>
            </a:r>
          </a:p>
          <a:p>
            <a:r>
              <a:t>CNPJ 54871427000194 · Recompra e indenização · Regulamento · ID 670691 · 2024-04-28 · versão 1 · p. 11 · 4.12 · https://fnet.bmfbovespa.com.br/fnet/publico/visualizarDocumento?id=670691</a:t>
            </a:r>
          </a:p>
          <a:p>
            <a:r>
              <a:t>CNPJ 54871427000194 · Recompra e indenização · Excerto da fonte:</a:t>
            </a:r>
          </a:p>
          <a:p>
            <a:r>
              <a:t>4.12 Os recursos recebidos pela Classe em razão da liquidação dos Direitos Creditórios, a qualquer título,  incluindo pagamento regular ou por excussão de garantia, alienação, recompra, indenização pelo  Cedente e/ou desinvestimento de Ativo Recuperado, serão destinados a aquisição de Direitos  Creditórios até o montante de R$ 250.000.000,00 (duzentos e cinquenta milhões de reais), sendo certo  que os recursos recebidos pela Classe após a aquisição em tal montante não poderão ser destinados  à aquisição pela Classe de novos Direitos Creditórios, aplicando-se, de resto, o disposto no item 8.1  abaixo no que se ref ere à ordem de alocação de tais recursos.</a:t>
            </a:r>
          </a:p>
          <a:p>
            <a:r>
              <a:t>CNPJ 54871427000194 · Recompra e indenização · Regulamento · ID 670691 · 2024-04-28 · versão 1 · p. 12 · 4.13 · https://fnet.bmfbovespa.com.br/fnet/publico/visualizarDocumento?id=670691</a:t>
            </a:r>
          </a:p>
          <a:p>
            <a:r>
              <a:t>CNPJ 54871427000194 · Recompra e indenização · Excerto da fonte:</a:t>
            </a:r>
          </a:p>
          <a:p>
            <a:r>
              <a:t>4.13 Na hipótese de demandas judiciais e/ou administrativas, em que a causa de pedir ou entre os pedidos  estejam incluídos qualquer um dos itens listados abaixo, o Endossante estará obrigado realizar a  recompra ou indenização dos respectivos Direitos Creditórios, na f orma e prazos previstos no  respectivo Contrato de Endosso sem prejuízo do previsto no Artigo 295 do Código Civil, sendo certo  que o GESTOR envidará seus melhores esf orços para que os Contratos de Endosso contenham  substancialmente as hipóteses abaixo :</a:t>
            </a:r>
          </a:p>
          <a:p>
            <a:r>
              <a:t> (i) Vício de f ormalização dos CCCBs e/ou CCBs a) por ausência de qualquer dos Documentos  Comprobatórios ou falsificação, irregularidade sou má formalização destes; b) por falta de recebimento  do crédito pelo Devedor; ou, c) por averbação irregular de desconto em folha na margem consignável  do Devedor;</a:t>
            </a:r>
          </a:p>
          <a:p>
            <a:r>
              <a:t>CNPJ 54871427000194 · Recompra e indenização · Regulamento · ID 670691 · 2024-04-28 · versão 1 · p. 1 · 1.1 · https://fnet.bmfbovespa.com.br/fnet/publico/visualizarDocumento?id=670691</a:t>
            </a:r>
          </a:p>
          <a:p>
            <a:r>
              <a:t>CNPJ 54871427000194 · Recompra e indenização · Excerto da fonte:</a:t>
            </a:r>
          </a:p>
          <a:p>
            <a:r>
              <a:t>1.1 CONSIGNADO DELTA RECEIVABLES I FUNDO DE INVESTIMENTO EM DIREITOS CREDITÓRIOS  (“FUNDO”), regido pela Lei nº 10.406, de 10 de janeiro de 2002, conf orme alterada (“Código Civil”),  pela parte geral e o Anexo Normativo II da Resolução nº 175, de 23 de dezembro de 2022, conforme  alterada, da Comissão de Valores Mobiliários (respectivamente, “CVM” e “Resolução CVM 175”), terá  como principais características:</a:t>
            </a:r>
          </a:p>
          <a:p>
            <a:r>
              <a:t> Classe de Cotas Classe única.</a:t>
            </a:r>
          </a:p>
          <a:p>
            <a:r>
              <a:t> Indeterminado, exceto se de outra f orma vier a ser deliberado pelos cotistas  Prazo de Duração  reunidos em assembleia geral de cotistas.</a:t>
            </a:r>
          </a:p>
          <a:p>
            <a:r>
              <a:t> BTG Pactual Serviços Financeiros S.A. Distribuidora de Títulos e Valores  Mobiliários, instituição f inanceira, com sede na Cidade e Estado do Rio de  Janeiro, na Praia de Botafogo, nº 501, 5º andar (parte), Torre Corcovado,  ADMINISTRADOR  Botafogo, CEP 22250-040, inscrita no CNPJ sob o nº 59.281.253/0001-23 e  credenciada como administradora de carteira, de acordo com o Ato Declaratório  CVM nº 8.695, de 20 de março de 2006 (“ADMINISTRADOR”).</a:t>
            </a:r>
          </a:p>
          <a:p>
            <a:r>
              <a:t> BTG Pactual Asset Management S.A. Distribuidora de Títulos e Valores  Mobiliários, inscrita no CNPJ/ME sob o nº 29.650.082/0001-00, com sede  Cidade e Estado do Rio de Janeiro, na Praia de Botafogo, n.º 501, 5° andar,  devidamente autorizada à prestação dos serviços de administração de carteira  GESTOR  de títulos e valores mobiliários por meio d o Ato Declaratório número 5.968,  expedido em 10 de maio de 2000 (“GESTOR” e, quando ref erido  conjuntamente e indistintamente com o ADMINISTRADOR, os “Prestadores  de Serviços Essenciais”).</a:t>
            </a:r>
          </a:p>
          <a:p>
            <a:r>
              <a:t> O FUNDO, seus cotistas, os distribuidores de cotas por conta e ordem, seu  GESTOR, seu ADMINISTRADOR e os demais prestadores de serviço do  FUNDO e/ou da CLASSE obrigam-se a resolver, por meio de arbitragem, de  acordo com o Regulamento de Arbitragem da Câmara de Arbitragem do  Mercado da B3 (“Regulamento CAM B3” e “CAM B3”, respectivamente), toda  e qualquer disputa ou controvérsia que possa surgir entre eles, relacionada ou  oriunda, em especial, da aplicação, validade, eficácia, interpretação, violação  e seus ef eitos, das disposições contidas no Regulamento e seus Anexos, nas  normas editadas pela CVM que lhe sejam aplicáveis e nos instrumentos entre  si f irmados (“Arbitragem”).</a:t>
            </a:r>
          </a:p>
          <a:p>
            <a:r>
              <a:t> (i) A Arbitragem será de direito, com a aplicação das normas da República  Federativa do Brasil, terá sede no Município de São Paulo, será  Foro Aplicável conduzida em língua portuguesa e de f orma confidencial. O tribunal  arbitral será constituído por 3 (três) árbitros, sendo um deles  presidente, escolhidos nos termos do Regulamento CAM B3.</a:t>
            </a:r>
          </a:p>
          <a:p>
            <a:r>
              <a:t> (ii) As despesas processuais iniciais deverão ser rateadas entre as partes,  arcando cada polo processual com metade dos valores necessários,  sem prejuízo à possibilidade de adiantamento pelas partes  interessadas, resolvendo-se as indef inições nos termos do  Regulamento CAM B3. A sentença arbitral deverá determinar a  responsabilidade final pelas despesas de acordo com a sucumbência  de cada parte, as quais deverão incluir as taxas administrativas,  honorários de árbitros e de peritos e despesas com diligências  processuais e f ornecimento de garantias que sejam determinadas  expressamente pelo tribunal arbitral. É vedada a imposição de  honorários de sucumbência, bem como a determinação de indenização</a:t>
            </a:r>
          </a:p>
          <a:p>
            <a:r>
              <a:t>CNPJ 54871427000194 · Recompra e indenização · Condição: Documentos atuais selecionados no inventário por categoria/escopo; a data documental isolada não comprova vigência jurídica.</a:t>
            </a:r>
          </a:p>
          <a:p>
            <a:r>
              <a:t>CNPJ 54871427000194 · Recompra e indenização · Versão e prevalência: Documentos atuais selecionados no inventário por categoria/escopo; a data documental isolada não comprova vigência jurídica.</a:t>
            </a:r>
          </a:p>
          <a:p>
            <a:r>
              <a:t>CNPJ 54871427000194 · Recompra e indenização · Resumo do histórico: {"count": 2, "dates": ["2024-04-19", "2024-04-28"], "document_count": 2, "sources": [{"document_id": "670691", "title": "Regulamento", "reference_date": "2024-04-28", "version": "1", "page": "10-12", "url": "https://fnet.bmfbovespa.com.br/fnet/publico/visualizarDocumento?id=670691", "sha256": "bf16dd7f1a62d5cdbf2e2d54fef81783783f7310fbc99c3a8f00459bdf9d037b"}, {"document_id": "670689", "title": "Regulamento", "reference_date": "2024-04-19", "version": "1", "page": 10, "clause": "4.7.5", "url": "https://fnet.bmfbovespa.com.br/fnet/publico/visualizarDocumento?id=670689", "sha256": "891bc9bc5d87bbc02ec139077a84d2702eb81ea02035fb71d24f5b8366b94a0b"}], "reference": {"path": "history/54871427000194.json", "criterion_id": "repurchase", "total_count": 2, "preview_count": 2, "full_text_deferred": true, "sha256": "35d7cd99be50c7287c9fb675cf4f2e736002315295a225a9efa79c8d9186d874"}}</a:t>
            </a:r>
          </a:p>
          <a:p>
            <a:r>
              <a:t>CNPJ 60010416000112 · Recompra e indenização · Regulamento · ID 1051393 · 2025-10-09 · versão 1 · p. 10 · 4.4.5 · https://fnet.bmfbovespa.com.br/fnet/publico/visualizarDocumento?id=1051393</a:t>
            </a:r>
          </a:p>
          <a:p>
            <a:r>
              <a:t>CNPJ 60010416000112 · Recompra e indenização · Excerto da fonte:</a:t>
            </a:r>
          </a:p>
          <a:p>
            <a:r>
              <a:t>4.4.5. Caso um Direito Creditório endossado à Classe deixe de atender quaisquer Critérios de  Elegibilidade, quaisquer condições de endosso e/ou quaisquer declarações e garantias referentes  a esse Direito Creditório, conforme previsto no Contrato de Endosso, após seu endosso à Classe,  não haverá coobrigação nem direito de regresso da Classe contra o Endossante, o Administrador,  o Custodiante, o Gestor e/ou o Agente de Retenção/Cobrança, exceto em caso de má-fé, culpa  ou dolo comprovado, hipótese em que a parte que agiu com má-f é, culpa ou dolo comprovado  poderá ser responsabilizada pelas perdas incorridas pela Classe em relação aos respectivos  Direitos Creditórios. Se, entretanto, for constatado que um Direito Creditório endossado à Classe  não estava em conformidade com os Critérios de Elegibilidade, condições de endosso ou com as  declarações e garantias prestadas pelo Endossante no Contrato de Endosso, na respectiva data  de endosso, então o endosso desse Direito Creditório poderá ser objeto de resolução pela Classe.</a:t>
            </a:r>
          </a:p>
          <a:p>
            <a:r>
              <a:t> Nessa hipótese, a Classe terá o direito de resolver o endosso desse Direito Creditório, devolvendo-  o ao Endossante por valor a ser restituído à Classe. Adicionalmente, se f or constatado que um  Direito Creditório endossado à Classe não estava em conf ormidade com as declarações e  garantias prestadas pelo Agente de Retenção/Cobrança no Contrato de Endosso, na respectiva  data de endosso, então a Classe terá o direito de vender esse Direito Creditório ao Agente de  Retenção/Cobrança (opção de venda). A retrovenda ou a venda, conforme o caso, será realizada  de acordo com os termos, condições, formalidades e preços de recompra compulsória e opção de  venda detalhados no Contrato de Endosso.</a:t>
            </a:r>
          </a:p>
          <a:p>
            <a:r>
              <a:t>CNPJ 60010416000112 · Recompra e indenização · Regulamento · ID 1051393 · 2025-10-09 · versão 1 · p. 30 · 12.5.1 · https://fnet.bmfbovespa.com.br/fnet/publico/visualizarDocumento?id=1051393</a:t>
            </a:r>
          </a:p>
          <a:p>
            <a:r>
              <a:t>CNPJ 60010416000112 · Recompra e indenização · Excerto da fonte:</a:t>
            </a:r>
          </a:p>
          <a:p>
            <a:r>
              <a:t>12.5.1. Independentemente do acima disposto, na hipótese de venda de qualquer parte dos Direitos  Creditórios Elegíveis a terceiros, inclusive no caso de liquidação da Classe, o Agente de  Retenção/Cobrança terá o direito de receber uma remuneração, no dia em que a parte da carteira  de Direitos Creditórios Elegíveis f or efetivamente vendida (ou seja, no dia de seu f echamento  f inanceiro), correspondente ao RAC do valor do preço de venda dessa carteira (“Preço de Venda”),  multiplicado pelo número de anos restantes até o vencimento f inal e pagamento de cada Direito  Creditório Elegível na carteira; observado que, para f ins do cálculo da remuneração devida ao  Agente de Retenção/Cobrança nos termos deste item, o preço de venda de qualquer Direito  Creditório Inadimplido vendido nos termos deste item será equivalente a 0 (zero). Para evitar  qualquer dúvida, as Partes concordam que a remuneração estabelecida neste item não será  devida ao Agente de Retenção/Cobrança no caso de venda de Direitos Creditórios Elegíveis no  contexto de uma portabilidade da respectiva CCB para outra instituição f inanceira, ou na  ocorrência de um evento de recompra compulstória ou de um evento de opção de venda, de acordo  com os termos do respectivo Contrato de Endosso.</a:t>
            </a:r>
          </a:p>
          <a:p>
            <a:r>
              <a:t>CNPJ 60010416000112 · Recompra e indenização · Regulamento · ID 1051393 · 2025-10-09 · versão 1 · p. 11 · https://fnet.bmfbovespa.com.br/fnet/publico/visualizarDocumento?id=1051393</a:t>
            </a:r>
          </a:p>
          <a:p>
            <a:r>
              <a:t>CNPJ 60010416000112 · Recompra e indenização · Excerto da fonte:</a:t>
            </a:r>
          </a:p>
          <a:p>
            <a:r>
              <a:t>Anexo I ao Regulamento CLASSE ÚNICA DO MT I CONSIGNADO PRIVADO I FUNDO DE INVESTIMENTO EM DIREITOS CREDITÓRIOS RESPONSABILIDADE LIMITADA  com a transf erência, à Classe, de f orma definitiva, sem coobrigação do Endossante, da plena  titularidade desse Direito Creditório, juntamente com todos os direitos, privilégios, pref erências,  prerrogativas, garantias e ações a ele relacionados, bem como correção monetária, juros e  encargos, sem prejuízo do direito da Classe (i) de exigir a recompra compulsória do respectivo  Direito Creditório, de acordo com os termos do Contrato de Endosso; ou (ii) de vender Direitos  Creditórios ao Agente de Retenção/Cobrança (opção de venda), em ambos os casos estritamente  nos termos do Contrato de Endosso.</a:t>
            </a:r>
          </a:p>
          <a:p>
            <a:r>
              <a:t>CNPJ 60010416000112 · Recompra e indenização · Condição: Documentos atuais selecionados no inventário por categoria/escopo; a data documental isolada não comprova vigência jurídica.</a:t>
            </a:r>
          </a:p>
          <a:p>
            <a:r>
              <a:t>CNPJ 60010416000112 · Recompra e indenização · Versão e prevalência: Documentos atuais selecionados no inventário por categoria/escopo; a data documental isolada não comprova vigência jurídica.</a:t>
            </a:r>
          </a:p>
          <a:p>
            <a:r>
              <a:t>CNPJ 60010416000112 · Recompra e indenização · Resumo do histórico: {"count": 2, "dates": ["2025-03-20", "2025-10-09"], "document_count": 2, "sources": [{"document_id": "1051393", "title": "Regulamento", "reference_date": "2025-10-09", "version": "1", "page": "10-11", "url": "https://fnet.bmfbovespa.com.br/fnet/publico/visualizarDocumento?id=1051393", "sha256": "8469d613078ffd5a6c1d217885d8a397a16342c0b937ae4aa24b106505f233ae"}, {"document_id": "993786", "title": "Regulamento", "reference_date": "2025-03-20", "version": "1", "page": 10, "clause": "4.4.5", "url": "https://fnet.bmfbovespa.com.br/fnet/publico/visualizarDocumento?id=993786", "sha256": "fd0fdd369a195510d81f81f505195a0b09e5f43522a990afa7d58c4f872921c8"}], "reference": {"path": "history/60010416000112.json", "criterion_id": "repurchase", "total_count": 2, "preview_count": 2, "full_text_deferred": true, "sha256": "8e2bd813f4c51cf01f6bfaad164bafe69d2bbb192f753eac92da3a01c2e63046"}}</a:t>
            </a:r>
          </a:p>
          <a:p>
            <a:r>
              <a:t>CNPJ 62696791000193 · Recompra e indenização · Regulamento · ID 1143317 · 2026-03-20 · versão 1 · p. 16 · 5.1 · https://fnet.bmfbovespa.com.br/fnet/publico/visualizarDocumento?id=1143317</a:t>
            </a:r>
          </a:p>
          <a:p>
            <a:r>
              <a:t>CNPJ 62696791000193 · Recompra e indenização · Excerto da fonte:</a:t>
            </a:r>
          </a:p>
          <a:p>
            <a:r>
              <a:t>5.1 Os recursos recebidos pela Classe em razão da liquidação dos Direitos Creditórios do Agronegócio  e/ou dos Outros Ativos, a qualquer título, incluindo pagamento regular ou por excussão de garantia,  alienação, recompra, indenização pelo cedente e/ou desinvestimento de Direitos Creditórios do  Agronegócio e/ou dos Outros Ativos, poderão ser destinados à aquisição pela Classe de novos  Direitos Creditórios do Agronegócio e/ou dos Outros Ativos e/ou destinados ao resgate das Cotas,  conf orme decisão do Gestor e desde que observada a ordem de alocação de recursos.</a:t>
            </a:r>
          </a:p>
          <a:p>
            <a:r>
              <a:t>6 ORDEM DE ALOCAÇÃO DE RECURSOS</a:t>
            </a:r>
          </a:p>
          <a:p>
            <a:r>
              <a:t>CNPJ 62696791000193 · Recompra e indenização · Condição: Documentos atuais selecionados no inventário por categoria/escopo; a data documental isolada não comprova vigência jurídica.</a:t>
            </a:r>
          </a:p>
          <a:p>
            <a:r>
              <a:t>CNPJ 62696791000193 · Recompra e indenização · Versão e prevalência: Documentos atuais selecionados no inventário por categoria/escopo; a data documental isolada não comprova vigência jurídica.</a:t>
            </a:r>
          </a:p>
          <a:p>
            <a:r>
              <a:t>CNPJ 55563624000109 · Recompra e indenização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Recompra e indenização · Resumo do histórico: {"count": 1, "dates": ["2026-04-30"], "document_count": 1, "sources": [{"document_id": "1192614", "title": "Regulamento", "reference_date": "2026-04-30", "version": "1", "page": "14", "url": "https://fnet.bmfbovespa.com.br/fnet/publico/visualizarDocumento?id=1192614", "sha256": "f56e63ace0acde41d2f47fb48f1ac7f3f7df5e2d32de092d7c5e075a52516632"}], "reference": {"path": "history/55563624000109.json", "criterion_id": "repurchase", "total_count": 1, "preview_count": 1, "full_text_deferred": true, "sha256": "7835d573fb58a3c19adf5b8ecc2aee2bdbb9a88f7a0c0209b5f262b64c7522e3"}}</a:t>
            </a:r>
          </a:p>
          <a:p>
            <a:r>
              <a:t>CNPJ 62552447000120 · Recompra e indenização · Regulamento · ID 1200623 · 2026-05-21 · versão 1 · p. 14 · 4.14 · https://fnet.bmfbovespa.com.br/fnet/publico/visualizarDocumento?id=1200623</a:t>
            </a:r>
          </a:p>
          <a:p>
            <a:r>
              <a:t>CNPJ 62552447000120 · Recompra e indenização · Excerto da fonte:</a:t>
            </a:r>
          </a:p>
          <a:p>
            <a:r>
              <a:t>4.14 Os recursos recebidos pela Classe em razão da liquidação dos Direitos Creditórios, a qualquer título,  incluindo pagamento regular ou por excussão de garantia, alienação, recompra, indenização pelo  Endossante, poderão ser destinados à aquisição pela Classe de novos Direitos Creditórios e/ou  destinados à Amortização, conforme decisão do Gestor e desde que observada a ordem de alocação  de recursos def inida no item 8.1 abaixo.</a:t>
            </a:r>
          </a:p>
          <a:p>
            <a:r>
              <a:t>Ativos Recuperados</a:t>
            </a:r>
          </a:p>
          <a:p>
            <a:r>
              <a:t>CNPJ 62552447000120 · Recompra e indenização · Regulamento · ID 1200623 · 2026-05-21 · versão 1 · p. 35 · https://fnet.bmfbovespa.com.br/fnet/publico/visualizarDocumento?id=1200623</a:t>
            </a:r>
          </a:p>
          <a:p>
            <a:r>
              <a:t>CNPJ 62552447000120 · Recompra e indenização · Excerto da fonte:</a:t>
            </a:r>
          </a:p>
          <a:p>
            <a:r>
              <a:t>ativos desses emissores, causando perdas à Classe e ao Cotista. Além disso, a f alta de capacidade ou disposição de pagar por qualquer dos emissores dos Ativos Financeiros de Liquidez ou das contrapartes nas transações que compõem a Carteira causará perdas à Classe, e o que também poderá incorrer em custos para f ins de recuperação de seus recebíveis.</a:t>
            </a:r>
          </a:p>
          <a:p>
            <a:r>
              <a:t>(v) Riscos associados aos Devedores: no caso de Devedores no âmbito das operações de consignado privado, a sua capacidade de pagamento poderá ser af etada se, por exemplo, o Devedor tiver o seu contrato de emprego rescindido ou em virtude de decisão judicial, o Devedor for obrigado a pagar alimentos, que têm prioridade sobre o empréstimo para f ins de desconto na f 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 etar a rentabilidade da Classe. Já no caso de Devedores no âmbito das operações de Saque-aniversário, como os Direitos Creditórios a serem endossados à Classe serão descontados pelo FGTS da remuneração do Devedor, na ocorrência de qualquer evento que, nos termos da legislação aplicável, determine o pagamento antecipado do Saque-aniversário ao Devedor, a exemplo do falecimento do Devedor, dentre outros, as parcelas do Saque- aniversário serão pagas antecipadamente e a Classe deverá utilizar tais montantes no pré-pagamento dos Direitos Creditórios. Nesta hipótese, a Classe poderá não encontrar Direitos Creditórios disponíveis para serem adquiridos pela Classe, o que poderá af etar a rentabilidade da Classe.</a:t>
            </a:r>
          </a:p>
          <a:p>
            <a:r>
              <a:t>Risco de liquidez</a:t>
            </a:r>
          </a:p>
          <a:p>
            <a:r>
              <a:t>(i) Risco de liquidez: consiste no risco de redução ou inexistência de demanda pelos ativos que compõem a Classe nos respectivos mercados em que são negociados, devido às condições específicas desses ativos ou aos mercados em que são negociados. Devido a esses riscos, o Gestor poderá encontrar dificuldades em liquidar posições ou negociar esses ativos pelo preço e prazo desejados, de acordo com a estratégia de gestão adotada pela Classe, que permanecerá exposto, durante o período de baixa liquidez, aos riscos associados a esses ativos e posições assumidas em mercados de derivativos, se houver, que poderão até exigir que o Gestor aceite descontos em seus preços para realizar negociações no mercado. Esses f atores poderão prejudicar o pagamento de Amortizações ao Cotista, nos valores e dentro dos termos aqui estabelecidos.</a:t>
            </a:r>
          </a:p>
          <a:p>
            <a:r>
              <a:t>(ii) Riscos do mercado secundário: A Classe é constituída sob a f orma de condomínio fechado, de modo que as Cotas somente serão resgatadas em virtude da liquidação da Classe. Uma vez que o Prazo de Duração da Classe é indeterminado, o Cotista titular das Cotas não terá liquidez em seu investimento na Classe, exceto</a:t>
            </a:r>
          </a:p>
          <a:p>
            <a:r>
              <a:t>(a) por ocasião das Amortizações e dos resgates, nos termos deste Regulamento; (b) por meio da alienação de suas Cotas no mercado secundário; ou (c) na liquidação antecipada do FUNDO ou da Classe.</a:t>
            </a:r>
          </a:p>
          <a:p>
            <a:r>
              <a:t>Além disso, atualmente, o mercado secundário de cotas de fundos de investimento apresenta baixa liquidez, o que pode dificultar a venda das Cotas ou ocasionar a obtenção de um preço de venda que cause perda de patrimônio ao Cotista. Não há qualquer garantia do Administrador, do Gestor, da consultora ou do Custodiante em relação à possibilidade de venda das Cotas no mercado secundário ou ao preço obtido por elas, ou mesmo garantia de saída ao Cotista.</a:t>
            </a:r>
          </a:p>
          <a:p>
            <a:r>
              <a:t>Riscos específicos</a:t>
            </a:r>
          </a:p>
          <a:p>
            <a:r>
              <a:t>(i)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ficar inadimplente e, consequentemente, não haverá repasse à Classe do respectivo Direito Creditório, o que poderá resultar em perdas f inanceiras à Classe e aos Cotistas. Para os f ins deste Regulamento, “Empregador” signif ica a empresa com qual o Devedor mantém vínculo empregatício registrado junto à CTPS.</a:t>
            </a:r>
          </a:p>
          <a:p>
            <a:r>
              <a:t>(ii) Risco do Empregador não efetuar o desconto em folha: o repasse dos recursos oriundos dos Direitos Creditórios à Classe depende da realização, pelo Empregador, da escrituração da Consignação a ser</a:t>
            </a:r>
          </a:p>
          <a:p>
            <a:r>
              <a:t>CNPJ 62552447000120 · Recompra e indenização · Condição: Documentos atuais selecionados no inventário por categoria/escopo; a data documental isolada não comprova vigência jurídica.</a:t>
            </a:r>
          </a:p>
          <a:p>
            <a:r>
              <a:t>CNPJ 62552447000120 · Recompra e indenização · Versão e prevalência: Documentos atuais selecionados no inventário por categoria/escopo; a data documental isolada não comprova vigência jurídica.</a:t>
            </a:r>
          </a:p>
          <a:p>
            <a:r>
              <a:t>CNPJ 63953620000165 · Recompra e indenização · Anexo ao Regulamento · ID 1222863 · 2026-06-02 · versão 1 · p. 7 · 4.17.1 · https://fnet.bmfbovespa.com.br/fnet/publico/visualizarDocumento?id=1222863</a:t>
            </a:r>
          </a:p>
          <a:p>
            <a:r>
              <a:t>CNPJ 63953620000165 · Recompra e indenização · Excerto da fonte:</a:t>
            </a:r>
          </a:p>
          <a:p>
            <a:r>
              <a:t>4.17.1 Durante o Período de Investimento, os recursos recebidos pela Classe em razão da liquidação dos  Direitos Creditórios, a qualquer título, incluindo pagamento regular ou por excussão de garantia,  alienação, recompra, indenização pelo Cedente e/ou desinvestimento de Ativo Recuperado, poderão  ser destinados à aquisição pela Classe de novos Direitos Creditórios e/ou destinados à Amortização das  Cotas, observado que (i) a aquisição de novos Direitos Creditórios dependerá, em qualquer hipótese, de  oferta realizada pelo Endossante; e (ii) a destinação dos recursos à Amortização das Cotas será realizada  nos termos do item 7.2, observada a ordem de alocação definida no item 8.1 do presente Anexo.</a:t>
            </a:r>
          </a:p>
          <a:p>
            <a:r>
              <a:t>CNPJ 63953620000165 · Recompra e indenização · Anexo ao Regulamento · ID 1222863 · 2026-06-02 · versão 1 · p. 7 · 4.17.2 · https://fnet.bmfbovespa.com.br/fnet/publico/visualizarDocumento?id=1222863</a:t>
            </a:r>
          </a:p>
          <a:p>
            <a:r>
              <a:t>CNPJ 63953620000165 · Recompra e indenização · Excerto da fonte:</a:t>
            </a:r>
          </a:p>
          <a:p>
            <a:r>
              <a:t>4.17.2 Encerrado o Período de Investimento, os recursos recebidos pela Classe em razão da liquidação dos  Direitos Creditórios, a qualquer título, incluindo pagamento regular ou por excussão de garantia,  alienação, recompra, indenização pelo Cedente e/ou desinvestimento de Ativo Recuperado, não  poderão ser destinados à aquisição pela Classe de novos Direitos Creditórios, aplicando-se, de resto, o  disposto no item 8.1 abaixo no que se refere à ordem de alocação de tais recursos.</a:t>
            </a:r>
          </a:p>
          <a:p>
            <a:r>
              <a:t>CNPJ 63953620000165 · Recompra e indenização · Anexo ao Regulamento · ID 1222863 · 2026-06-02 · versão 1 · p. 26 · https://fnet.bmfbovespa.com.br/fnet/publico/visualizarDocumento?id=1222863</a:t>
            </a:r>
          </a:p>
          <a:p>
            <a:r>
              <a:t>CNPJ 63953620000165 · Recompra e indenização · Excerto da fonte:</a:t>
            </a:r>
          </a:p>
          <a:p>
            <a:r>
              <a:t>Complemento I  (Ao Anexo I)  FATORES DE RISCO APLICÁVEIS À CLASSE CONSIGNADO PRIVADO DO MT GLOBAL FUNDO DE INVESTIMENTO EM  DIREITOS CREDITÓRIOS RESPONSABILIDADE LIMITADA  Risco de Crédito</a:t>
            </a:r>
          </a:p>
          <a:p>
            <a:r>
              <a:t> (i) Riscos associados aos Devedores: os Direitos Creditórios a serem endossados à Classe serão descontados  pela Dataprev da remuneração do Devedor. A capacidade de pagamento do Devedor poderá ser afetada se,  por exemplo, o Devedor tiver o seu contrato de emprego rescindido ou em virtude de decisão judicial, o  Devedor for obrigado a pagar alimentos, que têm prioridade sobre o empréstimo para fins de desconto na  folha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afetar a rentabilidade da Classe.</a:t>
            </a:r>
          </a:p>
          <a:p>
            <a:r>
              <a:t> (ii)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referido Devedor poderá  ficar inadimplente e, consequentemente, não haverá repasse à Classe do respectivo Direito Creditório, o  que poderá resultar em perdas financeiras à Classe e aos Cotistas.</a:t>
            </a:r>
          </a:p>
          <a:p>
            <a:r>
              <a:t> (iii) Risco do Empregador não efetuar o desconto em folha: o repasse dos recursos oriundos dos Direitos  Creditórios à Classe depende da realização, pelo Empregador, da Escrituração e do desconto na respectiva  folha de pagamento do Devedor. Na hipótese do Empregador deixar de realizar a Escrituração ou os  descontos na folha de pagamento, não haverá repasse de recursos à Classe, podendo causar prejuízos à  Classe e aos Cotistas.</a:t>
            </a:r>
          </a:p>
          <a:p>
            <a:r>
              <a:t> (iv) Risco de perda do vínculo empregatício com o Empregador: caso o Devedor perca o vínculo empregatício  com o Empregador, não haverá remuneração e folha de pagamento para realização dos descontos para  pagamento dos Direitos Creditórios. Neste caso, não obstante a possibilidade do Agente de  Retenção/Cobrança realizar a cobrança ativa dos Direitos Creditórios diretamente do Devedor, a ausência  de remuneração poderá deixar o Devedor inadimplente perante a Classe até que o seu vínculo empregatício  seja retomado e seja efetuado o procedimento operacional para que a CCB seja aditada e/ou seja realizado  o Processo de Reinicialização. Tais situações poderão resultar em prejuízos à Classe e aos Cotistas.</a:t>
            </a:r>
          </a:p>
          <a:p>
            <a:r>
              <a:t> Riscos Operacionais</a:t>
            </a:r>
          </a:p>
          <a:p>
            <a:r>
              <a:t> (i) Risco de irregularidade dos Documentos Comprobatórios e/ou Documentos Suporte: o Gestor, ou  terceiro por ele contratado, deverá realizar a verificação da regularidade dos Documentos Comprobatórios  e Documentos Suporte. A Carteira poderá conter Direitos Creditórios com documentação irregular, o que  poderá impedir que a Classe exerça plenamente as prerrogativas derivadas da titularidade dos Direitos  Creditórios. O Gestor poderá contratar empresas especializadas, com comprovada competência e  adequação, para realizar a guarda física, manutenção, armazenamento, organização e digitalização dos  Documentos Comprobatórios e Documentos Suporte, que estarão sob total responsabilidade do Gestor,  permanecendo as empresas como agentes depositários dos Documentos Comprobatórios e Documentos  Suporte.</a:t>
            </a:r>
          </a:p>
          <a:p>
            <a:r>
              <a:t> (ii) Risco operacional da Dataprev e da CEF: o empréstimo contraído pelos Devedores é pago por meio de  desconto na folha de pagamento feito pela Dataprev e pela CEF, conforme aplicável. É possível que os  rendimentos dos Devedores sejam atrasados ou não pagos devido a questões operacionais envolvendo a  Dataprev e/ou a CEF. Nesse caso, a Carteira poderá sofrer, já que não receberá automaticamente, e  também poderá ter dificuldades para receber, a qualquer momento, os recursos decorrentes dos Direitos  Creditórios.</a:t>
            </a:r>
          </a:p>
          <a:p>
            <a:r>
              <a:t>CNPJ 63953620000165 · Recompra e indenização · Condição: Documentos atuais selecionados no inventário por categoria/escopo; a data documental isolada não comprova vigência jurídica.</a:t>
            </a:r>
          </a:p>
          <a:p>
            <a:r>
              <a:t>CNPJ 63953620000165 · Recompra e indenização · Versão e prevalência: Documentos atuais selecionados no inventário por categoria/escopo; a data documental isolada não comprova vigência jurídica.</a:t>
            </a:r>
          </a:p>
          <a:p>
            <a:r>
              <a:t>CNPJ 63953620000165 · Recompra e indenização · Resumo do histórico: {"count": 8, "dates": ["2026-04-28", "2026-05-08", "2026-05-15"], "document_count": 3, "sources": [{"document_id": "1327859", "title": "Demonstrações Financeiras - Fusão, cisão e incorporação", "reference_date": "2026-05-15", "version": "1", "page": 16, "url": "https://fnet.bmfbovespa.com.br/fnet/publico/visualizarDocumento?id=1327859", "sha256": "dca1c68babb97f887528c3e2e47596a9c30f507b067981a35655b2f2da9c8054"}, {"document_id": "1298691", "title": "Demonstrações Financeiras - Fusão, cisão e incorporação", "reference_date": "2026-05-08", "version": "1", "page": 16, "url": "https://fnet.bmfbovespa.com.br/fnet/publico/visualizarDocumento?id=1298691", "sha256": "58c570d9b8d4d265330d3db3ea81c435b8e44a6dab4002aa37790652a1ee9819"}, {"document_id": "1282180", "title": "Demonstrações Financeiras - Fusão, cisão e incorporação", "reference_date": "2026-04-28", "version": "1", "page": 16, "url": "https://fnet.bmfbovespa.com.br/fnet/publico/visualizarDocumento?id=1282180", "sha256": "afaaa0e6809be4385e5bdb6c911aac582032c5bdbac3d7750234bf9eaf00438a"}], "reference": {"path": "history/63953620000165.json", "criterion_id": "repurchase", "total_count": 8, "preview_count": 3, "full_text_deferred": true, "sha256": "a7b89077f5e21098c2d601c303faabc3ff6b9729f89d8afecdc60fe1404720c1"}}</a:t>
            </a:r>
          </a:p>
          <a:p>
            <a:r>
              <a:t>CNPJ 54871427000194 · Coobrigação e retenção de risco · Regulamento · ID 670691 · 28/04/2024 · versão Regulamento — referência 28/04/2024 · p. 10 · Anexo I, 4.7.2 e 4.7.4 · https://fnet.bmfbovespa.com.br/fnet/publico/visualizarDocumento?id=670691</a:t>
            </a:r>
          </a:p>
          <a:p>
            <a:r>
              <a:t>CNPJ 54871427000194 · Coobrigação e retenção de risco · Excerto da fonte:</a:t>
            </a:r>
          </a:p>
          <a:p>
            <a:r>
              <a:t>4.7.2 Caso um Direito Creditório cedido à Classe deixe de atender quaisquer Critérios de Elegibilidade e/ou quaisquer declarações e garantias ref erentes a esse Direito Creditório, conf orme previsto no respectivo Contrato de Endosso, após seu endosso à Classe, não haverá coobrigação nem direito de regresso da Classe contra o ADMINISTRADOR, o CUSTODIANTE o GESTOR e/ou o Endossante. 4.7.3 A f ormalização de cada aquisição de Direitos Creditórios pela Classe deverá incluir o endosso eletrônico em preto de cada CCB representativa do respectivo Direito Creditório em f avor da Classe, inclusive, mas não necessariamente, por meio d a celebração de Termos de Endosso (os quais, para f ins de esclarecimento, poderão ser levados a registro junto aos cartórios de Registro de Títulos e Documentos competentes, a exclusivo critério do GESTOR, em casos excepcionais em que tal registro possa ser considerado necessário para f ins de ef icácia das respectivas cessões perante terceiros, tendo em vista a transmiss ão das CCB mediante endosso em preto, nos termos deste Regulamento e da legislação aplicável). 4.7.4 Após a f ormalizaçã</a:t>
            </a:r>
          </a:p>
          <a:p>
            <a:r>
              <a:t>CNPJ 54871427000194 · Coobrigação e retenção de risco · Regulamento · ID 670691 · 28/04/2024 · versão Regulamento — referência 28/04/2024 · p. 13 · Anexo I, 4.18 · https://fnet.bmfbovespa.com.br/fnet/publico/visualizarDocumento?id=670691</a:t>
            </a:r>
          </a:p>
          <a:p>
            <a:r>
              <a:t>CNPJ 54871427000194 · Coobrigação e retenção de risco · Excerto da fonte:</a:t>
            </a:r>
          </a:p>
          <a:p>
            <a:r>
              <a:t>4.18 Exceto na medida em que eventualmente previsto nos Contratos de Cessão e/ou em instrumentos eventualmente celebrados entre a Classe e os Endossantes, os Endossantes não serão responsáveis em caso de eventual inadimplemento dos Direitos Creditórios por eles cedidos, sendo responsáveis, não obstante, apenas pela existência, certeza, conteúdo, exatidão, veracidade, legitimidade, validade e correta f ormalização dos Direitos Creditórios que cederem à Classe, nos termos da legislação aplicável. 4.19 A Classe, o ADMINISTRADOR e o GESTOR, bem como seus controladores, sociedades coligadas, controladas ou sob controle comum, e/ou subsidiárias, não respondem pela certeza, liquidez, exigibilidade, conteúdo, exatidão, veracidade, legitimidade, validade e/ou correta f ormalização dos Direitos Creditórios adquiridos pela Classe, tampouco pela solvência dos Devedores e/ou Endossantes dos respectivos Direitos Creditórios. 4.20 Sem prejuízo do disposto no item 4.19 acima e, observado o disposto no item Erro! Fonte de referência não encontrada., o CUSTODIANTE f oi contratado pelo GESTOR para verificar e validar, na Data de Aquisição dos Direitos Creditórios pela Classe, o atendimento dos Direitos</a:t>
            </a:r>
          </a:p>
          <a:p>
            <a:r>
              <a:t>CNPJ 54871427000194 · Coobrigação e retenção de risco · Versão e prevalência: Leitura específica das cláusulas indicadas; condições e conflitos preservados. Seleção documental atual não comprova vigência jurídica por data isolada.</a:t>
            </a:r>
          </a:p>
          <a:p>
            <a:r>
              <a:t>CNPJ 54871427000194 · Coobrigação e retenção de risco · Resumo do histórico: {"count": 2, "dates": ["2024-04-19", "2024-04-28"], "document_count": 2, "sources": [{"document_id": "670691", "title": "Regulamento", "reference_date": "2024-04-28", "version": "1", "page": "10-12", "url": "https://fnet.bmfbovespa.com.br/fnet/publico/visualizarDocumento?id=670691", "sha256": "bf16dd7f1a62d5cdbf2e2d54fef81783783f7310fbc99c3a8f00459bdf9d037b"}, {"document_id": "670689", "title": "Regulamento", "reference_date": "2024-04-19", "version": "1", "page": 10, "clause": "4.7.3", "url": "https://fnet.bmfbovespa.com.br/fnet/publico/visualizarDocumento?id=670689", "sha256": "891bc9bc5d87bbc02ec139077a84d2702eb81ea02035fb71d24f5b8366b94a0b"}], "reference": {"path": "history/54871427000194.json", "criterion_id": "coobligation", "total_count": 2, "preview_count": 2, "full_text_deferred": true, "sha256": "35d7cd99be50c7287c9fb675cf4f2e736002315295a225a9efa79c8d9186d874"}}</a:t>
            </a:r>
          </a:p>
          <a:p>
            <a:r>
              <a:t>CNPJ 60010416000112 · Coobrigação e retenção de risco · Regulamento · ID 1051393 · 09/10/2025 · versão Regulamento09/10/2025 · p. 10 · AnexoI4.4.5 · https://fnet.bmfbovespa.com.br/fnet/publico/visualizarDocumento?id=1051393</a:t>
            </a:r>
          </a:p>
          <a:p>
            <a:r>
              <a:t>CNPJ 60010416000112 · Coobrigação e retenção de risco · Excerto da fonte:</a:t>
            </a:r>
          </a:p>
          <a:p>
            <a:r>
              <a:t>4.4.5. Caso um Direito Creditório endossado à Classe deixe de atender quaisquer Critérios de Elegibilidade, quaisquer condições de endosso e/ou quaisquer declarações e garantias referentes a esse Direito Creditório, conforme previsto no Contrato de Endosso, após seu endosso à Classe, não haverá coobrigação nem direito de regresso da Classe contra o Endossante, o Administrador, o Custodiante, o Gestor e/ou o Agente de Retenção/Cobrança, exceto em caso de má-fé, culpa ou dolo comprovado, hipótese em que a parte que agiu com má-f é, culpa ou dolo comprovado</a:t>
            </a:r>
          </a:p>
          <a:p>
            <a:r>
              <a:t>CNPJ 60010416000112 · Coobrigação e retenção de risco · Regulamento · ID 1051393 · 09/10/2025 · versão Regulamento09/10/2025 · p. 11 · AnexoI4.4.7 · https://fnet.bmfbovespa.com.br/fnet/publico/visualizarDocumento?id=1051393</a:t>
            </a:r>
          </a:p>
          <a:p>
            <a:r>
              <a:t>CNPJ 60010416000112 · Coobrigação e retenção de risco · Excerto da fonte:</a:t>
            </a:r>
          </a:p>
          <a:p>
            <a:r>
              <a:t>sem coobrigação do Endossante, da plena titularidade desse Direito Creditório, juntamente com todos os direitos, privilégios, pref erências, prerrogativas, garantias e ações a ele relacionados, bem como correção monetária, juros e encargos, sem prejuízo do direito da Classe (i) de exigir a recompra compulsória do respectivo Direito Creditório, de acordo com os termos do Contrato de Endosso; ou (ii) de vender Direitos Creditórios ao Agente de Retenção/Cobrança (opção de venda), em ambos os casos estritamente nos termos do Contrato de Endosso.</a:t>
            </a:r>
          </a:p>
          <a:p>
            <a:r>
              <a:t>CNPJ 60010416000112 · Coobrigação e retenção de risco · Versão e prevalência: Leitura específica das cláusulas indicadas; condições e conflitos preservados. Seleção documental atual não comprova vigência jurídica por data isolada.</a:t>
            </a:r>
          </a:p>
          <a:p>
            <a:r>
              <a:t>CNPJ 60010416000112 · Coobrigação e retenção de risco · Resumo do histórico: {"count": 2, "dates": ["2025-03-20", "2025-10-09"], "document_count": 2, "sources": [{"document_id": "1051393", "title": "Regulamento", "reference_date": "2025-10-09", "version": "1", "page": "10-11", "url": "https://fnet.bmfbovespa.com.br/fnet/publico/visualizarDocumento?id=1051393", "sha256": "8469d613078ffd5a6c1d217885d8a397a16342c0b937ae4aa24b106505f233ae"}, {"document_id": "993786", "title": "Regulamento", "reference_date": "2025-03-20", "version": "1", "page": 10, "clause": "4.4.5", "url": "https://fnet.bmfbovespa.com.br/fnet/publico/visualizarDocumento?id=993786", "sha256": "fd0fdd369a195510d81f81f505195a0b09e5f43522a990afa7d58c4f872921c8"}], "reference": {"path": "history/60010416000112.json", "criterion_id": "coobligation", "total_count": 2, "preview_count": 2, "full_text_deferred": true, "sha256": "8e2bd813f4c51cf01f6bfaad164bafe69d2bbb192f753eac92da3a01c2e63046"}}</a:t>
            </a:r>
          </a:p>
          <a:p>
            <a:r>
              <a:t>CNPJ 62696791000193 · Coobrigação e retenção de risco · Regulamento · ID 1143317 · 2026-03-20 · versão 1 · p. 11 · 4.7.3 · https://fnet.bmfbovespa.com.br/fnet/publico/visualizarDocumento?id=1143317</a:t>
            </a:r>
          </a:p>
          <a:p>
            <a:r>
              <a:t>CNPJ 62696791000193 · Coobrigação e retenção de risco · Excerto da fonte:</a:t>
            </a:r>
          </a:p>
          <a:p>
            <a:r>
              <a:t>4.7.3 Na hipótese de eventuais Direitos Creditórios do Agronegócio elegíveis deixarem de atender a  qualquer Critério de Elegibilidade após sua aquisição pela Classe, tal f ato não será entendido  como um desenquadramento da carteira, tampouco haverá direito de regresso contra o  Administrador e/ou o Gestor.</a:t>
            </a:r>
          </a:p>
          <a:p>
            <a:r>
              <a:t> Limites de concentração aplicáveis aos Direitos Creditórios do Agronegócio e fundos de investimento  em Direitos Creditórios do Agronegócio investidos pela Classe</a:t>
            </a:r>
          </a:p>
          <a:p>
            <a:r>
              <a:t>CNPJ 62696791000193 · Coobrigação e retenção de risco · Regulamento · ID 1143317 · 2026-03-20 · versão 1 · p. 11 · 4.9 · https://fnet.bmfbovespa.com.br/fnet/publico/visualizarDocumento?id=1143317</a:t>
            </a:r>
          </a:p>
          <a:p>
            <a:r>
              <a:t>CNPJ 62696791000193 · Coobrigação e retenção de risco · Excerto da fonte:</a:t>
            </a:r>
          </a:p>
          <a:p>
            <a:r>
              <a:t>4.9 Nos termos do Art. 45 do Anexo Normativo II da Resolução CVM 175, a Classe poderá ter até 100%  (cem por cento) de seu Patrimônio Líquido alocado em Direitos Creditórios do Agronegócio, devidos  por um mesmo Devedor e/ou de responsabilidade ou coobrigação de Devedores de um mesmo grupo</a:t>
            </a:r>
          </a:p>
          <a:p>
            <a:r>
              <a:t>CNPJ 62696791000193 · Coobrigação e retenção de risco · Regulamento · ID 1143317 · 2026-03-20 · versão 1 · p. 41 · 7.1 · https://fnet.bmfbovespa.com.br/fnet/publico/visualizarDocumento?id=1143317</a:t>
            </a:r>
          </a:p>
          <a:p>
            <a:r>
              <a:t>CNPJ 62696791000193 · Coobrigação e retenção de risco · Excerto da fonte:</a:t>
            </a:r>
          </a:p>
          <a:p>
            <a:r>
              <a:t>7.1. Risco de Crédito relativo aos Direitos Creditórios do Agronegócio. Decorre da capacidade dos  Devedores e/ou coobrigados, conforme aplicável, de honrarem seus compromissos pontual e  integralmente, conforme contratados. A Classe sof rerá o impacto do inadimplemento dos  Direitos Creditórios do Agronegócio detidos em Carteira que estejam vencidos e não pagos e  do não cumprimento, pelos Devedores e/ou coobrigados, conf orme aplicável, de suas  obrigações nos termos dos respectivos instrumentos. A Classe somente procederá ao resgate  das Cotas em moeda corrente nacional na medida em que os Direitos Creditórios do  Agronegócio sejam pagos pelos Devedores e/ou coobrigados, conforme aplicável, e desde  que os respectivos valores sejam transferidos à Classe, não havendo garantia de que o resgate  das Cotas ocorrerá integralmente conf orme estabelecido neste Regulamento, Anexo I e  demais documentos que o integrem, conforme aplicável. Nessas hipóteses, não será devido  pela Classe, pelo pelo Administrador, pelo Gestor e/ou pelo Custodiante, qualquer multa ou  penalidade, de qualquer natureza. Em caso de instauração de pedido de f alência, recuperação  judicial, de plano de recuperação extrajudicial ou qualquer outro procedimento de insolvência  dos Devedores e/ou coobrigados, conforme aplicável, a Classe poderá não receber os  pagamentos dos Direitos Creditórios do Agronegócio que compõem sua Carteira, o que poderá  af etar adversamente os resultados da Classe.</a:t>
            </a:r>
          </a:p>
          <a:p>
            <a:r>
              <a:t>CNPJ 62696791000193 · Coobrigação e retenção de risco · Condição: Documentos atuais selecionados no inventário por categoria/escopo; a data documental isolada não comprova vigência jurídica.</a:t>
            </a:r>
          </a:p>
          <a:p>
            <a:r>
              <a:t>CNPJ 62696791000193 · Coobrigação e retenção de risco · Versão e prevalência: Documentos atuais selecionados no inventário por categoria/escopo; a data documental isolada não comprova vigência jurídica.</a:t>
            </a:r>
          </a:p>
          <a:p>
            <a:r>
              <a:t>CNPJ 55563624000109 · Coobrigação e retenção de risco · Demonstrações Financeiras · ID 1178840 · 2026-01-31 · versão 1 · p. 21 · https://fnet.bmfbovespa.com.br/fnet/publico/visualizarDocumento?id=1178840</a:t>
            </a:r>
          </a:p>
          <a:p>
            <a:r>
              <a:t>CNPJ 55563624000109 · Coobrigação e retenção de risco · Excerto da fonte:</a:t>
            </a:r>
          </a:p>
          <a:p>
            <a:r>
              <a:t>ii) Risco de sistemas. Dada a complexidade operacional própria dos fundos de  investimento em direitos creditórios, não há garantia de que as trocas de informações  entre os sistemas eletrônicos do Custodiante, da Administradora, do Gestor, da  Classe e, quando aplicável, do endossante, dos devedores e/ou coobrigados,  conforme aplicável, se darão livres de erros. Caso qualquer desses riscos venha a  se materializar, a aquisição, cobrança ou realização dos direitos creditórios poderá  ser adversamente afetada, prejudicando o desempenho da Classe.</a:t>
            </a:r>
          </a:p>
          <a:p>
            <a:r>
              <a:t>CNPJ 55563624000109 · Coobrigação e retenção de risco · Condição: Trechos do documento específico identificado com data mais recente; vigência jurídica não inferida.</a:t>
            </a:r>
          </a:p>
          <a:p>
            <a:r>
              <a:t>CNPJ 55563624000109 · Coobrigação e retenção de risco · Versão e prevalência: Trechos do documento específico identificado com data mais recente; vigência jurídica não inferida.</a:t>
            </a:r>
          </a:p>
          <a:p>
            <a:r>
              <a:t>CNPJ 55563624000109 · Coobrigação e retenção de risco · Resumo do histórico: {"count": 1, "dates": ["2025-01-31"], "document_count": 1, "sources": [{"document_id": "891861", "title": "Demonstrações Financeiras", "reference_date": "2025-01-31", "version": "1", "page": 21, "url": "https://fnet.bmfbovespa.com.br/fnet/publico/visualizarDocumento?id=891861", "sha256": "e9cb9e6ddbe505fe068cfcac33605165a98313489de0d3ce6d4d238263c3f3e7"}], "reference": {"path": "history/55563624000109.json", "criterion_id": "coobligation", "total_count": 1, "preview_count": 1, "full_text_deferred": true, "sha256": "7835d573fb58a3c19adf5b8ecc2aee2bdbb9a88f7a0c0209b5f262b64c7522e3"}}</a:t>
            </a:r>
          </a:p>
          <a:p>
            <a:r>
              <a:t>CNPJ 62552447000120 · Coobrigação e retenção de risco · Regulamento · ID 1200623 · 21/05/2026 · versão Consolidado21/05/2026 aprovado pelo ato1200625 · p. 13 · AnexoI4.6.3–4.6.4 · https://fnet.bmfbovespa.com.br/fnet/publico/visualizarDocumento?id=1200623</a:t>
            </a:r>
          </a:p>
          <a:p>
            <a:r>
              <a:t>CNPJ 62552447000120 · Coobrigação e retenção de risco · Excerto da fonte:</a:t>
            </a:r>
          </a:p>
          <a:p>
            <a:r>
              <a:t>4.6.4 Após a formalização, o endosso de um Direito Creditório Consignado Privado, Direito Creditório FGTS e Direito Creditório Refinanciamento Livre à Classe será irrevogável e irretratável, com a transf erência, à Classe, de f orma def initiva, sem coobrigação do Endossante, da plena titularidade desse Direito Creditório, juntamente com todos os direitos, privilégios, preferências, prerrogativas, garantias e ações a ele relacionados, bem como correção monetária, juros e encargos, sem prejuízo do direito da Classe (i) de exigir a resolução do endosso do respectivo D</a:t>
            </a:r>
          </a:p>
          <a:p>
            <a:r>
              <a:t>CNPJ 62552447000120 · Coobrigação e retenção de risco · Regulamento · ID 1200623 · 21/05/2026 · versão Consolidado21/05/2026 aprovado pelo ato1200625 · p. 16 · AnexoI4.22 · https://fnet.bmfbovespa.com.br/fnet/publico/visualizarDocumento?id=1200623</a:t>
            </a:r>
          </a:p>
          <a:p>
            <a:r>
              <a:t>CNPJ 62552447000120 · Coobrigação e retenção de risco · Excerto da fonte:</a:t>
            </a:r>
          </a:p>
          <a:p>
            <a:r>
              <a:t>4.22 Exceto na medida em que eventualmente previsto no s Contratos de Endosso e/ou em instrumentos eventualmente celebrados entre a Classe e o Endossante e/ou o Agente de Retenção e Cobrança, conf orme aplicável, o Endossante e/ou o Agente de Retenção e Cobrança não serão responsáveis em caso de eventual inadimplemento dos Direitos Creditórios . 4.23 A Classe, o Administrador e o Gestor, bem como seus controladores, sociedades coligadas, controladas ou sob controle comum, e/ou subsidiárias, não respondem pela certeza, liquidez, exigibilidade, conteúdo, exatidão, veracidade, legitimidade, validade e/ou co</a:t>
            </a:r>
          </a:p>
          <a:p>
            <a:r>
              <a:t>CNPJ 62552447000120 · Coobrigação e retenção de risco · Versão e prevalência: Leitura específica das cláusulas indicadas; condições e conflitos preservados. Seleção documental atual não comprova vigência jurídica por data isolada.</a:t>
            </a:r>
          </a:p>
          <a:p>
            <a:r>
              <a:t>CNPJ 63953620000165 · Coobrigação e retenção de risco · Anexo ao Regulamento · ID 1222863 · 02/06/2026 · versão AnexoConsignadoPrivado02/06/2026 · p. 6 · 4.8,4.10.3 · https://fnet.bmfbovespa.com.br/fnet/publico/visualizarDocumento?id=1222863</a:t>
            </a:r>
          </a:p>
          <a:p>
            <a:r>
              <a:t>CNPJ 63953620000165 · Coobrigação e retenção de risco · Excerto da fonte:</a:t>
            </a:r>
          </a:p>
          <a:p>
            <a:r>
              <a:t>4.10.3 Não haverá coobrigação nem direito de regresso da Classe contra o Endossante, o Administrador, o Custodiante, o Gestor e/ou o Agente de Retenção/Cobrança, exceto em caso de má-fé, culpa ou dolo comprovado, hipótese em que a parte que agiu com má-fé, culpa ou dolo comprovado poderá ser responsabilizada pelas perdas incorridas pela Classe em relação aos respectivos Direitos Creditórios Crédito Consignado. 4.11 Além dos Critérios de Elegibilidade acima mencionados, a serem verificados pelo Gestor ou terceiro por ele contratado, o Endossante e o Agente de Retenção/Cobrança declararão, expr</a:t>
            </a:r>
          </a:p>
          <a:p>
            <a:r>
              <a:t>CNPJ 63953620000165 · Coobrigação e retenção de risco · Versão e prevalência: Leitura específica das cláusulas indicadas; condições e conflitos preservados. Seleção documental atual não comprova vigência jurídica por data isolada.</a:t>
            </a:r>
          </a:p>
          <a:p>
            <a:r>
              <a:t>CNPJ 63953620000165 · Coobrigação e retenção de risco · Resumo do histórico: {"count": 8, "dates": ["2026-04-28", "2026-05-08", "2026-05-15"], "document_count": 3, "sources": [{"document_id": "1327859", "title": "Demonstrações Financeiras - Fusão, cisão e incorporação", "reference_date": "2026-05-15", "version": "1", "page": 16, "url": "https://fnet.bmfbovespa.com.br/fnet/publico/visualizarDocumento?id=1327859", "sha256": "dca1c68babb97f887528c3e2e47596a9c30f507b067981a35655b2f2da9c8054"}, {"document_id": "1298691", "title": "Demonstrações Financeiras - Fusão, cisão e incorporação", "reference_date": "2026-05-08", "version": "1", "page": 16, "url": "https://fnet.bmfbovespa.com.br/fnet/publico/visualizarDocumento?id=1298691", "sha256": "58c570d9b8d4d265330d3db3ea81c435b8e44a6dab4002aa37790652a1ee9819"}, {"document_id": "1282180", "title": "Demonstrações Financeiras - Fusão, cisão e incorporação", "reference_date": "2026-04-28", "version": "1", "page": 16, "url": "https://fnet.bmfbovespa.com.br/fnet/publico/visualizarDocumento?id=1282180", "sha256": "afaaa0e6809be4385e5bdb6c911aac582032c5bdbac3d7750234bf9eaf00438a"}], "reference": {"path": "history/63953620000165.json", "criterion_id": "coobligation",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Qualidade da carteira</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Metodologia de PDD e curva por atraso · Base da comparação IME: {"criterion_id": "pdd", "observed_value": null, "unit": "", "competence": "08/2026", "status": "not_comparable", "reason": "A curva de PDD requer atraso, contágio e garantias por operação; o agregado mensal não demonstra aplicação da metodologia.", "formula": "",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null, "comparison_required": true, "context_formula": "PDD / direitos creditórios", "context_value": 0.397174994710542, "context_unit": "percent"}</a:t>
            </a:r>
          </a:p>
          <a:p>
            <a:r>
              <a:t>CNPJ 54871427000194 · Metodologia de PDD e curva por atraso · Regulamento · ID 670691 · 28/04/2024 · versão Regulamento — referência 28/04/2024 · p. 17 · Anexo I, 9.2–9.2.1 · https://fnet.bmfbovespa.com.br/fnet/publico/visualizarDocumento?id=670691</a:t>
            </a:r>
          </a:p>
          <a:p>
            <a:r>
              <a:t>CNPJ 54871427000194 · Metodologia de PDD e curva por atraso · Excerto da fonte:</a:t>
            </a:r>
          </a:p>
          <a:p>
            <a:r>
              <a:t>9.2 As provisões para perdas e as perdas havidas com Direitos Creditórios ou com os Ativos Financeiros de Liquidez integrantes da Carteira serão, respectivamente, efetuadas ou reconhecidas nos termos da Instrução CVM 489. Desta forma, o valor do saldo dos Direitos Creditórios e/ou Ativos Financeiros de Liquidez será reduzido pelo valor da provisão ef etuada ou perda reconhecida. 9.2.1 O ef eito de perda ou provisão para devedores duvidosos de Direitos Creditórios de um mesmo Devedor deverá ser mensurado levando-se em consideração o disposto no Art. 13 da Instrução CVM 489, sendo f acultada a análise individualizada dos Direitos Creditórios, observada a metodologia de avaliação descrita no manual d o ADMINISTRADOR ou, ainda, no manual do CUSTODIANTE. CAPÍTULO 10 – ASSEMBLEIA ESPECIAL DE COTISTAS 10.1 Sem prejuízo de outros requisitos e inf ormações previstos na regulamentação vigente, são aplicáveis à Assembleia Especial de Cotistas as mesmas disposições procedimentais da Assembleia Geral de Cotistas. 10.2 A Assembleia Especial de Cotistas é responsável por deliberar sobre as matérias específicas da Classe de Cotas, sem prejuízo das demais disposições previstas</a:t>
            </a:r>
          </a:p>
          <a:p>
            <a:r>
              <a:t>CNPJ 54871427000194 · Metodologia de PDD e curva por atraso · Condição: Os percentuais do Complemento 2 são descontos de cobrança e comissões; não são alíquotas de PDD. O manual operacional referenciado permanece uma fonte separada.</a:t>
            </a:r>
          </a:p>
          <a:p>
            <a:r>
              <a:t>CNPJ 54871427000194 · Metodologia de PDD e curva por atraso · Versão e prevalência: Leitura específica das cláusulas indicadas; condições e conflitos preservados. Seleção documental atual não comprova vigência jurídica por data isolada.</a:t>
            </a:r>
          </a:p>
          <a:p>
            <a:r>
              <a:t>CNPJ 54871427000194 · Metodologia de PDD e curva por atraso · Resumo do histórico: {"count": 4, "dates": ["2024-12-31", "2025-01-01", "2025-12-31"], "document_count": 3, "sources": [{"document_id": "1151805", "title": "Demonstrações Financeiras", "reference_date": "2025-12-31", "version": "1", "page": 17, "url": "https://fnet.bmfbovespa.com.br/fnet/publico/visualizarDocumento?id=1151805", "sha256": "f1cea70b152968bf96ef9221b27225953cb20aeef487b2798db3c25e11b528d4"}, {"document_id": "869529", "title": "Demonstrações Financeiras", "reference_date": "2025-01-01", "version": "1", "page": 17, "url": "https://fnet.bmfbovespa.com.br/fnet/publico/visualizarDocumento?id=869529", "sha256": "9a93a9369ac8efdbc54ff8fcee3ccac3abf88edab4807b9323d3852450771b2a"}, {"document_id": "870070", "title": "Demonstrações Financeiras", "reference_date": "2024-12-31", "version": "1", "page": 17, "url": "https://fnet.bmfbovespa.com.br/fnet/publico/visualizarDocumento?id=870070", "sha256": "9a93a9369ac8efdbc54ff8fcee3ccac3abf88edab4807b9323d3852450771b2a"}], "reference": {"path": "history/54871427000194.json", "criterion_id": "pdd", "total_count": 4, "preview_count": 3, "full_text_deferred": true, "sha256": "35d7cd99be50c7287c9fb675cf4f2e736002315295a225a9efa79c8d9186d874"}}</a:t>
            </a:r>
          </a:p>
          <a:p>
            <a:r>
              <a:t>CNPJ 60010416000112 · Metodologia de PDD e curva por atraso · Base da comparação IME: {"criterion_id": "pdd", "observed_value": null, "unit": "", "competence": "08/2026", "status": "not_comparable", "reason": "A curva de PDD requer atraso, contágio e garantias por operação; o agregado mensal não demonstra aplicação da metodologia.", "formula": "",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null, "comparison_required": true, "context_formula": "PDD / direitos creditórios", "context_value": 19.008881839133778, "context_unit": "percent"}</a:t>
            </a:r>
          </a:p>
          <a:p>
            <a:r>
              <a:t>CNPJ 60010416000112 · Metodologia de PDD e curva por atraso · Regulamento · ID 1051393 · 09/10/2025 · versão Regulamento09/10/2025 · p. 17 · AnexoI8.1(iv)–(v),8.3–8.3.1 · https://fnet.bmfbovespa.com.br/fnet/publico/visualizarDocumento?id=1051393</a:t>
            </a:r>
          </a:p>
          <a:p>
            <a:r>
              <a:t>CNPJ 60010416000112 · Metodologia de PDD e curva por atraso · Excerto da fonte:</a:t>
            </a:r>
          </a:p>
          <a:p>
            <a:r>
              <a:t>8.1 Os ativos da Carteira serão avaliados todos os Dias Úteis de acordo com critérios consistentes e verif icáveis, apoiados por inf ormações externas e internas que levem em consideração aspectos relacionados aos Devedores e às características da transação correspondente, de acordo com a seguinte metodologia de avaliação. (i) os Ativos Financeiros de Liquidez deverão ser registrados e ter seus valores ajustados a mercado, sujeitos às regras e procedimentos definidos no manual de marcação a mercado do Custodiante e de acordo com as regras do Banco Central e da CVM, aplicá</a:t>
            </a:r>
          </a:p>
          <a:p>
            <a:r>
              <a:t>CNPJ 60010416000112 · Metodologia de PDD e curva por atraso · Condição: Curva numérica por atraso não é transcrita; manuais/contrato têm perímetro distinto do indicador agregado do IME.</a:t>
            </a:r>
          </a:p>
          <a:p>
            <a:r>
              <a:t>CNPJ 60010416000112 · Metodologia de PDD e curva por atraso · Motivo: Cláusula primária localizada e citada, mas sua lista/condições extensas não admitem uma síntese literal curta confirmada. O trecho integral permanece nas fontes.</a:t>
            </a:r>
          </a:p>
          <a:p>
            <a:r>
              <a:t>CNPJ 60010416000112 · Metodologia de PDD e curva por atraso · Versão e prevalência: Leitura específica das cláusulas indicadas; condições e conflitos preservados. Seleção documental atual não comprova vigência jurídica por data isolada.</a:t>
            </a:r>
          </a:p>
          <a:p>
            <a:r>
              <a:t>CNPJ 60010416000112 · Metodologia de PDD e curva por atraso · Resumo do histórico: {"count": 1, "dates": ["2025-03-20"], "document_count": 1, "sources": [{"document_id": "993786", "title": "Regulamento", "reference_date": "2025-03-20", "version": "1", "page": 17, "clause": "8.1", "url": "https://fnet.bmfbovespa.com.br/fnet/publico/visualizarDocumento?id=993786", "sha256": "fd0fdd369a195510d81f81f505195a0b09e5f43522a990afa7d58c4f872921c8"}], "reference": {"path": "history/60010416000112.json", "criterion_id": "pdd", "total_count": 1, "preview_count": 1, "full_text_deferred": true, "sha256": "8e2bd813f4c51cf01f6bfaad164bafe69d2bbb192f753eac92da3a01c2e63046"}}</a:t>
            </a:r>
          </a:p>
          <a:p>
            <a:r>
              <a:t>CNPJ 62696791000193 · Metodologia de PDD e curva por atraso · Regulamento · ID 1143317 · 20/03/2026 · versão Regulamento — referência 20/03/2026 · p. 11 · Anexo I, 4.7.3 · https://fnet.bmfbovespa.com.br/fnet/publico/visualizarDocumento?id=1143317</a:t>
            </a:r>
          </a:p>
          <a:p>
            <a:r>
              <a:t>CNPJ 62696791000193 · Metodologia de PDD e curva por atraso · Excerto da fonte:</a:t>
            </a:r>
          </a:p>
          <a:p>
            <a:r>
              <a:t>4.7.3 Na hipótese de eventuais Direitos Creditórios do Agronegócio elegíveis deixarem de atender a qualquer Critério de Elegibilidade após sua aquisição pela Classe, tal f ato não será entendido como um desenquadramento da carteira, tampouco haverá direito de regresso contra o Administrador e/ou o Gestor. Limites de concentração aplicáveis aos Direitos Creditórios do Agronegócio e fundos de investimento em Direitos Creditórios do Agronegócio investidos pela Classe 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t>
            </a:r>
          </a:p>
          <a:p>
            <a:r>
              <a:t>CNPJ 62696791000193 · Metodologia de PDD e curva por atraso · Condição: PDD mensal observada e metodologia contratual são evidências separadas.</a:t>
            </a:r>
          </a:p>
          <a:p>
            <a:r>
              <a:t>CNPJ 62696791000193 · Metodologia de PDD e curva por atraso · Motivo: Leitura do consolidado de 48 páginas não localizou metodologia de PDD/curva por atraso. A cláusula 4.7.3 trata de perda posterior de elegibilidade; não estabelece provisionamento.</a:t>
            </a:r>
          </a:p>
          <a:p>
            <a:r>
              <a:t>CNPJ 62696791000193 · Metodologia de PDD e curva por atraso · Versão e prevalência: Leitura específica das cláusulas indicadas; condições e conflitos preservados. Seleção documental atual não comprova vigência jurídica por data isolada.</a:t>
            </a:r>
          </a:p>
          <a:p>
            <a:r>
              <a:t>CNPJ 55563624000109 · Metodologia de PDD e curva por atraso · Base da comparação IME: {"criterion_id": "pdd", "observed_value": null, "unit": "", "competence": "08/2026", "status": "not_comparable", "reason": "A curva de PDD requer atraso, contágio e garantias por operação; o agregado mensal não demonstra aplicação da metodologia.", "formula": "",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null, "comparison_required": true, "context_formula": "PDD / direitos creditórios", "context_value": null, "context_unit": "percent"}</a:t>
            </a:r>
          </a:p>
          <a:p>
            <a:r>
              <a:t>CNPJ 55563624000109 · Metodologia de PDD e curva por atraso · Regulamento · ID 1192614 · 30/04/2026 · versão Regulamento30/04/2026 · p. 19 · AnexoI9.1–9.2.1 · https://fnet.bmfbovespa.com.br/fnet/publico/visualizarDocumento?id=1192614</a:t>
            </a:r>
          </a:p>
          <a:p>
            <a:r>
              <a:t>CNPJ 55563624000109 · Metodologia de PDD e curva por atraso · Excerto da fonte:</a:t>
            </a:r>
          </a:p>
          <a:p>
            <a:r>
              <a:t>9.1 As Cotas da Classe Investida e Ativos Financeiros de Liquidez que compõem a Carteira da Classe terão seus valores calculados todo Dia Útil conforme a metodologia de avaliação descrita no manual do ADMINISTRADOR, disponível no seu website, no endereço https://www.btgpactual.com/asset-management/administracao- fiduciaria#documentos. 9.2 As provisões para perdas e as perdas havidas com as Cotas da Classe Investida ou com os Ativos Financeiros de Liquidez integrantes da Carteira serão, respectivamente, efetuadas ou reconhecidas pelo ADMINISTRADOR, de</a:t>
            </a:r>
          </a:p>
          <a:p>
            <a:r>
              <a:t>CNPJ 55563624000109 · Metodologia de PDD e curva por atraso · Condição: PDD do FIC reflete cotas/liquidez; atraso/PDD de devedores finais exige IME do investido.</a:t>
            </a:r>
          </a:p>
          <a:p>
            <a:r>
              <a:t>CNPJ 55563624000109 · Metodologia de PDD e curva por atraso · Versão e prevalência: Leitura específica das cláusulas indicadas; condições e conflitos preservados. Seleção documental atual não comprova vigência jurídica por data isolada.</a:t>
            </a:r>
          </a:p>
          <a:p>
            <a:r>
              <a:t>CNPJ 62552447000120 · Metodologia de PDD e curva por atraso · Base da comparação IME: {"criterion_id": "pdd", "observed_value": null, "unit": "", "competence": "08/2026", "status": "not_comparable", "reason": "A curva de PDD requer atraso, contágio e garantias por operação; o agregado mensal não demonstra aplicação da metodologia.", "formula": "",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null, "comparison_required": true, "context_formula": "PDD / direitos creditórios", "context_value": 9.644446353219038, "context_unit": "percent"}</a:t>
            </a:r>
          </a:p>
          <a:p>
            <a:r>
              <a:t>CNPJ 62552447000120 · Metodologia de PDD e curva por atraso · Regulamento · ID 1200623 · 21/05/2026 · versão Consolidado21/05/2026 aprovado pelo ato1200625 · p. 20 · AnexoI9.1–9.2.1 · https://fnet.bmfbovespa.com.br/fnet/publico/visualizarDocumento?id=1200623</a:t>
            </a:r>
          </a:p>
          <a:p>
            <a:r>
              <a:t>CNPJ 62552447000120 · Metodologia de PDD e curva por atraso · Excerto da fonte:</a:t>
            </a:r>
          </a:p>
          <a:p>
            <a:r>
              <a:t>9.1 Os Direitos Creditórios e Ativos Financeiros que compõem a Carteira terão seus valores calculados todo Dia Útil conforme a metodologia de avaliação descrita no manual d o Administrador ou, ainda, nos manuais do Custodiante, disponíveis nos seus respectivos websites, no endereço https://www.btgpactual.com/asset-management/administracao-f iduciaria#documentos. 9.2 As provisões para perdas e as perdas havidas com Direitos Creditórios ou com os Ativos Financeiros integrantes da Carteira serão, respectivamente, efetuadas ou reconhecidas nos termos da Instrução da CVM n.º 489, de 14 de janeiro de 2011, c</a:t>
            </a:r>
          </a:p>
          <a:p>
            <a:r>
              <a:t>CNPJ 62552447000120 · Metodologia de PDD e curva por atraso · Condição: Cláusula não transcreve curva de provisão por faixa de atraso; percentual PDD do IME não reproduz manual.</a:t>
            </a:r>
          </a:p>
          <a:p>
            <a:r>
              <a:t>CNPJ 62552447000120 · Metodologia de PDD e curva por atraso · Motivo: Não localizada uma cláusula material para este critério nos textos identificados e processados. A ausência de resultado não comprova inexistência da regra.</a:t>
            </a:r>
          </a:p>
          <a:p>
            <a:r>
              <a:t>CNPJ 62552447000120 · Metodologia de PDD e curva por atraso · Versão e prevalência: Leitura específica das cláusulas indicadas; condições e conflitos preservados. Seleção documental atual não comprova vigência jurídica por data isolada.</a:t>
            </a:r>
          </a:p>
          <a:p>
            <a:r>
              <a:t>CNPJ 63953620000165 · Metodologia de PDD e curva por atraso · Base da comparação IME: {"criterion_id": "pdd", "observed_value": null, "unit": "", "competence": "08/2026", "status": "not_comparable", "reason": "A curva de PDD requer atraso, contágio e garantias por operação; o agregado mensal não demonstra aplicação da metodologia.", "formula": "",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null, "comparison_required": true, "context_formula": "PDD / direitos creditórios", "context_value": 5.5101286576011415, "context_unit": "percent"}</a:t>
            </a:r>
          </a:p>
          <a:p>
            <a:r>
              <a:t>CNPJ 63953620000165 · Metodologia de PDD e curva por atraso · Anexo ao Regulamento · ID 1222863 · 02/06/2026 · versão AnexoConsignadoPrivado02/06/2026 · p. 12 · 9.1–9.2.1 · https://fnet.bmfbovespa.com.br/fnet/publico/visualizarDocumento?id=1222863</a:t>
            </a:r>
          </a:p>
          <a:p>
            <a:r>
              <a:t>CNPJ 63953620000165 · Metodologia de PDD e curva por atraso · Excerto da fonte:</a:t>
            </a:r>
          </a:p>
          <a:p>
            <a:r>
              <a:t>9.1 Os Direitos Creditórios e Ativos Financeiros que compõem a Carteira da Classe terão seus valores calculados todo Dia Útil conforme a metodologia de avaliação descrita no manual do Administrador ou, ainda, nos manuais do Custodiante, disponíveis nos seus respectivos websites, no endereço https://www.btgpactual.com/asset- management/administracao-fiduciaria#documentos 9.2 As provisões para perdas e as perdas havidas com Direitos Creditórios ou com os Ativos Financeiros integrantes da Carteira serão, respectivamente, efetuadas ou reconhecidas nos termos da Instrução CVM 489. Desta forma, o valor do saldo dos Dire</a:t>
            </a:r>
          </a:p>
          <a:p>
            <a:r>
              <a:t>CNPJ 63953620000165 · Metodologia de PDD e curva por atraso · Versão e prevalência: Leitura específica das cláusulas indicadas; condições e conflitos preservados. Seleção documental atual não comprova vigência jurídica por data isolada.</a:t>
            </a:r>
          </a:p>
          <a:p>
            <a:r>
              <a:t>CNPJ 63953620000165 · Metodologia de PDD e curva por atraso · Resumo do histórico: {"count": 7, "dates": ["2026-04-16", "2026-04-28", "2026-05-08"], "document_count": 3, "sources": [{"document_id": "1298691", "title": "Demonstrações Financeiras - Fusão, cisão e incorporação", "reference_date": "2026-05-08", "version": "1", "page": 18, "url": "https://fnet.bmfbovespa.com.br/fnet/publico/visualizarDocumento?id=1298691", "sha256": "58c570d9b8d4d265330d3db3ea81c435b8e44a6dab4002aa37790652a1ee9819"}, {"document_id": "1282180", "title": "Demonstrações Financeiras - Fusão, cisão e incorporação", "reference_date": "2026-04-28", "version": "1", "page": 18, "url": "https://fnet.bmfbovespa.com.br/fnet/publico/visualizarDocumento?id=1282180", "sha256": "afaaa0e6809be4385e5bdb6c911aac582032c5bdbac3d7750234bf9eaf00438a"}, {"document_id": "1282179", "title": "Demonstrações Financeiras - Fusão, cisão e incorporação", "reference_date": "2026-04-16", "version": "1", "page": 18, "url": "https://fnet.bmfbovespa.com.br/fnet/publico/visualizarDocumento?id=1282179", "sha256": "beb67afbcd64169019477673fd3b7c1edbfabbd9db07379388d8cdd5d3fc9395"}], "reference": {"path": "history/63953620000165.json", "criterion_id": "pdd", "total_count": 7, "preview_count": 3, "full_text_deferred": true, "sha256": "a7b89077f5e21098c2d601c303faabc3ff6b9729f89d8afecdc60fe1404720c1"}}</a:t>
            </a:r>
          </a:p>
          <a:p>
            <a:r>
              <a:t>CNPJ 54871427000194 · Gatilhos de atraso e rolagem · Motivo: Não localizada uma cláusula material para este critério nos textos identificados e processados. A ausência de resultado não comprova inexistência da regra.</a:t>
            </a:r>
          </a:p>
          <a:p>
            <a:r>
              <a:t>CNPJ 60010416000112 · Gatilhos de atraso e rolagem · Motivo: Não localizada uma cláusula material para este critério nos textos identificados e processados. A ausência de resultado não comprova inexistência da regra.</a:t>
            </a:r>
          </a:p>
          <a:p>
            <a:r>
              <a:t>CNPJ 62696791000193 · Gatilhos de atraso e rolagem · Motivo: Não localizada uma cláusula material para este critério nos textos identificados e processados. A ausência de resultado não comprova inexistência da regra.</a:t>
            </a:r>
          </a:p>
          <a:p>
            <a:r>
              <a:t>CNPJ 55563624000109 · Gatilhos de atraso e rolagem · Motivo: Não localizada uma cláusula material para este critério nos textos identificados e processados. A ausência de resultado não comprova inexistência da regra.</a:t>
            </a:r>
          </a:p>
          <a:p>
            <a:r>
              <a:t>CNPJ 62552447000120 · Gatilhos de atraso e rolagem · Motivo: Não localizada uma cláusula material para este critério nos textos identificados e processados. A ausência de resultado não comprova inexistência da regra.</a:t>
            </a:r>
          </a:p>
          <a:p>
            <a:r>
              <a:t>CNPJ 63953620000165 · Gatilhos de atraso e rolagem · Motivo: Não localizada uma cláusula material para este critério nos textos identificados e processados. A ausência de resultado não comprova inexistência da regra.</a:t>
            </a:r>
          </a:p>
          <a:p>
            <a:r>
              <a:t>CNPJ 54871427000194 · Diluição, cancelamento e chargeback · Motivo: Não localizada uma cláusula material para este critério nos textos identificados e processados. A ausência de resultado não comprova inexistência da regra.</a:t>
            </a:r>
          </a:p>
          <a:p>
            <a:r>
              <a:t>CNPJ 60010416000112 · Diluição, cancelamento e chargeback · Motivo: Não localizada uma cláusula material para este critério nos textos identificados e processados. A ausência de resultado não comprova inexistência da regra.</a:t>
            </a:r>
          </a:p>
          <a:p>
            <a:r>
              <a:t>CNPJ 62696791000193 · Diluição, cancelamento e chargeback · Motivo: Não localizada uma cláusula material para este critério nos textos identificados e processados. A ausência de resultado não comprova inexistência da regra.</a:t>
            </a:r>
          </a:p>
          <a:p>
            <a:r>
              <a:t>CNPJ 55563624000109 · Diluição, cancelamento e chargeback · Motivo: Não localizada uma cláusula material para este critério nos textos identificados e processados. A ausência de resultado não comprova inexistência da regra.</a:t>
            </a:r>
          </a:p>
          <a:p>
            <a:r>
              <a:t>CNPJ 62552447000120 · Diluição, cancelamento e chargeback · Motivo: Não localizada uma cláusula material para este critério nos textos identificados e processados. A ausência de resultado não comprova inexistência da regra.</a:t>
            </a:r>
          </a:p>
          <a:p>
            <a:r>
              <a:t>CNPJ 63953620000165 · Diluição, cancelamento e chargeback · Motivo: Não localizada uma cláusula material para este critério nos textos identificados e processados. A ausência de resultado não comprova inexistência da regra.</a:t>
            </a:r>
          </a:p>
          <a:p>
            <a:r>
              <a:t>CNPJ 54871427000194 · Recompra e indenização · Regulamento · ID 670691 · 2024-04-28 · versão 1 · p. 11 · 4.12 · https://fnet.bmfbovespa.com.br/fnet/publico/visualizarDocumento?id=670691</a:t>
            </a:r>
          </a:p>
          <a:p>
            <a:r>
              <a:t>CNPJ 54871427000194 · Recompra e indenização · Excerto da fonte:</a:t>
            </a:r>
          </a:p>
          <a:p>
            <a:r>
              <a:t>4.12 Os recursos recebidos pela Classe em razão da liquidação dos Direitos Creditórios, a qualquer título,  incluindo pagamento regular ou por excussão de garantia, alienação, recompra, indenização pelo  Cedente e/ou desinvestimento de Ativo Recuperado, serão destinados a aquisição de Direitos  Creditórios até o montante de R$ 250.000.000,00 (duzentos e cinquenta milhões de reais), sendo certo  que os recursos recebidos pela Classe após a aquisição em tal montante não poderão ser destinados  à aquisição pela Classe de novos Direitos Creditórios, aplicando-se, de resto, o disposto no item 8.1  abaixo no que se ref ere à ordem de alocação de tais recursos.</a:t>
            </a:r>
          </a:p>
          <a:p>
            <a:r>
              <a:t>CNPJ 54871427000194 · Recompra e indenização · Regulamento · ID 670691 · 2024-04-28 · versão 1 · p. 12 · 4.13 · https://fnet.bmfbovespa.com.br/fnet/publico/visualizarDocumento?id=670691</a:t>
            </a:r>
          </a:p>
          <a:p>
            <a:r>
              <a:t>CNPJ 54871427000194 · Recompra e indenização · Excerto da fonte:</a:t>
            </a:r>
          </a:p>
          <a:p>
            <a:r>
              <a:t>4.13 Na hipótese de demandas judiciais e/ou administrativas, em que a causa de pedir ou entre os pedidos  estejam incluídos qualquer um dos itens listados abaixo, o Endossante estará obrigado realizar a  recompra ou indenização dos respectivos Direitos Creditórios, na f orma e prazos previstos no  respectivo Contrato de Endosso sem prejuízo do previsto no Artigo 295 do Código Civil, sendo certo  que o GESTOR envidará seus melhores esf orços para que os Contratos de Endosso contenham  substancialmente as hipóteses abaixo :</a:t>
            </a:r>
          </a:p>
          <a:p>
            <a:r>
              <a:t> (i) Vício de f ormalização dos CCCBs e/ou CCBs a) por ausência de qualquer dos Documentos  Comprobatórios ou falsificação, irregularidade sou má formalização destes; b) por falta de recebimento  do crédito pelo Devedor; ou, c) por averbação irregular de desconto em folha na margem consignável  do Devedor;</a:t>
            </a:r>
          </a:p>
          <a:p>
            <a:r>
              <a:t>CNPJ 54871427000194 · Recompra e indenização · Regulamento · ID 670691 · 2024-04-28 · versão 1 · p. 1 · 1.1 · https://fnet.bmfbovespa.com.br/fnet/publico/visualizarDocumento?id=670691</a:t>
            </a:r>
          </a:p>
          <a:p>
            <a:r>
              <a:t>CNPJ 54871427000194 · Recompra e indenização · Excerto da fonte:</a:t>
            </a:r>
          </a:p>
          <a:p>
            <a:r>
              <a:t>1.1 CONSIGNADO DELTA RECEIVABLES I FUNDO DE INVESTIMENTO EM DIREITOS CREDITÓRIOS  (“FUNDO”), regido pela Lei nº 10.406, de 10 de janeiro de 2002, conf orme alterada (“Código Civil”),  pela parte geral e o Anexo Normativo II da Resolução nº 175, de 23 de dezembro de 2022, conforme  alterada, da Comissão de Valores Mobiliários (respectivamente, “CVM” e “Resolução CVM 175”), terá  como principais características:</a:t>
            </a:r>
          </a:p>
          <a:p>
            <a:r>
              <a:t> Classe de Cotas Classe única.</a:t>
            </a:r>
          </a:p>
          <a:p>
            <a:r>
              <a:t> Indeterminado, exceto se de outra f orma vier a ser deliberado pelos cotistas  Prazo de Duração  reunidos em assembleia geral de cotistas.</a:t>
            </a:r>
          </a:p>
          <a:p>
            <a:r>
              <a:t> BTG Pactual Serviços Financeiros S.A. Distribuidora de Títulos e Valores  Mobiliários, instituição f inanceira, com sede na Cidade e Estado do Rio de  Janeiro, na Praia de Botafogo, nº 501, 5º andar (parte), Torre Corcovado,  ADMINISTRADOR  Botafogo, CEP 22250-040, inscrita no CNPJ sob o nº 59.281.253/0001-23 e  credenciada como administradora de carteira, de acordo com o Ato Declaratório  CVM nº 8.695, de 20 de março de 2006 (“ADMINISTRADOR”).</a:t>
            </a:r>
          </a:p>
          <a:p>
            <a:r>
              <a:t> BTG Pactual Asset Management S.A. Distribuidora de Títulos e Valores  Mobiliários, inscrita no CNPJ/ME sob o nº 29.650.082/0001-00, com sede  Cidade e Estado do Rio de Janeiro, na Praia de Botafogo, n.º 501, 5° andar,  devidamente autorizada à prestação dos serviços de administração de carteira  GESTOR  de títulos e valores mobiliários por meio d o Ato Declaratório número 5.968,  expedido em 10 de maio de 2000 (“GESTOR” e, quando ref erido  conjuntamente e indistintamente com o ADMINISTRADOR, os “Prestadores  de Serviços Essenciais”).</a:t>
            </a:r>
          </a:p>
          <a:p>
            <a:r>
              <a:t> O FUNDO, seus cotistas, os distribuidores de cotas por conta e ordem, seu  GESTOR, seu ADMINISTRADOR e os demais prestadores de serviço do  FUNDO e/ou da CLASSE obrigam-se a resolver, por meio de arbitragem, de  acordo com o Regulamento de Arbitragem da Câmara de Arbitragem do  Mercado da B3 (“Regulamento CAM B3” e “CAM B3”, respectivamente), toda  e qualquer disputa ou controvérsia que possa surgir entre eles, relacionada ou  oriunda, em especial, da aplicação, validade, eficácia, interpretação, violação  e seus ef eitos, das disposições contidas no Regulamento e seus Anexos, nas  normas editadas pela CVM que lhe sejam aplicáveis e nos instrumentos entre  si f irmados (“Arbitragem”).</a:t>
            </a:r>
          </a:p>
          <a:p>
            <a:r>
              <a:t> (i) A Arbitragem será de direito, com a aplicação das normas da República  Federativa do Brasil, terá sede no Município de São Paulo, será  Foro Aplicável conduzida em língua portuguesa e de f orma confidencial. O tribunal  arbitral será constituído por 3 (três) árbitros, sendo um deles  presidente, escolhidos nos termos do Regulamento CAM B3.</a:t>
            </a:r>
          </a:p>
          <a:p>
            <a:r>
              <a:t> (ii) As despesas processuais iniciais deverão ser rateadas entre as partes,  arcando cada polo processual com metade dos valores necessários,  sem prejuízo à possibilidade de adiantamento pelas partes  interessadas, resolvendo-se as indef inições nos termos do  Regulamento CAM B3. A sentença arbitral deverá determinar a  responsabilidade final pelas despesas de acordo com a sucumbência  de cada parte, as quais deverão incluir as taxas administrativas,  honorários de árbitros e de peritos e despesas com diligências  processuais e f ornecimento de garantias que sejam determinadas  expressamente pelo tribunal arbitral. É vedada a imposição de  honorários de sucumbência, bem como a determinação de indenização</a:t>
            </a:r>
          </a:p>
          <a:p>
            <a:r>
              <a:t>CNPJ 54871427000194 · Recompra e indenização · Condição: Documentos atuais selecionados no inventário por categoria/escopo; a data documental isolada não comprova vigência jurídica.</a:t>
            </a:r>
          </a:p>
          <a:p>
            <a:r>
              <a:t>CNPJ 54871427000194 · Recompra e indenização · Versão e prevalência: Documentos atuais selecionados no inventário por categoria/escopo; a data documental isolada não comprova vigência jurídica.</a:t>
            </a:r>
          </a:p>
          <a:p>
            <a:r>
              <a:t>CNPJ 54871427000194 · Recompra e indenização · Resumo do histórico: {"count": 2, "dates": ["2024-04-19", "2024-04-28"], "document_count": 2, "sources": [{"document_id": "670691", "title": "Regulamento", "reference_date": "2024-04-28", "version": "1", "page": "10-12", "url": "https://fnet.bmfbovespa.com.br/fnet/publico/visualizarDocumento?id=670691", "sha256": "bf16dd7f1a62d5cdbf2e2d54fef81783783f7310fbc99c3a8f00459bdf9d037b"}, {"document_id": "670689", "title": "Regulamento", "reference_date": "2024-04-19", "version": "1", "page": 10, "clause": "4.7.5", "url": "https://fnet.bmfbovespa.com.br/fnet/publico/visualizarDocumento?id=670689", "sha256": "891bc9bc5d87bbc02ec139077a84d2702eb81ea02035fb71d24f5b8366b94a0b"}], "reference": {"path": "history/54871427000194.json", "criterion_id": "repurchase", "total_count": 2, "preview_count": 2, "full_text_deferred": true, "sha256": "35d7cd99be50c7287c9fb675cf4f2e736002315295a225a9efa79c8d9186d874"}}</a:t>
            </a:r>
          </a:p>
          <a:p>
            <a:r>
              <a:t>CNPJ 60010416000112 · Recompra e indenização · Regulamento · ID 1051393 · 2025-10-09 · versão 1 · p. 10 · 4.4.5 · https://fnet.bmfbovespa.com.br/fnet/publico/visualizarDocumento?id=1051393</a:t>
            </a:r>
          </a:p>
          <a:p>
            <a:r>
              <a:t>CNPJ 60010416000112 · Recompra e indenização · Excerto da fonte:</a:t>
            </a:r>
          </a:p>
          <a:p>
            <a:r>
              <a:t>4.4.5. Caso um Direito Creditório endossado à Classe deixe de atender quaisquer Critérios de  Elegibilidade, quaisquer condições de endosso e/ou quaisquer declarações e garantias referentes  a esse Direito Creditório, conforme previsto no Contrato de Endosso, após seu endosso à Classe,  não haverá coobrigação nem direito de regresso da Classe contra o Endossante, o Administrador,  o Custodiante, o Gestor e/ou o Agente de Retenção/Cobrança, exceto em caso de má-fé, culpa  ou dolo comprovado, hipótese em que a parte que agiu com má-f é, culpa ou dolo comprovado  poderá ser responsabilizada pelas perdas incorridas pela Classe em relação aos respectivos  Direitos Creditórios. Se, entretanto, for constatado que um Direito Creditório endossado à Classe  não estava em conformidade com os Critérios de Elegibilidade, condições de endosso ou com as  declarações e garantias prestadas pelo Endossante no Contrato de Endosso, na respectiva data  de endosso, então o endosso desse Direito Creditório poderá ser objeto de resolução pela Classe.</a:t>
            </a:r>
          </a:p>
          <a:p>
            <a:r>
              <a:t> Nessa hipótese, a Classe terá o direito de resolver o endosso desse Direito Creditório, devolvendo-  o ao Endossante por valor a ser restituído à Classe. Adicionalmente, se f or constatado que um  Direito Creditório endossado à Classe não estava em conf ormidade com as declarações e  garantias prestadas pelo Agente de Retenção/Cobrança no Contrato de Endosso, na respectiva  data de endosso, então a Classe terá o direito de vender esse Direito Creditório ao Agente de  Retenção/Cobrança (opção de venda). A retrovenda ou a venda, conforme o caso, será realizada  de acordo com os termos, condições, formalidades e preços de recompra compulsória e opção de  venda detalhados no Contrato de Endosso.</a:t>
            </a:r>
          </a:p>
          <a:p>
            <a:r>
              <a:t>CNPJ 60010416000112 · Recompra e indenização · Regulamento · ID 1051393 · 2025-10-09 · versão 1 · p. 30 · 12.5.1 · https://fnet.bmfbovespa.com.br/fnet/publico/visualizarDocumento?id=1051393</a:t>
            </a:r>
          </a:p>
          <a:p>
            <a:r>
              <a:t>CNPJ 60010416000112 · Recompra e indenização · Excerto da fonte:</a:t>
            </a:r>
          </a:p>
          <a:p>
            <a:r>
              <a:t>12.5.1. Independentemente do acima disposto, na hipótese de venda de qualquer parte dos Direitos  Creditórios Elegíveis a terceiros, inclusive no caso de liquidação da Classe, o Agente de  Retenção/Cobrança terá o direito de receber uma remuneração, no dia em que a parte da carteira  de Direitos Creditórios Elegíveis f or efetivamente vendida (ou seja, no dia de seu f echamento  f inanceiro), correspondente ao RAC do valor do preço de venda dessa carteira (“Preço de Venda”),  multiplicado pelo número de anos restantes até o vencimento f inal e pagamento de cada Direito  Creditório Elegível na carteira; observado que, para f ins do cálculo da remuneração devida ao  Agente de Retenção/Cobrança nos termos deste item, o preço de venda de qualquer Direito  Creditório Inadimplido vendido nos termos deste item será equivalente a 0 (zero). Para evitar  qualquer dúvida, as Partes concordam que a remuneração estabelecida neste item não será  devida ao Agente de Retenção/Cobrança no caso de venda de Direitos Creditórios Elegíveis no  contexto de uma portabilidade da respectiva CCB para outra instituição f inanceira, ou na  ocorrência de um evento de recompra compulstória ou de um evento de opção de venda, de acordo  com os termos do respectivo Contrato de Endosso.</a:t>
            </a:r>
          </a:p>
          <a:p>
            <a:r>
              <a:t>CNPJ 60010416000112 · Recompra e indenização · Regulamento · ID 1051393 · 2025-10-09 · versão 1 · p. 11 · https://fnet.bmfbovespa.com.br/fnet/publico/visualizarDocumento?id=1051393</a:t>
            </a:r>
          </a:p>
          <a:p>
            <a:r>
              <a:t>CNPJ 60010416000112 · Recompra e indenização · Excerto da fonte:</a:t>
            </a:r>
          </a:p>
          <a:p>
            <a:r>
              <a:t>Anexo I ao Regulamento CLASSE ÚNICA DO MT I CONSIGNADO PRIVADO I FUNDO DE INVESTIMENTO EM DIREITOS CREDITÓRIOS RESPONSABILIDADE LIMITADA  com a transf erência, à Classe, de f orma definitiva, sem coobrigação do Endossante, da plena  titularidade desse Direito Creditório, juntamente com todos os direitos, privilégios, pref erências,  prerrogativas, garantias e ações a ele relacionados, bem como correção monetária, juros e  encargos, sem prejuízo do direito da Classe (i) de exigir a recompra compulsória do respectivo  Direito Creditório, de acordo com os termos do Contrato de Endosso; ou (ii) de vender Direitos  Creditórios ao Agente de Retenção/Cobrança (opção de venda), em ambos os casos estritamente  nos termos do Contrato de Endosso.</a:t>
            </a:r>
          </a:p>
          <a:p>
            <a:r>
              <a:t>CNPJ 60010416000112 · Recompra e indenização · Condição: Documentos atuais selecionados no inventário por categoria/escopo; a data documental isolada não comprova vigência jurídica.</a:t>
            </a:r>
          </a:p>
          <a:p>
            <a:r>
              <a:t>CNPJ 60010416000112 · Recompra e indenização · Versão e prevalência: Documentos atuais selecionados no inventário por categoria/escopo; a data documental isolada não comprova vigência jurídica.</a:t>
            </a:r>
          </a:p>
          <a:p>
            <a:r>
              <a:t>CNPJ 60010416000112 · Recompra e indenização · Resumo do histórico: {"count": 2, "dates": ["2025-03-20", "2025-10-09"], "document_count": 2, "sources": [{"document_id": "1051393", "title": "Regulamento", "reference_date": "2025-10-09", "version": "1", "page": "10-11", "url": "https://fnet.bmfbovespa.com.br/fnet/publico/visualizarDocumento?id=1051393", "sha256": "8469d613078ffd5a6c1d217885d8a397a16342c0b937ae4aa24b106505f233ae"}, {"document_id": "993786", "title": "Regulamento", "reference_date": "2025-03-20", "version": "1", "page": 10, "clause": "4.4.5", "url": "https://fnet.bmfbovespa.com.br/fnet/publico/visualizarDocumento?id=993786", "sha256": "fd0fdd369a195510d81f81f505195a0b09e5f43522a990afa7d58c4f872921c8"}], "reference": {"path": "history/60010416000112.json", "criterion_id": "repurchase", "total_count": 2, "preview_count": 2, "full_text_deferred": true, "sha256": "8e2bd813f4c51cf01f6bfaad164bafe69d2bbb192f753eac92da3a01c2e63046"}}</a:t>
            </a:r>
          </a:p>
          <a:p>
            <a:r>
              <a:t>CNPJ 62696791000193 · Recompra e indenização · Regulamento · ID 1143317 · 2026-03-20 · versão 1 · p. 16 · 5.1 · https://fnet.bmfbovespa.com.br/fnet/publico/visualizarDocumento?id=1143317</a:t>
            </a:r>
          </a:p>
          <a:p>
            <a:r>
              <a:t>CNPJ 62696791000193 · Recompra e indenização · Excerto da fonte:</a:t>
            </a:r>
          </a:p>
          <a:p>
            <a:r>
              <a:t>5.1 Os recursos recebidos pela Classe em razão da liquidação dos Direitos Creditórios do Agronegócio  e/ou dos Outros Ativos, a qualquer título, incluindo pagamento regular ou por excussão de garantia,  alienação, recompra, indenização pelo cedente e/ou desinvestimento de Direitos Creditórios do  Agronegócio e/ou dos Outros Ativos, poderão ser destinados à aquisição pela Classe de novos  Direitos Creditórios do Agronegócio e/ou dos Outros Ativos e/ou destinados ao resgate das Cotas,  conf orme decisão do Gestor e desde que observada a ordem de alocação de recursos.</a:t>
            </a:r>
          </a:p>
          <a:p>
            <a:r>
              <a:t>6 ORDEM DE ALOCAÇÃO DE RECURSOS</a:t>
            </a:r>
          </a:p>
          <a:p>
            <a:r>
              <a:t>CNPJ 62696791000193 · Recompra e indenização · Condição: Documentos atuais selecionados no inventário por categoria/escopo; a data documental isolada não comprova vigência jurídica.</a:t>
            </a:r>
          </a:p>
          <a:p>
            <a:r>
              <a:t>CNPJ 62696791000193 · Recompra e indenização · Versão e prevalência: Documentos atuais selecionados no inventário por categoria/escopo; a data documental isolada não comprova vigência jurídica.</a:t>
            </a:r>
          </a:p>
          <a:p>
            <a:r>
              <a:t>CNPJ 55563624000109 · Recompra e indenização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Recompra e indenização · Resumo do histórico: {"count": 1, "dates": ["2026-04-30"], "document_count": 1, "sources": [{"document_id": "1192614", "title": "Regulamento", "reference_date": "2026-04-30", "version": "1", "page": "14", "url": "https://fnet.bmfbovespa.com.br/fnet/publico/visualizarDocumento?id=1192614", "sha256": "f56e63ace0acde41d2f47fb48f1ac7f3f7df5e2d32de092d7c5e075a52516632"}], "reference": {"path": "history/55563624000109.json", "criterion_id": "repurchase", "total_count": 1, "preview_count": 1, "full_text_deferred": true, "sha256": "7835d573fb58a3c19adf5b8ecc2aee2bdbb9a88f7a0c0209b5f262b64c7522e3"}}</a:t>
            </a:r>
          </a:p>
          <a:p>
            <a:r>
              <a:t>CNPJ 62552447000120 · Recompra e indenização · Regulamento · ID 1200623 · 2026-05-21 · versão 1 · p. 14 · 4.14 · https://fnet.bmfbovespa.com.br/fnet/publico/visualizarDocumento?id=1200623</a:t>
            </a:r>
          </a:p>
          <a:p>
            <a:r>
              <a:t>CNPJ 62552447000120 · Recompra e indenização · Excerto da fonte:</a:t>
            </a:r>
          </a:p>
          <a:p>
            <a:r>
              <a:t>4.14 Os recursos recebidos pela Classe em razão da liquidação dos Direitos Creditórios, a qualquer título,  incluindo pagamento regular ou por excussão de garantia, alienação, recompra, indenização pelo  Endossante, poderão ser destinados à aquisição pela Classe de novos Direitos Creditórios e/ou  destinados à Amortização, conforme decisão do Gestor e desde que observada a ordem de alocação  de recursos def inida no item 8.1 abaixo.</a:t>
            </a:r>
          </a:p>
          <a:p>
            <a:r>
              <a:t>Ativos Recuperados</a:t>
            </a:r>
          </a:p>
          <a:p>
            <a:r>
              <a:t>CNPJ 62552447000120 · Recompra e indenização · Regulamento · ID 1200623 · 2026-05-21 · versão 1 · p. 35 · https://fnet.bmfbovespa.com.br/fnet/publico/visualizarDocumento?id=1200623</a:t>
            </a:r>
          </a:p>
          <a:p>
            <a:r>
              <a:t>CNPJ 62552447000120 · Recompra e indenização · Excerto da fonte:</a:t>
            </a:r>
          </a:p>
          <a:p>
            <a:r>
              <a:t>ativos desses emissores, causando perdas à Classe e ao Cotista. Além disso, a f alta de capacidade ou disposição de pagar por qualquer dos emissores dos Ativos Financeiros de Liquidez ou das contrapartes nas transações que compõem a Carteira causará perdas à Classe, e o que também poderá incorrer em custos para f ins de recuperação de seus recebíveis.</a:t>
            </a:r>
          </a:p>
          <a:p>
            <a:r>
              <a:t>(v) Riscos associados aos Devedores: no caso de Devedores no âmbito das operações de consignado privado, a sua capacidade de pagamento poderá ser af etada se, por exemplo, o Devedor tiver o seu contrato de emprego rescindido ou em virtude de decisão judicial, o Devedor for obrigado a pagar alimentos, que têm prioridade sobre o empréstimo para f ins de desconto na f 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 etar a rentabilidade da Classe. Já no caso de Devedores no âmbito das operações de Saque-aniversário, como os Direitos Creditórios a serem endossados à Classe serão descontados pelo FGTS da remuneração do Devedor, na ocorrência de qualquer evento que, nos termos da legislação aplicável, determine o pagamento antecipado do Saque-aniversário ao Devedor, a exemplo do falecimento do Devedor, dentre outros, as parcelas do Saque- aniversário serão pagas antecipadamente e a Classe deverá utilizar tais montantes no pré-pagamento dos Direitos Creditórios. Nesta hipótese, a Classe poderá não encontrar Direitos Creditórios disponíveis para serem adquiridos pela Classe, o que poderá af etar a rentabilidade da Classe.</a:t>
            </a:r>
          </a:p>
          <a:p>
            <a:r>
              <a:t>Risco de liquidez</a:t>
            </a:r>
          </a:p>
          <a:p>
            <a:r>
              <a:t>(i) Risco de liquidez: consiste no risco de redução ou inexistência de demanda pelos ativos que compõem a Classe nos respectivos mercados em que são negociados, devido às condições específicas desses ativos ou aos mercados em que são negociados. Devido a esses riscos, o Gestor poderá encontrar dificuldades em liquidar posições ou negociar esses ativos pelo preço e prazo desejados, de acordo com a estratégia de gestão adotada pela Classe, que permanecerá exposto, durante o período de baixa liquidez, aos riscos associados a esses ativos e posições assumidas em mercados de derivativos, se houver, que poderão até exigir que o Gestor aceite descontos em seus preços para realizar negociações no mercado. Esses f atores poderão prejudicar o pagamento de Amortizações ao Cotista, nos valores e dentro dos termos aqui estabelecidos.</a:t>
            </a:r>
          </a:p>
          <a:p>
            <a:r>
              <a:t>(ii) Riscos do mercado secundário: A Classe é constituída sob a f orma de condomínio fechado, de modo que as Cotas somente serão resgatadas em virtude da liquidação da Classe. Uma vez que o Prazo de Duração da Classe é indeterminado, o Cotista titular das Cotas não terá liquidez em seu investimento na Classe, exceto</a:t>
            </a:r>
          </a:p>
          <a:p>
            <a:r>
              <a:t>(a) por ocasião das Amortizações e dos resgates, nos termos deste Regulamento; (b) por meio da alienação de suas Cotas no mercado secundário; ou (c) na liquidação antecipada do FUNDO ou da Classe.</a:t>
            </a:r>
          </a:p>
          <a:p>
            <a:r>
              <a:t>Além disso, atualmente, o mercado secundário de cotas de fundos de investimento apresenta baixa liquidez, o que pode dificultar a venda das Cotas ou ocasionar a obtenção de um preço de venda que cause perda de patrimônio ao Cotista. Não há qualquer garantia do Administrador, do Gestor, da consultora ou do Custodiante em relação à possibilidade de venda das Cotas no mercado secundário ou ao preço obtido por elas, ou mesmo garantia de saída ao Cotista.</a:t>
            </a:r>
          </a:p>
          <a:p>
            <a:r>
              <a:t>Riscos específicos</a:t>
            </a:r>
          </a:p>
          <a:p>
            <a:r>
              <a:t>(i)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ficar inadimplente e, consequentemente, não haverá repasse à Classe do respectivo Direito Creditório, o que poderá resultar em perdas f inanceiras à Classe e aos Cotistas. Para os f ins deste Regulamento, “Empregador” signif ica a empresa com qual o Devedor mantém vínculo empregatício registrado junto à CTPS.</a:t>
            </a:r>
          </a:p>
          <a:p>
            <a:r>
              <a:t>(ii) Risco do Empregador não efetuar o desconto em folha: o repasse dos recursos oriundos dos Direitos Creditórios à Classe depende da realização, pelo Empregador, da escrituração da Consignação a ser</a:t>
            </a:r>
          </a:p>
          <a:p>
            <a:r>
              <a:t>CNPJ 62552447000120 · Recompra e indenização · Condição: Documentos atuais selecionados no inventário por categoria/escopo; a data documental isolada não comprova vigência jurídica.</a:t>
            </a:r>
          </a:p>
          <a:p>
            <a:r>
              <a:t>CNPJ 62552447000120 · Recompra e indenização · Versão e prevalência: Documentos atuais selecionados no inventário por categoria/escopo; a data documental isolada não comprova vigência jurídica.</a:t>
            </a:r>
          </a:p>
          <a:p>
            <a:r>
              <a:t>CNPJ 63953620000165 · Recompra e indenização · Anexo ao Regulamento · ID 1222863 · 2026-06-02 · versão 1 · p. 7 · 4.17.1 · https://fnet.bmfbovespa.com.br/fnet/publico/visualizarDocumento?id=1222863</a:t>
            </a:r>
          </a:p>
          <a:p>
            <a:r>
              <a:t>CNPJ 63953620000165 · Recompra e indenização · Excerto da fonte:</a:t>
            </a:r>
          </a:p>
          <a:p>
            <a:r>
              <a:t>4.17.1 Durante o Período de Investimento, os recursos recebidos pela Classe em razão da liquidação dos  Direitos Creditórios, a qualquer título, incluindo pagamento regular ou por excussão de garantia,  alienação, recompra, indenização pelo Cedente e/ou desinvestimento de Ativo Recuperado, poderão  ser destinados à aquisição pela Classe de novos Direitos Creditórios e/ou destinados à Amortização das  Cotas, observado que (i) a aquisição de novos Direitos Creditórios dependerá, em qualquer hipótese, de  oferta realizada pelo Endossante; e (ii) a destinação dos recursos à Amortização das Cotas será realizada  nos termos do item 7.2, observada a ordem de alocação definida no item 8.1 do presente Anexo.</a:t>
            </a:r>
          </a:p>
          <a:p>
            <a:r>
              <a:t>CNPJ 63953620000165 · Recompra e indenização · Anexo ao Regulamento · ID 1222863 · 2026-06-02 · versão 1 · p. 7 · 4.17.2 · https://fnet.bmfbovespa.com.br/fnet/publico/visualizarDocumento?id=1222863</a:t>
            </a:r>
          </a:p>
          <a:p>
            <a:r>
              <a:t>CNPJ 63953620000165 · Recompra e indenização · Excerto da fonte:</a:t>
            </a:r>
          </a:p>
          <a:p>
            <a:r>
              <a:t>4.17.2 Encerrado o Período de Investimento, os recursos recebidos pela Classe em razão da liquidação dos  Direitos Creditórios, a qualquer título, incluindo pagamento regular ou por excussão de garantia,  alienação, recompra, indenização pelo Cedente e/ou desinvestimento de Ativo Recuperado, não  poderão ser destinados à aquisição pela Classe de novos Direitos Creditórios, aplicando-se, de resto, o  disposto no item 8.1 abaixo no que se refere à ordem de alocação de tais recursos.</a:t>
            </a:r>
          </a:p>
          <a:p>
            <a:r>
              <a:t>CNPJ 63953620000165 · Recompra e indenização · Anexo ao Regulamento · ID 1222863 · 2026-06-02 · versão 1 · p. 26 · https://fnet.bmfbovespa.com.br/fnet/publico/visualizarDocumento?id=1222863</a:t>
            </a:r>
          </a:p>
          <a:p>
            <a:r>
              <a:t>CNPJ 63953620000165 · Recompra e indenização · Excerto da fonte:</a:t>
            </a:r>
          </a:p>
          <a:p>
            <a:r>
              <a:t>Complemento I  (Ao Anexo I)  FATORES DE RISCO APLICÁVEIS À CLASSE CONSIGNADO PRIVADO DO MT GLOBAL FUNDO DE INVESTIMENTO EM  DIREITOS CREDITÓRIOS RESPONSABILIDADE LIMITADA  Risco de Crédito</a:t>
            </a:r>
          </a:p>
          <a:p>
            <a:r>
              <a:t> (i) Riscos associados aos Devedores: os Direitos Creditórios a serem endossados à Classe serão descontados  pela Dataprev da remuneração do Devedor. A capacidade de pagamento do Devedor poderá ser afetada se,  por exemplo, o Devedor tiver o seu contrato de emprego rescindido ou em virtude de decisão judicial, o  Devedor for obrigado a pagar alimentos, que têm prioridade sobre o empréstimo para fins de desconto na  folha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afetar a rentabilidade da Classe.</a:t>
            </a:r>
          </a:p>
          <a:p>
            <a:r>
              <a:t> (ii)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referido Devedor poderá  ficar inadimplente e, consequentemente, não haverá repasse à Classe do respectivo Direito Creditório, o  que poderá resultar em perdas financeiras à Classe e aos Cotistas.</a:t>
            </a:r>
          </a:p>
          <a:p>
            <a:r>
              <a:t> (iii) Risco do Empregador não efetuar o desconto em folha: o repasse dos recursos oriundos dos Direitos  Creditórios à Classe depende da realização, pelo Empregador, da Escrituração e do desconto na respectiva  folha de pagamento do Devedor. Na hipótese do Empregador deixar de realizar a Escrituração ou os  descontos na folha de pagamento, não haverá repasse de recursos à Classe, podendo causar prejuízos à  Classe e aos Cotistas.</a:t>
            </a:r>
          </a:p>
          <a:p>
            <a:r>
              <a:t> (iv) Risco de perda do vínculo empregatício com o Empregador: caso o Devedor perca o vínculo empregatício  com o Empregador, não haverá remuneração e folha de pagamento para realização dos descontos para  pagamento dos Direitos Creditórios. Neste caso, não obstante a possibilidade do Agente de  Retenção/Cobrança realizar a cobrança ativa dos Direitos Creditórios diretamente do Devedor, a ausência  de remuneração poderá deixar o Devedor inadimplente perante a Classe até que o seu vínculo empregatício  seja retomado e seja efetuado o procedimento operacional para que a CCB seja aditada e/ou seja realizado  o Processo de Reinicialização. Tais situações poderão resultar em prejuízos à Classe e aos Cotistas.</a:t>
            </a:r>
          </a:p>
          <a:p>
            <a:r>
              <a:t> Riscos Operacionais</a:t>
            </a:r>
          </a:p>
          <a:p>
            <a:r>
              <a:t> (i) Risco de irregularidade dos Documentos Comprobatórios e/ou Documentos Suporte: o Gestor, ou  terceiro por ele contratado, deverá realizar a verificação da regularidade dos Documentos Comprobatórios  e Documentos Suporte. A Carteira poderá conter Direitos Creditórios com documentação irregular, o que  poderá impedir que a Classe exerça plenamente as prerrogativas derivadas da titularidade dos Direitos  Creditórios. O Gestor poderá contratar empresas especializadas, com comprovada competência e  adequação, para realizar a guarda física, manutenção, armazenamento, organização e digitalização dos  Documentos Comprobatórios e Documentos Suporte, que estarão sob total responsabilidade do Gestor,  permanecendo as empresas como agentes depositários dos Documentos Comprobatórios e Documentos  Suporte.</a:t>
            </a:r>
          </a:p>
          <a:p>
            <a:r>
              <a:t> (ii) Risco operacional da Dataprev e da CEF: o empréstimo contraído pelos Devedores é pago por meio de  desconto na folha de pagamento feito pela Dataprev e pela CEF, conforme aplicável. É possível que os  rendimentos dos Devedores sejam atrasados ou não pagos devido a questões operacionais envolvendo a  Dataprev e/ou a CEF. Nesse caso, a Carteira poderá sofrer, já que não receberá automaticamente, e  também poderá ter dificuldades para receber, a qualquer momento, os recursos decorrentes dos Direitos  Creditórios.</a:t>
            </a:r>
          </a:p>
          <a:p>
            <a:r>
              <a:t>CNPJ 63953620000165 · Recompra e indenização · Condição: Documentos atuais selecionados no inventário por categoria/escopo; a data documental isolada não comprova vigência jurídica.</a:t>
            </a:r>
          </a:p>
          <a:p>
            <a:r>
              <a:t>CNPJ 63953620000165 · Recompra e indenização · Versão e prevalência: Documentos atuais selecionados no inventário por categoria/escopo; a data documental isolada não comprova vigência jurídica.</a:t>
            </a:r>
          </a:p>
          <a:p>
            <a:r>
              <a:t>CNPJ 63953620000165 · Recompra e indenização · Resumo do histórico: {"count": 8, "dates": ["2026-04-28", "2026-05-08", "2026-05-15"], "document_count": 3, "sources": [{"document_id": "1327859", "title": "Demonstrações Financeiras - Fusão, cisão e incorporação", "reference_date": "2026-05-15", "version": "1", "page": 16, "url": "https://fnet.bmfbovespa.com.br/fnet/publico/visualizarDocumento?id=1327859", "sha256": "dca1c68babb97f887528c3e2e47596a9c30f507b067981a35655b2f2da9c8054"}, {"document_id": "1298691", "title": "Demonstrações Financeiras - Fusão, cisão e incorporação", "reference_date": "2026-05-08", "version": "1", "page": 16, "url": "https://fnet.bmfbovespa.com.br/fnet/publico/visualizarDocumento?id=1298691", "sha256": "58c570d9b8d4d265330d3db3ea81c435b8e44a6dab4002aa37790652a1ee9819"}, {"document_id": "1282180", "title": "Demonstrações Financeiras - Fusão, cisão e incorporação", "reference_date": "2026-04-28", "version": "1", "page": 16, "url": "https://fnet.bmfbovespa.com.br/fnet/publico/visualizarDocumento?id=1282180", "sha256": "afaaa0e6809be4385e5bdb6c911aac582032c5bdbac3d7750234bf9eaf00438a"}], "reference": {"path": "history/63953620000165.json", "criterion_id": "repurchase", "total_count": 8, "preview_count": 3, "full_text_deferred": true, "sha256": "a7b89077f5e21098c2d601c303faabc3ff6b9729f89d8afecdc60fe1404720c1"}}</a:t>
            </a:r>
          </a:p>
          <a:p>
            <a:r>
              <a:t>CNPJ 54871427000194 · Coobrigação e retenção de risco · Regulamento · ID 670691 · 28/04/2024 · versão Regulamento — referência 28/04/2024 · p. 10 · Anexo I, 4.7.2 e 4.7.4 · https://fnet.bmfbovespa.com.br/fnet/publico/visualizarDocumento?id=670691</a:t>
            </a:r>
          </a:p>
          <a:p>
            <a:r>
              <a:t>CNPJ 54871427000194 · Coobrigação e retenção de risco · Excerto da fonte:</a:t>
            </a:r>
          </a:p>
          <a:p>
            <a:r>
              <a:t>4.7.2 Caso um Direito Creditório cedido à Classe deixe de atender quaisquer Critérios de Elegibilidade e/ou quaisquer declarações e garantias ref erentes a esse Direito Creditório, conf orme previsto no respectivo Contrato de Endosso, após seu endosso à Classe, não haverá coobrigação nem direito de regresso da Classe contra o ADMINISTRADOR, o CUSTODIANTE o GESTOR e/ou o Endossante. 4.7.3 A f ormalização de cada aquisição de Direitos Creditórios pela Classe deverá incluir o endosso eletrônico em preto de cada CCB representativa do respectivo Direito Creditório em f avor da Classe, inclusive, mas não necessariamente, por meio d a celebração de Termos de Endosso (os quais, para f ins de esclarecimento, poderão ser levados a registro junto aos cartórios de Registro de Títulos e Documentos competentes, a exclusivo critério do GESTOR, em casos excepcionais em que tal registro possa ser considerado necessário para f ins de ef icácia das respectivas cessões perante terceiros, tendo em vista a transmiss ão das CCB mediante endosso em preto, nos termos deste Regulamento e da legislação aplicável). 4.7.4 Após a f ormalizaçã</a:t>
            </a:r>
          </a:p>
          <a:p>
            <a:r>
              <a:t>CNPJ 54871427000194 · Coobrigação e retenção de risco · Regulamento · ID 670691 · 28/04/2024 · versão Regulamento — referência 28/04/2024 · p. 13 · Anexo I, 4.18 · https://fnet.bmfbovespa.com.br/fnet/publico/visualizarDocumento?id=670691</a:t>
            </a:r>
          </a:p>
          <a:p>
            <a:r>
              <a:t>CNPJ 54871427000194 · Coobrigação e retenção de risco · Excerto da fonte:</a:t>
            </a:r>
          </a:p>
          <a:p>
            <a:r>
              <a:t>4.18 Exceto na medida em que eventualmente previsto nos Contratos de Cessão e/ou em instrumentos eventualmente celebrados entre a Classe e os Endossantes, os Endossantes não serão responsáveis em caso de eventual inadimplemento dos Direitos Creditórios por eles cedidos, sendo responsáveis, não obstante, apenas pela existência, certeza, conteúdo, exatidão, veracidade, legitimidade, validade e correta f ormalização dos Direitos Creditórios que cederem à Classe, nos termos da legislação aplicável. 4.19 A Classe, o ADMINISTRADOR e o GESTOR, bem como seus controladores, sociedades coligadas, controladas ou sob controle comum, e/ou subsidiárias, não respondem pela certeza, liquidez, exigibilidade, conteúdo, exatidão, veracidade, legitimidade, validade e/ou correta f ormalização dos Direitos Creditórios adquiridos pela Classe, tampouco pela solvência dos Devedores e/ou Endossantes dos respectivos Direitos Creditórios. 4.20 Sem prejuízo do disposto no item 4.19 acima e, observado o disposto no item Erro! Fonte de referência não encontrada., o CUSTODIANTE f oi contratado pelo GESTOR para verificar e validar, na Data de Aquisição dos Direitos Creditórios pela Classe, o atendimento dos Direitos</a:t>
            </a:r>
          </a:p>
          <a:p>
            <a:r>
              <a:t>CNPJ 54871427000194 · Coobrigação e retenção de risco · Versão e prevalência: Leitura específica das cláusulas indicadas; condições e conflitos preservados. Seleção documental atual não comprova vigência jurídica por data isolada.</a:t>
            </a:r>
          </a:p>
          <a:p>
            <a:r>
              <a:t>CNPJ 54871427000194 · Coobrigação e retenção de risco · Resumo do histórico: {"count": 2, "dates": ["2024-04-19", "2024-04-28"], "document_count": 2, "sources": [{"document_id": "670691", "title": "Regulamento", "reference_date": "2024-04-28", "version": "1", "page": "10-12", "url": "https://fnet.bmfbovespa.com.br/fnet/publico/visualizarDocumento?id=670691", "sha256": "bf16dd7f1a62d5cdbf2e2d54fef81783783f7310fbc99c3a8f00459bdf9d037b"}, {"document_id": "670689", "title": "Regulamento", "reference_date": "2024-04-19", "version": "1", "page": 10, "clause": "4.7.3", "url": "https://fnet.bmfbovespa.com.br/fnet/publico/visualizarDocumento?id=670689", "sha256": "891bc9bc5d87bbc02ec139077a84d2702eb81ea02035fb71d24f5b8366b94a0b"}], "reference": {"path": "history/54871427000194.json", "criterion_id": "coobligation", "total_count": 2, "preview_count": 2, "full_text_deferred": true, "sha256": "35d7cd99be50c7287c9fb675cf4f2e736002315295a225a9efa79c8d9186d874"}}</a:t>
            </a:r>
          </a:p>
          <a:p>
            <a:r>
              <a:t>CNPJ 60010416000112 · Coobrigação e retenção de risco · Regulamento · ID 1051393 · 09/10/2025 · versão Regulamento09/10/2025 · p. 10 · AnexoI4.4.5 · https://fnet.bmfbovespa.com.br/fnet/publico/visualizarDocumento?id=1051393</a:t>
            </a:r>
          </a:p>
          <a:p>
            <a:r>
              <a:t>CNPJ 60010416000112 · Coobrigação e retenção de risco · Excerto da fonte:</a:t>
            </a:r>
          </a:p>
          <a:p>
            <a:r>
              <a:t>4.4.5. Caso um Direito Creditório endossado à Classe deixe de atender quaisquer Critérios de Elegibilidade, quaisquer condições de endosso e/ou quaisquer declarações e garantias referentes a esse Direito Creditório, conforme previsto no Contrato de Endosso, após seu endosso à Classe, não haverá coobrigação nem direito de regresso da Classe contra o Endossante, o Administrador, o Custodiante, o Gestor e/ou o Agente de Retenção/Cobrança, exceto em caso de má-fé, culpa ou dolo comprovado, hipótese em que a parte que agiu com má-f é, culpa ou dolo comprovado</a:t>
            </a:r>
          </a:p>
          <a:p>
            <a:r>
              <a:t>CNPJ 60010416000112 · Coobrigação e retenção de risco · Regulamento · ID 1051393 · 09/10/2025 · versão Regulamento09/10/2025 · p. 11 · AnexoI4.4.7 · https://fnet.bmfbovespa.com.br/fnet/publico/visualizarDocumento?id=1051393</a:t>
            </a:r>
          </a:p>
          <a:p>
            <a:r>
              <a:t>CNPJ 60010416000112 · Coobrigação e retenção de risco · Excerto da fonte:</a:t>
            </a:r>
          </a:p>
          <a:p>
            <a:r>
              <a:t>sem coobrigação do Endossante, da plena titularidade desse Direito Creditório, juntamente com todos os direitos, privilégios, pref erências, prerrogativas, garantias e ações a ele relacionados, bem como correção monetária, juros e encargos, sem prejuízo do direito da Classe (i) de exigir a recompra compulsória do respectivo Direito Creditório, de acordo com os termos do Contrato de Endosso; ou (ii) de vender Direitos Creditórios ao Agente de Retenção/Cobrança (opção de venda), em ambos os casos estritamente nos termos do Contrato de Endosso.</a:t>
            </a:r>
          </a:p>
          <a:p>
            <a:r>
              <a:t>CNPJ 60010416000112 · Coobrigação e retenção de risco · Versão e prevalência: Leitura específica das cláusulas indicadas; condições e conflitos preservados. Seleção documental atual não comprova vigência jurídica por data isolada.</a:t>
            </a:r>
          </a:p>
          <a:p>
            <a:r>
              <a:t>CNPJ 60010416000112 · Coobrigação e retenção de risco · Resumo do histórico: {"count": 2, "dates": ["2025-03-20", "2025-10-09"], "document_count": 2, "sources": [{"document_id": "1051393", "title": "Regulamento", "reference_date": "2025-10-09", "version": "1", "page": "10-11", "url": "https://fnet.bmfbovespa.com.br/fnet/publico/visualizarDocumento?id=1051393", "sha256": "8469d613078ffd5a6c1d217885d8a397a16342c0b937ae4aa24b106505f233ae"}, {"document_id": "993786", "title": "Regulamento", "reference_date": "2025-03-20", "version": "1", "page": 10, "clause": "4.4.5", "url": "https://fnet.bmfbovespa.com.br/fnet/publico/visualizarDocumento?id=993786", "sha256": "fd0fdd369a195510d81f81f505195a0b09e5f43522a990afa7d58c4f872921c8"}], "reference": {"path": "history/60010416000112.json", "criterion_id": "coobligation", "total_count": 2, "preview_count": 2, "full_text_deferred": true, "sha256": "8e2bd813f4c51cf01f6bfaad164bafe69d2bbb192f753eac92da3a01c2e63046"}}</a:t>
            </a:r>
          </a:p>
          <a:p>
            <a:r>
              <a:t>CNPJ 62696791000193 · Coobrigação e retenção de risco · Regulamento · ID 1143317 · 2026-03-20 · versão 1 · p. 11 · 4.7.3 · https://fnet.bmfbovespa.com.br/fnet/publico/visualizarDocumento?id=1143317</a:t>
            </a:r>
          </a:p>
          <a:p>
            <a:r>
              <a:t>CNPJ 62696791000193 · Coobrigação e retenção de risco · Excerto da fonte:</a:t>
            </a:r>
          </a:p>
          <a:p>
            <a:r>
              <a:t>4.7.3 Na hipótese de eventuais Direitos Creditórios do Agronegócio elegíveis deixarem de atender a  qualquer Critério de Elegibilidade após sua aquisição pela Classe, tal f ato não será entendido  como um desenquadramento da carteira, tampouco haverá direito de regresso contra o  Administrador e/ou o Gestor.</a:t>
            </a:r>
          </a:p>
          <a:p>
            <a:r>
              <a:t> Limites de concentração aplicáveis aos Direitos Creditórios do Agronegócio e fundos de investimento  em Direitos Creditórios do Agronegócio investidos pela Classe</a:t>
            </a:r>
          </a:p>
          <a:p>
            <a:r>
              <a:t>CNPJ 62696791000193 · Coobrigação e retenção de risco · Regulamento · ID 1143317 · 2026-03-20 · versão 1 · p. 11 · 4.9 · https://fnet.bmfbovespa.com.br/fnet/publico/visualizarDocumento?id=1143317</a:t>
            </a:r>
          </a:p>
          <a:p>
            <a:r>
              <a:t>CNPJ 62696791000193 · Coobrigação e retenção de risco · Excerto da fonte:</a:t>
            </a:r>
          </a:p>
          <a:p>
            <a:r>
              <a:t>4.9 Nos termos do Art. 45 do Anexo Normativo II da Resolução CVM 175, a Classe poderá ter até 100%  (cem por cento) de seu Patrimônio Líquido alocado em Direitos Creditórios do Agronegócio, devidos  por um mesmo Devedor e/ou de responsabilidade ou coobrigação de Devedores de um mesmo grupo</a:t>
            </a:r>
          </a:p>
          <a:p>
            <a:r>
              <a:t>CNPJ 62696791000193 · Coobrigação e retenção de risco · Regulamento · ID 1143317 · 2026-03-20 · versão 1 · p. 41 · 7.1 · https://fnet.bmfbovespa.com.br/fnet/publico/visualizarDocumento?id=1143317</a:t>
            </a:r>
          </a:p>
          <a:p>
            <a:r>
              <a:t>CNPJ 62696791000193 · Coobrigação e retenção de risco · Excerto da fonte:</a:t>
            </a:r>
          </a:p>
          <a:p>
            <a:r>
              <a:t>7.1. Risco de Crédito relativo aos Direitos Creditórios do Agronegócio. Decorre da capacidade dos  Devedores e/ou coobrigados, conforme aplicável, de honrarem seus compromissos pontual e  integralmente, conforme contratados. A Classe sof rerá o impacto do inadimplemento dos  Direitos Creditórios do Agronegócio detidos em Carteira que estejam vencidos e não pagos e  do não cumprimento, pelos Devedores e/ou coobrigados, conf orme aplicável, de suas  obrigações nos termos dos respectivos instrumentos. A Classe somente procederá ao resgate  das Cotas em moeda corrente nacional na medida em que os Direitos Creditórios do  Agronegócio sejam pagos pelos Devedores e/ou coobrigados, conforme aplicável, e desde  que os respectivos valores sejam transferidos à Classe, não havendo garantia de que o resgate  das Cotas ocorrerá integralmente conf orme estabelecido neste Regulamento, Anexo I e  demais documentos que o integrem, conforme aplicável. Nessas hipóteses, não será devido  pela Classe, pelo pelo Administrador, pelo Gestor e/ou pelo Custodiante, qualquer multa ou  penalidade, de qualquer natureza. Em caso de instauração de pedido de f alência, recuperação  judicial, de plano de recuperação extrajudicial ou qualquer outro procedimento de insolvência  dos Devedores e/ou coobrigados, conforme aplicável, a Classe poderá não receber os  pagamentos dos Direitos Creditórios do Agronegócio que compõem sua Carteira, o que poderá  af etar adversamente os resultados da Classe.</a:t>
            </a:r>
          </a:p>
          <a:p>
            <a:r>
              <a:t>CNPJ 62696791000193 · Coobrigação e retenção de risco · Condição: Documentos atuais selecionados no inventário por categoria/escopo; a data documental isolada não comprova vigência jurídica.</a:t>
            </a:r>
          </a:p>
          <a:p>
            <a:r>
              <a:t>CNPJ 62696791000193 · Coobrigação e retenção de risco · Versão e prevalência: Documentos atuais selecionados no inventário por categoria/escopo; a data documental isolada não comprova vigência jurídica.</a:t>
            </a:r>
          </a:p>
          <a:p>
            <a:r>
              <a:t>CNPJ 55563624000109 · Coobrigação e retenção de risco · Demonstrações Financeiras · ID 1178840 · 2026-01-31 · versão 1 · p. 21 · https://fnet.bmfbovespa.com.br/fnet/publico/visualizarDocumento?id=1178840</a:t>
            </a:r>
          </a:p>
          <a:p>
            <a:r>
              <a:t>CNPJ 55563624000109 · Coobrigação e retenção de risco · Excerto da fonte:</a:t>
            </a:r>
          </a:p>
          <a:p>
            <a:r>
              <a:t>ii) Risco de sistemas. Dada a complexidade operacional própria dos fundos de  investimento em direitos creditórios, não há garantia de que as trocas de informações  entre os sistemas eletrônicos do Custodiante, da Administradora, do Gestor, da  Classe e, quando aplicável, do endossante, dos devedores e/ou coobrigados,  conforme aplicável, se darão livres de erros. Caso qualquer desses riscos venha a  se materializar, a aquisição, cobrança ou realização dos direitos creditórios poderá  ser adversamente afetada, prejudicando o desempenho da Classe.</a:t>
            </a:r>
          </a:p>
          <a:p>
            <a:r>
              <a:t>CNPJ 55563624000109 · Coobrigação e retenção de risco · Condição: Trechos do documento específico identificado com data mais recente; vigência jurídica não inferida.</a:t>
            </a:r>
          </a:p>
          <a:p>
            <a:r>
              <a:t>CNPJ 55563624000109 · Coobrigação e retenção de risco · Versão e prevalência: Trechos do documento específico identificado com data mais recente; vigência jurídica não inferida.</a:t>
            </a:r>
          </a:p>
          <a:p>
            <a:r>
              <a:t>CNPJ 55563624000109 · Coobrigação e retenção de risco · Resumo do histórico: {"count": 1, "dates": ["2025-01-31"], "document_count": 1, "sources": [{"document_id": "891861", "title": "Demonstrações Financeiras", "reference_date": "2025-01-31", "version": "1", "page": 21, "url": "https://fnet.bmfbovespa.com.br/fnet/publico/visualizarDocumento?id=891861", "sha256": "e9cb9e6ddbe505fe068cfcac33605165a98313489de0d3ce6d4d238263c3f3e7"}], "reference": {"path": "history/55563624000109.json", "criterion_id": "coobligation", "total_count": 1, "preview_count": 1, "full_text_deferred": true, "sha256": "7835d573fb58a3c19adf5b8ecc2aee2bdbb9a88f7a0c0209b5f262b64c7522e3"}}</a:t>
            </a:r>
          </a:p>
          <a:p>
            <a:r>
              <a:t>CNPJ 62552447000120 · Coobrigação e retenção de risco · Regulamento · ID 1200623 · 21/05/2026 · versão Consolidado21/05/2026 aprovado pelo ato1200625 · p. 13 · AnexoI4.6.3–4.6.4 · https://fnet.bmfbovespa.com.br/fnet/publico/visualizarDocumento?id=1200623</a:t>
            </a:r>
          </a:p>
          <a:p>
            <a:r>
              <a:t>CNPJ 62552447000120 · Coobrigação e retenção de risco · Excerto da fonte:</a:t>
            </a:r>
          </a:p>
          <a:p>
            <a:r>
              <a:t>4.6.4 Após a formalização, o endosso de um Direito Creditório Consignado Privado, Direito Creditório FGTS e Direito Creditório Refinanciamento Livre à Classe será irrevogável e irretratável, com a transf erência, à Classe, de f orma def initiva, sem coobrigação do Endossante, da plena titularidade desse Direito Creditório, juntamente com todos os direitos, privilégios, preferências, prerrogativas, garantias e ações a ele relacionados, bem como correção monetária, juros e encargos, sem prejuízo do direito da Classe (i) de exigir a resolução do endosso do respectivo D</a:t>
            </a:r>
          </a:p>
          <a:p>
            <a:r>
              <a:t>CNPJ 62552447000120 · Coobrigação e retenção de risco · Regulamento · ID 1200623 · 21/05/2026 · versão Consolidado21/05/2026 aprovado pelo ato1200625 · p. 16 · AnexoI4.22 · https://fnet.bmfbovespa.com.br/fnet/publico/visualizarDocumento?id=1200623</a:t>
            </a:r>
          </a:p>
          <a:p>
            <a:r>
              <a:t>CNPJ 62552447000120 · Coobrigação e retenção de risco · Excerto da fonte:</a:t>
            </a:r>
          </a:p>
          <a:p>
            <a:r>
              <a:t>4.22 Exceto na medida em que eventualmente previsto no s Contratos de Endosso e/ou em instrumentos eventualmente celebrados entre a Classe e o Endossante e/ou o Agente de Retenção e Cobrança, conf orme aplicável, o Endossante e/ou o Agente de Retenção e Cobrança não serão responsáveis em caso de eventual inadimplemento dos Direitos Creditórios . 4.23 A Classe, o Administrador e o Gestor, bem como seus controladores, sociedades coligadas, controladas ou sob controle comum, e/ou subsidiárias, não respondem pela certeza, liquidez, exigibilidade, conteúdo, exatidão, veracidade, legitimidade, validade e/ou co</a:t>
            </a:r>
          </a:p>
          <a:p>
            <a:r>
              <a:t>CNPJ 62552447000120 · Coobrigação e retenção de risco · Versão e prevalência: Leitura específica das cláusulas indicadas; condições e conflitos preservados. Seleção documental atual não comprova vigência jurídica por data isolada.</a:t>
            </a:r>
          </a:p>
          <a:p>
            <a:r>
              <a:t>CNPJ 63953620000165 · Coobrigação e retenção de risco · Anexo ao Regulamento · ID 1222863 · 02/06/2026 · versão AnexoConsignadoPrivado02/06/2026 · p. 6 · 4.8,4.10.3 · https://fnet.bmfbovespa.com.br/fnet/publico/visualizarDocumento?id=1222863</a:t>
            </a:r>
          </a:p>
          <a:p>
            <a:r>
              <a:t>CNPJ 63953620000165 · Coobrigação e retenção de risco · Excerto da fonte:</a:t>
            </a:r>
          </a:p>
          <a:p>
            <a:r>
              <a:t>4.10.3 Não haverá coobrigação nem direito de regresso da Classe contra o Endossante, o Administrador, o Custodiante, o Gestor e/ou o Agente de Retenção/Cobrança, exceto em caso de má-fé, culpa ou dolo comprovado, hipótese em que a parte que agiu com má-fé, culpa ou dolo comprovado poderá ser responsabilizada pelas perdas incorridas pela Classe em relação aos respectivos Direitos Creditórios Crédito Consignado. 4.11 Além dos Critérios de Elegibilidade acima mencionados, a serem verificados pelo Gestor ou terceiro por ele contratado, o Endossante e o Agente de Retenção/Cobrança declararão, expr</a:t>
            </a:r>
          </a:p>
          <a:p>
            <a:r>
              <a:t>CNPJ 63953620000165 · Coobrigação e retenção de risco · Versão e prevalência: Leitura específica das cláusulas indicadas; condições e conflitos preservados. Seleção documental atual não comprova vigência jurídica por data isolada.</a:t>
            </a:r>
          </a:p>
          <a:p>
            <a:r>
              <a:t>CNPJ 63953620000165 · Coobrigação e retenção de risco · Resumo do histórico: {"count": 8, "dates": ["2026-04-28", "2026-05-08", "2026-05-15"], "document_count": 3, "sources": [{"document_id": "1327859", "title": "Demonstrações Financeiras - Fusão, cisão e incorporação", "reference_date": "2026-05-15", "version": "1", "page": 16, "url": "https://fnet.bmfbovespa.com.br/fnet/publico/visualizarDocumento?id=1327859", "sha256": "dca1c68babb97f887528c3e2e47596a9c30f507b067981a35655b2f2da9c8054"}, {"document_id": "1298691", "title": "Demonstrações Financeiras - Fusão, cisão e incorporação", "reference_date": "2026-05-08", "version": "1", "page": 16, "url": "https://fnet.bmfbovespa.com.br/fnet/publico/visualizarDocumento?id=1298691", "sha256": "58c570d9b8d4d265330d3db3ea81c435b8e44a6dab4002aa37790652a1ee9819"}, {"document_id": "1282180", "title": "Demonstrações Financeiras - Fusão, cisão e incorporação", "reference_date": "2026-04-28", "version": "1", "page": 16, "url": "https://fnet.bmfbovespa.com.br/fnet/publico/visualizarDocumento?id=1282180", "sha256": "afaaa0e6809be4385e5bdb6c911aac582032c5bdbac3d7750234bf9eaf00438a"}], "reference": {"path": "history/63953620000165.json", "criterion_id": "coobligation",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Qualidade da carteira</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Metodologia de PDD e curva por atraso · Base da comparação IME: {"criterion_id": "pdd", "observed_value": null, "unit": "", "competence": "08/2026", "status": "not_comparable", "reason": "A curva de PDD requer atraso, contágio e garantias por operação; o agregado mensal não demonstra aplicação da metodologia.", "formula": "",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null, "comparison_required": true, "context_formula": "PDD / direitos creditórios", "context_value": 0.397174994710542, "context_unit": "percent"}</a:t>
            </a:r>
          </a:p>
          <a:p>
            <a:r>
              <a:t>CNPJ 54871427000194 · Metodologia de PDD e curva por atraso · Regulamento · ID 670691 · 28/04/2024 · versão Regulamento — referência 28/04/2024 · p. 17 · Anexo I, 9.2–9.2.1 · https://fnet.bmfbovespa.com.br/fnet/publico/visualizarDocumento?id=670691</a:t>
            </a:r>
          </a:p>
          <a:p>
            <a:r>
              <a:t>CNPJ 54871427000194 · Metodologia de PDD e curva por atraso · Excerto da fonte:</a:t>
            </a:r>
          </a:p>
          <a:p>
            <a:r>
              <a:t>9.2 As provisões para perdas e as perdas havidas com Direitos Creditórios ou com os Ativos Financeiros de Liquidez integrantes da Carteira serão, respectivamente, efetuadas ou reconhecidas nos termos da Instrução CVM 489. Desta forma, o valor do saldo dos Direitos Creditórios e/ou Ativos Financeiros de Liquidez será reduzido pelo valor da provisão ef etuada ou perda reconhecida. 9.2.1 O ef eito de perda ou provisão para devedores duvidosos de Direitos Creditórios de um mesmo Devedor deverá ser mensurado levando-se em consideração o disposto no Art. 13 da Instrução CVM 489, sendo f acultada a análise individualizada dos Direitos Creditórios, observada a metodologia de avaliação descrita no manual d o ADMINISTRADOR ou, ainda, no manual do CUSTODIANTE. CAPÍTULO 10 – ASSEMBLEIA ESPECIAL DE COTISTAS 10.1 Sem prejuízo de outros requisitos e inf ormações previstos na regulamentação vigente, são aplicáveis à Assembleia Especial de Cotistas as mesmas disposições procedimentais da Assembleia Geral de Cotistas. 10.2 A Assembleia Especial de Cotistas é responsável por deliberar sobre as matérias específicas da Classe de Cotas, sem prejuízo das demais disposições previstas</a:t>
            </a:r>
          </a:p>
          <a:p>
            <a:r>
              <a:t>CNPJ 54871427000194 · Metodologia de PDD e curva por atraso · Condição: Os percentuais do Complemento 2 são descontos de cobrança e comissões; não são alíquotas de PDD. O manual operacional referenciado permanece uma fonte separada.</a:t>
            </a:r>
          </a:p>
          <a:p>
            <a:r>
              <a:t>CNPJ 54871427000194 · Metodologia de PDD e curva por atraso · Versão e prevalência: Leitura específica das cláusulas indicadas; condições e conflitos preservados. Seleção documental atual não comprova vigência jurídica por data isolada.</a:t>
            </a:r>
          </a:p>
          <a:p>
            <a:r>
              <a:t>CNPJ 54871427000194 · Metodologia de PDD e curva por atraso · Resumo do histórico: {"count": 4, "dates": ["2024-12-31", "2025-01-01", "2025-12-31"], "document_count": 3, "sources": [{"document_id": "1151805", "title": "Demonstrações Financeiras", "reference_date": "2025-12-31", "version": "1", "page": 17, "url": "https://fnet.bmfbovespa.com.br/fnet/publico/visualizarDocumento?id=1151805", "sha256": "f1cea70b152968bf96ef9221b27225953cb20aeef487b2798db3c25e11b528d4"}, {"document_id": "869529", "title": "Demonstrações Financeiras", "reference_date": "2025-01-01", "version": "1", "page": 17, "url": "https://fnet.bmfbovespa.com.br/fnet/publico/visualizarDocumento?id=869529", "sha256": "9a93a9369ac8efdbc54ff8fcee3ccac3abf88edab4807b9323d3852450771b2a"}, {"document_id": "870070", "title": "Demonstrações Financeiras", "reference_date": "2024-12-31", "version": "1", "page": 17, "url": "https://fnet.bmfbovespa.com.br/fnet/publico/visualizarDocumento?id=870070", "sha256": "9a93a9369ac8efdbc54ff8fcee3ccac3abf88edab4807b9323d3852450771b2a"}], "reference": {"path": "history/54871427000194.json", "criterion_id": "pdd", "total_count": 4, "preview_count": 3, "full_text_deferred": true, "sha256": "35d7cd99be50c7287c9fb675cf4f2e736002315295a225a9efa79c8d9186d874"}}</a:t>
            </a:r>
          </a:p>
          <a:p>
            <a:r>
              <a:t>CNPJ 60010416000112 · Metodologia de PDD e curva por atraso · Base da comparação IME: {"criterion_id": "pdd", "observed_value": null, "unit": "", "competence": "08/2026", "status": "not_comparable", "reason": "A curva de PDD requer atraso, contágio e garantias por operação; o agregado mensal não demonstra aplicação da metodologia.", "formula": "",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null, "comparison_required": true, "context_formula": "PDD / direitos creditórios", "context_value": 19.008881839133778, "context_unit": "percent"}</a:t>
            </a:r>
          </a:p>
          <a:p>
            <a:r>
              <a:t>CNPJ 60010416000112 · Metodologia de PDD e curva por atraso · Regulamento · ID 1051393 · 09/10/2025 · versão Regulamento09/10/2025 · p. 17 · AnexoI8.1(iv)–(v),8.3–8.3.1 · https://fnet.bmfbovespa.com.br/fnet/publico/visualizarDocumento?id=1051393</a:t>
            </a:r>
          </a:p>
          <a:p>
            <a:r>
              <a:t>CNPJ 60010416000112 · Metodologia de PDD e curva por atraso · Excerto da fonte:</a:t>
            </a:r>
          </a:p>
          <a:p>
            <a:r>
              <a:t>8.1 Os ativos da Carteira serão avaliados todos os Dias Úteis de acordo com critérios consistentes e verif icáveis, apoiados por inf ormações externas e internas que levem em consideração aspectos relacionados aos Devedores e às características da transação correspondente, de acordo com a seguinte metodologia de avaliação. (i) os Ativos Financeiros de Liquidez deverão ser registrados e ter seus valores ajustados a mercado, sujeitos às regras e procedimentos definidos no manual de marcação a mercado do Custodiante e de acordo com as regras do Banco Central e da CVM, aplicá</a:t>
            </a:r>
          </a:p>
          <a:p>
            <a:r>
              <a:t>CNPJ 60010416000112 · Metodologia de PDD e curva por atraso · Condição: Curva numérica por atraso não é transcrita; manuais/contrato têm perímetro distinto do indicador agregado do IME.</a:t>
            </a:r>
          </a:p>
          <a:p>
            <a:r>
              <a:t>CNPJ 60010416000112 · Metodologia de PDD e curva por atraso · Motivo: Cláusula primária localizada e citada, mas sua lista/condições extensas não admitem uma síntese literal curta confirmada. O trecho integral permanece nas fontes.</a:t>
            </a:r>
          </a:p>
          <a:p>
            <a:r>
              <a:t>CNPJ 60010416000112 · Metodologia de PDD e curva por atraso · Versão e prevalência: Leitura específica das cláusulas indicadas; condições e conflitos preservados. Seleção documental atual não comprova vigência jurídica por data isolada.</a:t>
            </a:r>
          </a:p>
          <a:p>
            <a:r>
              <a:t>CNPJ 60010416000112 · Metodologia de PDD e curva por atraso · Resumo do histórico: {"count": 1, "dates": ["2025-03-20"], "document_count": 1, "sources": [{"document_id": "993786", "title": "Regulamento", "reference_date": "2025-03-20", "version": "1", "page": 17, "clause": "8.1", "url": "https://fnet.bmfbovespa.com.br/fnet/publico/visualizarDocumento?id=993786", "sha256": "fd0fdd369a195510d81f81f505195a0b09e5f43522a990afa7d58c4f872921c8"}], "reference": {"path": "history/60010416000112.json", "criterion_id": "pdd", "total_count": 1, "preview_count": 1, "full_text_deferred": true, "sha256": "8e2bd813f4c51cf01f6bfaad164bafe69d2bbb192f753eac92da3a01c2e63046"}}</a:t>
            </a:r>
          </a:p>
          <a:p>
            <a:r>
              <a:t>CNPJ 62696791000193 · Metodologia de PDD e curva por atraso · Regulamento · ID 1143317 · 20/03/2026 · versão Regulamento — referência 20/03/2026 · p. 11 · Anexo I, 4.7.3 · https://fnet.bmfbovespa.com.br/fnet/publico/visualizarDocumento?id=1143317</a:t>
            </a:r>
          </a:p>
          <a:p>
            <a:r>
              <a:t>CNPJ 62696791000193 · Metodologia de PDD e curva por atraso · Excerto da fonte:</a:t>
            </a:r>
          </a:p>
          <a:p>
            <a:r>
              <a:t>4.7.3 Na hipótese de eventuais Direitos Creditórios do Agronegócio elegíveis deixarem de atender a qualquer Critério de Elegibilidade após sua aquisição pela Classe, tal f ato não será entendido como um desenquadramento da carteira, tampouco haverá direito de regresso contra o Administrador e/ou o Gestor. Limites de concentração aplicáveis aos Direitos Creditórios do Agronegócio e fundos de investimento em Direitos Creditórios do Agronegócio investidos pela Classe 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t>
            </a:r>
          </a:p>
          <a:p>
            <a:r>
              <a:t>CNPJ 62696791000193 · Metodologia de PDD e curva por atraso · Condição: PDD mensal observada e metodologia contratual são evidências separadas.</a:t>
            </a:r>
          </a:p>
          <a:p>
            <a:r>
              <a:t>CNPJ 62696791000193 · Metodologia de PDD e curva por atraso · Motivo: Leitura do consolidado de 48 páginas não localizou metodologia de PDD/curva por atraso. A cláusula 4.7.3 trata de perda posterior de elegibilidade; não estabelece provisionamento.</a:t>
            </a:r>
          </a:p>
          <a:p>
            <a:r>
              <a:t>CNPJ 62696791000193 · Metodologia de PDD e curva por atraso · Versão e prevalência: Leitura específica das cláusulas indicadas; condições e conflitos preservados. Seleção documental atual não comprova vigência jurídica por data isolada.</a:t>
            </a:r>
          </a:p>
          <a:p>
            <a:r>
              <a:t>CNPJ 55563624000109 · Metodologia de PDD e curva por atraso · Base da comparação IME: {"criterion_id": "pdd", "observed_value": null, "unit": "", "competence": "08/2026", "status": "not_comparable", "reason": "A curva de PDD requer atraso, contágio e garantias por operação; o agregado mensal não demonstra aplicação da metodologia.", "formula": "",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null, "comparison_required": true, "context_formula": "PDD / direitos creditórios", "context_value": null, "context_unit": "percent"}</a:t>
            </a:r>
          </a:p>
          <a:p>
            <a:r>
              <a:t>CNPJ 55563624000109 · Metodologia de PDD e curva por atraso · Regulamento · ID 1192614 · 30/04/2026 · versão Regulamento30/04/2026 · p. 19 · AnexoI9.1–9.2.1 · https://fnet.bmfbovespa.com.br/fnet/publico/visualizarDocumento?id=1192614</a:t>
            </a:r>
          </a:p>
          <a:p>
            <a:r>
              <a:t>CNPJ 55563624000109 · Metodologia de PDD e curva por atraso · Excerto da fonte:</a:t>
            </a:r>
          </a:p>
          <a:p>
            <a:r>
              <a:t>9.1 As Cotas da Classe Investida e Ativos Financeiros de Liquidez que compõem a Carteira da Classe terão seus valores calculados todo Dia Útil conforme a metodologia de avaliação descrita no manual do ADMINISTRADOR, disponível no seu website, no endereço https://www.btgpactual.com/asset-management/administracao- fiduciaria#documentos. 9.2 As provisões para perdas e as perdas havidas com as Cotas da Classe Investida ou com os Ativos Financeiros de Liquidez integrantes da Carteira serão, respectivamente, efetuadas ou reconhecidas pelo ADMINISTRADOR, de</a:t>
            </a:r>
          </a:p>
          <a:p>
            <a:r>
              <a:t>CNPJ 55563624000109 · Metodologia de PDD e curva por atraso · Condição: PDD do FIC reflete cotas/liquidez; atraso/PDD de devedores finais exige IME do investido.</a:t>
            </a:r>
          </a:p>
          <a:p>
            <a:r>
              <a:t>CNPJ 55563624000109 · Metodologia de PDD e curva por atraso · Versão e prevalência: Leitura específica das cláusulas indicadas; condições e conflitos preservados. Seleção documental atual não comprova vigência jurídica por data isolada.</a:t>
            </a:r>
          </a:p>
          <a:p>
            <a:r>
              <a:t>CNPJ 62552447000120 · Metodologia de PDD e curva por atraso · Base da comparação IME: {"criterion_id": "pdd", "observed_value": null, "unit": "", "competence": "08/2026", "status": "not_comparable", "reason": "A curva de PDD requer atraso, contágio e garantias por operação; o agregado mensal não demonstra aplicação da metodologia.", "formula": "",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null, "comparison_required": true, "context_formula": "PDD / direitos creditórios", "context_value": 9.644446353219038, "context_unit": "percent"}</a:t>
            </a:r>
          </a:p>
          <a:p>
            <a:r>
              <a:t>CNPJ 62552447000120 · Metodologia de PDD e curva por atraso · Regulamento · ID 1200623 · 21/05/2026 · versão Consolidado21/05/2026 aprovado pelo ato1200625 · p. 20 · AnexoI9.1–9.2.1 · https://fnet.bmfbovespa.com.br/fnet/publico/visualizarDocumento?id=1200623</a:t>
            </a:r>
          </a:p>
          <a:p>
            <a:r>
              <a:t>CNPJ 62552447000120 · Metodologia de PDD e curva por atraso · Excerto da fonte:</a:t>
            </a:r>
          </a:p>
          <a:p>
            <a:r>
              <a:t>9.1 Os Direitos Creditórios e Ativos Financeiros que compõem a Carteira terão seus valores calculados todo Dia Útil conforme a metodologia de avaliação descrita no manual d o Administrador ou, ainda, nos manuais do Custodiante, disponíveis nos seus respectivos websites, no endereço https://www.btgpactual.com/asset-management/administracao-f iduciaria#documentos. 9.2 As provisões para perdas e as perdas havidas com Direitos Creditórios ou com os Ativos Financeiros integrantes da Carteira serão, respectivamente, efetuadas ou reconhecidas nos termos da Instrução da CVM n.º 489, de 14 de janeiro de 2011, c</a:t>
            </a:r>
          </a:p>
          <a:p>
            <a:r>
              <a:t>CNPJ 62552447000120 · Metodologia de PDD e curva por atraso · Condição: Cláusula não transcreve curva de provisão por faixa de atraso; percentual PDD do IME não reproduz manual.</a:t>
            </a:r>
          </a:p>
          <a:p>
            <a:r>
              <a:t>CNPJ 62552447000120 · Metodologia de PDD e curva por atraso · Motivo: Não localizada uma cláusula material para este critério nos textos identificados e processados. A ausência de resultado não comprova inexistência da regra.</a:t>
            </a:r>
          </a:p>
          <a:p>
            <a:r>
              <a:t>CNPJ 62552447000120 · Metodologia de PDD e curva por atraso · Versão e prevalência: Leitura específica das cláusulas indicadas; condições e conflitos preservados. Seleção documental atual não comprova vigência jurídica por data isolada.</a:t>
            </a:r>
          </a:p>
          <a:p>
            <a:r>
              <a:t>CNPJ 63953620000165 · Metodologia de PDD e curva por atraso · Base da comparação IME: {"criterion_id": "pdd", "observed_value": null, "unit": "", "competence": "08/2026", "status": "not_comparable", "reason": "A curva de PDD requer atraso, contágio e garantias por operação; o agregado mensal não demonstra aplicação da metodologia.", "formula": "",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null, "comparison_required": true, "context_formula": "PDD / direitos creditórios", "context_value": 5.5101286576011415, "context_unit": "percent"}</a:t>
            </a:r>
          </a:p>
          <a:p>
            <a:r>
              <a:t>CNPJ 63953620000165 · Metodologia de PDD e curva por atraso · Anexo ao Regulamento · ID 1222863 · 02/06/2026 · versão AnexoConsignadoPrivado02/06/2026 · p. 12 · 9.1–9.2.1 · https://fnet.bmfbovespa.com.br/fnet/publico/visualizarDocumento?id=1222863</a:t>
            </a:r>
          </a:p>
          <a:p>
            <a:r>
              <a:t>CNPJ 63953620000165 · Metodologia de PDD e curva por atraso · Excerto da fonte:</a:t>
            </a:r>
          </a:p>
          <a:p>
            <a:r>
              <a:t>9.1 Os Direitos Creditórios e Ativos Financeiros que compõem a Carteira da Classe terão seus valores calculados todo Dia Útil conforme a metodologia de avaliação descrita no manual do Administrador ou, ainda, nos manuais do Custodiante, disponíveis nos seus respectivos websites, no endereço https://www.btgpactual.com/asset- management/administracao-fiduciaria#documentos 9.2 As provisões para perdas e as perdas havidas com Direitos Creditórios ou com os Ativos Financeiros integrantes da Carteira serão, respectivamente, efetuadas ou reconhecidas nos termos da Instrução CVM 489. Desta forma, o valor do saldo dos Dire</a:t>
            </a:r>
          </a:p>
          <a:p>
            <a:r>
              <a:t>CNPJ 63953620000165 · Metodologia de PDD e curva por atraso · Versão e prevalência: Leitura específica das cláusulas indicadas; condições e conflitos preservados. Seleção documental atual não comprova vigência jurídica por data isolada.</a:t>
            </a:r>
          </a:p>
          <a:p>
            <a:r>
              <a:t>CNPJ 63953620000165 · Metodologia de PDD e curva por atraso · Resumo do histórico: {"count": 7, "dates": ["2026-04-16", "2026-04-28", "2026-05-08"], "document_count": 3, "sources": [{"document_id": "1298691", "title": "Demonstrações Financeiras - Fusão, cisão e incorporação", "reference_date": "2026-05-08", "version": "1", "page": 18, "url": "https://fnet.bmfbovespa.com.br/fnet/publico/visualizarDocumento?id=1298691", "sha256": "58c570d9b8d4d265330d3db3ea81c435b8e44a6dab4002aa37790652a1ee9819"}, {"document_id": "1282180", "title": "Demonstrações Financeiras - Fusão, cisão e incorporação", "reference_date": "2026-04-28", "version": "1", "page": 18, "url": "https://fnet.bmfbovespa.com.br/fnet/publico/visualizarDocumento?id=1282180", "sha256": "afaaa0e6809be4385e5bdb6c911aac582032c5bdbac3d7750234bf9eaf00438a"}, {"document_id": "1282179", "title": "Demonstrações Financeiras - Fusão, cisão e incorporação", "reference_date": "2026-04-16", "version": "1", "page": 18, "url": "https://fnet.bmfbovespa.com.br/fnet/publico/visualizarDocumento?id=1282179", "sha256": "beb67afbcd64169019477673fd3b7c1edbfabbd9db07379388d8cdd5d3fc9395"}], "reference": {"path": "history/63953620000165.json", "criterion_id": "pdd", "total_count": 7, "preview_count": 3, "full_text_deferred": true, "sha256": "a7b89077f5e21098c2d601c303faabc3ff6b9729f89d8afecdc60fe1404720c1"}}</a:t>
            </a:r>
          </a:p>
          <a:p>
            <a:r>
              <a:t>CNPJ 54871427000194 · Gatilhos de atraso e rolagem · Motivo: Não localizada uma cláusula material para este critério nos textos identificados e processados. A ausência de resultado não comprova inexistência da regra.</a:t>
            </a:r>
          </a:p>
          <a:p>
            <a:r>
              <a:t>CNPJ 60010416000112 · Gatilhos de atraso e rolagem · Motivo: Não localizada uma cláusula material para este critério nos textos identificados e processados. A ausência de resultado não comprova inexistência da regra.</a:t>
            </a:r>
          </a:p>
          <a:p>
            <a:r>
              <a:t>CNPJ 62696791000193 · Gatilhos de atraso e rolagem · Motivo: Não localizada uma cláusula material para este critério nos textos identificados e processados. A ausência de resultado não comprova inexistência da regra.</a:t>
            </a:r>
          </a:p>
          <a:p>
            <a:r>
              <a:t>CNPJ 55563624000109 · Gatilhos de atraso e rolagem · Motivo: Não localizada uma cláusula material para este critério nos textos identificados e processados. A ausência de resultado não comprova inexistência da regra.</a:t>
            </a:r>
          </a:p>
          <a:p>
            <a:r>
              <a:t>CNPJ 62552447000120 · Gatilhos de atraso e rolagem · Motivo: Não localizada uma cláusula material para este critério nos textos identificados e processados. A ausência de resultado não comprova inexistência da regra.</a:t>
            </a:r>
          </a:p>
          <a:p>
            <a:r>
              <a:t>CNPJ 63953620000165 · Gatilhos de atraso e rolagem · Motivo: Não localizada uma cláusula material para este critério nos textos identificados e processados. A ausência de resultado não comprova inexistência da regra.</a:t>
            </a:r>
          </a:p>
          <a:p>
            <a:r>
              <a:t>CNPJ 54871427000194 · Diluição, cancelamento e chargeback · Motivo: Não localizada uma cláusula material para este critério nos textos identificados e processados. A ausência de resultado não comprova inexistência da regra.</a:t>
            </a:r>
          </a:p>
          <a:p>
            <a:r>
              <a:t>CNPJ 60010416000112 · Diluição, cancelamento e chargeback · Motivo: Não localizada uma cláusula material para este critério nos textos identificados e processados. A ausência de resultado não comprova inexistência da regra.</a:t>
            </a:r>
          </a:p>
          <a:p>
            <a:r>
              <a:t>CNPJ 62696791000193 · Diluição, cancelamento e chargeback · Motivo: Não localizada uma cláusula material para este critério nos textos identificados e processados. A ausência de resultado não comprova inexistência da regra.</a:t>
            </a:r>
          </a:p>
          <a:p>
            <a:r>
              <a:t>CNPJ 55563624000109 · Diluição, cancelamento e chargeback · Motivo: Não localizada uma cláusula material para este critério nos textos identificados e processados. A ausência de resultado não comprova inexistência da regra.</a:t>
            </a:r>
          </a:p>
          <a:p>
            <a:r>
              <a:t>CNPJ 62552447000120 · Diluição, cancelamento e chargeback · Motivo: Não localizada uma cláusula material para este critério nos textos identificados e processados. A ausência de resultado não comprova inexistência da regra.</a:t>
            </a:r>
          </a:p>
          <a:p>
            <a:r>
              <a:t>CNPJ 63953620000165 · Diluição, cancelamento e chargeback · Motivo: Não localizada uma cláusula material para este critério nos textos identificados e processados. A ausência de resultado não comprova inexistência da regra.</a:t>
            </a:r>
          </a:p>
          <a:p>
            <a:r>
              <a:t>CNPJ 54871427000194 · Recompra e indenização · Regulamento · ID 670691 · 2024-04-28 · versão 1 · p. 11 · 4.12 · https://fnet.bmfbovespa.com.br/fnet/publico/visualizarDocumento?id=670691</a:t>
            </a:r>
          </a:p>
          <a:p>
            <a:r>
              <a:t>CNPJ 54871427000194 · Recompra e indenização · Excerto da fonte:</a:t>
            </a:r>
          </a:p>
          <a:p>
            <a:r>
              <a:t>4.12 Os recursos recebidos pela Classe em razão da liquidação dos Direitos Creditórios, a qualquer título,  incluindo pagamento regular ou por excussão de garantia, alienação, recompra, indenização pelo  Cedente e/ou desinvestimento de Ativo Recuperado, serão destinados a aquisição de Direitos  Creditórios até o montante de R$ 250.000.000,00 (duzentos e cinquenta milhões de reais), sendo certo  que os recursos recebidos pela Classe após a aquisição em tal montante não poderão ser destinados  à aquisição pela Classe de novos Direitos Creditórios, aplicando-se, de resto, o disposto no item 8.1  abaixo no que se ref ere à ordem de alocação de tais recursos.</a:t>
            </a:r>
          </a:p>
          <a:p>
            <a:r>
              <a:t>CNPJ 54871427000194 · Recompra e indenização · Regulamento · ID 670691 · 2024-04-28 · versão 1 · p. 12 · 4.13 · https://fnet.bmfbovespa.com.br/fnet/publico/visualizarDocumento?id=670691</a:t>
            </a:r>
          </a:p>
          <a:p>
            <a:r>
              <a:t>CNPJ 54871427000194 · Recompra e indenização · Excerto da fonte:</a:t>
            </a:r>
          </a:p>
          <a:p>
            <a:r>
              <a:t>4.13 Na hipótese de demandas judiciais e/ou administrativas, em que a causa de pedir ou entre os pedidos  estejam incluídos qualquer um dos itens listados abaixo, o Endossante estará obrigado realizar a  recompra ou indenização dos respectivos Direitos Creditórios, na f orma e prazos previstos no  respectivo Contrato de Endosso sem prejuízo do previsto no Artigo 295 do Código Civil, sendo certo  que o GESTOR envidará seus melhores esf orços para que os Contratos de Endosso contenham  substancialmente as hipóteses abaixo :</a:t>
            </a:r>
          </a:p>
          <a:p>
            <a:r>
              <a:t> (i) Vício de f ormalização dos CCCBs e/ou CCBs a) por ausência de qualquer dos Documentos  Comprobatórios ou falsificação, irregularidade sou má formalização destes; b) por falta de recebimento  do crédito pelo Devedor; ou, c) por averbação irregular de desconto em folha na margem consignável  do Devedor;</a:t>
            </a:r>
          </a:p>
          <a:p>
            <a:r>
              <a:t>CNPJ 54871427000194 · Recompra e indenização · Regulamento · ID 670691 · 2024-04-28 · versão 1 · p. 1 · 1.1 · https://fnet.bmfbovespa.com.br/fnet/publico/visualizarDocumento?id=670691</a:t>
            </a:r>
          </a:p>
          <a:p>
            <a:r>
              <a:t>CNPJ 54871427000194 · Recompra e indenização · Excerto da fonte:</a:t>
            </a:r>
          </a:p>
          <a:p>
            <a:r>
              <a:t>1.1 CONSIGNADO DELTA RECEIVABLES I FUNDO DE INVESTIMENTO EM DIREITOS CREDITÓRIOS  (“FUNDO”), regido pela Lei nº 10.406, de 10 de janeiro de 2002, conf orme alterada (“Código Civil”),  pela parte geral e o Anexo Normativo II da Resolução nº 175, de 23 de dezembro de 2022, conforme  alterada, da Comissão de Valores Mobiliários (respectivamente, “CVM” e “Resolução CVM 175”), terá  como principais características:</a:t>
            </a:r>
          </a:p>
          <a:p>
            <a:r>
              <a:t> Classe de Cotas Classe única.</a:t>
            </a:r>
          </a:p>
          <a:p>
            <a:r>
              <a:t> Indeterminado, exceto se de outra f orma vier a ser deliberado pelos cotistas  Prazo de Duração  reunidos em assembleia geral de cotistas.</a:t>
            </a:r>
          </a:p>
          <a:p>
            <a:r>
              <a:t> BTG Pactual Serviços Financeiros S.A. Distribuidora de Títulos e Valores  Mobiliários, instituição f inanceira, com sede na Cidade e Estado do Rio de  Janeiro, na Praia de Botafogo, nº 501, 5º andar (parte), Torre Corcovado,  ADMINISTRADOR  Botafogo, CEP 22250-040, inscrita no CNPJ sob o nº 59.281.253/0001-23 e  credenciada como administradora de carteira, de acordo com o Ato Declaratório  CVM nº 8.695, de 20 de março de 2006 (“ADMINISTRADOR”).</a:t>
            </a:r>
          </a:p>
          <a:p>
            <a:r>
              <a:t> BTG Pactual Asset Management S.A. Distribuidora de Títulos e Valores  Mobiliários, inscrita no CNPJ/ME sob o nº 29.650.082/0001-00, com sede  Cidade e Estado do Rio de Janeiro, na Praia de Botafogo, n.º 501, 5° andar,  devidamente autorizada à prestação dos serviços de administração de carteira  GESTOR  de títulos e valores mobiliários por meio d o Ato Declaratório número 5.968,  expedido em 10 de maio de 2000 (“GESTOR” e, quando ref erido  conjuntamente e indistintamente com o ADMINISTRADOR, os “Prestadores  de Serviços Essenciais”).</a:t>
            </a:r>
          </a:p>
          <a:p>
            <a:r>
              <a:t> O FUNDO, seus cotistas, os distribuidores de cotas por conta e ordem, seu  GESTOR, seu ADMINISTRADOR e os demais prestadores de serviço do  FUNDO e/ou da CLASSE obrigam-se a resolver, por meio de arbitragem, de  acordo com o Regulamento de Arbitragem da Câmara de Arbitragem do  Mercado da B3 (“Regulamento CAM B3” e “CAM B3”, respectivamente), toda  e qualquer disputa ou controvérsia que possa surgir entre eles, relacionada ou  oriunda, em especial, da aplicação, validade, eficácia, interpretação, violação  e seus ef eitos, das disposições contidas no Regulamento e seus Anexos, nas  normas editadas pela CVM que lhe sejam aplicáveis e nos instrumentos entre  si f irmados (“Arbitragem”).</a:t>
            </a:r>
          </a:p>
          <a:p>
            <a:r>
              <a:t> (i) A Arbitragem será de direito, com a aplicação das normas da República  Federativa do Brasil, terá sede no Município de São Paulo, será  Foro Aplicável conduzida em língua portuguesa e de f orma confidencial. O tribunal  arbitral será constituído por 3 (três) árbitros, sendo um deles  presidente, escolhidos nos termos do Regulamento CAM B3.</a:t>
            </a:r>
          </a:p>
          <a:p>
            <a:r>
              <a:t> (ii) As despesas processuais iniciais deverão ser rateadas entre as partes,  arcando cada polo processual com metade dos valores necessários,  sem prejuízo à possibilidade de adiantamento pelas partes  interessadas, resolvendo-se as indef inições nos termos do  Regulamento CAM B3. A sentença arbitral deverá determinar a  responsabilidade final pelas despesas de acordo com a sucumbência  de cada parte, as quais deverão incluir as taxas administrativas,  honorários de árbitros e de peritos e despesas com diligências  processuais e f ornecimento de garantias que sejam determinadas  expressamente pelo tribunal arbitral. É vedada a imposição de  honorários de sucumbência, bem como a determinação de indenização</a:t>
            </a:r>
          </a:p>
          <a:p>
            <a:r>
              <a:t>CNPJ 54871427000194 · Recompra e indenização · Condição: Documentos atuais selecionados no inventário por categoria/escopo; a data documental isolada não comprova vigência jurídica.</a:t>
            </a:r>
          </a:p>
          <a:p>
            <a:r>
              <a:t>CNPJ 54871427000194 · Recompra e indenização · Versão e prevalência: Documentos atuais selecionados no inventário por categoria/escopo; a data documental isolada não comprova vigência jurídica.</a:t>
            </a:r>
          </a:p>
          <a:p>
            <a:r>
              <a:t>CNPJ 54871427000194 · Recompra e indenização · Resumo do histórico: {"count": 2, "dates": ["2024-04-19", "2024-04-28"], "document_count": 2, "sources": [{"document_id": "670691", "title": "Regulamento", "reference_date": "2024-04-28", "version": "1", "page": "10-12", "url": "https://fnet.bmfbovespa.com.br/fnet/publico/visualizarDocumento?id=670691", "sha256": "bf16dd7f1a62d5cdbf2e2d54fef81783783f7310fbc99c3a8f00459bdf9d037b"}, {"document_id": "670689", "title": "Regulamento", "reference_date": "2024-04-19", "version": "1", "page": 10, "clause": "4.7.5", "url": "https://fnet.bmfbovespa.com.br/fnet/publico/visualizarDocumento?id=670689", "sha256": "891bc9bc5d87bbc02ec139077a84d2702eb81ea02035fb71d24f5b8366b94a0b"}], "reference": {"path": "history/54871427000194.json", "criterion_id": "repurchase", "total_count": 2, "preview_count": 2, "full_text_deferred": true, "sha256": "35d7cd99be50c7287c9fb675cf4f2e736002315295a225a9efa79c8d9186d874"}}</a:t>
            </a:r>
          </a:p>
          <a:p>
            <a:r>
              <a:t>CNPJ 60010416000112 · Recompra e indenização · Regulamento · ID 1051393 · 2025-10-09 · versão 1 · p. 10 · 4.4.5 · https://fnet.bmfbovespa.com.br/fnet/publico/visualizarDocumento?id=1051393</a:t>
            </a:r>
          </a:p>
          <a:p>
            <a:r>
              <a:t>CNPJ 60010416000112 · Recompra e indenização · Excerto da fonte:</a:t>
            </a:r>
          </a:p>
          <a:p>
            <a:r>
              <a:t>4.4.5. Caso um Direito Creditório endossado à Classe deixe de atender quaisquer Critérios de  Elegibilidade, quaisquer condições de endosso e/ou quaisquer declarações e garantias referentes  a esse Direito Creditório, conforme previsto no Contrato de Endosso, após seu endosso à Classe,  não haverá coobrigação nem direito de regresso da Classe contra o Endossante, o Administrador,  o Custodiante, o Gestor e/ou o Agente de Retenção/Cobrança, exceto em caso de má-fé, culpa  ou dolo comprovado, hipótese em que a parte que agiu com má-f é, culpa ou dolo comprovado  poderá ser responsabilizada pelas perdas incorridas pela Classe em relação aos respectivos  Direitos Creditórios. Se, entretanto, for constatado que um Direito Creditório endossado à Classe  não estava em conformidade com os Critérios de Elegibilidade, condições de endosso ou com as  declarações e garantias prestadas pelo Endossante no Contrato de Endosso, na respectiva data  de endosso, então o endosso desse Direito Creditório poderá ser objeto de resolução pela Classe.</a:t>
            </a:r>
          </a:p>
          <a:p>
            <a:r>
              <a:t> Nessa hipótese, a Classe terá o direito de resolver o endosso desse Direito Creditório, devolvendo-  o ao Endossante por valor a ser restituído à Classe. Adicionalmente, se f or constatado que um  Direito Creditório endossado à Classe não estava em conf ormidade com as declarações e  garantias prestadas pelo Agente de Retenção/Cobrança no Contrato de Endosso, na respectiva  data de endosso, então a Classe terá o direito de vender esse Direito Creditório ao Agente de  Retenção/Cobrança (opção de venda). A retrovenda ou a venda, conforme o caso, será realizada  de acordo com os termos, condições, formalidades e preços de recompra compulsória e opção de  venda detalhados no Contrato de Endosso.</a:t>
            </a:r>
          </a:p>
          <a:p>
            <a:r>
              <a:t>CNPJ 60010416000112 · Recompra e indenização · Regulamento · ID 1051393 · 2025-10-09 · versão 1 · p. 30 · 12.5.1 · https://fnet.bmfbovespa.com.br/fnet/publico/visualizarDocumento?id=1051393</a:t>
            </a:r>
          </a:p>
          <a:p>
            <a:r>
              <a:t>CNPJ 60010416000112 · Recompra e indenização · Excerto da fonte:</a:t>
            </a:r>
          </a:p>
          <a:p>
            <a:r>
              <a:t>12.5.1. Independentemente do acima disposto, na hipótese de venda de qualquer parte dos Direitos  Creditórios Elegíveis a terceiros, inclusive no caso de liquidação da Classe, o Agente de  Retenção/Cobrança terá o direito de receber uma remuneração, no dia em que a parte da carteira  de Direitos Creditórios Elegíveis f or efetivamente vendida (ou seja, no dia de seu f echamento  f inanceiro), correspondente ao RAC do valor do preço de venda dessa carteira (“Preço de Venda”),  multiplicado pelo número de anos restantes até o vencimento f inal e pagamento de cada Direito  Creditório Elegível na carteira; observado que, para f ins do cálculo da remuneração devida ao  Agente de Retenção/Cobrança nos termos deste item, o preço de venda de qualquer Direito  Creditório Inadimplido vendido nos termos deste item será equivalente a 0 (zero). Para evitar  qualquer dúvida, as Partes concordam que a remuneração estabelecida neste item não será  devida ao Agente de Retenção/Cobrança no caso de venda de Direitos Creditórios Elegíveis no  contexto de uma portabilidade da respectiva CCB para outra instituição f inanceira, ou na  ocorrência de um evento de recompra compulstória ou de um evento de opção de venda, de acordo  com os termos do respectivo Contrato de Endosso.</a:t>
            </a:r>
          </a:p>
          <a:p>
            <a:r>
              <a:t>CNPJ 60010416000112 · Recompra e indenização · Regulamento · ID 1051393 · 2025-10-09 · versão 1 · p. 11 · https://fnet.bmfbovespa.com.br/fnet/publico/visualizarDocumento?id=1051393</a:t>
            </a:r>
          </a:p>
          <a:p>
            <a:r>
              <a:t>CNPJ 60010416000112 · Recompra e indenização · Excerto da fonte:</a:t>
            </a:r>
          </a:p>
          <a:p>
            <a:r>
              <a:t>Anexo I ao Regulamento CLASSE ÚNICA DO MT I CONSIGNADO PRIVADO I FUNDO DE INVESTIMENTO EM DIREITOS CREDITÓRIOS RESPONSABILIDADE LIMITADA  com a transf erência, à Classe, de f orma definitiva, sem coobrigação do Endossante, da plena  titularidade desse Direito Creditório, juntamente com todos os direitos, privilégios, pref erências,  prerrogativas, garantias e ações a ele relacionados, bem como correção monetária, juros e  encargos, sem prejuízo do direito da Classe (i) de exigir a recompra compulsória do respectivo  Direito Creditório, de acordo com os termos do Contrato de Endosso; ou (ii) de vender Direitos  Creditórios ao Agente de Retenção/Cobrança (opção de venda), em ambos os casos estritamente  nos termos do Contrato de Endosso.</a:t>
            </a:r>
          </a:p>
          <a:p>
            <a:r>
              <a:t>CNPJ 60010416000112 · Recompra e indenização · Condição: Documentos atuais selecionados no inventário por categoria/escopo; a data documental isolada não comprova vigência jurídica.</a:t>
            </a:r>
          </a:p>
          <a:p>
            <a:r>
              <a:t>CNPJ 60010416000112 · Recompra e indenização · Versão e prevalência: Documentos atuais selecionados no inventário por categoria/escopo; a data documental isolada não comprova vigência jurídica.</a:t>
            </a:r>
          </a:p>
          <a:p>
            <a:r>
              <a:t>CNPJ 60010416000112 · Recompra e indenização · Resumo do histórico: {"count": 2, "dates": ["2025-03-20", "2025-10-09"], "document_count": 2, "sources": [{"document_id": "1051393", "title": "Regulamento", "reference_date": "2025-10-09", "version": "1", "page": "10-11", "url": "https://fnet.bmfbovespa.com.br/fnet/publico/visualizarDocumento?id=1051393", "sha256": "8469d613078ffd5a6c1d217885d8a397a16342c0b937ae4aa24b106505f233ae"}, {"document_id": "993786", "title": "Regulamento", "reference_date": "2025-03-20", "version": "1", "page": 10, "clause": "4.4.5", "url": "https://fnet.bmfbovespa.com.br/fnet/publico/visualizarDocumento?id=993786", "sha256": "fd0fdd369a195510d81f81f505195a0b09e5f43522a990afa7d58c4f872921c8"}], "reference": {"path": "history/60010416000112.json", "criterion_id": "repurchase", "total_count": 2, "preview_count": 2, "full_text_deferred": true, "sha256": "8e2bd813f4c51cf01f6bfaad164bafe69d2bbb192f753eac92da3a01c2e63046"}}</a:t>
            </a:r>
          </a:p>
          <a:p>
            <a:r>
              <a:t>CNPJ 62696791000193 · Recompra e indenização · Regulamento · ID 1143317 · 2026-03-20 · versão 1 · p. 16 · 5.1 · https://fnet.bmfbovespa.com.br/fnet/publico/visualizarDocumento?id=1143317</a:t>
            </a:r>
          </a:p>
          <a:p>
            <a:r>
              <a:t>CNPJ 62696791000193 · Recompra e indenização · Excerto da fonte:</a:t>
            </a:r>
          </a:p>
          <a:p>
            <a:r>
              <a:t>5.1 Os recursos recebidos pela Classe em razão da liquidação dos Direitos Creditórios do Agronegócio  e/ou dos Outros Ativos, a qualquer título, incluindo pagamento regular ou por excussão de garantia,  alienação, recompra, indenização pelo cedente e/ou desinvestimento de Direitos Creditórios do  Agronegócio e/ou dos Outros Ativos, poderão ser destinados à aquisição pela Classe de novos  Direitos Creditórios do Agronegócio e/ou dos Outros Ativos e/ou destinados ao resgate das Cotas,  conf orme decisão do Gestor e desde que observada a ordem de alocação de recursos.</a:t>
            </a:r>
          </a:p>
          <a:p>
            <a:r>
              <a:t>6 ORDEM DE ALOCAÇÃO DE RECURSOS</a:t>
            </a:r>
          </a:p>
          <a:p>
            <a:r>
              <a:t>CNPJ 62696791000193 · Recompra e indenização · Condição: Documentos atuais selecionados no inventário por categoria/escopo; a data documental isolada não comprova vigência jurídica.</a:t>
            </a:r>
          </a:p>
          <a:p>
            <a:r>
              <a:t>CNPJ 62696791000193 · Recompra e indenização · Versão e prevalência: Documentos atuais selecionados no inventário por categoria/escopo; a data documental isolada não comprova vigência jurídica.</a:t>
            </a:r>
          </a:p>
          <a:p>
            <a:r>
              <a:t>CNPJ 55563624000109 · Recompra e indenização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Recompra e indenização · Resumo do histórico: {"count": 1, "dates": ["2026-04-30"], "document_count": 1, "sources": [{"document_id": "1192614", "title": "Regulamento", "reference_date": "2026-04-30", "version": "1", "page": "14", "url": "https://fnet.bmfbovespa.com.br/fnet/publico/visualizarDocumento?id=1192614", "sha256": "f56e63ace0acde41d2f47fb48f1ac7f3f7df5e2d32de092d7c5e075a52516632"}], "reference": {"path": "history/55563624000109.json", "criterion_id": "repurchase", "total_count": 1, "preview_count": 1, "full_text_deferred": true, "sha256": "7835d573fb58a3c19adf5b8ecc2aee2bdbb9a88f7a0c0209b5f262b64c7522e3"}}</a:t>
            </a:r>
          </a:p>
          <a:p>
            <a:r>
              <a:t>CNPJ 62552447000120 · Recompra e indenização · Regulamento · ID 1200623 · 2026-05-21 · versão 1 · p. 14 · 4.14 · https://fnet.bmfbovespa.com.br/fnet/publico/visualizarDocumento?id=1200623</a:t>
            </a:r>
          </a:p>
          <a:p>
            <a:r>
              <a:t>CNPJ 62552447000120 · Recompra e indenização · Excerto da fonte:</a:t>
            </a:r>
          </a:p>
          <a:p>
            <a:r>
              <a:t>4.14 Os recursos recebidos pela Classe em razão da liquidação dos Direitos Creditórios, a qualquer título,  incluindo pagamento regular ou por excussão de garantia, alienação, recompra, indenização pelo  Endossante, poderão ser destinados à aquisição pela Classe de novos Direitos Creditórios e/ou  destinados à Amortização, conforme decisão do Gestor e desde que observada a ordem de alocação  de recursos def inida no item 8.1 abaixo.</a:t>
            </a:r>
          </a:p>
          <a:p>
            <a:r>
              <a:t>Ativos Recuperados</a:t>
            </a:r>
          </a:p>
          <a:p>
            <a:r>
              <a:t>CNPJ 62552447000120 · Recompra e indenização · Regulamento · ID 1200623 · 2026-05-21 · versão 1 · p. 35 · https://fnet.bmfbovespa.com.br/fnet/publico/visualizarDocumento?id=1200623</a:t>
            </a:r>
          </a:p>
          <a:p>
            <a:r>
              <a:t>CNPJ 62552447000120 · Recompra e indenização · Excerto da fonte:</a:t>
            </a:r>
          </a:p>
          <a:p>
            <a:r>
              <a:t>ativos desses emissores, causando perdas à Classe e ao Cotista. Além disso, a f alta de capacidade ou disposição de pagar por qualquer dos emissores dos Ativos Financeiros de Liquidez ou das contrapartes nas transações que compõem a Carteira causará perdas à Classe, e o que também poderá incorrer em custos para f ins de recuperação de seus recebíveis.</a:t>
            </a:r>
          </a:p>
          <a:p>
            <a:r>
              <a:t>(v) Riscos associados aos Devedores: no caso de Devedores no âmbito das operações de consignado privado, a sua capacidade de pagamento poderá ser af etada se, por exemplo, o Devedor tiver o seu contrato de emprego rescindido ou em virtude de decisão judicial, o Devedor for obrigado a pagar alimentos, que têm prioridade sobre o empréstimo para f ins de desconto na f 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 etar a rentabilidade da Classe. Já no caso de Devedores no âmbito das operações de Saque-aniversário, como os Direitos Creditórios a serem endossados à Classe serão descontados pelo FGTS da remuneração do Devedor, na ocorrência de qualquer evento que, nos termos da legislação aplicável, determine o pagamento antecipado do Saque-aniversário ao Devedor, a exemplo do falecimento do Devedor, dentre outros, as parcelas do Saque- aniversário serão pagas antecipadamente e a Classe deverá utilizar tais montantes no pré-pagamento dos Direitos Creditórios. Nesta hipótese, a Classe poderá não encontrar Direitos Creditórios disponíveis para serem adquiridos pela Classe, o que poderá af etar a rentabilidade da Classe.</a:t>
            </a:r>
          </a:p>
          <a:p>
            <a:r>
              <a:t>Risco de liquidez</a:t>
            </a:r>
          </a:p>
          <a:p>
            <a:r>
              <a:t>(i) Risco de liquidez: consiste no risco de redução ou inexistência de demanda pelos ativos que compõem a Classe nos respectivos mercados em que são negociados, devido às condições específicas desses ativos ou aos mercados em que são negociados. Devido a esses riscos, o Gestor poderá encontrar dificuldades em liquidar posições ou negociar esses ativos pelo preço e prazo desejados, de acordo com a estratégia de gestão adotada pela Classe, que permanecerá exposto, durante o período de baixa liquidez, aos riscos associados a esses ativos e posições assumidas em mercados de derivativos, se houver, que poderão até exigir que o Gestor aceite descontos em seus preços para realizar negociações no mercado. Esses f atores poderão prejudicar o pagamento de Amortizações ao Cotista, nos valores e dentro dos termos aqui estabelecidos.</a:t>
            </a:r>
          </a:p>
          <a:p>
            <a:r>
              <a:t>(ii) Riscos do mercado secundário: A Classe é constituída sob a f orma de condomínio fechado, de modo que as Cotas somente serão resgatadas em virtude da liquidação da Classe. Uma vez que o Prazo de Duração da Classe é indeterminado, o Cotista titular das Cotas não terá liquidez em seu investimento na Classe, exceto</a:t>
            </a:r>
          </a:p>
          <a:p>
            <a:r>
              <a:t>(a) por ocasião das Amortizações e dos resgates, nos termos deste Regulamento; (b) por meio da alienação de suas Cotas no mercado secundário; ou (c) na liquidação antecipada do FUNDO ou da Classe.</a:t>
            </a:r>
          </a:p>
          <a:p>
            <a:r>
              <a:t>Além disso, atualmente, o mercado secundário de cotas de fundos de investimento apresenta baixa liquidez, o que pode dificultar a venda das Cotas ou ocasionar a obtenção de um preço de venda que cause perda de patrimônio ao Cotista. Não há qualquer garantia do Administrador, do Gestor, da consultora ou do Custodiante em relação à possibilidade de venda das Cotas no mercado secundário ou ao preço obtido por elas, ou mesmo garantia de saída ao Cotista.</a:t>
            </a:r>
          </a:p>
          <a:p>
            <a:r>
              <a:t>Riscos específicos</a:t>
            </a:r>
          </a:p>
          <a:p>
            <a:r>
              <a:t>(i)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ficar inadimplente e, consequentemente, não haverá repasse à Classe do respectivo Direito Creditório, o que poderá resultar em perdas f inanceiras à Classe e aos Cotistas. Para os f ins deste Regulamento, “Empregador” signif ica a empresa com qual o Devedor mantém vínculo empregatício registrado junto à CTPS.</a:t>
            </a:r>
          </a:p>
          <a:p>
            <a:r>
              <a:t>(ii) Risco do Empregador não efetuar o desconto em folha: o repasse dos recursos oriundos dos Direitos Creditórios à Classe depende da realização, pelo Empregador, da escrituração da Consignação a ser</a:t>
            </a:r>
          </a:p>
          <a:p>
            <a:r>
              <a:t>CNPJ 62552447000120 · Recompra e indenização · Condição: Documentos atuais selecionados no inventário por categoria/escopo; a data documental isolada não comprova vigência jurídica.</a:t>
            </a:r>
          </a:p>
          <a:p>
            <a:r>
              <a:t>CNPJ 62552447000120 · Recompra e indenização · Versão e prevalência: Documentos atuais selecionados no inventário por categoria/escopo; a data documental isolada não comprova vigência jurídica.</a:t>
            </a:r>
          </a:p>
          <a:p>
            <a:r>
              <a:t>CNPJ 63953620000165 · Recompra e indenização · Anexo ao Regulamento · ID 1222863 · 2026-06-02 · versão 1 · p. 7 · 4.17.1 · https://fnet.bmfbovespa.com.br/fnet/publico/visualizarDocumento?id=1222863</a:t>
            </a:r>
          </a:p>
          <a:p>
            <a:r>
              <a:t>CNPJ 63953620000165 · Recompra e indenização · Excerto da fonte:</a:t>
            </a:r>
          </a:p>
          <a:p>
            <a:r>
              <a:t>4.17.1 Durante o Período de Investimento, os recursos recebidos pela Classe em razão da liquidação dos  Direitos Creditórios, a qualquer título, incluindo pagamento regular ou por excussão de garantia,  alienação, recompra, indenização pelo Cedente e/ou desinvestimento de Ativo Recuperado, poderão  ser destinados à aquisição pela Classe de novos Direitos Creditórios e/ou destinados à Amortização das  Cotas, observado que (i) a aquisição de novos Direitos Creditórios dependerá, em qualquer hipótese, de  oferta realizada pelo Endossante; e (ii) a destinação dos recursos à Amortização das Cotas será realizada  nos termos do item 7.2, observada a ordem de alocação definida no item 8.1 do presente Anexo.</a:t>
            </a:r>
          </a:p>
          <a:p>
            <a:r>
              <a:t>CNPJ 63953620000165 · Recompra e indenização · Anexo ao Regulamento · ID 1222863 · 2026-06-02 · versão 1 · p. 7 · 4.17.2 · https://fnet.bmfbovespa.com.br/fnet/publico/visualizarDocumento?id=1222863</a:t>
            </a:r>
          </a:p>
          <a:p>
            <a:r>
              <a:t>CNPJ 63953620000165 · Recompra e indenização · Excerto da fonte:</a:t>
            </a:r>
          </a:p>
          <a:p>
            <a:r>
              <a:t>4.17.2 Encerrado o Período de Investimento, os recursos recebidos pela Classe em razão da liquidação dos  Direitos Creditórios, a qualquer título, incluindo pagamento regular ou por excussão de garantia,  alienação, recompra, indenização pelo Cedente e/ou desinvestimento de Ativo Recuperado, não  poderão ser destinados à aquisição pela Classe de novos Direitos Creditórios, aplicando-se, de resto, o  disposto no item 8.1 abaixo no que se refere à ordem de alocação de tais recursos.</a:t>
            </a:r>
          </a:p>
          <a:p>
            <a:r>
              <a:t>CNPJ 63953620000165 · Recompra e indenização · Anexo ao Regulamento · ID 1222863 · 2026-06-02 · versão 1 · p. 26 · https://fnet.bmfbovespa.com.br/fnet/publico/visualizarDocumento?id=1222863</a:t>
            </a:r>
          </a:p>
          <a:p>
            <a:r>
              <a:t>CNPJ 63953620000165 · Recompra e indenização · Excerto da fonte:</a:t>
            </a:r>
          </a:p>
          <a:p>
            <a:r>
              <a:t>Complemento I  (Ao Anexo I)  FATORES DE RISCO APLICÁVEIS À CLASSE CONSIGNADO PRIVADO DO MT GLOBAL FUNDO DE INVESTIMENTO EM  DIREITOS CREDITÓRIOS RESPONSABILIDADE LIMITADA  Risco de Crédito</a:t>
            </a:r>
          </a:p>
          <a:p>
            <a:r>
              <a:t> (i) Riscos associados aos Devedores: os Direitos Creditórios a serem endossados à Classe serão descontados  pela Dataprev da remuneração do Devedor. A capacidade de pagamento do Devedor poderá ser afetada se,  por exemplo, o Devedor tiver o seu contrato de emprego rescindido ou em virtude de decisão judicial, o  Devedor for obrigado a pagar alimentos, que têm prioridade sobre o empréstimo para fins de desconto na  folha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afetar a rentabilidade da Classe.</a:t>
            </a:r>
          </a:p>
          <a:p>
            <a:r>
              <a:t> (ii)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referido Devedor poderá  ficar inadimplente e, consequentemente, não haverá repasse à Classe do respectivo Direito Creditório, o  que poderá resultar em perdas financeiras à Classe e aos Cotistas.</a:t>
            </a:r>
          </a:p>
          <a:p>
            <a:r>
              <a:t> (iii) Risco do Empregador não efetuar o desconto em folha: o repasse dos recursos oriundos dos Direitos  Creditórios à Classe depende da realização, pelo Empregador, da Escrituração e do desconto na respectiva  folha de pagamento do Devedor. Na hipótese do Empregador deixar de realizar a Escrituração ou os  descontos na folha de pagamento, não haverá repasse de recursos à Classe, podendo causar prejuízos à  Classe e aos Cotistas.</a:t>
            </a:r>
          </a:p>
          <a:p>
            <a:r>
              <a:t> (iv) Risco de perda do vínculo empregatício com o Empregador: caso o Devedor perca o vínculo empregatício  com o Empregador, não haverá remuneração e folha de pagamento para realização dos descontos para  pagamento dos Direitos Creditórios. Neste caso, não obstante a possibilidade do Agente de  Retenção/Cobrança realizar a cobrança ativa dos Direitos Creditórios diretamente do Devedor, a ausência  de remuneração poderá deixar o Devedor inadimplente perante a Classe até que o seu vínculo empregatício  seja retomado e seja efetuado o procedimento operacional para que a CCB seja aditada e/ou seja realizado  o Processo de Reinicialização. Tais situações poderão resultar em prejuízos à Classe e aos Cotistas.</a:t>
            </a:r>
          </a:p>
          <a:p>
            <a:r>
              <a:t> Riscos Operacionais</a:t>
            </a:r>
          </a:p>
          <a:p>
            <a:r>
              <a:t> (i) Risco de irregularidade dos Documentos Comprobatórios e/ou Documentos Suporte: o Gestor, ou  terceiro por ele contratado, deverá realizar a verificação da regularidade dos Documentos Comprobatórios  e Documentos Suporte. A Carteira poderá conter Direitos Creditórios com documentação irregular, o que  poderá impedir que a Classe exerça plenamente as prerrogativas derivadas da titularidade dos Direitos  Creditórios. O Gestor poderá contratar empresas especializadas, com comprovada competência e  adequação, para realizar a guarda física, manutenção, armazenamento, organização e digitalização dos  Documentos Comprobatórios e Documentos Suporte, que estarão sob total responsabilidade do Gestor,  permanecendo as empresas como agentes depositários dos Documentos Comprobatórios e Documentos  Suporte.</a:t>
            </a:r>
          </a:p>
          <a:p>
            <a:r>
              <a:t> (ii) Risco operacional da Dataprev e da CEF: o empréstimo contraído pelos Devedores é pago por meio de  desconto na folha de pagamento feito pela Dataprev e pela CEF, conforme aplicável. É possível que os  rendimentos dos Devedores sejam atrasados ou não pagos devido a questões operacionais envolvendo a  Dataprev e/ou a CEF. Nesse caso, a Carteira poderá sofrer, já que não receberá automaticamente, e  também poderá ter dificuldades para receber, a qualquer momento, os recursos decorrentes dos Direitos  Creditórios.</a:t>
            </a:r>
          </a:p>
          <a:p>
            <a:r>
              <a:t>CNPJ 63953620000165 · Recompra e indenização · Condição: Documentos atuais selecionados no inventário por categoria/escopo; a data documental isolada não comprova vigência jurídica.</a:t>
            </a:r>
          </a:p>
          <a:p>
            <a:r>
              <a:t>CNPJ 63953620000165 · Recompra e indenização · Versão e prevalência: Documentos atuais selecionados no inventário por categoria/escopo; a data documental isolada não comprova vigência jurídica.</a:t>
            </a:r>
          </a:p>
          <a:p>
            <a:r>
              <a:t>CNPJ 63953620000165 · Recompra e indenização · Resumo do histórico: {"count": 8, "dates": ["2026-04-28", "2026-05-08", "2026-05-15"], "document_count": 3, "sources": [{"document_id": "1327859", "title": "Demonstrações Financeiras - Fusão, cisão e incorporação", "reference_date": "2026-05-15", "version": "1", "page": 16, "url": "https://fnet.bmfbovespa.com.br/fnet/publico/visualizarDocumento?id=1327859", "sha256": "dca1c68babb97f887528c3e2e47596a9c30f507b067981a35655b2f2da9c8054"}, {"document_id": "1298691", "title": "Demonstrações Financeiras - Fusão, cisão e incorporação", "reference_date": "2026-05-08", "version": "1", "page": 16, "url": "https://fnet.bmfbovespa.com.br/fnet/publico/visualizarDocumento?id=1298691", "sha256": "58c570d9b8d4d265330d3db3ea81c435b8e44a6dab4002aa37790652a1ee9819"}, {"document_id": "1282180", "title": "Demonstrações Financeiras - Fusão, cisão e incorporação", "reference_date": "2026-04-28", "version": "1", "page": 16, "url": "https://fnet.bmfbovespa.com.br/fnet/publico/visualizarDocumento?id=1282180", "sha256": "afaaa0e6809be4385e5bdb6c911aac582032c5bdbac3d7750234bf9eaf00438a"}], "reference": {"path": "history/63953620000165.json", "criterion_id": "repurchase", "total_count": 8, "preview_count": 3, "full_text_deferred": true, "sha256": "a7b89077f5e21098c2d601c303faabc3ff6b9729f89d8afecdc60fe1404720c1"}}</a:t>
            </a:r>
          </a:p>
          <a:p>
            <a:r>
              <a:t>CNPJ 54871427000194 · Coobrigação e retenção de risco · Regulamento · ID 670691 · 28/04/2024 · versão Regulamento — referência 28/04/2024 · p. 10 · Anexo I, 4.7.2 e 4.7.4 · https://fnet.bmfbovespa.com.br/fnet/publico/visualizarDocumento?id=670691</a:t>
            </a:r>
          </a:p>
          <a:p>
            <a:r>
              <a:t>CNPJ 54871427000194 · Coobrigação e retenção de risco · Excerto da fonte:</a:t>
            </a:r>
          </a:p>
          <a:p>
            <a:r>
              <a:t>4.7.2 Caso um Direito Creditório cedido à Classe deixe de atender quaisquer Critérios de Elegibilidade e/ou quaisquer declarações e garantias ref erentes a esse Direito Creditório, conf orme previsto no respectivo Contrato de Endosso, após seu endosso à Classe, não haverá coobrigação nem direito de regresso da Classe contra o ADMINISTRADOR, o CUSTODIANTE o GESTOR e/ou o Endossante. 4.7.3 A f ormalização de cada aquisição de Direitos Creditórios pela Classe deverá incluir o endosso eletrônico em preto de cada CCB representativa do respectivo Direito Creditório em f avor da Classe, inclusive, mas não necessariamente, por meio d a celebração de Termos de Endosso (os quais, para f ins de esclarecimento, poderão ser levados a registro junto aos cartórios de Registro de Títulos e Documentos competentes, a exclusivo critério do GESTOR, em casos excepcionais em que tal registro possa ser considerado necessário para f ins de ef icácia das respectivas cessões perante terceiros, tendo em vista a transmiss ão das CCB mediante endosso em preto, nos termos deste Regulamento e da legislação aplicável). 4.7.4 Após a f ormalizaçã</a:t>
            </a:r>
          </a:p>
          <a:p>
            <a:r>
              <a:t>CNPJ 54871427000194 · Coobrigação e retenção de risco · Regulamento · ID 670691 · 28/04/2024 · versão Regulamento — referência 28/04/2024 · p. 13 · Anexo I, 4.18 · https://fnet.bmfbovespa.com.br/fnet/publico/visualizarDocumento?id=670691</a:t>
            </a:r>
          </a:p>
          <a:p>
            <a:r>
              <a:t>CNPJ 54871427000194 · Coobrigação e retenção de risco · Excerto da fonte:</a:t>
            </a:r>
          </a:p>
          <a:p>
            <a:r>
              <a:t>4.18 Exceto na medida em que eventualmente previsto nos Contratos de Cessão e/ou em instrumentos eventualmente celebrados entre a Classe e os Endossantes, os Endossantes não serão responsáveis em caso de eventual inadimplemento dos Direitos Creditórios por eles cedidos, sendo responsáveis, não obstante, apenas pela existência, certeza, conteúdo, exatidão, veracidade, legitimidade, validade e correta f ormalização dos Direitos Creditórios que cederem à Classe, nos termos da legislação aplicável. 4.19 A Classe, o ADMINISTRADOR e o GESTOR, bem como seus controladores, sociedades coligadas, controladas ou sob controle comum, e/ou subsidiárias, não respondem pela certeza, liquidez, exigibilidade, conteúdo, exatidão, veracidade, legitimidade, validade e/ou correta f ormalização dos Direitos Creditórios adquiridos pela Classe, tampouco pela solvência dos Devedores e/ou Endossantes dos respectivos Direitos Creditórios. 4.20 Sem prejuízo do disposto no item 4.19 acima e, observado o disposto no item Erro! Fonte de referência não encontrada., o CUSTODIANTE f oi contratado pelo GESTOR para verificar e validar, na Data de Aquisição dos Direitos Creditórios pela Classe, o atendimento dos Direitos</a:t>
            </a:r>
          </a:p>
          <a:p>
            <a:r>
              <a:t>CNPJ 54871427000194 · Coobrigação e retenção de risco · Versão e prevalência: Leitura específica das cláusulas indicadas; condições e conflitos preservados. Seleção documental atual não comprova vigência jurídica por data isolada.</a:t>
            </a:r>
          </a:p>
          <a:p>
            <a:r>
              <a:t>CNPJ 54871427000194 · Coobrigação e retenção de risco · Resumo do histórico: {"count": 2, "dates": ["2024-04-19", "2024-04-28"], "document_count": 2, "sources": [{"document_id": "670691", "title": "Regulamento", "reference_date": "2024-04-28", "version": "1", "page": "10-12", "url": "https://fnet.bmfbovespa.com.br/fnet/publico/visualizarDocumento?id=670691", "sha256": "bf16dd7f1a62d5cdbf2e2d54fef81783783f7310fbc99c3a8f00459bdf9d037b"}, {"document_id": "670689", "title": "Regulamento", "reference_date": "2024-04-19", "version": "1", "page": 10, "clause": "4.7.3", "url": "https://fnet.bmfbovespa.com.br/fnet/publico/visualizarDocumento?id=670689", "sha256": "891bc9bc5d87bbc02ec139077a84d2702eb81ea02035fb71d24f5b8366b94a0b"}], "reference": {"path": "history/54871427000194.json", "criterion_id": "coobligation", "total_count": 2, "preview_count": 2, "full_text_deferred": true, "sha256": "35d7cd99be50c7287c9fb675cf4f2e736002315295a225a9efa79c8d9186d874"}}</a:t>
            </a:r>
          </a:p>
          <a:p>
            <a:r>
              <a:t>CNPJ 60010416000112 · Coobrigação e retenção de risco · Regulamento · ID 1051393 · 09/10/2025 · versão Regulamento09/10/2025 · p. 10 · AnexoI4.4.5 · https://fnet.bmfbovespa.com.br/fnet/publico/visualizarDocumento?id=1051393</a:t>
            </a:r>
          </a:p>
          <a:p>
            <a:r>
              <a:t>CNPJ 60010416000112 · Coobrigação e retenção de risco · Excerto da fonte:</a:t>
            </a:r>
          </a:p>
          <a:p>
            <a:r>
              <a:t>4.4.5. Caso um Direito Creditório endossado à Classe deixe de atender quaisquer Critérios de Elegibilidade, quaisquer condições de endosso e/ou quaisquer declarações e garantias referentes a esse Direito Creditório, conforme previsto no Contrato de Endosso, após seu endosso à Classe, não haverá coobrigação nem direito de regresso da Classe contra o Endossante, o Administrador, o Custodiante, o Gestor e/ou o Agente de Retenção/Cobrança, exceto em caso de má-fé, culpa ou dolo comprovado, hipótese em que a parte que agiu com má-f é, culpa ou dolo comprovado</a:t>
            </a:r>
          </a:p>
          <a:p>
            <a:r>
              <a:t>CNPJ 60010416000112 · Coobrigação e retenção de risco · Regulamento · ID 1051393 · 09/10/2025 · versão Regulamento09/10/2025 · p. 11 · AnexoI4.4.7 · https://fnet.bmfbovespa.com.br/fnet/publico/visualizarDocumento?id=1051393</a:t>
            </a:r>
          </a:p>
          <a:p>
            <a:r>
              <a:t>CNPJ 60010416000112 · Coobrigação e retenção de risco · Excerto da fonte:</a:t>
            </a:r>
          </a:p>
          <a:p>
            <a:r>
              <a:t>sem coobrigação do Endossante, da plena titularidade desse Direito Creditório, juntamente com todos os direitos, privilégios, pref erências, prerrogativas, garantias e ações a ele relacionados, bem como correção monetária, juros e encargos, sem prejuízo do direito da Classe (i) de exigir a recompra compulsória do respectivo Direito Creditório, de acordo com os termos do Contrato de Endosso; ou (ii) de vender Direitos Creditórios ao Agente de Retenção/Cobrança (opção de venda), em ambos os casos estritamente nos termos do Contrato de Endosso.</a:t>
            </a:r>
          </a:p>
          <a:p>
            <a:r>
              <a:t>CNPJ 60010416000112 · Coobrigação e retenção de risco · Versão e prevalência: Leitura específica das cláusulas indicadas; condições e conflitos preservados. Seleção documental atual não comprova vigência jurídica por data isolada.</a:t>
            </a:r>
          </a:p>
          <a:p>
            <a:r>
              <a:t>CNPJ 60010416000112 · Coobrigação e retenção de risco · Resumo do histórico: {"count": 2, "dates": ["2025-03-20", "2025-10-09"], "document_count": 2, "sources": [{"document_id": "1051393", "title": "Regulamento", "reference_date": "2025-10-09", "version": "1", "page": "10-11", "url": "https://fnet.bmfbovespa.com.br/fnet/publico/visualizarDocumento?id=1051393", "sha256": "8469d613078ffd5a6c1d217885d8a397a16342c0b937ae4aa24b106505f233ae"}, {"document_id": "993786", "title": "Regulamento", "reference_date": "2025-03-20", "version": "1", "page": 10, "clause": "4.4.5", "url": "https://fnet.bmfbovespa.com.br/fnet/publico/visualizarDocumento?id=993786", "sha256": "fd0fdd369a195510d81f81f505195a0b09e5f43522a990afa7d58c4f872921c8"}], "reference": {"path": "history/60010416000112.json", "criterion_id": "coobligation", "total_count": 2, "preview_count": 2, "full_text_deferred": true, "sha256": "8e2bd813f4c51cf01f6bfaad164bafe69d2bbb192f753eac92da3a01c2e63046"}}</a:t>
            </a:r>
          </a:p>
          <a:p>
            <a:r>
              <a:t>CNPJ 62696791000193 · Coobrigação e retenção de risco · Regulamento · ID 1143317 · 2026-03-20 · versão 1 · p. 11 · 4.7.3 · https://fnet.bmfbovespa.com.br/fnet/publico/visualizarDocumento?id=1143317</a:t>
            </a:r>
          </a:p>
          <a:p>
            <a:r>
              <a:t>CNPJ 62696791000193 · Coobrigação e retenção de risco · Excerto da fonte:</a:t>
            </a:r>
          </a:p>
          <a:p>
            <a:r>
              <a:t>4.7.3 Na hipótese de eventuais Direitos Creditórios do Agronegócio elegíveis deixarem de atender a  qualquer Critério de Elegibilidade após sua aquisição pela Classe, tal f ato não será entendido  como um desenquadramento da carteira, tampouco haverá direito de regresso contra o  Administrador e/ou o Gestor.</a:t>
            </a:r>
          </a:p>
          <a:p>
            <a:r>
              <a:t> Limites de concentração aplicáveis aos Direitos Creditórios do Agronegócio e fundos de investimento  em Direitos Creditórios do Agronegócio investidos pela Classe</a:t>
            </a:r>
          </a:p>
          <a:p>
            <a:r>
              <a:t>CNPJ 62696791000193 · Coobrigação e retenção de risco · Regulamento · ID 1143317 · 2026-03-20 · versão 1 · p. 11 · 4.9 · https://fnet.bmfbovespa.com.br/fnet/publico/visualizarDocumento?id=1143317</a:t>
            </a:r>
          </a:p>
          <a:p>
            <a:r>
              <a:t>CNPJ 62696791000193 · Coobrigação e retenção de risco · Excerto da fonte:</a:t>
            </a:r>
          </a:p>
          <a:p>
            <a:r>
              <a:t>4.9 Nos termos do Art. 45 do Anexo Normativo II da Resolução CVM 175, a Classe poderá ter até 100%  (cem por cento) de seu Patrimônio Líquido alocado em Direitos Creditórios do Agronegócio, devidos  por um mesmo Devedor e/ou de responsabilidade ou coobrigação de Devedores de um mesmo grupo</a:t>
            </a:r>
          </a:p>
          <a:p>
            <a:r>
              <a:t>CNPJ 62696791000193 · Coobrigação e retenção de risco · Regulamento · ID 1143317 · 2026-03-20 · versão 1 · p. 41 · 7.1 · https://fnet.bmfbovespa.com.br/fnet/publico/visualizarDocumento?id=1143317</a:t>
            </a:r>
          </a:p>
          <a:p>
            <a:r>
              <a:t>CNPJ 62696791000193 · Coobrigação e retenção de risco · Excerto da fonte:</a:t>
            </a:r>
          </a:p>
          <a:p>
            <a:r>
              <a:t>7.1. Risco de Crédito relativo aos Direitos Creditórios do Agronegócio. Decorre da capacidade dos  Devedores e/ou coobrigados, conforme aplicável, de honrarem seus compromissos pontual e  integralmente, conforme contratados. A Classe sof rerá o impacto do inadimplemento dos  Direitos Creditórios do Agronegócio detidos em Carteira que estejam vencidos e não pagos e  do não cumprimento, pelos Devedores e/ou coobrigados, conf orme aplicável, de suas  obrigações nos termos dos respectivos instrumentos. A Classe somente procederá ao resgate  das Cotas em moeda corrente nacional na medida em que os Direitos Creditórios do  Agronegócio sejam pagos pelos Devedores e/ou coobrigados, conforme aplicável, e desde  que os respectivos valores sejam transferidos à Classe, não havendo garantia de que o resgate  das Cotas ocorrerá integralmente conf orme estabelecido neste Regulamento, Anexo I e  demais documentos que o integrem, conforme aplicável. Nessas hipóteses, não será devido  pela Classe, pelo pelo Administrador, pelo Gestor e/ou pelo Custodiante, qualquer multa ou  penalidade, de qualquer natureza. Em caso de instauração de pedido de f alência, recuperação  judicial, de plano de recuperação extrajudicial ou qualquer outro procedimento de insolvência  dos Devedores e/ou coobrigados, conforme aplicável, a Classe poderá não receber os  pagamentos dos Direitos Creditórios do Agronegócio que compõem sua Carteira, o que poderá  af etar adversamente os resultados da Classe.</a:t>
            </a:r>
          </a:p>
          <a:p>
            <a:r>
              <a:t>CNPJ 62696791000193 · Coobrigação e retenção de risco · Condição: Documentos atuais selecionados no inventário por categoria/escopo; a data documental isolada não comprova vigência jurídica.</a:t>
            </a:r>
          </a:p>
          <a:p>
            <a:r>
              <a:t>CNPJ 62696791000193 · Coobrigação e retenção de risco · Versão e prevalência: Documentos atuais selecionados no inventário por categoria/escopo; a data documental isolada não comprova vigência jurídica.</a:t>
            </a:r>
          </a:p>
          <a:p>
            <a:r>
              <a:t>CNPJ 55563624000109 · Coobrigação e retenção de risco · Demonstrações Financeiras · ID 1178840 · 2026-01-31 · versão 1 · p. 21 · https://fnet.bmfbovespa.com.br/fnet/publico/visualizarDocumento?id=1178840</a:t>
            </a:r>
          </a:p>
          <a:p>
            <a:r>
              <a:t>CNPJ 55563624000109 · Coobrigação e retenção de risco · Excerto da fonte:</a:t>
            </a:r>
          </a:p>
          <a:p>
            <a:r>
              <a:t>ii) Risco de sistemas. Dada a complexidade operacional própria dos fundos de  investimento em direitos creditórios, não há garantia de que as trocas de informações  entre os sistemas eletrônicos do Custodiante, da Administradora, do Gestor, da  Classe e, quando aplicável, do endossante, dos devedores e/ou coobrigados,  conforme aplicável, se darão livres de erros. Caso qualquer desses riscos venha a  se materializar, a aquisição, cobrança ou realização dos direitos creditórios poderá  ser adversamente afetada, prejudicando o desempenho da Classe.</a:t>
            </a:r>
          </a:p>
          <a:p>
            <a:r>
              <a:t>CNPJ 55563624000109 · Coobrigação e retenção de risco · Condição: Trechos do documento específico identificado com data mais recente; vigência jurídica não inferida.</a:t>
            </a:r>
          </a:p>
          <a:p>
            <a:r>
              <a:t>CNPJ 55563624000109 · Coobrigação e retenção de risco · Versão e prevalência: Trechos do documento específico identificado com data mais recente; vigência jurídica não inferida.</a:t>
            </a:r>
          </a:p>
          <a:p>
            <a:r>
              <a:t>CNPJ 55563624000109 · Coobrigação e retenção de risco · Resumo do histórico: {"count": 1, "dates": ["2025-01-31"], "document_count": 1, "sources": [{"document_id": "891861", "title": "Demonstrações Financeiras", "reference_date": "2025-01-31", "version": "1", "page": 21, "url": "https://fnet.bmfbovespa.com.br/fnet/publico/visualizarDocumento?id=891861", "sha256": "e9cb9e6ddbe505fe068cfcac33605165a98313489de0d3ce6d4d238263c3f3e7"}], "reference": {"path": "history/55563624000109.json", "criterion_id": "coobligation", "total_count": 1, "preview_count": 1, "full_text_deferred": true, "sha256": "7835d573fb58a3c19adf5b8ecc2aee2bdbb9a88f7a0c0209b5f262b64c7522e3"}}</a:t>
            </a:r>
          </a:p>
          <a:p>
            <a:r>
              <a:t>CNPJ 62552447000120 · Coobrigação e retenção de risco · Regulamento · ID 1200623 · 21/05/2026 · versão Consolidado21/05/2026 aprovado pelo ato1200625 · p. 13 · AnexoI4.6.3–4.6.4 · https://fnet.bmfbovespa.com.br/fnet/publico/visualizarDocumento?id=1200623</a:t>
            </a:r>
          </a:p>
          <a:p>
            <a:r>
              <a:t>CNPJ 62552447000120 · Coobrigação e retenção de risco · Excerto da fonte:</a:t>
            </a:r>
          </a:p>
          <a:p>
            <a:r>
              <a:t>4.6.4 Após a formalização, o endosso de um Direito Creditório Consignado Privado, Direito Creditório FGTS e Direito Creditório Refinanciamento Livre à Classe será irrevogável e irretratável, com a transf erência, à Classe, de f orma def initiva, sem coobrigação do Endossante, da plena titularidade desse Direito Creditório, juntamente com todos os direitos, privilégios, preferências, prerrogativas, garantias e ações a ele relacionados, bem como correção monetária, juros e encargos, sem prejuízo do direito da Classe (i) de exigir a resolução do endosso do respectivo D</a:t>
            </a:r>
          </a:p>
          <a:p>
            <a:r>
              <a:t>CNPJ 62552447000120 · Coobrigação e retenção de risco · Regulamento · ID 1200623 · 21/05/2026 · versão Consolidado21/05/2026 aprovado pelo ato1200625 · p. 16 · AnexoI4.22 · https://fnet.bmfbovespa.com.br/fnet/publico/visualizarDocumento?id=1200623</a:t>
            </a:r>
          </a:p>
          <a:p>
            <a:r>
              <a:t>CNPJ 62552447000120 · Coobrigação e retenção de risco · Excerto da fonte:</a:t>
            </a:r>
          </a:p>
          <a:p>
            <a:r>
              <a:t>4.22 Exceto na medida em que eventualmente previsto no s Contratos de Endosso e/ou em instrumentos eventualmente celebrados entre a Classe e o Endossante e/ou o Agente de Retenção e Cobrança, conf orme aplicável, o Endossante e/ou o Agente de Retenção e Cobrança não serão responsáveis em caso de eventual inadimplemento dos Direitos Creditórios . 4.23 A Classe, o Administrador e o Gestor, bem como seus controladores, sociedades coligadas, controladas ou sob controle comum, e/ou subsidiárias, não respondem pela certeza, liquidez, exigibilidade, conteúdo, exatidão, veracidade, legitimidade, validade e/ou co</a:t>
            </a:r>
          </a:p>
          <a:p>
            <a:r>
              <a:t>CNPJ 62552447000120 · Coobrigação e retenção de risco · Versão e prevalência: Leitura específica das cláusulas indicadas; condições e conflitos preservados. Seleção documental atual não comprova vigência jurídica por data isolada.</a:t>
            </a:r>
          </a:p>
          <a:p>
            <a:r>
              <a:t>CNPJ 63953620000165 · Coobrigação e retenção de risco · Anexo ao Regulamento · ID 1222863 · 02/06/2026 · versão AnexoConsignadoPrivado02/06/2026 · p. 6 · 4.8,4.10.3 · https://fnet.bmfbovespa.com.br/fnet/publico/visualizarDocumento?id=1222863</a:t>
            </a:r>
          </a:p>
          <a:p>
            <a:r>
              <a:t>CNPJ 63953620000165 · Coobrigação e retenção de risco · Excerto da fonte:</a:t>
            </a:r>
          </a:p>
          <a:p>
            <a:r>
              <a:t>4.10.3 Não haverá coobrigação nem direito de regresso da Classe contra o Endossante, o Administrador, o Custodiante, o Gestor e/ou o Agente de Retenção/Cobrança, exceto em caso de má-fé, culpa ou dolo comprovado, hipótese em que a parte que agiu com má-fé, culpa ou dolo comprovado poderá ser responsabilizada pelas perdas incorridas pela Classe em relação aos respectivos Direitos Creditórios Crédito Consignado. 4.11 Além dos Critérios de Elegibilidade acima mencionados, a serem verificados pelo Gestor ou terceiro por ele contratado, o Endossante e o Agente de Retenção/Cobrança declararão, expr</a:t>
            </a:r>
          </a:p>
          <a:p>
            <a:r>
              <a:t>CNPJ 63953620000165 · Coobrigação e retenção de risco · Versão e prevalência: Leitura específica das cláusulas indicadas; condições e conflitos preservados. Seleção documental atual não comprova vigência jurídica por data isolada.</a:t>
            </a:r>
          </a:p>
          <a:p>
            <a:r>
              <a:t>CNPJ 63953620000165 · Coobrigação e retenção de risco · Resumo do histórico: {"count": 8, "dates": ["2026-04-28", "2026-05-08", "2026-05-15"], "document_count": 3, "sources": [{"document_id": "1327859", "title": "Demonstrações Financeiras - Fusão, cisão e incorporação", "reference_date": "2026-05-15", "version": "1", "page": 16, "url": "https://fnet.bmfbovespa.com.br/fnet/publico/visualizarDocumento?id=1327859", "sha256": "dca1c68babb97f887528c3e2e47596a9c30f507b067981a35655b2f2da9c8054"}, {"document_id": "1298691", "title": "Demonstrações Financeiras - Fusão, cisão e incorporação", "reference_date": "2026-05-08", "version": "1", "page": 16, "url": "https://fnet.bmfbovespa.com.br/fnet/publico/visualizarDocumento?id=1298691", "sha256": "58c570d9b8d4d265330d3db3ea81c435b8e44a6dab4002aa37790652a1ee9819"}, {"document_id": "1282180", "title": "Demonstrações Financeiras - Fusão, cisão e incorporação", "reference_date": "2026-04-28", "version": "1", "page": 16, "url": "https://fnet.bmfbovespa.com.br/fnet/publico/visualizarDocumento?id=1282180", "sha256": "afaaa0e6809be4385e5bdb6c911aac582032c5bdbac3d7750234bf9eaf00438a"}], "reference": {"path": "history/63953620000165.json", "criterion_id": "coobligation",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Qualidade da carteira</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Metodologia de PDD e curva por atraso · Base da comparação IME: {"criterion_id": "pdd", "observed_value": null, "unit": "", "competence": "08/2026", "status": "not_comparable", "reason": "A curva de PDD requer atraso, contágio e garantias por operação; o agregado mensal não demonstra aplicação da metodologia.", "formula": "",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null, "comparison_required": true, "context_formula": "PDD / direitos creditórios", "context_value": 0.397174994710542, "context_unit": "percent"}</a:t>
            </a:r>
          </a:p>
          <a:p>
            <a:r>
              <a:t>CNPJ 54871427000194 · Metodologia de PDD e curva por atraso · Regulamento · ID 670691 · 28/04/2024 · versão Regulamento — referência 28/04/2024 · p. 17 · Anexo I, 9.2–9.2.1 · https://fnet.bmfbovespa.com.br/fnet/publico/visualizarDocumento?id=670691</a:t>
            </a:r>
          </a:p>
          <a:p>
            <a:r>
              <a:t>CNPJ 54871427000194 · Metodologia de PDD e curva por atraso · Excerto da fonte:</a:t>
            </a:r>
          </a:p>
          <a:p>
            <a:r>
              <a:t>9.2 As provisões para perdas e as perdas havidas com Direitos Creditórios ou com os Ativos Financeiros de Liquidez integrantes da Carteira serão, respectivamente, efetuadas ou reconhecidas nos termos da Instrução CVM 489. Desta forma, o valor do saldo dos Direitos Creditórios e/ou Ativos Financeiros de Liquidez será reduzido pelo valor da provisão ef etuada ou perda reconhecida. 9.2.1 O ef eito de perda ou provisão para devedores duvidosos de Direitos Creditórios de um mesmo Devedor deverá ser mensurado levando-se em consideração o disposto no Art. 13 da Instrução CVM 489, sendo f acultada a análise individualizada dos Direitos Creditórios, observada a metodologia de avaliação descrita no manual d o ADMINISTRADOR ou, ainda, no manual do CUSTODIANTE. CAPÍTULO 10 – ASSEMBLEIA ESPECIAL DE COTISTAS 10.1 Sem prejuízo de outros requisitos e inf ormações previstos na regulamentação vigente, são aplicáveis à Assembleia Especial de Cotistas as mesmas disposições procedimentais da Assembleia Geral de Cotistas. 10.2 A Assembleia Especial de Cotistas é responsável por deliberar sobre as matérias específicas da Classe de Cotas, sem prejuízo das demais disposições previstas</a:t>
            </a:r>
          </a:p>
          <a:p>
            <a:r>
              <a:t>CNPJ 54871427000194 · Metodologia de PDD e curva por atraso · Condição: Os percentuais do Complemento 2 são descontos de cobrança e comissões; não são alíquotas de PDD. O manual operacional referenciado permanece uma fonte separada.</a:t>
            </a:r>
          </a:p>
          <a:p>
            <a:r>
              <a:t>CNPJ 54871427000194 · Metodologia de PDD e curva por atraso · Versão e prevalência: Leitura específica das cláusulas indicadas; condições e conflitos preservados. Seleção documental atual não comprova vigência jurídica por data isolada.</a:t>
            </a:r>
          </a:p>
          <a:p>
            <a:r>
              <a:t>CNPJ 54871427000194 · Metodologia de PDD e curva por atraso · Resumo do histórico: {"count": 4, "dates": ["2024-12-31", "2025-01-01", "2025-12-31"], "document_count": 3, "sources": [{"document_id": "1151805", "title": "Demonstrações Financeiras", "reference_date": "2025-12-31", "version": "1", "page": 17, "url": "https://fnet.bmfbovespa.com.br/fnet/publico/visualizarDocumento?id=1151805", "sha256": "f1cea70b152968bf96ef9221b27225953cb20aeef487b2798db3c25e11b528d4"}, {"document_id": "869529", "title": "Demonstrações Financeiras", "reference_date": "2025-01-01", "version": "1", "page": 17, "url": "https://fnet.bmfbovespa.com.br/fnet/publico/visualizarDocumento?id=869529", "sha256": "9a93a9369ac8efdbc54ff8fcee3ccac3abf88edab4807b9323d3852450771b2a"}, {"document_id": "870070", "title": "Demonstrações Financeiras", "reference_date": "2024-12-31", "version": "1", "page": 17, "url": "https://fnet.bmfbovespa.com.br/fnet/publico/visualizarDocumento?id=870070", "sha256": "9a93a9369ac8efdbc54ff8fcee3ccac3abf88edab4807b9323d3852450771b2a"}], "reference": {"path": "history/54871427000194.json", "criterion_id": "pdd", "total_count": 4, "preview_count": 3, "full_text_deferred": true, "sha256": "35d7cd99be50c7287c9fb675cf4f2e736002315295a225a9efa79c8d9186d874"}}</a:t>
            </a:r>
          </a:p>
          <a:p>
            <a:r>
              <a:t>CNPJ 60010416000112 · Metodologia de PDD e curva por atraso · Base da comparação IME: {"criterion_id": "pdd", "observed_value": null, "unit": "", "competence": "08/2026", "status": "not_comparable", "reason": "A curva de PDD requer atraso, contágio e garantias por operação; o agregado mensal não demonstra aplicação da metodologia.", "formula": "",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null, "comparison_required": true, "context_formula": "PDD / direitos creditórios", "context_value": 19.008881839133778, "context_unit": "percent"}</a:t>
            </a:r>
          </a:p>
          <a:p>
            <a:r>
              <a:t>CNPJ 60010416000112 · Metodologia de PDD e curva por atraso · Regulamento · ID 1051393 · 09/10/2025 · versão Regulamento09/10/2025 · p. 17 · AnexoI8.1(iv)–(v),8.3–8.3.1 · https://fnet.bmfbovespa.com.br/fnet/publico/visualizarDocumento?id=1051393</a:t>
            </a:r>
          </a:p>
          <a:p>
            <a:r>
              <a:t>CNPJ 60010416000112 · Metodologia de PDD e curva por atraso · Excerto da fonte:</a:t>
            </a:r>
          </a:p>
          <a:p>
            <a:r>
              <a:t>8.1 Os ativos da Carteira serão avaliados todos os Dias Úteis de acordo com critérios consistentes e verif icáveis, apoiados por inf ormações externas e internas que levem em consideração aspectos relacionados aos Devedores e às características da transação correspondente, de acordo com a seguinte metodologia de avaliação. (i) os Ativos Financeiros de Liquidez deverão ser registrados e ter seus valores ajustados a mercado, sujeitos às regras e procedimentos definidos no manual de marcação a mercado do Custodiante e de acordo com as regras do Banco Central e da CVM, aplicá</a:t>
            </a:r>
          </a:p>
          <a:p>
            <a:r>
              <a:t>CNPJ 60010416000112 · Metodologia de PDD e curva por atraso · Condição: Curva numérica por atraso não é transcrita; manuais/contrato têm perímetro distinto do indicador agregado do IME.</a:t>
            </a:r>
          </a:p>
          <a:p>
            <a:r>
              <a:t>CNPJ 60010416000112 · Metodologia de PDD e curva por atraso · Motivo: Cláusula primária localizada e citada, mas sua lista/condições extensas não admitem uma síntese literal curta confirmada. O trecho integral permanece nas fontes.</a:t>
            </a:r>
          </a:p>
          <a:p>
            <a:r>
              <a:t>CNPJ 60010416000112 · Metodologia de PDD e curva por atraso · Versão e prevalência: Leitura específica das cláusulas indicadas; condições e conflitos preservados. Seleção documental atual não comprova vigência jurídica por data isolada.</a:t>
            </a:r>
          </a:p>
          <a:p>
            <a:r>
              <a:t>CNPJ 60010416000112 · Metodologia de PDD e curva por atraso · Resumo do histórico: {"count": 1, "dates": ["2025-03-20"], "document_count": 1, "sources": [{"document_id": "993786", "title": "Regulamento", "reference_date": "2025-03-20", "version": "1", "page": 17, "clause": "8.1", "url": "https://fnet.bmfbovespa.com.br/fnet/publico/visualizarDocumento?id=993786", "sha256": "fd0fdd369a195510d81f81f505195a0b09e5f43522a990afa7d58c4f872921c8"}], "reference": {"path": "history/60010416000112.json", "criterion_id": "pdd", "total_count": 1, "preview_count": 1, "full_text_deferred": true, "sha256": "8e2bd813f4c51cf01f6bfaad164bafe69d2bbb192f753eac92da3a01c2e63046"}}</a:t>
            </a:r>
          </a:p>
          <a:p>
            <a:r>
              <a:t>CNPJ 62696791000193 · Metodologia de PDD e curva por atraso · Regulamento · ID 1143317 · 20/03/2026 · versão Regulamento — referência 20/03/2026 · p. 11 · Anexo I, 4.7.3 · https://fnet.bmfbovespa.com.br/fnet/publico/visualizarDocumento?id=1143317</a:t>
            </a:r>
          </a:p>
          <a:p>
            <a:r>
              <a:t>CNPJ 62696791000193 · Metodologia de PDD e curva por atraso · Excerto da fonte:</a:t>
            </a:r>
          </a:p>
          <a:p>
            <a:r>
              <a:t>4.7.3 Na hipótese de eventuais Direitos Creditórios do Agronegócio elegíveis deixarem de atender a qualquer Critério de Elegibilidade após sua aquisição pela Classe, tal f ato não será entendido como um desenquadramento da carteira, tampouco haverá direito de regresso contra o Administrador e/ou o Gestor. Limites de concentração aplicáveis aos Direitos Creditórios do Agronegócio e fundos de investimento em Direitos Creditórios do Agronegócio investidos pela Classe 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t>
            </a:r>
          </a:p>
          <a:p>
            <a:r>
              <a:t>CNPJ 62696791000193 · Metodologia de PDD e curva por atraso · Condição: PDD mensal observada e metodologia contratual são evidências separadas.</a:t>
            </a:r>
          </a:p>
          <a:p>
            <a:r>
              <a:t>CNPJ 62696791000193 · Metodologia de PDD e curva por atraso · Motivo: Leitura do consolidado de 48 páginas não localizou metodologia de PDD/curva por atraso. A cláusula 4.7.3 trata de perda posterior de elegibilidade; não estabelece provisionamento.</a:t>
            </a:r>
          </a:p>
          <a:p>
            <a:r>
              <a:t>CNPJ 62696791000193 · Metodologia de PDD e curva por atraso · Versão e prevalência: Leitura específica das cláusulas indicadas; condições e conflitos preservados. Seleção documental atual não comprova vigência jurídica por data isolada.</a:t>
            </a:r>
          </a:p>
          <a:p>
            <a:r>
              <a:t>CNPJ 55563624000109 · Metodologia de PDD e curva por atraso · Base da comparação IME: {"criterion_id": "pdd", "observed_value": null, "unit": "", "competence": "08/2026", "status": "not_comparable", "reason": "A curva de PDD requer atraso, contágio e garantias por operação; o agregado mensal não demonstra aplicação da metodologia.", "formula": "",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null, "comparison_required": true, "context_formula": "PDD / direitos creditórios", "context_value": null, "context_unit": "percent"}</a:t>
            </a:r>
          </a:p>
          <a:p>
            <a:r>
              <a:t>CNPJ 55563624000109 · Metodologia de PDD e curva por atraso · Regulamento · ID 1192614 · 30/04/2026 · versão Regulamento30/04/2026 · p. 19 · AnexoI9.1–9.2.1 · https://fnet.bmfbovespa.com.br/fnet/publico/visualizarDocumento?id=1192614</a:t>
            </a:r>
          </a:p>
          <a:p>
            <a:r>
              <a:t>CNPJ 55563624000109 · Metodologia de PDD e curva por atraso · Excerto da fonte:</a:t>
            </a:r>
          </a:p>
          <a:p>
            <a:r>
              <a:t>9.1 As Cotas da Classe Investida e Ativos Financeiros de Liquidez que compõem a Carteira da Classe terão seus valores calculados todo Dia Útil conforme a metodologia de avaliação descrita no manual do ADMINISTRADOR, disponível no seu website, no endereço https://www.btgpactual.com/asset-management/administracao- fiduciaria#documentos. 9.2 As provisões para perdas e as perdas havidas com as Cotas da Classe Investida ou com os Ativos Financeiros de Liquidez integrantes da Carteira serão, respectivamente, efetuadas ou reconhecidas pelo ADMINISTRADOR, de</a:t>
            </a:r>
          </a:p>
          <a:p>
            <a:r>
              <a:t>CNPJ 55563624000109 · Metodologia de PDD e curva por atraso · Condição: PDD do FIC reflete cotas/liquidez; atraso/PDD de devedores finais exige IME do investido.</a:t>
            </a:r>
          </a:p>
          <a:p>
            <a:r>
              <a:t>CNPJ 55563624000109 · Metodologia de PDD e curva por atraso · Versão e prevalência: Leitura específica das cláusulas indicadas; condições e conflitos preservados. Seleção documental atual não comprova vigência jurídica por data isolada.</a:t>
            </a:r>
          </a:p>
          <a:p>
            <a:r>
              <a:t>CNPJ 62552447000120 · Metodologia de PDD e curva por atraso · Base da comparação IME: {"criterion_id": "pdd", "observed_value": null, "unit": "", "competence": "08/2026", "status": "not_comparable", "reason": "A curva de PDD requer atraso, contágio e garantias por operação; o agregado mensal não demonstra aplicação da metodologia.", "formula": "",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null, "comparison_required": true, "context_formula": "PDD / direitos creditórios", "context_value": 9.644446353219038, "context_unit": "percent"}</a:t>
            </a:r>
          </a:p>
          <a:p>
            <a:r>
              <a:t>CNPJ 62552447000120 · Metodologia de PDD e curva por atraso · Regulamento · ID 1200623 · 21/05/2026 · versão Consolidado21/05/2026 aprovado pelo ato1200625 · p. 20 · AnexoI9.1–9.2.1 · https://fnet.bmfbovespa.com.br/fnet/publico/visualizarDocumento?id=1200623</a:t>
            </a:r>
          </a:p>
          <a:p>
            <a:r>
              <a:t>CNPJ 62552447000120 · Metodologia de PDD e curva por atraso · Excerto da fonte:</a:t>
            </a:r>
          </a:p>
          <a:p>
            <a:r>
              <a:t>9.1 Os Direitos Creditórios e Ativos Financeiros que compõem a Carteira terão seus valores calculados todo Dia Útil conforme a metodologia de avaliação descrita no manual d o Administrador ou, ainda, nos manuais do Custodiante, disponíveis nos seus respectivos websites, no endereço https://www.btgpactual.com/asset-management/administracao-f iduciaria#documentos. 9.2 As provisões para perdas e as perdas havidas com Direitos Creditórios ou com os Ativos Financeiros integrantes da Carteira serão, respectivamente, efetuadas ou reconhecidas nos termos da Instrução da CVM n.º 489, de 14 de janeiro de 2011, c</a:t>
            </a:r>
          </a:p>
          <a:p>
            <a:r>
              <a:t>CNPJ 62552447000120 · Metodologia de PDD e curva por atraso · Condição: Cláusula não transcreve curva de provisão por faixa de atraso; percentual PDD do IME não reproduz manual.</a:t>
            </a:r>
          </a:p>
          <a:p>
            <a:r>
              <a:t>CNPJ 62552447000120 · Metodologia de PDD e curva por atraso · Motivo: Não localizada uma cláusula material para este critério nos textos identificados e processados. A ausência de resultado não comprova inexistência da regra.</a:t>
            </a:r>
          </a:p>
          <a:p>
            <a:r>
              <a:t>CNPJ 62552447000120 · Metodologia de PDD e curva por atraso · Versão e prevalência: Leitura específica das cláusulas indicadas; condições e conflitos preservados. Seleção documental atual não comprova vigência jurídica por data isolada.</a:t>
            </a:r>
          </a:p>
          <a:p>
            <a:r>
              <a:t>CNPJ 63953620000165 · Metodologia de PDD e curva por atraso · Base da comparação IME: {"criterion_id": "pdd", "observed_value": null, "unit": "", "competence": "08/2026", "status": "not_comparable", "reason": "A curva de PDD requer atraso, contágio e garantias por operação; o agregado mensal não demonstra aplicação da metodologia.", "formula": "",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null, "comparison_required": true, "context_formula": "PDD / direitos creditórios", "context_value": 5.5101286576011415, "context_unit": "percent"}</a:t>
            </a:r>
          </a:p>
          <a:p>
            <a:r>
              <a:t>CNPJ 63953620000165 · Metodologia de PDD e curva por atraso · Anexo ao Regulamento · ID 1222863 · 02/06/2026 · versão AnexoConsignadoPrivado02/06/2026 · p. 12 · 9.1–9.2.1 · https://fnet.bmfbovespa.com.br/fnet/publico/visualizarDocumento?id=1222863</a:t>
            </a:r>
          </a:p>
          <a:p>
            <a:r>
              <a:t>CNPJ 63953620000165 · Metodologia de PDD e curva por atraso · Excerto da fonte:</a:t>
            </a:r>
          </a:p>
          <a:p>
            <a:r>
              <a:t>9.1 Os Direitos Creditórios e Ativos Financeiros que compõem a Carteira da Classe terão seus valores calculados todo Dia Útil conforme a metodologia de avaliação descrita no manual do Administrador ou, ainda, nos manuais do Custodiante, disponíveis nos seus respectivos websites, no endereço https://www.btgpactual.com/asset- management/administracao-fiduciaria#documentos 9.2 As provisões para perdas e as perdas havidas com Direitos Creditórios ou com os Ativos Financeiros integrantes da Carteira serão, respectivamente, efetuadas ou reconhecidas nos termos da Instrução CVM 489. Desta forma, o valor do saldo dos Dire</a:t>
            </a:r>
          </a:p>
          <a:p>
            <a:r>
              <a:t>CNPJ 63953620000165 · Metodologia de PDD e curva por atraso · Versão e prevalência: Leitura específica das cláusulas indicadas; condições e conflitos preservados. Seleção documental atual não comprova vigência jurídica por data isolada.</a:t>
            </a:r>
          </a:p>
          <a:p>
            <a:r>
              <a:t>CNPJ 63953620000165 · Metodologia de PDD e curva por atraso · Resumo do histórico: {"count": 7, "dates": ["2026-04-16", "2026-04-28", "2026-05-08"], "document_count": 3, "sources": [{"document_id": "1298691", "title": "Demonstrações Financeiras - Fusão, cisão e incorporação", "reference_date": "2026-05-08", "version": "1", "page": 18, "url": "https://fnet.bmfbovespa.com.br/fnet/publico/visualizarDocumento?id=1298691", "sha256": "58c570d9b8d4d265330d3db3ea81c435b8e44a6dab4002aa37790652a1ee9819"}, {"document_id": "1282180", "title": "Demonstrações Financeiras - Fusão, cisão e incorporação", "reference_date": "2026-04-28", "version": "1", "page": 18, "url": "https://fnet.bmfbovespa.com.br/fnet/publico/visualizarDocumento?id=1282180", "sha256": "afaaa0e6809be4385e5bdb6c911aac582032c5bdbac3d7750234bf9eaf00438a"}, {"document_id": "1282179", "title": "Demonstrações Financeiras - Fusão, cisão e incorporação", "reference_date": "2026-04-16", "version": "1", "page": 18, "url": "https://fnet.bmfbovespa.com.br/fnet/publico/visualizarDocumento?id=1282179", "sha256": "beb67afbcd64169019477673fd3b7c1edbfabbd9db07379388d8cdd5d3fc9395"}], "reference": {"path": "history/63953620000165.json", "criterion_id": "pdd", "total_count": 7, "preview_count": 3, "full_text_deferred": true, "sha256": "a7b89077f5e21098c2d601c303faabc3ff6b9729f89d8afecdc60fe1404720c1"}}</a:t>
            </a:r>
          </a:p>
          <a:p>
            <a:r>
              <a:t>CNPJ 54871427000194 · Gatilhos de atraso e rolagem · Motivo: Não localizada uma cláusula material para este critério nos textos identificados e processados. A ausência de resultado não comprova inexistência da regra.</a:t>
            </a:r>
          </a:p>
          <a:p>
            <a:r>
              <a:t>CNPJ 60010416000112 · Gatilhos de atraso e rolagem · Motivo: Não localizada uma cláusula material para este critério nos textos identificados e processados. A ausência de resultado não comprova inexistência da regra.</a:t>
            </a:r>
          </a:p>
          <a:p>
            <a:r>
              <a:t>CNPJ 62696791000193 · Gatilhos de atraso e rolagem · Motivo: Não localizada uma cláusula material para este critério nos textos identificados e processados. A ausência de resultado não comprova inexistência da regra.</a:t>
            </a:r>
          </a:p>
          <a:p>
            <a:r>
              <a:t>CNPJ 55563624000109 · Gatilhos de atraso e rolagem · Motivo: Não localizada uma cláusula material para este critério nos textos identificados e processados. A ausência de resultado não comprova inexistência da regra.</a:t>
            </a:r>
          </a:p>
          <a:p>
            <a:r>
              <a:t>CNPJ 62552447000120 · Gatilhos de atraso e rolagem · Motivo: Não localizada uma cláusula material para este critério nos textos identificados e processados. A ausência de resultado não comprova inexistência da regra.</a:t>
            </a:r>
          </a:p>
          <a:p>
            <a:r>
              <a:t>CNPJ 63953620000165 · Gatilhos de atraso e rolagem · Motivo: Não localizada uma cláusula material para este critério nos textos identificados e processados. A ausência de resultado não comprova inexistência da regra.</a:t>
            </a:r>
          </a:p>
          <a:p>
            <a:r>
              <a:t>CNPJ 54871427000194 · Diluição, cancelamento e chargeback · Motivo: Não localizada uma cláusula material para este critério nos textos identificados e processados. A ausência de resultado não comprova inexistência da regra.</a:t>
            </a:r>
          </a:p>
          <a:p>
            <a:r>
              <a:t>CNPJ 60010416000112 · Diluição, cancelamento e chargeback · Motivo: Não localizada uma cláusula material para este critério nos textos identificados e processados. A ausência de resultado não comprova inexistência da regra.</a:t>
            </a:r>
          </a:p>
          <a:p>
            <a:r>
              <a:t>CNPJ 62696791000193 · Diluição, cancelamento e chargeback · Motivo: Não localizada uma cláusula material para este critério nos textos identificados e processados. A ausência de resultado não comprova inexistência da regra.</a:t>
            </a:r>
          </a:p>
          <a:p>
            <a:r>
              <a:t>CNPJ 55563624000109 · Diluição, cancelamento e chargeback · Motivo: Não localizada uma cláusula material para este critério nos textos identificados e processados. A ausência de resultado não comprova inexistência da regra.</a:t>
            </a:r>
          </a:p>
          <a:p>
            <a:r>
              <a:t>CNPJ 62552447000120 · Diluição, cancelamento e chargeback · Motivo: Não localizada uma cláusula material para este critério nos textos identificados e processados. A ausência de resultado não comprova inexistência da regra.</a:t>
            </a:r>
          </a:p>
          <a:p>
            <a:r>
              <a:t>CNPJ 63953620000165 · Diluição, cancelamento e chargeback · Motivo: Não localizada uma cláusula material para este critério nos textos identificados e processados. A ausência de resultado não comprova inexistência da regra.</a:t>
            </a:r>
          </a:p>
          <a:p>
            <a:r>
              <a:t>CNPJ 54871427000194 · Recompra e indenização · Regulamento · ID 670691 · 2024-04-28 · versão 1 · p. 11 · 4.12 · https://fnet.bmfbovespa.com.br/fnet/publico/visualizarDocumento?id=670691</a:t>
            </a:r>
          </a:p>
          <a:p>
            <a:r>
              <a:t>CNPJ 54871427000194 · Recompra e indenização · Excerto da fonte:</a:t>
            </a:r>
          </a:p>
          <a:p>
            <a:r>
              <a:t>4.12 Os recursos recebidos pela Classe em razão da liquidação dos Direitos Creditórios, a qualquer título,  incluindo pagamento regular ou por excussão de garantia, alienação, recompra, indenização pelo  Cedente e/ou desinvestimento de Ativo Recuperado, serão destinados a aquisição de Direitos  Creditórios até o montante de R$ 250.000.000,00 (duzentos e cinquenta milhões de reais), sendo certo  que os recursos recebidos pela Classe após a aquisição em tal montante não poderão ser destinados  à aquisição pela Classe de novos Direitos Creditórios, aplicando-se, de resto, o disposto no item 8.1  abaixo no que se ref ere à ordem de alocação de tais recursos.</a:t>
            </a:r>
          </a:p>
          <a:p>
            <a:r>
              <a:t>CNPJ 54871427000194 · Recompra e indenização · Regulamento · ID 670691 · 2024-04-28 · versão 1 · p. 12 · 4.13 · https://fnet.bmfbovespa.com.br/fnet/publico/visualizarDocumento?id=670691</a:t>
            </a:r>
          </a:p>
          <a:p>
            <a:r>
              <a:t>CNPJ 54871427000194 · Recompra e indenização · Excerto da fonte:</a:t>
            </a:r>
          </a:p>
          <a:p>
            <a:r>
              <a:t>4.13 Na hipótese de demandas judiciais e/ou administrativas, em que a causa de pedir ou entre os pedidos  estejam incluídos qualquer um dos itens listados abaixo, o Endossante estará obrigado realizar a  recompra ou indenização dos respectivos Direitos Creditórios, na f orma e prazos previstos no  respectivo Contrato de Endosso sem prejuízo do previsto no Artigo 295 do Código Civil, sendo certo  que o GESTOR envidará seus melhores esf orços para que os Contratos de Endosso contenham  substancialmente as hipóteses abaixo :</a:t>
            </a:r>
          </a:p>
          <a:p>
            <a:r>
              <a:t> (i) Vício de f ormalização dos CCCBs e/ou CCBs a) por ausência de qualquer dos Documentos  Comprobatórios ou falsificação, irregularidade sou má formalização destes; b) por falta de recebimento  do crédito pelo Devedor; ou, c) por averbação irregular de desconto em folha na margem consignável  do Devedor;</a:t>
            </a:r>
          </a:p>
          <a:p>
            <a:r>
              <a:t>CNPJ 54871427000194 · Recompra e indenização · Regulamento · ID 670691 · 2024-04-28 · versão 1 · p. 1 · 1.1 · https://fnet.bmfbovespa.com.br/fnet/publico/visualizarDocumento?id=670691</a:t>
            </a:r>
          </a:p>
          <a:p>
            <a:r>
              <a:t>CNPJ 54871427000194 · Recompra e indenização · Excerto da fonte:</a:t>
            </a:r>
          </a:p>
          <a:p>
            <a:r>
              <a:t>1.1 CONSIGNADO DELTA RECEIVABLES I FUNDO DE INVESTIMENTO EM DIREITOS CREDITÓRIOS  (“FUNDO”), regido pela Lei nº 10.406, de 10 de janeiro de 2002, conf orme alterada (“Código Civil”),  pela parte geral e o Anexo Normativo II da Resolução nº 175, de 23 de dezembro de 2022, conforme  alterada, da Comissão de Valores Mobiliários (respectivamente, “CVM” e “Resolução CVM 175”), terá  como principais características:</a:t>
            </a:r>
          </a:p>
          <a:p>
            <a:r>
              <a:t> Classe de Cotas Classe única.</a:t>
            </a:r>
          </a:p>
          <a:p>
            <a:r>
              <a:t> Indeterminado, exceto se de outra f orma vier a ser deliberado pelos cotistas  Prazo de Duração  reunidos em assembleia geral de cotistas.</a:t>
            </a:r>
          </a:p>
          <a:p>
            <a:r>
              <a:t> BTG Pactual Serviços Financeiros S.A. Distribuidora de Títulos e Valores  Mobiliários, instituição f inanceira, com sede na Cidade e Estado do Rio de  Janeiro, na Praia de Botafogo, nº 501, 5º andar (parte), Torre Corcovado,  ADMINISTRADOR  Botafogo, CEP 22250-040, inscrita no CNPJ sob o nº 59.281.253/0001-23 e  credenciada como administradora de carteira, de acordo com o Ato Declaratório  CVM nº 8.695, de 20 de março de 2006 (“ADMINISTRADOR”).</a:t>
            </a:r>
          </a:p>
          <a:p>
            <a:r>
              <a:t> BTG Pactual Asset Management S.A. Distribuidora de Títulos e Valores  Mobiliários, inscrita no CNPJ/ME sob o nº 29.650.082/0001-00, com sede  Cidade e Estado do Rio de Janeiro, na Praia de Botafogo, n.º 501, 5° andar,  devidamente autorizada à prestação dos serviços de administração de carteira  GESTOR  de títulos e valores mobiliários por meio d o Ato Declaratório número 5.968,  expedido em 10 de maio de 2000 (“GESTOR” e, quando ref erido  conjuntamente e indistintamente com o ADMINISTRADOR, os “Prestadores  de Serviços Essenciais”).</a:t>
            </a:r>
          </a:p>
          <a:p>
            <a:r>
              <a:t> O FUNDO, seus cotistas, os distribuidores de cotas por conta e ordem, seu  GESTOR, seu ADMINISTRADOR e os demais prestadores de serviço do  FUNDO e/ou da CLASSE obrigam-se a resolver, por meio de arbitragem, de  acordo com o Regulamento de Arbitragem da Câmara de Arbitragem do  Mercado da B3 (“Regulamento CAM B3” e “CAM B3”, respectivamente), toda  e qualquer disputa ou controvérsia que possa surgir entre eles, relacionada ou  oriunda, em especial, da aplicação, validade, eficácia, interpretação, violação  e seus ef eitos, das disposições contidas no Regulamento e seus Anexos, nas  normas editadas pela CVM que lhe sejam aplicáveis e nos instrumentos entre  si f irmados (“Arbitragem”).</a:t>
            </a:r>
          </a:p>
          <a:p>
            <a:r>
              <a:t> (i) A Arbitragem será de direito, com a aplicação das normas da República  Federativa do Brasil, terá sede no Município de São Paulo, será  Foro Aplicável conduzida em língua portuguesa e de f orma confidencial. O tribunal  arbitral será constituído por 3 (três) árbitros, sendo um deles  presidente, escolhidos nos termos do Regulamento CAM B3.</a:t>
            </a:r>
          </a:p>
          <a:p>
            <a:r>
              <a:t> (ii) As despesas processuais iniciais deverão ser rateadas entre as partes,  arcando cada polo processual com metade dos valores necessários,  sem prejuízo à possibilidade de adiantamento pelas partes  interessadas, resolvendo-se as indef inições nos termos do  Regulamento CAM B3. A sentença arbitral deverá determinar a  responsabilidade final pelas despesas de acordo com a sucumbência  de cada parte, as quais deverão incluir as taxas administrativas,  honorários de árbitros e de peritos e despesas com diligências  processuais e f ornecimento de garantias que sejam determinadas  expressamente pelo tribunal arbitral. É vedada a imposição de  honorários de sucumbência, bem como a determinação de indenização</a:t>
            </a:r>
          </a:p>
          <a:p>
            <a:r>
              <a:t>CNPJ 54871427000194 · Recompra e indenização · Condição: Documentos atuais selecionados no inventário por categoria/escopo; a data documental isolada não comprova vigência jurídica.</a:t>
            </a:r>
          </a:p>
          <a:p>
            <a:r>
              <a:t>CNPJ 54871427000194 · Recompra e indenização · Versão e prevalência: Documentos atuais selecionados no inventário por categoria/escopo; a data documental isolada não comprova vigência jurídica.</a:t>
            </a:r>
          </a:p>
          <a:p>
            <a:r>
              <a:t>CNPJ 54871427000194 · Recompra e indenização · Resumo do histórico: {"count": 2, "dates": ["2024-04-19", "2024-04-28"], "document_count": 2, "sources": [{"document_id": "670691", "title": "Regulamento", "reference_date": "2024-04-28", "version": "1", "page": "10-12", "url": "https://fnet.bmfbovespa.com.br/fnet/publico/visualizarDocumento?id=670691", "sha256": "bf16dd7f1a62d5cdbf2e2d54fef81783783f7310fbc99c3a8f00459bdf9d037b"}, {"document_id": "670689", "title": "Regulamento", "reference_date": "2024-04-19", "version": "1", "page": 10, "clause": "4.7.5", "url": "https://fnet.bmfbovespa.com.br/fnet/publico/visualizarDocumento?id=670689", "sha256": "891bc9bc5d87bbc02ec139077a84d2702eb81ea02035fb71d24f5b8366b94a0b"}], "reference": {"path": "history/54871427000194.json", "criterion_id": "repurchase", "total_count": 2, "preview_count": 2, "full_text_deferred": true, "sha256": "35d7cd99be50c7287c9fb675cf4f2e736002315295a225a9efa79c8d9186d874"}}</a:t>
            </a:r>
          </a:p>
          <a:p>
            <a:r>
              <a:t>CNPJ 60010416000112 · Recompra e indenização · Regulamento · ID 1051393 · 2025-10-09 · versão 1 · p. 10 · 4.4.5 · https://fnet.bmfbovespa.com.br/fnet/publico/visualizarDocumento?id=1051393</a:t>
            </a:r>
          </a:p>
          <a:p>
            <a:r>
              <a:t>CNPJ 60010416000112 · Recompra e indenização · Excerto da fonte:</a:t>
            </a:r>
          </a:p>
          <a:p>
            <a:r>
              <a:t>4.4.5. Caso um Direito Creditório endossado à Classe deixe de atender quaisquer Critérios de  Elegibilidade, quaisquer condições de endosso e/ou quaisquer declarações e garantias referentes  a esse Direito Creditório, conforme previsto no Contrato de Endosso, após seu endosso à Classe,  não haverá coobrigação nem direito de regresso da Classe contra o Endossante, o Administrador,  o Custodiante, o Gestor e/ou o Agente de Retenção/Cobrança, exceto em caso de má-fé, culpa  ou dolo comprovado, hipótese em que a parte que agiu com má-f é, culpa ou dolo comprovado  poderá ser responsabilizada pelas perdas incorridas pela Classe em relação aos respectivos  Direitos Creditórios. Se, entretanto, for constatado que um Direito Creditório endossado à Classe  não estava em conformidade com os Critérios de Elegibilidade, condições de endosso ou com as  declarações e garantias prestadas pelo Endossante no Contrato de Endosso, na respectiva data  de endosso, então o endosso desse Direito Creditório poderá ser objeto de resolução pela Classe.</a:t>
            </a:r>
          </a:p>
          <a:p>
            <a:r>
              <a:t> Nessa hipótese, a Classe terá o direito de resolver o endosso desse Direito Creditório, devolvendo-  o ao Endossante por valor a ser restituído à Classe. Adicionalmente, se f or constatado que um  Direito Creditório endossado à Classe não estava em conf ormidade com as declarações e  garantias prestadas pelo Agente de Retenção/Cobrança no Contrato de Endosso, na respectiva  data de endosso, então a Classe terá o direito de vender esse Direito Creditório ao Agente de  Retenção/Cobrança (opção de venda). A retrovenda ou a venda, conforme o caso, será realizada  de acordo com os termos, condições, formalidades e preços de recompra compulsória e opção de  venda detalhados no Contrato de Endosso.</a:t>
            </a:r>
          </a:p>
          <a:p>
            <a:r>
              <a:t>CNPJ 60010416000112 · Recompra e indenização · Regulamento · ID 1051393 · 2025-10-09 · versão 1 · p. 30 · 12.5.1 · https://fnet.bmfbovespa.com.br/fnet/publico/visualizarDocumento?id=1051393</a:t>
            </a:r>
          </a:p>
          <a:p>
            <a:r>
              <a:t>CNPJ 60010416000112 · Recompra e indenização · Excerto da fonte:</a:t>
            </a:r>
          </a:p>
          <a:p>
            <a:r>
              <a:t>12.5.1. Independentemente do acima disposto, na hipótese de venda de qualquer parte dos Direitos  Creditórios Elegíveis a terceiros, inclusive no caso de liquidação da Classe, o Agente de  Retenção/Cobrança terá o direito de receber uma remuneração, no dia em que a parte da carteira  de Direitos Creditórios Elegíveis f or efetivamente vendida (ou seja, no dia de seu f echamento  f inanceiro), correspondente ao RAC do valor do preço de venda dessa carteira (“Preço de Venda”),  multiplicado pelo número de anos restantes até o vencimento f inal e pagamento de cada Direito  Creditório Elegível na carteira; observado que, para f ins do cálculo da remuneração devida ao  Agente de Retenção/Cobrança nos termos deste item, o preço de venda de qualquer Direito  Creditório Inadimplido vendido nos termos deste item será equivalente a 0 (zero). Para evitar  qualquer dúvida, as Partes concordam que a remuneração estabelecida neste item não será  devida ao Agente de Retenção/Cobrança no caso de venda de Direitos Creditórios Elegíveis no  contexto de uma portabilidade da respectiva CCB para outra instituição f inanceira, ou na  ocorrência de um evento de recompra compulstória ou de um evento de opção de venda, de acordo  com os termos do respectivo Contrato de Endosso.</a:t>
            </a:r>
          </a:p>
          <a:p>
            <a:r>
              <a:t>CNPJ 60010416000112 · Recompra e indenização · Regulamento · ID 1051393 · 2025-10-09 · versão 1 · p. 11 · https://fnet.bmfbovespa.com.br/fnet/publico/visualizarDocumento?id=1051393</a:t>
            </a:r>
          </a:p>
          <a:p>
            <a:r>
              <a:t>CNPJ 60010416000112 · Recompra e indenização · Excerto da fonte:</a:t>
            </a:r>
          </a:p>
          <a:p>
            <a:r>
              <a:t>Anexo I ao Regulamento CLASSE ÚNICA DO MT I CONSIGNADO PRIVADO I FUNDO DE INVESTIMENTO EM DIREITOS CREDITÓRIOS RESPONSABILIDADE LIMITADA  com a transf erência, à Classe, de f orma definitiva, sem coobrigação do Endossante, da plena  titularidade desse Direito Creditório, juntamente com todos os direitos, privilégios, pref erências,  prerrogativas, garantias e ações a ele relacionados, bem como correção monetária, juros e  encargos, sem prejuízo do direito da Classe (i) de exigir a recompra compulsória do respectivo  Direito Creditório, de acordo com os termos do Contrato de Endosso; ou (ii) de vender Direitos  Creditórios ao Agente de Retenção/Cobrança (opção de venda), em ambos os casos estritamente  nos termos do Contrato de Endosso.</a:t>
            </a:r>
          </a:p>
          <a:p>
            <a:r>
              <a:t>CNPJ 60010416000112 · Recompra e indenização · Condição: Documentos atuais selecionados no inventário por categoria/escopo; a data documental isolada não comprova vigência jurídica.</a:t>
            </a:r>
          </a:p>
          <a:p>
            <a:r>
              <a:t>CNPJ 60010416000112 · Recompra e indenização · Versão e prevalência: Documentos atuais selecionados no inventário por categoria/escopo; a data documental isolada não comprova vigência jurídica.</a:t>
            </a:r>
          </a:p>
          <a:p>
            <a:r>
              <a:t>CNPJ 60010416000112 · Recompra e indenização · Resumo do histórico: {"count": 2, "dates": ["2025-03-20", "2025-10-09"], "document_count": 2, "sources": [{"document_id": "1051393", "title": "Regulamento", "reference_date": "2025-10-09", "version": "1", "page": "10-11", "url": "https://fnet.bmfbovespa.com.br/fnet/publico/visualizarDocumento?id=1051393", "sha256": "8469d613078ffd5a6c1d217885d8a397a16342c0b937ae4aa24b106505f233ae"}, {"document_id": "993786", "title": "Regulamento", "reference_date": "2025-03-20", "version": "1", "page": 10, "clause": "4.4.5", "url": "https://fnet.bmfbovespa.com.br/fnet/publico/visualizarDocumento?id=993786", "sha256": "fd0fdd369a195510d81f81f505195a0b09e5f43522a990afa7d58c4f872921c8"}], "reference": {"path": "history/60010416000112.json", "criterion_id": "repurchase", "total_count": 2, "preview_count": 2, "full_text_deferred": true, "sha256": "8e2bd813f4c51cf01f6bfaad164bafe69d2bbb192f753eac92da3a01c2e63046"}}</a:t>
            </a:r>
          </a:p>
          <a:p>
            <a:r>
              <a:t>CNPJ 62696791000193 · Recompra e indenização · Regulamento · ID 1143317 · 2026-03-20 · versão 1 · p. 16 · 5.1 · https://fnet.bmfbovespa.com.br/fnet/publico/visualizarDocumento?id=1143317</a:t>
            </a:r>
          </a:p>
          <a:p>
            <a:r>
              <a:t>CNPJ 62696791000193 · Recompra e indenização · Excerto da fonte:</a:t>
            </a:r>
          </a:p>
          <a:p>
            <a:r>
              <a:t>5.1 Os recursos recebidos pela Classe em razão da liquidação dos Direitos Creditórios do Agronegócio  e/ou dos Outros Ativos, a qualquer título, incluindo pagamento regular ou por excussão de garantia,  alienação, recompra, indenização pelo cedente e/ou desinvestimento de Direitos Creditórios do  Agronegócio e/ou dos Outros Ativos, poderão ser destinados à aquisição pela Classe de novos  Direitos Creditórios do Agronegócio e/ou dos Outros Ativos e/ou destinados ao resgate das Cotas,  conf orme decisão do Gestor e desde que observada a ordem de alocação de recursos.</a:t>
            </a:r>
          </a:p>
          <a:p>
            <a:r>
              <a:t>6 ORDEM DE ALOCAÇÃO DE RECURSOS</a:t>
            </a:r>
          </a:p>
          <a:p>
            <a:r>
              <a:t>CNPJ 62696791000193 · Recompra e indenização · Condição: Documentos atuais selecionados no inventário por categoria/escopo; a data documental isolada não comprova vigência jurídica.</a:t>
            </a:r>
          </a:p>
          <a:p>
            <a:r>
              <a:t>CNPJ 62696791000193 · Recompra e indenização · Versão e prevalência: Documentos atuais selecionados no inventário por categoria/escopo; a data documental isolada não comprova vigência jurídica.</a:t>
            </a:r>
          </a:p>
          <a:p>
            <a:r>
              <a:t>CNPJ 55563624000109 · Recompra e indenização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Recompra e indenização · Resumo do histórico: {"count": 1, "dates": ["2026-04-30"], "document_count": 1, "sources": [{"document_id": "1192614", "title": "Regulamento", "reference_date": "2026-04-30", "version": "1", "page": "14", "url": "https://fnet.bmfbovespa.com.br/fnet/publico/visualizarDocumento?id=1192614", "sha256": "f56e63ace0acde41d2f47fb48f1ac7f3f7df5e2d32de092d7c5e075a52516632"}], "reference": {"path": "history/55563624000109.json", "criterion_id": "repurchase", "total_count": 1, "preview_count": 1, "full_text_deferred": true, "sha256": "7835d573fb58a3c19adf5b8ecc2aee2bdbb9a88f7a0c0209b5f262b64c7522e3"}}</a:t>
            </a:r>
          </a:p>
          <a:p>
            <a:r>
              <a:t>CNPJ 62552447000120 · Recompra e indenização · Regulamento · ID 1200623 · 2026-05-21 · versão 1 · p. 14 · 4.14 · https://fnet.bmfbovespa.com.br/fnet/publico/visualizarDocumento?id=1200623</a:t>
            </a:r>
          </a:p>
          <a:p>
            <a:r>
              <a:t>CNPJ 62552447000120 · Recompra e indenização · Excerto da fonte:</a:t>
            </a:r>
          </a:p>
          <a:p>
            <a:r>
              <a:t>4.14 Os recursos recebidos pela Classe em razão da liquidação dos Direitos Creditórios, a qualquer título,  incluindo pagamento regular ou por excussão de garantia, alienação, recompra, indenização pelo  Endossante, poderão ser destinados à aquisição pela Classe de novos Direitos Creditórios e/ou  destinados à Amortização, conforme decisão do Gestor e desde que observada a ordem de alocação  de recursos def inida no item 8.1 abaixo.</a:t>
            </a:r>
          </a:p>
          <a:p>
            <a:r>
              <a:t>Ativos Recuperados</a:t>
            </a:r>
          </a:p>
          <a:p>
            <a:r>
              <a:t>CNPJ 62552447000120 · Recompra e indenização · Regulamento · ID 1200623 · 2026-05-21 · versão 1 · p. 35 · https://fnet.bmfbovespa.com.br/fnet/publico/visualizarDocumento?id=1200623</a:t>
            </a:r>
          </a:p>
          <a:p>
            <a:r>
              <a:t>CNPJ 62552447000120 · Recompra e indenização · Excerto da fonte:</a:t>
            </a:r>
          </a:p>
          <a:p>
            <a:r>
              <a:t>ativos desses emissores, causando perdas à Classe e ao Cotista. Além disso, a f alta de capacidade ou disposição de pagar por qualquer dos emissores dos Ativos Financeiros de Liquidez ou das contrapartes nas transações que compõem a Carteira causará perdas à Classe, e o que também poderá incorrer em custos para f ins de recuperação de seus recebíveis.</a:t>
            </a:r>
          </a:p>
          <a:p>
            <a:r>
              <a:t>(v) Riscos associados aos Devedores: no caso de Devedores no âmbito das operações de consignado privado, a sua capacidade de pagamento poderá ser af etada se, por exemplo, o Devedor tiver o seu contrato de emprego rescindido ou em virtude de decisão judicial, o Devedor for obrigado a pagar alimentos, que têm prioridade sobre o empréstimo para f ins de desconto na f 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 etar a rentabilidade da Classe. Já no caso de Devedores no âmbito das operações de Saque-aniversário, como os Direitos Creditórios a serem endossados à Classe serão descontados pelo FGTS da remuneração do Devedor, na ocorrência de qualquer evento que, nos termos da legislação aplicável, determine o pagamento antecipado do Saque-aniversário ao Devedor, a exemplo do falecimento do Devedor, dentre outros, as parcelas do Saque- aniversário serão pagas antecipadamente e a Classe deverá utilizar tais montantes no pré-pagamento dos Direitos Creditórios. Nesta hipótese, a Classe poderá não encontrar Direitos Creditórios disponíveis para serem adquiridos pela Classe, o que poderá af etar a rentabilidade da Classe.</a:t>
            </a:r>
          </a:p>
          <a:p>
            <a:r>
              <a:t>Risco de liquidez</a:t>
            </a:r>
          </a:p>
          <a:p>
            <a:r>
              <a:t>(i) Risco de liquidez: consiste no risco de redução ou inexistência de demanda pelos ativos que compõem a Classe nos respectivos mercados em que são negociados, devido às condições específicas desses ativos ou aos mercados em que são negociados. Devido a esses riscos, o Gestor poderá encontrar dificuldades em liquidar posições ou negociar esses ativos pelo preço e prazo desejados, de acordo com a estratégia de gestão adotada pela Classe, que permanecerá exposto, durante o período de baixa liquidez, aos riscos associados a esses ativos e posições assumidas em mercados de derivativos, se houver, que poderão até exigir que o Gestor aceite descontos em seus preços para realizar negociações no mercado. Esses f atores poderão prejudicar o pagamento de Amortizações ao Cotista, nos valores e dentro dos termos aqui estabelecidos.</a:t>
            </a:r>
          </a:p>
          <a:p>
            <a:r>
              <a:t>(ii) Riscos do mercado secundário: A Classe é constituída sob a f orma de condomínio fechado, de modo que as Cotas somente serão resgatadas em virtude da liquidação da Classe. Uma vez que o Prazo de Duração da Classe é indeterminado, o Cotista titular das Cotas não terá liquidez em seu investimento na Classe, exceto</a:t>
            </a:r>
          </a:p>
          <a:p>
            <a:r>
              <a:t>(a) por ocasião das Amortizações e dos resgates, nos termos deste Regulamento; (b) por meio da alienação de suas Cotas no mercado secundário; ou (c) na liquidação antecipada do FUNDO ou da Classe.</a:t>
            </a:r>
          </a:p>
          <a:p>
            <a:r>
              <a:t>Além disso, atualmente, o mercado secundário de cotas de fundos de investimento apresenta baixa liquidez, o que pode dificultar a venda das Cotas ou ocasionar a obtenção de um preço de venda que cause perda de patrimônio ao Cotista. Não há qualquer garantia do Administrador, do Gestor, da consultora ou do Custodiante em relação à possibilidade de venda das Cotas no mercado secundário ou ao preço obtido por elas, ou mesmo garantia de saída ao Cotista.</a:t>
            </a:r>
          </a:p>
          <a:p>
            <a:r>
              <a:t>Riscos específicos</a:t>
            </a:r>
          </a:p>
          <a:p>
            <a:r>
              <a:t>(i)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ficar inadimplente e, consequentemente, não haverá repasse à Classe do respectivo Direito Creditório, o que poderá resultar em perdas f inanceiras à Classe e aos Cotistas. Para os f ins deste Regulamento, “Empregador” signif ica a empresa com qual o Devedor mantém vínculo empregatício registrado junto à CTPS.</a:t>
            </a:r>
          </a:p>
          <a:p>
            <a:r>
              <a:t>(ii) Risco do Empregador não efetuar o desconto em folha: o repasse dos recursos oriundos dos Direitos Creditórios à Classe depende da realização, pelo Empregador, da escrituração da Consignação a ser</a:t>
            </a:r>
          </a:p>
          <a:p>
            <a:r>
              <a:t>CNPJ 62552447000120 · Recompra e indenização · Condição: Documentos atuais selecionados no inventário por categoria/escopo; a data documental isolada não comprova vigência jurídica.</a:t>
            </a:r>
          </a:p>
          <a:p>
            <a:r>
              <a:t>CNPJ 62552447000120 · Recompra e indenização · Versão e prevalência: Documentos atuais selecionados no inventário por categoria/escopo; a data documental isolada não comprova vigência jurídica.</a:t>
            </a:r>
          </a:p>
          <a:p>
            <a:r>
              <a:t>CNPJ 63953620000165 · Recompra e indenização · Anexo ao Regulamento · ID 1222863 · 2026-06-02 · versão 1 · p. 7 · 4.17.1 · https://fnet.bmfbovespa.com.br/fnet/publico/visualizarDocumento?id=1222863</a:t>
            </a:r>
          </a:p>
          <a:p>
            <a:r>
              <a:t>CNPJ 63953620000165 · Recompra e indenização · Excerto da fonte:</a:t>
            </a:r>
          </a:p>
          <a:p>
            <a:r>
              <a:t>4.17.1 Durante o Período de Investimento, os recursos recebidos pela Classe em razão da liquidação dos  Direitos Creditórios, a qualquer título, incluindo pagamento regular ou por excussão de garantia,  alienação, recompra, indenização pelo Cedente e/ou desinvestimento de Ativo Recuperado, poderão  ser destinados à aquisição pela Classe de novos Direitos Creditórios e/ou destinados à Amortização das  Cotas, observado que (i) a aquisição de novos Direitos Creditórios dependerá, em qualquer hipótese, de  oferta realizada pelo Endossante; e (ii) a destinação dos recursos à Amortização das Cotas será realizada  nos termos do item 7.2, observada a ordem de alocação definida no item 8.1 do presente Anexo.</a:t>
            </a:r>
          </a:p>
          <a:p>
            <a:r>
              <a:t>CNPJ 63953620000165 · Recompra e indenização · Anexo ao Regulamento · ID 1222863 · 2026-06-02 · versão 1 · p. 7 · 4.17.2 · https://fnet.bmfbovespa.com.br/fnet/publico/visualizarDocumento?id=1222863</a:t>
            </a:r>
          </a:p>
          <a:p>
            <a:r>
              <a:t>CNPJ 63953620000165 · Recompra e indenização · Excerto da fonte:</a:t>
            </a:r>
          </a:p>
          <a:p>
            <a:r>
              <a:t>4.17.2 Encerrado o Período de Investimento, os recursos recebidos pela Classe em razão da liquidação dos  Direitos Creditórios, a qualquer título, incluindo pagamento regular ou por excussão de garantia,  alienação, recompra, indenização pelo Cedente e/ou desinvestimento de Ativo Recuperado, não  poderão ser destinados à aquisição pela Classe de novos Direitos Creditórios, aplicando-se, de resto, o  disposto no item 8.1 abaixo no que se refere à ordem de alocação de tais recursos.</a:t>
            </a:r>
          </a:p>
          <a:p>
            <a:r>
              <a:t>CNPJ 63953620000165 · Recompra e indenização · Anexo ao Regulamento · ID 1222863 · 2026-06-02 · versão 1 · p. 26 · https://fnet.bmfbovespa.com.br/fnet/publico/visualizarDocumento?id=1222863</a:t>
            </a:r>
          </a:p>
          <a:p>
            <a:r>
              <a:t>CNPJ 63953620000165 · Recompra e indenização · Excerto da fonte:</a:t>
            </a:r>
          </a:p>
          <a:p>
            <a:r>
              <a:t>Complemento I  (Ao Anexo I)  FATORES DE RISCO APLICÁVEIS À CLASSE CONSIGNADO PRIVADO DO MT GLOBAL FUNDO DE INVESTIMENTO EM  DIREITOS CREDITÓRIOS RESPONSABILIDADE LIMITADA  Risco de Crédito</a:t>
            </a:r>
          </a:p>
          <a:p>
            <a:r>
              <a:t> (i) Riscos associados aos Devedores: os Direitos Creditórios a serem endossados à Classe serão descontados  pela Dataprev da remuneração do Devedor. A capacidade de pagamento do Devedor poderá ser afetada se,  por exemplo, o Devedor tiver o seu contrato de emprego rescindido ou em virtude de decisão judicial, o  Devedor for obrigado a pagar alimentos, que têm prioridade sobre o empréstimo para fins de desconto na  folha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afetar a rentabilidade da Classe.</a:t>
            </a:r>
          </a:p>
          <a:p>
            <a:r>
              <a:t> (ii)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referido Devedor poderá  ficar inadimplente e, consequentemente, não haverá repasse à Classe do respectivo Direito Creditório, o  que poderá resultar em perdas financeiras à Classe e aos Cotistas.</a:t>
            </a:r>
          </a:p>
          <a:p>
            <a:r>
              <a:t> (iii) Risco do Empregador não efetuar o desconto em folha: o repasse dos recursos oriundos dos Direitos  Creditórios à Classe depende da realização, pelo Empregador, da Escrituração e do desconto na respectiva  folha de pagamento do Devedor. Na hipótese do Empregador deixar de realizar a Escrituração ou os  descontos na folha de pagamento, não haverá repasse de recursos à Classe, podendo causar prejuízos à  Classe e aos Cotistas.</a:t>
            </a:r>
          </a:p>
          <a:p>
            <a:r>
              <a:t> (iv) Risco de perda do vínculo empregatício com o Empregador: caso o Devedor perca o vínculo empregatício  com o Empregador, não haverá remuneração e folha de pagamento para realização dos descontos para  pagamento dos Direitos Creditórios. Neste caso, não obstante a possibilidade do Agente de  Retenção/Cobrança realizar a cobrança ativa dos Direitos Creditórios diretamente do Devedor, a ausência  de remuneração poderá deixar o Devedor inadimplente perante a Classe até que o seu vínculo empregatício  seja retomado e seja efetuado o procedimento operacional para que a CCB seja aditada e/ou seja realizado  o Processo de Reinicialização. Tais situações poderão resultar em prejuízos à Classe e aos Cotistas.</a:t>
            </a:r>
          </a:p>
          <a:p>
            <a:r>
              <a:t> Riscos Operacionais</a:t>
            </a:r>
          </a:p>
          <a:p>
            <a:r>
              <a:t> (i) Risco de irregularidade dos Documentos Comprobatórios e/ou Documentos Suporte: o Gestor, ou  terceiro por ele contratado, deverá realizar a verificação da regularidade dos Documentos Comprobatórios  e Documentos Suporte. A Carteira poderá conter Direitos Creditórios com documentação irregular, o que  poderá impedir que a Classe exerça plenamente as prerrogativas derivadas da titularidade dos Direitos  Creditórios. O Gestor poderá contratar empresas especializadas, com comprovada competência e  adequação, para realizar a guarda física, manutenção, armazenamento, organização e digitalização dos  Documentos Comprobatórios e Documentos Suporte, que estarão sob total responsabilidade do Gestor,  permanecendo as empresas como agentes depositários dos Documentos Comprobatórios e Documentos  Suporte.</a:t>
            </a:r>
          </a:p>
          <a:p>
            <a:r>
              <a:t> (ii) Risco operacional da Dataprev e da CEF: o empréstimo contraído pelos Devedores é pago por meio de  desconto na folha de pagamento feito pela Dataprev e pela CEF, conforme aplicável. É possível que os  rendimentos dos Devedores sejam atrasados ou não pagos devido a questões operacionais envolvendo a  Dataprev e/ou a CEF. Nesse caso, a Carteira poderá sofrer, já que não receberá automaticamente, e  também poderá ter dificuldades para receber, a qualquer momento, os recursos decorrentes dos Direitos  Creditórios.</a:t>
            </a:r>
          </a:p>
          <a:p>
            <a:r>
              <a:t>CNPJ 63953620000165 · Recompra e indenização · Condição: Documentos atuais selecionados no inventário por categoria/escopo; a data documental isolada não comprova vigência jurídica.</a:t>
            </a:r>
          </a:p>
          <a:p>
            <a:r>
              <a:t>CNPJ 63953620000165 · Recompra e indenização · Versão e prevalência: Documentos atuais selecionados no inventário por categoria/escopo; a data documental isolada não comprova vigência jurídica.</a:t>
            </a:r>
          </a:p>
          <a:p>
            <a:r>
              <a:t>CNPJ 63953620000165 · Recompra e indenização · Resumo do histórico: {"count": 8, "dates": ["2026-04-28", "2026-05-08", "2026-05-15"], "document_count": 3, "sources": [{"document_id": "1327859", "title": "Demonstrações Financeiras - Fusão, cisão e incorporação", "reference_date": "2026-05-15", "version": "1", "page": 16, "url": "https://fnet.bmfbovespa.com.br/fnet/publico/visualizarDocumento?id=1327859", "sha256": "dca1c68babb97f887528c3e2e47596a9c30f507b067981a35655b2f2da9c8054"}, {"document_id": "1298691", "title": "Demonstrações Financeiras - Fusão, cisão e incorporação", "reference_date": "2026-05-08", "version": "1", "page": 16, "url": "https://fnet.bmfbovespa.com.br/fnet/publico/visualizarDocumento?id=1298691", "sha256": "58c570d9b8d4d265330d3db3ea81c435b8e44a6dab4002aa37790652a1ee9819"}, {"document_id": "1282180", "title": "Demonstrações Financeiras - Fusão, cisão e incorporação", "reference_date": "2026-04-28", "version": "1", "page": 16, "url": "https://fnet.bmfbovespa.com.br/fnet/publico/visualizarDocumento?id=1282180", "sha256": "afaaa0e6809be4385e5bdb6c911aac582032c5bdbac3d7750234bf9eaf00438a"}], "reference": {"path": "history/63953620000165.json", "criterion_id": "repurchase", "total_count": 8, "preview_count": 3, "full_text_deferred": true, "sha256": "a7b89077f5e21098c2d601c303faabc3ff6b9729f89d8afecdc60fe1404720c1"}}</a:t>
            </a:r>
          </a:p>
          <a:p>
            <a:r>
              <a:t>CNPJ 54871427000194 · Coobrigação e retenção de risco · Regulamento · ID 670691 · 28/04/2024 · versão Regulamento — referência 28/04/2024 · p. 10 · Anexo I, 4.7.2 e 4.7.4 · https://fnet.bmfbovespa.com.br/fnet/publico/visualizarDocumento?id=670691</a:t>
            </a:r>
          </a:p>
          <a:p>
            <a:r>
              <a:t>CNPJ 54871427000194 · Coobrigação e retenção de risco · Excerto da fonte:</a:t>
            </a:r>
          </a:p>
          <a:p>
            <a:r>
              <a:t>4.7.2 Caso um Direito Creditório cedido à Classe deixe de atender quaisquer Critérios de Elegibilidade e/ou quaisquer declarações e garantias ref erentes a esse Direito Creditório, conf orme previsto no respectivo Contrato de Endosso, após seu endosso à Classe, não haverá coobrigação nem direito de regresso da Classe contra o ADMINISTRADOR, o CUSTODIANTE o GESTOR e/ou o Endossante. 4.7.3 A f ormalização de cada aquisição de Direitos Creditórios pela Classe deverá incluir o endosso eletrônico em preto de cada CCB representativa do respectivo Direito Creditório em f avor da Classe, inclusive, mas não necessariamente, por meio d a celebração de Termos de Endosso (os quais, para f ins de esclarecimento, poderão ser levados a registro junto aos cartórios de Registro de Títulos e Documentos competentes, a exclusivo critério do GESTOR, em casos excepcionais em que tal registro possa ser considerado necessário para f ins de ef icácia das respectivas cessões perante terceiros, tendo em vista a transmiss ão das CCB mediante endosso em preto, nos termos deste Regulamento e da legislação aplicável). 4.7.4 Após a f ormalizaçã</a:t>
            </a:r>
          </a:p>
          <a:p>
            <a:r>
              <a:t>CNPJ 54871427000194 · Coobrigação e retenção de risco · Regulamento · ID 670691 · 28/04/2024 · versão Regulamento — referência 28/04/2024 · p. 13 · Anexo I, 4.18 · https://fnet.bmfbovespa.com.br/fnet/publico/visualizarDocumento?id=670691</a:t>
            </a:r>
          </a:p>
          <a:p>
            <a:r>
              <a:t>CNPJ 54871427000194 · Coobrigação e retenção de risco · Excerto da fonte:</a:t>
            </a:r>
          </a:p>
          <a:p>
            <a:r>
              <a:t>4.18 Exceto na medida em que eventualmente previsto nos Contratos de Cessão e/ou em instrumentos eventualmente celebrados entre a Classe e os Endossantes, os Endossantes não serão responsáveis em caso de eventual inadimplemento dos Direitos Creditórios por eles cedidos, sendo responsáveis, não obstante, apenas pela existência, certeza, conteúdo, exatidão, veracidade, legitimidade, validade e correta f ormalização dos Direitos Creditórios que cederem à Classe, nos termos da legislação aplicável. 4.19 A Classe, o ADMINISTRADOR e o GESTOR, bem como seus controladores, sociedades coligadas, controladas ou sob controle comum, e/ou subsidiárias, não respondem pela certeza, liquidez, exigibilidade, conteúdo, exatidão, veracidade, legitimidade, validade e/ou correta f ormalização dos Direitos Creditórios adquiridos pela Classe, tampouco pela solvência dos Devedores e/ou Endossantes dos respectivos Direitos Creditórios. 4.20 Sem prejuízo do disposto no item 4.19 acima e, observado o disposto no item Erro! Fonte de referência não encontrada., o CUSTODIANTE f oi contratado pelo GESTOR para verificar e validar, na Data de Aquisição dos Direitos Creditórios pela Classe, o atendimento dos Direitos</a:t>
            </a:r>
          </a:p>
          <a:p>
            <a:r>
              <a:t>CNPJ 54871427000194 · Coobrigação e retenção de risco · Versão e prevalência: Leitura específica das cláusulas indicadas; condições e conflitos preservados. Seleção documental atual não comprova vigência jurídica por data isolada.</a:t>
            </a:r>
          </a:p>
          <a:p>
            <a:r>
              <a:t>CNPJ 54871427000194 · Coobrigação e retenção de risco · Resumo do histórico: {"count": 2, "dates": ["2024-04-19", "2024-04-28"], "document_count": 2, "sources": [{"document_id": "670691", "title": "Regulamento", "reference_date": "2024-04-28", "version": "1", "page": "10-12", "url": "https://fnet.bmfbovespa.com.br/fnet/publico/visualizarDocumento?id=670691", "sha256": "bf16dd7f1a62d5cdbf2e2d54fef81783783f7310fbc99c3a8f00459bdf9d037b"}, {"document_id": "670689", "title": "Regulamento", "reference_date": "2024-04-19", "version": "1", "page": 10, "clause": "4.7.3", "url": "https://fnet.bmfbovespa.com.br/fnet/publico/visualizarDocumento?id=670689", "sha256": "891bc9bc5d87bbc02ec139077a84d2702eb81ea02035fb71d24f5b8366b94a0b"}], "reference": {"path": "history/54871427000194.json", "criterion_id": "coobligation", "total_count": 2, "preview_count": 2, "full_text_deferred": true, "sha256": "35d7cd99be50c7287c9fb675cf4f2e736002315295a225a9efa79c8d9186d874"}}</a:t>
            </a:r>
          </a:p>
          <a:p>
            <a:r>
              <a:t>CNPJ 60010416000112 · Coobrigação e retenção de risco · Regulamento · ID 1051393 · 09/10/2025 · versão Regulamento09/10/2025 · p. 10 · AnexoI4.4.5 · https://fnet.bmfbovespa.com.br/fnet/publico/visualizarDocumento?id=1051393</a:t>
            </a:r>
          </a:p>
          <a:p>
            <a:r>
              <a:t>CNPJ 60010416000112 · Coobrigação e retenção de risco · Excerto da fonte:</a:t>
            </a:r>
          </a:p>
          <a:p>
            <a:r>
              <a:t>4.4.5. Caso um Direito Creditório endossado à Classe deixe de atender quaisquer Critérios de Elegibilidade, quaisquer condições de endosso e/ou quaisquer declarações e garantias referentes a esse Direito Creditório, conforme previsto no Contrato de Endosso, após seu endosso à Classe, não haverá coobrigação nem direito de regresso da Classe contra o Endossante, o Administrador, o Custodiante, o Gestor e/ou o Agente de Retenção/Cobrança, exceto em caso de má-fé, culpa ou dolo comprovado, hipótese em que a parte que agiu com má-f é, culpa ou dolo comprovado</a:t>
            </a:r>
          </a:p>
          <a:p>
            <a:r>
              <a:t>CNPJ 60010416000112 · Coobrigação e retenção de risco · Regulamento · ID 1051393 · 09/10/2025 · versão Regulamento09/10/2025 · p. 11 · AnexoI4.4.7 · https://fnet.bmfbovespa.com.br/fnet/publico/visualizarDocumento?id=1051393</a:t>
            </a:r>
          </a:p>
          <a:p>
            <a:r>
              <a:t>CNPJ 60010416000112 · Coobrigação e retenção de risco · Excerto da fonte:</a:t>
            </a:r>
          </a:p>
          <a:p>
            <a:r>
              <a:t>sem coobrigação do Endossante, da plena titularidade desse Direito Creditório, juntamente com todos os direitos, privilégios, pref erências, prerrogativas, garantias e ações a ele relacionados, bem como correção monetária, juros e encargos, sem prejuízo do direito da Classe (i) de exigir a recompra compulsória do respectivo Direito Creditório, de acordo com os termos do Contrato de Endosso; ou (ii) de vender Direitos Creditórios ao Agente de Retenção/Cobrança (opção de venda), em ambos os casos estritamente nos termos do Contrato de Endosso.</a:t>
            </a:r>
          </a:p>
          <a:p>
            <a:r>
              <a:t>CNPJ 60010416000112 · Coobrigação e retenção de risco · Versão e prevalência: Leitura específica das cláusulas indicadas; condições e conflitos preservados. Seleção documental atual não comprova vigência jurídica por data isolada.</a:t>
            </a:r>
          </a:p>
          <a:p>
            <a:r>
              <a:t>CNPJ 60010416000112 · Coobrigação e retenção de risco · Resumo do histórico: {"count": 2, "dates": ["2025-03-20", "2025-10-09"], "document_count": 2, "sources": [{"document_id": "1051393", "title": "Regulamento", "reference_date": "2025-10-09", "version": "1", "page": "10-11", "url": "https://fnet.bmfbovespa.com.br/fnet/publico/visualizarDocumento?id=1051393", "sha256": "8469d613078ffd5a6c1d217885d8a397a16342c0b937ae4aa24b106505f233ae"}, {"document_id": "993786", "title": "Regulamento", "reference_date": "2025-03-20", "version": "1", "page": 10, "clause": "4.4.5", "url": "https://fnet.bmfbovespa.com.br/fnet/publico/visualizarDocumento?id=993786", "sha256": "fd0fdd369a195510d81f81f505195a0b09e5f43522a990afa7d58c4f872921c8"}], "reference": {"path": "history/60010416000112.json", "criterion_id": "coobligation", "total_count": 2, "preview_count": 2, "full_text_deferred": true, "sha256": "8e2bd813f4c51cf01f6bfaad164bafe69d2bbb192f753eac92da3a01c2e63046"}}</a:t>
            </a:r>
          </a:p>
          <a:p>
            <a:r>
              <a:t>CNPJ 62696791000193 · Coobrigação e retenção de risco · Regulamento · ID 1143317 · 2026-03-20 · versão 1 · p. 11 · 4.7.3 · https://fnet.bmfbovespa.com.br/fnet/publico/visualizarDocumento?id=1143317</a:t>
            </a:r>
          </a:p>
          <a:p>
            <a:r>
              <a:t>CNPJ 62696791000193 · Coobrigação e retenção de risco · Excerto da fonte:</a:t>
            </a:r>
          </a:p>
          <a:p>
            <a:r>
              <a:t>4.7.3 Na hipótese de eventuais Direitos Creditórios do Agronegócio elegíveis deixarem de atender a  qualquer Critério de Elegibilidade após sua aquisição pela Classe, tal f ato não será entendido  como um desenquadramento da carteira, tampouco haverá direito de regresso contra o  Administrador e/ou o Gestor.</a:t>
            </a:r>
          </a:p>
          <a:p>
            <a:r>
              <a:t> Limites de concentração aplicáveis aos Direitos Creditórios do Agronegócio e fundos de investimento  em Direitos Creditórios do Agronegócio investidos pela Classe</a:t>
            </a:r>
          </a:p>
          <a:p>
            <a:r>
              <a:t>CNPJ 62696791000193 · Coobrigação e retenção de risco · Regulamento · ID 1143317 · 2026-03-20 · versão 1 · p. 11 · 4.9 · https://fnet.bmfbovespa.com.br/fnet/publico/visualizarDocumento?id=1143317</a:t>
            </a:r>
          </a:p>
          <a:p>
            <a:r>
              <a:t>CNPJ 62696791000193 · Coobrigação e retenção de risco · Excerto da fonte:</a:t>
            </a:r>
          </a:p>
          <a:p>
            <a:r>
              <a:t>4.9 Nos termos do Art. 45 do Anexo Normativo II da Resolução CVM 175, a Classe poderá ter até 100%  (cem por cento) de seu Patrimônio Líquido alocado em Direitos Creditórios do Agronegócio, devidos  por um mesmo Devedor e/ou de responsabilidade ou coobrigação de Devedores de um mesmo grupo</a:t>
            </a:r>
          </a:p>
          <a:p>
            <a:r>
              <a:t>CNPJ 62696791000193 · Coobrigação e retenção de risco · Regulamento · ID 1143317 · 2026-03-20 · versão 1 · p. 41 · 7.1 · https://fnet.bmfbovespa.com.br/fnet/publico/visualizarDocumento?id=1143317</a:t>
            </a:r>
          </a:p>
          <a:p>
            <a:r>
              <a:t>CNPJ 62696791000193 · Coobrigação e retenção de risco · Excerto da fonte:</a:t>
            </a:r>
          </a:p>
          <a:p>
            <a:r>
              <a:t>7.1. Risco de Crédito relativo aos Direitos Creditórios do Agronegócio. Decorre da capacidade dos  Devedores e/ou coobrigados, conforme aplicável, de honrarem seus compromissos pontual e  integralmente, conforme contratados. A Classe sof rerá o impacto do inadimplemento dos  Direitos Creditórios do Agronegócio detidos em Carteira que estejam vencidos e não pagos e  do não cumprimento, pelos Devedores e/ou coobrigados, conf orme aplicável, de suas  obrigações nos termos dos respectivos instrumentos. A Classe somente procederá ao resgate  das Cotas em moeda corrente nacional na medida em que os Direitos Creditórios do  Agronegócio sejam pagos pelos Devedores e/ou coobrigados, conforme aplicável, e desde  que os respectivos valores sejam transferidos à Classe, não havendo garantia de que o resgate  das Cotas ocorrerá integralmente conf orme estabelecido neste Regulamento, Anexo I e  demais documentos que o integrem, conforme aplicável. Nessas hipóteses, não será devido  pela Classe, pelo pelo Administrador, pelo Gestor e/ou pelo Custodiante, qualquer multa ou  penalidade, de qualquer natureza. Em caso de instauração de pedido de f alência, recuperação  judicial, de plano de recuperação extrajudicial ou qualquer outro procedimento de insolvência  dos Devedores e/ou coobrigados, conforme aplicável, a Classe poderá não receber os  pagamentos dos Direitos Creditórios do Agronegócio que compõem sua Carteira, o que poderá  af etar adversamente os resultados da Classe.</a:t>
            </a:r>
          </a:p>
          <a:p>
            <a:r>
              <a:t>CNPJ 62696791000193 · Coobrigação e retenção de risco · Condição: Documentos atuais selecionados no inventário por categoria/escopo; a data documental isolada não comprova vigência jurídica.</a:t>
            </a:r>
          </a:p>
          <a:p>
            <a:r>
              <a:t>CNPJ 62696791000193 · Coobrigação e retenção de risco · Versão e prevalência: Documentos atuais selecionados no inventário por categoria/escopo; a data documental isolada não comprova vigência jurídica.</a:t>
            </a:r>
          </a:p>
          <a:p>
            <a:r>
              <a:t>CNPJ 55563624000109 · Coobrigação e retenção de risco · Demonstrações Financeiras · ID 1178840 · 2026-01-31 · versão 1 · p. 21 · https://fnet.bmfbovespa.com.br/fnet/publico/visualizarDocumento?id=1178840</a:t>
            </a:r>
          </a:p>
          <a:p>
            <a:r>
              <a:t>CNPJ 55563624000109 · Coobrigação e retenção de risco · Excerto da fonte:</a:t>
            </a:r>
          </a:p>
          <a:p>
            <a:r>
              <a:t>ii) Risco de sistemas. Dada a complexidade operacional própria dos fundos de  investimento em direitos creditórios, não há garantia de que as trocas de informações  entre os sistemas eletrônicos do Custodiante, da Administradora, do Gestor, da  Classe e, quando aplicável, do endossante, dos devedores e/ou coobrigados,  conforme aplicável, se darão livres de erros. Caso qualquer desses riscos venha a  se materializar, a aquisição, cobrança ou realização dos direitos creditórios poderá  ser adversamente afetada, prejudicando o desempenho da Classe.</a:t>
            </a:r>
          </a:p>
          <a:p>
            <a:r>
              <a:t>CNPJ 55563624000109 · Coobrigação e retenção de risco · Condição: Trechos do documento específico identificado com data mais recente; vigência jurídica não inferida.</a:t>
            </a:r>
          </a:p>
          <a:p>
            <a:r>
              <a:t>CNPJ 55563624000109 · Coobrigação e retenção de risco · Versão e prevalência: Trechos do documento específico identificado com data mais recente; vigência jurídica não inferida.</a:t>
            </a:r>
          </a:p>
          <a:p>
            <a:r>
              <a:t>CNPJ 55563624000109 · Coobrigação e retenção de risco · Resumo do histórico: {"count": 1, "dates": ["2025-01-31"], "document_count": 1, "sources": [{"document_id": "891861", "title": "Demonstrações Financeiras", "reference_date": "2025-01-31", "version": "1", "page": 21, "url": "https://fnet.bmfbovespa.com.br/fnet/publico/visualizarDocumento?id=891861", "sha256": "e9cb9e6ddbe505fe068cfcac33605165a98313489de0d3ce6d4d238263c3f3e7"}], "reference": {"path": "history/55563624000109.json", "criterion_id": "coobligation", "total_count": 1, "preview_count": 1, "full_text_deferred": true, "sha256": "7835d573fb58a3c19adf5b8ecc2aee2bdbb9a88f7a0c0209b5f262b64c7522e3"}}</a:t>
            </a:r>
          </a:p>
          <a:p>
            <a:r>
              <a:t>CNPJ 62552447000120 · Coobrigação e retenção de risco · Regulamento · ID 1200623 · 21/05/2026 · versão Consolidado21/05/2026 aprovado pelo ato1200625 · p. 13 · AnexoI4.6.3–4.6.4 · https://fnet.bmfbovespa.com.br/fnet/publico/visualizarDocumento?id=1200623</a:t>
            </a:r>
          </a:p>
          <a:p>
            <a:r>
              <a:t>CNPJ 62552447000120 · Coobrigação e retenção de risco · Excerto da fonte:</a:t>
            </a:r>
          </a:p>
          <a:p>
            <a:r>
              <a:t>4.6.4 Após a formalização, o endosso de um Direito Creditório Consignado Privado, Direito Creditório FGTS e Direito Creditório Refinanciamento Livre à Classe será irrevogável e irretratável, com a transf erência, à Classe, de f orma def initiva, sem coobrigação do Endossante, da plena titularidade desse Direito Creditório, juntamente com todos os direitos, privilégios, preferências, prerrogativas, garantias e ações a ele relacionados, bem como correção monetária, juros e encargos, sem prejuízo do direito da Classe (i) de exigir a resolução do endosso do respectivo D</a:t>
            </a:r>
          </a:p>
          <a:p>
            <a:r>
              <a:t>CNPJ 62552447000120 · Coobrigação e retenção de risco · Regulamento · ID 1200623 · 21/05/2026 · versão Consolidado21/05/2026 aprovado pelo ato1200625 · p. 16 · AnexoI4.22 · https://fnet.bmfbovespa.com.br/fnet/publico/visualizarDocumento?id=1200623</a:t>
            </a:r>
          </a:p>
          <a:p>
            <a:r>
              <a:t>CNPJ 62552447000120 · Coobrigação e retenção de risco · Excerto da fonte:</a:t>
            </a:r>
          </a:p>
          <a:p>
            <a:r>
              <a:t>4.22 Exceto na medida em que eventualmente previsto no s Contratos de Endosso e/ou em instrumentos eventualmente celebrados entre a Classe e o Endossante e/ou o Agente de Retenção e Cobrança, conf orme aplicável, o Endossante e/ou o Agente de Retenção e Cobrança não serão responsáveis em caso de eventual inadimplemento dos Direitos Creditórios . 4.23 A Classe, o Administrador e o Gestor, bem como seus controladores, sociedades coligadas, controladas ou sob controle comum, e/ou subsidiárias, não respondem pela certeza, liquidez, exigibilidade, conteúdo, exatidão, veracidade, legitimidade, validade e/ou co</a:t>
            </a:r>
          </a:p>
          <a:p>
            <a:r>
              <a:t>CNPJ 62552447000120 · Coobrigação e retenção de risco · Versão e prevalência: Leitura específica das cláusulas indicadas; condições e conflitos preservados. Seleção documental atual não comprova vigência jurídica por data isolada.</a:t>
            </a:r>
          </a:p>
          <a:p>
            <a:r>
              <a:t>CNPJ 63953620000165 · Coobrigação e retenção de risco · Anexo ao Regulamento · ID 1222863 · 02/06/2026 · versão AnexoConsignadoPrivado02/06/2026 · p. 6 · 4.8,4.10.3 · https://fnet.bmfbovespa.com.br/fnet/publico/visualizarDocumento?id=1222863</a:t>
            </a:r>
          </a:p>
          <a:p>
            <a:r>
              <a:t>CNPJ 63953620000165 · Coobrigação e retenção de risco · Excerto da fonte:</a:t>
            </a:r>
          </a:p>
          <a:p>
            <a:r>
              <a:t>4.10.3 Não haverá coobrigação nem direito de regresso da Classe contra o Endossante, o Administrador, o Custodiante, o Gestor e/ou o Agente de Retenção/Cobrança, exceto em caso de má-fé, culpa ou dolo comprovado, hipótese em que a parte que agiu com má-fé, culpa ou dolo comprovado poderá ser responsabilizada pelas perdas incorridas pela Classe em relação aos respectivos Direitos Creditórios Crédito Consignado. 4.11 Além dos Critérios de Elegibilidade acima mencionados, a serem verificados pelo Gestor ou terceiro por ele contratado, o Endossante e o Agente de Retenção/Cobrança declararão, expr</a:t>
            </a:r>
          </a:p>
          <a:p>
            <a:r>
              <a:t>CNPJ 63953620000165 · Coobrigação e retenção de risco · Versão e prevalência: Leitura específica das cláusulas indicadas; condições e conflitos preservados. Seleção documental atual não comprova vigência jurídica por data isolada.</a:t>
            </a:r>
          </a:p>
          <a:p>
            <a:r>
              <a:t>CNPJ 63953620000165 · Coobrigação e retenção de risco · Resumo do histórico: {"count": 8, "dates": ["2026-04-28", "2026-05-08", "2026-05-15"], "document_count": 3, "sources": [{"document_id": "1327859", "title": "Demonstrações Financeiras - Fusão, cisão e incorporação", "reference_date": "2026-05-15", "version": "1", "page": 16, "url": "https://fnet.bmfbovespa.com.br/fnet/publico/visualizarDocumento?id=1327859", "sha256": "dca1c68babb97f887528c3e2e47596a9c30f507b067981a35655b2f2da9c8054"}, {"document_id": "1298691", "title": "Demonstrações Financeiras - Fusão, cisão e incorporação", "reference_date": "2026-05-08", "version": "1", "page": 16, "url": "https://fnet.bmfbovespa.com.br/fnet/publico/visualizarDocumento?id=1298691", "sha256": "58c570d9b8d4d265330d3db3ea81c435b8e44a6dab4002aa37790652a1ee9819"}, {"document_id": "1282180", "title": "Demonstrações Financeiras - Fusão, cisão e incorporação", "reference_date": "2026-04-28", "version": "1", "page": 16, "url": "https://fnet.bmfbovespa.com.br/fnet/publico/visualizarDocumento?id=1282180", "sha256": "afaaa0e6809be4385e5bdb6c911aac582032c5bdbac3d7750234bf9eaf00438a"}], "reference": {"path": "history/63953620000165.json", "criterion_id": "coobligation",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Qualidade da carteira</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Metodologia de PDD e curva por atraso · Base da comparação IME: {"criterion_id": "pdd", "observed_value": null, "unit": "", "competence": "08/2026", "status": "not_comparable", "reason": "A curva de PDD requer atraso, contágio e garantias por operação; o agregado mensal não demonstra aplicação da metodologia.", "formula": "",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null, "comparison_required": true, "context_formula": "PDD / direitos creditórios", "context_value": 0.397174994710542, "context_unit": "percent"}</a:t>
            </a:r>
          </a:p>
          <a:p>
            <a:r>
              <a:t>CNPJ 54871427000194 · Metodologia de PDD e curva por atraso · Regulamento · ID 670691 · 28/04/2024 · versão Regulamento — referência 28/04/2024 · p. 17 · Anexo I, 9.2–9.2.1 · https://fnet.bmfbovespa.com.br/fnet/publico/visualizarDocumento?id=670691</a:t>
            </a:r>
          </a:p>
          <a:p>
            <a:r>
              <a:t>CNPJ 54871427000194 · Metodologia de PDD e curva por atraso · Excerto da fonte:</a:t>
            </a:r>
          </a:p>
          <a:p>
            <a:r>
              <a:t>9.2 As provisões para perdas e as perdas havidas com Direitos Creditórios ou com os Ativos Financeiros de Liquidez integrantes da Carteira serão, respectivamente, efetuadas ou reconhecidas nos termos da Instrução CVM 489. Desta forma, o valor do saldo dos Direitos Creditórios e/ou Ativos Financeiros de Liquidez será reduzido pelo valor da provisão ef etuada ou perda reconhecida. 9.2.1 O ef eito de perda ou provisão para devedores duvidosos de Direitos Creditórios de um mesmo Devedor deverá ser mensurado levando-se em consideração o disposto no Art. 13 da Instrução CVM 489, sendo f acultada a análise individualizada dos Direitos Creditórios, observada a metodologia de avaliação descrita no manual d o ADMINISTRADOR ou, ainda, no manual do CUSTODIANTE. CAPÍTULO 10 – ASSEMBLEIA ESPECIAL DE COTISTAS 10.1 Sem prejuízo de outros requisitos e inf ormações previstos na regulamentação vigente, são aplicáveis à Assembleia Especial de Cotistas as mesmas disposições procedimentais da Assembleia Geral de Cotistas. 10.2 A Assembleia Especial de Cotistas é responsável por deliberar sobre as matérias específicas da Classe de Cotas, sem prejuízo das demais disposições previstas</a:t>
            </a:r>
          </a:p>
          <a:p>
            <a:r>
              <a:t>CNPJ 54871427000194 · Metodologia de PDD e curva por atraso · Condição: Os percentuais do Complemento 2 são descontos de cobrança e comissões; não são alíquotas de PDD. O manual operacional referenciado permanece uma fonte separada.</a:t>
            </a:r>
          </a:p>
          <a:p>
            <a:r>
              <a:t>CNPJ 54871427000194 · Metodologia de PDD e curva por atraso · Versão e prevalência: Leitura específica das cláusulas indicadas; condições e conflitos preservados. Seleção documental atual não comprova vigência jurídica por data isolada.</a:t>
            </a:r>
          </a:p>
          <a:p>
            <a:r>
              <a:t>CNPJ 54871427000194 · Metodologia de PDD e curva por atraso · Resumo do histórico: {"count": 4, "dates": ["2024-12-31", "2025-01-01", "2025-12-31"], "document_count": 3, "sources": [{"document_id": "1151805", "title": "Demonstrações Financeiras", "reference_date": "2025-12-31", "version": "1", "page": 17, "url": "https://fnet.bmfbovespa.com.br/fnet/publico/visualizarDocumento?id=1151805", "sha256": "f1cea70b152968bf96ef9221b27225953cb20aeef487b2798db3c25e11b528d4"}, {"document_id": "869529", "title": "Demonstrações Financeiras", "reference_date": "2025-01-01", "version": "1", "page": 17, "url": "https://fnet.bmfbovespa.com.br/fnet/publico/visualizarDocumento?id=869529", "sha256": "9a93a9369ac8efdbc54ff8fcee3ccac3abf88edab4807b9323d3852450771b2a"}, {"document_id": "870070", "title": "Demonstrações Financeiras", "reference_date": "2024-12-31", "version": "1", "page": 17, "url": "https://fnet.bmfbovespa.com.br/fnet/publico/visualizarDocumento?id=870070", "sha256": "9a93a9369ac8efdbc54ff8fcee3ccac3abf88edab4807b9323d3852450771b2a"}], "reference": {"path": "history/54871427000194.json", "criterion_id": "pdd", "total_count": 4, "preview_count": 3, "full_text_deferred": true, "sha256": "35d7cd99be50c7287c9fb675cf4f2e736002315295a225a9efa79c8d9186d874"}}</a:t>
            </a:r>
          </a:p>
          <a:p>
            <a:r>
              <a:t>CNPJ 60010416000112 · Metodologia de PDD e curva por atraso · Base da comparação IME: {"criterion_id": "pdd", "observed_value": null, "unit": "", "competence": "08/2026", "status": "not_comparable", "reason": "A curva de PDD requer atraso, contágio e garantias por operação; o agregado mensal não demonstra aplicação da metodologia.", "formula": "",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null, "comparison_required": true, "context_formula": "PDD / direitos creditórios", "context_value": 19.008881839133778, "context_unit": "percent"}</a:t>
            </a:r>
          </a:p>
          <a:p>
            <a:r>
              <a:t>CNPJ 60010416000112 · Metodologia de PDD e curva por atraso · Regulamento · ID 1051393 · 09/10/2025 · versão Regulamento09/10/2025 · p. 17 · AnexoI8.1(iv)–(v),8.3–8.3.1 · https://fnet.bmfbovespa.com.br/fnet/publico/visualizarDocumento?id=1051393</a:t>
            </a:r>
          </a:p>
          <a:p>
            <a:r>
              <a:t>CNPJ 60010416000112 · Metodologia de PDD e curva por atraso · Excerto da fonte:</a:t>
            </a:r>
          </a:p>
          <a:p>
            <a:r>
              <a:t>8.1 Os ativos da Carteira serão avaliados todos os Dias Úteis de acordo com critérios consistentes e verif icáveis, apoiados por inf ormações externas e internas que levem em consideração aspectos relacionados aos Devedores e às características da transação correspondente, de acordo com a seguinte metodologia de avaliação. (i) os Ativos Financeiros de Liquidez deverão ser registrados e ter seus valores ajustados a mercado, sujeitos às regras e procedimentos definidos no manual de marcação a mercado do Custodiante e de acordo com as regras do Banco Central e da CVM, aplicá</a:t>
            </a:r>
          </a:p>
          <a:p>
            <a:r>
              <a:t>CNPJ 60010416000112 · Metodologia de PDD e curva por atraso · Condição: Curva numérica por atraso não é transcrita; manuais/contrato têm perímetro distinto do indicador agregado do IME.</a:t>
            </a:r>
          </a:p>
          <a:p>
            <a:r>
              <a:t>CNPJ 60010416000112 · Metodologia de PDD e curva por atraso · Motivo: Cláusula primária localizada e citada, mas sua lista/condições extensas não admitem uma síntese literal curta confirmada. O trecho integral permanece nas fontes.</a:t>
            </a:r>
          </a:p>
          <a:p>
            <a:r>
              <a:t>CNPJ 60010416000112 · Metodologia de PDD e curva por atraso · Versão e prevalência: Leitura específica das cláusulas indicadas; condições e conflitos preservados. Seleção documental atual não comprova vigência jurídica por data isolada.</a:t>
            </a:r>
          </a:p>
          <a:p>
            <a:r>
              <a:t>CNPJ 60010416000112 · Metodologia de PDD e curva por atraso · Resumo do histórico: {"count": 1, "dates": ["2025-03-20"], "document_count": 1, "sources": [{"document_id": "993786", "title": "Regulamento", "reference_date": "2025-03-20", "version": "1", "page": 17, "clause": "8.1", "url": "https://fnet.bmfbovespa.com.br/fnet/publico/visualizarDocumento?id=993786", "sha256": "fd0fdd369a195510d81f81f505195a0b09e5f43522a990afa7d58c4f872921c8"}], "reference": {"path": "history/60010416000112.json", "criterion_id": "pdd", "total_count": 1, "preview_count": 1, "full_text_deferred": true, "sha256": "8e2bd813f4c51cf01f6bfaad164bafe69d2bbb192f753eac92da3a01c2e63046"}}</a:t>
            </a:r>
          </a:p>
          <a:p>
            <a:r>
              <a:t>CNPJ 62696791000193 · Metodologia de PDD e curva por atraso · Regulamento · ID 1143317 · 20/03/2026 · versão Regulamento — referência 20/03/2026 · p. 11 · Anexo I, 4.7.3 · https://fnet.bmfbovespa.com.br/fnet/publico/visualizarDocumento?id=1143317</a:t>
            </a:r>
          </a:p>
          <a:p>
            <a:r>
              <a:t>CNPJ 62696791000193 · Metodologia de PDD e curva por atraso · Excerto da fonte:</a:t>
            </a:r>
          </a:p>
          <a:p>
            <a:r>
              <a:t>4.7.3 Na hipótese de eventuais Direitos Creditórios do Agronegócio elegíveis deixarem de atender a qualquer Critério de Elegibilidade após sua aquisição pela Classe, tal f ato não será entendido como um desenquadramento da carteira, tampouco haverá direito de regresso contra o Administrador e/ou o Gestor. Limites de concentração aplicáveis aos Direitos Creditórios do Agronegócio e fundos de investimento em Direitos Creditórios do Agronegócio investidos pela Classe 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t>
            </a:r>
          </a:p>
          <a:p>
            <a:r>
              <a:t>CNPJ 62696791000193 · Metodologia de PDD e curva por atraso · Condição: PDD mensal observada e metodologia contratual são evidências separadas.</a:t>
            </a:r>
          </a:p>
          <a:p>
            <a:r>
              <a:t>CNPJ 62696791000193 · Metodologia de PDD e curva por atraso · Motivo: Leitura do consolidado de 48 páginas não localizou metodologia de PDD/curva por atraso. A cláusula 4.7.3 trata de perda posterior de elegibilidade; não estabelece provisionamento.</a:t>
            </a:r>
          </a:p>
          <a:p>
            <a:r>
              <a:t>CNPJ 62696791000193 · Metodologia de PDD e curva por atraso · Versão e prevalência: Leitura específica das cláusulas indicadas; condições e conflitos preservados. Seleção documental atual não comprova vigência jurídica por data isolada.</a:t>
            </a:r>
          </a:p>
          <a:p>
            <a:r>
              <a:t>CNPJ 55563624000109 · Metodologia de PDD e curva por atraso · Base da comparação IME: {"criterion_id": "pdd", "observed_value": null, "unit": "", "competence": "08/2026", "status": "not_comparable", "reason": "A curva de PDD requer atraso, contágio e garantias por operação; o agregado mensal não demonstra aplicação da metodologia.", "formula": "",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null, "comparison_required": true, "context_formula": "PDD / direitos creditórios", "context_value": null, "context_unit": "percent"}</a:t>
            </a:r>
          </a:p>
          <a:p>
            <a:r>
              <a:t>CNPJ 55563624000109 · Metodologia de PDD e curva por atraso · Regulamento · ID 1192614 · 30/04/2026 · versão Regulamento30/04/2026 · p. 19 · AnexoI9.1–9.2.1 · https://fnet.bmfbovespa.com.br/fnet/publico/visualizarDocumento?id=1192614</a:t>
            </a:r>
          </a:p>
          <a:p>
            <a:r>
              <a:t>CNPJ 55563624000109 · Metodologia de PDD e curva por atraso · Excerto da fonte:</a:t>
            </a:r>
          </a:p>
          <a:p>
            <a:r>
              <a:t>9.1 As Cotas da Classe Investida e Ativos Financeiros de Liquidez que compõem a Carteira da Classe terão seus valores calculados todo Dia Útil conforme a metodologia de avaliação descrita no manual do ADMINISTRADOR, disponível no seu website, no endereço https://www.btgpactual.com/asset-management/administracao- fiduciaria#documentos. 9.2 As provisões para perdas e as perdas havidas com as Cotas da Classe Investida ou com os Ativos Financeiros de Liquidez integrantes da Carteira serão, respectivamente, efetuadas ou reconhecidas pelo ADMINISTRADOR, de</a:t>
            </a:r>
          </a:p>
          <a:p>
            <a:r>
              <a:t>CNPJ 55563624000109 · Metodologia de PDD e curva por atraso · Condição: PDD do FIC reflete cotas/liquidez; atraso/PDD de devedores finais exige IME do investido.</a:t>
            </a:r>
          </a:p>
          <a:p>
            <a:r>
              <a:t>CNPJ 55563624000109 · Metodologia de PDD e curva por atraso · Versão e prevalência: Leitura específica das cláusulas indicadas; condições e conflitos preservados. Seleção documental atual não comprova vigência jurídica por data isolada.</a:t>
            </a:r>
          </a:p>
          <a:p>
            <a:r>
              <a:t>CNPJ 62552447000120 · Metodologia de PDD e curva por atraso · Base da comparação IME: {"criterion_id": "pdd", "observed_value": null, "unit": "", "competence": "08/2026", "status": "not_comparable", "reason": "A curva de PDD requer atraso, contágio e garantias por operação; o agregado mensal não demonstra aplicação da metodologia.", "formula": "",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null, "comparison_required": true, "context_formula": "PDD / direitos creditórios", "context_value": 9.644446353219038, "context_unit": "percent"}</a:t>
            </a:r>
          </a:p>
          <a:p>
            <a:r>
              <a:t>CNPJ 62552447000120 · Metodologia de PDD e curva por atraso · Regulamento · ID 1200623 · 21/05/2026 · versão Consolidado21/05/2026 aprovado pelo ato1200625 · p. 20 · AnexoI9.1–9.2.1 · https://fnet.bmfbovespa.com.br/fnet/publico/visualizarDocumento?id=1200623</a:t>
            </a:r>
          </a:p>
          <a:p>
            <a:r>
              <a:t>CNPJ 62552447000120 · Metodologia de PDD e curva por atraso · Excerto da fonte:</a:t>
            </a:r>
          </a:p>
          <a:p>
            <a:r>
              <a:t>9.1 Os Direitos Creditórios e Ativos Financeiros que compõem a Carteira terão seus valores calculados todo Dia Útil conforme a metodologia de avaliação descrita no manual d o Administrador ou, ainda, nos manuais do Custodiante, disponíveis nos seus respectivos websites, no endereço https://www.btgpactual.com/asset-management/administracao-f iduciaria#documentos. 9.2 As provisões para perdas e as perdas havidas com Direitos Creditórios ou com os Ativos Financeiros integrantes da Carteira serão, respectivamente, efetuadas ou reconhecidas nos termos da Instrução da CVM n.º 489, de 14 de janeiro de 2011, c</a:t>
            </a:r>
          </a:p>
          <a:p>
            <a:r>
              <a:t>CNPJ 62552447000120 · Metodologia de PDD e curva por atraso · Condição: Cláusula não transcreve curva de provisão por faixa de atraso; percentual PDD do IME não reproduz manual.</a:t>
            </a:r>
          </a:p>
          <a:p>
            <a:r>
              <a:t>CNPJ 62552447000120 · Metodologia de PDD e curva por atraso · Motivo: Não localizada uma cláusula material para este critério nos textos identificados e processados. A ausência de resultado não comprova inexistência da regra.</a:t>
            </a:r>
          </a:p>
          <a:p>
            <a:r>
              <a:t>CNPJ 62552447000120 · Metodologia de PDD e curva por atraso · Versão e prevalência: Leitura específica das cláusulas indicadas; condições e conflitos preservados. Seleção documental atual não comprova vigência jurídica por data isolada.</a:t>
            </a:r>
          </a:p>
          <a:p>
            <a:r>
              <a:t>CNPJ 63953620000165 · Metodologia de PDD e curva por atraso · Base da comparação IME: {"criterion_id": "pdd", "observed_value": null, "unit": "", "competence": "08/2026", "status": "not_comparable", "reason": "A curva de PDD requer atraso, contágio e garantias por operação; o agregado mensal não demonstra aplicação da metodologia.", "formula": "",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null, "comparison_required": true, "context_formula": "PDD / direitos creditórios", "context_value": 5.5101286576011415, "context_unit": "percent"}</a:t>
            </a:r>
          </a:p>
          <a:p>
            <a:r>
              <a:t>CNPJ 63953620000165 · Metodologia de PDD e curva por atraso · Anexo ao Regulamento · ID 1222863 · 02/06/2026 · versão AnexoConsignadoPrivado02/06/2026 · p. 12 · 9.1–9.2.1 · https://fnet.bmfbovespa.com.br/fnet/publico/visualizarDocumento?id=1222863</a:t>
            </a:r>
          </a:p>
          <a:p>
            <a:r>
              <a:t>CNPJ 63953620000165 · Metodologia de PDD e curva por atraso · Excerto da fonte:</a:t>
            </a:r>
          </a:p>
          <a:p>
            <a:r>
              <a:t>9.1 Os Direitos Creditórios e Ativos Financeiros que compõem a Carteira da Classe terão seus valores calculados todo Dia Útil conforme a metodologia de avaliação descrita no manual do Administrador ou, ainda, nos manuais do Custodiante, disponíveis nos seus respectivos websites, no endereço https://www.btgpactual.com/asset- management/administracao-fiduciaria#documentos 9.2 As provisões para perdas e as perdas havidas com Direitos Creditórios ou com os Ativos Financeiros integrantes da Carteira serão, respectivamente, efetuadas ou reconhecidas nos termos da Instrução CVM 489. Desta forma, o valor do saldo dos Dire</a:t>
            </a:r>
          </a:p>
          <a:p>
            <a:r>
              <a:t>CNPJ 63953620000165 · Metodologia de PDD e curva por atraso · Versão e prevalência: Leitura específica das cláusulas indicadas; condições e conflitos preservados. Seleção documental atual não comprova vigência jurídica por data isolada.</a:t>
            </a:r>
          </a:p>
          <a:p>
            <a:r>
              <a:t>CNPJ 63953620000165 · Metodologia de PDD e curva por atraso · Resumo do histórico: {"count": 7, "dates": ["2026-04-16", "2026-04-28", "2026-05-08"], "document_count": 3, "sources": [{"document_id": "1298691", "title": "Demonstrações Financeiras - Fusão, cisão e incorporação", "reference_date": "2026-05-08", "version": "1", "page": 18, "url": "https://fnet.bmfbovespa.com.br/fnet/publico/visualizarDocumento?id=1298691", "sha256": "58c570d9b8d4d265330d3db3ea81c435b8e44a6dab4002aa37790652a1ee9819"}, {"document_id": "1282180", "title": "Demonstrações Financeiras - Fusão, cisão e incorporação", "reference_date": "2026-04-28", "version": "1", "page": 18, "url": "https://fnet.bmfbovespa.com.br/fnet/publico/visualizarDocumento?id=1282180", "sha256": "afaaa0e6809be4385e5bdb6c911aac582032c5bdbac3d7750234bf9eaf00438a"}, {"document_id": "1282179", "title": "Demonstrações Financeiras - Fusão, cisão e incorporação", "reference_date": "2026-04-16", "version": "1", "page": 18, "url": "https://fnet.bmfbovespa.com.br/fnet/publico/visualizarDocumento?id=1282179", "sha256": "beb67afbcd64169019477673fd3b7c1edbfabbd9db07379388d8cdd5d3fc9395"}], "reference": {"path": "history/63953620000165.json", "criterion_id": "pdd", "total_count": 7, "preview_count": 3, "full_text_deferred": true, "sha256": "a7b89077f5e21098c2d601c303faabc3ff6b9729f89d8afecdc60fe1404720c1"}}</a:t>
            </a:r>
          </a:p>
          <a:p>
            <a:r>
              <a:t>CNPJ 54871427000194 · Gatilhos de atraso e rolagem · Motivo: Não localizada uma cláusula material para este critério nos textos identificados e processados. A ausência de resultado não comprova inexistência da regra.</a:t>
            </a:r>
          </a:p>
          <a:p>
            <a:r>
              <a:t>CNPJ 60010416000112 · Gatilhos de atraso e rolagem · Motivo: Não localizada uma cláusula material para este critério nos textos identificados e processados. A ausência de resultado não comprova inexistência da regra.</a:t>
            </a:r>
          </a:p>
          <a:p>
            <a:r>
              <a:t>CNPJ 62696791000193 · Gatilhos de atraso e rolagem · Motivo: Não localizada uma cláusula material para este critério nos textos identificados e processados. A ausência de resultado não comprova inexistência da regra.</a:t>
            </a:r>
          </a:p>
          <a:p>
            <a:r>
              <a:t>CNPJ 55563624000109 · Gatilhos de atraso e rolagem · Motivo: Não localizada uma cláusula material para este critério nos textos identificados e processados. A ausência de resultado não comprova inexistência da regra.</a:t>
            </a:r>
          </a:p>
          <a:p>
            <a:r>
              <a:t>CNPJ 62552447000120 · Gatilhos de atraso e rolagem · Motivo: Não localizada uma cláusula material para este critério nos textos identificados e processados. A ausência de resultado não comprova inexistência da regra.</a:t>
            </a:r>
          </a:p>
          <a:p>
            <a:r>
              <a:t>CNPJ 63953620000165 · Gatilhos de atraso e rolagem · Motivo: Não localizada uma cláusula material para este critério nos textos identificados e processados. A ausência de resultado não comprova inexistência da regra.</a:t>
            </a:r>
          </a:p>
          <a:p>
            <a:r>
              <a:t>CNPJ 54871427000194 · Diluição, cancelamento e chargeback · Motivo: Não localizada uma cláusula material para este critério nos textos identificados e processados. A ausência de resultado não comprova inexistência da regra.</a:t>
            </a:r>
          </a:p>
          <a:p>
            <a:r>
              <a:t>CNPJ 60010416000112 · Diluição, cancelamento e chargeback · Motivo: Não localizada uma cláusula material para este critério nos textos identificados e processados. A ausência de resultado não comprova inexistência da regra.</a:t>
            </a:r>
          </a:p>
          <a:p>
            <a:r>
              <a:t>CNPJ 62696791000193 · Diluição, cancelamento e chargeback · Motivo: Não localizada uma cláusula material para este critério nos textos identificados e processados. A ausência de resultado não comprova inexistência da regra.</a:t>
            </a:r>
          </a:p>
          <a:p>
            <a:r>
              <a:t>CNPJ 55563624000109 · Diluição, cancelamento e chargeback · Motivo: Não localizada uma cláusula material para este critério nos textos identificados e processados. A ausência de resultado não comprova inexistência da regra.</a:t>
            </a:r>
          </a:p>
          <a:p>
            <a:r>
              <a:t>CNPJ 62552447000120 · Diluição, cancelamento e chargeback · Motivo: Não localizada uma cláusula material para este critério nos textos identificados e processados. A ausência de resultado não comprova inexistência da regra.</a:t>
            </a:r>
          </a:p>
          <a:p>
            <a:r>
              <a:t>CNPJ 63953620000165 · Diluição, cancelamento e chargeback · Motivo: Não localizada uma cláusula material para este critério nos textos identificados e processados. A ausência de resultado não comprova inexistência da regra.</a:t>
            </a:r>
          </a:p>
          <a:p>
            <a:r>
              <a:t>CNPJ 54871427000194 · Recompra e indenização · Regulamento · ID 670691 · 2024-04-28 · versão 1 · p. 11 · 4.12 · https://fnet.bmfbovespa.com.br/fnet/publico/visualizarDocumento?id=670691</a:t>
            </a:r>
          </a:p>
          <a:p>
            <a:r>
              <a:t>CNPJ 54871427000194 · Recompra e indenização · Excerto da fonte:</a:t>
            </a:r>
          </a:p>
          <a:p>
            <a:r>
              <a:t>4.12 Os recursos recebidos pela Classe em razão da liquidação dos Direitos Creditórios, a qualquer título,  incluindo pagamento regular ou por excussão de garantia, alienação, recompra, indenização pelo  Cedente e/ou desinvestimento de Ativo Recuperado, serão destinados a aquisição de Direitos  Creditórios até o montante de R$ 250.000.000,00 (duzentos e cinquenta milhões de reais), sendo certo  que os recursos recebidos pela Classe após a aquisição em tal montante não poderão ser destinados  à aquisição pela Classe de novos Direitos Creditórios, aplicando-se, de resto, o disposto no item 8.1  abaixo no que se ref ere à ordem de alocação de tais recursos.</a:t>
            </a:r>
          </a:p>
          <a:p>
            <a:r>
              <a:t>CNPJ 54871427000194 · Recompra e indenização · Regulamento · ID 670691 · 2024-04-28 · versão 1 · p. 12 · 4.13 · https://fnet.bmfbovespa.com.br/fnet/publico/visualizarDocumento?id=670691</a:t>
            </a:r>
          </a:p>
          <a:p>
            <a:r>
              <a:t>CNPJ 54871427000194 · Recompra e indenização · Excerto da fonte:</a:t>
            </a:r>
          </a:p>
          <a:p>
            <a:r>
              <a:t>4.13 Na hipótese de demandas judiciais e/ou administrativas, em que a causa de pedir ou entre os pedidos  estejam incluídos qualquer um dos itens listados abaixo, o Endossante estará obrigado realizar a  recompra ou indenização dos respectivos Direitos Creditórios, na f orma e prazos previstos no  respectivo Contrato de Endosso sem prejuízo do previsto no Artigo 295 do Código Civil, sendo certo  que o GESTOR envidará seus melhores esf orços para que os Contratos de Endosso contenham  substancialmente as hipóteses abaixo :</a:t>
            </a:r>
          </a:p>
          <a:p>
            <a:r>
              <a:t> (i) Vício de f ormalização dos CCCBs e/ou CCBs a) por ausência de qualquer dos Documentos  Comprobatórios ou falsificação, irregularidade sou má formalização destes; b) por falta de recebimento  do crédito pelo Devedor; ou, c) por averbação irregular de desconto em folha na margem consignável  do Devedor;</a:t>
            </a:r>
          </a:p>
          <a:p>
            <a:r>
              <a:t>CNPJ 54871427000194 · Recompra e indenização · Regulamento · ID 670691 · 2024-04-28 · versão 1 · p. 1 · 1.1 · https://fnet.bmfbovespa.com.br/fnet/publico/visualizarDocumento?id=670691</a:t>
            </a:r>
          </a:p>
          <a:p>
            <a:r>
              <a:t>CNPJ 54871427000194 · Recompra e indenização · Excerto da fonte:</a:t>
            </a:r>
          </a:p>
          <a:p>
            <a:r>
              <a:t>1.1 CONSIGNADO DELTA RECEIVABLES I FUNDO DE INVESTIMENTO EM DIREITOS CREDITÓRIOS  (“FUNDO”), regido pela Lei nº 10.406, de 10 de janeiro de 2002, conf orme alterada (“Código Civil”),  pela parte geral e o Anexo Normativo II da Resolução nº 175, de 23 de dezembro de 2022, conforme  alterada, da Comissão de Valores Mobiliários (respectivamente, “CVM” e “Resolução CVM 175”), terá  como principais características:</a:t>
            </a:r>
          </a:p>
          <a:p>
            <a:r>
              <a:t> Classe de Cotas Classe única.</a:t>
            </a:r>
          </a:p>
          <a:p>
            <a:r>
              <a:t> Indeterminado, exceto se de outra f orma vier a ser deliberado pelos cotistas  Prazo de Duração  reunidos em assembleia geral de cotistas.</a:t>
            </a:r>
          </a:p>
          <a:p>
            <a:r>
              <a:t> BTG Pactual Serviços Financeiros S.A. Distribuidora de Títulos e Valores  Mobiliários, instituição f inanceira, com sede na Cidade e Estado do Rio de  Janeiro, na Praia de Botafogo, nº 501, 5º andar (parte), Torre Corcovado,  ADMINISTRADOR  Botafogo, CEP 22250-040, inscrita no CNPJ sob o nº 59.281.253/0001-23 e  credenciada como administradora de carteira, de acordo com o Ato Declaratório  CVM nº 8.695, de 20 de março de 2006 (“ADMINISTRADOR”).</a:t>
            </a:r>
          </a:p>
          <a:p>
            <a:r>
              <a:t> BTG Pactual Asset Management S.A. Distribuidora de Títulos e Valores  Mobiliários, inscrita no CNPJ/ME sob o nº 29.650.082/0001-00, com sede  Cidade e Estado do Rio de Janeiro, na Praia de Botafogo, n.º 501, 5° andar,  devidamente autorizada à prestação dos serviços de administração de carteira  GESTOR  de títulos e valores mobiliários por meio d o Ato Declaratório número 5.968,  expedido em 10 de maio de 2000 (“GESTOR” e, quando ref erido  conjuntamente e indistintamente com o ADMINISTRADOR, os “Prestadores  de Serviços Essenciais”).</a:t>
            </a:r>
          </a:p>
          <a:p>
            <a:r>
              <a:t> O FUNDO, seus cotistas, os distribuidores de cotas por conta e ordem, seu  GESTOR, seu ADMINISTRADOR e os demais prestadores de serviço do  FUNDO e/ou da CLASSE obrigam-se a resolver, por meio de arbitragem, de  acordo com o Regulamento de Arbitragem da Câmara de Arbitragem do  Mercado da B3 (“Regulamento CAM B3” e “CAM B3”, respectivamente), toda  e qualquer disputa ou controvérsia que possa surgir entre eles, relacionada ou  oriunda, em especial, da aplicação, validade, eficácia, interpretação, violação  e seus ef eitos, das disposições contidas no Regulamento e seus Anexos, nas  normas editadas pela CVM que lhe sejam aplicáveis e nos instrumentos entre  si f irmados (“Arbitragem”).</a:t>
            </a:r>
          </a:p>
          <a:p>
            <a:r>
              <a:t> (i) A Arbitragem será de direito, com a aplicação das normas da República  Federativa do Brasil, terá sede no Município de São Paulo, será  Foro Aplicável conduzida em língua portuguesa e de f orma confidencial. O tribunal  arbitral será constituído por 3 (três) árbitros, sendo um deles  presidente, escolhidos nos termos do Regulamento CAM B3.</a:t>
            </a:r>
          </a:p>
          <a:p>
            <a:r>
              <a:t> (ii) As despesas processuais iniciais deverão ser rateadas entre as partes,  arcando cada polo processual com metade dos valores necessários,  sem prejuízo à possibilidade de adiantamento pelas partes  interessadas, resolvendo-se as indef inições nos termos do  Regulamento CAM B3. A sentença arbitral deverá determinar a  responsabilidade final pelas despesas de acordo com a sucumbência  de cada parte, as quais deverão incluir as taxas administrativas,  honorários de árbitros e de peritos e despesas com diligências  processuais e f ornecimento de garantias que sejam determinadas  expressamente pelo tribunal arbitral. É vedada a imposição de  honorários de sucumbência, bem como a determinação de indenização</a:t>
            </a:r>
          </a:p>
          <a:p>
            <a:r>
              <a:t>CNPJ 54871427000194 · Recompra e indenização · Condição: Documentos atuais selecionados no inventário por categoria/escopo; a data documental isolada não comprova vigência jurídica.</a:t>
            </a:r>
          </a:p>
          <a:p>
            <a:r>
              <a:t>CNPJ 54871427000194 · Recompra e indenização · Versão e prevalência: Documentos atuais selecionados no inventário por categoria/escopo; a data documental isolada não comprova vigência jurídica.</a:t>
            </a:r>
          </a:p>
          <a:p>
            <a:r>
              <a:t>CNPJ 54871427000194 · Recompra e indenização · Resumo do histórico: {"count": 2, "dates": ["2024-04-19", "2024-04-28"], "document_count": 2, "sources": [{"document_id": "670691", "title": "Regulamento", "reference_date": "2024-04-28", "version": "1", "page": "10-12", "url": "https://fnet.bmfbovespa.com.br/fnet/publico/visualizarDocumento?id=670691", "sha256": "bf16dd7f1a62d5cdbf2e2d54fef81783783f7310fbc99c3a8f00459bdf9d037b"}, {"document_id": "670689", "title": "Regulamento", "reference_date": "2024-04-19", "version": "1", "page": 10, "clause": "4.7.5", "url": "https://fnet.bmfbovespa.com.br/fnet/publico/visualizarDocumento?id=670689", "sha256": "891bc9bc5d87bbc02ec139077a84d2702eb81ea02035fb71d24f5b8366b94a0b"}], "reference": {"path": "history/54871427000194.json", "criterion_id": "repurchase", "total_count": 2, "preview_count": 2, "full_text_deferred": true, "sha256": "35d7cd99be50c7287c9fb675cf4f2e736002315295a225a9efa79c8d9186d874"}}</a:t>
            </a:r>
          </a:p>
          <a:p>
            <a:r>
              <a:t>CNPJ 60010416000112 · Recompra e indenização · Regulamento · ID 1051393 · 2025-10-09 · versão 1 · p. 10 · 4.4.5 · https://fnet.bmfbovespa.com.br/fnet/publico/visualizarDocumento?id=1051393</a:t>
            </a:r>
          </a:p>
          <a:p>
            <a:r>
              <a:t>CNPJ 60010416000112 · Recompra e indenização · Excerto da fonte:</a:t>
            </a:r>
          </a:p>
          <a:p>
            <a:r>
              <a:t>4.4.5. Caso um Direito Creditório endossado à Classe deixe de atender quaisquer Critérios de  Elegibilidade, quaisquer condições de endosso e/ou quaisquer declarações e garantias referentes  a esse Direito Creditório, conforme previsto no Contrato de Endosso, após seu endosso à Classe,  não haverá coobrigação nem direito de regresso da Classe contra o Endossante, o Administrador,  o Custodiante, o Gestor e/ou o Agente de Retenção/Cobrança, exceto em caso de má-fé, culpa  ou dolo comprovado, hipótese em que a parte que agiu com má-f é, culpa ou dolo comprovado  poderá ser responsabilizada pelas perdas incorridas pela Classe em relação aos respectivos  Direitos Creditórios. Se, entretanto, for constatado que um Direito Creditório endossado à Classe  não estava em conformidade com os Critérios de Elegibilidade, condições de endosso ou com as  declarações e garantias prestadas pelo Endossante no Contrato de Endosso, na respectiva data  de endosso, então o endosso desse Direito Creditório poderá ser objeto de resolução pela Classe.</a:t>
            </a:r>
          </a:p>
          <a:p>
            <a:r>
              <a:t> Nessa hipótese, a Classe terá o direito de resolver o endosso desse Direito Creditório, devolvendo-  o ao Endossante por valor a ser restituído à Classe. Adicionalmente, se f or constatado que um  Direito Creditório endossado à Classe não estava em conf ormidade com as declarações e  garantias prestadas pelo Agente de Retenção/Cobrança no Contrato de Endosso, na respectiva  data de endosso, então a Classe terá o direito de vender esse Direito Creditório ao Agente de  Retenção/Cobrança (opção de venda). A retrovenda ou a venda, conforme o caso, será realizada  de acordo com os termos, condições, formalidades e preços de recompra compulsória e opção de  venda detalhados no Contrato de Endosso.</a:t>
            </a:r>
          </a:p>
          <a:p>
            <a:r>
              <a:t>CNPJ 60010416000112 · Recompra e indenização · Regulamento · ID 1051393 · 2025-10-09 · versão 1 · p. 30 · 12.5.1 · https://fnet.bmfbovespa.com.br/fnet/publico/visualizarDocumento?id=1051393</a:t>
            </a:r>
          </a:p>
          <a:p>
            <a:r>
              <a:t>CNPJ 60010416000112 · Recompra e indenização · Excerto da fonte:</a:t>
            </a:r>
          </a:p>
          <a:p>
            <a:r>
              <a:t>12.5.1. Independentemente do acima disposto, na hipótese de venda de qualquer parte dos Direitos  Creditórios Elegíveis a terceiros, inclusive no caso de liquidação da Classe, o Agente de  Retenção/Cobrança terá o direito de receber uma remuneração, no dia em que a parte da carteira  de Direitos Creditórios Elegíveis f or efetivamente vendida (ou seja, no dia de seu f echamento  f inanceiro), correspondente ao RAC do valor do preço de venda dessa carteira (“Preço de Venda”),  multiplicado pelo número de anos restantes até o vencimento f inal e pagamento de cada Direito  Creditório Elegível na carteira; observado que, para f ins do cálculo da remuneração devida ao  Agente de Retenção/Cobrança nos termos deste item, o preço de venda de qualquer Direito  Creditório Inadimplido vendido nos termos deste item será equivalente a 0 (zero). Para evitar  qualquer dúvida, as Partes concordam que a remuneração estabelecida neste item não será  devida ao Agente de Retenção/Cobrança no caso de venda de Direitos Creditórios Elegíveis no  contexto de uma portabilidade da respectiva CCB para outra instituição f inanceira, ou na  ocorrência de um evento de recompra compulstória ou de um evento de opção de venda, de acordo  com os termos do respectivo Contrato de Endosso.</a:t>
            </a:r>
          </a:p>
          <a:p>
            <a:r>
              <a:t>CNPJ 60010416000112 · Recompra e indenização · Regulamento · ID 1051393 · 2025-10-09 · versão 1 · p. 11 · https://fnet.bmfbovespa.com.br/fnet/publico/visualizarDocumento?id=1051393</a:t>
            </a:r>
          </a:p>
          <a:p>
            <a:r>
              <a:t>CNPJ 60010416000112 · Recompra e indenização · Excerto da fonte:</a:t>
            </a:r>
          </a:p>
          <a:p>
            <a:r>
              <a:t>Anexo I ao Regulamento CLASSE ÚNICA DO MT I CONSIGNADO PRIVADO I FUNDO DE INVESTIMENTO EM DIREITOS CREDITÓRIOS RESPONSABILIDADE LIMITADA  com a transf erência, à Classe, de f orma definitiva, sem coobrigação do Endossante, da plena  titularidade desse Direito Creditório, juntamente com todos os direitos, privilégios, pref erências,  prerrogativas, garantias e ações a ele relacionados, bem como correção monetária, juros e  encargos, sem prejuízo do direito da Classe (i) de exigir a recompra compulsória do respectivo  Direito Creditório, de acordo com os termos do Contrato de Endosso; ou (ii) de vender Direitos  Creditórios ao Agente de Retenção/Cobrança (opção de venda), em ambos os casos estritamente  nos termos do Contrato de Endosso.</a:t>
            </a:r>
          </a:p>
          <a:p>
            <a:r>
              <a:t>CNPJ 60010416000112 · Recompra e indenização · Condição: Documentos atuais selecionados no inventário por categoria/escopo; a data documental isolada não comprova vigência jurídica.</a:t>
            </a:r>
          </a:p>
          <a:p>
            <a:r>
              <a:t>CNPJ 60010416000112 · Recompra e indenização · Versão e prevalência: Documentos atuais selecionados no inventário por categoria/escopo; a data documental isolada não comprova vigência jurídica.</a:t>
            </a:r>
          </a:p>
          <a:p>
            <a:r>
              <a:t>CNPJ 60010416000112 · Recompra e indenização · Resumo do histórico: {"count": 2, "dates": ["2025-03-20", "2025-10-09"], "document_count": 2, "sources": [{"document_id": "1051393", "title": "Regulamento", "reference_date": "2025-10-09", "version": "1", "page": "10-11", "url": "https://fnet.bmfbovespa.com.br/fnet/publico/visualizarDocumento?id=1051393", "sha256": "8469d613078ffd5a6c1d217885d8a397a16342c0b937ae4aa24b106505f233ae"}, {"document_id": "993786", "title": "Regulamento", "reference_date": "2025-03-20", "version": "1", "page": 10, "clause": "4.4.5", "url": "https://fnet.bmfbovespa.com.br/fnet/publico/visualizarDocumento?id=993786", "sha256": "fd0fdd369a195510d81f81f505195a0b09e5f43522a990afa7d58c4f872921c8"}], "reference": {"path": "history/60010416000112.json", "criterion_id": "repurchase", "total_count": 2, "preview_count": 2, "full_text_deferred": true, "sha256": "8e2bd813f4c51cf01f6bfaad164bafe69d2bbb192f753eac92da3a01c2e63046"}}</a:t>
            </a:r>
          </a:p>
          <a:p>
            <a:r>
              <a:t>CNPJ 62696791000193 · Recompra e indenização · Regulamento · ID 1143317 · 2026-03-20 · versão 1 · p. 16 · 5.1 · https://fnet.bmfbovespa.com.br/fnet/publico/visualizarDocumento?id=1143317</a:t>
            </a:r>
          </a:p>
          <a:p>
            <a:r>
              <a:t>CNPJ 62696791000193 · Recompra e indenização · Excerto da fonte:</a:t>
            </a:r>
          </a:p>
          <a:p>
            <a:r>
              <a:t>5.1 Os recursos recebidos pela Classe em razão da liquidação dos Direitos Creditórios do Agronegócio  e/ou dos Outros Ativos, a qualquer título, incluindo pagamento regular ou por excussão de garantia,  alienação, recompra, indenização pelo cedente e/ou desinvestimento de Direitos Creditórios do  Agronegócio e/ou dos Outros Ativos, poderão ser destinados à aquisição pela Classe de novos  Direitos Creditórios do Agronegócio e/ou dos Outros Ativos e/ou destinados ao resgate das Cotas,  conf orme decisão do Gestor e desde que observada a ordem de alocação de recursos.</a:t>
            </a:r>
          </a:p>
          <a:p>
            <a:r>
              <a:t>6 ORDEM DE ALOCAÇÃO DE RECURSOS</a:t>
            </a:r>
          </a:p>
          <a:p>
            <a:r>
              <a:t>CNPJ 62696791000193 · Recompra e indenização · Condição: Documentos atuais selecionados no inventário por categoria/escopo; a data documental isolada não comprova vigência jurídica.</a:t>
            </a:r>
          </a:p>
          <a:p>
            <a:r>
              <a:t>CNPJ 62696791000193 · Recompra e indenização · Versão e prevalência: Documentos atuais selecionados no inventário por categoria/escopo; a data documental isolada não comprova vigência jurídica.</a:t>
            </a:r>
          </a:p>
          <a:p>
            <a:r>
              <a:t>CNPJ 55563624000109 · Recompra e indenização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Recompra e indenização · Resumo do histórico: {"count": 1, "dates": ["2026-04-30"], "document_count": 1, "sources": [{"document_id": "1192614", "title": "Regulamento", "reference_date": "2026-04-30", "version": "1", "page": "14", "url": "https://fnet.bmfbovespa.com.br/fnet/publico/visualizarDocumento?id=1192614", "sha256": "f56e63ace0acde41d2f47fb48f1ac7f3f7df5e2d32de092d7c5e075a52516632"}], "reference": {"path": "history/55563624000109.json", "criterion_id": "repurchase", "total_count": 1, "preview_count": 1, "full_text_deferred": true, "sha256": "7835d573fb58a3c19adf5b8ecc2aee2bdbb9a88f7a0c0209b5f262b64c7522e3"}}</a:t>
            </a:r>
          </a:p>
          <a:p>
            <a:r>
              <a:t>CNPJ 62552447000120 · Recompra e indenização · Regulamento · ID 1200623 · 2026-05-21 · versão 1 · p. 14 · 4.14 · https://fnet.bmfbovespa.com.br/fnet/publico/visualizarDocumento?id=1200623</a:t>
            </a:r>
          </a:p>
          <a:p>
            <a:r>
              <a:t>CNPJ 62552447000120 · Recompra e indenização · Excerto da fonte:</a:t>
            </a:r>
          </a:p>
          <a:p>
            <a:r>
              <a:t>4.14 Os recursos recebidos pela Classe em razão da liquidação dos Direitos Creditórios, a qualquer título,  incluindo pagamento regular ou por excussão de garantia, alienação, recompra, indenização pelo  Endossante, poderão ser destinados à aquisição pela Classe de novos Direitos Creditórios e/ou  destinados à Amortização, conforme decisão do Gestor e desde que observada a ordem de alocação  de recursos def inida no item 8.1 abaixo.</a:t>
            </a:r>
          </a:p>
          <a:p>
            <a:r>
              <a:t>Ativos Recuperados</a:t>
            </a:r>
          </a:p>
          <a:p>
            <a:r>
              <a:t>CNPJ 62552447000120 · Recompra e indenização · Regulamento · ID 1200623 · 2026-05-21 · versão 1 · p. 35 · https://fnet.bmfbovespa.com.br/fnet/publico/visualizarDocumento?id=1200623</a:t>
            </a:r>
          </a:p>
          <a:p>
            <a:r>
              <a:t>CNPJ 62552447000120 · Recompra e indenização · Excerto da fonte:</a:t>
            </a:r>
          </a:p>
          <a:p>
            <a:r>
              <a:t>ativos desses emissores, causando perdas à Classe e ao Cotista. Além disso, a f alta de capacidade ou disposição de pagar por qualquer dos emissores dos Ativos Financeiros de Liquidez ou das contrapartes nas transações que compõem a Carteira causará perdas à Classe, e o que também poderá incorrer em custos para f ins de recuperação de seus recebíveis.</a:t>
            </a:r>
          </a:p>
          <a:p>
            <a:r>
              <a:t>(v) Riscos associados aos Devedores: no caso de Devedores no âmbito das operações de consignado privado, a sua capacidade de pagamento poderá ser af etada se, por exemplo, o Devedor tiver o seu contrato de emprego rescindido ou em virtude de decisão judicial, o Devedor for obrigado a pagar alimentos, que têm prioridade sobre o empréstimo para f ins de desconto na f 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 etar a rentabilidade da Classe. Já no caso de Devedores no âmbito das operações de Saque-aniversário, como os Direitos Creditórios a serem endossados à Classe serão descontados pelo FGTS da remuneração do Devedor, na ocorrência de qualquer evento que, nos termos da legislação aplicável, determine o pagamento antecipado do Saque-aniversário ao Devedor, a exemplo do falecimento do Devedor, dentre outros, as parcelas do Saque- aniversário serão pagas antecipadamente e a Classe deverá utilizar tais montantes no pré-pagamento dos Direitos Creditórios. Nesta hipótese, a Classe poderá não encontrar Direitos Creditórios disponíveis para serem adquiridos pela Classe, o que poderá af etar a rentabilidade da Classe.</a:t>
            </a:r>
          </a:p>
          <a:p>
            <a:r>
              <a:t>Risco de liquidez</a:t>
            </a:r>
          </a:p>
          <a:p>
            <a:r>
              <a:t>(i) Risco de liquidez: consiste no risco de redução ou inexistência de demanda pelos ativos que compõem a Classe nos respectivos mercados em que são negociados, devido às condições específicas desses ativos ou aos mercados em que são negociados. Devido a esses riscos, o Gestor poderá encontrar dificuldades em liquidar posições ou negociar esses ativos pelo preço e prazo desejados, de acordo com a estratégia de gestão adotada pela Classe, que permanecerá exposto, durante o período de baixa liquidez, aos riscos associados a esses ativos e posições assumidas em mercados de derivativos, se houver, que poderão até exigir que o Gestor aceite descontos em seus preços para realizar negociações no mercado. Esses f atores poderão prejudicar o pagamento de Amortizações ao Cotista, nos valores e dentro dos termos aqui estabelecidos.</a:t>
            </a:r>
          </a:p>
          <a:p>
            <a:r>
              <a:t>(ii) Riscos do mercado secundário: A Classe é constituída sob a f orma de condomínio fechado, de modo que as Cotas somente serão resgatadas em virtude da liquidação da Classe. Uma vez que o Prazo de Duração da Classe é indeterminado, o Cotista titular das Cotas não terá liquidez em seu investimento na Classe, exceto</a:t>
            </a:r>
          </a:p>
          <a:p>
            <a:r>
              <a:t>(a) por ocasião das Amortizações e dos resgates, nos termos deste Regulamento; (b) por meio da alienação de suas Cotas no mercado secundário; ou (c) na liquidação antecipada do FUNDO ou da Classe.</a:t>
            </a:r>
          </a:p>
          <a:p>
            <a:r>
              <a:t>Além disso, atualmente, o mercado secundário de cotas de fundos de investimento apresenta baixa liquidez, o que pode dificultar a venda das Cotas ou ocasionar a obtenção de um preço de venda que cause perda de patrimônio ao Cotista. Não há qualquer garantia do Administrador, do Gestor, da consultora ou do Custodiante em relação à possibilidade de venda das Cotas no mercado secundário ou ao preço obtido por elas, ou mesmo garantia de saída ao Cotista.</a:t>
            </a:r>
          </a:p>
          <a:p>
            <a:r>
              <a:t>Riscos específicos</a:t>
            </a:r>
          </a:p>
          <a:p>
            <a:r>
              <a:t>(i)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ficar inadimplente e, consequentemente, não haverá repasse à Classe do respectivo Direito Creditório, o que poderá resultar em perdas f inanceiras à Classe e aos Cotistas. Para os f ins deste Regulamento, “Empregador” signif ica a empresa com qual o Devedor mantém vínculo empregatício registrado junto à CTPS.</a:t>
            </a:r>
          </a:p>
          <a:p>
            <a:r>
              <a:t>(ii) Risco do Empregador não efetuar o desconto em folha: o repasse dos recursos oriundos dos Direitos Creditórios à Classe depende da realização, pelo Empregador, da escrituração da Consignação a ser</a:t>
            </a:r>
          </a:p>
          <a:p>
            <a:r>
              <a:t>CNPJ 62552447000120 · Recompra e indenização · Condição: Documentos atuais selecionados no inventário por categoria/escopo; a data documental isolada não comprova vigência jurídica.</a:t>
            </a:r>
          </a:p>
          <a:p>
            <a:r>
              <a:t>CNPJ 62552447000120 · Recompra e indenização · Versão e prevalência: Documentos atuais selecionados no inventário por categoria/escopo; a data documental isolada não comprova vigência jurídica.</a:t>
            </a:r>
          </a:p>
          <a:p>
            <a:r>
              <a:t>CNPJ 63953620000165 · Recompra e indenização · Anexo ao Regulamento · ID 1222863 · 2026-06-02 · versão 1 · p. 7 · 4.17.1 · https://fnet.bmfbovespa.com.br/fnet/publico/visualizarDocumento?id=1222863</a:t>
            </a:r>
          </a:p>
          <a:p>
            <a:r>
              <a:t>CNPJ 63953620000165 · Recompra e indenização · Excerto da fonte:</a:t>
            </a:r>
          </a:p>
          <a:p>
            <a:r>
              <a:t>4.17.1 Durante o Período de Investimento, os recursos recebidos pela Classe em razão da liquidação dos  Direitos Creditórios, a qualquer título, incluindo pagamento regular ou por excussão de garantia,  alienação, recompra, indenização pelo Cedente e/ou desinvestimento de Ativo Recuperado, poderão  ser destinados à aquisição pela Classe de novos Direitos Creditórios e/ou destinados à Amortização das  Cotas, observado que (i) a aquisição de novos Direitos Creditórios dependerá, em qualquer hipótese, de  oferta realizada pelo Endossante; e (ii) a destinação dos recursos à Amortização das Cotas será realizada  nos termos do item 7.2, observada a ordem de alocação definida no item 8.1 do presente Anexo.</a:t>
            </a:r>
          </a:p>
          <a:p>
            <a:r>
              <a:t>CNPJ 63953620000165 · Recompra e indenização · Anexo ao Regulamento · ID 1222863 · 2026-06-02 · versão 1 · p. 7 · 4.17.2 · https://fnet.bmfbovespa.com.br/fnet/publico/visualizarDocumento?id=1222863</a:t>
            </a:r>
          </a:p>
          <a:p>
            <a:r>
              <a:t>CNPJ 63953620000165 · Recompra e indenização · Excerto da fonte:</a:t>
            </a:r>
          </a:p>
          <a:p>
            <a:r>
              <a:t>4.17.2 Encerrado o Período de Investimento, os recursos recebidos pela Classe em razão da liquidação dos  Direitos Creditórios, a qualquer título, incluindo pagamento regular ou por excussão de garantia,  alienação, recompra, indenização pelo Cedente e/ou desinvestimento de Ativo Recuperado, não  poderão ser destinados à aquisição pela Classe de novos Direitos Creditórios, aplicando-se, de resto, o  disposto no item 8.1 abaixo no que se refere à ordem de alocação de tais recursos.</a:t>
            </a:r>
          </a:p>
          <a:p>
            <a:r>
              <a:t>CNPJ 63953620000165 · Recompra e indenização · Anexo ao Regulamento · ID 1222863 · 2026-06-02 · versão 1 · p. 26 · https://fnet.bmfbovespa.com.br/fnet/publico/visualizarDocumento?id=1222863</a:t>
            </a:r>
          </a:p>
          <a:p>
            <a:r>
              <a:t>CNPJ 63953620000165 · Recompra e indenização · Excerto da fonte:</a:t>
            </a:r>
          </a:p>
          <a:p>
            <a:r>
              <a:t>Complemento I  (Ao Anexo I)  FATORES DE RISCO APLICÁVEIS À CLASSE CONSIGNADO PRIVADO DO MT GLOBAL FUNDO DE INVESTIMENTO EM  DIREITOS CREDITÓRIOS RESPONSABILIDADE LIMITADA  Risco de Crédito</a:t>
            </a:r>
          </a:p>
          <a:p>
            <a:r>
              <a:t> (i) Riscos associados aos Devedores: os Direitos Creditórios a serem endossados à Classe serão descontados  pela Dataprev da remuneração do Devedor. A capacidade de pagamento do Devedor poderá ser afetada se,  por exemplo, o Devedor tiver o seu contrato de emprego rescindido ou em virtude de decisão judicial, o  Devedor for obrigado a pagar alimentos, que têm prioridade sobre o empréstimo para fins de desconto na  folha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afetar a rentabilidade da Classe.</a:t>
            </a:r>
          </a:p>
          <a:p>
            <a:r>
              <a:t> (ii)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referido Devedor poderá  ficar inadimplente e, consequentemente, não haverá repasse à Classe do respectivo Direito Creditório, o  que poderá resultar em perdas financeiras à Classe e aos Cotistas.</a:t>
            </a:r>
          </a:p>
          <a:p>
            <a:r>
              <a:t> (iii) Risco do Empregador não efetuar o desconto em folha: o repasse dos recursos oriundos dos Direitos  Creditórios à Classe depende da realização, pelo Empregador, da Escrituração e do desconto na respectiva  folha de pagamento do Devedor. Na hipótese do Empregador deixar de realizar a Escrituração ou os  descontos na folha de pagamento, não haverá repasse de recursos à Classe, podendo causar prejuízos à  Classe e aos Cotistas.</a:t>
            </a:r>
          </a:p>
          <a:p>
            <a:r>
              <a:t> (iv) Risco de perda do vínculo empregatício com o Empregador: caso o Devedor perca o vínculo empregatício  com o Empregador, não haverá remuneração e folha de pagamento para realização dos descontos para  pagamento dos Direitos Creditórios. Neste caso, não obstante a possibilidade do Agente de  Retenção/Cobrança realizar a cobrança ativa dos Direitos Creditórios diretamente do Devedor, a ausência  de remuneração poderá deixar o Devedor inadimplente perante a Classe até que o seu vínculo empregatício  seja retomado e seja efetuado o procedimento operacional para que a CCB seja aditada e/ou seja realizado  o Processo de Reinicialização. Tais situações poderão resultar em prejuízos à Classe e aos Cotistas.</a:t>
            </a:r>
          </a:p>
          <a:p>
            <a:r>
              <a:t> Riscos Operacionais</a:t>
            </a:r>
          </a:p>
          <a:p>
            <a:r>
              <a:t> (i) Risco de irregularidade dos Documentos Comprobatórios e/ou Documentos Suporte: o Gestor, ou  terceiro por ele contratado, deverá realizar a verificação da regularidade dos Documentos Comprobatórios  e Documentos Suporte. A Carteira poderá conter Direitos Creditórios com documentação irregular, o que  poderá impedir que a Classe exerça plenamente as prerrogativas derivadas da titularidade dos Direitos  Creditórios. O Gestor poderá contratar empresas especializadas, com comprovada competência e  adequação, para realizar a guarda física, manutenção, armazenamento, organização e digitalização dos  Documentos Comprobatórios e Documentos Suporte, que estarão sob total responsabilidade do Gestor,  permanecendo as empresas como agentes depositários dos Documentos Comprobatórios e Documentos  Suporte.</a:t>
            </a:r>
          </a:p>
          <a:p>
            <a:r>
              <a:t> (ii) Risco operacional da Dataprev e da CEF: o empréstimo contraído pelos Devedores é pago por meio de  desconto na folha de pagamento feito pela Dataprev e pela CEF, conforme aplicável. É possível que os  rendimentos dos Devedores sejam atrasados ou não pagos devido a questões operacionais envolvendo a  Dataprev e/ou a CEF. Nesse caso, a Carteira poderá sofrer, já que não receberá automaticamente, e  também poderá ter dificuldades para receber, a qualquer momento, os recursos decorrentes dos Direitos  Creditórios.</a:t>
            </a:r>
          </a:p>
          <a:p>
            <a:r>
              <a:t>CNPJ 63953620000165 · Recompra e indenização · Condição: Documentos atuais selecionados no inventário por categoria/escopo; a data documental isolada não comprova vigência jurídica.</a:t>
            </a:r>
          </a:p>
          <a:p>
            <a:r>
              <a:t>CNPJ 63953620000165 · Recompra e indenização · Versão e prevalência: Documentos atuais selecionados no inventário por categoria/escopo; a data documental isolada não comprova vigência jurídica.</a:t>
            </a:r>
          </a:p>
          <a:p>
            <a:r>
              <a:t>CNPJ 63953620000165 · Recompra e indenização · Resumo do histórico: {"count": 8, "dates": ["2026-04-28", "2026-05-08", "2026-05-15"], "document_count": 3, "sources": [{"document_id": "1327859", "title": "Demonstrações Financeiras - Fusão, cisão e incorporação", "reference_date": "2026-05-15", "version": "1", "page": 16, "url": "https://fnet.bmfbovespa.com.br/fnet/publico/visualizarDocumento?id=1327859", "sha256": "dca1c68babb97f887528c3e2e47596a9c30f507b067981a35655b2f2da9c8054"}, {"document_id": "1298691", "title": "Demonstrações Financeiras - Fusão, cisão e incorporação", "reference_date": "2026-05-08", "version": "1", "page": 16, "url": "https://fnet.bmfbovespa.com.br/fnet/publico/visualizarDocumento?id=1298691", "sha256": "58c570d9b8d4d265330d3db3ea81c435b8e44a6dab4002aa37790652a1ee9819"}, {"document_id": "1282180", "title": "Demonstrações Financeiras - Fusão, cisão e incorporação", "reference_date": "2026-04-28", "version": "1", "page": 16, "url": "https://fnet.bmfbovespa.com.br/fnet/publico/visualizarDocumento?id=1282180", "sha256": "afaaa0e6809be4385e5bdb6c911aac582032c5bdbac3d7750234bf9eaf00438a"}], "reference": {"path": "history/63953620000165.json", "criterion_id": "repurchase", "total_count": 8, "preview_count": 3, "full_text_deferred": true, "sha256": "a7b89077f5e21098c2d601c303faabc3ff6b9729f89d8afecdc60fe1404720c1"}}</a:t>
            </a:r>
          </a:p>
          <a:p>
            <a:r>
              <a:t>CNPJ 54871427000194 · Coobrigação e retenção de risco · Regulamento · ID 670691 · 28/04/2024 · versão Regulamento — referência 28/04/2024 · p. 10 · Anexo I, 4.7.2 e 4.7.4 · https://fnet.bmfbovespa.com.br/fnet/publico/visualizarDocumento?id=670691</a:t>
            </a:r>
          </a:p>
          <a:p>
            <a:r>
              <a:t>CNPJ 54871427000194 · Coobrigação e retenção de risco · Excerto da fonte:</a:t>
            </a:r>
          </a:p>
          <a:p>
            <a:r>
              <a:t>4.7.2 Caso um Direito Creditório cedido à Classe deixe de atender quaisquer Critérios de Elegibilidade e/ou quaisquer declarações e garantias ref erentes a esse Direito Creditório, conf orme previsto no respectivo Contrato de Endosso, após seu endosso à Classe, não haverá coobrigação nem direito de regresso da Classe contra o ADMINISTRADOR, o CUSTODIANTE o GESTOR e/ou o Endossante. 4.7.3 A f ormalização de cada aquisição de Direitos Creditórios pela Classe deverá incluir o endosso eletrônico em preto de cada CCB representativa do respectivo Direito Creditório em f avor da Classe, inclusive, mas não necessariamente, por meio d a celebração de Termos de Endosso (os quais, para f ins de esclarecimento, poderão ser levados a registro junto aos cartórios de Registro de Títulos e Documentos competentes, a exclusivo critério do GESTOR, em casos excepcionais em que tal registro possa ser considerado necessário para f ins de ef icácia das respectivas cessões perante terceiros, tendo em vista a transmiss ão das CCB mediante endosso em preto, nos termos deste Regulamento e da legislação aplicável). 4.7.4 Após a f ormalizaçã</a:t>
            </a:r>
          </a:p>
          <a:p>
            <a:r>
              <a:t>CNPJ 54871427000194 · Coobrigação e retenção de risco · Regulamento · ID 670691 · 28/04/2024 · versão Regulamento — referência 28/04/2024 · p. 13 · Anexo I, 4.18 · https://fnet.bmfbovespa.com.br/fnet/publico/visualizarDocumento?id=670691</a:t>
            </a:r>
          </a:p>
          <a:p>
            <a:r>
              <a:t>CNPJ 54871427000194 · Coobrigação e retenção de risco · Excerto da fonte:</a:t>
            </a:r>
          </a:p>
          <a:p>
            <a:r>
              <a:t>4.18 Exceto na medida em que eventualmente previsto nos Contratos de Cessão e/ou em instrumentos eventualmente celebrados entre a Classe e os Endossantes, os Endossantes não serão responsáveis em caso de eventual inadimplemento dos Direitos Creditórios por eles cedidos, sendo responsáveis, não obstante, apenas pela existência, certeza, conteúdo, exatidão, veracidade, legitimidade, validade e correta f ormalização dos Direitos Creditórios que cederem à Classe, nos termos da legislação aplicável. 4.19 A Classe, o ADMINISTRADOR e o GESTOR, bem como seus controladores, sociedades coligadas, controladas ou sob controle comum, e/ou subsidiárias, não respondem pela certeza, liquidez, exigibilidade, conteúdo, exatidão, veracidade, legitimidade, validade e/ou correta f ormalização dos Direitos Creditórios adquiridos pela Classe, tampouco pela solvência dos Devedores e/ou Endossantes dos respectivos Direitos Creditórios. 4.20 Sem prejuízo do disposto no item 4.19 acima e, observado o disposto no item Erro! Fonte de referência não encontrada., o CUSTODIANTE f oi contratado pelo GESTOR para verificar e validar, na Data de Aquisição dos Direitos Creditórios pela Classe, o atendimento dos Direitos</a:t>
            </a:r>
          </a:p>
          <a:p>
            <a:r>
              <a:t>CNPJ 54871427000194 · Coobrigação e retenção de risco · Versão e prevalência: Leitura específica das cláusulas indicadas; condições e conflitos preservados. Seleção documental atual não comprova vigência jurídica por data isolada.</a:t>
            </a:r>
          </a:p>
          <a:p>
            <a:r>
              <a:t>CNPJ 54871427000194 · Coobrigação e retenção de risco · Resumo do histórico: {"count": 2, "dates": ["2024-04-19", "2024-04-28"], "document_count": 2, "sources": [{"document_id": "670691", "title": "Regulamento", "reference_date": "2024-04-28", "version": "1", "page": "10-12", "url": "https://fnet.bmfbovespa.com.br/fnet/publico/visualizarDocumento?id=670691", "sha256": "bf16dd7f1a62d5cdbf2e2d54fef81783783f7310fbc99c3a8f00459bdf9d037b"}, {"document_id": "670689", "title": "Regulamento", "reference_date": "2024-04-19", "version": "1", "page": 10, "clause": "4.7.3", "url": "https://fnet.bmfbovespa.com.br/fnet/publico/visualizarDocumento?id=670689", "sha256": "891bc9bc5d87bbc02ec139077a84d2702eb81ea02035fb71d24f5b8366b94a0b"}], "reference": {"path": "history/54871427000194.json", "criterion_id": "coobligation", "total_count": 2, "preview_count": 2, "full_text_deferred": true, "sha256": "35d7cd99be50c7287c9fb675cf4f2e736002315295a225a9efa79c8d9186d874"}}</a:t>
            </a:r>
          </a:p>
          <a:p>
            <a:r>
              <a:t>CNPJ 60010416000112 · Coobrigação e retenção de risco · Regulamento · ID 1051393 · 09/10/2025 · versão Regulamento09/10/2025 · p. 10 · AnexoI4.4.5 · https://fnet.bmfbovespa.com.br/fnet/publico/visualizarDocumento?id=1051393</a:t>
            </a:r>
          </a:p>
          <a:p>
            <a:r>
              <a:t>CNPJ 60010416000112 · Coobrigação e retenção de risco · Excerto da fonte:</a:t>
            </a:r>
          </a:p>
          <a:p>
            <a:r>
              <a:t>4.4.5. Caso um Direito Creditório endossado à Classe deixe de atender quaisquer Critérios de Elegibilidade, quaisquer condições de endosso e/ou quaisquer declarações e garantias referentes a esse Direito Creditório, conforme previsto no Contrato de Endosso, após seu endosso à Classe, não haverá coobrigação nem direito de regresso da Classe contra o Endossante, o Administrador, o Custodiante, o Gestor e/ou o Agente de Retenção/Cobrança, exceto em caso de má-fé, culpa ou dolo comprovado, hipótese em que a parte que agiu com má-f é, culpa ou dolo comprovado</a:t>
            </a:r>
          </a:p>
          <a:p>
            <a:r>
              <a:t>CNPJ 60010416000112 · Coobrigação e retenção de risco · Regulamento · ID 1051393 · 09/10/2025 · versão Regulamento09/10/2025 · p. 11 · AnexoI4.4.7 · https://fnet.bmfbovespa.com.br/fnet/publico/visualizarDocumento?id=1051393</a:t>
            </a:r>
          </a:p>
          <a:p>
            <a:r>
              <a:t>CNPJ 60010416000112 · Coobrigação e retenção de risco · Excerto da fonte:</a:t>
            </a:r>
          </a:p>
          <a:p>
            <a:r>
              <a:t>sem coobrigação do Endossante, da plena titularidade desse Direito Creditório, juntamente com todos os direitos, privilégios, pref erências, prerrogativas, garantias e ações a ele relacionados, bem como correção monetária, juros e encargos, sem prejuízo do direito da Classe (i) de exigir a recompra compulsória do respectivo Direito Creditório, de acordo com os termos do Contrato de Endosso; ou (ii) de vender Direitos Creditórios ao Agente de Retenção/Cobrança (opção de venda), em ambos os casos estritamente nos termos do Contrato de Endosso.</a:t>
            </a:r>
          </a:p>
          <a:p>
            <a:r>
              <a:t>CNPJ 60010416000112 · Coobrigação e retenção de risco · Versão e prevalência: Leitura específica das cláusulas indicadas; condições e conflitos preservados. Seleção documental atual não comprova vigência jurídica por data isolada.</a:t>
            </a:r>
          </a:p>
          <a:p>
            <a:r>
              <a:t>CNPJ 60010416000112 · Coobrigação e retenção de risco · Resumo do histórico: {"count": 2, "dates": ["2025-03-20", "2025-10-09"], "document_count": 2, "sources": [{"document_id": "1051393", "title": "Regulamento", "reference_date": "2025-10-09", "version": "1", "page": "10-11", "url": "https://fnet.bmfbovespa.com.br/fnet/publico/visualizarDocumento?id=1051393", "sha256": "8469d613078ffd5a6c1d217885d8a397a16342c0b937ae4aa24b106505f233ae"}, {"document_id": "993786", "title": "Regulamento", "reference_date": "2025-03-20", "version": "1", "page": 10, "clause": "4.4.5", "url": "https://fnet.bmfbovespa.com.br/fnet/publico/visualizarDocumento?id=993786", "sha256": "fd0fdd369a195510d81f81f505195a0b09e5f43522a990afa7d58c4f872921c8"}], "reference": {"path": "history/60010416000112.json", "criterion_id": "coobligation", "total_count": 2, "preview_count": 2, "full_text_deferred": true, "sha256": "8e2bd813f4c51cf01f6bfaad164bafe69d2bbb192f753eac92da3a01c2e63046"}}</a:t>
            </a:r>
          </a:p>
          <a:p>
            <a:r>
              <a:t>CNPJ 62696791000193 · Coobrigação e retenção de risco · Regulamento · ID 1143317 · 2026-03-20 · versão 1 · p. 11 · 4.7.3 · https://fnet.bmfbovespa.com.br/fnet/publico/visualizarDocumento?id=1143317</a:t>
            </a:r>
          </a:p>
          <a:p>
            <a:r>
              <a:t>CNPJ 62696791000193 · Coobrigação e retenção de risco · Excerto da fonte:</a:t>
            </a:r>
          </a:p>
          <a:p>
            <a:r>
              <a:t>4.7.3 Na hipótese de eventuais Direitos Creditórios do Agronegócio elegíveis deixarem de atender a  qualquer Critério de Elegibilidade após sua aquisição pela Classe, tal f ato não será entendido  como um desenquadramento da carteira, tampouco haverá direito de regresso contra o  Administrador e/ou o Gestor.</a:t>
            </a:r>
          </a:p>
          <a:p>
            <a:r>
              <a:t> Limites de concentração aplicáveis aos Direitos Creditórios do Agronegócio e fundos de investimento  em Direitos Creditórios do Agronegócio investidos pela Classe</a:t>
            </a:r>
          </a:p>
          <a:p>
            <a:r>
              <a:t>CNPJ 62696791000193 · Coobrigação e retenção de risco · Regulamento · ID 1143317 · 2026-03-20 · versão 1 · p. 11 · 4.9 · https://fnet.bmfbovespa.com.br/fnet/publico/visualizarDocumento?id=1143317</a:t>
            </a:r>
          </a:p>
          <a:p>
            <a:r>
              <a:t>CNPJ 62696791000193 · Coobrigação e retenção de risco · Excerto da fonte:</a:t>
            </a:r>
          </a:p>
          <a:p>
            <a:r>
              <a:t>4.9 Nos termos do Art. 45 do Anexo Normativo II da Resolução CVM 175, a Classe poderá ter até 100%  (cem por cento) de seu Patrimônio Líquido alocado em Direitos Creditórios do Agronegócio, devidos  por um mesmo Devedor e/ou de responsabilidade ou coobrigação de Devedores de um mesmo grupo</a:t>
            </a:r>
          </a:p>
          <a:p>
            <a:r>
              <a:t>CNPJ 62696791000193 · Coobrigação e retenção de risco · Regulamento · ID 1143317 · 2026-03-20 · versão 1 · p. 41 · 7.1 · https://fnet.bmfbovespa.com.br/fnet/publico/visualizarDocumento?id=1143317</a:t>
            </a:r>
          </a:p>
          <a:p>
            <a:r>
              <a:t>CNPJ 62696791000193 · Coobrigação e retenção de risco · Excerto da fonte:</a:t>
            </a:r>
          </a:p>
          <a:p>
            <a:r>
              <a:t>7.1. Risco de Crédito relativo aos Direitos Creditórios do Agronegócio. Decorre da capacidade dos  Devedores e/ou coobrigados, conforme aplicável, de honrarem seus compromissos pontual e  integralmente, conforme contratados. A Classe sof rerá o impacto do inadimplemento dos  Direitos Creditórios do Agronegócio detidos em Carteira que estejam vencidos e não pagos e  do não cumprimento, pelos Devedores e/ou coobrigados, conf orme aplicável, de suas  obrigações nos termos dos respectivos instrumentos. A Classe somente procederá ao resgate  das Cotas em moeda corrente nacional na medida em que os Direitos Creditórios do  Agronegócio sejam pagos pelos Devedores e/ou coobrigados, conforme aplicável, e desde  que os respectivos valores sejam transferidos à Classe, não havendo garantia de que o resgate  das Cotas ocorrerá integralmente conf orme estabelecido neste Regulamento, Anexo I e  demais documentos que o integrem, conforme aplicável. Nessas hipóteses, não será devido  pela Classe, pelo pelo Administrador, pelo Gestor e/ou pelo Custodiante, qualquer multa ou  penalidade, de qualquer natureza. Em caso de instauração de pedido de f alência, recuperação  judicial, de plano de recuperação extrajudicial ou qualquer outro procedimento de insolvência  dos Devedores e/ou coobrigados, conforme aplicável, a Classe poderá não receber os  pagamentos dos Direitos Creditórios do Agronegócio que compõem sua Carteira, o que poderá  af etar adversamente os resultados da Classe.</a:t>
            </a:r>
          </a:p>
          <a:p>
            <a:r>
              <a:t>CNPJ 62696791000193 · Coobrigação e retenção de risco · Condição: Documentos atuais selecionados no inventário por categoria/escopo; a data documental isolada não comprova vigência jurídica.</a:t>
            </a:r>
          </a:p>
          <a:p>
            <a:r>
              <a:t>CNPJ 62696791000193 · Coobrigação e retenção de risco · Versão e prevalência: Documentos atuais selecionados no inventário por categoria/escopo; a data documental isolada não comprova vigência jurídica.</a:t>
            </a:r>
          </a:p>
          <a:p>
            <a:r>
              <a:t>CNPJ 55563624000109 · Coobrigação e retenção de risco · Demonstrações Financeiras · ID 1178840 · 2026-01-31 · versão 1 · p. 21 · https://fnet.bmfbovespa.com.br/fnet/publico/visualizarDocumento?id=1178840</a:t>
            </a:r>
          </a:p>
          <a:p>
            <a:r>
              <a:t>CNPJ 55563624000109 · Coobrigação e retenção de risco · Excerto da fonte:</a:t>
            </a:r>
          </a:p>
          <a:p>
            <a:r>
              <a:t>ii) Risco de sistemas. Dada a complexidade operacional própria dos fundos de  investimento em direitos creditórios, não há garantia de que as trocas de informações  entre os sistemas eletrônicos do Custodiante, da Administradora, do Gestor, da  Classe e, quando aplicável, do endossante, dos devedores e/ou coobrigados,  conforme aplicável, se darão livres de erros. Caso qualquer desses riscos venha a  se materializar, a aquisição, cobrança ou realização dos direitos creditórios poderá  ser adversamente afetada, prejudicando o desempenho da Classe.</a:t>
            </a:r>
          </a:p>
          <a:p>
            <a:r>
              <a:t>CNPJ 55563624000109 · Coobrigação e retenção de risco · Condição: Trechos do documento específico identificado com data mais recente; vigência jurídica não inferida.</a:t>
            </a:r>
          </a:p>
          <a:p>
            <a:r>
              <a:t>CNPJ 55563624000109 · Coobrigação e retenção de risco · Versão e prevalência: Trechos do documento específico identificado com data mais recente; vigência jurídica não inferida.</a:t>
            </a:r>
          </a:p>
          <a:p>
            <a:r>
              <a:t>CNPJ 55563624000109 · Coobrigação e retenção de risco · Resumo do histórico: {"count": 1, "dates": ["2025-01-31"], "document_count": 1, "sources": [{"document_id": "891861", "title": "Demonstrações Financeiras", "reference_date": "2025-01-31", "version": "1", "page": 21, "url": "https://fnet.bmfbovespa.com.br/fnet/publico/visualizarDocumento?id=891861", "sha256": "e9cb9e6ddbe505fe068cfcac33605165a98313489de0d3ce6d4d238263c3f3e7"}], "reference": {"path": "history/55563624000109.json", "criterion_id": "coobligation", "total_count": 1, "preview_count": 1, "full_text_deferred": true, "sha256": "7835d573fb58a3c19adf5b8ecc2aee2bdbb9a88f7a0c0209b5f262b64c7522e3"}}</a:t>
            </a:r>
          </a:p>
          <a:p>
            <a:r>
              <a:t>CNPJ 62552447000120 · Coobrigação e retenção de risco · Regulamento · ID 1200623 · 21/05/2026 · versão Consolidado21/05/2026 aprovado pelo ato1200625 · p. 13 · AnexoI4.6.3–4.6.4 · https://fnet.bmfbovespa.com.br/fnet/publico/visualizarDocumento?id=1200623</a:t>
            </a:r>
          </a:p>
          <a:p>
            <a:r>
              <a:t>CNPJ 62552447000120 · Coobrigação e retenção de risco · Excerto da fonte:</a:t>
            </a:r>
          </a:p>
          <a:p>
            <a:r>
              <a:t>4.6.4 Após a formalização, o endosso de um Direito Creditório Consignado Privado, Direito Creditório FGTS e Direito Creditório Refinanciamento Livre à Classe será irrevogável e irretratável, com a transf erência, à Classe, de f orma def initiva, sem coobrigação do Endossante, da plena titularidade desse Direito Creditório, juntamente com todos os direitos, privilégios, preferências, prerrogativas, garantias e ações a ele relacionados, bem como correção monetária, juros e encargos, sem prejuízo do direito da Classe (i) de exigir a resolução do endosso do respectivo D</a:t>
            </a:r>
          </a:p>
          <a:p>
            <a:r>
              <a:t>CNPJ 62552447000120 · Coobrigação e retenção de risco · Regulamento · ID 1200623 · 21/05/2026 · versão Consolidado21/05/2026 aprovado pelo ato1200625 · p. 16 · AnexoI4.22 · https://fnet.bmfbovespa.com.br/fnet/publico/visualizarDocumento?id=1200623</a:t>
            </a:r>
          </a:p>
          <a:p>
            <a:r>
              <a:t>CNPJ 62552447000120 · Coobrigação e retenção de risco · Excerto da fonte:</a:t>
            </a:r>
          </a:p>
          <a:p>
            <a:r>
              <a:t>4.22 Exceto na medida em que eventualmente previsto no s Contratos de Endosso e/ou em instrumentos eventualmente celebrados entre a Classe e o Endossante e/ou o Agente de Retenção e Cobrança, conf orme aplicável, o Endossante e/ou o Agente de Retenção e Cobrança não serão responsáveis em caso de eventual inadimplemento dos Direitos Creditórios . 4.23 A Classe, o Administrador e o Gestor, bem como seus controladores, sociedades coligadas, controladas ou sob controle comum, e/ou subsidiárias, não respondem pela certeza, liquidez, exigibilidade, conteúdo, exatidão, veracidade, legitimidade, validade e/ou co</a:t>
            </a:r>
          </a:p>
          <a:p>
            <a:r>
              <a:t>CNPJ 62552447000120 · Coobrigação e retenção de risco · Versão e prevalência: Leitura específica das cláusulas indicadas; condições e conflitos preservados. Seleção documental atual não comprova vigência jurídica por data isolada.</a:t>
            </a:r>
          </a:p>
          <a:p>
            <a:r>
              <a:t>CNPJ 63953620000165 · Coobrigação e retenção de risco · Anexo ao Regulamento · ID 1222863 · 02/06/2026 · versão AnexoConsignadoPrivado02/06/2026 · p. 6 · 4.8,4.10.3 · https://fnet.bmfbovespa.com.br/fnet/publico/visualizarDocumento?id=1222863</a:t>
            </a:r>
          </a:p>
          <a:p>
            <a:r>
              <a:t>CNPJ 63953620000165 · Coobrigação e retenção de risco · Excerto da fonte:</a:t>
            </a:r>
          </a:p>
          <a:p>
            <a:r>
              <a:t>4.10.3 Não haverá coobrigação nem direito de regresso da Classe contra o Endossante, o Administrador, o Custodiante, o Gestor e/ou o Agente de Retenção/Cobrança, exceto em caso de má-fé, culpa ou dolo comprovado, hipótese em que a parte que agiu com má-fé, culpa ou dolo comprovado poderá ser responsabilizada pelas perdas incorridas pela Classe em relação aos respectivos Direitos Creditórios Crédito Consignado. 4.11 Além dos Critérios de Elegibilidade acima mencionados, a serem verificados pelo Gestor ou terceiro por ele contratado, o Endossante e o Agente de Retenção/Cobrança declararão, expr</a:t>
            </a:r>
          </a:p>
          <a:p>
            <a:r>
              <a:t>CNPJ 63953620000165 · Coobrigação e retenção de risco · Versão e prevalência: Leitura específica das cláusulas indicadas; condições e conflitos preservados. Seleção documental atual não comprova vigência jurídica por data isolada.</a:t>
            </a:r>
          </a:p>
          <a:p>
            <a:r>
              <a:t>CNPJ 63953620000165 · Coobrigação e retenção de risco · Resumo do histórico: {"count": 8, "dates": ["2026-04-28", "2026-05-08", "2026-05-15"], "document_count": 3, "sources": [{"document_id": "1327859", "title": "Demonstrações Financeiras - Fusão, cisão e incorporação", "reference_date": "2026-05-15", "version": "1", "page": 16, "url": "https://fnet.bmfbovespa.com.br/fnet/publico/visualizarDocumento?id=1327859", "sha256": "dca1c68babb97f887528c3e2e47596a9c30f507b067981a35655b2f2da9c8054"}, {"document_id": "1298691", "title": "Demonstrações Financeiras - Fusão, cisão e incorporação", "reference_date": "2026-05-08", "version": "1", "page": 16, "url": "https://fnet.bmfbovespa.com.br/fnet/publico/visualizarDocumento?id=1298691", "sha256": "58c570d9b8d4d265330d3db3ea81c435b8e44a6dab4002aa37790652a1ee9819"}, {"document_id": "1282180", "title": "Demonstrações Financeiras - Fusão, cisão e incorporação", "reference_date": "2026-04-28", "version": "1", "page": 16, "url": "https://fnet.bmfbovespa.com.br/fnet/publico/visualizarDocumento?id=1282180", "sha256": "afaaa0e6809be4385e5bdb6c911aac582032c5bdbac3d7750234bf9eaf00438a"}], "reference": {"path": "history/63953620000165.json", "criterion_id": "coobligation",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Qualidade da carteira</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Metodologia de PDD e curva por atraso · Base da comparação IME: {"criterion_id": "pdd", "observed_value": null, "unit": "", "competence": "08/2026", "status": "not_comparable", "reason": "A curva de PDD requer atraso, contágio e garantias por operação; o agregado mensal não demonstra aplicação da metodologia.", "formula": "",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null, "comparison_required": true, "context_formula": "PDD / direitos creditórios", "context_value": 0.397174994710542, "context_unit": "percent"}</a:t>
            </a:r>
          </a:p>
          <a:p>
            <a:r>
              <a:t>CNPJ 54871427000194 · Metodologia de PDD e curva por atraso · Regulamento · ID 670691 · 28/04/2024 · versão Regulamento — referência 28/04/2024 · p. 17 · Anexo I, 9.2–9.2.1 · https://fnet.bmfbovespa.com.br/fnet/publico/visualizarDocumento?id=670691</a:t>
            </a:r>
          </a:p>
          <a:p>
            <a:r>
              <a:t>CNPJ 54871427000194 · Metodologia de PDD e curva por atraso · Excerto da fonte:</a:t>
            </a:r>
          </a:p>
          <a:p>
            <a:r>
              <a:t>9.2 As provisões para perdas e as perdas havidas com Direitos Creditórios ou com os Ativos Financeiros de Liquidez integrantes da Carteira serão, respectivamente, efetuadas ou reconhecidas nos termos da Instrução CVM 489. Desta forma, o valor do saldo dos Direitos Creditórios e/ou Ativos Financeiros de Liquidez será reduzido pelo valor da provisão ef etuada ou perda reconhecida. 9.2.1 O ef eito de perda ou provisão para devedores duvidosos de Direitos Creditórios de um mesmo Devedor deverá ser mensurado levando-se em consideração o disposto no Art. 13 da Instrução CVM 489, sendo f acultada a análise individualizada dos Direitos Creditórios, observada a metodologia de avaliação descrita no manual d o ADMINISTRADOR ou, ainda, no manual do CUSTODIANTE. CAPÍTULO 10 – ASSEMBLEIA ESPECIAL DE COTISTAS 10.1 Sem prejuízo de outros requisitos e inf ormações previstos na regulamentação vigente, são aplicáveis à Assembleia Especial de Cotistas as mesmas disposições procedimentais da Assembleia Geral de Cotistas. 10.2 A Assembleia Especial de Cotistas é responsável por deliberar sobre as matérias específicas da Classe de Cotas, sem prejuízo das demais disposições previstas</a:t>
            </a:r>
          </a:p>
          <a:p>
            <a:r>
              <a:t>CNPJ 54871427000194 · Metodologia de PDD e curva por atraso · Condição: Os percentuais do Complemento 2 são descontos de cobrança e comissões; não são alíquotas de PDD. O manual operacional referenciado permanece uma fonte separada.</a:t>
            </a:r>
          </a:p>
          <a:p>
            <a:r>
              <a:t>CNPJ 54871427000194 · Metodologia de PDD e curva por atraso · Versão e prevalência: Leitura específica das cláusulas indicadas; condições e conflitos preservados. Seleção documental atual não comprova vigência jurídica por data isolada.</a:t>
            </a:r>
          </a:p>
          <a:p>
            <a:r>
              <a:t>CNPJ 54871427000194 · Metodologia de PDD e curva por atraso · Resumo do histórico: {"count": 4, "dates": ["2024-12-31", "2025-01-01", "2025-12-31"], "document_count": 3, "sources": [{"document_id": "1151805", "title": "Demonstrações Financeiras", "reference_date": "2025-12-31", "version": "1", "page": 17, "url": "https://fnet.bmfbovespa.com.br/fnet/publico/visualizarDocumento?id=1151805", "sha256": "f1cea70b152968bf96ef9221b27225953cb20aeef487b2798db3c25e11b528d4"}, {"document_id": "869529", "title": "Demonstrações Financeiras", "reference_date": "2025-01-01", "version": "1", "page": 17, "url": "https://fnet.bmfbovespa.com.br/fnet/publico/visualizarDocumento?id=869529", "sha256": "9a93a9369ac8efdbc54ff8fcee3ccac3abf88edab4807b9323d3852450771b2a"}, {"document_id": "870070", "title": "Demonstrações Financeiras", "reference_date": "2024-12-31", "version": "1", "page": 17, "url": "https://fnet.bmfbovespa.com.br/fnet/publico/visualizarDocumento?id=870070", "sha256": "9a93a9369ac8efdbc54ff8fcee3ccac3abf88edab4807b9323d3852450771b2a"}], "reference": {"path": "history/54871427000194.json", "criterion_id": "pdd", "total_count": 4, "preview_count": 3, "full_text_deferred": true, "sha256": "35d7cd99be50c7287c9fb675cf4f2e736002315295a225a9efa79c8d9186d874"}}</a:t>
            </a:r>
          </a:p>
          <a:p>
            <a:r>
              <a:t>CNPJ 60010416000112 · Metodologia de PDD e curva por atraso · Base da comparação IME: {"criterion_id": "pdd", "observed_value": null, "unit": "", "competence": "08/2026", "status": "not_comparable", "reason": "A curva de PDD requer atraso, contágio e garantias por operação; o agregado mensal não demonstra aplicação da metodologia.", "formula": "",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null, "comparison_required": true, "context_formula": "PDD / direitos creditórios", "context_value": 19.008881839133778, "context_unit": "percent"}</a:t>
            </a:r>
          </a:p>
          <a:p>
            <a:r>
              <a:t>CNPJ 60010416000112 · Metodologia de PDD e curva por atraso · Regulamento · ID 1051393 · 09/10/2025 · versão Regulamento09/10/2025 · p. 17 · AnexoI8.1(iv)–(v),8.3–8.3.1 · https://fnet.bmfbovespa.com.br/fnet/publico/visualizarDocumento?id=1051393</a:t>
            </a:r>
          </a:p>
          <a:p>
            <a:r>
              <a:t>CNPJ 60010416000112 · Metodologia de PDD e curva por atraso · Excerto da fonte:</a:t>
            </a:r>
          </a:p>
          <a:p>
            <a:r>
              <a:t>8.1 Os ativos da Carteira serão avaliados todos os Dias Úteis de acordo com critérios consistentes e verif icáveis, apoiados por inf ormações externas e internas que levem em consideração aspectos relacionados aos Devedores e às características da transação correspondente, de acordo com a seguinte metodologia de avaliação. (i) os Ativos Financeiros de Liquidez deverão ser registrados e ter seus valores ajustados a mercado, sujeitos às regras e procedimentos definidos no manual de marcação a mercado do Custodiante e de acordo com as regras do Banco Central e da CVM, aplicá</a:t>
            </a:r>
          </a:p>
          <a:p>
            <a:r>
              <a:t>CNPJ 60010416000112 · Metodologia de PDD e curva por atraso · Condição: Curva numérica por atraso não é transcrita; manuais/contrato têm perímetro distinto do indicador agregado do IME.</a:t>
            </a:r>
          </a:p>
          <a:p>
            <a:r>
              <a:t>CNPJ 60010416000112 · Metodologia de PDD e curva por atraso · Motivo: Cláusula primária localizada e citada, mas sua lista/condições extensas não admitem uma síntese literal curta confirmada. O trecho integral permanece nas fontes.</a:t>
            </a:r>
          </a:p>
          <a:p>
            <a:r>
              <a:t>CNPJ 60010416000112 · Metodologia de PDD e curva por atraso · Versão e prevalência: Leitura específica das cláusulas indicadas; condições e conflitos preservados. Seleção documental atual não comprova vigência jurídica por data isolada.</a:t>
            </a:r>
          </a:p>
          <a:p>
            <a:r>
              <a:t>CNPJ 60010416000112 · Metodologia de PDD e curva por atraso · Resumo do histórico: {"count": 1, "dates": ["2025-03-20"], "document_count": 1, "sources": [{"document_id": "993786", "title": "Regulamento", "reference_date": "2025-03-20", "version": "1", "page": 17, "clause": "8.1", "url": "https://fnet.bmfbovespa.com.br/fnet/publico/visualizarDocumento?id=993786", "sha256": "fd0fdd369a195510d81f81f505195a0b09e5f43522a990afa7d58c4f872921c8"}], "reference": {"path": "history/60010416000112.json", "criterion_id": "pdd", "total_count": 1, "preview_count": 1, "full_text_deferred": true, "sha256": "8e2bd813f4c51cf01f6bfaad164bafe69d2bbb192f753eac92da3a01c2e63046"}}</a:t>
            </a:r>
          </a:p>
          <a:p>
            <a:r>
              <a:t>CNPJ 62696791000193 · Metodologia de PDD e curva por atraso · Regulamento · ID 1143317 · 20/03/2026 · versão Regulamento — referência 20/03/2026 · p. 11 · Anexo I, 4.7.3 · https://fnet.bmfbovespa.com.br/fnet/publico/visualizarDocumento?id=1143317</a:t>
            </a:r>
          </a:p>
          <a:p>
            <a:r>
              <a:t>CNPJ 62696791000193 · Metodologia de PDD e curva por atraso · Excerto da fonte:</a:t>
            </a:r>
          </a:p>
          <a:p>
            <a:r>
              <a:t>4.7.3 Na hipótese de eventuais Direitos Creditórios do Agronegócio elegíveis deixarem de atender a qualquer Critério de Elegibilidade após sua aquisição pela Classe, tal f ato não será entendido como um desenquadramento da carteira, tampouco haverá direito de regresso contra o Administrador e/ou o Gestor. Limites de concentração aplicáveis aos Direitos Creditórios do Agronegócio e fundos de investimento em Direitos Creditórios do Agronegócio investidos pela Classe 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t>
            </a:r>
          </a:p>
          <a:p>
            <a:r>
              <a:t>CNPJ 62696791000193 · Metodologia de PDD e curva por atraso · Condição: PDD mensal observada e metodologia contratual são evidências separadas.</a:t>
            </a:r>
          </a:p>
          <a:p>
            <a:r>
              <a:t>CNPJ 62696791000193 · Metodologia de PDD e curva por atraso · Motivo: Leitura do consolidado de 48 páginas não localizou metodologia de PDD/curva por atraso. A cláusula 4.7.3 trata de perda posterior de elegibilidade; não estabelece provisionamento.</a:t>
            </a:r>
          </a:p>
          <a:p>
            <a:r>
              <a:t>CNPJ 62696791000193 · Metodologia de PDD e curva por atraso · Versão e prevalência: Leitura específica das cláusulas indicadas; condições e conflitos preservados. Seleção documental atual não comprova vigência jurídica por data isolada.</a:t>
            </a:r>
          </a:p>
          <a:p>
            <a:r>
              <a:t>CNPJ 55563624000109 · Metodologia de PDD e curva por atraso · Base da comparação IME: {"criterion_id": "pdd", "observed_value": null, "unit": "", "competence": "08/2026", "status": "not_comparable", "reason": "A curva de PDD requer atraso, contágio e garantias por operação; o agregado mensal não demonstra aplicação da metodologia.", "formula": "",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null, "comparison_required": true, "context_formula": "PDD / direitos creditórios", "context_value": null, "context_unit": "percent"}</a:t>
            </a:r>
          </a:p>
          <a:p>
            <a:r>
              <a:t>CNPJ 55563624000109 · Metodologia de PDD e curva por atraso · Regulamento · ID 1192614 · 30/04/2026 · versão Regulamento30/04/2026 · p. 19 · AnexoI9.1–9.2.1 · https://fnet.bmfbovespa.com.br/fnet/publico/visualizarDocumento?id=1192614</a:t>
            </a:r>
          </a:p>
          <a:p>
            <a:r>
              <a:t>CNPJ 55563624000109 · Metodologia de PDD e curva por atraso · Excerto da fonte:</a:t>
            </a:r>
          </a:p>
          <a:p>
            <a:r>
              <a:t>9.1 As Cotas da Classe Investida e Ativos Financeiros de Liquidez que compõem a Carteira da Classe terão seus valores calculados todo Dia Útil conforme a metodologia de avaliação descrita no manual do ADMINISTRADOR, disponível no seu website, no endereço https://www.btgpactual.com/asset-management/administracao- fiduciaria#documentos. 9.2 As provisões para perdas e as perdas havidas com as Cotas da Classe Investida ou com os Ativos Financeiros de Liquidez integrantes da Carteira serão, respectivamente, efetuadas ou reconhecidas pelo ADMINISTRADOR, de</a:t>
            </a:r>
          </a:p>
          <a:p>
            <a:r>
              <a:t>CNPJ 55563624000109 · Metodologia de PDD e curva por atraso · Condição: PDD do FIC reflete cotas/liquidez; atraso/PDD de devedores finais exige IME do investido.</a:t>
            </a:r>
          </a:p>
          <a:p>
            <a:r>
              <a:t>CNPJ 55563624000109 · Metodologia de PDD e curva por atraso · Versão e prevalência: Leitura específica das cláusulas indicadas; condições e conflitos preservados. Seleção documental atual não comprova vigência jurídica por data isolada.</a:t>
            </a:r>
          </a:p>
          <a:p>
            <a:r>
              <a:t>CNPJ 62552447000120 · Metodologia de PDD e curva por atraso · Base da comparação IME: {"criterion_id": "pdd", "observed_value": null, "unit": "", "competence": "08/2026", "status": "not_comparable", "reason": "A curva de PDD requer atraso, contágio e garantias por operação; o agregado mensal não demonstra aplicação da metodologia.", "formula": "",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null, "comparison_required": true, "context_formula": "PDD / direitos creditórios", "context_value": 9.644446353219038, "context_unit": "percent"}</a:t>
            </a:r>
          </a:p>
          <a:p>
            <a:r>
              <a:t>CNPJ 62552447000120 · Metodologia de PDD e curva por atraso · Regulamento · ID 1200623 · 21/05/2026 · versão Consolidado21/05/2026 aprovado pelo ato1200625 · p. 20 · AnexoI9.1–9.2.1 · https://fnet.bmfbovespa.com.br/fnet/publico/visualizarDocumento?id=1200623</a:t>
            </a:r>
          </a:p>
          <a:p>
            <a:r>
              <a:t>CNPJ 62552447000120 · Metodologia de PDD e curva por atraso · Excerto da fonte:</a:t>
            </a:r>
          </a:p>
          <a:p>
            <a:r>
              <a:t>9.1 Os Direitos Creditórios e Ativos Financeiros que compõem a Carteira terão seus valores calculados todo Dia Útil conforme a metodologia de avaliação descrita no manual d o Administrador ou, ainda, nos manuais do Custodiante, disponíveis nos seus respectivos websites, no endereço https://www.btgpactual.com/asset-management/administracao-f iduciaria#documentos. 9.2 As provisões para perdas e as perdas havidas com Direitos Creditórios ou com os Ativos Financeiros integrantes da Carteira serão, respectivamente, efetuadas ou reconhecidas nos termos da Instrução da CVM n.º 489, de 14 de janeiro de 2011, c</a:t>
            </a:r>
          </a:p>
          <a:p>
            <a:r>
              <a:t>CNPJ 62552447000120 · Metodologia de PDD e curva por atraso · Condição: Cláusula não transcreve curva de provisão por faixa de atraso; percentual PDD do IME não reproduz manual.</a:t>
            </a:r>
          </a:p>
          <a:p>
            <a:r>
              <a:t>CNPJ 62552447000120 · Metodologia de PDD e curva por atraso · Motivo: Não localizada uma cláusula material para este critério nos textos identificados e processados. A ausência de resultado não comprova inexistência da regra.</a:t>
            </a:r>
          </a:p>
          <a:p>
            <a:r>
              <a:t>CNPJ 62552447000120 · Metodologia de PDD e curva por atraso · Versão e prevalência: Leitura específica das cláusulas indicadas; condições e conflitos preservados. Seleção documental atual não comprova vigência jurídica por data isolada.</a:t>
            </a:r>
          </a:p>
          <a:p>
            <a:r>
              <a:t>CNPJ 63953620000165 · Metodologia de PDD e curva por atraso · Base da comparação IME: {"criterion_id": "pdd", "observed_value": null, "unit": "", "competence": "08/2026", "status": "not_comparable", "reason": "A curva de PDD requer atraso, contágio e garantias por operação; o agregado mensal não demonstra aplicação da metodologia.", "formula": "",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null, "comparison_required": true, "context_formula": "PDD / direitos creditórios", "context_value": 5.5101286576011415, "context_unit": "percent"}</a:t>
            </a:r>
          </a:p>
          <a:p>
            <a:r>
              <a:t>CNPJ 63953620000165 · Metodologia de PDD e curva por atraso · Anexo ao Regulamento · ID 1222863 · 02/06/2026 · versão AnexoConsignadoPrivado02/06/2026 · p. 12 · 9.1–9.2.1 · https://fnet.bmfbovespa.com.br/fnet/publico/visualizarDocumento?id=1222863</a:t>
            </a:r>
          </a:p>
          <a:p>
            <a:r>
              <a:t>CNPJ 63953620000165 · Metodologia de PDD e curva por atraso · Excerto da fonte:</a:t>
            </a:r>
          </a:p>
          <a:p>
            <a:r>
              <a:t>9.1 Os Direitos Creditórios e Ativos Financeiros que compõem a Carteira da Classe terão seus valores calculados todo Dia Útil conforme a metodologia de avaliação descrita no manual do Administrador ou, ainda, nos manuais do Custodiante, disponíveis nos seus respectivos websites, no endereço https://www.btgpactual.com/asset- management/administracao-fiduciaria#documentos 9.2 As provisões para perdas e as perdas havidas com Direitos Creditórios ou com os Ativos Financeiros integrantes da Carteira serão, respectivamente, efetuadas ou reconhecidas nos termos da Instrução CVM 489. Desta forma, o valor do saldo dos Dire</a:t>
            </a:r>
          </a:p>
          <a:p>
            <a:r>
              <a:t>CNPJ 63953620000165 · Metodologia de PDD e curva por atraso · Versão e prevalência: Leitura específica das cláusulas indicadas; condições e conflitos preservados. Seleção documental atual não comprova vigência jurídica por data isolada.</a:t>
            </a:r>
          </a:p>
          <a:p>
            <a:r>
              <a:t>CNPJ 63953620000165 · Metodologia de PDD e curva por atraso · Resumo do histórico: {"count": 7, "dates": ["2026-04-16", "2026-04-28", "2026-05-08"], "document_count": 3, "sources": [{"document_id": "1298691", "title": "Demonstrações Financeiras - Fusão, cisão e incorporação", "reference_date": "2026-05-08", "version": "1", "page": 18, "url": "https://fnet.bmfbovespa.com.br/fnet/publico/visualizarDocumento?id=1298691", "sha256": "58c570d9b8d4d265330d3db3ea81c435b8e44a6dab4002aa37790652a1ee9819"}, {"document_id": "1282180", "title": "Demonstrações Financeiras - Fusão, cisão e incorporação", "reference_date": "2026-04-28", "version": "1", "page": 18, "url": "https://fnet.bmfbovespa.com.br/fnet/publico/visualizarDocumento?id=1282180", "sha256": "afaaa0e6809be4385e5bdb6c911aac582032c5bdbac3d7750234bf9eaf00438a"}, {"document_id": "1282179", "title": "Demonstrações Financeiras - Fusão, cisão e incorporação", "reference_date": "2026-04-16", "version": "1", "page": 18, "url": "https://fnet.bmfbovespa.com.br/fnet/publico/visualizarDocumento?id=1282179", "sha256": "beb67afbcd64169019477673fd3b7c1edbfabbd9db07379388d8cdd5d3fc9395"}], "reference": {"path": "history/63953620000165.json", "criterion_id": "pdd", "total_count": 7, "preview_count": 3, "full_text_deferred": true, "sha256": "a7b89077f5e21098c2d601c303faabc3ff6b9729f89d8afecdc60fe1404720c1"}}</a:t>
            </a:r>
          </a:p>
          <a:p>
            <a:r>
              <a:t>CNPJ 54871427000194 · Gatilhos de atraso e rolagem · Motivo: Não localizada uma cláusula material para este critério nos textos identificados e processados. A ausência de resultado não comprova inexistência da regra.</a:t>
            </a:r>
          </a:p>
          <a:p>
            <a:r>
              <a:t>CNPJ 60010416000112 · Gatilhos de atraso e rolagem · Motivo: Não localizada uma cláusula material para este critério nos textos identificados e processados. A ausência de resultado não comprova inexistência da regra.</a:t>
            </a:r>
          </a:p>
          <a:p>
            <a:r>
              <a:t>CNPJ 62696791000193 · Gatilhos de atraso e rolagem · Motivo: Não localizada uma cláusula material para este critério nos textos identificados e processados. A ausência de resultado não comprova inexistência da regra.</a:t>
            </a:r>
          </a:p>
          <a:p>
            <a:r>
              <a:t>CNPJ 55563624000109 · Gatilhos de atraso e rolagem · Motivo: Não localizada uma cláusula material para este critério nos textos identificados e processados. A ausência de resultado não comprova inexistência da regra.</a:t>
            </a:r>
          </a:p>
          <a:p>
            <a:r>
              <a:t>CNPJ 62552447000120 · Gatilhos de atraso e rolagem · Motivo: Não localizada uma cláusula material para este critério nos textos identificados e processados. A ausência de resultado não comprova inexistência da regra.</a:t>
            </a:r>
          </a:p>
          <a:p>
            <a:r>
              <a:t>CNPJ 63953620000165 · Gatilhos de atraso e rolagem · Motivo: Não localizada uma cláusula material para este critério nos textos identificados e processados. A ausência de resultado não comprova inexistência da regra.</a:t>
            </a:r>
          </a:p>
          <a:p>
            <a:r>
              <a:t>CNPJ 54871427000194 · Diluição, cancelamento e chargeback · Motivo: Não localizada uma cláusula material para este critério nos textos identificados e processados. A ausência de resultado não comprova inexistência da regra.</a:t>
            </a:r>
          </a:p>
          <a:p>
            <a:r>
              <a:t>CNPJ 60010416000112 · Diluição, cancelamento e chargeback · Motivo: Não localizada uma cláusula material para este critério nos textos identificados e processados. A ausência de resultado não comprova inexistência da regra.</a:t>
            </a:r>
          </a:p>
          <a:p>
            <a:r>
              <a:t>CNPJ 62696791000193 · Diluição, cancelamento e chargeback · Motivo: Não localizada uma cláusula material para este critério nos textos identificados e processados. A ausência de resultado não comprova inexistência da regra.</a:t>
            </a:r>
          </a:p>
          <a:p>
            <a:r>
              <a:t>CNPJ 55563624000109 · Diluição, cancelamento e chargeback · Motivo: Não localizada uma cláusula material para este critério nos textos identificados e processados. A ausência de resultado não comprova inexistência da regra.</a:t>
            </a:r>
          </a:p>
          <a:p>
            <a:r>
              <a:t>CNPJ 62552447000120 · Diluição, cancelamento e chargeback · Motivo: Não localizada uma cláusula material para este critério nos textos identificados e processados. A ausência de resultado não comprova inexistência da regra.</a:t>
            </a:r>
          </a:p>
          <a:p>
            <a:r>
              <a:t>CNPJ 63953620000165 · Diluição, cancelamento e chargeback · Motivo: Não localizada uma cláusula material para este critério nos textos identificados e processados. A ausência de resultado não comprova inexistência da regra.</a:t>
            </a:r>
          </a:p>
          <a:p>
            <a:r>
              <a:t>CNPJ 54871427000194 · Recompra e indenização · Regulamento · ID 670691 · 2024-04-28 · versão 1 · p. 11 · 4.12 · https://fnet.bmfbovespa.com.br/fnet/publico/visualizarDocumento?id=670691</a:t>
            </a:r>
          </a:p>
          <a:p>
            <a:r>
              <a:t>CNPJ 54871427000194 · Recompra e indenização · Excerto da fonte:</a:t>
            </a:r>
          </a:p>
          <a:p>
            <a:r>
              <a:t>4.12 Os recursos recebidos pela Classe em razão da liquidação dos Direitos Creditórios, a qualquer título,  incluindo pagamento regular ou por excussão de garantia, alienação, recompra, indenização pelo  Cedente e/ou desinvestimento de Ativo Recuperado, serão destinados a aquisição de Direitos  Creditórios até o montante de R$ 250.000.000,00 (duzentos e cinquenta milhões de reais), sendo certo  que os recursos recebidos pela Classe após a aquisição em tal montante não poderão ser destinados  à aquisição pela Classe de novos Direitos Creditórios, aplicando-se, de resto, o disposto no item 8.1  abaixo no que se ref ere à ordem de alocação de tais recursos.</a:t>
            </a:r>
          </a:p>
          <a:p>
            <a:r>
              <a:t>CNPJ 54871427000194 · Recompra e indenização · Regulamento · ID 670691 · 2024-04-28 · versão 1 · p. 12 · 4.13 · https://fnet.bmfbovespa.com.br/fnet/publico/visualizarDocumento?id=670691</a:t>
            </a:r>
          </a:p>
          <a:p>
            <a:r>
              <a:t>CNPJ 54871427000194 · Recompra e indenização · Excerto da fonte:</a:t>
            </a:r>
          </a:p>
          <a:p>
            <a:r>
              <a:t>4.13 Na hipótese de demandas judiciais e/ou administrativas, em que a causa de pedir ou entre os pedidos  estejam incluídos qualquer um dos itens listados abaixo, o Endossante estará obrigado realizar a  recompra ou indenização dos respectivos Direitos Creditórios, na f orma e prazos previstos no  respectivo Contrato de Endosso sem prejuízo do previsto no Artigo 295 do Código Civil, sendo certo  que o GESTOR envidará seus melhores esf orços para que os Contratos de Endosso contenham  substancialmente as hipóteses abaixo :</a:t>
            </a:r>
          </a:p>
          <a:p>
            <a:r>
              <a:t> (i) Vício de f ormalização dos CCCBs e/ou CCBs a) por ausência de qualquer dos Documentos  Comprobatórios ou falsificação, irregularidade sou má formalização destes; b) por falta de recebimento  do crédito pelo Devedor; ou, c) por averbação irregular de desconto em folha na margem consignável  do Devedor;</a:t>
            </a:r>
          </a:p>
          <a:p>
            <a:r>
              <a:t>CNPJ 54871427000194 · Recompra e indenização · Regulamento · ID 670691 · 2024-04-28 · versão 1 · p. 1 · 1.1 · https://fnet.bmfbovespa.com.br/fnet/publico/visualizarDocumento?id=670691</a:t>
            </a:r>
          </a:p>
          <a:p>
            <a:r>
              <a:t>CNPJ 54871427000194 · Recompra e indenização · Excerto da fonte:</a:t>
            </a:r>
          </a:p>
          <a:p>
            <a:r>
              <a:t>1.1 CONSIGNADO DELTA RECEIVABLES I FUNDO DE INVESTIMENTO EM DIREITOS CREDITÓRIOS  (“FUNDO”), regido pela Lei nº 10.406, de 10 de janeiro de 2002, conf orme alterada (“Código Civil”),  pela parte geral e o Anexo Normativo II da Resolução nº 175, de 23 de dezembro de 2022, conforme  alterada, da Comissão de Valores Mobiliários (respectivamente, “CVM” e “Resolução CVM 175”), terá  como principais características:</a:t>
            </a:r>
          </a:p>
          <a:p>
            <a:r>
              <a:t> Classe de Cotas Classe única.</a:t>
            </a:r>
          </a:p>
          <a:p>
            <a:r>
              <a:t> Indeterminado, exceto se de outra f orma vier a ser deliberado pelos cotistas  Prazo de Duração  reunidos em assembleia geral de cotistas.</a:t>
            </a:r>
          </a:p>
          <a:p>
            <a:r>
              <a:t> BTG Pactual Serviços Financeiros S.A. Distribuidora de Títulos e Valores  Mobiliários, instituição f inanceira, com sede na Cidade e Estado do Rio de  Janeiro, na Praia de Botafogo, nº 501, 5º andar (parte), Torre Corcovado,  ADMINISTRADOR  Botafogo, CEP 22250-040, inscrita no CNPJ sob o nº 59.281.253/0001-23 e  credenciada como administradora de carteira, de acordo com o Ato Declaratório  CVM nº 8.695, de 20 de março de 2006 (“ADMINISTRADOR”).</a:t>
            </a:r>
          </a:p>
          <a:p>
            <a:r>
              <a:t> BTG Pactual Asset Management S.A. Distribuidora de Títulos e Valores  Mobiliários, inscrita no CNPJ/ME sob o nº 29.650.082/0001-00, com sede  Cidade e Estado do Rio de Janeiro, na Praia de Botafogo, n.º 501, 5° andar,  devidamente autorizada à prestação dos serviços de administração de carteira  GESTOR  de títulos e valores mobiliários por meio d o Ato Declaratório número 5.968,  expedido em 10 de maio de 2000 (“GESTOR” e, quando ref erido  conjuntamente e indistintamente com o ADMINISTRADOR, os “Prestadores  de Serviços Essenciais”).</a:t>
            </a:r>
          </a:p>
          <a:p>
            <a:r>
              <a:t> O FUNDO, seus cotistas, os distribuidores de cotas por conta e ordem, seu  GESTOR, seu ADMINISTRADOR e os demais prestadores de serviço do  FUNDO e/ou da CLASSE obrigam-se a resolver, por meio de arbitragem, de  acordo com o Regulamento de Arbitragem da Câmara de Arbitragem do  Mercado da B3 (“Regulamento CAM B3” e “CAM B3”, respectivamente), toda  e qualquer disputa ou controvérsia que possa surgir entre eles, relacionada ou  oriunda, em especial, da aplicação, validade, eficácia, interpretação, violação  e seus ef eitos, das disposições contidas no Regulamento e seus Anexos, nas  normas editadas pela CVM que lhe sejam aplicáveis e nos instrumentos entre  si f irmados (“Arbitragem”).</a:t>
            </a:r>
          </a:p>
          <a:p>
            <a:r>
              <a:t> (i) A Arbitragem será de direito, com a aplicação das normas da República  Federativa do Brasil, terá sede no Município de São Paulo, será  Foro Aplicável conduzida em língua portuguesa e de f orma confidencial. O tribunal  arbitral será constituído por 3 (três) árbitros, sendo um deles  presidente, escolhidos nos termos do Regulamento CAM B3.</a:t>
            </a:r>
          </a:p>
          <a:p>
            <a:r>
              <a:t> (ii) As despesas processuais iniciais deverão ser rateadas entre as partes,  arcando cada polo processual com metade dos valores necessários,  sem prejuízo à possibilidade de adiantamento pelas partes  interessadas, resolvendo-se as indef inições nos termos do  Regulamento CAM B3. A sentença arbitral deverá determinar a  responsabilidade final pelas despesas de acordo com a sucumbência  de cada parte, as quais deverão incluir as taxas administrativas,  honorários de árbitros e de peritos e despesas com diligências  processuais e f ornecimento de garantias que sejam determinadas  expressamente pelo tribunal arbitral. É vedada a imposição de  honorários de sucumbência, bem como a determinação de indenização</a:t>
            </a:r>
          </a:p>
          <a:p>
            <a:r>
              <a:t>CNPJ 54871427000194 · Recompra e indenização · Condição: Documentos atuais selecionados no inventário por categoria/escopo; a data documental isolada não comprova vigência jurídica.</a:t>
            </a:r>
          </a:p>
          <a:p>
            <a:r>
              <a:t>CNPJ 54871427000194 · Recompra e indenização · Versão e prevalência: Documentos atuais selecionados no inventário por categoria/escopo; a data documental isolada não comprova vigência jurídica.</a:t>
            </a:r>
          </a:p>
          <a:p>
            <a:r>
              <a:t>CNPJ 54871427000194 · Recompra e indenização · Resumo do histórico: {"count": 2, "dates": ["2024-04-19", "2024-04-28"], "document_count": 2, "sources": [{"document_id": "670691", "title": "Regulamento", "reference_date": "2024-04-28", "version": "1", "page": "10-12", "url": "https://fnet.bmfbovespa.com.br/fnet/publico/visualizarDocumento?id=670691", "sha256": "bf16dd7f1a62d5cdbf2e2d54fef81783783f7310fbc99c3a8f00459bdf9d037b"}, {"document_id": "670689", "title": "Regulamento", "reference_date": "2024-04-19", "version": "1", "page": 10, "clause": "4.7.5", "url": "https://fnet.bmfbovespa.com.br/fnet/publico/visualizarDocumento?id=670689", "sha256": "891bc9bc5d87bbc02ec139077a84d2702eb81ea02035fb71d24f5b8366b94a0b"}], "reference": {"path": "history/54871427000194.json", "criterion_id": "repurchase", "total_count": 2, "preview_count": 2, "full_text_deferred": true, "sha256": "35d7cd99be50c7287c9fb675cf4f2e736002315295a225a9efa79c8d9186d874"}}</a:t>
            </a:r>
          </a:p>
          <a:p>
            <a:r>
              <a:t>CNPJ 60010416000112 · Recompra e indenização · Regulamento · ID 1051393 · 2025-10-09 · versão 1 · p. 10 · 4.4.5 · https://fnet.bmfbovespa.com.br/fnet/publico/visualizarDocumento?id=1051393</a:t>
            </a:r>
          </a:p>
          <a:p>
            <a:r>
              <a:t>CNPJ 60010416000112 · Recompra e indenização · Excerto da fonte:</a:t>
            </a:r>
          </a:p>
          <a:p>
            <a:r>
              <a:t>4.4.5. Caso um Direito Creditório endossado à Classe deixe de atender quaisquer Critérios de  Elegibilidade, quaisquer condições de endosso e/ou quaisquer declarações e garantias referentes  a esse Direito Creditório, conforme previsto no Contrato de Endosso, após seu endosso à Classe,  não haverá coobrigação nem direito de regresso da Classe contra o Endossante, o Administrador,  o Custodiante, o Gestor e/ou o Agente de Retenção/Cobrança, exceto em caso de má-fé, culpa  ou dolo comprovado, hipótese em que a parte que agiu com má-f é, culpa ou dolo comprovado  poderá ser responsabilizada pelas perdas incorridas pela Classe em relação aos respectivos  Direitos Creditórios. Se, entretanto, for constatado que um Direito Creditório endossado à Classe  não estava em conformidade com os Critérios de Elegibilidade, condições de endosso ou com as  declarações e garantias prestadas pelo Endossante no Contrato de Endosso, na respectiva data  de endosso, então o endosso desse Direito Creditório poderá ser objeto de resolução pela Classe.</a:t>
            </a:r>
          </a:p>
          <a:p>
            <a:r>
              <a:t> Nessa hipótese, a Classe terá o direito de resolver o endosso desse Direito Creditório, devolvendo-  o ao Endossante por valor a ser restituído à Classe. Adicionalmente, se f or constatado que um  Direito Creditório endossado à Classe não estava em conf ormidade com as declarações e  garantias prestadas pelo Agente de Retenção/Cobrança no Contrato de Endosso, na respectiva  data de endosso, então a Classe terá o direito de vender esse Direito Creditório ao Agente de  Retenção/Cobrança (opção de venda). A retrovenda ou a venda, conforme o caso, será realizada  de acordo com os termos, condições, formalidades e preços de recompra compulsória e opção de  venda detalhados no Contrato de Endosso.</a:t>
            </a:r>
          </a:p>
          <a:p>
            <a:r>
              <a:t>CNPJ 60010416000112 · Recompra e indenização · Regulamento · ID 1051393 · 2025-10-09 · versão 1 · p. 30 · 12.5.1 · https://fnet.bmfbovespa.com.br/fnet/publico/visualizarDocumento?id=1051393</a:t>
            </a:r>
          </a:p>
          <a:p>
            <a:r>
              <a:t>CNPJ 60010416000112 · Recompra e indenização · Excerto da fonte:</a:t>
            </a:r>
          </a:p>
          <a:p>
            <a:r>
              <a:t>12.5.1. Independentemente do acima disposto, na hipótese de venda de qualquer parte dos Direitos  Creditórios Elegíveis a terceiros, inclusive no caso de liquidação da Classe, o Agente de  Retenção/Cobrança terá o direito de receber uma remuneração, no dia em que a parte da carteira  de Direitos Creditórios Elegíveis f or efetivamente vendida (ou seja, no dia de seu f echamento  f inanceiro), correspondente ao RAC do valor do preço de venda dessa carteira (“Preço de Venda”),  multiplicado pelo número de anos restantes até o vencimento f inal e pagamento de cada Direito  Creditório Elegível na carteira; observado que, para f ins do cálculo da remuneração devida ao  Agente de Retenção/Cobrança nos termos deste item, o preço de venda de qualquer Direito  Creditório Inadimplido vendido nos termos deste item será equivalente a 0 (zero). Para evitar  qualquer dúvida, as Partes concordam que a remuneração estabelecida neste item não será  devida ao Agente de Retenção/Cobrança no caso de venda de Direitos Creditórios Elegíveis no  contexto de uma portabilidade da respectiva CCB para outra instituição f inanceira, ou na  ocorrência de um evento de recompra compulstória ou de um evento de opção de venda, de acordo  com os termos do respectivo Contrato de Endosso.</a:t>
            </a:r>
          </a:p>
          <a:p>
            <a:r>
              <a:t>CNPJ 60010416000112 · Recompra e indenização · Regulamento · ID 1051393 · 2025-10-09 · versão 1 · p. 11 · https://fnet.bmfbovespa.com.br/fnet/publico/visualizarDocumento?id=1051393</a:t>
            </a:r>
          </a:p>
          <a:p>
            <a:r>
              <a:t>CNPJ 60010416000112 · Recompra e indenização · Excerto da fonte:</a:t>
            </a:r>
          </a:p>
          <a:p>
            <a:r>
              <a:t>Anexo I ao Regulamento CLASSE ÚNICA DO MT I CONSIGNADO PRIVADO I FUNDO DE INVESTIMENTO EM DIREITOS CREDITÓRIOS RESPONSABILIDADE LIMITADA  com a transf erência, à Classe, de f orma definitiva, sem coobrigação do Endossante, da plena  titularidade desse Direito Creditório, juntamente com todos os direitos, privilégios, pref erências,  prerrogativas, garantias e ações a ele relacionados, bem como correção monetária, juros e  encargos, sem prejuízo do direito da Classe (i) de exigir a recompra compulsória do respectivo  Direito Creditório, de acordo com os termos do Contrato de Endosso; ou (ii) de vender Direitos  Creditórios ao Agente de Retenção/Cobrança (opção de venda), em ambos os casos estritamente  nos termos do Contrato de Endosso.</a:t>
            </a:r>
          </a:p>
          <a:p>
            <a:r>
              <a:t>CNPJ 60010416000112 · Recompra e indenização · Condição: Documentos atuais selecionados no inventário por categoria/escopo; a data documental isolada não comprova vigência jurídica.</a:t>
            </a:r>
          </a:p>
          <a:p>
            <a:r>
              <a:t>CNPJ 60010416000112 · Recompra e indenização · Versão e prevalência: Documentos atuais selecionados no inventário por categoria/escopo; a data documental isolada não comprova vigência jurídica.</a:t>
            </a:r>
          </a:p>
          <a:p>
            <a:r>
              <a:t>CNPJ 60010416000112 · Recompra e indenização · Resumo do histórico: {"count": 2, "dates": ["2025-03-20", "2025-10-09"], "document_count": 2, "sources": [{"document_id": "1051393", "title": "Regulamento", "reference_date": "2025-10-09", "version": "1", "page": "10-11", "url": "https://fnet.bmfbovespa.com.br/fnet/publico/visualizarDocumento?id=1051393", "sha256": "8469d613078ffd5a6c1d217885d8a397a16342c0b937ae4aa24b106505f233ae"}, {"document_id": "993786", "title": "Regulamento", "reference_date": "2025-03-20", "version": "1", "page": 10, "clause": "4.4.5", "url": "https://fnet.bmfbovespa.com.br/fnet/publico/visualizarDocumento?id=993786", "sha256": "fd0fdd369a195510d81f81f505195a0b09e5f43522a990afa7d58c4f872921c8"}], "reference": {"path": "history/60010416000112.json", "criterion_id": "repurchase", "total_count": 2, "preview_count": 2, "full_text_deferred": true, "sha256": "8e2bd813f4c51cf01f6bfaad164bafe69d2bbb192f753eac92da3a01c2e63046"}}</a:t>
            </a:r>
          </a:p>
          <a:p>
            <a:r>
              <a:t>CNPJ 62696791000193 · Recompra e indenização · Regulamento · ID 1143317 · 2026-03-20 · versão 1 · p. 16 · 5.1 · https://fnet.bmfbovespa.com.br/fnet/publico/visualizarDocumento?id=1143317</a:t>
            </a:r>
          </a:p>
          <a:p>
            <a:r>
              <a:t>CNPJ 62696791000193 · Recompra e indenização · Excerto da fonte:</a:t>
            </a:r>
          </a:p>
          <a:p>
            <a:r>
              <a:t>5.1 Os recursos recebidos pela Classe em razão da liquidação dos Direitos Creditórios do Agronegócio  e/ou dos Outros Ativos, a qualquer título, incluindo pagamento regular ou por excussão de garantia,  alienação, recompra, indenização pelo cedente e/ou desinvestimento de Direitos Creditórios do  Agronegócio e/ou dos Outros Ativos, poderão ser destinados à aquisição pela Classe de novos  Direitos Creditórios do Agronegócio e/ou dos Outros Ativos e/ou destinados ao resgate das Cotas,  conf orme decisão do Gestor e desde que observada a ordem de alocação de recursos.</a:t>
            </a:r>
          </a:p>
          <a:p>
            <a:r>
              <a:t>6 ORDEM DE ALOCAÇÃO DE RECURSOS</a:t>
            </a:r>
          </a:p>
          <a:p>
            <a:r>
              <a:t>CNPJ 62696791000193 · Recompra e indenização · Condição: Documentos atuais selecionados no inventário por categoria/escopo; a data documental isolada não comprova vigência jurídica.</a:t>
            </a:r>
          </a:p>
          <a:p>
            <a:r>
              <a:t>CNPJ 62696791000193 · Recompra e indenização · Versão e prevalência: Documentos atuais selecionados no inventário por categoria/escopo; a data documental isolada não comprova vigência jurídica.</a:t>
            </a:r>
          </a:p>
          <a:p>
            <a:r>
              <a:t>CNPJ 55563624000109 · Recompra e indenização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Recompra e indenização · Resumo do histórico: {"count": 1, "dates": ["2026-04-30"], "document_count": 1, "sources": [{"document_id": "1192614", "title": "Regulamento", "reference_date": "2026-04-30", "version": "1", "page": "14", "url": "https://fnet.bmfbovespa.com.br/fnet/publico/visualizarDocumento?id=1192614", "sha256": "f56e63ace0acde41d2f47fb48f1ac7f3f7df5e2d32de092d7c5e075a52516632"}], "reference": {"path": "history/55563624000109.json", "criterion_id": "repurchase", "total_count": 1, "preview_count": 1, "full_text_deferred": true, "sha256": "7835d573fb58a3c19adf5b8ecc2aee2bdbb9a88f7a0c0209b5f262b64c7522e3"}}</a:t>
            </a:r>
          </a:p>
          <a:p>
            <a:r>
              <a:t>CNPJ 62552447000120 · Recompra e indenização · Regulamento · ID 1200623 · 2026-05-21 · versão 1 · p. 14 · 4.14 · https://fnet.bmfbovespa.com.br/fnet/publico/visualizarDocumento?id=1200623</a:t>
            </a:r>
          </a:p>
          <a:p>
            <a:r>
              <a:t>CNPJ 62552447000120 · Recompra e indenização · Excerto da fonte:</a:t>
            </a:r>
          </a:p>
          <a:p>
            <a:r>
              <a:t>4.14 Os recursos recebidos pela Classe em razão da liquidação dos Direitos Creditórios, a qualquer título,  incluindo pagamento regular ou por excussão de garantia, alienação, recompra, indenização pelo  Endossante, poderão ser destinados à aquisição pela Classe de novos Direitos Creditórios e/ou  destinados à Amortização, conforme decisão do Gestor e desde que observada a ordem de alocação  de recursos def inida no item 8.1 abaixo.</a:t>
            </a:r>
          </a:p>
          <a:p>
            <a:r>
              <a:t>Ativos Recuperados</a:t>
            </a:r>
          </a:p>
          <a:p>
            <a:r>
              <a:t>CNPJ 62552447000120 · Recompra e indenização · Regulamento · ID 1200623 · 2026-05-21 · versão 1 · p. 35 · https://fnet.bmfbovespa.com.br/fnet/publico/visualizarDocumento?id=1200623</a:t>
            </a:r>
          </a:p>
          <a:p>
            <a:r>
              <a:t>CNPJ 62552447000120 · Recompra e indenização · Excerto da fonte:</a:t>
            </a:r>
          </a:p>
          <a:p>
            <a:r>
              <a:t>ativos desses emissores, causando perdas à Classe e ao Cotista. Além disso, a f alta de capacidade ou disposição de pagar por qualquer dos emissores dos Ativos Financeiros de Liquidez ou das contrapartes nas transações que compõem a Carteira causará perdas à Classe, e o que também poderá incorrer em custos para f ins de recuperação de seus recebíveis.</a:t>
            </a:r>
          </a:p>
          <a:p>
            <a:r>
              <a:t>(v) Riscos associados aos Devedores: no caso de Devedores no âmbito das operações de consignado privado, a sua capacidade de pagamento poderá ser af etada se, por exemplo, o Devedor tiver o seu contrato de emprego rescindido ou em virtude de decisão judicial, o Devedor for obrigado a pagar alimentos, que têm prioridade sobre o empréstimo para f ins de desconto na f 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 etar a rentabilidade da Classe. Já no caso de Devedores no âmbito das operações de Saque-aniversário, como os Direitos Creditórios a serem endossados à Classe serão descontados pelo FGTS da remuneração do Devedor, na ocorrência de qualquer evento que, nos termos da legislação aplicável, determine o pagamento antecipado do Saque-aniversário ao Devedor, a exemplo do falecimento do Devedor, dentre outros, as parcelas do Saque- aniversário serão pagas antecipadamente e a Classe deverá utilizar tais montantes no pré-pagamento dos Direitos Creditórios. Nesta hipótese, a Classe poderá não encontrar Direitos Creditórios disponíveis para serem adquiridos pela Classe, o que poderá af etar a rentabilidade da Classe.</a:t>
            </a:r>
          </a:p>
          <a:p>
            <a:r>
              <a:t>Risco de liquidez</a:t>
            </a:r>
          </a:p>
          <a:p>
            <a:r>
              <a:t>(i) Risco de liquidez: consiste no risco de redução ou inexistência de demanda pelos ativos que compõem a Classe nos respectivos mercados em que são negociados, devido às condições específicas desses ativos ou aos mercados em que são negociados. Devido a esses riscos, o Gestor poderá encontrar dificuldades em liquidar posições ou negociar esses ativos pelo preço e prazo desejados, de acordo com a estratégia de gestão adotada pela Classe, que permanecerá exposto, durante o período de baixa liquidez, aos riscos associados a esses ativos e posições assumidas em mercados de derivativos, se houver, que poderão até exigir que o Gestor aceite descontos em seus preços para realizar negociações no mercado. Esses f atores poderão prejudicar o pagamento de Amortizações ao Cotista, nos valores e dentro dos termos aqui estabelecidos.</a:t>
            </a:r>
          </a:p>
          <a:p>
            <a:r>
              <a:t>(ii) Riscos do mercado secundário: A Classe é constituída sob a f orma de condomínio fechado, de modo que as Cotas somente serão resgatadas em virtude da liquidação da Classe. Uma vez que o Prazo de Duração da Classe é indeterminado, o Cotista titular das Cotas não terá liquidez em seu investimento na Classe, exceto</a:t>
            </a:r>
          </a:p>
          <a:p>
            <a:r>
              <a:t>(a) por ocasião das Amortizações e dos resgates, nos termos deste Regulamento; (b) por meio da alienação de suas Cotas no mercado secundário; ou (c) na liquidação antecipada do FUNDO ou da Classe.</a:t>
            </a:r>
          </a:p>
          <a:p>
            <a:r>
              <a:t>Além disso, atualmente, o mercado secundário de cotas de fundos de investimento apresenta baixa liquidez, o que pode dificultar a venda das Cotas ou ocasionar a obtenção de um preço de venda que cause perda de patrimônio ao Cotista. Não há qualquer garantia do Administrador, do Gestor, da consultora ou do Custodiante em relação à possibilidade de venda das Cotas no mercado secundário ou ao preço obtido por elas, ou mesmo garantia de saída ao Cotista.</a:t>
            </a:r>
          </a:p>
          <a:p>
            <a:r>
              <a:t>Riscos específicos</a:t>
            </a:r>
          </a:p>
          <a:p>
            <a:r>
              <a:t>(i)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ficar inadimplente e, consequentemente, não haverá repasse à Classe do respectivo Direito Creditório, o que poderá resultar em perdas f inanceiras à Classe e aos Cotistas. Para os f ins deste Regulamento, “Empregador” signif ica a empresa com qual o Devedor mantém vínculo empregatício registrado junto à CTPS.</a:t>
            </a:r>
          </a:p>
          <a:p>
            <a:r>
              <a:t>(ii) Risco do Empregador não efetuar o desconto em folha: o repasse dos recursos oriundos dos Direitos Creditórios à Classe depende da realização, pelo Empregador, da escrituração da Consignação a ser</a:t>
            </a:r>
          </a:p>
          <a:p>
            <a:r>
              <a:t>CNPJ 62552447000120 · Recompra e indenização · Condição: Documentos atuais selecionados no inventário por categoria/escopo; a data documental isolada não comprova vigência jurídica.</a:t>
            </a:r>
          </a:p>
          <a:p>
            <a:r>
              <a:t>CNPJ 62552447000120 · Recompra e indenização · Versão e prevalência: Documentos atuais selecionados no inventário por categoria/escopo; a data documental isolada não comprova vigência jurídica.</a:t>
            </a:r>
          </a:p>
          <a:p>
            <a:r>
              <a:t>CNPJ 63953620000165 · Recompra e indenização · Anexo ao Regulamento · ID 1222863 · 2026-06-02 · versão 1 · p. 7 · 4.17.1 · https://fnet.bmfbovespa.com.br/fnet/publico/visualizarDocumento?id=1222863</a:t>
            </a:r>
          </a:p>
          <a:p>
            <a:r>
              <a:t>CNPJ 63953620000165 · Recompra e indenização · Excerto da fonte:</a:t>
            </a:r>
          </a:p>
          <a:p>
            <a:r>
              <a:t>4.17.1 Durante o Período de Investimento, os recursos recebidos pela Classe em razão da liquidação dos  Direitos Creditórios, a qualquer título, incluindo pagamento regular ou por excussão de garantia,  alienação, recompra, indenização pelo Cedente e/ou desinvestimento de Ativo Recuperado, poderão  ser destinados à aquisição pela Classe de novos Direitos Creditórios e/ou destinados à Amortização das  Cotas, observado que (i) a aquisição de novos Direitos Creditórios dependerá, em qualquer hipótese, de  oferta realizada pelo Endossante; e (ii) a destinação dos recursos à Amortização das Cotas será realizada  nos termos do item 7.2, observada a ordem de alocação definida no item 8.1 do presente Anexo.</a:t>
            </a:r>
          </a:p>
          <a:p>
            <a:r>
              <a:t>CNPJ 63953620000165 · Recompra e indenização · Anexo ao Regulamento · ID 1222863 · 2026-06-02 · versão 1 · p. 7 · 4.17.2 · https://fnet.bmfbovespa.com.br/fnet/publico/visualizarDocumento?id=1222863</a:t>
            </a:r>
          </a:p>
          <a:p>
            <a:r>
              <a:t>CNPJ 63953620000165 · Recompra e indenização · Excerto da fonte:</a:t>
            </a:r>
          </a:p>
          <a:p>
            <a:r>
              <a:t>4.17.2 Encerrado o Período de Investimento, os recursos recebidos pela Classe em razão da liquidação dos  Direitos Creditórios, a qualquer título, incluindo pagamento regular ou por excussão de garantia,  alienação, recompra, indenização pelo Cedente e/ou desinvestimento de Ativo Recuperado, não  poderão ser destinados à aquisição pela Classe de novos Direitos Creditórios, aplicando-se, de resto, o  disposto no item 8.1 abaixo no que se refere à ordem de alocação de tais recursos.</a:t>
            </a:r>
          </a:p>
          <a:p>
            <a:r>
              <a:t>CNPJ 63953620000165 · Recompra e indenização · Anexo ao Regulamento · ID 1222863 · 2026-06-02 · versão 1 · p. 26 · https://fnet.bmfbovespa.com.br/fnet/publico/visualizarDocumento?id=1222863</a:t>
            </a:r>
          </a:p>
          <a:p>
            <a:r>
              <a:t>CNPJ 63953620000165 · Recompra e indenização · Excerto da fonte:</a:t>
            </a:r>
          </a:p>
          <a:p>
            <a:r>
              <a:t>Complemento I  (Ao Anexo I)  FATORES DE RISCO APLICÁVEIS À CLASSE CONSIGNADO PRIVADO DO MT GLOBAL FUNDO DE INVESTIMENTO EM  DIREITOS CREDITÓRIOS RESPONSABILIDADE LIMITADA  Risco de Crédito</a:t>
            </a:r>
          </a:p>
          <a:p>
            <a:r>
              <a:t> (i) Riscos associados aos Devedores: os Direitos Creditórios a serem endossados à Classe serão descontados  pela Dataprev da remuneração do Devedor. A capacidade de pagamento do Devedor poderá ser afetada se,  por exemplo, o Devedor tiver o seu contrato de emprego rescindido ou em virtude de decisão judicial, o  Devedor for obrigado a pagar alimentos, que têm prioridade sobre o empréstimo para fins de desconto na  folha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afetar a rentabilidade da Classe.</a:t>
            </a:r>
          </a:p>
          <a:p>
            <a:r>
              <a:t> (ii)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referido Devedor poderá  ficar inadimplente e, consequentemente, não haverá repasse à Classe do respectivo Direito Creditório, o  que poderá resultar em perdas financeiras à Classe e aos Cotistas.</a:t>
            </a:r>
          </a:p>
          <a:p>
            <a:r>
              <a:t> (iii) Risco do Empregador não efetuar o desconto em folha: o repasse dos recursos oriundos dos Direitos  Creditórios à Classe depende da realização, pelo Empregador, da Escrituração e do desconto na respectiva  folha de pagamento do Devedor. Na hipótese do Empregador deixar de realizar a Escrituração ou os  descontos na folha de pagamento, não haverá repasse de recursos à Classe, podendo causar prejuízos à  Classe e aos Cotistas.</a:t>
            </a:r>
          </a:p>
          <a:p>
            <a:r>
              <a:t> (iv) Risco de perda do vínculo empregatício com o Empregador: caso o Devedor perca o vínculo empregatício  com o Empregador, não haverá remuneração e folha de pagamento para realização dos descontos para  pagamento dos Direitos Creditórios. Neste caso, não obstante a possibilidade do Agente de  Retenção/Cobrança realizar a cobrança ativa dos Direitos Creditórios diretamente do Devedor, a ausência  de remuneração poderá deixar o Devedor inadimplente perante a Classe até que o seu vínculo empregatício  seja retomado e seja efetuado o procedimento operacional para que a CCB seja aditada e/ou seja realizado  o Processo de Reinicialização. Tais situações poderão resultar em prejuízos à Classe e aos Cotistas.</a:t>
            </a:r>
          </a:p>
          <a:p>
            <a:r>
              <a:t> Riscos Operacionais</a:t>
            </a:r>
          </a:p>
          <a:p>
            <a:r>
              <a:t> (i) Risco de irregularidade dos Documentos Comprobatórios e/ou Documentos Suporte: o Gestor, ou  terceiro por ele contratado, deverá realizar a verificação da regularidade dos Documentos Comprobatórios  e Documentos Suporte. A Carteira poderá conter Direitos Creditórios com documentação irregular, o que  poderá impedir que a Classe exerça plenamente as prerrogativas derivadas da titularidade dos Direitos  Creditórios. O Gestor poderá contratar empresas especializadas, com comprovada competência e  adequação, para realizar a guarda física, manutenção, armazenamento, organização e digitalização dos  Documentos Comprobatórios e Documentos Suporte, que estarão sob total responsabilidade do Gestor,  permanecendo as empresas como agentes depositários dos Documentos Comprobatórios e Documentos  Suporte.</a:t>
            </a:r>
          </a:p>
          <a:p>
            <a:r>
              <a:t> (ii) Risco operacional da Dataprev e da CEF: o empréstimo contraído pelos Devedores é pago por meio de  desconto na folha de pagamento feito pela Dataprev e pela CEF, conforme aplicável. É possível que os  rendimentos dos Devedores sejam atrasados ou não pagos devido a questões operacionais envolvendo a  Dataprev e/ou a CEF. Nesse caso, a Carteira poderá sofrer, já que não receberá automaticamente, e  também poderá ter dificuldades para receber, a qualquer momento, os recursos decorrentes dos Direitos  Creditórios.</a:t>
            </a:r>
          </a:p>
          <a:p>
            <a:r>
              <a:t>CNPJ 63953620000165 · Recompra e indenização · Condição: Documentos atuais selecionados no inventário por categoria/escopo; a data documental isolada não comprova vigência jurídica.</a:t>
            </a:r>
          </a:p>
          <a:p>
            <a:r>
              <a:t>CNPJ 63953620000165 · Recompra e indenização · Versão e prevalência: Documentos atuais selecionados no inventário por categoria/escopo; a data documental isolada não comprova vigência jurídica.</a:t>
            </a:r>
          </a:p>
          <a:p>
            <a:r>
              <a:t>CNPJ 63953620000165 · Recompra e indenização · Resumo do histórico: {"count": 8, "dates": ["2026-04-28", "2026-05-08", "2026-05-15"], "document_count": 3, "sources": [{"document_id": "1327859", "title": "Demonstrações Financeiras - Fusão, cisão e incorporação", "reference_date": "2026-05-15", "version": "1", "page": 16, "url": "https://fnet.bmfbovespa.com.br/fnet/publico/visualizarDocumento?id=1327859", "sha256": "dca1c68babb97f887528c3e2e47596a9c30f507b067981a35655b2f2da9c8054"}, {"document_id": "1298691", "title": "Demonstrações Financeiras - Fusão, cisão e incorporação", "reference_date": "2026-05-08", "version": "1", "page": 16, "url": "https://fnet.bmfbovespa.com.br/fnet/publico/visualizarDocumento?id=1298691", "sha256": "58c570d9b8d4d265330d3db3ea81c435b8e44a6dab4002aa37790652a1ee9819"}, {"document_id": "1282180", "title": "Demonstrações Financeiras - Fusão, cisão e incorporação", "reference_date": "2026-04-28", "version": "1", "page": 16, "url": "https://fnet.bmfbovespa.com.br/fnet/publico/visualizarDocumento?id=1282180", "sha256": "afaaa0e6809be4385e5bdb6c911aac582032c5bdbac3d7750234bf9eaf00438a"}], "reference": {"path": "history/63953620000165.json", "criterion_id": "repurchase", "total_count": 8, "preview_count": 3, "full_text_deferred": true, "sha256": "a7b89077f5e21098c2d601c303faabc3ff6b9729f89d8afecdc60fe1404720c1"}}</a:t>
            </a:r>
          </a:p>
          <a:p>
            <a:r>
              <a:t>CNPJ 54871427000194 · Coobrigação e retenção de risco · Regulamento · ID 670691 · 28/04/2024 · versão Regulamento — referência 28/04/2024 · p. 10 · Anexo I, 4.7.2 e 4.7.4 · https://fnet.bmfbovespa.com.br/fnet/publico/visualizarDocumento?id=670691</a:t>
            </a:r>
          </a:p>
          <a:p>
            <a:r>
              <a:t>CNPJ 54871427000194 · Coobrigação e retenção de risco · Excerto da fonte:</a:t>
            </a:r>
          </a:p>
          <a:p>
            <a:r>
              <a:t>4.7.2 Caso um Direito Creditório cedido à Classe deixe de atender quaisquer Critérios de Elegibilidade e/ou quaisquer declarações e garantias ref erentes a esse Direito Creditório, conf orme previsto no respectivo Contrato de Endosso, após seu endosso à Classe, não haverá coobrigação nem direito de regresso da Classe contra o ADMINISTRADOR, o CUSTODIANTE o GESTOR e/ou o Endossante. 4.7.3 A f ormalização de cada aquisição de Direitos Creditórios pela Classe deverá incluir o endosso eletrônico em preto de cada CCB representativa do respectivo Direito Creditório em f avor da Classe, inclusive, mas não necessariamente, por meio d a celebração de Termos de Endosso (os quais, para f ins de esclarecimento, poderão ser levados a registro junto aos cartórios de Registro de Títulos e Documentos competentes, a exclusivo critério do GESTOR, em casos excepcionais em que tal registro possa ser considerado necessário para f ins de ef icácia das respectivas cessões perante terceiros, tendo em vista a transmiss ão das CCB mediante endosso em preto, nos termos deste Regulamento e da legislação aplicável). 4.7.4 Após a f ormalizaçã</a:t>
            </a:r>
          </a:p>
          <a:p>
            <a:r>
              <a:t>CNPJ 54871427000194 · Coobrigação e retenção de risco · Regulamento · ID 670691 · 28/04/2024 · versão Regulamento — referência 28/04/2024 · p. 13 · Anexo I, 4.18 · https://fnet.bmfbovespa.com.br/fnet/publico/visualizarDocumento?id=670691</a:t>
            </a:r>
          </a:p>
          <a:p>
            <a:r>
              <a:t>CNPJ 54871427000194 · Coobrigação e retenção de risco · Excerto da fonte:</a:t>
            </a:r>
          </a:p>
          <a:p>
            <a:r>
              <a:t>4.18 Exceto na medida em que eventualmente previsto nos Contratos de Cessão e/ou em instrumentos eventualmente celebrados entre a Classe e os Endossantes, os Endossantes não serão responsáveis em caso de eventual inadimplemento dos Direitos Creditórios por eles cedidos, sendo responsáveis, não obstante, apenas pela existência, certeza, conteúdo, exatidão, veracidade, legitimidade, validade e correta f ormalização dos Direitos Creditórios que cederem à Classe, nos termos da legislação aplicável. 4.19 A Classe, o ADMINISTRADOR e o GESTOR, bem como seus controladores, sociedades coligadas, controladas ou sob controle comum, e/ou subsidiárias, não respondem pela certeza, liquidez, exigibilidade, conteúdo, exatidão, veracidade, legitimidade, validade e/ou correta f ormalização dos Direitos Creditórios adquiridos pela Classe, tampouco pela solvência dos Devedores e/ou Endossantes dos respectivos Direitos Creditórios. 4.20 Sem prejuízo do disposto no item 4.19 acima e, observado o disposto no item Erro! Fonte de referência não encontrada., o CUSTODIANTE f oi contratado pelo GESTOR para verificar e validar, na Data de Aquisição dos Direitos Creditórios pela Classe, o atendimento dos Direitos</a:t>
            </a:r>
          </a:p>
          <a:p>
            <a:r>
              <a:t>CNPJ 54871427000194 · Coobrigação e retenção de risco · Versão e prevalência: Leitura específica das cláusulas indicadas; condições e conflitos preservados. Seleção documental atual não comprova vigência jurídica por data isolada.</a:t>
            </a:r>
          </a:p>
          <a:p>
            <a:r>
              <a:t>CNPJ 54871427000194 · Coobrigação e retenção de risco · Resumo do histórico: {"count": 2, "dates": ["2024-04-19", "2024-04-28"], "document_count": 2, "sources": [{"document_id": "670691", "title": "Regulamento", "reference_date": "2024-04-28", "version": "1", "page": "10-12", "url": "https://fnet.bmfbovespa.com.br/fnet/publico/visualizarDocumento?id=670691", "sha256": "bf16dd7f1a62d5cdbf2e2d54fef81783783f7310fbc99c3a8f00459bdf9d037b"}, {"document_id": "670689", "title": "Regulamento", "reference_date": "2024-04-19", "version": "1", "page": 10, "clause": "4.7.3", "url": "https://fnet.bmfbovespa.com.br/fnet/publico/visualizarDocumento?id=670689", "sha256": "891bc9bc5d87bbc02ec139077a84d2702eb81ea02035fb71d24f5b8366b94a0b"}], "reference": {"path": "history/54871427000194.json", "criterion_id": "coobligation", "total_count": 2, "preview_count": 2, "full_text_deferred": true, "sha256": "35d7cd99be50c7287c9fb675cf4f2e736002315295a225a9efa79c8d9186d874"}}</a:t>
            </a:r>
          </a:p>
          <a:p>
            <a:r>
              <a:t>CNPJ 60010416000112 · Coobrigação e retenção de risco · Regulamento · ID 1051393 · 09/10/2025 · versão Regulamento09/10/2025 · p. 10 · AnexoI4.4.5 · https://fnet.bmfbovespa.com.br/fnet/publico/visualizarDocumento?id=1051393</a:t>
            </a:r>
          </a:p>
          <a:p>
            <a:r>
              <a:t>CNPJ 60010416000112 · Coobrigação e retenção de risco · Excerto da fonte:</a:t>
            </a:r>
          </a:p>
          <a:p>
            <a:r>
              <a:t>4.4.5. Caso um Direito Creditório endossado à Classe deixe de atender quaisquer Critérios de Elegibilidade, quaisquer condições de endosso e/ou quaisquer declarações e garantias referentes a esse Direito Creditório, conforme previsto no Contrato de Endosso, após seu endosso à Classe, não haverá coobrigação nem direito de regresso da Classe contra o Endossante, o Administrador, o Custodiante, o Gestor e/ou o Agente de Retenção/Cobrança, exceto em caso de má-fé, culpa ou dolo comprovado, hipótese em que a parte que agiu com má-f é, culpa ou dolo comprovado</a:t>
            </a:r>
          </a:p>
          <a:p>
            <a:r>
              <a:t>CNPJ 60010416000112 · Coobrigação e retenção de risco · Regulamento · ID 1051393 · 09/10/2025 · versão Regulamento09/10/2025 · p. 11 · AnexoI4.4.7 · https://fnet.bmfbovespa.com.br/fnet/publico/visualizarDocumento?id=1051393</a:t>
            </a:r>
          </a:p>
          <a:p>
            <a:r>
              <a:t>CNPJ 60010416000112 · Coobrigação e retenção de risco · Excerto da fonte:</a:t>
            </a:r>
          </a:p>
          <a:p>
            <a:r>
              <a:t>sem coobrigação do Endossante, da plena titularidade desse Direito Creditório, juntamente com todos os direitos, privilégios, pref erências, prerrogativas, garantias e ações a ele relacionados, bem como correção monetária, juros e encargos, sem prejuízo do direito da Classe (i) de exigir a recompra compulsória do respectivo Direito Creditório, de acordo com os termos do Contrato de Endosso; ou (ii) de vender Direitos Creditórios ao Agente de Retenção/Cobrança (opção de venda), em ambos os casos estritamente nos termos do Contrato de Endosso.</a:t>
            </a:r>
          </a:p>
          <a:p>
            <a:r>
              <a:t>CNPJ 60010416000112 · Coobrigação e retenção de risco · Versão e prevalência: Leitura específica das cláusulas indicadas; condições e conflitos preservados. Seleção documental atual não comprova vigência jurídica por data isolada.</a:t>
            </a:r>
          </a:p>
          <a:p>
            <a:r>
              <a:t>CNPJ 60010416000112 · Coobrigação e retenção de risco · Resumo do histórico: {"count": 2, "dates": ["2025-03-20", "2025-10-09"], "document_count": 2, "sources": [{"document_id": "1051393", "title": "Regulamento", "reference_date": "2025-10-09", "version": "1", "page": "10-11", "url": "https://fnet.bmfbovespa.com.br/fnet/publico/visualizarDocumento?id=1051393", "sha256": "8469d613078ffd5a6c1d217885d8a397a16342c0b937ae4aa24b106505f233ae"}, {"document_id": "993786", "title": "Regulamento", "reference_date": "2025-03-20", "version": "1", "page": 10, "clause": "4.4.5", "url": "https://fnet.bmfbovespa.com.br/fnet/publico/visualizarDocumento?id=993786", "sha256": "fd0fdd369a195510d81f81f505195a0b09e5f43522a990afa7d58c4f872921c8"}], "reference": {"path": "history/60010416000112.json", "criterion_id": "coobligation", "total_count": 2, "preview_count": 2, "full_text_deferred": true, "sha256": "8e2bd813f4c51cf01f6bfaad164bafe69d2bbb192f753eac92da3a01c2e63046"}}</a:t>
            </a:r>
          </a:p>
          <a:p>
            <a:r>
              <a:t>CNPJ 62696791000193 · Coobrigação e retenção de risco · Regulamento · ID 1143317 · 2026-03-20 · versão 1 · p. 11 · 4.7.3 · https://fnet.bmfbovespa.com.br/fnet/publico/visualizarDocumento?id=1143317</a:t>
            </a:r>
          </a:p>
          <a:p>
            <a:r>
              <a:t>CNPJ 62696791000193 · Coobrigação e retenção de risco · Excerto da fonte:</a:t>
            </a:r>
          </a:p>
          <a:p>
            <a:r>
              <a:t>4.7.3 Na hipótese de eventuais Direitos Creditórios do Agronegócio elegíveis deixarem de atender a  qualquer Critério de Elegibilidade após sua aquisição pela Classe, tal f ato não será entendido  como um desenquadramento da carteira, tampouco haverá direito de regresso contra o  Administrador e/ou o Gestor.</a:t>
            </a:r>
          </a:p>
          <a:p>
            <a:r>
              <a:t> Limites de concentração aplicáveis aos Direitos Creditórios do Agronegócio e fundos de investimento  em Direitos Creditórios do Agronegócio investidos pela Classe</a:t>
            </a:r>
          </a:p>
          <a:p>
            <a:r>
              <a:t>CNPJ 62696791000193 · Coobrigação e retenção de risco · Regulamento · ID 1143317 · 2026-03-20 · versão 1 · p. 11 · 4.9 · https://fnet.bmfbovespa.com.br/fnet/publico/visualizarDocumento?id=1143317</a:t>
            </a:r>
          </a:p>
          <a:p>
            <a:r>
              <a:t>CNPJ 62696791000193 · Coobrigação e retenção de risco · Excerto da fonte:</a:t>
            </a:r>
          </a:p>
          <a:p>
            <a:r>
              <a:t>4.9 Nos termos do Art. 45 do Anexo Normativo II da Resolução CVM 175, a Classe poderá ter até 100%  (cem por cento) de seu Patrimônio Líquido alocado em Direitos Creditórios do Agronegócio, devidos  por um mesmo Devedor e/ou de responsabilidade ou coobrigação de Devedores de um mesmo grupo</a:t>
            </a:r>
          </a:p>
          <a:p>
            <a:r>
              <a:t>CNPJ 62696791000193 · Coobrigação e retenção de risco · Regulamento · ID 1143317 · 2026-03-20 · versão 1 · p. 41 · 7.1 · https://fnet.bmfbovespa.com.br/fnet/publico/visualizarDocumento?id=1143317</a:t>
            </a:r>
          </a:p>
          <a:p>
            <a:r>
              <a:t>CNPJ 62696791000193 · Coobrigação e retenção de risco · Excerto da fonte:</a:t>
            </a:r>
          </a:p>
          <a:p>
            <a:r>
              <a:t>7.1. Risco de Crédito relativo aos Direitos Creditórios do Agronegócio. Decorre da capacidade dos  Devedores e/ou coobrigados, conforme aplicável, de honrarem seus compromissos pontual e  integralmente, conforme contratados. A Classe sof rerá o impacto do inadimplemento dos  Direitos Creditórios do Agronegócio detidos em Carteira que estejam vencidos e não pagos e  do não cumprimento, pelos Devedores e/ou coobrigados, conf orme aplicável, de suas  obrigações nos termos dos respectivos instrumentos. A Classe somente procederá ao resgate  das Cotas em moeda corrente nacional na medida em que os Direitos Creditórios do  Agronegócio sejam pagos pelos Devedores e/ou coobrigados, conforme aplicável, e desde  que os respectivos valores sejam transferidos à Classe, não havendo garantia de que o resgate  das Cotas ocorrerá integralmente conf orme estabelecido neste Regulamento, Anexo I e  demais documentos que o integrem, conforme aplicável. Nessas hipóteses, não será devido  pela Classe, pelo pelo Administrador, pelo Gestor e/ou pelo Custodiante, qualquer multa ou  penalidade, de qualquer natureza. Em caso de instauração de pedido de f alência, recuperação  judicial, de plano de recuperação extrajudicial ou qualquer outro procedimento de insolvência  dos Devedores e/ou coobrigados, conforme aplicável, a Classe poderá não receber os  pagamentos dos Direitos Creditórios do Agronegócio que compõem sua Carteira, o que poderá  af etar adversamente os resultados da Classe.</a:t>
            </a:r>
          </a:p>
          <a:p>
            <a:r>
              <a:t>CNPJ 62696791000193 · Coobrigação e retenção de risco · Condição: Documentos atuais selecionados no inventário por categoria/escopo; a data documental isolada não comprova vigência jurídica.</a:t>
            </a:r>
          </a:p>
          <a:p>
            <a:r>
              <a:t>CNPJ 62696791000193 · Coobrigação e retenção de risco · Versão e prevalência: Documentos atuais selecionados no inventário por categoria/escopo; a data documental isolada não comprova vigência jurídica.</a:t>
            </a:r>
          </a:p>
          <a:p>
            <a:r>
              <a:t>CNPJ 55563624000109 · Coobrigação e retenção de risco · Demonstrações Financeiras · ID 1178840 · 2026-01-31 · versão 1 · p. 21 · https://fnet.bmfbovespa.com.br/fnet/publico/visualizarDocumento?id=1178840</a:t>
            </a:r>
          </a:p>
          <a:p>
            <a:r>
              <a:t>CNPJ 55563624000109 · Coobrigação e retenção de risco · Excerto da fonte:</a:t>
            </a:r>
          </a:p>
          <a:p>
            <a:r>
              <a:t>ii) Risco de sistemas. Dada a complexidade operacional própria dos fundos de  investimento em direitos creditórios, não há garantia de que as trocas de informações  entre os sistemas eletrônicos do Custodiante, da Administradora, do Gestor, da  Classe e, quando aplicável, do endossante, dos devedores e/ou coobrigados,  conforme aplicável, se darão livres de erros. Caso qualquer desses riscos venha a  se materializar, a aquisição, cobrança ou realização dos direitos creditórios poderá  ser adversamente afetada, prejudicando o desempenho da Classe.</a:t>
            </a:r>
          </a:p>
          <a:p>
            <a:r>
              <a:t>CNPJ 55563624000109 · Coobrigação e retenção de risco · Condição: Trechos do documento específico identificado com data mais recente; vigência jurídica não inferida.</a:t>
            </a:r>
          </a:p>
          <a:p>
            <a:r>
              <a:t>CNPJ 55563624000109 · Coobrigação e retenção de risco · Versão e prevalência: Trechos do documento específico identificado com data mais recente; vigência jurídica não inferida.</a:t>
            </a:r>
          </a:p>
          <a:p>
            <a:r>
              <a:t>CNPJ 55563624000109 · Coobrigação e retenção de risco · Resumo do histórico: {"count": 1, "dates": ["2025-01-31"], "document_count": 1, "sources": [{"document_id": "891861", "title": "Demonstrações Financeiras", "reference_date": "2025-01-31", "version": "1", "page": 21, "url": "https://fnet.bmfbovespa.com.br/fnet/publico/visualizarDocumento?id=891861", "sha256": "e9cb9e6ddbe505fe068cfcac33605165a98313489de0d3ce6d4d238263c3f3e7"}], "reference": {"path": "history/55563624000109.json", "criterion_id": "coobligation", "total_count": 1, "preview_count": 1, "full_text_deferred": true, "sha256": "7835d573fb58a3c19adf5b8ecc2aee2bdbb9a88f7a0c0209b5f262b64c7522e3"}}</a:t>
            </a:r>
          </a:p>
          <a:p>
            <a:r>
              <a:t>CNPJ 62552447000120 · Coobrigação e retenção de risco · Regulamento · ID 1200623 · 21/05/2026 · versão Consolidado21/05/2026 aprovado pelo ato1200625 · p. 13 · AnexoI4.6.3–4.6.4 · https://fnet.bmfbovespa.com.br/fnet/publico/visualizarDocumento?id=1200623</a:t>
            </a:r>
          </a:p>
          <a:p>
            <a:r>
              <a:t>CNPJ 62552447000120 · Coobrigação e retenção de risco · Excerto da fonte:</a:t>
            </a:r>
          </a:p>
          <a:p>
            <a:r>
              <a:t>4.6.4 Após a formalização, o endosso de um Direito Creditório Consignado Privado, Direito Creditório FGTS e Direito Creditório Refinanciamento Livre à Classe será irrevogável e irretratável, com a transf erência, à Classe, de f orma def initiva, sem coobrigação do Endossante, da plena titularidade desse Direito Creditório, juntamente com todos os direitos, privilégios, preferências, prerrogativas, garantias e ações a ele relacionados, bem como correção monetária, juros e encargos, sem prejuízo do direito da Classe (i) de exigir a resolução do endosso do respectivo D</a:t>
            </a:r>
          </a:p>
          <a:p>
            <a:r>
              <a:t>CNPJ 62552447000120 · Coobrigação e retenção de risco · Regulamento · ID 1200623 · 21/05/2026 · versão Consolidado21/05/2026 aprovado pelo ato1200625 · p. 16 · AnexoI4.22 · https://fnet.bmfbovespa.com.br/fnet/publico/visualizarDocumento?id=1200623</a:t>
            </a:r>
          </a:p>
          <a:p>
            <a:r>
              <a:t>CNPJ 62552447000120 · Coobrigação e retenção de risco · Excerto da fonte:</a:t>
            </a:r>
          </a:p>
          <a:p>
            <a:r>
              <a:t>4.22 Exceto na medida em que eventualmente previsto no s Contratos de Endosso e/ou em instrumentos eventualmente celebrados entre a Classe e o Endossante e/ou o Agente de Retenção e Cobrança, conf orme aplicável, o Endossante e/ou o Agente de Retenção e Cobrança não serão responsáveis em caso de eventual inadimplemento dos Direitos Creditórios . 4.23 A Classe, o Administrador e o Gestor, bem como seus controladores, sociedades coligadas, controladas ou sob controle comum, e/ou subsidiárias, não respondem pela certeza, liquidez, exigibilidade, conteúdo, exatidão, veracidade, legitimidade, validade e/ou co</a:t>
            </a:r>
          </a:p>
          <a:p>
            <a:r>
              <a:t>CNPJ 62552447000120 · Coobrigação e retenção de risco · Versão e prevalência: Leitura específica das cláusulas indicadas; condições e conflitos preservados. Seleção documental atual não comprova vigência jurídica por data isolada.</a:t>
            </a:r>
          </a:p>
          <a:p>
            <a:r>
              <a:t>CNPJ 63953620000165 · Coobrigação e retenção de risco · Anexo ao Regulamento · ID 1222863 · 02/06/2026 · versão AnexoConsignadoPrivado02/06/2026 · p. 6 · 4.8,4.10.3 · https://fnet.bmfbovespa.com.br/fnet/publico/visualizarDocumento?id=1222863</a:t>
            </a:r>
          </a:p>
          <a:p>
            <a:r>
              <a:t>CNPJ 63953620000165 · Coobrigação e retenção de risco · Excerto da fonte:</a:t>
            </a:r>
          </a:p>
          <a:p>
            <a:r>
              <a:t>4.10.3 Não haverá coobrigação nem direito de regresso da Classe contra o Endossante, o Administrador, o Custodiante, o Gestor e/ou o Agente de Retenção/Cobrança, exceto em caso de má-fé, culpa ou dolo comprovado, hipótese em que a parte que agiu com má-fé, culpa ou dolo comprovado poderá ser responsabilizada pelas perdas incorridas pela Classe em relação aos respectivos Direitos Creditórios Crédito Consignado. 4.11 Além dos Critérios de Elegibilidade acima mencionados, a serem verificados pelo Gestor ou terceiro por ele contratado, o Endossante e o Agente de Retenção/Cobrança declararão, expr</a:t>
            </a:r>
          </a:p>
          <a:p>
            <a:r>
              <a:t>CNPJ 63953620000165 · Coobrigação e retenção de risco · Versão e prevalência: Leitura específica das cláusulas indicadas; condições e conflitos preservados. Seleção documental atual não comprova vigência jurídica por data isolada.</a:t>
            </a:r>
          </a:p>
          <a:p>
            <a:r>
              <a:t>CNPJ 63953620000165 · Coobrigação e retenção de risco · Resumo do histórico: {"count": 8, "dates": ["2026-04-28", "2026-05-08", "2026-05-15"], "document_count": 3, "sources": [{"document_id": "1327859", "title": "Demonstrações Financeiras - Fusão, cisão e incorporação", "reference_date": "2026-05-15", "version": "1", "page": 16, "url": "https://fnet.bmfbovespa.com.br/fnet/publico/visualizarDocumento?id=1327859", "sha256": "dca1c68babb97f887528c3e2e47596a9c30f507b067981a35655b2f2da9c8054"}, {"document_id": "1298691", "title": "Demonstrações Financeiras - Fusão, cisão e incorporação", "reference_date": "2026-05-08", "version": "1", "page": 16, "url": "https://fnet.bmfbovespa.com.br/fnet/publico/visualizarDocumento?id=1298691", "sha256": "58c570d9b8d4d265330d3db3ea81c435b8e44a6dab4002aa37790652a1ee9819"}, {"document_id": "1282180", "title": "Demonstrações Financeiras - Fusão, cisão e incorporação", "reference_date": "2026-04-28", "version": "1", "page": 16, "url": "https://fnet.bmfbovespa.com.br/fnet/publico/visualizarDocumento?id=1282180", "sha256": "afaaa0e6809be4385e5bdb6c911aac582032c5bdbac3d7750234bf9eaf00438a"}], "reference": {"path": "history/63953620000165.json", "criterion_id": "coobligation",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Qualidade da carteira</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Metodologia de PDD e curva por atraso · Base da comparação IME: {"criterion_id": "pdd", "observed_value": null, "unit": "", "competence": "08/2026", "status": "not_comparable", "reason": "A curva de PDD requer atraso, contágio e garantias por operação; o agregado mensal não demonstra aplicação da metodologia.", "formula": "",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null, "comparison_required": true, "context_formula": "PDD / direitos creditórios", "context_value": 0.397174994710542, "context_unit": "percent"}</a:t>
            </a:r>
          </a:p>
          <a:p>
            <a:r>
              <a:t>CNPJ 54871427000194 · Metodologia de PDD e curva por atraso · Regulamento · ID 670691 · 28/04/2024 · versão Regulamento — referência 28/04/2024 · p. 17 · Anexo I, 9.2–9.2.1 · https://fnet.bmfbovespa.com.br/fnet/publico/visualizarDocumento?id=670691</a:t>
            </a:r>
          </a:p>
          <a:p>
            <a:r>
              <a:t>CNPJ 54871427000194 · Metodologia de PDD e curva por atraso · Excerto da fonte:</a:t>
            </a:r>
          </a:p>
          <a:p>
            <a:r>
              <a:t>9.2 As provisões para perdas e as perdas havidas com Direitos Creditórios ou com os Ativos Financeiros de Liquidez integrantes da Carteira serão, respectivamente, efetuadas ou reconhecidas nos termos da Instrução CVM 489. Desta forma, o valor do saldo dos Direitos Creditórios e/ou Ativos Financeiros de Liquidez será reduzido pelo valor da provisão ef etuada ou perda reconhecida. 9.2.1 O ef eito de perda ou provisão para devedores duvidosos de Direitos Creditórios de um mesmo Devedor deverá ser mensurado levando-se em consideração o disposto no Art. 13 da Instrução CVM 489, sendo f acultada a análise individualizada dos Direitos Creditórios, observada a metodologia de avaliação descrita no manual d o ADMINISTRADOR ou, ainda, no manual do CUSTODIANTE. CAPÍTULO 10 – ASSEMBLEIA ESPECIAL DE COTISTAS 10.1 Sem prejuízo de outros requisitos e inf ormações previstos na regulamentação vigente, são aplicáveis à Assembleia Especial de Cotistas as mesmas disposições procedimentais da Assembleia Geral de Cotistas. 10.2 A Assembleia Especial de Cotistas é responsável por deliberar sobre as matérias específicas da Classe de Cotas, sem prejuízo das demais disposições previstas</a:t>
            </a:r>
          </a:p>
          <a:p>
            <a:r>
              <a:t>CNPJ 54871427000194 · Metodologia de PDD e curva por atraso · Condição: Os percentuais do Complemento 2 são descontos de cobrança e comissões; não são alíquotas de PDD. O manual operacional referenciado permanece uma fonte separada.</a:t>
            </a:r>
          </a:p>
          <a:p>
            <a:r>
              <a:t>CNPJ 54871427000194 · Metodologia de PDD e curva por atraso · Versão e prevalência: Leitura específica das cláusulas indicadas; condições e conflitos preservados. Seleção documental atual não comprova vigência jurídica por data isolada.</a:t>
            </a:r>
          </a:p>
          <a:p>
            <a:r>
              <a:t>CNPJ 54871427000194 · Metodologia de PDD e curva por atraso · Resumo do histórico: {"count": 4, "dates": ["2024-12-31", "2025-01-01", "2025-12-31"], "document_count": 3, "sources": [{"document_id": "1151805", "title": "Demonstrações Financeiras", "reference_date": "2025-12-31", "version": "1", "page": 17, "url": "https://fnet.bmfbovespa.com.br/fnet/publico/visualizarDocumento?id=1151805", "sha256": "f1cea70b152968bf96ef9221b27225953cb20aeef487b2798db3c25e11b528d4"}, {"document_id": "869529", "title": "Demonstrações Financeiras", "reference_date": "2025-01-01", "version": "1", "page": 17, "url": "https://fnet.bmfbovespa.com.br/fnet/publico/visualizarDocumento?id=869529", "sha256": "9a93a9369ac8efdbc54ff8fcee3ccac3abf88edab4807b9323d3852450771b2a"}, {"document_id": "870070", "title": "Demonstrações Financeiras", "reference_date": "2024-12-31", "version": "1", "page": 17, "url": "https://fnet.bmfbovespa.com.br/fnet/publico/visualizarDocumento?id=870070", "sha256": "9a93a9369ac8efdbc54ff8fcee3ccac3abf88edab4807b9323d3852450771b2a"}], "reference": {"path": "history/54871427000194.json", "criterion_id": "pdd", "total_count": 4, "preview_count": 3, "full_text_deferred": true, "sha256": "35d7cd99be50c7287c9fb675cf4f2e736002315295a225a9efa79c8d9186d874"}}</a:t>
            </a:r>
          </a:p>
          <a:p>
            <a:r>
              <a:t>CNPJ 60010416000112 · Metodologia de PDD e curva por atraso · Base da comparação IME: {"criterion_id": "pdd", "observed_value": null, "unit": "", "competence": "08/2026", "status": "not_comparable", "reason": "A curva de PDD requer atraso, contágio e garantias por operação; o agregado mensal não demonstra aplicação da metodologia.", "formula": "",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null, "comparison_required": true, "context_formula": "PDD / direitos creditórios", "context_value": 19.008881839133778, "context_unit": "percent"}</a:t>
            </a:r>
          </a:p>
          <a:p>
            <a:r>
              <a:t>CNPJ 60010416000112 · Metodologia de PDD e curva por atraso · Regulamento · ID 1051393 · 09/10/2025 · versão Regulamento09/10/2025 · p. 17 · AnexoI8.1(iv)–(v),8.3–8.3.1 · https://fnet.bmfbovespa.com.br/fnet/publico/visualizarDocumento?id=1051393</a:t>
            </a:r>
          </a:p>
          <a:p>
            <a:r>
              <a:t>CNPJ 60010416000112 · Metodologia de PDD e curva por atraso · Excerto da fonte:</a:t>
            </a:r>
          </a:p>
          <a:p>
            <a:r>
              <a:t>8.1 Os ativos da Carteira serão avaliados todos os Dias Úteis de acordo com critérios consistentes e verif icáveis, apoiados por inf ormações externas e internas que levem em consideração aspectos relacionados aos Devedores e às características da transação correspondente, de acordo com a seguinte metodologia de avaliação. (i) os Ativos Financeiros de Liquidez deverão ser registrados e ter seus valores ajustados a mercado, sujeitos às regras e procedimentos definidos no manual de marcação a mercado do Custodiante e de acordo com as regras do Banco Central e da CVM, aplicá</a:t>
            </a:r>
          </a:p>
          <a:p>
            <a:r>
              <a:t>CNPJ 60010416000112 · Metodologia de PDD e curva por atraso · Condição: Curva numérica por atraso não é transcrita; manuais/contrato têm perímetro distinto do indicador agregado do IME.</a:t>
            </a:r>
          </a:p>
          <a:p>
            <a:r>
              <a:t>CNPJ 60010416000112 · Metodologia de PDD e curva por atraso · Motivo: Cláusula primária localizada e citada, mas sua lista/condições extensas não admitem uma síntese literal curta confirmada. O trecho integral permanece nas fontes.</a:t>
            </a:r>
          </a:p>
          <a:p>
            <a:r>
              <a:t>CNPJ 60010416000112 · Metodologia de PDD e curva por atraso · Versão e prevalência: Leitura específica das cláusulas indicadas; condições e conflitos preservados. Seleção documental atual não comprova vigência jurídica por data isolada.</a:t>
            </a:r>
          </a:p>
          <a:p>
            <a:r>
              <a:t>CNPJ 60010416000112 · Metodologia de PDD e curva por atraso · Resumo do histórico: {"count": 1, "dates": ["2025-03-20"], "document_count": 1, "sources": [{"document_id": "993786", "title": "Regulamento", "reference_date": "2025-03-20", "version": "1", "page": 17, "clause": "8.1", "url": "https://fnet.bmfbovespa.com.br/fnet/publico/visualizarDocumento?id=993786", "sha256": "fd0fdd369a195510d81f81f505195a0b09e5f43522a990afa7d58c4f872921c8"}], "reference": {"path": "history/60010416000112.json", "criterion_id": "pdd", "total_count": 1, "preview_count": 1, "full_text_deferred": true, "sha256": "8e2bd813f4c51cf01f6bfaad164bafe69d2bbb192f753eac92da3a01c2e63046"}}</a:t>
            </a:r>
          </a:p>
          <a:p>
            <a:r>
              <a:t>CNPJ 62696791000193 · Metodologia de PDD e curva por atraso · Regulamento · ID 1143317 · 20/03/2026 · versão Regulamento — referência 20/03/2026 · p. 11 · Anexo I, 4.7.3 · https://fnet.bmfbovespa.com.br/fnet/publico/visualizarDocumento?id=1143317</a:t>
            </a:r>
          </a:p>
          <a:p>
            <a:r>
              <a:t>CNPJ 62696791000193 · Metodologia de PDD e curva por atraso · Excerto da fonte:</a:t>
            </a:r>
          </a:p>
          <a:p>
            <a:r>
              <a:t>4.7.3 Na hipótese de eventuais Direitos Creditórios do Agronegócio elegíveis deixarem de atender a qualquer Critério de Elegibilidade após sua aquisição pela Classe, tal f ato não será entendido como um desenquadramento da carteira, tampouco haverá direito de regresso contra o Administrador e/ou o Gestor. Limites de concentração aplicáveis aos Direitos Creditórios do Agronegócio e fundos de investimento em Direitos Creditórios do Agronegócio investidos pela Classe 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t>
            </a:r>
          </a:p>
          <a:p>
            <a:r>
              <a:t>CNPJ 62696791000193 · Metodologia de PDD e curva por atraso · Condição: PDD mensal observada e metodologia contratual são evidências separadas.</a:t>
            </a:r>
          </a:p>
          <a:p>
            <a:r>
              <a:t>CNPJ 62696791000193 · Metodologia de PDD e curva por atraso · Motivo: Leitura do consolidado de 48 páginas não localizou metodologia de PDD/curva por atraso. A cláusula 4.7.3 trata de perda posterior de elegibilidade; não estabelece provisionamento.</a:t>
            </a:r>
          </a:p>
          <a:p>
            <a:r>
              <a:t>CNPJ 62696791000193 · Metodologia de PDD e curva por atraso · Versão e prevalência: Leitura específica das cláusulas indicadas; condições e conflitos preservados. Seleção documental atual não comprova vigência jurídica por data isolada.</a:t>
            </a:r>
          </a:p>
          <a:p>
            <a:r>
              <a:t>CNPJ 55563624000109 · Metodologia de PDD e curva por atraso · Base da comparação IME: {"criterion_id": "pdd", "observed_value": null, "unit": "", "competence": "08/2026", "status": "not_comparable", "reason": "A curva de PDD requer atraso, contágio e garantias por operação; o agregado mensal não demonstra aplicação da metodologia.", "formula": "",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null, "comparison_required": true, "context_formula": "PDD / direitos creditórios", "context_value": null, "context_unit": "percent"}</a:t>
            </a:r>
          </a:p>
          <a:p>
            <a:r>
              <a:t>CNPJ 55563624000109 · Metodologia de PDD e curva por atraso · Regulamento · ID 1192614 · 30/04/2026 · versão Regulamento30/04/2026 · p. 19 · AnexoI9.1–9.2.1 · https://fnet.bmfbovespa.com.br/fnet/publico/visualizarDocumento?id=1192614</a:t>
            </a:r>
          </a:p>
          <a:p>
            <a:r>
              <a:t>CNPJ 55563624000109 · Metodologia de PDD e curva por atraso · Excerto da fonte:</a:t>
            </a:r>
          </a:p>
          <a:p>
            <a:r>
              <a:t>9.1 As Cotas da Classe Investida e Ativos Financeiros de Liquidez que compõem a Carteira da Classe terão seus valores calculados todo Dia Útil conforme a metodologia de avaliação descrita no manual do ADMINISTRADOR, disponível no seu website, no endereço https://www.btgpactual.com/asset-management/administracao- fiduciaria#documentos. 9.2 As provisões para perdas e as perdas havidas com as Cotas da Classe Investida ou com os Ativos Financeiros de Liquidez integrantes da Carteira serão, respectivamente, efetuadas ou reconhecidas pelo ADMINISTRADOR, de</a:t>
            </a:r>
          </a:p>
          <a:p>
            <a:r>
              <a:t>CNPJ 55563624000109 · Metodologia de PDD e curva por atraso · Condição: PDD do FIC reflete cotas/liquidez; atraso/PDD de devedores finais exige IME do investido.</a:t>
            </a:r>
          </a:p>
          <a:p>
            <a:r>
              <a:t>CNPJ 55563624000109 · Metodologia de PDD e curva por atraso · Versão e prevalência: Leitura específica das cláusulas indicadas; condições e conflitos preservados. Seleção documental atual não comprova vigência jurídica por data isolada.</a:t>
            </a:r>
          </a:p>
          <a:p>
            <a:r>
              <a:t>CNPJ 62552447000120 · Metodologia de PDD e curva por atraso · Base da comparação IME: {"criterion_id": "pdd", "observed_value": null, "unit": "", "competence": "08/2026", "status": "not_comparable", "reason": "A curva de PDD requer atraso, contágio e garantias por operação; o agregado mensal não demonstra aplicação da metodologia.", "formula": "",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null, "comparison_required": true, "context_formula": "PDD / direitos creditórios", "context_value": 9.644446353219038, "context_unit": "percent"}</a:t>
            </a:r>
          </a:p>
          <a:p>
            <a:r>
              <a:t>CNPJ 62552447000120 · Metodologia de PDD e curva por atraso · Regulamento · ID 1200623 · 21/05/2026 · versão Consolidado21/05/2026 aprovado pelo ato1200625 · p. 20 · AnexoI9.1–9.2.1 · https://fnet.bmfbovespa.com.br/fnet/publico/visualizarDocumento?id=1200623</a:t>
            </a:r>
          </a:p>
          <a:p>
            <a:r>
              <a:t>CNPJ 62552447000120 · Metodologia de PDD e curva por atraso · Excerto da fonte:</a:t>
            </a:r>
          </a:p>
          <a:p>
            <a:r>
              <a:t>9.1 Os Direitos Creditórios e Ativos Financeiros que compõem a Carteira terão seus valores calculados todo Dia Útil conforme a metodologia de avaliação descrita no manual d o Administrador ou, ainda, nos manuais do Custodiante, disponíveis nos seus respectivos websites, no endereço https://www.btgpactual.com/asset-management/administracao-f iduciaria#documentos. 9.2 As provisões para perdas e as perdas havidas com Direitos Creditórios ou com os Ativos Financeiros integrantes da Carteira serão, respectivamente, efetuadas ou reconhecidas nos termos da Instrução da CVM n.º 489, de 14 de janeiro de 2011, c</a:t>
            </a:r>
          </a:p>
          <a:p>
            <a:r>
              <a:t>CNPJ 62552447000120 · Metodologia de PDD e curva por atraso · Condição: Cláusula não transcreve curva de provisão por faixa de atraso; percentual PDD do IME não reproduz manual.</a:t>
            </a:r>
          </a:p>
          <a:p>
            <a:r>
              <a:t>CNPJ 62552447000120 · Metodologia de PDD e curva por atraso · Motivo: Não localizada uma cláusula material para este critério nos textos identificados e processados. A ausência de resultado não comprova inexistência da regra.</a:t>
            </a:r>
          </a:p>
          <a:p>
            <a:r>
              <a:t>CNPJ 62552447000120 · Metodologia de PDD e curva por atraso · Versão e prevalência: Leitura específica das cláusulas indicadas; condições e conflitos preservados. Seleção documental atual não comprova vigência jurídica por data isolada.</a:t>
            </a:r>
          </a:p>
          <a:p>
            <a:r>
              <a:t>CNPJ 63953620000165 · Metodologia de PDD e curva por atraso · Base da comparação IME: {"criterion_id": "pdd", "observed_value": null, "unit": "", "competence": "08/2026", "status": "not_comparable", "reason": "A curva de PDD requer atraso, contágio e garantias por operação; o agregado mensal não demonstra aplicação da metodologia.", "formula": "",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null, "comparison_required": true, "context_formula": "PDD / direitos creditórios", "context_value": 5.5101286576011415, "context_unit": "percent"}</a:t>
            </a:r>
          </a:p>
          <a:p>
            <a:r>
              <a:t>CNPJ 63953620000165 · Metodologia de PDD e curva por atraso · Anexo ao Regulamento · ID 1222863 · 02/06/2026 · versão AnexoConsignadoPrivado02/06/2026 · p. 12 · 9.1–9.2.1 · https://fnet.bmfbovespa.com.br/fnet/publico/visualizarDocumento?id=1222863</a:t>
            </a:r>
          </a:p>
          <a:p>
            <a:r>
              <a:t>CNPJ 63953620000165 · Metodologia de PDD e curva por atraso · Excerto da fonte:</a:t>
            </a:r>
          </a:p>
          <a:p>
            <a:r>
              <a:t>9.1 Os Direitos Creditórios e Ativos Financeiros que compõem a Carteira da Classe terão seus valores calculados todo Dia Útil conforme a metodologia de avaliação descrita no manual do Administrador ou, ainda, nos manuais do Custodiante, disponíveis nos seus respectivos websites, no endereço https://www.btgpactual.com/asset- management/administracao-fiduciaria#documentos 9.2 As provisões para perdas e as perdas havidas com Direitos Creditórios ou com os Ativos Financeiros integrantes da Carteira serão, respectivamente, efetuadas ou reconhecidas nos termos da Instrução CVM 489. Desta forma, o valor do saldo dos Dire</a:t>
            </a:r>
          </a:p>
          <a:p>
            <a:r>
              <a:t>CNPJ 63953620000165 · Metodologia de PDD e curva por atraso · Versão e prevalência: Leitura específica das cláusulas indicadas; condições e conflitos preservados. Seleção documental atual não comprova vigência jurídica por data isolada.</a:t>
            </a:r>
          </a:p>
          <a:p>
            <a:r>
              <a:t>CNPJ 63953620000165 · Metodologia de PDD e curva por atraso · Resumo do histórico: {"count": 7, "dates": ["2026-04-16", "2026-04-28", "2026-05-08"], "document_count": 3, "sources": [{"document_id": "1298691", "title": "Demonstrações Financeiras - Fusão, cisão e incorporação", "reference_date": "2026-05-08", "version": "1", "page": 18, "url": "https://fnet.bmfbovespa.com.br/fnet/publico/visualizarDocumento?id=1298691", "sha256": "58c570d9b8d4d265330d3db3ea81c435b8e44a6dab4002aa37790652a1ee9819"}, {"document_id": "1282180", "title": "Demonstrações Financeiras - Fusão, cisão e incorporação", "reference_date": "2026-04-28", "version": "1", "page": 18, "url": "https://fnet.bmfbovespa.com.br/fnet/publico/visualizarDocumento?id=1282180", "sha256": "afaaa0e6809be4385e5bdb6c911aac582032c5bdbac3d7750234bf9eaf00438a"}, {"document_id": "1282179", "title": "Demonstrações Financeiras - Fusão, cisão e incorporação", "reference_date": "2026-04-16", "version": "1", "page": 18, "url": "https://fnet.bmfbovespa.com.br/fnet/publico/visualizarDocumento?id=1282179", "sha256": "beb67afbcd64169019477673fd3b7c1edbfabbd9db07379388d8cdd5d3fc9395"}], "reference": {"path": "history/63953620000165.json", "criterion_id": "pdd", "total_count": 7, "preview_count": 3, "full_text_deferred": true, "sha256": "a7b89077f5e21098c2d601c303faabc3ff6b9729f89d8afecdc60fe1404720c1"}}</a:t>
            </a:r>
          </a:p>
          <a:p>
            <a:r>
              <a:t>CNPJ 54871427000194 · Gatilhos de atraso e rolagem · Motivo: Não localizada uma cláusula material para este critério nos textos identificados e processados. A ausência de resultado não comprova inexistência da regra.</a:t>
            </a:r>
          </a:p>
          <a:p>
            <a:r>
              <a:t>CNPJ 60010416000112 · Gatilhos de atraso e rolagem · Motivo: Não localizada uma cláusula material para este critério nos textos identificados e processados. A ausência de resultado não comprova inexistência da regra.</a:t>
            </a:r>
          </a:p>
          <a:p>
            <a:r>
              <a:t>CNPJ 62696791000193 · Gatilhos de atraso e rolagem · Motivo: Não localizada uma cláusula material para este critério nos textos identificados e processados. A ausência de resultado não comprova inexistência da regra.</a:t>
            </a:r>
          </a:p>
          <a:p>
            <a:r>
              <a:t>CNPJ 55563624000109 · Gatilhos de atraso e rolagem · Motivo: Não localizada uma cláusula material para este critério nos textos identificados e processados. A ausência de resultado não comprova inexistência da regra.</a:t>
            </a:r>
          </a:p>
          <a:p>
            <a:r>
              <a:t>CNPJ 62552447000120 · Gatilhos de atraso e rolagem · Motivo: Não localizada uma cláusula material para este critério nos textos identificados e processados. A ausência de resultado não comprova inexistência da regra.</a:t>
            </a:r>
          </a:p>
          <a:p>
            <a:r>
              <a:t>CNPJ 63953620000165 · Gatilhos de atraso e rolagem · Motivo: Não localizada uma cláusula material para este critério nos textos identificados e processados. A ausência de resultado não comprova inexistência da regra.</a:t>
            </a:r>
          </a:p>
          <a:p>
            <a:r>
              <a:t>CNPJ 54871427000194 · Diluição, cancelamento e chargeback · Motivo: Não localizada uma cláusula material para este critério nos textos identificados e processados. A ausência de resultado não comprova inexistência da regra.</a:t>
            </a:r>
          </a:p>
          <a:p>
            <a:r>
              <a:t>CNPJ 60010416000112 · Diluição, cancelamento e chargeback · Motivo: Não localizada uma cláusula material para este critério nos textos identificados e processados. A ausência de resultado não comprova inexistência da regra.</a:t>
            </a:r>
          </a:p>
          <a:p>
            <a:r>
              <a:t>CNPJ 62696791000193 · Diluição, cancelamento e chargeback · Motivo: Não localizada uma cláusula material para este critério nos textos identificados e processados. A ausência de resultado não comprova inexistência da regra.</a:t>
            </a:r>
          </a:p>
          <a:p>
            <a:r>
              <a:t>CNPJ 55563624000109 · Diluição, cancelamento e chargeback · Motivo: Não localizada uma cláusula material para este critério nos textos identificados e processados. A ausência de resultado não comprova inexistência da regra.</a:t>
            </a:r>
          </a:p>
          <a:p>
            <a:r>
              <a:t>CNPJ 62552447000120 · Diluição, cancelamento e chargeback · Motivo: Não localizada uma cláusula material para este critério nos textos identificados e processados. A ausência de resultado não comprova inexistência da regra.</a:t>
            </a:r>
          </a:p>
          <a:p>
            <a:r>
              <a:t>CNPJ 63953620000165 · Diluição, cancelamento e chargeback · Motivo: Não localizada uma cláusula material para este critério nos textos identificados e processados. A ausência de resultado não comprova inexistência da regra.</a:t>
            </a:r>
          </a:p>
          <a:p>
            <a:r>
              <a:t>CNPJ 54871427000194 · Recompra e indenização · Regulamento · ID 670691 · 2024-04-28 · versão 1 · p. 11 · 4.12 · https://fnet.bmfbovespa.com.br/fnet/publico/visualizarDocumento?id=670691</a:t>
            </a:r>
          </a:p>
          <a:p>
            <a:r>
              <a:t>CNPJ 54871427000194 · Recompra e indenização · Excerto da fonte:</a:t>
            </a:r>
          </a:p>
          <a:p>
            <a:r>
              <a:t>4.12 Os recursos recebidos pela Classe em razão da liquidação dos Direitos Creditórios, a qualquer título,  incluindo pagamento regular ou por excussão de garantia, alienação, recompra, indenização pelo  Cedente e/ou desinvestimento de Ativo Recuperado, serão destinados a aquisição de Direitos  Creditórios até o montante de R$ 250.000.000,00 (duzentos e cinquenta milhões de reais), sendo certo  que os recursos recebidos pela Classe após a aquisição em tal montante não poderão ser destinados  à aquisição pela Classe de novos Direitos Creditórios, aplicando-se, de resto, o disposto no item 8.1  abaixo no que se ref ere à ordem de alocação de tais recursos.</a:t>
            </a:r>
          </a:p>
          <a:p>
            <a:r>
              <a:t>CNPJ 54871427000194 · Recompra e indenização · Regulamento · ID 670691 · 2024-04-28 · versão 1 · p. 12 · 4.13 · https://fnet.bmfbovespa.com.br/fnet/publico/visualizarDocumento?id=670691</a:t>
            </a:r>
          </a:p>
          <a:p>
            <a:r>
              <a:t>CNPJ 54871427000194 · Recompra e indenização · Excerto da fonte:</a:t>
            </a:r>
          </a:p>
          <a:p>
            <a:r>
              <a:t>4.13 Na hipótese de demandas judiciais e/ou administrativas, em que a causa de pedir ou entre os pedidos  estejam incluídos qualquer um dos itens listados abaixo, o Endossante estará obrigado realizar a  recompra ou indenização dos respectivos Direitos Creditórios, na f orma e prazos previstos no  respectivo Contrato de Endosso sem prejuízo do previsto no Artigo 295 do Código Civil, sendo certo  que o GESTOR envidará seus melhores esf orços para que os Contratos de Endosso contenham  substancialmente as hipóteses abaixo :</a:t>
            </a:r>
          </a:p>
          <a:p>
            <a:r>
              <a:t> (i) Vício de f ormalização dos CCCBs e/ou CCBs a) por ausência de qualquer dos Documentos  Comprobatórios ou falsificação, irregularidade sou má formalização destes; b) por falta de recebimento  do crédito pelo Devedor; ou, c) por averbação irregular de desconto em folha na margem consignável  do Devedor;</a:t>
            </a:r>
          </a:p>
          <a:p>
            <a:r>
              <a:t>CNPJ 54871427000194 · Recompra e indenização · Regulamento · ID 670691 · 2024-04-28 · versão 1 · p. 1 · 1.1 · https://fnet.bmfbovespa.com.br/fnet/publico/visualizarDocumento?id=670691</a:t>
            </a:r>
          </a:p>
          <a:p>
            <a:r>
              <a:t>CNPJ 54871427000194 · Recompra e indenização · Excerto da fonte:</a:t>
            </a:r>
          </a:p>
          <a:p>
            <a:r>
              <a:t>1.1 CONSIGNADO DELTA RECEIVABLES I FUNDO DE INVESTIMENTO EM DIREITOS CREDITÓRIOS  (“FUNDO”), regido pela Lei nº 10.406, de 10 de janeiro de 2002, conf orme alterada (“Código Civil”),  pela parte geral e o Anexo Normativo II da Resolução nº 175, de 23 de dezembro de 2022, conforme  alterada, da Comissão de Valores Mobiliários (respectivamente, “CVM” e “Resolução CVM 175”), terá  como principais características:</a:t>
            </a:r>
          </a:p>
          <a:p>
            <a:r>
              <a:t> Classe de Cotas Classe única.</a:t>
            </a:r>
          </a:p>
          <a:p>
            <a:r>
              <a:t> Indeterminado, exceto se de outra f orma vier a ser deliberado pelos cotistas  Prazo de Duração  reunidos em assembleia geral de cotistas.</a:t>
            </a:r>
          </a:p>
          <a:p>
            <a:r>
              <a:t> BTG Pactual Serviços Financeiros S.A. Distribuidora de Títulos e Valores  Mobiliários, instituição f inanceira, com sede na Cidade e Estado do Rio de  Janeiro, na Praia de Botafogo, nº 501, 5º andar (parte), Torre Corcovado,  ADMINISTRADOR  Botafogo, CEP 22250-040, inscrita no CNPJ sob o nº 59.281.253/0001-23 e  credenciada como administradora de carteira, de acordo com o Ato Declaratório  CVM nº 8.695, de 20 de março de 2006 (“ADMINISTRADOR”).</a:t>
            </a:r>
          </a:p>
          <a:p>
            <a:r>
              <a:t> BTG Pactual Asset Management S.A. Distribuidora de Títulos e Valores  Mobiliários, inscrita no CNPJ/ME sob o nº 29.650.082/0001-00, com sede  Cidade e Estado do Rio de Janeiro, na Praia de Botafogo, n.º 501, 5° andar,  devidamente autorizada à prestação dos serviços de administração de carteira  GESTOR  de títulos e valores mobiliários por meio d o Ato Declaratório número 5.968,  expedido em 10 de maio de 2000 (“GESTOR” e, quando ref erido  conjuntamente e indistintamente com o ADMINISTRADOR, os “Prestadores  de Serviços Essenciais”).</a:t>
            </a:r>
          </a:p>
          <a:p>
            <a:r>
              <a:t> O FUNDO, seus cotistas, os distribuidores de cotas por conta e ordem, seu  GESTOR, seu ADMINISTRADOR e os demais prestadores de serviço do  FUNDO e/ou da CLASSE obrigam-se a resolver, por meio de arbitragem, de  acordo com o Regulamento de Arbitragem da Câmara de Arbitragem do  Mercado da B3 (“Regulamento CAM B3” e “CAM B3”, respectivamente), toda  e qualquer disputa ou controvérsia que possa surgir entre eles, relacionada ou  oriunda, em especial, da aplicação, validade, eficácia, interpretação, violação  e seus ef eitos, das disposições contidas no Regulamento e seus Anexos, nas  normas editadas pela CVM que lhe sejam aplicáveis e nos instrumentos entre  si f irmados (“Arbitragem”).</a:t>
            </a:r>
          </a:p>
          <a:p>
            <a:r>
              <a:t> (i) A Arbitragem será de direito, com a aplicação das normas da República  Federativa do Brasil, terá sede no Município de São Paulo, será  Foro Aplicável conduzida em língua portuguesa e de f orma confidencial. O tribunal  arbitral será constituído por 3 (três) árbitros, sendo um deles  presidente, escolhidos nos termos do Regulamento CAM B3.</a:t>
            </a:r>
          </a:p>
          <a:p>
            <a:r>
              <a:t> (ii) As despesas processuais iniciais deverão ser rateadas entre as partes,  arcando cada polo processual com metade dos valores necessários,  sem prejuízo à possibilidade de adiantamento pelas partes  interessadas, resolvendo-se as indef inições nos termos do  Regulamento CAM B3. A sentença arbitral deverá determinar a  responsabilidade final pelas despesas de acordo com a sucumbência  de cada parte, as quais deverão incluir as taxas administrativas,  honorários de árbitros e de peritos e despesas com diligências  processuais e f ornecimento de garantias que sejam determinadas  expressamente pelo tribunal arbitral. É vedada a imposição de  honorários de sucumbência, bem como a determinação de indenização</a:t>
            </a:r>
          </a:p>
          <a:p>
            <a:r>
              <a:t>CNPJ 54871427000194 · Recompra e indenização · Condição: Documentos atuais selecionados no inventário por categoria/escopo; a data documental isolada não comprova vigência jurídica.</a:t>
            </a:r>
          </a:p>
          <a:p>
            <a:r>
              <a:t>CNPJ 54871427000194 · Recompra e indenização · Versão e prevalência: Documentos atuais selecionados no inventário por categoria/escopo; a data documental isolada não comprova vigência jurídica.</a:t>
            </a:r>
          </a:p>
          <a:p>
            <a:r>
              <a:t>CNPJ 54871427000194 · Recompra e indenização · Resumo do histórico: {"count": 2, "dates": ["2024-04-19", "2024-04-28"], "document_count": 2, "sources": [{"document_id": "670691", "title": "Regulamento", "reference_date": "2024-04-28", "version": "1", "page": "10-12", "url": "https://fnet.bmfbovespa.com.br/fnet/publico/visualizarDocumento?id=670691", "sha256": "bf16dd7f1a62d5cdbf2e2d54fef81783783f7310fbc99c3a8f00459bdf9d037b"}, {"document_id": "670689", "title": "Regulamento", "reference_date": "2024-04-19", "version": "1", "page": 10, "clause": "4.7.5", "url": "https://fnet.bmfbovespa.com.br/fnet/publico/visualizarDocumento?id=670689", "sha256": "891bc9bc5d87bbc02ec139077a84d2702eb81ea02035fb71d24f5b8366b94a0b"}], "reference": {"path": "history/54871427000194.json", "criterion_id": "repurchase", "total_count": 2, "preview_count": 2, "full_text_deferred": true, "sha256": "35d7cd99be50c7287c9fb675cf4f2e736002315295a225a9efa79c8d9186d874"}}</a:t>
            </a:r>
          </a:p>
          <a:p>
            <a:r>
              <a:t>CNPJ 60010416000112 · Recompra e indenização · Regulamento · ID 1051393 · 2025-10-09 · versão 1 · p. 10 · 4.4.5 · https://fnet.bmfbovespa.com.br/fnet/publico/visualizarDocumento?id=1051393</a:t>
            </a:r>
          </a:p>
          <a:p>
            <a:r>
              <a:t>CNPJ 60010416000112 · Recompra e indenização · Excerto da fonte:</a:t>
            </a:r>
          </a:p>
          <a:p>
            <a:r>
              <a:t>4.4.5. Caso um Direito Creditório endossado à Classe deixe de atender quaisquer Critérios de  Elegibilidade, quaisquer condições de endosso e/ou quaisquer declarações e garantias referentes  a esse Direito Creditório, conforme previsto no Contrato de Endosso, após seu endosso à Classe,  não haverá coobrigação nem direito de regresso da Classe contra o Endossante, o Administrador,  o Custodiante, o Gestor e/ou o Agente de Retenção/Cobrança, exceto em caso de má-fé, culpa  ou dolo comprovado, hipótese em que a parte que agiu com má-f é, culpa ou dolo comprovado  poderá ser responsabilizada pelas perdas incorridas pela Classe em relação aos respectivos  Direitos Creditórios. Se, entretanto, for constatado que um Direito Creditório endossado à Classe  não estava em conformidade com os Critérios de Elegibilidade, condições de endosso ou com as  declarações e garantias prestadas pelo Endossante no Contrato de Endosso, na respectiva data  de endosso, então o endosso desse Direito Creditório poderá ser objeto de resolução pela Classe.</a:t>
            </a:r>
          </a:p>
          <a:p>
            <a:r>
              <a:t> Nessa hipótese, a Classe terá o direito de resolver o endosso desse Direito Creditório, devolvendo-  o ao Endossante por valor a ser restituído à Classe. Adicionalmente, se f or constatado que um  Direito Creditório endossado à Classe não estava em conf ormidade com as declarações e  garantias prestadas pelo Agente de Retenção/Cobrança no Contrato de Endosso, na respectiva  data de endosso, então a Classe terá o direito de vender esse Direito Creditório ao Agente de  Retenção/Cobrança (opção de venda). A retrovenda ou a venda, conforme o caso, será realizada  de acordo com os termos, condições, formalidades e preços de recompra compulsória e opção de  venda detalhados no Contrato de Endosso.</a:t>
            </a:r>
          </a:p>
          <a:p>
            <a:r>
              <a:t>CNPJ 60010416000112 · Recompra e indenização · Regulamento · ID 1051393 · 2025-10-09 · versão 1 · p. 30 · 12.5.1 · https://fnet.bmfbovespa.com.br/fnet/publico/visualizarDocumento?id=1051393</a:t>
            </a:r>
          </a:p>
          <a:p>
            <a:r>
              <a:t>CNPJ 60010416000112 · Recompra e indenização · Excerto da fonte:</a:t>
            </a:r>
          </a:p>
          <a:p>
            <a:r>
              <a:t>12.5.1. Independentemente do acima disposto, na hipótese de venda de qualquer parte dos Direitos  Creditórios Elegíveis a terceiros, inclusive no caso de liquidação da Classe, o Agente de  Retenção/Cobrança terá o direito de receber uma remuneração, no dia em que a parte da carteira  de Direitos Creditórios Elegíveis f or efetivamente vendida (ou seja, no dia de seu f echamento  f inanceiro), correspondente ao RAC do valor do preço de venda dessa carteira (“Preço de Venda”),  multiplicado pelo número de anos restantes até o vencimento f inal e pagamento de cada Direito  Creditório Elegível na carteira; observado que, para f ins do cálculo da remuneração devida ao  Agente de Retenção/Cobrança nos termos deste item, o preço de venda de qualquer Direito  Creditório Inadimplido vendido nos termos deste item será equivalente a 0 (zero). Para evitar  qualquer dúvida, as Partes concordam que a remuneração estabelecida neste item não será  devida ao Agente de Retenção/Cobrança no caso de venda de Direitos Creditórios Elegíveis no  contexto de uma portabilidade da respectiva CCB para outra instituição f inanceira, ou na  ocorrência de um evento de recompra compulstória ou de um evento de opção de venda, de acordo  com os termos do respectivo Contrato de Endosso.</a:t>
            </a:r>
          </a:p>
          <a:p>
            <a:r>
              <a:t>CNPJ 60010416000112 · Recompra e indenização · Regulamento · ID 1051393 · 2025-10-09 · versão 1 · p. 11 · https://fnet.bmfbovespa.com.br/fnet/publico/visualizarDocumento?id=1051393</a:t>
            </a:r>
          </a:p>
          <a:p>
            <a:r>
              <a:t>CNPJ 60010416000112 · Recompra e indenização · Excerto da fonte:</a:t>
            </a:r>
          </a:p>
          <a:p>
            <a:r>
              <a:t>Anexo I ao Regulamento CLASSE ÚNICA DO MT I CONSIGNADO PRIVADO I FUNDO DE INVESTIMENTO EM DIREITOS CREDITÓRIOS RESPONSABILIDADE LIMITADA  com a transf erência, à Classe, de f orma definitiva, sem coobrigação do Endossante, da plena  titularidade desse Direito Creditório, juntamente com todos os direitos, privilégios, pref erências,  prerrogativas, garantias e ações a ele relacionados, bem como correção monetária, juros e  encargos, sem prejuízo do direito da Classe (i) de exigir a recompra compulsória do respectivo  Direito Creditório, de acordo com os termos do Contrato de Endosso; ou (ii) de vender Direitos  Creditórios ao Agente de Retenção/Cobrança (opção de venda), em ambos os casos estritamente  nos termos do Contrato de Endosso.</a:t>
            </a:r>
          </a:p>
          <a:p>
            <a:r>
              <a:t>CNPJ 60010416000112 · Recompra e indenização · Condição: Documentos atuais selecionados no inventário por categoria/escopo; a data documental isolada não comprova vigência jurídica.</a:t>
            </a:r>
          </a:p>
          <a:p>
            <a:r>
              <a:t>CNPJ 60010416000112 · Recompra e indenização · Versão e prevalência: Documentos atuais selecionados no inventário por categoria/escopo; a data documental isolada não comprova vigência jurídica.</a:t>
            </a:r>
          </a:p>
          <a:p>
            <a:r>
              <a:t>CNPJ 60010416000112 · Recompra e indenização · Resumo do histórico: {"count": 2, "dates": ["2025-03-20", "2025-10-09"], "document_count": 2, "sources": [{"document_id": "1051393", "title": "Regulamento", "reference_date": "2025-10-09", "version": "1", "page": "10-11", "url": "https://fnet.bmfbovespa.com.br/fnet/publico/visualizarDocumento?id=1051393", "sha256": "8469d613078ffd5a6c1d217885d8a397a16342c0b937ae4aa24b106505f233ae"}, {"document_id": "993786", "title": "Regulamento", "reference_date": "2025-03-20", "version": "1", "page": 10, "clause": "4.4.5", "url": "https://fnet.bmfbovespa.com.br/fnet/publico/visualizarDocumento?id=993786", "sha256": "fd0fdd369a195510d81f81f505195a0b09e5f43522a990afa7d58c4f872921c8"}], "reference": {"path": "history/60010416000112.json", "criterion_id": "repurchase", "total_count": 2, "preview_count": 2, "full_text_deferred": true, "sha256": "8e2bd813f4c51cf01f6bfaad164bafe69d2bbb192f753eac92da3a01c2e63046"}}</a:t>
            </a:r>
          </a:p>
          <a:p>
            <a:r>
              <a:t>CNPJ 62696791000193 · Recompra e indenização · Regulamento · ID 1143317 · 2026-03-20 · versão 1 · p. 16 · 5.1 · https://fnet.bmfbovespa.com.br/fnet/publico/visualizarDocumento?id=1143317</a:t>
            </a:r>
          </a:p>
          <a:p>
            <a:r>
              <a:t>CNPJ 62696791000193 · Recompra e indenização · Excerto da fonte:</a:t>
            </a:r>
          </a:p>
          <a:p>
            <a:r>
              <a:t>5.1 Os recursos recebidos pela Classe em razão da liquidação dos Direitos Creditórios do Agronegócio  e/ou dos Outros Ativos, a qualquer título, incluindo pagamento regular ou por excussão de garantia,  alienação, recompra, indenização pelo cedente e/ou desinvestimento de Direitos Creditórios do  Agronegócio e/ou dos Outros Ativos, poderão ser destinados à aquisição pela Classe de novos  Direitos Creditórios do Agronegócio e/ou dos Outros Ativos e/ou destinados ao resgate das Cotas,  conf orme decisão do Gestor e desde que observada a ordem de alocação de recursos.</a:t>
            </a:r>
          </a:p>
          <a:p>
            <a:r>
              <a:t>6 ORDEM DE ALOCAÇÃO DE RECURSOS</a:t>
            </a:r>
          </a:p>
          <a:p>
            <a:r>
              <a:t>CNPJ 62696791000193 · Recompra e indenização · Condição: Documentos atuais selecionados no inventário por categoria/escopo; a data documental isolada não comprova vigência jurídica.</a:t>
            </a:r>
          </a:p>
          <a:p>
            <a:r>
              <a:t>CNPJ 62696791000193 · Recompra e indenização · Versão e prevalência: Documentos atuais selecionados no inventário por categoria/escopo; a data documental isolada não comprova vigência jurídica.</a:t>
            </a:r>
          </a:p>
          <a:p>
            <a:r>
              <a:t>CNPJ 55563624000109 · Recompra e indenização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Recompra e indenização · Resumo do histórico: {"count": 1, "dates": ["2026-04-30"], "document_count": 1, "sources": [{"document_id": "1192614", "title": "Regulamento", "reference_date": "2026-04-30", "version": "1", "page": "14", "url": "https://fnet.bmfbovespa.com.br/fnet/publico/visualizarDocumento?id=1192614", "sha256": "f56e63ace0acde41d2f47fb48f1ac7f3f7df5e2d32de092d7c5e075a52516632"}], "reference": {"path": "history/55563624000109.json", "criterion_id": "repurchase", "total_count": 1, "preview_count": 1, "full_text_deferred": true, "sha256": "7835d573fb58a3c19adf5b8ecc2aee2bdbb9a88f7a0c0209b5f262b64c7522e3"}}</a:t>
            </a:r>
          </a:p>
          <a:p>
            <a:r>
              <a:t>CNPJ 62552447000120 · Recompra e indenização · Regulamento · ID 1200623 · 2026-05-21 · versão 1 · p. 14 · 4.14 · https://fnet.bmfbovespa.com.br/fnet/publico/visualizarDocumento?id=1200623</a:t>
            </a:r>
          </a:p>
          <a:p>
            <a:r>
              <a:t>CNPJ 62552447000120 · Recompra e indenização · Excerto da fonte:</a:t>
            </a:r>
          </a:p>
          <a:p>
            <a:r>
              <a:t>4.14 Os recursos recebidos pela Classe em razão da liquidação dos Direitos Creditórios, a qualquer título,  incluindo pagamento regular ou por excussão de garantia, alienação, recompra, indenização pelo  Endossante, poderão ser destinados à aquisição pela Classe de novos Direitos Creditórios e/ou  destinados à Amortização, conforme decisão do Gestor e desde que observada a ordem de alocação  de recursos def inida no item 8.1 abaixo.</a:t>
            </a:r>
          </a:p>
          <a:p>
            <a:r>
              <a:t>Ativos Recuperados</a:t>
            </a:r>
          </a:p>
          <a:p>
            <a:r>
              <a:t>CNPJ 62552447000120 · Recompra e indenização · Regulamento · ID 1200623 · 2026-05-21 · versão 1 · p. 35 · https://fnet.bmfbovespa.com.br/fnet/publico/visualizarDocumento?id=1200623</a:t>
            </a:r>
          </a:p>
          <a:p>
            <a:r>
              <a:t>CNPJ 62552447000120 · Recompra e indenização · Excerto da fonte:</a:t>
            </a:r>
          </a:p>
          <a:p>
            <a:r>
              <a:t>ativos desses emissores, causando perdas à Classe e ao Cotista. Além disso, a f alta de capacidade ou disposição de pagar por qualquer dos emissores dos Ativos Financeiros de Liquidez ou das contrapartes nas transações que compõem a Carteira causará perdas à Classe, e o que também poderá incorrer em custos para f ins de recuperação de seus recebíveis.</a:t>
            </a:r>
          </a:p>
          <a:p>
            <a:r>
              <a:t>(v) Riscos associados aos Devedores: no caso de Devedores no âmbito das operações de consignado privado, a sua capacidade de pagamento poderá ser af etada se, por exemplo, o Devedor tiver o seu contrato de emprego rescindido ou em virtude de decisão judicial, o Devedor for obrigado a pagar alimentos, que têm prioridade sobre o empréstimo para f ins de desconto na f 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 etar a rentabilidade da Classe. Já no caso de Devedores no âmbito das operações de Saque-aniversário, como os Direitos Creditórios a serem endossados à Classe serão descontados pelo FGTS da remuneração do Devedor, na ocorrência de qualquer evento que, nos termos da legislação aplicável, determine o pagamento antecipado do Saque-aniversário ao Devedor, a exemplo do falecimento do Devedor, dentre outros, as parcelas do Saque- aniversário serão pagas antecipadamente e a Classe deverá utilizar tais montantes no pré-pagamento dos Direitos Creditórios. Nesta hipótese, a Classe poderá não encontrar Direitos Creditórios disponíveis para serem adquiridos pela Classe, o que poderá af etar a rentabilidade da Classe.</a:t>
            </a:r>
          </a:p>
          <a:p>
            <a:r>
              <a:t>Risco de liquidez</a:t>
            </a:r>
          </a:p>
          <a:p>
            <a:r>
              <a:t>(i) Risco de liquidez: consiste no risco de redução ou inexistência de demanda pelos ativos que compõem a Classe nos respectivos mercados em que são negociados, devido às condições específicas desses ativos ou aos mercados em que são negociados. Devido a esses riscos, o Gestor poderá encontrar dificuldades em liquidar posições ou negociar esses ativos pelo preço e prazo desejados, de acordo com a estratégia de gestão adotada pela Classe, que permanecerá exposto, durante o período de baixa liquidez, aos riscos associados a esses ativos e posições assumidas em mercados de derivativos, se houver, que poderão até exigir que o Gestor aceite descontos em seus preços para realizar negociações no mercado. Esses f atores poderão prejudicar o pagamento de Amortizações ao Cotista, nos valores e dentro dos termos aqui estabelecidos.</a:t>
            </a:r>
          </a:p>
          <a:p>
            <a:r>
              <a:t>(ii) Riscos do mercado secundário: A Classe é constituída sob a f orma de condomínio fechado, de modo que as Cotas somente serão resgatadas em virtude da liquidação da Classe. Uma vez que o Prazo de Duração da Classe é indeterminado, o Cotista titular das Cotas não terá liquidez em seu investimento na Classe, exceto</a:t>
            </a:r>
          </a:p>
          <a:p>
            <a:r>
              <a:t>(a) por ocasião das Amortizações e dos resgates, nos termos deste Regulamento; (b) por meio da alienação de suas Cotas no mercado secundário; ou (c) na liquidação antecipada do FUNDO ou da Classe.</a:t>
            </a:r>
          </a:p>
          <a:p>
            <a:r>
              <a:t>Além disso, atualmente, o mercado secundário de cotas de fundos de investimento apresenta baixa liquidez, o que pode dificultar a venda das Cotas ou ocasionar a obtenção de um preço de venda que cause perda de patrimônio ao Cotista. Não há qualquer garantia do Administrador, do Gestor, da consultora ou do Custodiante em relação à possibilidade de venda das Cotas no mercado secundário ou ao preço obtido por elas, ou mesmo garantia de saída ao Cotista.</a:t>
            </a:r>
          </a:p>
          <a:p>
            <a:r>
              <a:t>Riscos específicos</a:t>
            </a:r>
          </a:p>
          <a:p>
            <a:r>
              <a:t>(i)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ficar inadimplente e, consequentemente, não haverá repasse à Classe do respectivo Direito Creditório, o que poderá resultar em perdas f inanceiras à Classe e aos Cotistas. Para os f ins deste Regulamento, “Empregador” signif ica a empresa com qual o Devedor mantém vínculo empregatício registrado junto à CTPS.</a:t>
            </a:r>
          </a:p>
          <a:p>
            <a:r>
              <a:t>(ii) Risco do Empregador não efetuar o desconto em folha: o repasse dos recursos oriundos dos Direitos Creditórios à Classe depende da realização, pelo Empregador, da escrituração da Consignação a ser</a:t>
            </a:r>
          </a:p>
          <a:p>
            <a:r>
              <a:t>CNPJ 62552447000120 · Recompra e indenização · Condição: Documentos atuais selecionados no inventário por categoria/escopo; a data documental isolada não comprova vigência jurídica.</a:t>
            </a:r>
          </a:p>
          <a:p>
            <a:r>
              <a:t>CNPJ 62552447000120 · Recompra e indenização · Versão e prevalência: Documentos atuais selecionados no inventário por categoria/escopo; a data documental isolada não comprova vigência jurídica.</a:t>
            </a:r>
          </a:p>
          <a:p>
            <a:r>
              <a:t>CNPJ 63953620000165 · Recompra e indenização · Anexo ao Regulamento · ID 1222863 · 2026-06-02 · versão 1 · p. 7 · 4.17.1 · https://fnet.bmfbovespa.com.br/fnet/publico/visualizarDocumento?id=1222863</a:t>
            </a:r>
          </a:p>
          <a:p>
            <a:r>
              <a:t>CNPJ 63953620000165 · Recompra e indenização · Excerto da fonte:</a:t>
            </a:r>
          </a:p>
          <a:p>
            <a:r>
              <a:t>4.17.1 Durante o Período de Investimento, os recursos recebidos pela Classe em razão da liquidação dos  Direitos Creditórios, a qualquer título, incluindo pagamento regular ou por excussão de garantia,  alienação, recompra, indenização pelo Cedente e/ou desinvestimento de Ativo Recuperado, poderão  ser destinados à aquisição pela Classe de novos Direitos Creditórios e/ou destinados à Amortização das  Cotas, observado que (i) a aquisição de novos Direitos Creditórios dependerá, em qualquer hipótese, de  oferta realizada pelo Endossante; e (ii) a destinação dos recursos à Amortização das Cotas será realizada  nos termos do item 7.2, observada a ordem de alocação definida no item 8.1 do presente Anexo.</a:t>
            </a:r>
          </a:p>
          <a:p>
            <a:r>
              <a:t>CNPJ 63953620000165 · Recompra e indenização · Anexo ao Regulamento · ID 1222863 · 2026-06-02 · versão 1 · p. 7 · 4.17.2 · https://fnet.bmfbovespa.com.br/fnet/publico/visualizarDocumento?id=1222863</a:t>
            </a:r>
          </a:p>
          <a:p>
            <a:r>
              <a:t>CNPJ 63953620000165 · Recompra e indenização · Excerto da fonte:</a:t>
            </a:r>
          </a:p>
          <a:p>
            <a:r>
              <a:t>4.17.2 Encerrado o Período de Investimento, os recursos recebidos pela Classe em razão da liquidação dos  Direitos Creditórios, a qualquer título, incluindo pagamento regular ou por excussão de garantia,  alienação, recompra, indenização pelo Cedente e/ou desinvestimento de Ativo Recuperado, não  poderão ser destinados à aquisição pela Classe de novos Direitos Creditórios, aplicando-se, de resto, o  disposto no item 8.1 abaixo no que se refere à ordem de alocação de tais recursos.</a:t>
            </a:r>
          </a:p>
          <a:p>
            <a:r>
              <a:t>CNPJ 63953620000165 · Recompra e indenização · Anexo ao Regulamento · ID 1222863 · 2026-06-02 · versão 1 · p. 26 · https://fnet.bmfbovespa.com.br/fnet/publico/visualizarDocumento?id=1222863</a:t>
            </a:r>
          </a:p>
          <a:p>
            <a:r>
              <a:t>CNPJ 63953620000165 · Recompra e indenização · Excerto da fonte:</a:t>
            </a:r>
          </a:p>
          <a:p>
            <a:r>
              <a:t>Complemento I  (Ao Anexo I)  FATORES DE RISCO APLICÁVEIS À CLASSE CONSIGNADO PRIVADO DO MT GLOBAL FUNDO DE INVESTIMENTO EM  DIREITOS CREDITÓRIOS RESPONSABILIDADE LIMITADA  Risco de Crédito</a:t>
            </a:r>
          </a:p>
          <a:p>
            <a:r>
              <a:t> (i) Riscos associados aos Devedores: os Direitos Creditórios a serem endossados à Classe serão descontados  pela Dataprev da remuneração do Devedor. A capacidade de pagamento do Devedor poderá ser afetada se,  por exemplo, o Devedor tiver o seu contrato de emprego rescindido ou em virtude de decisão judicial, o  Devedor for obrigado a pagar alimentos, que têm prioridade sobre o empréstimo para fins de desconto na  folha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afetar a rentabilidade da Classe.</a:t>
            </a:r>
          </a:p>
          <a:p>
            <a:r>
              <a:t> (ii)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referido Devedor poderá  ficar inadimplente e, consequentemente, não haverá repasse à Classe do respectivo Direito Creditório, o  que poderá resultar em perdas financeiras à Classe e aos Cotistas.</a:t>
            </a:r>
          </a:p>
          <a:p>
            <a:r>
              <a:t> (iii) Risco do Empregador não efetuar o desconto em folha: o repasse dos recursos oriundos dos Direitos  Creditórios à Classe depende da realização, pelo Empregador, da Escrituração e do desconto na respectiva  folha de pagamento do Devedor. Na hipótese do Empregador deixar de realizar a Escrituração ou os  descontos na folha de pagamento, não haverá repasse de recursos à Classe, podendo causar prejuízos à  Classe e aos Cotistas.</a:t>
            </a:r>
          </a:p>
          <a:p>
            <a:r>
              <a:t> (iv) Risco de perda do vínculo empregatício com o Empregador: caso o Devedor perca o vínculo empregatício  com o Empregador, não haverá remuneração e folha de pagamento para realização dos descontos para  pagamento dos Direitos Creditórios. Neste caso, não obstante a possibilidade do Agente de  Retenção/Cobrança realizar a cobrança ativa dos Direitos Creditórios diretamente do Devedor, a ausência  de remuneração poderá deixar o Devedor inadimplente perante a Classe até que o seu vínculo empregatício  seja retomado e seja efetuado o procedimento operacional para que a CCB seja aditada e/ou seja realizado  o Processo de Reinicialização. Tais situações poderão resultar em prejuízos à Classe e aos Cotistas.</a:t>
            </a:r>
          </a:p>
          <a:p>
            <a:r>
              <a:t> Riscos Operacionais</a:t>
            </a:r>
          </a:p>
          <a:p>
            <a:r>
              <a:t> (i) Risco de irregularidade dos Documentos Comprobatórios e/ou Documentos Suporte: o Gestor, ou  terceiro por ele contratado, deverá realizar a verificação da regularidade dos Documentos Comprobatórios  e Documentos Suporte. A Carteira poderá conter Direitos Creditórios com documentação irregular, o que  poderá impedir que a Classe exerça plenamente as prerrogativas derivadas da titularidade dos Direitos  Creditórios. O Gestor poderá contratar empresas especializadas, com comprovada competência e  adequação, para realizar a guarda física, manutenção, armazenamento, organização e digitalização dos  Documentos Comprobatórios e Documentos Suporte, que estarão sob total responsabilidade do Gestor,  permanecendo as empresas como agentes depositários dos Documentos Comprobatórios e Documentos  Suporte.</a:t>
            </a:r>
          </a:p>
          <a:p>
            <a:r>
              <a:t> (ii) Risco operacional da Dataprev e da CEF: o empréstimo contraído pelos Devedores é pago por meio de  desconto na folha de pagamento feito pela Dataprev e pela CEF, conforme aplicável. É possível que os  rendimentos dos Devedores sejam atrasados ou não pagos devido a questões operacionais envolvendo a  Dataprev e/ou a CEF. Nesse caso, a Carteira poderá sofrer, já que não receberá automaticamente, e  também poderá ter dificuldades para receber, a qualquer momento, os recursos decorrentes dos Direitos  Creditórios.</a:t>
            </a:r>
          </a:p>
          <a:p>
            <a:r>
              <a:t>CNPJ 63953620000165 · Recompra e indenização · Condição: Documentos atuais selecionados no inventário por categoria/escopo; a data documental isolada não comprova vigência jurídica.</a:t>
            </a:r>
          </a:p>
          <a:p>
            <a:r>
              <a:t>CNPJ 63953620000165 · Recompra e indenização · Versão e prevalência: Documentos atuais selecionados no inventário por categoria/escopo; a data documental isolada não comprova vigência jurídica.</a:t>
            </a:r>
          </a:p>
          <a:p>
            <a:r>
              <a:t>CNPJ 63953620000165 · Recompra e indenização · Resumo do histórico: {"count": 8, "dates": ["2026-04-28", "2026-05-08", "2026-05-15"], "document_count": 3, "sources": [{"document_id": "1327859", "title": "Demonstrações Financeiras - Fusão, cisão e incorporação", "reference_date": "2026-05-15", "version": "1", "page": 16, "url": "https://fnet.bmfbovespa.com.br/fnet/publico/visualizarDocumento?id=1327859", "sha256": "dca1c68babb97f887528c3e2e47596a9c30f507b067981a35655b2f2da9c8054"}, {"document_id": "1298691", "title": "Demonstrações Financeiras - Fusão, cisão e incorporação", "reference_date": "2026-05-08", "version": "1", "page": 16, "url": "https://fnet.bmfbovespa.com.br/fnet/publico/visualizarDocumento?id=1298691", "sha256": "58c570d9b8d4d265330d3db3ea81c435b8e44a6dab4002aa37790652a1ee9819"}, {"document_id": "1282180", "title": "Demonstrações Financeiras - Fusão, cisão e incorporação", "reference_date": "2026-04-28", "version": "1", "page": 16, "url": "https://fnet.bmfbovespa.com.br/fnet/publico/visualizarDocumento?id=1282180", "sha256": "afaaa0e6809be4385e5bdb6c911aac582032c5bdbac3d7750234bf9eaf00438a"}], "reference": {"path": "history/63953620000165.json", "criterion_id": "repurchase", "total_count": 8, "preview_count": 3, "full_text_deferred": true, "sha256": "a7b89077f5e21098c2d601c303faabc3ff6b9729f89d8afecdc60fe1404720c1"}}</a:t>
            </a:r>
          </a:p>
          <a:p>
            <a:r>
              <a:t>CNPJ 54871427000194 · Coobrigação e retenção de risco · Regulamento · ID 670691 · 28/04/2024 · versão Regulamento — referência 28/04/2024 · p. 10 · Anexo I, 4.7.2 e 4.7.4 · https://fnet.bmfbovespa.com.br/fnet/publico/visualizarDocumento?id=670691</a:t>
            </a:r>
          </a:p>
          <a:p>
            <a:r>
              <a:t>CNPJ 54871427000194 · Coobrigação e retenção de risco · Excerto da fonte:</a:t>
            </a:r>
          </a:p>
          <a:p>
            <a:r>
              <a:t>4.7.2 Caso um Direito Creditório cedido à Classe deixe de atender quaisquer Critérios de Elegibilidade e/ou quaisquer declarações e garantias ref erentes a esse Direito Creditório, conf orme previsto no respectivo Contrato de Endosso, após seu endosso à Classe, não haverá coobrigação nem direito de regresso da Classe contra o ADMINISTRADOR, o CUSTODIANTE o GESTOR e/ou o Endossante. 4.7.3 A f ormalização de cada aquisição de Direitos Creditórios pela Classe deverá incluir o endosso eletrônico em preto de cada CCB representativa do respectivo Direito Creditório em f avor da Classe, inclusive, mas não necessariamente, por meio d a celebração de Termos de Endosso (os quais, para f ins de esclarecimento, poderão ser levados a registro junto aos cartórios de Registro de Títulos e Documentos competentes, a exclusivo critério do GESTOR, em casos excepcionais em que tal registro possa ser considerado necessário para f ins de ef icácia das respectivas cessões perante terceiros, tendo em vista a transmiss ão das CCB mediante endosso em preto, nos termos deste Regulamento e da legislação aplicável). 4.7.4 Após a f ormalizaçã</a:t>
            </a:r>
          </a:p>
          <a:p>
            <a:r>
              <a:t>CNPJ 54871427000194 · Coobrigação e retenção de risco · Regulamento · ID 670691 · 28/04/2024 · versão Regulamento — referência 28/04/2024 · p. 13 · Anexo I, 4.18 · https://fnet.bmfbovespa.com.br/fnet/publico/visualizarDocumento?id=670691</a:t>
            </a:r>
          </a:p>
          <a:p>
            <a:r>
              <a:t>CNPJ 54871427000194 · Coobrigação e retenção de risco · Excerto da fonte:</a:t>
            </a:r>
          </a:p>
          <a:p>
            <a:r>
              <a:t>4.18 Exceto na medida em que eventualmente previsto nos Contratos de Cessão e/ou em instrumentos eventualmente celebrados entre a Classe e os Endossantes, os Endossantes não serão responsáveis em caso de eventual inadimplemento dos Direitos Creditórios por eles cedidos, sendo responsáveis, não obstante, apenas pela existência, certeza, conteúdo, exatidão, veracidade, legitimidade, validade e correta f ormalização dos Direitos Creditórios que cederem à Classe, nos termos da legislação aplicável. 4.19 A Classe, o ADMINISTRADOR e o GESTOR, bem como seus controladores, sociedades coligadas, controladas ou sob controle comum, e/ou subsidiárias, não respondem pela certeza, liquidez, exigibilidade, conteúdo, exatidão, veracidade, legitimidade, validade e/ou correta f ormalização dos Direitos Creditórios adquiridos pela Classe, tampouco pela solvência dos Devedores e/ou Endossantes dos respectivos Direitos Creditórios. 4.20 Sem prejuízo do disposto no item 4.19 acima e, observado o disposto no item Erro! Fonte de referência não encontrada., o CUSTODIANTE f oi contratado pelo GESTOR para verificar e validar, na Data de Aquisição dos Direitos Creditórios pela Classe, o atendimento dos Direitos</a:t>
            </a:r>
          </a:p>
          <a:p>
            <a:r>
              <a:t>CNPJ 54871427000194 · Coobrigação e retenção de risco · Versão e prevalência: Leitura específica das cláusulas indicadas; condições e conflitos preservados. Seleção documental atual não comprova vigência jurídica por data isolada.</a:t>
            </a:r>
          </a:p>
          <a:p>
            <a:r>
              <a:t>CNPJ 54871427000194 · Coobrigação e retenção de risco · Resumo do histórico: {"count": 2, "dates": ["2024-04-19", "2024-04-28"], "document_count": 2, "sources": [{"document_id": "670691", "title": "Regulamento", "reference_date": "2024-04-28", "version": "1", "page": "10-12", "url": "https://fnet.bmfbovespa.com.br/fnet/publico/visualizarDocumento?id=670691", "sha256": "bf16dd7f1a62d5cdbf2e2d54fef81783783f7310fbc99c3a8f00459bdf9d037b"}, {"document_id": "670689", "title": "Regulamento", "reference_date": "2024-04-19", "version": "1", "page": 10, "clause": "4.7.3", "url": "https://fnet.bmfbovespa.com.br/fnet/publico/visualizarDocumento?id=670689", "sha256": "891bc9bc5d87bbc02ec139077a84d2702eb81ea02035fb71d24f5b8366b94a0b"}], "reference": {"path": "history/54871427000194.json", "criterion_id": "coobligation", "total_count": 2, "preview_count": 2, "full_text_deferred": true, "sha256": "35d7cd99be50c7287c9fb675cf4f2e736002315295a225a9efa79c8d9186d874"}}</a:t>
            </a:r>
          </a:p>
          <a:p>
            <a:r>
              <a:t>CNPJ 60010416000112 · Coobrigação e retenção de risco · Regulamento · ID 1051393 · 09/10/2025 · versão Regulamento09/10/2025 · p. 10 · AnexoI4.4.5 · https://fnet.bmfbovespa.com.br/fnet/publico/visualizarDocumento?id=1051393</a:t>
            </a:r>
          </a:p>
          <a:p>
            <a:r>
              <a:t>CNPJ 60010416000112 · Coobrigação e retenção de risco · Excerto da fonte:</a:t>
            </a:r>
          </a:p>
          <a:p>
            <a:r>
              <a:t>4.4.5. Caso um Direito Creditório endossado à Classe deixe de atender quaisquer Critérios de Elegibilidade, quaisquer condições de endosso e/ou quaisquer declarações e garantias referentes a esse Direito Creditório, conforme previsto no Contrato de Endosso, após seu endosso à Classe, não haverá coobrigação nem direito de regresso da Classe contra o Endossante, o Administrador, o Custodiante, o Gestor e/ou o Agente de Retenção/Cobrança, exceto em caso de má-fé, culpa ou dolo comprovado, hipótese em que a parte que agiu com má-f é, culpa ou dolo comprovado</a:t>
            </a:r>
          </a:p>
          <a:p>
            <a:r>
              <a:t>CNPJ 60010416000112 · Coobrigação e retenção de risco · Regulamento · ID 1051393 · 09/10/2025 · versão Regulamento09/10/2025 · p. 11 · AnexoI4.4.7 · https://fnet.bmfbovespa.com.br/fnet/publico/visualizarDocumento?id=1051393</a:t>
            </a:r>
          </a:p>
          <a:p>
            <a:r>
              <a:t>CNPJ 60010416000112 · Coobrigação e retenção de risco · Excerto da fonte:</a:t>
            </a:r>
          </a:p>
          <a:p>
            <a:r>
              <a:t>sem coobrigação do Endossante, da plena titularidade desse Direito Creditório, juntamente com todos os direitos, privilégios, pref erências, prerrogativas, garantias e ações a ele relacionados, bem como correção monetária, juros e encargos, sem prejuízo do direito da Classe (i) de exigir a recompra compulsória do respectivo Direito Creditório, de acordo com os termos do Contrato de Endosso; ou (ii) de vender Direitos Creditórios ao Agente de Retenção/Cobrança (opção de venda), em ambos os casos estritamente nos termos do Contrato de Endosso.</a:t>
            </a:r>
          </a:p>
          <a:p>
            <a:r>
              <a:t>CNPJ 60010416000112 · Coobrigação e retenção de risco · Versão e prevalência: Leitura específica das cláusulas indicadas; condições e conflitos preservados. Seleção documental atual não comprova vigência jurídica por data isolada.</a:t>
            </a:r>
          </a:p>
          <a:p>
            <a:r>
              <a:t>CNPJ 60010416000112 · Coobrigação e retenção de risco · Resumo do histórico: {"count": 2, "dates": ["2025-03-20", "2025-10-09"], "document_count": 2, "sources": [{"document_id": "1051393", "title": "Regulamento", "reference_date": "2025-10-09", "version": "1", "page": "10-11", "url": "https://fnet.bmfbovespa.com.br/fnet/publico/visualizarDocumento?id=1051393", "sha256": "8469d613078ffd5a6c1d217885d8a397a16342c0b937ae4aa24b106505f233ae"}, {"document_id": "993786", "title": "Regulamento", "reference_date": "2025-03-20", "version": "1", "page": 10, "clause": "4.4.5", "url": "https://fnet.bmfbovespa.com.br/fnet/publico/visualizarDocumento?id=993786", "sha256": "fd0fdd369a195510d81f81f505195a0b09e5f43522a990afa7d58c4f872921c8"}], "reference": {"path": "history/60010416000112.json", "criterion_id": "coobligation", "total_count": 2, "preview_count": 2, "full_text_deferred": true, "sha256": "8e2bd813f4c51cf01f6bfaad164bafe69d2bbb192f753eac92da3a01c2e63046"}}</a:t>
            </a:r>
          </a:p>
          <a:p>
            <a:r>
              <a:t>CNPJ 62696791000193 · Coobrigação e retenção de risco · Regulamento · ID 1143317 · 2026-03-20 · versão 1 · p. 11 · 4.7.3 · https://fnet.bmfbovespa.com.br/fnet/publico/visualizarDocumento?id=1143317</a:t>
            </a:r>
          </a:p>
          <a:p>
            <a:r>
              <a:t>CNPJ 62696791000193 · Coobrigação e retenção de risco · Excerto da fonte:</a:t>
            </a:r>
          </a:p>
          <a:p>
            <a:r>
              <a:t>4.7.3 Na hipótese de eventuais Direitos Creditórios do Agronegócio elegíveis deixarem de atender a  qualquer Critério de Elegibilidade após sua aquisição pela Classe, tal f ato não será entendido  como um desenquadramento da carteira, tampouco haverá direito de regresso contra o  Administrador e/ou o Gestor.</a:t>
            </a:r>
          </a:p>
          <a:p>
            <a:r>
              <a:t> Limites de concentração aplicáveis aos Direitos Creditórios do Agronegócio e fundos de investimento  em Direitos Creditórios do Agronegócio investidos pela Classe</a:t>
            </a:r>
          </a:p>
          <a:p>
            <a:r>
              <a:t>CNPJ 62696791000193 · Coobrigação e retenção de risco · Regulamento · ID 1143317 · 2026-03-20 · versão 1 · p. 11 · 4.9 · https://fnet.bmfbovespa.com.br/fnet/publico/visualizarDocumento?id=1143317</a:t>
            </a:r>
          </a:p>
          <a:p>
            <a:r>
              <a:t>CNPJ 62696791000193 · Coobrigação e retenção de risco · Excerto da fonte:</a:t>
            </a:r>
          </a:p>
          <a:p>
            <a:r>
              <a:t>4.9 Nos termos do Art. 45 do Anexo Normativo II da Resolução CVM 175, a Classe poderá ter até 100%  (cem por cento) de seu Patrimônio Líquido alocado em Direitos Creditórios do Agronegócio, devidos  por um mesmo Devedor e/ou de responsabilidade ou coobrigação de Devedores de um mesmo grupo</a:t>
            </a:r>
          </a:p>
          <a:p>
            <a:r>
              <a:t>CNPJ 62696791000193 · Coobrigação e retenção de risco · Regulamento · ID 1143317 · 2026-03-20 · versão 1 · p. 41 · 7.1 · https://fnet.bmfbovespa.com.br/fnet/publico/visualizarDocumento?id=1143317</a:t>
            </a:r>
          </a:p>
          <a:p>
            <a:r>
              <a:t>CNPJ 62696791000193 · Coobrigação e retenção de risco · Excerto da fonte:</a:t>
            </a:r>
          </a:p>
          <a:p>
            <a:r>
              <a:t>7.1. Risco de Crédito relativo aos Direitos Creditórios do Agronegócio. Decorre da capacidade dos  Devedores e/ou coobrigados, conforme aplicável, de honrarem seus compromissos pontual e  integralmente, conforme contratados. A Classe sof rerá o impacto do inadimplemento dos  Direitos Creditórios do Agronegócio detidos em Carteira que estejam vencidos e não pagos e  do não cumprimento, pelos Devedores e/ou coobrigados, conf orme aplicável, de suas  obrigações nos termos dos respectivos instrumentos. A Classe somente procederá ao resgate  das Cotas em moeda corrente nacional na medida em que os Direitos Creditórios do  Agronegócio sejam pagos pelos Devedores e/ou coobrigados, conforme aplicável, e desde  que os respectivos valores sejam transferidos à Classe, não havendo garantia de que o resgate  das Cotas ocorrerá integralmente conf orme estabelecido neste Regulamento, Anexo I e  demais documentos que o integrem, conforme aplicável. Nessas hipóteses, não será devido  pela Classe, pelo pelo Administrador, pelo Gestor e/ou pelo Custodiante, qualquer multa ou  penalidade, de qualquer natureza. Em caso de instauração de pedido de f alência, recuperação  judicial, de plano de recuperação extrajudicial ou qualquer outro procedimento de insolvência  dos Devedores e/ou coobrigados, conforme aplicável, a Classe poderá não receber os  pagamentos dos Direitos Creditórios do Agronegócio que compõem sua Carteira, o que poderá  af etar adversamente os resultados da Classe.</a:t>
            </a:r>
          </a:p>
          <a:p>
            <a:r>
              <a:t>CNPJ 62696791000193 · Coobrigação e retenção de risco · Condição: Documentos atuais selecionados no inventário por categoria/escopo; a data documental isolada não comprova vigência jurídica.</a:t>
            </a:r>
          </a:p>
          <a:p>
            <a:r>
              <a:t>CNPJ 62696791000193 · Coobrigação e retenção de risco · Versão e prevalência: Documentos atuais selecionados no inventário por categoria/escopo; a data documental isolada não comprova vigência jurídica.</a:t>
            </a:r>
          </a:p>
          <a:p>
            <a:r>
              <a:t>CNPJ 55563624000109 · Coobrigação e retenção de risco · Demonstrações Financeiras · ID 1178840 · 2026-01-31 · versão 1 · p. 21 · https://fnet.bmfbovespa.com.br/fnet/publico/visualizarDocumento?id=1178840</a:t>
            </a:r>
          </a:p>
          <a:p>
            <a:r>
              <a:t>CNPJ 55563624000109 · Coobrigação e retenção de risco · Excerto da fonte:</a:t>
            </a:r>
          </a:p>
          <a:p>
            <a:r>
              <a:t>ii) Risco de sistemas. Dada a complexidade operacional própria dos fundos de  investimento em direitos creditórios, não há garantia de que as trocas de informações  entre os sistemas eletrônicos do Custodiante, da Administradora, do Gestor, da  Classe e, quando aplicável, do endossante, dos devedores e/ou coobrigados,  conforme aplicável, se darão livres de erros. Caso qualquer desses riscos venha a  se materializar, a aquisição, cobrança ou realização dos direitos creditórios poderá  ser adversamente afetada, prejudicando o desempenho da Classe.</a:t>
            </a:r>
          </a:p>
          <a:p>
            <a:r>
              <a:t>CNPJ 55563624000109 · Coobrigação e retenção de risco · Condição: Trechos do documento específico identificado com data mais recente; vigência jurídica não inferida.</a:t>
            </a:r>
          </a:p>
          <a:p>
            <a:r>
              <a:t>CNPJ 55563624000109 · Coobrigação e retenção de risco · Versão e prevalência: Trechos do documento específico identificado com data mais recente; vigência jurídica não inferida.</a:t>
            </a:r>
          </a:p>
          <a:p>
            <a:r>
              <a:t>CNPJ 55563624000109 · Coobrigação e retenção de risco · Resumo do histórico: {"count": 1, "dates": ["2025-01-31"], "document_count": 1, "sources": [{"document_id": "891861", "title": "Demonstrações Financeiras", "reference_date": "2025-01-31", "version": "1", "page": 21, "url": "https://fnet.bmfbovespa.com.br/fnet/publico/visualizarDocumento?id=891861", "sha256": "e9cb9e6ddbe505fe068cfcac33605165a98313489de0d3ce6d4d238263c3f3e7"}], "reference": {"path": "history/55563624000109.json", "criterion_id": "coobligation", "total_count": 1, "preview_count": 1, "full_text_deferred": true, "sha256": "7835d573fb58a3c19adf5b8ecc2aee2bdbb9a88f7a0c0209b5f262b64c7522e3"}}</a:t>
            </a:r>
          </a:p>
          <a:p>
            <a:r>
              <a:t>CNPJ 62552447000120 · Coobrigação e retenção de risco · Regulamento · ID 1200623 · 21/05/2026 · versão Consolidado21/05/2026 aprovado pelo ato1200625 · p. 13 · AnexoI4.6.3–4.6.4 · https://fnet.bmfbovespa.com.br/fnet/publico/visualizarDocumento?id=1200623</a:t>
            </a:r>
          </a:p>
          <a:p>
            <a:r>
              <a:t>CNPJ 62552447000120 · Coobrigação e retenção de risco · Excerto da fonte:</a:t>
            </a:r>
          </a:p>
          <a:p>
            <a:r>
              <a:t>4.6.4 Após a formalização, o endosso de um Direito Creditório Consignado Privado, Direito Creditório FGTS e Direito Creditório Refinanciamento Livre à Classe será irrevogável e irretratável, com a transf erência, à Classe, de f orma def initiva, sem coobrigação do Endossante, da plena titularidade desse Direito Creditório, juntamente com todos os direitos, privilégios, preferências, prerrogativas, garantias e ações a ele relacionados, bem como correção monetária, juros e encargos, sem prejuízo do direito da Classe (i) de exigir a resolução do endosso do respectivo D</a:t>
            </a:r>
          </a:p>
          <a:p>
            <a:r>
              <a:t>CNPJ 62552447000120 · Coobrigação e retenção de risco · Regulamento · ID 1200623 · 21/05/2026 · versão Consolidado21/05/2026 aprovado pelo ato1200625 · p. 16 · AnexoI4.22 · https://fnet.bmfbovespa.com.br/fnet/publico/visualizarDocumento?id=1200623</a:t>
            </a:r>
          </a:p>
          <a:p>
            <a:r>
              <a:t>CNPJ 62552447000120 · Coobrigação e retenção de risco · Excerto da fonte:</a:t>
            </a:r>
          </a:p>
          <a:p>
            <a:r>
              <a:t>4.22 Exceto na medida em que eventualmente previsto no s Contratos de Endosso e/ou em instrumentos eventualmente celebrados entre a Classe e o Endossante e/ou o Agente de Retenção e Cobrança, conf orme aplicável, o Endossante e/ou o Agente de Retenção e Cobrança não serão responsáveis em caso de eventual inadimplemento dos Direitos Creditórios . 4.23 A Classe, o Administrador e o Gestor, bem como seus controladores, sociedades coligadas, controladas ou sob controle comum, e/ou subsidiárias, não respondem pela certeza, liquidez, exigibilidade, conteúdo, exatidão, veracidade, legitimidade, validade e/ou co</a:t>
            </a:r>
          </a:p>
          <a:p>
            <a:r>
              <a:t>CNPJ 62552447000120 · Coobrigação e retenção de risco · Versão e prevalência: Leitura específica das cláusulas indicadas; condições e conflitos preservados. Seleção documental atual não comprova vigência jurídica por data isolada.</a:t>
            </a:r>
          </a:p>
          <a:p>
            <a:r>
              <a:t>CNPJ 63953620000165 · Coobrigação e retenção de risco · Anexo ao Regulamento · ID 1222863 · 02/06/2026 · versão AnexoConsignadoPrivado02/06/2026 · p. 6 · 4.8,4.10.3 · https://fnet.bmfbovespa.com.br/fnet/publico/visualizarDocumento?id=1222863</a:t>
            </a:r>
          </a:p>
          <a:p>
            <a:r>
              <a:t>CNPJ 63953620000165 · Coobrigação e retenção de risco · Excerto da fonte:</a:t>
            </a:r>
          </a:p>
          <a:p>
            <a:r>
              <a:t>4.10.3 Não haverá coobrigação nem direito de regresso da Classe contra o Endossante, o Administrador, o Custodiante, o Gestor e/ou o Agente de Retenção/Cobrança, exceto em caso de má-fé, culpa ou dolo comprovado, hipótese em que a parte que agiu com má-fé, culpa ou dolo comprovado poderá ser responsabilizada pelas perdas incorridas pela Classe em relação aos respectivos Direitos Creditórios Crédito Consignado. 4.11 Além dos Critérios de Elegibilidade acima mencionados, a serem verificados pelo Gestor ou terceiro por ele contratado, o Endossante e o Agente de Retenção/Cobrança declararão, expr</a:t>
            </a:r>
          </a:p>
          <a:p>
            <a:r>
              <a:t>CNPJ 63953620000165 · Coobrigação e retenção de risco · Versão e prevalência: Leitura específica das cláusulas indicadas; condições e conflitos preservados. Seleção documental atual não comprova vigência jurídica por data isolada.</a:t>
            </a:r>
          </a:p>
          <a:p>
            <a:r>
              <a:t>CNPJ 63953620000165 · Coobrigação e retenção de risco · Resumo do histórico: {"count": 8, "dates": ["2026-04-28", "2026-05-08", "2026-05-15"], "document_count": 3, "sources": [{"document_id": "1327859", "title": "Demonstrações Financeiras - Fusão, cisão e incorporação", "reference_date": "2026-05-15", "version": "1", "page": 16, "url": "https://fnet.bmfbovespa.com.br/fnet/publico/visualizarDocumento?id=1327859", "sha256": "dca1c68babb97f887528c3e2e47596a9c30f507b067981a35655b2f2da9c8054"}, {"document_id": "1298691", "title": "Demonstrações Financeiras - Fusão, cisão e incorporação", "reference_date": "2026-05-08", "version": "1", "page": 16, "url": "https://fnet.bmfbovespa.com.br/fnet/publico/visualizarDocumento?id=1298691", "sha256": "58c570d9b8d4d265330d3db3ea81c435b8e44a6dab4002aa37790652a1ee9819"}, {"document_id": "1282180", "title": "Demonstrações Financeiras - Fusão, cisão e incorporação", "reference_date": "2026-04-28", "version": "1", "page": 16, "url": "https://fnet.bmfbovespa.com.br/fnet/publico/visualizarDocumento?id=1282180", "sha256": "afaaa0e6809be4385e5bdb6c911aac582032c5bdbac3d7750234bf9eaf00438a"}], "reference": {"path": "history/63953620000165.json", "criterion_id": "coobligation",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Qualidade da carteira</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Metodologia de PDD e curva por atraso · Base da comparação IME: {"criterion_id": "pdd", "observed_value": null, "unit": "", "competence": "08/2026", "status": "not_comparable", "reason": "A curva de PDD requer atraso, contágio e garantias por operação; o agregado mensal não demonstra aplicação da metodologia.", "formula": "",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null, "comparison_required": true, "context_formula": "PDD / direitos creditórios", "context_value": 0.397174994710542, "context_unit": "percent"}</a:t>
            </a:r>
          </a:p>
          <a:p>
            <a:r>
              <a:t>CNPJ 54871427000194 · Metodologia de PDD e curva por atraso · Regulamento · ID 670691 · 28/04/2024 · versão Regulamento — referência 28/04/2024 · p. 17 · Anexo I, 9.2–9.2.1 · https://fnet.bmfbovespa.com.br/fnet/publico/visualizarDocumento?id=670691</a:t>
            </a:r>
          </a:p>
          <a:p>
            <a:r>
              <a:t>CNPJ 54871427000194 · Metodologia de PDD e curva por atraso · Excerto da fonte:</a:t>
            </a:r>
          </a:p>
          <a:p>
            <a:r>
              <a:t>9.2 As provisões para perdas e as perdas havidas com Direitos Creditórios ou com os Ativos Financeiros de Liquidez integrantes da Carteira serão, respectivamente, efetuadas ou reconhecidas nos termos da Instrução CVM 489. Desta forma, o valor do saldo dos Direitos Creditórios e/ou Ativos Financeiros de Liquidez será reduzido pelo valor da provisão ef etuada ou perda reconhecida. 9.2.1 O ef eito de perda ou provisão para devedores duvidosos de Direitos Creditórios de um mesmo Devedor deverá ser mensurado levando-se em consideração o disposto no Art. 13 da Instrução CVM 489, sendo f acultada a análise individualizada dos Direitos Creditórios, observada a metodologia de avaliação descrita no manual d o ADMINISTRADOR ou, ainda, no manual do CUSTODIANTE. CAPÍTULO 10 – ASSEMBLEIA ESPECIAL DE COTISTAS 10.1 Sem prejuízo de outros requisitos e inf ormações previstos na regulamentação vigente, são aplicáveis à Assembleia Especial de Cotistas as mesmas disposições procedimentais da Assembleia Geral de Cotistas. 10.2 A Assembleia Especial de Cotistas é responsável por deliberar sobre as matérias específicas da Classe de Cotas, sem prejuízo das demais disposições previstas</a:t>
            </a:r>
          </a:p>
          <a:p>
            <a:r>
              <a:t>CNPJ 54871427000194 · Metodologia de PDD e curva por atraso · Condição: Os percentuais do Complemento 2 são descontos de cobrança e comissões; não são alíquotas de PDD. O manual operacional referenciado permanece uma fonte separada.</a:t>
            </a:r>
          </a:p>
          <a:p>
            <a:r>
              <a:t>CNPJ 54871427000194 · Metodologia de PDD e curva por atraso · Versão e prevalência: Leitura específica das cláusulas indicadas; condições e conflitos preservados. Seleção documental atual não comprova vigência jurídica por data isolada.</a:t>
            </a:r>
          </a:p>
          <a:p>
            <a:r>
              <a:t>CNPJ 54871427000194 · Metodologia de PDD e curva por atraso · Resumo do histórico: {"count": 4, "dates": ["2024-12-31", "2025-01-01", "2025-12-31"], "document_count": 3, "sources": [{"document_id": "1151805", "title": "Demonstrações Financeiras", "reference_date": "2025-12-31", "version": "1", "page": 17, "url": "https://fnet.bmfbovespa.com.br/fnet/publico/visualizarDocumento?id=1151805", "sha256": "f1cea70b152968bf96ef9221b27225953cb20aeef487b2798db3c25e11b528d4"}, {"document_id": "869529", "title": "Demonstrações Financeiras", "reference_date": "2025-01-01", "version": "1", "page": 17, "url": "https://fnet.bmfbovespa.com.br/fnet/publico/visualizarDocumento?id=869529", "sha256": "9a93a9369ac8efdbc54ff8fcee3ccac3abf88edab4807b9323d3852450771b2a"}, {"document_id": "870070", "title": "Demonstrações Financeiras", "reference_date": "2024-12-31", "version": "1", "page": 17, "url": "https://fnet.bmfbovespa.com.br/fnet/publico/visualizarDocumento?id=870070", "sha256": "9a93a9369ac8efdbc54ff8fcee3ccac3abf88edab4807b9323d3852450771b2a"}], "reference": {"path": "history/54871427000194.json", "criterion_id": "pdd", "total_count": 4, "preview_count": 3, "full_text_deferred": true, "sha256": "35d7cd99be50c7287c9fb675cf4f2e736002315295a225a9efa79c8d9186d874"}}</a:t>
            </a:r>
          </a:p>
          <a:p>
            <a:r>
              <a:t>CNPJ 60010416000112 · Metodologia de PDD e curva por atraso · Base da comparação IME: {"criterion_id": "pdd", "observed_value": null, "unit": "", "competence": "08/2026", "status": "not_comparable", "reason": "A curva de PDD requer atraso, contágio e garantias por operação; o agregado mensal não demonstra aplicação da metodologia.", "formula": "",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null, "comparison_required": true, "context_formula": "PDD / direitos creditórios", "context_value": 19.008881839133778, "context_unit": "percent"}</a:t>
            </a:r>
          </a:p>
          <a:p>
            <a:r>
              <a:t>CNPJ 60010416000112 · Metodologia de PDD e curva por atraso · Regulamento · ID 1051393 · 09/10/2025 · versão Regulamento09/10/2025 · p. 17 · AnexoI8.1(iv)–(v),8.3–8.3.1 · https://fnet.bmfbovespa.com.br/fnet/publico/visualizarDocumento?id=1051393</a:t>
            </a:r>
          </a:p>
          <a:p>
            <a:r>
              <a:t>CNPJ 60010416000112 · Metodologia de PDD e curva por atraso · Excerto da fonte:</a:t>
            </a:r>
          </a:p>
          <a:p>
            <a:r>
              <a:t>8.1 Os ativos da Carteira serão avaliados todos os Dias Úteis de acordo com critérios consistentes e verif icáveis, apoiados por inf ormações externas e internas que levem em consideração aspectos relacionados aos Devedores e às características da transação correspondente, de acordo com a seguinte metodologia de avaliação. (i) os Ativos Financeiros de Liquidez deverão ser registrados e ter seus valores ajustados a mercado, sujeitos às regras e procedimentos definidos no manual de marcação a mercado do Custodiante e de acordo com as regras do Banco Central e da CVM, aplicá</a:t>
            </a:r>
          </a:p>
          <a:p>
            <a:r>
              <a:t>CNPJ 60010416000112 · Metodologia de PDD e curva por atraso · Condição: Curva numérica por atraso não é transcrita; manuais/contrato têm perímetro distinto do indicador agregado do IME.</a:t>
            </a:r>
          </a:p>
          <a:p>
            <a:r>
              <a:t>CNPJ 60010416000112 · Metodologia de PDD e curva por atraso · Motivo: Cláusula primária localizada e citada, mas sua lista/condições extensas não admitem uma síntese literal curta confirmada. O trecho integral permanece nas fontes.</a:t>
            </a:r>
          </a:p>
          <a:p>
            <a:r>
              <a:t>CNPJ 60010416000112 · Metodologia de PDD e curva por atraso · Versão e prevalência: Leitura específica das cláusulas indicadas; condições e conflitos preservados. Seleção documental atual não comprova vigência jurídica por data isolada.</a:t>
            </a:r>
          </a:p>
          <a:p>
            <a:r>
              <a:t>CNPJ 60010416000112 · Metodologia de PDD e curva por atraso · Resumo do histórico: {"count": 1, "dates": ["2025-03-20"], "document_count": 1, "sources": [{"document_id": "993786", "title": "Regulamento", "reference_date": "2025-03-20", "version": "1", "page": 17, "clause": "8.1", "url": "https://fnet.bmfbovespa.com.br/fnet/publico/visualizarDocumento?id=993786", "sha256": "fd0fdd369a195510d81f81f505195a0b09e5f43522a990afa7d58c4f872921c8"}], "reference": {"path": "history/60010416000112.json", "criterion_id": "pdd", "total_count": 1, "preview_count": 1, "full_text_deferred": true, "sha256": "8e2bd813f4c51cf01f6bfaad164bafe69d2bbb192f753eac92da3a01c2e63046"}}</a:t>
            </a:r>
          </a:p>
          <a:p>
            <a:r>
              <a:t>CNPJ 62696791000193 · Metodologia de PDD e curva por atraso · Regulamento · ID 1143317 · 20/03/2026 · versão Regulamento — referência 20/03/2026 · p. 11 · Anexo I, 4.7.3 · https://fnet.bmfbovespa.com.br/fnet/publico/visualizarDocumento?id=1143317</a:t>
            </a:r>
          </a:p>
          <a:p>
            <a:r>
              <a:t>CNPJ 62696791000193 · Metodologia de PDD e curva por atraso · Excerto da fonte:</a:t>
            </a:r>
          </a:p>
          <a:p>
            <a:r>
              <a:t>4.7.3 Na hipótese de eventuais Direitos Creditórios do Agronegócio elegíveis deixarem de atender a qualquer Critério de Elegibilidade após sua aquisição pela Classe, tal f ato não será entendido como um desenquadramento da carteira, tampouco haverá direito de regresso contra o Administrador e/ou o Gestor. Limites de concentração aplicáveis aos Direitos Creditórios do Agronegócio e fundos de investimento em Direitos Creditórios do Agronegócio investidos pela Classe 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t>
            </a:r>
          </a:p>
          <a:p>
            <a:r>
              <a:t>CNPJ 62696791000193 · Metodologia de PDD e curva por atraso · Condição: PDD mensal observada e metodologia contratual são evidências separadas.</a:t>
            </a:r>
          </a:p>
          <a:p>
            <a:r>
              <a:t>CNPJ 62696791000193 · Metodologia de PDD e curva por atraso · Motivo: Leitura do consolidado de 48 páginas não localizou metodologia de PDD/curva por atraso. A cláusula 4.7.3 trata de perda posterior de elegibilidade; não estabelece provisionamento.</a:t>
            </a:r>
          </a:p>
          <a:p>
            <a:r>
              <a:t>CNPJ 62696791000193 · Metodologia de PDD e curva por atraso · Versão e prevalência: Leitura específica das cláusulas indicadas; condições e conflitos preservados. Seleção documental atual não comprova vigência jurídica por data isolada.</a:t>
            </a:r>
          </a:p>
          <a:p>
            <a:r>
              <a:t>CNPJ 55563624000109 · Metodologia de PDD e curva por atraso · Base da comparação IME: {"criterion_id": "pdd", "observed_value": null, "unit": "", "competence": "08/2026", "status": "not_comparable", "reason": "A curva de PDD requer atraso, contágio e garantias por operação; o agregado mensal não demonstra aplicação da metodologia.", "formula": "",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null, "comparison_required": true, "context_formula": "PDD / direitos creditórios", "context_value": null, "context_unit": "percent"}</a:t>
            </a:r>
          </a:p>
          <a:p>
            <a:r>
              <a:t>CNPJ 55563624000109 · Metodologia de PDD e curva por atraso · Regulamento · ID 1192614 · 30/04/2026 · versão Regulamento30/04/2026 · p. 19 · AnexoI9.1–9.2.1 · https://fnet.bmfbovespa.com.br/fnet/publico/visualizarDocumento?id=1192614</a:t>
            </a:r>
          </a:p>
          <a:p>
            <a:r>
              <a:t>CNPJ 55563624000109 · Metodologia de PDD e curva por atraso · Excerto da fonte:</a:t>
            </a:r>
          </a:p>
          <a:p>
            <a:r>
              <a:t>9.1 As Cotas da Classe Investida e Ativos Financeiros de Liquidez que compõem a Carteira da Classe terão seus valores calculados todo Dia Útil conforme a metodologia de avaliação descrita no manual do ADMINISTRADOR, disponível no seu website, no endereço https://www.btgpactual.com/asset-management/administracao- fiduciaria#documentos. 9.2 As provisões para perdas e as perdas havidas com as Cotas da Classe Investida ou com os Ativos Financeiros de Liquidez integrantes da Carteira serão, respectivamente, efetuadas ou reconhecidas pelo ADMINISTRADOR, de</a:t>
            </a:r>
          </a:p>
          <a:p>
            <a:r>
              <a:t>CNPJ 55563624000109 · Metodologia de PDD e curva por atraso · Condição: PDD do FIC reflete cotas/liquidez; atraso/PDD de devedores finais exige IME do investido.</a:t>
            </a:r>
          </a:p>
          <a:p>
            <a:r>
              <a:t>CNPJ 55563624000109 · Metodologia de PDD e curva por atraso · Versão e prevalência: Leitura específica das cláusulas indicadas; condições e conflitos preservados. Seleção documental atual não comprova vigência jurídica por data isolada.</a:t>
            </a:r>
          </a:p>
          <a:p>
            <a:r>
              <a:t>CNPJ 62552447000120 · Metodologia de PDD e curva por atraso · Base da comparação IME: {"criterion_id": "pdd", "observed_value": null, "unit": "", "competence": "08/2026", "status": "not_comparable", "reason": "A curva de PDD requer atraso, contágio e garantias por operação; o agregado mensal não demonstra aplicação da metodologia.", "formula": "",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null, "comparison_required": true, "context_formula": "PDD / direitos creditórios", "context_value": 9.644446353219038, "context_unit": "percent"}</a:t>
            </a:r>
          </a:p>
          <a:p>
            <a:r>
              <a:t>CNPJ 62552447000120 · Metodologia de PDD e curva por atraso · Regulamento · ID 1200623 · 21/05/2026 · versão Consolidado21/05/2026 aprovado pelo ato1200625 · p. 20 · AnexoI9.1–9.2.1 · https://fnet.bmfbovespa.com.br/fnet/publico/visualizarDocumento?id=1200623</a:t>
            </a:r>
          </a:p>
          <a:p>
            <a:r>
              <a:t>CNPJ 62552447000120 · Metodologia de PDD e curva por atraso · Excerto da fonte:</a:t>
            </a:r>
          </a:p>
          <a:p>
            <a:r>
              <a:t>9.1 Os Direitos Creditórios e Ativos Financeiros que compõem a Carteira terão seus valores calculados todo Dia Útil conforme a metodologia de avaliação descrita no manual d o Administrador ou, ainda, nos manuais do Custodiante, disponíveis nos seus respectivos websites, no endereço https://www.btgpactual.com/asset-management/administracao-f iduciaria#documentos. 9.2 As provisões para perdas e as perdas havidas com Direitos Creditórios ou com os Ativos Financeiros integrantes da Carteira serão, respectivamente, efetuadas ou reconhecidas nos termos da Instrução da CVM n.º 489, de 14 de janeiro de 2011, c</a:t>
            </a:r>
          </a:p>
          <a:p>
            <a:r>
              <a:t>CNPJ 62552447000120 · Metodologia de PDD e curva por atraso · Condição: Cláusula não transcreve curva de provisão por faixa de atraso; percentual PDD do IME não reproduz manual.</a:t>
            </a:r>
          </a:p>
          <a:p>
            <a:r>
              <a:t>CNPJ 62552447000120 · Metodologia de PDD e curva por atraso · Motivo: Não localizada uma cláusula material para este critério nos textos identificados e processados. A ausência de resultado não comprova inexistência da regra.</a:t>
            </a:r>
          </a:p>
          <a:p>
            <a:r>
              <a:t>CNPJ 62552447000120 · Metodologia de PDD e curva por atraso · Versão e prevalência: Leitura específica das cláusulas indicadas; condições e conflitos preservados. Seleção documental atual não comprova vigência jurídica por data isolada.</a:t>
            </a:r>
          </a:p>
          <a:p>
            <a:r>
              <a:t>CNPJ 63953620000165 · Metodologia de PDD e curva por atraso · Base da comparação IME: {"criterion_id": "pdd", "observed_value": null, "unit": "", "competence": "08/2026", "status": "not_comparable", "reason": "A curva de PDD requer atraso, contágio e garantias por operação; o agregado mensal não demonstra aplicação da metodologia.", "formula": "",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null, "comparison_required": true, "context_formula": "PDD / direitos creditórios", "context_value": 5.5101286576011415, "context_unit": "percent"}</a:t>
            </a:r>
          </a:p>
          <a:p>
            <a:r>
              <a:t>CNPJ 63953620000165 · Metodologia de PDD e curva por atraso · Anexo ao Regulamento · ID 1222863 · 02/06/2026 · versão AnexoConsignadoPrivado02/06/2026 · p. 12 · 9.1–9.2.1 · https://fnet.bmfbovespa.com.br/fnet/publico/visualizarDocumento?id=1222863</a:t>
            </a:r>
          </a:p>
          <a:p>
            <a:r>
              <a:t>CNPJ 63953620000165 · Metodologia de PDD e curva por atraso · Excerto da fonte:</a:t>
            </a:r>
          </a:p>
          <a:p>
            <a:r>
              <a:t>9.1 Os Direitos Creditórios e Ativos Financeiros que compõem a Carteira da Classe terão seus valores calculados todo Dia Útil conforme a metodologia de avaliação descrita no manual do Administrador ou, ainda, nos manuais do Custodiante, disponíveis nos seus respectivos websites, no endereço https://www.btgpactual.com/asset- management/administracao-fiduciaria#documentos 9.2 As provisões para perdas e as perdas havidas com Direitos Creditórios ou com os Ativos Financeiros integrantes da Carteira serão, respectivamente, efetuadas ou reconhecidas nos termos da Instrução CVM 489. Desta forma, o valor do saldo dos Dire</a:t>
            </a:r>
          </a:p>
          <a:p>
            <a:r>
              <a:t>CNPJ 63953620000165 · Metodologia de PDD e curva por atraso · Versão e prevalência: Leitura específica das cláusulas indicadas; condições e conflitos preservados. Seleção documental atual não comprova vigência jurídica por data isolada.</a:t>
            </a:r>
          </a:p>
          <a:p>
            <a:r>
              <a:t>CNPJ 63953620000165 · Metodologia de PDD e curva por atraso · Resumo do histórico: {"count": 7, "dates": ["2026-04-16", "2026-04-28", "2026-05-08"], "document_count": 3, "sources": [{"document_id": "1298691", "title": "Demonstrações Financeiras - Fusão, cisão e incorporação", "reference_date": "2026-05-08", "version": "1", "page": 18, "url": "https://fnet.bmfbovespa.com.br/fnet/publico/visualizarDocumento?id=1298691", "sha256": "58c570d9b8d4d265330d3db3ea81c435b8e44a6dab4002aa37790652a1ee9819"}, {"document_id": "1282180", "title": "Demonstrações Financeiras - Fusão, cisão e incorporação", "reference_date": "2026-04-28", "version": "1", "page": 18, "url": "https://fnet.bmfbovespa.com.br/fnet/publico/visualizarDocumento?id=1282180", "sha256": "afaaa0e6809be4385e5bdb6c911aac582032c5bdbac3d7750234bf9eaf00438a"}, {"document_id": "1282179", "title": "Demonstrações Financeiras - Fusão, cisão e incorporação", "reference_date": "2026-04-16", "version": "1", "page": 18, "url": "https://fnet.bmfbovespa.com.br/fnet/publico/visualizarDocumento?id=1282179", "sha256": "beb67afbcd64169019477673fd3b7c1edbfabbd9db07379388d8cdd5d3fc9395"}], "reference": {"path": "history/63953620000165.json", "criterion_id": "pdd", "total_count": 7, "preview_count": 3, "full_text_deferred": true, "sha256": "a7b89077f5e21098c2d601c303faabc3ff6b9729f89d8afecdc60fe1404720c1"}}</a:t>
            </a:r>
          </a:p>
          <a:p>
            <a:r>
              <a:t>CNPJ 54871427000194 · Gatilhos de atraso e rolagem · Motivo: Não localizada uma cláusula material para este critério nos textos identificados e processados. A ausência de resultado não comprova inexistência da regra.</a:t>
            </a:r>
          </a:p>
          <a:p>
            <a:r>
              <a:t>CNPJ 60010416000112 · Gatilhos de atraso e rolagem · Motivo: Não localizada uma cláusula material para este critério nos textos identificados e processados. A ausência de resultado não comprova inexistência da regra.</a:t>
            </a:r>
          </a:p>
          <a:p>
            <a:r>
              <a:t>CNPJ 62696791000193 · Gatilhos de atraso e rolagem · Motivo: Não localizada uma cláusula material para este critério nos textos identificados e processados. A ausência de resultado não comprova inexistência da regra.</a:t>
            </a:r>
          </a:p>
          <a:p>
            <a:r>
              <a:t>CNPJ 55563624000109 · Gatilhos de atraso e rolagem · Motivo: Não localizada uma cláusula material para este critério nos textos identificados e processados. A ausência de resultado não comprova inexistência da regra.</a:t>
            </a:r>
          </a:p>
          <a:p>
            <a:r>
              <a:t>CNPJ 62552447000120 · Gatilhos de atraso e rolagem · Motivo: Não localizada uma cláusula material para este critério nos textos identificados e processados. A ausência de resultado não comprova inexistência da regra.</a:t>
            </a:r>
          </a:p>
          <a:p>
            <a:r>
              <a:t>CNPJ 63953620000165 · Gatilhos de atraso e rolagem · Motivo: Não localizada uma cláusula material para este critério nos textos identificados e processados. A ausência de resultado não comprova inexistência da regra.</a:t>
            </a:r>
          </a:p>
          <a:p>
            <a:r>
              <a:t>CNPJ 54871427000194 · Diluição, cancelamento e chargeback · Motivo: Não localizada uma cláusula material para este critério nos textos identificados e processados. A ausência de resultado não comprova inexistência da regra.</a:t>
            </a:r>
          </a:p>
          <a:p>
            <a:r>
              <a:t>CNPJ 60010416000112 · Diluição, cancelamento e chargeback · Motivo: Não localizada uma cláusula material para este critério nos textos identificados e processados. A ausência de resultado não comprova inexistência da regra.</a:t>
            </a:r>
          </a:p>
          <a:p>
            <a:r>
              <a:t>CNPJ 62696791000193 · Diluição, cancelamento e chargeback · Motivo: Não localizada uma cláusula material para este critério nos textos identificados e processados. A ausência de resultado não comprova inexistência da regra.</a:t>
            </a:r>
          </a:p>
          <a:p>
            <a:r>
              <a:t>CNPJ 55563624000109 · Diluição, cancelamento e chargeback · Motivo: Não localizada uma cláusula material para este critério nos textos identificados e processados. A ausência de resultado não comprova inexistência da regra.</a:t>
            </a:r>
          </a:p>
          <a:p>
            <a:r>
              <a:t>CNPJ 62552447000120 · Diluição, cancelamento e chargeback · Motivo: Não localizada uma cláusula material para este critério nos textos identificados e processados. A ausência de resultado não comprova inexistência da regra.</a:t>
            </a:r>
          </a:p>
          <a:p>
            <a:r>
              <a:t>CNPJ 63953620000165 · Diluição, cancelamento e chargeback · Motivo: Não localizada uma cláusula material para este critério nos textos identificados e processados. A ausência de resultado não comprova inexistência da regra.</a:t>
            </a:r>
          </a:p>
          <a:p>
            <a:r>
              <a:t>CNPJ 54871427000194 · Recompra e indenização · Regulamento · ID 670691 · 2024-04-28 · versão 1 · p. 11 · 4.12 · https://fnet.bmfbovespa.com.br/fnet/publico/visualizarDocumento?id=670691</a:t>
            </a:r>
          </a:p>
          <a:p>
            <a:r>
              <a:t>CNPJ 54871427000194 · Recompra e indenização · Excerto da fonte:</a:t>
            </a:r>
          </a:p>
          <a:p>
            <a:r>
              <a:t>4.12 Os recursos recebidos pela Classe em razão da liquidação dos Direitos Creditórios, a qualquer título,  incluindo pagamento regular ou por excussão de garantia, alienação, recompra, indenização pelo  Cedente e/ou desinvestimento de Ativo Recuperado, serão destinados a aquisição de Direitos  Creditórios até o montante de R$ 250.000.000,00 (duzentos e cinquenta milhões de reais), sendo certo  que os recursos recebidos pela Classe após a aquisição em tal montante não poderão ser destinados  à aquisição pela Classe de novos Direitos Creditórios, aplicando-se, de resto, o disposto no item 8.1  abaixo no que se ref ere à ordem de alocação de tais recursos.</a:t>
            </a:r>
          </a:p>
          <a:p>
            <a:r>
              <a:t>CNPJ 54871427000194 · Recompra e indenização · Regulamento · ID 670691 · 2024-04-28 · versão 1 · p. 12 · 4.13 · https://fnet.bmfbovespa.com.br/fnet/publico/visualizarDocumento?id=670691</a:t>
            </a:r>
          </a:p>
          <a:p>
            <a:r>
              <a:t>CNPJ 54871427000194 · Recompra e indenização · Excerto da fonte:</a:t>
            </a:r>
          </a:p>
          <a:p>
            <a:r>
              <a:t>4.13 Na hipótese de demandas judiciais e/ou administrativas, em que a causa de pedir ou entre os pedidos  estejam incluídos qualquer um dos itens listados abaixo, o Endossante estará obrigado realizar a  recompra ou indenização dos respectivos Direitos Creditórios, na f orma e prazos previstos no  respectivo Contrato de Endosso sem prejuízo do previsto no Artigo 295 do Código Civil, sendo certo  que o GESTOR envidará seus melhores esf orços para que os Contratos de Endosso contenham  substancialmente as hipóteses abaixo :</a:t>
            </a:r>
          </a:p>
          <a:p>
            <a:r>
              <a:t> (i) Vício de f ormalização dos CCCBs e/ou CCBs a) por ausência de qualquer dos Documentos  Comprobatórios ou falsificação, irregularidade sou má formalização destes; b) por falta de recebimento  do crédito pelo Devedor; ou, c) por averbação irregular de desconto em folha na margem consignável  do Devedor;</a:t>
            </a:r>
          </a:p>
          <a:p>
            <a:r>
              <a:t>CNPJ 54871427000194 · Recompra e indenização · Regulamento · ID 670691 · 2024-04-28 · versão 1 · p. 1 · 1.1 · https://fnet.bmfbovespa.com.br/fnet/publico/visualizarDocumento?id=670691</a:t>
            </a:r>
          </a:p>
          <a:p>
            <a:r>
              <a:t>CNPJ 54871427000194 · Recompra e indenização · Excerto da fonte:</a:t>
            </a:r>
          </a:p>
          <a:p>
            <a:r>
              <a:t>1.1 CONSIGNADO DELTA RECEIVABLES I FUNDO DE INVESTIMENTO EM DIREITOS CREDITÓRIOS  (“FUNDO”), regido pela Lei nº 10.406, de 10 de janeiro de 2002, conf orme alterada (“Código Civil”),  pela parte geral e o Anexo Normativo II da Resolução nº 175, de 23 de dezembro de 2022, conforme  alterada, da Comissão de Valores Mobiliários (respectivamente, “CVM” e “Resolução CVM 175”), terá  como principais características:</a:t>
            </a:r>
          </a:p>
          <a:p>
            <a:r>
              <a:t> Classe de Cotas Classe única.</a:t>
            </a:r>
          </a:p>
          <a:p>
            <a:r>
              <a:t> Indeterminado, exceto se de outra f orma vier a ser deliberado pelos cotistas  Prazo de Duração  reunidos em assembleia geral de cotistas.</a:t>
            </a:r>
          </a:p>
          <a:p>
            <a:r>
              <a:t> BTG Pactual Serviços Financeiros S.A. Distribuidora de Títulos e Valores  Mobiliários, instituição f inanceira, com sede na Cidade e Estado do Rio de  Janeiro, na Praia de Botafogo, nº 501, 5º andar (parte), Torre Corcovado,  ADMINISTRADOR  Botafogo, CEP 22250-040, inscrita no CNPJ sob o nº 59.281.253/0001-23 e  credenciada como administradora de carteira, de acordo com o Ato Declaratório  CVM nº 8.695, de 20 de março de 2006 (“ADMINISTRADOR”).</a:t>
            </a:r>
          </a:p>
          <a:p>
            <a:r>
              <a:t> BTG Pactual Asset Management S.A. Distribuidora de Títulos e Valores  Mobiliários, inscrita no CNPJ/ME sob o nº 29.650.082/0001-00, com sede  Cidade e Estado do Rio de Janeiro, na Praia de Botafogo, n.º 501, 5° andar,  devidamente autorizada à prestação dos serviços de administração de carteira  GESTOR  de títulos e valores mobiliários por meio d o Ato Declaratório número 5.968,  expedido em 10 de maio de 2000 (“GESTOR” e, quando ref erido  conjuntamente e indistintamente com o ADMINISTRADOR, os “Prestadores  de Serviços Essenciais”).</a:t>
            </a:r>
          </a:p>
          <a:p>
            <a:r>
              <a:t> O FUNDO, seus cotistas, os distribuidores de cotas por conta e ordem, seu  GESTOR, seu ADMINISTRADOR e os demais prestadores de serviço do  FUNDO e/ou da CLASSE obrigam-se a resolver, por meio de arbitragem, de  acordo com o Regulamento de Arbitragem da Câmara de Arbitragem do  Mercado da B3 (“Regulamento CAM B3” e “CAM B3”, respectivamente), toda  e qualquer disputa ou controvérsia que possa surgir entre eles, relacionada ou  oriunda, em especial, da aplicação, validade, eficácia, interpretação, violação  e seus ef eitos, das disposições contidas no Regulamento e seus Anexos, nas  normas editadas pela CVM que lhe sejam aplicáveis e nos instrumentos entre  si f irmados (“Arbitragem”).</a:t>
            </a:r>
          </a:p>
          <a:p>
            <a:r>
              <a:t> (i) A Arbitragem será de direito, com a aplicação das normas da República  Federativa do Brasil, terá sede no Município de São Paulo, será  Foro Aplicável conduzida em língua portuguesa e de f orma confidencial. O tribunal  arbitral será constituído por 3 (três) árbitros, sendo um deles  presidente, escolhidos nos termos do Regulamento CAM B3.</a:t>
            </a:r>
          </a:p>
          <a:p>
            <a:r>
              <a:t> (ii) As despesas processuais iniciais deverão ser rateadas entre as partes,  arcando cada polo processual com metade dos valores necessários,  sem prejuízo à possibilidade de adiantamento pelas partes  interessadas, resolvendo-se as indef inições nos termos do  Regulamento CAM B3. A sentença arbitral deverá determinar a  responsabilidade final pelas despesas de acordo com a sucumbência  de cada parte, as quais deverão incluir as taxas administrativas,  honorários de árbitros e de peritos e despesas com diligências  processuais e f ornecimento de garantias que sejam determinadas  expressamente pelo tribunal arbitral. É vedada a imposição de  honorários de sucumbência, bem como a determinação de indenização</a:t>
            </a:r>
          </a:p>
          <a:p>
            <a:r>
              <a:t>CNPJ 54871427000194 · Recompra e indenização · Condição: Documentos atuais selecionados no inventário por categoria/escopo; a data documental isolada não comprova vigência jurídica.</a:t>
            </a:r>
          </a:p>
          <a:p>
            <a:r>
              <a:t>CNPJ 54871427000194 · Recompra e indenização · Versão e prevalência: Documentos atuais selecionados no inventário por categoria/escopo; a data documental isolada não comprova vigência jurídica.</a:t>
            </a:r>
          </a:p>
          <a:p>
            <a:r>
              <a:t>CNPJ 54871427000194 · Recompra e indenização · Resumo do histórico: {"count": 2, "dates": ["2024-04-19", "2024-04-28"], "document_count": 2, "sources": [{"document_id": "670691", "title": "Regulamento", "reference_date": "2024-04-28", "version": "1", "page": "10-12", "url": "https://fnet.bmfbovespa.com.br/fnet/publico/visualizarDocumento?id=670691", "sha256": "bf16dd7f1a62d5cdbf2e2d54fef81783783f7310fbc99c3a8f00459bdf9d037b"}, {"document_id": "670689", "title": "Regulamento", "reference_date": "2024-04-19", "version": "1", "page": 10, "clause": "4.7.5", "url": "https://fnet.bmfbovespa.com.br/fnet/publico/visualizarDocumento?id=670689", "sha256": "891bc9bc5d87bbc02ec139077a84d2702eb81ea02035fb71d24f5b8366b94a0b"}], "reference": {"path": "history/54871427000194.json", "criterion_id": "repurchase", "total_count": 2, "preview_count": 2, "full_text_deferred": true, "sha256": "35d7cd99be50c7287c9fb675cf4f2e736002315295a225a9efa79c8d9186d874"}}</a:t>
            </a:r>
          </a:p>
          <a:p>
            <a:r>
              <a:t>CNPJ 60010416000112 · Recompra e indenização · Regulamento · ID 1051393 · 2025-10-09 · versão 1 · p. 10 · 4.4.5 · https://fnet.bmfbovespa.com.br/fnet/publico/visualizarDocumento?id=1051393</a:t>
            </a:r>
          </a:p>
          <a:p>
            <a:r>
              <a:t>CNPJ 60010416000112 · Recompra e indenização · Excerto da fonte:</a:t>
            </a:r>
          </a:p>
          <a:p>
            <a:r>
              <a:t>4.4.5. Caso um Direito Creditório endossado à Classe deixe de atender quaisquer Critérios de  Elegibilidade, quaisquer condições de endosso e/ou quaisquer declarações e garantias referentes  a esse Direito Creditório, conforme previsto no Contrato de Endosso, após seu endosso à Classe,  não haverá coobrigação nem direito de regresso da Classe contra o Endossante, o Administrador,  o Custodiante, o Gestor e/ou o Agente de Retenção/Cobrança, exceto em caso de má-fé, culpa  ou dolo comprovado, hipótese em que a parte que agiu com má-f é, culpa ou dolo comprovado  poderá ser responsabilizada pelas perdas incorridas pela Classe em relação aos respectivos  Direitos Creditórios. Se, entretanto, for constatado que um Direito Creditório endossado à Classe  não estava em conformidade com os Critérios de Elegibilidade, condições de endosso ou com as  declarações e garantias prestadas pelo Endossante no Contrato de Endosso, na respectiva data  de endosso, então o endosso desse Direito Creditório poderá ser objeto de resolução pela Classe.</a:t>
            </a:r>
          </a:p>
          <a:p>
            <a:r>
              <a:t> Nessa hipótese, a Classe terá o direito de resolver o endosso desse Direito Creditório, devolvendo-  o ao Endossante por valor a ser restituído à Classe. Adicionalmente, se f or constatado que um  Direito Creditório endossado à Classe não estava em conf ormidade com as declarações e  garantias prestadas pelo Agente de Retenção/Cobrança no Contrato de Endosso, na respectiva  data de endosso, então a Classe terá o direito de vender esse Direito Creditório ao Agente de  Retenção/Cobrança (opção de venda). A retrovenda ou a venda, conforme o caso, será realizada  de acordo com os termos, condições, formalidades e preços de recompra compulsória e opção de  venda detalhados no Contrato de Endosso.</a:t>
            </a:r>
          </a:p>
          <a:p>
            <a:r>
              <a:t>CNPJ 60010416000112 · Recompra e indenização · Regulamento · ID 1051393 · 2025-10-09 · versão 1 · p. 30 · 12.5.1 · https://fnet.bmfbovespa.com.br/fnet/publico/visualizarDocumento?id=1051393</a:t>
            </a:r>
          </a:p>
          <a:p>
            <a:r>
              <a:t>CNPJ 60010416000112 · Recompra e indenização · Excerto da fonte:</a:t>
            </a:r>
          </a:p>
          <a:p>
            <a:r>
              <a:t>12.5.1. Independentemente do acima disposto, na hipótese de venda de qualquer parte dos Direitos  Creditórios Elegíveis a terceiros, inclusive no caso de liquidação da Classe, o Agente de  Retenção/Cobrança terá o direito de receber uma remuneração, no dia em que a parte da carteira  de Direitos Creditórios Elegíveis f or efetivamente vendida (ou seja, no dia de seu f echamento  f inanceiro), correspondente ao RAC do valor do preço de venda dessa carteira (“Preço de Venda”),  multiplicado pelo número de anos restantes até o vencimento f inal e pagamento de cada Direito  Creditório Elegível na carteira; observado que, para f ins do cálculo da remuneração devida ao  Agente de Retenção/Cobrança nos termos deste item, o preço de venda de qualquer Direito  Creditório Inadimplido vendido nos termos deste item será equivalente a 0 (zero). Para evitar  qualquer dúvida, as Partes concordam que a remuneração estabelecida neste item não será  devida ao Agente de Retenção/Cobrança no caso de venda de Direitos Creditórios Elegíveis no  contexto de uma portabilidade da respectiva CCB para outra instituição f inanceira, ou na  ocorrência de um evento de recompra compulstória ou de um evento de opção de venda, de acordo  com os termos do respectivo Contrato de Endosso.</a:t>
            </a:r>
          </a:p>
          <a:p>
            <a:r>
              <a:t>CNPJ 60010416000112 · Recompra e indenização · Regulamento · ID 1051393 · 2025-10-09 · versão 1 · p. 11 · https://fnet.bmfbovespa.com.br/fnet/publico/visualizarDocumento?id=1051393</a:t>
            </a:r>
          </a:p>
          <a:p>
            <a:r>
              <a:t>CNPJ 60010416000112 · Recompra e indenização · Excerto da fonte:</a:t>
            </a:r>
          </a:p>
          <a:p>
            <a:r>
              <a:t>Anexo I ao Regulamento CLASSE ÚNICA DO MT I CONSIGNADO PRIVADO I FUNDO DE INVESTIMENTO EM DIREITOS CREDITÓRIOS RESPONSABILIDADE LIMITADA  com a transf erência, à Classe, de f orma definitiva, sem coobrigação do Endossante, da plena  titularidade desse Direito Creditório, juntamente com todos os direitos, privilégios, pref erências,  prerrogativas, garantias e ações a ele relacionados, bem como correção monetária, juros e  encargos, sem prejuízo do direito da Classe (i) de exigir a recompra compulsória do respectivo  Direito Creditório, de acordo com os termos do Contrato de Endosso; ou (ii) de vender Direitos  Creditórios ao Agente de Retenção/Cobrança (opção de venda), em ambos os casos estritamente  nos termos do Contrato de Endosso.</a:t>
            </a:r>
          </a:p>
          <a:p>
            <a:r>
              <a:t>CNPJ 60010416000112 · Recompra e indenização · Condição: Documentos atuais selecionados no inventário por categoria/escopo; a data documental isolada não comprova vigência jurídica.</a:t>
            </a:r>
          </a:p>
          <a:p>
            <a:r>
              <a:t>CNPJ 60010416000112 · Recompra e indenização · Versão e prevalência: Documentos atuais selecionados no inventário por categoria/escopo; a data documental isolada não comprova vigência jurídica.</a:t>
            </a:r>
          </a:p>
          <a:p>
            <a:r>
              <a:t>CNPJ 60010416000112 · Recompra e indenização · Resumo do histórico: {"count": 2, "dates": ["2025-03-20", "2025-10-09"], "document_count": 2, "sources": [{"document_id": "1051393", "title": "Regulamento", "reference_date": "2025-10-09", "version": "1", "page": "10-11", "url": "https://fnet.bmfbovespa.com.br/fnet/publico/visualizarDocumento?id=1051393", "sha256": "8469d613078ffd5a6c1d217885d8a397a16342c0b937ae4aa24b106505f233ae"}, {"document_id": "993786", "title": "Regulamento", "reference_date": "2025-03-20", "version": "1", "page": 10, "clause": "4.4.5", "url": "https://fnet.bmfbovespa.com.br/fnet/publico/visualizarDocumento?id=993786", "sha256": "fd0fdd369a195510d81f81f505195a0b09e5f43522a990afa7d58c4f872921c8"}], "reference": {"path": "history/60010416000112.json", "criterion_id": "repurchase", "total_count": 2, "preview_count": 2, "full_text_deferred": true, "sha256": "8e2bd813f4c51cf01f6bfaad164bafe69d2bbb192f753eac92da3a01c2e63046"}}</a:t>
            </a:r>
          </a:p>
          <a:p>
            <a:r>
              <a:t>CNPJ 62696791000193 · Recompra e indenização · Regulamento · ID 1143317 · 2026-03-20 · versão 1 · p. 16 · 5.1 · https://fnet.bmfbovespa.com.br/fnet/publico/visualizarDocumento?id=1143317</a:t>
            </a:r>
          </a:p>
          <a:p>
            <a:r>
              <a:t>CNPJ 62696791000193 · Recompra e indenização · Excerto da fonte:</a:t>
            </a:r>
          </a:p>
          <a:p>
            <a:r>
              <a:t>5.1 Os recursos recebidos pela Classe em razão da liquidação dos Direitos Creditórios do Agronegócio  e/ou dos Outros Ativos, a qualquer título, incluindo pagamento regular ou por excussão de garantia,  alienação, recompra, indenização pelo cedente e/ou desinvestimento de Direitos Creditórios do  Agronegócio e/ou dos Outros Ativos, poderão ser destinados à aquisição pela Classe de novos  Direitos Creditórios do Agronegócio e/ou dos Outros Ativos e/ou destinados ao resgate das Cotas,  conf orme decisão do Gestor e desde que observada a ordem de alocação de recursos.</a:t>
            </a:r>
          </a:p>
          <a:p>
            <a:r>
              <a:t>6 ORDEM DE ALOCAÇÃO DE RECURSOS</a:t>
            </a:r>
          </a:p>
          <a:p>
            <a:r>
              <a:t>CNPJ 62696791000193 · Recompra e indenização · Condição: Documentos atuais selecionados no inventário por categoria/escopo; a data documental isolada não comprova vigência jurídica.</a:t>
            </a:r>
          </a:p>
          <a:p>
            <a:r>
              <a:t>CNPJ 62696791000193 · Recompra e indenização · Versão e prevalência: Documentos atuais selecionados no inventário por categoria/escopo; a data documental isolada não comprova vigência jurídica.</a:t>
            </a:r>
          </a:p>
          <a:p>
            <a:r>
              <a:t>CNPJ 55563624000109 · Recompra e indenização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Recompra e indenização · Resumo do histórico: {"count": 1, "dates": ["2026-04-30"], "document_count": 1, "sources": [{"document_id": "1192614", "title": "Regulamento", "reference_date": "2026-04-30", "version": "1", "page": "14", "url": "https://fnet.bmfbovespa.com.br/fnet/publico/visualizarDocumento?id=1192614", "sha256": "f56e63ace0acde41d2f47fb48f1ac7f3f7df5e2d32de092d7c5e075a52516632"}], "reference": {"path": "history/55563624000109.json", "criterion_id": "repurchase", "total_count": 1, "preview_count": 1, "full_text_deferred": true, "sha256": "7835d573fb58a3c19adf5b8ecc2aee2bdbb9a88f7a0c0209b5f262b64c7522e3"}}</a:t>
            </a:r>
          </a:p>
          <a:p>
            <a:r>
              <a:t>CNPJ 62552447000120 · Recompra e indenização · Regulamento · ID 1200623 · 2026-05-21 · versão 1 · p. 14 · 4.14 · https://fnet.bmfbovespa.com.br/fnet/publico/visualizarDocumento?id=1200623</a:t>
            </a:r>
          </a:p>
          <a:p>
            <a:r>
              <a:t>CNPJ 62552447000120 · Recompra e indenização · Excerto da fonte:</a:t>
            </a:r>
          </a:p>
          <a:p>
            <a:r>
              <a:t>4.14 Os recursos recebidos pela Classe em razão da liquidação dos Direitos Creditórios, a qualquer título,  incluindo pagamento regular ou por excussão de garantia, alienação, recompra, indenização pelo  Endossante, poderão ser destinados à aquisição pela Classe de novos Direitos Creditórios e/ou  destinados à Amortização, conforme decisão do Gestor e desde que observada a ordem de alocação  de recursos def inida no item 8.1 abaixo.</a:t>
            </a:r>
          </a:p>
          <a:p>
            <a:r>
              <a:t>Ativos Recuperados</a:t>
            </a:r>
          </a:p>
          <a:p>
            <a:r>
              <a:t>CNPJ 62552447000120 · Recompra e indenização · Regulamento · ID 1200623 · 2026-05-21 · versão 1 · p. 35 · https://fnet.bmfbovespa.com.br/fnet/publico/visualizarDocumento?id=1200623</a:t>
            </a:r>
          </a:p>
          <a:p>
            <a:r>
              <a:t>CNPJ 62552447000120 · Recompra e indenização · Excerto da fonte:</a:t>
            </a:r>
          </a:p>
          <a:p>
            <a:r>
              <a:t>ativos desses emissores, causando perdas à Classe e ao Cotista. Além disso, a f alta de capacidade ou disposição de pagar por qualquer dos emissores dos Ativos Financeiros de Liquidez ou das contrapartes nas transações que compõem a Carteira causará perdas à Classe, e o que também poderá incorrer em custos para f ins de recuperação de seus recebíveis.</a:t>
            </a:r>
          </a:p>
          <a:p>
            <a:r>
              <a:t>(v) Riscos associados aos Devedores: no caso de Devedores no âmbito das operações de consignado privado, a sua capacidade de pagamento poderá ser af etada se, por exemplo, o Devedor tiver o seu contrato de emprego rescindido ou em virtude de decisão judicial, o Devedor for obrigado a pagar alimentos, que têm prioridade sobre o empréstimo para f ins de desconto na f 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 etar a rentabilidade da Classe. Já no caso de Devedores no âmbito das operações de Saque-aniversário, como os Direitos Creditórios a serem endossados à Classe serão descontados pelo FGTS da remuneração do Devedor, na ocorrência de qualquer evento que, nos termos da legislação aplicável, determine o pagamento antecipado do Saque-aniversário ao Devedor, a exemplo do falecimento do Devedor, dentre outros, as parcelas do Saque- aniversário serão pagas antecipadamente e a Classe deverá utilizar tais montantes no pré-pagamento dos Direitos Creditórios. Nesta hipótese, a Classe poderá não encontrar Direitos Creditórios disponíveis para serem adquiridos pela Classe, o que poderá af etar a rentabilidade da Classe.</a:t>
            </a:r>
          </a:p>
          <a:p>
            <a:r>
              <a:t>Risco de liquidez</a:t>
            </a:r>
          </a:p>
          <a:p>
            <a:r>
              <a:t>(i) Risco de liquidez: consiste no risco de redução ou inexistência de demanda pelos ativos que compõem a Classe nos respectivos mercados em que são negociados, devido às condições específicas desses ativos ou aos mercados em que são negociados. Devido a esses riscos, o Gestor poderá encontrar dificuldades em liquidar posições ou negociar esses ativos pelo preço e prazo desejados, de acordo com a estratégia de gestão adotada pela Classe, que permanecerá exposto, durante o período de baixa liquidez, aos riscos associados a esses ativos e posições assumidas em mercados de derivativos, se houver, que poderão até exigir que o Gestor aceite descontos em seus preços para realizar negociações no mercado. Esses f atores poderão prejudicar o pagamento de Amortizações ao Cotista, nos valores e dentro dos termos aqui estabelecidos.</a:t>
            </a:r>
          </a:p>
          <a:p>
            <a:r>
              <a:t>(ii) Riscos do mercado secundário: A Classe é constituída sob a f orma de condomínio fechado, de modo que as Cotas somente serão resgatadas em virtude da liquidação da Classe. Uma vez que o Prazo de Duração da Classe é indeterminado, o Cotista titular das Cotas não terá liquidez em seu investimento na Classe, exceto</a:t>
            </a:r>
          </a:p>
          <a:p>
            <a:r>
              <a:t>(a) por ocasião das Amortizações e dos resgates, nos termos deste Regulamento; (b) por meio da alienação de suas Cotas no mercado secundário; ou (c) na liquidação antecipada do FUNDO ou da Classe.</a:t>
            </a:r>
          </a:p>
          <a:p>
            <a:r>
              <a:t>Além disso, atualmente, o mercado secundário de cotas de fundos de investimento apresenta baixa liquidez, o que pode dificultar a venda das Cotas ou ocasionar a obtenção de um preço de venda que cause perda de patrimônio ao Cotista. Não há qualquer garantia do Administrador, do Gestor, da consultora ou do Custodiante em relação à possibilidade de venda das Cotas no mercado secundário ou ao preço obtido por elas, ou mesmo garantia de saída ao Cotista.</a:t>
            </a:r>
          </a:p>
          <a:p>
            <a:r>
              <a:t>Riscos específicos</a:t>
            </a:r>
          </a:p>
          <a:p>
            <a:r>
              <a:t>(i)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ficar inadimplente e, consequentemente, não haverá repasse à Classe do respectivo Direito Creditório, o que poderá resultar em perdas f inanceiras à Classe e aos Cotistas. Para os f ins deste Regulamento, “Empregador” signif ica a empresa com qual o Devedor mantém vínculo empregatício registrado junto à CTPS.</a:t>
            </a:r>
          </a:p>
          <a:p>
            <a:r>
              <a:t>(ii) Risco do Empregador não efetuar o desconto em folha: o repasse dos recursos oriundos dos Direitos Creditórios à Classe depende da realização, pelo Empregador, da escrituração da Consignação a ser</a:t>
            </a:r>
          </a:p>
          <a:p>
            <a:r>
              <a:t>CNPJ 62552447000120 · Recompra e indenização · Condição: Documentos atuais selecionados no inventário por categoria/escopo; a data documental isolada não comprova vigência jurídica.</a:t>
            </a:r>
          </a:p>
          <a:p>
            <a:r>
              <a:t>CNPJ 62552447000120 · Recompra e indenização · Versão e prevalência: Documentos atuais selecionados no inventário por categoria/escopo; a data documental isolada não comprova vigência jurídica.</a:t>
            </a:r>
          </a:p>
          <a:p>
            <a:r>
              <a:t>CNPJ 63953620000165 · Recompra e indenização · Anexo ao Regulamento · ID 1222863 · 2026-06-02 · versão 1 · p. 7 · 4.17.1 · https://fnet.bmfbovespa.com.br/fnet/publico/visualizarDocumento?id=1222863</a:t>
            </a:r>
          </a:p>
          <a:p>
            <a:r>
              <a:t>CNPJ 63953620000165 · Recompra e indenização · Excerto da fonte:</a:t>
            </a:r>
          </a:p>
          <a:p>
            <a:r>
              <a:t>4.17.1 Durante o Período de Investimento, os recursos recebidos pela Classe em razão da liquidação dos  Direitos Creditórios, a qualquer título, incluindo pagamento regular ou por excussão de garantia,  alienação, recompra, indenização pelo Cedente e/ou desinvestimento de Ativo Recuperado, poderão  ser destinados à aquisição pela Classe de novos Direitos Creditórios e/ou destinados à Amortização das  Cotas, observado que (i) a aquisição de novos Direitos Creditórios dependerá, em qualquer hipótese, de  oferta realizada pelo Endossante; e (ii) a destinação dos recursos à Amortização das Cotas será realizada  nos termos do item 7.2, observada a ordem de alocação definida no item 8.1 do presente Anexo.</a:t>
            </a:r>
          </a:p>
          <a:p>
            <a:r>
              <a:t>CNPJ 63953620000165 · Recompra e indenização · Anexo ao Regulamento · ID 1222863 · 2026-06-02 · versão 1 · p. 7 · 4.17.2 · https://fnet.bmfbovespa.com.br/fnet/publico/visualizarDocumento?id=1222863</a:t>
            </a:r>
          </a:p>
          <a:p>
            <a:r>
              <a:t>CNPJ 63953620000165 · Recompra e indenização · Excerto da fonte:</a:t>
            </a:r>
          </a:p>
          <a:p>
            <a:r>
              <a:t>4.17.2 Encerrado o Período de Investimento, os recursos recebidos pela Classe em razão da liquidação dos  Direitos Creditórios, a qualquer título, incluindo pagamento regular ou por excussão de garantia,  alienação, recompra, indenização pelo Cedente e/ou desinvestimento de Ativo Recuperado, não  poderão ser destinados à aquisição pela Classe de novos Direitos Creditórios, aplicando-se, de resto, o  disposto no item 8.1 abaixo no que se refere à ordem de alocação de tais recursos.</a:t>
            </a:r>
          </a:p>
          <a:p>
            <a:r>
              <a:t>CNPJ 63953620000165 · Recompra e indenização · Anexo ao Regulamento · ID 1222863 · 2026-06-02 · versão 1 · p. 26 · https://fnet.bmfbovespa.com.br/fnet/publico/visualizarDocumento?id=1222863</a:t>
            </a:r>
          </a:p>
          <a:p>
            <a:r>
              <a:t>CNPJ 63953620000165 · Recompra e indenização · Excerto da fonte:</a:t>
            </a:r>
          </a:p>
          <a:p>
            <a:r>
              <a:t>Complemento I  (Ao Anexo I)  FATORES DE RISCO APLICÁVEIS À CLASSE CONSIGNADO PRIVADO DO MT GLOBAL FUNDO DE INVESTIMENTO EM  DIREITOS CREDITÓRIOS RESPONSABILIDADE LIMITADA  Risco de Crédito</a:t>
            </a:r>
          </a:p>
          <a:p>
            <a:r>
              <a:t> (i) Riscos associados aos Devedores: os Direitos Creditórios a serem endossados à Classe serão descontados  pela Dataprev da remuneração do Devedor. A capacidade de pagamento do Devedor poderá ser afetada se,  por exemplo, o Devedor tiver o seu contrato de emprego rescindido ou em virtude de decisão judicial, o  Devedor for obrigado a pagar alimentos, que têm prioridade sobre o empréstimo para fins de desconto na  folha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afetar a rentabilidade da Classe.</a:t>
            </a:r>
          </a:p>
          <a:p>
            <a:r>
              <a:t> (ii)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referido Devedor poderá  ficar inadimplente e, consequentemente, não haverá repasse à Classe do respectivo Direito Creditório, o  que poderá resultar em perdas financeiras à Classe e aos Cotistas.</a:t>
            </a:r>
          </a:p>
          <a:p>
            <a:r>
              <a:t> (iii) Risco do Empregador não efetuar o desconto em folha: o repasse dos recursos oriundos dos Direitos  Creditórios à Classe depende da realização, pelo Empregador, da Escrituração e do desconto na respectiva  folha de pagamento do Devedor. Na hipótese do Empregador deixar de realizar a Escrituração ou os  descontos na folha de pagamento, não haverá repasse de recursos à Classe, podendo causar prejuízos à  Classe e aos Cotistas.</a:t>
            </a:r>
          </a:p>
          <a:p>
            <a:r>
              <a:t> (iv) Risco de perda do vínculo empregatício com o Empregador: caso o Devedor perca o vínculo empregatício  com o Empregador, não haverá remuneração e folha de pagamento para realização dos descontos para  pagamento dos Direitos Creditórios. Neste caso, não obstante a possibilidade do Agente de  Retenção/Cobrança realizar a cobrança ativa dos Direitos Creditórios diretamente do Devedor, a ausência  de remuneração poderá deixar o Devedor inadimplente perante a Classe até que o seu vínculo empregatício  seja retomado e seja efetuado o procedimento operacional para que a CCB seja aditada e/ou seja realizado  o Processo de Reinicialização. Tais situações poderão resultar em prejuízos à Classe e aos Cotistas.</a:t>
            </a:r>
          </a:p>
          <a:p>
            <a:r>
              <a:t> Riscos Operacionais</a:t>
            </a:r>
          </a:p>
          <a:p>
            <a:r>
              <a:t> (i) Risco de irregularidade dos Documentos Comprobatórios e/ou Documentos Suporte: o Gestor, ou  terceiro por ele contratado, deverá realizar a verificação da regularidade dos Documentos Comprobatórios  e Documentos Suporte. A Carteira poderá conter Direitos Creditórios com documentação irregular, o que  poderá impedir que a Classe exerça plenamente as prerrogativas derivadas da titularidade dos Direitos  Creditórios. O Gestor poderá contratar empresas especializadas, com comprovada competência e  adequação, para realizar a guarda física, manutenção, armazenamento, organização e digitalização dos  Documentos Comprobatórios e Documentos Suporte, que estarão sob total responsabilidade do Gestor,  permanecendo as empresas como agentes depositários dos Documentos Comprobatórios e Documentos  Suporte.</a:t>
            </a:r>
          </a:p>
          <a:p>
            <a:r>
              <a:t> (ii) Risco operacional da Dataprev e da CEF: o empréstimo contraído pelos Devedores é pago por meio de  desconto na folha de pagamento feito pela Dataprev e pela CEF, conforme aplicável. É possível que os  rendimentos dos Devedores sejam atrasados ou não pagos devido a questões operacionais envolvendo a  Dataprev e/ou a CEF. Nesse caso, a Carteira poderá sofrer, já que não receberá automaticamente, e  também poderá ter dificuldades para receber, a qualquer momento, os recursos decorrentes dos Direitos  Creditórios.</a:t>
            </a:r>
          </a:p>
          <a:p>
            <a:r>
              <a:t>CNPJ 63953620000165 · Recompra e indenização · Condição: Documentos atuais selecionados no inventário por categoria/escopo; a data documental isolada não comprova vigência jurídica.</a:t>
            </a:r>
          </a:p>
          <a:p>
            <a:r>
              <a:t>CNPJ 63953620000165 · Recompra e indenização · Versão e prevalência: Documentos atuais selecionados no inventário por categoria/escopo; a data documental isolada não comprova vigência jurídica.</a:t>
            </a:r>
          </a:p>
          <a:p>
            <a:r>
              <a:t>CNPJ 63953620000165 · Recompra e indenização · Resumo do histórico: {"count": 8, "dates": ["2026-04-28", "2026-05-08", "2026-05-15"], "document_count": 3, "sources": [{"document_id": "1327859", "title": "Demonstrações Financeiras - Fusão, cisão e incorporação", "reference_date": "2026-05-15", "version": "1", "page": 16, "url": "https://fnet.bmfbovespa.com.br/fnet/publico/visualizarDocumento?id=1327859", "sha256": "dca1c68babb97f887528c3e2e47596a9c30f507b067981a35655b2f2da9c8054"}, {"document_id": "1298691", "title": "Demonstrações Financeiras - Fusão, cisão e incorporação", "reference_date": "2026-05-08", "version": "1", "page": 16, "url": "https://fnet.bmfbovespa.com.br/fnet/publico/visualizarDocumento?id=1298691", "sha256": "58c570d9b8d4d265330d3db3ea81c435b8e44a6dab4002aa37790652a1ee9819"}, {"document_id": "1282180", "title": "Demonstrações Financeiras - Fusão, cisão e incorporação", "reference_date": "2026-04-28", "version": "1", "page": 16, "url": "https://fnet.bmfbovespa.com.br/fnet/publico/visualizarDocumento?id=1282180", "sha256": "afaaa0e6809be4385e5bdb6c911aac582032c5bdbac3d7750234bf9eaf00438a"}], "reference": {"path": "history/63953620000165.json", "criterion_id": "repurchase", "total_count": 8, "preview_count": 3, "full_text_deferred": true, "sha256": "a7b89077f5e21098c2d601c303faabc3ff6b9729f89d8afecdc60fe1404720c1"}}</a:t>
            </a:r>
          </a:p>
          <a:p>
            <a:r>
              <a:t>CNPJ 54871427000194 · Coobrigação e retenção de risco · Regulamento · ID 670691 · 28/04/2024 · versão Regulamento — referência 28/04/2024 · p. 10 · Anexo I, 4.7.2 e 4.7.4 · https://fnet.bmfbovespa.com.br/fnet/publico/visualizarDocumento?id=670691</a:t>
            </a:r>
          </a:p>
          <a:p>
            <a:r>
              <a:t>CNPJ 54871427000194 · Coobrigação e retenção de risco · Excerto da fonte:</a:t>
            </a:r>
          </a:p>
          <a:p>
            <a:r>
              <a:t>4.7.2 Caso um Direito Creditório cedido à Classe deixe de atender quaisquer Critérios de Elegibilidade e/ou quaisquer declarações e garantias ref erentes a esse Direito Creditório, conf orme previsto no respectivo Contrato de Endosso, após seu endosso à Classe, não haverá coobrigação nem direito de regresso da Classe contra o ADMINISTRADOR, o CUSTODIANTE o GESTOR e/ou o Endossante. 4.7.3 A f ormalização de cada aquisição de Direitos Creditórios pela Classe deverá incluir o endosso eletrônico em preto de cada CCB representativa do respectivo Direito Creditório em f avor da Classe, inclusive, mas não necessariamente, por meio d a celebração de Termos de Endosso (os quais, para f ins de esclarecimento, poderão ser levados a registro junto aos cartórios de Registro de Títulos e Documentos competentes, a exclusivo critério do GESTOR, em casos excepcionais em que tal registro possa ser considerado necessário para f ins de ef icácia das respectivas cessões perante terceiros, tendo em vista a transmiss ão das CCB mediante endosso em preto, nos termos deste Regulamento e da legislação aplicável). 4.7.4 Após a f ormalizaçã</a:t>
            </a:r>
          </a:p>
          <a:p>
            <a:r>
              <a:t>CNPJ 54871427000194 · Coobrigação e retenção de risco · Regulamento · ID 670691 · 28/04/2024 · versão Regulamento — referência 28/04/2024 · p. 13 · Anexo I, 4.18 · https://fnet.bmfbovespa.com.br/fnet/publico/visualizarDocumento?id=670691</a:t>
            </a:r>
          </a:p>
          <a:p>
            <a:r>
              <a:t>CNPJ 54871427000194 · Coobrigação e retenção de risco · Excerto da fonte:</a:t>
            </a:r>
          </a:p>
          <a:p>
            <a:r>
              <a:t>4.18 Exceto na medida em que eventualmente previsto nos Contratos de Cessão e/ou em instrumentos eventualmente celebrados entre a Classe e os Endossantes, os Endossantes não serão responsáveis em caso de eventual inadimplemento dos Direitos Creditórios por eles cedidos, sendo responsáveis, não obstante, apenas pela existência, certeza, conteúdo, exatidão, veracidade, legitimidade, validade e correta f ormalização dos Direitos Creditórios que cederem à Classe, nos termos da legislação aplicável. 4.19 A Classe, o ADMINISTRADOR e o GESTOR, bem como seus controladores, sociedades coligadas, controladas ou sob controle comum, e/ou subsidiárias, não respondem pela certeza, liquidez, exigibilidade, conteúdo, exatidão, veracidade, legitimidade, validade e/ou correta f ormalização dos Direitos Creditórios adquiridos pela Classe, tampouco pela solvência dos Devedores e/ou Endossantes dos respectivos Direitos Creditórios. 4.20 Sem prejuízo do disposto no item 4.19 acima e, observado o disposto no item Erro! Fonte de referência não encontrada., o CUSTODIANTE f oi contratado pelo GESTOR para verificar e validar, na Data de Aquisição dos Direitos Creditórios pela Classe, o atendimento dos Direitos</a:t>
            </a:r>
          </a:p>
          <a:p>
            <a:r>
              <a:t>CNPJ 54871427000194 · Coobrigação e retenção de risco · Versão e prevalência: Leitura específica das cláusulas indicadas; condições e conflitos preservados. Seleção documental atual não comprova vigência jurídica por data isolada.</a:t>
            </a:r>
          </a:p>
          <a:p>
            <a:r>
              <a:t>CNPJ 54871427000194 · Coobrigação e retenção de risco · Resumo do histórico: {"count": 2, "dates": ["2024-04-19", "2024-04-28"], "document_count": 2, "sources": [{"document_id": "670691", "title": "Regulamento", "reference_date": "2024-04-28", "version": "1", "page": "10-12", "url": "https://fnet.bmfbovespa.com.br/fnet/publico/visualizarDocumento?id=670691", "sha256": "bf16dd7f1a62d5cdbf2e2d54fef81783783f7310fbc99c3a8f00459bdf9d037b"}, {"document_id": "670689", "title": "Regulamento", "reference_date": "2024-04-19", "version": "1", "page": 10, "clause": "4.7.3", "url": "https://fnet.bmfbovespa.com.br/fnet/publico/visualizarDocumento?id=670689", "sha256": "891bc9bc5d87bbc02ec139077a84d2702eb81ea02035fb71d24f5b8366b94a0b"}], "reference": {"path": "history/54871427000194.json", "criterion_id": "coobligation", "total_count": 2, "preview_count": 2, "full_text_deferred": true, "sha256": "35d7cd99be50c7287c9fb675cf4f2e736002315295a225a9efa79c8d9186d874"}}</a:t>
            </a:r>
          </a:p>
          <a:p>
            <a:r>
              <a:t>CNPJ 60010416000112 · Coobrigação e retenção de risco · Regulamento · ID 1051393 · 09/10/2025 · versão Regulamento09/10/2025 · p. 10 · AnexoI4.4.5 · https://fnet.bmfbovespa.com.br/fnet/publico/visualizarDocumento?id=1051393</a:t>
            </a:r>
          </a:p>
          <a:p>
            <a:r>
              <a:t>CNPJ 60010416000112 · Coobrigação e retenção de risco · Excerto da fonte:</a:t>
            </a:r>
          </a:p>
          <a:p>
            <a:r>
              <a:t>4.4.5. Caso um Direito Creditório endossado à Classe deixe de atender quaisquer Critérios de Elegibilidade, quaisquer condições de endosso e/ou quaisquer declarações e garantias referentes a esse Direito Creditório, conforme previsto no Contrato de Endosso, após seu endosso à Classe, não haverá coobrigação nem direito de regresso da Classe contra o Endossante, o Administrador, o Custodiante, o Gestor e/ou o Agente de Retenção/Cobrança, exceto em caso de má-fé, culpa ou dolo comprovado, hipótese em que a parte que agiu com má-f é, culpa ou dolo comprovado</a:t>
            </a:r>
          </a:p>
          <a:p>
            <a:r>
              <a:t>CNPJ 60010416000112 · Coobrigação e retenção de risco · Regulamento · ID 1051393 · 09/10/2025 · versão Regulamento09/10/2025 · p. 11 · AnexoI4.4.7 · https://fnet.bmfbovespa.com.br/fnet/publico/visualizarDocumento?id=1051393</a:t>
            </a:r>
          </a:p>
          <a:p>
            <a:r>
              <a:t>CNPJ 60010416000112 · Coobrigação e retenção de risco · Excerto da fonte:</a:t>
            </a:r>
          </a:p>
          <a:p>
            <a:r>
              <a:t>sem coobrigação do Endossante, da plena titularidade desse Direito Creditório, juntamente com todos os direitos, privilégios, pref erências, prerrogativas, garantias e ações a ele relacionados, bem como correção monetária, juros e encargos, sem prejuízo do direito da Classe (i) de exigir a recompra compulsória do respectivo Direito Creditório, de acordo com os termos do Contrato de Endosso; ou (ii) de vender Direitos Creditórios ao Agente de Retenção/Cobrança (opção de venda), em ambos os casos estritamente nos termos do Contrato de Endosso.</a:t>
            </a:r>
          </a:p>
          <a:p>
            <a:r>
              <a:t>CNPJ 60010416000112 · Coobrigação e retenção de risco · Versão e prevalência: Leitura específica das cláusulas indicadas; condições e conflitos preservados. Seleção documental atual não comprova vigência jurídica por data isolada.</a:t>
            </a:r>
          </a:p>
          <a:p>
            <a:r>
              <a:t>CNPJ 60010416000112 · Coobrigação e retenção de risco · Resumo do histórico: {"count": 2, "dates": ["2025-03-20", "2025-10-09"], "document_count": 2, "sources": [{"document_id": "1051393", "title": "Regulamento", "reference_date": "2025-10-09", "version": "1", "page": "10-11", "url": "https://fnet.bmfbovespa.com.br/fnet/publico/visualizarDocumento?id=1051393", "sha256": "8469d613078ffd5a6c1d217885d8a397a16342c0b937ae4aa24b106505f233ae"}, {"document_id": "993786", "title": "Regulamento", "reference_date": "2025-03-20", "version": "1", "page": 10, "clause": "4.4.5", "url": "https://fnet.bmfbovespa.com.br/fnet/publico/visualizarDocumento?id=993786", "sha256": "fd0fdd369a195510d81f81f505195a0b09e5f43522a990afa7d58c4f872921c8"}], "reference": {"path": "history/60010416000112.json", "criterion_id": "coobligation", "total_count": 2, "preview_count": 2, "full_text_deferred": true, "sha256": "8e2bd813f4c51cf01f6bfaad164bafe69d2bbb192f753eac92da3a01c2e63046"}}</a:t>
            </a:r>
          </a:p>
          <a:p>
            <a:r>
              <a:t>CNPJ 62696791000193 · Coobrigação e retenção de risco · Regulamento · ID 1143317 · 2026-03-20 · versão 1 · p. 11 · 4.7.3 · https://fnet.bmfbovespa.com.br/fnet/publico/visualizarDocumento?id=1143317</a:t>
            </a:r>
          </a:p>
          <a:p>
            <a:r>
              <a:t>CNPJ 62696791000193 · Coobrigação e retenção de risco · Excerto da fonte:</a:t>
            </a:r>
          </a:p>
          <a:p>
            <a:r>
              <a:t>4.7.3 Na hipótese de eventuais Direitos Creditórios do Agronegócio elegíveis deixarem de atender a  qualquer Critério de Elegibilidade após sua aquisição pela Classe, tal f ato não será entendido  como um desenquadramento da carteira, tampouco haverá direito de regresso contra o  Administrador e/ou o Gestor.</a:t>
            </a:r>
          </a:p>
          <a:p>
            <a:r>
              <a:t> Limites de concentração aplicáveis aos Direitos Creditórios do Agronegócio e fundos de investimento  em Direitos Creditórios do Agronegócio investidos pela Classe</a:t>
            </a:r>
          </a:p>
          <a:p>
            <a:r>
              <a:t>CNPJ 62696791000193 · Coobrigação e retenção de risco · Regulamento · ID 1143317 · 2026-03-20 · versão 1 · p. 11 · 4.9 · https://fnet.bmfbovespa.com.br/fnet/publico/visualizarDocumento?id=1143317</a:t>
            </a:r>
          </a:p>
          <a:p>
            <a:r>
              <a:t>CNPJ 62696791000193 · Coobrigação e retenção de risco · Excerto da fonte:</a:t>
            </a:r>
          </a:p>
          <a:p>
            <a:r>
              <a:t>4.9 Nos termos do Art. 45 do Anexo Normativo II da Resolução CVM 175, a Classe poderá ter até 100%  (cem por cento) de seu Patrimônio Líquido alocado em Direitos Creditórios do Agronegócio, devidos  por um mesmo Devedor e/ou de responsabilidade ou coobrigação de Devedores de um mesmo grupo</a:t>
            </a:r>
          </a:p>
          <a:p>
            <a:r>
              <a:t>CNPJ 62696791000193 · Coobrigação e retenção de risco · Regulamento · ID 1143317 · 2026-03-20 · versão 1 · p. 41 · 7.1 · https://fnet.bmfbovespa.com.br/fnet/publico/visualizarDocumento?id=1143317</a:t>
            </a:r>
          </a:p>
          <a:p>
            <a:r>
              <a:t>CNPJ 62696791000193 · Coobrigação e retenção de risco · Excerto da fonte:</a:t>
            </a:r>
          </a:p>
          <a:p>
            <a:r>
              <a:t>7.1. Risco de Crédito relativo aos Direitos Creditórios do Agronegócio. Decorre da capacidade dos  Devedores e/ou coobrigados, conforme aplicável, de honrarem seus compromissos pontual e  integralmente, conforme contratados. A Classe sof rerá o impacto do inadimplemento dos  Direitos Creditórios do Agronegócio detidos em Carteira que estejam vencidos e não pagos e  do não cumprimento, pelos Devedores e/ou coobrigados, conf orme aplicável, de suas  obrigações nos termos dos respectivos instrumentos. A Classe somente procederá ao resgate  das Cotas em moeda corrente nacional na medida em que os Direitos Creditórios do  Agronegócio sejam pagos pelos Devedores e/ou coobrigados, conforme aplicável, e desde  que os respectivos valores sejam transferidos à Classe, não havendo garantia de que o resgate  das Cotas ocorrerá integralmente conf orme estabelecido neste Regulamento, Anexo I e  demais documentos que o integrem, conforme aplicável. Nessas hipóteses, não será devido  pela Classe, pelo pelo Administrador, pelo Gestor e/ou pelo Custodiante, qualquer multa ou  penalidade, de qualquer natureza. Em caso de instauração de pedido de f alência, recuperação  judicial, de plano de recuperação extrajudicial ou qualquer outro procedimento de insolvência  dos Devedores e/ou coobrigados, conforme aplicável, a Classe poderá não receber os  pagamentos dos Direitos Creditórios do Agronegócio que compõem sua Carteira, o que poderá  af etar adversamente os resultados da Classe.</a:t>
            </a:r>
          </a:p>
          <a:p>
            <a:r>
              <a:t>CNPJ 62696791000193 · Coobrigação e retenção de risco · Condição: Documentos atuais selecionados no inventário por categoria/escopo; a data documental isolada não comprova vigência jurídica.</a:t>
            </a:r>
          </a:p>
          <a:p>
            <a:r>
              <a:t>CNPJ 62696791000193 · Coobrigação e retenção de risco · Versão e prevalência: Documentos atuais selecionados no inventário por categoria/escopo; a data documental isolada não comprova vigência jurídica.</a:t>
            </a:r>
          </a:p>
          <a:p>
            <a:r>
              <a:t>CNPJ 55563624000109 · Coobrigação e retenção de risco · Demonstrações Financeiras · ID 1178840 · 2026-01-31 · versão 1 · p. 21 · https://fnet.bmfbovespa.com.br/fnet/publico/visualizarDocumento?id=1178840</a:t>
            </a:r>
          </a:p>
          <a:p>
            <a:r>
              <a:t>CNPJ 55563624000109 · Coobrigação e retenção de risco · Excerto da fonte:</a:t>
            </a:r>
          </a:p>
          <a:p>
            <a:r>
              <a:t>ii) Risco de sistemas. Dada a complexidade operacional própria dos fundos de  investimento em direitos creditórios, não há garantia de que as trocas de informações  entre os sistemas eletrônicos do Custodiante, da Administradora, do Gestor, da  Classe e, quando aplicável, do endossante, dos devedores e/ou coobrigados,  conforme aplicável, se darão livres de erros. Caso qualquer desses riscos venha a  se materializar, a aquisição, cobrança ou realização dos direitos creditórios poderá  ser adversamente afetada, prejudicando o desempenho da Classe.</a:t>
            </a:r>
          </a:p>
          <a:p>
            <a:r>
              <a:t>CNPJ 55563624000109 · Coobrigação e retenção de risco · Condição: Trechos do documento específico identificado com data mais recente; vigência jurídica não inferida.</a:t>
            </a:r>
          </a:p>
          <a:p>
            <a:r>
              <a:t>CNPJ 55563624000109 · Coobrigação e retenção de risco · Versão e prevalência: Trechos do documento específico identificado com data mais recente; vigência jurídica não inferida.</a:t>
            </a:r>
          </a:p>
          <a:p>
            <a:r>
              <a:t>CNPJ 55563624000109 · Coobrigação e retenção de risco · Resumo do histórico: {"count": 1, "dates": ["2025-01-31"], "document_count": 1, "sources": [{"document_id": "891861", "title": "Demonstrações Financeiras", "reference_date": "2025-01-31", "version": "1", "page": 21, "url": "https://fnet.bmfbovespa.com.br/fnet/publico/visualizarDocumento?id=891861", "sha256": "e9cb9e6ddbe505fe068cfcac33605165a98313489de0d3ce6d4d238263c3f3e7"}], "reference": {"path": "history/55563624000109.json", "criterion_id": "coobligation", "total_count": 1, "preview_count": 1, "full_text_deferred": true, "sha256": "7835d573fb58a3c19adf5b8ecc2aee2bdbb9a88f7a0c0209b5f262b64c7522e3"}}</a:t>
            </a:r>
          </a:p>
          <a:p>
            <a:r>
              <a:t>CNPJ 62552447000120 · Coobrigação e retenção de risco · Regulamento · ID 1200623 · 21/05/2026 · versão Consolidado21/05/2026 aprovado pelo ato1200625 · p. 13 · AnexoI4.6.3–4.6.4 · https://fnet.bmfbovespa.com.br/fnet/publico/visualizarDocumento?id=1200623</a:t>
            </a:r>
          </a:p>
          <a:p>
            <a:r>
              <a:t>CNPJ 62552447000120 · Coobrigação e retenção de risco · Excerto da fonte:</a:t>
            </a:r>
          </a:p>
          <a:p>
            <a:r>
              <a:t>4.6.4 Após a formalização, o endosso de um Direito Creditório Consignado Privado, Direito Creditório FGTS e Direito Creditório Refinanciamento Livre à Classe será irrevogável e irretratável, com a transf erência, à Classe, de f orma def initiva, sem coobrigação do Endossante, da plena titularidade desse Direito Creditório, juntamente com todos os direitos, privilégios, preferências, prerrogativas, garantias e ações a ele relacionados, bem como correção monetária, juros e encargos, sem prejuízo do direito da Classe (i) de exigir a resolução do endosso do respectivo D</a:t>
            </a:r>
          </a:p>
          <a:p>
            <a:r>
              <a:t>CNPJ 62552447000120 · Coobrigação e retenção de risco · Regulamento · ID 1200623 · 21/05/2026 · versão Consolidado21/05/2026 aprovado pelo ato1200625 · p. 16 · AnexoI4.22 · https://fnet.bmfbovespa.com.br/fnet/publico/visualizarDocumento?id=1200623</a:t>
            </a:r>
          </a:p>
          <a:p>
            <a:r>
              <a:t>CNPJ 62552447000120 · Coobrigação e retenção de risco · Excerto da fonte:</a:t>
            </a:r>
          </a:p>
          <a:p>
            <a:r>
              <a:t>4.22 Exceto na medida em que eventualmente previsto no s Contratos de Endosso e/ou em instrumentos eventualmente celebrados entre a Classe e o Endossante e/ou o Agente de Retenção e Cobrança, conf orme aplicável, o Endossante e/ou o Agente de Retenção e Cobrança não serão responsáveis em caso de eventual inadimplemento dos Direitos Creditórios . 4.23 A Classe, o Administrador e o Gestor, bem como seus controladores, sociedades coligadas, controladas ou sob controle comum, e/ou subsidiárias, não respondem pela certeza, liquidez, exigibilidade, conteúdo, exatidão, veracidade, legitimidade, validade e/ou co</a:t>
            </a:r>
          </a:p>
          <a:p>
            <a:r>
              <a:t>CNPJ 62552447000120 · Coobrigação e retenção de risco · Versão e prevalência: Leitura específica das cláusulas indicadas; condições e conflitos preservados. Seleção documental atual não comprova vigência jurídica por data isolada.</a:t>
            </a:r>
          </a:p>
          <a:p>
            <a:r>
              <a:t>CNPJ 63953620000165 · Coobrigação e retenção de risco · Anexo ao Regulamento · ID 1222863 · 02/06/2026 · versão AnexoConsignadoPrivado02/06/2026 · p. 6 · 4.8,4.10.3 · https://fnet.bmfbovespa.com.br/fnet/publico/visualizarDocumento?id=1222863</a:t>
            </a:r>
          </a:p>
          <a:p>
            <a:r>
              <a:t>CNPJ 63953620000165 · Coobrigação e retenção de risco · Excerto da fonte:</a:t>
            </a:r>
          </a:p>
          <a:p>
            <a:r>
              <a:t>4.10.3 Não haverá coobrigação nem direito de regresso da Classe contra o Endossante, o Administrador, o Custodiante, o Gestor e/ou o Agente de Retenção/Cobrança, exceto em caso de má-fé, culpa ou dolo comprovado, hipótese em que a parte que agiu com má-fé, culpa ou dolo comprovado poderá ser responsabilizada pelas perdas incorridas pela Classe em relação aos respectivos Direitos Creditórios Crédito Consignado. 4.11 Além dos Critérios de Elegibilidade acima mencionados, a serem verificados pelo Gestor ou terceiro por ele contratado, o Endossante e o Agente de Retenção/Cobrança declararão, expr</a:t>
            </a:r>
          </a:p>
          <a:p>
            <a:r>
              <a:t>CNPJ 63953620000165 · Coobrigação e retenção de risco · Versão e prevalência: Leitura específica das cláusulas indicadas; condições e conflitos preservados. Seleção documental atual não comprova vigência jurídica por data isolada.</a:t>
            </a:r>
          </a:p>
          <a:p>
            <a:r>
              <a:t>CNPJ 63953620000165 · Coobrigação e retenção de risco · Resumo do histórico: {"count": 8, "dates": ["2026-04-28", "2026-05-08", "2026-05-15"], "document_count": 3, "sources": [{"document_id": "1327859", "title": "Demonstrações Financeiras - Fusão, cisão e incorporação", "reference_date": "2026-05-15", "version": "1", "page": 16, "url": "https://fnet.bmfbovespa.com.br/fnet/publico/visualizarDocumento?id=1327859", "sha256": "dca1c68babb97f887528c3e2e47596a9c30f507b067981a35655b2f2da9c8054"}, {"document_id": "1298691", "title": "Demonstrações Financeiras - Fusão, cisão e incorporação", "reference_date": "2026-05-08", "version": "1", "page": 16, "url": "https://fnet.bmfbovespa.com.br/fnet/publico/visualizarDocumento?id=1298691", "sha256": "58c570d9b8d4d265330d3db3ea81c435b8e44a6dab4002aa37790652a1ee9819"}, {"document_id": "1282180", "title": "Demonstrações Financeiras - Fusão, cisão e incorporação", "reference_date": "2026-04-28", "version": "1", "page": 16, "url": "https://fnet.bmfbovespa.com.br/fnet/publico/visualizarDocumento?id=1282180", "sha256": "afaaa0e6809be4385e5bdb6c911aac582032c5bdbac3d7750234bf9eaf00438a"}], "reference": {"path": "history/63953620000165.json", "criterion_id": "coobligation",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Qualidade da carteira</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Metodologia de PDD e curva por atraso · Base da comparação IME: {"criterion_id": "pdd", "observed_value": null, "unit": "", "competence": "08/2026", "status": "not_comparable", "reason": "A curva de PDD requer atraso, contágio e garantias por operação; o agregado mensal não demonstra aplicação da metodologia.", "formula": "", "source": {"type": "ime_document", "cnpj": "54871427000194", "competence": "08/2026", "path": "data/documentary_diligence/ime/54871427000194_202608.json", "reported_fund_cnpj": "54871427000194", "reported_class_cnpj": "54871427000194", "reported_fund_cnpj_raw": "54871427000194", "reported_class_cnpj_raw": "54871427000194",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"1315514", "version": 1, "delivered_at": "11/09/2026 11:26", "url": "https://fnet.bmfbovespa.com.br/fnet/publico/exibirDocumento?id=1315514", "declared_fields_sha256": "e602e1ca8c35da6c22ec794864aad7324574f535a3bb35236042c6ee1a368157", "snapshot_path": "data/documentary_diligence/ime/54871427000194_202608.json"}, "headroom": null, "limit": null, "comparison_required": true, "context_formula": "PDD / direitos creditórios", "context_value": 0.397174994710542, "context_unit": "percent"}</a:t>
            </a:r>
          </a:p>
          <a:p>
            <a:r>
              <a:t>CNPJ 54871427000194 · Metodologia de PDD e curva por atraso · Regulamento · ID 670691 · 28/04/2024 · versão Regulamento — referência 28/04/2024 · p. 17 · Anexo I, 9.2–9.2.1 · https://fnet.bmfbovespa.com.br/fnet/publico/visualizarDocumento?id=670691</a:t>
            </a:r>
          </a:p>
          <a:p>
            <a:r>
              <a:t>CNPJ 54871427000194 · Metodologia de PDD e curva por atraso · Excerto da fonte:</a:t>
            </a:r>
          </a:p>
          <a:p>
            <a:r>
              <a:t>9.2 As provisões para perdas e as perdas havidas com Direitos Creditórios ou com os Ativos Financeiros de Liquidez integrantes da Carteira serão, respectivamente, efetuadas ou reconhecidas nos termos da Instrução CVM 489. Desta forma, o valor do saldo dos Direitos Creditórios e/ou Ativos Financeiros de Liquidez será reduzido pelo valor da provisão ef etuada ou perda reconhecida. 9.2.1 O ef eito de perda ou provisão para devedores duvidosos de Direitos Creditórios de um mesmo Devedor deverá ser mensurado levando-se em consideração o disposto no Art. 13 da Instrução CVM 489, sendo f acultada a análise individualizada dos Direitos Creditórios, observada a metodologia de avaliação descrita no manual d o ADMINISTRADOR ou, ainda, no manual do CUSTODIANTE. CAPÍTULO 10 – ASSEMBLEIA ESPECIAL DE COTISTAS 10.1 Sem prejuízo de outros requisitos e inf ormações previstos na regulamentação vigente, são aplicáveis à Assembleia Especial de Cotistas as mesmas disposições procedimentais da Assembleia Geral de Cotistas. 10.2 A Assembleia Especial de Cotistas é responsável por deliberar sobre as matérias específicas da Classe de Cotas, sem prejuízo das demais disposições previstas</a:t>
            </a:r>
          </a:p>
          <a:p>
            <a:r>
              <a:t>CNPJ 54871427000194 · Metodologia de PDD e curva por atraso · Condição: Os percentuais do Complemento 2 são descontos de cobrança e comissões; não são alíquotas de PDD. O manual operacional referenciado permanece uma fonte separada.</a:t>
            </a:r>
          </a:p>
          <a:p>
            <a:r>
              <a:t>CNPJ 54871427000194 · Metodologia de PDD e curva por atraso · Versão e prevalência: Leitura específica das cláusulas indicadas; condições e conflitos preservados. Seleção documental atual não comprova vigência jurídica por data isolada.</a:t>
            </a:r>
          </a:p>
          <a:p>
            <a:r>
              <a:t>CNPJ 54871427000194 · Metodologia de PDD e curva por atraso · Resumo do histórico: {"count": 4, "dates": ["2024-12-31", "2025-01-01", "2025-12-31"], "document_count": 3, "sources": [{"document_id": "1151805", "title": "Demonstrações Financeiras", "reference_date": "2025-12-31", "version": "1", "page": 17, "url": "https://fnet.bmfbovespa.com.br/fnet/publico/visualizarDocumento?id=1151805", "sha256": "f1cea70b152968bf96ef9221b27225953cb20aeef487b2798db3c25e11b528d4"}, {"document_id": "869529", "title": "Demonstrações Financeiras", "reference_date": "2025-01-01", "version": "1", "page": 17, "url": "https://fnet.bmfbovespa.com.br/fnet/publico/visualizarDocumento?id=869529", "sha256": "9a93a9369ac8efdbc54ff8fcee3ccac3abf88edab4807b9323d3852450771b2a"}, {"document_id": "870070", "title": "Demonstrações Financeiras", "reference_date": "2024-12-31", "version": "1", "page": 17, "url": "https://fnet.bmfbovespa.com.br/fnet/publico/visualizarDocumento?id=870070", "sha256": "9a93a9369ac8efdbc54ff8fcee3ccac3abf88edab4807b9323d3852450771b2a"}], "reference": {"path": "history/54871427000194.json", "criterion_id": "pdd", "total_count": 4, "preview_count": 3, "full_text_deferred": true, "sha256": "35d7cd99be50c7287c9fb675cf4f2e736002315295a225a9efa79c8d9186d874"}}</a:t>
            </a:r>
          </a:p>
          <a:p>
            <a:r>
              <a:t>CNPJ 60010416000112 · Metodologia de PDD e curva por atraso · Base da comparação IME: {"criterion_id": "pdd", "observed_value": null, "unit": "", "competence": "08/2026", "status": "not_comparable", "reason": "A curva de PDD requer atraso, contágio e garantias por operação; o agregado mensal não demonstra aplicação da metodologia.", "formula": "", "source": {"type": "ime_document", "cnpj": "60010416000112", "competence": "08/2026", "path": "data/documentary_diligence/ime/60010416000112_202608.json", "reported_fund_cnpj": "60010416000112", "reported_class_cnpj": "60010416000112", "reported_fund_cnpj_raw": "60010416000112", "reported_class_cnpj_raw": "60010416000112",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"1315533", "version": 1, "delivered_at": "11/09/2026 11:26", "url": "https://fnet.bmfbovespa.com.br/fnet/publico/exibirDocumento?id=1315533", "declared_fields_sha256": "0aed6c3570de8c7ac1ff2efb6a16b78c3639f5a951d26b46c1ddf1db84495655", "snapshot_path": "data/documentary_diligence/ime/60010416000112_202608.json"}, "headroom": null, "limit": null, "comparison_required": true, "context_formula": "PDD / direitos creditórios", "context_value": 19.008881839133778, "context_unit": "percent"}</a:t>
            </a:r>
          </a:p>
          <a:p>
            <a:r>
              <a:t>CNPJ 60010416000112 · Metodologia de PDD e curva por atraso · Regulamento · ID 1051393 · 09/10/2025 · versão Regulamento09/10/2025 · p. 17 · AnexoI8.1(iv)–(v),8.3–8.3.1 · https://fnet.bmfbovespa.com.br/fnet/publico/visualizarDocumento?id=1051393</a:t>
            </a:r>
          </a:p>
          <a:p>
            <a:r>
              <a:t>CNPJ 60010416000112 · Metodologia de PDD e curva por atraso · Excerto da fonte:</a:t>
            </a:r>
          </a:p>
          <a:p>
            <a:r>
              <a:t>8.1 Os ativos da Carteira serão avaliados todos os Dias Úteis de acordo com critérios consistentes e verif icáveis, apoiados por inf ormações externas e internas que levem em consideração aspectos relacionados aos Devedores e às características da transação correspondente, de acordo com a seguinte metodologia de avaliação. (i) os Ativos Financeiros de Liquidez deverão ser registrados e ter seus valores ajustados a mercado, sujeitos às regras e procedimentos definidos no manual de marcação a mercado do Custodiante e de acordo com as regras do Banco Central e da CVM, aplicá</a:t>
            </a:r>
          </a:p>
          <a:p>
            <a:r>
              <a:t>CNPJ 60010416000112 · Metodologia de PDD e curva por atraso · Condição: Curva numérica por atraso não é transcrita; manuais/contrato têm perímetro distinto do indicador agregado do IME.</a:t>
            </a:r>
          </a:p>
          <a:p>
            <a:r>
              <a:t>CNPJ 60010416000112 · Metodologia de PDD e curva por atraso · Motivo: Cláusula primária localizada e citada, mas sua lista/condições extensas não admitem uma síntese literal curta confirmada. O trecho integral permanece nas fontes.</a:t>
            </a:r>
          </a:p>
          <a:p>
            <a:r>
              <a:t>CNPJ 60010416000112 · Metodologia de PDD e curva por atraso · Versão e prevalência: Leitura específica das cláusulas indicadas; condições e conflitos preservados. Seleção documental atual não comprova vigência jurídica por data isolada.</a:t>
            </a:r>
          </a:p>
          <a:p>
            <a:r>
              <a:t>CNPJ 60010416000112 · Metodologia de PDD e curva por atraso · Resumo do histórico: {"count": 1, "dates": ["2025-03-20"], "document_count": 1, "sources": [{"document_id": "993786", "title": "Regulamento", "reference_date": "2025-03-20", "version": "1", "page": 17, "clause": "8.1", "url": "https://fnet.bmfbovespa.com.br/fnet/publico/visualizarDocumento?id=993786", "sha256": "fd0fdd369a195510d81f81f505195a0b09e5f43522a990afa7d58c4f872921c8"}], "reference": {"path": "history/60010416000112.json", "criterion_id": "pdd", "total_count": 1, "preview_count": 1, "full_text_deferred": true, "sha256": "8e2bd813f4c51cf01f6bfaad164bafe69d2bbb192f753eac92da3a01c2e63046"}}</a:t>
            </a:r>
          </a:p>
          <a:p>
            <a:r>
              <a:t>CNPJ 62696791000193 · Metodologia de PDD e curva por atraso · Regulamento · ID 1143317 · 20/03/2026 · versão Regulamento — referência 20/03/2026 · p. 11 · Anexo I, 4.7.3 · https://fnet.bmfbovespa.com.br/fnet/publico/visualizarDocumento?id=1143317</a:t>
            </a:r>
          </a:p>
          <a:p>
            <a:r>
              <a:t>CNPJ 62696791000193 · Metodologia de PDD e curva por atraso · Excerto da fonte:</a:t>
            </a:r>
          </a:p>
          <a:p>
            <a:r>
              <a:t>4.7.3 Na hipótese de eventuais Direitos Creditórios do Agronegócio elegíveis deixarem de atender a qualquer Critério de Elegibilidade após sua aquisição pela Classe, tal f ato não será entendido como um desenquadramento da carteira, tampouco haverá direito de regresso contra o Administrador e/ou o Gestor. Limites de concentração aplicáveis aos Direitos Creditórios do Agronegócio e fundos de investimento em Direitos Creditórios do Agronegócio investidos pela Classe 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t>
            </a:r>
          </a:p>
          <a:p>
            <a:r>
              <a:t>CNPJ 62696791000193 · Metodologia de PDD e curva por atraso · Condição: PDD mensal observada e metodologia contratual são evidências separadas.</a:t>
            </a:r>
          </a:p>
          <a:p>
            <a:r>
              <a:t>CNPJ 62696791000193 · Metodologia de PDD e curva por atraso · Motivo: Leitura do consolidado de 48 páginas não localizou metodologia de PDD/curva por atraso. A cláusula 4.7.3 trata de perda posterior de elegibilidade; não estabelece provisionamento.</a:t>
            </a:r>
          </a:p>
          <a:p>
            <a:r>
              <a:t>CNPJ 62696791000193 · Metodologia de PDD e curva por atraso · Versão e prevalência: Leitura específica das cláusulas indicadas; condições e conflitos preservados. Seleção documental atual não comprova vigência jurídica por data isolada.</a:t>
            </a:r>
          </a:p>
          <a:p>
            <a:r>
              <a:t>CNPJ 55563624000109 · Metodologia de PDD e curva por atraso · Base da comparação IME: {"criterion_id": "pdd", "observed_value": null, "unit": "", "competence": "08/2026", "status": "not_comparable", "reason": "A curva de PDD requer atraso, contágio e garantias por operação; o agregado mensal não demonstra aplicação da metodologia.", "formula": "", "source": {"type": "ime_document", "cnpj": "55563624000109", "competence": "08/2026", "path": "data/documentary_diligence/ime/55563624000109_202608.json", "reported_fund_cnpj": "55563624000109", "reported_class_cnpj": "55563624000109", "reported_fund_cnpj_raw": "55563624000109", "reported_class_cnpj_raw": "55563624000109", "identity_basis": "class", "warnings": ["Soma dos saldos de cotas diverge do PL oficial; saldos por camada não certificados."], "numeric_normalization": "FundosNet XML numeric parser; CNPJ strings preserved", "fields": ["net_asset_value", "credit_rights", "overdue_credit", "cash", "pdd", "fidc_quotas"],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"1315359", "version": 1, "delivered_at": "11/09/2026 11:25", "url": "https://fnet.bmfbovespa.com.br/fnet/publico/exibirDocumento?id=1315359", "declared_fields_sha256": "edbd727b464e96e2ba481078c6aea703ed7a8c80a1fea7c65794263fca2f43f1", "snapshot_path": "data/documentary_diligence/ime/55563624000109_202608.json"}, "headroom": null, "limit": null, "comparison_required": true, "context_formula": "PDD / direitos creditórios", "context_value": null, "context_unit": "percent"}</a:t>
            </a:r>
          </a:p>
          <a:p>
            <a:r>
              <a:t>CNPJ 55563624000109 · Metodologia de PDD e curva por atraso · Regulamento · ID 1192614 · 30/04/2026 · versão Regulamento30/04/2026 · p. 19 · AnexoI9.1–9.2.1 · https://fnet.bmfbovespa.com.br/fnet/publico/visualizarDocumento?id=1192614</a:t>
            </a:r>
          </a:p>
          <a:p>
            <a:r>
              <a:t>CNPJ 55563624000109 · Metodologia de PDD e curva por atraso · Excerto da fonte:</a:t>
            </a:r>
          </a:p>
          <a:p>
            <a:r>
              <a:t>9.1 As Cotas da Classe Investida e Ativos Financeiros de Liquidez que compõem a Carteira da Classe terão seus valores calculados todo Dia Útil conforme a metodologia de avaliação descrita no manual do ADMINISTRADOR, disponível no seu website, no endereço https://www.btgpactual.com/asset-management/administracao- fiduciaria#documentos. 9.2 As provisões para perdas e as perdas havidas com as Cotas da Classe Investida ou com os Ativos Financeiros de Liquidez integrantes da Carteira serão, respectivamente, efetuadas ou reconhecidas pelo ADMINISTRADOR, de</a:t>
            </a:r>
          </a:p>
          <a:p>
            <a:r>
              <a:t>CNPJ 55563624000109 · Metodologia de PDD e curva por atraso · Condição: PDD do FIC reflete cotas/liquidez; atraso/PDD de devedores finais exige IME do investido.</a:t>
            </a:r>
          </a:p>
          <a:p>
            <a:r>
              <a:t>CNPJ 55563624000109 · Metodologia de PDD e curva por atraso · Versão e prevalência: Leitura específica das cláusulas indicadas; condições e conflitos preservados. Seleção documental atual não comprova vigência jurídica por data isolada.</a:t>
            </a:r>
          </a:p>
          <a:p>
            <a:r>
              <a:t>CNPJ 62552447000120 · Metodologia de PDD e curva por atraso · Base da comparação IME: {"criterion_id": "pdd", "observed_value": null, "unit": "", "competence": "08/2026", "status": "not_comparable", "reason": "A curva de PDD requer atraso, contágio e garantias por operação; o agregado mensal não demonstra aplicação da metodologia.", "formula": "", "source": {"type": "ime_document", "cnpj": "62552447000120", "competence": "08/2026", "path": "data/documentary_diligence/ime/62552447000120_202608.json", "reported_fund_cnpj": "62552447000120", "reported_class_cnpj": "62552447000120", "reported_fund_cnpj_raw": "62552447000120", "reported_class_cnpj_raw": "62552447000120",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"1315500", "version": 1, "delivered_at": "11/09/2026 11:25", "url": "https://fnet.bmfbovespa.com.br/fnet/publico/exibirDocumento?id=1315500", "sha256": "5935b657746c2457944e2ead00fd5cc09dfeb0ceb874c86462a1a30e5707a2b2", "snapshot_path": "data/documentary_diligence/ime/62552447000120_202608.json"}, "headroom": null, "limit": null, "comparison_required": true, "context_formula": "PDD / direitos creditórios", "context_value": 9.644446353219038, "context_unit": "percent"}</a:t>
            </a:r>
          </a:p>
          <a:p>
            <a:r>
              <a:t>CNPJ 62552447000120 · Metodologia de PDD e curva por atraso · Regulamento · ID 1200623 · 21/05/2026 · versão Consolidado21/05/2026 aprovado pelo ato1200625 · p. 20 · AnexoI9.1–9.2.1 · https://fnet.bmfbovespa.com.br/fnet/publico/visualizarDocumento?id=1200623</a:t>
            </a:r>
          </a:p>
          <a:p>
            <a:r>
              <a:t>CNPJ 62552447000120 · Metodologia de PDD e curva por atraso · Excerto da fonte:</a:t>
            </a:r>
          </a:p>
          <a:p>
            <a:r>
              <a:t>9.1 Os Direitos Creditórios e Ativos Financeiros que compõem a Carteira terão seus valores calculados todo Dia Útil conforme a metodologia de avaliação descrita no manual d o Administrador ou, ainda, nos manuais do Custodiante, disponíveis nos seus respectivos websites, no endereço https://www.btgpactual.com/asset-management/administracao-f iduciaria#documentos. 9.2 As provisões para perdas e as perdas havidas com Direitos Creditórios ou com os Ativos Financeiros integrantes da Carteira serão, respectivamente, efetuadas ou reconhecidas nos termos da Instrução da CVM n.º 489, de 14 de janeiro de 2011, c</a:t>
            </a:r>
          </a:p>
          <a:p>
            <a:r>
              <a:t>CNPJ 62552447000120 · Metodologia de PDD e curva por atraso · Condição: Cláusula não transcreve curva de provisão por faixa de atraso; percentual PDD do IME não reproduz manual.</a:t>
            </a:r>
          </a:p>
          <a:p>
            <a:r>
              <a:t>CNPJ 62552447000120 · Metodologia de PDD e curva por atraso · Motivo: Não localizada uma cláusula material para este critério nos textos identificados e processados. A ausência de resultado não comprova inexistência da regra.</a:t>
            </a:r>
          </a:p>
          <a:p>
            <a:r>
              <a:t>CNPJ 62552447000120 · Metodologia de PDD e curva por atraso · Versão e prevalência: Leitura específica das cláusulas indicadas; condições e conflitos preservados. Seleção documental atual não comprova vigência jurídica por data isolada.</a:t>
            </a:r>
          </a:p>
          <a:p>
            <a:r>
              <a:t>CNPJ 63953620000165 · Metodologia de PDD e curva por atraso · Base da comparação IME: {"criterion_id": "pdd", "observed_value": null, "unit": "", "competence": "08/2026", "status": "not_comparable", "reason": "A curva de PDD requer atraso, contágio e garantias por operação; o agregado mensal não demonstra aplicação da metodologia.", "formula": "", "source": {"type": "ime_document", "cnpj": "63953620000165", "competence": "08/2026", "path": "data/documentary_diligence/ime/63953620000165_202608.json", "reported_fund_cnpj": "63953620000165", "reported_class_cnpj": "63953619000130", "reported_fund_cnpj_raw": "63953620000165", "reported_class_cnpj_raw": "63953619000130", "identity_basis": "verified_fund_class_inversion", "warnings":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"identity_mapping": {"schema_version": 1, "cnpj": "63953620000165", "relationship": "class_of_fund", "status": "verified", "fund_cnpj": "63953619000130", "class_cnpj": "63953620000165", "class_name": "CLASSE CONSIGNADO PRIVADO DO MT GLOBAL FUNDO DE INVESTIMENTO EM DIREITOS CREDITÓRIOS RESP LIMITADA", "effective_from": "2025-12-05", "registry_fund_id": "15695", "registry_class_id": "33546", "allowed_header_layout": "fund_class_inverted", "allowed_header_pair": {"NR_CNPJ_FUNDO": "63953620000165", "NR_CNPJ_CLASSE": "63953619000130"}, "sources": [{"document_id": "cvm-registro-fundo-15695-classe-33546", "title": "Cadastro CVM de fundos e classes: vínculo por ID_Registro_Fundo", "url": "https://dados.cvm.gov.br/dados/FI/CAD/DADOS/registro_fundo_classe.zip", "reference_date": "2025-12-05", "version": "Registro Fundo15695; Classe33546; snapshot local identificado por SHA256", "clause": "registro_fundo.csv: ID_Registro_Fundo=15695; registro_classe.csv: ID_Registro_Classe=33546, ID_Registro_Fundo=15695", "sha256": "177485618af2239f2b451972fb6e46b217580b50a3bf70cdf01938882e415f93", "identity_verified": true, "excerpt": "{\"CNPJ_Fundo\": \"63953619000130\", \"ID_Registro_Fundo\": \"15695\", \"CNPJ_Classe\": \"63953620000165\", \"ID_Registro_Classe\": \"33546\", \"Denominacao_Classe\": \"CLASSE CONSIGNADO PRIVADO DO MT GLOBAL FUNDO DE INVESTIMENTO EM DIREITOS CREDITÓRIOS RESP LIMITADA\", \"Data_Registro_Classe\": \"2025-12-05\"}"}, {"document_id": 1222863, "title": "Anexo ao Regulamento", "url": "https://fnet.bmfbovespa.com.br/fnet/publico/visualizarDocumento?id=1222863", "reference_date": "02/06/2026", "version": "AnexoI específico da Classe Consignado Privado", "page": "1", "clause": "AnexoI,1.1", "sha256": "71399bc1b41829bdfa10310500cada714a9f517b1440504ba7dc647dbefafdc9", "identity_verified": true, "excerpt": "CLASSE CONSIGNADO PRIVADO DO MT GLOBAL FUNDO DE INVESTIMENTO EM DIREITOS CREDITÓRIOS RESPONSABILIDADE LIMITADA. CAPÍTULO1–CARACTERÍSTICAS GERAIS.1.1 As principais características da Classe Consignado Privado (para fins deste Anexo, Classe) estão descritas abaixo."}, {"document_id": 1222860, "title": "AGE", "url": "https://fnet.bmfbovespa.com.br/fnet/publico/visualizarDocumento?id=1222860", "reference_date": "02/06/2026 10:00", "version": "AGC12/06/2026", "page": "1", "clause": "Cabeçalho e deliberação4(i)(a)–(d)", "sha256": "7b23ee63cd7e3df39fb0ddd1eba37277dea6600d607a6c77022ae4452f74240c", "identity_verified": true, "excerpt": "MT GLOBAL FIDC RESPONSABILIDADE LIMITADA, CNPJ63.953.619/0001-30. Deliberações alteram as taxas de gestão das classes Consignado Privado, INSS, Cartão Benefício e FGTS. Efeitos no fechamento de01/06/2026."}], "reason": "Cadastro CVM vincula os CNPJs por ID_Registro_Fundo, independentemente dos nomes. Layout permitido somente para esta dupla exata: campo de fundo contém CNPJ da classe CP e campo de classe contém CNPJ do respectivo fundo. Existem várias classes; não usar class_unique nem nome para ampliar a correspondência."},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"1316675", "version": 1, "delivered_at": "11/09/2026 19:36", "url": "https://fnet.bmfbovespa.com.br/fnet/publico/exibirDocumento?id=1316675", "declared_fields_sha256": "348b082ef8d00fcff8437d9832be7498f748a2dd95052619709b91d780e4b596", "snapshot_path": "data/documentary_diligence/ime/63953620000165_202608.json"}, "headroom": null, "limit": null, "comparison_required": true, "context_formula": "PDD / direitos creditórios", "context_value": 5.5101286576011415, "context_unit": "percent"}</a:t>
            </a:r>
          </a:p>
          <a:p>
            <a:r>
              <a:t>CNPJ 63953620000165 · Metodologia de PDD e curva por atraso · Anexo ao Regulamento · ID 1222863 · 02/06/2026 · versão AnexoConsignadoPrivado02/06/2026 · p. 12 · 9.1–9.2.1 · https://fnet.bmfbovespa.com.br/fnet/publico/visualizarDocumento?id=1222863</a:t>
            </a:r>
          </a:p>
          <a:p>
            <a:r>
              <a:t>CNPJ 63953620000165 · Metodologia de PDD e curva por atraso · Excerto da fonte:</a:t>
            </a:r>
          </a:p>
          <a:p>
            <a:r>
              <a:t>9.1 Os Direitos Creditórios e Ativos Financeiros que compõem a Carteira da Classe terão seus valores calculados todo Dia Útil conforme a metodologia de avaliação descrita no manual do Administrador ou, ainda, nos manuais do Custodiante, disponíveis nos seus respectivos websites, no endereço https://www.btgpactual.com/asset- management/administracao-fiduciaria#documentos 9.2 As provisões para perdas e as perdas havidas com Direitos Creditórios ou com os Ativos Financeiros integrantes da Carteira serão, respectivamente, efetuadas ou reconhecidas nos termos da Instrução CVM 489. Desta forma, o valor do saldo dos Dire</a:t>
            </a:r>
          </a:p>
          <a:p>
            <a:r>
              <a:t>CNPJ 63953620000165 · Metodologia de PDD e curva por atraso · Versão e prevalência: Leitura específica das cláusulas indicadas; condições e conflitos preservados. Seleção documental atual não comprova vigência jurídica por data isolada.</a:t>
            </a:r>
          </a:p>
          <a:p>
            <a:r>
              <a:t>CNPJ 63953620000165 · Metodologia de PDD e curva por atraso · Resumo do histórico: {"count": 7, "dates": ["2026-04-16", "2026-04-28", "2026-05-08"], "document_count": 3, "sources": [{"document_id": "1298691", "title": "Demonstrações Financeiras - Fusão, cisão e incorporação", "reference_date": "2026-05-08", "version": "1", "page": 18, "url": "https://fnet.bmfbovespa.com.br/fnet/publico/visualizarDocumento?id=1298691", "sha256": "58c570d9b8d4d265330d3db3ea81c435b8e44a6dab4002aa37790652a1ee9819"}, {"document_id": "1282180", "title": "Demonstrações Financeiras - Fusão, cisão e incorporação", "reference_date": "2026-04-28", "version": "1", "page": 18, "url": "https://fnet.bmfbovespa.com.br/fnet/publico/visualizarDocumento?id=1282180", "sha256": "afaaa0e6809be4385e5bdb6c911aac582032c5bdbac3d7750234bf9eaf00438a"}, {"document_id": "1282179", "title": "Demonstrações Financeiras - Fusão, cisão e incorporação", "reference_date": "2026-04-16", "version": "1", "page": 18, "url": "https://fnet.bmfbovespa.com.br/fnet/publico/visualizarDocumento?id=1282179", "sha256": "beb67afbcd64169019477673fd3b7c1edbfabbd9db07379388d8cdd5d3fc9395"}], "reference": {"path": "history/63953620000165.json", "criterion_id": "pdd", "total_count": 7, "preview_count": 3, "full_text_deferred": true, "sha256": "a7b89077f5e21098c2d601c303faabc3ff6b9729f89d8afecdc60fe1404720c1"}}</a:t>
            </a:r>
          </a:p>
          <a:p>
            <a:r>
              <a:t>CNPJ 54871427000194 · Gatilhos de atraso e rolagem · Motivo: Não localizada uma cláusula material para este critério nos textos identificados e processados. A ausência de resultado não comprova inexistência da regra.</a:t>
            </a:r>
          </a:p>
          <a:p>
            <a:r>
              <a:t>CNPJ 60010416000112 · Gatilhos de atraso e rolagem · Motivo: Não localizada uma cláusula material para este critério nos textos identificados e processados. A ausência de resultado não comprova inexistência da regra.</a:t>
            </a:r>
          </a:p>
          <a:p>
            <a:r>
              <a:t>CNPJ 62696791000193 · Gatilhos de atraso e rolagem · Motivo: Não localizada uma cláusula material para este critério nos textos identificados e processados. A ausência de resultado não comprova inexistência da regra.</a:t>
            </a:r>
          </a:p>
          <a:p>
            <a:r>
              <a:t>CNPJ 55563624000109 · Gatilhos de atraso e rolagem · Motivo: Não localizada uma cláusula material para este critério nos textos identificados e processados. A ausência de resultado não comprova inexistência da regra.</a:t>
            </a:r>
          </a:p>
          <a:p>
            <a:r>
              <a:t>CNPJ 62552447000120 · Gatilhos de atraso e rolagem · Motivo: Não localizada uma cláusula material para este critério nos textos identificados e processados. A ausência de resultado não comprova inexistência da regra.</a:t>
            </a:r>
          </a:p>
          <a:p>
            <a:r>
              <a:t>CNPJ 63953620000165 · Gatilhos de atraso e rolagem · Motivo: Não localizada uma cláusula material para este critério nos textos identificados e processados. A ausência de resultado não comprova inexistência da regra.</a:t>
            </a:r>
          </a:p>
          <a:p>
            <a:r>
              <a:t>CNPJ 54871427000194 · Diluição, cancelamento e chargeback · Motivo: Não localizada uma cláusula material para este critério nos textos identificados e processados. A ausência de resultado não comprova inexistência da regra.</a:t>
            </a:r>
          </a:p>
          <a:p>
            <a:r>
              <a:t>CNPJ 60010416000112 · Diluição, cancelamento e chargeback · Motivo: Não localizada uma cláusula material para este critério nos textos identificados e processados. A ausência de resultado não comprova inexistência da regra.</a:t>
            </a:r>
          </a:p>
          <a:p>
            <a:r>
              <a:t>CNPJ 62696791000193 · Diluição, cancelamento e chargeback · Motivo: Não localizada uma cláusula material para este critério nos textos identificados e processados. A ausência de resultado não comprova inexistência da regra.</a:t>
            </a:r>
          </a:p>
          <a:p>
            <a:r>
              <a:t>CNPJ 55563624000109 · Diluição, cancelamento e chargeback · Motivo: Não localizada uma cláusula material para este critério nos textos identificados e processados. A ausência de resultado não comprova inexistência da regra.</a:t>
            </a:r>
          </a:p>
          <a:p>
            <a:r>
              <a:t>CNPJ 62552447000120 · Diluição, cancelamento e chargeback · Motivo: Não localizada uma cláusula material para este critério nos textos identificados e processados. A ausência de resultado não comprova inexistência da regra.</a:t>
            </a:r>
          </a:p>
          <a:p>
            <a:r>
              <a:t>CNPJ 63953620000165 · Diluição, cancelamento e chargeback · Motivo: Não localizada uma cláusula material para este critério nos textos identificados e processados. A ausência de resultado não comprova inexistência da regra.</a:t>
            </a:r>
          </a:p>
          <a:p>
            <a:r>
              <a:t>CNPJ 54871427000194 · Recompra e indenização · Regulamento · ID 670691 · 2024-04-28 · versão 1 · p. 11 · 4.12 · https://fnet.bmfbovespa.com.br/fnet/publico/visualizarDocumento?id=670691</a:t>
            </a:r>
          </a:p>
          <a:p>
            <a:r>
              <a:t>CNPJ 54871427000194 · Recompra e indenização · Excerto da fonte:</a:t>
            </a:r>
          </a:p>
          <a:p>
            <a:r>
              <a:t>4.12 Os recursos recebidos pela Classe em razão da liquidação dos Direitos Creditórios, a qualquer título,  incluindo pagamento regular ou por excussão de garantia, alienação, recompra, indenização pelo  Cedente e/ou desinvestimento de Ativo Recuperado, serão destinados a aquisição de Direitos  Creditórios até o montante de R$ 250.000.000,00 (duzentos e cinquenta milhões de reais), sendo certo  que os recursos recebidos pela Classe após a aquisição em tal montante não poderão ser destinados  à aquisição pela Classe de novos Direitos Creditórios, aplicando-se, de resto, o disposto no item 8.1  abaixo no que se ref ere à ordem de alocação de tais recursos.</a:t>
            </a:r>
          </a:p>
          <a:p>
            <a:r>
              <a:t>CNPJ 54871427000194 · Recompra e indenização · Regulamento · ID 670691 · 2024-04-28 · versão 1 · p. 12 · 4.13 · https://fnet.bmfbovespa.com.br/fnet/publico/visualizarDocumento?id=670691</a:t>
            </a:r>
          </a:p>
          <a:p>
            <a:r>
              <a:t>CNPJ 54871427000194 · Recompra e indenização · Excerto da fonte:</a:t>
            </a:r>
          </a:p>
          <a:p>
            <a:r>
              <a:t>4.13 Na hipótese de demandas judiciais e/ou administrativas, em que a causa de pedir ou entre os pedidos  estejam incluídos qualquer um dos itens listados abaixo, o Endossante estará obrigado realizar a  recompra ou indenização dos respectivos Direitos Creditórios, na f orma e prazos previstos no  respectivo Contrato de Endosso sem prejuízo do previsto no Artigo 295 do Código Civil, sendo certo  que o GESTOR envidará seus melhores esf orços para que os Contratos de Endosso contenham  substancialmente as hipóteses abaixo :</a:t>
            </a:r>
          </a:p>
          <a:p>
            <a:r>
              <a:t> (i) Vício de f ormalização dos CCCBs e/ou CCBs a) por ausência de qualquer dos Documentos  Comprobatórios ou falsificação, irregularidade sou má formalização destes; b) por falta de recebimento  do crédito pelo Devedor; ou, c) por averbação irregular de desconto em folha na margem consignável  do Devedor;</a:t>
            </a:r>
          </a:p>
          <a:p>
            <a:r>
              <a:t>CNPJ 54871427000194 · Recompra e indenização · Regulamento · ID 670691 · 2024-04-28 · versão 1 · p. 1 · 1.1 · https://fnet.bmfbovespa.com.br/fnet/publico/visualizarDocumento?id=670691</a:t>
            </a:r>
          </a:p>
          <a:p>
            <a:r>
              <a:t>CNPJ 54871427000194 · Recompra e indenização · Excerto da fonte:</a:t>
            </a:r>
          </a:p>
          <a:p>
            <a:r>
              <a:t>1.1 CONSIGNADO DELTA RECEIVABLES I FUNDO DE INVESTIMENTO EM DIREITOS CREDITÓRIOS  (“FUNDO”), regido pela Lei nº 10.406, de 10 de janeiro de 2002, conf orme alterada (“Código Civil”),  pela parte geral e o Anexo Normativo II da Resolução nº 175, de 23 de dezembro de 2022, conforme  alterada, da Comissão de Valores Mobiliários (respectivamente, “CVM” e “Resolução CVM 175”), terá  como principais características:</a:t>
            </a:r>
          </a:p>
          <a:p>
            <a:r>
              <a:t> Classe de Cotas Classe única.</a:t>
            </a:r>
          </a:p>
          <a:p>
            <a:r>
              <a:t> Indeterminado, exceto se de outra f orma vier a ser deliberado pelos cotistas  Prazo de Duração  reunidos em assembleia geral de cotistas.</a:t>
            </a:r>
          </a:p>
          <a:p>
            <a:r>
              <a:t> BTG Pactual Serviços Financeiros S.A. Distribuidora de Títulos e Valores  Mobiliários, instituição f inanceira, com sede na Cidade e Estado do Rio de  Janeiro, na Praia de Botafogo, nº 501, 5º andar (parte), Torre Corcovado,  ADMINISTRADOR  Botafogo, CEP 22250-040, inscrita no CNPJ sob o nº 59.281.253/0001-23 e  credenciada como administradora de carteira, de acordo com o Ato Declaratório  CVM nº 8.695, de 20 de março de 2006 (“ADMINISTRADOR”).</a:t>
            </a:r>
          </a:p>
          <a:p>
            <a:r>
              <a:t> BTG Pactual Asset Management S.A. Distribuidora de Títulos e Valores  Mobiliários, inscrita no CNPJ/ME sob o nº 29.650.082/0001-00, com sede  Cidade e Estado do Rio de Janeiro, na Praia de Botafogo, n.º 501, 5° andar,  devidamente autorizada à prestação dos serviços de administração de carteira  GESTOR  de títulos e valores mobiliários por meio d o Ato Declaratório número 5.968,  expedido em 10 de maio de 2000 (“GESTOR” e, quando ref erido  conjuntamente e indistintamente com o ADMINISTRADOR, os “Prestadores  de Serviços Essenciais”).</a:t>
            </a:r>
          </a:p>
          <a:p>
            <a:r>
              <a:t> O FUNDO, seus cotistas, os distribuidores de cotas por conta e ordem, seu  GESTOR, seu ADMINISTRADOR e os demais prestadores de serviço do  FUNDO e/ou da CLASSE obrigam-se a resolver, por meio de arbitragem, de  acordo com o Regulamento de Arbitragem da Câmara de Arbitragem do  Mercado da B3 (“Regulamento CAM B3” e “CAM B3”, respectivamente), toda  e qualquer disputa ou controvérsia que possa surgir entre eles, relacionada ou  oriunda, em especial, da aplicação, validade, eficácia, interpretação, violação  e seus ef eitos, das disposições contidas no Regulamento e seus Anexos, nas  normas editadas pela CVM que lhe sejam aplicáveis e nos instrumentos entre  si f irmados (“Arbitragem”).</a:t>
            </a:r>
          </a:p>
          <a:p>
            <a:r>
              <a:t> (i) A Arbitragem será de direito, com a aplicação das normas da República  Federativa do Brasil, terá sede no Município de São Paulo, será  Foro Aplicável conduzida em língua portuguesa e de f orma confidencial. O tribunal  arbitral será constituído por 3 (três) árbitros, sendo um deles  presidente, escolhidos nos termos do Regulamento CAM B3.</a:t>
            </a:r>
          </a:p>
          <a:p>
            <a:r>
              <a:t> (ii) As despesas processuais iniciais deverão ser rateadas entre as partes,  arcando cada polo processual com metade dos valores necessários,  sem prejuízo à possibilidade de adiantamento pelas partes  interessadas, resolvendo-se as indef inições nos termos do  Regulamento CAM B3. A sentença arbitral deverá determinar a  responsabilidade final pelas despesas de acordo com a sucumbência  de cada parte, as quais deverão incluir as taxas administrativas,  honorários de árbitros e de peritos e despesas com diligências  processuais e f ornecimento de garantias que sejam determinadas  expressamente pelo tribunal arbitral. É vedada a imposição de  honorários de sucumbência, bem como a determinação de indenização</a:t>
            </a:r>
          </a:p>
          <a:p>
            <a:r>
              <a:t>CNPJ 54871427000194 · Recompra e indenização · Condição: Documentos atuais selecionados no inventário por categoria/escopo; a data documental isolada não comprova vigência jurídica.</a:t>
            </a:r>
          </a:p>
          <a:p>
            <a:r>
              <a:t>CNPJ 54871427000194 · Recompra e indenização · Versão e prevalência: Documentos atuais selecionados no inventário por categoria/escopo; a data documental isolada não comprova vigência jurídica.</a:t>
            </a:r>
          </a:p>
          <a:p>
            <a:r>
              <a:t>CNPJ 54871427000194 · Recompra e indenização · Resumo do histórico: {"count": 2, "dates": ["2024-04-19", "2024-04-28"], "document_count": 2, "sources": [{"document_id": "670691", "title": "Regulamento", "reference_date": "2024-04-28", "version": "1", "page": "10-12", "url": "https://fnet.bmfbovespa.com.br/fnet/publico/visualizarDocumento?id=670691", "sha256": "bf16dd7f1a62d5cdbf2e2d54fef81783783f7310fbc99c3a8f00459bdf9d037b"}, {"document_id": "670689", "title": "Regulamento", "reference_date": "2024-04-19", "version": "1", "page": 10, "clause": "4.7.5", "url": "https://fnet.bmfbovespa.com.br/fnet/publico/visualizarDocumento?id=670689", "sha256": "891bc9bc5d87bbc02ec139077a84d2702eb81ea02035fb71d24f5b8366b94a0b"}], "reference": {"path": "history/54871427000194.json", "criterion_id": "repurchase", "total_count": 2, "preview_count": 2, "full_text_deferred": true, "sha256": "35d7cd99be50c7287c9fb675cf4f2e736002315295a225a9efa79c8d9186d874"}}</a:t>
            </a:r>
          </a:p>
          <a:p>
            <a:r>
              <a:t>CNPJ 60010416000112 · Recompra e indenização · Regulamento · ID 1051393 · 2025-10-09 · versão 1 · p. 10 · 4.4.5 · https://fnet.bmfbovespa.com.br/fnet/publico/visualizarDocumento?id=1051393</a:t>
            </a:r>
          </a:p>
          <a:p>
            <a:r>
              <a:t>CNPJ 60010416000112 · Recompra e indenização · Excerto da fonte:</a:t>
            </a:r>
          </a:p>
          <a:p>
            <a:r>
              <a:t>4.4.5. Caso um Direito Creditório endossado à Classe deixe de atender quaisquer Critérios de  Elegibilidade, quaisquer condições de endosso e/ou quaisquer declarações e garantias referentes  a esse Direito Creditório, conforme previsto no Contrato de Endosso, após seu endosso à Classe,  não haverá coobrigação nem direito de regresso da Classe contra o Endossante, o Administrador,  o Custodiante, o Gestor e/ou o Agente de Retenção/Cobrança, exceto em caso de má-fé, culpa  ou dolo comprovado, hipótese em que a parte que agiu com má-f é, culpa ou dolo comprovado  poderá ser responsabilizada pelas perdas incorridas pela Classe em relação aos respectivos  Direitos Creditórios. Se, entretanto, for constatado que um Direito Creditório endossado à Classe  não estava em conformidade com os Critérios de Elegibilidade, condições de endosso ou com as  declarações e garantias prestadas pelo Endossante no Contrato de Endosso, na respectiva data  de endosso, então o endosso desse Direito Creditório poderá ser objeto de resolução pela Classe.</a:t>
            </a:r>
          </a:p>
          <a:p>
            <a:r>
              <a:t> Nessa hipótese, a Classe terá o direito de resolver o endosso desse Direito Creditório, devolvendo-  o ao Endossante por valor a ser restituído à Classe. Adicionalmente, se f or constatado que um  Direito Creditório endossado à Classe não estava em conf ormidade com as declarações e  garantias prestadas pelo Agente de Retenção/Cobrança no Contrato de Endosso, na respectiva  data de endosso, então a Classe terá o direito de vender esse Direito Creditório ao Agente de  Retenção/Cobrança (opção de venda). A retrovenda ou a venda, conforme o caso, será realizada  de acordo com os termos, condições, formalidades e preços de recompra compulsória e opção de  venda detalhados no Contrato de Endosso.</a:t>
            </a:r>
          </a:p>
          <a:p>
            <a:r>
              <a:t>CNPJ 60010416000112 · Recompra e indenização · Regulamento · ID 1051393 · 2025-10-09 · versão 1 · p. 30 · 12.5.1 · https://fnet.bmfbovespa.com.br/fnet/publico/visualizarDocumento?id=1051393</a:t>
            </a:r>
          </a:p>
          <a:p>
            <a:r>
              <a:t>CNPJ 60010416000112 · Recompra e indenização · Excerto da fonte:</a:t>
            </a:r>
          </a:p>
          <a:p>
            <a:r>
              <a:t>12.5.1. Independentemente do acima disposto, na hipótese de venda de qualquer parte dos Direitos  Creditórios Elegíveis a terceiros, inclusive no caso de liquidação da Classe, o Agente de  Retenção/Cobrança terá o direito de receber uma remuneração, no dia em que a parte da carteira  de Direitos Creditórios Elegíveis f or efetivamente vendida (ou seja, no dia de seu f echamento  f inanceiro), correspondente ao RAC do valor do preço de venda dessa carteira (“Preço de Venda”),  multiplicado pelo número de anos restantes até o vencimento f inal e pagamento de cada Direito  Creditório Elegível na carteira; observado que, para f ins do cálculo da remuneração devida ao  Agente de Retenção/Cobrança nos termos deste item, o preço de venda de qualquer Direito  Creditório Inadimplido vendido nos termos deste item será equivalente a 0 (zero). Para evitar  qualquer dúvida, as Partes concordam que a remuneração estabelecida neste item não será  devida ao Agente de Retenção/Cobrança no caso de venda de Direitos Creditórios Elegíveis no  contexto de uma portabilidade da respectiva CCB para outra instituição f inanceira, ou na  ocorrência de um evento de recompra compulstória ou de um evento de opção de venda, de acordo  com os termos do respectivo Contrato de Endosso.</a:t>
            </a:r>
          </a:p>
          <a:p>
            <a:r>
              <a:t>CNPJ 60010416000112 · Recompra e indenização · Regulamento · ID 1051393 · 2025-10-09 · versão 1 · p. 11 · https://fnet.bmfbovespa.com.br/fnet/publico/visualizarDocumento?id=1051393</a:t>
            </a:r>
          </a:p>
          <a:p>
            <a:r>
              <a:t>CNPJ 60010416000112 · Recompra e indenização · Excerto da fonte:</a:t>
            </a:r>
          </a:p>
          <a:p>
            <a:r>
              <a:t>Anexo I ao Regulamento CLASSE ÚNICA DO MT I CONSIGNADO PRIVADO I FUNDO DE INVESTIMENTO EM DIREITOS CREDITÓRIOS RESPONSABILIDADE LIMITADA  com a transf erência, à Classe, de f orma definitiva, sem coobrigação do Endossante, da plena  titularidade desse Direito Creditório, juntamente com todos os direitos, privilégios, pref erências,  prerrogativas, garantias e ações a ele relacionados, bem como correção monetária, juros e  encargos, sem prejuízo do direito da Classe (i) de exigir a recompra compulsória do respectivo  Direito Creditório, de acordo com os termos do Contrato de Endosso; ou (ii) de vender Direitos  Creditórios ao Agente de Retenção/Cobrança (opção de venda), em ambos os casos estritamente  nos termos do Contrato de Endosso.</a:t>
            </a:r>
          </a:p>
          <a:p>
            <a:r>
              <a:t>CNPJ 60010416000112 · Recompra e indenização · Condição: Documentos atuais selecionados no inventário por categoria/escopo; a data documental isolada não comprova vigência jurídica.</a:t>
            </a:r>
          </a:p>
          <a:p>
            <a:r>
              <a:t>CNPJ 60010416000112 · Recompra e indenização · Versão e prevalência: Documentos atuais selecionados no inventário por categoria/escopo; a data documental isolada não comprova vigência jurídica.</a:t>
            </a:r>
          </a:p>
          <a:p>
            <a:r>
              <a:t>CNPJ 60010416000112 · Recompra e indenização · Resumo do histórico: {"count": 2, "dates": ["2025-03-20", "2025-10-09"], "document_count": 2, "sources": [{"document_id": "1051393", "title": "Regulamento", "reference_date": "2025-10-09", "version": "1", "page": "10-11", "url": "https://fnet.bmfbovespa.com.br/fnet/publico/visualizarDocumento?id=1051393", "sha256": "8469d613078ffd5a6c1d217885d8a397a16342c0b937ae4aa24b106505f233ae"}, {"document_id": "993786", "title": "Regulamento", "reference_date": "2025-03-20", "version": "1", "page": 10, "clause": "4.4.5", "url": "https://fnet.bmfbovespa.com.br/fnet/publico/visualizarDocumento?id=993786", "sha256": "fd0fdd369a195510d81f81f505195a0b09e5f43522a990afa7d58c4f872921c8"}], "reference": {"path": "history/60010416000112.json", "criterion_id": "repurchase", "total_count": 2, "preview_count": 2, "full_text_deferred": true, "sha256": "8e2bd813f4c51cf01f6bfaad164bafe69d2bbb192f753eac92da3a01c2e63046"}}</a:t>
            </a:r>
          </a:p>
          <a:p>
            <a:r>
              <a:t>CNPJ 62696791000193 · Recompra e indenização · Regulamento · ID 1143317 · 2026-03-20 · versão 1 · p. 16 · 5.1 · https://fnet.bmfbovespa.com.br/fnet/publico/visualizarDocumento?id=1143317</a:t>
            </a:r>
          </a:p>
          <a:p>
            <a:r>
              <a:t>CNPJ 62696791000193 · Recompra e indenização · Excerto da fonte:</a:t>
            </a:r>
          </a:p>
          <a:p>
            <a:r>
              <a:t>5.1 Os recursos recebidos pela Classe em razão da liquidação dos Direitos Creditórios do Agronegócio  e/ou dos Outros Ativos, a qualquer título, incluindo pagamento regular ou por excussão de garantia,  alienação, recompra, indenização pelo cedente e/ou desinvestimento de Direitos Creditórios do  Agronegócio e/ou dos Outros Ativos, poderão ser destinados à aquisição pela Classe de novos  Direitos Creditórios do Agronegócio e/ou dos Outros Ativos e/ou destinados ao resgate das Cotas,  conf orme decisão do Gestor e desde que observada a ordem de alocação de recursos.</a:t>
            </a:r>
          </a:p>
          <a:p>
            <a:r>
              <a:t>6 ORDEM DE ALOCAÇÃO DE RECURSOS</a:t>
            </a:r>
          </a:p>
          <a:p>
            <a:r>
              <a:t>CNPJ 62696791000193 · Recompra e indenização · Condição: Documentos atuais selecionados no inventário por categoria/escopo; a data documental isolada não comprova vigência jurídica.</a:t>
            </a:r>
          </a:p>
          <a:p>
            <a:r>
              <a:t>CNPJ 62696791000193 · Recompra e indenização · Versão e prevalência: Documentos atuais selecionados no inventário por categoria/escopo; a data documental isolada não comprova vigência jurídica.</a:t>
            </a:r>
          </a:p>
          <a:p>
            <a:r>
              <a:t>CNPJ 55563624000109 · Recompra e indenização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Recompra e indenização · Resumo do histórico: {"count": 1, "dates": ["2026-04-30"], "document_count": 1, "sources": [{"document_id": "1192614", "title": "Regulamento", "reference_date": "2026-04-30", "version": "1", "page": "14", "url": "https://fnet.bmfbovespa.com.br/fnet/publico/visualizarDocumento?id=1192614", "sha256": "f56e63ace0acde41d2f47fb48f1ac7f3f7df5e2d32de092d7c5e075a52516632"}], "reference": {"path": "history/55563624000109.json", "criterion_id": "repurchase", "total_count": 1, "preview_count": 1, "full_text_deferred": true, "sha256": "7835d573fb58a3c19adf5b8ecc2aee2bdbb9a88f7a0c0209b5f262b64c7522e3"}}</a:t>
            </a:r>
          </a:p>
          <a:p>
            <a:r>
              <a:t>CNPJ 62552447000120 · Recompra e indenização · Regulamento · ID 1200623 · 2026-05-21 · versão 1 · p. 14 · 4.14 · https://fnet.bmfbovespa.com.br/fnet/publico/visualizarDocumento?id=1200623</a:t>
            </a:r>
          </a:p>
          <a:p>
            <a:r>
              <a:t>CNPJ 62552447000120 · Recompra e indenização · Excerto da fonte:</a:t>
            </a:r>
          </a:p>
          <a:p>
            <a:r>
              <a:t>4.14 Os recursos recebidos pela Classe em razão da liquidação dos Direitos Creditórios, a qualquer título,  incluindo pagamento regular ou por excussão de garantia, alienação, recompra, indenização pelo  Endossante, poderão ser destinados à aquisição pela Classe de novos Direitos Creditórios e/ou  destinados à Amortização, conforme decisão do Gestor e desde que observada a ordem de alocação  de recursos def inida no item 8.1 abaixo.</a:t>
            </a:r>
          </a:p>
          <a:p>
            <a:r>
              <a:t>Ativos Recuperados</a:t>
            </a:r>
          </a:p>
          <a:p>
            <a:r>
              <a:t>CNPJ 62552447000120 · Recompra e indenização · Regulamento · ID 1200623 · 2026-05-21 · versão 1 · p. 35 · https://fnet.bmfbovespa.com.br/fnet/publico/visualizarDocumento?id=1200623</a:t>
            </a:r>
          </a:p>
          <a:p>
            <a:r>
              <a:t>CNPJ 62552447000120 · Recompra e indenização · Excerto da fonte:</a:t>
            </a:r>
          </a:p>
          <a:p>
            <a:r>
              <a:t>ativos desses emissores, causando perdas à Classe e ao Cotista. Além disso, a f alta de capacidade ou disposição de pagar por qualquer dos emissores dos Ativos Financeiros de Liquidez ou das contrapartes nas transações que compõem a Carteira causará perdas à Classe, e o que também poderá incorrer em custos para f ins de recuperação de seus recebíveis.</a:t>
            </a:r>
          </a:p>
          <a:p>
            <a:r>
              <a:t>(v) Riscos associados aos Devedores: no caso de Devedores no âmbito das operações de consignado privado, a sua capacidade de pagamento poderá ser af etada se, por exemplo, o Devedor tiver o seu contrato de emprego rescindido ou em virtude de decisão judicial, o Devedor for obrigado a pagar alimentos, que têm prioridade sobre o empréstimo para f ins de desconto na f 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 etar a rentabilidade da Classe. Já no caso de Devedores no âmbito das operações de Saque-aniversário, como os Direitos Creditórios a serem endossados à Classe serão descontados pelo FGTS da remuneração do Devedor, na ocorrência de qualquer evento que, nos termos da legislação aplicável, determine o pagamento antecipado do Saque-aniversário ao Devedor, a exemplo do falecimento do Devedor, dentre outros, as parcelas do Saque- aniversário serão pagas antecipadamente e a Classe deverá utilizar tais montantes no pré-pagamento dos Direitos Creditórios. Nesta hipótese, a Classe poderá não encontrar Direitos Creditórios disponíveis para serem adquiridos pela Classe, o que poderá af etar a rentabilidade da Classe.</a:t>
            </a:r>
          </a:p>
          <a:p>
            <a:r>
              <a:t>Risco de liquidez</a:t>
            </a:r>
          </a:p>
          <a:p>
            <a:r>
              <a:t>(i) Risco de liquidez: consiste no risco de redução ou inexistência de demanda pelos ativos que compõem a Classe nos respectivos mercados em que são negociados, devido às condições específicas desses ativos ou aos mercados em que são negociados. Devido a esses riscos, o Gestor poderá encontrar dificuldades em liquidar posições ou negociar esses ativos pelo preço e prazo desejados, de acordo com a estratégia de gestão adotada pela Classe, que permanecerá exposto, durante o período de baixa liquidez, aos riscos associados a esses ativos e posições assumidas em mercados de derivativos, se houver, que poderão até exigir que o Gestor aceite descontos em seus preços para realizar negociações no mercado. Esses f atores poderão prejudicar o pagamento de Amortizações ao Cotista, nos valores e dentro dos termos aqui estabelecidos.</a:t>
            </a:r>
          </a:p>
          <a:p>
            <a:r>
              <a:t>(ii) Riscos do mercado secundário: A Classe é constituída sob a f orma de condomínio fechado, de modo que as Cotas somente serão resgatadas em virtude da liquidação da Classe. Uma vez que o Prazo de Duração da Classe é indeterminado, o Cotista titular das Cotas não terá liquidez em seu investimento na Classe, exceto</a:t>
            </a:r>
          </a:p>
          <a:p>
            <a:r>
              <a:t>(a) por ocasião das Amortizações e dos resgates, nos termos deste Regulamento; (b) por meio da alienação de suas Cotas no mercado secundário; ou (c) na liquidação antecipada do FUNDO ou da Classe.</a:t>
            </a:r>
          </a:p>
          <a:p>
            <a:r>
              <a:t>Além disso, atualmente, o mercado secundário de cotas de fundos de investimento apresenta baixa liquidez, o que pode dificultar a venda das Cotas ou ocasionar a obtenção de um preço de venda que cause perda de patrimônio ao Cotista. Não há qualquer garantia do Administrador, do Gestor, da consultora ou do Custodiante em relação à possibilidade de venda das Cotas no mercado secundário ou ao preço obtido por elas, ou mesmo garantia de saída ao Cotista.</a:t>
            </a:r>
          </a:p>
          <a:p>
            <a:r>
              <a:t>Riscos específicos</a:t>
            </a:r>
          </a:p>
          <a:p>
            <a:r>
              <a:t>(i)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 erido Devedor poderá ficar inadimplente e, consequentemente, não haverá repasse à Classe do respectivo Direito Creditório, o que poderá resultar em perdas f inanceiras à Classe e aos Cotistas. Para os f ins deste Regulamento, “Empregador” signif ica a empresa com qual o Devedor mantém vínculo empregatício registrado junto à CTPS.</a:t>
            </a:r>
          </a:p>
          <a:p>
            <a:r>
              <a:t>(ii) Risco do Empregador não efetuar o desconto em folha: o repasse dos recursos oriundos dos Direitos Creditórios à Classe depende da realização, pelo Empregador, da escrituração da Consignação a ser</a:t>
            </a:r>
          </a:p>
          <a:p>
            <a:r>
              <a:t>CNPJ 62552447000120 · Recompra e indenização · Condição: Documentos atuais selecionados no inventário por categoria/escopo; a data documental isolada não comprova vigência jurídica.</a:t>
            </a:r>
          </a:p>
          <a:p>
            <a:r>
              <a:t>CNPJ 62552447000120 · Recompra e indenização · Versão e prevalência: Documentos atuais selecionados no inventário por categoria/escopo; a data documental isolada não comprova vigência jurídica.</a:t>
            </a:r>
          </a:p>
          <a:p>
            <a:r>
              <a:t>CNPJ 63953620000165 · Recompra e indenização · Anexo ao Regulamento · ID 1222863 · 2026-06-02 · versão 1 · p. 7 · 4.17.1 · https://fnet.bmfbovespa.com.br/fnet/publico/visualizarDocumento?id=1222863</a:t>
            </a:r>
          </a:p>
          <a:p>
            <a:r>
              <a:t>CNPJ 63953620000165 · Recompra e indenização · Excerto da fonte:</a:t>
            </a:r>
          </a:p>
          <a:p>
            <a:r>
              <a:t>4.17.1 Durante o Período de Investimento, os recursos recebidos pela Classe em razão da liquidação dos  Direitos Creditórios, a qualquer título, incluindo pagamento regular ou por excussão de garantia,  alienação, recompra, indenização pelo Cedente e/ou desinvestimento de Ativo Recuperado, poderão  ser destinados à aquisição pela Classe de novos Direitos Creditórios e/ou destinados à Amortização das  Cotas, observado que (i) a aquisição de novos Direitos Creditórios dependerá, em qualquer hipótese, de  oferta realizada pelo Endossante; e (ii) a destinação dos recursos à Amortização das Cotas será realizada  nos termos do item 7.2, observada a ordem de alocação definida no item 8.1 do presente Anexo.</a:t>
            </a:r>
          </a:p>
          <a:p>
            <a:r>
              <a:t>CNPJ 63953620000165 · Recompra e indenização · Anexo ao Regulamento · ID 1222863 · 2026-06-02 · versão 1 · p. 7 · 4.17.2 · https://fnet.bmfbovespa.com.br/fnet/publico/visualizarDocumento?id=1222863</a:t>
            </a:r>
          </a:p>
          <a:p>
            <a:r>
              <a:t>CNPJ 63953620000165 · Recompra e indenização · Excerto da fonte:</a:t>
            </a:r>
          </a:p>
          <a:p>
            <a:r>
              <a:t>4.17.2 Encerrado o Período de Investimento, os recursos recebidos pela Classe em razão da liquidação dos  Direitos Creditórios, a qualquer título, incluindo pagamento regular ou por excussão de garantia,  alienação, recompra, indenização pelo Cedente e/ou desinvestimento de Ativo Recuperado, não  poderão ser destinados à aquisição pela Classe de novos Direitos Creditórios, aplicando-se, de resto, o  disposto no item 8.1 abaixo no que se refere à ordem de alocação de tais recursos.</a:t>
            </a:r>
          </a:p>
          <a:p>
            <a:r>
              <a:t>CNPJ 63953620000165 · Recompra e indenização · Anexo ao Regulamento · ID 1222863 · 2026-06-02 · versão 1 · p. 26 · https://fnet.bmfbovespa.com.br/fnet/publico/visualizarDocumento?id=1222863</a:t>
            </a:r>
          </a:p>
          <a:p>
            <a:r>
              <a:t>CNPJ 63953620000165 · Recompra e indenização · Excerto da fonte:</a:t>
            </a:r>
          </a:p>
          <a:p>
            <a:r>
              <a:t>Complemento I  (Ao Anexo I)  FATORES DE RISCO APLICÁVEIS À CLASSE CONSIGNADO PRIVADO DO MT GLOBAL FUNDO DE INVESTIMENTO EM  DIREITOS CREDITÓRIOS RESPONSABILIDADE LIMITADA  Risco de Crédito</a:t>
            </a:r>
          </a:p>
          <a:p>
            <a:r>
              <a:t> (i) Riscos associados aos Devedores: os Direitos Creditórios a serem endossados à Classe serão descontados  pela Dataprev da remuneração do Devedor. A capacidade de pagamento do Devedor poderá ser afetada se,  por exemplo, o Devedor tiver o seu contrato de emprego rescindido ou em virtude de decisão judicial, o  Devedor for obrigado a pagar alimentos, que têm prioridade sobre o empréstimo para fins de desconto na  folha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afetar a rentabilidade da Classe.</a:t>
            </a:r>
          </a:p>
          <a:p>
            <a:r>
              <a:t> (ii)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referido Devedor poderá  ficar inadimplente e, consequentemente, não haverá repasse à Classe do respectivo Direito Creditório, o  que poderá resultar em perdas financeiras à Classe e aos Cotistas.</a:t>
            </a:r>
          </a:p>
          <a:p>
            <a:r>
              <a:t> (iii) Risco do Empregador não efetuar o desconto em folha: o repasse dos recursos oriundos dos Direitos  Creditórios à Classe depende da realização, pelo Empregador, da Escrituração e do desconto na respectiva  folha de pagamento do Devedor. Na hipótese do Empregador deixar de realizar a Escrituração ou os  descontos na folha de pagamento, não haverá repasse de recursos à Classe, podendo causar prejuízos à  Classe e aos Cotistas.</a:t>
            </a:r>
          </a:p>
          <a:p>
            <a:r>
              <a:t> (iv) Risco de perda do vínculo empregatício com o Empregador: caso o Devedor perca o vínculo empregatício  com o Empregador, não haverá remuneração e folha de pagamento para realização dos descontos para  pagamento dos Direitos Creditórios. Neste caso, não obstante a possibilidade do Agente de  Retenção/Cobrança realizar a cobrança ativa dos Direitos Creditórios diretamente do Devedor, a ausência  de remuneração poderá deixar o Devedor inadimplente perante a Classe até que o seu vínculo empregatício  seja retomado e seja efetuado o procedimento operacional para que a CCB seja aditada e/ou seja realizado  o Processo de Reinicialização. Tais situações poderão resultar em prejuízos à Classe e aos Cotistas.</a:t>
            </a:r>
          </a:p>
          <a:p>
            <a:r>
              <a:t> Riscos Operacionais</a:t>
            </a:r>
          </a:p>
          <a:p>
            <a:r>
              <a:t> (i) Risco de irregularidade dos Documentos Comprobatórios e/ou Documentos Suporte: o Gestor, ou  terceiro por ele contratado, deverá realizar a verificação da regularidade dos Documentos Comprobatórios  e Documentos Suporte. A Carteira poderá conter Direitos Creditórios com documentação irregular, o que  poderá impedir que a Classe exerça plenamente as prerrogativas derivadas da titularidade dos Direitos  Creditórios. O Gestor poderá contratar empresas especializadas, com comprovada competência e  adequação, para realizar a guarda física, manutenção, armazenamento, organização e digitalização dos  Documentos Comprobatórios e Documentos Suporte, que estarão sob total responsabilidade do Gestor,  permanecendo as empresas como agentes depositários dos Documentos Comprobatórios e Documentos  Suporte.</a:t>
            </a:r>
          </a:p>
          <a:p>
            <a:r>
              <a:t> (ii) Risco operacional da Dataprev e da CEF: o empréstimo contraído pelos Devedores é pago por meio de  desconto na folha de pagamento feito pela Dataprev e pela CEF, conforme aplicável. É possível que os  rendimentos dos Devedores sejam atrasados ou não pagos devido a questões operacionais envolvendo a  Dataprev e/ou a CEF. Nesse caso, a Carteira poderá sofrer, já que não receberá automaticamente, e  também poderá ter dificuldades para receber, a qualquer momento, os recursos decorrentes dos Direitos  Creditórios.</a:t>
            </a:r>
          </a:p>
          <a:p>
            <a:r>
              <a:t>CNPJ 63953620000165 · Recompra e indenização · Condição: Documentos atuais selecionados no inventário por categoria/escopo; a data documental isolada não comprova vigência jurídica.</a:t>
            </a:r>
          </a:p>
          <a:p>
            <a:r>
              <a:t>CNPJ 63953620000165 · Recompra e indenização · Versão e prevalência: Documentos atuais selecionados no inventário por categoria/escopo; a data documental isolada não comprova vigência jurídica.</a:t>
            </a:r>
          </a:p>
          <a:p>
            <a:r>
              <a:t>CNPJ 63953620000165 · Recompra e indenização · Resumo do histórico: {"count": 8, "dates": ["2026-04-28", "2026-05-08", "2026-05-15"], "document_count": 3, "sources": [{"document_id": "1327859", "title": "Demonstrações Financeiras - Fusão, cisão e incorporação", "reference_date": "2026-05-15", "version": "1", "page": 16, "url": "https://fnet.bmfbovespa.com.br/fnet/publico/visualizarDocumento?id=1327859", "sha256": "dca1c68babb97f887528c3e2e47596a9c30f507b067981a35655b2f2da9c8054"}, {"document_id": "1298691", "title": "Demonstrações Financeiras - Fusão, cisão e incorporação", "reference_date": "2026-05-08", "version": "1", "page": 16, "url": "https://fnet.bmfbovespa.com.br/fnet/publico/visualizarDocumento?id=1298691", "sha256": "58c570d9b8d4d265330d3db3ea81c435b8e44a6dab4002aa37790652a1ee9819"}, {"document_id": "1282180", "title": "Demonstrações Financeiras - Fusão, cisão e incorporação", "reference_date": "2026-04-28", "version": "1", "page": 16, "url": "https://fnet.bmfbovespa.com.br/fnet/publico/visualizarDocumento?id=1282180", "sha256": "afaaa0e6809be4385e5bdb6c911aac582032c5bdbac3d7750234bf9eaf00438a"}], "reference": {"path": "history/63953620000165.json", "criterion_id": "repurchase", "total_count": 8, "preview_count": 3, "full_text_deferred": true, "sha256": "a7b89077f5e21098c2d601c303faabc3ff6b9729f89d8afecdc60fe1404720c1"}}</a:t>
            </a:r>
          </a:p>
          <a:p>
            <a:r>
              <a:t>CNPJ 54871427000194 · Coobrigação e retenção de risco · Regulamento · ID 670691 · 28/04/2024 · versão Regulamento — referência 28/04/2024 · p. 10 · Anexo I, 4.7.2 e 4.7.4 · https://fnet.bmfbovespa.com.br/fnet/publico/visualizarDocumento?id=670691</a:t>
            </a:r>
          </a:p>
          <a:p>
            <a:r>
              <a:t>CNPJ 54871427000194 · Coobrigação e retenção de risco · Excerto da fonte:</a:t>
            </a:r>
          </a:p>
          <a:p>
            <a:r>
              <a:t>4.7.2 Caso um Direito Creditório cedido à Classe deixe de atender quaisquer Critérios de Elegibilidade e/ou quaisquer declarações e garantias ref erentes a esse Direito Creditório, conf orme previsto no respectivo Contrato de Endosso, após seu endosso à Classe, não haverá coobrigação nem direito de regresso da Classe contra o ADMINISTRADOR, o CUSTODIANTE o GESTOR e/ou o Endossante. 4.7.3 A f ormalização de cada aquisição de Direitos Creditórios pela Classe deverá incluir o endosso eletrônico em preto de cada CCB representativa do respectivo Direito Creditório em f avor da Classe, inclusive, mas não necessariamente, por meio d a celebração de Termos de Endosso (os quais, para f ins de esclarecimento, poderão ser levados a registro junto aos cartórios de Registro de Títulos e Documentos competentes, a exclusivo critério do GESTOR, em casos excepcionais em que tal registro possa ser considerado necessário para f ins de ef icácia das respectivas cessões perante terceiros, tendo em vista a transmiss ão das CCB mediante endosso em preto, nos termos deste Regulamento e da legislação aplicável). 4.7.4 Após a f ormalizaçã</a:t>
            </a:r>
          </a:p>
          <a:p>
            <a:r>
              <a:t>CNPJ 54871427000194 · Coobrigação e retenção de risco · Regulamento · ID 670691 · 28/04/2024 · versão Regulamento — referência 28/04/2024 · p. 13 · Anexo I, 4.18 · https://fnet.bmfbovespa.com.br/fnet/publico/visualizarDocumento?id=670691</a:t>
            </a:r>
          </a:p>
          <a:p>
            <a:r>
              <a:t>CNPJ 54871427000194 · Coobrigação e retenção de risco · Excerto da fonte:</a:t>
            </a:r>
          </a:p>
          <a:p>
            <a:r>
              <a:t>4.18 Exceto na medida em que eventualmente previsto nos Contratos de Cessão e/ou em instrumentos eventualmente celebrados entre a Classe e os Endossantes, os Endossantes não serão responsáveis em caso de eventual inadimplemento dos Direitos Creditórios por eles cedidos, sendo responsáveis, não obstante, apenas pela existência, certeza, conteúdo, exatidão, veracidade, legitimidade, validade e correta f ormalização dos Direitos Creditórios que cederem à Classe, nos termos da legislação aplicável. 4.19 A Classe, o ADMINISTRADOR e o GESTOR, bem como seus controladores, sociedades coligadas, controladas ou sob controle comum, e/ou subsidiárias, não respondem pela certeza, liquidez, exigibilidade, conteúdo, exatidão, veracidade, legitimidade, validade e/ou correta f ormalização dos Direitos Creditórios adquiridos pela Classe, tampouco pela solvência dos Devedores e/ou Endossantes dos respectivos Direitos Creditórios. 4.20 Sem prejuízo do disposto no item 4.19 acima e, observado o disposto no item Erro! Fonte de referência não encontrada., o CUSTODIANTE f oi contratado pelo GESTOR para verificar e validar, na Data de Aquisição dos Direitos Creditórios pela Classe, o atendimento dos Direitos</a:t>
            </a:r>
          </a:p>
          <a:p>
            <a:r>
              <a:t>CNPJ 54871427000194 · Coobrigação e retenção de risco · Versão e prevalência: Leitura específica das cláusulas indicadas; condições e conflitos preservados. Seleção documental atual não comprova vigência jurídica por data isolada.</a:t>
            </a:r>
          </a:p>
          <a:p>
            <a:r>
              <a:t>CNPJ 54871427000194 · Coobrigação e retenção de risco · Resumo do histórico: {"count": 2, "dates": ["2024-04-19", "2024-04-28"], "document_count": 2, "sources": [{"document_id": "670691", "title": "Regulamento", "reference_date": "2024-04-28", "version": "1", "page": "10-12", "url": "https://fnet.bmfbovespa.com.br/fnet/publico/visualizarDocumento?id=670691", "sha256": "bf16dd7f1a62d5cdbf2e2d54fef81783783f7310fbc99c3a8f00459bdf9d037b"}, {"document_id": "670689", "title": "Regulamento", "reference_date": "2024-04-19", "version": "1", "page": 10, "clause": "4.7.3", "url": "https://fnet.bmfbovespa.com.br/fnet/publico/visualizarDocumento?id=670689", "sha256": "891bc9bc5d87bbc02ec139077a84d2702eb81ea02035fb71d24f5b8366b94a0b"}], "reference": {"path": "history/54871427000194.json", "criterion_id": "coobligation", "total_count": 2, "preview_count": 2, "full_text_deferred": true, "sha256": "35d7cd99be50c7287c9fb675cf4f2e736002315295a225a9efa79c8d9186d874"}}</a:t>
            </a:r>
          </a:p>
          <a:p>
            <a:r>
              <a:t>CNPJ 60010416000112 · Coobrigação e retenção de risco · Regulamento · ID 1051393 · 09/10/2025 · versão Regulamento09/10/2025 · p. 10 · AnexoI4.4.5 · https://fnet.bmfbovespa.com.br/fnet/publico/visualizarDocumento?id=1051393</a:t>
            </a:r>
          </a:p>
          <a:p>
            <a:r>
              <a:t>CNPJ 60010416000112 · Coobrigação e retenção de risco · Excerto da fonte:</a:t>
            </a:r>
          </a:p>
          <a:p>
            <a:r>
              <a:t>4.4.5. Caso um Direito Creditório endossado à Classe deixe de atender quaisquer Critérios de Elegibilidade, quaisquer condições de endosso e/ou quaisquer declarações e garantias referentes a esse Direito Creditório, conforme previsto no Contrato de Endosso, após seu endosso à Classe, não haverá coobrigação nem direito de regresso da Classe contra o Endossante, o Administrador, o Custodiante, o Gestor e/ou o Agente de Retenção/Cobrança, exceto em caso de má-fé, culpa ou dolo comprovado, hipótese em que a parte que agiu com má-f é, culpa ou dolo comprovado</a:t>
            </a:r>
          </a:p>
          <a:p>
            <a:r>
              <a:t>CNPJ 60010416000112 · Coobrigação e retenção de risco · Regulamento · ID 1051393 · 09/10/2025 · versão Regulamento09/10/2025 · p. 11 · AnexoI4.4.7 · https://fnet.bmfbovespa.com.br/fnet/publico/visualizarDocumento?id=1051393</a:t>
            </a:r>
          </a:p>
          <a:p>
            <a:r>
              <a:t>CNPJ 60010416000112 · Coobrigação e retenção de risco · Excerto da fonte:</a:t>
            </a:r>
          </a:p>
          <a:p>
            <a:r>
              <a:t>sem coobrigação do Endossante, da plena titularidade desse Direito Creditório, juntamente com todos os direitos, privilégios, pref erências, prerrogativas, garantias e ações a ele relacionados, bem como correção monetária, juros e encargos, sem prejuízo do direito da Classe (i) de exigir a recompra compulsória do respectivo Direito Creditório, de acordo com os termos do Contrato de Endosso; ou (ii) de vender Direitos Creditórios ao Agente de Retenção/Cobrança (opção de venda), em ambos os casos estritamente nos termos do Contrato de Endosso.</a:t>
            </a:r>
          </a:p>
          <a:p>
            <a:r>
              <a:t>CNPJ 60010416000112 · Coobrigação e retenção de risco · Versão e prevalência: Leitura específica das cláusulas indicadas; condições e conflitos preservados. Seleção documental atual não comprova vigência jurídica por data isolada.</a:t>
            </a:r>
          </a:p>
          <a:p>
            <a:r>
              <a:t>CNPJ 60010416000112 · Coobrigação e retenção de risco · Resumo do histórico: {"count": 2, "dates": ["2025-03-20", "2025-10-09"], "document_count": 2, "sources": [{"document_id": "1051393", "title": "Regulamento", "reference_date": "2025-10-09", "version": "1", "page": "10-11", "url": "https://fnet.bmfbovespa.com.br/fnet/publico/visualizarDocumento?id=1051393", "sha256": "8469d613078ffd5a6c1d217885d8a397a16342c0b937ae4aa24b106505f233ae"}, {"document_id": "993786", "title": "Regulamento", "reference_date": "2025-03-20", "version": "1", "page": 10, "clause": "4.4.5", "url": "https://fnet.bmfbovespa.com.br/fnet/publico/visualizarDocumento?id=993786", "sha256": "fd0fdd369a195510d81f81f505195a0b09e5f43522a990afa7d58c4f872921c8"}], "reference": {"path": "history/60010416000112.json", "criterion_id": "coobligation", "total_count": 2, "preview_count": 2, "full_text_deferred": true, "sha256": "8e2bd813f4c51cf01f6bfaad164bafe69d2bbb192f753eac92da3a01c2e63046"}}</a:t>
            </a:r>
          </a:p>
          <a:p>
            <a:r>
              <a:t>CNPJ 62696791000193 · Coobrigação e retenção de risco · Regulamento · ID 1143317 · 2026-03-20 · versão 1 · p. 11 · 4.7.3 · https://fnet.bmfbovespa.com.br/fnet/publico/visualizarDocumento?id=1143317</a:t>
            </a:r>
          </a:p>
          <a:p>
            <a:r>
              <a:t>CNPJ 62696791000193 · Coobrigação e retenção de risco · Excerto da fonte:</a:t>
            </a:r>
          </a:p>
          <a:p>
            <a:r>
              <a:t>4.7.3 Na hipótese de eventuais Direitos Creditórios do Agronegócio elegíveis deixarem de atender a  qualquer Critério de Elegibilidade após sua aquisição pela Classe, tal f ato não será entendido  como um desenquadramento da carteira, tampouco haverá direito de regresso contra o  Administrador e/ou o Gestor.</a:t>
            </a:r>
          </a:p>
          <a:p>
            <a:r>
              <a:t> Limites de concentração aplicáveis aos Direitos Creditórios do Agronegócio e fundos de investimento  em Direitos Creditórios do Agronegócio investidos pela Classe</a:t>
            </a:r>
          </a:p>
          <a:p>
            <a:r>
              <a:t>CNPJ 62696791000193 · Coobrigação e retenção de risco · Regulamento · ID 1143317 · 2026-03-20 · versão 1 · p. 11 · 4.9 · https://fnet.bmfbovespa.com.br/fnet/publico/visualizarDocumento?id=1143317</a:t>
            </a:r>
          </a:p>
          <a:p>
            <a:r>
              <a:t>CNPJ 62696791000193 · Coobrigação e retenção de risco · Excerto da fonte:</a:t>
            </a:r>
          </a:p>
          <a:p>
            <a:r>
              <a:t>4.9 Nos termos do Art. 45 do Anexo Normativo II da Resolução CVM 175, a Classe poderá ter até 100%  (cem por cento) de seu Patrimônio Líquido alocado em Direitos Creditórios do Agronegócio, devidos  por um mesmo Devedor e/ou de responsabilidade ou coobrigação de Devedores de um mesmo grupo</a:t>
            </a:r>
          </a:p>
          <a:p>
            <a:r>
              <a:t>CNPJ 62696791000193 · Coobrigação e retenção de risco · Regulamento · ID 1143317 · 2026-03-20 · versão 1 · p. 41 · 7.1 · https://fnet.bmfbovespa.com.br/fnet/publico/visualizarDocumento?id=1143317</a:t>
            </a:r>
          </a:p>
          <a:p>
            <a:r>
              <a:t>CNPJ 62696791000193 · Coobrigação e retenção de risco · Excerto da fonte:</a:t>
            </a:r>
          </a:p>
          <a:p>
            <a:r>
              <a:t>7.1. Risco de Crédito relativo aos Direitos Creditórios do Agronegócio. Decorre da capacidade dos  Devedores e/ou coobrigados, conforme aplicável, de honrarem seus compromissos pontual e  integralmente, conforme contratados. A Classe sof rerá o impacto do inadimplemento dos  Direitos Creditórios do Agronegócio detidos em Carteira que estejam vencidos e não pagos e  do não cumprimento, pelos Devedores e/ou coobrigados, conf orme aplicável, de suas  obrigações nos termos dos respectivos instrumentos. A Classe somente procederá ao resgate  das Cotas em moeda corrente nacional na medida em que os Direitos Creditórios do  Agronegócio sejam pagos pelos Devedores e/ou coobrigados, conforme aplicável, e desde  que os respectivos valores sejam transferidos à Classe, não havendo garantia de que o resgate  das Cotas ocorrerá integralmente conf orme estabelecido neste Regulamento, Anexo I e  demais documentos que o integrem, conforme aplicável. Nessas hipóteses, não será devido  pela Classe, pelo pelo Administrador, pelo Gestor e/ou pelo Custodiante, qualquer multa ou  penalidade, de qualquer natureza. Em caso de instauração de pedido de f alência, recuperação  judicial, de plano de recuperação extrajudicial ou qualquer outro procedimento de insolvência  dos Devedores e/ou coobrigados, conforme aplicável, a Classe poderá não receber os  pagamentos dos Direitos Creditórios do Agronegócio que compõem sua Carteira, o que poderá  af etar adversamente os resultados da Classe.</a:t>
            </a:r>
          </a:p>
          <a:p>
            <a:r>
              <a:t>CNPJ 62696791000193 · Coobrigação e retenção de risco · Condição: Documentos atuais selecionados no inventário por categoria/escopo; a data documental isolada não comprova vigência jurídica.</a:t>
            </a:r>
          </a:p>
          <a:p>
            <a:r>
              <a:t>CNPJ 62696791000193 · Coobrigação e retenção de risco · Versão e prevalência: Documentos atuais selecionados no inventário por categoria/escopo; a data documental isolada não comprova vigência jurídica.</a:t>
            </a:r>
          </a:p>
          <a:p>
            <a:r>
              <a:t>CNPJ 55563624000109 · Coobrigação e retenção de risco · Demonstrações Financeiras · ID 1178840 · 2026-01-31 · versão 1 · p. 21 · https://fnet.bmfbovespa.com.br/fnet/publico/visualizarDocumento?id=1178840</a:t>
            </a:r>
          </a:p>
          <a:p>
            <a:r>
              <a:t>CNPJ 55563624000109 · Coobrigação e retenção de risco · Excerto da fonte:</a:t>
            </a:r>
          </a:p>
          <a:p>
            <a:r>
              <a:t>ii) Risco de sistemas. Dada a complexidade operacional própria dos fundos de  investimento em direitos creditórios, não há garantia de que as trocas de informações  entre os sistemas eletrônicos do Custodiante, da Administradora, do Gestor, da  Classe e, quando aplicável, do endossante, dos devedores e/ou coobrigados,  conforme aplicável, se darão livres de erros. Caso qualquer desses riscos venha a  se materializar, a aquisição, cobrança ou realização dos direitos creditórios poderá  ser adversamente afetada, prejudicando o desempenho da Classe.</a:t>
            </a:r>
          </a:p>
          <a:p>
            <a:r>
              <a:t>CNPJ 55563624000109 · Coobrigação e retenção de risco · Condição: Trechos do documento específico identificado com data mais recente; vigência jurídica não inferida.</a:t>
            </a:r>
          </a:p>
          <a:p>
            <a:r>
              <a:t>CNPJ 55563624000109 · Coobrigação e retenção de risco · Versão e prevalência: Trechos do documento específico identificado com data mais recente; vigência jurídica não inferida.</a:t>
            </a:r>
          </a:p>
          <a:p>
            <a:r>
              <a:t>CNPJ 55563624000109 · Coobrigação e retenção de risco · Resumo do histórico: {"count": 1, "dates": ["2025-01-31"], "document_count": 1, "sources": [{"document_id": "891861", "title": "Demonstrações Financeiras", "reference_date": "2025-01-31", "version": "1", "page": 21, "url": "https://fnet.bmfbovespa.com.br/fnet/publico/visualizarDocumento?id=891861", "sha256": "e9cb9e6ddbe505fe068cfcac33605165a98313489de0d3ce6d4d238263c3f3e7"}], "reference": {"path": "history/55563624000109.json", "criterion_id": "coobligation", "total_count": 1, "preview_count": 1, "full_text_deferred": true, "sha256": "7835d573fb58a3c19adf5b8ecc2aee2bdbb9a88f7a0c0209b5f262b64c7522e3"}}</a:t>
            </a:r>
          </a:p>
          <a:p>
            <a:r>
              <a:t>CNPJ 62552447000120 · Coobrigação e retenção de risco · Regulamento · ID 1200623 · 21/05/2026 · versão Consolidado21/05/2026 aprovado pelo ato1200625 · p. 13 · AnexoI4.6.3–4.6.4 · https://fnet.bmfbovespa.com.br/fnet/publico/visualizarDocumento?id=1200623</a:t>
            </a:r>
          </a:p>
          <a:p>
            <a:r>
              <a:t>CNPJ 62552447000120 · Coobrigação e retenção de risco · Excerto da fonte:</a:t>
            </a:r>
          </a:p>
          <a:p>
            <a:r>
              <a:t>4.6.4 Após a formalização, o endosso de um Direito Creditório Consignado Privado, Direito Creditório FGTS e Direito Creditório Refinanciamento Livre à Classe será irrevogável e irretratável, com a transf erência, à Classe, de f orma def initiva, sem coobrigação do Endossante, da plena titularidade desse Direito Creditório, juntamente com todos os direitos, privilégios, preferências, prerrogativas, garantias e ações a ele relacionados, bem como correção monetária, juros e encargos, sem prejuízo do direito da Classe (i) de exigir a resolução do endosso do respectivo D</a:t>
            </a:r>
          </a:p>
          <a:p>
            <a:r>
              <a:t>CNPJ 62552447000120 · Coobrigação e retenção de risco · Regulamento · ID 1200623 · 21/05/2026 · versão Consolidado21/05/2026 aprovado pelo ato1200625 · p. 16 · AnexoI4.22 · https://fnet.bmfbovespa.com.br/fnet/publico/visualizarDocumento?id=1200623</a:t>
            </a:r>
          </a:p>
          <a:p>
            <a:r>
              <a:t>CNPJ 62552447000120 · Coobrigação e retenção de risco · Excerto da fonte:</a:t>
            </a:r>
          </a:p>
          <a:p>
            <a:r>
              <a:t>4.22 Exceto na medida em que eventualmente previsto no s Contratos de Endosso e/ou em instrumentos eventualmente celebrados entre a Classe e o Endossante e/ou o Agente de Retenção e Cobrança, conf orme aplicável, o Endossante e/ou o Agente de Retenção e Cobrança não serão responsáveis em caso de eventual inadimplemento dos Direitos Creditórios . 4.23 A Classe, o Administrador e o Gestor, bem como seus controladores, sociedades coligadas, controladas ou sob controle comum, e/ou subsidiárias, não respondem pela certeza, liquidez, exigibilidade, conteúdo, exatidão, veracidade, legitimidade, validade e/ou co</a:t>
            </a:r>
          </a:p>
          <a:p>
            <a:r>
              <a:t>CNPJ 62552447000120 · Coobrigação e retenção de risco · Versão e prevalência: Leitura específica das cláusulas indicadas; condições e conflitos preservados. Seleção documental atual não comprova vigência jurídica por data isolada.</a:t>
            </a:r>
          </a:p>
          <a:p>
            <a:r>
              <a:t>CNPJ 63953620000165 · Coobrigação e retenção de risco · Anexo ao Regulamento · ID 1222863 · 02/06/2026 · versão AnexoConsignadoPrivado02/06/2026 · p. 6 · 4.8,4.10.3 · https://fnet.bmfbovespa.com.br/fnet/publico/visualizarDocumento?id=1222863</a:t>
            </a:r>
          </a:p>
          <a:p>
            <a:r>
              <a:t>CNPJ 63953620000165 · Coobrigação e retenção de risco · Excerto da fonte:</a:t>
            </a:r>
          </a:p>
          <a:p>
            <a:r>
              <a:t>4.10.3 Não haverá coobrigação nem direito de regresso da Classe contra o Endossante, o Administrador, o Custodiante, o Gestor e/ou o Agente de Retenção/Cobrança, exceto em caso de má-fé, culpa ou dolo comprovado, hipótese em que a parte que agiu com má-fé, culpa ou dolo comprovado poderá ser responsabilizada pelas perdas incorridas pela Classe em relação aos respectivos Direitos Creditórios Crédito Consignado. 4.11 Além dos Critérios de Elegibilidade acima mencionados, a serem verificados pelo Gestor ou terceiro por ele contratado, o Endossante e o Agente de Retenção/Cobrança declararão, expr</a:t>
            </a:r>
          </a:p>
          <a:p>
            <a:r>
              <a:t>CNPJ 63953620000165 · Coobrigação e retenção de risco · Versão e prevalência: Leitura específica das cláusulas indicadas; condições e conflitos preservados. Seleção documental atual não comprova vigência jurídica por data isolada.</a:t>
            </a:r>
          </a:p>
          <a:p>
            <a:r>
              <a:t>CNPJ 63953620000165 · Coobrigação e retenção de risco · Resumo do histórico: {"count": 8, "dates": ["2026-04-28", "2026-05-08", "2026-05-15"], "document_count": 3, "sources": [{"document_id": "1327859", "title": "Demonstrações Financeiras - Fusão, cisão e incorporação", "reference_date": "2026-05-15", "version": "1", "page": 16, "url": "https://fnet.bmfbovespa.com.br/fnet/publico/visualizarDocumento?id=1327859", "sha256": "dca1c68babb97f887528c3e2e47596a9c30f507b067981a35655b2f2da9c8054"}, {"document_id": "1298691", "title": "Demonstrações Financeiras - Fusão, cisão e incorporação", "reference_date": "2026-05-08", "version": "1", "page": 16, "url": "https://fnet.bmfbovespa.com.br/fnet/publico/visualizarDocumento?id=1298691", "sha256": "58c570d9b8d4d265330d3db3ea81c435b8e44a6dab4002aa37790652a1ee9819"}, {"document_id": "1282180", "title": "Demonstrações Financeiras - Fusão, cisão e incorporação", "reference_date": "2026-04-28", "version": "1", "page": 16, "url": "https://fnet.bmfbovespa.com.br/fnet/publico/visualizarDocumento?id=1282180", "sha256": "afaaa0e6809be4385e5bdb6c911aac582032c5bdbac3d7750234bf9eaf00438a"}], "reference": {"path": "history/63953620000165.json", "criterion_id": "coobligation",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Eventos e cura</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Eventos de avaliação · Regulamento · ID 670691 · 28/04/2024 · versão Regulamento — referência 28/04/2024 · p. 17 · Anexo I, 11.1(i) · https://fnet.bmfbovespa.com.br/fnet/publico/visualizarDocumento?id=670691</a:t>
            </a:r>
          </a:p>
          <a:p>
            <a:r>
              <a:t>CNPJ 54871427000194 · Eventos de avaliação · Excerto da fonte:</a:t>
            </a:r>
          </a:p>
          <a:p>
            <a:r>
              <a:t>11.1 As seguintes hipóteses são consideradas Eventos de Avaliação: (i) em caso de regime de administração especial temporária – RAET, intervenção ou liquidação extrajudicial do Endossante ou do Agente de Garantias; BTG Pactual SAC: 0800 772 28 27 - Ouvidoria: 0800 722 00 48 - btgpactual.com 11</a:t>
            </a:r>
          </a:p>
          <a:p>
            <a:r>
              <a:t>CNPJ 54871427000194 · Eventos de avaliação · Regulamento · ID 670691 · 28/04/2024 · versão Regulamento — referência 28/04/2024 · p. 18 · Anexo I, 11.1(ii)–(viii) · https://fnet.bmfbovespa.com.br/fnet/publico/visualizarDocumento?id=670691</a:t>
            </a:r>
          </a:p>
          <a:p>
            <a:r>
              <a:t>CNPJ 54871427000194 · Eventos de avaliação · Excerto da fonte:</a:t>
            </a:r>
          </a:p>
          <a:p>
            <a:r>
              <a:t>(ii) não cumprimento, por qualquer dos Endossantes, de qualquer de suas obrigações estabelecidas em cada Contrato de Endosso ou neste Regulamento e Anexo, desde que esse não cumprimento não seja devidamente sanado ou justificado dentro de 10 (dez) Dias Úteis a partir do recebimento, pelo Endossante, de notificação, por escrito, enviada pelo Administrador, inf ormando-o da ocorrência do respectivo evento; (iii) não cumprimento, por qualquer dos Endossantes, de suas obrigações de entregar o Arquivo de Liquidação Antecipada e o Arquivo de Posição das CCBs ao CUSTODIANTE dentro do prazo estabelecido neste Regulamento, desde que esse não cumprimento não seja devidamente sanado ou justificado dentro dos prazos acordados no respectivo Contrato de Endosso, a partir do recebimento, pelos Endossantes, de notificação, por escrito, enviada pelo CUSTODIANTE, inf ormando-o da ocorrência do respectivo evento; (iv) não cumprimento, por qualquer dos Endossantes, de qualquer de suas obrigações de entregar ao CUSTODIANTE, ou a terceiros por ele indicados, os Documentos Comprobatórios relativos</a:t>
            </a:r>
          </a:p>
          <a:p>
            <a:r>
              <a:t>CNPJ 54871427000194 · Eventos de avaliação · Regulamento · ID 670691 · 28/04/2024 · versão Regulamento — referência 28/04/2024 · p. 19 · Anexo I, 11.1.1–11.1.3 · https://fnet.bmfbovespa.com.br/fnet/publico/visualizarDocumento?id=670691</a:t>
            </a:r>
          </a:p>
          <a:p>
            <a:r>
              <a:t>CNPJ 54871427000194 · Eventos de avaliação · Excerto da fonte:</a:t>
            </a:r>
          </a:p>
          <a:p>
            <a:r>
              <a:t>11.1.1 Na ocorrência de qualquer Evento de Avaliação, será convocada Assembleia Especial de Cotistas, para avaliar o grau de comprometimento das atividades d a Classe em razão do Evento de Avaliação, podendo a Assembleia Especial de Cotistas deliberar: (i) pela continuidade das atividades da Classe; ou (ii) que o Evento de Avaliação que deu causa à Assembleia Especial de Cotistas constitui um Evento de Liquidação, hipótese em que deverão ser deliberadas as matérias ref eridas no item 11.4.1 abaixo e adotados os procedimentos previstos no item 11.4.3 abaixo. 11.1.2 No momento de verificação de qualquer Evento de Avaliação, os procedimentos de aquisição de novos Direitos Creditórios deverão ser imediatamente interrompidos, até que: (i) seja prof erida decisão final em Assembleia Especial de Cotistas, convocada especificamente para este f im, nos termos do item 11.1.1 acima, autorizando a retomada dos procedimentos de aquisição de novos Direitos Creditórios e resgate das Cotas; e/ou (ii) seja sanado o Evento de Avaliação. 11.1.3 Na hipótese de não instalação da Assembleia Especial de Cotistas por f alta d</a:t>
            </a:r>
          </a:p>
          <a:p>
            <a:r>
              <a:t>CNPJ 54871427000194 · Eventos de avaliação · Versão e prevalência: Leitura específica das cláusulas indicadas; condições e conflitos preservados. Seleção documental atual não comprova vigência jurídica por data isolada.</a:t>
            </a:r>
          </a:p>
          <a:p>
            <a:r>
              <a:t>CNPJ 54871427000194 · Eventos de avaliação · Resumo do histórico: {"count": 1, "dates": ["2024-04-19"], "document_count": 1, "sources": [{"document_id": "670689", "title": "Regulamento", "reference_date": "2024-04-19", "version": "1", "page": 17, "clause": "10.2", "url": "https://fnet.bmfbovespa.com.br/fnet/publico/visualizarDocumento?id=670689", "sha256": "891bc9bc5d87bbc02ec139077a84d2702eb81ea02035fb71d24f5b8366b94a0b"}], "reference": {"path": "history/54871427000194.json", "criterion_id": "evaluation", "total_count": 1, "preview_count": 1, "full_text_deferred": true, "sha256": "35d7cd99be50c7287c9fb675cf4f2e736002315295a225a9efa79c8d9186d874"}}</a:t>
            </a:r>
          </a:p>
          <a:p>
            <a:r>
              <a:t>CNPJ 60010416000112 · Eventos de avaliação · Regulamento · ID 1051393 · 09/10/2025 · versão Regulamento09/10/2025 · p. 19 · AnexoI10.1(i)–(vii) · https://fnet.bmfbovespa.com.br/fnet/publico/visualizarDocumento?id=1051393</a:t>
            </a:r>
          </a:p>
          <a:p>
            <a:r>
              <a:t>CNPJ 60010416000112 · Eventos de avaliação · Excerto da fonte:</a:t>
            </a:r>
          </a:p>
          <a:p>
            <a:r>
              <a:t>10.1 As seguintes hipóteses são consideradas Eventos de Avaliação: (i) em caso de regime de administração especial temporária - RAET, intervenção ou liquidação extrajudicial do Endossante; (ii) em caso de desenquadramento do Índice de Subordinação por 10 (dez) dias úteis consecutivos; (iii) não cumprimento, pelo Endossante, de qualquer de suas obrigações estabelecidas no Contrato de Endosso ou neste Anexo I, desde que esse não cumprimento não seja devidamente sanado ou justif icado dentro de 10 (dez) Dias Úteis a partir do recebimento, pelo Endossante, de noti</a:t>
            </a:r>
          </a:p>
          <a:p>
            <a:r>
              <a:t>CNPJ 60010416000112 · Eventos de avaliação · Regulamento · ID 1051393 · 09/10/2025 · versão Regulamento09/10/2025 · p. 20 · AnexoI10.1(viii)–(xiv) · https://fnet.bmfbovespa.com.br/fnet/publico/visualizarDocumento?id=1051393</a:t>
            </a:r>
          </a:p>
          <a:p>
            <a:r>
              <a:t>CNPJ 60010416000112 · Eventos de avaliação · Excerto da fonte:</a:t>
            </a:r>
          </a:p>
          <a:p>
            <a:r>
              <a:t>(xiii) no caso de não serem realizados pagamentos de amortização e/ou resgate de Cotas Seniores, nos termos, prazos e condições previstos no presente Regulamento e nos respectivos Apêndices e Suplementos, não sanados em até 2 (dois) Dias Úteis contados do prazo final do respectivo evento; (xiv) no caso de pagamento de resgate e/ou amortização de Cotas Subordinadas em desacordo com os termos, prazos e condições previstos no presente Regulamento e no respectivo Apêndice. 10.1.1 Na ocorrência de qualquer Evento de Avaliação, será convocada Assembleia Especial de Cotistas,</a:t>
            </a:r>
          </a:p>
          <a:p>
            <a:r>
              <a:t>CNPJ 60010416000112 · Eventos de avaliação · Versão e prevalência: Leitura específica das cláusulas indicadas; condições e conflitos preservados. Seleção documental atual não comprova vigência jurídica por data isolada.</a:t>
            </a:r>
          </a:p>
          <a:p>
            <a:r>
              <a:t>CNPJ 60010416000112 · Eventos de avaliação · Resumo do histórico: {"count": 2, "dates": ["2025-03-20"], "document_count": 2, "sources": [{"document_id": "993785", "title": "Instrumento Particular de Constituição/Encerramento do Fundo", "reference_date": "2025-03-20", "version": "1", "page": 8, "url": "https://fnet.bmfbovespa.com.br/fnet/publico/visualizarDocumento?id=993785", "sha256": "0826e0eae2c51afabf59bbc49fc7647598d03da5ca6de0f9725850a8bd6af457"}, {"document_id": "993786", "title": "Regulamento", "reference_date": "2025-03-20", "version": "1", "page": 48, "clause": "2.1.2", "url": "https://fnet.bmfbovespa.com.br/fnet/publico/visualizarDocumento?id=993786", "sha256": "fd0fdd369a195510d81f81f505195a0b09e5f43522a990afa7d58c4f872921c8"}], "reference": {"path": "history/60010416000112.json", "criterion_id": "evaluation", "total_count": 2, "preview_count": 2, "full_text_deferred": true, "sha256": "8e2bd813f4c51cf01f6bfaad164bafe69d2bbb192f753eac92da3a01c2e63046"}}</a:t>
            </a:r>
          </a:p>
          <a:p>
            <a:r>
              <a:t>CNPJ 62696791000193 · Eventos de avaliação · Regulamento · ID 1143317 · 20/03/2026 · versão Regulamento — referência 20/03/2026 · p. 37 · Apêndice Júnior, 5.1(iii) · https://fnet.bmfbovespa.com.br/fnet/publico/visualizarDocumento?id=1143317</a:t>
            </a:r>
          </a:p>
          <a:p>
            <a:r>
              <a:t>CNPJ 62696791000193 · Eventos de avaliação · Excerto da fonte:</a:t>
            </a:r>
          </a:p>
          <a:p>
            <a:r>
              <a:t>5.1. Verif icado excesso de subordinação, ou seja, que a representatividade de Cotas Júnior em relação ao Patrimônio Líquido da Classe é superior ao Índice de Subordinação (“Excesso de Subordinação”), desde que assim seja deliberado por maioria dos votos de seus titulares e da maioria dos titulares de Cotas Seniores, as Cotas Juniores poderão ser objeto de Amortização Extraordinária até o limite do respectivos Excesso de Subordinação– ainda que tal Amortização Extraordinária ocorra antes do resgate integral das Cotas Seniores– desde que: (i) seja observada a ordem de alocação de recursos definida no item 6.1 acima Anexo; (ii) não existam Obrigações da Classe vencidas e não pagas; (iii) não estejam em curso quaisquer Eventos de Avaliação e/ou Eventos de Liquidação; (iv) existam suficientes Ativos Financeiros e/ou recursos disponíveis; e (vii) permaneçam atendidas todos os Índices de Subordinação. 6. Negociação das Cotas 6.1. As Cotas Subordinadas Juniores não poderão ser negociadas no mercado secundário. 7. Resgate 7.1. As Cotas Subordinadas Juniores apenas serão resgatadas após o resgate integral das Cotas Seniores da Classe, na respectiva Data de Resgate ou em caso de liquidação antecipada da Classe. BTG Pactual</a:t>
            </a:r>
          </a:p>
          <a:p>
            <a:r>
              <a:t>CNPJ 62696791000193 · Eventos de avaliação · Condição: Referência preservada como ausência específica; não importar gatilhos de outros fundos.</a:t>
            </a:r>
          </a:p>
          <a:p>
            <a:r>
              <a:t>CNPJ 62696791000193 · Eventos de avaliação · Motivo: O apêndice condiciona amortização à ausência de Eventos de Avaliação e de Liquidação, mas o PDF consolidado de 48 páginas não define a lista de Eventos de Avaliação nem seus prazos de cura. O regulamento FIDC anterior à transformação não foi obtido.</a:t>
            </a:r>
          </a:p>
          <a:p>
            <a:r>
              <a:t>CNPJ 62696791000193 · Eventos de avaliação · Versão e prevalência: Leitura específica das cláusulas indicadas; condições e conflitos preservados. Seleção documental atual não comprova vigência jurídica por data isolada.</a:t>
            </a:r>
          </a:p>
          <a:p>
            <a:r>
              <a:t>CNPJ 55563624000109 · Eventos de avaliação · Regulamento · ID 1192614 · 30/04/2026 · versão Regulamento30/04/2026 · p. 20 · AnexoI11.1(i)–(v) · https://fnet.bmfbovespa.com.br/fnet/publico/visualizarDocumento?id=1192614</a:t>
            </a:r>
          </a:p>
          <a:p>
            <a:r>
              <a:t>CNPJ 55563624000109 · Eventos de avaliação · Excerto da fonte:</a:t>
            </a:r>
          </a:p>
          <a:p>
            <a:r>
              <a:t>11.1 As seguintes hipóteses são consideradas Eventos de Avaliação: (i) inobservância pelo ADMINISTRADOR, pelo CUSTODIANTE e/ou pelo GESTOR de seus deveres e obrigações previstos neste Anexo, desde que, uma vez notificados para sanar ou justificar o descumprimento, o ADMINISTRADOR, o CUSTODIANTE e/ou o GESTOR, conforme o caso, não o sane no prazo de 5 (cinco) Dias Úteis contados do recebimento da referida notificação; (ii) aquisição, pela Classe, de Cotas da Classe Investida que estejam em desacordo com o Critério de</a:t>
            </a:r>
          </a:p>
          <a:p>
            <a:r>
              <a:t>CNPJ 55563624000109 · Eventos de avaliação · Versão e prevalência: Leitura específica das cláusulas indicadas; condições e conflitos preservados. Seleção documental atual não comprova vigência jurídica por data isolada.</a:t>
            </a:r>
          </a:p>
          <a:p>
            <a:r>
              <a:t>CNPJ 62552447000120 · Eventos de avaliação · Regulamento · ID 1200623 · 21/05/2026 · versão Consolidado21/05/2026 aprovado pelo ato1200625 · p. 22 · AnexoI11.1(i)–(v) · https://fnet.bmfbovespa.com.br/fnet/publico/visualizarDocumento?id=1200623</a:t>
            </a:r>
          </a:p>
          <a:p>
            <a:r>
              <a:t>CNPJ 62552447000120 · Eventos de avaliação · Excerto da fonte:</a:t>
            </a:r>
          </a:p>
          <a:p>
            <a:r>
              <a:t>11.1 As seguintes hipóteses são consideradas eventos de avaliação (“Eventos de Avaliação”): (i) em caso de regime de administração especial temporária - RAET, intervenção ou liquidação extrajudicial do Endossante, da instituição f inanceira prestadora dos serviços de agente de conta vinculada à Classe (“Agente de Conta Vinculada”) e/ou do Agente de Retenção e Cobrança; (ii) não cumprimento, pelo Endossante, de qualquer de suas obrigações estabelecidas nos Contratos de Endosso, no Regulamento ou neste Anexo I, desde que esse não cumprimento não se</a:t>
            </a:r>
          </a:p>
          <a:p>
            <a:r>
              <a:t>CNPJ 62552447000120 · Eventos de avaliação · Regulamento · ID 1200623 · 21/05/2026 · versão Consolidado21/05/2026 aprovado pelo ato1200625 · p. 23 · AnexoI11.1(vi)–(xi) · https://fnet.bmfbovespa.com.br/fnet/publico/visualizarDocumento?id=1200623</a:t>
            </a:r>
          </a:p>
          <a:p>
            <a:r>
              <a:t>CNPJ 62552447000120 · Eventos de avaliação · Excerto da fonte:</a:t>
            </a:r>
          </a:p>
          <a:p>
            <a:r>
              <a:t>(vi) não cumprimento, pelo Agente de Conta Vinculada, de qualquer de suas obrigações estabelecidas no contrato de conta vinculada celebrado entre o Endossante, na qualidade de titular da Conta Vinculada, e a Classe (“Contrato de Conta Vinculada”), no Regulamento ou neste Anexo I, desde que esse não cumprimento não seja devidamente sanado ou justificado dentro de 5 (cinco) Dias Úteis a partir do recebimento, pelo Agente de Conta Vinculada, de notif icação, por escrito, enviada pelo Administrador, informando-o da ocorrência do respectivo evento; (vii) não c</a:t>
            </a:r>
          </a:p>
          <a:p>
            <a:r>
              <a:t>CNPJ 62552447000120 · Eventos de avaliação · Versão e prevalência: Leitura específica das cláusulas indicadas; condições e conflitos preservados. Seleção documental atual não comprova vigência jurídica por data isolada.</a:t>
            </a:r>
          </a:p>
          <a:p>
            <a:r>
              <a:t>CNPJ 63953620000165 · Eventos de avaliação · Anexo ao Regulamento · ID 1222863 · 02/06/2026 · versão AnexoConsignadoPrivado02/06/2026 · p. 14 · 11.1(i)–(v) · https://fnet.bmfbovespa.com.br/fnet/publico/visualizarDocumento?id=1222863</a:t>
            </a:r>
          </a:p>
          <a:p>
            <a:r>
              <a:t>CNPJ 63953620000165 · Eventos de avaliação · Excerto da fonte:</a:t>
            </a:r>
          </a:p>
          <a:p>
            <a:r>
              <a:t>11.1 As seguintes hipóteses são consideradas eventos de avaliação (“Eventos de Avaliação”): (i) em caso de regime de administração especial temporária - RAET, intervenção ou liquidação extrajudicial do Endossante; (ii) em caso de desenquadramento do Índice de Subordinação por 10 (dez) dias úteis consecutivos; (iii) não cumprimento, pelo Endossante, de qualquer de suas obrigações estabelecidas no Contrato de Endosso ou neste Anexo I, desde que esse não cumprimento não seja devidamente sanado ou justificado dentro de 10 (dez) Dias Úteis a partir do recebimento, pelo Endossan</a:t>
            </a:r>
          </a:p>
          <a:p>
            <a:r>
              <a:t>CNPJ 63953620000165 · Eventos de avaliação · Anexo ao Regulamento · ID 1222863 · 02/06/2026 · versão AnexoConsignadoPrivado02/06/2026 · p. 15 · 11.1(vi)–(xiv) · https://fnet.bmfbovespa.com.br/fnet/publico/visualizarDocumento?id=1222863</a:t>
            </a:r>
          </a:p>
          <a:p>
            <a:r>
              <a:t>CNPJ 63953620000165 · Eventos de avaliação · Excerto da fonte:</a:t>
            </a:r>
          </a:p>
          <a:p>
            <a:r>
              <a:t>Anexo I ao Regulamento CLASSE CONSIGNADO PRIVADO DO MT GLOBAL FUNDO DE INVESTIMENTO EM DIREITOS CREDITÓRIOS RESPONSABILIDADE LIMITADA (vii) inobservância pelo Administrador, pelo Custodiante e/ou pelo Gestor de seus deveres e obrigações previstos neste Regulamento, bem como suas atribuições específicas nos outros contratos existentes referentes ao funcionamento da Classe, verificada pelo Administrador, pelo Custodiante e/ou pelo Gestor ou por qualquer dos Cotistas, desde que, uma vez notificados para sanar ou justificar o descumprimento, o Administrador, o Custodiante e/ou o Gestor, conforme</a:t>
            </a:r>
          </a:p>
          <a:p>
            <a:r>
              <a:t>CNPJ 63953620000165 · Eventos de avaliação · Versão e prevalência: Leitura específica das cláusulas indicadas; condições e conflitos preservados. Seleção documental atual não comprova vigência jurídica por data isolada.</a:t>
            </a:r>
          </a:p>
          <a:p>
            <a:r>
              <a:t>CNPJ 54871427000194 · Eventos de liquidação · Regulamento · ID 670691 · 28/04/2024 · versão Regulamento — referência 28/04/2024 · p. 19 · Anexo I, 11.1.3 e 11.3 · https://fnet.bmfbovespa.com.br/fnet/publico/visualizarDocumento?id=670691</a:t>
            </a:r>
          </a:p>
          <a:p>
            <a:r>
              <a:t>CNPJ 54871427000194 · Eventos de liquidação · Excerto da fonte:</a:t>
            </a:r>
          </a:p>
          <a:p>
            <a:r>
              <a:t>11.1.3 Na hipótese de não instalação da Assembleia Especial de Cotistas por f alta de quórum, o ADMINISTRADOR dará início aos procedimentos ref erentes à liquidação d a Classe, com o consequente resgate das Cotas, nos termos do item 11.4 e seguintes, abaixo. Eventos de Verificação de Patrimônio Líquido Negativo 11.2 Os seguintes eventos obrigarão o ADMINISTRADOR a verificar se o Patrimônio Líquido da Classe está negativo: (i) qualquer pedido de declaração judicial de insolvência da Classe; e (ii) na ocorrência de quaisquer dos Eventos de Avaliação e/ou Eventos de Liquidação . Eventos de Liquidação 11.3 As seguintes hipóteses são consideradas Eventos de Liquidação: (i) caso seja deliberado em Assembleia Especial de Cotistas que um Evento de Avaliação constitui um Evento de Liquidação; (ii) sempre que assim decidido pelos Cotistas em Assembleia Especial de Cotistas especialmente convocada para tal f im; (iii) cessão ou renúncia do ADMINISTRADOR, GESTOR ou CUSTODIANTE sem que a Assembleia de Cotistas ef icazmente nomeie instituição habilit ada para substituí-lo, nos termos estabelecidos neste Regulamento;</a:t>
            </a:r>
          </a:p>
          <a:p>
            <a:r>
              <a:t>CNPJ 54871427000194 · Eventos de liquidação · Versão e prevalência: Leitura específica das cláusulas indicadas; condições e conflitos preservados. Seleção documental atual não comprova vigência jurídica por data isolada.</a:t>
            </a:r>
          </a:p>
          <a:p>
            <a:r>
              <a:t>CNPJ 54871427000194 · Eventos de liquidação · Resumo do histórico: {"count": 1, "dates": ["2024-04-19"], "document_count": 1, "sources": [{"document_id": "670689", "title": "Regulamento", "reference_date": "2024-04-19", "version": "1", "page": 17, "clause": "10.2", "url": "https://fnet.bmfbovespa.com.br/fnet/publico/visualizarDocumento?id=670689", "sha256": "891bc9bc5d87bbc02ec139077a84d2702eb81ea02035fb71d24f5b8366b94a0b"}], "reference": {"path": "history/54871427000194.json", "criterion_id": "liquidation", "total_count": 1, "preview_count": 1, "full_text_deferred": true, "sha256": "35d7cd99be50c7287c9fb675cf4f2e736002315295a225a9efa79c8d9186d874"}}</a:t>
            </a:r>
          </a:p>
          <a:p>
            <a:r>
              <a:t>CNPJ 60010416000112 · Eventos de liquidação · Regulamento · ID 1051393 · 09/10/2025 · versão Regulamento09/10/2025 · p. 21 · AnexoI10.3(i)–(viii) · https://fnet.bmfbovespa.com.br/fnet/publico/visualizarDocumento?id=1051393</a:t>
            </a:r>
          </a:p>
          <a:p>
            <a:r>
              <a:t>CNPJ 60010416000112 · Eventos de liquidação · Excerto da fonte:</a:t>
            </a:r>
          </a:p>
          <a:p>
            <a:r>
              <a:t>10.3 As seguintes hipóteses são consideradas Eventos de Liquidação: (i) caso seja deliberado em Assembleia de Cotistas que um Evento de Avaliação constitui um Evento de Liquidação; (ii) na hipótese de resilição do Contrato de Custódia ou renúncia do Custodiante, sem que tenha havido sua substituição por outra instituição, de acordo com os procedimentos estabelecidos neste Regulamento; (iii) renúncia do Administrador sem que a Assembleia Especial de Cotistas eficazmente nomeie instituição habilitada para substituí-lo, nos termos estabelecidos neste Regulamento;</a:t>
            </a:r>
          </a:p>
          <a:p>
            <a:r>
              <a:t>CNPJ 60010416000112 · Eventos de liquidação · Versão e prevalência: Leitura específica das cláusulas indicadas; condições e conflitos preservados. Seleção documental atual não comprova vigência jurídica por data isolada.</a:t>
            </a:r>
          </a:p>
          <a:p>
            <a:r>
              <a:t>CNPJ 60010416000112 · Eventos de liquidação · Resumo do histórico: {"count": 2, "dates": ["2025-03-20"], "document_count": 2, "sources": [{"document_id": "993785", "title": "Instrumento Particular de Constituição/Encerramento do Fundo", "reference_date": "2025-03-20", "version": "1", "page": 8, "url": "https://fnet.bmfbovespa.com.br/fnet/publico/visualizarDocumento?id=993785", "sha256": "0826e0eae2c51afabf59bbc49fc7647598d03da5ca6de0f9725850a8bd6af457"}, {"document_id": "993786", "title": "Regulamento", "reference_date": "2025-03-20", "version": "1", "page": 18, "clause": "9.2", "url": "https://fnet.bmfbovespa.com.br/fnet/publico/visualizarDocumento?id=993786", "sha256": "fd0fdd369a195510d81f81f505195a0b09e5f43522a990afa7d58c4f872921c8"}], "reference": {"path": "history/60010416000112.json", "criterion_id": "liquidation", "total_count": 2, "preview_count": 2, "full_text_deferred": true, "sha256": "8e2bd813f4c51cf01f6bfaad164bafe69d2bbb192f753eac92da3a01c2e63046"}}</a:t>
            </a:r>
          </a:p>
          <a:p>
            <a:r>
              <a:t>CNPJ 62696791000193 · Eventos de liquidação · Regulamento · ID 1143317 · 20/03/2026 · versão Regulamento — referência 20/03/2026 · p. 23 · Anexo I, 11.1–11.3 · https://fnet.bmfbovespa.com.br/fnet/publico/visualizarDocumento?id=1143317</a:t>
            </a:r>
          </a:p>
          <a:p>
            <a:r>
              <a:t>CNPJ 62696791000193 · Eventos de liquidação · Excerto da fonte:</a:t>
            </a:r>
          </a:p>
          <a:p>
            <a:r>
              <a:t>11.1 A Classe será liquidada (i) em caso da liquidação antecipada deliberada em Assembleia Especial de Cotistas; ou (ii) pelo encerramento do Prazo de Duração da Classe. 11.2 Na ocorrência da liquidação da Classe, o Administrador: (i) liquidará todos os investimentos da Classe em Ativos Financeiros de Liquidez, conforme orientação do Gestor, transferindo todos os recursos daí resultantes para a Conta da Classe; (ii) realizará, de acordo com as orientações e instruções do Gestor, a alienação dos investimentos nos Direitos Creditórios do Agronegócio e nos Outros Ativos integrantes da carteira de investimentos da Classe; e (iii) realizará o pagamento dos encargos da Classe e a amortização das Cotas, até o limite dos recursos disponíveis na Conta da Classe. 11.2.1 No caso de Liquidação da Classe, os Cotistas terão o direito de partilhar o Patrimônio Líquido em igualdade de condições e na proporção de suas Cotas, deduzidas as despesas necessárias para a liquidação da Classe. Não haverá qualquer tipo de pref erência, p rioridade ou subordinação entre os Cotistas. 11.3 Caso a Classe não possua recursos suficientes para o pagamento de todas as Cotas no momento de</a:t>
            </a:r>
          </a:p>
          <a:p>
            <a:r>
              <a:t>CNPJ 62696791000193 · Eventos de liquidação · Regulamento · ID 1143317 · 20/03/2026 · versão Regulamento — referência 20/03/2026 · p. 24 · Anexo I, 11.7 · https://fnet.bmfbovespa.com.br/fnet/publico/visualizarDocumento?id=1143317</a:t>
            </a:r>
          </a:p>
          <a:p>
            <a:r>
              <a:t>CNPJ 62696791000193 · Eventos de liquidação · Excerto da fonte:</a:t>
            </a:r>
          </a:p>
          <a:p>
            <a:r>
              <a:t>11.7 A liquidação da Classe e a divisão de seu patrimônio entre os Cotistas deverão ocorrer no prazo de até 180 (cento e oitenta) dias corridos contados (i) do encerramento do Prazo de Duração ou (ii) da data da realização da Assembleia Especial de Cotistas que deliberar sobre a liquidação da Classe. BTG Pactual SAC: 0800 772 2827 | Ouvidoria: 0800 722 0048 | btgpactual.co m 19</a:t>
            </a:r>
          </a:p>
          <a:p>
            <a:r>
              <a:t>CNPJ 62696791000193 · Eventos de liquidação · Condição: O capítulo não fornece gatilho automático de PL &lt;R$ 1 milhão por 90 dias; essa cláusula presente em outros FIDCs não pode ser transferida para Ceres.</a:t>
            </a:r>
          </a:p>
          <a:p>
            <a:r>
              <a:t>CNPJ 62696791000193 · Eventos de liquidação · Motivo: Cláusula primária localizada e citada, mas sua lista/condições extensas não admitem uma síntese literal curta confirmada. O trecho integral permanece nas fontes.</a:t>
            </a:r>
          </a:p>
          <a:p>
            <a:r>
              <a:t>CNPJ 62696791000193 · Eventos de liquidação · Versão e prevalência: Leitura específica das cláusulas indicadas; condições e conflitos preservados. Seleção documental atual não comprova vigência jurídica por data isolada.</a:t>
            </a:r>
          </a:p>
          <a:p>
            <a:r>
              <a:t>CNPJ 55563624000109 · Eventos de liquidação · Regulamento · ID 1192614 · 30/04/2026 · versão Regulamento30/04/2026 · p. 21 · AnexoI11.3(i)–(vii) · https://fnet.bmfbovespa.com.br/fnet/publico/visualizarDocumento?id=1192614</a:t>
            </a:r>
          </a:p>
          <a:p>
            <a:r>
              <a:t>CNPJ 55563624000109 · Eventos de liquidação · Excerto da fonte:</a:t>
            </a:r>
          </a:p>
          <a:p>
            <a:r>
              <a:t>11.3 As seguintes hipóteses são consideradas Eventos de Liquidação: (i) caso seja deliberado em Assembleia Especial de Cotistas que um Evento de Avaliação constitui um Evento de Liquidação; (ii) na hipótese de renúncia do CUSTODIANTE, sem que tenha havido sua substituição por outra instituição, de acordo com os procedimentos estabelecidos neste Anexo; (iii) renúncia do ADMINISTRADOR ou do GESTOR sem que a Assembleia Especial de Cotistas eficazmente nomeie instituição habilitada para substituí-lo, nos termo</a:t>
            </a:r>
          </a:p>
          <a:p>
            <a:r>
              <a:t>CNPJ 55563624000109 · Eventos de liquidação · Versão e prevalência: Leitura específica das cláusulas indicadas; condições e conflitos preservados. Seleção documental atual não comprova vigência jurídica por data isolada.</a:t>
            </a:r>
          </a:p>
          <a:p>
            <a:r>
              <a:t>CNPJ 62552447000120 · Eventos de liquidação · Regulamento · ID 1200623 · 21/05/2026 · versão Consolidado21/05/2026 aprovado pelo ato1200625 · p. 24 · AnexoI11.2(i)–(v) · https://fnet.bmfbovespa.com.br/fnet/publico/visualizarDocumento?id=1200623</a:t>
            </a:r>
          </a:p>
          <a:p>
            <a:r>
              <a:t>CNPJ 62552447000120 · Eventos de liquidação · Excerto da fonte:</a:t>
            </a:r>
          </a:p>
          <a:p>
            <a:r>
              <a:t>11.2 As seguintes hipóteses são consideradas eventos de liquidação (“Eventos de Liquidação”): (i) caso seja deliberado em Assembleia Especial que um Evento de Avaliação constitui um Evento de Liquidação; (ii) na hipótese de resilição do Contrato de Custódia ou renúncia do Custodiante, sem que tenha havido sua substituição por outra instituição, de acordo com os procedimentos estabelecidos neste Regulamento; (iii) renúncia do Administrador sem que a Assembleia Especial ef icazmente nomeie instituição habilitada para substituí-lo, nos termos estab</a:t>
            </a:r>
          </a:p>
          <a:p>
            <a:r>
              <a:t>CNPJ 62552447000120 · Eventos de liquidação · Regulamento · ID 1200623 · 21/05/2026 · versão Consolidado21/05/2026 aprovado pelo ato1200625 · p. 25 · AnexoI11.2(vi)–(ix) · https://fnet.bmfbovespa.com.br/fnet/publico/visualizarDocumento?id=1200623</a:t>
            </a:r>
          </a:p>
          <a:p>
            <a:r>
              <a:t>CNPJ 62552447000120 · Eventos de liquidação · Excerto da fonte:</a:t>
            </a:r>
          </a:p>
          <a:p>
            <a:r>
              <a:t>(vi) em caso de regime de administração especial temporária - RAET, intervenção ou liquidação extrajudicial do Custodiante, Administrador, ou Gestor, sem a sua ef etiva substituição nos termos deste Regulamento; (vii) se, após 90 (noventa) dias do início das atividades do Fundo, o Patrimônio Líquido diário inferior da Classe for inferior a R$ 1.000.000,00 (um milhão de reais) pelo período de 90 (noventa) dias consecutivos; (viii) caso, por inexistência de recursos líquidos, a Classe não possa fazer f rente aos Encargos nas respectivas datas</a:t>
            </a:r>
          </a:p>
          <a:p>
            <a:r>
              <a:t>CNPJ 62552447000120 · Eventos de liquidação · Versão e prevalência: Leitura específica das cláusulas indicadas; condições e conflitos preservados. Seleção documental atual não comprova vigência jurídica por data isolada.</a:t>
            </a:r>
          </a:p>
          <a:p>
            <a:r>
              <a:t>CNPJ 63953620000165 · Eventos de liquidação · Anexo ao Regulamento · ID 1222863 · 02/06/2026 · versão AnexoConsignadoPrivado02/06/2026 · p. 16 · 11.2(i)–(viii) · https://fnet.bmfbovespa.com.br/fnet/publico/visualizarDocumento?id=1222863</a:t>
            </a:r>
          </a:p>
          <a:p>
            <a:r>
              <a:t>CNPJ 63953620000165 · Eventos de liquidação · Excerto da fonte:</a:t>
            </a:r>
          </a:p>
          <a:p>
            <a:r>
              <a:t>11.2 As seguintes hipóteses são consideradas eventos de liquidação (“Eventos de Liquidação”): (i) caso seja deliberado em Assembleia Especial de Cotistas que um Evento de Avaliação constitui um Evento de Liquidação; (ii) na hipótese de resilição do Contrato de Custódia ou renúncia do Custodiante, sem que tenha havido sua substituição por outra instituição, de acordo com os procedimentos estabelecidos neste Regulamento; (iii) renúncia do Administrador sem que a Assembleia Especial de Cotistas eficazmente nomeie instituição habilitada para substituí-lo, nos termos estabeleci</a:t>
            </a:r>
          </a:p>
          <a:p>
            <a:r>
              <a:t>CNPJ 63953620000165 · Eventos de liquidação · Versão e prevalência: Leitura específica das cláusulas indicadas; condições e conflitos preservados. Seleção documental atual não comprova vigência jurídica por data isolada.</a:t>
            </a:r>
          </a:p>
          <a:p>
            <a:r>
              <a:t>CNPJ 63953620000165 · Eventos de liquidação · Resumo do histórico: {"count": 8, "dates": ["2026-04-28", "2026-05-08", "2026-05-15"], "document_count": 3, "sources": [{"document_id": "1327859", "title": "Demonstrações Financeiras - Fusão, cisão e incorporação", "reference_date": "2026-05-15", "version": "1", "page": 23, "url": "https://fnet.bmfbovespa.com.br/fnet/publico/visualizarDocumento?id=1327859", "sha256": "dca1c68babb97f887528c3e2e47596a9c30f507b067981a35655b2f2da9c8054"}, {"document_id": "1298691", "title": "Demonstrações Financeiras - Fusão, cisão e incorporação", "reference_date": "2026-05-08", "version": "1", "page": 24, "url": "https://fnet.bmfbovespa.com.br/fnet/publico/visualizarDocumento?id=1298691", "sha256": "58c570d9b8d4d265330d3db3ea81c435b8e44a6dab4002aa37790652a1ee9819"}, {"document_id": "1282180", "title": "Demonstrações Financeiras - Fusão, cisão e incorporação", "reference_date": "2026-04-28", "version": "1", "page": 24, "url": "https://fnet.bmfbovespa.com.br/fnet/publico/visualizarDocumento?id=1282180", "sha256": "afaaa0e6809be4385e5bdb6c911aac582032c5bdbac3d7750234bf9eaf00438a"}], "reference": {"path": "history/63953620000165.json", "criterion_id": "liquidation", "total_count": 8, "preview_count": 3, "full_text_deferred": true, "sha256": "a7b89077f5e21098c2d601c303faabc3ff6b9729f89d8afecdc60fe1404720c1"}}</a:t>
            </a:r>
          </a:p>
          <a:p>
            <a:r>
              <a:t>CNPJ 54871427000194 · Prazos de cura e reincidência · Regulamento · ID 670691 · 28/04/2024 · versão Regulamento — referência 28/04/2024 · p. 18 · Anexo I, 11.1(ii)–(v) · https://fnet.bmfbovespa.com.br/fnet/publico/visualizarDocumento?id=670691</a:t>
            </a:r>
          </a:p>
          <a:p>
            <a:r>
              <a:t>CNPJ 54871427000194 · Prazos de cura e reincidência · Excerto da fonte:</a:t>
            </a:r>
          </a:p>
          <a:p>
            <a:r>
              <a:t>(ii) não cumprimento, por qualquer dos Endossantes, de qualquer de suas obrigações estabelecidas em cada Contrato de Endosso ou neste Regulamento e Anexo, desde que esse não cumprimento não seja devidamente sanado ou justificado dentro de 10 (dez) Dias Úteis a partir do recebimento, pelo Endossante, de notificação, por escrito, enviada pelo Administrador, inf ormando-o da ocorrência do respectivo evento; (iii) não cumprimento, por qualquer dos Endossantes, de suas obrigações de entregar o Arquivo de Liquidação Antecipada e o Arquivo de Posição das CCBs ao CUSTODIANTE dentro do prazo estabelecido neste Regulamento, desde que esse não cumprimento não seja devidamente sanado ou justificado dentro dos prazos acordados no respectivo Contrato de Endosso, a partir do recebimento, pelos Endossantes, de notificação, por escrito, enviada pelo CUSTODIANTE, inf ormando-o da ocorrência do respectivo evento; (iv) não cumprimento, por qualquer dos Endossantes, de qualquer de suas obrigações de entregar ao CUSTODIANTE, ou a terceiros por ele indicados, os Documentos Comprobatórios relativos</a:t>
            </a:r>
          </a:p>
          <a:p>
            <a:r>
              <a:t>CNPJ 54871427000194 · Prazos de cura e reincidência · Motivo: Não localizada uma cláusula material para este critério nos textos identificados e processados. A ausência de resultado não comprova inexistência da regra.</a:t>
            </a:r>
          </a:p>
          <a:p>
            <a:r>
              <a:t>CNPJ 54871427000194 · Prazos de cura e reincidência · Versão e prevalência: Leitura específica das cláusulas indicadas; condições e conflitos preservados. Seleção documental atual não comprova vigência jurídica por data isolada.</a:t>
            </a:r>
          </a:p>
          <a:p>
            <a:r>
              <a:t>CNPJ 60010416000112 · Prazos de cura e reincidência · Regulamento · ID 1051393 · 09/10/2025 · versão Regulamento09/10/2025 · p. 14 · AnexoI5.7.1–5.7.2 · https://fnet.bmfbovespa.com.br/fnet/publico/visualizarDocumento?id=1051393</a:t>
            </a:r>
          </a:p>
          <a:p>
            <a:r>
              <a:t>CNPJ 60010416000112 · Prazos de cura e reincidência · Excerto da fonte:</a:t>
            </a:r>
          </a:p>
          <a:p>
            <a:r>
              <a:t>5.7.1 abaixo. 5.7.1 Na hipótese do item 5.7 os titulares de Cotas Subordinadas terão o prazo de 3 (três) Dias Úteis contado do recebimento da comunicação enviada pelo Administrador para manifestar sua intenção de subscrever e integralizar novas Cotas Subordinadas, de f orma a restabelecer o Índice de Subordinação. Caso assim se manifestem, o Administrador e os titulares de Cotas Subordinadas deverão, nos 10 (dez) Dias Úteis subsequentes tomar todas as providências necessárias para que as novas Cotas Subordinadas sejam emitidas, subscritas e integraliza</a:t>
            </a:r>
          </a:p>
          <a:p>
            <a:r>
              <a:t>CNPJ 60010416000112 · Prazos de cura e reincidência · Regulamento · ID 1051393 · 09/10/2025 · versão Regulamento09/10/2025 · p. 19 · AnexoI10.1(ii)–(vii) · https://fnet.bmfbovespa.com.br/fnet/publico/visualizarDocumento?id=1051393</a:t>
            </a:r>
          </a:p>
          <a:p>
            <a:r>
              <a:t>CNPJ 60010416000112 · Prazos de cura e reincidência · Excerto da fonte:</a:t>
            </a:r>
          </a:p>
          <a:p>
            <a:r>
              <a:t>10.1 As seguintes hipóteses são consideradas Eventos de Avaliação: (i) em caso de regime de administração especial temporária - RAET, intervenção ou liquidação extrajudicial do Endossante; (ii) em caso de desenquadramento do Índice de Subordinação por 10 (dez) dias úteis consecutivos; (iii) não cumprimento, pelo Endossante, de qualquer de suas obrigações estabelecidas no Contrato de Endosso ou neste Anexo I, desde que esse não cumprimento não seja devidamente sanado ou justif icado dentro de 10 (dez) Dias Úteis a partir do recebimento, pelo Endossante, de noti</a:t>
            </a:r>
          </a:p>
          <a:p>
            <a:r>
              <a:t>CNPJ 60010416000112 · Prazos de cura e reincidência · Regulamento · ID 1051393 · 09/10/2025 · versão Regulamento09/10/2025 · p. 20 · AnexoI10.1(xiii) · https://fnet.bmfbovespa.com.br/fnet/publico/visualizarDocumento?id=1051393</a:t>
            </a:r>
          </a:p>
          <a:p>
            <a:r>
              <a:t>CNPJ 60010416000112 · Prazos de cura e reincidência · Excerto da fonte:</a:t>
            </a:r>
          </a:p>
          <a:p>
            <a:r>
              <a:t>(xiii) no caso de não serem realizados pagamentos de amortização e/ou resgate de Cotas Seniores, nos termos, prazos e condições previstos no presente Regulamento e nos respectivos Apêndices e Suplementos, não sanados em até 2 (dois) Dias Úteis contados do prazo final do respectivo evento; (xiv) no caso de pagamento de resgate e/ou amortização de Cotas Subordinadas em desacordo com os termos, prazos e condições previstos no presente Regulamento e no respectivo Apêndice. 10.1.1 Na ocorrência de qualquer Evento de Avaliação, será convocada Assembleia Especial de Cotistas,</a:t>
            </a:r>
          </a:p>
          <a:p>
            <a:r>
              <a:t>CNPJ 60010416000112 · Prazos de cura e reincidência · Versão e prevalência: Leitura específica das cláusulas indicadas; condições e conflitos preservados. Seleção documental atual não comprova vigência jurídica por data isolada.</a:t>
            </a:r>
          </a:p>
          <a:p>
            <a:r>
              <a:t>CNPJ 60010416000112 · Prazos de cura e reincidência · Resumo do histórico: {"count": 1, "dates": ["2025-03-20"], "document_count": 1, "sources": [{"document_id": "993786", "title": "Regulamento", "reference_date": "2025-03-20", "version": "1", "page": 19, "clause": "10.1", "url": "https://fnet.bmfbovespa.com.br/fnet/publico/visualizarDocumento?id=993786", "sha256": "fd0fdd369a195510d81f81f505195a0b09e5f43522a990afa7d58c4f872921c8"}], "reference": {"path": "history/60010416000112.json", "criterion_id": "cure", "total_count": 1, "preview_count": 1, "full_text_deferred": true, "sha256": "8e2bd813f4c51cf01f6bfaad164bafe69d2bbb192f753eac92da3a01c2e63046"}}</a:t>
            </a:r>
          </a:p>
          <a:p>
            <a:r>
              <a:t>CNPJ 62696791000193 · Prazos de cura e reincidência · Motivo: Não localizada uma cláusula material para este critério nos textos identificados e processados. A ausência de resultado não comprova inexistência da regra.</a:t>
            </a:r>
          </a:p>
          <a:p>
            <a:r>
              <a:t>CNPJ 55563624000109 · Prazos de cura e reincidência · Regulamento · ID 1192614 · 30/04/2026 · versão Regulamento30/04/2026 · p. 20 · AnexoI11.1 · https://fnet.bmfbovespa.com.br/fnet/publico/visualizarDocumento?id=1192614</a:t>
            </a:r>
          </a:p>
          <a:p>
            <a:r>
              <a:t>CNPJ 55563624000109 · Prazos de cura e reincidência · Excerto da fonte:</a:t>
            </a:r>
          </a:p>
          <a:p>
            <a:r>
              <a:t>11.1 As seguintes hipóteses são consideradas Eventos de Avaliação: (i) inobservância pelo ADMINISTRADOR, pelo CUSTODIANTE e/ou pelo GESTOR de seus deveres e obrigações previstos neste Anexo, desde que, uma vez notificados para sanar ou justificar o descumprimento, o ADMINISTRADOR, o CUSTODIANTE e/ou o GESTOR, conforme o caso, não o sane no prazo de 5 (cinco) Dias Úteis contados do recebimento da referida notificação; (ii) aquisição, pela Classe, de Cotas da Classe Investida que estejam em desacordo com o Critério de</a:t>
            </a:r>
          </a:p>
          <a:p>
            <a:r>
              <a:t>CNPJ 55563624000109 · Prazos de cura e reincidência · Regulamento · ID 1192614 · 30/04/2026 · versão Regulamento30/04/2026 · p. 21 · AnexoI11.1.2 · https://fnet.bmfbovespa.com.br/fnet/publico/visualizarDocumento?id=1192614</a:t>
            </a:r>
          </a:p>
          <a:p>
            <a:r>
              <a:t>CNPJ 55563624000109 · Prazos de cura e reincidência · Excerto da fonte:</a:t>
            </a:r>
          </a:p>
          <a:p>
            <a:r>
              <a:t>11.1.2 No momento de verificação de qualquer Evento de Avaliação, os procedimentos de aquisição de novas Cotas da Classe Investida e, se aplicável, de amortização das Cotas, deverão ser imediatamente interrompidos, até que: (i) seja proferida decisão final em Assembleia Especial de Cotistas, convocada especificamente para este fim, nos termos do item 11.1.1 acima, autorizando a retomada dos procedimentos de aquisição de novas Cotas da Classe Investida, amortização e resgate das Cotas; e/ou (ii) seja sanado o Evento de Avalia</a:t>
            </a:r>
          </a:p>
          <a:p>
            <a:r>
              <a:t>CNPJ 55563624000109 · Prazos de cura e reincidência · Motivo: Não localizada uma cláusula material para este critério nos textos identificados e processados. A ausência de resultado não comprova inexistência da regra.</a:t>
            </a:r>
          </a:p>
          <a:p>
            <a:r>
              <a:t>CNPJ 55563624000109 · Prazos de cura e reincidência · Versão e prevalência: Leitura específica das cláusulas indicadas; condições e conflitos preservados. Seleção documental atual não comprova vigência jurídica por data isolada.</a:t>
            </a:r>
          </a:p>
          <a:p>
            <a:r>
              <a:t>CNPJ 62552447000120 · Prazos de cura e reincidência · Regulamento · ID 1200623 · 21/05/2026 · versão Consolidado21/05/2026 aprovado pelo ato1200625 · p. 22 · AnexoI11.1(ii)–(v) · https://fnet.bmfbovespa.com.br/fnet/publico/visualizarDocumento?id=1200623</a:t>
            </a:r>
          </a:p>
          <a:p>
            <a:r>
              <a:t>CNPJ 62552447000120 · Prazos de cura e reincidência · Excerto da fonte:</a:t>
            </a:r>
          </a:p>
          <a:p>
            <a:r>
              <a:t>5 (cinco) Dias Úteis a partir do recebimento, pelo Endossante, de notificação, por escrito, enviada pelo Administrador, inf ormando-o da ocorrência do respectivo evento; (iii) não cumprimento, pelo Endossante e/ou pelo Agente de Retenção e Cobrança, de sua obrigação de entregar os (a) arquivos eletrônicos disponibilizados mensalmente pela Dataprev ao Endossante, contendo (1) as Consignações processadas pela Dataprev no respectivo mês, identificando os Devedores e os valores que serão descontados de suas respectivas folhas de pagamentos, bem como</a:t>
            </a:r>
          </a:p>
          <a:p>
            <a:r>
              <a:t>CNPJ 62552447000120 · Prazos de cura e reincidência · Regulamento · ID 1200623 · 21/05/2026 · versão Consolidado21/05/2026 aprovado pelo ato1200625 · p. 23 · AnexoI11.1(vi)–(viii) · https://fnet.bmfbovespa.com.br/fnet/publico/visualizarDocumento?id=1200623</a:t>
            </a:r>
          </a:p>
          <a:p>
            <a:r>
              <a:t>CNPJ 62552447000120 · Prazos de cura e reincidência · Excerto da fonte:</a:t>
            </a:r>
          </a:p>
          <a:p>
            <a:r>
              <a:t>5 (cinco) Dias Úteis a partir do recebimento, pelo Agente de Retenção e Cobrança, de notificação, por escrito, enviada pelo Gestor, informando-o da ocorrência do respectivo evento; (vi) não cumprimento, pelo Agente de Conta Vinculada, de qualquer de suas obrigações estabelecidas no contrato de conta vinculada celebrado entre o Endossante, na qualidade de titular da Conta Vinculada, e a Classe (“Contrato de Conta Vinculada”), no Regulamento ou neste Anexo I, desde que esse não cumprimento não seja devidamente sanado ou justificado dentro de 5 (cinco) Dias Úte</a:t>
            </a:r>
          </a:p>
          <a:p>
            <a:r>
              <a:t>CNPJ 62552447000120 · Prazos de cura e reincidência · Regulamento · ID 1200623 · 21/05/2026 · versão Consolidado21/05/2026 aprovado pelo ato1200625 · p. 19 · AnexoI6.8.4 · https://fnet.bmfbovespa.com.br/fnet/publico/visualizarDocumento?id=1200623</a:t>
            </a:r>
          </a:p>
          <a:p>
            <a:r>
              <a:t>CNPJ 62552447000120 · Prazos de cura e reincidência · Excerto da fonte:</a:t>
            </a:r>
          </a:p>
          <a:p>
            <a:r>
              <a:t>6.8.4 Em caso de inadimplência decorrente de falha operacional, será concedido aos Cotistas o prazo de 2 (dois) Dias Úteis contado da data de seu vencimento original para a realização do pagamento da integralização de Cotas sem a incidência de qualquer penalidade, multa ou mora. Transferência de Cotas 6.9 Não haverá direito de preferência aos Cotistas em relação às transferências de Cotas no mercado secundário. 6.10 No caso de alienação voluntária de Cotas, o Cotista alienante deverá solicitar por escrito ao Administrador e ao Gestor, a transf erência parcial ou total de suas Cotas, indicando o nom</a:t>
            </a:r>
          </a:p>
          <a:p>
            <a:r>
              <a:t>CNPJ 62552447000120 · Prazos de cura e reincidência · Regulamento · ID 1200623 · 21/05/2026 · versão Consolidado21/05/2026 aprovado pelo ato1200625 · p. 24 · AnexoI11.1.2 · https://fnet.bmfbovespa.com.br/fnet/publico/visualizarDocumento?id=1200623</a:t>
            </a:r>
          </a:p>
          <a:p>
            <a:r>
              <a:t>CNPJ 62552447000120 · Prazos de cura e reincidência · Excerto da fonte:</a:t>
            </a:r>
          </a:p>
          <a:p>
            <a:r>
              <a:t>11.1.2 No momento de verificação de qualquer Evento de Avaliação, os procedimentos de aquisição de novos Direitos Creditórios deverão ser imediatamente interrompidos, até que: (i) seja prof erida decisão final em Assembleia Especial, convocada especificamente para este fim, nos termos do item 11.1.1 acima, autorizando a retomada dos procedimentos de aquisição de novos Direitos Creditórios e resgate das Cotas; e/ou (ii) seja sanado o Evento de Avaliação . 11.1.3 Na hipótese de não instalação da Assembleia Especial por f alta de quórum, o Administrador dará início aos</a:t>
            </a:r>
          </a:p>
          <a:p>
            <a:r>
              <a:t>CNPJ 62552447000120 · Prazos de cura e reincidência · Motivo: Não localizada uma cláusula material para este critério nos textos identificados e processados. A ausência de resultado não comprova inexistência da regra.</a:t>
            </a:r>
          </a:p>
          <a:p>
            <a:r>
              <a:t>CNPJ 62552447000120 · Prazos de cura e reincidência · Versão e prevalência: Leitura específica das cláusulas indicadas; condições e conflitos preservados. Seleção documental atual não comprova vigência jurídica por data isolada.</a:t>
            </a:r>
          </a:p>
          <a:p>
            <a:r>
              <a:t>CNPJ 63953620000165 · Prazos de cura e reincidência · Anexo ao Regulamento · ID 1222863 · 02/06/2026 · versão AnexoConsignadoPrivado02/06/2026 · p. 14 · 11.1(ii)–(v) · https://fnet.bmfbovespa.com.br/fnet/publico/visualizarDocumento?id=1222863</a:t>
            </a:r>
          </a:p>
          <a:p>
            <a:r>
              <a:t>CNPJ 63953620000165 · Prazos de cura e reincidência · Excerto da fonte:</a:t>
            </a:r>
          </a:p>
          <a:p>
            <a:r>
              <a:t>11.1 As seguintes hipóteses são consideradas eventos de avaliação (“Eventos de Avaliação”): (i) em caso de regime de administração especial temporária - RAET, intervenção ou liquidação extrajudicial do Endossante; (ii) em caso de desenquadramento do Índice de Subordinação por 10 (dez) dias úteis consecutivos; (iii) não cumprimento, pelo Endossante, de qualquer de suas obrigações estabelecidas no Contrato de Endosso ou neste Anexo I, desde que esse não cumprimento não seja devidamente sanado ou justificado dentro de 10 (dez) Dias Úteis a partir do recebimento, pelo Endossan</a:t>
            </a:r>
          </a:p>
          <a:p>
            <a:r>
              <a:t>CNPJ 63953620000165 · Prazos de cura e reincidência · Anexo ao Regulamento · ID 1222863 · 02/06/2026 · versão AnexoConsignadoPrivado02/06/2026 · p. 10 · 6.8 · https://fnet.bmfbovespa.com.br/fnet/publico/visualizarDocumento?id=1222863</a:t>
            </a:r>
          </a:p>
          <a:p>
            <a:r>
              <a:t>CNPJ 63953620000165 · Prazos de cura e reincidência · Excerto da fonte:</a:t>
            </a:r>
          </a:p>
          <a:p>
            <a:r>
              <a:t>6.8 Observado o disposto nos boletins de subscrição, no caso de inadimplemento, a Administradora notificará o cotista inadimplente para sanar o inadimplemento no prazo de até 5 (cinco) Dias Úteis (“Cotista Inadimplente”). Caso o Cotista Inadimplente não sane o inadimplemento dentro de 5 (cinco) Dias Úteis contados do recebimento da notificação descrita acima, a Administradora poderá tomar as medidas previstas no Boletim de Subscrição. Colocação das Cotas 6.9 As Cotas poderão ser objeto de oferta pública a ser realizada nos termos da Resolução CVM 160 (“Oferta”) e/ou poderão ser colocadas de forma privada (“Colocação Privad</a:t>
            </a:r>
          </a:p>
          <a:p>
            <a:r>
              <a:t>CNPJ 63953620000165 · Prazos de cura e reincidência · Versão e prevalência: Leitura específica das cláusulas indicadas; condições e conflitos preservados. Seleção documental atual não comprova vigência jurídica por data isolada.</a:t>
            </a:r>
          </a:p>
          <a:p>
            <a:r>
              <a:t>CNPJ 54871427000194 · Cross default e insolvência · Motivo: Não localizada uma cláusula material para este critério nos textos identificados e processados. A ausência de resultado não comprova inexistência da regra.</a:t>
            </a:r>
          </a:p>
          <a:p>
            <a:r>
              <a:t>CNPJ 60010416000112 · Cross default e insolvência · Regulamento · ID 1051393 · 2025-10-09 · versão 1 · p. 21 · 10.2 · https://fnet.bmfbovespa.com.br/fnet/publico/visualizarDocumento?id=1051393</a:t>
            </a:r>
          </a:p>
          <a:p>
            <a:r>
              <a:t>CNPJ 60010416000112 · Cross default e insolvência · Excerto da fonte:</a:t>
            </a:r>
          </a:p>
          <a:p>
            <a:r>
              <a:t>10.2 Os seguintes eventos obrigarão o Administrador a verif icar se o Patrimônio Líquido da Classe está  negativo:</a:t>
            </a:r>
          </a:p>
          <a:p>
            <a:r>
              <a:t> (i) qualquer pedido de declaração judicial de insolvência da Classe;</a:t>
            </a:r>
          </a:p>
          <a:p>
            <a:r>
              <a:t> (ii) identificação de indícios de f raudes envolvendo o lastro de Direitos Creditórios que representem, no  mínimo 0,5 (cinco décimos por cento) do Patrimônio Líquido da Classe;</a:t>
            </a:r>
          </a:p>
          <a:p>
            <a:r>
              <a:t> (iii) inadimplência de obrigações financeiras de devedor e/ou emissor de ativos detidos pela Classe que  representem mais de 25% (vinte e cinco por cento)de seu Patrimônio Líquido;</a:t>
            </a:r>
          </a:p>
          <a:p>
            <a:r>
              <a:t> (iv) pedido de recuperação extrajudicial, de recuperação judicial, ou de falência de Devedor e/ou emissor  de ativos detidos pela Classe;</a:t>
            </a:r>
          </a:p>
          <a:p>
            <a:r>
              <a:t> (v) condenação da Classe de natureza judicial e/ou arbitral e/ou administrativa e/ou outras similares ao  pagamento de mais de 20% (vinte por cento) de seu Patrimônio Líquido; e</a:t>
            </a:r>
          </a:p>
          <a:p>
            <a:r>
              <a:t> (vi) caso caracterizado quaisquer dos Eventos de Liquidação.</a:t>
            </a:r>
          </a:p>
          <a:p>
            <a:r>
              <a:t>Eventos de Liquidação</a:t>
            </a:r>
          </a:p>
          <a:p>
            <a:r>
              <a:t>CNPJ 60010416000112 · Cross default e insolvência · Regulamento · ID 1051393 · 2025-10-09 · versão 1 · p. 21 · 10.3 · https://fnet.bmfbovespa.com.br/fnet/publico/visualizarDocumento?id=1051393</a:t>
            </a:r>
          </a:p>
          <a:p>
            <a:r>
              <a:t>CNPJ 60010416000112 · Cross default e insolvência · Excerto da fonte:</a:t>
            </a:r>
          </a:p>
          <a:p>
            <a:r>
              <a:t>10.3 As seguintes hipóteses são consideradas Eventos de Liquidação:</a:t>
            </a:r>
          </a:p>
          <a:p>
            <a:r>
              <a:t> (i) caso seja deliberado em Assembleia de Cotistas que um Evento de Avaliação constitui um Evento de  Liquidação;</a:t>
            </a:r>
          </a:p>
          <a:p>
            <a:r>
              <a:t> (ii) na hipótese de resilição do Contrato de Custódia ou renúncia do Custodiante, sem que tenha havido  sua substituição por outra instituição, de acordo com os procedimentos estabelecidos neste  Regulamento;</a:t>
            </a:r>
          </a:p>
          <a:p>
            <a:r>
              <a:t> (iii) renúncia do Administrador sem que a Assembleia Especial de Cotistas eficazmente nomeie instituição  habilitada para substituí-lo, nos termos estabelecidos neste Regulamento;</a:t>
            </a:r>
          </a:p>
          <a:p>
            <a:r>
              <a:t> (iv) por determinação da CVM, em caso de violação de normas legais ou regulamentares;</a:t>
            </a:r>
          </a:p>
          <a:p>
            <a:r>
              <a:t> (v) sempre que assim decidido pelos Cotistas em Assembleia Especial de Cotistas especialmente  convocada para tal f im;</a:t>
            </a:r>
          </a:p>
          <a:p>
            <a:r>
              <a:t> (vi) em caso de regime de administração especial temporária - RAET, intervenção ou liquidação  extrajudicial, conforme aplicável, do Custodiante, Administrador, ou Gestor, sem a sua ef etiva  substituição nos termos deste Regulamento;</a:t>
            </a:r>
          </a:p>
          <a:p>
            <a:r>
              <a:t> (vii) se, após 90 (noventa) dias do início das atividades do Fundo, o Patrimônio Líquido diário inf erior da  Classe f or inf erior a R$ 1.000.000,00 (um milhão de reais) pelo período de 90 (noventa) dias  consecutivos;</a:t>
            </a:r>
          </a:p>
          <a:p>
            <a:r>
              <a:t> (viii) impossibilidade da Classe adquirir Direitos Creditórios admitidos por sua política de investimento.</a:t>
            </a:r>
          </a:p>
          <a:p>
            <a:r>
              <a:t>Procedimentos de Liquidação Antecipada</a:t>
            </a:r>
          </a:p>
          <a:p>
            <a:r>
              <a:t>CNPJ 60010416000112 · Cross default e insolvência · Regulamento · ID 1051393 · 2025-10-09 · versão 1 · p. 19 · 10.1 · https://fnet.bmfbovespa.com.br/fnet/publico/visualizarDocumento?id=1051393</a:t>
            </a:r>
          </a:p>
          <a:p>
            <a:r>
              <a:t>CNPJ 60010416000112 · Cross default e insolvência · Excerto da fonte:</a:t>
            </a:r>
          </a:p>
          <a:p>
            <a:r>
              <a:t>10.1 As seguintes hipóteses são consideradas Eventos de Avaliação:</a:t>
            </a:r>
          </a:p>
          <a:p>
            <a:r>
              <a:t> (i) em caso de regime de administração especial temporária - RAET, intervenção ou liquidação  extrajudicial do Endossante;</a:t>
            </a:r>
          </a:p>
          <a:p>
            <a:r>
              <a:t> (ii) em caso de desenquadramento do Índice de Subordinação por 10 (dez) dias úteis consecutivos;</a:t>
            </a:r>
          </a:p>
          <a:p>
            <a:r>
              <a:t> (iii) não cumprimento, pelo Endossante, de qualquer de suas obrigações estabelecidas no Contrato de  Endosso ou neste Anexo I, desde que esse não cumprimento não seja devidamente sanado ou  justif icado dentro de 10 (dez) Dias Úteis a partir do recebimento, pelo Endossante, de notificação,  por escrito, enviada pelo Administrador, inf ormando-o da ocorrência do respectivo evento;</a:t>
            </a:r>
          </a:p>
          <a:p>
            <a:r>
              <a:t> (iv) não cumprimento, pelo Endossante, de sua obrigação de entregar os Arquivos Dataprev ao Gestor  e ao Custodiante dentro do prazo estabelecido neste Anexo I, desde que esse não cumprimento  não seja devidamente sanado ou justificado dentro de 02 (dois) Dias Úteis a partir do recebimento,  pelo Endossante, de notificação, por escrito, enviada pelo Gestor, informando-o da ocorrência do  respectivo evento;</a:t>
            </a:r>
          </a:p>
          <a:p>
            <a:r>
              <a:t> (v) não cumprimento, pelo Endossante, de qualquer de suas obrigações de entregar ao Gestor e/o ao  Custodiante, ou a terceiros por ele indicados, os Documentos Comprobatórios e Documentos  Suporte relativos aos Direitos Creditórios que tenham sido endossados à Classe, dentro do prazo  estabelecido neste Anexo I, desde que esse não cumprimento não seja devidamente sanado ou  justif icado dentro de 02 (dois) Dias Úteis a partir do recebimento, pelo Endossante, de notificação,  por escrito, enviada pelo Gestor e/ou Custodiante, inf ormando- o da ocorrência do respectivo  evento;</a:t>
            </a:r>
          </a:p>
          <a:p>
            <a:r>
              <a:t> (vi) não cumprimento, pelo Agente de Retenção/Cobrança, de qualquer de suas obrigações  estabelecidas no Contrato de Endosso, neste Regulamento ou no Contrato de Serviços MT, desde  que esse não cumprimento não seja devidamente sanado ou justificado dentro de 10 (dez) Dias  Úteis a partir do recebimento, pelo Agente de Retenção/Cobrança, de notificação, por escrito,  enviada pelo Gestor, inf ormando-o da ocorrência do respectivo evento;</a:t>
            </a:r>
          </a:p>
          <a:p>
            <a:r>
              <a:t> (vii) não cumprimento, pelo Administrador, Gestor ou Custodiante, de seus respectivos deveres e  obrigações estabelecidos neste Regulamento, no Contrato de Endosso ou nos respectivos  contratos de prestação de serviços segundo os quais essas entidades são contratadas pela Classe,  desde que, tendo sido notificado pelo Cotista para remediar ou justificar o não cumprimento, não o  f aça dentro de 10 (dez) Dias Úteis a partir do recebimento da notif icação mencionada;</a:t>
            </a:r>
          </a:p>
          <a:p>
            <a:r>
              <a:t>BTG Pactual SAC: 0800 772 28 27 - Ouvidoria: 0800 722 00 48 - btgpactual.com 19</a:t>
            </a:r>
          </a:p>
          <a:p>
            <a:r>
              <a:t>CNPJ 60010416000112 · Cross default e insolvência · Condição: Documentos atuais selecionados no inventário por categoria/escopo; a data documental isolada não comprova vigência jurídica.</a:t>
            </a:r>
          </a:p>
          <a:p>
            <a:r>
              <a:t>CNPJ 60010416000112 · Cross default e insolvência · Versão e prevalência: Documentos atuais selecionados no inventário por categoria/escopo; a data documental isolada não comprova vigência jurídica.</a:t>
            </a:r>
          </a:p>
          <a:p>
            <a:r>
              <a:t>CNPJ 60010416000112 · Cross default e insolvência · Resumo do histórico: {"count": 1, "dates": ["2025-03-20"], "document_count": 1, "sources": [{"document_id": "993786", "title": "Regulamento", "reference_date": "2025-03-20", "version": "1", "page": 21, "clause": "10.2", "url": "https://fnet.bmfbovespa.com.br/fnet/publico/visualizarDocumento?id=993786", "sha256": "fd0fdd369a195510d81f81f505195a0b09e5f43522a990afa7d58c4f872921c8"}], "reference": {"path": "history/60010416000112.json", "criterion_id": "cross_default", "total_count": 1, "preview_count": 1, "full_text_deferred": true, "sha256": "8e2bd813f4c51cf01f6bfaad164bafe69d2bbb192f753eac92da3a01c2e63046"}}</a:t>
            </a:r>
          </a:p>
          <a:p>
            <a:r>
              <a:t>CNPJ 62696791000193 · Cross default e insolvência · Motivo: Não localizada uma cláusula material para este critério nos textos identificados e processados. A ausência de resultado não comprova inexistência da regra.</a:t>
            </a:r>
          </a:p>
          <a:p>
            <a:r>
              <a:t>CNPJ 55563624000109 · Cross default e insolvência · Motivo: Não localizada uma cláusula material para este critério nos textos identificados e processados. A ausência de resultado não comprova inexistência da regra.</a:t>
            </a:r>
          </a:p>
          <a:p>
            <a:r>
              <a:t>CNPJ 62552447000120 · Cross default e insolvência · Regulamento · ID 1200623 · 2026-05-21 · versão 1 · p. 22 · 11.1 · https://fnet.bmfbovespa.com.br/fnet/publico/visualizarDocumento?id=1200623</a:t>
            </a:r>
          </a:p>
          <a:p>
            <a:r>
              <a:t>CNPJ 62552447000120 · Cross default e insolvência · Excerto da fonte:</a:t>
            </a:r>
          </a:p>
          <a:p>
            <a:r>
              <a:t>11.1 As seguintes hipóteses são consideradas eventos de avaliação (“Eventos de Avaliação”):</a:t>
            </a:r>
          </a:p>
          <a:p>
            <a:r>
              <a:t> (i) em caso de regime de administração especial temporária - RAET, intervenção ou liquidação  extrajudicial do Endossante, da instituição f inanceira prestadora dos serviços de agente de  conta vinculada à Classe (“Agente de Conta Vinculada”) e/ou do Agente de Retenção e  Cobrança;</a:t>
            </a:r>
          </a:p>
          <a:p>
            <a:r>
              <a:t> (ii) não cumprimento, pelo Endossante, de qualquer de suas obrigações estabelecidas nos  Contratos de Endosso, no Regulamento ou neste Anexo I, desde que esse não cumprimento  não seja devidamente sanado ou justificado dentro de 5 (cinco) Dias Úteis a partir do  recebimento, pelo Endossante, de notificação, por escrito, enviada pelo Administrador,  inf ormando-o da ocorrência do respectivo evento;</a:t>
            </a:r>
          </a:p>
          <a:p>
            <a:r>
              <a:t> (iii) não cumprimento, pelo Endossante e/ou pelo Agente de Retenção e Cobrança, de sua  obrigação de entregar os (a) arquivos eletrônicos disponibilizados mensalmente pela Dataprev  ao Endossante, contendo (1) as Consignações processadas pela Dataprev no respectivo mês,  identificando os Devedores e os valores que serão descontados de suas respectivas folhas de  pagamentos, bem como (2) a totalidade das operações pendentes de crédito consignado  concedidas pelo Endossante e indicando todos os Direitos Creditórios devi dos mediante  Consignação na próxima data de liquidação (“Arquivos Dataprev”) e/ou (b) os arquivos  eletrônicos disponibilizados mensalmente pela CEF ao Endossante, contendo os pagamentos  de Saque-aniversário processados pela CEF no respectivo mês devidos à Classe, identificando  os Devedores e os valores que serão descontados de seus respectivos Saques-aniversário  (“Arquivos de Liquidação Saque-aniversário”) ao Custodiante dentro do prazo estabelecido  neste Anexo I, desde que esse não cumprimento não seja dev idamente sanado ou justificado  dentro de 5 (cinco) Dias Úteis a partir do recebimento, pelo Endossante e/ou pelo Agente de  Retenção e Cobrança, de notificação, por escrito, enviada pelo Custodiante, inf ormando-o da  ocorrência do respectivo evento;</a:t>
            </a:r>
          </a:p>
          <a:p>
            <a:r>
              <a:t> (iv) não cumprimento, pelo Endossante e/ou pelo Agente de Retenção e Cobrança, de qualquer de  suas obrigações de entregar ao Gestor, ou a terceiros por ele indicados, os Documentos  Comprobatórios e Documentos Suporte relativos aos Direitos Creditórios que tenham sido  endossados à Classe, dentro do prazo estabelecido neste Anexo I, desde que esse não  cumprimento não seja devidamente sanado ou justificado dentro de 5 (cinco) Dias Úteis a partir  do recebimento, pelo Endossante e/ou pelo Agente de Retenção e Cobrança, de notificação,  por escrito, enviada pelo Custodiante, inf ormando- o da ocorrência do respectivo evento;</a:t>
            </a:r>
          </a:p>
          <a:p>
            <a:r>
              <a:t> (v) não cumprimento, pelo Agente de Retenção e Cobrança, de qualquer de suas obrigações  estabelecidas nos Contratos de Endosso, no Regulamento, neste Anexo I ou nos Contratos de  Retenção/Cobrança, desde que esse não cumprimento não seja devidamente sanado ou</a:t>
            </a:r>
          </a:p>
          <a:p>
            <a:r>
              <a:t>CNPJ 62552447000120 · Cross default e insolvência · Condição: Documentos atuais selecionados no inventário por categoria/escopo; a data documental isolada não comprova vigência jurídica.</a:t>
            </a:r>
          </a:p>
          <a:p>
            <a:r>
              <a:t>CNPJ 62552447000120 · Cross default e insolvência · Versão e prevalência: Documentos atuais selecionados no inventário por categoria/escopo; a data documental isolada não comprova vigência jurídica.</a:t>
            </a:r>
          </a:p>
          <a:p>
            <a:r>
              <a:t>CNPJ 63953620000165 · Cross default e insolvência · Anexo ao Regulamento · ID 1222863 · 2026-06-02 · versão 1 · p. 14 · 11.1 · https://fnet.bmfbovespa.com.br/fnet/publico/visualizarDocumento?id=1222863</a:t>
            </a:r>
          </a:p>
          <a:p>
            <a:r>
              <a:t>CNPJ 63953620000165 · Cross default e insolvência · Excerto da fonte:</a:t>
            </a:r>
          </a:p>
          <a:p>
            <a:r>
              <a:t>11.1 As seguintes hipóteses são consideradas eventos de avaliação (“Eventos de Avaliação”):</a:t>
            </a:r>
          </a:p>
          <a:p>
            <a:r>
              <a:t> (i) em caso de regime de administração especial temporária - RAET, intervenção ou liquidação extrajudicial  do Endossante;</a:t>
            </a:r>
          </a:p>
          <a:p>
            <a:r>
              <a:t> (ii) em caso de desenquadramento do Índice de Subordinação por 10 (dez) dias úteis consecutivos;</a:t>
            </a:r>
          </a:p>
          <a:p>
            <a:r>
              <a:t> (iii) não cumprimento, pelo Endossante, de qualquer de suas obrigações estabelecidas no Contrato de  Endosso ou neste Anexo I, desde que esse não cumprimento não seja devidamente sanado ou justificado  dentro de 10 (dez) Dias Úteis a partir do recebimento, pelo Endossante, de notificação, por escrito,  enviada pelo Administrador, informando-o da ocorrência do respectivo evento;</a:t>
            </a:r>
          </a:p>
          <a:p>
            <a:r>
              <a:t> (iv) não cumprimento, pelo Endossante, de sua obrigação de entregar os Arquivos Dataprev ao Gestor e ao  Custodiante dentro do prazo estabelecido neste Anexo, desde que esse não cumprimento não seja  devidamente sanado ou justificado dentro de 02 (dois) Dias Úteis a partir do recebimento, pelo  Endossante, de notificação, por escrito, enviada pelo Gestor, informando-o da ocorrência do respectivo  evento;</a:t>
            </a:r>
          </a:p>
          <a:p>
            <a:r>
              <a:t> (v) não cumprimento, pelo Endossante, de qualquer de suas obrigações de entregar ao Gestor e/o ao  Custodiante, ou a terceiros por ele indicados, os Documentos Comprobatórios e Documentos Suporte  relativos aos Direitos Creditórios que tenham sido endossados à Classe, dentro do prazo estabelecido  neste Anexo I, desde que esse não cumprimento não seja devidamente sanado ou justificado dentro de  02 (dois) Dias Úteis a partir do recebimento, pelo Endossante, de notificação, por escrito, enviada pelo  Gestor e/ou Custodiante, informando- o da ocorrência do respectivo evento;</a:t>
            </a:r>
          </a:p>
          <a:p>
            <a:r>
              <a:t> (vi) não cumprimento, pelo Agente de Retenção/Cobrança, de qualquer de suas obrigações estabelecidas  no Contrato de Endosso, neste Regulamento ou no Contrato de Serviços MT, desde que esse não  cumprimento não seja devidamente sanado ou justificado dentro de 10 (dez) Dias Úteis a partir do  recebimento, pelo Agente de Retenção/Cobrança, de notificação, por escrito, enviada pelo Gestor,  informando-o da ocorrência do respectivo evento;</a:t>
            </a:r>
          </a:p>
          <a:p>
            <a:r>
              <a:t>CNPJ 63953620000165 · Cross default e insolvência · Condição: Documentos atuais selecionados no inventário por categoria/escopo; a data documental isolada não comprova vigência jurídica.</a:t>
            </a:r>
          </a:p>
          <a:p>
            <a:r>
              <a:t>CNPJ 63953620000165 · Cross default e insolvência · Versão e prevalência: Documentos atuais selecionados no inventário por categoria/escopo; a data documental isolada não comprova vigência jurídica.</a:t>
            </a:r>
          </a:p>
          <a:p>
            <a:r>
              <a:t>CNPJ 54871427000194 · Gatilhos de avaliação e liquidação · Regulamento · ID 670691 · 2024-04-28 · versão 1 · p. 17 · 10.2 · https://fnet.bmfbovespa.com.br/fnet/publico/visualizarDocumento?id=670691</a:t>
            </a:r>
          </a:p>
          <a:p>
            <a:r>
              <a:t>CNPJ 54871427000194 · Gatilhos de avaliação e liquidação · Excerto da fonte:</a:t>
            </a:r>
          </a:p>
          <a:p>
            <a:r>
              <a:t>10.2 A Assembleia Especial de Cotistas é responsável por deliberar sobre as matérias específicas da Classe  de Cotas, sem prejuízo das demais disposições previstas na regulamentação aplicável, incluindo, mas  não se limitando a:</a:t>
            </a:r>
          </a:p>
          <a:p>
            <a:r>
              <a:t> (i) deliberar sobre as demonstrações contábeis da Classe;</a:t>
            </a:r>
          </a:p>
          <a:p>
            <a:r>
              <a:t> (ii) deliberar sobre substituição de Prestadores de Serviços Essenciais, observado o disposto no  art. 70, §1º da parte geral da Resolução CVM 175;</a:t>
            </a:r>
          </a:p>
          <a:p>
            <a:r>
              <a:t> (iii) deliberar sobre elevação da Taxa de Administração, inclusive na hipótese de restabelecimento  de taxa que tenha sido objeto de redução;</a:t>
            </a:r>
          </a:p>
          <a:p>
            <a:r>
              <a:t> (iv) deliberar sobre incorporação, f usão, cisão total ou parcial, a transf ormação ou liquidação da  Classe;</a:t>
            </a:r>
          </a:p>
          <a:p>
            <a:r>
              <a:t> (v) alterações das características, vantagens, direitos e obrigações das Cotas;</a:t>
            </a:r>
          </a:p>
          <a:p>
            <a:r>
              <a:t> (vi) alterar critérios e procedimentos para Amortização e/ou resgate de Cotas mediante dação em  pagamento de Direitos Creditórios;</a:t>
            </a:r>
          </a:p>
          <a:p>
            <a:r>
              <a:t> (vii) aprovar a contratação de Agente de Cobrança dos Direitos Creditórios;</a:t>
            </a:r>
          </a:p>
          <a:p>
            <a:r>
              <a:t> (viii) aprovar emissão de novas Cotas da Classe;</a:t>
            </a:r>
          </a:p>
          <a:p>
            <a:r>
              <a:t> (ix) deliberar sobre a eventual necessidade de aportes adicionais de recursos na Classe pelos  Cotistas;</a:t>
            </a:r>
          </a:p>
          <a:p>
            <a:r>
              <a:t> (x) alterações na Política de Investimentos;</a:t>
            </a:r>
          </a:p>
          <a:p>
            <a:r>
              <a:t> (xi) alterações nos Critérios de Elegibilidade;</a:t>
            </a:r>
          </a:p>
          <a:p>
            <a:r>
              <a:t> (xii) alteração dos Eventos de Avaliação, dos Eventos de Liquidação e/ou das consequências deles  decorrentes em f unção do previsto neste Regulamento;</a:t>
            </a:r>
          </a:p>
          <a:p>
            <a:r>
              <a:t> (xiii) plano de resolução do Patrimônio Líquido negativo da Classe, nos termos da Resolução CVM  175; e</a:t>
            </a:r>
          </a:p>
          <a:p>
            <a:r>
              <a:t> (xiv) pedido de declaração judicial de insolvência da Classe.</a:t>
            </a:r>
          </a:p>
          <a:p>
            <a:r>
              <a:t>CAPÍTULO 11 – EVENTOS DE AVALIAÇÃO, EVENTOS DE LIQUIDAÇÃO, E PROCEDIMENTOS DE LIQUIDAÇÃO ANTECIPADA Eventos de Avaliação</a:t>
            </a:r>
          </a:p>
          <a:p>
            <a:r>
              <a:t>CNPJ 54871427000194 · Gatilhos de avaliação e liquidação · Regulamento · ID 670691 · 2024-04-28 · versão 1 · p. 19 · 11.2 · https://fnet.bmfbovespa.com.br/fnet/publico/visualizarDocumento?id=670691</a:t>
            </a:r>
          </a:p>
          <a:p>
            <a:r>
              <a:t>CNPJ 54871427000194 · Gatilhos de avaliação e liquidação · Excerto da fonte:</a:t>
            </a:r>
          </a:p>
          <a:p>
            <a:r>
              <a:t>11.2 Os seguintes eventos obrigarão o ADMINISTRADOR a verificar se o Patrimônio Líquido da Classe está  negativo:</a:t>
            </a:r>
          </a:p>
          <a:p>
            <a:r>
              <a:t> (i) qualquer pedido de declaração judicial de insolvência da Classe; e</a:t>
            </a:r>
          </a:p>
          <a:p>
            <a:r>
              <a:t> (ii) na ocorrência de quaisquer dos Eventos de Avaliação e/ou Eventos de Liquidação .</a:t>
            </a:r>
          </a:p>
          <a:p>
            <a:r>
              <a:t>Eventos de Liquidação</a:t>
            </a:r>
          </a:p>
          <a:p>
            <a:r>
              <a:t>CNPJ 54871427000194 · Gatilhos de avaliação e liquidação · Condição: Documentos atuais selecionados no inventário por categoria/escopo; a data documental isolada não comprova vigência jurídica.</a:t>
            </a:r>
          </a:p>
          <a:p>
            <a:r>
              <a:t>CNPJ 54871427000194 · Gatilhos de avaliação e liquidação · Versão e prevalência: Documentos atuais selecionados no inventário por categoria/escopo; a data documental isolada não comprova vigência jurídica.</a:t>
            </a:r>
          </a:p>
          <a:p>
            <a:r>
              <a:t>CNPJ 54871427000194 · Gatilhos de avaliação e liquidação · Resumo do histórico: {"count": 2, "dates": ["2024-04-19", "2024-04-28"], "document_count": 2, "sources": [{"document_id": "670691", "title": "Regulamento", "reference_date": "2024-04-28", "version": "1", "page": "17-20", "url": "https://fnet.bmfbovespa.com.br/fnet/publico/visualizarDocumento?id=670691", "sha256": "bf16dd7f1a62d5cdbf2e2d54fef81783783f7310fbc99c3a8f00459bdf9d037b"}, {"document_id": "670689", "title": "Regulamento", "reference_date": "2024-04-19", "version": "1", "page": 17, "clause": "10.2", "url": "https://fnet.bmfbovespa.com.br/fnet/publico/visualizarDocumento?id=670689", "sha256": "891bc9bc5d87bbc02ec139077a84d2702eb81ea02035fb71d24f5b8366b94a0b"}], "reference": {"path": "history/54871427000194.json", "criterion_id": "legacy_events", "total_count": 2, "preview_count": 2, "full_text_deferred": true, "sha256": "35d7cd99be50c7287c9fb675cf4f2e736002315295a225a9efa79c8d9186d874"}}</a:t>
            </a:r>
          </a:p>
          <a:p>
            <a:r>
              <a:t>CNPJ 60010416000112 · Gatilhos de avaliação e liquidação · Regulamento · ID 1051393 · 2025-10-09 · versão 1 · p. 21 · 10.2 · https://fnet.bmfbovespa.com.br/fnet/publico/visualizarDocumento?id=1051393</a:t>
            </a:r>
          </a:p>
          <a:p>
            <a:r>
              <a:t>CNPJ 60010416000112 · Gatilhos de avaliação e liquidação · Excerto da fonte:</a:t>
            </a:r>
          </a:p>
          <a:p>
            <a:r>
              <a:t>10.2 Os seguintes eventos obrigarão o Administrador a verif icar se o Patrimônio Líquido da Classe está  negativo:</a:t>
            </a:r>
          </a:p>
          <a:p>
            <a:r>
              <a:t> (i) qualquer pedido de declaração judicial de insolvência da Classe;</a:t>
            </a:r>
          </a:p>
          <a:p>
            <a:r>
              <a:t> (ii) identificação de indícios de f raudes envolvendo o lastro de Direitos Creditórios que representem, no  mínimo 0,5 (cinco décimos por cento) do Patrimônio Líquido da Classe;</a:t>
            </a:r>
          </a:p>
          <a:p>
            <a:r>
              <a:t> (iii) inadimplência de obrigações financeiras de devedor e/ou emissor de ativos detidos pela Classe que  representem mais de 25% (vinte e cinco por cento)de seu Patrimônio Líquido;</a:t>
            </a:r>
          </a:p>
          <a:p>
            <a:r>
              <a:t> (iv) pedido de recuperação extrajudicial, de recuperação judicial, ou de falência de Devedor e/ou emissor  de ativos detidos pela Classe;</a:t>
            </a:r>
          </a:p>
          <a:p>
            <a:r>
              <a:t> (v) condenação da Classe de natureza judicial e/ou arbitral e/ou administrativa e/ou outras similares ao  pagamento de mais de 20% (vinte por cento) de seu Patrimônio Líquido; e</a:t>
            </a:r>
          </a:p>
          <a:p>
            <a:r>
              <a:t> (vi) caso caracterizado quaisquer dos Eventos de Liquidação.</a:t>
            </a:r>
          </a:p>
          <a:p>
            <a:r>
              <a:t>Eventos de Liquidação</a:t>
            </a:r>
          </a:p>
          <a:p>
            <a:r>
              <a:t>CNPJ 60010416000112 · Gatilhos de avaliação e liquidação · Regulamento · ID 1051393 · 2025-10-09 · versão 1 · p. 21 · 10.3 · https://fnet.bmfbovespa.com.br/fnet/publico/visualizarDocumento?id=1051393</a:t>
            </a:r>
          </a:p>
          <a:p>
            <a:r>
              <a:t>CNPJ 60010416000112 · Gatilhos de avaliação e liquidação · Excerto da fonte:</a:t>
            </a:r>
          </a:p>
          <a:p>
            <a:r>
              <a:t>10.3 As seguintes hipóteses são consideradas Eventos de Liquidação:</a:t>
            </a:r>
          </a:p>
          <a:p>
            <a:r>
              <a:t> (i) caso seja deliberado em Assembleia de Cotistas que um Evento de Avaliação constitui um Evento de  Liquidação;</a:t>
            </a:r>
          </a:p>
          <a:p>
            <a:r>
              <a:t> (ii) na hipótese de resilição do Contrato de Custódia ou renúncia do Custodiante, sem que tenha havido  sua substituição por outra instituição, de acordo com os procedimentos estabelecidos neste  Regulamento;</a:t>
            </a:r>
          </a:p>
          <a:p>
            <a:r>
              <a:t> (iii) renúncia do Administrador sem que a Assembleia Especial de Cotistas eficazmente nomeie instituição  habilitada para substituí-lo, nos termos estabelecidos neste Regulamento;</a:t>
            </a:r>
          </a:p>
          <a:p>
            <a:r>
              <a:t> (iv) por determinação da CVM, em caso de violação de normas legais ou regulamentares;</a:t>
            </a:r>
          </a:p>
          <a:p>
            <a:r>
              <a:t> (v) sempre que assim decidido pelos Cotistas em Assembleia Especial de Cotistas especialmente  convocada para tal f im;</a:t>
            </a:r>
          </a:p>
          <a:p>
            <a:r>
              <a:t> (vi) em caso de regime de administração especial temporária - RAET, intervenção ou liquidação  extrajudicial, conforme aplicável, do Custodiante, Administrador, ou Gestor, sem a sua ef etiva  substituição nos termos deste Regulamento;</a:t>
            </a:r>
          </a:p>
          <a:p>
            <a:r>
              <a:t> (vii) se, após 90 (noventa) dias do início das atividades do Fundo, o Patrimônio Líquido diário inf erior da  Classe f or inf erior a R$ 1.000.000,00 (um milhão de reais) pelo período de 90 (noventa) dias  consecutivos;</a:t>
            </a:r>
          </a:p>
          <a:p>
            <a:r>
              <a:t> (viii) impossibilidade da Classe adquirir Direitos Creditórios admitidos por sua política de investimento.</a:t>
            </a:r>
          </a:p>
          <a:p>
            <a:r>
              <a:t>Procedimentos de Liquidação Antecipada</a:t>
            </a:r>
          </a:p>
          <a:p>
            <a:r>
              <a:t>CNPJ 60010416000112 · Gatilhos de avaliação e liquidação · Regulamento · ID 1051393 · 2025-10-09 · versão 1 · p. 38 · https://fnet.bmfbovespa.com.br/fnet/publico/visualizarDocumento?id=1051393</a:t>
            </a:r>
          </a:p>
          <a:p>
            <a:r>
              <a:t>CNPJ 60010416000112 · Gatilhos de avaliação e liquidação · Excerto da fonte:</a:t>
            </a:r>
          </a:p>
          <a:p>
            <a:r>
              <a:t>Anexo I ao Regulamento CLASSE ÚNICA DO MT I CONSIGNADO PRIVADO I FUNDO DE INVESTIMENTO EM DIREITOS CREDITÓRIOS RESPONSABILIDADE LIMITADA  deixar de produzir os efeitos pretendidos, bem como causar perdas para o Cotista e colocar  em risco o patrimônio da Classe</a:t>
            </a:r>
          </a:p>
          <a:p>
            <a:r>
              <a:t> (iii) Risco decorrente da amortização das Cotas: conforme previsto neste Anexo I, as Cotas  poderão ser amortizadas conf orme deliberado pela em Assembleia de Cotistas.</a:t>
            </a:r>
          </a:p>
          <a:p>
            <a:r>
              <a:t> Considerando que a realização da amortização dependerá do caixa existente na Classe, é  possível que, se essa condição não seja verif icada, a Classe não poderá ef etuar as  amortizações das Cotas conforme deliberadas pelos Cotistas. A Classe, o Administrador, o  Custodiante, o Gestor, o Agente de Retenção/Cobrança, o Coordenador Líder ou o  Endossante não terão direito a nenhuma multa ou penalidade, por qualquer motivo, devido a  esse f ato.</a:t>
            </a:r>
          </a:p>
          <a:p>
            <a:r>
              <a:t> (iv) Risco de invalidade ou ineficácia do endosso: o endosso dos Direitos Creditórios à Classe  poderá ser invalidada ou considerada ineficaz, o que impacta negativamente o patrimônio da  Classe, no caso de (a) fraude contra credores, se no momento do endosso o Endossante for  insolvente ou se ele vier a se tornar insolvente; (b) fraude à execução, se (1) no momento do  endosso o Endossante f or réu em um processo judicial capaz de torná-lo insolvente; ou (2)  os Direitos Creditórios endossados à Classe estiverem sujeitos a qualquer demanda judicial  baseada em garantia real; e (c) f raude à execução f iscal, se o Endossante, ao celebrar o  endosso de crédito, como contribuinte por débito à Fazenda Pública, e crédito f iscal  regularmente inscrito na dívida ativa, não tiver ativos para pagamento total da dívida f iscal.</a:t>
            </a:r>
          </a:p>
          <a:p>
            <a:r>
              <a:t> Entretanto, o Administrador, o Custodiante, o Gestor e o Agente de Retenção/ Cobrança não  verif icarão os eventos acima no endosso de Direito Creditório e não serão responsabilizados  em caso de invalidação ou inef icácia do endosso de um Direito Creditório à Classe.</a:t>
            </a:r>
          </a:p>
          <a:p>
            <a:r>
              <a:t> (v) Risco de impugnação judicial: a CCB poderá ser impugnada judicialmente tanto no que diz  respeito à sua f ormalização quanto às taxas aplicadas e à f orma de cobrança da CCB,  inclusive em virtude das disposições estabelecidas na Lei nº 8.078, de 11 de setembro de  1990, conf orme alterada (Código de Def esa do Consumidor), tais como uma possível  impugnação de cláusula abusiva, bem como qualquer vício nos Documentos Comprobatórios  ou Documentos Suporte que impeçam a exigibilidade do crédito (ausência de assinaturas ou  f alta de prova de f ormalização regular do instrumento, representação ilegítima, dentre  outros). Nesses casos, a CCB poderá ser modificada ou cancelada em virtude de decisão  judicial, o que poderá acarretar perdas para a Classe e, consequentemente, af etar  negativamente a rentabilidade de seu patrimônio.</a:t>
            </a:r>
          </a:p>
          <a:p>
            <a:r>
              <a:t> (vi) Risco de restrições de natureza legal ou regulamentar: a Classe pode estar sujeito a  riscos, além do controle do Administrador, decorrentes de quaisquer restrições f uturas de  natureza legal e/ou regulamentar que venham a af etar a validade da constituição e/ou o  endosso dos Direitos Creditórios à Classe. Caso essas restrições ocorram, o f luxo de  cessões de Direitos Creditórios à Classe pode ser interrompido e, portanto, pode  comprometer a continuidade da Classe e a perspectiva de investimento do Cotista. Além  disso, os Direitos Creditórios que já estão na Carteira podem ter sua validade questionada,  o que pode causar, portanto, prejuízos ao Cotista.</a:t>
            </a:r>
          </a:p>
          <a:p>
            <a:r>
              <a:t> (vii) Risco de não obter um tratamento fiscal mais benéfico: o Gestor deverá envidar seus  melhores esforços para que o tratamento f iscal aplicável às classes de longo prazo seja  aplicado à Classe e ao Cotista. Entretanto, em virtude de eventos fora do controle do Gestor,  incluindo, mas não se limitando aos eventos de liquidação antecipada da Classe  estabelecidos neste Anexo I, é possível que a Classe e o Cotista não desfrutem de tratamento  f iscal mais benéf ico, atribuído às classes de longo prazo. Essa situação pode levar a um  impacto adverso na rentabilidade líquida decorrente do investimento nas Cotas.</a:t>
            </a:r>
          </a:p>
          <a:p>
            <a:r>
              <a:t> (viii) Risco de bloqueio da Conta de Cobrança da Classe ou da Conta de Movimentação da  Classe: os recursos provenientes da Classe serão direcionados para a Conta de Cobrança BTG Pactual SAC: 0800 772 28 27 - Ouvidoria: 0800 722 00 48 - btgpactual.com 38</a:t>
            </a:r>
          </a:p>
          <a:p>
            <a:r>
              <a:t>CNPJ 60010416000112 · Gatilhos de avaliação e liquidação · Condição: Documentos atuais selecionados no inventário por categoria/escopo; a data documental isolada não comprova vigência jurídica.</a:t>
            </a:r>
          </a:p>
          <a:p>
            <a:r>
              <a:t>CNPJ 60010416000112 · Gatilhos de avaliação e liquidação · Versão e prevalência: Documentos atuais selecionados no inventário por categoria/escopo; a data documental isolada não comprova vigência jurídica.</a:t>
            </a:r>
          </a:p>
          <a:p>
            <a:r>
              <a:t>CNPJ 60010416000112 · Gatilhos de avaliação e liquidação · Resumo do histórico: {"count": 2, "dates": ["2025-03-20", "2025-10-09"], "document_count": 2, "sources": [{"document_id": "1051393", "title": "Regulamento", "reference_date": "2025-10-09", "version": "1", "page": "19-22", "url": "https://fnet.bmfbovespa.com.br/fnet/publico/visualizarDocumento?id=1051393", "sha256": "8469d613078ffd5a6c1d217885d8a397a16342c0b937ae4aa24b106505f233ae"}, {"document_id": "993786", "title": "Regulamento", "reference_date": "2025-03-20", "version": "1", "page": 21, "clause": "10.2", "url": "https://fnet.bmfbovespa.com.br/fnet/publico/visualizarDocumento?id=993786", "sha256": "fd0fdd369a195510d81f81f505195a0b09e5f43522a990afa7d58c4f872921c8"}], "reference": {"path": "history/60010416000112.json", "criterion_id": "legacy_events", "total_count": 2, "preview_count": 2, "full_text_deferred": true, "sha256": "8e2bd813f4c51cf01f6bfaad164bafe69d2bbb192f753eac92da3a01c2e63046"}}</a:t>
            </a:r>
          </a:p>
          <a:p>
            <a:r>
              <a:t>CNPJ 62696791000193 · Gatilhos de avaliação e liquidação · Regulamento · ID 1143317 · 2026-03-20 · versão 1 · p. 37 · 5.1 · https://fnet.bmfbovespa.com.br/fnet/publico/visualizarDocumento?id=1143317</a:t>
            </a:r>
          </a:p>
          <a:p>
            <a:r>
              <a:t>CNPJ 62696791000193 · Gatilhos de avaliação e liquidação · Excerto da fonte:</a:t>
            </a:r>
          </a:p>
          <a:p>
            <a:r>
              <a:t>5.1. Verif icado excesso de subordinação, ou seja, que a representatividade de Cotas Júnior em relação ao  Patrimônio Líquido da Classe é superior ao Índice de Subordinação (“Excesso de Subordinação”), desde  que assim seja deliberado por maioria dos votos de seus titulares e da maioria dos titulares de Cotas  Seniores, as Cotas Juniores poderão ser objeto de Amortização Extraordinária até o limite do respectivos  Excesso de Subordinação– ainda que tal Amortização Extraordinária ocorra antes do resgate integral das  Cotas Seniores– desde que: (i) seja observada a ordem de alocação de recursos definida no item 6.1  acima Anexo; (ii) não existam Obrigações da Classe vencidas e não pagas; (iii) não estejam em curso  quaisquer Eventos de Avaliação e/ou Eventos de Liquidação; (iv) existam suficientes Ativos Financeiros  e/ou recursos disponíveis; e (vii) permaneçam atendidas todos os Índices de Subordinação.</a:t>
            </a:r>
          </a:p>
          <a:p>
            <a:r>
              <a:t>6. Negociação das Cotas</a:t>
            </a:r>
          </a:p>
          <a:p>
            <a:r>
              <a:t>CNPJ 62696791000193 · Gatilhos de avaliação e liquidação · Condição: Documentos atuais selecionados no inventário por categoria/escopo; a data documental isolada não comprova vigência jurídica.</a:t>
            </a:r>
          </a:p>
          <a:p>
            <a:r>
              <a:t>CNPJ 62696791000193 · Gatilhos de avaliação e liquidação · Motivo: Cláusula primária localizada e citada, mas sua lista/condições extensas não admitem uma síntese literal curta confirmada. O trecho integral permanece nas fontes.</a:t>
            </a:r>
          </a:p>
          <a:p>
            <a:r>
              <a:t>CNPJ 62696791000193 · Gatilhos de avaliação e liquidação · Versão e prevalência: Documentos atuais selecionados no inventário por categoria/escopo; a data documental isolada não comprova vigência jurídica.</a:t>
            </a:r>
          </a:p>
          <a:p>
            <a:r>
              <a:t>CNPJ 55563624000109 · Gatilhos de avaliação e liquidação · Regulamento · ID 1192614 · 2026-04-30 · versão 1 · p. 21 · 11.2 · https://fnet.bmfbovespa.com.br/fnet/publico/visualizarDocumento?id=1192614</a:t>
            </a:r>
          </a:p>
          <a:p>
            <a:r>
              <a:t>CNPJ 55563624000109 · Gatilhos de avaliação e liquidação · Excerto da fonte:</a:t>
            </a:r>
          </a:p>
          <a:p>
            <a:r>
              <a:t>11.2 Os seguintes eventos obrigarão o ADMINISTRADOR a verificar se o Patrimônio Líquido da Classe está negativo  (“Eventos de Verificação do Patrimônio”):</a:t>
            </a:r>
          </a:p>
          <a:p>
            <a:r>
              <a:t> (i) qualquer pedido de declaração judicial de insolvência da Classe;</a:t>
            </a:r>
          </a:p>
          <a:p>
            <a:r>
              <a:t> (ii) qualquer pedido ou declaração judicial de insolvência da Classe Investida;</a:t>
            </a:r>
          </a:p>
          <a:p>
            <a:r>
              <a:t> (iii) identificação de indícios de fraudes envolvendo o lastro dos direitos creditórios da Classe Investida;</a:t>
            </a:r>
          </a:p>
          <a:p>
            <a:r>
              <a:t> (iv) condenação da Classe de natureza judicial e/ou arbitral e/ou administrativa e/ou outras similares ao  pagamento de mais de 20% (vinte por cento) de seu Patrimônio Líquido; e</a:t>
            </a:r>
          </a:p>
          <a:p>
            <a:r>
              <a:t> (v) caso caracterizado quaisquer dos Eventos de Avaliação e/ou Eventos de Liquidação.</a:t>
            </a:r>
          </a:p>
          <a:p>
            <a:r>
              <a:t> Eventos de Liquidação</a:t>
            </a:r>
          </a:p>
          <a:p>
            <a:r>
              <a:t>CNPJ 55563624000109 · Gatilhos de avaliação e liquidação · Regulamento · ID 1192614 · 2026-04-30 · versão 1 · p. 20 · https://fnet.bmfbovespa.com.br/fnet/publico/visualizarDocumento?id=1192614</a:t>
            </a:r>
          </a:p>
          <a:p>
            <a:r>
              <a:t>CNPJ 55563624000109 · Gatilhos de avaliação e liquidação · Excerto da fonte:</a:t>
            </a:r>
          </a:p>
          <a:p>
            <a:r>
              <a:t>(vi) alterar as características, vantagens, direitos e obrigações 90% (noventa por cento) do total das Cotas  das Cotas; emitidas</a:t>
            </a:r>
          </a:p>
          <a:p>
            <a:r>
              <a:t> (vii) alterar critérios e procedimentos para resgate de Cotas  mediante dação em pagamento de Cotas da Classe Maioria do total das Cotas emitidas  Investida;</a:t>
            </a:r>
          </a:p>
          <a:p>
            <a:r>
              <a:t> (viii) aprovar a emissão de novas Cotas fora do Capital  Maioria do total das Cotas emitidas  Autorizado;</a:t>
            </a:r>
          </a:p>
          <a:p>
            <a:r>
              <a:t> (ix) alterar a Política de Investimentos; 90% (noventa por cento) do total das Cotas  emitidas</a:t>
            </a:r>
          </a:p>
          <a:p>
            <a:r>
              <a:t> (x) alterar o Critério de Elegibilidade; 90% (noventa por cento) do total das Cotas  emitidas</a:t>
            </a:r>
          </a:p>
          <a:p>
            <a:r>
              <a:t> (xi) alterar os Eventos de Avaliação, os Eventos de Liquidação  90% (noventa por cento) do total das Cotas  e/ou das consequências deles decorrentes em função do  emitidas  previsto neste Anexo;</a:t>
            </a:r>
          </a:p>
          <a:p>
            <a:r>
              <a:t> (xii) deliberar sobre o plano de resolução do Patrimônio Líquido  Maioria do total das Cotas emitidas  negativo da Classe, nos termos da Resolução CVM 175; e</a:t>
            </a:r>
          </a:p>
          <a:p>
            <a:r>
              <a:t> (xiii) deliberar sobre o pedido de declaração judicial de 90% (noventa por cento) do total das Cotas  insolvência da Classe. emitidas</a:t>
            </a:r>
          </a:p>
          <a:p>
            <a:r>
              <a:t>CNPJ 55563624000109 · Gatilhos de avaliação e liquidação · Regulamento · ID 1192614 · 2026-04-30 · versão 1 · p. 2 · 1.3 · https://fnet.bmfbovespa.com.br/fnet/publico/visualizarDocumento?id=1192614</a:t>
            </a:r>
          </a:p>
          <a:p>
            <a:r>
              <a:t>CNPJ 55563624000109 · Gatilhos de avaliação e liquidação · Excerto da fonte:</a:t>
            </a:r>
          </a:p>
          <a:p>
            <a:r>
              <a:t>1.3 O Anexo dispõe, sem prejuízo de outros requisitos e informações previstos na regulamentação, sobre os  seguintes aspectos relacionados à Classe: (i) características gerais, incluindo a indicação dos demais prestadores  de serviços; (ii) responsabilidade dos cotistas e regime de insolvência; (iii) características, direitos, condições de  emissão, subscrição, integralização, amortização e resgate das Cotas; (iv) ordem de alocação de recursos; (v)  assembleia especial de cotistas e demais procedimentos aplicáveis às manifestações de vontade dos cotistas; (vi)  remuneração dos prestadores de serviços; (vii) política de investimento e composição e diversificação da  Carteira; (viii) eventos de avaliação, eventos de liquidação e procedimentos de liquidação antecipada da Classe;</a:t>
            </a:r>
          </a:p>
          <a:p>
            <a:r>
              <a:t> (ix) origem dos Direitos Creditórios; (x) Critério de Elegibilidade; (xi) custos referentes à defesa dos interesses da  Classe; e (xii) fatores de risco.</a:t>
            </a:r>
          </a:p>
          <a:p>
            <a:r>
              <a:t>CNPJ 55563624000109 · Gatilhos de avaliação e liquidação · Condição: Documentos atuais selecionados no inventário por categoria/escopo; a data documental isolada não comprova vigência jurídica.</a:t>
            </a:r>
          </a:p>
          <a:p>
            <a:r>
              <a:t>CNPJ 55563624000109 · Gatilhos de avaliação e liquidação · Versão e prevalência: Documentos atuais selecionados no inventário por categoria/escopo; a data documental isolada não comprova vigência jurídica.</a:t>
            </a:r>
          </a:p>
          <a:p>
            <a:r>
              <a:t>CNPJ 62552447000120 · Gatilhos de avaliação e liquidação · Regulamento · ID 1200623 · 2026-05-21 · versão 1 · p. 2 · 1.4 · https://fnet.bmfbovespa.com.br/fnet/publico/visualizarDocumento?id=1200623</a:t>
            </a:r>
          </a:p>
          <a:p>
            <a:r>
              <a:t>CNPJ 62552447000120 · Gatilhos de avaliação e liquidação · Excerto da fonte:</a:t>
            </a:r>
          </a:p>
          <a:p>
            <a:r>
              <a:t>1.4 O Anexo de cada classe de Cotas (“Classe”), conforme aplicável, dispõe, sem prejuízo de outros  requisitos e inf ormações previstos na regulamentação, sobre: (i) características gerais, incluindo a  indicação dos demais prestadores de serviços; (ii) responsabilidade dos Cotistas e regime de  insolvência; (iii) características, direitos, condições de emissão, subscrição, integralização,  Amortização e resgate das Cotas; (iv) ordem de alocação de recursos; (v) Assembleia Especial e  demais procedimentos aplicáveis às manifestações de vontade dos Cotistas; (vi) remuneração dos  prestadores de serviços; (vii) política de investimento e composição e diversificação da Carteira; (viii)  eventos de avaliação, eventos de liquidação e liquidação antecipada da Classe; (ix) origem dos direitos  creditórios; (x) critérios de elegibilidade; (xi) custos referentes à defesa dos interesses de cada Classe;</a:t>
            </a:r>
          </a:p>
          <a:p>
            <a:r>
              <a:t> e (xii) f atores de risco.</a:t>
            </a:r>
          </a:p>
          <a:p>
            <a:r>
              <a:t>CNPJ 62552447000120 · Gatilhos de avaliação e liquidação · Regulamento · ID 1200623 · 2026-05-21 · versão 1 · p. 21 · 10.2 · https://fnet.bmfbovespa.com.br/fnet/publico/visualizarDocumento?id=1200623</a:t>
            </a:r>
          </a:p>
          <a:p>
            <a:r>
              <a:t>CNPJ 62552447000120 · Gatilhos de avaliação e liquidação · Excerto da fonte:</a:t>
            </a:r>
          </a:p>
          <a:p>
            <a:r>
              <a:t>10.2 Os seguintes quóruns deverão ser observados pela Assembleia Especial ao deliberar as matérias  abaixo:</a:t>
            </a:r>
          </a:p>
          <a:p>
            <a:r>
              <a:t>(i) deliberar sobre substituição de Prestadores de Serviços Unanimidade dos Cotistas  Essenciais, observado o disposto no art. 70, §1º da Parte Geral  da Resolução CVM 175, quando aplicável;</a:t>
            </a:r>
          </a:p>
          <a:p>
            <a:r>
              <a:t>(ii) deliberar sobre elevação da Taxa Global, inclusive na Unanimidade dos Cotistas  hipótese de restabelecimento de taxa que tenha sido objeto de  redução;</a:t>
            </a:r>
          </a:p>
          <a:p>
            <a:r>
              <a:t>(iii) deliberar sobre incorporação, fusão, cisão total ou parcial, Unanimidade dos Cotistas  a transf ormação ou liquidação da Classe;</a:t>
            </a:r>
          </a:p>
          <a:p>
            <a:r>
              <a:t>(iv) deliberar sobre a prestação de f iança, aval, aceite ou Unanimidade dos Cotistas  qualquer outra f orma de retenção de risco;</a:t>
            </a:r>
          </a:p>
          <a:p>
            <a:r>
              <a:t>(v) alterações das características, vantagens, direitos e Unanimidade dos Cotistas  obrigações das Cotas;</a:t>
            </a:r>
          </a:p>
          <a:p>
            <a:r>
              <a:t>(vi) alterar critérios e procedimentos para Amortização Unanimidade dos Cotistas  mediante dação em pagamento de Direitos Creditórios;</a:t>
            </a:r>
          </a:p>
          <a:p>
            <a:r>
              <a:t>(vii) aprovar emissão de novas Cotas; Unanimidade dos Cotistas</a:t>
            </a:r>
          </a:p>
          <a:p>
            <a:r>
              <a:t>(viii) alterações na Política de Investimentos; Unanimidade dos Cotistas</a:t>
            </a:r>
          </a:p>
          <a:p>
            <a:r>
              <a:t>(ix) alterações nos Critérios de Elegibilidade e nas Condições Unanimidade dos Cotistas  de Endosso;</a:t>
            </a:r>
          </a:p>
          <a:p>
            <a:r>
              <a:t>(x) alteração dos Eventos de Avaliação, dos Eventos de Unanimidade dos Cotistas  Liquidação e/ou das consequências deles decorrentes em  f unção do previsto neste Regulamento;</a:t>
            </a:r>
          </a:p>
          <a:p>
            <a:r>
              <a:t>(xi) plano de resolução do Patrimônio Líquido negativo da Unanimidade dos Cotistas  Classe, nos termos da Resolução CVM 175; e</a:t>
            </a:r>
          </a:p>
          <a:p>
            <a:r>
              <a:t>(xii) pedido de declaração judicial de insolvência da Classe. Unanimidade dos Cotistas</a:t>
            </a:r>
          </a:p>
          <a:p>
            <a:r>
              <a:t>CNPJ 62552447000120 · Gatilhos de avaliação e liquidação · Regulamento · ID 1200623 · 2026-05-21 · versão 1 · p. 22 · 11.1 · https://fnet.bmfbovespa.com.br/fnet/publico/visualizarDocumento?id=1200623</a:t>
            </a:r>
          </a:p>
          <a:p>
            <a:r>
              <a:t>CNPJ 62552447000120 · Gatilhos de avaliação e liquidação · Excerto da fonte:</a:t>
            </a:r>
          </a:p>
          <a:p>
            <a:r>
              <a:t>11.1 As seguintes hipóteses são consideradas eventos de avaliação (“Eventos de Avaliação”):</a:t>
            </a:r>
          </a:p>
          <a:p>
            <a:r>
              <a:t> (i) em caso de regime de administração especial temporária - RAET, intervenção ou liquidação  extrajudicial do Endossante, da instituição f inanceira prestadora dos serviços de agente de  conta vinculada à Classe (“Agente de Conta Vinculada”) e/ou do Agente de Retenção e  Cobrança;</a:t>
            </a:r>
          </a:p>
          <a:p>
            <a:r>
              <a:t> (ii) não cumprimento, pelo Endossante, de qualquer de suas obrigações estabelecidas nos  Contratos de Endosso, no Regulamento ou neste Anexo I, desde que esse não cumprimento  não seja devidamente sanado ou justificado dentro de 5 (cinco) Dias Úteis a partir do  recebimento, pelo Endossante, de notificação, por escrito, enviada pelo Administrador,  inf ormando-o da ocorrência do respectivo evento;</a:t>
            </a:r>
          </a:p>
          <a:p>
            <a:r>
              <a:t> (iii) não cumprimento, pelo Endossante e/ou pelo Agente de Retenção e Cobrança, de sua  obrigação de entregar os (a) arquivos eletrônicos disponibilizados mensalmente pela Dataprev  ao Endossante, contendo (1) as Consignações processadas pela Dataprev no respectivo mês,  identificando os Devedores e os valores que serão descontados de suas respectivas folhas de  pagamentos, bem como (2) a totalidade das operações pendentes de crédito consignado  concedidas pelo Endossante e indicando todos os Direitos Creditórios devi dos mediante  Consignação na próxima data de liquidação (“Arquivos Dataprev”) e/ou (b) os arquivos  eletrônicos disponibilizados mensalmente pela CEF ao Endossante, contendo os pagamentos  de Saque-aniversário processados pela CEF no respectivo mês devidos à Classe, identificando  os Devedores e os valores que serão descontados de seus respectivos Saques-aniversário  (“Arquivos de Liquidação Saque-aniversário”) ao Custodiante dentro do prazo estabelecido  neste Anexo I, desde que esse não cumprimento não seja dev idamente sanado ou justificado  dentro de 5 (cinco) Dias Úteis a partir do recebimento, pelo Endossante e/ou pelo Agente de  Retenção e Cobrança, de notificação, por escrito, enviada pelo Custodiante, inf ormando-o da  ocorrência do respectivo evento;</a:t>
            </a:r>
          </a:p>
          <a:p>
            <a:r>
              <a:t> (iv) não cumprimento, pelo Endossante e/ou pelo Agente de Retenção e Cobrança, de qualquer de  suas obrigações de entregar ao Gestor, ou a terceiros por ele indicados, os Documentos  Comprobatórios e Documentos Suporte relativos aos Direitos Creditórios que tenham sido  endossados à Classe, dentro do prazo estabelecido neste Anexo I, desde que esse não  cumprimento não seja devidamente sanado ou justificado dentro de 5 (cinco) Dias Úteis a partir  do recebimento, pelo Endossante e/ou pelo Agente de Retenção e Cobrança, de notificação,  por escrito, enviada pelo Custodiante, inf ormando- o da ocorrência do respectivo evento;</a:t>
            </a:r>
          </a:p>
          <a:p>
            <a:r>
              <a:t> (v) não cumprimento, pelo Agente de Retenção e Cobrança, de qualquer de suas obrigações  estabelecidas nos Contratos de Endosso, no Regulamento, neste Anexo I ou nos Contratos de  Retenção/Cobrança, desde que esse não cumprimento não seja devidamente sanado ou</a:t>
            </a:r>
          </a:p>
          <a:p>
            <a:r>
              <a:t>CNPJ 62552447000120 · Gatilhos de avaliação e liquidação · Condição: Documentos atuais selecionados no inventário por categoria/escopo; a data documental isolada não comprova vigência jurídica.</a:t>
            </a:r>
          </a:p>
          <a:p>
            <a:r>
              <a:t>CNPJ 62552447000120 · Gatilhos de avaliação e liquidação · Versão e prevalência: Documentos atuais selecionados no inventário por categoria/escopo; a data documental isolada não comprova vigência jurídica.</a:t>
            </a:r>
          </a:p>
          <a:p>
            <a:r>
              <a:t>CNPJ 63953620000165 · Gatilhos de avaliação e liquidação · Anexo ao Regulamento · ID 1222863 · 2026-06-02 · versão 1 · p. 24 · 4.1 · https://fnet.bmfbovespa.com.br/fnet/publico/visualizarDocumento?id=1222863</a:t>
            </a:r>
          </a:p>
          <a:p>
            <a:r>
              <a:t>CNPJ 63953620000165 · Gatilhos de avaliação e liquidação · Excerto da fonte:</a:t>
            </a:r>
          </a:p>
          <a:p>
            <a:r>
              <a:t>4.1. Verificado que o Índice de Subordinação Alvo é atendido, ou seja, que a representatividade de Cotas Subordinadas  em relação ao Patrimônio Líquido da Classe é superior à 10,00% (dez por cento) (“Índice de Subordinação Alvo”), as  Cotas Subordinadas poderão ser objeto de Amortização Extraordinária até o limite excedente ao Índice de  Subordinação Alvo– ainda que tal Amortização Extraordinária ocorra antes do resgate integral das Cotas Seniores –  desde que: (i) seja observada a ordem de alocação de recursos definida no item 8.1 acima Anexo; (ii) não existam  Obrigações da Classe vencidas e não pagas; (iii) não estejam em curso quaisquer Eventos de Avaliação e/ou Eventos  de Liquidação; (iv) existam suficientes Ativos Financeiros e/ou recursos disponíveis; e (vii) permaneçam atendidas  todos os Índices de Subordinação.</a:t>
            </a:r>
          </a:p>
          <a:p>
            <a:r>
              <a:t> 5. Amortização e Resgate das Cotas Subordinadas</a:t>
            </a:r>
          </a:p>
          <a:p>
            <a:r>
              <a:t>CNPJ 63953620000165 · Gatilhos de avaliação e liquidação · Anexo ao Regulamento · ID 1222863 · 2026-06-02 · versão 1 · p. 13 · 10.2 · https://fnet.bmfbovespa.com.br/fnet/publico/visualizarDocumento?id=1222863</a:t>
            </a:r>
          </a:p>
          <a:p>
            <a:r>
              <a:t>CNPJ 63953620000165 · Gatilhos de avaliação e liquidação · Excerto da fonte:</a:t>
            </a:r>
          </a:p>
          <a:p>
            <a:r>
              <a:t>10.2 Os seguintes quóruns deverão ser observados pela Assembleia Especial de Cotistas ao deliberar as matérias  abaixo:</a:t>
            </a:r>
          </a:p>
          <a:p>
            <a:r>
              <a:t> Matéria Quórum</a:t>
            </a:r>
          </a:p>
          <a:p>
            <a:r>
              <a:t> (i) deliberar sobre as demonstrações contábeis da Classe; Maioria das Cotas presentes</a:t>
            </a:r>
          </a:p>
          <a:p>
            <a:r>
              <a:t> (ii) alterar o presente Anexo; Maioria das Cotas de cada Subclasse</a:t>
            </a:r>
          </a:p>
          <a:p>
            <a:r>
              <a:t> (iii) deliberar sobre substituição de Prestadores de Serviços Maioria das Cotas da Classe  Essenciais, observado o disposto no Artigo 70, §1º da parte geral da  Resolução CVM 175, quando aplicável;</a:t>
            </a:r>
          </a:p>
          <a:p>
            <a:r>
              <a:t> (iv) deliberar sobre elevação da Taxa de Administração e/ou Taxa de Maioria das Cotas da de cada  Gestão, inclusive na hipótese de restabelecimento de taxa que tenha Subclasse  sido objeto de redução;</a:t>
            </a:r>
          </a:p>
          <a:p>
            <a:r>
              <a:t> (v) deliberar sobre incorporação, fusão, cisão total ou parcial, a Maioria das Cotas de cada Subclasse  transformação ou liquidação da Classe;</a:t>
            </a:r>
          </a:p>
          <a:p>
            <a:r>
              <a:t> (vi) alterações das características, vantagens, direitos e obrigações Maioria das Cotas Subscritas da  das Cotas; Classe observado o disposto nos  itens 10.5 a 10.8 abaixo</a:t>
            </a:r>
          </a:p>
          <a:p>
            <a:r>
              <a:t> (vii) alterar critérios e procedimentos para Amortização mediante Maioria das Cotas Subscritas da  dação em pagamento de Direitos Creditórios; Classe</a:t>
            </a:r>
          </a:p>
          <a:p>
            <a:r>
              <a:t> (viii) aprovar emissão de novas Cotas da Classe; Maioria das Cotas de cada Subclasse</a:t>
            </a:r>
          </a:p>
          <a:p>
            <a:r>
              <a:t> (ix) alterações na Política de Investimentos; Maioria das Cotas de cada Subclasse</a:t>
            </a:r>
          </a:p>
          <a:p>
            <a:r>
              <a:t> (x) alterações nos Critérios de Elegibilidade e nas Condições de Maioria das Cotas de cada Subclasse  Cessão;</a:t>
            </a:r>
          </a:p>
          <a:p>
            <a:r>
              <a:t> (xi) celebração e alteração de Contrato de Promessa de Endosso Maioria das Cotas de cada Subclasse  e/ou do Contrato de Retenção e Cobrança;</a:t>
            </a:r>
          </a:p>
          <a:p>
            <a:r>
              <a:t> (xii) alteração do Contrato de Conta Vinculada; Maioria das Cotas de cada Subclasse</a:t>
            </a:r>
          </a:p>
          <a:p>
            <a:r>
              <a:t> (xiii) alteração dos Eventos de Avaliação, dos Eventos de Liquidação Maioria das Cotas de cada Subclasse  e/ou das consequências deles decorrentes em função do previsto  neste Regulamento;</a:t>
            </a:r>
          </a:p>
          <a:p>
            <a:r>
              <a:t> (xiv) se um Evento de Avaliação constitui um Evento de Liquidação; Maioria das Cotas presentes</a:t>
            </a:r>
          </a:p>
          <a:p>
            <a:r>
              <a:t> (xv) plano de resolução do Patrimônio Líquido negativo da Classe, Maioria das Cotas presentes  nos termos da Resolução CVM 175; e</a:t>
            </a:r>
          </a:p>
          <a:p>
            <a:r>
              <a:t> (xvi) pedido de declaração judicial de insolvência da Classe. Maioria das Cotas presentes</a:t>
            </a:r>
          </a:p>
          <a:p>
            <a:r>
              <a:t> (xvii) alterações na disciplina, critérios de constituição, manutenção Maioria das Cotas de cada Subclasse  ou utilização da Reserva de Caixa, bem como deliberação acerca da</a:t>
            </a:r>
          </a:p>
          <a:p>
            <a:r>
              <a:t>CNPJ 63953620000165 · Gatilhos de avaliação e liquidação · Anexo ao Regulamento · ID 1222863 · 2026-06-02 · versão 1 · p. 14 · 10.8 · https://fnet.bmfbovespa.com.br/fnet/publico/visualizarDocumento?id=1222863</a:t>
            </a:r>
          </a:p>
          <a:p>
            <a:r>
              <a:t>CNPJ 63953620000165 · Gatilhos de avaliação e liquidação · Excerto da fonte:</a:t>
            </a:r>
          </a:p>
          <a:p>
            <a:r>
              <a:t>10.8 As deliberações que tenham por objeto o aumento do Índice de Subordinação Sênior apenas serão aprovadas se  assim deliberado: (i) pelos votos dos titulares da maioria das Cotas em circulação de cada uma das Séries de  Cotas Seniores; e (ii) pelo votos dos titulares da maioria Cotas Subordinadas em circulação.</a:t>
            </a:r>
          </a:p>
          <a:p>
            <a:r>
              <a:t> CAPÍTULO 11 – EVENTOS DE AVALIAÇÃO, EVENTOS DE LIQUIDAÇÃO, E PROCEDIMENTOS DE LIQUIDAÇÃO  Eventos de Avaliação</a:t>
            </a:r>
          </a:p>
          <a:p>
            <a:r>
              <a:t>CNPJ 63953620000165 · Gatilhos de avaliação e liquidação · Condição: Documentos atuais selecionados no inventário por categoria/escopo; a data documental isolada não comprova vigência jurídica.</a:t>
            </a:r>
          </a:p>
          <a:p>
            <a:r>
              <a:t>CNPJ 63953620000165 · Gatilhos de avaliação e liquidação · Versão e prevalência: Documentos atuais selecionados no inventário por categoria/escopo; a data documental isolada não comprova vigência jurídica.</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Eventos e cura</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Eventos de avaliação · Regulamento · ID 670691 · 28/04/2024 · versão Regulamento — referência 28/04/2024 · p. 17 · Anexo I, 11.1(i) · https://fnet.bmfbovespa.com.br/fnet/publico/visualizarDocumento?id=670691</a:t>
            </a:r>
          </a:p>
          <a:p>
            <a:r>
              <a:t>CNPJ 54871427000194 · Eventos de avaliação · Excerto da fonte:</a:t>
            </a:r>
          </a:p>
          <a:p>
            <a:r>
              <a:t>11.1 As seguintes hipóteses são consideradas Eventos de Avaliação: (i) em caso de regime de administração especial temporária – RAET, intervenção ou liquidação extrajudicial do Endossante ou do Agente de Garantias; BTG Pactual SAC: 0800 772 28 27 - Ouvidoria: 0800 722 00 48 - btgpactual.com 11</a:t>
            </a:r>
          </a:p>
          <a:p>
            <a:r>
              <a:t>CNPJ 54871427000194 · Eventos de avaliação · Regulamento · ID 670691 · 28/04/2024 · versão Regulamento — referência 28/04/2024 · p. 18 · Anexo I, 11.1(ii)–(viii) · https://fnet.bmfbovespa.com.br/fnet/publico/visualizarDocumento?id=670691</a:t>
            </a:r>
          </a:p>
          <a:p>
            <a:r>
              <a:t>CNPJ 54871427000194 · Eventos de avaliação · Excerto da fonte:</a:t>
            </a:r>
          </a:p>
          <a:p>
            <a:r>
              <a:t>(ii) não cumprimento, por qualquer dos Endossantes, de qualquer de suas obrigações estabelecidas em cada Contrato de Endosso ou neste Regulamento e Anexo, desde que esse não cumprimento não seja devidamente sanado ou justificado dentro de 10 (dez) Dias Úteis a partir do recebimento, pelo Endossante, de notificação, por escrito, enviada pelo Administrador, inf ormando-o da ocorrência do respectivo evento; (iii) não cumprimento, por qualquer dos Endossantes, de suas obrigações de entregar o Arquivo de Liquidação Antecipada e o Arquivo de Posição das CCBs ao CUSTODIANTE dentro do prazo estabelecido neste Regulamento, desde que esse não cumprimento não seja devidamente sanado ou justificado dentro dos prazos acordados no respectivo Contrato de Endosso, a partir do recebimento, pelos Endossantes, de notificação, por escrito, enviada pelo CUSTODIANTE, inf ormando-o da ocorrência do respectivo evento; (iv) não cumprimento, por qualquer dos Endossantes, de qualquer de suas obrigações de entregar ao CUSTODIANTE, ou a terceiros por ele indicados, os Documentos Comprobatórios relativos</a:t>
            </a:r>
          </a:p>
          <a:p>
            <a:r>
              <a:t>CNPJ 54871427000194 · Eventos de avaliação · Regulamento · ID 670691 · 28/04/2024 · versão Regulamento — referência 28/04/2024 · p. 19 · Anexo I, 11.1.1–11.1.3 · https://fnet.bmfbovespa.com.br/fnet/publico/visualizarDocumento?id=670691</a:t>
            </a:r>
          </a:p>
          <a:p>
            <a:r>
              <a:t>CNPJ 54871427000194 · Eventos de avaliação · Excerto da fonte:</a:t>
            </a:r>
          </a:p>
          <a:p>
            <a:r>
              <a:t>11.1.1 Na ocorrência de qualquer Evento de Avaliação, será convocada Assembleia Especial de Cotistas, para avaliar o grau de comprometimento das atividades d a Classe em razão do Evento de Avaliação, podendo a Assembleia Especial de Cotistas deliberar: (i) pela continuidade das atividades da Classe; ou (ii) que o Evento de Avaliação que deu causa à Assembleia Especial de Cotistas constitui um Evento de Liquidação, hipótese em que deverão ser deliberadas as matérias ref eridas no item 11.4.1 abaixo e adotados os procedimentos previstos no item 11.4.3 abaixo. 11.1.2 No momento de verificação de qualquer Evento de Avaliação, os procedimentos de aquisição de novos Direitos Creditórios deverão ser imediatamente interrompidos, até que: (i) seja prof erida decisão final em Assembleia Especial de Cotistas, convocada especificamente para este f im, nos termos do item 11.1.1 acima, autorizando a retomada dos procedimentos de aquisição de novos Direitos Creditórios e resgate das Cotas; e/ou (ii) seja sanado o Evento de Avaliação. 11.1.3 Na hipótese de não instalação da Assembleia Especial de Cotistas por f alta d</a:t>
            </a:r>
          </a:p>
          <a:p>
            <a:r>
              <a:t>CNPJ 54871427000194 · Eventos de avaliação · Versão e prevalência: Leitura específica das cláusulas indicadas; condições e conflitos preservados. Seleção documental atual não comprova vigência jurídica por data isolada.</a:t>
            </a:r>
          </a:p>
          <a:p>
            <a:r>
              <a:t>CNPJ 54871427000194 · Eventos de avaliação · Resumo do histórico: {"count": 1, "dates": ["2024-04-19"], "document_count": 1, "sources": [{"document_id": "670689", "title": "Regulamento", "reference_date": "2024-04-19", "version": "1", "page": 17, "clause": "10.2", "url": "https://fnet.bmfbovespa.com.br/fnet/publico/visualizarDocumento?id=670689", "sha256": "891bc9bc5d87bbc02ec139077a84d2702eb81ea02035fb71d24f5b8366b94a0b"}], "reference": {"path": "history/54871427000194.json", "criterion_id": "evaluation", "total_count": 1, "preview_count": 1, "full_text_deferred": true, "sha256": "35d7cd99be50c7287c9fb675cf4f2e736002315295a225a9efa79c8d9186d874"}}</a:t>
            </a:r>
          </a:p>
          <a:p>
            <a:r>
              <a:t>CNPJ 60010416000112 · Eventos de avaliação · Regulamento · ID 1051393 · 09/10/2025 · versão Regulamento09/10/2025 · p. 19 · AnexoI10.1(i)–(vii) · https://fnet.bmfbovespa.com.br/fnet/publico/visualizarDocumento?id=1051393</a:t>
            </a:r>
          </a:p>
          <a:p>
            <a:r>
              <a:t>CNPJ 60010416000112 · Eventos de avaliação · Excerto da fonte:</a:t>
            </a:r>
          </a:p>
          <a:p>
            <a:r>
              <a:t>10.1 As seguintes hipóteses são consideradas Eventos de Avaliação: (i) em caso de regime de administração especial temporária - RAET, intervenção ou liquidação extrajudicial do Endossante; (ii) em caso de desenquadramento do Índice de Subordinação por 10 (dez) dias úteis consecutivos; (iii) não cumprimento, pelo Endossante, de qualquer de suas obrigações estabelecidas no Contrato de Endosso ou neste Anexo I, desde que esse não cumprimento não seja devidamente sanado ou justif icado dentro de 10 (dez) Dias Úteis a partir do recebimento, pelo Endossante, de noti</a:t>
            </a:r>
          </a:p>
          <a:p>
            <a:r>
              <a:t>CNPJ 60010416000112 · Eventos de avaliação · Regulamento · ID 1051393 · 09/10/2025 · versão Regulamento09/10/2025 · p. 20 · AnexoI10.1(viii)–(xiv) · https://fnet.bmfbovespa.com.br/fnet/publico/visualizarDocumento?id=1051393</a:t>
            </a:r>
          </a:p>
          <a:p>
            <a:r>
              <a:t>CNPJ 60010416000112 · Eventos de avaliação · Excerto da fonte:</a:t>
            </a:r>
          </a:p>
          <a:p>
            <a:r>
              <a:t>(xiii) no caso de não serem realizados pagamentos de amortização e/ou resgate de Cotas Seniores, nos termos, prazos e condições previstos no presente Regulamento e nos respectivos Apêndices e Suplementos, não sanados em até 2 (dois) Dias Úteis contados do prazo final do respectivo evento; (xiv) no caso de pagamento de resgate e/ou amortização de Cotas Subordinadas em desacordo com os termos, prazos e condições previstos no presente Regulamento e no respectivo Apêndice. 10.1.1 Na ocorrência de qualquer Evento de Avaliação, será convocada Assembleia Especial de Cotistas,</a:t>
            </a:r>
          </a:p>
          <a:p>
            <a:r>
              <a:t>CNPJ 60010416000112 · Eventos de avaliação · Versão e prevalência: Leitura específica das cláusulas indicadas; condições e conflitos preservados. Seleção documental atual não comprova vigência jurídica por data isolada.</a:t>
            </a:r>
          </a:p>
          <a:p>
            <a:r>
              <a:t>CNPJ 60010416000112 · Eventos de avaliação · Resumo do histórico: {"count": 2, "dates": ["2025-03-20"], "document_count": 2, "sources": [{"document_id": "993785", "title": "Instrumento Particular de Constituição/Encerramento do Fundo", "reference_date": "2025-03-20", "version": "1", "page": 8, "url": "https://fnet.bmfbovespa.com.br/fnet/publico/visualizarDocumento?id=993785", "sha256": "0826e0eae2c51afabf59bbc49fc7647598d03da5ca6de0f9725850a8bd6af457"}, {"document_id": "993786", "title": "Regulamento", "reference_date": "2025-03-20", "version": "1", "page": 48, "clause": "2.1.2", "url": "https://fnet.bmfbovespa.com.br/fnet/publico/visualizarDocumento?id=993786", "sha256": "fd0fdd369a195510d81f81f505195a0b09e5f43522a990afa7d58c4f872921c8"}], "reference": {"path": "history/60010416000112.json", "criterion_id": "evaluation", "total_count": 2, "preview_count": 2, "full_text_deferred": true, "sha256": "8e2bd813f4c51cf01f6bfaad164bafe69d2bbb192f753eac92da3a01c2e63046"}}</a:t>
            </a:r>
          </a:p>
          <a:p>
            <a:r>
              <a:t>CNPJ 62696791000193 · Eventos de avaliação · Regulamento · ID 1143317 · 20/03/2026 · versão Regulamento — referência 20/03/2026 · p. 37 · Apêndice Júnior, 5.1(iii) · https://fnet.bmfbovespa.com.br/fnet/publico/visualizarDocumento?id=1143317</a:t>
            </a:r>
          </a:p>
          <a:p>
            <a:r>
              <a:t>CNPJ 62696791000193 · Eventos de avaliação · Excerto da fonte:</a:t>
            </a:r>
          </a:p>
          <a:p>
            <a:r>
              <a:t>5.1. Verif icado excesso de subordinação, ou seja, que a representatividade de Cotas Júnior em relação ao Patrimônio Líquido da Classe é superior ao Índice de Subordinação (“Excesso de Subordinação”), desde que assim seja deliberado por maioria dos votos de seus titulares e da maioria dos titulares de Cotas Seniores, as Cotas Juniores poderão ser objeto de Amortização Extraordinária até o limite do respectivos Excesso de Subordinação– ainda que tal Amortização Extraordinária ocorra antes do resgate integral das Cotas Seniores– desde que: (i) seja observada a ordem de alocação de recursos definida no item 6.1 acima Anexo; (ii) não existam Obrigações da Classe vencidas e não pagas; (iii) não estejam em curso quaisquer Eventos de Avaliação e/ou Eventos de Liquidação; (iv) existam suficientes Ativos Financeiros e/ou recursos disponíveis; e (vii) permaneçam atendidas todos os Índices de Subordinação. 6. Negociação das Cotas 6.1. As Cotas Subordinadas Juniores não poderão ser negociadas no mercado secundário. 7. Resgate 7.1. As Cotas Subordinadas Juniores apenas serão resgatadas após o resgate integral das Cotas Seniores da Classe, na respectiva Data de Resgate ou em caso de liquidação antecipada da Classe. BTG Pactual</a:t>
            </a:r>
          </a:p>
          <a:p>
            <a:r>
              <a:t>CNPJ 62696791000193 · Eventos de avaliação · Condição: Referência preservada como ausência específica; não importar gatilhos de outros fundos.</a:t>
            </a:r>
          </a:p>
          <a:p>
            <a:r>
              <a:t>CNPJ 62696791000193 · Eventos de avaliação · Motivo: O apêndice condiciona amortização à ausência de Eventos de Avaliação e de Liquidação, mas o PDF consolidado de 48 páginas não define a lista de Eventos de Avaliação nem seus prazos de cura. O regulamento FIDC anterior à transformação não foi obtido.</a:t>
            </a:r>
          </a:p>
          <a:p>
            <a:r>
              <a:t>CNPJ 62696791000193 · Eventos de avaliação · Versão e prevalência: Leitura específica das cláusulas indicadas; condições e conflitos preservados. Seleção documental atual não comprova vigência jurídica por data isolada.</a:t>
            </a:r>
          </a:p>
          <a:p>
            <a:r>
              <a:t>CNPJ 55563624000109 · Eventos de avaliação · Regulamento · ID 1192614 · 30/04/2026 · versão Regulamento30/04/2026 · p. 20 · AnexoI11.1(i)–(v) · https://fnet.bmfbovespa.com.br/fnet/publico/visualizarDocumento?id=1192614</a:t>
            </a:r>
          </a:p>
          <a:p>
            <a:r>
              <a:t>CNPJ 55563624000109 · Eventos de avaliação · Excerto da fonte:</a:t>
            </a:r>
          </a:p>
          <a:p>
            <a:r>
              <a:t>11.1 As seguintes hipóteses são consideradas Eventos de Avaliação: (i) inobservância pelo ADMINISTRADOR, pelo CUSTODIANTE e/ou pelo GESTOR de seus deveres e obrigações previstos neste Anexo, desde que, uma vez notificados para sanar ou justificar o descumprimento, o ADMINISTRADOR, o CUSTODIANTE e/ou o GESTOR, conforme o caso, não o sane no prazo de 5 (cinco) Dias Úteis contados do recebimento da referida notificação; (ii) aquisição, pela Classe, de Cotas da Classe Investida que estejam em desacordo com o Critério de</a:t>
            </a:r>
          </a:p>
          <a:p>
            <a:r>
              <a:t>CNPJ 55563624000109 · Eventos de avaliação · Versão e prevalência: Leitura específica das cláusulas indicadas; condições e conflitos preservados. Seleção documental atual não comprova vigência jurídica por data isolada.</a:t>
            </a:r>
          </a:p>
          <a:p>
            <a:r>
              <a:t>CNPJ 62552447000120 · Eventos de avaliação · Regulamento · ID 1200623 · 21/05/2026 · versão Consolidado21/05/2026 aprovado pelo ato1200625 · p. 22 · AnexoI11.1(i)–(v) · https://fnet.bmfbovespa.com.br/fnet/publico/visualizarDocumento?id=1200623</a:t>
            </a:r>
          </a:p>
          <a:p>
            <a:r>
              <a:t>CNPJ 62552447000120 · Eventos de avaliação · Excerto da fonte:</a:t>
            </a:r>
          </a:p>
          <a:p>
            <a:r>
              <a:t>11.1 As seguintes hipóteses são consideradas eventos de avaliação (“Eventos de Avaliação”): (i) em caso de regime de administração especial temporária - RAET, intervenção ou liquidação extrajudicial do Endossante, da instituição f inanceira prestadora dos serviços de agente de conta vinculada à Classe (“Agente de Conta Vinculada”) e/ou do Agente de Retenção e Cobrança; (ii) não cumprimento, pelo Endossante, de qualquer de suas obrigações estabelecidas nos Contratos de Endosso, no Regulamento ou neste Anexo I, desde que esse não cumprimento não se</a:t>
            </a:r>
          </a:p>
          <a:p>
            <a:r>
              <a:t>CNPJ 62552447000120 · Eventos de avaliação · Regulamento · ID 1200623 · 21/05/2026 · versão Consolidado21/05/2026 aprovado pelo ato1200625 · p. 23 · AnexoI11.1(vi)–(xi) · https://fnet.bmfbovespa.com.br/fnet/publico/visualizarDocumento?id=1200623</a:t>
            </a:r>
          </a:p>
          <a:p>
            <a:r>
              <a:t>CNPJ 62552447000120 · Eventos de avaliação · Excerto da fonte:</a:t>
            </a:r>
          </a:p>
          <a:p>
            <a:r>
              <a:t>(vi) não cumprimento, pelo Agente de Conta Vinculada, de qualquer de suas obrigações estabelecidas no contrato de conta vinculada celebrado entre o Endossante, na qualidade de titular da Conta Vinculada, e a Classe (“Contrato de Conta Vinculada”), no Regulamento ou neste Anexo I, desde que esse não cumprimento não seja devidamente sanado ou justificado dentro de 5 (cinco) Dias Úteis a partir do recebimento, pelo Agente de Conta Vinculada, de notif icação, por escrito, enviada pelo Administrador, informando-o da ocorrência do respectivo evento; (vii) não c</a:t>
            </a:r>
          </a:p>
          <a:p>
            <a:r>
              <a:t>CNPJ 62552447000120 · Eventos de avaliação · Versão e prevalência: Leitura específica das cláusulas indicadas; condições e conflitos preservados. Seleção documental atual não comprova vigência jurídica por data isolada.</a:t>
            </a:r>
          </a:p>
          <a:p>
            <a:r>
              <a:t>CNPJ 63953620000165 · Eventos de avaliação · Anexo ao Regulamento · ID 1222863 · 02/06/2026 · versão AnexoConsignadoPrivado02/06/2026 · p. 14 · 11.1(i)–(v) · https://fnet.bmfbovespa.com.br/fnet/publico/visualizarDocumento?id=1222863</a:t>
            </a:r>
          </a:p>
          <a:p>
            <a:r>
              <a:t>CNPJ 63953620000165 · Eventos de avaliação · Excerto da fonte:</a:t>
            </a:r>
          </a:p>
          <a:p>
            <a:r>
              <a:t>11.1 As seguintes hipóteses são consideradas eventos de avaliação (“Eventos de Avaliação”): (i) em caso de regime de administração especial temporária - RAET, intervenção ou liquidação extrajudicial do Endossante; (ii) em caso de desenquadramento do Índice de Subordinação por 10 (dez) dias úteis consecutivos; (iii) não cumprimento, pelo Endossante, de qualquer de suas obrigações estabelecidas no Contrato de Endosso ou neste Anexo I, desde que esse não cumprimento não seja devidamente sanado ou justificado dentro de 10 (dez) Dias Úteis a partir do recebimento, pelo Endossan</a:t>
            </a:r>
          </a:p>
          <a:p>
            <a:r>
              <a:t>CNPJ 63953620000165 · Eventos de avaliação · Anexo ao Regulamento · ID 1222863 · 02/06/2026 · versão AnexoConsignadoPrivado02/06/2026 · p. 15 · 11.1(vi)–(xiv) · https://fnet.bmfbovespa.com.br/fnet/publico/visualizarDocumento?id=1222863</a:t>
            </a:r>
          </a:p>
          <a:p>
            <a:r>
              <a:t>CNPJ 63953620000165 · Eventos de avaliação · Excerto da fonte:</a:t>
            </a:r>
          </a:p>
          <a:p>
            <a:r>
              <a:t>Anexo I ao Regulamento CLASSE CONSIGNADO PRIVADO DO MT GLOBAL FUNDO DE INVESTIMENTO EM DIREITOS CREDITÓRIOS RESPONSABILIDADE LIMITADA (vii) inobservância pelo Administrador, pelo Custodiante e/ou pelo Gestor de seus deveres e obrigações previstos neste Regulamento, bem como suas atribuições específicas nos outros contratos existentes referentes ao funcionamento da Classe, verificada pelo Administrador, pelo Custodiante e/ou pelo Gestor ou por qualquer dos Cotistas, desde que, uma vez notificados para sanar ou justificar o descumprimento, o Administrador, o Custodiante e/ou o Gestor, conforme</a:t>
            </a:r>
          </a:p>
          <a:p>
            <a:r>
              <a:t>CNPJ 63953620000165 · Eventos de avaliação · Versão e prevalência: Leitura específica das cláusulas indicadas; condições e conflitos preservados. Seleção documental atual não comprova vigência jurídica por data isolada.</a:t>
            </a:r>
          </a:p>
          <a:p>
            <a:r>
              <a:t>CNPJ 54871427000194 · Eventos de liquidação · Regulamento · ID 670691 · 28/04/2024 · versão Regulamento — referência 28/04/2024 · p. 19 · Anexo I, 11.1.3 e 11.3 · https://fnet.bmfbovespa.com.br/fnet/publico/visualizarDocumento?id=670691</a:t>
            </a:r>
          </a:p>
          <a:p>
            <a:r>
              <a:t>CNPJ 54871427000194 · Eventos de liquidação · Excerto da fonte:</a:t>
            </a:r>
          </a:p>
          <a:p>
            <a:r>
              <a:t>11.1.3 Na hipótese de não instalação da Assembleia Especial de Cotistas por f alta de quórum, o ADMINISTRADOR dará início aos procedimentos ref erentes à liquidação d a Classe, com o consequente resgate das Cotas, nos termos do item 11.4 e seguintes, abaixo. Eventos de Verificação de Patrimônio Líquido Negativo 11.2 Os seguintes eventos obrigarão o ADMINISTRADOR a verificar se o Patrimônio Líquido da Classe está negativo: (i) qualquer pedido de declaração judicial de insolvência da Classe; e (ii) na ocorrência de quaisquer dos Eventos de Avaliação e/ou Eventos de Liquidação . Eventos de Liquidação 11.3 As seguintes hipóteses são consideradas Eventos de Liquidação: (i) caso seja deliberado em Assembleia Especial de Cotistas que um Evento de Avaliação constitui um Evento de Liquidação; (ii) sempre que assim decidido pelos Cotistas em Assembleia Especial de Cotistas especialmente convocada para tal f im; (iii) cessão ou renúncia do ADMINISTRADOR, GESTOR ou CUSTODIANTE sem que a Assembleia de Cotistas ef icazmente nomeie instituição habilit ada para substituí-lo, nos termos estabelecidos neste Regulamento;</a:t>
            </a:r>
          </a:p>
          <a:p>
            <a:r>
              <a:t>CNPJ 54871427000194 · Eventos de liquidação · Versão e prevalência: Leitura específica das cláusulas indicadas; condições e conflitos preservados. Seleção documental atual não comprova vigência jurídica por data isolada.</a:t>
            </a:r>
          </a:p>
          <a:p>
            <a:r>
              <a:t>CNPJ 54871427000194 · Eventos de liquidação · Resumo do histórico: {"count": 1, "dates": ["2024-04-19"], "document_count": 1, "sources": [{"document_id": "670689", "title": "Regulamento", "reference_date": "2024-04-19", "version": "1", "page": 17, "clause": "10.2", "url": "https://fnet.bmfbovespa.com.br/fnet/publico/visualizarDocumento?id=670689", "sha256": "891bc9bc5d87bbc02ec139077a84d2702eb81ea02035fb71d24f5b8366b94a0b"}], "reference": {"path": "history/54871427000194.json", "criterion_id": "liquidation", "total_count": 1, "preview_count": 1, "full_text_deferred": true, "sha256": "35d7cd99be50c7287c9fb675cf4f2e736002315295a225a9efa79c8d9186d874"}}</a:t>
            </a:r>
          </a:p>
          <a:p>
            <a:r>
              <a:t>CNPJ 60010416000112 · Eventos de liquidação · Regulamento · ID 1051393 · 09/10/2025 · versão Regulamento09/10/2025 · p. 21 · AnexoI10.3(i)–(viii) · https://fnet.bmfbovespa.com.br/fnet/publico/visualizarDocumento?id=1051393</a:t>
            </a:r>
          </a:p>
          <a:p>
            <a:r>
              <a:t>CNPJ 60010416000112 · Eventos de liquidação · Excerto da fonte:</a:t>
            </a:r>
          </a:p>
          <a:p>
            <a:r>
              <a:t>10.3 As seguintes hipóteses são consideradas Eventos de Liquidação: (i) caso seja deliberado em Assembleia de Cotistas que um Evento de Avaliação constitui um Evento de Liquidação; (ii) na hipótese de resilição do Contrato de Custódia ou renúncia do Custodiante, sem que tenha havido sua substituição por outra instituição, de acordo com os procedimentos estabelecidos neste Regulamento; (iii) renúncia do Administrador sem que a Assembleia Especial de Cotistas eficazmente nomeie instituição habilitada para substituí-lo, nos termos estabelecidos neste Regulamento;</a:t>
            </a:r>
          </a:p>
          <a:p>
            <a:r>
              <a:t>CNPJ 60010416000112 · Eventos de liquidação · Versão e prevalência: Leitura específica das cláusulas indicadas; condições e conflitos preservados. Seleção documental atual não comprova vigência jurídica por data isolada.</a:t>
            </a:r>
          </a:p>
          <a:p>
            <a:r>
              <a:t>CNPJ 60010416000112 · Eventos de liquidação · Resumo do histórico: {"count": 2, "dates": ["2025-03-20"], "document_count": 2, "sources": [{"document_id": "993785", "title": "Instrumento Particular de Constituição/Encerramento do Fundo", "reference_date": "2025-03-20", "version": "1", "page": 8, "url": "https://fnet.bmfbovespa.com.br/fnet/publico/visualizarDocumento?id=993785", "sha256": "0826e0eae2c51afabf59bbc49fc7647598d03da5ca6de0f9725850a8bd6af457"}, {"document_id": "993786", "title": "Regulamento", "reference_date": "2025-03-20", "version": "1", "page": 18, "clause": "9.2", "url": "https://fnet.bmfbovespa.com.br/fnet/publico/visualizarDocumento?id=993786", "sha256": "fd0fdd369a195510d81f81f505195a0b09e5f43522a990afa7d58c4f872921c8"}], "reference": {"path": "history/60010416000112.json", "criterion_id": "liquidation", "total_count": 2, "preview_count": 2, "full_text_deferred": true, "sha256": "8e2bd813f4c51cf01f6bfaad164bafe69d2bbb192f753eac92da3a01c2e63046"}}</a:t>
            </a:r>
          </a:p>
          <a:p>
            <a:r>
              <a:t>CNPJ 62696791000193 · Eventos de liquidação · Regulamento · ID 1143317 · 20/03/2026 · versão Regulamento — referência 20/03/2026 · p. 23 · Anexo I, 11.1–11.3 · https://fnet.bmfbovespa.com.br/fnet/publico/visualizarDocumento?id=1143317</a:t>
            </a:r>
          </a:p>
          <a:p>
            <a:r>
              <a:t>CNPJ 62696791000193 · Eventos de liquidação · Excerto da fonte:</a:t>
            </a:r>
          </a:p>
          <a:p>
            <a:r>
              <a:t>11.1 A Classe será liquidada (i) em caso da liquidação antecipada deliberada em Assembleia Especial de Cotistas; ou (ii) pelo encerramento do Prazo de Duração da Classe. 11.2 Na ocorrência da liquidação da Classe, o Administrador: (i) liquidará todos os investimentos da Classe em Ativos Financeiros de Liquidez, conforme orientação do Gestor, transferindo todos os recursos daí resultantes para a Conta da Classe; (ii) realizará, de acordo com as orientações e instruções do Gestor, a alienação dos investimentos nos Direitos Creditórios do Agronegócio e nos Outros Ativos integrantes da carteira de investimentos da Classe; e (iii) realizará o pagamento dos encargos da Classe e a amortização das Cotas, até o limite dos recursos disponíveis na Conta da Classe. 11.2.1 No caso de Liquidação da Classe, os Cotistas terão o direito de partilhar o Patrimônio Líquido em igualdade de condições e na proporção de suas Cotas, deduzidas as despesas necessárias para a liquidação da Classe. Não haverá qualquer tipo de pref erência, p rioridade ou subordinação entre os Cotistas. 11.3 Caso a Classe não possua recursos suficientes para o pagamento de todas as Cotas no momento de</a:t>
            </a:r>
          </a:p>
          <a:p>
            <a:r>
              <a:t>CNPJ 62696791000193 · Eventos de liquidação · Regulamento · ID 1143317 · 20/03/2026 · versão Regulamento — referência 20/03/2026 · p. 24 · Anexo I, 11.7 · https://fnet.bmfbovespa.com.br/fnet/publico/visualizarDocumento?id=1143317</a:t>
            </a:r>
          </a:p>
          <a:p>
            <a:r>
              <a:t>CNPJ 62696791000193 · Eventos de liquidação · Excerto da fonte:</a:t>
            </a:r>
          </a:p>
          <a:p>
            <a:r>
              <a:t>11.7 A liquidação da Classe e a divisão de seu patrimônio entre os Cotistas deverão ocorrer no prazo de até 180 (cento e oitenta) dias corridos contados (i) do encerramento do Prazo de Duração ou (ii) da data da realização da Assembleia Especial de Cotistas que deliberar sobre a liquidação da Classe. BTG Pactual SAC: 0800 772 2827 | Ouvidoria: 0800 722 0048 | btgpactual.co m 19</a:t>
            </a:r>
          </a:p>
          <a:p>
            <a:r>
              <a:t>CNPJ 62696791000193 · Eventos de liquidação · Condição: O capítulo não fornece gatilho automático de PL &lt;R$ 1 milhão por 90 dias; essa cláusula presente em outros FIDCs não pode ser transferida para Ceres.</a:t>
            </a:r>
          </a:p>
          <a:p>
            <a:r>
              <a:t>CNPJ 62696791000193 · Eventos de liquidação · Motivo: Cláusula primária localizada e citada, mas sua lista/condições extensas não admitem uma síntese literal curta confirmada. O trecho integral permanece nas fontes.</a:t>
            </a:r>
          </a:p>
          <a:p>
            <a:r>
              <a:t>CNPJ 62696791000193 · Eventos de liquidação · Versão e prevalência: Leitura específica das cláusulas indicadas; condições e conflitos preservados. Seleção documental atual não comprova vigência jurídica por data isolada.</a:t>
            </a:r>
          </a:p>
          <a:p>
            <a:r>
              <a:t>CNPJ 55563624000109 · Eventos de liquidação · Regulamento · ID 1192614 · 30/04/2026 · versão Regulamento30/04/2026 · p. 21 · AnexoI11.3(i)–(vii) · https://fnet.bmfbovespa.com.br/fnet/publico/visualizarDocumento?id=1192614</a:t>
            </a:r>
          </a:p>
          <a:p>
            <a:r>
              <a:t>CNPJ 55563624000109 · Eventos de liquidação · Excerto da fonte:</a:t>
            </a:r>
          </a:p>
          <a:p>
            <a:r>
              <a:t>11.3 As seguintes hipóteses são consideradas Eventos de Liquidação: (i) caso seja deliberado em Assembleia Especial de Cotistas que um Evento de Avaliação constitui um Evento de Liquidação; (ii) na hipótese de renúncia do CUSTODIANTE, sem que tenha havido sua substituição por outra instituição, de acordo com os procedimentos estabelecidos neste Anexo; (iii) renúncia do ADMINISTRADOR ou do GESTOR sem que a Assembleia Especial de Cotistas eficazmente nomeie instituição habilitada para substituí-lo, nos termo</a:t>
            </a:r>
          </a:p>
          <a:p>
            <a:r>
              <a:t>CNPJ 55563624000109 · Eventos de liquidação · Versão e prevalência: Leitura específica das cláusulas indicadas; condições e conflitos preservados. Seleção documental atual não comprova vigência jurídica por data isolada.</a:t>
            </a:r>
          </a:p>
          <a:p>
            <a:r>
              <a:t>CNPJ 62552447000120 · Eventos de liquidação · Regulamento · ID 1200623 · 21/05/2026 · versão Consolidado21/05/2026 aprovado pelo ato1200625 · p. 24 · AnexoI11.2(i)–(v) · https://fnet.bmfbovespa.com.br/fnet/publico/visualizarDocumento?id=1200623</a:t>
            </a:r>
          </a:p>
          <a:p>
            <a:r>
              <a:t>CNPJ 62552447000120 · Eventos de liquidação · Excerto da fonte:</a:t>
            </a:r>
          </a:p>
          <a:p>
            <a:r>
              <a:t>11.2 As seguintes hipóteses são consideradas eventos de liquidação (“Eventos de Liquidação”): (i) caso seja deliberado em Assembleia Especial que um Evento de Avaliação constitui um Evento de Liquidação; (ii) na hipótese de resilição do Contrato de Custódia ou renúncia do Custodiante, sem que tenha havido sua substituição por outra instituição, de acordo com os procedimentos estabelecidos neste Regulamento; (iii) renúncia do Administrador sem que a Assembleia Especial ef icazmente nomeie instituição habilitada para substituí-lo, nos termos estab</a:t>
            </a:r>
          </a:p>
          <a:p>
            <a:r>
              <a:t>CNPJ 62552447000120 · Eventos de liquidação · Regulamento · ID 1200623 · 21/05/2026 · versão Consolidado21/05/2026 aprovado pelo ato1200625 · p. 25 · AnexoI11.2(vi)–(ix) · https://fnet.bmfbovespa.com.br/fnet/publico/visualizarDocumento?id=1200623</a:t>
            </a:r>
          </a:p>
          <a:p>
            <a:r>
              <a:t>CNPJ 62552447000120 · Eventos de liquidação · Excerto da fonte:</a:t>
            </a:r>
          </a:p>
          <a:p>
            <a:r>
              <a:t>(vi) em caso de regime de administração especial temporária - RAET, intervenção ou liquidação extrajudicial do Custodiante, Administrador, ou Gestor, sem a sua ef etiva substituição nos termos deste Regulamento; (vii) se, após 90 (noventa) dias do início das atividades do Fundo, o Patrimônio Líquido diário inferior da Classe for inferior a R$ 1.000.000,00 (um milhão de reais) pelo período de 90 (noventa) dias consecutivos; (viii) caso, por inexistência de recursos líquidos, a Classe não possa fazer f rente aos Encargos nas respectivas datas</a:t>
            </a:r>
          </a:p>
          <a:p>
            <a:r>
              <a:t>CNPJ 62552447000120 · Eventos de liquidação · Versão e prevalência: Leitura específica das cláusulas indicadas; condições e conflitos preservados. Seleção documental atual não comprova vigência jurídica por data isolada.</a:t>
            </a:r>
          </a:p>
          <a:p>
            <a:r>
              <a:t>CNPJ 63953620000165 · Eventos de liquidação · Anexo ao Regulamento · ID 1222863 · 02/06/2026 · versão AnexoConsignadoPrivado02/06/2026 · p. 16 · 11.2(i)–(viii) · https://fnet.bmfbovespa.com.br/fnet/publico/visualizarDocumento?id=1222863</a:t>
            </a:r>
          </a:p>
          <a:p>
            <a:r>
              <a:t>CNPJ 63953620000165 · Eventos de liquidação · Excerto da fonte:</a:t>
            </a:r>
          </a:p>
          <a:p>
            <a:r>
              <a:t>11.2 As seguintes hipóteses são consideradas eventos de liquidação (“Eventos de Liquidação”): (i) caso seja deliberado em Assembleia Especial de Cotistas que um Evento de Avaliação constitui um Evento de Liquidação; (ii) na hipótese de resilição do Contrato de Custódia ou renúncia do Custodiante, sem que tenha havido sua substituição por outra instituição, de acordo com os procedimentos estabelecidos neste Regulamento; (iii) renúncia do Administrador sem que a Assembleia Especial de Cotistas eficazmente nomeie instituição habilitada para substituí-lo, nos termos estabeleci</a:t>
            </a:r>
          </a:p>
          <a:p>
            <a:r>
              <a:t>CNPJ 63953620000165 · Eventos de liquidação · Versão e prevalência: Leitura específica das cláusulas indicadas; condições e conflitos preservados. Seleção documental atual não comprova vigência jurídica por data isolada.</a:t>
            </a:r>
          </a:p>
          <a:p>
            <a:r>
              <a:t>CNPJ 63953620000165 · Eventos de liquidação · Resumo do histórico: {"count": 8, "dates": ["2026-04-28", "2026-05-08", "2026-05-15"], "document_count": 3, "sources": [{"document_id": "1327859", "title": "Demonstrações Financeiras - Fusão, cisão e incorporação", "reference_date": "2026-05-15", "version": "1", "page": 23, "url": "https://fnet.bmfbovespa.com.br/fnet/publico/visualizarDocumento?id=1327859", "sha256": "dca1c68babb97f887528c3e2e47596a9c30f507b067981a35655b2f2da9c8054"}, {"document_id": "1298691", "title": "Demonstrações Financeiras - Fusão, cisão e incorporação", "reference_date": "2026-05-08", "version": "1", "page": 24, "url": "https://fnet.bmfbovespa.com.br/fnet/publico/visualizarDocumento?id=1298691", "sha256": "58c570d9b8d4d265330d3db3ea81c435b8e44a6dab4002aa37790652a1ee9819"}, {"document_id": "1282180", "title": "Demonstrações Financeiras - Fusão, cisão e incorporação", "reference_date": "2026-04-28", "version": "1", "page": 24, "url": "https://fnet.bmfbovespa.com.br/fnet/publico/visualizarDocumento?id=1282180", "sha256": "afaaa0e6809be4385e5bdb6c911aac582032c5bdbac3d7750234bf9eaf00438a"}], "reference": {"path": "history/63953620000165.json", "criterion_id": "liquidation", "total_count": 8, "preview_count": 3, "full_text_deferred": true, "sha256": "a7b89077f5e21098c2d601c303faabc3ff6b9729f89d8afecdc60fe1404720c1"}}</a:t>
            </a:r>
          </a:p>
          <a:p>
            <a:r>
              <a:t>CNPJ 54871427000194 · Prazos de cura e reincidência · Regulamento · ID 670691 · 28/04/2024 · versão Regulamento — referência 28/04/2024 · p. 18 · Anexo I, 11.1(ii)–(v) · https://fnet.bmfbovespa.com.br/fnet/publico/visualizarDocumento?id=670691</a:t>
            </a:r>
          </a:p>
          <a:p>
            <a:r>
              <a:t>CNPJ 54871427000194 · Prazos de cura e reincidência · Excerto da fonte:</a:t>
            </a:r>
          </a:p>
          <a:p>
            <a:r>
              <a:t>(ii) não cumprimento, por qualquer dos Endossantes, de qualquer de suas obrigações estabelecidas em cada Contrato de Endosso ou neste Regulamento e Anexo, desde que esse não cumprimento não seja devidamente sanado ou justificado dentro de 10 (dez) Dias Úteis a partir do recebimento, pelo Endossante, de notificação, por escrito, enviada pelo Administrador, inf ormando-o da ocorrência do respectivo evento; (iii) não cumprimento, por qualquer dos Endossantes, de suas obrigações de entregar o Arquivo de Liquidação Antecipada e o Arquivo de Posição das CCBs ao CUSTODIANTE dentro do prazo estabelecido neste Regulamento, desde que esse não cumprimento não seja devidamente sanado ou justificado dentro dos prazos acordados no respectivo Contrato de Endosso, a partir do recebimento, pelos Endossantes, de notificação, por escrito, enviada pelo CUSTODIANTE, inf ormando-o da ocorrência do respectivo evento; (iv) não cumprimento, por qualquer dos Endossantes, de qualquer de suas obrigações de entregar ao CUSTODIANTE, ou a terceiros por ele indicados, os Documentos Comprobatórios relativos</a:t>
            </a:r>
          </a:p>
          <a:p>
            <a:r>
              <a:t>CNPJ 54871427000194 · Prazos de cura e reincidência · Motivo: Não localizada uma cláusula material para este critério nos textos identificados e processados. A ausência de resultado não comprova inexistência da regra.</a:t>
            </a:r>
          </a:p>
          <a:p>
            <a:r>
              <a:t>CNPJ 54871427000194 · Prazos de cura e reincidência · Versão e prevalência: Leitura específica das cláusulas indicadas; condições e conflitos preservados. Seleção documental atual não comprova vigência jurídica por data isolada.</a:t>
            </a:r>
          </a:p>
          <a:p>
            <a:r>
              <a:t>CNPJ 60010416000112 · Prazos de cura e reincidência · Regulamento · ID 1051393 · 09/10/2025 · versão Regulamento09/10/2025 · p. 14 · AnexoI5.7.1–5.7.2 · https://fnet.bmfbovespa.com.br/fnet/publico/visualizarDocumento?id=1051393</a:t>
            </a:r>
          </a:p>
          <a:p>
            <a:r>
              <a:t>CNPJ 60010416000112 · Prazos de cura e reincidência · Excerto da fonte:</a:t>
            </a:r>
          </a:p>
          <a:p>
            <a:r>
              <a:t>5.7.1 abaixo. 5.7.1 Na hipótese do item 5.7 os titulares de Cotas Subordinadas terão o prazo de 3 (três) Dias Úteis contado do recebimento da comunicação enviada pelo Administrador para manifestar sua intenção de subscrever e integralizar novas Cotas Subordinadas, de f orma a restabelecer o Índice de Subordinação. Caso assim se manifestem, o Administrador e os titulares de Cotas Subordinadas deverão, nos 10 (dez) Dias Úteis subsequentes tomar todas as providências necessárias para que as novas Cotas Subordinadas sejam emitidas, subscritas e integraliza</a:t>
            </a:r>
          </a:p>
          <a:p>
            <a:r>
              <a:t>CNPJ 60010416000112 · Prazos de cura e reincidência · Regulamento · ID 1051393 · 09/10/2025 · versão Regulamento09/10/2025 · p. 19 · AnexoI10.1(ii)–(vii) · https://fnet.bmfbovespa.com.br/fnet/publico/visualizarDocumento?id=1051393</a:t>
            </a:r>
          </a:p>
          <a:p>
            <a:r>
              <a:t>CNPJ 60010416000112 · Prazos de cura e reincidência · Excerto da fonte:</a:t>
            </a:r>
          </a:p>
          <a:p>
            <a:r>
              <a:t>10.1 As seguintes hipóteses são consideradas Eventos de Avaliação: (i) em caso de regime de administração especial temporária - RAET, intervenção ou liquidação extrajudicial do Endossante; (ii) em caso de desenquadramento do Índice de Subordinação por 10 (dez) dias úteis consecutivos; (iii) não cumprimento, pelo Endossante, de qualquer de suas obrigações estabelecidas no Contrato de Endosso ou neste Anexo I, desde que esse não cumprimento não seja devidamente sanado ou justif icado dentro de 10 (dez) Dias Úteis a partir do recebimento, pelo Endossante, de noti</a:t>
            </a:r>
          </a:p>
          <a:p>
            <a:r>
              <a:t>CNPJ 60010416000112 · Prazos de cura e reincidência · Regulamento · ID 1051393 · 09/10/2025 · versão Regulamento09/10/2025 · p. 20 · AnexoI10.1(xiii) · https://fnet.bmfbovespa.com.br/fnet/publico/visualizarDocumento?id=1051393</a:t>
            </a:r>
          </a:p>
          <a:p>
            <a:r>
              <a:t>CNPJ 60010416000112 · Prazos de cura e reincidência · Excerto da fonte:</a:t>
            </a:r>
          </a:p>
          <a:p>
            <a:r>
              <a:t>(xiii) no caso de não serem realizados pagamentos de amortização e/ou resgate de Cotas Seniores, nos termos, prazos e condições previstos no presente Regulamento e nos respectivos Apêndices e Suplementos, não sanados em até 2 (dois) Dias Úteis contados do prazo final do respectivo evento; (xiv) no caso de pagamento de resgate e/ou amortização de Cotas Subordinadas em desacordo com os termos, prazos e condições previstos no presente Regulamento e no respectivo Apêndice. 10.1.1 Na ocorrência de qualquer Evento de Avaliação, será convocada Assembleia Especial de Cotistas,</a:t>
            </a:r>
          </a:p>
          <a:p>
            <a:r>
              <a:t>CNPJ 60010416000112 · Prazos de cura e reincidência · Versão e prevalência: Leitura específica das cláusulas indicadas; condições e conflitos preservados. Seleção documental atual não comprova vigência jurídica por data isolada.</a:t>
            </a:r>
          </a:p>
          <a:p>
            <a:r>
              <a:t>CNPJ 60010416000112 · Prazos de cura e reincidência · Resumo do histórico: {"count": 1, "dates": ["2025-03-20"], "document_count": 1, "sources": [{"document_id": "993786", "title": "Regulamento", "reference_date": "2025-03-20", "version": "1", "page": 19, "clause": "10.1", "url": "https://fnet.bmfbovespa.com.br/fnet/publico/visualizarDocumento?id=993786", "sha256": "fd0fdd369a195510d81f81f505195a0b09e5f43522a990afa7d58c4f872921c8"}], "reference": {"path": "history/60010416000112.json", "criterion_id": "cure", "total_count": 1, "preview_count": 1, "full_text_deferred": true, "sha256": "8e2bd813f4c51cf01f6bfaad164bafe69d2bbb192f753eac92da3a01c2e63046"}}</a:t>
            </a:r>
          </a:p>
          <a:p>
            <a:r>
              <a:t>CNPJ 62696791000193 · Prazos de cura e reincidência · Motivo: Não localizada uma cláusula material para este critério nos textos identificados e processados. A ausência de resultado não comprova inexistência da regra.</a:t>
            </a:r>
          </a:p>
          <a:p>
            <a:r>
              <a:t>CNPJ 55563624000109 · Prazos de cura e reincidência · Regulamento · ID 1192614 · 30/04/2026 · versão Regulamento30/04/2026 · p. 20 · AnexoI11.1 · https://fnet.bmfbovespa.com.br/fnet/publico/visualizarDocumento?id=1192614</a:t>
            </a:r>
          </a:p>
          <a:p>
            <a:r>
              <a:t>CNPJ 55563624000109 · Prazos de cura e reincidência · Excerto da fonte:</a:t>
            </a:r>
          </a:p>
          <a:p>
            <a:r>
              <a:t>11.1 As seguintes hipóteses são consideradas Eventos de Avaliação: (i) inobservância pelo ADMINISTRADOR, pelo CUSTODIANTE e/ou pelo GESTOR de seus deveres e obrigações previstos neste Anexo, desde que, uma vez notificados para sanar ou justificar o descumprimento, o ADMINISTRADOR, o CUSTODIANTE e/ou o GESTOR, conforme o caso, não o sane no prazo de 5 (cinco) Dias Úteis contados do recebimento da referida notificação; (ii) aquisição, pela Classe, de Cotas da Classe Investida que estejam em desacordo com o Critério de</a:t>
            </a:r>
          </a:p>
          <a:p>
            <a:r>
              <a:t>CNPJ 55563624000109 · Prazos de cura e reincidência · Regulamento · ID 1192614 · 30/04/2026 · versão Regulamento30/04/2026 · p. 21 · AnexoI11.1.2 · https://fnet.bmfbovespa.com.br/fnet/publico/visualizarDocumento?id=1192614</a:t>
            </a:r>
          </a:p>
          <a:p>
            <a:r>
              <a:t>CNPJ 55563624000109 · Prazos de cura e reincidência · Excerto da fonte:</a:t>
            </a:r>
          </a:p>
          <a:p>
            <a:r>
              <a:t>11.1.2 No momento de verificação de qualquer Evento de Avaliação, os procedimentos de aquisição de novas Cotas da Classe Investida e, se aplicável, de amortização das Cotas, deverão ser imediatamente interrompidos, até que: (i) seja proferida decisão final em Assembleia Especial de Cotistas, convocada especificamente para este fim, nos termos do item 11.1.1 acima, autorizando a retomada dos procedimentos de aquisição de novas Cotas da Classe Investida, amortização e resgate das Cotas; e/ou (ii) seja sanado o Evento de Avalia</a:t>
            </a:r>
          </a:p>
          <a:p>
            <a:r>
              <a:t>CNPJ 55563624000109 · Prazos de cura e reincidência · Motivo: Não localizada uma cláusula material para este critério nos textos identificados e processados. A ausência de resultado não comprova inexistência da regra.</a:t>
            </a:r>
          </a:p>
          <a:p>
            <a:r>
              <a:t>CNPJ 55563624000109 · Prazos de cura e reincidência · Versão e prevalência: Leitura específica das cláusulas indicadas; condições e conflitos preservados. Seleção documental atual não comprova vigência jurídica por data isolada.</a:t>
            </a:r>
          </a:p>
          <a:p>
            <a:r>
              <a:t>CNPJ 62552447000120 · Prazos de cura e reincidência · Regulamento · ID 1200623 · 21/05/2026 · versão Consolidado21/05/2026 aprovado pelo ato1200625 · p. 22 · AnexoI11.1(ii)–(v) · https://fnet.bmfbovespa.com.br/fnet/publico/visualizarDocumento?id=1200623</a:t>
            </a:r>
          </a:p>
          <a:p>
            <a:r>
              <a:t>CNPJ 62552447000120 · Prazos de cura e reincidência · Excerto da fonte:</a:t>
            </a:r>
          </a:p>
          <a:p>
            <a:r>
              <a:t>5 (cinco) Dias Úteis a partir do recebimento, pelo Endossante, de notificação, por escrito, enviada pelo Administrador, inf ormando-o da ocorrência do respectivo evento; (iii) não cumprimento, pelo Endossante e/ou pelo Agente de Retenção e Cobrança, de sua obrigação de entregar os (a) arquivos eletrônicos disponibilizados mensalmente pela Dataprev ao Endossante, contendo (1) as Consignações processadas pela Dataprev no respectivo mês, identificando os Devedores e os valores que serão descontados de suas respectivas folhas de pagamentos, bem como</a:t>
            </a:r>
          </a:p>
          <a:p>
            <a:r>
              <a:t>CNPJ 62552447000120 · Prazos de cura e reincidência · Regulamento · ID 1200623 · 21/05/2026 · versão Consolidado21/05/2026 aprovado pelo ato1200625 · p. 23 · AnexoI11.1(vi)–(viii) · https://fnet.bmfbovespa.com.br/fnet/publico/visualizarDocumento?id=1200623</a:t>
            </a:r>
          </a:p>
          <a:p>
            <a:r>
              <a:t>CNPJ 62552447000120 · Prazos de cura e reincidência · Excerto da fonte:</a:t>
            </a:r>
          </a:p>
          <a:p>
            <a:r>
              <a:t>5 (cinco) Dias Úteis a partir do recebimento, pelo Agente de Retenção e Cobrança, de notificação, por escrito, enviada pelo Gestor, informando-o da ocorrência do respectivo evento; (vi) não cumprimento, pelo Agente de Conta Vinculada, de qualquer de suas obrigações estabelecidas no contrato de conta vinculada celebrado entre o Endossante, na qualidade de titular da Conta Vinculada, e a Classe (“Contrato de Conta Vinculada”), no Regulamento ou neste Anexo I, desde que esse não cumprimento não seja devidamente sanado ou justificado dentro de 5 (cinco) Dias Úte</a:t>
            </a:r>
          </a:p>
          <a:p>
            <a:r>
              <a:t>CNPJ 62552447000120 · Prazos de cura e reincidência · Regulamento · ID 1200623 · 21/05/2026 · versão Consolidado21/05/2026 aprovado pelo ato1200625 · p. 19 · AnexoI6.8.4 · https://fnet.bmfbovespa.com.br/fnet/publico/visualizarDocumento?id=1200623</a:t>
            </a:r>
          </a:p>
          <a:p>
            <a:r>
              <a:t>CNPJ 62552447000120 · Prazos de cura e reincidência · Excerto da fonte:</a:t>
            </a:r>
          </a:p>
          <a:p>
            <a:r>
              <a:t>6.8.4 Em caso de inadimplência decorrente de falha operacional, será concedido aos Cotistas o prazo de 2 (dois) Dias Úteis contado da data de seu vencimento original para a realização do pagamento da integralização de Cotas sem a incidência de qualquer penalidade, multa ou mora. Transferência de Cotas 6.9 Não haverá direito de preferência aos Cotistas em relação às transferências de Cotas no mercado secundário. 6.10 No caso de alienação voluntária de Cotas, o Cotista alienante deverá solicitar por escrito ao Administrador e ao Gestor, a transf erência parcial ou total de suas Cotas, indicando o nom</a:t>
            </a:r>
          </a:p>
          <a:p>
            <a:r>
              <a:t>CNPJ 62552447000120 · Prazos de cura e reincidência · Regulamento · ID 1200623 · 21/05/2026 · versão Consolidado21/05/2026 aprovado pelo ato1200625 · p. 24 · AnexoI11.1.2 · https://fnet.bmfbovespa.com.br/fnet/publico/visualizarDocumento?id=1200623</a:t>
            </a:r>
          </a:p>
          <a:p>
            <a:r>
              <a:t>CNPJ 62552447000120 · Prazos de cura e reincidência · Excerto da fonte:</a:t>
            </a:r>
          </a:p>
          <a:p>
            <a:r>
              <a:t>11.1.2 No momento de verificação de qualquer Evento de Avaliação, os procedimentos de aquisição de novos Direitos Creditórios deverão ser imediatamente interrompidos, até que: (i) seja prof erida decisão final em Assembleia Especial, convocada especificamente para este fim, nos termos do item 11.1.1 acima, autorizando a retomada dos procedimentos de aquisição de novos Direitos Creditórios e resgate das Cotas; e/ou (ii) seja sanado o Evento de Avaliação . 11.1.3 Na hipótese de não instalação da Assembleia Especial por f alta de quórum, o Administrador dará início aos</a:t>
            </a:r>
          </a:p>
          <a:p>
            <a:r>
              <a:t>CNPJ 62552447000120 · Prazos de cura e reincidência · Motivo: Não localizada uma cláusula material para este critério nos textos identificados e processados. A ausência de resultado não comprova inexistência da regra.</a:t>
            </a:r>
          </a:p>
          <a:p>
            <a:r>
              <a:t>CNPJ 62552447000120 · Prazos de cura e reincidência · Versão e prevalência: Leitura específica das cláusulas indicadas; condições e conflitos preservados. Seleção documental atual não comprova vigência jurídica por data isolada.</a:t>
            </a:r>
          </a:p>
          <a:p>
            <a:r>
              <a:t>CNPJ 63953620000165 · Prazos de cura e reincidência · Anexo ao Regulamento · ID 1222863 · 02/06/2026 · versão AnexoConsignadoPrivado02/06/2026 · p. 14 · 11.1(ii)–(v) · https://fnet.bmfbovespa.com.br/fnet/publico/visualizarDocumento?id=1222863</a:t>
            </a:r>
          </a:p>
          <a:p>
            <a:r>
              <a:t>CNPJ 63953620000165 · Prazos de cura e reincidência · Excerto da fonte:</a:t>
            </a:r>
          </a:p>
          <a:p>
            <a:r>
              <a:t>11.1 As seguintes hipóteses são consideradas eventos de avaliação (“Eventos de Avaliação”): (i) em caso de regime de administração especial temporária - RAET, intervenção ou liquidação extrajudicial do Endossante; (ii) em caso de desenquadramento do Índice de Subordinação por 10 (dez) dias úteis consecutivos; (iii) não cumprimento, pelo Endossante, de qualquer de suas obrigações estabelecidas no Contrato de Endosso ou neste Anexo I, desde que esse não cumprimento não seja devidamente sanado ou justificado dentro de 10 (dez) Dias Úteis a partir do recebimento, pelo Endossan</a:t>
            </a:r>
          </a:p>
          <a:p>
            <a:r>
              <a:t>CNPJ 63953620000165 · Prazos de cura e reincidência · Anexo ao Regulamento · ID 1222863 · 02/06/2026 · versão AnexoConsignadoPrivado02/06/2026 · p. 10 · 6.8 · https://fnet.bmfbovespa.com.br/fnet/publico/visualizarDocumento?id=1222863</a:t>
            </a:r>
          </a:p>
          <a:p>
            <a:r>
              <a:t>CNPJ 63953620000165 · Prazos de cura e reincidência · Excerto da fonte:</a:t>
            </a:r>
          </a:p>
          <a:p>
            <a:r>
              <a:t>6.8 Observado o disposto nos boletins de subscrição, no caso de inadimplemento, a Administradora notificará o cotista inadimplente para sanar o inadimplemento no prazo de até 5 (cinco) Dias Úteis (“Cotista Inadimplente”). Caso o Cotista Inadimplente não sane o inadimplemento dentro de 5 (cinco) Dias Úteis contados do recebimento da notificação descrita acima, a Administradora poderá tomar as medidas previstas no Boletim de Subscrição. Colocação das Cotas 6.9 As Cotas poderão ser objeto de oferta pública a ser realizada nos termos da Resolução CVM 160 (“Oferta”) e/ou poderão ser colocadas de forma privada (“Colocação Privad</a:t>
            </a:r>
          </a:p>
          <a:p>
            <a:r>
              <a:t>CNPJ 63953620000165 · Prazos de cura e reincidência · Versão e prevalência: Leitura específica das cláusulas indicadas; condições e conflitos preservados. Seleção documental atual não comprova vigência jurídica por data isolada.</a:t>
            </a:r>
          </a:p>
          <a:p>
            <a:r>
              <a:t>CNPJ 54871427000194 · Cross default e insolvência · Motivo: Não localizada uma cláusula material para este critério nos textos identificados e processados. A ausência de resultado não comprova inexistência da regra.</a:t>
            </a:r>
          </a:p>
          <a:p>
            <a:r>
              <a:t>CNPJ 60010416000112 · Cross default e insolvência · Regulamento · ID 1051393 · 2025-10-09 · versão 1 · p. 21 · 10.2 · https://fnet.bmfbovespa.com.br/fnet/publico/visualizarDocumento?id=1051393</a:t>
            </a:r>
          </a:p>
          <a:p>
            <a:r>
              <a:t>CNPJ 60010416000112 · Cross default e insolvência · Excerto da fonte:</a:t>
            </a:r>
          </a:p>
          <a:p>
            <a:r>
              <a:t>10.2 Os seguintes eventos obrigarão o Administrador a verif icar se o Patrimônio Líquido da Classe está  negativo:</a:t>
            </a:r>
          </a:p>
          <a:p>
            <a:r>
              <a:t> (i) qualquer pedido de declaração judicial de insolvência da Classe;</a:t>
            </a:r>
          </a:p>
          <a:p>
            <a:r>
              <a:t> (ii) identificação de indícios de f raudes envolvendo o lastro de Direitos Creditórios que representem, no  mínimo 0,5 (cinco décimos por cento) do Patrimônio Líquido da Classe;</a:t>
            </a:r>
          </a:p>
          <a:p>
            <a:r>
              <a:t> (iii) inadimplência de obrigações financeiras de devedor e/ou emissor de ativos detidos pela Classe que  representem mais de 25% (vinte e cinco por cento)de seu Patrimônio Líquido;</a:t>
            </a:r>
          </a:p>
          <a:p>
            <a:r>
              <a:t> (iv) pedido de recuperação extrajudicial, de recuperação judicial, ou de falência de Devedor e/ou emissor  de ativos detidos pela Classe;</a:t>
            </a:r>
          </a:p>
          <a:p>
            <a:r>
              <a:t> (v) condenação da Classe de natureza judicial e/ou arbitral e/ou administrativa e/ou outras similares ao  pagamento de mais de 20% (vinte por cento) de seu Patrimônio Líquido; e</a:t>
            </a:r>
          </a:p>
          <a:p>
            <a:r>
              <a:t> (vi) caso caracterizado quaisquer dos Eventos de Liquidação.</a:t>
            </a:r>
          </a:p>
          <a:p>
            <a:r>
              <a:t>Eventos de Liquidação</a:t>
            </a:r>
          </a:p>
          <a:p>
            <a:r>
              <a:t>CNPJ 60010416000112 · Cross default e insolvência · Regulamento · ID 1051393 · 2025-10-09 · versão 1 · p. 21 · 10.3 · https://fnet.bmfbovespa.com.br/fnet/publico/visualizarDocumento?id=1051393</a:t>
            </a:r>
          </a:p>
          <a:p>
            <a:r>
              <a:t>CNPJ 60010416000112 · Cross default e insolvência · Excerto da fonte:</a:t>
            </a:r>
          </a:p>
          <a:p>
            <a:r>
              <a:t>10.3 As seguintes hipóteses são consideradas Eventos de Liquidação:</a:t>
            </a:r>
          </a:p>
          <a:p>
            <a:r>
              <a:t> (i) caso seja deliberado em Assembleia de Cotistas que um Evento de Avaliação constitui um Evento de  Liquidação;</a:t>
            </a:r>
          </a:p>
          <a:p>
            <a:r>
              <a:t> (ii) na hipótese de resilição do Contrato de Custódia ou renúncia do Custodiante, sem que tenha havido  sua substituição por outra instituição, de acordo com os procedimentos estabelecidos neste  Regulamento;</a:t>
            </a:r>
          </a:p>
          <a:p>
            <a:r>
              <a:t> (iii) renúncia do Administrador sem que a Assembleia Especial de Cotistas eficazmente nomeie instituição  habilitada para substituí-lo, nos termos estabelecidos neste Regulamento;</a:t>
            </a:r>
          </a:p>
          <a:p>
            <a:r>
              <a:t> (iv) por determinação da CVM, em caso de violação de normas legais ou regulamentares;</a:t>
            </a:r>
          </a:p>
          <a:p>
            <a:r>
              <a:t> (v) sempre que assim decidido pelos Cotistas em Assembleia Especial de Cotistas especialmente  convocada para tal f im;</a:t>
            </a:r>
          </a:p>
          <a:p>
            <a:r>
              <a:t> (vi) em caso de regime de administração especial temporária - RAET, intervenção ou liquidação  extrajudicial, conforme aplicável, do Custodiante, Administrador, ou Gestor, sem a sua ef etiva  substituição nos termos deste Regulamento;</a:t>
            </a:r>
          </a:p>
          <a:p>
            <a:r>
              <a:t> (vii) se, após 90 (noventa) dias do início das atividades do Fundo, o Patrimônio Líquido diário inf erior da  Classe f or inf erior a R$ 1.000.000,00 (um milhão de reais) pelo período de 90 (noventa) dias  consecutivos;</a:t>
            </a:r>
          </a:p>
          <a:p>
            <a:r>
              <a:t> (viii) impossibilidade da Classe adquirir Direitos Creditórios admitidos por sua política de investimento.</a:t>
            </a:r>
          </a:p>
          <a:p>
            <a:r>
              <a:t>Procedimentos de Liquidação Antecipada</a:t>
            </a:r>
          </a:p>
          <a:p>
            <a:r>
              <a:t>CNPJ 60010416000112 · Cross default e insolvência · Regulamento · ID 1051393 · 2025-10-09 · versão 1 · p. 19 · 10.1 · https://fnet.bmfbovespa.com.br/fnet/publico/visualizarDocumento?id=1051393</a:t>
            </a:r>
          </a:p>
          <a:p>
            <a:r>
              <a:t>CNPJ 60010416000112 · Cross default e insolvência · Excerto da fonte:</a:t>
            </a:r>
          </a:p>
          <a:p>
            <a:r>
              <a:t>10.1 As seguintes hipóteses são consideradas Eventos de Avaliação:</a:t>
            </a:r>
          </a:p>
          <a:p>
            <a:r>
              <a:t> (i) em caso de regime de administração especial temporária - RAET, intervenção ou liquidação  extrajudicial do Endossante;</a:t>
            </a:r>
          </a:p>
          <a:p>
            <a:r>
              <a:t> (ii) em caso de desenquadramento do Índice de Subordinação por 10 (dez) dias úteis consecutivos;</a:t>
            </a:r>
          </a:p>
          <a:p>
            <a:r>
              <a:t> (iii) não cumprimento, pelo Endossante, de qualquer de suas obrigações estabelecidas no Contrato de  Endosso ou neste Anexo I, desde que esse não cumprimento não seja devidamente sanado ou  justif icado dentro de 10 (dez) Dias Úteis a partir do recebimento, pelo Endossante, de notificação,  por escrito, enviada pelo Administrador, inf ormando-o da ocorrência do respectivo evento;</a:t>
            </a:r>
          </a:p>
          <a:p>
            <a:r>
              <a:t> (iv) não cumprimento, pelo Endossante, de sua obrigação de entregar os Arquivos Dataprev ao Gestor  e ao Custodiante dentro do prazo estabelecido neste Anexo I, desde que esse não cumprimento  não seja devidamente sanado ou justificado dentro de 02 (dois) Dias Úteis a partir do recebimento,  pelo Endossante, de notificação, por escrito, enviada pelo Gestor, informando-o da ocorrência do  respectivo evento;</a:t>
            </a:r>
          </a:p>
          <a:p>
            <a:r>
              <a:t> (v) não cumprimento, pelo Endossante, de qualquer de suas obrigações de entregar ao Gestor e/o ao  Custodiante, ou a terceiros por ele indicados, os Documentos Comprobatórios e Documentos  Suporte relativos aos Direitos Creditórios que tenham sido endossados à Classe, dentro do prazo  estabelecido neste Anexo I, desde que esse não cumprimento não seja devidamente sanado ou  justif icado dentro de 02 (dois) Dias Úteis a partir do recebimento, pelo Endossante, de notificação,  por escrito, enviada pelo Gestor e/ou Custodiante, inf ormando- o da ocorrência do respectivo  evento;</a:t>
            </a:r>
          </a:p>
          <a:p>
            <a:r>
              <a:t> (vi) não cumprimento, pelo Agente de Retenção/Cobrança, de qualquer de suas obrigações  estabelecidas no Contrato de Endosso, neste Regulamento ou no Contrato de Serviços MT, desde  que esse não cumprimento não seja devidamente sanado ou justificado dentro de 10 (dez) Dias  Úteis a partir do recebimento, pelo Agente de Retenção/Cobrança, de notificação, por escrito,  enviada pelo Gestor, inf ormando-o da ocorrência do respectivo evento;</a:t>
            </a:r>
          </a:p>
          <a:p>
            <a:r>
              <a:t> (vii) não cumprimento, pelo Administrador, Gestor ou Custodiante, de seus respectivos deveres e  obrigações estabelecidos neste Regulamento, no Contrato de Endosso ou nos respectivos  contratos de prestação de serviços segundo os quais essas entidades são contratadas pela Classe,  desde que, tendo sido notificado pelo Cotista para remediar ou justificar o não cumprimento, não o  f aça dentro de 10 (dez) Dias Úteis a partir do recebimento da notif icação mencionada;</a:t>
            </a:r>
          </a:p>
          <a:p>
            <a:r>
              <a:t>BTG Pactual SAC: 0800 772 28 27 - Ouvidoria: 0800 722 00 48 - btgpactual.com 19</a:t>
            </a:r>
          </a:p>
          <a:p>
            <a:r>
              <a:t>CNPJ 60010416000112 · Cross default e insolvência · Condição: Documentos atuais selecionados no inventário por categoria/escopo; a data documental isolada não comprova vigência jurídica.</a:t>
            </a:r>
          </a:p>
          <a:p>
            <a:r>
              <a:t>CNPJ 60010416000112 · Cross default e insolvência · Versão e prevalência: Documentos atuais selecionados no inventário por categoria/escopo; a data documental isolada não comprova vigência jurídica.</a:t>
            </a:r>
          </a:p>
          <a:p>
            <a:r>
              <a:t>CNPJ 60010416000112 · Cross default e insolvência · Resumo do histórico: {"count": 1, "dates": ["2025-03-20"], "document_count": 1, "sources": [{"document_id": "993786", "title": "Regulamento", "reference_date": "2025-03-20", "version": "1", "page": 21, "clause": "10.2", "url": "https://fnet.bmfbovespa.com.br/fnet/publico/visualizarDocumento?id=993786", "sha256": "fd0fdd369a195510d81f81f505195a0b09e5f43522a990afa7d58c4f872921c8"}], "reference": {"path": "history/60010416000112.json", "criterion_id": "cross_default", "total_count": 1, "preview_count": 1, "full_text_deferred": true, "sha256": "8e2bd813f4c51cf01f6bfaad164bafe69d2bbb192f753eac92da3a01c2e63046"}}</a:t>
            </a:r>
          </a:p>
          <a:p>
            <a:r>
              <a:t>CNPJ 62696791000193 · Cross default e insolvência · Motivo: Não localizada uma cláusula material para este critério nos textos identificados e processados. A ausência de resultado não comprova inexistência da regra.</a:t>
            </a:r>
          </a:p>
          <a:p>
            <a:r>
              <a:t>CNPJ 55563624000109 · Cross default e insolvência · Motivo: Não localizada uma cláusula material para este critério nos textos identificados e processados. A ausência de resultado não comprova inexistência da regra.</a:t>
            </a:r>
          </a:p>
          <a:p>
            <a:r>
              <a:t>CNPJ 62552447000120 · Cross default e insolvência · Regulamento · ID 1200623 · 2026-05-21 · versão 1 · p. 22 · 11.1 · https://fnet.bmfbovespa.com.br/fnet/publico/visualizarDocumento?id=1200623</a:t>
            </a:r>
          </a:p>
          <a:p>
            <a:r>
              <a:t>CNPJ 62552447000120 · Cross default e insolvência · Excerto da fonte:</a:t>
            </a:r>
          </a:p>
          <a:p>
            <a:r>
              <a:t>11.1 As seguintes hipóteses são consideradas eventos de avaliação (“Eventos de Avaliação”):</a:t>
            </a:r>
          </a:p>
          <a:p>
            <a:r>
              <a:t> (i) em caso de regime de administração especial temporária - RAET, intervenção ou liquidação  extrajudicial do Endossante, da instituição f inanceira prestadora dos serviços de agente de  conta vinculada à Classe (“Agente de Conta Vinculada”) e/ou do Agente de Retenção e  Cobrança;</a:t>
            </a:r>
          </a:p>
          <a:p>
            <a:r>
              <a:t> (ii) não cumprimento, pelo Endossante, de qualquer de suas obrigações estabelecidas nos  Contratos de Endosso, no Regulamento ou neste Anexo I, desde que esse não cumprimento  não seja devidamente sanado ou justificado dentro de 5 (cinco) Dias Úteis a partir do  recebimento, pelo Endossante, de notificação, por escrito, enviada pelo Administrador,  inf ormando-o da ocorrência do respectivo evento;</a:t>
            </a:r>
          </a:p>
          <a:p>
            <a:r>
              <a:t> (iii) não cumprimento, pelo Endossante e/ou pelo Agente de Retenção e Cobrança, de sua  obrigação de entregar os (a) arquivos eletrônicos disponibilizados mensalmente pela Dataprev  ao Endossante, contendo (1) as Consignações processadas pela Dataprev no respectivo mês,  identificando os Devedores e os valores que serão descontados de suas respectivas folhas de  pagamentos, bem como (2) a totalidade das operações pendentes de crédito consignado  concedidas pelo Endossante e indicando todos os Direitos Creditórios devi dos mediante  Consignação na próxima data de liquidação (“Arquivos Dataprev”) e/ou (b) os arquivos  eletrônicos disponibilizados mensalmente pela CEF ao Endossante, contendo os pagamentos  de Saque-aniversário processados pela CEF no respectivo mês devidos à Classe, identificando  os Devedores e os valores que serão descontados de seus respectivos Saques-aniversário  (“Arquivos de Liquidação Saque-aniversário”) ao Custodiante dentro do prazo estabelecido  neste Anexo I, desde que esse não cumprimento não seja dev idamente sanado ou justificado  dentro de 5 (cinco) Dias Úteis a partir do recebimento, pelo Endossante e/ou pelo Agente de  Retenção e Cobrança, de notificação, por escrito, enviada pelo Custodiante, inf ormando-o da  ocorrência do respectivo evento;</a:t>
            </a:r>
          </a:p>
          <a:p>
            <a:r>
              <a:t> (iv) não cumprimento, pelo Endossante e/ou pelo Agente de Retenção e Cobrança, de qualquer de  suas obrigações de entregar ao Gestor, ou a terceiros por ele indicados, os Documentos  Comprobatórios e Documentos Suporte relativos aos Direitos Creditórios que tenham sido  endossados à Classe, dentro do prazo estabelecido neste Anexo I, desde que esse não  cumprimento não seja devidamente sanado ou justificado dentro de 5 (cinco) Dias Úteis a partir  do recebimento, pelo Endossante e/ou pelo Agente de Retenção e Cobrança, de notificação,  por escrito, enviada pelo Custodiante, inf ormando- o da ocorrência do respectivo evento;</a:t>
            </a:r>
          </a:p>
          <a:p>
            <a:r>
              <a:t> (v) não cumprimento, pelo Agente de Retenção e Cobrança, de qualquer de suas obrigações  estabelecidas nos Contratos de Endosso, no Regulamento, neste Anexo I ou nos Contratos de  Retenção/Cobrança, desde que esse não cumprimento não seja devidamente sanado ou</a:t>
            </a:r>
          </a:p>
          <a:p>
            <a:r>
              <a:t>CNPJ 62552447000120 · Cross default e insolvência · Condição: Documentos atuais selecionados no inventário por categoria/escopo; a data documental isolada não comprova vigência jurídica.</a:t>
            </a:r>
          </a:p>
          <a:p>
            <a:r>
              <a:t>CNPJ 62552447000120 · Cross default e insolvência · Versão e prevalência: Documentos atuais selecionados no inventário por categoria/escopo; a data documental isolada não comprova vigência jurídica.</a:t>
            </a:r>
          </a:p>
          <a:p>
            <a:r>
              <a:t>CNPJ 63953620000165 · Cross default e insolvência · Anexo ao Regulamento · ID 1222863 · 2026-06-02 · versão 1 · p. 14 · 11.1 · https://fnet.bmfbovespa.com.br/fnet/publico/visualizarDocumento?id=1222863</a:t>
            </a:r>
          </a:p>
          <a:p>
            <a:r>
              <a:t>CNPJ 63953620000165 · Cross default e insolvência · Excerto da fonte:</a:t>
            </a:r>
          </a:p>
          <a:p>
            <a:r>
              <a:t>11.1 As seguintes hipóteses são consideradas eventos de avaliação (“Eventos de Avaliação”):</a:t>
            </a:r>
          </a:p>
          <a:p>
            <a:r>
              <a:t> (i) em caso de regime de administração especial temporária - RAET, intervenção ou liquidação extrajudicial  do Endossante;</a:t>
            </a:r>
          </a:p>
          <a:p>
            <a:r>
              <a:t> (ii) em caso de desenquadramento do Índice de Subordinação por 10 (dez) dias úteis consecutivos;</a:t>
            </a:r>
          </a:p>
          <a:p>
            <a:r>
              <a:t> (iii) não cumprimento, pelo Endossante, de qualquer de suas obrigações estabelecidas no Contrato de  Endosso ou neste Anexo I, desde que esse não cumprimento não seja devidamente sanado ou justificado  dentro de 10 (dez) Dias Úteis a partir do recebimento, pelo Endossante, de notificação, por escrito,  enviada pelo Administrador, informando-o da ocorrência do respectivo evento;</a:t>
            </a:r>
          </a:p>
          <a:p>
            <a:r>
              <a:t> (iv) não cumprimento, pelo Endossante, de sua obrigação de entregar os Arquivos Dataprev ao Gestor e ao  Custodiante dentro do prazo estabelecido neste Anexo, desde que esse não cumprimento não seja  devidamente sanado ou justificado dentro de 02 (dois) Dias Úteis a partir do recebimento, pelo  Endossante, de notificação, por escrito, enviada pelo Gestor, informando-o da ocorrência do respectivo  evento;</a:t>
            </a:r>
          </a:p>
          <a:p>
            <a:r>
              <a:t> (v) não cumprimento, pelo Endossante, de qualquer de suas obrigações de entregar ao Gestor e/o ao  Custodiante, ou a terceiros por ele indicados, os Documentos Comprobatórios e Documentos Suporte  relativos aos Direitos Creditórios que tenham sido endossados à Classe, dentro do prazo estabelecido  neste Anexo I, desde que esse não cumprimento não seja devidamente sanado ou justificado dentro de  02 (dois) Dias Úteis a partir do recebimento, pelo Endossante, de notificação, por escrito, enviada pelo  Gestor e/ou Custodiante, informando- o da ocorrência do respectivo evento;</a:t>
            </a:r>
          </a:p>
          <a:p>
            <a:r>
              <a:t> (vi) não cumprimento, pelo Agente de Retenção/Cobrança, de qualquer de suas obrigações estabelecidas  no Contrato de Endosso, neste Regulamento ou no Contrato de Serviços MT, desde que esse não  cumprimento não seja devidamente sanado ou justificado dentro de 10 (dez) Dias Úteis a partir do  recebimento, pelo Agente de Retenção/Cobrança, de notificação, por escrito, enviada pelo Gestor,  informando-o da ocorrência do respectivo evento;</a:t>
            </a:r>
          </a:p>
          <a:p>
            <a:r>
              <a:t>CNPJ 63953620000165 · Cross default e insolvência · Condição: Documentos atuais selecionados no inventário por categoria/escopo; a data documental isolada não comprova vigência jurídica.</a:t>
            </a:r>
          </a:p>
          <a:p>
            <a:r>
              <a:t>CNPJ 63953620000165 · Cross default e insolvência · Versão e prevalência: Documentos atuais selecionados no inventário por categoria/escopo; a data documental isolada não comprova vigência jurídica.</a:t>
            </a:r>
          </a:p>
          <a:p>
            <a:r>
              <a:t>CNPJ 54871427000194 · Gatilhos de avaliação e liquidação · Regulamento · ID 670691 · 2024-04-28 · versão 1 · p. 17 · 10.2 · https://fnet.bmfbovespa.com.br/fnet/publico/visualizarDocumento?id=670691</a:t>
            </a:r>
          </a:p>
          <a:p>
            <a:r>
              <a:t>CNPJ 54871427000194 · Gatilhos de avaliação e liquidação · Excerto da fonte:</a:t>
            </a:r>
          </a:p>
          <a:p>
            <a:r>
              <a:t>10.2 A Assembleia Especial de Cotistas é responsável por deliberar sobre as matérias específicas da Classe  de Cotas, sem prejuízo das demais disposições previstas na regulamentação aplicável, incluindo, mas  não se limitando a:</a:t>
            </a:r>
          </a:p>
          <a:p>
            <a:r>
              <a:t> (i) deliberar sobre as demonstrações contábeis da Classe;</a:t>
            </a:r>
          </a:p>
          <a:p>
            <a:r>
              <a:t> (ii) deliberar sobre substituição de Prestadores de Serviços Essenciais, observado o disposto no  art. 70, §1º da parte geral da Resolução CVM 175;</a:t>
            </a:r>
          </a:p>
          <a:p>
            <a:r>
              <a:t> (iii) deliberar sobre elevação da Taxa de Administração, inclusive na hipótese de restabelecimento  de taxa que tenha sido objeto de redução;</a:t>
            </a:r>
          </a:p>
          <a:p>
            <a:r>
              <a:t> (iv) deliberar sobre incorporação, f usão, cisão total ou parcial, a transf ormação ou liquidação da  Classe;</a:t>
            </a:r>
          </a:p>
          <a:p>
            <a:r>
              <a:t> (v) alterações das características, vantagens, direitos e obrigações das Cotas;</a:t>
            </a:r>
          </a:p>
          <a:p>
            <a:r>
              <a:t> (vi) alterar critérios e procedimentos para Amortização e/ou resgate de Cotas mediante dação em  pagamento de Direitos Creditórios;</a:t>
            </a:r>
          </a:p>
          <a:p>
            <a:r>
              <a:t> (vii) aprovar a contratação de Agente de Cobrança dos Direitos Creditórios;</a:t>
            </a:r>
          </a:p>
          <a:p>
            <a:r>
              <a:t> (viii) aprovar emissão de novas Cotas da Classe;</a:t>
            </a:r>
          </a:p>
          <a:p>
            <a:r>
              <a:t> (ix) deliberar sobre a eventual necessidade de aportes adicionais de recursos na Classe pelos  Cotistas;</a:t>
            </a:r>
          </a:p>
          <a:p>
            <a:r>
              <a:t> (x) alterações na Política de Investimentos;</a:t>
            </a:r>
          </a:p>
          <a:p>
            <a:r>
              <a:t> (xi) alterações nos Critérios de Elegibilidade;</a:t>
            </a:r>
          </a:p>
          <a:p>
            <a:r>
              <a:t> (xii) alteração dos Eventos de Avaliação, dos Eventos de Liquidação e/ou das consequências deles  decorrentes em f unção do previsto neste Regulamento;</a:t>
            </a:r>
          </a:p>
          <a:p>
            <a:r>
              <a:t> (xiii) plano de resolução do Patrimônio Líquido negativo da Classe, nos termos da Resolução CVM  175; e</a:t>
            </a:r>
          </a:p>
          <a:p>
            <a:r>
              <a:t> (xiv) pedido de declaração judicial de insolvência da Classe.</a:t>
            </a:r>
          </a:p>
          <a:p>
            <a:r>
              <a:t>CAPÍTULO 11 – EVENTOS DE AVALIAÇÃO, EVENTOS DE LIQUIDAÇÃO, E PROCEDIMENTOS DE LIQUIDAÇÃO ANTECIPADA Eventos de Avaliação</a:t>
            </a:r>
          </a:p>
          <a:p>
            <a:r>
              <a:t>CNPJ 54871427000194 · Gatilhos de avaliação e liquidação · Regulamento · ID 670691 · 2024-04-28 · versão 1 · p. 19 · 11.2 · https://fnet.bmfbovespa.com.br/fnet/publico/visualizarDocumento?id=670691</a:t>
            </a:r>
          </a:p>
          <a:p>
            <a:r>
              <a:t>CNPJ 54871427000194 · Gatilhos de avaliação e liquidação · Excerto da fonte:</a:t>
            </a:r>
          </a:p>
          <a:p>
            <a:r>
              <a:t>11.2 Os seguintes eventos obrigarão o ADMINISTRADOR a verificar se o Patrimônio Líquido da Classe está  negativo:</a:t>
            </a:r>
          </a:p>
          <a:p>
            <a:r>
              <a:t> (i) qualquer pedido de declaração judicial de insolvência da Classe; e</a:t>
            </a:r>
          </a:p>
          <a:p>
            <a:r>
              <a:t> (ii) na ocorrência de quaisquer dos Eventos de Avaliação e/ou Eventos de Liquidação .</a:t>
            </a:r>
          </a:p>
          <a:p>
            <a:r>
              <a:t>Eventos de Liquidação</a:t>
            </a:r>
          </a:p>
          <a:p>
            <a:r>
              <a:t>CNPJ 54871427000194 · Gatilhos de avaliação e liquidação · Condição: Documentos atuais selecionados no inventário por categoria/escopo; a data documental isolada não comprova vigência jurídica.</a:t>
            </a:r>
          </a:p>
          <a:p>
            <a:r>
              <a:t>CNPJ 54871427000194 · Gatilhos de avaliação e liquidação · Versão e prevalência: Documentos atuais selecionados no inventário por categoria/escopo; a data documental isolada não comprova vigência jurídica.</a:t>
            </a:r>
          </a:p>
          <a:p>
            <a:r>
              <a:t>CNPJ 54871427000194 · Gatilhos de avaliação e liquidação · Resumo do histórico: {"count": 2, "dates": ["2024-04-19", "2024-04-28"], "document_count": 2, "sources": [{"document_id": "670691", "title": "Regulamento", "reference_date": "2024-04-28", "version": "1", "page": "17-20", "url": "https://fnet.bmfbovespa.com.br/fnet/publico/visualizarDocumento?id=670691", "sha256": "bf16dd7f1a62d5cdbf2e2d54fef81783783f7310fbc99c3a8f00459bdf9d037b"}, {"document_id": "670689", "title": "Regulamento", "reference_date": "2024-04-19", "version": "1", "page": 17, "clause": "10.2", "url": "https://fnet.bmfbovespa.com.br/fnet/publico/visualizarDocumento?id=670689", "sha256": "891bc9bc5d87bbc02ec139077a84d2702eb81ea02035fb71d24f5b8366b94a0b"}], "reference": {"path": "history/54871427000194.json", "criterion_id": "legacy_events", "total_count": 2, "preview_count": 2, "full_text_deferred": true, "sha256": "35d7cd99be50c7287c9fb675cf4f2e736002315295a225a9efa79c8d9186d874"}}</a:t>
            </a:r>
          </a:p>
          <a:p>
            <a:r>
              <a:t>CNPJ 60010416000112 · Gatilhos de avaliação e liquidação · Regulamento · ID 1051393 · 2025-10-09 · versão 1 · p. 21 · 10.2 · https://fnet.bmfbovespa.com.br/fnet/publico/visualizarDocumento?id=1051393</a:t>
            </a:r>
          </a:p>
          <a:p>
            <a:r>
              <a:t>CNPJ 60010416000112 · Gatilhos de avaliação e liquidação · Excerto da fonte:</a:t>
            </a:r>
          </a:p>
          <a:p>
            <a:r>
              <a:t>10.2 Os seguintes eventos obrigarão o Administrador a verif icar se o Patrimônio Líquido da Classe está  negativo:</a:t>
            </a:r>
          </a:p>
          <a:p>
            <a:r>
              <a:t> (i) qualquer pedido de declaração judicial de insolvência da Classe;</a:t>
            </a:r>
          </a:p>
          <a:p>
            <a:r>
              <a:t> (ii) identificação de indícios de f raudes envolvendo o lastro de Direitos Creditórios que representem, no  mínimo 0,5 (cinco décimos por cento) do Patrimônio Líquido da Classe;</a:t>
            </a:r>
          </a:p>
          <a:p>
            <a:r>
              <a:t> (iii) inadimplência de obrigações financeiras de devedor e/ou emissor de ativos detidos pela Classe que  representem mais de 25% (vinte e cinco por cento)de seu Patrimônio Líquido;</a:t>
            </a:r>
          </a:p>
          <a:p>
            <a:r>
              <a:t> (iv) pedido de recuperação extrajudicial, de recuperação judicial, ou de falência de Devedor e/ou emissor  de ativos detidos pela Classe;</a:t>
            </a:r>
          </a:p>
          <a:p>
            <a:r>
              <a:t> (v) condenação da Classe de natureza judicial e/ou arbitral e/ou administrativa e/ou outras similares ao  pagamento de mais de 20% (vinte por cento) de seu Patrimônio Líquido; e</a:t>
            </a:r>
          </a:p>
          <a:p>
            <a:r>
              <a:t> (vi) caso caracterizado quaisquer dos Eventos de Liquidação.</a:t>
            </a:r>
          </a:p>
          <a:p>
            <a:r>
              <a:t>Eventos de Liquidação</a:t>
            </a:r>
          </a:p>
          <a:p>
            <a:r>
              <a:t>CNPJ 60010416000112 · Gatilhos de avaliação e liquidação · Regulamento · ID 1051393 · 2025-10-09 · versão 1 · p. 21 · 10.3 · https://fnet.bmfbovespa.com.br/fnet/publico/visualizarDocumento?id=1051393</a:t>
            </a:r>
          </a:p>
          <a:p>
            <a:r>
              <a:t>CNPJ 60010416000112 · Gatilhos de avaliação e liquidação · Excerto da fonte:</a:t>
            </a:r>
          </a:p>
          <a:p>
            <a:r>
              <a:t>10.3 As seguintes hipóteses são consideradas Eventos de Liquidação:</a:t>
            </a:r>
          </a:p>
          <a:p>
            <a:r>
              <a:t> (i) caso seja deliberado em Assembleia de Cotistas que um Evento de Avaliação constitui um Evento de  Liquidação;</a:t>
            </a:r>
          </a:p>
          <a:p>
            <a:r>
              <a:t> (ii) na hipótese de resilição do Contrato de Custódia ou renúncia do Custodiante, sem que tenha havido  sua substituição por outra instituição, de acordo com os procedimentos estabelecidos neste  Regulamento;</a:t>
            </a:r>
          </a:p>
          <a:p>
            <a:r>
              <a:t> (iii) renúncia do Administrador sem que a Assembleia Especial de Cotistas eficazmente nomeie instituição  habilitada para substituí-lo, nos termos estabelecidos neste Regulamento;</a:t>
            </a:r>
          </a:p>
          <a:p>
            <a:r>
              <a:t> (iv) por determinação da CVM, em caso de violação de normas legais ou regulamentares;</a:t>
            </a:r>
          </a:p>
          <a:p>
            <a:r>
              <a:t> (v) sempre que assim decidido pelos Cotistas em Assembleia Especial de Cotistas especialmente  convocada para tal f im;</a:t>
            </a:r>
          </a:p>
          <a:p>
            <a:r>
              <a:t> (vi) em caso de regime de administração especial temporária - RAET, intervenção ou liquidação  extrajudicial, conforme aplicável, do Custodiante, Administrador, ou Gestor, sem a sua ef etiva  substituição nos termos deste Regulamento;</a:t>
            </a:r>
          </a:p>
          <a:p>
            <a:r>
              <a:t> (vii) se, após 90 (noventa) dias do início das atividades do Fundo, o Patrimônio Líquido diário inf erior da  Classe f or inf erior a R$ 1.000.000,00 (um milhão de reais) pelo período de 90 (noventa) dias  consecutivos;</a:t>
            </a:r>
          </a:p>
          <a:p>
            <a:r>
              <a:t> (viii) impossibilidade da Classe adquirir Direitos Creditórios admitidos por sua política de investimento.</a:t>
            </a:r>
          </a:p>
          <a:p>
            <a:r>
              <a:t>Procedimentos de Liquidação Antecipada</a:t>
            </a:r>
          </a:p>
          <a:p>
            <a:r>
              <a:t>CNPJ 60010416000112 · Gatilhos de avaliação e liquidação · Regulamento · ID 1051393 · 2025-10-09 · versão 1 · p. 38 · https://fnet.bmfbovespa.com.br/fnet/publico/visualizarDocumento?id=1051393</a:t>
            </a:r>
          </a:p>
          <a:p>
            <a:r>
              <a:t>CNPJ 60010416000112 · Gatilhos de avaliação e liquidação · Excerto da fonte:</a:t>
            </a:r>
          </a:p>
          <a:p>
            <a:r>
              <a:t>Anexo I ao Regulamento CLASSE ÚNICA DO MT I CONSIGNADO PRIVADO I FUNDO DE INVESTIMENTO EM DIREITOS CREDITÓRIOS RESPONSABILIDADE LIMITADA  deixar de produzir os efeitos pretendidos, bem como causar perdas para o Cotista e colocar  em risco o patrimônio da Classe</a:t>
            </a:r>
          </a:p>
          <a:p>
            <a:r>
              <a:t> (iii) Risco decorrente da amortização das Cotas: conforme previsto neste Anexo I, as Cotas  poderão ser amortizadas conf orme deliberado pela em Assembleia de Cotistas.</a:t>
            </a:r>
          </a:p>
          <a:p>
            <a:r>
              <a:t> Considerando que a realização da amortização dependerá do caixa existente na Classe, é  possível que, se essa condição não seja verif icada, a Classe não poderá ef etuar as  amortizações das Cotas conforme deliberadas pelos Cotistas. A Classe, o Administrador, o  Custodiante, o Gestor, o Agente de Retenção/Cobrança, o Coordenador Líder ou o  Endossante não terão direito a nenhuma multa ou penalidade, por qualquer motivo, devido a  esse f ato.</a:t>
            </a:r>
          </a:p>
          <a:p>
            <a:r>
              <a:t> (iv) Risco de invalidade ou ineficácia do endosso: o endosso dos Direitos Creditórios à Classe  poderá ser invalidada ou considerada ineficaz, o que impacta negativamente o patrimônio da  Classe, no caso de (a) fraude contra credores, se no momento do endosso o Endossante for  insolvente ou se ele vier a se tornar insolvente; (b) fraude à execução, se (1) no momento do  endosso o Endossante f or réu em um processo judicial capaz de torná-lo insolvente; ou (2)  os Direitos Creditórios endossados à Classe estiverem sujeitos a qualquer demanda judicial  baseada em garantia real; e (c) f raude à execução f iscal, se o Endossante, ao celebrar o  endosso de crédito, como contribuinte por débito à Fazenda Pública, e crédito f iscal  regularmente inscrito na dívida ativa, não tiver ativos para pagamento total da dívida f iscal.</a:t>
            </a:r>
          </a:p>
          <a:p>
            <a:r>
              <a:t> Entretanto, o Administrador, o Custodiante, o Gestor e o Agente de Retenção/ Cobrança não  verif icarão os eventos acima no endosso de Direito Creditório e não serão responsabilizados  em caso de invalidação ou inef icácia do endosso de um Direito Creditório à Classe.</a:t>
            </a:r>
          </a:p>
          <a:p>
            <a:r>
              <a:t> (v) Risco de impugnação judicial: a CCB poderá ser impugnada judicialmente tanto no que diz  respeito à sua f ormalização quanto às taxas aplicadas e à f orma de cobrança da CCB,  inclusive em virtude das disposições estabelecidas na Lei nº 8.078, de 11 de setembro de  1990, conf orme alterada (Código de Def esa do Consumidor), tais como uma possível  impugnação de cláusula abusiva, bem como qualquer vício nos Documentos Comprobatórios  ou Documentos Suporte que impeçam a exigibilidade do crédito (ausência de assinaturas ou  f alta de prova de f ormalização regular do instrumento, representação ilegítima, dentre  outros). Nesses casos, a CCB poderá ser modificada ou cancelada em virtude de decisão  judicial, o que poderá acarretar perdas para a Classe e, consequentemente, af etar  negativamente a rentabilidade de seu patrimônio.</a:t>
            </a:r>
          </a:p>
          <a:p>
            <a:r>
              <a:t> (vi) Risco de restrições de natureza legal ou regulamentar: a Classe pode estar sujeito a  riscos, além do controle do Administrador, decorrentes de quaisquer restrições f uturas de  natureza legal e/ou regulamentar que venham a af etar a validade da constituição e/ou o  endosso dos Direitos Creditórios à Classe. Caso essas restrições ocorram, o f luxo de  cessões de Direitos Creditórios à Classe pode ser interrompido e, portanto, pode  comprometer a continuidade da Classe e a perspectiva de investimento do Cotista. Além  disso, os Direitos Creditórios que já estão na Carteira podem ter sua validade questionada,  o que pode causar, portanto, prejuízos ao Cotista.</a:t>
            </a:r>
          </a:p>
          <a:p>
            <a:r>
              <a:t> (vii) Risco de não obter um tratamento fiscal mais benéfico: o Gestor deverá envidar seus  melhores esforços para que o tratamento f iscal aplicável às classes de longo prazo seja  aplicado à Classe e ao Cotista. Entretanto, em virtude de eventos fora do controle do Gestor,  incluindo, mas não se limitando aos eventos de liquidação antecipada da Classe  estabelecidos neste Anexo I, é possível que a Classe e o Cotista não desfrutem de tratamento  f iscal mais benéf ico, atribuído às classes de longo prazo. Essa situação pode levar a um  impacto adverso na rentabilidade líquida decorrente do investimento nas Cotas.</a:t>
            </a:r>
          </a:p>
          <a:p>
            <a:r>
              <a:t> (viii) Risco de bloqueio da Conta de Cobrança da Classe ou da Conta de Movimentação da  Classe: os recursos provenientes da Classe serão direcionados para a Conta de Cobrança BTG Pactual SAC: 0800 772 28 27 - Ouvidoria: 0800 722 00 48 - btgpactual.com 38</a:t>
            </a:r>
          </a:p>
          <a:p>
            <a:r>
              <a:t>CNPJ 60010416000112 · Gatilhos de avaliação e liquidação · Condição: Documentos atuais selecionados no inventário por categoria/escopo; a data documental isolada não comprova vigência jurídica.</a:t>
            </a:r>
          </a:p>
          <a:p>
            <a:r>
              <a:t>CNPJ 60010416000112 · Gatilhos de avaliação e liquidação · Versão e prevalência: Documentos atuais selecionados no inventário por categoria/escopo; a data documental isolada não comprova vigência jurídica.</a:t>
            </a:r>
          </a:p>
          <a:p>
            <a:r>
              <a:t>CNPJ 60010416000112 · Gatilhos de avaliação e liquidação · Resumo do histórico: {"count": 2, "dates": ["2025-03-20", "2025-10-09"], "document_count": 2, "sources": [{"document_id": "1051393", "title": "Regulamento", "reference_date": "2025-10-09", "version": "1", "page": "19-22", "url": "https://fnet.bmfbovespa.com.br/fnet/publico/visualizarDocumento?id=1051393", "sha256": "8469d613078ffd5a6c1d217885d8a397a16342c0b937ae4aa24b106505f233ae"}, {"document_id": "993786", "title": "Regulamento", "reference_date": "2025-03-20", "version": "1", "page": 21, "clause": "10.2", "url": "https://fnet.bmfbovespa.com.br/fnet/publico/visualizarDocumento?id=993786", "sha256": "fd0fdd369a195510d81f81f505195a0b09e5f43522a990afa7d58c4f872921c8"}], "reference": {"path": "history/60010416000112.json", "criterion_id": "legacy_events", "total_count": 2, "preview_count": 2, "full_text_deferred": true, "sha256": "8e2bd813f4c51cf01f6bfaad164bafe69d2bbb192f753eac92da3a01c2e63046"}}</a:t>
            </a:r>
          </a:p>
          <a:p>
            <a:r>
              <a:t>CNPJ 62696791000193 · Gatilhos de avaliação e liquidação · Regulamento · ID 1143317 · 2026-03-20 · versão 1 · p. 37 · 5.1 · https://fnet.bmfbovespa.com.br/fnet/publico/visualizarDocumento?id=1143317</a:t>
            </a:r>
          </a:p>
          <a:p>
            <a:r>
              <a:t>CNPJ 62696791000193 · Gatilhos de avaliação e liquidação · Excerto da fonte:</a:t>
            </a:r>
          </a:p>
          <a:p>
            <a:r>
              <a:t>5.1. Verif icado excesso de subordinação, ou seja, que a representatividade de Cotas Júnior em relação ao  Patrimônio Líquido da Classe é superior ao Índice de Subordinação (“Excesso de Subordinação”), desde  que assim seja deliberado por maioria dos votos de seus titulares e da maioria dos titulares de Cotas  Seniores, as Cotas Juniores poderão ser objeto de Amortização Extraordinária até o limite do respectivos  Excesso de Subordinação– ainda que tal Amortização Extraordinária ocorra antes do resgate integral das  Cotas Seniores– desde que: (i) seja observada a ordem de alocação de recursos definida no item 6.1  acima Anexo; (ii) não existam Obrigações da Classe vencidas e não pagas; (iii) não estejam em curso  quaisquer Eventos de Avaliação e/ou Eventos de Liquidação; (iv) existam suficientes Ativos Financeiros  e/ou recursos disponíveis; e (vii) permaneçam atendidas todos os Índices de Subordinação.</a:t>
            </a:r>
          </a:p>
          <a:p>
            <a:r>
              <a:t>6. Negociação das Cotas</a:t>
            </a:r>
          </a:p>
          <a:p>
            <a:r>
              <a:t>CNPJ 62696791000193 · Gatilhos de avaliação e liquidação · Condição: Documentos atuais selecionados no inventário por categoria/escopo; a data documental isolada não comprova vigência jurídica.</a:t>
            </a:r>
          </a:p>
          <a:p>
            <a:r>
              <a:t>CNPJ 62696791000193 · Gatilhos de avaliação e liquidação · Motivo: Cláusula primária localizada e citada, mas sua lista/condições extensas não admitem uma síntese literal curta confirmada. O trecho integral permanece nas fontes.</a:t>
            </a:r>
          </a:p>
          <a:p>
            <a:r>
              <a:t>CNPJ 62696791000193 · Gatilhos de avaliação e liquidação · Versão e prevalência: Documentos atuais selecionados no inventário por categoria/escopo; a data documental isolada não comprova vigência jurídica.</a:t>
            </a:r>
          </a:p>
          <a:p>
            <a:r>
              <a:t>CNPJ 55563624000109 · Gatilhos de avaliação e liquidação · Regulamento · ID 1192614 · 2026-04-30 · versão 1 · p. 21 · 11.2 · https://fnet.bmfbovespa.com.br/fnet/publico/visualizarDocumento?id=1192614</a:t>
            </a:r>
          </a:p>
          <a:p>
            <a:r>
              <a:t>CNPJ 55563624000109 · Gatilhos de avaliação e liquidação · Excerto da fonte:</a:t>
            </a:r>
          </a:p>
          <a:p>
            <a:r>
              <a:t>11.2 Os seguintes eventos obrigarão o ADMINISTRADOR a verificar se o Patrimônio Líquido da Classe está negativo  (“Eventos de Verificação do Patrimônio”):</a:t>
            </a:r>
          </a:p>
          <a:p>
            <a:r>
              <a:t> (i) qualquer pedido de declaração judicial de insolvência da Classe;</a:t>
            </a:r>
          </a:p>
          <a:p>
            <a:r>
              <a:t> (ii) qualquer pedido ou declaração judicial de insolvência da Classe Investida;</a:t>
            </a:r>
          </a:p>
          <a:p>
            <a:r>
              <a:t> (iii) identificação de indícios de fraudes envolvendo o lastro dos direitos creditórios da Classe Investida;</a:t>
            </a:r>
          </a:p>
          <a:p>
            <a:r>
              <a:t> (iv) condenação da Classe de natureza judicial e/ou arbitral e/ou administrativa e/ou outras similares ao  pagamento de mais de 20% (vinte por cento) de seu Patrimônio Líquido; e</a:t>
            </a:r>
          </a:p>
          <a:p>
            <a:r>
              <a:t> (v) caso caracterizado quaisquer dos Eventos de Avaliação e/ou Eventos de Liquidação.</a:t>
            </a:r>
          </a:p>
          <a:p>
            <a:r>
              <a:t> Eventos de Liquidação</a:t>
            </a:r>
          </a:p>
          <a:p>
            <a:r>
              <a:t>CNPJ 55563624000109 · Gatilhos de avaliação e liquidação · Regulamento · ID 1192614 · 2026-04-30 · versão 1 · p. 20 · https://fnet.bmfbovespa.com.br/fnet/publico/visualizarDocumento?id=1192614</a:t>
            </a:r>
          </a:p>
          <a:p>
            <a:r>
              <a:t>CNPJ 55563624000109 · Gatilhos de avaliação e liquidação · Excerto da fonte:</a:t>
            </a:r>
          </a:p>
          <a:p>
            <a:r>
              <a:t>(vi) alterar as características, vantagens, direitos e obrigações 90% (noventa por cento) do total das Cotas  das Cotas; emitidas</a:t>
            </a:r>
          </a:p>
          <a:p>
            <a:r>
              <a:t> (vii) alterar critérios e procedimentos para resgate de Cotas  mediante dação em pagamento de Cotas da Classe Maioria do total das Cotas emitidas  Investida;</a:t>
            </a:r>
          </a:p>
          <a:p>
            <a:r>
              <a:t> (viii) aprovar a emissão de novas Cotas fora do Capital  Maioria do total das Cotas emitidas  Autorizado;</a:t>
            </a:r>
          </a:p>
          <a:p>
            <a:r>
              <a:t> (ix) alterar a Política de Investimentos; 90% (noventa por cento) do total das Cotas  emitidas</a:t>
            </a:r>
          </a:p>
          <a:p>
            <a:r>
              <a:t> (x) alterar o Critério de Elegibilidade; 90% (noventa por cento) do total das Cotas  emitidas</a:t>
            </a:r>
          </a:p>
          <a:p>
            <a:r>
              <a:t> (xi) alterar os Eventos de Avaliação, os Eventos de Liquidação  90% (noventa por cento) do total das Cotas  e/ou das consequências deles decorrentes em função do  emitidas  previsto neste Anexo;</a:t>
            </a:r>
          </a:p>
          <a:p>
            <a:r>
              <a:t> (xii) deliberar sobre o plano de resolução do Patrimônio Líquido  Maioria do total das Cotas emitidas  negativo da Classe, nos termos da Resolução CVM 175; e</a:t>
            </a:r>
          </a:p>
          <a:p>
            <a:r>
              <a:t> (xiii) deliberar sobre o pedido de declaração judicial de 90% (noventa por cento) do total das Cotas  insolvência da Classe. emitidas</a:t>
            </a:r>
          </a:p>
          <a:p>
            <a:r>
              <a:t>CNPJ 55563624000109 · Gatilhos de avaliação e liquidação · Regulamento · ID 1192614 · 2026-04-30 · versão 1 · p. 2 · 1.3 · https://fnet.bmfbovespa.com.br/fnet/publico/visualizarDocumento?id=1192614</a:t>
            </a:r>
          </a:p>
          <a:p>
            <a:r>
              <a:t>CNPJ 55563624000109 · Gatilhos de avaliação e liquidação · Excerto da fonte:</a:t>
            </a:r>
          </a:p>
          <a:p>
            <a:r>
              <a:t>1.3 O Anexo dispõe, sem prejuízo de outros requisitos e informações previstos na regulamentação, sobre os  seguintes aspectos relacionados à Classe: (i) características gerais, incluindo a indicação dos demais prestadores  de serviços; (ii) responsabilidade dos cotistas e regime de insolvência; (iii) características, direitos, condições de  emissão, subscrição, integralização, amortização e resgate das Cotas; (iv) ordem de alocação de recursos; (v)  assembleia especial de cotistas e demais procedimentos aplicáveis às manifestações de vontade dos cotistas; (vi)  remuneração dos prestadores de serviços; (vii) política de investimento e composição e diversificação da  Carteira; (viii) eventos de avaliação, eventos de liquidação e procedimentos de liquidação antecipada da Classe;</a:t>
            </a:r>
          </a:p>
          <a:p>
            <a:r>
              <a:t> (ix) origem dos Direitos Creditórios; (x) Critério de Elegibilidade; (xi) custos referentes à defesa dos interesses da  Classe; e (xii) fatores de risco.</a:t>
            </a:r>
          </a:p>
          <a:p>
            <a:r>
              <a:t>CNPJ 55563624000109 · Gatilhos de avaliação e liquidação · Condição: Documentos atuais selecionados no inventário por categoria/escopo; a data documental isolada não comprova vigência jurídica.</a:t>
            </a:r>
          </a:p>
          <a:p>
            <a:r>
              <a:t>CNPJ 55563624000109 · Gatilhos de avaliação e liquidação · Versão e prevalência: Documentos atuais selecionados no inventário por categoria/escopo; a data documental isolada não comprova vigência jurídica.</a:t>
            </a:r>
          </a:p>
          <a:p>
            <a:r>
              <a:t>CNPJ 62552447000120 · Gatilhos de avaliação e liquidação · Regulamento · ID 1200623 · 2026-05-21 · versão 1 · p. 2 · 1.4 · https://fnet.bmfbovespa.com.br/fnet/publico/visualizarDocumento?id=1200623</a:t>
            </a:r>
          </a:p>
          <a:p>
            <a:r>
              <a:t>CNPJ 62552447000120 · Gatilhos de avaliação e liquidação · Excerto da fonte:</a:t>
            </a:r>
          </a:p>
          <a:p>
            <a:r>
              <a:t>1.4 O Anexo de cada classe de Cotas (“Classe”), conforme aplicável, dispõe, sem prejuízo de outros  requisitos e inf ormações previstos na regulamentação, sobre: (i) características gerais, incluindo a  indicação dos demais prestadores de serviços; (ii) responsabilidade dos Cotistas e regime de  insolvência; (iii) características, direitos, condições de emissão, subscrição, integralização,  Amortização e resgate das Cotas; (iv) ordem de alocação de recursos; (v) Assembleia Especial e  demais procedimentos aplicáveis às manifestações de vontade dos Cotistas; (vi) remuneração dos  prestadores de serviços; (vii) política de investimento e composição e diversificação da Carteira; (viii)  eventos de avaliação, eventos de liquidação e liquidação antecipada da Classe; (ix) origem dos direitos  creditórios; (x) critérios de elegibilidade; (xi) custos referentes à defesa dos interesses de cada Classe;</a:t>
            </a:r>
          </a:p>
          <a:p>
            <a:r>
              <a:t> e (xii) f atores de risco.</a:t>
            </a:r>
          </a:p>
          <a:p>
            <a:r>
              <a:t>CNPJ 62552447000120 · Gatilhos de avaliação e liquidação · Regulamento · ID 1200623 · 2026-05-21 · versão 1 · p. 21 · 10.2 · https://fnet.bmfbovespa.com.br/fnet/publico/visualizarDocumento?id=1200623</a:t>
            </a:r>
          </a:p>
          <a:p>
            <a:r>
              <a:t>CNPJ 62552447000120 · Gatilhos de avaliação e liquidação · Excerto da fonte:</a:t>
            </a:r>
          </a:p>
          <a:p>
            <a:r>
              <a:t>10.2 Os seguintes quóruns deverão ser observados pela Assembleia Especial ao deliberar as matérias  abaixo:</a:t>
            </a:r>
          </a:p>
          <a:p>
            <a:r>
              <a:t>(i) deliberar sobre substituição de Prestadores de Serviços Unanimidade dos Cotistas  Essenciais, observado o disposto no art. 70, §1º da Parte Geral  da Resolução CVM 175, quando aplicável;</a:t>
            </a:r>
          </a:p>
          <a:p>
            <a:r>
              <a:t>(ii) deliberar sobre elevação da Taxa Global, inclusive na Unanimidade dos Cotistas  hipótese de restabelecimento de taxa que tenha sido objeto de  redução;</a:t>
            </a:r>
          </a:p>
          <a:p>
            <a:r>
              <a:t>(iii) deliberar sobre incorporação, fusão, cisão total ou parcial, Unanimidade dos Cotistas  a transf ormação ou liquidação da Classe;</a:t>
            </a:r>
          </a:p>
          <a:p>
            <a:r>
              <a:t>(iv) deliberar sobre a prestação de f iança, aval, aceite ou Unanimidade dos Cotistas  qualquer outra f orma de retenção de risco;</a:t>
            </a:r>
          </a:p>
          <a:p>
            <a:r>
              <a:t>(v) alterações das características, vantagens, direitos e Unanimidade dos Cotistas  obrigações das Cotas;</a:t>
            </a:r>
          </a:p>
          <a:p>
            <a:r>
              <a:t>(vi) alterar critérios e procedimentos para Amortização Unanimidade dos Cotistas  mediante dação em pagamento de Direitos Creditórios;</a:t>
            </a:r>
          </a:p>
          <a:p>
            <a:r>
              <a:t>(vii) aprovar emissão de novas Cotas; Unanimidade dos Cotistas</a:t>
            </a:r>
          </a:p>
          <a:p>
            <a:r>
              <a:t>(viii) alterações na Política de Investimentos; Unanimidade dos Cotistas</a:t>
            </a:r>
          </a:p>
          <a:p>
            <a:r>
              <a:t>(ix) alterações nos Critérios de Elegibilidade e nas Condições Unanimidade dos Cotistas  de Endosso;</a:t>
            </a:r>
          </a:p>
          <a:p>
            <a:r>
              <a:t>(x) alteração dos Eventos de Avaliação, dos Eventos de Unanimidade dos Cotistas  Liquidação e/ou das consequências deles decorrentes em  f unção do previsto neste Regulamento;</a:t>
            </a:r>
          </a:p>
          <a:p>
            <a:r>
              <a:t>(xi) plano de resolução do Patrimônio Líquido negativo da Unanimidade dos Cotistas  Classe, nos termos da Resolução CVM 175; e</a:t>
            </a:r>
          </a:p>
          <a:p>
            <a:r>
              <a:t>(xii) pedido de declaração judicial de insolvência da Classe. Unanimidade dos Cotistas</a:t>
            </a:r>
          </a:p>
          <a:p>
            <a:r>
              <a:t>CNPJ 62552447000120 · Gatilhos de avaliação e liquidação · Regulamento · ID 1200623 · 2026-05-21 · versão 1 · p. 22 · 11.1 · https://fnet.bmfbovespa.com.br/fnet/publico/visualizarDocumento?id=1200623</a:t>
            </a:r>
          </a:p>
          <a:p>
            <a:r>
              <a:t>CNPJ 62552447000120 · Gatilhos de avaliação e liquidação · Excerto da fonte:</a:t>
            </a:r>
          </a:p>
          <a:p>
            <a:r>
              <a:t>11.1 As seguintes hipóteses são consideradas eventos de avaliação (“Eventos de Avaliação”):</a:t>
            </a:r>
          </a:p>
          <a:p>
            <a:r>
              <a:t> (i) em caso de regime de administração especial temporária - RAET, intervenção ou liquidação  extrajudicial do Endossante, da instituição f inanceira prestadora dos serviços de agente de  conta vinculada à Classe (“Agente de Conta Vinculada”) e/ou do Agente de Retenção e  Cobrança;</a:t>
            </a:r>
          </a:p>
          <a:p>
            <a:r>
              <a:t> (ii) não cumprimento, pelo Endossante, de qualquer de suas obrigações estabelecidas nos  Contratos de Endosso, no Regulamento ou neste Anexo I, desde que esse não cumprimento  não seja devidamente sanado ou justificado dentro de 5 (cinco) Dias Úteis a partir do  recebimento, pelo Endossante, de notificação, por escrito, enviada pelo Administrador,  inf ormando-o da ocorrência do respectivo evento;</a:t>
            </a:r>
          </a:p>
          <a:p>
            <a:r>
              <a:t> (iii) não cumprimento, pelo Endossante e/ou pelo Agente de Retenção e Cobrança, de sua  obrigação de entregar os (a) arquivos eletrônicos disponibilizados mensalmente pela Dataprev  ao Endossante, contendo (1) as Consignações processadas pela Dataprev no respectivo mês,  identificando os Devedores e os valores que serão descontados de suas respectivas folhas de  pagamentos, bem como (2) a totalidade das operações pendentes de crédito consignado  concedidas pelo Endossante e indicando todos os Direitos Creditórios devi dos mediante  Consignação na próxima data de liquidação (“Arquivos Dataprev”) e/ou (b) os arquivos  eletrônicos disponibilizados mensalmente pela CEF ao Endossante, contendo os pagamentos  de Saque-aniversário processados pela CEF no respectivo mês devidos à Classe, identificando  os Devedores e os valores que serão descontados de seus respectivos Saques-aniversário  (“Arquivos de Liquidação Saque-aniversário”) ao Custodiante dentro do prazo estabelecido  neste Anexo I, desde que esse não cumprimento não seja dev idamente sanado ou justificado  dentro de 5 (cinco) Dias Úteis a partir do recebimento, pelo Endossante e/ou pelo Agente de  Retenção e Cobrança, de notificação, por escrito, enviada pelo Custodiante, inf ormando-o da  ocorrência do respectivo evento;</a:t>
            </a:r>
          </a:p>
          <a:p>
            <a:r>
              <a:t> (iv) não cumprimento, pelo Endossante e/ou pelo Agente de Retenção e Cobrança, de qualquer de  suas obrigações de entregar ao Gestor, ou a terceiros por ele indicados, os Documentos  Comprobatórios e Documentos Suporte relativos aos Direitos Creditórios que tenham sido  endossados à Classe, dentro do prazo estabelecido neste Anexo I, desde que esse não  cumprimento não seja devidamente sanado ou justificado dentro de 5 (cinco) Dias Úteis a partir  do recebimento, pelo Endossante e/ou pelo Agente de Retenção e Cobrança, de notificação,  por escrito, enviada pelo Custodiante, inf ormando- o da ocorrência do respectivo evento;</a:t>
            </a:r>
          </a:p>
          <a:p>
            <a:r>
              <a:t> (v) não cumprimento, pelo Agente de Retenção e Cobrança, de qualquer de suas obrigações  estabelecidas nos Contratos de Endosso, no Regulamento, neste Anexo I ou nos Contratos de  Retenção/Cobrança, desde que esse não cumprimento não seja devidamente sanado ou</a:t>
            </a:r>
          </a:p>
          <a:p>
            <a:r>
              <a:t>CNPJ 62552447000120 · Gatilhos de avaliação e liquidação · Condição: Documentos atuais selecionados no inventário por categoria/escopo; a data documental isolada não comprova vigência jurídica.</a:t>
            </a:r>
          </a:p>
          <a:p>
            <a:r>
              <a:t>CNPJ 62552447000120 · Gatilhos de avaliação e liquidação · Versão e prevalência: Documentos atuais selecionados no inventário por categoria/escopo; a data documental isolada não comprova vigência jurídica.</a:t>
            </a:r>
          </a:p>
          <a:p>
            <a:r>
              <a:t>CNPJ 63953620000165 · Gatilhos de avaliação e liquidação · Anexo ao Regulamento · ID 1222863 · 2026-06-02 · versão 1 · p. 24 · 4.1 · https://fnet.bmfbovespa.com.br/fnet/publico/visualizarDocumento?id=1222863</a:t>
            </a:r>
          </a:p>
          <a:p>
            <a:r>
              <a:t>CNPJ 63953620000165 · Gatilhos de avaliação e liquidação · Excerto da fonte:</a:t>
            </a:r>
          </a:p>
          <a:p>
            <a:r>
              <a:t>4.1. Verificado que o Índice de Subordinação Alvo é atendido, ou seja, que a representatividade de Cotas Subordinadas  em relação ao Patrimônio Líquido da Classe é superior à 10,00% (dez por cento) (“Índice de Subordinação Alvo”), as  Cotas Subordinadas poderão ser objeto de Amortização Extraordinária até o limite excedente ao Índice de  Subordinação Alvo– ainda que tal Amortização Extraordinária ocorra antes do resgate integral das Cotas Seniores –  desde que: (i) seja observada a ordem de alocação de recursos definida no item 8.1 acima Anexo; (ii) não existam  Obrigações da Classe vencidas e não pagas; (iii) não estejam em curso quaisquer Eventos de Avaliação e/ou Eventos  de Liquidação; (iv) existam suficientes Ativos Financeiros e/ou recursos disponíveis; e (vii) permaneçam atendidas  todos os Índices de Subordinação.</a:t>
            </a:r>
          </a:p>
          <a:p>
            <a:r>
              <a:t> 5. Amortização e Resgate das Cotas Subordinadas</a:t>
            </a:r>
          </a:p>
          <a:p>
            <a:r>
              <a:t>CNPJ 63953620000165 · Gatilhos de avaliação e liquidação · Anexo ao Regulamento · ID 1222863 · 2026-06-02 · versão 1 · p. 13 · 10.2 · https://fnet.bmfbovespa.com.br/fnet/publico/visualizarDocumento?id=1222863</a:t>
            </a:r>
          </a:p>
          <a:p>
            <a:r>
              <a:t>CNPJ 63953620000165 · Gatilhos de avaliação e liquidação · Excerto da fonte:</a:t>
            </a:r>
          </a:p>
          <a:p>
            <a:r>
              <a:t>10.2 Os seguintes quóruns deverão ser observados pela Assembleia Especial de Cotistas ao deliberar as matérias  abaixo:</a:t>
            </a:r>
          </a:p>
          <a:p>
            <a:r>
              <a:t> Matéria Quórum</a:t>
            </a:r>
          </a:p>
          <a:p>
            <a:r>
              <a:t> (i) deliberar sobre as demonstrações contábeis da Classe; Maioria das Cotas presentes</a:t>
            </a:r>
          </a:p>
          <a:p>
            <a:r>
              <a:t> (ii) alterar o presente Anexo; Maioria das Cotas de cada Subclasse</a:t>
            </a:r>
          </a:p>
          <a:p>
            <a:r>
              <a:t> (iii) deliberar sobre substituição de Prestadores de Serviços Maioria das Cotas da Classe  Essenciais, observado o disposto no Artigo 70, §1º da parte geral da  Resolução CVM 175, quando aplicável;</a:t>
            </a:r>
          </a:p>
          <a:p>
            <a:r>
              <a:t> (iv) deliberar sobre elevação da Taxa de Administração e/ou Taxa de Maioria das Cotas da de cada  Gestão, inclusive na hipótese de restabelecimento de taxa que tenha Subclasse  sido objeto de redução;</a:t>
            </a:r>
          </a:p>
          <a:p>
            <a:r>
              <a:t> (v) deliberar sobre incorporação, fusão, cisão total ou parcial, a Maioria das Cotas de cada Subclasse  transformação ou liquidação da Classe;</a:t>
            </a:r>
          </a:p>
          <a:p>
            <a:r>
              <a:t> (vi) alterações das características, vantagens, direitos e obrigações Maioria das Cotas Subscritas da  das Cotas; Classe observado o disposto nos  itens 10.5 a 10.8 abaixo</a:t>
            </a:r>
          </a:p>
          <a:p>
            <a:r>
              <a:t> (vii) alterar critérios e procedimentos para Amortização mediante Maioria das Cotas Subscritas da  dação em pagamento de Direitos Creditórios; Classe</a:t>
            </a:r>
          </a:p>
          <a:p>
            <a:r>
              <a:t> (viii) aprovar emissão de novas Cotas da Classe; Maioria das Cotas de cada Subclasse</a:t>
            </a:r>
          </a:p>
          <a:p>
            <a:r>
              <a:t> (ix) alterações na Política de Investimentos; Maioria das Cotas de cada Subclasse</a:t>
            </a:r>
          </a:p>
          <a:p>
            <a:r>
              <a:t> (x) alterações nos Critérios de Elegibilidade e nas Condições de Maioria das Cotas de cada Subclasse  Cessão;</a:t>
            </a:r>
          </a:p>
          <a:p>
            <a:r>
              <a:t> (xi) celebração e alteração de Contrato de Promessa de Endosso Maioria das Cotas de cada Subclasse  e/ou do Contrato de Retenção e Cobrança;</a:t>
            </a:r>
          </a:p>
          <a:p>
            <a:r>
              <a:t> (xii) alteração do Contrato de Conta Vinculada; Maioria das Cotas de cada Subclasse</a:t>
            </a:r>
          </a:p>
          <a:p>
            <a:r>
              <a:t> (xiii) alteração dos Eventos de Avaliação, dos Eventos de Liquidação Maioria das Cotas de cada Subclasse  e/ou das consequências deles decorrentes em função do previsto  neste Regulamento;</a:t>
            </a:r>
          </a:p>
          <a:p>
            <a:r>
              <a:t> (xiv) se um Evento de Avaliação constitui um Evento de Liquidação; Maioria das Cotas presentes</a:t>
            </a:r>
          </a:p>
          <a:p>
            <a:r>
              <a:t> (xv) plano de resolução do Patrimônio Líquido negativo da Classe, Maioria das Cotas presentes  nos termos da Resolução CVM 175; e</a:t>
            </a:r>
          </a:p>
          <a:p>
            <a:r>
              <a:t> (xvi) pedido de declaração judicial de insolvência da Classe. Maioria das Cotas presentes</a:t>
            </a:r>
          </a:p>
          <a:p>
            <a:r>
              <a:t> (xvii) alterações na disciplina, critérios de constituição, manutenção Maioria das Cotas de cada Subclasse  ou utilização da Reserva de Caixa, bem como deliberação acerca da</a:t>
            </a:r>
          </a:p>
          <a:p>
            <a:r>
              <a:t>CNPJ 63953620000165 · Gatilhos de avaliação e liquidação · Anexo ao Regulamento · ID 1222863 · 2026-06-02 · versão 1 · p. 14 · 10.8 · https://fnet.bmfbovespa.com.br/fnet/publico/visualizarDocumento?id=1222863</a:t>
            </a:r>
          </a:p>
          <a:p>
            <a:r>
              <a:t>CNPJ 63953620000165 · Gatilhos de avaliação e liquidação · Excerto da fonte:</a:t>
            </a:r>
          </a:p>
          <a:p>
            <a:r>
              <a:t>10.8 As deliberações que tenham por objeto o aumento do Índice de Subordinação Sênior apenas serão aprovadas se  assim deliberado: (i) pelos votos dos titulares da maioria das Cotas em circulação de cada uma das Séries de  Cotas Seniores; e (ii) pelo votos dos titulares da maioria Cotas Subordinadas em circulação.</a:t>
            </a:r>
          </a:p>
          <a:p>
            <a:r>
              <a:t> CAPÍTULO 11 – EVENTOS DE AVALIAÇÃO, EVENTOS DE LIQUIDAÇÃO, E PROCEDIMENTOS DE LIQUIDAÇÃO  Eventos de Avaliação</a:t>
            </a:r>
          </a:p>
          <a:p>
            <a:r>
              <a:t>CNPJ 63953620000165 · Gatilhos de avaliação e liquidação · Condição: Documentos atuais selecionados no inventário por categoria/escopo; a data documental isolada não comprova vigência jurídica.</a:t>
            </a:r>
          </a:p>
          <a:p>
            <a:r>
              <a:t>CNPJ 63953620000165 · Gatilhos de avaliação e liquidação · Versão e prevalência: Documentos atuais selecionados no inventário por categoria/escopo; a data documental isolada não comprova vigência jurídica.</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Eventos e cura</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Eventos de avaliação · Regulamento · ID 670691 · 28/04/2024 · versão Regulamento — referência 28/04/2024 · p. 17 · Anexo I, 11.1(i) · https://fnet.bmfbovespa.com.br/fnet/publico/visualizarDocumento?id=670691</a:t>
            </a:r>
          </a:p>
          <a:p>
            <a:r>
              <a:t>CNPJ 54871427000194 · Eventos de avaliação · Excerto da fonte:</a:t>
            </a:r>
          </a:p>
          <a:p>
            <a:r>
              <a:t>11.1 As seguintes hipóteses são consideradas Eventos de Avaliação: (i) em caso de regime de administração especial temporária – RAET, intervenção ou liquidação extrajudicial do Endossante ou do Agente de Garantias; BTG Pactual SAC: 0800 772 28 27 - Ouvidoria: 0800 722 00 48 - btgpactual.com 11</a:t>
            </a:r>
          </a:p>
          <a:p>
            <a:r>
              <a:t>CNPJ 54871427000194 · Eventos de avaliação · Regulamento · ID 670691 · 28/04/2024 · versão Regulamento — referência 28/04/2024 · p. 18 · Anexo I, 11.1(ii)–(viii) · https://fnet.bmfbovespa.com.br/fnet/publico/visualizarDocumento?id=670691</a:t>
            </a:r>
          </a:p>
          <a:p>
            <a:r>
              <a:t>CNPJ 54871427000194 · Eventos de avaliação · Excerto da fonte:</a:t>
            </a:r>
          </a:p>
          <a:p>
            <a:r>
              <a:t>(ii) não cumprimento, por qualquer dos Endossantes, de qualquer de suas obrigações estabelecidas em cada Contrato de Endosso ou neste Regulamento e Anexo, desde que esse não cumprimento não seja devidamente sanado ou justificado dentro de 10 (dez) Dias Úteis a partir do recebimento, pelo Endossante, de notificação, por escrito, enviada pelo Administrador, inf ormando-o da ocorrência do respectivo evento; (iii) não cumprimento, por qualquer dos Endossantes, de suas obrigações de entregar o Arquivo de Liquidação Antecipada e o Arquivo de Posição das CCBs ao CUSTODIANTE dentro do prazo estabelecido neste Regulamento, desde que esse não cumprimento não seja devidamente sanado ou justificado dentro dos prazos acordados no respectivo Contrato de Endosso, a partir do recebimento, pelos Endossantes, de notificação, por escrito, enviada pelo CUSTODIANTE, inf ormando-o da ocorrência do respectivo evento; (iv) não cumprimento, por qualquer dos Endossantes, de qualquer de suas obrigações de entregar ao CUSTODIANTE, ou a terceiros por ele indicados, os Documentos Comprobatórios relativos</a:t>
            </a:r>
          </a:p>
          <a:p>
            <a:r>
              <a:t>CNPJ 54871427000194 · Eventos de avaliação · Regulamento · ID 670691 · 28/04/2024 · versão Regulamento — referência 28/04/2024 · p. 19 · Anexo I, 11.1.1–11.1.3 · https://fnet.bmfbovespa.com.br/fnet/publico/visualizarDocumento?id=670691</a:t>
            </a:r>
          </a:p>
          <a:p>
            <a:r>
              <a:t>CNPJ 54871427000194 · Eventos de avaliação · Excerto da fonte:</a:t>
            </a:r>
          </a:p>
          <a:p>
            <a:r>
              <a:t>11.1.1 Na ocorrência de qualquer Evento de Avaliação, será convocada Assembleia Especial de Cotistas, para avaliar o grau de comprometimento das atividades d a Classe em razão do Evento de Avaliação, podendo a Assembleia Especial de Cotistas deliberar: (i) pela continuidade das atividades da Classe; ou (ii) que o Evento de Avaliação que deu causa à Assembleia Especial de Cotistas constitui um Evento de Liquidação, hipótese em que deverão ser deliberadas as matérias ref eridas no item 11.4.1 abaixo e adotados os procedimentos previstos no item 11.4.3 abaixo. 11.1.2 No momento de verificação de qualquer Evento de Avaliação, os procedimentos de aquisição de novos Direitos Creditórios deverão ser imediatamente interrompidos, até que: (i) seja prof erida decisão final em Assembleia Especial de Cotistas, convocada especificamente para este f im, nos termos do item 11.1.1 acima, autorizando a retomada dos procedimentos de aquisição de novos Direitos Creditórios e resgate das Cotas; e/ou (ii) seja sanado o Evento de Avaliação. 11.1.3 Na hipótese de não instalação da Assembleia Especial de Cotistas por f alta d</a:t>
            </a:r>
          </a:p>
          <a:p>
            <a:r>
              <a:t>CNPJ 54871427000194 · Eventos de avaliação · Versão e prevalência: Leitura específica das cláusulas indicadas; condições e conflitos preservados. Seleção documental atual não comprova vigência jurídica por data isolada.</a:t>
            </a:r>
          </a:p>
          <a:p>
            <a:r>
              <a:t>CNPJ 54871427000194 · Eventos de avaliação · Resumo do histórico: {"count": 1, "dates": ["2024-04-19"], "document_count": 1, "sources": [{"document_id": "670689", "title": "Regulamento", "reference_date": "2024-04-19", "version": "1", "page": 17, "clause": "10.2", "url": "https://fnet.bmfbovespa.com.br/fnet/publico/visualizarDocumento?id=670689", "sha256": "891bc9bc5d87bbc02ec139077a84d2702eb81ea02035fb71d24f5b8366b94a0b"}], "reference": {"path": "history/54871427000194.json", "criterion_id": "evaluation", "total_count": 1, "preview_count": 1, "full_text_deferred": true, "sha256": "35d7cd99be50c7287c9fb675cf4f2e736002315295a225a9efa79c8d9186d874"}}</a:t>
            </a:r>
          </a:p>
          <a:p>
            <a:r>
              <a:t>CNPJ 60010416000112 · Eventos de avaliação · Regulamento · ID 1051393 · 09/10/2025 · versão Regulamento09/10/2025 · p. 19 · AnexoI10.1(i)–(vii) · https://fnet.bmfbovespa.com.br/fnet/publico/visualizarDocumento?id=1051393</a:t>
            </a:r>
          </a:p>
          <a:p>
            <a:r>
              <a:t>CNPJ 60010416000112 · Eventos de avaliação · Excerto da fonte:</a:t>
            </a:r>
          </a:p>
          <a:p>
            <a:r>
              <a:t>10.1 As seguintes hipóteses são consideradas Eventos de Avaliação: (i) em caso de regime de administração especial temporária - RAET, intervenção ou liquidação extrajudicial do Endossante; (ii) em caso de desenquadramento do Índice de Subordinação por 10 (dez) dias úteis consecutivos; (iii) não cumprimento, pelo Endossante, de qualquer de suas obrigações estabelecidas no Contrato de Endosso ou neste Anexo I, desde que esse não cumprimento não seja devidamente sanado ou justif icado dentro de 10 (dez) Dias Úteis a partir do recebimento, pelo Endossante, de noti</a:t>
            </a:r>
          </a:p>
          <a:p>
            <a:r>
              <a:t>CNPJ 60010416000112 · Eventos de avaliação · Regulamento · ID 1051393 · 09/10/2025 · versão Regulamento09/10/2025 · p. 20 · AnexoI10.1(viii)–(xiv) · https://fnet.bmfbovespa.com.br/fnet/publico/visualizarDocumento?id=1051393</a:t>
            </a:r>
          </a:p>
          <a:p>
            <a:r>
              <a:t>CNPJ 60010416000112 · Eventos de avaliação · Excerto da fonte:</a:t>
            </a:r>
          </a:p>
          <a:p>
            <a:r>
              <a:t>(xiii) no caso de não serem realizados pagamentos de amortização e/ou resgate de Cotas Seniores, nos termos, prazos e condições previstos no presente Regulamento e nos respectivos Apêndices e Suplementos, não sanados em até 2 (dois) Dias Úteis contados do prazo final do respectivo evento; (xiv) no caso de pagamento de resgate e/ou amortização de Cotas Subordinadas em desacordo com os termos, prazos e condições previstos no presente Regulamento e no respectivo Apêndice. 10.1.1 Na ocorrência de qualquer Evento de Avaliação, será convocada Assembleia Especial de Cotistas,</a:t>
            </a:r>
          </a:p>
          <a:p>
            <a:r>
              <a:t>CNPJ 60010416000112 · Eventos de avaliação · Versão e prevalência: Leitura específica das cláusulas indicadas; condições e conflitos preservados. Seleção documental atual não comprova vigência jurídica por data isolada.</a:t>
            </a:r>
          </a:p>
          <a:p>
            <a:r>
              <a:t>CNPJ 60010416000112 · Eventos de avaliação · Resumo do histórico: {"count": 2, "dates": ["2025-03-20"], "document_count": 2, "sources": [{"document_id": "993785", "title": "Instrumento Particular de Constituição/Encerramento do Fundo", "reference_date": "2025-03-20", "version": "1", "page": 8, "url": "https://fnet.bmfbovespa.com.br/fnet/publico/visualizarDocumento?id=993785", "sha256": "0826e0eae2c51afabf59bbc49fc7647598d03da5ca6de0f9725850a8bd6af457"}, {"document_id": "993786", "title": "Regulamento", "reference_date": "2025-03-20", "version": "1", "page": 48, "clause": "2.1.2", "url": "https://fnet.bmfbovespa.com.br/fnet/publico/visualizarDocumento?id=993786", "sha256": "fd0fdd369a195510d81f81f505195a0b09e5f43522a990afa7d58c4f872921c8"}], "reference": {"path": "history/60010416000112.json", "criterion_id": "evaluation", "total_count": 2, "preview_count": 2, "full_text_deferred": true, "sha256": "8e2bd813f4c51cf01f6bfaad164bafe69d2bbb192f753eac92da3a01c2e63046"}}</a:t>
            </a:r>
          </a:p>
          <a:p>
            <a:r>
              <a:t>CNPJ 62696791000193 · Eventos de avaliação · Regulamento · ID 1143317 · 20/03/2026 · versão Regulamento — referência 20/03/2026 · p. 37 · Apêndice Júnior, 5.1(iii) · https://fnet.bmfbovespa.com.br/fnet/publico/visualizarDocumento?id=1143317</a:t>
            </a:r>
          </a:p>
          <a:p>
            <a:r>
              <a:t>CNPJ 62696791000193 · Eventos de avaliação · Excerto da fonte:</a:t>
            </a:r>
          </a:p>
          <a:p>
            <a:r>
              <a:t>5.1. Verif icado excesso de subordinação, ou seja, que a representatividade de Cotas Júnior em relação ao Patrimônio Líquido da Classe é superior ao Índice de Subordinação (“Excesso de Subordinação”), desde que assim seja deliberado por maioria dos votos de seus titulares e da maioria dos titulares de Cotas Seniores, as Cotas Juniores poderão ser objeto de Amortização Extraordinária até o limite do respectivos Excesso de Subordinação– ainda que tal Amortização Extraordinária ocorra antes do resgate integral das Cotas Seniores– desde que: (i) seja observada a ordem de alocação de recursos definida no item 6.1 acima Anexo; (ii) não existam Obrigações da Classe vencidas e não pagas; (iii) não estejam em curso quaisquer Eventos de Avaliação e/ou Eventos de Liquidação; (iv) existam suficientes Ativos Financeiros e/ou recursos disponíveis; e (vii) permaneçam atendidas todos os Índices de Subordinação. 6. Negociação das Cotas 6.1. As Cotas Subordinadas Juniores não poderão ser negociadas no mercado secundário. 7. Resgate 7.1. As Cotas Subordinadas Juniores apenas serão resgatadas após o resgate integral das Cotas Seniores da Classe, na respectiva Data de Resgate ou em caso de liquidação antecipada da Classe. BTG Pactual</a:t>
            </a:r>
          </a:p>
          <a:p>
            <a:r>
              <a:t>CNPJ 62696791000193 · Eventos de avaliação · Condição: Referência preservada como ausência específica; não importar gatilhos de outros fundos.</a:t>
            </a:r>
          </a:p>
          <a:p>
            <a:r>
              <a:t>CNPJ 62696791000193 · Eventos de avaliação · Motivo: O apêndice condiciona amortização à ausência de Eventos de Avaliação e de Liquidação, mas o PDF consolidado de 48 páginas não define a lista de Eventos de Avaliação nem seus prazos de cura. O regulamento FIDC anterior à transformação não foi obtido.</a:t>
            </a:r>
          </a:p>
          <a:p>
            <a:r>
              <a:t>CNPJ 62696791000193 · Eventos de avaliação · Versão e prevalência: Leitura específica das cláusulas indicadas; condições e conflitos preservados. Seleção documental atual não comprova vigência jurídica por data isolada.</a:t>
            </a:r>
          </a:p>
          <a:p>
            <a:r>
              <a:t>CNPJ 55563624000109 · Eventos de avaliação · Regulamento · ID 1192614 · 30/04/2026 · versão Regulamento30/04/2026 · p. 20 · AnexoI11.1(i)–(v) · https://fnet.bmfbovespa.com.br/fnet/publico/visualizarDocumento?id=1192614</a:t>
            </a:r>
          </a:p>
          <a:p>
            <a:r>
              <a:t>CNPJ 55563624000109 · Eventos de avaliação · Excerto da fonte:</a:t>
            </a:r>
          </a:p>
          <a:p>
            <a:r>
              <a:t>11.1 As seguintes hipóteses são consideradas Eventos de Avaliação: (i) inobservância pelo ADMINISTRADOR, pelo CUSTODIANTE e/ou pelo GESTOR de seus deveres e obrigações previstos neste Anexo, desde que, uma vez notificados para sanar ou justificar o descumprimento, o ADMINISTRADOR, o CUSTODIANTE e/ou o GESTOR, conforme o caso, não o sane no prazo de 5 (cinco) Dias Úteis contados do recebimento da referida notificação; (ii) aquisição, pela Classe, de Cotas da Classe Investida que estejam em desacordo com o Critério de</a:t>
            </a:r>
          </a:p>
          <a:p>
            <a:r>
              <a:t>CNPJ 55563624000109 · Eventos de avaliação · Versão e prevalência: Leitura específica das cláusulas indicadas; condições e conflitos preservados. Seleção documental atual não comprova vigência jurídica por data isolada.</a:t>
            </a:r>
          </a:p>
          <a:p>
            <a:r>
              <a:t>CNPJ 62552447000120 · Eventos de avaliação · Regulamento · ID 1200623 · 21/05/2026 · versão Consolidado21/05/2026 aprovado pelo ato1200625 · p. 22 · AnexoI11.1(i)–(v) · https://fnet.bmfbovespa.com.br/fnet/publico/visualizarDocumento?id=1200623</a:t>
            </a:r>
          </a:p>
          <a:p>
            <a:r>
              <a:t>CNPJ 62552447000120 · Eventos de avaliação · Excerto da fonte:</a:t>
            </a:r>
          </a:p>
          <a:p>
            <a:r>
              <a:t>11.1 As seguintes hipóteses são consideradas eventos de avaliação (“Eventos de Avaliação”): (i) em caso de regime de administração especial temporária - RAET, intervenção ou liquidação extrajudicial do Endossante, da instituição f inanceira prestadora dos serviços de agente de conta vinculada à Classe (“Agente de Conta Vinculada”) e/ou do Agente de Retenção e Cobrança; (ii) não cumprimento, pelo Endossante, de qualquer de suas obrigações estabelecidas nos Contratos de Endosso, no Regulamento ou neste Anexo I, desde que esse não cumprimento não se</a:t>
            </a:r>
          </a:p>
          <a:p>
            <a:r>
              <a:t>CNPJ 62552447000120 · Eventos de avaliação · Regulamento · ID 1200623 · 21/05/2026 · versão Consolidado21/05/2026 aprovado pelo ato1200625 · p. 23 · AnexoI11.1(vi)–(xi) · https://fnet.bmfbovespa.com.br/fnet/publico/visualizarDocumento?id=1200623</a:t>
            </a:r>
          </a:p>
          <a:p>
            <a:r>
              <a:t>CNPJ 62552447000120 · Eventos de avaliação · Excerto da fonte:</a:t>
            </a:r>
          </a:p>
          <a:p>
            <a:r>
              <a:t>(vi) não cumprimento, pelo Agente de Conta Vinculada, de qualquer de suas obrigações estabelecidas no contrato de conta vinculada celebrado entre o Endossante, na qualidade de titular da Conta Vinculada, e a Classe (“Contrato de Conta Vinculada”), no Regulamento ou neste Anexo I, desde que esse não cumprimento não seja devidamente sanado ou justificado dentro de 5 (cinco) Dias Úteis a partir do recebimento, pelo Agente de Conta Vinculada, de notif icação, por escrito, enviada pelo Administrador, informando-o da ocorrência do respectivo evento; (vii) não c</a:t>
            </a:r>
          </a:p>
          <a:p>
            <a:r>
              <a:t>CNPJ 62552447000120 · Eventos de avaliação · Versão e prevalência: Leitura específica das cláusulas indicadas; condições e conflitos preservados. Seleção documental atual não comprova vigência jurídica por data isolada.</a:t>
            </a:r>
          </a:p>
          <a:p>
            <a:r>
              <a:t>CNPJ 63953620000165 · Eventos de avaliação · Anexo ao Regulamento · ID 1222863 · 02/06/2026 · versão AnexoConsignadoPrivado02/06/2026 · p. 14 · 11.1(i)–(v) · https://fnet.bmfbovespa.com.br/fnet/publico/visualizarDocumento?id=1222863</a:t>
            </a:r>
          </a:p>
          <a:p>
            <a:r>
              <a:t>CNPJ 63953620000165 · Eventos de avaliação · Excerto da fonte:</a:t>
            </a:r>
          </a:p>
          <a:p>
            <a:r>
              <a:t>11.1 As seguintes hipóteses são consideradas eventos de avaliação (“Eventos de Avaliação”): (i) em caso de regime de administração especial temporária - RAET, intervenção ou liquidação extrajudicial do Endossante; (ii) em caso de desenquadramento do Índice de Subordinação por 10 (dez) dias úteis consecutivos; (iii) não cumprimento, pelo Endossante, de qualquer de suas obrigações estabelecidas no Contrato de Endosso ou neste Anexo I, desde que esse não cumprimento não seja devidamente sanado ou justificado dentro de 10 (dez) Dias Úteis a partir do recebimento, pelo Endossan</a:t>
            </a:r>
          </a:p>
          <a:p>
            <a:r>
              <a:t>CNPJ 63953620000165 · Eventos de avaliação · Anexo ao Regulamento · ID 1222863 · 02/06/2026 · versão AnexoConsignadoPrivado02/06/2026 · p. 15 · 11.1(vi)–(xiv) · https://fnet.bmfbovespa.com.br/fnet/publico/visualizarDocumento?id=1222863</a:t>
            </a:r>
          </a:p>
          <a:p>
            <a:r>
              <a:t>CNPJ 63953620000165 · Eventos de avaliação · Excerto da fonte:</a:t>
            </a:r>
          </a:p>
          <a:p>
            <a:r>
              <a:t>Anexo I ao Regulamento CLASSE CONSIGNADO PRIVADO DO MT GLOBAL FUNDO DE INVESTIMENTO EM DIREITOS CREDITÓRIOS RESPONSABILIDADE LIMITADA (vii) inobservância pelo Administrador, pelo Custodiante e/ou pelo Gestor de seus deveres e obrigações previstos neste Regulamento, bem como suas atribuições específicas nos outros contratos existentes referentes ao funcionamento da Classe, verificada pelo Administrador, pelo Custodiante e/ou pelo Gestor ou por qualquer dos Cotistas, desde que, uma vez notificados para sanar ou justificar o descumprimento, o Administrador, o Custodiante e/ou o Gestor, conforme</a:t>
            </a:r>
          </a:p>
          <a:p>
            <a:r>
              <a:t>CNPJ 63953620000165 · Eventos de avaliação · Versão e prevalência: Leitura específica das cláusulas indicadas; condições e conflitos preservados. Seleção documental atual não comprova vigência jurídica por data isolada.</a:t>
            </a:r>
          </a:p>
          <a:p>
            <a:r>
              <a:t>CNPJ 54871427000194 · Eventos de liquidação · Regulamento · ID 670691 · 28/04/2024 · versão Regulamento — referência 28/04/2024 · p. 19 · Anexo I, 11.1.3 e 11.3 · https://fnet.bmfbovespa.com.br/fnet/publico/visualizarDocumento?id=670691</a:t>
            </a:r>
          </a:p>
          <a:p>
            <a:r>
              <a:t>CNPJ 54871427000194 · Eventos de liquidação · Excerto da fonte:</a:t>
            </a:r>
          </a:p>
          <a:p>
            <a:r>
              <a:t>11.1.3 Na hipótese de não instalação da Assembleia Especial de Cotistas por f alta de quórum, o ADMINISTRADOR dará início aos procedimentos ref erentes à liquidação d a Classe, com o consequente resgate das Cotas, nos termos do item 11.4 e seguintes, abaixo. Eventos de Verificação de Patrimônio Líquido Negativo 11.2 Os seguintes eventos obrigarão o ADMINISTRADOR a verificar se o Patrimônio Líquido da Classe está negativo: (i) qualquer pedido de declaração judicial de insolvência da Classe; e (ii) na ocorrência de quaisquer dos Eventos de Avaliação e/ou Eventos de Liquidação . Eventos de Liquidação 11.3 As seguintes hipóteses são consideradas Eventos de Liquidação: (i) caso seja deliberado em Assembleia Especial de Cotistas que um Evento de Avaliação constitui um Evento de Liquidação; (ii) sempre que assim decidido pelos Cotistas em Assembleia Especial de Cotistas especialmente convocada para tal f im; (iii) cessão ou renúncia do ADMINISTRADOR, GESTOR ou CUSTODIANTE sem que a Assembleia de Cotistas ef icazmente nomeie instituição habilit ada para substituí-lo, nos termos estabelecidos neste Regulamento;</a:t>
            </a:r>
          </a:p>
          <a:p>
            <a:r>
              <a:t>CNPJ 54871427000194 · Eventos de liquidação · Versão e prevalência: Leitura específica das cláusulas indicadas; condições e conflitos preservados. Seleção documental atual não comprova vigência jurídica por data isolada.</a:t>
            </a:r>
          </a:p>
          <a:p>
            <a:r>
              <a:t>CNPJ 54871427000194 · Eventos de liquidação · Resumo do histórico: {"count": 1, "dates": ["2024-04-19"], "document_count": 1, "sources": [{"document_id": "670689", "title": "Regulamento", "reference_date": "2024-04-19", "version": "1", "page": 17, "clause": "10.2", "url": "https://fnet.bmfbovespa.com.br/fnet/publico/visualizarDocumento?id=670689", "sha256": "891bc9bc5d87bbc02ec139077a84d2702eb81ea02035fb71d24f5b8366b94a0b"}], "reference": {"path": "history/54871427000194.json", "criterion_id": "liquidation", "total_count": 1, "preview_count": 1, "full_text_deferred": true, "sha256": "35d7cd99be50c7287c9fb675cf4f2e736002315295a225a9efa79c8d9186d874"}}</a:t>
            </a:r>
          </a:p>
          <a:p>
            <a:r>
              <a:t>CNPJ 60010416000112 · Eventos de liquidação · Regulamento · ID 1051393 · 09/10/2025 · versão Regulamento09/10/2025 · p. 21 · AnexoI10.3(i)–(viii) · https://fnet.bmfbovespa.com.br/fnet/publico/visualizarDocumento?id=1051393</a:t>
            </a:r>
          </a:p>
          <a:p>
            <a:r>
              <a:t>CNPJ 60010416000112 · Eventos de liquidação · Excerto da fonte:</a:t>
            </a:r>
          </a:p>
          <a:p>
            <a:r>
              <a:t>10.3 As seguintes hipóteses são consideradas Eventos de Liquidação: (i) caso seja deliberado em Assembleia de Cotistas que um Evento de Avaliação constitui um Evento de Liquidação; (ii) na hipótese de resilição do Contrato de Custódia ou renúncia do Custodiante, sem que tenha havido sua substituição por outra instituição, de acordo com os procedimentos estabelecidos neste Regulamento; (iii) renúncia do Administrador sem que a Assembleia Especial de Cotistas eficazmente nomeie instituição habilitada para substituí-lo, nos termos estabelecidos neste Regulamento;</a:t>
            </a:r>
          </a:p>
          <a:p>
            <a:r>
              <a:t>CNPJ 60010416000112 · Eventos de liquidação · Versão e prevalência: Leitura específica das cláusulas indicadas; condições e conflitos preservados. Seleção documental atual não comprova vigência jurídica por data isolada.</a:t>
            </a:r>
          </a:p>
          <a:p>
            <a:r>
              <a:t>CNPJ 60010416000112 · Eventos de liquidação · Resumo do histórico: {"count": 2, "dates": ["2025-03-20"], "document_count": 2, "sources": [{"document_id": "993785", "title": "Instrumento Particular de Constituição/Encerramento do Fundo", "reference_date": "2025-03-20", "version": "1", "page": 8, "url": "https://fnet.bmfbovespa.com.br/fnet/publico/visualizarDocumento?id=993785", "sha256": "0826e0eae2c51afabf59bbc49fc7647598d03da5ca6de0f9725850a8bd6af457"}, {"document_id": "993786", "title": "Regulamento", "reference_date": "2025-03-20", "version": "1", "page": 18, "clause": "9.2", "url": "https://fnet.bmfbovespa.com.br/fnet/publico/visualizarDocumento?id=993786", "sha256": "fd0fdd369a195510d81f81f505195a0b09e5f43522a990afa7d58c4f872921c8"}], "reference": {"path": "history/60010416000112.json", "criterion_id": "liquidation", "total_count": 2, "preview_count": 2, "full_text_deferred": true, "sha256": "8e2bd813f4c51cf01f6bfaad164bafe69d2bbb192f753eac92da3a01c2e63046"}}</a:t>
            </a:r>
          </a:p>
          <a:p>
            <a:r>
              <a:t>CNPJ 62696791000193 · Eventos de liquidação · Regulamento · ID 1143317 · 20/03/2026 · versão Regulamento — referência 20/03/2026 · p. 23 · Anexo I, 11.1–11.3 · https://fnet.bmfbovespa.com.br/fnet/publico/visualizarDocumento?id=1143317</a:t>
            </a:r>
          </a:p>
          <a:p>
            <a:r>
              <a:t>CNPJ 62696791000193 · Eventos de liquidação · Excerto da fonte:</a:t>
            </a:r>
          </a:p>
          <a:p>
            <a:r>
              <a:t>11.1 A Classe será liquidada (i) em caso da liquidação antecipada deliberada em Assembleia Especial de Cotistas; ou (ii) pelo encerramento do Prazo de Duração da Classe. 11.2 Na ocorrência da liquidação da Classe, o Administrador: (i) liquidará todos os investimentos da Classe em Ativos Financeiros de Liquidez, conforme orientação do Gestor, transferindo todos os recursos daí resultantes para a Conta da Classe; (ii) realizará, de acordo com as orientações e instruções do Gestor, a alienação dos investimentos nos Direitos Creditórios do Agronegócio e nos Outros Ativos integrantes da carteira de investimentos da Classe; e (iii) realizará o pagamento dos encargos da Classe e a amortização das Cotas, até o limite dos recursos disponíveis na Conta da Classe. 11.2.1 No caso de Liquidação da Classe, os Cotistas terão o direito de partilhar o Patrimônio Líquido em igualdade de condições e na proporção de suas Cotas, deduzidas as despesas necessárias para a liquidação da Classe. Não haverá qualquer tipo de pref erência, p rioridade ou subordinação entre os Cotistas. 11.3 Caso a Classe não possua recursos suficientes para o pagamento de todas as Cotas no momento de</a:t>
            </a:r>
          </a:p>
          <a:p>
            <a:r>
              <a:t>CNPJ 62696791000193 · Eventos de liquidação · Regulamento · ID 1143317 · 20/03/2026 · versão Regulamento — referência 20/03/2026 · p. 24 · Anexo I, 11.7 · https://fnet.bmfbovespa.com.br/fnet/publico/visualizarDocumento?id=1143317</a:t>
            </a:r>
          </a:p>
          <a:p>
            <a:r>
              <a:t>CNPJ 62696791000193 · Eventos de liquidação · Excerto da fonte:</a:t>
            </a:r>
          </a:p>
          <a:p>
            <a:r>
              <a:t>11.7 A liquidação da Classe e a divisão de seu patrimônio entre os Cotistas deverão ocorrer no prazo de até 180 (cento e oitenta) dias corridos contados (i) do encerramento do Prazo de Duração ou (ii) da data da realização da Assembleia Especial de Cotistas que deliberar sobre a liquidação da Classe. BTG Pactual SAC: 0800 772 2827 | Ouvidoria: 0800 722 0048 | btgpactual.co m 19</a:t>
            </a:r>
          </a:p>
          <a:p>
            <a:r>
              <a:t>CNPJ 62696791000193 · Eventos de liquidação · Condição: O capítulo não fornece gatilho automático de PL &lt;R$ 1 milhão por 90 dias; essa cláusula presente em outros FIDCs não pode ser transferida para Ceres.</a:t>
            </a:r>
          </a:p>
          <a:p>
            <a:r>
              <a:t>CNPJ 62696791000193 · Eventos de liquidação · Motivo: Cláusula primária localizada e citada, mas sua lista/condições extensas não admitem uma síntese literal curta confirmada. O trecho integral permanece nas fontes.</a:t>
            </a:r>
          </a:p>
          <a:p>
            <a:r>
              <a:t>CNPJ 62696791000193 · Eventos de liquidação · Versão e prevalência: Leitura específica das cláusulas indicadas; condições e conflitos preservados. Seleção documental atual não comprova vigência jurídica por data isolada.</a:t>
            </a:r>
          </a:p>
          <a:p>
            <a:r>
              <a:t>CNPJ 55563624000109 · Eventos de liquidação · Regulamento · ID 1192614 · 30/04/2026 · versão Regulamento30/04/2026 · p. 21 · AnexoI11.3(i)–(vii) · https://fnet.bmfbovespa.com.br/fnet/publico/visualizarDocumento?id=1192614</a:t>
            </a:r>
          </a:p>
          <a:p>
            <a:r>
              <a:t>CNPJ 55563624000109 · Eventos de liquidação · Excerto da fonte:</a:t>
            </a:r>
          </a:p>
          <a:p>
            <a:r>
              <a:t>11.3 As seguintes hipóteses são consideradas Eventos de Liquidação: (i) caso seja deliberado em Assembleia Especial de Cotistas que um Evento de Avaliação constitui um Evento de Liquidação; (ii) na hipótese de renúncia do CUSTODIANTE, sem que tenha havido sua substituição por outra instituição, de acordo com os procedimentos estabelecidos neste Anexo; (iii) renúncia do ADMINISTRADOR ou do GESTOR sem que a Assembleia Especial de Cotistas eficazmente nomeie instituição habilitada para substituí-lo, nos termo</a:t>
            </a:r>
          </a:p>
          <a:p>
            <a:r>
              <a:t>CNPJ 55563624000109 · Eventos de liquidação · Versão e prevalência: Leitura específica das cláusulas indicadas; condições e conflitos preservados. Seleção documental atual não comprova vigência jurídica por data isolada.</a:t>
            </a:r>
          </a:p>
          <a:p>
            <a:r>
              <a:t>CNPJ 62552447000120 · Eventos de liquidação · Regulamento · ID 1200623 · 21/05/2026 · versão Consolidado21/05/2026 aprovado pelo ato1200625 · p. 24 · AnexoI11.2(i)–(v) · https://fnet.bmfbovespa.com.br/fnet/publico/visualizarDocumento?id=1200623</a:t>
            </a:r>
          </a:p>
          <a:p>
            <a:r>
              <a:t>CNPJ 62552447000120 · Eventos de liquidação · Excerto da fonte:</a:t>
            </a:r>
          </a:p>
          <a:p>
            <a:r>
              <a:t>11.2 As seguintes hipóteses são consideradas eventos de liquidação (“Eventos de Liquidação”): (i) caso seja deliberado em Assembleia Especial que um Evento de Avaliação constitui um Evento de Liquidação; (ii) na hipótese de resilição do Contrato de Custódia ou renúncia do Custodiante, sem que tenha havido sua substituição por outra instituição, de acordo com os procedimentos estabelecidos neste Regulamento; (iii) renúncia do Administrador sem que a Assembleia Especial ef icazmente nomeie instituição habilitada para substituí-lo, nos termos estab</a:t>
            </a:r>
          </a:p>
          <a:p>
            <a:r>
              <a:t>CNPJ 62552447000120 · Eventos de liquidação · Regulamento · ID 1200623 · 21/05/2026 · versão Consolidado21/05/2026 aprovado pelo ato1200625 · p. 25 · AnexoI11.2(vi)–(ix) · https://fnet.bmfbovespa.com.br/fnet/publico/visualizarDocumento?id=1200623</a:t>
            </a:r>
          </a:p>
          <a:p>
            <a:r>
              <a:t>CNPJ 62552447000120 · Eventos de liquidação · Excerto da fonte:</a:t>
            </a:r>
          </a:p>
          <a:p>
            <a:r>
              <a:t>(vi) em caso de regime de administração especial temporária - RAET, intervenção ou liquidação extrajudicial do Custodiante, Administrador, ou Gestor, sem a sua ef etiva substituição nos termos deste Regulamento; (vii) se, após 90 (noventa) dias do início das atividades do Fundo, o Patrimônio Líquido diário inferior da Classe for inferior a R$ 1.000.000,00 (um milhão de reais) pelo período de 90 (noventa) dias consecutivos; (viii) caso, por inexistência de recursos líquidos, a Classe não possa fazer f rente aos Encargos nas respectivas datas</a:t>
            </a:r>
          </a:p>
          <a:p>
            <a:r>
              <a:t>CNPJ 62552447000120 · Eventos de liquidação · Versão e prevalência: Leitura específica das cláusulas indicadas; condições e conflitos preservados. Seleção documental atual não comprova vigência jurídica por data isolada.</a:t>
            </a:r>
          </a:p>
          <a:p>
            <a:r>
              <a:t>CNPJ 63953620000165 · Eventos de liquidação · Anexo ao Regulamento · ID 1222863 · 02/06/2026 · versão AnexoConsignadoPrivado02/06/2026 · p. 16 · 11.2(i)–(viii) · https://fnet.bmfbovespa.com.br/fnet/publico/visualizarDocumento?id=1222863</a:t>
            </a:r>
          </a:p>
          <a:p>
            <a:r>
              <a:t>CNPJ 63953620000165 · Eventos de liquidação · Excerto da fonte:</a:t>
            </a:r>
          </a:p>
          <a:p>
            <a:r>
              <a:t>11.2 As seguintes hipóteses são consideradas eventos de liquidação (“Eventos de Liquidação”): (i) caso seja deliberado em Assembleia Especial de Cotistas que um Evento de Avaliação constitui um Evento de Liquidação; (ii) na hipótese de resilição do Contrato de Custódia ou renúncia do Custodiante, sem que tenha havido sua substituição por outra instituição, de acordo com os procedimentos estabelecidos neste Regulamento; (iii) renúncia do Administrador sem que a Assembleia Especial de Cotistas eficazmente nomeie instituição habilitada para substituí-lo, nos termos estabeleci</a:t>
            </a:r>
          </a:p>
          <a:p>
            <a:r>
              <a:t>CNPJ 63953620000165 · Eventos de liquidação · Versão e prevalência: Leitura específica das cláusulas indicadas; condições e conflitos preservados. Seleção documental atual não comprova vigência jurídica por data isolada.</a:t>
            </a:r>
          </a:p>
          <a:p>
            <a:r>
              <a:t>CNPJ 63953620000165 · Eventos de liquidação · Resumo do histórico: {"count": 8, "dates": ["2026-04-28", "2026-05-08", "2026-05-15"], "document_count": 3, "sources": [{"document_id": "1327859", "title": "Demonstrações Financeiras - Fusão, cisão e incorporação", "reference_date": "2026-05-15", "version": "1", "page": 23, "url": "https://fnet.bmfbovespa.com.br/fnet/publico/visualizarDocumento?id=1327859", "sha256": "dca1c68babb97f887528c3e2e47596a9c30f507b067981a35655b2f2da9c8054"}, {"document_id": "1298691", "title": "Demonstrações Financeiras - Fusão, cisão e incorporação", "reference_date": "2026-05-08", "version": "1", "page": 24, "url": "https://fnet.bmfbovespa.com.br/fnet/publico/visualizarDocumento?id=1298691", "sha256": "58c570d9b8d4d265330d3db3ea81c435b8e44a6dab4002aa37790652a1ee9819"}, {"document_id": "1282180", "title": "Demonstrações Financeiras - Fusão, cisão e incorporação", "reference_date": "2026-04-28", "version": "1", "page": 24, "url": "https://fnet.bmfbovespa.com.br/fnet/publico/visualizarDocumento?id=1282180", "sha256": "afaaa0e6809be4385e5bdb6c911aac582032c5bdbac3d7750234bf9eaf00438a"}], "reference": {"path": "history/63953620000165.json", "criterion_id": "liquidation", "total_count": 8, "preview_count": 3, "full_text_deferred": true, "sha256": "a7b89077f5e21098c2d601c303faabc3ff6b9729f89d8afecdc60fe1404720c1"}}</a:t>
            </a:r>
          </a:p>
          <a:p>
            <a:r>
              <a:t>CNPJ 54871427000194 · Prazos de cura e reincidência · Regulamento · ID 670691 · 28/04/2024 · versão Regulamento — referência 28/04/2024 · p. 18 · Anexo I, 11.1(ii)–(v) · https://fnet.bmfbovespa.com.br/fnet/publico/visualizarDocumento?id=670691</a:t>
            </a:r>
          </a:p>
          <a:p>
            <a:r>
              <a:t>CNPJ 54871427000194 · Prazos de cura e reincidência · Excerto da fonte:</a:t>
            </a:r>
          </a:p>
          <a:p>
            <a:r>
              <a:t>(ii) não cumprimento, por qualquer dos Endossantes, de qualquer de suas obrigações estabelecidas em cada Contrato de Endosso ou neste Regulamento e Anexo, desde que esse não cumprimento não seja devidamente sanado ou justificado dentro de 10 (dez) Dias Úteis a partir do recebimento, pelo Endossante, de notificação, por escrito, enviada pelo Administrador, inf ormando-o da ocorrência do respectivo evento; (iii) não cumprimento, por qualquer dos Endossantes, de suas obrigações de entregar o Arquivo de Liquidação Antecipada e o Arquivo de Posição das CCBs ao CUSTODIANTE dentro do prazo estabelecido neste Regulamento, desde que esse não cumprimento não seja devidamente sanado ou justificado dentro dos prazos acordados no respectivo Contrato de Endosso, a partir do recebimento, pelos Endossantes, de notificação, por escrito, enviada pelo CUSTODIANTE, inf ormando-o da ocorrência do respectivo evento; (iv) não cumprimento, por qualquer dos Endossantes, de qualquer de suas obrigações de entregar ao CUSTODIANTE, ou a terceiros por ele indicados, os Documentos Comprobatórios relativos</a:t>
            </a:r>
          </a:p>
          <a:p>
            <a:r>
              <a:t>CNPJ 54871427000194 · Prazos de cura e reincidência · Motivo: Não localizada uma cláusula material para este critério nos textos identificados e processados. A ausência de resultado não comprova inexistência da regra.</a:t>
            </a:r>
          </a:p>
          <a:p>
            <a:r>
              <a:t>CNPJ 54871427000194 · Prazos de cura e reincidência · Versão e prevalência: Leitura específica das cláusulas indicadas; condições e conflitos preservados. Seleção documental atual não comprova vigência jurídica por data isolada.</a:t>
            </a:r>
          </a:p>
          <a:p>
            <a:r>
              <a:t>CNPJ 60010416000112 · Prazos de cura e reincidência · Regulamento · ID 1051393 · 09/10/2025 · versão Regulamento09/10/2025 · p. 14 · AnexoI5.7.1–5.7.2 · https://fnet.bmfbovespa.com.br/fnet/publico/visualizarDocumento?id=1051393</a:t>
            </a:r>
          </a:p>
          <a:p>
            <a:r>
              <a:t>CNPJ 60010416000112 · Prazos de cura e reincidência · Excerto da fonte:</a:t>
            </a:r>
          </a:p>
          <a:p>
            <a:r>
              <a:t>5.7.1 abaixo. 5.7.1 Na hipótese do item 5.7 os titulares de Cotas Subordinadas terão o prazo de 3 (três) Dias Úteis contado do recebimento da comunicação enviada pelo Administrador para manifestar sua intenção de subscrever e integralizar novas Cotas Subordinadas, de f orma a restabelecer o Índice de Subordinação. Caso assim se manifestem, o Administrador e os titulares de Cotas Subordinadas deverão, nos 10 (dez) Dias Úteis subsequentes tomar todas as providências necessárias para que as novas Cotas Subordinadas sejam emitidas, subscritas e integraliza</a:t>
            </a:r>
          </a:p>
          <a:p>
            <a:r>
              <a:t>CNPJ 60010416000112 · Prazos de cura e reincidência · Regulamento · ID 1051393 · 09/10/2025 · versão Regulamento09/10/2025 · p. 19 · AnexoI10.1(ii)–(vii) · https://fnet.bmfbovespa.com.br/fnet/publico/visualizarDocumento?id=1051393</a:t>
            </a:r>
          </a:p>
          <a:p>
            <a:r>
              <a:t>CNPJ 60010416000112 · Prazos de cura e reincidência · Excerto da fonte:</a:t>
            </a:r>
          </a:p>
          <a:p>
            <a:r>
              <a:t>10.1 As seguintes hipóteses são consideradas Eventos de Avaliação: (i) em caso de regime de administração especial temporária - RAET, intervenção ou liquidação extrajudicial do Endossante; (ii) em caso de desenquadramento do Índice de Subordinação por 10 (dez) dias úteis consecutivos; (iii) não cumprimento, pelo Endossante, de qualquer de suas obrigações estabelecidas no Contrato de Endosso ou neste Anexo I, desde que esse não cumprimento não seja devidamente sanado ou justif icado dentro de 10 (dez) Dias Úteis a partir do recebimento, pelo Endossante, de noti</a:t>
            </a:r>
          </a:p>
          <a:p>
            <a:r>
              <a:t>CNPJ 60010416000112 · Prazos de cura e reincidência · Regulamento · ID 1051393 · 09/10/2025 · versão Regulamento09/10/2025 · p. 20 · AnexoI10.1(xiii) · https://fnet.bmfbovespa.com.br/fnet/publico/visualizarDocumento?id=1051393</a:t>
            </a:r>
          </a:p>
          <a:p>
            <a:r>
              <a:t>CNPJ 60010416000112 · Prazos de cura e reincidência · Excerto da fonte:</a:t>
            </a:r>
          </a:p>
          <a:p>
            <a:r>
              <a:t>(xiii) no caso de não serem realizados pagamentos de amortização e/ou resgate de Cotas Seniores, nos termos, prazos e condições previstos no presente Regulamento e nos respectivos Apêndices e Suplementos, não sanados em até 2 (dois) Dias Úteis contados do prazo final do respectivo evento; (xiv) no caso de pagamento de resgate e/ou amortização de Cotas Subordinadas em desacordo com os termos, prazos e condições previstos no presente Regulamento e no respectivo Apêndice. 10.1.1 Na ocorrência de qualquer Evento de Avaliação, será convocada Assembleia Especial de Cotistas,</a:t>
            </a:r>
          </a:p>
          <a:p>
            <a:r>
              <a:t>CNPJ 60010416000112 · Prazos de cura e reincidência · Versão e prevalência: Leitura específica das cláusulas indicadas; condições e conflitos preservados. Seleção documental atual não comprova vigência jurídica por data isolada.</a:t>
            </a:r>
          </a:p>
          <a:p>
            <a:r>
              <a:t>CNPJ 60010416000112 · Prazos de cura e reincidência · Resumo do histórico: {"count": 1, "dates": ["2025-03-20"], "document_count": 1, "sources": [{"document_id": "993786", "title": "Regulamento", "reference_date": "2025-03-20", "version": "1", "page": 19, "clause": "10.1", "url": "https://fnet.bmfbovespa.com.br/fnet/publico/visualizarDocumento?id=993786", "sha256": "fd0fdd369a195510d81f81f505195a0b09e5f43522a990afa7d58c4f872921c8"}], "reference": {"path": "history/60010416000112.json", "criterion_id": "cure", "total_count": 1, "preview_count": 1, "full_text_deferred": true, "sha256": "8e2bd813f4c51cf01f6bfaad164bafe69d2bbb192f753eac92da3a01c2e63046"}}</a:t>
            </a:r>
          </a:p>
          <a:p>
            <a:r>
              <a:t>CNPJ 62696791000193 · Prazos de cura e reincidência · Motivo: Não localizada uma cláusula material para este critério nos textos identificados e processados. A ausência de resultado não comprova inexistência da regra.</a:t>
            </a:r>
          </a:p>
          <a:p>
            <a:r>
              <a:t>CNPJ 55563624000109 · Prazos de cura e reincidência · Regulamento · ID 1192614 · 30/04/2026 · versão Regulamento30/04/2026 · p. 20 · AnexoI11.1 · https://fnet.bmfbovespa.com.br/fnet/publico/visualizarDocumento?id=1192614</a:t>
            </a:r>
          </a:p>
          <a:p>
            <a:r>
              <a:t>CNPJ 55563624000109 · Prazos de cura e reincidência · Excerto da fonte:</a:t>
            </a:r>
          </a:p>
          <a:p>
            <a:r>
              <a:t>11.1 As seguintes hipóteses são consideradas Eventos de Avaliação: (i) inobservância pelo ADMINISTRADOR, pelo CUSTODIANTE e/ou pelo GESTOR de seus deveres e obrigações previstos neste Anexo, desde que, uma vez notificados para sanar ou justificar o descumprimento, o ADMINISTRADOR, o CUSTODIANTE e/ou o GESTOR, conforme o caso, não o sane no prazo de 5 (cinco) Dias Úteis contados do recebimento da referida notificação; (ii) aquisição, pela Classe, de Cotas da Classe Investida que estejam em desacordo com o Critério de</a:t>
            </a:r>
          </a:p>
          <a:p>
            <a:r>
              <a:t>CNPJ 55563624000109 · Prazos de cura e reincidência · Regulamento · ID 1192614 · 30/04/2026 · versão Regulamento30/04/2026 · p. 21 · AnexoI11.1.2 · https://fnet.bmfbovespa.com.br/fnet/publico/visualizarDocumento?id=1192614</a:t>
            </a:r>
          </a:p>
          <a:p>
            <a:r>
              <a:t>CNPJ 55563624000109 · Prazos de cura e reincidência · Excerto da fonte:</a:t>
            </a:r>
          </a:p>
          <a:p>
            <a:r>
              <a:t>11.1.2 No momento de verificação de qualquer Evento de Avaliação, os procedimentos de aquisição de novas Cotas da Classe Investida e, se aplicável, de amortização das Cotas, deverão ser imediatamente interrompidos, até que: (i) seja proferida decisão final em Assembleia Especial de Cotistas, convocada especificamente para este fim, nos termos do item 11.1.1 acima, autorizando a retomada dos procedimentos de aquisição de novas Cotas da Classe Investida, amortização e resgate das Cotas; e/ou (ii) seja sanado o Evento de Avalia</a:t>
            </a:r>
          </a:p>
          <a:p>
            <a:r>
              <a:t>CNPJ 55563624000109 · Prazos de cura e reincidência · Motivo: Não localizada uma cláusula material para este critério nos textos identificados e processados. A ausência de resultado não comprova inexistência da regra.</a:t>
            </a:r>
          </a:p>
          <a:p>
            <a:r>
              <a:t>CNPJ 55563624000109 · Prazos de cura e reincidência · Versão e prevalência: Leitura específica das cláusulas indicadas; condições e conflitos preservados. Seleção documental atual não comprova vigência jurídica por data isolada.</a:t>
            </a:r>
          </a:p>
          <a:p>
            <a:r>
              <a:t>CNPJ 62552447000120 · Prazos de cura e reincidência · Regulamento · ID 1200623 · 21/05/2026 · versão Consolidado21/05/2026 aprovado pelo ato1200625 · p. 22 · AnexoI11.1(ii)–(v) · https://fnet.bmfbovespa.com.br/fnet/publico/visualizarDocumento?id=1200623</a:t>
            </a:r>
          </a:p>
          <a:p>
            <a:r>
              <a:t>CNPJ 62552447000120 · Prazos de cura e reincidência · Excerto da fonte:</a:t>
            </a:r>
          </a:p>
          <a:p>
            <a:r>
              <a:t>5 (cinco) Dias Úteis a partir do recebimento, pelo Endossante, de notificação, por escrito, enviada pelo Administrador, inf ormando-o da ocorrência do respectivo evento; (iii) não cumprimento, pelo Endossante e/ou pelo Agente de Retenção e Cobrança, de sua obrigação de entregar os (a) arquivos eletrônicos disponibilizados mensalmente pela Dataprev ao Endossante, contendo (1) as Consignações processadas pela Dataprev no respectivo mês, identificando os Devedores e os valores que serão descontados de suas respectivas folhas de pagamentos, bem como</a:t>
            </a:r>
          </a:p>
          <a:p>
            <a:r>
              <a:t>CNPJ 62552447000120 · Prazos de cura e reincidência · Regulamento · ID 1200623 · 21/05/2026 · versão Consolidado21/05/2026 aprovado pelo ato1200625 · p. 23 · AnexoI11.1(vi)–(viii) · https://fnet.bmfbovespa.com.br/fnet/publico/visualizarDocumento?id=1200623</a:t>
            </a:r>
          </a:p>
          <a:p>
            <a:r>
              <a:t>CNPJ 62552447000120 · Prazos de cura e reincidência · Excerto da fonte:</a:t>
            </a:r>
          </a:p>
          <a:p>
            <a:r>
              <a:t>5 (cinco) Dias Úteis a partir do recebimento, pelo Agente de Retenção e Cobrança, de notificação, por escrito, enviada pelo Gestor, informando-o da ocorrência do respectivo evento; (vi) não cumprimento, pelo Agente de Conta Vinculada, de qualquer de suas obrigações estabelecidas no contrato de conta vinculada celebrado entre o Endossante, na qualidade de titular da Conta Vinculada, e a Classe (“Contrato de Conta Vinculada”), no Regulamento ou neste Anexo I, desde que esse não cumprimento não seja devidamente sanado ou justificado dentro de 5 (cinco) Dias Úte</a:t>
            </a:r>
          </a:p>
          <a:p>
            <a:r>
              <a:t>CNPJ 62552447000120 · Prazos de cura e reincidência · Regulamento · ID 1200623 · 21/05/2026 · versão Consolidado21/05/2026 aprovado pelo ato1200625 · p. 19 · AnexoI6.8.4 · https://fnet.bmfbovespa.com.br/fnet/publico/visualizarDocumento?id=1200623</a:t>
            </a:r>
          </a:p>
          <a:p>
            <a:r>
              <a:t>CNPJ 62552447000120 · Prazos de cura e reincidência · Excerto da fonte:</a:t>
            </a:r>
          </a:p>
          <a:p>
            <a:r>
              <a:t>6.8.4 Em caso de inadimplência decorrente de falha operacional, será concedido aos Cotistas o prazo de 2 (dois) Dias Úteis contado da data de seu vencimento original para a realização do pagamento da integralização de Cotas sem a incidência de qualquer penalidade, multa ou mora. Transferência de Cotas 6.9 Não haverá direito de preferência aos Cotistas em relação às transferências de Cotas no mercado secundário. 6.10 No caso de alienação voluntária de Cotas, o Cotista alienante deverá solicitar por escrito ao Administrador e ao Gestor, a transf erência parcial ou total de suas Cotas, indicando o nom</a:t>
            </a:r>
          </a:p>
          <a:p>
            <a:r>
              <a:t>CNPJ 62552447000120 · Prazos de cura e reincidência · Regulamento · ID 1200623 · 21/05/2026 · versão Consolidado21/05/2026 aprovado pelo ato1200625 · p. 24 · AnexoI11.1.2 · https://fnet.bmfbovespa.com.br/fnet/publico/visualizarDocumento?id=1200623</a:t>
            </a:r>
          </a:p>
          <a:p>
            <a:r>
              <a:t>CNPJ 62552447000120 · Prazos de cura e reincidência · Excerto da fonte:</a:t>
            </a:r>
          </a:p>
          <a:p>
            <a:r>
              <a:t>11.1.2 No momento de verificação de qualquer Evento de Avaliação, os procedimentos de aquisição de novos Direitos Creditórios deverão ser imediatamente interrompidos, até que: (i) seja prof erida decisão final em Assembleia Especial, convocada especificamente para este fim, nos termos do item 11.1.1 acima, autorizando a retomada dos procedimentos de aquisição de novos Direitos Creditórios e resgate das Cotas; e/ou (ii) seja sanado o Evento de Avaliação . 11.1.3 Na hipótese de não instalação da Assembleia Especial por f alta de quórum, o Administrador dará início aos</a:t>
            </a:r>
          </a:p>
          <a:p>
            <a:r>
              <a:t>CNPJ 62552447000120 · Prazos de cura e reincidência · Motivo: Não localizada uma cláusula material para este critério nos textos identificados e processados. A ausência de resultado não comprova inexistência da regra.</a:t>
            </a:r>
          </a:p>
          <a:p>
            <a:r>
              <a:t>CNPJ 62552447000120 · Prazos de cura e reincidência · Versão e prevalência: Leitura específica das cláusulas indicadas; condições e conflitos preservados. Seleção documental atual não comprova vigência jurídica por data isolada.</a:t>
            </a:r>
          </a:p>
          <a:p>
            <a:r>
              <a:t>CNPJ 63953620000165 · Prazos de cura e reincidência · Anexo ao Regulamento · ID 1222863 · 02/06/2026 · versão AnexoConsignadoPrivado02/06/2026 · p. 14 · 11.1(ii)–(v) · https://fnet.bmfbovespa.com.br/fnet/publico/visualizarDocumento?id=1222863</a:t>
            </a:r>
          </a:p>
          <a:p>
            <a:r>
              <a:t>CNPJ 63953620000165 · Prazos de cura e reincidência · Excerto da fonte:</a:t>
            </a:r>
          </a:p>
          <a:p>
            <a:r>
              <a:t>11.1 As seguintes hipóteses são consideradas eventos de avaliação (“Eventos de Avaliação”): (i) em caso de regime de administração especial temporária - RAET, intervenção ou liquidação extrajudicial do Endossante; (ii) em caso de desenquadramento do Índice de Subordinação por 10 (dez) dias úteis consecutivos; (iii) não cumprimento, pelo Endossante, de qualquer de suas obrigações estabelecidas no Contrato de Endosso ou neste Anexo I, desde que esse não cumprimento não seja devidamente sanado ou justificado dentro de 10 (dez) Dias Úteis a partir do recebimento, pelo Endossan</a:t>
            </a:r>
          </a:p>
          <a:p>
            <a:r>
              <a:t>CNPJ 63953620000165 · Prazos de cura e reincidência · Anexo ao Regulamento · ID 1222863 · 02/06/2026 · versão AnexoConsignadoPrivado02/06/2026 · p. 10 · 6.8 · https://fnet.bmfbovespa.com.br/fnet/publico/visualizarDocumento?id=1222863</a:t>
            </a:r>
          </a:p>
          <a:p>
            <a:r>
              <a:t>CNPJ 63953620000165 · Prazos de cura e reincidência · Excerto da fonte:</a:t>
            </a:r>
          </a:p>
          <a:p>
            <a:r>
              <a:t>6.8 Observado o disposto nos boletins de subscrição, no caso de inadimplemento, a Administradora notificará o cotista inadimplente para sanar o inadimplemento no prazo de até 5 (cinco) Dias Úteis (“Cotista Inadimplente”). Caso o Cotista Inadimplente não sane o inadimplemento dentro de 5 (cinco) Dias Úteis contados do recebimento da notificação descrita acima, a Administradora poderá tomar as medidas previstas no Boletim de Subscrição. Colocação das Cotas 6.9 As Cotas poderão ser objeto de oferta pública a ser realizada nos termos da Resolução CVM 160 (“Oferta”) e/ou poderão ser colocadas de forma privada (“Colocação Privad</a:t>
            </a:r>
          </a:p>
          <a:p>
            <a:r>
              <a:t>CNPJ 63953620000165 · Prazos de cura e reincidência · Versão e prevalência: Leitura específica das cláusulas indicadas; condições e conflitos preservados. Seleção documental atual não comprova vigência jurídica por data isolada.</a:t>
            </a:r>
          </a:p>
          <a:p>
            <a:r>
              <a:t>CNPJ 54871427000194 · Cross default e insolvência · Motivo: Não localizada uma cláusula material para este critério nos textos identificados e processados. A ausência de resultado não comprova inexistência da regra.</a:t>
            </a:r>
          </a:p>
          <a:p>
            <a:r>
              <a:t>CNPJ 60010416000112 · Cross default e insolvência · Regulamento · ID 1051393 · 2025-10-09 · versão 1 · p. 21 · 10.2 · https://fnet.bmfbovespa.com.br/fnet/publico/visualizarDocumento?id=1051393</a:t>
            </a:r>
          </a:p>
          <a:p>
            <a:r>
              <a:t>CNPJ 60010416000112 · Cross default e insolvência · Excerto da fonte:</a:t>
            </a:r>
          </a:p>
          <a:p>
            <a:r>
              <a:t>10.2 Os seguintes eventos obrigarão o Administrador a verif icar se o Patrimônio Líquido da Classe está  negativo:</a:t>
            </a:r>
          </a:p>
          <a:p>
            <a:r>
              <a:t> (i) qualquer pedido de declaração judicial de insolvência da Classe;</a:t>
            </a:r>
          </a:p>
          <a:p>
            <a:r>
              <a:t> (ii) identificação de indícios de f raudes envolvendo o lastro de Direitos Creditórios que representem, no  mínimo 0,5 (cinco décimos por cento) do Patrimônio Líquido da Classe;</a:t>
            </a:r>
          </a:p>
          <a:p>
            <a:r>
              <a:t> (iii) inadimplência de obrigações financeiras de devedor e/ou emissor de ativos detidos pela Classe que  representem mais de 25% (vinte e cinco por cento)de seu Patrimônio Líquido;</a:t>
            </a:r>
          </a:p>
          <a:p>
            <a:r>
              <a:t> (iv) pedido de recuperação extrajudicial, de recuperação judicial, ou de falência de Devedor e/ou emissor  de ativos detidos pela Classe;</a:t>
            </a:r>
          </a:p>
          <a:p>
            <a:r>
              <a:t> (v) condenação da Classe de natureza judicial e/ou arbitral e/ou administrativa e/ou outras similares ao  pagamento de mais de 20% (vinte por cento) de seu Patrimônio Líquido; e</a:t>
            </a:r>
          </a:p>
          <a:p>
            <a:r>
              <a:t> (vi) caso caracterizado quaisquer dos Eventos de Liquidação.</a:t>
            </a:r>
          </a:p>
          <a:p>
            <a:r>
              <a:t>Eventos de Liquidação</a:t>
            </a:r>
          </a:p>
          <a:p>
            <a:r>
              <a:t>CNPJ 60010416000112 · Cross default e insolvência · Regulamento · ID 1051393 · 2025-10-09 · versão 1 · p. 21 · 10.3 · https://fnet.bmfbovespa.com.br/fnet/publico/visualizarDocumento?id=1051393</a:t>
            </a:r>
          </a:p>
          <a:p>
            <a:r>
              <a:t>CNPJ 60010416000112 · Cross default e insolvência · Excerto da fonte:</a:t>
            </a:r>
          </a:p>
          <a:p>
            <a:r>
              <a:t>10.3 As seguintes hipóteses são consideradas Eventos de Liquidação:</a:t>
            </a:r>
          </a:p>
          <a:p>
            <a:r>
              <a:t> (i) caso seja deliberado em Assembleia de Cotistas que um Evento de Avaliação constitui um Evento de  Liquidação;</a:t>
            </a:r>
          </a:p>
          <a:p>
            <a:r>
              <a:t> (ii) na hipótese de resilição do Contrato de Custódia ou renúncia do Custodiante, sem que tenha havido  sua substituição por outra instituição, de acordo com os procedimentos estabelecidos neste  Regulamento;</a:t>
            </a:r>
          </a:p>
          <a:p>
            <a:r>
              <a:t> (iii) renúncia do Administrador sem que a Assembleia Especial de Cotistas eficazmente nomeie instituição  habilitada para substituí-lo, nos termos estabelecidos neste Regulamento;</a:t>
            </a:r>
          </a:p>
          <a:p>
            <a:r>
              <a:t> (iv) por determinação da CVM, em caso de violação de normas legais ou regulamentares;</a:t>
            </a:r>
          </a:p>
          <a:p>
            <a:r>
              <a:t> (v) sempre que assim decidido pelos Cotistas em Assembleia Especial de Cotistas especialmente  convocada para tal f im;</a:t>
            </a:r>
          </a:p>
          <a:p>
            <a:r>
              <a:t> (vi) em caso de regime de administração especial temporária - RAET, intervenção ou liquidação  extrajudicial, conforme aplicável, do Custodiante, Administrador, ou Gestor, sem a sua ef etiva  substituição nos termos deste Regulamento;</a:t>
            </a:r>
          </a:p>
          <a:p>
            <a:r>
              <a:t> (vii) se, após 90 (noventa) dias do início das atividades do Fundo, o Patrimônio Líquido diário inf erior da  Classe f or inf erior a R$ 1.000.000,00 (um milhão de reais) pelo período de 90 (noventa) dias  consecutivos;</a:t>
            </a:r>
          </a:p>
          <a:p>
            <a:r>
              <a:t> (viii) impossibilidade da Classe adquirir Direitos Creditórios admitidos por sua política de investimento.</a:t>
            </a:r>
          </a:p>
          <a:p>
            <a:r>
              <a:t>Procedimentos de Liquidação Antecipada</a:t>
            </a:r>
          </a:p>
          <a:p>
            <a:r>
              <a:t>CNPJ 60010416000112 · Cross default e insolvência · Regulamento · ID 1051393 · 2025-10-09 · versão 1 · p. 19 · 10.1 · https://fnet.bmfbovespa.com.br/fnet/publico/visualizarDocumento?id=1051393</a:t>
            </a:r>
          </a:p>
          <a:p>
            <a:r>
              <a:t>CNPJ 60010416000112 · Cross default e insolvência · Excerto da fonte:</a:t>
            </a:r>
          </a:p>
          <a:p>
            <a:r>
              <a:t>10.1 As seguintes hipóteses são consideradas Eventos de Avaliação:</a:t>
            </a:r>
          </a:p>
          <a:p>
            <a:r>
              <a:t> (i) em caso de regime de administração especial temporária - RAET, intervenção ou liquidação  extrajudicial do Endossante;</a:t>
            </a:r>
          </a:p>
          <a:p>
            <a:r>
              <a:t> (ii) em caso de desenquadramento do Índice de Subordinação por 10 (dez) dias úteis consecutivos;</a:t>
            </a:r>
          </a:p>
          <a:p>
            <a:r>
              <a:t> (iii) não cumprimento, pelo Endossante, de qualquer de suas obrigações estabelecidas no Contrato de  Endosso ou neste Anexo I, desde que esse não cumprimento não seja devidamente sanado ou  justif icado dentro de 10 (dez) Dias Úteis a partir do recebimento, pelo Endossante, de notificação,  por escrito, enviada pelo Administrador, inf ormando-o da ocorrência do respectivo evento;</a:t>
            </a:r>
          </a:p>
          <a:p>
            <a:r>
              <a:t> (iv) não cumprimento, pelo Endossante, de sua obrigação de entregar os Arquivos Dataprev ao Gestor  e ao Custodiante dentro do prazo estabelecido neste Anexo I, desde que esse não cumprimento  não seja devidamente sanado ou justificado dentro de 02 (dois) Dias Úteis a partir do recebimento,  pelo Endossante, de notificação, por escrito, enviada pelo Gestor, informando-o da ocorrência do  respectivo evento;</a:t>
            </a:r>
          </a:p>
          <a:p>
            <a:r>
              <a:t> (v) não cumprimento, pelo Endossante, de qualquer de suas obrigações de entregar ao Gestor e/o ao  Custodiante, ou a terceiros por ele indicados, os Documentos Comprobatórios e Documentos  Suporte relativos aos Direitos Creditórios que tenham sido endossados à Classe, dentro do prazo  estabelecido neste Anexo I, desde que esse não cumprimento não seja devidamente sanado ou  justif icado dentro de 02 (dois) Dias Úteis a partir do recebimento, pelo Endossante, de notificação,  por escrito, enviada pelo Gestor e/ou Custodiante, inf ormando- o da ocorrência do respectivo  evento;</a:t>
            </a:r>
          </a:p>
          <a:p>
            <a:r>
              <a:t> (vi) não cumprimento, pelo Agente de Retenção/Cobrança, de qualquer de suas obrigações  estabelecidas no Contrato de Endosso, neste Regulamento ou no Contrato de Serviços MT, desde  que esse não cumprimento não seja devidamente sanado ou justificado dentro de 10 (dez) Dias  Úteis a partir do recebimento, pelo Agente de Retenção/Cobrança, de notificação, por escrito,  enviada pelo Gestor, inf ormando-o da ocorrência do respectivo evento;</a:t>
            </a:r>
          </a:p>
          <a:p>
            <a:r>
              <a:t> (vii) não cumprimento, pelo Administrador, Gestor ou Custodiante, de seus respectivos deveres e  obrigações estabelecidos neste Regulamento, no Contrato de Endosso ou nos respectivos  contratos de prestação de serviços segundo os quais essas entidades são contratadas pela Classe,  desde que, tendo sido notificado pelo Cotista para remediar ou justificar o não cumprimento, não o  f aça dentro de 10 (dez) Dias Úteis a partir do recebimento da notif icação mencionada;</a:t>
            </a:r>
          </a:p>
          <a:p>
            <a:r>
              <a:t>BTG Pactual SAC: 0800 772 28 27 - Ouvidoria: 0800 722 00 48 - btgpactual.com 19</a:t>
            </a:r>
          </a:p>
          <a:p>
            <a:r>
              <a:t>CNPJ 60010416000112 · Cross default e insolvência · Condição: Documentos atuais selecionados no inventário por categoria/escopo; a data documental isolada não comprova vigência jurídica.</a:t>
            </a:r>
          </a:p>
          <a:p>
            <a:r>
              <a:t>CNPJ 60010416000112 · Cross default e insolvência · Versão e prevalência: Documentos atuais selecionados no inventário por categoria/escopo; a data documental isolada não comprova vigência jurídica.</a:t>
            </a:r>
          </a:p>
          <a:p>
            <a:r>
              <a:t>CNPJ 60010416000112 · Cross default e insolvência · Resumo do histórico: {"count": 1, "dates": ["2025-03-20"], "document_count": 1, "sources": [{"document_id": "993786", "title": "Regulamento", "reference_date": "2025-03-20", "version": "1", "page": 21, "clause": "10.2", "url": "https://fnet.bmfbovespa.com.br/fnet/publico/visualizarDocumento?id=993786", "sha256": "fd0fdd369a195510d81f81f505195a0b09e5f43522a990afa7d58c4f872921c8"}], "reference": {"path": "history/60010416000112.json", "criterion_id": "cross_default", "total_count": 1, "preview_count": 1, "full_text_deferred": true, "sha256": "8e2bd813f4c51cf01f6bfaad164bafe69d2bbb192f753eac92da3a01c2e63046"}}</a:t>
            </a:r>
          </a:p>
          <a:p>
            <a:r>
              <a:t>CNPJ 62696791000193 · Cross default e insolvência · Motivo: Não localizada uma cláusula material para este critério nos textos identificados e processados. A ausência de resultado não comprova inexistência da regra.</a:t>
            </a:r>
          </a:p>
          <a:p>
            <a:r>
              <a:t>CNPJ 55563624000109 · Cross default e insolvência · Motivo: Não localizada uma cláusula material para este critério nos textos identificados e processados. A ausência de resultado não comprova inexistência da regra.</a:t>
            </a:r>
          </a:p>
          <a:p>
            <a:r>
              <a:t>CNPJ 62552447000120 · Cross default e insolvência · Regulamento · ID 1200623 · 2026-05-21 · versão 1 · p. 22 · 11.1 · https://fnet.bmfbovespa.com.br/fnet/publico/visualizarDocumento?id=1200623</a:t>
            </a:r>
          </a:p>
          <a:p>
            <a:r>
              <a:t>CNPJ 62552447000120 · Cross default e insolvência · Excerto da fonte:</a:t>
            </a:r>
          </a:p>
          <a:p>
            <a:r>
              <a:t>11.1 As seguintes hipóteses são consideradas eventos de avaliação (“Eventos de Avaliação”):</a:t>
            </a:r>
          </a:p>
          <a:p>
            <a:r>
              <a:t> (i) em caso de regime de administração especial temporária - RAET, intervenção ou liquidação  extrajudicial do Endossante, da instituição f inanceira prestadora dos serviços de agente de  conta vinculada à Classe (“Agente de Conta Vinculada”) e/ou do Agente de Retenção e  Cobrança;</a:t>
            </a:r>
          </a:p>
          <a:p>
            <a:r>
              <a:t> (ii) não cumprimento, pelo Endossante, de qualquer de suas obrigações estabelecidas nos  Contratos de Endosso, no Regulamento ou neste Anexo I, desde que esse não cumprimento  não seja devidamente sanado ou justificado dentro de 5 (cinco) Dias Úteis a partir do  recebimento, pelo Endossante, de notificação, por escrito, enviada pelo Administrador,  inf ormando-o da ocorrência do respectivo evento;</a:t>
            </a:r>
          </a:p>
          <a:p>
            <a:r>
              <a:t> (iii) não cumprimento, pelo Endossante e/ou pelo Agente de Retenção e Cobrança, de sua  obrigação de entregar os (a) arquivos eletrônicos disponibilizados mensalmente pela Dataprev  ao Endossante, contendo (1) as Consignações processadas pela Dataprev no respectivo mês,  identificando os Devedores e os valores que serão descontados de suas respectivas folhas de  pagamentos, bem como (2) a totalidade das operações pendentes de crédito consignado  concedidas pelo Endossante e indicando todos os Direitos Creditórios devi dos mediante  Consignação na próxima data de liquidação (“Arquivos Dataprev”) e/ou (b) os arquivos  eletrônicos disponibilizados mensalmente pela CEF ao Endossante, contendo os pagamentos  de Saque-aniversário processados pela CEF no respectivo mês devidos à Classe, identificando  os Devedores e os valores que serão descontados de seus respectivos Saques-aniversário  (“Arquivos de Liquidação Saque-aniversário”) ao Custodiante dentro do prazo estabelecido  neste Anexo I, desde que esse não cumprimento não seja dev idamente sanado ou justificado  dentro de 5 (cinco) Dias Úteis a partir do recebimento, pelo Endossante e/ou pelo Agente de  Retenção e Cobrança, de notificação, por escrito, enviada pelo Custodiante, inf ormando-o da  ocorrência do respectivo evento;</a:t>
            </a:r>
          </a:p>
          <a:p>
            <a:r>
              <a:t> (iv) não cumprimento, pelo Endossante e/ou pelo Agente de Retenção e Cobrança, de qualquer de  suas obrigações de entregar ao Gestor, ou a terceiros por ele indicados, os Documentos  Comprobatórios e Documentos Suporte relativos aos Direitos Creditórios que tenham sido  endossados à Classe, dentro do prazo estabelecido neste Anexo I, desde que esse não  cumprimento não seja devidamente sanado ou justificado dentro de 5 (cinco) Dias Úteis a partir  do recebimento, pelo Endossante e/ou pelo Agente de Retenção e Cobrança, de notificação,  por escrito, enviada pelo Custodiante, inf ormando- o da ocorrência do respectivo evento;</a:t>
            </a:r>
          </a:p>
          <a:p>
            <a:r>
              <a:t> (v) não cumprimento, pelo Agente de Retenção e Cobrança, de qualquer de suas obrigações  estabelecidas nos Contratos de Endosso, no Regulamento, neste Anexo I ou nos Contratos de  Retenção/Cobrança, desde que esse não cumprimento não seja devidamente sanado ou</a:t>
            </a:r>
          </a:p>
          <a:p>
            <a:r>
              <a:t>CNPJ 62552447000120 · Cross default e insolvência · Condição: Documentos atuais selecionados no inventário por categoria/escopo; a data documental isolada não comprova vigência jurídica.</a:t>
            </a:r>
          </a:p>
          <a:p>
            <a:r>
              <a:t>CNPJ 62552447000120 · Cross default e insolvência · Versão e prevalência: Documentos atuais selecionados no inventário por categoria/escopo; a data documental isolada não comprova vigência jurídica.</a:t>
            </a:r>
          </a:p>
          <a:p>
            <a:r>
              <a:t>CNPJ 63953620000165 · Cross default e insolvência · Anexo ao Regulamento · ID 1222863 · 2026-06-02 · versão 1 · p. 14 · 11.1 · https://fnet.bmfbovespa.com.br/fnet/publico/visualizarDocumento?id=1222863</a:t>
            </a:r>
          </a:p>
          <a:p>
            <a:r>
              <a:t>CNPJ 63953620000165 · Cross default e insolvência · Excerto da fonte:</a:t>
            </a:r>
          </a:p>
          <a:p>
            <a:r>
              <a:t>11.1 As seguintes hipóteses são consideradas eventos de avaliação (“Eventos de Avaliação”):</a:t>
            </a:r>
          </a:p>
          <a:p>
            <a:r>
              <a:t> (i) em caso de regime de administração especial temporária - RAET, intervenção ou liquidação extrajudicial  do Endossante;</a:t>
            </a:r>
          </a:p>
          <a:p>
            <a:r>
              <a:t> (ii) em caso de desenquadramento do Índice de Subordinação por 10 (dez) dias úteis consecutivos;</a:t>
            </a:r>
          </a:p>
          <a:p>
            <a:r>
              <a:t> (iii) não cumprimento, pelo Endossante, de qualquer de suas obrigações estabelecidas no Contrato de  Endosso ou neste Anexo I, desde que esse não cumprimento não seja devidamente sanado ou justificado  dentro de 10 (dez) Dias Úteis a partir do recebimento, pelo Endossante, de notificação, por escrito,  enviada pelo Administrador, informando-o da ocorrência do respectivo evento;</a:t>
            </a:r>
          </a:p>
          <a:p>
            <a:r>
              <a:t> (iv) não cumprimento, pelo Endossante, de sua obrigação de entregar os Arquivos Dataprev ao Gestor e ao  Custodiante dentro do prazo estabelecido neste Anexo, desde que esse não cumprimento não seja  devidamente sanado ou justificado dentro de 02 (dois) Dias Úteis a partir do recebimento, pelo  Endossante, de notificação, por escrito, enviada pelo Gestor, informando-o da ocorrência do respectivo  evento;</a:t>
            </a:r>
          </a:p>
          <a:p>
            <a:r>
              <a:t> (v) não cumprimento, pelo Endossante, de qualquer de suas obrigações de entregar ao Gestor e/o ao  Custodiante, ou a terceiros por ele indicados, os Documentos Comprobatórios e Documentos Suporte  relativos aos Direitos Creditórios que tenham sido endossados à Classe, dentro do prazo estabelecido  neste Anexo I, desde que esse não cumprimento não seja devidamente sanado ou justificado dentro de  02 (dois) Dias Úteis a partir do recebimento, pelo Endossante, de notificação, por escrito, enviada pelo  Gestor e/ou Custodiante, informando- o da ocorrência do respectivo evento;</a:t>
            </a:r>
          </a:p>
          <a:p>
            <a:r>
              <a:t> (vi) não cumprimento, pelo Agente de Retenção/Cobrança, de qualquer de suas obrigações estabelecidas  no Contrato de Endosso, neste Regulamento ou no Contrato de Serviços MT, desde que esse não  cumprimento não seja devidamente sanado ou justificado dentro de 10 (dez) Dias Úteis a partir do  recebimento, pelo Agente de Retenção/Cobrança, de notificação, por escrito, enviada pelo Gestor,  informando-o da ocorrência do respectivo evento;</a:t>
            </a:r>
          </a:p>
          <a:p>
            <a:r>
              <a:t>CNPJ 63953620000165 · Cross default e insolvência · Condição: Documentos atuais selecionados no inventário por categoria/escopo; a data documental isolada não comprova vigência jurídica.</a:t>
            </a:r>
          </a:p>
          <a:p>
            <a:r>
              <a:t>CNPJ 63953620000165 · Cross default e insolvência · Versão e prevalência: Documentos atuais selecionados no inventário por categoria/escopo; a data documental isolada não comprova vigência jurídica.</a:t>
            </a:r>
          </a:p>
          <a:p>
            <a:r>
              <a:t>CNPJ 54871427000194 · Gatilhos de avaliação e liquidação · Regulamento · ID 670691 · 2024-04-28 · versão 1 · p. 17 · 10.2 · https://fnet.bmfbovespa.com.br/fnet/publico/visualizarDocumento?id=670691</a:t>
            </a:r>
          </a:p>
          <a:p>
            <a:r>
              <a:t>CNPJ 54871427000194 · Gatilhos de avaliação e liquidação · Excerto da fonte:</a:t>
            </a:r>
          </a:p>
          <a:p>
            <a:r>
              <a:t>10.2 A Assembleia Especial de Cotistas é responsável por deliberar sobre as matérias específicas da Classe  de Cotas, sem prejuízo das demais disposições previstas na regulamentação aplicável, incluindo, mas  não se limitando a:</a:t>
            </a:r>
          </a:p>
          <a:p>
            <a:r>
              <a:t> (i) deliberar sobre as demonstrações contábeis da Classe;</a:t>
            </a:r>
          </a:p>
          <a:p>
            <a:r>
              <a:t> (ii) deliberar sobre substituição de Prestadores de Serviços Essenciais, observado o disposto no  art. 70, §1º da parte geral da Resolução CVM 175;</a:t>
            </a:r>
          </a:p>
          <a:p>
            <a:r>
              <a:t> (iii) deliberar sobre elevação da Taxa de Administração, inclusive na hipótese de restabelecimento  de taxa que tenha sido objeto de redução;</a:t>
            </a:r>
          </a:p>
          <a:p>
            <a:r>
              <a:t> (iv) deliberar sobre incorporação, f usão, cisão total ou parcial, a transf ormação ou liquidação da  Classe;</a:t>
            </a:r>
          </a:p>
          <a:p>
            <a:r>
              <a:t> (v) alterações das características, vantagens, direitos e obrigações das Cotas;</a:t>
            </a:r>
          </a:p>
          <a:p>
            <a:r>
              <a:t> (vi) alterar critérios e procedimentos para Amortização e/ou resgate de Cotas mediante dação em  pagamento de Direitos Creditórios;</a:t>
            </a:r>
          </a:p>
          <a:p>
            <a:r>
              <a:t> (vii) aprovar a contratação de Agente de Cobrança dos Direitos Creditórios;</a:t>
            </a:r>
          </a:p>
          <a:p>
            <a:r>
              <a:t> (viii) aprovar emissão de novas Cotas da Classe;</a:t>
            </a:r>
          </a:p>
          <a:p>
            <a:r>
              <a:t> (ix) deliberar sobre a eventual necessidade de aportes adicionais de recursos na Classe pelos  Cotistas;</a:t>
            </a:r>
          </a:p>
          <a:p>
            <a:r>
              <a:t> (x) alterações na Política de Investimentos;</a:t>
            </a:r>
          </a:p>
          <a:p>
            <a:r>
              <a:t> (xi) alterações nos Critérios de Elegibilidade;</a:t>
            </a:r>
          </a:p>
          <a:p>
            <a:r>
              <a:t> (xii) alteração dos Eventos de Avaliação, dos Eventos de Liquidação e/ou das consequências deles  decorrentes em f unção do previsto neste Regulamento;</a:t>
            </a:r>
          </a:p>
          <a:p>
            <a:r>
              <a:t> (xiii) plano de resolução do Patrimônio Líquido negativo da Classe, nos termos da Resolução CVM  175; e</a:t>
            </a:r>
          </a:p>
          <a:p>
            <a:r>
              <a:t> (xiv) pedido de declaração judicial de insolvência da Classe.</a:t>
            </a:r>
          </a:p>
          <a:p>
            <a:r>
              <a:t>CAPÍTULO 11 – EVENTOS DE AVALIAÇÃO, EVENTOS DE LIQUIDAÇÃO, E PROCEDIMENTOS DE LIQUIDAÇÃO ANTECIPADA Eventos de Avaliação</a:t>
            </a:r>
          </a:p>
          <a:p>
            <a:r>
              <a:t>CNPJ 54871427000194 · Gatilhos de avaliação e liquidação · Regulamento · ID 670691 · 2024-04-28 · versão 1 · p. 19 · 11.2 · https://fnet.bmfbovespa.com.br/fnet/publico/visualizarDocumento?id=670691</a:t>
            </a:r>
          </a:p>
          <a:p>
            <a:r>
              <a:t>CNPJ 54871427000194 · Gatilhos de avaliação e liquidação · Excerto da fonte:</a:t>
            </a:r>
          </a:p>
          <a:p>
            <a:r>
              <a:t>11.2 Os seguintes eventos obrigarão o ADMINISTRADOR a verificar se o Patrimônio Líquido da Classe está  negativo:</a:t>
            </a:r>
          </a:p>
          <a:p>
            <a:r>
              <a:t> (i) qualquer pedido de declaração judicial de insolvência da Classe; e</a:t>
            </a:r>
          </a:p>
          <a:p>
            <a:r>
              <a:t> (ii) na ocorrência de quaisquer dos Eventos de Avaliação e/ou Eventos de Liquidação .</a:t>
            </a:r>
          </a:p>
          <a:p>
            <a:r>
              <a:t>Eventos de Liquidação</a:t>
            </a:r>
          </a:p>
          <a:p>
            <a:r>
              <a:t>CNPJ 54871427000194 · Gatilhos de avaliação e liquidação · Condição: Documentos atuais selecionados no inventário por categoria/escopo; a data documental isolada não comprova vigência jurídica.</a:t>
            </a:r>
          </a:p>
          <a:p>
            <a:r>
              <a:t>CNPJ 54871427000194 · Gatilhos de avaliação e liquidação · Versão e prevalência: Documentos atuais selecionados no inventário por categoria/escopo; a data documental isolada não comprova vigência jurídica.</a:t>
            </a:r>
          </a:p>
          <a:p>
            <a:r>
              <a:t>CNPJ 54871427000194 · Gatilhos de avaliação e liquidação · Resumo do histórico: {"count": 2, "dates": ["2024-04-19", "2024-04-28"], "document_count": 2, "sources": [{"document_id": "670691", "title": "Regulamento", "reference_date": "2024-04-28", "version": "1", "page": "17-20", "url": "https://fnet.bmfbovespa.com.br/fnet/publico/visualizarDocumento?id=670691", "sha256": "bf16dd7f1a62d5cdbf2e2d54fef81783783f7310fbc99c3a8f00459bdf9d037b"}, {"document_id": "670689", "title": "Regulamento", "reference_date": "2024-04-19", "version": "1", "page": 17, "clause": "10.2", "url": "https://fnet.bmfbovespa.com.br/fnet/publico/visualizarDocumento?id=670689", "sha256": "891bc9bc5d87bbc02ec139077a84d2702eb81ea02035fb71d24f5b8366b94a0b"}], "reference": {"path": "history/54871427000194.json", "criterion_id": "legacy_events", "total_count": 2, "preview_count": 2, "full_text_deferred": true, "sha256": "35d7cd99be50c7287c9fb675cf4f2e736002315295a225a9efa79c8d9186d874"}}</a:t>
            </a:r>
          </a:p>
          <a:p>
            <a:r>
              <a:t>CNPJ 60010416000112 · Gatilhos de avaliação e liquidação · Regulamento · ID 1051393 · 2025-10-09 · versão 1 · p. 21 · 10.2 · https://fnet.bmfbovespa.com.br/fnet/publico/visualizarDocumento?id=1051393</a:t>
            </a:r>
          </a:p>
          <a:p>
            <a:r>
              <a:t>CNPJ 60010416000112 · Gatilhos de avaliação e liquidação · Excerto da fonte:</a:t>
            </a:r>
          </a:p>
          <a:p>
            <a:r>
              <a:t>10.2 Os seguintes eventos obrigarão o Administrador a verif icar se o Patrimônio Líquido da Classe está  negativo:</a:t>
            </a:r>
          </a:p>
          <a:p>
            <a:r>
              <a:t> (i) qualquer pedido de declaração judicial de insolvência da Classe;</a:t>
            </a:r>
          </a:p>
          <a:p>
            <a:r>
              <a:t> (ii) identificação de indícios de f raudes envolvendo o lastro de Direitos Creditórios que representem, no  mínimo 0,5 (cinco décimos por cento) do Patrimônio Líquido da Classe;</a:t>
            </a:r>
          </a:p>
          <a:p>
            <a:r>
              <a:t> (iii) inadimplência de obrigações financeiras de devedor e/ou emissor de ativos detidos pela Classe que  representem mais de 25% (vinte e cinco por cento)de seu Patrimônio Líquido;</a:t>
            </a:r>
          </a:p>
          <a:p>
            <a:r>
              <a:t> (iv) pedido de recuperação extrajudicial, de recuperação judicial, ou de falência de Devedor e/ou emissor  de ativos detidos pela Classe;</a:t>
            </a:r>
          </a:p>
          <a:p>
            <a:r>
              <a:t> (v) condenação da Classe de natureza judicial e/ou arbitral e/ou administrativa e/ou outras similares ao  pagamento de mais de 20% (vinte por cento) de seu Patrimônio Líquido; e</a:t>
            </a:r>
          </a:p>
          <a:p>
            <a:r>
              <a:t> (vi) caso caracterizado quaisquer dos Eventos de Liquidação.</a:t>
            </a:r>
          </a:p>
          <a:p>
            <a:r>
              <a:t>Eventos de Liquidação</a:t>
            </a:r>
          </a:p>
          <a:p>
            <a:r>
              <a:t>CNPJ 60010416000112 · Gatilhos de avaliação e liquidação · Regulamento · ID 1051393 · 2025-10-09 · versão 1 · p. 21 · 10.3 · https://fnet.bmfbovespa.com.br/fnet/publico/visualizarDocumento?id=1051393</a:t>
            </a:r>
          </a:p>
          <a:p>
            <a:r>
              <a:t>CNPJ 60010416000112 · Gatilhos de avaliação e liquidação · Excerto da fonte:</a:t>
            </a:r>
          </a:p>
          <a:p>
            <a:r>
              <a:t>10.3 As seguintes hipóteses são consideradas Eventos de Liquidação:</a:t>
            </a:r>
          </a:p>
          <a:p>
            <a:r>
              <a:t> (i) caso seja deliberado em Assembleia de Cotistas que um Evento de Avaliação constitui um Evento de  Liquidação;</a:t>
            </a:r>
          </a:p>
          <a:p>
            <a:r>
              <a:t> (ii) na hipótese de resilição do Contrato de Custódia ou renúncia do Custodiante, sem que tenha havido  sua substituição por outra instituição, de acordo com os procedimentos estabelecidos neste  Regulamento;</a:t>
            </a:r>
          </a:p>
          <a:p>
            <a:r>
              <a:t> (iii) renúncia do Administrador sem que a Assembleia Especial de Cotistas eficazmente nomeie instituição  habilitada para substituí-lo, nos termos estabelecidos neste Regulamento;</a:t>
            </a:r>
          </a:p>
          <a:p>
            <a:r>
              <a:t> (iv) por determinação da CVM, em caso de violação de normas legais ou regulamentares;</a:t>
            </a:r>
          </a:p>
          <a:p>
            <a:r>
              <a:t> (v) sempre que assim decidido pelos Cotistas em Assembleia Especial de Cotistas especialmente  convocada para tal f im;</a:t>
            </a:r>
          </a:p>
          <a:p>
            <a:r>
              <a:t> (vi) em caso de regime de administração especial temporária - RAET, intervenção ou liquidação  extrajudicial, conforme aplicável, do Custodiante, Administrador, ou Gestor, sem a sua ef etiva  substituição nos termos deste Regulamento;</a:t>
            </a:r>
          </a:p>
          <a:p>
            <a:r>
              <a:t> (vii) se, após 90 (noventa) dias do início das atividades do Fundo, o Patrimônio Líquido diário inf erior da  Classe f or inf erior a R$ 1.000.000,00 (um milhão de reais) pelo período de 90 (noventa) dias  consecutivos;</a:t>
            </a:r>
          </a:p>
          <a:p>
            <a:r>
              <a:t> (viii) impossibilidade da Classe adquirir Direitos Creditórios admitidos por sua política de investimento.</a:t>
            </a:r>
          </a:p>
          <a:p>
            <a:r>
              <a:t>Procedimentos de Liquidação Antecipada</a:t>
            </a:r>
          </a:p>
          <a:p>
            <a:r>
              <a:t>CNPJ 60010416000112 · Gatilhos de avaliação e liquidação · Regulamento · ID 1051393 · 2025-10-09 · versão 1 · p. 38 · https://fnet.bmfbovespa.com.br/fnet/publico/visualizarDocumento?id=1051393</a:t>
            </a:r>
          </a:p>
          <a:p>
            <a:r>
              <a:t>CNPJ 60010416000112 · Gatilhos de avaliação e liquidação · Excerto da fonte:</a:t>
            </a:r>
          </a:p>
          <a:p>
            <a:r>
              <a:t>Anexo I ao Regulamento CLASSE ÚNICA DO MT I CONSIGNADO PRIVADO I FUNDO DE INVESTIMENTO EM DIREITOS CREDITÓRIOS RESPONSABILIDADE LIMITADA  deixar de produzir os efeitos pretendidos, bem como causar perdas para o Cotista e colocar  em risco o patrimônio da Classe</a:t>
            </a:r>
          </a:p>
          <a:p>
            <a:r>
              <a:t> (iii) Risco decorrente da amortização das Cotas: conforme previsto neste Anexo I, as Cotas  poderão ser amortizadas conf orme deliberado pela em Assembleia de Cotistas.</a:t>
            </a:r>
          </a:p>
          <a:p>
            <a:r>
              <a:t> Considerando que a realização da amortização dependerá do caixa existente na Classe, é  possível que, se essa condição não seja verif icada, a Classe não poderá ef etuar as  amortizações das Cotas conforme deliberadas pelos Cotistas. A Classe, o Administrador, o  Custodiante, o Gestor, o Agente de Retenção/Cobrança, o Coordenador Líder ou o  Endossante não terão direito a nenhuma multa ou penalidade, por qualquer motivo, devido a  esse f ato.</a:t>
            </a:r>
          </a:p>
          <a:p>
            <a:r>
              <a:t> (iv) Risco de invalidade ou ineficácia do endosso: o endosso dos Direitos Creditórios à Classe  poderá ser invalidada ou considerada ineficaz, o que impacta negativamente o patrimônio da  Classe, no caso de (a) fraude contra credores, se no momento do endosso o Endossante for  insolvente ou se ele vier a se tornar insolvente; (b) fraude à execução, se (1) no momento do  endosso o Endossante f or réu em um processo judicial capaz de torná-lo insolvente; ou (2)  os Direitos Creditórios endossados à Classe estiverem sujeitos a qualquer demanda judicial  baseada em garantia real; e (c) f raude à execução f iscal, se o Endossante, ao celebrar o  endosso de crédito, como contribuinte por débito à Fazenda Pública, e crédito f iscal  regularmente inscrito na dívida ativa, não tiver ativos para pagamento total da dívida f iscal.</a:t>
            </a:r>
          </a:p>
          <a:p>
            <a:r>
              <a:t> Entretanto, o Administrador, o Custodiante, o Gestor e o Agente de Retenção/ Cobrança não  verif icarão os eventos acima no endosso de Direito Creditório e não serão responsabilizados  em caso de invalidação ou inef icácia do endosso de um Direito Creditório à Classe.</a:t>
            </a:r>
          </a:p>
          <a:p>
            <a:r>
              <a:t> (v) Risco de impugnação judicial: a CCB poderá ser impugnada judicialmente tanto no que diz  respeito à sua f ormalização quanto às taxas aplicadas e à f orma de cobrança da CCB,  inclusive em virtude das disposições estabelecidas na Lei nº 8.078, de 11 de setembro de  1990, conf orme alterada (Código de Def esa do Consumidor), tais como uma possível  impugnação de cláusula abusiva, bem como qualquer vício nos Documentos Comprobatórios  ou Documentos Suporte que impeçam a exigibilidade do crédito (ausência de assinaturas ou  f alta de prova de f ormalização regular do instrumento, representação ilegítima, dentre  outros). Nesses casos, a CCB poderá ser modificada ou cancelada em virtude de decisão  judicial, o que poderá acarretar perdas para a Classe e, consequentemente, af etar  negativamente a rentabilidade de seu patrimônio.</a:t>
            </a:r>
          </a:p>
          <a:p>
            <a:r>
              <a:t> (vi) Risco de restrições de natureza legal ou regulamentar: a Classe pode estar sujeito a  riscos, além do controle do Administrador, decorrentes de quaisquer restrições f uturas de  natureza legal e/ou regulamentar que venham a af etar a validade da constituição e/ou o  endosso dos Direitos Creditórios à Classe. Caso essas restrições ocorram, o f luxo de  cessões de Direitos Creditórios à Classe pode ser interrompido e, portanto, pode  comprometer a continuidade da Classe e a perspectiva de investimento do Cotista. Além  disso, os Direitos Creditórios que já estão na Carteira podem ter sua validade questionada,  o que pode causar, portanto, prejuízos ao Cotista.</a:t>
            </a:r>
          </a:p>
          <a:p>
            <a:r>
              <a:t> (vii) Risco de não obter um tratamento fiscal mais benéfico: o Gestor deverá envidar seus  melhores esforços para que o tratamento f iscal aplicável às classes de longo prazo seja  aplicado à Classe e ao Cotista. Entretanto, em virtude de eventos fora do controle do Gestor,  incluindo, mas não se limitando aos eventos de liquidação antecipada da Classe  estabelecidos neste Anexo I, é possível que a Classe e o Cotista não desfrutem de tratamento  f iscal mais benéf ico, atribuído às classes de longo prazo. Essa situação pode levar a um  impacto adverso na rentabilidade líquida decorrente do investimento nas Cotas.</a:t>
            </a:r>
          </a:p>
          <a:p>
            <a:r>
              <a:t> (viii) Risco de bloqueio da Conta de Cobrança da Classe ou da Conta de Movimentação da  Classe: os recursos provenientes da Classe serão direcionados para a Conta de Cobrança BTG Pactual SAC: 0800 772 28 27 - Ouvidoria: 0800 722 00 48 - btgpactual.com 38</a:t>
            </a:r>
          </a:p>
          <a:p>
            <a:r>
              <a:t>CNPJ 60010416000112 · Gatilhos de avaliação e liquidação · Condição: Documentos atuais selecionados no inventário por categoria/escopo; a data documental isolada não comprova vigência jurídica.</a:t>
            </a:r>
          </a:p>
          <a:p>
            <a:r>
              <a:t>CNPJ 60010416000112 · Gatilhos de avaliação e liquidação · Versão e prevalência: Documentos atuais selecionados no inventário por categoria/escopo; a data documental isolada não comprova vigência jurídica.</a:t>
            </a:r>
          </a:p>
          <a:p>
            <a:r>
              <a:t>CNPJ 60010416000112 · Gatilhos de avaliação e liquidação · Resumo do histórico: {"count": 2, "dates": ["2025-03-20", "2025-10-09"], "document_count": 2, "sources": [{"document_id": "1051393", "title": "Regulamento", "reference_date": "2025-10-09", "version": "1", "page": "19-22", "url": "https://fnet.bmfbovespa.com.br/fnet/publico/visualizarDocumento?id=1051393", "sha256": "8469d613078ffd5a6c1d217885d8a397a16342c0b937ae4aa24b106505f233ae"}, {"document_id": "993786", "title": "Regulamento", "reference_date": "2025-03-20", "version": "1", "page": 21, "clause": "10.2", "url": "https://fnet.bmfbovespa.com.br/fnet/publico/visualizarDocumento?id=993786", "sha256": "fd0fdd369a195510d81f81f505195a0b09e5f43522a990afa7d58c4f872921c8"}], "reference": {"path": "history/60010416000112.json", "criterion_id": "legacy_events", "total_count": 2, "preview_count": 2, "full_text_deferred": true, "sha256": "8e2bd813f4c51cf01f6bfaad164bafe69d2bbb192f753eac92da3a01c2e63046"}}</a:t>
            </a:r>
          </a:p>
          <a:p>
            <a:r>
              <a:t>CNPJ 62696791000193 · Gatilhos de avaliação e liquidação · Regulamento · ID 1143317 · 2026-03-20 · versão 1 · p. 37 · 5.1 · https://fnet.bmfbovespa.com.br/fnet/publico/visualizarDocumento?id=1143317</a:t>
            </a:r>
          </a:p>
          <a:p>
            <a:r>
              <a:t>CNPJ 62696791000193 · Gatilhos de avaliação e liquidação · Excerto da fonte:</a:t>
            </a:r>
          </a:p>
          <a:p>
            <a:r>
              <a:t>5.1. Verif icado excesso de subordinação, ou seja, que a representatividade de Cotas Júnior em relação ao  Patrimônio Líquido da Classe é superior ao Índice de Subordinação (“Excesso de Subordinação”), desde  que assim seja deliberado por maioria dos votos de seus titulares e da maioria dos titulares de Cotas  Seniores, as Cotas Juniores poderão ser objeto de Amortização Extraordinária até o limite do respectivos  Excesso de Subordinação– ainda que tal Amortização Extraordinária ocorra antes do resgate integral das  Cotas Seniores– desde que: (i) seja observada a ordem de alocação de recursos definida no item 6.1  acima Anexo; (ii) não existam Obrigações da Classe vencidas e não pagas; (iii) não estejam em curso  quaisquer Eventos de Avaliação e/ou Eventos de Liquidação; (iv) existam suficientes Ativos Financeiros  e/ou recursos disponíveis; e (vii) permaneçam atendidas todos os Índices de Subordinação.</a:t>
            </a:r>
          </a:p>
          <a:p>
            <a:r>
              <a:t>6. Negociação das Cotas</a:t>
            </a:r>
          </a:p>
          <a:p>
            <a:r>
              <a:t>CNPJ 62696791000193 · Gatilhos de avaliação e liquidação · Condição: Documentos atuais selecionados no inventário por categoria/escopo; a data documental isolada não comprova vigência jurídica.</a:t>
            </a:r>
          </a:p>
          <a:p>
            <a:r>
              <a:t>CNPJ 62696791000193 · Gatilhos de avaliação e liquidação · Motivo: Cláusula primária localizada e citada, mas sua lista/condições extensas não admitem uma síntese literal curta confirmada. O trecho integral permanece nas fontes.</a:t>
            </a:r>
          </a:p>
          <a:p>
            <a:r>
              <a:t>CNPJ 62696791000193 · Gatilhos de avaliação e liquidação · Versão e prevalência: Documentos atuais selecionados no inventário por categoria/escopo; a data documental isolada não comprova vigência jurídica.</a:t>
            </a:r>
          </a:p>
          <a:p>
            <a:r>
              <a:t>CNPJ 55563624000109 · Gatilhos de avaliação e liquidação · Regulamento · ID 1192614 · 2026-04-30 · versão 1 · p. 21 · 11.2 · https://fnet.bmfbovespa.com.br/fnet/publico/visualizarDocumento?id=1192614</a:t>
            </a:r>
          </a:p>
          <a:p>
            <a:r>
              <a:t>CNPJ 55563624000109 · Gatilhos de avaliação e liquidação · Excerto da fonte:</a:t>
            </a:r>
          </a:p>
          <a:p>
            <a:r>
              <a:t>11.2 Os seguintes eventos obrigarão o ADMINISTRADOR a verificar se o Patrimônio Líquido da Classe está negativo  (“Eventos de Verificação do Patrimônio”):</a:t>
            </a:r>
          </a:p>
          <a:p>
            <a:r>
              <a:t> (i) qualquer pedido de declaração judicial de insolvência da Classe;</a:t>
            </a:r>
          </a:p>
          <a:p>
            <a:r>
              <a:t> (ii) qualquer pedido ou declaração judicial de insolvência da Classe Investida;</a:t>
            </a:r>
          </a:p>
          <a:p>
            <a:r>
              <a:t> (iii) identificação de indícios de fraudes envolvendo o lastro dos direitos creditórios da Classe Investida;</a:t>
            </a:r>
          </a:p>
          <a:p>
            <a:r>
              <a:t> (iv) condenação da Classe de natureza judicial e/ou arbitral e/ou administrativa e/ou outras similares ao  pagamento de mais de 20% (vinte por cento) de seu Patrimônio Líquido; e</a:t>
            </a:r>
          </a:p>
          <a:p>
            <a:r>
              <a:t> (v) caso caracterizado quaisquer dos Eventos de Avaliação e/ou Eventos de Liquidação.</a:t>
            </a:r>
          </a:p>
          <a:p>
            <a:r>
              <a:t> Eventos de Liquidação</a:t>
            </a:r>
          </a:p>
          <a:p>
            <a:r>
              <a:t>CNPJ 55563624000109 · Gatilhos de avaliação e liquidação · Regulamento · ID 1192614 · 2026-04-30 · versão 1 · p. 20 · https://fnet.bmfbovespa.com.br/fnet/publico/visualizarDocumento?id=1192614</a:t>
            </a:r>
          </a:p>
          <a:p>
            <a:r>
              <a:t>CNPJ 55563624000109 · Gatilhos de avaliação e liquidação · Excerto da fonte:</a:t>
            </a:r>
          </a:p>
          <a:p>
            <a:r>
              <a:t>(vi) alterar as características, vantagens, direitos e obrigações 90% (noventa por cento) do total das Cotas  das Cotas; emitidas</a:t>
            </a:r>
          </a:p>
          <a:p>
            <a:r>
              <a:t> (vii) alterar critérios e procedimentos para resgate de Cotas  mediante dação em pagamento de Cotas da Classe Maioria do total das Cotas emitidas  Investida;</a:t>
            </a:r>
          </a:p>
          <a:p>
            <a:r>
              <a:t> (viii) aprovar a emissão de novas Cotas fora do Capital  Maioria do total das Cotas emitidas  Autorizado;</a:t>
            </a:r>
          </a:p>
          <a:p>
            <a:r>
              <a:t> (ix) alterar a Política de Investimentos; 90% (noventa por cento) do total das Cotas  emitidas</a:t>
            </a:r>
          </a:p>
          <a:p>
            <a:r>
              <a:t> (x) alterar o Critério de Elegibilidade; 90% (noventa por cento) do total das Cotas  emitidas</a:t>
            </a:r>
          </a:p>
          <a:p>
            <a:r>
              <a:t> (xi) alterar os Eventos de Avaliação, os Eventos de Liquidação  90% (noventa por cento) do total das Cotas  e/ou das consequências deles decorrentes em função do  emitidas  previsto neste Anexo;</a:t>
            </a:r>
          </a:p>
          <a:p>
            <a:r>
              <a:t> (xii) deliberar sobre o plano de resolução do Patrimônio Líquido  Maioria do total das Cotas emitidas  negativo da Classe, nos termos da Resolução CVM 175; e</a:t>
            </a:r>
          </a:p>
          <a:p>
            <a:r>
              <a:t> (xiii) deliberar sobre o pedido de declaração judicial de 90% (noventa por cento) do total das Cotas  insolvência da Classe. emitidas</a:t>
            </a:r>
          </a:p>
          <a:p>
            <a:r>
              <a:t>CNPJ 55563624000109 · Gatilhos de avaliação e liquidação · Regulamento · ID 1192614 · 2026-04-30 · versão 1 · p. 2 · 1.3 · https://fnet.bmfbovespa.com.br/fnet/publico/visualizarDocumento?id=1192614</a:t>
            </a:r>
          </a:p>
          <a:p>
            <a:r>
              <a:t>CNPJ 55563624000109 · Gatilhos de avaliação e liquidação · Excerto da fonte:</a:t>
            </a:r>
          </a:p>
          <a:p>
            <a:r>
              <a:t>1.3 O Anexo dispõe, sem prejuízo de outros requisitos e informações previstos na regulamentação, sobre os  seguintes aspectos relacionados à Classe: (i) características gerais, incluindo a indicação dos demais prestadores  de serviços; (ii) responsabilidade dos cotistas e regime de insolvência; (iii) características, direitos, condições de  emissão, subscrição, integralização, amortização e resgate das Cotas; (iv) ordem de alocação de recursos; (v)  assembleia especial de cotistas e demais procedimentos aplicáveis às manifestações de vontade dos cotistas; (vi)  remuneração dos prestadores de serviços; (vii) política de investimento e composição e diversificação da  Carteira; (viii) eventos de avaliação, eventos de liquidação e procedimentos de liquidação antecipada da Classe;</a:t>
            </a:r>
          </a:p>
          <a:p>
            <a:r>
              <a:t> (ix) origem dos Direitos Creditórios; (x) Critério de Elegibilidade; (xi) custos referentes à defesa dos interesses da  Classe; e (xii) fatores de risco.</a:t>
            </a:r>
          </a:p>
          <a:p>
            <a:r>
              <a:t>CNPJ 55563624000109 · Gatilhos de avaliação e liquidação · Condição: Documentos atuais selecionados no inventário por categoria/escopo; a data documental isolada não comprova vigência jurídica.</a:t>
            </a:r>
          </a:p>
          <a:p>
            <a:r>
              <a:t>CNPJ 55563624000109 · Gatilhos de avaliação e liquidação · Versão e prevalência: Documentos atuais selecionados no inventário por categoria/escopo; a data documental isolada não comprova vigência jurídica.</a:t>
            </a:r>
          </a:p>
          <a:p>
            <a:r>
              <a:t>CNPJ 62552447000120 · Gatilhos de avaliação e liquidação · Regulamento · ID 1200623 · 2026-05-21 · versão 1 · p. 2 · 1.4 · https://fnet.bmfbovespa.com.br/fnet/publico/visualizarDocumento?id=1200623</a:t>
            </a:r>
          </a:p>
          <a:p>
            <a:r>
              <a:t>CNPJ 62552447000120 · Gatilhos de avaliação e liquidação · Excerto da fonte:</a:t>
            </a:r>
          </a:p>
          <a:p>
            <a:r>
              <a:t>1.4 O Anexo de cada classe de Cotas (“Classe”), conforme aplicável, dispõe, sem prejuízo de outros  requisitos e inf ormações previstos na regulamentação, sobre: (i) características gerais, incluindo a  indicação dos demais prestadores de serviços; (ii) responsabilidade dos Cotistas e regime de  insolvência; (iii) características, direitos, condições de emissão, subscrição, integralização,  Amortização e resgate das Cotas; (iv) ordem de alocação de recursos; (v) Assembleia Especial e  demais procedimentos aplicáveis às manifestações de vontade dos Cotistas; (vi) remuneração dos  prestadores de serviços; (vii) política de investimento e composição e diversificação da Carteira; (viii)  eventos de avaliação, eventos de liquidação e liquidação antecipada da Classe; (ix) origem dos direitos  creditórios; (x) critérios de elegibilidade; (xi) custos referentes à defesa dos interesses de cada Classe;</a:t>
            </a:r>
          </a:p>
          <a:p>
            <a:r>
              <a:t> e (xii) f atores de risco.</a:t>
            </a:r>
          </a:p>
          <a:p>
            <a:r>
              <a:t>CNPJ 62552447000120 · Gatilhos de avaliação e liquidação · Regulamento · ID 1200623 · 2026-05-21 · versão 1 · p. 21 · 10.2 · https://fnet.bmfbovespa.com.br/fnet/publico/visualizarDocumento?id=1200623</a:t>
            </a:r>
          </a:p>
          <a:p>
            <a:r>
              <a:t>CNPJ 62552447000120 · Gatilhos de avaliação e liquidação · Excerto da fonte:</a:t>
            </a:r>
          </a:p>
          <a:p>
            <a:r>
              <a:t>10.2 Os seguintes quóruns deverão ser observados pela Assembleia Especial ao deliberar as matérias  abaixo:</a:t>
            </a:r>
          </a:p>
          <a:p>
            <a:r>
              <a:t>(i) deliberar sobre substituição de Prestadores de Serviços Unanimidade dos Cotistas  Essenciais, observado o disposto no art. 70, §1º da Parte Geral  da Resolução CVM 175, quando aplicável;</a:t>
            </a:r>
          </a:p>
          <a:p>
            <a:r>
              <a:t>(ii) deliberar sobre elevação da Taxa Global, inclusive na Unanimidade dos Cotistas  hipótese de restabelecimento de taxa que tenha sido objeto de  redução;</a:t>
            </a:r>
          </a:p>
          <a:p>
            <a:r>
              <a:t>(iii) deliberar sobre incorporação, fusão, cisão total ou parcial, Unanimidade dos Cotistas  a transf ormação ou liquidação da Classe;</a:t>
            </a:r>
          </a:p>
          <a:p>
            <a:r>
              <a:t>(iv) deliberar sobre a prestação de f iança, aval, aceite ou Unanimidade dos Cotistas  qualquer outra f orma de retenção de risco;</a:t>
            </a:r>
          </a:p>
          <a:p>
            <a:r>
              <a:t>(v) alterações das características, vantagens, direitos e Unanimidade dos Cotistas  obrigações das Cotas;</a:t>
            </a:r>
          </a:p>
          <a:p>
            <a:r>
              <a:t>(vi) alterar critérios e procedimentos para Amortização Unanimidade dos Cotistas  mediante dação em pagamento de Direitos Creditórios;</a:t>
            </a:r>
          </a:p>
          <a:p>
            <a:r>
              <a:t>(vii) aprovar emissão de novas Cotas; Unanimidade dos Cotistas</a:t>
            </a:r>
          </a:p>
          <a:p>
            <a:r>
              <a:t>(viii) alterações na Política de Investimentos; Unanimidade dos Cotistas</a:t>
            </a:r>
          </a:p>
          <a:p>
            <a:r>
              <a:t>(ix) alterações nos Critérios de Elegibilidade e nas Condições Unanimidade dos Cotistas  de Endosso;</a:t>
            </a:r>
          </a:p>
          <a:p>
            <a:r>
              <a:t>(x) alteração dos Eventos de Avaliação, dos Eventos de Unanimidade dos Cotistas  Liquidação e/ou das consequências deles decorrentes em  f unção do previsto neste Regulamento;</a:t>
            </a:r>
          </a:p>
          <a:p>
            <a:r>
              <a:t>(xi) plano de resolução do Patrimônio Líquido negativo da Unanimidade dos Cotistas  Classe, nos termos da Resolução CVM 175; e</a:t>
            </a:r>
          </a:p>
          <a:p>
            <a:r>
              <a:t>(xii) pedido de declaração judicial de insolvência da Classe. Unanimidade dos Cotistas</a:t>
            </a:r>
          </a:p>
          <a:p>
            <a:r>
              <a:t>CNPJ 62552447000120 · Gatilhos de avaliação e liquidação · Regulamento · ID 1200623 · 2026-05-21 · versão 1 · p. 22 · 11.1 · https://fnet.bmfbovespa.com.br/fnet/publico/visualizarDocumento?id=1200623</a:t>
            </a:r>
          </a:p>
          <a:p>
            <a:r>
              <a:t>CNPJ 62552447000120 · Gatilhos de avaliação e liquidação · Excerto da fonte:</a:t>
            </a:r>
          </a:p>
          <a:p>
            <a:r>
              <a:t>11.1 As seguintes hipóteses são consideradas eventos de avaliação (“Eventos de Avaliação”):</a:t>
            </a:r>
          </a:p>
          <a:p>
            <a:r>
              <a:t> (i) em caso de regime de administração especial temporária - RAET, intervenção ou liquidação  extrajudicial do Endossante, da instituição f inanceira prestadora dos serviços de agente de  conta vinculada à Classe (“Agente de Conta Vinculada”) e/ou do Agente de Retenção e  Cobrança;</a:t>
            </a:r>
          </a:p>
          <a:p>
            <a:r>
              <a:t> (ii) não cumprimento, pelo Endossante, de qualquer de suas obrigações estabelecidas nos  Contratos de Endosso, no Regulamento ou neste Anexo I, desde que esse não cumprimento  não seja devidamente sanado ou justificado dentro de 5 (cinco) Dias Úteis a partir do  recebimento, pelo Endossante, de notificação, por escrito, enviada pelo Administrador,  inf ormando-o da ocorrência do respectivo evento;</a:t>
            </a:r>
          </a:p>
          <a:p>
            <a:r>
              <a:t> (iii) não cumprimento, pelo Endossante e/ou pelo Agente de Retenção e Cobrança, de sua  obrigação de entregar os (a) arquivos eletrônicos disponibilizados mensalmente pela Dataprev  ao Endossante, contendo (1) as Consignações processadas pela Dataprev no respectivo mês,  identificando os Devedores e os valores que serão descontados de suas respectivas folhas de  pagamentos, bem como (2) a totalidade das operações pendentes de crédito consignado  concedidas pelo Endossante e indicando todos os Direitos Creditórios devi dos mediante  Consignação na próxima data de liquidação (“Arquivos Dataprev”) e/ou (b) os arquivos  eletrônicos disponibilizados mensalmente pela CEF ao Endossante, contendo os pagamentos  de Saque-aniversário processados pela CEF no respectivo mês devidos à Classe, identificando  os Devedores e os valores que serão descontados de seus respectivos Saques-aniversário  (“Arquivos de Liquidação Saque-aniversário”) ao Custodiante dentro do prazo estabelecido  neste Anexo I, desde que esse não cumprimento não seja dev idamente sanado ou justificado  dentro de 5 (cinco) Dias Úteis a partir do recebimento, pelo Endossante e/ou pelo Agente de  Retenção e Cobrança, de notificação, por escrito, enviada pelo Custodiante, inf ormando-o da  ocorrência do respectivo evento;</a:t>
            </a:r>
          </a:p>
          <a:p>
            <a:r>
              <a:t> (iv) não cumprimento, pelo Endossante e/ou pelo Agente de Retenção e Cobrança, de qualquer de  suas obrigações de entregar ao Gestor, ou a terceiros por ele indicados, os Documentos  Comprobatórios e Documentos Suporte relativos aos Direitos Creditórios que tenham sido  endossados à Classe, dentro do prazo estabelecido neste Anexo I, desde que esse não  cumprimento não seja devidamente sanado ou justificado dentro de 5 (cinco) Dias Úteis a partir  do recebimento, pelo Endossante e/ou pelo Agente de Retenção e Cobrança, de notificação,  por escrito, enviada pelo Custodiante, inf ormando- o da ocorrência do respectivo evento;</a:t>
            </a:r>
          </a:p>
          <a:p>
            <a:r>
              <a:t> (v) não cumprimento, pelo Agente de Retenção e Cobrança, de qualquer de suas obrigações  estabelecidas nos Contratos de Endosso, no Regulamento, neste Anexo I ou nos Contratos de  Retenção/Cobrança, desde que esse não cumprimento não seja devidamente sanado ou</a:t>
            </a:r>
          </a:p>
          <a:p>
            <a:r>
              <a:t>CNPJ 62552447000120 · Gatilhos de avaliação e liquidação · Condição: Documentos atuais selecionados no inventário por categoria/escopo; a data documental isolada não comprova vigência jurídica.</a:t>
            </a:r>
          </a:p>
          <a:p>
            <a:r>
              <a:t>CNPJ 62552447000120 · Gatilhos de avaliação e liquidação · Versão e prevalência: Documentos atuais selecionados no inventário por categoria/escopo; a data documental isolada não comprova vigência jurídica.</a:t>
            </a:r>
          </a:p>
          <a:p>
            <a:r>
              <a:t>CNPJ 63953620000165 · Gatilhos de avaliação e liquidação · Anexo ao Regulamento · ID 1222863 · 2026-06-02 · versão 1 · p. 24 · 4.1 · https://fnet.bmfbovespa.com.br/fnet/publico/visualizarDocumento?id=1222863</a:t>
            </a:r>
          </a:p>
          <a:p>
            <a:r>
              <a:t>CNPJ 63953620000165 · Gatilhos de avaliação e liquidação · Excerto da fonte:</a:t>
            </a:r>
          </a:p>
          <a:p>
            <a:r>
              <a:t>4.1. Verificado que o Índice de Subordinação Alvo é atendido, ou seja, que a representatividade de Cotas Subordinadas  em relação ao Patrimônio Líquido da Classe é superior à 10,00% (dez por cento) (“Índice de Subordinação Alvo”), as  Cotas Subordinadas poderão ser objeto de Amortização Extraordinária até o limite excedente ao Índice de  Subordinação Alvo– ainda que tal Amortização Extraordinária ocorra antes do resgate integral das Cotas Seniores –  desde que: (i) seja observada a ordem de alocação de recursos definida no item 8.1 acima Anexo; (ii) não existam  Obrigações da Classe vencidas e não pagas; (iii) não estejam em curso quaisquer Eventos de Avaliação e/ou Eventos  de Liquidação; (iv) existam suficientes Ativos Financeiros e/ou recursos disponíveis; e (vii) permaneçam atendidas  todos os Índices de Subordinação.</a:t>
            </a:r>
          </a:p>
          <a:p>
            <a:r>
              <a:t> 5. Amortização e Resgate das Cotas Subordinadas</a:t>
            </a:r>
          </a:p>
          <a:p>
            <a:r>
              <a:t>CNPJ 63953620000165 · Gatilhos de avaliação e liquidação · Anexo ao Regulamento · ID 1222863 · 2026-06-02 · versão 1 · p. 13 · 10.2 · https://fnet.bmfbovespa.com.br/fnet/publico/visualizarDocumento?id=1222863</a:t>
            </a:r>
          </a:p>
          <a:p>
            <a:r>
              <a:t>CNPJ 63953620000165 · Gatilhos de avaliação e liquidação · Excerto da fonte:</a:t>
            </a:r>
          </a:p>
          <a:p>
            <a:r>
              <a:t>10.2 Os seguintes quóruns deverão ser observados pela Assembleia Especial de Cotistas ao deliberar as matérias  abaixo:</a:t>
            </a:r>
          </a:p>
          <a:p>
            <a:r>
              <a:t> Matéria Quórum</a:t>
            </a:r>
          </a:p>
          <a:p>
            <a:r>
              <a:t> (i) deliberar sobre as demonstrações contábeis da Classe; Maioria das Cotas presentes</a:t>
            </a:r>
          </a:p>
          <a:p>
            <a:r>
              <a:t> (ii) alterar o presente Anexo; Maioria das Cotas de cada Subclasse</a:t>
            </a:r>
          </a:p>
          <a:p>
            <a:r>
              <a:t> (iii) deliberar sobre substituição de Prestadores de Serviços Maioria das Cotas da Classe  Essenciais, observado o disposto no Artigo 70, §1º da parte geral da  Resolução CVM 175, quando aplicável;</a:t>
            </a:r>
          </a:p>
          <a:p>
            <a:r>
              <a:t> (iv) deliberar sobre elevação da Taxa de Administração e/ou Taxa de Maioria das Cotas da de cada  Gestão, inclusive na hipótese de restabelecimento de taxa que tenha Subclasse  sido objeto de redução;</a:t>
            </a:r>
          </a:p>
          <a:p>
            <a:r>
              <a:t> (v) deliberar sobre incorporação, fusão, cisão total ou parcial, a Maioria das Cotas de cada Subclasse  transformação ou liquidação da Classe;</a:t>
            </a:r>
          </a:p>
          <a:p>
            <a:r>
              <a:t> (vi) alterações das características, vantagens, direitos e obrigações Maioria das Cotas Subscritas da  das Cotas; Classe observado o disposto nos  itens 10.5 a 10.8 abaixo</a:t>
            </a:r>
          </a:p>
          <a:p>
            <a:r>
              <a:t> (vii) alterar critérios e procedimentos para Amortização mediante Maioria das Cotas Subscritas da  dação em pagamento de Direitos Creditórios; Classe</a:t>
            </a:r>
          </a:p>
          <a:p>
            <a:r>
              <a:t> (viii) aprovar emissão de novas Cotas da Classe; Maioria das Cotas de cada Subclasse</a:t>
            </a:r>
          </a:p>
          <a:p>
            <a:r>
              <a:t> (ix) alterações na Política de Investimentos; Maioria das Cotas de cada Subclasse</a:t>
            </a:r>
          </a:p>
          <a:p>
            <a:r>
              <a:t> (x) alterações nos Critérios de Elegibilidade e nas Condições de Maioria das Cotas de cada Subclasse  Cessão;</a:t>
            </a:r>
          </a:p>
          <a:p>
            <a:r>
              <a:t> (xi) celebração e alteração de Contrato de Promessa de Endosso Maioria das Cotas de cada Subclasse  e/ou do Contrato de Retenção e Cobrança;</a:t>
            </a:r>
          </a:p>
          <a:p>
            <a:r>
              <a:t> (xii) alteração do Contrato de Conta Vinculada; Maioria das Cotas de cada Subclasse</a:t>
            </a:r>
          </a:p>
          <a:p>
            <a:r>
              <a:t> (xiii) alteração dos Eventos de Avaliação, dos Eventos de Liquidação Maioria das Cotas de cada Subclasse  e/ou das consequências deles decorrentes em função do previsto  neste Regulamento;</a:t>
            </a:r>
          </a:p>
          <a:p>
            <a:r>
              <a:t> (xiv) se um Evento de Avaliação constitui um Evento de Liquidação; Maioria das Cotas presentes</a:t>
            </a:r>
          </a:p>
          <a:p>
            <a:r>
              <a:t> (xv) plano de resolução do Patrimônio Líquido negativo da Classe, Maioria das Cotas presentes  nos termos da Resolução CVM 175; e</a:t>
            </a:r>
          </a:p>
          <a:p>
            <a:r>
              <a:t> (xvi) pedido de declaração judicial de insolvência da Classe. Maioria das Cotas presentes</a:t>
            </a:r>
          </a:p>
          <a:p>
            <a:r>
              <a:t> (xvii) alterações na disciplina, critérios de constituição, manutenção Maioria das Cotas de cada Subclasse  ou utilização da Reserva de Caixa, bem como deliberação acerca da</a:t>
            </a:r>
          </a:p>
          <a:p>
            <a:r>
              <a:t>CNPJ 63953620000165 · Gatilhos de avaliação e liquidação · Anexo ao Regulamento · ID 1222863 · 2026-06-02 · versão 1 · p. 14 · 10.8 · https://fnet.bmfbovespa.com.br/fnet/publico/visualizarDocumento?id=1222863</a:t>
            </a:r>
          </a:p>
          <a:p>
            <a:r>
              <a:t>CNPJ 63953620000165 · Gatilhos de avaliação e liquidação · Excerto da fonte:</a:t>
            </a:r>
          </a:p>
          <a:p>
            <a:r>
              <a:t>10.8 As deliberações que tenham por objeto o aumento do Índice de Subordinação Sênior apenas serão aprovadas se  assim deliberado: (i) pelos votos dos titulares da maioria das Cotas em circulação de cada uma das Séries de  Cotas Seniores; e (ii) pelo votos dos titulares da maioria Cotas Subordinadas em circulação.</a:t>
            </a:r>
          </a:p>
          <a:p>
            <a:r>
              <a:t> CAPÍTULO 11 – EVENTOS DE AVALIAÇÃO, EVENTOS DE LIQUIDAÇÃO, E PROCEDIMENTOS DE LIQUIDAÇÃO  Eventos de Avaliação</a:t>
            </a:r>
          </a:p>
          <a:p>
            <a:r>
              <a:t>CNPJ 63953620000165 · Gatilhos de avaliação e liquidação · Condição: Documentos atuais selecionados no inventário por categoria/escopo; a data documental isolada não comprova vigência jurídica.</a:t>
            </a:r>
          </a:p>
          <a:p>
            <a:r>
              <a:t>CNPJ 63953620000165 · Gatilhos de avaliação e liquidação · Versão e prevalência: Documentos atuais selecionados no inventário por categoria/escopo; a data documental isolada não comprova vigência jurídica.</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Eventos e cura</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Eventos de avaliação · Regulamento · ID 670691 · 28/04/2024 · versão Regulamento — referência 28/04/2024 · p. 17 · Anexo I, 11.1(i) · https://fnet.bmfbovespa.com.br/fnet/publico/visualizarDocumento?id=670691</a:t>
            </a:r>
          </a:p>
          <a:p>
            <a:r>
              <a:t>CNPJ 54871427000194 · Eventos de avaliação · Excerto da fonte:</a:t>
            </a:r>
          </a:p>
          <a:p>
            <a:r>
              <a:t>11.1 As seguintes hipóteses são consideradas Eventos de Avaliação: (i) em caso de regime de administração especial temporária – RAET, intervenção ou liquidação extrajudicial do Endossante ou do Agente de Garantias; BTG Pactual SAC: 0800 772 28 27 - Ouvidoria: 0800 722 00 48 - btgpactual.com 11</a:t>
            </a:r>
          </a:p>
          <a:p>
            <a:r>
              <a:t>CNPJ 54871427000194 · Eventos de avaliação · Regulamento · ID 670691 · 28/04/2024 · versão Regulamento — referência 28/04/2024 · p. 18 · Anexo I, 11.1(ii)–(viii) · https://fnet.bmfbovespa.com.br/fnet/publico/visualizarDocumento?id=670691</a:t>
            </a:r>
          </a:p>
          <a:p>
            <a:r>
              <a:t>CNPJ 54871427000194 · Eventos de avaliação · Excerto da fonte:</a:t>
            </a:r>
          </a:p>
          <a:p>
            <a:r>
              <a:t>(ii) não cumprimento, por qualquer dos Endossantes, de qualquer de suas obrigações estabelecidas em cada Contrato de Endosso ou neste Regulamento e Anexo, desde que esse não cumprimento não seja devidamente sanado ou justificado dentro de 10 (dez) Dias Úteis a partir do recebimento, pelo Endossante, de notificação, por escrito, enviada pelo Administrador, inf ormando-o da ocorrência do respectivo evento; (iii) não cumprimento, por qualquer dos Endossantes, de suas obrigações de entregar o Arquivo de Liquidação Antecipada e o Arquivo de Posição das CCBs ao CUSTODIANTE dentro do prazo estabelecido neste Regulamento, desde que esse não cumprimento não seja devidamente sanado ou justificado dentro dos prazos acordados no respectivo Contrato de Endosso, a partir do recebimento, pelos Endossantes, de notificação, por escrito, enviada pelo CUSTODIANTE, inf ormando-o da ocorrência do respectivo evento; (iv) não cumprimento, por qualquer dos Endossantes, de qualquer de suas obrigações de entregar ao CUSTODIANTE, ou a terceiros por ele indicados, os Documentos Comprobatórios relativos</a:t>
            </a:r>
          </a:p>
          <a:p>
            <a:r>
              <a:t>CNPJ 54871427000194 · Eventos de avaliação · Regulamento · ID 670691 · 28/04/2024 · versão Regulamento — referência 28/04/2024 · p. 19 · Anexo I, 11.1.1–11.1.3 · https://fnet.bmfbovespa.com.br/fnet/publico/visualizarDocumento?id=670691</a:t>
            </a:r>
          </a:p>
          <a:p>
            <a:r>
              <a:t>CNPJ 54871427000194 · Eventos de avaliação · Excerto da fonte:</a:t>
            </a:r>
          </a:p>
          <a:p>
            <a:r>
              <a:t>11.1.1 Na ocorrência de qualquer Evento de Avaliação, será convocada Assembleia Especial de Cotistas, para avaliar o grau de comprometimento das atividades d a Classe em razão do Evento de Avaliação, podendo a Assembleia Especial de Cotistas deliberar: (i) pela continuidade das atividades da Classe; ou (ii) que o Evento de Avaliação que deu causa à Assembleia Especial de Cotistas constitui um Evento de Liquidação, hipótese em que deverão ser deliberadas as matérias ref eridas no item 11.4.1 abaixo e adotados os procedimentos previstos no item 11.4.3 abaixo. 11.1.2 No momento de verificação de qualquer Evento de Avaliação, os procedimentos de aquisição de novos Direitos Creditórios deverão ser imediatamente interrompidos, até que: (i) seja prof erida decisão final em Assembleia Especial de Cotistas, convocada especificamente para este f im, nos termos do item 11.1.1 acima, autorizando a retomada dos procedimentos de aquisição de novos Direitos Creditórios e resgate das Cotas; e/ou (ii) seja sanado o Evento de Avaliação. 11.1.3 Na hipótese de não instalação da Assembleia Especial de Cotistas por f alta d</a:t>
            </a:r>
          </a:p>
          <a:p>
            <a:r>
              <a:t>CNPJ 54871427000194 · Eventos de avaliação · Versão e prevalência: Leitura específica das cláusulas indicadas; condições e conflitos preservados. Seleção documental atual não comprova vigência jurídica por data isolada.</a:t>
            </a:r>
          </a:p>
          <a:p>
            <a:r>
              <a:t>CNPJ 54871427000194 · Eventos de avaliação · Resumo do histórico: {"count": 1, "dates": ["2024-04-19"], "document_count": 1, "sources": [{"document_id": "670689", "title": "Regulamento", "reference_date": "2024-04-19", "version": "1", "page": 17, "clause": "10.2", "url": "https://fnet.bmfbovespa.com.br/fnet/publico/visualizarDocumento?id=670689", "sha256": "891bc9bc5d87bbc02ec139077a84d2702eb81ea02035fb71d24f5b8366b94a0b"}], "reference": {"path": "history/54871427000194.json", "criterion_id": "evaluation", "total_count": 1, "preview_count": 1, "full_text_deferred": true, "sha256": "35d7cd99be50c7287c9fb675cf4f2e736002315295a225a9efa79c8d9186d874"}}</a:t>
            </a:r>
          </a:p>
          <a:p>
            <a:r>
              <a:t>CNPJ 60010416000112 · Eventos de avaliação · Regulamento · ID 1051393 · 09/10/2025 · versão Regulamento09/10/2025 · p. 19 · AnexoI10.1(i)–(vii) · https://fnet.bmfbovespa.com.br/fnet/publico/visualizarDocumento?id=1051393</a:t>
            </a:r>
          </a:p>
          <a:p>
            <a:r>
              <a:t>CNPJ 60010416000112 · Eventos de avaliação · Excerto da fonte:</a:t>
            </a:r>
          </a:p>
          <a:p>
            <a:r>
              <a:t>10.1 As seguintes hipóteses são consideradas Eventos de Avaliação: (i) em caso de regime de administração especial temporária - RAET, intervenção ou liquidação extrajudicial do Endossante; (ii) em caso de desenquadramento do Índice de Subordinação por 10 (dez) dias úteis consecutivos; (iii) não cumprimento, pelo Endossante, de qualquer de suas obrigações estabelecidas no Contrato de Endosso ou neste Anexo I, desde que esse não cumprimento não seja devidamente sanado ou justif icado dentro de 10 (dez) Dias Úteis a partir do recebimento, pelo Endossante, de noti</a:t>
            </a:r>
          </a:p>
          <a:p>
            <a:r>
              <a:t>CNPJ 60010416000112 · Eventos de avaliação · Regulamento · ID 1051393 · 09/10/2025 · versão Regulamento09/10/2025 · p. 20 · AnexoI10.1(viii)–(xiv) · https://fnet.bmfbovespa.com.br/fnet/publico/visualizarDocumento?id=1051393</a:t>
            </a:r>
          </a:p>
          <a:p>
            <a:r>
              <a:t>CNPJ 60010416000112 · Eventos de avaliação · Excerto da fonte:</a:t>
            </a:r>
          </a:p>
          <a:p>
            <a:r>
              <a:t>(xiii) no caso de não serem realizados pagamentos de amortização e/ou resgate de Cotas Seniores, nos termos, prazos e condições previstos no presente Regulamento e nos respectivos Apêndices e Suplementos, não sanados em até 2 (dois) Dias Úteis contados do prazo final do respectivo evento; (xiv) no caso de pagamento de resgate e/ou amortização de Cotas Subordinadas em desacordo com os termos, prazos e condições previstos no presente Regulamento e no respectivo Apêndice. 10.1.1 Na ocorrência de qualquer Evento de Avaliação, será convocada Assembleia Especial de Cotistas,</a:t>
            </a:r>
          </a:p>
          <a:p>
            <a:r>
              <a:t>CNPJ 60010416000112 · Eventos de avaliação · Versão e prevalência: Leitura específica das cláusulas indicadas; condições e conflitos preservados. Seleção documental atual não comprova vigência jurídica por data isolada.</a:t>
            </a:r>
          </a:p>
          <a:p>
            <a:r>
              <a:t>CNPJ 60010416000112 · Eventos de avaliação · Resumo do histórico: {"count": 2, "dates": ["2025-03-20"], "document_count": 2, "sources": [{"document_id": "993785", "title": "Instrumento Particular de Constituição/Encerramento do Fundo", "reference_date": "2025-03-20", "version": "1", "page": 8, "url": "https://fnet.bmfbovespa.com.br/fnet/publico/visualizarDocumento?id=993785", "sha256": "0826e0eae2c51afabf59bbc49fc7647598d03da5ca6de0f9725850a8bd6af457"}, {"document_id": "993786", "title": "Regulamento", "reference_date": "2025-03-20", "version": "1", "page": 48, "clause": "2.1.2", "url": "https://fnet.bmfbovespa.com.br/fnet/publico/visualizarDocumento?id=993786", "sha256": "fd0fdd369a195510d81f81f505195a0b09e5f43522a990afa7d58c4f872921c8"}], "reference": {"path": "history/60010416000112.json", "criterion_id": "evaluation", "total_count": 2, "preview_count": 2, "full_text_deferred": true, "sha256": "8e2bd813f4c51cf01f6bfaad164bafe69d2bbb192f753eac92da3a01c2e63046"}}</a:t>
            </a:r>
          </a:p>
          <a:p>
            <a:r>
              <a:t>CNPJ 62696791000193 · Eventos de avaliação · Regulamento · ID 1143317 · 20/03/2026 · versão Regulamento — referência 20/03/2026 · p. 37 · Apêndice Júnior, 5.1(iii) · https://fnet.bmfbovespa.com.br/fnet/publico/visualizarDocumento?id=1143317</a:t>
            </a:r>
          </a:p>
          <a:p>
            <a:r>
              <a:t>CNPJ 62696791000193 · Eventos de avaliação · Excerto da fonte:</a:t>
            </a:r>
          </a:p>
          <a:p>
            <a:r>
              <a:t>5.1. Verif icado excesso de subordinação, ou seja, que a representatividade de Cotas Júnior em relação ao Patrimônio Líquido da Classe é superior ao Índice de Subordinação (“Excesso de Subordinação”), desde que assim seja deliberado por maioria dos votos de seus titulares e da maioria dos titulares de Cotas Seniores, as Cotas Juniores poderão ser objeto de Amortização Extraordinária até o limite do respectivos Excesso de Subordinação– ainda que tal Amortização Extraordinária ocorra antes do resgate integral das Cotas Seniores– desde que: (i) seja observada a ordem de alocação de recursos definida no item 6.1 acima Anexo; (ii) não existam Obrigações da Classe vencidas e não pagas; (iii) não estejam em curso quaisquer Eventos de Avaliação e/ou Eventos de Liquidação; (iv) existam suficientes Ativos Financeiros e/ou recursos disponíveis; e (vii) permaneçam atendidas todos os Índices de Subordinação. 6. Negociação das Cotas 6.1. As Cotas Subordinadas Juniores não poderão ser negociadas no mercado secundário. 7. Resgate 7.1. As Cotas Subordinadas Juniores apenas serão resgatadas após o resgate integral das Cotas Seniores da Classe, na respectiva Data de Resgate ou em caso de liquidação antecipada da Classe. BTG Pactual</a:t>
            </a:r>
          </a:p>
          <a:p>
            <a:r>
              <a:t>CNPJ 62696791000193 · Eventos de avaliação · Condição: Referência preservada como ausência específica; não importar gatilhos de outros fundos.</a:t>
            </a:r>
          </a:p>
          <a:p>
            <a:r>
              <a:t>CNPJ 62696791000193 · Eventos de avaliação · Motivo: O apêndice condiciona amortização à ausência de Eventos de Avaliação e de Liquidação, mas o PDF consolidado de 48 páginas não define a lista de Eventos de Avaliação nem seus prazos de cura. O regulamento FIDC anterior à transformação não foi obtido.</a:t>
            </a:r>
          </a:p>
          <a:p>
            <a:r>
              <a:t>CNPJ 62696791000193 · Eventos de avaliação · Versão e prevalência: Leitura específica das cláusulas indicadas; condições e conflitos preservados. Seleção documental atual não comprova vigência jurídica por data isolada.</a:t>
            </a:r>
          </a:p>
          <a:p>
            <a:r>
              <a:t>CNPJ 55563624000109 · Eventos de avaliação · Regulamento · ID 1192614 · 30/04/2026 · versão Regulamento30/04/2026 · p. 20 · AnexoI11.1(i)–(v) · https://fnet.bmfbovespa.com.br/fnet/publico/visualizarDocumento?id=1192614</a:t>
            </a:r>
          </a:p>
          <a:p>
            <a:r>
              <a:t>CNPJ 55563624000109 · Eventos de avaliação · Excerto da fonte:</a:t>
            </a:r>
          </a:p>
          <a:p>
            <a:r>
              <a:t>11.1 As seguintes hipóteses são consideradas Eventos de Avaliação: (i) inobservância pelo ADMINISTRADOR, pelo CUSTODIANTE e/ou pelo GESTOR de seus deveres e obrigações previstos neste Anexo, desde que, uma vez notificados para sanar ou justificar o descumprimento, o ADMINISTRADOR, o CUSTODIANTE e/ou o GESTOR, conforme o caso, não o sane no prazo de 5 (cinco) Dias Úteis contados do recebimento da referida notificação; (ii) aquisição, pela Classe, de Cotas da Classe Investida que estejam em desacordo com o Critério de</a:t>
            </a:r>
          </a:p>
          <a:p>
            <a:r>
              <a:t>CNPJ 55563624000109 · Eventos de avaliação · Versão e prevalência: Leitura específica das cláusulas indicadas; condições e conflitos preservados. Seleção documental atual não comprova vigência jurídica por data isolada.</a:t>
            </a:r>
          </a:p>
          <a:p>
            <a:r>
              <a:t>CNPJ 62552447000120 · Eventos de avaliação · Regulamento · ID 1200623 · 21/05/2026 · versão Consolidado21/05/2026 aprovado pelo ato1200625 · p. 22 · AnexoI11.1(i)–(v) · https://fnet.bmfbovespa.com.br/fnet/publico/visualizarDocumento?id=1200623</a:t>
            </a:r>
          </a:p>
          <a:p>
            <a:r>
              <a:t>CNPJ 62552447000120 · Eventos de avaliação · Excerto da fonte:</a:t>
            </a:r>
          </a:p>
          <a:p>
            <a:r>
              <a:t>11.1 As seguintes hipóteses são consideradas eventos de avaliação (“Eventos de Avaliação”): (i) em caso de regime de administração especial temporária - RAET, intervenção ou liquidação extrajudicial do Endossante, da instituição f inanceira prestadora dos serviços de agente de conta vinculada à Classe (“Agente de Conta Vinculada”) e/ou do Agente de Retenção e Cobrança; (ii) não cumprimento, pelo Endossante, de qualquer de suas obrigações estabelecidas nos Contratos de Endosso, no Regulamento ou neste Anexo I, desde que esse não cumprimento não se</a:t>
            </a:r>
          </a:p>
          <a:p>
            <a:r>
              <a:t>CNPJ 62552447000120 · Eventos de avaliação · Regulamento · ID 1200623 · 21/05/2026 · versão Consolidado21/05/2026 aprovado pelo ato1200625 · p. 23 · AnexoI11.1(vi)–(xi) · https://fnet.bmfbovespa.com.br/fnet/publico/visualizarDocumento?id=1200623</a:t>
            </a:r>
          </a:p>
          <a:p>
            <a:r>
              <a:t>CNPJ 62552447000120 · Eventos de avaliação · Excerto da fonte:</a:t>
            </a:r>
          </a:p>
          <a:p>
            <a:r>
              <a:t>(vi) não cumprimento, pelo Agente de Conta Vinculada, de qualquer de suas obrigações estabelecidas no contrato de conta vinculada celebrado entre o Endossante, na qualidade de titular da Conta Vinculada, e a Classe (“Contrato de Conta Vinculada”), no Regulamento ou neste Anexo I, desde que esse não cumprimento não seja devidamente sanado ou justificado dentro de 5 (cinco) Dias Úteis a partir do recebimento, pelo Agente de Conta Vinculada, de notif icação, por escrito, enviada pelo Administrador, informando-o da ocorrência do respectivo evento; (vii) não c</a:t>
            </a:r>
          </a:p>
          <a:p>
            <a:r>
              <a:t>CNPJ 62552447000120 · Eventos de avaliação · Versão e prevalência: Leitura específica das cláusulas indicadas; condições e conflitos preservados. Seleção documental atual não comprova vigência jurídica por data isolada.</a:t>
            </a:r>
          </a:p>
          <a:p>
            <a:r>
              <a:t>CNPJ 63953620000165 · Eventos de avaliação · Anexo ao Regulamento · ID 1222863 · 02/06/2026 · versão AnexoConsignadoPrivado02/06/2026 · p. 14 · 11.1(i)–(v) · https://fnet.bmfbovespa.com.br/fnet/publico/visualizarDocumento?id=1222863</a:t>
            </a:r>
          </a:p>
          <a:p>
            <a:r>
              <a:t>CNPJ 63953620000165 · Eventos de avaliação · Excerto da fonte:</a:t>
            </a:r>
          </a:p>
          <a:p>
            <a:r>
              <a:t>11.1 As seguintes hipóteses são consideradas eventos de avaliação (“Eventos de Avaliação”): (i) em caso de regime de administração especial temporária - RAET, intervenção ou liquidação extrajudicial do Endossante; (ii) em caso de desenquadramento do Índice de Subordinação por 10 (dez) dias úteis consecutivos; (iii) não cumprimento, pelo Endossante, de qualquer de suas obrigações estabelecidas no Contrato de Endosso ou neste Anexo I, desde que esse não cumprimento não seja devidamente sanado ou justificado dentro de 10 (dez) Dias Úteis a partir do recebimento, pelo Endossan</a:t>
            </a:r>
          </a:p>
          <a:p>
            <a:r>
              <a:t>CNPJ 63953620000165 · Eventos de avaliação · Anexo ao Regulamento · ID 1222863 · 02/06/2026 · versão AnexoConsignadoPrivado02/06/2026 · p. 15 · 11.1(vi)–(xiv) · https://fnet.bmfbovespa.com.br/fnet/publico/visualizarDocumento?id=1222863</a:t>
            </a:r>
          </a:p>
          <a:p>
            <a:r>
              <a:t>CNPJ 63953620000165 · Eventos de avaliação · Excerto da fonte:</a:t>
            </a:r>
          </a:p>
          <a:p>
            <a:r>
              <a:t>Anexo I ao Regulamento CLASSE CONSIGNADO PRIVADO DO MT GLOBAL FUNDO DE INVESTIMENTO EM DIREITOS CREDITÓRIOS RESPONSABILIDADE LIMITADA (vii) inobservância pelo Administrador, pelo Custodiante e/ou pelo Gestor de seus deveres e obrigações previstos neste Regulamento, bem como suas atribuições específicas nos outros contratos existentes referentes ao funcionamento da Classe, verificada pelo Administrador, pelo Custodiante e/ou pelo Gestor ou por qualquer dos Cotistas, desde que, uma vez notificados para sanar ou justificar o descumprimento, o Administrador, o Custodiante e/ou o Gestor, conforme</a:t>
            </a:r>
          </a:p>
          <a:p>
            <a:r>
              <a:t>CNPJ 63953620000165 · Eventos de avaliação · Versão e prevalência: Leitura específica das cláusulas indicadas; condições e conflitos preservados. Seleção documental atual não comprova vigência jurídica por data isolada.</a:t>
            </a:r>
          </a:p>
          <a:p>
            <a:r>
              <a:t>CNPJ 54871427000194 · Eventos de liquidação · Regulamento · ID 670691 · 28/04/2024 · versão Regulamento — referência 28/04/2024 · p. 19 · Anexo I, 11.1.3 e 11.3 · https://fnet.bmfbovespa.com.br/fnet/publico/visualizarDocumento?id=670691</a:t>
            </a:r>
          </a:p>
          <a:p>
            <a:r>
              <a:t>CNPJ 54871427000194 · Eventos de liquidação · Excerto da fonte:</a:t>
            </a:r>
          </a:p>
          <a:p>
            <a:r>
              <a:t>11.1.3 Na hipótese de não instalação da Assembleia Especial de Cotistas por f alta de quórum, o ADMINISTRADOR dará início aos procedimentos ref erentes à liquidação d a Classe, com o consequente resgate das Cotas, nos termos do item 11.4 e seguintes, abaixo. Eventos de Verificação de Patrimônio Líquido Negativo 11.2 Os seguintes eventos obrigarão o ADMINISTRADOR a verificar se o Patrimônio Líquido da Classe está negativo: (i) qualquer pedido de declaração judicial de insolvência da Classe; e (ii) na ocorrência de quaisquer dos Eventos de Avaliação e/ou Eventos de Liquidação . Eventos de Liquidação 11.3 As seguintes hipóteses são consideradas Eventos de Liquidação: (i) caso seja deliberado em Assembleia Especial de Cotistas que um Evento de Avaliação constitui um Evento de Liquidação; (ii) sempre que assim decidido pelos Cotistas em Assembleia Especial de Cotistas especialmente convocada para tal f im; (iii) cessão ou renúncia do ADMINISTRADOR, GESTOR ou CUSTODIANTE sem que a Assembleia de Cotistas ef icazmente nomeie instituição habilit ada para substituí-lo, nos termos estabelecidos neste Regulamento;</a:t>
            </a:r>
          </a:p>
          <a:p>
            <a:r>
              <a:t>CNPJ 54871427000194 · Eventos de liquidação · Versão e prevalência: Leitura específica das cláusulas indicadas; condições e conflitos preservados. Seleção documental atual não comprova vigência jurídica por data isolada.</a:t>
            </a:r>
          </a:p>
          <a:p>
            <a:r>
              <a:t>CNPJ 54871427000194 · Eventos de liquidação · Resumo do histórico: {"count": 1, "dates": ["2024-04-19"], "document_count": 1, "sources": [{"document_id": "670689", "title": "Regulamento", "reference_date": "2024-04-19", "version": "1", "page": 17, "clause": "10.2", "url": "https://fnet.bmfbovespa.com.br/fnet/publico/visualizarDocumento?id=670689", "sha256": "891bc9bc5d87bbc02ec139077a84d2702eb81ea02035fb71d24f5b8366b94a0b"}], "reference": {"path": "history/54871427000194.json", "criterion_id": "liquidation", "total_count": 1, "preview_count": 1, "full_text_deferred": true, "sha256": "35d7cd99be50c7287c9fb675cf4f2e736002315295a225a9efa79c8d9186d874"}}</a:t>
            </a:r>
          </a:p>
          <a:p>
            <a:r>
              <a:t>CNPJ 60010416000112 · Eventos de liquidação · Regulamento · ID 1051393 · 09/10/2025 · versão Regulamento09/10/2025 · p. 21 · AnexoI10.3(i)–(viii) · https://fnet.bmfbovespa.com.br/fnet/publico/visualizarDocumento?id=1051393</a:t>
            </a:r>
          </a:p>
          <a:p>
            <a:r>
              <a:t>CNPJ 60010416000112 · Eventos de liquidação · Excerto da fonte:</a:t>
            </a:r>
          </a:p>
          <a:p>
            <a:r>
              <a:t>10.3 As seguintes hipóteses são consideradas Eventos de Liquidação: (i) caso seja deliberado em Assembleia de Cotistas que um Evento de Avaliação constitui um Evento de Liquidação; (ii) na hipótese de resilição do Contrato de Custódia ou renúncia do Custodiante, sem que tenha havido sua substituição por outra instituição, de acordo com os procedimentos estabelecidos neste Regulamento; (iii) renúncia do Administrador sem que a Assembleia Especial de Cotistas eficazmente nomeie instituição habilitada para substituí-lo, nos termos estabelecidos neste Regulamento;</a:t>
            </a:r>
          </a:p>
          <a:p>
            <a:r>
              <a:t>CNPJ 60010416000112 · Eventos de liquidação · Versão e prevalência: Leitura específica das cláusulas indicadas; condições e conflitos preservados. Seleção documental atual não comprova vigência jurídica por data isolada.</a:t>
            </a:r>
          </a:p>
          <a:p>
            <a:r>
              <a:t>CNPJ 60010416000112 · Eventos de liquidação · Resumo do histórico: {"count": 2, "dates": ["2025-03-20"], "document_count": 2, "sources": [{"document_id": "993785", "title": "Instrumento Particular de Constituição/Encerramento do Fundo", "reference_date": "2025-03-20", "version": "1", "page": 8, "url": "https://fnet.bmfbovespa.com.br/fnet/publico/visualizarDocumento?id=993785", "sha256": "0826e0eae2c51afabf59bbc49fc7647598d03da5ca6de0f9725850a8bd6af457"}, {"document_id": "993786", "title": "Regulamento", "reference_date": "2025-03-20", "version": "1", "page": 18, "clause": "9.2", "url": "https://fnet.bmfbovespa.com.br/fnet/publico/visualizarDocumento?id=993786", "sha256": "fd0fdd369a195510d81f81f505195a0b09e5f43522a990afa7d58c4f872921c8"}], "reference": {"path": "history/60010416000112.json", "criterion_id": "liquidation", "total_count": 2, "preview_count": 2, "full_text_deferred": true, "sha256": "8e2bd813f4c51cf01f6bfaad164bafe69d2bbb192f753eac92da3a01c2e63046"}}</a:t>
            </a:r>
          </a:p>
          <a:p>
            <a:r>
              <a:t>CNPJ 62696791000193 · Eventos de liquidação · Regulamento · ID 1143317 · 20/03/2026 · versão Regulamento — referência 20/03/2026 · p. 23 · Anexo I, 11.1–11.3 · https://fnet.bmfbovespa.com.br/fnet/publico/visualizarDocumento?id=1143317</a:t>
            </a:r>
          </a:p>
          <a:p>
            <a:r>
              <a:t>CNPJ 62696791000193 · Eventos de liquidação · Excerto da fonte:</a:t>
            </a:r>
          </a:p>
          <a:p>
            <a:r>
              <a:t>11.1 A Classe será liquidada (i) em caso da liquidação antecipada deliberada em Assembleia Especial de Cotistas; ou (ii) pelo encerramento do Prazo de Duração da Classe. 11.2 Na ocorrência da liquidação da Classe, o Administrador: (i) liquidará todos os investimentos da Classe em Ativos Financeiros de Liquidez, conforme orientação do Gestor, transferindo todos os recursos daí resultantes para a Conta da Classe; (ii) realizará, de acordo com as orientações e instruções do Gestor, a alienação dos investimentos nos Direitos Creditórios do Agronegócio e nos Outros Ativos integrantes da carteira de investimentos da Classe; e (iii) realizará o pagamento dos encargos da Classe e a amortização das Cotas, até o limite dos recursos disponíveis na Conta da Classe. 11.2.1 No caso de Liquidação da Classe, os Cotistas terão o direito de partilhar o Patrimônio Líquido em igualdade de condições e na proporção de suas Cotas, deduzidas as despesas necessárias para a liquidação da Classe. Não haverá qualquer tipo de pref erência, p rioridade ou subordinação entre os Cotistas. 11.3 Caso a Classe não possua recursos suficientes para o pagamento de todas as Cotas no momento de</a:t>
            </a:r>
          </a:p>
          <a:p>
            <a:r>
              <a:t>CNPJ 62696791000193 · Eventos de liquidação · Regulamento · ID 1143317 · 20/03/2026 · versão Regulamento — referência 20/03/2026 · p. 24 · Anexo I, 11.7 · https://fnet.bmfbovespa.com.br/fnet/publico/visualizarDocumento?id=1143317</a:t>
            </a:r>
          </a:p>
          <a:p>
            <a:r>
              <a:t>CNPJ 62696791000193 · Eventos de liquidação · Excerto da fonte:</a:t>
            </a:r>
          </a:p>
          <a:p>
            <a:r>
              <a:t>11.7 A liquidação da Classe e a divisão de seu patrimônio entre os Cotistas deverão ocorrer no prazo de até 180 (cento e oitenta) dias corridos contados (i) do encerramento do Prazo de Duração ou (ii) da data da realização da Assembleia Especial de Cotistas que deliberar sobre a liquidação da Classe. BTG Pactual SAC: 0800 772 2827 | Ouvidoria: 0800 722 0048 | btgpactual.co m 19</a:t>
            </a:r>
          </a:p>
          <a:p>
            <a:r>
              <a:t>CNPJ 62696791000193 · Eventos de liquidação · Condição: O capítulo não fornece gatilho automático de PL &lt;R$ 1 milhão por 90 dias; essa cláusula presente em outros FIDCs não pode ser transferida para Ceres.</a:t>
            </a:r>
          </a:p>
          <a:p>
            <a:r>
              <a:t>CNPJ 62696791000193 · Eventos de liquidação · Motivo: Cláusula primária localizada e citada, mas sua lista/condições extensas não admitem uma síntese literal curta confirmada. O trecho integral permanece nas fontes.</a:t>
            </a:r>
          </a:p>
          <a:p>
            <a:r>
              <a:t>CNPJ 62696791000193 · Eventos de liquidação · Versão e prevalência: Leitura específica das cláusulas indicadas; condições e conflitos preservados. Seleção documental atual não comprova vigência jurídica por data isolada.</a:t>
            </a:r>
          </a:p>
          <a:p>
            <a:r>
              <a:t>CNPJ 55563624000109 · Eventos de liquidação · Regulamento · ID 1192614 · 30/04/2026 · versão Regulamento30/04/2026 · p. 21 · AnexoI11.3(i)–(vii) · https://fnet.bmfbovespa.com.br/fnet/publico/visualizarDocumento?id=1192614</a:t>
            </a:r>
          </a:p>
          <a:p>
            <a:r>
              <a:t>CNPJ 55563624000109 · Eventos de liquidação · Excerto da fonte:</a:t>
            </a:r>
          </a:p>
          <a:p>
            <a:r>
              <a:t>11.3 As seguintes hipóteses são consideradas Eventos de Liquidação: (i) caso seja deliberado em Assembleia Especial de Cotistas que um Evento de Avaliação constitui um Evento de Liquidação; (ii) na hipótese de renúncia do CUSTODIANTE, sem que tenha havido sua substituição por outra instituição, de acordo com os procedimentos estabelecidos neste Anexo; (iii) renúncia do ADMINISTRADOR ou do GESTOR sem que a Assembleia Especial de Cotistas eficazmente nomeie instituição habilitada para substituí-lo, nos termo</a:t>
            </a:r>
          </a:p>
          <a:p>
            <a:r>
              <a:t>CNPJ 55563624000109 · Eventos de liquidação · Versão e prevalência: Leitura específica das cláusulas indicadas; condições e conflitos preservados. Seleção documental atual não comprova vigência jurídica por data isolada.</a:t>
            </a:r>
          </a:p>
          <a:p>
            <a:r>
              <a:t>CNPJ 62552447000120 · Eventos de liquidação · Regulamento · ID 1200623 · 21/05/2026 · versão Consolidado21/05/2026 aprovado pelo ato1200625 · p. 24 · AnexoI11.2(i)–(v) · https://fnet.bmfbovespa.com.br/fnet/publico/visualizarDocumento?id=1200623</a:t>
            </a:r>
          </a:p>
          <a:p>
            <a:r>
              <a:t>CNPJ 62552447000120 · Eventos de liquidação · Excerto da fonte:</a:t>
            </a:r>
          </a:p>
          <a:p>
            <a:r>
              <a:t>11.2 As seguintes hipóteses são consideradas eventos de liquidação (“Eventos de Liquidação”): (i) caso seja deliberado em Assembleia Especial que um Evento de Avaliação constitui um Evento de Liquidação; (ii) na hipótese de resilição do Contrato de Custódia ou renúncia do Custodiante, sem que tenha havido sua substituição por outra instituição, de acordo com os procedimentos estabelecidos neste Regulamento; (iii) renúncia do Administrador sem que a Assembleia Especial ef icazmente nomeie instituição habilitada para substituí-lo, nos termos estab</a:t>
            </a:r>
          </a:p>
          <a:p>
            <a:r>
              <a:t>CNPJ 62552447000120 · Eventos de liquidação · Regulamento · ID 1200623 · 21/05/2026 · versão Consolidado21/05/2026 aprovado pelo ato1200625 · p. 25 · AnexoI11.2(vi)–(ix) · https://fnet.bmfbovespa.com.br/fnet/publico/visualizarDocumento?id=1200623</a:t>
            </a:r>
          </a:p>
          <a:p>
            <a:r>
              <a:t>CNPJ 62552447000120 · Eventos de liquidação · Excerto da fonte:</a:t>
            </a:r>
          </a:p>
          <a:p>
            <a:r>
              <a:t>(vi) em caso de regime de administração especial temporária - RAET, intervenção ou liquidação extrajudicial do Custodiante, Administrador, ou Gestor, sem a sua ef etiva substituição nos termos deste Regulamento; (vii) se, após 90 (noventa) dias do início das atividades do Fundo, o Patrimônio Líquido diário inferior da Classe for inferior a R$ 1.000.000,00 (um milhão de reais) pelo período de 90 (noventa) dias consecutivos; (viii) caso, por inexistência de recursos líquidos, a Classe não possa fazer f rente aos Encargos nas respectivas datas</a:t>
            </a:r>
          </a:p>
          <a:p>
            <a:r>
              <a:t>CNPJ 62552447000120 · Eventos de liquidação · Versão e prevalência: Leitura específica das cláusulas indicadas; condições e conflitos preservados. Seleção documental atual não comprova vigência jurídica por data isolada.</a:t>
            </a:r>
          </a:p>
          <a:p>
            <a:r>
              <a:t>CNPJ 63953620000165 · Eventos de liquidação · Anexo ao Regulamento · ID 1222863 · 02/06/2026 · versão AnexoConsignadoPrivado02/06/2026 · p. 16 · 11.2(i)–(viii) · https://fnet.bmfbovespa.com.br/fnet/publico/visualizarDocumento?id=1222863</a:t>
            </a:r>
          </a:p>
          <a:p>
            <a:r>
              <a:t>CNPJ 63953620000165 · Eventos de liquidação · Excerto da fonte:</a:t>
            </a:r>
          </a:p>
          <a:p>
            <a:r>
              <a:t>11.2 As seguintes hipóteses são consideradas eventos de liquidação (“Eventos de Liquidação”): (i) caso seja deliberado em Assembleia Especial de Cotistas que um Evento de Avaliação constitui um Evento de Liquidação; (ii) na hipótese de resilição do Contrato de Custódia ou renúncia do Custodiante, sem que tenha havido sua substituição por outra instituição, de acordo com os procedimentos estabelecidos neste Regulamento; (iii) renúncia do Administrador sem que a Assembleia Especial de Cotistas eficazmente nomeie instituição habilitada para substituí-lo, nos termos estabeleci</a:t>
            </a:r>
          </a:p>
          <a:p>
            <a:r>
              <a:t>CNPJ 63953620000165 · Eventos de liquidação · Versão e prevalência: Leitura específica das cláusulas indicadas; condições e conflitos preservados. Seleção documental atual não comprova vigência jurídica por data isolada.</a:t>
            </a:r>
          </a:p>
          <a:p>
            <a:r>
              <a:t>CNPJ 63953620000165 · Eventos de liquidação · Resumo do histórico: {"count": 8, "dates": ["2026-04-28", "2026-05-08", "2026-05-15"], "document_count": 3, "sources": [{"document_id": "1327859", "title": "Demonstrações Financeiras - Fusão, cisão e incorporação", "reference_date": "2026-05-15", "version": "1", "page": 23, "url": "https://fnet.bmfbovespa.com.br/fnet/publico/visualizarDocumento?id=1327859", "sha256": "dca1c68babb97f887528c3e2e47596a9c30f507b067981a35655b2f2da9c8054"}, {"document_id": "1298691", "title": "Demonstrações Financeiras - Fusão, cisão e incorporação", "reference_date": "2026-05-08", "version": "1", "page": 24, "url": "https://fnet.bmfbovespa.com.br/fnet/publico/visualizarDocumento?id=1298691", "sha256": "58c570d9b8d4d265330d3db3ea81c435b8e44a6dab4002aa37790652a1ee9819"}, {"document_id": "1282180", "title": "Demonstrações Financeiras - Fusão, cisão e incorporação", "reference_date": "2026-04-28", "version": "1", "page": 24, "url": "https://fnet.bmfbovespa.com.br/fnet/publico/visualizarDocumento?id=1282180", "sha256": "afaaa0e6809be4385e5bdb6c911aac582032c5bdbac3d7750234bf9eaf00438a"}], "reference": {"path": "history/63953620000165.json", "criterion_id": "liquidation", "total_count": 8, "preview_count": 3, "full_text_deferred": true, "sha256": "a7b89077f5e21098c2d601c303faabc3ff6b9729f89d8afecdc60fe1404720c1"}}</a:t>
            </a:r>
          </a:p>
          <a:p>
            <a:r>
              <a:t>CNPJ 54871427000194 · Prazos de cura e reincidência · Regulamento · ID 670691 · 28/04/2024 · versão Regulamento — referência 28/04/2024 · p. 18 · Anexo I, 11.1(ii)–(v) · https://fnet.bmfbovespa.com.br/fnet/publico/visualizarDocumento?id=670691</a:t>
            </a:r>
          </a:p>
          <a:p>
            <a:r>
              <a:t>CNPJ 54871427000194 · Prazos de cura e reincidência · Excerto da fonte:</a:t>
            </a:r>
          </a:p>
          <a:p>
            <a:r>
              <a:t>(ii) não cumprimento, por qualquer dos Endossantes, de qualquer de suas obrigações estabelecidas em cada Contrato de Endosso ou neste Regulamento e Anexo, desde que esse não cumprimento não seja devidamente sanado ou justificado dentro de 10 (dez) Dias Úteis a partir do recebimento, pelo Endossante, de notificação, por escrito, enviada pelo Administrador, inf ormando-o da ocorrência do respectivo evento; (iii) não cumprimento, por qualquer dos Endossantes, de suas obrigações de entregar o Arquivo de Liquidação Antecipada e o Arquivo de Posição das CCBs ao CUSTODIANTE dentro do prazo estabelecido neste Regulamento, desde que esse não cumprimento não seja devidamente sanado ou justificado dentro dos prazos acordados no respectivo Contrato de Endosso, a partir do recebimento, pelos Endossantes, de notificação, por escrito, enviada pelo CUSTODIANTE, inf ormando-o da ocorrência do respectivo evento; (iv) não cumprimento, por qualquer dos Endossantes, de qualquer de suas obrigações de entregar ao CUSTODIANTE, ou a terceiros por ele indicados, os Documentos Comprobatórios relativos</a:t>
            </a:r>
          </a:p>
          <a:p>
            <a:r>
              <a:t>CNPJ 54871427000194 · Prazos de cura e reincidência · Motivo: Não localizada uma cláusula material para este critério nos textos identificados e processados. A ausência de resultado não comprova inexistência da regra.</a:t>
            </a:r>
          </a:p>
          <a:p>
            <a:r>
              <a:t>CNPJ 54871427000194 · Prazos de cura e reincidência · Versão e prevalência: Leitura específica das cláusulas indicadas; condições e conflitos preservados. Seleção documental atual não comprova vigência jurídica por data isolada.</a:t>
            </a:r>
          </a:p>
          <a:p>
            <a:r>
              <a:t>CNPJ 60010416000112 · Prazos de cura e reincidência · Regulamento · ID 1051393 · 09/10/2025 · versão Regulamento09/10/2025 · p. 14 · AnexoI5.7.1–5.7.2 · https://fnet.bmfbovespa.com.br/fnet/publico/visualizarDocumento?id=1051393</a:t>
            </a:r>
          </a:p>
          <a:p>
            <a:r>
              <a:t>CNPJ 60010416000112 · Prazos de cura e reincidência · Excerto da fonte:</a:t>
            </a:r>
          </a:p>
          <a:p>
            <a:r>
              <a:t>5.7.1 abaixo. 5.7.1 Na hipótese do item 5.7 os titulares de Cotas Subordinadas terão o prazo de 3 (três) Dias Úteis contado do recebimento da comunicação enviada pelo Administrador para manifestar sua intenção de subscrever e integralizar novas Cotas Subordinadas, de f orma a restabelecer o Índice de Subordinação. Caso assim se manifestem, o Administrador e os titulares de Cotas Subordinadas deverão, nos 10 (dez) Dias Úteis subsequentes tomar todas as providências necessárias para que as novas Cotas Subordinadas sejam emitidas, subscritas e integraliza</a:t>
            </a:r>
          </a:p>
          <a:p>
            <a:r>
              <a:t>CNPJ 60010416000112 · Prazos de cura e reincidência · Regulamento · ID 1051393 · 09/10/2025 · versão Regulamento09/10/2025 · p. 19 · AnexoI10.1(ii)–(vii) · https://fnet.bmfbovespa.com.br/fnet/publico/visualizarDocumento?id=1051393</a:t>
            </a:r>
          </a:p>
          <a:p>
            <a:r>
              <a:t>CNPJ 60010416000112 · Prazos de cura e reincidência · Excerto da fonte:</a:t>
            </a:r>
          </a:p>
          <a:p>
            <a:r>
              <a:t>10.1 As seguintes hipóteses são consideradas Eventos de Avaliação: (i) em caso de regime de administração especial temporária - RAET, intervenção ou liquidação extrajudicial do Endossante; (ii) em caso de desenquadramento do Índice de Subordinação por 10 (dez) dias úteis consecutivos; (iii) não cumprimento, pelo Endossante, de qualquer de suas obrigações estabelecidas no Contrato de Endosso ou neste Anexo I, desde que esse não cumprimento não seja devidamente sanado ou justif icado dentro de 10 (dez) Dias Úteis a partir do recebimento, pelo Endossante, de noti</a:t>
            </a:r>
          </a:p>
          <a:p>
            <a:r>
              <a:t>CNPJ 60010416000112 · Prazos de cura e reincidência · Regulamento · ID 1051393 · 09/10/2025 · versão Regulamento09/10/2025 · p. 20 · AnexoI10.1(xiii) · https://fnet.bmfbovespa.com.br/fnet/publico/visualizarDocumento?id=1051393</a:t>
            </a:r>
          </a:p>
          <a:p>
            <a:r>
              <a:t>CNPJ 60010416000112 · Prazos de cura e reincidência · Excerto da fonte:</a:t>
            </a:r>
          </a:p>
          <a:p>
            <a:r>
              <a:t>(xiii) no caso de não serem realizados pagamentos de amortização e/ou resgate de Cotas Seniores, nos termos, prazos e condições previstos no presente Regulamento e nos respectivos Apêndices e Suplementos, não sanados em até 2 (dois) Dias Úteis contados do prazo final do respectivo evento; (xiv) no caso de pagamento de resgate e/ou amortização de Cotas Subordinadas em desacordo com os termos, prazos e condições previstos no presente Regulamento e no respectivo Apêndice. 10.1.1 Na ocorrência de qualquer Evento de Avaliação, será convocada Assembleia Especial de Cotistas,</a:t>
            </a:r>
          </a:p>
          <a:p>
            <a:r>
              <a:t>CNPJ 60010416000112 · Prazos de cura e reincidência · Versão e prevalência: Leitura específica das cláusulas indicadas; condições e conflitos preservados. Seleção documental atual não comprova vigência jurídica por data isolada.</a:t>
            </a:r>
          </a:p>
          <a:p>
            <a:r>
              <a:t>CNPJ 60010416000112 · Prazos de cura e reincidência · Resumo do histórico: {"count": 1, "dates": ["2025-03-20"], "document_count": 1, "sources": [{"document_id": "993786", "title": "Regulamento", "reference_date": "2025-03-20", "version": "1", "page": 19, "clause": "10.1", "url": "https://fnet.bmfbovespa.com.br/fnet/publico/visualizarDocumento?id=993786", "sha256": "fd0fdd369a195510d81f81f505195a0b09e5f43522a990afa7d58c4f872921c8"}], "reference": {"path": "history/60010416000112.json", "criterion_id": "cure", "total_count": 1, "preview_count": 1, "full_text_deferred": true, "sha256": "8e2bd813f4c51cf01f6bfaad164bafe69d2bbb192f753eac92da3a01c2e63046"}}</a:t>
            </a:r>
          </a:p>
          <a:p>
            <a:r>
              <a:t>CNPJ 62696791000193 · Prazos de cura e reincidência · Motivo: Não localizada uma cláusula material para este critério nos textos identificados e processados. A ausência de resultado não comprova inexistência da regra.</a:t>
            </a:r>
          </a:p>
          <a:p>
            <a:r>
              <a:t>CNPJ 55563624000109 · Prazos de cura e reincidência · Regulamento · ID 1192614 · 30/04/2026 · versão Regulamento30/04/2026 · p. 20 · AnexoI11.1 · https://fnet.bmfbovespa.com.br/fnet/publico/visualizarDocumento?id=1192614</a:t>
            </a:r>
          </a:p>
          <a:p>
            <a:r>
              <a:t>CNPJ 55563624000109 · Prazos de cura e reincidência · Excerto da fonte:</a:t>
            </a:r>
          </a:p>
          <a:p>
            <a:r>
              <a:t>11.1 As seguintes hipóteses são consideradas Eventos de Avaliação: (i) inobservância pelo ADMINISTRADOR, pelo CUSTODIANTE e/ou pelo GESTOR de seus deveres e obrigações previstos neste Anexo, desde que, uma vez notificados para sanar ou justificar o descumprimento, o ADMINISTRADOR, o CUSTODIANTE e/ou o GESTOR, conforme o caso, não o sane no prazo de 5 (cinco) Dias Úteis contados do recebimento da referida notificação; (ii) aquisição, pela Classe, de Cotas da Classe Investida que estejam em desacordo com o Critério de</a:t>
            </a:r>
          </a:p>
          <a:p>
            <a:r>
              <a:t>CNPJ 55563624000109 · Prazos de cura e reincidência · Regulamento · ID 1192614 · 30/04/2026 · versão Regulamento30/04/2026 · p. 21 · AnexoI11.1.2 · https://fnet.bmfbovespa.com.br/fnet/publico/visualizarDocumento?id=1192614</a:t>
            </a:r>
          </a:p>
          <a:p>
            <a:r>
              <a:t>CNPJ 55563624000109 · Prazos de cura e reincidência · Excerto da fonte:</a:t>
            </a:r>
          </a:p>
          <a:p>
            <a:r>
              <a:t>11.1.2 No momento de verificação de qualquer Evento de Avaliação, os procedimentos de aquisição de novas Cotas da Classe Investida e, se aplicável, de amortização das Cotas, deverão ser imediatamente interrompidos, até que: (i) seja proferida decisão final em Assembleia Especial de Cotistas, convocada especificamente para este fim, nos termos do item 11.1.1 acima, autorizando a retomada dos procedimentos de aquisição de novas Cotas da Classe Investida, amortização e resgate das Cotas; e/ou (ii) seja sanado o Evento de Avalia</a:t>
            </a:r>
          </a:p>
          <a:p>
            <a:r>
              <a:t>CNPJ 55563624000109 · Prazos de cura e reincidência · Motivo: Não localizada uma cláusula material para este critério nos textos identificados e processados. A ausência de resultado não comprova inexistência da regra.</a:t>
            </a:r>
          </a:p>
          <a:p>
            <a:r>
              <a:t>CNPJ 55563624000109 · Prazos de cura e reincidência · Versão e prevalência: Leitura específica das cláusulas indicadas; condições e conflitos preservados. Seleção documental atual não comprova vigência jurídica por data isolada.</a:t>
            </a:r>
          </a:p>
          <a:p>
            <a:r>
              <a:t>CNPJ 62552447000120 · Prazos de cura e reincidência · Regulamento · ID 1200623 · 21/05/2026 · versão Consolidado21/05/2026 aprovado pelo ato1200625 · p. 22 · AnexoI11.1(ii)–(v) · https://fnet.bmfbovespa.com.br/fnet/publico/visualizarDocumento?id=1200623</a:t>
            </a:r>
          </a:p>
          <a:p>
            <a:r>
              <a:t>CNPJ 62552447000120 · Prazos de cura e reincidência · Excerto da fonte:</a:t>
            </a:r>
          </a:p>
          <a:p>
            <a:r>
              <a:t>5 (cinco) Dias Úteis a partir do recebimento, pelo Endossante, de notificação, por escrito, enviada pelo Administrador, inf ormando-o da ocorrência do respectivo evento; (iii) não cumprimento, pelo Endossante e/ou pelo Agente de Retenção e Cobrança, de sua obrigação de entregar os (a) arquivos eletrônicos disponibilizados mensalmente pela Dataprev ao Endossante, contendo (1) as Consignações processadas pela Dataprev no respectivo mês, identificando os Devedores e os valores que serão descontados de suas respectivas folhas de pagamentos, bem como</a:t>
            </a:r>
          </a:p>
          <a:p>
            <a:r>
              <a:t>CNPJ 62552447000120 · Prazos de cura e reincidência · Regulamento · ID 1200623 · 21/05/2026 · versão Consolidado21/05/2026 aprovado pelo ato1200625 · p. 23 · AnexoI11.1(vi)–(viii) · https://fnet.bmfbovespa.com.br/fnet/publico/visualizarDocumento?id=1200623</a:t>
            </a:r>
          </a:p>
          <a:p>
            <a:r>
              <a:t>CNPJ 62552447000120 · Prazos de cura e reincidência · Excerto da fonte:</a:t>
            </a:r>
          </a:p>
          <a:p>
            <a:r>
              <a:t>5 (cinco) Dias Úteis a partir do recebimento, pelo Agente de Retenção e Cobrança, de notificação, por escrito, enviada pelo Gestor, informando-o da ocorrência do respectivo evento; (vi) não cumprimento, pelo Agente de Conta Vinculada, de qualquer de suas obrigações estabelecidas no contrato de conta vinculada celebrado entre o Endossante, na qualidade de titular da Conta Vinculada, e a Classe (“Contrato de Conta Vinculada”), no Regulamento ou neste Anexo I, desde que esse não cumprimento não seja devidamente sanado ou justificado dentro de 5 (cinco) Dias Úte</a:t>
            </a:r>
          </a:p>
          <a:p>
            <a:r>
              <a:t>CNPJ 62552447000120 · Prazos de cura e reincidência · Regulamento · ID 1200623 · 21/05/2026 · versão Consolidado21/05/2026 aprovado pelo ato1200625 · p. 19 · AnexoI6.8.4 · https://fnet.bmfbovespa.com.br/fnet/publico/visualizarDocumento?id=1200623</a:t>
            </a:r>
          </a:p>
          <a:p>
            <a:r>
              <a:t>CNPJ 62552447000120 · Prazos de cura e reincidência · Excerto da fonte:</a:t>
            </a:r>
          </a:p>
          <a:p>
            <a:r>
              <a:t>6.8.4 Em caso de inadimplência decorrente de falha operacional, será concedido aos Cotistas o prazo de 2 (dois) Dias Úteis contado da data de seu vencimento original para a realização do pagamento da integralização de Cotas sem a incidência de qualquer penalidade, multa ou mora. Transferência de Cotas 6.9 Não haverá direito de preferência aos Cotistas em relação às transferências de Cotas no mercado secundário. 6.10 No caso de alienação voluntária de Cotas, o Cotista alienante deverá solicitar por escrito ao Administrador e ao Gestor, a transf erência parcial ou total de suas Cotas, indicando o nom</a:t>
            </a:r>
          </a:p>
          <a:p>
            <a:r>
              <a:t>CNPJ 62552447000120 · Prazos de cura e reincidência · Regulamento · ID 1200623 · 21/05/2026 · versão Consolidado21/05/2026 aprovado pelo ato1200625 · p. 24 · AnexoI11.1.2 · https://fnet.bmfbovespa.com.br/fnet/publico/visualizarDocumento?id=1200623</a:t>
            </a:r>
          </a:p>
          <a:p>
            <a:r>
              <a:t>CNPJ 62552447000120 · Prazos de cura e reincidência · Excerto da fonte:</a:t>
            </a:r>
          </a:p>
          <a:p>
            <a:r>
              <a:t>11.1.2 No momento de verificação de qualquer Evento de Avaliação, os procedimentos de aquisição de novos Direitos Creditórios deverão ser imediatamente interrompidos, até que: (i) seja prof erida decisão final em Assembleia Especial, convocada especificamente para este fim, nos termos do item 11.1.1 acima, autorizando a retomada dos procedimentos de aquisição de novos Direitos Creditórios e resgate das Cotas; e/ou (ii) seja sanado o Evento de Avaliação . 11.1.3 Na hipótese de não instalação da Assembleia Especial por f alta de quórum, o Administrador dará início aos</a:t>
            </a:r>
          </a:p>
          <a:p>
            <a:r>
              <a:t>CNPJ 62552447000120 · Prazos de cura e reincidência · Motivo: Não localizada uma cláusula material para este critério nos textos identificados e processados. A ausência de resultado não comprova inexistência da regra.</a:t>
            </a:r>
          </a:p>
          <a:p>
            <a:r>
              <a:t>CNPJ 62552447000120 · Prazos de cura e reincidência · Versão e prevalência: Leitura específica das cláusulas indicadas; condições e conflitos preservados. Seleção documental atual não comprova vigência jurídica por data isolada.</a:t>
            </a:r>
          </a:p>
          <a:p>
            <a:r>
              <a:t>CNPJ 63953620000165 · Prazos de cura e reincidência · Anexo ao Regulamento · ID 1222863 · 02/06/2026 · versão AnexoConsignadoPrivado02/06/2026 · p. 14 · 11.1(ii)–(v) · https://fnet.bmfbovespa.com.br/fnet/publico/visualizarDocumento?id=1222863</a:t>
            </a:r>
          </a:p>
          <a:p>
            <a:r>
              <a:t>CNPJ 63953620000165 · Prazos de cura e reincidência · Excerto da fonte:</a:t>
            </a:r>
          </a:p>
          <a:p>
            <a:r>
              <a:t>11.1 As seguintes hipóteses são consideradas eventos de avaliação (“Eventos de Avaliação”): (i) em caso de regime de administração especial temporária - RAET, intervenção ou liquidação extrajudicial do Endossante; (ii) em caso de desenquadramento do Índice de Subordinação por 10 (dez) dias úteis consecutivos; (iii) não cumprimento, pelo Endossante, de qualquer de suas obrigações estabelecidas no Contrato de Endosso ou neste Anexo I, desde que esse não cumprimento não seja devidamente sanado ou justificado dentro de 10 (dez) Dias Úteis a partir do recebimento, pelo Endossan</a:t>
            </a:r>
          </a:p>
          <a:p>
            <a:r>
              <a:t>CNPJ 63953620000165 · Prazos de cura e reincidência · Anexo ao Regulamento · ID 1222863 · 02/06/2026 · versão AnexoConsignadoPrivado02/06/2026 · p. 10 · 6.8 · https://fnet.bmfbovespa.com.br/fnet/publico/visualizarDocumento?id=1222863</a:t>
            </a:r>
          </a:p>
          <a:p>
            <a:r>
              <a:t>CNPJ 63953620000165 · Prazos de cura e reincidência · Excerto da fonte:</a:t>
            </a:r>
          </a:p>
          <a:p>
            <a:r>
              <a:t>6.8 Observado o disposto nos boletins de subscrição, no caso de inadimplemento, a Administradora notificará o cotista inadimplente para sanar o inadimplemento no prazo de até 5 (cinco) Dias Úteis (“Cotista Inadimplente”). Caso o Cotista Inadimplente não sane o inadimplemento dentro de 5 (cinco) Dias Úteis contados do recebimento da notificação descrita acima, a Administradora poderá tomar as medidas previstas no Boletim de Subscrição. Colocação das Cotas 6.9 As Cotas poderão ser objeto de oferta pública a ser realizada nos termos da Resolução CVM 160 (“Oferta”) e/ou poderão ser colocadas de forma privada (“Colocação Privad</a:t>
            </a:r>
          </a:p>
          <a:p>
            <a:r>
              <a:t>CNPJ 63953620000165 · Prazos de cura e reincidência · Versão e prevalência: Leitura específica das cláusulas indicadas; condições e conflitos preservados. Seleção documental atual não comprova vigência jurídica por data isolada.</a:t>
            </a:r>
          </a:p>
          <a:p>
            <a:r>
              <a:t>CNPJ 54871427000194 · Cross default e insolvência · Motivo: Não localizada uma cláusula material para este critério nos textos identificados e processados. A ausência de resultado não comprova inexistência da regra.</a:t>
            </a:r>
          </a:p>
          <a:p>
            <a:r>
              <a:t>CNPJ 60010416000112 · Cross default e insolvência · Regulamento · ID 1051393 · 2025-10-09 · versão 1 · p. 21 · 10.2 · https://fnet.bmfbovespa.com.br/fnet/publico/visualizarDocumento?id=1051393</a:t>
            </a:r>
          </a:p>
          <a:p>
            <a:r>
              <a:t>CNPJ 60010416000112 · Cross default e insolvência · Excerto da fonte:</a:t>
            </a:r>
          </a:p>
          <a:p>
            <a:r>
              <a:t>10.2 Os seguintes eventos obrigarão o Administrador a verif icar se o Patrimônio Líquido da Classe está  negativo:</a:t>
            </a:r>
          </a:p>
          <a:p>
            <a:r>
              <a:t> (i) qualquer pedido de declaração judicial de insolvência da Classe;</a:t>
            </a:r>
          </a:p>
          <a:p>
            <a:r>
              <a:t> (ii) identificação de indícios de f raudes envolvendo o lastro de Direitos Creditórios que representem, no  mínimo 0,5 (cinco décimos por cento) do Patrimônio Líquido da Classe;</a:t>
            </a:r>
          </a:p>
          <a:p>
            <a:r>
              <a:t> (iii) inadimplência de obrigações financeiras de devedor e/ou emissor de ativos detidos pela Classe que  representem mais de 25% (vinte e cinco por cento)de seu Patrimônio Líquido;</a:t>
            </a:r>
          </a:p>
          <a:p>
            <a:r>
              <a:t> (iv) pedido de recuperação extrajudicial, de recuperação judicial, ou de falência de Devedor e/ou emissor  de ativos detidos pela Classe;</a:t>
            </a:r>
          </a:p>
          <a:p>
            <a:r>
              <a:t> (v) condenação da Classe de natureza judicial e/ou arbitral e/ou administrativa e/ou outras similares ao  pagamento de mais de 20% (vinte por cento) de seu Patrimônio Líquido; e</a:t>
            </a:r>
          </a:p>
          <a:p>
            <a:r>
              <a:t> (vi) caso caracterizado quaisquer dos Eventos de Liquidação.</a:t>
            </a:r>
          </a:p>
          <a:p>
            <a:r>
              <a:t>Eventos de Liquidação</a:t>
            </a:r>
          </a:p>
          <a:p>
            <a:r>
              <a:t>CNPJ 60010416000112 · Cross default e insolvência · Regulamento · ID 1051393 · 2025-10-09 · versão 1 · p. 21 · 10.3 · https://fnet.bmfbovespa.com.br/fnet/publico/visualizarDocumento?id=1051393</a:t>
            </a:r>
          </a:p>
          <a:p>
            <a:r>
              <a:t>CNPJ 60010416000112 · Cross default e insolvência · Excerto da fonte:</a:t>
            </a:r>
          </a:p>
          <a:p>
            <a:r>
              <a:t>10.3 As seguintes hipóteses são consideradas Eventos de Liquidação:</a:t>
            </a:r>
          </a:p>
          <a:p>
            <a:r>
              <a:t> (i) caso seja deliberado em Assembleia de Cotistas que um Evento de Avaliação constitui um Evento de  Liquidação;</a:t>
            </a:r>
          </a:p>
          <a:p>
            <a:r>
              <a:t> (ii) na hipótese de resilição do Contrato de Custódia ou renúncia do Custodiante, sem que tenha havido  sua substituição por outra instituição, de acordo com os procedimentos estabelecidos neste  Regulamento;</a:t>
            </a:r>
          </a:p>
          <a:p>
            <a:r>
              <a:t> (iii) renúncia do Administrador sem que a Assembleia Especial de Cotistas eficazmente nomeie instituição  habilitada para substituí-lo, nos termos estabelecidos neste Regulamento;</a:t>
            </a:r>
          </a:p>
          <a:p>
            <a:r>
              <a:t> (iv) por determinação da CVM, em caso de violação de normas legais ou regulamentares;</a:t>
            </a:r>
          </a:p>
          <a:p>
            <a:r>
              <a:t> (v) sempre que assim decidido pelos Cotistas em Assembleia Especial de Cotistas especialmente  convocada para tal f im;</a:t>
            </a:r>
          </a:p>
          <a:p>
            <a:r>
              <a:t> (vi) em caso de regime de administração especial temporária - RAET, intervenção ou liquidação  extrajudicial, conforme aplicável, do Custodiante, Administrador, ou Gestor, sem a sua ef etiva  substituição nos termos deste Regulamento;</a:t>
            </a:r>
          </a:p>
          <a:p>
            <a:r>
              <a:t> (vii) se, após 90 (noventa) dias do início das atividades do Fundo, o Patrimônio Líquido diário inf erior da  Classe f or inf erior a R$ 1.000.000,00 (um milhão de reais) pelo período de 90 (noventa) dias  consecutivos;</a:t>
            </a:r>
          </a:p>
          <a:p>
            <a:r>
              <a:t> (viii) impossibilidade da Classe adquirir Direitos Creditórios admitidos por sua política de investimento.</a:t>
            </a:r>
          </a:p>
          <a:p>
            <a:r>
              <a:t>Procedimentos de Liquidação Antecipada</a:t>
            </a:r>
          </a:p>
          <a:p>
            <a:r>
              <a:t>CNPJ 60010416000112 · Cross default e insolvência · Regulamento · ID 1051393 · 2025-10-09 · versão 1 · p. 19 · 10.1 · https://fnet.bmfbovespa.com.br/fnet/publico/visualizarDocumento?id=1051393</a:t>
            </a:r>
          </a:p>
          <a:p>
            <a:r>
              <a:t>CNPJ 60010416000112 · Cross default e insolvência · Excerto da fonte:</a:t>
            </a:r>
          </a:p>
          <a:p>
            <a:r>
              <a:t>10.1 As seguintes hipóteses são consideradas Eventos de Avaliação:</a:t>
            </a:r>
          </a:p>
          <a:p>
            <a:r>
              <a:t> (i) em caso de regime de administração especial temporária - RAET, intervenção ou liquidação  extrajudicial do Endossante;</a:t>
            </a:r>
          </a:p>
          <a:p>
            <a:r>
              <a:t> (ii) em caso de desenquadramento do Índice de Subordinação por 10 (dez) dias úteis consecutivos;</a:t>
            </a:r>
          </a:p>
          <a:p>
            <a:r>
              <a:t> (iii) não cumprimento, pelo Endossante, de qualquer de suas obrigações estabelecidas no Contrato de  Endosso ou neste Anexo I, desde que esse não cumprimento não seja devidamente sanado ou  justif icado dentro de 10 (dez) Dias Úteis a partir do recebimento, pelo Endossante, de notificação,  por escrito, enviada pelo Administrador, inf ormando-o da ocorrência do respectivo evento;</a:t>
            </a:r>
          </a:p>
          <a:p>
            <a:r>
              <a:t> (iv) não cumprimento, pelo Endossante, de sua obrigação de entregar os Arquivos Dataprev ao Gestor  e ao Custodiante dentro do prazo estabelecido neste Anexo I, desde que esse não cumprimento  não seja devidamente sanado ou justificado dentro de 02 (dois) Dias Úteis a partir do recebimento,  pelo Endossante, de notificação, por escrito, enviada pelo Gestor, informando-o da ocorrência do  respectivo evento;</a:t>
            </a:r>
          </a:p>
          <a:p>
            <a:r>
              <a:t> (v) não cumprimento, pelo Endossante, de qualquer de suas obrigações de entregar ao Gestor e/o ao  Custodiante, ou a terceiros por ele indicados, os Documentos Comprobatórios e Documentos  Suporte relativos aos Direitos Creditórios que tenham sido endossados à Classe, dentro do prazo  estabelecido neste Anexo I, desde que esse não cumprimento não seja devidamente sanado ou  justif icado dentro de 02 (dois) Dias Úteis a partir do recebimento, pelo Endossante, de notificação,  por escrito, enviada pelo Gestor e/ou Custodiante, inf ormando- o da ocorrência do respectivo  evento;</a:t>
            </a:r>
          </a:p>
          <a:p>
            <a:r>
              <a:t> (vi) não cumprimento, pelo Agente de Retenção/Cobrança, de qualquer de suas obrigações  estabelecidas no Contrato de Endosso, neste Regulamento ou no Contrato de Serviços MT, desde  que esse não cumprimento não seja devidamente sanado ou justificado dentro de 10 (dez) Dias  Úteis a partir do recebimento, pelo Agente de Retenção/Cobrança, de notificação, por escrito,  enviada pelo Gestor, inf ormando-o da ocorrência do respectivo evento;</a:t>
            </a:r>
          </a:p>
          <a:p>
            <a:r>
              <a:t> (vii) não cumprimento, pelo Administrador, Gestor ou Custodiante, de seus respectivos deveres e  obrigações estabelecidos neste Regulamento, no Contrato de Endosso ou nos respectivos  contratos de prestação de serviços segundo os quais essas entidades são contratadas pela Classe,  desde que, tendo sido notificado pelo Cotista para remediar ou justificar o não cumprimento, não o  f aça dentro de 10 (dez) Dias Úteis a partir do recebimento da notif icação mencionada;</a:t>
            </a:r>
          </a:p>
          <a:p>
            <a:r>
              <a:t>BTG Pactual SAC: 0800 772 28 27 - Ouvidoria: 0800 722 00 48 - btgpactual.com 19</a:t>
            </a:r>
          </a:p>
          <a:p>
            <a:r>
              <a:t>CNPJ 60010416000112 · Cross default e insolvência · Condição: Documentos atuais selecionados no inventário por categoria/escopo; a data documental isolada não comprova vigência jurídica.</a:t>
            </a:r>
          </a:p>
          <a:p>
            <a:r>
              <a:t>CNPJ 60010416000112 · Cross default e insolvência · Versão e prevalência: Documentos atuais selecionados no inventário por categoria/escopo; a data documental isolada não comprova vigência jurídica.</a:t>
            </a:r>
          </a:p>
          <a:p>
            <a:r>
              <a:t>CNPJ 60010416000112 · Cross default e insolvência · Resumo do histórico: {"count": 1, "dates": ["2025-03-20"], "document_count": 1, "sources": [{"document_id": "993786", "title": "Regulamento", "reference_date": "2025-03-20", "version": "1", "page": 21, "clause": "10.2", "url": "https://fnet.bmfbovespa.com.br/fnet/publico/visualizarDocumento?id=993786", "sha256": "fd0fdd369a195510d81f81f505195a0b09e5f43522a990afa7d58c4f872921c8"}], "reference": {"path": "history/60010416000112.json", "criterion_id": "cross_default", "total_count": 1, "preview_count": 1, "full_text_deferred": true, "sha256": "8e2bd813f4c51cf01f6bfaad164bafe69d2bbb192f753eac92da3a01c2e63046"}}</a:t>
            </a:r>
          </a:p>
          <a:p>
            <a:r>
              <a:t>CNPJ 62696791000193 · Cross default e insolvência · Motivo: Não localizada uma cláusula material para este critério nos textos identificados e processados. A ausência de resultado não comprova inexistência da regra.</a:t>
            </a:r>
          </a:p>
          <a:p>
            <a:r>
              <a:t>CNPJ 55563624000109 · Cross default e insolvência · Motivo: Não localizada uma cláusula material para este critério nos textos identificados e processados. A ausência de resultado não comprova inexistência da regra.</a:t>
            </a:r>
          </a:p>
          <a:p>
            <a:r>
              <a:t>CNPJ 62552447000120 · Cross default e insolvência · Regulamento · ID 1200623 · 2026-05-21 · versão 1 · p. 22 · 11.1 · https://fnet.bmfbovespa.com.br/fnet/publico/visualizarDocumento?id=1200623</a:t>
            </a:r>
          </a:p>
          <a:p>
            <a:r>
              <a:t>CNPJ 62552447000120 · Cross default e insolvência · Excerto da fonte:</a:t>
            </a:r>
          </a:p>
          <a:p>
            <a:r>
              <a:t>11.1 As seguintes hipóteses são consideradas eventos de avaliação (“Eventos de Avaliação”):</a:t>
            </a:r>
          </a:p>
          <a:p>
            <a:r>
              <a:t> (i) em caso de regime de administração especial temporária - RAET, intervenção ou liquidação  extrajudicial do Endossante, da instituição f inanceira prestadora dos serviços de agente de  conta vinculada à Classe (“Agente de Conta Vinculada”) e/ou do Agente de Retenção e  Cobrança;</a:t>
            </a:r>
          </a:p>
          <a:p>
            <a:r>
              <a:t> (ii) não cumprimento, pelo Endossante, de qualquer de suas obrigações estabelecidas nos  Contratos de Endosso, no Regulamento ou neste Anexo I, desde que esse não cumprimento  não seja devidamente sanado ou justificado dentro de 5 (cinco) Dias Úteis a partir do  recebimento, pelo Endossante, de notificação, por escrito, enviada pelo Administrador,  inf ormando-o da ocorrência do respectivo evento;</a:t>
            </a:r>
          </a:p>
          <a:p>
            <a:r>
              <a:t> (iii) não cumprimento, pelo Endossante e/ou pelo Agente de Retenção e Cobrança, de sua  obrigação de entregar os (a) arquivos eletrônicos disponibilizados mensalmente pela Dataprev  ao Endossante, contendo (1) as Consignações processadas pela Dataprev no respectivo mês,  identificando os Devedores e os valores que serão descontados de suas respectivas folhas de  pagamentos, bem como (2) a totalidade das operações pendentes de crédito consignado  concedidas pelo Endossante e indicando todos os Direitos Creditórios devi dos mediante  Consignação na próxima data de liquidação (“Arquivos Dataprev”) e/ou (b) os arquivos  eletrônicos disponibilizados mensalmente pela CEF ao Endossante, contendo os pagamentos  de Saque-aniversário processados pela CEF no respectivo mês devidos à Classe, identificando  os Devedores e os valores que serão descontados de seus respectivos Saques-aniversário  (“Arquivos de Liquidação Saque-aniversário”) ao Custodiante dentro do prazo estabelecido  neste Anexo I, desde que esse não cumprimento não seja dev idamente sanado ou justificado  dentro de 5 (cinco) Dias Úteis a partir do recebimento, pelo Endossante e/ou pelo Agente de  Retenção e Cobrança, de notificação, por escrito, enviada pelo Custodiante, inf ormando-o da  ocorrência do respectivo evento;</a:t>
            </a:r>
          </a:p>
          <a:p>
            <a:r>
              <a:t> (iv) não cumprimento, pelo Endossante e/ou pelo Agente de Retenção e Cobrança, de qualquer de  suas obrigações de entregar ao Gestor, ou a terceiros por ele indicados, os Documentos  Comprobatórios e Documentos Suporte relativos aos Direitos Creditórios que tenham sido  endossados à Classe, dentro do prazo estabelecido neste Anexo I, desde que esse não  cumprimento não seja devidamente sanado ou justificado dentro de 5 (cinco) Dias Úteis a partir  do recebimento, pelo Endossante e/ou pelo Agente de Retenção e Cobrança, de notificação,  por escrito, enviada pelo Custodiante, inf ormando- o da ocorrência do respectivo evento;</a:t>
            </a:r>
          </a:p>
          <a:p>
            <a:r>
              <a:t> (v) não cumprimento, pelo Agente de Retenção e Cobrança, de qualquer de suas obrigações  estabelecidas nos Contratos de Endosso, no Regulamento, neste Anexo I ou nos Contratos de  Retenção/Cobrança, desde que esse não cumprimento não seja devidamente sanado ou</a:t>
            </a:r>
          </a:p>
          <a:p>
            <a:r>
              <a:t>CNPJ 62552447000120 · Cross default e insolvência · Condição: Documentos atuais selecionados no inventário por categoria/escopo; a data documental isolada não comprova vigência jurídica.</a:t>
            </a:r>
          </a:p>
          <a:p>
            <a:r>
              <a:t>CNPJ 62552447000120 · Cross default e insolvência · Versão e prevalência: Documentos atuais selecionados no inventário por categoria/escopo; a data documental isolada não comprova vigência jurídica.</a:t>
            </a:r>
          </a:p>
          <a:p>
            <a:r>
              <a:t>CNPJ 63953620000165 · Cross default e insolvência · Anexo ao Regulamento · ID 1222863 · 2026-06-02 · versão 1 · p. 14 · 11.1 · https://fnet.bmfbovespa.com.br/fnet/publico/visualizarDocumento?id=1222863</a:t>
            </a:r>
          </a:p>
          <a:p>
            <a:r>
              <a:t>CNPJ 63953620000165 · Cross default e insolvência · Excerto da fonte:</a:t>
            </a:r>
          </a:p>
          <a:p>
            <a:r>
              <a:t>11.1 As seguintes hipóteses são consideradas eventos de avaliação (“Eventos de Avaliação”):</a:t>
            </a:r>
          </a:p>
          <a:p>
            <a:r>
              <a:t> (i) em caso de regime de administração especial temporária - RAET, intervenção ou liquidação extrajudicial  do Endossante;</a:t>
            </a:r>
          </a:p>
          <a:p>
            <a:r>
              <a:t> (ii) em caso de desenquadramento do Índice de Subordinação por 10 (dez) dias úteis consecutivos;</a:t>
            </a:r>
          </a:p>
          <a:p>
            <a:r>
              <a:t> (iii) não cumprimento, pelo Endossante, de qualquer de suas obrigações estabelecidas no Contrato de  Endosso ou neste Anexo I, desde que esse não cumprimento não seja devidamente sanado ou justificado  dentro de 10 (dez) Dias Úteis a partir do recebimento, pelo Endossante, de notificação, por escrito,  enviada pelo Administrador, informando-o da ocorrência do respectivo evento;</a:t>
            </a:r>
          </a:p>
          <a:p>
            <a:r>
              <a:t> (iv) não cumprimento, pelo Endossante, de sua obrigação de entregar os Arquivos Dataprev ao Gestor e ao  Custodiante dentro do prazo estabelecido neste Anexo, desde que esse não cumprimento não seja  devidamente sanado ou justificado dentro de 02 (dois) Dias Úteis a partir do recebimento, pelo  Endossante, de notificação, por escrito, enviada pelo Gestor, informando-o da ocorrência do respectivo  evento;</a:t>
            </a:r>
          </a:p>
          <a:p>
            <a:r>
              <a:t> (v) não cumprimento, pelo Endossante, de qualquer de suas obrigações de entregar ao Gestor e/o ao  Custodiante, ou a terceiros por ele indicados, os Documentos Comprobatórios e Documentos Suporte  relativos aos Direitos Creditórios que tenham sido endossados à Classe, dentro do prazo estabelecido  neste Anexo I, desde que esse não cumprimento não seja devidamente sanado ou justificado dentro de  02 (dois) Dias Úteis a partir do recebimento, pelo Endossante, de notificação, por escrito, enviada pelo  Gestor e/ou Custodiante, informando- o da ocorrência do respectivo evento;</a:t>
            </a:r>
          </a:p>
          <a:p>
            <a:r>
              <a:t> (vi) não cumprimento, pelo Agente de Retenção/Cobrança, de qualquer de suas obrigações estabelecidas  no Contrato de Endosso, neste Regulamento ou no Contrato de Serviços MT, desde que esse não  cumprimento não seja devidamente sanado ou justificado dentro de 10 (dez) Dias Úteis a partir do  recebimento, pelo Agente de Retenção/Cobrança, de notificação, por escrito, enviada pelo Gestor,  informando-o da ocorrência do respectivo evento;</a:t>
            </a:r>
          </a:p>
          <a:p>
            <a:r>
              <a:t>CNPJ 63953620000165 · Cross default e insolvência · Condição: Documentos atuais selecionados no inventário por categoria/escopo; a data documental isolada não comprova vigência jurídica.</a:t>
            </a:r>
          </a:p>
          <a:p>
            <a:r>
              <a:t>CNPJ 63953620000165 · Cross default e insolvência · Versão e prevalência: Documentos atuais selecionados no inventário por categoria/escopo; a data documental isolada não comprova vigência jurídica.</a:t>
            </a:r>
          </a:p>
          <a:p>
            <a:r>
              <a:t>CNPJ 54871427000194 · Gatilhos de avaliação e liquidação · Regulamento · ID 670691 · 2024-04-28 · versão 1 · p. 17 · 10.2 · https://fnet.bmfbovespa.com.br/fnet/publico/visualizarDocumento?id=670691</a:t>
            </a:r>
          </a:p>
          <a:p>
            <a:r>
              <a:t>CNPJ 54871427000194 · Gatilhos de avaliação e liquidação · Excerto da fonte:</a:t>
            </a:r>
          </a:p>
          <a:p>
            <a:r>
              <a:t>10.2 A Assembleia Especial de Cotistas é responsável por deliberar sobre as matérias específicas da Classe  de Cotas, sem prejuízo das demais disposições previstas na regulamentação aplicável, incluindo, mas  não se limitando a:</a:t>
            </a:r>
          </a:p>
          <a:p>
            <a:r>
              <a:t> (i) deliberar sobre as demonstrações contábeis da Classe;</a:t>
            </a:r>
          </a:p>
          <a:p>
            <a:r>
              <a:t> (ii) deliberar sobre substituição de Prestadores de Serviços Essenciais, observado o disposto no  art. 70, §1º da parte geral da Resolução CVM 175;</a:t>
            </a:r>
          </a:p>
          <a:p>
            <a:r>
              <a:t> (iii) deliberar sobre elevação da Taxa de Administração, inclusive na hipótese de restabelecimento  de taxa que tenha sido objeto de redução;</a:t>
            </a:r>
          </a:p>
          <a:p>
            <a:r>
              <a:t> (iv) deliberar sobre incorporação, f usão, cisão total ou parcial, a transf ormação ou liquidação da  Classe;</a:t>
            </a:r>
          </a:p>
          <a:p>
            <a:r>
              <a:t> (v) alterações das características, vantagens, direitos e obrigações das Cotas;</a:t>
            </a:r>
          </a:p>
          <a:p>
            <a:r>
              <a:t> (vi) alterar critérios e procedimentos para Amortização e/ou resgate de Cotas mediante dação em  pagamento de Direitos Creditórios;</a:t>
            </a:r>
          </a:p>
          <a:p>
            <a:r>
              <a:t> (vii) aprovar a contratação de Agente de Cobrança dos Direitos Creditórios;</a:t>
            </a:r>
          </a:p>
          <a:p>
            <a:r>
              <a:t> (viii) aprovar emissão de novas Cotas da Classe;</a:t>
            </a:r>
          </a:p>
          <a:p>
            <a:r>
              <a:t> (ix) deliberar sobre a eventual necessidade de aportes adicionais de recursos na Classe pelos  Cotistas;</a:t>
            </a:r>
          </a:p>
          <a:p>
            <a:r>
              <a:t> (x) alterações na Política de Investimentos;</a:t>
            </a:r>
          </a:p>
          <a:p>
            <a:r>
              <a:t> (xi) alterações nos Critérios de Elegibilidade;</a:t>
            </a:r>
          </a:p>
          <a:p>
            <a:r>
              <a:t> (xii) alteração dos Eventos de Avaliação, dos Eventos de Liquidação e/ou das consequências deles  decorrentes em f unção do previsto neste Regulamento;</a:t>
            </a:r>
          </a:p>
          <a:p>
            <a:r>
              <a:t> (xiii) plano de resolução do Patrimônio Líquido negativo da Classe, nos termos da Resolução CVM  175; e</a:t>
            </a:r>
          </a:p>
          <a:p>
            <a:r>
              <a:t> (xiv) pedido de declaração judicial de insolvência da Classe.</a:t>
            </a:r>
          </a:p>
          <a:p>
            <a:r>
              <a:t>CAPÍTULO 11 – EVENTOS DE AVALIAÇÃO, EVENTOS DE LIQUIDAÇÃO, E PROCEDIMENTOS DE LIQUIDAÇÃO ANTECIPADA Eventos de Avaliação</a:t>
            </a:r>
          </a:p>
          <a:p>
            <a:r>
              <a:t>CNPJ 54871427000194 · Gatilhos de avaliação e liquidação · Regulamento · ID 670691 · 2024-04-28 · versão 1 · p. 19 · 11.2 · https://fnet.bmfbovespa.com.br/fnet/publico/visualizarDocumento?id=670691</a:t>
            </a:r>
          </a:p>
          <a:p>
            <a:r>
              <a:t>CNPJ 54871427000194 · Gatilhos de avaliação e liquidação · Excerto da fonte:</a:t>
            </a:r>
          </a:p>
          <a:p>
            <a:r>
              <a:t>11.2 Os seguintes eventos obrigarão o ADMINISTRADOR a verificar se o Patrimônio Líquido da Classe está  negativo:</a:t>
            </a:r>
          </a:p>
          <a:p>
            <a:r>
              <a:t> (i) qualquer pedido de declaração judicial de insolvência da Classe; e</a:t>
            </a:r>
          </a:p>
          <a:p>
            <a:r>
              <a:t> (ii) na ocorrência de quaisquer dos Eventos de Avaliação e/ou Eventos de Liquidação .</a:t>
            </a:r>
          </a:p>
          <a:p>
            <a:r>
              <a:t>Eventos de Liquidação</a:t>
            </a:r>
          </a:p>
          <a:p>
            <a:r>
              <a:t>CNPJ 54871427000194 · Gatilhos de avaliação e liquidação · Condição: Documentos atuais selecionados no inventário por categoria/escopo; a data documental isolada não comprova vigência jurídica.</a:t>
            </a:r>
          </a:p>
          <a:p>
            <a:r>
              <a:t>CNPJ 54871427000194 · Gatilhos de avaliação e liquidação · Versão e prevalência: Documentos atuais selecionados no inventário por categoria/escopo; a data documental isolada não comprova vigência jurídica.</a:t>
            </a:r>
          </a:p>
          <a:p>
            <a:r>
              <a:t>CNPJ 54871427000194 · Gatilhos de avaliação e liquidação · Resumo do histórico: {"count": 2, "dates": ["2024-04-19", "2024-04-28"], "document_count": 2, "sources": [{"document_id": "670691", "title": "Regulamento", "reference_date": "2024-04-28", "version": "1", "page": "17-20", "url": "https://fnet.bmfbovespa.com.br/fnet/publico/visualizarDocumento?id=670691", "sha256": "bf16dd7f1a62d5cdbf2e2d54fef81783783f7310fbc99c3a8f00459bdf9d037b"}, {"document_id": "670689", "title": "Regulamento", "reference_date": "2024-04-19", "version": "1", "page": 17, "clause": "10.2", "url": "https://fnet.bmfbovespa.com.br/fnet/publico/visualizarDocumento?id=670689", "sha256": "891bc9bc5d87bbc02ec139077a84d2702eb81ea02035fb71d24f5b8366b94a0b"}], "reference": {"path": "history/54871427000194.json", "criterion_id": "legacy_events", "total_count": 2, "preview_count": 2, "full_text_deferred": true, "sha256": "35d7cd99be50c7287c9fb675cf4f2e736002315295a225a9efa79c8d9186d874"}}</a:t>
            </a:r>
          </a:p>
          <a:p>
            <a:r>
              <a:t>CNPJ 60010416000112 · Gatilhos de avaliação e liquidação · Regulamento · ID 1051393 · 2025-10-09 · versão 1 · p. 21 · 10.2 · https://fnet.bmfbovespa.com.br/fnet/publico/visualizarDocumento?id=1051393</a:t>
            </a:r>
          </a:p>
          <a:p>
            <a:r>
              <a:t>CNPJ 60010416000112 · Gatilhos de avaliação e liquidação · Excerto da fonte:</a:t>
            </a:r>
          </a:p>
          <a:p>
            <a:r>
              <a:t>10.2 Os seguintes eventos obrigarão o Administrador a verif icar se o Patrimônio Líquido da Classe está  negativo:</a:t>
            </a:r>
          </a:p>
          <a:p>
            <a:r>
              <a:t> (i) qualquer pedido de declaração judicial de insolvência da Classe;</a:t>
            </a:r>
          </a:p>
          <a:p>
            <a:r>
              <a:t> (ii) identificação de indícios de f raudes envolvendo o lastro de Direitos Creditórios que representem, no  mínimo 0,5 (cinco décimos por cento) do Patrimônio Líquido da Classe;</a:t>
            </a:r>
          </a:p>
          <a:p>
            <a:r>
              <a:t> (iii) inadimplência de obrigações financeiras de devedor e/ou emissor de ativos detidos pela Classe que  representem mais de 25% (vinte e cinco por cento)de seu Patrimônio Líquido;</a:t>
            </a:r>
          </a:p>
          <a:p>
            <a:r>
              <a:t> (iv) pedido de recuperação extrajudicial, de recuperação judicial, ou de falência de Devedor e/ou emissor  de ativos detidos pela Classe;</a:t>
            </a:r>
          </a:p>
          <a:p>
            <a:r>
              <a:t> (v) condenação da Classe de natureza judicial e/ou arbitral e/ou administrativa e/ou outras similares ao  pagamento de mais de 20% (vinte por cento) de seu Patrimônio Líquido; e</a:t>
            </a:r>
          </a:p>
          <a:p>
            <a:r>
              <a:t> (vi) caso caracterizado quaisquer dos Eventos de Liquidação.</a:t>
            </a:r>
          </a:p>
          <a:p>
            <a:r>
              <a:t>Eventos de Liquidação</a:t>
            </a:r>
          </a:p>
          <a:p>
            <a:r>
              <a:t>CNPJ 60010416000112 · Gatilhos de avaliação e liquidação · Regulamento · ID 1051393 · 2025-10-09 · versão 1 · p. 21 · 10.3 · https://fnet.bmfbovespa.com.br/fnet/publico/visualizarDocumento?id=1051393</a:t>
            </a:r>
          </a:p>
          <a:p>
            <a:r>
              <a:t>CNPJ 60010416000112 · Gatilhos de avaliação e liquidação · Excerto da fonte:</a:t>
            </a:r>
          </a:p>
          <a:p>
            <a:r>
              <a:t>10.3 As seguintes hipóteses são consideradas Eventos de Liquidação:</a:t>
            </a:r>
          </a:p>
          <a:p>
            <a:r>
              <a:t> (i) caso seja deliberado em Assembleia de Cotistas que um Evento de Avaliação constitui um Evento de  Liquidação;</a:t>
            </a:r>
          </a:p>
          <a:p>
            <a:r>
              <a:t> (ii) na hipótese de resilição do Contrato de Custódia ou renúncia do Custodiante, sem que tenha havido  sua substituição por outra instituição, de acordo com os procedimentos estabelecidos neste  Regulamento;</a:t>
            </a:r>
          </a:p>
          <a:p>
            <a:r>
              <a:t> (iii) renúncia do Administrador sem que a Assembleia Especial de Cotistas eficazmente nomeie instituição  habilitada para substituí-lo, nos termos estabelecidos neste Regulamento;</a:t>
            </a:r>
          </a:p>
          <a:p>
            <a:r>
              <a:t> (iv) por determinação da CVM, em caso de violação de normas legais ou regulamentares;</a:t>
            </a:r>
          </a:p>
          <a:p>
            <a:r>
              <a:t> (v) sempre que assim decidido pelos Cotistas em Assembleia Especial de Cotistas especialmente  convocada para tal f im;</a:t>
            </a:r>
          </a:p>
          <a:p>
            <a:r>
              <a:t> (vi) em caso de regime de administração especial temporária - RAET, intervenção ou liquidação  extrajudicial, conforme aplicável, do Custodiante, Administrador, ou Gestor, sem a sua ef etiva  substituição nos termos deste Regulamento;</a:t>
            </a:r>
          </a:p>
          <a:p>
            <a:r>
              <a:t> (vii) se, após 90 (noventa) dias do início das atividades do Fundo, o Patrimônio Líquido diário inf erior da  Classe f or inf erior a R$ 1.000.000,00 (um milhão de reais) pelo período de 90 (noventa) dias  consecutivos;</a:t>
            </a:r>
          </a:p>
          <a:p>
            <a:r>
              <a:t> (viii) impossibilidade da Classe adquirir Direitos Creditórios admitidos por sua política de investimento.</a:t>
            </a:r>
          </a:p>
          <a:p>
            <a:r>
              <a:t>Procedimentos de Liquidação Antecipada</a:t>
            </a:r>
          </a:p>
          <a:p>
            <a:r>
              <a:t>CNPJ 60010416000112 · Gatilhos de avaliação e liquidação · Regulamento · ID 1051393 · 2025-10-09 · versão 1 · p. 38 · https://fnet.bmfbovespa.com.br/fnet/publico/visualizarDocumento?id=1051393</a:t>
            </a:r>
          </a:p>
          <a:p>
            <a:r>
              <a:t>CNPJ 60010416000112 · Gatilhos de avaliação e liquidação · Excerto da fonte:</a:t>
            </a:r>
          </a:p>
          <a:p>
            <a:r>
              <a:t>Anexo I ao Regulamento CLASSE ÚNICA DO MT I CONSIGNADO PRIVADO I FUNDO DE INVESTIMENTO EM DIREITOS CREDITÓRIOS RESPONSABILIDADE LIMITADA  deixar de produzir os efeitos pretendidos, bem como causar perdas para o Cotista e colocar  em risco o patrimônio da Classe</a:t>
            </a:r>
          </a:p>
          <a:p>
            <a:r>
              <a:t> (iii) Risco decorrente da amortização das Cotas: conforme previsto neste Anexo I, as Cotas  poderão ser amortizadas conf orme deliberado pela em Assembleia de Cotistas.</a:t>
            </a:r>
          </a:p>
          <a:p>
            <a:r>
              <a:t> Considerando que a realização da amortização dependerá do caixa existente na Classe, é  possível que, se essa condição não seja verif icada, a Classe não poderá ef etuar as  amortizações das Cotas conforme deliberadas pelos Cotistas. A Classe, o Administrador, o  Custodiante, o Gestor, o Agente de Retenção/Cobrança, o Coordenador Líder ou o  Endossante não terão direito a nenhuma multa ou penalidade, por qualquer motivo, devido a  esse f ato.</a:t>
            </a:r>
          </a:p>
          <a:p>
            <a:r>
              <a:t> (iv) Risco de invalidade ou ineficácia do endosso: o endosso dos Direitos Creditórios à Classe  poderá ser invalidada ou considerada ineficaz, o que impacta negativamente o patrimônio da  Classe, no caso de (a) fraude contra credores, se no momento do endosso o Endossante for  insolvente ou se ele vier a se tornar insolvente; (b) fraude à execução, se (1) no momento do  endosso o Endossante f or réu em um processo judicial capaz de torná-lo insolvente; ou (2)  os Direitos Creditórios endossados à Classe estiverem sujeitos a qualquer demanda judicial  baseada em garantia real; e (c) f raude à execução f iscal, se o Endossante, ao celebrar o  endosso de crédito, como contribuinte por débito à Fazenda Pública, e crédito f iscal  regularmente inscrito na dívida ativa, não tiver ativos para pagamento total da dívida f iscal.</a:t>
            </a:r>
          </a:p>
          <a:p>
            <a:r>
              <a:t> Entretanto, o Administrador, o Custodiante, o Gestor e o Agente de Retenção/ Cobrança não  verif icarão os eventos acima no endosso de Direito Creditório e não serão responsabilizados  em caso de invalidação ou inef icácia do endosso de um Direito Creditório à Classe.</a:t>
            </a:r>
          </a:p>
          <a:p>
            <a:r>
              <a:t> (v) Risco de impugnação judicial: a CCB poderá ser impugnada judicialmente tanto no que diz  respeito à sua f ormalização quanto às taxas aplicadas e à f orma de cobrança da CCB,  inclusive em virtude das disposições estabelecidas na Lei nº 8.078, de 11 de setembro de  1990, conf orme alterada (Código de Def esa do Consumidor), tais como uma possível  impugnação de cláusula abusiva, bem como qualquer vício nos Documentos Comprobatórios  ou Documentos Suporte que impeçam a exigibilidade do crédito (ausência de assinaturas ou  f alta de prova de f ormalização regular do instrumento, representação ilegítima, dentre  outros). Nesses casos, a CCB poderá ser modificada ou cancelada em virtude de decisão  judicial, o que poderá acarretar perdas para a Classe e, consequentemente, af etar  negativamente a rentabilidade de seu patrimônio.</a:t>
            </a:r>
          </a:p>
          <a:p>
            <a:r>
              <a:t> (vi) Risco de restrições de natureza legal ou regulamentar: a Classe pode estar sujeito a  riscos, além do controle do Administrador, decorrentes de quaisquer restrições f uturas de  natureza legal e/ou regulamentar que venham a af etar a validade da constituição e/ou o  endosso dos Direitos Creditórios à Classe. Caso essas restrições ocorram, o f luxo de  cessões de Direitos Creditórios à Classe pode ser interrompido e, portanto, pode  comprometer a continuidade da Classe e a perspectiva de investimento do Cotista. Além  disso, os Direitos Creditórios que já estão na Carteira podem ter sua validade questionada,  o que pode causar, portanto, prejuízos ao Cotista.</a:t>
            </a:r>
          </a:p>
          <a:p>
            <a:r>
              <a:t> (vii) Risco de não obter um tratamento fiscal mais benéfico: o Gestor deverá envidar seus  melhores esforços para que o tratamento f iscal aplicável às classes de longo prazo seja  aplicado à Classe e ao Cotista. Entretanto, em virtude de eventos fora do controle do Gestor,  incluindo, mas não se limitando aos eventos de liquidação antecipada da Classe  estabelecidos neste Anexo I, é possível que a Classe e o Cotista não desfrutem de tratamento  f iscal mais benéf ico, atribuído às classes de longo prazo. Essa situação pode levar a um  impacto adverso na rentabilidade líquida decorrente do investimento nas Cotas.</a:t>
            </a:r>
          </a:p>
          <a:p>
            <a:r>
              <a:t> (viii) Risco de bloqueio da Conta de Cobrança da Classe ou da Conta de Movimentação da  Classe: os recursos provenientes da Classe serão direcionados para a Conta de Cobrança BTG Pactual SAC: 0800 772 28 27 - Ouvidoria: 0800 722 00 48 - btgpactual.com 38</a:t>
            </a:r>
          </a:p>
          <a:p>
            <a:r>
              <a:t>CNPJ 60010416000112 · Gatilhos de avaliação e liquidação · Condição: Documentos atuais selecionados no inventário por categoria/escopo; a data documental isolada não comprova vigência jurídica.</a:t>
            </a:r>
          </a:p>
          <a:p>
            <a:r>
              <a:t>CNPJ 60010416000112 · Gatilhos de avaliação e liquidação · Versão e prevalência: Documentos atuais selecionados no inventário por categoria/escopo; a data documental isolada não comprova vigência jurídica.</a:t>
            </a:r>
          </a:p>
          <a:p>
            <a:r>
              <a:t>CNPJ 60010416000112 · Gatilhos de avaliação e liquidação · Resumo do histórico: {"count": 2, "dates": ["2025-03-20", "2025-10-09"], "document_count": 2, "sources": [{"document_id": "1051393", "title": "Regulamento", "reference_date": "2025-10-09", "version": "1", "page": "19-22", "url": "https://fnet.bmfbovespa.com.br/fnet/publico/visualizarDocumento?id=1051393", "sha256": "8469d613078ffd5a6c1d217885d8a397a16342c0b937ae4aa24b106505f233ae"}, {"document_id": "993786", "title": "Regulamento", "reference_date": "2025-03-20", "version": "1", "page": 21, "clause": "10.2", "url": "https://fnet.bmfbovespa.com.br/fnet/publico/visualizarDocumento?id=993786", "sha256": "fd0fdd369a195510d81f81f505195a0b09e5f43522a990afa7d58c4f872921c8"}], "reference": {"path": "history/60010416000112.json", "criterion_id": "legacy_events", "total_count": 2, "preview_count": 2, "full_text_deferred": true, "sha256": "8e2bd813f4c51cf01f6bfaad164bafe69d2bbb192f753eac92da3a01c2e63046"}}</a:t>
            </a:r>
          </a:p>
          <a:p>
            <a:r>
              <a:t>CNPJ 62696791000193 · Gatilhos de avaliação e liquidação · Regulamento · ID 1143317 · 2026-03-20 · versão 1 · p. 37 · 5.1 · https://fnet.bmfbovespa.com.br/fnet/publico/visualizarDocumento?id=1143317</a:t>
            </a:r>
          </a:p>
          <a:p>
            <a:r>
              <a:t>CNPJ 62696791000193 · Gatilhos de avaliação e liquidação · Excerto da fonte:</a:t>
            </a:r>
          </a:p>
          <a:p>
            <a:r>
              <a:t>5.1. Verif icado excesso de subordinação, ou seja, que a representatividade de Cotas Júnior em relação ao  Patrimônio Líquido da Classe é superior ao Índice de Subordinação (“Excesso de Subordinação”), desde  que assim seja deliberado por maioria dos votos de seus titulares e da maioria dos titulares de Cotas  Seniores, as Cotas Juniores poderão ser objeto de Amortização Extraordinária até o limite do respectivos  Excesso de Subordinação– ainda que tal Amortização Extraordinária ocorra antes do resgate integral das  Cotas Seniores– desde que: (i) seja observada a ordem de alocação de recursos definida no item 6.1  acima Anexo; (ii) não existam Obrigações da Classe vencidas e não pagas; (iii) não estejam em curso  quaisquer Eventos de Avaliação e/ou Eventos de Liquidação; (iv) existam suficientes Ativos Financeiros  e/ou recursos disponíveis; e (vii) permaneçam atendidas todos os Índices de Subordinação.</a:t>
            </a:r>
          </a:p>
          <a:p>
            <a:r>
              <a:t>6. Negociação das Cotas</a:t>
            </a:r>
          </a:p>
          <a:p>
            <a:r>
              <a:t>CNPJ 62696791000193 · Gatilhos de avaliação e liquidação · Condição: Documentos atuais selecionados no inventário por categoria/escopo; a data documental isolada não comprova vigência jurídica.</a:t>
            </a:r>
          </a:p>
          <a:p>
            <a:r>
              <a:t>CNPJ 62696791000193 · Gatilhos de avaliação e liquidação · Motivo: Cláusula primária localizada e citada, mas sua lista/condições extensas não admitem uma síntese literal curta confirmada. O trecho integral permanece nas fontes.</a:t>
            </a:r>
          </a:p>
          <a:p>
            <a:r>
              <a:t>CNPJ 62696791000193 · Gatilhos de avaliação e liquidação · Versão e prevalência: Documentos atuais selecionados no inventário por categoria/escopo; a data documental isolada não comprova vigência jurídica.</a:t>
            </a:r>
          </a:p>
          <a:p>
            <a:r>
              <a:t>CNPJ 55563624000109 · Gatilhos de avaliação e liquidação · Regulamento · ID 1192614 · 2026-04-30 · versão 1 · p. 21 · 11.2 · https://fnet.bmfbovespa.com.br/fnet/publico/visualizarDocumento?id=1192614</a:t>
            </a:r>
          </a:p>
          <a:p>
            <a:r>
              <a:t>CNPJ 55563624000109 · Gatilhos de avaliação e liquidação · Excerto da fonte:</a:t>
            </a:r>
          </a:p>
          <a:p>
            <a:r>
              <a:t>11.2 Os seguintes eventos obrigarão o ADMINISTRADOR a verificar se o Patrimônio Líquido da Classe está negativo  (“Eventos de Verificação do Patrimônio”):</a:t>
            </a:r>
          </a:p>
          <a:p>
            <a:r>
              <a:t> (i) qualquer pedido de declaração judicial de insolvência da Classe;</a:t>
            </a:r>
          </a:p>
          <a:p>
            <a:r>
              <a:t> (ii) qualquer pedido ou declaração judicial de insolvência da Classe Investida;</a:t>
            </a:r>
          </a:p>
          <a:p>
            <a:r>
              <a:t> (iii) identificação de indícios de fraudes envolvendo o lastro dos direitos creditórios da Classe Investida;</a:t>
            </a:r>
          </a:p>
          <a:p>
            <a:r>
              <a:t> (iv) condenação da Classe de natureza judicial e/ou arbitral e/ou administrativa e/ou outras similares ao  pagamento de mais de 20% (vinte por cento) de seu Patrimônio Líquido; e</a:t>
            </a:r>
          </a:p>
          <a:p>
            <a:r>
              <a:t> (v) caso caracterizado quaisquer dos Eventos de Avaliação e/ou Eventos de Liquidação.</a:t>
            </a:r>
          </a:p>
          <a:p>
            <a:r>
              <a:t> Eventos de Liquidação</a:t>
            </a:r>
          </a:p>
          <a:p>
            <a:r>
              <a:t>CNPJ 55563624000109 · Gatilhos de avaliação e liquidação · Regulamento · ID 1192614 · 2026-04-30 · versão 1 · p. 20 · https://fnet.bmfbovespa.com.br/fnet/publico/visualizarDocumento?id=1192614</a:t>
            </a:r>
          </a:p>
          <a:p>
            <a:r>
              <a:t>CNPJ 55563624000109 · Gatilhos de avaliação e liquidação · Excerto da fonte:</a:t>
            </a:r>
          </a:p>
          <a:p>
            <a:r>
              <a:t>(vi) alterar as características, vantagens, direitos e obrigações 90% (noventa por cento) do total das Cotas  das Cotas; emitidas</a:t>
            </a:r>
          </a:p>
          <a:p>
            <a:r>
              <a:t> (vii) alterar critérios e procedimentos para resgate de Cotas  mediante dação em pagamento de Cotas da Classe Maioria do total das Cotas emitidas  Investida;</a:t>
            </a:r>
          </a:p>
          <a:p>
            <a:r>
              <a:t> (viii) aprovar a emissão de novas Cotas fora do Capital  Maioria do total das Cotas emitidas  Autorizado;</a:t>
            </a:r>
          </a:p>
          <a:p>
            <a:r>
              <a:t> (ix) alterar a Política de Investimentos; 90% (noventa por cento) do total das Cotas  emitidas</a:t>
            </a:r>
          </a:p>
          <a:p>
            <a:r>
              <a:t> (x) alterar o Critério de Elegibilidade; 90% (noventa por cento) do total das Cotas  emitidas</a:t>
            </a:r>
          </a:p>
          <a:p>
            <a:r>
              <a:t> (xi) alterar os Eventos de Avaliação, os Eventos de Liquidação  90% (noventa por cento) do total das Cotas  e/ou das consequências deles decorrentes em função do  emitidas  previsto neste Anexo;</a:t>
            </a:r>
          </a:p>
          <a:p>
            <a:r>
              <a:t> (xii) deliberar sobre o plano de resolução do Patrimônio Líquido  Maioria do total das Cotas emitidas  negativo da Classe, nos termos da Resolução CVM 175; e</a:t>
            </a:r>
          </a:p>
          <a:p>
            <a:r>
              <a:t> (xiii) deliberar sobre o pedido de declaração judicial de 90% (noventa por cento) do total das Cotas  insolvência da Classe. emitidas</a:t>
            </a:r>
          </a:p>
          <a:p>
            <a:r>
              <a:t>CNPJ 55563624000109 · Gatilhos de avaliação e liquidação · Regulamento · ID 1192614 · 2026-04-30 · versão 1 · p. 2 · 1.3 · https://fnet.bmfbovespa.com.br/fnet/publico/visualizarDocumento?id=1192614</a:t>
            </a:r>
          </a:p>
          <a:p>
            <a:r>
              <a:t>CNPJ 55563624000109 · Gatilhos de avaliação e liquidação · Excerto da fonte:</a:t>
            </a:r>
          </a:p>
          <a:p>
            <a:r>
              <a:t>1.3 O Anexo dispõe, sem prejuízo de outros requisitos e informações previstos na regulamentação, sobre os  seguintes aspectos relacionados à Classe: (i) características gerais, incluindo a indicação dos demais prestadores  de serviços; (ii) responsabilidade dos cotistas e regime de insolvência; (iii) características, direitos, condições de  emissão, subscrição, integralização, amortização e resgate das Cotas; (iv) ordem de alocação de recursos; (v)  assembleia especial de cotistas e demais procedimentos aplicáveis às manifestações de vontade dos cotistas; (vi)  remuneração dos prestadores de serviços; (vii) política de investimento e composição e diversificação da  Carteira; (viii) eventos de avaliação, eventos de liquidação e procedimentos de liquidação antecipada da Classe;</a:t>
            </a:r>
          </a:p>
          <a:p>
            <a:r>
              <a:t> (ix) origem dos Direitos Creditórios; (x) Critério de Elegibilidade; (xi) custos referentes à defesa dos interesses da  Classe; e (xii) fatores de risco.</a:t>
            </a:r>
          </a:p>
          <a:p>
            <a:r>
              <a:t>CNPJ 55563624000109 · Gatilhos de avaliação e liquidação · Condição: Documentos atuais selecionados no inventário por categoria/escopo; a data documental isolada não comprova vigência jurídica.</a:t>
            </a:r>
          </a:p>
          <a:p>
            <a:r>
              <a:t>CNPJ 55563624000109 · Gatilhos de avaliação e liquidação · Versão e prevalência: Documentos atuais selecionados no inventário por categoria/escopo; a data documental isolada não comprova vigência jurídica.</a:t>
            </a:r>
          </a:p>
          <a:p>
            <a:r>
              <a:t>CNPJ 62552447000120 · Gatilhos de avaliação e liquidação · Regulamento · ID 1200623 · 2026-05-21 · versão 1 · p. 2 · 1.4 · https://fnet.bmfbovespa.com.br/fnet/publico/visualizarDocumento?id=1200623</a:t>
            </a:r>
          </a:p>
          <a:p>
            <a:r>
              <a:t>CNPJ 62552447000120 · Gatilhos de avaliação e liquidação · Excerto da fonte:</a:t>
            </a:r>
          </a:p>
          <a:p>
            <a:r>
              <a:t>1.4 O Anexo de cada classe de Cotas (“Classe”), conforme aplicável, dispõe, sem prejuízo de outros  requisitos e inf ormações previstos na regulamentação, sobre: (i) características gerais, incluindo a  indicação dos demais prestadores de serviços; (ii) responsabilidade dos Cotistas e regime de  insolvência; (iii) características, direitos, condições de emissão, subscrição, integralização,  Amortização e resgate das Cotas; (iv) ordem de alocação de recursos; (v) Assembleia Especial e  demais procedimentos aplicáveis às manifestações de vontade dos Cotistas; (vi) remuneração dos  prestadores de serviços; (vii) política de investimento e composição e diversificação da Carteira; (viii)  eventos de avaliação, eventos de liquidação e liquidação antecipada da Classe; (ix) origem dos direitos  creditórios; (x) critérios de elegibilidade; (xi) custos referentes à defesa dos interesses de cada Classe;</a:t>
            </a:r>
          </a:p>
          <a:p>
            <a:r>
              <a:t> e (xii) f atores de risco.</a:t>
            </a:r>
          </a:p>
          <a:p>
            <a:r>
              <a:t>CNPJ 62552447000120 · Gatilhos de avaliação e liquidação · Regulamento · ID 1200623 · 2026-05-21 · versão 1 · p. 21 · 10.2 · https://fnet.bmfbovespa.com.br/fnet/publico/visualizarDocumento?id=1200623</a:t>
            </a:r>
          </a:p>
          <a:p>
            <a:r>
              <a:t>CNPJ 62552447000120 · Gatilhos de avaliação e liquidação · Excerto da fonte:</a:t>
            </a:r>
          </a:p>
          <a:p>
            <a:r>
              <a:t>10.2 Os seguintes quóruns deverão ser observados pela Assembleia Especial ao deliberar as matérias  abaixo:</a:t>
            </a:r>
          </a:p>
          <a:p>
            <a:r>
              <a:t>(i) deliberar sobre substituição de Prestadores de Serviços Unanimidade dos Cotistas  Essenciais, observado o disposto no art. 70, §1º da Parte Geral  da Resolução CVM 175, quando aplicável;</a:t>
            </a:r>
          </a:p>
          <a:p>
            <a:r>
              <a:t>(ii) deliberar sobre elevação da Taxa Global, inclusive na Unanimidade dos Cotistas  hipótese de restabelecimento de taxa que tenha sido objeto de  redução;</a:t>
            </a:r>
          </a:p>
          <a:p>
            <a:r>
              <a:t>(iii) deliberar sobre incorporação, fusão, cisão total ou parcial, Unanimidade dos Cotistas  a transf ormação ou liquidação da Classe;</a:t>
            </a:r>
          </a:p>
          <a:p>
            <a:r>
              <a:t>(iv) deliberar sobre a prestação de f iança, aval, aceite ou Unanimidade dos Cotistas  qualquer outra f orma de retenção de risco;</a:t>
            </a:r>
          </a:p>
          <a:p>
            <a:r>
              <a:t>(v) alterações das características, vantagens, direitos e Unanimidade dos Cotistas  obrigações das Cotas;</a:t>
            </a:r>
          </a:p>
          <a:p>
            <a:r>
              <a:t>(vi) alterar critérios e procedimentos para Amortização Unanimidade dos Cotistas  mediante dação em pagamento de Direitos Creditórios;</a:t>
            </a:r>
          </a:p>
          <a:p>
            <a:r>
              <a:t>(vii) aprovar emissão de novas Cotas; Unanimidade dos Cotistas</a:t>
            </a:r>
          </a:p>
          <a:p>
            <a:r>
              <a:t>(viii) alterações na Política de Investimentos; Unanimidade dos Cotistas</a:t>
            </a:r>
          </a:p>
          <a:p>
            <a:r>
              <a:t>(ix) alterações nos Critérios de Elegibilidade e nas Condições Unanimidade dos Cotistas  de Endosso;</a:t>
            </a:r>
          </a:p>
          <a:p>
            <a:r>
              <a:t>(x) alteração dos Eventos de Avaliação, dos Eventos de Unanimidade dos Cotistas  Liquidação e/ou das consequências deles decorrentes em  f unção do previsto neste Regulamento;</a:t>
            </a:r>
          </a:p>
          <a:p>
            <a:r>
              <a:t>(xi) plano de resolução do Patrimônio Líquido negativo da Unanimidade dos Cotistas  Classe, nos termos da Resolução CVM 175; e</a:t>
            </a:r>
          </a:p>
          <a:p>
            <a:r>
              <a:t>(xii) pedido de declaração judicial de insolvência da Classe. Unanimidade dos Cotistas</a:t>
            </a:r>
          </a:p>
          <a:p>
            <a:r>
              <a:t>CNPJ 62552447000120 · Gatilhos de avaliação e liquidação · Regulamento · ID 1200623 · 2026-05-21 · versão 1 · p. 22 · 11.1 · https://fnet.bmfbovespa.com.br/fnet/publico/visualizarDocumento?id=1200623</a:t>
            </a:r>
          </a:p>
          <a:p>
            <a:r>
              <a:t>CNPJ 62552447000120 · Gatilhos de avaliação e liquidação · Excerto da fonte:</a:t>
            </a:r>
          </a:p>
          <a:p>
            <a:r>
              <a:t>11.1 As seguintes hipóteses são consideradas eventos de avaliação (“Eventos de Avaliação”):</a:t>
            </a:r>
          </a:p>
          <a:p>
            <a:r>
              <a:t> (i) em caso de regime de administração especial temporária - RAET, intervenção ou liquidação  extrajudicial do Endossante, da instituição f inanceira prestadora dos serviços de agente de  conta vinculada à Classe (“Agente de Conta Vinculada”) e/ou do Agente de Retenção e  Cobrança;</a:t>
            </a:r>
          </a:p>
          <a:p>
            <a:r>
              <a:t> (ii) não cumprimento, pelo Endossante, de qualquer de suas obrigações estabelecidas nos  Contratos de Endosso, no Regulamento ou neste Anexo I, desde que esse não cumprimento  não seja devidamente sanado ou justificado dentro de 5 (cinco) Dias Úteis a partir do  recebimento, pelo Endossante, de notificação, por escrito, enviada pelo Administrador,  inf ormando-o da ocorrência do respectivo evento;</a:t>
            </a:r>
          </a:p>
          <a:p>
            <a:r>
              <a:t> (iii) não cumprimento, pelo Endossante e/ou pelo Agente de Retenção e Cobrança, de sua  obrigação de entregar os (a) arquivos eletrônicos disponibilizados mensalmente pela Dataprev  ao Endossante, contendo (1) as Consignações processadas pela Dataprev no respectivo mês,  identificando os Devedores e os valores que serão descontados de suas respectivas folhas de  pagamentos, bem como (2) a totalidade das operações pendentes de crédito consignado  concedidas pelo Endossante e indicando todos os Direitos Creditórios devi dos mediante  Consignação na próxima data de liquidação (“Arquivos Dataprev”) e/ou (b) os arquivos  eletrônicos disponibilizados mensalmente pela CEF ao Endossante, contendo os pagamentos  de Saque-aniversário processados pela CEF no respectivo mês devidos à Classe, identificando  os Devedores e os valores que serão descontados de seus respectivos Saques-aniversário  (“Arquivos de Liquidação Saque-aniversário”) ao Custodiante dentro do prazo estabelecido  neste Anexo I, desde que esse não cumprimento não seja dev idamente sanado ou justificado  dentro de 5 (cinco) Dias Úteis a partir do recebimento, pelo Endossante e/ou pelo Agente de  Retenção e Cobrança, de notificação, por escrito, enviada pelo Custodiante, inf ormando-o da  ocorrência do respectivo evento;</a:t>
            </a:r>
          </a:p>
          <a:p>
            <a:r>
              <a:t> (iv) não cumprimento, pelo Endossante e/ou pelo Agente de Retenção e Cobrança, de qualquer de  suas obrigações de entregar ao Gestor, ou a terceiros por ele indicados, os Documentos  Comprobatórios e Documentos Suporte relativos aos Direitos Creditórios que tenham sido  endossados à Classe, dentro do prazo estabelecido neste Anexo I, desde que esse não  cumprimento não seja devidamente sanado ou justificado dentro de 5 (cinco) Dias Úteis a partir  do recebimento, pelo Endossante e/ou pelo Agente de Retenção e Cobrança, de notificação,  por escrito, enviada pelo Custodiante, inf ormando- o da ocorrência do respectivo evento;</a:t>
            </a:r>
          </a:p>
          <a:p>
            <a:r>
              <a:t> (v) não cumprimento, pelo Agente de Retenção e Cobrança, de qualquer de suas obrigações  estabelecidas nos Contratos de Endosso, no Regulamento, neste Anexo I ou nos Contratos de  Retenção/Cobrança, desde que esse não cumprimento não seja devidamente sanado ou</a:t>
            </a:r>
          </a:p>
          <a:p>
            <a:r>
              <a:t>CNPJ 62552447000120 · Gatilhos de avaliação e liquidação · Condição: Documentos atuais selecionados no inventário por categoria/escopo; a data documental isolada não comprova vigência jurídica.</a:t>
            </a:r>
          </a:p>
          <a:p>
            <a:r>
              <a:t>CNPJ 62552447000120 · Gatilhos de avaliação e liquidação · Versão e prevalência: Documentos atuais selecionados no inventário por categoria/escopo; a data documental isolada não comprova vigência jurídica.</a:t>
            </a:r>
          </a:p>
          <a:p>
            <a:r>
              <a:t>CNPJ 63953620000165 · Gatilhos de avaliação e liquidação · Anexo ao Regulamento · ID 1222863 · 2026-06-02 · versão 1 · p. 24 · 4.1 · https://fnet.bmfbovespa.com.br/fnet/publico/visualizarDocumento?id=1222863</a:t>
            </a:r>
          </a:p>
          <a:p>
            <a:r>
              <a:t>CNPJ 63953620000165 · Gatilhos de avaliação e liquidação · Excerto da fonte:</a:t>
            </a:r>
          </a:p>
          <a:p>
            <a:r>
              <a:t>4.1. Verificado que o Índice de Subordinação Alvo é atendido, ou seja, que a representatividade de Cotas Subordinadas  em relação ao Patrimônio Líquido da Classe é superior à 10,00% (dez por cento) (“Índice de Subordinação Alvo”), as  Cotas Subordinadas poderão ser objeto de Amortização Extraordinária até o limite excedente ao Índice de  Subordinação Alvo– ainda que tal Amortização Extraordinária ocorra antes do resgate integral das Cotas Seniores –  desde que: (i) seja observada a ordem de alocação de recursos definida no item 8.1 acima Anexo; (ii) não existam  Obrigações da Classe vencidas e não pagas; (iii) não estejam em curso quaisquer Eventos de Avaliação e/ou Eventos  de Liquidação; (iv) existam suficientes Ativos Financeiros e/ou recursos disponíveis; e (vii) permaneçam atendidas  todos os Índices de Subordinação.</a:t>
            </a:r>
          </a:p>
          <a:p>
            <a:r>
              <a:t> 5. Amortização e Resgate das Cotas Subordinadas</a:t>
            </a:r>
          </a:p>
          <a:p>
            <a:r>
              <a:t>CNPJ 63953620000165 · Gatilhos de avaliação e liquidação · Anexo ao Regulamento · ID 1222863 · 2026-06-02 · versão 1 · p. 13 · 10.2 · https://fnet.bmfbovespa.com.br/fnet/publico/visualizarDocumento?id=1222863</a:t>
            </a:r>
          </a:p>
          <a:p>
            <a:r>
              <a:t>CNPJ 63953620000165 · Gatilhos de avaliação e liquidação · Excerto da fonte:</a:t>
            </a:r>
          </a:p>
          <a:p>
            <a:r>
              <a:t>10.2 Os seguintes quóruns deverão ser observados pela Assembleia Especial de Cotistas ao deliberar as matérias  abaixo:</a:t>
            </a:r>
          </a:p>
          <a:p>
            <a:r>
              <a:t> Matéria Quórum</a:t>
            </a:r>
          </a:p>
          <a:p>
            <a:r>
              <a:t> (i) deliberar sobre as demonstrações contábeis da Classe; Maioria das Cotas presentes</a:t>
            </a:r>
          </a:p>
          <a:p>
            <a:r>
              <a:t> (ii) alterar o presente Anexo; Maioria das Cotas de cada Subclasse</a:t>
            </a:r>
          </a:p>
          <a:p>
            <a:r>
              <a:t> (iii) deliberar sobre substituição de Prestadores de Serviços Maioria das Cotas da Classe  Essenciais, observado o disposto no Artigo 70, §1º da parte geral da  Resolução CVM 175, quando aplicável;</a:t>
            </a:r>
          </a:p>
          <a:p>
            <a:r>
              <a:t> (iv) deliberar sobre elevação da Taxa de Administração e/ou Taxa de Maioria das Cotas da de cada  Gestão, inclusive na hipótese de restabelecimento de taxa que tenha Subclasse  sido objeto de redução;</a:t>
            </a:r>
          </a:p>
          <a:p>
            <a:r>
              <a:t> (v) deliberar sobre incorporação, fusão, cisão total ou parcial, a Maioria das Cotas de cada Subclasse  transformação ou liquidação da Classe;</a:t>
            </a:r>
          </a:p>
          <a:p>
            <a:r>
              <a:t> (vi) alterações das características, vantagens, direitos e obrigações Maioria das Cotas Subscritas da  das Cotas; Classe observado o disposto nos  itens 10.5 a 10.8 abaixo</a:t>
            </a:r>
          </a:p>
          <a:p>
            <a:r>
              <a:t> (vii) alterar critérios e procedimentos para Amortização mediante Maioria das Cotas Subscritas da  dação em pagamento de Direitos Creditórios; Classe</a:t>
            </a:r>
          </a:p>
          <a:p>
            <a:r>
              <a:t> (viii) aprovar emissão de novas Cotas da Classe; Maioria das Cotas de cada Subclasse</a:t>
            </a:r>
          </a:p>
          <a:p>
            <a:r>
              <a:t> (ix) alterações na Política de Investimentos; Maioria das Cotas de cada Subclasse</a:t>
            </a:r>
          </a:p>
          <a:p>
            <a:r>
              <a:t> (x) alterações nos Critérios de Elegibilidade e nas Condições de Maioria das Cotas de cada Subclasse  Cessão;</a:t>
            </a:r>
          </a:p>
          <a:p>
            <a:r>
              <a:t> (xi) celebração e alteração de Contrato de Promessa de Endosso Maioria das Cotas de cada Subclasse  e/ou do Contrato de Retenção e Cobrança;</a:t>
            </a:r>
          </a:p>
          <a:p>
            <a:r>
              <a:t> (xii) alteração do Contrato de Conta Vinculada; Maioria das Cotas de cada Subclasse</a:t>
            </a:r>
          </a:p>
          <a:p>
            <a:r>
              <a:t> (xiii) alteração dos Eventos de Avaliação, dos Eventos de Liquidação Maioria das Cotas de cada Subclasse  e/ou das consequências deles decorrentes em função do previsto  neste Regulamento;</a:t>
            </a:r>
          </a:p>
          <a:p>
            <a:r>
              <a:t> (xiv) se um Evento de Avaliação constitui um Evento de Liquidação; Maioria das Cotas presentes</a:t>
            </a:r>
          </a:p>
          <a:p>
            <a:r>
              <a:t> (xv) plano de resolução do Patrimônio Líquido negativo da Classe, Maioria das Cotas presentes  nos termos da Resolução CVM 175; e</a:t>
            </a:r>
          </a:p>
          <a:p>
            <a:r>
              <a:t> (xvi) pedido de declaração judicial de insolvência da Classe. Maioria das Cotas presentes</a:t>
            </a:r>
          </a:p>
          <a:p>
            <a:r>
              <a:t> (xvii) alterações na disciplina, critérios de constituição, manutenção Maioria das Cotas de cada Subclasse  ou utilização da Reserva de Caixa, bem como deliberação acerca da</a:t>
            </a:r>
          </a:p>
          <a:p>
            <a:r>
              <a:t>CNPJ 63953620000165 · Gatilhos de avaliação e liquidação · Anexo ao Regulamento · ID 1222863 · 2026-06-02 · versão 1 · p. 14 · 10.8 · https://fnet.bmfbovespa.com.br/fnet/publico/visualizarDocumento?id=1222863</a:t>
            </a:r>
          </a:p>
          <a:p>
            <a:r>
              <a:t>CNPJ 63953620000165 · Gatilhos de avaliação e liquidação · Excerto da fonte:</a:t>
            </a:r>
          </a:p>
          <a:p>
            <a:r>
              <a:t>10.8 As deliberações que tenham por objeto o aumento do Índice de Subordinação Sênior apenas serão aprovadas se  assim deliberado: (i) pelos votos dos titulares da maioria das Cotas em circulação de cada uma das Séries de  Cotas Seniores; e (ii) pelo votos dos titulares da maioria Cotas Subordinadas em circulação.</a:t>
            </a:r>
          </a:p>
          <a:p>
            <a:r>
              <a:t> CAPÍTULO 11 – EVENTOS DE AVALIAÇÃO, EVENTOS DE LIQUIDAÇÃO, E PROCEDIMENTOS DE LIQUIDAÇÃO  Eventos de Avaliação</a:t>
            </a:r>
          </a:p>
          <a:p>
            <a:r>
              <a:t>CNPJ 63953620000165 · Gatilhos de avaliação e liquidação · Condição: Documentos atuais selecionados no inventário por categoria/escopo; a data documental isolada não comprova vigência jurídica.</a:t>
            </a:r>
          </a:p>
          <a:p>
            <a:r>
              <a:t>CNPJ 63953620000165 · Gatilhos de avaliação e liquidação · Versão e prevalência: Documentos atuais selecionados no inventário por categoria/escopo; a data documental isolada não comprova vigência jurídica.</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Eventos e cura</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Eventos de avaliação · Regulamento · ID 670691 · 28/04/2024 · versão Regulamento — referência 28/04/2024 · p. 17 · Anexo I, 11.1(i) · https://fnet.bmfbovespa.com.br/fnet/publico/visualizarDocumento?id=670691</a:t>
            </a:r>
          </a:p>
          <a:p>
            <a:r>
              <a:t>CNPJ 54871427000194 · Eventos de avaliação · Excerto da fonte:</a:t>
            </a:r>
          </a:p>
          <a:p>
            <a:r>
              <a:t>11.1 As seguintes hipóteses são consideradas Eventos de Avaliação: (i) em caso de regime de administração especial temporária – RAET, intervenção ou liquidação extrajudicial do Endossante ou do Agente de Garantias; BTG Pactual SAC: 0800 772 28 27 - Ouvidoria: 0800 722 00 48 - btgpactual.com 11</a:t>
            </a:r>
          </a:p>
          <a:p>
            <a:r>
              <a:t>CNPJ 54871427000194 · Eventos de avaliação · Regulamento · ID 670691 · 28/04/2024 · versão Regulamento — referência 28/04/2024 · p. 18 · Anexo I, 11.1(ii)–(viii) · https://fnet.bmfbovespa.com.br/fnet/publico/visualizarDocumento?id=670691</a:t>
            </a:r>
          </a:p>
          <a:p>
            <a:r>
              <a:t>CNPJ 54871427000194 · Eventos de avaliação · Excerto da fonte:</a:t>
            </a:r>
          </a:p>
          <a:p>
            <a:r>
              <a:t>(ii) não cumprimento, por qualquer dos Endossantes, de qualquer de suas obrigações estabelecidas em cada Contrato de Endosso ou neste Regulamento e Anexo, desde que esse não cumprimento não seja devidamente sanado ou justificado dentro de 10 (dez) Dias Úteis a partir do recebimento, pelo Endossante, de notificação, por escrito, enviada pelo Administrador, inf ormando-o da ocorrência do respectivo evento; (iii) não cumprimento, por qualquer dos Endossantes, de suas obrigações de entregar o Arquivo de Liquidação Antecipada e o Arquivo de Posição das CCBs ao CUSTODIANTE dentro do prazo estabelecido neste Regulamento, desde que esse não cumprimento não seja devidamente sanado ou justificado dentro dos prazos acordados no respectivo Contrato de Endosso, a partir do recebimento, pelos Endossantes, de notificação, por escrito, enviada pelo CUSTODIANTE, inf ormando-o da ocorrência do respectivo evento; (iv) não cumprimento, por qualquer dos Endossantes, de qualquer de suas obrigações de entregar ao CUSTODIANTE, ou a terceiros por ele indicados, os Documentos Comprobatórios relativos</a:t>
            </a:r>
          </a:p>
          <a:p>
            <a:r>
              <a:t>CNPJ 54871427000194 · Eventos de avaliação · Regulamento · ID 670691 · 28/04/2024 · versão Regulamento — referência 28/04/2024 · p. 19 · Anexo I, 11.1.1–11.1.3 · https://fnet.bmfbovespa.com.br/fnet/publico/visualizarDocumento?id=670691</a:t>
            </a:r>
          </a:p>
          <a:p>
            <a:r>
              <a:t>CNPJ 54871427000194 · Eventos de avaliação · Excerto da fonte:</a:t>
            </a:r>
          </a:p>
          <a:p>
            <a:r>
              <a:t>11.1.1 Na ocorrência de qualquer Evento de Avaliação, será convocada Assembleia Especial de Cotistas, para avaliar o grau de comprometimento das atividades d a Classe em razão do Evento de Avaliação, podendo a Assembleia Especial de Cotistas deliberar: (i) pela continuidade das atividades da Classe; ou (ii) que o Evento de Avaliação que deu causa à Assembleia Especial de Cotistas constitui um Evento de Liquidação, hipótese em que deverão ser deliberadas as matérias ref eridas no item 11.4.1 abaixo e adotados os procedimentos previstos no item 11.4.3 abaixo. 11.1.2 No momento de verificação de qualquer Evento de Avaliação, os procedimentos de aquisição de novos Direitos Creditórios deverão ser imediatamente interrompidos, até que: (i) seja prof erida decisão final em Assembleia Especial de Cotistas, convocada especificamente para este f im, nos termos do item 11.1.1 acima, autorizando a retomada dos procedimentos de aquisição de novos Direitos Creditórios e resgate das Cotas; e/ou (ii) seja sanado o Evento de Avaliação. 11.1.3 Na hipótese de não instalação da Assembleia Especial de Cotistas por f alta d</a:t>
            </a:r>
          </a:p>
          <a:p>
            <a:r>
              <a:t>CNPJ 54871427000194 · Eventos de avaliação · Versão e prevalência: Leitura específica das cláusulas indicadas; condições e conflitos preservados. Seleção documental atual não comprova vigência jurídica por data isolada.</a:t>
            </a:r>
          </a:p>
          <a:p>
            <a:r>
              <a:t>CNPJ 54871427000194 · Eventos de avaliação · Resumo do histórico: {"count": 1, "dates": ["2024-04-19"], "document_count": 1, "sources": [{"document_id": "670689", "title": "Regulamento", "reference_date": "2024-04-19", "version": "1", "page": 17, "clause": "10.2", "url": "https://fnet.bmfbovespa.com.br/fnet/publico/visualizarDocumento?id=670689", "sha256": "891bc9bc5d87bbc02ec139077a84d2702eb81ea02035fb71d24f5b8366b94a0b"}], "reference": {"path": "history/54871427000194.json", "criterion_id": "evaluation", "total_count": 1, "preview_count": 1, "full_text_deferred": true, "sha256": "35d7cd99be50c7287c9fb675cf4f2e736002315295a225a9efa79c8d9186d874"}}</a:t>
            </a:r>
          </a:p>
          <a:p>
            <a:r>
              <a:t>CNPJ 60010416000112 · Eventos de avaliação · Regulamento · ID 1051393 · 09/10/2025 · versão Regulamento09/10/2025 · p. 19 · AnexoI10.1(i)–(vii) · https://fnet.bmfbovespa.com.br/fnet/publico/visualizarDocumento?id=1051393</a:t>
            </a:r>
          </a:p>
          <a:p>
            <a:r>
              <a:t>CNPJ 60010416000112 · Eventos de avaliação · Excerto da fonte:</a:t>
            </a:r>
          </a:p>
          <a:p>
            <a:r>
              <a:t>10.1 As seguintes hipóteses são consideradas Eventos de Avaliação: (i) em caso de regime de administração especial temporária - RAET, intervenção ou liquidação extrajudicial do Endossante; (ii) em caso de desenquadramento do Índice de Subordinação por 10 (dez) dias úteis consecutivos; (iii) não cumprimento, pelo Endossante, de qualquer de suas obrigações estabelecidas no Contrato de Endosso ou neste Anexo I, desde que esse não cumprimento não seja devidamente sanado ou justif icado dentro de 10 (dez) Dias Úteis a partir do recebimento, pelo Endossante, de noti</a:t>
            </a:r>
          </a:p>
          <a:p>
            <a:r>
              <a:t>CNPJ 60010416000112 · Eventos de avaliação · Regulamento · ID 1051393 · 09/10/2025 · versão Regulamento09/10/2025 · p. 20 · AnexoI10.1(viii)–(xiv) · https://fnet.bmfbovespa.com.br/fnet/publico/visualizarDocumento?id=1051393</a:t>
            </a:r>
          </a:p>
          <a:p>
            <a:r>
              <a:t>CNPJ 60010416000112 · Eventos de avaliação · Excerto da fonte:</a:t>
            </a:r>
          </a:p>
          <a:p>
            <a:r>
              <a:t>(xiii) no caso de não serem realizados pagamentos de amortização e/ou resgate de Cotas Seniores, nos termos, prazos e condições previstos no presente Regulamento e nos respectivos Apêndices e Suplementos, não sanados em até 2 (dois) Dias Úteis contados do prazo final do respectivo evento; (xiv) no caso de pagamento de resgate e/ou amortização de Cotas Subordinadas em desacordo com os termos, prazos e condições previstos no presente Regulamento e no respectivo Apêndice. 10.1.1 Na ocorrência de qualquer Evento de Avaliação, será convocada Assembleia Especial de Cotistas,</a:t>
            </a:r>
          </a:p>
          <a:p>
            <a:r>
              <a:t>CNPJ 60010416000112 · Eventos de avaliação · Versão e prevalência: Leitura específica das cláusulas indicadas; condições e conflitos preservados. Seleção documental atual não comprova vigência jurídica por data isolada.</a:t>
            </a:r>
          </a:p>
          <a:p>
            <a:r>
              <a:t>CNPJ 60010416000112 · Eventos de avaliação · Resumo do histórico: {"count": 2, "dates": ["2025-03-20"], "document_count": 2, "sources": [{"document_id": "993785", "title": "Instrumento Particular de Constituição/Encerramento do Fundo", "reference_date": "2025-03-20", "version": "1", "page": 8, "url": "https://fnet.bmfbovespa.com.br/fnet/publico/visualizarDocumento?id=993785", "sha256": "0826e0eae2c51afabf59bbc49fc7647598d03da5ca6de0f9725850a8bd6af457"}, {"document_id": "993786", "title": "Regulamento", "reference_date": "2025-03-20", "version": "1", "page": 48, "clause": "2.1.2", "url": "https://fnet.bmfbovespa.com.br/fnet/publico/visualizarDocumento?id=993786", "sha256": "fd0fdd369a195510d81f81f505195a0b09e5f43522a990afa7d58c4f872921c8"}], "reference": {"path": "history/60010416000112.json", "criterion_id": "evaluation", "total_count": 2, "preview_count": 2, "full_text_deferred": true, "sha256": "8e2bd813f4c51cf01f6bfaad164bafe69d2bbb192f753eac92da3a01c2e63046"}}</a:t>
            </a:r>
          </a:p>
          <a:p>
            <a:r>
              <a:t>CNPJ 62696791000193 · Eventos de avaliação · Regulamento · ID 1143317 · 20/03/2026 · versão Regulamento — referência 20/03/2026 · p. 37 · Apêndice Júnior, 5.1(iii) · https://fnet.bmfbovespa.com.br/fnet/publico/visualizarDocumento?id=1143317</a:t>
            </a:r>
          </a:p>
          <a:p>
            <a:r>
              <a:t>CNPJ 62696791000193 · Eventos de avaliação · Excerto da fonte:</a:t>
            </a:r>
          </a:p>
          <a:p>
            <a:r>
              <a:t>5.1. Verif icado excesso de subordinação, ou seja, que a representatividade de Cotas Júnior em relação ao Patrimônio Líquido da Classe é superior ao Índice de Subordinação (“Excesso de Subordinação”), desde que assim seja deliberado por maioria dos votos de seus titulares e da maioria dos titulares de Cotas Seniores, as Cotas Juniores poderão ser objeto de Amortização Extraordinária até o limite do respectivos Excesso de Subordinação– ainda que tal Amortização Extraordinária ocorra antes do resgate integral das Cotas Seniores– desde que: (i) seja observada a ordem de alocação de recursos definida no item 6.1 acima Anexo; (ii) não existam Obrigações da Classe vencidas e não pagas; (iii) não estejam em curso quaisquer Eventos de Avaliação e/ou Eventos de Liquidação; (iv) existam suficientes Ativos Financeiros e/ou recursos disponíveis; e (vii) permaneçam atendidas todos os Índices de Subordinação. 6. Negociação das Cotas 6.1. As Cotas Subordinadas Juniores não poderão ser negociadas no mercado secundário. 7. Resgate 7.1. As Cotas Subordinadas Juniores apenas serão resgatadas após o resgate integral das Cotas Seniores da Classe, na respectiva Data de Resgate ou em caso de liquidação antecipada da Classe. BTG Pactual</a:t>
            </a:r>
          </a:p>
          <a:p>
            <a:r>
              <a:t>CNPJ 62696791000193 · Eventos de avaliação · Condição: Referência preservada como ausência específica; não importar gatilhos de outros fundos.</a:t>
            </a:r>
          </a:p>
          <a:p>
            <a:r>
              <a:t>CNPJ 62696791000193 · Eventos de avaliação · Motivo: O apêndice condiciona amortização à ausência de Eventos de Avaliação e de Liquidação, mas o PDF consolidado de 48 páginas não define a lista de Eventos de Avaliação nem seus prazos de cura. O regulamento FIDC anterior à transformação não foi obtido.</a:t>
            </a:r>
          </a:p>
          <a:p>
            <a:r>
              <a:t>CNPJ 62696791000193 · Eventos de avaliação · Versão e prevalência: Leitura específica das cláusulas indicadas; condições e conflitos preservados. Seleção documental atual não comprova vigência jurídica por data isolada.</a:t>
            </a:r>
          </a:p>
          <a:p>
            <a:r>
              <a:t>CNPJ 55563624000109 · Eventos de avaliação · Regulamento · ID 1192614 · 30/04/2026 · versão Regulamento30/04/2026 · p. 20 · AnexoI11.1(i)–(v) · https://fnet.bmfbovespa.com.br/fnet/publico/visualizarDocumento?id=1192614</a:t>
            </a:r>
          </a:p>
          <a:p>
            <a:r>
              <a:t>CNPJ 55563624000109 · Eventos de avaliação · Excerto da fonte:</a:t>
            </a:r>
          </a:p>
          <a:p>
            <a:r>
              <a:t>11.1 As seguintes hipóteses são consideradas Eventos de Avaliação: (i) inobservância pelo ADMINISTRADOR, pelo CUSTODIANTE e/ou pelo GESTOR de seus deveres e obrigações previstos neste Anexo, desde que, uma vez notificados para sanar ou justificar o descumprimento, o ADMINISTRADOR, o CUSTODIANTE e/ou o GESTOR, conforme o caso, não o sane no prazo de 5 (cinco) Dias Úteis contados do recebimento da referida notificação; (ii) aquisição, pela Classe, de Cotas da Classe Investida que estejam em desacordo com o Critério de</a:t>
            </a:r>
          </a:p>
          <a:p>
            <a:r>
              <a:t>CNPJ 55563624000109 · Eventos de avaliação · Versão e prevalência: Leitura específica das cláusulas indicadas; condições e conflitos preservados. Seleção documental atual não comprova vigência jurídica por data isolada.</a:t>
            </a:r>
          </a:p>
          <a:p>
            <a:r>
              <a:t>CNPJ 62552447000120 · Eventos de avaliação · Regulamento · ID 1200623 · 21/05/2026 · versão Consolidado21/05/2026 aprovado pelo ato1200625 · p. 22 · AnexoI11.1(i)–(v) · https://fnet.bmfbovespa.com.br/fnet/publico/visualizarDocumento?id=1200623</a:t>
            </a:r>
          </a:p>
          <a:p>
            <a:r>
              <a:t>CNPJ 62552447000120 · Eventos de avaliação · Excerto da fonte:</a:t>
            </a:r>
          </a:p>
          <a:p>
            <a:r>
              <a:t>11.1 As seguintes hipóteses são consideradas eventos de avaliação (“Eventos de Avaliação”): (i) em caso de regime de administração especial temporária - RAET, intervenção ou liquidação extrajudicial do Endossante, da instituição f inanceira prestadora dos serviços de agente de conta vinculada à Classe (“Agente de Conta Vinculada”) e/ou do Agente de Retenção e Cobrança; (ii) não cumprimento, pelo Endossante, de qualquer de suas obrigações estabelecidas nos Contratos de Endosso, no Regulamento ou neste Anexo I, desde que esse não cumprimento não se</a:t>
            </a:r>
          </a:p>
          <a:p>
            <a:r>
              <a:t>CNPJ 62552447000120 · Eventos de avaliação · Regulamento · ID 1200623 · 21/05/2026 · versão Consolidado21/05/2026 aprovado pelo ato1200625 · p. 23 · AnexoI11.1(vi)–(xi) · https://fnet.bmfbovespa.com.br/fnet/publico/visualizarDocumento?id=1200623</a:t>
            </a:r>
          </a:p>
          <a:p>
            <a:r>
              <a:t>CNPJ 62552447000120 · Eventos de avaliação · Excerto da fonte:</a:t>
            </a:r>
          </a:p>
          <a:p>
            <a:r>
              <a:t>(vi) não cumprimento, pelo Agente de Conta Vinculada, de qualquer de suas obrigações estabelecidas no contrato de conta vinculada celebrado entre o Endossante, na qualidade de titular da Conta Vinculada, e a Classe (“Contrato de Conta Vinculada”), no Regulamento ou neste Anexo I, desde que esse não cumprimento não seja devidamente sanado ou justificado dentro de 5 (cinco) Dias Úteis a partir do recebimento, pelo Agente de Conta Vinculada, de notif icação, por escrito, enviada pelo Administrador, informando-o da ocorrência do respectivo evento; (vii) não c</a:t>
            </a:r>
          </a:p>
          <a:p>
            <a:r>
              <a:t>CNPJ 62552447000120 · Eventos de avaliação · Versão e prevalência: Leitura específica das cláusulas indicadas; condições e conflitos preservados. Seleção documental atual não comprova vigência jurídica por data isolada.</a:t>
            </a:r>
          </a:p>
          <a:p>
            <a:r>
              <a:t>CNPJ 63953620000165 · Eventos de avaliação · Anexo ao Regulamento · ID 1222863 · 02/06/2026 · versão AnexoConsignadoPrivado02/06/2026 · p. 14 · 11.1(i)–(v) · https://fnet.bmfbovespa.com.br/fnet/publico/visualizarDocumento?id=1222863</a:t>
            </a:r>
          </a:p>
          <a:p>
            <a:r>
              <a:t>CNPJ 63953620000165 · Eventos de avaliação · Excerto da fonte:</a:t>
            </a:r>
          </a:p>
          <a:p>
            <a:r>
              <a:t>11.1 As seguintes hipóteses são consideradas eventos de avaliação (“Eventos de Avaliação”): (i) em caso de regime de administração especial temporária - RAET, intervenção ou liquidação extrajudicial do Endossante; (ii) em caso de desenquadramento do Índice de Subordinação por 10 (dez) dias úteis consecutivos; (iii) não cumprimento, pelo Endossante, de qualquer de suas obrigações estabelecidas no Contrato de Endosso ou neste Anexo I, desde que esse não cumprimento não seja devidamente sanado ou justificado dentro de 10 (dez) Dias Úteis a partir do recebimento, pelo Endossan</a:t>
            </a:r>
          </a:p>
          <a:p>
            <a:r>
              <a:t>CNPJ 63953620000165 · Eventos de avaliação · Anexo ao Regulamento · ID 1222863 · 02/06/2026 · versão AnexoConsignadoPrivado02/06/2026 · p. 15 · 11.1(vi)–(xiv) · https://fnet.bmfbovespa.com.br/fnet/publico/visualizarDocumento?id=1222863</a:t>
            </a:r>
          </a:p>
          <a:p>
            <a:r>
              <a:t>CNPJ 63953620000165 · Eventos de avaliação · Excerto da fonte:</a:t>
            </a:r>
          </a:p>
          <a:p>
            <a:r>
              <a:t>Anexo I ao Regulamento CLASSE CONSIGNADO PRIVADO DO MT GLOBAL FUNDO DE INVESTIMENTO EM DIREITOS CREDITÓRIOS RESPONSABILIDADE LIMITADA (vii) inobservância pelo Administrador, pelo Custodiante e/ou pelo Gestor de seus deveres e obrigações previstos neste Regulamento, bem como suas atribuições específicas nos outros contratos existentes referentes ao funcionamento da Classe, verificada pelo Administrador, pelo Custodiante e/ou pelo Gestor ou por qualquer dos Cotistas, desde que, uma vez notificados para sanar ou justificar o descumprimento, o Administrador, o Custodiante e/ou o Gestor, conforme</a:t>
            </a:r>
          </a:p>
          <a:p>
            <a:r>
              <a:t>CNPJ 63953620000165 · Eventos de avaliação · Versão e prevalência: Leitura específica das cláusulas indicadas; condições e conflitos preservados. Seleção documental atual não comprova vigência jurídica por data isolada.</a:t>
            </a:r>
          </a:p>
          <a:p>
            <a:r>
              <a:t>CNPJ 54871427000194 · Eventos de liquidação · Regulamento · ID 670691 · 28/04/2024 · versão Regulamento — referência 28/04/2024 · p. 19 · Anexo I, 11.1.3 e 11.3 · https://fnet.bmfbovespa.com.br/fnet/publico/visualizarDocumento?id=670691</a:t>
            </a:r>
          </a:p>
          <a:p>
            <a:r>
              <a:t>CNPJ 54871427000194 · Eventos de liquidação · Excerto da fonte:</a:t>
            </a:r>
          </a:p>
          <a:p>
            <a:r>
              <a:t>11.1.3 Na hipótese de não instalação da Assembleia Especial de Cotistas por f alta de quórum, o ADMINISTRADOR dará início aos procedimentos ref erentes à liquidação d a Classe, com o consequente resgate das Cotas, nos termos do item 11.4 e seguintes, abaixo. Eventos de Verificação de Patrimônio Líquido Negativo 11.2 Os seguintes eventos obrigarão o ADMINISTRADOR a verificar se o Patrimônio Líquido da Classe está negativo: (i) qualquer pedido de declaração judicial de insolvência da Classe; e (ii) na ocorrência de quaisquer dos Eventos de Avaliação e/ou Eventos de Liquidação . Eventos de Liquidação 11.3 As seguintes hipóteses são consideradas Eventos de Liquidação: (i) caso seja deliberado em Assembleia Especial de Cotistas que um Evento de Avaliação constitui um Evento de Liquidação; (ii) sempre que assim decidido pelos Cotistas em Assembleia Especial de Cotistas especialmente convocada para tal f im; (iii) cessão ou renúncia do ADMINISTRADOR, GESTOR ou CUSTODIANTE sem que a Assembleia de Cotistas ef icazmente nomeie instituição habilit ada para substituí-lo, nos termos estabelecidos neste Regulamento;</a:t>
            </a:r>
          </a:p>
          <a:p>
            <a:r>
              <a:t>CNPJ 54871427000194 · Eventos de liquidação · Versão e prevalência: Leitura específica das cláusulas indicadas; condições e conflitos preservados. Seleção documental atual não comprova vigência jurídica por data isolada.</a:t>
            </a:r>
          </a:p>
          <a:p>
            <a:r>
              <a:t>CNPJ 54871427000194 · Eventos de liquidação · Resumo do histórico: {"count": 1, "dates": ["2024-04-19"], "document_count": 1, "sources": [{"document_id": "670689", "title": "Regulamento", "reference_date": "2024-04-19", "version": "1", "page": 17, "clause": "10.2", "url": "https://fnet.bmfbovespa.com.br/fnet/publico/visualizarDocumento?id=670689", "sha256": "891bc9bc5d87bbc02ec139077a84d2702eb81ea02035fb71d24f5b8366b94a0b"}], "reference": {"path": "history/54871427000194.json", "criterion_id": "liquidation", "total_count": 1, "preview_count": 1, "full_text_deferred": true, "sha256": "35d7cd99be50c7287c9fb675cf4f2e736002315295a225a9efa79c8d9186d874"}}</a:t>
            </a:r>
          </a:p>
          <a:p>
            <a:r>
              <a:t>CNPJ 60010416000112 · Eventos de liquidação · Regulamento · ID 1051393 · 09/10/2025 · versão Regulamento09/10/2025 · p. 21 · AnexoI10.3(i)–(viii) · https://fnet.bmfbovespa.com.br/fnet/publico/visualizarDocumento?id=1051393</a:t>
            </a:r>
          </a:p>
          <a:p>
            <a:r>
              <a:t>CNPJ 60010416000112 · Eventos de liquidação · Excerto da fonte:</a:t>
            </a:r>
          </a:p>
          <a:p>
            <a:r>
              <a:t>10.3 As seguintes hipóteses são consideradas Eventos de Liquidação: (i) caso seja deliberado em Assembleia de Cotistas que um Evento de Avaliação constitui um Evento de Liquidação; (ii) na hipótese de resilição do Contrato de Custódia ou renúncia do Custodiante, sem que tenha havido sua substituição por outra instituição, de acordo com os procedimentos estabelecidos neste Regulamento; (iii) renúncia do Administrador sem que a Assembleia Especial de Cotistas eficazmente nomeie instituição habilitada para substituí-lo, nos termos estabelecidos neste Regulamento;</a:t>
            </a:r>
          </a:p>
          <a:p>
            <a:r>
              <a:t>CNPJ 60010416000112 · Eventos de liquidação · Versão e prevalência: Leitura específica das cláusulas indicadas; condições e conflitos preservados. Seleção documental atual não comprova vigência jurídica por data isolada.</a:t>
            </a:r>
          </a:p>
          <a:p>
            <a:r>
              <a:t>CNPJ 60010416000112 · Eventos de liquidação · Resumo do histórico: {"count": 2, "dates": ["2025-03-20"], "document_count": 2, "sources": [{"document_id": "993785", "title": "Instrumento Particular de Constituição/Encerramento do Fundo", "reference_date": "2025-03-20", "version": "1", "page": 8, "url": "https://fnet.bmfbovespa.com.br/fnet/publico/visualizarDocumento?id=993785", "sha256": "0826e0eae2c51afabf59bbc49fc7647598d03da5ca6de0f9725850a8bd6af457"}, {"document_id": "993786", "title": "Regulamento", "reference_date": "2025-03-20", "version": "1", "page": 18, "clause": "9.2", "url": "https://fnet.bmfbovespa.com.br/fnet/publico/visualizarDocumento?id=993786", "sha256": "fd0fdd369a195510d81f81f505195a0b09e5f43522a990afa7d58c4f872921c8"}], "reference": {"path": "history/60010416000112.json", "criterion_id": "liquidation", "total_count": 2, "preview_count": 2, "full_text_deferred": true, "sha256": "8e2bd813f4c51cf01f6bfaad164bafe69d2bbb192f753eac92da3a01c2e63046"}}</a:t>
            </a:r>
          </a:p>
          <a:p>
            <a:r>
              <a:t>CNPJ 62696791000193 · Eventos de liquidação · Regulamento · ID 1143317 · 20/03/2026 · versão Regulamento — referência 20/03/2026 · p. 23 · Anexo I, 11.1–11.3 · https://fnet.bmfbovespa.com.br/fnet/publico/visualizarDocumento?id=1143317</a:t>
            </a:r>
          </a:p>
          <a:p>
            <a:r>
              <a:t>CNPJ 62696791000193 · Eventos de liquidação · Excerto da fonte:</a:t>
            </a:r>
          </a:p>
          <a:p>
            <a:r>
              <a:t>11.1 A Classe será liquidada (i) em caso da liquidação antecipada deliberada em Assembleia Especial de Cotistas; ou (ii) pelo encerramento do Prazo de Duração da Classe. 11.2 Na ocorrência da liquidação da Classe, o Administrador: (i) liquidará todos os investimentos da Classe em Ativos Financeiros de Liquidez, conforme orientação do Gestor, transferindo todos os recursos daí resultantes para a Conta da Classe; (ii) realizará, de acordo com as orientações e instruções do Gestor, a alienação dos investimentos nos Direitos Creditórios do Agronegócio e nos Outros Ativos integrantes da carteira de investimentos da Classe; e (iii) realizará o pagamento dos encargos da Classe e a amortização das Cotas, até o limite dos recursos disponíveis na Conta da Classe. 11.2.1 No caso de Liquidação da Classe, os Cotistas terão o direito de partilhar o Patrimônio Líquido em igualdade de condições e na proporção de suas Cotas, deduzidas as despesas necessárias para a liquidação da Classe. Não haverá qualquer tipo de pref erência, p rioridade ou subordinação entre os Cotistas. 11.3 Caso a Classe não possua recursos suficientes para o pagamento de todas as Cotas no momento de</a:t>
            </a:r>
          </a:p>
          <a:p>
            <a:r>
              <a:t>CNPJ 62696791000193 · Eventos de liquidação · Regulamento · ID 1143317 · 20/03/2026 · versão Regulamento — referência 20/03/2026 · p. 24 · Anexo I, 11.7 · https://fnet.bmfbovespa.com.br/fnet/publico/visualizarDocumento?id=1143317</a:t>
            </a:r>
          </a:p>
          <a:p>
            <a:r>
              <a:t>CNPJ 62696791000193 · Eventos de liquidação · Excerto da fonte:</a:t>
            </a:r>
          </a:p>
          <a:p>
            <a:r>
              <a:t>11.7 A liquidação da Classe e a divisão de seu patrimônio entre os Cotistas deverão ocorrer no prazo de até 180 (cento e oitenta) dias corridos contados (i) do encerramento do Prazo de Duração ou (ii) da data da realização da Assembleia Especial de Cotistas que deliberar sobre a liquidação da Classe. BTG Pactual SAC: 0800 772 2827 | Ouvidoria: 0800 722 0048 | btgpactual.co m 19</a:t>
            </a:r>
          </a:p>
          <a:p>
            <a:r>
              <a:t>CNPJ 62696791000193 · Eventos de liquidação · Condição: O capítulo não fornece gatilho automático de PL &lt;R$ 1 milhão por 90 dias; essa cláusula presente em outros FIDCs não pode ser transferida para Ceres.</a:t>
            </a:r>
          </a:p>
          <a:p>
            <a:r>
              <a:t>CNPJ 62696791000193 · Eventos de liquidação · Motivo: Cláusula primária localizada e citada, mas sua lista/condições extensas não admitem uma síntese literal curta confirmada. O trecho integral permanece nas fontes.</a:t>
            </a:r>
          </a:p>
          <a:p>
            <a:r>
              <a:t>CNPJ 62696791000193 · Eventos de liquidação · Versão e prevalência: Leitura específica das cláusulas indicadas; condições e conflitos preservados. Seleção documental atual não comprova vigência jurídica por data isolada.</a:t>
            </a:r>
          </a:p>
          <a:p>
            <a:r>
              <a:t>CNPJ 55563624000109 · Eventos de liquidação · Regulamento · ID 1192614 · 30/04/2026 · versão Regulamento30/04/2026 · p. 21 · AnexoI11.3(i)–(vii) · https://fnet.bmfbovespa.com.br/fnet/publico/visualizarDocumento?id=1192614</a:t>
            </a:r>
          </a:p>
          <a:p>
            <a:r>
              <a:t>CNPJ 55563624000109 · Eventos de liquidação · Excerto da fonte:</a:t>
            </a:r>
          </a:p>
          <a:p>
            <a:r>
              <a:t>11.3 As seguintes hipóteses são consideradas Eventos de Liquidação: (i) caso seja deliberado em Assembleia Especial de Cotistas que um Evento de Avaliação constitui um Evento de Liquidação; (ii) na hipótese de renúncia do CUSTODIANTE, sem que tenha havido sua substituição por outra instituição, de acordo com os procedimentos estabelecidos neste Anexo; (iii) renúncia do ADMINISTRADOR ou do GESTOR sem que a Assembleia Especial de Cotistas eficazmente nomeie instituição habilitada para substituí-lo, nos termo</a:t>
            </a:r>
          </a:p>
          <a:p>
            <a:r>
              <a:t>CNPJ 55563624000109 · Eventos de liquidação · Versão e prevalência: Leitura específica das cláusulas indicadas; condições e conflitos preservados. Seleção documental atual não comprova vigência jurídica por data isolada.</a:t>
            </a:r>
          </a:p>
          <a:p>
            <a:r>
              <a:t>CNPJ 62552447000120 · Eventos de liquidação · Regulamento · ID 1200623 · 21/05/2026 · versão Consolidado21/05/2026 aprovado pelo ato1200625 · p. 24 · AnexoI11.2(i)–(v) · https://fnet.bmfbovespa.com.br/fnet/publico/visualizarDocumento?id=1200623</a:t>
            </a:r>
          </a:p>
          <a:p>
            <a:r>
              <a:t>CNPJ 62552447000120 · Eventos de liquidação · Excerto da fonte:</a:t>
            </a:r>
          </a:p>
          <a:p>
            <a:r>
              <a:t>11.2 As seguintes hipóteses são consideradas eventos de liquidação (“Eventos de Liquidação”): (i) caso seja deliberado em Assembleia Especial que um Evento de Avaliação constitui um Evento de Liquidação; (ii) na hipótese de resilição do Contrato de Custódia ou renúncia do Custodiante, sem que tenha havido sua substituição por outra instituição, de acordo com os procedimentos estabelecidos neste Regulamento; (iii) renúncia do Administrador sem que a Assembleia Especial ef icazmente nomeie instituição habilitada para substituí-lo, nos termos estab</a:t>
            </a:r>
          </a:p>
          <a:p>
            <a:r>
              <a:t>CNPJ 62552447000120 · Eventos de liquidação · Regulamento · ID 1200623 · 21/05/2026 · versão Consolidado21/05/2026 aprovado pelo ato1200625 · p. 25 · AnexoI11.2(vi)–(ix) · https://fnet.bmfbovespa.com.br/fnet/publico/visualizarDocumento?id=1200623</a:t>
            </a:r>
          </a:p>
          <a:p>
            <a:r>
              <a:t>CNPJ 62552447000120 · Eventos de liquidação · Excerto da fonte:</a:t>
            </a:r>
          </a:p>
          <a:p>
            <a:r>
              <a:t>(vi) em caso de regime de administração especial temporária - RAET, intervenção ou liquidação extrajudicial do Custodiante, Administrador, ou Gestor, sem a sua ef etiva substituição nos termos deste Regulamento; (vii) se, após 90 (noventa) dias do início das atividades do Fundo, o Patrimônio Líquido diário inferior da Classe for inferior a R$ 1.000.000,00 (um milhão de reais) pelo período de 90 (noventa) dias consecutivos; (viii) caso, por inexistência de recursos líquidos, a Classe não possa fazer f rente aos Encargos nas respectivas datas</a:t>
            </a:r>
          </a:p>
          <a:p>
            <a:r>
              <a:t>CNPJ 62552447000120 · Eventos de liquidação · Versão e prevalência: Leitura específica das cláusulas indicadas; condições e conflitos preservados. Seleção documental atual não comprova vigência jurídica por data isolada.</a:t>
            </a:r>
          </a:p>
          <a:p>
            <a:r>
              <a:t>CNPJ 63953620000165 · Eventos de liquidação · Anexo ao Regulamento · ID 1222863 · 02/06/2026 · versão AnexoConsignadoPrivado02/06/2026 · p. 16 · 11.2(i)–(viii) · https://fnet.bmfbovespa.com.br/fnet/publico/visualizarDocumento?id=1222863</a:t>
            </a:r>
          </a:p>
          <a:p>
            <a:r>
              <a:t>CNPJ 63953620000165 · Eventos de liquidação · Excerto da fonte:</a:t>
            </a:r>
          </a:p>
          <a:p>
            <a:r>
              <a:t>11.2 As seguintes hipóteses são consideradas eventos de liquidação (“Eventos de Liquidação”): (i) caso seja deliberado em Assembleia Especial de Cotistas que um Evento de Avaliação constitui um Evento de Liquidação; (ii) na hipótese de resilição do Contrato de Custódia ou renúncia do Custodiante, sem que tenha havido sua substituição por outra instituição, de acordo com os procedimentos estabelecidos neste Regulamento; (iii) renúncia do Administrador sem que a Assembleia Especial de Cotistas eficazmente nomeie instituição habilitada para substituí-lo, nos termos estabeleci</a:t>
            </a:r>
          </a:p>
          <a:p>
            <a:r>
              <a:t>CNPJ 63953620000165 · Eventos de liquidação · Versão e prevalência: Leitura específica das cláusulas indicadas; condições e conflitos preservados. Seleção documental atual não comprova vigência jurídica por data isolada.</a:t>
            </a:r>
          </a:p>
          <a:p>
            <a:r>
              <a:t>CNPJ 63953620000165 · Eventos de liquidação · Resumo do histórico: {"count": 8, "dates": ["2026-04-28", "2026-05-08", "2026-05-15"], "document_count": 3, "sources": [{"document_id": "1327859", "title": "Demonstrações Financeiras - Fusão, cisão e incorporação", "reference_date": "2026-05-15", "version": "1", "page": 23, "url": "https://fnet.bmfbovespa.com.br/fnet/publico/visualizarDocumento?id=1327859", "sha256": "dca1c68babb97f887528c3e2e47596a9c30f507b067981a35655b2f2da9c8054"}, {"document_id": "1298691", "title": "Demonstrações Financeiras - Fusão, cisão e incorporação", "reference_date": "2026-05-08", "version": "1", "page": 24, "url": "https://fnet.bmfbovespa.com.br/fnet/publico/visualizarDocumento?id=1298691", "sha256": "58c570d9b8d4d265330d3db3ea81c435b8e44a6dab4002aa37790652a1ee9819"}, {"document_id": "1282180", "title": "Demonstrações Financeiras - Fusão, cisão e incorporação", "reference_date": "2026-04-28", "version": "1", "page": 24, "url": "https://fnet.bmfbovespa.com.br/fnet/publico/visualizarDocumento?id=1282180", "sha256": "afaaa0e6809be4385e5bdb6c911aac582032c5bdbac3d7750234bf9eaf00438a"}], "reference": {"path": "history/63953620000165.json", "criterion_id": "liquidation", "total_count": 8, "preview_count": 3, "full_text_deferred": true, "sha256": "a7b89077f5e21098c2d601c303faabc3ff6b9729f89d8afecdc60fe1404720c1"}}</a:t>
            </a:r>
          </a:p>
          <a:p>
            <a:r>
              <a:t>CNPJ 54871427000194 · Prazos de cura e reincidência · Regulamento · ID 670691 · 28/04/2024 · versão Regulamento — referência 28/04/2024 · p. 18 · Anexo I, 11.1(ii)–(v) · https://fnet.bmfbovespa.com.br/fnet/publico/visualizarDocumento?id=670691</a:t>
            </a:r>
          </a:p>
          <a:p>
            <a:r>
              <a:t>CNPJ 54871427000194 · Prazos de cura e reincidência · Excerto da fonte:</a:t>
            </a:r>
          </a:p>
          <a:p>
            <a:r>
              <a:t>(ii) não cumprimento, por qualquer dos Endossantes, de qualquer de suas obrigações estabelecidas em cada Contrato de Endosso ou neste Regulamento e Anexo, desde que esse não cumprimento não seja devidamente sanado ou justificado dentro de 10 (dez) Dias Úteis a partir do recebimento, pelo Endossante, de notificação, por escrito, enviada pelo Administrador, inf ormando-o da ocorrência do respectivo evento; (iii) não cumprimento, por qualquer dos Endossantes, de suas obrigações de entregar o Arquivo de Liquidação Antecipada e o Arquivo de Posição das CCBs ao CUSTODIANTE dentro do prazo estabelecido neste Regulamento, desde que esse não cumprimento não seja devidamente sanado ou justificado dentro dos prazos acordados no respectivo Contrato de Endosso, a partir do recebimento, pelos Endossantes, de notificação, por escrito, enviada pelo CUSTODIANTE, inf ormando-o da ocorrência do respectivo evento; (iv) não cumprimento, por qualquer dos Endossantes, de qualquer de suas obrigações de entregar ao CUSTODIANTE, ou a terceiros por ele indicados, os Documentos Comprobatórios relativos</a:t>
            </a:r>
          </a:p>
          <a:p>
            <a:r>
              <a:t>CNPJ 54871427000194 · Prazos de cura e reincidência · Motivo: Não localizada uma cláusula material para este critério nos textos identificados e processados. A ausência de resultado não comprova inexistência da regra.</a:t>
            </a:r>
          </a:p>
          <a:p>
            <a:r>
              <a:t>CNPJ 54871427000194 · Prazos de cura e reincidência · Versão e prevalência: Leitura específica das cláusulas indicadas; condições e conflitos preservados. Seleção documental atual não comprova vigência jurídica por data isolada.</a:t>
            </a:r>
          </a:p>
          <a:p>
            <a:r>
              <a:t>CNPJ 60010416000112 · Prazos de cura e reincidência · Regulamento · ID 1051393 · 09/10/2025 · versão Regulamento09/10/2025 · p. 14 · AnexoI5.7.1–5.7.2 · https://fnet.bmfbovespa.com.br/fnet/publico/visualizarDocumento?id=1051393</a:t>
            </a:r>
          </a:p>
          <a:p>
            <a:r>
              <a:t>CNPJ 60010416000112 · Prazos de cura e reincidência · Excerto da fonte:</a:t>
            </a:r>
          </a:p>
          <a:p>
            <a:r>
              <a:t>5.7.1 abaixo. 5.7.1 Na hipótese do item 5.7 os titulares de Cotas Subordinadas terão o prazo de 3 (três) Dias Úteis contado do recebimento da comunicação enviada pelo Administrador para manifestar sua intenção de subscrever e integralizar novas Cotas Subordinadas, de f orma a restabelecer o Índice de Subordinação. Caso assim se manifestem, o Administrador e os titulares de Cotas Subordinadas deverão, nos 10 (dez) Dias Úteis subsequentes tomar todas as providências necessárias para que as novas Cotas Subordinadas sejam emitidas, subscritas e integraliza</a:t>
            </a:r>
          </a:p>
          <a:p>
            <a:r>
              <a:t>CNPJ 60010416000112 · Prazos de cura e reincidência · Regulamento · ID 1051393 · 09/10/2025 · versão Regulamento09/10/2025 · p. 19 · AnexoI10.1(ii)–(vii) · https://fnet.bmfbovespa.com.br/fnet/publico/visualizarDocumento?id=1051393</a:t>
            </a:r>
          </a:p>
          <a:p>
            <a:r>
              <a:t>CNPJ 60010416000112 · Prazos de cura e reincidência · Excerto da fonte:</a:t>
            </a:r>
          </a:p>
          <a:p>
            <a:r>
              <a:t>10.1 As seguintes hipóteses são consideradas Eventos de Avaliação: (i) em caso de regime de administração especial temporária - RAET, intervenção ou liquidação extrajudicial do Endossante; (ii) em caso de desenquadramento do Índice de Subordinação por 10 (dez) dias úteis consecutivos; (iii) não cumprimento, pelo Endossante, de qualquer de suas obrigações estabelecidas no Contrato de Endosso ou neste Anexo I, desde que esse não cumprimento não seja devidamente sanado ou justif icado dentro de 10 (dez) Dias Úteis a partir do recebimento, pelo Endossante, de noti</a:t>
            </a:r>
          </a:p>
          <a:p>
            <a:r>
              <a:t>CNPJ 60010416000112 · Prazos de cura e reincidência · Regulamento · ID 1051393 · 09/10/2025 · versão Regulamento09/10/2025 · p. 20 · AnexoI10.1(xiii) · https://fnet.bmfbovespa.com.br/fnet/publico/visualizarDocumento?id=1051393</a:t>
            </a:r>
          </a:p>
          <a:p>
            <a:r>
              <a:t>CNPJ 60010416000112 · Prazos de cura e reincidência · Excerto da fonte:</a:t>
            </a:r>
          </a:p>
          <a:p>
            <a:r>
              <a:t>(xiii) no caso de não serem realizados pagamentos de amortização e/ou resgate de Cotas Seniores, nos termos, prazos e condições previstos no presente Regulamento e nos respectivos Apêndices e Suplementos, não sanados em até 2 (dois) Dias Úteis contados do prazo final do respectivo evento; (xiv) no caso de pagamento de resgate e/ou amortização de Cotas Subordinadas em desacordo com os termos, prazos e condições previstos no presente Regulamento e no respectivo Apêndice. 10.1.1 Na ocorrência de qualquer Evento de Avaliação, será convocada Assembleia Especial de Cotistas,</a:t>
            </a:r>
          </a:p>
          <a:p>
            <a:r>
              <a:t>CNPJ 60010416000112 · Prazos de cura e reincidência · Versão e prevalência: Leitura específica das cláusulas indicadas; condições e conflitos preservados. Seleção documental atual não comprova vigência jurídica por data isolada.</a:t>
            </a:r>
          </a:p>
          <a:p>
            <a:r>
              <a:t>CNPJ 60010416000112 · Prazos de cura e reincidência · Resumo do histórico: {"count": 1, "dates": ["2025-03-20"], "document_count": 1, "sources": [{"document_id": "993786", "title": "Regulamento", "reference_date": "2025-03-20", "version": "1", "page": 19, "clause": "10.1", "url": "https://fnet.bmfbovespa.com.br/fnet/publico/visualizarDocumento?id=993786", "sha256": "fd0fdd369a195510d81f81f505195a0b09e5f43522a990afa7d58c4f872921c8"}], "reference": {"path": "history/60010416000112.json", "criterion_id": "cure", "total_count": 1, "preview_count": 1, "full_text_deferred": true, "sha256": "8e2bd813f4c51cf01f6bfaad164bafe69d2bbb192f753eac92da3a01c2e63046"}}</a:t>
            </a:r>
          </a:p>
          <a:p>
            <a:r>
              <a:t>CNPJ 62696791000193 · Prazos de cura e reincidência · Motivo: Não localizada uma cláusula material para este critério nos textos identificados e processados. A ausência de resultado não comprova inexistência da regra.</a:t>
            </a:r>
          </a:p>
          <a:p>
            <a:r>
              <a:t>CNPJ 55563624000109 · Prazos de cura e reincidência · Regulamento · ID 1192614 · 30/04/2026 · versão Regulamento30/04/2026 · p. 20 · AnexoI11.1 · https://fnet.bmfbovespa.com.br/fnet/publico/visualizarDocumento?id=1192614</a:t>
            </a:r>
          </a:p>
          <a:p>
            <a:r>
              <a:t>CNPJ 55563624000109 · Prazos de cura e reincidência · Excerto da fonte:</a:t>
            </a:r>
          </a:p>
          <a:p>
            <a:r>
              <a:t>11.1 As seguintes hipóteses são consideradas Eventos de Avaliação: (i) inobservância pelo ADMINISTRADOR, pelo CUSTODIANTE e/ou pelo GESTOR de seus deveres e obrigações previstos neste Anexo, desde que, uma vez notificados para sanar ou justificar o descumprimento, o ADMINISTRADOR, o CUSTODIANTE e/ou o GESTOR, conforme o caso, não o sane no prazo de 5 (cinco) Dias Úteis contados do recebimento da referida notificação; (ii) aquisição, pela Classe, de Cotas da Classe Investida que estejam em desacordo com o Critério de</a:t>
            </a:r>
          </a:p>
          <a:p>
            <a:r>
              <a:t>CNPJ 55563624000109 · Prazos de cura e reincidência · Regulamento · ID 1192614 · 30/04/2026 · versão Regulamento30/04/2026 · p. 21 · AnexoI11.1.2 · https://fnet.bmfbovespa.com.br/fnet/publico/visualizarDocumento?id=1192614</a:t>
            </a:r>
          </a:p>
          <a:p>
            <a:r>
              <a:t>CNPJ 55563624000109 · Prazos de cura e reincidência · Excerto da fonte:</a:t>
            </a:r>
          </a:p>
          <a:p>
            <a:r>
              <a:t>11.1.2 No momento de verificação de qualquer Evento de Avaliação, os procedimentos de aquisição de novas Cotas da Classe Investida e, se aplicável, de amortização das Cotas, deverão ser imediatamente interrompidos, até que: (i) seja proferida decisão final em Assembleia Especial de Cotistas, convocada especificamente para este fim, nos termos do item 11.1.1 acima, autorizando a retomada dos procedimentos de aquisição de novas Cotas da Classe Investida, amortização e resgate das Cotas; e/ou (ii) seja sanado o Evento de Avalia</a:t>
            </a:r>
          </a:p>
          <a:p>
            <a:r>
              <a:t>CNPJ 55563624000109 · Prazos de cura e reincidência · Motivo: Não localizada uma cláusula material para este critério nos textos identificados e processados. A ausência de resultado não comprova inexistência da regra.</a:t>
            </a:r>
          </a:p>
          <a:p>
            <a:r>
              <a:t>CNPJ 55563624000109 · Prazos de cura e reincidência · Versão e prevalência: Leitura específica das cláusulas indicadas; condições e conflitos preservados. Seleção documental atual não comprova vigência jurídica por data isolada.</a:t>
            </a:r>
          </a:p>
          <a:p>
            <a:r>
              <a:t>CNPJ 62552447000120 · Prazos de cura e reincidência · Regulamento · ID 1200623 · 21/05/2026 · versão Consolidado21/05/2026 aprovado pelo ato1200625 · p. 22 · AnexoI11.1(ii)–(v) · https://fnet.bmfbovespa.com.br/fnet/publico/visualizarDocumento?id=1200623</a:t>
            </a:r>
          </a:p>
          <a:p>
            <a:r>
              <a:t>CNPJ 62552447000120 · Prazos de cura e reincidência · Excerto da fonte:</a:t>
            </a:r>
          </a:p>
          <a:p>
            <a:r>
              <a:t>5 (cinco) Dias Úteis a partir do recebimento, pelo Endossante, de notificação, por escrito, enviada pelo Administrador, inf ormando-o da ocorrência do respectivo evento; (iii) não cumprimento, pelo Endossante e/ou pelo Agente de Retenção e Cobrança, de sua obrigação de entregar os (a) arquivos eletrônicos disponibilizados mensalmente pela Dataprev ao Endossante, contendo (1) as Consignações processadas pela Dataprev no respectivo mês, identificando os Devedores e os valores que serão descontados de suas respectivas folhas de pagamentos, bem como</a:t>
            </a:r>
          </a:p>
          <a:p>
            <a:r>
              <a:t>CNPJ 62552447000120 · Prazos de cura e reincidência · Regulamento · ID 1200623 · 21/05/2026 · versão Consolidado21/05/2026 aprovado pelo ato1200625 · p. 23 · AnexoI11.1(vi)–(viii) · https://fnet.bmfbovespa.com.br/fnet/publico/visualizarDocumento?id=1200623</a:t>
            </a:r>
          </a:p>
          <a:p>
            <a:r>
              <a:t>CNPJ 62552447000120 · Prazos de cura e reincidência · Excerto da fonte:</a:t>
            </a:r>
          </a:p>
          <a:p>
            <a:r>
              <a:t>5 (cinco) Dias Úteis a partir do recebimento, pelo Agente de Retenção e Cobrança, de notificação, por escrito, enviada pelo Gestor, informando-o da ocorrência do respectivo evento; (vi) não cumprimento, pelo Agente de Conta Vinculada, de qualquer de suas obrigações estabelecidas no contrato de conta vinculada celebrado entre o Endossante, na qualidade de titular da Conta Vinculada, e a Classe (“Contrato de Conta Vinculada”), no Regulamento ou neste Anexo I, desde que esse não cumprimento não seja devidamente sanado ou justificado dentro de 5 (cinco) Dias Úte</a:t>
            </a:r>
          </a:p>
          <a:p>
            <a:r>
              <a:t>CNPJ 62552447000120 · Prazos de cura e reincidência · Regulamento · ID 1200623 · 21/05/2026 · versão Consolidado21/05/2026 aprovado pelo ato1200625 · p. 19 · AnexoI6.8.4 · https://fnet.bmfbovespa.com.br/fnet/publico/visualizarDocumento?id=1200623</a:t>
            </a:r>
          </a:p>
          <a:p>
            <a:r>
              <a:t>CNPJ 62552447000120 · Prazos de cura e reincidência · Excerto da fonte:</a:t>
            </a:r>
          </a:p>
          <a:p>
            <a:r>
              <a:t>6.8.4 Em caso de inadimplência decorrente de falha operacional, será concedido aos Cotistas o prazo de 2 (dois) Dias Úteis contado da data de seu vencimento original para a realização do pagamento da integralização de Cotas sem a incidência de qualquer penalidade, multa ou mora. Transferência de Cotas 6.9 Não haverá direito de preferência aos Cotistas em relação às transferências de Cotas no mercado secundário. 6.10 No caso de alienação voluntária de Cotas, o Cotista alienante deverá solicitar por escrito ao Administrador e ao Gestor, a transf erência parcial ou total de suas Cotas, indicando o nom</a:t>
            </a:r>
          </a:p>
          <a:p>
            <a:r>
              <a:t>CNPJ 62552447000120 · Prazos de cura e reincidência · Regulamento · ID 1200623 · 21/05/2026 · versão Consolidado21/05/2026 aprovado pelo ato1200625 · p. 24 · AnexoI11.1.2 · https://fnet.bmfbovespa.com.br/fnet/publico/visualizarDocumento?id=1200623</a:t>
            </a:r>
          </a:p>
          <a:p>
            <a:r>
              <a:t>CNPJ 62552447000120 · Prazos de cura e reincidência · Excerto da fonte:</a:t>
            </a:r>
          </a:p>
          <a:p>
            <a:r>
              <a:t>11.1.2 No momento de verificação de qualquer Evento de Avaliação, os procedimentos de aquisição de novos Direitos Creditórios deverão ser imediatamente interrompidos, até que: (i) seja prof erida decisão final em Assembleia Especial, convocada especificamente para este fim, nos termos do item 11.1.1 acima, autorizando a retomada dos procedimentos de aquisição de novos Direitos Creditórios e resgate das Cotas; e/ou (ii) seja sanado o Evento de Avaliação . 11.1.3 Na hipótese de não instalação da Assembleia Especial por f alta de quórum, o Administrador dará início aos</a:t>
            </a:r>
          </a:p>
          <a:p>
            <a:r>
              <a:t>CNPJ 62552447000120 · Prazos de cura e reincidência · Motivo: Não localizada uma cláusula material para este critério nos textos identificados e processados. A ausência de resultado não comprova inexistência da regra.</a:t>
            </a:r>
          </a:p>
          <a:p>
            <a:r>
              <a:t>CNPJ 62552447000120 · Prazos de cura e reincidência · Versão e prevalência: Leitura específica das cláusulas indicadas; condições e conflitos preservados. Seleção documental atual não comprova vigência jurídica por data isolada.</a:t>
            </a:r>
          </a:p>
          <a:p>
            <a:r>
              <a:t>CNPJ 63953620000165 · Prazos de cura e reincidência · Anexo ao Regulamento · ID 1222863 · 02/06/2026 · versão AnexoConsignadoPrivado02/06/2026 · p. 14 · 11.1(ii)–(v) · https://fnet.bmfbovespa.com.br/fnet/publico/visualizarDocumento?id=1222863</a:t>
            </a:r>
          </a:p>
          <a:p>
            <a:r>
              <a:t>CNPJ 63953620000165 · Prazos de cura e reincidência · Excerto da fonte:</a:t>
            </a:r>
          </a:p>
          <a:p>
            <a:r>
              <a:t>11.1 As seguintes hipóteses são consideradas eventos de avaliação (“Eventos de Avaliação”): (i) em caso de regime de administração especial temporária - RAET, intervenção ou liquidação extrajudicial do Endossante; (ii) em caso de desenquadramento do Índice de Subordinação por 10 (dez) dias úteis consecutivos; (iii) não cumprimento, pelo Endossante, de qualquer de suas obrigações estabelecidas no Contrato de Endosso ou neste Anexo I, desde que esse não cumprimento não seja devidamente sanado ou justificado dentro de 10 (dez) Dias Úteis a partir do recebimento, pelo Endossan</a:t>
            </a:r>
          </a:p>
          <a:p>
            <a:r>
              <a:t>CNPJ 63953620000165 · Prazos de cura e reincidência · Anexo ao Regulamento · ID 1222863 · 02/06/2026 · versão AnexoConsignadoPrivado02/06/2026 · p. 10 · 6.8 · https://fnet.bmfbovespa.com.br/fnet/publico/visualizarDocumento?id=1222863</a:t>
            </a:r>
          </a:p>
          <a:p>
            <a:r>
              <a:t>CNPJ 63953620000165 · Prazos de cura e reincidência · Excerto da fonte:</a:t>
            </a:r>
          </a:p>
          <a:p>
            <a:r>
              <a:t>6.8 Observado o disposto nos boletins de subscrição, no caso de inadimplemento, a Administradora notificará o cotista inadimplente para sanar o inadimplemento no prazo de até 5 (cinco) Dias Úteis (“Cotista Inadimplente”). Caso o Cotista Inadimplente não sane o inadimplemento dentro de 5 (cinco) Dias Úteis contados do recebimento da notificação descrita acima, a Administradora poderá tomar as medidas previstas no Boletim de Subscrição. Colocação das Cotas 6.9 As Cotas poderão ser objeto de oferta pública a ser realizada nos termos da Resolução CVM 160 (“Oferta”) e/ou poderão ser colocadas de forma privada (“Colocação Privad</a:t>
            </a:r>
          </a:p>
          <a:p>
            <a:r>
              <a:t>CNPJ 63953620000165 · Prazos de cura e reincidência · Versão e prevalência: Leitura específica das cláusulas indicadas; condições e conflitos preservados. Seleção documental atual não comprova vigência jurídica por data isolada.</a:t>
            </a:r>
          </a:p>
          <a:p>
            <a:r>
              <a:t>CNPJ 54871427000194 · Cross default e insolvência · Motivo: Não localizada uma cláusula material para este critério nos textos identificados e processados. A ausência de resultado não comprova inexistência da regra.</a:t>
            </a:r>
          </a:p>
          <a:p>
            <a:r>
              <a:t>CNPJ 60010416000112 · Cross default e insolvência · Regulamento · ID 1051393 · 2025-10-09 · versão 1 · p. 21 · 10.2 · https://fnet.bmfbovespa.com.br/fnet/publico/visualizarDocumento?id=1051393</a:t>
            </a:r>
          </a:p>
          <a:p>
            <a:r>
              <a:t>CNPJ 60010416000112 · Cross default e insolvência · Excerto da fonte:</a:t>
            </a:r>
          </a:p>
          <a:p>
            <a:r>
              <a:t>10.2 Os seguintes eventos obrigarão o Administrador a verif icar se o Patrimônio Líquido da Classe está  negativo:</a:t>
            </a:r>
          </a:p>
          <a:p>
            <a:r>
              <a:t> (i) qualquer pedido de declaração judicial de insolvência da Classe;</a:t>
            </a:r>
          </a:p>
          <a:p>
            <a:r>
              <a:t> (ii) identificação de indícios de f raudes envolvendo o lastro de Direitos Creditórios que representem, no  mínimo 0,5 (cinco décimos por cento) do Patrimônio Líquido da Classe;</a:t>
            </a:r>
          </a:p>
          <a:p>
            <a:r>
              <a:t> (iii) inadimplência de obrigações financeiras de devedor e/ou emissor de ativos detidos pela Classe que  representem mais de 25% (vinte e cinco por cento)de seu Patrimônio Líquido;</a:t>
            </a:r>
          </a:p>
          <a:p>
            <a:r>
              <a:t> (iv) pedido de recuperação extrajudicial, de recuperação judicial, ou de falência de Devedor e/ou emissor  de ativos detidos pela Classe;</a:t>
            </a:r>
          </a:p>
          <a:p>
            <a:r>
              <a:t> (v) condenação da Classe de natureza judicial e/ou arbitral e/ou administrativa e/ou outras similares ao  pagamento de mais de 20% (vinte por cento) de seu Patrimônio Líquido; e</a:t>
            </a:r>
          </a:p>
          <a:p>
            <a:r>
              <a:t> (vi) caso caracterizado quaisquer dos Eventos de Liquidação.</a:t>
            </a:r>
          </a:p>
          <a:p>
            <a:r>
              <a:t>Eventos de Liquidação</a:t>
            </a:r>
          </a:p>
          <a:p>
            <a:r>
              <a:t>CNPJ 60010416000112 · Cross default e insolvência · Regulamento · ID 1051393 · 2025-10-09 · versão 1 · p. 21 · 10.3 · https://fnet.bmfbovespa.com.br/fnet/publico/visualizarDocumento?id=1051393</a:t>
            </a:r>
          </a:p>
          <a:p>
            <a:r>
              <a:t>CNPJ 60010416000112 · Cross default e insolvência · Excerto da fonte:</a:t>
            </a:r>
          </a:p>
          <a:p>
            <a:r>
              <a:t>10.3 As seguintes hipóteses são consideradas Eventos de Liquidação:</a:t>
            </a:r>
          </a:p>
          <a:p>
            <a:r>
              <a:t> (i) caso seja deliberado em Assembleia de Cotistas que um Evento de Avaliação constitui um Evento de  Liquidação;</a:t>
            </a:r>
          </a:p>
          <a:p>
            <a:r>
              <a:t> (ii) na hipótese de resilição do Contrato de Custódia ou renúncia do Custodiante, sem que tenha havido  sua substituição por outra instituição, de acordo com os procedimentos estabelecidos neste  Regulamento;</a:t>
            </a:r>
          </a:p>
          <a:p>
            <a:r>
              <a:t> (iii) renúncia do Administrador sem que a Assembleia Especial de Cotistas eficazmente nomeie instituição  habilitada para substituí-lo, nos termos estabelecidos neste Regulamento;</a:t>
            </a:r>
          </a:p>
          <a:p>
            <a:r>
              <a:t> (iv) por determinação da CVM, em caso de violação de normas legais ou regulamentares;</a:t>
            </a:r>
          </a:p>
          <a:p>
            <a:r>
              <a:t> (v) sempre que assim decidido pelos Cotistas em Assembleia Especial de Cotistas especialmente  convocada para tal f im;</a:t>
            </a:r>
          </a:p>
          <a:p>
            <a:r>
              <a:t> (vi) em caso de regime de administração especial temporária - RAET, intervenção ou liquidação  extrajudicial, conforme aplicável, do Custodiante, Administrador, ou Gestor, sem a sua ef etiva  substituição nos termos deste Regulamento;</a:t>
            </a:r>
          </a:p>
          <a:p>
            <a:r>
              <a:t> (vii) se, após 90 (noventa) dias do início das atividades do Fundo, o Patrimônio Líquido diário inf erior da  Classe f or inf erior a R$ 1.000.000,00 (um milhão de reais) pelo período de 90 (noventa) dias  consecutivos;</a:t>
            </a:r>
          </a:p>
          <a:p>
            <a:r>
              <a:t> (viii) impossibilidade da Classe adquirir Direitos Creditórios admitidos por sua política de investimento.</a:t>
            </a:r>
          </a:p>
          <a:p>
            <a:r>
              <a:t>Procedimentos de Liquidação Antecipada</a:t>
            </a:r>
          </a:p>
          <a:p>
            <a:r>
              <a:t>CNPJ 60010416000112 · Cross default e insolvência · Regulamento · ID 1051393 · 2025-10-09 · versão 1 · p. 19 · 10.1 · https://fnet.bmfbovespa.com.br/fnet/publico/visualizarDocumento?id=1051393</a:t>
            </a:r>
          </a:p>
          <a:p>
            <a:r>
              <a:t>CNPJ 60010416000112 · Cross default e insolvência · Excerto da fonte:</a:t>
            </a:r>
          </a:p>
          <a:p>
            <a:r>
              <a:t>10.1 As seguintes hipóteses são consideradas Eventos de Avaliação:</a:t>
            </a:r>
          </a:p>
          <a:p>
            <a:r>
              <a:t> (i) em caso de regime de administração especial temporária - RAET, intervenção ou liquidação  extrajudicial do Endossante;</a:t>
            </a:r>
          </a:p>
          <a:p>
            <a:r>
              <a:t> (ii) em caso de desenquadramento do Índice de Subordinação por 10 (dez) dias úteis consecutivos;</a:t>
            </a:r>
          </a:p>
          <a:p>
            <a:r>
              <a:t> (iii) não cumprimento, pelo Endossante, de qualquer de suas obrigações estabelecidas no Contrato de  Endosso ou neste Anexo I, desde que esse não cumprimento não seja devidamente sanado ou  justif icado dentro de 10 (dez) Dias Úteis a partir do recebimento, pelo Endossante, de notificação,  por escrito, enviada pelo Administrador, inf ormando-o da ocorrência do respectivo evento;</a:t>
            </a:r>
          </a:p>
          <a:p>
            <a:r>
              <a:t> (iv) não cumprimento, pelo Endossante, de sua obrigação de entregar os Arquivos Dataprev ao Gestor  e ao Custodiante dentro do prazo estabelecido neste Anexo I, desde que esse não cumprimento  não seja devidamente sanado ou justificado dentro de 02 (dois) Dias Úteis a partir do recebimento,  pelo Endossante, de notificação, por escrito, enviada pelo Gestor, informando-o da ocorrência do  respectivo evento;</a:t>
            </a:r>
          </a:p>
          <a:p>
            <a:r>
              <a:t> (v) não cumprimento, pelo Endossante, de qualquer de suas obrigações de entregar ao Gestor e/o ao  Custodiante, ou a terceiros por ele indicados, os Documentos Comprobatórios e Documentos  Suporte relativos aos Direitos Creditórios que tenham sido endossados à Classe, dentro do prazo  estabelecido neste Anexo I, desde que esse não cumprimento não seja devidamente sanado ou  justif icado dentro de 02 (dois) Dias Úteis a partir do recebimento, pelo Endossante, de notificação,  por escrito, enviada pelo Gestor e/ou Custodiante, inf ormando- o da ocorrência do respectivo  evento;</a:t>
            </a:r>
          </a:p>
          <a:p>
            <a:r>
              <a:t> (vi) não cumprimento, pelo Agente de Retenção/Cobrança, de qualquer de suas obrigações  estabelecidas no Contrato de Endosso, neste Regulamento ou no Contrato de Serviços MT, desde  que esse não cumprimento não seja devidamente sanado ou justificado dentro de 10 (dez) Dias  Úteis a partir do recebimento, pelo Agente de Retenção/Cobrança, de notificação, por escrito,  enviada pelo Gestor, inf ormando-o da ocorrência do respectivo evento;</a:t>
            </a:r>
          </a:p>
          <a:p>
            <a:r>
              <a:t> (vii) não cumprimento, pelo Administrador, Gestor ou Custodiante, de seus respectivos deveres e  obrigações estabelecidos neste Regulamento, no Contrato de Endosso ou nos respectivos  contratos de prestação de serviços segundo os quais essas entidades são contratadas pela Classe,  desde que, tendo sido notificado pelo Cotista para remediar ou justificar o não cumprimento, não o  f aça dentro de 10 (dez) Dias Úteis a partir do recebimento da notif icação mencionada;</a:t>
            </a:r>
          </a:p>
          <a:p>
            <a:r>
              <a:t>BTG Pactual SAC: 0800 772 28 27 - Ouvidoria: 0800 722 00 48 - btgpactual.com 19</a:t>
            </a:r>
          </a:p>
          <a:p>
            <a:r>
              <a:t>CNPJ 60010416000112 · Cross default e insolvência · Condição: Documentos atuais selecionados no inventário por categoria/escopo; a data documental isolada não comprova vigência jurídica.</a:t>
            </a:r>
          </a:p>
          <a:p>
            <a:r>
              <a:t>CNPJ 60010416000112 · Cross default e insolvência · Versão e prevalência: Documentos atuais selecionados no inventário por categoria/escopo; a data documental isolada não comprova vigência jurídica.</a:t>
            </a:r>
          </a:p>
          <a:p>
            <a:r>
              <a:t>CNPJ 60010416000112 · Cross default e insolvência · Resumo do histórico: {"count": 1, "dates": ["2025-03-20"], "document_count": 1, "sources": [{"document_id": "993786", "title": "Regulamento", "reference_date": "2025-03-20", "version": "1", "page": 21, "clause": "10.2", "url": "https://fnet.bmfbovespa.com.br/fnet/publico/visualizarDocumento?id=993786", "sha256": "fd0fdd369a195510d81f81f505195a0b09e5f43522a990afa7d58c4f872921c8"}], "reference": {"path": "history/60010416000112.json", "criterion_id": "cross_default", "total_count": 1, "preview_count": 1, "full_text_deferred": true, "sha256": "8e2bd813f4c51cf01f6bfaad164bafe69d2bbb192f753eac92da3a01c2e63046"}}</a:t>
            </a:r>
          </a:p>
          <a:p>
            <a:r>
              <a:t>CNPJ 62696791000193 · Cross default e insolvência · Motivo: Não localizada uma cláusula material para este critério nos textos identificados e processados. A ausência de resultado não comprova inexistência da regra.</a:t>
            </a:r>
          </a:p>
          <a:p>
            <a:r>
              <a:t>CNPJ 55563624000109 · Cross default e insolvência · Motivo: Não localizada uma cláusula material para este critério nos textos identificados e processados. A ausência de resultado não comprova inexistência da regra.</a:t>
            </a:r>
          </a:p>
          <a:p>
            <a:r>
              <a:t>CNPJ 62552447000120 · Cross default e insolvência · Regulamento · ID 1200623 · 2026-05-21 · versão 1 · p. 22 · 11.1 · https://fnet.bmfbovespa.com.br/fnet/publico/visualizarDocumento?id=1200623</a:t>
            </a:r>
          </a:p>
          <a:p>
            <a:r>
              <a:t>CNPJ 62552447000120 · Cross default e insolvência · Excerto da fonte:</a:t>
            </a:r>
          </a:p>
          <a:p>
            <a:r>
              <a:t>11.1 As seguintes hipóteses são consideradas eventos de avaliação (“Eventos de Avaliação”):</a:t>
            </a:r>
          </a:p>
          <a:p>
            <a:r>
              <a:t> (i) em caso de regime de administração especial temporária - RAET, intervenção ou liquidação  extrajudicial do Endossante, da instituição f inanceira prestadora dos serviços de agente de  conta vinculada à Classe (“Agente de Conta Vinculada”) e/ou do Agente de Retenção e  Cobrança;</a:t>
            </a:r>
          </a:p>
          <a:p>
            <a:r>
              <a:t> (ii) não cumprimento, pelo Endossante, de qualquer de suas obrigações estabelecidas nos  Contratos de Endosso, no Regulamento ou neste Anexo I, desde que esse não cumprimento  não seja devidamente sanado ou justificado dentro de 5 (cinco) Dias Úteis a partir do  recebimento, pelo Endossante, de notificação, por escrito, enviada pelo Administrador,  inf ormando-o da ocorrência do respectivo evento;</a:t>
            </a:r>
          </a:p>
          <a:p>
            <a:r>
              <a:t> (iii) não cumprimento, pelo Endossante e/ou pelo Agente de Retenção e Cobrança, de sua  obrigação de entregar os (a) arquivos eletrônicos disponibilizados mensalmente pela Dataprev  ao Endossante, contendo (1) as Consignações processadas pela Dataprev no respectivo mês,  identificando os Devedores e os valores que serão descontados de suas respectivas folhas de  pagamentos, bem como (2) a totalidade das operações pendentes de crédito consignado  concedidas pelo Endossante e indicando todos os Direitos Creditórios devi dos mediante  Consignação na próxima data de liquidação (“Arquivos Dataprev”) e/ou (b) os arquivos  eletrônicos disponibilizados mensalmente pela CEF ao Endossante, contendo os pagamentos  de Saque-aniversário processados pela CEF no respectivo mês devidos à Classe, identificando  os Devedores e os valores que serão descontados de seus respectivos Saques-aniversário  (“Arquivos de Liquidação Saque-aniversário”) ao Custodiante dentro do prazo estabelecido  neste Anexo I, desde que esse não cumprimento não seja dev idamente sanado ou justificado  dentro de 5 (cinco) Dias Úteis a partir do recebimento, pelo Endossante e/ou pelo Agente de  Retenção e Cobrança, de notificação, por escrito, enviada pelo Custodiante, inf ormando-o da  ocorrência do respectivo evento;</a:t>
            </a:r>
          </a:p>
          <a:p>
            <a:r>
              <a:t> (iv) não cumprimento, pelo Endossante e/ou pelo Agente de Retenção e Cobrança, de qualquer de  suas obrigações de entregar ao Gestor, ou a terceiros por ele indicados, os Documentos  Comprobatórios e Documentos Suporte relativos aos Direitos Creditórios que tenham sido  endossados à Classe, dentro do prazo estabelecido neste Anexo I, desde que esse não  cumprimento não seja devidamente sanado ou justificado dentro de 5 (cinco) Dias Úteis a partir  do recebimento, pelo Endossante e/ou pelo Agente de Retenção e Cobrança, de notificação,  por escrito, enviada pelo Custodiante, inf ormando- o da ocorrência do respectivo evento;</a:t>
            </a:r>
          </a:p>
          <a:p>
            <a:r>
              <a:t> (v) não cumprimento, pelo Agente de Retenção e Cobrança, de qualquer de suas obrigações  estabelecidas nos Contratos de Endosso, no Regulamento, neste Anexo I ou nos Contratos de  Retenção/Cobrança, desde que esse não cumprimento não seja devidamente sanado ou</a:t>
            </a:r>
          </a:p>
          <a:p>
            <a:r>
              <a:t>CNPJ 62552447000120 · Cross default e insolvência · Condição: Documentos atuais selecionados no inventário por categoria/escopo; a data documental isolada não comprova vigência jurídica.</a:t>
            </a:r>
          </a:p>
          <a:p>
            <a:r>
              <a:t>CNPJ 62552447000120 · Cross default e insolvência · Versão e prevalência: Documentos atuais selecionados no inventário por categoria/escopo; a data documental isolada não comprova vigência jurídica.</a:t>
            </a:r>
          </a:p>
          <a:p>
            <a:r>
              <a:t>CNPJ 63953620000165 · Cross default e insolvência · Anexo ao Regulamento · ID 1222863 · 2026-06-02 · versão 1 · p. 14 · 11.1 · https://fnet.bmfbovespa.com.br/fnet/publico/visualizarDocumento?id=1222863</a:t>
            </a:r>
          </a:p>
          <a:p>
            <a:r>
              <a:t>CNPJ 63953620000165 · Cross default e insolvência · Excerto da fonte:</a:t>
            </a:r>
          </a:p>
          <a:p>
            <a:r>
              <a:t>11.1 As seguintes hipóteses são consideradas eventos de avaliação (“Eventos de Avaliação”):</a:t>
            </a:r>
          </a:p>
          <a:p>
            <a:r>
              <a:t> (i) em caso de regime de administração especial temporária - RAET, intervenção ou liquidação extrajudicial  do Endossante;</a:t>
            </a:r>
          </a:p>
          <a:p>
            <a:r>
              <a:t> (ii) em caso de desenquadramento do Índice de Subordinação por 10 (dez) dias úteis consecutivos;</a:t>
            </a:r>
          </a:p>
          <a:p>
            <a:r>
              <a:t> (iii) não cumprimento, pelo Endossante, de qualquer de suas obrigações estabelecidas no Contrato de  Endosso ou neste Anexo I, desde que esse não cumprimento não seja devidamente sanado ou justificado  dentro de 10 (dez) Dias Úteis a partir do recebimento, pelo Endossante, de notificação, por escrito,  enviada pelo Administrador, informando-o da ocorrência do respectivo evento;</a:t>
            </a:r>
          </a:p>
          <a:p>
            <a:r>
              <a:t> (iv) não cumprimento, pelo Endossante, de sua obrigação de entregar os Arquivos Dataprev ao Gestor e ao  Custodiante dentro do prazo estabelecido neste Anexo, desde que esse não cumprimento não seja  devidamente sanado ou justificado dentro de 02 (dois) Dias Úteis a partir do recebimento, pelo  Endossante, de notificação, por escrito, enviada pelo Gestor, informando-o da ocorrência do respectivo  evento;</a:t>
            </a:r>
          </a:p>
          <a:p>
            <a:r>
              <a:t> (v) não cumprimento, pelo Endossante, de qualquer de suas obrigações de entregar ao Gestor e/o ao  Custodiante, ou a terceiros por ele indicados, os Documentos Comprobatórios e Documentos Suporte  relativos aos Direitos Creditórios que tenham sido endossados à Classe, dentro do prazo estabelecido  neste Anexo I, desde que esse não cumprimento não seja devidamente sanado ou justificado dentro de  02 (dois) Dias Úteis a partir do recebimento, pelo Endossante, de notificação, por escrito, enviada pelo  Gestor e/ou Custodiante, informando- o da ocorrência do respectivo evento;</a:t>
            </a:r>
          </a:p>
          <a:p>
            <a:r>
              <a:t> (vi) não cumprimento, pelo Agente de Retenção/Cobrança, de qualquer de suas obrigações estabelecidas  no Contrato de Endosso, neste Regulamento ou no Contrato de Serviços MT, desde que esse não  cumprimento não seja devidamente sanado ou justificado dentro de 10 (dez) Dias Úteis a partir do  recebimento, pelo Agente de Retenção/Cobrança, de notificação, por escrito, enviada pelo Gestor,  informando-o da ocorrência do respectivo evento;</a:t>
            </a:r>
          </a:p>
          <a:p>
            <a:r>
              <a:t>CNPJ 63953620000165 · Cross default e insolvência · Condição: Documentos atuais selecionados no inventário por categoria/escopo; a data documental isolada não comprova vigência jurídica.</a:t>
            </a:r>
          </a:p>
          <a:p>
            <a:r>
              <a:t>CNPJ 63953620000165 · Cross default e insolvência · Versão e prevalência: Documentos atuais selecionados no inventário por categoria/escopo; a data documental isolada não comprova vigência jurídica.</a:t>
            </a:r>
          </a:p>
          <a:p>
            <a:r>
              <a:t>CNPJ 54871427000194 · Gatilhos de avaliação e liquidação · Regulamento · ID 670691 · 2024-04-28 · versão 1 · p. 17 · 10.2 · https://fnet.bmfbovespa.com.br/fnet/publico/visualizarDocumento?id=670691</a:t>
            </a:r>
          </a:p>
          <a:p>
            <a:r>
              <a:t>CNPJ 54871427000194 · Gatilhos de avaliação e liquidação · Excerto da fonte:</a:t>
            </a:r>
          </a:p>
          <a:p>
            <a:r>
              <a:t>10.2 A Assembleia Especial de Cotistas é responsável por deliberar sobre as matérias específicas da Classe  de Cotas, sem prejuízo das demais disposições previstas na regulamentação aplicável, incluindo, mas  não se limitando a:</a:t>
            </a:r>
          </a:p>
          <a:p>
            <a:r>
              <a:t> (i) deliberar sobre as demonstrações contábeis da Classe;</a:t>
            </a:r>
          </a:p>
          <a:p>
            <a:r>
              <a:t> (ii) deliberar sobre substituição de Prestadores de Serviços Essenciais, observado o disposto no  art. 70, §1º da parte geral da Resolução CVM 175;</a:t>
            </a:r>
          </a:p>
          <a:p>
            <a:r>
              <a:t> (iii) deliberar sobre elevação da Taxa de Administração, inclusive na hipótese de restabelecimento  de taxa que tenha sido objeto de redução;</a:t>
            </a:r>
          </a:p>
          <a:p>
            <a:r>
              <a:t> (iv) deliberar sobre incorporação, f usão, cisão total ou parcial, a transf ormação ou liquidação da  Classe;</a:t>
            </a:r>
          </a:p>
          <a:p>
            <a:r>
              <a:t> (v) alterações das características, vantagens, direitos e obrigações das Cotas;</a:t>
            </a:r>
          </a:p>
          <a:p>
            <a:r>
              <a:t> (vi) alterar critérios e procedimentos para Amortização e/ou resgate de Cotas mediante dação em  pagamento de Direitos Creditórios;</a:t>
            </a:r>
          </a:p>
          <a:p>
            <a:r>
              <a:t> (vii) aprovar a contratação de Agente de Cobrança dos Direitos Creditórios;</a:t>
            </a:r>
          </a:p>
          <a:p>
            <a:r>
              <a:t> (viii) aprovar emissão de novas Cotas da Classe;</a:t>
            </a:r>
          </a:p>
          <a:p>
            <a:r>
              <a:t> (ix) deliberar sobre a eventual necessidade de aportes adicionais de recursos na Classe pelos  Cotistas;</a:t>
            </a:r>
          </a:p>
          <a:p>
            <a:r>
              <a:t> (x) alterações na Política de Investimentos;</a:t>
            </a:r>
          </a:p>
          <a:p>
            <a:r>
              <a:t> (xi) alterações nos Critérios de Elegibilidade;</a:t>
            </a:r>
          </a:p>
          <a:p>
            <a:r>
              <a:t> (xii) alteração dos Eventos de Avaliação, dos Eventos de Liquidação e/ou das consequências deles  decorrentes em f unção do previsto neste Regulamento;</a:t>
            </a:r>
          </a:p>
          <a:p>
            <a:r>
              <a:t> (xiii) plano de resolução do Patrimônio Líquido negativo da Classe, nos termos da Resolução CVM  175; e</a:t>
            </a:r>
          </a:p>
          <a:p>
            <a:r>
              <a:t> (xiv) pedido de declaração judicial de insolvência da Classe.</a:t>
            </a:r>
          </a:p>
          <a:p>
            <a:r>
              <a:t>CAPÍTULO 11 – EVENTOS DE AVALIAÇÃO, EVENTOS DE LIQUIDAÇÃO, E PROCEDIMENTOS DE LIQUIDAÇÃO ANTECIPADA Eventos de Avaliação</a:t>
            </a:r>
          </a:p>
          <a:p>
            <a:r>
              <a:t>CNPJ 54871427000194 · Gatilhos de avaliação e liquidação · Regulamento · ID 670691 · 2024-04-28 · versão 1 · p. 19 · 11.2 · https://fnet.bmfbovespa.com.br/fnet/publico/visualizarDocumento?id=670691</a:t>
            </a:r>
          </a:p>
          <a:p>
            <a:r>
              <a:t>CNPJ 54871427000194 · Gatilhos de avaliação e liquidação · Excerto da fonte:</a:t>
            </a:r>
          </a:p>
          <a:p>
            <a:r>
              <a:t>11.2 Os seguintes eventos obrigarão o ADMINISTRADOR a verificar se o Patrimônio Líquido da Classe está  negativo:</a:t>
            </a:r>
          </a:p>
          <a:p>
            <a:r>
              <a:t> (i) qualquer pedido de declaração judicial de insolvência da Classe; e</a:t>
            </a:r>
          </a:p>
          <a:p>
            <a:r>
              <a:t> (ii) na ocorrência de quaisquer dos Eventos de Avaliação e/ou Eventos de Liquidação .</a:t>
            </a:r>
          </a:p>
          <a:p>
            <a:r>
              <a:t>Eventos de Liquidação</a:t>
            </a:r>
          </a:p>
          <a:p>
            <a:r>
              <a:t>CNPJ 54871427000194 · Gatilhos de avaliação e liquidação · Condição: Documentos atuais selecionados no inventário por categoria/escopo; a data documental isolada não comprova vigência jurídica.</a:t>
            </a:r>
          </a:p>
          <a:p>
            <a:r>
              <a:t>CNPJ 54871427000194 · Gatilhos de avaliação e liquidação · Versão e prevalência: Documentos atuais selecionados no inventário por categoria/escopo; a data documental isolada não comprova vigência jurídica.</a:t>
            </a:r>
          </a:p>
          <a:p>
            <a:r>
              <a:t>CNPJ 54871427000194 · Gatilhos de avaliação e liquidação · Resumo do histórico: {"count": 2, "dates": ["2024-04-19", "2024-04-28"], "document_count": 2, "sources": [{"document_id": "670691", "title": "Regulamento", "reference_date": "2024-04-28", "version": "1", "page": "17-20", "url": "https://fnet.bmfbovespa.com.br/fnet/publico/visualizarDocumento?id=670691", "sha256": "bf16dd7f1a62d5cdbf2e2d54fef81783783f7310fbc99c3a8f00459bdf9d037b"}, {"document_id": "670689", "title": "Regulamento", "reference_date": "2024-04-19", "version": "1", "page": 17, "clause": "10.2", "url": "https://fnet.bmfbovespa.com.br/fnet/publico/visualizarDocumento?id=670689", "sha256": "891bc9bc5d87bbc02ec139077a84d2702eb81ea02035fb71d24f5b8366b94a0b"}], "reference": {"path": "history/54871427000194.json", "criterion_id": "legacy_events", "total_count": 2, "preview_count": 2, "full_text_deferred": true, "sha256": "35d7cd99be50c7287c9fb675cf4f2e736002315295a225a9efa79c8d9186d874"}}</a:t>
            </a:r>
          </a:p>
          <a:p>
            <a:r>
              <a:t>CNPJ 60010416000112 · Gatilhos de avaliação e liquidação · Regulamento · ID 1051393 · 2025-10-09 · versão 1 · p. 21 · 10.2 · https://fnet.bmfbovespa.com.br/fnet/publico/visualizarDocumento?id=1051393</a:t>
            </a:r>
          </a:p>
          <a:p>
            <a:r>
              <a:t>CNPJ 60010416000112 · Gatilhos de avaliação e liquidação · Excerto da fonte:</a:t>
            </a:r>
          </a:p>
          <a:p>
            <a:r>
              <a:t>10.2 Os seguintes eventos obrigarão o Administrador a verif icar se o Patrimônio Líquido da Classe está  negativo:</a:t>
            </a:r>
          </a:p>
          <a:p>
            <a:r>
              <a:t> (i) qualquer pedido de declaração judicial de insolvência da Classe;</a:t>
            </a:r>
          </a:p>
          <a:p>
            <a:r>
              <a:t> (ii) identificação de indícios de f raudes envolvendo o lastro de Direitos Creditórios que representem, no  mínimo 0,5 (cinco décimos por cento) do Patrimônio Líquido da Classe;</a:t>
            </a:r>
          </a:p>
          <a:p>
            <a:r>
              <a:t> (iii) inadimplência de obrigações financeiras de devedor e/ou emissor de ativos detidos pela Classe que  representem mais de 25% (vinte e cinco por cento)de seu Patrimônio Líquido;</a:t>
            </a:r>
          </a:p>
          <a:p>
            <a:r>
              <a:t> (iv) pedido de recuperação extrajudicial, de recuperação judicial, ou de falência de Devedor e/ou emissor  de ativos detidos pela Classe;</a:t>
            </a:r>
          </a:p>
          <a:p>
            <a:r>
              <a:t> (v) condenação da Classe de natureza judicial e/ou arbitral e/ou administrativa e/ou outras similares ao  pagamento de mais de 20% (vinte por cento) de seu Patrimônio Líquido; e</a:t>
            </a:r>
          </a:p>
          <a:p>
            <a:r>
              <a:t> (vi) caso caracterizado quaisquer dos Eventos de Liquidação.</a:t>
            </a:r>
          </a:p>
          <a:p>
            <a:r>
              <a:t>Eventos de Liquidação</a:t>
            </a:r>
          </a:p>
          <a:p>
            <a:r>
              <a:t>CNPJ 60010416000112 · Gatilhos de avaliação e liquidação · Regulamento · ID 1051393 · 2025-10-09 · versão 1 · p. 21 · 10.3 · https://fnet.bmfbovespa.com.br/fnet/publico/visualizarDocumento?id=1051393</a:t>
            </a:r>
          </a:p>
          <a:p>
            <a:r>
              <a:t>CNPJ 60010416000112 · Gatilhos de avaliação e liquidação · Excerto da fonte:</a:t>
            </a:r>
          </a:p>
          <a:p>
            <a:r>
              <a:t>10.3 As seguintes hipóteses são consideradas Eventos de Liquidação:</a:t>
            </a:r>
          </a:p>
          <a:p>
            <a:r>
              <a:t> (i) caso seja deliberado em Assembleia de Cotistas que um Evento de Avaliação constitui um Evento de  Liquidação;</a:t>
            </a:r>
          </a:p>
          <a:p>
            <a:r>
              <a:t> (ii) na hipótese de resilição do Contrato de Custódia ou renúncia do Custodiante, sem que tenha havido  sua substituição por outra instituição, de acordo com os procedimentos estabelecidos neste  Regulamento;</a:t>
            </a:r>
          </a:p>
          <a:p>
            <a:r>
              <a:t> (iii) renúncia do Administrador sem que a Assembleia Especial de Cotistas eficazmente nomeie instituição  habilitada para substituí-lo, nos termos estabelecidos neste Regulamento;</a:t>
            </a:r>
          </a:p>
          <a:p>
            <a:r>
              <a:t> (iv) por determinação da CVM, em caso de violação de normas legais ou regulamentares;</a:t>
            </a:r>
          </a:p>
          <a:p>
            <a:r>
              <a:t> (v) sempre que assim decidido pelos Cotistas em Assembleia Especial de Cotistas especialmente  convocada para tal f im;</a:t>
            </a:r>
          </a:p>
          <a:p>
            <a:r>
              <a:t> (vi) em caso de regime de administração especial temporária - RAET, intervenção ou liquidação  extrajudicial, conforme aplicável, do Custodiante, Administrador, ou Gestor, sem a sua ef etiva  substituição nos termos deste Regulamento;</a:t>
            </a:r>
          </a:p>
          <a:p>
            <a:r>
              <a:t> (vii) se, após 90 (noventa) dias do início das atividades do Fundo, o Patrimônio Líquido diário inf erior da  Classe f or inf erior a R$ 1.000.000,00 (um milhão de reais) pelo período de 90 (noventa) dias  consecutivos;</a:t>
            </a:r>
          </a:p>
          <a:p>
            <a:r>
              <a:t> (viii) impossibilidade da Classe adquirir Direitos Creditórios admitidos por sua política de investimento.</a:t>
            </a:r>
          </a:p>
          <a:p>
            <a:r>
              <a:t>Procedimentos de Liquidação Antecipada</a:t>
            </a:r>
          </a:p>
          <a:p>
            <a:r>
              <a:t>CNPJ 60010416000112 · Gatilhos de avaliação e liquidação · Regulamento · ID 1051393 · 2025-10-09 · versão 1 · p. 38 · https://fnet.bmfbovespa.com.br/fnet/publico/visualizarDocumento?id=1051393</a:t>
            </a:r>
          </a:p>
          <a:p>
            <a:r>
              <a:t>CNPJ 60010416000112 · Gatilhos de avaliação e liquidação · Excerto da fonte:</a:t>
            </a:r>
          </a:p>
          <a:p>
            <a:r>
              <a:t>Anexo I ao Regulamento CLASSE ÚNICA DO MT I CONSIGNADO PRIVADO I FUNDO DE INVESTIMENTO EM DIREITOS CREDITÓRIOS RESPONSABILIDADE LIMITADA  deixar de produzir os efeitos pretendidos, bem como causar perdas para o Cotista e colocar  em risco o patrimônio da Classe</a:t>
            </a:r>
          </a:p>
          <a:p>
            <a:r>
              <a:t> (iii) Risco decorrente da amortização das Cotas: conforme previsto neste Anexo I, as Cotas  poderão ser amortizadas conf orme deliberado pela em Assembleia de Cotistas.</a:t>
            </a:r>
          </a:p>
          <a:p>
            <a:r>
              <a:t> Considerando que a realização da amortização dependerá do caixa existente na Classe, é  possível que, se essa condição não seja verif icada, a Classe não poderá ef etuar as  amortizações das Cotas conforme deliberadas pelos Cotistas. A Classe, o Administrador, o  Custodiante, o Gestor, o Agente de Retenção/Cobrança, o Coordenador Líder ou o  Endossante não terão direito a nenhuma multa ou penalidade, por qualquer motivo, devido a  esse f ato.</a:t>
            </a:r>
          </a:p>
          <a:p>
            <a:r>
              <a:t> (iv) Risco de invalidade ou ineficácia do endosso: o endosso dos Direitos Creditórios à Classe  poderá ser invalidada ou considerada ineficaz, o que impacta negativamente o patrimônio da  Classe, no caso de (a) fraude contra credores, se no momento do endosso o Endossante for  insolvente ou se ele vier a se tornar insolvente; (b) fraude à execução, se (1) no momento do  endosso o Endossante f or réu em um processo judicial capaz de torná-lo insolvente; ou (2)  os Direitos Creditórios endossados à Classe estiverem sujeitos a qualquer demanda judicial  baseada em garantia real; e (c) f raude à execução f iscal, se o Endossante, ao celebrar o  endosso de crédito, como contribuinte por débito à Fazenda Pública, e crédito f iscal  regularmente inscrito na dívida ativa, não tiver ativos para pagamento total da dívida f iscal.</a:t>
            </a:r>
          </a:p>
          <a:p>
            <a:r>
              <a:t> Entretanto, o Administrador, o Custodiante, o Gestor e o Agente de Retenção/ Cobrança não  verif icarão os eventos acima no endosso de Direito Creditório e não serão responsabilizados  em caso de invalidação ou inef icácia do endosso de um Direito Creditório à Classe.</a:t>
            </a:r>
          </a:p>
          <a:p>
            <a:r>
              <a:t> (v) Risco de impugnação judicial: a CCB poderá ser impugnada judicialmente tanto no que diz  respeito à sua f ormalização quanto às taxas aplicadas e à f orma de cobrança da CCB,  inclusive em virtude das disposições estabelecidas na Lei nº 8.078, de 11 de setembro de  1990, conf orme alterada (Código de Def esa do Consumidor), tais como uma possível  impugnação de cláusula abusiva, bem como qualquer vício nos Documentos Comprobatórios  ou Documentos Suporte que impeçam a exigibilidade do crédito (ausência de assinaturas ou  f alta de prova de f ormalização regular do instrumento, representação ilegítima, dentre  outros). Nesses casos, a CCB poderá ser modificada ou cancelada em virtude de decisão  judicial, o que poderá acarretar perdas para a Classe e, consequentemente, af etar  negativamente a rentabilidade de seu patrimônio.</a:t>
            </a:r>
          </a:p>
          <a:p>
            <a:r>
              <a:t> (vi) Risco de restrições de natureza legal ou regulamentar: a Classe pode estar sujeito a  riscos, além do controle do Administrador, decorrentes de quaisquer restrições f uturas de  natureza legal e/ou regulamentar que venham a af etar a validade da constituição e/ou o  endosso dos Direitos Creditórios à Classe. Caso essas restrições ocorram, o f luxo de  cessões de Direitos Creditórios à Classe pode ser interrompido e, portanto, pode  comprometer a continuidade da Classe e a perspectiva de investimento do Cotista. Além  disso, os Direitos Creditórios que já estão na Carteira podem ter sua validade questionada,  o que pode causar, portanto, prejuízos ao Cotista.</a:t>
            </a:r>
          </a:p>
          <a:p>
            <a:r>
              <a:t> (vii) Risco de não obter um tratamento fiscal mais benéfico: o Gestor deverá envidar seus  melhores esforços para que o tratamento f iscal aplicável às classes de longo prazo seja  aplicado à Classe e ao Cotista. Entretanto, em virtude de eventos fora do controle do Gestor,  incluindo, mas não se limitando aos eventos de liquidação antecipada da Classe  estabelecidos neste Anexo I, é possível que a Classe e o Cotista não desfrutem de tratamento  f iscal mais benéf ico, atribuído às classes de longo prazo. Essa situação pode levar a um  impacto adverso na rentabilidade líquida decorrente do investimento nas Cotas.</a:t>
            </a:r>
          </a:p>
          <a:p>
            <a:r>
              <a:t> (viii) Risco de bloqueio da Conta de Cobrança da Classe ou da Conta de Movimentação da  Classe: os recursos provenientes da Classe serão direcionados para a Conta de Cobrança BTG Pactual SAC: 0800 772 28 27 - Ouvidoria: 0800 722 00 48 - btgpactual.com 38</a:t>
            </a:r>
          </a:p>
          <a:p>
            <a:r>
              <a:t>CNPJ 60010416000112 · Gatilhos de avaliação e liquidação · Condição: Documentos atuais selecionados no inventário por categoria/escopo; a data documental isolada não comprova vigência jurídica.</a:t>
            </a:r>
          </a:p>
          <a:p>
            <a:r>
              <a:t>CNPJ 60010416000112 · Gatilhos de avaliação e liquidação · Versão e prevalência: Documentos atuais selecionados no inventário por categoria/escopo; a data documental isolada não comprova vigência jurídica.</a:t>
            </a:r>
          </a:p>
          <a:p>
            <a:r>
              <a:t>CNPJ 60010416000112 · Gatilhos de avaliação e liquidação · Resumo do histórico: {"count": 2, "dates": ["2025-03-20", "2025-10-09"], "document_count": 2, "sources": [{"document_id": "1051393", "title": "Regulamento", "reference_date": "2025-10-09", "version": "1", "page": "19-22", "url": "https://fnet.bmfbovespa.com.br/fnet/publico/visualizarDocumento?id=1051393", "sha256": "8469d613078ffd5a6c1d217885d8a397a16342c0b937ae4aa24b106505f233ae"}, {"document_id": "993786", "title": "Regulamento", "reference_date": "2025-03-20", "version": "1", "page": 21, "clause": "10.2", "url": "https://fnet.bmfbovespa.com.br/fnet/publico/visualizarDocumento?id=993786", "sha256": "fd0fdd369a195510d81f81f505195a0b09e5f43522a990afa7d58c4f872921c8"}], "reference": {"path": "history/60010416000112.json", "criterion_id": "legacy_events", "total_count": 2, "preview_count": 2, "full_text_deferred": true, "sha256": "8e2bd813f4c51cf01f6bfaad164bafe69d2bbb192f753eac92da3a01c2e63046"}}</a:t>
            </a:r>
          </a:p>
          <a:p>
            <a:r>
              <a:t>CNPJ 62696791000193 · Gatilhos de avaliação e liquidação · Regulamento · ID 1143317 · 2026-03-20 · versão 1 · p. 37 · 5.1 · https://fnet.bmfbovespa.com.br/fnet/publico/visualizarDocumento?id=1143317</a:t>
            </a:r>
          </a:p>
          <a:p>
            <a:r>
              <a:t>CNPJ 62696791000193 · Gatilhos de avaliação e liquidação · Excerto da fonte:</a:t>
            </a:r>
          </a:p>
          <a:p>
            <a:r>
              <a:t>5.1. Verif icado excesso de subordinação, ou seja, que a representatividade de Cotas Júnior em relação ao  Patrimônio Líquido da Classe é superior ao Índice de Subordinação (“Excesso de Subordinação”), desde  que assim seja deliberado por maioria dos votos de seus titulares e da maioria dos titulares de Cotas  Seniores, as Cotas Juniores poderão ser objeto de Amortização Extraordinária até o limite do respectivos  Excesso de Subordinação– ainda que tal Amortização Extraordinária ocorra antes do resgate integral das  Cotas Seniores– desde que: (i) seja observada a ordem de alocação de recursos definida no item 6.1  acima Anexo; (ii) não existam Obrigações da Classe vencidas e não pagas; (iii) não estejam em curso  quaisquer Eventos de Avaliação e/ou Eventos de Liquidação; (iv) existam suficientes Ativos Financeiros  e/ou recursos disponíveis; e (vii) permaneçam atendidas todos os Índices de Subordinação.</a:t>
            </a:r>
          </a:p>
          <a:p>
            <a:r>
              <a:t>6. Negociação das Cotas</a:t>
            </a:r>
          </a:p>
          <a:p>
            <a:r>
              <a:t>CNPJ 62696791000193 · Gatilhos de avaliação e liquidação · Condição: Documentos atuais selecionados no inventário por categoria/escopo; a data documental isolada não comprova vigência jurídica.</a:t>
            </a:r>
          </a:p>
          <a:p>
            <a:r>
              <a:t>CNPJ 62696791000193 · Gatilhos de avaliação e liquidação · Motivo: Cláusula primária localizada e citada, mas sua lista/condições extensas não admitem uma síntese literal curta confirmada. O trecho integral permanece nas fontes.</a:t>
            </a:r>
          </a:p>
          <a:p>
            <a:r>
              <a:t>CNPJ 62696791000193 · Gatilhos de avaliação e liquidação · Versão e prevalência: Documentos atuais selecionados no inventário por categoria/escopo; a data documental isolada não comprova vigência jurídica.</a:t>
            </a:r>
          </a:p>
          <a:p>
            <a:r>
              <a:t>CNPJ 55563624000109 · Gatilhos de avaliação e liquidação · Regulamento · ID 1192614 · 2026-04-30 · versão 1 · p. 21 · 11.2 · https://fnet.bmfbovespa.com.br/fnet/publico/visualizarDocumento?id=1192614</a:t>
            </a:r>
          </a:p>
          <a:p>
            <a:r>
              <a:t>CNPJ 55563624000109 · Gatilhos de avaliação e liquidação · Excerto da fonte:</a:t>
            </a:r>
          </a:p>
          <a:p>
            <a:r>
              <a:t>11.2 Os seguintes eventos obrigarão o ADMINISTRADOR a verificar se o Patrimônio Líquido da Classe está negativo  (“Eventos de Verificação do Patrimônio”):</a:t>
            </a:r>
          </a:p>
          <a:p>
            <a:r>
              <a:t> (i) qualquer pedido de declaração judicial de insolvência da Classe;</a:t>
            </a:r>
          </a:p>
          <a:p>
            <a:r>
              <a:t> (ii) qualquer pedido ou declaração judicial de insolvência da Classe Investida;</a:t>
            </a:r>
          </a:p>
          <a:p>
            <a:r>
              <a:t> (iii) identificação de indícios de fraudes envolvendo o lastro dos direitos creditórios da Classe Investida;</a:t>
            </a:r>
          </a:p>
          <a:p>
            <a:r>
              <a:t> (iv) condenação da Classe de natureza judicial e/ou arbitral e/ou administrativa e/ou outras similares ao  pagamento de mais de 20% (vinte por cento) de seu Patrimônio Líquido; e</a:t>
            </a:r>
          </a:p>
          <a:p>
            <a:r>
              <a:t> (v) caso caracterizado quaisquer dos Eventos de Avaliação e/ou Eventos de Liquidação.</a:t>
            </a:r>
          </a:p>
          <a:p>
            <a:r>
              <a:t> Eventos de Liquidação</a:t>
            </a:r>
          </a:p>
          <a:p>
            <a:r>
              <a:t>CNPJ 55563624000109 · Gatilhos de avaliação e liquidação · Regulamento · ID 1192614 · 2026-04-30 · versão 1 · p. 20 · https://fnet.bmfbovespa.com.br/fnet/publico/visualizarDocumento?id=1192614</a:t>
            </a:r>
          </a:p>
          <a:p>
            <a:r>
              <a:t>CNPJ 55563624000109 · Gatilhos de avaliação e liquidação · Excerto da fonte:</a:t>
            </a:r>
          </a:p>
          <a:p>
            <a:r>
              <a:t>(vi) alterar as características, vantagens, direitos e obrigações 90% (noventa por cento) do total das Cotas  das Cotas; emitidas</a:t>
            </a:r>
          </a:p>
          <a:p>
            <a:r>
              <a:t> (vii) alterar critérios e procedimentos para resgate de Cotas  mediante dação em pagamento de Cotas da Classe Maioria do total das Cotas emitidas  Investida;</a:t>
            </a:r>
          </a:p>
          <a:p>
            <a:r>
              <a:t> (viii) aprovar a emissão de novas Cotas fora do Capital  Maioria do total das Cotas emitidas  Autorizado;</a:t>
            </a:r>
          </a:p>
          <a:p>
            <a:r>
              <a:t> (ix) alterar a Política de Investimentos; 90% (noventa por cento) do total das Cotas  emitidas</a:t>
            </a:r>
          </a:p>
          <a:p>
            <a:r>
              <a:t> (x) alterar o Critério de Elegibilidade; 90% (noventa por cento) do total das Cotas  emitidas</a:t>
            </a:r>
          </a:p>
          <a:p>
            <a:r>
              <a:t> (xi) alterar os Eventos de Avaliação, os Eventos de Liquidação  90% (noventa por cento) do total das Cotas  e/ou das consequências deles decorrentes em função do  emitidas  previsto neste Anexo;</a:t>
            </a:r>
          </a:p>
          <a:p>
            <a:r>
              <a:t> (xii) deliberar sobre o plano de resolução do Patrimônio Líquido  Maioria do total das Cotas emitidas  negativo da Classe, nos termos da Resolução CVM 175; e</a:t>
            </a:r>
          </a:p>
          <a:p>
            <a:r>
              <a:t> (xiii) deliberar sobre o pedido de declaração judicial de 90% (noventa por cento) do total das Cotas  insolvência da Classe. emitidas</a:t>
            </a:r>
          </a:p>
          <a:p>
            <a:r>
              <a:t>CNPJ 55563624000109 · Gatilhos de avaliação e liquidação · Regulamento · ID 1192614 · 2026-04-30 · versão 1 · p. 2 · 1.3 · https://fnet.bmfbovespa.com.br/fnet/publico/visualizarDocumento?id=1192614</a:t>
            </a:r>
          </a:p>
          <a:p>
            <a:r>
              <a:t>CNPJ 55563624000109 · Gatilhos de avaliação e liquidação · Excerto da fonte:</a:t>
            </a:r>
          </a:p>
          <a:p>
            <a:r>
              <a:t>1.3 O Anexo dispõe, sem prejuízo de outros requisitos e informações previstos na regulamentação, sobre os  seguintes aspectos relacionados à Classe: (i) características gerais, incluindo a indicação dos demais prestadores  de serviços; (ii) responsabilidade dos cotistas e regime de insolvência; (iii) características, direitos, condições de  emissão, subscrição, integralização, amortização e resgate das Cotas; (iv) ordem de alocação de recursos; (v)  assembleia especial de cotistas e demais procedimentos aplicáveis às manifestações de vontade dos cotistas; (vi)  remuneração dos prestadores de serviços; (vii) política de investimento e composição e diversificação da  Carteira; (viii) eventos de avaliação, eventos de liquidação e procedimentos de liquidação antecipada da Classe;</a:t>
            </a:r>
          </a:p>
          <a:p>
            <a:r>
              <a:t> (ix) origem dos Direitos Creditórios; (x) Critério de Elegibilidade; (xi) custos referentes à defesa dos interesses da  Classe; e (xii) fatores de risco.</a:t>
            </a:r>
          </a:p>
          <a:p>
            <a:r>
              <a:t>CNPJ 55563624000109 · Gatilhos de avaliação e liquidação · Condição: Documentos atuais selecionados no inventário por categoria/escopo; a data documental isolada não comprova vigência jurídica.</a:t>
            </a:r>
          </a:p>
          <a:p>
            <a:r>
              <a:t>CNPJ 55563624000109 · Gatilhos de avaliação e liquidação · Versão e prevalência: Documentos atuais selecionados no inventário por categoria/escopo; a data documental isolada não comprova vigência jurídica.</a:t>
            </a:r>
          </a:p>
          <a:p>
            <a:r>
              <a:t>CNPJ 62552447000120 · Gatilhos de avaliação e liquidação · Regulamento · ID 1200623 · 2026-05-21 · versão 1 · p. 2 · 1.4 · https://fnet.bmfbovespa.com.br/fnet/publico/visualizarDocumento?id=1200623</a:t>
            </a:r>
          </a:p>
          <a:p>
            <a:r>
              <a:t>CNPJ 62552447000120 · Gatilhos de avaliação e liquidação · Excerto da fonte:</a:t>
            </a:r>
          </a:p>
          <a:p>
            <a:r>
              <a:t>1.4 O Anexo de cada classe de Cotas (“Classe”), conforme aplicável, dispõe, sem prejuízo de outros  requisitos e inf ormações previstos na regulamentação, sobre: (i) características gerais, incluindo a  indicação dos demais prestadores de serviços; (ii) responsabilidade dos Cotistas e regime de  insolvência; (iii) características, direitos, condições de emissão, subscrição, integralização,  Amortização e resgate das Cotas; (iv) ordem de alocação de recursos; (v) Assembleia Especial e  demais procedimentos aplicáveis às manifestações de vontade dos Cotistas; (vi) remuneração dos  prestadores de serviços; (vii) política de investimento e composição e diversificação da Carteira; (viii)  eventos de avaliação, eventos de liquidação e liquidação antecipada da Classe; (ix) origem dos direitos  creditórios; (x) critérios de elegibilidade; (xi) custos referentes à defesa dos interesses de cada Classe;</a:t>
            </a:r>
          </a:p>
          <a:p>
            <a:r>
              <a:t> e (xii) f atores de risco.</a:t>
            </a:r>
          </a:p>
          <a:p>
            <a:r>
              <a:t>CNPJ 62552447000120 · Gatilhos de avaliação e liquidação · Regulamento · ID 1200623 · 2026-05-21 · versão 1 · p. 21 · 10.2 · https://fnet.bmfbovespa.com.br/fnet/publico/visualizarDocumento?id=1200623</a:t>
            </a:r>
          </a:p>
          <a:p>
            <a:r>
              <a:t>CNPJ 62552447000120 · Gatilhos de avaliação e liquidação · Excerto da fonte:</a:t>
            </a:r>
          </a:p>
          <a:p>
            <a:r>
              <a:t>10.2 Os seguintes quóruns deverão ser observados pela Assembleia Especial ao deliberar as matérias  abaixo:</a:t>
            </a:r>
          </a:p>
          <a:p>
            <a:r>
              <a:t>(i) deliberar sobre substituição de Prestadores de Serviços Unanimidade dos Cotistas  Essenciais, observado o disposto no art. 70, §1º da Parte Geral  da Resolução CVM 175, quando aplicável;</a:t>
            </a:r>
          </a:p>
          <a:p>
            <a:r>
              <a:t>(ii) deliberar sobre elevação da Taxa Global, inclusive na Unanimidade dos Cotistas  hipótese de restabelecimento de taxa que tenha sido objeto de  redução;</a:t>
            </a:r>
          </a:p>
          <a:p>
            <a:r>
              <a:t>(iii) deliberar sobre incorporação, fusão, cisão total ou parcial, Unanimidade dos Cotistas  a transf ormação ou liquidação da Classe;</a:t>
            </a:r>
          </a:p>
          <a:p>
            <a:r>
              <a:t>(iv) deliberar sobre a prestação de f iança, aval, aceite ou Unanimidade dos Cotistas  qualquer outra f orma de retenção de risco;</a:t>
            </a:r>
          </a:p>
          <a:p>
            <a:r>
              <a:t>(v) alterações das características, vantagens, direitos e Unanimidade dos Cotistas  obrigações das Cotas;</a:t>
            </a:r>
          </a:p>
          <a:p>
            <a:r>
              <a:t>(vi) alterar critérios e procedimentos para Amortização Unanimidade dos Cotistas  mediante dação em pagamento de Direitos Creditórios;</a:t>
            </a:r>
          </a:p>
          <a:p>
            <a:r>
              <a:t>(vii) aprovar emissão de novas Cotas; Unanimidade dos Cotistas</a:t>
            </a:r>
          </a:p>
          <a:p>
            <a:r>
              <a:t>(viii) alterações na Política de Investimentos; Unanimidade dos Cotistas</a:t>
            </a:r>
          </a:p>
          <a:p>
            <a:r>
              <a:t>(ix) alterações nos Critérios de Elegibilidade e nas Condições Unanimidade dos Cotistas  de Endosso;</a:t>
            </a:r>
          </a:p>
          <a:p>
            <a:r>
              <a:t>(x) alteração dos Eventos de Avaliação, dos Eventos de Unanimidade dos Cotistas  Liquidação e/ou das consequências deles decorrentes em  f unção do previsto neste Regulamento;</a:t>
            </a:r>
          </a:p>
          <a:p>
            <a:r>
              <a:t>(xi) plano de resolução do Patrimônio Líquido negativo da Unanimidade dos Cotistas  Classe, nos termos da Resolução CVM 175; e</a:t>
            </a:r>
          </a:p>
          <a:p>
            <a:r>
              <a:t>(xii) pedido de declaração judicial de insolvência da Classe. Unanimidade dos Cotistas</a:t>
            </a:r>
          </a:p>
          <a:p>
            <a:r>
              <a:t>CNPJ 62552447000120 · Gatilhos de avaliação e liquidação · Regulamento · ID 1200623 · 2026-05-21 · versão 1 · p. 22 · 11.1 · https://fnet.bmfbovespa.com.br/fnet/publico/visualizarDocumento?id=1200623</a:t>
            </a:r>
          </a:p>
          <a:p>
            <a:r>
              <a:t>CNPJ 62552447000120 · Gatilhos de avaliação e liquidação · Excerto da fonte:</a:t>
            </a:r>
          </a:p>
          <a:p>
            <a:r>
              <a:t>11.1 As seguintes hipóteses são consideradas eventos de avaliação (“Eventos de Avaliação”):</a:t>
            </a:r>
          </a:p>
          <a:p>
            <a:r>
              <a:t> (i) em caso de regime de administração especial temporária - RAET, intervenção ou liquidação  extrajudicial do Endossante, da instituição f inanceira prestadora dos serviços de agente de  conta vinculada à Classe (“Agente de Conta Vinculada”) e/ou do Agente de Retenção e  Cobrança;</a:t>
            </a:r>
          </a:p>
          <a:p>
            <a:r>
              <a:t> (ii) não cumprimento, pelo Endossante, de qualquer de suas obrigações estabelecidas nos  Contratos de Endosso, no Regulamento ou neste Anexo I, desde que esse não cumprimento  não seja devidamente sanado ou justificado dentro de 5 (cinco) Dias Úteis a partir do  recebimento, pelo Endossante, de notificação, por escrito, enviada pelo Administrador,  inf ormando-o da ocorrência do respectivo evento;</a:t>
            </a:r>
          </a:p>
          <a:p>
            <a:r>
              <a:t> (iii) não cumprimento, pelo Endossante e/ou pelo Agente de Retenção e Cobrança, de sua  obrigação de entregar os (a) arquivos eletrônicos disponibilizados mensalmente pela Dataprev  ao Endossante, contendo (1) as Consignações processadas pela Dataprev no respectivo mês,  identificando os Devedores e os valores que serão descontados de suas respectivas folhas de  pagamentos, bem como (2) a totalidade das operações pendentes de crédito consignado  concedidas pelo Endossante e indicando todos os Direitos Creditórios devi dos mediante  Consignação na próxima data de liquidação (“Arquivos Dataprev”) e/ou (b) os arquivos  eletrônicos disponibilizados mensalmente pela CEF ao Endossante, contendo os pagamentos  de Saque-aniversário processados pela CEF no respectivo mês devidos à Classe, identificando  os Devedores e os valores que serão descontados de seus respectivos Saques-aniversário  (“Arquivos de Liquidação Saque-aniversário”) ao Custodiante dentro do prazo estabelecido  neste Anexo I, desde que esse não cumprimento não seja dev idamente sanado ou justificado  dentro de 5 (cinco) Dias Úteis a partir do recebimento, pelo Endossante e/ou pelo Agente de  Retenção e Cobrança, de notificação, por escrito, enviada pelo Custodiante, inf ormando-o da  ocorrência do respectivo evento;</a:t>
            </a:r>
          </a:p>
          <a:p>
            <a:r>
              <a:t> (iv) não cumprimento, pelo Endossante e/ou pelo Agente de Retenção e Cobrança, de qualquer de  suas obrigações de entregar ao Gestor, ou a terceiros por ele indicados, os Documentos  Comprobatórios e Documentos Suporte relativos aos Direitos Creditórios que tenham sido  endossados à Classe, dentro do prazo estabelecido neste Anexo I, desde que esse não  cumprimento não seja devidamente sanado ou justificado dentro de 5 (cinco) Dias Úteis a partir  do recebimento, pelo Endossante e/ou pelo Agente de Retenção e Cobrança, de notificação,  por escrito, enviada pelo Custodiante, inf ormando- o da ocorrência do respectivo evento;</a:t>
            </a:r>
          </a:p>
          <a:p>
            <a:r>
              <a:t> (v) não cumprimento, pelo Agente de Retenção e Cobrança, de qualquer de suas obrigações  estabelecidas nos Contratos de Endosso, no Regulamento, neste Anexo I ou nos Contratos de  Retenção/Cobrança, desde que esse não cumprimento não seja devidamente sanado ou</a:t>
            </a:r>
          </a:p>
          <a:p>
            <a:r>
              <a:t>CNPJ 62552447000120 · Gatilhos de avaliação e liquidação · Condição: Documentos atuais selecionados no inventário por categoria/escopo; a data documental isolada não comprova vigência jurídica.</a:t>
            </a:r>
          </a:p>
          <a:p>
            <a:r>
              <a:t>CNPJ 62552447000120 · Gatilhos de avaliação e liquidação · Versão e prevalência: Documentos atuais selecionados no inventário por categoria/escopo; a data documental isolada não comprova vigência jurídica.</a:t>
            </a:r>
          </a:p>
          <a:p>
            <a:r>
              <a:t>CNPJ 63953620000165 · Gatilhos de avaliação e liquidação · Anexo ao Regulamento · ID 1222863 · 2026-06-02 · versão 1 · p. 24 · 4.1 · https://fnet.bmfbovespa.com.br/fnet/publico/visualizarDocumento?id=1222863</a:t>
            </a:r>
          </a:p>
          <a:p>
            <a:r>
              <a:t>CNPJ 63953620000165 · Gatilhos de avaliação e liquidação · Excerto da fonte:</a:t>
            </a:r>
          </a:p>
          <a:p>
            <a:r>
              <a:t>4.1. Verificado que o Índice de Subordinação Alvo é atendido, ou seja, que a representatividade de Cotas Subordinadas  em relação ao Patrimônio Líquido da Classe é superior à 10,00% (dez por cento) (“Índice de Subordinação Alvo”), as  Cotas Subordinadas poderão ser objeto de Amortização Extraordinária até o limite excedente ao Índice de  Subordinação Alvo– ainda que tal Amortização Extraordinária ocorra antes do resgate integral das Cotas Seniores –  desde que: (i) seja observada a ordem de alocação de recursos definida no item 8.1 acima Anexo; (ii) não existam  Obrigações da Classe vencidas e não pagas; (iii) não estejam em curso quaisquer Eventos de Avaliação e/ou Eventos  de Liquidação; (iv) existam suficientes Ativos Financeiros e/ou recursos disponíveis; e (vii) permaneçam atendidas  todos os Índices de Subordinação.</a:t>
            </a:r>
          </a:p>
          <a:p>
            <a:r>
              <a:t> 5. Amortização e Resgate das Cotas Subordinadas</a:t>
            </a:r>
          </a:p>
          <a:p>
            <a:r>
              <a:t>CNPJ 63953620000165 · Gatilhos de avaliação e liquidação · Anexo ao Regulamento · ID 1222863 · 2026-06-02 · versão 1 · p. 13 · 10.2 · https://fnet.bmfbovespa.com.br/fnet/publico/visualizarDocumento?id=1222863</a:t>
            </a:r>
          </a:p>
          <a:p>
            <a:r>
              <a:t>CNPJ 63953620000165 · Gatilhos de avaliação e liquidação · Excerto da fonte:</a:t>
            </a:r>
          </a:p>
          <a:p>
            <a:r>
              <a:t>10.2 Os seguintes quóruns deverão ser observados pela Assembleia Especial de Cotistas ao deliberar as matérias  abaixo:</a:t>
            </a:r>
          </a:p>
          <a:p>
            <a:r>
              <a:t> Matéria Quórum</a:t>
            </a:r>
          </a:p>
          <a:p>
            <a:r>
              <a:t> (i) deliberar sobre as demonstrações contábeis da Classe; Maioria das Cotas presentes</a:t>
            </a:r>
          </a:p>
          <a:p>
            <a:r>
              <a:t> (ii) alterar o presente Anexo; Maioria das Cotas de cada Subclasse</a:t>
            </a:r>
          </a:p>
          <a:p>
            <a:r>
              <a:t> (iii) deliberar sobre substituição de Prestadores de Serviços Maioria das Cotas da Classe  Essenciais, observado o disposto no Artigo 70, §1º da parte geral da  Resolução CVM 175, quando aplicável;</a:t>
            </a:r>
          </a:p>
          <a:p>
            <a:r>
              <a:t> (iv) deliberar sobre elevação da Taxa de Administração e/ou Taxa de Maioria das Cotas da de cada  Gestão, inclusive na hipótese de restabelecimento de taxa que tenha Subclasse  sido objeto de redução;</a:t>
            </a:r>
          </a:p>
          <a:p>
            <a:r>
              <a:t> (v) deliberar sobre incorporação, fusão, cisão total ou parcial, a Maioria das Cotas de cada Subclasse  transformação ou liquidação da Classe;</a:t>
            </a:r>
          </a:p>
          <a:p>
            <a:r>
              <a:t> (vi) alterações das características, vantagens, direitos e obrigações Maioria das Cotas Subscritas da  das Cotas; Classe observado o disposto nos  itens 10.5 a 10.8 abaixo</a:t>
            </a:r>
          </a:p>
          <a:p>
            <a:r>
              <a:t> (vii) alterar critérios e procedimentos para Amortização mediante Maioria das Cotas Subscritas da  dação em pagamento de Direitos Creditórios; Classe</a:t>
            </a:r>
          </a:p>
          <a:p>
            <a:r>
              <a:t> (viii) aprovar emissão de novas Cotas da Classe; Maioria das Cotas de cada Subclasse</a:t>
            </a:r>
          </a:p>
          <a:p>
            <a:r>
              <a:t> (ix) alterações na Política de Investimentos; Maioria das Cotas de cada Subclasse</a:t>
            </a:r>
          </a:p>
          <a:p>
            <a:r>
              <a:t> (x) alterações nos Critérios de Elegibilidade e nas Condições de Maioria das Cotas de cada Subclasse  Cessão;</a:t>
            </a:r>
          </a:p>
          <a:p>
            <a:r>
              <a:t> (xi) celebração e alteração de Contrato de Promessa de Endosso Maioria das Cotas de cada Subclasse  e/ou do Contrato de Retenção e Cobrança;</a:t>
            </a:r>
          </a:p>
          <a:p>
            <a:r>
              <a:t> (xii) alteração do Contrato de Conta Vinculada; Maioria das Cotas de cada Subclasse</a:t>
            </a:r>
          </a:p>
          <a:p>
            <a:r>
              <a:t> (xiii) alteração dos Eventos de Avaliação, dos Eventos de Liquidação Maioria das Cotas de cada Subclasse  e/ou das consequências deles decorrentes em função do previsto  neste Regulamento;</a:t>
            </a:r>
          </a:p>
          <a:p>
            <a:r>
              <a:t> (xiv) se um Evento de Avaliação constitui um Evento de Liquidação; Maioria das Cotas presentes</a:t>
            </a:r>
          </a:p>
          <a:p>
            <a:r>
              <a:t> (xv) plano de resolução do Patrimônio Líquido negativo da Classe, Maioria das Cotas presentes  nos termos da Resolução CVM 175; e</a:t>
            </a:r>
          </a:p>
          <a:p>
            <a:r>
              <a:t> (xvi) pedido de declaração judicial de insolvência da Classe. Maioria das Cotas presentes</a:t>
            </a:r>
          </a:p>
          <a:p>
            <a:r>
              <a:t> (xvii) alterações na disciplina, critérios de constituição, manutenção Maioria das Cotas de cada Subclasse  ou utilização da Reserva de Caixa, bem como deliberação acerca da</a:t>
            </a:r>
          </a:p>
          <a:p>
            <a:r>
              <a:t>CNPJ 63953620000165 · Gatilhos de avaliação e liquidação · Anexo ao Regulamento · ID 1222863 · 2026-06-02 · versão 1 · p. 14 · 10.8 · https://fnet.bmfbovespa.com.br/fnet/publico/visualizarDocumento?id=1222863</a:t>
            </a:r>
          </a:p>
          <a:p>
            <a:r>
              <a:t>CNPJ 63953620000165 · Gatilhos de avaliação e liquidação · Excerto da fonte:</a:t>
            </a:r>
          </a:p>
          <a:p>
            <a:r>
              <a:t>10.8 As deliberações que tenham por objeto o aumento do Índice de Subordinação Sênior apenas serão aprovadas se  assim deliberado: (i) pelos votos dos titulares da maioria das Cotas em circulação de cada uma das Séries de  Cotas Seniores; e (ii) pelo votos dos titulares da maioria Cotas Subordinadas em circulação.</a:t>
            </a:r>
          </a:p>
          <a:p>
            <a:r>
              <a:t> CAPÍTULO 11 – EVENTOS DE AVALIAÇÃO, EVENTOS DE LIQUIDAÇÃO, E PROCEDIMENTOS DE LIQUIDAÇÃO  Eventos de Avaliação</a:t>
            </a:r>
          </a:p>
          <a:p>
            <a:r>
              <a:t>CNPJ 63953620000165 · Gatilhos de avaliação e liquidação · Condição: Documentos atuais selecionados no inventário por categoria/escopo; a data documental isolada não comprova vigência jurídica.</a:t>
            </a:r>
          </a:p>
          <a:p>
            <a:r>
              <a:t>CNPJ 63953620000165 · Gatilhos de avaliação e liquidação · Versão e prevalência: Documentos atuais selecionados no inventário por categoria/escopo; a data documental isolada não comprova vigência jurídica.</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Eventos e cura</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Eventos de avaliação · Regulamento · ID 670691 · 28/04/2024 · versão Regulamento — referência 28/04/2024 · p. 17 · Anexo I, 11.1(i) · https://fnet.bmfbovespa.com.br/fnet/publico/visualizarDocumento?id=670691</a:t>
            </a:r>
          </a:p>
          <a:p>
            <a:r>
              <a:t>CNPJ 54871427000194 · Eventos de avaliação · Excerto da fonte:</a:t>
            </a:r>
          </a:p>
          <a:p>
            <a:r>
              <a:t>11.1 As seguintes hipóteses são consideradas Eventos de Avaliação: (i) em caso de regime de administração especial temporária – RAET, intervenção ou liquidação extrajudicial do Endossante ou do Agente de Garantias; BTG Pactual SAC: 0800 772 28 27 - Ouvidoria: 0800 722 00 48 - btgpactual.com 11</a:t>
            </a:r>
          </a:p>
          <a:p>
            <a:r>
              <a:t>CNPJ 54871427000194 · Eventos de avaliação · Regulamento · ID 670691 · 28/04/2024 · versão Regulamento — referência 28/04/2024 · p. 18 · Anexo I, 11.1(ii)–(viii) · https://fnet.bmfbovespa.com.br/fnet/publico/visualizarDocumento?id=670691</a:t>
            </a:r>
          </a:p>
          <a:p>
            <a:r>
              <a:t>CNPJ 54871427000194 · Eventos de avaliação · Excerto da fonte:</a:t>
            </a:r>
          </a:p>
          <a:p>
            <a:r>
              <a:t>(ii) não cumprimento, por qualquer dos Endossantes, de qualquer de suas obrigações estabelecidas em cada Contrato de Endosso ou neste Regulamento e Anexo, desde que esse não cumprimento não seja devidamente sanado ou justificado dentro de 10 (dez) Dias Úteis a partir do recebimento, pelo Endossante, de notificação, por escrito, enviada pelo Administrador, inf ormando-o da ocorrência do respectivo evento; (iii) não cumprimento, por qualquer dos Endossantes, de suas obrigações de entregar o Arquivo de Liquidação Antecipada e o Arquivo de Posição das CCBs ao CUSTODIANTE dentro do prazo estabelecido neste Regulamento, desde que esse não cumprimento não seja devidamente sanado ou justificado dentro dos prazos acordados no respectivo Contrato de Endosso, a partir do recebimento, pelos Endossantes, de notificação, por escrito, enviada pelo CUSTODIANTE, inf ormando-o da ocorrência do respectivo evento; (iv) não cumprimento, por qualquer dos Endossantes, de qualquer de suas obrigações de entregar ao CUSTODIANTE, ou a terceiros por ele indicados, os Documentos Comprobatórios relativos</a:t>
            </a:r>
          </a:p>
          <a:p>
            <a:r>
              <a:t>CNPJ 54871427000194 · Eventos de avaliação · Regulamento · ID 670691 · 28/04/2024 · versão Regulamento — referência 28/04/2024 · p. 19 · Anexo I, 11.1.1–11.1.3 · https://fnet.bmfbovespa.com.br/fnet/publico/visualizarDocumento?id=670691</a:t>
            </a:r>
          </a:p>
          <a:p>
            <a:r>
              <a:t>CNPJ 54871427000194 · Eventos de avaliação · Excerto da fonte:</a:t>
            </a:r>
          </a:p>
          <a:p>
            <a:r>
              <a:t>11.1.1 Na ocorrência de qualquer Evento de Avaliação, será convocada Assembleia Especial de Cotistas, para avaliar o grau de comprometimento das atividades d a Classe em razão do Evento de Avaliação, podendo a Assembleia Especial de Cotistas deliberar: (i) pela continuidade das atividades da Classe; ou (ii) que o Evento de Avaliação que deu causa à Assembleia Especial de Cotistas constitui um Evento de Liquidação, hipótese em que deverão ser deliberadas as matérias ref eridas no item 11.4.1 abaixo e adotados os procedimentos previstos no item 11.4.3 abaixo. 11.1.2 No momento de verificação de qualquer Evento de Avaliação, os procedimentos de aquisição de novos Direitos Creditórios deverão ser imediatamente interrompidos, até que: (i) seja prof erida decisão final em Assembleia Especial de Cotistas, convocada especificamente para este f im, nos termos do item 11.1.1 acima, autorizando a retomada dos procedimentos de aquisição de novos Direitos Creditórios e resgate das Cotas; e/ou (ii) seja sanado o Evento de Avaliação. 11.1.3 Na hipótese de não instalação da Assembleia Especial de Cotistas por f alta d</a:t>
            </a:r>
          </a:p>
          <a:p>
            <a:r>
              <a:t>CNPJ 54871427000194 · Eventos de avaliação · Versão e prevalência: Leitura específica das cláusulas indicadas; condições e conflitos preservados. Seleção documental atual não comprova vigência jurídica por data isolada.</a:t>
            </a:r>
          </a:p>
          <a:p>
            <a:r>
              <a:t>CNPJ 54871427000194 · Eventos de avaliação · Resumo do histórico: {"count": 1, "dates": ["2024-04-19"], "document_count": 1, "sources": [{"document_id": "670689", "title": "Regulamento", "reference_date": "2024-04-19", "version": "1", "page": 17, "clause": "10.2", "url": "https://fnet.bmfbovespa.com.br/fnet/publico/visualizarDocumento?id=670689", "sha256": "891bc9bc5d87bbc02ec139077a84d2702eb81ea02035fb71d24f5b8366b94a0b"}], "reference": {"path": "history/54871427000194.json", "criterion_id": "evaluation", "total_count": 1, "preview_count": 1, "full_text_deferred": true, "sha256": "35d7cd99be50c7287c9fb675cf4f2e736002315295a225a9efa79c8d9186d874"}}</a:t>
            </a:r>
          </a:p>
          <a:p>
            <a:r>
              <a:t>CNPJ 60010416000112 · Eventos de avaliação · Regulamento · ID 1051393 · 09/10/2025 · versão Regulamento09/10/2025 · p. 19 · AnexoI10.1(i)–(vii) · https://fnet.bmfbovespa.com.br/fnet/publico/visualizarDocumento?id=1051393</a:t>
            </a:r>
          </a:p>
          <a:p>
            <a:r>
              <a:t>CNPJ 60010416000112 · Eventos de avaliação · Excerto da fonte:</a:t>
            </a:r>
          </a:p>
          <a:p>
            <a:r>
              <a:t>10.1 As seguintes hipóteses são consideradas Eventos de Avaliação: (i) em caso de regime de administração especial temporária - RAET, intervenção ou liquidação extrajudicial do Endossante; (ii) em caso de desenquadramento do Índice de Subordinação por 10 (dez) dias úteis consecutivos; (iii) não cumprimento, pelo Endossante, de qualquer de suas obrigações estabelecidas no Contrato de Endosso ou neste Anexo I, desde que esse não cumprimento não seja devidamente sanado ou justif icado dentro de 10 (dez) Dias Úteis a partir do recebimento, pelo Endossante, de noti</a:t>
            </a:r>
          </a:p>
          <a:p>
            <a:r>
              <a:t>CNPJ 60010416000112 · Eventos de avaliação · Regulamento · ID 1051393 · 09/10/2025 · versão Regulamento09/10/2025 · p. 20 · AnexoI10.1(viii)–(xiv) · https://fnet.bmfbovespa.com.br/fnet/publico/visualizarDocumento?id=1051393</a:t>
            </a:r>
          </a:p>
          <a:p>
            <a:r>
              <a:t>CNPJ 60010416000112 · Eventos de avaliação · Excerto da fonte:</a:t>
            </a:r>
          </a:p>
          <a:p>
            <a:r>
              <a:t>(xiii) no caso de não serem realizados pagamentos de amortização e/ou resgate de Cotas Seniores, nos termos, prazos e condições previstos no presente Regulamento e nos respectivos Apêndices e Suplementos, não sanados em até 2 (dois) Dias Úteis contados do prazo final do respectivo evento; (xiv) no caso de pagamento de resgate e/ou amortização de Cotas Subordinadas em desacordo com os termos, prazos e condições previstos no presente Regulamento e no respectivo Apêndice. 10.1.1 Na ocorrência de qualquer Evento de Avaliação, será convocada Assembleia Especial de Cotistas,</a:t>
            </a:r>
          </a:p>
          <a:p>
            <a:r>
              <a:t>CNPJ 60010416000112 · Eventos de avaliação · Versão e prevalência: Leitura específica das cláusulas indicadas; condições e conflitos preservados. Seleção documental atual não comprova vigência jurídica por data isolada.</a:t>
            </a:r>
          </a:p>
          <a:p>
            <a:r>
              <a:t>CNPJ 60010416000112 · Eventos de avaliação · Resumo do histórico: {"count": 2, "dates": ["2025-03-20"], "document_count": 2, "sources": [{"document_id": "993785", "title": "Instrumento Particular de Constituição/Encerramento do Fundo", "reference_date": "2025-03-20", "version": "1", "page": 8, "url": "https://fnet.bmfbovespa.com.br/fnet/publico/visualizarDocumento?id=993785", "sha256": "0826e0eae2c51afabf59bbc49fc7647598d03da5ca6de0f9725850a8bd6af457"}, {"document_id": "993786", "title": "Regulamento", "reference_date": "2025-03-20", "version": "1", "page": 48, "clause": "2.1.2", "url": "https://fnet.bmfbovespa.com.br/fnet/publico/visualizarDocumento?id=993786", "sha256": "fd0fdd369a195510d81f81f505195a0b09e5f43522a990afa7d58c4f872921c8"}], "reference": {"path": "history/60010416000112.json", "criterion_id": "evaluation", "total_count": 2, "preview_count": 2, "full_text_deferred": true, "sha256": "8e2bd813f4c51cf01f6bfaad164bafe69d2bbb192f753eac92da3a01c2e63046"}}</a:t>
            </a:r>
          </a:p>
          <a:p>
            <a:r>
              <a:t>CNPJ 62696791000193 · Eventos de avaliação · Regulamento · ID 1143317 · 20/03/2026 · versão Regulamento — referência 20/03/2026 · p. 37 · Apêndice Júnior, 5.1(iii) · https://fnet.bmfbovespa.com.br/fnet/publico/visualizarDocumento?id=1143317</a:t>
            </a:r>
          </a:p>
          <a:p>
            <a:r>
              <a:t>CNPJ 62696791000193 · Eventos de avaliação · Excerto da fonte:</a:t>
            </a:r>
          </a:p>
          <a:p>
            <a:r>
              <a:t>5.1. Verif icado excesso de subordinação, ou seja, que a representatividade de Cotas Júnior em relação ao Patrimônio Líquido da Classe é superior ao Índice de Subordinação (“Excesso de Subordinação”), desde que assim seja deliberado por maioria dos votos de seus titulares e da maioria dos titulares de Cotas Seniores, as Cotas Juniores poderão ser objeto de Amortização Extraordinária até o limite do respectivos Excesso de Subordinação– ainda que tal Amortização Extraordinária ocorra antes do resgate integral das Cotas Seniores– desde que: (i) seja observada a ordem de alocação de recursos definida no item 6.1 acima Anexo; (ii) não existam Obrigações da Classe vencidas e não pagas; (iii) não estejam em curso quaisquer Eventos de Avaliação e/ou Eventos de Liquidação; (iv) existam suficientes Ativos Financeiros e/ou recursos disponíveis; e (vii) permaneçam atendidas todos os Índices de Subordinação. 6. Negociação das Cotas 6.1. As Cotas Subordinadas Juniores não poderão ser negociadas no mercado secundário. 7. Resgate 7.1. As Cotas Subordinadas Juniores apenas serão resgatadas após o resgate integral das Cotas Seniores da Classe, na respectiva Data de Resgate ou em caso de liquidação antecipada da Classe. BTG Pactual</a:t>
            </a:r>
          </a:p>
          <a:p>
            <a:r>
              <a:t>CNPJ 62696791000193 · Eventos de avaliação · Condição: Referência preservada como ausência específica; não importar gatilhos de outros fundos.</a:t>
            </a:r>
          </a:p>
          <a:p>
            <a:r>
              <a:t>CNPJ 62696791000193 · Eventos de avaliação · Motivo: O apêndice condiciona amortização à ausência de Eventos de Avaliação e de Liquidação, mas o PDF consolidado de 48 páginas não define a lista de Eventos de Avaliação nem seus prazos de cura. O regulamento FIDC anterior à transformação não foi obtido.</a:t>
            </a:r>
          </a:p>
          <a:p>
            <a:r>
              <a:t>CNPJ 62696791000193 · Eventos de avaliação · Versão e prevalência: Leitura específica das cláusulas indicadas; condições e conflitos preservados. Seleção documental atual não comprova vigência jurídica por data isolada.</a:t>
            </a:r>
          </a:p>
          <a:p>
            <a:r>
              <a:t>CNPJ 55563624000109 · Eventos de avaliação · Regulamento · ID 1192614 · 30/04/2026 · versão Regulamento30/04/2026 · p. 20 · AnexoI11.1(i)–(v) · https://fnet.bmfbovespa.com.br/fnet/publico/visualizarDocumento?id=1192614</a:t>
            </a:r>
          </a:p>
          <a:p>
            <a:r>
              <a:t>CNPJ 55563624000109 · Eventos de avaliação · Excerto da fonte:</a:t>
            </a:r>
          </a:p>
          <a:p>
            <a:r>
              <a:t>11.1 As seguintes hipóteses são consideradas Eventos de Avaliação: (i) inobservância pelo ADMINISTRADOR, pelo CUSTODIANTE e/ou pelo GESTOR de seus deveres e obrigações previstos neste Anexo, desde que, uma vez notificados para sanar ou justificar o descumprimento, o ADMINISTRADOR, o CUSTODIANTE e/ou o GESTOR, conforme o caso, não o sane no prazo de 5 (cinco) Dias Úteis contados do recebimento da referida notificação; (ii) aquisição, pela Classe, de Cotas da Classe Investida que estejam em desacordo com o Critério de</a:t>
            </a:r>
          </a:p>
          <a:p>
            <a:r>
              <a:t>CNPJ 55563624000109 · Eventos de avaliação · Versão e prevalência: Leitura específica das cláusulas indicadas; condições e conflitos preservados. Seleção documental atual não comprova vigência jurídica por data isolada.</a:t>
            </a:r>
          </a:p>
          <a:p>
            <a:r>
              <a:t>CNPJ 62552447000120 · Eventos de avaliação · Regulamento · ID 1200623 · 21/05/2026 · versão Consolidado21/05/2026 aprovado pelo ato1200625 · p. 22 · AnexoI11.1(i)–(v) · https://fnet.bmfbovespa.com.br/fnet/publico/visualizarDocumento?id=1200623</a:t>
            </a:r>
          </a:p>
          <a:p>
            <a:r>
              <a:t>CNPJ 62552447000120 · Eventos de avaliação · Excerto da fonte:</a:t>
            </a:r>
          </a:p>
          <a:p>
            <a:r>
              <a:t>11.1 As seguintes hipóteses são consideradas eventos de avaliação (“Eventos de Avaliação”): (i) em caso de regime de administração especial temporária - RAET, intervenção ou liquidação extrajudicial do Endossante, da instituição f inanceira prestadora dos serviços de agente de conta vinculada à Classe (“Agente de Conta Vinculada”) e/ou do Agente de Retenção e Cobrança; (ii) não cumprimento, pelo Endossante, de qualquer de suas obrigações estabelecidas nos Contratos de Endosso, no Regulamento ou neste Anexo I, desde que esse não cumprimento não se</a:t>
            </a:r>
          </a:p>
          <a:p>
            <a:r>
              <a:t>CNPJ 62552447000120 · Eventos de avaliação · Regulamento · ID 1200623 · 21/05/2026 · versão Consolidado21/05/2026 aprovado pelo ato1200625 · p. 23 · AnexoI11.1(vi)–(xi) · https://fnet.bmfbovespa.com.br/fnet/publico/visualizarDocumento?id=1200623</a:t>
            </a:r>
          </a:p>
          <a:p>
            <a:r>
              <a:t>CNPJ 62552447000120 · Eventos de avaliação · Excerto da fonte:</a:t>
            </a:r>
          </a:p>
          <a:p>
            <a:r>
              <a:t>(vi) não cumprimento, pelo Agente de Conta Vinculada, de qualquer de suas obrigações estabelecidas no contrato de conta vinculada celebrado entre o Endossante, na qualidade de titular da Conta Vinculada, e a Classe (“Contrato de Conta Vinculada”), no Regulamento ou neste Anexo I, desde que esse não cumprimento não seja devidamente sanado ou justificado dentro de 5 (cinco) Dias Úteis a partir do recebimento, pelo Agente de Conta Vinculada, de notif icação, por escrito, enviada pelo Administrador, informando-o da ocorrência do respectivo evento; (vii) não c</a:t>
            </a:r>
          </a:p>
          <a:p>
            <a:r>
              <a:t>CNPJ 62552447000120 · Eventos de avaliação · Versão e prevalência: Leitura específica das cláusulas indicadas; condições e conflitos preservados. Seleção documental atual não comprova vigência jurídica por data isolada.</a:t>
            </a:r>
          </a:p>
          <a:p>
            <a:r>
              <a:t>CNPJ 63953620000165 · Eventos de avaliação · Anexo ao Regulamento · ID 1222863 · 02/06/2026 · versão AnexoConsignadoPrivado02/06/2026 · p. 14 · 11.1(i)–(v) · https://fnet.bmfbovespa.com.br/fnet/publico/visualizarDocumento?id=1222863</a:t>
            </a:r>
          </a:p>
          <a:p>
            <a:r>
              <a:t>CNPJ 63953620000165 · Eventos de avaliação · Excerto da fonte:</a:t>
            </a:r>
          </a:p>
          <a:p>
            <a:r>
              <a:t>11.1 As seguintes hipóteses são consideradas eventos de avaliação (“Eventos de Avaliação”): (i) em caso de regime de administração especial temporária - RAET, intervenção ou liquidação extrajudicial do Endossante; (ii) em caso de desenquadramento do Índice de Subordinação por 10 (dez) dias úteis consecutivos; (iii) não cumprimento, pelo Endossante, de qualquer de suas obrigações estabelecidas no Contrato de Endosso ou neste Anexo I, desde que esse não cumprimento não seja devidamente sanado ou justificado dentro de 10 (dez) Dias Úteis a partir do recebimento, pelo Endossan</a:t>
            </a:r>
          </a:p>
          <a:p>
            <a:r>
              <a:t>CNPJ 63953620000165 · Eventos de avaliação · Anexo ao Regulamento · ID 1222863 · 02/06/2026 · versão AnexoConsignadoPrivado02/06/2026 · p. 15 · 11.1(vi)–(xiv) · https://fnet.bmfbovespa.com.br/fnet/publico/visualizarDocumento?id=1222863</a:t>
            </a:r>
          </a:p>
          <a:p>
            <a:r>
              <a:t>CNPJ 63953620000165 · Eventos de avaliação · Excerto da fonte:</a:t>
            </a:r>
          </a:p>
          <a:p>
            <a:r>
              <a:t>Anexo I ao Regulamento CLASSE CONSIGNADO PRIVADO DO MT GLOBAL FUNDO DE INVESTIMENTO EM DIREITOS CREDITÓRIOS RESPONSABILIDADE LIMITADA (vii) inobservância pelo Administrador, pelo Custodiante e/ou pelo Gestor de seus deveres e obrigações previstos neste Regulamento, bem como suas atribuições específicas nos outros contratos existentes referentes ao funcionamento da Classe, verificada pelo Administrador, pelo Custodiante e/ou pelo Gestor ou por qualquer dos Cotistas, desde que, uma vez notificados para sanar ou justificar o descumprimento, o Administrador, o Custodiante e/ou o Gestor, conforme</a:t>
            </a:r>
          </a:p>
          <a:p>
            <a:r>
              <a:t>CNPJ 63953620000165 · Eventos de avaliação · Versão e prevalência: Leitura específica das cláusulas indicadas; condições e conflitos preservados. Seleção documental atual não comprova vigência jurídica por data isolada.</a:t>
            </a:r>
          </a:p>
          <a:p>
            <a:r>
              <a:t>CNPJ 54871427000194 · Eventos de liquidação · Regulamento · ID 670691 · 28/04/2024 · versão Regulamento — referência 28/04/2024 · p. 19 · Anexo I, 11.1.3 e 11.3 · https://fnet.bmfbovespa.com.br/fnet/publico/visualizarDocumento?id=670691</a:t>
            </a:r>
          </a:p>
          <a:p>
            <a:r>
              <a:t>CNPJ 54871427000194 · Eventos de liquidação · Excerto da fonte:</a:t>
            </a:r>
          </a:p>
          <a:p>
            <a:r>
              <a:t>11.1.3 Na hipótese de não instalação da Assembleia Especial de Cotistas por f alta de quórum, o ADMINISTRADOR dará início aos procedimentos ref erentes à liquidação d a Classe, com o consequente resgate das Cotas, nos termos do item 11.4 e seguintes, abaixo. Eventos de Verificação de Patrimônio Líquido Negativo 11.2 Os seguintes eventos obrigarão o ADMINISTRADOR a verificar se o Patrimônio Líquido da Classe está negativo: (i) qualquer pedido de declaração judicial de insolvência da Classe; e (ii) na ocorrência de quaisquer dos Eventos de Avaliação e/ou Eventos de Liquidação . Eventos de Liquidação 11.3 As seguintes hipóteses são consideradas Eventos de Liquidação: (i) caso seja deliberado em Assembleia Especial de Cotistas que um Evento de Avaliação constitui um Evento de Liquidação; (ii) sempre que assim decidido pelos Cotistas em Assembleia Especial de Cotistas especialmente convocada para tal f im; (iii) cessão ou renúncia do ADMINISTRADOR, GESTOR ou CUSTODIANTE sem que a Assembleia de Cotistas ef icazmente nomeie instituição habilit ada para substituí-lo, nos termos estabelecidos neste Regulamento;</a:t>
            </a:r>
          </a:p>
          <a:p>
            <a:r>
              <a:t>CNPJ 54871427000194 · Eventos de liquidação · Versão e prevalência: Leitura específica das cláusulas indicadas; condições e conflitos preservados. Seleção documental atual não comprova vigência jurídica por data isolada.</a:t>
            </a:r>
          </a:p>
          <a:p>
            <a:r>
              <a:t>CNPJ 54871427000194 · Eventos de liquidação · Resumo do histórico: {"count": 1, "dates": ["2024-04-19"], "document_count": 1, "sources": [{"document_id": "670689", "title": "Regulamento", "reference_date": "2024-04-19", "version": "1", "page": 17, "clause": "10.2", "url": "https://fnet.bmfbovespa.com.br/fnet/publico/visualizarDocumento?id=670689", "sha256": "891bc9bc5d87bbc02ec139077a84d2702eb81ea02035fb71d24f5b8366b94a0b"}], "reference": {"path": "history/54871427000194.json", "criterion_id": "liquidation", "total_count": 1, "preview_count": 1, "full_text_deferred": true, "sha256": "35d7cd99be50c7287c9fb675cf4f2e736002315295a225a9efa79c8d9186d874"}}</a:t>
            </a:r>
          </a:p>
          <a:p>
            <a:r>
              <a:t>CNPJ 60010416000112 · Eventos de liquidação · Regulamento · ID 1051393 · 09/10/2025 · versão Regulamento09/10/2025 · p. 21 · AnexoI10.3(i)–(viii) · https://fnet.bmfbovespa.com.br/fnet/publico/visualizarDocumento?id=1051393</a:t>
            </a:r>
          </a:p>
          <a:p>
            <a:r>
              <a:t>CNPJ 60010416000112 · Eventos de liquidação · Excerto da fonte:</a:t>
            </a:r>
          </a:p>
          <a:p>
            <a:r>
              <a:t>10.3 As seguintes hipóteses são consideradas Eventos de Liquidação: (i) caso seja deliberado em Assembleia de Cotistas que um Evento de Avaliação constitui um Evento de Liquidação; (ii) na hipótese de resilição do Contrato de Custódia ou renúncia do Custodiante, sem que tenha havido sua substituição por outra instituição, de acordo com os procedimentos estabelecidos neste Regulamento; (iii) renúncia do Administrador sem que a Assembleia Especial de Cotistas eficazmente nomeie instituição habilitada para substituí-lo, nos termos estabelecidos neste Regulamento;</a:t>
            </a:r>
          </a:p>
          <a:p>
            <a:r>
              <a:t>CNPJ 60010416000112 · Eventos de liquidação · Versão e prevalência: Leitura específica das cláusulas indicadas; condições e conflitos preservados. Seleção documental atual não comprova vigência jurídica por data isolada.</a:t>
            </a:r>
          </a:p>
          <a:p>
            <a:r>
              <a:t>CNPJ 60010416000112 · Eventos de liquidação · Resumo do histórico: {"count": 2, "dates": ["2025-03-20"], "document_count": 2, "sources": [{"document_id": "993785", "title": "Instrumento Particular de Constituição/Encerramento do Fundo", "reference_date": "2025-03-20", "version": "1", "page": 8, "url": "https://fnet.bmfbovespa.com.br/fnet/publico/visualizarDocumento?id=993785", "sha256": "0826e0eae2c51afabf59bbc49fc7647598d03da5ca6de0f9725850a8bd6af457"}, {"document_id": "993786", "title": "Regulamento", "reference_date": "2025-03-20", "version": "1", "page": 18, "clause": "9.2", "url": "https://fnet.bmfbovespa.com.br/fnet/publico/visualizarDocumento?id=993786", "sha256": "fd0fdd369a195510d81f81f505195a0b09e5f43522a990afa7d58c4f872921c8"}], "reference": {"path": "history/60010416000112.json", "criterion_id": "liquidation", "total_count": 2, "preview_count": 2, "full_text_deferred": true, "sha256": "8e2bd813f4c51cf01f6bfaad164bafe69d2bbb192f753eac92da3a01c2e63046"}}</a:t>
            </a:r>
          </a:p>
          <a:p>
            <a:r>
              <a:t>CNPJ 62696791000193 · Eventos de liquidação · Regulamento · ID 1143317 · 20/03/2026 · versão Regulamento — referência 20/03/2026 · p. 23 · Anexo I, 11.1–11.3 · https://fnet.bmfbovespa.com.br/fnet/publico/visualizarDocumento?id=1143317</a:t>
            </a:r>
          </a:p>
          <a:p>
            <a:r>
              <a:t>CNPJ 62696791000193 · Eventos de liquidação · Excerto da fonte:</a:t>
            </a:r>
          </a:p>
          <a:p>
            <a:r>
              <a:t>11.1 A Classe será liquidada (i) em caso da liquidação antecipada deliberada em Assembleia Especial de Cotistas; ou (ii) pelo encerramento do Prazo de Duração da Classe. 11.2 Na ocorrência da liquidação da Classe, o Administrador: (i) liquidará todos os investimentos da Classe em Ativos Financeiros de Liquidez, conforme orientação do Gestor, transferindo todos os recursos daí resultantes para a Conta da Classe; (ii) realizará, de acordo com as orientações e instruções do Gestor, a alienação dos investimentos nos Direitos Creditórios do Agronegócio e nos Outros Ativos integrantes da carteira de investimentos da Classe; e (iii) realizará o pagamento dos encargos da Classe e a amortização das Cotas, até o limite dos recursos disponíveis na Conta da Classe. 11.2.1 No caso de Liquidação da Classe, os Cotistas terão o direito de partilhar o Patrimônio Líquido em igualdade de condições e na proporção de suas Cotas, deduzidas as despesas necessárias para a liquidação da Classe. Não haverá qualquer tipo de pref erência, p rioridade ou subordinação entre os Cotistas. 11.3 Caso a Classe não possua recursos suficientes para o pagamento de todas as Cotas no momento de</a:t>
            </a:r>
          </a:p>
          <a:p>
            <a:r>
              <a:t>CNPJ 62696791000193 · Eventos de liquidação · Regulamento · ID 1143317 · 20/03/2026 · versão Regulamento — referência 20/03/2026 · p. 24 · Anexo I, 11.7 · https://fnet.bmfbovespa.com.br/fnet/publico/visualizarDocumento?id=1143317</a:t>
            </a:r>
          </a:p>
          <a:p>
            <a:r>
              <a:t>CNPJ 62696791000193 · Eventos de liquidação · Excerto da fonte:</a:t>
            </a:r>
          </a:p>
          <a:p>
            <a:r>
              <a:t>11.7 A liquidação da Classe e a divisão de seu patrimônio entre os Cotistas deverão ocorrer no prazo de até 180 (cento e oitenta) dias corridos contados (i) do encerramento do Prazo de Duração ou (ii) da data da realização da Assembleia Especial de Cotistas que deliberar sobre a liquidação da Classe. BTG Pactual SAC: 0800 772 2827 | Ouvidoria: 0800 722 0048 | btgpactual.co m 19</a:t>
            </a:r>
          </a:p>
          <a:p>
            <a:r>
              <a:t>CNPJ 62696791000193 · Eventos de liquidação · Condição: O capítulo não fornece gatilho automático de PL &lt;R$ 1 milhão por 90 dias; essa cláusula presente em outros FIDCs não pode ser transferida para Ceres.</a:t>
            </a:r>
          </a:p>
          <a:p>
            <a:r>
              <a:t>CNPJ 62696791000193 · Eventos de liquidação · Motivo: Cláusula primária localizada e citada, mas sua lista/condições extensas não admitem uma síntese literal curta confirmada. O trecho integral permanece nas fontes.</a:t>
            </a:r>
          </a:p>
          <a:p>
            <a:r>
              <a:t>CNPJ 62696791000193 · Eventos de liquidação · Versão e prevalência: Leitura específica das cláusulas indicadas; condições e conflitos preservados. Seleção documental atual não comprova vigência jurídica por data isolada.</a:t>
            </a:r>
          </a:p>
          <a:p>
            <a:r>
              <a:t>CNPJ 55563624000109 · Eventos de liquidação · Regulamento · ID 1192614 · 30/04/2026 · versão Regulamento30/04/2026 · p. 21 · AnexoI11.3(i)–(vii) · https://fnet.bmfbovespa.com.br/fnet/publico/visualizarDocumento?id=1192614</a:t>
            </a:r>
          </a:p>
          <a:p>
            <a:r>
              <a:t>CNPJ 55563624000109 · Eventos de liquidação · Excerto da fonte:</a:t>
            </a:r>
          </a:p>
          <a:p>
            <a:r>
              <a:t>11.3 As seguintes hipóteses são consideradas Eventos de Liquidação: (i) caso seja deliberado em Assembleia Especial de Cotistas que um Evento de Avaliação constitui um Evento de Liquidação; (ii) na hipótese de renúncia do CUSTODIANTE, sem que tenha havido sua substituição por outra instituição, de acordo com os procedimentos estabelecidos neste Anexo; (iii) renúncia do ADMINISTRADOR ou do GESTOR sem que a Assembleia Especial de Cotistas eficazmente nomeie instituição habilitada para substituí-lo, nos termo</a:t>
            </a:r>
          </a:p>
          <a:p>
            <a:r>
              <a:t>CNPJ 55563624000109 · Eventos de liquidação · Versão e prevalência: Leitura específica das cláusulas indicadas; condições e conflitos preservados. Seleção documental atual não comprova vigência jurídica por data isolada.</a:t>
            </a:r>
          </a:p>
          <a:p>
            <a:r>
              <a:t>CNPJ 62552447000120 · Eventos de liquidação · Regulamento · ID 1200623 · 21/05/2026 · versão Consolidado21/05/2026 aprovado pelo ato1200625 · p. 24 · AnexoI11.2(i)–(v) · https://fnet.bmfbovespa.com.br/fnet/publico/visualizarDocumento?id=1200623</a:t>
            </a:r>
          </a:p>
          <a:p>
            <a:r>
              <a:t>CNPJ 62552447000120 · Eventos de liquidação · Excerto da fonte:</a:t>
            </a:r>
          </a:p>
          <a:p>
            <a:r>
              <a:t>11.2 As seguintes hipóteses são consideradas eventos de liquidação (“Eventos de Liquidação”): (i) caso seja deliberado em Assembleia Especial que um Evento de Avaliação constitui um Evento de Liquidação; (ii) na hipótese de resilição do Contrato de Custódia ou renúncia do Custodiante, sem que tenha havido sua substituição por outra instituição, de acordo com os procedimentos estabelecidos neste Regulamento; (iii) renúncia do Administrador sem que a Assembleia Especial ef icazmente nomeie instituição habilitada para substituí-lo, nos termos estab</a:t>
            </a:r>
          </a:p>
          <a:p>
            <a:r>
              <a:t>CNPJ 62552447000120 · Eventos de liquidação · Regulamento · ID 1200623 · 21/05/2026 · versão Consolidado21/05/2026 aprovado pelo ato1200625 · p. 25 · AnexoI11.2(vi)–(ix) · https://fnet.bmfbovespa.com.br/fnet/publico/visualizarDocumento?id=1200623</a:t>
            </a:r>
          </a:p>
          <a:p>
            <a:r>
              <a:t>CNPJ 62552447000120 · Eventos de liquidação · Excerto da fonte:</a:t>
            </a:r>
          </a:p>
          <a:p>
            <a:r>
              <a:t>(vi) em caso de regime de administração especial temporária - RAET, intervenção ou liquidação extrajudicial do Custodiante, Administrador, ou Gestor, sem a sua ef etiva substituição nos termos deste Regulamento; (vii) se, após 90 (noventa) dias do início das atividades do Fundo, o Patrimônio Líquido diário inferior da Classe for inferior a R$ 1.000.000,00 (um milhão de reais) pelo período de 90 (noventa) dias consecutivos; (viii) caso, por inexistência de recursos líquidos, a Classe não possa fazer f rente aos Encargos nas respectivas datas</a:t>
            </a:r>
          </a:p>
          <a:p>
            <a:r>
              <a:t>CNPJ 62552447000120 · Eventos de liquidação · Versão e prevalência: Leitura específica das cláusulas indicadas; condições e conflitos preservados. Seleção documental atual não comprova vigência jurídica por data isolada.</a:t>
            </a:r>
          </a:p>
          <a:p>
            <a:r>
              <a:t>CNPJ 63953620000165 · Eventos de liquidação · Anexo ao Regulamento · ID 1222863 · 02/06/2026 · versão AnexoConsignadoPrivado02/06/2026 · p. 16 · 11.2(i)–(viii) · https://fnet.bmfbovespa.com.br/fnet/publico/visualizarDocumento?id=1222863</a:t>
            </a:r>
          </a:p>
          <a:p>
            <a:r>
              <a:t>CNPJ 63953620000165 · Eventos de liquidação · Excerto da fonte:</a:t>
            </a:r>
          </a:p>
          <a:p>
            <a:r>
              <a:t>11.2 As seguintes hipóteses são consideradas eventos de liquidação (“Eventos de Liquidação”): (i) caso seja deliberado em Assembleia Especial de Cotistas que um Evento de Avaliação constitui um Evento de Liquidação; (ii) na hipótese de resilição do Contrato de Custódia ou renúncia do Custodiante, sem que tenha havido sua substituição por outra instituição, de acordo com os procedimentos estabelecidos neste Regulamento; (iii) renúncia do Administrador sem que a Assembleia Especial de Cotistas eficazmente nomeie instituição habilitada para substituí-lo, nos termos estabeleci</a:t>
            </a:r>
          </a:p>
          <a:p>
            <a:r>
              <a:t>CNPJ 63953620000165 · Eventos de liquidação · Versão e prevalência: Leitura específica das cláusulas indicadas; condições e conflitos preservados. Seleção documental atual não comprova vigência jurídica por data isolada.</a:t>
            </a:r>
          </a:p>
          <a:p>
            <a:r>
              <a:t>CNPJ 63953620000165 · Eventos de liquidação · Resumo do histórico: {"count": 8, "dates": ["2026-04-28", "2026-05-08", "2026-05-15"], "document_count": 3, "sources": [{"document_id": "1327859", "title": "Demonstrações Financeiras - Fusão, cisão e incorporação", "reference_date": "2026-05-15", "version": "1", "page": 23, "url": "https://fnet.bmfbovespa.com.br/fnet/publico/visualizarDocumento?id=1327859", "sha256": "dca1c68babb97f887528c3e2e47596a9c30f507b067981a35655b2f2da9c8054"}, {"document_id": "1298691", "title": "Demonstrações Financeiras - Fusão, cisão e incorporação", "reference_date": "2026-05-08", "version": "1", "page": 24, "url": "https://fnet.bmfbovespa.com.br/fnet/publico/visualizarDocumento?id=1298691", "sha256": "58c570d9b8d4d265330d3db3ea81c435b8e44a6dab4002aa37790652a1ee9819"}, {"document_id": "1282180", "title": "Demonstrações Financeiras - Fusão, cisão e incorporação", "reference_date": "2026-04-28", "version": "1", "page": 24, "url": "https://fnet.bmfbovespa.com.br/fnet/publico/visualizarDocumento?id=1282180", "sha256": "afaaa0e6809be4385e5bdb6c911aac582032c5bdbac3d7750234bf9eaf00438a"}], "reference": {"path": "history/63953620000165.json", "criterion_id": "liquidation", "total_count": 8, "preview_count": 3, "full_text_deferred": true, "sha256": "a7b89077f5e21098c2d601c303faabc3ff6b9729f89d8afecdc60fe1404720c1"}}</a:t>
            </a:r>
          </a:p>
          <a:p>
            <a:r>
              <a:t>CNPJ 54871427000194 · Prazos de cura e reincidência · Regulamento · ID 670691 · 28/04/2024 · versão Regulamento — referência 28/04/2024 · p. 18 · Anexo I, 11.1(ii)–(v) · https://fnet.bmfbovespa.com.br/fnet/publico/visualizarDocumento?id=670691</a:t>
            </a:r>
          </a:p>
          <a:p>
            <a:r>
              <a:t>CNPJ 54871427000194 · Prazos de cura e reincidência · Excerto da fonte:</a:t>
            </a:r>
          </a:p>
          <a:p>
            <a:r>
              <a:t>(ii) não cumprimento, por qualquer dos Endossantes, de qualquer de suas obrigações estabelecidas em cada Contrato de Endosso ou neste Regulamento e Anexo, desde que esse não cumprimento não seja devidamente sanado ou justificado dentro de 10 (dez) Dias Úteis a partir do recebimento, pelo Endossante, de notificação, por escrito, enviada pelo Administrador, inf ormando-o da ocorrência do respectivo evento; (iii) não cumprimento, por qualquer dos Endossantes, de suas obrigações de entregar o Arquivo de Liquidação Antecipada e o Arquivo de Posição das CCBs ao CUSTODIANTE dentro do prazo estabelecido neste Regulamento, desde que esse não cumprimento não seja devidamente sanado ou justificado dentro dos prazos acordados no respectivo Contrato de Endosso, a partir do recebimento, pelos Endossantes, de notificação, por escrito, enviada pelo CUSTODIANTE, inf ormando-o da ocorrência do respectivo evento; (iv) não cumprimento, por qualquer dos Endossantes, de qualquer de suas obrigações de entregar ao CUSTODIANTE, ou a terceiros por ele indicados, os Documentos Comprobatórios relativos</a:t>
            </a:r>
          </a:p>
          <a:p>
            <a:r>
              <a:t>CNPJ 54871427000194 · Prazos de cura e reincidência · Motivo: Não localizada uma cláusula material para este critério nos textos identificados e processados. A ausência de resultado não comprova inexistência da regra.</a:t>
            </a:r>
          </a:p>
          <a:p>
            <a:r>
              <a:t>CNPJ 54871427000194 · Prazos de cura e reincidência · Versão e prevalência: Leitura específica das cláusulas indicadas; condições e conflitos preservados. Seleção documental atual não comprova vigência jurídica por data isolada.</a:t>
            </a:r>
          </a:p>
          <a:p>
            <a:r>
              <a:t>CNPJ 60010416000112 · Prazos de cura e reincidência · Regulamento · ID 1051393 · 09/10/2025 · versão Regulamento09/10/2025 · p. 14 · AnexoI5.7.1–5.7.2 · https://fnet.bmfbovespa.com.br/fnet/publico/visualizarDocumento?id=1051393</a:t>
            </a:r>
          </a:p>
          <a:p>
            <a:r>
              <a:t>CNPJ 60010416000112 · Prazos de cura e reincidência · Excerto da fonte:</a:t>
            </a:r>
          </a:p>
          <a:p>
            <a:r>
              <a:t>5.7.1 abaixo. 5.7.1 Na hipótese do item 5.7 os titulares de Cotas Subordinadas terão o prazo de 3 (três) Dias Úteis contado do recebimento da comunicação enviada pelo Administrador para manifestar sua intenção de subscrever e integralizar novas Cotas Subordinadas, de f orma a restabelecer o Índice de Subordinação. Caso assim se manifestem, o Administrador e os titulares de Cotas Subordinadas deverão, nos 10 (dez) Dias Úteis subsequentes tomar todas as providências necessárias para que as novas Cotas Subordinadas sejam emitidas, subscritas e integraliza</a:t>
            </a:r>
          </a:p>
          <a:p>
            <a:r>
              <a:t>CNPJ 60010416000112 · Prazos de cura e reincidência · Regulamento · ID 1051393 · 09/10/2025 · versão Regulamento09/10/2025 · p. 19 · AnexoI10.1(ii)–(vii) · https://fnet.bmfbovespa.com.br/fnet/publico/visualizarDocumento?id=1051393</a:t>
            </a:r>
          </a:p>
          <a:p>
            <a:r>
              <a:t>CNPJ 60010416000112 · Prazos de cura e reincidência · Excerto da fonte:</a:t>
            </a:r>
          </a:p>
          <a:p>
            <a:r>
              <a:t>10.1 As seguintes hipóteses são consideradas Eventos de Avaliação: (i) em caso de regime de administração especial temporária - RAET, intervenção ou liquidação extrajudicial do Endossante; (ii) em caso de desenquadramento do Índice de Subordinação por 10 (dez) dias úteis consecutivos; (iii) não cumprimento, pelo Endossante, de qualquer de suas obrigações estabelecidas no Contrato de Endosso ou neste Anexo I, desde que esse não cumprimento não seja devidamente sanado ou justif icado dentro de 10 (dez) Dias Úteis a partir do recebimento, pelo Endossante, de noti</a:t>
            </a:r>
          </a:p>
          <a:p>
            <a:r>
              <a:t>CNPJ 60010416000112 · Prazos de cura e reincidência · Regulamento · ID 1051393 · 09/10/2025 · versão Regulamento09/10/2025 · p. 20 · AnexoI10.1(xiii) · https://fnet.bmfbovespa.com.br/fnet/publico/visualizarDocumento?id=1051393</a:t>
            </a:r>
          </a:p>
          <a:p>
            <a:r>
              <a:t>CNPJ 60010416000112 · Prazos de cura e reincidência · Excerto da fonte:</a:t>
            </a:r>
          </a:p>
          <a:p>
            <a:r>
              <a:t>(xiii) no caso de não serem realizados pagamentos de amortização e/ou resgate de Cotas Seniores, nos termos, prazos e condições previstos no presente Regulamento e nos respectivos Apêndices e Suplementos, não sanados em até 2 (dois) Dias Úteis contados do prazo final do respectivo evento; (xiv) no caso de pagamento de resgate e/ou amortização de Cotas Subordinadas em desacordo com os termos, prazos e condições previstos no presente Regulamento e no respectivo Apêndice. 10.1.1 Na ocorrência de qualquer Evento de Avaliação, será convocada Assembleia Especial de Cotistas,</a:t>
            </a:r>
          </a:p>
          <a:p>
            <a:r>
              <a:t>CNPJ 60010416000112 · Prazos de cura e reincidência · Versão e prevalência: Leitura específica das cláusulas indicadas; condições e conflitos preservados. Seleção documental atual não comprova vigência jurídica por data isolada.</a:t>
            </a:r>
          </a:p>
          <a:p>
            <a:r>
              <a:t>CNPJ 60010416000112 · Prazos de cura e reincidência · Resumo do histórico: {"count": 1, "dates": ["2025-03-20"], "document_count": 1, "sources": [{"document_id": "993786", "title": "Regulamento", "reference_date": "2025-03-20", "version": "1", "page": 19, "clause": "10.1", "url": "https://fnet.bmfbovespa.com.br/fnet/publico/visualizarDocumento?id=993786", "sha256": "fd0fdd369a195510d81f81f505195a0b09e5f43522a990afa7d58c4f872921c8"}], "reference": {"path": "history/60010416000112.json", "criterion_id": "cure", "total_count": 1, "preview_count": 1, "full_text_deferred": true, "sha256": "8e2bd813f4c51cf01f6bfaad164bafe69d2bbb192f753eac92da3a01c2e63046"}}</a:t>
            </a:r>
          </a:p>
          <a:p>
            <a:r>
              <a:t>CNPJ 62696791000193 · Prazos de cura e reincidência · Motivo: Não localizada uma cláusula material para este critério nos textos identificados e processados. A ausência de resultado não comprova inexistência da regra.</a:t>
            </a:r>
          </a:p>
          <a:p>
            <a:r>
              <a:t>CNPJ 55563624000109 · Prazos de cura e reincidência · Regulamento · ID 1192614 · 30/04/2026 · versão Regulamento30/04/2026 · p. 20 · AnexoI11.1 · https://fnet.bmfbovespa.com.br/fnet/publico/visualizarDocumento?id=1192614</a:t>
            </a:r>
          </a:p>
          <a:p>
            <a:r>
              <a:t>CNPJ 55563624000109 · Prazos de cura e reincidência · Excerto da fonte:</a:t>
            </a:r>
          </a:p>
          <a:p>
            <a:r>
              <a:t>11.1 As seguintes hipóteses são consideradas Eventos de Avaliação: (i) inobservância pelo ADMINISTRADOR, pelo CUSTODIANTE e/ou pelo GESTOR de seus deveres e obrigações previstos neste Anexo, desde que, uma vez notificados para sanar ou justificar o descumprimento, o ADMINISTRADOR, o CUSTODIANTE e/ou o GESTOR, conforme o caso, não o sane no prazo de 5 (cinco) Dias Úteis contados do recebimento da referida notificação; (ii) aquisição, pela Classe, de Cotas da Classe Investida que estejam em desacordo com o Critério de</a:t>
            </a:r>
          </a:p>
          <a:p>
            <a:r>
              <a:t>CNPJ 55563624000109 · Prazos de cura e reincidência · Regulamento · ID 1192614 · 30/04/2026 · versão Regulamento30/04/2026 · p. 21 · AnexoI11.1.2 · https://fnet.bmfbovespa.com.br/fnet/publico/visualizarDocumento?id=1192614</a:t>
            </a:r>
          </a:p>
          <a:p>
            <a:r>
              <a:t>CNPJ 55563624000109 · Prazos de cura e reincidência · Excerto da fonte:</a:t>
            </a:r>
          </a:p>
          <a:p>
            <a:r>
              <a:t>11.1.2 No momento de verificação de qualquer Evento de Avaliação, os procedimentos de aquisição de novas Cotas da Classe Investida e, se aplicável, de amortização das Cotas, deverão ser imediatamente interrompidos, até que: (i) seja proferida decisão final em Assembleia Especial de Cotistas, convocada especificamente para este fim, nos termos do item 11.1.1 acima, autorizando a retomada dos procedimentos de aquisição de novas Cotas da Classe Investida, amortização e resgate das Cotas; e/ou (ii) seja sanado o Evento de Avalia</a:t>
            </a:r>
          </a:p>
          <a:p>
            <a:r>
              <a:t>CNPJ 55563624000109 · Prazos de cura e reincidência · Motivo: Não localizada uma cláusula material para este critério nos textos identificados e processados. A ausência de resultado não comprova inexistência da regra.</a:t>
            </a:r>
          </a:p>
          <a:p>
            <a:r>
              <a:t>CNPJ 55563624000109 · Prazos de cura e reincidência · Versão e prevalência: Leitura específica das cláusulas indicadas; condições e conflitos preservados. Seleção documental atual não comprova vigência jurídica por data isolada.</a:t>
            </a:r>
          </a:p>
          <a:p>
            <a:r>
              <a:t>CNPJ 62552447000120 · Prazos de cura e reincidência · Regulamento · ID 1200623 · 21/05/2026 · versão Consolidado21/05/2026 aprovado pelo ato1200625 · p. 22 · AnexoI11.1(ii)–(v) · https://fnet.bmfbovespa.com.br/fnet/publico/visualizarDocumento?id=1200623</a:t>
            </a:r>
          </a:p>
          <a:p>
            <a:r>
              <a:t>CNPJ 62552447000120 · Prazos de cura e reincidência · Excerto da fonte:</a:t>
            </a:r>
          </a:p>
          <a:p>
            <a:r>
              <a:t>5 (cinco) Dias Úteis a partir do recebimento, pelo Endossante, de notificação, por escrito, enviada pelo Administrador, inf ormando-o da ocorrência do respectivo evento; (iii) não cumprimento, pelo Endossante e/ou pelo Agente de Retenção e Cobrança, de sua obrigação de entregar os (a) arquivos eletrônicos disponibilizados mensalmente pela Dataprev ao Endossante, contendo (1) as Consignações processadas pela Dataprev no respectivo mês, identificando os Devedores e os valores que serão descontados de suas respectivas folhas de pagamentos, bem como</a:t>
            </a:r>
          </a:p>
          <a:p>
            <a:r>
              <a:t>CNPJ 62552447000120 · Prazos de cura e reincidência · Regulamento · ID 1200623 · 21/05/2026 · versão Consolidado21/05/2026 aprovado pelo ato1200625 · p. 23 · AnexoI11.1(vi)–(viii) · https://fnet.bmfbovespa.com.br/fnet/publico/visualizarDocumento?id=1200623</a:t>
            </a:r>
          </a:p>
          <a:p>
            <a:r>
              <a:t>CNPJ 62552447000120 · Prazos de cura e reincidência · Excerto da fonte:</a:t>
            </a:r>
          </a:p>
          <a:p>
            <a:r>
              <a:t>5 (cinco) Dias Úteis a partir do recebimento, pelo Agente de Retenção e Cobrança, de notificação, por escrito, enviada pelo Gestor, informando-o da ocorrência do respectivo evento; (vi) não cumprimento, pelo Agente de Conta Vinculada, de qualquer de suas obrigações estabelecidas no contrato de conta vinculada celebrado entre o Endossante, na qualidade de titular da Conta Vinculada, e a Classe (“Contrato de Conta Vinculada”), no Regulamento ou neste Anexo I, desde que esse não cumprimento não seja devidamente sanado ou justificado dentro de 5 (cinco) Dias Úte</a:t>
            </a:r>
          </a:p>
          <a:p>
            <a:r>
              <a:t>CNPJ 62552447000120 · Prazos de cura e reincidência · Regulamento · ID 1200623 · 21/05/2026 · versão Consolidado21/05/2026 aprovado pelo ato1200625 · p. 19 · AnexoI6.8.4 · https://fnet.bmfbovespa.com.br/fnet/publico/visualizarDocumento?id=1200623</a:t>
            </a:r>
          </a:p>
          <a:p>
            <a:r>
              <a:t>CNPJ 62552447000120 · Prazos de cura e reincidência · Excerto da fonte:</a:t>
            </a:r>
          </a:p>
          <a:p>
            <a:r>
              <a:t>6.8.4 Em caso de inadimplência decorrente de falha operacional, será concedido aos Cotistas o prazo de 2 (dois) Dias Úteis contado da data de seu vencimento original para a realização do pagamento da integralização de Cotas sem a incidência de qualquer penalidade, multa ou mora. Transferência de Cotas 6.9 Não haverá direito de preferência aos Cotistas em relação às transferências de Cotas no mercado secundário. 6.10 No caso de alienação voluntária de Cotas, o Cotista alienante deverá solicitar por escrito ao Administrador e ao Gestor, a transf erência parcial ou total de suas Cotas, indicando o nom</a:t>
            </a:r>
          </a:p>
          <a:p>
            <a:r>
              <a:t>CNPJ 62552447000120 · Prazos de cura e reincidência · Regulamento · ID 1200623 · 21/05/2026 · versão Consolidado21/05/2026 aprovado pelo ato1200625 · p. 24 · AnexoI11.1.2 · https://fnet.bmfbovespa.com.br/fnet/publico/visualizarDocumento?id=1200623</a:t>
            </a:r>
          </a:p>
          <a:p>
            <a:r>
              <a:t>CNPJ 62552447000120 · Prazos de cura e reincidência · Excerto da fonte:</a:t>
            </a:r>
          </a:p>
          <a:p>
            <a:r>
              <a:t>11.1.2 No momento de verificação de qualquer Evento de Avaliação, os procedimentos de aquisição de novos Direitos Creditórios deverão ser imediatamente interrompidos, até que: (i) seja prof erida decisão final em Assembleia Especial, convocada especificamente para este fim, nos termos do item 11.1.1 acima, autorizando a retomada dos procedimentos de aquisição de novos Direitos Creditórios e resgate das Cotas; e/ou (ii) seja sanado o Evento de Avaliação . 11.1.3 Na hipótese de não instalação da Assembleia Especial por f alta de quórum, o Administrador dará início aos</a:t>
            </a:r>
          </a:p>
          <a:p>
            <a:r>
              <a:t>CNPJ 62552447000120 · Prazos de cura e reincidência · Motivo: Não localizada uma cláusula material para este critério nos textos identificados e processados. A ausência de resultado não comprova inexistência da regra.</a:t>
            </a:r>
          </a:p>
          <a:p>
            <a:r>
              <a:t>CNPJ 62552447000120 · Prazos de cura e reincidência · Versão e prevalência: Leitura específica das cláusulas indicadas; condições e conflitos preservados. Seleção documental atual não comprova vigência jurídica por data isolada.</a:t>
            </a:r>
          </a:p>
          <a:p>
            <a:r>
              <a:t>CNPJ 63953620000165 · Prazos de cura e reincidência · Anexo ao Regulamento · ID 1222863 · 02/06/2026 · versão AnexoConsignadoPrivado02/06/2026 · p. 14 · 11.1(ii)–(v) · https://fnet.bmfbovespa.com.br/fnet/publico/visualizarDocumento?id=1222863</a:t>
            </a:r>
          </a:p>
          <a:p>
            <a:r>
              <a:t>CNPJ 63953620000165 · Prazos de cura e reincidência · Excerto da fonte:</a:t>
            </a:r>
          </a:p>
          <a:p>
            <a:r>
              <a:t>11.1 As seguintes hipóteses são consideradas eventos de avaliação (“Eventos de Avaliação”): (i) em caso de regime de administração especial temporária - RAET, intervenção ou liquidação extrajudicial do Endossante; (ii) em caso de desenquadramento do Índice de Subordinação por 10 (dez) dias úteis consecutivos; (iii) não cumprimento, pelo Endossante, de qualquer de suas obrigações estabelecidas no Contrato de Endosso ou neste Anexo I, desde que esse não cumprimento não seja devidamente sanado ou justificado dentro de 10 (dez) Dias Úteis a partir do recebimento, pelo Endossan</a:t>
            </a:r>
          </a:p>
          <a:p>
            <a:r>
              <a:t>CNPJ 63953620000165 · Prazos de cura e reincidência · Anexo ao Regulamento · ID 1222863 · 02/06/2026 · versão AnexoConsignadoPrivado02/06/2026 · p. 10 · 6.8 · https://fnet.bmfbovespa.com.br/fnet/publico/visualizarDocumento?id=1222863</a:t>
            </a:r>
          </a:p>
          <a:p>
            <a:r>
              <a:t>CNPJ 63953620000165 · Prazos de cura e reincidência · Excerto da fonte:</a:t>
            </a:r>
          </a:p>
          <a:p>
            <a:r>
              <a:t>6.8 Observado o disposto nos boletins de subscrição, no caso de inadimplemento, a Administradora notificará o cotista inadimplente para sanar o inadimplemento no prazo de até 5 (cinco) Dias Úteis (“Cotista Inadimplente”). Caso o Cotista Inadimplente não sane o inadimplemento dentro de 5 (cinco) Dias Úteis contados do recebimento da notificação descrita acima, a Administradora poderá tomar as medidas previstas no Boletim de Subscrição. Colocação das Cotas 6.9 As Cotas poderão ser objeto de oferta pública a ser realizada nos termos da Resolução CVM 160 (“Oferta”) e/ou poderão ser colocadas de forma privada (“Colocação Privad</a:t>
            </a:r>
          </a:p>
          <a:p>
            <a:r>
              <a:t>CNPJ 63953620000165 · Prazos de cura e reincidência · Versão e prevalência: Leitura específica das cláusulas indicadas; condições e conflitos preservados. Seleção documental atual não comprova vigência jurídica por data isolada.</a:t>
            </a:r>
          </a:p>
          <a:p>
            <a:r>
              <a:t>CNPJ 54871427000194 · Cross default e insolvência · Motivo: Não localizada uma cláusula material para este critério nos textos identificados e processados. A ausência de resultado não comprova inexistência da regra.</a:t>
            </a:r>
          </a:p>
          <a:p>
            <a:r>
              <a:t>CNPJ 60010416000112 · Cross default e insolvência · Regulamento · ID 1051393 · 2025-10-09 · versão 1 · p. 21 · 10.2 · https://fnet.bmfbovespa.com.br/fnet/publico/visualizarDocumento?id=1051393</a:t>
            </a:r>
          </a:p>
          <a:p>
            <a:r>
              <a:t>CNPJ 60010416000112 · Cross default e insolvência · Excerto da fonte:</a:t>
            </a:r>
          </a:p>
          <a:p>
            <a:r>
              <a:t>10.2 Os seguintes eventos obrigarão o Administrador a verif icar se o Patrimônio Líquido da Classe está  negativo:</a:t>
            </a:r>
          </a:p>
          <a:p>
            <a:r>
              <a:t> (i) qualquer pedido de declaração judicial de insolvência da Classe;</a:t>
            </a:r>
          </a:p>
          <a:p>
            <a:r>
              <a:t> (ii) identificação de indícios de f raudes envolvendo o lastro de Direitos Creditórios que representem, no  mínimo 0,5 (cinco décimos por cento) do Patrimônio Líquido da Classe;</a:t>
            </a:r>
          </a:p>
          <a:p>
            <a:r>
              <a:t> (iii) inadimplência de obrigações financeiras de devedor e/ou emissor de ativos detidos pela Classe que  representem mais de 25% (vinte e cinco por cento)de seu Patrimônio Líquido;</a:t>
            </a:r>
          </a:p>
          <a:p>
            <a:r>
              <a:t> (iv) pedido de recuperação extrajudicial, de recuperação judicial, ou de falência de Devedor e/ou emissor  de ativos detidos pela Classe;</a:t>
            </a:r>
          </a:p>
          <a:p>
            <a:r>
              <a:t> (v) condenação da Classe de natureza judicial e/ou arbitral e/ou administrativa e/ou outras similares ao  pagamento de mais de 20% (vinte por cento) de seu Patrimônio Líquido; e</a:t>
            </a:r>
          </a:p>
          <a:p>
            <a:r>
              <a:t> (vi) caso caracterizado quaisquer dos Eventos de Liquidação.</a:t>
            </a:r>
          </a:p>
          <a:p>
            <a:r>
              <a:t>Eventos de Liquidação</a:t>
            </a:r>
          </a:p>
          <a:p>
            <a:r>
              <a:t>CNPJ 60010416000112 · Cross default e insolvência · Regulamento · ID 1051393 · 2025-10-09 · versão 1 · p. 21 · 10.3 · https://fnet.bmfbovespa.com.br/fnet/publico/visualizarDocumento?id=1051393</a:t>
            </a:r>
          </a:p>
          <a:p>
            <a:r>
              <a:t>CNPJ 60010416000112 · Cross default e insolvência · Excerto da fonte:</a:t>
            </a:r>
          </a:p>
          <a:p>
            <a:r>
              <a:t>10.3 As seguintes hipóteses são consideradas Eventos de Liquidação:</a:t>
            </a:r>
          </a:p>
          <a:p>
            <a:r>
              <a:t> (i) caso seja deliberado em Assembleia de Cotistas que um Evento de Avaliação constitui um Evento de  Liquidação;</a:t>
            </a:r>
          </a:p>
          <a:p>
            <a:r>
              <a:t> (ii) na hipótese de resilição do Contrato de Custódia ou renúncia do Custodiante, sem que tenha havido  sua substituição por outra instituição, de acordo com os procedimentos estabelecidos neste  Regulamento;</a:t>
            </a:r>
          </a:p>
          <a:p>
            <a:r>
              <a:t> (iii) renúncia do Administrador sem que a Assembleia Especial de Cotistas eficazmente nomeie instituição  habilitada para substituí-lo, nos termos estabelecidos neste Regulamento;</a:t>
            </a:r>
          </a:p>
          <a:p>
            <a:r>
              <a:t> (iv) por determinação da CVM, em caso de violação de normas legais ou regulamentares;</a:t>
            </a:r>
          </a:p>
          <a:p>
            <a:r>
              <a:t> (v) sempre que assim decidido pelos Cotistas em Assembleia Especial de Cotistas especialmente  convocada para tal f im;</a:t>
            </a:r>
          </a:p>
          <a:p>
            <a:r>
              <a:t> (vi) em caso de regime de administração especial temporária - RAET, intervenção ou liquidação  extrajudicial, conforme aplicável, do Custodiante, Administrador, ou Gestor, sem a sua ef etiva  substituição nos termos deste Regulamento;</a:t>
            </a:r>
          </a:p>
          <a:p>
            <a:r>
              <a:t> (vii) se, após 90 (noventa) dias do início das atividades do Fundo, o Patrimônio Líquido diário inf erior da  Classe f or inf erior a R$ 1.000.000,00 (um milhão de reais) pelo período de 90 (noventa) dias  consecutivos;</a:t>
            </a:r>
          </a:p>
          <a:p>
            <a:r>
              <a:t> (viii) impossibilidade da Classe adquirir Direitos Creditórios admitidos por sua política de investimento.</a:t>
            </a:r>
          </a:p>
          <a:p>
            <a:r>
              <a:t>Procedimentos de Liquidação Antecipada</a:t>
            </a:r>
          </a:p>
          <a:p>
            <a:r>
              <a:t>CNPJ 60010416000112 · Cross default e insolvência · Regulamento · ID 1051393 · 2025-10-09 · versão 1 · p. 19 · 10.1 · https://fnet.bmfbovespa.com.br/fnet/publico/visualizarDocumento?id=1051393</a:t>
            </a:r>
          </a:p>
          <a:p>
            <a:r>
              <a:t>CNPJ 60010416000112 · Cross default e insolvência · Excerto da fonte:</a:t>
            </a:r>
          </a:p>
          <a:p>
            <a:r>
              <a:t>10.1 As seguintes hipóteses são consideradas Eventos de Avaliação:</a:t>
            </a:r>
          </a:p>
          <a:p>
            <a:r>
              <a:t> (i) em caso de regime de administração especial temporária - RAET, intervenção ou liquidação  extrajudicial do Endossante;</a:t>
            </a:r>
          </a:p>
          <a:p>
            <a:r>
              <a:t> (ii) em caso de desenquadramento do Índice de Subordinação por 10 (dez) dias úteis consecutivos;</a:t>
            </a:r>
          </a:p>
          <a:p>
            <a:r>
              <a:t> (iii) não cumprimento, pelo Endossante, de qualquer de suas obrigações estabelecidas no Contrato de  Endosso ou neste Anexo I, desde que esse não cumprimento não seja devidamente sanado ou  justif icado dentro de 10 (dez) Dias Úteis a partir do recebimento, pelo Endossante, de notificação,  por escrito, enviada pelo Administrador, inf ormando-o da ocorrência do respectivo evento;</a:t>
            </a:r>
          </a:p>
          <a:p>
            <a:r>
              <a:t> (iv) não cumprimento, pelo Endossante, de sua obrigação de entregar os Arquivos Dataprev ao Gestor  e ao Custodiante dentro do prazo estabelecido neste Anexo I, desde que esse não cumprimento  não seja devidamente sanado ou justificado dentro de 02 (dois) Dias Úteis a partir do recebimento,  pelo Endossante, de notificação, por escrito, enviada pelo Gestor, informando-o da ocorrência do  respectivo evento;</a:t>
            </a:r>
          </a:p>
          <a:p>
            <a:r>
              <a:t> (v) não cumprimento, pelo Endossante, de qualquer de suas obrigações de entregar ao Gestor e/o ao  Custodiante, ou a terceiros por ele indicados, os Documentos Comprobatórios e Documentos  Suporte relativos aos Direitos Creditórios que tenham sido endossados à Classe, dentro do prazo  estabelecido neste Anexo I, desde que esse não cumprimento não seja devidamente sanado ou  justif icado dentro de 02 (dois) Dias Úteis a partir do recebimento, pelo Endossante, de notificação,  por escrito, enviada pelo Gestor e/ou Custodiante, inf ormando- o da ocorrência do respectivo  evento;</a:t>
            </a:r>
          </a:p>
          <a:p>
            <a:r>
              <a:t> (vi) não cumprimento, pelo Agente de Retenção/Cobrança, de qualquer de suas obrigações  estabelecidas no Contrato de Endosso, neste Regulamento ou no Contrato de Serviços MT, desde  que esse não cumprimento não seja devidamente sanado ou justificado dentro de 10 (dez) Dias  Úteis a partir do recebimento, pelo Agente de Retenção/Cobrança, de notificação, por escrito,  enviada pelo Gestor, inf ormando-o da ocorrência do respectivo evento;</a:t>
            </a:r>
          </a:p>
          <a:p>
            <a:r>
              <a:t> (vii) não cumprimento, pelo Administrador, Gestor ou Custodiante, de seus respectivos deveres e  obrigações estabelecidos neste Regulamento, no Contrato de Endosso ou nos respectivos  contratos de prestação de serviços segundo os quais essas entidades são contratadas pela Classe,  desde que, tendo sido notificado pelo Cotista para remediar ou justificar o não cumprimento, não o  f aça dentro de 10 (dez) Dias Úteis a partir do recebimento da notif icação mencionada;</a:t>
            </a:r>
          </a:p>
          <a:p>
            <a:r>
              <a:t>BTG Pactual SAC: 0800 772 28 27 - Ouvidoria: 0800 722 00 48 - btgpactual.com 19</a:t>
            </a:r>
          </a:p>
          <a:p>
            <a:r>
              <a:t>CNPJ 60010416000112 · Cross default e insolvência · Condição: Documentos atuais selecionados no inventário por categoria/escopo; a data documental isolada não comprova vigência jurídica.</a:t>
            </a:r>
          </a:p>
          <a:p>
            <a:r>
              <a:t>CNPJ 60010416000112 · Cross default e insolvência · Versão e prevalência: Documentos atuais selecionados no inventário por categoria/escopo; a data documental isolada não comprova vigência jurídica.</a:t>
            </a:r>
          </a:p>
          <a:p>
            <a:r>
              <a:t>CNPJ 60010416000112 · Cross default e insolvência · Resumo do histórico: {"count": 1, "dates": ["2025-03-20"], "document_count": 1, "sources": [{"document_id": "993786", "title": "Regulamento", "reference_date": "2025-03-20", "version": "1", "page": 21, "clause": "10.2", "url": "https://fnet.bmfbovespa.com.br/fnet/publico/visualizarDocumento?id=993786", "sha256": "fd0fdd369a195510d81f81f505195a0b09e5f43522a990afa7d58c4f872921c8"}], "reference": {"path": "history/60010416000112.json", "criterion_id": "cross_default", "total_count": 1, "preview_count": 1, "full_text_deferred": true, "sha256": "8e2bd813f4c51cf01f6bfaad164bafe69d2bbb192f753eac92da3a01c2e63046"}}</a:t>
            </a:r>
          </a:p>
          <a:p>
            <a:r>
              <a:t>CNPJ 62696791000193 · Cross default e insolvência · Motivo: Não localizada uma cláusula material para este critério nos textos identificados e processados. A ausência de resultado não comprova inexistência da regra.</a:t>
            </a:r>
          </a:p>
          <a:p>
            <a:r>
              <a:t>CNPJ 55563624000109 · Cross default e insolvência · Motivo: Não localizada uma cláusula material para este critério nos textos identificados e processados. A ausência de resultado não comprova inexistência da regra.</a:t>
            </a:r>
          </a:p>
          <a:p>
            <a:r>
              <a:t>CNPJ 62552447000120 · Cross default e insolvência · Regulamento · ID 1200623 · 2026-05-21 · versão 1 · p. 22 · 11.1 · https://fnet.bmfbovespa.com.br/fnet/publico/visualizarDocumento?id=1200623</a:t>
            </a:r>
          </a:p>
          <a:p>
            <a:r>
              <a:t>CNPJ 62552447000120 · Cross default e insolvência · Excerto da fonte:</a:t>
            </a:r>
          </a:p>
          <a:p>
            <a:r>
              <a:t>11.1 As seguintes hipóteses são consideradas eventos de avaliação (“Eventos de Avaliação”):</a:t>
            </a:r>
          </a:p>
          <a:p>
            <a:r>
              <a:t> (i) em caso de regime de administração especial temporária - RAET, intervenção ou liquidação  extrajudicial do Endossante, da instituição f inanceira prestadora dos serviços de agente de  conta vinculada à Classe (“Agente de Conta Vinculada”) e/ou do Agente de Retenção e  Cobrança;</a:t>
            </a:r>
          </a:p>
          <a:p>
            <a:r>
              <a:t> (ii) não cumprimento, pelo Endossante, de qualquer de suas obrigações estabelecidas nos  Contratos de Endosso, no Regulamento ou neste Anexo I, desde que esse não cumprimento  não seja devidamente sanado ou justificado dentro de 5 (cinco) Dias Úteis a partir do  recebimento, pelo Endossante, de notificação, por escrito, enviada pelo Administrador,  inf ormando-o da ocorrência do respectivo evento;</a:t>
            </a:r>
          </a:p>
          <a:p>
            <a:r>
              <a:t> (iii) não cumprimento, pelo Endossante e/ou pelo Agente de Retenção e Cobrança, de sua  obrigação de entregar os (a) arquivos eletrônicos disponibilizados mensalmente pela Dataprev  ao Endossante, contendo (1) as Consignações processadas pela Dataprev no respectivo mês,  identificando os Devedores e os valores que serão descontados de suas respectivas folhas de  pagamentos, bem como (2) a totalidade das operações pendentes de crédito consignado  concedidas pelo Endossante e indicando todos os Direitos Creditórios devi dos mediante  Consignação na próxima data de liquidação (“Arquivos Dataprev”) e/ou (b) os arquivos  eletrônicos disponibilizados mensalmente pela CEF ao Endossante, contendo os pagamentos  de Saque-aniversário processados pela CEF no respectivo mês devidos à Classe, identificando  os Devedores e os valores que serão descontados de seus respectivos Saques-aniversário  (“Arquivos de Liquidação Saque-aniversário”) ao Custodiante dentro do prazo estabelecido  neste Anexo I, desde que esse não cumprimento não seja dev idamente sanado ou justificado  dentro de 5 (cinco) Dias Úteis a partir do recebimento, pelo Endossante e/ou pelo Agente de  Retenção e Cobrança, de notificação, por escrito, enviada pelo Custodiante, inf ormando-o da  ocorrência do respectivo evento;</a:t>
            </a:r>
          </a:p>
          <a:p>
            <a:r>
              <a:t> (iv) não cumprimento, pelo Endossante e/ou pelo Agente de Retenção e Cobrança, de qualquer de  suas obrigações de entregar ao Gestor, ou a terceiros por ele indicados, os Documentos  Comprobatórios e Documentos Suporte relativos aos Direitos Creditórios que tenham sido  endossados à Classe, dentro do prazo estabelecido neste Anexo I, desde que esse não  cumprimento não seja devidamente sanado ou justificado dentro de 5 (cinco) Dias Úteis a partir  do recebimento, pelo Endossante e/ou pelo Agente de Retenção e Cobrança, de notificação,  por escrito, enviada pelo Custodiante, inf ormando- o da ocorrência do respectivo evento;</a:t>
            </a:r>
          </a:p>
          <a:p>
            <a:r>
              <a:t> (v) não cumprimento, pelo Agente de Retenção e Cobrança, de qualquer de suas obrigações  estabelecidas nos Contratos de Endosso, no Regulamento, neste Anexo I ou nos Contratos de  Retenção/Cobrança, desde que esse não cumprimento não seja devidamente sanado ou</a:t>
            </a:r>
          </a:p>
          <a:p>
            <a:r>
              <a:t>CNPJ 62552447000120 · Cross default e insolvência · Condição: Documentos atuais selecionados no inventário por categoria/escopo; a data documental isolada não comprova vigência jurídica.</a:t>
            </a:r>
          </a:p>
          <a:p>
            <a:r>
              <a:t>CNPJ 62552447000120 · Cross default e insolvência · Versão e prevalência: Documentos atuais selecionados no inventário por categoria/escopo; a data documental isolada não comprova vigência jurídica.</a:t>
            </a:r>
          </a:p>
          <a:p>
            <a:r>
              <a:t>CNPJ 63953620000165 · Cross default e insolvência · Anexo ao Regulamento · ID 1222863 · 2026-06-02 · versão 1 · p. 14 · 11.1 · https://fnet.bmfbovespa.com.br/fnet/publico/visualizarDocumento?id=1222863</a:t>
            </a:r>
          </a:p>
          <a:p>
            <a:r>
              <a:t>CNPJ 63953620000165 · Cross default e insolvência · Excerto da fonte:</a:t>
            </a:r>
          </a:p>
          <a:p>
            <a:r>
              <a:t>11.1 As seguintes hipóteses são consideradas eventos de avaliação (“Eventos de Avaliação”):</a:t>
            </a:r>
          </a:p>
          <a:p>
            <a:r>
              <a:t> (i) em caso de regime de administração especial temporária - RAET, intervenção ou liquidação extrajudicial  do Endossante;</a:t>
            </a:r>
          </a:p>
          <a:p>
            <a:r>
              <a:t> (ii) em caso de desenquadramento do Índice de Subordinação por 10 (dez) dias úteis consecutivos;</a:t>
            </a:r>
          </a:p>
          <a:p>
            <a:r>
              <a:t> (iii) não cumprimento, pelo Endossante, de qualquer de suas obrigações estabelecidas no Contrato de  Endosso ou neste Anexo I, desde que esse não cumprimento não seja devidamente sanado ou justificado  dentro de 10 (dez) Dias Úteis a partir do recebimento, pelo Endossante, de notificação, por escrito,  enviada pelo Administrador, informando-o da ocorrência do respectivo evento;</a:t>
            </a:r>
          </a:p>
          <a:p>
            <a:r>
              <a:t> (iv) não cumprimento, pelo Endossante, de sua obrigação de entregar os Arquivos Dataprev ao Gestor e ao  Custodiante dentro do prazo estabelecido neste Anexo, desde que esse não cumprimento não seja  devidamente sanado ou justificado dentro de 02 (dois) Dias Úteis a partir do recebimento, pelo  Endossante, de notificação, por escrito, enviada pelo Gestor, informando-o da ocorrência do respectivo  evento;</a:t>
            </a:r>
          </a:p>
          <a:p>
            <a:r>
              <a:t> (v) não cumprimento, pelo Endossante, de qualquer de suas obrigações de entregar ao Gestor e/o ao  Custodiante, ou a terceiros por ele indicados, os Documentos Comprobatórios e Documentos Suporte  relativos aos Direitos Creditórios que tenham sido endossados à Classe, dentro do prazo estabelecido  neste Anexo I, desde que esse não cumprimento não seja devidamente sanado ou justificado dentro de  02 (dois) Dias Úteis a partir do recebimento, pelo Endossante, de notificação, por escrito, enviada pelo  Gestor e/ou Custodiante, informando- o da ocorrência do respectivo evento;</a:t>
            </a:r>
          </a:p>
          <a:p>
            <a:r>
              <a:t> (vi) não cumprimento, pelo Agente de Retenção/Cobrança, de qualquer de suas obrigações estabelecidas  no Contrato de Endosso, neste Regulamento ou no Contrato de Serviços MT, desde que esse não  cumprimento não seja devidamente sanado ou justificado dentro de 10 (dez) Dias Úteis a partir do  recebimento, pelo Agente de Retenção/Cobrança, de notificação, por escrito, enviada pelo Gestor,  informando-o da ocorrência do respectivo evento;</a:t>
            </a:r>
          </a:p>
          <a:p>
            <a:r>
              <a:t>CNPJ 63953620000165 · Cross default e insolvência · Condição: Documentos atuais selecionados no inventário por categoria/escopo; a data documental isolada não comprova vigência jurídica.</a:t>
            </a:r>
          </a:p>
          <a:p>
            <a:r>
              <a:t>CNPJ 63953620000165 · Cross default e insolvência · Versão e prevalência: Documentos atuais selecionados no inventário por categoria/escopo; a data documental isolada não comprova vigência jurídica.</a:t>
            </a:r>
          </a:p>
          <a:p>
            <a:r>
              <a:t>CNPJ 54871427000194 · Gatilhos de avaliação e liquidação · Regulamento · ID 670691 · 2024-04-28 · versão 1 · p. 17 · 10.2 · https://fnet.bmfbovespa.com.br/fnet/publico/visualizarDocumento?id=670691</a:t>
            </a:r>
          </a:p>
          <a:p>
            <a:r>
              <a:t>CNPJ 54871427000194 · Gatilhos de avaliação e liquidação · Excerto da fonte:</a:t>
            </a:r>
          </a:p>
          <a:p>
            <a:r>
              <a:t>10.2 A Assembleia Especial de Cotistas é responsável por deliberar sobre as matérias específicas da Classe  de Cotas, sem prejuízo das demais disposições previstas na regulamentação aplicável, incluindo, mas  não se limitando a:</a:t>
            </a:r>
          </a:p>
          <a:p>
            <a:r>
              <a:t> (i) deliberar sobre as demonstrações contábeis da Classe;</a:t>
            </a:r>
          </a:p>
          <a:p>
            <a:r>
              <a:t> (ii) deliberar sobre substituição de Prestadores de Serviços Essenciais, observado o disposto no  art. 70, §1º da parte geral da Resolução CVM 175;</a:t>
            </a:r>
          </a:p>
          <a:p>
            <a:r>
              <a:t> (iii) deliberar sobre elevação da Taxa de Administração, inclusive na hipótese de restabelecimento  de taxa que tenha sido objeto de redução;</a:t>
            </a:r>
          </a:p>
          <a:p>
            <a:r>
              <a:t> (iv) deliberar sobre incorporação, f usão, cisão total ou parcial, a transf ormação ou liquidação da  Classe;</a:t>
            </a:r>
          </a:p>
          <a:p>
            <a:r>
              <a:t> (v) alterações das características, vantagens, direitos e obrigações das Cotas;</a:t>
            </a:r>
          </a:p>
          <a:p>
            <a:r>
              <a:t> (vi) alterar critérios e procedimentos para Amortização e/ou resgate de Cotas mediante dação em  pagamento de Direitos Creditórios;</a:t>
            </a:r>
          </a:p>
          <a:p>
            <a:r>
              <a:t> (vii) aprovar a contratação de Agente de Cobrança dos Direitos Creditórios;</a:t>
            </a:r>
          </a:p>
          <a:p>
            <a:r>
              <a:t> (viii) aprovar emissão de novas Cotas da Classe;</a:t>
            </a:r>
          </a:p>
          <a:p>
            <a:r>
              <a:t> (ix) deliberar sobre a eventual necessidade de aportes adicionais de recursos na Classe pelos  Cotistas;</a:t>
            </a:r>
          </a:p>
          <a:p>
            <a:r>
              <a:t> (x) alterações na Política de Investimentos;</a:t>
            </a:r>
          </a:p>
          <a:p>
            <a:r>
              <a:t> (xi) alterações nos Critérios de Elegibilidade;</a:t>
            </a:r>
          </a:p>
          <a:p>
            <a:r>
              <a:t> (xii) alteração dos Eventos de Avaliação, dos Eventos de Liquidação e/ou das consequências deles  decorrentes em f unção do previsto neste Regulamento;</a:t>
            </a:r>
          </a:p>
          <a:p>
            <a:r>
              <a:t> (xiii) plano de resolução do Patrimônio Líquido negativo da Classe, nos termos da Resolução CVM  175; e</a:t>
            </a:r>
          </a:p>
          <a:p>
            <a:r>
              <a:t> (xiv) pedido de declaração judicial de insolvência da Classe.</a:t>
            </a:r>
          </a:p>
          <a:p>
            <a:r>
              <a:t>CAPÍTULO 11 – EVENTOS DE AVALIAÇÃO, EVENTOS DE LIQUIDAÇÃO, E PROCEDIMENTOS DE LIQUIDAÇÃO ANTECIPADA Eventos de Avaliação</a:t>
            </a:r>
          </a:p>
          <a:p>
            <a:r>
              <a:t>CNPJ 54871427000194 · Gatilhos de avaliação e liquidação · Regulamento · ID 670691 · 2024-04-28 · versão 1 · p. 19 · 11.2 · https://fnet.bmfbovespa.com.br/fnet/publico/visualizarDocumento?id=670691</a:t>
            </a:r>
          </a:p>
          <a:p>
            <a:r>
              <a:t>CNPJ 54871427000194 · Gatilhos de avaliação e liquidação · Excerto da fonte:</a:t>
            </a:r>
          </a:p>
          <a:p>
            <a:r>
              <a:t>11.2 Os seguintes eventos obrigarão o ADMINISTRADOR a verificar se o Patrimônio Líquido da Classe está  negativo:</a:t>
            </a:r>
          </a:p>
          <a:p>
            <a:r>
              <a:t> (i) qualquer pedido de declaração judicial de insolvência da Classe; e</a:t>
            </a:r>
          </a:p>
          <a:p>
            <a:r>
              <a:t> (ii) na ocorrência de quaisquer dos Eventos de Avaliação e/ou Eventos de Liquidação .</a:t>
            </a:r>
          </a:p>
          <a:p>
            <a:r>
              <a:t>Eventos de Liquidação</a:t>
            </a:r>
          </a:p>
          <a:p>
            <a:r>
              <a:t>CNPJ 54871427000194 · Gatilhos de avaliação e liquidação · Condição: Documentos atuais selecionados no inventário por categoria/escopo; a data documental isolada não comprova vigência jurídica.</a:t>
            </a:r>
          </a:p>
          <a:p>
            <a:r>
              <a:t>CNPJ 54871427000194 · Gatilhos de avaliação e liquidação · Versão e prevalência: Documentos atuais selecionados no inventário por categoria/escopo; a data documental isolada não comprova vigência jurídica.</a:t>
            </a:r>
          </a:p>
          <a:p>
            <a:r>
              <a:t>CNPJ 54871427000194 · Gatilhos de avaliação e liquidação · Resumo do histórico: {"count": 2, "dates": ["2024-04-19", "2024-04-28"], "document_count": 2, "sources": [{"document_id": "670691", "title": "Regulamento", "reference_date": "2024-04-28", "version": "1", "page": "17-20", "url": "https://fnet.bmfbovespa.com.br/fnet/publico/visualizarDocumento?id=670691", "sha256": "bf16dd7f1a62d5cdbf2e2d54fef81783783f7310fbc99c3a8f00459bdf9d037b"}, {"document_id": "670689", "title": "Regulamento", "reference_date": "2024-04-19", "version": "1", "page": 17, "clause": "10.2", "url": "https://fnet.bmfbovespa.com.br/fnet/publico/visualizarDocumento?id=670689", "sha256": "891bc9bc5d87bbc02ec139077a84d2702eb81ea02035fb71d24f5b8366b94a0b"}], "reference": {"path": "history/54871427000194.json", "criterion_id": "legacy_events", "total_count": 2, "preview_count": 2, "full_text_deferred": true, "sha256": "35d7cd99be50c7287c9fb675cf4f2e736002315295a225a9efa79c8d9186d874"}}</a:t>
            </a:r>
          </a:p>
          <a:p>
            <a:r>
              <a:t>CNPJ 60010416000112 · Gatilhos de avaliação e liquidação · Regulamento · ID 1051393 · 2025-10-09 · versão 1 · p. 21 · 10.2 · https://fnet.bmfbovespa.com.br/fnet/publico/visualizarDocumento?id=1051393</a:t>
            </a:r>
          </a:p>
          <a:p>
            <a:r>
              <a:t>CNPJ 60010416000112 · Gatilhos de avaliação e liquidação · Excerto da fonte:</a:t>
            </a:r>
          </a:p>
          <a:p>
            <a:r>
              <a:t>10.2 Os seguintes eventos obrigarão o Administrador a verif icar se o Patrimônio Líquido da Classe está  negativo:</a:t>
            </a:r>
          </a:p>
          <a:p>
            <a:r>
              <a:t> (i) qualquer pedido de declaração judicial de insolvência da Classe;</a:t>
            </a:r>
          </a:p>
          <a:p>
            <a:r>
              <a:t> (ii) identificação de indícios de f raudes envolvendo o lastro de Direitos Creditórios que representem, no  mínimo 0,5 (cinco décimos por cento) do Patrimônio Líquido da Classe;</a:t>
            </a:r>
          </a:p>
          <a:p>
            <a:r>
              <a:t> (iii) inadimplência de obrigações financeiras de devedor e/ou emissor de ativos detidos pela Classe que  representem mais de 25% (vinte e cinco por cento)de seu Patrimônio Líquido;</a:t>
            </a:r>
          </a:p>
          <a:p>
            <a:r>
              <a:t> (iv) pedido de recuperação extrajudicial, de recuperação judicial, ou de falência de Devedor e/ou emissor  de ativos detidos pela Classe;</a:t>
            </a:r>
          </a:p>
          <a:p>
            <a:r>
              <a:t> (v) condenação da Classe de natureza judicial e/ou arbitral e/ou administrativa e/ou outras similares ao  pagamento de mais de 20% (vinte por cento) de seu Patrimônio Líquido; e</a:t>
            </a:r>
          </a:p>
          <a:p>
            <a:r>
              <a:t> (vi) caso caracterizado quaisquer dos Eventos de Liquidação.</a:t>
            </a:r>
          </a:p>
          <a:p>
            <a:r>
              <a:t>Eventos de Liquidação</a:t>
            </a:r>
          </a:p>
          <a:p>
            <a:r>
              <a:t>CNPJ 60010416000112 · Gatilhos de avaliação e liquidação · Regulamento · ID 1051393 · 2025-10-09 · versão 1 · p. 21 · 10.3 · https://fnet.bmfbovespa.com.br/fnet/publico/visualizarDocumento?id=1051393</a:t>
            </a:r>
          </a:p>
          <a:p>
            <a:r>
              <a:t>CNPJ 60010416000112 · Gatilhos de avaliação e liquidação · Excerto da fonte:</a:t>
            </a:r>
          </a:p>
          <a:p>
            <a:r>
              <a:t>10.3 As seguintes hipóteses são consideradas Eventos de Liquidação:</a:t>
            </a:r>
          </a:p>
          <a:p>
            <a:r>
              <a:t> (i) caso seja deliberado em Assembleia de Cotistas que um Evento de Avaliação constitui um Evento de  Liquidação;</a:t>
            </a:r>
          </a:p>
          <a:p>
            <a:r>
              <a:t> (ii) na hipótese de resilição do Contrato de Custódia ou renúncia do Custodiante, sem que tenha havido  sua substituição por outra instituição, de acordo com os procedimentos estabelecidos neste  Regulamento;</a:t>
            </a:r>
          </a:p>
          <a:p>
            <a:r>
              <a:t> (iii) renúncia do Administrador sem que a Assembleia Especial de Cotistas eficazmente nomeie instituição  habilitada para substituí-lo, nos termos estabelecidos neste Regulamento;</a:t>
            </a:r>
          </a:p>
          <a:p>
            <a:r>
              <a:t> (iv) por determinação da CVM, em caso de violação de normas legais ou regulamentares;</a:t>
            </a:r>
          </a:p>
          <a:p>
            <a:r>
              <a:t> (v) sempre que assim decidido pelos Cotistas em Assembleia Especial de Cotistas especialmente  convocada para tal f im;</a:t>
            </a:r>
          </a:p>
          <a:p>
            <a:r>
              <a:t> (vi) em caso de regime de administração especial temporária - RAET, intervenção ou liquidação  extrajudicial, conforme aplicável, do Custodiante, Administrador, ou Gestor, sem a sua ef etiva  substituição nos termos deste Regulamento;</a:t>
            </a:r>
          </a:p>
          <a:p>
            <a:r>
              <a:t> (vii) se, após 90 (noventa) dias do início das atividades do Fundo, o Patrimônio Líquido diário inf erior da  Classe f or inf erior a R$ 1.000.000,00 (um milhão de reais) pelo período de 90 (noventa) dias  consecutivos;</a:t>
            </a:r>
          </a:p>
          <a:p>
            <a:r>
              <a:t> (viii) impossibilidade da Classe adquirir Direitos Creditórios admitidos por sua política de investimento.</a:t>
            </a:r>
          </a:p>
          <a:p>
            <a:r>
              <a:t>Procedimentos de Liquidação Antecipada</a:t>
            </a:r>
          </a:p>
          <a:p>
            <a:r>
              <a:t>CNPJ 60010416000112 · Gatilhos de avaliação e liquidação · Regulamento · ID 1051393 · 2025-10-09 · versão 1 · p. 38 · https://fnet.bmfbovespa.com.br/fnet/publico/visualizarDocumento?id=1051393</a:t>
            </a:r>
          </a:p>
          <a:p>
            <a:r>
              <a:t>CNPJ 60010416000112 · Gatilhos de avaliação e liquidação · Excerto da fonte:</a:t>
            </a:r>
          </a:p>
          <a:p>
            <a:r>
              <a:t>Anexo I ao Regulamento CLASSE ÚNICA DO MT I CONSIGNADO PRIVADO I FUNDO DE INVESTIMENTO EM DIREITOS CREDITÓRIOS RESPONSABILIDADE LIMITADA  deixar de produzir os efeitos pretendidos, bem como causar perdas para o Cotista e colocar  em risco o patrimônio da Classe</a:t>
            </a:r>
          </a:p>
          <a:p>
            <a:r>
              <a:t> (iii) Risco decorrente da amortização das Cotas: conforme previsto neste Anexo I, as Cotas  poderão ser amortizadas conf orme deliberado pela em Assembleia de Cotistas.</a:t>
            </a:r>
          </a:p>
          <a:p>
            <a:r>
              <a:t> Considerando que a realização da amortização dependerá do caixa existente na Classe, é  possível que, se essa condição não seja verif icada, a Classe não poderá ef etuar as  amortizações das Cotas conforme deliberadas pelos Cotistas. A Classe, o Administrador, o  Custodiante, o Gestor, o Agente de Retenção/Cobrança, o Coordenador Líder ou o  Endossante não terão direito a nenhuma multa ou penalidade, por qualquer motivo, devido a  esse f ato.</a:t>
            </a:r>
          </a:p>
          <a:p>
            <a:r>
              <a:t> (iv) Risco de invalidade ou ineficácia do endosso: o endosso dos Direitos Creditórios à Classe  poderá ser invalidada ou considerada ineficaz, o que impacta negativamente o patrimônio da  Classe, no caso de (a) fraude contra credores, se no momento do endosso o Endossante for  insolvente ou se ele vier a se tornar insolvente; (b) fraude à execução, se (1) no momento do  endosso o Endossante f or réu em um processo judicial capaz de torná-lo insolvente; ou (2)  os Direitos Creditórios endossados à Classe estiverem sujeitos a qualquer demanda judicial  baseada em garantia real; e (c) f raude à execução f iscal, se o Endossante, ao celebrar o  endosso de crédito, como contribuinte por débito à Fazenda Pública, e crédito f iscal  regularmente inscrito na dívida ativa, não tiver ativos para pagamento total da dívida f iscal.</a:t>
            </a:r>
          </a:p>
          <a:p>
            <a:r>
              <a:t> Entretanto, o Administrador, o Custodiante, o Gestor e o Agente de Retenção/ Cobrança não  verif icarão os eventos acima no endosso de Direito Creditório e não serão responsabilizados  em caso de invalidação ou inef icácia do endosso de um Direito Creditório à Classe.</a:t>
            </a:r>
          </a:p>
          <a:p>
            <a:r>
              <a:t> (v) Risco de impugnação judicial: a CCB poderá ser impugnada judicialmente tanto no que diz  respeito à sua f ormalização quanto às taxas aplicadas e à f orma de cobrança da CCB,  inclusive em virtude das disposições estabelecidas na Lei nº 8.078, de 11 de setembro de  1990, conf orme alterada (Código de Def esa do Consumidor), tais como uma possível  impugnação de cláusula abusiva, bem como qualquer vício nos Documentos Comprobatórios  ou Documentos Suporte que impeçam a exigibilidade do crédito (ausência de assinaturas ou  f alta de prova de f ormalização regular do instrumento, representação ilegítima, dentre  outros). Nesses casos, a CCB poderá ser modificada ou cancelada em virtude de decisão  judicial, o que poderá acarretar perdas para a Classe e, consequentemente, af etar  negativamente a rentabilidade de seu patrimônio.</a:t>
            </a:r>
          </a:p>
          <a:p>
            <a:r>
              <a:t> (vi) Risco de restrições de natureza legal ou regulamentar: a Classe pode estar sujeito a  riscos, além do controle do Administrador, decorrentes de quaisquer restrições f uturas de  natureza legal e/ou regulamentar que venham a af etar a validade da constituição e/ou o  endosso dos Direitos Creditórios à Classe. Caso essas restrições ocorram, o f luxo de  cessões de Direitos Creditórios à Classe pode ser interrompido e, portanto, pode  comprometer a continuidade da Classe e a perspectiva de investimento do Cotista. Além  disso, os Direitos Creditórios que já estão na Carteira podem ter sua validade questionada,  o que pode causar, portanto, prejuízos ao Cotista.</a:t>
            </a:r>
          </a:p>
          <a:p>
            <a:r>
              <a:t> (vii) Risco de não obter um tratamento fiscal mais benéfico: o Gestor deverá envidar seus  melhores esforços para que o tratamento f iscal aplicável às classes de longo prazo seja  aplicado à Classe e ao Cotista. Entretanto, em virtude de eventos fora do controle do Gestor,  incluindo, mas não se limitando aos eventos de liquidação antecipada da Classe  estabelecidos neste Anexo I, é possível que a Classe e o Cotista não desfrutem de tratamento  f iscal mais benéf ico, atribuído às classes de longo prazo. Essa situação pode levar a um  impacto adverso na rentabilidade líquida decorrente do investimento nas Cotas.</a:t>
            </a:r>
          </a:p>
          <a:p>
            <a:r>
              <a:t> (viii) Risco de bloqueio da Conta de Cobrança da Classe ou da Conta de Movimentação da  Classe: os recursos provenientes da Classe serão direcionados para a Conta de Cobrança BTG Pactual SAC: 0800 772 28 27 - Ouvidoria: 0800 722 00 48 - btgpactual.com 38</a:t>
            </a:r>
          </a:p>
          <a:p>
            <a:r>
              <a:t>CNPJ 60010416000112 · Gatilhos de avaliação e liquidação · Condição: Documentos atuais selecionados no inventário por categoria/escopo; a data documental isolada não comprova vigência jurídica.</a:t>
            </a:r>
          </a:p>
          <a:p>
            <a:r>
              <a:t>CNPJ 60010416000112 · Gatilhos de avaliação e liquidação · Versão e prevalência: Documentos atuais selecionados no inventário por categoria/escopo; a data documental isolada não comprova vigência jurídica.</a:t>
            </a:r>
          </a:p>
          <a:p>
            <a:r>
              <a:t>CNPJ 60010416000112 · Gatilhos de avaliação e liquidação · Resumo do histórico: {"count": 2, "dates": ["2025-03-20", "2025-10-09"], "document_count": 2, "sources": [{"document_id": "1051393", "title": "Regulamento", "reference_date": "2025-10-09", "version": "1", "page": "19-22", "url": "https://fnet.bmfbovespa.com.br/fnet/publico/visualizarDocumento?id=1051393", "sha256": "8469d613078ffd5a6c1d217885d8a397a16342c0b937ae4aa24b106505f233ae"}, {"document_id": "993786", "title": "Regulamento", "reference_date": "2025-03-20", "version": "1", "page": 21, "clause": "10.2", "url": "https://fnet.bmfbovespa.com.br/fnet/publico/visualizarDocumento?id=993786", "sha256": "fd0fdd369a195510d81f81f505195a0b09e5f43522a990afa7d58c4f872921c8"}], "reference": {"path": "history/60010416000112.json", "criterion_id": "legacy_events", "total_count": 2, "preview_count": 2, "full_text_deferred": true, "sha256": "8e2bd813f4c51cf01f6bfaad164bafe69d2bbb192f753eac92da3a01c2e63046"}}</a:t>
            </a:r>
          </a:p>
          <a:p>
            <a:r>
              <a:t>CNPJ 62696791000193 · Gatilhos de avaliação e liquidação · Regulamento · ID 1143317 · 2026-03-20 · versão 1 · p. 37 · 5.1 · https://fnet.bmfbovespa.com.br/fnet/publico/visualizarDocumento?id=1143317</a:t>
            </a:r>
          </a:p>
          <a:p>
            <a:r>
              <a:t>CNPJ 62696791000193 · Gatilhos de avaliação e liquidação · Excerto da fonte:</a:t>
            </a:r>
          </a:p>
          <a:p>
            <a:r>
              <a:t>5.1. Verif icado excesso de subordinação, ou seja, que a representatividade de Cotas Júnior em relação ao  Patrimônio Líquido da Classe é superior ao Índice de Subordinação (“Excesso de Subordinação”), desde  que assim seja deliberado por maioria dos votos de seus titulares e da maioria dos titulares de Cotas  Seniores, as Cotas Juniores poderão ser objeto de Amortização Extraordinária até o limite do respectivos  Excesso de Subordinação– ainda que tal Amortização Extraordinária ocorra antes do resgate integral das  Cotas Seniores– desde que: (i) seja observada a ordem de alocação de recursos definida no item 6.1  acima Anexo; (ii) não existam Obrigações da Classe vencidas e não pagas; (iii) não estejam em curso  quaisquer Eventos de Avaliação e/ou Eventos de Liquidação; (iv) existam suficientes Ativos Financeiros  e/ou recursos disponíveis; e (vii) permaneçam atendidas todos os Índices de Subordinação.</a:t>
            </a:r>
          </a:p>
          <a:p>
            <a:r>
              <a:t>6. Negociação das Cotas</a:t>
            </a:r>
          </a:p>
          <a:p>
            <a:r>
              <a:t>CNPJ 62696791000193 · Gatilhos de avaliação e liquidação · Condição: Documentos atuais selecionados no inventário por categoria/escopo; a data documental isolada não comprova vigência jurídica.</a:t>
            </a:r>
          </a:p>
          <a:p>
            <a:r>
              <a:t>CNPJ 62696791000193 · Gatilhos de avaliação e liquidação · Motivo: Cláusula primária localizada e citada, mas sua lista/condições extensas não admitem uma síntese literal curta confirmada. O trecho integral permanece nas fontes.</a:t>
            </a:r>
          </a:p>
          <a:p>
            <a:r>
              <a:t>CNPJ 62696791000193 · Gatilhos de avaliação e liquidação · Versão e prevalência: Documentos atuais selecionados no inventário por categoria/escopo; a data documental isolada não comprova vigência jurídica.</a:t>
            </a:r>
          </a:p>
          <a:p>
            <a:r>
              <a:t>CNPJ 55563624000109 · Gatilhos de avaliação e liquidação · Regulamento · ID 1192614 · 2026-04-30 · versão 1 · p. 21 · 11.2 · https://fnet.bmfbovespa.com.br/fnet/publico/visualizarDocumento?id=1192614</a:t>
            </a:r>
          </a:p>
          <a:p>
            <a:r>
              <a:t>CNPJ 55563624000109 · Gatilhos de avaliação e liquidação · Excerto da fonte:</a:t>
            </a:r>
          </a:p>
          <a:p>
            <a:r>
              <a:t>11.2 Os seguintes eventos obrigarão o ADMINISTRADOR a verificar se o Patrimônio Líquido da Classe está negativo  (“Eventos de Verificação do Patrimônio”):</a:t>
            </a:r>
          </a:p>
          <a:p>
            <a:r>
              <a:t> (i) qualquer pedido de declaração judicial de insolvência da Classe;</a:t>
            </a:r>
          </a:p>
          <a:p>
            <a:r>
              <a:t> (ii) qualquer pedido ou declaração judicial de insolvência da Classe Investida;</a:t>
            </a:r>
          </a:p>
          <a:p>
            <a:r>
              <a:t> (iii) identificação de indícios de fraudes envolvendo o lastro dos direitos creditórios da Classe Investida;</a:t>
            </a:r>
          </a:p>
          <a:p>
            <a:r>
              <a:t> (iv) condenação da Classe de natureza judicial e/ou arbitral e/ou administrativa e/ou outras similares ao  pagamento de mais de 20% (vinte por cento) de seu Patrimônio Líquido; e</a:t>
            </a:r>
          </a:p>
          <a:p>
            <a:r>
              <a:t> (v) caso caracterizado quaisquer dos Eventos de Avaliação e/ou Eventos de Liquidação.</a:t>
            </a:r>
          </a:p>
          <a:p>
            <a:r>
              <a:t> Eventos de Liquidação</a:t>
            </a:r>
          </a:p>
          <a:p>
            <a:r>
              <a:t>CNPJ 55563624000109 · Gatilhos de avaliação e liquidação · Regulamento · ID 1192614 · 2026-04-30 · versão 1 · p. 20 · https://fnet.bmfbovespa.com.br/fnet/publico/visualizarDocumento?id=1192614</a:t>
            </a:r>
          </a:p>
          <a:p>
            <a:r>
              <a:t>CNPJ 55563624000109 · Gatilhos de avaliação e liquidação · Excerto da fonte:</a:t>
            </a:r>
          </a:p>
          <a:p>
            <a:r>
              <a:t>(vi) alterar as características, vantagens, direitos e obrigações 90% (noventa por cento) do total das Cotas  das Cotas; emitidas</a:t>
            </a:r>
          </a:p>
          <a:p>
            <a:r>
              <a:t> (vii) alterar critérios e procedimentos para resgate de Cotas  mediante dação em pagamento de Cotas da Classe Maioria do total das Cotas emitidas  Investida;</a:t>
            </a:r>
          </a:p>
          <a:p>
            <a:r>
              <a:t> (viii) aprovar a emissão de novas Cotas fora do Capital  Maioria do total das Cotas emitidas  Autorizado;</a:t>
            </a:r>
          </a:p>
          <a:p>
            <a:r>
              <a:t> (ix) alterar a Política de Investimentos; 90% (noventa por cento) do total das Cotas  emitidas</a:t>
            </a:r>
          </a:p>
          <a:p>
            <a:r>
              <a:t> (x) alterar o Critério de Elegibilidade; 90% (noventa por cento) do total das Cotas  emitidas</a:t>
            </a:r>
          </a:p>
          <a:p>
            <a:r>
              <a:t> (xi) alterar os Eventos de Avaliação, os Eventos de Liquidação  90% (noventa por cento) do total das Cotas  e/ou das consequências deles decorrentes em função do  emitidas  previsto neste Anexo;</a:t>
            </a:r>
          </a:p>
          <a:p>
            <a:r>
              <a:t> (xii) deliberar sobre o plano de resolução do Patrimônio Líquido  Maioria do total das Cotas emitidas  negativo da Classe, nos termos da Resolução CVM 175; e</a:t>
            </a:r>
          </a:p>
          <a:p>
            <a:r>
              <a:t> (xiii) deliberar sobre o pedido de declaração judicial de 90% (noventa por cento) do total das Cotas  insolvência da Classe. emitidas</a:t>
            </a:r>
          </a:p>
          <a:p>
            <a:r>
              <a:t>CNPJ 55563624000109 · Gatilhos de avaliação e liquidação · Regulamento · ID 1192614 · 2026-04-30 · versão 1 · p. 2 · 1.3 · https://fnet.bmfbovespa.com.br/fnet/publico/visualizarDocumento?id=1192614</a:t>
            </a:r>
          </a:p>
          <a:p>
            <a:r>
              <a:t>CNPJ 55563624000109 · Gatilhos de avaliação e liquidação · Excerto da fonte:</a:t>
            </a:r>
          </a:p>
          <a:p>
            <a:r>
              <a:t>1.3 O Anexo dispõe, sem prejuízo de outros requisitos e informações previstos na regulamentação, sobre os  seguintes aspectos relacionados à Classe: (i) características gerais, incluindo a indicação dos demais prestadores  de serviços; (ii) responsabilidade dos cotistas e regime de insolvência; (iii) características, direitos, condições de  emissão, subscrição, integralização, amortização e resgate das Cotas; (iv) ordem de alocação de recursos; (v)  assembleia especial de cotistas e demais procedimentos aplicáveis às manifestações de vontade dos cotistas; (vi)  remuneração dos prestadores de serviços; (vii) política de investimento e composição e diversificação da  Carteira; (viii) eventos de avaliação, eventos de liquidação e procedimentos de liquidação antecipada da Classe;</a:t>
            </a:r>
          </a:p>
          <a:p>
            <a:r>
              <a:t> (ix) origem dos Direitos Creditórios; (x) Critério de Elegibilidade; (xi) custos referentes à defesa dos interesses da  Classe; e (xii) fatores de risco.</a:t>
            </a:r>
          </a:p>
          <a:p>
            <a:r>
              <a:t>CNPJ 55563624000109 · Gatilhos de avaliação e liquidação · Condição: Documentos atuais selecionados no inventário por categoria/escopo; a data documental isolada não comprova vigência jurídica.</a:t>
            </a:r>
          </a:p>
          <a:p>
            <a:r>
              <a:t>CNPJ 55563624000109 · Gatilhos de avaliação e liquidação · Versão e prevalência: Documentos atuais selecionados no inventário por categoria/escopo; a data documental isolada não comprova vigência jurídica.</a:t>
            </a:r>
          </a:p>
          <a:p>
            <a:r>
              <a:t>CNPJ 62552447000120 · Gatilhos de avaliação e liquidação · Regulamento · ID 1200623 · 2026-05-21 · versão 1 · p. 2 · 1.4 · https://fnet.bmfbovespa.com.br/fnet/publico/visualizarDocumento?id=1200623</a:t>
            </a:r>
          </a:p>
          <a:p>
            <a:r>
              <a:t>CNPJ 62552447000120 · Gatilhos de avaliação e liquidação · Excerto da fonte:</a:t>
            </a:r>
          </a:p>
          <a:p>
            <a:r>
              <a:t>1.4 O Anexo de cada classe de Cotas (“Classe”), conforme aplicável, dispõe, sem prejuízo de outros  requisitos e inf ormações previstos na regulamentação, sobre: (i) características gerais, incluindo a  indicação dos demais prestadores de serviços; (ii) responsabilidade dos Cotistas e regime de  insolvência; (iii) características, direitos, condições de emissão, subscrição, integralização,  Amortização e resgate das Cotas; (iv) ordem de alocação de recursos; (v) Assembleia Especial e  demais procedimentos aplicáveis às manifestações de vontade dos Cotistas; (vi) remuneração dos  prestadores de serviços; (vii) política de investimento e composição e diversificação da Carteira; (viii)  eventos de avaliação, eventos de liquidação e liquidação antecipada da Classe; (ix) origem dos direitos  creditórios; (x) critérios de elegibilidade; (xi) custos referentes à defesa dos interesses de cada Classe;</a:t>
            </a:r>
          </a:p>
          <a:p>
            <a:r>
              <a:t> e (xii) f atores de risco.</a:t>
            </a:r>
          </a:p>
          <a:p>
            <a:r>
              <a:t>CNPJ 62552447000120 · Gatilhos de avaliação e liquidação · Regulamento · ID 1200623 · 2026-05-21 · versão 1 · p. 21 · 10.2 · https://fnet.bmfbovespa.com.br/fnet/publico/visualizarDocumento?id=1200623</a:t>
            </a:r>
          </a:p>
          <a:p>
            <a:r>
              <a:t>CNPJ 62552447000120 · Gatilhos de avaliação e liquidação · Excerto da fonte:</a:t>
            </a:r>
          </a:p>
          <a:p>
            <a:r>
              <a:t>10.2 Os seguintes quóruns deverão ser observados pela Assembleia Especial ao deliberar as matérias  abaixo:</a:t>
            </a:r>
          </a:p>
          <a:p>
            <a:r>
              <a:t>(i) deliberar sobre substituição de Prestadores de Serviços Unanimidade dos Cotistas  Essenciais, observado o disposto no art. 70, §1º da Parte Geral  da Resolução CVM 175, quando aplicável;</a:t>
            </a:r>
          </a:p>
          <a:p>
            <a:r>
              <a:t>(ii) deliberar sobre elevação da Taxa Global, inclusive na Unanimidade dos Cotistas  hipótese de restabelecimento de taxa que tenha sido objeto de  redução;</a:t>
            </a:r>
          </a:p>
          <a:p>
            <a:r>
              <a:t>(iii) deliberar sobre incorporação, fusão, cisão total ou parcial, Unanimidade dos Cotistas  a transf ormação ou liquidação da Classe;</a:t>
            </a:r>
          </a:p>
          <a:p>
            <a:r>
              <a:t>(iv) deliberar sobre a prestação de f iança, aval, aceite ou Unanimidade dos Cotistas  qualquer outra f orma de retenção de risco;</a:t>
            </a:r>
          </a:p>
          <a:p>
            <a:r>
              <a:t>(v) alterações das características, vantagens, direitos e Unanimidade dos Cotistas  obrigações das Cotas;</a:t>
            </a:r>
          </a:p>
          <a:p>
            <a:r>
              <a:t>(vi) alterar critérios e procedimentos para Amortização Unanimidade dos Cotistas  mediante dação em pagamento de Direitos Creditórios;</a:t>
            </a:r>
          </a:p>
          <a:p>
            <a:r>
              <a:t>(vii) aprovar emissão de novas Cotas; Unanimidade dos Cotistas</a:t>
            </a:r>
          </a:p>
          <a:p>
            <a:r>
              <a:t>(viii) alterações na Política de Investimentos; Unanimidade dos Cotistas</a:t>
            </a:r>
          </a:p>
          <a:p>
            <a:r>
              <a:t>(ix) alterações nos Critérios de Elegibilidade e nas Condições Unanimidade dos Cotistas  de Endosso;</a:t>
            </a:r>
          </a:p>
          <a:p>
            <a:r>
              <a:t>(x) alteração dos Eventos de Avaliação, dos Eventos de Unanimidade dos Cotistas  Liquidação e/ou das consequências deles decorrentes em  f unção do previsto neste Regulamento;</a:t>
            </a:r>
          </a:p>
          <a:p>
            <a:r>
              <a:t>(xi) plano de resolução do Patrimônio Líquido negativo da Unanimidade dos Cotistas  Classe, nos termos da Resolução CVM 175; e</a:t>
            </a:r>
          </a:p>
          <a:p>
            <a:r>
              <a:t>(xii) pedido de declaração judicial de insolvência da Classe. Unanimidade dos Cotistas</a:t>
            </a:r>
          </a:p>
          <a:p>
            <a:r>
              <a:t>CNPJ 62552447000120 · Gatilhos de avaliação e liquidação · Regulamento · ID 1200623 · 2026-05-21 · versão 1 · p. 22 · 11.1 · https://fnet.bmfbovespa.com.br/fnet/publico/visualizarDocumento?id=1200623</a:t>
            </a:r>
          </a:p>
          <a:p>
            <a:r>
              <a:t>CNPJ 62552447000120 · Gatilhos de avaliação e liquidação · Excerto da fonte:</a:t>
            </a:r>
          </a:p>
          <a:p>
            <a:r>
              <a:t>11.1 As seguintes hipóteses são consideradas eventos de avaliação (“Eventos de Avaliação”):</a:t>
            </a:r>
          </a:p>
          <a:p>
            <a:r>
              <a:t> (i) em caso de regime de administração especial temporária - RAET, intervenção ou liquidação  extrajudicial do Endossante, da instituição f inanceira prestadora dos serviços de agente de  conta vinculada à Classe (“Agente de Conta Vinculada”) e/ou do Agente de Retenção e  Cobrança;</a:t>
            </a:r>
          </a:p>
          <a:p>
            <a:r>
              <a:t> (ii) não cumprimento, pelo Endossante, de qualquer de suas obrigações estabelecidas nos  Contratos de Endosso, no Regulamento ou neste Anexo I, desde que esse não cumprimento  não seja devidamente sanado ou justificado dentro de 5 (cinco) Dias Úteis a partir do  recebimento, pelo Endossante, de notificação, por escrito, enviada pelo Administrador,  inf ormando-o da ocorrência do respectivo evento;</a:t>
            </a:r>
          </a:p>
          <a:p>
            <a:r>
              <a:t> (iii) não cumprimento, pelo Endossante e/ou pelo Agente de Retenção e Cobrança, de sua  obrigação de entregar os (a) arquivos eletrônicos disponibilizados mensalmente pela Dataprev  ao Endossante, contendo (1) as Consignações processadas pela Dataprev no respectivo mês,  identificando os Devedores e os valores que serão descontados de suas respectivas folhas de  pagamentos, bem como (2) a totalidade das operações pendentes de crédito consignado  concedidas pelo Endossante e indicando todos os Direitos Creditórios devi dos mediante  Consignação na próxima data de liquidação (“Arquivos Dataprev”) e/ou (b) os arquivos  eletrônicos disponibilizados mensalmente pela CEF ao Endossante, contendo os pagamentos  de Saque-aniversário processados pela CEF no respectivo mês devidos à Classe, identificando  os Devedores e os valores que serão descontados de seus respectivos Saques-aniversário  (“Arquivos de Liquidação Saque-aniversário”) ao Custodiante dentro do prazo estabelecido  neste Anexo I, desde que esse não cumprimento não seja dev idamente sanado ou justificado  dentro de 5 (cinco) Dias Úteis a partir do recebimento, pelo Endossante e/ou pelo Agente de  Retenção e Cobrança, de notificação, por escrito, enviada pelo Custodiante, inf ormando-o da  ocorrência do respectivo evento;</a:t>
            </a:r>
          </a:p>
          <a:p>
            <a:r>
              <a:t> (iv) não cumprimento, pelo Endossante e/ou pelo Agente de Retenção e Cobrança, de qualquer de  suas obrigações de entregar ao Gestor, ou a terceiros por ele indicados, os Documentos  Comprobatórios e Documentos Suporte relativos aos Direitos Creditórios que tenham sido  endossados à Classe, dentro do prazo estabelecido neste Anexo I, desde que esse não  cumprimento não seja devidamente sanado ou justificado dentro de 5 (cinco) Dias Úteis a partir  do recebimento, pelo Endossante e/ou pelo Agente de Retenção e Cobrança, de notificação,  por escrito, enviada pelo Custodiante, inf ormando- o da ocorrência do respectivo evento;</a:t>
            </a:r>
          </a:p>
          <a:p>
            <a:r>
              <a:t> (v) não cumprimento, pelo Agente de Retenção e Cobrança, de qualquer de suas obrigações  estabelecidas nos Contratos de Endosso, no Regulamento, neste Anexo I ou nos Contratos de  Retenção/Cobrança, desde que esse não cumprimento não seja devidamente sanado ou</a:t>
            </a:r>
          </a:p>
          <a:p>
            <a:r>
              <a:t>CNPJ 62552447000120 · Gatilhos de avaliação e liquidação · Condição: Documentos atuais selecionados no inventário por categoria/escopo; a data documental isolada não comprova vigência jurídica.</a:t>
            </a:r>
          </a:p>
          <a:p>
            <a:r>
              <a:t>CNPJ 62552447000120 · Gatilhos de avaliação e liquidação · Versão e prevalência: Documentos atuais selecionados no inventário por categoria/escopo; a data documental isolada não comprova vigência jurídica.</a:t>
            </a:r>
          </a:p>
          <a:p>
            <a:r>
              <a:t>CNPJ 63953620000165 · Gatilhos de avaliação e liquidação · Anexo ao Regulamento · ID 1222863 · 2026-06-02 · versão 1 · p. 24 · 4.1 · https://fnet.bmfbovespa.com.br/fnet/publico/visualizarDocumento?id=1222863</a:t>
            </a:r>
          </a:p>
          <a:p>
            <a:r>
              <a:t>CNPJ 63953620000165 · Gatilhos de avaliação e liquidação · Excerto da fonte:</a:t>
            </a:r>
          </a:p>
          <a:p>
            <a:r>
              <a:t>4.1. Verificado que o Índice de Subordinação Alvo é atendido, ou seja, que a representatividade de Cotas Subordinadas  em relação ao Patrimônio Líquido da Classe é superior à 10,00% (dez por cento) (“Índice de Subordinação Alvo”), as  Cotas Subordinadas poderão ser objeto de Amortização Extraordinária até o limite excedente ao Índice de  Subordinação Alvo– ainda que tal Amortização Extraordinária ocorra antes do resgate integral das Cotas Seniores –  desde que: (i) seja observada a ordem de alocação de recursos definida no item 8.1 acima Anexo; (ii) não existam  Obrigações da Classe vencidas e não pagas; (iii) não estejam em curso quaisquer Eventos de Avaliação e/ou Eventos  de Liquidação; (iv) existam suficientes Ativos Financeiros e/ou recursos disponíveis; e (vii) permaneçam atendidas  todos os Índices de Subordinação.</a:t>
            </a:r>
          </a:p>
          <a:p>
            <a:r>
              <a:t> 5. Amortização e Resgate das Cotas Subordinadas</a:t>
            </a:r>
          </a:p>
          <a:p>
            <a:r>
              <a:t>CNPJ 63953620000165 · Gatilhos de avaliação e liquidação · Anexo ao Regulamento · ID 1222863 · 2026-06-02 · versão 1 · p. 13 · 10.2 · https://fnet.bmfbovespa.com.br/fnet/publico/visualizarDocumento?id=1222863</a:t>
            </a:r>
          </a:p>
          <a:p>
            <a:r>
              <a:t>CNPJ 63953620000165 · Gatilhos de avaliação e liquidação · Excerto da fonte:</a:t>
            </a:r>
          </a:p>
          <a:p>
            <a:r>
              <a:t>10.2 Os seguintes quóruns deverão ser observados pela Assembleia Especial de Cotistas ao deliberar as matérias  abaixo:</a:t>
            </a:r>
          </a:p>
          <a:p>
            <a:r>
              <a:t> Matéria Quórum</a:t>
            </a:r>
          </a:p>
          <a:p>
            <a:r>
              <a:t> (i) deliberar sobre as demonstrações contábeis da Classe; Maioria das Cotas presentes</a:t>
            </a:r>
          </a:p>
          <a:p>
            <a:r>
              <a:t> (ii) alterar o presente Anexo; Maioria das Cotas de cada Subclasse</a:t>
            </a:r>
          </a:p>
          <a:p>
            <a:r>
              <a:t> (iii) deliberar sobre substituição de Prestadores de Serviços Maioria das Cotas da Classe  Essenciais, observado o disposto no Artigo 70, §1º da parte geral da  Resolução CVM 175, quando aplicável;</a:t>
            </a:r>
          </a:p>
          <a:p>
            <a:r>
              <a:t> (iv) deliberar sobre elevação da Taxa de Administração e/ou Taxa de Maioria das Cotas da de cada  Gestão, inclusive na hipótese de restabelecimento de taxa que tenha Subclasse  sido objeto de redução;</a:t>
            </a:r>
          </a:p>
          <a:p>
            <a:r>
              <a:t> (v) deliberar sobre incorporação, fusão, cisão total ou parcial, a Maioria das Cotas de cada Subclasse  transformação ou liquidação da Classe;</a:t>
            </a:r>
          </a:p>
          <a:p>
            <a:r>
              <a:t> (vi) alterações das características, vantagens, direitos e obrigações Maioria das Cotas Subscritas da  das Cotas; Classe observado o disposto nos  itens 10.5 a 10.8 abaixo</a:t>
            </a:r>
          </a:p>
          <a:p>
            <a:r>
              <a:t> (vii) alterar critérios e procedimentos para Amortização mediante Maioria das Cotas Subscritas da  dação em pagamento de Direitos Creditórios; Classe</a:t>
            </a:r>
          </a:p>
          <a:p>
            <a:r>
              <a:t> (viii) aprovar emissão de novas Cotas da Classe; Maioria das Cotas de cada Subclasse</a:t>
            </a:r>
          </a:p>
          <a:p>
            <a:r>
              <a:t> (ix) alterações na Política de Investimentos; Maioria das Cotas de cada Subclasse</a:t>
            </a:r>
          </a:p>
          <a:p>
            <a:r>
              <a:t> (x) alterações nos Critérios de Elegibilidade e nas Condições de Maioria das Cotas de cada Subclasse  Cessão;</a:t>
            </a:r>
          </a:p>
          <a:p>
            <a:r>
              <a:t> (xi) celebração e alteração de Contrato de Promessa de Endosso Maioria das Cotas de cada Subclasse  e/ou do Contrato de Retenção e Cobrança;</a:t>
            </a:r>
          </a:p>
          <a:p>
            <a:r>
              <a:t> (xii) alteração do Contrato de Conta Vinculada; Maioria das Cotas de cada Subclasse</a:t>
            </a:r>
          </a:p>
          <a:p>
            <a:r>
              <a:t> (xiii) alteração dos Eventos de Avaliação, dos Eventos de Liquidação Maioria das Cotas de cada Subclasse  e/ou das consequências deles decorrentes em função do previsto  neste Regulamento;</a:t>
            </a:r>
          </a:p>
          <a:p>
            <a:r>
              <a:t> (xiv) se um Evento de Avaliação constitui um Evento de Liquidação; Maioria das Cotas presentes</a:t>
            </a:r>
          </a:p>
          <a:p>
            <a:r>
              <a:t> (xv) plano de resolução do Patrimônio Líquido negativo da Classe, Maioria das Cotas presentes  nos termos da Resolução CVM 175; e</a:t>
            </a:r>
          </a:p>
          <a:p>
            <a:r>
              <a:t> (xvi) pedido de declaração judicial de insolvência da Classe. Maioria das Cotas presentes</a:t>
            </a:r>
          </a:p>
          <a:p>
            <a:r>
              <a:t> (xvii) alterações na disciplina, critérios de constituição, manutenção Maioria das Cotas de cada Subclasse  ou utilização da Reserva de Caixa, bem como deliberação acerca da</a:t>
            </a:r>
          </a:p>
          <a:p>
            <a:r>
              <a:t>CNPJ 63953620000165 · Gatilhos de avaliação e liquidação · Anexo ao Regulamento · ID 1222863 · 2026-06-02 · versão 1 · p. 14 · 10.8 · https://fnet.bmfbovespa.com.br/fnet/publico/visualizarDocumento?id=1222863</a:t>
            </a:r>
          </a:p>
          <a:p>
            <a:r>
              <a:t>CNPJ 63953620000165 · Gatilhos de avaliação e liquidação · Excerto da fonte:</a:t>
            </a:r>
          </a:p>
          <a:p>
            <a:r>
              <a:t>10.8 As deliberações que tenham por objeto o aumento do Índice de Subordinação Sênior apenas serão aprovadas se  assim deliberado: (i) pelos votos dos titulares da maioria das Cotas em circulação de cada uma das Séries de  Cotas Seniores; e (ii) pelo votos dos titulares da maioria Cotas Subordinadas em circulação.</a:t>
            </a:r>
          </a:p>
          <a:p>
            <a:r>
              <a:t> CAPÍTULO 11 – EVENTOS DE AVALIAÇÃO, EVENTOS DE LIQUIDAÇÃO, E PROCEDIMENTOS DE LIQUIDAÇÃO  Eventos de Avaliação</a:t>
            </a:r>
          </a:p>
          <a:p>
            <a:r>
              <a:t>CNPJ 63953620000165 · Gatilhos de avaliação e liquidação · Condição: Documentos atuais selecionados no inventário por categoria/escopo; a data documental isolada não comprova vigência jurídica.</a:t>
            </a:r>
          </a:p>
          <a:p>
            <a:r>
              <a:t>CNPJ 63953620000165 · Gatilhos de avaliação e liquidação · Versão e prevalência: Documentos atuais selecionados no inventário por categoria/escopo; a data documental isolada não comprova vigência jurídica.</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Eventos e cura</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Eventos de avaliação · Regulamento · ID 670691 · 28/04/2024 · versão Regulamento — referência 28/04/2024 · p. 17 · Anexo I, 11.1(i) · https://fnet.bmfbovespa.com.br/fnet/publico/visualizarDocumento?id=670691</a:t>
            </a:r>
          </a:p>
          <a:p>
            <a:r>
              <a:t>CNPJ 54871427000194 · Eventos de avaliação · Excerto da fonte:</a:t>
            </a:r>
          </a:p>
          <a:p>
            <a:r>
              <a:t>11.1 As seguintes hipóteses são consideradas Eventos de Avaliação: (i) em caso de regime de administração especial temporária – RAET, intervenção ou liquidação extrajudicial do Endossante ou do Agente de Garantias; BTG Pactual SAC: 0800 772 28 27 - Ouvidoria: 0800 722 00 48 - btgpactual.com 11</a:t>
            </a:r>
          </a:p>
          <a:p>
            <a:r>
              <a:t>CNPJ 54871427000194 · Eventos de avaliação · Regulamento · ID 670691 · 28/04/2024 · versão Regulamento — referência 28/04/2024 · p. 18 · Anexo I, 11.1(ii)–(viii) · https://fnet.bmfbovespa.com.br/fnet/publico/visualizarDocumento?id=670691</a:t>
            </a:r>
          </a:p>
          <a:p>
            <a:r>
              <a:t>CNPJ 54871427000194 · Eventos de avaliação · Excerto da fonte:</a:t>
            </a:r>
          </a:p>
          <a:p>
            <a:r>
              <a:t>(ii) não cumprimento, por qualquer dos Endossantes, de qualquer de suas obrigações estabelecidas em cada Contrato de Endosso ou neste Regulamento e Anexo, desde que esse não cumprimento não seja devidamente sanado ou justificado dentro de 10 (dez) Dias Úteis a partir do recebimento, pelo Endossante, de notificação, por escrito, enviada pelo Administrador, inf ormando-o da ocorrência do respectivo evento; (iii) não cumprimento, por qualquer dos Endossantes, de suas obrigações de entregar o Arquivo de Liquidação Antecipada e o Arquivo de Posição das CCBs ao CUSTODIANTE dentro do prazo estabelecido neste Regulamento, desde que esse não cumprimento não seja devidamente sanado ou justificado dentro dos prazos acordados no respectivo Contrato de Endosso, a partir do recebimento, pelos Endossantes, de notificação, por escrito, enviada pelo CUSTODIANTE, inf ormando-o da ocorrência do respectivo evento; (iv) não cumprimento, por qualquer dos Endossantes, de qualquer de suas obrigações de entregar ao CUSTODIANTE, ou a terceiros por ele indicados, os Documentos Comprobatórios relativos</a:t>
            </a:r>
          </a:p>
          <a:p>
            <a:r>
              <a:t>CNPJ 54871427000194 · Eventos de avaliação · Regulamento · ID 670691 · 28/04/2024 · versão Regulamento — referência 28/04/2024 · p. 19 · Anexo I, 11.1.1–11.1.3 · https://fnet.bmfbovespa.com.br/fnet/publico/visualizarDocumento?id=670691</a:t>
            </a:r>
          </a:p>
          <a:p>
            <a:r>
              <a:t>CNPJ 54871427000194 · Eventos de avaliação · Excerto da fonte:</a:t>
            </a:r>
          </a:p>
          <a:p>
            <a:r>
              <a:t>11.1.1 Na ocorrência de qualquer Evento de Avaliação, será convocada Assembleia Especial de Cotistas, para avaliar o grau de comprometimento das atividades d a Classe em razão do Evento de Avaliação, podendo a Assembleia Especial de Cotistas deliberar: (i) pela continuidade das atividades da Classe; ou (ii) que o Evento de Avaliação que deu causa à Assembleia Especial de Cotistas constitui um Evento de Liquidação, hipótese em que deverão ser deliberadas as matérias ref eridas no item 11.4.1 abaixo e adotados os procedimentos previstos no item 11.4.3 abaixo. 11.1.2 No momento de verificação de qualquer Evento de Avaliação, os procedimentos de aquisição de novos Direitos Creditórios deverão ser imediatamente interrompidos, até que: (i) seja prof erida decisão final em Assembleia Especial de Cotistas, convocada especificamente para este f im, nos termos do item 11.1.1 acima, autorizando a retomada dos procedimentos de aquisição de novos Direitos Creditórios e resgate das Cotas; e/ou (ii) seja sanado o Evento de Avaliação. 11.1.3 Na hipótese de não instalação da Assembleia Especial de Cotistas por f alta d</a:t>
            </a:r>
          </a:p>
          <a:p>
            <a:r>
              <a:t>CNPJ 54871427000194 · Eventos de avaliação · Versão e prevalência: Leitura específica das cláusulas indicadas; condições e conflitos preservados. Seleção documental atual não comprova vigência jurídica por data isolada.</a:t>
            </a:r>
          </a:p>
          <a:p>
            <a:r>
              <a:t>CNPJ 54871427000194 · Eventos de avaliação · Resumo do histórico: {"count": 1, "dates": ["2024-04-19"], "document_count": 1, "sources": [{"document_id": "670689", "title": "Regulamento", "reference_date": "2024-04-19", "version": "1", "page": 17, "clause": "10.2", "url": "https://fnet.bmfbovespa.com.br/fnet/publico/visualizarDocumento?id=670689", "sha256": "891bc9bc5d87bbc02ec139077a84d2702eb81ea02035fb71d24f5b8366b94a0b"}], "reference": {"path": "history/54871427000194.json", "criterion_id": "evaluation", "total_count": 1, "preview_count": 1, "full_text_deferred": true, "sha256": "35d7cd99be50c7287c9fb675cf4f2e736002315295a225a9efa79c8d9186d874"}}</a:t>
            </a:r>
          </a:p>
          <a:p>
            <a:r>
              <a:t>CNPJ 60010416000112 · Eventos de avaliação · Regulamento · ID 1051393 · 09/10/2025 · versão Regulamento09/10/2025 · p. 19 · AnexoI10.1(i)–(vii) · https://fnet.bmfbovespa.com.br/fnet/publico/visualizarDocumento?id=1051393</a:t>
            </a:r>
          </a:p>
          <a:p>
            <a:r>
              <a:t>CNPJ 60010416000112 · Eventos de avaliação · Excerto da fonte:</a:t>
            </a:r>
          </a:p>
          <a:p>
            <a:r>
              <a:t>10.1 As seguintes hipóteses são consideradas Eventos de Avaliação: (i) em caso de regime de administração especial temporária - RAET, intervenção ou liquidação extrajudicial do Endossante; (ii) em caso de desenquadramento do Índice de Subordinação por 10 (dez) dias úteis consecutivos; (iii) não cumprimento, pelo Endossante, de qualquer de suas obrigações estabelecidas no Contrato de Endosso ou neste Anexo I, desde que esse não cumprimento não seja devidamente sanado ou justif icado dentro de 10 (dez) Dias Úteis a partir do recebimento, pelo Endossante, de noti</a:t>
            </a:r>
          </a:p>
          <a:p>
            <a:r>
              <a:t>CNPJ 60010416000112 · Eventos de avaliação · Regulamento · ID 1051393 · 09/10/2025 · versão Regulamento09/10/2025 · p. 20 · AnexoI10.1(viii)–(xiv) · https://fnet.bmfbovespa.com.br/fnet/publico/visualizarDocumento?id=1051393</a:t>
            </a:r>
          </a:p>
          <a:p>
            <a:r>
              <a:t>CNPJ 60010416000112 · Eventos de avaliação · Excerto da fonte:</a:t>
            </a:r>
          </a:p>
          <a:p>
            <a:r>
              <a:t>(xiii) no caso de não serem realizados pagamentos de amortização e/ou resgate de Cotas Seniores, nos termos, prazos e condições previstos no presente Regulamento e nos respectivos Apêndices e Suplementos, não sanados em até 2 (dois) Dias Úteis contados do prazo final do respectivo evento; (xiv) no caso de pagamento de resgate e/ou amortização de Cotas Subordinadas em desacordo com os termos, prazos e condições previstos no presente Regulamento e no respectivo Apêndice. 10.1.1 Na ocorrência de qualquer Evento de Avaliação, será convocada Assembleia Especial de Cotistas,</a:t>
            </a:r>
          </a:p>
          <a:p>
            <a:r>
              <a:t>CNPJ 60010416000112 · Eventos de avaliação · Versão e prevalência: Leitura específica das cláusulas indicadas; condições e conflitos preservados. Seleção documental atual não comprova vigência jurídica por data isolada.</a:t>
            </a:r>
          </a:p>
          <a:p>
            <a:r>
              <a:t>CNPJ 60010416000112 · Eventos de avaliação · Resumo do histórico: {"count": 2, "dates": ["2025-03-20"], "document_count": 2, "sources": [{"document_id": "993785", "title": "Instrumento Particular de Constituição/Encerramento do Fundo", "reference_date": "2025-03-20", "version": "1", "page": 8, "url": "https://fnet.bmfbovespa.com.br/fnet/publico/visualizarDocumento?id=993785", "sha256": "0826e0eae2c51afabf59bbc49fc7647598d03da5ca6de0f9725850a8bd6af457"}, {"document_id": "993786", "title": "Regulamento", "reference_date": "2025-03-20", "version": "1", "page": 48, "clause": "2.1.2", "url": "https://fnet.bmfbovespa.com.br/fnet/publico/visualizarDocumento?id=993786", "sha256": "fd0fdd369a195510d81f81f505195a0b09e5f43522a990afa7d58c4f872921c8"}], "reference": {"path": "history/60010416000112.json", "criterion_id": "evaluation", "total_count": 2, "preview_count": 2, "full_text_deferred": true, "sha256": "8e2bd813f4c51cf01f6bfaad164bafe69d2bbb192f753eac92da3a01c2e63046"}}</a:t>
            </a:r>
          </a:p>
          <a:p>
            <a:r>
              <a:t>CNPJ 62696791000193 · Eventos de avaliação · Regulamento · ID 1143317 · 20/03/2026 · versão Regulamento — referência 20/03/2026 · p. 37 · Apêndice Júnior, 5.1(iii) · https://fnet.bmfbovespa.com.br/fnet/publico/visualizarDocumento?id=1143317</a:t>
            </a:r>
          </a:p>
          <a:p>
            <a:r>
              <a:t>CNPJ 62696791000193 · Eventos de avaliação · Excerto da fonte:</a:t>
            </a:r>
          </a:p>
          <a:p>
            <a:r>
              <a:t>5.1. Verif icado excesso de subordinação, ou seja, que a representatividade de Cotas Júnior em relação ao Patrimônio Líquido da Classe é superior ao Índice de Subordinação (“Excesso de Subordinação”), desde que assim seja deliberado por maioria dos votos de seus titulares e da maioria dos titulares de Cotas Seniores, as Cotas Juniores poderão ser objeto de Amortização Extraordinária até o limite do respectivos Excesso de Subordinação– ainda que tal Amortização Extraordinária ocorra antes do resgate integral das Cotas Seniores– desde que: (i) seja observada a ordem de alocação de recursos definida no item 6.1 acima Anexo; (ii) não existam Obrigações da Classe vencidas e não pagas; (iii) não estejam em curso quaisquer Eventos de Avaliação e/ou Eventos de Liquidação; (iv) existam suficientes Ativos Financeiros e/ou recursos disponíveis; e (vii) permaneçam atendidas todos os Índices de Subordinação. 6. Negociação das Cotas 6.1. As Cotas Subordinadas Juniores não poderão ser negociadas no mercado secundário. 7. Resgate 7.1. As Cotas Subordinadas Juniores apenas serão resgatadas após o resgate integral das Cotas Seniores da Classe, na respectiva Data de Resgate ou em caso de liquidação antecipada da Classe. BTG Pactual</a:t>
            </a:r>
          </a:p>
          <a:p>
            <a:r>
              <a:t>CNPJ 62696791000193 · Eventos de avaliação · Condição: Referência preservada como ausência específica; não importar gatilhos de outros fundos.</a:t>
            </a:r>
          </a:p>
          <a:p>
            <a:r>
              <a:t>CNPJ 62696791000193 · Eventos de avaliação · Motivo: O apêndice condiciona amortização à ausência de Eventos de Avaliação e de Liquidação, mas o PDF consolidado de 48 páginas não define a lista de Eventos de Avaliação nem seus prazos de cura. O regulamento FIDC anterior à transformação não foi obtido.</a:t>
            </a:r>
          </a:p>
          <a:p>
            <a:r>
              <a:t>CNPJ 62696791000193 · Eventos de avaliação · Versão e prevalência: Leitura específica das cláusulas indicadas; condições e conflitos preservados. Seleção documental atual não comprova vigência jurídica por data isolada.</a:t>
            </a:r>
          </a:p>
          <a:p>
            <a:r>
              <a:t>CNPJ 55563624000109 · Eventos de avaliação · Regulamento · ID 1192614 · 30/04/2026 · versão Regulamento30/04/2026 · p. 20 · AnexoI11.1(i)–(v) · https://fnet.bmfbovespa.com.br/fnet/publico/visualizarDocumento?id=1192614</a:t>
            </a:r>
          </a:p>
          <a:p>
            <a:r>
              <a:t>CNPJ 55563624000109 · Eventos de avaliação · Excerto da fonte:</a:t>
            </a:r>
          </a:p>
          <a:p>
            <a:r>
              <a:t>11.1 As seguintes hipóteses são consideradas Eventos de Avaliação: (i) inobservância pelo ADMINISTRADOR, pelo CUSTODIANTE e/ou pelo GESTOR de seus deveres e obrigações previstos neste Anexo, desde que, uma vez notificados para sanar ou justificar o descumprimento, o ADMINISTRADOR, o CUSTODIANTE e/ou o GESTOR, conforme o caso, não o sane no prazo de 5 (cinco) Dias Úteis contados do recebimento da referida notificação; (ii) aquisição, pela Classe, de Cotas da Classe Investida que estejam em desacordo com o Critério de</a:t>
            </a:r>
          </a:p>
          <a:p>
            <a:r>
              <a:t>CNPJ 55563624000109 · Eventos de avaliação · Versão e prevalência: Leitura específica das cláusulas indicadas; condições e conflitos preservados. Seleção documental atual não comprova vigência jurídica por data isolada.</a:t>
            </a:r>
          </a:p>
          <a:p>
            <a:r>
              <a:t>CNPJ 62552447000120 · Eventos de avaliação · Regulamento · ID 1200623 · 21/05/2026 · versão Consolidado21/05/2026 aprovado pelo ato1200625 · p. 22 · AnexoI11.1(i)–(v) · https://fnet.bmfbovespa.com.br/fnet/publico/visualizarDocumento?id=1200623</a:t>
            </a:r>
          </a:p>
          <a:p>
            <a:r>
              <a:t>CNPJ 62552447000120 · Eventos de avaliação · Excerto da fonte:</a:t>
            </a:r>
          </a:p>
          <a:p>
            <a:r>
              <a:t>11.1 As seguintes hipóteses são consideradas eventos de avaliação (“Eventos de Avaliação”): (i) em caso de regime de administração especial temporária - RAET, intervenção ou liquidação extrajudicial do Endossante, da instituição f inanceira prestadora dos serviços de agente de conta vinculada à Classe (“Agente de Conta Vinculada”) e/ou do Agente de Retenção e Cobrança; (ii) não cumprimento, pelo Endossante, de qualquer de suas obrigações estabelecidas nos Contratos de Endosso, no Regulamento ou neste Anexo I, desde que esse não cumprimento não se</a:t>
            </a:r>
          </a:p>
          <a:p>
            <a:r>
              <a:t>CNPJ 62552447000120 · Eventos de avaliação · Regulamento · ID 1200623 · 21/05/2026 · versão Consolidado21/05/2026 aprovado pelo ato1200625 · p. 23 · AnexoI11.1(vi)–(xi) · https://fnet.bmfbovespa.com.br/fnet/publico/visualizarDocumento?id=1200623</a:t>
            </a:r>
          </a:p>
          <a:p>
            <a:r>
              <a:t>CNPJ 62552447000120 · Eventos de avaliação · Excerto da fonte:</a:t>
            </a:r>
          </a:p>
          <a:p>
            <a:r>
              <a:t>(vi) não cumprimento, pelo Agente de Conta Vinculada, de qualquer de suas obrigações estabelecidas no contrato de conta vinculada celebrado entre o Endossante, na qualidade de titular da Conta Vinculada, e a Classe (“Contrato de Conta Vinculada”), no Regulamento ou neste Anexo I, desde que esse não cumprimento não seja devidamente sanado ou justificado dentro de 5 (cinco) Dias Úteis a partir do recebimento, pelo Agente de Conta Vinculada, de notif icação, por escrito, enviada pelo Administrador, informando-o da ocorrência do respectivo evento; (vii) não c</a:t>
            </a:r>
          </a:p>
          <a:p>
            <a:r>
              <a:t>CNPJ 62552447000120 · Eventos de avaliação · Versão e prevalência: Leitura específica das cláusulas indicadas; condições e conflitos preservados. Seleção documental atual não comprova vigência jurídica por data isolada.</a:t>
            </a:r>
          </a:p>
          <a:p>
            <a:r>
              <a:t>CNPJ 63953620000165 · Eventos de avaliação · Anexo ao Regulamento · ID 1222863 · 02/06/2026 · versão AnexoConsignadoPrivado02/06/2026 · p. 14 · 11.1(i)–(v) · https://fnet.bmfbovespa.com.br/fnet/publico/visualizarDocumento?id=1222863</a:t>
            </a:r>
          </a:p>
          <a:p>
            <a:r>
              <a:t>CNPJ 63953620000165 · Eventos de avaliação · Excerto da fonte:</a:t>
            </a:r>
          </a:p>
          <a:p>
            <a:r>
              <a:t>11.1 As seguintes hipóteses são consideradas eventos de avaliação (“Eventos de Avaliação”): (i) em caso de regime de administração especial temporária - RAET, intervenção ou liquidação extrajudicial do Endossante; (ii) em caso de desenquadramento do Índice de Subordinação por 10 (dez) dias úteis consecutivos; (iii) não cumprimento, pelo Endossante, de qualquer de suas obrigações estabelecidas no Contrato de Endosso ou neste Anexo I, desde que esse não cumprimento não seja devidamente sanado ou justificado dentro de 10 (dez) Dias Úteis a partir do recebimento, pelo Endossan</a:t>
            </a:r>
          </a:p>
          <a:p>
            <a:r>
              <a:t>CNPJ 63953620000165 · Eventos de avaliação · Anexo ao Regulamento · ID 1222863 · 02/06/2026 · versão AnexoConsignadoPrivado02/06/2026 · p. 15 · 11.1(vi)–(xiv) · https://fnet.bmfbovespa.com.br/fnet/publico/visualizarDocumento?id=1222863</a:t>
            </a:r>
          </a:p>
          <a:p>
            <a:r>
              <a:t>CNPJ 63953620000165 · Eventos de avaliação · Excerto da fonte:</a:t>
            </a:r>
          </a:p>
          <a:p>
            <a:r>
              <a:t>Anexo I ao Regulamento CLASSE CONSIGNADO PRIVADO DO MT GLOBAL FUNDO DE INVESTIMENTO EM DIREITOS CREDITÓRIOS RESPONSABILIDADE LIMITADA (vii) inobservância pelo Administrador, pelo Custodiante e/ou pelo Gestor de seus deveres e obrigações previstos neste Regulamento, bem como suas atribuições específicas nos outros contratos existentes referentes ao funcionamento da Classe, verificada pelo Administrador, pelo Custodiante e/ou pelo Gestor ou por qualquer dos Cotistas, desde que, uma vez notificados para sanar ou justificar o descumprimento, o Administrador, o Custodiante e/ou o Gestor, conforme</a:t>
            </a:r>
          </a:p>
          <a:p>
            <a:r>
              <a:t>CNPJ 63953620000165 · Eventos de avaliação · Versão e prevalência: Leitura específica das cláusulas indicadas; condições e conflitos preservados. Seleção documental atual não comprova vigência jurídica por data isolada.</a:t>
            </a:r>
          </a:p>
          <a:p>
            <a:r>
              <a:t>CNPJ 54871427000194 · Eventos de liquidação · Regulamento · ID 670691 · 28/04/2024 · versão Regulamento — referência 28/04/2024 · p. 19 · Anexo I, 11.1.3 e 11.3 · https://fnet.bmfbovespa.com.br/fnet/publico/visualizarDocumento?id=670691</a:t>
            </a:r>
          </a:p>
          <a:p>
            <a:r>
              <a:t>CNPJ 54871427000194 · Eventos de liquidação · Excerto da fonte:</a:t>
            </a:r>
          </a:p>
          <a:p>
            <a:r>
              <a:t>11.1.3 Na hipótese de não instalação da Assembleia Especial de Cotistas por f alta de quórum, o ADMINISTRADOR dará início aos procedimentos ref erentes à liquidação d a Classe, com o consequente resgate das Cotas, nos termos do item 11.4 e seguintes, abaixo. Eventos de Verificação de Patrimônio Líquido Negativo 11.2 Os seguintes eventos obrigarão o ADMINISTRADOR a verificar se o Patrimônio Líquido da Classe está negativo: (i) qualquer pedido de declaração judicial de insolvência da Classe; e (ii) na ocorrência de quaisquer dos Eventos de Avaliação e/ou Eventos de Liquidação . Eventos de Liquidação 11.3 As seguintes hipóteses são consideradas Eventos de Liquidação: (i) caso seja deliberado em Assembleia Especial de Cotistas que um Evento de Avaliação constitui um Evento de Liquidação; (ii) sempre que assim decidido pelos Cotistas em Assembleia Especial de Cotistas especialmente convocada para tal f im; (iii) cessão ou renúncia do ADMINISTRADOR, GESTOR ou CUSTODIANTE sem que a Assembleia de Cotistas ef icazmente nomeie instituição habilit ada para substituí-lo, nos termos estabelecidos neste Regulamento;</a:t>
            </a:r>
          </a:p>
          <a:p>
            <a:r>
              <a:t>CNPJ 54871427000194 · Eventos de liquidação · Versão e prevalência: Leitura específica das cláusulas indicadas; condições e conflitos preservados. Seleção documental atual não comprova vigência jurídica por data isolada.</a:t>
            </a:r>
          </a:p>
          <a:p>
            <a:r>
              <a:t>CNPJ 54871427000194 · Eventos de liquidação · Resumo do histórico: {"count": 1, "dates": ["2024-04-19"], "document_count": 1, "sources": [{"document_id": "670689", "title": "Regulamento", "reference_date": "2024-04-19", "version": "1", "page": 17, "clause": "10.2", "url": "https://fnet.bmfbovespa.com.br/fnet/publico/visualizarDocumento?id=670689", "sha256": "891bc9bc5d87bbc02ec139077a84d2702eb81ea02035fb71d24f5b8366b94a0b"}], "reference": {"path": "history/54871427000194.json", "criterion_id": "liquidation", "total_count": 1, "preview_count": 1, "full_text_deferred": true, "sha256": "35d7cd99be50c7287c9fb675cf4f2e736002315295a225a9efa79c8d9186d874"}}</a:t>
            </a:r>
          </a:p>
          <a:p>
            <a:r>
              <a:t>CNPJ 60010416000112 · Eventos de liquidação · Regulamento · ID 1051393 · 09/10/2025 · versão Regulamento09/10/2025 · p. 21 · AnexoI10.3(i)–(viii) · https://fnet.bmfbovespa.com.br/fnet/publico/visualizarDocumento?id=1051393</a:t>
            </a:r>
          </a:p>
          <a:p>
            <a:r>
              <a:t>CNPJ 60010416000112 · Eventos de liquidação · Excerto da fonte:</a:t>
            </a:r>
          </a:p>
          <a:p>
            <a:r>
              <a:t>10.3 As seguintes hipóteses são consideradas Eventos de Liquidação: (i) caso seja deliberado em Assembleia de Cotistas que um Evento de Avaliação constitui um Evento de Liquidação; (ii) na hipótese de resilição do Contrato de Custódia ou renúncia do Custodiante, sem que tenha havido sua substituição por outra instituição, de acordo com os procedimentos estabelecidos neste Regulamento; (iii) renúncia do Administrador sem que a Assembleia Especial de Cotistas eficazmente nomeie instituição habilitada para substituí-lo, nos termos estabelecidos neste Regulamento;</a:t>
            </a:r>
          </a:p>
          <a:p>
            <a:r>
              <a:t>CNPJ 60010416000112 · Eventos de liquidação · Versão e prevalência: Leitura específica das cláusulas indicadas; condições e conflitos preservados. Seleção documental atual não comprova vigência jurídica por data isolada.</a:t>
            </a:r>
          </a:p>
          <a:p>
            <a:r>
              <a:t>CNPJ 60010416000112 · Eventos de liquidação · Resumo do histórico: {"count": 2, "dates": ["2025-03-20"], "document_count": 2, "sources": [{"document_id": "993785", "title": "Instrumento Particular de Constituição/Encerramento do Fundo", "reference_date": "2025-03-20", "version": "1", "page": 8, "url": "https://fnet.bmfbovespa.com.br/fnet/publico/visualizarDocumento?id=993785", "sha256": "0826e0eae2c51afabf59bbc49fc7647598d03da5ca6de0f9725850a8bd6af457"}, {"document_id": "993786", "title": "Regulamento", "reference_date": "2025-03-20", "version": "1", "page": 18, "clause": "9.2", "url": "https://fnet.bmfbovespa.com.br/fnet/publico/visualizarDocumento?id=993786", "sha256": "fd0fdd369a195510d81f81f505195a0b09e5f43522a990afa7d58c4f872921c8"}], "reference": {"path": "history/60010416000112.json", "criterion_id": "liquidation", "total_count": 2, "preview_count": 2, "full_text_deferred": true, "sha256": "8e2bd813f4c51cf01f6bfaad164bafe69d2bbb192f753eac92da3a01c2e63046"}}</a:t>
            </a:r>
          </a:p>
          <a:p>
            <a:r>
              <a:t>CNPJ 62696791000193 · Eventos de liquidação · Regulamento · ID 1143317 · 20/03/2026 · versão Regulamento — referência 20/03/2026 · p. 23 · Anexo I, 11.1–11.3 · https://fnet.bmfbovespa.com.br/fnet/publico/visualizarDocumento?id=1143317</a:t>
            </a:r>
          </a:p>
          <a:p>
            <a:r>
              <a:t>CNPJ 62696791000193 · Eventos de liquidação · Excerto da fonte:</a:t>
            </a:r>
          </a:p>
          <a:p>
            <a:r>
              <a:t>11.1 A Classe será liquidada (i) em caso da liquidação antecipada deliberada em Assembleia Especial de Cotistas; ou (ii) pelo encerramento do Prazo de Duração da Classe. 11.2 Na ocorrência da liquidação da Classe, o Administrador: (i) liquidará todos os investimentos da Classe em Ativos Financeiros de Liquidez, conforme orientação do Gestor, transferindo todos os recursos daí resultantes para a Conta da Classe; (ii) realizará, de acordo com as orientações e instruções do Gestor, a alienação dos investimentos nos Direitos Creditórios do Agronegócio e nos Outros Ativos integrantes da carteira de investimentos da Classe; e (iii) realizará o pagamento dos encargos da Classe e a amortização das Cotas, até o limite dos recursos disponíveis na Conta da Classe. 11.2.1 No caso de Liquidação da Classe, os Cotistas terão o direito de partilhar o Patrimônio Líquido em igualdade de condições e na proporção de suas Cotas, deduzidas as despesas necessárias para a liquidação da Classe. Não haverá qualquer tipo de pref erência, p rioridade ou subordinação entre os Cotistas. 11.3 Caso a Classe não possua recursos suficientes para o pagamento de todas as Cotas no momento de</a:t>
            </a:r>
          </a:p>
          <a:p>
            <a:r>
              <a:t>CNPJ 62696791000193 · Eventos de liquidação · Regulamento · ID 1143317 · 20/03/2026 · versão Regulamento — referência 20/03/2026 · p. 24 · Anexo I, 11.7 · https://fnet.bmfbovespa.com.br/fnet/publico/visualizarDocumento?id=1143317</a:t>
            </a:r>
          </a:p>
          <a:p>
            <a:r>
              <a:t>CNPJ 62696791000193 · Eventos de liquidação · Excerto da fonte:</a:t>
            </a:r>
          </a:p>
          <a:p>
            <a:r>
              <a:t>11.7 A liquidação da Classe e a divisão de seu patrimônio entre os Cotistas deverão ocorrer no prazo de até 180 (cento e oitenta) dias corridos contados (i) do encerramento do Prazo de Duração ou (ii) da data da realização da Assembleia Especial de Cotistas que deliberar sobre a liquidação da Classe. BTG Pactual SAC: 0800 772 2827 | Ouvidoria: 0800 722 0048 | btgpactual.co m 19</a:t>
            </a:r>
          </a:p>
          <a:p>
            <a:r>
              <a:t>CNPJ 62696791000193 · Eventos de liquidação · Condição: O capítulo não fornece gatilho automático de PL &lt;R$ 1 milhão por 90 dias; essa cláusula presente em outros FIDCs não pode ser transferida para Ceres.</a:t>
            </a:r>
          </a:p>
          <a:p>
            <a:r>
              <a:t>CNPJ 62696791000193 · Eventos de liquidação · Motivo: Cláusula primária localizada e citada, mas sua lista/condições extensas não admitem uma síntese literal curta confirmada. O trecho integral permanece nas fontes.</a:t>
            </a:r>
          </a:p>
          <a:p>
            <a:r>
              <a:t>CNPJ 62696791000193 · Eventos de liquidação · Versão e prevalência: Leitura específica das cláusulas indicadas; condições e conflitos preservados. Seleção documental atual não comprova vigência jurídica por data isolada.</a:t>
            </a:r>
          </a:p>
          <a:p>
            <a:r>
              <a:t>CNPJ 55563624000109 · Eventos de liquidação · Regulamento · ID 1192614 · 30/04/2026 · versão Regulamento30/04/2026 · p. 21 · AnexoI11.3(i)–(vii) · https://fnet.bmfbovespa.com.br/fnet/publico/visualizarDocumento?id=1192614</a:t>
            </a:r>
          </a:p>
          <a:p>
            <a:r>
              <a:t>CNPJ 55563624000109 · Eventos de liquidação · Excerto da fonte:</a:t>
            </a:r>
          </a:p>
          <a:p>
            <a:r>
              <a:t>11.3 As seguintes hipóteses são consideradas Eventos de Liquidação: (i) caso seja deliberado em Assembleia Especial de Cotistas que um Evento de Avaliação constitui um Evento de Liquidação; (ii) na hipótese de renúncia do CUSTODIANTE, sem que tenha havido sua substituição por outra instituição, de acordo com os procedimentos estabelecidos neste Anexo; (iii) renúncia do ADMINISTRADOR ou do GESTOR sem que a Assembleia Especial de Cotistas eficazmente nomeie instituição habilitada para substituí-lo, nos termo</a:t>
            </a:r>
          </a:p>
          <a:p>
            <a:r>
              <a:t>CNPJ 55563624000109 · Eventos de liquidação · Versão e prevalência: Leitura específica das cláusulas indicadas; condições e conflitos preservados. Seleção documental atual não comprova vigência jurídica por data isolada.</a:t>
            </a:r>
          </a:p>
          <a:p>
            <a:r>
              <a:t>CNPJ 62552447000120 · Eventos de liquidação · Regulamento · ID 1200623 · 21/05/2026 · versão Consolidado21/05/2026 aprovado pelo ato1200625 · p. 24 · AnexoI11.2(i)–(v) · https://fnet.bmfbovespa.com.br/fnet/publico/visualizarDocumento?id=1200623</a:t>
            </a:r>
          </a:p>
          <a:p>
            <a:r>
              <a:t>CNPJ 62552447000120 · Eventos de liquidação · Excerto da fonte:</a:t>
            </a:r>
          </a:p>
          <a:p>
            <a:r>
              <a:t>11.2 As seguintes hipóteses são consideradas eventos de liquidação (“Eventos de Liquidação”): (i) caso seja deliberado em Assembleia Especial que um Evento de Avaliação constitui um Evento de Liquidação; (ii) na hipótese de resilição do Contrato de Custódia ou renúncia do Custodiante, sem que tenha havido sua substituição por outra instituição, de acordo com os procedimentos estabelecidos neste Regulamento; (iii) renúncia do Administrador sem que a Assembleia Especial ef icazmente nomeie instituição habilitada para substituí-lo, nos termos estab</a:t>
            </a:r>
          </a:p>
          <a:p>
            <a:r>
              <a:t>CNPJ 62552447000120 · Eventos de liquidação · Regulamento · ID 1200623 · 21/05/2026 · versão Consolidado21/05/2026 aprovado pelo ato1200625 · p. 25 · AnexoI11.2(vi)–(ix) · https://fnet.bmfbovespa.com.br/fnet/publico/visualizarDocumento?id=1200623</a:t>
            </a:r>
          </a:p>
          <a:p>
            <a:r>
              <a:t>CNPJ 62552447000120 · Eventos de liquidação · Excerto da fonte:</a:t>
            </a:r>
          </a:p>
          <a:p>
            <a:r>
              <a:t>(vi) em caso de regime de administração especial temporária - RAET, intervenção ou liquidação extrajudicial do Custodiante, Administrador, ou Gestor, sem a sua ef etiva substituição nos termos deste Regulamento; (vii) se, após 90 (noventa) dias do início das atividades do Fundo, o Patrimônio Líquido diário inferior da Classe for inferior a R$ 1.000.000,00 (um milhão de reais) pelo período de 90 (noventa) dias consecutivos; (viii) caso, por inexistência de recursos líquidos, a Classe não possa fazer f rente aos Encargos nas respectivas datas</a:t>
            </a:r>
          </a:p>
          <a:p>
            <a:r>
              <a:t>CNPJ 62552447000120 · Eventos de liquidação · Versão e prevalência: Leitura específica das cláusulas indicadas; condições e conflitos preservados. Seleção documental atual não comprova vigência jurídica por data isolada.</a:t>
            </a:r>
          </a:p>
          <a:p>
            <a:r>
              <a:t>CNPJ 63953620000165 · Eventos de liquidação · Anexo ao Regulamento · ID 1222863 · 02/06/2026 · versão AnexoConsignadoPrivado02/06/2026 · p. 16 · 11.2(i)–(viii) · https://fnet.bmfbovespa.com.br/fnet/publico/visualizarDocumento?id=1222863</a:t>
            </a:r>
          </a:p>
          <a:p>
            <a:r>
              <a:t>CNPJ 63953620000165 · Eventos de liquidação · Excerto da fonte:</a:t>
            </a:r>
          </a:p>
          <a:p>
            <a:r>
              <a:t>11.2 As seguintes hipóteses são consideradas eventos de liquidação (“Eventos de Liquidação”): (i) caso seja deliberado em Assembleia Especial de Cotistas que um Evento de Avaliação constitui um Evento de Liquidação; (ii) na hipótese de resilição do Contrato de Custódia ou renúncia do Custodiante, sem que tenha havido sua substituição por outra instituição, de acordo com os procedimentos estabelecidos neste Regulamento; (iii) renúncia do Administrador sem que a Assembleia Especial de Cotistas eficazmente nomeie instituição habilitada para substituí-lo, nos termos estabeleci</a:t>
            </a:r>
          </a:p>
          <a:p>
            <a:r>
              <a:t>CNPJ 63953620000165 · Eventos de liquidação · Versão e prevalência: Leitura específica das cláusulas indicadas; condições e conflitos preservados. Seleção documental atual não comprova vigência jurídica por data isolada.</a:t>
            </a:r>
          </a:p>
          <a:p>
            <a:r>
              <a:t>CNPJ 63953620000165 · Eventos de liquidação · Resumo do histórico: {"count": 8, "dates": ["2026-04-28", "2026-05-08", "2026-05-15"], "document_count": 3, "sources": [{"document_id": "1327859", "title": "Demonstrações Financeiras - Fusão, cisão e incorporação", "reference_date": "2026-05-15", "version": "1", "page": 23, "url": "https://fnet.bmfbovespa.com.br/fnet/publico/visualizarDocumento?id=1327859", "sha256": "dca1c68babb97f887528c3e2e47596a9c30f507b067981a35655b2f2da9c8054"}, {"document_id": "1298691", "title": "Demonstrações Financeiras - Fusão, cisão e incorporação", "reference_date": "2026-05-08", "version": "1", "page": 24, "url": "https://fnet.bmfbovespa.com.br/fnet/publico/visualizarDocumento?id=1298691", "sha256": "58c570d9b8d4d265330d3db3ea81c435b8e44a6dab4002aa37790652a1ee9819"}, {"document_id": "1282180", "title": "Demonstrações Financeiras - Fusão, cisão e incorporação", "reference_date": "2026-04-28", "version": "1", "page": 24, "url": "https://fnet.bmfbovespa.com.br/fnet/publico/visualizarDocumento?id=1282180", "sha256": "afaaa0e6809be4385e5bdb6c911aac582032c5bdbac3d7750234bf9eaf00438a"}], "reference": {"path": "history/63953620000165.json", "criterion_id": "liquidation", "total_count": 8, "preview_count": 3, "full_text_deferred": true, "sha256": "a7b89077f5e21098c2d601c303faabc3ff6b9729f89d8afecdc60fe1404720c1"}}</a:t>
            </a:r>
          </a:p>
          <a:p>
            <a:r>
              <a:t>CNPJ 54871427000194 · Prazos de cura e reincidência · Regulamento · ID 670691 · 28/04/2024 · versão Regulamento — referência 28/04/2024 · p. 18 · Anexo I, 11.1(ii)–(v) · https://fnet.bmfbovespa.com.br/fnet/publico/visualizarDocumento?id=670691</a:t>
            </a:r>
          </a:p>
          <a:p>
            <a:r>
              <a:t>CNPJ 54871427000194 · Prazos de cura e reincidência · Excerto da fonte:</a:t>
            </a:r>
          </a:p>
          <a:p>
            <a:r>
              <a:t>(ii) não cumprimento, por qualquer dos Endossantes, de qualquer de suas obrigações estabelecidas em cada Contrato de Endosso ou neste Regulamento e Anexo, desde que esse não cumprimento não seja devidamente sanado ou justificado dentro de 10 (dez) Dias Úteis a partir do recebimento, pelo Endossante, de notificação, por escrito, enviada pelo Administrador, inf ormando-o da ocorrência do respectivo evento; (iii) não cumprimento, por qualquer dos Endossantes, de suas obrigações de entregar o Arquivo de Liquidação Antecipada e o Arquivo de Posição das CCBs ao CUSTODIANTE dentro do prazo estabelecido neste Regulamento, desde que esse não cumprimento não seja devidamente sanado ou justificado dentro dos prazos acordados no respectivo Contrato de Endosso, a partir do recebimento, pelos Endossantes, de notificação, por escrito, enviada pelo CUSTODIANTE, inf ormando-o da ocorrência do respectivo evento; (iv) não cumprimento, por qualquer dos Endossantes, de qualquer de suas obrigações de entregar ao CUSTODIANTE, ou a terceiros por ele indicados, os Documentos Comprobatórios relativos</a:t>
            </a:r>
          </a:p>
          <a:p>
            <a:r>
              <a:t>CNPJ 54871427000194 · Prazos de cura e reincidência · Motivo: Não localizada uma cláusula material para este critério nos textos identificados e processados. A ausência de resultado não comprova inexistência da regra.</a:t>
            </a:r>
          </a:p>
          <a:p>
            <a:r>
              <a:t>CNPJ 54871427000194 · Prazos de cura e reincidência · Versão e prevalência: Leitura específica das cláusulas indicadas; condições e conflitos preservados. Seleção documental atual não comprova vigência jurídica por data isolada.</a:t>
            </a:r>
          </a:p>
          <a:p>
            <a:r>
              <a:t>CNPJ 60010416000112 · Prazos de cura e reincidência · Regulamento · ID 1051393 · 09/10/2025 · versão Regulamento09/10/2025 · p. 14 · AnexoI5.7.1–5.7.2 · https://fnet.bmfbovespa.com.br/fnet/publico/visualizarDocumento?id=1051393</a:t>
            </a:r>
          </a:p>
          <a:p>
            <a:r>
              <a:t>CNPJ 60010416000112 · Prazos de cura e reincidência · Excerto da fonte:</a:t>
            </a:r>
          </a:p>
          <a:p>
            <a:r>
              <a:t>5.7.1 abaixo. 5.7.1 Na hipótese do item 5.7 os titulares de Cotas Subordinadas terão o prazo de 3 (três) Dias Úteis contado do recebimento da comunicação enviada pelo Administrador para manifestar sua intenção de subscrever e integralizar novas Cotas Subordinadas, de f orma a restabelecer o Índice de Subordinação. Caso assim se manifestem, o Administrador e os titulares de Cotas Subordinadas deverão, nos 10 (dez) Dias Úteis subsequentes tomar todas as providências necessárias para que as novas Cotas Subordinadas sejam emitidas, subscritas e integraliza</a:t>
            </a:r>
          </a:p>
          <a:p>
            <a:r>
              <a:t>CNPJ 60010416000112 · Prazos de cura e reincidência · Regulamento · ID 1051393 · 09/10/2025 · versão Regulamento09/10/2025 · p. 19 · AnexoI10.1(ii)–(vii) · https://fnet.bmfbovespa.com.br/fnet/publico/visualizarDocumento?id=1051393</a:t>
            </a:r>
          </a:p>
          <a:p>
            <a:r>
              <a:t>CNPJ 60010416000112 · Prazos de cura e reincidência · Excerto da fonte:</a:t>
            </a:r>
          </a:p>
          <a:p>
            <a:r>
              <a:t>10.1 As seguintes hipóteses são consideradas Eventos de Avaliação: (i) em caso de regime de administração especial temporária - RAET, intervenção ou liquidação extrajudicial do Endossante; (ii) em caso de desenquadramento do Índice de Subordinação por 10 (dez) dias úteis consecutivos; (iii) não cumprimento, pelo Endossante, de qualquer de suas obrigações estabelecidas no Contrato de Endosso ou neste Anexo I, desde que esse não cumprimento não seja devidamente sanado ou justif icado dentro de 10 (dez) Dias Úteis a partir do recebimento, pelo Endossante, de noti</a:t>
            </a:r>
          </a:p>
          <a:p>
            <a:r>
              <a:t>CNPJ 60010416000112 · Prazos de cura e reincidência · Regulamento · ID 1051393 · 09/10/2025 · versão Regulamento09/10/2025 · p. 20 · AnexoI10.1(xiii) · https://fnet.bmfbovespa.com.br/fnet/publico/visualizarDocumento?id=1051393</a:t>
            </a:r>
          </a:p>
          <a:p>
            <a:r>
              <a:t>CNPJ 60010416000112 · Prazos de cura e reincidência · Excerto da fonte:</a:t>
            </a:r>
          </a:p>
          <a:p>
            <a:r>
              <a:t>(xiii) no caso de não serem realizados pagamentos de amortização e/ou resgate de Cotas Seniores, nos termos, prazos e condições previstos no presente Regulamento e nos respectivos Apêndices e Suplementos, não sanados em até 2 (dois) Dias Úteis contados do prazo final do respectivo evento; (xiv) no caso de pagamento de resgate e/ou amortização de Cotas Subordinadas em desacordo com os termos, prazos e condições previstos no presente Regulamento e no respectivo Apêndice. 10.1.1 Na ocorrência de qualquer Evento de Avaliação, será convocada Assembleia Especial de Cotistas,</a:t>
            </a:r>
          </a:p>
          <a:p>
            <a:r>
              <a:t>CNPJ 60010416000112 · Prazos de cura e reincidência · Versão e prevalência: Leitura específica das cláusulas indicadas; condições e conflitos preservados. Seleção documental atual não comprova vigência jurídica por data isolada.</a:t>
            </a:r>
          </a:p>
          <a:p>
            <a:r>
              <a:t>CNPJ 60010416000112 · Prazos de cura e reincidência · Resumo do histórico: {"count": 1, "dates": ["2025-03-20"], "document_count": 1, "sources": [{"document_id": "993786", "title": "Regulamento", "reference_date": "2025-03-20", "version": "1", "page": 19, "clause": "10.1", "url": "https://fnet.bmfbovespa.com.br/fnet/publico/visualizarDocumento?id=993786", "sha256": "fd0fdd369a195510d81f81f505195a0b09e5f43522a990afa7d58c4f872921c8"}], "reference": {"path": "history/60010416000112.json", "criterion_id": "cure", "total_count": 1, "preview_count": 1, "full_text_deferred": true, "sha256": "8e2bd813f4c51cf01f6bfaad164bafe69d2bbb192f753eac92da3a01c2e63046"}}</a:t>
            </a:r>
          </a:p>
          <a:p>
            <a:r>
              <a:t>CNPJ 62696791000193 · Prazos de cura e reincidência · Motivo: Não localizada uma cláusula material para este critério nos textos identificados e processados. A ausência de resultado não comprova inexistência da regra.</a:t>
            </a:r>
          </a:p>
          <a:p>
            <a:r>
              <a:t>CNPJ 55563624000109 · Prazos de cura e reincidência · Regulamento · ID 1192614 · 30/04/2026 · versão Regulamento30/04/2026 · p. 20 · AnexoI11.1 · https://fnet.bmfbovespa.com.br/fnet/publico/visualizarDocumento?id=1192614</a:t>
            </a:r>
          </a:p>
          <a:p>
            <a:r>
              <a:t>CNPJ 55563624000109 · Prazos de cura e reincidência · Excerto da fonte:</a:t>
            </a:r>
          </a:p>
          <a:p>
            <a:r>
              <a:t>11.1 As seguintes hipóteses são consideradas Eventos de Avaliação: (i) inobservância pelo ADMINISTRADOR, pelo CUSTODIANTE e/ou pelo GESTOR de seus deveres e obrigações previstos neste Anexo, desde que, uma vez notificados para sanar ou justificar o descumprimento, o ADMINISTRADOR, o CUSTODIANTE e/ou o GESTOR, conforme o caso, não o sane no prazo de 5 (cinco) Dias Úteis contados do recebimento da referida notificação; (ii) aquisição, pela Classe, de Cotas da Classe Investida que estejam em desacordo com o Critério de</a:t>
            </a:r>
          </a:p>
          <a:p>
            <a:r>
              <a:t>CNPJ 55563624000109 · Prazos de cura e reincidência · Regulamento · ID 1192614 · 30/04/2026 · versão Regulamento30/04/2026 · p. 21 · AnexoI11.1.2 · https://fnet.bmfbovespa.com.br/fnet/publico/visualizarDocumento?id=1192614</a:t>
            </a:r>
          </a:p>
          <a:p>
            <a:r>
              <a:t>CNPJ 55563624000109 · Prazos de cura e reincidência · Excerto da fonte:</a:t>
            </a:r>
          </a:p>
          <a:p>
            <a:r>
              <a:t>11.1.2 No momento de verificação de qualquer Evento de Avaliação, os procedimentos de aquisição de novas Cotas da Classe Investida e, se aplicável, de amortização das Cotas, deverão ser imediatamente interrompidos, até que: (i) seja proferida decisão final em Assembleia Especial de Cotistas, convocada especificamente para este fim, nos termos do item 11.1.1 acima, autorizando a retomada dos procedimentos de aquisição de novas Cotas da Classe Investida, amortização e resgate das Cotas; e/ou (ii) seja sanado o Evento de Avalia</a:t>
            </a:r>
          </a:p>
          <a:p>
            <a:r>
              <a:t>CNPJ 55563624000109 · Prazos de cura e reincidência · Motivo: Não localizada uma cláusula material para este critério nos textos identificados e processados. A ausência de resultado não comprova inexistência da regra.</a:t>
            </a:r>
          </a:p>
          <a:p>
            <a:r>
              <a:t>CNPJ 55563624000109 · Prazos de cura e reincidência · Versão e prevalência: Leitura específica das cláusulas indicadas; condições e conflitos preservados. Seleção documental atual não comprova vigência jurídica por data isolada.</a:t>
            </a:r>
          </a:p>
          <a:p>
            <a:r>
              <a:t>CNPJ 62552447000120 · Prazos de cura e reincidência · Regulamento · ID 1200623 · 21/05/2026 · versão Consolidado21/05/2026 aprovado pelo ato1200625 · p. 22 · AnexoI11.1(ii)–(v) · https://fnet.bmfbovespa.com.br/fnet/publico/visualizarDocumento?id=1200623</a:t>
            </a:r>
          </a:p>
          <a:p>
            <a:r>
              <a:t>CNPJ 62552447000120 · Prazos de cura e reincidência · Excerto da fonte:</a:t>
            </a:r>
          </a:p>
          <a:p>
            <a:r>
              <a:t>5 (cinco) Dias Úteis a partir do recebimento, pelo Endossante, de notificação, por escrito, enviada pelo Administrador, inf ormando-o da ocorrência do respectivo evento; (iii) não cumprimento, pelo Endossante e/ou pelo Agente de Retenção e Cobrança, de sua obrigação de entregar os (a) arquivos eletrônicos disponibilizados mensalmente pela Dataprev ao Endossante, contendo (1) as Consignações processadas pela Dataprev no respectivo mês, identificando os Devedores e os valores que serão descontados de suas respectivas folhas de pagamentos, bem como</a:t>
            </a:r>
          </a:p>
          <a:p>
            <a:r>
              <a:t>CNPJ 62552447000120 · Prazos de cura e reincidência · Regulamento · ID 1200623 · 21/05/2026 · versão Consolidado21/05/2026 aprovado pelo ato1200625 · p. 23 · AnexoI11.1(vi)–(viii) · https://fnet.bmfbovespa.com.br/fnet/publico/visualizarDocumento?id=1200623</a:t>
            </a:r>
          </a:p>
          <a:p>
            <a:r>
              <a:t>CNPJ 62552447000120 · Prazos de cura e reincidência · Excerto da fonte:</a:t>
            </a:r>
          </a:p>
          <a:p>
            <a:r>
              <a:t>5 (cinco) Dias Úteis a partir do recebimento, pelo Agente de Retenção e Cobrança, de notificação, por escrito, enviada pelo Gestor, informando-o da ocorrência do respectivo evento; (vi) não cumprimento, pelo Agente de Conta Vinculada, de qualquer de suas obrigações estabelecidas no contrato de conta vinculada celebrado entre o Endossante, na qualidade de titular da Conta Vinculada, e a Classe (“Contrato de Conta Vinculada”), no Regulamento ou neste Anexo I, desde que esse não cumprimento não seja devidamente sanado ou justificado dentro de 5 (cinco) Dias Úte</a:t>
            </a:r>
          </a:p>
          <a:p>
            <a:r>
              <a:t>CNPJ 62552447000120 · Prazos de cura e reincidência · Regulamento · ID 1200623 · 21/05/2026 · versão Consolidado21/05/2026 aprovado pelo ato1200625 · p. 19 · AnexoI6.8.4 · https://fnet.bmfbovespa.com.br/fnet/publico/visualizarDocumento?id=1200623</a:t>
            </a:r>
          </a:p>
          <a:p>
            <a:r>
              <a:t>CNPJ 62552447000120 · Prazos de cura e reincidência · Excerto da fonte:</a:t>
            </a:r>
          </a:p>
          <a:p>
            <a:r>
              <a:t>6.8.4 Em caso de inadimplência decorrente de falha operacional, será concedido aos Cotistas o prazo de 2 (dois) Dias Úteis contado da data de seu vencimento original para a realização do pagamento da integralização de Cotas sem a incidência de qualquer penalidade, multa ou mora. Transferência de Cotas 6.9 Não haverá direito de preferência aos Cotistas em relação às transferências de Cotas no mercado secundário. 6.10 No caso de alienação voluntária de Cotas, o Cotista alienante deverá solicitar por escrito ao Administrador e ao Gestor, a transf erência parcial ou total de suas Cotas, indicando o nom</a:t>
            </a:r>
          </a:p>
          <a:p>
            <a:r>
              <a:t>CNPJ 62552447000120 · Prazos de cura e reincidência · Regulamento · ID 1200623 · 21/05/2026 · versão Consolidado21/05/2026 aprovado pelo ato1200625 · p. 24 · AnexoI11.1.2 · https://fnet.bmfbovespa.com.br/fnet/publico/visualizarDocumento?id=1200623</a:t>
            </a:r>
          </a:p>
          <a:p>
            <a:r>
              <a:t>CNPJ 62552447000120 · Prazos de cura e reincidência · Excerto da fonte:</a:t>
            </a:r>
          </a:p>
          <a:p>
            <a:r>
              <a:t>11.1.2 No momento de verificação de qualquer Evento de Avaliação, os procedimentos de aquisição de novos Direitos Creditórios deverão ser imediatamente interrompidos, até que: (i) seja prof erida decisão final em Assembleia Especial, convocada especificamente para este fim, nos termos do item 11.1.1 acima, autorizando a retomada dos procedimentos de aquisição de novos Direitos Creditórios e resgate das Cotas; e/ou (ii) seja sanado o Evento de Avaliação . 11.1.3 Na hipótese de não instalação da Assembleia Especial por f alta de quórum, o Administrador dará início aos</a:t>
            </a:r>
          </a:p>
          <a:p>
            <a:r>
              <a:t>CNPJ 62552447000120 · Prazos de cura e reincidência · Motivo: Não localizada uma cláusula material para este critério nos textos identificados e processados. A ausência de resultado não comprova inexistência da regra.</a:t>
            </a:r>
          </a:p>
          <a:p>
            <a:r>
              <a:t>CNPJ 62552447000120 · Prazos de cura e reincidência · Versão e prevalência: Leitura específica das cláusulas indicadas; condições e conflitos preservados. Seleção documental atual não comprova vigência jurídica por data isolada.</a:t>
            </a:r>
          </a:p>
          <a:p>
            <a:r>
              <a:t>CNPJ 63953620000165 · Prazos de cura e reincidência · Anexo ao Regulamento · ID 1222863 · 02/06/2026 · versão AnexoConsignadoPrivado02/06/2026 · p. 14 · 11.1(ii)–(v) · https://fnet.bmfbovespa.com.br/fnet/publico/visualizarDocumento?id=1222863</a:t>
            </a:r>
          </a:p>
          <a:p>
            <a:r>
              <a:t>CNPJ 63953620000165 · Prazos de cura e reincidência · Excerto da fonte:</a:t>
            </a:r>
          </a:p>
          <a:p>
            <a:r>
              <a:t>11.1 As seguintes hipóteses são consideradas eventos de avaliação (“Eventos de Avaliação”): (i) em caso de regime de administração especial temporária - RAET, intervenção ou liquidação extrajudicial do Endossante; (ii) em caso de desenquadramento do Índice de Subordinação por 10 (dez) dias úteis consecutivos; (iii) não cumprimento, pelo Endossante, de qualquer de suas obrigações estabelecidas no Contrato de Endosso ou neste Anexo I, desde que esse não cumprimento não seja devidamente sanado ou justificado dentro de 10 (dez) Dias Úteis a partir do recebimento, pelo Endossan</a:t>
            </a:r>
          </a:p>
          <a:p>
            <a:r>
              <a:t>CNPJ 63953620000165 · Prazos de cura e reincidência · Anexo ao Regulamento · ID 1222863 · 02/06/2026 · versão AnexoConsignadoPrivado02/06/2026 · p. 10 · 6.8 · https://fnet.bmfbovespa.com.br/fnet/publico/visualizarDocumento?id=1222863</a:t>
            </a:r>
          </a:p>
          <a:p>
            <a:r>
              <a:t>CNPJ 63953620000165 · Prazos de cura e reincidência · Excerto da fonte:</a:t>
            </a:r>
          </a:p>
          <a:p>
            <a:r>
              <a:t>6.8 Observado o disposto nos boletins de subscrição, no caso de inadimplemento, a Administradora notificará o cotista inadimplente para sanar o inadimplemento no prazo de até 5 (cinco) Dias Úteis (“Cotista Inadimplente”). Caso o Cotista Inadimplente não sane o inadimplemento dentro de 5 (cinco) Dias Úteis contados do recebimento da notificação descrita acima, a Administradora poderá tomar as medidas previstas no Boletim de Subscrição. Colocação das Cotas 6.9 As Cotas poderão ser objeto de oferta pública a ser realizada nos termos da Resolução CVM 160 (“Oferta”) e/ou poderão ser colocadas de forma privada (“Colocação Privad</a:t>
            </a:r>
          </a:p>
          <a:p>
            <a:r>
              <a:t>CNPJ 63953620000165 · Prazos de cura e reincidência · Versão e prevalência: Leitura específica das cláusulas indicadas; condições e conflitos preservados. Seleção documental atual não comprova vigência jurídica por data isolada.</a:t>
            </a:r>
          </a:p>
          <a:p>
            <a:r>
              <a:t>CNPJ 54871427000194 · Cross default e insolvência · Motivo: Não localizada uma cláusula material para este critério nos textos identificados e processados. A ausência de resultado não comprova inexistência da regra.</a:t>
            </a:r>
          </a:p>
          <a:p>
            <a:r>
              <a:t>CNPJ 60010416000112 · Cross default e insolvência · Regulamento · ID 1051393 · 2025-10-09 · versão 1 · p. 21 · 10.2 · https://fnet.bmfbovespa.com.br/fnet/publico/visualizarDocumento?id=1051393</a:t>
            </a:r>
          </a:p>
          <a:p>
            <a:r>
              <a:t>CNPJ 60010416000112 · Cross default e insolvência · Excerto da fonte:</a:t>
            </a:r>
          </a:p>
          <a:p>
            <a:r>
              <a:t>10.2 Os seguintes eventos obrigarão o Administrador a verif icar se o Patrimônio Líquido da Classe está  negativo:</a:t>
            </a:r>
          </a:p>
          <a:p>
            <a:r>
              <a:t> (i) qualquer pedido de declaração judicial de insolvência da Classe;</a:t>
            </a:r>
          </a:p>
          <a:p>
            <a:r>
              <a:t> (ii) identificação de indícios de f raudes envolvendo o lastro de Direitos Creditórios que representem, no  mínimo 0,5 (cinco décimos por cento) do Patrimônio Líquido da Classe;</a:t>
            </a:r>
          </a:p>
          <a:p>
            <a:r>
              <a:t> (iii) inadimplência de obrigações financeiras de devedor e/ou emissor de ativos detidos pela Classe que  representem mais de 25% (vinte e cinco por cento)de seu Patrimônio Líquido;</a:t>
            </a:r>
          </a:p>
          <a:p>
            <a:r>
              <a:t> (iv) pedido de recuperação extrajudicial, de recuperação judicial, ou de falência de Devedor e/ou emissor  de ativos detidos pela Classe;</a:t>
            </a:r>
          </a:p>
          <a:p>
            <a:r>
              <a:t> (v) condenação da Classe de natureza judicial e/ou arbitral e/ou administrativa e/ou outras similares ao  pagamento de mais de 20% (vinte por cento) de seu Patrimônio Líquido; e</a:t>
            </a:r>
          </a:p>
          <a:p>
            <a:r>
              <a:t> (vi) caso caracterizado quaisquer dos Eventos de Liquidação.</a:t>
            </a:r>
          </a:p>
          <a:p>
            <a:r>
              <a:t>Eventos de Liquidação</a:t>
            </a:r>
          </a:p>
          <a:p>
            <a:r>
              <a:t>CNPJ 60010416000112 · Cross default e insolvência · Regulamento · ID 1051393 · 2025-10-09 · versão 1 · p. 21 · 10.3 · https://fnet.bmfbovespa.com.br/fnet/publico/visualizarDocumento?id=1051393</a:t>
            </a:r>
          </a:p>
          <a:p>
            <a:r>
              <a:t>CNPJ 60010416000112 · Cross default e insolvência · Excerto da fonte:</a:t>
            </a:r>
          </a:p>
          <a:p>
            <a:r>
              <a:t>10.3 As seguintes hipóteses são consideradas Eventos de Liquidação:</a:t>
            </a:r>
          </a:p>
          <a:p>
            <a:r>
              <a:t> (i) caso seja deliberado em Assembleia de Cotistas que um Evento de Avaliação constitui um Evento de  Liquidação;</a:t>
            </a:r>
          </a:p>
          <a:p>
            <a:r>
              <a:t> (ii) na hipótese de resilição do Contrato de Custódia ou renúncia do Custodiante, sem que tenha havido  sua substituição por outra instituição, de acordo com os procedimentos estabelecidos neste  Regulamento;</a:t>
            </a:r>
          </a:p>
          <a:p>
            <a:r>
              <a:t> (iii) renúncia do Administrador sem que a Assembleia Especial de Cotistas eficazmente nomeie instituição  habilitada para substituí-lo, nos termos estabelecidos neste Regulamento;</a:t>
            </a:r>
          </a:p>
          <a:p>
            <a:r>
              <a:t> (iv) por determinação da CVM, em caso de violação de normas legais ou regulamentares;</a:t>
            </a:r>
          </a:p>
          <a:p>
            <a:r>
              <a:t> (v) sempre que assim decidido pelos Cotistas em Assembleia Especial de Cotistas especialmente  convocada para tal f im;</a:t>
            </a:r>
          </a:p>
          <a:p>
            <a:r>
              <a:t> (vi) em caso de regime de administração especial temporária - RAET, intervenção ou liquidação  extrajudicial, conforme aplicável, do Custodiante, Administrador, ou Gestor, sem a sua ef etiva  substituição nos termos deste Regulamento;</a:t>
            </a:r>
          </a:p>
          <a:p>
            <a:r>
              <a:t> (vii) se, após 90 (noventa) dias do início das atividades do Fundo, o Patrimônio Líquido diário inf erior da  Classe f or inf erior a R$ 1.000.000,00 (um milhão de reais) pelo período de 90 (noventa) dias  consecutivos;</a:t>
            </a:r>
          </a:p>
          <a:p>
            <a:r>
              <a:t> (viii) impossibilidade da Classe adquirir Direitos Creditórios admitidos por sua política de investimento.</a:t>
            </a:r>
          </a:p>
          <a:p>
            <a:r>
              <a:t>Procedimentos de Liquidação Antecipada</a:t>
            </a:r>
          </a:p>
          <a:p>
            <a:r>
              <a:t>CNPJ 60010416000112 · Cross default e insolvência · Regulamento · ID 1051393 · 2025-10-09 · versão 1 · p. 19 · 10.1 · https://fnet.bmfbovespa.com.br/fnet/publico/visualizarDocumento?id=1051393</a:t>
            </a:r>
          </a:p>
          <a:p>
            <a:r>
              <a:t>CNPJ 60010416000112 · Cross default e insolvência · Excerto da fonte:</a:t>
            </a:r>
          </a:p>
          <a:p>
            <a:r>
              <a:t>10.1 As seguintes hipóteses são consideradas Eventos de Avaliação:</a:t>
            </a:r>
          </a:p>
          <a:p>
            <a:r>
              <a:t> (i) em caso de regime de administração especial temporária - RAET, intervenção ou liquidação  extrajudicial do Endossante;</a:t>
            </a:r>
          </a:p>
          <a:p>
            <a:r>
              <a:t> (ii) em caso de desenquadramento do Índice de Subordinação por 10 (dez) dias úteis consecutivos;</a:t>
            </a:r>
          </a:p>
          <a:p>
            <a:r>
              <a:t> (iii) não cumprimento, pelo Endossante, de qualquer de suas obrigações estabelecidas no Contrato de  Endosso ou neste Anexo I, desde que esse não cumprimento não seja devidamente sanado ou  justif icado dentro de 10 (dez) Dias Úteis a partir do recebimento, pelo Endossante, de notificação,  por escrito, enviada pelo Administrador, inf ormando-o da ocorrência do respectivo evento;</a:t>
            </a:r>
          </a:p>
          <a:p>
            <a:r>
              <a:t> (iv) não cumprimento, pelo Endossante, de sua obrigação de entregar os Arquivos Dataprev ao Gestor  e ao Custodiante dentro do prazo estabelecido neste Anexo I, desde que esse não cumprimento  não seja devidamente sanado ou justificado dentro de 02 (dois) Dias Úteis a partir do recebimento,  pelo Endossante, de notificação, por escrito, enviada pelo Gestor, informando-o da ocorrência do  respectivo evento;</a:t>
            </a:r>
          </a:p>
          <a:p>
            <a:r>
              <a:t> (v) não cumprimento, pelo Endossante, de qualquer de suas obrigações de entregar ao Gestor e/o ao  Custodiante, ou a terceiros por ele indicados, os Documentos Comprobatórios e Documentos  Suporte relativos aos Direitos Creditórios que tenham sido endossados à Classe, dentro do prazo  estabelecido neste Anexo I, desde que esse não cumprimento não seja devidamente sanado ou  justif icado dentro de 02 (dois) Dias Úteis a partir do recebimento, pelo Endossante, de notificação,  por escrito, enviada pelo Gestor e/ou Custodiante, inf ormando- o da ocorrência do respectivo  evento;</a:t>
            </a:r>
          </a:p>
          <a:p>
            <a:r>
              <a:t> (vi) não cumprimento, pelo Agente de Retenção/Cobrança, de qualquer de suas obrigações  estabelecidas no Contrato de Endosso, neste Regulamento ou no Contrato de Serviços MT, desde  que esse não cumprimento não seja devidamente sanado ou justificado dentro de 10 (dez) Dias  Úteis a partir do recebimento, pelo Agente de Retenção/Cobrança, de notificação, por escrito,  enviada pelo Gestor, inf ormando-o da ocorrência do respectivo evento;</a:t>
            </a:r>
          </a:p>
          <a:p>
            <a:r>
              <a:t> (vii) não cumprimento, pelo Administrador, Gestor ou Custodiante, de seus respectivos deveres e  obrigações estabelecidos neste Regulamento, no Contrato de Endosso ou nos respectivos  contratos de prestação de serviços segundo os quais essas entidades são contratadas pela Classe,  desde que, tendo sido notificado pelo Cotista para remediar ou justificar o não cumprimento, não o  f aça dentro de 10 (dez) Dias Úteis a partir do recebimento da notif icação mencionada;</a:t>
            </a:r>
          </a:p>
          <a:p>
            <a:r>
              <a:t>BTG Pactual SAC: 0800 772 28 27 - Ouvidoria: 0800 722 00 48 - btgpactual.com 19</a:t>
            </a:r>
          </a:p>
          <a:p>
            <a:r>
              <a:t>CNPJ 60010416000112 · Cross default e insolvência · Condição: Documentos atuais selecionados no inventário por categoria/escopo; a data documental isolada não comprova vigência jurídica.</a:t>
            </a:r>
          </a:p>
          <a:p>
            <a:r>
              <a:t>CNPJ 60010416000112 · Cross default e insolvência · Versão e prevalência: Documentos atuais selecionados no inventário por categoria/escopo; a data documental isolada não comprova vigência jurídica.</a:t>
            </a:r>
          </a:p>
          <a:p>
            <a:r>
              <a:t>CNPJ 60010416000112 · Cross default e insolvência · Resumo do histórico: {"count": 1, "dates": ["2025-03-20"], "document_count": 1, "sources": [{"document_id": "993786", "title": "Regulamento", "reference_date": "2025-03-20", "version": "1", "page": 21, "clause": "10.2", "url": "https://fnet.bmfbovespa.com.br/fnet/publico/visualizarDocumento?id=993786", "sha256": "fd0fdd369a195510d81f81f505195a0b09e5f43522a990afa7d58c4f872921c8"}], "reference": {"path": "history/60010416000112.json", "criterion_id": "cross_default", "total_count": 1, "preview_count": 1, "full_text_deferred": true, "sha256": "8e2bd813f4c51cf01f6bfaad164bafe69d2bbb192f753eac92da3a01c2e63046"}}</a:t>
            </a:r>
          </a:p>
          <a:p>
            <a:r>
              <a:t>CNPJ 62696791000193 · Cross default e insolvência · Motivo: Não localizada uma cláusula material para este critério nos textos identificados e processados. A ausência de resultado não comprova inexistência da regra.</a:t>
            </a:r>
          </a:p>
          <a:p>
            <a:r>
              <a:t>CNPJ 55563624000109 · Cross default e insolvência · Motivo: Não localizada uma cláusula material para este critério nos textos identificados e processados. A ausência de resultado não comprova inexistência da regra.</a:t>
            </a:r>
          </a:p>
          <a:p>
            <a:r>
              <a:t>CNPJ 62552447000120 · Cross default e insolvência · Regulamento · ID 1200623 · 2026-05-21 · versão 1 · p. 22 · 11.1 · https://fnet.bmfbovespa.com.br/fnet/publico/visualizarDocumento?id=1200623</a:t>
            </a:r>
          </a:p>
          <a:p>
            <a:r>
              <a:t>CNPJ 62552447000120 · Cross default e insolvência · Excerto da fonte:</a:t>
            </a:r>
          </a:p>
          <a:p>
            <a:r>
              <a:t>11.1 As seguintes hipóteses são consideradas eventos de avaliação (“Eventos de Avaliação”):</a:t>
            </a:r>
          </a:p>
          <a:p>
            <a:r>
              <a:t> (i) em caso de regime de administração especial temporária - RAET, intervenção ou liquidação  extrajudicial do Endossante, da instituição f inanceira prestadora dos serviços de agente de  conta vinculada à Classe (“Agente de Conta Vinculada”) e/ou do Agente de Retenção e  Cobrança;</a:t>
            </a:r>
          </a:p>
          <a:p>
            <a:r>
              <a:t> (ii) não cumprimento, pelo Endossante, de qualquer de suas obrigações estabelecidas nos  Contratos de Endosso, no Regulamento ou neste Anexo I, desde que esse não cumprimento  não seja devidamente sanado ou justificado dentro de 5 (cinco) Dias Úteis a partir do  recebimento, pelo Endossante, de notificação, por escrito, enviada pelo Administrador,  inf ormando-o da ocorrência do respectivo evento;</a:t>
            </a:r>
          </a:p>
          <a:p>
            <a:r>
              <a:t> (iii) não cumprimento, pelo Endossante e/ou pelo Agente de Retenção e Cobrança, de sua  obrigação de entregar os (a) arquivos eletrônicos disponibilizados mensalmente pela Dataprev  ao Endossante, contendo (1) as Consignações processadas pela Dataprev no respectivo mês,  identificando os Devedores e os valores que serão descontados de suas respectivas folhas de  pagamentos, bem como (2) a totalidade das operações pendentes de crédito consignado  concedidas pelo Endossante e indicando todos os Direitos Creditórios devi dos mediante  Consignação na próxima data de liquidação (“Arquivos Dataprev”) e/ou (b) os arquivos  eletrônicos disponibilizados mensalmente pela CEF ao Endossante, contendo os pagamentos  de Saque-aniversário processados pela CEF no respectivo mês devidos à Classe, identificando  os Devedores e os valores que serão descontados de seus respectivos Saques-aniversário  (“Arquivos de Liquidação Saque-aniversário”) ao Custodiante dentro do prazo estabelecido  neste Anexo I, desde que esse não cumprimento não seja dev idamente sanado ou justificado  dentro de 5 (cinco) Dias Úteis a partir do recebimento, pelo Endossante e/ou pelo Agente de  Retenção e Cobrança, de notificação, por escrito, enviada pelo Custodiante, inf ormando-o da  ocorrência do respectivo evento;</a:t>
            </a:r>
          </a:p>
          <a:p>
            <a:r>
              <a:t> (iv) não cumprimento, pelo Endossante e/ou pelo Agente de Retenção e Cobrança, de qualquer de  suas obrigações de entregar ao Gestor, ou a terceiros por ele indicados, os Documentos  Comprobatórios e Documentos Suporte relativos aos Direitos Creditórios que tenham sido  endossados à Classe, dentro do prazo estabelecido neste Anexo I, desde que esse não  cumprimento não seja devidamente sanado ou justificado dentro de 5 (cinco) Dias Úteis a partir  do recebimento, pelo Endossante e/ou pelo Agente de Retenção e Cobrança, de notificação,  por escrito, enviada pelo Custodiante, inf ormando- o da ocorrência do respectivo evento;</a:t>
            </a:r>
          </a:p>
          <a:p>
            <a:r>
              <a:t> (v) não cumprimento, pelo Agente de Retenção e Cobrança, de qualquer de suas obrigações  estabelecidas nos Contratos de Endosso, no Regulamento, neste Anexo I ou nos Contratos de  Retenção/Cobrança, desde que esse não cumprimento não seja devidamente sanado ou</a:t>
            </a:r>
          </a:p>
          <a:p>
            <a:r>
              <a:t>CNPJ 62552447000120 · Cross default e insolvência · Condição: Documentos atuais selecionados no inventário por categoria/escopo; a data documental isolada não comprova vigência jurídica.</a:t>
            </a:r>
          </a:p>
          <a:p>
            <a:r>
              <a:t>CNPJ 62552447000120 · Cross default e insolvência · Versão e prevalência: Documentos atuais selecionados no inventário por categoria/escopo; a data documental isolada não comprova vigência jurídica.</a:t>
            </a:r>
          </a:p>
          <a:p>
            <a:r>
              <a:t>CNPJ 63953620000165 · Cross default e insolvência · Anexo ao Regulamento · ID 1222863 · 2026-06-02 · versão 1 · p. 14 · 11.1 · https://fnet.bmfbovespa.com.br/fnet/publico/visualizarDocumento?id=1222863</a:t>
            </a:r>
          </a:p>
          <a:p>
            <a:r>
              <a:t>CNPJ 63953620000165 · Cross default e insolvência · Excerto da fonte:</a:t>
            </a:r>
          </a:p>
          <a:p>
            <a:r>
              <a:t>11.1 As seguintes hipóteses são consideradas eventos de avaliação (“Eventos de Avaliação”):</a:t>
            </a:r>
          </a:p>
          <a:p>
            <a:r>
              <a:t> (i) em caso de regime de administração especial temporária - RAET, intervenção ou liquidação extrajudicial  do Endossante;</a:t>
            </a:r>
          </a:p>
          <a:p>
            <a:r>
              <a:t> (ii) em caso de desenquadramento do Índice de Subordinação por 10 (dez) dias úteis consecutivos;</a:t>
            </a:r>
          </a:p>
          <a:p>
            <a:r>
              <a:t> (iii) não cumprimento, pelo Endossante, de qualquer de suas obrigações estabelecidas no Contrato de  Endosso ou neste Anexo I, desde que esse não cumprimento não seja devidamente sanado ou justificado  dentro de 10 (dez) Dias Úteis a partir do recebimento, pelo Endossante, de notificação, por escrito,  enviada pelo Administrador, informando-o da ocorrência do respectivo evento;</a:t>
            </a:r>
          </a:p>
          <a:p>
            <a:r>
              <a:t> (iv) não cumprimento, pelo Endossante, de sua obrigação de entregar os Arquivos Dataprev ao Gestor e ao  Custodiante dentro do prazo estabelecido neste Anexo, desde que esse não cumprimento não seja  devidamente sanado ou justificado dentro de 02 (dois) Dias Úteis a partir do recebimento, pelo  Endossante, de notificação, por escrito, enviada pelo Gestor, informando-o da ocorrência do respectivo  evento;</a:t>
            </a:r>
          </a:p>
          <a:p>
            <a:r>
              <a:t> (v) não cumprimento, pelo Endossante, de qualquer de suas obrigações de entregar ao Gestor e/o ao  Custodiante, ou a terceiros por ele indicados, os Documentos Comprobatórios e Documentos Suporte  relativos aos Direitos Creditórios que tenham sido endossados à Classe, dentro do prazo estabelecido  neste Anexo I, desde que esse não cumprimento não seja devidamente sanado ou justificado dentro de  02 (dois) Dias Úteis a partir do recebimento, pelo Endossante, de notificação, por escrito, enviada pelo  Gestor e/ou Custodiante, informando- o da ocorrência do respectivo evento;</a:t>
            </a:r>
          </a:p>
          <a:p>
            <a:r>
              <a:t> (vi) não cumprimento, pelo Agente de Retenção/Cobrança, de qualquer de suas obrigações estabelecidas  no Contrato de Endosso, neste Regulamento ou no Contrato de Serviços MT, desde que esse não  cumprimento não seja devidamente sanado ou justificado dentro de 10 (dez) Dias Úteis a partir do  recebimento, pelo Agente de Retenção/Cobrança, de notificação, por escrito, enviada pelo Gestor,  informando-o da ocorrência do respectivo evento;</a:t>
            </a:r>
          </a:p>
          <a:p>
            <a:r>
              <a:t>CNPJ 63953620000165 · Cross default e insolvência · Condição: Documentos atuais selecionados no inventário por categoria/escopo; a data documental isolada não comprova vigência jurídica.</a:t>
            </a:r>
          </a:p>
          <a:p>
            <a:r>
              <a:t>CNPJ 63953620000165 · Cross default e insolvência · Versão e prevalência: Documentos atuais selecionados no inventário por categoria/escopo; a data documental isolada não comprova vigência jurídica.</a:t>
            </a:r>
          </a:p>
          <a:p>
            <a:r>
              <a:t>CNPJ 54871427000194 · Gatilhos de avaliação e liquidação · Regulamento · ID 670691 · 2024-04-28 · versão 1 · p. 17 · 10.2 · https://fnet.bmfbovespa.com.br/fnet/publico/visualizarDocumento?id=670691</a:t>
            </a:r>
          </a:p>
          <a:p>
            <a:r>
              <a:t>CNPJ 54871427000194 · Gatilhos de avaliação e liquidação · Excerto da fonte:</a:t>
            </a:r>
          </a:p>
          <a:p>
            <a:r>
              <a:t>10.2 A Assembleia Especial de Cotistas é responsável por deliberar sobre as matérias específicas da Classe  de Cotas, sem prejuízo das demais disposições previstas na regulamentação aplicável, incluindo, mas  não se limitando a:</a:t>
            </a:r>
          </a:p>
          <a:p>
            <a:r>
              <a:t> (i) deliberar sobre as demonstrações contábeis da Classe;</a:t>
            </a:r>
          </a:p>
          <a:p>
            <a:r>
              <a:t> (ii) deliberar sobre substituição de Prestadores de Serviços Essenciais, observado o disposto no  art. 70, §1º da parte geral da Resolução CVM 175;</a:t>
            </a:r>
          </a:p>
          <a:p>
            <a:r>
              <a:t> (iii) deliberar sobre elevação da Taxa de Administração, inclusive na hipótese de restabelecimento  de taxa que tenha sido objeto de redução;</a:t>
            </a:r>
          </a:p>
          <a:p>
            <a:r>
              <a:t> (iv) deliberar sobre incorporação, f usão, cisão total ou parcial, a transf ormação ou liquidação da  Classe;</a:t>
            </a:r>
          </a:p>
          <a:p>
            <a:r>
              <a:t> (v) alterações das características, vantagens, direitos e obrigações das Cotas;</a:t>
            </a:r>
          </a:p>
          <a:p>
            <a:r>
              <a:t> (vi) alterar critérios e procedimentos para Amortização e/ou resgate de Cotas mediante dação em  pagamento de Direitos Creditórios;</a:t>
            </a:r>
          </a:p>
          <a:p>
            <a:r>
              <a:t> (vii) aprovar a contratação de Agente de Cobrança dos Direitos Creditórios;</a:t>
            </a:r>
          </a:p>
          <a:p>
            <a:r>
              <a:t> (viii) aprovar emissão de novas Cotas da Classe;</a:t>
            </a:r>
          </a:p>
          <a:p>
            <a:r>
              <a:t> (ix) deliberar sobre a eventual necessidade de aportes adicionais de recursos na Classe pelos  Cotistas;</a:t>
            </a:r>
          </a:p>
          <a:p>
            <a:r>
              <a:t> (x) alterações na Política de Investimentos;</a:t>
            </a:r>
          </a:p>
          <a:p>
            <a:r>
              <a:t> (xi) alterações nos Critérios de Elegibilidade;</a:t>
            </a:r>
          </a:p>
          <a:p>
            <a:r>
              <a:t> (xii) alteração dos Eventos de Avaliação, dos Eventos de Liquidação e/ou das consequências deles  decorrentes em f unção do previsto neste Regulamento;</a:t>
            </a:r>
          </a:p>
          <a:p>
            <a:r>
              <a:t> (xiii) plano de resolução do Patrimônio Líquido negativo da Classe, nos termos da Resolução CVM  175; e</a:t>
            </a:r>
          </a:p>
          <a:p>
            <a:r>
              <a:t> (xiv) pedido de declaração judicial de insolvência da Classe.</a:t>
            </a:r>
          </a:p>
          <a:p>
            <a:r>
              <a:t>CAPÍTULO 11 – EVENTOS DE AVALIAÇÃO, EVENTOS DE LIQUIDAÇÃO, E PROCEDIMENTOS DE LIQUIDAÇÃO ANTECIPADA Eventos de Avaliação</a:t>
            </a:r>
          </a:p>
          <a:p>
            <a:r>
              <a:t>CNPJ 54871427000194 · Gatilhos de avaliação e liquidação · Regulamento · ID 670691 · 2024-04-28 · versão 1 · p. 19 · 11.2 · https://fnet.bmfbovespa.com.br/fnet/publico/visualizarDocumento?id=670691</a:t>
            </a:r>
          </a:p>
          <a:p>
            <a:r>
              <a:t>CNPJ 54871427000194 · Gatilhos de avaliação e liquidação · Excerto da fonte:</a:t>
            </a:r>
          </a:p>
          <a:p>
            <a:r>
              <a:t>11.2 Os seguintes eventos obrigarão o ADMINISTRADOR a verificar se o Patrimônio Líquido da Classe está  negativo:</a:t>
            </a:r>
          </a:p>
          <a:p>
            <a:r>
              <a:t> (i) qualquer pedido de declaração judicial de insolvência da Classe; e</a:t>
            </a:r>
          </a:p>
          <a:p>
            <a:r>
              <a:t> (ii) na ocorrência de quaisquer dos Eventos de Avaliação e/ou Eventos de Liquidação .</a:t>
            </a:r>
          </a:p>
          <a:p>
            <a:r>
              <a:t>Eventos de Liquidação</a:t>
            </a:r>
          </a:p>
          <a:p>
            <a:r>
              <a:t>CNPJ 54871427000194 · Gatilhos de avaliação e liquidação · Condição: Documentos atuais selecionados no inventário por categoria/escopo; a data documental isolada não comprova vigência jurídica.</a:t>
            </a:r>
          </a:p>
          <a:p>
            <a:r>
              <a:t>CNPJ 54871427000194 · Gatilhos de avaliação e liquidação · Versão e prevalência: Documentos atuais selecionados no inventário por categoria/escopo; a data documental isolada não comprova vigência jurídica.</a:t>
            </a:r>
          </a:p>
          <a:p>
            <a:r>
              <a:t>CNPJ 54871427000194 · Gatilhos de avaliação e liquidação · Resumo do histórico: {"count": 2, "dates": ["2024-04-19", "2024-04-28"], "document_count": 2, "sources": [{"document_id": "670691", "title": "Regulamento", "reference_date": "2024-04-28", "version": "1", "page": "17-20", "url": "https://fnet.bmfbovespa.com.br/fnet/publico/visualizarDocumento?id=670691", "sha256": "bf16dd7f1a62d5cdbf2e2d54fef81783783f7310fbc99c3a8f00459bdf9d037b"}, {"document_id": "670689", "title": "Regulamento", "reference_date": "2024-04-19", "version": "1", "page": 17, "clause": "10.2", "url": "https://fnet.bmfbovespa.com.br/fnet/publico/visualizarDocumento?id=670689", "sha256": "891bc9bc5d87bbc02ec139077a84d2702eb81ea02035fb71d24f5b8366b94a0b"}], "reference": {"path": "history/54871427000194.json", "criterion_id": "legacy_events", "total_count": 2, "preview_count": 2, "full_text_deferred": true, "sha256": "35d7cd99be50c7287c9fb675cf4f2e736002315295a225a9efa79c8d9186d874"}}</a:t>
            </a:r>
          </a:p>
          <a:p>
            <a:r>
              <a:t>CNPJ 60010416000112 · Gatilhos de avaliação e liquidação · Regulamento · ID 1051393 · 2025-10-09 · versão 1 · p. 21 · 10.2 · https://fnet.bmfbovespa.com.br/fnet/publico/visualizarDocumento?id=1051393</a:t>
            </a:r>
          </a:p>
          <a:p>
            <a:r>
              <a:t>CNPJ 60010416000112 · Gatilhos de avaliação e liquidação · Excerto da fonte:</a:t>
            </a:r>
          </a:p>
          <a:p>
            <a:r>
              <a:t>10.2 Os seguintes eventos obrigarão o Administrador a verif icar se o Patrimônio Líquido da Classe está  negativo:</a:t>
            </a:r>
          </a:p>
          <a:p>
            <a:r>
              <a:t> (i) qualquer pedido de declaração judicial de insolvência da Classe;</a:t>
            </a:r>
          </a:p>
          <a:p>
            <a:r>
              <a:t> (ii) identificação de indícios de f raudes envolvendo o lastro de Direitos Creditórios que representem, no  mínimo 0,5 (cinco décimos por cento) do Patrimônio Líquido da Classe;</a:t>
            </a:r>
          </a:p>
          <a:p>
            <a:r>
              <a:t> (iii) inadimplência de obrigações financeiras de devedor e/ou emissor de ativos detidos pela Classe que  representem mais de 25% (vinte e cinco por cento)de seu Patrimônio Líquido;</a:t>
            </a:r>
          </a:p>
          <a:p>
            <a:r>
              <a:t> (iv) pedido de recuperação extrajudicial, de recuperação judicial, ou de falência de Devedor e/ou emissor  de ativos detidos pela Classe;</a:t>
            </a:r>
          </a:p>
          <a:p>
            <a:r>
              <a:t> (v) condenação da Classe de natureza judicial e/ou arbitral e/ou administrativa e/ou outras similares ao  pagamento de mais de 20% (vinte por cento) de seu Patrimônio Líquido; e</a:t>
            </a:r>
          </a:p>
          <a:p>
            <a:r>
              <a:t> (vi) caso caracterizado quaisquer dos Eventos de Liquidação.</a:t>
            </a:r>
          </a:p>
          <a:p>
            <a:r>
              <a:t>Eventos de Liquidação</a:t>
            </a:r>
          </a:p>
          <a:p>
            <a:r>
              <a:t>CNPJ 60010416000112 · Gatilhos de avaliação e liquidação · Regulamento · ID 1051393 · 2025-10-09 · versão 1 · p. 21 · 10.3 · https://fnet.bmfbovespa.com.br/fnet/publico/visualizarDocumento?id=1051393</a:t>
            </a:r>
          </a:p>
          <a:p>
            <a:r>
              <a:t>CNPJ 60010416000112 · Gatilhos de avaliação e liquidação · Excerto da fonte:</a:t>
            </a:r>
          </a:p>
          <a:p>
            <a:r>
              <a:t>10.3 As seguintes hipóteses são consideradas Eventos de Liquidação:</a:t>
            </a:r>
          </a:p>
          <a:p>
            <a:r>
              <a:t> (i) caso seja deliberado em Assembleia de Cotistas que um Evento de Avaliação constitui um Evento de  Liquidação;</a:t>
            </a:r>
          </a:p>
          <a:p>
            <a:r>
              <a:t> (ii) na hipótese de resilição do Contrato de Custódia ou renúncia do Custodiante, sem que tenha havido  sua substituição por outra instituição, de acordo com os procedimentos estabelecidos neste  Regulamento;</a:t>
            </a:r>
          </a:p>
          <a:p>
            <a:r>
              <a:t> (iii) renúncia do Administrador sem que a Assembleia Especial de Cotistas eficazmente nomeie instituição  habilitada para substituí-lo, nos termos estabelecidos neste Regulamento;</a:t>
            </a:r>
          </a:p>
          <a:p>
            <a:r>
              <a:t> (iv) por determinação da CVM, em caso de violação de normas legais ou regulamentares;</a:t>
            </a:r>
          </a:p>
          <a:p>
            <a:r>
              <a:t> (v) sempre que assim decidido pelos Cotistas em Assembleia Especial de Cotistas especialmente  convocada para tal f im;</a:t>
            </a:r>
          </a:p>
          <a:p>
            <a:r>
              <a:t> (vi) em caso de regime de administração especial temporária - RAET, intervenção ou liquidação  extrajudicial, conforme aplicável, do Custodiante, Administrador, ou Gestor, sem a sua ef etiva  substituição nos termos deste Regulamento;</a:t>
            </a:r>
          </a:p>
          <a:p>
            <a:r>
              <a:t> (vii) se, após 90 (noventa) dias do início das atividades do Fundo, o Patrimônio Líquido diário inf erior da  Classe f or inf erior a R$ 1.000.000,00 (um milhão de reais) pelo período de 90 (noventa) dias  consecutivos;</a:t>
            </a:r>
          </a:p>
          <a:p>
            <a:r>
              <a:t> (viii) impossibilidade da Classe adquirir Direitos Creditórios admitidos por sua política de investimento.</a:t>
            </a:r>
          </a:p>
          <a:p>
            <a:r>
              <a:t>Procedimentos de Liquidação Antecipada</a:t>
            </a:r>
          </a:p>
          <a:p>
            <a:r>
              <a:t>CNPJ 60010416000112 · Gatilhos de avaliação e liquidação · Regulamento · ID 1051393 · 2025-10-09 · versão 1 · p. 38 · https://fnet.bmfbovespa.com.br/fnet/publico/visualizarDocumento?id=1051393</a:t>
            </a:r>
          </a:p>
          <a:p>
            <a:r>
              <a:t>CNPJ 60010416000112 · Gatilhos de avaliação e liquidação · Excerto da fonte:</a:t>
            </a:r>
          </a:p>
          <a:p>
            <a:r>
              <a:t>Anexo I ao Regulamento CLASSE ÚNICA DO MT I CONSIGNADO PRIVADO I FUNDO DE INVESTIMENTO EM DIREITOS CREDITÓRIOS RESPONSABILIDADE LIMITADA  deixar de produzir os efeitos pretendidos, bem como causar perdas para o Cotista e colocar  em risco o patrimônio da Classe</a:t>
            </a:r>
          </a:p>
          <a:p>
            <a:r>
              <a:t> (iii) Risco decorrente da amortização das Cotas: conforme previsto neste Anexo I, as Cotas  poderão ser amortizadas conf orme deliberado pela em Assembleia de Cotistas.</a:t>
            </a:r>
          </a:p>
          <a:p>
            <a:r>
              <a:t> Considerando que a realização da amortização dependerá do caixa existente na Classe, é  possível que, se essa condição não seja verif icada, a Classe não poderá ef etuar as  amortizações das Cotas conforme deliberadas pelos Cotistas. A Classe, o Administrador, o  Custodiante, o Gestor, o Agente de Retenção/Cobrança, o Coordenador Líder ou o  Endossante não terão direito a nenhuma multa ou penalidade, por qualquer motivo, devido a  esse f ato.</a:t>
            </a:r>
          </a:p>
          <a:p>
            <a:r>
              <a:t> (iv) Risco de invalidade ou ineficácia do endosso: o endosso dos Direitos Creditórios à Classe  poderá ser invalidada ou considerada ineficaz, o que impacta negativamente o patrimônio da  Classe, no caso de (a) fraude contra credores, se no momento do endosso o Endossante for  insolvente ou se ele vier a se tornar insolvente; (b) fraude à execução, se (1) no momento do  endosso o Endossante f or réu em um processo judicial capaz de torná-lo insolvente; ou (2)  os Direitos Creditórios endossados à Classe estiverem sujeitos a qualquer demanda judicial  baseada em garantia real; e (c) f raude à execução f iscal, se o Endossante, ao celebrar o  endosso de crédito, como contribuinte por débito à Fazenda Pública, e crédito f iscal  regularmente inscrito na dívida ativa, não tiver ativos para pagamento total da dívida f iscal.</a:t>
            </a:r>
          </a:p>
          <a:p>
            <a:r>
              <a:t> Entretanto, o Administrador, o Custodiante, o Gestor e o Agente de Retenção/ Cobrança não  verif icarão os eventos acima no endosso de Direito Creditório e não serão responsabilizados  em caso de invalidação ou inef icácia do endosso de um Direito Creditório à Classe.</a:t>
            </a:r>
          </a:p>
          <a:p>
            <a:r>
              <a:t> (v) Risco de impugnação judicial: a CCB poderá ser impugnada judicialmente tanto no que diz  respeito à sua f ormalização quanto às taxas aplicadas e à f orma de cobrança da CCB,  inclusive em virtude das disposições estabelecidas na Lei nº 8.078, de 11 de setembro de  1990, conf orme alterada (Código de Def esa do Consumidor), tais como uma possível  impugnação de cláusula abusiva, bem como qualquer vício nos Documentos Comprobatórios  ou Documentos Suporte que impeçam a exigibilidade do crédito (ausência de assinaturas ou  f alta de prova de f ormalização regular do instrumento, representação ilegítima, dentre  outros). Nesses casos, a CCB poderá ser modificada ou cancelada em virtude de decisão  judicial, o que poderá acarretar perdas para a Classe e, consequentemente, af etar  negativamente a rentabilidade de seu patrimônio.</a:t>
            </a:r>
          </a:p>
          <a:p>
            <a:r>
              <a:t> (vi) Risco de restrições de natureza legal ou regulamentar: a Classe pode estar sujeito a  riscos, além do controle do Administrador, decorrentes de quaisquer restrições f uturas de  natureza legal e/ou regulamentar que venham a af etar a validade da constituição e/ou o  endosso dos Direitos Creditórios à Classe. Caso essas restrições ocorram, o f luxo de  cessões de Direitos Creditórios à Classe pode ser interrompido e, portanto, pode  comprometer a continuidade da Classe e a perspectiva de investimento do Cotista. Além  disso, os Direitos Creditórios que já estão na Carteira podem ter sua validade questionada,  o que pode causar, portanto, prejuízos ao Cotista.</a:t>
            </a:r>
          </a:p>
          <a:p>
            <a:r>
              <a:t> (vii) Risco de não obter um tratamento fiscal mais benéfico: o Gestor deverá envidar seus  melhores esforços para que o tratamento f iscal aplicável às classes de longo prazo seja  aplicado à Classe e ao Cotista. Entretanto, em virtude de eventos fora do controle do Gestor,  incluindo, mas não se limitando aos eventos de liquidação antecipada da Classe  estabelecidos neste Anexo I, é possível que a Classe e o Cotista não desfrutem de tratamento  f iscal mais benéf ico, atribuído às classes de longo prazo. Essa situação pode levar a um  impacto adverso na rentabilidade líquida decorrente do investimento nas Cotas.</a:t>
            </a:r>
          </a:p>
          <a:p>
            <a:r>
              <a:t> (viii) Risco de bloqueio da Conta de Cobrança da Classe ou da Conta de Movimentação da  Classe: os recursos provenientes da Classe serão direcionados para a Conta de Cobrança BTG Pactual SAC: 0800 772 28 27 - Ouvidoria: 0800 722 00 48 - btgpactual.com 38</a:t>
            </a:r>
          </a:p>
          <a:p>
            <a:r>
              <a:t>CNPJ 60010416000112 · Gatilhos de avaliação e liquidação · Condição: Documentos atuais selecionados no inventário por categoria/escopo; a data documental isolada não comprova vigência jurídica.</a:t>
            </a:r>
          </a:p>
          <a:p>
            <a:r>
              <a:t>CNPJ 60010416000112 · Gatilhos de avaliação e liquidação · Versão e prevalência: Documentos atuais selecionados no inventário por categoria/escopo; a data documental isolada não comprova vigência jurídica.</a:t>
            </a:r>
          </a:p>
          <a:p>
            <a:r>
              <a:t>CNPJ 60010416000112 · Gatilhos de avaliação e liquidação · Resumo do histórico: {"count": 2, "dates": ["2025-03-20", "2025-10-09"], "document_count": 2, "sources": [{"document_id": "1051393", "title": "Regulamento", "reference_date": "2025-10-09", "version": "1", "page": "19-22", "url": "https://fnet.bmfbovespa.com.br/fnet/publico/visualizarDocumento?id=1051393", "sha256": "8469d613078ffd5a6c1d217885d8a397a16342c0b937ae4aa24b106505f233ae"}, {"document_id": "993786", "title": "Regulamento", "reference_date": "2025-03-20", "version": "1", "page": 21, "clause": "10.2", "url": "https://fnet.bmfbovespa.com.br/fnet/publico/visualizarDocumento?id=993786", "sha256": "fd0fdd369a195510d81f81f505195a0b09e5f43522a990afa7d58c4f872921c8"}], "reference": {"path": "history/60010416000112.json", "criterion_id": "legacy_events", "total_count": 2, "preview_count": 2, "full_text_deferred": true, "sha256": "8e2bd813f4c51cf01f6bfaad164bafe69d2bbb192f753eac92da3a01c2e63046"}}</a:t>
            </a:r>
          </a:p>
          <a:p>
            <a:r>
              <a:t>CNPJ 62696791000193 · Gatilhos de avaliação e liquidação · Regulamento · ID 1143317 · 2026-03-20 · versão 1 · p. 37 · 5.1 · https://fnet.bmfbovespa.com.br/fnet/publico/visualizarDocumento?id=1143317</a:t>
            </a:r>
          </a:p>
          <a:p>
            <a:r>
              <a:t>CNPJ 62696791000193 · Gatilhos de avaliação e liquidação · Excerto da fonte:</a:t>
            </a:r>
          </a:p>
          <a:p>
            <a:r>
              <a:t>5.1. Verif icado excesso de subordinação, ou seja, que a representatividade de Cotas Júnior em relação ao  Patrimônio Líquido da Classe é superior ao Índice de Subordinação (“Excesso de Subordinação”), desde  que assim seja deliberado por maioria dos votos de seus titulares e da maioria dos titulares de Cotas  Seniores, as Cotas Juniores poderão ser objeto de Amortização Extraordinária até o limite do respectivos  Excesso de Subordinação– ainda que tal Amortização Extraordinária ocorra antes do resgate integral das  Cotas Seniores– desde que: (i) seja observada a ordem de alocação de recursos definida no item 6.1  acima Anexo; (ii) não existam Obrigações da Classe vencidas e não pagas; (iii) não estejam em curso  quaisquer Eventos de Avaliação e/ou Eventos de Liquidação; (iv) existam suficientes Ativos Financeiros  e/ou recursos disponíveis; e (vii) permaneçam atendidas todos os Índices de Subordinação.</a:t>
            </a:r>
          </a:p>
          <a:p>
            <a:r>
              <a:t>6. Negociação das Cotas</a:t>
            </a:r>
          </a:p>
          <a:p>
            <a:r>
              <a:t>CNPJ 62696791000193 · Gatilhos de avaliação e liquidação · Condição: Documentos atuais selecionados no inventário por categoria/escopo; a data documental isolada não comprova vigência jurídica.</a:t>
            </a:r>
          </a:p>
          <a:p>
            <a:r>
              <a:t>CNPJ 62696791000193 · Gatilhos de avaliação e liquidação · Motivo: Cláusula primária localizada e citada, mas sua lista/condições extensas não admitem uma síntese literal curta confirmada. O trecho integral permanece nas fontes.</a:t>
            </a:r>
          </a:p>
          <a:p>
            <a:r>
              <a:t>CNPJ 62696791000193 · Gatilhos de avaliação e liquidação · Versão e prevalência: Documentos atuais selecionados no inventário por categoria/escopo; a data documental isolada não comprova vigência jurídica.</a:t>
            </a:r>
          </a:p>
          <a:p>
            <a:r>
              <a:t>CNPJ 55563624000109 · Gatilhos de avaliação e liquidação · Regulamento · ID 1192614 · 2026-04-30 · versão 1 · p. 21 · 11.2 · https://fnet.bmfbovespa.com.br/fnet/publico/visualizarDocumento?id=1192614</a:t>
            </a:r>
          </a:p>
          <a:p>
            <a:r>
              <a:t>CNPJ 55563624000109 · Gatilhos de avaliação e liquidação · Excerto da fonte:</a:t>
            </a:r>
          </a:p>
          <a:p>
            <a:r>
              <a:t>11.2 Os seguintes eventos obrigarão o ADMINISTRADOR a verificar se o Patrimônio Líquido da Classe está negativo  (“Eventos de Verificação do Patrimônio”):</a:t>
            </a:r>
          </a:p>
          <a:p>
            <a:r>
              <a:t> (i) qualquer pedido de declaração judicial de insolvência da Classe;</a:t>
            </a:r>
          </a:p>
          <a:p>
            <a:r>
              <a:t> (ii) qualquer pedido ou declaração judicial de insolvência da Classe Investida;</a:t>
            </a:r>
          </a:p>
          <a:p>
            <a:r>
              <a:t> (iii) identificação de indícios de fraudes envolvendo o lastro dos direitos creditórios da Classe Investida;</a:t>
            </a:r>
          </a:p>
          <a:p>
            <a:r>
              <a:t> (iv) condenação da Classe de natureza judicial e/ou arbitral e/ou administrativa e/ou outras similares ao  pagamento de mais de 20% (vinte por cento) de seu Patrimônio Líquido; e</a:t>
            </a:r>
          </a:p>
          <a:p>
            <a:r>
              <a:t> (v) caso caracterizado quaisquer dos Eventos de Avaliação e/ou Eventos de Liquidação.</a:t>
            </a:r>
          </a:p>
          <a:p>
            <a:r>
              <a:t> Eventos de Liquidação</a:t>
            </a:r>
          </a:p>
          <a:p>
            <a:r>
              <a:t>CNPJ 55563624000109 · Gatilhos de avaliação e liquidação · Regulamento · ID 1192614 · 2026-04-30 · versão 1 · p. 20 · https://fnet.bmfbovespa.com.br/fnet/publico/visualizarDocumento?id=1192614</a:t>
            </a:r>
          </a:p>
          <a:p>
            <a:r>
              <a:t>CNPJ 55563624000109 · Gatilhos de avaliação e liquidação · Excerto da fonte:</a:t>
            </a:r>
          </a:p>
          <a:p>
            <a:r>
              <a:t>(vi) alterar as características, vantagens, direitos e obrigações 90% (noventa por cento) do total das Cotas  das Cotas; emitidas</a:t>
            </a:r>
          </a:p>
          <a:p>
            <a:r>
              <a:t> (vii) alterar critérios e procedimentos para resgate de Cotas  mediante dação em pagamento de Cotas da Classe Maioria do total das Cotas emitidas  Investida;</a:t>
            </a:r>
          </a:p>
          <a:p>
            <a:r>
              <a:t> (viii) aprovar a emissão de novas Cotas fora do Capital  Maioria do total das Cotas emitidas  Autorizado;</a:t>
            </a:r>
          </a:p>
          <a:p>
            <a:r>
              <a:t> (ix) alterar a Política de Investimentos; 90% (noventa por cento) do total das Cotas  emitidas</a:t>
            </a:r>
          </a:p>
          <a:p>
            <a:r>
              <a:t> (x) alterar o Critério de Elegibilidade; 90% (noventa por cento) do total das Cotas  emitidas</a:t>
            </a:r>
          </a:p>
          <a:p>
            <a:r>
              <a:t> (xi) alterar os Eventos de Avaliação, os Eventos de Liquidação  90% (noventa por cento) do total das Cotas  e/ou das consequências deles decorrentes em função do  emitidas  previsto neste Anexo;</a:t>
            </a:r>
          </a:p>
          <a:p>
            <a:r>
              <a:t> (xii) deliberar sobre o plano de resolução do Patrimônio Líquido  Maioria do total das Cotas emitidas  negativo da Classe, nos termos da Resolução CVM 175; e</a:t>
            </a:r>
          </a:p>
          <a:p>
            <a:r>
              <a:t> (xiii) deliberar sobre o pedido de declaração judicial de 90% (noventa por cento) do total das Cotas  insolvência da Classe. emitidas</a:t>
            </a:r>
          </a:p>
          <a:p>
            <a:r>
              <a:t>CNPJ 55563624000109 · Gatilhos de avaliação e liquidação · Regulamento · ID 1192614 · 2026-04-30 · versão 1 · p. 2 · 1.3 · https://fnet.bmfbovespa.com.br/fnet/publico/visualizarDocumento?id=1192614</a:t>
            </a:r>
          </a:p>
          <a:p>
            <a:r>
              <a:t>CNPJ 55563624000109 · Gatilhos de avaliação e liquidação · Excerto da fonte:</a:t>
            </a:r>
          </a:p>
          <a:p>
            <a:r>
              <a:t>1.3 O Anexo dispõe, sem prejuízo de outros requisitos e informações previstos na regulamentação, sobre os  seguintes aspectos relacionados à Classe: (i) características gerais, incluindo a indicação dos demais prestadores  de serviços; (ii) responsabilidade dos cotistas e regime de insolvência; (iii) características, direitos, condições de  emissão, subscrição, integralização, amortização e resgate das Cotas; (iv) ordem de alocação de recursos; (v)  assembleia especial de cotistas e demais procedimentos aplicáveis às manifestações de vontade dos cotistas; (vi)  remuneração dos prestadores de serviços; (vii) política de investimento e composição e diversificação da  Carteira; (viii) eventos de avaliação, eventos de liquidação e procedimentos de liquidação antecipada da Classe;</a:t>
            </a:r>
          </a:p>
          <a:p>
            <a:r>
              <a:t> (ix) origem dos Direitos Creditórios; (x) Critério de Elegibilidade; (xi) custos referentes à defesa dos interesses da  Classe; e (xii) fatores de risco.</a:t>
            </a:r>
          </a:p>
          <a:p>
            <a:r>
              <a:t>CNPJ 55563624000109 · Gatilhos de avaliação e liquidação · Condição: Documentos atuais selecionados no inventário por categoria/escopo; a data documental isolada não comprova vigência jurídica.</a:t>
            </a:r>
          </a:p>
          <a:p>
            <a:r>
              <a:t>CNPJ 55563624000109 · Gatilhos de avaliação e liquidação · Versão e prevalência: Documentos atuais selecionados no inventário por categoria/escopo; a data documental isolada não comprova vigência jurídica.</a:t>
            </a:r>
          </a:p>
          <a:p>
            <a:r>
              <a:t>CNPJ 62552447000120 · Gatilhos de avaliação e liquidação · Regulamento · ID 1200623 · 2026-05-21 · versão 1 · p. 2 · 1.4 · https://fnet.bmfbovespa.com.br/fnet/publico/visualizarDocumento?id=1200623</a:t>
            </a:r>
          </a:p>
          <a:p>
            <a:r>
              <a:t>CNPJ 62552447000120 · Gatilhos de avaliação e liquidação · Excerto da fonte:</a:t>
            </a:r>
          </a:p>
          <a:p>
            <a:r>
              <a:t>1.4 O Anexo de cada classe de Cotas (“Classe”), conforme aplicável, dispõe, sem prejuízo de outros  requisitos e inf ormações previstos na regulamentação, sobre: (i) características gerais, incluindo a  indicação dos demais prestadores de serviços; (ii) responsabilidade dos Cotistas e regime de  insolvência; (iii) características, direitos, condições de emissão, subscrição, integralização,  Amortização e resgate das Cotas; (iv) ordem de alocação de recursos; (v) Assembleia Especial e  demais procedimentos aplicáveis às manifestações de vontade dos Cotistas; (vi) remuneração dos  prestadores de serviços; (vii) política de investimento e composição e diversificação da Carteira; (viii)  eventos de avaliação, eventos de liquidação e liquidação antecipada da Classe; (ix) origem dos direitos  creditórios; (x) critérios de elegibilidade; (xi) custos referentes à defesa dos interesses de cada Classe;</a:t>
            </a:r>
          </a:p>
          <a:p>
            <a:r>
              <a:t> e (xii) f atores de risco.</a:t>
            </a:r>
          </a:p>
          <a:p>
            <a:r>
              <a:t>CNPJ 62552447000120 · Gatilhos de avaliação e liquidação · Regulamento · ID 1200623 · 2026-05-21 · versão 1 · p. 21 · 10.2 · https://fnet.bmfbovespa.com.br/fnet/publico/visualizarDocumento?id=1200623</a:t>
            </a:r>
          </a:p>
          <a:p>
            <a:r>
              <a:t>CNPJ 62552447000120 · Gatilhos de avaliação e liquidação · Excerto da fonte:</a:t>
            </a:r>
          </a:p>
          <a:p>
            <a:r>
              <a:t>10.2 Os seguintes quóruns deverão ser observados pela Assembleia Especial ao deliberar as matérias  abaixo:</a:t>
            </a:r>
          </a:p>
          <a:p>
            <a:r>
              <a:t>(i) deliberar sobre substituição de Prestadores de Serviços Unanimidade dos Cotistas  Essenciais, observado o disposto no art. 70, §1º da Parte Geral  da Resolução CVM 175, quando aplicável;</a:t>
            </a:r>
          </a:p>
          <a:p>
            <a:r>
              <a:t>(ii) deliberar sobre elevação da Taxa Global, inclusive na Unanimidade dos Cotistas  hipótese de restabelecimento de taxa que tenha sido objeto de  redução;</a:t>
            </a:r>
          </a:p>
          <a:p>
            <a:r>
              <a:t>(iii) deliberar sobre incorporação, fusão, cisão total ou parcial, Unanimidade dos Cotistas  a transf ormação ou liquidação da Classe;</a:t>
            </a:r>
          </a:p>
          <a:p>
            <a:r>
              <a:t>(iv) deliberar sobre a prestação de f iança, aval, aceite ou Unanimidade dos Cotistas  qualquer outra f orma de retenção de risco;</a:t>
            </a:r>
          </a:p>
          <a:p>
            <a:r>
              <a:t>(v) alterações das características, vantagens, direitos e Unanimidade dos Cotistas  obrigações das Cotas;</a:t>
            </a:r>
          </a:p>
          <a:p>
            <a:r>
              <a:t>(vi) alterar critérios e procedimentos para Amortização Unanimidade dos Cotistas  mediante dação em pagamento de Direitos Creditórios;</a:t>
            </a:r>
          </a:p>
          <a:p>
            <a:r>
              <a:t>(vii) aprovar emissão de novas Cotas; Unanimidade dos Cotistas</a:t>
            </a:r>
          </a:p>
          <a:p>
            <a:r>
              <a:t>(viii) alterações na Política de Investimentos; Unanimidade dos Cotistas</a:t>
            </a:r>
          </a:p>
          <a:p>
            <a:r>
              <a:t>(ix) alterações nos Critérios de Elegibilidade e nas Condições Unanimidade dos Cotistas  de Endosso;</a:t>
            </a:r>
          </a:p>
          <a:p>
            <a:r>
              <a:t>(x) alteração dos Eventos de Avaliação, dos Eventos de Unanimidade dos Cotistas  Liquidação e/ou das consequências deles decorrentes em  f unção do previsto neste Regulamento;</a:t>
            </a:r>
          </a:p>
          <a:p>
            <a:r>
              <a:t>(xi) plano de resolução do Patrimônio Líquido negativo da Unanimidade dos Cotistas  Classe, nos termos da Resolução CVM 175; e</a:t>
            </a:r>
          </a:p>
          <a:p>
            <a:r>
              <a:t>(xii) pedido de declaração judicial de insolvência da Classe. Unanimidade dos Cotistas</a:t>
            </a:r>
          </a:p>
          <a:p>
            <a:r>
              <a:t>CNPJ 62552447000120 · Gatilhos de avaliação e liquidação · Regulamento · ID 1200623 · 2026-05-21 · versão 1 · p. 22 · 11.1 · https://fnet.bmfbovespa.com.br/fnet/publico/visualizarDocumento?id=1200623</a:t>
            </a:r>
          </a:p>
          <a:p>
            <a:r>
              <a:t>CNPJ 62552447000120 · Gatilhos de avaliação e liquidação · Excerto da fonte:</a:t>
            </a:r>
          </a:p>
          <a:p>
            <a:r>
              <a:t>11.1 As seguintes hipóteses são consideradas eventos de avaliação (“Eventos de Avaliação”):</a:t>
            </a:r>
          </a:p>
          <a:p>
            <a:r>
              <a:t> (i) em caso de regime de administração especial temporária - RAET, intervenção ou liquidação  extrajudicial do Endossante, da instituição f inanceira prestadora dos serviços de agente de  conta vinculada à Classe (“Agente de Conta Vinculada”) e/ou do Agente de Retenção e  Cobrança;</a:t>
            </a:r>
          </a:p>
          <a:p>
            <a:r>
              <a:t> (ii) não cumprimento, pelo Endossante, de qualquer de suas obrigações estabelecidas nos  Contratos de Endosso, no Regulamento ou neste Anexo I, desde que esse não cumprimento  não seja devidamente sanado ou justificado dentro de 5 (cinco) Dias Úteis a partir do  recebimento, pelo Endossante, de notificação, por escrito, enviada pelo Administrador,  inf ormando-o da ocorrência do respectivo evento;</a:t>
            </a:r>
          </a:p>
          <a:p>
            <a:r>
              <a:t> (iii) não cumprimento, pelo Endossante e/ou pelo Agente de Retenção e Cobrança, de sua  obrigação de entregar os (a) arquivos eletrônicos disponibilizados mensalmente pela Dataprev  ao Endossante, contendo (1) as Consignações processadas pela Dataprev no respectivo mês,  identificando os Devedores e os valores que serão descontados de suas respectivas folhas de  pagamentos, bem como (2) a totalidade das operações pendentes de crédito consignado  concedidas pelo Endossante e indicando todos os Direitos Creditórios devi dos mediante  Consignação na próxima data de liquidação (“Arquivos Dataprev”) e/ou (b) os arquivos  eletrônicos disponibilizados mensalmente pela CEF ao Endossante, contendo os pagamentos  de Saque-aniversário processados pela CEF no respectivo mês devidos à Classe, identificando  os Devedores e os valores que serão descontados de seus respectivos Saques-aniversário  (“Arquivos de Liquidação Saque-aniversário”) ao Custodiante dentro do prazo estabelecido  neste Anexo I, desde que esse não cumprimento não seja dev idamente sanado ou justificado  dentro de 5 (cinco) Dias Úteis a partir do recebimento, pelo Endossante e/ou pelo Agente de  Retenção e Cobrança, de notificação, por escrito, enviada pelo Custodiante, inf ormando-o da  ocorrência do respectivo evento;</a:t>
            </a:r>
          </a:p>
          <a:p>
            <a:r>
              <a:t> (iv) não cumprimento, pelo Endossante e/ou pelo Agente de Retenção e Cobrança, de qualquer de  suas obrigações de entregar ao Gestor, ou a terceiros por ele indicados, os Documentos  Comprobatórios e Documentos Suporte relativos aos Direitos Creditórios que tenham sido  endossados à Classe, dentro do prazo estabelecido neste Anexo I, desde que esse não  cumprimento não seja devidamente sanado ou justificado dentro de 5 (cinco) Dias Úteis a partir  do recebimento, pelo Endossante e/ou pelo Agente de Retenção e Cobrança, de notificação,  por escrito, enviada pelo Custodiante, inf ormando- o da ocorrência do respectivo evento;</a:t>
            </a:r>
          </a:p>
          <a:p>
            <a:r>
              <a:t> (v) não cumprimento, pelo Agente de Retenção e Cobrança, de qualquer de suas obrigações  estabelecidas nos Contratos de Endosso, no Regulamento, neste Anexo I ou nos Contratos de  Retenção/Cobrança, desde que esse não cumprimento não seja devidamente sanado ou</a:t>
            </a:r>
          </a:p>
          <a:p>
            <a:r>
              <a:t>CNPJ 62552447000120 · Gatilhos de avaliação e liquidação · Condição: Documentos atuais selecionados no inventário por categoria/escopo; a data documental isolada não comprova vigência jurídica.</a:t>
            </a:r>
          </a:p>
          <a:p>
            <a:r>
              <a:t>CNPJ 62552447000120 · Gatilhos de avaliação e liquidação · Versão e prevalência: Documentos atuais selecionados no inventário por categoria/escopo; a data documental isolada não comprova vigência jurídica.</a:t>
            </a:r>
          </a:p>
          <a:p>
            <a:r>
              <a:t>CNPJ 63953620000165 · Gatilhos de avaliação e liquidação · Anexo ao Regulamento · ID 1222863 · 2026-06-02 · versão 1 · p. 24 · 4.1 · https://fnet.bmfbovespa.com.br/fnet/publico/visualizarDocumento?id=1222863</a:t>
            </a:r>
          </a:p>
          <a:p>
            <a:r>
              <a:t>CNPJ 63953620000165 · Gatilhos de avaliação e liquidação · Excerto da fonte:</a:t>
            </a:r>
          </a:p>
          <a:p>
            <a:r>
              <a:t>4.1. Verificado que o Índice de Subordinação Alvo é atendido, ou seja, que a representatividade de Cotas Subordinadas  em relação ao Patrimônio Líquido da Classe é superior à 10,00% (dez por cento) (“Índice de Subordinação Alvo”), as  Cotas Subordinadas poderão ser objeto de Amortização Extraordinária até o limite excedente ao Índice de  Subordinação Alvo– ainda que tal Amortização Extraordinária ocorra antes do resgate integral das Cotas Seniores –  desde que: (i) seja observada a ordem de alocação de recursos definida no item 8.1 acima Anexo; (ii) não existam  Obrigações da Classe vencidas e não pagas; (iii) não estejam em curso quaisquer Eventos de Avaliação e/ou Eventos  de Liquidação; (iv) existam suficientes Ativos Financeiros e/ou recursos disponíveis; e (vii) permaneçam atendidas  todos os Índices de Subordinação.</a:t>
            </a:r>
          </a:p>
          <a:p>
            <a:r>
              <a:t> 5. Amortização e Resgate das Cotas Subordinadas</a:t>
            </a:r>
          </a:p>
          <a:p>
            <a:r>
              <a:t>CNPJ 63953620000165 · Gatilhos de avaliação e liquidação · Anexo ao Regulamento · ID 1222863 · 2026-06-02 · versão 1 · p. 13 · 10.2 · https://fnet.bmfbovespa.com.br/fnet/publico/visualizarDocumento?id=1222863</a:t>
            </a:r>
          </a:p>
          <a:p>
            <a:r>
              <a:t>CNPJ 63953620000165 · Gatilhos de avaliação e liquidação · Excerto da fonte:</a:t>
            </a:r>
          </a:p>
          <a:p>
            <a:r>
              <a:t>10.2 Os seguintes quóruns deverão ser observados pela Assembleia Especial de Cotistas ao deliberar as matérias  abaixo:</a:t>
            </a:r>
          </a:p>
          <a:p>
            <a:r>
              <a:t> Matéria Quórum</a:t>
            </a:r>
          </a:p>
          <a:p>
            <a:r>
              <a:t> (i) deliberar sobre as demonstrações contábeis da Classe; Maioria das Cotas presentes</a:t>
            </a:r>
          </a:p>
          <a:p>
            <a:r>
              <a:t> (ii) alterar o presente Anexo; Maioria das Cotas de cada Subclasse</a:t>
            </a:r>
          </a:p>
          <a:p>
            <a:r>
              <a:t> (iii) deliberar sobre substituição de Prestadores de Serviços Maioria das Cotas da Classe  Essenciais, observado o disposto no Artigo 70, §1º da parte geral da  Resolução CVM 175, quando aplicável;</a:t>
            </a:r>
          </a:p>
          <a:p>
            <a:r>
              <a:t> (iv) deliberar sobre elevação da Taxa de Administração e/ou Taxa de Maioria das Cotas da de cada  Gestão, inclusive na hipótese de restabelecimento de taxa que tenha Subclasse  sido objeto de redução;</a:t>
            </a:r>
          </a:p>
          <a:p>
            <a:r>
              <a:t> (v) deliberar sobre incorporação, fusão, cisão total ou parcial, a Maioria das Cotas de cada Subclasse  transformação ou liquidação da Classe;</a:t>
            </a:r>
          </a:p>
          <a:p>
            <a:r>
              <a:t> (vi) alterações das características, vantagens, direitos e obrigações Maioria das Cotas Subscritas da  das Cotas; Classe observado o disposto nos  itens 10.5 a 10.8 abaixo</a:t>
            </a:r>
          </a:p>
          <a:p>
            <a:r>
              <a:t> (vii) alterar critérios e procedimentos para Amortização mediante Maioria das Cotas Subscritas da  dação em pagamento de Direitos Creditórios; Classe</a:t>
            </a:r>
          </a:p>
          <a:p>
            <a:r>
              <a:t> (viii) aprovar emissão de novas Cotas da Classe; Maioria das Cotas de cada Subclasse</a:t>
            </a:r>
          </a:p>
          <a:p>
            <a:r>
              <a:t> (ix) alterações na Política de Investimentos; Maioria das Cotas de cada Subclasse</a:t>
            </a:r>
          </a:p>
          <a:p>
            <a:r>
              <a:t> (x) alterações nos Critérios de Elegibilidade e nas Condições de Maioria das Cotas de cada Subclasse  Cessão;</a:t>
            </a:r>
          </a:p>
          <a:p>
            <a:r>
              <a:t> (xi) celebração e alteração de Contrato de Promessa de Endosso Maioria das Cotas de cada Subclasse  e/ou do Contrato de Retenção e Cobrança;</a:t>
            </a:r>
          </a:p>
          <a:p>
            <a:r>
              <a:t> (xii) alteração do Contrato de Conta Vinculada; Maioria das Cotas de cada Subclasse</a:t>
            </a:r>
          </a:p>
          <a:p>
            <a:r>
              <a:t> (xiii) alteração dos Eventos de Avaliação, dos Eventos de Liquidação Maioria das Cotas de cada Subclasse  e/ou das consequências deles decorrentes em função do previsto  neste Regulamento;</a:t>
            </a:r>
          </a:p>
          <a:p>
            <a:r>
              <a:t> (xiv) se um Evento de Avaliação constitui um Evento de Liquidação; Maioria das Cotas presentes</a:t>
            </a:r>
          </a:p>
          <a:p>
            <a:r>
              <a:t> (xv) plano de resolução do Patrimônio Líquido negativo da Classe, Maioria das Cotas presentes  nos termos da Resolução CVM 175; e</a:t>
            </a:r>
          </a:p>
          <a:p>
            <a:r>
              <a:t> (xvi) pedido de declaração judicial de insolvência da Classe. Maioria das Cotas presentes</a:t>
            </a:r>
          </a:p>
          <a:p>
            <a:r>
              <a:t> (xvii) alterações na disciplina, critérios de constituição, manutenção Maioria das Cotas de cada Subclasse  ou utilização da Reserva de Caixa, bem como deliberação acerca da</a:t>
            </a:r>
          </a:p>
          <a:p>
            <a:r>
              <a:t>CNPJ 63953620000165 · Gatilhos de avaliação e liquidação · Anexo ao Regulamento · ID 1222863 · 2026-06-02 · versão 1 · p. 14 · 10.8 · https://fnet.bmfbovespa.com.br/fnet/publico/visualizarDocumento?id=1222863</a:t>
            </a:r>
          </a:p>
          <a:p>
            <a:r>
              <a:t>CNPJ 63953620000165 · Gatilhos de avaliação e liquidação · Excerto da fonte:</a:t>
            </a:r>
          </a:p>
          <a:p>
            <a:r>
              <a:t>10.8 As deliberações que tenham por objeto o aumento do Índice de Subordinação Sênior apenas serão aprovadas se  assim deliberado: (i) pelos votos dos titulares da maioria das Cotas em circulação de cada uma das Séries de  Cotas Seniores; e (ii) pelo votos dos titulares da maioria Cotas Subordinadas em circulação.</a:t>
            </a:r>
          </a:p>
          <a:p>
            <a:r>
              <a:t> CAPÍTULO 11 – EVENTOS DE AVALIAÇÃO, EVENTOS DE LIQUIDAÇÃO, E PROCEDIMENTOS DE LIQUIDAÇÃO  Eventos de Avaliação</a:t>
            </a:r>
          </a:p>
          <a:p>
            <a:r>
              <a:t>CNPJ 63953620000165 · Gatilhos de avaliação e liquidação · Condição: Documentos atuais selecionados no inventário por categoria/escopo; a data documental isolada não comprova vigência jurídica.</a:t>
            </a:r>
          </a:p>
          <a:p>
            <a:r>
              <a:t>CNPJ 63953620000165 · Gatilhos de avaliação e liquidação · Versão e prevalência: Documentos atuais selecionados no inventário por categoria/escopo; a data documental isolada não comprova vigência jurídica.</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Eventos e cura</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Eventos de avaliação · Regulamento · ID 670691 · 28/04/2024 · versão Regulamento — referência 28/04/2024 · p. 17 · Anexo I, 11.1(i) · https://fnet.bmfbovespa.com.br/fnet/publico/visualizarDocumento?id=670691</a:t>
            </a:r>
          </a:p>
          <a:p>
            <a:r>
              <a:t>CNPJ 54871427000194 · Eventos de avaliação · Excerto da fonte:</a:t>
            </a:r>
          </a:p>
          <a:p>
            <a:r>
              <a:t>11.1 As seguintes hipóteses são consideradas Eventos de Avaliação: (i) em caso de regime de administração especial temporária – RAET, intervenção ou liquidação extrajudicial do Endossante ou do Agente de Garantias; BTG Pactual SAC: 0800 772 28 27 - Ouvidoria: 0800 722 00 48 - btgpactual.com 11</a:t>
            </a:r>
          </a:p>
          <a:p>
            <a:r>
              <a:t>CNPJ 54871427000194 · Eventos de avaliação · Regulamento · ID 670691 · 28/04/2024 · versão Regulamento — referência 28/04/2024 · p. 18 · Anexo I, 11.1(ii)–(viii) · https://fnet.bmfbovespa.com.br/fnet/publico/visualizarDocumento?id=670691</a:t>
            </a:r>
          </a:p>
          <a:p>
            <a:r>
              <a:t>CNPJ 54871427000194 · Eventos de avaliação · Excerto da fonte:</a:t>
            </a:r>
          </a:p>
          <a:p>
            <a:r>
              <a:t>(ii) não cumprimento, por qualquer dos Endossantes, de qualquer de suas obrigações estabelecidas em cada Contrato de Endosso ou neste Regulamento e Anexo, desde que esse não cumprimento não seja devidamente sanado ou justificado dentro de 10 (dez) Dias Úteis a partir do recebimento, pelo Endossante, de notificação, por escrito, enviada pelo Administrador, inf ormando-o da ocorrência do respectivo evento; (iii) não cumprimento, por qualquer dos Endossantes, de suas obrigações de entregar o Arquivo de Liquidação Antecipada e o Arquivo de Posição das CCBs ao CUSTODIANTE dentro do prazo estabelecido neste Regulamento, desde que esse não cumprimento não seja devidamente sanado ou justificado dentro dos prazos acordados no respectivo Contrato de Endosso, a partir do recebimento, pelos Endossantes, de notificação, por escrito, enviada pelo CUSTODIANTE, inf ormando-o da ocorrência do respectivo evento; (iv) não cumprimento, por qualquer dos Endossantes, de qualquer de suas obrigações de entregar ao CUSTODIANTE, ou a terceiros por ele indicados, os Documentos Comprobatórios relativos</a:t>
            </a:r>
          </a:p>
          <a:p>
            <a:r>
              <a:t>CNPJ 54871427000194 · Eventos de avaliação · Regulamento · ID 670691 · 28/04/2024 · versão Regulamento — referência 28/04/2024 · p. 19 · Anexo I, 11.1.1–11.1.3 · https://fnet.bmfbovespa.com.br/fnet/publico/visualizarDocumento?id=670691</a:t>
            </a:r>
          </a:p>
          <a:p>
            <a:r>
              <a:t>CNPJ 54871427000194 · Eventos de avaliação · Excerto da fonte:</a:t>
            </a:r>
          </a:p>
          <a:p>
            <a:r>
              <a:t>11.1.1 Na ocorrência de qualquer Evento de Avaliação, será convocada Assembleia Especial de Cotistas, para avaliar o grau de comprometimento das atividades d a Classe em razão do Evento de Avaliação, podendo a Assembleia Especial de Cotistas deliberar: (i) pela continuidade das atividades da Classe; ou (ii) que o Evento de Avaliação que deu causa à Assembleia Especial de Cotistas constitui um Evento de Liquidação, hipótese em que deverão ser deliberadas as matérias ref eridas no item 11.4.1 abaixo e adotados os procedimentos previstos no item 11.4.3 abaixo. 11.1.2 No momento de verificação de qualquer Evento de Avaliação, os procedimentos de aquisição de novos Direitos Creditórios deverão ser imediatamente interrompidos, até que: (i) seja prof erida decisão final em Assembleia Especial de Cotistas, convocada especificamente para este f im, nos termos do item 11.1.1 acima, autorizando a retomada dos procedimentos de aquisição de novos Direitos Creditórios e resgate das Cotas; e/ou (ii) seja sanado o Evento de Avaliação. 11.1.3 Na hipótese de não instalação da Assembleia Especial de Cotistas por f alta d</a:t>
            </a:r>
          </a:p>
          <a:p>
            <a:r>
              <a:t>CNPJ 54871427000194 · Eventos de avaliação · Versão e prevalência: Leitura específica das cláusulas indicadas; condições e conflitos preservados. Seleção documental atual não comprova vigência jurídica por data isolada.</a:t>
            </a:r>
          </a:p>
          <a:p>
            <a:r>
              <a:t>CNPJ 54871427000194 · Eventos de avaliação · Resumo do histórico: {"count": 1, "dates": ["2024-04-19"], "document_count": 1, "sources": [{"document_id": "670689", "title": "Regulamento", "reference_date": "2024-04-19", "version": "1", "page": 17, "clause": "10.2", "url": "https://fnet.bmfbovespa.com.br/fnet/publico/visualizarDocumento?id=670689", "sha256": "891bc9bc5d87bbc02ec139077a84d2702eb81ea02035fb71d24f5b8366b94a0b"}], "reference": {"path": "history/54871427000194.json", "criterion_id": "evaluation", "total_count": 1, "preview_count": 1, "full_text_deferred": true, "sha256": "35d7cd99be50c7287c9fb675cf4f2e736002315295a225a9efa79c8d9186d874"}}</a:t>
            </a:r>
          </a:p>
          <a:p>
            <a:r>
              <a:t>CNPJ 60010416000112 · Eventos de avaliação · Regulamento · ID 1051393 · 09/10/2025 · versão Regulamento09/10/2025 · p. 19 · AnexoI10.1(i)–(vii) · https://fnet.bmfbovespa.com.br/fnet/publico/visualizarDocumento?id=1051393</a:t>
            </a:r>
          </a:p>
          <a:p>
            <a:r>
              <a:t>CNPJ 60010416000112 · Eventos de avaliação · Excerto da fonte:</a:t>
            </a:r>
          </a:p>
          <a:p>
            <a:r>
              <a:t>10.1 As seguintes hipóteses são consideradas Eventos de Avaliação: (i) em caso de regime de administração especial temporária - RAET, intervenção ou liquidação extrajudicial do Endossante; (ii) em caso de desenquadramento do Índice de Subordinação por 10 (dez) dias úteis consecutivos; (iii) não cumprimento, pelo Endossante, de qualquer de suas obrigações estabelecidas no Contrato de Endosso ou neste Anexo I, desde que esse não cumprimento não seja devidamente sanado ou justif icado dentro de 10 (dez) Dias Úteis a partir do recebimento, pelo Endossante, de noti</a:t>
            </a:r>
          </a:p>
          <a:p>
            <a:r>
              <a:t>CNPJ 60010416000112 · Eventos de avaliação · Regulamento · ID 1051393 · 09/10/2025 · versão Regulamento09/10/2025 · p. 20 · AnexoI10.1(viii)–(xiv) · https://fnet.bmfbovespa.com.br/fnet/publico/visualizarDocumento?id=1051393</a:t>
            </a:r>
          </a:p>
          <a:p>
            <a:r>
              <a:t>CNPJ 60010416000112 · Eventos de avaliação · Excerto da fonte:</a:t>
            </a:r>
          </a:p>
          <a:p>
            <a:r>
              <a:t>(xiii) no caso de não serem realizados pagamentos de amortização e/ou resgate de Cotas Seniores, nos termos, prazos e condições previstos no presente Regulamento e nos respectivos Apêndices e Suplementos, não sanados em até 2 (dois) Dias Úteis contados do prazo final do respectivo evento; (xiv) no caso de pagamento de resgate e/ou amortização de Cotas Subordinadas em desacordo com os termos, prazos e condições previstos no presente Regulamento e no respectivo Apêndice. 10.1.1 Na ocorrência de qualquer Evento de Avaliação, será convocada Assembleia Especial de Cotistas,</a:t>
            </a:r>
          </a:p>
          <a:p>
            <a:r>
              <a:t>CNPJ 60010416000112 · Eventos de avaliação · Versão e prevalência: Leitura específica das cláusulas indicadas; condições e conflitos preservados. Seleção documental atual não comprova vigência jurídica por data isolada.</a:t>
            </a:r>
          </a:p>
          <a:p>
            <a:r>
              <a:t>CNPJ 60010416000112 · Eventos de avaliação · Resumo do histórico: {"count": 2, "dates": ["2025-03-20"], "document_count": 2, "sources": [{"document_id": "993785", "title": "Instrumento Particular de Constituição/Encerramento do Fundo", "reference_date": "2025-03-20", "version": "1", "page": 8, "url": "https://fnet.bmfbovespa.com.br/fnet/publico/visualizarDocumento?id=993785", "sha256": "0826e0eae2c51afabf59bbc49fc7647598d03da5ca6de0f9725850a8bd6af457"}, {"document_id": "993786", "title": "Regulamento", "reference_date": "2025-03-20", "version": "1", "page": 48, "clause": "2.1.2", "url": "https://fnet.bmfbovespa.com.br/fnet/publico/visualizarDocumento?id=993786", "sha256": "fd0fdd369a195510d81f81f505195a0b09e5f43522a990afa7d58c4f872921c8"}], "reference": {"path": "history/60010416000112.json", "criterion_id": "evaluation", "total_count": 2, "preview_count": 2, "full_text_deferred": true, "sha256": "8e2bd813f4c51cf01f6bfaad164bafe69d2bbb192f753eac92da3a01c2e63046"}}</a:t>
            </a:r>
          </a:p>
          <a:p>
            <a:r>
              <a:t>CNPJ 62696791000193 · Eventos de avaliação · Regulamento · ID 1143317 · 20/03/2026 · versão Regulamento — referência 20/03/2026 · p. 37 · Apêndice Júnior, 5.1(iii) · https://fnet.bmfbovespa.com.br/fnet/publico/visualizarDocumento?id=1143317</a:t>
            </a:r>
          </a:p>
          <a:p>
            <a:r>
              <a:t>CNPJ 62696791000193 · Eventos de avaliação · Excerto da fonte:</a:t>
            </a:r>
          </a:p>
          <a:p>
            <a:r>
              <a:t>5.1. Verif icado excesso de subordinação, ou seja, que a representatividade de Cotas Júnior em relação ao Patrimônio Líquido da Classe é superior ao Índice de Subordinação (“Excesso de Subordinação”), desde que assim seja deliberado por maioria dos votos de seus titulares e da maioria dos titulares de Cotas Seniores, as Cotas Juniores poderão ser objeto de Amortização Extraordinária até o limite do respectivos Excesso de Subordinação– ainda que tal Amortização Extraordinária ocorra antes do resgate integral das Cotas Seniores– desde que: (i) seja observada a ordem de alocação de recursos definida no item 6.1 acima Anexo; (ii) não existam Obrigações da Classe vencidas e não pagas; (iii) não estejam em curso quaisquer Eventos de Avaliação e/ou Eventos de Liquidação; (iv) existam suficientes Ativos Financeiros e/ou recursos disponíveis; e (vii) permaneçam atendidas todos os Índices de Subordinação. 6. Negociação das Cotas 6.1. As Cotas Subordinadas Juniores não poderão ser negociadas no mercado secundário. 7. Resgate 7.1. As Cotas Subordinadas Juniores apenas serão resgatadas após o resgate integral das Cotas Seniores da Classe, na respectiva Data de Resgate ou em caso de liquidação antecipada da Classe. BTG Pactual</a:t>
            </a:r>
          </a:p>
          <a:p>
            <a:r>
              <a:t>CNPJ 62696791000193 · Eventos de avaliação · Condição: Referência preservada como ausência específica; não importar gatilhos de outros fundos.</a:t>
            </a:r>
          </a:p>
          <a:p>
            <a:r>
              <a:t>CNPJ 62696791000193 · Eventos de avaliação · Motivo: O apêndice condiciona amortização à ausência de Eventos de Avaliação e de Liquidação, mas o PDF consolidado de 48 páginas não define a lista de Eventos de Avaliação nem seus prazos de cura. O regulamento FIDC anterior à transformação não foi obtido.</a:t>
            </a:r>
          </a:p>
          <a:p>
            <a:r>
              <a:t>CNPJ 62696791000193 · Eventos de avaliação · Versão e prevalência: Leitura específica das cláusulas indicadas; condições e conflitos preservados. Seleção documental atual não comprova vigência jurídica por data isolada.</a:t>
            </a:r>
          </a:p>
          <a:p>
            <a:r>
              <a:t>CNPJ 55563624000109 · Eventos de avaliação · Regulamento · ID 1192614 · 30/04/2026 · versão Regulamento30/04/2026 · p. 20 · AnexoI11.1(i)–(v) · https://fnet.bmfbovespa.com.br/fnet/publico/visualizarDocumento?id=1192614</a:t>
            </a:r>
          </a:p>
          <a:p>
            <a:r>
              <a:t>CNPJ 55563624000109 · Eventos de avaliação · Excerto da fonte:</a:t>
            </a:r>
          </a:p>
          <a:p>
            <a:r>
              <a:t>11.1 As seguintes hipóteses são consideradas Eventos de Avaliação: (i) inobservância pelo ADMINISTRADOR, pelo CUSTODIANTE e/ou pelo GESTOR de seus deveres e obrigações previstos neste Anexo, desde que, uma vez notificados para sanar ou justificar o descumprimento, o ADMINISTRADOR, o CUSTODIANTE e/ou o GESTOR, conforme o caso, não o sane no prazo de 5 (cinco) Dias Úteis contados do recebimento da referida notificação; (ii) aquisição, pela Classe, de Cotas da Classe Investida que estejam em desacordo com o Critério de</a:t>
            </a:r>
          </a:p>
          <a:p>
            <a:r>
              <a:t>CNPJ 55563624000109 · Eventos de avaliação · Versão e prevalência: Leitura específica das cláusulas indicadas; condições e conflitos preservados. Seleção documental atual não comprova vigência jurídica por data isolada.</a:t>
            </a:r>
          </a:p>
          <a:p>
            <a:r>
              <a:t>CNPJ 62552447000120 · Eventos de avaliação · Regulamento · ID 1200623 · 21/05/2026 · versão Consolidado21/05/2026 aprovado pelo ato1200625 · p. 22 · AnexoI11.1(i)–(v) · https://fnet.bmfbovespa.com.br/fnet/publico/visualizarDocumento?id=1200623</a:t>
            </a:r>
          </a:p>
          <a:p>
            <a:r>
              <a:t>CNPJ 62552447000120 · Eventos de avaliação · Excerto da fonte:</a:t>
            </a:r>
          </a:p>
          <a:p>
            <a:r>
              <a:t>11.1 As seguintes hipóteses são consideradas eventos de avaliação (“Eventos de Avaliação”): (i) em caso de regime de administração especial temporária - RAET, intervenção ou liquidação extrajudicial do Endossante, da instituição f inanceira prestadora dos serviços de agente de conta vinculada à Classe (“Agente de Conta Vinculada”) e/ou do Agente de Retenção e Cobrança; (ii) não cumprimento, pelo Endossante, de qualquer de suas obrigações estabelecidas nos Contratos de Endosso, no Regulamento ou neste Anexo I, desde que esse não cumprimento não se</a:t>
            </a:r>
          </a:p>
          <a:p>
            <a:r>
              <a:t>CNPJ 62552447000120 · Eventos de avaliação · Regulamento · ID 1200623 · 21/05/2026 · versão Consolidado21/05/2026 aprovado pelo ato1200625 · p. 23 · AnexoI11.1(vi)–(xi) · https://fnet.bmfbovespa.com.br/fnet/publico/visualizarDocumento?id=1200623</a:t>
            </a:r>
          </a:p>
          <a:p>
            <a:r>
              <a:t>CNPJ 62552447000120 · Eventos de avaliação · Excerto da fonte:</a:t>
            </a:r>
          </a:p>
          <a:p>
            <a:r>
              <a:t>(vi) não cumprimento, pelo Agente de Conta Vinculada, de qualquer de suas obrigações estabelecidas no contrato de conta vinculada celebrado entre o Endossante, na qualidade de titular da Conta Vinculada, e a Classe (“Contrato de Conta Vinculada”), no Regulamento ou neste Anexo I, desde que esse não cumprimento não seja devidamente sanado ou justificado dentro de 5 (cinco) Dias Úteis a partir do recebimento, pelo Agente de Conta Vinculada, de notif icação, por escrito, enviada pelo Administrador, informando-o da ocorrência do respectivo evento; (vii) não c</a:t>
            </a:r>
          </a:p>
          <a:p>
            <a:r>
              <a:t>CNPJ 62552447000120 · Eventos de avaliação · Versão e prevalência: Leitura específica das cláusulas indicadas; condições e conflitos preservados. Seleção documental atual não comprova vigência jurídica por data isolada.</a:t>
            </a:r>
          </a:p>
          <a:p>
            <a:r>
              <a:t>CNPJ 63953620000165 · Eventos de avaliação · Anexo ao Regulamento · ID 1222863 · 02/06/2026 · versão AnexoConsignadoPrivado02/06/2026 · p. 14 · 11.1(i)–(v) · https://fnet.bmfbovespa.com.br/fnet/publico/visualizarDocumento?id=1222863</a:t>
            </a:r>
          </a:p>
          <a:p>
            <a:r>
              <a:t>CNPJ 63953620000165 · Eventos de avaliação · Excerto da fonte:</a:t>
            </a:r>
          </a:p>
          <a:p>
            <a:r>
              <a:t>11.1 As seguintes hipóteses são consideradas eventos de avaliação (“Eventos de Avaliação”): (i) em caso de regime de administração especial temporária - RAET, intervenção ou liquidação extrajudicial do Endossante; (ii) em caso de desenquadramento do Índice de Subordinação por 10 (dez) dias úteis consecutivos; (iii) não cumprimento, pelo Endossante, de qualquer de suas obrigações estabelecidas no Contrato de Endosso ou neste Anexo I, desde que esse não cumprimento não seja devidamente sanado ou justificado dentro de 10 (dez) Dias Úteis a partir do recebimento, pelo Endossan</a:t>
            </a:r>
          </a:p>
          <a:p>
            <a:r>
              <a:t>CNPJ 63953620000165 · Eventos de avaliação · Anexo ao Regulamento · ID 1222863 · 02/06/2026 · versão AnexoConsignadoPrivado02/06/2026 · p. 15 · 11.1(vi)–(xiv) · https://fnet.bmfbovespa.com.br/fnet/publico/visualizarDocumento?id=1222863</a:t>
            </a:r>
          </a:p>
          <a:p>
            <a:r>
              <a:t>CNPJ 63953620000165 · Eventos de avaliação · Excerto da fonte:</a:t>
            </a:r>
          </a:p>
          <a:p>
            <a:r>
              <a:t>Anexo I ao Regulamento CLASSE CONSIGNADO PRIVADO DO MT GLOBAL FUNDO DE INVESTIMENTO EM DIREITOS CREDITÓRIOS RESPONSABILIDADE LIMITADA (vii) inobservância pelo Administrador, pelo Custodiante e/ou pelo Gestor de seus deveres e obrigações previstos neste Regulamento, bem como suas atribuições específicas nos outros contratos existentes referentes ao funcionamento da Classe, verificada pelo Administrador, pelo Custodiante e/ou pelo Gestor ou por qualquer dos Cotistas, desde que, uma vez notificados para sanar ou justificar o descumprimento, o Administrador, o Custodiante e/ou o Gestor, conforme</a:t>
            </a:r>
          </a:p>
          <a:p>
            <a:r>
              <a:t>CNPJ 63953620000165 · Eventos de avaliação · Versão e prevalência: Leitura específica das cláusulas indicadas; condições e conflitos preservados. Seleção documental atual não comprova vigência jurídica por data isolada.</a:t>
            </a:r>
          </a:p>
          <a:p>
            <a:r>
              <a:t>CNPJ 54871427000194 · Eventos de liquidação · Regulamento · ID 670691 · 28/04/2024 · versão Regulamento — referência 28/04/2024 · p. 19 · Anexo I, 11.1.3 e 11.3 · https://fnet.bmfbovespa.com.br/fnet/publico/visualizarDocumento?id=670691</a:t>
            </a:r>
          </a:p>
          <a:p>
            <a:r>
              <a:t>CNPJ 54871427000194 · Eventos de liquidação · Excerto da fonte:</a:t>
            </a:r>
          </a:p>
          <a:p>
            <a:r>
              <a:t>11.1.3 Na hipótese de não instalação da Assembleia Especial de Cotistas por f alta de quórum, o ADMINISTRADOR dará início aos procedimentos ref erentes à liquidação d a Classe, com o consequente resgate das Cotas, nos termos do item 11.4 e seguintes, abaixo. Eventos de Verificação de Patrimônio Líquido Negativo 11.2 Os seguintes eventos obrigarão o ADMINISTRADOR a verificar se o Patrimônio Líquido da Classe está negativo: (i) qualquer pedido de declaração judicial de insolvência da Classe; e (ii) na ocorrência de quaisquer dos Eventos de Avaliação e/ou Eventos de Liquidação . Eventos de Liquidação 11.3 As seguintes hipóteses são consideradas Eventos de Liquidação: (i) caso seja deliberado em Assembleia Especial de Cotistas que um Evento de Avaliação constitui um Evento de Liquidação; (ii) sempre que assim decidido pelos Cotistas em Assembleia Especial de Cotistas especialmente convocada para tal f im; (iii) cessão ou renúncia do ADMINISTRADOR, GESTOR ou CUSTODIANTE sem que a Assembleia de Cotistas ef icazmente nomeie instituição habilit ada para substituí-lo, nos termos estabelecidos neste Regulamento;</a:t>
            </a:r>
          </a:p>
          <a:p>
            <a:r>
              <a:t>CNPJ 54871427000194 · Eventos de liquidação · Versão e prevalência: Leitura específica das cláusulas indicadas; condições e conflitos preservados. Seleção documental atual não comprova vigência jurídica por data isolada.</a:t>
            </a:r>
          </a:p>
          <a:p>
            <a:r>
              <a:t>CNPJ 54871427000194 · Eventos de liquidação · Resumo do histórico: {"count": 1, "dates": ["2024-04-19"], "document_count": 1, "sources": [{"document_id": "670689", "title": "Regulamento", "reference_date": "2024-04-19", "version": "1", "page": 17, "clause": "10.2", "url": "https://fnet.bmfbovespa.com.br/fnet/publico/visualizarDocumento?id=670689", "sha256": "891bc9bc5d87bbc02ec139077a84d2702eb81ea02035fb71d24f5b8366b94a0b"}], "reference": {"path": "history/54871427000194.json", "criterion_id": "liquidation", "total_count": 1, "preview_count": 1, "full_text_deferred": true, "sha256": "35d7cd99be50c7287c9fb675cf4f2e736002315295a225a9efa79c8d9186d874"}}</a:t>
            </a:r>
          </a:p>
          <a:p>
            <a:r>
              <a:t>CNPJ 60010416000112 · Eventos de liquidação · Regulamento · ID 1051393 · 09/10/2025 · versão Regulamento09/10/2025 · p. 21 · AnexoI10.3(i)–(viii) · https://fnet.bmfbovespa.com.br/fnet/publico/visualizarDocumento?id=1051393</a:t>
            </a:r>
          </a:p>
          <a:p>
            <a:r>
              <a:t>CNPJ 60010416000112 · Eventos de liquidação · Excerto da fonte:</a:t>
            </a:r>
          </a:p>
          <a:p>
            <a:r>
              <a:t>10.3 As seguintes hipóteses são consideradas Eventos de Liquidação: (i) caso seja deliberado em Assembleia de Cotistas que um Evento de Avaliação constitui um Evento de Liquidação; (ii) na hipótese de resilição do Contrato de Custódia ou renúncia do Custodiante, sem que tenha havido sua substituição por outra instituição, de acordo com os procedimentos estabelecidos neste Regulamento; (iii) renúncia do Administrador sem que a Assembleia Especial de Cotistas eficazmente nomeie instituição habilitada para substituí-lo, nos termos estabelecidos neste Regulamento;</a:t>
            </a:r>
          </a:p>
          <a:p>
            <a:r>
              <a:t>CNPJ 60010416000112 · Eventos de liquidação · Versão e prevalência: Leitura específica das cláusulas indicadas; condições e conflitos preservados. Seleção documental atual não comprova vigência jurídica por data isolada.</a:t>
            </a:r>
          </a:p>
          <a:p>
            <a:r>
              <a:t>CNPJ 60010416000112 · Eventos de liquidação · Resumo do histórico: {"count": 2, "dates": ["2025-03-20"], "document_count": 2, "sources": [{"document_id": "993785", "title": "Instrumento Particular de Constituição/Encerramento do Fundo", "reference_date": "2025-03-20", "version": "1", "page": 8, "url": "https://fnet.bmfbovespa.com.br/fnet/publico/visualizarDocumento?id=993785", "sha256": "0826e0eae2c51afabf59bbc49fc7647598d03da5ca6de0f9725850a8bd6af457"}, {"document_id": "993786", "title": "Regulamento", "reference_date": "2025-03-20", "version": "1", "page": 18, "clause": "9.2", "url": "https://fnet.bmfbovespa.com.br/fnet/publico/visualizarDocumento?id=993786", "sha256": "fd0fdd369a195510d81f81f505195a0b09e5f43522a990afa7d58c4f872921c8"}], "reference": {"path": "history/60010416000112.json", "criterion_id": "liquidation", "total_count": 2, "preview_count": 2, "full_text_deferred": true, "sha256": "8e2bd813f4c51cf01f6bfaad164bafe69d2bbb192f753eac92da3a01c2e63046"}}</a:t>
            </a:r>
          </a:p>
          <a:p>
            <a:r>
              <a:t>CNPJ 62696791000193 · Eventos de liquidação · Regulamento · ID 1143317 · 20/03/2026 · versão Regulamento — referência 20/03/2026 · p. 23 · Anexo I, 11.1–11.3 · https://fnet.bmfbovespa.com.br/fnet/publico/visualizarDocumento?id=1143317</a:t>
            </a:r>
          </a:p>
          <a:p>
            <a:r>
              <a:t>CNPJ 62696791000193 · Eventos de liquidação · Excerto da fonte:</a:t>
            </a:r>
          </a:p>
          <a:p>
            <a:r>
              <a:t>11.1 A Classe será liquidada (i) em caso da liquidação antecipada deliberada em Assembleia Especial de Cotistas; ou (ii) pelo encerramento do Prazo de Duração da Classe. 11.2 Na ocorrência da liquidação da Classe, o Administrador: (i) liquidará todos os investimentos da Classe em Ativos Financeiros de Liquidez, conforme orientação do Gestor, transferindo todos os recursos daí resultantes para a Conta da Classe; (ii) realizará, de acordo com as orientações e instruções do Gestor, a alienação dos investimentos nos Direitos Creditórios do Agronegócio e nos Outros Ativos integrantes da carteira de investimentos da Classe; e (iii) realizará o pagamento dos encargos da Classe e a amortização das Cotas, até o limite dos recursos disponíveis na Conta da Classe. 11.2.1 No caso de Liquidação da Classe, os Cotistas terão o direito de partilhar o Patrimônio Líquido em igualdade de condições e na proporção de suas Cotas, deduzidas as despesas necessárias para a liquidação da Classe. Não haverá qualquer tipo de pref erência, p rioridade ou subordinação entre os Cotistas. 11.3 Caso a Classe não possua recursos suficientes para o pagamento de todas as Cotas no momento de</a:t>
            </a:r>
          </a:p>
          <a:p>
            <a:r>
              <a:t>CNPJ 62696791000193 · Eventos de liquidação · Regulamento · ID 1143317 · 20/03/2026 · versão Regulamento — referência 20/03/2026 · p. 24 · Anexo I, 11.7 · https://fnet.bmfbovespa.com.br/fnet/publico/visualizarDocumento?id=1143317</a:t>
            </a:r>
          </a:p>
          <a:p>
            <a:r>
              <a:t>CNPJ 62696791000193 · Eventos de liquidação · Excerto da fonte:</a:t>
            </a:r>
          </a:p>
          <a:p>
            <a:r>
              <a:t>11.7 A liquidação da Classe e a divisão de seu patrimônio entre os Cotistas deverão ocorrer no prazo de até 180 (cento e oitenta) dias corridos contados (i) do encerramento do Prazo de Duração ou (ii) da data da realização da Assembleia Especial de Cotistas que deliberar sobre a liquidação da Classe. BTG Pactual SAC: 0800 772 2827 | Ouvidoria: 0800 722 0048 | btgpactual.co m 19</a:t>
            </a:r>
          </a:p>
          <a:p>
            <a:r>
              <a:t>CNPJ 62696791000193 · Eventos de liquidação · Condição: O capítulo não fornece gatilho automático de PL &lt;R$ 1 milhão por 90 dias; essa cláusula presente em outros FIDCs não pode ser transferida para Ceres.</a:t>
            </a:r>
          </a:p>
          <a:p>
            <a:r>
              <a:t>CNPJ 62696791000193 · Eventos de liquidação · Motivo: Cláusula primária localizada e citada, mas sua lista/condições extensas não admitem uma síntese literal curta confirmada. O trecho integral permanece nas fontes.</a:t>
            </a:r>
          </a:p>
          <a:p>
            <a:r>
              <a:t>CNPJ 62696791000193 · Eventos de liquidação · Versão e prevalência: Leitura específica das cláusulas indicadas; condições e conflitos preservados. Seleção documental atual não comprova vigência jurídica por data isolada.</a:t>
            </a:r>
          </a:p>
          <a:p>
            <a:r>
              <a:t>CNPJ 55563624000109 · Eventos de liquidação · Regulamento · ID 1192614 · 30/04/2026 · versão Regulamento30/04/2026 · p. 21 · AnexoI11.3(i)–(vii) · https://fnet.bmfbovespa.com.br/fnet/publico/visualizarDocumento?id=1192614</a:t>
            </a:r>
          </a:p>
          <a:p>
            <a:r>
              <a:t>CNPJ 55563624000109 · Eventos de liquidação · Excerto da fonte:</a:t>
            </a:r>
          </a:p>
          <a:p>
            <a:r>
              <a:t>11.3 As seguintes hipóteses são consideradas Eventos de Liquidação: (i) caso seja deliberado em Assembleia Especial de Cotistas que um Evento de Avaliação constitui um Evento de Liquidação; (ii) na hipótese de renúncia do CUSTODIANTE, sem que tenha havido sua substituição por outra instituição, de acordo com os procedimentos estabelecidos neste Anexo; (iii) renúncia do ADMINISTRADOR ou do GESTOR sem que a Assembleia Especial de Cotistas eficazmente nomeie instituição habilitada para substituí-lo, nos termo</a:t>
            </a:r>
          </a:p>
          <a:p>
            <a:r>
              <a:t>CNPJ 55563624000109 · Eventos de liquidação · Versão e prevalência: Leitura específica das cláusulas indicadas; condições e conflitos preservados. Seleção documental atual não comprova vigência jurídica por data isolada.</a:t>
            </a:r>
          </a:p>
          <a:p>
            <a:r>
              <a:t>CNPJ 62552447000120 · Eventos de liquidação · Regulamento · ID 1200623 · 21/05/2026 · versão Consolidado21/05/2026 aprovado pelo ato1200625 · p. 24 · AnexoI11.2(i)–(v) · https://fnet.bmfbovespa.com.br/fnet/publico/visualizarDocumento?id=1200623</a:t>
            </a:r>
          </a:p>
          <a:p>
            <a:r>
              <a:t>CNPJ 62552447000120 · Eventos de liquidação · Excerto da fonte:</a:t>
            </a:r>
          </a:p>
          <a:p>
            <a:r>
              <a:t>11.2 As seguintes hipóteses são consideradas eventos de liquidação (“Eventos de Liquidação”): (i) caso seja deliberado em Assembleia Especial que um Evento de Avaliação constitui um Evento de Liquidação; (ii) na hipótese de resilição do Contrato de Custódia ou renúncia do Custodiante, sem que tenha havido sua substituição por outra instituição, de acordo com os procedimentos estabelecidos neste Regulamento; (iii) renúncia do Administrador sem que a Assembleia Especial ef icazmente nomeie instituição habilitada para substituí-lo, nos termos estab</a:t>
            </a:r>
          </a:p>
          <a:p>
            <a:r>
              <a:t>CNPJ 62552447000120 · Eventos de liquidação · Regulamento · ID 1200623 · 21/05/2026 · versão Consolidado21/05/2026 aprovado pelo ato1200625 · p. 25 · AnexoI11.2(vi)–(ix) · https://fnet.bmfbovespa.com.br/fnet/publico/visualizarDocumento?id=1200623</a:t>
            </a:r>
          </a:p>
          <a:p>
            <a:r>
              <a:t>CNPJ 62552447000120 · Eventos de liquidação · Excerto da fonte:</a:t>
            </a:r>
          </a:p>
          <a:p>
            <a:r>
              <a:t>(vi) em caso de regime de administração especial temporária - RAET, intervenção ou liquidação extrajudicial do Custodiante, Administrador, ou Gestor, sem a sua ef etiva substituição nos termos deste Regulamento; (vii) se, após 90 (noventa) dias do início das atividades do Fundo, o Patrimônio Líquido diário inferior da Classe for inferior a R$ 1.000.000,00 (um milhão de reais) pelo período de 90 (noventa) dias consecutivos; (viii) caso, por inexistência de recursos líquidos, a Classe não possa fazer f rente aos Encargos nas respectivas datas</a:t>
            </a:r>
          </a:p>
          <a:p>
            <a:r>
              <a:t>CNPJ 62552447000120 · Eventos de liquidação · Versão e prevalência: Leitura específica das cláusulas indicadas; condições e conflitos preservados. Seleção documental atual não comprova vigência jurídica por data isolada.</a:t>
            </a:r>
          </a:p>
          <a:p>
            <a:r>
              <a:t>CNPJ 63953620000165 · Eventos de liquidação · Anexo ao Regulamento · ID 1222863 · 02/06/2026 · versão AnexoConsignadoPrivado02/06/2026 · p. 16 · 11.2(i)–(viii) · https://fnet.bmfbovespa.com.br/fnet/publico/visualizarDocumento?id=1222863</a:t>
            </a:r>
          </a:p>
          <a:p>
            <a:r>
              <a:t>CNPJ 63953620000165 · Eventos de liquidação · Excerto da fonte:</a:t>
            </a:r>
          </a:p>
          <a:p>
            <a:r>
              <a:t>11.2 As seguintes hipóteses são consideradas eventos de liquidação (“Eventos de Liquidação”): (i) caso seja deliberado em Assembleia Especial de Cotistas que um Evento de Avaliação constitui um Evento de Liquidação; (ii) na hipótese de resilição do Contrato de Custódia ou renúncia do Custodiante, sem que tenha havido sua substituição por outra instituição, de acordo com os procedimentos estabelecidos neste Regulamento; (iii) renúncia do Administrador sem que a Assembleia Especial de Cotistas eficazmente nomeie instituição habilitada para substituí-lo, nos termos estabeleci</a:t>
            </a:r>
          </a:p>
          <a:p>
            <a:r>
              <a:t>CNPJ 63953620000165 · Eventos de liquidação · Versão e prevalência: Leitura específica das cláusulas indicadas; condições e conflitos preservados. Seleção documental atual não comprova vigência jurídica por data isolada.</a:t>
            </a:r>
          </a:p>
          <a:p>
            <a:r>
              <a:t>CNPJ 63953620000165 · Eventos de liquidação · Resumo do histórico: {"count": 8, "dates": ["2026-04-28", "2026-05-08", "2026-05-15"], "document_count": 3, "sources": [{"document_id": "1327859", "title": "Demonstrações Financeiras - Fusão, cisão e incorporação", "reference_date": "2026-05-15", "version": "1", "page": 23, "url": "https://fnet.bmfbovespa.com.br/fnet/publico/visualizarDocumento?id=1327859", "sha256": "dca1c68babb97f887528c3e2e47596a9c30f507b067981a35655b2f2da9c8054"}, {"document_id": "1298691", "title": "Demonstrações Financeiras - Fusão, cisão e incorporação", "reference_date": "2026-05-08", "version": "1", "page": 24, "url": "https://fnet.bmfbovespa.com.br/fnet/publico/visualizarDocumento?id=1298691", "sha256": "58c570d9b8d4d265330d3db3ea81c435b8e44a6dab4002aa37790652a1ee9819"}, {"document_id": "1282180", "title": "Demonstrações Financeiras - Fusão, cisão e incorporação", "reference_date": "2026-04-28", "version": "1", "page": 24, "url": "https://fnet.bmfbovespa.com.br/fnet/publico/visualizarDocumento?id=1282180", "sha256": "afaaa0e6809be4385e5bdb6c911aac582032c5bdbac3d7750234bf9eaf00438a"}], "reference": {"path": "history/63953620000165.json", "criterion_id": "liquidation", "total_count": 8, "preview_count": 3, "full_text_deferred": true, "sha256": "a7b89077f5e21098c2d601c303faabc3ff6b9729f89d8afecdc60fe1404720c1"}}</a:t>
            </a:r>
          </a:p>
          <a:p>
            <a:r>
              <a:t>CNPJ 54871427000194 · Prazos de cura e reincidência · Regulamento · ID 670691 · 28/04/2024 · versão Regulamento — referência 28/04/2024 · p. 18 · Anexo I, 11.1(ii)–(v) · https://fnet.bmfbovespa.com.br/fnet/publico/visualizarDocumento?id=670691</a:t>
            </a:r>
          </a:p>
          <a:p>
            <a:r>
              <a:t>CNPJ 54871427000194 · Prazos de cura e reincidência · Excerto da fonte:</a:t>
            </a:r>
          </a:p>
          <a:p>
            <a:r>
              <a:t>(ii) não cumprimento, por qualquer dos Endossantes, de qualquer de suas obrigações estabelecidas em cada Contrato de Endosso ou neste Regulamento e Anexo, desde que esse não cumprimento não seja devidamente sanado ou justificado dentro de 10 (dez) Dias Úteis a partir do recebimento, pelo Endossante, de notificação, por escrito, enviada pelo Administrador, inf ormando-o da ocorrência do respectivo evento; (iii) não cumprimento, por qualquer dos Endossantes, de suas obrigações de entregar o Arquivo de Liquidação Antecipada e o Arquivo de Posição das CCBs ao CUSTODIANTE dentro do prazo estabelecido neste Regulamento, desde que esse não cumprimento não seja devidamente sanado ou justificado dentro dos prazos acordados no respectivo Contrato de Endosso, a partir do recebimento, pelos Endossantes, de notificação, por escrito, enviada pelo CUSTODIANTE, inf ormando-o da ocorrência do respectivo evento; (iv) não cumprimento, por qualquer dos Endossantes, de qualquer de suas obrigações de entregar ao CUSTODIANTE, ou a terceiros por ele indicados, os Documentos Comprobatórios relativos</a:t>
            </a:r>
          </a:p>
          <a:p>
            <a:r>
              <a:t>CNPJ 54871427000194 · Prazos de cura e reincidência · Motivo: Não localizada uma cláusula material para este critério nos textos identificados e processados. A ausência de resultado não comprova inexistência da regra.</a:t>
            </a:r>
          </a:p>
          <a:p>
            <a:r>
              <a:t>CNPJ 54871427000194 · Prazos de cura e reincidência · Versão e prevalência: Leitura específica das cláusulas indicadas; condições e conflitos preservados. Seleção documental atual não comprova vigência jurídica por data isolada.</a:t>
            </a:r>
          </a:p>
          <a:p>
            <a:r>
              <a:t>CNPJ 60010416000112 · Prazos de cura e reincidência · Regulamento · ID 1051393 · 09/10/2025 · versão Regulamento09/10/2025 · p. 14 · AnexoI5.7.1–5.7.2 · https://fnet.bmfbovespa.com.br/fnet/publico/visualizarDocumento?id=1051393</a:t>
            </a:r>
          </a:p>
          <a:p>
            <a:r>
              <a:t>CNPJ 60010416000112 · Prazos de cura e reincidência · Excerto da fonte:</a:t>
            </a:r>
          </a:p>
          <a:p>
            <a:r>
              <a:t>5.7.1 abaixo. 5.7.1 Na hipótese do item 5.7 os titulares de Cotas Subordinadas terão o prazo de 3 (três) Dias Úteis contado do recebimento da comunicação enviada pelo Administrador para manifestar sua intenção de subscrever e integralizar novas Cotas Subordinadas, de f orma a restabelecer o Índice de Subordinação. Caso assim se manifestem, o Administrador e os titulares de Cotas Subordinadas deverão, nos 10 (dez) Dias Úteis subsequentes tomar todas as providências necessárias para que as novas Cotas Subordinadas sejam emitidas, subscritas e integraliza</a:t>
            </a:r>
          </a:p>
          <a:p>
            <a:r>
              <a:t>CNPJ 60010416000112 · Prazos de cura e reincidência · Regulamento · ID 1051393 · 09/10/2025 · versão Regulamento09/10/2025 · p. 19 · AnexoI10.1(ii)–(vii) · https://fnet.bmfbovespa.com.br/fnet/publico/visualizarDocumento?id=1051393</a:t>
            </a:r>
          </a:p>
          <a:p>
            <a:r>
              <a:t>CNPJ 60010416000112 · Prazos de cura e reincidência · Excerto da fonte:</a:t>
            </a:r>
          </a:p>
          <a:p>
            <a:r>
              <a:t>10.1 As seguintes hipóteses são consideradas Eventos de Avaliação: (i) em caso de regime de administração especial temporária - RAET, intervenção ou liquidação extrajudicial do Endossante; (ii) em caso de desenquadramento do Índice de Subordinação por 10 (dez) dias úteis consecutivos; (iii) não cumprimento, pelo Endossante, de qualquer de suas obrigações estabelecidas no Contrato de Endosso ou neste Anexo I, desde que esse não cumprimento não seja devidamente sanado ou justif icado dentro de 10 (dez) Dias Úteis a partir do recebimento, pelo Endossante, de noti</a:t>
            </a:r>
          </a:p>
          <a:p>
            <a:r>
              <a:t>CNPJ 60010416000112 · Prazos de cura e reincidência · Regulamento · ID 1051393 · 09/10/2025 · versão Regulamento09/10/2025 · p. 20 · AnexoI10.1(xiii) · https://fnet.bmfbovespa.com.br/fnet/publico/visualizarDocumento?id=1051393</a:t>
            </a:r>
          </a:p>
          <a:p>
            <a:r>
              <a:t>CNPJ 60010416000112 · Prazos de cura e reincidência · Excerto da fonte:</a:t>
            </a:r>
          </a:p>
          <a:p>
            <a:r>
              <a:t>(xiii) no caso de não serem realizados pagamentos de amortização e/ou resgate de Cotas Seniores, nos termos, prazos e condições previstos no presente Regulamento e nos respectivos Apêndices e Suplementos, não sanados em até 2 (dois) Dias Úteis contados do prazo final do respectivo evento; (xiv) no caso de pagamento de resgate e/ou amortização de Cotas Subordinadas em desacordo com os termos, prazos e condições previstos no presente Regulamento e no respectivo Apêndice. 10.1.1 Na ocorrência de qualquer Evento de Avaliação, será convocada Assembleia Especial de Cotistas,</a:t>
            </a:r>
          </a:p>
          <a:p>
            <a:r>
              <a:t>CNPJ 60010416000112 · Prazos de cura e reincidência · Versão e prevalência: Leitura específica das cláusulas indicadas; condições e conflitos preservados. Seleção documental atual não comprova vigência jurídica por data isolada.</a:t>
            </a:r>
          </a:p>
          <a:p>
            <a:r>
              <a:t>CNPJ 60010416000112 · Prazos de cura e reincidência · Resumo do histórico: {"count": 1, "dates": ["2025-03-20"], "document_count": 1, "sources": [{"document_id": "993786", "title": "Regulamento", "reference_date": "2025-03-20", "version": "1", "page": 19, "clause": "10.1", "url": "https://fnet.bmfbovespa.com.br/fnet/publico/visualizarDocumento?id=993786", "sha256": "fd0fdd369a195510d81f81f505195a0b09e5f43522a990afa7d58c4f872921c8"}], "reference": {"path": "history/60010416000112.json", "criterion_id": "cure", "total_count": 1, "preview_count": 1, "full_text_deferred": true, "sha256": "8e2bd813f4c51cf01f6bfaad164bafe69d2bbb192f753eac92da3a01c2e63046"}}</a:t>
            </a:r>
          </a:p>
          <a:p>
            <a:r>
              <a:t>CNPJ 62696791000193 · Prazos de cura e reincidência · Motivo: Não localizada uma cláusula material para este critério nos textos identificados e processados. A ausência de resultado não comprova inexistência da regra.</a:t>
            </a:r>
          </a:p>
          <a:p>
            <a:r>
              <a:t>CNPJ 55563624000109 · Prazos de cura e reincidência · Regulamento · ID 1192614 · 30/04/2026 · versão Regulamento30/04/2026 · p. 20 · AnexoI11.1 · https://fnet.bmfbovespa.com.br/fnet/publico/visualizarDocumento?id=1192614</a:t>
            </a:r>
          </a:p>
          <a:p>
            <a:r>
              <a:t>CNPJ 55563624000109 · Prazos de cura e reincidência · Excerto da fonte:</a:t>
            </a:r>
          </a:p>
          <a:p>
            <a:r>
              <a:t>11.1 As seguintes hipóteses são consideradas Eventos de Avaliação: (i) inobservância pelo ADMINISTRADOR, pelo CUSTODIANTE e/ou pelo GESTOR de seus deveres e obrigações previstos neste Anexo, desde que, uma vez notificados para sanar ou justificar o descumprimento, o ADMINISTRADOR, o CUSTODIANTE e/ou o GESTOR, conforme o caso, não o sane no prazo de 5 (cinco) Dias Úteis contados do recebimento da referida notificação; (ii) aquisição, pela Classe, de Cotas da Classe Investida que estejam em desacordo com o Critério de</a:t>
            </a:r>
          </a:p>
          <a:p>
            <a:r>
              <a:t>CNPJ 55563624000109 · Prazos de cura e reincidência · Regulamento · ID 1192614 · 30/04/2026 · versão Regulamento30/04/2026 · p. 21 · AnexoI11.1.2 · https://fnet.bmfbovespa.com.br/fnet/publico/visualizarDocumento?id=1192614</a:t>
            </a:r>
          </a:p>
          <a:p>
            <a:r>
              <a:t>CNPJ 55563624000109 · Prazos de cura e reincidência · Excerto da fonte:</a:t>
            </a:r>
          </a:p>
          <a:p>
            <a:r>
              <a:t>11.1.2 No momento de verificação de qualquer Evento de Avaliação, os procedimentos de aquisição de novas Cotas da Classe Investida e, se aplicável, de amortização das Cotas, deverão ser imediatamente interrompidos, até que: (i) seja proferida decisão final em Assembleia Especial de Cotistas, convocada especificamente para este fim, nos termos do item 11.1.1 acima, autorizando a retomada dos procedimentos de aquisição de novas Cotas da Classe Investida, amortização e resgate das Cotas; e/ou (ii) seja sanado o Evento de Avalia</a:t>
            </a:r>
          </a:p>
          <a:p>
            <a:r>
              <a:t>CNPJ 55563624000109 · Prazos de cura e reincidência · Motivo: Não localizada uma cláusula material para este critério nos textos identificados e processados. A ausência de resultado não comprova inexistência da regra.</a:t>
            </a:r>
          </a:p>
          <a:p>
            <a:r>
              <a:t>CNPJ 55563624000109 · Prazos de cura e reincidência · Versão e prevalência: Leitura específica das cláusulas indicadas; condições e conflitos preservados. Seleção documental atual não comprova vigência jurídica por data isolada.</a:t>
            </a:r>
          </a:p>
          <a:p>
            <a:r>
              <a:t>CNPJ 62552447000120 · Prazos de cura e reincidência · Regulamento · ID 1200623 · 21/05/2026 · versão Consolidado21/05/2026 aprovado pelo ato1200625 · p. 22 · AnexoI11.1(ii)–(v) · https://fnet.bmfbovespa.com.br/fnet/publico/visualizarDocumento?id=1200623</a:t>
            </a:r>
          </a:p>
          <a:p>
            <a:r>
              <a:t>CNPJ 62552447000120 · Prazos de cura e reincidência · Excerto da fonte:</a:t>
            </a:r>
          </a:p>
          <a:p>
            <a:r>
              <a:t>5 (cinco) Dias Úteis a partir do recebimento, pelo Endossante, de notificação, por escrito, enviada pelo Administrador, inf ormando-o da ocorrência do respectivo evento; (iii) não cumprimento, pelo Endossante e/ou pelo Agente de Retenção e Cobrança, de sua obrigação de entregar os (a) arquivos eletrônicos disponibilizados mensalmente pela Dataprev ao Endossante, contendo (1) as Consignações processadas pela Dataprev no respectivo mês, identificando os Devedores e os valores que serão descontados de suas respectivas folhas de pagamentos, bem como</a:t>
            </a:r>
          </a:p>
          <a:p>
            <a:r>
              <a:t>CNPJ 62552447000120 · Prazos de cura e reincidência · Regulamento · ID 1200623 · 21/05/2026 · versão Consolidado21/05/2026 aprovado pelo ato1200625 · p. 23 · AnexoI11.1(vi)–(viii) · https://fnet.bmfbovespa.com.br/fnet/publico/visualizarDocumento?id=1200623</a:t>
            </a:r>
          </a:p>
          <a:p>
            <a:r>
              <a:t>CNPJ 62552447000120 · Prazos de cura e reincidência · Excerto da fonte:</a:t>
            </a:r>
          </a:p>
          <a:p>
            <a:r>
              <a:t>5 (cinco) Dias Úteis a partir do recebimento, pelo Agente de Retenção e Cobrança, de notificação, por escrito, enviada pelo Gestor, informando-o da ocorrência do respectivo evento; (vi) não cumprimento, pelo Agente de Conta Vinculada, de qualquer de suas obrigações estabelecidas no contrato de conta vinculada celebrado entre o Endossante, na qualidade de titular da Conta Vinculada, e a Classe (“Contrato de Conta Vinculada”), no Regulamento ou neste Anexo I, desde que esse não cumprimento não seja devidamente sanado ou justificado dentro de 5 (cinco) Dias Úte</a:t>
            </a:r>
          </a:p>
          <a:p>
            <a:r>
              <a:t>CNPJ 62552447000120 · Prazos de cura e reincidência · Regulamento · ID 1200623 · 21/05/2026 · versão Consolidado21/05/2026 aprovado pelo ato1200625 · p. 19 · AnexoI6.8.4 · https://fnet.bmfbovespa.com.br/fnet/publico/visualizarDocumento?id=1200623</a:t>
            </a:r>
          </a:p>
          <a:p>
            <a:r>
              <a:t>CNPJ 62552447000120 · Prazos de cura e reincidência · Excerto da fonte:</a:t>
            </a:r>
          </a:p>
          <a:p>
            <a:r>
              <a:t>6.8.4 Em caso de inadimplência decorrente de falha operacional, será concedido aos Cotistas o prazo de 2 (dois) Dias Úteis contado da data de seu vencimento original para a realização do pagamento da integralização de Cotas sem a incidência de qualquer penalidade, multa ou mora. Transferência de Cotas 6.9 Não haverá direito de preferência aos Cotistas em relação às transferências de Cotas no mercado secundário. 6.10 No caso de alienação voluntária de Cotas, o Cotista alienante deverá solicitar por escrito ao Administrador e ao Gestor, a transf erência parcial ou total de suas Cotas, indicando o nom</a:t>
            </a:r>
          </a:p>
          <a:p>
            <a:r>
              <a:t>CNPJ 62552447000120 · Prazos de cura e reincidência · Regulamento · ID 1200623 · 21/05/2026 · versão Consolidado21/05/2026 aprovado pelo ato1200625 · p. 24 · AnexoI11.1.2 · https://fnet.bmfbovespa.com.br/fnet/publico/visualizarDocumento?id=1200623</a:t>
            </a:r>
          </a:p>
          <a:p>
            <a:r>
              <a:t>CNPJ 62552447000120 · Prazos de cura e reincidência · Excerto da fonte:</a:t>
            </a:r>
          </a:p>
          <a:p>
            <a:r>
              <a:t>11.1.2 No momento de verificação de qualquer Evento de Avaliação, os procedimentos de aquisição de novos Direitos Creditórios deverão ser imediatamente interrompidos, até que: (i) seja prof erida decisão final em Assembleia Especial, convocada especificamente para este fim, nos termos do item 11.1.1 acima, autorizando a retomada dos procedimentos de aquisição de novos Direitos Creditórios e resgate das Cotas; e/ou (ii) seja sanado o Evento de Avaliação . 11.1.3 Na hipótese de não instalação da Assembleia Especial por f alta de quórum, o Administrador dará início aos</a:t>
            </a:r>
          </a:p>
          <a:p>
            <a:r>
              <a:t>CNPJ 62552447000120 · Prazos de cura e reincidência · Motivo: Não localizada uma cláusula material para este critério nos textos identificados e processados. A ausência de resultado não comprova inexistência da regra.</a:t>
            </a:r>
          </a:p>
          <a:p>
            <a:r>
              <a:t>CNPJ 62552447000120 · Prazos de cura e reincidência · Versão e prevalência: Leitura específica das cláusulas indicadas; condições e conflitos preservados. Seleção documental atual não comprova vigência jurídica por data isolada.</a:t>
            </a:r>
          </a:p>
          <a:p>
            <a:r>
              <a:t>CNPJ 63953620000165 · Prazos de cura e reincidência · Anexo ao Regulamento · ID 1222863 · 02/06/2026 · versão AnexoConsignadoPrivado02/06/2026 · p. 14 · 11.1(ii)–(v) · https://fnet.bmfbovespa.com.br/fnet/publico/visualizarDocumento?id=1222863</a:t>
            </a:r>
          </a:p>
          <a:p>
            <a:r>
              <a:t>CNPJ 63953620000165 · Prazos de cura e reincidência · Excerto da fonte:</a:t>
            </a:r>
          </a:p>
          <a:p>
            <a:r>
              <a:t>11.1 As seguintes hipóteses são consideradas eventos de avaliação (“Eventos de Avaliação”): (i) em caso de regime de administração especial temporária - RAET, intervenção ou liquidação extrajudicial do Endossante; (ii) em caso de desenquadramento do Índice de Subordinação por 10 (dez) dias úteis consecutivos; (iii) não cumprimento, pelo Endossante, de qualquer de suas obrigações estabelecidas no Contrato de Endosso ou neste Anexo I, desde que esse não cumprimento não seja devidamente sanado ou justificado dentro de 10 (dez) Dias Úteis a partir do recebimento, pelo Endossan</a:t>
            </a:r>
          </a:p>
          <a:p>
            <a:r>
              <a:t>CNPJ 63953620000165 · Prazos de cura e reincidência · Anexo ao Regulamento · ID 1222863 · 02/06/2026 · versão AnexoConsignadoPrivado02/06/2026 · p. 10 · 6.8 · https://fnet.bmfbovespa.com.br/fnet/publico/visualizarDocumento?id=1222863</a:t>
            </a:r>
          </a:p>
          <a:p>
            <a:r>
              <a:t>CNPJ 63953620000165 · Prazos de cura e reincidência · Excerto da fonte:</a:t>
            </a:r>
          </a:p>
          <a:p>
            <a:r>
              <a:t>6.8 Observado o disposto nos boletins de subscrição, no caso de inadimplemento, a Administradora notificará o cotista inadimplente para sanar o inadimplemento no prazo de até 5 (cinco) Dias Úteis (“Cotista Inadimplente”). Caso o Cotista Inadimplente não sane o inadimplemento dentro de 5 (cinco) Dias Úteis contados do recebimento da notificação descrita acima, a Administradora poderá tomar as medidas previstas no Boletim de Subscrição. Colocação das Cotas 6.9 As Cotas poderão ser objeto de oferta pública a ser realizada nos termos da Resolução CVM 160 (“Oferta”) e/ou poderão ser colocadas de forma privada (“Colocação Privad</a:t>
            </a:r>
          </a:p>
          <a:p>
            <a:r>
              <a:t>CNPJ 63953620000165 · Prazos de cura e reincidência · Versão e prevalência: Leitura específica das cláusulas indicadas; condições e conflitos preservados. Seleção documental atual não comprova vigência jurídica por data isolada.</a:t>
            </a:r>
          </a:p>
          <a:p>
            <a:r>
              <a:t>CNPJ 54871427000194 · Cross default e insolvência · Motivo: Não localizada uma cláusula material para este critério nos textos identificados e processados. A ausência de resultado não comprova inexistência da regra.</a:t>
            </a:r>
          </a:p>
          <a:p>
            <a:r>
              <a:t>CNPJ 60010416000112 · Cross default e insolvência · Regulamento · ID 1051393 · 2025-10-09 · versão 1 · p. 21 · 10.2 · https://fnet.bmfbovespa.com.br/fnet/publico/visualizarDocumento?id=1051393</a:t>
            </a:r>
          </a:p>
          <a:p>
            <a:r>
              <a:t>CNPJ 60010416000112 · Cross default e insolvência · Excerto da fonte:</a:t>
            </a:r>
          </a:p>
          <a:p>
            <a:r>
              <a:t>10.2 Os seguintes eventos obrigarão o Administrador a verif icar se o Patrimônio Líquido da Classe está  negativo:</a:t>
            </a:r>
          </a:p>
          <a:p>
            <a:r>
              <a:t> (i) qualquer pedido de declaração judicial de insolvência da Classe;</a:t>
            </a:r>
          </a:p>
          <a:p>
            <a:r>
              <a:t> (ii) identificação de indícios de f raudes envolvendo o lastro de Direitos Creditórios que representem, no  mínimo 0,5 (cinco décimos por cento) do Patrimônio Líquido da Classe;</a:t>
            </a:r>
          </a:p>
          <a:p>
            <a:r>
              <a:t> (iii) inadimplência de obrigações financeiras de devedor e/ou emissor de ativos detidos pela Classe que  representem mais de 25% (vinte e cinco por cento)de seu Patrimônio Líquido;</a:t>
            </a:r>
          </a:p>
          <a:p>
            <a:r>
              <a:t> (iv) pedido de recuperação extrajudicial, de recuperação judicial, ou de falência de Devedor e/ou emissor  de ativos detidos pela Classe;</a:t>
            </a:r>
          </a:p>
          <a:p>
            <a:r>
              <a:t> (v) condenação da Classe de natureza judicial e/ou arbitral e/ou administrativa e/ou outras similares ao  pagamento de mais de 20% (vinte por cento) de seu Patrimônio Líquido; e</a:t>
            </a:r>
          </a:p>
          <a:p>
            <a:r>
              <a:t> (vi) caso caracterizado quaisquer dos Eventos de Liquidação.</a:t>
            </a:r>
          </a:p>
          <a:p>
            <a:r>
              <a:t>Eventos de Liquidação</a:t>
            </a:r>
          </a:p>
          <a:p>
            <a:r>
              <a:t>CNPJ 60010416000112 · Cross default e insolvência · Regulamento · ID 1051393 · 2025-10-09 · versão 1 · p. 21 · 10.3 · https://fnet.bmfbovespa.com.br/fnet/publico/visualizarDocumento?id=1051393</a:t>
            </a:r>
          </a:p>
          <a:p>
            <a:r>
              <a:t>CNPJ 60010416000112 · Cross default e insolvência · Excerto da fonte:</a:t>
            </a:r>
          </a:p>
          <a:p>
            <a:r>
              <a:t>10.3 As seguintes hipóteses são consideradas Eventos de Liquidação:</a:t>
            </a:r>
          </a:p>
          <a:p>
            <a:r>
              <a:t> (i) caso seja deliberado em Assembleia de Cotistas que um Evento de Avaliação constitui um Evento de  Liquidação;</a:t>
            </a:r>
          </a:p>
          <a:p>
            <a:r>
              <a:t> (ii) na hipótese de resilição do Contrato de Custódia ou renúncia do Custodiante, sem que tenha havido  sua substituição por outra instituição, de acordo com os procedimentos estabelecidos neste  Regulamento;</a:t>
            </a:r>
          </a:p>
          <a:p>
            <a:r>
              <a:t> (iii) renúncia do Administrador sem que a Assembleia Especial de Cotistas eficazmente nomeie instituição  habilitada para substituí-lo, nos termos estabelecidos neste Regulamento;</a:t>
            </a:r>
          </a:p>
          <a:p>
            <a:r>
              <a:t> (iv) por determinação da CVM, em caso de violação de normas legais ou regulamentares;</a:t>
            </a:r>
          </a:p>
          <a:p>
            <a:r>
              <a:t> (v) sempre que assim decidido pelos Cotistas em Assembleia Especial de Cotistas especialmente  convocada para tal f im;</a:t>
            </a:r>
          </a:p>
          <a:p>
            <a:r>
              <a:t> (vi) em caso de regime de administração especial temporária - RAET, intervenção ou liquidação  extrajudicial, conforme aplicável, do Custodiante, Administrador, ou Gestor, sem a sua ef etiva  substituição nos termos deste Regulamento;</a:t>
            </a:r>
          </a:p>
          <a:p>
            <a:r>
              <a:t> (vii) se, após 90 (noventa) dias do início das atividades do Fundo, o Patrimônio Líquido diário inf erior da  Classe f or inf erior a R$ 1.000.000,00 (um milhão de reais) pelo período de 90 (noventa) dias  consecutivos;</a:t>
            </a:r>
          </a:p>
          <a:p>
            <a:r>
              <a:t> (viii) impossibilidade da Classe adquirir Direitos Creditórios admitidos por sua política de investimento.</a:t>
            </a:r>
          </a:p>
          <a:p>
            <a:r>
              <a:t>Procedimentos de Liquidação Antecipada</a:t>
            </a:r>
          </a:p>
          <a:p>
            <a:r>
              <a:t>CNPJ 60010416000112 · Cross default e insolvência · Regulamento · ID 1051393 · 2025-10-09 · versão 1 · p. 19 · 10.1 · https://fnet.bmfbovespa.com.br/fnet/publico/visualizarDocumento?id=1051393</a:t>
            </a:r>
          </a:p>
          <a:p>
            <a:r>
              <a:t>CNPJ 60010416000112 · Cross default e insolvência · Excerto da fonte:</a:t>
            </a:r>
          </a:p>
          <a:p>
            <a:r>
              <a:t>10.1 As seguintes hipóteses são consideradas Eventos de Avaliação:</a:t>
            </a:r>
          </a:p>
          <a:p>
            <a:r>
              <a:t> (i) em caso de regime de administração especial temporária - RAET, intervenção ou liquidação  extrajudicial do Endossante;</a:t>
            </a:r>
          </a:p>
          <a:p>
            <a:r>
              <a:t> (ii) em caso de desenquadramento do Índice de Subordinação por 10 (dez) dias úteis consecutivos;</a:t>
            </a:r>
          </a:p>
          <a:p>
            <a:r>
              <a:t> (iii) não cumprimento, pelo Endossante, de qualquer de suas obrigações estabelecidas no Contrato de  Endosso ou neste Anexo I, desde que esse não cumprimento não seja devidamente sanado ou  justif icado dentro de 10 (dez) Dias Úteis a partir do recebimento, pelo Endossante, de notificação,  por escrito, enviada pelo Administrador, inf ormando-o da ocorrência do respectivo evento;</a:t>
            </a:r>
          </a:p>
          <a:p>
            <a:r>
              <a:t> (iv) não cumprimento, pelo Endossante, de sua obrigação de entregar os Arquivos Dataprev ao Gestor  e ao Custodiante dentro do prazo estabelecido neste Anexo I, desde que esse não cumprimento  não seja devidamente sanado ou justificado dentro de 02 (dois) Dias Úteis a partir do recebimento,  pelo Endossante, de notificação, por escrito, enviada pelo Gestor, informando-o da ocorrência do  respectivo evento;</a:t>
            </a:r>
          </a:p>
          <a:p>
            <a:r>
              <a:t> (v) não cumprimento, pelo Endossante, de qualquer de suas obrigações de entregar ao Gestor e/o ao  Custodiante, ou a terceiros por ele indicados, os Documentos Comprobatórios e Documentos  Suporte relativos aos Direitos Creditórios que tenham sido endossados à Classe, dentro do prazo  estabelecido neste Anexo I, desde que esse não cumprimento não seja devidamente sanado ou  justif icado dentro de 02 (dois) Dias Úteis a partir do recebimento, pelo Endossante, de notificação,  por escrito, enviada pelo Gestor e/ou Custodiante, inf ormando- o da ocorrência do respectivo  evento;</a:t>
            </a:r>
          </a:p>
          <a:p>
            <a:r>
              <a:t> (vi) não cumprimento, pelo Agente de Retenção/Cobrança, de qualquer de suas obrigações  estabelecidas no Contrato de Endosso, neste Regulamento ou no Contrato de Serviços MT, desde  que esse não cumprimento não seja devidamente sanado ou justificado dentro de 10 (dez) Dias  Úteis a partir do recebimento, pelo Agente de Retenção/Cobrança, de notificação, por escrito,  enviada pelo Gestor, inf ormando-o da ocorrência do respectivo evento;</a:t>
            </a:r>
          </a:p>
          <a:p>
            <a:r>
              <a:t> (vii) não cumprimento, pelo Administrador, Gestor ou Custodiante, de seus respectivos deveres e  obrigações estabelecidos neste Regulamento, no Contrato de Endosso ou nos respectivos  contratos de prestação de serviços segundo os quais essas entidades são contratadas pela Classe,  desde que, tendo sido notificado pelo Cotista para remediar ou justificar o não cumprimento, não o  f aça dentro de 10 (dez) Dias Úteis a partir do recebimento da notif icação mencionada;</a:t>
            </a:r>
          </a:p>
          <a:p>
            <a:r>
              <a:t>BTG Pactual SAC: 0800 772 28 27 - Ouvidoria: 0800 722 00 48 - btgpactual.com 19</a:t>
            </a:r>
          </a:p>
          <a:p>
            <a:r>
              <a:t>CNPJ 60010416000112 · Cross default e insolvência · Condição: Documentos atuais selecionados no inventário por categoria/escopo; a data documental isolada não comprova vigência jurídica.</a:t>
            </a:r>
          </a:p>
          <a:p>
            <a:r>
              <a:t>CNPJ 60010416000112 · Cross default e insolvência · Versão e prevalência: Documentos atuais selecionados no inventário por categoria/escopo; a data documental isolada não comprova vigência jurídica.</a:t>
            </a:r>
          </a:p>
          <a:p>
            <a:r>
              <a:t>CNPJ 60010416000112 · Cross default e insolvência · Resumo do histórico: {"count": 1, "dates": ["2025-03-20"], "document_count": 1, "sources": [{"document_id": "993786", "title": "Regulamento", "reference_date": "2025-03-20", "version": "1", "page": 21, "clause": "10.2", "url": "https://fnet.bmfbovespa.com.br/fnet/publico/visualizarDocumento?id=993786", "sha256": "fd0fdd369a195510d81f81f505195a0b09e5f43522a990afa7d58c4f872921c8"}], "reference": {"path": "history/60010416000112.json", "criterion_id": "cross_default", "total_count": 1, "preview_count": 1, "full_text_deferred": true, "sha256": "8e2bd813f4c51cf01f6bfaad164bafe69d2bbb192f753eac92da3a01c2e63046"}}</a:t>
            </a:r>
          </a:p>
          <a:p>
            <a:r>
              <a:t>CNPJ 62696791000193 · Cross default e insolvência · Motivo: Não localizada uma cláusula material para este critério nos textos identificados e processados. A ausência de resultado não comprova inexistência da regra.</a:t>
            </a:r>
          </a:p>
          <a:p>
            <a:r>
              <a:t>CNPJ 55563624000109 · Cross default e insolvência · Motivo: Não localizada uma cláusula material para este critério nos textos identificados e processados. A ausência de resultado não comprova inexistência da regra.</a:t>
            </a:r>
          </a:p>
          <a:p>
            <a:r>
              <a:t>CNPJ 62552447000120 · Cross default e insolvência · Regulamento · ID 1200623 · 2026-05-21 · versão 1 · p. 22 · 11.1 · https://fnet.bmfbovespa.com.br/fnet/publico/visualizarDocumento?id=1200623</a:t>
            </a:r>
          </a:p>
          <a:p>
            <a:r>
              <a:t>CNPJ 62552447000120 · Cross default e insolvência · Excerto da fonte:</a:t>
            </a:r>
          </a:p>
          <a:p>
            <a:r>
              <a:t>11.1 As seguintes hipóteses são consideradas eventos de avaliação (“Eventos de Avaliação”):</a:t>
            </a:r>
          </a:p>
          <a:p>
            <a:r>
              <a:t> (i) em caso de regime de administração especial temporária - RAET, intervenção ou liquidação  extrajudicial do Endossante, da instituição f inanceira prestadora dos serviços de agente de  conta vinculada à Classe (“Agente de Conta Vinculada”) e/ou do Agente de Retenção e  Cobrança;</a:t>
            </a:r>
          </a:p>
          <a:p>
            <a:r>
              <a:t> (ii) não cumprimento, pelo Endossante, de qualquer de suas obrigações estabelecidas nos  Contratos de Endosso, no Regulamento ou neste Anexo I, desde que esse não cumprimento  não seja devidamente sanado ou justificado dentro de 5 (cinco) Dias Úteis a partir do  recebimento, pelo Endossante, de notificação, por escrito, enviada pelo Administrador,  inf ormando-o da ocorrência do respectivo evento;</a:t>
            </a:r>
          </a:p>
          <a:p>
            <a:r>
              <a:t> (iii) não cumprimento, pelo Endossante e/ou pelo Agente de Retenção e Cobrança, de sua  obrigação de entregar os (a) arquivos eletrônicos disponibilizados mensalmente pela Dataprev  ao Endossante, contendo (1) as Consignações processadas pela Dataprev no respectivo mês,  identificando os Devedores e os valores que serão descontados de suas respectivas folhas de  pagamentos, bem como (2) a totalidade das operações pendentes de crédito consignado  concedidas pelo Endossante e indicando todos os Direitos Creditórios devi dos mediante  Consignação na próxima data de liquidação (“Arquivos Dataprev”) e/ou (b) os arquivos  eletrônicos disponibilizados mensalmente pela CEF ao Endossante, contendo os pagamentos  de Saque-aniversário processados pela CEF no respectivo mês devidos à Classe, identificando  os Devedores e os valores que serão descontados de seus respectivos Saques-aniversário  (“Arquivos de Liquidação Saque-aniversário”) ao Custodiante dentro do prazo estabelecido  neste Anexo I, desde que esse não cumprimento não seja dev idamente sanado ou justificado  dentro de 5 (cinco) Dias Úteis a partir do recebimento, pelo Endossante e/ou pelo Agente de  Retenção e Cobrança, de notificação, por escrito, enviada pelo Custodiante, inf ormando-o da  ocorrência do respectivo evento;</a:t>
            </a:r>
          </a:p>
          <a:p>
            <a:r>
              <a:t> (iv) não cumprimento, pelo Endossante e/ou pelo Agente de Retenção e Cobrança, de qualquer de  suas obrigações de entregar ao Gestor, ou a terceiros por ele indicados, os Documentos  Comprobatórios e Documentos Suporte relativos aos Direitos Creditórios que tenham sido  endossados à Classe, dentro do prazo estabelecido neste Anexo I, desde que esse não  cumprimento não seja devidamente sanado ou justificado dentro de 5 (cinco) Dias Úteis a partir  do recebimento, pelo Endossante e/ou pelo Agente de Retenção e Cobrança, de notificação,  por escrito, enviada pelo Custodiante, inf ormando- o da ocorrência do respectivo evento;</a:t>
            </a:r>
          </a:p>
          <a:p>
            <a:r>
              <a:t> (v) não cumprimento, pelo Agente de Retenção e Cobrança, de qualquer de suas obrigações  estabelecidas nos Contratos de Endosso, no Regulamento, neste Anexo I ou nos Contratos de  Retenção/Cobrança, desde que esse não cumprimento não seja devidamente sanado ou</a:t>
            </a:r>
          </a:p>
          <a:p>
            <a:r>
              <a:t>CNPJ 62552447000120 · Cross default e insolvência · Condição: Documentos atuais selecionados no inventário por categoria/escopo; a data documental isolada não comprova vigência jurídica.</a:t>
            </a:r>
          </a:p>
          <a:p>
            <a:r>
              <a:t>CNPJ 62552447000120 · Cross default e insolvência · Versão e prevalência: Documentos atuais selecionados no inventário por categoria/escopo; a data documental isolada não comprova vigência jurídica.</a:t>
            </a:r>
          </a:p>
          <a:p>
            <a:r>
              <a:t>CNPJ 63953620000165 · Cross default e insolvência · Anexo ao Regulamento · ID 1222863 · 2026-06-02 · versão 1 · p. 14 · 11.1 · https://fnet.bmfbovespa.com.br/fnet/publico/visualizarDocumento?id=1222863</a:t>
            </a:r>
          </a:p>
          <a:p>
            <a:r>
              <a:t>CNPJ 63953620000165 · Cross default e insolvência · Excerto da fonte:</a:t>
            </a:r>
          </a:p>
          <a:p>
            <a:r>
              <a:t>11.1 As seguintes hipóteses são consideradas eventos de avaliação (“Eventos de Avaliação”):</a:t>
            </a:r>
          </a:p>
          <a:p>
            <a:r>
              <a:t> (i) em caso de regime de administração especial temporária - RAET, intervenção ou liquidação extrajudicial  do Endossante;</a:t>
            </a:r>
          </a:p>
          <a:p>
            <a:r>
              <a:t> (ii) em caso de desenquadramento do Índice de Subordinação por 10 (dez) dias úteis consecutivos;</a:t>
            </a:r>
          </a:p>
          <a:p>
            <a:r>
              <a:t> (iii) não cumprimento, pelo Endossante, de qualquer de suas obrigações estabelecidas no Contrato de  Endosso ou neste Anexo I, desde que esse não cumprimento não seja devidamente sanado ou justificado  dentro de 10 (dez) Dias Úteis a partir do recebimento, pelo Endossante, de notificação, por escrito,  enviada pelo Administrador, informando-o da ocorrência do respectivo evento;</a:t>
            </a:r>
          </a:p>
          <a:p>
            <a:r>
              <a:t> (iv) não cumprimento, pelo Endossante, de sua obrigação de entregar os Arquivos Dataprev ao Gestor e ao  Custodiante dentro do prazo estabelecido neste Anexo, desde que esse não cumprimento não seja  devidamente sanado ou justificado dentro de 02 (dois) Dias Úteis a partir do recebimento, pelo  Endossante, de notificação, por escrito, enviada pelo Gestor, informando-o da ocorrência do respectivo  evento;</a:t>
            </a:r>
          </a:p>
          <a:p>
            <a:r>
              <a:t> (v) não cumprimento, pelo Endossante, de qualquer de suas obrigações de entregar ao Gestor e/o ao  Custodiante, ou a terceiros por ele indicados, os Documentos Comprobatórios e Documentos Suporte  relativos aos Direitos Creditórios que tenham sido endossados à Classe, dentro do prazo estabelecido  neste Anexo I, desde que esse não cumprimento não seja devidamente sanado ou justificado dentro de  02 (dois) Dias Úteis a partir do recebimento, pelo Endossante, de notificação, por escrito, enviada pelo  Gestor e/ou Custodiante, informando- o da ocorrência do respectivo evento;</a:t>
            </a:r>
          </a:p>
          <a:p>
            <a:r>
              <a:t> (vi) não cumprimento, pelo Agente de Retenção/Cobrança, de qualquer de suas obrigações estabelecidas  no Contrato de Endosso, neste Regulamento ou no Contrato de Serviços MT, desde que esse não  cumprimento não seja devidamente sanado ou justificado dentro de 10 (dez) Dias Úteis a partir do  recebimento, pelo Agente de Retenção/Cobrança, de notificação, por escrito, enviada pelo Gestor,  informando-o da ocorrência do respectivo evento;</a:t>
            </a:r>
          </a:p>
          <a:p>
            <a:r>
              <a:t>CNPJ 63953620000165 · Cross default e insolvência · Condição: Documentos atuais selecionados no inventário por categoria/escopo; a data documental isolada não comprova vigência jurídica.</a:t>
            </a:r>
          </a:p>
          <a:p>
            <a:r>
              <a:t>CNPJ 63953620000165 · Cross default e insolvência · Versão e prevalência: Documentos atuais selecionados no inventário por categoria/escopo; a data documental isolada não comprova vigência jurídica.</a:t>
            </a:r>
          </a:p>
          <a:p>
            <a:r>
              <a:t>CNPJ 54871427000194 · Gatilhos de avaliação e liquidação · Regulamento · ID 670691 · 2024-04-28 · versão 1 · p. 17 · 10.2 · https://fnet.bmfbovespa.com.br/fnet/publico/visualizarDocumento?id=670691</a:t>
            </a:r>
          </a:p>
          <a:p>
            <a:r>
              <a:t>CNPJ 54871427000194 · Gatilhos de avaliação e liquidação · Excerto da fonte:</a:t>
            </a:r>
          </a:p>
          <a:p>
            <a:r>
              <a:t>10.2 A Assembleia Especial de Cotistas é responsável por deliberar sobre as matérias específicas da Classe  de Cotas, sem prejuízo das demais disposições previstas na regulamentação aplicável, incluindo, mas  não se limitando a:</a:t>
            </a:r>
          </a:p>
          <a:p>
            <a:r>
              <a:t> (i) deliberar sobre as demonstrações contábeis da Classe;</a:t>
            </a:r>
          </a:p>
          <a:p>
            <a:r>
              <a:t> (ii) deliberar sobre substituição de Prestadores de Serviços Essenciais, observado o disposto no  art. 70, §1º da parte geral da Resolução CVM 175;</a:t>
            </a:r>
          </a:p>
          <a:p>
            <a:r>
              <a:t> (iii) deliberar sobre elevação da Taxa de Administração, inclusive na hipótese de restabelecimento  de taxa que tenha sido objeto de redução;</a:t>
            </a:r>
          </a:p>
          <a:p>
            <a:r>
              <a:t> (iv) deliberar sobre incorporação, f usão, cisão total ou parcial, a transf ormação ou liquidação da  Classe;</a:t>
            </a:r>
          </a:p>
          <a:p>
            <a:r>
              <a:t> (v) alterações das características, vantagens, direitos e obrigações das Cotas;</a:t>
            </a:r>
          </a:p>
          <a:p>
            <a:r>
              <a:t> (vi) alterar critérios e procedimentos para Amortização e/ou resgate de Cotas mediante dação em  pagamento de Direitos Creditórios;</a:t>
            </a:r>
          </a:p>
          <a:p>
            <a:r>
              <a:t> (vii) aprovar a contratação de Agente de Cobrança dos Direitos Creditórios;</a:t>
            </a:r>
          </a:p>
          <a:p>
            <a:r>
              <a:t> (viii) aprovar emissão de novas Cotas da Classe;</a:t>
            </a:r>
          </a:p>
          <a:p>
            <a:r>
              <a:t> (ix) deliberar sobre a eventual necessidade de aportes adicionais de recursos na Classe pelos  Cotistas;</a:t>
            </a:r>
          </a:p>
          <a:p>
            <a:r>
              <a:t> (x) alterações na Política de Investimentos;</a:t>
            </a:r>
          </a:p>
          <a:p>
            <a:r>
              <a:t> (xi) alterações nos Critérios de Elegibilidade;</a:t>
            </a:r>
          </a:p>
          <a:p>
            <a:r>
              <a:t> (xii) alteração dos Eventos de Avaliação, dos Eventos de Liquidação e/ou das consequências deles  decorrentes em f unção do previsto neste Regulamento;</a:t>
            </a:r>
          </a:p>
          <a:p>
            <a:r>
              <a:t> (xiii) plano de resolução do Patrimônio Líquido negativo da Classe, nos termos da Resolução CVM  175; e</a:t>
            </a:r>
          </a:p>
          <a:p>
            <a:r>
              <a:t> (xiv) pedido de declaração judicial de insolvência da Classe.</a:t>
            </a:r>
          </a:p>
          <a:p>
            <a:r>
              <a:t>CAPÍTULO 11 – EVENTOS DE AVALIAÇÃO, EVENTOS DE LIQUIDAÇÃO, E PROCEDIMENTOS DE LIQUIDAÇÃO ANTECIPADA Eventos de Avaliação</a:t>
            </a:r>
          </a:p>
          <a:p>
            <a:r>
              <a:t>CNPJ 54871427000194 · Gatilhos de avaliação e liquidação · Regulamento · ID 670691 · 2024-04-28 · versão 1 · p. 19 · 11.2 · https://fnet.bmfbovespa.com.br/fnet/publico/visualizarDocumento?id=670691</a:t>
            </a:r>
          </a:p>
          <a:p>
            <a:r>
              <a:t>CNPJ 54871427000194 · Gatilhos de avaliação e liquidação · Excerto da fonte:</a:t>
            </a:r>
          </a:p>
          <a:p>
            <a:r>
              <a:t>11.2 Os seguintes eventos obrigarão o ADMINISTRADOR a verificar se o Patrimônio Líquido da Classe está  negativo:</a:t>
            </a:r>
          </a:p>
          <a:p>
            <a:r>
              <a:t> (i) qualquer pedido de declaração judicial de insolvência da Classe; e</a:t>
            </a:r>
          </a:p>
          <a:p>
            <a:r>
              <a:t> (ii) na ocorrência de quaisquer dos Eventos de Avaliação e/ou Eventos de Liquidação .</a:t>
            </a:r>
          </a:p>
          <a:p>
            <a:r>
              <a:t>Eventos de Liquidação</a:t>
            </a:r>
          </a:p>
          <a:p>
            <a:r>
              <a:t>CNPJ 54871427000194 · Gatilhos de avaliação e liquidação · Condição: Documentos atuais selecionados no inventário por categoria/escopo; a data documental isolada não comprova vigência jurídica.</a:t>
            </a:r>
          </a:p>
          <a:p>
            <a:r>
              <a:t>CNPJ 54871427000194 · Gatilhos de avaliação e liquidação · Versão e prevalência: Documentos atuais selecionados no inventário por categoria/escopo; a data documental isolada não comprova vigência jurídica.</a:t>
            </a:r>
          </a:p>
          <a:p>
            <a:r>
              <a:t>CNPJ 54871427000194 · Gatilhos de avaliação e liquidação · Resumo do histórico: {"count": 2, "dates": ["2024-04-19", "2024-04-28"], "document_count": 2, "sources": [{"document_id": "670691", "title": "Regulamento", "reference_date": "2024-04-28", "version": "1", "page": "17-20", "url": "https://fnet.bmfbovespa.com.br/fnet/publico/visualizarDocumento?id=670691", "sha256": "bf16dd7f1a62d5cdbf2e2d54fef81783783f7310fbc99c3a8f00459bdf9d037b"}, {"document_id": "670689", "title": "Regulamento", "reference_date": "2024-04-19", "version": "1", "page": 17, "clause": "10.2", "url": "https://fnet.bmfbovespa.com.br/fnet/publico/visualizarDocumento?id=670689", "sha256": "891bc9bc5d87bbc02ec139077a84d2702eb81ea02035fb71d24f5b8366b94a0b"}], "reference": {"path": "history/54871427000194.json", "criterion_id": "legacy_events", "total_count": 2, "preview_count": 2, "full_text_deferred": true, "sha256": "35d7cd99be50c7287c9fb675cf4f2e736002315295a225a9efa79c8d9186d874"}}</a:t>
            </a:r>
          </a:p>
          <a:p>
            <a:r>
              <a:t>CNPJ 60010416000112 · Gatilhos de avaliação e liquidação · Regulamento · ID 1051393 · 2025-10-09 · versão 1 · p. 21 · 10.2 · https://fnet.bmfbovespa.com.br/fnet/publico/visualizarDocumento?id=1051393</a:t>
            </a:r>
          </a:p>
          <a:p>
            <a:r>
              <a:t>CNPJ 60010416000112 · Gatilhos de avaliação e liquidação · Excerto da fonte:</a:t>
            </a:r>
          </a:p>
          <a:p>
            <a:r>
              <a:t>10.2 Os seguintes eventos obrigarão o Administrador a verif icar se o Patrimônio Líquido da Classe está  negativo:</a:t>
            </a:r>
          </a:p>
          <a:p>
            <a:r>
              <a:t> (i) qualquer pedido de declaração judicial de insolvência da Classe;</a:t>
            </a:r>
          </a:p>
          <a:p>
            <a:r>
              <a:t> (ii) identificação de indícios de f raudes envolvendo o lastro de Direitos Creditórios que representem, no  mínimo 0,5 (cinco décimos por cento) do Patrimônio Líquido da Classe;</a:t>
            </a:r>
          </a:p>
          <a:p>
            <a:r>
              <a:t> (iii) inadimplência de obrigações financeiras de devedor e/ou emissor de ativos detidos pela Classe que  representem mais de 25% (vinte e cinco por cento)de seu Patrimônio Líquido;</a:t>
            </a:r>
          </a:p>
          <a:p>
            <a:r>
              <a:t> (iv) pedido de recuperação extrajudicial, de recuperação judicial, ou de falência de Devedor e/ou emissor  de ativos detidos pela Classe;</a:t>
            </a:r>
          </a:p>
          <a:p>
            <a:r>
              <a:t> (v) condenação da Classe de natureza judicial e/ou arbitral e/ou administrativa e/ou outras similares ao  pagamento de mais de 20% (vinte por cento) de seu Patrimônio Líquido; e</a:t>
            </a:r>
          </a:p>
          <a:p>
            <a:r>
              <a:t> (vi) caso caracterizado quaisquer dos Eventos de Liquidação.</a:t>
            </a:r>
          </a:p>
          <a:p>
            <a:r>
              <a:t>Eventos de Liquidação</a:t>
            </a:r>
          </a:p>
          <a:p>
            <a:r>
              <a:t>CNPJ 60010416000112 · Gatilhos de avaliação e liquidação · Regulamento · ID 1051393 · 2025-10-09 · versão 1 · p. 21 · 10.3 · https://fnet.bmfbovespa.com.br/fnet/publico/visualizarDocumento?id=1051393</a:t>
            </a:r>
          </a:p>
          <a:p>
            <a:r>
              <a:t>CNPJ 60010416000112 · Gatilhos de avaliação e liquidação · Excerto da fonte:</a:t>
            </a:r>
          </a:p>
          <a:p>
            <a:r>
              <a:t>10.3 As seguintes hipóteses são consideradas Eventos de Liquidação:</a:t>
            </a:r>
          </a:p>
          <a:p>
            <a:r>
              <a:t> (i) caso seja deliberado em Assembleia de Cotistas que um Evento de Avaliação constitui um Evento de  Liquidação;</a:t>
            </a:r>
          </a:p>
          <a:p>
            <a:r>
              <a:t> (ii) na hipótese de resilição do Contrato de Custódia ou renúncia do Custodiante, sem que tenha havido  sua substituição por outra instituição, de acordo com os procedimentos estabelecidos neste  Regulamento;</a:t>
            </a:r>
          </a:p>
          <a:p>
            <a:r>
              <a:t> (iii) renúncia do Administrador sem que a Assembleia Especial de Cotistas eficazmente nomeie instituição  habilitada para substituí-lo, nos termos estabelecidos neste Regulamento;</a:t>
            </a:r>
          </a:p>
          <a:p>
            <a:r>
              <a:t> (iv) por determinação da CVM, em caso de violação de normas legais ou regulamentares;</a:t>
            </a:r>
          </a:p>
          <a:p>
            <a:r>
              <a:t> (v) sempre que assim decidido pelos Cotistas em Assembleia Especial de Cotistas especialmente  convocada para tal f im;</a:t>
            </a:r>
          </a:p>
          <a:p>
            <a:r>
              <a:t> (vi) em caso de regime de administração especial temporária - RAET, intervenção ou liquidação  extrajudicial, conforme aplicável, do Custodiante, Administrador, ou Gestor, sem a sua ef etiva  substituição nos termos deste Regulamento;</a:t>
            </a:r>
          </a:p>
          <a:p>
            <a:r>
              <a:t> (vii) se, após 90 (noventa) dias do início das atividades do Fundo, o Patrimônio Líquido diário inf erior da  Classe f or inf erior a R$ 1.000.000,00 (um milhão de reais) pelo período de 90 (noventa) dias  consecutivos;</a:t>
            </a:r>
          </a:p>
          <a:p>
            <a:r>
              <a:t> (viii) impossibilidade da Classe adquirir Direitos Creditórios admitidos por sua política de investimento.</a:t>
            </a:r>
          </a:p>
          <a:p>
            <a:r>
              <a:t>Procedimentos de Liquidação Antecipada</a:t>
            </a:r>
          </a:p>
          <a:p>
            <a:r>
              <a:t>CNPJ 60010416000112 · Gatilhos de avaliação e liquidação · Regulamento · ID 1051393 · 2025-10-09 · versão 1 · p. 38 · https://fnet.bmfbovespa.com.br/fnet/publico/visualizarDocumento?id=1051393</a:t>
            </a:r>
          </a:p>
          <a:p>
            <a:r>
              <a:t>CNPJ 60010416000112 · Gatilhos de avaliação e liquidação · Excerto da fonte:</a:t>
            </a:r>
          </a:p>
          <a:p>
            <a:r>
              <a:t>Anexo I ao Regulamento CLASSE ÚNICA DO MT I CONSIGNADO PRIVADO I FUNDO DE INVESTIMENTO EM DIREITOS CREDITÓRIOS RESPONSABILIDADE LIMITADA  deixar de produzir os efeitos pretendidos, bem como causar perdas para o Cotista e colocar  em risco o patrimônio da Classe</a:t>
            </a:r>
          </a:p>
          <a:p>
            <a:r>
              <a:t> (iii) Risco decorrente da amortização das Cotas: conforme previsto neste Anexo I, as Cotas  poderão ser amortizadas conf orme deliberado pela em Assembleia de Cotistas.</a:t>
            </a:r>
          </a:p>
          <a:p>
            <a:r>
              <a:t> Considerando que a realização da amortização dependerá do caixa existente na Classe, é  possível que, se essa condição não seja verif icada, a Classe não poderá ef etuar as  amortizações das Cotas conforme deliberadas pelos Cotistas. A Classe, o Administrador, o  Custodiante, o Gestor, o Agente de Retenção/Cobrança, o Coordenador Líder ou o  Endossante não terão direito a nenhuma multa ou penalidade, por qualquer motivo, devido a  esse f ato.</a:t>
            </a:r>
          </a:p>
          <a:p>
            <a:r>
              <a:t> (iv) Risco de invalidade ou ineficácia do endosso: o endosso dos Direitos Creditórios à Classe  poderá ser invalidada ou considerada ineficaz, o que impacta negativamente o patrimônio da  Classe, no caso de (a) fraude contra credores, se no momento do endosso o Endossante for  insolvente ou se ele vier a se tornar insolvente; (b) fraude à execução, se (1) no momento do  endosso o Endossante f or réu em um processo judicial capaz de torná-lo insolvente; ou (2)  os Direitos Creditórios endossados à Classe estiverem sujeitos a qualquer demanda judicial  baseada em garantia real; e (c) f raude à execução f iscal, se o Endossante, ao celebrar o  endosso de crédito, como contribuinte por débito à Fazenda Pública, e crédito f iscal  regularmente inscrito na dívida ativa, não tiver ativos para pagamento total da dívida f iscal.</a:t>
            </a:r>
          </a:p>
          <a:p>
            <a:r>
              <a:t> Entretanto, o Administrador, o Custodiante, o Gestor e o Agente de Retenção/ Cobrança não  verif icarão os eventos acima no endosso de Direito Creditório e não serão responsabilizados  em caso de invalidação ou inef icácia do endosso de um Direito Creditório à Classe.</a:t>
            </a:r>
          </a:p>
          <a:p>
            <a:r>
              <a:t> (v) Risco de impugnação judicial: a CCB poderá ser impugnada judicialmente tanto no que diz  respeito à sua f ormalização quanto às taxas aplicadas e à f orma de cobrança da CCB,  inclusive em virtude das disposições estabelecidas na Lei nº 8.078, de 11 de setembro de  1990, conf orme alterada (Código de Def esa do Consumidor), tais como uma possível  impugnação de cláusula abusiva, bem como qualquer vício nos Documentos Comprobatórios  ou Documentos Suporte que impeçam a exigibilidade do crédito (ausência de assinaturas ou  f alta de prova de f ormalização regular do instrumento, representação ilegítima, dentre  outros). Nesses casos, a CCB poderá ser modificada ou cancelada em virtude de decisão  judicial, o que poderá acarretar perdas para a Classe e, consequentemente, af etar  negativamente a rentabilidade de seu patrimônio.</a:t>
            </a:r>
          </a:p>
          <a:p>
            <a:r>
              <a:t> (vi) Risco de restrições de natureza legal ou regulamentar: a Classe pode estar sujeito a  riscos, além do controle do Administrador, decorrentes de quaisquer restrições f uturas de  natureza legal e/ou regulamentar que venham a af etar a validade da constituição e/ou o  endosso dos Direitos Creditórios à Classe. Caso essas restrições ocorram, o f luxo de  cessões de Direitos Creditórios à Classe pode ser interrompido e, portanto, pode  comprometer a continuidade da Classe e a perspectiva de investimento do Cotista. Além  disso, os Direitos Creditórios que já estão na Carteira podem ter sua validade questionada,  o que pode causar, portanto, prejuízos ao Cotista.</a:t>
            </a:r>
          </a:p>
          <a:p>
            <a:r>
              <a:t> (vii) Risco de não obter um tratamento fiscal mais benéfico: o Gestor deverá envidar seus  melhores esforços para que o tratamento f iscal aplicável às classes de longo prazo seja  aplicado à Classe e ao Cotista. Entretanto, em virtude de eventos fora do controle do Gestor,  incluindo, mas não se limitando aos eventos de liquidação antecipada da Classe  estabelecidos neste Anexo I, é possível que a Classe e o Cotista não desfrutem de tratamento  f iscal mais benéf ico, atribuído às classes de longo prazo. Essa situação pode levar a um  impacto adverso na rentabilidade líquida decorrente do investimento nas Cotas.</a:t>
            </a:r>
          </a:p>
          <a:p>
            <a:r>
              <a:t> (viii) Risco de bloqueio da Conta de Cobrança da Classe ou da Conta de Movimentação da  Classe: os recursos provenientes da Classe serão direcionados para a Conta de Cobrança BTG Pactual SAC: 0800 772 28 27 - Ouvidoria: 0800 722 00 48 - btgpactual.com 38</a:t>
            </a:r>
          </a:p>
          <a:p>
            <a:r>
              <a:t>CNPJ 60010416000112 · Gatilhos de avaliação e liquidação · Condição: Documentos atuais selecionados no inventário por categoria/escopo; a data documental isolada não comprova vigência jurídica.</a:t>
            </a:r>
          </a:p>
          <a:p>
            <a:r>
              <a:t>CNPJ 60010416000112 · Gatilhos de avaliação e liquidação · Versão e prevalência: Documentos atuais selecionados no inventário por categoria/escopo; a data documental isolada não comprova vigência jurídica.</a:t>
            </a:r>
          </a:p>
          <a:p>
            <a:r>
              <a:t>CNPJ 60010416000112 · Gatilhos de avaliação e liquidação · Resumo do histórico: {"count": 2, "dates": ["2025-03-20", "2025-10-09"], "document_count": 2, "sources": [{"document_id": "1051393", "title": "Regulamento", "reference_date": "2025-10-09", "version": "1", "page": "19-22", "url": "https://fnet.bmfbovespa.com.br/fnet/publico/visualizarDocumento?id=1051393", "sha256": "8469d613078ffd5a6c1d217885d8a397a16342c0b937ae4aa24b106505f233ae"}, {"document_id": "993786", "title": "Regulamento", "reference_date": "2025-03-20", "version": "1", "page": 21, "clause": "10.2", "url": "https://fnet.bmfbovespa.com.br/fnet/publico/visualizarDocumento?id=993786", "sha256": "fd0fdd369a195510d81f81f505195a0b09e5f43522a990afa7d58c4f872921c8"}], "reference": {"path": "history/60010416000112.json", "criterion_id": "legacy_events", "total_count": 2, "preview_count": 2, "full_text_deferred": true, "sha256": "8e2bd813f4c51cf01f6bfaad164bafe69d2bbb192f753eac92da3a01c2e63046"}}</a:t>
            </a:r>
          </a:p>
          <a:p>
            <a:r>
              <a:t>CNPJ 62696791000193 · Gatilhos de avaliação e liquidação · Regulamento · ID 1143317 · 2026-03-20 · versão 1 · p. 37 · 5.1 · https://fnet.bmfbovespa.com.br/fnet/publico/visualizarDocumento?id=1143317</a:t>
            </a:r>
          </a:p>
          <a:p>
            <a:r>
              <a:t>CNPJ 62696791000193 · Gatilhos de avaliação e liquidação · Excerto da fonte:</a:t>
            </a:r>
          </a:p>
          <a:p>
            <a:r>
              <a:t>5.1. Verif icado excesso de subordinação, ou seja, que a representatividade de Cotas Júnior em relação ao  Patrimônio Líquido da Classe é superior ao Índice de Subordinação (“Excesso de Subordinação”), desde  que assim seja deliberado por maioria dos votos de seus titulares e da maioria dos titulares de Cotas  Seniores, as Cotas Juniores poderão ser objeto de Amortização Extraordinária até o limite do respectivos  Excesso de Subordinação– ainda que tal Amortização Extraordinária ocorra antes do resgate integral das  Cotas Seniores– desde que: (i) seja observada a ordem de alocação de recursos definida no item 6.1  acima Anexo; (ii) não existam Obrigações da Classe vencidas e não pagas; (iii) não estejam em curso  quaisquer Eventos de Avaliação e/ou Eventos de Liquidação; (iv) existam suficientes Ativos Financeiros  e/ou recursos disponíveis; e (vii) permaneçam atendidas todos os Índices de Subordinação.</a:t>
            </a:r>
          </a:p>
          <a:p>
            <a:r>
              <a:t>6. Negociação das Cotas</a:t>
            </a:r>
          </a:p>
          <a:p>
            <a:r>
              <a:t>CNPJ 62696791000193 · Gatilhos de avaliação e liquidação · Condição: Documentos atuais selecionados no inventário por categoria/escopo; a data documental isolada não comprova vigência jurídica.</a:t>
            </a:r>
          </a:p>
          <a:p>
            <a:r>
              <a:t>CNPJ 62696791000193 · Gatilhos de avaliação e liquidação · Motivo: Cláusula primária localizada e citada, mas sua lista/condições extensas não admitem uma síntese literal curta confirmada. O trecho integral permanece nas fontes.</a:t>
            </a:r>
          </a:p>
          <a:p>
            <a:r>
              <a:t>CNPJ 62696791000193 · Gatilhos de avaliação e liquidação · Versão e prevalência: Documentos atuais selecionados no inventário por categoria/escopo; a data documental isolada não comprova vigência jurídica.</a:t>
            </a:r>
          </a:p>
          <a:p>
            <a:r>
              <a:t>CNPJ 55563624000109 · Gatilhos de avaliação e liquidação · Regulamento · ID 1192614 · 2026-04-30 · versão 1 · p. 21 · 11.2 · https://fnet.bmfbovespa.com.br/fnet/publico/visualizarDocumento?id=1192614</a:t>
            </a:r>
          </a:p>
          <a:p>
            <a:r>
              <a:t>CNPJ 55563624000109 · Gatilhos de avaliação e liquidação · Excerto da fonte:</a:t>
            </a:r>
          </a:p>
          <a:p>
            <a:r>
              <a:t>11.2 Os seguintes eventos obrigarão o ADMINISTRADOR a verificar se o Patrimônio Líquido da Classe está negativo  (“Eventos de Verificação do Patrimônio”):</a:t>
            </a:r>
          </a:p>
          <a:p>
            <a:r>
              <a:t> (i) qualquer pedido de declaração judicial de insolvência da Classe;</a:t>
            </a:r>
          </a:p>
          <a:p>
            <a:r>
              <a:t> (ii) qualquer pedido ou declaração judicial de insolvência da Classe Investida;</a:t>
            </a:r>
          </a:p>
          <a:p>
            <a:r>
              <a:t> (iii) identificação de indícios de fraudes envolvendo o lastro dos direitos creditórios da Classe Investida;</a:t>
            </a:r>
          </a:p>
          <a:p>
            <a:r>
              <a:t> (iv) condenação da Classe de natureza judicial e/ou arbitral e/ou administrativa e/ou outras similares ao  pagamento de mais de 20% (vinte por cento) de seu Patrimônio Líquido; e</a:t>
            </a:r>
          </a:p>
          <a:p>
            <a:r>
              <a:t> (v) caso caracterizado quaisquer dos Eventos de Avaliação e/ou Eventos de Liquidação.</a:t>
            </a:r>
          </a:p>
          <a:p>
            <a:r>
              <a:t> Eventos de Liquidação</a:t>
            </a:r>
          </a:p>
          <a:p>
            <a:r>
              <a:t>CNPJ 55563624000109 · Gatilhos de avaliação e liquidação · Regulamento · ID 1192614 · 2026-04-30 · versão 1 · p. 20 · https://fnet.bmfbovespa.com.br/fnet/publico/visualizarDocumento?id=1192614</a:t>
            </a:r>
          </a:p>
          <a:p>
            <a:r>
              <a:t>CNPJ 55563624000109 · Gatilhos de avaliação e liquidação · Excerto da fonte:</a:t>
            </a:r>
          </a:p>
          <a:p>
            <a:r>
              <a:t>(vi) alterar as características, vantagens, direitos e obrigações 90% (noventa por cento) do total das Cotas  das Cotas; emitidas</a:t>
            </a:r>
          </a:p>
          <a:p>
            <a:r>
              <a:t> (vii) alterar critérios e procedimentos para resgate de Cotas  mediante dação em pagamento de Cotas da Classe Maioria do total das Cotas emitidas  Investida;</a:t>
            </a:r>
          </a:p>
          <a:p>
            <a:r>
              <a:t> (viii) aprovar a emissão de novas Cotas fora do Capital  Maioria do total das Cotas emitidas  Autorizado;</a:t>
            </a:r>
          </a:p>
          <a:p>
            <a:r>
              <a:t> (ix) alterar a Política de Investimentos; 90% (noventa por cento) do total das Cotas  emitidas</a:t>
            </a:r>
          </a:p>
          <a:p>
            <a:r>
              <a:t> (x) alterar o Critério de Elegibilidade; 90% (noventa por cento) do total das Cotas  emitidas</a:t>
            </a:r>
          </a:p>
          <a:p>
            <a:r>
              <a:t> (xi) alterar os Eventos de Avaliação, os Eventos de Liquidação  90% (noventa por cento) do total das Cotas  e/ou das consequências deles decorrentes em função do  emitidas  previsto neste Anexo;</a:t>
            </a:r>
          </a:p>
          <a:p>
            <a:r>
              <a:t> (xii) deliberar sobre o plano de resolução do Patrimônio Líquido  Maioria do total das Cotas emitidas  negativo da Classe, nos termos da Resolução CVM 175; e</a:t>
            </a:r>
          </a:p>
          <a:p>
            <a:r>
              <a:t> (xiii) deliberar sobre o pedido de declaração judicial de 90% (noventa por cento) do total das Cotas  insolvência da Classe. emitidas</a:t>
            </a:r>
          </a:p>
          <a:p>
            <a:r>
              <a:t>CNPJ 55563624000109 · Gatilhos de avaliação e liquidação · Regulamento · ID 1192614 · 2026-04-30 · versão 1 · p. 2 · 1.3 · https://fnet.bmfbovespa.com.br/fnet/publico/visualizarDocumento?id=1192614</a:t>
            </a:r>
          </a:p>
          <a:p>
            <a:r>
              <a:t>CNPJ 55563624000109 · Gatilhos de avaliação e liquidação · Excerto da fonte:</a:t>
            </a:r>
          </a:p>
          <a:p>
            <a:r>
              <a:t>1.3 O Anexo dispõe, sem prejuízo de outros requisitos e informações previstos na regulamentação, sobre os  seguintes aspectos relacionados à Classe: (i) características gerais, incluindo a indicação dos demais prestadores  de serviços; (ii) responsabilidade dos cotistas e regime de insolvência; (iii) características, direitos, condições de  emissão, subscrição, integralização, amortização e resgate das Cotas; (iv) ordem de alocação de recursos; (v)  assembleia especial de cotistas e demais procedimentos aplicáveis às manifestações de vontade dos cotistas; (vi)  remuneração dos prestadores de serviços; (vii) política de investimento e composição e diversificação da  Carteira; (viii) eventos de avaliação, eventos de liquidação e procedimentos de liquidação antecipada da Classe;</a:t>
            </a:r>
          </a:p>
          <a:p>
            <a:r>
              <a:t> (ix) origem dos Direitos Creditórios; (x) Critério de Elegibilidade; (xi) custos referentes à defesa dos interesses da  Classe; e (xii) fatores de risco.</a:t>
            </a:r>
          </a:p>
          <a:p>
            <a:r>
              <a:t>CNPJ 55563624000109 · Gatilhos de avaliação e liquidação · Condição: Documentos atuais selecionados no inventário por categoria/escopo; a data documental isolada não comprova vigência jurídica.</a:t>
            </a:r>
          </a:p>
          <a:p>
            <a:r>
              <a:t>CNPJ 55563624000109 · Gatilhos de avaliação e liquidação · Versão e prevalência: Documentos atuais selecionados no inventário por categoria/escopo; a data documental isolada não comprova vigência jurídica.</a:t>
            </a:r>
          </a:p>
          <a:p>
            <a:r>
              <a:t>CNPJ 62552447000120 · Gatilhos de avaliação e liquidação · Regulamento · ID 1200623 · 2026-05-21 · versão 1 · p. 2 · 1.4 · https://fnet.bmfbovespa.com.br/fnet/publico/visualizarDocumento?id=1200623</a:t>
            </a:r>
          </a:p>
          <a:p>
            <a:r>
              <a:t>CNPJ 62552447000120 · Gatilhos de avaliação e liquidação · Excerto da fonte:</a:t>
            </a:r>
          </a:p>
          <a:p>
            <a:r>
              <a:t>1.4 O Anexo de cada classe de Cotas (“Classe”), conforme aplicável, dispõe, sem prejuízo de outros  requisitos e inf ormações previstos na regulamentação, sobre: (i) características gerais, incluindo a  indicação dos demais prestadores de serviços; (ii) responsabilidade dos Cotistas e regime de  insolvência; (iii) características, direitos, condições de emissão, subscrição, integralização,  Amortização e resgate das Cotas; (iv) ordem de alocação de recursos; (v) Assembleia Especial e  demais procedimentos aplicáveis às manifestações de vontade dos Cotistas; (vi) remuneração dos  prestadores de serviços; (vii) política de investimento e composição e diversificação da Carteira; (viii)  eventos de avaliação, eventos de liquidação e liquidação antecipada da Classe; (ix) origem dos direitos  creditórios; (x) critérios de elegibilidade; (xi) custos referentes à defesa dos interesses de cada Classe;</a:t>
            </a:r>
          </a:p>
          <a:p>
            <a:r>
              <a:t> e (xii) f atores de risco.</a:t>
            </a:r>
          </a:p>
          <a:p>
            <a:r>
              <a:t>CNPJ 62552447000120 · Gatilhos de avaliação e liquidação · Regulamento · ID 1200623 · 2026-05-21 · versão 1 · p. 21 · 10.2 · https://fnet.bmfbovespa.com.br/fnet/publico/visualizarDocumento?id=1200623</a:t>
            </a:r>
          </a:p>
          <a:p>
            <a:r>
              <a:t>CNPJ 62552447000120 · Gatilhos de avaliação e liquidação · Excerto da fonte:</a:t>
            </a:r>
          </a:p>
          <a:p>
            <a:r>
              <a:t>10.2 Os seguintes quóruns deverão ser observados pela Assembleia Especial ao deliberar as matérias  abaixo:</a:t>
            </a:r>
          </a:p>
          <a:p>
            <a:r>
              <a:t>(i) deliberar sobre substituição de Prestadores de Serviços Unanimidade dos Cotistas  Essenciais, observado o disposto no art. 70, §1º da Parte Geral  da Resolução CVM 175, quando aplicável;</a:t>
            </a:r>
          </a:p>
          <a:p>
            <a:r>
              <a:t>(ii) deliberar sobre elevação da Taxa Global, inclusive na Unanimidade dos Cotistas  hipótese de restabelecimento de taxa que tenha sido objeto de  redução;</a:t>
            </a:r>
          </a:p>
          <a:p>
            <a:r>
              <a:t>(iii) deliberar sobre incorporação, fusão, cisão total ou parcial, Unanimidade dos Cotistas  a transf ormação ou liquidação da Classe;</a:t>
            </a:r>
          </a:p>
          <a:p>
            <a:r>
              <a:t>(iv) deliberar sobre a prestação de f iança, aval, aceite ou Unanimidade dos Cotistas  qualquer outra f orma de retenção de risco;</a:t>
            </a:r>
          </a:p>
          <a:p>
            <a:r>
              <a:t>(v) alterações das características, vantagens, direitos e Unanimidade dos Cotistas  obrigações das Cotas;</a:t>
            </a:r>
          </a:p>
          <a:p>
            <a:r>
              <a:t>(vi) alterar critérios e procedimentos para Amortização Unanimidade dos Cotistas  mediante dação em pagamento de Direitos Creditórios;</a:t>
            </a:r>
          </a:p>
          <a:p>
            <a:r>
              <a:t>(vii) aprovar emissão de novas Cotas; Unanimidade dos Cotistas</a:t>
            </a:r>
          </a:p>
          <a:p>
            <a:r>
              <a:t>(viii) alterações na Política de Investimentos; Unanimidade dos Cotistas</a:t>
            </a:r>
          </a:p>
          <a:p>
            <a:r>
              <a:t>(ix) alterações nos Critérios de Elegibilidade e nas Condições Unanimidade dos Cotistas  de Endosso;</a:t>
            </a:r>
          </a:p>
          <a:p>
            <a:r>
              <a:t>(x) alteração dos Eventos de Avaliação, dos Eventos de Unanimidade dos Cotistas  Liquidação e/ou das consequências deles decorrentes em  f unção do previsto neste Regulamento;</a:t>
            </a:r>
          </a:p>
          <a:p>
            <a:r>
              <a:t>(xi) plano de resolução do Patrimônio Líquido negativo da Unanimidade dos Cotistas  Classe, nos termos da Resolução CVM 175; e</a:t>
            </a:r>
          </a:p>
          <a:p>
            <a:r>
              <a:t>(xii) pedido de declaração judicial de insolvência da Classe. Unanimidade dos Cotistas</a:t>
            </a:r>
          </a:p>
          <a:p>
            <a:r>
              <a:t>CNPJ 62552447000120 · Gatilhos de avaliação e liquidação · Regulamento · ID 1200623 · 2026-05-21 · versão 1 · p. 22 · 11.1 · https://fnet.bmfbovespa.com.br/fnet/publico/visualizarDocumento?id=1200623</a:t>
            </a:r>
          </a:p>
          <a:p>
            <a:r>
              <a:t>CNPJ 62552447000120 · Gatilhos de avaliação e liquidação · Excerto da fonte:</a:t>
            </a:r>
          </a:p>
          <a:p>
            <a:r>
              <a:t>11.1 As seguintes hipóteses são consideradas eventos de avaliação (“Eventos de Avaliação”):</a:t>
            </a:r>
          </a:p>
          <a:p>
            <a:r>
              <a:t> (i) em caso de regime de administração especial temporária - RAET, intervenção ou liquidação  extrajudicial do Endossante, da instituição f inanceira prestadora dos serviços de agente de  conta vinculada à Classe (“Agente de Conta Vinculada”) e/ou do Agente de Retenção e  Cobrança;</a:t>
            </a:r>
          </a:p>
          <a:p>
            <a:r>
              <a:t> (ii) não cumprimento, pelo Endossante, de qualquer de suas obrigações estabelecidas nos  Contratos de Endosso, no Regulamento ou neste Anexo I, desde que esse não cumprimento  não seja devidamente sanado ou justificado dentro de 5 (cinco) Dias Úteis a partir do  recebimento, pelo Endossante, de notificação, por escrito, enviada pelo Administrador,  inf ormando-o da ocorrência do respectivo evento;</a:t>
            </a:r>
          </a:p>
          <a:p>
            <a:r>
              <a:t> (iii) não cumprimento, pelo Endossante e/ou pelo Agente de Retenção e Cobrança, de sua  obrigação de entregar os (a) arquivos eletrônicos disponibilizados mensalmente pela Dataprev  ao Endossante, contendo (1) as Consignações processadas pela Dataprev no respectivo mês,  identificando os Devedores e os valores que serão descontados de suas respectivas folhas de  pagamentos, bem como (2) a totalidade das operações pendentes de crédito consignado  concedidas pelo Endossante e indicando todos os Direitos Creditórios devi dos mediante  Consignação na próxima data de liquidação (“Arquivos Dataprev”) e/ou (b) os arquivos  eletrônicos disponibilizados mensalmente pela CEF ao Endossante, contendo os pagamentos  de Saque-aniversário processados pela CEF no respectivo mês devidos à Classe, identificando  os Devedores e os valores que serão descontados de seus respectivos Saques-aniversário  (“Arquivos de Liquidação Saque-aniversário”) ao Custodiante dentro do prazo estabelecido  neste Anexo I, desde que esse não cumprimento não seja dev idamente sanado ou justificado  dentro de 5 (cinco) Dias Úteis a partir do recebimento, pelo Endossante e/ou pelo Agente de  Retenção e Cobrança, de notificação, por escrito, enviada pelo Custodiante, inf ormando-o da  ocorrência do respectivo evento;</a:t>
            </a:r>
          </a:p>
          <a:p>
            <a:r>
              <a:t> (iv) não cumprimento, pelo Endossante e/ou pelo Agente de Retenção e Cobrança, de qualquer de  suas obrigações de entregar ao Gestor, ou a terceiros por ele indicados, os Documentos  Comprobatórios e Documentos Suporte relativos aos Direitos Creditórios que tenham sido  endossados à Classe, dentro do prazo estabelecido neste Anexo I, desde que esse não  cumprimento não seja devidamente sanado ou justificado dentro de 5 (cinco) Dias Úteis a partir  do recebimento, pelo Endossante e/ou pelo Agente de Retenção e Cobrança, de notificação,  por escrito, enviada pelo Custodiante, inf ormando- o da ocorrência do respectivo evento;</a:t>
            </a:r>
          </a:p>
          <a:p>
            <a:r>
              <a:t> (v) não cumprimento, pelo Agente de Retenção e Cobrança, de qualquer de suas obrigações  estabelecidas nos Contratos de Endosso, no Regulamento, neste Anexo I ou nos Contratos de  Retenção/Cobrança, desde que esse não cumprimento não seja devidamente sanado ou</a:t>
            </a:r>
          </a:p>
          <a:p>
            <a:r>
              <a:t>CNPJ 62552447000120 · Gatilhos de avaliação e liquidação · Condição: Documentos atuais selecionados no inventário por categoria/escopo; a data documental isolada não comprova vigência jurídica.</a:t>
            </a:r>
          </a:p>
          <a:p>
            <a:r>
              <a:t>CNPJ 62552447000120 · Gatilhos de avaliação e liquidação · Versão e prevalência: Documentos atuais selecionados no inventário por categoria/escopo; a data documental isolada não comprova vigência jurídica.</a:t>
            </a:r>
          </a:p>
          <a:p>
            <a:r>
              <a:t>CNPJ 63953620000165 · Gatilhos de avaliação e liquidação · Anexo ao Regulamento · ID 1222863 · 2026-06-02 · versão 1 · p. 24 · 4.1 · https://fnet.bmfbovespa.com.br/fnet/publico/visualizarDocumento?id=1222863</a:t>
            </a:r>
          </a:p>
          <a:p>
            <a:r>
              <a:t>CNPJ 63953620000165 · Gatilhos de avaliação e liquidação · Excerto da fonte:</a:t>
            </a:r>
          </a:p>
          <a:p>
            <a:r>
              <a:t>4.1. Verificado que o Índice de Subordinação Alvo é atendido, ou seja, que a representatividade de Cotas Subordinadas  em relação ao Patrimônio Líquido da Classe é superior à 10,00% (dez por cento) (“Índice de Subordinação Alvo”), as  Cotas Subordinadas poderão ser objeto de Amortização Extraordinária até o limite excedente ao Índice de  Subordinação Alvo– ainda que tal Amortização Extraordinária ocorra antes do resgate integral das Cotas Seniores –  desde que: (i) seja observada a ordem de alocação de recursos definida no item 8.1 acima Anexo; (ii) não existam  Obrigações da Classe vencidas e não pagas; (iii) não estejam em curso quaisquer Eventos de Avaliação e/ou Eventos  de Liquidação; (iv) existam suficientes Ativos Financeiros e/ou recursos disponíveis; e (vii) permaneçam atendidas  todos os Índices de Subordinação.</a:t>
            </a:r>
          </a:p>
          <a:p>
            <a:r>
              <a:t> 5. Amortização e Resgate das Cotas Subordinadas</a:t>
            </a:r>
          </a:p>
          <a:p>
            <a:r>
              <a:t>CNPJ 63953620000165 · Gatilhos de avaliação e liquidação · Anexo ao Regulamento · ID 1222863 · 2026-06-02 · versão 1 · p. 13 · 10.2 · https://fnet.bmfbovespa.com.br/fnet/publico/visualizarDocumento?id=1222863</a:t>
            </a:r>
          </a:p>
          <a:p>
            <a:r>
              <a:t>CNPJ 63953620000165 · Gatilhos de avaliação e liquidação · Excerto da fonte:</a:t>
            </a:r>
          </a:p>
          <a:p>
            <a:r>
              <a:t>10.2 Os seguintes quóruns deverão ser observados pela Assembleia Especial de Cotistas ao deliberar as matérias  abaixo:</a:t>
            </a:r>
          </a:p>
          <a:p>
            <a:r>
              <a:t> Matéria Quórum</a:t>
            </a:r>
          </a:p>
          <a:p>
            <a:r>
              <a:t> (i) deliberar sobre as demonstrações contábeis da Classe; Maioria das Cotas presentes</a:t>
            </a:r>
          </a:p>
          <a:p>
            <a:r>
              <a:t> (ii) alterar o presente Anexo; Maioria das Cotas de cada Subclasse</a:t>
            </a:r>
          </a:p>
          <a:p>
            <a:r>
              <a:t> (iii) deliberar sobre substituição de Prestadores de Serviços Maioria das Cotas da Classe  Essenciais, observado o disposto no Artigo 70, §1º da parte geral da  Resolução CVM 175, quando aplicável;</a:t>
            </a:r>
          </a:p>
          <a:p>
            <a:r>
              <a:t> (iv) deliberar sobre elevação da Taxa de Administração e/ou Taxa de Maioria das Cotas da de cada  Gestão, inclusive na hipótese de restabelecimento de taxa que tenha Subclasse  sido objeto de redução;</a:t>
            </a:r>
          </a:p>
          <a:p>
            <a:r>
              <a:t> (v) deliberar sobre incorporação, fusão, cisão total ou parcial, a Maioria das Cotas de cada Subclasse  transformação ou liquidação da Classe;</a:t>
            </a:r>
          </a:p>
          <a:p>
            <a:r>
              <a:t> (vi) alterações das características, vantagens, direitos e obrigações Maioria das Cotas Subscritas da  das Cotas; Classe observado o disposto nos  itens 10.5 a 10.8 abaixo</a:t>
            </a:r>
          </a:p>
          <a:p>
            <a:r>
              <a:t> (vii) alterar critérios e procedimentos para Amortização mediante Maioria das Cotas Subscritas da  dação em pagamento de Direitos Creditórios; Classe</a:t>
            </a:r>
          </a:p>
          <a:p>
            <a:r>
              <a:t> (viii) aprovar emissão de novas Cotas da Classe; Maioria das Cotas de cada Subclasse</a:t>
            </a:r>
          </a:p>
          <a:p>
            <a:r>
              <a:t> (ix) alterações na Política de Investimentos; Maioria das Cotas de cada Subclasse</a:t>
            </a:r>
          </a:p>
          <a:p>
            <a:r>
              <a:t> (x) alterações nos Critérios de Elegibilidade e nas Condições de Maioria das Cotas de cada Subclasse  Cessão;</a:t>
            </a:r>
          </a:p>
          <a:p>
            <a:r>
              <a:t> (xi) celebração e alteração de Contrato de Promessa de Endosso Maioria das Cotas de cada Subclasse  e/ou do Contrato de Retenção e Cobrança;</a:t>
            </a:r>
          </a:p>
          <a:p>
            <a:r>
              <a:t> (xii) alteração do Contrato de Conta Vinculada; Maioria das Cotas de cada Subclasse</a:t>
            </a:r>
          </a:p>
          <a:p>
            <a:r>
              <a:t> (xiii) alteração dos Eventos de Avaliação, dos Eventos de Liquidação Maioria das Cotas de cada Subclasse  e/ou das consequências deles decorrentes em função do previsto  neste Regulamento;</a:t>
            </a:r>
          </a:p>
          <a:p>
            <a:r>
              <a:t> (xiv) se um Evento de Avaliação constitui um Evento de Liquidação; Maioria das Cotas presentes</a:t>
            </a:r>
          </a:p>
          <a:p>
            <a:r>
              <a:t> (xv) plano de resolução do Patrimônio Líquido negativo da Classe, Maioria das Cotas presentes  nos termos da Resolução CVM 175; e</a:t>
            </a:r>
          </a:p>
          <a:p>
            <a:r>
              <a:t> (xvi) pedido de declaração judicial de insolvência da Classe. Maioria das Cotas presentes</a:t>
            </a:r>
          </a:p>
          <a:p>
            <a:r>
              <a:t> (xvii) alterações na disciplina, critérios de constituição, manutenção Maioria das Cotas de cada Subclasse  ou utilização da Reserva de Caixa, bem como deliberação acerca da</a:t>
            </a:r>
          </a:p>
          <a:p>
            <a:r>
              <a:t>CNPJ 63953620000165 · Gatilhos de avaliação e liquidação · Anexo ao Regulamento · ID 1222863 · 2026-06-02 · versão 1 · p. 14 · 10.8 · https://fnet.bmfbovespa.com.br/fnet/publico/visualizarDocumento?id=1222863</a:t>
            </a:r>
          </a:p>
          <a:p>
            <a:r>
              <a:t>CNPJ 63953620000165 · Gatilhos de avaliação e liquidação · Excerto da fonte:</a:t>
            </a:r>
          </a:p>
          <a:p>
            <a:r>
              <a:t>10.8 As deliberações que tenham por objeto o aumento do Índice de Subordinação Sênior apenas serão aprovadas se  assim deliberado: (i) pelos votos dos titulares da maioria das Cotas em circulação de cada uma das Séries de  Cotas Seniores; e (ii) pelo votos dos titulares da maioria Cotas Subordinadas em circulação.</a:t>
            </a:r>
          </a:p>
          <a:p>
            <a:r>
              <a:t> CAPÍTULO 11 – EVENTOS DE AVALIAÇÃO, EVENTOS DE LIQUIDAÇÃO, E PROCEDIMENTOS DE LIQUIDAÇÃO  Eventos de Avaliação</a:t>
            </a:r>
          </a:p>
          <a:p>
            <a:r>
              <a:t>CNPJ 63953620000165 · Gatilhos de avaliação e liquidação · Condição: Documentos atuais selecionados no inventário por categoria/escopo; a data documental isolada não comprova vigência jurídica.</a:t>
            </a:r>
          </a:p>
          <a:p>
            <a:r>
              <a:t>CNPJ 63953620000165 · Gatilhos de avaliação e liquidação · Versão e prevalência: Documentos atuais selecionados no inventário por categoria/escopo; a data documental isolada não comprova vigência jurídica.</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Eventos e cura</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Eventos de avaliação · Regulamento · ID 670691 · 28/04/2024 · versão Regulamento — referência 28/04/2024 · p. 17 · Anexo I, 11.1(i) · https://fnet.bmfbovespa.com.br/fnet/publico/visualizarDocumento?id=670691</a:t>
            </a:r>
          </a:p>
          <a:p>
            <a:r>
              <a:t>CNPJ 54871427000194 · Eventos de avaliação · Excerto da fonte:</a:t>
            </a:r>
          </a:p>
          <a:p>
            <a:r>
              <a:t>11.1 As seguintes hipóteses são consideradas Eventos de Avaliação: (i) em caso de regime de administração especial temporária – RAET, intervenção ou liquidação extrajudicial do Endossante ou do Agente de Garantias; BTG Pactual SAC: 0800 772 28 27 - Ouvidoria: 0800 722 00 48 - btgpactual.com 11</a:t>
            </a:r>
          </a:p>
          <a:p>
            <a:r>
              <a:t>CNPJ 54871427000194 · Eventos de avaliação · Regulamento · ID 670691 · 28/04/2024 · versão Regulamento — referência 28/04/2024 · p. 18 · Anexo I, 11.1(ii)–(viii) · https://fnet.bmfbovespa.com.br/fnet/publico/visualizarDocumento?id=670691</a:t>
            </a:r>
          </a:p>
          <a:p>
            <a:r>
              <a:t>CNPJ 54871427000194 · Eventos de avaliação · Excerto da fonte:</a:t>
            </a:r>
          </a:p>
          <a:p>
            <a:r>
              <a:t>(ii) não cumprimento, por qualquer dos Endossantes, de qualquer de suas obrigações estabelecidas em cada Contrato de Endosso ou neste Regulamento e Anexo, desde que esse não cumprimento não seja devidamente sanado ou justificado dentro de 10 (dez) Dias Úteis a partir do recebimento, pelo Endossante, de notificação, por escrito, enviada pelo Administrador, inf ormando-o da ocorrência do respectivo evento; (iii) não cumprimento, por qualquer dos Endossantes, de suas obrigações de entregar o Arquivo de Liquidação Antecipada e o Arquivo de Posição das CCBs ao CUSTODIANTE dentro do prazo estabelecido neste Regulamento, desde que esse não cumprimento não seja devidamente sanado ou justificado dentro dos prazos acordados no respectivo Contrato de Endosso, a partir do recebimento, pelos Endossantes, de notificação, por escrito, enviada pelo CUSTODIANTE, inf ormando-o da ocorrência do respectivo evento; (iv) não cumprimento, por qualquer dos Endossantes, de qualquer de suas obrigações de entregar ao CUSTODIANTE, ou a terceiros por ele indicados, os Documentos Comprobatórios relativos</a:t>
            </a:r>
          </a:p>
          <a:p>
            <a:r>
              <a:t>CNPJ 54871427000194 · Eventos de avaliação · Regulamento · ID 670691 · 28/04/2024 · versão Regulamento — referência 28/04/2024 · p. 19 · Anexo I, 11.1.1–11.1.3 · https://fnet.bmfbovespa.com.br/fnet/publico/visualizarDocumento?id=670691</a:t>
            </a:r>
          </a:p>
          <a:p>
            <a:r>
              <a:t>CNPJ 54871427000194 · Eventos de avaliação · Excerto da fonte:</a:t>
            </a:r>
          </a:p>
          <a:p>
            <a:r>
              <a:t>11.1.1 Na ocorrência de qualquer Evento de Avaliação, será convocada Assembleia Especial de Cotistas, para avaliar o grau de comprometimento das atividades d a Classe em razão do Evento de Avaliação, podendo a Assembleia Especial de Cotistas deliberar: (i) pela continuidade das atividades da Classe; ou (ii) que o Evento de Avaliação que deu causa à Assembleia Especial de Cotistas constitui um Evento de Liquidação, hipótese em que deverão ser deliberadas as matérias ref eridas no item 11.4.1 abaixo e adotados os procedimentos previstos no item 11.4.3 abaixo. 11.1.2 No momento de verificação de qualquer Evento de Avaliação, os procedimentos de aquisição de novos Direitos Creditórios deverão ser imediatamente interrompidos, até que: (i) seja prof erida decisão final em Assembleia Especial de Cotistas, convocada especificamente para este f im, nos termos do item 11.1.1 acima, autorizando a retomada dos procedimentos de aquisição de novos Direitos Creditórios e resgate das Cotas; e/ou (ii) seja sanado o Evento de Avaliação. 11.1.3 Na hipótese de não instalação da Assembleia Especial de Cotistas por f alta d</a:t>
            </a:r>
          </a:p>
          <a:p>
            <a:r>
              <a:t>CNPJ 54871427000194 · Eventos de avaliação · Versão e prevalência: Leitura específica das cláusulas indicadas; condições e conflitos preservados. Seleção documental atual não comprova vigência jurídica por data isolada.</a:t>
            </a:r>
          </a:p>
          <a:p>
            <a:r>
              <a:t>CNPJ 54871427000194 · Eventos de avaliação · Resumo do histórico: {"count": 1, "dates": ["2024-04-19"], "document_count": 1, "sources": [{"document_id": "670689", "title": "Regulamento", "reference_date": "2024-04-19", "version": "1", "page": 17, "clause": "10.2", "url": "https://fnet.bmfbovespa.com.br/fnet/publico/visualizarDocumento?id=670689", "sha256": "891bc9bc5d87bbc02ec139077a84d2702eb81ea02035fb71d24f5b8366b94a0b"}], "reference": {"path": "history/54871427000194.json", "criterion_id": "evaluation", "total_count": 1, "preview_count": 1, "full_text_deferred": true, "sha256": "35d7cd99be50c7287c9fb675cf4f2e736002315295a225a9efa79c8d9186d874"}}</a:t>
            </a:r>
          </a:p>
          <a:p>
            <a:r>
              <a:t>CNPJ 60010416000112 · Eventos de avaliação · Regulamento · ID 1051393 · 09/10/2025 · versão Regulamento09/10/2025 · p. 19 · AnexoI10.1(i)–(vii) · https://fnet.bmfbovespa.com.br/fnet/publico/visualizarDocumento?id=1051393</a:t>
            </a:r>
          </a:p>
          <a:p>
            <a:r>
              <a:t>CNPJ 60010416000112 · Eventos de avaliação · Excerto da fonte:</a:t>
            </a:r>
          </a:p>
          <a:p>
            <a:r>
              <a:t>10.1 As seguintes hipóteses são consideradas Eventos de Avaliação: (i) em caso de regime de administração especial temporária - RAET, intervenção ou liquidação extrajudicial do Endossante; (ii) em caso de desenquadramento do Índice de Subordinação por 10 (dez) dias úteis consecutivos; (iii) não cumprimento, pelo Endossante, de qualquer de suas obrigações estabelecidas no Contrato de Endosso ou neste Anexo I, desde que esse não cumprimento não seja devidamente sanado ou justif icado dentro de 10 (dez) Dias Úteis a partir do recebimento, pelo Endossante, de noti</a:t>
            </a:r>
          </a:p>
          <a:p>
            <a:r>
              <a:t>CNPJ 60010416000112 · Eventos de avaliação · Regulamento · ID 1051393 · 09/10/2025 · versão Regulamento09/10/2025 · p. 20 · AnexoI10.1(viii)–(xiv) · https://fnet.bmfbovespa.com.br/fnet/publico/visualizarDocumento?id=1051393</a:t>
            </a:r>
          </a:p>
          <a:p>
            <a:r>
              <a:t>CNPJ 60010416000112 · Eventos de avaliação · Excerto da fonte:</a:t>
            </a:r>
          </a:p>
          <a:p>
            <a:r>
              <a:t>(xiii) no caso de não serem realizados pagamentos de amortização e/ou resgate de Cotas Seniores, nos termos, prazos e condições previstos no presente Regulamento e nos respectivos Apêndices e Suplementos, não sanados em até 2 (dois) Dias Úteis contados do prazo final do respectivo evento; (xiv) no caso de pagamento de resgate e/ou amortização de Cotas Subordinadas em desacordo com os termos, prazos e condições previstos no presente Regulamento e no respectivo Apêndice. 10.1.1 Na ocorrência de qualquer Evento de Avaliação, será convocada Assembleia Especial de Cotistas,</a:t>
            </a:r>
          </a:p>
          <a:p>
            <a:r>
              <a:t>CNPJ 60010416000112 · Eventos de avaliação · Versão e prevalência: Leitura específica das cláusulas indicadas; condições e conflitos preservados. Seleção documental atual não comprova vigência jurídica por data isolada.</a:t>
            </a:r>
          </a:p>
          <a:p>
            <a:r>
              <a:t>CNPJ 60010416000112 · Eventos de avaliação · Resumo do histórico: {"count": 2, "dates": ["2025-03-20"], "document_count": 2, "sources": [{"document_id": "993785", "title": "Instrumento Particular de Constituição/Encerramento do Fundo", "reference_date": "2025-03-20", "version": "1", "page": 8, "url": "https://fnet.bmfbovespa.com.br/fnet/publico/visualizarDocumento?id=993785", "sha256": "0826e0eae2c51afabf59bbc49fc7647598d03da5ca6de0f9725850a8bd6af457"}, {"document_id": "993786", "title": "Regulamento", "reference_date": "2025-03-20", "version": "1", "page": 48, "clause": "2.1.2", "url": "https://fnet.bmfbovespa.com.br/fnet/publico/visualizarDocumento?id=993786", "sha256": "fd0fdd369a195510d81f81f505195a0b09e5f43522a990afa7d58c4f872921c8"}], "reference": {"path": "history/60010416000112.json", "criterion_id": "evaluation", "total_count": 2, "preview_count": 2, "full_text_deferred": true, "sha256": "8e2bd813f4c51cf01f6bfaad164bafe69d2bbb192f753eac92da3a01c2e63046"}}</a:t>
            </a:r>
          </a:p>
          <a:p>
            <a:r>
              <a:t>CNPJ 62696791000193 · Eventos de avaliação · Regulamento · ID 1143317 · 20/03/2026 · versão Regulamento — referência 20/03/2026 · p. 37 · Apêndice Júnior, 5.1(iii) · https://fnet.bmfbovespa.com.br/fnet/publico/visualizarDocumento?id=1143317</a:t>
            </a:r>
          </a:p>
          <a:p>
            <a:r>
              <a:t>CNPJ 62696791000193 · Eventos de avaliação · Excerto da fonte:</a:t>
            </a:r>
          </a:p>
          <a:p>
            <a:r>
              <a:t>5.1. Verif icado excesso de subordinação, ou seja, que a representatividade de Cotas Júnior em relação ao Patrimônio Líquido da Classe é superior ao Índice de Subordinação (“Excesso de Subordinação”), desde que assim seja deliberado por maioria dos votos de seus titulares e da maioria dos titulares de Cotas Seniores, as Cotas Juniores poderão ser objeto de Amortização Extraordinária até o limite do respectivos Excesso de Subordinação– ainda que tal Amortização Extraordinária ocorra antes do resgate integral das Cotas Seniores– desde que: (i) seja observada a ordem de alocação de recursos definida no item 6.1 acima Anexo; (ii) não existam Obrigações da Classe vencidas e não pagas; (iii) não estejam em curso quaisquer Eventos de Avaliação e/ou Eventos de Liquidação; (iv) existam suficientes Ativos Financeiros e/ou recursos disponíveis; e (vii) permaneçam atendidas todos os Índices de Subordinação. 6. Negociação das Cotas 6.1. As Cotas Subordinadas Juniores não poderão ser negociadas no mercado secundário. 7. Resgate 7.1. As Cotas Subordinadas Juniores apenas serão resgatadas após o resgate integral das Cotas Seniores da Classe, na respectiva Data de Resgate ou em caso de liquidação antecipada da Classe. BTG Pactual</a:t>
            </a:r>
          </a:p>
          <a:p>
            <a:r>
              <a:t>CNPJ 62696791000193 · Eventos de avaliação · Condição: Referência preservada como ausência específica; não importar gatilhos de outros fundos.</a:t>
            </a:r>
          </a:p>
          <a:p>
            <a:r>
              <a:t>CNPJ 62696791000193 · Eventos de avaliação · Motivo: O apêndice condiciona amortização à ausência de Eventos de Avaliação e de Liquidação, mas o PDF consolidado de 48 páginas não define a lista de Eventos de Avaliação nem seus prazos de cura. O regulamento FIDC anterior à transformação não foi obtido.</a:t>
            </a:r>
          </a:p>
          <a:p>
            <a:r>
              <a:t>CNPJ 62696791000193 · Eventos de avaliação · Versão e prevalência: Leitura específica das cláusulas indicadas; condições e conflitos preservados. Seleção documental atual não comprova vigência jurídica por data isolada.</a:t>
            </a:r>
          </a:p>
          <a:p>
            <a:r>
              <a:t>CNPJ 55563624000109 · Eventos de avaliação · Regulamento · ID 1192614 · 30/04/2026 · versão Regulamento30/04/2026 · p. 20 · AnexoI11.1(i)–(v) · https://fnet.bmfbovespa.com.br/fnet/publico/visualizarDocumento?id=1192614</a:t>
            </a:r>
          </a:p>
          <a:p>
            <a:r>
              <a:t>CNPJ 55563624000109 · Eventos de avaliação · Excerto da fonte:</a:t>
            </a:r>
          </a:p>
          <a:p>
            <a:r>
              <a:t>11.1 As seguintes hipóteses são consideradas Eventos de Avaliação: (i) inobservância pelo ADMINISTRADOR, pelo CUSTODIANTE e/ou pelo GESTOR de seus deveres e obrigações previstos neste Anexo, desde que, uma vez notificados para sanar ou justificar o descumprimento, o ADMINISTRADOR, o CUSTODIANTE e/ou o GESTOR, conforme o caso, não o sane no prazo de 5 (cinco) Dias Úteis contados do recebimento da referida notificação; (ii) aquisição, pela Classe, de Cotas da Classe Investida que estejam em desacordo com o Critério de</a:t>
            </a:r>
          </a:p>
          <a:p>
            <a:r>
              <a:t>CNPJ 55563624000109 · Eventos de avaliação · Versão e prevalência: Leitura específica das cláusulas indicadas; condições e conflitos preservados. Seleção documental atual não comprova vigência jurídica por data isolada.</a:t>
            </a:r>
          </a:p>
          <a:p>
            <a:r>
              <a:t>CNPJ 62552447000120 · Eventos de avaliação · Regulamento · ID 1200623 · 21/05/2026 · versão Consolidado21/05/2026 aprovado pelo ato1200625 · p. 22 · AnexoI11.1(i)–(v) · https://fnet.bmfbovespa.com.br/fnet/publico/visualizarDocumento?id=1200623</a:t>
            </a:r>
          </a:p>
          <a:p>
            <a:r>
              <a:t>CNPJ 62552447000120 · Eventos de avaliação · Excerto da fonte:</a:t>
            </a:r>
          </a:p>
          <a:p>
            <a:r>
              <a:t>11.1 As seguintes hipóteses são consideradas eventos de avaliação (“Eventos de Avaliação”): (i) em caso de regime de administração especial temporária - RAET, intervenção ou liquidação extrajudicial do Endossante, da instituição f inanceira prestadora dos serviços de agente de conta vinculada à Classe (“Agente de Conta Vinculada”) e/ou do Agente de Retenção e Cobrança; (ii) não cumprimento, pelo Endossante, de qualquer de suas obrigações estabelecidas nos Contratos de Endosso, no Regulamento ou neste Anexo I, desde que esse não cumprimento não se</a:t>
            </a:r>
          </a:p>
          <a:p>
            <a:r>
              <a:t>CNPJ 62552447000120 · Eventos de avaliação · Regulamento · ID 1200623 · 21/05/2026 · versão Consolidado21/05/2026 aprovado pelo ato1200625 · p. 23 · AnexoI11.1(vi)–(xi) · https://fnet.bmfbovespa.com.br/fnet/publico/visualizarDocumento?id=1200623</a:t>
            </a:r>
          </a:p>
          <a:p>
            <a:r>
              <a:t>CNPJ 62552447000120 · Eventos de avaliação · Excerto da fonte:</a:t>
            </a:r>
          </a:p>
          <a:p>
            <a:r>
              <a:t>(vi) não cumprimento, pelo Agente de Conta Vinculada, de qualquer de suas obrigações estabelecidas no contrato de conta vinculada celebrado entre o Endossante, na qualidade de titular da Conta Vinculada, e a Classe (“Contrato de Conta Vinculada”), no Regulamento ou neste Anexo I, desde que esse não cumprimento não seja devidamente sanado ou justificado dentro de 5 (cinco) Dias Úteis a partir do recebimento, pelo Agente de Conta Vinculada, de notif icação, por escrito, enviada pelo Administrador, informando-o da ocorrência do respectivo evento; (vii) não c</a:t>
            </a:r>
          </a:p>
          <a:p>
            <a:r>
              <a:t>CNPJ 62552447000120 · Eventos de avaliação · Versão e prevalência: Leitura específica das cláusulas indicadas; condições e conflitos preservados. Seleção documental atual não comprova vigência jurídica por data isolada.</a:t>
            </a:r>
          </a:p>
          <a:p>
            <a:r>
              <a:t>CNPJ 63953620000165 · Eventos de avaliação · Anexo ao Regulamento · ID 1222863 · 02/06/2026 · versão AnexoConsignadoPrivado02/06/2026 · p. 14 · 11.1(i)–(v) · https://fnet.bmfbovespa.com.br/fnet/publico/visualizarDocumento?id=1222863</a:t>
            </a:r>
          </a:p>
          <a:p>
            <a:r>
              <a:t>CNPJ 63953620000165 · Eventos de avaliação · Excerto da fonte:</a:t>
            </a:r>
          </a:p>
          <a:p>
            <a:r>
              <a:t>11.1 As seguintes hipóteses são consideradas eventos de avaliação (“Eventos de Avaliação”): (i) em caso de regime de administração especial temporária - RAET, intervenção ou liquidação extrajudicial do Endossante; (ii) em caso de desenquadramento do Índice de Subordinação por 10 (dez) dias úteis consecutivos; (iii) não cumprimento, pelo Endossante, de qualquer de suas obrigações estabelecidas no Contrato de Endosso ou neste Anexo I, desde que esse não cumprimento não seja devidamente sanado ou justificado dentro de 10 (dez) Dias Úteis a partir do recebimento, pelo Endossan</a:t>
            </a:r>
          </a:p>
          <a:p>
            <a:r>
              <a:t>CNPJ 63953620000165 · Eventos de avaliação · Anexo ao Regulamento · ID 1222863 · 02/06/2026 · versão AnexoConsignadoPrivado02/06/2026 · p. 15 · 11.1(vi)–(xiv) · https://fnet.bmfbovespa.com.br/fnet/publico/visualizarDocumento?id=1222863</a:t>
            </a:r>
          </a:p>
          <a:p>
            <a:r>
              <a:t>CNPJ 63953620000165 · Eventos de avaliação · Excerto da fonte:</a:t>
            </a:r>
          </a:p>
          <a:p>
            <a:r>
              <a:t>Anexo I ao Regulamento CLASSE CONSIGNADO PRIVADO DO MT GLOBAL FUNDO DE INVESTIMENTO EM DIREITOS CREDITÓRIOS RESPONSABILIDADE LIMITADA (vii) inobservância pelo Administrador, pelo Custodiante e/ou pelo Gestor de seus deveres e obrigações previstos neste Regulamento, bem como suas atribuições específicas nos outros contratos existentes referentes ao funcionamento da Classe, verificada pelo Administrador, pelo Custodiante e/ou pelo Gestor ou por qualquer dos Cotistas, desde que, uma vez notificados para sanar ou justificar o descumprimento, o Administrador, o Custodiante e/ou o Gestor, conforme</a:t>
            </a:r>
          </a:p>
          <a:p>
            <a:r>
              <a:t>CNPJ 63953620000165 · Eventos de avaliação · Versão e prevalência: Leitura específica das cláusulas indicadas; condições e conflitos preservados. Seleção documental atual não comprova vigência jurídica por data isolada.</a:t>
            </a:r>
          </a:p>
          <a:p>
            <a:r>
              <a:t>CNPJ 54871427000194 · Eventos de liquidação · Regulamento · ID 670691 · 28/04/2024 · versão Regulamento — referência 28/04/2024 · p. 19 · Anexo I, 11.1.3 e 11.3 · https://fnet.bmfbovespa.com.br/fnet/publico/visualizarDocumento?id=670691</a:t>
            </a:r>
          </a:p>
          <a:p>
            <a:r>
              <a:t>CNPJ 54871427000194 · Eventos de liquidação · Excerto da fonte:</a:t>
            </a:r>
          </a:p>
          <a:p>
            <a:r>
              <a:t>11.1.3 Na hipótese de não instalação da Assembleia Especial de Cotistas por f alta de quórum, o ADMINISTRADOR dará início aos procedimentos ref erentes à liquidação d a Classe, com o consequente resgate das Cotas, nos termos do item 11.4 e seguintes, abaixo. Eventos de Verificação de Patrimônio Líquido Negativo 11.2 Os seguintes eventos obrigarão o ADMINISTRADOR a verificar se o Patrimônio Líquido da Classe está negativo: (i) qualquer pedido de declaração judicial de insolvência da Classe; e (ii) na ocorrência de quaisquer dos Eventos de Avaliação e/ou Eventos de Liquidação . Eventos de Liquidação 11.3 As seguintes hipóteses são consideradas Eventos de Liquidação: (i) caso seja deliberado em Assembleia Especial de Cotistas que um Evento de Avaliação constitui um Evento de Liquidação; (ii) sempre que assim decidido pelos Cotistas em Assembleia Especial de Cotistas especialmente convocada para tal f im; (iii) cessão ou renúncia do ADMINISTRADOR, GESTOR ou CUSTODIANTE sem que a Assembleia de Cotistas ef icazmente nomeie instituição habilit ada para substituí-lo, nos termos estabelecidos neste Regulamento;</a:t>
            </a:r>
          </a:p>
          <a:p>
            <a:r>
              <a:t>CNPJ 54871427000194 · Eventos de liquidação · Versão e prevalência: Leitura específica das cláusulas indicadas; condições e conflitos preservados. Seleção documental atual não comprova vigência jurídica por data isolada.</a:t>
            </a:r>
          </a:p>
          <a:p>
            <a:r>
              <a:t>CNPJ 54871427000194 · Eventos de liquidação · Resumo do histórico: {"count": 1, "dates": ["2024-04-19"], "document_count": 1, "sources": [{"document_id": "670689", "title": "Regulamento", "reference_date": "2024-04-19", "version": "1", "page": 17, "clause": "10.2", "url": "https://fnet.bmfbovespa.com.br/fnet/publico/visualizarDocumento?id=670689", "sha256": "891bc9bc5d87bbc02ec139077a84d2702eb81ea02035fb71d24f5b8366b94a0b"}], "reference": {"path": "history/54871427000194.json", "criterion_id": "liquidation", "total_count": 1, "preview_count": 1, "full_text_deferred": true, "sha256": "35d7cd99be50c7287c9fb675cf4f2e736002315295a225a9efa79c8d9186d874"}}</a:t>
            </a:r>
          </a:p>
          <a:p>
            <a:r>
              <a:t>CNPJ 60010416000112 · Eventos de liquidação · Regulamento · ID 1051393 · 09/10/2025 · versão Regulamento09/10/2025 · p. 21 · AnexoI10.3(i)–(viii) · https://fnet.bmfbovespa.com.br/fnet/publico/visualizarDocumento?id=1051393</a:t>
            </a:r>
          </a:p>
          <a:p>
            <a:r>
              <a:t>CNPJ 60010416000112 · Eventos de liquidação · Excerto da fonte:</a:t>
            </a:r>
          </a:p>
          <a:p>
            <a:r>
              <a:t>10.3 As seguintes hipóteses são consideradas Eventos de Liquidação: (i) caso seja deliberado em Assembleia de Cotistas que um Evento de Avaliação constitui um Evento de Liquidação; (ii) na hipótese de resilição do Contrato de Custódia ou renúncia do Custodiante, sem que tenha havido sua substituição por outra instituição, de acordo com os procedimentos estabelecidos neste Regulamento; (iii) renúncia do Administrador sem que a Assembleia Especial de Cotistas eficazmente nomeie instituição habilitada para substituí-lo, nos termos estabelecidos neste Regulamento;</a:t>
            </a:r>
          </a:p>
          <a:p>
            <a:r>
              <a:t>CNPJ 60010416000112 · Eventos de liquidação · Versão e prevalência: Leitura específica das cláusulas indicadas; condições e conflitos preservados. Seleção documental atual não comprova vigência jurídica por data isolada.</a:t>
            </a:r>
          </a:p>
          <a:p>
            <a:r>
              <a:t>CNPJ 60010416000112 · Eventos de liquidação · Resumo do histórico: {"count": 2, "dates": ["2025-03-20"], "document_count": 2, "sources": [{"document_id": "993785", "title": "Instrumento Particular de Constituição/Encerramento do Fundo", "reference_date": "2025-03-20", "version": "1", "page": 8, "url": "https://fnet.bmfbovespa.com.br/fnet/publico/visualizarDocumento?id=993785", "sha256": "0826e0eae2c51afabf59bbc49fc7647598d03da5ca6de0f9725850a8bd6af457"}, {"document_id": "993786", "title": "Regulamento", "reference_date": "2025-03-20", "version": "1", "page": 18, "clause": "9.2", "url": "https://fnet.bmfbovespa.com.br/fnet/publico/visualizarDocumento?id=993786", "sha256": "fd0fdd369a195510d81f81f505195a0b09e5f43522a990afa7d58c4f872921c8"}], "reference": {"path": "history/60010416000112.json", "criterion_id": "liquidation", "total_count": 2, "preview_count": 2, "full_text_deferred": true, "sha256": "8e2bd813f4c51cf01f6bfaad164bafe69d2bbb192f753eac92da3a01c2e63046"}}</a:t>
            </a:r>
          </a:p>
          <a:p>
            <a:r>
              <a:t>CNPJ 62696791000193 · Eventos de liquidação · Regulamento · ID 1143317 · 20/03/2026 · versão Regulamento — referência 20/03/2026 · p. 23 · Anexo I, 11.1–11.3 · https://fnet.bmfbovespa.com.br/fnet/publico/visualizarDocumento?id=1143317</a:t>
            </a:r>
          </a:p>
          <a:p>
            <a:r>
              <a:t>CNPJ 62696791000193 · Eventos de liquidação · Excerto da fonte:</a:t>
            </a:r>
          </a:p>
          <a:p>
            <a:r>
              <a:t>11.1 A Classe será liquidada (i) em caso da liquidação antecipada deliberada em Assembleia Especial de Cotistas; ou (ii) pelo encerramento do Prazo de Duração da Classe. 11.2 Na ocorrência da liquidação da Classe, o Administrador: (i) liquidará todos os investimentos da Classe em Ativos Financeiros de Liquidez, conforme orientação do Gestor, transferindo todos os recursos daí resultantes para a Conta da Classe; (ii) realizará, de acordo com as orientações e instruções do Gestor, a alienação dos investimentos nos Direitos Creditórios do Agronegócio e nos Outros Ativos integrantes da carteira de investimentos da Classe; e (iii) realizará o pagamento dos encargos da Classe e a amortização das Cotas, até o limite dos recursos disponíveis na Conta da Classe. 11.2.1 No caso de Liquidação da Classe, os Cotistas terão o direito de partilhar o Patrimônio Líquido em igualdade de condições e na proporção de suas Cotas, deduzidas as despesas necessárias para a liquidação da Classe. Não haverá qualquer tipo de pref erência, p rioridade ou subordinação entre os Cotistas. 11.3 Caso a Classe não possua recursos suficientes para o pagamento de todas as Cotas no momento de</a:t>
            </a:r>
          </a:p>
          <a:p>
            <a:r>
              <a:t>CNPJ 62696791000193 · Eventos de liquidação · Regulamento · ID 1143317 · 20/03/2026 · versão Regulamento — referência 20/03/2026 · p. 24 · Anexo I, 11.7 · https://fnet.bmfbovespa.com.br/fnet/publico/visualizarDocumento?id=1143317</a:t>
            </a:r>
          </a:p>
          <a:p>
            <a:r>
              <a:t>CNPJ 62696791000193 · Eventos de liquidação · Excerto da fonte:</a:t>
            </a:r>
          </a:p>
          <a:p>
            <a:r>
              <a:t>11.7 A liquidação da Classe e a divisão de seu patrimônio entre os Cotistas deverão ocorrer no prazo de até 180 (cento e oitenta) dias corridos contados (i) do encerramento do Prazo de Duração ou (ii) da data da realização da Assembleia Especial de Cotistas que deliberar sobre a liquidação da Classe. BTG Pactual SAC: 0800 772 2827 | Ouvidoria: 0800 722 0048 | btgpactual.co m 19</a:t>
            </a:r>
          </a:p>
          <a:p>
            <a:r>
              <a:t>CNPJ 62696791000193 · Eventos de liquidação · Condição: O capítulo não fornece gatilho automático de PL &lt;R$ 1 milhão por 90 dias; essa cláusula presente em outros FIDCs não pode ser transferida para Ceres.</a:t>
            </a:r>
          </a:p>
          <a:p>
            <a:r>
              <a:t>CNPJ 62696791000193 · Eventos de liquidação · Motivo: Cláusula primária localizada e citada, mas sua lista/condições extensas não admitem uma síntese literal curta confirmada. O trecho integral permanece nas fontes.</a:t>
            </a:r>
          </a:p>
          <a:p>
            <a:r>
              <a:t>CNPJ 62696791000193 · Eventos de liquidação · Versão e prevalência: Leitura específica das cláusulas indicadas; condições e conflitos preservados. Seleção documental atual não comprova vigência jurídica por data isolada.</a:t>
            </a:r>
          </a:p>
          <a:p>
            <a:r>
              <a:t>CNPJ 55563624000109 · Eventos de liquidação · Regulamento · ID 1192614 · 30/04/2026 · versão Regulamento30/04/2026 · p. 21 · AnexoI11.3(i)–(vii) · https://fnet.bmfbovespa.com.br/fnet/publico/visualizarDocumento?id=1192614</a:t>
            </a:r>
          </a:p>
          <a:p>
            <a:r>
              <a:t>CNPJ 55563624000109 · Eventos de liquidação · Excerto da fonte:</a:t>
            </a:r>
          </a:p>
          <a:p>
            <a:r>
              <a:t>11.3 As seguintes hipóteses são consideradas Eventos de Liquidação: (i) caso seja deliberado em Assembleia Especial de Cotistas que um Evento de Avaliação constitui um Evento de Liquidação; (ii) na hipótese de renúncia do CUSTODIANTE, sem que tenha havido sua substituição por outra instituição, de acordo com os procedimentos estabelecidos neste Anexo; (iii) renúncia do ADMINISTRADOR ou do GESTOR sem que a Assembleia Especial de Cotistas eficazmente nomeie instituição habilitada para substituí-lo, nos termo</a:t>
            </a:r>
          </a:p>
          <a:p>
            <a:r>
              <a:t>CNPJ 55563624000109 · Eventos de liquidação · Versão e prevalência: Leitura específica das cláusulas indicadas; condições e conflitos preservados. Seleção documental atual não comprova vigência jurídica por data isolada.</a:t>
            </a:r>
          </a:p>
          <a:p>
            <a:r>
              <a:t>CNPJ 62552447000120 · Eventos de liquidação · Regulamento · ID 1200623 · 21/05/2026 · versão Consolidado21/05/2026 aprovado pelo ato1200625 · p. 24 · AnexoI11.2(i)–(v) · https://fnet.bmfbovespa.com.br/fnet/publico/visualizarDocumento?id=1200623</a:t>
            </a:r>
          </a:p>
          <a:p>
            <a:r>
              <a:t>CNPJ 62552447000120 · Eventos de liquidação · Excerto da fonte:</a:t>
            </a:r>
          </a:p>
          <a:p>
            <a:r>
              <a:t>11.2 As seguintes hipóteses são consideradas eventos de liquidação (“Eventos de Liquidação”): (i) caso seja deliberado em Assembleia Especial que um Evento de Avaliação constitui um Evento de Liquidação; (ii) na hipótese de resilição do Contrato de Custódia ou renúncia do Custodiante, sem que tenha havido sua substituição por outra instituição, de acordo com os procedimentos estabelecidos neste Regulamento; (iii) renúncia do Administrador sem que a Assembleia Especial ef icazmente nomeie instituição habilitada para substituí-lo, nos termos estab</a:t>
            </a:r>
          </a:p>
          <a:p>
            <a:r>
              <a:t>CNPJ 62552447000120 · Eventos de liquidação · Regulamento · ID 1200623 · 21/05/2026 · versão Consolidado21/05/2026 aprovado pelo ato1200625 · p. 25 · AnexoI11.2(vi)–(ix) · https://fnet.bmfbovespa.com.br/fnet/publico/visualizarDocumento?id=1200623</a:t>
            </a:r>
          </a:p>
          <a:p>
            <a:r>
              <a:t>CNPJ 62552447000120 · Eventos de liquidação · Excerto da fonte:</a:t>
            </a:r>
          </a:p>
          <a:p>
            <a:r>
              <a:t>(vi) em caso de regime de administração especial temporária - RAET, intervenção ou liquidação extrajudicial do Custodiante, Administrador, ou Gestor, sem a sua ef etiva substituição nos termos deste Regulamento; (vii) se, após 90 (noventa) dias do início das atividades do Fundo, o Patrimônio Líquido diário inferior da Classe for inferior a R$ 1.000.000,00 (um milhão de reais) pelo período de 90 (noventa) dias consecutivos; (viii) caso, por inexistência de recursos líquidos, a Classe não possa fazer f rente aos Encargos nas respectivas datas</a:t>
            </a:r>
          </a:p>
          <a:p>
            <a:r>
              <a:t>CNPJ 62552447000120 · Eventos de liquidação · Versão e prevalência: Leitura específica das cláusulas indicadas; condições e conflitos preservados. Seleção documental atual não comprova vigência jurídica por data isolada.</a:t>
            </a:r>
          </a:p>
          <a:p>
            <a:r>
              <a:t>CNPJ 63953620000165 · Eventos de liquidação · Anexo ao Regulamento · ID 1222863 · 02/06/2026 · versão AnexoConsignadoPrivado02/06/2026 · p. 16 · 11.2(i)–(viii) · https://fnet.bmfbovespa.com.br/fnet/publico/visualizarDocumento?id=1222863</a:t>
            </a:r>
          </a:p>
          <a:p>
            <a:r>
              <a:t>CNPJ 63953620000165 · Eventos de liquidação · Excerto da fonte:</a:t>
            </a:r>
          </a:p>
          <a:p>
            <a:r>
              <a:t>11.2 As seguintes hipóteses são consideradas eventos de liquidação (“Eventos de Liquidação”): (i) caso seja deliberado em Assembleia Especial de Cotistas que um Evento de Avaliação constitui um Evento de Liquidação; (ii) na hipótese de resilição do Contrato de Custódia ou renúncia do Custodiante, sem que tenha havido sua substituição por outra instituição, de acordo com os procedimentos estabelecidos neste Regulamento; (iii) renúncia do Administrador sem que a Assembleia Especial de Cotistas eficazmente nomeie instituição habilitada para substituí-lo, nos termos estabeleci</a:t>
            </a:r>
          </a:p>
          <a:p>
            <a:r>
              <a:t>CNPJ 63953620000165 · Eventos de liquidação · Versão e prevalência: Leitura específica das cláusulas indicadas; condições e conflitos preservados. Seleção documental atual não comprova vigência jurídica por data isolada.</a:t>
            </a:r>
          </a:p>
          <a:p>
            <a:r>
              <a:t>CNPJ 63953620000165 · Eventos de liquidação · Resumo do histórico: {"count": 8, "dates": ["2026-04-28", "2026-05-08", "2026-05-15"], "document_count": 3, "sources": [{"document_id": "1327859", "title": "Demonstrações Financeiras - Fusão, cisão e incorporação", "reference_date": "2026-05-15", "version": "1", "page": 23, "url": "https://fnet.bmfbovespa.com.br/fnet/publico/visualizarDocumento?id=1327859", "sha256": "dca1c68babb97f887528c3e2e47596a9c30f507b067981a35655b2f2da9c8054"}, {"document_id": "1298691", "title": "Demonstrações Financeiras - Fusão, cisão e incorporação", "reference_date": "2026-05-08", "version": "1", "page": 24, "url": "https://fnet.bmfbovespa.com.br/fnet/publico/visualizarDocumento?id=1298691", "sha256": "58c570d9b8d4d265330d3db3ea81c435b8e44a6dab4002aa37790652a1ee9819"}, {"document_id": "1282180", "title": "Demonstrações Financeiras - Fusão, cisão e incorporação", "reference_date": "2026-04-28", "version": "1", "page": 24, "url": "https://fnet.bmfbovespa.com.br/fnet/publico/visualizarDocumento?id=1282180", "sha256": "afaaa0e6809be4385e5bdb6c911aac582032c5bdbac3d7750234bf9eaf00438a"}], "reference": {"path": "history/63953620000165.json", "criterion_id": "liquidation", "total_count": 8, "preview_count": 3, "full_text_deferred": true, "sha256": "a7b89077f5e21098c2d601c303faabc3ff6b9729f89d8afecdc60fe1404720c1"}}</a:t>
            </a:r>
          </a:p>
          <a:p>
            <a:r>
              <a:t>CNPJ 54871427000194 · Prazos de cura e reincidência · Regulamento · ID 670691 · 28/04/2024 · versão Regulamento — referência 28/04/2024 · p. 18 · Anexo I, 11.1(ii)–(v) · https://fnet.bmfbovespa.com.br/fnet/publico/visualizarDocumento?id=670691</a:t>
            </a:r>
          </a:p>
          <a:p>
            <a:r>
              <a:t>CNPJ 54871427000194 · Prazos de cura e reincidência · Excerto da fonte:</a:t>
            </a:r>
          </a:p>
          <a:p>
            <a:r>
              <a:t>(ii) não cumprimento, por qualquer dos Endossantes, de qualquer de suas obrigações estabelecidas em cada Contrato de Endosso ou neste Regulamento e Anexo, desde que esse não cumprimento não seja devidamente sanado ou justificado dentro de 10 (dez) Dias Úteis a partir do recebimento, pelo Endossante, de notificação, por escrito, enviada pelo Administrador, inf ormando-o da ocorrência do respectivo evento; (iii) não cumprimento, por qualquer dos Endossantes, de suas obrigações de entregar o Arquivo de Liquidação Antecipada e o Arquivo de Posição das CCBs ao CUSTODIANTE dentro do prazo estabelecido neste Regulamento, desde que esse não cumprimento não seja devidamente sanado ou justificado dentro dos prazos acordados no respectivo Contrato de Endosso, a partir do recebimento, pelos Endossantes, de notificação, por escrito, enviada pelo CUSTODIANTE, inf ormando-o da ocorrência do respectivo evento; (iv) não cumprimento, por qualquer dos Endossantes, de qualquer de suas obrigações de entregar ao CUSTODIANTE, ou a terceiros por ele indicados, os Documentos Comprobatórios relativos</a:t>
            </a:r>
          </a:p>
          <a:p>
            <a:r>
              <a:t>CNPJ 54871427000194 · Prazos de cura e reincidência · Motivo: Não localizada uma cláusula material para este critério nos textos identificados e processados. A ausência de resultado não comprova inexistência da regra.</a:t>
            </a:r>
          </a:p>
          <a:p>
            <a:r>
              <a:t>CNPJ 54871427000194 · Prazos de cura e reincidência · Versão e prevalência: Leitura específica das cláusulas indicadas; condições e conflitos preservados. Seleção documental atual não comprova vigência jurídica por data isolada.</a:t>
            </a:r>
          </a:p>
          <a:p>
            <a:r>
              <a:t>CNPJ 60010416000112 · Prazos de cura e reincidência · Regulamento · ID 1051393 · 09/10/2025 · versão Regulamento09/10/2025 · p. 14 · AnexoI5.7.1–5.7.2 · https://fnet.bmfbovespa.com.br/fnet/publico/visualizarDocumento?id=1051393</a:t>
            </a:r>
          </a:p>
          <a:p>
            <a:r>
              <a:t>CNPJ 60010416000112 · Prazos de cura e reincidência · Excerto da fonte:</a:t>
            </a:r>
          </a:p>
          <a:p>
            <a:r>
              <a:t>5.7.1 abaixo. 5.7.1 Na hipótese do item 5.7 os titulares de Cotas Subordinadas terão o prazo de 3 (três) Dias Úteis contado do recebimento da comunicação enviada pelo Administrador para manifestar sua intenção de subscrever e integralizar novas Cotas Subordinadas, de f orma a restabelecer o Índice de Subordinação. Caso assim se manifestem, o Administrador e os titulares de Cotas Subordinadas deverão, nos 10 (dez) Dias Úteis subsequentes tomar todas as providências necessárias para que as novas Cotas Subordinadas sejam emitidas, subscritas e integraliza</a:t>
            </a:r>
          </a:p>
          <a:p>
            <a:r>
              <a:t>CNPJ 60010416000112 · Prazos de cura e reincidência · Regulamento · ID 1051393 · 09/10/2025 · versão Regulamento09/10/2025 · p. 19 · AnexoI10.1(ii)–(vii) · https://fnet.bmfbovespa.com.br/fnet/publico/visualizarDocumento?id=1051393</a:t>
            </a:r>
          </a:p>
          <a:p>
            <a:r>
              <a:t>CNPJ 60010416000112 · Prazos de cura e reincidência · Excerto da fonte:</a:t>
            </a:r>
          </a:p>
          <a:p>
            <a:r>
              <a:t>10.1 As seguintes hipóteses são consideradas Eventos de Avaliação: (i) em caso de regime de administração especial temporária - RAET, intervenção ou liquidação extrajudicial do Endossante; (ii) em caso de desenquadramento do Índice de Subordinação por 10 (dez) dias úteis consecutivos; (iii) não cumprimento, pelo Endossante, de qualquer de suas obrigações estabelecidas no Contrato de Endosso ou neste Anexo I, desde que esse não cumprimento não seja devidamente sanado ou justif icado dentro de 10 (dez) Dias Úteis a partir do recebimento, pelo Endossante, de noti</a:t>
            </a:r>
          </a:p>
          <a:p>
            <a:r>
              <a:t>CNPJ 60010416000112 · Prazos de cura e reincidência · Regulamento · ID 1051393 · 09/10/2025 · versão Regulamento09/10/2025 · p. 20 · AnexoI10.1(xiii) · https://fnet.bmfbovespa.com.br/fnet/publico/visualizarDocumento?id=1051393</a:t>
            </a:r>
          </a:p>
          <a:p>
            <a:r>
              <a:t>CNPJ 60010416000112 · Prazos de cura e reincidência · Excerto da fonte:</a:t>
            </a:r>
          </a:p>
          <a:p>
            <a:r>
              <a:t>(xiii) no caso de não serem realizados pagamentos de amortização e/ou resgate de Cotas Seniores, nos termos, prazos e condições previstos no presente Regulamento e nos respectivos Apêndices e Suplementos, não sanados em até 2 (dois) Dias Úteis contados do prazo final do respectivo evento; (xiv) no caso de pagamento de resgate e/ou amortização de Cotas Subordinadas em desacordo com os termos, prazos e condições previstos no presente Regulamento e no respectivo Apêndice. 10.1.1 Na ocorrência de qualquer Evento de Avaliação, será convocada Assembleia Especial de Cotistas,</a:t>
            </a:r>
          </a:p>
          <a:p>
            <a:r>
              <a:t>CNPJ 60010416000112 · Prazos de cura e reincidência · Versão e prevalência: Leitura específica das cláusulas indicadas; condições e conflitos preservados. Seleção documental atual não comprova vigência jurídica por data isolada.</a:t>
            </a:r>
          </a:p>
          <a:p>
            <a:r>
              <a:t>CNPJ 60010416000112 · Prazos de cura e reincidência · Resumo do histórico: {"count": 1, "dates": ["2025-03-20"], "document_count": 1, "sources": [{"document_id": "993786", "title": "Regulamento", "reference_date": "2025-03-20", "version": "1", "page": 19, "clause": "10.1", "url": "https://fnet.bmfbovespa.com.br/fnet/publico/visualizarDocumento?id=993786", "sha256": "fd0fdd369a195510d81f81f505195a0b09e5f43522a990afa7d58c4f872921c8"}], "reference": {"path": "history/60010416000112.json", "criterion_id": "cure", "total_count": 1, "preview_count": 1, "full_text_deferred": true, "sha256": "8e2bd813f4c51cf01f6bfaad164bafe69d2bbb192f753eac92da3a01c2e63046"}}</a:t>
            </a:r>
          </a:p>
          <a:p>
            <a:r>
              <a:t>CNPJ 62696791000193 · Prazos de cura e reincidência · Motivo: Não localizada uma cláusula material para este critério nos textos identificados e processados. A ausência de resultado não comprova inexistência da regra.</a:t>
            </a:r>
          </a:p>
          <a:p>
            <a:r>
              <a:t>CNPJ 55563624000109 · Prazos de cura e reincidência · Regulamento · ID 1192614 · 30/04/2026 · versão Regulamento30/04/2026 · p. 20 · AnexoI11.1 · https://fnet.bmfbovespa.com.br/fnet/publico/visualizarDocumento?id=1192614</a:t>
            </a:r>
          </a:p>
          <a:p>
            <a:r>
              <a:t>CNPJ 55563624000109 · Prazos de cura e reincidência · Excerto da fonte:</a:t>
            </a:r>
          </a:p>
          <a:p>
            <a:r>
              <a:t>11.1 As seguintes hipóteses são consideradas Eventos de Avaliação: (i) inobservância pelo ADMINISTRADOR, pelo CUSTODIANTE e/ou pelo GESTOR de seus deveres e obrigações previstos neste Anexo, desde que, uma vez notificados para sanar ou justificar o descumprimento, o ADMINISTRADOR, o CUSTODIANTE e/ou o GESTOR, conforme o caso, não o sane no prazo de 5 (cinco) Dias Úteis contados do recebimento da referida notificação; (ii) aquisição, pela Classe, de Cotas da Classe Investida que estejam em desacordo com o Critério de</a:t>
            </a:r>
          </a:p>
          <a:p>
            <a:r>
              <a:t>CNPJ 55563624000109 · Prazos de cura e reincidência · Regulamento · ID 1192614 · 30/04/2026 · versão Regulamento30/04/2026 · p. 21 · AnexoI11.1.2 · https://fnet.bmfbovespa.com.br/fnet/publico/visualizarDocumento?id=1192614</a:t>
            </a:r>
          </a:p>
          <a:p>
            <a:r>
              <a:t>CNPJ 55563624000109 · Prazos de cura e reincidência · Excerto da fonte:</a:t>
            </a:r>
          </a:p>
          <a:p>
            <a:r>
              <a:t>11.1.2 No momento de verificação de qualquer Evento de Avaliação, os procedimentos de aquisição de novas Cotas da Classe Investida e, se aplicável, de amortização das Cotas, deverão ser imediatamente interrompidos, até que: (i) seja proferida decisão final em Assembleia Especial de Cotistas, convocada especificamente para este fim, nos termos do item 11.1.1 acima, autorizando a retomada dos procedimentos de aquisição de novas Cotas da Classe Investida, amortização e resgate das Cotas; e/ou (ii) seja sanado o Evento de Avalia</a:t>
            </a:r>
          </a:p>
          <a:p>
            <a:r>
              <a:t>CNPJ 55563624000109 · Prazos de cura e reincidência · Motivo: Não localizada uma cláusula material para este critério nos textos identificados e processados. A ausência de resultado não comprova inexistência da regra.</a:t>
            </a:r>
          </a:p>
          <a:p>
            <a:r>
              <a:t>CNPJ 55563624000109 · Prazos de cura e reincidência · Versão e prevalência: Leitura específica das cláusulas indicadas; condições e conflitos preservados. Seleção documental atual não comprova vigência jurídica por data isolada.</a:t>
            </a:r>
          </a:p>
          <a:p>
            <a:r>
              <a:t>CNPJ 62552447000120 · Prazos de cura e reincidência · Regulamento · ID 1200623 · 21/05/2026 · versão Consolidado21/05/2026 aprovado pelo ato1200625 · p. 22 · AnexoI11.1(ii)–(v) · https://fnet.bmfbovespa.com.br/fnet/publico/visualizarDocumento?id=1200623</a:t>
            </a:r>
          </a:p>
          <a:p>
            <a:r>
              <a:t>CNPJ 62552447000120 · Prazos de cura e reincidência · Excerto da fonte:</a:t>
            </a:r>
          </a:p>
          <a:p>
            <a:r>
              <a:t>5 (cinco) Dias Úteis a partir do recebimento, pelo Endossante, de notificação, por escrito, enviada pelo Administrador, inf ormando-o da ocorrência do respectivo evento; (iii) não cumprimento, pelo Endossante e/ou pelo Agente de Retenção e Cobrança, de sua obrigação de entregar os (a) arquivos eletrônicos disponibilizados mensalmente pela Dataprev ao Endossante, contendo (1) as Consignações processadas pela Dataprev no respectivo mês, identificando os Devedores e os valores que serão descontados de suas respectivas folhas de pagamentos, bem como</a:t>
            </a:r>
          </a:p>
          <a:p>
            <a:r>
              <a:t>CNPJ 62552447000120 · Prazos de cura e reincidência · Regulamento · ID 1200623 · 21/05/2026 · versão Consolidado21/05/2026 aprovado pelo ato1200625 · p. 23 · AnexoI11.1(vi)–(viii) · https://fnet.bmfbovespa.com.br/fnet/publico/visualizarDocumento?id=1200623</a:t>
            </a:r>
          </a:p>
          <a:p>
            <a:r>
              <a:t>CNPJ 62552447000120 · Prazos de cura e reincidência · Excerto da fonte:</a:t>
            </a:r>
          </a:p>
          <a:p>
            <a:r>
              <a:t>5 (cinco) Dias Úteis a partir do recebimento, pelo Agente de Retenção e Cobrança, de notificação, por escrito, enviada pelo Gestor, informando-o da ocorrência do respectivo evento; (vi) não cumprimento, pelo Agente de Conta Vinculada, de qualquer de suas obrigações estabelecidas no contrato de conta vinculada celebrado entre o Endossante, na qualidade de titular da Conta Vinculada, e a Classe (“Contrato de Conta Vinculada”), no Regulamento ou neste Anexo I, desde que esse não cumprimento não seja devidamente sanado ou justificado dentro de 5 (cinco) Dias Úte</a:t>
            </a:r>
          </a:p>
          <a:p>
            <a:r>
              <a:t>CNPJ 62552447000120 · Prazos de cura e reincidência · Regulamento · ID 1200623 · 21/05/2026 · versão Consolidado21/05/2026 aprovado pelo ato1200625 · p. 19 · AnexoI6.8.4 · https://fnet.bmfbovespa.com.br/fnet/publico/visualizarDocumento?id=1200623</a:t>
            </a:r>
          </a:p>
          <a:p>
            <a:r>
              <a:t>CNPJ 62552447000120 · Prazos de cura e reincidência · Excerto da fonte:</a:t>
            </a:r>
          </a:p>
          <a:p>
            <a:r>
              <a:t>6.8.4 Em caso de inadimplência decorrente de falha operacional, será concedido aos Cotistas o prazo de 2 (dois) Dias Úteis contado da data de seu vencimento original para a realização do pagamento da integralização de Cotas sem a incidência de qualquer penalidade, multa ou mora. Transferência de Cotas 6.9 Não haverá direito de preferência aos Cotistas em relação às transferências de Cotas no mercado secundário. 6.10 No caso de alienação voluntária de Cotas, o Cotista alienante deverá solicitar por escrito ao Administrador e ao Gestor, a transf erência parcial ou total de suas Cotas, indicando o nom</a:t>
            </a:r>
          </a:p>
          <a:p>
            <a:r>
              <a:t>CNPJ 62552447000120 · Prazos de cura e reincidência · Regulamento · ID 1200623 · 21/05/2026 · versão Consolidado21/05/2026 aprovado pelo ato1200625 · p. 24 · AnexoI11.1.2 · https://fnet.bmfbovespa.com.br/fnet/publico/visualizarDocumento?id=1200623</a:t>
            </a:r>
          </a:p>
          <a:p>
            <a:r>
              <a:t>CNPJ 62552447000120 · Prazos de cura e reincidência · Excerto da fonte:</a:t>
            </a:r>
          </a:p>
          <a:p>
            <a:r>
              <a:t>11.1.2 No momento de verificação de qualquer Evento de Avaliação, os procedimentos de aquisição de novos Direitos Creditórios deverão ser imediatamente interrompidos, até que: (i) seja prof erida decisão final em Assembleia Especial, convocada especificamente para este fim, nos termos do item 11.1.1 acima, autorizando a retomada dos procedimentos de aquisição de novos Direitos Creditórios e resgate das Cotas; e/ou (ii) seja sanado o Evento de Avaliação . 11.1.3 Na hipótese de não instalação da Assembleia Especial por f alta de quórum, o Administrador dará início aos</a:t>
            </a:r>
          </a:p>
          <a:p>
            <a:r>
              <a:t>CNPJ 62552447000120 · Prazos de cura e reincidência · Motivo: Não localizada uma cláusula material para este critério nos textos identificados e processados. A ausência de resultado não comprova inexistência da regra.</a:t>
            </a:r>
          </a:p>
          <a:p>
            <a:r>
              <a:t>CNPJ 62552447000120 · Prazos de cura e reincidência · Versão e prevalência: Leitura específica das cláusulas indicadas; condições e conflitos preservados. Seleção documental atual não comprova vigência jurídica por data isolada.</a:t>
            </a:r>
          </a:p>
          <a:p>
            <a:r>
              <a:t>CNPJ 63953620000165 · Prazos de cura e reincidência · Anexo ao Regulamento · ID 1222863 · 02/06/2026 · versão AnexoConsignadoPrivado02/06/2026 · p. 14 · 11.1(ii)–(v) · https://fnet.bmfbovespa.com.br/fnet/publico/visualizarDocumento?id=1222863</a:t>
            </a:r>
          </a:p>
          <a:p>
            <a:r>
              <a:t>CNPJ 63953620000165 · Prazos de cura e reincidência · Excerto da fonte:</a:t>
            </a:r>
          </a:p>
          <a:p>
            <a:r>
              <a:t>11.1 As seguintes hipóteses são consideradas eventos de avaliação (“Eventos de Avaliação”): (i) em caso de regime de administração especial temporária - RAET, intervenção ou liquidação extrajudicial do Endossante; (ii) em caso de desenquadramento do Índice de Subordinação por 10 (dez) dias úteis consecutivos; (iii) não cumprimento, pelo Endossante, de qualquer de suas obrigações estabelecidas no Contrato de Endosso ou neste Anexo I, desde que esse não cumprimento não seja devidamente sanado ou justificado dentro de 10 (dez) Dias Úteis a partir do recebimento, pelo Endossan</a:t>
            </a:r>
          </a:p>
          <a:p>
            <a:r>
              <a:t>CNPJ 63953620000165 · Prazos de cura e reincidência · Anexo ao Regulamento · ID 1222863 · 02/06/2026 · versão AnexoConsignadoPrivado02/06/2026 · p. 10 · 6.8 · https://fnet.bmfbovespa.com.br/fnet/publico/visualizarDocumento?id=1222863</a:t>
            </a:r>
          </a:p>
          <a:p>
            <a:r>
              <a:t>CNPJ 63953620000165 · Prazos de cura e reincidência · Excerto da fonte:</a:t>
            </a:r>
          </a:p>
          <a:p>
            <a:r>
              <a:t>6.8 Observado o disposto nos boletins de subscrição, no caso de inadimplemento, a Administradora notificará o cotista inadimplente para sanar o inadimplemento no prazo de até 5 (cinco) Dias Úteis (“Cotista Inadimplente”). Caso o Cotista Inadimplente não sane o inadimplemento dentro de 5 (cinco) Dias Úteis contados do recebimento da notificação descrita acima, a Administradora poderá tomar as medidas previstas no Boletim de Subscrição. Colocação das Cotas 6.9 As Cotas poderão ser objeto de oferta pública a ser realizada nos termos da Resolução CVM 160 (“Oferta”) e/ou poderão ser colocadas de forma privada (“Colocação Privad</a:t>
            </a:r>
          </a:p>
          <a:p>
            <a:r>
              <a:t>CNPJ 63953620000165 · Prazos de cura e reincidência · Versão e prevalência: Leitura específica das cláusulas indicadas; condições e conflitos preservados. Seleção documental atual não comprova vigência jurídica por data isolada.</a:t>
            </a:r>
          </a:p>
          <a:p>
            <a:r>
              <a:t>CNPJ 54871427000194 · Cross default e insolvência · Motivo: Não localizada uma cláusula material para este critério nos textos identificados e processados. A ausência de resultado não comprova inexistência da regra.</a:t>
            </a:r>
          </a:p>
          <a:p>
            <a:r>
              <a:t>CNPJ 60010416000112 · Cross default e insolvência · Regulamento · ID 1051393 · 2025-10-09 · versão 1 · p. 21 · 10.2 · https://fnet.bmfbovespa.com.br/fnet/publico/visualizarDocumento?id=1051393</a:t>
            </a:r>
          </a:p>
          <a:p>
            <a:r>
              <a:t>CNPJ 60010416000112 · Cross default e insolvência · Excerto da fonte:</a:t>
            </a:r>
          </a:p>
          <a:p>
            <a:r>
              <a:t>10.2 Os seguintes eventos obrigarão o Administrador a verif icar se o Patrimônio Líquido da Classe está  negativo:</a:t>
            </a:r>
          </a:p>
          <a:p>
            <a:r>
              <a:t> (i) qualquer pedido de declaração judicial de insolvência da Classe;</a:t>
            </a:r>
          </a:p>
          <a:p>
            <a:r>
              <a:t> (ii) identificação de indícios de f raudes envolvendo o lastro de Direitos Creditórios que representem, no  mínimo 0,5 (cinco décimos por cento) do Patrimônio Líquido da Classe;</a:t>
            </a:r>
          </a:p>
          <a:p>
            <a:r>
              <a:t> (iii) inadimplência de obrigações financeiras de devedor e/ou emissor de ativos detidos pela Classe que  representem mais de 25% (vinte e cinco por cento)de seu Patrimônio Líquido;</a:t>
            </a:r>
          </a:p>
          <a:p>
            <a:r>
              <a:t> (iv) pedido de recuperação extrajudicial, de recuperação judicial, ou de falência de Devedor e/ou emissor  de ativos detidos pela Classe;</a:t>
            </a:r>
          </a:p>
          <a:p>
            <a:r>
              <a:t> (v) condenação da Classe de natureza judicial e/ou arbitral e/ou administrativa e/ou outras similares ao  pagamento de mais de 20% (vinte por cento) de seu Patrimônio Líquido; e</a:t>
            </a:r>
          </a:p>
          <a:p>
            <a:r>
              <a:t> (vi) caso caracterizado quaisquer dos Eventos de Liquidação.</a:t>
            </a:r>
          </a:p>
          <a:p>
            <a:r>
              <a:t>Eventos de Liquidação</a:t>
            </a:r>
          </a:p>
          <a:p>
            <a:r>
              <a:t>CNPJ 60010416000112 · Cross default e insolvência · Regulamento · ID 1051393 · 2025-10-09 · versão 1 · p. 21 · 10.3 · https://fnet.bmfbovespa.com.br/fnet/publico/visualizarDocumento?id=1051393</a:t>
            </a:r>
          </a:p>
          <a:p>
            <a:r>
              <a:t>CNPJ 60010416000112 · Cross default e insolvência · Excerto da fonte:</a:t>
            </a:r>
          </a:p>
          <a:p>
            <a:r>
              <a:t>10.3 As seguintes hipóteses são consideradas Eventos de Liquidação:</a:t>
            </a:r>
          </a:p>
          <a:p>
            <a:r>
              <a:t> (i) caso seja deliberado em Assembleia de Cotistas que um Evento de Avaliação constitui um Evento de  Liquidação;</a:t>
            </a:r>
          </a:p>
          <a:p>
            <a:r>
              <a:t> (ii) na hipótese de resilição do Contrato de Custódia ou renúncia do Custodiante, sem que tenha havido  sua substituição por outra instituição, de acordo com os procedimentos estabelecidos neste  Regulamento;</a:t>
            </a:r>
          </a:p>
          <a:p>
            <a:r>
              <a:t> (iii) renúncia do Administrador sem que a Assembleia Especial de Cotistas eficazmente nomeie instituição  habilitada para substituí-lo, nos termos estabelecidos neste Regulamento;</a:t>
            </a:r>
          </a:p>
          <a:p>
            <a:r>
              <a:t> (iv) por determinação da CVM, em caso de violação de normas legais ou regulamentares;</a:t>
            </a:r>
          </a:p>
          <a:p>
            <a:r>
              <a:t> (v) sempre que assim decidido pelos Cotistas em Assembleia Especial de Cotistas especialmente  convocada para tal f im;</a:t>
            </a:r>
          </a:p>
          <a:p>
            <a:r>
              <a:t> (vi) em caso de regime de administração especial temporária - RAET, intervenção ou liquidação  extrajudicial, conforme aplicável, do Custodiante, Administrador, ou Gestor, sem a sua ef etiva  substituição nos termos deste Regulamento;</a:t>
            </a:r>
          </a:p>
          <a:p>
            <a:r>
              <a:t> (vii) se, após 90 (noventa) dias do início das atividades do Fundo, o Patrimônio Líquido diário inf erior da  Classe f or inf erior a R$ 1.000.000,00 (um milhão de reais) pelo período de 90 (noventa) dias  consecutivos;</a:t>
            </a:r>
          </a:p>
          <a:p>
            <a:r>
              <a:t> (viii) impossibilidade da Classe adquirir Direitos Creditórios admitidos por sua política de investimento.</a:t>
            </a:r>
          </a:p>
          <a:p>
            <a:r>
              <a:t>Procedimentos de Liquidação Antecipada</a:t>
            </a:r>
          </a:p>
          <a:p>
            <a:r>
              <a:t>CNPJ 60010416000112 · Cross default e insolvência · Regulamento · ID 1051393 · 2025-10-09 · versão 1 · p. 19 · 10.1 · https://fnet.bmfbovespa.com.br/fnet/publico/visualizarDocumento?id=1051393</a:t>
            </a:r>
          </a:p>
          <a:p>
            <a:r>
              <a:t>CNPJ 60010416000112 · Cross default e insolvência · Excerto da fonte:</a:t>
            </a:r>
          </a:p>
          <a:p>
            <a:r>
              <a:t>10.1 As seguintes hipóteses são consideradas Eventos de Avaliação:</a:t>
            </a:r>
          </a:p>
          <a:p>
            <a:r>
              <a:t> (i) em caso de regime de administração especial temporária - RAET, intervenção ou liquidação  extrajudicial do Endossante;</a:t>
            </a:r>
          </a:p>
          <a:p>
            <a:r>
              <a:t> (ii) em caso de desenquadramento do Índice de Subordinação por 10 (dez) dias úteis consecutivos;</a:t>
            </a:r>
          </a:p>
          <a:p>
            <a:r>
              <a:t> (iii) não cumprimento, pelo Endossante, de qualquer de suas obrigações estabelecidas no Contrato de  Endosso ou neste Anexo I, desde que esse não cumprimento não seja devidamente sanado ou  justif icado dentro de 10 (dez) Dias Úteis a partir do recebimento, pelo Endossante, de notificação,  por escrito, enviada pelo Administrador, inf ormando-o da ocorrência do respectivo evento;</a:t>
            </a:r>
          </a:p>
          <a:p>
            <a:r>
              <a:t> (iv) não cumprimento, pelo Endossante, de sua obrigação de entregar os Arquivos Dataprev ao Gestor  e ao Custodiante dentro do prazo estabelecido neste Anexo I, desde que esse não cumprimento  não seja devidamente sanado ou justificado dentro de 02 (dois) Dias Úteis a partir do recebimento,  pelo Endossante, de notificação, por escrito, enviada pelo Gestor, informando-o da ocorrência do  respectivo evento;</a:t>
            </a:r>
          </a:p>
          <a:p>
            <a:r>
              <a:t> (v) não cumprimento, pelo Endossante, de qualquer de suas obrigações de entregar ao Gestor e/o ao  Custodiante, ou a terceiros por ele indicados, os Documentos Comprobatórios e Documentos  Suporte relativos aos Direitos Creditórios que tenham sido endossados à Classe, dentro do prazo  estabelecido neste Anexo I, desde que esse não cumprimento não seja devidamente sanado ou  justif icado dentro de 02 (dois) Dias Úteis a partir do recebimento, pelo Endossante, de notificação,  por escrito, enviada pelo Gestor e/ou Custodiante, inf ormando- o da ocorrência do respectivo  evento;</a:t>
            </a:r>
          </a:p>
          <a:p>
            <a:r>
              <a:t> (vi) não cumprimento, pelo Agente de Retenção/Cobrança, de qualquer de suas obrigações  estabelecidas no Contrato de Endosso, neste Regulamento ou no Contrato de Serviços MT, desde  que esse não cumprimento não seja devidamente sanado ou justificado dentro de 10 (dez) Dias  Úteis a partir do recebimento, pelo Agente de Retenção/Cobrança, de notificação, por escrito,  enviada pelo Gestor, inf ormando-o da ocorrência do respectivo evento;</a:t>
            </a:r>
          </a:p>
          <a:p>
            <a:r>
              <a:t> (vii) não cumprimento, pelo Administrador, Gestor ou Custodiante, de seus respectivos deveres e  obrigações estabelecidos neste Regulamento, no Contrato de Endosso ou nos respectivos  contratos de prestação de serviços segundo os quais essas entidades são contratadas pela Classe,  desde que, tendo sido notificado pelo Cotista para remediar ou justificar o não cumprimento, não o  f aça dentro de 10 (dez) Dias Úteis a partir do recebimento da notif icação mencionada;</a:t>
            </a:r>
          </a:p>
          <a:p>
            <a:r>
              <a:t>BTG Pactual SAC: 0800 772 28 27 - Ouvidoria: 0800 722 00 48 - btgpactual.com 19</a:t>
            </a:r>
          </a:p>
          <a:p>
            <a:r>
              <a:t>CNPJ 60010416000112 · Cross default e insolvência · Condição: Documentos atuais selecionados no inventário por categoria/escopo; a data documental isolada não comprova vigência jurídica.</a:t>
            </a:r>
          </a:p>
          <a:p>
            <a:r>
              <a:t>CNPJ 60010416000112 · Cross default e insolvência · Versão e prevalência: Documentos atuais selecionados no inventário por categoria/escopo; a data documental isolada não comprova vigência jurídica.</a:t>
            </a:r>
          </a:p>
          <a:p>
            <a:r>
              <a:t>CNPJ 60010416000112 · Cross default e insolvência · Resumo do histórico: {"count": 1, "dates": ["2025-03-20"], "document_count": 1, "sources": [{"document_id": "993786", "title": "Regulamento", "reference_date": "2025-03-20", "version": "1", "page": 21, "clause": "10.2", "url": "https://fnet.bmfbovespa.com.br/fnet/publico/visualizarDocumento?id=993786", "sha256": "fd0fdd369a195510d81f81f505195a0b09e5f43522a990afa7d58c4f872921c8"}], "reference": {"path": "history/60010416000112.json", "criterion_id": "cross_default", "total_count": 1, "preview_count": 1, "full_text_deferred": true, "sha256": "8e2bd813f4c51cf01f6bfaad164bafe69d2bbb192f753eac92da3a01c2e63046"}}</a:t>
            </a:r>
          </a:p>
          <a:p>
            <a:r>
              <a:t>CNPJ 62696791000193 · Cross default e insolvência · Motivo: Não localizada uma cláusula material para este critério nos textos identificados e processados. A ausência de resultado não comprova inexistência da regra.</a:t>
            </a:r>
          </a:p>
          <a:p>
            <a:r>
              <a:t>CNPJ 55563624000109 · Cross default e insolvência · Motivo: Não localizada uma cláusula material para este critério nos textos identificados e processados. A ausência de resultado não comprova inexistência da regra.</a:t>
            </a:r>
          </a:p>
          <a:p>
            <a:r>
              <a:t>CNPJ 62552447000120 · Cross default e insolvência · Regulamento · ID 1200623 · 2026-05-21 · versão 1 · p. 22 · 11.1 · https://fnet.bmfbovespa.com.br/fnet/publico/visualizarDocumento?id=1200623</a:t>
            </a:r>
          </a:p>
          <a:p>
            <a:r>
              <a:t>CNPJ 62552447000120 · Cross default e insolvência · Excerto da fonte:</a:t>
            </a:r>
          </a:p>
          <a:p>
            <a:r>
              <a:t>11.1 As seguintes hipóteses são consideradas eventos de avaliação (“Eventos de Avaliação”):</a:t>
            </a:r>
          </a:p>
          <a:p>
            <a:r>
              <a:t> (i) em caso de regime de administração especial temporária - RAET, intervenção ou liquidação  extrajudicial do Endossante, da instituição f inanceira prestadora dos serviços de agente de  conta vinculada à Classe (“Agente de Conta Vinculada”) e/ou do Agente de Retenção e  Cobrança;</a:t>
            </a:r>
          </a:p>
          <a:p>
            <a:r>
              <a:t> (ii) não cumprimento, pelo Endossante, de qualquer de suas obrigações estabelecidas nos  Contratos de Endosso, no Regulamento ou neste Anexo I, desde que esse não cumprimento  não seja devidamente sanado ou justificado dentro de 5 (cinco) Dias Úteis a partir do  recebimento, pelo Endossante, de notificação, por escrito, enviada pelo Administrador,  inf ormando-o da ocorrência do respectivo evento;</a:t>
            </a:r>
          </a:p>
          <a:p>
            <a:r>
              <a:t> (iii) não cumprimento, pelo Endossante e/ou pelo Agente de Retenção e Cobrança, de sua  obrigação de entregar os (a) arquivos eletrônicos disponibilizados mensalmente pela Dataprev  ao Endossante, contendo (1) as Consignações processadas pela Dataprev no respectivo mês,  identificando os Devedores e os valores que serão descontados de suas respectivas folhas de  pagamentos, bem como (2) a totalidade das operações pendentes de crédito consignado  concedidas pelo Endossante e indicando todos os Direitos Creditórios devi dos mediante  Consignação na próxima data de liquidação (“Arquivos Dataprev”) e/ou (b) os arquivos  eletrônicos disponibilizados mensalmente pela CEF ao Endossante, contendo os pagamentos  de Saque-aniversário processados pela CEF no respectivo mês devidos à Classe, identificando  os Devedores e os valores que serão descontados de seus respectivos Saques-aniversário  (“Arquivos de Liquidação Saque-aniversário”) ao Custodiante dentro do prazo estabelecido  neste Anexo I, desde que esse não cumprimento não seja dev idamente sanado ou justificado  dentro de 5 (cinco) Dias Úteis a partir do recebimento, pelo Endossante e/ou pelo Agente de  Retenção e Cobrança, de notificação, por escrito, enviada pelo Custodiante, inf ormando-o da  ocorrência do respectivo evento;</a:t>
            </a:r>
          </a:p>
          <a:p>
            <a:r>
              <a:t> (iv) não cumprimento, pelo Endossante e/ou pelo Agente de Retenção e Cobrança, de qualquer de  suas obrigações de entregar ao Gestor, ou a terceiros por ele indicados, os Documentos  Comprobatórios e Documentos Suporte relativos aos Direitos Creditórios que tenham sido  endossados à Classe, dentro do prazo estabelecido neste Anexo I, desde que esse não  cumprimento não seja devidamente sanado ou justificado dentro de 5 (cinco) Dias Úteis a partir  do recebimento, pelo Endossante e/ou pelo Agente de Retenção e Cobrança, de notificação,  por escrito, enviada pelo Custodiante, inf ormando- o da ocorrência do respectivo evento;</a:t>
            </a:r>
          </a:p>
          <a:p>
            <a:r>
              <a:t> (v) não cumprimento, pelo Agente de Retenção e Cobrança, de qualquer de suas obrigações  estabelecidas nos Contratos de Endosso, no Regulamento, neste Anexo I ou nos Contratos de  Retenção/Cobrança, desde que esse não cumprimento não seja devidamente sanado ou</a:t>
            </a:r>
          </a:p>
          <a:p>
            <a:r>
              <a:t>CNPJ 62552447000120 · Cross default e insolvência · Condição: Documentos atuais selecionados no inventário por categoria/escopo; a data documental isolada não comprova vigência jurídica.</a:t>
            </a:r>
          </a:p>
          <a:p>
            <a:r>
              <a:t>CNPJ 62552447000120 · Cross default e insolvência · Versão e prevalência: Documentos atuais selecionados no inventário por categoria/escopo; a data documental isolada não comprova vigência jurídica.</a:t>
            </a:r>
          </a:p>
          <a:p>
            <a:r>
              <a:t>CNPJ 63953620000165 · Cross default e insolvência · Anexo ao Regulamento · ID 1222863 · 2026-06-02 · versão 1 · p. 14 · 11.1 · https://fnet.bmfbovespa.com.br/fnet/publico/visualizarDocumento?id=1222863</a:t>
            </a:r>
          </a:p>
          <a:p>
            <a:r>
              <a:t>CNPJ 63953620000165 · Cross default e insolvência · Excerto da fonte:</a:t>
            </a:r>
          </a:p>
          <a:p>
            <a:r>
              <a:t>11.1 As seguintes hipóteses são consideradas eventos de avaliação (“Eventos de Avaliação”):</a:t>
            </a:r>
          </a:p>
          <a:p>
            <a:r>
              <a:t> (i) em caso de regime de administração especial temporária - RAET, intervenção ou liquidação extrajudicial  do Endossante;</a:t>
            </a:r>
          </a:p>
          <a:p>
            <a:r>
              <a:t> (ii) em caso de desenquadramento do Índice de Subordinação por 10 (dez) dias úteis consecutivos;</a:t>
            </a:r>
          </a:p>
          <a:p>
            <a:r>
              <a:t> (iii) não cumprimento, pelo Endossante, de qualquer de suas obrigações estabelecidas no Contrato de  Endosso ou neste Anexo I, desde que esse não cumprimento não seja devidamente sanado ou justificado  dentro de 10 (dez) Dias Úteis a partir do recebimento, pelo Endossante, de notificação, por escrito,  enviada pelo Administrador, informando-o da ocorrência do respectivo evento;</a:t>
            </a:r>
          </a:p>
          <a:p>
            <a:r>
              <a:t> (iv) não cumprimento, pelo Endossante, de sua obrigação de entregar os Arquivos Dataprev ao Gestor e ao  Custodiante dentro do prazo estabelecido neste Anexo, desde que esse não cumprimento não seja  devidamente sanado ou justificado dentro de 02 (dois) Dias Úteis a partir do recebimento, pelo  Endossante, de notificação, por escrito, enviada pelo Gestor, informando-o da ocorrência do respectivo  evento;</a:t>
            </a:r>
          </a:p>
          <a:p>
            <a:r>
              <a:t> (v) não cumprimento, pelo Endossante, de qualquer de suas obrigações de entregar ao Gestor e/o ao  Custodiante, ou a terceiros por ele indicados, os Documentos Comprobatórios e Documentos Suporte  relativos aos Direitos Creditórios que tenham sido endossados à Classe, dentro do prazo estabelecido  neste Anexo I, desde que esse não cumprimento não seja devidamente sanado ou justificado dentro de  02 (dois) Dias Úteis a partir do recebimento, pelo Endossante, de notificação, por escrito, enviada pelo  Gestor e/ou Custodiante, informando- o da ocorrência do respectivo evento;</a:t>
            </a:r>
          </a:p>
          <a:p>
            <a:r>
              <a:t> (vi) não cumprimento, pelo Agente de Retenção/Cobrança, de qualquer de suas obrigações estabelecidas  no Contrato de Endosso, neste Regulamento ou no Contrato de Serviços MT, desde que esse não  cumprimento não seja devidamente sanado ou justificado dentro de 10 (dez) Dias Úteis a partir do  recebimento, pelo Agente de Retenção/Cobrança, de notificação, por escrito, enviada pelo Gestor,  informando-o da ocorrência do respectivo evento;</a:t>
            </a:r>
          </a:p>
          <a:p>
            <a:r>
              <a:t>CNPJ 63953620000165 · Cross default e insolvência · Condição: Documentos atuais selecionados no inventário por categoria/escopo; a data documental isolada não comprova vigência jurídica.</a:t>
            </a:r>
          </a:p>
          <a:p>
            <a:r>
              <a:t>CNPJ 63953620000165 · Cross default e insolvência · Versão e prevalência: Documentos atuais selecionados no inventário por categoria/escopo; a data documental isolada não comprova vigência jurídica.</a:t>
            </a:r>
          </a:p>
          <a:p>
            <a:r>
              <a:t>CNPJ 54871427000194 · Gatilhos de avaliação e liquidação · Regulamento · ID 670691 · 2024-04-28 · versão 1 · p. 17 · 10.2 · https://fnet.bmfbovespa.com.br/fnet/publico/visualizarDocumento?id=670691</a:t>
            </a:r>
          </a:p>
          <a:p>
            <a:r>
              <a:t>CNPJ 54871427000194 · Gatilhos de avaliação e liquidação · Excerto da fonte:</a:t>
            </a:r>
          </a:p>
          <a:p>
            <a:r>
              <a:t>10.2 A Assembleia Especial de Cotistas é responsável por deliberar sobre as matérias específicas da Classe  de Cotas, sem prejuízo das demais disposições previstas na regulamentação aplicável, incluindo, mas  não se limitando a:</a:t>
            </a:r>
          </a:p>
          <a:p>
            <a:r>
              <a:t> (i) deliberar sobre as demonstrações contábeis da Classe;</a:t>
            </a:r>
          </a:p>
          <a:p>
            <a:r>
              <a:t> (ii) deliberar sobre substituição de Prestadores de Serviços Essenciais, observado o disposto no  art. 70, §1º da parte geral da Resolução CVM 175;</a:t>
            </a:r>
          </a:p>
          <a:p>
            <a:r>
              <a:t> (iii) deliberar sobre elevação da Taxa de Administração, inclusive na hipótese de restabelecimento  de taxa que tenha sido objeto de redução;</a:t>
            </a:r>
          </a:p>
          <a:p>
            <a:r>
              <a:t> (iv) deliberar sobre incorporação, f usão, cisão total ou parcial, a transf ormação ou liquidação da  Classe;</a:t>
            </a:r>
          </a:p>
          <a:p>
            <a:r>
              <a:t> (v) alterações das características, vantagens, direitos e obrigações das Cotas;</a:t>
            </a:r>
          </a:p>
          <a:p>
            <a:r>
              <a:t> (vi) alterar critérios e procedimentos para Amortização e/ou resgate de Cotas mediante dação em  pagamento de Direitos Creditórios;</a:t>
            </a:r>
          </a:p>
          <a:p>
            <a:r>
              <a:t> (vii) aprovar a contratação de Agente de Cobrança dos Direitos Creditórios;</a:t>
            </a:r>
          </a:p>
          <a:p>
            <a:r>
              <a:t> (viii) aprovar emissão de novas Cotas da Classe;</a:t>
            </a:r>
          </a:p>
          <a:p>
            <a:r>
              <a:t> (ix) deliberar sobre a eventual necessidade de aportes adicionais de recursos na Classe pelos  Cotistas;</a:t>
            </a:r>
          </a:p>
          <a:p>
            <a:r>
              <a:t> (x) alterações na Política de Investimentos;</a:t>
            </a:r>
          </a:p>
          <a:p>
            <a:r>
              <a:t> (xi) alterações nos Critérios de Elegibilidade;</a:t>
            </a:r>
          </a:p>
          <a:p>
            <a:r>
              <a:t> (xii) alteração dos Eventos de Avaliação, dos Eventos de Liquidação e/ou das consequências deles  decorrentes em f unção do previsto neste Regulamento;</a:t>
            </a:r>
          </a:p>
          <a:p>
            <a:r>
              <a:t> (xiii) plano de resolução do Patrimônio Líquido negativo da Classe, nos termos da Resolução CVM  175; e</a:t>
            </a:r>
          </a:p>
          <a:p>
            <a:r>
              <a:t> (xiv) pedido de declaração judicial de insolvência da Classe.</a:t>
            </a:r>
          </a:p>
          <a:p>
            <a:r>
              <a:t>CAPÍTULO 11 – EVENTOS DE AVALIAÇÃO, EVENTOS DE LIQUIDAÇÃO, E PROCEDIMENTOS DE LIQUIDAÇÃO ANTECIPADA Eventos de Avaliação</a:t>
            </a:r>
          </a:p>
          <a:p>
            <a:r>
              <a:t>CNPJ 54871427000194 · Gatilhos de avaliação e liquidação · Regulamento · ID 670691 · 2024-04-28 · versão 1 · p. 19 · 11.2 · https://fnet.bmfbovespa.com.br/fnet/publico/visualizarDocumento?id=670691</a:t>
            </a:r>
          </a:p>
          <a:p>
            <a:r>
              <a:t>CNPJ 54871427000194 · Gatilhos de avaliação e liquidação · Excerto da fonte:</a:t>
            </a:r>
          </a:p>
          <a:p>
            <a:r>
              <a:t>11.2 Os seguintes eventos obrigarão o ADMINISTRADOR a verificar se o Patrimônio Líquido da Classe está  negativo:</a:t>
            </a:r>
          </a:p>
          <a:p>
            <a:r>
              <a:t> (i) qualquer pedido de declaração judicial de insolvência da Classe; e</a:t>
            </a:r>
          </a:p>
          <a:p>
            <a:r>
              <a:t> (ii) na ocorrência de quaisquer dos Eventos de Avaliação e/ou Eventos de Liquidação .</a:t>
            </a:r>
          </a:p>
          <a:p>
            <a:r>
              <a:t>Eventos de Liquidação</a:t>
            </a:r>
          </a:p>
          <a:p>
            <a:r>
              <a:t>CNPJ 54871427000194 · Gatilhos de avaliação e liquidação · Condição: Documentos atuais selecionados no inventário por categoria/escopo; a data documental isolada não comprova vigência jurídica.</a:t>
            </a:r>
          </a:p>
          <a:p>
            <a:r>
              <a:t>CNPJ 54871427000194 · Gatilhos de avaliação e liquidação · Versão e prevalência: Documentos atuais selecionados no inventário por categoria/escopo; a data documental isolada não comprova vigência jurídica.</a:t>
            </a:r>
          </a:p>
          <a:p>
            <a:r>
              <a:t>CNPJ 54871427000194 · Gatilhos de avaliação e liquidação · Resumo do histórico: {"count": 2, "dates": ["2024-04-19", "2024-04-28"], "document_count": 2, "sources": [{"document_id": "670691", "title": "Regulamento", "reference_date": "2024-04-28", "version": "1", "page": "17-20", "url": "https://fnet.bmfbovespa.com.br/fnet/publico/visualizarDocumento?id=670691", "sha256": "bf16dd7f1a62d5cdbf2e2d54fef81783783f7310fbc99c3a8f00459bdf9d037b"}, {"document_id": "670689", "title": "Regulamento", "reference_date": "2024-04-19", "version": "1", "page": 17, "clause": "10.2", "url": "https://fnet.bmfbovespa.com.br/fnet/publico/visualizarDocumento?id=670689", "sha256": "891bc9bc5d87bbc02ec139077a84d2702eb81ea02035fb71d24f5b8366b94a0b"}], "reference": {"path": "history/54871427000194.json", "criterion_id": "legacy_events", "total_count": 2, "preview_count": 2, "full_text_deferred": true, "sha256": "35d7cd99be50c7287c9fb675cf4f2e736002315295a225a9efa79c8d9186d874"}}</a:t>
            </a:r>
          </a:p>
          <a:p>
            <a:r>
              <a:t>CNPJ 60010416000112 · Gatilhos de avaliação e liquidação · Regulamento · ID 1051393 · 2025-10-09 · versão 1 · p. 21 · 10.2 · https://fnet.bmfbovespa.com.br/fnet/publico/visualizarDocumento?id=1051393</a:t>
            </a:r>
          </a:p>
          <a:p>
            <a:r>
              <a:t>CNPJ 60010416000112 · Gatilhos de avaliação e liquidação · Excerto da fonte:</a:t>
            </a:r>
          </a:p>
          <a:p>
            <a:r>
              <a:t>10.2 Os seguintes eventos obrigarão o Administrador a verif icar se o Patrimônio Líquido da Classe está  negativo:</a:t>
            </a:r>
          </a:p>
          <a:p>
            <a:r>
              <a:t> (i) qualquer pedido de declaração judicial de insolvência da Classe;</a:t>
            </a:r>
          </a:p>
          <a:p>
            <a:r>
              <a:t> (ii) identificação de indícios de f raudes envolvendo o lastro de Direitos Creditórios que representem, no  mínimo 0,5 (cinco décimos por cento) do Patrimônio Líquido da Classe;</a:t>
            </a:r>
          </a:p>
          <a:p>
            <a:r>
              <a:t> (iii) inadimplência de obrigações financeiras de devedor e/ou emissor de ativos detidos pela Classe que  representem mais de 25% (vinte e cinco por cento)de seu Patrimônio Líquido;</a:t>
            </a:r>
          </a:p>
          <a:p>
            <a:r>
              <a:t> (iv) pedido de recuperação extrajudicial, de recuperação judicial, ou de falência de Devedor e/ou emissor  de ativos detidos pela Classe;</a:t>
            </a:r>
          </a:p>
          <a:p>
            <a:r>
              <a:t> (v) condenação da Classe de natureza judicial e/ou arbitral e/ou administrativa e/ou outras similares ao  pagamento de mais de 20% (vinte por cento) de seu Patrimônio Líquido; e</a:t>
            </a:r>
          </a:p>
          <a:p>
            <a:r>
              <a:t> (vi) caso caracterizado quaisquer dos Eventos de Liquidação.</a:t>
            </a:r>
          </a:p>
          <a:p>
            <a:r>
              <a:t>Eventos de Liquidação</a:t>
            </a:r>
          </a:p>
          <a:p>
            <a:r>
              <a:t>CNPJ 60010416000112 · Gatilhos de avaliação e liquidação · Regulamento · ID 1051393 · 2025-10-09 · versão 1 · p. 21 · 10.3 · https://fnet.bmfbovespa.com.br/fnet/publico/visualizarDocumento?id=1051393</a:t>
            </a:r>
          </a:p>
          <a:p>
            <a:r>
              <a:t>CNPJ 60010416000112 · Gatilhos de avaliação e liquidação · Excerto da fonte:</a:t>
            </a:r>
          </a:p>
          <a:p>
            <a:r>
              <a:t>10.3 As seguintes hipóteses são consideradas Eventos de Liquidação:</a:t>
            </a:r>
          </a:p>
          <a:p>
            <a:r>
              <a:t> (i) caso seja deliberado em Assembleia de Cotistas que um Evento de Avaliação constitui um Evento de  Liquidação;</a:t>
            </a:r>
          </a:p>
          <a:p>
            <a:r>
              <a:t> (ii) na hipótese de resilição do Contrato de Custódia ou renúncia do Custodiante, sem que tenha havido  sua substituição por outra instituição, de acordo com os procedimentos estabelecidos neste  Regulamento;</a:t>
            </a:r>
          </a:p>
          <a:p>
            <a:r>
              <a:t> (iii) renúncia do Administrador sem que a Assembleia Especial de Cotistas eficazmente nomeie instituição  habilitada para substituí-lo, nos termos estabelecidos neste Regulamento;</a:t>
            </a:r>
          </a:p>
          <a:p>
            <a:r>
              <a:t> (iv) por determinação da CVM, em caso de violação de normas legais ou regulamentares;</a:t>
            </a:r>
          </a:p>
          <a:p>
            <a:r>
              <a:t> (v) sempre que assim decidido pelos Cotistas em Assembleia Especial de Cotistas especialmente  convocada para tal f im;</a:t>
            </a:r>
          </a:p>
          <a:p>
            <a:r>
              <a:t> (vi) em caso de regime de administração especial temporária - RAET, intervenção ou liquidação  extrajudicial, conforme aplicável, do Custodiante, Administrador, ou Gestor, sem a sua ef etiva  substituição nos termos deste Regulamento;</a:t>
            </a:r>
          </a:p>
          <a:p>
            <a:r>
              <a:t> (vii) se, após 90 (noventa) dias do início das atividades do Fundo, o Patrimônio Líquido diário inf erior da  Classe f or inf erior a R$ 1.000.000,00 (um milhão de reais) pelo período de 90 (noventa) dias  consecutivos;</a:t>
            </a:r>
          </a:p>
          <a:p>
            <a:r>
              <a:t> (viii) impossibilidade da Classe adquirir Direitos Creditórios admitidos por sua política de investimento.</a:t>
            </a:r>
          </a:p>
          <a:p>
            <a:r>
              <a:t>Procedimentos de Liquidação Antecipada</a:t>
            </a:r>
          </a:p>
          <a:p>
            <a:r>
              <a:t>CNPJ 60010416000112 · Gatilhos de avaliação e liquidação · Regulamento · ID 1051393 · 2025-10-09 · versão 1 · p. 38 · https://fnet.bmfbovespa.com.br/fnet/publico/visualizarDocumento?id=1051393</a:t>
            </a:r>
          </a:p>
          <a:p>
            <a:r>
              <a:t>CNPJ 60010416000112 · Gatilhos de avaliação e liquidação · Excerto da fonte:</a:t>
            </a:r>
          </a:p>
          <a:p>
            <a:r>
              <a:t>Anexo I ao Regulamento CLASSE ÚNICA DO MT I CONSIGNADO PRIVADO I FUNDO DE INVESTIMENTO EM DIREITOS CREDITÓRIOS RESPONSABILIDADE LIMITADA  deixar de produzir os efeitos pretendidos, bem como causar perdas para o Cotista e colocar  em risco o patrimônio da Classe</a:t>
            </a:r>
          </a:p>
          <a:p>
            <a:r>
              <a:t> (iii) Risco decorrente da amortização das Cotas: conforme previsto neste Anexo I, as Cotas  poderão ser amortizadas conf orme deliberado pela em Assembleia de Cotistas.</a:t>
            </a:r>
          </a:p>
          <a:p>
            <a:r>
              <a:t> Considerando que a realização da amortização dependerá do caixa existente na Classe, é  possível que, se essa condição não seja verif icada, a Classe não poderá ef etuar as  amortizações das Cotas conforme deliberadas pelos Cotistas. A Classe, o Administrador, o  Custodiante, o Gestor, o Agente de Retenção/Cobrança, o Coordenador Líder ou o  Endossante não terão direito a nenhuma multa ou penalidade, por qualquer motivo, devido a  esse f ato.</a:t>
            </a:r>
          </a:p>
          <a:p>
            <a:r>
              <a:t> (iv) Risco de invalidade ou ineficácia do endosso: o endosso dos Direitos Creditórios à Classe  poderá ser invalidada ou considerada ineficaz, o que impacta negativamente o patrimônio da  Classe, no caso de (a) fraude contra credores, se no momento do endosso o Endossante for  insolvente ou se ele vier a se tornar insolvente; (b) fraude à execução, se (1) no momento do  endosso o Endossante f or réu em um processo judicial capaz de torná-lo insolvente; ou (2)  os Direitos Creditórios endossados à Classe estiverem sujeitos a qualquer demanda judicial  baseada em garantia real; e (c) f raude à execução f iscal, se o Endossante, ao celebrar o  endosso de crédito, como contribuinte por débito à Fazenda Pública, e crédito f iscal  regularmente inscrito na dívida ativa, não tiver ativos para pagamento total da dívida f iscal.</a:t>
            </a:r>
          </a:p>
          <a:p>
            <a:r>
              <a:t> Entretanto, o Administrador, o Custodiante, o Gestor e o Agente de Retenção/ Cobrança não  verif icarão os eventos acima no endosso de Direito Creditório e não serão responsabilizados  em caso de invalidação ou inef icácia do endosso de um Direito Creditório à Classe.</a:t>
            </a:r>
          </a:p>
          <a:p>
            <a:r>
              <a:t> (v) Risco de impugnação judicial: a CCB poderá ser impugnada judicialmente tanto no que diz  respeito à sua f ormalização quanto às taxas aplicadas e à f orma de cobrança da CCB,  inclusive em virtude das disposições estabelecidas na Lei nº 8.078, de 11 de setembro de  1990, conf orme alterada (Código de Def esa do Consumidor), tais como uma possível  impugnação de cláusula abusiva, bem como qualquer vício nos Documentos Comprobatórios  ou Documentos Suporte que impeçam a exigibilidade do crédito (ausência de assinaturas ou  f alta de prova de f ormalização regular do instrumento, representação ilegítima, dentre  outros). Nesses casos, a CCB poderá ser modificada ou cancelada em virtude de decisão  judicial, o que poderá acarretar perdas para a Classe e, consequentemente, af etar  negativamente a rentabilidade de seu patrimônio.</a:t>
            </a:r>
          </a:p>
          <a:p>
            <a:r>
              <a:t> (vi) Risco de restrições de natureza legal ou regulamentar: a Classe pode estar sujeito a  riscos, além do controle do Administrador, decorrentes de quaisquer restrições f uturas de  natureza legal e/ou regulamentar que venham a af etar a validade da constituição e/ou o  endosso dos Direitos Creditórios à Classe. Caso essas restrições ocorram, o f luxo de  cessões de Direitos Creditórios à Classe pode ser interrompido e, portanto, pode  comprometer a continuidade da Classe e a perspectiva de investimento do Cotista. Além  disso, os Direitos Creditórios que já estão na Carteira podem ter sua validade questionada,  o que pode causar, portanto, prejuízos ao Cotista.</a:t>
            </a:r>
          </a:p>
          <a:p>
            <a:r>
              <a:t> (vii) Risco de não obter um tratamento fiscal mais benéfico: o Gestor deverá envidar seus  melhores esforços para que o tratamento f iscal aplicável às classes de longo prazo seja  aplicado à Classe e ao Cotista. Entretanto, em virtude de eventos fora do controle do Gestor,  incluindo, mas não se limitando aos eventos de liquidação antecipada da Classe  estabelecidos neste Anexo I, é possível que a Classe e o Cotista não desfrutem de tratamento  f iscal mais benéf ico, atribuído às classes de longo prazo. Essa situação pode levar a um  impacto adverso na rentabilidade líquida decorrente do investimento nas Cotas.</a:t>
            </a:r>
          </a:p>
          <a:p>
            <a:r>
              <a:t> (viii) Risco de bloqueio da Conta de Cobrança da Classe ou da Conta de Movimentação da  Classe: os recursos provenientes da Classe serão direcionados para a Conta de Cobrança BTG Pactual SAC: 0800 772 28 27 - Ouvidoria: 0800 722 00 48 - btgpactual.com 38</a:t>
            </a:r>
          </a:p>
          <a:p>
            <a:r>
              <a:t>CNPJ 60010416000112 · Gatilhos de avaliação e liquidação · Condição: Documentos atuais selecionados no inventário por categoria/escopo; a data documental isolada não comprova vigência jurídica.</a:t>
            </a:r>
          </a:p>
          <a:p>
            <a:r>
              <a:t>CNPJ 60010416000112 · Gatilhos de avaliação e liquidação · Versão e prevalência: Documentos atuais selecionados no inventário por categoria/escopo; a data documental isolada não comprova vigência jurídica.</a:t>
            </a:r>
          </a:p>
          <a:p>
            <a:r>
              <a:t>CNPJ 60010416000112 · Gatilhos de avaliação e liquidação · Resumo do histórico: {"count": 2, "dates": ["2025-03-20", "2025-10-09"], "document_count": 2, "sources": [{"document_id": "1051393", "title": "Regulamento", "reference_date": "2025-10-09", "version": "1", "page": "19-22", "url": "https://fnet.bmfbovespa.com.br/fnet/publico/visualizarDocumento?id=1051393", "sha256": "8469d613078ffd5a6c1d217885d8a397a16342c0b937ae4aa24b106505f233ae"}, {"document_id": "993786", "title": "Regulamento", "reference_date": "2025-03-20", "version": "1", "page": 21, "clause": "10.2", "url": "https://fnet.bmfbovespa.com.br/fnet/publico/visualizarDocumento?id=993786", "sha256": "fd0fdd369a195510d81f81f505195a0b09e5f43522a990afa7d58c4f872921c8"}], "reference": {"path": "history/60010416000112.json", "criterion_id": "legacy_events", "total_count": 2, "preview_count": 2, "full_text_deferred": true, "sha256": "8e2bd813f4c51cf01f6bfaad164bafe69d2bbb192f753eac92da3a01c2e63046"}}</a:t>
            </a:r>
          </a:p>
          <a:p>
            <a:r>
              <a:t>CNPJ 62696791000193 · Gatilhos de avaliação e liquidação · Regulamento · ID 1143317 · 2026-03-20 · versão 1 · p. 37 · 5.1 · https://fnet.bmfbovespa.com.br/fnet/publico/visualizarDocumento?id=1143317</a:t>
            </a:r>
          </a:p>
          <a:p>
            <a:r>
              <a:t>CNPJ 62696791000193 · Gatilhos de avaliação e liquidação · Excerto da fonte:</a:t>
            </a:r>
          </a:p>
          <a:p>
            <a:r>
              <a:t>5.1. Verif icado excesso de subordinação, ou seja, que a representatividade de Cotas Júnior em relação ao  Patrimônio Líquido da Classe é superior ao Índice de Subordinação (“Excesso de Subordinação”), desde  que assim seja deliberado por maioria dos votos de seus titulares e da maioria dos titulares de Cotas  Seniores, as Cotas Juniores poderão ser objeto de Amortização Extraordinária até o limite do respectivos  Excesso de Subordinação– ainda que tal Amortização Extraordinária ocorra antes do resgate integral das  Cotas Seniores– desde que: (i) seja observada a ordem de alocação de recursos definida no item 6.1  acima Anexo; (ii) não existam Obrigações da Classe vencidas e não pagas; (iii) não estejam em curso  quaisquer Eventos de Avaliação e/ou Eventos de Liquidação; (iv) existam suficientes Ativos Financeiros  e/ou recursos disponíveis; e (vii) permaneçam atendidas todos os Índices de Subordinação.</a:t>
            </a:r>
          </a:p>
          <a:p>
            <a:r>
              <a:t>6. Negociação das Cotas</a:t>
            </a:r>
          </a:p>
          <a:p>
            <a:r>
              <a:t>CNPJ 62696791000193 · Gatilhos de avaliação e liquidação · Condição: Documentos atuais selecionados no inventário por categoria/escopo; a data documental isolada não comprova vigência jurídica.</a:t>
            </a:r>
          </a:p>
          <a:p>
            <a:r>
              <a:t>CNPJ 62696791000193 · Gatilhos de avaliação e liquidação · Motivo: Cláusula primária localizada e citada, mas sua lista/condições extensas não admitem uma síntese literal curta confirmada. O trecho integral permanece nas fontes.</a:t>
            </a:r>
          </a:p>
          <a:p>
            <a:r>
              <a:t>CNPJ 62696791000193 · Gatilhos de avaliação e liquidação · Versão e prevalência: Documentos atuais selecionados no inventário por categoria/escopo; a data documental isolada não comprova vigência jurídica.</a:t>
            </a:r>
          </a:p>
          <a:p>
            <a:r>
              <a:t>CNPJ 55563624000109 · Gatilhos de avaliação e liquidação · Regulamento · ID 1192614 · 2026-04-30 · versão 1 · p. 21 · 11.2 · https://fnet.bmfbovespa.com.br/fnet/publico/visualizarDocumento?id=1192614</a:t>
            </a:r>
          </a:p>
          <a:p>
            <a:r>
              <a:t>CNPJ 55563624000109 · Gatilhos de avaliação e liquidação · Excerto da fonte:</a:t>
            </a:r>
          </a:p>
          <a:p>
            <a:r>
              <a:t>11.2 Os seguintes eventos obrigarão o ADMINISTRADOR a verificar se o Patrimônio Líquido da Classe está negativo  (“Eventos de Verificação do Patrimônio”):</a:t>
            </a:r>
          </a:p>
          <a:p>
            <a:r>
              <a:t> (i) qualquer pedido de declaração judicial de insolvência da Classe;</a:t>
            </a:r>
          </a:p>
          <a:p>
            <a:r>
              <a:t> (ii) qualquer pedido ou declaração judicial de insolvência da Classe Investida;</a:t>
            </a:r>
          </a:p>
          <a:p>
            <a:r>
              <a:t> (iii) identificação de indícios de fraudes envolvendo o lastro dos direitos creditórios da Classe Investida;</a:t>
            </a:r>
          </a:p>
          <a:p>
            <a:r>
              <a:t> (iv) condenação da Classe de natureza judicial e/ou arbitral e/ou administrativa e/ou outras similares ao  pagamento de mais de 20% (vinte por cento) de seu Patrimônio Líquido; e</a:t>
            </a:r>
          </a:p>
          <a:p>
            <a:r>
              <a:t> (v) caso caracterizado quaisquer dos Eventos de Avaliação e/ou Eventos de Liquidação.</a:t>
            </a:r>
          </a:p>
          <a:p>
            <a:r>
              <a:t> Eventos de Liquidação</a:t>
            </a:r>
          </a:p>
          <a:p>
            <a:r>
              <a:t>CNPJ 55563624000109 · Gatilhos de avaliação e liquidação · Regulamento · ID 1192614 · 2026-04-30 · versão 1 · p. 20 · https://fnet.bmfbovespa.com.br/fnet/publico/visualizarDocumento?id=1192614</a:t>
            </a:r>
          </a:p>
          <a:p>
            <a:r>
              <a:t>CNPJ 55563624000109 · Gatilhos de avaliação e liquidação · Excerto da fonte:</a:t>
            </a:r>
          </a:p>
          <a:p>
            <a:r>
              <a:t>(vi) alterar as características, vantagens, direitos e obrigações 90% (noventa por cento) do total das Cotas  das Cotas; emitidas</a:t>
            </a:r>
          </a:p>
          <a:p>
            <a:r>
              <a:t> (vii) alterar critérios e procedimentos para resgate de Cotas  mediante dação em pagamento de Cotas da Classe Maioria do total das Cotas emitidas  Investida;</a:t>
            </a:r>
          </a:p>
          <a:p>
            <a:r>
              <a:t> (viii) aprovar a emissão de novas Cotas fora do Capital  Maioria do total das Cotas emitidas  Autorizado;</a:t>
            </a:r>
          </a:p>
          <a:p>
            <a:r>
              <a:t> (ix) alterar a Política de Investimentos; 90% (noventa por cento) do total das Cotas  emitidas</a:t>
            </a:r>
          </a:p>
          <a:p>
            <a:r>
              <a:t> (x) alterar o Critério de Elegibilidade; 90% (noventa por cento) do total das Cotas  emitidas</a:t>
            </a:r>
          </a:p>
          <a:p>
            <a:r>
              <a:t> (xi) alterar os Eventos de Avaliação, os Eventos de Liquidação  90% (noventa por cento) do total das Cotas  e/ou das consequências deles decorrentes em função do  emitidas  previsto neste Anexo;</a:t>
            </a:r>
          </a:p>
          <a:p>
            <a:r>
              <a:t> (xii) deliberar sobre o plano de resolução do Patrimônio Líquido  Maioria do total das Cotas emitidas  negativo da Classe, nos termos da Resolução CVM 175; e</a:t>
            </a:r>
          </a:p>
          <a:p>
            <a:r>
              <a:t> (xiii) deliberar sobre o pedido de declaração judicial de 90% (noventa por cento) do total das Cotas  insolvência da Classe. emitidas</a:t>
            </a:r>
          </a:p>
          <a:p>
            <a:r>
              <a:t>CNPJ 55563624000109 · Gatilhos de avaliação e liquidação · Regulamento · ID 1192614 · 2026-04-30 · versão 1 · p. 2 · 1.3 · https://fnet.bmfbovespa.com.br/fnet/publico/visualizarDocumento?id=1192614</a:t>
            </a:r>
          </a:p>
          <a:p>
            <a:r>
              <a:t>CNPJ 55563624000109 · Gatilhos de avaliação e liquidação · Excerto da fonte:</a:t>
            </a:r>
          </a:p>
          <a:p>
            <a:r>
              <a:t>1.3 O Anexo dispõe, sem prejuízo de outros requisitos e informações previstos na regulamentação, sobre os  seguintes aspectos relacionados à Classe: (i) características gerais, incluindo a indicação dos demais prestadores  de serviços; (ii) responsabilidade dos cotistas e regime de insolvência; (iii) características, direitos, condições de  emissão, subscrição, integralização, amortização e resgate das Cotas; (iv) ordem de alocação de recursos; (v)  assembleia especial de cotistas e demais procedimentos aplicáveis às manifestações de vontade dos cotistas; (vi)  remuneração dos prestadores de serviços; (vii) política de investimento e composição e diversificação da  Carteira; (viii) eventos de avaliação, eventos de liquidação e procedimentos de liquidação antecipada da Classe;</a:t>
            </a:r>
          </a:p>
          <a:p>
            <a:r>
              <a:t> (ix) origem dos Direitos Creditórios; (x) Critério de Elegibilidade; (xi) custos referentes à defesa dos interesses da  Classe; e (xii) fatores de risco.</a:t>
            </a:r>
          </a:p>
          <a:p>
            <a:r>
              <a:t>CNPJ 55563624000109 · Gatilhos de avaliação e liquidação · Condição: Documentos atuais selecionados no inventário por categoria/escopo; a data documental isolada não comprova vigência jurídica.</a:t>
            </a:r>
          </a:p>
          <a:p>
            <a:r>
              <a:t>CNPJ 55563624000109 · Gatilhos de avaliação e liquidação · Versão e prevalência: Documentos atuais selecionados no inventário por categoria/escopo; a data documental isolada não comprova vigência jurídica.</a:t>
            </a:r>
          </a:p>
          <a:p>
            <a:r>
              <a:t>CNPJ 62552447000120 · Gatilhos de avaliação e liquidação · Regulamento · ID 1200623 · 2026-05-21 · versão 1 · p. 2 · 1.4 · https://fnet.bmfbovespa.com.br/fnet/publico/visualizarDocumento?id=1200623</a:t>
            </a:r>
          </a:p>
          <a:p>
            <a:r>
              <a:t>CNPJ 62552447000120 · Gatilhos de avaliação e liquidação · Excerto da fonte:</a:t>
            </a:r>
          </a:p>
          <a:p>
            <a:r>
              <a:t>1.4 O Anexo de cada classe de Cotas (“Classe”), conforme aplicável, dispõe, sem prejuízo de outros  requisitos e inf ormações previstos na regulamentação, sobre: (i) características gerais, incluindo a  indicação dos demais prestadores de serviços; (ii) responsabilidade dos Cotistas e regime de  insolvência; (iii) características, direitos, condições de emissão, subscrição, integralização,  Amortização e resgate das Cotas; (iv) ordem de alocação de recursos; (v) Assembleia Especial e  demais procedimentos aplicáveis às manifestações de vontade dos Cotistas; (vi) remuneração dos  prestadores de serviços; (vii) política de investimento e composição e diversificação da Carteira; (viii)  eventos de avaliação, eventos de liquidação e liquidação antecipada da Classe; (ix) origem dos direitos  creditórios; (x) critérios de elegibilidade; (xi) custos referentes à defesa dos interesses de cada Classe;</a:t>
            </a:r>
          </a:p>
          <a:p>
            <a:r>
              <a:t> e (xii) f atores de risco.</a:t>
            </a:r>
          </a:p>
          <a:p>
            <a:r>
              <a:t>CNPJ 62552447000120 · Gatilhos de avaliação e liquidação · Regulamento · ID 1200623 · 2026-05-21 · versão 1 · p. 21 · 10.2 · https://fnet.bmfbovespa.com.br/fnet/publico/visualizarDocumento?id=1200623</a:t>
            </a:r>
          </a:p>
          <a:p>
            <a:r>
              <a:t>CNPJ 62552447000120 · Gatilhos de avaliação e liquidação · Excerto da fonte:</a:t>
            </a:r>
          </a:p>
          <a:p>
            <a:r>
              <a:t>10.2 Os seguintes quóruns deverão ser observados pela Assembleia Especial ao deliberar as matérias  abaixo:</a:t>
            </a:r>
          </a:p>
          <a:p>
            <a:r>
              <a:t>(i) deliberar sobre substituição de Prestadores de Serviços Unanimidade dos Cotistas  Essenciais, observado o disposto no art. 70, §1º da Parte Geral  da Resolução CVM 175, quando aplicável;</a:t>
            </a:r>
          </a:p>
          <a:p>
            <a:r>
              <a:t>(ii) deliberar sobre elevação da Taxa Global, inclusive na Unanimidade dos Cotistas  hipótese de restabelecimento de taxa que tenha sido objeto de  redução;</a:t>
            </a:r>
          </a:p>
          <a:p>
            <a:r>
              <a:t>(iii) deliberar sobre incorporação, fusão, cisão total ou parcial, Unanimidade dos Cotistas  a transf ormação ou liquidação da Classe;</a:t>
            </a:r>
          </a:p>
          <a:p>
            <a:r>
              <a:t>(iv) deliberar sobre a prestação de f iança, aval, aceite ou Unanimidade dos Cotistas  qualquer outra f orma de retenção de risco;</a:t>
            </a:r>
          </a:p>
          <a:p>
            <a:r>
              <a:t>(v) alterações das características, vantagens, direitos e Unanimidade dos Cotistas  obrigações das Cotas;</a:t>
            </a:r>
          </a:p>
          <a:p>
            <a:r>
              <a:t>(vi) alterar critérios e procedimentos para Amortização Unanimidade dos Cotistas  mediante dação em pagamento de Direitos Creditórios;</a:t>
            </a:r>
          </a:p>
          <a:p>
            <a:r>
              <a:t>(vii) aprovar emissão de novas Cotas; Unanimidade dos Cotistas</a:t>
            </a:r>
          </a:p>
          <a:p>
            <a:r>
              <a:t>(viii) alterações na Política de Investimentos; Unanimidade dos Cotistas</a:t>
            </a:r>
          </a:p>
          <a:p>
            <a:r>
              <a:t>(ix) alterações nos Critérios de Elegibilidade e nas Condições Unanimidade dos Cotistas  de Endosso;</a:t>
            </a:r>
          </a:p>
          <a:p>
            <a:r>
              <a:t>(x) alteração dos Eventos de Avaliação, dos Eventos de Unanimidade dos Cotistas  Liquidação e/ou das consequências deles decorrentes em  f unção do previsto neste Regulamento;</a:t>
            </a:r>
          </a:p>
          <a:p>
            <a:r>
              <a:t>(xi) plano de resolução do Patrimônio Líquido negativo da Unanimidade dos Cotistas  Classe, nos termos da Resolução CVM 175; e</a:t>
            </a:r>
          </a:p>
          <a:p>
            <a:r>
              <a:t>(xii) pedido de declaração judicial de insolvência da Classe. Unanimidade dos Cotistas</a:t>
            </a:r>
          </a:p>
          <a:p>
            <a:r>
              <a:t>CNPJ 62552447000120 · Gatilhos de avaliação e liquidação · Regulamento · ID 1200623 · 2026-05-21 · versão 1 · p. 22 · 11.1 · https://fnet.bmfbovespa.com.br/fnet/publico/visualizarDocumento?id=1200623</a:t>
            </a:r>
          </a:p>
          <a:p>
            <a:r>
              <a:t>CNPJ 62552447000120 · Gatilhos de avaliação e liquidação · Excerto da fonte:</a:t>
            </a:r>
          </a:p>
          <a:p>
            <a:r>
              <a:t>11.1 As seguintes hipóteses são consideradas eventos de avaliação (“Eventos de Avaliação”):</a:t>
            </a:r>
          </a:p>
          <a:p>
            <a:r>
              <a:t> (i) em caso de regime de administração especial temporária - RAET, intervenção ou liquidação  extrajudicial do Endossante, da instituição f inanceira prestadora dos serviços de agente de  conta vinculada à Classe (“Agente de Conta Vinculada”) e/ou do Agente de Retenção e  Cobrança;</a:t>
            </a:r>
          </a:p>
          <a:p>
            <a:r>
              <a:t> (ii) não cumprimento, pelo Endossante, de qualquer de suas obrigações estabelecidas nos  Contratos de Endosso, no Regulamento ou neste Anexo I, desde que esse não cumprimento  não seja devidamente sanado ou justificado dentro de 5 (cinco) Dias Úteis a partir do  recebimento, pelo Endossante, de notificação, por escrito, enviada pelo Administrador,  inf ormando-o da ocorrência do respectivo evento;</a:t>
            </a:r>
          </a:p>
          <a:p>
            <a:r>
              <a:t> (iii) não cumprimento, pelo Endossante e/ou pelo Agente de Retenção e Cobrança, de sua  obrigação de entregar os (a) arquivos eletrônicos disponibilizados mensalmente pela Dataprev  ao Endossante, contendo (1) as Consignações processadas pela Dataprev no respectivo mês,  identificando os Devedores e os valores que serão descontados de suas respectivas folhas de  pagamentos, bem como (2) a totalidade das operações pendentes de crédito consignado  concedidas pelo Endossante e indicando todos os Direitos Creditórios devi dos mediante  Consignação na próxima data de liquidação (“Arquivos Dataprev”) e/ou (b) os arquivos  eletrônicos disponibilizados mensalmente pela CEF ao Endossante, contendo os pagamentos  de Saque-aniversário processados pela CEF no respectivo mês devidos à Classe, identificando  os Devedores e os valores que serão descontados de seus respectivos Saques-aniversário  (“Arquivos de Liquidação Saque-aniversário”) ao Custodiante dentro do prazo estabelecido  neste Anexo I, desde que esse não cumprimento não seja dev idamente sanado ou justificado  dentro de 5 (cinco) Dias Úteis a partir do recebimento, pelo Endossante e/ou pelo Agente de  Retenção e Cobrança, de notificação, por escrito, enviada pelo Custodiante, inf ormando-o da  ocorrência do respectivo evento;</a:t>
            </a:r>
          </a:p>
          <a:p>
            <a:r>
              <a:t> (iv) não cumprimento, pelo Endossante e/ou pelo Agente de Retenção e Cobrança, de qualquer de  suas obrigações de entregar ao Gestor, ou a terceiros por ele indicados, os Documentos  Comprobatórios e Documentos Suporte relativos aos Direitos Creditórios que tenham sido  endossados à Classe, dentro do prazo estabelecido neste Anexo I, desde que esse não  cumprimento não seja devidamente sanado ou justificado dentro de 5 (cinco) Dias Úteis a partir  do recebimento, pelo Endossante e/ou pelo Agente de Retenção e Cobrança, de notificação,  por escrito, enviada pelo Custodiante, inf ormando- o da ocorrência do respectivo evento;</a:t>
            </a:r>
          </a:p>
          <a:p>
            <a:r>
              <a:t> (v) não cumprimento, pelo Agente de Retenção e Cobrança, de qualquer de suas obrigações  estabelecidas nos Contratos de Endosso, no Regulamento, neste Anexo I ou nos Contratos de  Retenção/Cobrança, desde que esse não cumprimento não seja devidamente sanado ou</a:t>
            </a:r>
          </a:p>
          <a:p>
            <a:r>
              <a:t>CNPJ 62552447000120 · Gatilhos de avaliação e liquidação · Condição: Documentos atuais selecionados no inventário por categoria/escopo; a data documental isolada não comprova vigência jurídica.</a:t>
            </a:r>
          </a:p>
          <a:p>
            <a:r>
              <a:t>CNPJ 62552447000120 · Gatilhos de avaliação e liquidação · Versão e prevalência: Documentos atuais selecionados no inventário por categoria/escopo; a data documental isolada não comprova vigência jurídica.</a:t>
            </a:r>
          </a:p>
          <a:p>
            <a:r>
              <a:t>CNPJ 63953620000165 · Gatilhos de avaliação e liquidação · Anexo ao Regulamento · ID 1222863 · 2026-06-02 · versão 1 · p. 24 · 4.1 · https://fnet.bmfbovespa.com.br/fnet/publico/visualizarDocumento?id=1222863</a:t>
            </a:r>
          </a:p>
          <a:p>
            <a:r>
              <a:t>CNPJ 63953620000165 · Gatilhos de avaliação e liquidação · Excerto da fonte:</a:t>
            </a:r>
          </a:p>
          <a:p>
            <a:r>
              <a:t>4.1. Verificado que o Índice de Subordinação Alvo é atendido, ou seja, que a representatividade de Cotas Subordinadas  em relação ao Patrimônio Líquido da Classe é superior à 10,00% (dez por cento) (“Índice de Subordinação Alvo”), as  Cotas Subordinadas poderão ser objeto de Amortização Extraordinária até o limite excedente ao Índice de  Subordinação Alvo– ainda que tal Amortização Extraordinária ocorra antes do resgate integral das Cotas Seniores –  desde que: (i) seja observada a ordem de alocação de recursos definida no item 8.1 acima Anexo; (ii) não existam  Obrigações da Classe vencidas e não pagas; (iii) não estejam em curso quaisquer Eventos de Avaliação e/ou Eventos  de Liquidação; (iv) existam suficientes Ativos Financeiros e/ou recursos disponíveis; e (vii) permaneçam atendidas  todos os Índices de Subordinação.</a:t>
            </a:r>
          </a:p>
          <a:p>
            <a:r>
              <a:t> 5. Amortização e Resgate das Cotas Subordinadas</a:t>
            </a:r>
          </a:p>
          <a:p>
            <a:r>
              <a:t>CNPJ 63953620000165 · Gatilhos de avaliação e liquidação · Anexo ao Regulamento · ID 1222863 · 2026-06-02 · versão 1 · p. 13 · 10.2 · https://fnet.bmfbovespa.com.br/fnet/publico/visualizarDocumento?id=1222863</a:t>
            </a:r>
          </a:p>
          <a:p>
            <a:r>
              <a:t>CNPJ 63953620000165 · Gatilhos de avaliação e liquidação · Excerto da fonte:</a:t>
            </a:r>
          </a:p>
          <a:p>
            <a:r>
              <a:t>10.2 Os seguintes quóruns deverão ser observados pela Assembleia Especial de Cotistas ao deliberar as matérias  abaixo:</a:t>
            </a:r>
          </a:p>
          <a:p>
            <a:r>
              <a:t> Matéria Quórum</a:t>
            </a:r>
          </a:p>
          <a:p>
            <a:r>
              <a:t> (i) deliberar sobre as demonstrações contábeis da Classe; Maioria das Cotas presentes</a:t>
            </a:r>
          </a:p>
          <a:p>
            <a:r>
              <a:t> (ii) alterar o presente Anexo; Maioria das Cotas de cada Subclasse</a:t>
            </a:r>
          </a:p>
          <a:p>
            <a:r>
              <a:t> (iii) deliberar sobre substituição de Prestadores de Serviços Maioria das Cotas da Classe  Essenciais, observado o disposto no Artigo 70, §1º da parte geral da  Resolução CVM 175, quando aplicável;</a:t>
            </a:r>
          </a:p>
          <a:p>
            <a:r>
              <a:t> (iv) deliberar sobre elevação da Taxa de Administração e/ou Taxa de Maioria das Cotas da de cada  Gestão, inclusive na hipótese de restabelecimento de taxa que tenha Subclasse  sido objeto de redução;</a:t>
            </a:r>
          </a:p>
          <a:p>
            <a:r>
              <a:t> (v) deliberar sobre incorporação, fusão, cisão total ou parcial, a Maioria das Cotas de cada Subclasse  transformação ou liquidação da Classe;</a:t>
            </a:r>
          </a:p>
          <a:p>
            <a:r>
              <a:t> (vi) alterações das características, vantagens, direitos e obrigações Maioria das Cotas Subscritas da  das Cotas; Classe observado o disposto nos  itens 10.5 a 10.8 abaixo</a:t>
            </a:r>
          </a:p>
          <a:p>
            <a:r>
              <a:t> (vii) alterar critérios e procedimentos para Amortização mediante Maioria das Cotas Subscritas da  dação em pagamento de Direitos Creditórios; Classe</a:t>
            </a:r>
          </a:p>
          <a:p>
            <a:r>
              <a:t> (viii) aprovar emissão de novas Cotas da Classe; Maioria das Cotas de cada Subclasse</a:t>
            </a:r>
          </a:p>
          <a:p>
            <a:r>
              <a:t> (ix) alterações na Política de Investimentos; Maioria das Cotas de cada Subclasse</a:t>
            </a:r>
          </a:p>
          <a:p>
            <a:r>
              <a:t> (x) alterações nos Critérios de Elegibilidade e nas Condições de Maioria das Cotas de cada Subclasse  Cessão;</a:t>
            </a:r>
          </a:p>
          <a:p>
            <a:r>
              <a:t> (xi) celebração e alteração de Contrato de Promessa de Endosso Maioria das Cotas de cada Subclasse  e/ou do Contrato de Retenção e Cobrança;</a:t>
            </a:r>
          </a:p>
          <a:p>
            <a:r>
              <a:t> (xii) alteração do Contrato de Conta Vinculada; Maioria das Cotas de cada Subclasse</a:t>
            </a:r>
          </a:p>
          <a:p>
            <a:r>
              <a:t> (xiii) alteração dos Eventos de Avaliação, dos Eventos de Liquidação Maioria das Cotas de cada Subclasse  e/ou das consequências deles decorrentes em função do previsto  neste Regulamento;</a:t>
            </a:r>
          </a:p>
          <a:p>
            <a:r>
              <a:t> (xiv) se um Evento de Avaliação constitui um Evento de Liquidação; Maioria das Cotas presentes</a:t>
            </a:r>
          </a:p>
          <a:p>
            <a:r>
              <a:t> (xv) plano de resolução do Patrimônio Líquido negativo da Classe, Maioria das Cotas presentes  nos termos da Resolução CVM 175; e</a:t>
            </a:r>
          </a:p>
          <a:p>
            <a:r>
              <a:t> (xvi) pedido de declaração judicial de insolvência da Classe. Maioria das Cotas presentes</a:t>
            </a:r>
          </a:p>
          <a:p>
            <a:r>
              <a:t> (xvii) alterações na disciplina, critérios de constituição, manutenção Maioria das Cotas de cada Subclasse  ou utilização da Reserva de Caixa, bem como deliberação acerca da</a:t>
            </a:r>
          </a:p>
          <a:p>
            <a:r>
              <a:t>CNPJ 63953620000165 · Gatilhos de avaliação e liquidação · Anexo ao Regulamento · ID 1222863 · 2026-06-02 · versão 1 · p. 14 · 10.8 · https://fnet.bmfbovespa.com.br/fnet/publico/visualizarDocumento?id=1222863</a:t>
            </a:r>
          </a:p>
          <a:p>
            <a:r>
              <a:t>CNPJ 63953620000165 · Gatilhos de avaliação e liquidação · Excerto da fonte:</a:t>
            </a:r>
          </a:p>
          <a:p>
            <a:r>
              <a:t>10.8 As deliberações que tenham por objeto o aumento do Índice de Subordinação Sênior apenas serão aprovadas se  assim deliberado: (i) pelos votos dos titulares da maioria das Cotas em circulação de cada uma das Séries de  Cotas Seniores; e (ii) pelo votos dos titulares da maioria Cotas Subordinadas em circulação.</a:t>
            </a:r>
          </a:p>
          <a:p>
            <a:r>
              <a:t> CAPÍTULO 11 – EVENTOS DE AVALIAÇÃO, EVENTOS DE LIQUIDAÇÃO, E PROCEDIMENTOS DE LIQUIDAÇÃO  Eventos de Avaliação</a:t>
            </a:r>
          </a:p>
          <a:p>
            <a:r>
              <a:t>CNPJ 63953620000165 · Gatilhos de avaliação e liquidação · Condição: Documentos atuais selecionados no inventário por categoria/escopo; a data documental isolada não comprova vigência jurídica.</a:t>
            </a:r>
          </a:p>
          <a:p>
            <a:r>
              <a:t>CNPJ 63953620000165 · Gatilhos de avaliação e liquidação · Versão e prevalência: Documentos atuais selecionados no inventário por categoria/escopo; a data documental isolada não comprova vigência jurídica.</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Eventos e cura</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Eventos de avaliação · Regulamento · ID 670691 · 28/04/2024 · versão Regulamento — referência 28/04/2024 · p. 17 · Anexo I, 11.1(i) · https://fnet.bmfbovespa.com.br/fnet/publico/visualizarDocumento?id=670691</a:t>
            </a:r>
          </a:p>
          <a:p>
            <a:r>
              <a:t>CNPJ 54871427000194 · Eventos de avaliação · Excerto da fonte:</a:t>
            </a:r>
          </a:p>
          <a:p>
            <a:r>
              <a:t>11.1 As seguintes hipóteses são consideradas Eventos de Avaliação: (i) em caso de regime de administração especial temporária – RAET, intervenção ou liquidação extrajudicial do Endossante ou do Agente de Garantias; BTG Pactual SAC: 0800 772 28 27 - Ouvidoria: 0800 722 00 48 - btgpactual.com 11</a:t>
            </a:r>
          </a:p>
          <a:p>
            <a:r>
              <a:t>CNPJ 54871427000194 · Eventos de avaliação · Regulamento · ID 670691 · 28/04/2024 · versão Regulamento — referência 28/04/2024 · p. 18 · Anexo I, 11.1(ii)–(viii) · https://fnet.bmfbovespa.com.br/fnet/publico/visualizarDocumento?id=670691</a:t>
            </a:r>
          </a:p>
          <a:p>
            <a:r>
              <a:t>CNPJ 54871427000194 · Eventos de avaliação · Excerto da fonte:</a:t>
            </a:r>
          </a:p>
          <a:p>
            <a:r>
              <a:t>(ii) não cumprimento, por qualquer dos Endossantes, de qualquer de suas obrigações estabelecidas em cada Contrato de Endosso ou neste Regulamento e Anexo, desde que esse não cumprimento não seja devidamente sanado ou justificado dentro de 10 (dez) Dias Úteis a partir do recebimento, pelo Endossante, de notificação, por escrito, enviada pelo Administrador, inf ormando-o da ocorrência do respectivo evento; (iii) não cumprimento, por qualquer dos Endossantes, de suas obrigações de entregar o Arquivo de Liquidação Antecipada e o Arquivo de Posição das CCBs ao CUSTODIANTE dentro do prazo estabelecido neste Regulamento, desde que esse não cumprimento não seja devidamente sanado ou justificado dentro dos prazos acordados no respectivo Contrato de Endosso, a partir do recebimento, pelos Endossantes, de notificação, por escrito, enviada pelo CUSTODIANTE, inf ormando-o da ocorrência do respectivo evento; (iv) não cumprimento, por qualquer dos Endossantes, de qualquer de suas obrigações de entregar ao CUSTODIANTE, ou a terceiros por ele indicados, os Documentos Comprobatórios relativos</a:t>
            </a:r>
          </a:p>
          <a:p>
            <a:r>
              <a:t>CNPJ 54871427000194 · Eventos de avaliação · Regulamento · ID 670691 · 28/04/2024 · versão Regulamento — referência 28/04/2024 · p. 19 · Anexo I, 11.1.1–11.1.3 · https://fnet.bmfbovespa.com.br/fnet/publico/visualizarDocumento?id=670691</a:t>
            </a:r>
          </a:p>
          <a:p>
            <a:r>
              <a:t>CNPJ 54871427000194 · Eventos de avaliação · Excerto da fonte:</a:t>
            </a:r>
          </a:p>
          <a:p>
            <a:r>
              <a:t>11.1.1 Na ocorrência de qualquer Evento de Avaliação, será convocada Assembleia Especial de Cotistas, para avaliar o grau de comprometimento das atividades d a Classe em razão do Evento de Avaliação, podendo a Assembleia Especial de Cotistas deliberar: (i) pela continuidade das atividades da Classe; ou (ii) que o Evento de Avaliação que deu causa à Assembleia Especial de Cotistas constitui um Evento de Liquidação, hipótese em que deverão ser deliberadas as matérias ref eridas no item 11.4.1 abaixo e adotados os procedimentos previstos no item 11.4.3 abaixo. 11.1.2 No momento de verificação de qualquer Evento de Avaliação, os procedimentos de aquisição de novos Direitos Creditórios deverão ser imediatamente interrompidos, até que: (i) seja prof erida decisão final em Assembleia Especial de Cotistas, convocada especificamente para este f im, nos termos do item 11.1.1 acima, autorizando a retomada dos procedimentos de aquisição de novos Direitos Creditórios e resgate das Cotas; e/ou (ii) seja sanado o Evento de Avaliação. 11.1.3 Na hipótese de não instalação da Assembleia Especial de Cotistas por f alta d</a:t>
            </a:r>
          </a:p>
          <a:p>
            <a:r>
              <a:t>CNPJ 54871427000194 · Eventos de avaliação · Versão e prevalência: Leitura específica das cláusulas indicadas; condições e conflitos preservados. Seleção documental atual não comprova vigência jurídica por data isolada.</a:t>
            </a:r>
          </a:p>
          <a:p>
            <a:r>
              <a:t>CNPJ 54871427000194 · Eventos de avaliação · Resumo do histórico: {"count": 1, "dates": ["2024-04-19"], "document_count": 1, "sources": [{"document_id": "670689", "title": "Regulamento", "reference_date": "2024-04-19", "version": "1", "page": 17, "clause": "10.2", "url": "https://fnet.bmfbovespa.com.br/fnet/publico/visualizarDocumento?id=670689", "sha256": "891bc9bc5d87bbc02ec139077a84d2702eb81ea02035fb71d24f5b8366b94a0b"}], "reference": {"path": "history/54871427000194.json", "criterion_id": "evaluation", "total_count": 1, "preview_count": 1, "full_text_deferred": true, "sha256": "35d7cd99be50c7287c9fb675cf4f2e736002315295a225a9efa79c8d9186d874"}}</a:t>
            </a:r>
          </a:p>
          <a:p>
            <a:r>
              <a:t>CNPJ 60010416000112 · Eventos de avaliação · Regulamento · ID 1051393 · 09/10/2025 · versão Regulamento09/10/2025 · p. 19 · AnexoI10.1(i)–(vii) · https://fnet.bmfbovespa.com.br/fnet/publico/visualizarDocumento?id=1051393</a:t>
            </a:r>
          </a:p>
          <a:p>
            <a:r>
              <a:t>CNPJ 60010416000112 · Eventos de avaliação · Excerto da fonte:</a:t>
            </a:r>
          </a:p>
          <a:p>
            <a:r>
              <a:t>10.1 As seguintes hipóteses são consideradas Eventos de Avaliação: (i) em caso de regime de administração especial temporária - RAET, intervenção ou liquidação extrajudicial do Endossante; (ii) em caso de desenquadramento do Índice de Subordinação por 10 (dez) dias úteis consecutivos; (iii) não cumprimento, pelo Endossante, de qualquer de suas obrigações estabelecidas no Contrato de Endosso ou neste Anexo I, desde que esse não cumprimento não seja devidamente sanado ou justif icado dentro de 10 (dez) Dias Úteis a partir do recebimento, pelo Endossante, de noti</a:t>
            </a:r>
          </a:p>
          <a:p>
            <a:r>
              <a:t>CNPJ 60010416000112 · Eventos de avaliação · Regulamento · ID 1051393 · 09/10/2025 · versão Regulamento09/10/2025 · p. 20 · AnexoI10.1(viii)–(xiv) · https://fnet.bmfbovespa.com.br/fnet/publico/visualizarDocumento?id=1051393</a:t>
            </a:r>
          </a:p>
          <a:p>
            <a:r>
              <a:t>CNPJ 60010416000112 · Eventos de avaliação · Excerto da fonte:</a:t>
            </a:r>
          </a:p>
          <a:p>
            <a:r>
              <a:t>(xiii) no caso de não serem realizados pagamentos de amortização e/ou resgate de Cotas Seniores, nos termos, prazos e condições previstos no presente Regulamento e nos respectivos Apêndices e Suplementos, não sanados em até 2 (dois) Dias Úteis contados do prazo final do respectivo evento; (xiv) no caso de pagamento de resgate e/ou amortização de Cotas Subordinadas em desacordo com os termos, prazos e condições previstos no presente Regulamento e no respectivo Apêndice. 10.1.1 Na ocorrência de qualquer Evento de Avaliação, será convocada Assembleia Especial de Cotistas,</a:t>
            </a:r>
          </a:p>
          <a:p>
            <a:r>
              <a:t>CNPJ 60010416000112 · Eventos de avaliação · Versão e prevalência: Leitura específica das cláusulas indicadas; condições e conflitos preservados. Seleção documental atual não comprova vigência jurídica por data isolada.</a:t>
            </a:r>
          </a:p>
          <a:p>
            <a:r>
              <a:t>CNPJ 60010416000112 · Eventos de avaliação · Resumo do histórico: {"count": 2, "dates": ["2025-03-20"], "document_count": 2, "sources": [{"document_id": "993785", "title": "Instrumento Particular de Constituição/Encerramento do Fundo", "reference_date": "2025-03-20", "version": "1", "page": 8, "url": "https://fnet.bmfbovespa.com.br/fnet/publico/visualizarDocumento?id=993785", "sha256": "0826e0eae2c51afabf59bbc49fc7647598d03da5ca6de0f9725850a8bd6af457"}, {"document_id": "993786", "title": "Regulamento", "reference_date": "2025-03-20", "version": "1", "page": 48, "clause": "2.1.2", "url": "https://fnet.bmfbovespa.com.br/fnet/publico/visualizarDocumento?id=993786", "sha256": "fd0fdd369a195510d81f81f505195a0b09e5f43522a990afa7d58c4f872921c8"}], "reference": {"path": "history/60010416000112.json", "criterion_id": "evaluation", "total_count": 2, "preview_count": 2, "full_text_deferred": true, "sha256": "8e2bd813f4c51cf01f6bfaad164bafe69d2bbb192f753eac92da3a01c2e63046"}}</a:t>
            </a:r>
          </a:p>
          <a:p>
            <a:r>
              <a:t>CNPJ 62696791000193 · Eventos de avaliação · Regulamento · ID 1143317 · 20/03/2026 · versão Regulamento — referência 20/03/2026 · p. 37 · Apêndice Júnior, 5.1(iii) · https://fnet.bmfbovespa.com.br/fnet/publico/visualizarDocumento?id=1143317</a:t>
            </a:r>
          </a:p>
          <a:p>
            <a:r>
              <a:t>CNPJ 62696791000193 · Eventos de avaliação · Excerto da fonte:</a:t>
            </a:r>
          </a:p>
          <a:p>
            <a:r>
              <a:t>5.1. Verif icado excesso de subordinação, ou seja, que a representatividade de Cotas Júnior em relação ao Patrimônio Líquido da Classe é superior ao Índice de Subordinação (“Excesso de Subordinação”), desde que assim seja deliberado por maioria dos votos de seus titulares e da maioria dos titulares de Cotas Seniores, as Cotas Juniores poderão ser objeto de Amortização Extraordinária até o limite do respectivos Excesso de Subordinação– ainda que tal Amortização Extraordinária ocorra antes do resgate integral das Cotas Seniores– desde que: (i) seja observada a ordem de alocação de recursos definida no item 6.1 acima Anexo; (ii) não existam Obrigações da Classe vencidas e não pagas; (iii) não estejam em curso quaisquer Eventos de Avaliação e/ou Eventos de Liquidação; (iv) existam suficientes Ativos Financeiros e/ou recursos disponíveis; e (vii) permaneçam atendidas todos os Índices de Subordinação. 6. Negociação das Cotas 6.1. As Cotas Subordinadas Juniores não poderão ser negociadas no mercado secundário. 7. Resgate 7.1. As Cotas Subordinadas Juniores apenas serão resgatadas após o resgate integral das Cotas Seniores da Classe, na respectiva Data de Resgate ou em caso de liquidação antecipada da Classe. BTG Pactual</a:t>
            </a:r>
          </a:p>
          <a:p>
            <a:r>
              <a:t>CNPJ 62696791000193 · Eventos de avaliação · Condição: Referência preservada como ausência específica; não importar gatilhos de outros fundos.</a:t>
            </a:r>
          </a:p>
          <a:p>
            <a:r>
              <a:t>CNPJ 62696791000193 · Eventos de avaliação · Motivo: O apêndice condiciona amortização à ausência de Eventos de Avaliação e de Liquidação, mas o PDF consolidado de 48 páginas não define a lista de Eventos de Avaliação nem seus prazos de cura. O regulamento FIDC anterior à transformação não foi obtido.</a:t>
            </a:r>
          </a:p>
          <a:p>
            <a:r>
              <a:t>CNPJ 62696791000193 · Eventos de avaliação · Versão e prevalência: Leitura específica das cláusulas indicadas; condições e conflitos preservados. Seleção documental atual não comprova vigência jurídica por data isolada.</a:t>
            </a:r>
          </a:p>
          <a:p>
            <a:r>
              <a:t>CNPJ 55563624000109 · Eventos de avaliação · Regulamento · ID 1192614 · 30/04/2026 · versão Regulamento30/04/2026 · p. 20 · AnexoI11.1(i)–(v) · https://fnet.bmfbovespa.com.br/fnet/publico/visualizarDocumento?id=1192614</a:t>
            </a:r>
          </a:p>
          <a:p>
            <a:r>
              <a:t>CNPJ 55563624000109 · Eventos de avaliação · Excerto da fonte:</a:t>
            </a:r>
          </a:p>
          <a:p>
            <a:r>
              <a:t>11.1 As seguintes hipóteses são consideradas Eventos de Avaliação: (i) inobservância pelo ADMINISTRADOR, pelo CUSTODIANTE e/ou pelo GESTOR de seus deveres e obrigações previstos neste Anexo, desde que, uma vez notificados para sanar ou justificar o descumprimento, o ADMINISTRADOR, o CUSTODIANTE e/ou o GESTOR, conforme o caso, não o sane no prazo de 5 (cinco) Dias Úteis contados do recebimento da referida notificação; (ii) aquisição, pela Classe, de Cotas da Classe Investida que estejam em desacordo com o Critério de</a:t>
            </a:r>
          </a:p>
          <a:p>
            <a:r>
              <a:t>CNPJ 55563624000109 · Eventos de avaliação · Versão e prevalência: Leitura específica das cláusulas indicadas; condições e conflitos preservados. Seleção documental atual não comprova vigência jurídica por data isolada.</a:t>
            </a:r>
          </a:p>
          <a:p>
            <a:r>
              <a:t>CNPJ 62552447000120 · Eventos de avaliação · Regulamento · ID 1200623 · 21/05/2026 · versão Consolidado21/05/2026 aprovado pelo ato1200625 · p. 22 · AnexoI11.1(i)–(v) · https://fnet.bmfbovespa.com.br/fnet/publico/visualizarDocumento?id=1200623</a:t>
            </a:r>
          </a:p>
          <a:p>
            <a:r>
              <a:t>CNPJ 62552447000120 · Eventos de avaliação · Excerto da fonte:</a:t>
            </a:r>
          </a:p>
          <a:p>
            <a:r>
              <a:t>11.1 As seguintes hipóteses são consideradas eventos de avaliação (“Eventos de Avaliação”): (i) em caso de regime de administração especial temporária - RAET, intervenção ou liquidação extrajudicial do Endossante, da instituição f inanceira prestadora dos serviços de agente de conta vinculada à Classe (“Agente de Conta Vinculada”) e/ou do Agente de Retenção e Cobrança; (ii) não cumprimento, pelo Endossante, de qualquer de suas obrigações estabelecidas nos Contratos de Endosso, no Regulamento ou neste Anexo I, desde que esse não cumprimento não se</a:t>
            </a:r>
          </a:p>
          <a:p>
            <a:r>
              <a:t>CNPJ 62552447000120 · Eventos de avaliação · Regulamento · ID 1200623 · 21/05/2026 · versão Consolidado21/05/2026 aprovado pelo ato1200625 · p. 23 · AnexoI11.1(vi)–(xi) · https://fnet.bmfbovespa.com.br/fnet/publico/visualizarDocumento?id=1200623</a:t>
            </a:r>
          </a:p>
          <a:p>
            <a:r>
              <a:t>CNPJ 62552447000120 · Eventos de avaliação · Excerto da fonte:</a:t>
            </a:r>
          </a:p>
          <a:p>
            <a:r>
              <a:t>(vi) não cumprimento, pelo Agente de Conta Vinculada, de qualquer de suas obrigações estabelecidas no contrato de conta vinculada celebrado entre o Endossante, na qualidade de titular da Conta Vinculada, e a Classe (“Contrato de Conta Vinculada”), no Regulamento ou neste Anexo I, desde que esse não cumprimento não seja devidamente sanado ou justificado dentro de 5 (cinco) Dias Úteis a partir do recebimento, pelo Agente de Conta Vinculada, de notif icação, por escrito, enviada pelo Administrador, informando-o da ocorrência do respectivo evento; (vii) não c</a:t>
            </a:r>
          </a:p>
          <a:p>
            <a:r>
              <a:t>CNPJ 62552447000120 · Eventos de avaliação · Versão e prevalência: Leitura específica das cláusulas indicadas; condições e conflitos preservados. Seleção documental atual não comprova vigência jurídica por data isolada.</a:t>
            </a:r>
          </a:p>
          <a:p>
            <a:r>
              <a:t>CNPJ 63953620000165 · Eventos de avaliação · Anexo ao Regulamento · ID 1222863 · 02/06/2026 · versão AnexoConsignadoPrivado02/06/2026 · p. 14 · 11.1(i)–(v) · https://fnet.bmfbovespa.com.br/fnet/publico/visualizarDocumento?id=1222863</a:t>
            </a:r>
          </a:p>
          <a:p>
            <a:r>
              <a:t>CNPJ 63953620000165 · Eventos de avaliação · Excerto da fonte:</a:t>
            </a:r>
          </a:p>
          <a:p>
            <a:r>
              <a:t>11.1 As seguintes hipóteses são consideradas eventos de avaliação (“Eventos de Avaliação”): (i) em caso de regime de administração especial temporária - RAET, intervenção ou liquidação extrajudicial do Endossante; (ii) em caso de desenquadramento do Índice de Subordinação por 10 (dez) dias úteis consecutivos; (iii) não cumprimento, pelo Endossante, de qualquer de suas obrigações estabelecidas no Contrato de Endosso ou neste Anexo I, desde que esse não cumprimento não seja devidamente sanado ou justificado dentro de 10 (dez) Dias Úteis a partir do recebimento, pelo Endossan</a:t>
            </a:r>
          </a:p>
          <a:p>
            <a:r>
              <a:t>CNPJ 63953620000165 · Eventos de avaliação · Anexo ao Regulamento · ID 1222863 · 02/06/2026 · versão AnexoConsignadoPrivado02/06/2026 · p. 15 · 11.1(vi)–(xiv) · https://fnet.bmfbovespa.com.br/fnet/publico/visualizarDocumento?id=1222863</a:t>
            </a:r>
          </a:p>
          <a:p>
            <a:r>
              <a:t>CNPJ 63953620000165 · Eventos de avaliação · Excerto da fonte:</a:t>
            </a:r>
          </a:p>
          <a:p>
            <a:r>
              <a:t>Anexo I ao Regulamento CLASSE CONSIGNADO PRIVADO DO MT GLOBAL FUNDO DE INVESTIMENTO EM DIREITOS CREDITÓRIOS RESPONSABILIDADE LIMITADA (vii) inobservância pelo Administrador, pelo Custodiante e/ou pelo Gestor de seus deveres e obrigações previstos neste Regulamento, bem como suas atribuições específicas nos outros contratos existentes referentes ao funcionamento da Classe, verificada pelo Administrador, pelo Custodiante e/ou pelo Gestor ou por qualquer dos Cotistas, desde que, uma vez notificados para sanar ou justificar o descumprimento, o Administrador, o Custodiante e/ou o Gestor, conforme</a:t>
            </a:r>
          </a:p>
          <a:p>
            <a:r>
              <a:t>CNPJ 63953620000165 · Eventos de avaliação · Versão e prevalência: Leitura específica das cláusulas indicadas; condições e conflitos preservados. Seleção documental atual não comprova vigência jurídica por data isolada.</a:t>
            </a:r>
          </a:p>
          <a:p>
            <a:r>
              <a:t>CNPJ 54871427000194 · Eventos de liquidação · Regulamento · ID 670691 · 28/04/2024 · versão Regulamento — referência 28/04/2024 · p. 19 · Anexo I, 11.1.3 e 11.3 · https://fnet.bmfbovespa.com.br/fnet/publico/visualizarDocumento?id=670691</a:t>
            </a:r>
          </a:p>
          <a:p>
            <a:r>
              <a:t>CNPJ 54871427000194 · Eventos de liquidação · Excerto da fonte:</a:t>
            </a:r>
          </a:p>
          <a:p>
            <a:r>
              <a:t>11.1.3 Na hipótese de não instalação da Assembleia Especial de Cotistas por f alta de quórum, o ADMINISTRADOR dará início aos procedimentos ref erentes à liquidação d a Classe, com o consequente resgate das Cotas, nos termos do item 11.4 e seguintes, abaixo. Eventos de Verificação de Patrimônio Líquido Negativo 11.2 Os seguintes eventos obrigarão o ADMINISTRADOR a verificar se o Patrimônio Líquido da Classe está negativo: (i) qualquer pedido de declaração judicial de insolvência da Classe; e (ii) na ocorrência de quaisquer dos Eventos de Avaliação e/ou Eventos de Liquidação . Eventos de Liquidação 11.3 As seguintes hipóteses são consideradas Eventos de Liquidação: (i) caso seja deliberado em Assembleia Especial de Cotistas que um Evento de Avaliação constitui um Evento de Liquidação; (ii) sempre que assim decidido pelos Cotistas em Assembleia Especial de Cotistas especialmente convocada para tal f im; (iii) cessão ou renúncia do ADMINISTRADOR, GESTOR ou CUSTODIANTE sem que a Assembleia de Cotistas ef icazmente nomeie instituição habilit ada para substituí-lo, nos termos estabelecidos neste Regulamento;</a:t>
            </a:r>
          </a:p>
          <a:p>
            <a:r>
              <a:t>CNPJ 54871427000194 · Eventos de liquidação · Versão e prevalência: Leitura específica das cláusulas indicadas; condições e conflitos preservados. Seleção documental atual não comprova vigência jurídica por data isolada.</a:t>
            </a:r>
          </a:p>
          <a:p>
            <a:r>
              <a:t>CNPJ 54871427000194 · Eventos de liquidação · Resumo do histórico: {"count": 1, "dates": ["2024-04-19"], "document_count": 1, "sources": [{"document_id": "670689", "title": "Regulamento", "reference_date": "2024-04-19", "version": "1", "page": 17, "clause": "10.2", "url": "https://fnet.bmfbovespa.com.br/fnet/publico/visualizarDocumento?id=670689", "sha256": "891bc9bc5d87bbc02ec139077a84d2702eb81ea02035fb71d24f5b8366b94a0b"}], "reference": {"path": "history/54871427000194.json", "criterion_id": "liquidation", "total_count": 1, "preview_count": 1, "full_text_deferred": true, "sha256": "35d7cd99be50c7287c9fb675cf4f2e736002315295a225a9efa79c8d9186d874"}}</a:t>
            </a:r>
          </a:p>
          <a:p>
            <a:r>
              <a:t>CNPJ 60010416000112 · Eventos de liquidação · Regulamento · ID 1051393 · 09/10/2025 · versão Regulamento09/10/2025 · p. 21 · AnexoI10.3(i)–(viii) · https://fnet.bmfbovespa.com.br/fnet/publico/visualizarDocumento?id=1051393</a:t>
            </a:r>
          </a:p>
          <a:p>
            <a:r>
              <a:t>CNPJ 60010416000112 · Eventos de liquidação · Excerto da fonte:</a:t>
            </a:r>
          </a:p>
          <a:p>
            <a:r>
              <a:t>10.3 As seguintes hipóteses são consideradas Eventos de Liquidação: (i) caso seja deliberado em Assembleia de Cotistas que um Evento de Avaliação constitui um Evento de Liquidação; (ii) na hipótese de resilição do Contrato de Custódia ou renúncia do Custodiante, sem que tenha havido sua substituição por outra instituição, de acordo com os procedimentos estabelecidos neste Regulamento; (iii) renúncia do Administrador sem que a Assembleia Especial de Cotistas eficazmente nomeie instituição habilitada para substituí-lo, nos termos estabelecidos neste Regulamento;</a:t>
            </a:r>
          </a:p>
          <a:p>
            <a:r>
              <a:t>CNPJ 60010416000112 · Eventos de liquidação · Versão e prevalência: Leitura específica das cláusulas indicadas; condições e conflitos preservados. Seleção documental atual não comprova vigência jurídica por data isolada.</a:t>
            </a:r>
          </a:p>
          <a:p>
            <a:r>
              <a:t>CNPJ 60010416000112 · Eventos de liquidação · Resumo do histórico: {"count": 2, "dates": ["2025-03-20"], "document_count": 2, "sources": [{"document_id": "993785", "title": "Instrumento Particular de Constituição/Encerramento do Fundo", "reference_date": "2025-03-20", "version": "1", "page": 8, "url": "https://fnet.bmfbovespa.com.br/fnet/publico/visualizarDocumento?id=993785", "sha256": "0826e0eae2c51afabf59bbc49fc7647598d03da5ca6de0f9725850a8bd6af457"}, {"document_id": "993786", "title": "Regulamento", "reference_date": "2025-03-20", "version": "1", "page": 18, "clause": "9.2", "url": "https://fnet.bmfbovespa.com.br/fnet/publico/visualizarDocumento?id=993786", "sha256": "fd0fdd369a195510d81f81f505195a0b09e5f43522a990afa7d58c4f872921c8"}], "reference": {"path": "history/60010416000112.json", "criterion_id": "liquidation", "total_count": 2, "preview_count": 2, "full_text_deferred": true, "sha256": "8e2bd813f4c51cf01f6bfaad164bafe69d2bbb192f753eac92da3a01c2e63046"}}</a:t>
            </a:r>
          </a:p>
          <a:p>
            <a:r>
              <a:t>CNPJ 62696791000193 · Eventos de liquidação · Regulamento · ID 1143317 · 20/03/2026 · versão Regulamento — referência 20/03/2026 · p. 23 · Anexo I, 11.1–11.3 · https://fnet.bmfbovespa.com.br/fnet/publico/visualizarDocumento?id=1143317</a:t>
            </a:r>
          </a:p>
          <a:p>
            <a:r>
              <a:t>CNPJ 62696791000193 · Eventos de liquidação · Excerto da fonte:</a:t>
            </a:r>
          </a:p>
          <a:p>
            <a:r>
              <a:t>11.1 A Classe será liquidada (i) em caso da liquidação antecipada deliberada em Assembleia Especial de Cotistas; ou (ii) pelo encerramento do Prazo de Duração da Classe. 11.2 Na ocorrência da liquidação da Classe, o Administrador: (i) liquidará todos os investimentos da Classe em Ativos Financeiros de Liquidez, conforme orientação do Gestor, transferindo todos os recursos daí resultantes para a Conta da Classe; (ii) realizará, de acordo com as orientações e instruções do Gestor, a alienação dos investimentos nos Direitos Creditórios do Agronegócio e nos Outros Ativos integrantes da carteira de investimentos da Classe; e (iii) realizará o pagamento dos encargos da Classe e a amortização das Cotas, até o limite dos recursos disponíveis na Conta da Classe. 11.2.1 No caso de Liquidação da Classe, os Cotistas terão o direito de partilhar o Patrimônio Líquido em igualdade de condições e na proporção de suas Cotas, deduzidas as despesas necessárias para a liquidação da Classe. Não haverá qualquer tipo de pref erência, p rioridade ou subordinação entre os Cotistas. 11.3 Caso a Classe não possua recursos suficientes para o pagamento de todas as Cotas no momento de</a:t>
            </a:r>
          </a:p>
          <a:p>
            <a:r>
              <a:t>CNPJ 62696791000193 · Eventos de liquidação · Regulamento · ID 1143317 · 20/03/2026 · versão Regulamento — referência 20/03/2026 · p. 24 · Anexo I, 11.7 · https://fnet.bmfbovespa.com.br/fnet/publico/visualizarDocumento?id=1143317</a:t>
            </a:r>
          </a:p>
          <a:p>
            <a:r>
              <a:t>CNPJ 62696791000193 · Eventos de liquidação · Excerto da fonte:</a:t>
            </a:r>
          </a:p>
          <a:p>
            <a:r>
              <a:t>11.7 A liquidação da Classe e a divisão de seu patrimônio entre os Cotistas deverão ocorrer no prazo de até 180 (cento e oitenta) dias corridos contados (i) do encerramento do Prazo de Duração ou (ii) da data da realização da Assembleia Especial de Cotistas que deliberar sobre a liquidação da Classe. BTG Pactual SAC: 0800 772 2827 | Ouvidoria: 0800 722 0048 | btgpactual.co m 19</a:t>
            </a:r>
          </a:p>
          <a:p>
            <a:r>
              <a:t>CNPJ 62696791000193 · Eventos de liquidação · Condição: O capítulo não fornece gatilho automático de PL &lt;R$ 1 milhão por 90 dias; essa cláusula presente em outros FIDCs não pode ser transferida para Ceres.</a:t>
            </a:r>
          </a:p>
          <a:p>
            <a:r>
              <a:t>CNPJ 62696791000193 · Eventos de liquidação · Motivo: Cláusula primária localizada e citada, mas sua lista/condições extensas não admitem uma síntese literal curta confirmada. O trecho integral permanece nas fontes.</a:t>
            </a:r>
          </a:p>
          <a:p>
            <a:r>
              <a:t>CNPJ 62696791000193 · Eventos de liquidação · Versão e prevalência: Leitura específica das cláusulas indicadas; condições e conflitos preservados. Seleção documental atual não comprova vigência jurídica por data isolada.</a:t>
            </a:r>
          </a:p>
          <a:p>
            <a:r>
              <a:t>CNPJ 55563624000109 · Eventos de liquidação · Regulamento · ID 1192614 · 30/04/2026 · versão Regulamento30/04/2026 · p. 21 · AnexoI11.3(i)–(vii) · https://fnet.bmfbovespa.com.br/fnet/publico/visualizarDocumento?id=1192614</a:t>
            </a:r>
          </a:p>
          <a:p>
            <a:r>
              <a:t>CNPJ 55563624000109 · Eventos de liquidação · Excerto da fonte:</a:t>
            </a:r>
          </a:p>
          <a:p>
            <a:r>
              <a:t>11.3 As seguintes hipóteses são consideradas Eventos de Liquidação: (i) caso seja deliberado em Assembleia Especial de Cotistas que um Evento de Avaliação constitui um Evento de Liquidação; (ii) na hipótese de renúncia do CUSTODIANTE, sem que tenha havido sua substituição por outra instituição, de acordo com os procedimentos estabelecidos neste Anexo; (iii) renúncia do ADMINISTRADOR ou do GESTOR sem que a Assembleia Especial de Cotistas eficazmente nomeie instituição habilitada para substituí-lo, nos termo</a:t>
            </a:r>
          </a:p>
          <a:p>
            <a:r>
              <a:t>CNPJ 55563624000109 · Eventos de liquidação · Versão e prevalência: Leitura específica das cláusulas indicadas; condições e conflitos preservados. Seleção documental atual não comprova vigência jurídica por data isolada.</a:t>
            </a:r>
          </a:p>
          <a:p>
            <a:r>
              <a:t>CNPJ 62552447000120 · Eventos de liquidação · Regulamento · ID 1200623 · 21/05/2026 · versão Consolidado21/05/2026 aprovado pelo ato1200625 · p. 24 · AnexoI11.2(i)–(v) · https://fnet.bmfbovespa.com.br/fnet/publico/visualizarDocumento?id=1200623</a:t>
            </a:r>
          </a:p>
          <a:p>
            <a:r>
              <a:t>CNPJ 62552447000120 · Eventos de liquidação · Excerto da fonte:</a:t>
            </a:r>
          </a:p>
          <a:p>
            <a:r>
              <a:t>11.2 As seguintes hipóteses são consideradas eventos de liquidação (“Eventos de Liquidação”): (i) caso seja deliberado em Assembleia Especial que um Evento de Avaliação constitui um Evento de Liquidação; (ii) na hipótese de resilição do Contrato de Custódia ou renúncia do Custodiante, sem que tenha havido sua substituição por outra instituição, de acordo com os procedimentos estabelecidos neste Regulamento; (iii) renúncia do Administrador sem que a Assembleia Especial ef icazmente nomeie instituição habilitada para substituí-lo, nos termos estab</a:t>
            </a:r>
          </a:p>
          <a:p>
            <a:r>
              <a:t>CNPJ 62552447000120 · Eventos de liquidação · Regulamento · ID 1200623 · 21/05/2026 · versão Consolidado21/05/2026 aprovado pelo ato1200625 · p. 25 · AnexoI11.2(vi)–(ix) · https://fnet.bmfbovespa.com.br/fnet/publico/visualizarDocumento?id=1200623</a:t>
            </a:r>
          </a:p>
          <a:p>
            <a:r>
              <a:t>CNPJ 62552447000120 · Eventos de liquidação · Excerto da fonte:</a:t>
            </a:r>
          </a:p>
          <a:p>
            <a:r>
              <a:t>(vi) em caso de regime de administração especial temporária - RAET, intervenção ou liquidação extrajudicial do Custodiante, Administrador, ou Gestor, sem a sua ef etiva substituição nos termos deste Regulamento; (vii) se, após 90 (noventa) dias do início das atividades do Fundo, o Patrimônio Líquido diário inferior da Classe for inferior a R$ 1.000.000,00 (um milhão de reais) pelo período de 90 (noventa) dias consecutivos; (viii) caso, por inexistência de recursos líquidos, a Classe não possa fazer f rente aos Encargos nas respectivas datas</a:t>
            </a:r>
          </a:p>
          <a:p>
            <a:r>
              <a:t>CNPJ 62552447000120 · Eventos de liquidação · Versão e prevalência: Leitura específica das cláusulas indicadas; condições e conflitos preservados. Seleção documental atual não comprova vigência jurídica por data isolada.</a:t>
            </a:r>
          </a:p>
          <a:p>
            <a:r>
              <a:t>CNPJ 63953620000165 · Eventos de liquidação · Anexo ao Regulamento · ID 1222863 · 02/06/2026 · versão AnexoConsignadoPrivado02/06/2026 · p. 16 · 11.2(i)–(viii) · https://fnet.bmfbovespa.com.br/fnet/publico/visualizarDocumento?id=1222863</a:t>
            </a:r>
          </a:p>
          <a:p>
            <a:r>
              <a:t>CNPJ 63953620000165 · Eventos de liquidação · Excerto da fonte:</a:t>
            </a:r>
          </a:p>
          <a:p>
            <a:r>
              <a:t>11.2 As seguintes hipóteses são consideradas eventos de liquidação (“Eventos de Liquidação”): (i) caso seja deliberado em Assembleia Especial de Cotistas que um Evento de Avaliação constitui um Evento de Liquidação; (ii) na hipótese de resilição do Contrato de Custódia ou renúncia do Custodiante, sem que tenha havido sua substituição por outra instituição, de acordo com os procedimentos estabelecidos neste Regulamento; (iii) renúncia do Administrador sem que a Assembleia Especial de Cotistas eficazmente nomeie instituição habilitada para substituí-lo, nos termos estabeleci</a:t>
            </a:r>
          </a:p>
          <a:p>
            <a:r>
              <a:t>CNPJ 63953620000165 · Eventos de liquidação · Versão e prevalência: Leitura específica das cláusulas indicadas; condições e conflitos preservados. Seleção documental atual não comprova vigência jurídica por data isolada.</a:t>
            </a:r>
          </a:p>
          <a:p>
            <a:r>
              <a:t>CNPJ 63953620000165 · Eventos de liquidação · Resumo do histórico: {"count": 8, "dates": ["2026-04-28", "2026-05-08", "2026-05-15"], "document_count": 3, "sources": [{"document_id": "1327859", "title": "Demonstrações Financeiras - Fusão, cisão e incorporação", "reference_date": "2026-05-15", "version": "1", "page": 23, "url": "https://fnet.bmfbovespa.com.br/fnet/publico/visualizarDocumento?id=1327859", "sha256": "dca1c68babb97f887528c3e2e47596a9c30f507b067981a35655b2f2da9c8054"}, {"document_id": "1298691", "title": "Demonstrações Financeiras - Fusão, cisão e incorporação", "reference_date": "2026-05-08", "version": "1", "page": 24, "url": "https://fnet.bmfbovespa.com.br/fnet/publico/visualizarDocumento?id=1298691", "sha256": "58c570d9b8d4d265330d3db3ea81c435b8e44a6dab4002aa37790652a1ee9819"}, {"document_id": "1282180", "title": "Demonstrações Financeiras - Fusão, cisão e incorporação", "reference_date": "2026-04-28", "version": "1", "page": 24, "url": "https://fnet.bmfbovespa.com.br/fnet/publico/visualizarDocumento?id=1282180", "sha256": "afaaa0e6809be4385e5bdb6c911aac582032c5bdbac3d7750234bf9eaf00438a"}], "reference": {"path": "history/63953620000165.json", "criterion_id": "liquidation", "total_count": 8, "preview_count": 3, "full_text_deferred": true, "sha256": "a7b89077f5e21098c2d601c303faabc3ff6b9729f89d8afecdc60fe1404720c1"}}</a:t>
            </a:r>
          </a:p>
          <a:p>
            <a:r>
              <a:t>CNPJ 54871427000194 · Prazos de cura e reincidência · Regulamento · ID 670691 · 28/04/2024 · versão Regulamento — referência 28/04/2024 · p. 18 · Anexo I, 11.1(ii)–(v) · https://fnet.bmfbovespa.com.br/fnet/publico/visualizarDocumento?id=670691</a:t>
            </a:r>
          </a:p>
          <a:p>
            <a:r>
              <a:t>CNPJ 54871427000194 · Prazos de cura e reincidência · Excerto da fonte:</a:t>
            </a:r>
          </a:p>
          <a:p>
            <a:r>
              <a:t>(ii) não cumprimento, por qualquer dos Endossantes, de qualquer de suas obrigações estabelecidas em cada Contrato de Endosso ou neste Regulamento e Anexo, desde que esse não cumprimento não seja devidamente sanado ou justificado dentro de 10 (dez) Dias Úteis a partir do recebimento, pelo Endossante, de notificação, por escrito, enviada pelo Administrador, inf ormando-o da ocorrência do respectivo evento; (iii) não cumprimento, por qualquer dos Endossantes, de suas obrigações de entregar o Arquivo de Liquidação Antecipada e o Arquivo de Posição das CCBs ao CUSTODIANTE dentro do prazo estabelecido neste Regulamento, desde que esse não cumprimento não seja devidamente sanado ou justificado dentro dos prazos acordados no respectivo Contrato de Endosso, a partir do recebimento, pelos Endossantes, de notificação, por escrito, enviada pelo CUSTODIANTE, inf ormando-o da ocorrência do respectivo evento; (iv) não cumprimento, por qualquer dos Endossantes, de qualquer de suas obrigações de entregar ao CUSTODIANTE, ou a terceiros por ele indicados, os Documentos Comprobatórios relativos</a:t>
            </a:r>
          </a:p>
          <a:p>
            <a:r>
              <a:t>CNPJ 54871427000194 · Prazos de cura e reincidência · Motivo: Não localizada uma cláusula material para este critério nos textos identificados e processados. A ausência de resultado não comprova inexistência da regra.</a:t>
            </a:r>
          </a:p>
          <a:p>
            <a:r>
              <a:t>CNPJ 54871427000194 · Prazos de cura e reincidência · Versão e prevalência: Leitura específica das cláusulas indicadas; condições e conflitos preservados. Seleção documental atual não comprova vigência jurídica por data isolada.</a:t>
            </a:r>
          </a:p>
          <a:p>
            <a:r>
              <a:t>CNPJ 60010416000112 · Prazos de cura e reincidência · Regulamento · ID 1051393 · 09/10/2025 · versão Regulamento09/10/2025 · p. 14 · AnexoI5.7.1–5.7.2 · https://fnet.bmfbovespa.com.br/fnet/publico/visualizarDocumento?id=1051393</a:t>
            </a:r>
          </a:p>
          <a:p>
            <a:r>
              <a:t>CNPJ 60010416000112 · Prazos de cura e reincidência · Excerto da fonte:</a:t>
            </a:r>
          </a:p>
          <a:p>
            <a:r>
              <a:t>5.7.1 abaixo. 5.7.1 Na hipótese do item 5.7 os titulares de Cotas Subordinadas terão o prazo de 3 (três) Dias Úteis contado do recebimento da comunicação enviada pelo Administrador para manifestar sua intenção de subscrever e integralizar novas Cotas Subordinadas, de f orma a restabelecer o Índice de Subordinação. Caso assim se manifestem, o Administrador e os titulares de Cotas Subordinadas deverão, nos 10 (dez) Dias Úteis subsequentes tomar todas as providências necessárias para que as novas Cotas Subordinadas sejam emitidas, subscritas e integraliza</a:t>
            </a:r>
          </a:p>
          <a:p>
            <a:r>
              <a:t>CNPJ 60010416000112 · Prazos de cura e reincidência · Regulamento · ID 1051393 · 09/10/2025 · versão Regulamento09/10/2025 · p. 19 · AnexoI10.1(ii)–(vii) · https://fnet.bmfbovespa.com.br/fnet/publico/visualizarDocumento?id=1051393</a:t>
            </a:r>
          </a:p>
          <a:p>
            <a:r>
              <a:t>CNPJ 60010416000112 · Prazos de cura e reincidência · Excerto da fonte:</a:t>
            </a:r>
          </a:p>
          <a:p>
            <a:r>
              <a:t>10.1 As seguintes hipóteses são consideradas Eventos de Avaliação: (i) em caso de regime de administração especial temporária - RAET, intervenção ou liquidação extrajudicial do Endossante; (ii) em caso de desenquadramento do Índice de Subordinação por 10 (dez) dias úteis consecutivos; (iii) não cumprimento, pelo Endossante, de qualquer de suas obrigações estabelecidas no Contrato de Endosso ou neste Anexo I, desde que esse não cumprimento não seja devidamente sanado ou justif icado dentro de 10 (dez) Dias Úteis a partir do recebimento, pelo Endossante, de noti</a:t>
            </a:r>
          </a:p>
          <a:p>
            <a:r>
              <a:t>CNPJ 60010416000112 · Prazos de cura e reincidência · Regulamento · ID 1051393 · 09/10/2025 · versão Regulamento09/10/2025 · p. 20 · AnexoI10.1(xiii) · https://fnet.bmfbovespa.com.br/fnet/publico/visualizarDocumento?id=1051393</a:t>
            </a:r>
          </a:p>
          <a:p>
            <a:r>
              <a:t>CNPJ 60010416000112 · Prazos de cura e reincidência · Excerto da fonte:</a:t>
            </a:r>
          </a:p>
          <a:p>
            <a:r>
              <a:t>(xiii) no caso de não serem realizados pagamentos de amortização e/ou resgate de Cotas Seniores, nos termos, prazos e condições previstos no presente Regulamento e nos respectivos Apêndices e Suplementos, não sanados em até 2 (dois) Dias Úteis contados do prazo final do respectivo evento; (xiv) no caso de pagamento de resgate e/ou amortização de Cotas Subordinadas em desacordo com os termos, prazos e condições previstos no presente Regulamento e no respectivo Apêndice. 10.1.1 Na ocorrência de qualquer Evento de Avaliação, será convocada Assembleia Especial de Cotistas,</a:t>
            </a:r>
          </a:p>
          <a:p>
            <a:r>
              <a:t>CNPJ 60010416000112 · Prazos de cura e reincidência · Versão e prevalência: Leitura específica das cláusulas indicadas; condições e conflitos preservados. Seleção documental atual não comprova vigência jurídica por data isolada.</a:t>
            </a:r>
          </a:p>
          <a:p>
            <a:r>
              <a:t>CNPJ 60010416000112 · Prazos de cura e reincidência · Resumo do histórico: {"count": 1, "dates": ["2025-03-20"], "document_count": 1, "sources": [{"document_id": "993786", "title": "Regulamento", "reference_date": "2025-03-20", "version": "1", "page": 19, "clause": "10.1", "url": "https://fnet.bmfbovespa.com.br/fnet/publico/visualizarDocumento?id=993786", "sha256": "fd0fdd369a195510d81f81f505195a0b09e5f43522a990afa7d58c4f872921c8"}], "reference": {"path": "history/60010416000112.json", "criterion_id": "cure", "total_count": 1, "preview_count": 1, "full_text_deferred": true, "sha256": "8e2bd813f4c51cf01f6bfaad164bafe69d2bbb192f753eac92da3a01c2e63046"}}</a:t>
            </a:r>
          </a:p>
          <a:p>
            <a:r>
              <a:t>CNPJ 62696791000193 · Prazos de cura e reincidência · Motivo: Não localizada uma cláusula material para este critério nos textos identificados e processados. A ausência de resultado não comprova inexistência da regra.</a:t>
            </a:r>
          </a:p>
          <a:p>
            <a:r>
              <a:t>CNPJ 55563624000109 · Prazos de cura e reincidência · Regulamento · ID 1192614 · 30/04/2026 · versão Regulamento30/04/2026 · p. 20 · AnexoI11.1 · https://fnet.bmfbovespa.com.br/fnet/publico/visualizarDocumento?id=1192614</a:t>
            </a:r>
          </a:p>
          <a:p>
            <a:r>
              <a:t>CNPJ 55563624000109 · Prazos de cura e reincidência · Excerto da fonte:</a:t>
            </a:r>
          </a:p>
          <a:p>
            <a:r>
              <a:t>11.1 As seguintes hipóteses são consideradas Eventos de Avaliação: (i) inobservância pelo ADMINISTRADOR, pelo CUSTODIANTE e/ou pelo GESTOR de seus deveres e obrigações previstos neste Anexo, desde que, uma vez notificados para sanar ou justificar o descumprimento, o ADMINISTRADOR, o CUSTODIANTE e/ou o GESTOR, conforme o caso, não o sane no prazo de 5 (cinco) Dias Úteis contados do recebimento da referida notificação; (ii) aquisição, pela Classe, de Cotas da Classe Investida que estejam em desacordo com o Critério de</a:t>
            </a:r>
          </a:p>
          <a:p>
            <a:r>
              <a:t>CNPJ 55563624000109 · Prazos de cura e reincidência · Regulamento · ID 1192614 · 30/04/2026 · versão Regulamento30/04/2026 · p. 21 · AnexoI11.1.2 · https://fnet.bmfbovespa.com.br/fnet/publico/visualizarDocumento?id=1192614</a:t>
            </a:r>
          </a:p>
          <a:p>
            <a:r>
              <a:t>CNPJ 55563624000109 · Prazos de cura e reincidência · Excerto da fonte:</a:t>
            </a:r>
          </a:p>
          <a:p>
            <a:r>
              <a:t>11.1.2 No momento de verificação de qualquer Evento de Avaliação, os procedimentos de aquisição de novas Cotas da Classe Investida e, se aplicável, de amortização das Cotas, deverão ser imediatamente interrompidos, até que: (i) seja proferida decisão final em Assembleia Especial de Cotistas, convocada especificamente para este fim, nos termos do item 11.1.1 acima, autorizando a retomada dos procedimentos de aquisição de novas Cotas da Classe Investida, amortização e resgate das Cotas; e/ou (ii) seja sanado o Evento de Avalia</a:t>
            </a:r>
          </a:p>
          <a:p>
            <a:r>
              <a:t>CNPJ 55563624000109 · Prazos de cura e reincidência · Motivo: Não localizada uma cláusula material para este critério nos textos identificados e processados. A ausência de resultado não comprova inexistência da regra.</a:t>
            </a:r>
          </a:p>
          <a:p>
            <a:r>
              <a:t>CNPJ 55563624000109 · Prazos de cura e reincidência · Versão e prevalência: Leitura específica das cláusulas indicadas; condições e conflitos preservados. Seleção documental atual não comprova vigência jurídica por data isolada.</a:t>
            </a:r>
          </a:p>
          <a:p>
            <a:r>
              <a:t>CNPJ 62552447000120 · Prazos de cura e reincidência · Regulamento · ID 1200623 · 21/05/2026 · versão Consolidado21/05/2026 aprovado pelo ato1200625 · p. 22 · AnexoI11.1(ii)–(v) · https://fnet.bmfbovespa.com.br/fnet/publico/visualizarDocumento?id=1200623</a:t>
            </a:r>
          </a:p>
          <a:p>
            <a:r>
              <a:t>CNPJ 62552447000120 · Prazos de cura e reincidência · Excerto da fonte:</a:t>
            </a:r>
          </a:p>
          <a:p>
            <a:r>
              <a:t>5 (cinco) Dias Úteis a partir do recebimento, pelo Endossante, de notificação, por escrito, enviada pelo Administrador, inf ormando-o da ocorrência do respectivo evento; (iii) não cumprimento, pelo Endossante e/ou pelo Agente de Retenção e Cobrança, de sua obrigação de entregar os (a) arquivos eletrônicos disponibilizados mensalmente pela Dataprev ao Endossante, contendo (1) as Consignações processadas pela Dataprev no respectivo mês, identificando os Devedores e os valores que serão descontados de suas respectivas folhas de pagamentos, bem como</a:t>
            </a:r>
          </a:p>
          <a:p>
            <a:r>
              <a:t>CNPJ 62552447000120 · Prazos de cura e reincidência · Regulamento · ID 1200623 · 21/05/2026 · versão Consolidado21/05/2026 aprovado pelo ato1200625 · p. 23 · AnexoI11.1(vi)–(viii) · https://fnet.bmfbovespa.com.br/fnet/publico/visualizarDocumento?id=1200623</a:t>
            </a:r>
          </a:p>
          <a:p>
            <a:r>
              <a:t>CNPJ 62552447000120 · Prazos de cura e reincidência · Excerto da fonte:</a:t>
            </a:r>
          </a:p>
          <a:p>
            <a:r>
              <a:t>5 (cinco) Dias Úteis a partir do recebimento, pelo Agente de Retenção e Cobrança, de notificação, por escrito, enviada pelo Gestor, informando-o da ocorrência do respectivo evento; (vi) não cumprimento, pelo Agente de Conta Vinculada, de qualquer de suas obrigações estabelecidas no contrato de conta vinculada celebrado entre o Endossante, na qualidade de titular da Conta Vinculada, e a Classe (“Contrato de Conta Vinculada”), no Regulamento ou neste Anexo I, desde que esse não cumprimento não seja devidamente sanado ou justificado dentro de 5 (cinco) Dias Úte</a:t>
            </a:r>
          </a:p>
          <a:p>
            <a:r>
              <a:t>CNPJ 62552447000120 · Prazos de cura e reincidência · Regulamento · ID 1200623 · 21/05/2026 · versão Consolidado21/05/2026 aprovado pelo ato1200625 · p. 19 · AnexoI6.8.4 · https://fnet.bmfbovespa.com.br/fnet/publico/visualizarDocumento?id=1200623</a:t>
            </a:r>
          </a:p>
          <a:p>
            <a:r>
              <a:t>CNPJ 62552447000120 · Prazos de cura e reincidência · Excerto da fonte:</a:t>
            </a:r>
          </a:p>
          <a:p>
            <a:r>
              <a:t>6.8.4 Em caso de inadimplência decorrente de falha operacional, será concedido aos Cotistas o prazo de 2 (dois) Dias Úteis contado da data de seu vencimento original para a realização do pagamento da integralização de Cotas sem a incidência de qualquer penalidade, multa ou mora. Transferência de Cotas 6.9 Não haverá direito de preferência aos Cotistas em relação às transferências de Cotas no mercado secundário. 6.10 No caso de alienação voluntária de Cotas, o Cotista alienante deverá solicitar por escrito ao Administrador e ao Gestor, a transf erência parcial ou total de suas Cotas, indicando o nom</a:t>
            </a:r>
          </a:p>
          <a:p>
            <a:r>
              <a:t>CNPJ 62552447000120 · Prazos de cura e reincidência · Regulamento · ID 1200623 · 21/05/2026 · versão Consolidado21/05/2026 aprovado pelo ato1200625 · p. 24 · AnexoI11.1.2 · https://fnet.bmfbovespa.com.br/fnet/publico/visualizarDocumento?id=1200623</a:t>
            </a:r>
          </a:p>
          <a:p>
            <a:r>
              <a:t>CNPJ 62552447000120 · Prazos de cura e reincidência · Excerto da fonte:</a:t>
            </a:r>
          </a:p>
          <a:p>
            <a:r>
              <a:t>11.1.2 No momento de verificação de qualquer Evento de Avaliação, os procedimentos de aquisição de novos Direitos Creditórios deverão ser imediatamente interrompidos, até que: (i) seja prof erida decisão final em Assembleia Especial, convocada especificamente para este fim, nos termos do item 11.1.1 acima, autorizando a retomada dos procedimentos de aquisição de novos Direitos Creditórios e resgate das Cotas; e/ou (ii) seja sanado o Evento de Avaliação . 11.1.3 Na hipótese de não instalação da Assembleia Especial por f alta de quórum, o Administrador dará início aos</a:t>
            </a:r>
          </a:p>
          <a:p>
            <a:r>
              <a:t>CNPJ 62552447000120 · Prazos de cura e reincidência · Motivo: Não localizada uma cláusula material para este critério nos textos identificados e processados. A ausência de resultado não comprova inexistência da regra.</a:t>
            </a:r>
          </a:p>
          <a:p>
            <a:r>
              <a:t>CNPJ 62552447000120 · Prazos de cura e reincidência · Versão e prevalência: Leitura específica das cláusulas indicadas; condições e conflitos preservados. Seleção documental atual não comprova vigência jurídica por data isolada.</a:t>
            </a:r>
          </a:p>
          <a:p>
            <a:r>
              <a:t>CNPJ 63953620000165 · Prazos de cura e reincidência · Anexo ao Regulamento · ID 1222863 · 02/06/2026 · versão AnexoConsignadoPrivado02/06/2026 · p. 14 · 11.1(ii)–(v) · https://fnet.bmfbovespa.com.br/fnet/publico/visualizarDocumento?id=1222863</a:t>
            </a:r>
          </a:p>
          <a:p>
            <a:r>
              <a:t>CNPJ 63953620000165 · Prazos de cura e reincidência · Excerto da fonte:</a:t>
            </a:r>
          </a:p>
          <a:p>
            <a:r>
              <a:t>11.1 As seguintes hipóteses são consideradas eventos de avaliação (“Eventos de Avaliação”): (i) em caso de regime de administração especial temporária - RAET, intervenção ou liquidação extrajudicial do Endossante; (ii) em caso de desenquadramento do Índice de Subordinação por 10 (dez) dias úteis consecutivos; (iii) não cumprimento, pelo Endossante, de qualquer de suas obrigações estabelecidas no Contrato de Endosso ou neste Anexo I, desde que esse não cumprimento não seja devidamente sanado ou justificado dentro de 10 (dez) Dias Úteis a partir do recebimento, pelo Endossan</a:t>
            </a:r>
          </a:p>
          <a:p>
            <a:r>
              <a:t>CNPJ 63953620000165 · Prazos de cura e reincidência · Anexo ao Regulamento · ID 1222863 · 02/06/2026 · versão AnexoConsignadoPrivado02/06/2026 · p. 10 · 6.8 · https://fnet.bmfbovespa.com.br/fnet/publico/visualizarDocumento?id=1222863</a:t>
            </a:r>
          </a:p>
          <a:p>
            <a:r>
              <a:t>CNPJ 63953620000165 · Prazos de cura e reincidência · Excerto da fonte:</a:t>
            </a:r>
          </a:p>
          <a:p>
            <a:r>
              <a:t>6.8 Observado o disposto nos boletins de subscrição, no caso de inadimplemento, a Administradora notificará o cotista inadimplente para sanar o inadimplemento no prazo de até 5 (cinco) Dias Úteis (“Cotista Inadimplente”). Caso o Cotista Inadimplente não sane o inadimplemento dentro de 5 (cinco) Dias Úteis contados do recebimento da notificação descrita acima, a Administradora poderá tomar as medidas previstas no Boletim de Subscrição. Colocação das Cotas 6.9 As Cotas poderão ser objeto de oferta pública a ser realizada nos termos da Resolução CVM 160 (“Oferta”) e/ou poderão ser colocadas de forma privada (“Colocação Privad</a:t>
            </a:r>
          </a:p>
          <a:p>
            <a:r>
              <a:t>CNPJ 63953620000165 · Prazos de cura e reincidência · Versão e prevalência: Leitura específica das cláusulas indicadas; condições e conflitos preservados. Seleção documental atual não comprova vigência jurídica por data isolada.</a:t>
            </a:r>
          </a:p>
          <a:p>
            <a:r>
              <a:t>CNPJ 54871427000194 · Cross default e insolvência · Motivo: Não localizada uma cláusula material para este critério nos textos identificados e processados. A ausência de resultado não comprova inexistência da regra.</a:t>
            </a:r>
          </a:p>
          <a:p>
            <a:r>
              <a:t>CNPJ 60010416000112 · Cross default e insolvência · Regulamento · ID 1051393 · 2025-10-09 · versão 1 · p. 21 · 10.2 · https://fnet.bmfbovespa.com.br/fnet/publico/visualizarDocumento?id=1051393</a:t>
            </a:r>
          </a:p>
          <a:p>
            <a:r>
              <a:t>CNPJ 60010416000112 · Cross default e insolvência · Excerto da fonte:</a:t>
            </a:r>
          </a:p>
          <a:p>
            <a:r>
              <a:t>10.2 Os seguintes eventos obrigarão o Administrador a verif icar se o Patrimônio Líquido da Classe está  negativo:</a:t>
            </a:r>
          </a:p>
          <a:p>
            <a:r>
              <a:t> (i) qualquer pedido de declaração judicial de insolvência da Classe;</a:t>
            </a:r>
          </a:p>
          <a:p>
            <a:r>
              <a:t> (ii) identificação de indícios de f raudes envolvendo o lastro de Direitos Creditórios que representem, no  mínimo 0,5 (cinco décimos por cento) do Patrimônio Líquido da Classe;</a:t>
            </a:r>
          </a:p>
          <a:p>
            <a:r>
              <a:t> (iii) inadimplência de obrigações financeiras de devedor e/ou emissor de ativos detidos pela Classe que  representem mais de 25% (vinte e cinco por cento)de seu Patrimônio Líquido;</a:t>
            </a:r>
          </a:p>
          <a:p>
            <a:r>
              <a:t> (iv) pedido de recuperação extrajudicial, de recuperação judicial, ou de falência de Devedor e/ou emissor  de ativos detidos pela Classe;</a:t>
            </a:r>
          </a:p>
          <a:p>
            <a:r>
              <a:t> (v) condenação da Classe de natureza judicial e/ou arbitral e/ou administrativa e/ou outras similares ao  pagamento de mais de 20% (vinte por cento) de seu Patrimônio Líquido; e</a:t>
            </a:r>
          </a:p>
          <a:p>
            <a:r>
              <a:t> (vi) caso caracterizado quaisquer dos Eventos de Liquidação.</a:t>
            </a:r>
          </a:p>
          <a:p>
            <a:r>
              <a:t>Eventos de Liquidação</a:t>
            </a:r>
          </a:p>
          <a:p>
            <a:r>
              <a:t>CNPJ 60010416000112 · Cross default e insolvência · Regulamento · ID 1051393 · 2025-10-09 · versão 1 · p. 21 · 10.3 · https://fnet.bmfbovespa.com.br/fnet/publico/visualizarDocumento?id=1051393</a:t>
            </a:r>
          </a:p>
          <a:p>
            <a:r>
              <a:t>CNPJ 60010416000112 · Cross default e insolvência · Excerto da fonte:</a:t>
            </a:r>
          </a:p>
          <a:p>
            <a:r>
              <a:t>10.3 As seguintes hipóteses são consideradas Eventos de Liquidação:</a:t>
            </a:r>
          </a:p>
          <a:p>
            <a:r>
              <a:t> (i) caso seja deliberado em Assembleia de Cotistas que um Evento de Avaliação constitui um Evento de  Liquidação;</a:t>
            </a:r>
          </a:p>
          <a:p>
            <a:r>
              <a:t> (ii) na hipótese de resilição do Contrato de Custódia ou renúncia do Custodiante, sem que tenha havido  sua substituição por outra instituição, de acordo com os procedimentos estabelecidos neste  Regulamento;</a:t>
            </a:r>
          </a:p>
          <a:p>
            <a:r>
              <a:t> (iii) renúncia do Administrador sem que a Assembleia Especial de Cotistas eficazmente nomeie instituição  habilitada para substituí-lo, nos termos estabelecidos neste Regulamento;</a:t>
            </a:r>
          </a:p>
          <a:p>
            <a:r>
              <a:t> (iv) por determinação da CVM, em caso de violação de normas legais ou regulamentares;</a:t>
            </a:r>
          </a:p>
          <a:p>
            <a:r>
              <a:t> (v) sempre que assim decidido pelos Cotistas em Assembleia Especial de Cotistas especialmente  convocada para tal f im;</a:t>
            </a:r>
          </a:p>
          <a:p>
            <a:r>
              <a:t> (vi) em caso de regime de administração especial temporária - RAET, intervenção ou liquidação  extrajudicial, conforme aplicável, do Custodiante, Administrador, ou Gestor, sem a sua ef etiva  substituição nos termos deste Regulamento;</a:t>
            </a:r>
          </a:p>
          <a:p>
            <a:r>
              <a:t> (vii) se, após 90 (noventa) dias do início das atividades do Fundo, o Patrimônio Líquido diário inf erior da  Classe f or inf erior a R$ 1.000.000,00 (um milhão de reais) pelo período de 90 (noventa) dias  consecutivos;</a:t>
            </a:r>
          </a:p>
          <a:p>
            <a:r>
              <a:t> (viii) impossibilidade da Classe adquirir Direitos Creditórios admitidos por sua política de investimento.</a:t>
            </a:r>
          </a:p>
          <a:p>
            <a:r>
              <a:t>Procedimentos de Liquidação Antecipada</a:t>
            </a:r>
          </a:p>
          <a:p>
            <a:r>
              <a:t>CNPJ 60010416000112 · Cross default e insolvência · Regulamento · ID 1051393 · 2025-10-09 · versão 1 · p. 19 · 10.1 · https://fnet.bmfbovespa.com.br/fnet/publico/visualizarDocumento?id=1051393</a:t>
            </a:r>
          </a:p>
          <a:p>
            <a:r>
              <a:t>CNPJ 60010416000112 · Cross default e insolvência · Excerto da fonte:</a:t>
            </a:r>
          </a:p>
          <a:p>
            <a:r>
              <a:t>10.1 As seguintes hipóteses são consideradas Eventos de Avaliação:</a:t>
            </a:r>
          </a:p>
          <a:p>
            <a:r>
              <a:t> (i) em caso de regime de administração especial temporária - RAET, intervenção ou liquidação  extrajudicial do Endossante;</a:t>
            </a:r>
          </a:p>
          <a:p>
            <a:r>
              <a:t> (ii) em caso de desenquadramento do Índice de Subordinação por 10 (dez) dias úteis consecutivos;</a:t>
            </a:r>
          </a:p>
          <a:p>
            <a:r>
              <a:t> (iii) não cumprimento, pelo Endossante, de qualquer de suas obrigações estabelecidas no Contrato de  Endosso ou neste Anexo I, desde que esse não cumprimento não seja devidamente sanado ou  justif icado dentro de 10 (dez) Dias Úteis a partir do recebimento, pelo Endossante, de notificação,  por escrito, enviada pelo Administrador, inf ormando-o da ocorrência do respectivo evento;</a:t>
            </a:r>
          </a:p>
          <a:p>
            <a:r>
              <a:t> (iv) não cumprimento, pelo Endossante, de sua obrigação de entregar os Arquivos Dataprev ao Gestor  e ao Custodiante dentro do prazo estabelecido neste Anexo I, desde que esse não cumprimento  não seja devidamente sanado ou justificado dentro de 02 (dois) Dias Úteis a partir do recebimento,  pelo Endossante, de notificação, por escrito, enviada pelo Gestor, informando-o da ocorrência do  respectivo evento;</a:t>
            </a:r>
          </a:p>
          <a:p>
            <a:r>
              <a:t> (v) não cumprimento, pelo Endossante, de qualquer de suas obrigações de entregar ao Gestor e/o ao  Custodiante, ou a terceiros por ele indicados, os Documentos Comprobatórios e Documentos  Suporte relativos aos Direitos Creditórios que tenham sido endossados à Classe, dentro do prazo  estabelecido neste Anexo I, desde que esse não cumprimento não seja devidamente sanado ou  justif icado dentro de 02 (dois) Dias Úteis a partir do recebimento, pelo Endossante, de notificação,  por escrito, enviada pelo Gestor e/ou Custodiante, inf ormando- o da ocorrência do respectivo  evento;</a:t>
            </a:r>
          </a:p>
          <a:p>
            <a:r>
              <a:t> (vi) não cumprimento, pelo Agente de Retenção/Cobrança, de qualquer de suas obrigações  estabelecidas no Contrato de Endosso, neste Regulamento ou no Contrato de Serviços MT, desde  que esse não cumprimento não seja devidamente sanado ou justificado dentro de 10 (dez) Dias  Úteis a partir do recebimento, pelo Agente de Retenção/Cobrança, de notificação, por escrito,  enviada pelo Gestor, inf ormando-o da ocorrência do respectivo evento;</a:t>
            </a:r>
          </a:p>
          <a:p>
            <a:r>
              <a:t> (vii) não cumprimento, pelo Administrador, Gestor ou Custodiante, de seus respectivos deveres e  obrigações estabelecidos neste Regulamento, no Contrato de Endosso ou nos respectivos  contratos de prestação de serviços segundo os quais essas entidades são contratadas pela Classe,  desde que, tendo sido notificado pelo Cotista para remediar ou justificar o não cumprimento, não o  f aça dentro de 10 (dez) Dias Úteis a partir do recebimento da notif icação mencionada;</a:t>
            </a:r>
          </a:p>
          <a:p>
            <a:r>
              <a:t>BTG Pactual SAC: 0800 772 28 27 - Ouvidoria: 0800 722 00 48 - btgpactual.com 19</a:t>
            </a:r>
          </a:p>
          <a:p>
            <a:r>
              <a:t>CNPJ 60010416000112 · Cross default e insolvência · Condição: Documentos atuais selecionados no inventário por categoria/escopo; a data documental isolada não comprova vigência jurídica.</a:t>
            </a:r>
          </a:p>
          <a:p>
            <a:r>
              <a:t>CNPJ 60010416000112 · Cross default e insolvência · Versão e prevalência: Documentos atuais selecionados no inventário por categoria/escopo; a data documental isolada não comprova vigência jurídica.</a:t>
            </a:r>
          </a:p>
          <a:p>
            <a:r>
              <a:t>CNPJ 60010416000112 · Cross default e insolvência · Resumo do histórico: {"count": 1, "dates": ["2025-03-20"], "document_count": 1, "sources": [{"document_id": "993786", "title": "Regulamento", "reference_date": "2025-03-20", "version": "1", "page": 21, "clause": "10.2", "url": "https://fnet.bmfbovespa.com.br/fnet/publico/visualizarDocumento?id=993786", "sha256": "fd0fdd369a195510d81f81f505195a0b09e5f43522a990afa7d58c4f872921c8"}], "reference": {"path": "history/60010416000112.json", "criterion_id": "cross_default", "total_count": 1, "preview_count": 1, "full_text_deferred": true, "sha256": "8e2bd813f4c51cf01f6bfaad164bafe69d2bbb192f753eac92da3a01c2e63046"}}</a:t>
            </a:r>
          </a:p>
          <a:p>
            <a:r>
              <a:t>CNPJ 62696791000193 · Cross default e insolvência · Motivo: Não localizada uma cláusula material para este critério nos textos identificados e processados. A ausência de resultado não comprova inexistência da regra.</a:t>
            </a:r>
          </a:p>
          <a:p>
            <a:r>
              <a:t>CNPJ 55563624000109 · Cross default e insolvência · Motivo: Não localizada uma cláusula material para este critério nos textos identificados e processados. A ausência de resultado não comprova inexistência da regra.</a:t>
            </a:r>
          </a:p>
          <a:p>
            <a:r>
              <a:t>CNPJ 62552447000120 · Cross default e insolvência · Regulamento · ID 1200623 · 2026-05-21 · versão 1 · p. 22 · 11.1 · https://fnet.bmfbovespa.com.br/fnet/publico/visualizarDocumento?id=1200623</a:t>
            </a:r>
          </a:p>
          <a:p>
            <a:r>
              <a:t>CNPJ 62552447000120 · Cross default e insolvência · Excerto da fonte:</a:t>
            </a:r>
          </a:p>
          <a:p>
            <a:r>
              <a:t>11.1 As seguintes hipóteses são consideradas eventos de avaliação (“Eventos de Avaliação”):</a:t>
            </a:r>
          </a:p>
          <a:p>
            <a:r>
              <a:t> (i) em caso de regime de administração especial temporária - RAET, intervenção ou liquidação  extrajudicial do Endossante, da instituição f inanceira prestadora dos serviços de agente de  conta vinculada à Classe (“Agente de Conta Vinculada”) e/ou do Agente de Retenção e  Cobrança;</a:t>
            </a:r>
          </a:p>
          <a:p>
            <a:r>
              <a:t> (ii) não cumprimento, pelo Endossante, de qualquer de suas obrigações estabelecidas nos  Contratos de Endosso, no Regulamento ou neste Anexo I, desde que esse não cumprimento  não seja devidamente sanado ou justificado dentro de 5 (cinco) Dias Úteis a partir do  recebimento, pelo Endossante, de notificação, por escrito, enviada pelo Administrador,  inf ormando-o da ocorrência do respectivo evento;</a:t>
            </a:r>
          </a:p>
          <a:p>
            <a:r>
              <a:t> (iii) não cumprimento, pelo Endossante e/ou pelo Agente de Retenção e Cobrança, de sua  obrigação de entregar os (a) arquivos eletrônicos disponibilizados mensalmente pela Dataprev  ao Endossante, contendo (1) as Consignações processadas pela Dataprev no respectivo mês,  identificando os Devedores e os valores que serão descontados de suas respectivas folhas de  pagamentos, bem como (2) a totalidade das operações pendentes de crédito consignado  concedidas pelo Endossante e indicando todos os Direitos Creditórios devi dos mediante  Consignação na próxima data de liquidação (“Arquivos Dataprev”) e/ou (b) os arquivos  eletrônicos disponibilizados mensalmente pela CEF ao Endossante, contendo os pagamentos  de Saque-aniversário processados pela CEF no respectivo mês devidos à Classe, identificando  os Devedores e os valores que serão descontados de seus respectivos Saques-aniversário  (“Arquivos de Liquidação Saque-aniversário”) ao Custodiante dentro do prazo estabelecido  neste Anexo I, desde que esse não cumprimento não seja dev idamente sanado ou justificado  dentro de 5 (cinco) Dias Úteis a partir do recebimento, pelo Endossante e/ou pelo Agente de  Retenção e Cobrança, de notificação, por escrito, enviada pelo Custodiante, inf ormando-o da  ocorrência do respectivo evento;</a:t>
            </a:r>
          </a:p>
          <a:p>
            <a:r>
              <a:t> (iv) não cumprimento, pelo Endossante e/ou pelo Agente de Retenção e Cobrança, de qualquer de  suas obrigações de entregar ao Gestor, ou a terceiros por ele indicados, os Documentos  Comprobatórios e Documentos Suporte relativos aos Direitos Creditórios que tenham sido  endossados à Classe, dentro do prazo estabelecido neste Anexo I, desde que esse não  cumprimento não seja devidamente sanado ou justificado dentro de 5 (cinco) Dias Úteis a partir  do recebimento, pelo Endossante e/ou pelo Agente de Retenção e Cobrança, de notificação,  por escrito, enviada pelo Custodiante, inf ormando- o da ocorrência do respectivo evento;</a:t>
            </a:r>
          </a:p>
          <a:p>
            <a:r>
              <a:t> (v) não cumprimento, pelo Agente de Retenção e Cobrança, de qualquer de suas obrigações  estabelecidas nos Contratos de Endosso, no Regulamento, neste Anexo I ou nos Contratos de  Retenção/Cobrança, desde que esse não cumprimento não seja devidamente sanado ou</a:t>
            </a:r>
          </a:p>
          <a:p>
            <a:r>
              <a:t>CNPJ 62552447000120 · Cross default e insolvência · Condição: Documentos atuais selecionados no inventário por categoria/escopo; a data documental isolada não comprova vigência jurídica.</a:t>
            </a:r>
          </a:p>
          <a:p>
            <a:r>
              <a:t>CNPJ 62552447000120 · Cross default e insolvência · Versão e prevalência: Documentos atuais selecionados no inventário por categoria/escopo; a data documental isolada não comprova vigência jurídica.</a:t>
            </a:r>
          </a:p>
          <a:p>
            <a:r>
              <a:t>CNPJ 63953620000165 · Cross default e insolvência · Anexo ao Regulamento · ID 1222863 · 2026-06-02 · versão 1 · p. 14 · 11.1 · https://fnet.bmfbovespa.com.br/fnet/publico/visualizarDocumento?id=1222863</a:t>
            </a:r>
          </a:p>
          <a:p>
            <a:r>
              <a:t>CNPJ 63953620000165 · Cross default e insolvência · Excerto da fonte:</a:t>
            </a:r>
          </a:p>
          <a:p>
            <a:r>
              <a:t>11.1 As seguintes hipóteses são consideradas eventos de avaliação (“Eventos de Avaliação”):</a:t>
            </a:r>
          </a:p>
          <a:p>
            <a:r>
              <a:t> (i) em caso de regime de administração especial temporária - RAET, intervenção ou liquidação extrajudicial  do Endossante;</a:t>
            </a:r>
          </a:p>
          <a:p>
            <a:r>
              <a:t> (ii) em caso de desenquadramento do Índice de Subordinação por 10 (dez) dias úteis consecutivos;</a:t>
            </a:r>
          </a:p>
          <a:p>
            <a:r>
              <a:t> (iii) não cumprimento, pelo Endossante, de qualquer de suas obrigações estabelecidas no Contrato de  Endosso ou neste Anexo I, desde que esse não cumprimento não seja devidamente sanado ou justificado  dentro de 10 (dez) Dias Úteis a partir do recebimento, pelo Endossante, de notificação, por escrito,  enviada pelo Administrador, informando-o da ocorrência do respectivo evento;</a:t>
            </a:r>
          </a:p>
          <a:p>
            <a:r>
              <a:t> (iv) não cumprimento, pelo Endossante, de sua obrigação de entregar os Arquivos Dataprev ao Gestor e ao  Custodiante dentro do prazo estabelecido neste Anexo, desde que esse não cumprimento não seja  devidamente sanado ou justificado dentro de 02 (dois) Dias Úteis a partir do recebimento, pelo  Endossante, de notificação, por escrito, enviada pelo Gestor, informando-o da ocorrência do respectivo  evento;</a:t>
            </a:r>
          </a:p>
          <a:p>
            <a:r>
              <a:t> (v) não cumprimento, pelo Endossante, de qualquer de suas obrigações de entregar ao Gestor e/o ao  Custodiante, ou a terceiros por ele indicados, os Documentos Comprobatórios e Documentos Suporte  relativos aos Direitos Creditórios que tenham sido endossados à Classe, dentro do prazo estabelecido  neste Anexo I, desde que esse não cumprimento não seja devidamente sanado ou justificado dentro de  02 (dois) Dias Úteis a partir do recebimento, pelo Endossante, de notificação, por escrito, enviada pelo  Gestor e/ou Custodiante, informando- o da ocorrência do respectivo evento;</a:t>
            </a:r>
          </a:p>
          <a:p>
            <a:r>
              <a:t> (vi) não cumprimento, pelo Agente de Retenção/Cobrança, de qualquer de suas obrigações estabelecidas  no Contrato de Endosso, neste Regulamento ou no Contrato de Serviços MT, desde que esse não  cumprimento não seja devidamente sanado ou justificado dentro de 10 (dez) Dias Úteis a partir do  recebimento, pelo Agente de Retenção/Cobrança, de notificação, por escrito, enviada pelo Gestor,  informando-o da ocorrência do respectivo evento;</a:t>
            </a:r>
          </a:p>
          <a:p>
            <a:r>
              <a:t>CNPJ 63953620000165 · Cross default e insolvência · Condição: Documentos atuais selecionados no inventário por categoria/escopo; a data documental isolada não comprova vigência jurídica.</a:t>
            </a:r>
          </a:p>
          <a:p>
            <a:r>
              <a:t>CNPJ 63953620000165 · Cross default e insolvência · Versão e prevalência: Documentos atuais selecionados no inventário por categoria/escopo; a data documental isolada não comprova vigência jurídica.</a:t>
            </a:r>
          </a:p>
          <a:p>
            <a:r>
              <a:t>CNPJ 54871427000194 · Gatilhos de avaliação e liquidação · Regulamento · ID 670691 · 2024-04-28 · versão 1 · p. 17 · 10.2 · https://fnet.bmfbovespa.com.br/fnet/publico/visualizarDocumento?id=670691</a:t>
            </a:r>
          </a:p>
          <a:p>
            <a:r>
              <a:t>CNPJ 54871427000194 · Gatilhos de avaliação e liquidação · Excerto da fonte:</a:t>
            </a:r>
          </a:p>
          <a:p>
            <a:r>
              <a:t>10.2 A Assembleia Especial de Cotistas é responsável por deliberar sobre as matérias específicas da Classe  de Cotas, sem prejuízo das demais disposições previstas na regulamentação aplicável, incluindo, mas  não se limitando a:</a:t>
            </a:r>
          </a:p>
          <a:p>
            <a:r>
              <a:t> (i) deliberar sobre as demonstrações contábeis da Classe;</a:t>
            </a:r>
          </a:p>
          <a:p>
            <a:r>
              <a:t> (ii) deliberar sobre substituição de Prestadores de Serviços Essenciais, observado o disposto no  art. 70, §1º da parte geral da Resolução CVM 175;</a:t>
            </a:r>
          </a:p>
          <a:p>
            <a:r>
              <a:t> (iii) deliberar sobre elevação da Taxa de Administração, inclusive na hipótese de restabelecimento  de taxa que tenha sido objeto de redução;</a:t>
            </a:r>
          </a:p>
          <a:p>
            <a:r>
              <a:t> (iv) deliberar sobre incorporação, f usão, cisão total ou parcial, a transf ormação ou liquidação da  Classe;</a:t>
            </a:r>
          </a:p>
          <a:p>
            <a:r>
              <a:t> (v) alterações das características, vantagens, direitos e obrigações das Cotas;</a:t>
            </a:r>
          </a:p>
          <a:p>
            <a:r>
              <a:t> (vi) alterar critérios e procedimentos para Amortização e/ou resgate de Cotas mediante dação em  pagamento de Direitos Creditórios;</a:t>
            </a:r>
          </a:p>
          <a:p>
            <a:r>
              <a:t> (vii) aprovar a contratação de Agente de Cobrança dos Direitos Creditórios;</a:t>
            </a:r>
          </a:p>
          <a:p>
            <a:r>
              <a:t> (viii) aprovar emissão de novas Cotas da Classe;</a:t>
            </a:r>
          </a:p>
          <a:p>
            <a:r>
              <a:t> (ix) deliberar sobre a eventual necessidade de aportes adicionais de recursos na Classe pelos  Cotistas;</a:t>
            </a:r>
          </a:p>
          <a:p>
            <a:r>
              <a:t> (x) alterações na Política de Investimentos;</a:t>
            </a:r>
          </a:p>
          <a:p>
            <a:r>
              <a:t> (xi) alterações nos Critérios de Elegibilidade;</a:t>
            </a:r>
          </a:p>
          <a:p>
            <a:r>
              <a:t> (xii) alteração dos Eventos de Avaliação, dos Eventos de Liquidação e/ou das consequências deles  decorrentes em f unção do previsto neste Regulamento;</a:t>
            </a:r>
          </a:p>
          <a:p>
            <a:r>
              <a:t> (xiii) plano de resolução do Patrimônio Líquido negativo da Classe, nos termos da Resolução CVM  175; e</a:t>
            </a:r>
          </a:p>
          <a:p>
            <a:r>
              <a:t> (xiv) pedido de declaração judicial de insolvência da Classe.</a:t>
            </a:r>
          </a:p>
          <a:p>
            <a:r>
              <a:t>CAPÍTULO 11 – EVENTOS DE AVALIAÇÃO, EVENTOS DE LIQUIDAÇÃO, E PROCEDIMENTOS DE LIQUIDAÇÃO ANTECIPADA Eventos de Avaliação</a:t>
            </a:r>
          </a:p>
          <a:p>
            <a:r>
              <a:t>CNPJ 54871427000194 · Gatilhos de avaliação e liquidação · Regulamento · ID 670691 · 2024-04-28 · versão 1 · p. 19 · 11.2 · https://fnet.bmfbovespa.com.br/fnet/publico/visualizarDocumento?id=670691</a:t>
            </a:r>
          </a:p>
          <a:p>
            <a:r>
              <a:t>CNPJ 54871427000194 · Gatilhos de avaliação e liquidação · Excerto da fonte:</a:t>
            </a:r>
          </a:p>
          <a:p>
            <a:r>
              <a:t>11.2 Os seguintes eventos obrigarão o ADMINISTRADOR a verificar se o Patrimônio Líquido da Classe está  negativo:</a:t>
            </a:r>
          </a:p>
          <a:p>
            <a:r>
              <a:t> (i) qualquer pedido de declaração judicial de insolvência da Classe; e</a:t>
            </a:r>
          </a:p>
          <a:p>
            <a:r>
              <a:t> (ii) na ocorrência de quaisquer dos Eventos de Avaliação e/ou Eventos de Liquidação .</a:t>
            </a:r>
          </a:p>
          <a:p>
            <a:r>
              <a:t>Eventos de Liquidação</a:t>
            </a:r>
          </a:p>
          <a:p>
            <a:r>
              <a:t>CNPJ 54871427000194 · Gatilhos de avaliação e liquidação · Condição: Documentos atuais selecionados no inventário por categoria/escopo; a data documental isolada não comprova vigência jurídica.</a:t>
            </a:r>
          </a:p>
          <a:p>
            <a:r>
              <a:t>CNPJ 54871427000194 · Gatilhos de avaliação e liquidação · Versão e prevalência: Documentos atuais selecionados no inventário por categoria/escopo; a data documental isolada não comprova vigência jurídica.</a:t>
            </a:r>
          </a:p>
          <a:p>
            <a:r>
              <a:t>CNPJ 54871427000194 · Gatilhos de avaliação e liquidação · Resumo do histórico: {"count": 2, "dates": ["2024-04-19", "2024-04-28"], "document_count": 2, "sources": [{"document_id": "670691", "title": "Regulamento", "reference_date": "2024-04-28", "version": "1", "page": "17-20", "url": "https://fnet.bmfbovespa.com.br/fnet/publico/visualizarDocumento?id=670691", "sha256": "bf16dd7f1a62d5cdbf2e2d54fef81783783f7310fbc99c3a8f00459bdf9d037b"}, {"document_id": "670689", "title": "Regulamento", "reference_date": "2024-04-19", "version": "1", "page": 17, "clause": "10.2", "url": "https://fnet.bmfbovespa.com.br/fnet/publico/visualizarDocumento?id=670689", "sha256": "891bc9bc5d87bbc02ec139077a84d2702eb81ea02035fb71d24f5b8366b94a0b"}], "reference": {"path": "history/54871427000194.json", "criterion_id": "legacy_events", "total_count": 2, "preview_count": 2, "full_text_deferred": true, "sha256": "35d7cd99be50c7287c9fb675cf4f2e736002315295a225a9efa79c8d9186d874"}}</a:t>
            </a:r>
          </a:p>
          <a:p>
            <a:r>
              <a:t>CNPJ 60010416000112 · Gatilhos de avaliação e liquidação · Regulamento · ID 1051393 · 2025-10-09 · versão 1 · p. 21 · 10.2 · https://fnet.bmfbovespa.com.br/fnet/publico/visualizarDocumento?id=1051393</a:t>
            </a:r>
          </a:p>
          <a:p>
            <a:r>
              <a:t>CNPJ 60010416000112 · Gatilhos de avaliação e liquidação · Excerto da fonte:</a:t>
            </a:r>
          </a:p>
          <a:p>
            <a:r>
              <a:t>10.2 Os seguintes eventos obrigarão o Administrador a verif icar se o Patrimônio Líquido da Classe está  negativo:</a:t>
            </a:r>
          </a:p>
          <a:p>
            <a:r>
              <a:t> (i) qualquer pedido de declaração judicial de insolvência da Classe;</a:t>
            </a:r>
          </a:p>
          <a:p>
            <a:r>
              <a:t> (ii) identificação de indícios de f raudes envolvendo o lastro de Direitos Creditórios que representem, no  mínimo 0,5 (cinco décimos por cento) do Patrimônio Líquido da Classe;</a:t>
            </a:r>
          </a:p>
          <a:p>
            <a:r>
              <a:t> (iii) inadimplência de obrigações financeiras de devedor e/ou emissor de ativos detidos pela Classe que  representem mais de 25% (vinte e cinco por cento)de seu Patrimônio Líquido;</a:t>
            </a:r>
          </a:p>
          <a:p>
            <a:r>
              <a:t> (iv) pedido de recuperação extrajudicial, de recuperação judicial, ou de falência de Devedor e/ou emissor  de ativos detidos pela Classe;</a:t>
            </a:r>
          </a:p>
          <a:p>
            <a:r>
              <a:t> (v) condenação da Classe de natureza judicial e/ou arbitral e/ou administrativa e/ou outras similares ao  pagamento de mais de 20% (vinte por cento) de seu Patrimônio Líquido; e</a:t>
            </a:r>
          </a:p>
          <a:p>
            <a:r>
              <a:t> (vi) caso caracterizado quaisquer dos Eventos de Liquidação.</a:t>
            </a:r>
          </a:p>
          <a:p>
            <a:r>
              <a:t>Eventos de Liquidação</a:t>
            </a:r>
          </a:p>
          <a:p>
            <a:r>
              <a:t>CNPJ 60010416000112 · Gatilhos de avaliação e liquidação · Regulamento · ID 1051393 · 2025-10-09 · versão 1 · p. 21 · 10.3 · https://fnet.bmfbovespa.com.br/fnet/publico/visualizarDocumento?id=1051393</a:t>
            </a:r>
          </a:p>
          <a:p>
            <a:r>
              <a:t>CNPJ 60010416000112 · Gatilhos de avaliação e liquidação · Excerto da fonte:</a:t>
            </a:r>
          </a:p>
          <a:p>
            <a:r>
              <a:t>10.3 As seguintes hipóteses são consideradas Eventos de Liquidação:</a:t>
            </a:r>
          </a:p>
          <a:p>
            <a:r>
              <a:t> (i) caso seja deliberado em Assembleia de Cotistas que um Evento de Avaliação constitui um Evento de  Liquidação;</a:t>
            </a:r>
          </a:p>
          <a:p>
            <a:r>
              <a:t> (ii) na hipótese de resilição do Contrato de Custódia ou renúncia do Custodiante, sem que tenha havido  sua substituição por outra instituição, de acordo com os procedimentos estabelecidos neste  Regulamento;</a:t>
            </a:r>
          </a:p>
          <a:p>
            <a:r>
              <a:t> (iii) renúncia do Administrador sem que a Assembleia Especial de Cotistas eficazmente nomeie instituição  habilitada para substituí-lo, nos termos estabelecidos neste Regulamento;</a:t>
            </a:r>
          </a:p>
          <a:p>
            <a:r>
              <a:t> (iv) por determinação da CVM, em caso de violação de normas legais ou regulamentares;</a:t>
            </a:r>
          </a:p>
          <a:p>
            <a:r>
              <a:t> (v) sempre que assim decidido pelos Cotistas em Assembleia Especial de Cotistas especialmente  convocada para tal f im;</a:t>
            </a:r>
          </a:p>
          <a:p>
            <a:r>
              <a:t> (vi) em caso de regime de administração especial temporária - RAET, intervenção ou liquidação  extrajudicial, conforme aplicável, do Custodiante, Administrador, ou Gestor, sem a sua ef etiva  substituição nos termos deste Regulamento;</a:t>
            </a:r>
          </a:p>
          <a:p>
            <a:r>
              <a:t> (vii) se, após 90 (noventa) dias do início das atividades do Fundo, o Patrimônio Líquido diário inf erior da  Classe f or inf erior a R$ 1.000.000,00 (um milhão de reais) pelo período de 90 (noventa) dias  consecutivos;</a:t>
            </a:r>
          </a:p>
          <a:p>
            <a:r>
              <a:t> (viii) impossibilidade da Classe adquirir Direitos Creditórios admitidos por sua política de investimento.</a:t>
            </a:r>
          </a:p>
          <a:p>
            <a:r>
              <a:t>Procedimentos de Liquidação Antecipada</a:t>
            </a:r>
          </a:p>
          <a:p>
            <a:r>
              <a:t>CNPJ 60010416000112 · Gatilhos de avaliação e liquidação · Regulamento · ID 1051393 · 2025-10-09 · versão 1 · p. 38 · https://fnet.bmfbovespa.com.br/fnet/publico/visualizarDocumento?id=1051393</a:t>
            </a:r>
          </a:p>
          <a:p>
            <a:r>
              <a:t>CNPJ 60010416000112 · Gatilhos de avaliação e liquidação · Excerto da fonte:</a:t>
            </a:r>
          </a:p>
          <a:p>
            <a:r>
              <a:t>Anexo I ao Regulamento CLASSE ÚNICA DO MT I CONSIGNADO PRIVADO I FUNDO DE INVESTIMENTO EM DIREITOS CREDITÓRIOS RESPONSABILIDADE LIMITADA  deixar de produzir os efeitos pretendidos, bem como causar perdas para o Cotista e colocar  em risco o patrimônio da Classe</a:t>
            </a:r>
          </a:p>
          <a:p>
            <a:r>
              <a:t> (iii) Risco decorrente da amortização das Cotas: conforme previsto neste Anexo I, as Cotas  poderão ser amortizadas conf orme deliberado pela em Assembleia de Cotistas.</a:t>
            </a:r>
          </a:p>
          <a:p>
            <a:r>
              <a:t> Considerando que a realização da amortização dependerá do caixa existente na Classe, é  possível que, se essa condição não seja verif icada, a Classe não poderá ef etuar as  amortizações das Cotas conforme deliberadas pelos Cotistas. A Classe, o Administrador, o  Custodiante, o Gestor, o Agente de Retenção/Cobrança, o Coordenador Líder ou o  Endossante não terão direito a nenhuma multa ou penalidade, por qualquer motivo, devido a  esse f ato.</a:t>
            </a:r>
          </a:p>
          <a:p>
            <a:r>
              <a:t> (iv) Risco de invalidade ou ineficácia do endosso: o endosso dos Direitos Creditórios à Classe  poderá ser invalidada ou considerada ineficaz, o que impacta negativamente o patrimônio da  Classe, no caso de (a) fraude contra credores, se no momento do endosso o Endossante for  insolvente ou se ele vier a se tornar insolvente; (b) fraude à execução, se (1) no momento do  endosso o Endossante f or réu em um processo judicial capaz de torná-lo insolvente; ou (2)  os Direitos Creditórios endossados à Classe estiverem sujeitos a qualquer demanda judicial  baseada em garantia real; e (c) f raude à execução f iscal, se o Endossante, ao celebrar o  endosso de crédito, como contribuinte por débito à Fazenda Pública, e crédito f iscal  regularmente inscrito na dívida ativa, não tiver ativos para pagamento total da dívida f iscal.</a:t>
            </a:r>
          </a:p>
          <a:p>
            <a:r>
              <a:t> Entretanto, o Administrador, o Custodiante, o Gestor e o Agente de Retenção/ Cobrança não  verif icarão os eventos acima no endosso de Direito Creditório e não serão responsabilizados  em caso de invalidação ou inef icácia do endosso de um Direito Creditório à Classe.</a:t>
            </a:r>
          </a:p>
          <a:p>
            <a:r>
              <a:t> (v) Risco de impugnação judicial: a CCB poderá ser impugnada judicialmente tanto no que diz  respeito à sua f ormalização quanto às taxas aplicadas e à f orma de cobrança da CCB,  inclusive em virtude das disposições estabelecidas na Lei nº 8.078, de 11 de setembro de  1990, conf orme alterada (Código de Def esa do Consumidor), tais como uma possível  impugnação de cláusula abusiva, bem como qualquer vício nos Documentos Comprobatórios  ou Documentos Suporte que impeçam a exigibilidade do crédito (ausência de assinaturas ou  f alta de prova de f ormalização regular do instrumento, representação ilegítima, dentre  outros). Nesses casos, a CCB poderá ser modificada ou cancelada em virtude de decisão  judicial, o que poderá acarretar perdas para a Classe e, consequentemente, af etar  negativamente a rentabilidade de seu patrimônio.</a:t>
            </a:r>
          </a:p>
          <a:p>
            <a:r>
              <a:t> (vi) Risco de restrições de natureza legal ou regulamentar: a Classe pode estar sujeito a  riscos, além do controle do Administrador, decorrentes de quaisquer restrições f uturas de  natureza legal e/ou regulamentar que venham a af etar a validade da constituição e/ou o  endosso dos Direitos Creditórios à Classe. Caso essas restrições ocorram, o f luxo de  cessões de Direitos Creditórios à Classe pode ser interrompido e, portanto, pode  comprometer a continuidade da Classe e a perspectiva de investimento do Cotista. Além  disso, os Direitos Creditórios que já estão na Carteira podem ter sua validade questionada,  o que pode causar, portanto, prejuízos ao Cotista.</a:t>
            </a:r>
          </a:p>
          <a:p>
            <a:r>
              <a:t> (vii) Risco de não obter um tratamento fiscal mais benéfico: o Gestor deverá envidar seus  melhores esforços para que o tratamento f iscal aplicável às classes de longo prazo seja  aplicado à Classe e ao Cotista. Entretanto, em virtude de eventos fora do controle do Gestor,  incluindo, mas não se limitando aos eventos de liquidação antecipada da Classe  estabelecidos neste Anexo I, é possível que a Classe e o Cotista não desfrutem de tratamento  f iscal mais benéf ico, atribuído às classes de longo prazo. Essa situação pode levar a um  impacto adverso na rentabilidade líquida decorrente do investimento nas Cotas.</a:t>
            </a:r>
          </a:p>
          <a:p>
            <a:r>
              <a:t> (viii) Risco de bloqueio da Conta de Cobrança da Classe ou da Conta de Movimentação da  Classe: os recursos provenientes da Classe serão direcionados para a Conta de Cobrança BTG Pactual SAC: 0800 772 28 27 - Ouvidoria: 0800 722 00 48 - btgpactual.com 38</a:t>
            </a:r>
          </a:p>
          <a:p>
            <a:r>
              <a:t>CNPJ 60010416000112 · Gatilhos de avaliação e liquidação · Condição: Documentos atuais selecionados no inventário por categoria/escopo; a data documental isolada não comprova vigência jurídica.</a:t>
            </a:r>
          </a:p>
          <a:p>
            <a:r>
              <a:t>CNPJ 60010416000112 · Gatilhos de avaliação e liquidação · Versão e prevalência: Documentos atuais selecionados no inventário por categoria/escopo; a data documental isolada não comprova vigência jurídica.</a:t>
            </a:r>
          </a:p>
          <a:p>
            <a:r>
              <a:t>CNPJ 60010416000112 · Gatilhos de avaliação e liquidação · Resumo do histórico: {"count": 2, "dates": ["2025-03-20", "2025-10-09"], "document_count": 2, "sources": [{"document_id": "1051393", "title": "Regulamento", "reference_date": "2025-10-09", "version": "1", "page": "19-22", "url": "https://fnet.bmfbovespa.com.br/fnet/publico/visualizarDocumento?id=1051393", "sha256": "8469d613078ffd5a6c1d217885d8a397a16342c0b937ae4aa24b106505f233ae"}, {"document_id": "993786", "title": "Regulamento", "reference_date": "2025-03-20", "version": "1", "page": 21, "clause": "10.2", "url": "https://fnet.bmfbovespa.com.br/fnet/publico/visualizarDocumento?id=993786", "sha256": "fd0fdd369a195510d81f81f505195a0b09e5f43522a990afa7d58c4f872921c8"}], "reference": {"path": "history/60010416000112.json", "criterion_id": "legacy_events", "total_count": 2, "preview_count": 2, "full_text_deferred": true, "sha256": "8e2bd813f4c51cf01f6bfaad164bafe69d2bbb192f753eac92da3a01c2e63046"}}</a:t>
            </a:r>
          </a:p>
          <a:p>
            <a:r>
              <a:t>CNPJ 62696791000193 · Gatilhos de avaliação e liquidação · Regulamento · ID 1143317 · 2026-03-20 · versão 1 · p. 37 · 5.1 · https://fnet.bmfbovespa.com.br/fnet/publico/visualizarDocumento?id=1143317</a:t>
            </a:r>
          </a:p>
          <a:p>
            <a:r>
              <a:t>CNPJ 62696791000193 · Gatilhos de avaliação e liquidação · Excerto da fonte:</a:t>
            </a:r>
          </a:p>
          <a:p>
            <a:r>
              <a:t>5.1. Verif icado excesso de subordinação, ou seja, que a representatividade de Cotas Júnior em relação ao  Patrimônio Líquido da Classe é superior ao Índice de Subordinação (“Excesso de Subordinação”), desde  que assim seja deliberado por maioria dos votos de seus titulares e da maioria dos titulares de Cotas  Seniores, as Cotas Juniores poderão ser objeto de Amortização Extraordinária até o limite do respectivos  Excesso de Subordinação– ainda que tal Amortização Extraordinária ocorra antes do resgate integral das  Cotas Seniores– desde que: (i) seja observada a ordem de alocação de recursos definida no item 6.1  acima Anexo; (ii) não existam Obrigações da Classe vencidas e não pagas; (iii) não estejam em curso  quaisquer Eventos de Avaliação e/ou Eventos de Liquidação; (iv) existam suficientes Ativos Financeiros  e/ou recursos disponíveis; e (vii) permaneçam atendidas todos os Índices de Subordinação.</a:t>
            </a:r>
          </a:p>
          <a:p>
            <a:r>
              <a:t>6. Negociação das Cotas</a:t>
            </a:r>
          </a:p>
          <a:p>
            <a:r>
              <a:t>CNPJ 62696791000193 · Gatilhos de avaliação e liquidação · Condição: Documentos atuais selecionados no inventário por categoria/escopo; a data documental isolada não comprova vigência jurídica.</a:t>
            </a:r>
          </a:p>
          <a:p>
            <a:r>
              <a:t>CNPJ 62696791000193 · Gatilhos de avaliação e liquidação · Motivo: Cláusula primária localizada e citada, mas sua lista/condições extensas não admitem uma síntese literal curta confirmada. O trecho integral permanece nas fontes.</a:t>
            </a:r>
          </a:p>
          <a:p>
            <a:r>
              <a:t>CNPJ 62696791000193 · Gatilhos de avaliação e liquidação · Versão e prevalência: Documentos atuais selecionados no inventário por categoria/escopo; a data documental isolada não comprova vigência jurídica.</a:t>
            </a:r>
          </a:p>
          <a:p>
            <a:r>
              <a:t>CNPJ 55563624000109 · Gatilhos de avaliação e liquidação · Regulamento · ID 1192614 · 2026-04-30 · versão 1 · p. 21 · 11.2 · https://fnet.bmfbovespa.com.br/fnet/publico/visualizarDocumento?id=1192614</a:t>
            </a:r>
          </a:p>
          <a:p>
            <a:r>
              <a:t>CNPJ 55563624000109 · Gatilhos de avaliação e liquidação · Excerto da fonte:</a:t>
            </a:r>
          </a:p>
          <a:p>
            <a:r>
              <a:t>11.2 Os seguintes eventos obrigarão o ADMINISTRADOR a verificar se o Patrimônio Líquido da Classe está negativo  (“Eventos de Verificação do Patrimônio”):</a:t>
            </a:r>
          </a:p>
          <a:p>
            <a:r>
              <a:t> (i) qualquer pedido de declaração judicial de insolvência da Classe;</a:t>
            </a:r>
          </a:p>
          <a:p>
            <a:r>
              <a:t> (ii) qualquer pedido ou declaração judicial de insolvência da Classe Investida;</a:t>
            </a:r>
          </a:p>
          <a:p>
            <a:r>
              <a:t> (iii) identificação de indícios de fraudes envolvendo o lastro dos direitos creditórios da Classe Investida;</a:t>
            </a:r>
          </a:p>
          <a:p>
            <a:r>
              <a:t> (iv) condenação da Classe de natureza judicial e/ou arbitral e/ou administrativa e/ou outras similares ao  pagamento de mais de 20% (vinte por cento) de seu Patrimônio Líquido; e</a:t>
            </a:r>
          </a:p>
          <a:p>
            <a:r>
              <a:t> (v) caso caracterizado quaisquer dos Eventos de Avaliação e/ou Eventos de Liquidação.</a:t>
            </a:r>
          </a:p>
          <a:p>
            <a:r>
              <a:t> Eventos de Liquidação</a:t>
            </a:r>
          </a:p>
          <a:p>
            <a:r>
              <a:t>CNPJ 55563624000109 · Gatilhos de avaliação e liquidação · Regulamento · ID 1192614 · 2026-04-30 · versão 1 · p. 20 · https://fnet.bmfbovespa.com.br/fnet/publico/visualizarDocumento?id=1192614</a:t>
            </a:r>
          </a:p>
          <a:p>
            <a:r>
              <a:t>CNPJ 55563624000109 · Gatilhos de avaliação e liquidação · Excerto da fonte:</a:t>
            </a:r>
          </a:p>
          <a:p>
            <a:r>
              <a:t>(vi) alterar as características, vantagens, direitos e obrigações 90% (noventa por cento) do total das Cotas  das Cotas; emitidas</a:t>
            </a:r>
          </a:p>
          <a:p>
            <a:r>
              <a:t> (vii) alterar critérios e procedimentos para resgate de Cotas  mediante dação em pagamento de Cotas da Classe Maioria do total das Cotas emitidas  Investida;</a:t>
            </a:r>
          </a:p>
          <a:p>
            <a:r>
              <a:t> (viii) aprovar a emissão de novas Cotas fora do Capital  Maioria do total das Cotas emitidas  Autorizado;</a:t>
            </a:r>
          </a:p>
          <a:p>
            <a:r>
              <a:t> (ix) alterar a Política de Investimentos; 90% (noventa por cento) do total das Cotas  emitidas</a:t>
            </a:r>
          </a:p>
          <a:p>
            <a:r>
              <a:t> (x) alterar o Critério de Elegibilidade; 90% (noventa por cento) do total das Cotas  emitidas</a:t>
            </a:r>
          </a:p>
          <a:p>
            <a:r>
              <a:t> (xi) alterar os Eventos de Avaliação, os Eventos de Liquidação  90% (noventa por cento) do total das Cotas  e/ou das consequências deles decorrentes em função do  emitidas  previsto neste Anexo;</a:t>
            </a:r>
          </a:p>
          <a:p>
            <a:r>
              <a:t> (xii) deliberar sobre o plano de resolução do Patrimônio Líquido  Maioria do total das Cotas emitidas  negativo da Classe, nos termos da Resolução CVM 175; e</a:t>
            </a:r>
          </a:p>
          <a:p>
            <a:r>
              <a:t> (xiii) deliberar sobre o pedido de declaração judicial de 90% (noventa por cento) do total das Cotas  insolvência da Classe. emitidas</a:t>
            </a:r>
          </a:p>
          <a:p>
            <a:r>
              <a:t>CNPJ 55563624000109 · Gatilhos de avaliação e liquidação · Regulamento · ID 1192614 · 2026-04-30 · versão 1 · p. 2 · 1.3 · https://fnet.bmfbovespa.com.br/fnet/publico/visualizarDocumento?id=1192614</a:t>
            </a:r>
          </a:p>
          <a:p>
            <a:r>
              <a:t>CNPJ 55563624000109 · Gatilhos de avaliação e liquidação · Excerto da fonte:</a:t>
            </a:r>
          </a:p>
          <a:p>
            <a:r>
              <a:t>1.3 O Anexo dispõe, sem prejuízo de outros requisitos e informações previstos na regulamentação, sobre os  seguintes aspectos relacionados à Classe: (i) características gerais, incluindo a indicação dos demais prestadores  de serviços; (ii) responsabilidade dos cotistas e regime de insolvência; (iii) características, direitos, condições de  emissão, subscrição, integralização, amortização e resgate das Cotas; (iv) ordem de alocação de recursos; (v)  assembleia especial de cotistas e demais procedimentos aplicáveis às manifestações de vontade dos cotistas; (vi)  remuneração dos prestadores de serviços; (vii) política de investimento e composição e diversificação da  Carteira; (viii) eventos de avaliação, eventos de liquidação e procedimentos de liquidação antecipada da Classe;</a:t>
            </a:r>
          </a:p>
          <a:p>
            <a:r>
              <a:t> (ix) origem dos Direitos Creditórios; (x) Critério de Elegibilidade; (xi) custos referentes à defesa dos interesses da  Classe; e (xii) fatores de risco.</a:t>
            </a:r>
          </a:p>
          <a:p>
            <a:r>
              <a:t>CNPJ 55563624000109 · Gatilhos de avaliação e liquidação · Condição: Documentos atuais selecionados no inventário por categoria/escopo; a data documental isolada não comprova vigência jurídica.</a:t>
            </a:r>
          </a:p>
          <a:p>
            <a:r>
              <a:t>CNPJ 55563624000109 · Gatilhos de avaliação e liquidação · Versão e prevalência: Documentos atuais selecionados no inventário por categoria/escopo; a data documental isolada não comprova vigência jurídica.</a:t>
            </a:r>
          </a:p>
          <a:p>
            <a:r>
              <a:t>CNPJ 62552447000120 · Gatilhos de avaliação e liquidação · Regulamento · ID 1200623 · 2026-05-21 · versão 1 · p. 2 · 1.4 · https://fnet.bmfbovespa.com.br/fnet/publico/visualizarDocumento?id=1200623</a:t>
            </a:r>
          </a:p>
          <a:p>
            <a:r>
              <a:t>CNPJ 62552447000120 · Gatilhos de avaliação e liquidação · Excerto da fonte:</a:t>
            </a:r>
          </a:p>
          <a:p>
            <a:r>
              <a:t>1.4 O Anexo de cada classe de Cotas (“Classe”), conforme aplicável, dispõe, sem prejuízo de outros  requisitos e inf ormações previstos na regulamentação, sobre: (i) características gerais, incluindo a  indicação dos demais prestadores de serviços; (ii) responsabilidade dos Cotistas e regime de  insolvência; (iii) características, direitos, condições de emissão, subscrição, integralização,  Amortização e resgate das Cotas; (iv) ordem de alocação de recursos; (v) Assembleia Especial e  demais procedimentos aplicáveis às manifestações de vontade dos Cotistas; (vi) remuneração dos  prestadores de serviços; (vii) política de investimento e composição e diversificação da Carteira; (viii)  eventos de avaliação, eventos de liquidação e liquidação antecipada da Classe; (ix) origem dos direitos  creditórios; (x) critérios de elegibilidade; (xi) custos referentes à defesa dos interesses de cada Classe;</a:t>
            </a:r>
          </a:p>
          <a:p>
            <a:r>
              <a:t> e (xii) f atores de risco.</a:t>
            </a:r>
          </a:p>
          <a:p>
            <a:r>
              <a:t>CNPJ 62552447000120 · Gatilhos de avaliação e liquidação · Regulamento · ID 1200623 · 2026-05-21 · versão 1 · p. 21 · 10.2 · https://fnet.bmfbovespa.com.br/fnet/publico/visualizarDocumento?id=1200623</a:t>
            </a:r>
          </a:p>
          <a:p>
            <a:r>
              <a:t>CNPJ 62552447000120 · Gatilhos de avaliação e liquidação · Excerto da fonte:</a:t>
            </a:r>
          </a:p>
          <a:p>
            <a:r>
              <a:t>10.2 Os seguintes quóruns deverão ser observados pela Assembleia Especial ao deliberar as matérias  abaixo:</a:t>
            </a:r>
          </a:p>
          <a:p>
            <a:r>
              <a:t>(i) deliberar sobre substituição de Prestadores de Serviços Unanimidade dos Cotistas  Essenciais, observado o disposto no art. 70, §1º da Parte Geral  da Resolução CVM 175, quando aplicável;</a:t>
            </a:r>
          </a:p>
          <a:p>
            <a:r>
              <a:t>(ii) deliberar sobre elevação da Taxa Global, inclusive na Unanimidade dos Cotistas  hipótese de restabelecimento de taxa que tenha sido objeto de  redução;</a:t>
            </a:r>
          </a:p>
          <a:p>
            <a:r>
              <a:t>(iii) deliberar sobre incorporação, fusão, cisão total ou parcial, Unanimidade dos Cotistas  a transf ormação ou liquidação da Classe;</a:t>
            </a:r>
          </a:p>
          <a:p>
            <a:r>
              <a:t>(iv) deliberar sobre a prestação de f iança, aval, aceite ou Unanimidade dos Cotistas  qualquer outra f orma de retenção de risco;</a:t>
            </a:r>
          </a:p>
          <a:p>
            <a:r>
              <a:t>(v) alterações das características, vantagens, direitos e Unanimidade dos Cotistas  obrigações das Cotas;</a:t>
            </a:r>
          </a:p>
          <a:p>
            <a:r>
              <a:t>(vi) alterar critérios e procedimentos para Amortização Unanimidade dos Cotistas  mediante dação em pagamento de Direitos Creditórios;</a:t>
            </a:r>
          </a:p>
          <a:p>
            <a:r>
              <a:t>(vii) aprovar emissão de novas Cotas; Unanimidade dos Cotistas</a:t>
            </a:r>
          </a:p>
          <a:p>
            <a:r>
              <a:t>(viii) alterações na Política de Investimentos; Unanimidade dos Cotistas</a:t>
            </a:r>
          </a:p>
          <a:p>
            <a:r>
              <a:t>(ix) alterações nos Critérios de Elegibilidade e nas Condições Unanimidade dos Cotistas  de Endosso;</a:t>
            </a:r>
          </a:p>
          <a:p>
            <a:r>
              <a:t>(x) alteração dos Eventos de Avaliação, dos Eventos de Unanimidade dos Cotistas  Liquidação e/ou das consequências deles decorrentes em  f unção do previsto neste Regulamento;</a:t>
            </a:r>
          </a:p>
          <a:p>
            <a:r>
              <a:t>(xi) plano de resolução do Patrimônio Líquido negativo da Unanimidade dos Cotistas  Classe, nos termos da Resolução CVM 175; e</a:t>
            </a:r>
          </a:p>
          <a:p>
            <a:r>
              <a:t>(xii) pedido de declaração judicial de insolvência da Classe. Unanimidade dos Cotistas</a:t>
            </a:r>
          </a:p>
          <a:p>
            <a:r>
              <a:t>CNPJ 62552447000120 · Gatilhos de avaliação e liquidação · Regulamento · ID 1200623 · 2026-05-21 · versão 1 · p. 22 · 11.1 · https://fnet.bmfbovespa.com.br/fnet/publico/visualizarDocumento?id=1200623</a:t>
            </a:r>
          </a:p>
          <a:p>
            <a:r>
              <a:t>CNPJ 62552447000120 · Gatilhos de avaliação e liquidação · Excerto da fonte:</a:t>
            </a:r>
          </a:p>
          <a:p>
            <a:r>
              <a:t>11.1 As seguintes hipóteses são consideradas eventos de avaliação (“Eventos de Avaliação”):</a:t>
            </a:r>
          </a:p>
          <a:p>
            <a:r>
              <a:t> (i) em caso de regime de administração especial temporária - RAET, intervenção ou liquidação  extrajudicial do Endossante, da instituição f inanceira prestadora dos serviços de agente de  conta vinculada à Classe (“Agente de Conta Vinculada”) e/ou do Agente de Retenção e  Cobrança;</a:t>
            </a:r>
          </a:p>
          <a:p>
            <a:r>
              <a:t> (ii) não cumprimento, pelo Endossante, de qualquer de suas obrigações estabelecidas nos  Contratos de Endosso, no Regulamento ou neste Anexo I, desde que esse não cumprimento  não seja devidamente sanado ou justificado dentro de 5 (cinco) Dias Úteis a partir do  recebimento, pelo Endossante, de notificação, por escrito, enviada pelo Administrador,  inf ormando-o da ocorrência do respectivo evento;</a:t>
            </a:r>
          </a:p>
          <a:p>
            <a:r>
              <a:t> (iii) não cumprimento, pelo Endossante e/ou pelo Agente de Retenção e Cobrança, de sua  obrigação de entregar os (a) arquivos eletrônicos disponibilizados mensalmente pela Dataprev  ao Endossante, contendo (1) as Consignações processadas pela Dataprev no respectivo mês,  identificando os Devedores e os valores que serão descontados de suas respectivas folhas de  pagamentos, bem como (2) a totalidade das operações pendentes de crédito consignado  concedidas pelo Endossante e indicando todos os Direitos Creditórios devi dos mediante  Consignação na próxima data de liquidação (“Arquivos Dataprev”) e/ou (b) os arquivos  eletrônicos disponibilizados mensalmente pela CEF ao Endossante, contendo os pagamentos  de Saque-aniversário processados pela CEF no respectivo mês devidos à Classe, identificando  os Devedores e os valores que serão descontados de seus respectivos Saques-aniversário  (“Arquivos de Liquidação Saque-aniversário”) ao Custodiante dentro do prazo estabelecido  neste Anexo I, desde que esse não cumprimento não seja dev idamente sanado ou justificado  dentro de 5 (cinco) Dias Úteis a partir do recebimento, pelo Endossante e/ou pelo Agente de  Retenção e Cobrança, de notificação, por escrito, enviada pelo Custodiante, inf ormando-o da  ocorrência do respectivo evento;</a:t>
            </a:r>
          </a:p>
          <a:p>
            <a:r>
              <a:t> (iv) não cumprimento, pelo Endossante e/ou pelo Agente de Retenção e Cobrança, de qualquer de  suas obrigações de entregar ao Gestor, ou a terceiros por ele indicados, os Documentos  Comprobatórios e Documentos Suporte relativos aos Direitos Creditórios que tenham sido  endossados à Classe, dentro do prazo estabelecido neste Anexo I, desde que esse não  cumprimento não seja devidamente sanado ou justificado dentro de 5 (cinco) Dias Úteis a partir  do recebimento, pelo Endossante e/ou pelo Agente de Retenção e Cobrança, de notificação,  por escrito, enviada pelo Custodiante, inf ormando- o da ocorrência do respectivo evento;</a:t>
            </a:r>
          </a:p>
          <a:p>
            <a:r>
              <a:t> (v) não cumprimento, pelo Agente de Retenção e Cobrança, de qualquer de suas obrigações  estabelecidas nos Contratos de Endosso, no Regulamento, neste Anexo I ou nos Contratos de  Retenção/Cobrança, desde que esse não cumprimento não seja devidamente sanado ou</a:t>
            </a:r>
          </a:p>
          <a:p>
            <a:r>
              <a:t>CNPJ 62552447000120 · Gatilhos de avaliação e liquidação · Condição: Documentos atuais selecionados no inventário por categoria/escopo; a data documental isolada não comprova vigência jurídica.</a:t>
            </a:r>
          </a:p>
          <a:p>
            <a:r>
              <a:t>CNPJ 62552447000120 · Gatilhos de avaliação e liquidação · Versão e prevalência: Documentos atuais selecionados no inventário por categoria/escopo; a data documental isolada não comprova vigência jurídica.</a:t>
            </a:r>
          </a:p>
          <a:p>
            <a:r>
              <a:t>CNPJ 63953620000165 · Gatilhos de avaliação e liquidação · Anexo ao Regulamento · ID 1222863 · 2026-06-02 · versão 1 · p. 24 · 4.1 · https://fnet.bmfbovespa.com.br/fnet/publico/visualizarDocumento?id=1222863</a:t>
            </a:r>
          </a:p>
          <a:p>
            <a:r>
              <a:t>CNPJ 63953620000165 · Gatilhos de avaliação e liquidação · Excerto da fonte:</a:t>
            </a:r>
          </a:p>
          <a:p>
            <a:r>
              <a:t>4.1. Verificado que o Índice de Subordinação Alvo é atendido, ou seja, que a representatividade de Cotas Subordinadas  em relação ao Patrimônio Líquido da Classe é superior à 10,00% (dez por cento) (“Índice de Subordinação Alvo”), as  Cotas Subordinadas poderão ser objeto de Amortização Extraordinária até o limite excedente ao Índice de  Subordinação Alvo– ainda que tal Amortização Extraordinária ocorra antes do resgate integral das Cotas Seniores –  desde que: (i) seja observada a ordem de alocação de recursos definida no item 8.1 acima Anexo; (ii) não existam  Obrigações da Classe vencidas e não pagas; (iii) não estejam em curso quaisquer Eventos de Avaliação e/ou Eventos  de Liquidação; (iv) existam suficientes Ativos Financeiros e/ou recursos disponíveis; e (vii) permaneçam atendidas  todos os Índices de Subordinação.</a:t>
            </a:r>
          </a:p>
          <a:p>
            <a:r>
              <a:t> 5. Amortização e Resgate das Cotas Subordinadas</a:t>
            </a:r>
          </a:p>
          <a:p>
            <a:r>
              <a:t>CNPJ 63953620000165 · Gatilhos de avaliação e liquidação · Anexo ao Regulamento · ID 1222863 · 2026-06-02 · versão 1 · p. 13 · 10.2 · https://fnet.bmfbovespa.com.br/fnet/publico/visualizarDocumento?id=1222863</a:t>
            </a:r>
          </a:p>
          <a:p>
            <a:r>
              <a:t>CNPJ 63953620000165 · Gatilhos de avaliação e liquidação · Excerto da fonte:</a:t>
            </a:r>
          </a:p>
          <a:p>
            <a:r>
              <a:t>10.2 Os seguintes quóruns deverão ser observados pela Assembleia Especial de Cotistas ao deliberar as matérias  abaixo:</a:t>
            </a:r>
          </a:p>
          <a:p>
            <a:r>
              <a:t> Matéria Quórum</a:t>
            </a:r>
          </a:p>
          <a:p>
            <a:r>
              <a:t> (i) deliberar sobre as demonstrações contábeis da Classe; Maioria das Cotas presentes</a:t>
            </a:r>
          </a:p>
          <a:p>
            <a:r>
              <a:t> (ii) alterar o presente Anexo; Maioria das Cotas de cada Subclasse</a:t>
            </a:r>
          </a:p>
          <a:p>
            <a:r>
              <a:t> (iii) deliberar sobre substituição de Prestadores de Serviços Maioria das Cotas da Classe  Essenciais, observado o disposto no Artigo 70, §1º da parte geral da  Resolução CVM 175, quando aplicável;</a:t>
            </a:r>
          </a:p>
          <a:p>
            <a:r>
              <a:t> (iv) deliberar sobre elevação da Taxa de Administração e/ou Taxa de Maioria das Cotas da de cada  Gestão, inclusive na hipótese de restabelecimento de taxa que tenha Subclasse  sido objeto de redução;</a:t>
            </a:r>
          </a:p>
          <a:p>
            <a:r>
              <a:t> (v) deliberar sobre incorporação, fusão, cisão total ou parcial, a Maioria das Cotas de cada Subclasse  transformação ou liquidação da Classe;</a:t>
            </a:r>
          </a:p>
          <a:p>
            <a:r>
              <a:t> (vi) alterações das características, vantagens, direitos e obrigações Maioria das Cotas Subscritas da  das Cotas; Classe observado o disposto nos  itens 10.5 a 10.8 abaixo</a:t>
            </a:r>
          </a:p>
          <a:p>
            <a:r>
              <a:t> (vii) alterar critérios e procedimentos para Amortização mediante Maioria das Cotas Subscritas da  dação em pagamento de Direitos Creditórios; Classe</a:t>
            </a:r>
          </a:p>
          <a:p>
            <a:r>
              <a:t> (viii) aprovar emissão de novas Cotas da Classe; Maioria das Cotas de cada Subclasse</a:t>
            </a:r>
          </a:p>
          <a:p>
            <a:r>
              <a:t> (ix) alterações na Política de Investimentos; Maioria das Cotas de cada Subclasse</a:t>
            </a:r>
          </a:p>
          <a:p>
            <a:r>
              <a:t> (x) alterações nos Critérios de Elegibilidade e nas Condições de Maioria das Cotas de cada Subclasse  Cessão;</a:t>
            </a:r>
          </a:p>
          <a:p>
            <a:r>
              <a:t> (xi) celebração e alteração de Contrato de Promessa de Endosso Maioria das Cotas de cada Subclasse  e/ou do Contrato de Retenção e Cobrança;</a:t>
            </a:r>
          </a:p>
          <a:p>
            <a:r>
              <a:t> (xii) alteração do Contrato de Conta Vinculada; Maioria das Cotas de cada Subclasse</a:t>
            </a:r>
          </a:p>
          <a:p>
            <a:r>
              <a:t> (xiii) alteração dos Eventos de Avaliação, dos Eventos de Liquidação Maioria das Cotas de cada Subclasse  e/ou das consequências deles decorrentes em função do previsto  neste Regulamento;</a:t>
            </a:r>
          </a:p>
          <a:p>
            <a:r>
              <a:t> (xiv) se um Evento de Avaliação constitui um Evento de Liquidação; Maioria das Cotas presentes</a:t>
            </a:r>
          </a:p>
          <a:p>
            <a:r>
              <a:t> (xv) plano de resolução do Patrimônio Líquido negativo da Classe, Maioria das Cotas presentes  nos termos da Resolução CVM 175; e</a:t>
            </a:r>
          </a:p>
          <a:p>
            <a:r>
              <a:t> (xvi) pedido de declaração judicial de insolvência da Classe. Maioria das Cotas presentes</a:t>
            </a:r>
          </a:p>
          <a:p>
            <a:r>
              <a:t> (xvii) alterações na disciplina, critérios de constituição, manutenção Maioria das Cotas de cada Subclasse  ou utilização da Reserva de Caixa, bem como deliberação acerca da</a:t>
            </a:r>
          </a:p>
          <a:p>
            <a:r>
              <a:t>CNPJ 63953620000165 · Gatilhos de avaliação e liquidação · Anexo ao Regulamento · ID 1222863 · 2026-06-02 · versão 1 · p. 14 · 10.8 · https://fnet.bmfbovespa.com.br/fnet/publico/visualizarDocumento?id=1222863</a:t>
            </a:r>
          </a:p>
          <a:p>
            <a:r>
              <a:t>CNPJ 63953620000165 · Gatilhos de avaliação e liquidação · Excerto da fonte:</a:t>
            </a:r>
          </a:p>
          <a:p>
            <a:r>
              <a:t>10.8 As deliberações que tenham por objeto o aumento do Índice de Subordinação Sênior apenas serão aprovadas se  assim deliberado: (i) pelos votos dos titulares da maioria das Cotas em circulação de cada uma das Séries de  Cotas Seniores; e (ii) pelo votos dos titulares da maioria Cotas Subordinadas em circulação.</a:t>
            </a:r>
          </a:p>
          <a:p>
            <a:r>
              <a:t> CAPÍTULO 11 – EVENTOS DE AVALIAÇÃO, EVENTOS DE LIQUIDAÇÃO, E PROCEDIMENTOS DE LIQUIDAÇÃO  Eventos de Avaliação</a:t>
            </a:r>
          </a:p>
          <a:p>
            <a:r>
              <a:t>CNPJ 63953620000165 · Gatilhos de avaliação e liquidação · Condição: Documentos atuais selecionados no inventário por categoria/escopo; a data documental isolada não comprova vigência jurídica.</a:t>
            </a:r>
          </a:p>
          <a:p>
            <a:r>
              <a:t>CNPJ 63953620000165 · Gatilhos de avaliação e liquidação · Versão e prevalência: Documentos atuais selecionados no inventário por categoria/escopo; a data documental isolada não comprova vigência jurídica.</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Fluxo de caixa e prazo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Ordem de alocação de recursos · Regulamento · ID 670691 · 28/04/2024 · versão Regulamento — referência 28/04/2024 · p. 16 · Anexo I, 8.1–8.2 · https://fnet.bmfbovespa.com.br/fnet/publico/visualizarDocumento?id=670691</a:t>
            </a:r>
          </a:p>
          <a:p>
            <a:r>
              <a:t>CNPJ 54871427000194 · Ordem de alocação de recursos · Excerto da fonte:</a:t>
            </a:r>
          </a:p>
          <a:p>
            <a:r>
              <a:t>8.1 O Cotista que tenha apresentado documentação comprobatória de sua condição de imunidade ou isenção tributária, nos termos do item 7.7, e que tiver essa condição alterada ou revogada por disposição normativa, seja por deixar de atender às condições e requisitos prescritos no dispositivo legal aplicável, ou por ter tal condição questionada por autoridade judicial, fiscal ou regulamentar competente, ou, ainda, por ter tal condição alterada e/ou revogada por qualquer outra razão que não as mencionadas acima, deverá comunicar esse f ato, de f orma detalhada e por escrito, ao ADMINISTRADOR, com cópia para o CUSTODIANTE, bem como prestar qualquer inf ormação adicional em relação ao tema que lhe seja solicitada pelo ADMINISTRADOR e/ou pelo CUSTODIANTE. CAPÍTULO 8 – ORDEM DE ALOCAÇÃO DE RECURSOS 8.1 O ADMINISTRADOR e o GESTOR obrigam-se a, a partir da Data da 1ª Integralização de Cotas até a liquidação integral das Obrigações do da Classe, utilizar os recursos disponíveis na Conta da Classe e/ou mantidos em Ativos Financeiros de Liquidez, em cada Dia Útil, de acordo com a seguinte ordem de prioridade de alocação de modo que cada item abaixo listad</a:t>
            </a:r>
          </a:p>
          <a:p>
            <a:r>
              <a:t>CNPJ 54871427000194 · Ordem de alocação de recursos · Versão e prevalência: Leitura específica das cláusulas indicadas; condições e conflitos preservados. Seleção documental atual não comprova vigência jurídica por data isolada.</a:t>
            </a:r>
          </a:p>
          <a:p>
            <a:r>
              <a:t>CNPJ 54871427000194 · Ordem de alocação de recursos · Resumo do histórico: {"count": 2, "dates": ["2024-04-19", "2024-04-28"], "document_count": 2, "sources": [{"document_id": "670691", "title": "Regulamento", "reference_date": "2024-04-28", "version": "1", "page": "16", "url": "https://fnet.bmfbovespa.com.br/fnet/publico/visualizarDocumento?id=670691", "sha256": "bf16dd7f1a62d5cdbf2e2d54fef81783783f7310fbc99c3a8f00459bdf9d037b"}, {"document_id": "670689", "title": "Regulamento", "reference_date": "2024-04-19", "version": "1", "page": 16, "clause": "8.1", "url": "https://fnet.bmfbovespa.com.br/fnet/publico/visualizarDocumento?id=670689", "sha256": "891bc9bc5d87bbc02ec139077a84d2702eb81ea02035fb71d24f5b8366b94a0b"}], "reference": {"path": "history/54871427000194.json", "criterion_id": "waterfall", "total_count": 2, "preview_count": 2, "full_text_deferred": true, "sha256": "35d7cd99be50c7287c9fb675cf4f2e736002315295a225a9efa79c8d9186d874"}}</a:t>
            </a:r>
          </a:p>
          <a:p>
            <a:r>
              <a:t>CNPJ 60010416000112 · Ordem de alocação de recursos · Regulamento · ID 1051393 · 09/10/2025 · versão Regulamento09/10/2025 · p. 16 · AnexoI7.11(i)–(ii),7.12 · https://fnet.bmfbovespa.com.br/fnet/publico/visualizarDocumento?id=1051393</a:t>
            </a:r>
          </a:p>
          <a:p>
            <a:r>
              <a:t>CNPJ 60010416000112 · Ordem de alocação de recursos · Excerto da fonte:</a:t>
            </a:r>
          </a:p>
          <a:p>
            <a:r>
              <a:t>7.11 Sem prejuízo do disposto do disposto nos itens 7.1 a 7.10 acima, a partir da Data da 1ª Integralização de Cotas até a liquidação integral das Obrigações da Classe, sempre preservando a manutenção da boa ordem legal, administrativa e operacional da Classe, o Gestor obriga-se a utilizar os recursos disponíveis na Conta de Movimentação da Classe e/ou mantidos em Ativos Financeiros de Liquidez, em cada Dia Útil, de acordo com a seguinte ordem de prioridade de alocação, na forma dos itens e tabela abaixo, de modo que cada um dos itens listado apenas será contemplado após o direcionamento do montante</a:t>
            </a:r>
          </a:p>
          <a:p>
            <a:r>
              <a:t>CNPJ 60010416000112 · Ordem de alocação de recursos · Motivo: Cláusula primária localizada e citada, mas sua lista/condições extensas não admitem uma síntese literal curta confirmada. O trecho integral permanece nas fontes. A resposta da revisão anterior foi preservada no histórico, sem confirmação pelo documento atual.</a:t>
            </a:r>
          </a:p>
          <a:p>
            <a:r>
              <a:t>CNPJ 60010416000112 · Ordem de alocação de recursos · Versão e prevalência: Leitura específica das cláusulas indicadas; condições e conflitos preservados. Seleção documental atual não comprova vigência jurídica por data isolada.</a:t>
            </a:r>
          </a:p>
          <a:p>
            <a:r>
              <a:t>CNPJ 60010416000112 · Ordem de alocação de recursos · Resumo do histórico: {"count": 2, "dates": ["2025-03-20", "2025-10-09"], "document_count": 2, "sources": [{"document_id": "1051393", "title": "Regulamento", "reference_date": "2025-10-09", "version": "1", "page": "16-17", "url": "https://fnet.bmfbovespa.com.br/fnet/publico/visualizarDocumento?id=1051393", "sha256": "8469d613078ffd5a6c1d217885d8a397a16342c0b937ae4aa24b106505f233ae"}, {"document_id": "993786", "title": "Regulamento", "reference_date": "2025-03-20", "version": "1", "page": 16, "clause": "7.11", "url": "https://fnet.bmfbovespa.com.br/fnet/publico/visualizarDocumento?id=993786", "sha256": "fd0fdd369a195510d81f81f505195a0b09e5f43522a990afa7d58c4f872921c8"}], "reference": {"path": "history/60010416000112.json", "criterion_id": "waterfall", "total_count": 2, "preview_count": 2, "full_text_deferred": true, "sha256": "8e2bd813f4c51cf01f6bfaad164bafe69d2bbb192f753eac92da3a01c2e63046"}}</a:t>
            </a:r>
          </a:p>
          <a:p>
            <a:r>
              <a:t>CNPJ 62696791000193 · Ordem de alocação de recursos · Regulamento · ID 1143317 · 20/03/2026 · versão Regulamento — referência 20/03/2026 · p. 16 · Anexo I, 6.1(i)–(vii) · https://fnet.bmfbovespa.com.br/fnet/publico/visualizarDocumento?id=1143317</a:t>
            </a:r>
          </a:p>
          <a:p>
            <a:r>
              <a:t>CNPJ 62696791000193 · Ordem de alocação de recursos · Excerto da fonte:</a:t>
            </a:r>
          </a:p>
          <a:p>
            <a:r>
              <a:t>6.1 O Administrador e o Gestor obrigam-se a, a partir da data da primeira integralização de Cotas até a liquidação integral das obrigações da Classe, utilizar os recursos disponíveis na Conta da Classe e/ou mantidos em Ativos Financeiros de Liquidez em cada Dia Útil, de acordo com a seguinte ordem de prioridade de alocação, de modo que cada item abaixo listado apenas será contemplado após o direcionamento do montante total necessário para a satisfação dos itens anteriores, ressalvada a ocorrência de eventos extraordinários que afetem o funcionamento regular do Fundo e/ou da Classe: (i) pagamento dos encargos do Fundo e/ou da Classe; (ii) constituição e/ou recomposição da reserva de despesas de modo que esta, ao final de cada Dia Útil, seja equivalente ao montante estimado dos encargos, a serem incorridos nos 6 (seis) meses calendário imediatamente subsequentes pelo Fundo e/ou a Classe (“Reserva de Despesas”); (iii) pagamento de Amortização ou resgate de Cotas Seniores, se houver; (iv) pagamento de Amortização ou resgate de Cotas Mezanino, se houver; (v) aquisição pela Classe de Direitos Creditórios do Agronegócio e/ou Outros Ativos, observando-se a Política de Investimentos; e (vi) pagamento de Amortização ou resgate de Cotas Subordinadas, se houver (vii) aquisição pela Classe de Ativos Financeiros de Liquidez, observando-se a Política de Investimentos.</a:t>
            </a:r>
          </a:p>
          <a:p>
            <a:r>
              <a:t>CNPJ 62696791000193 · Ordem de alocação de recursos · Condição: A ordem diária contém ressalva para eventos extraordinários que afetem o funcionamento regular do fundo ou da classe. Na liquidação, aplicar a partilha específica do Anexo I 11.2.1.</a:t>
            </a:r>
          </a:p>
          <a:p>
            <a:r>
              <a:t>CNPJ 62696791000193 · Ordem de alocação de recursos · Motivo: Cláusula primária localizada e citada, mas sua lista/condições extensas não admitem uma síntese literal curta confirmada. O trecho integral permanece nas fontes.</a:t>
            </a:r>
          </a:p>
          <a:p>
            <a:r>
              <a:t>CNPJ 62696791000193 · Ordem de alocação de recursos · Versão e prevalência: Leitura específica das cláusulas indicadas; condições e conflitos preservados. Seleção documental atual não comprova vigência jurídica por data isolada.</a:t>
            </a:r>
          </a:p>
          <a:p>
            <a:r>
              <a:t>CNPJ 55563624000109 · Ordem de alocação de recursos · Regulamento · ID 1192614 · 30/04/2026 · versão Regulamento30/04/2026 · p. 18 · AnexoI8.1(i)–(iv) · https://fnet.bmfbovespa.com.br/fnet/publico/visualizarDocumento?id=1192614</a:t>
            </a:r>
          </a:p>
          <a:p>
            <a:r>
              <a:t>CNPJ 55563624000109 · Ordem de alocação de recursos · Excerto da fonte:</a:t>
            </a:r>
          </a:p>
          <a:p>
            <a:r>
              <a:t>8.1 O ADMINISTRADOR e o GESTOR obrigam-se a, a partir da Data 1ª Integralização da Classe até a liquidação integral de todas as Obrigações da Classe, utilizar os recursos disponíveis na Conta da Classe e/ou mantidos em Ativos Financeiros de Liquidez, em cada Dia Útil, de acordo com a seguinte ordem de prioridade de alocação de modo que cada item abaixo listado apenas será contemplado após o direcionamento do montante total necessário para a satisfação dos itens anteriores, ressalvado, enquanto em curso um Evento de Avaliação e/ou um Evento de Liquidação,</a:t>
            </a:r>
          </a:p>
          <a:p>
            <a:r>
              <a:t>CNPJ 55563624000109 · Ordem de alocação de recursos · Regulamento · ID 1192614 · 30/04/2026 · versão Regulamento30/04/2026 · p. 19 · AnexoI8.1(v) e8.2 · https://fnet.bmfbovespa.com.br/fnet/publico/visualizarDocumento?id=1192614</a:t>
            </a:r>
          </a:p>
          <a:p>
            <a:r>
              <a:t>CNPJ 55563624000109 · Ordem de alocação de recursos · Excerto da fonte:</a:t>
            </a:r>
          </a:p>
          <a:p>
            <a:r>
              <a:t>8.2 Em caso de liquidação antecipada da Classe, observados os procedimentos descritos no item 11.4 e seguintes abaixo, os recursos decorrentes do pagamento das Cotas a partir do recebimento dos Ativos Financeiros de Liquidez e de Direitos Creditórios da Carteira da Classe serão alocados da seguinte forma: (i) pagamento dos Encargos; e (ii) pagamento do resgate das Cotas, com a devida observância dos termos e condições deste Regulamento. 9 METODOLOGIA DE AVALIAÇÃO DOS ATIVOS DA CLASSE 9.1 As Cotas da Classe Investida e Ativos Financeiro</a:t>
            </a:r>
          </a:p>
          <a:p>
            <a:r>
              <a:t>CNPJ 55563624000109 · Ordem de alocação de recursos · Versão e prevalência: Leitura específica das cláusulas indicadas; condições e conflitos preservados. Seleção documental atual não comprova vigência jurídica por data isolada.</a:t>
            </a:r>
          </a:p>
          <a:p>
            <a:r>
              <a:t>CNPJ 55563624000109 · Ordem de alocação de recursos · Resumo do histórico: {"count": 1, "dates": ["2026-04-30"], "document_count": 1, "sources": [{"document_id": "1192614", "title": "Regulamento", "reference_date": "2026-04-30", "version": "1", "page": "18-19", "url": "https://fnet.bmfbovespa.com.br/fnet/publico/visualizarDocumento?id=1192614", "sha256": "f56e63ace0acde41d2f47fb48f1ac7f3f7df5e2d32de092d7c5e075a52516632"}], "reference": {"path": "history/55563624000109.json", "criterion_id": "waterfall", "total_count": 1, "preview_count": 1, "full_text_deferred": true, "sha256": "7835d573fb58a3c19adf5b8ecc2aee2bdbb9a88f7a0c0209b5f262b64c7522e3"}}</a:t>
            </a:r>
          </a:p>
          <a:p>
            <a:r>
              <a:t>CNPJ 62552447000120 · Ordem de alocação de recursos · Regulamento · ID 1200623 · 21/05/2026 · versão Consolidado21/05/2026 aprovado pelo ato1200625 · p. 20 · AnexoI8.1(i)–(v) · https://fnet.bmfbovespa.com.br/fnet/publico/visualizarDocumento?id=1200623</a:t>
            </a:r>
          </a:p>
          <a:p>
            <a:r>
              <a:t>CNPJ 62552447000120 · Ordem de alocação de recursos · Excerto da fonte:</a:t>
            </a:r>
          </a:p>
          <a:p>
            <a:r>
              <a:t>8.1 O Administrador e o Gestor obrigam-se a, a partir da data da primeira integralização de Cotas (“Data da Primeira Integralização”) até a liquidação integral das obrigações da Classe, utilizar os recursos disponíveis na conta corrente mantida pela Classe junto ao Custodiante, a ser utilizada para todos os recebimentos e transferências de recursos pela Classe (“Conta da Classe”) e/ou mantidos em Ativos Financeiros, em cada Dia Útil, de acordo com a seguinte ordem de prioridade de alocação de modo que cada item abaixo listado apenas será contemplado após o direcionamento do montante total necessári</a:t>
            </a:r>
          </a:p>
          <a:p>
            <a:r>
              <a:t>CNPJ 62552447000120 · Ordem de alocação de recursos · Regulamento · ID 1200623 · 21/05/2026 · versão Consolidado21/05/2026 aprovado pelo ato1200625 · p. 19 · AnexoI7.3 · https://fnet.bmfbovespa.com.br/fnet/publico/visualizarDocumento?id=1200623</a:t>
            </a:r>
          </a:p>
          <a:p>
            <a:r>
              <a:t>CNPJ 62552447000120 · Ordem de alocação de recursos · Excerto da fonte:</a:t>
            </a:r>
          </a:p>
          <a:p>
            <a:r>
              <a:t>7.3 Quaisquer pagamentos aos Cotistas a título de Amortização deverão observar a ordem de alocação de recursos e abranger, proporcionalmente e sem direito de preferência ou prioridade, todas as Cotas, em benef ício de todos os respectivos titulares. Quando do pagamento de resgate de Cotas, as Cotas objeto de resgate serão canceladas. 7.4 Para f ins de Amortização, será considerado o valor da Cota do segundo Dia Útil anterior à data do pagamento da respectiva parcela da Amortização, por meio do Sistema de Pagamentos Brasileiro – SPB, observados os procedimentos do Escriturador e do mercado organizado em</a:t>
            </a:r>
          </a:p>
          <a:p>
            <a:r>
              <a:t>CNPJ 62552447000120 · Ordem de alocação de recursos · Motivo: Cláusula primária localizada e citada, mas sua lista/condições extensas não admitem uma síntese literal curta confirmada. O trecho integral permanece nas fontes.</a:t>
            </a:r>
          </a:p>
          <a:p>
            <a:r>
              <a:t>CNPJ 62552447000120 · Ordem de alocação de recursos · Versão e prevalência: Leitura específica das cláusulas indicadas; condições e conflitos preservados. Seleção documental atual não comprova vigência jurídica por data isolada.</a:t>
            </a:r>
          </a:p>
          <a:p>
            <a:r>
              <a:t>CNPJ 63953620000165 · Ordem de alocação de recursos · Anexo ao Regulamento · ID 1222863 · 02/06/2026 · versão AnexoConsignadoPrivado02/06/2026 · p. 11 · 8.1(i) · https://fnet.bmfbovespa.com.br/fnet/publico/visualizarDocumento?id=1222863</a:t>
            </a:r>
          </a:p>
          <a:p>
            <a:r>
              <a:t>CNPJ 63953620000165 · Ordem de alocação de recursos · Excerto da fonte:</a:t>
            </a:r>
          </a:p>
          <a:p>
            <a:r>
              <a:t>8.1 O Administrador e o Gestor obrigam-se a, a partir da data da primeira integralização de Cotas (“Data da 1ª Integralização”) até a liquidação integral das obrigações da Classe, utilizar os recursos disponíveis na Conta da Classe e/ou mantidos em Ativos Financeiros, em cada Dia Útil, de acordo com a seguinte ordem de prioridade de alocação de modo que cada item abaixo listado apenas será contemplado após o direcionamento do montante total necessário para a satisfação dos itens anteriores, ressalvado, enquanto em curso um Evento de Avaliação e/ou um Evento de Liquidação, o disposto nos itens 11.1.2: (i)</a:t>
            </a:r>
          </a:p>
          <a:p>
            <a:r>
              <a:t>CNPJ 63953620000165 · Ordem de alocação de recursos · Anexo ao Regulamento · ID 1222863 · 02/06/2026 · versão AnexoConsignadoPrivado02/06/2026 · p. 12 · 8.1(ii)–(x) · https://fnet.bmfbovespa.com.br/fnet/publico/visualizarDocumento?id=1222863</a:t>
            </a:r>
          </a:p>
          <a:p>
            <a:r>
              <a:t>CNPJ 63953620000165 · Ordem de alocação de recursos · Excerto da fonte:</a:t>
            </a:r>
          </a:p>
          <a:p>
            <a:r>
              <a:t>(ii) constituição ou reestabelecimento da Reserva de Caixa, conforme definida abaixo, por meio da aquisição de Ativos Financeiros de Liquidez, observando-se a Política de Investimentos; (iii) pagamento de despesas relativas aos instrumentos de derivativos, conforme aplicável; (iv) pagamento da Rentabilidade Adicional Sênior, caso aplicável; (v) aquisição pela Classe de Direitos Creditórios, durante o Período de Investimento, observando-se a Política de Investimentos; (vi) pagamento do Benchmark Sênior, a critério do Gestor; (vii) pagamento da amortização do principal</a:t>
            </a:r>
          </a:p>
          <a:p>
            <a:r>
              <a:t>CNPJ 63953620000165 · Ordem de alocação de recursos · Condição: Compra de DC antecede amortização do benchmark/principal; principal sênior durante investimento exige tempo decorrido maior que duration dos DC.</a:t>
            </a:r>
          </a:p>
          <a:p>
            <a:r>
              <a:t>CNPJ 63953620000165 · Ordem de alocação de recursos · Motivo: Não localizada uma cláusula material para este critério nos textos identificados e processados. A ausência de resultado não comprova inexistência da regra.</a:t>
            </a:r>
          </a:p>
          <a:p>
            <a:r>
              <a:t>CNPJ 63953620000165 · Ordem de alocação de recursos · Versão e prevalência: Leitura específica das cláusulas indicadas; condições e conflitos preservados. Seleção documental atual não comprova vigência jurídica por data isolada.</a:t>
            </a:r>
          </a:p>
          <a:p>
            <a:r>
              <a:t>CNPJ 54871427000194 · Pró-rata, sequencial e aceleração · Motivo: Não localizada uma cláusula material para este critério nos textos identificados e processados. A ausência de resultado não comprova inexistência da regra.</a:t>
            </a:r>
          </a:p>
          <a:p>
            <a:r>
              <a:t>CNPJ 60010416000112 · Pró-rata, sequencial e aceleração · Motivo: Não localizada uma cláusula material para este critério nos textos identificados e processados. A ausência de resultado não comprova inexistência da regra.</a:t>
            </a:r>
          </a:p>
          <a:p>
            <a:r>
              <a:t>CNPJ 62696791000193 · Pró-rata, sequencial e aceleração · Regulamento · ID 1143317 · 20/03/2026 · versão Regulamento — referência 20/03/2026 · p. 23 · Anexo I, 11.2.1 · https://fnet.bmfbovespa.com.br/fnet/publico/visualizarDocumento?id=1143317</a:t>
            </a:r>
          </a:p>
          <a:p>
            <a:r>
              <a:t>CNPJ 62696791000193 · Pró-rata, sequencial e aceleração · Excerto da fonte:</a:t>
            </a:r>
          </a:p>
          <a:p>
            <a:r>
              <a:t>11.2.1 No caso de Liquidação da Classe, os Cotistas terão o direito de partilhar o Patrimônio Líquido em igualdade de condições e na proporção de suas Cotas, deduzidas as despesas necessárias para a liquidação da Classe. Não haverá qualquer tipo de pref erência, p rioridade ou subordinação entre os Cotistas.</a:t>
            </a:r>
          </a:p>
          <a:p>
            <a:r>
              <a:t>CNPJ 62696791000193 · Pró-rata, sequencial e aceleração · Regulamento · ID 1143317 · 20/03/2026 · versão Regulamento — referência 20/03/2026 · p. 35 · Apêndice Sênior, 7.1 · https://fnet.bmfbovespa.com.br/fnet/publico/visualizarDocumento?id=1143317</a:t>
            </a:r>
          </a:p>
          <a:p>
            <a:r>
              <a:t>CNPJ 62696791000193 · Pró-rata, sequencial e aceleração · Excerto da fonte:</a:t>
            </a:r>
          </a:p>
          <a:p>
            <a:r>
              <a:t>7.1. Prioridade de Recebimento das Cotas Seniores. As Cotas Seniores terão prioridade no pagamento de resgate sobre todas as Cotas Subordinadas Juniores, observado que as Cotas Subordinadas Juniores somente serão resgatadas após o pagamento integral das Cotas Seniores (exceto se de outra forma permitido no Anexo I).</a:t>
            </a:r>
          </a:p>
          <a:p>
            <a:r>
              <a:t>CNPJ 62696791000193 · Pró-rata, sequencial e aceleração · Condição: Apêndice Sênior 7.1 remete expressamente à exceção do Anexo I. A partilha da liquidação segue 11.2.1; a proteção sênior prevista para resgate não assegura prioridade nesse cenário.</a:t>
            </a:r>
          </a:p>
          <a:p>
            <a:r>
              <a:t>CNPJ 62696791000193 · Pró-rata, sequencial e aceleração · Motivo: Não localizada uma cláusula material para este critério nos textos identificados e processados. A ausência de resultado não comprova inexistência da regra.</a:t>
            </a:r>
          </a:p>
          <a:p>
            <a:r>
              <a:t>CNPJ 62696791000193 · Pró-rata, sequencial e aceleração · Versão e prevalência: Leitura específica das cláusulas indicadas; condições e conflitos preservados. Seleção documental atual não comprova vigência jurídica por data isolada.</a:t>
            </a:r>
          </a:p>
          <a:p>
            <a:r>
              <a:t>CNPJ 55563624000109 · Pró-rata, sequencial e aceleração · Motivo: Não localizada uma cláusula material para este critério nos textos identificados e processados. A ausência de resultado não comprova inexistência da regra.</a:t>
            </a:r>
          </a:p>
          <a:p>
            <a:r>
              <a:t>CNPJ 62552447000120 · Pró-rata, sequencial e aceleração · Motivo: Não localizada uma cláusula material para este critério nos textos identificados e processados. A ausência de resultado não comprova inexistência da regra.</a:t>
            </a:r>
          </a:p>
          <a:p>
            <a:r>
              <a:t>CNPJ 63953620000165 · Pró-rata, sequencial e aceleração · Motivo: Não localizada uma cláusula material para este critério nos textos identificados e processados. A ausência de resultado não comprova inexistência da regra.</a:t>
            </a:r>
          </a:p>
          <a:p>
            <a:r>
              <a:t>CNPJ 54871427000194 · Revolvência e desinvestimento · Regulamento · ID 670691 · 28/04/2024 · versão Regulamento — referência 28/04/2024 · p. 11 · Anexo I, 4.12 · https://fnet.bmfbovespa.com.br/fnet/publico/visualizarDocumento?id=670691</a:t>
            </a:r>
          </a:p>
          <a:p>
            <a:r>
              <a:t>CNPJ 54871427000194 · Revolvência e desinvestimento · Excerto da fonte:</a:t>
            </a:r>
          </a:p>
          <a:p>
            <a:r>
              <a:t>4.12 Os recursos recebidos pela Classe em razão da liquidação dos Direitos Creditórios, a qualquer título, incluindo pagamento regular ou por excussão de garantia, alienação, recompra, indenização pelo Cedente e/ou desinvestimento de Ativo Recuperado, serão destinados a aquisição de Direitos Creditórios até o montante de R$ 250.000.000,00 (duzentos e cinquenta milhões de reais), sendo certo que os recursos recebidos pela Classe após a aquisição em tal montante não poderão ser destinados à aquisição pela Classe de novos Direitos Creditórios, aplicando-se, de resto, o disposto no item 8.1 abaixo no que se ref ere à ordem de alocação de tais recursos. BTG Pactual SAC: 0800 772 28 27 - Ouvidoria: 0800 722 00 48 - btgpactual.com 5</a:t>
            </a:r>
          </a:p>
          <a:p>
            <a:r>
              <a:t>CNPJ 54871427000194 · Revolvência e desinvestimento · Condição: O gatilho usa aquisições acumuladas, e não o saldo mensal de direitos creditórios.</a:t>
            </a:r>
          </a:p>
          <a:p>
            <a:r>
              <a:t>CNPJ 54871427000194 · Revolvência e desinvestimento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Revolvência e desinvestimento · Versão e prevalência: Leitura específica das cláusulas indicadas; condições e conflitos preservados. Seleção documental atual não comprova vigência jurídica por data isolada.</a:t>
            </a:r>
          </a:p>
          <a:p>
            <a:r>
              <a:t>CNPJ 54871427000194 · Revolvência e desinvestimento · Resumo do histórico: {"count": 1, "dates": ["2024-04-28"], "document_count": 1, "sources": [{"document_id": "670691", "title": "Regulamento", "reference_date": "2024-04-28", "version": "1", "page": "11", "url": "https://fnet.bmfbovespa.com.br/fnet/publico/visualizarDocumento?id=670691", "sha256": "bf16dd7f1a62d5cdbf2e2d54fef81783783f7310fbc99c3a8f00459bdf9d037b"}], "reference": {"path": "history/54871427000194.json", "criterion_id": "revolving", "total_count": 1, "preview_count": 1, "full_text_deferred": true, "sha256": "35d7cd99be50c7287c9fb675cf4f2e736002315295a225a9efa79c8d9186d874"}}</a:t>
            </a:r>
          </a:p>
          <a:p>
            <a:r>
              <a:t>CNPJ 60010416000112 · Revolvência e desinvestimento · Regulamento · ID 1051393 · 09/10/2025 · versão Regulamento09/10/2025 · p. 12 · AnexoI4.11–4.12.1 · https://fnet.bmfbovespa.com.br/fnet/publico/visualizarDocumento?id=1051393</a:t>
            </a:r>
          </a:p>
          <a:p>
            <a:r>
              <a:t>CNPJ 60010416000112 · Revolvência e desinvestimento · Excerto da fonte:</a:t>
            </a:r>
          </a:p>
          <a:p>
            <a:r>
              <a:t>4.11 A Classe terá um Período de Investimento de 24 (vinte e quatro) meses, contados da Data da 1ª Integralização de Cotas da Classe. 4.12 Durante o Período de Investimento, a Classe utilizará os recursos provenientes da integralização das Cotas para investir em Direitos Creditórios e Ativos Financeiros de Liquidez, de acordo com a Política de Investimento estabelecida no presente Anexo I, sendo permitida, durante o Período de Investimento, a aquisição de novos Direitos Creditórios com os recursos decorrentes do pagamento dos Direitos Creditórios integrantes da carteira da Classe, desde que respei</a:t>
            </a:r>
          </a:p>
          <a:p>
            <a:r>
              <a:t>CNPJ 60010416000112 · Revolvência e desinvestimento · Regulamento · ID 1051393 · 09/10/2025 · versão Regulamento09/10/2025 · p. 15 · AnexoI7.3 · https://fnet.bmfbovespa.com.br/fnet/publico/visualizarDocumento?id=1051393</a:t>
            </a:r>
          </a:p>
          <a:p>
            <a:r>
              <a:t>CNPJ 60010416000112 · Revolvência e desinvestimento · Excerto da fonte:</a:t>
            </a:r>
          </a:p>
          <a:p>
            <a:r>
              <a:t>7.3 Após o encerramento do Período de Investimento, e desde que o Índice de Subordinação esteja sendo cumprido, as Cotas serão amortizadas mensalmente, em regime de caixa, nas datas e prazos previstos nos respectivos Suplementos, em montante correspondente ao valor dos recursos disponíveis na Conta de Movimentação da Classe, somados aos Ativos Financeiros de Liquidez, respeitando a ordem de alocação dos recursos, observado o disposto no item abaixo em relação às Cotas Subordinadas. 7.3.1. As Cotas Subordinadas poderão ser amortizadas caso sejam atingidas, cumulativamente, as segui</a:t>
            </a:r>
          </a:p>
          <a:p>
            <a:r>
              <a:t>CNPJ 60010416000112 · Revolvência e desinvestimento · Versão e prevalência: Leitura específica das cláusulas indicadas; condições e conflitos preservados. Seleção documental atual não comprova vigência jurídica por data isolada.</a:t>
            </a:r>
          </a:p>
          <a:p>
            <a:r>
              <a:t>CNPJ 60010416000112 · Revolvência e desinvestimento · Resumo do histórico: {"count": 4, "dates": ["2025-03-20", "2025-05-12", "2025-10-09"], "document_count": 3, "sources": [{"document_id": "1051393", "title": "Regulamento", "reference_date": "2025-10-09", "version": "1", "page": "12", "url": "https://fnet.bmfbovespa.com.br/fnet/publico/visualizarDocumento?id=1051393", "sha256": "8469d613078ffd5a6c1d217885d8a397a16342c0b937ae4aa24b106505f233ae"}, {"document_id": "1004656", "title": "AGE", "reference_date": "2025-05-12", "version": "1", "page": 5, "url": "https://fnet.bmfbovespa.com.br/fnet/publico/visualizarDocumento?id=1004656", "sha256": "f6c9c009f6170e2b29f074b98522accec73f0c40efbf11f9ec2c8d3f1402616b"}, {"document_id": "993785", "title": "Instrumento Particular de Constituição/Encerramento do Fundo", "reference_date": "2025-03-20", "version": "1", "page": 5, "url": "https://fnet.bmfbovespa.com.br/fnet/publico/visualizarDocumento?id=993785", "sha256": "0826e0eae2c51afabf59bbc49fc7647598d03da5ca6de0f9725850a8bd6af457"}], "reference": {"path": "history/60010416000112.json", "criterion_id": "revolving", "total_count": 4, "preview_count": 3, "full_text_deferred": true, "sha256": "8e2bd813f4c51cf01f6bfaad164bafe69d2bbb192f753eac92da3a01c2e63046"}}</a:t>
            </a:r>
          </a:p>
          <a:p>
            <a:r>
              <a:t>CNPJ 62696791000193 · Revolvência e desinvestimento · Regulamento · ID 1143317 · 20/03/2026 · versão Regulamento — referência 20/03/2026 · p. 16 · Anexo I, 5.1 · https://fnet.bmfbovespa.com.br/fnet/publico/visualizarDocumento?id=1143317</a:t>
            </a:r>
          </a:p>
          <a:p>
            <a:r>
              <a:t>CNPJ 62696791000193 · Revolvência e desinvestimento · Excerto da fonte:</a:t>
            </a:r>
          </a:p>
          <a:p>
            <a:r>
              <a:t>5.1 Os recursos recebidos pela Classe em razão da liquidação dos Direitos Creditórios do Agronegócio e/ou dos Outros Ativos, a qualquer título, incluindo pagamento regular ou por excussão de garantia, alienação, recompra, indenização pelo cedente e/ou desinvestimento de Direitos Creditórios do Agronegócio e/ou dos Outros Ativos, poderão ser destinados à aquisição pela Classe de novos Direitos Creditórios do Agronegócio e/ou dos Outros Ativos e/ou destinados ao resgate das Cotas, conf orme decisão do Gestor e desde que observada a ordem de alocação de recursos. 6 ORDEM DE ALOCAÇÃO DE RECURSOS 6.1 O Administrador e o Gestor obrigam-se a, a partir da data da primeira integralização de Cotas até a liquidação integral das obrigações da Classe, utilizar os recursos disponíveis na Conta da Classe e/ou mantidos em Ativos Financeiros de Liquidez em cada Dia Útil, de acordo com a seguinte ordem de prioridade de alocação, de modo que cada item abaixo listado apenas será contemplado após o direcionamento do montante total necessário para a satisfação dos itens anteriores, ressalvada a ocorrência de eventos extraordinários que afetem o funcionamento regular do Fundo e/ou da Classe: (i</a:t>
            </a:r>
          </a:p>
          <a:p>
            <a:r>
              <a:t>CNPJ 62696791000193 · Revolvência e desinvestimento · Versão e prevalência: Leitura específica das cláusulas indicadas; condições e conflitos preservados. Seleção documental atual não comprova vigência jurídica por data isolada.</a:t>
            </a:r>
          </a:p>
          <a:p>
            <a:r>
              <a:t>CNPJ 55563624000109 · Revolvência e desinvestimento · Regulamento · ID 1192614 · 30/04/2026 · versão Regulamento30/04/2026 · p. 13 · AnexoI4.13 · https://fnet.bmfbovespa.com.br/fnet/publico/visualizarDocumento?id=1192614</a:t>
            </a:r>
          </a:p>
          <a:p>
            <a:r>
              <a:t>CNPJ 55563624000109 · Revolvência e desinvestimento · Excerto da fonte:</a:t>
            </a:r>
          </a:p>
          <a:p>
            <a:r>
              <a:t>4.13 Os recursos recebidos pela Classe em razão da liquidação das Cotas da Classe Investida, a qualquer título, incluindo pagamento regular ou por excussão ou execução de garantia, alienação, recompra, indenização e/ou desinvestimento, serão destinados à amortização ou resgate das Cotas, conforme decisão do GESTOR e desde que observada a ordem de alocação de recursos definida no item 8.1 abaixo, observado que tais recursos poderão ser utilizados para fazer frente ao pagamento de Encargos e/ou despesas extraordinárias da Classe ou da Classe Investida, caso</a:t>
            </a:r>
          </a:p>
          <a:p>
            <a:r>
              <a:t>CNPJ 55563624000109 · Revolvência e desinvestimento · Motivo: Não localizada uma cláusula material para este critério nos textos identificados e processados. A ausência de resultado não comprova inexistência da regra.</a:t>
            </a:r>
          </a:p>
          <a:p>
            <a:r>
              <a:t>CNPJ 55563624000109 · Revolvência e desinvestimento · Versão e prevalência: Leitura específica das cláusulas indicadas; condições e conflitos preservados. Seleção documental atual não comprova vigência jurídica por data isolada.</a:t>
            </a:r>
          </a:p>
          <a:p>
            <a:r>
              <a:t>CNPJ 62552447000120 · Revolvência e desinvestimento · Motivo: Não localizada uma cláusula material para este critério nos textos identificados e processados. A ausência de resultado não comprova inexistência da regra.</a:t>
            </a:r>
          </a:p>
          <a:p>
            <a:r>
              <a:t>CNPJ 63953620000165 · Revolvência e desinvestimento · Anexo ao Regulamento · ID 1222863 · 02/06/2026 · versão AnexoConsignadoPrivado02/06/2026 · p. 7 · 4.17–4.17.3 · https://fnet.bmfbovespa.com.br/fnet/publico/visualizarDocumento?id=1222863</a:t>
            </a:r>
          </a:p>
          <a:p>
            <a:r>
              <a:t>CNPJ 63953620000165 · Revolvência e desinvestimento · Excerto da fonte:</a:t>
            </a:r>
          </a:p>
          <a:p>
            <a:r>
              <a:t>4.17 O período compreendido entre a data da primeira integralização de Cotas da Classe até 29 de junho de 2031, constituirão o período de investimento da Classe, durante o qual, a Classe poderá adquirir Direitos Creditórios (“Período de Investimento”). 4.17.1 Durante o Período de Investimento, os recursos recebidos pela Classe em razão da liquidação dos Direitos Creditórios, a qualquer título, incluindo pagamento regular ou por excussão de garantia, alienação, recompra, indenização pelo Cedente e/ou desinvestimento de Ativo Recuperado, poderão ser destinados à aquisição pela Classe de novos</a:t>
            </a:r>
          </a:p>
          <a:p>
            <a:r>
              <a:t>CNPJ 63953620000165 · Revolvência e desinvestimento · Versão e prevalência: Leitura específica das cláusulas indicadas; condições e conflitos preservados. Seleção documental atual não comprova vigência jurídica por data isolada.</a:t>
            </a:r>
          </a:p>
          <a:p>
            <a:r>
              <a:t>CNPJ 63953620000165 · Revolvência e desinvestimento · Resumo do histórico: {"count": 8, "dates": ["2026-04-28", "2026-05-08", "2026-05-15"], "document_count": 3, "sources": [{"document_id": "1327859", "title": "Demonstrações Financeiras - Fusão, cisão e incorporação", "reference_date": "2026-05-15", "version": "1", "page": 10, "url": "https://fnet.bmfbovespa.com.br/fnet/publico/visualizarDocumento?id=1327859", "sha256": "dca1c68babb97f887528c3e2e47596a9c30f507b067981a35655b2f2da9c8054"}, {"document_id": "1298691", "title": "Demonstrações Financeiras - Fusão, cisão e incorporação", "reference_date": "2026-05-08", "version": "1", "page": 10, "url": "https://fnet.bmfbovespa.com.br/fnet/publico/visualizarDocumento?id=1298691", "sha256": "58c570d9b8d4d265330d3db3ea81c435b8e44a6dab4002aa37790652a1ee9819"}, {"document_id": "1282180", "title": "Demonstrações Financeiras - Fusão, cisão e incorporação", "reference_date": "2026-04-28", "version": "1", "page": 10, "url": "https://fnet.bmfbovespa.com.br/fnet/publico/visualizarDocumento?id=1282180", "sha256": "afaaa0e6809be4385e5bdb6c911aac582032c5bdbac3d7750234bf9eaf00438a"}], "reference": {"path": "history/63953620000165.json", "criterion_id": "revolving", "total_count": 8, "preview_count": 3, "full_text_deferred": true, "sha256": "a7b89077f5e21098c2d601c303faabc3ff6b9729f89d8afecdc60fe1404720c1"}}</a:t>
            </a:r>
          </a:p>
          <a:p>
            <a:r>
              <a:t>CNPJ 54871427000194 · Cessões, preço e carteira residual · Motivo: Não localizada uma cláusula material para este critério nos textos identificados e processados. A ausência de resultado não comprova inexistência da regra.</a:t>
            </a:r>
          </a:p>
          <a:p>
            <a:r>
              <a:t>CNPJ 60010416000112 · Cessões, preço e carteira residual · Motivo: Não localizada uma cláusula material para este critério nos textos identificados e processados. A ausência de resultado não comprova inexistência da regra.</a:t>
            </a:r>
          </a:p>
          <a:p>
            <a:r>
              <a:t>CNPJ 62696791000193 · Cessões, preço e carteira residual · Regulamento · ID 1143317 · 2026-03-20 · versão 1 · p. 14 · 4.22 · https://fnet.bmfbovespa.com.br/fnet/publico/visualizarDocumento?id=1143317</a:t>
            </a:r>
          </a:p>
          <a:p>
            <a:r>
              <a:t>CNPJ 62696791000193 · Cessões, preço e carteira residual · Excerto da fonte:</a:t>
            </a:r>
          </a:p>
          <a:p>
            <a:r>
              <a:t>4.22 A Classe poderá participar de operações de securitização por meio de cessão de direitos creditórios de  que seja titular, incluindo, exemplificativamente, créditos de locação, venda ou direito real de superfície.</a:t>
            </a:r>
          </a:p>
          <a:p>
            <a:r>
              <a:t>CNPJ 62696791000193 · Cessões, preço e carteira residual · Condição: Documentos atuais selecionados no inventário por categoria/escopo; a data documental isolada não comprova vigência jurídica.</a:t>
            </a:r>
          </a:p>
          <a:p>
            <a:r>
              <a:t>CNPJ 62696791000193 · Cessões, preço e carteira residual · Versão e prevalência: Documentos atuais selecionados no inventário por categoria/escopo; a data documental isolada não comprova vigência jurídica.</a:t>
            </a:r>
          </a:p>
          <a:p>
            <a:r>
              <a:t>CNPJ 55563624000109 · Cessões, preço e carteira residual · Regulamento · ID 1192614 · 2026-04-30 · versão 1 · p. 12 · 4.5 · https://fnet.bmfbovespa.com.br/fnet/publico/visualizarDocumento?id=1192614</a:t>
            </a:r>
          </a:p>
          <a:p>
            <a:r>
              <a:t>CNPJ 55563624000109 · Cessões, preço e carteira residual · Excerto da fonte:</a:t>
            </a:r>
          </a:p>
          <a:p>
            <a:r>
              <a:t>4.5 Uma vez que o investimento nas Cotas da Classe Investida não corresponde a um investimento direto em direitos  creditórios, uma série de disposições comuns à securitização de direitos creditórios não será aplicável ao  investimento nas Cotas da Classe Investida. A título meramente exemplificativo, não existem processos de  originação ou política de concessão de crédito adotada pelo GESTOR, tampouco há que se falar em verificação  ou guarda de documentos comprobatórios que não sejam referentes às Cotas da Classe Investida. Da mesma  forma, não há necessidade de se prever a adoção de procedimentos específicos para a cobrança das Cotas da  Classe Investida. Cada Cotista deverá atestar que está ciente e concorda com o disposto neste item 4.5, por meio  da assinatura do Termo de Adesão.</a:t>
            </a:r>
          </a:p>
          <a:p>
            <a:r>
              <a:t>CNPJ 55563624000109 · Cessões, preço e carteira residual · Condição: Documentos atuais selecionados no inventário por categoria/escopo; a data documental isolada não comprova vigência jurídica.</a:t>
            </a:r>
          </a:p>
          <a:p>
            <a:r>
              <a:t>CNPJ 55563624000109 · Cessões, preço e carteira residual · Motivo: Cláusula primária localizada e citada, mas sua lista/condições extensas não admitem uma síntese literal curta confirmada. O trecho integral permanece nas fontes.</a:t>
            </a:r>
          </a:p>
          <a:p>
            <a:r>
              <a:t>CNPJ 55563624000109 · Cessões, preço e carteira residual · Versão e prevalência: Documentos atuais selecionados no inventário por categoria/escopo; a data documental isolada não comprova vigência jurídica.</a:t>
            </a:r>
          </a:p>
          <a:p>
            <a:r>
              <a:t>CNPJ 62552447000120 · Cessões, preço e carteira residual · Motivo: Não localizada uma cláusula material para este critério nos textos identificados e processados. A ausência de resultado não comprova inexistência da regra.</a:t>
            </a:r>
          </a:p>
          <a:p>
            <a:r>
              <a:t>CNPJ 63953620000165 · Cessões, preço e carteira residual · Motivo: Não localizada uma cláusula material para este critério nos textos identificados e processados. A ausência de resultado não comprova inexistência da regra.</a:t>
            </a:r>
          </a:p>
          <a:p>
            <a:r>
              <a:t>CNPJ 54871427000194 · Juros, amortização e vencimento · Regulamento · ID 670691 · 28/04/2024 · versão Regulamento — referência 28/04/2024 · p. 15 · Anexo I, 6.1–6.2 e 7.2–7.4 · https://fnet.bmfbovespa.com.br/fnet/publico/visualizarDocumento?id=670691</a:t>
            </a:r>
          </a:p>
          <a:p>
            <a:r>
              <a:t>CNPJ 54871427000194 · Juros, amortização e vencimento · Excerto da fonte:</a:t>
            </a:r>
          </a:p>
          <a:p>
            <a:r>
              <a:t>6.1 As Cotas terão seu Valor Unitário calculado e divulgado pelo ADMINISTRADOR mensalmente, no último Dia Útil de cada mês, no fechamento dos mercados, a partir do mês seguinte à Data da 1ª Integralização e até a data de resgate das Cotas ou na data de liquidação da Classe Única, conforme o caso. 6.2 A partir da Data da 1ª Integralização de Cotas, o Valor Unitário das Cotas s erá calculado no fechamento do último Dia Útil de cada mês, equivalerá ao resultado da divisão do valor do Patrimônio Líquido apurado para o respectivo dia, pelo número de Cotas em circulação na respectiva data de cálculo . CAPÍTULO 7 – AMORTIZAÇÃO E RESGATE DAS COTAS 7.1 A distribuição de quaisquer ganhos e rendimentos d a Classe aos Cotistas será f eita exclusivamente mediante a Amortização e/ou o resgate de Cotas, observado o disposto neste Capítulo. 7.2 As amortizações de Cotas serão realizadas a qualquer tempo, a critério do GESTOR, observada a disponibilidade de recursos da Classe Única e a ordem de alocação de recursos prevista neste Anexo Descritivo. 7.3 As Cotas serão amortizadas mediante orientação do GESTOR e/ou deliberação da Assembleia Especial de Cotistas, observada a ordem de alocação de recursos previ</a:t>
            </a:r>
          </a:p>
          <a:p>
            <a:r>
              <a:t>CNPJ 54871427000194 · Juros, amortização e vencimento · Motivo: Cláusula primária localizada e citada, mas sua lista/condições extensas não admitem uma síntese literal curta confirmada. O trecho integral permanece nas fontes. A resposta da revisão anterior foi preservada no histórico, sem confirmação pelo documento atual.</a:t>
            </a:r>
          </a:p>
          <a:p>
            <a:r>
              <a:t>CNPJ 54871427000194 · Juros, amortização e vencimento · Versão e prevalência: Leitura específica das cláusulas indicadas; condições e conflitos preservados. Seleção documental atual não comprova vigência jurídica por data isolada.</a:t>
            </a:r>
          </a:p>
          <a:p>
            <a:r>
              <a:t>CNPJ 54871427000194 · Juros, amortização e vencimento · Resumo do histórico: {"count": 2, "dates": ["2024-04-19", "2024-04-28"], "document_count": 2, "sources": [{"document_id": "670691", "title": "Regulamento", "reference_date": "2024-04-28", "version": "1", "page": "15", "url": "https://fnet.bmfbovespa.com.br/fnet/publico/visualizarDocumento?id=670691", "sha256": "bf16dd7f1a62d5cdbf2e2d54fef81783783f7310fbc99c3a8f00459bdf9d037b"}, {"document_id": "670689", "title": "Regulamento", "reference_date": "2024-04-19", "version": "1", "page": 30, "url": "https://fnet.bmfbovespa.com.br/fnet/publico/visualizarDocumento?id=670689", "sha256": "891bc9bc5d87bbc02ec139077a84d2702eb81ea02035fb71d24f5b8366b94a0b"}], "reference": {"path": "history/54871427000194.json", "criterion_id": "payments", "total_count": 2, "preview_count": 2, "full_text_deferred": true, "sha256": "35d7cd99be50c7287c9fb675cf4f2e736002315295a225a9efa79c8d9186d874"}}</a:t>
            </a:r>
          </a:p>
          <a:p>
            <a:r>
              <a:t>CNPJ 60010416000112 · Juros, amortização e vencimento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Juros, amortização e vencimento · Resumo do histórico: {"count": 1, "dates": ["2025-03-20"], "document_count": 1, "sources": [{"document_id": "993785", "title": "Instrumento Particular de Constituição/Encerramento do Fundo", "reference_date": "2025-03-20", "version": "1", "page": "5-6", "url": "https://fnet.bmfbovespa.com.br/fnet/publico/visualizarDocumento?id=993785", "sha256": "0826e0eae2c51afabf59bbc49fc7647598d03da5ca6de0f9725850a8bd6af457"}], "reference": {"path": "history/60010416000112.json", "criterion_id": "payments", "total_count": 1, "preview_count": 1, "full_text_deferred": true, "sha256": "8e2bd813f4c51cf01f6bfaad164bafe69d2bbb192f753eac92da3a01c2e63046"}}</a:t>
            </a:r>
          </a:p>
          <a:p>
            <a:r>
              <a:t>CNPJ 62696791000193 · Juros, amortização e vencimento · Regulamento · ID 1143317 · 20/03/2026 · versão Regulamento — referência 20/03/2026 · p. 34 · Apêndice Sênior, 6.1–6.1.1 · https://fnet.bmfbovespa.com.br/fnet/publico/visualizarDocumento?id=1143317</a:t>
            </a:r>
          </a:p>
          <a:p>
            <a:r>
              <a:t>CNPJ 62696791000193 · Juros, amortização e vencimento · Excerto da fonte:</a:t>
            </a:r>
          </a:p>
          <a:p>
            <a:r>
              <a:t>6.1. Desde que o Patrimônio Líquido da Classe assim permita, a partir de janeiro de 2026, as Cotas Seniores f arão jus à Amortização semestral do Benchmark, a ser realizada no último Dia Útil dos meses de janeiro e de julho de cada ano (“Amortização Programada de Cotas Seniores” e “Data de Amortização Programada de Cotas Seniores”, respectivamente), observada a Ordem de Alocação de Recursos prevista no Anexo. 6.1.1. Caso, em uma Data de Amortização Programa de Cotas Seniores, a Classe não tenha recursos disponíveis suficientes para o seu pagamento integral a diferença entre (i) o Benchmark Sênior apurado e (ii) os valores ef etivamente Amortizados aos Cotistas Seniores será automaticamente acumulada para pagamento na próxima Data de Amortização Programa de Cotas Seniores , e assim subsequentemente quando não for possível o pagamento total da diferença na Data de Amortização Programa de Cotas Seniores seguinte, até o pagamento integral do Benchmark Sênior apurado e devido no respectivo período. 6.2. Em complemento às Amortizações Programadas de Cotas Seniores, os Cotistas Seniores f arão jus, sempre que o Patrimônio Líquido da Classe assim permita e desde que o Valor Unitário das Cotas Seniores e</a:t>
            </a:r>
          </a:p>
          <a:p>
            <a:r>
              <a:t>CNPJ 62696791000193 · Juros, amortização e vencimento · Regulamento · ID 1143317 · 20/03/2026 · versão Regulamento — referência 20/03/2026 · p. 37 · Apêndice Júnior, 4.1 · https://fnet.bmfbovespa.com.br/fnet/publico/visualizarDocumento?id=1143317</a:t>
            </a:r>
          </a:p>
          <a:p>
            <a:r>
              <a:t>CNPJ 62696791000193 · Juros, amortização e vencimento · Excerto da fonte:</a:t>
            </a:r>
          </a:p>
          <a:p>
            <a:r>
              <a:t>4.1. Caso o Patrimônio Líquido da Classe assim permita, as Cotas Subordinadas f arão jus à amortização semestral, no último Dia Útil dos meses de janeiro e julho de cada ano, de valor equivalente ao excedente do valor de integralização das Cotas Subordinadas em circulação, limitado ao percentual de 100% (cem por cento) da variação positiva do CDI acrescida de 4,50% (quatro inteiros e cinco décimos por cento) ao ano, considerando, para tanto a razão entre (i) o valor de integralização das Cotas Subordinadas Júnior em circulação e (ii) o valor de cada uma das Cotas Subordinadas, a ser paga na Data de Amortização Programada de Cotas Seniores (“Amortização das Cotas Subordinadas”). 4.2. Em complemento às Amortizações das Cotas Subordinadas, os Cotistas Subordinados farão jus, sempre que o Patrimônio Líquido da Classe assim permita e desde que o Valor Unitário das Cotas Subordinadas esteja superior ao valor de integralização das Cotas Subordinadas em circulação, a 50% (cinquenta por cento) de qualquer valor que exceder a Amortização das Cotas Subordinadas, a ser paga na Data de Amortização Programada de Cotas Seniores (“Amortização Extraordinária de Cotas Seniores”). 5. Excesso de Subordinação 5.1. Verif icado excesso de subordinação,</a:t>
            </a:r>
          </a:p>
          <a:p>
            <a:r>
              <a:t>CNPJ 62696791000193 · Juros, amortização e vencimento · Regulamento · ID 1143317 · 20/03/2026 · versão Regulamento — referência 20/03/2026 · p. 6 · Anexo I, 1.1, Condomínio e Prazo · https://fnet.bmfbovespa.com.br/fnet/publico/visualizarDocumento?id=1143317</a:t>
            </a:r>
          </a:p>
          <a:p>
            <a:r>
              <a:t>CNPJ 62696791000193 · Juros, amortização e vencimento · Excerto da fonte:</a:t>
            </a:r>
          </a:p>
          <a:p>
            <a:r>
              <a:t>Tipo de Condomínio Fechado. Indeterminado, exceto se de outra f orma vier a ser deliberado pelos Prazo de Duração cotistas da Classe (“Cotistas”) reunidos em assembleia geral de Cotistas. A Classe tem por objetivo proporcionar aos Cotistas a valorização e a rentabilidade de suas cotas (“Cotas”), conforme a política de investimentos def inida no Capítulo IV abaixo (“Política de Investimentos”), por meio de aplicação do seu Patrimônio Líquido (conforme def inido abaixo) nos seguintes ativos de origem vinculada às cadeias produtivas do agronegócio (“Direitos Creditórios do Agronegócio”): (i) títulos de crédito emitidos por pessoas naturais e jurídicas que integrem as cadeias produtivas do agronegócio; (ii) direitos creditórios do agronegócio; (iii) certificados d</a:t>
            </a:r>
          </a:p>
          <a:p>
            <a:r>
              <a:t>CNPJ 62696791000193 · Juros, amortização e vencimento · Condição: A agenda começa em janeiro/2026 dentro de consolidado vigente apenas no fechamento de 23/03/2026. O documento anterior não foi obtido para reconstruir a regra de janeiro/fevereiro.</a:t>
            </a:r>
          </a:p>
          <a:p>
            <a:r>
              <a:t>CNPJ 62696791000193 · Juros, amortização e vencimento · Versão e prevalência: Leitura específica das cláusulas indicadas; condições e conflitos preservados. Seleção documental atual não comprova vigência jurídica por data isolada.</a:t>
            </a:r>
          </a:p>
          <a:p>
            <a:r>
              <a:t>CNPJ 62696791000193 · Juros, amortização e vencimento · Resumo do histórico: {"count": 1, "dates": ["2026-03-27"], "document_count": 1, "sources": [{"document_id": "1148821", "title": "Instrumento Particular de Emissão de Cotas", "reference_date": "2026-03-27", "version": "1", "page": "2", "url": "https://fnet.bmfbovespa.com.br/fnet/publico/visualizarDocumento?id=1148821", "sha256": "86900e9dd498403696bfffbd4196443c83ec4d51ff21135e073c1966e1adf4c0"}], "reference": {"path": "history/62696791000193.json", "criterion_id": "payments", "total_count": 1, "preview_count": 1, "full_text_deferred": true, "sha256": "0e9ec199848320ec945708123ae0cb6075d76c05d94beed814d582031d353926"}}</a:t>
            </a:r>
          </a:p>
          <a:p>
            <a:r>
              <a:t>CNPJ 55563624000109 · Juros, amortização e vencimento · Regulamento · ID 1192614 · 30/04/2026 · versão Regulamento30/04/2026 · p. 45 · ApêndiceA3.1 · https://fnet.bmfbovespa.com.br/fnet/publico/visualizarDocumento?id=1192614</a:t>
            </a:r>
          </a:p>
          <a:p>
            <a:r>
              <a:t>CNPJ 55563624000109 · Juros, amortização e vencimento · Excerto da fonte:</a:t>
            </a:r>
          </a:p>
          <a:p>
            <a:r>
              <a:t>3.1. O prazo das Cotas Subclasse A encerra em 19 de junho de 2026. 4. Condições de Emissão, Distribuição, Subscrição, Integralização, Remuneração, Amortização e Resgate de Cotas Subclasse A: 4.1. Após a primeira Data de Emissão de Cotas, eventuais novas emissões de Cotas Subclasse A somente poderão ser realizadas (i) diretamente pelo ADMINISTRADOR por orientação do GESTOR, desde que limitado ao Capital Autorizado; ou (ii) com a aprovação de Assembleia Especial de Cotistas, observados os quóruns específicos, conforme aplicável, sendo que o valor de emissão, o volume e demais carac</a:t>
            </a:r>
          </a:p>
          <a:p>
            <a:r>
              <a:t>CNPJ 55563624000109 · Juros, amortização e vencimento · Regulamento · ID 1192614 · 30/04/2026 · versão Regulamento30/04/2026 · p. 47 · ApêndiceB3.2 · https://fnet.bmfbovespa.com.br/fnet/publico/visualizarDocumento?id=1192614</a:t>
            </a:r>
          </a:p>
          <a:p>
            <a:r>
              <a:t>CNPJ 55563624000109 · Juros, amortização e vencimento · Excerto da fonte:</a:t>
            </a:r>
          </a:p>
          <a:p>
            <a:r>
              <a:t>3.2. O prazo das Cotas Subclasse B encerra em 19 de junho de 2028. 4. Condições de Emissão, Distribuição, Subscrição, Integralização, Remuneração, Amortização e Resgate de Cotas Subclasse B: 4.1. Após a primeira Data de Emissão de Cotas, eventuais novas emissões de Cotas Subclasse B somente poderão ser realizadas (i) diretamente pelo ADMINISTRADOR por orientação do GESTOR, desde que limitado ao Capital Autorizado; ou (ii) com a aprovação de Assembleia Especial de Cotistas, observados os quóruns específicos, conforme aplicável, sendo que o valor de emissão, o volume e de</a:t>
            </a:r>
          </a:p>
          <a:p>
            <a:r>
              <a:t>CNPJ 55563624000109 · Juros, amortização e vencimento · Regulamento · ID 1192614 · 30/04/2026 · versão Regulamento30/04/2026 · p. 49 · ApêndiceC3.1 · https://fnet.bmfbovespa.com.br/fnet/publico/visualizarDocumento?id=1192614</a:t>
            </a:r>
          </a:p>
          <a:p>
            <a:r>
              <a:t>CNPJ 55563624000109 · Juros, amortização e vencimento · Excerto da fonte:</a:t>
            </a:r>
          </a:p>
          <a:p>
            <a:r>
              <a:t>3.1. O prazo das Cotas Subclasse C encerra em 19 de junho de 2027. 4. Condições de Emissão, Distribuição, Subscrição, Integralização, Remuneração, Amortização e Resgate de Cotas Subclasse C: 4.1. Após a primeira Data de Emissão de Cotas, eventuais novas emissões de Cotas Subclasse C somente poderão ser realizadas (i) diretamente pelo ADMINISTRADOR por orientação do GESTOR, desde que limitado ao Capital Autorizado; ou (ii) com a aprovação de Assembleia Especial de Cotistas, observados os quóruns específicos, conforme aplicável, sendo que o valor de emissão, o volume e demais car</a:t>
            </a:r>
          </a:p>
          <a:p>
            <a:r>
              <a:t>CNPJ 55563624000109 · Juros, amortização e vencimento · Regulamento · ID 1192614 · 30/04/2026 · versão Regulamento30/04/2026 · p. 18 · AnexoI7.3–7.4 · https://fnet.bmfbovespa.com.br/fnet/publico/visualizarDocumento?id=1192614</a:t>
            </a:r>
          </a:p>
          <a:p>
            <a:r>
              <a:t>CNPJ 55563624000109 · Juros, amortização e vencimento · Excerto da fonte:</a:t>
            </a:r>
          </a:p>
          <a:p>
            <a:r>
              <a:t>7.3 Os pagamentos das parcelas de amortização e/ou de resgate das Cotas serão efetuados, como regra geral, em moeda corrente nacional, pelo valor da Cota apurado no fechamento dos mercados no segundo Dia Útil imediatamente anterior ao do pagamento, por meio (i) da B3, se assim aplicável, ou (ii) de depósito em conta corrente de titularidade dos Cotistas, mediante qualquer mecanismo de transferência de recursos autorizado pelo BACEN. 7.4 Quando a data estipulada para pagamento de amortização ou resgate de Cotas se der em dia que seja feriado</a:t>
            </a:r>
          </a:p>
          <a:p>
            <a:r>
              <a:t>CNPJ 55563624000109 · Juros, amortização e vencimento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Juros, amortização e vencimento · Versão e prevalência: Leitura específica das cláusulas indicadas; condições e conflitos preservados. Seleção documental atual não comprova vigência jurídica por data isolada.</a:t>
            </a:r>
          </a:p>
          <a:p>
            <a:r>
              <a:t>CNPJ 55563624000109 · Juros, amortização e vencimento · Resumo do histórico: {"count": 1, "dates": ["2026-04-30"], "document_count": 1, "sources": [{"document_id": "1192614", "title": "Regulamento", "reference_date": "2026-04-30", "version": "1", "page": "17-18", "url": "https://fnet.bmfbovespa.com.br/fnet/publico/visualizarDocumento?id=1192614", "sha256": "f56e63ace0acde41d2f47fb48f1ac7f3f7df5e2d32de092d7c5e075a52516632"}], "reference": {"path": "history/55563624000109.json", "criterion_id": "payments", "total_count": 1, "preview_count": 1, "full_text_deferred": true, "sha256": "7835d573fb58a3c19adf5b8ecc2aee2bdbb9a88f7a0c0209b5f262b64c7522e3"}}</a:t>
            </a:r>
          </a:p>
          <a:p>
            <a:r>
              <a:t>CNPJ 62552447000120 · Juros, amortização e vencimento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Juros, amortização e vencimento · Resumo do histórico: {"count": 1, "dates": ["2025-09-03"], "document_count": 1, "sources": [{"document_id": "988020", "title": "Instrumento Particular de Emissão de Cotas", "reference_date": "2025-09-03", "version": "1", "page": "6", "url": "https://fnet.bmfbovespa.com.br/fnet/publico/visualizarDocumento?id=988020", "sha256": "8ecc8a771bb9713d64e5fc2052c489664cb0433801a9280db68e5187d35bf7a5"}], "reference": {"path": "history/62552447000120.json", "criterion_id": "payments", "total_count": 1, "preview_count": 1, "full_text_deferred": true, "sha256": "d95db8c0613d67ee84118c734588665265ea6b02f86a0318d6a844cbe1d0f82f"}}</a:t>
            </a:r>
          </a:p>
          <a:p>
            <a:r>
              <a:t>CNPJ 63953620000165 · Juros, amortização e vencimento · Anexo ao Regulamento · ID 1222863 · 02/06/2026 · versão AnexoConsignadoPrivado02/06/2026 · p. 23 · ApêndiceSênior5.1–5.2 · https://fnet.bmfbovespa.com.br/fnet/publico/visualizarDocumento?id=1222863</a:t>
            </a:r>
          </a:p>
          <a:p>
            <a:r>
              <a:t>CNPJ 63953620000165 · Juros, amortização e vencimento · Excerto da fonte:</a:t>
            </a:r>
          </a:p>
          <a:p>
            <a:r>
              <a:t>5.1. Durante o Período de Investimento, desde que o Patrimônio Líquido da Classe assim permita, as Cotas Seniores farão jus à Amortização trimestral do saldo do Benchmark Sênior a ser realizada no 5º Dia Útil do mês (“Amortização de Benchmark das Cotas Seniores” e “Data de Amortização por Regime de Caixa de Cotas Seniores”, respectivamente). 5.2. Encerrado o Período de Investimento, desde que o Patrimônio Líquido da Classe assim permita, as Cotas Seniores farão jus à Amortização Programada de Cotas Seniores referente ao saldo do Benchmark Sênior ainda não amortizado e ao do saldo do seu Valor Unitário, conforme aplicável, a ser realizada em cada Data d</a:t>
            </a:r>
          </a:p>
          <a:p>
            <a:r>
              <a:t>CNPJ 63953620000165 · Juros, amortização e vencimento · Anexo ao Regulamento · ID 1222863 · 02/06/2026 · versão AnexoConsignadoPrivado02/06/2026 · p. 25 · ApêndiceSubordinada5.1–5.2 · https://fnet.bmfbovespa.com.br/fnet/publico/visualizarDocumento?id=1222863</a:t>
            </a:r>
          </a:p>
          <a:p>
            <a:r>
              <a:t>CNPJ 63953620000165 · Juros, amortização e vencimento · Excerto da fonte:</a:t>
            </a:r>
          </a:p>
          <a:p>
            <a:r>
              <a:t>5.1. Encerrado o Período de Investimento, desde que o Patrimônio Líquido da Classe assim permita e desde que atendido o Índice de Subordinação Alvo, as Cotas Subordinadas farão jus à Amortização [trimestral] do saldo do seu Valor Unitário, consideradas pro forma todas as amortizações pretendidas, seja atendida o Índice de Subordinação Sênior, conforme aplicável, a ser realizada no 5º Dia Útil do mês (“Amortização por Regime de Caixa Cotas Subordinadas” e “Data de Amortização Programada de Cotas Subordinadas”, respectivamente), observada a Ordem de Alocação de Recursos prevista na Classe. 5.2. Durante o Período de Investimento, as Cotas Subordi</a:t>
            </a:r>
          </a:p>
          <a:p>
            <a:r>
              <a:t>CNPJ 63953620000165 · Juros, amortização e vencimento · Condição: Periodicidade em colchetes no apêndice subordinado sinaliza redação não finalizada; não transformar em calendário confirmado.</a:t>
            </a:r>
          </a:p>
          <a:p>
            <a:r>
              <a:t>CNPJ 63953620000165 · Juros, amortização e vencimento · Motivo: Não localizada uma cláusula material para este critério nos textos identificados e processados. A ausência de resultado não comprova inexistência da regra.</a:t>
            </a:r>
          </a:p>
          <a:p>
            <a:r>
              <a:t>CNPJ 63953620000165 · Juros, amortização e vencimento · Versão e prevalência: Leitura específica das cláusulas indicadas; condições e conflitos preservados. Seleção documental atual não comprova vigência jurídica por data isolada.</a:t>
            </a:r>
          </a:p>
          <a:p>
            <a:r>
              <a:t>CNPJ 54871427000194 · Carência das cotas · Motivo: Não localizada uma cláusula material para este critério nos textos identificados e processados. A ausência de resultado não comprova inexistência da regra.</a:t>
            </a:r>
          </a:p>
          <a:p>
            <a:r>
              <a:t>CNPJ 60010416000112 · Carência das cotas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Carência das cotas · Resumo do histórico: {"count": 1, "dates": ["2025-10-09"], "document_count": 1, "sources": [{"document_id": "1051393", "title": "Regulamento", "reference_date": "2025-10-09", "version": "1", "page": "12, 15", "url": "https://fnet.bmfbovespa.com.br/fnet/publico/visualizarDocumento?id=1051393", "sha256": "8469d613078ffd5a6c1d217885d8a397a16342c0b937ae4aa24b106505f233ae"}], "reference": {"path": "history/60010416000112.json", "criterion_id": "quota_grace", "total_count": 1, "preview_count": 1, "full_text_deferred": true, "sha256": "8e2bd813f4c51cf01f6bfaad164bafe69d2bbb192f753eac92da3a01c2e63046"}}</a:t>
            </a:r>
          </a:p>
          <a:p>
            <a:r>
              <a:t>CNPJ 62696791000193 · Carência das cotas · Motivo: Não localizada uma cláusula material para este critério nos textos identificados e processados. A ausência de resultado não comprova inexistência da regra.</a:t>
            </a:r>
          </a:p>
          <a:p>
            <a:r>
              <a:t>CNPJ 55563624000109 · Carência das cotas · Motivo: Não localizada uma cláusula material para este critério nos textos identificados e processados. A ausência de resultado não comprova inexistência da regra.</a:t>
            </a:r>
          </a:p>
          <a:p>
            <a:r>
              <a:t>CNPJ 62552447000120 · Carência das cotas · Motivo: Não localizada uma cláusula material para este critério nos textos identificados e processados. A ausência de resultado não comprova inexistência da regra.</a:t>
            </a:r>
          </a:p>
          <a:p>
            <a:r>
              <a:t>CNPJ 63953620000165 · Carência das cotas · Motivo: Não localizada uma cláusula material para este critério nos textos identificados e processados. A ausência de resultado não comprova inexistência da regra.</a:t>
            </a:r>
          </a:p>
          <a:p>
            <a:r>
              <a:t>CNPJ 54871427000194 · Vencimento das cotas · Regulamento · ID 670691 · 2024-04-28 · versão 1 · p. 29 · https://fnet.bmfbovespa.com.br/fnet/publico/visualizarDocumento?id=670691</a:t>
            </a:r>
          </a:p>
          <a:p>
            <a:r>
              <a:t>CNPJ 54871427000194 · Vencimento das cotas · Excerto da fonte:</a:t>
            </a:r>
          </a:p>
          <a:p>
            <a:r>
              <a:t>Anexo I ao Regulamento CLASSE ÚNICA DE RESPONSABILIDADE LIMITADA DO CONSIGNADO DELTA RECEIVABLES I FUNDO DE INVESTIMENTO EM DIREITOS CREDITÓRIOS  pelo Endossante e depositados em seu conta de sua titularidade para posterior repasse à  Classe. Neste caso, a Classe poderá sofrer perdas principalmente em relação ao atraso na  regularização da titularidade e pagamento dos Direitos Creditórios.</a:t>
            </a:r>
          </a:p>
          <a:p>
            <a:r>
              <a:t> (v) Risco de pré-pagamento dos Direitos Creditórios. A ocorrência de pré-  pagamentos em relação a um ou mais Direitos Creditórios poderá ocasionar perdas à Classe.</a:t>
            </a:r>
          </a:p>
          <a:p>
            <a:r>
              <a:t> A ocorrência de pré-pagamentos (pagamento em data anterior àquela originalmente pactuada)  de Direitos Creditórios reduz o horizonte original de rendimentos esperados pela Classe de  tais Direitos Creditórios, uma vez que o pré-pagamento poderá, se assim permitido pela  documentação do Direito Creditório ou, conf orme o caso, pela legislação aplicável, ser  realizado pelo valor de emissão do Direito Creditório atualizado até a data do pré-pagamento  pela taxa de juros pactuada entre os Endossantes e os Devedores de tais Direitos Creditórios,  de modo que os juros remuneratórios incidentes desde a data da realização do pré-pagamento  até a data de vencimento do respectivo Direito Creditório deixam de ser devidos à Classe.</a:t>
            </a:r>
          </a:p>
          <a:p>
            <a:r>
              <a:t> (vi) Riscos associados aos Devedores: os Direitos Creditórios a serem cedidos à  Classe serão descontados da remuneração do Devedor, através de desconto em f olha de  pagamento ou de benefício. Nesse sentido, na ocorrência de pré-pagamento, as parcelas  serão pagas antecipadamente e a Classe deverá utilizar tais montantes no pré-pagamento dos  Direitos Creditórios. Nesta hipótese, a Classe poderá não encontrar Direitos Creditórios  disponíveis para serem adquiridos pela Classe, o que poderá afetar a rentabilidade da Classe.</a:t>
            </a:r>
          </a:p>
          <a:p>
            <a:r>
              <a:t> (vii) Risco de Competição: o mercado de empréstimos experimentou grande  expansão no Brasil nos últimos anos. Nesse contexto, a Resolução CMN nº 4.292, alterada  pela Resolução nº 4.762, de 27 de novembro de 2019, dispõe que deve ser garantido às  pessoas naturais devedoras de operações de crédito (tais como as CCB) a possibilidade de  realizarem a portabilidade destas operações para outras instituições financeiras, inclusive nos  casos em que tenham sido objeto de cessão (tais como as realizadas à Classe). Nesse  cenário, é possível que os competidores do Endossante ofereçam condições e taxas mais  vantajosas para os empréstimos pessoais com consignação em f olha de pagamento ou de  benef ícios, o que pode causar a migração de clientes da Endossante para outras instituições  f inanceiras, gerando a liquidação antecipada de parte das CCB existentes e/ou redução no  número de Direitos Creditórios cedidos. Referida competição poderá af etar os resultados da  Classe, impactando negativamente os rendimentos dos Cotistas. Ainda, a portabilidade a um  Devedor pode acarretar no recebimento de valores inf eriores aos esperados pela Classe.</a:t>
            </a:r>
          </a:p>
          <a:p>
            <a:r>
              <a:t> (viii) Insuf iciência dos Critérios de Elegibilidade. Os Critérios de Elegibilidade têm a  f inalidade de selecionar os Direitos Creditórios passíveis de aquisição pela Classe. Não  obstante tais Critérios de Elegibilidade, a solvência dos Direitos Creditórios que compõem a  Carteira depende integralmente, mas não somente, da situação econômico-financeira dos  Devedores. Dessa f orma, a observância pelo GESTOR dos Critérios de Elegibilidade não  constitui garantia de adimplência dos Devedores.</a:t>
            </a:r>
          </a:p>
          <a:p>
            <a:r>
              <a:t> Os Endossantes não necessariamente garantem a solvência dos seus respectivos Devedores.</a:t>
            </a:r>
          </a:p>
          <a:p>
            <a:r>
              <a:t> O Endossante dos Direitos Creditórios não assumirá responsabilidade pelo seu pagamento ou  pela solvência dos respectivos Devedores. A Classe sofrerá o impacto do inadimplemento dos  Direitos Creditórios vencidos e não pagos pelos respectivos Devedores.</a:t>
            </a:r>
          </a:p>
          <a:p>
            <a:r>
              <a:t> (ix) Possibilidade de aquisição de Direitos Creditórios cedidos por Endossante  e/ou devidos por Devedores cujas demonstrações financeiras não sejam auditadas. A Classe,  desde que sejam respeitados os limites de concentração previstos neste Regulamento, poderá  manter a qualquer tempo em sua Carteira, Direitos Creditórios cedidos por Endossante e/ou  devidos por Devedores cujas demonstrações f inanceiras não sejam auditadas por Auditor  Independente registrado na CVM. Nesse sentido, não haverá verificação independente sobre  tais demonstrações f inanceiras que af irme se estas representam adequadamente, em todos  os aspectos relevantes, as respectivas posições patrimoniais e f inanceiras, os resultados de  suas operações, as mutações de seus respectivos patrimônios líquidos tampouco as origens  e aplicações de seus recursos.</a:t>
            </a:r>
          </a:p>
          <a:p>
            <a:r>
              <a:t>CNPJ 54871427000194 · Vencimento das cotas · Condição: Documentos atuais selecionados no inventário por categoria/escopo; a data documental isolada não comprova vigência jurídica.</a:t>
            </a:r>
          </a:p>
          <a:p>
            <a:r>
              <a:t>CNPJ 54871427000194 · Vencimento das cotas · Motivo: Cláusula primária localizada e citada, mas sua lista/condições extensas não admitem uma síntese literal curta confirmada. O trecho integral permanece nas fontes. A resposta da revisão anterior foi preservada no histórico, sem confirmação pelo documento atual.</a:t>
            </a:r>
          </a:p>
          <a:p>
            <a:r>
              <a:t>CNPJ 54871427000194 · Vencimento das cotas · Versão e prevalência: Documentos atuais selecionados no inventário por categoria/escopo; a data documental isolada não comprova vigência jurídica.</a:t>
            </a:r>
          </a:p>
          <a:p>
            <a:r>
              <a:t>CNPJ 54871427000194 · Vencimento das cotas · Resumo do histórico: {"count": 2, "dates": ["2024-04-19", "2024-04-28"], "document_count": 2, "sources": [{"document_id": "670691", "title": "Regulamento", "reference_date": "2024-04-28", "version": "1", "page": "7, 15", "url": "https://fnet.bmfbovespa.com.br/fnet/publico/visualizarDocumento?id=670691", "sha256": "bf16dd7f1a62d5cdbf2e2d54fef81783783f7310fbc99c3a8f00459bdf9d037b"}, {"document_id": "670689", "title": "Regulamento", "reference_date": "2024-04-19", "version": "1", "page": 30, "url": "https://fnet.bmfbovespa.com.br/fnet/publico/visualizarDocumento?id=670689", "sha256": "891bc9bc5d87bbc02ec139077a84d2702eb81ea02035fb71d24f5b8366b94a0b"}], "reference": {"path": "history/54871427000194.json", "criterion_id": "quota_maturity", "total_count": 2, "preview_count": 2, "full_text_deferred": true, "sha256": "35d7cd99be50c7287c9fb675cf4f2e736002315295a225a9efa79c8d9186d874"}}</a:t>
            </a:r>
          </a:p>
          <a:p>
            <a:r>
              <a:t>CNPJ 60010416000112 · Vencimento das cotas · Demonstrações Financeiras - Fusão, cisão e incorporação · ID 1298690 · 2026-05-08 · versão 1 · p. 30 · https://fnet.bmfbovespa.com.br/fnet/publico/visualizarDocumento?id=1298690</a:t>
            </a:r>
          </a:p>
          <a:p>
            <a:r>
              <a:t>CNPJ 60010416000112 · Vencimento das cotas · Excerto da fonte:</a:t>
            </a:r>
          </a:p>
          <a:p>
            <a:r>
              <a:t>Durante o período de investimento, a Administradora poderá deliberar por realizar novas  emissões de Cotas Seniores, sem a necessidade de aprovação em Assembleia Especial de  Cotistas ou alteração do Regulamento, limitadas ao montante máximo de R$ 1.000.000 (um  bilhão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seniores emitidas não sejam superiores aos  prazos de vencimento da primeira emissão.</a:t>
            </a:r>
          </a:p>
          <a:p>
            <a:r>
              <a:t>CNPJ 60010416000112 · Vencimento das cotas · Demonstrações Financeiras - Fusão, cisão e incorporação · ID 1298690 · 2026-05-08 · versão 1 · p. 30 · https://fnet.bmfbovespa.com.br/fnet/publico/visualizarDocumento?id=1298690</a:t>
            </a:r>
          </a:p>
          <a:p>
            <a:r>
              <a:t>CNPJ 60010416000112 · Vencimento das cotas · Excerto da fonte:</a:t>
            </a:r>
          </a:p>
          <a:p>
            <a:r>
              <a:t>Durante o período de investimento, a Administradora poderá deliberar por realizar novas  emissões de cotas subordinadas, sem a necessidade de aprovação em Assembleia Especial  de Cotistas ou alteração do Regulamento, limitadas ao montante máximo de R$ 50.000  (cinquenta milhões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subordinadas emitidas não sejam  superiores aos prazos de vencimento da primeira emissão.</a:t>
            </a:r>
          </a:p>
          <a:p>
            <a:r>
              <a:t>CNPJ 60010416000112 · Vencimento das cotas · Condição: Documentos atuais selecionados no inventário por categoria/escopo; a data documental isolada não comprova vigência jurídica.</a:t>
            </a:r>
          </a:p>
          <a:p>
            <a:r>
              <a:t>CNPJ 60010416000112 · Vencimento das cotas · Motivo: Cláusula primária localizada e citada, mas sua lista/condições extensas não admitem uma síntese literal curta confirmada. O trecho integral permanece nas fontes. A resposta da revisão anterior foi preservada no histórico, sem confirmação pelo documento atual.</a:t>
            </a:r>
          </a:p>
          <a:p>
            <a:r>
              <a:t>CNPJ 60010416000112 · Vencimento das cotas · Versão e prevalência: Documentos atuais selecionados no inventário por categoria/escopo; a data documental isolada não comprova vigência jurídica.</a:t>
            </a:r>
          </a:p>
          <a:p>
            <a:r>
              <a:t>CNPJ 60010416000112 · Vencimento das cotas · Resumo do histórico: {"count": 3, "dates": ["2025-03-20", "2025-10-09"], "document_count": 2, "sources": [{"document_id": "1051393", "title": "Regulamento", "reference_date": "2025-10-09", "version": "1", "page": "8, 48, 53", "url": "https://fnet.bmfbovespa.com.br/fnet/publico/visualizarDocumento?id=1051393", "sha256": "8469d613078ffd5a6c1d217885d8a397a16342c0b937ae4aa24b106505f233ae"}, {"document_id": "1051393", "title": "Regulamento", "reference_date": "2025-10-09", "version": "1", "page": 48, "clause": "2.1.2", "url": "https://fnet.bmfbovespa.com.br/fnet/publico/visualizarDocumento?id=1051393", "sha256": "8469d613078ffd5a6c1d217885d8a397a16342c0b937ae4aa24b106505f233ae"}, {"document_id": "993786", "title": "Regulamento", "reference_date": "2025-03-20", "version": "1", "page": 48, "clause": "2.1.2", "url": "https://fnet.bmfbovespa.com.br/fnet/publico/visualizarDocumento?id=993786", "sha256": "fd0fdd369a195510d81f81f505195a0b09e5f43522a990afa7d58c4f872921c8"}], "reference": {"path": "history/60010416000112.json", "criterion_id": "quota_maturity", "total_count": 3, "preview_count": 3, "full_text_deferred": true, "sha256": "8e2bd813f4c51cf01f6bfaad164bafe69d2bbb192f753eac92da3a01c2e63046"}}</a:t>
            </a:r>
          </a:p>
          <a:p>
            <a:r>
              <a:t>CNPJ 62696791000193 · Vencimento das cotas · Motivo: Não localizada uma cláusula material para este critério nos textos identificados e processados. A ausência de resultado não comprova inexistência da regra.</a:t>
            </a:r>
          </a:p>
          <a:p>
            <a:r>
              <a:t>CNPJ 55563624000109 · Vencimento das cotas · Motivo: Não localizada uma cláusula material para este critério nos textos identificados e processados. A ausência de resultado não comprova inexistência da regra.</a:t>
            </a:r>
          </a:p>
          <a:p>
            <a:r>
              <a:t>CNPJ 62552447000120 · Vencimento das cotas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Vencimento das cotas · Resumo do histórico: {"count": 1, "dates": ["2025-09-03"], "document_count": 1, "sources": [{"document_id": "988020", "title": "Instrumento Particular de Emissão de Cotas", "reference_date": "2025-09-03", "version": "1", "page": "5", "url": "https://fnet.bmfbovespa.com.br/fnet/publico/visualizarDocumento?id=988020", "sha256": "8ecc8a771bb9713d64e5fc2052c489664cb0433801a9280db68e5187d35bf7a5"}], "reference": {"path": "history/62552447000120.json", "criterion_id": "quota_maturity", "total_count": 1, "preview_count": 1, "full_text_deferred": true, "sha256": "d95db8c0613d67ee84118c734588665265ea6b02f86a0318d6a844cbe1d0f82f"}}</a:t>
            </a:r>
          </a:p>
          <a:p>
            <a:r>
              <a:t>CNPJ 63953620000165 · Vencimento das cotas · Motivo: Não localizada uma cláusula material para este critério nos textos identificados e processados. A ausência de resultado não comprova inexistência da regra.</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Fluxo de caixa e prazo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Ordem de alocação de recursos · Regulamento · ID 670691 · 28/04/2024 · versão Regulamento — referência 28/04/2024 · p. 16 · Anexo I, 8.1–8.2 · https://fnet.bmfbovespa.com.br/fnet/publico/visualizarDocumento?id=670691</a:t>
            </a:r>
          </a:p>
          <a:p>
            <a:r>
              <a:t>CNPJ 54871427000194 · Ordem de alocação de recursos · Excerto da fonte:</a:t>
            </a:r>
          </a:p>
          <a:p>
            <a:r>
              <a:t>8.1 O Cotista que tenha apresentado documentação comprobatória de sua condição de imunidade ou isenção tributária, nos termos do item 7.7, e que tiver essa condição alterada ou revogada por disposição normativa, seja por deixar de atender às condições e requisitos prescritos no dispositivo legal aplicável, ou por ter tal condição questionada por autoridade judicial, fiscal ou regulamentar competente, ou, ainda, por ter tal condição alterada e/ou revogada por qualquer outra razão que não as mencionadas acima, deverá comunicar esse f ato, de f orma detalhada e por escrito, ao ADMINISTRADOR, com cópia para o CUSTODIANTE, bem como prestar qualquer inf ormação adicional em relação ao tema que lhe seja solicitada pelo ADMINISTRADOR e/ou pelo CUSTODIANTE. CAPÍTULO 8 – ORDEM DE ALOCAÇÃO DE RECURSOS 8.1 O ADMINISTRADOR e o GESTOR obrigam-se a, a partir da Data da 1ª Integralização de Cotas até a liquidação integral das Obrigações do da Classe, utilizar os recursos disponíveis na Conta da Classe e/ou mantidos em Ativos Financeiros de Liquidez, em cada Dia Útil, de acordo com a seguinte ordem de prioridade de alocação de modo que cada item abaixo listad</a:t>
            </a:r>
          </a:p>
          <a:p>
            <a:r>
              <a:t>CNPJ 54871427000194 · Ordem de alocação de recursos · Versão e prevalência: Leitura específica das cláusulas indicadas; condições e conflitos preservados. Seleção documental atual não comprova vigência jurídica por data isolada.</a:t>
            </a:r>
          </a:p>
          <a:p>
            <a:r>
              <a:t>CNPJ 54871427000194 · Ordem de alocação de recursos · Resumo do histórico: {"count": 2, "dates": ["2024-04-19", "2024-04-28"], "document_count": 2, "sources": [{"document_id": "670691", "title": "Regulamento", "reference_date": "2024-04-28", "version": "1", "page": "16", "url": "https://fnet.bmfbovespa.com.br/fnet/publico/visualizarDocumento?id=670691", "sha256": "bf16dd7f1a62d5cdbf2e2d54fef81783783f7310fbc99c3a8f00459bdf9d037b"}, {"document_id": "670689", "title": "Regulamento", "reference_date": "2024-04-19", "version": "1", "page": 16, "clause": "8.1", "url": "https://fnet.bmfbovespa.com.br/fnet/publico/visualizarDocumento?id=670689", "sha256": "891bc9bc5d87bbc02ec139077a84d2702eb81ea02035fb71d24f5b8366b94a0b"}], "reference": {"path": "history/54871427000194.json", "criterion_id": "waterfall", "total_count": 2, "preview_count": 2, "full_text_deferred": true, "sha256": "35d7cd99be50c7287c9fb675cf4f2e736002315295a225a9efa79c8d9186d874"}}</a:t>
            </a:r>
          </a:p>
          <a:p>
            <a:r>
              <a:t>CNPJ 60010416000112 · Ordem de alocação de recursos · Regulamento · ID 1051393 · 09/10/2025 · versão Regulamento09/10/2025 · p. 16 · AnexoI7.11(i)–(ii),7.12 · https://fnet.bmfbovespa.com.br/fnet/publico/visualizarDocumento?id=1051393</a:t>
            </a:r>
          </a:p>
          <a:p>
            <a:r>
              <a:t>CNPJ 60010416000112 · Ordem de alocação de recursos · Excerto da fonte:</a:t>
            </a:r>
          </a:p>
          <a:p>
            <a:r>
              <a:t>7.11 Sem prejuízo do disposto do disposto nos itens 7.1 a 7.10 acima, a partir da Data da 1ª Integralização de Cotas até a liquidação integral das Obrigações da Classe, sempre preservando a manutenção da boa ordem legal, administrativa e operacional da Classe, o Gestor obriga-se a utilizar os recursos disponíveis na Conta de Movimentação da Classe e/ou mantidos em Ativos Financeiros de Liquidez, em cada Dia Útil, de acordo com a seguinte ordem de prioridade de alocação, na forma dos itens e tabela abaixo, de modo que cada um dos itens listado apenas será contemplado após o direcionamento do montante</a:t>
            </a:r>
          </a:p>
          <a:p>
            <a:r>
              <a:t>CNPJ 60010416000112 · Ordem de alocação de recursos · Motivo: Cláusula primária localizada e citada, mas sua lista/condições extensas não admitem uma síntese literal curta confirmada. O trecho integral permanece nas fontes. A resposta da revisão anterior foi preservada no histórico, sem confirmação pelo documento atual.</a:t>
            </a:r>
          </a:p>
          <a:p>
            <a:r>
              <a:t>CNPJ 60010416000112 · Ordem de alocação de recursos · Versão e prevalência: Leitura específica das cláusulas indicadas; condições e conflitos preservados. Seleção documental atual não comprova vigência jurídica por data isolada.</a:t>
            </a:r>
          </a:p>
          <a:p>
            <a:r>
              <a:t>CNPJ 60010416000112 · Ordem de alocação de recursos · Resumo do histórico: {"count": 2, "dates": ["2025-03-20", "2025-10-09"], "document_count": 2, "sources": [{"document_id": "1051393", "title": "Regulamento", "reference_date": "2025-10-09", "version": "1", "page": "16-17", "url": "https://fnet.bmfbovespa.com.br/fnet/publico/visualizarDocumento?id=1051393", "sha256": "8469d613078ffd5a6c1d217885d8a397a16342c0b937ae4aa24b106505f233ae"}, {"document_id": "993786", "title": "Regulamento", "reference_date": "2025-03-20", "version": "1", "page": 16, "clause": "7.11", "url": "https://fnet.bmfbovespa.com.br/fnet/publico/visualizarDocumento?id=993786", "sha256": "fd0fdd369a195510d81f81f505195a0b09e5f43522a990afa7d58c4f872921c8"}], "reference": {"path": "history/60010416000112.json", "criterion_id": "waterfall", "total_count": 2, "preview_count": 2, "full_text_deferred": true, "sha256": "8e2bd813f4c51cf01f6bfaad164bafe69d2bbb192f753eac92da3a01c2e63046"}}</a:t>
            </a:r>
          </a:p>
          <a:p>
            <a:r>
              <a:t>CNPJ 62696791000193 · Ordem de alocação de recursos · Regulamento · ID 1143317 · 20/03/2026 · versão Regulamento — referência 20/03/2026 · p. 16 · Anexo I, 6.1(i)–(vii) · https://fnet.bmfbovespa.com.br/fnet/publico/visualizarDocumento?id=1143317</a:t>
            </a:r>
          </a:p>
          <a:p>
            <a:r>
              <a:t>CNPJ 62696791000193 · Ordem de alocação de recursos · Excerto da fonte:</a:t>
            </a:r>
          </a:p>
          <a:p>
            <a:r>
              <a:t>6.1 O Administrador e o Gestor obrigam-se a, a partir da data da primeira integralização de Cotas até a liquidação integral das obrigações da Classe, utilizar os recursos disponíveis na Conta da Classe e/ou mantidos em Ativos Financeiros de Liquidez em cada Dia Útil, de acordo com a seguinte ordem de prioridade de alocação, de modo que cada item abaixo listado apenas será contemplado após o direcionamento do montante total necessário para a satisfação dos itens anteriores, ressalvada a ocorrência de eventos extraordinários que afetem o funcionamento regular do Fundo e/ou da Classe: (i) pagamento dos encargos do Fundo e/ou da Classe; (ii) constituição e/ou recomposição da reserva de despesas de modo que esta, ao final de cada Dia Útil, seja equivalente ao montante estimado dos encargos, a serem incorridos nos 6 (seis) meses calendário imediatamente subsequentes pelo Fundo e/ou a Classe (“Reserva de Despesas”); (iii) pagamento de Amortização ou resgate de Cotas Seniores, se houver; (iv) pagamento de Amortização ou resgate de Cotas Mezanino, se houver; (v) aquisição pela Classe de Direitos Creditórios do Agronegócio e/ou Outros Ativos, observando-se a Política de Investimentos; e (vi) pagamento de Amortização ou resgate de Cotas Subordinadas, se houver (vii) aquisição pela Classe de Ativos Financeiros de Liquidez, observando-se a Política de Investimentos.</a:t>
            </a:r>
          </a:p>
          <a:p>
            <a:r>
              <a:t>CNPJ 62696791000193 · Ordem de alocação de recursos · Condição: A ordem diária contém ressalva para eventos extraordinários que afetem o funcionamento regular do fundo ou da classe. Na liquidação, aplicar a partilha específica do Anexo I 11.2.1.</a:t>
            </a:r>
          </a:p>
          <a:p>
            <a:r>
              <a:t>CNPJ 62696791000193 · Ordem de alocação de recursos · Motivo: Cláusula primária localizada e citada, mas sua lista/condições extensas não admitem uma síntese literal curta confirmada. O trecho integral permanece nas fontes.</a:t>
            </a:r>
          </a:p>
          <a:p>
            <a:r>
              <a:t>CNPJ 62696791000193 · Ordem de alocação de recursos · Versão e prevalência: Leitura específica das cláusulas indicadas; condições e conflitos preservados. Seleção documental atual não comprova vigência jurídica por data isolada.</a:t>
            </a:r>
          </a:p>
          <a:p>
            <a:r>
              <a:t>CNPJ 55563624000109 · Ordem de alocação de recursos · Regulamento · ID 1192614 · 30/04/2026 · versão Regulamento30/04/2026 · p. 18 · AnexoI8.1(i)–(iv) · https://fnet.bmfbovespa.com.br/fnet/publico/visualizarDocumento?id=1192614</a:t>
            </a:r>
          </a:p>
          <a:p>
            <a:r>
              <a:t>CNPJ 55563624000109 · Ordem de alocação de recursos · Excerto da fonte:</a:t>
            </a:r>
          </a:p>
          <a:p>
            <a:r>
              <a:t>8.1 O ADMINISTRADOR e o GESTOR obrigam-se a, a partir da Data 1ª Integralização da Classe até a liquidação integral de todas as Obrigações da Classe, utilizar os recursos disponíveis na Conta da Classe e/ou mantidos em Ativos Financeiros de Liquidez, em cada Dia Útil, de acordo com a seguinte ordem de prioridade de alocação de modo que cada item abaixo listado apenas será contemplado após o direcionamento do montante total necessário para a satisfação dos itens anteriores, ressalvado, enquanto em curso um Evento de Avaliação e/ou um Evento de Liquidação,</a:t>
            </a:r>
          </a:p>
          <a:p>
            <a:r>
              <a:t>CNPJ 55563624000109 · Ordem de alocação de recursos · Regulamento · ID 1192614 · 30/04/2026 · versão Regulamento30/04/2026 · p. 19 · AnexoI8.1(v) e8.2 · https://fnet.bmfbovespa.com.br/fnet/publico/visualizarDocumento?id=1192614</a:t>
            </a:r>
          </a:p>
          <a:p>
            <a:r>
              <a:t>CNPJ 55563624000109 · Ordem de alocação de recursos · Excerto da fonte:</a:t>
            </a:r>
          </a:p>
          <a:p>
            <a:r>
              <a:t>8.2 Em caso de liquidação antecipada da Classe, observados os procedimentos descritos no item 11.4 e seguintes abaixo, os recursos decorrentes do pagamento das Cotas a partir do recebimento dos Ativos Financeiros de Liquidez e de Direitos Creditórios da Carteira da Classe serão alocados da seguinte forma: (i) pagamento dos Encargos; e (ii) pagamento do resgate das Cotas, com a devida observância dos termos e condições deste Regulamento. 9 METODOLOGIA DE AVALIAÇÃO DOS ATIVOS DA CLASSE 9.1 As Cotas da Classe Investida e Ativos Financeiro</a:t>
            </a:r>
          </a:p>
          <a:p>
            <a:r>
              <a:t>CNPJ 55563624000109 · Ordem de alocação de recursos · Versão e prevalência: Leitura específica das cláusulas indicadas; condições e conflitos preservados. Seleção documental atual não comprova vigência jurídica por data isolada.</a:t>
            </a:r>
          </a:p>
          <a:p>
            <a:r>
              <a:t>CNPJ 55563624000109 · Ordem de alocação de recursos · Resumo do histórico: {"count": 1, "dates": ["2026-04-30"], "document_count": 1, "sources": [{"document_id": "1192614", "title": "Regulamento", "reference_date": "2026-04-30", "version": "1", "page": "18-19", "url": "https://fnet.bmfbovespa.com.br/fnet/publico/visualizarDocumento?id=1192614", "sha256": "f56e63ace0acde41d2f47fb48f1ac7f3f7df5e2d32de092d7c5e075a52516632"}], "reference": {"path": "history/55563624000109.json", "criterion_id": "waterfall", "total_count": 1, "preview_count": 1, "full_text_deferred": true, "sha256": "7835d573fb58a3c19adf5b8ecc2aee2bdbb9a88f7a0c0209b5f262b64c7522e3"}}</a:t>
            </a:r>
          </a:p>
          <a:p>
            <a:r>
              <a:t>CNPJ 62552447000120 · Ordem de alocação de recursos · Regulamento · ID 1200623 · 21/05/2026 · versão Consolidado21/05/2026 aprovado pelo ato1200625 · p. 20 · AnexoI8.1(i)–(v) · https://fnet.bmfbovespa.com.br/fnet/publico/visualizarDocumento?id=1200623</a:t>
            </a:r>
          </a:p>
          <a:p>
            <a:r>
              <a:t>CNPJ 62552447000120 · Ordem de alocação de recursos · Excerto da fonte:</a:t>
            </a:r>
          </a:p>
          <a:p>
            <a:r>
              <a:t>8.1 O Administrador e o Gestor obrigam-se a, a partir da data da primeira integralização de Cotas (“Data da Primeira Integralização”) até a liquidação integral das obrigações da Classe, utilizar os recursos disponíveis na conta corrente mantida pela Classe junto ao Custodiante, a ser utilizada para todos os recebimentos e transferências de recursos pela Classe (“Conta da Classe”) e/ou mantidos em Ativos Financeiros, em cada Dia Útil, de acordo com a seguinte ordem de prioridade de alocação de modo que cada item abaixo listado apenas será contemplado após o direcionamento do montante total necessári</a:t>
            </a:r>
          </a:p>
          <a:p>
            <a:r>
              <a:t>CNPJ 62552447000120 · Ordem de alocação de recursos · Regulamento · ID 1200623 · 21/05/2026 · versão Consolidado21/05/2026 aprovado pelo ato1200625 · p. 19 · AnexoI7.3 · https://fnet.bmfbovespa.com.br/fnet/publico/visualizarDocumento?id=1200623</a:t>
            </a:r>
          </a:p>
          <a:p>
            <a:r>
              <a:t>CNPJ 62552447000120 · Ordem de alocação de recursos · Excerto da fonte:</a:t>
            </a:r>
          </a:p>
          <a:p>
            <a:r>
              <a:t>7.3 Quaisquer pagamentos aos Cotistas a título de Amortização deverão observar a ordem de alocação de recursos e abranger, proporcionalmente e sem direito de preferência ou prioridade, todas as Cotas, em benef ício de todos os respectivos titulares. Quando do pagamento de resgate de Cotas, as Cotas objeto de resgate serão canceladas. 7.4 Para f ins de Amortização, será considerado o valor da Cota do segundo Dia Útil anterior à data do pagamento da respectiva parcela da Amortização, por meio do Sistema de Pagamentos Brasileiro – SPB, observados os procedimentos do Escriturador e do mercado organizado em</a:t>
            </a:r>
          </a:p>
          <a:p>
            <a:r>
              <a:t>CNPJ 62552447000120 · Ordem de alocação de recursos · Motivo: Cláusula primária localizada e citada, mas sua lista/condições extensas não admitem uma síntese literal curta confirmada. O trecho integral permanece nas fontes.</a:t>
            </a:r>
          </a:p>
          <a:p>
            <a:r>
              <a:t>CNPJ 62552447000120 · Ordem de alocação de recursos · Versão e prevalência: Leitura específica das cláusulas indicadas; condições e conflitos preservados. Seleção documental atual não comprova vigência jurídica por data isolada.</a:t>
            </a:r>
          </a:p>
          <a:p>
            <a:r>
              <a:t>CNPJ 63953620000165 · Ordem de alocação de recursos · Anexo ao Regulamento · ID 1222863 · 02/06/2026 · versão AnexoConsignadoPrivado02/06/2026 · p. 11 · 8.1(i) · https://fnet.bmfbovespa.com.br/fnet/publico/visualizarDocumento?id=1222863</a:t>
            </a:r>
          </a:p>
          <a:p>
            <a:r>
              <a:t>CNPJ 63953620000165 · Ordem de alocação de recursos · Excerto da fonte:</a:t>
            </a:r>
          </a:p>
          <a:p>
            <a:r>
              <a:t>8.1 O Administrador e o Gestor obrigam-se a, a partir da data da primeira integralização de Cotas (“Data da 1ª Integralização”) até a liquidação integral das obrigações da Classe, utilizar os recursos disponíveis na Conta da Classe e/ou mantidos em Ativos Financeiros, em cada Dia Útil, de acordo com a seguinte ordem de prioridade de alocação de modo que cada item abaixo listado apenas será contemplado após o direcionamento do montante total necessário para a satisfação dos itens anteriores, ressalvado, enquanto em curso um Evento de Avaliação e/ou um Evento de Liquidação, o disposto nos itens 11.1.2: (i)</a:t>
            </a:r>
          </a:p>
          <a:p>
            <a:r>
              <a:t>CNPJ 63953620000165 · Ordem de alocação de recursos · Anexo ao Regulamento · ID 1222863 · 02/06/2026 · versão AnexoConsignadoPrivado02/06/2026 · p. 12 · 8.1(ii)–(x) · https://fnet.bmfbovespa.com.br/fnet/publico/visualizarDocumento?id=1222863</a:t>
            </a:r>
          </a:p>
          <a:p>
            <a:r>
              <a:t>CNPJ 63953620000165 · Ordem de alocação de recursos · Excerto da fonte:</a:t>
            </a:r>
          </a:p>
          <a:p>
            <a:r>
              <a:t>(ii) constituição ou reestabelecimento da Reserva de Caixa, conforme definida abaixo, por meio da aquisição de Ativos Financeiros de Liquidez, observando-se a Política de Investimentos; (iii) pagamento de despesas relativas aos instrumentos de derivativos, conforme aplicável; (iv) pagamento da Rentabilidade Adicional Sênior, caso aplicável; (v) aquisição pela Classe de Direitos Creditórios, durante o Período de Investimento, observando-se a Política de Investimentos; (vi) pagamento do Benchmark Sênior, a critério do Gestor; (vii) pagamento da amortização do principal</a:t>
            </a:r>
          </a:p>
          <a:p>
            <a:r>
              <a:t>CNPJ 63953620000165 · Ordem de alocação de recursos · Condição: Compra de DC antecede amortização do benchmark/principal; principal sênior durante investimento exige tempo decorrido maior que duration dos DC.</a:t>
            </a:r>
          </a:p>
          <a:p>
            <a:r>
              <a:t>CNPJ 63953620000165 · Ordem de alocação de recursos · Motivo: Não localizada uma cláusula material para este critério nos textos identificados e processados. A ausência de resultado não comprova inexistência da regra.</a:t>
            </a:r>
          </a:p>
          <a:p>
            <a:r>
              <a:t>CNPJ 63953620000165 · Ordem de alocação de recursos · Versão e prevalência: Leitura específica das cláusulas indicadas; condições e conflitos preservados. Seleção documental atual não comprova vigência jurídica por data isolada.</a:t>
            </a:r>
          </a:p>
          <a:p>
            <a:r>
              <a:t>CNPJ 54871427000194 · Pró-rata, sequencial e aceleração · Motivo: Não localizada uma cláusula material para este critério nos textos identificados e processados. A ausência de resultado não comprova inexistência da regra.</a:t>
            </a:r>
          </a:p>
          <a:p>
            <a:r>
              <a:t>CNPJ 60010416000112 · Pró-rata, sequencial e aceleração · Motivo: Não localizada uma cláusula material para este critério nos textos identificados e processados. A ausência de resultado não comprova inexistência da regra.</a:t>
            </a:r>
          </a:p>
          <a:p>
            <a:r>
              <a:t>CNPJ 62696791000193 · Pró-rata, sequencial e aceleração · Regulamento · ID 1143317 · 20/03/2026 · versão Regulamento — referência 20/03/2026 · p. 23 · Anexo I, 11.2.1 · https://fnet.bmfbovespa.com.br/fnet/publico/visualizarDocumento?id=1143317</a:t>
            </a:r>
          </a:p>
          <a:p>
            <a:r>
              <a:t>CNPJ 62696791000193 · Pró-rata, sequencial e aceleração · Excerto da fonte:</a:t>
            </a:r>
          </a:p>
          <a:p>
            <a:r>
              <a:t>11.2.1 No caso de Liquidação da Classe, os Cotistas terão o direito de partilhar o Patrimônio Líquido em igualdade de condições e na proporção de suas Cotas, deduzidas as despesas necessárias para a liquidação da Classe. Não haverá qualquer tipo de pref erência, p rioridade ou subordinação entre os Cotistas.</a:t>
            </a:r>
          </a:p>
          <a:p>
            <a:r>
              <a:t>CNPJ 62696791000193 · Pró-rata, sequencial e aceleração · Regulamento · ID 1143317 · 20/03/2026 · versão Regulamento — referência 20/03/2026 · p. 35 · Apêndice Sênior, 7.1 · https://fnet.bmfbovespa.com.br/fnet/publico/visualizarDocumento?id=1143317</a:t>
            </a:r>
          </a:p>
          <a:p>
            <a:r>
              <a:t>CNPJ 62696791000193 · Pró-rata, sequencial e aceleração · Excerto da fonte:</a:t>
            </a:r>
          </a:p>
          <a:p>
            <a:r>
              <a:t>7.1. Prioridade de Recebimento das Cotas Seniores. As Cotas Seniores terão prioridade no pagamento de resgate sobre todas as Cotas Subordinadas Juniores, observado que as Cotas Subordinadas Juniores somente serão resgatadas após o pagamento integral das Cotas Seniores (exceto se de outra forma permitido no Anexo I).</a:t>
            </a:r>
          </a:p>
          <a:p>
            <a:r>
              <a:t>CNPJ 62696791000193 · Pró-rata, sequencial e aceleração · Condição: Apêndice Sênior 7.1 remete expressamente à exceção do Anexo I. A partilha da liquidação segue 11.2.1; a proteção sênior prevista para resgate não assegura prioridade nesse cenário.</a:t>
            </a:r>
          </a:p>
          <a:p>
            <a:r>
              <a:t>CNPJ 62696791000193 · Pró-rata, sequencial e aceleração · Motivo: Não localizada uma cláusula material para este critério nos textos identificados e processados. A ausência de resultado não comprova inexistência da regra.</a:t>
            </a:r>
          </a:p>
          <a:p>
            <a:r>
              <a:t>CNPJ 62696791000193 · Pró-rata, sequencial e aceleração · Versão e prevalência: Leitura específica das cláusulas indicadas; condições e conflitos preservados. Seleção documental atual não comprova vigência jurídica por data isolada.</a:t>
            </a:r>
          </a:p>
          <a:p>
            <a:r>
              <a:t>CNPJ 55563624000109 · Pró-rata, sequencial e aceleração · Motivo: Não localizada uma cláusula material para este critério nos textos identificados e processados. A ausência de resultado não comprova inexistência da regra.</a:t>
            </a:r>
          </a:p>
          <a:p>
            <a:r>
              <a:t>CNPJ 62552447000120 · Pró-rata, sequencial e aceleração · Motivo: Não localizada uma cláusula material para este critério nos textos identificados e processados. A ausência de resultado não comprova inexistência da regra.</a:t>
            </a:r>
          </a:p>
          <a:p>
            <a:r>
              <a:t>CNPJ 63953620000165 · Pró-rata, sequencial e aceleração · Motivo: Não localizada uma cláusula material para este critério nos textos identificados e processados. A ausência de resultado não comprova inexistência da regra.</a:t>
            </a:r>
          </a:p>
          <a:p>
            <a:r>
              <a:t>CNPJ 54871427000194 · Revolvência e desinvestimento · Regulamento · ID 670691 · 28/04/2024 · versão Regulamento — referência 28/04/2024 · p. 11 · Anexo I, 4.12 · https://fnet.bmfbovespa.com.br/fnet/publico/visualizarDocumento?id=670691</a:t>
            </a:r>
          </a:p>
          <a:p>
            <a:r>
              <a:t>CNPJ 54871427000194 · Revolvência e desinvestimento · Excerto da fonte:</a:t>
            </a:r>
          </a:p>
          <a:p>
            <a:r>
              <a:t>4.12 Os recursos recebidos pela Classe em razão da liquidação dos Direitos Creditórios, a qualquer título, incluindo pagamento regular ou por excussão de garantia, alienação, recompra, indenização pelo Cedente e/ou desinvestimento de Ativo Recuperado, serão destinados a aquisição de Direitos Creditórios até o montante de R$ 250.000.000,00 (duzentos e cinquenta milhões de reais), sendo certo que os recursos recebidos pela Classe após a aquisição em tal montante não poderão ser destinados à aquisição pela Classe de novos Direitos Creditórios, aplicando-se, de resto, o disposto no item 8.1 abaixo no que se ref ere à ordem de alocação de tais recursos. BTG Pactual SAC: 0800 772 28 27 - Ouvidoria: 0800 722 00 48 - btgpactual.com 5</a:t>
            </a:r>
          </a:p>
          <a:p>
            <a:r>
              <a:t>CNPJ 54871427000194 · Revolvência e desinvestimento · Condição: O gatilho usa aquisições acumuladas, e não o saldo mensal de direitos creditórios.</a:t>
            </a:r>
          </a:p>
          <a:p>
            <a:r>
              <a:t>CNPJ 54871427000194 · Revolvência e desinvestimento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Revolvência e desinvestimento · Versão e prevalência: Leitura específica das cláusulas indicadas; condições e conflitos preservados. Seleção documental atual não comprova vigência jurídica por data isolada.</a:t>
            </a:r>
          </a:p>
          <a:p>
            <a:r>
              <a:t>CNPJ 54871427000194 · Revolvência e desinvestimento · Resumo do histórico: {"count": 1, "dates": ["2024-04-28"], "document_count": 1, "sources": [{"document_id": "670691", "title": "Regulamento", "reference_date": "2024-04-28", "version": "1", "page": "11", "url": "https://fnet.bmfbovespa.com.br/fnet/publico/visualizarDocumento?id=670691", "sha256": "bf16dd7f1a62d5cdbf2e2d54fef81783783f7310fbc99c3a8f00459bdf9d037b"}], "reference": {"path": "history/54871427000194.json", "criterion_id": "revolving", "total_count": 1, "preview_count": 1, "full_text_deferred": true, "sha256": "35d7cd99be50c7287c9fb675cf4f2e736002315295a225a9efa79c8d9186d874"}}</a:t>
            </a:r>
          </a:p>
          <a:p>
            <a:r>
              <a:t>CNPJ 60010416000112 · Revolvência e desinvestimento · Regulamento · ID 1051393 · 09/10/2025 · versão Regulamento09/10/2025 · p. 12 · AnexoI4.11–4.12.1 · https://fnet.bmfbovespa.com.br/fnet/publico/visualizarDocumento?id=1051393</a:t>
            </a:r>
          </a:p>
          <a:p>
            <a:r>
              <a:t>CNPJ 60010416000112 · Revolvência e desinvestimento · Excerto da fonte:</a:t>
            </a:r>
          </a:p>
          <a:p>
            <a:r>
              <a:t>4.11 A Classe terá um Período de Investimento de 24 (vinte e quatro) meses, contados da Data da 1ª Integralização de Cotas da Classe. 4.12 Durante o Período de Investimento, a Classe utilizará os recursos provenientes da integralização das Cotas para investir em Direitos Creditórios e Ativos Financeiros de Liquidez, de acordo com a Política de Investimento estabelecida no presente Anexo I, sendo permitida, durante o Período de Investimento, a aquisição de novos Direitos Creditórios com os recursos decorrentes do pagamento dos Direitos Creditórios integrantes da carteira da Classe, desde que respei</a:t>
            </a:r>
          </a:p>
          <a:p>
            <a:r>
              <a:t>CNPJ 60010416000112 · Revolvência e desinvestimento · Regulamento · ID 1051393 · 09/10/2025 · versão Regulamento09/10/2025 · p. 15 · AnexoI7.3 · https://fnet.bmfbovespa.com.br/fnet/publico/visualizarDocumento?id=1051393</a:t>
            </a:r>
          </a:p>
          <a:p>
            <a:r>
              <a:t>CNPJ 60010416000112 · Revolvência e desinvestimento · Excerto da fonte:</a:t>
            </a:r>
          </a:p>
          <a:p>
            <a:r>
              <a:t>7.3 Após o encerramento do Período de Investimento, e desde que o Índice de Subordinação esteja sendo cumprido, as Cotas serão amortizadas mensalmente, em regime de caixa, nas datas e prazos previstos nos respectivos Suplementos, em montante correspondente ao valor dos recursos disponíveis na Conta de Movimentação da Classe, somados aos Ativos Financeiros de Liquidez, respeitando a ordem de alocação dos recursos, observado o disposto no item abaixo em relação às Cotas Subordinadas. 7.3.1. As Cotas Subordinadas poderão ser amortizadas caso sejam atingidas, cumulativamente, as segui</a:t>
            </a:r>
          </a:p>
          <a:p>
            <a:r>
              <a:t>CNPJ 60010416000112 · Revolvência e desinvestimento · Versão e prevalência: Leitura específica das cláusulas indicadas; condições e conflitos preservados. Seleção documental atual não comprova vigência jurídica por data isolada.</a:t>
            </a:r>
          </a:p>
          <a:p>
            <a:r>
              <a:t>CNPJ 60010416000112 · Revolvência e desinvestimento · Resumo do histórico: {"count": 4, "dates": ["2025-03-20", "2025-05-12", "2025-10-09"], "document_count": 3, "sources": [{"document_id": "1051393", "title": "Regulamento", "reference_date": "2025-10-09", "version": "1", "page": "12", "url": "https://fnet.bmfbovespa.com.br/fnet/publico/visualizarDocumento?id=1051393", "sha256": "8469d613078ffd5a6c1d217885d8a397a16342c0b937ae4aa24b106505f233ae"}, {"document_id": "1004656", "title": "AGE", "reference_date": "2025-05-12", "version": "1", "page": 5, "url": "https://fnet.bmfbovespa.com.br/fnet/publico/visualizarDocumento?id=1004656", "sha256": "f6c9c009f6170e2b29f074b98522accec73f0c40efbf11f9ec2c8d3f1402616b"}, {"document_id": "993785", "title": "Instrumento Particular de Constituição/Encerramento do Fundo", "reference_date": "2025-03-20", "version": "1", "page": 5, "url": "https://fnet.bmfbovespa.com.br/fnet/publico/visualizarDocumento?id=993785", "sha256": "0826e0eae2c51afabf59bbc49fc7647598d03da5ca6de0f9725850a8bd6af457"}], "reference": {"path": "history/60010416000112.json", "criterion_id": "revolving", "total_count": 4, "preview_count": 3, "full_text_deferred": true, "sha256": "8e2bd813f4c51cf01f6bfaad164bafe69d2bbb192f753eac92da3a01c2e63046"}}</a:t>
            </a:r>
          </a:p>
          <a:p>
            <a:r>
              <a:t>CNPJ 62696791000193 · Revolvência e desinvestimento · Regulamento · ID 1143317 · 20/03/2026 · versão Regulamento — referência 20/03/2026 · p. 16 · Anexo I, 5.1 · https://fnet.bmfbovespa.com.br/fnet/publico/visualizarDocumento?id=1143317</a:t>
            </a:r>
          </a:p>
          <a:p>
            <a:r>
              <a:t>CNPJ 62696791000193 · Revolvência e desinvestimento · Excerto da fonte:</a:t>
            </a:r>
          </a:p>
          <a:p>
            <a:r>
              <a:t>5.1 Os recursos recebidos pela Classe em razão da liquidação dos Direitos Creditórios do Agronegócio e/ou dos Outros Ativos, a qualquer título, incluindo pagamento regular ou por excussão de garantia, alienação, recompra, indenização pelo cedente e/ou desinvestimento de Direitos Creditórios do Agronegócio e/ou dos Outros Ativos, poderão ser destinados à aquisição pela Classe de novos Direitos Creditórios do Agronegócio e/ou dos Outros Ativos e/ou destinados ao resgate das Cotas, conf orme decisão do Gestor e desde que observada a ordem de alocação de recursos. 6 ORDEM DE ALOCAÇÃO DE RECURSOS 6.1 O Administrador e o Gestor obrigam-se a, a partir da data da primeira integralização de Cotas até a liquidação integral das obrigações da Classe, utilizar os recursos disponíveis na Conta da Classe e/ou mantidos em Ativos Financeiros de Liquidez em cada Dia Útil, de acordo com a seguinte ordem de prioridade de alocação, de modo que cada item abaixo listado apenas será contemplado após o direcionamento do montante total necessário para a satisfação dos itens anteriores, ressalvada a ocorrência de eventos extraordinários que afetem o funcionamento regular do Fundo e/ou da Classe: (i</a:t>
            </a:r>
          </a:p>
          <a:p>
            <a:r>
              <a:t>CNPJ 62696791000193 · Revolvência e desinvestimento · Versão e prevalência: Leitura específica das cláusulas indicadas; condições e conflitos preservados. Seleção documental atual não comprova vigência jurídica por data isolada.</a:t>
            </a:r>
          </a:p>
          <a:p>
            <a:r>
              <a:t>CNPJ 55563624000109 · Revolvência e desinvestimento · Regulamento · ID 1192614 · 30/04/2026 · versão Regulamento30/04/2026 · p. 13 · AnexoI4.13 · https://fnet.bmfbovespa.com.br/fnet/publico/visualizarDocumento?id=1192614</a:t>
            </a:r>
          </a:p>
          <a:p>
            <a:r>
              <a:t>CNPJ 55563624000109 · Revolvência e desinvestimento · Excerto da fonte:</a:t>
            </a:r>
          </a:p>
          <a:p>
            <a:r>
              <a:t>4.13 Os recursos recebidos pela Classe em razão da liquidação das Cotas da Classe Investida, a qualquer título, incluindo pagamento regular ou por excussão ou execução de garantia, alienação, recompra, indenização e/ou desinvestimento, serão destinados à amortização ou resgate das Cotas, conforme decisão do GESTOR e desde que observada a ordem de alocação de recursos definida no item 8.1 abaixo, observado que tais recursos poderão ser utilizados para fazer frente ao pagamento de Encargos e/ou despesas extraordinárias da Classe ou da Classe Investida, caso</a:t>
            </a:r>
          </a:p>
          <a:p>
            <a:r>
              <a:t>CNPJ 55563624000109 · Revolvência e desinvestimento · Motivo: Não localizada uma cláusula material para este critério nos textos identificados e processados. A ausência de resultado não comprova inexistência da regra.</a:t>
            </a:r>
          </a:p>
          <a:p>
            <a:r>
              <a:t>CNPJ 55563624000109 · Revolvência e desinvestimento · Versão e prevalência: Leitura específica das cláusulas indicadas; condições e conflitos preservados. Seleção documental atual não comprova vigência jurídica por data isolada.</a:t>
            </a:r>
          </a:p>
          <a:p>
            <a:r>
              <a:t>CNPJ 62552447000120 · Revolvência e desinvestimento · Motivo: Não localizada uma cláusula material para este critério nos textos identificados e processados. A ausência de resultado não comprova inexistência da regra.</a:t>
            </a:r>
          </a:p>
          <a:p>
            <a:r>
              <a:t>CNPJ 63953620000165 · Revolvência e desinvestimento · Anexo ao Regulamento · ID 1222863 · 02/06/2026 · versão AnexoConsignadoPrivado02/06/2026 · p. 7 · 4.17–4.17.3 · https://fnet.bmfbovespa.com.br/fnet/publico/visualizarDocumento?id=1222863</a:t>
            </a:r>
          </a:p>
          <a:p>
            <a:r>
              <a:t>CNPJ 63953620000165 · Revolvência e desinvestimento · Excerto da fonte:</a:t>
            </a:r>
          </a:p>
          <a:p>
            <a:r>
              <a:t>4.17 O período compreendido entre a data da primeira integralização de Cotas da Classe até 29 de junho de 2031, constituirão o período de investimento da Classe, durante o qual, a Classe poderá adquirir Direitos Creditórios (“Período de Investimento”). 4.17.1 Durante o Período de Investimento, os recursos recebidos pela Classe em razão da liquidação dos Direitos Creditórios, a qualquer título, incluindo pagamento regular ou por excussão de garantia, alienação, recompra, indenização pelo Cedente e/ou desinvestimento de Ativo Recuperado, poderão ser destinados à aquisição pela Classe de novos</a:t>
            </a:r>
          </a:p>
          <a:p>
            <a:r>
              <a:t>CNPJ 63953620000165 · Revolvência e desinvestimento · Versão e prevalência: Leitura específica das cláusulas indicadas; condições e conflitos preservados. Seleção documental atual não comprova vigência jurídica por data isolada.</a:t>
            </a:r>
          </a:p>
          <a:p>
            <a:r>
              <a:t>CNPJ 63953620000165 · Revolvência e desinvestimento · Resumo do histórico: {"count": 8, "dates": ["2026-04-28", "2026-05-08", "2026-05-15"], "document_count": 3, "sources": [{"document_id": "1327859", "title": "Demonstrações Financeiras - Fusão, cisão e incorporação", "reference_date": "2026-05-15", "version": "1", "page": 10, "url": "https://fnet.bmfbovespa.com.br/fnet/publico/visualizarDocumento?id=1327859", "sha256": "dca1c68babb97f887528c3e2e47596a9c30f507b067981a35655b2f2da9c8054"}, {"document_id": "1298691", "title": "Demonstrações Financeiras - Fusão, cisão e incorporação", "reference_date": "2026-05-08", "version": "1", "page": 10, "url": "https://fnet.bmfbovespa.com.br/fnet/publico/visualizarDocumento?id=1298691", "sha256": "58c570d9b8d4d265330d3db3ea81c435b8e44a6dab4002aa37790652a1ee9819"}, {"document_id": "1282180", "title": "Demonstrações Financeiras - Fusão, cisão e incorporação", "reference_date": "2026-04-28", "version": "1", "page": 10, "url": "https://fnet.bmfbovespa.com.br/fnet/publico/visualizarDocumento?id=1282180", "sha256": "afaaa0e6809be4385e5bdb6c911aac582032c5bdbac3d7750234bf9eaf00438a"}], "reference": {"path": "history/63953620000165.json", "criterion_id": "revolving", "total_count": 8, "preview_count": 3, "full_text_deferred": true, "sha256": "a7b89077f5e21098c2d601c303faabc3ff6b9729f89d8afecdc60fe1404720c1"}}</a:t>
            </a:r>
          </a:p>
          <a:p>
            <a:r>
              <a:t>CNPJ 54871427000194 · Cessões, preço e carteira residual · Motivo: Não localizada uma cláusula material para este critério nos textos identificados e processados. A ausência de resultado não comprova inexistência da regra.</a:t>
            </a:r>
          </a:p>
          <a:p>
            <a:r>
              <a:t>CNPJ 60010416000112 · Cessões, preço e carteira residual · Motivo: Não localizada uma cláusula material para este critério nos textos identificados e processados. A ausência de resultado não comprova inexistência da regra.</a:t>
            </a:r>
          </a:p>
          <a:p>
            <a:r>
              <a:t>CNPJ 62696791000193 · Cessões, preço e carteira residual · Regulamento · ID 1143317 · 2026-03-20 · versão 1 · p. 14 · 4.22 · https://fnet.bmfbovespa.com.br/fnet/publico/visualizarDocumento?id=1143317</a:t>
            </a:r>
          </a:p>
          <a:p>
            <a:r>
              <a:t>CNPJ 62696791000193 · Cessões, preço e carteira residual · Excerto da fonte:</a:t>
            </a:r>
          </a:p>
          <a:p>
            <a:r>
              <a:t>4.22 A Classe poderá participar de operações de securitização por meio de cessão de direitos creditórios de  que seja titular, incluindo, exemplificativamente, créditos de locação, venda ou direito real de superfície.</a:t>
            </a:r>
          </a:p>
          <a:p>
            <a:r>
              <a:t>CNPJ 62696791000193 · Cessões, preço e carteira residual · Condição: Documentos atuais selecionados no inventário por categoria/escopo; a data documental isolada não comprova vigência jurídica.</a:t>
            </a:r>
          </a:p>
          <a:p>
            <a:r>
              <a:t>CNPJ 62696791000193 · Cessões, preço e carteira residual · Versão e prevalência: Documentos atuais selecionados no inventário por categoria/escopo; a data documental isolada não comprova vigência jurídica.</a:t>
            </a:r>
          </a:p>
          <a:p>
            <a:r>
              <a:t>CNPJ 55563624000109 · Cessões, preço e carteira residual · Regulamento · ID 1192614 · 2026-04-30 · versão 1 · p. 12 · 4.5 · https://fnet.bmfbovespa.com.br/fnet/publico/visualizarDocumento?id=1192614</a:t>
            </a:r>
          </a:p>
          <a:p>
            <a:r>
              <a:t>CNPJ 55563624000109 · Cessões, preço e carteira residual · Excerto da fonte:</a:t>
            </a:r>
          </a:p>
          <a:p>
            <a:r>
              <a:t>4.5 Uma vez que o investimento nas Cotas da Classe Investida não corresponde a um investimento direto em direitos  creditórios, uma série de disposições comuns à securitização de direitos creditórios não será aplicável ao  investimento nas Cotas da Classe Investida. A título meramente exemplificativo, não existem processos de  originação ou política de concessão de crédito adotada pelo GESTOR, tampouco há que se falar em verificação  ou guarda de documentos comprobatórios que não sejam referentes às Cotas da Classe Investida. Da mesma  forma, não há necessidade de se prever a adoção de procedimentos específicos para a cobrança das Cotas da  Classe Investida. Cada Cotista deverá atestar que está ciente e concorda com o disposto neste item 4.5, por meio  da assinatura do Termo de Adesão.</a:t>
            </a:r>
          </a:p>
          <a:p>
            <a:r>
              <a:t>CNPJ 55563624000109 · Cessões, preço e carteira residual · Condição: Documentos atuais selecionados no inventário por categoria/escopo; a data documental isolada não comprova vigência jurídica.</a:t>
            </a:r>
          </a:p>
          <a:p>
            <a:r>
              <a:t>CNPJ 55563624000109 · Cessões, preço e carteira residual · Motivo: Cláusula primária localizada e citada, mas sua lista/condições extensas não admitem uma síntese literal curta confirmada. O trecho integral permanece nas fontes.</a:t>
            </a:r>
          </a:p>
          <a:p>
            <a:r>
              <a:t>CNPJ 55563624000109 · Cessões, preço e carteira residual · Versão e prevalência: Documentos atuais selecionados no inventário por categoria/escopo; a data documental isolada não comprova vigência jurídica.</a:t>
            </a:r>
          </a:p>
          <a:p>
            <a:r>
              <a:t>CNPJ 62552447000120 · Cessões, preço e carteira residual · Motivo: Não localizada uma cláusula material para este critério nos textos identificados e processados. A ausência de resultado não comprova inexistência da regra.</a:t>
            </a:r>
          </a:p>
          <a:p>
            <a:r>
              <a:t>CNPJ 63953620000165 · Cessões, preço e carteira residual · Motivo: Não localizada uma cláusula material para este critério nos textos identificados e processados. A ausência de resultado não comprova inexistência da regra.</a:t>
            </a:r>
          </a:p>
          <a:p>
            <a:r>
              <a:t>CNPJ 54871427000194 · Juros, amortização e vencimento · Regulamento · ID 670691 · 28/04/2024 · versão Regulamento — referência 28/04/2024 · p. 15 · Anexo I, 6.1–6.2 e 7.2–7.4 · https://fnet.bmfbovespa.com.br/fnet/publico/visualizarDocumento?id=670691</a:t>
            </a:r>
          </a:p>
          <a:p>
            <a:r>
              <a:t>CNPJ 54871427000194 · Juros, amortização e vencimento · Excerto da fonte:</a:t>
            </a:r>
          </a:p>
          <a:p>
            <a:r>
              <a:t>6.1 As Cotas terão seu Valor Unitário calculado e divulgado pelo ADMINISTRADOR mensalmente, no último Dia Útil de cada mês, no fechamento dos mercados, a partir do mês seguinte à Data da 1ª Integralização e até a data de resgate das Cotas ou na data de liquidação da Classe Única, conforme o caso. 6.2 A partir da Data da 1ª Integralização de Cotas, o Valor Unitário das Cotas s erá calculado no fechamento do último Dia Útil de cada mês, equivalerá ao resultado da divisão do valor do Patrimônio Líquido apurado para o respectivo dia, pelo número de Cotas em circulação na respectiva data de cálculo . CAPÍTULO 7 – AMORTIZAÇÃO E RESGATE DAS COTAS 7.1 A distribuição de quaisquer ganhos e rendimentos d a Classe aos Cotistas será f eita exclusivamente mediante a Amortização e/ou o resgate de Cotas, observado o disposto neste Capítulo. 7.2 As amortizações de Cotas serão realizadas a qualquer tempo, a critério do GESTOR, observada a disponibilidade de recursos da Classe Única e a ordem de alocação de recursos prevista neste Anexo Descritivo. 7.3 As Cotas serão amortizadas mediante orientação do GESTOR e/ou deliberação da Assembleia Especial de Cotistas, observada a ordem de alocação de recursos previ</a:t>
            </a:r>
          </a:p>
          <a:p>
            <a:r>
              <a:t>CNPJ 54871427000194 · Juros, amortização e vencimento · Motivo: Cláusula primária localizada e citada, mas sua lista/condições extensas não admitem uma síntese literal curta confirmada. O trecho integral permanece nas fontes. A resposta da revisão anterior foi preservada no histórico, sem confirmação pelo documento atual.</a:t>
            </a:r>
          </a:p>
          <a:p>
            <a:r>
              <a:t>CNPJ 54871427000194 · Juros, amortização e vencimento · Versão e prevalência: Leitura específica das cláusulas indicadas; condições e conflitos preservados. Seleção documental atual não comprova vigência jurídica por data isolada.</a:t>
            </a:r>
          </a:p>
          <a:p>
            <a:r>
              <a:t>CNPJ 54871427000194 · Juros, amortização e vencimento · Resumo do histórico: {"count": 2, "dates": ["2024-04-19", "2024-04-28"], "document_count": 2, "sources": [{"document_id": "670691", "title": "Regulamento", "reference_date": "2024-04-28", "version": "1", "page": "15", "url": "https://fnet.bmfbovespa.com.br/fnet/publico/visualizarDocumento?id=670691", "sha256": "bf16dd7f1a62d5cdbf2e2d54fef81783783f7310fbc99c3a8f00459bdf9d037b"}, {"document_id": "670689", "title": "Regulamento", "reference_date": "2024-04-19", "version": "1", "page": 30, "url": "https://fnet.bmfbovespa.com.br/fnet/publico/visualizarDocumento?id=670689", "sha256": "891bc9bc5d87bbc02ec139077a84d2702eb81ea02035fb71d24f5b8366b94a0b"}], "reference": {"path": "history/54871427000194.json", "criterion_id": "payments", "total_count": 2, "preview_count": 2, "full_text_deferred": true, "sha256": "35d7cd99be50c7287c9fb675cf4f2e736002315295a225a9efa79c8d9186d874"}}</a:t>
            </a:r>
          </a:p>
          <a:p>
            <a:r>
              <a:t>CNPJ 60010416000112 · Juros, amortização e vencimento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Juros, amortização e vencimento · Resumo do histórico: {"count": 1, "dates": ["2025-03-20"], "document_count": 1, "sources": [{"document_id": "993785", "title": "Instrumento Particular de Constituição/Encerramento do Fundo", "reference_date": "2025-03-20", "version": "1", "page": "5-6", "url": "https://fnet.bmfbovespa.com.br/fnet/publico/visualizarDocumento?id=993785", "sha256": "0826e0eae2c51afabf59bbc49fc7647598d03da5ca6de0f9725850a8bd6af457"}], "reference": {"path": "history/60010416000112.json", "criterion_id": "payments", "total_count": 1, "preview_count": 1, "full_text_deferred": true, "sha256": "8e2bd813f4c51cf01f6bfaad164bafe69d2bbb192f753eac92da3a01c2e63046"}}</a:t>
            </a:r>
          </a:p>
          <a:p>
            <a:r>
              <a:t>CNPJ 62696791000193 · Juros, amortização e vencimento · Regulamento · ID 1143317 · 20/03/2026 · versão Regulamento — referência 20/03/2026 · p. 34 · Apêndice Sênior, 6.1–6.1.1 · https://fnet.bmfbovespa.com.br/fnet/publico/visualizarDocumento?id=1143317</a:t>
            </a:r>
          </a:p>
          <a:p>
            <a:r>
              <a:t>CNPJ 62696791000193 · Juros, amortização e vencimento · Excerto da fonte:</a:t>
            </a:r>
          </a:p>
          <a:p>
            <a:r>
              <a:t>6.1. Desde que o Patrimônio Líquido da Classe assim permita, a partir de janeiro de 2026, as Cotas Seniores f arão jus à Amortização semestral do Benchmark, a ser realizada no último Dia Útil dos meses de janeiro e de julho de cada ano (“Amortização Programada de Cotas Seniores” e “Data de Amortização Programada de Cotas Seniores”, respectivamente), observada a Ordem de Alocação de Recursos prevista no Anexo. 6.1.1. Caso, em uma Data de Amortização Programa de Cotas Seniores, a Classe não tenha recursos disponíveis suficientes para o seu pagamento integral a diferença entre (i) o Benchmark Sênior apurado e (ii) os valores ef etivamente Amortizados aos Cotistas Seniores será automaticamente acumulada para pagamento na próxima Data de Amortização Programa de Cotas Seniores , e assim subsequentemente quando não for possível o pagamento total da diferença na Data de Amortização Programa de Cotas Seniores seguinte, até o pagamento integral do Benchmark Sênior apurado e devido no respectivo período. 6.2. Em complemento às Amortizações Programadas de Cotas Seniores, os Cotistas Seniores f arão jus, sempre que o Patrimônio Líquido da Classe assim permita e desde que o Valor Unitário das Cotas Seniores e</a:t>
            </a:r>
          </a:p>
          <a:p>
            <a:r>
              <a:t>CNPJ 62696791000193 · Juros, amortização e vencimento · Regulamento · ID 1143317 · 20/03/2026 · versão Regulamento — referência 20/03/2026 · p. 37 · Apêndice Júnior, 4.1 · https://fnet.bmfbovespa.com.br/fnet/publico/visualizarDocumento?id=1143317</a:t>
            </a:r>
          </a:p>
          <a:p>
            <a:r>
              <a:t>CNPJ 62696791000193 · Juros, amortização e vencimento · Excerto da fonte:</a:t>
            </a:r>
          </a:p>
          <a:p>
            <a:r>
              <a:t>4.1. Caso o Patrimônio Líquido da Classe assim permita, as Cotas Subordinadas f arão jus à amortização semestral, no último Dia Útil dos meses de janeiro e julho de cada ano, de valor equivalente ao excedente do valor de integralização das Cotas Subordinadas em circulação, limitado ao percentual de 100% (cem por cento) da variação positiva do CDI acrescida de 4,50% (quatro inteiros e cinco décimos por cento) ao ano, considerando, para tanto a razão entre (i) o valor de integralização das Cotas Subordinadas Júnior em circulação e (ii) o valor de cada uma das Cotas Subordinadas, a ser paga na Data de Amortização Programada de Cotas Seniores (“Amortização das Cotas Subordinadas”). 4.2. Em complemento às Amortizações das Cotas Subordinadas, os Cotistas Subordinados farão jus, sempre que o Patrimônio Líquido da Classe assim permita e desde que o Valor Unitário das Cotas Subordinadas esteja superior ao valor de integralização das Cotas Subordinadas em circulação, a 50% (cinquenta por cento) de qualquer valor que exceder a Amortização das Cotas Subordinadas, a ser paga na Data de Amortização Programada de Cotas Seniores (“Amortização Extraordinária de Cotas Seniores”). 5. Excesso de Subordinação 5.1. Verif icado excesso de subordinação,</a:t>
            </a:r>
          </a:p>
          <a:p>
            <a:r>
              <a:t>CNPJ 62696791000193 · Juros, amortização e vencimento · Regulamento · ID 1143317 · 20/03/2026 · versão Regulamento — referência 20/03/2026 · p. 6 · Anexo I, 1.1, Condomínio e Prazo · https://fnet.bmfbovespa.com.br/fnet/publico/visualizarDocumento?id=1143317</a:t>
            </a:r>
          </a:p>
          <a:p>
            <a:r>
              <a:t>CNPJ 62696791000193 · Juros, amortização e vencimento · Excerto da fonte:</a:t>
            </a:r>
          </a:p>
          <a:p>
            <a:r>
              <a:t>Tipo de Condomínio Fechado. Indeterminado, exceto se de outra f orma vier a ser deliberado pelos Prazo de Duração cotistas da Classe (“Cotistas”) reunidos em assembleia geral de Cotistas. A Classe tem por objetivo proporcionar aos Cotistas a valorização e a rentabilidade de suas cotas (“Cotas”), conforme a política de investimentos def inida no Capítulo IV abaixo (“Política de Investimentos”), por meio de aplicação do seu Patrimônio Líquido (conforme def inido abaixo) nos seguintes ativos de origem vinculada às cadeias produtivas do agronegócio (“Direitos Creditórios do Agronegócio”): (i) títulos de crédito emitidos por pessoas naturais e jurídicas que integrem as cadeias produtivas do agronegócio; (ii) direitos creditórios do agronegócio; (iii) certificados d</a:t>
            </a:r>
          </a:p>
          <a:p>
            <a:r>
              <a:t>CNPJ 62696791000193 · Juros, amortização e vencimento · Condição: A agenda começa em janeiro/2026 dentro de consolidado vigente apenas no fechamento de 23/03/2026. O documento anterior não foi obtido para reconstruir a regra de janeiro/fevereiro.</a:t>
            </a:r>
          </a:p>
          <a:p>
            <a:r>
              <a:t>CNPJ 62696791000193 · Juros, amortização e vencimento · Versão e prevalência: Leitura específica das cláusulas indicadas; condições e conflitos preservados. Seleção documental atual não comprova vigência jurídica por data isolada.</a:t>
            </a:r>
          </a:p>
          <a:p>
            <a:r>
              <a:t>CNPJ 62696791000193 · Juros, amortização e vencimento · Resumo do histórico: {"count": 1, "dates": ["2026-03-27"], "document_count": 1, "sources": [{"document_id": "1148821", "title": "Instrumento Particular de Emissão de Cotas", "reference_date": "2026-03-27", "version": "1", "page": "2", "url": "https://fnet.bmfbovespa.com.br/fnet/publico/visualizarDocumento?id=1148821", "sha256": "86900e9dd498403696bfffbd4196443c83ec4d51ff21135e073c1966e1adf4c0"}], "reference": {"path": "history/62696791000193.json", "criterion_id": "payments", "total_count": 1, "preview_count": 1, "full_text_deferred": true, "sha256": "0e9ec199848320ec945708123ae0cb6075d76c05d94beed814d582031d353926"}}</a:t>
            </a:r>
          </a:p>
          <a:p>
            <a:r>
              <a:t>CNPJ 55563624000109 · Juros, amortização e vencimento · Regulamento · ID 1192614 · 30/04/2026 · versão Regulamento30/04/2026 · p. 45 · ApêndiceA3.1 · https://fnet.bmfbovespa.com.br/fnet/publico/visualizarDocumento?id=1192614</a:t>
            </a:r>
          </a:p>
          <a:p>
            <a:r>
              <a:t>CNPJ 55563624000109 · Juros, amortização e vencimento · Excerto da fonte:</a:t>
            </a:r>
          </a:p>
          <a:p>
            <a:r>
              <a:t>3.1. O prazo das Cotas Subclasse A encerra em 19 de junho de 2026. 4. Condições de Emissão, Distribuição, Subscrição, Integralização, Remuneração, Amortização e Resgate de Cotas Subclasse A: 4.1. Após a primeira Data de Emissão de Cotas, eventuais novas emissões de Cotas Subclasse A somente poderão ser realizadas (i) diretamente pelo ADMINISTRADOR por orientação do GESTOR, desde que limitado ao Capital Autorizado; ou (ii) com a aprovação de Assembleia Especial de Cotistas, observados os quóruns específicos, conforme aplicável, sendo que o valor de emissão, o volume e demais carac</a:t>
            </a:r>
          </a:p>
          <a:p>
            <a:r>
              <a:t>CNPJ 55563624000109 · Juros, amortização e vencimento · Regulamento · ID 1192614 · 30/04/2026 · versão Regulamento30/04/2026 · p. 47 · ApêndiceB3.2 · https://fnet.bmfbovespa.com.br/fnet/publico/visualizarDocumento?id=1192614</a:t>
            </a:r>
          </a:p>
          <a:p>
            <a:r>
              <a:t>CNPJ 55563624000109 · Juros, amortização e vencimento · Excerto da fonte:</a:t>
            </a:r>
          </a:p>
          <a:p>
            <a:r>
              <a:t>3.2. O prazo das Cotas Subclasse B encerra em 19 de junho de 2028. 4. Condições de Emissão, Distribuição, Subscrição, Integralização, Remuneração, Amortização e Resgate de Cotas Subclasse B: 4.1. Após a primeira Data de Emissão de Cotas, eventuais novas emissões de Cotas Subclasse B somente poderão ser realizadas (i) diretamente pelo ADMINISTRADOR por orientação do GESTOR, desde que limitado ao Capital Autorizado; ou (ii) com a aprovação de Assembleia Especial de Cotistas, observados os quóruns específicos, conforme aplicável, sendo que o valor de emissão, o volume e de</a:t>
            </a:r>
          </a:p>
          <a:p>
            <a:r>
              <a:t>CNPJ 55563624000109 · Juros, amortização e vencimento · Regulamento · ID 1192614 · 30/04/2026 · versão Regulamento30/04/2026 · p. 49 · ApêndiceC3.1 · https://fnet.bmfbovespa.com.br/fnet/publico/visualizarDocumento?id=1192614</a:t>
            </a:r>
          </a:p>
          <a:p>
            <a:r>
              <a:t>CNPJ 55563624000109 · Juros, amortização e vencimento · Excerto da fonte:</a:t>
            </a:r>
          </a:p>
          <a:p>
            <a:r>
              <a:t>3.1. O prazo das Cotas Subclasse C encerra em 19 de junho de 2027. 4. Condições de Emissão, Distribuição, Subscrição, Integralização, Remuneração, Amortização e Resgate de Cotas Subclasse C: 4.1. Após a primeira Data de Emissão de Cotas, eventuais novas emissões de Cotas Subclasse C somente poderão ser realizadas (i) diretamente pelo ADMINISTRADOR por orientação do GESTOR, desde que limitado ao Capital Autorizado; ou (ii) com a aprovação de Assembleia Especial de Cotistas, observados os quóruns específicos, conforme aplicável, sendo que o valor de emissão, o volume e demais car</a:t>
            </a:r>
          </a:p>
          <a:p>
            <a:r>
              <a:t>CNPJ 55563624000109 · Juros, amortização e vencimento · Regulamento · ID 1192614 · 30/04/2026 · versão Regulamento30/04/2026 · p. 18 · AnexoI7.3–7.4 · https://fnet.bmfbovespa.com.br/fnet/publico/visualizarDocumento?id=1192614</a:t>
            </a:r>
          </a:p>
          <a:p>
            <a:r>
              <a:t>CNPJ 55563624000109 · Juros, amortização e vencimento · Excerto da fonte:</a:t>
            </a:r>
          </a:p>
          <a:p>
            <a:r>
              <a:t>7.3 Os pagamentos das parcelas de amortização e/ou de resgate das Cotas serão efetuados, como regra geral, em moeda corrente nacional, pelo valor da Cota apurado no fechamento dos mercados no segundo Dia Útil imediatamente anterior ao do pagamento, por meio (i) da B3, se assim aplicável, ou (ii) de depósito em conta corrente de titularidade dos Cotistas, mediante qualquer mecanismo de transferência de recursos autorizado pelo BACEN. 7.4 Quando a data estipulada para pagamento de amortização ou resgate de Cotas se der em dia que seja feriado</a:t>
            </a:r>
          </a:p>
          <a:p>
            <a:r>
              <a:t>CNPJ 55563624000109 · Juros, amortização e vencimento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Juros, amortização e vencimento · Versão e prevalência: Leitura específica das cláusulas indicadas; condições e conflitos preservados. Seleção documental atual não comprova vigência jurídica por data isolada.</a:t>
            </a:r>
          </a:p>
          <a:p>
            <a:r>
              <a:t>CNPJ 55563624000109 · Juros, amortização e vencimento · Resumo do histórico: {"count": 1, "dates": ["2026-04-30"], "document_count": 1, "sources": [{"document_id": "1192614", "title": "Regulamento", "reference_date": "2026-04-30", "version": "1", "page": "17-18", "url": "https://fnet.bmfbovespa.com.br/fnet/publico/visualizarDocumento?id=1192614", "sha256": "f56e63ace0acde41d2f47fb48f1ac7f3f7df5e2d32de092d7c5e075a52516632"}], "reference": {"path": "history/55563624000109.json", "criterion_id": "payments", "total_count": 1, "preview_count": 1, "full_text_deferred": true, "sha256": "7835d573fb58a3c19adf5b8ecc2aee2bdbb9a88f7a0c0209b5f262b64c7522e3"}}</a:t>
            </a:r>
          </a:p>
          <a:p>
            <a:r>
              <a:t>CNPJ 62552447000120 · Juros, amortização e vencimento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Juros, amortização e vencimento · Resumo do histórico: {"count": 1, "dates": ["2025-09-03"], "document_count": 1, "sources": [{"document_id": "988020", "title": "Instrumento Particular de Emissão de Cotas", "reference_date": "2025-09-03", "version": "1", "page": "6", "url": "https://fnet.bmfbovespa.com.br/fnet/publico/visualizarDocumento?id=988020", "sha256": "8ecc8a771bb9713d64e5fc2052c489664cb0433801a9280db68e5187d35bf7a5"}], "reference": {"path": "history/62552447000120.json", "criterion_id": "payments", "total_count": 1, "preview_count": 1, "full_text_deferred": true, "sha256": "d95db8c0613d67ee84118c734588665265ea6b02f86a0318d6a844cbe1d0f82f"}}</a:t>
            </a:r>
          </a:p>
          <a:p>
            <a:r>
              <a:t>CNPJ 63953620000165 · Juros, amortização e vencimento · Anexo ao Regulamento · ID 1222863 · 02/06/2026 · versão AnexoConsignadoPrivado02/06/2026 · p. 23 · ApêndiceSênior5.1–5.2 · https://fnet.bmfbovespa.com.br/fnet/publico/visualizarDocumento?id=1222863</a:t>
            </a:r>
          </a:p>
          <a:p>
            <a:r>
              <a:t>CNPJ 63953620000165 · Juros, amortização e vencimento · Excerto da fonte:</a:t>
            </a:r>
          </a:p>
          <a:p>
            <a:r>
              <a:t>5.1. Durante o Período de Investimento, desde que o Patrimônio Líquido da Classe assim permita, as Cotas Seniores farão jus à Amortização trimestral do saldo do Benchmark Sênior a ser realizada no 5º Dia Útil do mês (“Amortização de Benchmark das Cotas Seniores” e “Data de Amortização por Regime de Caixa de Cotas Seniores”, respectivamente). 5.2. Encerrado o Período de Investimento, desde que o Patrimônio Líquido da Classe assim permita, as Cotas Seniores farão jus à Amortização Programada de Cotas Seniores referente ao saldo do Benchmark Sênior ainda não amortizado e ao do saldo do seu Valor Unitário, conforme aplicável, a ser realizada em cada Data d</a:t>
            </a:r>
          </a:p>
          <a:p>
            <a:r>
              <a:t>CNPJ 63953620000165 · Juros, amortização e vencimento · Anexo ao Regulamento · ID 1222863 · 02/06/2026 · versão AnexoConsignadoPrivado02/06/2026 · p. 25 · ApêndiceSubordinada5.1–5.2 · https://fnet.bmfbovespa.com.br/fnet/publico/visualizarDocumento?id=1222863</a:t>
            </a:r>
          </a:p>
          <a:p>
            <a:r>
              <a:t>CNPJ 63953620000165 · Juros, amortização e vencimento · Excerto da fonte:</a:t>
            </a:r>
          </a:p>
          <a:p>
            <a:r>
              <a:t>5.1. Encerrado o Período de Investimento, desde que o Patrimônio Líquido da Classe assim permita e desde que atendido o Índice de Subordinação Alvo, as Cotas Subordinadas farão jus à Amortização [trimestral] do saldo do seu Valor Unitário, consideradas pro forma todas as amortizações pretendidas, seja atendida o Índice de Subordinação Sênior, conforme aplicável, a ser realizada no 5º Dia Útil do mês (“Amortização por Regime de Caixa Cotas Subordinadas” e “Data de Amortização Programada de Cotas Subordinadas”, respectivamente), observada a Ordem de Alocação de Recursos prevista na Classe. 5.2. Durante o Período de Investimento, as Cotas Subordi</a:t>
            </a:r>
          </a:p>
          <a:p>
            <a:r>
              <a:t>CNPJ 63953620000165 · Juros, amortização e vencimento · Condição: Periodicidade em colchetes no apêndice subordinado sinaliza redação não finalizada; não transformar em calendário confirmado.</a:t>
            </a:r>
          </a:p>
          <a:p>
            <a:r>
              <a:t>CNPJ 63953620000165 · Juros, amortização e vencimento · Motivo: Não localizada uma cláusula material para este critério nos textos identificados e processados. A ausência de resultado não comprova inexistência da regra.</a:t>
            </a:r>
          </a:p>
          <a:p>
            <a:r>
              <a:t>CNPJ 63953620000165 · Juros, amortização e vencimento · Versão e prevalência: Leitura específica das cláusulas indicadas; condições e conflitos preservados. Seleção documental atual não comprova vigência jurídica por data isolada.</a:t>
            </a:r>
          </a:p>
          <a:p>
            <a:r>
              <a:t>CNPJ 54871427000194 · Carência das cotas · Motivo: Não localizada uma cláusula material para este critério nos textos identificados e processados. A ausência de resultado não comprova inexistência da regra.</a:t>
            </a:r>
          </a:p>
          <a:p>
            <a:r>
              <a:t>CNPJ 60010416000112 · Carência das cotas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Carência das cotas · Resumo do histórico: {"count": 1, "dates": ["2025-10-09"], "document_count": 1, "sources": [{"document_id": "1051393", "title": "Regulamento", "reference_date": "2025-10-09", "version": "1", "page": "12, 15", "url": "https://fnet.bmfbovespa.com.br/fnet/publico/visualizarDocumento?id=1051393", "sha256": "8469d613078ffd5a6c1d217885d8a397a16342c0b937ae4aa24b106505f233ae"}], "reference": {"path": "history/60010416000112.json", "criterion_id": "quota_grace", "total_count": 1, "preview_count": 1, "full_text_deferred": true, "sha256": "8e2bd813f4c51cf01f6bfaad164bafe69d2bbb192f753eac92da3a01c2e63046"}}</a:t>
            </a:r>
          </a:p>
          <a:p>
            <a:r>
              <a:t>CNPJ 62696791000193 · Carência das cotas · Motivo: Não localizada uma cláusula material para este critério nos textos identificados e processados. A ausência de resultado não comprova inexistência da regra.</a:t>
            </a:r>
          </a:p>
          <a:p>
            <a:r>
              <a:t>CNPJ 55563624000109 · Carência das cotas · Motivo: Não localizada uma cláusula material para este critério nos textos identificados e processados. A ausência de resultado não comprova inexistência da regra.</a:t>
            </a:r>
          </a:p>
          <a:p>
            <a:r>
              <a:t>CNPJ 62552447000120 · Carência das cotas · Motivo: Não localizada uma cláusula material para este critério nos textos identificados e processados. A ausência de resultado não comprova inexistência da regra.</a:t>
            </a:r>
          </a:p>
          <a:p>
            <a:r>
              <a:t>CNPJ 63953620000165 · Carência das cotas · Motivo: Não localizada uma cláusula material para este critério nos textos identificados e processados. A ausência de resultado não comprova inexistência da regra.</a:t>
            </a:r>
          </a:p>
          <a:p>
            <a:r>
              <a:t>CNPJ 54871427000194 · Vencimento das cotas · Regulamento · ID 670691 · 2024-04-28 · versão 1 · p. 29 · https://fnet.bmfbovespa.com.br/fnet/publico/visualizarDocumento?id=670691</a:t>
            </a:r>
          </a:p>
          <a:p>
            <a:r>
              <a:t>CNPJ 54871427000194 · Vencimento das cotas · Excerto da fonte:</a:t>
            </a:r>
          </a:p>
          <a:p>
            <a:r>
              <a:t>Anexo I ao Regulamento CLASSE ÚNICA DE RESPONSABILIDADE LIMITADA DO CONSIGNADO DELTA RECEIVABLES I FUNDO DE INVESTIMENTO EM DIREITOS CREDITÓRIOS  pelo Endossante e depositados em seu conta de sua titularidade para posterior repasse à  Classe. Neste caso, a Classe poderá sofrer perdas principalmente em relação ao atraso na  regularização da titularidade e pagamento dos Direitos Creditórios.</a:t>
            </a:r>
          </a:p>
          <a:p>
            <a:r>
              <a:t> (v) Risco de pré-pagamento dos Direitos Creditórios. A ocorrência de pré-  pagamentos em relação a um ou mais Direitos Creditórios poderá ocasionar perdas à Classe.</a:t>
            </a:r>
          </a:p>
          <a:p>
            <a:r>
              <a:t> A ocorrência de pré-pagamentos (pagamento em data anterior àquela originalmente pactuada)  de Direitos Creditórios reduz o horizonte original de rendimentos esperados pela Classe de  tais Direitos Creditórios, uma vez que o pré-pagamento poderá, se assim permitido pela  documentação do Direito Creditório ou, conf orme o caso, pela legislação aplicável, ser  realizado pelo valor de emissão do Direito Creditório atualizado até a data do pré-pagamento  pela taxa de juros pactuada entre os Endossantes e os Devedores de tais Direitos Creditórios,  de modo que os juros remuneratórios incidentes desde a data da realização do pré-pagamento  até a data de vencimento do respectivo Direito Creditório deixam de ser devidos à Classe.</a:t>
            </a:r>
          </a:p>
          <a:p>
            <a:r>
              <a:t> (vi) Riscos associados aos Devedores: os Direitos Creditórios a serem cedidos à  Classe serão descontados da remuneração do Devedor, através de desconto em f olha de  pagamento ou de benefício. Nesse sentido, na ocorrência de pré-pagamento, as parcelas  serão pagas antecipadamente e a Classe deverá utilizar tais montantes no pré-pagamento dos  Direitos Creditórios. Nesta hipótese, a Classe poderá não encontrar Direitos Creditórios  disponíveis para serem adquiridos pela Classe, o que poderá afetar a rentabilidade da Classe.</a:t>
            </a:r>
          </a:p>
          <a:p>
            <a:r>
              <a:t> (vii) Risco de Competição: o mercado de empréstimos experimentou grande  expansão no Brasil nos últimos anos. Nesse contexto, a Resolução CMN nº 4.292, alterada  pela Resolução nº 4.762, de 27 de novembro de 2019, dispõe que deve ser garantido às  pessoas naturais devedoras de operações de crédito (tais como as CCB) a possibilidade de  realizarem a portabilidade destas operações para outras instituições financeiras, inclusive nos  casos em que tenham sido objeto de cessão (tais como as realizadas à Classe). Nesse  cenário, é possível que os competidores do Endossante ofereçam condições e taxas mais  vantajosas para os empréstimos pessoais com consignação em f olha de pagamento ou de  benef ícios, o que pode causar a migração de clientes da Endossante para outras instituições  f inanceiras, gerando a liquidação antecipada de parte das CCB existentes e/ou redução no  número de Direitos Creditórios cedidos. Referida competição poderá af etar os resultados da  Classe, impactando negativamente os rendimentos dos Cotistas. Ainda, a portabilidade a um  Devedor pode acarretar no recebimento de valores inf eriores aos esperados pela Classe.</a:t>
            </a:r>
          </a:p>
          <a:p>
            <a:r>
              <a:t> (viii) Insuf iciência dos Critérios de Elegibilidade. Os Critérios de Elegibilidade têm a  f inalidade de selecionar os Direitos Creditórios passíveis de aquisição pela Classe. Não  obstante tais Critérios de Elegibilidade, a solvência dos Direitos Creditórios que compõem a  Carteira depende integralmente, mas não somente, da situação econômico-financeira dos  Devedores. Dessa f orma, a observância pelo GESTOR dos Critérios de Elegibilidade não  constitui garantia de adimplência dos Devedores.</a:t>
            </a:r>
          </a:p>
          <a:p>
            <a:r>
              <a:t> Os Endossantes não necessariamente garantem a solvência dos seus respectivos Devedores.</a:t>
            </a:r>
          </a:p>
          <a:p>
            <a:r>
              <a:t> O Endossante dos Direitos Creditórios não assumirá responsabilidade pelo seu pagamento ou  pela solvência dos respectivos Devedores. A Classe sofrerá o impacto do inadimplemento dos  Direitos Creditórios vencidos e não pagos pelos respectivos Devedores.</a:t>
            </a:r>
          </a:p>
          <a:p>
            <a:r>
              <a:t> (ix) Possibilidade de aquisição de Direitos Creditórios cedidos por Endossante  e/ou devidos por Devedores cujas demonstrações financeiras não sejam auditadas. A Classe,  desde que sejam respeitados os limites de concentração previstos neste Regulamento, poderá  manter a qualquer tempo em sua Carteira, Direitos Creditórios cedidos por Endossante e/ou  devidos por Devedores cujas demonstrações f inanceiras não sejam auditadas por Auditor  Independente registrado na CVM. Nesse sentido, não haverá verificação independente sobre  tais demonstrações f inanceiras que af irme se estas representam adequadamente, em todos  os aspectos relevantes, as respectivas posições patrimoniais e f inanceiras, os resultados de  suas operações, as mutações de seus respectivos patrimônios líquidos tampouco as origens  e aplicações de seus recursos.</a:t>
            </a:r>
          </a:p>
          <a:p>
            <a:r>
              <a:t>CNPJ 54871427000194 · Vencimento das cotas · Condição: Documentos atuais selecionados no inventário por categoria/escopo; a data documental isolada não comprova vigência jurídica.</a:t>
            </a:r>
          </a:p>
          <a:p>
            <a:r>
              <a:t>CNPJ 54871427000194 · Vencimento das cotas · Motivo: Cláusula primária localizada e citada, mas sua lista/condições extensas não admitem uma síntese literal curta confirmada. O trecho integral permanece nas fontes. A resposta da revisão anterior foi preservada no histórico, sem confirmação pelo documento atual.</a:t>
            </a:r>
          </a:p>
          <a:p>
            <a:r>
              <a:t>CNPJ 54871427000194 · Vencimento das cotas · Versão e prevalência: Documentos atuais selecionados no inventário por categoria/escopo; a data documental isolada não comprova vigência jurídica.</a:t>
            </a:r>
          </a:p>
          <a:p>
            <a:r>
              <a:t>CNPJ 54871427000194 · Vencimento das cotas · Resumo do histórico: {"count": 2, "dates": ["2024-04-19", "2024-04-28"], "document_count": 2, "sources": [{"document_id": "670691", "title": "Regulamento", "reference_date": "2024-04-28", "version": "1", "page": "7, 15", "url": "https://fnet.bmfbovespa.com.br/fnet/publico/visualizarDocumento?id=670691", "sha256": "bf16dd7f1a62d5cdbf2e2d54fef81783783f7310fbc99c3a8f00459bdf9d037b"}, {"document_id": "670689", "title": "Regulamento", "reference_date": "2024-04-19", "version": "1", "page": 30, "url": "https://fnet.bmfbovespa.com.br/fnet/publico/visualizarDocumento?id=670689", "sha256": "891bc9bc5d87bbc02ec139077a84d2702eb81ea02035fb71d24f5b8366b94a0b"}], "reference": {"path": "history/54871427000194.json", "criterion_id": "quota_maturity", "total_count": 2, "preview_count": 2, "full_text_deferred": true, "sha256": "35d7cd99be50c7287c9fb675cf4f2e736002315295a225a9efa79c8d9186d874"}}</a:t>
            </a:r>
          </a:p>
          <a:p>
            <a:r>
              <a:t>CNPJ 60010416000112 · Vencimento das cotas · Demonstrações Financeiras - Fusão, cisão e incorporação · ID 1298690 · 2026-05-08 · versão 1 · p. 30 · https://fnet.bmfbovespa.com.br/fnet/publico/visualizarDocumento?id=1298690</a:t>
            </a:r>
          </a:p>
          <a:p>
            <a:r>
              <a:t>CNPJ 60010416000112 · Vencimento das cotas · Excerto da fonte:</a:t>
            </a:r>
          </a:p>
          <a:p>
            <a:r>
              <a:t>Durante o período de investimento, a Administradora poderá deliberar por realizar novas  emissões de Cotas Seniores, sem a necessidade de aprovação em Assembleia Especial de  Cotistas ou alteração do Regulamento, limitadas ao montante máximo de R$ 1.000.000 (um  bilhão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seniores emitidas não sejam superiores aos  prazos de vencimento da primeira emissão.</a:t>
            </a:r>
          </a:p>
          <a:p>
            <a:r>
              <a:t>CNPJ 60010416000112 · Vencimento das cotas · Demonstrações Financeiras - Fusão, cisão e incorporação · ID 1298690 · 2026-05-08 · versão 1 · p. 30 · https://fnet.bmfbovespa.com.br/fnet/publico/visualizarDocumento?id=1298690</a:t>
            </a:r>
          </a:p>
          <a:p>
            <a:r>
              <a:t>CNPJ 60010416000112 · Vencimento das cotas · Excerto da fonte:</a:t>
            </a:r>
          </a:p>
          <a:p>
            <a:r>
              <a:t>Durante o período de investimento, a Administradora poderá deliberar por realizar novas  emissões de cotas subordinadas, sem a necessidade de aprovação em Assembleia Especial  de Cotistas ou alteração do Regulamento, limitadas ao montante máximo de R$ 50.000  (cinquenta milhões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subordinadas emitidas não sejam  superiores aos prazos de vencimento da primeira emissão.</a:t>
            </a:r>
          </a:p>
          <a:p>
            <a:r>
              <a:t>CNPJ 60010416000112 · Vencimento das cotas · Condição: Documentos atuais selecionados no inventário por categoria/escopo; a data documental isolada não comprova vigência jurídica.</a:t>
            </a:r>
          </a:p>
          <a:p>
            <a:r>
              <a:t>CNPJ 60010416000112 · Vencimento das cotas · Motivo: Cláusula primária localizada e citada, mas sua lista/condições extensas não admitem uma síntese literal curta confirmada. O trecho integral permanece nas fontes. A resposta da revisão anterior foi preservada no histórico, sem confirmação pelo documento atual.</a:t>
            </a:r>
          </a:p>
          <a:p>
            <a:r>
              <a:t>CNPJ 60010416000112 · Vencimento das cotas · Versão e prevalência: Documentos atuais selecionados no inventário por categoria/escopo; a data documental isolada não comprova vigência jurídica.</a:t>
            </a:r>
          </a:p>
          <a:p>
            <a:r>
              <a:t>CNPJ 60010416000112 · Vencimento das cotas · Resumo do histórico: {"count": 3, "dates": ["2025-03-20", "2025-10-09"], "document_count": 2, "sources": [{"document_id": "1051393", "title": "Regulamento", "reference_date": "2025-10-09", "version": "1", "page": "8, 48, 53", "url": "https://fnet.bmfbovespa.com.br/fnet/publico/visualizarDocumento?id=1051393", "sha256": "8469d613078ffd5a6c1d217885d8a397a16342c0b937ae4aa24b106505f233ae"}, {"document_id": "1051393", "title": "Regulamento", "reference_date": "2025-10-09", "version": "1", "page": 48, "clause": "2.1.2", "url": "https://fnet.bmfbovespa.com.br/fnet/publico/visualizarDocumento?id=1051393", "sha256": "8469d613078ffd5a6c1d217885d8a397a16342c0b937ae4aa24b106505f233ae"}, {"document_id": "993786", "title": "Regulamento", "reference_date": "2025-03-20", "version": "1", "page": 48, "clause": "2.1.2", "url": "https://fnet.bmfbovespa.com.br/fnet/publico/visualizarDocumento?id=993786", "sha256": "fd0fdd369a195510d81f81f505195a0b09e5f43522a990afa7d58c4f872921c8"}], "reference": {"path": "history/60010416000112.json", "criterion_id": "quota_maturity", "total_count": 3, "preview_count": 3, "full_text_deferred": true, "sha256": "8e2bd813f4c51cf01f6bfaad164bafe69d2bbb192f753eac92da3a01c2e63046"}}</a:t>
            </a:r>
          </a:p>
          <a:p>
            <a:r>
              <a:t>CNPJ 62696791000193 · Vencimento das cotas · Motivo: Não localizada uma cláusula material para este critério nos textos identificados e processados. A ausência de resultado não comprova inexistência da regra.</a:t>
            </a:r>
          </a:p>
          <a:p>
            <a:r>
              <a:t>CNPJ 55563624000109 · Vencimento das cotas · Motivo: Não localizada uma cláusula material para este critério nos textos identificados e processados. A ausência de resultado não comprova inexistência da regra.</a:t>
            </a:r>
          </a:p>
          <a:p>
            <a:r>
              <a:t>CNPJ 62552447000120 · Vencimento das cotas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Vencimento das cotas · Resumo do histórico: {"count": 1, "dates": ["2025-09-03"], "document_count": 1, "sources": [{"document_id": "988020", "title": "Instrumento Particular de Emissão de Cotas", "reference_date": "2025-09-03", "version": "1", "page": "5", "url": "https://fnet.bmfbovespa.com.br/fnet/publico/visualizarDocumento?id=988020", "sha256": "8ecc8a771bb9713d64e5fc2052c489664cb0433801a9280db68e5187d35bf7a5"}], "reference": {"path": "history/62552447000120.json", "criterion_id": "quota_maturity", "total_count": 1, "preview_count": 1, "full_text_deferred": true, "sha256": "d95db8c0613d67ee84118c734588665265ea6b02f86a0318d6a844cbe1d0f82f"}}</a:t>
            </a:r>
          </a:p>
          <a:p>
            <a:r>
              <a:t>CNPJ 63953620000165 · Vencimento das cotas · Motivo: Não localizada uma cláusula material para este critério nos textos identificados e processados. A ausência de resultado não comprova inexistência da regra.</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Fluxo de caixa e prazo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Ordem de alocação de recursos · Regulamento · ID 670691 · 28/04/2024 · versão Regulamento — referência 28/04/2024 · p. 16 · Anexo I, 8.1–8.2 · https://fnet.bmfbovespa.com.br/fnet/publico/visualizarDocumento?id=670691</a:t>
            </a:r>
          </a:p>
          <a:p>
            <a:r>
              <a:t>CNPJ 54871427000194 · Ordem de alocação de recursos · Excerto da fonte:</a:t>
            </a:r>
          </a:p>
          <a:p>
            <a:r>
              <a:t>8.1 O Cotista que tenha apresentado documentação comprobatória de sua condição de imunidade ou isenção tributária, nos termos do item 7.7, e que tiver essa condição alterada ou revogada por disposição normativa, seja por deixar de atender às condições e requisitos prescritos no dispositivo legal aplicável, ou por ter tal condição questionada por autoridade judicial, fiscal ou regulamentar competente, ou, ainda, por ter tal condição alterada e/ou revogada por qualquer outra razão que não as mencionadas acima, deverá comunicar esse f ato, de f orma detalhada e por escrito, ao ADMINISTRADOR, com cópia para o CUSTODIANTE, bem como prestar qualquer inf ormação adicional em relação ao tema que lhe seja solicitada pelo ADMINISTRADOR e/ou pelo CUSTODIANTE. CAPÍTULO 8 – ORDEM DE ALOCAÇÃO DE RECURSOS 8.1 O ADMINISTRADOR e o GESTOR obrigam-se a, a partir da Data da 1ª Integralização de Cotas até a liquidação integral das Obrigações do da Classe, utilizar os recursos disponíveis na Conta da Classe e/ou mantidos em Ativos Financeiros de Liquidez, em cada Dia Útil, de acordo com a seguinte ordem de prioridade de alocação de modo que cada item abaixo listad</a:t>
            </a:r>
          </a:p>
          <a:p>
            <a:r>
              <a:t>CNPJ 54871427000194 · Ordem de alocação de recursos · Versão e prevalência: Leitura específica das cláusulas indicadas; condições e conflitos preservados. Seleção documental atual não comprova vigência jurídica por data isolada.</a:t>
            </a:r>
          </a:p>
          <a:p>
            <a:r>
              <a:t>CNPJ 54871427000194 · Ordem de alocação de recursos · Resumo do histórico: {"count": 2, "dates": ["2024-04-19", "2024-04-28"], "document_count": 2, "sources": [{"document_id": "670691", "title": "Regulamento", "reference_date": "2024-04-28", "version": "1", "page": "16", "url": "https://fnet.bmfbovespa.com.br/fnet/publico/visualizarDocumento?id=670691", "sha256": "bf16dd7f1a62d5cdbf2e2d54fef81783783f7310fbc99c3a8f00459bdf9d037b"}, {"document_id": "670689", "title": "Regulamento", "reference_date": "2024-04-19", "version": "1", "page": 16, "clause": "8.1", "url": "https://fnet.bmfbovespa.com.br/fnet/publico/visualizarDocumento?id=670689", "sha256": "891bc9bc5d87bbc02ec139077a84d2702eb81ea02035fb71d24f5b8366b94a0b"}], "reference": {"path": "history/54871427000194.json", "criterion_id": "waterfall", "total_count": 2, "preview_count": 2, "full_text_deferred": true, "sha256": "35d7cd99be50c7287c9fb675cf4f2e736002315295a225a9efa79c8d9186d874"}}</a:t>
            </a:r>
          </a:p>
          <a:p>
            <a:r>
              <a:t>CNPJ 60010416000112 · Ordem de alocação de recursos · Regulamento · ID 1051393 · 09/10/2025 · versão Regulamento09/10/2025 · p. 16 · AnexoI7.11(i)–(ii),7.12 · https://fnet.bmfbovespa.com.br/fnet/publico/visualizarDocumento?id=1051393</a:t>
            </a:r>
          </a:p>
          <a:p>
            <a:r>
              <a:t>CNPJ 60010416000112 · Ordem de alocação de recursos · Excerto da fonte:</a:t>
            </a:r>
          </a:p>
          <a:p>
            <a:r>
              <a:t>7.11 Sem prejuízo do disposto do disposto nos itens 7.1 a 7.10 acima, a partir da Data da 1ª Integralização de Cotas até a liquidação integral das Obrigações da Classe, sempre preservando a manutenção da boa ordem legal, administrativa e operacional da Classe, o Gestor obriga-se a utilizar os recursos disponíveis na Conta de Movimentação da Classe e/ou mantidos em Ativos Financeiros de Liquidez, em cada Dia Útil, de acordo com a seguinte ordem de prioridade de alocação, na forma dos itens e tabela abaixo, de modo que cada um dos itens listado apenas será contemplado após o direcionamento do montante</a:t>
            </a:r>
          </a:p>
          <a:p>
            <a:r>
              <a:t>CNPJ 60010416000112 · Ordem de alocação de recursos · Motivo: Cláusula primária localizada e citada, mas sua lista/condições extensas não admitem uma síntese literal curta confirmada. O trecho integral permanece nas fontes. A resposta da revisão anterior foi preservada no histórico, sem confirmação pelo documento atual.</a:t>
            </a:r>
          </a:p>
          <a:p>
            <a:r>
              <a:t>CNPJ 60010416000112 · Ordem de alocação de recursos · Versão e prevalência: Leitura específica das cláusulas indicadas; condições e conflitos preservados. Seleção documental atual não comprova vigência jurídica por data isolada.</a:t>
            </a:r>
          </a:p>
          <a:p>
            <a:r>
              <a:t>CNPJ 60010416000112 · Ordem de alocação de recursos · Resumo do histórico: {"count": 2, "dates": ["2025-03-20", "2025-10-09"], "document_count": 2, "sources": [{"document_id": "1051393", "title": "Regulamento", "reference_date": "2025-10-09", "version": "1", "page": "16-17", "url": "https://fnet.bmfbovespa.com.br/fnet/publico/visualizarDocumento?id=1051393", "sha256": "8469d613078ffd5a6c1d217885d8a397a16342c0b937ae4aa24b106505f233ae"}, {"document_id": "993786", "title": "Regulamento", "reference_date": "2025-03-20", "version": "1", "page": 16, "clause": "7.11", "url": "https://fnet.bmfbovespa.com.br/fnet/publico/visualizarDocumento?id=993786", "sha256": "fd0fdd369a195510d81f81f505195a0b09e5f43522a990afa7d58c4f872921c8"}], "reference": {"path": "history/60010416000112.json", "criterion_id": "waterfall", "total_count": 2, "preview_count": 2, "full_text_deferred": true, "sha256": "8e2bd813f4c51cf01f6bfaad164bafe69d2bbb192f753eac92da3a01c2e63046"}}</a:t>
            </a:r>
          </a:p>
          <a:p>
            <a:r>
              <a:t>CNPJ 62696791000193 · Ordem de alocação de recursos · Regulamento · ID 1143317 · 20/03/2026 · versão Regulamento — referência 20/03/2026 · p. 16 · Anexo I, 6.1(i)–(vii) · https://fnet.bmfbovespa.com.br/fnet/publico/visualizarDocumento?id=1143317</a:t>
            </a:r>
          </a:p>
          <a:p>
            <a:r>
              <a:t>CNPJ 62696791000193 · Ordem de alocação de recursos · Excerto da fonte:</a:t>
            </a:r>
          </a:p>
          <a:p>
            <a:r>
              <a:t>6.1 O Administrador e o Gestor obrigam-se a, a partir da data da primeira integralização de Cotas até a liquidação integral das obrigações da Classe, utilizar os recursos disponíveis na Conta da Classe e/ou mantidos em Ativos Financeiros de Liquidez em cada Dia Útil, de acordo com a seguinte ordem de prioridade de alocação, de modo que cada item abaixo listado apenas será contemplado após o direcionamento do montante total necessário para a satisfação dos itens anteriores, ressalvada a ocorrência de eventos extraordinários que afetem o funcionamento regular do Fundo e/ou da Classe: (i) pagamento dos encargos do Fundo e/ou da Classe; (ii) constituição e/ou recomposição da reserva de despesas de modo que esta, ao final de cada Dia Útil, seja equivalente ao montante estimado dos encargos, a serem incorridos nos 6 (seis) meses calendário imediatamente subsequentes pelo Fundo e/ou a Classe (“Reserva de Despesas”); (iii) pagamento de Amortização ou resgate de Cotas Seniores, se houver; (iv) pagamento de Amortização ou resgate de Cotas Mezanino, se houver; (v) aquisição pela Classe de Direitos Creditórios do Agronegócio e/ou Outros Ativos, observando-se a Política de Investimentos; e (vi) pagamento de Amortização ou resgate de Cotas Subordinadas, se houver (vii) aquisição pela Classe de Ativos Financeiros de Liquidez, observando-se a Política de Investimentos.</a:t>
            </a:r>
          </a:p>
          <a:p>
            <a:r>
              <a:t>CNPJ 62696791000193 · Ordem de alocação de recursos · Condição: A ordem diária contém ressalva para eventos extraordinários que afetem o funcionamento regular do fundo ou da classe. Na liquidação, aplicar a partilha específica do Anexo I 11.2.1.</a:t>
            </a:r>
          </a:p>
          <a:p>
            <a:r>
              <a:t>CNPJ 62696791000193 · Ordem de alocação de recursos · Motivo: Cláusula primária localizada e citada, mas sua lista/condições extensas não admitem uma síntese literal curta confirmada. O trecho integral permanece nas fontes.</a:t>
            </a:r>
          </a:p>
          <a:p>
            <a:r>
              <a:t>CNPJ 62696791000193 · Ordem de alocação de recursos · Versão e prevalência: Leitura específica das cláusulas indicadas; condições e conflitos preservados. Seleção documental atual não comprova vigência jurídica por data isolada.</a:t>
            </a:r>
          </a:p>
          <a:p>
            <a:r>
              <a:t>CNPJ 55563624000109 · Ordem de alocação de recursos · Regulamento · ID 1192614 · 30/04/2026 · versão Regulamento30/04/2026 · p. 18 · AnexoI8.1(i)–(iv) · https://fnet.bmfbovespa.com.br/fnet/publico/visualizarDocumento?id=1192614</a:t>
            </a:r>
          </a:p>
          <a:p>
            <a:r>
              <a:t>CNPJ 55563624000109 · Ordem de alocação de recursos · Excerto da fonte:</a:t>
            </a:r>
          </a:p>
          <a:p>
            <a:r>
              <a:t>8.1 O ADMINISTRADOR e o GESTOR obrigam-se a, a partir da Data 1ª Integralização da Classe até a liquidação integral de todas as Obrigações da Classe, utilizar os recursos disponíveis na Conta da Classe e/ou mantidos em Ativos Financeiros de Liquidez, em cada Dia Útil, de acordo com a seguinte ordem de prioridade de alocação de modo que cada item abaixo listado apenas será contemplado após o direcionamento do montante total necessário para a satisfação dos itens anteriores, ressalvado, enquanto em curso um Evento de Avaliação e/ou um Evento de Liquidação,</a:t>
            </a:r>
          </a:p>
          <a:p>
            <a:r>
              <a:t>CNPJ 55563624000109 · Ordem de alocação de recursos · Regulamento · ID 1192614 · 30/04/2026 · versão Regulamento30/04/2026 · p. 19 · AnexoI8.1(v) e8.2 · https://fnet.bmfbovespa.com.br/fnet/publico/visualizarDocumento?id=1192614</a:t>
            </a:r>
          </a:p>
          <a:p>
            <a:r>
              <a:t>CNPJ 55563624000109 · Ordem de alocação de recursos · Excerto da fonte:</a:t>
            </a:r>
          </a:p>
          <a:p>
            <a:r>
              <a:t>8.2 Em caso de liquidação antecipada da Classe, observados os procedimentos descritos no item 11.4 e seguintes abaixo, os recursos decorrentes do pagamento das Cotas a partir do recebimento dos Ativos Financeiros de Liquidez e de Direitos Creditórios da Carteira da Classe serão alocados da seguinte forma: (i) pagamento dos Encargos; e (ii) pagamento do resgate das Cotas, com a devida observância dos termos e condições deste Regulamento. 9 METODOLOGIA DE AVALIAÇÃO DOS ATIVOS DA CLASSE 9.1 As Cotas da Classe Investida e Ativos Financeiro</a:t>
            </a:r>
          </a:p>
          <a:p>
            <a:r>
              <a:t>CNPJ 55563624000109 · Ordem de alocação de recursos · Versão e prevalência: Leitura específica das cláusulas indicadas; condições e conflitos preservados. Seleção documental atual não comprova vigência jurídica por data isolada.</a:t>
            </a:r>
          </a:p>
          <a:p>
            <a:r>
              <a:t>CNPJ 55563624000109 · Ordem de alocação de recursos · Resumo do histórico: {"count": 1, "dates": ["2026-04-30"], "document_count": 1, "sources": [{"document_id": "1192614", "title": "Regulamento", "reference_date": "2026-04-30", "version": "1", "page": "18-19", "url": "https://fnet.bmfbovespa.com.br/fnet/publico/visualizarDocumento?id=1192614", "sha256": "f56e63ace0acde41d2f47fb48f1ac7f3f7df5e2d32de092d7c5e075a52516632"}], "reference": {"path": "history/55563624000109.json", "criterion_id": "waterfall", "total_count": 1, "preview_count": 1, "full_text_deferred": true, "sha256": "7835d573fb58a3c19adf5b8ecc2aee2bdbb9a88f7a0c0209b5f262b64c7522e3"}}</a:t>
            </a:r>
          </a:p>
          <a:p>
            <a:r>
              <a:t>CNPJ 62552447000120 · Ordem de alocação de recursos · Regulamento · ID 1200623 · 21/05/2026 · versão Consolidado21/05/2026 aprovado pelo ato1200625 · p. 20 · AnexoI8.1(i)–(v) · https://fnet.bmfbovespa.com.br/fnet/publico/visualizarDocumento?id=1200623</a:t>
            </a:r>
          </a:p>
          <a:p>
            <a:r>
              <a:t>CNPJ 62552447000120 · Ordem de alocação de recursos · Excerto da fonte:</a:t>
            </a:r>
          </a:p>
          <a:p>
            <a:r>
              <a:t>8.1 O Administrador e o Gestor obrigam-se a, a partir da data da primeira integralização de Cotas (“Data da Primeira Integralização”) até a liquidação integral das obrigações da Classe, utilizar os recursos disponíveis na conta corrente mantida pela Classe junto ao Custodiante, a ser utilizada para todos os recebimentos e transferências de recursos pela Classe (“Conta da Classe”) e/ou mantidos em Ativos Financeiros, em cada Dia Útil, de acordo com a seguinte ordem de prioridade de alocação de modo que cada item abaixo listado apenas será contemplado após o direcionamento do montante total necessári</a:t>
            </a:r>
          </a:p>
          <a:p>
            <a:r>
              <a:t>CNPJ 62552447000120 · Ordem de alocação de recursos · Regulamento · ID 1200623 · 21/05/2026 · versão Consolidado21/05/2026 aprovado pelo ato1200625 · p. 19 · AnexoI7.3 · https://fnet.bmfbovespa.com.br/fnet/publico/visualizarDocumento?id=1200623</a:t>
            </a:r>
          </a:p>
          <a:p>
            <a:r>
              <a:t>CNPJ 62552447000120 · Ordem de alocação de recursos · Excerto da fonte:</a:t>
            </a:r>
          </a:p>
          <a:p>
            <a:r>
              <a:t>7.3 Quaisquer pagamentos aos Cotistas a título de Amortização deverão observar a ordem de alocação de recursos e abranger, proporcionalmente e sem direito de preferência ou prioridade, todas as Cotas, em benef ício de todos os respectivos titulares. Quando do pagamento de resgate de Cotas, as Cotas objeto de resgate serão canceladas. 7.4 Para f ins de Amortização, será considerado o valor da Cota do segundo Dia Útil anterior à data do pagamento da respectiva parcela da Amortização, por meio do Sistema de Pagamentos Brasileiro – SPB, observados os procedimentos do Escriturador e do mercado organizado em</a:t>
            </a:r>
          </a:p>
          <a:p>
            <a:r>
              <a:t>CNPJ 62552447000120 · Ordem de alocação de recursos · Motivo: Cláusula primária localizada e citada, mas sua lista/condições extensas não admitem uma síntese literal curta confirmada. O trecho integral permanece nas fontes.</a:t>
            </a:r>
          </a:p>
          <a:p>
            <a:r>
              <a:t>CNPJ 62552447000120 · Ordem de alocação de recursos · Versão e prevalência: Leitura específica das cláusulas indicadas; condições e conflitos preservados. Seleção documental atual não comprova vigência jurídica por data isolada.</a:t>
            </a:r>
          </a:p>
          <a:p>
            <a:r>
              <a:t>CNPJ 63953620000165 · Ordem de alocação de recursos · Anexo ao Regulamento · ID 1222863 · 02/06/2026 · versão AnexoConsignadoPrivado02/06/2026 · p. 11 · 8.1(i) · https://fnet.bmfbovespa.com.br/fnet/publico/visualizarDocumento?id=1222863</a:t>
            </a:r>
          </a:p>
          <a:p>
            <a:r>
              <a:t>CNPJ 63953620000165 · Ordem de alocação de recursos · Excerto da fonte:</a:t>
            </a:r>
          </a:p>
          <a:p>
            <a:r>
              <a:t>8.1 O Administrador e o Gestor obrigam-se a, a partir da data da primeira integralização de Cotas (“Data da 1ª Integralização”) até a liquidação integral das obrigações da Classe, utilizar os recursos disponíveis na Conta da Classe e/ou mantidos em Ativos Financeiros, em cada Dia Útil, de acordo com a seguinte ordem de prioridade de alocação de modo que cada item abaixo listado apenas será contemplado após o direcionamento do montante total necessário para a satisfação dos itens anteriores, ressalvado, enquanto em curso um Evento de Avaliação e/ou um Evento de Liquidação, o disposto nos itens 11.1.2: (i)</a:t>
            </a:r>
          </a:p>
          <a:p>
            <a:r>
              <a:t>CNPJ 63953620000165 · Ordem de alocação de recursos · Anexo ao Regulamento · ID 1222863 · 02/06/2026 · versão AnexoConsignadoPrivado02/06/2026 · p. 12 · 8.1(ii)–(x) · https://fnet.bmfbovespa.com.br/fnet/publico/visualizarDocumento?id=1222863</a:t>
            </a:r>
          </a:p>
          <a:p>
            <a:r>
              <a:t>CNPJ 63953620000165 · Ordem de alocação de recursos · Excerto da fonte:</a:t>
            </a:r>
          </a:p>
          <a:p>
            <a:r>
              <a:t>(ii) constituição ou reestabelecimento da Reserva de Caixa, conforme definida abaixo, por meio da aquisição de Ativos Financeiros de Liquidez, observando-se a Política de Investimentos; (iii) pagamento de despesas relativas aos instrumentos de derivativos, conforme aplicável; (iv) pagamento da Rentabilidade Adicional Sênior, caso aplicável; (v) aquisição pela Classe de Direitos Creditórios, durante o Período de Investimento, observando-se a Política de Investimentos; (vi) pagamento do Benchmark Sênior, a critério do Gestor; (vii) pagamento da amortização do principal</a:t>
            </a:r>
          </a:p>
          <a:p>
            <a:r>
              <a:t>CNPJ 63953620000165 · Ordem de alocação de recursos · Condição: Compra de DC antecede amortização do benchmark/principal; principal sênior durante investimento exige tempo decorrido maior que duration dos DC.</a:t>
            </a:r>
          </a:p>
          <a:p>
            <a:r>
              <a:t>CNPJ 63953620000165 · Ordem de alocação de recursos · Motivo: Não localizada uma cláusula material para este critério nos textos identificados e processados. A ausência de resultado não comprova inexistência da regra.</a:t>
            </a:r>
          </a:p>
          <a:p>
            <a:r>
              <a:t>CNPJ 63953620000165 · Ordem de alocação de recursos · Versão e prevalência: Leitura específica das cláusulas indicadas; condições e conflitos preservados. Seleção documental atual não comprova vigência jurídica por data isolada.</a:t>
            </a:r>
          </a:p>
          <a:p>
            <a:r>
              <a:t>CNPJ 54871427000194 · Pró-rata, sequencial e aceleração · Motivo: Não localizada uma cláusula material para este critério nos textos identificados e processados. A ausência de resultado não comprova inexistência da regra.</a:t>
            </a:r>
          </a:p>
          <a:p>
            <a:r>
              <a:t>CNPJ 60010416000112 · Pró-rata, sequencial e aceleração · Motivo: Não localizada uma cláusula material para este critério nos textos identificados e processados. A ausência de resultado não comprova inexistência da regra.</a:t>
            </a:r>
          </a:p>
          <a:p>
            <a:r>
              <a:t>CNPJ 62696791000193 · Pró-rata, sequencial e aceleração · Regulamento · ID 1143317 · 20/03/2026 · versão Regulamento — referência 20/03/2026 · p. 23 · Anexo I, 11.2.1 · https://fnet.bmfbovespa.com.br/fnet/publico/visualizarDocumento?id=1143317</a:t>
            </a:r>
          </a:p>
          <a:p>
            <a:r>
              <a:t>CNPJ 62696791000193 · Pró-rata, sequencial e aceleração · Excerto da fonte:</a:t>
            </a:r>
          </a:p>
          <a:p>
            <a:r>
              <a:t>11.2.1 No caso de Liquidação da Classe, os Cotistas terão o direito de partilhar o Patrimônio Líquido em igualdade de condições e na proporção de suas Cotas, deduzidas as despesas necessárias para a liquidação da Classe. Não haverá qualquer tipo de pref erência, p rioridade ou subordinação entre os Cotistas.</a:t>
            </a:r>
          </a:p>
          <a:p>
            <a:r>
              <a:t>CNPJ 62696791000193 · Pró-rata, sequencial e aceleração · Regulamento · ID 1143317 · 20/03/2026 · versão Regulamento — referência 20/03/2026 · p. 35 · Apêndice Sênior, 7.1 · https://fnet.bmfbovespa.com.br/fnet/publico/visualizarDocumento?id=1143317</a:t>
            </a:r>
          </a:p>
          <a:p>
            <a:r>
              <a:t>CNPJ 62696791000193 · Pró-rata, sequencial e aceleração · Excerto da fonte:</a:t>
            </a:r>
          </a:p>
          <a:p>
            <a:r>
              <a:t>7.1. Prioridade de Recebimento das Cotas Seniores. As Cotas Seniores terão prioridade no pagamento de resgate sobre todas as Cotas Subordinadas Juniores, observado que as Cotas Subordinadas Juniores somente serão resgatadas após o pagamento integral das Cotas Seniores (exceto se de outra forma permitido no Anexo I).</a:t>
            </a:r>
          </a:p>
          <a:p>
            <a:r>
              <a:t>CNPJ 62696791000193 · Pró-rata, sequencial e aceleração · Condição: Apêndice Sênior 7.1 remete expressamente à exceção do Anexo I. A partilha da liquidação segue 11.2.1; a proteção sênior prevista para resgate não assegura prioridade nesse cenário.</a:t>
            </a:r>
          </a:p>
          <a:p>
            <a:r>
              <a:t>CNPJ 62696791000193 · Pró-rata, sequencial e aceleração · Motivo: Não localizada uma cláusula material para este critério nos textos identificados e processados. A ausência de resultado não comprova inexistência da regra.</a:t>
            </a:r>
          </a:p>
          <a:p>
            <a:r>
              <a:t>CNPJ 62696791000193 · Pró-rata, sequencial e aceleração · Versão e prevalência: Leitura específica das cláusulas indicadas; condições e conflitos preservados. Seleção documental atual não comprova vigência jurídica por data isolada.</a:t>
            </a:r>
          </a:p>
          <a:p>
            <a:r>
              <a:t>CNPJ 55563624000109 · Pró-rata, sequencial e aceleração · Motivo: Não localizada uma cláusula material para este critério nos textos identificados e processados. A ausência de resultado não comprova inexistência da regra.</a:t>
            </a:r>
          </a:p>
          <a:p>
            <a:r>
              <a:t>CNPJ 62552447000120 · Pró-rata, sequencial e aceleração · Motivo: Não localizada uma cláusula material para este critério nos textos identificados e processados. A ausência de resultado não comprova inexistência da regra.</a:t>
            </a:r>
          </a:p>
          <a:p>
            <a:r>
              <a:t>CNPJ 63953620000165 · Pró-rata, sequencial e aceleração · Motivo: Não localizada uma cláusula material para este critério nos textos identificados e processados. A ausência de resultado não comprova inexistência da regra.</a:t>
            </a:r>
          </a:p>
          <a:p>
            <a:r>
              <a:t>CNPJ 54871427000194 · Revolvência e desinvestimento · Regulamento · ID 670691 · 28/04/2024 · versão Regulamento — referência 28/04/2024 · p. 11 · Anexo I, 4.12 · https://fnet.bmfbovespa.com.br/fnet/publico/visualizarDocumento?id=670691</a:t>
            </a:r>
          </a:p>
          <a:p>
            <a:r>
              <a:t>CNPJ 54871427000194 · Revolvência e desinvestimento · Excerto da fonte:</a:t>
            </a:r>
          </a:p>
          <a:p>
            <a:r>
              <a:t>4.12 Os recursos recebidos pela Classe em razão da liquidação dos Direitos Creditórios, a qualquer título, incluindo pagamento regular ou por excussão de garantia, alienação, recompra, indenização pelo Cedente e/ou desinvestimento de Ativo Recuperado, serão destinados a aquisição de Direitos Creditórios até o montante de R$ 250.000.000,00 (duzentos e cinquenta milhões de reais), sendo certo que os recursos recebidos pela Classe após a aquisição em tal montante não poderão ser destinados à aquisição pela Classe de novos Direitos Creditórios, aplicando-se, de resto, o disposto no item 8.1 abaixo no que se ref ere à ordem de alocação de tais recursos. BTG Pactual SAC: 0800 772 28 27 - Ouvidoria: 0800 722 00 48 - btgpactual.com 5</a:t>
            </a:r>
          </a:p>
          <a:p>
            <a:r>
              <a:t>CNPJ 54871427000194 · Revolvência e desinvestimento · Condição: O gatilho usa aquisições acumuladas, e não o saldo mensal de direitos creditórios.</a:t>
            </a:r>
          </a:p>
          <a:p>
            <a:r>
              <a:t>CNPJ 54871427000194 · Revolvência e desinvestimento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Revolvência e desinvestimento · Versão e prevalência: Leitura específica das cláusulas indicadas; condições e conflitos preservados. Seleção documental atual não comprova vigência jurídica por data isolada.</a:t>
            </a:r>
          </a:p>
          <a:p>
            <a:r>
              <a:t>CNPJ 54871427000194 · Revolvência e desinvestimento · Resumo do histórico: {"count": 1, "dates": ["2024-04-28"], "document_count": 1, "sources": [{"document_id": "670691", "title": "Regulamento", "reference_date": "2024-04-28", "version": "1", "page": "11", "url": "https://fnet.bmfbovespa.com.br/fnet/publico/visualizarDocumento?id=670691", "sha256": "bf16dd7f1a62d5cdbf2e2d54fef81783783f7310fbc99c3a8f00459bdf9d037b"}], "reference": {"path": "history/54871427000194.json", "criterion_id": "revolving", "total_count": 1, "preview_count": 1, "full_text_deferred": true, "sha256": "35d7cd99be50c7287c9fb675cf4f2e736002315295a225a9efa79c8d9186d874"}}</a:t>
            </a:r>
          </a:p>
          <a:p>
            <a:r>
              <a:t>CNPJ 60010416000112 · Revolvência e desinvestimento · Regulamento · ID 1051393 · 09/10/2025 · versão Regulamento09/10/2025 · p. 12 · AnexoI4.11–4.12.1 · https://fnet.bmfbovespa.com.br/fnet/publico/visualizarDocumento?id=1051393</a:t>
            </a:r>
          </a:p>
          <a:p>
            <a:r>
              <a:t>CNPJ 60010416000112 · Revolvência e desinvestimento · Excerto da fonte:</a:t>
            </a:r>
          </a:p>
          <a:p>
            <a:r>
              <a:t>4.11 A Classe terá um Período de Investimento de 24 (vinte e quatro) meses, contados da Data da 1ª Integralização de Cotas da Classe. 4.12 Durante o Período de Investimento, a Classe utilizará os recursos provenientes da integralização das Cotas para investir em Direitos Creditórios e Ativos Financeiros de Liquidez, de acordo com a Política de Investimento estabelecida no presente Anexo I, sendo permitida, durante o Período de Investimento, a aquisição de novos Direitos Creditórios com os recursos decorrentes do pagamento dos Direitos Creditórios integrantes da carteira da Classe, desde que respei</a:t>
            </a:r>
          </a:p>
          <a:p>
            <a:r>
              <a:t>CNPJ 60010416000112 · Revolvência e desinvestimento · Regulamento · ID 1051393 · 09/10/2025 · versão Regulamento09/10/2025 · p. 15 · AnexoI7.3 · https://fnet.bmfbovespa.com.br/fnet/publico/visualizarDocumento?id=1051393</a:t>
            </a:r>
          </a:p>
          <a:p>
            <a:r>
              <a:t>CNPJ 60010416000112 · Revolvência e desinvestimento · Excerto da fonte:</a:t>
            </a:r>
          </a:p>
          <a:p>
            <a:r>
              <a:t>7.3 Após o encerramento do Período de Investimento, e desde que o Índice de Subordinação esteja sendo cumprido, as Cotas serão amortizadas mensalmente, em regime de caixa, nas datas e prazos previstos nos respectivos Suplementos, em montante correspondente ao valor dos recursos disponíveis na Conta de Movimentação da Classe, somados aos Ativos Financeiros de Liquidez, respeitando a ordem de alocação dos recursos, observado o disposto no item abaixo em relação às Cotas Subordinadas. 7.3.1. As Cotas Subordinadas poderão ser amortizadas caso sejam atingidas, cumulativamente, as segui</a:t>
            </a:r>
          </a:p>
          <a:p>
            <a:r>
              <a:t>CNPJ 60010416000112 · Revolvência e desinvestimento · Versão e prevalência: Leitura específica das cláusulas indicadas; condições e conflitos preservados. Seleção documental atual não comprova vigência jurídica por data isolada.</a:t>
            </a:r>
          </a:p>
          <a:p>
            <a:r>
              <a:t>CNPJ 60010416000112 · Revolvência e desinvestimento · Resumo do histórico: {"count": 4, "dates": ["2025-03-20", "2025-05-12", "2025-10-09"], "document_count": 3, "sources": [{"document_id": "1051393", "title": "Regulamento", "reference_date": "2025-10-09", "version": "1", "page": "12", "url": "https://fnet.bmfbovespa.com.br/fnet/publico/visualizarDocumento?id=1051393", "sha256": "8469d613078ffd5a6c1d217885d8a397a16342c0b937ae4aa24b106505f233ae"}, {"document_id": "1004656", "title": "AGE", "reference_date": "2025-05-12", "version": "1", "page": 5, "url": "https://fnet.bmfbovespa.com.br/fnet/publico/visualizarDocumento?id=1004656", "sha256": "f6c9c009f6170e2b29f074b98522accec73f0c40efbf11f9ec2c8d3f1402616b"}, {"document_id": "993785", "title": "Instrumento Particular de Constituição/Encerramento do Fundo", "reference_date": "2025-03-20", "version": "1", "page": 5, "url": "https://fnet.bmfbovespa.com.br/fnet/publico/visualizarDocumento?id=993785", "sha256": "0826e0eae2c51afabf59bbc49fc7647598d03da5ca6de0f9725850a8bd6af457"}], "reference": {"path": "history/60010416000112.json", "criterion_id": "revolving", "total_count": 4, "preview_count": 3, "full_text_deferred": true, "sha256": "8e2bd813f4c51cf01f6bfaad164bafe69d2bbb192f753eac92da3a01c2e63046"}}</a:t>
            </a:r>
          </a:p>
          <a:p>
            <a:r>
              <a:t>CNPJ 62696791000193 · Revolvência e desinvestimento · Regulamento · ID 1143317 · 20/03/2026 · versão Regulamento — referência 20/03/2026 · p. 16 · Anexo I, 5.1 · https://fnet.bmfbovespa.com.br/fnet/publico/visualizarDocumento?id=1143317</a:t>
            </a:r>
          </a:p>
          <a:p>
            <a:r>
              <a:t>CNPJ 62696791000193 · Revolvência e desinvestimento · Excerto da fonte:</a:t>
            </a:r>
          </a:p>
          <a:p>
            <a:r>
              <a:t>5.1 Os recursos recebidos pela Classe em razão da liquidação dos Direitos Creditórios do Agronegócio e/ou dos Outros Ativos, a qualquer título, incluindo pagamento regular ou por excussão de garantia, alienação, recompra, indenização pelo cedente e/ou desinvestimento de Direitos Creditórios do Agronegócio e/ou dos Outros Ativos, poderão ser destinados à aquisição pela Classe de novos Direitos Creditórios do Agronegócio e/ou dos Outros Ativos e/ou destinados ao resgate das Cotas, conf orme decisão do Gestor e desde que observada a ordem de alocação de recursos. 6 ORDEM DE ALOCAÇÃO DE RECURSOS 6.1 O Administrador e o Gestor obrigam-se a, a partir da data da primeira integralização de Cotas até a liquidação integral das obrigações da Classe, utilizar os recursos disponíveis na Conta da Classe e/ou mantidos em Ativos Financeiros de Liquidez em cada Dia Útil, de acordo com a seguinte ordem de prioridade de alocação, de modo que cada item abaixo listado apenas será contemplado após o direcionamento do montante total necessário para a satisfação dos itens anteriores, ressalvada a ocorrência de eventos extraordinários que afetem o funcionamento regular do Fundo e/ou da Classe: (i</a:t>
            </a:r>
          </a:p>
          <a:p>
            <a:r>
              <a:t>CNPJ 62696791000193 · Revolvência e desinvestimento · Versão e prevalência: Leitura específica das cláusulas indicadas; condições e conflitos preservados. Seleção documental atual não comprova vigência jurídica por data isolada.</a:t>
            </a:r>
          </a:p>
          <a:p>
            <a:r>
              <a:t>CNPJ 55563624000109 · Revolvência e desinvestimento · Regulamento · ID 1192614 · 30/04/2026 · versão Regulamento30/04/2026 · p. 13 · AnexoI4.13 · https://fnet.bmfbovespa.com.br/fnet/publico/visualizarDocumento?id=1192614</a:t>
            </a:r>
          </a:p>
          <a:p>
            <a:r>
              <a:t>CNPJ 55563624000109 · Revolvência e desinvestimento · Excerto da fonte:</a:t>
            </a:r>
          </a:p>
          <a:p>
            <a:r>
              <a:t>4.13 Os recursos recebidos pela Classe em razão da liquidação das Cotas da Classe Investida, a qualquer título, incluindo pagamento regular ou por excussão ou execução de garantia, alienação, recompra, indenização e/ou desinvestimento, serão destinados à amortização ou resgate das Cotas, conforme decisão do GESTOR e desde que observada a ordem de alocação de recursos definida no item 8.1 abaixo, observado que tais recursos poderão ser utilizados para fazer frente ao pagamento de Encargos e/ou despesas extraordinárias da Classe ou da Classe Investida, caso</a:t>
            </a:r>
          </a:p>
          <a:p>
            <a:r>
              <a:t>CNPJ 55563624000109 · Revolvência e desinvestimento · Motivo: Não localizada uma cláusula material para este critério nos textos identificados e processados. A ausência de resultado não comprova inexistência da regra.</a:t>
            </a:r>
          </a:p>
          <a:p>
            <a:r>
              <a:t>CNPJ 55563624000109 · Revolvência e desinvestimento · Versão e prevalência: Leitura específica das cláusulas indicadas; condições e conflitos preservados. Seleção documental atual não comprova vigência jurídica por data isolada.</a:t>
            </a:r>
          </a:p>
          <a:p>
            <a:r>
              <a:t>CNPJ 62552447000120 · Revolvência e desinvestimento · Motivo: Não localizada uma cláusula material para este critério nos textos identificados e processados. A ausência de resultado não comprova inexistência da regra.</a:t>
            </a:r>
          </a:p>
          <a:p>
            <a:r>
              <a:t>CNPJ 63953620000165 · Revolvência e desinvestimento · Anexo ao Regulamento · ID 1222863 · 02/06/2026 · versão AnexoConsignadoPrivado02/06/2026 · p. 7 · 4.17–4.17.3 · https://fnet.bmfbovespa.com.br/fnet/publico/visualizarDocumento?id=1222863</a:t>
            </a:r>
          </a:p>
          <a:p>
            <a:r>
              <a:t>CNPJ 63953620000165 · Revolvência e desinvestimento · Excerto da fonte:</a:t>
            </a:r>
          </a:p>
          <a:p>
            <a:r>
              <a:t>4.17 O período compreendido entre a data da primeira integralização de Cotas da Classe até 29 de junho de 2031, constituirão o período de investimento da Classe, durante o qual, a Classe poderá adquirir Direitos Creditórios (“Período de Investimento”). 4.17.1 Durante o Período de Investimento, os recursos recebidos pela Classe em razão da liquidação dos Direitos Creditórios, a qualquer título, incluindo pagamento regular ou por excussão de garantia, alienação, recompra, indenização pelo Cedente e/ou desinvestimento de Ativo Recuperado, poderão ser destinados à aquisição pela Classe de novos</a:t>
            </a:r>
          </a:p>
          <a:p>
            <a:r>
              <a:t>CNPJ 63953620000165 · Revolvência e desinvestimento · Versão e prevalência: Leitura específica das cláusulas indicadas; condições e conflitos preservados. Seleção documental atual não comprova vigência jurídica por data isolada.</a:t>
            </a:r>
          </a:p>
          <a:p>
            <a:r>
              <a:t>CNPJ 63953620000165 · Revolvência e desinvestimento · Resumo do histórico: {"count": 8, "dates": ["2026-04-28", "2026-05-08", "2026-05-15"], "document_count": 3, "sources": [{"document_id": "1327859", "title": "Demonstrações Financeiras - Fusão, cisão e incorporação", "reference_date": "2026-05-15", "version": "1", "page": 10, "url": "https://fnet.bmfbovespa.com.br/fnet/publico/visualizarDocumento?id=1327859", "sha256": "dca1c68babb97f887528c3e2e47596a9c30f507b067981a35655b2f2da9c8054"}, {"document_id": "1298691", "title": "Demonstrações Financeiras - Fusão, cisão e incorporação", "reference_date": "2026-05-08", "version": "1", "page": 10, "url": "https://fnet.bmfbovespa.com.br/fnet/publico/visualizarDocumento?id=1298691", "sha256": "58c570d9b8d4d265330d3db3ea81c435b8e44a6dab4002aa37790652a1ee9819"}, {"document_id": "1282180", "title": "Demonstrações Financeiras - Fusão, cisão e incorporação", "reference_date": "2026-04-28", "version": "1", "page": 10, "url": "https://fnet.bmfbovespa.com.br/fnet/publico/visualizarDocumento?id=1282180", "sha256": "afaaa0e6809be4385e5bdb6c911aac582032c5bdbac3d7750234bf9eaf00438a"}], "reference": {"path": "history/63953620000165.json", "criterion_id": "revolving", "total_count": 8, "preview_count": 3, "full_text_deferred": true, "sha256": "a7b89077f5e21098c2d601c303faabc3ff6b9729f89d8afecdc60fe1404720c1"}}</a:t>
            </a:r>
          </a:p>
          <a:p>
            <a:r>
              <a:t>CNPJ 54871427000194 · Cessões, preço e carteira residual · Motivo: Não localizada uma cláusula material para este critério nos textos identificados e processados. A ausência de resultado não comprova inexistência da regra.</a:t>
            </a:r>
          </a:p>
          <a:p>
            <a:r>
              <a:t>CNPJ 60010416000112 · Cessões, preço e carteira residual · Motivo: Não localizada uma cláusula material para este critério nos textos identificados e processados. A ausência de resultado não comprova inexistência da regra.</a:t>
            </a:r>
          </a:p>
          <a:p>
            <a:r>
              <a:t>CNPJ 62696791000193 · Cessões, preço e carteira residual · Regulamento · ID 1143317 · 2026-03-20 · versão 1 · p. 14 · 4.22 · https://fnet.bmfbovespa.com.br/fnet/publico/visualizarDocumento?id=1143317</a:t>
            </a:r>
          </a:p>
          <a:p>
            <a:r>
              <a:t>CNPJ 62696791000193 · Cessões, preço e carteira residual · Excerto da fonte:</a:t>
            </a:r>
          </a:p>
          <a:p>
            <a:r>
              <a:t>4.22 A Classe poderá participar de operações de securitização por meio de cessão de direitos creditórios de  que seja titular, incluindo, exemplificativamente, créditos de locação, venda ou direito real de superfície.</a:t>
            </a:r>
          </a:p>
          <a:p>
            <a:r>
              <a:t>CNPJ 62696791000193 · Cessões, preço e carteira residual · Condição: Documentos atuais selecionados no inventário por categoria/escopo; a data documental isolada não comprova vigência jurídica.</a:t>
            </a:r>
          </a:p>
          <a:p>
            <a:r>
              <a:t>CNPJ 62696791000193 · Cessões, preço e carteira residual · Versão e prevalência: Documentos atuais selecionados no inventário por categoria/escopo; a data documental isolada não comprova vigência jurídica.</a:t>
            </a:r>
          </a:p>
          <a:p>
            <a:r>
              <a:t>CNPJ 55563624000109 · Cessões, preço e carteira residual · Regulamento · ID 1192614 · 2026-04-30 · versão 1 · p. 12 · 4.5 · https://fnet.bmfbovespa.com.br/fnet/publico/visualizarDocumento?id=1192614</a:t>
            </a:r>
          </a:p>
          <a:p>
            <a:r>
              <a:t>CNPJ 55563624000109 · Cessões, preço e carteira residual · Excerto da fonte:</a:t>
            </a:r>
          </a:p>
          <a:p>
            <a:r>
              <a:t>4.5 Uma vez que o investimento nas Cotas da Classe Investida não corresponde a um investimento direto em direitos  creditórios, uma série de disposições comuns à securitização de direitos creditórios não será aplicável ao  investimento nas Cotas da Classe Investida. A título meramente exemplificativo, não existem processos de  originação ou política de concessão de crédito adotada pelo GESTOR, tampouco há que se falar em verificação  ou guarda de documentos comprobatórios que não sejam referentes às Cotas da Classe Investida. Da mesma  forma, não há necessidade de se prever a adoção de procedimentos específicos para a cobrança das Cotas da  Classe Investida. Cada Cotista deverá atestar que está ciente e concorda com o disposto neste item 4.5, por meio  da assinatura do Termo de Adesão.</a:t>
            </a:r>
          </a:p>
          <a:p>
            <a:r>
              <a:t>CNPJ 55563624000109 · Cessões, preço e carteira residual · Condição: Documentos atuais selecionados no inventário por categoria/escopo; a data documental isolada não comprova vigência jurídica.</a:t>
            </a:r>
          </a:p>
          <a:p>
            <a:r>
              <a:t>CNPJ 55563624000109 · Cessões, preço e carteira residual · Motivo: Cláusula primária localizada e citada, mas sua lista/condições extensas não admitem uma síntese literal curta confirmada. O trecho integral permanece nas fontes.</a:t>
            </a:r>
          </a:p>
          <a:p>
            <a:r>
              <a:t>CNPJ 55563624000109 · Cessões, preço e carteira residual · Versão e prevalência: Documentos atuais selecionados no inventário por categoria/escopo; a data documental isolada não comprova vigência jurídica.</a:t>
            </a:r>
          </a:p>
          <a:p>
            <a:r>
              <a:t>CNPJ 62552447000120 · Cessões, preço e carteira residual · Motivo: Não localizada uma cláusula material para este critério nos textos identificados e processados. A ausência de resultado não comprova inexistência da regra.</a:t>
            </a:r>
          </a:p>
          <a:p>
            <a:r>
              <a:t>CNPJ 63953620000165 · Cessões, preço e carteira residual · Motivo: Não localizada uma cláusula material para este critério nos textos identificados e processados. A ausência de resultado não comprova inexistência da regra.</a:t>
            </a:r>
          </a:p>
          <a:p>
            <a:r>
              <a:t>CNPJ 54871427000194 · Juros, amortização e vencimento · Regulamento · ID 670691 · 28/04/2024 · versão Regulamento — referência 28/04/2024 · p. 15 · Anexo I, 6.1–6.2 e 7.2–7.4 · https://fnet.bmfbovespa.com.br/fnet/publico/visualizarDocumento?id=670691</a:t>
            </a:r>
          </a:p>
          <a:p>
            <a:r>
              <a:t>CNPJ 54871427000194 · Juros, amortização e vencimento · Excerto da fonte:</a:t>
            </a:r>
          </a:p>
          <a:p>
            <a:r>
              <a:t>6.1 As Cotas terão seu Valor Unitário calculado e divulgado pelo ADMINISTRADOR mensalmente, no último Dia Útil de cada mês, no fechamento dos mercados, a partir do mês seguinte à Data da 1ª Integralização e até a data de resgate das Cotas ou na data de liquidação da Classe Única, conforme o caso. 6.2 A partir da Data da 1ª Integralização de Cotas, o Valor Unitário das Cotas s erá calculado no fechamento do último Dia Útil de cada mês, equivalerá ao resultado da divisão do valor do Patrimônio Líquido apurado para o respectivo dia, pelo número de Cotas em circulação na respectiva data de cálculo . CAPÍTULO 7 – AMORTIZAÇÃO E RESGATE DAS COTAS 7.1 A distribuição de quaisquer ganhos e rendimentos d a Classe aos Cotistas será f eita exclusivamente mediante a Amortização e/ou o resgate de Cotas, observado o disposto neste Capítulo. 7.2 As amortizações de Cotas serão realizadas a qualquer tempo, a critério do GESTOR, observada a disponibilidade de recursos da Classe Única e a ordem de alocação de recursos prevista neste Anexo Descritivo. 7.3 As Cotas serão amortizadas mediante orientação do GESTOR e/ou deliberação da Assembleia Especial de Cotistas, observada a ordem de alocação de recursos previ</a:t>
            </a:r>
          </a:p>
          <a:p>
            <a:r>
              <a:t>CNPJ 54871427000194 · Juros, amortização e vencimento · Motivo: Cláusula primária localizada e citada, mas sua lista/condições extensas não admitem uma síntese literal curta confirmada. O trecho integral permanece nas fontes. A resposta da revisão anterior foi preservada no histórico, sem confirmação pelo documento atual.</a:t>
            </a:r>
          </a:p>
          <a:p>
            <a:r>
              <a:t>CNPJ 54871427000194 · Juros, amortização e vencimento · Versão e prevalência: Leitura específica das cláusulas indicadas; condições e conflitos preservados. Seleção documental atual não comprova vigência jurídica por data isolada.</a:t>
            </a:r>
          </a:p>
          <a:p>
            <a:r>
              <a:t>CNPJ 54871427000194 · Juros, amortização e vencimento · Resumo do histórico: {"count": 2, "dates": ["2024-04-19", "2024-04-28"], "document_count": 2, "sources": [{"document_id": "670691", "title": "Regulamento", "reference_date": "2024-04-28", "version": "1", "page": "15", "url": "https://fnet.bmfbovespa.com.br/fnet/publico/visualizarDocumento?id=670691", "sha256": "bf16dd7f1a62d5cdbf2e2d54fef81783783f7310fbc99c3a8f00459bdf9d037b"}, {"document_id": "670689", "title": "Regulamento", "reference_date": "2024-04-19", "version": "1", "page": 30, "url": "https://fnet.bmfbovespa.com.br/fnet/publico/visualizarDocumento?id=670689", "sha256": "891bc9bc5d87bbc02ec139077a84d2702eb81ea02035fb71d24f5b8366b94a0b"}], "reference": {"path": "history/54871427000194.json", "criterion_id": "payments", "total_count": 2, "preview_count": 2, "full_text_deferred": true, "sha256": "35d7cd99be50c7287c9fb675cf4f2e736002315295a225a9efa79c8d9186d874"}}</a:t>
            </a:r>
          </a:p>
          <a:p>
            <a:r>
              <a:t>CNPJ 60010416000112 · Juros, amortização e vencimento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Juros, amortização e vencimento · Resumo do histórico: {"count": 1, "dates": ["2025-03-20"], "document_count": 1, "sources": [{"document_id": "993785", "title": "Instrumento Particular de Constituição/Encerramento do Fundo", "reference_date": "2025-03-20", "version": "1", "page": "5-6", "url": "https://fnet.bmfbovespa.com.br/fnet/publico/visualizarDocumento?id=993785", "sha256": "0826e0eae2c51afabf59bbc49fc7647598d03da5ca6de0f9725850a8bd6af457"}], "reference": {"path": "history/60010416000112.json", "criterion_id": "payments", "total_count": 1, "preview_count": 1, "full_text_deferred": true, "sha256": "8e2bd813f4c51cf01f6bfaad164bafe69d2bbb192f753eac92da3a01c2e63046"}}</a:t>
            </a:r>
          </a:p>
          <a:p>
            <a:r>
              <a:t>CNPJ 62696791000193 · Juros, amortização e vencimento · Regulamento · ID 1143317 · 20/03/2026 · versão Regulamento — referência 20/03/2026 · p. 34 · Apêndice Sênior, 6.1–6.1.1 · https://fnet.bmfbovespa.com.br/fnet/publico/visualizarDocumento?id=1143317</a:t>
            </a:r>
          </a:p>
          <a:p>
            <a:r>
              <a:t>CNPJ 62696791000193 · Juros, amortização e vencimento · Excerto da fonte:</a:t>
            </a:r>
          </a:p>
          <a:p>
            <a:r>
              <a:t>6.1. Desde que o Patrimônio Líquido da Classe assim permita, a partir de janeiro de 2026, as Cotas Seniores f arão jus à Amortização semestral do Benchmark, a ser realizada no último Dia Útil dos meses de janeiro e de julho de cada ano (“Amortização Programada de Cotas Seniores” e “Data de Amortização Programada de Cotas Seniores”, respectivamente), observada a Ordem de Alocação de Recursos prevista no Anexo. 6.1.1. Caso, em uma Data de Amortização Programa de Cotas Seniores, a Classe não tenha recursos disponíveis suficientes para o seu pagamento integral a diferença entre (i) o Benchmark Sênior apurado e (ii) os valores ef etivamente Amortizados aos Cotistas Seniores será automaticamente acumulada para pagamento na próxima Data de Amortização Programa de Cotas Seniores , e assim subsequentemente quando não for possível o pagamento total da diferença na Data de Amortização Programa de Cotas Seniores seguinte, até o pagamento integral do Benchmark Sênior apurado e devido no respectivo período. 6.2. Em complemento às Amortizações Programadas de Cotas Seniores, os Cotistas Seniores f arão jus, sempre que o Patrimônio Líquido da Classe assim permita e desde que o Valor Unitário das Cotas Seniores e</a:t>
            </a:r>
          </a:p>
          <a:p>
            <a:r>
              <a:t>CNPJ 62696791000193 · Juros, amortização e vencimento · Regulamento · ID 1143317 · 20/03/2026 · versão Regulamento — referência 20/03/2026 · p. 37 · Apêndice Júnior, 4.1 · https://fnet.bmfbovespa.com.br/fnet/publico/visualizarDocumento?id=1143317</a:t>
            </a:r>
          </a:p>
          <a:p>
            <a:r>
              <a:t>CNPJ 62696791000193 · Juros, amortização e vencimento · Excerto da fonte:</a:t>
            </a:r>
          </a:p>
          <a:p>
            <a:r>
              <a:t>4.1. Caso o Patrimônio Líquido da Classe assim permita, as Cotas Subordinadas f arão jus à amortização semestral, no último Dia Útil dos meses de janeiro e julho de cada ano, de valor equivalente ao excedente do valor de integralização das Cotas Subordinadas em circulação, limitado ao percentual de 100% (cem por cento) da variação positiva do CDI acrescida de 4,50% (quatro inteiros e cinco décimos por cento) ao ano, considerando, para tanto a razão entre (i) o valor de integralização das Cotas Subordinadas Júnior em circulação e (ii) o valor de cada uma das Cotas Subordinadas, a ser paga na Data de Amortização Programada de Cotas Seniores (“Amortização das Cotas Subordinadas”). 4.2. Em complemento às Amortizações das Cotas Subordinadas, os Cotistas Subordinados farão jus, sempre que o Patrimônio Líquido da Classe assim permita e desde que o Valor Unitário das Cotas Subordinadas esteja superior ao valor de integralização das Cotas Subordinadas em circulação, a 50% (cinquenta por cento) de qualquer valor que exceder a Amortização das Cotas Subordinadas, a ser paga na Data de Amortização Programada de Cotas Seniores (“Amortização Extraordinária de Cotas Seniores”). 5. Excesso de Subordinação 5.1. Verif icado excesso de subordinação,</a:t>
            </a:r>
          </a:p>
          <a:p>
            <a:r>
              <a:t>CNPJ 62696791000193 · Juros, amortização e vencimento · Regulamento · ID 1143317 · 20/03/2026 · versão Regulamento — referência 20/03/2026 · p. 6 · Anexo I, 1.1, Condomínio e Prazo · https://fnet.bmfbovespa.com.br/fnet/publico/visualizarDocumento?id=1143317</a:t>
            </a:r>
          </a:p>
          <a:p>
            <a:r>
              <a:t>CNPJ 62696791000193 · Juros, amortização e vencimento · Excerto da fonte:</a:t>
            </a:r>
          </a:p>
          <a:p>
            <a:r>
              <a:t>Tipo de Condomínio Fechado. Indeterminado, exceto se de outra f orma vier a ser deliberado pelos Prazo de Duração cotistas da Classe (“Cotistas”) reunidos em assembleia geral de Cotistas. A Classe tem por objetivo proporcionar aos Cotistas a valorização e a rentabilidade de suas cotas (“Cotas”), conforme a política de investimentos def inida no Capítulo IV abaixo (“Política de Investimentos”), por meio de aplicação do seu Patrimônio Líquido (conforme def inido abaixo) nos seguintes ativos de origem vinculada às cadeias produtivas do agronegócio (“Direitos Creditórios do Agronegócio”): (i) títulos de crédito emitidos por pessoas naturais e jurídicas que integrem as cadeias produtivas do agronegócio; (ii) direitos creditórios do agronegócio; (iii) certificados d</a:t>
            </a:r>
          </a:p>
          <a:p>
            <a:r>
              <a:t>CNPJ 62696791000193 · Juros, amortização e vencimento · Condição: A agenda começa em janeiro/2026 dentro de consolidado vigente apenas no fechamento de 23/03/2026. O documento anterior não foi obtido para reconstruir a regra de janeiro/fevereiro.</a:t>
            </a:r>
          </a:p>
          <a:p>
            <a:r>
              <a:t>CNPJ 62696791000193 · Juros, amortização e vencimento · Versão e prevalência: Leitura específica das cláusulas indicadas; condições e conflitos preservados. Seleção documental atual não comprova vigência jurídica por data isolada.</a:t>
            </a:r>
          </a:p>
          <a:p>
            <a:r>
              <a:t>CNPJ 62696791000193 · Juros, amortização e vencimento · Resumo do histórico: {"count": 1, "dates": ["2026-03-27"], "document_count": 1, "sources": [{"document_id": "1148821", "title": "Instrumento Particular de Emissão de Cotas", "reference_date": "2026-03-27", "version": "1", "page": "2", "url": "https://fnet.bmfbovespa.com.br/fnet/publico/visualizarDocumento?id=1148821", "sha256": "86900e9dd498403696bfffbd4196443c83ec4d51ff21135e073c1966e1adf4c0"}], "reference": {"path": "history/62696791000193.json", "criterion_id": "payments", "total_count": 1, "preview_count": 1, "full_text_deferred": true, "sha256": "0e9ec199848320ec945708123ae0cb6075d76c05d94beed814d582031d353926"}}</a:t>
            </a:r>
          </a:p>
          <a:p>
            <a:r>
              <a:t>CNPJ 55563624000109 · Juros, amortização e vencimento · Regulamento · ID 1192614 · 30/04/2026 · versão Regulamento30/04/2026 · p. 45 · ApêndiceA3.1 · https://fnet.bmfbovespa.com.br/fnet/publico/visualizarDocumento?id=1192614</a:t>
            </a:r>
          </a:p>
          <a:p>
            <a:r>
              <a:t>CNPJ 55563624000109 · Juros, amortização e vencimento · Excerto da fonte:</a:t>
            </a:r>
          </a:p>
          <a:p>
            <a:r>
              <a:t>3.1. O prazo das Cotas Subclasse A encerra em 19 de junho de 2026. 4. Condições de Emissão, Distribuição, Subscrição, Integralização, Remuneração, Amortização e Resgate de Cotas Subclasse A: 4.1. Após a primeira Data de Emissão de Cotas, eventuais novas emissões de Cotas Subclasse A somente poderão ser realizadas (i) diretamente pelo ADMINISTRADOR por orientação do GESTOR, desde que limitado ao Capital Autorizado; ou (ii) com a aprovação de Assembleia Especial de Cotistas, observados os quóruns específicos, conforme aplicável, sendo que o valor de emissão, o volume e demais carac</a:t>
            </a:r>
          </a:p>
          <a:p>
            <a:r>
              <a:t>CNPJ 55563624000109 · Juros, amortização e vencimento · Regulamento · ID 1192614 · 30/04/2026 · versão Regulamento30/04/2026 · p. 47 · ApêndiceB3.2 · https://fnet.bmfbovespa.com.br/fnet/publico/visualizarDocumento?id=1192614</a:t>
            </a:r>
          </a:p>
          <a:p>
            <a:r>
              <a:t>CNPJ 55563624000109 · Juros, amortização e vencimento · Excerto da fonte:</a:t>
            </a:r>
          </a:p>
          <a:p>
            <a:r>
              <a:t>3.2. O prazo das Cotas Subclasse B encerra em 19 de junho de 2028. 4. Condições de Emissão, Distribuição, Subscrição, Integralização, Remuneração, Amortização e Resgate de Cotas Subclasse B: 4.1. Após a primeira Data de Emissão de Cotas, eventuais novas emissões de Cotas Subclasse B somente poderão ser realizadas (i) diretamente pelo ADMINISTRADOR por orientação do GESTOR, desde que limitado ao Capital Autorizado; ou (ii) com a aprovação de Assembleia Especial de Cotistas, observados os quóruns específicos, conforme aplicável, sendo que o valor de emissão, o volume e de</a:t>
            </a:r>
          </a:p>
          <a:p>
            <a:r>
              <a:t>CNPJ 55563624000109 · Juros, amortização e vencimento · Regulamento · ID 1192614 · 30/04/2026 · versão Regulamento30/04/2026 · p. 49 · ApêndiceC3.1 · https://fnet.bmfbovespa.com.br/fnet/publico/visualizarDocumento?id=1192614</a:t>
            </a:r>
          </a:p>
          <a:p>
            <a:r>
              <a:t>CNPJ 55563624000109 · Juros, amortização e vencimento · Excerto da fonte:</a:t>
            </a:r>
          </a:p>
          <a:p>
            <a:r>
              <a:t>3.1. O prazo das Cotas Subclasse C encerra em 19 de junho de 2027. 4. Condições de Emissão, Distribuição, Subscrição, Integralização, Remuneração, Amortização e Resgate de Cotas Subclasse C: 4.1. Após a primeira Data de Emissão de Cotas, eventuais novas emissões de Cotas Subclasse C somente poderão ser realizadas (i) diretamente pelo ADMINISTRADOR por orientação do GESTOR, desde que limitado ao Capital Autorizado; ou (ii) com a aprovação de Assembleia Especial de Cotistas, observados os quóruns específicos, conforme aplicável, sendo que o valor de emissão, o volume e demais car</a:t>
            </a:r>
          </a:p>
          <a:p>
            <a:r>
              <a:t>CNPJ 55563624000109 · Juros, amortização e vencimento · Regulamento · ID 1192614 · 30/04/2026 · versão Regulamento30/04/2026 · p. 18 · AnexoI7.3–7.4 · https://fnet.bmfbovespa.com.br/fnet/publico/visualizarDocumento?id=1192614</a:t>
            </a:r>
          </a:p>
          <a:p>
            <a:r>
              <a:t>CNPJ 55563624000109 · Juros, amortização e vencimento · Excerto da fonte:</a:t>
            </a:r>
          </a:p>
          <a:p>
            <a:r>
              <a:t>7.3 Os pagamentos das parcelas de amortização e/ou de resgate das Cotas serão efetuados, como regra geral, em moeda corrente nacional, pelo valor da Cota apurado no fechamento dos mercados no segundo Dia Útil imediatamente anterior ao do pagamento, por meio (i) da B3, se assim aplicável, ou (ii) de depósito em conta corrente de titularidade dos Cotistas, mediante qualquer mecanismo de transferência de recursos autorizado pelo BACEN. 7.4 Quando a data estipulada para pagamento de amortização ou resgate de Cotas se der em dia que seja feriado</a:t>
            </a:r>
          </a:p>
          <a:p>
            <a:r>
              <a:t>CNPJ 55563624000109 · Juros, amortização e vencimento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Juros, amortização e vencimento · Versão e prevalência: Leitura específica das cláusulas indicadas; condições e conflitos preservados. Seleção documental atual não comprova vigência jurídica por data isolada.</a:t>
            </a:r>
          </a:p>
          <a:p>
            <a:r>
              <a:t>CNPJ 55563624000109 · Juros, amortização e vencimento · Resumo do histórico: {"count": 1, "dates": ["2026-04-30"], "document_count": 1, "sources": [{"document_id": "1192614", "title": "Regulamento", "reference_date": "2026-04-30", "version": "1", "page": "17-18", "url": "https://fnet.bmfbovespa.com.br/fnet/publico/visualizarDocumento?id=1192614", "sha256": "f56e63ace0acde41d2f47fb48f1ac7f3f7df5e2d32de092d7c5e075a52516632"}], "reference": {"path": "history/55563624000109.json", "criterion_id": "payments", "total_count": 1, "preview_count": 1, "full_text_deferred": true, "sha256": "7835d573fb58a3c19adf5b8ecc2aee2bdbb9a88f7a0c0209b5f262b64c7522e3"}}</a:t>
            </a:r>
          </a:p>
          <a:p>
            <a:r>
              <a:t>CNPJ 62552447000120 · Juros, amortização e vencimento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Juros, amortização e vencimento · Resumo do histórico: {"count": 1, "dates": ["2025-09-03"], "document_count": 1, "sources": [{"document_id": "988020", "title": "Instrumento Particular de Emissão de Cotas", "reference_date": "2025-09-03", "version": "1", "page": "6", "url": "https://fnet.bmfbovespa.com.br/fnet/publico/visualizarDocumento?id=988020", "sha256": "8ecc8a771bb9713d64e5fc2052c489664cb0433801a9280db68e5187d35bf7a5"}], "reference": {"path": "history/62552447000120.json", "criterion_id": "payments", "total_count": 1, "preview_count": 1, "full_text_deferred": true, "sha256": "d95db8c0613d67ee84118c734588665265ea6b02f86a0318d6a844cbe1d0f82f"}}</a:t>
            </a:r>
          </a:p>
          <a:p>
            <a:r>
              <a:t>CNPJ 63953620000165 · Juros, amortização e vencimento · Anexo ao Regulamento · ID 1222863 · 02/06/2026 · versão AnexoConsignadoPrivado02/06/2026 · p. 23 · ApêndiceSênior5.1–5.2 · https://fnet.bmfbovespa.com.br/fnet/publico/visualizarDocumento?id=1222863</a:t>
            </a:r>
          </a:p>
          <a:p>
            <a:r>
              <a:t>CNPJ 63953620000165 · Juros, amortização e vencimento · Excerto da fonte:</a:t>
            </a:r>
          </a:p>
          <a:p>
            <a:r>
              <a:t>5.1. Durante o Período de Investimento, desde que o Patrimônio Líquido da Classe assim permita, as Cotas Seniores farão jus à Amortização trimestral do saldo do Benchmark Sênior a ser realizada no 5º Dia Útil do mês (“Amortização de Benchmark das Cotas Seniores” e “Data de Amortização por Regime de Caixa de Cotas Seniores”, respectivamente). 5.2. Encerrado o Período de Investimento, desde que o Patrimônio Líquido da Classe assim permita, as Cotas Seniores farão jus à Amortização Programada de Cotas Seniores referente ao saldo do Benchmark Sênior ainda não amortizado e ao do saldo do seu Valor Unitário, conforme aplicável, a ser realizada em cada Data d</a:t>
            </a:r>
          </a:p>
          <a:p>
            <a:r>
              <a:t>CNPJ 63953620000165 · Juros, amortização e vencimento · Anexo ao Regulamento · ID 1222863 · 02/06/2026 · versão AnexoConsignadoPrivado02/06/2026 · p. 25 · ApêndiceSubordinada5.1–5.2 · https://fnet.bmfbovespa.com.br/fnet/publico/visualizarDocumento?id=1222863</a:t>
            </a:r>
          </a:p>
          <a:p>
            <a:r>
              <a:t>CNPJ 63953620000165 · Juros, amortização e vencimento · Excerto da fonte:</a:t>
            </a:r>
          </a:p>
          <a:p>
            <a:r>
              <a:t>5.1. Encerrado o Período de Investimento, desde que o Patrimônio Líquido da Classe assim permita e desde que atendido o Índice de Subordinação Alvo, as Cotas Subordinadas farão jus à Amortização [trimestral] do saldo do seu Valor Unitário, consideradas pro forma todas as amortizações pretendidas, seja atendida o Índice de Subordinação Sênior, conforme aplicável, a ser realizada no 5º Dia Útil do mês (“Amortização por Regime de Caixa Cotas Subordinadas” e “Data de Amortização Programada de Cotas Subordinadas”, respectivamente), observada a Ordem de Alocação de Recursos prevista na Classe. 5.2. Durante o Período de Investimento, as Cotas Subordi</a:t>
            </a:r>
          </a:p>
          <a:p>
            <a:r>
              <a:t>CNPJ 63953620000165 · Juros, amortização e vencimento · Condição: Periodicidade em colchetes no apêndice subordinado sinaliza redação não finalizada; não transformar em calendário confirmado.</a:t>
            </a:r>
          </a:p>
          <a:p>
            <a:r>
              <a:t>CNPJ 63953620000165 · Juros, amortização e vencimento · Motivo: Não localizada uma cláusula material para este critério nos textos identificados e processados. A ausência de resultado não comprova inexistência da regra.</a:t>
            </a:r>
          </a:p>
          <a:p>
            <a:r>
              <a:t>CNPJ 63953620000165 · Juros, amortização e vencimento · Versão e prevalência: Leitura específica das cláusulas indicadas; condições e conflitos preservados. Seleção documental atual não comprova vigência jurídica por data isolada.</a:t>
            </a:r>
          </a:p>
          <a:p>
            <a:r>
              <a:t>CNPJ 54871427000194 · Carência das cotas · Motivo: Não localizada uma cláusula material para este critério nos textos identificados e processados. A ausência de resultado não comprova inexistência da regra.</a:t>
            </a:r>
          </a:p>
          <a:p>
            <a:r>
              <a:t>CNPJ 60010416000112 · Carência das cotas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Carência das cotas · Resumo do histórico: {"count": 1, "dates": ["2025-10-09"], "document_count": 1, "sources": [{"document_id": "1051393", "title": "Regulamento", "reference_date": "2025-10-09", "version": "1", "page": "12, 15", "url": "https://fnet.bmfbovespa.com.br/fnet/publico/visualizarDocumento?id=1051393", "sha256": "8469d613078ffd5a6c1d217885d8a397a16342c0b937ae4aa24b106505f233ae"}], "reference": {"path": "history/60010416000112.json", "criterion_id": "quota_grace", "total_count": 1, "preview_count": 1, "full_text_deferred": true, "sha256": "8e2bd813f4c51cf01f6bfaad164bafe69d2bbb192f753eac92da3a01c2e63046"}}</a:t>
            </a:r>
          </a:p>
          <a:p>
            <a:r>
              <a:t>CNPJ 62696791000193 · Carência das cotas · Motivo: Não localizada uma cláusula material para este critério nos textos identificados e processados. A ausência de resultado não comprova inexistência da regra.</a:t>
            </a:r>
          </a:p>
          <a:p>
            <a:r>
              <a:t>CNPJ 55563624000109 · Carência das cotas · Motivo: Não localizada uma cláusula material para este critério nos textos identificados e processados. A ausência de resultado não comprova inexistência da regra.</a:t>
            </a:r>
          </a:p>
          <a:p>
            <a:r>
              <a:t>CNPJ 62552447000120 · Carência das cotas · Motivo: Não localizada uma cláusula material para este critério nos textos identificados e processados. A ausência de resultado não comprova inexistência da regra.</a:t>
            </a:r>
          </a:p>
          <a:p>
            <a:r>
              <a:t>CNPJ 63953620000165 · Carência das cotas · Motivo: Não localizada uma cláusula material para este critério nos textos identificados e processados. A ausência de resultado não comprova inexistência da regra.</a:t>
            </a:r>
          </a:p>
          <a:p>
            <a:r>
              <a:t>CNPJ 54871427000194 · Vencimento das cotas · Regulamento · ID 670691 · 2024-04-28 · versão 1 · p. 29 · https://fnet.bmfbovespa.com.br/fnet/publico/visualizarDocumento?id=670691</a:t>
            </a:r>
          </a:p>
          <a:p>
            <a:r>
              <a:t>CNPJ 54871427000194 · Vencimento das cotas · Excerto da fonte:</a:t>
            </a:r>
          </a:p>
          <a:p>
            <a:r>
              <a:t>Anexo I ao Regulamento CLASSE ÚNICA DE RESPONSABILIDADE LIMITADA DO CONSIGNADO DELTA RECEIVABLES I FUNDO DE INVESTIMENTO EM DIREITOS CREDITÓRIOS  pelo Endossante e depositados em seu conta de sua titularidade para posterior repasse à  Classe. Neste caso, a Classe poderá sofrer perdas principalmente em relação ao atraso na  regularização da titularidade e pagamento dos Direitos Creditórios.</a:t>
            </a:r>
          </a:p>
          <a:p>
            <a:r>
              <a:t> (v) Risco de pré-pagamento dos Direitos Creditórios. A ocorrência de pré-  pagamentos em relação a um ou mais Direitos Creditórios poderá ocasionar perdas à Classe.</a:t>
            </a:r>
          </a:p>
          <a:p>
            <a:r>
              <a:t> A ocorrência de pré-pagamentos (pagamento em data anterior àquela originalmente pactuada)  de Direitos Creditórios reduz o horizonte original de rendimentos esperados pela Classe de  tais Direitos Creditórios, uma vez que o pré-pagamento poderá, se assim permitido pela  documentação do Direito Creditório ou, conf orme o caso, pela legislação aplicável, ser  realizado pelo valor de emissão do Direito Creditório atualizado até a data do pré-pagamento  pela taxa de juros pactuada entre os Endossantes e os Devedores de tais Direitos Creditórios,  de modo que os juros remuneratórios incidentes desde a data da realização do pré-pagamento  até a data de vencimento do respectivo Direito Creditório deixam de ser devidos à Classe.</a:t>
            </a:r>
          </a:p>
          <a:p>
            <a:r>
              <a:t> (vi) Riscos associados aos Devedores: os Direitos Creditórios a serem cedidos à  Classe serão descontados da remuneração do Devedor, através de desconto em f olha de  pagamento ou de benefício. Nesse sentido, na ocorrência de pré-pagamento, as parcelas  serão pagas antecipadamente e a Classe deverá utilizar tais montantes no pré-pagamento dos  Direitos Creditórios. Nesta hipótese, a Classe poderá não encontrar Direitos Creditórios  disponíveis para serem adquiridos pela Classe, o que poderá afetar a rentabilidade da Classe.</a:t>
            </a:r>
          </a:p>
          <a:p>
            <a:r>
              <a:t> (vii) Risco de Competição: o mercado de empréstimos experimentou grande  expansão no Brasil nos últimos anos. Nesse contexto, a Resolução CMN nº 4.292, alterada  pela Resolução nº 4.762, de 27 de novembro de 2019, dispõe que deve ser garantido às  pessoas naturais devedoras de operações de crédito (tais como as CCB) a possibilidade de  realizarem a portabilidade destas operações para outras instituições financeiras, inclusive nos  casos em que tenham sido objeto de cessão (tais como as realizadas à Classe). Nesse  cenário, é possível que os competidores do Endossante ofereçam condições e taxas mais  vantajosas para os empréstimos pessoais com consignação em f olha de pagamento ou de  benef ícios, o que pode causar a migração de clientes da Endossante para outras instituições  f inanceiras, gerando a liquidação antecipada de parte das CCB existentes e/ou redução no  número de Direitos Creditórios cedidos. Referida competição poderá af etar os resultados da  Classe, impactando negativamente os rendimentos dos Cotistas. Ainda, a portabilidade a um  Devedor pode acarretar no recebimento de valores inf eriores aos esperados pela Classe.</a:t>
            </a:r>
          </a:p>
          <a:p>
            <a:r>
              <a:t> (viii) Insuf iciência dos Critérios de Elegibilidade. Os Critérios de Elegibilidade têm a  f inalidade de selecionar os Direitos Creditórios passíveis de aquisição pela Classe. Não  obstante tais Critérios de Elegibilidade, a solvência dos Direitos Creditórios que compõem a  Carteira depende integralmente, mas não somente, da situação econômico-financeira dos  Devedores. Dessa f orma, a observância pelo GESTOR dos Critérios de Elegibilidade não  constitui garantia de adimplência dos Devedores.</a:t>
            </a:r>
          </a:p>
          <a:p>
            <a:r>
              <a:t> Os Endossantes não necessariamente garantem a solvência dos seus respectivos Devedores.</a:t>
            </a:r>
          </a:p>
          <a:p>
            <a:r>
              <a:t> O Endossante dos Direitos Creditórios não assumirá responsabilidade pelo seu pagamento ou  pela solvência dos respectivos Devedores. A Classe sofrerá o impacto do inadimplemento dos  Direitos Creditórios vencidos e não pagos pelos respectivos Devedores.</a:t>
            </a:r>
          </a:p>
          <a:p>
            <a:r>
              <a:t> (ix) Possibilidade de aquisição de Direitos Creditórios cedidos por Endossante  e/ou devidos por Devedores cujas demonstrações financeiras não sejam auditadas. A Classe,  desde que sejam respeitados os limites de concentração previstos neste Regulamento, poderá  manter a qualquer tempo em sua Carteira, Direitos Creditórios cedidos por Endossante e/ou  devidos por Devedores cujas demonstrações f inanceiras não sejam auditadas por Auditor  Independente registrado na CVM. Nesse sentido, não haverá verificação independente sobre  tais demonstrações f inanceiras que af irme se estas representam adequadamente, em todos  os aspectos relevantes, as respectivas posições patrimoniais e f inanceiras, os resultados de  suas operações, as mutações de seus respectivos patrimônios líquidos tampouco as origens  e aplicações de seus recursos.</a:t>
            </a:r>
          </a:p>
          <a:p>
            <a:r>
              <a:t>CNPJ 54871427000194 · Vencimento das cotas · Condição: Documentos atuais selecionados no inventário por categoria/escopo; a data documental isolada não comprova vigência jurídica.</a:t>
            </a:r>
          </a:p>
          <a:p>
            <a:r>
              <a:t>CNPJ 54871427000194 · Vencimento das cotas · Motivo: Cláusula primária localizada e citada, mas sua lista/condições extensas não admitem uma síntese literal curta confirmada. O trecho integral permanece nas fontes. A resposta da revisão anterior foi preservada no histórico, sem confirmação pelo documento atual.</a:t>
            </a:r>
          </a:p>
          <a:p>
            <a:r>
              <a:t>CNPJ 54871427000194 · Vencimento das cotas · Versão e prevalência: Documentos atuais selecionados no inventário por categoria/escopo; a data documental isolada não comprova vigência jurídica.</a:t>
            </a:r>
          </a:p>
          <a:p>
            <a:r>
              <a:t>CNPJ 54871427000194 · Vencimento das cotas · Resumo do histórico: {"count": 2, "dates": ["2024-04-19", "2024-04-28"], "document_count": 2, "sources": [{"document_id": "670691", "title": "Regulamento", "reference_date": "2024-04-28", "version": "1", "page": "7, 15", "url": "https://fnet.bmfbovespa.com.br/fnet/publico/visualizarDocumento?id=670691", "sha256": "bf16dd7f1a62d5cdbf2e2d54fef81783783f7310fbc99c3a8f00459bdf9d037b"}, {"document_id": "670689", "title": "Regulamento", "reference_date": "2024-04-19", "version": "1", "page": 30, "url": "https://fnet.bmfbovespa.com.br/fnet/publico/visualizarDocumento?id=670689", "sha256": "891bc9bc5d87bbc02ec139077a84d2702eb81ea02035fb71d24f5b8366b94a0b"}], "reference": {"path": "history/54871427000194.json", "criterion_id": "quota_maturity", "total_count": 2, "preview_count": 2, "full_text_deferred": true, "sha256": "35d7cd99be50c7287c9fb675cf4f2e736002315295a225a9efa79c8d9186d874"}}</a:t>
            </a:r>
          </a:p>
          <a:p>
            <a:r>
              <a:t>CNPJ 60010416000112 · Vencimento das cotas · Demonstrações Financeiras - Fusão, cisão e incorporação · ID 1298690 · 2026-05-08 · versão 1 · p. 30 · https://fnet.bmfbovespa.com.br/fnet/publico/visualizarDocumento?id=1298690</a:t>
            </a:r>
          </a:p>
          <a:p>
            <a:r>
              <a:t>CNPJ 60010416000112 · Vencimento das cotas · Excerto da fonte:</a:t>
            </a:r>
          </a:p>
          <a:p>
            <a:r>
              <a:t>Durante o período de investimento, a Administradora poderá deliberar por realizar novas  emissões de Cotas Seniores, sem a necessidade de aprovação em Assembleia Especial de  Cotistas ou alteração do Regulamento, limitadas ao montante máximo de R$ 1.000.000 (um  bilhão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seniores emitidas não sejam superiores aos  prazos de vencimento da primeira emissão.</a:t>
            </a:r>
          </a:p>
          <a:p>
            <a:r>
              <a:t>CNPJ 60010416000112 · Vencimento das cotas · Demonstrações Financeiras - Fusão, cisão e incorporação · ID 1298690 · 2026-05-08 · versão 1 · p. 30 · https://fnet.bmfbovespa.com.br/fnet/publico/visualizarDocumento?id=1298690</a:t>
            </a:r>
          </a:p>
          <a:p>
            <a:r>
              <a:t>CNPJ 60010416000112 · Vencimento das cotas · Excerto da fonte:</a:t>
            </a:r>
          </a:p>
          <a:p>
            <a:r>
              <a:t>Durante o período de investimento, a Administradora poderá deliberar por realizar novas  emissões de cotas subordinadas, sem a necessidade de aprovação em Assembleia Especial  de Cotistas ou alteração do Regulamento, limitadas ao montante máximo de R$ 50.000  (cinquenta milhões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subordinadas emitidas não sejam  superiores aos prazos de vencimento da primeira emissão.</a:t>
            </a:r>
          </a:p>
          <a:p>
            <a:r>
              <a:t>CNPJ 60010416000112 · Vencimento das cotas · Condição: Documentos atuais selecionados no inventário por categoria/escopo; a data documental isolada não comprova vigência jurídica.</a:t>
            </a:r>
          </a:p>
          <a:p>
            <a:r>
              <a:t>CNPJ 60010416000112 · Vencimento das cotas · Motivo: Cláusula primária localizada e citada, mas sua lista/condições extensas não admitem uma síntese literal curta confirmada. O trecho integral permanece nas fontes. A resposta da revisão anterior foi preservada no histórico, sem confirmação pelo documento atual.</a:t>
            </a:r>
          </a:p>
          <a:p>
            <a:r>
              <a:t>CNPJ 60010416000112 · Vencimento das cotas · Versão e prevalência: Documentos atuais selecionados no inventário por categoria/escopo; a data documental isolada não comprova vigência jurídica.</a:t>
            </a:r>
          </a:p>
          <a:p>
            <a:r>
              <a:t>CNPJ 60010416000112 · Vencimento das cotas · Resumo do histórico: {"count": 3, "dates": ["2025-03-20", "2025-10-09"], "document_count": 2, "sources": [{"document_id": "1051393", "title": "Regulamento", "reference_date": "2025-10-09", "version": "1", "page": "8, 48, 53", "url": "https://fnet.bmfbovespa.com.br/fnet/publico/visualizarDocumento?id=1051393", "sha256": "8469d613078ffd5a6c1d217885d8a397a16342c0b937ae4aa24b106505f233ae"}, {"document_id": "1051393", "title": "Regulamento", "reference_date": "2025-10-09", "version": "1", "page": 48, "clause": "2.1.2", "url": "https://fnet.bmfbovespa.com.br/fnet/publico/visualizarDocumento?id=1051393", "sha256": "8469d613078ffd5a6c1d217885d8a397a16342c0b937ae4aa24b106505f233ae"}, {"document_id": "993786", "title": "Regulamento", "reference_date": "2025-03-20", "version": "1", "page": 48, "clause": "2.1.2", "url": "https://fnet.bmfbovespa.com.br/fnet/publico/visualizarDocumento?id=993786", "sha256": "fd0fdd369a195510d81f81f505195a0b09e5f43522a990afa7d58c4f872921c8"}], "reference": {"path": "history/60010416000112.json", "criterion_id": "quota_maturity", "total_count": 3, "preview_count": 3, "full_text_deferred": true, "sha256": "8e2bd813f4c51cf01f6bfaad164bafe69d2bbb192f753eac92da3a01c2e63046"}}</a:t>
            </a:r>
          </a:p>
          <a:p>
            <a:r>
              <a:t>CNPJ 62696791000193 · Vencimento das cotas · Motivo: Não localizada uma cláusula material para este critério nos textos identificados e processados. A ausência de resultado não comprova inexistência da regra.</a:t>
            </a:r>
          </a:p>
          <a:p>
            <a:r>
              <a:t>CNPJ 55563624000109 · Vencimento das cotas · Motivo: Não localizada uma cláusula material para este critério nos textos identificados e processados. A ausência de resultado não comprova inexistência da regra.</a:t>
            </a:r>
          </a:p>
          <a:p>
            <a:r>
              <a:t>CNPJ 62552447000120 · Vencimento das cotas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Vencimento das cotas · Resumo do histórico: {"count": 1, "dates": ["2025-09-03"], "document_count": 1, "sources": [{"document_id": "988020", "title": "Instrumento Particular de Emissão de Cotas", "reference_date": "2025-09-03", "version": "1", "page": "5", "url": "https://fnet.bmfbovespa.com.br/fnet/publico/visualizarDocumento?id=988020", "sha256": "8ecc8a771bb9713d64e5fc2052c489664cb0433801a9280db68e5187d35bf7a5"}], "reference": {"path": "history/62552447000120.json", "criterion_id": "quota_maturity", "total_count": 1, "preview_count": 1, "full_text_deferred": true, "sha256": "d95db8c0613d67ee84118c734588665265ea6b02f86a0318d6a844cbe1d0f82f"}}</a:t>
            </a:r>
          </a:p>
          <a:p>
            <a:r>
              <a:t>CNPJ 63953620000165 · Vencimento das cotas · Motivo: Não localizada uma cláusula material para este critério nos textos identificados e processados. A ausência de resultado não comprova inexistência da regra.</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Fluxo de caixa e prazo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Ordem de alocação de recursos · Regulamento · ID 670691 · 28/04/2024 · versão Regulamento — referência 28/04/2024 · p. 16 · Anexo I, 8.1–8.2 · https://fnet.bmfbovespa.com.br/fnet/publico/visualizarDocumento?id=670691</a:t>
            </a:r>
          </a:p>
          <a:p>
            <a:r>
              <a:t>CNPJ 54871427000194 · Ordem de alocação de recursos · Excerto da fonte:</a:t>
            </a:r>
          </a:p>
          <a:p>
            <a:r>
              <a:t>8.1 O Cotista que tenha apresentado documentação comprobatória de sua condição de imunidade ou isenção tributária, nos termos do item 7.7, e que tiver essa condição alterada ou revogada por disposição normativa, seja por deixar de atender às condições e requisitos prescritos no dispositivo legal aplicável, ou por ter tal condição questionada por autoridade judicial, fiscal ou regulamentar competente, ou, ainda, por ter tal condição alterada e/ou revogada por qualquer outra razão que não as mencionadas acima, deverá comunicar esse f ato, de f orma detalhada e por escrito, ao ADMINISTRADOR, com cópia para o CUSTODIANTE, bem como prestar qualquer inf ormação adicional em relação ao tema que lhe seja solicitada pelo ADMINISTRADOR e/ou pelo CUSTODIANTE. CAPÍTULO 8 – ORDEM DE ALOCAÇÃO DE RECURSOS 8.1 O ADMINISTRADOR e o GESTOR obrigam-se a, a partir da Data da 1ª Integralização de Cotas até a liquidação integral das Obrigações do da Classe, utilizar os recursos disponíveis na Conta da Classe e/ou mantidos em Ativos Financeiros de Liquidez, em cada Dia Útil, de acordo com a seguinte ordem de prioridade de alocação de modo que cada item abaixo listad</a:t>
            </a:r>
          </a:p>
          <a:p>
            <a:r>
              <a:t>CNPJ 54871427000194 · Ordem de alocação de recursos · Versão e prevalência: Leitura específica das cláusulas indicadas; condições e conflitos preservados. Seleção documental atual não comprova vigência jurídica por data isolada.</a:t>
            </a:r>
          </a:p>
          <a:p>
            <a:r>
              <a:t>CNPJ 54871427000194 · Ordem de alocação de recursos · Resumo do histórico: {"count": 2, "dates": ["2024-04-19", "2024-04-28"], "document_count": 2, "sources": [{"document_id": "670691", "title": "Regulamento", "reference_date": "2024-04-28", "version": "1", "page": "16", "url": "https://fnet.bmfbovespa.com.br/fnet/publico/visualizarDocumento?id=670691", "sha256": "bf16dd7f1a62d5cdbf2e2d54fef81783783f7310fbc99c3a8f00459bdf9d037b"}, {"document_id": "670689", "title": "Regulamento", "reference_date": "2024-04-19", "version": "1", "page": 16, "clause": "8.1", "url": "https://fnet.bmfbovespa.com.br/fnet/publico/visualizarDocumento?id=670689", "sha256": "891bc9bc5d87bbc02ec139077a84d2702eb81ea02035fb71d24f5b8366b94a0b"}], "reference": {"path": "history/54871427000194.json", "criterion_id": "waterfall", "total_count": 2, "preview_count": 2, "full_text_deferred": true, "sha256": "35d7cd99be50c7287c9fb675cf4f2e736002315295a225a9efa79c8d9186d874"}}</a:t>
            </a:r>
          </a:p>
          <a:p>
            <a:r>
              <a:t>CNPJ 60010416000112 · Ordem de alocação de recursos · Regulamento · ID 1051393 · 09/10/2025 · versão Regulamento09/10/2025 · p. 16 · AnexoI7.11(i)–(ii),7.12 · https://fnet.bmfbovespa.com.br/fnet/publico/visualizarDocumento?id=1051393</a:t>
            </a:r>
          </a:p>
          <a:p>
            <a:r>
              <a:t>CNPJ 60010416000112 · Ordem de alocação de recursos · Excerto da fonte:</a:t>
            </a:r>
          </a:p>
          <a:p>
            <a:r>
              <a:t>7.11 Sem prejuízo do disposto do disposto nos itens 7.1 a 7.10 acima, a partir da Data da 1ª Integralização de Cotas até a liquidação integral das Obrigações da Classe, sempre preservando a manutenção da boa ordem legal, administrativa e operacional da Classe, o Gestor obriga-se a utilizar os recursos disponíveis na Conta de Movimentação da Classe e/ou mantidos em Ativos Financeiros de Liquidez, em cada Dia Útil, de acordo com a seguinte ordem de prioridade de alocação, na forma dos itens e tabela abaixo, de modo que cada um dos itens listado apenas será contemplado após o direcionamento do montante</a:t>
            </a:r>
          </a:p>
          <a:p>
            <a:r>
              <a:t>CNPJ 60010416000112 · Ordem de alocação de recursos · Motivo: Cláusula primária localizada e citada, mas sua lista/condições extensas não admitem uma síntese literal curta confirmada. O trecho integral permanece nas fontes. A resposta da revisão anterior foi preservada no histórico, sem confirmação pelo documento atual.</a:t>
            </a:r>
          </a:p>
          <a:p>
            <a:r>
              <a:t>CNPJ 60010416000112 · Ordem de alocação de recursos · Versão e prevalência: Leitura específica das cláusulas indicadas; condições e conflitos preservados. Seleção documental atual não comprova vigência jurídica por data isolada.</a:t>
            </a:r>
          </a:p>
          <a:p>
            <a:r>
              <a:t>CNPJ 60010416000112 · Ordem de alocação de recursos · Resumo do histórico: {"count": 2, "dates": ["2025-03-20", "2025-10-09"], "document_count": 2, "sources": [{"document_id": "1051393", "title": "Regulamento", "reference_date": "2025-10-09", "version": "1", "page": "16-17", "url": "https://fnet.bmfbovespa.com.br/fnet/publico/visualizarDocumento?id=1051393", "sha256": "8469d613078ffd5a6c1d217885d8a397a16342c0b937ae4aa24b106505f233ae"}, {"document_id": "993786", "title": "Regulamento", "reference_date": "2025-03-20", "version": "1", "page": 16, "clause": "7.11", "url": "https://fnet.bmfbovespa.com.br/fnet/publico/visualizarDocumento?id=993786", "sha256": "fd0fdd369a195510d81f81f505195a0b09e5f43522a990afa7d58c4f872921c8"}], "reference": {"path": "history/60010416000112.json", "criterion_id": "waterfall", "total_count": 2, "preview_count": 2, "full_text_deferred": true, "sha256": "8e2bd813f4c51cf01f6bfaad164bafe69d2bbb192f753eac92da3a01c2e63046"}}</a:t>
            </a:r>
          </a:p>
          <a:p>
            <a:r>
              <a:t>CNPJ 62696791000193 · Ordem de alocação de recursos · Regulamento · ID 1143317 · 20/03/2026 · versão Regulamento — referência 20/03/2026 · p. 16 · Anexo I, 6.1(i)–(vii) · https://fnet.bmfbovespa.com.br/fnet/publico/visualizarDocumento?id=1143317</a:t>
            </a:r>
          </a:p>
          <a:p>
            <a:r>
              <a:t>CNPJ 62696791000193 · Ordem de alocação de recursos · Excerto da fonte:</a:t>
            </a:r>
          </a:p>
          <a:p>
            <a:r>
              <a:t>6.1 O Administrador e o Gestor obrigam-se a, a partir da data da primeira integralização de Cotas até a liquidação integral das obrigações da Classe, utilizar os recursos disponíveis na Conta da Classe e/ou mantidos em Ativos Financeiros de Liquidez em cada Dia Útil, de acordo com a seguinte ordem de prioridade de alocação, de modo que cada item abaixo listado apenas será contemplado após o direcionamento do montante total necessário para a satisfação dos itens anteriores, ressalvada a ocorrência de eventos extraordinários que afetem o funcionamento regular do Fundo e/ou da Classe: (i) pagamento dos encargos do Fundo e/ou da Classe; (ii) constituição e/ou recomposição da reserva de despesas de modo que esta, ao final de cada Dia Útil, seja equivalente ao montante estimado dos encargos, a serem incorridos nos 6 (seis) meses calendário imediatamente subsequentes pelo Fundo e/ou a Classe (“Reserva de Despesas”); (iii) pagamento de Amortização ou resgate de Cotas Seniores, se houver; (iv) pagamento de Amortização ou resgate de Cotas Mezanino, se houver; (v) aquisição pela Classe de Direitos Creditórios do Agronegócio e/ou Outros Ativos, observando-se a Política de Investimentos; e (vi) pagamento de Amortização ou resgate de Cotas Subordinadas, se houver (vii) aquisição pela Classe de Ativos Financeiros de Liquidez, observando-se a Política de Investimentos.</a:t>
            </a:r>
          </a:p>
          <a:p>
            <a:r>
              <a:t>CNPJ 62696791000193 · Ordem de alocação de recursos · Condição: A ordem diária contém ressalva para eventos extraordinários que afetem o funcionamento regular do fundo ou da classe. Na liquidação, aplicar a partilha específica do Anexo I 11.2.1.</a:t>
            </a:r>
          </a:p>
          <a:p>
            <a:r>
              <a:t>CNPJ 62696791000193 · Ordem de alocação de recursos · Motivo: Cláusula primária localizada e citada, mas sua lista/condições extensas não admitem uma síntese literal curta confirmada. O trecho integral permanece nas fontes.</a:t>
            </a:r>
          </a:p>
          <a:p>
            <a:r>
              <a:t>CNPJ 62696791000193 · Ordem de alocação de recursos · Versão e prevalência: Leitura específica das cláusulas indicadas; condições e conflitos preservados. Seleção documental atual não comprova vigência jurídica por data isolada.</a:t>
            </a:r>
          </a:p>
          <a:p>
            <a:r>
              <a:t>CNPJ 55563624000109 · Ordem de alocação de recursos · Regulamento · ID 1192614 · 30/04/2026 · versão Regulamento30/04/2026 · p. 18 · AnexoI8.1(i)–(iv) · https://fnet.bmfbovespa.com.br/fnet/publico/visualizarDocumento?id=1192614</a:t>
            </a:r>
          </a:p>
          <a:p>
            <a:r>
              <a:t>CNPJ 55563624000109 · Ordem de alocação de recursos · Excerto da fonte:</a:t>
            </a:r>
          </a:p>
          <a:p>
            <a:r>
              <a:t>8.1 O ADMINISTRADOR e o GESTOR obrigam-se a, a partir da Data 1ª Integralização da Classe até a liquidação integral de todas as Obrigações da Classe, utilizar os recursos disponíveis na Conta da Classe e/ou mantidos em Ativos Financeiros de Liquidez, em cada Dia Útil, de acordo com a seguinte ordem de prioridade de alocação de modo que cada item abaixo listado apenas será contemplado após o direcionamento do montante total necessário para a satisfação dos itens anteriores, ressalvado, enquanto em curso um Evento de Avaliação e/ou um Evento de Liquidação,</a:t>
            </a:r>
          </a:p>
          <a:p>
            <a:r>
              <a:t>CNPJ 55563624000109 · Ordem de alocação de recursos · Regulamento · ID 1192614 · 30/04/2026 · versão Regulamento30/04/2026 · p. 19 · AnexoI8.1(v) e8.2 · https://fnet.bmfbovespa.com.br/fnet/publico/visualizarDocumento?id=1192614</a:t>
            </a:r>
          </a:p>
          <a:p>
            <a:r>
              <a:t>CNPJ 55563624000109 · Ordem de alocação de recursos · Excerto da fonte:</a:t>
            </a:r>
          </a:p>
          <a:p>
            <a:r>
              <a:t>8.2 Em caso de liquidação antecipada da Classe, observados os procedimentos descritos no item 11.4 e seguintes abaixo, os recursos decorrentes do pagamento das Cotas a partir do recebimento dos Ativos Financeiros de Liquidez e de Direitos Creditórios da Carteira da Classe serão alocados da seguinte forma: (i) pagamento dos Encargos; e (ii) pagamento do resgate das Cotas, com a devida observância dos termos e condições deste Regulamento. 9 METODOLOGIA DE AVALIAÇÃO DOS ATIVOS DA CLASSE 9.1 As Cotas da Classe Investida e Ativos Financeiro</a:t>
            </a:r>
          </a:p>
          <a:p>
            <a:r>
              <a:t>CNPJ 55563624000109 · Ordem de alocação de recursos · Versão e prevalência: Leitura específica das cláusulas indicadas; condições e conflitos preservados. Seleção documental atual não comprova vigência jurídica por data isolada.</a:t>
            </a:r>
          </a:p>
          <a:p>
            <a:r>
              <a:t>CNPJ 55563624000109 · Ordem de alocação de recursos · Resumo do histórico: {"count": 1, "dates": ["2026-04-30"], "document_count": 1, "sources": [{"document_id": "1192614", "title": "Regulamento", "reference_date": "2026-04-30", "version": "1", "page": "18-19", "url": "https://fnet.bmfbovespa.com.br/fnet/publico/visualizarDocumento?id=1192614", "sha256": "f56e63ace0acde41d2f47fb48f1ac7f3f7df5e2d32de092d7c5e075a52516632"}], "reference": {"path": "history/55563624000109.json", "criterion_id": "waterfall", "total_count": 1, "preview_count": 1, "full_text_deferred": true, "sha256": "7835d573fb58a3c19adf5b8ecc2aee2bdbb9a88f7a0c0209b5f262b64c7522e3"}}</a:t>
            </a:r>
          </a:p>
          <a:p>
            <a:r>
              <a:t>CNPJ 62552447000120 · Ordem de alocação de recursos · Regulamento · ID 1200623 · 21/05/2026 · versão Consolidado21/05/2026 aprovado pelo ato1200625 · p. 20 · AnexoI8.1(i)–(v) · https://fnet.bmfbovespa.com.br/fnet/publico/visualizarDocumento?id=1200623</a:t>
            </a:r>
          </a:p>
          <a:p>
            <a:r>
              <a:t>CNPJ 62552447000120 · Ordem de alocação de recursos · Excerto da fonte:</a:t>
            </a:r>
          </a:p>
          <a:p>
            <a:r>
              <a:t>8.1 O Administrador e o Gestor obrigam-se a, a partir da data da primeira integralização de Cotas (“Data da Primeira Integralização”) até a liquidação integral das obrigações da Classe, utilizar os recursos disponíveis na conta corrente mantida pela Classe junto ao Custodiante, a ser utilizada para todos os recebimentos e transferências de recursos pela Classe (“Conta da Classe”) e/ou mantidos em Ativos Financeiros, em cada Dia Útil, de acordo com a seguinte ordem de prioridade de alocação de modo que cada item abaixo listado apenas será contemplado após o direcionamento do montante total necessári</a:t>
            </a:r>
          </a:p>
          <a:p>
            <a:r>
              <a:t>CNPJ 62552447000120 · Ordem de alocação de recursos · Regulamento · ID 1200623 · 21/05/2026 · versão Consolidado21/05/2026 aprovado pelo ato1200625 · p. 19 · AnexoI7.3 · https://fnet.bmfbovespa.com.br/fnet/publico/visualizarDocumento?id=1200623</a:t>
            </a:r>
          </a:p>
          <a:p>
            <a:r>
              <a:t>CNPJ 62552447000120 · Ordem de alocação de recursos · Excerto da fonte:</a:t>
            </a:r>
          </a:p>
          <a:p>
            <a:r>
              <a:t>7.3 Quaisquer pagamentos aos Cotistas a título de Amortização deverão observar a ordem de alocação de recursos e abranger, proporcionalmente e sem direito de preferência ou prioridade, todas as Cotas, em benef ício de todos os respectivos titulares. Quando do pagamento de resgate de Cotas, as Cotas objeto de resgate serão canceladas. 7.4 Para f ins de Amortização, será considerado o valor da Cota do segundo Dia Útil anterior à data do pagamento da respectiva parcela da Amortização, por meio do Sistema de Pagamentos Brasileiro – SPB, observados os procedimentos do Escriturador e do mercado organizado em</a:t>
            </a:r>
          </a:p>
          <a:p>
            <a:r>
              <a:t>CNPJ 62552447000120 · Ordem de alocação de recursos · Motivo: Cláusula primária localizada e citada, mas sua lista/condições extensas não admitem uma síntese literal curta confirmada. O trecho integral permanece nas fontes.</a:t>
            </a:r>
          </a:p>
          <a:p>
            <a:r>
              <a:t>CNPJ 62552447000120 · Ordem de alocação de recursos · Versão e prevalência: Leitura específica das cláusulas indicadas; condições e conflitos preservados. Seleção documental atual não comprova vigência jurídica por data isolada.</a:t>
            </a:r>
          </a:p>
          <a:p>
            <a:r>
              <a:t>CNPJ 63953620000165 · Ordem de alocação de recursos · Anexo ao Regulamento · ID 1222863 · 02/06/2026 · versão AnexoConsignadoPrivado02/06/2026 · p. 11 · 8.1(i) · https://fnet.bmfbovespa.com.br/fnet/publico/visualizarDocumento?id=1222863</a:t>
            </a:r>
          </a:p>
          <a:p>
            <a:r>
              <a:t>CNPJ 63953620000165 · Ordem de alocação de recursos · Excerto da fonte:</a:t>
            </a:r>
          </a:p>
          <a:p>
            <a:r>
              <a:t>8.1 O Administrador e o Gestor obrigam-se a, a partir da data da primeira integralização de Cotas (“Data da 1ª Integralização”) até a liquidação integral das obrigações da Classe, utilizar os recursos disponíveis na Conta da Classe e/ou mantidos em Ativos Financeiros, em cada Dia Útil, de acordo com a seguinte ordem de prioridade de alocação de modo que cada item abaixo listado apenas será contemplado após o direcionamento do montante total necessário para a satisfação dos itens anteriores, ressalvado, enquanto em curso um Evento de Avaliação e/ou um Evento de Liquidação, o disposto nos itens 11.1.2: (i)</a:t>
            </a:r>
          </a:p>
          <a:p>
            <a:r>
              <a:t>CNPJ 63953620000165 · Ordem de alocação de recursos · Anexo ao Regulamento · ID 1222863 · 02/06/2026 · versão AnexoConsignadoPrivado02/06/2026 · p. 12 · 8.1(ii)–(x) · https://fnet.bmfbovespa.com.br/fnet/publico/visualizarDocumento?id=1222863</a:t>
            </a:r>
          </a:p>
          <a:p>
            <a:r>
              <a:t>CNPJ 63953620000165 · Ordem de alocação de recursos · Excerto da fonte:</a:t>
            </a:r>
          </a:p>
          <a:p>
            <a:r>
              <a:t>(ii) constituição ou reestabelecimento da Reserva de Caixa, conforme definida abaixo, por meio da aquisição de Ativos Financeiros de Liquidez, observando-se a Política de Investimentos; (iii) pagamento de despesas relativas aos instrumentos de derivativos, conforme aplicável; (iv) pagamento da Rentabilidade Adicional Sênior, caso aplicável; (v) aquisição pela Classe de Direitos Creditórios, durante o Período de Investimento, observando-se a Política de Investimentos; (vi) pagamento do Benchmark Sênior, a critério do Gestor; (vii) pagamento da amortização do principal</a:t>
            </a:r>
          </a:p>
          <a:p>
            <a:r>
              <a:t>CNPJ 63953620000165 · Ordem de alocação de recursos · Condição: Compra de DC antecede amortização do benchmark/principal; principal sênior durante investimento exige tempo decorrido maior que duration dos DC.</a:t>
            </a:r>
          </a:p>
          <a:p>
            <a:r>
              <a:t>CNPJ 63953620000165 · Ordem de alocação de recursos · Motivo: Não localizada uma cláusula material para este critério nos textos identificados e processados. A ausência de resultado não comprova inexistência da regra.</a:t>
            </a:r>
          </a:p>
          <a:p>
            <a:r>
              <a:t>CNPJ 63953620000165 · Ordem de alocação de recursos · Versão e prevalência: Leitura específica das cláusulas indicadas; condições e conflitos preservados. Seleção documental atual não comprova vigência jurídica por data isolada.</a:t>
            </a:r>
          </a:p>
          <a:p>
            <a:r>
              <a:t>CNPJ 54871427000194 · Pró-rata, sequencial e aceleração · Motivo: Não localizada uma cláusula material para este critério nos textos identificados e processados. A ausência de resultado não comprova inexistência da regra.</a:t>
            </a:r>
          </a:p>
          <a:p>
            <a:r>
              <a:t>CNPJ 60010416000112 · Pró-rata, sequencial e aceleração · Motivo: Não localizada uma cláusula material para este critério nos textos identificados e processados. A ausência de resultado não comprova inexistência da regra.</a:t>
            </a:r>
          </a:p>
          <a:p>
            <a:r>
              <a:t>CNPJ 62696791000193 · Pró-rata, sequencial e aceleração · Regulamento · ID 1143317 · 20/03/2026 · versão Regulamento — referência 20/03/2026 · p. 23 · Anexo I, 11.2.1 · https://fnet.bmfbovespa.com.br/fnet/publico/visualizarDocumento?id=1143317</a:t>
            </a:r>
          </a:p>
          <a:p>
            <a:r>
              <a:t>CNPJ 62696791000193 · Pró-rata, sequencial e aceleração · Excerto da fonte:</a:t>
            </a:r>
          </a:p>
          <a:p>
            <a:r>
              <a:t>11.2.1 No caso de Liquidação da Classe, os Cotistas terão o direito de partilhar o Patrimônio Líquido em igualdade de condições e na proporção de suas Cotas, deduzidas as despesas necessárias para a liquidação da Classe. Não haverá qualquer tipo de pref erência, p rioridade ou subordinação entre os Cotistas.</a:t>
            </a:r>
          </a:p>
          <a:p>
            <a:r>
              <a:t>CNPJ 62696791000193 · Pró-rata, sequencial e aceleração · Regulamento · ID 1143317 · 20/03/2026 · versão Regulamento — referência 20/03/2026 · p. 35 · Apêndice Sênior, 7.1 · https://fnet.bmfbovespa.com.br/fnet/publico/visualizarDocumento?id=1143317</a:t>
            </a:r>
          </a:p>
          <a:p>
            <a:r>
              <a:t>CNPJ 62696791000193 · Pró-rata, sequencial e aceleração · Excerto da fonte:</a:t>
            </a:r>
          </a:p>
          <a:p>
            <a:r>
              <a:t>7.1. Prioridade de Recebimento das Cotas Seniores. As Cotas Seniores terão prioridade no pagamento de resgate sobre todas as Cotas Subordinadas Juniores, observado que as Cotas Subordinadas Juniores somente serão resgatadas após o pagamento integral das Cotas Seniores (exceto se de outra forma permitido no Anexo I).</a:t>
            </a:r>
          </a:p>
          <a:p>
            <a:r>
              <a:t>CNPJ 62696791000193 · Pró-rata, sequencial e aceleração · Condição: Apêndice Sênior 7.1 remete expressamente à exceção do Anexo I. A partilha da liquidação segue 11.2.1; a proteção sênior prevista para resgate não assegura prioridade nesse cenário.</a:t>
            </a:r>
          </a:p>
          <a:p>
            <a:r>
              <a:t>CNPJ 62696791000193 · Pró-rata, sequencial e aceleração · Motivo: Não localizada uma cláusula material para este critério nos textos identificados e processados. A ausência de resultado não comprova inexistência da regra.</a:t>
            </a:r>
          </a:p>
          <a:p>
            <a:r>
              <a:t>CNPJ 62696791000193 · Pró-rata, sequencial e aceleração · Versão e prevalência: Leitura específica das cláusulas indicadas; condições e conflitos preservados. Seleção documental atual não comprova vigência jurídica por data isolada.</a:t>
            </a:r>
          </a:p>
          <a:p>
            <a:r>
              <a:t>CNPJ 55563624000109 · Pró-rata, sequencial e aceleração · Motivo: Não localizada uma cláusula material para este critério nos textos identificados e processados. A ausência de resultado não comprova inexistência da regra.</a:t>
            </a:r>
          </a:p>
          <a:p>
            <a:r>
              <a:t>CNPJ 62552447000120 · Pró-rata, sequencial e aceleração · Motivo: Não localizada uma cláusula material para este critério nos textos identificados e processados. A ausência de resultado não comprova inexistência da regra.</a:t>
            </a:r>
          </a:p>
          <a:p>
            <a:r>
              <a:t>CNPJ 63953620000165 · Pró-rata, sequencial e aceleração · Motivo: Não localizada uma cláusula material para este critério nos textos identificados e processados. A ausência de resultado não comprova inexistência da regra.</a:t>
            </a:r>
          </a:p>
          <a:p>
            <a:r>
              <a:t>CNPJ 54871427000194 · Revolvência e desinvestimento · Regulamento · ID 670691 · 28/04/2024 · versão Regulamento — referência 28/04/2024 · p. 11 · Anexo I, 4.12 · https://fnet.bmfbovespa.com.br/fnet/publico/visualizarDocumento?id=670691</a:t>
            </a:r>
          </a:p>
          <a:p>
            <a:r>
              <a:t>CNPJ 54871427000194 · Revolvência e desinvestimento · Excerto da fonte:</a:t>
            </a:r>
          </a:p>
          <a:p>
            <a:r>
              <a:t>4.12 Os recursos recebidos pela Classe em razão da liquidação dos Direitos Creditórios, a qualquer título, incluindo pagamento regular ou por excussão de garantia, alienação, recompra, indenização pelo Cedente e/ou desinvestimento de Ativo Recuperado, serão destinados a aquisição de Direitos Creditórios até o montante de R$ 250.000.000,00 (duzentos e cinquenta milhões de reais), sendo certo que os recursos recebidos pela Classe após a aquisição em tal montante não poderão ser destinados à aquisição pela Classe de novos Direitos Creditórios, aplicando-se, de resto, o disposto no item 8.1 abaixo no que se ref ere à ordem de alocação de tais recursos. BTG Pactual SAC: 0800 772 28 27 - Ouvidoria: 0800 722 00 48 - btgpactual.com 5</a:t>
            </a:r>
          </a:p>
          <a:p>
            <a:r>
              <a:t>CNPJ 54871427000194 · Revolvência e desinvestimento · Condição: O gatilho usa aquisições acumuladas, e não o saldo mensal de direitos creditórios.</a:t>
            </a:r>
          </a:p>
          <a:p>
            <a:r>
              <a:t>CNPJ 54871427000194 · Revolvência e desinvestimento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Revolvência e desinvestimento · Versão e prevalência: Leitura específica das cláusulas indicadas; condições e conflitos preservados. Seleção documental atual não comprova vigência jurídica por data isolada.</a:t>
            </a:r>
          </a:p>
          <a:p>
            <a:r>
              <a:t>CNPJ 54871427000194 · Revolvência e desinvestimento · Resumo do histórico: {"count": 1, "dates": ["2024-04-28"], "document_count": 1, "sources": [{"document_id": "670691", "title": "Regulamento", "reference_date": "2024-04-28", "version": "1", "page": "11", "url": "https://fnet.bmfbovespa.com.br/fnet/publico/visualizarDocumento?id=670691", "sha256": "bf16dd7f1a62d5cdbf2e2d54fef81783783f7310fbc99c3a8f00459bdf9d037b"}], "reference": {"path": "history/54871427000194.json", "criterion_id": "revolving", "total_count": 1, "preview_count": 1, "full_text_deferred": true, "sha256": "35d7cd99be50c7287c9fb675cf4f2e736002315295a225a9efa79c8d9186d874"}}</a:t>
            </a:r>
          </a:p>
          <a:p>
            <a:r>
              <a:t>CNPJ 60010416000112 · Revolvência e desinvestimento · Regulamento · ID 1051393 · 09/10/2025 · versão Regulamento09/10/2025 · p. 12 · AnexoI4.11–4.12.1 · https://fnet.bmfbovespa.com.br/fnet/publico/visualizarDocumento?id=1051393</a:t>
            </a:r>
          </a:p>
          <a:p>
            <a:r>
              <a:t>CNPJ 60010416000112 · Revolvência e desinvestimento · Excerto da fonte:</a:t>
            </a:r>
          </a:p>
          <a:p>
            <a:r>
              <a:t>4.11 A Classe terá um Período de Investimento de 24 (vinte e quatro) meses, contados da Data da 1ª Integralização de Cotas da Classe. 4.12 Durante o Período de Investimento, a Classe utilizará os recursos provenientes da integralização das Cotas para investir em Direitos Creditórios e Ativos Financeiros de Liquidez, de acordo com a Política de Investimento estabelecida no presente Anexo I, sendo permitida, durante o Período de Investimento, a aquisição de novos Direitos Creditórios com os recursos decorrentes do pagamento dos Direitos Creditórios integrantes da carteira da Classe, desde que respei</a:t>
            </a:r>
          </a:p>
          <a:p>
            <a:r>
              <a:t>CNPJ 60010416000112 · Revolvência e desinvestimento · Regulamento · ID 1051393 · 09/10/2025 · versão Regulamento09/10/2025 · p. 15 · AnexoI7.3 · https://fnet.bmfbovespa.com.br/fnet/publico/visualizarDocumento?id=1051393</a:t>
            </a:r>
          </a:p>
          <a:p>
            <a:r>
              <a:t>CNPJ 60010416000112 · Revolvência e desinvestimento · Excerto da fonte:</a:t>
            </a:r>
          </a:p>
          <a:p>
            <a:r>
              <a:t>7.3 Após o encerramento do Período de Investimento, e desde que o Índice de Subordinação esteja sendo cumprido, as Cotas serão amortizadas mensalmente, em regime de caixa, nas datas e prazos previstos nos respectivos Suplementos, em montante correspondente ao valor dos recursos disponíveis na Conta de Movimentação da Classe, somados aos Ativos Financeiros de Liquidez, respeitando a ordem de alocação dos recursos, observado o disposto no item abaixo em relação às Cotas Subordinadas. 7.3.1. As Cotas Subordinadas poderão ser amortizadas caso sejam atingidas, cumulativamente, as segui</a:t>
            </a:r>
          </a:p>
          <a:p>
            <a:r>
              <a:t>CNPJ 60010416000112 · Revolvência e desinvestimento · Versão e prevalência: Leitura específica das cláusulas indicadas; condições e conflitos preservados. Seleção documental atual não comprova vigência jurídica por data isolada.</a:t>
            </a:r>
          </a:p>
          <a:p>
            <a:r>
              <a:t>CNPJ 60010416000112 · Revolvência e desinvestimento · Resumo do histórico: {"count": 4, "dates": ["2025-03-20", "2025-05-12", "2025-10-09"], "document_count": 3, "sources": [{"document_id": "1051393", "title": "Regulamento", "reference_date": "2025-10-09", "version": "1", "page": "12", "url": "https://fnet.bmfbovespa.com.br/fnet/publico/visualizarDocumento?id=1051393", "sha256": "8469d613078ffd5a6c1d217885d8a397a16342c0b937ae4aa24b106505f233ae"}, {"document_id": "1004656", "title": "AGE", "reference_date": "2025-05-12", "version": "1", "page": 5, "url": "https://fnet.bmfbovespa.com.br/fnet/publico/visualizarDocumento?id=1004656", "sha256": "f6c9c009f6170e2b29f074b98522accec73f0c40efbf11f9ec2c8d3f1402616b"}, {"document_id": "993785", "title": "Instrumento Particular de Constituição/Encerramento do Fundo", "reference_date": "2025-03-20", "version": "1", "page": 5, "url": "https://fnet.bmfbovespa.com.br/fnet/publico/visualizarDocumento?id=993785", "sha256": "0826e0eae2c51afabf59bbc49fc7647598d03da5ca6de0f9725850a8bd6af457"}], "reference": {"path": "history/60010416000112.json", "criterion_id": "revolving", "total_count": 4, "preview_count": 3, "full_text_deferred": true, "sha256": "8e2bd813f4c51cf01f6bfaad164bafe69d2bbb192f753eac92da3a01c2e63046"}}</a:t>
            </a:r>
          </a:p>
          <a:p>
            <a:r>
              <a:t>CNPJ 62696791000193 · Revolvência e desinvestimento · Regulamento · ID 1143317 · 20/03/2026 · versão Regulamento — referência 20/03/2026 · p. 16 · Anexo I, 5.1 · https://fnet.bmfbovespa.com.br/fnet/publico/visualizarDocumento?id=1143317</a:t>
            </a:r>
          </a:p>
          <a:p>
            <a:r>
              <a:t>CNPJ 62696791000193 · Revolvência e desinvestimento · Excerto da fonte:</a:t>
            </a:r>
          </a:p>
          <a:p>
            <a:r>
              <a:t>5.1 Os recursos recebidos pela Classe em razão da liquidação dos Direitos Creditórios do Agronegócio e/ou dos Outros Ativos, a qualquer título, incluindo pagamento regular ou por excussão de garantia, alienação, recompra, indenização pelo cedente e/ou desinvestimento de Direitos Creditórios do Agronegócio e/ou dos Outros Ativos, poderão ser destinados à aquisição pela Classe de novos Direitos Creditórios do Agronegócio e/ou dos Outros Ativos e/ou destinados ao resgate das Cotas, conf orme decisão do Gestor e desde que observada a ordem de alocação de recursos. 6 ORDEM DE ALOCAÇÃO DE RECURSOS 6.1 O Administrador e o Gestor obrigam-se a, a partir da data da primeira integralização de Cotas até a liquidação integral das obrigações da Classe, utilizar os recursos disponíveis na Conta da Classe e/ou mantidos em Ativos Financeiros de Liquidez em cada Dia Útil, de acordo com a seguinte ordem de prioridade de alocação, de modo que cada item abaixo listado apenas será contemplado após o direcionamento do montante total necessário para a satisfação dos itens anteriores, ressalvada a ocorrência de eventos extraordinários que afetem o funcionamento regular do Fundo e/ou da Classe: (i</a:t>
            </a:r>
          </a:p>
          <a:p>
            <a:r>
              <a:t>CNPJ 62696791000193 · Revolvência e desinvestimento · Versão e prevalência: Leitura específica das cláusulas indicadas; condições e conflitos preservados. Seleção documental atual não comprova vigência jurídica por data isolada.</a:t>
            </a:r>
          </a:p>
          <a:p>
            <a:r>
              <a:t>CNPJ 55563624000109 · Revolvência e desinvestimento · Regulamento · ID 1192614 · 30/04/2026 · versão Regulamento30/04/2026 · p. 13 · AnexoI4.13 · https://fnet.bmfbovespa.com.br/fnet/publico/visualizarDocumento?id=1192614</a:t>
            </a:r>
          </a:p>
          <a:p>
            <a:r>
              <a:t>CNPJ 55563624000109 · Revolvência e desinvestimento · Excerto da fonte:</a:t>
            </a:r>
          </a:p>
          <a:p>
            <a:r>
              <a:t>4.13 Os recursos recebidos pela Classe em razão da liquidação das Cotas da Classe Investida, a qualquer título, incluindo pagamento regular ou por excussão ou execução de garantia, alienação, recompra, indenização e/ou desinvestimento, serão destinados à amortização ou resgate das Cotas, conforme decisão do GESTOR e desde que observada a ordem de alocação de recursos definida no item 8.1 abaixo, observado que tais recursos poderão ser utilizados para fazer frente ao pagamento de Encargos e/ou despesas extraordinárias da Classe ou da Classe Investida, caso</a:t>
            </a:r>
          </a:p>
          <a:p>
            <a:r>
              <a:t>CNPJ 55563624000109 · Revolvência e desinvestimento · Motivo: Não localizada uma cláusula material para este critério nos textos identificados e processados. A ausência de resultado não comprova inexistência da regra.</a:t>
            </a:r>
          </a:p>
          <a:p>
            <a:r>
              <a:t>CNPJ 55563624000109 · Revolvência e desinvestimento · Versão e prevalência: Leitura específica das cláusulas indicadas; condições e conflitos preservados. Seleção documental atual não comprova vigência jurídica por data isolada.</a:t>
            </a:r>
          </a:p>
          <a:p>
            <a:r>
              <a:t>CNPJ 62552447000120 · Revolvência e desinvestimento · Motivo: Não localizada uma cláusula material para este critério nos textos identificados e processados. A ausência de resultado não comprova inexistência da regra.</a:t>
            </a:r>
          </a:p>
          <a:p>
            <a:r>
              <a:t>CNPJ 63953620000165 · Revolvência e desinvestimento · Anexo ao Regulamento · ID 1222863 · 02/06/2026 · versão AnexoConsignadoPrivado02/06/2026 · p. 7 · 4.17–4.17.3 · https://fnet.bmfbovespa.com.br/fnet/publico/visualizarDocumento?id=1222863</a:t>
            </a:r>
          </a:p>
          <a:p>
            <a:r>
              <a:t>CNPJ 63953620000165 · Revolvência e desinvestimento · Excerto da fonte:</a:t>
            </a:r>
          </a:p>
          <a:p>
            <a:r>
              <a:t>4.17 O período compreendido entre a data da primeira integralização de Cotas da Classe até 29 de junho de 2031, constituirão o período de investimento da Classe, durante o qual, a Classe poderá adquirir Direitos Creditórios (“Período de Investimento”). 4.17.1 Durante o Período de Investimento, os recursos recebidos pela Classe em razão da liquidação dos Direitos Creditórios, a qualquer título, incluindo pagamento regular ou por excussão de garantia, alienação, recompra, indenização pelo Cedente e/ou desinvestimento de Ativo Recuperado, poderão ser destinados à aquisição pela Classe de novos</a:t>
            </a:r>
          </a:p>
          <a:p>
            <a:r>
              <a:t>CNPJ 63953620000165 · Revolvência e desinvestimento · Versão e prevalência: Leitura específica das cláusulas indicadas; condições e conflitos preservados. Seleção documental atual não comprova vigência jurídica por data isolada.</a:t>
            </a:r>
          </a:p>
          <a:p>
            <a:r>
              <a:t>CNPJ 63953620000165 · Revolvência e desinvestimento · Resumo do histórico: {"count": 8, "dates": ["2026-04-28", "2026-05-08", "2026-05-15"], "document_count": 3, "sources": [{"document_id": "1327859", "title": "Demonstrações Financeiras - Fusão, cisão e incorporação", "reference_date": "2026-05-15", "version": "1", "page": 10, "url": "https://fnet.bmfbovespa.com.br/fnet/publico/visualizarDocumento?id=1327859", "sha256": "dca1c68babb97f887528c3e2e47596a9c30f507b067981a35655b2f2da9c8054"}, {"document_id": "1298691", "title": "Demonstrações Financeiras - Fusão, cisão e incorporação", "reference_date": "2026-05-08", "version": "1", "page": 10, "url": "https://fnet.bmfbovespa.com.br/fnet/publico/visualizarDocumento?id=1298691", "sha256": "58c570d9b8d4d265330d3db3ea81c435b8e44a6dab4002aa37790652a1ee9819"}, {"document_id": "1282180", "title": "Demonstrações Financeiras - Fusão, cisão e incorporação", "reference_date": "2026-04-28", "version": "1", "page": 10, "url": "https://fnet.bmfbovespa.com.br/fnet/publico/visualizarDocumento?id=1282180", "sha256": "afaaa0e6809be4385e5bdb6c911aac582032c5bdbac3d7750234bf9eaf00438a"}], "reference": {"path": "history/63953620000165.json", "criterion_id": "revolving", "total_count": 8, "preview_count": 3, "full_text_deferred": true, "sha256": "a7b89077f5e21098c2d601c303faabc3ff6b9729f89d8afecdc60fe1404720c1"}}</a:t>
            </a:r>
          </a:p>
          <a:p>
            <a:r>
              <a:t>CNPJ 54871427000194 · Cessões, preço e carteira residual · Motivo: Não localizada uma cláusula material para este critério nos textos identificados e processados. A ausência de resultado não comprova inexistência da regra.</a:t>
            </a:r>
          </a:p>
          <a:p>
            <a:r>
              <a:t>CNPJ 60010416000112 · Cessões, preço e carteira residual · Motivo: Não localizada uma cláusula material para este critério nos textos identificados e processados. A ausência de resultado não comprova inexistência da regra.</a:t>
            </a:r>
          </a:p>
          <a:p>
            <a:r>
              <a:t>CNPJ 62696791000193 · Cessões, preço e carteira residual · Regulamento · ID 1143317 · 2026-03-20 · versão 1 · p. 14 · 4.22 · https://fnet.bmfbovespa.com.br/fnet/publico/visualizarDocumento?id=1143317</a:t>
            </a:r>
          </a:p>
          <a:p>
            <a:r>
              <a:t>CNPJ 62696791000193 · Cessões, preço e carteira residual · Excerto da fonte:</a:t>
            </a:r>
          </a:p>
          <a:p>
            <a:r>
              <a:t>4.22 A Classe poderá participar de operações de securitização por meio de cessão de direitos creditórios de  que seja titular, incluindo, exemplificativamente, créditos de locação, venda ou direito real de superfície.</a:t>
            </a:r>
          </a:p>
          <a:p>
            <a:r>
              <a:t>CNPJ 62696791000193 · Cessões, preço e carteira residual · Condição: Documentos atuais selecionados no inventário por categoria/escopo; a data documental isolada não comprova vigência jurídica.</a:t>
            </a:r>
          </a:p>
          <a:p>
            <a:r>
              <a:t>CNPJ 62696791000193 · Cessões, preço e carteira residual · Versão e prevalência: Documentos atuais selecionados no inventário por categoria/escopo; a data documental isolada não comprova vigência jurídica.</a:t>
            </a:r>
          </a:p>
          <a:p>
            <a:r>
              <a:t>CNPJ 55563624000109 · Cessões, preço e carteira residual · Regulamento · ID 1192614 · 2026-04-30 · versão 1 · p. 12 · 4.5 · https://fnet.bmfbovespa.com.br/fnet/publico/visualizarDocumento?id=1192614</a:t>
            </a:r>
          </a:p>
          <a:p>
            <a:r>
              <a:t>CNPJ 55563624000109 · Cessões, preço e carteira residual · Excerto da fonte:</a:t>
            </a:r>
          </a:p>
          <a:p>
            <a:r>
              <a:t>4.5 Uma vez que o investimento nas Cotas da Classe Investida não corresponde a um investimento direto em direitos  creditórios, uma série de disposições comuns à securitização de direitos creditórios não será aplicável ao  investimento nas Cotas da Classe Investida. A título meramente exemplificativo, não existem processos de  originação ou política de concessão de crédito adotada pelo GESTOR, tampouco há que se falar em verificação  ou guarda de documentos comprobatórios que não sejam referentes às Cotas da Classe Investida. Da mesma  forma, não há necessidade de se prever a adoção de procedimentos específicos para a cobrança das Cotas da  Classe Investida. Cada Cotista deverá atestar que está ciente e concorda com o disposto neste item 4.5, por meio  da assinatura do Termo de Adesão.</a:t>
            </a:r>
          </a:p>
          <a:p>
            <a:r>
              <a:t>CNPJ 55563624000109 · Cessões, preço e carteira residual · Condição: Documentos atuais selecionados no inventário por categoria/escopo; a data documental isolada não comprova vigência jurídica.</a:t>
            </a:r>
          </a:p>
          <a:p>
            <a:r>
              <a:t>CNPJ 55563624000109 · Cessões, preço e carteira residual · Motivo: Cláusula primária localizada e citada, mas sua lista/condições extensas não admitem uma síntese literal curta confirmada. O trecho integral permanece nas fontes.</a:t>
            </a:r>
          </a:p>
          <a:p>
            <a:r>
              <a:t>CNPJ 55563624000109 · Cessões, preço e carteira residual · Versão e prevalência: Documentos atuais selecionados no inventário por categoria/escopo; a data documental isolada não comprova vigência jurídica.</a:t>
            </a:r>
          </a:p>
          <a:p>
            <a:r>
              <a:t>CNPJ 62552447000120 · Cessões, preço e carteira residual · Motivo: Não localizada uma cláusula material para este critério nos textos identificados e processados. A ausência de resultado não comprova inexistência da regra.</a:t>
            </a:r>
          </a:p>
          <a:p>
            <a:r>
              <a:t>CNPJ 63953620000165 · Cessões, preço e carteira residual · Motivo: Não localizada uma cláusula material para este critério nos textos identificados e processados. A ausência de resultado não comprova inexistência da regra.</a:t>
            </a:r>
          </a:p>
          <a:p>
            <a:r>
              <a:t>CNPJ 54871427000194 · Juros, amortização e vencimento · Regulamento · ID 670691 · 28/04/2024 · versão Regulamento — referência 28/04/2024 · p. 15 · Anexo I, 6.1–6.2 e 7.2–7.4 · https://fnet.bmfbovespa.com.br/fnet/publico/visualizarDocumento?id=670691</a:t>
            </a:r>
          </a:p>
          <a:p>
            <a:r>
              <a:t>CNPJ 54871427000194 · Juros, amortização e vencimento · Excerto da fonte:</a:t>
            </a:r>
          </a:p>
          <a:p>
            <a:r>
              <a:t>6.1 As Cotas terão seu Valor Unitário calculado e divulgado pelo ADMINISTRADOR mensalmente, no último Dia Útil de cada mês, no fechamento dos mercados, a partir do mês seguinte à Data da 1ª Integralização e até a data de resgate das Cotas ou na data de liquidação da Classe Única, conforme o caso. 6.2 A partir da Data da 1ª Integralização de Cotas, o Valor Unitário das Cotas s erá calculado no fechamento do último Dia Útil de cada mês, equivalerá ao resultado da divisão do valor do Patrimônio Líquido apurado para o respectivo dia, pelo número de Cotas em circulação na respectiva data de cálculo . CAPÍTULO 7 – AMORTIZAÇÃO E RESGATE DAS COTAS 7.1 A distribuição de quaisquer ganhos e rendimentos d a Classe aos Cotistas será f eita exclusivamente mediante a Amortização e/ou o resgate de Cotas, observado o disposto neste Capítulo. 7.2 As amortizações de Cotas serão realizadas a qualquer tempo, a critério do GESTOR, observada a disponibilidade de recursos da Classe Única e a ordem de alocação de recursos prevista neste Anexo Descritivo. 7.3 As Cotas serão amortizadas mediante orientação do GESTOR e/ou deliberação da Assembleia Especial de Cotistas, observada a ordem de alocação de recursos previ</a:t>
            </a:r>
          </a:p>
          <a:p>
            <a:r>
              <a:t>CNPJ 54871427000194 · Juros, amortização e vencimento · Motivo: Cláusula primária localizada e citada, mas sua lista/condições extensas não admitem uma síntese literal curta confirmada. O trecho integral permanece nas fontes. A resposta da revisão anterior foi preservada no histórico, sem confirmação pelo documento atual.</a:t>
            </a:r>
          </a:p>
          <a:p>
            <a:r>
              <a:t>CNPJ 54871427000194 · Juros, amortização e vencimento · Versão e prevalência: Leitura específica das cláusulas indicadas; condições e conflitos preservados. Seleção documental atual não comprova vigência jurídica por data isolada.</a:t>
            </a:r>
          </a:p>
          <a:p>
            <a:r>
              <a:t>CNPJ 54871427000194 · Juros, amortização e vencimento · Resumo do histórico: {"count": 2, "dates": ["2024-04-19", "2024-04-28"], "document_count": 2, "sources": [{"document_id": "670691", "title": "Regulamento", "reference_date": "2024-04-28", "version": "1", "page": "15", "url": "https://fnet.bmfbovespa.com.br/fnet/publico/visualizarDocumento?id=670691", "sha256": "bf16dd7f1a62d5cdbf2e2d54fef81783783f7310fbc99c3a8f00459bdf9d037b"}, {"document_id": "670689", "title": "Regulamento", "reference_date": "2024-04-19", "version": "1", "page": 30, "url": "https://fnet.bmfbovespa.com.br/fnet/publico/visualizarDocumento?id=670689", "sha256": "891bc9bc5d87bbc02ec139077a84d2702eb81ea02035fb71d24f5b8366b94a0b"}], "reference": {"path": "history/54871427000194.json", "criterion_id": "payments", "total_count": 2, "preview_count": 2, "full_text_deferred": true, "sha256": "35d7cd99be50c7287c9fb675cf4f2e736002315295a225a9efa79c8d9186d874"}}</a:t>
            </a:r>
          </a:p>
          <a:p>
            <a:r>
              <a:t>CNPJ 60010416000112 · Juros, amortização e vencimento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Juros, amortização e vencimento · Resumo do histórico: {"count": 1, "dates": ["2025-03-20"], "document_count": 1, "sources": [{"document_id": "993785", "title": "Instrumento Particular de Constituição/Encerramento do Fundo", "reference_date": "2025-03-20", "version": "1", "page": "5-6", "url": "https://fnet.bmfbovespa.com.br/fnet/publico/visualizarDocumento?id=993785", "sha256": "0826e0eae2c51afabf59bbc49fc7647598d03da5ca6de0f9725850a8bd6af457"}], "reference": {"path": "history/60010416000112.json", "criterion_id": "payments", "total_count": 1, "preview_count": 1, "full_text_deferred": true, "sha256": "8e2bd813f4c51cf01f6bfaad164bafe69d2bbb192f753eac92da3a01c2e63046"}}</a:t>
            </a:r>
          </a:p>
          <a:p>
            <a:r>
              <a:t>CNPJ 62696791000193 · Juros, amortização e vencimento · Regulamento · ID 1143317 · 20/03/2026 · versão Regulamento — referência 20/03/2026 · p. 34 · Apêndice Sênior, 6.1–6.1.1 · https://fnet.bmfbovespa.com.br/fnet/publico/visualizarDocumento?id=1143317</a:t>
            </a:r>
          </a:p>
          <a:p>
            <a:r>
              <a:t>CNPJ 62696791000193 · Juros, amortização e vencimento · Excerto da fonte:</a:t>
            </a:r>
          </a:p>
          <a:p>
            <a:r>
              <a:t>6.1. Desde que o Patrimônio Líquido da Classe assim permita, a partir de janeiro de 2026, as Cotas Seniores f arão jus à Amortização semestral do Benchmark, a ser realizada no último Dia Útil dos meses de janeiro e de julho de cada ano (“Amortização Programada de Cotas Seniores” e “Data de Amortização Programada de Cotas Seniores”, respectivamente), observada a Ordem de Alocação de Recursos prevista no Anexo. 6.1.1. Caso, em uma Data de Amortização Programa de Cotas Seniores, a Classe não tenha recursos disponíveis suficientes para o seu pagamento integral a diferença entre (i) o Benchmark Sênior apurado e (ii) os valores ef etivamente Amortizados aos Cotistas Seniores será automaticamente acumulada para pagamento na próxima Data de Amortização Programa de Cotas Seniores , e assim subsequentemente quando não for possível o pagamento total da diferença na Data de Amortização Programa de Cotas Seniores seguinte, até o pagamento integral do Benchmark Sênior apurado e devido no respectivo período. 6.2. Em complemento às Amortizações Programadas de Cotas Seniores, os Cotistas Seniores f arão jus, sempre que o Patrimônio Líquido da Classe assim permita e desde que o Valor Unitário das Cotas Seniores e</a:t>
            </a:r>
          </a:p>
          <a:p>
            <a:r>
              <a:t>CNPJ 62696791000193 · Juros, amortização e vencimento · Regulamento · ID 1143317 · 20/03/2026 · versão Regulamento — referência 20/03/2026 · p. 37 · Apêndice Júnior, 4.1 · https://fnet.bmfbovespa.com.br/fnet/publico/visualizarDocumento?id=1143317</a:t>
            </a:r>
          </a:p>
          <a:p>
            <a:r>
              <a:t>CNPJ 62696791000193 · Juros, amortização e vencimento · Excerto da fonte:</a:t>
            </a:r>
          </a:p>
          <a:p>
            <a:r>
              <a:t>4.1. Caso o Patrimônio Líquido da Classe assim permita, as Cotas Subordinadas f arão jus à amortização semestral, no último Dia Útil dos meses de janeiro e julho de cada ano, de valor equivalente ao excedente do valor de integralização das Cotas Subordinadas em circulação, limitado ao percentual de 100% (cem por cento) da variação positiva do CDI acrescida de 4,50% (quatro inteiros e cinco décimos por cento) ao ano, considerando, para tanto a razão entre (i) o valor de integralização das Cotas Subordinadas Júnior em circulação e (ii) o valor de cada uma das Cotas Subordinadas, a ser paga na Data de Amortização Programada de Cotas Seniores (“Amortização das Cotas Subordinadas”). 4.2. Em complemento às Amortizações das Cotas Subordinadas, os Cotistas Subordinados farão jus, sempre que o Patrimônio Líquido da Classe assim permita e desde que o Valor Unitário das Cotas Subordinadas esteja superior ao valor de integralização das Cotas Subordinadas em circulação, a 50% (cinquenta por cento) de qualquer valor que exceder a Amortização das Cotas Subordinadas, a ser paga na Data de Amortização Programada de Cotas Seniores (“Amortização Extraordinária de Cotas Seniores”). 5. Excesso de Subordinação 5.1. Verif icado excesso de subordinação,</a:t>
            </a:r>
          </a:p>
          <a:p>
            <a:r>
              <a:t>CNPJ 62696791000193 · Juros, amortização e vencimento · Regulamento · ID 1143317 · 20/03/2026 · versão Regulamento — referência 20/03/2026 · p. 6 · Anexo I, 1.1, Condomínio e Prazo · https://fnet.bmfbovespa.com.br/fnet/publico/visualizarDocumento?id=1143317</a:t>
            </a:r>
          </a:p>
          <a:p>
            <a:r>
              <a:t>CNPJ 62696791000193 · Juros, amortização e vencimento · Excerto da fonte:</a:t>
            </a:r>
          </a:p>
          <a:p>
            <a:r>
              <a:t>Tipo de Condomínio Fechado. Indeterminado, exceto se de outra f orma vier a ser deliberado pelos Prazo de Duração cotistas da Classe (“Cotistas”) reunidos em assembleia geral de Cotistas. A Classe tem por objetivo proporcionar aos Cotistas a valorização e a rentabilidade de suas cotas (“Cotas”), conforme a política de investimentos def inida no Capítulo IV abaixo (“Política de Investimentos”), por meio de aplicação do seu Patrimônio Líquido (conforme def inido abaixo) nos seguintes ativos de origem vinculada às cadeias produtivas do agronegócio (“Direitos Creditórios do Agronegócio”): (i) títulos de crédito emitidos por pessoas naturais e jurídicas que integrem as cadeias produtivas do agronegócio; (ii) direitos creditórios do agronegócio; (iii) certificados d</a:t>
            </a:r>
          </a:p>
          <a:p>
            <a:r>
              <a:t>CNPJ 62696791000193 · Juros, amortização e vencimento · Condição: A agenda começa em janeiro/2026 dentro de consolidado vigente apenas no fechamento de 23/03/2026. O documento anterior não foi obtido para reconstruir a regra de janeiro/fevereiro.</a:t>
            </a:r>
          </a:p>
          <a:p>
            <a:r>
              <a:t>CNPJ 62696791000193 · Juros, amortização e vencimento · Versão e prevalência: Leitura específica das cláusulas indicadas; condições e conflitos preservados. Seleção documental atual não comprova vigência jurídica por data isolada.</a:t>
            </a:r>
          </a:p>
          <a:p>
            <a:r>
              <a:t>CNPJ 62696791000193 · Juros, amortização e vencimento · Resumo do histórico: {"count": 1, "dates": ["2026-03-27"], "document_count": 1, "sources": [{"document_id": "1148821", "title": "Instrumento Particular de Emissão de Cotas", "reference_date": "2026-03-27", "version": "1", "page": "2", "url": "https://fnet.bmfbovespa.com.br/fnet/publico/visualizarDocumento?id=1148821", "sha256": "86900e9dd498403696bfffbd4196443c83ec4d51ff21135e073c1966e1adf4c0"}], "reference": {"path": "history/62696791000193.json", "criterion_id": "payments", "total_count": 1, "preview_count": 1, "full_text_deferred": true, "sha256": "0e9ec199848320ec945708123ae0cb6075d76c05d94beed814d582031d353926"}}</a:t>
            </a:r>
          </a:p>
          <a:p>
            <a:r>
              <a:t>CNPJ 55563624000109 · Juros, amortização e vencimento · Regulamento · ID 1192614 · 30/04/2026 · versão Regulamento30/04/2026 · p. 45 · ApêndiceA3.1 · https://fnet.bmfbovespa.com.br/fnet/publico/visualizarDocumento?id=1192614</a:t>
            </a:r>
          </a:p>
          <a:p>
            <a:r>
              <a:t>CNPJ 55563624000109 · Juros, amortização e vencimento · Excerto da fonte:</a:t>
            </a:r>
          </a:p>
          <a:p>
            <a:r>
              <a:t>3.1. O prazo das Cotas Subclasse A encerra em 19 de junho de 2026. 4. Condições de Emissão, Distribuição, Subscrição, Integralização, Remuneração, Amortização e Resgate de Cotas Subclasse A: 4.1. Após a primeira Data de Emissão de Cotas, eventuais novas emissões de Cotas Subclasse A somente poderão ser realizadas (i) diretamente pelo ADMINISTRADOR por orientação do GESTOR, desde que limitado ao Capital Autorizado; ou (ii) com a aprovação de Assembleia Especial de Cotistas, observados os quóruns específicos, conforme aplicável, sendo que o valor de emissão, o volume e demais carac</a:t>
            </a:r>
          </a:p>
          <a:p>
            <a:r>
              <a:t>CNPJ 55563624000109 · Juros, amortização e vencimento · Regulamento · ID 1192614 · 30/04/2026 · versão Regulamento30/04/2026 · p. 47 · ApêndiceB3.2 · https://fnet.bmfbovespa.com.br/fnet/publico/visualizarDocumento?id=1192614</a:t>
            </a:r>
          </a:p>
          <a:p>
            <a:r>
              <a:t>CNPJ 55563624000109 · Juros, amortização e vencimento · Excerto da fonte:</a:t>
            </a:r>
          </a:p>
          <a:p>
            <a:r>
              <a:t>3.2. O prazo das Cotas Subclasse B encerra em 19 de junho de 2028. 4. Condições de Emissão, Distribuição, Subscrição, Integralização, Remuneração, Amortização e Resgate de Cotas Subclasse B: 4.1. Após a primeira Data de Emissão de Cotas, eventuais novas emissões de Cotas Subclasse B somente poderão ser realizadas (i) diretamente pelo ADMINISTRADOR por orientação do GESTOR, desde que limitado ao Capital Autorizado; ou (ii) com a aprovação de Assembleia Especial de Cotistas, observados os quóruns específicos, conforme aplicável, sendo que o valor de emissão, o volume e de</a:t>
            </a:r>
          </a:p>
          <a:p>
            <a:r>
              <a:t>CNPJ 55563624000109 · Juros, amortização e vencimento · Regulamento · ID 1192614 · 30/04/2026 · versão Regulamento30/04/2026 · p. 49 · ApêndiceC3.1 · https://fnet.bmfbovespa.com.br/fnet/publico/visualizarDocumento?id=1192614</a:t>
            </a:r>
          </a:p>
          <a:p>
            <a:r>
              <a:t>CNPJ 55563624000109 · Juros, amortização e vencimento · Excerto da fonte:</a:t>
            </a:r>
          </a:p>
          <a:p>
            <a:r>
              <a:t>3.1. O prazo das Cotas Subclasse C encerra em 19 de junho de 2027. 4. Condições de Emissão, Distribuição, Subscrição, Integralização, Remuneração, Amortização e Resgate de Cotas Subclasse C: 4.1. Após a primeira Data de Emissão de Cotas, eventuais novas emissões de Cotas Subclasse C somente poderão ser realizadas (i) diretamente pelo ADMINISTRADOR por orientação do GESTOR, desde que limitado ao Capital Autorizado; ou (ii) com a aprovação de Assembleia Especial de Cotistas, observados os quóruns específicos, conforme aplicável, sendo que o valor de emissão, o volume e demais car</a:t>
            </a:r>
          </a:p>
          <a:p>
            <a:r>
              <a:t>CNPJ 55563624000109 · Juros, amortização e vencimento · Regulamento · ID 1192614 · 30/04/2026 · versão Regulamento30/04/2026 · p. 18 · AnexoI7.3–7.4 · https://fnet.bmfbovespa.com.br/fnet/publico/visualizarDocumento?id=1192614</a:t>
            </a:r>
          </a:p>
          <a:p>
            <a:r>
              <a:t>CNPJ 55563624000109 · Juros, amortização e vencimento · Excerto da fonte:</a:t>
            </a:r>
          </a:p>
          <a:p>
            <a:r>
              <a:t>7.3 Os pagamentos das parcelas de amortização e/ou de resgate das Cotas serão efetuados, como regra geral, em moeda corrente nacional, pelo valor da Cota apurado no fechamento dos mercados no segundo Dia Útil imediatamente anterior ao do pagamento, por meio (i) da B3, se assim aplicável, ou (ii) de depósito em conta corrente de titularidade dos Cotistas, mediante qualquer mecanismo de transferência de recursos autorizado pelo BACEN. 7.4 Quando a data estipulada para pagamento de amortização ou resgate de Cotas se der em dia que seja feriado</a:t>
            </a:r>
          </a:p>
          <a:p>
            <a:r>
              <a:t>CNPJ 55563624000109 · Juros, amortização e vencimento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Juros, amortização e vencimento · Versão e prevalência: Leitura específica das cláusulas indicadas; condições e conflitos preservados. Seleção documental atual não comprova vigência jurídica por data isolada.</a:t>
            </a:r>
          </a:p>
          <a:p>
            <a:r>
              <a:t>CNPJ 55563624000109 · Juros, amortização e vencimento · Resumo do histórico: {"count": 1, "dates": ["2026-04-30"], "document_count": 1, "sources": [{"document_id": "1192614", "title": "Regulamento", "reference_date": "2026-04-30", "version": "1", "page": "17-18", "url": "https://fnet.bmfbovespa.com.br/fnet/publico/visualizarDocumento?id=1192614", "sha256": "f56e63ace0acde41d2f47fb48f1ac7f3f7df5e2d32de092d7c5e075a52516632"}], "reference": {"path": "history/55563624000109.json", "criterion_id": "payments", "total_count": 1, "preview_count": 1, "full_text_deferred": true, "sha256": "7835d573fb58a3c19adf5b8ecc2aee2bdbb9a88f7a0c0209b5f262b64c7522e3"}}</a:t>
            </a:r>
          </a:p>
          <a:p>
            <a:r>
              <a:t>CNPJ 62552447000120 · Juros, amortização e vencimento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Juros, amortização e vencimento · Resumo do histórico: {"count": 1, "dates": ["2025-09-03"], "document_count": 1, "sources": [{"document_id": "988020", "title": "Instrumento Particular de Emissão de Cotas", "reference_date": "2025-09-03", "version": "1", "page": "6", "url": "https://fnet.bmfbovespa.com.br/fnet/publico/visualizarDocumento?id=988020", "sha256": "8ecc8a771bb9713d64e5fc2052c489664cb0433801a9280db68e5187d35bf7a5"}], "reference": {"path": "history/62552447000120.json", "criterion_id": "payments", "total_count": 1, "preview_count": 1, "full_text_deferred": true, "sha256": "d95db8c0613d67ee84118c734588665265ea6b02f86a0318d6a844cbe1d0f82f"}}</a:t>
            </a:r>
          </a:p>
          <a:p>
            <a:r>
              <a:t>CNPJ 63953620000165 · Juros, amortização e vencimento · Anexo ao Regulamento · ID 1222863 · 02/06/2026 · versão AnexoConsignadoPrivado02/06/2026 · p. 23 · ApêndiceSênior5.1–5.2 · https://fnet.bmfbovespa.com.br/fnet/publico/visualizarDocumento?id=1222863</a:t>
            </a:r>
          </a:p>
          <a:p>
            <a:r>
              <a:t>CNPJ 63953620000165 · Juros, amortização e vencimento · Excerto da fonte:</a:t>
            </a:r>
          </a:p>
          <a:p>
            <a:r>
              <a:t>5.1. Durante o Período de Investimento, desde que o Patrimônio Líquido da Classe assim permita, as Cotas Seniores farão jus à Amortização trimestral do saldo do Benchmark Sênior a ser realizada no 5º Dia Útil do mês (“Amortização de Benchmark das Cotas Seniores” e “Data de Amortização por Regime de Caixa de Cotas Seniores”, respectivamente). 5.2. Encerrado o Período de Investimento, desde que o Patrimônio Líquido da Classe assim permita, as Cotas Seniores farão jus à Amortização Programada de Cotas Seniores referente ao saldo do Benchmark Sênior ainda não amortizado e ao do saldo do seu Valor Unitário, conforme aplicável, a ser realizada em cada Data d</a:t>
            </a:r>
          </a:p>
          <a:p>
            <a:r>
              <a:t>CNPJ 63953620000165 · Juros, amortização e vencimento · Anexo ao Regulamento · ID 1222863 · 02/06/2026 · versão AnexoConsignadoPrivado02/06/2026 · p. 25 · ApêndiceSubordinada5.1–5.2 · https://fnet.bmfbovespa.com.br/fnet/publico/visualizarDocumento?id=1222863</a:t>
            </a:r>
          </a:p>
          <a:p>
            <a:r>
              <a:t>CNPJ 63953620000165 · Juros, amortização e vencimento · Excerto da fonte:</a:t>
            </a:r>
          </a:p>
          <a:p>
            <a:r>
              <a:t>5.1. Encerrado o Período de Investimento, desde que o Patrimônio Líquido da Classe assim permita e desde que atendido o Índice de Subordinação Alvo, as Cotas Subordinadas farão jus à Amortização [trimestral] do saldo do seu Valor Unitário, consideradas pro forma todas as amortizações pretendidas, seja atendida o Índice de Subordinação Sênior, conforme aplicável, a ser realizada no 5º Dia Útil do mês (“Amortização por Regime de Caixa Cotas Subordinadas” e “Data de Amortização Programada de Cotas Subordinadas”, respectivamente), observada a Ordem de Alocação de Recursos prevista na Classe. 5.2. Durante o Período de Investimento, as Cotas Subordi</a:t>
            </a:r>
          </a:p>
          <a:p>
            <a:r>
              <a:t>CNPJ 63953620000165 · Juros, amortização e vencimento · Condição: Periodicidade em colchetes no apêndice subordinado sinaliza redação não finalizada; não transformar em calendário confirmado.</a:t>
            </a:r>
          </a:p>
          <a:p>
            <a:r>
              <a:t>CNPJ 63953620000165 · Juros, amortização e vencimento · Motivo: Não localizada uma cláusula material para este critério nos textos identificados e processados. A ausência de resultado não comprova inexistência da regra.</a:t>
            </a:r>
          </a:p>
          <a:p>
            <a:r>
              <a:t>CNPJ 63953620000165 · Juros, amortização e vencimento · Versão e prevalência: Leitura específica das cláusulas indicadas; condições e conflitos preservados. Seleção documental atual não comprova vigência jurídica por data isolada.</a:t>
            </a:r>
          </a:p>
          <a:p>
            <a:r>
              <a:t>CNPJ 54871427000194 · Carência das cotas · Motivo: Não localizada uma cláusula material para este critério nos textos identificados e processados. A ausência de resultado não comprova inexistência da regra.</a:t>
            </a:r>
          </a:p>
          <a:p>
            <a:r>
              <a:t>CNPJ 60010416000112 · Carência das cotas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Carência das cotas · Resumo do histórico: {"count": 1, "dates": ["2025-10-09"], "document_count": 1, "sources": [{"document_id": "1051393", "title": "Regulamento", "reference_date": "2025-10-09", "version": "1", "page": "12, 15", "url": "https://fnet.bmfbovespa.com.br/fnet/publico/visualizarDocumento?id=1051393", "sha256": "8469d613078ffd5a6c1d217885d8a397a16342c0b937ae4aa24b106505f233ae"}], "reference": {"path": "history/60010416000112.json", "criterion_id": "quota_grace", "total_count": 1, "preview_count": 1, "full_text_deferred": true, "sha256": "8e2bd813f4c51cf01f6bfaad164bafe69d2bbb192f753eac92da3a01c2e63046"}}</a:t>
            </a:r>
          </a:p>
          <a:p>
            <a:r>
              <a:t>CNPJ 62696791000193 · Carência das cotas · Motivo: Não localizada uma cláusula material para este critério nos textos identificados e processados. A ausência de resultado não comprova inexistência da regra.</a:t>
            </a:r>
          </a:p>
          <a:p>
            <a:r>
              <a:t>CNPJ 55563624000109 · Carência das cotas · Motivo: Não localizada uma cláusula material para este critério nos textos identificados e processados. A ausência de resultado não comprova inexistência da regra.</a:t>
            </a:r>
          </a:p>
          <a:p>
            <a:r>
              <a:t>CNPJ 62552447000120 · Carência das cotas · Motivo: Não localizada uma cláusula material para este critério nos textos identificados e processados. A ausência de resultado não comprova inexistência da regra.</a:t>
            </a:r>
          </a:p>
          <a:p>
            <a:r>
              <a:t>CNPJ 63953620000165 · Carência das cotas · Motivo: Não localizada uma cláusula material para este critério nos textos identificados e processados. A ausência de resultado não comprova inexistência da regra.</a:t>
            </a:r>
          </a:p>
          <a:p>
            <a:r>
              <a:t>CNPJ 54871427000194 · Vencimento das cotas · Regulamento · ID 670691 · 2024-04-28 · versão 1 · p. 29 · https://fnet.bmfbovespa.com.br/fnet/publico/visualizarDocumento?id=670691</a:t>
            </a:r>
          </a:p>
          <a:p>
            <a:r>
              <a:t>CNPJ 54871427000194 · Vencimento das cotas · Excerto da fonte:</a:t>
            </a:r>
          </a:p>
          <a:p>
            <a:r>
              <a:t>Anexo I ao Regulamento CLASSE ÚNICA DE RESPONSABILIDADE LIMITADA DO CONSIGNADO DELTA RECEIVABLES I FUNDO DE INVESTIMENTO EM DIREITOS CREDITÓRIOS  pelo Endossante e depositados em seu conta de sua titularidade para posterior repasse à  Classe. Neste caso, a Classe poderá sofrer perdas principalmente em relação ao atraso na  regularização da titularidade e pagamento dos Direitos Creditórios.</a:t>
            </a:r>
          </a:p>
          <a:p>
            <a:r>
              <a:t> (v) Risco de pré-pagamento dos Direitos Creditórios. A ocorrência de pré-  pagamentos em relação a um ou mais Direitos Creditórios poderá ocasionar perdas à Classe.</a:t>
            </a:r>
          </a:p>
          <a:p>
            <a:r>
              <a:t> A ocorrência de pré-pagamentos (pagamento em data anterior àquela originalmente pactuada)  de Direitos Creditórios reduz o horizonte original de rendimentos esperados pela Classe de  tais Direitos Creditórios, uma vez que o pré-pagamento poderá, se assim permitido pela  documentação do Direito Creditório ou, conf orme o caso, pela legislação aplicável, ser  realizado pelo valor de emissão do Direito Creditório atualizado até a data do pré-pagamento  pela taxa de juros pactuada entre os Endossantes e os Devedores de tais Direitos Creditórios,  de modo que os juros remuneratórios incidentes desde a data da realização do pré-pagamento  até a data de vencimento do respectivo Direito Creditório deixam de ser devidos à Classe.</a:t>
            </a:r>
          </a:p>
          <a:p>
            <a:r>
              <a:t> (vi) Riscos associados aos Devedores: os Direitos Creditórios a serem cedidos à  Classe serão descontados da remuneração do Devedor, através de desconto em f olha de  pagamento ou de benefício. Nesse sentido, na ocorrência de pré-pagamento, as parcelas  serão pagas antecipadamente e a Classe deverá utilizar tais montantes no pré-pagamento dos  Direitos Creditórios. Nesta hipótese, a Classe poderá não encontrar Direitos Creditórios  disponíveis para serem adquiridos pela Classe, o que poderá afetar a rentabilidade da Classe.</a:t>
            </a:r>
          </a:p>
          <a:p>
            <a:r>
              <a:t> (vii) Risco de Competição: o mercado de empréstimos experimentou grande  expansão no Brasil nos últimos anos. Nesse contexto, a Resolução CMN nº 4.292, alterada  pela Resolução nº 4.762, de 27 de novembro de 2019, dispõe que deve ser garantido às  pessoas naturais devedoras de operações de crédito (tais como as CCB) a possibilidade de  realizarem a portabilidade destas operações para outras instituições financeiras, inclusive nos  casos em que tenham sido objeto de cessão (tais como as realizadas à Classe). Nesse  cenário, é possível que os competidores do Endossante ofereçam condições e taxas mais  vantajosas para os empréstimos pessoais com consignação em f olha de pagamento ou de  benef ícios, o que pode causar a migração de clientes da Endossante para outras instituições  f inanceiras, gerando a liquidação antecipada de parte das CCB existentes e/ou redução no  número de Direitos Creditórios cedidos. Referida competição poderá af etar os resultados da  Classe, impactando negativamente os rendimentos dos Cotistas. Ainda, a portabilidade a um  Devedor pode acarretar no recebimento de valores inf eriores aos esperados pela Classe.</a:t>
            </a:r>
          </a:p>
          <a:p>
            <a:r>
              <a:t> (viii) Insuf iciência dos Critérios de Elegibilidade. Os Critérios de Elegibilidade têm a  f inalidade de selecionar os Direitos Creditórios passíveis de aquisição pela Classe. Não  obstante tais Critérios de Elegibilidade, a solvência dos Direitos Creditórios que compõem a  Carteira depende integralmente, mas não somente, da situação econômico-financeira dos  Devedores. Dessa f orma, a observância pelo GESTOR dos Critérios de Elegibilidade não  constitui garantia de adimplência dos Devedores.</a:t>
            </a:r>
          </a:p>
          <a:p>
            <a:r>
              <a:t> Os Endossantes não necessariamente garantem a solvência dos seus respectivos Devedores.</a:t>
            </a:r>
          </a:p>
          <a:p>
            <a:r>
              <a:t> O Endossante dos Direitos Creditórios não assumirá responsabilidade pelo seu pagamento ou  pela solvência dos respectivos Devedores. A Classe sofrerá o impacto do inadimplemento dos  Direitos Creditórios vencidos e não pagos pelos respectivos Devedores.</a:t>
            </a:r>
          </a:p>
          <a:p>
            <a:r>
              <a:t> (ix) Possibilidade de aquisição de Direitos Creditórios cedidos por Endossante  e/ou devidos por Devedores cujas demonstrações financeiras não sejam auditadas. A Classe,  desde que sejam respeitados os limites de concentração previstos neste Regulamento, poderá  manter a qualquer tempo em sua Carteira, Direitos Creditórios cedidos por Endossante e/ou  devidos por Devedores cujas demonstrações f inanceiras não sejam auditadas por Auditor  Independente registrado na CVM. Nesse sentido, não haverá verificação independente sobre  tais demonstrações f inanceiras que af irme se estas representam adequadamente, em todos  os aspectos relevantes, as respectivas posições patrimoniais e f inanceiras, os resultados de  suas operações, as mutações de seus respectivos patrimônios líquidos tampouco as origens  e aplicações de seus recursos.</a:t>
            </a:r>
          </a:p>
          <a:p>
            <a:r>
              <a:t>CNPJ 54871427000194 · Vencimento das cotas · Condição: Documentos atuais selecionados no inventário por categoria/escopo; a data documental isolada não comprova vigência jurídica.</a:t>
            </a:r>
          </a:p>
          <a:p>
            <a:r>
              <a:t>CNPJ 54871427000194 · Vencimento das cotas · Motivo: Cláusula primária localizada e citada, mas sua lista/condições extensas não admitem uma síntese literal curta confirmada. O trecho integral permanece nas fontes. A resposta da revisão anterior foi preservada no histórico, sem confirmação pelo documento atual.</a:t>
            </a:r>
          </a:p>
          <a:p>
            <a:r>
              <a:t>CNPJ 54871427000194 · Vencimento das cotas · Versão e prevalência: Documentos atuais selecionados no inventário por categoria/escopo; a data documental isolada não comprova vigência jurídica.</a:t>
            </a:r>
          </a:p>
          <a:p>
            <a:r>
              <a:t>CNPJ 54871427000194 · Vencimento das cotas · Resumo do histórico: {"count": 2, "dates": ["2024-04-19", "2024-04-28"], "document_count": 2, "sources": [{"document_id": "670691", "title": "Regulamento", "reference_date": "2024-04-28", "version": "1", "page": "7, 15", "url": "https://fnet.bmfbovespa.com.br/fnet/publico/visualizarDocumento?id=670691", "sha256": "bf16dd7f1a62d5cdbf2e2d54fef81783783f7310fbc99c3a8f00459bdf9d037b"}, {"document_id": "670689", "title": "Regulamento", "reference_date": "2024-04-19", "version": "1", "page": 30, "url": "https://fnet.bmfbovespa.com.br/fnet/publico/visualizarDocumento?id=670689", "sha256": "891bc9bc5d87bbc02ec139077a84d2702eb81ea02035fb71d24f5b8366b94a0b"}], "reference": {"path": "history/54871427000194.json", "criterion_id": "quota_maturity", "total_count": 2, "preview_count": 2, "full_text_deferred": true, "sha256": "35d7cd99be50c7287c9fb675cf4f2e736002315295a225a9efa79c8d9186d874"}}</a:t>
            </a:r>
          </a:p>
          <a:p>
            <a:r>
              <a:t>CNPJ 60010416000112 · Vencimento das cotas · Demonstrações Financeiras - Fusão, cisão e incorporação · ID 1298690 · 2026-05-08 · versão 1 · p. 30 · https://fnet.bmfbovespa.com.br/fnet/publico/visualizarDocumento?id=1298690</a:t>
            </a:r>
          </a:p>
          <a:p>
            <a:r>
              <a:t>CNPJ 60010416000112 · Vencimento das cotas · Excerto da fonte:</a:t>
            </a:r>
          </a:p>
          <a:p>
            <a:r>
              <a:t>Durante o período de investimento, a Administradora poderá deliberar por realizar novas  emissões de Cotas Seniores, sem a necessidade de aprovação em Assembleia Especial de  Cotistas ou alteração do Regulamento, limitadas ao montante máximo de R$ 1.000.000 (um  bilhão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seniores emitidas não sejam superiores aos  prazos de vencimento da primeira emissão.</a:t>
            </a:r>
          </a:p>
          <a:p>
            <a:r>
              <a:t>CNPJ 60010416000112 · Vencimento das cotas · Demonstrações Financeiras - Fusão, cisão e incorporação · ID 1298690 · 2026-05-08 · versão 1 · p. 30 · https://fnet.bmfbovespa.com.br/fnet/publico/visualizarDocumento?id=1298690</a:t>
            </a:r>
          </a:p>
          <a:p>
            <a:r>
              <a:t>CNPJ 60010416000112 · Vencimento das cotas · Excerto da fonte:</a:t>
            </a:r>
          </a:p>
          <a:p>
            <a:r>
              <a:t>Durante o período de investimento, a Administradora poderá deliberar por realizar novas  emissões de cotas subordinadas, sem a necessidade de aprovação em Assembleia Especial  de Cotistas ou alteração do Regulamento, limitadas ao montante máximo de R$ 50.000  (cinquenta milhões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subordinadas emitidas não sejam  superiores aos prazos de vencimento da primeira emissão.</a:t>
            </a:r>
          </a:p>
          <a:p>
            <a:r>
              <a:t>CNPJ 60010416000112 · Vencimento das cotas · Condição: Documentos atuais selecionados no inventário por categoria/escopo; a data documental isolada não comprova vigência jurídica.</a:t>
            </a:r>
          </a:p>
          <a:p>
            <a:r>
              <a:t>CNPJ 60010416000112 · Vencimento das cotas · Motivo: Cláusula primária localizada e citada, mas sua lista/condições extensas não admitem uma síntese literal curta confirmada. O trecho integral permanece nas fontes. A resposta da revisão anterior foi preservada no histórico, sem confirmação pelo documento atual.</a:t>
            </a:r>
          </a:p>
          <a:p>
            <a:r>
              <a:t>CNPJ 60010416000112 · Vencimento das cotas · Versão e prevalência: Documentos atuais selecionados no inventário por categoria/escopo; a data documental isolada não comprova vigência jurídica.</a:t>
            </a:r>
          </a:p>
          <a:p>
            <a:r>
              <a:t>CNPJ 60010416000112 · Vencimento das cotas · Resumo do histórico: {"count": 3, "dates": ["2025-03-20", "2025-10-09"], "document_count": 2, "sources": [{"document_id": "1051393", "title": "Regulamento", "reference_date": "2025-10-09", "version": "1", "page": "8, 48, 53", "url": "https://fnet.bmfbovespa.com.br/fnet/publico/visualizarDocumento?id=1051393", "sha256": "8469d613078ffd5a6c1d217885d8a397a16342c0b937ae4aa24b106505f233ae"}, {"document_id": "1051393", "title": "Regulamento", "reference_date": "2025-10-09", "version": "1", "page": 48, "clause": "2.1.2", "url": "https://fnet.bmfbovespa.com.br/fnet/publico/visualizarDocumento?id=1051393", "sha256": "8469d613078ffd5a6c1d217885d8a397a16342c0b937ae4aa24b106505f233ae"}, {"document_id": "993786", "title": "Regulamento", "reference_date": "2025-03-20", "version": "1", "page": 48, "clause": "2.1.2", "url": "https://fnet.bmfbovespa.com.br/fnet/publico/visualizarDocumento?id=993786", "sha256": "fd0fdd369a195510d81f81f505195a0b09e5f43522a990afa7d58c4f872921c8"}], "reference": {"path": "history/60010416000112.json", "criterion_id": "quota_maturity", "total_count": 3, "preview_count": 3, "full_text_deferred": true, "sha256": "8e2bd813f4c51cf01f6bfaad164bafe69d2bbb192f753eac92da3a01c2e63046"}}</a:t>
            </a:r>
          </a:p>
          <a:p>
            <a:r>
              <a:t>CNPJ 62696791000193 · Vencimento das cotas · Motivo: Não localizada uma cláusula material para este critério nos textos identificados e processados. A ausência de resultado não comprova inexistência da regra.</a:t>
            </a:r>
          </a:p>
          <a:p>
            <a:r>
              <a:t>CNPJ 55563624000109 · Vencimento das cotas · Motivo: Não localizada uma cláusula material para este critério nos textos identificados e processados. A ausência de resultado não comprova inexistência da regra.</a:t>
            </a:r>
          </a:p>
          <a:p>
            <a:r>
              <a:t>CNPJ 62552447000120 · Vencimento das cotas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Vencimento das cotas · Resumo do histórico: {"count": 1, "dates": ["2025-09-03"], "document_count": 1, "sources": [{"document_id": "988020", "title": "Instrumento Particular de Emissão de Cotas", "reference_date": "2025-09-03", "version": "1", "page": "5", "url": "https://fnet.bmfbovespa.com.br/fnet/publico/visualizarDocumento?id=988020", "sha256": "8ecc8a771bb9713d64e5fc2052c489664cb0433801a9280db68e5187d35bf7a5"}], "reference": {"path": "history/62552447000120.json", "criterion_id": "quota_maturity", "total_count": 1, "preview_count": 1, "full_text_deferred": true, "sha256": "d95db8c0613d67ee84118c734588665265ea6b02f86a0318d6a844cbe1d0f82f"}}</a:t>
            </a:r>
          </a:p>
          <a:p>
            <a:r>
              <a:t>CNPJ 63953620000165 · Vencimento das cotas · Motivo: Não localizada uma cláusula material para este critério nos textos identificados e processados. A ausência de resultado não comprova inexistência da regra.</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Fluxo de caixa e prazo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Ordem de alocação de recursos · Regulamento · ID 670691 · 28/04/2024 · versão Regulamento — referência 28/04/2024 · p. 16 · Anexo I, 8.1–8.2 · https://fnet.bmfbovespa.com.br/fnet/publico/visualizarDocumento?id=670691</a:t>
            </a:r>
          </a:p>
          <a:p>
            <a:r>
              <a:t>CNPJ 54871427000194 · Ordem de alocação de recursos · Excerto da fonte:</a:t>
            </a:r>
          </a:p>
          <a:p>
            <a:r>
              <a:t>8.1 O Cotista que tenha apresentado documentação comprobatória de sua condição de imunidade ou isenção tributária, nos termos do item 7.7, e que tiver essa condição alterada ou revogada por disposição normativa, seja por deixar de atender às condições e requisitos prescritos no dispositivo legal aplicável, ou por ter tal condição questionada por autoridade judicial, fiscal ou regulamentar competente, ou, ainda, por ter tal condição alterada e/ou revogada por qualquer outra razão que não as mencionadas acima, deverá comunicar esse f ato, de f orma detalhada e por escrito, ao ADMINISTRADOR, com cópia para o CUSTODIANTE, bem como prestar qualquer inf ormação adicional em relação ao tema que lhe seja solicitada pelo ADMINISTRADOR e/ou pelo CUSTODIANTE. CAPÍTULO 8 – ORDEM DE ALOCAÇÃO DE RECURSOS 8.1 O ADMINISTRADOR e o GESTOR obrigam-se a, a partir da Data da 1ª Integralização de Cotas até a liquidação integral das Obrigações do da Classe, utilizar os recursos disponíveis na Conta da Classe e/ou mantidos em Ativos Financeiros de Liquidez, em cada Dia Útil, de acordo com a seguinte ordem de prioridade de alocação de modo que cada item abaixo listad</a:t>
            </a:r>
          </a:p>
          <a:p>
            <a:r>
              <a:t>CNPJ 54871427000194 · Ordem de alocação de recursos · Versão e prevalência: Leitura específica das cláusulas indicadas; condições e conflitos preservados. Seleção documental atual não comprova vigência jurídica por data isolada.</a:t>
            </a:r>
          </a:p>
          <a:p>
            <a:r>
              <a:t>CNPJ 54871427000194 · Ordem de alocação de recursos · Resumo do histórico: {"count": 2, "dates": ["2024-04-19", "2024-04-28"], "document_count": 2, "sources": [{"document_id": "670691", "title": "Regulamento", "reference_date": "2024-04-28", "version": "1", "page": "16", "url": "https://fnet.bmfbovespa.com.br/fnet/publico/visualizarDocumento?id=670691", "sha256": "bf16dd7f1a62d5cdbf2e2d54fef81783783f7310fbc99c3a8f00459bdf9d037b"}, {"document_id": "670689", "title": "Regulamento", "reference_date": "2024-04-19", "version": "1", "page": 16, "clause": "8.1", "url": "https://fnet.bmfbovespa.com.br/fnet/publico/visualizarDocumento?id=670689", "sha256": "891bc9bc5d87bbc02ec139077a84d2702eb81ea02035fb71d24f5b8366b94a0b"}], "reference": {"path": "history/54871427000194.json", "criterion_id": "waterfall", "total_count": 2, "preview_count": 2, "full_text_deferred": true, "sha256": "35d7cd99be50c7287c9fb675cf4f2e736002315295a225a9efa79c8d9186d874"}}</a:t>
            </a:r>
          </a:p>
          <a:p>
            <a:r>
              <a:t>CNPJ 60010416000112 · Ordem de alocação de recursos · Regulamento · ID 1051393 · 09/10/2025 · versão Regulamento09/10/2025 · p. 16 · AnexoI7.11(i)–(ii),7.12 · https://fnet.bmfbovespa.com.br/fnet/publico/visualizarDocumento?id=1051393</a:t>
            </a:r>
          </a:p>
          <a:p>
            <a:r>
              <a:t>CNPJ 60010416000112 · Ordem de alocação de recursos · Excerto da fonte:</a:t>
            </a:r>
          </a:p>
          <a:p>
            <a:r>
              <a:t>7.11 Sem prejuízo do disposto do disposto nos itens 7.1 a 7.10 acima, a partir da Data da 1ª Integralização de Cotas até a liquidação integral das Obrigações da Classe, sempre preservando a manutenção da boa ordem legal, administrativa e operacional da Classe, o Gestor obriga-se a utilizar os recursos disponíveis na Conta de Movimentação da Classe e/ou mantidos em Ativos Financeiros de Liquidez, em cada Dia Útil, de acordo com a seguinte ordem de prioridade de alocação, na forma dos itens e tabela abaixo, de modo que cada um dos itens listado apenas será contemplado após o direcionamento do montante</a:t>
            </a:r>
          </a:p>
          <a:p>
            <a:r>
              <a:t>CNPJ 60010416000112 · Ordem de alocação de recursos · Motivo: Cláusula primária localizada e citada, mas sua lista/condições extensas não admitem uma síntese literal curta confirmada. O trecho integral permanece nas fontes. A resposta da revisão anterior foi preservada no histórico, sem confirmação pelo documento atual.</a:t>
            </a:r>
          </a:p>
          <a:p>
            <a:r>
              <a:t>CNPJ 60010416000112 · Ordem de alocação de recursos · Versão e prevalência: Leitura específica das cláusulas indicadas; condições e conflitos preservados. Seleção documental atual não comprova vigência jurídica por data isolada.</a:t>
            </a:r>
          </a:p>
          <a:p>
            <a:r>
              <a:t>CNPJ 60010416000112 · Ordem de alocação de recursos · Resumo do histórico: {"count": 2, "dates": ["2025-03-20", "2025-10-09"], "document_count": 2, "sources": [{"document_id": "1051393", "title": "Regulamento", "reference_date": "2025-10-09", "version": "1", "page": "16-17", "url": "https://fnet.bmfbovespa.com.br/fnet/publico/visualizarDocumento?id=1051393", "sha256": "8469d613078ffd5a6c1d217885d8a397a16342c0b937ae4aa24b106505f233ae"}, {"document_id": "993786", "title": "Regulamento", "reference_date": "2025-03-20", "version": "1", "page": 16, "clause": "7.11", "url": "https://fnet.bmfbovespa.com.br/fnet/publico/visualizarDocumento?id=993786", "sha256": "fd0fdd369a195510d81f81f505195a0b09e5f43522a990afa7d58c4f872921c8"}], "reference": {"path": "history/60010416000112.json", "criterion_id": "waterfall", "total_count": 2, "preview_count": 2, "full_text_deferred": true, "sha256": "8e2bd813f4c51cf01f6bfaad164bafe69d2bbb192f753eac92da3a01c2e63046"}}</a:t>
            </a:r>
          </a:p>
          <a:p>
            <a:r>
              <a:t>CNPJ 62696791000193 · Ordem de alocação de recursos · Regulamento · ID 1143317 · 20/03/2026 · versão Regulamento — referência 20/03/2026 · p. 16 · Anexo I, 6.1(i)–(vii) · https://fnet.bmfbovespa.com.br/fnet/publico/visualizarDocumento?id=1143317</a:t>
            </a:r>
          </a:p>
          <a:p>
            <a:r>
              <a:t>CNPJ 62696791000193 · Ordem de alocação de recursos · Excerto da fonte:</a:t>
            </a:r>
          </a:p>
          <a:p>
            <a:r>
              <a:t>6.1 O Administrador e o Gestor obrigam-se a, a partir da data da primeira integralização de Cotas até a liquidação integral das obrigações da Classe, utilizar os recursos disponíveis na Conta da Classe e/ou mantidos em Ativos Financeiros de Liquidez em cada Dia Útil, de acordo com a seguinte ordem de prioridade de alocação, de modo que cada item abaixo listado apenas será contemplado após o direcionamento do montante total necessário para a satisfação dos itens anteriores, ressalvada a ocorrência de eventos extraordinários que afetem o funcionamento regular do Fundo e/ou da Classe: (i) pagamento dos encargos do Fundo e/ou da Classe; (ii) constituição e/ou recomposição da reserva de despesas de modo que esta, ao final de cada Dia Útil, seja equivalente ao montante estimado dos encargos, a serem incorridos nos 6 (seis) meses calendário imediatamente subsequentes pelo Fundo e/ou a Classe (“Reserva de Despesas”); (iii) pagamento de Amortização ou resgate de Cotas Seniores, se houver; (iv) pagamento de Amortização ou resgate de Cotas Mezanino, se houver; (v) aquisição pela Classe de Direitos Creditórios do Agronegócio e/ou Outros Ativos, observando-se a Política de Investimentos; e (vi) pagamento de Amortização ou resgate de Cotas Subordinadas, se houver (vii) aquisição pela Classe de Ativos Financeiros de Liquidez, observando-se a Política de Investimentos.</a:t>
            </a:r>
          </a:p>
          <a:p>
            <a:r>
              <a:t>CNPJ 62696791000193 · Ordem de alocação de recursos · Condição: A ordem diária contém ressalva para eventos extraordinários que afetem o funcionamento regular do fundo ou da classe. Na liquidação, aplicar a partilha específica do Anexo I 11.2.1.</a:t>
            </a:r>
          </a:p>
          <a:p>
            <a:r>
              <a:t>CNPJ 62696791000193 · Ordem de alocação de recursos · Motivo: Cláusula primária localizada e citada, mas sua lista/condições extensas não admitem uma síntese literal curta confirmada. O trecho integral permanece nas fontes.</a:t>
            </a:r>
          </a:p>
          <a:p>
            <a:r>
              <a:t>CNPJ 62696791000193 · Ordem de alocação de recursos · Versão e prevalência: Leitura específica das cláusulas indicadas; condições e conflitos preservados. Seleção documental atual não comprova vigência jurídica por data isolada.</a:t>
            </a:r>
          </a:p>
          <a:p>
            <a:r>
              <a:t>CNPJ 55563624000109 · Ordem de alocação de recursos · Regulamento · ID 1192614 · 30/04/2026 · versão Regulamento30/04/2026 · p. 18 · AnexoI8.1(i)–(iv) · https://fnet.bmfbovespa.com.br/fnet/publico/visualizarDocumento?id=1192614</a:t>
            </a:r>
          </a:p>
          <a:p>
            <a:r>
              <a:t>CNPJ 55563624000109 · Ordem de alocação de recursos · Excerto da fonte:</a:t>
            </a:r>
          </a:p>
          <a:p>
            <a:r>
              <a:t>8.1 O ADMINISTRADOR e o GESTOR obrigam-se a, a partir da Data 1ª Integralização da Classe até a liquidação integral de todas as Obrigações da Classe, utilizar os recursos disponíveis na Conta da Classe e/ou mantidos em Ativos Financeiros de Liquidez, em cada Dia Útil, de acordo com a seguinte ordem de prioridade de alocação de modo que cada item abaixo listado apenas será contemplado após o direcionamento do montante total necessário para a satisfação dos itens anteriores, ressalvado, enquanto em curso um Evento de Avaliação e/ou um Evento de Liquidação,</a:t>
            </a:r>
          </a:p>
          <a:p>
            <a:r>
              <a:t>CNPJ 55563624000109 · Ordem de alocação de recursos · Regulamento · ID 1192614 · 30/04/2026 · versão Regulamento30/04/2026 · p. 19 · AnexoI8.1(v) e8.2 · https://fnet.bmfbovespa.com.br/fnet/publico/visualizarDocumento?id=1192614</a:t>
            </a:r>
          </a:p>
          <a:p>
            <a:r>
              <a:t>CNPJ 55563624000109 · Ordem de alocação de recursos · Excerto da fonte:</a:t>
            </a:r>
          </a:p>
          <a:p>
            <a:r>
              <a:t>8.2 Em caso de liquidação antecipada da Classe, observados os procedimentos descritos no item 11.4 e seguintes abaixo, os recursos decorrentes do pagamento das Cotas a partir do recebimento dos Ativos Financeiros de Liquidez e de Direitos Creditórios da Carteira da Classe serão alocados da seguinte forma: (i) pagamento dos Encargos; e (ii) pagamento do resgate das Cotas, com a devida observância dos termos e condições deste Regulamento. 9 METODOLOGIA DE AVALIAÇÃO DOS ATIVOS DA CLASSE 9.1 As Cotas da Classe Investida e Ativos Financeiro</a:t>
            </a:r>
          </a:p>
          <a:p>
            <a:r>
              <a:t>CNPJ 55563624000109 · Ordem de alocação de recursos · Versão e prevalência: Leitura específica das cláusulas indicadas; condições e conflitos preservados. Seleção documental atual não comprova vigência jurídica por data isolada.</a:t>
            </a:r>
          </a:p>
          <a:p>
            <a:r>
              <a:t>CNPJ 55563624000109 · Ordem de alocação de recursos · Resumo do histórico: {"count": 1, "dates": ["2026-04-30"], "document_count": 1, "sources": [{"document_id": "1192614", "title": "Regulamento", "reference_date": "2026-04-30", "version": "1", "page": "18-19", "url": "https://fnet.bmfbovespa.com.br/fnet/publico/visualizarDocumento?id=1192614", "sha256": "f56e63ace0acde41d2f47fb48f1ac7f3f7df5e2d32de092d7c5e075a52516632"}], "reference": {"path": "history/55563624000109.json", "criterion_id": "waterfall", "total_count": 1, "preview_count": 1, "full_text_deferred": true, "sha256": "7835d573fb58a3c19adf5b8ecc2aee2bdbb9a88f7a0c0209b5f262b64c7522e3"}}</a:t>
            </a:r>
          </a:p>
          <a:p>
            <a:r>
              <a:t>CNPJ 62552447000120 · Ordem de alocação de recursos · Regulamento · ID 1200623 · 21/05/2026 · versão Consolidado21/05/2026 aprovado pelo ato1200625 · p. 20 · AnexoI8.1(i)–(v) · https://fnet.bmfbovespa.com.br/fnet/publico/visualizarDocumento?id=1200623</a:t>
            </a:r>
          </a:p>
          <a:p>
            <a:r>
              <a:t>CNPJ 62552447000120 · Ordem de alocação de recursos · Excerto da fonte:</a:t>
            </a:r>
          </a:p>
          <a:p>
            <a:r>
              <a:t>8.1 O Administrador e o Gestor obrigam-se a, a partir da data da primeira integralização de Cotas (“Data da Primeira Integralização”) até a liquidação integral das obrigações da Classe, utilizar os recursos disponíveis na conta corrente mantida pela Classe junto ao Custodiante, a ser utilizada para todos os recebimentos e transferências de recursos pela Classe (“Conta da Classe”) e/ou mantidos em Ativos Financeiros, em cada Dia Útil, de acordo com a seguinte ordem de prioridade de alocação de modo que cada item abaixo listado apenas será contemplado após o direcionamento do montante total necessári</a:t>
            </a:r>
          </a:p>
          <a:p>
            <a:r>
              <a:t>CNPJ 62552447000120 · Ordem de alocação de recursos · Regulamento · ID 1200623 · 21/05/2026 · versão Consolidado21/05/2026 aprovado pelo ato1200625 · p. 19 · AnexoI7.3 · https://fnet.bmfbovespa.com.br/fnet/publico/visualizarDocumento?id=1200623</a:t>
            </a:r>
          </a:p>
          <a:p>
            <a:r>
              <a:t>CNPJ 62552447000120 · Ordem de alocação de recursos · Excerto da fonte:</a:t>
            </a:r>
          </a:p>
          <a:p>
            <a:r>
              <a:t>7.3 Quaisquer pagamentos aos Cotistas a título de Amortização deverão observar a ordem de alocação de recursos e abranger, proporcionalmente e sem direito de preferência ou prioridade, todas as Cotas, em benef ício de todos os respectivos titulares. Quando do pagamento de resgate de Cotas, as Cotas objeto de resgate serão canceladas. 7.4 Para f ins de Amortização, será considerado o valor da Cota do segundo Dia Útil anterior à data do pagamento da respectiva parcela da Amortização, por meio do Sistema de Pagamentos Brasileiro – SPB, observados os procedimentos do Escriturador e do mercado organizado em</a:t>
            </a:r>
          </a:p>
          <a:p>
            <a:r>
              <a:t>CNPJ 62552447000120 · Ordem de alocação de recursos · Motivo: Cláusula primária localizada e citada, mas sua lista/condições extensas não admitem uma síntese literal curta confirmada. O trecho integral permanece nas fontes.</a:t>
            </a:r>
          </a:p>
          <a:p>
            <a:r>
              <a:t>CNPJ 62552447000120 · Ordem de alocação de recursos · Versão e prevalência: Leitura específica das cláusulas indicadas; condições e conflitos preservados. Seleção documental atual não comprova vigência jurídica por data isolada.</a:t>
            </a:r>
          </a:p>
          <a:p>
            <a:r>
              <a:t>CNPJ 63953620000165 · Ordem de alocação de recursos · Anexo ao Regulamento · ID 1222863 · 02/06/2026 · versão AnexoConsignadoPrivado02/06/2026 · p. 11 · 8.1(i) · https://fnet.bmfbovespa.com.br/fnet/publico/visualizarDocumento?id=1222863</a:t>
            </a:r>
          </a:p>
          <a:p>
            <a:r>
              <a:t>CNPJ 63953620000165 · Ordem de alocação de recursos · Excerto da fonte:</a:t>
            </a:r>
          </a:p>
          <a:p>
            <a:r>
              <a:t>8.1 O Administrador e o Gestor obrigam-se a, a partir da data da primeira integralização de Cotas (“Data da 1ª Integralização”) até a liquidação integral das obrigações da Classe, utilizar os recursos disponíveis na Conta da Classe e/ou mantidos em Ativos Financeiros, em cada Dia Útil, de acordo com a seguinte ordem de prioridade de alocação de modo que cada item abaixo listado apenas será contemplado após o direcionamento do montante total necessário para a satisfação dos itens anteriores, ressalvado, enquanto em curso um Evento de Avaliação e/ou um Evento de Liquidação, o disposto nos itens 11.1.2: (i)</a:t>
            </a:r>
          </a:p>
          <a:p>
            <a:r>
              <a:t>CNPJ 63953620000165 · Ordem de alocação de recursos · Anexo ao Regulamento · ID 1222863 · 02/06/2026 · versão AnexoConsignadoPrivado02/06/2026 · p. 12 · 8.1(ii)–(x) · https://fnet.bmfbovespa.com.br/fnet/publico/visualizarDocumento?id=1222863</a:t>
            </a:r>
          </a:p>
          <a:p>
            <a:r>
              <a:t>CNPJ 63953620000165 · Ordem de alocação de recursos · Excerto da fonte:</a:t>
            </a:r>
          </a:p>
          <a:p>
            <a:r>
              <a:t>(ii) constituição ou reestabelecimento da Reserva de Caixa, conforme definida abaixo, por meio da aquisição de Ativos Financeiros de Liquidez, observando-se a Política de Investimentos; (iii) pagamento de despesas relativas aos instrumentos de derivativos, conforme aplicável; (iv) pagamento da Rentabilidade Adicional Sênior, caso aplicável; (v) aquisição pela Classe de Direitos Creditórios, durante o Período de Investimento, observando-se a Política de Investimentos; (vi) pagamento do Benchmark Sênior, a critério do Gestor; (vii) pagamento da amortização do principal</a:t>
            </a:r>
          </a:p>
          <a:p>
            <a:r>
              <a:t>CNPJ 63953620000165 · Ordem de alocação de recursos · Condição: Compra de DC antecede amortização do benchmark/principal; principal sênior durante investimento exige tempo decorrido maior que duration dos DC.</a:t>
            </a:r>
          </a:p>
          <a:p>
            <a:r>
              <a:t>CNPJ 63953620000165 · Ordem de alocação de recursos · Motivo: Não localizada uma cláusula material para este critério nos textos identificados e processados. A ausência de resultado não comprova inexistência da regra.</a:t>
            </a:r>
          </a:p>
          <a:p>
            <a:r>
              <a:t>CNPJ 63953620000165 · Ordem de alocação de recursos · Versão e prevalência: Leitura específica das cláusulas indicadas; condições e conflitos preservados. Seleção documental atual não comprova vigência jurídica por data isolada.</a:t>
            </a:r>
          </a:p>
          <a:p>
            <a:r>
              <a:t>CNPJ 54871427000194 · Pró-rata, sequencial e aceleração · Motivo: Não localizada uma cláusula material para este critério nos textos identificados e processados. A ausência de resultado não comprova inexistência da regra.</a:t>
            </a:r>
          </a:p>
          <a:p>
            <a:r>
              <a:t>CNPJ 60010416000112 · Pró-rata, sequencial e aceleração · Motivo: Não localizada uma cláusula material para este critério nos textos identificados e processados. A ausência de resultado não comprova inexistência da regra.</a:t>
            </a:r>
          </a:p>
          <a:p>
            <a:r>
              <a:t>CNPJ 62696791000193 · Pró-rata, sequencial e aceleração · Regulamento · ID 1143317 · 20/03/2026 · versão Regulamento — referência 20/03/2026 · p. 23 · Anexo I, 11.2.1 · https://fnet.bmfbovespa.com.br/fnet/publico/visualizarDocumento?id=1143317</a:t>
            </a:r>
          </a:p>
          <a:p>
            <a:r>
              <a:t>CNPJ 62696791000193 · Pró-rata, sequencial e aceleração · Excerto da fonte:</a:t>
            </a:r>
          </a:p>
          <a:p>
            <a:r>
              <a:t>11.2.1 No caso de Liquidação da Classe, os Cotistas terão o direito de partilhar o Patrimônio Líquido em igualdade de condições e na proporção de suas Cotas, deduzidas as despesas necessárias para a liquidação da Classe. Não haverá qualquer tipo de pref erência, p rioridade ou subordinação entre os Cotistas.</a:t>
            </a:r>
          </a:p>
          <a:p>
            <a:r>
              <a:t>CNPJ 62696791000193 · Pró-rata, sequencial e aceleração · Regulamento · ID 1143317 · 20/03/2026 · versão Regulamento — referência 20/03/2026 · p. 35 · Apêndice Sênior, 7.1 · https://fnet.bmfbovespa.com.br/fnet/publico/visualizarDocumento?id=1143317</a:t>
            </a:r>
          </a:p>
          <a:p>
            <a:r>
              <a:t>CNPJ 62696791000193 · Pró-rata, sequencial e aceleração · Excerto da fonte:</a:t>
            </a:r>
          </a:p>
          <a:p>
            <a:r>
              <a:t>7.1. Prioridade de Recebimento das Cotas Seniores. As Cotas Seniores terão prioridade no pagamento de resgate sobre todas as Cotas Subordinadas Juniores, observado que as Cotas Subordinadas Juniores somente serão resgatadas após o pagamento integral das Cotas Seniores (exceto se de outra forma permitido no Anexo I).</a:t>
            </a:r>
          </a:p>
          <a:p>
            <a:r>
              <a:t>CNPJ 62696791000193 · Pró-rata, sequencial e aceleração · Condição: Apêndice Sênior 7.1 remete expressamente à exceção do Anexo I. A partilha da liquidação segue 11.2.1; a proteção sênior prevista para resgate não assegura prioridade nesse cenário.</a:t>
            </a:r>
          </a:p>
          <a:p>
            <a:r>
              <a:t>CNPJ 62696791000193 · Pró-rata, sequencial e aceleração · Motivo: Não localizada uma cláusula material para este critério nos textos identificados e processados. A ausência de resultado não comprova inexistência da regra.</a:t>
            </a:r>
          </a:p>
          <a:p>
            <a:r>
              <a:t>CNPJ 62696791000193 · Pró-rata, sequencial e aceleração · Versão e prevalência: Leitura específica das cláusulas indicadas; condições e conflitos preservados. Seleção documental atual não comprova vigência jurídica por data isolada.</a:t>
            </a:r>
          </a:p>
          <a:p>
            <a:r>
              <a:t>CNPJ 55563624000109 · Pró-rata, sequencial e aceleração · Motivo: Não localizada uma cláusula material para este critério nos textos identificados e processados. A ausência de resultado não comprova inexistência da regra.</a:t>
            </a:r>
          </a:p>
          <a:p>
            <a:r>
              <a:t>CNPJ 62552447000120 · Pró-rata, sequencial e aceleração · Motivo: Não localizada uma cláusula material para este critério nos textos identificados e processados. A ausência de resultado não comprova inexistência da regra.</a:t>
            </a:r>
          </a:p>
          <a:p>
            <a:r>
              <a:t>CNPJ 63953620000165 · Pró-rata, sequencial e aceleração · Motivo: Não localizada uma cláusula material para este critério nos textos identificados e processados. A ausência de resultado não comprova inexistência da regra.</a:t>
            </a:r>
          </a:p>
          <a:p>
            <a:r>
              <a:t>CNPJ 54871427000194 · Revolvência e desinvestimento · Regulamento · ID 670691 · 28/04/2024 · versão Regulamento — referência 28/04/2024 · p. 11 · Anexo I, 4.12 · https://fnet.bmfbovespa.com.br/fnet/publico/visualizarDocumento?id=670691</a:t>
            </a:r>
          </a:p>
          <a:p>
            <a:r>
              <a:t>CNPJ 54871427000194 · Revolvência e desinvestimento · Excerto da fonte:</a:t>
            </a:r>
          </a:p>
          <a:p>
            <a:r>
              <a:t>4.12 Os recursos recebidos pela Classe em razão da liquidação dos Direitos Creditórios, a qualquer título, incluindo pagamento regular ou por excussão de garantia, alienação, recompra, indenização pelo Cedente e/ou desinvestimento de Ativo Recuperado, serão destinados a aquisição de Direitos Creditórios até o montante de R$ 250.000.000,00 (duzentos e cinquenta milhões de reais), sendo certo que os recursos recebidos pela Classe após a aquisição em tal montante não poderão ser destinados à aquisição pela Classe de novos Direitos Creditórios, aplicando-se, de resto, o disposto no item 8.1 abaixo no que se ref ere à ordem de alocação de tais recursos. BTG Pactual SAC: 0800 772 28 27 - Ouvidoria: 0800 722 00 48 - btgpactual.com 5</a:t>
            </a:r>
          </a:p>
          <a:p>
            <a:r>
              <a:t>CNPJ 54871427000194 · Revolvência e desinvestimento · Condição: O gatilho usa aquisições acumuladas, e não o saldo mensal de direitos creditórios.</a:t>
            </a:r>
          </a:p>
          <a:p>
            <a:r>
              <a:t>CNPJ 54871427000194 · Revolvência e desinvestimento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Revolvência e desinvestimento · Versão e prevalência: Leitura específica das cláusulas indicadas; condições e conflitos preservados. Seleção documental atual não comprova vigência jurídica por data isolada.</a:t>
            </a:r>
          </a:p>
          <a:p>
            <a:r>
              <a:t>CNPJ 54871427000194 · Revolvência e desinvestimento · Resumo do histórico: {"count": 1, "dates": ["2024-04-28"], "document_count": 1, "sources": [{"document_id": "670691", "title": "Regulamento", "reference_date": "2024-04-28", "version": "1", "page": "11", "url": "https://fnet.bmfbovespa.com.br/fnet/publico/visualizarDocumento?id=670691", "sha256": "bf16dd7f1a62d5cdbf2e2d54fef81783783f7310fbc99c3a8f00459bdf9d037b"}], "reference": {"path": "history/54871427000194.json", "criterion_id": "revolving", "total_count": 1, "preview_count": 1, "full_text_deferred": true, "sha256": "35d7cd99be50c7287c9fb675cf4f2e736002315295a225a9efa79c8d9186d874"}}</a:t>
            </a:r>
          </a:p>
          <a:p>
            <a:r>
              <a:t>CNPJ 60010416000112 · Revolvência e desinvestimento · Regulamento · ID 1051393 · 09/10/2025 · versão Regulamento09/10/2025 · p. 12 · AnexoI4.11–4.12.1 · https://fnet.bmfbovespa.com.br/fnet/publico/visualizarDocumento?id=1051393</a:t>
            </a:r>
          </a:p>
          <a:p>
            <a:r>
              <a:t>CNPJ 60010416000112 · Revolvência e desinvestimento · Excerto da fonte:</a:t>
            </a:r>
          </a:p>
          <a:p>
            <a:r>
              <a:t>4.11 A Classe terá um Período de Investimento de 24 (vinte e quatro) meses, contados da Data da 1ª Integralização de Cotas da Classe. 4.12 Durante o Período de Investimento, a Classe utilizará os recursos provenientes da integralização das Cotas para investir em Direitos Creditórios e Ativos Financeiros de Liquidez, de acordo com a Política de Investimento estabelecida no presente Anexo I, sendo permitida, durante o Período de Investimento, a aquisição de novos Direitos Creditórios com os recursos decorrentes do pagamento dos Direitos Creditórios integrantes da carteira da Classe, desde que respei</a:t>
            </a:r>
          </a:p>
          <a:p>
            <a:r>
              <a:t>CNPJ 60010416000112 · Revolvência e desinvestimento · Regulamento · ID 1051393 · 09/10/2025 · versão Regulamento09/10/2025 · p. 15 · AnexoI7.3 · https://fnet.bmfbovespa.com.br/fnet/publico/visualizarDocumento?id=1051393</a:t>
            </a:r>
          </a:p>
          <a:p>
            <a:r>
              <a:t>CNPJ 60010416000112 · Revolvência e desinvestimento · Excerto da fonte:</a:t>
            </a:r>
          </a:p>
          <a:p>
            <a:r>
              <a:t>7.3 Após o encerramento do Período de Investimento, e desde que o Índice de Subordinação esteja sendo cumprido, as Cotas serão amortizadas mensalmente, em regime de caixa, nas datas e prazos previstos nos respectivos Suplementos, em montante correspondente ao valor dos recursos disponíveis na Conta de Movimentação da Classe, somados aos Ativos Financeiros de Liquidez, respeitando a ordem de alocação dos recursos, observado o disposto no item abaixo em relação às Cotas Subordinadas. 7.3.1. As Cotas Subordinadas poderão ser amortizadas caso sejam atingidas, cumulativamente, as segui</a:t>
            </a:r>
          </a:p>
          <a:p>
            <a:r>
              <a:t>CNPJ 60010416000112 · Revolvência e desinvestimento · Versão e prevalência: Leitura específica das cláusulas indicadas; condições e conflitos preservados. Seleção documental atual não comprova vigência jurídica por data isolada.</a:t>
            </a:r>
          </a:p>
          <a:p>
            <a:r>
              <a:t>CNPJ 60010416000112 · Revolvência e desinvestimento · Resumo do histórico: {"count": 4, "dates": ["2025-03-20", "2025-05-12", "2025-10-09"], "document_count": 3, "sources": [{"document_id": "1051393", "title": "Regulamento", "reference_date": "2025-10-09", "version": "1", "page": "12", "url": "https://fnet.bmfbovespa.com.br/fnet/publico/visualizarDocumento?id=1051393", "sha256": "8469d613078ffd5a6c1d217885d8a397a16342c0b937ae4aa24b106505f233ae"}, {"document_id": "1004656", "title": "AGE", "reference_date": "2025-05-12", "version": "1", "page": 5, "url": "https://fnet.bmfbovespa.com.br/fnet/publico/visualizarDocumento?id=1004656", "sha256": "f6c9c009f6170e2b29f074b98522accec73f0c40efbf11f9ec2c8d3f1402616b"}, {"document_id": "993785", "title": "Instrumento Particular de Constituição/Encerramento do Fundo", "reference_date": "2025-03-20", "version": "1", "page": 5, "url": "https://fnet.bmfbovespa.com.br/fnet/publico/visualizarDocumento?id=993785", "sha256": "0826e0eae2c51afabf59bbc49fc7647598d03da5ca6de0f9725850a8bd6af457"}], "reference": {"path": "history/60010416000112.json", "criterion_id": "revolving", "total_count": 4, "preview_count": 3, "full_text_deferred": true, "sha256": "8e2bd813f4c51cf01f6bfaad164bafe69d2bbb192f753eac92da3a01c2e63046"}}</a:t>
            </a:r>
          </a:p>
          <a:p>
            <a:r>
              <a:t>CNPJ 62696791000193 · Revolvência e desinvestimento · Regulamento · ID 1143317 · 20/03/2026 · versão Regulamento — referência 20/03/2026 · p. 16 · Anexo I, 5.1 · https://fnet.bmfbovespa.com.br/fnet/publico/visualizarDocumento?id=1143317</a:t>
            </a:r>
          </a:p>
          <a:p>
            <a:r>
              <a:t>CNPJ 62696791000193 · Revolvência e desinvestimento · Excerto da fonte:</a:t>
            </a:r>
          </a:p>
          <a:p>
            <a:r>
              <a:t>5.1 Os recursos recebidos pela Classe em razão da liquidação dos Direitos Creditórios do Agronegócio e/ou dos Outros Ativos, a qualquer título, incluindo pagamento regular ou por excussão de garantia, alienação, recompra, indenização pelo cedente e/ou desinvestimento de Direitos Creditórios do Agronegócio e/ou dos Outros Ativos, poderão ser destinados à aquisição pela Classe de novos Direitos Creditórios do Agronegócio e/ou dos Outros Ativos e/ou destinados ao resgate das Cotas, conf orme decisão do Gestor e desde que observada a ordem de alocação de recursos. 6 ORDEM DE ALOCAÇÃO DE RECURSOS 6.1 O Administrador e o Gestor obrigam-se a, a partir da data da primeira integralização de Cotas até a liquidação integral das obrigações da Classe, utilizar os recursos disponíveis na Conta da Classe e/ou mantidos em Ativos Financeiros de Liquidez em cada Dia Útil, de acordo com a seguinte ordem de prioridade de alocação, de modo que cada item abaixo listado apenas será contemplado após o direcionamento do montante total necessário para a satisfação dos itens anteriores, ressalvada a ocorrência de eventos extraordinários que afetem o funcionamento regular do Fundo e/ou da Classe: (i</a:t>
            </a:r>
          </a:p>
          <a:p>
            <a:r>
              <a:t>CNPJ 62696791000193 · Revolvência e desinvestimento · Versão e prevalência: Leitura específica das cláusulas indicadas; condições e conflitos preservados. Seleção documental atual não comprova vigência jurídica por data isolada.</a:t>
            </a:r>
          </a:p>
          <a:p>
            <a:r>
              <a:t>CNPJ 55563624000109 · Revolvência e desinvestimento · Regulamento · ID 1192614 · 30/04/2026 · versão Regulamento30/04/2026 · p. 13 · AnexoI4.13 · https://fnet.bmfbovespa.com.br/fnet/publico/visualizarDocumento?id=1192614</a:t>
            </a:r>
          </a:p>
          <a:p>
            <a:r>
              <a:t>CNPJ 55563624000109 · Revolvência e desinvestimento · Excerto da fonte:</a:t>
            </a:r>
          </a:p>
          <a:p>
            <a:r>
              <a:t>4.13 Os recursos recebidos pela Classe em razão da liquidação das Cotas da Classe Investida, a qualquer título, incluindo pagamento regular ou por excussão ou execução de garantia, alienação, recompra, indenização e/ou desinvestimento, serão destinados à amortização ou resgate das Cotas, conforme decisão do GESTOR e desde que observada a ordem de alocação de recursos definida no item 8.1 abaixo, observado que tais recursos poderão ser utilizados para fazer frente ao pagamento de Encargos e/ou despesas extraordinárias da Classe ou da Classe Investida, caso</a:t>
            </a:r>
          </a:p>
          <a:p>
            <a:r>
              <a:t>CNPJ 55563624000109 · Revolvência e desinvestimento · Motivo: Não localizada uma cláusula material para este critério nos textos identificados e processados. A ausência de resultado não comprova inexistência da regra.</a:t>
            </a:r>
          </a:p>
          <a:p>
            <a:r>
              <a:t>CNPJ 55563624000109 · Revolvência e desinvestimento · Versão e prevalência: Leitura específica das cláusulas indicadas; condições e conflitos preservados. Seleção documental atual não comprova vigência jurídica por data isolada.</a:t>
            </a:r>
          </a:p>
          <a:p>
            <a:r>
              <a:t>CNPJ 62552447000120 · Revolvência e desinvestimento · Motivo: Não localizada uma cláusula material para este critério nos textos identificados e processados. A ausência de resultado não comprova inexistência da regra.</a:t>
            </a:r>
          </a:p>
          <a:p>
            <a:r>
              <a:t>CNPJ 63953620000165 · Revolvência e desinvestimento · Anexo ao Regulamento · ID 1222863 · 02/06/2026 · versão AnexoConsignadoPrivado02/06/2026 · p. 7 · 4.17–4.17.3 · https://fnet.bmfbovespa.com.br/fnet/publico/visualizarDocumento?id=1222863</a:t>
            </a:r>
          </a:p>
          <a:p>
            <a:r>
              <a:t>CNPJ 63953620000165 · Revolvência e desinvestimento · Excerto da fonte:</a:t>
            </a:r>
          </a:p>
          <a:p>
            <a:r>
              <a:t>4.17 O período compreendido entre a data da primeira integralização de Cotas da Classe até 29 de junho de 2031, constituirão o período de investimento da Classe, durante o qual, a Classe poderá adquirir Direitos Creditórios (“Período de Investimento”). 4.17.1 Durante o Período de Investimento, os recursos recebidos pela Classe em razão da liquidação dos Direitos Creditórios, a qualquer título, incluindo pagamento regular ou por excussão de garantia, alienação, recompra, indenização pelo Cedente e/ou desinvestimento de Ativo Recuperado, poderão ser destinados à aquisição pela Classe de novos</a:t>
            </a:r>
          </a:p>
          <a:p>
            <a:r>
              <a:t>CNPJ 63953620000165 · Revolvência e desinvestimento · Versão e prevalência: Leitura específica das cláusulas indicadas; condições e conflitos preservados. Seleção documental atual não comprova vigência jurídica por data isolada.</a:t>
            </a:r>
          </a:p>
          <a:p>
            <a:r>
              <a:t>CNPJ 63953620000165 · Revolvência e desinvestimento · Resumo do histórico: {"count": 8, "dates": ["2026-04-28", "2026-05-08", "2026-05-15"], "document_count": 3, "sources": [{"document_id": "1327859", "title": "Demonstrações Financeiras - Fusão, cisão e incorporação", "reference_date": "2026-05-15", "version": "1", "page": 10, "url": "https://fnet.bmfbovespa.com.br/fnet/publico/visualizarDocumento?id=1327859", "sha256": "dca1c68babb97f887528c3e2e47596a9c30f507b067981a35655b2f2da9c8054"}, {"document_id": "1298691", "title": "Demonstrações Financeiras - Fusão, cisão e incorporação", "reference_date": "2026-05-08", "version": "1", "page": 10, "url": "https://fnet.bmfbovespa.com.br/fnet/publico/visualizarDocumento?id=1298691", "sha256": "58c570d9b8d4d265330d3db3ea81c435b8e44a6dab4002aa37790652a1ee9819"}, {"document_id": "1282180", "title": "Demonstrações Financeiras - Fusão, cisão e incorporação", "reference_date": "2026-04-28", "version": "1", "page": 10, "url": "https://fnet.bmfbovespa.com.br/fnet/publico/visualizarDocumento?id=1282180", "sha256": "afaaa0e6809be4385e5bdb6c911aac582032c5bdbac3d7750234bf9eaf00438a"}], "reference": {"path": "history/63953620000165.json", "criterion_id": "revolving", "total_count": 8, "preview_count": 3, "full_text_deferred": true, "sha256": "a7b89077f5e21098c2d601c303faabc3ff6b9729f89d8afecdc60fe1404720c1"}}</a:t>
            </a:r>
          </a:p>
          <a:p>
            <a:r>
              <a:t>CNPJ 54871427000194 · Cessões, preço e carteira residual · Motivo: Não localizada uma cláusula material para este critério nos textos identificados e processados. A ausência de resultado não comprova inexistência da regra.</a:t>
            </a:r>
          </a:p>
          <a:p>
            <a:r>
              <a:t>CNPJ 60010416000112 · Cessões, preço e carteira residual · Motivo: Não localizada uma cláusula material para este critério nos textos identificados e processados. A ausência de resultado não comprova inexistência da regra.</a:t>
            </a:r>
          </a:p>
          <a:p>
            <a:r>
              <a:t>CNPJ 62696791000193 · Cessões, preço e carteira residual · Regulamento · ID 1143317 · 2026-03-20 · versão 1 · p. 14 · 4.22 · https://fnet.bmfbovespa.com.br/fnet/publico/visualizarDocumento?id=1143317</a:t>
            </a:r>
          </a:p>
          <a:p>
            <a:r>
              <a:t>CNPJ 62696791000193 · Cessões, preço e carteira residual · Excerto da fonte:</a:t>
            </a:r>
          </a:p>
          <a:p>
            <a:r>
              <a:t>4.22 A Classe poderá participar de operações de securitização por meio de cessão de direitos creditórios de  que seja titular, incluindo, exemplificativamente, créditos de locação, venda ou direito real de superfície.</a:t>
            </a:r>
          </a:p>
          <a:p>
            <a:r>
              <a:t>CNPJ 62696791000193 · Cessões, preço e carteira residual · Condição: Documentos atuais selecionados no inventário por categoria/escopo; a data documental isolada não comprova vigência jurídica.</a:t>
            </a:r>
          </a:p>
          <a:p>
            <a:r>
              <a:t>CNPJ 62696791000193 · Cessões, preço e carteira residual · Versão e prevalência: Documentos atuais selecionados no inventário por categoria/escopo; a data documental isolada não comprova vigência jurídica.</a:t>
            </a:r>
          </a:p>
          <a:p>
            <a:r>
              <a:t>CNPJ 55563624000109 · Cessões, preço e carteira residual · Regulamento · ID 1192614 · 2026-04-30 · versão 1 · p. 12 · 4.5 · https://fnet.bmfbovespa.com.br/fnet/publico/visualizarDocumento?id=1192614</a:t>
            </a:r>
          </a:p>
          <a:p>
            <a:r>
              <a:t>CNPJ 55563624000109 · Cessões, preço e carteira residual · Excerto da fonte:</a:t>
            </a:r>
          </a:p>
          <a:p>
            <a:r>
              <a:t>4.5 Uma vez que o investimento nas Cotas da Classe Investida não corresponde a um investimento direto em direitos  creditórios, uma série de disposições comuns à securitização de direitos creditórios não será aplicável ao  investimento nas Cotas da Classe Investida. A título meramente exemplificativo, não existem processos de  originação ou política de concessão de crédito adotada pelo GESTOR, tampouco há que se falar em verificação  ou guarda de documentos comprobatórios que não sejam referentes às Cotas da Classe Investida. Da mesma  forma, não há necessidade de se prever a adoção de procedimentos específicos para a cobrança das Cotas da  Classe Investida. Cada Cotista deverá atestar que está ciente e concorda com o disposto neste item 4.5, por meio  da assinatura do Termo de Adesão.</a:t>
            </a:r>
          </a:p>
          <a:p>
            <a:r>
              <a:t>CNPJ 55563624000109 · Cessões, preço e carteira residual · Condição: Documentos atuais selecionados no inventário por categoria/escopo; a data documental isolada não comprova vigência jurídica.</a:t>
            </a:r>
          </a:p>
          <a:p>
            <a:r>
              <a:t>CNPJ 55563624000109 · Cessões, preço e carteira residual · Motivo: Cláusula primária localizada e citada, mas sua lista/condições extensas não admitem uma síntese literal curta confirmada. O trecho integral permanece nas fontes.</a:t>
            </a:r>
          </a:p>
          <a:p>
            <a:r>
              <a:t>CNPJ 55563624000109 · Cessões, preço e carteira residual · Versão e prevalência: Documentos atuais selecionados no inventário por categoria/escopo; a data documental isolada não comprova vigência jurídica.</a:t>
            </a:r>
          </a:p>
          <a:p>
            <a:r>
              <a:t>CNPJ 62552447000120 · Cessões, preço e carteira residual · Motivo: Não localizada uma cláusula material para este critério nos textos identificados e processados. A ausência de resultado não comprova inexistência da regra.</a:t>
            </a:r>
          </a:p>
          <a:p>
            <a:r>
              <a:t>CNPJ 63953620000165 · Cessões, preço e carteira residual · Motivo: Não localizada uma cláusula material para este critério nos textos identificados e processados. A ausência de resultado não comprova inexistência da regra.</a:t>
            </a:r>
          </a:p>
          <a:p>
            <a:r>
              <a:t>CNPJ 54871427000194 · Juros, amortização e vencimento · Regulamento · ID 670691 · 28/04/2024 · versão Regulamento — referência 28/04/2024 · p. 15 · Anexo I, 6.1–6.2 e 7.2–7.4 · https://fnet.bmfbovespa.com.br/fnet/publico/visualizarDocumento?id=670691</a:t>
            </a:r>
          </a:p>
          <a:p>
            <a:r>
              <a:t>CNPJ 54871427000194 · Juros, amortização e vencimento · Excerto da fonte:</a:t>
            </a:r>
          </a:p>
          <a:p>
            <a:r>
              <a:t>6.1 As Cotas terão seu Valor Unitário calculado e divulgado pelo ADMINISTRADOR mensalmente, no último Dia Útil de cada mês, no fechamento dos mercados, a partir do mês seguinte à Data da 1ª Integralização e até a data de resgate das Cotas ou na data de liquidação da Classe Única, conforme o caso. 6.2 A partir da Data da 1ª Integralização de Cotas, o Valor Unitário das Cotas s erá calculado no fechamento do último Dia Útil de cada mês, equivalerá ao resultado da divisão do valor do Patrimônio Líquido apurado para o respectivo dia, pelo número de Cotas em circulação na respectiva data de cálculo . CAPÍTULO 7 – AMORTIZAÇÃO E RESGATE DAS COTAS 7.1 A distribuição de quaisquer ganhos e rendimentos d a Classe aos Cotistas será f eita exclusivamente mediante a Amortização e/ou o resgate de Cotas, observado o disposto neste Capítulo. 7.2 As amortizações de Cotas serão realizadas a qualquer tempo, a critério do GESTOR, observada a disponibilidade de recursos da Classe Única e a ordem de alocação de recursos prevista neste Anexo Descritivo. 7.3 As Cotas serão amortizadas mediante orientação do GESTOR e/ou deliberação da Assembleia Especial de Cotistas, observada a ordem de alocação de recursos previ</a:t>
            </a:r>
          </a:p>
          <a:p>
            <a:r>
              <a:t>CNPJ 54871427000194 · Juros, amortização e vencimento · Motivo: Cláusula primária localizada e citada, mas sua lista/condições extensas não admitem uma síntese literal curta confirmada. O trecho integral permanece nas fontes. A resposta da revisão anterior foi preservada no histórico, sem confirmação pelo documento atual.</a:t>
            </a:r>
          </a:p>
          <a:p>
            <a:r>
              <a:t>CNPJ 54871427000194 · Juros, amortização e vencimento · Versão e prevalência: Leitura específica das cláusulas indicadas; condições e conflitos preservados. Seleção documental atual não comprova vigência jurídica por data isolada.</a:t>
            </a:r>
          </a:p>
          <a:p>
            <a:r>
              <a:t>CNPJ 54871427000194 · Juros, amortização e vencimento · Resumo do histórico: {"count": 2, "dates": ["2024-04-19", "2024-04-28"], "document_count": 2, "sources": [{"document_id": "670691", "title": "Regulamento", "reference_date": "2024-04-28", "version": "1", "page": "15", "url": "https://fnet.bmfbovespa.com.br/fnet/publico/visualizarDocumento?id=670691", "sha256": "bf16dd7f1a62d5cdbf2e2d54fef81783783f7310fbc99c3a8f00459bdf9d037b"}, {"document_id": "670689", "title": "Regulamento", "reference_date": "2024-04-19", "version": "1", "page": 30, "url": "https://fnet.bmfbovespa.com.br/fnet/publico/visualizarDocumento?id=670689", "sha256": "891bc9bc5d87bbc02ec139077a84d2702eb81ea02035fb71d24f5b8366b94a0b"}], "reference": {"path": "history/54871427000194.json", "criterion_id": "payments", "total_count": 2, "preview_count": 2, "full_text_deferred": true, "sha256": "35d7cd99be50c7287c9fb675cf4f2e736002315295a225a9efa79c8d9186d874"}}</a:t>
            </a:r>
          </a:p>
          <a:p>
            <a:r>
              <a:t>CNPJ 60010416000112 · Juros, amortização e vencimento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Juros, amortização e vencimento · Resumo do histórico: {"count": 1, "dates": ["2025-03-20"], "document_count": 1, "sources": [{"document_id": "993785", "title": "Instrumento Particular de Constituição/Encerramento do Fundo", "reference_date": "2025-03-20", "version": "1", "page": "5-6", "url": "https://fnet.bmfbovespa.com.br/fnet/publico/visualizarDocumento?id=993785", "sha256": "0826e0eae2c51afabf59bbc49fc7647598d03da5ca6de0f9725850a8bd6af457"}], "reference": {"path": "history/60010416000112.json", "criterion_id": "payments", "total_count": 1, "preview_count": 1, "full_text_deferred": true, "sha256": "8e2bd813f4c51cf01f6bfaad164bafe69d2bbb192f753eac92da3a01c2e63046"}}</a:t>
            </a:r>
          </a:p>
          <a:p>
            <a:r>
              <a:t>CNPJ 62696791000193 · Juros, amortização e vencimento · Regulamento · ID 1143317 · 20/03/2026 · versão Regulamento — referência 20/03/2026 · p. 34 · Apêndice Sênior, 6.1–6.1.1 · https://fnet.bmfbovespa.com.br/fnet/publico/visualizarDocumento?id=1143317</a:t>
            </a:r>
          </a:p>
          <a:p>
            <a:r>
              <a:t>CNPJ 62696791000193 · Juros, amortização e vencimento · Excerto da fonte:</a:t>
            </a:r>
          </a:p>
          <a:p>
            <a:r>
              <a:t>6.1. Desde que o Patrimônio Líquido da Classe assim permita, a partir de janeiro de 2026, as Cotas Seniores f arão jus à Amortização semestral do Benchmark, a ser realizada no último Dia Útil dos meses de janeiro e de julho de cada ano (“Amortização Programada de Cotas Seniores” e “Data de Amortização Programada de Cotas Seniores”, respectivamente), observada a Ordem de Alocação de Recursos prevista no Anexo. 6.1.1. Caso, em uma Data de Amortização Programa de Cotas Seniores, a Classe não tenha recursos disponíveis suficientes para o seu pagamento integral a diferença entre (i) o Benchmark Sênior apurado e (ii) os valores ef etivamente Amortizados aos Cotistas Seniores será automaticamente acumulada para pagamento na próxima Data de Amortização Programa de Cotas Seniores , e assim subsequentemente quando não for possível o pagamento total da diferença na Data de Amortização Programa de Cotas Seniores seguinte, até o pagamento integral do Benchmark Sênior apurado e devido no respectivo período. 6.2. Em complemento às Amortizações Programadas de Cotas Seniores, os Cotistas Seniores f arão jus, sempre que o Patrimônio Líquido da Classe assim permita e desde que o Valor Unitário das Cotas Seniores e</a:t>
            </a:r>
          </a:p>
          <a:p>
            <a:r>
              <a:t>CNPJ 62696791000193 · Juros, amortização e vencimento · Regulamento · ID 1143317 · 20/03/2026 · versão Regulamento — referência 20/03/2026 · p. 37 · Apêndice Júnior, 4.1 · https://fnet.bmfbovespa.com.br/fnet/publico/visualizarDocumento?id=1143317</a:t>
            </a:r>
          </a:p>
          <a:p>
            <a:r>
              <a:t>CNPJ 62696791000193 · Juros, amortização e vencimento · Excerto da fonte:</a:t>
            </a:r>
          </a:p>
          <a:p>
            <a:r>
              <a:t>4.1. Caso o Patrimônio Líquido da Classe assim permita, as Cotas Subordinadas f arão jus à amortização semestral, no último Dia Útil dos meses de janeiro e julho de cada ano, de valor equivalente ao excedente do valor de integralização das Cotas Subordinadas em circulação, limitado ao percentual de 100% (cem por cento) da variação positiva do CDI acrescida de 4,50% (quatro inteiros e cinco décimos por cento) ao ano, considerando, para tanto a razão entre (i) o valor de integralização das Cotas Subordinadas Júnior em circulação e (ii) o valor de cada uma das Cotas Subordinadas, a ser paga na Data de Amortização Programada de Cotas Seniores (“Amortização das Cotas Subordinadas”). 4.2. Em complemento às Amortizações das Cotas Subordinadas, os Cotistas Subordinados farão jus, sempre que o Patrimônio Líquido da Classe assim permita e desde que o Valor Unitário das Cotas Subordinadas esteja superior ao valor de integralização das Cotas Subordinadas em circulação, a 50% (cinquenta por cento) de qualquer valor que exceder a Amortização das Cotas Subordinadas, a ser paga na Data de Amortização Programada de Cotas Seniores (“Amortização Extraordinária de Cotas Seniores”). 5. Excesso de Subordinação 5.1. Verif icado excesso de subordinação,</a:t>
            </a:r>
          </a:p>
          <a:p>
            <a:r>
              <a:t>CNPJ 62696791000193 · Juros, amortização e vencimento · Regulamento · ID 1143317 · 20/03/2026 · versão Regulamento — referência 20/03/2026 · p. 6 · Anexo I, 1.1, Condomínio e Prazo · https://fnet.bmfbovespa.com.br/fnet/publico/visualizarDocumento?id=1143317</a:t>
            </a:r>
          </a:p>
          <a:p>
            <a:r>
              <a:t>CNPJ 62696791000193 · Juros, amortização e vencimento · Excerto da fonte:</a:t>
            </a:r>
          </a:p>
          <a:p>
            <a:r>
              <a:t>Tipo de Condomínio Fechado. Indeterminado, exceto se de outra f orma vier a ser deliberado pelos Prazo de Duração cotistas da Classe (“Cotistas”) reunidos em assembleia geral de Cotistas. A Classe tem por objetivo proporcionar aos Cotistas a valorização e a rentabilidade de suas cotas (“Cotas”), conforme a política de investimentos def inida no Capítulo IV abaixo (“Política de Investimentos”), por meio de aplicação do seu Patrimônio Líquido (conforme def inido abaixo) nos seguintes ativos de origem vinculada às cadeias produtivas do agronegócio (“Direitos Creditórios do Agronegócio”): (i) títulos de crédito emitidos por pessoas naturais e jurídicas que integrem as cadeias produtivas do agronegócio; (ii) direitos creditórios do agronegócio; (iii) certificados d</a:t>
            </a:r>
          </a:p>
          <a:p>
            <a:r>
              <a:t>CNPJ 62696791000193 · Juros, amortização e vencimento · Condição: A agenda começa em janeiro/2026 dentro de consolidado vigente apenas no fechamento de 23/03/2026. O documento anterior não foi obtido para reconstruir a regra de janeiro/fevereiro.</a:t>
            </a:r>
          </a:p>
          <a:p>
            <a:r>
              <a:t>CNPJ 62696791000193 · Juros, amortização e vencimento · Versão e prevalência: Leitura específica das cláusulas indicadas; condições e conflitos preservados. Seleção documental atual não comprova vigência jurídica por data isolada.</a:t>
            </a:r>
          </a:p>
          <a:p>
            <a:r>
              <a:t>CNPJ 62696791000193 · Juros, amortização e vencimento · Resumo do histórico: {"count": 1, "dates": ["2026-03-27"], "document_count": 1, "sources": [{"document_id": "1148821", "title": "Instrumento Particular de Emissão de Cotas", "reference_date": "2026-03-27", "version": "1", "page": "2", "url": "https://fnet.bmfbovespa.com.br/fnet/publico/visualizarDocumento?id=1148821", "sha256": "86900e9dd498403696bfffbd4196443c83ec4d51ff21135e073c1966e1adf4c0"}], "reference": {"path": "history/62696791000193.json", "criterion_id": "payments", "total_count": 1, "preview_count": 1, "full_text_deferred": true, "sha256": "0e9ec199848320ec945708123ae0cb6075d76c05d94beed814d582031d353926"}}</a:t>
            </a:r>
          </a:p>
          <a:p>
            <a:r>
              <a:t>CNPJ 55563624000109 · Juros, amortização e vencimento · Regulamento · ID 1192614 · 30/04/2026 · versão Regulamento30/04/2026 · p. 45 · ApêndiceA3.1 · https://fnet.bmfbovespa.com.br/fnet/publico/visualizarDocumento?id=1192614</a:t>
            </a:r>
          </a:p>
          <a:p>
            <a:r>
              <a:t>CNPJ 55563624000109 · Juros, amortização e vencimento · Excerto da fonte:</a:t>
            </a:r>
          </a:p>
          <a:p>
            <a:r>
              <a:t>3.1. O prazo das Cotas Subclasse A encerra em 19 de junho de 2026. 4. Condições de Emissão, Distribuição, Subscrição, Integralização, Remuneração, Amortização e Resgate de Cotas Subclasse A: 4.1. Após a primeira Data de Emissão de Cotas, eventuais novas emissões de Cotas Subclasse A somente poderão ser realizadas (i) diretamente pelo ADMINISTRADOR por orientação do GESTOR, desde que limitado ao Capital Autorizado; ou (ii) com a aprovação de Assembleia Especial de Cotistas, observados os quóruns específicos, conforme aplicável, sendo que o valor de emissão, o volume e demais carac</a:t>
            </a:r>
          </a:p>
          <a:p>
            <a:r>
              <a:t>CNPJ 55563624000109 · Juros, amortização e vencimento · Regulamento · ID 1192614 · 30/04/2026 · versão Regulamento30/04/2026 · p. 47 · ApêndiceB3.2 · https://fnet.bmfbovespa.com.br/fnet/publico/visualizarDocumento?id=1192614</a:t>
            </a:r>
          </a:p>
          <a:p>
            <a:r>
              <a:t>CNPJ 55563624000109 · Juros, amortização e vencimento · Excerto da fonte:</a:t>
            </a:r>
          </a:p>
          <a:p>
            <a:r>
              <a:t>3.2. O prazo das Cotas Subclasse B encerra em 19 de junho de 2028. 4. Condições de Emissão, Distribuição, Subscrição, Integralização, Remuneração, Amortização e Resgate de Cotas Subclasse B: 4.1. Após a primeira Data de Emissão de Cotas, eventuais novas emissões de Cotas Subclasse B somente poderão ser realizadas (i) diretamente pelo ADMINISTRADOR por orientação do GESTOR, desde que limitado ao Capital Autorizado; ou (ii) com a aprovação de Assembleia Especial de Cotistas, observados os quóruns específicos, conforme aplicável, sendo que o valor de emissão, o volume e de</a:t>
            </a:r>
          </a:p>
          <a:p>
            <a:r>
              <a:t>CNPJ 55563624000109 · Juros, amortização e vencimento · Regulamento · ID 1192614 · 30/04/2026 · versão Regulamento30/04/2026 · p. 49 · ApêndiceC3.1 · https://fnet.bmfbovespa.com.br/fnet/publico/visualizarDocumento?id=1192614</a:t>
            </a:r>
          </a:p>
          <a:p>
            <a:r>
              <a:t>CNPJ 55563624000109 · Juros, amortização e vencimento · Excerto da fonte:</a:t>
            </a:r>
          </a:p>
          <a:p>
            <a:r>
              <a:t>3.1. O prazo das Cotas Subclasse C encerra em 19 de junho de 2027. 4. Condições de Emissão, Distribuição, Subscrição, Integralização, Remuneração, Amortização e Resgate de Cotas Subclasse C: 4.1. Após a primeira Data de Emissão de Cotas, eventuais novas emissões de Cotas Subclasse C somente poderão ser realizadas (i) diretamente pelo ADMINISTRADOR por orientação do GESTOR, desde que limitado ao Capital Autorizado; ou (ii) com a aprovação de Assembleia Especial de Cotistas, observados os quóruns específicos, conforme aplicável, sendo que o valor de emissão, o volume e demais car</a:t>
            </a:r>
          </a:p>
          <a:p>
            <a:r>
              <a:t>CNPJ 55563624000109 · Juros, amortização e vencimento · Regulamento · ID 1192614 · 30/04/2026 · versão Regulamento30/04/2026 · p. 18 · AnexoI7.3–7.4 · https://fnet.bmfbovespa.com.br/fnet/publico/visualizarDocumento?id=1192614</a:t>
            </a:r>
          </a:p>
          <a:p>
            <a:r>
              <a:t>CNPJ 55563624000109 · Juros, amortização e vencimento · Excerto da fonte:</a:t>
            </a:r>
          </a:p>
          <a:p>
            <a:r>
              <a:t>7.3 Os pagamentos das parcelas de amortização e/ou de resgate das Cotas serão efetuados, como regra geral, em moeda corrente nacional, pelo valor da Cota apurado no fechamento dos mercados no segundo Dia Útil imediatamente anterior ao do pagamento, por meio (i) da B3, se assim aplicável, ou (ii) de depósito em conta corrente de titularidade dos Cotistas, mediante qualquer mecanismo de transferência de recursos autorizado pelo BACEN. 7.4 Quando a data estipulada para pagamento de amortização ou resgate de Cotas se der em dia que seja feriado</a:t>
            </a:r>
          </a:p>
          <a:p>
            <a:r>
              <a:t>CNPJ 55563624000109 · Juros, amortização e vencimento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Juros, amortização e vencimento · Versão e prevalência: Leitura específica das cláusulas indicadas; condições e conflitos preservados. Seleção documental atual não comprova vigência jurídica por data isolada.</a:t>
            </a:r>
          </a:p>
          <a:p>
            <a:r>
              <a:t>CNPJ 55563624000109 · Juros, amortização e vencimento · Resumo do histórico: {"count": 1, "dates": ["2026-04-30"], "document_count": 1, "sources": [{"document_id": "1192614", "title": "Regulamento", "reference_date": "2026-04-30", "version": "1", "page": "17-18", "url": "https://fnet.bmfbovespa.com.br/fnet/publico/visualizarDocumento?id=1192614", "sha256": "f56e63ace0acde41d2f47fb48f1ac7f3f7df5e2d32de092d7c5e075a52516632"}], "reference": {"path": "history/55563624000109.json", "criterion_id": "payments", "total_count": 1, "preview_count": 1, "full_text_deferred": true, "sha256": "7835d573fb58a3c19adf5b8ecc2aee2bdbb9a88f7a0c0209b5f262b64c7522e3"}}</a:t>
            </a:r>
          </a:p>
          <a:p>
            <a:r>
              <a:t>CNPJ 62552447000120 · Juros, amortização e vencimento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Juros, amortização e vencimento · Resumo do histórico: {"count": 1, "dates": ["2025-09-03"], "document_count": 1, "sources": [{"document_id": "988020", "title": "Instrumento Particular de Emissão de Cotas", "reference_date": "2025-09-03", "version": "1", "page": "6", "url": "https://fnet.bmfbovespa.com.br/fnet/publico/visualizarDocumento?id=988020", "sha256": "8ecc8a771bb9713d64e5fc2052c489664cb0433801a9280db68e5187d35bf7a5"}], "reference": {"path": "history/62552447000120.json", "criterion_id": "payments", "total_count": 1, "preview_count": 1, "full_text_deferred": true, "sha256": "d95db8c0613d67ee84118c734588665265ea6b02f86a0318d6a844cbe1d0f82f"}}</a:t>
            </a:r>
          </a:p>
          <a:p>
            <a:r>
              <a:t>CNPJ 63953620000165 · Juros, amortização e vencimento · Anexo ao Regulamento · ID 1222863 · 02/06/2026 · versão AnexoConsignadoPrivado02/06/2026 · p. 23 · ApêndiceSênior5.1–5.2 · https://fnet.bmfbovespa.com.br/fnet/publico/visualizarDocumento?id=1222863</a:t>
            </a:r>
          </a:p>
          <a:p>
            <a:r>
              <a:t>CNPJ 63953620000165 · Juros, amortização e vencimento · Excerto da fonte:</a:t>
            </a:r>
          </a:p>
          <a:p>
            <a:r>
              <a:t>5.1. Durante o Período de Investimento, desde que o Patrimônio Líquido da Classe assim permita, as Cotas Seniores farão jus à Amortização trimestral do saldo do Benchmark Sênior a ser realizada no 5º Dia Útil do mês (“Amortização de Benchmark das Cotas Seniores” e “Data de Amortização por Regime de Caixa de Cotas Seniores”, respectivamente). 5.2. Encerrado o Período de Investimento, desde que o Patrimônio Líquido da Classe assim permita, as Cotas Seniores farão jus à Amortização Programada de Cotas Seniores referente ao saldo do Benchmark Sênior ainda não amortizado e ao do saldo do seu Valor Unitário, conforme aplicável, a ser realizada em cada Data d</a:t>
            </a:r>
          </a:p>
          <a:p>
            <a:r>
              <a:t>CNPJ 63953620000165 · Juros, amortização e vencimento · Anexo ao Regulamento · ID 1222863 · 02/06/2026 · versão AnexoConsignadoPrivado02/06/2026 · p. 25 · ApêndiceSubordinada5.1–5.2 · https://fnet.bmfbovespa.com.br/fnet/publico/visualizarDocumento?id=1222863</a:t>
            </a:r>
          </a:p>
          <a:p>
            <a:r>
              <a:t>CNPJ 63953620000165 · Juros, amortização e vencimento · Excerto da fonte:</a:t>
            </a:r>
          </a:p>
          <a:p>
            <a:r>
              <a:t>5.1. Encerrado o Período de Investimento, desde que o Patrimônio Líquido da Classe assim permita e desde que atendido o Índice de Subordinação Alvo, as Cotas Subordinadas farão jus à Amortização [trimestral] do saldo do seu Valor Unitário, consideradas pro forma todas as amortizações pretendidas, seja atendida o Índice de Subordinação Sênior, conforme aplicável, a ser realizada no 5º Dia Útil do mês (“Amortização por Regime de Caixa Cotas Subordinadas” e “Data de Amortização Programada de Cotas Subordinadas”, respectivamente), observada a Ordem de Alocação de Recursos prevista na Classe. 5.2. Durante o Período de Investimento, as Cotas Subordi</a:t>
            </a:r>
          </a:p>
          <a:p>
            <a:r>
              <a:t>CNPJ 63953620000165 · Juros, amortização e vencimento · Condição: Periodicidade em colchetes no apêndice subordinado sinaliza redação não finalizada; não transformar em calendário confirmado.</a:t>
            </a:r>
          </a:p>
          <a:p>
            <a:r>
              <a:t>CNPJ 63953620000165 · Juros, amortização e vencimento · Motivo: Não localizada uma cláusula material para este critério nos textos identificados e processados. A ausência de resultado não comprova inexistência da regra.</a:t>
            </a:r>
          </a:p>
          <a:p>
            <a:r>
              <a:t>CNPJ 63953620000165 · Juros, amortização e vencimento · Versão e prevalência: Leitura específica das cláusulas indicadas; condições e conflitos preservados. Seleção documental atual não comprova vigência jurídica por data isolada.</a:t>
            </a:r>
          </a:p>
          <a:p>
            <a:r>
              <a:t>CNPJ 54871427000194 · Carência das cotas · Motivo: Não localizada uma cláusula material para este critério nos textos identificados e processados. A ausência de resultado não comprova inexistência da regra.</a:t>
            </a:r>
          </a:p>
          <a:p>
            <a:r>
              <a:t>CNPJ 60010416000112 · Carência das cotas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Carência das cotas · Resumo do histórico: {"count": 1, "dates": ["2025-10-09"], "document_count": 1, "sources": [{"document_id": "1051393", "title": "Regulamento", "reference_date": "2025-10-09", "version": "1", "page": "12, 15", "url": "https://fnet.bmfbovespa.com.br/fnet/publico/visualizarDocumento?id=1051393", "sha256": "8469d613078ffd5a6c1d217885d8a397a16342c0b937ae4aa24b106505f233ae"}], "reference": {"path": "history/60010416000112.json", "criterion_id": "quota_grace", "total_count": 1, "preview_count": 1, "full_text_deferred": true, "sha256": "8e2bd813f4c51cf01f6bfaad164bafe69d2bbb192f753eac92da3a01c2e63046"}}</a:t>
            </a:r>
          </a:p>
          <a:p>
            <a:r>
              <a:t>CNPJ 62696791000193 · Carência das cotas · Motivo: Não localizada uma cláusula material para este critério nos textos identificados e processados. A ausência de resultado não comprova inexistência da regra.</a:t>
            </a:r>
          </a:p>
          <a:p>
            <a:r>
              <a:t>CNPJ 55563624000109 · Carência das cotas · Motivo: Não localizada uma cláusula material para este critério nos textos identificados e processados. A ausência de resultado não comprova inexistência da regra.</a:t>
            </a:r>
          </a:p>
          <a:p>
            <a:r>
              <a:t>CNPJ 62552447000120 · Carência das cotas · Motivo: Não localizada uma cláusula material para este critério nos textos identificados e processados. A ausência de resultado não comprova inexistência da regra.</a:t>
            </a:r>
          </a:p>
          <a:p>
            <a:r>
              <a:t>CNPJ 63953620000165 · Carência das cotas · Motivo: Não localizada uma cláusula material para este critério nos textos identificados e processados. A ausência de resultado não comprova inexistência da regra.</a:t>
            </a:r>
          </a:p>
          <a:p>
            <a:r>
              <a:t>CNPJ 54871427000194 · Vencimento das cotas · Regulamento · ID 670691 · 2024-04-28 · versão 1 · p. 29 · https://fnet.bmfbovespa.com.br/fnet/publico/visualizarDocumento?id=670691</a:t>
            </a:r>
          </a:p>
          <a:p>
            <a:r>
              <a:t>CNPJ 54871427000194 · Vencimento das cotas · Excerto da fonte:</a:t>
            </a:r>
          </a:p>
          <a:p>
            <a:r>
              <a:t>Anexo I ao Regulamento CLASSE ÚNICA DE RESPONSABILIDADE LIMITADA DO CONSIGNADO DELTA RECEIVABLES I FUNDO DE INVESTIMENTO EM DIREITOS CREDITÓRIOS  pelo Endossante e depositados em seu conta de sua titularidade para posterior repasse à  Classe. Neste caso, a Classe poderá sofrer perdas principalmente em relação ao atraso na  regularização da titularidade e pagamento dos Direitos Creditórios.</a:t>
            </a:r>
          </a:p>
          <a:p>
            <a:r>
              <a:t> (v) Risco de pré-pagamento dos Direitos Creditórios. A ocorrência de pré-  pagamentos em relação a um ou mais Direitos Creditórios poderá ocasionar perdas à Classe.</a:t>
            </a:r>
          </a:p>
          <a:p>
            <a:r>
              <a:t> A ocorrência de pré-pagamentos (pagamento em data anterior àquela originalmente pactuada)  de Direitos Creditórios reduz o horizonte original de rendimentos esperados pela Classe de  tais Direitos Creditórios, uma vez que o pré-pagamento poderá, se assim permitido pela  documentação do Direito Creditório ou, conf orme o caso, pela legislação aplicável, ser  realizado pelo valor de emissão do Direito Creditório atualizado até a data do pré-pagamento  pela taxa de juros pactuada entre os Endossantes e os Devedores de tais Direitos Creditórios,  de modo que os juros remuneratórios incidentes desde a data da realização do pré-pagamento  até a data de vencimento do respectivo Direito Creditório deixam de ser devidos à Classe.</a:t>
            </a:r>
          </a:p>
          <a:p>
            <a:r>
              <a:t> (vi) Riscos associados aos Devedores: os Direitos Creditórios a serem cedidos à  Classe serão descontados da remuneração do Devedor, através de desconto em f olha de  pagamento ou de benefício. Nesse sentido, na ocorrência de pré-pagamento, as parcelas  serão pagas antecipadamente e a Classe deverá utilizar tais montantes no pré-pagamento dos  Direitos Creditórios. Nesta hipótese, a Classe poderá não encontrar Direitos Creditórios  disponíveis para serem adquiridos pela Classe, o que poderá afetar a rentabilidade da Classe.</a:t>
            </a:r>
          </a:p>
          <a:p>
            <a:r>
              <a:t> (vii) Risco de Competição: o mercado de empréstimos experimentou grande  expansão no Brasil nos últimos anos. Nesse contexto, a Resolução CMN nº 4.292, alterada  pela Resolução nº 4.762, de 27 de novembro de 2019, dispõe que deve ser garantido às  pessoas naturais devedoras de operações de crédito (tais como as CCB) a possibilidade de  realizarem a portabilidade destas operações para outras instituições financeiras, inclusive nos  casos em que tenham sido objeto de cessão (tais como as realizadas à Classe). Nesse  cenário, é possível que os competidores do Endossante ofereçam condições e taxas mais  vantajosas para os empréstimos pessoais com consignação em f olha de pagamento ou de  benef ícios, o que pode causar a migração de clientes da Endossante para outras instituições  f inanceiras, gerando a liquidação antecipada de parte das CCB existentes e/ou redução no  número de Direitos Creditórios cedidos. Referida competição poderá af etar os resultados da  Classe, impactando negativamente os rendimentos dos Cotistas. Ainda, a portabilidade a um  Devedor pode acarretar no recebimento de valores inf eriores aos esperados pela Classe.</a:t>
            </a:r>
          </a:p>
          <a:p>
            <a:r>
              <a:t> (viii) Insuf iciência dos Critérios de Elegibilidade. Os Critérios de Elegibilidade têm a  f inalidade de selecionar os Direitos Creditórios passíveis de aquisição pela Classe. Não  obstante tais Critérios de Elegibilidade, a solvência dos Direitos Creditórios que compõem a  Carteira depende integralmente, mas não somente, da situação econômico-financeira dos  Devedores. Dessa f orma, a observância pelo GESTOR dos Critérios de Elegibilidade não  constitui garantia de adimplência dos Devedores.</a:t>
            </a:r>
          </a:p>
          <a:p>
            <a:r>
              <a:t> Os Endossantes não necessariamente garantem a solvência dos seus respectivos Devedores.</a:t>
            </a:r>
          </a:p>
          <a:p>
            <a:r>
              <a:t> O Endossante dos Direitos Creditórios não assumirá responsabilidade pelo seu pagamento ou  pela solvência dos respectivos Devedores. A Classe sofrerá o impacto do inadimplemento dos  Direitos Creditórios vencidos e não pagos pelos respectivos Devedores.</a:t>
            </a:r>
          </a:p>
          <a:p>
            <a:r>
              <a:t> (ix) Possibilidade de aquisição de Direitos Creditórios cedidos por Endossante  e/ou devidos por Devedores cujas demonstrações financeiras não sejam auditadas. A Classe,  desde que sejam respeitados os limites de concentração previstos neste Regulamento, poderá  manter a qualquer tempo em sua Carteira, Direitos Creditórios cedidos por Endossante e/ou  devidos por Devedores cujas demonstrações f inanceiras não sejam auditadas por Auditor  Independente registrado na CVM. Nesse sentido, não haverá verificação independente sobre  tais demonstrações f inanceiras que af irme se estas representam adequadamente, em todos  os aspectos relevantes, as respectivas posições patrimoniais e f inanceiras, os resultados de  suas operações, as mutações de seus respectivos patrimônios líquidos tampouco as origens  e aplicações de seus recursos.</a:t>
            </a:r>
          </a:p>
          <a:p>
            <a:r>
              <a:t>CNPJ 54871427000194 · Vencimento das cotas · Condição: Documentos atuais selecionados no inventário por categoria/escopo; a data documental isolada não comprova vigência jurídica.</a:t>
            </a:r>
          </a:p>
          <a:p>
            <a:r>
              <a:t>CNPJ 54871427000194 · Vencimento das cotas · Motivo: Cláusula primária localizada e citada, mas sua lista/condições extensas não admitem uma síntese literal curta confirmada. O trecho integral permanece nas fontes. A resposta da revisão anterior foi preservada no histórico, sem confirmação pelo documento atual.</a:t>
            </a:r>
          </a:p>
          <a:p>
            <a:r>
              <a:t>CNPJ 54871427000194 · Vencimento das cotas · Versão e prevalência: Documentos atuais selecionados no inventário por categoria/escopo; a data documental isolada não comprova vigência jurídica.</a:t>
            </a:r>
          </a:p>
          <a:p>
            <a:r>
              <a:t>CNPJ 54871427000194 · Vencimento das cotas · Resumo do histórico: {"count": 2, "dates": ["2024-04-19", "2024-04-28"], "document_count": 2, "sources": [{"document_id": "670691", "title": "Regulamento", "reference_date": "2024-04-28", "version": "1", "page": "7, 15", "url": "https://fnet.bmfbovespa.com.br/fnet/publico/visualizarDocumento?id=670691", "sha256": "bf16dd7f1a62d5cdbf2e2d54fef81783783f7310fbc99c3a8f00459bdf9d037b"}, {"document_id": "670689", "title": "Regulamento", "reference_date": "2024-04-19", "version": "1", "page": 30, "url": "https://fnet.bmfbovespa.com.br/fnet/publico/visualizarDocumento?id=670689", "sha256": "891bc9bc5d87bbc02ec139077a84d2702eb81ea02035fb71d24f5b8366b94a0b"}], "reference": {"path": "history/54871427000194.json", "criterion_id": "quota_maturity", "total_count": 2, "preview_count": 2, "full_text_deferred": true, "sha256": "35d7cd99be50c7287c9fb675cf4f2e736002315295a225a9efa79c8d9186d874"}}</a:t>
            </a:r>
          </a:p>
          <a:p>
            <a:r>
              <a:t>CNPJ 60010416000112 · Vencimento das cotas · Demonstrações Financeiras - Fusão, cisão e incorporação · ID 1298690 · 2026-05-08 · versão 1 · p. 30 · https://fnet.bmfbovespa.com.br/fnet/publico/visualizarDocumento?id=1298690</a:t>
            </a:r>
          </a:p>
          <a:p>
            <a:r>
              <a:t>CNPJ 60010416000112 · Vencimento das cotas · Excerto da fonte:</a:t>
            </a:r>
          </a:p>
          <a:p>
            <a:r>
              <a:t>Durante o período de investimento, a Administradora poderá deliberar por realizar novas  emissões de Cotas Seniores, sem a necessidade de aprovação em Assembleia Especial de  Cotistas ou alteração do Regulamento, limitadas ao montante máximo de R$ 1.000.000 (um  bilhão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seniores emitidas não sejam superiores aos  prazos de vencimento da primeira emissão.</a:t>
            </a:r>
          </a:p>
          <a:p>
            <a:r>
              <a:t>CNPJ 60010416000112 · Vencimento das cotas · Demonstrações Financeiras - Fusão, cisão e incorporação · ID 1298690 · 2026-05-08 · versão 1 · p. 30 · https://fnet.bmfbovespa.com.br/fnet/publico/visualizarDocumento?id=1298690</a:t>
            </a:r>
          </a:p>
          <a:p>
            <a:r>
              <a:t>CNPJ 60010416000112 · Vencimento das cotas · Excerto da fonte:</a:t>
            </a:r>
          </a:p>
          <a:p>
            <a:r>
              <a:t>Durante o período de investimento, a Administradora poderá deliberar por realizar novas  emissões de cotas subordinadas, sem a necessidade de aprovação em Assembleia Especial  de Cotistas ou alteração do Regulamento, limitadas ao montante máximo de R$ 50.000  (cinquenta milhões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subordinadas emitidas não sejam  superiores aos prazos de vencimento da primeira emissão.</a:t>
            </a:r>
          </a:p>
          <a:p>
            <a:r>
              <a:t>CNPJ 60010416000112 · Vencimento das cotas · Condição: Documentos atuais selecionados no inventário por categoria/escopo; a data documental isolada não comprova vigência jurídica.</a:t>
            </a:r>
          </a:p>
          <a:p>
            <a:r>
              <a:t>CNPJ 60010416000112 · Vencimento das cotas · Motivo: Cláusula primária localizada e citada, mas sua lista/condições extensas não admitem uma síntese literal curta confirmada. O trecho integral permanece nas fontes. A resposta da revisão anterior foi preservada no histórico, sem confirmação pelo documento atual.</a:t>
            </a:r>
          </a:p>
          <a:p>
            <a:r>
              <a:t>CNPJ 60010416000112 · Vencimento das cotas · Versão e prevalência: Documentos atuais selecionados no inventário por categoria/escopo; a data documental isolada não comprova vigência jurídica.</a:t>
            </a:r>
          </a:p>
          <a:p>
            <a:r>
              <a:t>CNPJ 60010416000112 · Vencimento das cotas · Resumo do histórico: {"count": 3, "dates": ["2025-03-20", "2025-10-09"], "document_count": 2, "sources": [{"document_id": "1051393", "title": "Regulamento", "reference_date": "2025-10-09", "version": "1", "page": "8, 48, 53", "url": "https://fnet.bmfbovespa.com.br/fnet/publico/visualizarDocumento?id=1051393", "sha256": "8469d613078ffd5a6c1d217885d8a397a16342c0b937ae4aa24b106505f233ae"}, {"document_id": "1051393", "title": "Regulamento", "reference_date": "2025-10-09", "version": "1", "page": 48, "clause": "2.1.2", "url": "https://fnet.bmfbovespa.com.br/fnet/publico/visualizarDocumento?id=1051393", "sha256": "8469d613078ffd5a6c1d217885d8a397a16342c0b937ae4aa24b106505f233ae"}, {"document_id": "993786", "title": "Regulamento", "reference_date": "2025-03-20", "version": "1", "page": 48, "clause": "2.1.2", "url": "https://fnet.bmfbovespa.com.br/fnet/publico/visualizarDocumento?id=993786", "sha256": "fd0fdd369a195510d81f81f505195a0b09e5f43522a990afa7d58c4f872921c8"}], "reference": {"path": "history/60010416000112.json", "criterion_id": "quota_maturity", "total_count": 3, "preview_count": 3, "full_text_deferred": true, "sha256": "8e2bd813f4c51cf01f6bfaad164bafe69d2bbb192f753eac92da3a01c2e63046"}}</a:t>
            </a:r>
          </a:p>
          <a:p>
            <a:r>
              <a:t>CNPJ 62696791000193 · Vencimento das cotas · Motivo: Não localizada uma cláusula material para este critério nos textos identificados e processados. A ausência de resultado não comprova inexistência da regra.</a:t>
            </a:r>
          </a:p>
          <a:p>
            <a:r>
              <a:t>CNPJ 55563624000109 · Vencimento das cotas · Motivo: Não localizada uma cláusula material para este critério nos textos identificados e processados. A ausência de resultado não comprova inexistência da regra.</a:t>
            </a:r>
          </a:p>
          <a:p>
            <a:r>
              <a:t>CNPJ 62552447000120 · Vencimento das cotas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Vencimento das cotas · Resumo do histórico: {"count": 1, "dates": ["2025-09-03"], "document_count": 1, "sources": [{"document_id": "988020", "title": "Instrumento Particular de Emissão de Cotas", "reference_date": "2025-09-03", "version": "1", "page": "5", "url": "https://fnet.bmfbovespa.com.br/fnet/publico/visualizarDocumento?id=988020", "sha256": "8ecc8a771bb9713d64e5fc2052c489664cb0433801a9280db68e5187d35bf7a5"}], "reference": {"path": "history/62552447000120.json", "criterion_id": "quota_maturity", "total_count": 1, "preview_count": 1, "full_text_deferred": true, "sha256": "d95db8c0613d67ee84118c734588665265ea6b02f86a0318d6a844cbe1d0f82f"}}</a:t>
            </a:r>
          </a:p>
          <a:p>
            <a:r>
              <a:t>CNPJ 63953620000165 · Vencimento das cotas · Motivo: Não localizada uma cláusula material para este critério nos textos identificados e processados. A ausência de resultado não comprova inexistência da regra.</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Garantias e operação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Garantias e constituição · Demonstrações Financeiras - Fusão, cisão e incorporação · ID 1219522 · 2026-02-02 · versão 1 · p. 21 · https://fnet.bmfbovespa.com.br/fnet/publico/visualizarDocumento?id=1219522</a:t>
            </a:r>
          </a:p>
          <a:p>
            <a:r>
              <a:t>CNPJ 54871427000194 · Garantias e constituição · Excerto da fonte:</a:t>
            </a:r>
          </a:p>
          <a:p>
            <a:r>
              <a:t>Em 02 de fevereiro de 2026, a Classe não possuía garantias reais ou fidejussórias, pela liquidação  dos direitos creditórios.</a:t>
            </a:r>
          </a:p>
          <a:p>
            <a:r>
              <a:t>CNPJ 54871427000194 · Garantias e constituição · Condição: Trechos do documento específico identificado com data mais recente; vigência jurídica não inferida.</a:t>
            </a:r>
          </a:p>
          <a:p>
            <a:r>
              <a:t>CNPJ 54871427000194 · Garantias e constituição · Versão e prevalência: Trechos do documento específico identificado com data mais recente; vigência jurídica não inferida.</a:t>
            </a:r>
          </a:p>
          <a:p>
            <a:r>
              <a:t>CNPJ 54871427000194 · Garantias e constituição · Resumo do histórico: {"count": 5, "dates": ["2024-12-31", "2025-01-01", "2025-12-31"], "document_count": 3, "sources": [{"document_id": "1151805", "title": "Demonstrações Financeiras", "reference_date": "2025-12-31", "version": "1", "page": 21, "url": "https://fnet.bmfbovespa.com.br/fnet/publico/visualizarDocumento?id=1151805", "sha256": "f1cea70b152968bf96ef9221b27225953cb20aeef487b2798db3c25e11b528d4"}, {"document_id": "869529", "title": "Demonstrações Financeiras", "reference_date": "2025-01-01", "version": "1", "page": 20, "url": "https://fnet.bmfbovespa.com.br/fnet/publico/visualizarDocumento?id=869529", "sha256": "9a93a9369ac8efdbc54ff8fcee3ccac3abf88edab4807b9323d3852450771b2a"}, {"document_id": "870070", "title": "Demonstrações Financeiras", "reference_date": "2024-12-31", "version": "1", "page": 20, "url": "https://fnet.bmfbovespa.com.br/fnet/publico/visualizarDocumento?id=870070", "sha256": "9a93a9369ac8efdbc54ff8fcee3ccac3abf88edab4807b9323d3852450771b2a"}], "reference": {"path": "history/54871427000194.json", "criterion_id": "guarantee", "total_count": 5, "preview_count": 3, "full_text_deferred": true, "sha256": "35d7cd99be50c7287c9fb675cf4f2e736002315295a225a9efa79c8d9186d874"}}</a:t>
            </a:r>
          </a:p>
          <a:p>
            <a:r>
              <a:t>CNPJ 60010416000112 · Garantias e constituição · Demonstrações Financeiras - Fusão, cisão e incorporação · ID 1298690 · 2026-05-08 · versão 1 · p. 19 · https://fnet.bmfbovespa.com.br/fnet/publico/visualizarDocumento?id=1298690</a:t>
            </a:r>
          </a:p>
          <a:p>
            <a:r>
              <a:t>CNPJ 60010416000112 · Garantias e constituição · Excerto da fonte:</a:t>
            </a:r>
          </a:p>
          <a:p>
            <a:r>
              <a:t>Em 08 de maio de 2026, a Classe não possuía garantias reais ou fidejussórias, pela liquidação  dos Direitos Creditórios.</a:t>
            </a:r>
          </a:p>
          <a:p>
            <a:r>
              <a:t>CNPJ 60010416000112 · Garantias e constituição · Condição: Trechos do documento específico identificado com data mais recente; vigência jurídica não inferida.</a:t>
            </a:r>
          </a:p>
          <a:p>
            <a:r>
              <a:t>CNPJ 60010416000112 · Garantias e constituição · Versão e prevalência: Trechos do documento específico identificado com data mais recente; vigência jurídica não inferida.</a:t>
            </a:r>
          </a:p>
          <a:p>
            <a:r>
              <a:t>CNPJ 60010416000112 · Garantias e constituição · Resumo do histórico: {"count": 4, "dates": ["2025-11-30", "2026-03-18", "2026-04-16"], "document_count": 3, "sources": [{"document_id": "1282181", "title": "Demonstrações Financeiras - Fusão, cisão e incorporação", "reference_date": "2026-04-16", "version": "1", "page": 20, "url": "https://fnet.bmfbovespa.com.br/fnet/publico/visualizarDocumento?id=1282181", "sha256": "b1c6566e43a00bcd00c8a7f30c77b7f86e351bd8e355bbea113f46d1dafda703"}, {"document_id": "1224477", "title": "Demonstrações Financeiras - Fusão, cisão e incorporação", "reference_date": "2026-03-18", "version": "1", "page": 20, "url": "https://fnet.bmfbovespa.com.br/fnet/publico/visualizarDocumento?id=1224477", "sha256": "0751bf0a75bc3b44c2748f5000226665c6ec6698a90c4dc6170b4e6c187759ae"}, {"document_id": "1126154", "title": "Demonstrações Financeiras", "reference_date": "2025-11-30", "version": "1", "page": 21, "url": "https://fnet.bmfbovespa.com.br/fnet/publico/visualizarDocumento?id=1126154", "sha256": "a01e7ccf88c548f12c95cba8526d7efbef6b585c112cd4668eca781c292090b0"}], "reference": {"path": "history/60010416000112.json", "criterion_id": "guarantee", "total_count": 4, "preview_count": 3, "full_text_deferred": true, "sha256": "8e2bd813f4c51cf01f6bfaad164bafe69d2bbb192f753eac92da3a01c2e63046"}}</a:t>
            </a:r>
          </a:p>
          <a:p>
            <a:r>
              <a:t>CNPJ 62696791000193 · Garantias e constituição · Regulamento · ID 1143317 · 20/03/2026 · versão Regulamento — referência 20/03/2026 · p. 11 · Anexo I, 4.7(iv) · https://fnet.bmfbovespa.com.br/fnet/publico/visualizarDocumento?id=1143317</a:t>
            </a:r>
          </a:p>
          <a:p>
            <a:r>
              <a:t>CNPJ 62696791000193 · Garantias e constituição · Excerto da fonte:</a:t>
            </a:r>
          </a:p>
          <a:p>
            <a:r>
              <a:t>(iv) sejam representados por direitos e/ou títulos representativos de crédito, com ou sem garantias reais ou pessoais a eles atreladas, incluindo, sem limitação, duplicatas, debêntures, contratos de locação e contratos mercantis de compra e venda de produtos e/ ou mercadorias perf ormados e/ou para entrega ou prestação f utura, bem como títulos ou certificados representativos desses contratos, decorrentes de operações nos segmentos f inanceiro, comercial, industrial, imobiliário, de hipotecas, de arrendamento mercantil e de prestação de serviços, observadas as vedações do item 4.28 abaixo deste Anexo. 4.7.2 Para f ins da verificação dos Critérios de Elegibilidade, será considerado o Patrimônio Líquido e o valor dos Direitos Creditórios do Agronegócio integrantes da carteira no Dia Útil imediatamente anterior à Data de Aquisição. 4.7.3 Na hipótese de eventuais Direitos Creditórios do Agronegócio elegíveis deixarem de atender a qualquer Critério de Elegibilidade após sua aquisição pela Classe, tal f ato não será entendido como um desenquadramento da carteira, tampouco haverá direito de regresso contra</a:t>
            </a:r>
          </a:p>
          <a:p>
            <a:r>
              <a:t>CNPJ 62696791000193 · Garantias e constituição · Regulamento · ID 1143317 · 20/03/2026 · versão Regulamento — referência 20/03/2026 · p. 14 · Anexo I, 4.24 · https://fnet.bmfbovespa.com.br/fnet/publico/visualizarDocumento?id=1143317</a:t>
            </a:r>
          </a:p>
          <a:p>
            <a:r>
              <a:t>CNPJ 62696791000193 · Garantias e constituição · Excerto da fonte:</a:t>
            </a:r>
          </a:p>
          <a:p>
            <a:r>
              <a:t>4.24 A Classe poderá adquirir imóveis rurais sobre os quais tenham sido constituídos ônus reais anteriormente ao seu ingresso no patrimônio da Classe. Ainda, posteriormente ao seu ingresso no patrimônio da Classe, poderá o Gestor, em nome da Classe, prestar fiança, aval, aceite ou coobrigar- se sob qualquer f orma, relativamente a operações relacionadas à carteira de ativos da Classe, bem como constituir ônus reais sobre imóveis rurais integrantes do patrimônio da Classe para garantir obrigações por ela assumidas. 4.25 O Administrador, conforme orientação do Gestor, poderá utilizar recursos da classe para recomprar suas próprias cotas, com a f inalidade exclusiva de cancelamento, seja por meio de programa de recompra ou por meio de Of erta Pública Voluntária de Aquisição d e suas próprias cotas (“OPAC”), observados os procedimentos eventualmente previstos nos manuais ou regras da B3, bem como o disposto no Art. 56 e seguintes do Anexo Normativo I da Resolução CVM 175. Participações do Agronegócio 4.26 As seguintes regras são aplicáveis aos investimentos em Participações do Agronegócio realizados pela Classe. 4.26.1 Deverão ser asseguradas à Classe (i) a participação no processo deci</a:t>
            </a:r>
          </a:p>
          <a:p>
            <a:r>
              <a:t>CNPJ 62696791000193 · Garantias e constituição · Regulamento · ID 1143317 · 20/03/2026 · versão Regulamento — referência 20/03/2026 · p. 48 · Complemento I, 11.6 · https://fnet.bmfbovespa.com.br/fnet/publico/visualizarDocumento?id=1143317</a:t>
            </a:r>
          </a:p>
          <a:p>
            <a:r>
              <a:t>CNPJ 62696791000193 · Garantias e constituição · Excerto da fonte:</a:t>
            </a:r>
          </a:p>
          <a:p>
            <a:r>
              <a:t>11.6. Ausência de garantia. As aplicações realizadas na Classe não contam com garantia do Cedente, do ADMINISTRADOR, do GESTOR, do CUSTODIANTE ou da Classe Garantidor de Créditos – FGC, de modo que é possível a perda total do capital investido pelos Cotistas ou mesmo a necessidade de os Cotistas realizarem aportes adicionais de recursos para a cobertura de eventuais prejuízos. 11.7. Limitação do gerenciamento de riscos. A realização de investimentos na Classe expõe o investidor a riscos a que a Classe está sujeita, os quais poderão acarretar perdas para os Cotistas. Não há qualquer garantia de completa eliminação da possibilidade de perdas para a Classe e para os Cotistas. Em condições adversas de mercado, esses sistemas de gerenciamento de riscos poderão ter sua ef iciência reduzida. A Classe também poderá estar sujeita a outros riscos advindos de motivos alheios ou exógenos ao controle do Administrador, tais como moratória, inadimplemento de pagamentos, mudança nas regras aplicáveis aos Ativos-Alvo e Ativos Financeiros de Liquidez, alteração na política monetária, alteração da política fiscal aplicável à Classe, os quais poderão causar preju</a:t>
            </a:r>
          </a:p>
          <a:p>
            <a:r>
              <a:t>CNPJ 62696791000193 · Garantias e constituição · Versão e prevalência: Leitura específica das cláusulas indicadas; condições e conflitos preservados. Seleção documental atual não comprova vigência jurídica por data isolada.</a:t>
            </a:r>
          </a:p>
          <a:p>
            <a:r>
              <a:t>CNPJ 55563624000109 · Garantias e constituição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Garantias e constituição · Resumo do histórico: {"count": 1, "dates": ["2026-04-30"], "document_count": 1, "sources": [{"document_id": "1192614", "title": "Regulamento", "reference_date": "2026-04-30", "version": "1", "page": "12, 14", "url": "https://fnet.bmfbovespa.com.br/fnet/publico/visualizarDocumento?id=1192614", "sha256": "f56e63ace0acde41d2f47fb48f1ac7f3f7df5e2d32de092d7c5e075a52516632"}], "reference": {"path": "history/55563624000109.json", "criterion_id": "guarantee", "total_count": 1, "preview_count": 1, "full_text_deferred": true, "sha256": "7835d573fb58a3c19adf5b8ecc2aee2bdbb9a88f7a0c0209b5f262b64c7522e3"}}</a:t>
            </a:r>
          </a:p>
          <a:p>
            <a:r>
              <a:t>CNPJ 62552447000120 · Garantias e constituição · Regulamento · ID 1200623 · 21/05/2026 · versão Consolidado21/05/2026 aprovado pelo ato1200625 · p. 8 · AnexoICondições(ii)(c) · https://fnet.bmfbovespa.com.br/fnet/publico/visualizarDocumento?id=1200623</a:t>
            </a:r>
          </a:p>
          <a:p>
            <a:r>
              <a:t>CNPJ 62552447000120 · Garantias e constituição · Excerto da fonte:</a:t>
            </a:r>
          </a:p>
          <a:p>
            <a:r>
              <a:t>garantias prestadas pelo Endossante ou pelo Agente de Retenção/Cobrança com relação a esse Direito Creditório deverão ser verdadeiras, nos termos deste Contrato e do respectivo Termo de Endosso; (e) tenha sido realizado o tratamento dos dados pessoais de pessoa natural observando as leis e regulamentações que regem a privacidade e a proteção de dados pess</a:t>
            </a:r>
          </a:p>
          <a:p>
            <a:r>
              <a:t>CNPJ 62552447000120 · Garantias e constituição · Regulamento · ID 1200623 · 21/05/2026 · versão Consolidado21/05/2026 aprovado pelo ato1200625 · p. 12 · AnexoI4.3.2 · https://fnet.bmfbovespa.com.br/fnet/publico/visualizarDocumento?id=1200623</a:t>
            </a:r>
          </a:p>
          <a:p>
            <a:r>
              <a:t>CNPJ 62552447000120 · Garantias e constituição · Excerto da fonte:</a:t>
            </a:r>
          </a:p>
          <a:p>
            <a:r>
              <a:t>alienação/cessão fiduciária; e (b) solicitar bloqueio de parte do saldo da conta vinculada do Devedor. Emitida a CCB em favor do Endossante e formalizada a alienação/cessão f iduciária pelo Devedor, o Endossante endossará eletronicamente a CCB em preto à Classe, que receberá todos os valores dela decorrentes (i.e., os Direitos Creditórios FGTS), após concluídas as f ormalidades de processamento pela CEF, na Conta da Classe. Caso a alienação/cessão f iduciária seja acionada nos termos da CCB, os recursos onerados serão liberados em favor do Endossante no</a:t>
            </a:r>
          </a:p>
          <a:p>
            <a:r>
              <a:t>CNPJ 62552447000120 · Garantias e constituição · Regulamento · ID 1200623 · 21/05/2026 · versão Consolidado21/05/2026 aprovado pelo ato1200625 · p. 6 · AnexoIRefinanciamentoLivre(d) · https://fnet.bmfbovespa.com.br/fnet/publico/visualizarDocumento?id=1200623</a:t>
            </a:r>
          </a:p>
          <a:p>
            <a:r>
              <a:t>CNPJ 62552447000120 · Garantias e constituição · Excerto da fonte:</a:t>
            </a:r>
          </a:p>
          <a:p>
            <a:r>
              <a:t>Refinanciamento Livre”, na forma de CCBs originadas no âmbito de um refinanciamento, de acordo com a política de cobrança vigente, de Direitos Creditórios Consignado Privado e de Direitos Creditórios FGTS, que não contem com o lastro de Consignação ou de cessão f iduciária do Saque-Aniversário, respectivamente; e (ii) “Ativos Financei</a:t>
            </a:r>
          </a:p>
          <a:p>
            <a:r>
              <a:t>CNPJ 62552447000120 · Garantias e constituição · Regulamento · ID 1200623 · 21/05/2026 · versão Consolidado21/05/2026 aprovado pelo ato1200625 · p. 16 · AnexoI4.25 · https://fnet.bmfbovespa.com.br/fnet/publico/visualizarDocumento?id=1200623</a:t>
            </a:r>
          </a:p>
          <a:p>
            <a:r>
              <a:t>CNPJ 62552447000120 · Garantias e constituição · Excerto da fonte:</a:t>
            </a:r>
          </a:p>
          <a:p>
            <a:r>
              <a:t>4.25 As aplicações na Classe não contam com garantia: (i) do Administrador; (ii) do Gestor; (iii) do Endossante; (iv) do Custodiante; (v) dos demais prestadores de serviço da Classe; (vii) de qualquer mecanismo de seguro; e/ou (viii) do FGC. CAPÍTULO 5 – CARACTERÍSTICAS E CONDIÇÕES DAS COTAS 5.1 A Classe não possui Subclasse. As características, os direitos e as condições de emissão, distribuição, subscrição, integralização, remuneração, Amortização e resgate das Cotas estão descritos neste Capítulo e no Capítulo 6. 5.1.1 Não obstante, por deliberação conjunta dos Prestadores de Serviços Essenciais e me</a:t>
            </a:r>
          </a:p>
          <a:p>
            <a:r>
              <a:t>CNPJ 62552447000120 · Garantias e constituição · Versão e prevalência: Leitura específica das cláusulas indicadas; condições e conflitos preservados. Seleção documental atual não comprova vigência jurídica por data isolada.</a:t>
            </a:r>
          </a:p>
          <a:p>
            <a:r>
              <a:t>CNPJ 63953620000165 · Garantias e constituição · Demonstrações Financeiras - Fusão, cisão e incorporação · ID 1327859 · 2026-05-15 · versão 1 · p. 21 · https://fnet.bmfbovespa.com.br/fnet/publico/visualizarDocumento?id=1327859</a:t>
            </a:r>
          </a:p>
          <a:p>
            <a:r>
              <a:t>CNPJ 63953620000165 · Garantias e constituição · Excerto da fonte:</a:t>
            </a:r>
          </a:p>
          <a:p>
            <a:r>
              <a:t>i) Alienação de direitos creditórios  No período em findo em 15 de maio de 2026, não houve recompra de direitos creditórios  inadimplentes.</a:t>
            </a:r>
          </a:p>
          <a:p>
            <a:r>
              <a:t>j) Garantias  Em 15 de maio de 2026, a Classe não possuía garantias reais ou fidejussórias, pela liquidação  dos direitos creditórios.</a:t>
            </a:r>
          </a:p>
          <a:p>
            <a:r>
              <a:t>7. Riscos  Não obstante o emprego pela Administradora e pela Gestora de plena diligência e da boa prática  de administração e gestão da Classe, da estrita observância da política de investimento, das  regras legais e regulamentares aplicáveis à sua administração e gestão, a Classe estará sujeita  aos riscos inerentes aos bens e direitos integrantes de sua Carteira, além dos fatores de risco  identificados abaixo.</a:t>
            </a:r>
          </a:p>
          <a:p>
            <a:r>
              <a:t> Risco de Crédito</a:t>
            </a:r>
          </a:p>
          <a:p>
            <a:r>
              <a:t> (i) Riscos associados aos Devedores: os direitos creditórios a serem endossados à  classe serão descontados pela Dataprev da remuneração do devedor. A capacidade de  pagamento do devedor poderá ser afetada se, por exemplo, o devedor tiver o seu  contrato de emprego rescindido ou em virtude de decisão judicial, o devedor for obrigado  a pagar alimentos, que têm prioridade sobre o empréstimo para fins de desconto na folha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afetar a rentabilidade da classe.</a:t>
            </a:r>
          </a:p>
          <a:p>
            <a:r>
              <a:t>CNPJ 63953620000165 · Garantias e constituição · Condição: Trechos do documento específico identificado com data mais recente; vigência jurídica não inferida.</a:t>
            </a:r>
          </a:p>
          <a:p>
            <a:r>
              <a:t>CNPJ 63953620000165 · Garantias e constituição · Versão e prevalência: Trechos do documento específico identificado com data mais recente; vigência jurídica não inferida.</a:t>
            </a:r>
          </a:p>
          <a:p>
            <a:r>
              <a:t>CNPJ 63953620000165 · Garantias e constituição · Resumo do histórico: {"count": 7, "dates": ["2026-04-16", "2026-04-28", "2026-05-08"], "document_count": 3, "sources": [{"document_id": "1298691", "title": "Demonstrações Financeiras - Fusão, cisão e incorporação", "reference_date": "2026-05-08", "version": "1", "page": 21, "url": "https://fnet.bmfbovespa.com.br/fnet/publico/visualizarDocumento?id=1298691", "sha256": "58c570d9b8d4d265330d3db3ea81c435b8e44a6dab4002aa37790652a1ee9819"}, {"document_id": "1282180", "title": "Demonstrações Financeiras - Fusão, cisão e incorporação", "reference_date": "2026-04-28", "version": "1", "page": 21, "url": "https://fnet.bmfbovespa.com.br/fnet/publico/visualizarDocumento?id=1282180", "sha256": "afaaa0e6809be4385e5bdb6c911aac582032c5bdbac3d7750234bf9eaf00438a"}, {"document_id": "1282179", "title": "Demonstrações Financeiras - Fusão, cisão e incorporação", "reference_date": "2026-04-16", "version": "1", "page": 21, "url": "https://fnet.bmfbovespa.com.br/fnet/publico/visualizarDocumento?id=1282179", "sha256": "beb67afbcd64169019477673fd3b7c1edbfabbd9db07379388d8cdd5d3fc9395"}], "reference": {"path": "history/63953620000165.json", "criterion_id": "guarantee", "total_count": 7, "preview_count": 3, "full_text_deferred": true, "sha256": "a7b89077f5e21098c2d601c303faabc3ff6b9729f89d8afecdc60fe1404720c1"}}</a:t>
            </a:r>
          </a:p>
          <a:p>
            <a:r>
              <a:t>CNPJ 54871427000194 · Registro, execução e recuperação · Motivo: Não localizada uma cláusula material para este critério nos textos identificados e processados. A ausência de resultado não comprova inexistência da regra.</a:t>
            </a:r>
          </a:p>
          <a:p>
            <a:r>
              <a:t>CNPJ 60010416000112 · Registro, execução e recuperação · Motivo: Não localizada uma cláusula material para este critério nos textos identificados e processados. A ausência de resultado não comprova inexistência da regra.</a:t>
            </a:r>
          </a:p>
          <a:p>
            <a:r>
              <a:t>CNPJ 62696791000193 · Registro, execução e recuperação · Regulamento · ID 1143317 · 2026-03-20 · versão 1 · p. 45 · 8.7 · https://fnet.bmfbovespa.com.br/fnet/publico/visualizarDocumento?id=1143317</a:t>
            </a:r>
          </a:p>
          <a:p>
            <a:r>
              <a:t>CNPJ 62696791000193 · Registro, execução e recuperação · Excerto da fonte:</a:t>
            </a:r>
          </a:p>
          <a:p>
            <a:r>
              <a:t>8.7. Risco de Execução das Garantias Atreladas aos CRIs. O investimento em CRI inclui uma série  de riscos, dentre estes, o risco de inadimplemento e consequente execução das garantias  outorgadas à respectiva operação e os riscos inerentes à eventual existência de bens imóveis  na composição da carteira da Classe, podendo, nesta hipótese, a rentabilidade da Classe ser  af etada. Em um eventual processo de execução das garantias dos CRI, poderá haver a  necessidade de contratação de consultores, dentre outros custos, que deverão ser suportados  pela Classe, na qualidade de investidor dos CRI. Adicionalmente, a garantia outorgada em  f avor dos CRI pode não ter valor suficiente para suportar as obrigações financeiras atreladas  a tal CRI. Desta f orma, uma série de eventos relacionados à execução de garantias dos CRI  poderá afetar negativamente o valor das Cotas e a rentabilidade do investimento na Classe.</a:t>
            </a:r>
          </a:p>
          <a:p>
            <a:r>
              <a:t>9. Riscos relativos às Participações do Agronegócio</a:t>
            </a:r>
          </a:p>
          <a:p>
            <a:r>
              <a:t>CNPJ 62696791000193 · Registro, execução e recuperação · Condição: Documentos atuais selecionados no inventário por categoria/escopo; a data documental isolada não comprova vigência jurídica.</a:t>
            </a:r>
          </a:p>
          <a:p>
            <a:r>
              <a:t>CNPJ 62696791000193 · Registro, execução e recuperação · Motivo: Cláusula primária localizada e citada, mas sua lista/condições extensas não admitem uma síntese literal curta confirmada. O trecho integral permanece nas fontes.</a:t>
            </a:r>
          </a:p>
          <a:p>
            <a:r>
              <a:t>CNPJ 62696791000193 · Registro, execução e recuperação · Versão e prevalência: Documentos atuais selecionados no inventário por categoria/escopo; a data documental isolada não comprova vigência jurídica.</a:t>
            </a:r>
          </a:p>
          <a:p>
            <a:r>
              <a:t>CNPJ 55563624000109 · Registro, execução e recuperação · Motivo: Não localizada uma cláusula material para este critério nos textos identificados e processados. A ausência de resultado não comprova inexistência da regra.</a:t>
            </a:r>
          </a:p>
          <a:p>
            <a:r>
              <a:t>CNPJ 62552447000120 · Registro, execução e recuperação · Motivo: Não localizada uma cláusula material para este critério nos textos identificados e processados. A ausência de resultado não comprova inexistência da regra.</a:t>
            </a:r>
          </a:p>
          <a:p>
            <a:r>
              <a:t>CNPJ 63953620000165 · Registro, execução e recuperação · Motivo: Não localizada uma cláusula material para este critério nos textos identificados e processados. A ausência de resultado não comprova inexistência da regra.</a:t>
            </a:r>
          </a:p>
          <a:p>
            <a:r>
              <a:t>CNPJ 54871427000194 · Cobrança e servicing · Regulamento · ID 670691 · 28/04/2024 · versão Regulamento — referência 28/04/2024 · p. 44 · Complemento 2, Régua de Cobrança, Desconto e Comissão · https://fnet.bmfbovespa.com.br/fnet/publico/visualizarDocumento?id=670691</a:t>
            </a:r>
          </a:p>
          <a:p>
            <a:r>
              <a:t>CNPJ 54871427000194 · Cobrança e servicing · Excerto da fonte:</a:t>
            </a:r>
          </a:p>
          <a:p>
            <a:r>
              <a:t>Régua de Cobrança A partir da comunicação da desaverbação do a partir de 31 dias a partir de 60 dias contrato - Notificação (canais digitais) - Negativação SERASA - PROTESTO Repescagem diária na - Cobrança terceirizada - Repescagem diária na conta corrente - Repescagem diária na conta corrente conta corrente DESCONTO Normal Atraso Multa e Mora Principal 15 a 90 0% 0% 91 a 180 100% 0% 181 a 270 100% 20% 271 a 360 100% 30% Acima de 360 100% 50% COMISSÃO Faixa de Atraso % comissão De 15 a 90 dias 12% De 90 a 180 dias 15% De 181 a 270 dias 20%</a:t>
            </a:r>
          </a:p>
          <a:p>
            <a:r>
              <a:t>CNPJ 54871427000194 · Cobrança e servicing · Condição: A tabela de comissões se refere à cobrança/recuperação por faixa de atraso; a remuneração geral do agente está remetida ao contrato na cláusula 13.7.</a:t>
            </a:r>
          </a:p>
          <a:p>
            <a:r>
              <a:t>CNPJ 54871427000194 · Cobrança e servicing · Versão e prevalência: Leitura específica das cláusulas indicadas; condições e conflitos preservados. Seleção documental atual não comprova vigência jurídica por data isolada.</a:t>
            </a:r>
          </a:p>
          <a:p>
            <a:r>
              <a:t>CNPJ 60010416000112 · Cobrança e servicing · Regulamento · ID 1051393 · 2025-10-09 · versão 1 · p. 33 · 14.2.5 · https://fnet.bmfbovespa.com.br/fnet/publico/visualizarDocumento?id=1051393</a:t>
            </a:r>
          </a:p>
          <a:p>
            <a:r>
              <a:t>CNPJ 60010416000112 · Cobrança e servicing · Excerto da fonte:</a:t>
            </a:r>
          </a:p>
          <a:p>
            <a:r>
              <a:t>14.2.5 O Agente de Retenção/Cobrança poderá realizar a cobrança do Direitos Creditórios de forma ativa  caso seja verif icado, pelo Agente de Retenção/Cobrança que o Empregador não ef etuou a  Escrituração ou em caso de perda do vínculo empregatício do Devedor com o Empregador. A  cobrança ativa será mantida até que a Escrituração seja realizada e/ou até que o Devedor retome  o vínculo empregatício, observado o disposto abaixo:</a:t>
            </a:r>
          </a:p>
          <a:p>
            <a:r>
              <a:t> (i) As medidas adotadas pelo Agente de Retenção/Cobrança deverão observar a política  de cobrança adotada pelo Custodiante; e</a:t>
            </a:r>
          </a:p>
          <a:p>
            <a:r>
              <a:t> (ii) Uma vez retomado o vínculo empregatício, o Agente de Retenção/Cobrança deverá aditar  a CCB e/ou realizar o Processo de Reinicialização (conforme detalhado no Contrato de  Endosso).</a:t>
            </a:r>
          </a:p>
          <a:p>
            <a:r>
              <a:t>CAPÍTULO 15 – FATORES DE RISCO</a:t>
            </a:r>
          </a:p>
          <a:p>
            <a:r>
              <a:t>CNPJ 60010416000112 · Cobrança e servicing · Condição: Documentos atuais selecionados no inventário por categoria/escopo; a data documental isolada não comprova vigência jurídica.</a:t>
            </a:r>
          </a:p>
          <a:p>
            <a:r>
              <a:t>CNPJ 60010416000112 · Cobrança e servicing · Versão e prevalência: Documentos atuais selecionados no inventário por categoria/escopo; a data documental isolada não comprova vigência jurídica.</a:t>
            </a:r>
          </a:p>
          <a:p>
            <a:r>
              <a:t>CNPJ 60010416000112 · Cobrança e servicing · Resumo do histórico: {"count": 1, "dates": ["2025-03-20"], "document_count": 1, "sources": [{"document_id": "993786", "title": "Regulamento", "reference_date": "2025-03-20", "version": "1", "page": 33, "clause": "14.2.5", "url": "https://fnet.bmfbovespa.com.br/fnet/publico/visualizarDocumento?id=993786", "sha256": "fd0fdd369a195510d81f81f505195a0b09e5f43522a990afa7d58c4f872921c8"}], "reference": {"path": "history/60010416000112.json", "criterion_id": "servicing", "total_count": 1, "preview_count": 1, "full_text_deferred": true, "sha256": "8e2bd813f4c51cf01f6bfaad164bafe69d2bbb192f753eac92da3a01c2e63046"}}</a:t>
            </a:r>
          </a:p>
          <a:p>
            <a:r>
              <a:t>CNPJ 62696791000193 · Cobrança e servicing · Regulamento · ID 1143317 · 2026-03-20 · versão 1 · p. 43 · 7.7 · https://fnet.bmfbovespa.com.br/fnet/publico/visualizarDocumento?id=1143317</a:t>
            </a:r>
          </a:p>
          <a:p>
            <a:r>
              <a:t>CNPJ 62696791000193 · Cobrança e servicing · Excerto da fonte:</a:t>
            </a:r>
          </a:p>
          <a:p>
            <a:r>
              <a:t>7.7. Falhas de Cobrança. A cobrança dos Direitos Creditórios do Agronegócio Inadimplidos de  titularidade da Classe depende da atuação diligente do agente de cobrança. Qualquer f alha  de procedimento ou ineficiência do agente de cobrança poderá acarretar menor recebimento  dos recursos devidos pelos Devedores, levando à queda da rentabilidade da Classe.</a:t>
            </a:r>
          </a:p>
          <a:p>
            <a:r>
              <a:t> Adicionalmente, nada garante que a cobrança judicial dos Direitos Creditórios do Agronegócio  Inadimplidos levará à recuperação total dos Direitos Creditórios do Agronegócio Inadimplidos,  o que poderá implicar perdas patrimoniais à Classe e aos Cotistas.</a:t>
            </a:r>
          </a:p>
          <a:p>
            <a:r>
              <a:t>CNPJ 62696791000193 · Cobrança e servicing · Regulamento · ID 1143317 · 2026-03-20 · versão 1 · p. 9 · 3.2 · https://fnet.bmfbovespa.com.br/fnet/publico/visualizarDocumento?id=1143317</a:t>
            </a:r>
          </a:p>
          <a:p>
            <a:r>
              <a:t>CNPJ 62696791000193 · Cobrança e servicing · Excerto da fonte:</a:t>
            </a:r>
          </a:p>
          <a:p>
            <a:r>
              <a:t>3.2 Sem prejuízo de outras despesas que venham a ser aprovadas em Assembleia Especial, são Encargos  da Classe:</a:t>
            </a:r>
          </a:p>
          <a:p>
            <a:r>
              <a:t> (i) despesas com consultoria especializada;</a:t>
            </a:r>
          </a:p>
          <a:p>
            <a:r>
              <a:t> (ii) despesas com agente de cobrança.</a:t>
            </a:r>
          </a:p>
          <a:p>
            <a:r>
              <a:t>CNPJ 62696791000193 · Cobrança e servicing · Condição: Documentos atuais selecionados no inventário por categoria/escopo; a data documental isolada não comprova vigência jurídica.</a:t>
            </a:r>
          </a:p>
          <a:p>
            <a:r>
              <a:t>CNPJ 62696791000193 · Cobrança e servicing · Versão e prevalência: Documentos atuais selecionados no inventário por categoria/escopo; a data documental isolada não comprova vigência jurídica.</a:t>
            </a:r>
          </a:p>
          <a:p>
            <a:r>
              <a:t>CNPJ 55563624000109 · Cobrança e servicing · Regulamento · ID 1192614 · 2026-04-30 · versão 1 · p. 11 · https://fnet.bmfbovespa.com.br/fnet/publico/visualizarDocumento?id=1192614</a:t>
            </a:r>
          </a:p>
          <a:p>
            <a:r>
              <a:t>CNPJ 55563624000109 · Cobrança e servicing · Excerto da fonte:</a:t>
            </a:r>
          </a:p>
          <a:p>
            <a:r>
              <a:t>(vi) Emolumentos e comissões pagas por operações da Carteira da Classe;</a:t>
            </a:r>
          </a:p>
          <a:p>
            <a:r>
              <a:t> (vii) Despesas com a manutenção de ativos cuja propriedade decorra da execução de garantia ou de acordo  com o respectivo devedor;</a:t>
            </a:r>
          </a:p>
          <a:p>
            <a:r>
              <a:t> (viii) Honorários de advogados, custas e despesas processuais correlatas incorridos em defesa dos interesses  do FUNDO ou da Classe, em juízo ou fora dele, inclusive o valor da condenação imputada, se for o caso;</a:t>
            </a:r>
          </a:p>
          <a:p>
            <a:r>
              <a:t> (ix) Gastos derivados da celebração de contratos de seguro sobre os ativos integrantes da Carteira da Classe,  assim como a parcela de prejuízos da Carteira não coberta por apólices de seguro, salvo se decorrente  diretamente de culpa ou dolo dos prestadores de serviços da Classe no exercício de suas respectivas  funções;</a:t>
            </a:r>
          </a:p>
          <a:p>
            <a:r>
              <a:t> (x) Despesas relacionadas ao exercício do direito de voto decorrente dos ativos integrantes da Carteira;</a:t>
            </a:r>
          </a:p>
          <a:p>
            <a:r>
              <a:t> (xi) Despesas com a realização da Assembleia de Cotistas;</a:t>
            </a:r>
          </a:p>
          <a:p>
            <a:r>
              <a:t> (xii) Despesas inerentes à constituição, à fusão, à incorporação, à cisão, à transformação ou à liquidação da  Classe;</a:t>
            </a:r>
          </a:p>
          <a:p>
            <a:r>
              <a:t> (xiii) Despesas com a liquidação, o registro e a custódia de operações com os ativos integrantes da Carteira;</a:t>
            </a:r>
          </a:p>
          <a:p>
            <a:r>
              <a:t> (xiv) Despesas com o fechamento de câmbio, vinculadas às operações da Carteira da Classe;</a:t>
            </a:r>
          </a:p>
          <a:p>
            <a:r>
              <a:t> (xv) Despesas inerentes à distribuição primária das Cotas e à admissão das Cotas à negociação em mercado  organizado;</a:t>
            </a:r>
          </a:p>
          <a:p>
            <a:r>
              <a:t> (xvi) Taxa de Administração e a Taxa de Gestão;</a:t>
            </a:r>
          </a:p>
          <a:p>
            <a:r>
              <a:t> (xvii) Despesas com a contratação de consultoria especializada, conforme o caso;</a:t>
            </a:r>
          </a:p>
          <a:p>
            <a:r>
              <a:t> (xviii) Despesas com a contratação de agente de cobrança, conforme o caso;</a:t>
            </a:r>
          </a:p>
          <a:p>
            <a:r>
              <a:t> (xix) Despesas decorrentes de empréstimos contraídos em nome da Classe, nos termos da Resolução CVM  175 e deste Anexo;</a:t>
            </a:r>
          </a:p>
          <a:p>
            <a:r>
              <a:t> (xx) Taxa mínima de custódia, se houver; e</a:t>
            </a:r>
          </a:p>
          <a:p>
            <a:r>
              <a:t> (xxi) Montantes devidos a fundos investidores, na hipótese de remuneração com base na taxa de  administração, performance ou gestão, observado o disposto no art. 99 da parte geral da Resolução  CVM 175.</a:t>
            </a:r>
          </a:p>
          <a:p>
            <a:r>
              <a:t>CNPJ 55563624000109 · Cobrança e servicing · Condição: Documentos atuais selecionados no inventário por categoria/escopo; a data documental isolada não comprova vigência jurídica.</a:t>
            </a:r>
          </a:p>
          <a:p>
            <a:r>
              <a:t>CNPJ 55563624000109 · Cobrança e servicing · Motivo: Cláusula primária localizada e citada, mas sua lista/condições extensas não admitem uma síntese literal curta confirmada. O trecho integral permanece nas fontes.</a:t>
            </a:r>
          </a:p>
          <a:p>
            <a:r>
              <a:t>CNPJ 55563624000109 · Cobrança e servicing · Versão e prevalência: Documentos atuais selecionados no inventário por categoria/escopo; a data documental isolada não comprova vigência jurídica.</a:t>
            </a:r>
          </a:p>
          <a:p>
            <a:r>
              <a:t>CNPJ 62552447000120 · Cobrança e servicing · Regulamento · ID 1200623 · 2026-05-21 · versão 1 · p. 6 · https://fnet.bmfbovespa.com.br/fnet/publico/visualizarDocumento?id=1200623</a:t>
            </a:r>
          </a:p>
          <a:p>
            <a:r>
              <a:t>CNPJ 62552447000120 · Cobrança e servicing · Excerto da fonte:</a:t>
            </a:r>
          </a:p>
          <a:p>
            <a:r>
              <a:t>integrantes do conglomerado econômico de instituições  f inanceiras classificadas como S1 pelo Banco Central do  Brasil (“BACEN” e “Instituições Financeiras S1”,  respectivamente), desde que não representem títulos de  emissão ou coobrigação de instituições financeiras, bem  como cotas de f undos de investimento que invistam  preponderantemente nestes direitos, títulos e/ou valores  mobiliários; e</a:t>
            </a:r>
          </a:p>
          <a:p>
            <a:r>
              <a:t> (d) “Direitos Creditórios Refinanciamento Livre”, na forma  de CCBs originadas no âmbito de um refinanciamento, de  acordo com a política de cobrança vigente, de Direitos  Creditórios Consignado Privado e de Direitos Creditórios  FGTS, que não contem com o lastro de Consignação ou  de cessão f iduciária do Saque-Aniversário,  respectivamente; e</a:t>
            </a:r>
          </a:p>
          <a:p>
            <a:r>
              <a:t> (ii) “Ativos Financeiros”, assim entendidos como, em conjunto:</a:t>
            </a:r>
          </a:p>
          <a:p>
            <a:r>
              <a:t> (a) moeda corrente nacional;</a:t>
            </a:r>
          </a:p>
          <a:p>
            <a:r>
              <a:t> (b) títulos públicos f ederais;</a:t>
            </a:r>
          </a:p>
          <a:p>
            <a:r>
              <a:t> (c) ativos f inanceiros de renda f ixa de emissão ou  coobrigação de Instituições Financeiras S1;</a:t>
            </a:r>
          </a:p>
          <a:p>
            <a:r>
              <a:t> (d) operações compromissadas, desde que lastreadas nos  títulos mencionados nas alíneas (b) e (c) acima; e</a:t>
            </a:r>
          </a:p>
          <a:p>
            <a:r>
              <a:t> (e) cotas do BTG Pactual Tesouro Selic Fundo de  Investimento Renda Fixa Ref erenciado DI, inscrito no  CNPJ sob o nº 09.215.250/0001-13;</a:t>
            </a:r>
          </a:p>
          <a:p>
            <a:r>
              <a:t> observados todos os limites de composição e diversificação da carteira da  Classe (“Carteira”), estabelecidos neste Regulamento e na  regulamentação aplicável.</a:t>
            </a:r>
          </a:p>
          <a:p>
            <a:r>
              <a:t> O objetivo da Classe não representa, sob qualquer hipótese, promessa,  garantia ou sugestão da Classe ou de seus Prestadores de Serviços  Essenciais quanto à segurança, rentabilidade e liquidez dos títulos  componentes de sua Carteira.</a:t>
            </a:r>
          </a:p>
          <a:p>
            <a:r>
              <a:t>CNPJ 62552447000120 · Cobrança e servicing · Regulamento · ID 1200623 · 2026-05-21 · versão 1 · p. 7 · https://fnet.bmfbovespa.com.br/fnet/publico/visualizarDocumento?id=1200623</a:t>
            </a:r>
          </a:p>
          <a:p>
            <a:r>
              <a:t>CNPJ 62552447000120 · Cobrança e servicing · Excerto da fonte:</a:t>
            </a:r>
          </a:p>
          <a:p>
            <a:r>
              <a:t>(c) atendam, pro forma, na Data de Aquisição, aos  limites de concentração definidos no Capítulo 4 deste  Anexo I;</a:t>
            </a:r>
          </a:p>
          <a:p>
            <a:r>
              <a:t> (d) não haver disposição legal ou regulamentar  aprovada, ou ordem judicial ou administrativa  emitida, que tenha como objetivo impedir ou impor  limites ou exigências adicionais para o endosso de  Direitos Creditórios decorrentes de transações  dedutíveis da f olha de pagamento a f undos de  investimento;</a:t>
            </a:r>
          </a:p>
          <a:p>
            <a:r>
              <a:t> (e) atendam à Política de Crédito e, conforme aplicável,  à Política de Cobrança; e</a:t>
            </a:r>
          </a:p>
          <a:p>
            <a:r>
              <a:t>CNPJ 62552447000120 · Cobrança e servicing · Regulamento · ID 1200623 · 2026-05-21 · versão 1 · p. 3 · 2.1.2 · https://fnet.bmfbovespa.com.br/fnet/publico/visualizarDocumento?id=1200623</a:t>
            </a:r>
          </a:p>
          <a:p>
            <a:r>
              <a:t>CNPJ 62552447000120 · Cobrança e servicing · Excerto da fonte:</a:t>
            </a:r>
          </a:p>
          <a:p>
            <a:r>
              <a:t>2.1.2 Não obstante as atribuições previstas neste Regulamento e na regulamentação aplicável, cabe  ao Gestor praticar os atos necessários à gestão da Carteira. Assim, em linha com o art. 85 da  Parte Geral da Resolução CVM 175 e com o art. 32 do Anexo Normativo II, o Gestor pode  contratar, em nome do Fundo e/ou da Classe, os seguintes serviços: (a) intermediação de  operações para a Carteira; (b) distribuição de Cotas; (c) consultoria de investimentos; (d)  classificação de risco por agência classificadora de risco; (e) cogestão da Carteira; (f) formador  de mercado; e, eventualmente, (g) consultoria especializada; (h) agente de cobrança, e (i)  outros serviços em benef ício do Fundo ou da classe.</a:t>
            </a:r>
          </a:p>
          <a:p>
            <a:r>
              <a:t>CNPJ 62552447000120 · Cobrança e servicing · Condição: Documentos atuais selecionados no inventário por categoria/escopo; a data documental isolada não comprova vigência jurídica.</a:t>
            </a:r>
          </a:p>
          <a:p>
            <a:r>
              <a:t>CNPJ 62552447000120 · Cobrança e servicing · Versão e prevalência: Documentos atuais selecionados no inventário por categoria/escopo; a data documental isolada não comprova vigência jurídica.</a:t>
            </a:r>
          </a:p>
          <a:p>
            <a:r>
              <a:t>CNPJ 63953620000165 · Cobrança e servicing · Anexo ao Regulamento · ID 1222863 · 2026-06-02 · versão 1 · p. 8 · 4.25 · https://fnet.bmfbovespa.com.br/fnet/publico/visualizarDocumento?id=1222863</a:t>
            </a:r>
          </a:p>
          <a:p>
            <a:r>
              <a:t>CNPJ 63953620000165 · Cobrança e servicing · Excerto da fonte:</a:t>
            </a:r>
          </a:p>
          <a:p>
            <a:r>
              <a:t>4.25 É vedada qualquer forma de antecipação de recursos às Cedentes/aos Endossantes para posterior reembolso  pela Classe, seja pelo Administrador, Gestor, Custodiante, Consultora ou Agente de Cobrança.</a:t>
            </a:r>
          </a:p>
          <a:p>
            <a:r>
              <a:t>CNPJ 63953620000165 · Cobrança e servicing · Condição: Documentos atuais selecionados no inventário por categoria/escopo; a data documental isolada não comprova vigência jurídica.</a:t>
            </a:r>
          </a:p>
          <a:p>
            <a:r>
              <a:t>CNPJ 63953620000165 · Cobrança e servicing · Versão e prevalência: Documentos atuais selecionados no inventário por categoria/escopo; a data documental isolada não comprova vigência jurídica.</a:t>
            </a:r>
          </a:p>
          <a:p>
            <a:r>
              <a:t>CNPJ 63953620000165 · Cobrança e servicing · Resumo do histórico: {"count": 6, "dates": ["2026-04-28", "2026-05-08", "2026-05-15"], "document_count": 3, "sources": [{"document_id": "1327859", "title": "Demonstrações Financeiras - Fusão, cisão e incorporação", "reference_date": "2026-05-15", "version": "1", "page": 29, "url": "https://fnet.bmfbovespa.com.br/fnet/publico/visualizarDocumento?id=1327859", "sha256": "dca1c68babb97f887528c3e2e47596a9c30f507b067981a35655b2f2da9c8054"}, {"document_id": "1298691", "title": "Demonstrações Financeiras - Fusão, cisão e incorporação", "reference_date": "2026-05-08", "version": "1", "page": 5, "url": "https://fnet.bmfbovespa.com.br/fnet/publico/visualizarDocumento?id=1298691", "sha256": "58c570d9b8d4d265330d3db3ea81c435b8e44a6dab4002aa37790652a1ee9819"}, {"document_id": "1282180", "title": "Demonstrações Financeiras - Fusão, cisão e incorporação", "reference_date": "2026-04-28", "version": "1", "page": 30, "url": "https://fnet.bmfbovespa.com.br/fnet/publico/visualizarDocumento?id=1282180", "sha256": "afaaa0e6809be4385e5bdb6c911aac582032c5bdbac3d7750234bf9eaf00438a"}], "reference": {"path": "history/63953620000165.json", "criterion_id": "servicing", "total_count": 6, "preview_count": 3, "full_text_deferred": true, "sha256": "a7b89077f5e21098c2d601c303faabc3ff6b9729f89d8afecdc60fe1404720c1"}}</a:t>
            </a:r>
          </a:p>
          <a:p>
            <a:r>
              <a:t>CNPJ 54871427000194 · Conta de arrecadação e risco de trânsito · Regulamento · ID 670691 · 28/04/2024 · versão Regulamento — referência 28/04/2024 · p. 9 · Anexo I, 4.3 e 4.6 · https://fnet.bmfbovespa.com.br/fnet/publico/visualizarDocumento?id=670691</a:t>
            </a:r>
          </a:p>
          <a:p>
            <a:r>
              <a:t>CNPJ 54871427000194 · Conta de arrecadação e risco de trânsito · Excerto da fonte:</a:t>
            </a:r>
          </a:p>
          <a:p>
            <a:r>
              <a:t>4.3 Os pagamentos relativos aos Direitos Creditórios de titularidade da Classe serão realizados mediante consignação em folha, débito em conta de titularidade dos Devedores e pagamentos de sinistros, para pagamento dos valores correspondentes às parcelas das CCBs representadas pelos CCCBs de titularidade da Classe, os quais serão conciliados e repassados pelo Endossante para a conta corrente da Classe. 4.4 Os Direitos Creditórios deverão contar com Documentos Comprobatórios que evidenciem sua existência, validade e exequibilidade perante os respectivos Devedores . 4.4.1 Os Direitos Creditórios serão adquiridos pela Classe por meio de Contrato de Endosso f irmados entre a Classe e o Endossante e os respectivos Termos de Endosso, acompanhados de todos os direitos, privilégios, preferências, prerrogativas, ações e garantias assegurados aos seus titulares, observada a Política de Investimentos e as demais disposições deste Regulamento e da legislação e regulamentação aplicáveis. 4.5 O Endossante deverá realizar análise cadastral e de crédito dos Devedores, previamente à aquisição de Direitos Creditórios pela Classe. O disposto neste item não impede o ADMINISTRAD</a:t>
            </a:r>
          </a:p>
          <a:p>
            <a:r>
              <a:t>CNPJ 54871427000194 · Conta de arrecadação e risco de trânsito · Regulamento · ID 670691 · 28/04/2024 · versão Regulamento — referência 28/04/2024 · p. 9 · Anexo I, 4.6 · https://fnet.bmfbovespa.com.br/fnet/publico/visualizarDocumento?id=670691</a:t>
            </a:r>
          </a:p>
          <a:p>
            <a:r>
              <a:t>CNPJ 54871427000194 · Conta de arrecadação e risco de trânsito · Excerto da fonte:</a:t>
            </a:r>
          </a:p>
          <a:p>
            <a:r>
              <a:t>4.6 A cobrança ordinária e recebimento de Direitos Creditórios pela Classe é realizada mediante a liquidação dos recursos através de débito dos salários a receber pelos Devedores do órgão consignante ou através da consignação direto da folha, sendo certo que o GESTOR e/ou o Custodiante f arão o monitoramento do pagamento dos Direitos Creditórios através da validação do Arquivo de Liquidação, do Relatório de Repasse, e consulta oriunda do sistema da processadora conveniada ao órgão consignante, responsável pela consignação em f olha de pagamento ou de benef ício dos Devedores (averbação, débito e repasse). Critérios de Elegibilidade 4.7 A Classe somente poderá adquirir os Direitos Creditórios que atendam cumulativamente aos seguintes Critérios de Elegibilidade, a serem verif icados e validados pelo GESTOR, de f orma individualizada e integral, previamente à cessão e na respectiva Data de Aquisição, de modo que apenas são passíveis de aquisição pela Classe os Direitos Creditórios que, na Data de Aquisição: (i) CCBs sem qualquer parcela cedida; (ii) CCBs com diferença menor que 60 (sessenta) dias entre a data provável do endosso e a próxima parcela a vencer;</a:t>
            </a:r>
          </a:p>
          <a:p>
            <a:r>
              <a:t>CNPJ 54871427000194 · Conta de arrecadação e risco de trânsito · Condição: A mecânica prevê passagem dos recursos pelo endossante; o regulamento não estabelece, nesta cláusula, repasse direto automático pelo órgão consignante.</a:t>
            </a:r>
          </a:p>
          <a:p>
            <a:r>
              <a:t>CNPJ 54871427000194 · Conta de arrecadação e risco de trânsito · Versão e prevalência: Leitura específica das cláusulas indicadas; condições e conflitos preservados. Seleção documental atual não comprova vigência jurídica por data isolada.</a:t>
            </a:r>
          </a:p>
          <a:p>
            <a:r>
              <a:t>CNPJ 54871427000194 · Conta de arrecadação e risco de trânsito · Resumo do histórico: {"count": 1, "dates": ["2024-04-19"], "document_count": 1, "sources": [{"document_id": "670689", "title": "Regulamento", "reference_date": "2024-04-19", "version": "1", "page": 25, "url": "https://fnet.bmfbovespa.com.br/fnet/publico/visualizarDocumento?id=670689", "sha256": "891bc9bc5d87bbc02ec139077a84d2702eb81ea02035fb71d24f5b8366b94a0b"}], "reference": {"path": "history/54871427000194.json", "criterion_id": "collection_account", "total_count": 1, "preview_count": 1, "full_text_deferred": true, "sha256": "35d7cd99be50c7287c9fb675cf4f2e736002315295a225a9efa79c8d9186d874"}}</a:t>
            </a:r>
          </a:p>
          <a:p>
            <a:r>
              <a:t>CNPJ 60010416000112 · Conta de arrecadação e risco de trânsito · Regulamento · ID 1051393 · 2025-10-09 · versão 1 · p. 32 · 14.2.1 · https://fnet.bmfbovespa.com.br/fnet/publico/visualizarDocumento?id=1051393</a:t>
            </a:r>
          </a:p>
          <a:p>
            <a:r>
              <a:t>CNPJ 60010416000112 · Conta de arrecadação e risco de trânsito · Excerto da fonte:</a:t>
            </a:r>
          </a:p>
          <a:p>
            <a:r>
              <a:t>14.2.1 Os valores indicados nos Arquivos Dataprev em relação aos Direitos Creditórios endossados à  Classe e depositados mensalmente pela CEF na Conta Vinculada serão cobrados/recebidos da  seguinte f orma:</a:t>
            </a:r>
          </a:p>
          <a:p>
            <a:r>
              <a:t> (i) mensalmente, após o processamento da f olha de pagamento dos Devedores, a Dataprev  enviará os Arquivos Dataprev ao Endossante;</a:t>
            </a:r>
          </a:p>
          <a:p>
            <a:r>
              <a:t> (ii) ao receber os Arquivos Dataprev, o Endossante os disponibilizará ao Custodiante e ao  Agente de Retenção/Cobrança, através de uma interf ace de programação de aplicações  (API), no mesmo dia que forem disponibilizados pela Dataprev, ou no Dia Útil subsequente,  se f orem disponibilizados pela Dataprev após 16:00 (horário de Brasília) sem f azer qualquer  modif icação em suas respectivas inf ormações;</a:t>
            </a:r>
          </a:p>
          <a:p>
            <a:r>
              <a:t> (iii) até 2º (segundo) Dia Útil após o recebimento dos valores repassados pelos Empregadores,  a CEF ef etuará uma transf erência eletrônica disponível (TED) diretamente para a Conta  Vinculada relevante com o valor declarado no Arquivo de Consignações;</a:t>
            </a:r>
          </a:p>
          <a:p>
            <a:r>
              <a:t> (iv) o Endossante, na qualidade de Agente da Conta Vinculada, transferirá os valores devidos  à Classe para a Conta de Cobrança da Classe, de acordo com o Contrato de Conta  Vinculada; e</a:t>
            </a:r>
          </a:p>
          <a:p>
            <a:r>
              <a:t> (v) tendo recebido os Arquivos Dataprev e os valores indicados no item (iv), o Custodiante  realizará a reconciliação dos valores devidos à Classe e/ou ao Endossante.</a:t>
            </a:r>
          </a:p>
          <a:p>
            <a:r>
              <a:t>CNPJ 60010416000112 · Conta de arrecadação e risco de trânsito · Regulamento · ID 1051393 · 2025-10-09 · versão 1 · p. 28 · https://fnet.bmfbovespa.com.br/fnet/publico/visualizarDocumento?id=1051393</a:t>
            </a:r>
          </a:p>
          <a:p>
            <a:r>
              <a:t>CNPJ 60010416000112 · Conta de arrecadação e risco de trânsito · Excerto da fonte:</a:t>
            </a:r>
          </a:p>
          <a:p>
            <a:r>
              <a:t>Anexo I ao Regulamento CLASSE ÚNICA DO MT I CONSIGNADO PRIVADO I FUNDO DE INVESTIMENTO EM DIREITOS CREDITÓRIOS RESPONSABILIDADE LIMITADA  Documentos Comprobatórios e os Documentos Suporte que comprovam a operação, observados os  procedimentos operacionais da Entidade Registradora;</a:t>
            </a:r>
          </a:p>
          <a:p>
            <a:r>
              <a:t> (ii) receber, em nome da Classe, pagamentos de Direitos Creditórios, amortização ou resgate de Ativos  Financeiros ou qualquer outro rendimento dos ativos mantidos em custódia, mediante o recebimento  de valores diretamente na Conta de Cobrança da Classe ou transf eridos da Conta Vinculada;</a:t>
            </a:r>
          </a:p>
          <a:p>
            <a:r>
              <a:t> (iii) cobrar e receber, em nome da Classe, pagamentos, resgate de títulos ou qualquer outro rendimento  relativo aos ativos da Carteira, depositando os valores recebidos diretamente em conta de titularidade  da classe ou, se f or o caso, em conta-vinculada;</a:t>
            </a:r>
          </a:p>
          <a:p>
            <a:r>
              <a:t> (iv) realizar a guarda da documentação relativa ao lastro dos Direitos Creditórios;</a:t>
            </a:r>
          </a:p>
          <a:p>
            <a:r>
              <a:t> (v) realizar a reconciliação dos valores depositados na Conta de Cobrança da Classe;</a:t>
            </a:r>
          </a:p>
          <a:p>
            <a:r>
              <a:t> (vi)</a:t>
            </a:r>
          </a:p>
          <a:p>
            <a:r>
              <a:t> (vii) assegurar que inconsistências indicadas nos relatórios de verif icação dos Documentos  Comprobatórios e dos Documentos Suporte representativos dos Direitos Creditórios e seu endosso  à Classe sejam tratadas tempestivamente.</a:t>
            </a:r>
          </a:p>
          <a:p>
            <a:r>
              <a:t>CNPJ 60010416000112 · Conta de arrecadação e risco de trânsito · Regulamento · ID 1051393 · 2025-10-09 · versão 1 · p. 39 · https://fnet.bmfbovespa.com.br/fnet/publico/visualizarDocumento?id=1051393</a:t>
            </a:r>
          </a:p>
          <a:p>
            <a:r>
              <a:t>CNPJ 60010416000112 · Conta de arrecadação e risco de trânsito · Excerto da fonte:</a:t>
            </a:r>
          </a:p>
          <a:p>
            <a:r>
              <a:t>Anexo I ao Regulamento CLASSE ÚNICA DO MT I CONSIGNADO PRIVADO I FUNDO DE INVESTIMENTO EM DIREITOS CREDITÓRIOS RESPONSABILIDADE LIMITADA  da Classe e, de forma extraordinária, para a Conta de Movimentação da Classe. Em caso de  intervenção ou liquidação extrajudicial das instituições f inanceiras onde a Conta de Cobrança  da Classe e a Conta de Movimentação da Classe são mantidas, os fundos nelas depositados  poderão ser bloqueados e recuperados pela Classe somente através de uma ordem judicial,  o que af etaria seu retorno e poderia causar perda de parte de seus ativos.</a:t>
            </a:r>
          </a:p>
          <a:p>
            <a:r>
              <a:t> (ix) Risco de bloqueio da Conta Vinculada: a Conta Vinculada para a qual os recursos  provenientes do pagamento dos Direitos Creditórios serão direcionados poderá ser  bloqueada, dentre outros, (i) no caso de intervenção ou liquidação extrajudicial do  Endossante, ou (ii) no caso de decisões judiciais serem proferidas em demandas ajuizadas  contra o Endossante, determinando o bloqueio. Em qualquer desses eventos, esses recursos  de propriedade da Classe só poderão ser recuperados em juízo. Essa recuperação poderá  levar tempo para ser ef etuada ou mesmo não obter êxito, o que af etaria a rentabilidade da  Classe e poderia f azê-lo perder parte de seus ativos.</a:t>
            </a:r>
          </a:p>
          <a:p>
            <a:r>
              <a:t> (x) Risco de patrimônio líquido negativo: as estratégias de investimento adotadas pela  Classe, bem como o pagamento de remuneração aos prestadores de serviços da Classe,  podem f azer com que seu Patrimônio Líquido se torne negativo, hipótese em que o Cotista  poderá ser solicitado a f azer aportes adicionais de recursos, a f im de permitir que a Classe  cumpra suas obrigações.</a:t>
            </a:r>
          </a:p>
          <a:p>
            <a:r>
              <a:t> (xi) Risco de cobrança judicial ou extrajudicial: quando não f orem pagos os Direitos  Creditórios que compõem a Carteira, poderá haver cobrança judicial ou extrajudicial dos  valores devidos, mediante decisão dos Cotistas na Assembleia de Cotistas nos termos desse  Anexo I. Entretanto, não há garantia de que, em qualquer desses casos, os procedimentos  de cobrança acima mencionados serão aprovados na Assembleia Especial de Cotistas e,  caso aprovados, de que tais procedimentos atingirão os resultados desejados, nem de que  a Classe terá êxito em recuperar quaisquer valores inadimplidos, o que poderá resultar em  perdas para a Classe.</a:t>
            </a:r>
          </a:p>
          <a:p>
            <a:r>
              <a:t> (xii) Possibilidade de conflito de interesses entre a Classe e o Agente de  Retenção/Cobrança. O Agente de Retenção/Cobrança eventualmente possui ou pode vir a  possuir relacionamento comercial com o Endossante e/ou Devedores, de modo que, em  determinadas circunstâncias seus interesses podem ser conflitantes com os interesses da  Classe. Não é possível garantir que, materializada uma situação de conflito de interesses  conf orme descrita acima, o Agente de Retenção/Cobrança exponha-a adequadamente ao  Administrador e/ou aos Cotistas, ou que o faça absolutamente, tampouco que agirá no melhor  no interesse da Classe. Nesses casos, a Classe pode vir a adquirir Direitos Creditórios ou  pode vir a ter seus Direitos Creditórios Inadimplidos pagos em condições comparativamente  menos vantajosas àquelas que seriam verificadas na ausência de tais conflitos de interesses.</a:t>
            </a:r>
          </a:p>
          <a:p>
            <a:r>
              <a:t> Nesses casos, o Patrimônio Líquido pode ser af etado adversamente.</a:t>
            </a:r>
          </a:p>
          <a:p>
            <a:r>
              <a:t> (xiii) Risco de intervenção ou liquidação judicial do Administrador. A Classe está sujeito ao  risco dos efeitos de decretação de intervenção ou de liquidação judicial do Administrador e/ou  do Custodiante, nos termos da Lei nº 6.024, de 13 de março de 1974, conf orme alterada.</a:t>
            </a:r>
          </a:p>
          <a:p>
            <a:r>
              <a:t> (xiv) Patrimônio Líquido negativo. Os investimentos da Classe estão, por sua natureza, sujeitos  a f lutuações típicas de mercado, risco de crédito, risco sistêmico, condições adversas de  liquidez e negociação atípica nos mercados de atuação, sendo que não há garantia de  completa eliminação da possibilidade de perdas para a Classe e para os Cotistas. Além disso,  as estratégias de investimento adotadas pela Classe poderão f azer com que a Classe  apresente Patrimônio Líquido negativo, caso em que os Cotistas poderão ser chamados a  realizar aportes adicionais de recursos, de f orma a possibilitar que a Classe satisfaça suas  obrigações.</a:t>
            </a:r>
          </a:p>
          <a:p>
            <a:r>
              <a:t>CNPJ 60010416000112 · Conta de arrecadação e risco de trânsito · Condição: Documentos atuais selecionados no inventário por categoria/escopo; a data documental isolada não comprova vigência jurídica.</a:t>
            </a:r>
          </a:p>
          <a:p>
            <a:r>
              <a:t>CNPJ 60010416000112 · Conta de arrecadação e risco de trânsito · Versão e prevalência: Documentos atuais selecionados no inventário por categoria/escopo; a data documental isolada não comprova vigência jurídica.</a:t>
            </a:r>
          </a:p>
          <a:p>
            <a:r>
              <a:t>CNPJ 60010416000112 · Conta de arrecadação e risco de trânsito · Resumo do histórico: {"count": 1, "dates": ["2025-03-20"], "document_count": 1, "sources": [{"document_id": "993786", "title": "Regulamento", "reference_date": "2025-03-20", "version": "1", "page": 32, "clause": "14.2.1", "url": "https://fnet.bmfbovespa.com.br/fnet/publico/visualizarDocumento?id=993786", "sha256": "fd0fdd369a195510d81f81f505195a0b09e5f43522a990afa7d58c4f872921c8"}], "reference": {"path": "history/60010416000112.json", "criterion_id": "collection_account", "total_count": 1, "preview_count": 1, "full_text_deferred": true, "sha256": "8e2bd813f4c51cf01f6bfaad164bafe69d2bbb192f753eac92da3a01c2e63046"}}</a:t>
            </a:r>
          </a:p>
          <a:p>
            <a:r>
              <a:t>CNPJ 62696791000193 · Conta de arrecadação e risco de trânsito · Motivo: Não localizada uma cláusula material para este critério nos textos identificados e processados. A ausência de resultado não comprova inexistência da regra.</a:t>
            </a:r>
          </a:p>
          <a:p>
            <a:r>
              <a:t>CNPJ 55563624000109 · Conta de arrecadação e risco de trânsito · Motivo: Não localizada uma cláusula material para este critério nos textos identificados e processados. A ausência de resultado não comprova inexistência da regra.</a:t>
            </a:r>
          </a:p>
          <a:p>
            <a:r>
              <a:t>CNPJ 62552447000120 · Conta de arrecadação e risco de trânsito · Regulamento · ID 1200623 · 2026-05-21 · versão 1 · p. 37 · https://fnet.bmfbovespa.com.br/fnet/publico/visualizarDocumento?id=1200623</a:t>
            </a:r>
          </a:p>
          <a:p>
            <a:r>
              <a:t>CNPJ 62552447000120 · Conta de arrecadação e risco de trânsito · Excerto da fonte:</a:t>
            </a:r>
          </a:p>
          <a:p>
            <a:r>
              <a:t>operacional dos Direitos Creditórios Consignado Privado e dos Direitos Creditórios FGTS dependem de certif icações e habilitações do Endossante junto à Dataprev e à CEF, respectivamente. O Endossante deve observar as regras aplicáveis a cada Direito Creditório para a manutenção da sua habilitação, que, portanto, pode ser af etada em caso de descumprimento ou de mudança normativa. Nesses casos, a estrutura de cobrança dos Direitos Creditórios Consignado Privado e dos Direitos Creditórios FGTS poderá ser comprometida, dando origem à necessidade de adoção de uma nova estrutura, que poderá não ser tão eficaz quanto ela ou mesmo revelar, na prática, ser inadequada ou ter altos custos operacionais . Esses eventos podem levar a perdas patrimoniais para a Classe, na medida em que a Classe deixará de receber, definitiva ou temporariamente, recursos oriundos desses Direitos Creditórios, no todo ou em parte.</a:t>
            </a:r>
          </a:p>
          <a:p>
            <a:r>
              <a:t>(vii) Risco de fungibilidade: o pagamento dos Direitos Creditórios serão inicialmente realizados em conta liquidante do Endossante por meio de transferência de reserva bancária, sendo automaticamente transferido à Conta Vinculada na sua integralidade, também de titularidade do Endoss ante, o qual será responsável por realizar a conciliação dos valores e repassá-los à Conta da Classe. Enquanto os recursos não f orem transf eridos para a Classe, a Classe estará correndo o risco de crédito do Endossante, e no caso de qualquer evento de crédito do Endossante, como intervenção, liquidação extrajudicial, falência ou outros procedimentos para proteção de credores, a Classe poderá não receber os valores devidos a ele, e poderá incorrer em custos adicionais para recuperar esses valores. Além disso, em caso de intervenção, liquidação extrajudicial, falência, execução ou outro procedimento similar para proteção de credores envolvendo o Endossante, os valores depositados de tempos em tempos na conta liquidante do Endossante por meio de transferência d e reserva bancária, e automaticamente transferidos à Conta Vinculada, poderão ser bloqueados, por ordem judicial ou administrativa, o que poderá causar prejuízos à Classe e ao Cotista.</a:t>
            </a:r>
          </a:p>
          <a:p>
            <a:r>
              <a:t>Risco de descontinuidade</a:t>
            </a:r>
          </a:p>
          <a:p>
            <a:r>
              <a:t>(i) Risco de descontinuidade: a Classe poderá ser liquidada antecipadamente, dentre outros, caso ocorra um Evento de Liquidação. Portanto, o Cotista poderá ter sua perspectiva original de investimento reduzida e não ser capaz de reinvestir os recursos recebidos com a mesma remuneração gerada pela Classe, e nenhuma multa ou penalidade, de qualquer f orma, devido a esse f ato, será devida pela Classe, o Administrador, o Custodiante, o Coordenador Líder, o Gestor, o Agente de Retenção e Cobrança ou o Endossante.</a:t>
            </a:r>
          </a:p>
          <a:p>
            <a:r>
              <a:t>Riscos decorrentes do Regime de Amortização</a:t>
            </a:r>
          </a:p>
          <a:p>
            <a:r>
              <a:t>(i) Risco decorrente da ordem de alocação das distribuições: conforme previsto neste Anexo, as Cotas estarão sujeitas à Amortização de acordo com a ordem de alocação prevista no Capítulo 7. Portanto, o Cotista poderá ter sua perspectiva original de investimento reduzida e não poderá reinvestir os recursos recebidos com a mesma remuneração gerada pela Classe.</a:t>
            </a:r>
          </a:p>
          <a:p>
            <a:r>
              <a:t>Riscos do originador e da originação</a:t>
            </a:r>
          </a:p>
          <a:p>
            <a:r>
              <a:t>(i) Riscos do originador e da originação: a continuidade da Classe poderá ser comprometida no caso de inconstância na concessão de empréstimos pelo Endossante aos Devedores ou incapacidade do Agente de Retenção e Cobrança operacionalizar a Plataf orma VR, através da qual os Direitos Creditórios são originados. Portanto, o investimento na Classe está sujeito ao risco de não originação, no f uturo, de Direitos Creditórios pelo Endossante contra os Devedores através da Plataforma VR, disponibilizada pelo Agente de Retenção e Cobrança. Se isso acontecer, a originação dos Direitos Creditórios pelo Endossante poderá ser impactada negativamente ou mesmo impossibilitada, o que poderá gerar a liquidação antecipada da Classe.</a:t>
            </a:r>
          </a:p>
          <a:p>
            <a:r>
              <a:t>Além disso, a Classe poderá adquirir Direitos Creditórios que f oram originados em conformidade com o processo de originação e/ou políticas de concessão de crédito desenvolvidos e monitorados pelo Endossante.</a:t>
            </a:r>
          </a:p>
          <a:p>
            <a:r>
              <a:t>Entretanto, não é possível assegurar que o cumprimento dessas diretrizes garanta a qualidade dos Direitos Creditórios e/ou a solvência dos respectivos Devedores, ou que as diretrizes e parâmetros estabelecidos no Capítulo 13 sejam corretamente interpretados e aplicados quando a Classe fizer os investimentos. Além disso, se o Endossante deixar de existir ou estiver sujeito a uma ordem de intervenção, liquidação extrajudicial ou regime especial ou gestão temporária ou evento similar, a Classe será impactado também pelo f ato de que a Conta Vinculada na qual as transf erências f eitas pela CEF f oram depositadas f oi aberta em nome do Endossante. Neste caso, a Classe poderá sofrer perdas principalmente em relação ao atraso na regularização</a:t>
            </a:r>
          </a:p>
          <a:p>
            <a:r>
              <a:t>CNPJ 62552447000120 · Conta de arrecadação e risco de trânsito · Condição: Documentos atuais selecionados no inventário por categoria/escopo; a data documental isolada não comprova vigência jurídica.</a:t>
            </a:r>
          </a:p>
          <a:p>
            <a:r>
              <a:t>CNPJ 62552447000120 · Conta de arrecadação e risco de trânsito · Motivo: Cláusula primária localizada e citada, mas sua lista/condições extensas não admitem uma síntese literal curta confirmada. O trecho integral permanece nas fontes.</a:t>
            </a:r>
          </a:p>
          <a:p>
            <a:r>
              <a:t>CNPJ 62552447000120 · Conta de arrecadação e risco de trânsito · Versão e prevalência: Documentos atuais selecionados no inventário por categoria/escopo; a data documental isolada não comprova vigência jurídica.</a:t>
            </a:r>
          </a:p>
          <a:p>
            <a:r>
              <a:t>CNPJ 63953620000165 · Conta de arrecadação e risco de trânsito · Anexo ao Regulamento · ID 1222863 · 2026-06-02 · versão 1 · p. 28 · https://fnet.bmfbovespa.com.br/fnet/publico/visualizarDocumento?id=1222863</a:t>
            </a:r>
          </a:p>
          <a:p>
            <a:r>
              <a:t>CNPJ 63953620000165 · Conta de arrecadação e risco de trânsito · Excerto da fonte:</a:t>
            </a:r>
          </a:p>
          <a:p>
            <a:r>
              <a:t>Creditórios endossados à Classe não sejam pagos integralmente pelos respectivos Devedores em virtude  de qualquer problema de natureza comercial entre o Devedor e o Endossante, e este último não reembolse  à Classe o montante em moeda nacional correspondente ao valor dos Direitos Creditórios mencionados,  os resultados da Classe poderão ser afetados negativamente.</a:t>
            </a:r>
          </a:p>
          <a:p>
            <a:r>
              <a:t> Outros Riscos</a:t>
            </a:r>
          </a:p>
          <a:p>
            <a:r>
              <a:t> (i) Risco relativo à elegibilidade dos Direitos Creditórios: mesmo que os Direitos Creditórios cumpram com  todas as condições de endosso e declarações e garantias estabelecidas no Contrato de Endosso e os  Critérios de Elegibilidade aqui estabelecidos, não é possível afirmar que essas condições de endosso,  declarações e garantias e os Critérios de Elegibilidade sejam suficientes para garantir a satisfação e o  pagamento dos Direitos Creditórios. Além disso, não é possível assegurar que o Gestor verificará  adequadamente a conformidade dos Direitos Creditórios com os Critérios de Elegibilidade e as condições  de endosso, ou que as declarações e garantias prestadas pelo Endossante e pelo Agente de  Retenção/Cobrança em relação aos Direitos Creditórios sejam verdadeiras e exatas. A verificação  inadequada dos Elegibilidade e das condições de endosso, bem como a falsidade ou inexatidão das  declarações e garantias referentes aos Direitos Creditórios poderão resultar na compra de Direitos  Creditórios inelegíveis pela Classe, e as medidas disponíveis no âmbito do Contrato de Endosso poderão  não ser suficientes para manter a Classe protegida de perdas decorrentes de tal verificação inadequada ou  falsidade/inexatidão. Caso os Direitos Creditórios não sejam pagos pontualmente pelos Devedores ou os  Direitos Creditórios não tenham o desempenho esperado pela Classe, o patrimônio da Classe poderá ser  afetado adversamente.</a:t>
            </a:r>
          </a:p>
          <a:p>
            <a:r>
              <a:t> (ii) Risco de invalidade ou ineficácia do endosso: o endosso dos Direitos Creditórios à Classe poderá ser  invalidada ou considerada ineficaz, o que impacta negativamente o patrimônio da Classe, no caso de (a)  fraude contra credores, se no momento do endosso o Endossante for insolvente ou se ele vier a se tornar  insolvente; (b) fraude à execução, se (1) no momento do endosso o Endossante for réu em um processo  judicial capaz de torná-lo insolvente; ou (2) os Direitos Creditórios endossados à Classe estiverem sujeitos  a qualquer demanda judicial baseada em garantia real; e (c) fraude à execução fiscal, se o Endossante, ao  celebrar o endosso de crédito, como contribuinte por débito à Fazenda Pública, e crédito fiscal  regularmente inscrito na dívida ativa, não tiver ativos para pagamento total da dívida fiscal. Entretanto, o  Administrador, o Custodiante, o Gestor e o Agente de Retenção/ Cobrança não verificarão os eventos  acima no endosso de Direito Creditório e não serão responsabilizados em caso de invalidação ou ineficácia  do endosso de um Direito Creditório à Classe.</a:t>
            </a:r>
          </a:p>
          <a:p>
            <a:r>
              <a:t> (iii) Risco de impugnação judicial: a CCB poderá ser impugnada judicialmente tanto no que diz respeito à sua  formalização quanto às taxas aplicadas e à forma de cobrança da CCB, inclusive em virtude das disposições  estabelecidas na Lei nº 8.078, de 11 de setembro de 1990, conforme alterada (Código de Defesa do  Consumidor), tais como uma possível impugnação de cláusula abusiva, bem como qualquer vício nos  Documentos Comprobatórios ou Documentos Suporte que impeçam a exigibilidade do crédito (ausência  de assinaturas ou falta de prova de formalização regular do instrumento, representação ilegítima, dentre  outros). Nesses casos, a CCB poderá ser modificada ou cancelada em virtude de decisão judicial, o que  poderá acarretar perdas para a Classe e, consequentemente, afetar negativamente a rentabilidade de seu  patrimônio.</a:t>
            </a:r>
          </a:p>
          <a:p>
            <a:r>
              <a:t> (iv) Risco de restrições de natureza legal ou regulamentar: a Classe pode estar sujeita a riscos, além do  controle do Administrador, decorrentes de quaisquer restrições futuras de natureza legal e/ou  regulamentar que venham a afetar a validade da constituição e/ou o endosso dos Direitos Creditórios à  Classe. Caso essas restrições ocorram, o fluxo de cessões de Direitos Creditórios à Classe pode ser  interrompido e, portanto, pode comprometer a continuidade da Classe e a perspectiva de investimento  do Cotista. Além disso, os Direitos Creditórios que já estão na Carteira podem ter sua validade questionada,  o que pode causar, portanto, prejuízos ao Cotista.</a:t>
            </a:r>
          </a:p>
          <a:p>
            <a:r>
              <a:t> (v) Risco de bloqueio da Conta de Cobrança da Classe ou da Conta de Movimentação da Classe: os recursos  provenientes da Classe serão direcionados para a Conta de Cobrança da Classe e, de forma extraordinária,  para a Conta de Movimentação da Classe. Em caso de intervenção ou liquidação extrajudicial das  instituições financeiras onde a Conta de Cobrança da Classe e a Conta de Movimentação da Classe são</a:t>
            </a:r>
          </a:p>
          <a:p>
            <a:r>
              <a:t>CNPJ 63953620000165 · Conta de arrecadação e risco de trânsito · Condição: Documentos atuais selecionados no inventário por categoria/escopo; a data documental isolada não comprova vigência jurídica.</a:t>
            </a:r>
          </a:p>
          <a:p>
            <a:r>
              <a:t>CNPJ 63953620000165 · Conta de arrecadação e risco de trânsito · Motivo: Cláusula primária localizada e citada, mas sua lista/condições extensas não admitem uma síntese literal curta confirmada. O trecho integral permanece nas fontes.</a:t>
            </a:r>
          </a:p>
          <a:p>
            <a:r>
              <a:t>CNPJ 63953620000165 · Conta de arrecadação e risco de trânsito · Versão e prevalência: Documentos atuais selecionados no inventário por categoria/escopo; a data documental isolada não comprova vigência jurídica.</a:t>
            </a:r>
          </a:p>
          <a:p>
            <a:r>
              <a:t>CNPJ 63953620000165 · Conta de arrecadação e risco de trânsito · Resumo do histórico: {"count": 2, "dates": ["2026-02-19", "2026-05-15"], "document_count": 2, "sources": [{"document_id": "1327859", "title": "Demonstrações Financeiras - Fusão, cisão e incorporação", "reference_date": "2026-05-15", "version": "1", "page": 22, "url": "https://fnet.bmfbovespa.com.br/fnet/publico/visualizarDocumento?id=1327859", "sha256": "dca1c68babb97f887528c3e2e47596a9c30f507b067981a35655b2f2da9c8054"}, {"document_id": "1200324", "title": "Demonstrações Financeiras - Fusão, cisão e incorporação", "reference_date": "2026-02-19", "version": "1", "page": 22, "url": "https://fnet.bmfbovespa.com.br/fnet/publico/visualizarDocumento?id=1200324", "sha256": "aba4246af804161a6cb22052dc79425be7591e0bb7df5467cda6487f249272fc"}], "reference": {"path": "history/63953620000165.json", "criterion_id": "collection_account", "total_count": 2, "preview_count": 2, "full_text_deferred": true, "sha256": "a7b89077f5e21098c2d601c303faabc3ff6b9729f89d8afecdc60fe1404720c1"}}</a:t>
            </a:r>
          </a:p>
          <a:p>
            <a:r>
              <a:t>CNPJ 54871427000194 · Verificação de lastro e amostragem · Regulamento · ID 670691 · 28/04/2024 · versão Regulamento — referência 28/04/2024 · p. 10 · Anexo I, 4.7.1 · https://fnet.bmfbovespa.com.br/fnet/publico/visualizarDocumento?id=670691</a:t>
            </a:r>
          </a:p>
          <a:p>
            <a:r>
              <a:t>CNPJ 54871427000194 · Verificação de lastro e amostragem · Excerto da fonte:</a:t>
            </a:r>
          </a:p>
          <a:p>
            <a:r>
              <a:t>4.7.1 Os Documentos Comprobatórios deverão ser disponibilizados pelo respectivo Endossante (a) no prazo de 10 (dez) dias contados da Data de Aquisição dos 50 (cinquenta) casos que sejam solicitados pelo GESTOR, a seu exclusivo critério, (b) a totalidade dos demais Documentos Comprobatórios em f ormato digital em até 90 (noventa) dias a contar da Data de Aquisição, bem como dos Documentos Comprobatórios em formato físico relativos aos Direitos Creditórios que eventualmente estejam inadimplidos em ref erida data, e (c) a totalidade dos demais Documentos Comprobatórios em f ormato f ísico em até 180 (cento e oitenta) dias a contar da Data de Aquisição, sujeito à resolução do respectivo endosso, de acordo com os termos do Contrato de Endosso. 4.7.2 Caso um Direito Creditório cedido à Classe deixe de atender quaisquer Critérios de Elegibilidade e/ou quaisquer declarações e garantias ref erentes a esse Direito Creditório, conf orme previsto no respectivo Contrato de Endosso, após seu endosso à Classe, não haverá coobrigação nem direito de regresso da Classe contra o ADMINISTRADOR, o CUSTODIANTE o GESTOR e/ou o En</a:t>
            </a:r>
          </a:p>
          <a:p>
            <a:r>
              <a:t>CNPJ 54871427000194 · Verificação de lastro e amostragem · Regulamento · ID 670691 · 28/04/2024 · versão Regulamento — referência 28/04/2024 · p. 24 · Anexo I, 12.15 e 12.19(iv)–(v) · https://fnet.bmfbovespa.com.br/fnet/publico/visualizarDocumento?id=670691</a:t>
            </a:r>
          </a:p>
          <a:p>
            <a:r>
              <a:t>CNPJ 54871427000194 · Verificação de lastro e amostragem · Excerto da fonte:</a:t>
            </a:r>
          </a:p>
          <a:p>
            <a:r>
              <a:t>12.15 No âmbito das diligências relacionadas à aquisição de Direitos Creditórios caracterizados como direitos e títulos representativos de crédito, conforme referidos na alínea “a” do inciso XII do art. 2º do Anexo Normativo II da Resolução CVM 175, o GESTOR deve verificar a existência, integridade e titularidade do lastro, de f orma integral, utilizando modelo estatístico consistente e passível de verif icação, 12.16 O GESTOR pode contratar terceiros para ef etuar a verif icação do lastro, inclusive a entidade registradora, o CUSTODIANTE ou consultoria especializada, caso aplicável, devendo constar do contrato de prestação de serviços as regras e procedimentos aplicáveis à verif icação, sendo que o GESTOR será responsável pela fiscalização da atuação do agente contratado no tocante à observância às regras e procedimentos aplicáveis à verif icação. Custódia e Verificação do Lastro quando do inadimplemento ou substituição dos Direitos Creditórios 12.17 Caso a classe aplique recursos em Direitos Creditórios que não sejam passíveis de registro em entidade registradora na data deste Regulamento, o ADMINISTRADOR deve contratar o serviço de custódia para a Carteira. 12.18 Os serviços de custódia qualificada dos Direitos Creditóri</a:t>
            </a:r>
          </a:p>
          <a:p>
            <a:r>
              <a:t>CNPJ 54871427000194 · Verificação de lastro e amostragem · Condição: A entrega escalonada dos comprovantes é distinta da verificação integral prevista. O Complemento 2 contém recuperação/cobrança; não contém uma amostragem estatística de lastro.</a:t>
            </a:r>
          </a:p>
          <a:p>
            <a:r>
              <a:t>CNPJ 54871427000194 · Verificação de lastro e amostragem · Versão e prevalência: Leitura específica das cláusulas indicadas; condições e conflitos preservados. Seleção documental atual não comprova vigência jurídica por data isolada.</a:t>
            </a:r>
          </a:p>
          <a:p>
            <a:r>
              <a:t>CNPJ 54871427000194 · Verificação de lastro e amostragem · Resumo do histórico: {"count": 1, "dates": ["2024-04-19"], "document_count": 1, "sources": [{"document_id": "670689", "title": "Regulamento", "reference_date": "2024-04-19", "version": "1", "page": 45, "url": "https://fnet.bmfbovespa.com.br/fnet/publico/visualizarDocumento?id=670689", "sha256": "891bc9bc5d87bbc02ec139077a84d2702eb81ea02035fb71d24f5b8366b94a0b"}], "reference": {"path": "history/54871427000194.json", "criterion_id": "collateral_check", "total_count": 1, "preview_count": 1, "full_text_deferred": true, "sha256": "35d7cd99be50c7287c9fb675cf4f2e736002315295a225a9efa79c8d9186d874"}}</a:t>
            </a:r>
          </a:p>
          <a:p>
            <a:r>
              <a:t>CNPJ 60010416000112 · Verificação de lastro e amostragem · Regulamento · ID 1051393 · 09/10/2025 · versão Regulamento09/10/2025 · p. 59 · Complemento7itens1–4 · https://fnet.bmfbovespa.com.br/fnet/publico/visualizarDocumento?id=1051393</a:t>
            </a:r>
          </a:p>
          <a:p>
            <a:r>
              <a:t>CNPJ 60010416000112 · Verificação de lastro e amostragem · Excerto da fonte:</a:t>
            </a:r>
          </a:p>
          <a:p>
            <a:r>
              <a:t>1. O Gestor deverá realizar a verif icação dos Documentos Comprobatórios relativos aos Direitos Creditórios adquiridos pela Classe trimestralmente; sendo certo que o Endossante e/ou o Agente de Retenção/Cobrança, conforme o caso, deverão enviar os Documentos Comprobatórios para o Gestor, conf orme def inido nos itens conf orme def inido nos itens 11.16 e 11.17 do Anexo I. 2. Observado o disposto no inciso (i) do item 3 abaixo, numa data-base pré-estabelecida, será selecionada uma amostra aleatória simples para a determinação de um intervalo de confiança para a proporção de eventuais f alhas, baseado numa distribuição binomial aproxi</a:t>
            </a:r>
          </a:p>
          <a:p>
            <a:r>
              <a:t>CNPJ 60010416000112 · Verificação de lastro e amostragem · Versão e prevalência: Leitura específica das cláusulas indicadas; condições e conflitos preservados. Seleção documental atual não comprova vigência jurídica por data isolada.</a:t>
            </a:r>
          </a:p>
          <a:p>
            <a:r>
              <a:t>CNPJ 60010416000112 · Verificação de lastro e amostragem · Resumo do histórico: {"count": 1, "dates": ["2025-03-20"], "document_count": 1, "sources": [{"document_id": "993786", "title": "Regulamento", "reference_date": "2025-03-20", "version": "1", "page": 38, "url": "https://fnet.bmfbovespa.com.br/fnet/publico/visualizarDocumento?id=993786", "sha256": "fd0fdd369a195510d81f81f505195a0b09e5f43522a990afa7d58c4f872921c8"}], "reference": {"path": "history/60010416000112.json", "criterion_id": "collateral_check", "total_count": 1, "preview_count": 1, "full_text_deferred": true, "sha256": "8e2bd813f4c51cf01f6bfaad164bafe69d2bbb192f753eac92da3a01c2e63046"}}</a:t>
            </a:r>
          </a:p>
          <a:p>
            <a:r>
              <a:t>CNPJ 62696791000193 · Verificação de lastro e amostragem · Regulamento · ID 1143317 · 20/03/2026 · versão Regulamento — referência 20/03/2026 · p. 13 · Anexo I, 4.15–4.19 · https://fnet.bmfbovespa.com.br/fnet/publico/visualizarDocumento?id=1143317</a:t>
            </a:r>
          </a:p>
          <a:p>
            <a:r>
              <a:t>CNPJ 62696791000193 · Verificação de lastro e amostragem · Excerto da fonte:</a:t>
            </a:r>
          </a:p>
          <a:p>
            <a:r>
              <a:t>4.15 Os serviços de custódia qualif icada dos Direitos Creditórios do Agronegócio não registrados em entidade registradora, bem como a guarda física dos originais dos Direitos Creditórios do Agronegócio e dos Documentos Comprobatórios, serão prestados pelo Custodiante. 4.16 São atribuições do Custodiante, observado o disposto neste Regulamento e na regulamentação aplicável: (i) realizar a liquidação física ou eletrônica e financeira dos Direitos Creditórios do Agronegócio; (ii) cobrar e receber, em nome da classe, pagamentos, resgate de títulos ou qualquer outro rendimento relativo aos ativos da Carteira, depositando os valores recebidos diretamente em conta de titularidade da classe ou, se f or o caso, em conta vinculada; e (iii) realizar a guarda da documentação relativa ao lastro dos Direitos Creditórios do Agronegócio. 4.17 Em razão de a Classe possuir significativa quantidade de Direitos Creditórios do Agronegócio cedidos e expressiva diversificação de devedores e de Cedentes, além de atuar em vários segmentos, o Custodiante está autorizado a ef etuar a verif icação do lastro dos Direitos Creditórios do Agronegócio por amostragem, sempre que permitido pel</a:t>
            </a:r>
          </a:p>
          <a:p>
            <a:r>
              <a:t>CNPJ 62696791000193 · Verificação de lastro e amostragem · Condição: O PDF obtido termina no Complemento I (Fatores de Risco); Complemento II, referenciado para parâmetros de amostragem, não está incluído. Não atribuir confiança 95%/erro 5% por analogia.</a:t>
            </a:r>
          </a:p>
          <a:p>
            <a:r>
              <a:t>CNPJ 62696791000193 · Verificação de lastro e amostragem · Versão e prevalência: Leitura específica das cláusulas indicadas; condições e conflitos preservados. Seleção documental atual não comprova vigência jurídica por data isolada.</a:t>
            </a:r>
          </a:p>
          <a:p>
            <a:r>
              <a:t>CNPJ 55563624000109 · Verificação de lastro e amostragem · Regulamento · ID 1192614 · 30/04/2026 · versão Regulamento30/04/2026 · p. 12 · AnexoI4.5–4.6 · https://fnet.bmfbovespa.com.br/fnet/publico/visualizarDocumento?id=1192614</a:t>
            </a:r>
          </a:p>
          <a:p>
            <a:r>
              <a:t>CNPJ 55563624000109 · Verificação de lastro e amostragem · Excerto da fonte:</a:t>
            </a:r>
          </a:p>
          <a:p>
            <a:r>
              <a:t>4.5 Uma vez que o investimento nas Cotas da Classe Investida não corresponde a um investimento direto em direitos creditórios, uma série de disposições comuns à securitização de direitos creditórios não será aplicável ao investimento nas Cotas da Classe Investida. A título meramente exemplificativo, não existem processos de originação ou política de concessão de crédito adotada pelo GESTOR, tampouco há que se falar em verificação ou guarda de documentos comprobatórios que não sejam referentes às Cotas da Classe Investida. Da mesma forma, não há necessida</a:t>
            </a:r>
          </a:p>
          <a:p>
            <a:r>
              <a:t>CNPJ 55563624000109 · Verificação de lastro e amostragem · Regulamento · ID 1192614 · 30/04/2026 · versão Regulamento30/04/2026 · p. 28 · AnexoI12.22–12.24 · https://fnet.bmfbovespa.com.br/fnet/publico/visualizarDocumento?id=1192614</a:t>
            </a:r>
          </a:p>
          <a:p>
            <a:r>
              <a:t>CNPJ 55563624000109 · Verificação de lastro e amostragem · Excerto da fonte:</a:t>
            </a:r>
          </a:p>
          <a:p>
            <a:r>
              <a:t>12.22 Os Documentos Comprobatórios relativos às Cotas da Classe Investida integrantes da Carteira inadimplidos e/ou substituídos num dado trimestre serão, no referido trimestre, objeto de verificação individualizada e integral pelo CUSTODIANTE ou terceiro por ele contratado. 12.23 Eventuais vícios verificados nos Documentos Comprobatórios que evidenciam o lastro dos Direitos Creditórios serão comunicados por escrito pelo CUSTODIANTE ao ADMINISTRADOR em até 5 (cinco) Dias Úteis da sua verificação, para que sejam tomadas as medidas necessárias. Cobrança da</a:t>
            </a:r>
          </a:p>
          <a:p>
            <a:r>
              <a:t>CNPJ 55563624000109 · Verificação de lastro e amostragem · Versão e prevalência: Leitura específica das cláusulas indicadas; condições e conflitos preservados. Seleção documental atual não comprova vigência jurídica por data isolada.</a:t>
            </a:r>
          </a:p>
          <a:p>
            <a:r>
              <a:t>CNPJ 62552447000120 · Verificação de lastro e amostragem · Regulamento · ID 1200623 · 21/05/2026 · versão Consolidado21/05/2026 aprovado pelo ato1200625 · p. 41 · ComplementoIIitens1–4 · https://fnet.bmfbovespa.com.br/fnet/publico/visualizarDocumento?id=1200623</a:t>
            </a:r>
          </a:p>
          <a:p>
            <a:r>
              <a:t>CNPJ 62552447000120 · Verificação de lastro e amostragem · Excerto da fonte:</a:t>
            </a:r>
          </a:p>
          <a:p>
            <a:r>
              <a:t>1. O Gestor deverá realizar a verif icação dos Documentos Comprobatórios relativos aos Direitos Creditórios adquiridos pela Classe trimestralmente; sendo certo que o Endossante e/ou o Agente de Retenção/Cobrança, conforme o caso, deverão enviar os Documentos Comprobat órios para o Gestor. 2. Observado o disposto no inciso (i) do item 3 abaixo, numa data-base pré-estabelecida, será selecionada uma amostra aleatória simples para a determinação de um intervalo de confiança para a proporção de eventuais falhas, baseado numa distribuição binomial aproximada a uma distribuição normal com 95% (noventa e cinco por cento) de nível de confian</a:t>
            </a:r>
          </a:p>
          <a:p>
            <a:r>
              <a:t>CNPJ 62552447000120 · Verificação de lastro e amostragem · Regulamento · ID 1200623 · 21/05/2026 · versão Consolidado21/05/2026 aprovado pelo ato1200625 · p. 29 · AnexoI12.12–12.13 · https://fnet.bmfbovespa.com.br/fnet/publico/visualizarDocumento?id=1200623</a:t>
            </a:r>
          </a:p>
          <a:p>
            <a:r>
              <a:t>CNPJ 62552447000120 · Verificação de lastro e amostragem · Excerto da fonte:</a:t>
            </a:r>
          </a:p>
          <a:p>
            <a:r>
              <a:t>12.12 Os Documentos Comprobatórios relativos aos Direitos Creditórios integrantes da Carteira inadimplidos e/ou substituídos num dado trimestre serão, no ref erido trimestre, objeto de verificação individualizada e integral pelo Custodiante ou terceiro por ele contratado. 12.13 Eventuais vícios verificados nos Documentos Comprobatórios que evidenciam o lastro dos Direitos Creditórios serão comunicados por escrito pelo Custodiante ao Administrador em até 5 (cinco) Dias Úteis da sua verif icação, para que sejam tomadas as medidas necessárias. Retenção e Cobrança dos Direitos Creditórios Inadimplidos 12.14 A Classe contra</a:t>
            </a:r>
          </a:p>
          <a:p>
            <a:r>
              <a:t>CNPJ 62552447000120 · Verificação de lastro e amostragem · Versão e prevalência: Leitura específica das cláusulas indicadas; condições e conflitos preservados. Seleção documental atual não comprova vigência jurídica por data isolada.</a:t>
            </a:r>
          </a:p>
          <a:p>
            <a:r>
              <a:t>CNPJ 63953620000165 · Verificação de lastro e amostragem · Anexo ao Regulamento · ID 1222863 · 2026-06-02 · versão 1 · p. 30 · https://fnet.bmfbovespa.com.br/fnet/publico/visualizarDocumento?id=1222863</a:t>
            </a:r>
          </a:p>
          <a:p>
            <a:r>
              <a:t>CNPJ 63953620000165 · Verificação de lastro e amostragem · Excerto da fonte:</a:t>
            </a:r>
          </a:p>
          <a:p>
            <a:r>
              <a:t>Complemento II  (Ao Anexo I)  PARÂMETROS PARA A VERIFICAÇÃO DO LASTRO POR AMOSTRAGEM  1. O Gestor deverá realizar a verificação dos Documentos Comprobatórios relativos aos Direitos Creditórios adquiridos pela  Classe trimestralmente; sendo certo que o Endossante e/ou o Agente de Retenção/Cobrança, conforme o caso, deverão  enviar os Documentos Comprobatórios para o Gestor, conforme definido nos itens conforme definido nos itens 11.16 e</a:t>
            </a:r>
          </a:p>
          <a:p>
            <a:r>
              <a:t>CNPJ 63953620000165 · Verificação de lastro e amostragem · Anexo ao Regulamento · ID 1222863 · 2026-06-02 · versão 1 · p. 30 · 11.17 · https://fnet.bmfbovespa.com.br/fnet/publico/visualizarDocumento?id=1222863</a:t>
            </a:r>
          </a:p>
          <a:p>
            <a:r>
              <a:t>CNPJ 63953620000165 · Verificação de lastro e amostragem · Excerto da fonte:</a:t>
            </a:r>
          </a:p>
          <a:p>
            <a:r>
              <a:t>11.17 do Anexo I.</a:t>
            </a:r>
          </a:p>
          <a:p>
            <a:r>
              <a:t> 2. Observado o disposto no inciso (i) do item 3 abaixo, numa data-base pré-estabelecida, será selecionada uma amostra  aleatória simples para a determinação de um intervalo de confiança para a proporção de eventuais falhas, baseado numa  distribuição binomial aproximada a uma distribuição normal com 95% (noventa e cinco por cento) de nível de confiança,  visando a uma margem de erro de 5% (cinco por cento), independentemente do cedente dos Direitos Creditórios.</a:t>
            </a:r>
          </a:p>
          <a:p>
            <a:r>
              <a:t> 3. O escopo da análise da documentação que evidencia o lastro dos Direitos Creditórios contempla a verificação da  existência dos respectivos Documentos Comprobatórios, conforme abaixo discriminado:</a:t>
            </a:r>
          </a:p>
          <a:p>
            <a:r>
              <a:t> i. obtenção de base de dados analítica por Direitos Creditórios integrantes da Carteira;</a:t>
            </a:r>
          </a:p>
          <a:p>
            <a:r>
              <a:t> ii. seleção de uma amostra de acordo com as fórmulas abaixo</a:t>
            </a:r>
          </a:p>
          <a:p>
            <a:r>
              <a:t>CNPJ 63953620000165 · Verificação de lastro e amostragem · Anexo ao Regulamento · ID 1222863 · 2026-06-02 · versão 1 · p. 26 · https://fnet.bmfbovespa.com.br/fnet/publico/visualizarDocumento?id=1222863</a:t>
            </a:r>
          </a:p>
          <a:p>
            <a:r>
              <a:t>CNPJ 63953620000165 · Verificação de lastro e amostragem · Excerto da fonte:</a:t>
            </a:r>
          </a:p>
          <a:p>
            <a:r>
              <a:t>Complemento I  (Ao Anexo I)  FATORES DE RISCO APLICÁVEIS À CLASSE CONSIGNADO PRIVADO DO MT GLOBAL FUNDO DE INVESTIMENTO EM  DIREITOS CREDITÓRIOS RESPONSABILIDADE LIMITADA  Risco de Crédito</a:t>
            </a:r>
          </a:p>
          <a:p>
            <a:r>
              <a:t> (i) Riscos associados aos Devedores: os Direitos Creditórios a serem endossados à Classe serão descontados  pela Dataprev da remuneração do Devedor. A capacidade de pagamento do Devedor poderá ser afetada se,  por exemplo, o Devedor tiver o seu contrato de emprego rescindido ou em virtude de decisão judicial, o  Devedor for obrigado a pagar alimentos, que têm prioridade sobre o empréstimo para fins de desconto na  folha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afetar a rentabilidade da Classe.</a:t>
            </a:r>
          </a:p>
          <a:p>
            <a:r>
              <a:t> (ii)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referido Devedor poderá  ficar inadimplente e, consequentemente, não haverá repasse à Classe do respectivo Direito Creditório, o  que poderá resultar em perdas financeiras à Classe e aos Cotistas.</a:t>
            </a:r>
          </a:p>
          <a:p>
            <a:r>
              <a:t> (iii) Risco do Empregador não efetuar o desconto em folha: o repasse dos recursos oriundos dos Direitos  Creditórios à Classe depende da realização, pelo Empregador, da Escrituração e do desconto na respectiva  folha de pagamento do Devedor. Na hipótese do Empregador deixar de realizar a Escrituração ou os  descontos na folha de pagamento, não haverá repasse de recursos à Classe, podendo causar prejuízos à  Classe e aos Cotistas.</a:t>
            </a:r>
          </a:p>
          <a:p>
            <a:r>
              <a:t> (iv) Risco de perda do vínculo empregatício com o Empregador: caso o Devedor perca o vínculo empregatício  com o Empregador, não haverá remuneração e folha de pagamento para realização dos descontos para  pagamento dos Direitos Creditórios. Neste caso, não obstante a possibilidade do Agente de  Retenção/Cobrança realizar a cobrança ativa dos Direitos Creditórios diretamente do Devedor, a ausência  de remuneração poderá deixar o Devedor inadimplente perante a Classe até que o seu vínculo empregatício  seja retomado e seja efetuado o procedimento operacional para que a CCB seja aditada e/ou seja realizado  o Processo de Reinicialização. Tais situações poderão resultar em prejuízos à Classe e aos Cotistas.</a:t>
            </a:r>
          </a:p>
          <a:p>
            <a:r>
              <a:t> Riscos Operacionais</a:t>
            </a:r>
          </a:p>
          <a:p>
            <a:r>
              <a:t> (i) Risco de irregularidade dos Documentos Comprobatórios e/ou Documentos Suporte: o Gestor, ou  terceiro por ele contratado, deverá realizar a verificação da regularidade dos Documentos Comprobatórios  e Documentos Suporte. A Carteira poderá conter Direitos Creditórios com documentação irregular, o que  poderá impedir que a Classe exerça plenamente as prerrogativas derivadas da titularidade dos Direitos  Creditórios. O Gestor poderá contratar empresas especializadas, com comprovada competência e  adequação, para realizar a guarda física, manutenção, armazenamento, organização e digitalização dos  Documentos Comprobatórios e Documentos Suporte, que estarão sob total responsabilidade do Gestor,  permanecendo as empresas como agentes depositários dos Documentos Comprobatórios e Documentos  Suporte.</a:t>
            </a:r>
          </a:p>
          <a:p>
            <a:r>
              <a:t> (ii) Risco operacional da Dataprev e da CEF: o empréstimo contraído pelos Devedores é pago por meio de  desconto na folha de pagamento feito pela Dataprev e pela CEF, conforme aplicável. É possível que os  rendimentos dos Devedores sejam atrasados ou não pagos devido a questões operacionais envolvendo a  Dataprev e/ou a CEF. Nesse caso, a Carteira poderá sofrer, já que não receberá automaticamente, e  também poderá ter dificuldades para receber, a qualquer momento, os recursos decorrentes dos Direitos  Creditórios.</a:t>
            </a:r>
          </a:p>
          <a:p>
            <a:r>
              <a:t>CNPJ 63953620000165 · Verificação de lastro e amostragem · Condição: Documentos atuais selecionados no inventário por categoria/escopo; a data documental isolada não comprova vigência jurídica.</a:t>
            </a:r>
          </a:p>
          <a:p>
            <a:r>
              <a:t>CNPJ 63953620000165 · Verificação de lastro e amostragem · Versão e prevalência: Documentos atuais selecionados no inventário por categoria/escopo; a data documental isolada não comprova vigência jurídica.</a:t>
            </a:r>
          </a:p>
          <a:p>
            <a:r>
              <a:t>CNPJ 63953620000165 · Verificação de lastro e amostragem · Resumo do histórico: {"count": 8, "dates": ["2026-04-28", "2026-05-08", "2026-05-15"], "document_count": 3, "sources": [{"document_id": "1327859", "title": "Demonstrações Financeiras - Fusão, cisão e incorporação", "reference_date": "2026-05-15", "version": "1", "page": 22, "url": "https://fnet.bmfbovespa.com.br/fnet/publico/visualizarDocumento?id=1327859", "sha256": "dca1c68babb97f887528c3e2e47596a9c30f507b067981a35655b2f2da9c8054"}, {"document_id": "1298691", "title": "Demonstrações Financeiras - Fusão, cisão e incorporação", "reference_date": "2026-05-08", "version": "1", "page": 17, "url": "https://fnet.bmfbovespa.com.br/fnet/publico/visualizarDocumento?id=1298691", "sha256": "58c570d9b8d4d265330d3db3ea81c435b8e44a6dab4002aa37790652a1ee9819"}, {"document_id": "1282180", "title": "Demonstrações Financeiras - Fusão, cisão e incorporação", "reference_date": "2026-04-28", "version": "1", "page": 17, "url": "https://fnet.bmfbovespa.com.br/fnet/publico/visualizarDocumento?id=1282180", "sha256": "afaaa0e6809be4385e5bdb6c911aac582032c5bdbac3d7750234bf9eaf00438a"}], "reference": {"path": "history/63953620000165.json", "criterion_id": "collateral_check",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Garantias e operação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Garantias e constituição · Demonstrações Financeiras - Fusão, cisão e incorporação · ID 1219522 · 2026-02-02 · versão 1 · p. 21 · https://fnet.bmfbovespa.com.br/fnet/publico/visualizarDocumento?id=1219522</a:t>
            </a:r>
          </a:p>
          <a:p>
            <a:r>
              <a:t>CNPJ 54871427000194 · Garantias e constituição · Excerto da fonte:</a:t>
            </a:r>
          </a:p>
          <a:p>
            <a:r>
              <a:t>Em 02 de fevereiro de 2026, a Classe não possuía garantias reais ou fidejussórias, pela liquidação  dos direitos creditórios.</a:t>
            </a:r>
          </a:p>
          <a:p>
            <a:r>
              <a:t>CNPJ 54871427000194 · Garantias e constituição · Condição: Trechos do documento específico identificado com data mais recente; vigência jurídica não inferida.</a:t>
            </a:r>
          </a:p>
          <a:p>
            <a:r>
              <a:t>CNPJ 54871427000194 · Garantias e constituição · Versão e prevalência: Trechos do documento específico identificado com data mais recente; vigência jurídica não inferida.</a:t>
            </a:r>
          </a:p>
          <a:p>
            <a:r>
              <a:t>CNPJ 54871427000194 · Garantias e constituição · Resumo do histórico: {"count": 5, "dates": ["2024-12-31", "2025-01-01", "2025-12-31"], "document_count": 3, "sources": [{"document_id": "1151805", "title": "Demonstrações Financeiras", "reference_date": "2025-12-31", "version": "1", "page": 21, "url": "https://fnet.bmfbovespa.com.br/fnet/publico/visualizarDocumento?id=1151805", "sha256": "f1cea70b152968bf96ef9221b27225953cb20aeef487b2798db3c25e11b528d4"}, {"document_id": "869529", "title": "Demonstrações Financeiras", "reference_date": "2025-01-01", "version": "1", "page": 20, "url": "https://fnet.bmfbovespa.com.br/fnet/publico/visualizarDocumento?id=869529", "sha256": "9a93a9369ac8efdbc54ff8fcee3ccac3abf88edab4807b9323d3852450771b2a"}, {"document_id": "870070", "title": "Demonstrações Financeiras", "reference_date": "2024-12-31", "version": "1", "page": 20, "url": "https://fnet.bmfbovespa.com.br/fnet/publico/visualizarDocumento?id=870070", "sha256": "9a93a9369ac8efdbc54ff8fcee3ccac3abf88edab4807b9323d3852450771b2a"}], "reference": {"path": "history/54871427000194.json", "criterion_id": "guarantee", "total_count": 5, "preview_count": 3, "full_text_deferred": true, "sha256": "35d7cd99be50c7287c9fb675cf4f2e736002315295a225a9efa79c8d9186d874"}}</a:t>
            </a:r>
          </a:p>
          <a:p>
            <a:r>
              <a:t>CNPJ 60010416000112 · Garantias e constituição · Demonstrações Financeiras - Fusão, cisão e incorporação · ID 1298690 · 2026-05-08 · versão 1 · p. 19 · https://fnet.bmfbovespa.com.br/fnet/publico/visualizarDocumento?id=1298690</a:t>
            </a:r>
          </a:p>
          <a:p>
            <a:r>
              <a:t>CNPJ 60010416000112 · Garantias e constituição · Excerto da fonte:</a:t>
            </a:r>
          </a:p>
          <a:p>
            <a:r>
              <a:t>Em 08 de maio de 2026, a Classe não possuía garantias reais ou fidejussórias, pela liquidação  dos Direitos Creditórios.</a:t>
            </a:r>
          </a:p>
          <a:p>
            <a:r>
              <a:t>CNPJ 60010416000112 · Garantias e constituição · Condição: Trechos do documento específico identificado com data mais recente; vigência jurídica não inferida.</a:t>
            </a:r>
          </a:p>
          <a:p>
            <a:r>
              <a:t>CNPJ 60010416000112 · Garantias e constituição · Versão e prevalência: Trechos do documento específico identificado com data mais recente; vigência jurídica não inferida.</a:t>
            </a:r>
          </a:p>
          <a:p>
            <a:r>
              <a:t>CNPJ 60010416000112 · Garantias e constituição · Resumo do histórico: {"count": 4, "dates": ["2025-11-30", "2026-03-18", "2026-04-16"], "document_count": 3, "sources": [{"document_id": "1282181", "title": "Demonstrações Financeiras - Fusão, cisão e incorporação", "reference_date": "2026-04-16", "version": "1", "page": 20, "url": "https://fnet.bmfbovespa.com.br/fnet/publico/visualizarDocumento?id=1282181", "sha256": "b1c6566e43a00bcd00c8a7f30c77b7f86e351bd8e355bbea113f46d1dafda703"}, {"document_id": "1224477", "title": "Demonstrações Financeiras - Fusão, cisão e incorporação", "reference_date": "2026-03-18", "version": "1", "page": 20, "url": "https://fnet.bmfbovespa.com.br/fnet/publico/visualizarDocumento?id=1224477", "sha256": "0751bf0a75bc3b44c2748f5000226665c6ec6698a90c4dc6170b4e6c187759ae"}, {"document_id": "1126154", "title": "Demonstrações Financeiras", "reference_date": "2025-11-30", "version": "1", "page": 21, "url": "https://fnet.bmfbovespa.com.br/fnet/publico/visualizarDocumento?id=1126154", "sha256": "a01e7ccf88c548f12c95cba8526d7efbef6b585c112cd4668eca781c292090b0"}], "reference": {"path": "history/60010416000112.json", "criterion_id": "guarantee", "total_count": 4, "preview_count": 3, "full_text_deferred": true, "sha256": "8e2bd813f4c51cf01f6bfaad164bafe69d2bbb192f753eac92da3a01c2e63046"}}</a:t>
            </a:r>
          </a:p>
          <a:p>
            <a:r>
              <a:t>CNPJ 62696791000193 · Garantias e constituição · Regulamento · ID 1143317 · 20/03/2026 · versão Regulamento — referência 20/03/2026 · p. 11 · Anexo I, 4.7(iv) · https://fnet.bmfbovespa.com.br/fnet/publico/visualizarDocumento?id=1143317</a:t>
            </a:r>
          </a:p>
          <a:p>
            <a:r>
              <a:t>CNPJ 62696791000193 · Garantias e constituição · Excerto da fonte:</a:t>
            </a:r>
          </a:p>
          <a:p>
            <a:r>
              <a:t>(iv) sejam representados por direitos e/ou títulos representativos de crédito, com ou sem garantias reais ou pessoais a eles atreladas, incluindo, sem limitação, duplicatas, debêntures, contratos de locação e contratos mercantis de compra e venda de produtos e/ ou mercadorias perf ormados e/ou para entrega ou prestação f utura, bem como títulos ou certificados representativos desses contratos, decorrentes de operações nos segmentos f inanceiro, comercial, industrial, imobiliário, de hipotecas, de arrendamento mercantil e de prestação de serviços, observadas as vedações do item 4.28 abaixo deste Anexo. 4.7.2 Para f ins da verificação dos Critérios de Elegibilidade, será considerado o Patrimônio Líquido e o valor dos Direitos Creditórios do Agronegócio integrantes da carteira no Dia Útil imediatamente anterior à Data de Aquisição. 4.7.3 Na hipótese de eventuais Direitos Creditórios do Agronegócio elegíveis deixarem de atender a qualquer Critério de Elegibilidade após sua aquisição pela Classe, tal f ato não será entendido como um desenquadramento da carteira, tampouco haverá direito de regresso contra</a:t>
            </a:r>
          </a:p>
          <a:p>
            <a:r>
              <a:t>CNPJ 62696791000193 · Garantias e constituição · Regulamento · ID 1143317 · 20/03/2026 · versão Regulamento — referência 20/03/2026 · p. 14 · Anexo I, 4.24 · https://fnet.bmfbovespa.com.br/fnet/publico/visualizarDocumento?id=1143317</a:t>
            </a:r>
          </a:p>
          <a:p>
            <a:r>
              <a:t>CNPJ 62696791000193 · Garantias e constituição · Excerto da fonte:</a:t>
            </a:r>
          </a:p>
          <a:p>
            <a:r>
              <a:t>4.24 A Classe poderá adquirir imóveis rurais sobre os quais tenham sido constituídos ônus reais anteriormente ao seu ingresso no patrimônio da Classe. Ainda, posteriormente ao seu ingresso no patrimônio da Classe, poderá o Gestor, em nome da Classe, prestar fiança, aval, aceite ou coobrigar- se sob qualquer f orma, relativamente a operações relacionadas à carteira de ativos da Classe, bem como constituir ônus reais sobre imóveis rurais integrantes do patrimônio da Classe para garantir obrigações por ela assumidas. 4.25 O Administrador, conforme orientação do Gestor, poderá utilizar recursos da classe para recomprar suas próprias cotas, com a f inalidade exclusiva de cancelamento, seja por meio de programa de recompra ou por meio de Of erta Pública Voluntária de Aquisição d e suas próprias cotas (“OPAC”), observados os procedimentos eventualmente previstos nos manuais ou regras da B3, bem como o disposto no Art. 56 e seguintes do Anexo Normativo I da Resolução CVM 175. Participações do Agronegócio 4.26 As seguintes regras são aplicáveis aos investimentos em Participações do Agronegócio realizados pela Classe. 4.26.1 Deverão ser asseguradas à Classe (i) a participação no processo deci</a:t>
            </a:r>
          </a:p>
          <a:p>
            <a:r>
              <a:t>CNPJ 62696791000193 · Garantias e constituição · Regulamento · ID 1143317 · 20/03/2026 · versão Regulamento — referência 20/03/2026 · p. 48 · Complemento I, 11.6 · https://fnet.bmfbovespa.com.br/fnet/publico/visualizarDocumento?id=1143317</a:t>
            </a:r>
          </a:p>
          <a:p>
            <a:r>
              <a:t>CNPJ 62696791000193 · Garantias e constituição · Excerto da fonte:</a:t>
            </a:r>
          </a:p>
          <a:p>
            <a:r>
              <a:t>11.6. Ausência de garantia. As aplicações realizadas na Classe não contam com garantia do Cedente, do ADMINISTRADOR, do GESTOR, do CUSTODIANTE ou da Classe Garantidor de Créditos – FGC, de modo que é possível a perda total do capital investido pelos Cotistas ou mesmo a necessidade de os Cotistas realizarem aportes adicionais de recursos para a cobertura de eventuais prejuízos. 11.7. Limitação do gerenciamento de riscos. A realização de investimentos na Classe expõe o investidor a riscos a que a Classe está sujeita, os quais poderão acarretar perdas para os Cotistas. Não há qualquer garantia de completa eliminação da possibilidade de perdas para a Classe e para os Cotistas. Em condições adversas de mercado, esses sistemas de gerenciamento de riscos poderão ter sua ef iciência reduzida. A Classe também poderá estar sujeita a outros riscos advindos de motivos alheios ou exógenos ao controle do Administrador, tais como moratória, inadimplemento de pagamentos, mudança nas regras aplicáveis aos Ativos-Alvo e Ativos Financeiros de Liquidez, alteração na política monetária, alteração da política fiscal aplicável à Classe, os quais poderão causar preju</a:t>
            </a:r>
          </a:p>
          <a:p>
            <a:r>
              <a:t>CNPJ 62696791000193 · Garantias e constituição · Versão e prevalência: Leitura específica das cláusulas indicadas; condições e conflitos preservados. Seleção documental atual não comprova vigência jurídica por data isolada.</a:t>
            </a:r>
          </a:p>
          <a:p>
            <a:r>
              <a:t>CNPJ 55563624000109 · Garantias e constituição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Garantias e constituição · Resumo do histórico: {"count": 1, "dates": ["2026-04-30"], "document_count": 1, "sources": [{"document_id": "1192614", "title": "Regulamento", "reference_date": "2026-04-30", "version": "1", "page": "12, 14", "url": "https://fnet.bmfbovespa.com.br/fnet/publico/visualizarDocumento?id=1192614", "sha256": "f56e63ace0acde41d2f47fb48f1ac7f3f7df5e2d32de092d7c5e075a52516632"}], "reference": {"path": "history/55563624000109.json", "criterion_id": "guarantee", "total_count": 1, "preview_count": 1, "full_text_deferred": true, "sha256": "7835d573fb58a3c19adf5b8ecc2aee2bdbb9a88f7a0c0209b5f262b64c7522e3"}}</a:t>
            </a:r>
          </a:p>
          <a:p>
            <a:r>
              <a:t>CNPJ 62552447000120 · Garantias e constituição · Regulamento · ID 1200623 · 21/05/2026 · versão Consolidado21/05/2026 aprovado pelo ato1200625 · p. 8 · AnexoICondições(ii)(c) · https://fnet.bmfbovespa.com.br/fnet/publico/visualizarDocumento?id=1200623</a:t>
            </a:r>
          </a:p>
          <a:p>
            <a:r>
              <a:t>CNPJ 62552447000120 · Garantias e constituição · Excerto da fonte:</a:t>
            </a:r>
          </a:p>
          <a:p>
            <a:r>
              <a:t>garantias prestadas pelo Endossante ou pelo Agente de Retenção/Cobrança com relação a esse Direito Creditório deverão ser verdadeiras, nos termos deste Contrato e do respectivo Termo de Endosso; (e) tenha sido realizado o tratamento dos dados pessoais de pessoa natural observando as leis e regulamentações que regem a privacidade e a proteção de dados pess</a:t>
            </a:r>
          </a:p>
          <a:p>
            <a:r>
              <a:t>CNPJ 62552447000120 · Garantias e constituição · Regulamento · ID 1200623 · 21/05/2026 · versão Consolidado21/05/2026 aprovado pelo ato1200625 · p. 12 · AnexoI4.3.2 · https://fnet.bmfbovespa.com.br/fnet/publico/visualizarDocumento?id=1200623</a:t>
            </a:r>
          </a:p>
          <a:p>
            <a:r>
              <a:t>CNPJ 62552447000120 · Garantias e constituição · Excerto da fonte:</a:t>
            </a:r>
          </a:p>
          <a:p>
            <a:r>
              <a:t>alienação/cessão fiduciária; e (b) solicitar bloqueio de parte do saldo da conta vinculada do Devedor. Emitida a CCB em favor do Endossante e formalizada a alienação/cessão f iduciária pelo Devedor, o Endossante endossará eletronicamente a CCB em preto à Classe, que receberá todos os valores dela decorrentes (i.e., os Direitos Creditórios FGTS), após concluídas as f ormalidades de processamento pela CEF, na Conta da Classe. Caso a alienação/cessão f iduciária seja acionada nos termos da CCB, os recursos onerados serão liberados em favor do Endossante no</a:t>
            </a:r>
          </a:p>
          <a:p>
            <a:r>
              <a:t>CNPJ 62552447000120 · Garantias e constituição · Regulamento · ID 1200623 · 21/05/2026 · versão Consolidado21/05/2026 aprovado pelo ato1200625 · p. 6 · AnexoIRefinanciamentoLivre(d) · https://fnet.bmfbovespa.com.br/fnet/publico/visualizarDocumento?id=1200623</a:t>
            </a:r>
          </a:p>
          <a:p>
            <a:r>
              <a:t>CNPJ 62552447000120 · Garantias e constituição · Excerto da fonte:</a:t>
            </a:r>
          </a:p>
          <a:p>
            <a:r>
              <a:t>Refinanciamento Livre”, na forma de CCBs originadas no âmbito de um refinanciamento, de acordo com a política de cobrança vigente, de Direitos Creditórios Consignado Privado e de Direitos Creditórios FGTS, que não contem com o lastro de Consignação ou de cessão f iduciária do Saque-Aniversário, respectivamente; e (ii) “Ativos Financei</a:t>
            </a:r>
          </a:p>
          <a:p>
            <a:r>
              <a:t>CNPJ 62552447000120 · Garantias e constituição · Regulamento · ID 1200623 · 21/05/2026 · versão Consolidado21/05/2026 aprovado pelo ato1200625 · p. 16 · AnexoI4.25 · https://fnet.bmfbovespa.com.br/fnet/publico/visualizarDocumento?id=1200623</a:t>
            </a:r>
          </a:p>
          <a:p>
            <a:r>
              <a:t>CNPJ 62552447000120 · Garantias e constituição · Excerto da fonte:</a:t>
            </a:r>
          </a:p>
          <a:p>
            <a:r>
              <a:t>4.25 As aplicações na Classe não contam com garantia: (i) do Administrador; (ii) do Gestor; (iii) do Endossante; (iv) do Custodiante; (v) dos demais prestadores de serviço da Classe; (vii) de qualquer mecanismo de seguro; e/ou (viii) do FGC. CAPÍTULO 5 – CARACTERÍSTICAS E CONDIÇÕES DAS COTAS 5.1 A Classe não possui Subclasse. As características, os direitos e as condições de emissão, distribuição, subscrição, integralização, remuneração, Amortização e resgate das Cotas estão descritos neste Capítulo e no Capítulo 6. 5.1.1 Não obstante, por deliberação conjunta dos Prestadores de Serviços Essenciais e me</a:t>
            </a:r>
          </a:p>
          <a:p>
            <a:r>
              <a:t>CNPJ 62552447000120 · Garantias e constituição · Versão e prevalência: Leitura específica das cláusulas indicadas; condições e conflitos preservados. Seleção documental atual não comprova vigência jurídica por data isolada.</a:t>
            </a:r>
          </a:p>
          <a:p>
            <a:r>
              <a:t>CNPJ 63953620000165 · Garantias e constituição · Demonstrações Financeiras - Fusão, cisão e incorporação · ID 1327859 · 2026-05-15 · versão 1 · p. 21 · https://fnet.bmfbovespa.com.br/fnet/publico/visualizarDocumento?id=1327859</a:t>
            </a:r>
          </a:p>
          <a:p>
            <a:r>
              <a:t>CNPJ 63953620000165 · Garantias e constituição · Excerto da fonte:</a:t>
            </a:r>
          </a:p>
          <a:p>
            <a:r>
              <a:t>i) Alienação de direitos creditórios  No período em findo em 15 de maio de 2026, não houve recompra de direitos creditórios  inadimplentes.</a:t>
            </a:r>
          </a:p>
          <a:p>
            <a:r>
              <a:t>j) Garantias  Em 15 de maio de 2026, a Classe não possuía garantias reais ou fidejussórias, pela liquidação  dos direitos creditórios.</a:t>
            </a:r>
          </a:p>
          <a:p>
            <a:r>
              <a:t>7. Riscos  Não obstante o emprego pela Administradora e pela Gestora de plena diligência e da boa prática  de administração e gestão da Classe, da estrita observância da política de investimento, das  regras legais e regulamentares aplicáveis à sua administração e gestão, a Classe estará sujeita  aos riscos inerentes aos bens e direitos integrantes de sua Carteira, além dos fatores de risco  identificados abaixo.</a:t>
            </a:r>
          </a:p>
          <a:p>
            <a:r>
              <a:t> Risco de Crédito</a:t>
            </a:r>
          </a:p>
          <a:p>
            <a:r>
              <a:t> (i) Riscos associados aos Devedores: os direitos creditórios a serem endossados à  classe serão descontados pela Dataprev da remuneração do devedor. A capacidade de  pagamento do devedor poderá ser afetada se, por exemplo, o devedor tiver o seu  contrato de emprego rescindido ou em virtude de decisão judicial, o devedor for obrigado  a pagar alimentos, que têm prioridade sobre o empréstimo para fins de desconto na folha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afetar a rentabilidade da classe.</a:t>
            </a:r>
          </a:p>
          <a:p>
            <a:r>
              <a:t>CNPJ 63953620000165 · Garantias e constituição · Condição: Trechos do documento específico identificado com data mais recente; vigência jurídica não inferida.</a:t>
            </a:r>
          </a:p>
          <a:p>
            <a:r>
              <a:t>CNPJ 63953620000165 · Garantias e constituição · Versão e prevalência: Trechos do documento específico identificado com data mais recente; vigência jurídica não inferida.</a:t>
            </a:r>
          </a:p>
          <a:p>
            <a:r>
              <a:t>CNPJ 63953620000165 · Garantias e constituição · Resumo do histórico: {"count": 7, "dates": ["2026-04-16", "2026-04-28", "2026-05-08"], "document_count": 3, "sources": [{"document_id": "1298691", "title": "Demonstrações Financeiras - Fusão, cisão e incorporação", "reference_date": "2026-05-08", "version": "1", "page": 21, "url": "https://fnet.bmfbovespa.com.br/fnet/publico/visualizarDocumento?id=1298691", "sha256": "58c570d9b8d4d265330d3db3ea81c435b8e44a6dab4002aa37790652a1ee9819"}, {"document_id": "1282180", "title": "Demonstrações Financeiras - Fusão, cisão e incorporação", "reference_date": "2026-04-28", "version": "1", "page": 21, "url": "https://fnet.bmfbovespa.com.br/fnet/publico/visualizarDocumento?id=1282180", "sha256": "afaaa0e6809be4385e5bdb6c911aac582032c5bdbac3d7750234bf9eaf00438a"}, {"document_id": "1282179", "title": "Demonstrações Financeiras - Fusão, cisão e incorporação", "reference_date": "2026-04-16", "version": "1", "page": 21, "url": "https://fnet.bmfbovespa.com.br/fnet/publico/visualizarDocumento?id=1282179", "sha256": "beb67afbcd64169019477673fd3b7c1edbfabbd9db07379388d8cdd5d3fc9395"}], "reference": {"path": "history/63953620000165.json", "criterion_id": "guarantee", "total_count": 7, "preview_count": 3, "full_text_deferred": true, "sha256": "a7b89077f5e21098c2d601c303faabc3ff6b9729f89d8afecdc60fe1404720c1"}}</a:t>
            </a:r>
          </a:p>
          <a:p>
            <a:r>
              <a:t>CNPJ 54871427000194 · Registro, execução e recuperação · Motivo: Não localizada uma cláusula material para este critério nos textos identificados e processados. A ausência de resultado não comprova inexistência da regra.</a:t>
            </a:r>
          </a:p>
          <a:p>
            <a:r>
              <a:t>CNPJ 60010416000112 · Registro, execução e recuperação · Motivo: Não localizada uma cláusula material para este critério nos textos identificados e processados. A ausência de resultado não comprova inexistência da regra.</a:t>
            </a:r>
          </a:p>
          <a:p>
            <a:r>
              <a:t>CNPJ 62696791000193 · Registro, execução e recuperação · Regulamento · ID 1143317 · 2026-03-20 · versão 1 · p. 45 · 8.7 · https://fnet.bmfbovespa.com.br/fnet/publico/visualizarDocumento?id=1143317</a:t>
            </a:r>
          </a:p>
          <a:p>
            <a:r>
              <a:t>CNPJ 62696791000193 · Registro, execução e recuperação · Excerto da fonte:</a:t>
            </a:r>
          </a:p>
          <a:p>
            <a:r>
              <a:t>8.7. Risco de Execução das Garantias Atreladas aos CRIs. O investimento em CRI inclui uma série  de riscos, dentre estes, o risco de inadimplemento e consequente execução das garantias  outorgadas à respectiva operação e os riscos inerentes à eventual existência de bens imóveis  na composição da carteira da Classe, podendo, nesta hipótese, a rentabilidade da Classe ser  af etada. Em um eventual processo de execução das garantias dos CRI, poderá haver a  necessidade de contratação de consultores, dentre outros custos, que deverão ser suportados  pela Classe, na qualidade de investidor dos CRI. Adicionalmente, a garantia outorgada em  f avor dos CRI pode não ter valor suficiente para suportar as obrigações financeiras atreladas  a tal CRI. Desta f orma, uma série de eventos relacionados à execução de garantias dos CRI  poderá afetar negativamente o valor das Cotas e a rentabilidade do investimento na Classe.</a:t>
            </a:r>
          </a:p>
          <a:p>
            <a:r>
              <a:t>9. Riscos relativos às Participações do Agronegócio</a:t>
            </a:r>
          </a:p>
          <a:p>
            <a:r>
              <a:t>CNPJ 62696791000193 · Registro, execução e recuperação · Condição: Documentos atuais selecionados no inventário por categoria/escopo; a data documental isolada não comprova vigência jurídica.</a:t>
            </a:r>
          </a:p>
          <a:p>
            <a:r>
              <a:t>CNPJ 62696791000193 · Registro, execução e recuperação · Motivo: Cláusula primária localizada e citada, mas sua lista/condições extensas não admitem uma síntese literal curta confirmada. O trecho integral permanece nas fontes.</a:t>
            </a:r>
          </a:p>
          <a:p>
            <a:r>
              <a:t>CNPJ 62696791000193 · Registro, execução e recuperação · Versão e prevalência: Documentos atuais selecionados no inventário por categoria/escopo; a data documental isolada não comprova vigência jurídica.</a:t>
            </a:r>
          </a:p>
          <a:p>
            <a:r>
              <a:t>CNPJ 55563624000109 · Registro, execução e recuperação · Motivo: Não localizada uma cláusula material para este critério nos textos identificados e processados. A ausência de resultado não comprova inexistência da regra.</a:t>
            </a:r>
          </a:p>
          <a:p>
            <a:r>
              <a:t>CNPJ 62552447000120 · Registro, execução e recuperação · Motivo: Não localizada uma cláusula material para este critério nos textos identificados e processados. A ausência de resultado não comprova inexistência da regra.</a:t>
            </a:r>
          </a:p>
          <a:p>
            <a:r>
              <a:t>CNPJ 63953620000165 · Registro, execução e recuperação · Motivo: Não localizada uma cláusula material para este critério nos textos identificados e processados. A ausência de resultado não comprova inexistência da regra.</a:t>
            </a:r>
          </a:p>
          <a:p>
            <a:r>
              <a:t>CNPJ 54871427000194 · Cobrança e servicing · Regulamento · ID 670691 · 28/04/2024 · versão Regulamento — referência 28/04/2024 · p. 44 · Complemento 2, Régua de Cobrança, Desconto e Comissão · https://fnet.bmfbovespa.com.br/fnet/publico/visualizarDocumento?id=670691</a:t>
            </a:r>
          </a:p>
          <a:p>
            <a:r>
              <a:t>CNPJ 54871427000194 · Cobrança e servicing · Excerto da fonte:</a:t>
            </a:r>
          </a:p>
          <a:p>
            <a:r>
              <a:t>Régua de Cobrança A partir da comunicação da desaverbação do a partir de 31 dias a partir de 60 dias contrato - Notificação (canais digitais) - Negativação SERASA - PROTESTO Repescagem diária na - Cobrança terceirizada - Repescagem diária na conta corrente - Repescagem diária na conta corrente conta corrente DESCONTO Normal Atraso Multa e Mora Principal 15 a 90 0% 0% 91 a 180 100% 0% 181 a 270 100% 20% 271 a 360 100% 30% Acima de 360 100% 50% COMISSÃO Faixa de Atraso % comissão De 15 a 90 dias 12% De 90 a 180 dias 15% De 181 a 270 dias 20%</a:t>
            </a:r>
          </a:p>
          <a:p>
            <a:r>
              <a:t>CNPJ 54871427000194 · Cobrança e servicing · Condição: A tabela de comissões se refere à cobrança/recuperação por faixa de atraso; a remuneração geral do agente está remetida ao contrato na cláusula 13.7.</a:t>
            </a:r>
          </a:p>
          <a:p>
            <a:r>
              <a:t>CNPJ 54871427000194 · Cobrança e servicing · Versão e prevalência: Leitura específica das cláusulas indicadas; condições e conflitos preservados. Seleção documental atual não comprova vigência jurídica por data isolada.</a:t>
            </a:r>
          </a:p>
          <a:p>
            <a:r>
              <a:t>CNPJ 60010416000112 · Cobrança e servicing · Regulamento · ID 1051393 · 2025-10-09 · versão 1 · p. 33 · 14.2.5 · https://fnet.bmfbovespa.com.br/fnet/publico/visualizarDocumento?id=1051393</a:t>
            </a:r>
          </a:p>
          <a:p>
            <a:r>
              <a:t>CNPJ 60010416000112 · Cobrança e servicing · Excerto da fonte:</a:t>
            </a:r>
          </a:p>
          <a:p>
            <a:r>
              <a:t>14.2.5 O Agente de Retenção/Cobrança poderá realizar a cobrança do Direitos Creditórios de forma ativa  caso seja verif icado, pelo Agente de Retenção/Cobrança que o Empregador não ef etuou a  Escrituração ou em caso de perda do vínculo empregatício do Devedor com o Empregador. A  cobrança ativa será mantida até que a Escrituração seja realizada e/ou até que o Devedor retome  o vínculo empregatício, observado o disposto abaixo:</a:t>
            </a:r>
          </a:p>
          <a:p>
            <a:r>
              <a:t> (i) As medidas adotadas pelo Agente de Retenção/Cobrança deverão observar a política  de cobrança adotada pelo Custodiante; e</a:t>
            </a:r>
          </a:p>
          <a:p>
            <a:r>
              <a:t> (ii) Uma vez retomado o vínculo empregatício, o Agente de Retenção/Cobrança deverá aditar  a CCB e/ou realizar o Processo de Reinicialização (conforme detalhado no Contrato de  Endosso).</a:t>
            </a:r>
          </a:p>
          <a:p>
            <a:r>
              <a:t>CAPÍTULO 15 – FATORES DE RISCO</a:t>
            </a:r>
          </a:p>
          <a:p>
            <a:r>
              <a:t>CNPJ 60010416000112 · Cobrança e servicing · Condição: Documentos atuais selecionados no inventário por categoria/escopo; a data documental isolada não comprova vigência jurídica.</a:t>
            </a:r>
          </a:p>
          <a:p>
            <a:r>
              <a:t>CNPJ 60010416000112 · Cobrança e servicing · Versão e prevalência: Documentos atuais selecionados no inventário por categoria/escopo; a data documental isolada não comprova vigência jurídica.</a:t>
            </a:r>
          </a:p>
          <a:p>
            <a:r>
              <a:t>CNPJ 60010416000112 · Cobrança e servicing · Resumo do histórico: {"count": 1, "dates": ["2025-03-20"], "document_count": 1, "sources": [{"document_id": "993786", "title": "Regulamento", "reference_date": "2025-03-20", "version": "1", "page": 33, "clause": "14.2.5", "url": "https://fnet.bmfbovespa.com.br/fnet/publico/visualizarDocumento?id=993786", "sha256": "fd0fdd369a195510d81f81f505195a0b09e5f43522a990afa7d58c4f872921c8"}], "reference": {"path": "history/60010416000112.json", "criterion_id": "servicing", "total_count": 1, "preview_count": 1, "full_text_deferred": true, "sha256": "8e2bd813f4c51cf01f6bfaad164bafe69d2bbb192f753eac92da3a01c2e63046"}}</a:t>
            </a:r>
          </a:p>
          <a:p>
            <a:r>
              <a:t>CNPJ 62696791000193 · Cobrança e servicing · Regulamento · ID 1143317 · 2026-03-20 · versão 1 · p. 43 · 7.7 · https://fnet.bmfbovespa.com.br/fnet/publico/visualizarDocumento?id=1143317</a:t>
            </a:r>
          </a:p>
          <a:p>
            <a:r>
              <a:t>CNPJ 62696791000193 · Cobrança e servicing · Excerto da fonte:</a:t>
            </a:r>
          </a:p>
          <a:p>
            <a:r>
              <a:t>7.7. Falhas de Cobrança. A cobrança dos Direitos Creditórios do Agronegócio Inadimplidos de  titularidade da Classe depende da atuação diligente do agente de cobrança. Qualquer f alha  de procedimento ou ineficiência do agente de cobrança poderá acarretar menor recebimento  dos recursos devidos pelos Devedores, levando à queda da rentabilidade da Classe.</a:t>
            </a:r>
          </a:p>
          <a:p>
            <a:r>
              <a:t> Adicionalmente, nada garante que a cobrança judicial dos Direitos Creditórios do Agronegócio  Inadimplidos levará à recuperação total dos Direitos Creditórios do Agronegócio Inadimplidos,  o que poderá implicar perdas patrimoniais à Classe e aos Cotistas.</a:t>
            </a:r>
          </a:p>
          <a:p>
            <a:r>
              <a:t>CNPJ 62696791000193 · Cobrança e servicing · Regulamento · ID 1143317 · 2026-03-20 · versão 1 · p. 9 · 3.2 · https://fnet.bmfbovespa.com.br/fnet/publico/visualizarDocumento?id=1143317</a:t>
            </a:r>
          </a:p>
          <a:p>
            <a:r>
              <a:t>CNPJ 62696791000193 · Cobrança e servicing · Excerto da fonte:</a:t>
            </a:r>
          </a:p>
          <a:p>
            <a:r>
              <a:t>3.2 Sem prejuízo de outras despesas que venham a ser aprovadas em Assembleia Especial, são Encargos  da Classe:</a:t>
            </a:r>
          </a:p>
          <a:p>
            <a:r>
              <a:t> (i) despesas com consultoria especializada;</a:t>
            </a:r>
          </a:p>
          <a:p>
            <a:r>
              <a:t> (ii) despesas com agente de cobrança.</a:t>
            </a:r>
          </a:p>
          <a:p>
            <a:r>
              <a:t>CNPJ 62696791000193 · Cobrança e servicing · Condição: Documentos atuais selecionados no inventário por categoria/escopo; a data documental isolada não comprova vigência jurídica.</a:t>
            </a:r>
          </a:p>
          <a:p>
            <a:r>
              <a:t>CNPJ 62696791000193 · Cobrança e servicing · Versão e prevalência: Documentos atuais selecionados no inventário por categoria/escopo; a data documental isolada não comprova vigência jurídica.</a:t>
            </a:r>
          </a:p>
          <a:p>
            <a:r>
              <a:t>CNPJ 55563624000109 · Cobrança e servicing · Regulamento · ID 1192614 · 2026-04-30 · versão 1 · p. 11 · https://fnet.bmfbovespa.com.br/fnet/publico/visualizarDocumento?id=1192614</a:t>
            </a:r>
          </a:p>
          <a:p>
            <a:r>
              <a:t>CNPJ 55563624000109 · Cobrança e servicing · Excerto da fonte:</a:t>
            </a:r>
          </a:p>
          <a:p>
            <a:r>
              <a:t>(vi) Emolumentos e comissões pagas por operações da Carteira da Classe;</a:t>
            </a:r>
          </a:p>
          <a:p>
            <a:r>
              <a:t> (vii) Despesas com a manutenção de ativos cuja propriedade decorra da execução de garantia ou de acordo  com o respectivo devedor;</a:t>
            </a:r>
          </a:p>
          <a:p>
            <a:r>
              <a:t> (viii) Honorários de advogados, custas e despesas processuais correlatas incorridos em defesa dos interesses  do FUNDO ou da Classe, em juízo ou fora dele, inclusive o valor da condenação imputada, se for o caso;</a:t>
            </a:r>
          </a:p>
          <a:p>
            <a:r>
              <a:t> (ix) Gastos derivados da celebração de contratos de seguro sobre os ativos integrantes da Carteira da Classe,  assim como a parcela de prejuízos da Carteira não coberta por apólices de seguro, salvo se decorrente  diretamente de culpa ou dolo dos prestadores de serviços da Classe no exercício de suas respectivas  funções;</a:t>
            </a:r>
          </a:p>
          <a:p>
            <a:r>
              <a:t> (x) Despesas relacionadas ao exercício do direito de voto decorrente dos ativos integrantes da Carteira;</a:t>
            </a:r>
          </a:p>
          <a:p>
            <a:r>
              <a:t> (xi) Despesas com a realização da Assembleia de Cotistas;</a:t>
            </a:r>
          </a:p>
          <a:p>
            <a:r>
              <a:t> (xii) Despesas inerentes à constituição, à fusão, à incorporação, à cisão, à transformação ou à liquidação da  Classe;</a:t>
            </a:r>
          </a:p>
          <a:p>
            <a:r>
              <a:t> (xiii) Despesas com a liquidação, o registro e a custódia de operações com os ativos integrantes da Carteira;</a:t>
            </a:r>
          </a:p>
          <a:p>
            <a:r>
              <a:t> (xiv) Despesas com o fechamento de câmbio, vinculadas às operações da Carteira da Classe;</a:t>
            </a:r>
          </a:p>
          <a:p>
            <a:r>
              <a:t> (xv) Despesas inerentes à distribuição primária das Cotas e à admissão das Cotas à negociação em mercado  organizado;</a:t>
            </a:r>
          </a:p>
          <a:p>
            <a:r>
              <a:t> (xvi) Taxa de Administração e a Taxa de Gestão;</a:t>
            </a:r>
          </a:p>
          <a:p>
            <a:r>
              <a:t> (xvii) Despesas com a contratação de consultoria especializada, conforme o caso;</a:t>
            </a:r>
          </a:p>
          <a:p>
            <a:r>
              <a:t> (xviii) Despesas com a contratação de agente de cobrança, conforme o caso;</a:t>
            </a:r>
          </a:p>
          <a:p>
            <a:r>
              <a:t> (xix) Despesas decorrentes de empréstimos contraídos em nome da Classe, nos termos da Resolução CVM  175 e deste Anexo;</a:t>
            </a:r>
          </a:p>
          <a:p>
            <a:r>
              <a:t> (xx) Taxa mínima de custódia, se houver; e</a:t>
            </a:r>
          </a:p>
          <a:p>
            <a:r>
              <a:t> (xxi) Montantes devidos a fundos investidores, na hipótese de remuneração com base na taxa de  administração, performance ou gestão, observado o disposto no art. 99 da parte geral da Resolução  CVM 175.</a:t>
            </a:r>
          </a:p>
          <a:p>
            <a:r>
              <a:t>CNPJ 55563624000109 · Cobrança e servicing · Condição: Documentos atuais selecionados no inventário por categoria/escopo; a data documental isolada não comprova vigência jurídica.</a:t>
            </a:r>
          </a:p>
          <a:p>
            <a:r>
              <a:t>CNPJ 55563624000109 · Cobrança e servicing · Motivo: Cláusula primária localizada e citada, mas sua lista/condições extensas não admitem uma síntese literal curta confirmada. O trecho integral permanece nas fontes.</a:t>
            </a:r>
          </a:p>
          <a:p>
            <a:r>
              <a:t>CNPJ 55563624000109 · Cobrança e servicing · Versão e prevalência: Documentos atuais selecionados no inventário por categoria/escopo; a data documental isolada não comprova vigência jurídica.</a:t>
            </a:r>
          </a:p>
          <a:p>
            <a:r>
              <a:t>CNPJ 62552447000120 · Cobrança e servicing · Regulamento · ID 1200623 · 2026-05-21 · versão 1 · p. 6 · https://fnet.bmfbovespa.com.br/fnet/publico/visualizarDocumento?id=1200623</a:t>
            </a:r>
          </a:p>
          <a:p>
            <a:r>
              <a:t>CNPJ 62552447000120 · Cobrança e servicing · Excerto da fonte:</a:t>
            </a:r>
          </a:p>
          <a:p>
            <a:r>
              <a:t>integrantes do conglomerado econômico de instituições  f inanceiras classificadas como S1 pelo Banco Central do  Brasil (“BACEN” e “Instituições Financeiras S1”,  respectivamente), desde que não representem títulos de  emissão ou coobrigação de instituições financeiras, bem  como cotas de f undos de investimento que invistam  preponderantemente nestes direitos, títulos e/ou valores  mobiliários; e</a:t>
            </a:r>
          </a:p>
          <a:p>
            <a:r>
              <a:t> (d) “Direitos Creditórios Refinanciamento Livre”, na forma  de CCBs originadas no âmbito de um refinanciamento, de  acordo com a política de cobrança vigente, de Direitos  Creditórios Consignado Privado e de Direitos Creditórios  FGTS, que não contem com o lastro de Consignação ou  de cessão f iduciária do Saque-Aniversário,  respectivamente; e</a:t>
            </a:r>
          </a:p>
          <a:p>
            <a:r>
              <a:t> (ii) “Ativos Financeiros”, assim entendidos como, em conjunto:</a:t>
            </a:r>
          </a:p>
          <a:p>
            <a:r>
              <a:t> (a) moeda corrente nacional;</a:t>
            </a:r>
          </a:p>
          <a:p>
            <a:r>
              <a:t> (b) títulos públicos f ederais;</a:t>
            </a:r>
          </a:p>
          <a:p>
            <a:r>
              <a:t> (c) ativos f inanceiros de renda f ixa de emissão ou  coobrigação de Instituições Financeiras S1;</a:t>
            </a:r>
          </a:p>
          <a:p>
            <a:r>
              <a:t> (d) operações compromissadas, desde que lastreadas nos  títulos mencionados nas alíneas (b) e (c) acima; e</a:t>
            </a:r>
          </a:p>
          <a:p>
            <a:r>
              <a:t> (e) cotas do BTG Pactual Tesouro Selic Fundo de  Investimento Renda Fixa Ref erenciado DI, inscrito no  CNPJ sob o nº 09.215.250/0001-13;</a:t>
            </a:r>
          </a:p>
          <a:p>
            <a:r>
              <a:t> observados todos os limites de composição e diversificação da carteira da  Classe (“Carteira”), estabelecidos neste Regulamento e na  regulamentação aplicável.</a:t>
            </a:r>
          </a:p>
          <a:p>
            <a:r>
              <a:t> O objetivo da Classe não representa, sob qualquer hipótese, promessa,  garantia ou sugestão da Classe ou de seus Prestadores de Serviços  Essenciais quanto à segurança, rentabilidade e liquidez dos títulos  componentes de sua Carteira.</a:t>
            </a:r>
          </a:p>
          <a:p>
            <a:r>
              <a:t>CNPJ 62552447000120 · Cobrança e servicing · Regulamento · ID 1200623 · 2026-05-21 · versão 1 · p. 7 · https://fnet.bmfbovespa.com.br/fnet/publico/visualizarDocumento?id=1200623</a:t>
            </a:r>
          </a:p>
          <a:p>
            <a:r>
              <a:t>CNPJ 62552447000120 · Cobrança e servicing · Excerto da fonte:</a:t>
            </a:r>
          </a:p>
          <a:p>
            <a:r>
              <a:t>(c) atendam, pro forma, na Data de Aquisição, aos  limites de concentração definidos no Capítulo 4 deste  Anexo I;</a:t>
            </a:r>
          </a:p>
          <a:p>
            <a:r>
              <a:t> (d) não haver disposição legal ou regulamentar  aprovada, ou ordem judicial ou administrativa  emitida, que tenha como objetivo impedir ou impor  limites ou exigências adicionais para o endosso de  Direitos Creditórios decorrentes de transações  dedutíveis da f olha de pagamento a f undos de  investimento;</a:t>
            </a:r>
          </a:p>
          <a:p>
            <a:r>
              <a:t> (e) atendam à Política de Crédito e, conforme aplicável,  à Política de Cobrança; e</a:t>
            </a:r>
          </a:p>
          <a:p>
            <a:r>
              <a:t>CNPJ 62552447000120 · Cobrança e servicing · Regulamento · ID 1200623 · 2026-05-21 · versão 1 · p. 3 · 2.1.2 · https://fnet.bmfbovespa.com.br/fnet/publico/visualizarDocumento?id=1200623</a:t>
            </a:r>
          </a:p>
          <a:p>
            <a:r>
              <a:t>CNPJ 62552447000120 · Cobrança e servicing · Excerto da fonte:</a:t>
            </a:r>
          </a:p>
          <a:p>
            <a:r>
              <a:t>2.1.2 Não obstante as atribuições previstas neste Regulamento e na regulamentação aplicável, cabe  ao Gestor praticar os atos necessários à gestão da Carteira. Assim, em linha com o art. 85 da  Parte Geral da Resolução CVM 175 e com o art. 32 do Anexo Normativo II, o Gestor pode  contratar, em nome do Fundo e/ou da Classe, os seguintes serviços: (a) intermediação de  operações para a Carteira; (b) distribuição de Cotas; (c) consultoria de investimentos; (d)  classificação de risco por agência classificadora de risco; (e) cogestão da Carteira; (f) formador  de mercado; e, eventualmente, (g) consultoria especializada; (h) agente de cobrança, e (i)  outros serviços em benef ício do Fundo ou da classe.</a:t>
            </a:r>
          </a:p>
          <a:p>
            <a:r>
              <a:t>CNPJ 62552447000120 · Cobrança e servicing · Condição: Documentos atuais selecionados no inventário por categoria/escopo; a data documental isolada não comprova vigência jurídica.</a:t>
            </a:r>
          </a:p>
          <a:p>
            <a:r>
              <a:t>CNPJ 62552447000120 · Cobrança e servicing · Versão e prevalência: Documentos atuais selecionados no inventário por categoria/escopo; a data documental isolada não comprova vigência jurídica.</a:t>
            </a:r>
          </a:p>
          <a:p>
            <a:r>
              <a:t>CNPJ 63953620000165 · Cobrança e servicing · Anexo ao Regulamento · ID 1222863 · 2026-06-02 · versão 1 · p. 8 · 4.25 · https://fnet.bmfbovespa.com.br/fnet/publico/visualizarDocumento?id=1222863</a:t>
            </a:r>
          </a:p>
          <a:p>
            <a:r>
              <a:t>CNPJ 63953620000165 · Cobrança e servicing · Excerto da fonte:</a:t>
            </a:r>
          </a:p>
          <a:p>
            <a:r>
              <a:t>4.25 É vedada qualquer forma de antecipação de recursos às Cedentes/aos Endossantes para posterior reembolso  pela Classe, seja pelo Administrador, Gestor, Custodiante, Consultora ou Agente de Cobrança.</a:t>
            </a:r>
          </a:p>
          <a:p>
            <a:r>
              <a:t>CNPJ 63953620000165 · Cobrança e servicing · Condição: Documentos atuais selecionados no inventário por categoria/escopo; a data documental isolada não comprova vigência jurídica.</a:t>
            </a:r>
          </a:p>
          <a:p>
            <a:r>
              <a:t>CNPJ 63953620000165 · Cobrança e servicing · Versão e prevalência: Documentos atuais selecionados no inventário por categoria/escopo; a data documental isolada não comprova vigência jurídica.</a:t>
            </a:r>
          </a:p>
          <a:p>
            <a:r>
              <a:t>CNPJ 63953620000165 · Cobrança e servicing · Resumo do histórico: {"count": 6, "dates": ["2026-04-28", "2026-05-08", "2026-05-15"], "document_count": 3, "sources": [{"document_id": "1327859", "title": "Demonstrações Financeiras - Fusão, cisão e incorporação", "reference_date": "2026-05-15", "version": "1", "page": 29, "url": "https://fnet.bmfbovespa.com.br/fnet/publico/visualizarDocumento?id=1327859", "sha256": "dca1c68babb97f887528c3e2e47596a9c30f507b067981a35655b2f2da9c8054"}, {"document_id": "1298691", "title": "Demonstrações Financeiras - Fusão, cisão e incorporação", "reference_date": "2026-05-08", "version": "1", "page": 5, "url": "https://fnet.bmfbovespa.com.br/fnet/publico/visualizarDocumento?id=1298691", "sha256": "58c570d9b8d4d265330d3db3ea81c435b8e44a6dab4002aa37790652a1ee9819"}, {"document_id": "1282180", "title": "Demonstrações Financeiras - Fusão, cisão e incorporação", "reference_date": "2026-04-28", "version": "1", "page": 30, "url": "https://fnet.bmfbovespa.com.br/fnet/publico/visualizarDocumento?id=1282180", "sha256": "afaaa0e6809be4385e5bdb6c911aac582032c5bdbac3d7750234bf9eaf00438a"}], "reference": {"path": "history/63953620000165.json", "criterion_id": "servicing", "total_count": 6, "preview_count": 3, "full_text_deferred": true, "sha256": "a7b89077f5e21098c2d601c303faabc3ff6b9729f89d8afecdc60fe1404720c1"}}</a:t>
            </a:r>
          </a:p>
          <a:p>
            <a:r>
              <a:t>CNPJ 54871427000194 · Conta de arrecadação e risco de trânsito · Regulamento · ID 670691 · 28/04/2024 · versão Regulamento — referência 28/04/2024 · p. 9 · Anexo I, 4.3 e 4.6 · https://fnet.bmfbovespa.com.br/fnet/publico/visualizarDocumento?id=670691</a:t>
            </a:r>
          </a:p>
          <a:p>
            <a:r>
              <a:t>CNPJ 54871427000194 · Conta de arrecadação e risco de trânsito · Excerto da fonte:</a:t>
            </a:r>
          </a:p>
          <a:p>
            <a:r>
              <a:t>4.3 Os pagamentos relativos aos Direitos Creditórios de titularidade da Classe serão realizados mediante consignação em folha, débito em conta de titularidade dos Devedores e pagamentos de sinistros, para pagamento dos valores correspondentes às parcelas das CCBs representadas pelos CCCBs de titularidade da Classe, os quais serão conciliados e repassados pelo Endossante para a conta corrente da Classe. 4.4 Os Direitos Creditórios deverão contar com Documentos Comprobatórios que evidenciem sua existência, validade e exequibilidade perante os respectivos Devedores . 4.4.1 Os Direitos Creditórios serão adquiridos pela Classe por meio de Contrato de Endosso f irmados entre a Classe e o Endossante e os respectivos Termos de Endosso, acompanhados de todos os direitos, privilégios, preferências, prerrogativas, ações e garantias assegurados aos seus titulares, observada a Política de Investimentos e as demais disposições deste Regulamento e da legislação e regulamentação aplicáveis. 4.5 O Endossante deverá realizar análise cadastral e de crédito dos Devedores, previamente à aquisição de Direitos Creditórios pela Classe. O disposto neste item não impede o ADMINISTRAD</a:t>
            </a:r>
          </a:p>
          <a:p>
            <a:r>
              <a:t>CNPJ 54871427000194 · Conta de arrecadação e risco de trânsito · Regulamento · ID 670691 · 28/04/2024 · versão Regulamento — referência 28/04/2024 · p. 9 · Anexo I, 4.6 · https://fnet.bmfbovespa.com.br/fnet/publico/visualizarDocumento?id=670691</a:t>
            </a:r>
          </a:p>
          <a:p>
            <a:r>
              <a:t>CNPJ 54871427000194 · Conta de arrecadação e risco de trânsito · Excerto da fonte:</a:t>
            </a:r>
          </a:p>
          <a:p>
            <a:r>
              <a:t>4.6 A cobrança ordinária e recebimento de Direitos Creditórios pela Classe é realizada mediante a liquidação dos recursos através de débito dos salários a receber pelos Devedores do órgão consignante ou através da consignação direto da folha, sendo certo que o GESTOR e/ou o Custodiante f arão o monitoramento do pagamento dos Direitos Creditórios através da validação do Arquivo de Liquidação, do Relatório de Repasse, e consulta oriunda do sistema da processadora conveniada ao órgão consignante, responsável pela consignação em f olha de pagamento ou de benef ício dos Devedores (averbação, débito e repasse). Critérios de Elegibilidade 4.7 A Classe somente poderá adquirir os Direitos Creditórios que atendam cumulativamente aos seguintes Critérios de Elegibilidade, a serem verif icados e validados pelo GESTOR, de f orma individualizada e integral, previamente à cessão e na respectiva Data de Aquisição, de modo que apenas são passíveis de aquisição pela Classe os Direitos Creditórios que, na Data de Aquisição: (i) CCBs sem qualquer parcela cedida; (ii) CCBs com diferença menor que 60 (sessenta) dias entre a data provável do endosso e a próxima parcela a vencer;</a:t>
            </a:r>
          </a:p>
          <a:p>
            <a:r>
              <a:t>CNPJ 54871427000194 · Conta de arrecadação e risco de trânsito · Condição: A mecânica prevê passagem dos recursos pelo endossante; o regulamento não estabelece, nesta cláusula, repasse direto automático pelo órgão consignante.</a:t>
            </a:r>
          </a:p>
          <a:p>
            <a:r>
              <a:t>CNPJ 54871427000194 · Conta de arrecadação e risco de trânsito · Versão e prevalência: Leitura específica das cláusulas indicadas; condições e conflitos preservados. Seleção documental atual não comprova vigência jurídica por data isolada.</a:t>
            </a:r>
          </a:p>
          <a:p>
            <a:r>
              <a:t>CNPJ 54871427000194 · Conta de arrecadação e risco de trânsito · Resumo do histórico: {"count": 1, "dates": ["2024-04-19"], "document_count": 1, "sources": [{"document_id": "670689", "title": "Regulamento", "reference_date": "2024-04-19", "version": "1", "page": 25, "url": "https://fnet.bmfbovespa.com.br/fnet/publico/visualizarDocumento?id=670689", "sha256": "891bc9bc5d87bbc02ec139077a84d2702eb81ea02035fb71d24f5b8366b94a0b"}], "reference": {"path": "history/54871427000194.json", "criterion_id": "collection_account", "total_count": 1, "preview_count": 1, "full_text_deferred": true, "sha256": "35d7cd99be50c7287c9fb675cf4f2e736002315295a225a9efa79c8d9186d874"}}</a:t>
            </a:r>
          </a:p>
          <a:p>
            <a:r>
              <a:t>CNPJ 60010416000112 · Conta de arrecadação e risco de trânsito · Regulamento · ID 1051393 · 2025-10-09 · versão 1 · p. 32 · 14.2.1 · https://fnet.bmfbovespa.com.br/fnet/publico/visualizarDocumento?id=1051393</a:t>
            </a:r>
          </a:p>
          <a:p>
            <a:r>
              <a:t>CNPJ 60010416000112 · Conta de arrecadação e risco de trânsito · Excerto da fonte:</a:t>
            </a:r>
          </a:p>
          <a:p>
            <a:r>
              <a:t>14.2.1 Os valores indicados nos Arquivos Dataprev em relação aos Direitos Creditórios endossados à  Classe e depositados mensalmente pela CEF na Conta Vinculada serão cobrados/recebidos da  seguinte f orma:</a:t>
            </a:r>
          </a:p>
          <a:p>
            <a:r>
              <a:t> (i) mensalmente, após o processamento da f olha de pagamento dos Devedores, a Dataprev  enviará os Arquivos Dataprev ao Endossante;</a:t>
            </a:r>
          </a:p>
          <a:p>
            <a:r>
              <a:t> (ii) ao receber os Arquivos Dataprev, o Endossante os disponibilizará ao Custodiante e ao  Agente de Retenção/Cobrança, através de uma interf ace de programação de aplicações  (API), no mesmo dia que forem disponibilizados pela Dataprev, ou no Dia Útil subsequente,  se f orem disponibilizados pela Dataprev após 16:00 (horário de Brasília) sem f azer qualquer  modif icação em suas respectivas inf ormações;</a:t>
            </a:r>
          </a:p>
          <a:p>
            <a:r>
              <a:t> (iii) até 2º (segundo) Dia Útil após o recebimento dos valores repassados pelos Empregadores,  a CEF ef etuará uma transf erência eletrônica disponível (TED) diretamente para a Conta  Vinculada relevante com o valor declarado no Arquivo de Consignações;</a:t>
            </a:r>
          </a:p>
          <a:p>
            <a:r>
              <a:t> (iv) o Endossante, na qualidade de Agente da Conta Vinculada, transferirá os valores devidos  à Classe para a Conta de Cobrança da Classe, de acordo com o Contrato de Conta  Vinculada; e</a:t>
            </a:r>
          </a:p>
          <a:p>
            <a:r>
              <a:t> (v) tendo recebido os Arquivos Dataprev e os valores indicados no item (iv), o Custodiante  realizará a reconciliação dos valores devidos à Classe e/ou ao Endossante.</a:t>
            </a:r>
          </a:p>
          <a:p>
            <a:r>
              <a:t>CNPJ 60010416000112 · Conta de arrecadação e risco de trânsito · Regulamento · ID 1051393 · 2025-10-09 · versão 1 · p. 28 · https://fnet.bmfbovespa.com.br/fnet/publico/visualizarDocumento?id=1051393</a:t>
            </a:r>
          </a:p>
          <a:p>
            <a:r>
              <a:t>CNPJ 60010416000112 · Conta de arrecadação e risco de trânsito · Excerto da fonte:</a:t>
            </a:r>
          </a:p>
          <a:p>
            <a:r>
              <a:t>Anexo I ao Regulamento CLASSE ÚNICA DO MT I CONSIGNADO PRIVADO I FUNDO DE INVESTIMENTO EM DIREITOS CREDITÓRIOS RESPONSABILIDADE LIMITADA  Documentos Comprobatórios e os Documentos Suporte que comprovam a operação, observados os  procedimentos operacionais da Entidade Registradora;</a:t>
            </a:r>
          </a:p>
          <a:p>
            <a:r>
              <a:t> (ii) receber, em nome da Classe, pagamentos de Direitos Creditórios, amortização ou resgate de Ativos  Financeiros ou qualquer outro rendimento dos ativos mantidos em custódia, mediante o recebimento  de valores diretamente na Conta de Cobrança da Classe ou transf eridos da Conta Vinculada;</a:t>
            </a:r>
          </a:p>
          <a:p>
            <a:r>
              <a:t> (iii) cobrar e receber, em nome da Classe, pagamentos, resgate de títulos ou qualquer outro rendimento  relativo aos ativos da Carteira, depositando os valores recebidos diretamente em conta de titularidade  da classe ou, se f or o caso, em conta-vinculada;</a:t>
            </a:r>
          </a:p>
          <a:p>
            <a:r>
              <a:t> (iv) realizar a guarda da documentação relativa ao lastro dos Direitos Creditórios;</a:t>
            </a:r>
          </a:p>
          <a:p>
            <a:r>
              <a:t> (v) realizar a reconciliação dos valores depositados na Conta de Cobrança da Classe;</a:t>
            </a:r>
          </a:p>
          <a:p>
            <a:r>
              <a:t> (vi)</a:t>
            </a:r>
          </a:p>
          <a:p>
            <a:r>
              <a:t> (vii) assegurar que inconsistências indicadas nos relatórios de verif icação dos Documentos  Comprobatórios e dos Documentos Suporte representativos dos Direitos Creditórios e seu endosso  à Classe sejam tratadas tempestivamente.</a:t>
            </a:r>
          </a:p>
          <a:p>
            <a:r>
              <a:t>CNPJ 60010416000112 · Conta de arrecadação e risco de trânsito · Regulamento · ID 1051393 · 2025-10-09 · versão 1 · p. 39 · https://fnet.bmfbovespa.com.br/fnet/publico/visualizarDocumento?id=1051393</a:t>
            </a:r>
          </a:p>
          <a:p>
            <a:r>
              <a:t>CNPJ 60010416000112 · Conta de arrecadação e risco de trânsito · Excerto da fonte:</a:t>
            </a:r>
          </a:p>
          <a:p>
            <a:r>
              <a:t>Anexo I ao Regulamento CLASSE ÚNICA DO MT I CONSIGNADO PRIVADO I FUNDO DE INVESTIMENTO EM DIREITOS CREDITÓRIOS RESPONSABILIDADE LIMITADA  da Classe e, de forma extraordinária, para a Conta de Movimentação da Classe. Em caso de  intervenção ou liquidação extrajudicial das instituições f inanceiras onde a Conta de Cobrança  da Classe e a Conta de Movimentação da Classe são mantidas, os fundos nelas depositados  poderão ser bloqueados e recuperados pela Classe somente através de uma ordem judicial,  o que af etaria seu retorno e poderia causar perda de parte de seus ativos.</a:t>
            </a:r>
          </a:p>
          <a:p>
            <a:r>
              <a:t> (ix) Risco de bloqueio da Conta Vinculada: a Conta Vinculada para a qual os recursos  provenientes do pagamento dos Direitos Creditórios serão direcionados poderá ser  bloqueada, dentre outros, (i) no caso de intervenção ou liquidação extrajudicial do  Endossante, ou (ii) no caso de decisões judiciais serem proferidas em demandas ajuizadas  contra o Endossante, determinando o bloqueio. Em qualquer desses eventos, esses recursos  de propriedade da Classe só poderão ser recuperados em juízo. Essa recuperação poderá  levar tempo para ser ef etuada ou mesmo não obter êxito, o que af etaria a rentabilidade da  Classe e poderia f azê-lo perder parte de seus ativos.</a:t>
            </a:r>
          </a:p>
          <a:p>
            <a:r>
              <a:t> (x) Risco de patrimônio líquido negativo: as estratégias de investimento adotadas pela  Classe, bem como o pagamento de remuneração aos prestadores de serviços da Classe,  podem f azer com que seu Patrimônio Líquido se torne negativo, hipótese em que o Cotista  poderá ser solicitado a f azer aportes adicionais de recursos, a f im de permitir que a Classe  cumpra suas obrigações.</a:t>
            </a:r>
          </a:p>
          <a:p>
            <a:r>
              <a:t> (xi) Risco de cobrança judicial ou extrajudicial: quando não f orem pagos os Direitos  Creditórios que compõem a Carteira, poderá haver cobrança judicial ou extrajudicial dos  valores devidos, mediante decisão dos Cotistas na Assembleia de Cotistas nos termos desse  Anexo I. Entretanto, não há garantia de que, em qualquer desses casos, os procedimentos  de cobrança acima mencionados serão aprovados na Assembleia Especial de Cotistas e,  caso aprovados, de que tais procedimentos atingirão os resultados desejados, nem de que  a Classe terá êxito em recuperar quaisquer valores inadimplidos, o que poderá resultar em  perdas para a Classe.</a:t>
            </a:r>
          </a:p>
          <a:p>
            <a:r>
              <a:t> (xii) Possibilidade de conflito de interesses entre a Classe e o Agente de  Retenção/Cobrança. O Agente de Retenção/Cobrança eventualmente possui ou pode vir a  possuir relacionamento comercial com o Endossante e/ou Devedores, de modo que, em  determinadas circunstâncias seus interesses podem ser conflitantes com os interesses da  Classe. Não é possível garantir que, materializada uma situação de conflito de interesses  conf orme descrita acima, o Agente de Retenção/Cobrança exponha-a adequadamente ao  Administrador e/ou aos Cotistas, ou que o faça absolutamente, tampouco que agirá no melhor  no interesse da Classe. Nesses casos, a Classe pode vir a adquirir Direitos Creditórios ou  pode vir a ter seus Direitos Creditórios Inadimplidos pagos em condições comparativamente  menos vantajosas àquelas que seriam verificadas na ausência de tais conflitos de interesses.</a:t>
            </a:r>
          </a:p>
          <a:p>
            <a:r>
              <a:t> Nesses casos, o Patrimônio Líquido pode ser af etado adversamente.</a:t>
            </a:r>
          </a:p>
          <a:p>
            <a:r>
              <a:t> (xiii) Risco de intervenção ou liquidação judicial do Administrador. A Classe está sujeito ao  risco dos efeitos de decretação de intervenção ou de liquidação judicial do Administrador e/ou  do Custodiante, nos termos da Lei nº 6.024, de 13 de março de 1974, conf orme alterada.</a:t>
            </a:r>
          </a:p>
          <a:p>
            <a:r>
              <a:t> (xiv) Patrimônio Líquido negativo. Os investimentos da Classe estão, por sua natureza, sujeitos  a f lutuações típicas de mercado, risco de crédito, risco sistêmico, condições adversas de  liquidez e negociação atípica nos mercados de atuação, sendo que não há garantia de  completa eliminação da possibilidade de perdas para a Classe e para os Cotistas. Além disso,  as estratégias de investimento adotadas pela Classe poderão f azer com que a Classe  apresente Patrimônio Líquido negativo, caso em que os Cotistas poderão ser chamados a  realizar aportes adicionais de recursos, de f orma a possibilitar que a Classe satisfaça suas  obrigações.</a:t>
            </a:r>
          </a:p>
          <a:p>
            <a:r>
              <a:t>CNPJ 60010416000112 · Conta de arrecadação e risco de trânsito · Condição: Documentos atuais selecionados no inventário por categoria/escopo; a data documental isolada não comprova vigência jurídica.</a:t>
            </a:r>
          </a:p>
          <a:p>
            <a:r>
              <a:t>CNPJ 60010416000112 · Conta de arrecadação e risco de trânsito · Versão e prevalência: Documentos atuais selecionados no inventário por categoria/escopo; a data documental isolada não comprova vigência jurídica.</a:t>
            </a:r>
          </a:p>
          <a:p>
            <a:r>
              <a:t>CNPJ 60010416000112 · Conta de arrecadação e risco de trânsito · Resumo do histórico: {"count": 1, "dates": ["2025-03-20"], "document_count": 1, "sources": [{"document_id": "993786", "title": "Regulamento", "reference_date": "2025-03-20", "version": "1", "page": 32, "clause": "14.2.1", "url": "https://fnet.bmfbovespa.com.br/fnet/publico/visualizarDocumento?id=993786", "sha256": "fd0fdd369a195510d81f81f505195a0b09e5f43522a990afa7d58c4f872921c8"}], "reference": {"path": "history/60010416000112.json", "criterion_id": "collection_account", "total_count": 1, "preview_count": 1, "full_text_deferred": true, "sha256": "8e2bd813f4c51cf01f6bfaad164bafe69d2bbb192f753eac92da3a01c2e63046"}}</a:t>
            </a:r>
          </a:p>
          <a:p>
            <a:r>
              <a:t>CNPJ 62696791000193 · Conta de arrecadação e risco de trânsito · Motivo: Não localizada uma cláusula material para este critério nos textos identificados e processados. A ausência de resultado não comprova inexistência da regra.</a:t>
            </a:r>
          </a:p>
          <a:p>
            <a:r>
              <a:t>CNPJ 55563624000109 · Conta de arrecadação e risco de trânsito · Motivo: Não localizada uma cláusula material para este critério nos textos identificados e processados. A ausência de resultado não comprova inexistência da regra.</a:t>
            </a:r>
          </a:p>
          <a:p>
            <a:r>
              <a:t>CNPJ 62552447000120 · Conta de arrecadação e risco de trânsito · Regulamento · ID 1200623 · 2026-05-21 · versão 1 · p. 37 · https://fnet.bmfbovespa.com.br/fnet/publico/visualizarDocumento?id=1200623</a:t>
            </a:r>
          </a:p>
          <a:p>
            <a:r>
              <a:t>CNPJ 62552447000120 · Conta de arrecadação e risco de trânsito · Excerto da fonte:</a:t>
            </a:r>
          </a:p>
          <a:p>
            <a:r>
              <a:t>operacional dos Direitos Creditórios Consignado Privado e dos Direitos Creditórios FGTS dependem de certif icações e habilitações do Endossante junto à Dataprev e à CEF, respectivamente. O Endossante deve observar as regras aplicáveis a cada Direito Creditório para a manutenção da sua habilitação, que, portanto, pode ser af etada em caso de descumprimento ou de mudança normativa. Nesses casos, a estrutura de cobrança dos Direitos Creditórios Consignado Privado e dos Direitos Creditórios FGTS poderá ser comprometida, dando origem à necessidade de adoção de uma nova estrutura, que poderá não ser tão eficaz quanto ela ou mesmo revelar, na prática, ser inadequada ou ter altos custos operacionais . Esses eventos podem levar a perdas patrimoniais para a Classe, na medida em que a Classe deixará de receber, definitiva ou temporariamente, recursos oriundos desses Direitos Creditórios, no todo ou em parte.</a:t>
            </a:r>
          </a:p>
          <a:p>
            <a:r>
              <a:t>(vii) Risco de fungibilidade: o pagamento dos Direitos Creditórios serão inicialmente realizados em conta liquidante do Endossante por meio de transferência de reserva bancária, sendo automaticamente transferido à Conta Vinculada na sua integralidade, também de titularidade do Endoss ante, o qual será responsável por realizar a conciliação dos valores e repassá-los à Conta da Classe. Enquanto os recursos não f orem transf eridos para a Classe, a Classe estará correndo o risco de crédito do Endossante, e no caso de qualquer evento de crédito do Endossante, como intervenção, liquidação extrajudicial, falência ou outros procedimentos para proteção de credores, a Classe poderá não receber os valores devidos a ele, e poderá incorrer em custos adicionais para recuperar esses valores. Além disso, em caso de intervenção, liquidação extrajudicial, falência, execução ou outro procedimento similar para proteção de credores envolvendo o Endossante, os valores depositados de tempos em tempos na conta liquidante do Endossante por meio de transferência d e reserva bancária, e automaticamente transferidos à Conta Vinculada, poderão ser bloqueados, por ordem judicial ou administrativa, o que poderá causar prejuízos à Classe e ao Cotista.</a:t>
            </a:r>
          </a:p>
          <a:p>
            <a:r>
              <a:t>Risco de descontinuidade</a:t>
            </a:r>
          </a:p>
          <a:p>
            <a:r>
              <a:t>(i) Risco de descontinuidade: a Classe poderá ser liquidada antecipadamente, dentre outros, caso ocorra um Evento de Liquidação. Portanto, o Cotista poderá ter sua perspectiva original de investimento reduzida e não ser capaz de reinvestir os recursos recebidos com a mesma remuneração gerada pela Classe, e nenhuma multa ou penalidade, de qualquer f orma, devido a esse f ato, será devida pela Classe, o Administrador, o Custodiante, o Coordenador Líder, o Gestor, o Agente de Retenção e Cobrança ou o Endossante.</a:t>
            </a:r>
          </a:p>
          <a:p>
            <a:r>
              <a:t>Riscos decorrentes do Regime de Amortização</a:t>
            </a:r>
          </a:p>
          <a:p>
            <a:r>
              <a:t>(i) Risco decorrente da ordem de alocação das distribuições: conforme previsto neste Anexo, as Cotas estarão sujeitas à Amortização de acordo com a ordem de alocação prevista no Capítulo 7. Portanto, o Cotista poderá ter sua perspectiva original de investimento reduzida e não poderá reinvestir os recursos recebidos com a mesma remuneração gerada pela Classe.</a:t>
            </a:r>
          </a:p>
          <a:p>
            <a:r>
              <a:t>Riscos do originador e da originação</a:t>
            </a:r>
          </a:p>
          <a:p>
            <a:r>
              <a:t>(i) Riscos do originador e da originação: a continuidade da Classe poderá ser comprometida no caso de inconstância na concessão de empréstimos pelo Endossante aos Devedores ou incapacidade do Agente de Retenção e Cobrança operacionalizar a Plataf orma VR, através da qual os Direitos Creditórios são originados. Portanto, o investimento na Classe está sujeito ao risco de não originação, no f uturo, de Direitos Creditórios pelo Endossante contra os Devedores através da Plataforma VR, disponibilizada pelo Agente de Retenção e Cobrança. Se isso acontecer, a originação dos Direitos Creditórios pelo Endossante poderá ser impactada negativamente ou mesmo impossibilitada, o que poderá gerar a liquidação antecipada da Classe.</a:t>
            </a:r>
          </a:p>
          <a:p>
            <a:r>
              <a:t>Além disso, a Classe poderá adquirir Direitos Creditórios que f oram originados em conformidade com o processo de originação e/ou políticas de concessão de crédito desenvolvidos e monitorados pelo Endossante.</a:t>
            </a:r>
          </a:p>
          <a:p>
            <a:r>
              <a:t>Entretanto, não é possível assegurar que o cumprimento dessas diretrizes garanta a qualidade dos Direitos Creditórios e/ou a solvência dos respectivos Devedores, ou que as diretrizes e parâmetros estabelecidos no Capítulo 13 sejam corretamente interpretados e aplicados quando a Classe fizer os investimentos. Além disso, se o Endossante deixar de existir ou estiver sujeito a uma ordem de intervenção, liquidação extrajudicial ou regime especial ou gestão temporária ou evento similar, a Classe será impactado também pelo f ato de que a Conta Vinculada na qual as transf erências f eitas pela CEF f oram depositadas f oi aberta em nome do Endossante. Neste caso, a Classe poderá sofrer perdas principalmente em relação ao atraso na regularização</a:t>
            </a:r>
          </a:p>
          <a:p>
            <a:r>
              <a:t>CNPJ 62552447000120 · Conta de arrecadação e risco de trânsito · Condição: Documentos atuais selecionados no inventário por categoria/escopo; a data documental isolada não comprova vigência jurídica.</a:t>
            </a:r>
          </a:p>
          <a:p>
            <a:r>
              <a:t>CNPJ 62552447000120 · Conta de arrecadação e risco de trânsito · Motivo: Cláusula primária localizada e citada, mas sua lista/condições extensas não admitem uma síntese literal curta confirmada. O trecho integral permanece nas fontes.</a:t>
            </a:r>
          </a:p>
          <a:p>
            <a:r>
              <a:t>CNPJ 62552447000120 · Conta de arrecadação e risco de trânsito · Versão e prevalência: Documentos atuais selecionados no inventário por categoria/escopo; a data documental isolada não comprova vigência jurídica.</a:t>
            </a:r>
          </a:p>
          <a:p>
            <a:r>
              <a:t>CNPJ 63953620000165 · Conta de arrecadação e risco de trânsito · Anexo ao Regulamento · ID 1222863 · 2026-06-02 · versão 1 · p. 28 · https://fnet.bmfbovespa.com.br/fnet/publico/visualizarDocumento?id=1222863</a:t>
            </a:r>
          </a:p>
          <a:p>
            <a:r>
              <a:t>CNPJ 63953620000165 · Conta de arrecadação e risco de trânsito · Excerto da fonte:</a:t>
            </a:r>
          </a:p>
          <a:p>
            <a:r>
              <a:t>Creditórios endossados à Classe não sejam pagos integralmente pelos respectivos Devedores em virtude  de qualquer problema de natureza comercial entre o Devedor e o Endossante, e este último não reembolse  à Classe o montante em moeda nacional correspondente ao valor dos Direitos Creditórios mencionados,  os resultados da Classe poderão ser afetados negativamente.</a:t>
            </a:r>
          </a:p>
          <a:p>
            <a:r>
              <a:t> Outros Riscos</a:t>
            </a:r>
          </a:p>
          <a:p>
            <a:r>
              <a:t> (i) Risco relativo à elegibilidade dos Direitos Creditórios: mesmo que os Direitos Creditórios cumpram com  todas as condições de endosso e declarações e garantias estabelecidas no Contrato de Endosso e os  Critérios de Elegibilidade aqui estabelecidos, não é possível afirmar que essas condições de endosso,  declarações e garantias e os Critérios de Elegibilidade sejam suficientes para garantir a satisfação e o  pagamento dos Direitos Creditórios. Além disso, não é possível assegurar que o Gestor verificará  adequadamente a conformidade dos Direitos Creditórios com os Critérios de Elegibilidade e as condições  de endosso, ou que as declarações e garantias prestadas pelo Endossante e pelo Agente de  Retenção/Cobrança em relação aos Direitos Creditórios sejam verdadeiras e exatas. A verificação  inadequada dos Elegibilidade e das condições de endosso, bem como a falsidade ou inexatidão das  declarações e garantias referentes aos Direitos Creditórios poderão resultar na compra de Direitos  Creditórios inelegíveis pela Classe, e as medidas disponíveis no âmbito do Contrato de Endosso poderão  não ser suficientes para manter a Classe protegida de perdas decorrentes de tal verificação inadequada ou  falsidade/inexatidão. Caso os Direitos Creditórios não sejam pagos pontualmente pelos Devedores ou os  Direitos Creditórios não tenham o desempenho esperado pela Classe, o patrimônio da Classe poderá ser  afetado adversamente.</a:t>
            </a:r>
          </a:p>
          <a:p>
            <a:r>
              <a:t> (ii) Risco de invalidade ou ineficácia do endosso: o endosso dos Direitos Creditórios à Classe poderá ser  invalidada ou considerada ineficaz, o que impacta negativamente o patrimônio da Classe, no caso de (a)  fraude contra credores, se no momento do endosso o Endossante for insolvente ou se ele vier a se tornar  insolvente; (b) fraude à execução, se (1) no momento do endosso o Endossante for réu em um processo  judicial capaz de torná-lo insolvente; ou (2) os Direitos Creditórios endossados à Classe estiverem sujeitos  a qualquer demanda judicial baseada em garantia real; e (c) fraude à execução fiscal, se o Endossante, ao  celebrar o endosso de crédito, como contribuinte por débito à Fazenda Pública, e crédito fiscal  regularmente inscrito na dívida ativa, não tiver ativos para pagamento total da dívida fiscal. Entretanto, o  Administrador, o Custodiante, o Gestor e o Agente de Retenção/ Cobrança não verificarão os eventos  acima no endosso de Direito Creditório e não serão responsabilizados em caso de invalidação ou ineficácia  do endosso de um Direito Creditório à Classe.</a:t>
            </a:r>
          </a:p>
          <a:p>
            <a:r>
              <a:t> (iii) Risco de impugnação judicial: a CCB poderá ser impugnada judicialmente tanto no que diz respeito à sua  formalização quanto às taxas aplicadas e à forma de cobrança da CCB, inclusive em virtude das disposições  estabelecidas na Lei nº 8.078, de 11 de setembro de 1990, conforme alterada (Código de Defesa do  Consumidor), tais como uma possível impugnação de cláusula abusiva, bem como qualquer vício nos  Documentos Comprobatórios ou Documentos Suporte que impeçam a exigibilidade do crédito (ausência  de assinaturas ou falta de prova de formalização regular do instrumento, representação ilegítima, dentre  outros). Nesses casos, a CCB poderá ser modificada ou cancelada em virtude de decisão judicial, o que  poderá acarretar perdas para a Classe e, consequentemente, afetar negativamente a rentabilidade de seu  patrimônio.</a:t>
            </a:r>
          </a:p>
          <a:p>
            <a:r>
              <a:t> (iv) Risco de restrições de natureza legal ou regulamentar: a Classe pode estar sujeita a riscos, além do  controle do Administrador, decorrentes de quaisquer restrições futuras de natureza legal e/ou  regulamentar que venham a afetar a validade da constituição e/ou o endosso dos Direitos Creditórios à  Classe. Caso essas restrições ocorram, o fluxo de cessões de Direitos Creditórios à Classe pode ser  interrompido e, portanto, pode comprometer a continuidade da Classe e a perspectiva de investimento  do Cotista. Além disso, os Direitos Creditórios que já estão na Carteira podem ter sua validade questionada,  o que pode causar, portanto, prejuízos ao Cotista.</a:t>
            </a:r>
          </a:p>
          <a:p>
            <a:r>
              <a:t> (v) Risco de bloqueio da Conta de Cobrança da Classe ou da Conta de Movimentação da Classe: os recursos  provenientes da Classe serão direcionados para a Conta de Cobrança da Classe e, de forma extraordinária,  para a Conta de Movimentação da Classe. Em caso de intervenção ou liquidação extrajudicial das  instituições financeiras onde a Conta de Cobrança da Classe e a Conta de Movimentação da Classe são</a:t>
            </a:r>
          </a:p>
          <a:p>
            <a:r>
              <a:t>CNPJ 63953620000165 · Conta de arrecadação e risco de trânsito · Condição: Documentos atuais selecionados no inventário por categoria/escopo; a data documental isolada não comprova vigência jurídica.</a:t>
            </a:r>
          </a:p>
          <a:p>
            <a:r>
              <a:t>CNPJ 63953620000165 · Conta de arrecadação e risco de trânsito · Motivo: Cláusula primária localizada e citada, mas sua lista/condições extensas não admitem uma síntese literal curta confirmada. O trecho integral permanece nas fontes.</a:t>
            </a:r>
          </a:p>
          <a:p>
            <a:r>
              <a:t>CNPJ 63953620000165 · Conta de arrecadação e risco de trânsito · Versão e prevalência: Documentos atuais selecionados no inventário por categoria/escopo; a data documental isolada não comprova vigência jurídica.</a:t>
            </a:r>
          </a:p>
          <a:p>
            <a:r>
              <a:t>CNPJ 63953620000165 · Conta de arrecadação e risco de trânsito · Resumo do histórico: {"count": 2, "dates": ["2026-02-19", "2026-05-15"], "document_count": 2, "sources": [{"document_id": "1327859", "title": "Demonstrações Financeiras - Fusão, cisão e incorporação", "reference_date": "2026-05-15", "version": "1", "page": 22, "url": "https://fnet.bmfbovespa.com.br/fnet/publico/visualizarDocumento?id=1327859", "sha256": "dca1c68babb97f887528c3e2e47596a9c30f507b067981a35655b2f2da9c8054"}, {"document_id": "1200324", "title": "Demonstrações Financeiras - Fusão, cisão e incorporação", "reference_date": "2026-02-19", "version": "1", "page": 22, "url": "https://fnet.bmfbovespa.com.br/fnet/publico/visualizarDocumento?id=1200324", "sha256": "aba4246af804161a6cb22052dc79425be7591e0bb7df5467cda6487f249272fc"}], "reference": {"path": "history/63953620000165.json", "criterion_id": "collection_account", "total_count": 2, "preview_count": 2, "full_text_deferred": true, "sha256": "a7b89077f5e21098c2d601c303faabc3ff6b9729f89d8afecdc60fe1404720c1"}}</a:t>
            </a:r>
          </a:p>
          <a:p>
            <a:r>
              <a:t>CNPJ 54871427000194 · Verificação de lastro e amostragem · Regulamento · ID 670691 · 28/04/2024 · versão Regulamento — referência 28/04/2024 · p. 10 · Anexo I, 4.7.1 · https://fnet.bmfbovespa.com.br/fnet/publico/visualizarDocumento?id=670691</a:t>
            </a:r>
          </a:p>
          <a:p>
            <a:r>
              <a:t>CNPJ 54871427000194 · Verificação de lastro e amostragem · Excerto da fonte:</a:t>
            </a:r>
          </a:p>
          <a:p>
            <a:r>
              <a:t>4.7.1 Os Documentos Comprobatórios deverão ser disponibilizados pelo respectivo Endossante (a) no prazo de 10 (dez) dias contados da Data de Aquisição dos 50 (cinquenta) casos que sejam solicitados pelo GESTOR, a seu exclusivo critério, (b) a totalidade dos demais Documentos Comprobatórios em f ormato digital em até 90 (noventa) dias a contar da Data de Aquisição, bem como dos Documentos Comprobatórios em formato físico relativos aos Direitos Creditórios que eventualmente estejam inadimplidos em ref erida data, e (c) a totalidade dos demais Documentos Comprobatórios em f ormato f ísico em até 180 (cento e oitenta) dias a contar da Data de Aquisição, sujeito à resolução do respectivo endosso, de acordo com os termos do Contrato de Endosso. 4.7.2 Caso um Direito Creditório cedido à Classe deixe de atender quaisquer Critérios de Elegibilidade e/ou quaisquer declarações e garantias ref erentes a esse Direito Creditório, conf orme previsto no respectivo Contrato de Endosso, após seu endosso à Classe, não haverá coobrigação nem direito de regresso da Classe contra o ADMINISTRADOR, o CUSTODIANTE o GESTOR e/ou o En</a:t>
            </a:r>
          </a:p>
          <a:p>
            <a:r>
              <a:t>CNPJ 54871427000194 · Verificação de lastro e amostragem · Regulamento · ID 670691 · 28/04/2024 · versão Regulamento — referência 28/04/2024 · p. 24 · Anexo I, 12.15 e 12.19(iv)–(v) · https://fnet.bmfbovespa.com.br/fnet/publico/visualizarDocumento?id=670691</a:t>
            </a:r>
          </a:p>
          <a:p>
            <a:r>
              <a:t>CNPJ 54871427000194 · Verificação de lastro e amostragem · Excerto da fonte:</a:t>
            </a:r>
          </a:p>
          <a:p>
            <a:r>
              <a:t>12.15 No âmbito das diligências relacionadas à aquisição de Direitos Creditórios caracterizados como direitos e títulos representativos de crédito, conforme referidos na alínea “a” do inciso XII do art. 2º do Anexo Normativo II da Resolução CVM 175, o GESTOR deve verificar a existência, integridade e titularidade do lastro, de f orma integral, utilizando modelo estatístico consistente e passível de verif icação, 12.16 O GESTOR pode contratar terceiros para ef etuar a verif icação do lastro, inclusive a entidade registradora, o CUSTODIANTE ou consultoria especializada, caso aplicável, devendo constar do contrato de prestação de serviços as regras e procedimentos aplicáveis à verif icação, sendo que o GESTOR será responsável pela fiscalização da atuação do agente contratado no tocante à observância às regras e procedimentos aplicáveis à verif icação. Custódia e Verificação do Lastro quando do inadimplemento ou substituição dos Direitos Creditórios 12.17 Caso a classe aplique recursos em Direitos Creditórios que não sejam passíveis de registro em entidade registradora na data deste Regulamento, o ADMINISTRADOR deve contratar o serviço de custódia para a Carteira. 12.18 Os serviços de custódia qualificada dos Direitos Creditóri</a:t>
            </a:r>
          </a:p>
          <a:p>
            <a:r>
              <a:t>CNPJ 54871427000194 · Verificação de lastro e amostragem · Condição: A entrega escalonada dos comprovantes é distinta da verificação integral prevista. O Complemento 2 contém recuperação/cobrança; não contém uma amostragem estatística de lastro.</a:t>
            </a:r>
          </a:p>
          <a:p>
            <a:r>
              <a:t>CNPJ 54871427000194 · Verificação de lastro e amostragem · Versão e prevalência: Leitura específica das cláusulas indicadas; condições e conflitos preservados. Seleção documental atual não comprova vigência jurídica por data isolada.</a:t>
            </a:r>
          </a:p>
          <a:p>
            <a:r>
              <a:t>CNPJ 54871427000194 · Verificação de lastro e amostragem · Resumo do histórico: {"count": 1, "dates": ["2024-04-19"], "document_count": 1, "sources": [{"document_id": "670689", "title": "Regulamento", "reference_date": "2024-04-19", "version": "1", "page": 45, "url": "https://fnet.bmfbovespa.com.br/fnet/publico/visualizarDocumento?id=670689", "sha256": "891bc9bc5d87bbc02ec139077a84d2702eb81ea02035fb71d24f5b8366b94a0b"}], "reference": {"path": "history/54871427000194.json", "criterion_id": "collateral_check", "total_count": 1, "preview_count": 1, "full_text_deferred": true, "sha256": "35d7cd99be50c7287c9fb675cf4f2e736002315295a225a9efa79c8d9186d874"}}</a:t>
            </a:r>
          </a:p>
          <a:p>
            <a:r>
              <a:t>CNPJ 60010416000112 · Verificação de lastro e amostragem · Regulamento · ID 1051393 · 09/10/2025 · versão Regulamento09/10/2025 · p. 59 · Complemento7itens1–4 · https://fnet.bmfbovespa.com.br/fnet/publico/visualizarDocumento?id=1051393</a:t>
            </a:r>
          </a:p>
          <a:p>
            <a:r>
              <a:t>CNPJ 60010416000112 · Verificação de lastro e amostragem · Excerto da fonte:</a:t>
            </a:r>
          </a:p>
          <a:p>
            <a:r>
              <a:t>1. O Gestor deverá realizar a verif icação dos Documentos Comprobatórios relativos aos Direitos Creditórios adquiridos pela Classe trimestralmente; sendo certo que o Endossante e/ou o Agente de Retenção/Cobrança, conforme o caso, deverão enviar os Documentos Comprobatórios para o Gestor, conf orme def inido nos itens conf orme def inido nos itens 11.16 e 11.17 do Anexo I. 2. Observado o disposto no inciso (i) do item 3 abaixo, numa data-base pré-estabelecida, será selecionada uma amostra aleatória simples para a determinação de um intervalo de confiança para a proporção de eventuais f alhas, baseado numa distribuição binomial aproxi</a:t>
            </a:r>
          </a:p>
          <a:p>
            <a:r>
              <a:t>CNPJ 60010416000112 · Verificação de lastro e amostragem · Versão e prevalência: Leitura específica das cláusulas indicadas; condições e conflitos preservados. Seleção documental atual não comprova vigência jurídica por data isolada.</a:t>
            </a:r>
          </a:p>
          <a:p>
            <a:r>
              <a:t>CNPJ 60010416000112 · Verificação de lastro e amostragem · Resumo do histórico: {"count": 1, "dates": ["2025-03-20"], "document_count": 1, "sources": [{"document_id": "993786", "title": "Regulamento", "reference_date": "2025-03-20", "version": "1", "page": 38, "url": "https://fnet.bmfbovespa.com.br/fnet/publico/visualizarDocumento?id=993786", "sha256": "fd0fdd369a195510d81f81f505195a0b09e5f43522a990afa7d58c4f872921c8"}], "reference": {"path": "history/60010416000112.json", "criterion_id": "collateral_check", "total_count": 1, "preview_count": 1, "full_text_deferred": true, "sha256": "8e2bd813f4c51cf01f6bfaad164bafe69d2bbb192f753eac92da3a01c2e63046"}}</a:t>
            </a:r>
          </a:p>
          <a:p>
            <a:r>
              <a:t>CNPJ 62696791000193 · Verificação de lastro e amostragem · Regulamento · ID 1143317 · 20/03/2026 · versão Regulamento — referência 20/03/2026 · p. 13 · Anexo I, 4.15–4.19 · https://fnet.bmfbovespa.com.br/fnet/publico/visualizarDocumento?id=1143317</a:t>
            </a:r>
          </a:p>
          <a:p>
            <a:r>
              <a:t>CNPJ 62696791000193 · Verificação de lastro e amostragem · Excerto da fonte:</a:t>
            </a:r>
          </a:p>
          <a:p>
            <a:r>
              <a:t>4.15 Os serviços de custódia qualif icada dos Direitos Creditórios do Agronegócio não registrados em entidade registradora, bem como a guarda física dos originais dos Direitos Creditórios do Agronegócio e dos Documentos Comprobatórios, serão prestados pelo Custodiante. 4.16 São atribuições do Custodiante, observado o disposto neste Regulamento e na regulamentação aplicável: (i) realizar a liquidação física ou eletrônica e financeira dos Direitos Creditórios do Agronegócio; (ii) cobrar e receber, em nome da classe, pagamentos, resgate de títulos ou qualquer outro rendimento relativo aos ativos da Carteira, depositando os valores recebidos diretamente em conta de titularidade da classe ou, se f or o caso, em conta vinculada; e (iii) realizar a guarda da documentação relativa ao lastro dos Direitos Creditórios do Agronegócio. 4.17 Em razão de a Classe possuir significativa quantidade de Direitos Creditórios do Agronegócio cedidos e expressiva diversificação de devedores e de Cedentes, além de atuar em vários segmentos, o Custodiante está autorizado a ef etuar a verif icação do lastro dos Direitos Creditórios do Agronegócio por amostragem, sempre que permitido pel</a:t>
            </a:r>
          </a:p>
          <a:p>
            <a:r>
              <a:t>CNPJ 62696791000193 · Verificação de lastro e amostragem · Condição: O PDF obtido termina no Complemento I (Fatores de Risco); Complemento II, referenciado para parâmetros de amostragem, não está incluído. Não atribuir confiança 95%/erro 5% por analogia.</a:t>
            </a:r>
          </a:p>
          <a:p>
            <a:r>
              <a:t>CNPJ 62696791000193 · Verificação de lastro e amostragem · Versão e prevalência: Leitura específica das cláusulas indicadas; condições e conflitos preservados. Seleção documental atual não comprova vigência jurídica por data isolada.</a:t>
            </a:r>
          </a:p>
          <a:p>
            <a:r>
              <a:t>CNPJ 55563624000109 · Verificação de lastro e amostragem · Regulamento · ID 1192614 · 30/04/2026 · versão Regulamento30/04/2026 · p. 12 · AnexoI4.5–4.6 · https://fnet.bmfbovespa.com.br/fnet/publico/visualizarDocumento?id=1192614</a:t>
            </a:r>
          </a:p>
          <a:p>
            <a:r>
              <a:t>CNPJ 55563624000109 · Verificação de lastro e amostragem · Excerto da fonte:</a:t>
            </a:r>
          </a:p>
          <a:p>
            <a:r>
              <a:t>4.5 Uma vez que o investimento nas Cotas da Classe Investida não corresponde a um investimento direto em direitos creditórios, uma série de disposições comuns à securitização de direitos creditórios não será aplicável ao investimento nas Cotas da Classe Investida. A título meramente exemplificativo, não existem processos de originação ou política de concessão de crédito adotada pelo GESTOR, tampouco há que se falar em verificação ou guarda de documentos comprobatórios que não sejam referentes às Cotas da Classe Investida. Da mesma forma, não há necessida</a:t>
            </a:r>
          </a:p>
          <a:p>
            <a:r>
              <a:t>CNPJ 55563624000109 · Verificação de lastro e amostragem · Regulamento · ID 1192614 · 30/04/2026 · versão Regulamento30/04/2026 · p. 28 · AnexoI12.22–12.24 · https://fnet.bmfbovespa.com.br/fnet/publico/visualizarDocumento?id=1192614</a:t>
            </a:r>
          </a:p>
          <a:p>
            <a:r>
              <a:t>CNPJ 55563624000109 · Verificação de lastro e amostragem · Excerto da fonte:</a:t>
            </a:r>
          </a:p>
          <a:p>
            <a:r>
              <a:t>12.22 Os Documentos Comprobatórios relativos às Cotas da Classe Investida integrantes da Carteira inadimplidos e/ou substituídos num dado trimestre serão, no referido trimestre, objeto de verificação individualizada e integral pelo CUSTODIANTE ou terceiro por ele contratado. 12.23 Eventuais vícios verificados nos Documentos Comprobatórios que evidenciam o lastro dos Direitos Creditórios serão comunicados por escrito pelo CUSTODIANTE ao ADMINISTRADOR em até 5 (cinco) Dias Úteis da sua verificação, para que sejam tomadas as medidas necessárias. Cobrança da</a:t>
            </a:r>
          </a:p>
          <a:p>
            <a:r>
              <a:t>CNPJ 55563624000109 · Verificação de lastro e amostragem · Versão e prevalência: Leitura específica das cláusulas indicadas; condições e conflitos preservados. Seleção documental atual não comprova vigência jurídica por data isolada.</a:t>
            </a:r>
          </a:p>
          <a:p>
            <a:r>
              <a:t>CNPJ 62552447000120 · Verificação de lastro e amostragem · Regulamento · ID 1200623 · 21/05/2026 · versão Consolidado21/05/2026 aprovado pelo ato1200625 · p. 41 · ComplementoIIitens1–4 · https://fnet.bmfbovespa.com.br/fnet/publico/visualizarDocumento?id=1200623</a:t>
            </a:r>
          </a:p>
          <a:p>
            <a:r>
              <a:t>CNPJ 62552447000120 · Verificação de lastro e amostragem · Excerto da fonte:</a:t>
            </a:r>
          </a:p>
          <a:p>
            <a:r>
              <a:t>1. O Gestor deverá realizar a verif icação dos Documentos Comprobatórios relativos aos Direitos Creditórios adquiridos pela Classe trimestralmente; sendo certo que o Endossante e/ou o Agente de Retenção/Cobrança, conforme o caso, deverão enviar os Documentos Comprobat órios para o Gestor. 2. Observado o disposto no inciso (i) do item 3 abaixo, numa data-base pré-estabelecida, será selecionada uma amostra aleatória simples para a determinação de um intervalo de confiança para a proporção de eventuais falhas, baseado numa distribuição binomial aproximada a uma distribuição normal com 95% (noventa e cinco por cento) de nível de confian</a:t>
            </a:r>
          </a:p>
          <a:p>
            <a:r>
              <a:t>CNPJ 62552447000120 · Verificação de lastro e amostragem · Regulamento · ID 1200623 · 21/05/2026 · versão Consolidado21/05/2026 aprovado pelo ato1200625 · p. 29 · AnexoI12.12–12.13 · https://fnet.bmfbovespa.com.br/fnet/publico/visualizarDocumento?id=1200623</a:t>
            </a:r>
          </a:p>
          <a:p>
            <a:r>
              <a:t>CNPJ 62552447000120 · Verificação de lastro e amostragem · Excerto da fonte:</a:t>
            </a:r>
          </a:p>
          <a:p>
            <a:r>
              <a:t>12.12 Os Documentos Comprobatórios relativos aos Direitos Creditórios integrantes da Carteira inadimplidos e/ou substituídos num dado trimestre serão, no ref erido trimestre, objeto de verificação individualizada e integral pelo Custodiante ou terceiro por ele contratado. 12.13 Eventuais vícios verificados nos Documentos Comprobatórios que evidenciam o lastro dos Direitos Creditórios serão comunicados por escrito pelo Custodiante ao Administrador em até 5 (cinco) Dias Úteis da sua verif icação, para que sejam tomadas as medidas necessárias. Retenção e Cobrança dos Direitos Creditórios Inadimplidos 12.14 A Classe contra</a:t>
            </a:r>
          </a:p>
          <a:p>
            <a:r>
              <a:t>CNPJ 62552447000120 · Verificação de lastro e amostragem · Versão e prevalência: Leitura específica das cláusulas indicadas; condições e conflitos preservados. Seleção documental atual não comprova vigência jurídica por data isolada.</a:t>
            </a:r>
          </a:p>
          <a:p>
            <a:r>
              <a:t>CNPJ 63953620000165 · Verificação de lastro e amostragem · Anexo ao Regulamento · ID 1222863 · 2026-06-02 · versão 1 · p. 30 · https://fnet.bmfbovespa.com.br/fnet/publico/visualizarDocumento?id=1222863</a:t>
            </a:r>
          </a:p>
          <a:p>
            <a:r>
              <a:t>CNPJ 63953620000165 · Verificação de lastro e amostragem · Excerto da fonte:</a:t>
            </a:r>
          </a:p>
          <a:p>
            <a:r>
              <a:t>Complemento II  (Ao Anexo I)  PARÂMETROS PARA A VERIFICAÇÃO DO LASTRO POR AMOSTRAGEM  1. O Gestor deverá realizar a verificação dos Documentos Comprobatórios relativos aos Direitos Creditórios adquiridos pela  Classe trimestralmente; sendo certo que o Endossante e/ou o Agente de Retenção/Cobrança, conforme o caso, deverão  enviar os Documentos Comprobatórios para o Gestor, conforme definido nos itens conforme definido nos itens 11.16 e</a:t>
            </a:r>
          </a:p>
          <a:p>
            <a:r>
              <a:t>CNPJ 63953620000165 · Verificação de lastro e amostragem · Anexo ao Regulamento · ID 1222863 · 2026-06-02 · versão 1 · p. 30 · 11.17 · https://fnet.bmfbovespa.com.br/fnet/publico/visualizarDocumento?id=1222863</a:t>
            </a:r>
          </a:p>
          <a:p>
            <a:r>
              <a:t>CNPJ 63953620000165 · Verificação de lastro e amostragem · Excerto da fonte:</a:t>
            </a:r>
          </a:p>
          <a:p>
            <a:r>
              <a:t>11.17 do Anexo I.</a:t>
            </a:r>
          </a:p>
          <a:p>
            <a:r>
              <a:t> 2. Observado o disposto no inciso (i) do item 3 abaixo, numa data-base pré-estabelecida, será selecionada uma amostra  aleatória simples para a determinação de um intervalo de confiança para a proporção de eventuais falhas, baseado numa  distribuição binomial aproximada a uma distribuição normal com 95% (noventa e cinco por cento) de nível de confiança,  visando a uma margem de erro de 5% (cinco por cento), independentemente do cedente dos Direitos Creditórios.</a:t>
            </a:r>
          </a:p>
          <a:p>
            <a:r>
              <a:t> 3. O escopo da análise da documentação que evidencia o lastro dos Direitos Creditórios contempla a verificação da  existência dos respectivos Documentos Comprobatórios, conforme abaixo discriminado:</a:t>
            </a:r>
          </a:p>
          <a:p>
            <a:r>
              <a:t> i. obtenção de base de dados analítica por Direitos Creditórios integrantes da Carteira;</a:t>
            </a:r>
          </a:p>
          <a:p>
            <a:r>
              <a:t> ii. seleção de uma amostra de acordo com as fórmulas abaixo</a:t>
            </a:r>
          </a:p>
          <a:p>
            <a:r>
              <a:t>CNPJ 63953620000165 · Verificação de lastro e amostragem · Anexo ao Regulamento · ID 1222863 · 2026-06-02 · versão 1 · p. 26 · https://fnet.bmfbovespa.com.br/fnet/publico/visualizarDocumento?id=1222863</a:t>
            </a:r>
          </a:p>
          <a:p>
            <a:r>
              <a:t>CNPJ 63953620000165 · Verificação de lastro e amostragem · Excerto da fonte:</a:t>
            </a:r>
          </a:p>
          <a:p>
            <a:r>
              <a:t>Complemento I  (Ao Anexo I)  FATORES DE RISCO APLICÁVEIS À CLASSE CONSIGNADO PRIVADO DO MT GLOBAL FUNDO DE INVESTIMENTO EM  DIREITOS CREDITÓRIOS RESPONSABILIDADE LIMITADA  Risco de Crédito</a:t>
            </a:r>
          </a:p>
          <a:p>
            <a:r>
              <a:t> (i) Riscos associados aos Devedores: os Direitos Creditórios a serem endossados à Classe serão descontados  pela Dataprev da remuneração do Devedor. A capacidade de pagamento do Devedor poderá ser afetada se,  por exemplo, o Devedor tiver o seu contrato de emprego rescindido ou em virtude de decisão judicial, o  Devedor for obrigado a pagar alimentos, que têm prioridade sobre o empréstimo para fins de desconto na  folha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afetar a rentabilidade da Classe.</a:t>
            </a:r>
          </a:p>
          <a:p>
            <a:r>
              <a:t> (ii)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referido Devedor poderá  ficar inadimplente e, consequentemente, não haverá repasse à Classe do respectivo Direito Creditório, o  que poderá resultar em perdas financeiras à Classe e aos Cotistas.</a:t>
            </a:r>
          </a:p>
          <a:p>
            <a:r>
              <a:t> (iii) Risco do Empregador não efetuar o desconto em folha: o repasse dos recursos oriundos dos Direitos  Creditórios à Classe depende da realização, pelo Empregador, da Escrituração e do desconto na respectiva  folha de pagamento do Devedor. Na hipótese do Empregador deixar de realizar a Escrituração ou os  descontos na folha de pagamento, não haverá repasse de recursos à Classe, podendo causar prejuízos à  Classe e aos Cotistas.</a:t>
            </a:r>
          </a:p>
          <a:p>
            <a:r>
              <a:t> (iv) Risco de perda do vínculo empregatício com o Empregador: caso o Devedor perca o vínculo empregatício  com o Empregador, não haverá remuneração e folha de pagamento para realização dos descontos para  pagamento dos Direitos Creditórios. Neste caso, não obstante a possibilidade do Agente de  Retenção/Cobrança realizar a cobrança ativa dos Direitos Creditórios diretamente do Devedor, a ausência  de remuneração poderá deixar o Devedor inadimplente perante a Classe até que o seu vínculo empregatício  seja retomado e seja efetuado o procedimento operacional para que a CCB seja aditada e/ou seja realizado  o Processo de Reinicialização. Tais situações poderão resultar em prejuízos à Classe e aos Cotistas.</a:t>
            </a:r>
          </a:p>
          <a:p>
            <a:r>
              <a:t> Riscos Operacionais</a:t>
            </a:r>
          </a:p>
          <a:p>
            <a:r>
              <a:t> (i) Risco de irregularidade dos Documentos Comprobatórios e/ou Documentos Suporte: o Gestor, ou  terceiro por ele contratado, deverá realizar a verificação da regularidade dos Documentos Comprobatórios  e Documentos Suporte. A Carteira poderá conter Direitos Creditórios com documentação irregular, o que  poderá impedir que a Classe exerça plenamente as prerrogativas derivadas da titularidade dos Direitos  Creditórios. O Gestor poderá contratar empresas especializadas, com comprovada competência e  adequação, para realizar a guarda física, manutenção, armazenamento, organização e digitalização dos  Documentos Comprobatórios e Documentos Suporte, que estarão sob total responsabilidade do Gestor,  permanecendo as empresas como agentes depositários dos Documentos Comprobatórios e Documentos  Suporte.</a:t>
            </a:r>
          </a:p>
          <a:p>
            <a:r>
              <a:t> (ii) Risco operacional da Dataprev e da CEF: o empréstimo contraído pelos Devedores é pago por meio de  desconto na folha de pagamento feito pela Dataprev e pela CEF, conforme aplicável. É possível que os  rendimentos dos Devedores sejam atrasados ou não pagos devido a questões operacionais envolvendo a  Dataprev e/ou a CEF. Nesse caso, a Carteira poderá sofrer, já que não receberá automaticamente, e  também poderá ter dificuldades para receber, a qualquer momento, os recursos decorrentes dos Direitos  Creditórios.</a:t>
            </a:r>
          </a:p>
          <a:p>
            <a:r>
              <a:t>CNPJ 63953620000165 · Verificação de lastro e amostragem · Condição: Documentos atuais selecionados no inventário por categoria/escopo; a data documental isolada não comprova vigência jurídica.</a:t>
            </a:r>
          </a:p>
          <a:p>
            <a:r>
              <a:t>CNPJ 63953620000165 · Verificação de lastro e amostragem · Versão e prevalência: Documentos atuais selecionados no inventário por categoria/escopo; a data documental isolada não comprova vigência jurídica.</a:t>
            </a:r>
          </a:p>
          <a:p>
            <a:r>
              <a:t>CNPJ 63953620000165 · Verificação de lastro e amostragem · Resumo do histórico: {"count": 8, "dates": ["2026-04-28", "2026-05-08", "2026-05-15"], "document_count": 3, "sources": [{"document_id": "1327859", "title": "Demonstrações Financeiras - Fusão, cisão e incorporação", "reference_date": "2026-05-15", "version": "1", "page": 22, "url": "https://fnet.bmfbovespa.com.br/fnet/publico/visualizarDocumento?id=1327859", "sha256": "dca1c68babb97f887528c3e2e47596a9c30f507b067981a35655b2f2da9c8054"}, {"document_id": "1298691", "title": "Demonstrações Financeiras - Fusão, cisão e incorporação", "reference_date": "2026-05-08", "version": "1", "page": 17, "url": "https://fnet.bmfbovespa.com.br/fnet/publico/visualizarDocumento?id=1298691", "sha256": "58c570d9b8d4d265330d3db3ea81c435b8e44a6dab4002aa37790652a1ee9819"}, {"document_id": "1282180", "title": "Demonstrações Financeiras - Fusão, cisão e incorporação", "reference_date": "2026-04-28", "version": "1", "page": 17, "url": "https://fnet.bmfbovespa.com.br/fnet/publico/visualizarDocumento?id=1282180", "sha256": "afaaa0e6809be4385e5bdb6c911aac582032c5bdbac3d7750234bf9eaf00438a"}], "reference": {"path": "history/63953620000165.json", "criterion_id": "collateral_check",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Garantias e operação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Garantias e constituição · Demonstrações Financeiras - Fusão, cisão e incorporação · ID 1219522 · 2026-02-02 · versão 1 · p. 21 · https://fnet.bmfbovespa.com.br/fnet/publico/visualizarDocumento?id=1219522</a:t>
            </a:r>
          </a:p>
          <a:p>
            <a:r>
              <a:t>CNPJ 54871427000194 · Garantias e constituição · Excerto da fonte:</a:t>
            </a:r>
          </a:p>
          <a:p>
            <a:r>
              <a:t>Em 02 de fevereiro de 2026, a Classe não possuía garantias reais ou fidejussórias, pela liquidação  dos direitos creditórios.</a:t>
            </a:r>
          </a:p>
          <a:p>
            <a:r>
              <a:t>CNPJ 54871427000194 · Garantias e constituição · Condição: Trechos do documento específico identificado com data mais recente; vigência jurídica não inferida.</a:t>
            </a:r>
          </a:p>
          <a:p>
            <a:r>
              <a:t>CNPJ 54871427000194 · Garantias e constituição · Versão e prevalência: Trechos do documento específico identificado com data mais recente; vigência jurídica não inferida.</a:t>
            </a:r>
          </a:p>
          <a:p>
            <a:r>
              <a:t>CNPJ 54871427000194 · Garantias e constituição · Resumo do histórico: {"count": 5, "dates": ["2024-12-31", "2025-01-01", "2025-12-31"], "document_count": 3, "sources": [{"document_id": "1151805", "title": "Demonstrações Financeiras", "reference_date": "2025-12-31", "version": "1", "page": 21, "url": "https://fnet.bmfbovespa.com.br/fnet/publico/visualizarDocumento?id=1151805", "sha256": "f1cea70b152968bf96ef9221b27225953cb20aeef487b2798db3c25e11b528d4"}, {"document_id": "869529", "title": "Demonstrações Financeiras", "reference_date": "2025-01-01", "version": "1", "page": 20, "url": "https://fnet.bmfbovespa.com.br/fnet/publico/visualizarDocumento?id=869529", "sha256": "9a93a9369ac8efdbc54ff8fcee3ccac3abf88edab4807b9323d3852450771b2a"}, {"document_id": "870070", "title": "Demonstrações Financeiras", "reference_date": "2024-12-31", "version": "1", "page": 20, "url": "https://fnet.bmfbovespa.com.br/fnet/publico/visualizarDocumento?id=870070", "sha256": "9a93a9369ac8efdbc54ff8fcee3ccac3abf88edab4807b9323d3852450771b2a"}], "reference": {"path": "history/54871427000194.json", "criterion_id": "guarantee", "total_count": 5, "preview_count": 3, "full_text_deferred": true, "sha256": "35d7cd99be50c7287c9fb675cf4f2e736002315295a225a9efa79c8d9186d874"}}</a:t>
            </a:r>
          </a:p>
          <a:p>
            <a:r>
              <a:t>CNPJ 60010416000112 · Garantias e constituição · Demonstrações Financeiras - Fusão, cisão e incorporação · ID 1298690 · 2026-05-08 · versão 1 · p. 19 · https://fnet.bmfbovespa.com.br/fnet/publico/visualizarDocumento?id=1298690</a:t>
            </a:r>
          </a:p>
          <a:p>
            <a:r>
              <a:t>CNPJ 60010416000112 · Garantias e constituição · Excerto da fonte:</a:t>
            </a:r>
          </a:p>
          <a:p>
            <a:r>
              <a:t>Em 08 de maio de 2026, a Classe não possuía garantias reais ou fidejussórias, pela liquidação  dos Direitos Creditórios.</a:t>
            </a:r>
          </a:p>
          <a:p>
            <a:r>
              <a:t>CNPJ 60010416000112 · Garantias e constituição · Condição: Trechos do documento específico identificado com data mais recente; vigência jurídica não inferida.</a:t>
            </a:r>
          </a:p>
          <a:p>
            <a:r>
              <a:t>CNPJ 60010416000112 · Garantias e constituição · Versão e prevalência: Trechos do documento específico identificado com data mais recente; vigência jurídica não inferida.</a:t>
            </a:r>
          </a:p>
          <a:p>
            <a:r>
              <a:t>CNPJ 60010416000112 · Garantias e constituição · Resumo do histórico: {"count": 4, "dates": ["2025-11-30", "2026-03-18", "2026-04-16"], "document_count": 3, "sources": [{"document_id": "1282181", "title": "Demonstrações Financeiras - Fusão, cisão e incorporação", "reference_date": "2026-04-16", "version": "1", "page": 20, "url": "https://fnet.bmfbovespa.com.br/fnet/publico/visualizarDocumento?id=1282181", "sha256": "b1c6566e43a00bcd00c8a7f30c77b7f86e351bd8e355bbea113f46d1dafda703"}, {"document_id": "1224477", "title": "Demonstrações Financeiras - Fusão, cisão e incorporação", "reference_date": "2026-03-18", "version": "1", "page": 20, "url": "https://fnet.bmfbovespa.com.br/fnet/publico/visualizarDocumento?id=1224477", "sha256": "0751bf0a75bc3b44c2748f5000226665c6ec6698a90c4dc6170b4e6c187759ae"}, {"document_id": "1126154", "title": "Demonstrações Financeiras", "reference_date": "2025-11-30", "version": "1", "page": 21, "url": "https://fnet.bmfbovespa.com.br/fnet/publico/visualizarDocumento?id=1126154", "sha256": "a01e7ccf88c548f12c95cba8526d7efbef6b585c112cd4668eca781c292090b0"}], "reference": {"path": "history/60010416000112.json", "criterion_id": "guarantee", "total_count": 4, "preview_count": 3, "full_text_deferred": true, "sha256": "8e2bd813f4c51cf01f6bfaad164bafe69d2bbb192f753eac92da3a01c2e63046"}}</a:t>
            </a:r>
          </a:p>
          <a:p>
            <a:r>
              <a:t>CNPJ 62696791000193 · Garantias e constituição · Regulamento · ID 1143317 · 20/03/2026 · versão Regulamento — referência 20/03/2026 · p. 11 · Anexo I, 4.7(iv) · https://fnet.bmfbovespa.com.br/fnet/publico/visualizarDocumento?id=1143317</a:t>
            </a:r>
          </a:p>
          <a:p>
            <a:r>
              <a:t>CNPJ 62696791000193 · Garantias e constituição · Excerto da fonte:</a:t>
            </a:r>
          </a:p>
          <a:p>
            <a:r>
              <a:t>(iv) sejam representados por direitos e/ou títulos representativos de crédito, com ou sem garantias reais ou pessoais a eles atreladas, incluindo, sem limitação, duplicatas, debêntures, contratos de locação e contratos mercantis de compra e venda de produtos e/ ou mercadorias perf ormados e/ou para entrega ou prestação f utura, bem como títulos ou certificados representativos desses contratos, decorrentes de operações nos segmentos f inanceiro, comercial, industrial, imobiliário, de hipotecas, de arrendamento mercantil e de prestação de serviços, observadas as vedações do item 4.28 abaixo deste Anexo. 4.7.2 Para f ins da verificação dos Critérios de Elegibilidade, será considerado o Patrimônio Líquido e o valor dos Direitos Creditórios do Agronegócio integrantes da carteira no Dia Útil imediatamente anterior à Data de Aquisição. 4.7.3 Na hipótese de eventuais Direitos Creditórios do Agronegócio elegíveis deixarem de atender a qualquer Critério de Elegibilidade após sua aquisição pela Classe, tal f ato não será entendido como um desenquadramento da carteira, tampouco haverá direito de regresso contra</a:t>
            </a:r>
          </a:p>
          <a:p>
            <a:r>
              <a:t>CNPJ 62696791000193 · Garantias e constituição · Regulamento · ID 1143317 · 20/03/2026 · versão Regulamento — referência 20/03/2026 · p. 14 · Anexo I, 4.24 · https://fnet.bmfbovespa.com.br/fnet/publico/visualizarDocumento?id=1143317</a:t>
            </a:r>
          </a:p>
          <a:p>
            <a:r>
              <a:t>CNPJ 62696791000193 · Garantias e constituição · Excerto da fonte:</a:t>
            </a:r>
          </a:p>
          <a:p>
            <a:r>
              <a:t>4.24 A Classe poderá adquirir imóveis rurais sobre os quais tenham sido constituídos ônus reais anteriormente ao seu ingresso no patrimônio da Classe. Ainda, posteriormente ao seu ingresso no patrimônio da Classe, poderá o Gestor, em nome da Classe, prestar fiança, aval, aceite ou coobrigar- se sob qualquer f orma, relativamente a operações relacionadas à carteira de ativos da Classe, bem como constituir ônus reais sobre imóveis rurais integrantes do patrimônio da Classe para garantir obrigações por ela assumidas. 4.25 O Administrador, conforme orientação do Gestor, poderá utilizar recursos da classe para recomprar suas próprias cotas, com a f inalidade exclusiva de cancelamento, seja por meio de programa de recompra ou por meio de Of erta Pública Voluntária de Aquisição d e suas próprias cotas (“OPAC”), observados os procedimentos eventualmente previstos nos manuais ou regras da B3, bem como o disposto no Art. 56 e seguintes do Anexo Normativo I da Resolução CVM 175. Participações do Agronegócio 4.26 As seguintes regras são aplicáveis aos investimentos em Participações do Agronegócio realizados pela Classe. 4.26.1 Deverão ser asseguradas à Classe (i) a participação no processo deci</a:t>
            </a:r>
          </a:p>
          <a:p>
            <a:r>
              <a:t>CNPJ 62696791000193 · Garantias e constituição · Regulamento · ID 1143317 · 20/03/2026 · versão Regulamento — referência 20/03/2026 · p. 48 · Complemento I, 11.6 · https://fnet.bmfbovespa.com.br/fnet/publico/visualizarDocumento?id=1143317</a:t>
            </a:r>
          </a:p>
          <a:p>
            <a:r>
              <a:t>CNPJ 62696791000193 · Garantias e constituição · Excerto da fonte:</a:t>
            </a:r>
          </a:p>
          <a:p>
            <a:r>
              <a:t>11.6. Ausência de garantia. As aplicações realizadas na Classe não contam com garantia do Cedente, do ADMINISTRADOR, do GESTOR, do CUSTODIANTE ou da Classe Garantidor de Créditos – FGC, de modo que é possível a perda total do capital investido pelos Cotistas ou mesmo a necessidade de os Cotistas realizarem aportes adicionais de recursos para a cobertura de eventuais prejuízos. 11.7. Limitação do gerenciamento de riscos. A realização de investimentos na Classe expõe o investidor a riscos a que a Classe está sujeita, os quais poderão acarretar perdas para os Cotistas. Não há qualquer garantia de completa eliminação da possibilidade de perdas para a Classe e para os Cotistas. Em condições adversas de mercado, esses sistemas de gerenciamento de riscos poderão ter sua ef iciência reduzida. A Classe também poderá estar sujeita a outros riscos advindos de motivos alheios ou exógenos ao controle do Administrador, tais como moratória, inadimplemento de pagamentos, mudança nas regras aplicáveis aos Ativos-Alvo e Ativos Financeiros de Liquidez, alteração na política monetária, alteração da política fiscal aplicável à Classe, os quais poderão causar preju</a:t>
            </a:r>
          </a:p>
          <a:p>
            <a:r>
              <a:t>CNPJ 62696791000193 · Garantias e constituição · Versão e prevalência: Leitura específica das cláusulas indicadas; condições e conflitos preservados. Seleção documental atual não comprova vigência jurídica por data isolada.</a:t>
            </a:r>
          </a:p>
          <a:p>
            <a:r>
              <a:t>CNPJ 55563624000109 · Garantias e constituição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Garantias e constituição · Resumo do histórico: {"count": 1, "dates": ["2026-04-30"], "document_count": 1, "sources": [{"document_id": "1192614", "title": "Regulamento", "reference_date": "2026-04-30", "version": "1", "page": "12, 14", "url": "https://fnet.bmfbovespa.com.br/fnet/publico/visualizarDocumento?id=1192614", "sha256": "f56e63ace0acde41d2f47fb48f1ac7f3f7df5e2d32de092d7c5e075a52516632"}], "reference": {"path": "history/55563624000109.json", "criterion_id": "guarantee", "total_count": 1, "preview_count": 1, "full_text_deferred": true, "sha256": "7835d573fb58a3c19adf5b8ecc2aee2bdbb9a88f7a0c0209b5f262b64c7522e3"}}</a:t>
            </a:r>
          </a:p>
          <a:p>
            <a:r>
              <a:t>CNPJ 62552447000120 · Garantias e constituição · Regulamento · ID 1200623 · 21/05/2026 · versão Consolidado21/05/2026 aprovado pelo ato1200625 · p. 8 · AnexoICondições(ii)(c) · https://fnet.bmfbovespa.com.br/fnet/publico/visualizarDocumento?id=1200623</a:t>
            </a:r>
          </a:p>
          <a:p>
            <a:r>
              <a:t>CNPJ 62552447000120 · Garantias e constituição · Excerto da fonte:</a:t>
            </a:r>
          </a:p>
          <a:p>
            <a:r>
              <a:t>garantias prestadas pelo Endossante ou pelo Agente de Retenção/Cobrança com relação a esse Direito Creditório deverão ser verdadeiras, nos termos deste Contrato e do respectivo Termo de Endosso; (e) tenha sido realizado o tratamento dos dados pessoais de pessoa natural observando as leis e regulamentações que regem a privacidade e a proteção de dados pess</a:t>
            </a:r>
          </a:p>
          <a:p>
            <a:r>
              <a:t>CNPJ 62552447000120 · Garantias e constituição · Regulamento · ID 1200623 · 21/05/2026 · versão Consolidado21/05/2026 aprovado pelo ato1200625 · p. 12 · AnexoI4.3.2 · https://fnet.bmfbovespa.com.br/fnet/publico/visualizarDocumento?id=1200623</a:t>
            </a:r>
          </a:p>
          <a:p>
            <a:r>
              <a:t>CNPJ 62552447000120 · Garantias e constituição · Excerto da fonte:</a:t>
            </a:r>
          </a:p>
          <a:p>
            <a:r>
              <a:t>alienação/cessão fiduciária; e (b) solicitar bloqueio de parte do saldo da conta vinculada do Devedor. Emitida a CCB em favor do Endossante e formalizada a alienação/cessão f iduciária pelo Devedor, o Endossante endossará eletronicamente a CCB em preto à Classe, que receberá todos os valores dela decorrentes (i.e., os Direitos Creditórios FGTS), após concluídas as f ormalidades de processamento pela CEF, na Conta da Classe. Caso a alienação/cessão f iduciária seja acionada nos termos da CCB, os recursos onerados serão liberados em favor do Endossante no</a:t>
            </a:r>
          </a:p>
          <a:p>
            <a:r>
              <a:t>CNPJ 62552447000120 · Garantias e constituição · Regulamento · ID 1200623 · 21/05/2026 · versão Consolidado21/05/2026 aprovado pelo ato1200625 · p. 6 · AnexoIRefinanciamentoLivre(d) · https://fnet.bmfbovespa.com.br/fnet/publico/visualizarDocumento?id=1200623</a:t>
            </a:r>
          </a:p>
          <a:p>
            <a:r>
              <a:t>CNPJ 62552447000120 · Garantias e constituição · Excerto da fonte:</a:t>
            </a:r>
          </a:p>
          <a:p>
            <a:r>
              <a:t>Refinanciamento Livre”, na forma de CCBs originadas no âmbito de um refinanciamento, de acordo com a política de cobrança vigente, de Direitos Creditórios Consignado Privado e de Direitos Creditórios FGTS, que não contem com o lastro de Consignação ou de cessão f iduciária do Saque-Aniversário, respectivamente; e (ii) “Ativos Financei</a:t>
            </a:r>
          </a:p>
          <a:p>
            <a:r>
              <a:t>CNPJ 62552447000120 · Garantias e constituição · Regulamento · ID 1200623 · 21/05/2026 · versão Consolidado21/05/2026 aprovado pelo ato1200625 · p. 16 · AnexoI4.25 · https://fnet.bmfbovespa.com.br/fnet/publico/visualizarDocumento?id=1200623</a:t>
            </a:r>
          </a:p>
          <a:p>
            <a:r>
              <a:t>CNPJ 62552447000120 · Garantias e constituição · Excerto da fonte:</a:t>
            </a:r>
          </a:p>
          <a:p>
            <a:r>
              <a:t>4.25 As aplicações na Classe não contam com garantia: (i) do Administrador; (ii) do Gestor; (iii) do Endossante; (iv) do Custodiante; (v) dos demais prestadores de serviço da Classe; (vii) de qualquer mecanismo de seguro; e/ou (viii) do FGC. CAPÍTULO 5 – CARACTERÍSTICAS E CONDIÇÕES DAS COTAS 5.1 A Classe não possui Subclasse. As características, os direitos e as condições de emissão, distribuição, subscrição, integralização, remuneração, Amortização e resgate das Cotas estão descritos neste Capítulo e no Capítulo 6. 5.1.1 Não obstante, por deliberação conjunta dos Prestadores de Serviços Essenciais e me</a:t>
            </a:r>
          </a:p>
          <a:p>
            <a:r>
              <a:t>CNPJ 62552447000120 · Garantias e constituição · Versão e prevalência: Leitura específica das cláusulas indicadas; condições e conflitos preservados. Seleção documental atual não comprova vigência jurídica por data isolada.</a:t>
            </a:r>
          </a:p>
          <a:p>
            <a:r>
              <a:t>CNPJ 63953620000165 · Garantias e constituição · Demonstrações Financeiras - Fusão, cisão e incorporação · ID 1327859 · 2026-05-15 · versão 1 · p. 21 · https://fnet.bmfbovespa.com.br/fnet/publico/visualizarDocumento?id=1327859</a:t>
            </a:r>
          </a:p>
          <a:p>
            <a:r>
              <a:t>CNPJ 63953620000165 · Garantias e constituição · Excerto da fonte:</a:t>
            </a:r>
          </a:p>
          <a:p>
            <a:r>
              <a:t>i) Alienação de direitos creditórios  No período em findo em 15 de maio de 2026, não houve recompra de direitos creditórios  inadimplentes.</a:t>
            </a:r>
          </a:p>
          <a:p>
            <a:r>
              <a:t>j) Garantias  Em 15 de maio de 2026, a Classe não possuía garantias reais ou fidejussórias, pela liquidação  dos direitos creditórios.</a:t>
            </a:r>
          </a:p>
          <a:p>
            <a:r>
              <a:t>7. Riscos  Não obstante o emprego pela Administradora e pela Gestora de plena diligência e da boa prática  de administração e gestão da Classe, da estrita observância da política de investimento, das  regras legais e regulamentares aplicáveis à sua administração e gestão, a Classe estará sujeita  aos riscos inerentes aos bens e direitos integrantes de sua Carteira, além dos fatores de risco  identificados abaixo.</a:t>
            </a:r>
          </a:p>
          <a:p>
            <a:r>
              <a:t> Risco de Crédito</a:t>
            </a:r>
          </a:p>
          <a:p>
            <a:r>
              <a:t> (i) Riscos associados aos Devedores: os direitos creditórios a serem endossados à  classe serão descontados pela Dataprev da remuneração do devedor. A capacidade de  pagamento do devedor poderá ser afetada se, por exemplo, o devedor tiver o seu  contrato de emprego rescindido ou em virtude de decisão judicial, o devedor for obrigado  a pagar alimentos, que têm prioridade sobre o empréstimo para fins de desconto na folha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afetar a rentabilidade da classe.</a:t>
            </a:r>
          </a:p>
          <a:p>
            <a:r>
              <a:t>CNPJ 63953620000165 · Garantias e constituição · Condição: Trechos do documento específico identificado com data mais recente; vigência jurídica não inferida.</a:t>
            </a:r>
          </a:p>
          <a:p>
            <a:r>
              <a:t>CNPJ 63953620000165 · Garantias e constituição · Versão e prevalência: Trechos do documento específico identificado com data mais recente; vigência jurídica não inferida.</a:t>
            </a:r>
          </a:p>
          <a:p>
            <a:r>
              <a:t>CNPJ 63953620000165 · Garantias e constituição · Resumo do histórico: {"count": 7, "dates": ["2026-04-16", "2026-04-28", "2026-05-08"], "document_count": 3, "sources": [{"document_id": "1298691", "title": "Demonstrações Financeiras - Fusão, cisão e incorporação", "reference_date": "2026-05-08", "version": "1", "page": 21, "url": "https://fnet.bmfbovespa.com.br/fnet/publico/visualizarDocumento?id=1298691", "sha256": "58c570d9b8d4d265330d3db3ea81c435b8e44a6dab4002aa37790652a1ee9819"}, {"document_id": "1282180", "title": "Demonstrações Financeiras - Fusão, cisão e incorporação", "reference_date": "2026-04-28", "version": "1", "page": 21, "url": "https://fnet.bmfbovespa.com.br/fnet/publico/visualizarDocumento?id=1282180", "sha256": "afaaa0e6809be4385e5bdb6c911aac582032c5bdbac3d7750234bf9eaf00438a"}, {"document_id": "1282179", "title": "Demonstrações Financeiras - Fusão, cisão e incorporação", "reference_date": "2026-04-16", "version": "1", "page": 21, "url": "https://fnet.bmfbovespa.com.br/fnet/publico/visualizarDocumento?id=1282179", "sha256": "beb67afbcd64169019477673fd3b7c1edbfabbd9db07379388d8cdd5d3fc9395"}], "reference": {"path": "history/63953620000165.json", "criterion_id": "guarantee", "total_count": 7, "preview_count": 3, "full_text_deferred": true, "sha256": "a7b89077f5e21098c2d601c303faabc3ff6b9729f89d8afecdc60fe1404720c1"}}</a:t>
            </a:r>
          </a:p>
          <a:p>
            <a:r>
              <a:t>CNPJ 54871427000194 · Registro, execução e recuperação · Motivo: Não localizada uma cláusula material para este critério nos textos identificados e processados. A ausência de resultado não comprova inexistência da regra.</a:t>
            </a:r>
          </a:p>
          <a:p>
            <a:r>
              <a:t>CNPJ 60010416000112 · Registro, execução e recuperação · Motivo: Não localizada uma cláusula material para este critério nos textos identificados e processados. A ausência de resultado não comprova inexistência da regra.</a:t>
            </a:r>
          </a:p>
          <a:p>
            <a:r>
              <a:t>CNPJ 62696791000193 · Registro, execução e recuperação · Regulamento · ID 1143317 · 2026-03-20 · versão 1 · p. 45 · 8.7 · https://fnet.bmfbovespa.com.br/fnet/publico/visualizarDocumento?id=1143317</a:t>
            </a:r>
          </a:p>
          <a:p>
            <a:r>
              <a:t>CNPJ 62696791000193 · Registro, execução e recuperação · Excerto da fonte:</a:t>
            </a:r>
          </a:p>
          <a:p>
            <a:r>
              <a:t>8.7. Risco de Execução das Garantias Atreladas aos CRIs. O investimento em CRI inclui uma série  de riscos, dentre estes, o risco de inadimplemento e consequente execução das garantias  outorgadas à respectiva operação e os riscos inerentes à eventual existência de bens imóveis  na composição da carteira da Classe, podendo, nesta hipótese, a rentabilidade da Classe ser  af etada. Em um eventual processo de execução das garantias dos CRI, poderá haver a  necessidade de contratação de consultores, dentre outros custos, que deverão ser suportados  pela Classe, na qualidade de investidor dos CRI. Adicionalmente, a garantia outorgada em  f avor dos CRI pode não ter valor suficiente para suportar as obrigações financeiras atreladas  a tal CRI. Desta f orma, uma série de eventos relacionados à execução de garantias dos CRI  poderá afetar negativamente o valor das Cotas e a rentabilidade do investimento na Classe.</a:t>
            </a:r>
          </a:p>
          <a:p>
            <a:r>
              <a:t>9. Riscos relativos às Participações do Agronegócio</a:t>
            </a:r>
          </a:p>
          <a:p>
            <a:r>
              <a:t>CNPJ 62696791000193 · Registro, execução e recuperação · Condição: Documentos atuais selecionados no inventário por categoria/escopo; a data documental isolada não comprova vigência jurídica.</a:t>
            </a:r>
          </a:p>
          <a:p>
            <a:r>
              <a:t>CNPJ 62696791000193 · Registro, execução e recuperação · Motivo: Cláusula primária localizada e citada, mas sua lista/condições extensas não admitem uma síntese literal curta confirmada. O trecho integral permanece nas fontes.</a:t>
            </a:r>
          </a:p>
          <a:p>
            <a:r>
              <a:t>CNPJ 62696791000193 · Registro, execução e recuperação · Versão e prevalência: Documentos atuais selecionados no inventário por categoria/escopo; a data documental isolada não comprova vigência jurídica.</a:t>
            </a:r>
          </a:p>
          <a:p>
            <a:r>
              <a:t>CNPJ 55563624000109 · Registro, execução e recuperação · Motivo: Não localizada uma cláusula material para este critério nos textos identificados e processados. A ausência de resultado não comprova inexistência da regra.</a:t>
            </a:r>
          </a:p>
          <a:p>
            <a:r>
              <a:t>CNPJ 62552447000120 · Registro, execução e recuperação · Motivo: Não localizada uma cláusula material para este critério nos textos identificados e processados. A ausência de resultado não comprova inexistência da regra.</a:t>
            </a:r>
          </a:p>
          <a:p>
            <a:r>
              <a:t>CNPJ 63953620000165 · Registro, execução e recuperação · Motivo: Não localizada uma cláusula material para este critério nos textos identificados e processados. A ausência de resultado não comprova inexistência da regra.</a:t>
            </a:r>
          </a:p>
          <a:p>
            <a:r>
              <a:t>CNPJ 54871427000194 · Cobrança e servicing · Regulamento · ID 670691 · 28/04/2024 · versão Regulamento — referência 28/04/2024 · p. 44 · Complemento 2, Régua de Cobrança, Desconto e Comissão · https://fnet.bmfbovespa.com.br/fnet/publico/visualizarDocumento?id=670691</a:t>
            </a:r>
          </a:p>
          <a:p>
            <a:r>
              <a:t>CNPJ 54871427000194 · Cobrança e servicing · Excerto da fonte:</a:t>
            </a:r>
          </a:p>
          <a:p>
            <a:r>
              <a:t>Régua de Cobrança A partir da comunicação da desaverbação do a partir de 31 dias a partir de 60 dias contrato - Notificação (canais digitais) - Negativação SERASA - PROTESTO Repescagem diária na - Cobrança terceirizada - Repescagem diária na conta corrente - Repescagem diária na conta corrente conta corrente DESCONTO Normal Atraso Multa e Mora Principal 15 a 90 0% 0% 91 a 180 100% 0% 181 a 270 100% 20% 271 a 360 100% 30% Acima de 360 100% 50% COMISSÃO Faixa de Atraso % comissão De 15 a 90 dias 12% De 90 a 180 dias 15% De 181 a 270 dias 20%</a:t>
            </a:r>
          </a:p>
          <a:p>
            <a:r>
              <a:t>CNPJ 54871427000194 · Cobrança e servicing · Condição: A tabela de comissões se refere à cobrança/recuperação por faixa de atraso; a remuneração geral do agente está remetida ao contrato na cláusula 13.7.</a:t>
            </a:r>
          </a:p>
          <a:p>
            <a:r>
              <a:t>CNPJ 54871427000194 · Cobrança e servicing · Versão e prevalência: Leitura específica das cláusulas indicadas; condições e conflitos preservados. Seleção documental atual não comprova vigência jurídica por data isolada.</a:t>
            </a:r>
          </a:p>
          <a:p>
            <a:r>
              <a:t>CNPJ 60010416000112 · Cobrança e servicing · Regulamento · ID 1051393 · 2025-10-09 · versão 1 · p. 33 · 14.2.5 · https://fnet.bmfbovespa.com.br/fnet/publico/visualizarDocumento?id=1051393</a:t>
            </a:r>
          </a:p>
          <a:p>
            <a:r>
              <a:t>CNPJ 60010416000112 · Cobrança e servicing · Excerto da fonte:</a:t>
            </a:r>
          </a:p>
          <a:p>
            <a:r>
              <a:t>14.2.5 O Agente de Retenção/Cobrança poderá realizar a cobrança do Direitos Creditórios de forma ativa  caso seja verif icado, pelo Agente de Retenção/Cobrança que o Empregador não ef etuou a  Escrituração ou em caso de perda do vínculo empregatício do Devedor com o Empregador. A  cobrança ativa será mantida até que a Escrituração seja realizada e/ou até que o Devedor retome  o vínculo empregatício, observado o disposto abaixo:</a:t>
            </a:r>
          </a:p>
          <a:p>
            <a:r>
              <a:t> (i) As medidas adotadas pelo Agente de Retenção/Cobrança deverão observar a política  de cobrança adotada pelo Custodiante; e</a:t>
            </a:r>
          </a:p>
          <a:p>
            <a:r>
              <a:t> (ii) Uma vez retomado o vínculo empregatício, o Agente de Retenção/Cobrança deverá aditar  a CCB e/ou realizar o Processo de Reinicialização (conforme detalhado no Contrato de  Endosso).</a:t>
            </a:r>
          </a:p>
          <a:p>
            <a:r>
              <a:t>CAPÍTULO 15 – FATORES DE RISCO</a:t>
            </a:r>
          </a:p>
          <a:p>
            <a:r>
              <a:t>CNPJ 60010416000112 · Cobrança e servicing · Condição: Documentos atuais selecionados no inventário por categoria/escopo; a data documental isolada não comprova vigência jurídica.</a:t>
            </a:r>
          </a:p>
          <a:p>
            <a:r>
              <a:t>CNPJ 60010416000112 · Cobrança e servicing · Versão e prevalência: Documentos atuais selecionados no inventário por categoria/escopo; a data documental isolada não comprova vigência jurídica.</a:t>
            </a:r>
          </a:p>
          <a:p>
            <a:r>
              <a:t>CNPJ 60010416000112 · Cobrança e servicing · Resumo do histórico: {"count": 1, "dates": ["2025-03-20"], "document_count": 1, "sources": [{"document_id": "993786", "title": "Regulamento", "reference_date": "2025-03-20", "version": "1", "page": 33, "clause": "14.2.5", "url": "https://fnet.bmfbovespa.com.br/fnet/publico/visualizarDocumento?id=993786", "sha256": "fd0fdd369a195510d81f81f505195a0b09e5f43522a990afa7d58c4f872921c8"}], "reference": {"path": "history/60010416000112.json", "criterion_id": "servicing", "total_count": 1, "preview_count": 1, "full_text_deferred": true, "sha256": "8e2bd813f4c51cf01f6bfaad164bafe69d2bbb192f753eac92da3a01c2e63046"}}</a:t>
            </a:r>
          </a:p>
          <a:p>
            <a:r>
              <a:t>CNPJ 62696791000193 · Cobrança e servicing · Regulamento · ID 1143317 · 2026-03-20 · versão 1 · p. 43 · 7.7 · https://fnet.bmfbovespa.com.br/fnet/publico/visualizarDocumento?id=1143317</a:t>
            </a:r>
          </a:p>
          <a:p>
            <a:r>
              <a:t>CNPJ 62696791000193 · Cobrança e servicing · Excerto da fonte:</a:t>
            </a:r>
          </a:p>
          <a:p>
            <a:r>
              <a:t>7.7. Falhas de Cobrança. A cobrança dos Direitos Creditórios do Agronegócio Inadimplidos de  titularidade da Classe depende da atuação diligente do agente de cobrança. Qualquer f alha  de procedimento ou ineficiência do agente de cobrança poderá acarretar menor recebimento  dos recursos devidos pelos Devedores, levando à queda da rentabilidade da Classe.</a:t>
            </a:r>
          </a:p>
          <a:p>
            <a:r>
              <a:t> Adicionalmente, nada garante que a cobrança judicial dos Direitos Creditórios do Agronegócio  Inadimplidos levará à recuperação total dos Direitos Creditórios do Agronegócio Inadimplidos,  o que poderá implicar perdas patrimoniais à Classe e aos Cotistas.</a:t>
            </a:r>
          </a:p>
          <a:p>
            <a:r>
              <a:t>CNPJ 62696791000193 · Cobrança e servicing · Regulamento · ID 1143317 · 2026-03-20 · versão 1 · p. 9 · 3.2 · https://fnet.bmfbovespa.com.br/fnet/publico/visualizarDocumento?id=1143317</a:t>
            </a:r>
          </a:p>
          <a:p>
            <a:r>
              <a:t>CNPJ 62696791000193 · Cobrança e servicing · Excerto da fonte:</a:t>
            </a:r>
          </a:p>
          <a:p>
            <a:r>
              <a:t>3.2 Sem prejuízo de outras despesas que venham a ser aprovadas em Assembleia Especial, são Encargos  da Classe:</a:t>
            </a:r>
          </a:p>
          <a:p>
            <a:r>
              <a:t> (i) despesas com consultoria especializada;</a:t>
            </a:r>
          </a:p>
          <a:p>
            <a:r>
              <a:t> (ii) despesas com agente de cobrança.</a:t>
            </a:r>
          </a:p>
          <a:p>
            <a:r>
              <a:t>CNPJ 62696791000193 · Cobrança e servicing · Condição: Documentos atuais selecionados no inventário por categoria/escopo; a data documental isolada não comprova vigência jurídica.</a:t>
            </a:r>
          </a:p>
          <a:p>
            <a:r>
              <a:t>CNPJ 62696791000193 · Cobrança e servicing · Versão e prevalência: Documentos atuais selecionados no inventário por categoria/escopo; a data documental isolada não comprova vigência jurídica.</a:t>
            </a:r>
          </a:p>
          <a:p>
            <a:r>
              <a:t>CNPJ 55563624000109 · Cobrança e servicing · Regulamento · ID 1192614 · 2026-04-30 · versão 1 · p. 11 · https://fnet.bmfbovespa.com.br/fnet/publico/visualizarDocumento?id=1192614</a:t>
            </a:r>
          </a:p>
          <a:p>
            <a:r>
              <a:t>CNPJ 55563624000109 · Cobrança e servicing · Excerto da fonte:</a:t>
            </a:r>
          </a:p>
          <a:p>
            <a:r>
              <a:t>(vi) Emolumentos e comissões pagas por operações da Carteira da Classe;</a:t>
            </a:r>
          </a:p>
          <a:p>
            <a:r>
              <a:t> (vii) Despesas com a manutenção de ativos cuja propriedade decorra da execução de garantia ou de acordo  com o respectivo devedor;</a:t>
            </a:r>
          </a:p>
          <a:p>
            <a:r>
              <a:t> (viii) Honorários de advogados, custas e despesas processuais correlatas incorridos em defesa dos interesses  do FUNDO ou da Classe, em juízo ou fora dele, inclusive o valor da condenação imputada, se for o caso;</a:t>
            </a:r>
          </a:p>
          <a:p>
            <a:r>
              <a:t> (ix) Gastos derivados da celebração de contratos de seguro sobre os ativos integrantes da Carteira da Classe,  assim como a parcela de prejuízos da Carteira não coberta por apólices de seguro, salvo se decorrente  diretamente de culpa ou dolo dos prestadores de serviços da Classe no exercício de suas respectivas  funções;</a:t>
            </a:r>
          </a:p>
          <a:p>
            <a:r>
              <a:t> (x) Despesas relacionadas ao exercício do direito de voto decorrente dos ativos integrantes da Carteira;</a:t>
            </a:r>
          </a:p>
          <a:p>
            <a:r>
              <a:t> (xi) Despesas com a realização da Assembleia de Cotistas;</a:t>
            </a:r>
          </a:p>
          <a:p>
            <a:r>
              <a:t> (xii) Despesas inerentes à constituição, à fusão, à incorporação, à cisão, à transformação ou à liquidação da  Classe;</a:t>
            </a:r>
          </a:p>
          <a:p>
            <a:r>
              <a:t> (xiii) Despesas com a liquidação, o registro e a custódia de operações com os ativos integrantes da Carteira;</a:t>
            </a:r>
          </a:p>
          <a:p>
            <a:r>
              <a:t> (xiv) Despesas com o fechamento de câmbio, vinculadas às operações da Carteira da Classe;</a:t>
            </a:r>
          </a:p>
          <a:p>
            <a:r>
              <a:t> (xv) Despesas inerentes à distribuição primária das Cotas e à admissão das Cotas à negociação em mercado  organizado;</a:t>
            </a:r>
          </a:p>
          <a:p>
            <a:r>
              <a:t> (xvi) Taxa de Administração e a Taxa de Gestão;</a:t>
            </a:r>
          </a:p>
          <a:p>
            <a:r>
              <a:t> (xvii) Despesas com a contratação de consultoria especializada, conforme o caso;</a:t>
            </a:r>
          </a:p>
          <a:p>
            <a:r>
              <a:t> (xviii) Despesas com a contratação de agente de cobrança, conforme o caso;</a:t>
            </a:r>
          </a:p>
          <a:p>
            <a:r>
              <a:t> (xix) Despesas decorrentes de empréstimos contraídos em nome da Classe, nos termos da Resolução CVM  175 e deste Anexo;</a:t>
            </a:r>
          </a:p>
          <a:p>
            <a:r>
              <a:t> (xx) Taxa mínima de custódia, se houver; e</a:t>
            </a:r>
          </a:p>
          <a:p>
            <a:r>
              <a:t> (xxi) Montantes devidos a fundos investidores, na hipótese de remuneração com base na taxa de  administração, performance ou gestão, observado o disposto no art. 99 da parte geral da Resolução  CVM 175.</a:t>
            </a:r>
          </a:p>
          <a:p>
            <a:r>
              <a:t>CNPJ 55563624000109 · Cobrança e servicing · Condição: Documentos atuais selecionados no inventário por categoria/escopo; a data documental isolada não comprova vigência jurídica.</a:t>
            </a:r>
          </a:p>
          <a:p>
            <a:r>
              <a:t>CNPJ 55563624000109 · Cobrança e servicing · Motivo: Cláusula primária localizada e citada, mas sua lista/condições extensas não admitem uma síntese literal curta confirmada. O trecho integral permanece nas fontes.</a:t>
            </a:r>
          </a:p>
          <a:p>
            <a:r>
              <a:t>CNPJ 55563624000109 · Cobrança e servicing · Versão e prevalência: Documentos atuais selecionados no inventário por categoria/escopo; a data documental isolada não comprova vigência jurídica.</a:t>
            </a:r>
          </a:p>
          <a:p>
            <a:r>
              <a:t>CNPJ 62552447000120 · Cobrança e servicing · Regulamento · ID 1200623 · 2026-05-21 · versão 1 · p. 6 · https://fnet.bmfbovespa.com.br/fnet/publico/visualizarDocumento?id=1200623</a:t>
            </a:r>
          </a:p>
          <a:p>
            <a:r>
              <a:t>CNPJ 62552447000120 · Cobrança e servicing · Excerto da fonte:</a:t>
            </a:r>
          </a:p>
          <a:p>
            <a:r>
              <a:t>integrantes do conglomerado econômico de instituições  f inanceiras classificadas como S1 pelo Banco Central do  Brasil (“BACEN” e “Instituições Financeiras S1”,  respectivamente), desde que não representem títulos de  emissão ou coobrigação de instituições financeiras, bem  como cotas de f undos de investimento que invistam  preponderantemente nestes direitos, títulos e/ou valores  mobiliários; e</a:t>
            </a:r>
          </a:p>
          <a:p>
            <a:r>
              <a:t> (d) “Direitos Creditórios Refinanciamento Livre”, na forma  de CCBs originadas no âmbito de um refinanciamento, de  acordo com a política de cobrança vigente, de Direitos  Creditórios Consignado Privado e de Direitos Creditórios  FGTS, que não contem com o lastro de Consignação ou  de cessão f iduciária do Saque-Aniversário,  respectivamente; e</a:t>
            </a:r>
          </a:p>
          <a:p>
            <a:r>
              <a:t> (ii) “Ativos Financeiros”, assim entendidos como, em conjunto:</a:t>
            </a:r>
          </a:p>
          <a:p>
            <a:r>
              <a:t> (a) moeda corrente nacional;</a:t>
            </a:r>
          </a:p>
          <a:p>
            <a:r>
              <a:t> (b) títulos públicos f ederais;</a:t>
            </a:r>
          </a:p>
          <a:p>
            <a:r>
              <a:t> (c) ativos f inanceiros de renda f ixa de emissão ou  coobrigação de Instituições Financeiras S1;</a:t>
            </a:r>
          </a:p>
          <a:p>
            <a:r>
              <a:t> (d) operações compromissadas, desde que lastreadas nos  títulos mencionados nas alíneas (b) e (c) acima; e</a:t>
            </a:r>
          </a:p>
          <a:p>
            <a:r>
              <a:t> (e) cotas do BTG Pactual Tesouro Selic Fundo de  Investimento Renda Fixa Ref erenciado DI, inscrito no  CNPJ sob o nº 09.215.250/0001-13;</a:t>
            </a:r>
          </a:p>
          <a:p>
            <a:r>
              <a:t> observados todos os limites de composição e diversificação da carteira da  Classe (“Carteira”), estabelecidos neste Regulamento e na  regulamentação aplicável.</a:t>
            </a:r>
          </a:p>
          <a:p>
            <a:r>
              <a:t> O objetivo da Classe não representa, sob qualquer hipótese, promessa,  garantia ou sugestão da Classe ou de seus Prestadores de Serviços  Essenciais quanto à segurança, rentabilidade e liquidez dos títulos  componentes de sua Carteira.</a:t>
            </a:r>
          </a:p>
          <a:p>
            <a:r>
              <a:t>CNPJ 62552447000120 · Cobrança e servicing · Regulamento · ID 1200623 · 2026-05-21 · versão 1 · p. 7 · https://fnet.bmfbovespa.com.br/fnet/publico/visualizarDocumento?id=1200623</a:t>
            </a:r>
          </a:p>
          <a:p>
            <a:r>
              <a:t>CNPJ 62552447000120 · Cobrança e servicing · Excerto da fonte:</a:t>
            </a:r>
          </a:p>
          <a:p>
            <a:r>
              <a:t>(c) atendam, pro forma, na Data de Aquisição, aos  limites de concentração definidos no Capítulo 4 deste  Anexo I;</a:t>
            </a:r>
          </a:p>
          <a:p>
            <a:r>
              <a:t> (d) não haver disposição legal ou regulamentar  aprovada, ou ordem judicial ou administrativa  emitida, que tenha como objetivo impedir ou impor  limites ou exigências adicionais para o endosso de  Direitos Creditórios decorrentes de transações  dedutíveis da f olha de pagamento a f undos de  investimento;</a:t>
            </a:r>
          </a:p>
          <a:p>
            <a:r>
              <a:t> (e) atendam à Política de Crédito e, conforme aplicável,  à Política de Cobrança; e</a:t>
            </a:r>
          </a:p>
          <a:p>
            <a:r>
              <a:t>CNPJ 62552447000120 · Cobrança e servicing · Regulamento · ID 1200623 · 2026-05-21 · versão 1 · p. 3 · 2.1.2 · https://fnet.bmfbovespa.com.br/fnet/publico/visualizarDocumento?id=1200623</a:t>
            </a:r>
          </a:p>
          <a:p>
            <a:r>
              <a:t>CNPJ 62552447000120 · Cobrança e servicing · Excerto da fonte:</a:t>
            </a:r>
          </a:p>
          <a:p>
            <a:r>
              <a:t>2.1.2 Não obstante as atribuições previstas neste Regulamento e na regulamentação aplicável, cabe  ao Gestor praticar os atos necessários à gestão da Carteira. Assim, em linha com o art. 85 da  Parte Geral da Resolução CVM 175 e com o art. 32 do Anexo Normativo II, o Gestor pode  contratar, em nome do Fundo e/ou da Classe, os seguintes serviços: (a) intermediação de  operações para a Carteira; (b) distribuição de Cotas; (c) consultoria de investimentos; (d)  classificação de risco por agência classificadora de risco; (e) cogestão da Carteira; (f) formador  de mercado; e, eventualmente, (g) consultoria especializada; (h) agente de cobrança, e (i)  outros serviços em benef ício do Fundo ou da classe.</a:t>
            </a:r>
          </a:p>
          <a:p>
            <a:r>
              <a:t>CNPJ 62552447000120 · Cobrança e servicing · Condição: Documentos atuais selecionados no inventário por categoria/escopo; a data documental isolada não comprova vigência jurídica.</a:t>
            </a:r>
          </a:p>
          <a:p>
            <a:r>
              <a:t>CNPJ 62552447000120 · Cobrança e servicing · Versão e prevalência: Documentos atuais selecionados no inventário por categoria/escopo; a data documental isolada não comprova vigência jurídica.</a:t>
            </a:r>
          </a:p>
          <a:p>
            <a:r>
              <a:t>CNPJ 63953620000165 · Cobrança e servicing · Anexo ao Regulamento · ID 1222863 · 2026-06-02 · versão 1 · p. 8 · 4.25 · https://fnet.bmfbovespa.com.br/fnet/publico/visualizarDocumento?id=1222863</a:t>
            </a:r>
          </a:p>
          <a:p>
            <a:r>
              <a:t>CNPJ 63953620000165 · Cobrança e servicing · Excerto da fonte:</a:t>
            </a:r>
          </a:p>
          <a:p>
            <a:r>
              <a:t>4.25 É vedada qualquer forma de antecipação de recursos às Cedentes/aos Endossantes para posterior reembolso  pela Classe, seja pelo Administrador, Gestor, Custodiante, Consultora ou Agente de Cobrança.</a:t>
            </a:r>
          </a:p>
          <a:p>
            <a:r>
              <a:t>CNPJ 63953620000165 · Cobrança e servicing · Condição: Documentos atuais selecionados no inventário por categoria/escopo; a data documental isolada não comprova vigência jurídica.</a:t>
            </a:r>
          </a:p>
          <a:p>
            <a:r>
              <a:t>CNPJ 63953620000165 · Cobrança e servicing · Versão e prevalência: Documentos atuais selecionados no inventário por categoria/escopo; a data documental isolada não comprova vigência jurídica.</a:t>
            </a:r>
          </a:p>
          <a:p>
            <a:r>
              <a:t>CNPJ 63953620000165 · Cobrança e servicing · Resumo do histórico: {"count": 6, "dates": ["2026-04-28", "2026-05-08", "2026-05-15"], "document_count": 3, "sources": [{"document_id": "1327859", "title": "Demonstrações Financeiras - Fusão, cisão e incorporação", "reference_date": "2026-05-15", "version": "1", "page": 29, "url": "https://fnet.bmfbovespa.com.br/fnet/publico/visualizarDocumento?id=1327859", "sha256": "dca1c68babb97f887528c3e2e47596a9c30f507b067981a35655b2f2da9c8054"}, {"document_id": "1298691", "title": "Demonstrações Financeiras - Fusão, cisão e incorporação", "reference_date": "2026-05-08", "version": "1", "page": 5, "url": "https://fnet.bmfbovespa.com.br/fnet/publico/visualizarDocumento?id=1298691", "sha256": "58c570d9b8d4d265330d3db3ea81c435b8e44a6dab4002aa37790652a1ee9819"}, {"document_id": "1282180", "title": "Demonstrações Financeiras - Fusão, cisão e incorporação", "reference_date": "2026-04-28", "version": "1", "page": 30, "url": "https://fnet.bmfbovespa.com.br/fnet/publico/visualizarDocumento?id=1282180", "sha256": "afaaa0e6809be4385e5bdb6c911aac582032c5bdbac3d7750234bf9eaf00438a"}], "reference": {"path": "history/63953620000165.json", "criterion_id": "servicing", "total_count": 6, "preview_count": 3, "full_text_deferred": true, "sha256": "a7b89077f5e21098c2d601c303faabc3ff6b9729f89d8afecdc60fe1404720c1"}}</a:t>
            </a:r>
          </a:p>
          <a:p>
            <a:r>
              <a:t>CNPJ 54871427000194 · Conta de arrecadação e risco de trânsito · Regulamento · ID 670691 · 28/04/2024 · versão Regulamento — referência 28/04/2024 · p. 9 · Anexo I, 4.3 e 4.6 · https://fnet.bmfbovespa.com.br/fnet/publico/visualizarDocumento?id=670691</a:t>
            </a:r>
          </a:p>
          <a:p>
            <a:r>
              <a:t>CNPJ 54871427000194 · Conta de arrecadação e risco de trânsito · Excerto da fonte:</a:t>
            </a:r>
          </a:p>
          <a:p>
            <a:r>
              <a:t>4.3 Os pagamentos relativos aos Direitos Creditórios de titularidade da Classe serão realizados mediante consignação em folha, débito em conta de titularidade dos Devedores e pagamentos de sinistros, para pagamento dos valores correspondentes às parcelas das CCBs representadas pelos CCCBs de titularidade da Classe, os quais serão conciliados e repassados pelo Endossante para a conta corrente da Classe. 4.4 Os Direitos Creditórios deverão contar com Documentos Comprobatórios que evidenciem sua existência, validade e exequibilidade perante os respectivos Devedores . 4.4.1 Os Direitos Creditórios serão adquiridos pela Classe por meio de Contrato de Endosso f irmados entre a Classe e o Endossante e os respectivos Termos de Endosso, acompanhados de todos os direitos, privilégios, preferências, prerrogativas, ações e garantias assegurados aos seus titulares, observada a Política de Investimentos e as demais disposições deste Regulamento e da legislação e regulamentação aplicáveis. 4.5 O Endossante deverá realizar análise cadastral e de crédito dos Devedores, previamente à aquisição de Direitos Creditórios pela Classe. O disposto neste item não impede o ADMINISTRAD</a:t>
            </a:r>
          </a:p>
          <a:p>
            <a:r>
              <a:t>CNPJ 54871427000194 · Conta de arrecadação e risco de trânsito · Regulamento · ID 670691 · 28/04/2024 · versão Regulamento — referência 28/04/2024 · p. 9 · Anexo I, 4.6 · https://fnet.bmfbovespa.com.br/fnet/publico/visualizarDocumento?id=670691</a:t>
            </a:r>
          </a:p>
          <a:p>
            <a:r>
              <a:t>CNPJ 54871427000194 · Conta de arrecadação e risco de trânsito · Excerto da fonte:</a:t>
            </a:r>
          </a:p>
          <a:p>
            <a:r>
              <a:t>4.6 A cobrança ordinária e recebimento de Direitos Creditórios pela Classe é realizada mediante a liquidação dos recursos através de débito dos salários a receber pelos Devedores do órgão consignante ou através da consignação direto da folha, sendo certo que o GESTOR e/ou o Custodiante f arão o monitoramento do pagamento dos Direitos Creditórios através da validação do Arquivo de Liquidação, do Relatório de Repasse, e consulta oriunda do sistema da processadora conveniada ao órgão consignante, responsável pela consignação em f olha de pagamento ou de benef ício dos Devedores (averbação, débito e repasse). Critérios de Elegibilidade 4.7 A Classe somente poderá adquirir os Direitos Creditórios que atendam cumulativamente aos seguintes Critérios de Elegibilidade, a serem verif icados e validados pelo GESTOR, de f orma individualizada e integral, previamente à cessão e na respectiva Data de Aquisição, de modo que apenas são passíveis de aquisição pela Classe os Direitos Creditórios que, na Data de Aquisição: (i) CCBs sem qualquer parcela cedida; (ii) CCBs com diferença menor que 60 (sessenta) dias entre a data provável do endosso e a próxima parcela a vencer;</a:t>
            </a:r>
          </a:p>
          <a:p>
            <a:r>
              <a:t>CNPJ 54871427000194 · Conta de arrecadação e risco de trânsito · Condição: A mecânica prevê passagem dos recursos pelo endossante; o regulamento não estabelece, nesta cláusula, repasse direto automático pelo órgão consignante.</a:t>
            </a:r>
          </a:p>
          <a:p>
            <a:r>
              <a:t>CNPJ 54871427000194 · Conta de arrecadação e risco de trânsito · Versão e prevalência: Leitura específica das cláusulas indicadas; condições e conflitos preservados. Seleção documental atual não comprova vigência jurídica por data isolada.</a:t>
            </a:r>
          </a:p>
          <a:p>
            <a:r>
              <a:t>CNPJ 54871427000194 · Conta de arrecadação e risco de trânsito · Resumo do histórico: {"count": 1, "dates": ["2024-04-19"], "document_count": 1, "sources": [{"document_id": "670689", "title": "Regulamento", "reference_date": "2024-04-19", "version": "1", "page": 25, "url": "https://fnet.bmfbovespa.com.br/fnet/publico/visualizarDocumento?id=670689", "sha256": "891bc9bc5d87bbc02ec139077a84d2702eb81ea02035fb71d24f5b8366b94a0b"}], "reference": {"path": "history/54871427000194.json", "criterion_id": "collection_account", "total_count": 1, "preview_count": 1, "full_text_deferred": true, "sha256": "35d7cd99be50c7287c9fb675cf4f2e736002315295a225a9efa79c8d9186d874"}}</a:t>
            </a:r>
          </a:p>
          <a:p>
            <a:r>
              <a:t>CNPJ 60010416000112 · Conta de arrecadação e risco de trânsito · Regulamento · ID 1051393 · 2025-10-09 · versão 1 · p. 32 · 14.2.1 · https://fnet.bmfbovespa.com.br/fnet/publico/visualizarDocumento?id=1051393</a:t>
            </a:r>
          </a:p>
          <a:p>
            <a:r>
              <a:t>CNPJ 60010416000112 · Conta de arrecadação e risco de trânsito · Excerto da fonte:</a:t>
            </a:r>
          </a:p>
          <a:p>
            <a:r>
              <a:t>14.2.1 Os valores indicados nos Arquivos Dataprev em relação aos Direitos Creditórios endossados à  Classe e depositados mensalmente pela CEF na Conta Vinculada serão cobrados/recebidos da  seguinte f orma:</a:t>
            </a:r>
          </a:p>
          <a:p>
            <a:r>
              <a:t> (i) mensalmente, após o processamento da f olha de pagamento dos Devedores, a Dataprev  enviará os Arquivos Dataprev ao Endossante;</a:t>
            </a:r>
          </a:p>
          <a:p>
            <a:r>
              <a:t> (ii) ao receber os Arquivos Dataprev, o Endossante os disponibilizará ao Custodiante e ao  Agente de Retenção/Cobrança, através de uma interf ace de programação de aplicações  (API), no mesmo dia que forem disponibilizados pela Dataprev, ou no Dia Útil subsequente,  se f orem disponibilizados pela Dataprev após 16:00 (horário de Brasília) sem f azer qualquer  modif icação em suas respectivas inf ormações;</a:t>
            </a:r>
          </a:p>
          <a:p>
            <a:r>
              <a:t> (iii) até 2º (segundo) Dia Útil após o recebimento dos valores repassados pelos Empregadores,  a CEF ef etuará uma transf erência eletrônica disponível (TED) diretamente para a Conta  Vinculada relevante com o valor declarado no Arquivo de Consignações;</a:t>
            </a:r>
          </a:p>
          <a:p>
            <a:r>
              <a:t> (iv) o Endossante, na qualidade de Agente da Conta Vinculada, transferirá os valores devidos  à Classe para a Conta de Cobrança da Classe, de acordo com o Contrato de Conta  Vinculada; e</a:t>
            </a:r>
          </a:p>
          <a:p>
            <a:r>
              <a:t> (v) tendo recebido os Arquivos Dataprev e os valores indicados no item (iv), o Custodiante  realizará a reconciliação dos valores devidos à Classe e/ou ao Endossante.</a:t>
            </a:r>
          </a:p>
          <a:p>
            <a:r>
              <a:t>CNPJ 60010416000112 · Conta de arrecadação e risco de trânsito · Regulamento · ID 1051393 · 2025-10-09 · versão 1 · p. 28 · https://fnet.bmfbovespa.com.br/fnet/publico/visualizarDocumento?id=1051393</a:t>
            </a:r>
          </a:p>
          <a:p>
            <a:r>
              <a:t>CNPJ 60010416000112 · Conta de arrecadação e risco de trânsito · Excerto da fonte:</a:t>
            </a:r>
          </a:p>
          <a:p>
            <a:r>
              <a:t>Anexo I ao Regulamento CLASSE ÚNICA DO MT I CONSIGNADO PRIVADO I FUNDO DE INVESTIMENTO EM DIREITOS CREDITÓRIOS RESPONSABILIDADE LIMITADA  Documentos Comprobatórios e os Documentos Suporte que comprovam a operação, observados os  procedimentos operacionais da Entidade Registradora;</a:t>
            </a:r>
          </a:p>
          <a:p>
            <a:r>
              <a:t> (ii) receber, em nome da Classe, pagamentos de Direitos Creditórios, amortização ou resgate de Ativos  Financeiros ou qualquer outro rendimento dos ativos mantidos em custódia, mediante o recebimento  de valores diretamente na Conta de Cobrança da Classe ou transf eridos da Conta Vinculada;</a:t>
            </a:r>
          </a:p>
          <a:p>
            <a:r>
              <a:t> (iii) cobrar e receber, em nome da Classe, pagamentos, resgate de títulos ou qualquer outro rendimento  relativo aos ativos da Carteira, depositando os valores recebidos diretamente em conta de titularidade  da classe ou, se f or o caso, em conta-vinculada;</a:t>
            </a:r>
          </a:p>
          <a:p>
            <a:r>
              <a:t> (iv) realizar a guarda da documentação relativa ao lastro dos Direitos Creditórios;</a:t>
            </a:r>
          </a:p>
          <a:p>
            <a:r>
              <a:t> (v) realizar a reconciliação dos valores depositados na Conta de Cobrança da Classe;</a:t>
            </a:r>
          </a:p>
          <a:p>
            <a:r>
              <a:t> (vi)</a:t>
            </a:r>
          </a:p>
          <a:p>
            <a:r>
              <a:t> (vii) assegurar que inconsistências indicadas nos relatórios de verif icação dos Documentos  Comprobatórios e dos Documentos Suporte representativos dos Direitos Creditórios e seu endosso  à Classe sejam tratadas tempestivamente.</a:t>
            </a:r>
          </a:p>
          <a:p>
            <a:r>
              <a:t>CNPJ 60010416000112 · Conta de arrecadação e risco de trânsito · Regulamento · ID 1051393 · 2025-10-09 · versão 1 · p. 39 · https://fnet.bmfbovespa.com.br/fnet/publico/visualizarDocumento?id=1051393</a:t>
            </a:r>
          </a:p>
          <a:p>
            <a:r>
              <a:t>CNPJ 60010416000112 · Conta de arrecadação e risco de trânsito · Excerto da fonte:</a:t>
            </a:r>
          </a:p>
          <a:p>
            <a:r>
              <a:t>Anexo I ao Regulamento CLASSE ÚNICA DO MT I CONSIGNADO PRIVADO I FUNDO DE INVESTIMENTO EM DIREITOS CREDITÓRIOS RESPONSABILIDADE LIMITADA  da Classe e, de forma extraordinária, para a Conta de Movimentação da Classe. Em caso de  intervenção ou liquidação extrajudicial das instituições f inanceiras onde a Conta de Cobrança  da Classe e a Conta de Movimentação da Classe são mantidas, os fundos nelas depositados  poderão ser bloqueados e recuperados pela Classe somente através de uma ordem judicial,  o que af etaria seu retorno e poderia causar perda de parte de seus ativos.</a:t>
            </a:r>
          </a:p>
          <a:p>
            <a:r>
              <a:t> (ix) Risco de bloqueio da Conta Vinculada: a Conta Vinculada para a qual os recursos  provenientes do pagamento dos Direitos Creditórios serão direcionados poderá ser  bloqueada, dentre outros, (i) no caso de intervenção ou liquidação extrajudicial do  Endossante, ou (ii) no caso de decisões judiciais serem proferidas em demandas ajuizadas  contra o Endossante, determinando o bloqueio. Em qualquer desses eventos, esses recursos  de propriedade da Classe só poderão ser recuperados em juízo. Essa recuperação poderá  levar tempo para ser ef etuada ou mesmo não obter êxito, o que af etaria a rentabilidade da  Classe e poderia f azê-lo perder parte de seus ativos.</a:t>
            </a:r>
          </a:p>
          <a:p>
            <a:r>
              <a:t> (x) Risco de patrimônio líquido negativo: as estratégias de investimento adotadas pela  Classe, bem como o pagamento de remuneração aos prestadores de serviços da Classe,  podem f azer com que seu Patrimônio Líquido se torne negativo, hipótese em que o Cotista  poderá ser solicitado a f azer aportes adicionais de recursos, a f im de permitir que a Classe  cumpra suas obrigações.</a:t>
            </a:r>
          </a:p>
          <a:p>
            <a:r>
              <a:t> (xi) Risco de cobrança judicial ou extrajudicial: quando não f orem pagos os Direitos  Creditórios que compõem a Carteira, poderá haver cobrança judicial ou extrajudicial dos  valores devidos, mediante decisão dos Cotistas na Assembleia de Cotistas nos termos desse  Anexo I. Entretanto, não há garantia de que, em qualquer desses casos, os procedimentos  de cobrança acima mencionados serão aprovados na Assembleia Especial de Cotistas e,  caso aprovados, de que tais procedimentos atingirão os resultados desejados, nem de que  a Classe terá êxito em recuperar quaisquer valores inadimplidos, o que poderá resultar em  perdas para a Classe.</a:t>
            </a:r>
          </a:p>
          <a:p>
            <a:r>
              <a:t> (xii) Possibilidade de conflito de interesses entre a Classe e o Agente de  Retenção/Cobrança. O Agente de Retenção/Cobrança eventualmente possui ou pode vir a  possuir relacionamento comercial com o Endossante e/ou Devedores, de modo que, em  determinadas circunstâncias seus interesses podem ser conflitantes com os interesses da  Classe. Não é possível garantir que, materializada uma situação de conflito de interesses  conf orme descrita acima, o Agente de Retenção/Cobrança exponha-a adequadamente ao  Administrador e/ou aos Cotistas, ou que o faça absolutamente, tampouco que agirá no melhor  no interesse da Classe. Nesses casos, a Classe pode vir a adquirir Direitos Creditórios ou  pode vir a ter seus Direitos Creditórios Inadimplidos pagos em condições comparativamente  menos vantajosas àquelas que seriam verificadas na ausência de tais conflitos de interesses.</a:t>
            </a:r>
          </a:p>
          <a:p>
            <a:r>
              <a:t> Nesses casos, o Patrimônio Líquido pode ser af etado adversamente.</a:t>
            </a:r>
          </a:p>
          <a:p>
            <a:r>
              <a:t> (xiii) Risco de intervenção ou liquidação judicial do Administrador. A Classe está sujeito ao  risco dos efeitos de decretação de intervenção ou de liquidação judicial do Administrador e/ou  do Custodiante, nos termos da Lei nº 6.024, de 13 de março de 1974, conf orme alterada.</a:t>
            </a:r>
          </a:p>
          <a:p>
            <a:r>
              <a:t> (xiv) Patrimônio Líquido negativo. Os investimentos da Classe estão, por sua natureza, sujeitos  a f lutuações típicas de mercado, risco de crédito, risco sistêmico, condições adversas de  liquidez e negociação atípica nos mercados de atuação, sendo que não há garantia de  completa eliminação da possibilidade de perdas para a Classe e para os Cotistas. Além disso,  as estratégias de investimento adotadas pela Classe poderão f azer com que a Classe  apresente Patrimônio Líquido negativo, caso em que os Cotistas poderão ser chamados a  realizar aportes adicionais de recursos, de f orma a possibilitar que a Classe satisfaça suas  obrigações.</a:t>
            </a:r>
          </a:p>
          <a:p>
            <a:r>
              <a:t>CNPJ 60010416000112 · Conta de arrecadação e risco de trânsito · Condição: Documentos atuais selecionados no inventário por categoria/escopo; a data documental isolada não comprova vigência jurídica.</a:t>
            </a:r>
          </a:p>
          <a:p>
            <a:r>
              <a:t>CNPJ 60010416000112 · Conta de arrecadação e risco de trânsito · Versão e prevalência: Documentos atuais selecionados no inventário por categoria/escopo; a data documental isolada não comprova vigência jurídica.</a:t>
            </a:r>
          </a:p>
          <a:p>
            <a:r>
              <a:t>CNPJ 60010416000112 · Conta de arrecadação e risco de trânsito · Resumo do histórico: {"count": 1, "dates": ["2025-03-20"], "document_count": 1, "sources": [{"document_id": "993786", "title": "Regulamento", "reference_date": "2025-03-20", "version": "1", "page": 32, "clause": "14.2.1", "url": "https://fnet.bmfbovespa.com.br/fnet/publico/visualizarDocumento?id=993786", "sha256": "fd0fdd369a195510d81f81f505195a0b09e5f43522a990afa7d58c4f872921c8"}], "reference": {"path": "history/60010416000112.json", "criterion_id": "collection_account", "total_count": 1, "preview_count": 1, "full_text_deferred": true, "sha256": "8e2bd813f4c51cf01f6bfaad164bafe69d2bbb192f753eac92da3a01c2e63046"}}</a:t>
            </a:r>
          </a:p>
          <a:p>
            <a:r>
              <a:t>CNPJ 62696791000193 · Conta de arrecadação e risco de trânsito · Motivo: Não localizada uma cláusula material para este critério nos textos identificados e processados. A ausência de resultado não comprova inexistência da regra.</a:t>
            </a:r>
          </a:p>
          <a:p>
            <a:r>
              <a:t>CNPJ 55563624000109 · Conta de arrecadação e risco de trânsito · Motivo: Não localizada uma cláusula material para este critério nos textos identificados e processados. A ausência de resultado não comprova inexistência da regra.</a:t>
            </a:r>
          </a:p>
          <a:p>
            <a:r>
              <a:t>CNPJ 62552447000120 · Conta de arrecadação e risco de trânsito · Regulamento · ID 1200623 · 2026-05-21 · versão 1 · p. 37 · https://fnet.bmfbovespa.com.br/fnet/publico/visualizarDocumento?id=1200623</a:t>
            </a:r>
          </a:p>
          <a:p>
            <a:r>
              <a:t>CNPJ 62552447000120 · Conta de arrecadação e risco de trânsito · Excerto da fonte:</a:t>
            </a:r>
          </a:p>
          <a:p>
            <a:r>
              <a:t>operacional dos Direitos Creditórios Consignado Privado e dos Direitos Creditórios FGTS dependem de certif icações e habilitações do Endossante junto à Dataprev e à CEF, respectivamente. O Endossante deve observar as regras aplicáveis a cada Direito Creditório para a manutenção da sua habilitação, que, portanto, pode ser af etada em caso de descumprimento ou de mudança normativa. Nesses casos, a estrutura de cobrança dos Direitos Creditórios Consignado Privado e dos Direitos Creditórios FGTS poderá ser comprometida, dando origem à necessidade de adoção de uma nova estrutura, que poderá não ser tão eficaz quanto ela ou mesmo revelar, na prática, ser inadequada ou ter altos custos operacionais . Esses eventos podem levar a perdas patrimoniais para a Classe, na medida em que a Classe deixará de receber, definitiva ou temporariamente, recursos oriundos desses Direitos Creditórios, no todo ou em parte.</a:t>
            </a:r>
          </a:p>
          <a:p>
            <a:r>
              <a:t>(vii) Risco de fungibilidade: o pagamento dos Direitos Creditórios serão inicialmente realizados em conta liquidante do Endossante por meio de transferência de reserva bancária, sendo automaticamente transferido à Conta Vinculada na sua integralidade, também de titularidade do Endoss ante, o qual será responsável por realizar a conciliação dos valores e repassá-los à Conta da Classe. Enquanto os recursos não f orem transf eridos para a Classe, a Classe estará correndo o risco de crédito do Endossante, e no caso de qualquer evento de crédito do Endossante, como intervenção, liquidação extrajudicial, falência ou outros procedimentos para proteção de credores, a Classe poderá não receber os valores devidos a ele, e poderá incorrer em custos adicionais para recuperar esses valores. Além disso, em caso de intervenção, liquidação extrajudicial, falência, execução ou outro procedimento similar para proteção de credores envolvendo o Endossante, os valores depositados de tempos em tempos na conta liquidante do Endossante por meio de transferência d e reserva bancária, e automaticamente transferidos à Conta Vinculada, poderão ser bloqueados, por ordem judicial ou administrativa, o que poderá causar prejuízos à Classe e ao Cotista.</a:t>
            </a:r>
          </a:p>
          <a:p>
            <a:r>
              <a:t>Risco de descontinuidade</a:t>
            </a:r>
          </a:p>
          <a:p>
            <a:r>
              <a:t>(i) Risco de descontinuidade: a Classe poderá ser liquidada antecipadamente, dentre outros, caso ocorra um Evento de Liquidação. Portanto, o Cotista poderá ter sua perspectiva original de investimento reduzida e não ser capaz de reinvestir os recursos recebidos com a mesma remuneração gerada pela Classe, e nenhuma multa ou penalidade, de qualquer f orma, devido a esse f ato, será devida pela Classe, o Administrador, o Custodiante, o Coordenador Líder, o Gestor, o Agente de Retenção e Cobrança ou o Endossante.</a:t>
            </a:r>
          </a:p>
          <a:p>
            <a:r>
              <a:t>Riscos decorrentes do Regime de Amortização</a:t>
            </a:r>
          </a:p>
          <a:p>
            <a:r>
              <a:t>(i) Risco decorrente da ordem de alocação das distribuições: conforme previsto neste Anexo, as Cotas estarão sujeitas à Amortização de acordo com a ordem de alocação prevista no Capítulo 7. Portanto, o Cotista poderá ter sua perspectiva original de investimento reduzida e não poderá reinvestir os recursos recebidos com a mesma remuneração gerada pela Classe.</a:t>
            </a:r>
          </a:p>
          <a:p>
            <a:r>
              <a:t>Riscos do originador e da originação</a:t>
            </a:r>
          </a:p>
          <a:p>
            <a:r>
              <a:t>(i) Riscos do originador e da originação: a continuidade da Classe poderá ser comprometida no caso de inconstância na concessão de empréstimos pelo Endossante aos Devedores ou incapacidade do Agente de Retenção e Cobrança operacionalizar a Plataf orma VR, através da qual os Direitos Creditórios são originados. Portanto, o investimento na Classe está sujeito ao risco de não originação, no f uturo, de Direitos Creditórios pelo Endossante contra os Devedores através da Plataforma VR, disponibilizada pelo Agente de Retenção e Cobrança. Se isso acontecer, a originação dos Direitos Creditórios pelo Endossante poderá ser impactada negativamente ou mesmo impossibilitada, o que poderá gerar a liquidação antecipada da Classe.</a:t>
            </a:r>
          </a:p>
          <a:p>
            <a:r>
              <a:t>Além disso, a Classe poderá adquirir Direitos Creditórios que f oram originados em conformidade com o processo de originação e/ou políticas de concessão de crédito desenvolvidos e monitorados pelo Endossante.</a:t>
            </a:r>
          </a:p>
          <a:p>
            <a:r>
              <a:t>Entretanto, não é possível assegurar que o cumprimento dessas diretrizes garanta a qualidade dos Direitos Creditórios e/ou a solvência dos respectivos Devedores, ou que as diretrizes e parâmetros estabelecidos no Capítulo 13 sejam corretamente interpretados e aplicados quando a Classe fizer os investimentos. Além disso, se o Endossante deixar de existir ou estiver sujeito a uma ordem de intervenção, liquidação extrajudicial ou regime especial ou gestão temporária ou evento similar, a Classe será impactado também pelo f ato de que a Conta Vinculada na qual as transf erências f eitas pela CEF f oram depositadas f oi aberta em nome do Endossante. Neste caso, a Classe poderá sofrer perdas principalmente em relação ao atraso na regularização</a:t>
            </a:r>
          </a:p>
          <a:p>
            <a:r>
              <a:t>CNPJ 62552447000120 · Conta de arrecadação e risco de trânsito · Condição: Documentos atuais selecionados no inventário por categoria/escopo; a data documental isolada não comprova vigência jurídica.</a:t>
            </a:r>
          </a:p>
          <a:p>
            <a:r>
              <a:t>CNPJ 62552447000120 · Conta de arrecadação e risco de trânsito · Motivo: Cláusula primária localizada e citada, mas sua lista/condições extensas não admitem uma síntese literal curta confirmada. O trecho integral permanece nas fontes.</a:t>
            </a:r>
          </a:p>
          <a:p>
            <a:r>
              <a:t>CNPJ 62552447000120 · Conta de arrecadação e risco de trânsito · Versão e prevalência: Documentos atuais selecionados no inventário por categoria/escopo; a data documental isolada não comprova vigência jurídica.</a:t>
            </a:r>
          </a:p>
          <a:p>
            <a:r>
              <a:t>CNPJ 63953620000165 · Conta de arrecadação e risco de trânsito · Anexo ao Regulamento · ID 1222863 · 2026-06-02 · versão 1 · p. 28 · https://fnet.bmfbovespa.com.br/fnet/publico/visualizarDocumento?id=1222863</a:t>
            </a:r>
          </a:p>
          <a:p>
            <a:r>
              <a:t>CNPJ 63953620000165 · Conta de arrecadação e risco de trânsito · Excerto da fonte:</a:t>
            </a:r>
          </a:p>
          <a:p>
            <a:r>
              <a:t>Creditórios endossados à Classe não sejam pagos integralmente pelos respectivos Devedores em virtude  de qualquer problema de natureza comercial entre o Devedor e o Endossante, e este último não reembolse  à Classe o montante em moeda nacional correspondente ao valor dos Direitos Creditórios mencionados,  os resultados da Classe poderão ser afetados negativamente.</a:t>
            </a:r>
          </a:p>
          <a:p>
            <a:r>
              <a:t> Outros Riscos</a:t>
            </a:r>
          </a:p>
          <a:p>
            <a:r>
              <a:t> (i) Risco relativo à elegibilidade dos Direitos Creditórios: mesmo que os Direitos Creditórios cumpram com  todas as condições de endosso e declarações e garantias estabelecidas no Contrato de Endosso e os  Critérios de Elegibilidade aqui estabelecidos, não é possível afirmar que essas condições de endosso,  declarações e garantias e os Critérios de Elegibilidade sejam suficientes para garantir a satisfação e o  pagamento dos Direitos Creditórios. Além disso, não é possível assegurar que o Gestor verificará  adequadamente a conformidade dos Direitos Creditórios com os Critérios de Elegibilidade e as condições  de endosso, ou que as declarações e garantias prestadas pelo Endossante e pelo Agente de  Retenção/Cobrança em relação aos Direitos Creditórios sejam verdadeiras e exatas. A verificação  inadequada dos Elegibilidade e das condições de endosso, bem como a falsidade ou inexatidão das  declarações e garantias referentes aos Direitos Creditórios poderão resultar na compra de Direitos  Creditórios inelegíveis pela Classe, e as medidas disponíveis no âmbito do Contrato de Endosso poderão  não ser suficientes para manter a Classe protegida de perdas decorrentes de tal verificação inadequada ou  falsidade/inexatidão. Caso os Direitos Creditórios não sejam pagos pontualmente pelos Devedores ou os  Direitos Creditórios não tenham o desempenho esperado pela Classe, o patrimônio da Classe poderá ser  afetado adversamente.</a:t>
            </a:r>
          </a:p>
          <a:p>
            <a:r>
              <a:t> (ii) Risco de invalidade ou ineficácia do endosso: o endosso dos Direitos Creditórios à Classe poderá ser  invalidada ou considerada ineficaz, o que impacta negativamente o patrimônio da Classe, no caso de (a)  fraude contra credores, se no momento do endosso o Endossante for insolvente ou se ele vier a se tornar  insolvente; (b) fraude à execução, se (1) no momento do endosso o Endossante for réu em um processo  judicial capaz de torná-lo insolvente; ou (2) os Direitos Creditórios endossados à Classe estiverem sujeitos  a qualquer demanda judicial baseada em garantia real; e (c) fraude à execução fiscal, se o Endossante, ao  celebrar o endosso de crédito, como contribuinte por débito à Fazenda Pública, e crédito fiscal  regularmente inscrito na dívida ativa, não tiver ativos para pagamento total da dívida fiscal. Entretanto, o  Administrador, o Custodiante, o Gestor e o Agente de Retenção/ Cobrança não verificarão os eventos  acima no endosso de Direito Creditório e não serão responsabilizados em caso de invalidação ou ineficácia  do endosso de um Direito Creditório à Classe.</a:t>
            </a:r>
          </a:p>
          <a:p>
            <a:r>
              <a:t> (iii) Risco de impugnação judicial: a CCB poderá ser impugnada judicialmente tanto no que diz respeito à sua  formalização quanto às taxas aplicadas e à forma de cobrança da CCB, inclusive em virtude das disposições  estabelecidas na Lei nº 8.078, de 11 de setembro de 1990, conforme alterada (Código de Defesa do  Consumidor), tais como uma possível impugnação de cláusula abusiva, bem como qualquer vício nos  Documentos Comprobatórios ou Documentos Suporte que impeçam a exigibilidade do crédito (ausência  de assinaturas ou falta de prova de formalização regular do instrumento, representação ilegítima, dentre  outros). Nesses casos, a CCB poderá ser modificada ou cancelada em virtude de decisão judicial, o que  poderá acarretar perdas para a Classe e, consequentemente, afetar negativamente a rentabilidade de seu  patrimônio.</a:t>
            </a:r>
          </a:p>
          <a:p>
            <a:r>
              <a:t> (iv) Risco de restrições de natureza legal ou regulamentar: a Classe pode estar sujeita a riscos, além do  controle do Administrador, decorrentes de quaisquer restrições futuras de natureza legal e/ou  regulamentar que venham a afetar a validade da constituição e/ou o endosso dos Direitos Creditórios à  Classe. Caso essas restrições ocorram, o fluxo de cessões de Direitos Creditórios à Classe pode ser  interrompido e, portanto, pode comprometer a continuidade da Classe e a perspectiva de investimento  do Cotista. Além disso, os Direitos Creditórios que já estão na Carteira podem ter sua validade questionada,  o que pode causar, portanto, prejuízos ao Cotista.</a:t>
            </a:r>
          </a:p>
          <a:p>
            <a:r>
              <a:t> (v) Risco de bloqueio da Conta de Cobrança da Classe ou da Conta de Movimentação da Classe: os recursos  provenientes da Classe serão direcionados para a Conta de Cobrança da Classe e, de forma extraordinária,  para a Conta de Movimentação da Classe. Em caso de intervenção ou liquidação extrajudicial das  instituições financeiras onde a Conta de Cobrança da Classe e a Conta de Movimentação da Classe são</a:t>
            </a:r>
          </a:p>
          <a:p>
            <a:r>
              <a:t>CNPJ 63953620000165 · Conta de arrecadação e risco de trânsito · Condição: Documentos atuais selecionados no inventário por categoria/escopo; a data documental isolada não comprova vigência jurídica.</a:t>
            </a:r>
          </a:p>
          <a:p>
            <a:r>
              <a:t>CNPJ 63953620000165 · Conta de arrecadação e risco de trânsito · Motivo: Cláusula primária localizada e citada, mas sua lista/condições extensas não admitem uma síntese literal curta confirmada. O trecho integral permanece nas fontes.</a:t>
            </a:r>
          </a:p>
          <a:p>
            <a:r>
              <a:t>CNPJ 63953620000165 · Conta de arrecadação e risco de trânsito · Versão e prevalência: Documentos atuais selecionados no inventário por categoria/escopo; a data documental isolada não comprova vigência jurídica.</a:t>
            </a:r>
          </a:p>
          <a:p>
            <a:r>
              <a:t>CNPJ 63953620000165 · Conta de arrecadação e risco de trânsito · Resumo do histórico: {"count": 2, "dates": ["2026-02-19", "2026-05-15"], "document_count": 2, "sources": [{"document_id": "1327859", "title": "Demonstrações Financeiras - Fusão, cisão e incorporação", "reference_date": "2026-05-15", "version": "1", "page": 22, "url": "https://fnet.bmfbovespa.com.br/fnet/publico/visualizarDocumento?id=1327859", "sha256": "dca1c68babb97f887528c3e2e47596a9c30f507b067981a35655b2f2da9c8054"}, {"document_id": "1200324", "title": "Demonstrações Financeiras - Fusão, cisão e incorporação", "reference_date": "2026-02-19", "version": "1", "page": 22, "url": "https://fnet.bmfbovespa.com.br/fnet/publico/visualizarDocumento?id=1200324", "sha256": "aba4246af804161a6cb22052dc79425be7591e0bb7df5467cda6487f249272fc"}], "reference": {"path": "history/63953620000165.json", "criterion_id": "collection_account", "total_count": 2, "preview_count": 2, "full_text_deferred": true, "sha256": "a7b89077f5e21098c2d601c303faabc3ff6b9729f89d8afecdc60fe1404720c1"}}</a:t>
            </a:r>
          </a:p>
          <a:p>
            <a:r>
              <a:t>CNPJ 54871427000194 · Verificação de lastro e amostragem · Regulamento · ID 670691 · 28/04/2024 · versão Regulamento — referência 28/04/2024 · p. 10 · Anexo I, 4.7.1 · https://fnet.bmfbovespa.com.br/fnet/publico/visualizarDocumento?id=670691</a:t>
            </a:r>
          </a:p>
          <a:p>
            <a:r>
              <a:t>CNPJ 54871427000194 · Verificação de lastro e amostragem · Excerto da fonte:</a:t>
            </a:r>
          </a:p>
          <a:p>
            <a:r>
              <a:t>4.7.1 Os Documentos Comprobatórios deverão ser disponibilizados pelo respectivo Endossante (a) no prazo de 10 (dez) dias contados da Data de Aquisição dos 50 (cinquenta) casos que sejam solicitados pelo GESTOR, a seu exclusivo critério, (b) a totalidade dos demais Documentos Comprobatórios em f ormato digital em até 90 (noventa) dias a contar da Data de Aquisição, bem como dos Documentos Comprobatórios em formato físico relativos aos Direitos Creditórios que eventualmente estejam inadimplidos em ref erida data, e (c) a totalidade dos demais Documentos Comprobatórios em f ormato f ísico em até 180 (cento e oitenta) dias a contar da Data de Aquisição, sujeito à resolução do respectivo endosso, de acordo com os termos do Contrato de Endosso. 4.7.2 Caso um Direito Creditório cedido à Classe deixe de atender quaisquer Critérios de Elegibilidade e/ou quaisquer declarações e garantias ref erentes a esse Direito Creditório, conf orme previsto no respectivo Contrato de Endosso, após seu endosso à Classe, não haverá coobrigação nem direito de regresso da Classe contra o ADMINISTRADOR, o CUSTODIANTE o GESTOR e/ou o En</a:t>
            </a:r>
          </a:p>
          <a:p>
            <a:r>
              <a:t>CNPJ 54871427000194 · Verificação de lastro e amostragem · Regulamento · ID 670691 · 28/04/2024 · versão Regulamento — referência 28/04/2024 · p. 24 · Anexo I, 12.15 e 12.19(iv)–(v) · https://fnet.bmfbovespa.com.br/fnet/publico/visualizarDocumento?id=670691</a:t>
            </a:r>
          </a:p>
          <a:p>
            <a:r>
              <a:t>CNPJ 54871427000194 · Verificação de lastro e amostragem · Excerto da fonte:</a:t>
            </a:r>
          </a:p>
          <a:p>
            <a:r>
              <a:t>12.15 No âmbito das diligências relacionadas à aquisição de Direitos Creditórios caracterizados como direitos e títulos representativos de crédito, conforme referidos na alínea “a” do inciso XII do art. 2º do Anexo Normativo II da Resolução CVM 175, o GESTOR deve verificar a existência, integridade e titularidade do lastro, de f orma integral, utilizando modelo estatístico consistente e passível de verif icação, 12.16 O GESTOR pode contratar terceiros para ef etuar a verif icação do lastro, inclusive a entidade registradora, o CUSTODIANTE ou consultoria especializada, caso aplicável, devendo constar do contrato de prestação de serviços as regras e procedimentos aplicáveis à verif icação, sendo que o GESTOR será responsável pela fiscalização da atuação do agente contratado no tocante à observância às regras e procedimentos aplicáveis à verif icação. Custódia e Verificação do Lastro quando do inadimplemento ou substituição dos Direitos Creditórios 12.17 Caso a classe aplique recursos em Direitos Creditórios que não sejam passíveis de registro em entidade registradora na data deste Regulamento, o ADMINISTRADOR deve contratar o serviço de custódia para a Carteira. 12.18 Os serviços de custódia qualificada dos Direitos Creditóri</a:t>
            </a:r>
          </a:p>
          <a:p>
            <a:r>
              <a:t>CNPJ 54871427000194 · Verificação de lastro e amostragem · Condição: A entrega escalonada dos comprovantes é distinta da verificação integral prevista. O Complemento 2 contém recuperação/cobrança; não contém uma amostragem estatística de lastro.</a:t>
            </a:r>
          </a:p>
          <a:p>
            <a:r>
              <a:t>CNPJ 54871427000194 · Verificação de lastro e amostragem · Versão e prevalência: Leitura específica das cláusulas indicadas; condições e conflitos preservados. Seleção documental atual não comprova vigência jurídica por data isolada.</a:t>
            </a:r>
          </a:p>
          <a:p>
            <a:r>
              <a:t>CNPJ 54871427000194 · Verificação de lastro e amostragem · Resumo do histórico: {"count": 1, "dates": ["2024-04-19"], "document_count": 1, "sources": [{"document_id": "670689", "title": "Regulamento", "reference_date": "2024-04-19", "version": "1", "page": 45, "url": "https://fnet.bmfbovespa.com.br/fnet/publico/visualizarDocumento?id=670689", "sha256": "891bc9bc5d87bbc02ec139077a84d2702eb81ea02035fb71d24f5b8366b94a0b"}], "reference": {"path": "history/54871427000194.json", "criterion_id": "collateral_check", "total_count": 1, "preview_count": 1, "full_text_deferred": true, "sha256": "35d7cd99be50c7287c9fb675cf4f2e736002315295a225a9efa79c8d9186d874"}}</a:t>
            </a:r>
          </a:p>
          <a:p>
            <a:r>
              <a:t>CNPJ 60010416000112 · Verificação de lastro e amostragem · Regulamento · ID 1051393 · 09/10/2025 · versão Regulamento09/10/2025 · p. 59 · Complemento7itens1–4 · https://fnet.bmfbovespa.com.br/fnet/publico/visualizarDocumento?id=1051393</a:t>
            </a:r>
          </a:p>
          <a:p>
            <a:r>
              <a:t>CNPJ 60010416000112 · Verificação de lastro e amostragem · Excerto da fonte:</a:t>
            </a:r>
          </a:p>
          <a:p>
            <a:r>
              <a:t>1. O Gestor deverá realizar a verif icação dos Documentos Comprobatórios relativos aos Direitos Creditórios adquiridos pela Classe trimestralmente; sendo certo que o Endossante e/ou o Agente de Retenção/Cobrança, conforme o caso, deverão enviar os Documentos Comprobatórios para o Gestor, conf orme def inido nos itens conf orme def inido nos itens 11.16 e 11.17 do Anexo I. 2. Observado o disposto no inciso (i) do item 3 abaixo, numa data-base pré-estabelecida, será selecionada uma amostra aleatória simples para a determinação de um intervalo de confiança para a proporção de eventuais f alhas, baseado numa distribuição binomial aproxi</a:t>
            </a:r>
          </a:p>
          <a:p>
            <a:r>
              <a:t>CNPJ 60010416000112 · Verificação de lastro e amostragem · Versão e prevalência: Leitura específica das cláusulas indicadas; condições e conflitos preservados. Seleção documental atual não comprova vigência jurídica por data isolada.</a:t>
            </a:r>
          </a:p>
          <a:p>
            <a:r>
              <a:t>CNPJ 60010416000112 · Verificação de lastro e amostragem · Resumo do histórico: {"count": 1, "dates": ["2025-03-20"], "document_count": 1, "sources": [{"document_id": "993786", "title": "Regulamento", "reference_date": "2025-03-20", "version": "1", "page": 38, "url": "https://fnet.bmfbovespa.com.br/fnet/publico/visualizarDocumento?id=993786", "sha256": "fd0fdd369a195510d81f81f505195a0b09e5f43522a990afa7d58c4f872921c8"}], "reference": {"path": "history/60010416000112.json", "criterion_id": "collateral_check", "total_count": 1, "preview_count": 1, "full_text_deferred": true, "sha256": "8e2bd813f4c51cf01f6bfaad164bafe69d2bbb192f753eac92da3a01c2e63046"}}</a:t>
            </a:r>
          </a:p>
          <a:p>
            <a:r>
              <a:t>CNPJ 62696791000193 · Verificação de lastro e amostragem · Regulamento · ID 1143317 · 20/03/2026 · versão Regulamento — referência 20/03/2026 · p. 13 · Anexo I, 4.15–4.19 · https://fnet.bmfbovespa.com.br/fnet/publico/visualizarDocumento?id=1143317</a:t>
            </a:r>
          </a:p>
          <a:p>
            <a:r>
              <a:t>CNPJ 62696791000193 · Verificação de lastro e amostragem · Excerto da fonte:</a:t>
            </a:r>
          </a:p>
          <a:p>
            <a:r>
              <a:t>4.15 Os serviços de custódia qualif icada dos Direitos Creditórios do Agronegócio não registrados em entidade registradora, bem como a guarda física dos originais dos Direitos Creditórios do Agronegócio e dos Documentos Comprobatórios, serão prestados pelo Custodiante. 4.16 São atribuições do Custodiante, observado o disposto neste Regulamento e na regulamentação aplicável: (i) realizar a liquidação física ou eletrônica e financeira dos Direitos Creditórios do Agronegócio; (ii) cobrar e receber, em nome da classe, pagamentos, resgate de títulos ou qualquer outro rendimento relativo aos ativos da Carteira, depositando os valores recebidos diretamente em conta de titularidade da classe ou, se f or o caso, em conta vinculada; e (iii) realizar a guarda da documentação relativa ao lastro dos Direitos Creditórios do Agronegócio. 4.17 Em razão de a Classe possuir significativa quantidade de Direitos Creditórios do Agronegócio cedidos e expressiva diversificação de devedores e de Cedentes, além de atuar em vários segmentos, o Custodiante está autorizado a ef etuar a verif icação do lastro dos Direitos Creditórios do Agronegócio por amostragem, sempre que permitido pel</a:t>
            </a:r>
          </a:p>
          <a:p>
            <a:r>
              <a:t>CNPJ 62696791000193 · Verificação de lastro e amostragem · Condição: O PDF obtido termina no Complemento I (Fatores de Risco); Complemento II, referenciado para parâmetros de amostragem, não está incluído. Não atribuir confiança 95%/erro 5% por analogia.</a:t>
            </a:r>
          </a:p>
          <a:p>
            <a:r>
              <a:t>CNPJ 62696791000193 · Verificação de lastro e amostragem · Versão e prevalência: Leitura específica das cláusulas indicadas; condições e conflitos preservados. Seleção documental atual não comprova vigência jurídica por data isolada.</a:t>
            </a:r>
          </a:p>
          <a:p>
            <a:r>
              <a:t>CNPJ 55563624000109 · Verificação de lastro e amostragem · Regulamento · ID 1192614 · 30/04/2026 · versão Regulamento30/04/2026 · p. 12 · AnexoI4.5–4.6 · https://fnet.bmfbovespa.com.br/fnet/publico/visualizarDocumento?id=1192614</a:t>
            </a:r>
          </a:p>
          <a:p>
            <a:r>
              <a:t>CNPJ 55563624000109 · Verificação de lastro e amostragem · Excerto da fonte:</a:t>
            </a:r>
          </a:p>
          <a:p>
            <a:r>
              <a:t>4.5 Uma vez que o investimento nas Cotas da Classe Investida não corresponde a um investimento direto em direitos creditórios, uma série de disposições comuns à securitização de direitos creditórios não será aplicável ao investimento nas Cotas da Classe Investida. A título meramente exemplificativo, não existem processos de originação ou política de concessão de crédito adotada pelo GESTOR, tampouco há que se falar em verificação ou guarda de documentos comprobatórios que não sejam referentes às Cotas da Classe Investida. Da mesma forma, não há necessida</a:t>
            </a:r>
          </a:p>
          <a:p>
            <a:r>
              <a:t>CNPJ 55563624000109 · Verificação de lastro e amostragem · Regulamento · ID 1192614 · 30/04/2026 · versão Regulamento30/04/2026 · p. 28 · AnexoI12.22–12.24 · https://fnet.bmfbovespa.com.br/fnet/publico/visualizarDocumento?id=1192614</a:t>
            </a:r>
          </a:p>
          <a:p>
            <a:r>
              <a:t>CNPJ 55563624000109 · Verificação de lastro e amostragem · Excerto da fonte:</a:t>
            </a:r>
          </a:p>
          <a:p>
            <a:r>
              <a:t>12.22 Os Documentos Comprobatórios relativos às Cotas da Classe Investida integrantes da Carteira inadimplidos e/ou substituídos num dado trimestre serão, no referido trimestre, objeto de verificação individualizada e integral pelo CUSTODIANTE ou terceiro por ele contratado. 12.23 Eventuais vícios verificados nos Documentos Comprobatórios que evidenciam o lastro dos Direitos Creditórios serão comunicados por escrito pelo CUSTODIANTE ao ADMINISTRADOR em até 5 (cinco) Dias Úteis da sua verificação, para que sejam tomadas as medidas necessárias. Cobrança da</a:t>
            </a:r>
          </a:p>
          <a:p>
            <a:r>
              <a:t>CNPJ 55563624000109 · Verificação de lastro e amostragem · Versão e prevalência: Leitura específica das cláusulas indicadas; condições e conflitos preservados. Seleção documental atual não comprova vigência jurídica por data isolada.</a:t>
            </a:r>
          </a:p>
          <a:p>
            <a:r>
              <a:t>CNPJ 62552447000120 · Verificação de lastro e amostragem · Regulamento · ID 1200623 · 21/05/2026 · versão Consolidado21/05/2026 aprovado pelo ato1200625 · p. 41 · ComplementoIIitens1–4 · https://fnet.bmfbovespa.com.br/fnet/publico/visualizarDocumento?id=1200623</a:t>
            </a:r>
          </a:p>
          <a:p>
            <a:r>
              <a:t>CNPJ 62552447000120 · Verificação de lastro e amostragem · Excerto da fonte:</a:t>
            </a:r>
          </a:p>
          <a:p>
            <a:r>
              <a:t>1. O Gestor deverá realizar a verif icação dos Documentos Comprobatórios relativos aos Direitos Creditórios adquiridos pela Classe trimestralmente; sendo certo que o Endossante e/ou o Agente de Retenção/Cobrança, conforme o caso, deverão enviar os Documentos Comprobat órios para o Gestor. 2. Observado o disposto no inciso (i) do item 3 abaixo, numa data-base pré-estabelecida, será selecionada uma amostra aleatória simples para a determinação de um intervalo de confiança para a proporção de eventuais falhas, baseado numa distribuição binomial aproximada a uma distribuição normal com 95% (noventa e cinco por cento) de nível de confian</a:t>
            </a:r>
          </a:p>
          <a:p>
            <a:r>
              <a:t>CNPJ 62552447000120 · Verificação de lastro e amostragem · Regulamento · ID 1200623 · 21/05/2026 · versão Consolidado21/05/2026 aprovado pelo ato1200625 · p. 29 · AnexoI12.12–12.13 · https://fnet.bmfbovespa.com.br/fnet/publico/visualizarDocumento?id=1200623</a:t>
            </a:r>
          </a:p>
          <a:p>
            <a:r>
              <a:t>CNPJ 62552447000120 · Verificação de lastro e amostragem · Excerto da fonte:</a:t>
            </a:r>
          </a:p>
          <a:p>
            <a:r>
              <a:t>12.12 Os Documentos Comprobatórios relativos aos Direitos Creditórios integrantes da Carteira inadimplidos e/ou substituídos num dado trimestre serão, no ref erido trimestre, objeto de verificação individualizada e integral pelo Custodiante ou terceiro por ele contratado. 12.13 Eventuais vícios verificados nos Documentos Comprobatórios que evidenciam o lastro dos Direitos Creditórios serão comunicados por escrito pelo Custodiante ao Administrador em até 5 (cinco) Dias Úteis da sua verif icação, para que sejam tomadas as medidas necessárias. Retenção e Cobrança dos Direitos Creditórios Inadimplidos 12.14 A Classe contra</a:t>
            </a:r>
          </a:p>
          <a:p>
            <a:r>
              <a:t>CNPJ 62552447000120 · Verificação de lastro e amostragem · Versão e prevalência: Leitura específica das cláusulas indicadas; condições e conflitos preservados. Seleção documental atual não comprova vigência jurídica por data isolada.</a:t>
            </a:r>
          </a:p>
          <a:p>
            <a:r>
              <a:t>CNPJ 63953620000165 · Verificação de lastro e amostragem · Anexo ao Regulamento · ID 1222863 · 2026-06-02 · versão 1 · p. 30 · https://fnet.bmfbovespa.com.br/fnet/publico/visualizarDocumento?id=1222863</a:t>
            </a:r>
          </a:p>
          <a:p>
            <a:r>
              <a:t>CNPJ 63953620000165 · Verificação de lastro e amostragem · Excerto da fonte:</a:t>
            </a:r>
          </a:p>
          <a:p>
            <a:r>
              <a:t>Complemento II  (Ao Anexo I)  PARÂMETROS PARA A VERIFICAÇÃO DO LASTRO POR AMOSTRAGEM  1. O Gestor deverá realizar a verificação dos Documentos Comprobatórios relativos aos Direitos Creditórios adquiridos pela  Classe trimestralmente; sendo certo que o Endossante e/ou o Agente de Retenção/Cobrança, conforme o caso, deverão  enviar os Documentos Comprobatórios para o Gestor, conforme definido nos itens conforme definido nos itens 11.16 e</a:t>
            </a:r>
          </a:p>
          <a:p>
            <a:r>
              <a:t>CNPJ 63953620000165 · Verificação de lastro e amostragem · Anexo ao Regulamento · ID 1222863 · 2026-06-02 · versão 1 · p. 30 · 11.17 · https://fnet.bmfbovespa.com.br/fnet/publico/visualizarDocumento?id=1222863</a:t>
            </a:r>
          </a:p>
          <a:p>
            <a:r>
              <a:t>CNPJ 63953620000165 · Verificação de lastro e amostragem · Excerto da fonte:</a:t>
            </a:r>
          </a:p>
          <a:p>
            <a:r>
              <a:t>11.17 do Anexo I.</a:t>
            </a:r>
          </a:p>
          <a:p>
            <a:r>
              <a:t> 2. Observado o disposto no inciso (i) do item 3 abaixo, numa data-base pré-estabelecida, será selecionada uma amostra  aleatória simples para a determinação de um intervalo de confiança para a proporção de eventuais falhas, baseado numa  distribuição binomial aproximada a uma distribuição normal com 95% (noventa e cinco por cento) de nível de confiança,  visando a uma margem de erro de 5% (cinco por cento), independentemente do cedente dos Direitos Creditórios.</a:t>
            </a:r>
          </a:p>
          <a:p>
            <a:r>
              <a:t> 3. O escopo da análise da documentação que evidencia o lastro dos Direitos Creditórios contempla a verificação da  existência dos respectivos Documentos Comprobatórios, conforme abaixo discriminado:</a:t>
            </a:r>
          </a:p>
          <a:p>
            <a:r>
              <a:t> i. obtenção de base de dados analítica por Direitos Creditórios integrantes da Carteira;</a:t>
            </a:r>
          </a:p>
          <a:p>
            <a:r>
              <a:t> ii. seleção de uma amostra de acordo com as fórmulas abaixo</a:t>
            </a:r>
          </a:p>
          <a:p>
            <a:r>
              <a:t>CNPJ 63953620000165 · Verificação de lastro e amostragem · Anexo ao Regulamento · ID 1222863 · 2026-06-02 · versão 1 · p. 26 · https://fnet.bmfbovespa.com.br/fnet/publico/visualizarDocumento?id=1222863</a:t>
            </a:r>
          </a:p>
          <a:p>
            <a:r>
              <a:t>CNPJ 63953620000165 · Verificação de lastro e amostragem · Excerto da fonte:</a:t>
            </a:r>
          </a:p>
          <a:p>
            <a:r>
              <a:t>Complemento I  (Ao Anexo I)  FATORES DE RISCO APLICÁVEIS À CLASSE CONSIGNADO PRIVADO DO MT GLOBAL FUNDO DE INVESTIMENTO EM  DIREITOS CREDITÓRIOS RESPONSABILIDADE LIMITADA  Risco de Crédito</a:t>
            </a:r>
          </a:p>
          <a:p>
            <a:r>
              <a:t> (i) Riscos associados aos Devedores: os Direitos Creditórios a serem endossados à Classe serão descontados  pela Dataprev da remuneração do Devedor. A capacidade de pagamento do Devedor poderá ser afetada se,  por exemplo, o Devedor tiver o seu contrato de emprego rescindido ou em virtude de decisão judicial, o  Devedor for obrigado a pagar alimentos, que têm prioridade sobre o empréstimo para fins de desconto na  folha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afetar a rentabilidade da Classe.</a:t>
            </a:r>
          </a:p>
          <a:p>
            <a:r>
              <a:t> (ii)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referido Devedor poderá  ficar inadimplente e, consequentemente, não haverá repasse à Classe do respectivo Direito Creditório, o  que poderá resultar em perdas financeiras à Classe e aos Cotistas.</a:t>
            </a:r>
          </a:p>
          <a:p>
            <a:r>
              <a:t> (iii) Risco do Empregador não efetuar o desconto em folha: o repasse dos recursos oriundos dos Direitos  Creditórios à Classe depende da realização, pelo Empregador, da Escrituração e do desconto na respectiva  folha de pagamento do Devedor. Na hipótese do Empregador deixar de realizar a Escrituração ou os  descontos na folha de pagamento, não haverá repasse de recursos à Classe, podendo causar prejuízos à  Classe e aos Cotistas.</a:t>
            </a:r>
          </a:p>
          <a:p>
            <a:r>
              <a:t> (iv) Risco de perda do vínculo empregatício com o Empregador: caso o Devedor perca o vínculo empregatício  com o Empregador, não haverá remuneração e folha de pagamento para realização dos descontos para  pagamento dos Direitos Creditórios. Neste caso, não obstante a possibilidade do Agente de  Retenção/Cobrança realizar a cobrança ativa dos Direitos Creditórios diretamente do Devedor, a ausência  de remuneração poderá deixar o Devedor inadimplente perante a Classe até que o seu vínculo empregatício  seja retomado e seja efetuado o procedimento operacional para que a CCB seja aditada e/ou seja realizado  o Processo de Reinicialização. Tais situações poderão resultar em prejuízos à Classe e aos Cotistas.</a:t>
            </a:r>
          </a:p>
          <a:p>
            <a:r>
              <a:t> Riscos Operacionais</a:t>
            </a:r>
          </a:p>
          <a:p>
            <a:r>
              <a:t> (i) Risco de irregularidade dos Documentos Comprobatórios e/ou Documentos Suporte: o Gestor, ou  terceiro por ele contratado, deverá realizar a verificação da regularidade dos Documentos Comprobatórios  e Documentos Suporte. A Carteira poderá conter Direitos Creditórios com documentação irregular, o que  poderá impedir que a Classe exerça plenamente as prerrogativas derivadas da titularidade dos Direitos  Creditórios. O Gestor poderá contratar empresas especializadas, com comprovada competência e  adequação, para realizar a guarda física, manutenção, armazenamento, organização e digitalização dos  Documentos Comprobatórios e Documentos Suporte, que estarão sob total responsabilidade do Gestor,  permanecendo as empresas como agentes depositários dos Documentos Comprobatórios e Documentos  Suporte.</a:t>
            </a:r>
          </a:p>
          <a:p>
            <a:r>
              <a:t> (ii) Risco operacional da Dataprev e da CEF: o empréstimo contraído pelos Devedores é pago por meio de  desconto na folha de pagamento feito pela Dataprev e pela CEF, conforme aplicável. É possível que os  rendimentos dos Devedores sejam atrasados ou não pagos devido a questões operacionais envolvendo a  Dataprev e/ou a CEF. Nesse caso, a Carteira poderá sofrer, já que não receberá automaticamente, e  também poderá ter dificuldades para receber, a qualquer momento, os recursos decorrentes dos Direitos  Creditórios.</a:t>
            </a:r>
          </a:p>
          <a:p>
            <a:r>
              <a:t>CNPJ 63953620000165 · Verificação de lastro e amostragem · Condição: Documentos atuais selecionados no inventário por categoria/escopo; a data documental isolada não comprova vigência jurídica.</a:t>
            </a:r>
          </a:p>
          <a:p>
            <a:r>
              <a:t>CNPJ 63953620000165 · Verificação de lastro e amostragem · Versão e prevalência: Documentos atuais selecionados no inventário por categoria/escopo; a data documental isolada não comprova vigência jurídica.</a:t>
            </a:r>
          </a:p>
          <a:p>
            <a:r>
              <a:t>CNPJ 63953620000165 · Verificação de lastro e amostragem · Resumo do histórico: {"count": 8, "dates": ["2026-04-28", "2026-05-08", "2026-05-15"], "document_count": 3, "sources": [{"document_id": "1327859", "title": "Demonstrações Financeiras - Fusão, cisão e incorporação", "reference_date": "2026-05-15", "version": "1", "page": 22, "url": "https://fnet.bmfbovespa.com.br/fnet/publico/visualizarDocumento?id=1327859", "sha256": "dca1c68babb97f887528c3e2e47596a9c30f507b067981a35655b2f2da9c8054"}, {"document_id": "1298691", "title": "Demonstrações Financeiras - Fusão, cisão e incorporação", "reference_date": "2026-05-08", "version": "1", "page": 17, "url": "https://fnet.bmfbovespa.com.br/fnet/publico/visualizarDocumento?id=1298691", "sha256": "58c570d9b8d4d265330d3db3ea81c435b8e44a6dab4002aa37790652a1ee9819"}, {"document_id": "1282180", "title": "Demonstrações Financeiras - Fusão, cisão e incorporação", "reference_date": "2026-04-28", "version": "1", "page": 17, "url": "https://fnet.bmfbovespa.com.br/fnet/publico/visualizarDocumento?id=1282180", "sha256": "afaaa0e6809be4385e5bdb6c911aac582032c5bdbac3d7750234bf9eaf00438a"}], "reference": {"path": "history/63953620000165.json", "criterion_id": "collateral_check",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Garantias e operação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Garantias e constituição · Demonstrações Financeiras - Fusão, cisão e incorporação · ID 1219522 · 2026-02-02 · versão 1 · p. 21 · https://fnet.bmfbovespa.com.br/fnet/publico/visualizarDocumento?id=1219522</a:t>
            </a:r>
          </a:p>
          <a:p>
            <a:r>
              <a:t>CNPJ 54871427000194 · Garantias e constituição · Excerto da fonte:</a:t>
            </a:r>
          </a:p>
          <a:p>
            <a:r>
              <a:t>Em 02 de fevereiro de 2026, a Classe não possuía garantias reais ou fidejussórias, pela liquidação  dos direitos creditórios.</a:t>
            </a:r>
          </a:p>
          <a:p>
            <a:r>
              <a:t>CNPJ 54871427000194 · Garantias e constituição · Condição: Trechos do documento específico identificado com data mais recente; vigência jurídica não inferida.</a:t>
            </a:r>
          </a:p>
          <a:p>
            <a:r>
              <a:t>CNPJ 54871427000194 · Garantias e constituição · Versão e prevalência: Trechos do documento específico identificado com data mais recente; vigência jurídica não inferida.</a:t>
            </a:r>
          </a:p>
          <a:p>
            <a:r>
              <a:t>CNPJ 54871427000194 · Garantias e constituição · Resumo do histórico: {"count": 5, "dates": ["2024-12-31", "2025-01-01", "2025-12-31"], "document_count": 3, "sources": [{"document_id": "1151805", "title": "Demonstrações Financeiras", "reference_date": "2025-12-31", "version": "1", "page": 21, "url": "https://fnet.bmfbovespa.com.br/fnet/publico/visualizarDocumento?id=1151805", "sha256": "f1cea70b152968bf96ef9221b27225953cb20aeef487b2798db3c25e11b528d4"}, {"document_id": "869529", "title": "Demonstrações Financeiras", "reference_date": "2025-01-01", "version": "1", "page": 20, "url": "https://fnet.bmfbovespa.com.br/fnet/publico/visualizarDocumento?id=869529", "sha256": "9a93a9369ac8efdbc54ff8fcee3ccac3abf88edab4807b9323d3852450771b2a"}, {"document_id": "870070", "title": "Demonstrações Financeiras", "reference_date": "2024-12-31", "version": "1", "page": 20, "url": "https://fnet.bmfbovespa.com.br/fnet/publico/visualizarDocumento?id=870070", "sha256": "9a93a9369ac8efdbc54ff8fcee3ccac3abf88edab4807b9323d3852450771b2a"}], "reference": {"path": "history/54871427000194.json", "criterion_id": "guarantee", "total_count": 5, "preview_count": 3, "full_text_deferred": true, "sha256": "35d7cd99be50c7287c9fb675cf4f2e736002315295a225a9efa79c8d9186d874"}}</a:t>
            </a:r>
          </a:p>
          <a:p>
            <a:r>
              <a:t>CNPJ 60010416000112 · Garantias e constituição · Demonstrações Financeiras - Fusão, cisão e incorporação · ID 1298690 · 2026-05-08 · versão 1 · p. 19 · https://fnet.bmfbovespa.com.br/fnet/publico/visualizarDocumento?id=1298690</a:t>
            </a:r>
          </a:p>
          <a:p>
            <a:r>
              <a:t>CNPJ 60010416000112 · Garantias e constituição · Excerto da fonte:</a:t>
            </a:r>
          </a:p>
          <a:p>
            <a:r>
              <a:t>Em 08 de maio de 2026, a Classe não possuía garantias reais ou fidejussórias, pela liquidação  dos Direitos Creditórios.</a:t>
            </a:r>
          </a:p>
          <a:p>
            <a:r>
              <a:t>CNPJ 60010416000112 · Garantias e constituição · Condição: Trechos do documento específico identificado com data mais recente; vigência jurídica não inferida.</a:t>
            </a:r>
          </a:p>
          <a:p>
            <a:r>
              <a:t>CNPJ 60010416000112 · Garantias e constituição · Versão e prevalência: Trechos do documento específico identificado com data mais recente; vigência jurídica não inferida.</a:t>
            </a:r>
          </a:p>
          <a:p>
            <a:r>
              <a:t>CNPJ 60010416000112 · Garantias e constituição · Resumo do histórico: {"count": 4, "dates": ["2025-11-30", "2026-03-18", "2026-04-16"], "document_count": 3, "sources": [{"document_id": "1282181", "title": "Demonstrações Financeiras - Fusão, cisão e incorporação", "reference_date": "2026-04-16", "version": "1", "page": 20, "url": "https://fnet.bmfbovespa.com.br/fnet/publico/visualizarDocumento?id=1282181", "sha256": "b1c6566e43a00bcd00c8a7f30c77b7f86e351bd8e355bbea113f46d1dafda703"}, {"document_id": "1224477", "title": "Demonstrações Financeiras - Fusão, cisão e incorporação", "reference_date": "2026-03-18", "version": "1", "page": 20, "url": "https://fnet.bmfbovespa.com.br/fnet/publico/visualizarDocumento?id=1224477", "sha256": "0751bf0a75bc3b44c2748f5000226665c6ec6698a90c4dc6170b4e6c187759ae"}, {"document_id": "1126154", "title": "Demonstrações Financeiras", "reference_date": "2025-11-30", "version": "1", "page": 21, "url": "https://fnet.bmfbovespa.com.br/fnet/publico/visualizarDocumento?id=1126154", "sha256": "a01e7ccf88c548f12c95cba8526d7efbef6b585c112cd4668eca781c292090b0"}], "reference": {"path": "history/60010416000112.json", "criterion_id": "guarantee", "total_count": 4, "preview_count": 3, "full_text_deferred": true, "sha256": "8e2bd813f4c51cf01f6bfaad164bafe69d2bbb192f753eac92da3a01c2e63046"}}</a:t>
            </a:r>
          </a:p>
          <a:p>
            <a:r>
              <a:t>CNPJ 62696791000193 · Garantias e constituição · Regulamento · ID 1143317 · 20/03/2026 · versão Regulamento — referência 20/03/2026 · p. 11 · Anexo I, 4.7(iv) · https://fnet.bmfbovespa.com.br/fnet/publico/visualizarDocumento?id=1143317</a:t>
            </a:r>
          </a:p>
          <a:p>
            <a:r>
              <a:t>CNPJ 62696791000193 · Garantias e constituição · Excerto da fonte:</a:t>
            </a:r>
          </a:p>
          <a:p>
            <a:r>
              <a:t>(iv) sejam representados por direitos e/ou títulos representativos de crédito, com ou sem garantias reais ou pessoais a eles atreladas, incluindo, sem limitação, duplicatas, debêntures, contratos de locação e contratos mercantis de compra e venda de produtos e/ ou mercadorias perf ormados e/ou para entrega ou prestação f utura, bem como títulos ou certificados representativos desses contratos, decorrentes de operações nos segmentos f inanceiro, comercial, industrial, imobiliário, de hipotecas, de arrendamento mercantil e de prestação de serviços, observadas as vedações do item 4.28 abaixo deste Anexo. 4.7.2 Para f ins da verificação dos Critérios de Elegibilidade, será considerado o Patrimônio Líquido e o valor dos Direitos Creditórios do Agronegócio integrantes da carteira no Dia Útil imediatamente anterior à Data de Aquisição. 4.7.3 Na hipótese de eventuais Direitos Creditórios do Agronegócio elegíveis deixarem de atender a qualquer Critério de Elegibilidade após sua aquisição pela Classe, tal f ato não será entendido como um desenquadramento da carteira, tampouco haverá direito de regresso contra</a:t>
            </a:r>
          </a:p>
          <a:p>
            <a:r>
              <a:t>CNPJ 62696791000193 · Garantias e constituição · Regulamento · ID 1143317 · 20/03/2026 · versão Regulamento — referência 20/03/2026 · p. 14 · Anexo I, 4.24 · https://fnet.bmfbovespa.com.br/fnet/publico/visualizarDocumento?id=1143317</a:t>
            </a:r>
          </a:p>
          <a:p>
            <a:r>
              <a:t>CNPJ 62696791000193 · Garantias e constituição · Excerto da fonte:</a:t>
            </a:r>
          </a:p>
          <a:p>
            <a:r>
              <a:t>4.24 A Classe poderá adquirir imóveis rurais sobre os quais tenham sido constituídos ônus reais anteriormente ao seu ingresso no patrimônio da Classe. Ainda, posteriormente ao seu ingresso no patrimônio da Classe, poderá o Gestor, em nome da Classe, prestar fiança, aval, aceite ou coobrigar- se sob qualquer f orma, relativamente a operações relacionadas à carteira de ativos da Classe, bem como constituir ônus reais sobre imóveis rurais integrantes do patrimônio da Classe para garantir obrigações por ela assumidas. 4.25 O Administrador, conforme orientação do Gestor, poderá utilizar recursos da classe para recomprar suas próprias cotas, com a f inalidade exclusiva de cancelamento, seja por meio de programa de recompra ou por meio de Of erta Pública Voluntária de Aquisição d e suas próprias cotas (“OPAC”), observados os procedimentos eventualmente previstos nos manuais ou regras da B3, bem como o disposto no Art. 56 e seguintes do Anexo Normativo I da Resolução CVM 175. Participações do Agronegócio 4.26 As seguintes regras são aplicáveis aos investimentos em Participações do Agronegócio realizados pela Classe. 4.26.1 Deverão ser asseguradas à Classe (i) a participação no processo deci</a:t>
            </a:r>
          </a:p>
          <a:p>
            <a:r>
              <a:t>CNPJ 62696791000193 · Garantias e constituição · Regulamento · ID 1143317 · 20/03/2026 · versão Regulamento — referência 20/03/2026 · p. 48 · Complemento I, 11.6 · https://fnet.bmfbovespa.com.br/fnet/publico/visualizarDocumento?id=1143317</a:t>
            </a:r>
          </a:p>
          <a:p>
            <a:r>
              <a:t>CNPJ 62696791000193 · Garantias e constituição · Excerto da fonte:</a:t>
            </a:r>
          </a:p>
          <a:p>
            <a:r>
              <a:t>11.6. Ausência de garantia. As aplicações realizadas na Classe não contam com garantia do Cedente, do ADMINISTRADOR, do GESTOR, do CUSTODIANTE ou da Classe Garantidor de Créditos – FGC, de modo que é possível a perda total do capital investido pelos Cotistas ou mesmo a necessidade de os Cotistas realizarem aportes adicionais de recursos para a cobertura de eventuais prejuízos. 11.7. Limitação do gerenciamento de riscos. A realização de investimentos na Classe expõe o investidor a riscos a que a Classe está sujeita, os quais poderão acarretar perdas para os Cotistas. Não há qualquer garantia de completa eliminação da possibilidade de perdas para a Classe e para os Cotistas. Em condições adversas de mercado, esses sistemas de gerenciamento de riscos poderão ter sua ef iciência reduzida. A Classe também poderá estar sujeita a outros riscos advindos de motivos alheios ou exógenos ao controle do Administrador, tais como moratória, inadimplemento de pagamentos, mudança nas regras aplicáveis aos Ativos-Alvo e Ativos Financeiros de Liquidez, alteração na política monetária, alteração da política fiscal aplicável à Classe, os quais poderão causar preju</a:t>
            </a:r>
          </a:p>
          <a:p>
            <a:r>
              <a:t>CNPJ 62696791000193 · Garantias e constituição · Versão e prevalência: Leitura específica das cláusulas indicadas; condições e conflitos preservados. Seleção documental atual não comprova vigência jurídica por data isolada.</a:t>
            </a:r>
          </a:p>
          <a:p>
            <a:r>
              <a:t>CNPJ 55563624000109 · Garantias e constituição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Garantias e constituição · Resumo do histórico: {"count": 1, "dates": ["2026-04-30"], "document_count": 1, "sources": [{"document_id": "1192614", "title": "Regulamento", "reference_date": "2026-04-30", "version": "1", "page": "12, 14", "url": "https://fnet.bmfbovespa.com.br/fnet/publico/visualizarDocumento?id=1192614", "sha256": "f56e63ace0acde41d2f47fb48f1ac7f3f7df5e2d32de092d7c5e075a52516632"}], "reference": {"path": "history/55563624000109.json", "criterion_id": "guarantee", "total_count": 1, "preview_count": 1, "full_text_deferred": true, "sha256": "7835d573fb58a3c19adf5b8ecc2aee2bdbb9a88f7a0c0209b5f262b64c7522e3"}}</a:t>
            </a:r>
          </a:p>
          <a:p>
            <a:r>
              <a:t>CNPJ 62552447000120 · Garantias e constituição · Regulamento · ID 1200623 · 21/05/2026 · versão Consolidado21/05/2026 aprovado pelo ato1200625 · p. 8 · AnexoICondições(ii)(c) · https://fnet.bmfbovespa.com.br/fnet/publico/visualizarDocumento?id=1200623</a:t>
            </a:r>
          </a:p>
          <a:p>
            <a:r>
              <a:t>CNPJ 62552447000120 · Garantias e constituição · Excerto da fonte:</a:t>
            </a:r>
          </a:p>
          <a:p>
            <a:r>
              <a:t>garantias prestadas pelo Endossante ou pelo Agente de Retenção/Cobrança com relação a esse Direito Creditório deverão ser verdadeiras, nos termos deste Contrato e do respectivo Termo de Endosso; (e) tenha sido realizado o tratamento dos dados pessoais de pessoa natural observando as leis e regulamentações que regem a privacidade e a proteção de dados pess</a:t>
            </a:r>
          </a:p>
          <a:p>
            <a:r>
              <a:t>CNPJ 62552447000120 · Garantias e constituição · Regulamento · ID 1200623 · 21/05/2026 · versão Consolidado21/05/2026 aprovado pelo ato1200625 · p. 12 · AnexoI4.3.2 · https://fnet.bmfbovespa.com.br/fnet/publico/visualizarDocumento?id=1200623</a:t>
            </a:r>
          </a:p>
          <a:p>
            <a:r>
              <a:t>CNPJ 62552447000120 · Garantias e constituição · Excerto da fonte:</a:t>
            </a:r>
          </a:p>
          <a:p>
            <a:r>
              <a:t>alienação/cessão fiduciária; e (b) solicitar bloqueio de parte do saldo da conta vinculada do Devedor. Emitida a CCB em favor do Endossante e formalizada a alienação/cessão f iduciária pelo Devedor, o Endossante endossará eletronicamente a CCB em preto à Classe, que receberá todos os valores dela decorrentes (i.e., os Direitos Creditórios FGTS), após concluídas as f ormalidades de processamento pela CEF, na Conta da Classe. Caso a alienação/cessão f iduciária seja acionada nos termos da CCB, os recursos onerados serão liberados em favor do Endossante no</a:t>
            </a:r>
          </a:p>
          <a:p>
            <a:r>
              <a:t>CNPJ 62552447000120 · Garantias e constituição · Regulamento · ID 1200623 · 21/05/2026 · versão Consolidado21/05/2026 aprovado pelo ato1200625 · p. 6 · AnexoIRefinanciamentoLivre(d) · https://fnet.bmfbovespa.com.br/fnet/publico/visualizarDocumento?id=1200623</a:t>
            </a:r>
          </a:p>
          <a:p>
            <a:r>
              <a:t>CNPJ 62552447000120 · Garantias e constituição · Excerto da fonte:</a:t>
            </a:r>
          </a:p>
          <a:p>
            <a:r>
              <a:t>Refinanciamento Livre”, na forma de CCBs originadas no âmbito de um refinanciamento, de acordo com a política de cobrança vigente, de Direitos Creditórios Consignado Privado e de Direitos Creditórios FGTS, que não contem com o lastro de Consignação ou de cessão f iduciária do Saque-Aniversário, respectivamente; e (ii) “Ativos Financei</a:t>
            </a:r>
          </a:p>
          <a:p>
            <a:r>
              <a:t>CNPJ 62552447000120 · Garantias e constituição · Regulamento · ID 1200623 · 21/05/2026 · versão Consolidado21/05/2026 aprovado pelo ato1200625 · p. 16 · AnexoI4.25 · https://fnet.bmfbovespa.com.br/fnet/publico/visualizarDocumento?id=1200623</a:t>
            </a:r>
          </a:p>
          <a:p>
            <a:r>
              <a:t>CNPJ 62552447000120 · Garantias e constituição · Excerto da fonte:</a:t>
            </a:r>
          </a:p>
          <a:p>
            <a:r>
              <a:t>4.25 As aplicações na Classe não contam com garantia: (i) do Administrador; (ii) do Gestor; (iii) do Endossante; (iv) do Custodiante; (v) dos demais prestadores de serviço da Classe; (vii) de qualquer mecanismo de seguro; e/ou (viii) do FGC. CAPÍTULO 5 – CARACTERÍSTICAS E CONDIÇÕES DAS COTAS 5.1 A Classe não possui Subclasse. As características, os direitos e as condições de emissão, distribuição, subscrição, integralização, remuneração, Amortização e resgate das Cotas estão descritos neste Capítulo e no Capítulo 6. 5.1.1 Não obstante, por deliberação conjunta dos Prestadores de Serviços Essenciais e me</a:t>
            </a:r>
          </a:p>
          <a:p>
            <a:r>
              <a:t>CNPJ 62552447000120 · Garantias e constituição · Versão e prevalência: Leitura específica das cláusulas indicadas; condições e conflitos preservados. Seleção documental atual não comprova vigência jurídica por data isolada.</a:t>
            </a:r>
          </a:p>
          <a:p>
            <a:r>
              <a:t>CNPJ 63953620000165 · Garantias e constituição · Demonstrações Financeiras - Fusão, cisão e incorporação · ID 1327859 · 2026-05-15 · versão 1 · p. 21 · https://fnet.bmfbovespa.com.br/fnet/publico/visualizarDocumento?id=1327859</a:t>
            </a:r>
          </a:p>
          <a:p>
            <a:r>
              <a:t>CNPJ 63953620000165 · Garantias e constituição · Excerto da fonte:</a:t>
            </a:r>
          </a:p>
          <a:p>
            <a:r>
              <a:t>i) Alienação de direitos creditórios  No período em findo em 15 de maio de 2026, não houve recompra de direitos creditórios  inadimplentes.</a:t>
            </a:r>
          </a:p>
          <a:p>
            <a:r>
              <a:t>j) Garantias  Em 15 de maio de 2026, a Classe não possuía garantias reais ou fidejussórias, pela liquidação  dos direitos creditórios.</a:t>
            </a:r>
          </a:p>
          <a:p>
            <a:r>
              <a:t>7. Riscos  Não obstante o emprego pela Administradora e pela Gestora de plena diligência e da boa prática  de administração e gestão da Classe, da estrita observância da política de investimento, das  regras legais e regulamentares aplicáveis à sua administração e gestão, a Classe estará sujeita  aos riscos inerentes aos bens e direitos integrantes de sua Carteira, além dos fatores de risco  identificados abaixo.</a:t>
            </a:r>
          </a:p>
          <a:p>
            <a:r>
              <a:t> Risco de Crédito</a:t>
            </a:r>
          </a:p>
          <a:p>
            <a:r>
              <a:t> (i) Riscos associados aos Devedores: os direitos creditórios a serem endossados à  classe serão descontados pela Dataprev da remuneração do devedor. A capacidade de  pagamento do devedor poderá ser afetada se, por exemplo, o devedor tiver o seu  contrato de emprego rescindido ou em virtude de decisão judicial, o devedor for obrigado  a pagar alimentos, que têm prioridade sobre o empréstimo para fins de desconto na folha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afetar a rentabilidade da classe.</a:t>
            </a:r>
          </a:p>
          <a:p>
            <a:r>
              <a:t>CNPJ 63953620000165 · Garantias e constituição · Condição: Trechos do documento específico identificado com data mais recente; vigência jurídica não inferida.</a:t>
            </a:r>
          </a:p>
          <a:p>
            <a:r>
              <a:t>CNPJ 63953620000165 · Garantias e constituição · Versão e prevalência: Trechos do documento específico identificado com data mais recente; vigência jurídica não inferida.</a:t>
            </a:r>
          </a:p>
          <a:p>
            <a:r>
              <a:t>CNPJ 63953620000165 · Garantias e constituição · Resumo do histórico: {"count": 7, "dates": ["2026-04-16", "2026-04-28", "2026-05-08"], "document_count": 3, "sources": [{"document_id": "1298691", "title": "Demonstrações Financeiras - Fusão, cisão e incorporação", "reference_date": "2026-05-08", "version": "1", "page": 21, "url": "https://fnet.bmfbovespa.com.br/fnet/publico/visualizarDocumento?id=1298691", "sha256": "58c570d9b8d4d265330d3db3ea81c435b8e44a6dab4002aa37790652a1ee9819"}, {"document_id": "1282180", "title": "Demonstrações Financeiras - Fusão, cisão e incorporação", "reference_date": "2026-04-28", "version": "1", "page": 21, "url": "https://fnet.bmfbovespa.com.br/fnet/publico/visualizarDocumento?id=1282180", "sha256": "afaaa0e6809be4385e5bdb6c911aac582032c5bdbac3d7750234bf9eaf00438a"}, {"document_id": "1282179", "title": "Demonstrações Financeiras - Fusão, cisão e incorporação", "reference_date": "2026-04-16", "version": "1", "page": 21, "url": "https://fnet.bmfbovespa.com.br/fnet/publico/visualizarDocumento?id=1282179", "sha256": "beb67afbcd64169019477673fd3b7c1edbfabbd9db07379388d8cdd5d3fc9395"}], "reference": {"path": "history/63953620000165.json", "criterion_id": "guarantee", "total_count": 7, "preview_count": 3, "full_text_deferred": true, "sha256": "a7b89077f5e21098c2d601c303faabc3ff6b9729f89d8afecdc60fe1404720c1"}}</a:t>
            </a:r>
          </a:p>
          <a:p>
            <a:r>
              <a:t>CNPJ 54871427000194 · Registro, execução e recuperação · Motivo: Não localizada uma cláusula material para este critério nos textos identificados e processados. A ausência de resultado não comprova inexistência da regra.</a:t>
            </a:r>
          </a:p>
          <a:p>
            <a:r>
              <a:t>CNPJ 60010416000112 · Registro, execução e recuperação · Motivo: Não localizada uma cláusula material para este critério nos textos identificados e processados. A ausência de resultado não comprova inexistência da regra.</a:t>
            </a:r>
          </a:p>
          <a:p>
            <a:r>
              <a:t>CNPJ 62696791000193 · Registro, execução e recuperação · Regulamento · ID 1143317 · 2026-03-20 · versão 1 · p. 45 · 8.7 · https://fnet.bmfbovespa.com.br/fnet/publico/visualizarDocumento?id=1143317</a:t>
            </a:r>
          </a:p>
          <a:p>
            <a:r>
              <a:t>CNPJ 62696791000193 · Registro, execução e recuperação · Excerto da fonte:</a:t>
            </a:r>
          </a:p>
          <a:p>
            <a:r>
              <a:t>8.7. Risco de Execução das Garantias Atreladas aos CRIs. O investimento em CRI inclui uma série  de riscos, dentre estes, o risco de inadimplemento e consequente execução das garantias  outorgadas à respectiva operação e os riscos inerentes à eventual existência de bens imóveis  na composição da carteira da Classe, podendo, nesta hipótese, a rentabilidade da Classe ser  af etada. Em um eventual processo de execução das garantias dos CRI, poderá haver a  necessidade de contratação de consultores, dentre outros custos, que deverão ser suportados  pela Classe, na qualidade de investidor dos CRI. Adicionalmente, a garantia outorgada em  f avor dos CRI pode não ter valor suficiente para suportar as obrigações financeiras atreladas  a tal CRI. Desta f orma, uma série de eventos relacionados à execução de garantias dos CRI  poderá afetar negativamente o valor das Cotas e a rentabilidade do investimento na Classe.</a:t>
            </a:r>
          </a:p>
          <a:p>
            <a:r>
              <a:t>9. Riscos relativos às Participações do Agronegócio</a:t>
            </a:r>
          </a:p>
          <a:p>
            <a:r>
              <a:t>CNPJ 62696791000193 · Registro, execução e recuperação · Condição: Documentos atuais selecionados no inventário por categoria/escopo; a data documental isolada não comprova vigência jurídica.</a:t>
            </a:r>
          </a:p>
          <a:p>
            <a:r>
              <a:t>CNPJ 62696791000193 · Registro, execução e recuperação · Motivo: Cláusula primária localizada e citada, mas sua lista/condições extensas não admitem uma síntese literal curta confirmada. O trecho integral permanece nas fontes.</a:t>
            </a:r>
          </a:p>
          <a:p>
            <a:r>
              <a:t>CNPJ 62696791000193 · Registro, execução e recuperação · Versão e prevalência: Documentos atuais selecionados no inventário por categoria/escopo; a data documental isolada não comprova vigência jurídica.</a:t>
            </a:r>
          </a:p>
          <a:p>
            <a:r>
              <a:t>CNPJ 55563624000109 · Registro, execução e recuperação · Motivo: Não localizada uma cláusula material para este critério nos textos identificados e processados. A ausência de resultado não comprova inexistência da regra.</a:t>
            </a:r>
          </a:p>
          <a:p>
            <a:r>
              <a:t>CNPJ 62552447000120 · Registro, execução e recuperação · Motivo: Não localizada uma cláusula material para este critério nos textos identificados e processados. A ausência de resultado não comprova inexistência da regra.</a:t>
            </a:r>
          </a:p>
          <a:p>
            <a:r>
              <a:t>CNPJ 63953620000165 · Registro, execução e recuperação · Motivo: Não localizada uma cláusula material para este critério nos textos identificados e processados. A ausência de resultado não comprova inexistência da regra.</a:t>
            </a:r>
          </a:p>
          <a:p>
            <a:r>
              <a:t>CNPJ 54871427000194 · Cobrança e servicing · Regulamento · ID 670691 · 28/04/2024 · versão Regulamento — referência 28/04/2024 · p. 44 · Complemento 2, Régua de Cobrança, Desconto e Comissão · https://fnet.bmfbovespa.com.br/fnet/publico/visualizarDocumento?id=670691</a:t>
            </a:r>
          </a:p>
          <a:p>
            <a:r>
              <a:t>CNPJ 54871427000194 · Cobrança e servicing · Excerto da fonte:</a:t>
            </a:r>
          </a:p>
          <a:p>
            <a:r>
              <a:t>Régua de Cobrança A partir da comunicação da desaverbação do a partir de 31 dias a partir de 60 dias contrato - Notificação (canais digitais) - Negativação SERASA - PROTESTO Repescagem diária na - Cobrança terceirizada - Repescagem diária na conta corrente - Repescagem diária na conta corrente conta corrente DESCONTO Normal Atraso Multa e Mora Principal 15 a 90 0% 0% 91 a 180 100% 0% 181 a 270 100% 20% 271 a 360 100% 30% Acima de 360 100% 50% COMISSÃO Faixa de Atraso % comissão De 15 a 90 dias 12% De 90 a 180 dias 15% De 181 a 270 dias 20%</a:t>
            </a:r>
          </a:p>
          <a:p>
            <a:r>
              <a:t>CNPJ 54871427000194 · Cobrança e servicing · Condição: A tabela de comissões se refere à cobrança/recuperação por faixa de atraso; a remuneração geral do agente está remetida ao contrato na cláusula 13.7.</a:t>
            </a:r>
          </a:p>
          <a:p>
            <a:r>
              <a:t>CNPJ 54871427000194 · Cobrança e servicing · Versão e prevalência: Leitura específica das cláusulas indicadas; condições e conflitos preservados. Seleção documental atual não comprova vigência jurídica por data isolada.</a:t>
            </a:r>
          </a:p>
          <a:p>
            <a:r>
              <a:t>CNPJ 60010416000112 · Cobrança e servicing · Regulamento · ID 1051393 · 2025-10-09 · versão 1 · p. 33 · 14.2.5 · https://fnet.bmfbovespa.com.br/fnet/publico/visualizarDocumento?id=1051393</a:t>
            </a:r>
          </a:p>
          <a:p>
            <a:r>
              <a:t>CNPJ 60010416000112 · Cobrança e servicing · Excerto da fonte:</a:t>
            </a:r>
          </a:p>
          <a:p>
            <a:r>
              <a:t>14.2.5 O Agente de Retenção/Cobrança poderá realizar a cobrança do Direitos Creditórios de forma ativa  caso seja verif icado, pelo Agente de Retenção/Cobrança que o Empregador não ef etuou a  Escrituração ou em caso de perda do vínculo empregatício do Devedor com o Empregador. A  cobrança ativa será mantida até que a Escrituração seja realizada e/ou até que o Devedor retome  o vínculo empregatício, observado o disposto abaixo:</a:t>
            </a:r>
          </a:p>
          <a:p>
            <a:r>
              <a:t> (i) As medidas adotadas pelo Agente de Retenção/Cobrança deverão observar a política  de cobrança adotada pelo Custodiante; e</a:t>
            </a:r>
          </a:p>
          <a:p>
            <a:r>
              <a:t> (ii) Uma vez retomado o vínculo empregatício, o Agente de Retenção/Cobrança deverá aditar  a CCB e/ou realizar o Processo de Reinicialização (conforme detalhado no Contrato de  Endosso).</a:t>
            </a:r>
          </a:p>
          <a:p>
            <a:r>
              <a:t>CAPÍTULO 15 – FATORES DE RISCO</a:t>
            </a:r>
          </a:p>
          <a:p>
            <a:r>
              <a:t>CNPJ 60010416000112 · Cobrança e servicing · Condição: Documentos atuais selecionados no inventário por categoria/escopo; a data documental isolada não comprova vigência jurídica.</a:t>
            </a:r>
          </a:p>
          <a:p>
            <a:r>
              <a:t>CNPJ 60010416000112 · Cobrança e servicing · Versão e prevalência: Documentos atuais selecionados no inventário por categoria/escopo; a data documental isolada não comprova vigência jurídica.</a:t>
            </a:r>
          </a:p>
          <a:p>
            <a:r>
              <a:t>CNPJ 60010416000112 · Cobrança e servicing · Resumo do histórico: {"count": 1, "dates": ["2025-03-20"], "document_count": 1, "sources": [{"document_id": "993786", "title": "Regulamento", "reference_date": "2025-03-20", "version": "1", "page": 33, "clause": "14.2.5", "url": "https://fnet.bmfbovespa.com.br/fnet/publico/visualizarDocumento?id=993786", "sha256": "fd0fdd369a195510d81f81f505195a0b09e5f43522a990afa7d58c4f872921c8"}], "reference": {"path": "history/60010416000112.json", "criterion_id": "servicing", "total_count": 1, "preview_count": 1, "full_text_deferred": true, "sha256": "8e2bd813f4c51cf01f6bfaad164bafe69d2bbb192f753eac92da3a01c2e63046"}}</a:t>
            </a:r>
          </a:p>
          <a:p>
            <a:r>
              <a:t>CNPJ 62696791000193 · Cobrança e servicing · Regulamento · ID 1143317 · 2026-03-20 · versão 1 · p. 43 · 7.7 · https://fnet.bmfbovespa.com.br/fnet/publico/visualizarDocumento?id=1143317</a:t>
            </a:r>
          </a:p>
          <a:p>
            <a:r>
              <a:t>CNPJ 62696791000193 · Cobrança e servicing · Excerto da fonte:</a:t>
            </a:r>
          </a:p>
          <a:p>
            <a:r>
              <a:t>7.7. Falhas de Cobrança. A cobrança dos Direitos Creditórios do Agronegócio Inadimplidos de  titularidade da Classe depende da atuação diligente do agente de cobrança. Qualquer f alha  de procedimento ou ineficiência do agente de cobrança poderá acarretar menor recebimento  dos recursos devidos pelos Devedores, levando à queda da rentabilidade da Classe.</a:t>
            </a:r>
          </a:p>
          <a:p>
            <a:r>
              <a:t> Adicionalmente, nada garante que a cobrança judicial dos Direitos Creditórios do Agronegócio  Inadimplidos levará à recuperação total dos Direitos Creditórios do Agronegócio Inadimplidos,  o que poderá implicar perdas patrimoniais à Classe e aos Cotistas.</a:t>
            </a:r>
          </a:p>
          <a:p>
            <a:r>
              <a:t>CNPJ 62696791000193 · Cobrança e servicing · Regulamento · ID 1143317 · 2026-03-20 · versão 1 · p. 9 · 3.2 · https://fnet.bmfbovespa.com.br/fnet/publico/visualizarDocumento?id=1143317</a:t>
            </a:r>
          </a:p>
          <a:p>
            <a:r>
              <a:t>CNPJ 62696791000193 · Cobrança e servicing · Excerto da fonte:</a:t>
            </a:r>
          </a:p>
          <a:p>
            <a:r>
              <a:t>3.2 Sem prejuízo de outras despesas que venham a ser aprovadas em Assembleia Especial, são Encargos  da Classe:</a:t>
            </a:r>
          </a:p>
          <a:p>
            <a:r>
              <a:t> (i) despesas com consultoria especializada;</a:t>
            </a:r>
          </a:p>
          <a:p>
            <a:r>
              <a:t> (ii) despesas com agente de cobrança.</a:t>
            </a:r>
          </a:p>
          <a:p>
            <a:r>
              <a:t>CNPJ 62696791000193 · Cobrança e servicing · Condição: Documentos atuais selecionados no inventário por categoria/escopo; a data documental isolada não comprova vigência jurídica.</a:t>
            </a:r>
          </a:p>
          <a:p>
            <a:r>
              <a:t>CNPJ 62696791000193 · Cobrança e servicing · Versão e prevalência: Documentos atuais selecionados no inventário por categoria/escopo; a data documental isolada não comprova vigência jurídica.</a:t>
            </a:r>
          </a:p>
          <a:p>
            <a:r>
              <a:t>CNPJ 55563624000109 · Cobrança e servicing · Regulamento · ID 1192614 · 2026-04-30 · versão 1 · p. 11 · https://fnet.bmfbovespa.com.br/fnet/publico/visualizarDocumento?id=1192614</a:t>
            </a:r>
          </a:p>
          <a:p>
            <a:r>
              <a:t>CNPJ 55563624000109 · Cobrança e servicing · Excerto da fonte:</a:t>
            </a:r>
          </a:p>
          <a:p>
            <a:r>
              <a:t>(vi) Emolumentos e comissões pagas por operações da Carteira da Classe;</a:t>
            </a:r>
          </a:p>
          <a:p>
            <a:r>
              <a:t> (vii) Despesas com a manutenção de ativos cuja propriedade decorra da execução de garantia ou de acordo  com o respectivo devedor;</a:t>
            </a:r>
          </a:p>
          <a:p>
            <a:r>
              <a:t> (viii) Honorários de advogados, custas e despesas processuais correlatas incorridos em defesa dos interesses  do FUNDO ou da Classe, em juízo ou fora dele, inclusive o valor da condenação imputada, se for o caso;</a:t>
            </a:r>
          </a:p>
          <a:p>
            <a:r>
              <a:t> (ix) Gastos derivados da celebração de contratos de seguro sobre os ativos integrantes da Carteira da Classe,  assim como a parcela de prejuízos da Carteira não coberta por apólices de seguro, salvo se decorrente  diretamente de culpa ou dolo dos prestadores de serviços da Classe no exercício de suas respectivas  funções;</a:t>
            </a:r>
          </a:p>
          <a:p>
            <a:r>
              <a:t> (x) Despesas relacionadas ao exercício do direito de voto decorrente dos ativos integrantes da Carteira;</a:t>
            </a:r>
          </a:p>
          <a:p>
            <a:r>
              <a:t> (xi) Despesas com a realização da Assembleia de Cotistas;</a:t>
            </a:r>
          </a:p>
          <a:p>
            <a:r>
              <a:t> (xii) Despesas inerentes à constituição, à fusão, à incorporação, à cisão, à transformação ou à liquidação da  Classe;</a:t>
            </a:r>
          </a:p>
          <a:p>
            <a:r>
              <a:t> (xiii) Despesas com a liquidação, o registro e a custódia de operações com os ativos integrantes da Carteira;</a:t>
            </a:r>
          </a:p>
          <a:p>
            <a:r>
              <a:t> (xiv) Despesas com o fechamento de câmbio, vinculadas às operações da Carteira da Classe;</a:t>
            </a:r>
          </a:p>
          <a:p>
            <a:r>
              <a:t> (xv) Despesas inerentes à distribuição primária das Cotas e à admissão das Cotas à negociação em mercado  organizado;</a:t>
            </a:r>
          </a:p>
          <a:p>
            <a:r>
              <a:t> (xvi) Taxa de Administração e a Taxa de Gestão;</a:t>
            </a:r>
          </a:p>
          <a:p>
            <a:r>
              <a:t> (xvii) Despesas com a contratação de consultoria especializada, conforme o caso;</a:t>
            </a:r>
          </a:p>
          <a:p>
            <a:r>
              <a:t> (xviii) Despesas com a contratação de agente de cobrança, conforme o caso;</a:t>
            </a:r>
          </a:p>
          <a:p>
            <a:r>
              <a:t> (xix) Despesas decorrentes de empréstimos contraídos em nome da Classe, nos termos da Resolução CVM  175 e deste Anexo;</a:t>
            </a:r>
          </a:p>
          <a:p>
            <a:r>
              <a:t> (xx) Taxa mínima de custódia, se houver; e</a:t>
            </a:r>
          </a:p>
          <a:p>
            <a:r>
              <a:t> (xxi) Montantes devidos a fundos investidores, na hipótese de remuneração com base na taxa de  administração, performance ou gestão, observado o disposto no art. 99 da parte geral da Resolução  CVM 175.</a:t>
            </a:r>
          </a:p>
          <a:p>
            <a:r>
              <a:t>CNPJ 55563624000109 · Cobrança e servicing · Condição: Documentos atuais selecionados no inventário por categoria/escopo; a data documental isolada não comprova vigência jurídica.</a:t>
            </a:r>
          </a:p>
          <a:p>
            <a:r>
              <a:t>CNPJ 55563624000109 · Cobrança e servicing · Motivo: Cláusula primária localizada e citada, mas sua lista/condições extensas não admitem uma síntese literal curta confirmada. O trecho integral permanece nas fontes.</a:t>
            </a:r>
          </a:p>
          <a:p>
            <a:r>
              <a:t>CNPJ 55563624000109 · Cobrança e servicing · Versão e prevalência: Documentos atuais selecionados no inventário por categoria/escopo; a data documental isolada não comprova vigência jurídica.</a:t>
            </a:r>
          </a:p>
          <a:p>
            <a:r>
              <a:t>CNPJ 62552447000120 · Cobrança e servicing · Regulamento · ID 1200623 · 2026-05-21 · versão 1 · p. 6 · https://fnet.bmfbovespa.com.br/fnet/publico/visualizarDocumento?id=1200623</a:t>
            </a:r>
          </a:p>
          <a:p>
            <a:r>
              <a:t>CNPJ 62552447000120 · Cobrança e servicing · Excerto da fonte:</a:t>
            </a:r>
          </a:p>
          <a:p>
            <a:r>
              <a:t>integrantes do conglomerado econômico de instituições  f inanceiras classificadas como S1 pelo Banco Central do  Brasil (“BACEN” e “Instituições Financeiras S1”,  respectivamente), desde que não representem títulos de  emissão ou coobrigação de instituições financeiras, bem  como cotas de f undos de investimento que invistam  preponderantemente nestes direitos, títulos e/ou valores  mobiliários; e</a:t>
            </a:r>
          </a:p>
          <a:p>
            <a:r>
              <a:t> (d) “Direitos Creditórios Refinanciamento Livre”, na forma  de CCBs originadas no âmbito de um refinanciamento, de  acordo com a política de cobrança vigente, de Direitos  Creditórios Consignado Privado e de Direitos Creditórios  FGTS, que não contem com o lastro de Consignação ou  de cessão f iduciária do Saque-Aniversário,  respectivamente; e</a:t>
            </a:r>
          </a:p>
          <a:p>
            <a:r>
              <a:t> (ii) “Ativos Financeiros”, assim entendidos como, em conjunto:</a:t>
            </a:r>
          </a:p>
          <a:p>
            <a:r>
              <a:t> (a) moeda corrente nacional;</a:t>
            </a:r>
          </a:p>
          <a:p>
            <a:r>
              <a:t> (b) títulos públicos f ederais;</a:t>
            </a:r>
          </a:p>
          <a:p>
            <a:r>
              <a:t> (c) ativos f inanceiros de renda f ixa de emissão ou  coobrigação de Instituições Financeiras S1;</a:t>
            </a:r>
          </a:p>
          <a:p>
            <a:r>
              <a:t> (d) operações compromissadas, desde que lastreadas nos  títulos mencionados nas alíneas (b) e (c) acima; e</a:t>
            </a:r>
          </a:p>
          <a:p>
            <a:r>
              <a:t> (e) cotas do BTG Pactual Tesouro Selic Fundo de  Investimento Renda Fixa Ref erenciado DI, inscrito no  CNPJ sob o nº 09.215.250/0001-13;</a:t>
            </a:r>
          </a:p>
          <a:p>
            <a:r>
              <a:t> observados todos os limites de composição e diversificação da carteira da  Classe (“Carteira”), estabelecidos neste Regulamento e na  regulamentação aplicável.</a:t>
            </a:r>
          </a:p>
          <a:p>
            <a:r>
              <a:t> O objetivo da Classe não representa, sob qualquer hipótese, promessa,  garantia ou sugestão da Classe ou de seus Prestadores de Serviços  Essenciais quanto à segurança, rentabilidade e liquidez dos títulos  componentes de sua Carteira.</a:t>
            </a:r>
          </a:p>
          <a:p>
            <a:r>
              <a:t>CNPJ 62552447000120 · Cobrança e servicing · Regulamento · ID 1200623 · 2026-05-21 · versão 1 · p. 7 · https://fnet.bmfbovespa.com.br/fnet/publico/visualizarDocumento?id=1200623</a:t>
            </a:r>
          </a:p>
          <a:p>
            <a:r>
              <a:t>CNPJ 62552447000120 · Cobrança e servicing · Excerto da fonte:</a:t>
            </a:r>
          </a:p>
          <a:p>
            <a:r>
              <a:t>(c) atendam, pro forma, na Data de Aquisição, aos  limites de concentração definidos no Capítulo 4 deste  Anexo I;</a:t>
            </a:r>
          </a:p>
          <a:p>
            <a:r>
              <a:t> (d) não haver disposição legal ou regulamentar  aprovada, ou ordem judicial ou administrativa  emitida, que tenha como objetivo impedir ou impor  limites ou exigências adicionais para o endosso de  Direitos Creditórios decorrentes de transações  dedutíveis da f olha de pagamento a f undos de  investimento;</a:t>
            </a:r>
          </a:p>
          <a:p>
            <a:r>
              <a:t> (e) atendam à Política de Crédito e, conforme aplicável,  à Política de Cobrança; e</a:t>
            </a:r>
          </a:p>
          <a:p>
            <a:r>
              <a:t>CNPJ 62552447000120 · Cobrança e servicing · Regulamento · ID 1200623 · 2026-05-21 · versão 1 · p. 3 · 2.1.2 · https://fnet.bmfbovespa.com.br/fnet/publico/visualizarDocumento?id=1200623</a:t>
            </a:r>
          </a:p>
          <a:p>
            <a:r>
              <a:t>CNPJ 62552447000120 · Cobrança e servicing · Excerto da fonte:</a:t>
            </a:r>
          </a:p>
          <a:p>
            <a:r>
              <a:t>2.1.2 Não obstante as atribuições previstas neste Regulamento e na regulamentação aplicável, cabe  ao Gestor praticar os atos necessários à gestão da Carteira. Assim, em linha com o art. 85 da  Parte Geral da Resolução CVM 175 e com o art. 32 do Anexo Normativo II, o Gestor pode  contratar, em nome do Fundo e/ou da Classe, os seguintes serviços: (a) intermediação de  operações para a Carteira; (b) distribuição de Cotas; (c) consultoria de investimentos; (d)  classificação de risco por agência classificadora de risco; (e) cogestão da Carteira; (f) formador  de mercado; e, eventualmente, (g) consultoria especializada; (h) agente de cobrança, e (i)  outros serviços em benef ício do Fundo ou da classe.</a:t>
            </a:r>
          </a:p>
          <a:p>
            <a:r>
              <a:t>CNPJ 62552447000120 · Cobrança e servicing · Condição: Documentos atuais selecionados no inventário por categoria/escopo; a data documental isolada não comprova vigência jurídica.</a:t>
            </a:r>
          </a:p>
          <a:p>
            <a:r>
              <a:t>CNPJ 62552447000120 · Cobrança e servicing · Versão e prevalência: Documentos atuais selecionados no inventário por categoria/escopo; a data documental isolada não comprova vigência jurídica.</a:t>
            </a:r>
          </a:p>
          <a:p>
            <a:r>
              <a:t>CNPJ 63953620000165 · Cobrança e servicing · Anexo ao Regulamento · ID 1222863 · 2026-06-02 · versão 1 · p. 8 · 4.25 · https://fnet.bmfbovespa.com.br/fnet/publico/visualizarDocumento?id=1222863</a:t>
            </a:r>
          </a:p>
          <a:p>
            <a:r>
              <a:t>CNPJ 63953620000165 · Cobrança e servicing · Excerto da fonte:</a:t>
            </a:r>
          </a:p>
          <a:p>
            <a:r>
              <a:t>4.25 É vedada qualquer forma de antecipação de recursos às Cedentes/aos Endossantes para posterior reembolso  pela Classe, seja pelo Administrador, Gestor, Custodiante, Consultora ou Agente de Cobrança.</a:t>
            </a:r>
          </a:p>
          <a:p>
            <a:r>
              <a:t>CNPJ 63953620000165 · Cobrança e servicing · Condição: Documentos atuais selecionados no inventário por categoria/escopo; a data documental isolada não comprova vigência jurídica.</a:t>
            </a:r>
          </a:p>
          <a:p>
            <a:r>
              <a:t>CNPJ 63953620000165 · Cobrança e servicing · Versão e prevalência: Documentos atuais selecionados no inventário por categoria/escopo; a data documental isolada não comprova vigência jurídica.</a:t>
            </a:r>
          </a:p>
          <a:p>
            <a:r>
              <a:t>CNPJ 63953620000165 · Cobrança e servicing · Resumo do histórico: {"count": 6, "dates": ["2026-04-28", "2026-05-08", "2026-05-15"], "document_count": 3, "sources": [{"document_id": "1327859", "title": "Demonstrações Financeiras - Fusão, cisão e incorporação", "reference_date": "2026-05-15", "version": "1", "page": 29, "url": "https://fnet.bmfbovespa.com.br/fnet/publico/visualizarDocumento?id=1327859", "sha256": "dca1c68babb97f887528c3e2e47596a9c30f507b067981a35655b2f2da9c8054"}, {"document_id": "1298691", "title": "Demonstrações Financeiras - Fusão, cisão e incorporação", "reference_date": "2026-05-08", "version": "1", "page": 5, "url": "https://fnet.bmfbovespa.com.br/fnet/publico/visualizarDocumento?id=1298691", "sha256": "58c570d9b8d4d265330d3db3ea81c435b8e44a6dab4002aa37790652a1ee9819"}, {"document_id": "1282180", "title": "Demonstrações Financeiras - Fusão, cisão e incorporação", "reference_date": "2026-04-28", "version": "1", "page": 30, "url": "https://fnet.bmfbovespa.com.br/fnet/publico/visualizarDocumento?id=1282180", "sha256": "afaaa0e6809be4385e5bdb6c911aac582032c5bdbac3d7750234bf9eaf00438a"}], "reference": {"path": "history/63953620000165.json", "criterion_id": "servicing", "total_count": 6, "preview_count": 3, "full_text_deferred": true, "sha256": "a7b89077f5e21098c2d601c303faabc3ff6b9729f89d8afecdc60fe1404720c1"}}</a:t>
            </a:r>
          </a:p>
          <a:p>
            <a:r>
              <a:t>CNPJ 54871427000194 · Conta de arrecadação e risco de trânsito · Regulamento · ID 670691 · 28/04/2024 · versão Regulamento — referência 28/04/2024 · p. 9 · Anexo I, 4.3 e 4.6 · https://fnet.bmfbovespa.com.br/fnet/publico/visualizarDocumento?id=670691</a:t>
            </a:r>
          </a:p>
          <a:p>
            <a:r>
              <a:t>CNPJ 54871427000194 · Conta de arrecadação e risco de trânsito · Excerto da fonte:</a:t>
            </a:r>
          </a:p>
          <a:p>
            <a:r>
              <a:t>4.3 Os pagamentos relativos aos Direitos Creditórios de titularidade da Classe serão realizados mediante consignação em folha, débito em conta de titularidade dos Devedores e pagamentos de sinistros, para pagamento dos valores correspondentes às parcelas das CCBs representadas pelos CCCBs de titularidade da Classe, os quais serão conciliados e repassados pelo Endossante para a conta corrente da Classe. 4.4 Os Direitos Creditórios deverão contar com Documentos Comprobatórios que evidenciem sua existência, validade e exequibilidade perante os respectivos Devedores . 4.4.1 Os Direitos Creditórios serão adquiridos pela Classe por meio de Contrato de Endosso f irmados entre a Classe e o Endossante e os respectivos Termos de Endosso, acompanhados de todos os direitos, privilégios, preferências, prerrogativas, ações e garantias assegurados aos seus titulares, observada a Política de Investimentos e as demais disposições deste Regulamento e da legislação e regulamentação aplicáveis. 4.5 O Endossante deverá realizar análise cadastral e de crédito dos Devedores, previamente à aquisição de Direitos Creditórios pela Classe. O disposto neste item não impede o ADMINISTRAD</a:t>
            </a:r>
          </a:p>
          <a:p>
            <a:r>
              <a:t>CNPJ 54871427000194 · Conta de arrecadação e risco de trânsito · Regulamento · ID 670691 · 28/04/2024 · versão Regulamento — referência 28/04/2024 · p. 9 · Anexo I, 4.6 · https://fnet.bmfbovespa.com.br/fnet/publico/visualizarDocumento?id=670691</a:t>
            </a:r>
          </a:p>
          <a:p>
            <a:r>
              <a:t>CNPJ 54871427000194 · Conta de arrecadação e risco de trânsito · Excerto da fonte:</a:t>
            </a:r>
          </a:p>
          <a:p>
            <a:r>
              <a:t>4.6 A cobrança ordinária e recebimento de Direitos Creditórios pela Classe é realizada mediante a liquidação dos recursos através de débito dos salários a receber pelos Devedores do órgão consignante ou através da consignação direto da folha, sendo certo que o GESTOR e/ou o Custodiante f arão o monitoramento do pagamento dos Direitos Creditórios através da validação do Arquivo de Liquidação, do Relatório de Repasse, e consulta oriunda do sistema da processadora conveniada ao órgão consignante, responsável pela consignação em f olha de pagamento ou de benef ício dos Devedores (averbação, débito e repasse). Critérios de Elegibilidade 4.7 A Classe somente poderá adquirir os Direitos Creditórios que atendam cumulativamente aos seguintes Critérios de Elegibilidade, a serem verif icados e validados pelo GESTOR, de f orma individualizada e integral, previamente à cessão e na respectiva Data de Aquisição, de modo que apenas são passíveis de aquisição pela Classe os Direitos Creditórios que, na Data de Aquisição: (i) CCBs sem qualquer parcela cedida; (ii) CCBs com diferença menor que 60 (sessenta) dias entre a data provável do endosso e a próxima parcela a vencer;</a:t>
            </a:r>
          </a:p>
          <a:p>
            <a:r>
              <a:t>CNPJ 54871427000194 · Conta de arrecadação e risco de trânsito · Condição: A mecânica prevê passagem dos recursos pelo endossante; o regulamento não estabelece, nesta cláusula, repasse direto automático pelo órgão consignante.</a:t>
            </a:r>
          </a:p>
          <a:p>
            <a:r>
              <a:t>CNPJ 54871427000194 · Conta de arrecadação e risco de trânsito · Versão e prevalência: Leitura específica das cláusulas indicadas; condições e conflitos preservados. Seleção documental atual não comprova vigência jurídica por data isolada.</a:t>
            </a:r>
          </a:p>
          <a:p>
            <a:r>
              <a:t>CNPJ 54871427000194 · Conta de arrecadação e risco de trânsito · Resumo do histórico: {"count": 1, "dates": ["2024-04-19"], "document_count": 1, "sources": [{"document_id": "670689", "title": "Regulamento", "reference_date": "2024-04-19", "version": "1", "page": 25, "url": "https://fnet.bmfbovespa.com.br/fnet/publico/visualizarDocumento?id=670689", "sha256": "891bc9bc5d87bbc02ec139077a84d2702eb81ea02035fb71d24f5b8366b94a0b"}], "reference": {"path": "history/54871427000194.json", "criterion_id": "collection_account", "total_count": 1, "preview_count": 1, "full_text_deferred": true, "sha256": "35d7cd99be50c7287c9fb675cf4f2e736002315295a225a9efa79c8d9186d874"}}</a:t>
            </a:r>
          </a:p>
          <a:p>
            <a:r>
              <a:t>CNPJ 60010416000112 · Conta de arrecadação e risco de trânsito · Regulamento · ID 1051393 · 2025-10-09 · versão 1 · p. 32 · 14.2.1 · https://fnet.bmfbovespa.com.br/fnet/publico/visualizarDocumento?id=1051393</a:t>
            </a:r>
          </a:p>
          <a:p>
            <a:r>
              <a:t>CNPJ 60010416000112 · Conta de arrecadação e risco de trânsito · Excerto da fonte:</a:t>
            </a:r>
          </a:p>
          <a:p>
            <a:r>
              <a:t>14.2.1 Os valores indicados nos Arquivos Dataprev em relação aos Direitos Creditórios endossados à  Classe e depositados mensalmente pela CEF na Conta Vinculada serão cobrados/recebidos da  seguinte f orma:</a:t>
            </a:r>
          </a:p>
          <a:p>
            <a:r>
              <a:t> (i) mensalmente, após o processamento da f olha de pagamento dos Devedores, a Dataprev  enviará os Arquivos Dataprev ao Endossante;</a:t>
            </a:r>
          </a:p>
          <a:p>
            <a:r>
              <a:t> (ii) ao receber os Arquivos Dataprev, o Endossante os disponibilizará ao Custodiante e ao  Agente de Retenção/Cobrança, através de uma interf ace de programação de aplicações  (API), no mesmo dia que forem disponibilizados pela Dataprev, ou no Dia Útil subsequente,  se f orem disponibilizados pela Dataprev após 16:00 (horário de Brasília) sem f azer qualquer  modif icação em suas respectivas inf ormações;</a:t>
            </a:r>
          </a:p>
          <a:p>
            <a:r>
              <a:t> (iii) até 2º (segundo) Dia Útil após o recebimento dos valores repassados pelos Empregadores,  a CEF ef etuará uma transf erência eletrônica disponível (TED) diretamente para a Conta  Vinculada relevante com o valor declarado no Arquivo de Consignações;</a:t>
            </a:r>
          </a:p>
          <a:p>
            <a:r>
              <a:t> (iv) o Endossante, na qualidade de Agente da Conta Vinculada, transferirá os valores devidos  à Classe para a Conta de Cobrança da Classe, de acordo com o Contrato de Conta  Vinculada; e</a:t>
            </a:r>
          </a:p>
          <a:p>
            <a:r>
              <a:t> (v) tendo recebido os Arquivos Dataprev e os valores indicados no item (iv), o Custodiante  realizará a reconciliação dos valores devidos à Classe e/ou ao Endossante.</a:t>
            </a:r>
          </a:p>
          <a:p>
            <a:r>
              <a:t>CNPJ 60010416000112 · Conta de arrecadação e risco de trânsito · Regulamento · ID 1051393 · 2025-10-09 · versão 1 · p. 28 · https://fnet.bmfbovespa.com.br/fnet/publico/visualizarDocumento?id=1051393</a:t>
            </a:r>
          </a:p>
          <a:p>
            <a:r>
              <a:t>CNPJ 60010416000112 · Conta de arrecadação e risco de trânsito · Excerto da fonte:</a:t>
            </a:r>
          </a:p>
          <a:p>
            <a:r>
              <a:t>Anexo I ao Regulamento CLASSE ÚNICA DO MT I CONSIGNADO PRIVADO I FUNDO DE INVESTIMENTO EM DIREITOS CREDITÓRIOS RESPONSABILIDADE LIMITADA  Documentos Comprobatórios e os Documentos Suporte que comprovam a operação, observados os  procedimentos operacionais da Entidade Registradora;</a:t>
            </a:r>
          </a:p>
          <a:p>
            <a:r>
              <a:t> (ii) receber, em nome da Classe, pagamentos de Direitos Creditórios, amortização ou resgate de Ativos  Financeiros ou qualquer outro rendimento dos ativos mantidos em custódia, mediante o recebimento  de valores diretamente na Conta de Cobrança da Classe ou transf eridos da Conta Vinculada;</a:t>
            </a:r>
          </a:p>
          <a:p>
            <a:r>
              <a:t> (iii) cobrar e receber, em nome da Classe, pagamentos, resgate de títulos ou qualquer outro rendimento  relativo aos ativos da Carteira, depositando os valores recebidos diretamente em conta de titularidade  da classe ou, se f or o caso, em conta-vinculada;</a:t>
            </a:r>
          </a:p>
          <a:p>
            <a:r>
              <a:t> (iv) realizar a guarda da documentação relativa ao lastro dos Direitos Creditórios;</a:t>
            </a:r>
          </a:p>
          <a:p>
            <a:r>
              <a:t> (v) realizar a reconciliação dos valores depositados na Conta de Cobrança da Classe;</a:t>
            </a:r>
          </a:p>
          <a:p>
            <a:r>
              <a:t> (vi)</a:t>
            </a:r>
          </a:p>
          <a:p>
            <a:r>
              <a:t> (vii) assegurar que inconsistências indicadas nos relatórios de verif icação dos Documentos  Comprobatórios e dos Documentos Suporte representativos dos Direitos Creditórios e seu endosso  à Classe sejam tratadas tempestivamente.</a:t>
            </a:r>
          </a:p>
          <a:p>
            <a:r>
              <a:t>CNPJ 60010416000112 · Conta de arrecadação e risco de trânsito · Regulamento · ID 1051393 · 2025-10-09 · versão 1 · p. 39 · https://fnet.bmfbovespa.com.br/fnet/publico/visualizarDocumento?id=1051393</a:t>
            </a:r>
          </a:p>
          <a:p>
            <a:r>
              <a:t>CNPJ 60010416000112 · Conta de arrecadação e risco de trânsito · Excerto da fonte:</a:t>
            </a:r>
          </a:p>
          <a:p>
            <a:r>
              <a:t>Anexo I ao Regulamento CLASSE ÚNICA DO MT I CONSIGNADO PRIVADO I FUNDO DE INVESTIMENTO EM DIREITOS CREDITÓRIOS RESPONSABILIDADE LIMITADA  da Classe e, de forma extraordinária, para a Conta de Movimentação da Classe. Em caso de  intervenção ou liquidação extrajudicial das instituições f inanceiras onde a Conta de Cobrança  da Classe e a Conta de Movimentação da Classe são mantidas, os fundos nelas depositados  poderão ser bloqueados e recuperados pela Classe somente através de uma ordem judicial,  o que af etaria seu retorno e poderia causar perda de parte de seus ativos.</a:t>
            </a:r>
          </a:p>
          <a:p>
            <a:r>
              <a:t> (ix) Risco de bloqueio da Conta Vinculada: a Conta Vinculada para a qual os recursos  provenientes do pagamento dos Direitos Creditórios serão direcionados poderá ser  bloqueada, dentre outros, (i) no caso de intervenção ou liquidação extrajudicial do  Endossante, ou (ii) no caso de decisões judiciais serem proferidas em demandas ajuizadas  contra o Endossante, determinando o bloqueio. Em qualquer desses eventos, esses recursos  de propriedade da Classe só poderão ser recuperados em juízo. Essa recuperação poderá  levar tempo para ser ef etuada ou mesmo não obter êxito, o que af etaria a rentabilidade da  Classe e poderia f azê-lo perder parte de seus ativos.</a:t>
            </a:r>
          </a:p>
          <a:p>
            <a:r>
              <a:t> (x) Risco de patrimônio líquido negativo: as estratégias de investimento adotadas pela  Classe, bem como o pagamento de remuneração aos prestadores de serviços da Classe,  podem f azer com que seu Patrimônio Líquido se torne negativo, hipótese em que o Cotista  poderá ser solicitado a f azer aportes adicionais de recursos, a f im de permitir que a Classe  cumpra suas obrigações.</a:t>
            </a:r>
          </a:p>
          <a:p>
            <a:r>
              <a:t> (xi) Risco de cobrança judicial ou extrajudicial: quando não f orem pagos os Direitos  Creditórios que compõem a Carteira, poderá haver cobrança judicial ou extrajudicial dos  valores devidos, mediante decisão dos Cotistas na Assembleia de Cotistas nos termos desse  Anexo I. Entretanto, não há garantia de que, em qualquer desses casos, os procedimentos  de cobrança acima mencionados serão aprovados na Assembleia Especial de Cotistas e,  caso aprovados, de que tais procedimentos atingirão os resultados desejados, nem de que  a Classe terá êxito em recuperar quaisquer valores inadimplidos, o que poderá resultar em  perdas para a Classe.</a:t>
            </a:r>
          </a:p>
          <a:p>
            <a:r>
              <a:t> (xii) Possibilidade de conflito de interesses entre a Classe e o Agente de  Retenção/Cobrança. O Agente de Retenção/Cobrança eventualmente possui ou pode vir a  possuir relacionamento comercial com o Endossante e/ou Devedores, de modo que, em  determinadas circunstâncias seus interesses podem ser conflitantes com os interesses da  Classe. Não é possível garantir que, materializada uma situação de conflito de interesses  conf orme descrita acima, o Agente de Retenção/Cobrança exponha-a adequadamente ao  Administrador e/ou aos Cotistas, ou que o faça absolutamente, tampouco que agirá no melhor  no interesse da Classe. Nesses casos, a Classe pode vir a adquirir Direitos Creditórios ou  pode vir a ter seus Direitos Creditórios Inadimplidos pagos em condições comparativamente  menos vantajosas àquelas que seriam verificadas na ausência de tais conflitos de interesses.</a:t>
            </a:r>
          </a:p>
          <a:p>
            <a:r>
              <a:t> Nesses casos, o Patrimônio Líquido pode ser af etado adversamente.</a:t>
            </a:r>
          </a:p>
          <a:p>
            <a:r>
              <a:t> (xiii) Risco de intervenção ou liquidação judicial do Administrador. A Classe está sujeito ao  risco dos efeitos de decretação de intervenção ou de liquidação judicial do Administrador e/ou  do Custodiante, nos termos da Lei nº 6.024, de 13 de março de 1974, conf orme alterada.</a:t>
            </a:r>
          </a:p>
          <a:p>
            <a:r>
              <a:t> (xiv) Patrimônio Líquido negativo. Os investimentos da Classe estão, por sua natureza, sujeitos  a f lutuações típicas de mercado, risco de crédito, risco sistêmico, condições adversas de  liquidez e negociação atípica nos mercados de atuação, sendo que não há garantia de  completa eliminação da possibilidade de perdas para a Classe e para os Cotistas. Além disso,  as estratégias de investimento adotadas pela Classe poderão f azer com que a Classe  apresente Patrimônio Líquido negativo, caso em que os Cotistas poderão ser chamados a  realizar aportes adicionais de recursos, de f orma a possibilitar que a Classe satisfaça suas  obrigações.</a:t>
            </a:r>
          </a:p>
          <a:p>
            <a:r>
              <a:t>CNPJ 60010416000112 · Conta de arrecadação e risco de trânsito · Condição: Documentos atuais selecionados no inventário por categoria/escopo; a data documental isolada não comprova vigência jurídica.</a:t>
            </a:r>
          </a:p>
          <a:p>
            <a:r>
              <a:t>CNPJ 60010416000112 · Conta de arrecadação e risco de trânsito · Versão e prevalência: Documentos atuais selecionados no inventário por categoria/escopo; a data documental isolada não comprova vigência jurídica.</a:t>
            </a:r>
          </a:p>
          <a:p>
            <a:r>
              <a:t>CNPJ 60010416000112 · Conta de arrecadação e risco de trânsito · Resumo do histórico: {"count": 1, "dates": ["2025-03-20"], "document_count": 1, "sources": [{"document_id": "993786", "title": "Regulamento", "reference_date": "2025-03-20", "version": "1", "page": 32, "clause": "14.2.1", "url": "https://fnet.bmfbovespa.com.br/fnet/publico/visualizarDocumento?id=993786", "sha256": "fd0fdd369a195510d81f81f505195a0b09e5f43522a990afa7d58c4f872921c8"}], "reference": {"path": "history/60010416000112.json", "criterion_id": "collection_account", "total_count": 1, "preview_count": 1, "full_text_deferred": true, "sha256": "8e2bd813f4c51cf01f6bfaad164bafe69d2bbb192f753eac92da3a01c2e63046"}}</a:t>
            </a:r>
          </a:p>
          <a:p>
            <a:r>
              <a:t>CNPJ 62696791000193 · Conta de arrecadação e risco de trânsito · Motivo: Não localizada uma cláusula material para este critério nos textos identificados e processados. A ausência de resultado não comprova inexistência da regra.</a:t>
            </a:r>
          </a:p>
          <a:p>
            <a:r>
              <a:t>CNPJ 55563624000109 · Conta de arrecadação e risco de trânsito · Motivo: Não localizada uma cláusula material para este critério nos textos identificados e processados. A ausência de resultado não comprova inexistência da regra.</a:t>
            </a:r>
          </a:p>
          <a:p>
            <a:r>
              <a:t>CNPJ 62552447000120 · Conta de arrecadação e risco de trânsito · Regulamento · ID 1200623 · 2026-05-21 · versão 1 · p. 37 · https://fnet.bmfbovespa.com.br/fnet/publico/visualizarDocumento?id=1200623</a:t>
            </a:r>
          </a:p>
          <a:p>
            <a:r>
              <a:t>CNPJ 62552447000120 · Conta de arrecadação e risco de trânsito · Excerto da fonte:</a:t>
            </a:r>
          </a:p>
          <a:p>
            <a:r>
              <a:t>operacional dos Direitos Creditórios Consignado Privado e dos Direitos Creditórios FGTS dependem de certif icações e habilitações do Endossante junto à Dataprev e à CEF, respectivamente. O Endossante deve observar as regras aplicáveis a cada Direito Creditório para a manutenção da sua habilitação, que, portanto, pode ser af etada em caso de descumprimento ou de mudança normativa. Nesses casos, a estrutura de cobrança dos Direitos Creditórios Consignado Privado e dos Direitos Creditórios FGTS poderá ser comprometida, dando origem à necessidade de adoção de uma nova estrutura, que poderá não ser tão eficaz quanto ela ou mesmo revelar, na prática, ser inadequada ou ter altos custos operacionais . Esses eventos podem levar a perdas patrimoniais para a Classe, na medida em que a Classe deixará de receber, definitiva ou temporariamente, recursos oriundos desses Direitos Creditórios, no todo ou em parte.</a:t>
            </a:r>
          </a:p>
          <a:p>
            <a:r>
              <a:t>(vii) Risco de fungibilidade: o pagamento dos Direitos Creditórios serão inicialmente realizados em conta liquidante do Endossante por meio de transferência de reserva bancária, sendo automaticamente transferido à Conta Vinculada na sua integralidade, também de titularidade do Endoss ante, o qual será responsável por realizar a conciliação dos valores e repassá-los à Conta da Classe. Enquanto os recursos não f orem transf eridos para a Classe, a Classe estará correndo o risco de crédito do Endossante, e no caso de qualquer evento de crédito do Endossante, como intervenção, liquidação extrajudicial, falência ou outros procedimentos para proteção de credores, a Classe poderá não receber os valores devidos a ele, e poderá incorrer em custos adicionais para recuperar esses valores. Além disso, em caso de intervenção, liquidação extrajudicial, falência, execução ou outro procedimento similar para proteção de credores envolvendo o Endossante, os valores depositados de tempos em tempos na conta liquidante do Endossante por meio de transferência d e reserva bancária, e automaticamente transferidos à Conta Vinculada, poderão ser bloqueados, por ordem judicial ou administrativa, o que poderá causar prejuízos à Classe e ao Cotista.</a:t>
            </a:r>
          </a:p>
          <a:p>
            <a:r>
              <a:t>Risco de descontinuidade</a:t>
            </a:r>
          </a:p>
          <a:p>
            <a:r>
              <a:t>(i) Risco de descontinuidade: a Classe poderá ser liquidada antecipadamente, dentre outros, caso ocorra um Evento de Liquidação. Portanto, o Cotista poderá ter sua perspectiva original de investimento reduzida e não ser capaz de reinvestir os recursos recebidos com a mesma remuneração gerada pela Classe, e nenhuma multa ou penalidade, de qualquer f orma, devido a esse f ato, será devida pela Classe, o Administrador, o Custodiante, o Coordenador Líder, o Gestor, o Agente de Retenção e Cobrança ou o Endossante.</a:t>
            </a:r>
          </a:p>
          <a:p>
            <a:r>
              <a:t>Riscos decorrentes do Regime de Amortização</a:t>
            </a:r>
          </a:p>
          <a:p>
            <a:r>
              <a:t>(i) Risco decorrente da ordem de alocação das distribuições: conforme previsto neste Anexo, as Cotas estarão sujeitas à Amortização de acordo com a ordem de alocação prevista no Capítulo 7. Portanto, o Cotista poderá ter sua perspectiva original de investimento reduzida e não poderá reinvestir os recursos recebidos com a mesma remuneração gerada pela Classe.</a:t>
            </a:r>
          </a:p>
          <a:p>
            <a:r>
              <a:t>Riscos do originador e da originação</a:t>
            </a:r>
          </a:p>
          <a:p>
            <a:r>
              <a:t>(i) Riscos do originador e da originação: a continuidade da Classe poderá ser comprometida no caso de inconstância na concessão de empréstimos pelo Endossante aos Devedores ou incapacidade do Agente de Retenção e Cobrança operacionalizar a Plataf orma VR, através da qual os Direitos Creditórios são originados. Portanto, o investimento na Classe está sujeito ao risco de não originação, no f uturo, de Direitos Creditórios pelo Endossante contra os Devedores através da Plataforma VR, disponibilizada pelo Agente de Retenção e Cobrança. Se isso acontecer, a originação dos Direitos Creditórios pelo Endossante poderá ser impactada negativamente ou mesmo impossibilitada, o que poderá gerar a liquidação antecipada da Classe.</a:t>
            </a:r>
          </a:p>
          <a:p>
            <a:r>
              <a:t>Além disso, a Classe poderá adquirir Direitos Creditórios que f oram originados em conformidade com o processo de originação e/ou políticas de concessão de crédito desenvolvidos e monitorados pelo Endossante.</a:t>
            </a:r>
          </a:p>
          <a:p>
            <a:r>
              <a:t>Entretanto, não é possível assegurar que o cumprimento dessas diretrizes garanta a qualidade dos Direitos Creditórios e/ou a solvência dos respectivos Devedores, ou que as diretrizes e parâmetros estabelecidos no Capítulo 13 sejam corretamente interpretados e aplicados quando a Classe fizer os investimentos. Além disso, se o Endossante deixar de existir ou estiver sujeito a uma ordem de intervenção, liquidação extrajudicial ou regime especial ou gestão temporária ou evento similar, a Classe será impactado também pelo f ato de que a Conta Vinculada na qual as transf erências f eitas pela CEF f oram depositadas f oi aberta em nome do Endossante. Neste caso, a Classe poderá sofrer perdas principalmente em relação ao atraso na regularização</a:t>
            </a:r>
          </a:p>
          <a:p>
            <a:r>
              <a:t>CNPJ 62552447000120 · Conta de arrecadação e risco de trânsito · Condição: Documentos atuais selecionados no inventário por categoria/escopo; a data documental isolada não comprova vigência jurídica.</a:t>
            </a:r>
          </a:p>
          <a:p>
            <a:r>
              <a:t>CNPJ 62552447000120 · Conta de arrecadação e risco de trânsito · Motivo: Cláusula primária localizada e citada, mas sua lista/condições extensas não admitem uma síntese literal curta confirmada. O trecho integral permanece nas fontes.</a:t>
            </a:r>
          </a:p>
          <a:p>
            <a:r>
              <a:t>CNPJ 62552447000120 · Conta de arrecadação e risco de trânsito · Versão e prevalência: Documentos atuais selecionados no inventário por categoria/escopo; a data documental isolada não comprova vigência jurídica.</a:t>
            </a:r>
          </a:p>
          <a:p>
            <a:r>
              <a:t>CNPJ 63953620000165 · Conta de arrecadação e risco de trânsito · Anexo ao Regulamento · ID 1222863 · 2026-06-02 · versão 1 · p. 28 · https://fnet.bmfbovespa.com.br/fnet/publico/visualizarDocumento?id=1222863</a:t>
            </a:r>
          </a:p>
          <a:p>
            <a:r>
              <a:t>CNPJ 63953620000165 · Conta de arrecadação e risco de trânsito · Excerto da fonte:</a:t>
            </a:r>
          </a:p>
          <a:p>
            <a:r>
              <a:t>Creditórios endossados à Classe não sejam pagos integralmente pelos respectivos Devedores em virtude  de qualquer problema de natureza comercial entre o Devedor e o Endossante, e este último não reembolse  à Classe o montante em moeda nacional correspondente ao valor dos Direitos Creditórios mencionados,  os resultados da Classe poderão ser afetados negativamente.</a:t>
            </a:r>
          </a:p>
          <a:p>
            <a:r>
              <a:t> Outros Riscos</a:t>
            </a:r>
          </a:p>
          <a:p>
            <a:r>
              <a:t> (i) Risco relativo à elegibilidade dos Direitos Creditórios: mesmo que os Direitos Creditórios cumpram com  todas as condições de endosso e declarações e garantias estabelecidas no Contrato de Endosso e os  Critérios de Elegibilidade aqui estabelecidos, não é possível afirmar que essas condições de endosso,  declarações e garantias e os Critérios de Elegibilidade sejam suficientes para garantir a satisfação e o  pagamento dos Direitos Creditórios. Além disso, não é possível assegurar que o Gestor verificará  adequadamente a conformidade dos Direitos Creditórios com os Critérios de Elegibilidade e as condições  de endosso, ou que as declarações e garantias prestadas pelo Endossante e pelo Agente de  Retenção/Cobrança em relação aos Direitos Creditórios sejam verdadeiras e exatas. A verificação  inadequada dos Elegibilidade e das condições de endosso, bem como a falsidade ou inexatidão das  declarações e garantias referentes aos Direitos Creditórios poderão resultar na compra de Direitos  Creditórios inelegíveis pela Classe, e as medidas disponíveis no âmbito do Contrato de Endosso poderão  não ser suficientes para manter a Classe protegida de perdas decorrentes de tal verificação inadequada ou  falsidade/inexatidão. Caso os Direitos Creditórios não sejam pagos pontualmente pelos Devedores ou os  Direitos Creditórios não tenham o desempenho esperado pela Classe, o patrimônio da Classe poderá ser  afetado adversamente.</a:t>
            </a:r>
          </a:p>
          <a:p>
            <a:r>
              <a:t> (ii) Risco de invalidade ou ineficácia do endosso: o endosso dos Direitos Creditórios à Classe poderá ser  invalidada ou considerada ineficaz, o que impacta negativamente o patrimônio da Classe, no caso de (a)  fraude contra credores, se no momento do endosso o Endossante for insolvente ou se ele vier a se tornar  insolvente; (b) fraude à execução, se (1) no momento do endosso o Endossante for réu em um processo  judicial capaz de torná-lo insolvente; ou (2) os Direitos Creditórios endossados à Classe estiverem sujeitos  a qualquer demanda judicial baseada em garantia real; e (c) fraude à execução fiscal, se o Endossante, ao  celebrar o endosso de crédito, como contribuinte por débito à Fazenda Pública, e crédito fiscal  regularmente inscrito na dívida ativa, não tiver ativos para pagamento total da dívida fiscal. Entretanto, o  Administrador, o Custodiante, o Gestor e o Agente de Retenção/ Cobrança não verificarão os eventos  acima no endosso de Direito Creditório e não serão responsabilizados em caso de invalidação ou ineficácia  do endosso de um Direito Creditório à Classe.</a:t>
            </a:r>
          </a:p>
          <a:p>
            <a:r>
              <a:t> (iii) Risco de impugnação judicial: a CCB poderá ser impugnada judicialmente tanto no que diz respeito à sua  formalização quanto às taxas aplicadas e à forma de cobrança da CCB, inclusive em virtude das disposições  estabelecidas na Lei nº 8.078, de 11 de setembro de 1990, conforme alterada (Código de Defesa do  Consumidor), tais como uma possível impugnação de cláusula abusiva, bem como qualquer vício nos  Documentos Comprobatórios ou Documentos Suporte que impeçam a exigibilidade do crédito (ausência  de assinaturas ou falta de prova de formalização regular do instrumento, representação ilegítima, dentre  outros). Nesses casos, a CCB poderá ser modificada ou cancelada em virtude de decisão judicial, o que  poderá acarretar perdas para a Classe e, consequentemente, afetar negativamente a rentabilidade de seu  patrimônio.</a:t>
            </a:r>
          </a:p>
          <a:p>
            <a:r>
              <a:t> (iv) Risco de restrições de natureza legal ou regulamentar: a Classe pode estar sujeita a riscos, além do  controle do Administrador, decorrentes de quaisquer restrições futuras de natureza legal e/ou  regulamentar que venham a afetar a validade da constituição e/ou o endosso dos Direitos Creditórios à  Classe. Caso essas restrições ocorram, o fluxo de cessões de Direitos Creditórios à Classe pode ser  interrompido e, portanto, pode comprometer a continuidade da Classe e a perspectiva de investimento  do Cotista. Além disso, os Direitos Creditórios que já estão na Carteira podem ter sua validade questionada,  o que pode causar, portanto, prejuízos ao Cotista.</a:t>
            </a:r>
          </a:p>
          <a:p>
            <a:r>
              <a:t> (v) Risco de bloqueio da Conta de Cobrança da Classe ou da Conta de Movimentação da Classe: os recursos  provenientes da Classe serão direcionados para a Conta de Cobrança da Classe e, de forma extraordinária,  para a Conta de Movimentação da Classe. Em caso de intervenção ou liquidação extrajudicial das  instituições financeiras onde a Conta de Cobrança da Classe e a Conta de Movimentação da Classe são</a:t>
            </a:r>
          </a:p>
          <a:p>
            <a:r>
              <a:t>CNPJ 63953620000165 · Conta de arrecadação e risco de trânsito · Condição: Documentos atuais selecionados no inventário por categoria/escopo; a data documental isolada não comprova vigência jurídica.</a:t>
            </a:r>
          </a:p>
          <a:p>
            <a:r>
              <a:t>CNPJ 63953620000165 · Conta de arrecadação e risco de trânsito · Motivo: Cláusula primária localizada e citada, mas sua lista/condições extensas não admitem uma síntese literal curta confirmada. O trecho integral permanece nas fontes.</a:t>
            </a:r>
          </a:p>
          <a:p>
            <a:r>
              <a:t>CNPJ 63953620000165 · Conta de arrecadação e risco de trânsito · Versão e prevalência: Documentos atuais selecionados no inventário por categoria/escopo; a data documental isolada não comprova vigência jurídica.</a:t>
            </a:r>
          </a:p>
          <a:p>
            <a:r>
              <a:t>CNPJ 63953620000165 · Conta de arrecadação e risco de trânsito · Resumo do histórico: {"count": 2, "dates": ["2026-02-19", "2026-05-15"], "document_count": 2, "sources": [{"document_id": "1327859", "title": "Demonstrações Financeiras - Fusão, cisão e incorporação", "reference_date": "2026-05-15", "version": "1", "page": 22, "url": "https://fnet.bmfbovespa.com.br/fnet/publico/visualizarDocumento?id=1327859", "sha256": "dca1c68babb97f887528c3e2e47596a9c30f507b067981a35655b2f2da9c8054"}, {"document_id": "1200324", "title": "Demonstrações Financeiras - Fusão, cisão e incorporação", "reference_date": "2026-02-19", "version": "1", "page": 22, "url": "https://fnet.bmfbovespa.com.br/fnet/publico/visualizarDocumento?id=1200324", "sha256": "aba4246af804161a6cb22052dc79425be7591e0bb7df5467cda6487f249272fc"}], "reference": {"path": "history/63953620000165.json", "criterion_id": "collection_account", "total_count": 2, "preview_count": 2, "full_text_deferred": true, "sha256": "a7b89077f5e21098c2d601c303faabc3ff6b9729f89d8afecdc60fe1404720c1"}}</a:t>
            </a:r>
          </a:p>
          <a:p>
            <a:r>
              <a:t>CNPJ 54871427000194 · Verificação de lastro e amostragem · Regulamento · ID 670691 · 28/04/2024 · versão Regulamento — referência 28/04/2024 · p. 10 · Anexo I, 4.7.1 · https://fnet.bmfbovespa.com.br/fnet/publico/visualizarDocumento?id=670691</a:t>
            </a:r>
          </a:p>
          <a:p>
            <a:r>
              <a:t>CNPJ 54871427000194 · Verificação de lastro e amostragem · Excerto da fonte:</a:t>
            </a:r>
          </a:p>
          <a:p>
            <a:r>
              <a:t>4.7.1 Os Documentos Comprobatórios deverão ser disponibilizados pelo respectivo Endossante (a) no prazo de 10 (dez) dias contados da Data de Aquisição dos 50 (cinquenta) casos que sejam solicitados pelo GESTOR, a seu exclusivo critério, (b) a totalidade dos demais Documentos Comprobatórios em f ormato digital em até 90 (noventa) dias a contar da Data de Aquisição, bem como dos Documentos Comprobatórios em formato físico relativos aos Direitos Creditórios que eventualmente estejam inadimplidos em ref erida data, e (c) a totalidade dos demais Documentos Comprobatórios em f ormato f ísico em até 180 (cento e oitenta) dias a contar da Data de Aquisição, sujeito à resolução do respectivo endosso, de acordo com os termos do Contrato de Endosso. 4.7.2 Caso um Direito Creditório cedido à Classe deixe de atender quaisquer Critérios de Elegibilidade e/ou quaisquer declarações e garantias ref erentes a esse Direito Creditório, conf orme previsto no respectivo Contrato de Endosso, após seu endosso à Classe, não haverá coobrigação nem direito de regresso da Classe contra o ADMINISTRADOR, o CUSTODIANTE o GESTOR e/ou o En</a:t>
            </a:r>
          </a:p>
          <a:p>
            <a:r>
              <a:t>CNPJ 54871427000194 · Verificação de lastro e amostragem · Regulamento · ID 670691 · 28/04/2024 · versão Regulamento — referência 28/04/2024 · p. 24 · Anexo I, 12.15 e 12.19(iv)–(v) · https://fnet.bmfbovespa.com.br/fnet/publico/visualizarDocumento?id=670691</a:t>
            </a:r>
          </a:p>
          <a:p>
            <a:r>
              <a:t>CNPJ 54871427000194 · Verificação de lastro e amostragem · Excerto da fonte:</a:t>
            </a:r>
          </a:p>
          <a:p>
            <a:r>
              <a:t>12.15 No âmbito das diligências relacionadas à aquisição de Direitos Creditórios caracterizados como direitos e títulos representativos de crédito, conforme referidos na alínea “a” do inciso XII do art. 2º do Anexo Normativo II da Resolução CVM 175, o GESTOR deve verificar a existência, integridade e titularidade do lastro, de f orma integral, utilizando modelo estatístico consistente e passível de verif icação, 12.16 O GESTOR pode contratar terceiros para ef etuar a verif icação do lastro, inclusive a entidade registradora, o CUSTODIANTE ou consultoria especializada, caso aplicável, devendo constar do contrato de prestação de serviços as regras e procedimentos aplicáveis à verif icação, sendo que o GESTOR será responsável pela fiscalização da atuação do agente contratado no tocante à observância às regras e procedimentos aplicáveis à verif icação. Custódia e Verificação do Lastro quando do inadimplemento ou substituição dos Direitos Creditórios 12.17 Caso a classe aplique recursos em Direitos Creditórios que não sejam passíveis de registro em entidade registradora na data deste Regulamento, o ADMINISTRADOR deve contratar o serviço de custódia para a Carteira. 12.18 Os serviços de custódia qualificada dos Direitos Creditóri</a:t>
            </a:r>
          </a:p>
          <a:p>
            <a:r>
              <a:t>CNPJ 54871427000194 · Verificação de lastro e amostragem · Condição: A entrega escalonada dos comprovantes é distinta da verificação integral prevista. O Complemento 2 contém recuperação/cobrança; não contém uma amostragem estatística de lastro.</a:t>
            </a:r>
          </a:p>
          <a:p>
            <a:r>
              <a:t>CNPJ 54871427000194 · Verificação de lastro e amostragem · Versão e prevalência: Leitura específica das cláusulas indicadas; condições e conflitos preservados. Seleção documental atual não comprova vigência jurídica por data isolada.</a:t>
            </a:r>
          </a:p>
          <a:p>
            <a:r>
              <a:t>CNPJ 54871427000194 · Verificação de lastro e amostragem · Resumo do histórico: {"count": 1, "dates": ["2024-04-19"], "document_count": 1, "sources": [{"document_id": "670689", "title": "Regulamento", "reference_date": "2024-04-19", "version": "1", "page": 45, "url": "https://fnet.bmfbovespa.com.br/fnet/publico/visualizarDocumento?id=670689", "sha256": "891bc9bc5d87bbc02ec139077a84d2702eb81ea02035fb71d24f5b8366b94a0b"}], "reference": {"path": "history/54871427000194.json", "criterion_id": "collateral_check", "total_count": 1, "preview_count": 1, "full_text_deferred": true, "sha256": "35d7cd99be50c7287c9fb675cf4f2e736002315295a225a9efa79c8d9186d874"}}</a:t>
            </a:r>
          </a:p>
          <a:p>
            <a:r>
              <a:t>CNPJ 60010416000112 · Verificação de lastro e amostragem · Regulamento · ID 1051393 · 09/10/2025 · versão Regulamento09/10/2025 · p. 59 · Complemento7itens1–4 · https://fnet.bmfbovespa.com.br/fnet/publico/visualizarDocumento?id=1051393</a:t>
            </a:r>
          </a:p>
          <a:p>
            <a:r>
              <a:t>CNPJ 60010416000112 · Verificação de lastro e amostragem · Excerto da fonte:</a:t>
            </a:r>
          </a:p>
          <a:p>
            <a:r>
              <a:t>1. O Gestor deverá realizar a verif icação dos Documentos Comprobatórios relativos aos Direitos Creditórios adquiridos pela Classe trimestralmente; sendo certo que o Endossante e/ou o Agente de Retenção/Cobrança, conforme o caso, deverão enviar os Documentos Comprobatórios para o Gestor, conf orme def inido nos itens conf orme def inido nos itens 11.16 e 11.17 do Anexo I. 2. Observado o disposto no inciso (i) do item 3 abaixo, numa data-base pré-estabelecida, será selecionada uma amostra aleatória simples para a determinação de um intervalo de confiança para a proporção de eventuais f alhas, baseado numa distribuição binomial aproxi</a:t>
            </a:r>
          </a:p>
          <a:p>
            <a:r>
              <a:t>CNPJ 60010416000112 · Verificação de lastro e amostragem · Versão e prevalência: Leitura específica das cláusulas indicadas; condições e conflitos preservados. Seleção documental atual não comprova vigência jurídica por data isolada.</a:t>
            </a:r>
          </a:p>
          <a:p>
            <a:r>
              <a:t>CNPJ 60010416000112 · Verificação de lastro e amostragem · Resumo do histórico: {"count": 1, "dates": ["2025-03-20"], "document_count": 1, "sources": [{"document_id": "993786", "title": "Regulamento", "reference_date": "2025-03-20", "version": "1", "page": 38, "url": "https://fnet.bmfbovespa.com.br/fnet/publico/visualizarDocumento?id=993786", "sha256": "fd0fdd369a195510d81f81f505195a0b09e5f43522a990afa7d58c4f872921c8"}], "reference": {"path": "history/60010416000112.json", "criterion_id": "collateral_check", "total_count": 1, "preview_count": 1, "full_text_deferred": true, "sha256": "8e2bd813f4c51cf01f6bfaad164bafe69d2bbb192f753eac92da3a01c2e63046"}}</a:t>
            </a:r>
          </a:p>
          <a:p>
            <a:r>
              <a:t>CNPJ 62696791000193 · Verificação de lastro e amostragem · Regulamento · ID 1143317 · 20/03/2026 · versão Regulamento — referência 20/03/2026 · p. 13 · Anexo I, 4.15–4.19 · https://fnet.bmfbovespa.com.br/fnet/publico/visualizarDocumento?id=1143317</a:t>
            </a:r>
          </a:p>
          <a:p>
            <a:r>
              <a:t>CNPJ 62696791000193 · Verificação de lastro e amostragem · Excerto da fonte:</a:t>
            </a:r>
          </a:p>
          <a:p>
            <a:r>
              <a:t>4.15 Os serviços de custódia qualif icada dos Direitos Creditórios do Agronegócio não registrados em entidade registradora, bem como a guarda física dos originais dos Direitos Creditórios do Agronegócio e dos Documentos Comprobatórios, serão prestados pelo Custodiante. 4.16 São atribuições do Custodiante, observado o disposto neste Regulamento e na regulamentação aplicável: (i) realizar a liquidação física ou eletrônica e financeira dos Direitos Creditórios do Agronegócio; (ii) cobrar e receber, em nome da classe, pagamentos, resgate de títulos ou qualquer outro rendimento relativo aos ativos da Carteira, depositando os valores recebidos diretamente em conta de titularidade da classe ou, se f or o caso, em conta vinculada; e (iii) realizar a guarda da documentação relativa ao lastro dos Direitos Creditórios do Agronegócio. 4.17 Em razão de a Classe possuir significativa quantidade de Direitos Creditórios do Agronegócio cedidos e expressiva diversificação de devedores e de Cedentes, além de atuar em vários segmentos, o Custodiante está autorizado a ef etuar a verif icação do lastro dos Direitos Creditórios do Agronegócio por amostragem, sempre que permitido pel</a:t>
            </a:r>
          </a:p>
          <a:p>
            <a:r>
              <a:t>CNPJ 62696791000193 · Verificação de lastro e amostragem · Condição: O PDF obtido termina no Complemento I (Fatores de Risco); Complemento II, referenciado para parâmetros de amostragem, não está incluído. Não atribuir confiança 95%/erro 5% por analogia.</a:t>
            </a:r>
          </a:p>
          <a:p>
            <a:r>
              <a:t>CNPJ 62696791000193 · Verificação de lastro e amostragem · Versão e prevalência: Leitura específica das cláusulas indicadas; condições e conflitos preservados. Seleção documental atual não comprova vigência jurídica por data isolada.</a:t>
            </a:r>
          </a:p>
          <a:p>
            <a:r>
              <a:t>CNPJ 55563624000109 · Verificação de lastro e amostragem · Regulamento · ID 1192614 · 30/04/2026 · versão Regulamento30/04/2026 · p. 12 · AnexoI4.5–4.6 · https://fnet.bmfbovespa.com.br/fnet/publico/visualizarDocumento?id=1192614</a:t>
            </a:r>
          </a:p>
          <a:p>
            <a:r>
              <a:t>CNPJ 55563624000109 · Verificação de lastro e amostragem · Excerto da fonte:</a:t>
            </a:r>
          </a:p>
          <a:p>
            <a:r>
              <a:t>4.5 Uma vez que o investimento nas Cotas da Classe Investida não corresponde a um investimento direto em direitos creditórios, uma série de disposições comuns à securitização de direitos creditórios não será aplicável ao investimento nas Cotas da Classe Investida. A título meramente exemplificativo, não existem processos de originação ou política de concessão de crédito adotada pelo GESTOR, tampouco há que se falar em verificação ou guarda de documentos comprobatórios que não sejam referentes às Cotas da Classe Investida. Da mesma forma, não há necessida</a:t>
            </a:r>
          </a:p>
          <a:p>
            <a:r>
              <a:t>CNPJ 55563624000109 · Verificação de lastro e amostragem · Regulamento · ID 1192614 · 30/04/2026 · versão Regulamento30/04/2026 · p. 28 · AnexoI12.22–12.24 · https://fnet.bmfbovespa.com.br/fnet/publico/visualizarDocumento?id=1192614</a:t>
            </a:r>
          </a:p>
          <a:p>
            <a:r>
              <a:t>CNPJ 55563624000109 · Verificação de lastro e amostragem · Excerto da fonte:</a:t>
            </a:r>
          </a:p>
          <a:p>
            <a:r>
              <a:t>12.22 Os Documentos Comprobatórios relativos às Cotas da Classe Investida integrantes da Carteira inadimplidos e/ou substituídos num dado trimestre serão, no referido trimestre, objeto de verificação individualizada e integral pelo CUSTODIANTE ou terceiro por ele contratado. 12.23 Eventuais vícios verificados nos Documentos Comprobatórios que evidenciam o lastro dos Direitos Creditórios serão comunicados por escrito pelo CUSTODIANTE ao ADMINISTRADOR em até 5 (cinco) Dias Úteis da sua verificação, para que sejam tomadas as medidas necessárias. Cobrança da</a:t>
            </a:r>
          </a:p>
          <a:p>
            <a:r>
              <a:t>CNPJ 55563624000109 · Verificação de lastro e amostragem · Versão e prevalência: Leitura específica das cláusulas indicadas; condições e conflitos preservados. Seleção documental atual não comprova vigência jurídica por data isolada.</a:t>
            </a:r>
          </a:p>
          <a:p>
            <a:r>
              <a:t>CNPJ 62552447000120 · Verificação de lastro e amostragem · Regulamento · ID 1200623 · 21/05/2026 · versão Consolidado21/05/2026 aprovado pelo ato1200625 · p. 41 · ComplementoIIitens1–4 · https://fnet.bmfbovespa.com.br/fnet/publico/visualizarDocumento?id=1200623</a:t>
            </a:r>
          </a:p>
          <a:p>
            <a:r>
              <a:t>CNPJ 62552447000120 · Verificação de lastro e amostragem · Excerto da fonte:</a:t>
            </a:r>
          </a:p>
          <a:p>
            <a:r>
              <a:t>1. O Gestor deverá realizar a verif icação dos Documentos Comprobatórios relativos aos Direitos Creditórios adquiridos pela Classe trimestralmente; sendo certo que o Endossante e/ou o Agente de Retenção/Cobrança, conforme o caso, deverão enviar os Documentos Comprobat órios para o Gestor. 2. Observado o disposto no inciso (i) do item 3 abaixo, numa data-base pré-estabelecida, será selecionada uma amostra aleatória simples para a determinação de um intervalo de confiança para a proporção de eventuais falhas, baseado numa distribuição binomial aproximada a uma distribuição normal com 95% (noventa e cinco por cento) de nível de confian</a:t>
            </a:r>
          </a:p>
          <a:p>
            <a:r>
              <a:t>CNPJ 62552447000120 · Verificação de lastro e amostragem · Regulamento · ID 1200623 · 21/05/2026 · versão Consolidado21/05/2026 aprovado pelo ato1200625 · p. 29 · AnexoI12.12–12.13 · https://fnet.bmfbovespa.com.br/fnet/publico/visualizarDocumento?id=1200623</a:t>
            </a:r>
          </a:p>
          <a:p>
            <a:r>
              <a:t>CNPJ 62552447000120 · Verificação de lastro e amostragem · Excerto da fonte:</a:t>
            </a:r>
          </a:p>
          <a:p>
            <a:r>
              <a:t>12.12 Os Documentos Comprobatórios relativos aos Direitos Creditórios integrantes da Carteira inadimplidos e/ou substituídos num dado trimestre serão, no ref erido trimestre, objeto de verificação individualizada e integral pelo Custodiante ou terceiro por ele contratado. 12.13 Eventuais vícios verificados nos Documentos Comprobatórios que evidenciam o lastro dos Direitos Creditórios serão comunicados por escrito pelo Custodiante ao Administrador em até 5 (cinco) Dias Úteis da sua verif icação, para que sejam tomadas as medidas necessárias. Retenção e Cobrança dos Direitos Creditórios Inadimplidos 12.14 A Classe contra</a:t>
            </a:r>
          </a:p>
          <a:p>
            <a:r>
              <a:t>CNPJ 62552447000120 · Verificação de lastro e amostragem · Versão e prevalência: Leitura específica das cláusulas indicadas; condições e conflitos preservados. Seleção documental atual não comprova vigência jurídica por data isolada.</a:t>
            </a:r>
          </a:p>
          <a:p>
            <a:r>
              <a:t>CNPJ 63953620000165 · Verificação de lastro e amostragem · Anexo ao Regulamento · ID 1222863 · 2026-06-02 · versão 1 · p. 30 · https://fnet.bmfbovespa.com.br/fnet/publico/visualizarDocumento?id=1222863</a:t>
            </a:r>
          </a:p>
          <a:p>
            <a:r>
              <a:t>CNPJ 63953620000165 · Verificação de lastro e amostragem · Excerto da fonte:</a:t>
            </a:r>
          </a:p>
          <a:p>
            <a:r>
              <a:t>Complemento II  (Ao Anexo I)  PARÂMETROS PARA A VERIFICAÇÃO DO LASTRO POR AMOSTRAGEM  1. O Gestor deverá realizar a verificação dos Documentos Comprobatórios relativos aos Direitos Creditórios adquiridos pela  Classe trimestralmente; sendo certo que o Endossante e/ou o Agente de Retenção/Cobrança, conforme o caso, deverão  enviar os Documentos Comprobatórios para o Gestor, conforme definido nos itens conforme definido nos itens 11.16 e</a:t>
            </a:r>
          </a:p>
          <a:p>
            <a:r>
              <a:t>CNPJ 63953620000165 · Verificação de lastro e amostragem · Anexo ao Regulamento · ID 1222863 · 2026-06-02 · versão 1 · p. 30 · 11.17 · https://fnet.bmfbovespa.com.br/fnet/publico/visualizarDocumento?id=1222863</a:t>
            </a:r>
          </a:p>
          <a:p>
            <a:r>
              <a:t>CNPJ 63953620000165 · Verificação de lastro e amostragem · Excerto da fonte:</a:t>
            </a:r>
          </a:p>
          <a:p>
            <a:r>
              <a:t>11.17 do Anexo I.</a:t>
            </a:r>
          </a:p>
          <a:p>
            <a:r>
              <a:t> 2. Observado o disposto no inciso (i) do item 3 abaixo, numa data-base pré-estabelecida, será selecionada uma amostra  aleatória simples para a determinação de um intervalo de confiança para a proporção de eventuais falhas, baseado numa  distribuição binomial aproximada a uma distribuição normal com 95% (noventa e cinco por cento) de nível de confiança,  visando a uma margem de erro de 5% (cinco por cento), independentemente do cedente dos Direitos Creditórios.</a:t>
            </a:r>
          </a:p>
          <a:p>
            <a:r>
              <a:t> 3. O escopo da análise da documentação que evidencia o lastro dos Direitos Creditórios contempla a verificação da  existência dos respectivos Documentos Comprobatórios, conforme abaixo discriminado:</a:t>
            </a:r>
          </a:p>
          <a:p>
            <a:r>
              <a:t> i. obtenção de base de dados analítica por Direitos Creditórios integrantes da Carteira;</a:t>
            </a:r>
          </a:p>
          <a:p>
            <a:r>
              <a:t> ii. seleção de uma amostra de acordo com as fórmulas abaixo</a:t>
            </a:r>
          </a:p>
          <a:p>
            <a:r>
              <a:t>CNPJ 63953620000165 · Verificação de lastro e amostragem · Anexo ao Regulamento · ID 1222863 · 2026-06-02 · versão 1 · p. 26 · https://fnet.bmfbovespa.com.br/fnet/publico/visualizarDocumento?id=1222863</a:t>
            </a:r>
          </a:p>
          <a:p>
            <a:r>
              <a:t>CNPJ 63953620000165 · Verificação de lastro e amostragem · Excerto da fonte:</a:t>
            </a:r>
          </a:p>
          <a:p>
            <a:r>
              <a:t>Complemento I  (Ao Anexo I)  FATORES DE RISCO APLICÁVEIS À CLASSE CONSIGNADO PRIVADO DO MT GLOBAL FUNDO DE INVESTIMENTO EM  DIREITOS CREDITÓRIOS RESPONSABILIDADE LIMITADA  Risco de Crédito</a:t>
            </a:r>
          </a:p>
          <a:p>
            <a:r>
              <a:t> (i) Riscos associados aos Devedores: os Direitos Creditórios a serem endossados à Classe serão descontados  pela Dataprev da remuneração do Devedor. A capacidade de pagamento do Devedor poderá ser afetada se,  por exemplo, o Devedor tiver o seu contrato de emprego rescindido ou em virtude de decisão judicial, o  Devedor for obrigado a pagar alimentos, que têm prioridade sobre o empréstimo para fins de desconto na  folha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afetar a rentabilidade da Classe.</a:t>
            </a:r>
          </a:p>
          <a:p>
            <a:r>
              <a:t> (ii)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referido Devedor poderá  ficar inadimplente e, consequentemente, não haverá repasse à Classe do respectivo Direito Creditório, o  que poderá resultar em perdas financeiras à Classe e aos Cotistas.</a:t>
            </a:r>
          </a:p>
          <a:p>
            <a:r>
              <a:t> (iii) Risco do Empregador não efetuar o desconto em folha: o repasse dos recursos oriundos dos Direitos  Creditórios à Classe depende da realização, pelo Empregador, da Escrituração e do desconto na respectiva  folha de pagamento do Devedor. Na hipótese do Empregador deixar de realizar a Escrituração ou os  descontos na folha de pagamento, não haverá repasse de recursos à Classe, podendo causar prejuízos à  Classe e aos Cotistas.</a:t>
            </a:r>
          </a:p>
          <a:p>
            <a:r>
              <a:t> (iv) Risco de perda do vínculo empregatício com o Empregador: caso o Devedor perca o vínculo empregatício  com o Empregador, não haverá remuneração e folha de pagamento para realização dos descontos para  pagamento dos Direitos Creditórios. Neste caso, não obstante a possibilidade do Agente de  Retenção/Cobrança realizar a cobrança ativa dos Direitos Creditórios diretamente do Devedor, a ausência  de remuneração poderá deixar o Devedor inadimplente perante a Classe até que o seu vínculo empregatício  seja retomado e seja efetuado o procedimento operacional para que a CCB seja aditada e/ou seja realizado  o Processo de Reinicialização. Tais situações poderão resultar em prejuízos à Classe e aos Cotistas.</a:t>
            </a:r>
          </a:p>
          <a:p>
            <a:r>
              <a:t> Riscos Operacionais</a:t>
            </a:r>
          </a:p>
          <a:p>
            <a:r>
              <a:t> (i) Risco de irregularidade dos Documentos Comprobatórios e/ou Documentos Suporte: o Gestor, ou  terceiro por ele contratado, deverá realizar a verificação da regularidade dos Documentos Comprobatórios  e Documentos Suporte. A Carteira poderá conter Direitos Creditórios com documentação irregular, o que  poderá impedir que a Classe exerça plenamente as prerrogativas derivadas da titularidade dos Direitos  Creditórios. O Gestor poderá contratar empresas especializadas, com comprovada competência e  adequação, para realizar a guarda física, manutenção, armazenamento, organização e digitalização dos  Documentos Comprobatórios e Documentos Suporte, que estarão sob total responsabilidade do Gestor,  permanecendo as empresas como agentes depositários dos Documentos Comprobatórios e Documentos  Suporte.</a:t>
            </a:r>
          </a:p>
          <a:p>
            <a:r>
              <a:t> (ii) Risco operacional da Dataprev e da CEF: o empréstimo contraído pelos Devedores é pago por meio de  desconto na folha de pagamento feito pela Dataprev e pela CEF, conforme aplicável. É possível que os  rendimentos dos Devedores sejam atrasados ou não pagos devido a questões operacionais envolvendo a  Dataprev e/ou a CEF. Nesse caso, a Carteira poderá sofrer, já que não receberá automaticamente, e  também poderá ter dificuldades para receber, a qualquer momento, os recursos decorrentes dos Direitos  Creditórios.</a:t>
            </a:r>
          </a:p>
          <a:p>
            <a:r>
              <a:t>CNPJ 63953620000165 · Verificação de lastro e amostragem · Condição: Documentos atuais selecionados no inventário por categoria/escopo; a data documental isolada não comprova vigência jurídica.</a:t>
            </a:r>
          </a:p>
          <a:p>
            <a:r>
              <a:t>CNPJ 63953620000165 · Verificação de lastro e amostragem · Versão e prevalência: Documentos atuais selecionados no inventário por categoria/escopo; a data documental isolada não comprova vigência jurídica.</a:t>
            </a:r>
          </a:p>
          <a:p>
            <a:r>
              <a:t>CNPJ 63953620000165 · Verificação de lastro e amostragem · Resumo do histórico: {"count": 8, "dates": ["2026-04-28", "2026-05-08", "2026-05-15"], "document_count": 3, "sources": [{"document_id": "1327859", "title": "Demonstrações Financeiras - Fusão, cisão e incorporação", "reference_date": "2026-05-15", "version": "1", "page": 22, "url": "https://fnet.bmfbovespa.com.br/fnet/publico/visualizarDocumento?id=1327859", "sha256": "dca1c68babb97f887528c3e2e47596a9c30f507b067981a35655b2f2da9c8054"}, {"document_id": "1298691", "title": "Demonstrações Financeiras - Fusão, cisão e incorporação", "reference_date": "2026-05-08", "version": "1", "page": 17, "url": "https://fnet.bmfbovespa.com.br/fnet/publico/visualizarDocumento?id=1298691", "sha256": "58c570d9b8d4d265330d3db3ea81c435b8e44a6dab4002aa37790652a1ee9819"}, {"document_id": "1282180", "title": "Demonstrações Financeiras - Fusão, cisão e incorporação", "reference_date": "2026-04-28", "version": "1", "page": 17, "url": "https://fnet.bmfbovespa.com.br/fnet/publico/visualizarDocumento?id=1282180", "sha256": "afaaa0e6809be4385e5bdb6c911aac582032c5bdbac3d7750234bf9eaf00438a"}], "reference": {"path": "history/63953620000165.json", "criterion_id": "collateral_check",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Garantias e operação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Garantias e constituição · Demonstrações Financeiras - Fusão, cisão e incorporação · ID 1219522 · 2026-02-02 · versão 1 · p. 21 · https://fnet.bmfbovespa.com.br/fnet/publico/visualizarDocumento?id=1219522</a:t>
            </a:r>
          </a:p>
          <a:p>
            <a:r>
              <a:t>CNPJ 54871427000194 · Garantias e constituição · Excerto da fonte:</a:t>
            </a:r>
          </a:p>
          <a:p>
            <a:r>
              <a:t>Em 02 de fevereiro de 2026, a Classe não possuía garantias reais ou fidejussórias, pela liquidação  dos direitos creditórios.</a:t>
            </a:r>
          </a:p>
          <a:p>
            <a:r>
              <a:t>CNPJ 54871427000194 · Garantias e constituição · Condição: Trechos do documento específico identificado com data mais recente; vigência jurídica não inferida.</a:t>
            </a:r>
          </a:p>
          <a:p>
            <a:r>
              <a:t>CNPJ 54871427000194 · Garantias e constituição · Versão e prevalência: Trechos do documento específico identificado com data mais recente; vigência jurídica não inferida.</a:t>
            </a:r>
          </a:p>
          <a:p>
            <a:r>
              <a:t>CNPJ 54871427000194 · Garantias e constituição · Resumo do histórico: {"count": 5, "dates": ["2024-12-31", "2025-01-01", "2025-12-31"], "document_count": 3, "sources": [{"document_id": "1151805", "title": "Demonstrações Financeiras", "reference_date": "2025-12-31", "version": "1", "page": 21, "url": "https://fnet.bmfbovespa.com.br/fnet/publico/visualizarDocumento?id=1151805", "sha256": "f1cea70b152968bf96ef9221b27225953cb20aeef487b2798db3c25e11b528d4"}, {"document_id": "869529", "title": "Demonstrações Financeiras", "reference_date": "2025-01-01", "version": "1", "page": 20, "url": "https://fnet.bmfbovespa.com.br/fnet/publico/visualizarDocumento?id=869529", "sha256": "9a93a9369ac8efdbc54ff8fcee3ccac3abf88edab4807b9323d3852450771b2a"}, {"document_id": "870070", "title": "Demonstrações Financeiras", "reference_date": "2024-12-31", "version": "1", "page": 20, "url": "https://fnet.bmfbovespa.com.br/fnet/publico/visualizarDocumento?id=870070", "sha256": "9a93a9369ac8efdbc54ff8fcee3ccac3abf88edab4807b9323d3852450771b2a"}], "reference": {"path": "history/54871427000194.json", "criterion_id": "guarantee", "total_count": 5, "preview_count": 3, "full_text_deferred": true, "sha256": "35d7cd99be50c7287c9fb675cf4f2e736002315295a225a9efa79c8d9186d874"}}</a:t>
            </a:r>
          </a:p>
          <a:p>
            <a:r>
              <a:t>CNPJ 60010416000112 · Garantias e constituição · Demonstrações Financeiras - Fusão, cisão e incorporação · ID 1298690 · 2026-05-08 · versão 1 · p. 19 · https://fnet.bmfbovespa.com.br/fnet/publico/visualizarDocumento?id=1298690</a:t>
            </a:r>
          </a:p>
          <a:p>
            <a:r>
              <a:t>CNPJ 60010416000112 · Garantias e constituição · Excerto da fonte:</a:t>
            </a:r>
          </a:p>
          <a:p>
            <a:r>
              <a:t>Em 08 de maio de 2026, a Classe não possuía garantias reais ou fidejussórias, pela liquidação  dos Direitos Creditórios.</a:t>
            </a:r>
          </a:p>
          <a:p>
            <a:r>
              <a:t>CNPJ 60010416000112 · Garantias e constituição · Condição: Trechos do documento específico identificado com data mais recente; vigência jurídica não inferida.</a:t>
            </a:r>
          </a:p>
          <a:p>
            <a:r>
              <a:t>CNPJ 60010416000112 · Garantias e constituição · Versão e prevalência: Trechos do documento específico identificado com data mais recente; vigência jurídica não inferida.</a:t>
            </a:r>
          </a:p>
          <a:p>
            <a:r>
              <a:t>CNPJ 60010416000112 · Garantias e constituição · Resumo do histórico: {"count": 4, "dates": ["2025-11-30", "2026-03-18", "2026-04-16"], "document_count": 3, "sources": [{"document_id": "1282181", "title": "Demonstrações Financeiras - Fusão, cisão e incorporação", "reference_date": "2026-04-16", "version": "1", "page": 20, "url": "https://fnet.bmfbovespa.com.br/fnet/publico/visualizarDocumento?id=1282181", "sha256": "b1c6566e43a00bcd00c8a7f30c77b7f86e351bd8e355bbea113f46d1dafda703"}, {"document_id": "1224477", "title": "Demonstrações Financeiras - Fusão, cisão e incorporação", "reference_date": "2026-03-18", "version": "1", "page": 20, "url": "https://fnet.bmfbovespa.com.br/fnet/publico/visualizarDocumento?id=1224477", "sha256": "0751bf0a75bc3b44c2748f5000226665c6ec6698a90c4dc6170b4e6c187759ae"}, {"document_id": "1126154", "title": "Demonstrações Financeiras", "reference_date": "2025-11-30", "version": "1", "page": 21, "url": "https://fnet.bmfbovespa.com.br/fnet/publico/visualizarDocumento?id=1126154", "sha256": "a01e7ccf88c548f12c95cba8526d7efbef6b585c112cd4668eca781c292090b0"}], "reference": {"path": "history/60010416000112.json", "criterion_id": "guarantee", "total_count": 4, "preview_count": 3, "full_text_deferred": true, "sha256": "8e2bd813f4c51cf01f6bfaad164bafe69d2bbb192f753eac92da3a01c2e63046"}}</a:t>
            </a:r>
          </a:p>
          <a:p>
            <a:r>
              <a:t>CNPJ 62696791000193 · Garantias e constituição · Regulamento · ID 1143317 · 20/03/2026 · versão Regulamento — referência 20/03/2026 · p. 11 · Anexo I, 4.7(iv) · https://fnet.bmfbovespa.com.br/fnet/publico/visualizarDocumento?id=1143317</a:t>
            </a:r>
          </a:p>
          <a:p>
            <a:r>
              <a:t>CNPJ 62696791000193 · Garantias e constituição · Excerto da fonte:</a:t>
            </a:r>
          </a:p>
          <a:p>
            <a:r>
              <a:t>(iv) sejam representados por direitos e/ou títulos representativos de crédito, com ou sem garantias reais ou pessoais a eles atreladas, incluindo, sem limitação, duplicatas, debêntures, contratos de locação e contratos mercantis de compra e venda de produtos e/ ou mercadorias perf ormados e/ou para entrega ou prestação f utura, bem como títulos ou certificados representativos desses contratos, decorrentes de operações nos segmentos f inanceiro, comercial, industrial, imobiliário, de hipotecas, de arrendamento mercantil e de prestação de serviços, observadas as vedações do item 4.28 abaixo deste Anexo. 4.7.2 Para f ins da verificação dos Critérios de Elegibilidade, será considerado o Patrimônio Líquido e o valor dos Direitos Creditórios do Agronegócio integrantes da carteira no Dia Útil imediatamente anterior à Data de Aquisição. 4.7.3 Na hipótese de eventuais Direitos Creditórios do Agronegócio elegíveis deixarem de atender a qualquer Critério de Elegibilidade após sua aquisição pela Classe, tal f ato não será entendido como um desenquadramento da carteira, tampouco haverá direito de regresso contra</a:t>
            </a:r>
          </a:p>
          <a:p>
            <a:r>
              <a:t>CNPJ 62696791000193 · Garantias e constituição · Regulamento · ID 1143317 · 20/03/2026 · versão Regulamento — referência 20/03/2026 · p. 14 · Anexo I, 4.24 · https://fnet.bmfbovespa.com.br/fnet/publico/visualizarDocumento?id=1143317</a:t>
            </a:r>
          </a:p>
          <a:p>
            <a:r>
              <a:t>CNPJ 62696791000193 · Garantias e constituição · Excerto da fonte:</a:t>
            </a:r>
          </a:p>
          <a:p>
            <a:r>
              <a:t>4.24 A Classe poderá adquirir imóveis rurais sobre os quais tenham sido constituídos ônus reais anteriormente ao seu ingresso no patrimônio da Classe. Ainda, posteriormente ao seu ingresso no patrimônio da Classe, poderá o Gestor, em nome da Classe, prestar fiança, aval, aceite ou coobrigar- se sob qualquer f orma, relativamente a operações relacionadas à carteira de ativos da Classe, bem como constituir ônus reais sobre imóveis rurais integrantes do patrimônio da Classe para garantir obrigações por ela assumidas. 4.25 O Administrador, conforme orientação do Gestor, poderá utilizar recursos da classe para recomprar suas próprias cotas, com a f inalidade exclusiva de cancelamento, seja por meio de programa de recompra ou por meio de Of erta Pública Voluntária de Aquisição d e suas próprias cotas (“OPAC”), observados os procedimentos eventualmente previstos nos manuais ou regras da B3, bem como o disposto no Art. 56 e seguintes do Anexo Normativo I da Resolução CVM 175. Participações do Agronegócio 4.26 As seguintes regras são aplicáveis aos investimentos em Participações do Agronegócio realizados pela Classe. 4.26.1 Deverão ser asseguradas à Classe (i) a participação no processo deci</a:t>
            </a:r>
          </a:p>
          <a:p>
            <a:r>
              <a:t>CNPJ 62696791000193 · Garantias e constituição · Regulamento · ID 1143317 · 20/03/2026 · versão Regulamento — referência 20/03/2026 · p. 48 · Complemento I, 11.6 · https://fnet.bmfbovespa.com.br/fnet/publico/visualizarDocumento?id=1143317</a:t>
            </a:r>
          </a:p>
          <a:p>
            <a:r>
              <a:t>CNPJ 62696791000193 · Garantias e constituição · Excerto da fonte:</a:t>
            </a:r>
          </a:p>
          <a:p>
            <a:r>
              <a:t>11.6. Ausência de garantia. As aplicações realizadas na Classe não contam com garantia do Cedente, do ADMINISTRADOR, do GESTOR, do CUSTODIANTE ou da Classe Garantidor de Créditos – FGC, de modo que é possível a perda total do capital investido pelos Cotistas ou mesmo a necessidade de os Cotistas realizarem aportes adicionais de recursos para a cobertura de eventuais prejuízos. 11.7. Limitação do gerenciamento de riscos. A realização de investimentos na Classe expõe o investidor a riscos a que a Classe está sujeita, os quais poderão acarretar perdas para os Cotistas. Não há qualquer garantia de completa eliminação da possibilidade de perdas para a Classe e para os Cotistas. Em condições adversas de mercado, esses sistemas de gerenciamento de riscos poderão ter sua ef iciência reduzida. A Classe também poderá estar sujeita a outros riscos advindos de motivos alheios ou exógenos ao controle do Administrador, tais como moratória, inadimplemento de pagamentos, mudança nas regras aplicáveis aos Ativos-Alvo e Ativos Financeiros de Liquidez, alteração na política monetária, alteração da política fiscal aplicável à Classe, os quais poderão causar preju</a:t>
            </a:r>
          </a:p>
          <a:p>
            <a:r>
              <a:t>CNPJ 62696791000193 · Garantias e constituição · Versão e prevalência: Leitura específica das cláusulas indicadas; condições e conflitos preservados. Seleção documental atual não comprova vigência jurídica por data isolada.</a:t>
            </a:r>
          </a:p>
          <a:p>
            <a:r>
              <a:t>CNPJ 55563624000109 · Garantias e constituição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Garantias e constituição · Resumo do histórico: {"count": 1, "dates": ["2026-04-30"], "document_count": 1, "sources": [{"document_id": "1192614", "title": "Regulamento", "reference_date": "2026-04-30", "version": "1", "page": "12, 14", "url": "https://fnet.bmfbovespa.com.br/fnet/publico/visualizarDocumento?id=1192614", "sha256": "f56e63ace0acde41d2f47fb48f1ac7f3f7df5e2d32de092d7c5e075a52516632"}], "reference": {"path": "history/55563624000109.json", "criterion_id": "guarantee", "total_count": 1, "preview_count": 1, "full_text_deferred": true, "sha256": "7835d573fb58a3c19adf5b8ecc2aee2bdbb9a88f7a0c0209b5f262b64c7522e3"}}</a:t>
            </a:r>
          </a:p>
          <a:p>
            <a:r>
              <a:t>CNPJ 62552447000120 · Garantias e constituição · Regulamento · ID 1200623 · 21/05/2026 · versão Consolidado21/05/2026 aprovado pelo ato1200625 · p. 8 · AnexoICondições(ii)(c) · https://fnet.bmfbovespa.com.br/fnet/publico/visualizarDocumento?id=1200623</a:t>
            </a:r>
          </a:p>
          <a:p>
            <a:r>
              <a:t>CNPJ 62552447000120 · Garantias e constituição · Excerto da fonte:</a:t>
            </a:r>
          </a:p>
          <a:p>
            <a:r>
              <a:t>garantias prestadas pelo Endossante ou pelo Agente de Retenção/Cobrança com relação a esse Direito Creditório deverão ser verdadeiras, nos termos deste Contrato e do respectivo Termo de Endosso; (e) tenha sido realizado o tratamento dos dados pessoais de pessoa natural observando as leis e regulamentações que regem a privacidade e a proteção de dados pess</a:t>
            </a:r>
          </a:p>
          <a:p>
            <a:r>
              <a:t>CNPJ 62552447000120 · Garantias e constituição · Regulamento · ID 1200623 · 21/05/2026 · versão Consolidado21/05/2026 aprovado pelo ato1200625 · p. 12 · AnexoI4.3.2 · https://fnet.bmfbovespa.com.br/fnet/publico/visualizarDocumento?id=1200623</a:t>
            </a:r>
          </a:p>
          <a:p>
            <a:r>
              <a:t>CNPJ 62552447000120 · Garantias e constituição · Excerto da fonte:</a:t>
            </a:r>
          </a:p>
          <a:p>
            <a:r>
              <a:t>alienação/cessão fiduciária; e (b) solicitar bloqueio de parte do saldo da conta vinculada do Devedor. Emitida a CCB em favor do Endossante e formalizada a alienação/cessão f iduciária pelo Devedor, o Endossante endossará eletronicamente a CCB em preto à Classe, que receberá todos os valores dela decorrentes (i.e., os Direitos Creditórios FGTS), após concluídas as f ormalidades de processamento pela CEF, na Conta da Classe. Caso a alienação/cessão f iduciária seja acionada nos termos da CCB, os recursos onerados serão liberados em favor do Endossante no</a:t>
            </a:r>
          </a:p>
          <a:p>
            <a:r>
              <a:t>CNPJ 62552447000120 · Garantias e constituição · Regulamento · ID 1200623 · 21/05/2026 · versão Consolidado21/05/2026 aprovado pelo ato1200625 · p. 6 · AnexoIRefinanciamentoLivre(d) · https://fnet.bmfbovespa.com.br/fnet/publico/visualizarDocumento?id=1200623</a:t>
            </a:r>
          </a:p>
          <a:p>
            <a:r>
              <a:t>CNPJ 62552447000120 · Garantias e constituição · Excerto da fonte:</a:t>
            </a:r>
          </a:p>
          <a:p>
            <a:r>
              <a:t>Refinanciamento Livre”, na forma de CCBs originadas no âmbito de um refinanciamento, de acordo com a política de cobrança vigente, de Direitos Creditórios Consignado Privado e de Direitos Creditórios FGTS, que não contem com o lastro de Consignação ou de cessão f iduciária do Saque-Aniversário, respectivamente; e (ii) “Ativos Financei</a:t>
            </a:r>
          </a:p>
          <a:p>
            <a:r>
              <a:t>CNPJ 62552447000120 · Garantias e constituição · Regulamento · ID 1200623 · 21/05/2026 · versão Consolidado21/05/2026 aprovado pelo ato1200625 · p. 16 · AnexoI4.25 · https://fnet.bmfbovespa.com.br/fnet/publico/visualizarDocumento?id=1200623</a:t>
            </a:r>
          </a:p>
          <a:p>
            <a:r>
              <a:t>CNPJ 62552447000120 · Garantias e constituição · Excerto da fonte:</a:t>
            </a:r>
          </a:p>
          <a:p>
            <a:r>
              <a:t>4.25 As aplicações na Classe não contam com garantia: (i) do Administrador; (ii) do Gestor; (iii) do Endossante; (iv) do Custodiante; (v) dos demais prestadores de serviço da Classe; (vii) de qualquer mecanismo de seguro; e/ou (viii) do FGC. CAPÍTULO 5 – CARACTERÍSTICAS E CONDIÇÕES DAS COTAS 5.1 A Classe não possui Subclasse. As características, os direitos e as condições de emissão, distribuição, subscrição, integralização, remuneração, Amortização e resgate das Cotas estão descritos neste Capítulo e no Capítulo 6. 5.1.1 Não obstante, por deliberação conjunta dos Prestadores de Serviços Essenciais e me</a:t>
            </a:r>
          </a:p>
          <a:p>
            <a:r>
              <a:t>CNPJ 62552447000120 · Garantias e constituição · Versão e prevalência: Leitura específica das cláusulas indicadas; condições e conflitos preservados. Seleção documental atual não comprova vigência jurídica por data isolada.</a:t>
            </a:r>
          </a:p>
          <a:p>
            <a:r>
              <a:t>CNPJ 63953620000165 · Garantias e constituição · Demonstrações Financeiras - Fusão, cisão e incorporação · ID 1327859 · 2026-05-15 · versão 1 · p. 21 · https://fnet.bmfbovespa.com.br/fnet/publico/visualizarDocumento?id=1327859</a:t>
            </a:r>
          </a:p>
          <a:p>
            <a:r>
              <a:t>CNPJ 63953620000165 · Garantias e constituição · Excerto da fonte:</a:t>
            </a:r>
          </a:p>
          <a:p>
            <a:r>
              <a:t>i) Alienação de direitos creditórios  No período em findo em 15 de maio de 2026, não houve recompra de direitos creditórios  inadimplentes.</a:t>
            </a:r>
          </a:p>
          <a:p>
            <a:r>
              <a:t>j) Garantias  Em 15 de maio de 2026, a Classe não possuía garantias reais ou fidejussórias, pela liquidação  dos direitos creditórios.</a:t>
            </a:r>
          </a:p>
          <a:p>
            <a:r>
              <a:t>7. Riscos  Não obstante o emprego pela Administradora e pela Gestora de plena diligência e da boa prática  de administração e gestão da Classe, da estrita observância da política de investimento, das  regras legais e regulamentares aplicáveis à sua administração e gestão, a Classe estará sujeita  aos riscos inerentes aos bens e direitos integrantes de sua Carteira, além dos fatores de risco  identificados abaixo.</a:t>
            </a:r>
          </a:p>
          <a:p>
            <a:r>
              <a:t> Risco de Crédito</a:t>
            </a:r>
          </a:p>
          <a:p>
            <a:r>
              <a:t> (i) Riscos associados aos Devedores: os direitos creditórios a serem endossados à  classe serão descontados pela Dataprev da remuneração do devedor. A capacidade de  pagamento do devedor poderá ser afetada se, por exemplo, o devedor tiver o seu  contrato de emprego rescindido ou em virtude de decisão judicial, o devedor for obrigado  a pagar alimentos, que têm prioridade sobre o empréstimo para fins de desconto na folha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afetar a rentabilidade da classe.</a:t>
            </a:r>
          </a:p>
          <a:p>
            <a:r>
              <a:t>CNPJ 63953620000165 · Garantias e constituição · Condição: Trechos do documento específico identificado com data mais recente; vigência jurídica não inferida.</a:t>
            </a:r>
          </a:p>
          <a:p>
            <a:r>
              <a:t>CNPJ 63953620000165 · Garantias e constituição · Versão e prevalência: Trechos do documento específico identificado com data mais recente; vigência jurídica não inferida.</a:t>
            </a:r>
          </a:p>
          <a:p>
            <a:r>
              <a:t>CNPJ 63953620000165 · Garantias e constituição · Resumo do histórico: {"count": 7, "dates": ["2026-04-16", "2026-04-28", "2026-05-08"], "document_count": 3, "sources": [{"document_id": "1298691", "title": "Demonstrações Financeiras - Fusão, cisão e incorporação", "reference_date": "2026-05-08", "version": "1", "page": 21, "url": "https://fnet.bmfbovespa.com.br/fnet/publico/visualizarDocumento?id=1298691", "sha256": "58c570d9b8d4d265330d3db3ea81c435b8e44a6dab4002aa37790652a1ee9819"}, {"document_id": "1282180", "title": "Demonstrações Financeiras - Fusão, cisão e incorporação", "reference_date": "2026-04-28", "version": "1", "page": 21, "url": "https://fnet.bmfbovespa.com.br/fnet/publico/visualizarDocumento?id=1282180", "sha256": "afaaa0e6809be4385e5bdb6c911aac582032c5bdbac3d7750234bf9eaf00438a"}, {"document_id": "1282179", "title": "Demonstrações Financeiras - Fusão, cisão e incorporação", "reference_date": "2026-04-16", "version": "1", "page": 21, "url": "https://fnet.bmfbovespa.com.br/fnet/publico/visualizarDocumento?id=1282179", "sha256": "beb67afbcd64169019477673fd3b7c1edbfabbd9db07379388d8cdd5d3fc9395"}], "reference": {"path": "history/63953620000165.json", "criterion_id": "guarantee", "total_count": 7, "preview_count": 3, "full_text_deferred": true, "sha256": "a7b89077f5e21098c2d601c303faabc3ff6b9729f89d8afecdc60fe1404720c1"}}</a:t>
            </a:r>
          </a:p>
          <a:p>
            <a:r>
              <a:t>CNPJ 54871427000194 · Registro, execução e recuperação · Motivo: Não localizada uma cláusula material para este critério nos textos identificados e processados. A ausência de resultado não comprova inexistência da regra.</a:t>
            </a:r>
          </a:p>
          <a:p>
            <a:r>
              <a:t>CNPJ 60010416000112 · Registro, execução e recuperação · Motivo: Não localizada uma cláusula material para este critério nos textos identificados e processados. A ausência de resultado não comprova inexistência da regra.</a:t>
            </a:r>
          </a:p>
          <a:p>
            <a:r>
              <a:t>CNPJ 62696791000193 · Registro, execução e recuperação · Regulamento · ID 1143317 · 2026-03-20 · versão 1 · p. 45 · 8.7 · https://fnet.bmfbovespa.com.br/fnet/publico/visualizarDocumento?id=1143317</a:t>
            </a:r>
          </a:p>
          <a:p>
            <a:r>
              <a:t>CNPJ 62696791000193 · Registro, execução e recuperação · Excerto da fonte:</a:t>
            </a:r>
          </a:p>
          <a:p>
            <a:r>
              <a:t>8.7. Risco de Execução das Garantias Atreladas aos CRIs. O investimento em CRI inclui uma série  de riscos, dentre estes, o risco de inadimplemento e consequente execução das garantias  outorgadas à respectiva operação e os riscos inerentes à eventual existência de bens imóveis  na composição da carteira da Classe, podendo, nesta hipótese, a rentabilidade da Classe ser  af etada. Em um eventual processo de execução das garantias dos CRI, poderá haver a  necessidade de contratação de consultores, dentre outros custos, que deverão ser suportados  pela Classe, na qualidade de investidor dos CRI. Adicionalmente, a garantia outorgada em  f avor dos CRI pode não ter valor suficiente para suportar as obrigações financeiras atreladas  a tal CRI. Desta f orma, uma série de eventos relacionados à execução de garantias dos CRI  poderá afetar negativamente o valor das Cotas e a rentabilidade do investimento na Classe.</a:t>
            </a:r>
          </a:p>
          <a:p>
            <a:r>
              <a:t>9. Riscos relativos às Participações do Agronegócio</a:t>
            </a:r>
          </a:p>
          <a:p>
            <a:r>
              <a:t>CNPJ 62696791000193 · Registro, execução e recuperação · Condição: Documentos atuais selecionados no inventário por categoria/escopo; a data documental isolada não comprova vigência jurídica.</a:t>
            </a:r>
          </a:p>
          <a:p>
            <a:r>
              <a:t>CNPJ 62696791000193 · Registro, execução e recuperação · Motivo: Cláusula primária localizada e citada, mas sua lista/condições extensas não admitem uma síntese literal curta confirmada. O trecho integral permanece nas fontes.</a:t>
            </a:r>
          </a:p>
          <a:p>
            <a:r>
              <a:t>CNPJ 62696791000193 · Registro, execução e recuperação · Versão e prevalência: Documentos atuais selecionados no inventário por categoria/escopo; a data documental isolada não comprova vigência jurídica.</a:t>
            </a:r>
          </a:p>
          <a:p>
            <a:r>
              <a:t>CNPJ 55563624000109 · Registro, execução e recuperação · Motivo: Não localizada uma cláusula material para este critério nos textos identificados e processados. A ausência de resultado não comprova inexistência da regra.</a:t>
            </a:r>
          </a:p>
          <a:p>
            <a:r>
              <a:t>CNPJ 62552447000120 · Registro, execução e recuperação · Motivo: Não localizada uma cláusula material para este critério nos textos identificados e processados. A ausência de resultado não comprova inexistência da regra.</a:t>
            </a:r>
          </a:p>
          <a:p>
            <a:r>
              <a:t>CNPJ 63953620000165 · Registro, execução e recuperação · Motivo: Não localizada uma cláusula material para este critério nos textos identificados e processados. A ausência de resultado não comprova inexistência da regra.</a:t>
            </a:r>
          </a:p>
          <a:p>
            <a:r>
              <a:t>CNPJ 54871427000194 · Cobrança e servicing · Regulamento · ID 670691 · 28/04/2024 · versão Regulamento — referência 28/04/2024 · p. 44 · Complemento 2, Régua de Cobrança, Desconto e Comissão · https://fnet.bmfbovespa.com.br/fnet/publico/visualizarDocumento?id=670691</a:t>
            </a:r>
          </a:p>
          <a:p>
            <a:r>
              <a:t>CNPJ 54871427000194 · Cobrança e servicing · Excerto da fonte:</a:t>
            </a:r>
          </a:p>
          <a:p>
            <a:r>
              <a:t>Régua de Cobrança A partir da comunicação da desaverbação do a partir de 31 dias a partir de 60 dias contrato - Notificação (canais digitais) - Negativação SERASA - PROTESTO Repescagem diária na - Cobrança terceirizada - Repescagem diária na conta corrente - Repescagem diária na conta corrente conta corrente DESCONTO Normal Atraso Multa e Mora Principal 15 a 90 0% 0% 91 a 180 100% 0% 181 a 270 100% 20% 271 a 360 100% 30% Acima de 360 100% 50% COMISSÃO Faixa de Atraso % comissão De 15 a 90 dias 12% De 90 a 180 dias 15% De 181 a 270 dias 20%</a:t>
            </a:r>
          </a:p>
          <a:p>
            <a:r>
              <a:t>CNPJ 54871427000194 · Cobrança e servicing · Condição: A tabela de comissões se refere à cobrança/recuperação por faixa de atraso; a remuneração geral do agente está remetida ao contrato na cláusula 13.7.</a:t>
            </a:r>
          </a:p>
          <a:p>
            <a:r>
              <a:t>CNPJ 54871427000194 · Cobrança e servicing · Versão e prevalência: Leitura específica das cláusulas indicadas; condições e conflitos preservados. Seleção documental atual não comprova vigência jurídica por data isolada.</a:t>
            </a:r>
          </a:p>
          <a:p>
            <a:r>
              <a:t>CNPJ 60010416000112 · Cobrança e servicing · Regulamento · ID 1051393 · 2025-10-09 · versão 1 · p. 33 · 14.2.5 · https://fnet.bmfbovespa.com.br/fnet/publico/visualizarDocumento?id=1051393</a:t>
            </a:r>
          </a:p>
          <a:p>
            <a:r>
              <a:t>CNPJ 60010416000112 · Cobrança e servicing · Excerto da fonte:</a:t>
            </a:r>
          </a:p>
          <a:p>
            <a:r>
              <a:t>14.2.5 O Agente de Retenção/Cobrança poderá realizar a cobrança do Direitos Creditórios de forma ativa  caso seja verif icado, pelo Agente de Retenção/Cobrança que o Empregador não ef etuou a  Escrituração ou em caso de perda do vínculo empregatício do Devedor com o Empregador. A  cobrança ativa será mantida até que a Escrituração seja realizada e/ou até que o Devedor retome  o vínculo empregatício, observado o disposto abaixo:</a:t>
            </a:r>
          </a:p>
          <a:p>
            <a:r>
              <a:t> (i) As medidas adotadas pelo Agente de Retenção/Cobrança deverão observar a política  de cobrança adotada pelo Custodiante; e</a:t>
            </a:r>
          </a:p>
          <a:p>
            <a:r>
              <a:t> (ii) Uma vez retomado o vínculo empregatício, o Agente de Retenção/Cobrança deverá aditar  a CCB e/ou realizar o Processo de Reinicialização (conforme detalhado no Contrato de  Endosso).</a:t>
            </a:r>
          </a:p>
          <a:p>
            <a:r>
              <a:t>CAPÍTULO 15 – FATORES DE RISCO</a:t>
            </a:r>
          </a:p>
          <a:p>
            <a:r>
              <a:t>CNPJ 60010416000112 · Cobrança e servicing · Condição: Documentos atuais selecionados no inventário por categoria/escopo; a data documental isolada não comprova vigência jurídica.</a:t>
            </a:r>
          </a:p>
          <a:p>
            <a:r>
              <a:t>CNPJ 60010416000112 · Cobrança e servicing · Versão e prevalência: Documentos atuais selecionados no inventário por categoria/escopo; a data documental isolada não comprova vigência jurídica.</a:t>
            </a:r>
          </a:p>
          <a:p>
            <a:r>
              <a:t>CNPJ 60010416000112 · Cobrança e servicing · Resumo do histórico: {"count": 1, "dates": ["2025-03-20"], "document_count": 1, "sources": [{"document_id": "993786", "title": "Regulamento", "reference_date": "2025-03-20", "version": "1", "page": 33, "clause": "14.2.5", "url": "https://fnet.bmfbovespa.com.br/fnet/publico/visualizarDocumento?id=993786", "sha256": "fd0fdd369a195510d81f81f505195a0b09e5f43522a990afa7d58c4f872921c8"}], "reference": {"path": "history/60010416000112.json", "criterion_id": "servicing", "total_count": 1, "preview_count": 1, "full_text_deferred": true, "sha256": "8e2bd813f4c51cf01f6bfaad164bafe69d2bbb192f753eac92da3a01c2e63046"}}</a:t>
            </a:r>
          </a:p>
          <a:p>
            <a:r>
              <a:t>CNPJ 62696791000193 · Cobrança e servicing · Regulamento · ID 1143317 · 2026-03-20 · versão 1 · p. 43 · 7.7 · https://fnet.bmfbovespa.com.br/fnet/publico/visualizarDocumento?id=1143317</a:t>
            </a:r>
          </a:p>
          <a:p>
            <a:r>
              <a:t>CNPJ 62696791000193 · Cobrança e servicing · Excerto da fonte:</a:t>
            </a:r>
          </a:p>
          <a:p>
            <a:r>
              <a:t>7.7. Falhas de Cobrança. A cobrança dos Direitos Creditórios do Agronegócio Inadimplidos de  titularidade da Classe depende da atuação diligente do agente de cobrança. Qualquer f alha  de procedimento ou ineficiência do agente de cobrança poderá acarretar menor recebimento  dos recursos devidos pelos Devedores, levando à queda da rentabilidade da Classe.</a:t>
            </a:r>
          </a:p>
          <a:p>
            <a:r>
              <a:t> Adicionalmente, nada garante que a cobrança judicial dos Direitos Creditórios do Agronegócio  Inadimplidos levará à recuperação total dos Direitos Creditórios do Agronegócio Inadimplidos,  o que poderá implicar perdas patrimoniais à Classe e aos Cotistas.</a:t>
            </a:r>
          </a:p>
          <a:p>
            <a:r>
              <a:t>CNPJ 62696791000193 · Cobrança e servicing · Regulamento · ID 1143317 · 2026-03-20 · versão 1 · p. 9 · 3.2 · https://fnet.bmfbovespa.com.br/fnet/publico/visualizarDocumento?id=1143317</a:t>
            </a:r>
          </a:p>
          <a:p>
            <a:r>
              <a:t>CNPJ 62696791000193 · Cobrança e servicing · Excerto da fonte:</a:t>
            </a:r>
          </a:p>
          <a:p>
            <a:r>
              <a:t>3.2 Sem prejuízo de outras despesas que venham a ser aprovadas em Assembleia Especial, são Encargos  da Classe:</a:t>
            </a:r>
          </a:p>
          <a:p>
            <a:r>
              <a:t> (i) despesas com consultoria especializada;</a:t>
            </a:r>
          </a:p>
          <a:p>
            <a:r>
              <a:t> (ii) despesas com agente de cobrança.</a:t>
            </a:r>
          </a:p>
          <a:p>
            <a:r>
              <a:t>CNPJ 62696791000193 · Cobrança e servicing · Condição: Documentos atuais selecionados no inventário por categoria/escopo; a data documental isolada não comprova vigência jurídica.</a:t>
            </a:r>
          </a:p>
          <a:p>
            <a:r>
              <a:t>CNPJ 62696791000193 · Cobrança e servicing · Versão e prevalência: Documentos atuais selecionados no inventário por categoria/escopo; a data documental isolada não comprova vigência jurídica.</a:t>
            </a:r>
          </a:p>
          <a:p>
            <a:r>
              <a:t>CNPJ 55563624000109 · Cobrança e servicing · Regulamento · ID 1192614 · 2026-04-30 · versão 1 · p. 11 · https://fnet.bmfbovespa.com.br/fnet/publico/visualizarDocumento?id=1192614</a:t>
            </a:r>
          </a:p>
          <a:p>
            <a:r>
              <a:t>CNPJ 55563624000109 · Cobrança e servicing · Excerto da fonte:</a:t>
            </a:r>
          </a:p>
          <a:p>
            <a:r>
              <a:t>(vi) Emolumentos e comissões pagas por operações da Carteira da Classe;</a:t>
            </a:r>
          </a:p>
          <a:p>
            <a:r>
              <a:t> (vii) Despesas com a manutenção de ativos cuja propriedade decorra da execução de garantia ou de acordo  com o respectivo devedor;</a:t>
            </a:r>
          </a:p>
          <a:p>
            <a:r>
              <a:t> (viii) Honorários de advogados, custas e despesas processuais correlatas incorridos em defesa dos interesses  do FUNDO ou da Classe, em juízo ou fora dele, inclusive o valor da condenação imputada, se for o caso;</a:t>
            </a:r>
          </a:p>
          <a:p>
            <a:r>
              <a:t> (ix) Gastos derivados da celebração de contratos de seguro sobre os ativos integrantes da Carteira da Classe,  assim como a parcela de prejuízos da Carteira não coberta por apólices de seguro, salvo se decorrente  diretamente de culpa ou dolo dos prestadores de serviços da Classe no exercício de suas respectivas  funções;</a:t>
            </a:r>
          </a:p>
          <a:p>
            <a:r>
              <a:t> (x) Despesas relacionadas ao exercício do direito de voto decorrente dos ativos integrantes da Carteira;</a:t>
            </a:r>
          </a:p>
          <a:p>
            <a:r>
              <a:t> (xi) Despesas com a realização da Assembleia de Cotistas;</a:t>
            </a:r>
          </a:p>
          <a:p>
            <a:r>
              <a:t> (xii) Despesas inerentes à constituição, à fusão, à incorporação, à cisão, à transformação ou à liquidação da  Classe;</a:t>
            </a:r>
          </a:p>
          <a:p>
            <a:r>
              <a:t> (xiii) Despesas com a liquidação, o registro e a custódia de operações com os ativos integrantes da Carteira;</a:t>
            </a:r>
          </a:p>
          <a:p>
            <a:r>
              <a:t> (xiv) Despesas com o fechamento de câmbio, vinculadas às operações da Carteira da Classe;</a:t>
            </a:r>
          </a:p>
          <a:p>
            <a:r>
              <a:t> (xv) Despesas inerentes à distribuição primária das Cotas e à admissão das Cotas à negociação em mercado  organizado;</a:t>
            </a:r>
          </a:p>
          <a:p>
            <a:r>
              <a:t> (xvi) Taxa de Administração e a Taxa de Gestão;</a:t>
            </a:r>
          </a:p>
          <a:p>
            <a:r>
              <a:t> (xvii) Despesas com a contratação de consultoria especializada, conforme o caso;</a:t>
            </a:r>
          </a:p>
          <a:p>
            <a:r>
              <a:t> (xviii) Despesas com a contratação de agente de cobrança, conforme o caso;</a:t>
            </a:r>
          </a:p>
          <a:p>
            <a:r>
              <a:t> (xix) Despesas decorrentes de empréstimos contraídos em nome da Classe, nos termos da Resolução CVM  175 e deste Anexo;</a:t>
            </a:r>
          </a:p>
          <a:p>
            <a:r>
              <a:t> (xx) Taxa mínima de custódia, se houver; e</a:t>
            </a:r>
          </a:p>
          <a:p>
            <a:r>
              <a:t> (xxi) Montantes devidos a fundos investidores, na hipótese de remuneração com base na taxa de  administração, performance ou gestão, observado o disposto no art. 99 da parte geral da Resolução  CVM 175.</a:t>
            </a:r>
          </a:p>
          <a:p>
            <a:r>
              <a:t>CNPJ 55563624000109 · Cobrança e servicing · Condição: Documentos atuais selecionados no inventário por categoria/escopo; a data documental isolada não comprova vigência jurídica.</a:t>
            </a:r>
          </a:p>
          <a:p>
            <a:r>
              <a:t>CNPJ 55563624000109 · Cobrança e servicing · Motivo: Cláusula primária localizada e citada, mas sua lista/condições extensas não admitem uma síntese literal curta confirmada. O trecho integral permanece nas fontes.</a:t>
            </a:r>
          </a:p>
          <a:p>
            <a:r>
              <a:t>CNPJ 55563624000109 · Cobrança e servicing · Versão e prevalência: Documentos atuais selecionados no inventário por categoria/escopo; a data documental isolada não comprova vigência jurídica.</a:t>
            </a:r>
          </a:p>
          <a:p>
            <a:r>
              <a:t>CNPJ 62552447000120 · Cobrança e servicing · Regulamento · ID 1200623 · 2026-05-21 · versão 1 · p. 6 · https://fnet.bmfbovespa.com.br/fnet/publico/visualizarDocumento?id=1200623</a:t>
            </a:r>
          </a:p>
          <a:p>
            <a:r>
              <a:t>CNPJ 62552447000120 · Cobrança e servicing · Excerto da fonte:</a:t>
            </a:r>
          </a:p>
          <a:p>
            <a:r>
              <a:t>integrantes do conglomerado econômico de instituições  f inanceiras classificadas como S1 pelo Banco Central do  Brasil (“BACEN” e “Instituições Financeiras S1”,  respectivamente), desde que não representem títulos de  emissão ou coobrigação de instituições financeiras, bem  como cotas de f undos de investimento que invistam  preponderantemente nestes direitos, títulos e/ou valores  mobiliários; e</a:t>
            </a:r>
          </a:p>
          <a:p>
            <a:r>
              <a:t> (d) “Direitos Creditórios Refinanciamento Livre”, na forma  de CCBs originadas no âmbito de um refinanciamento, de  acordo com a política de cobrança vigente, de Direitos  Creditórios Consignado Privado e de Direitos Creditórios  FGTS, que não contem com o lastro de Consignação ou  de cessão f iduciária do Saque-Aniversário,  respectivamente; e</a:t>
            </a:r>
          </a:p>
          <a:p>
            <a:r>
              <a:t> (ii) “Ativos Financeiros”, assim entendidos como, em conjunto:</a:t>
            </a:r>
          </a:p>
          <a:p>
            <a:r>
              <a:t> (a) moeda corrente nacional;</a:t>
            </a:r>
          </a:p>
          <a:p>
            <a:r>
              <a:t> (b) títulos públicos f ederais;</a:t>
            </a:r>
          </a:p>
          <a:p>
            <a:r>
              <a:t> (c) ativos f inanceiros de renda f ixa de emissão ou  coobrigação de Instituições Financeiras S1;</a:t>
            </a:r>
          </a:p>
          <a:p>
            <a:r>
              <a:t> (d) operações compromissadas, desde que lastreadas nos  títulos mencionados nas alíneas (b) e (c) acima; e</a:t>
            </a:r>
          </a:p>
          <a:p>
            <a:r>
              <a:t> (e) cotas do BTG Pactual Tesouro Selic Fundo de  Investimento Renda Fixa Ref erenciado DI, inscrito no  CNPJ sob o nº 09.215.250/0001-13;</a:t>
            </a:r>
          </a:p>
          <a:p>
            <a:r>
              <a:t> observados todos os limites de composição e diversificação da carteira da  Classe (“Carteira”), estabelecidos neste Regulamento e na  regulamentação aplicável.</a:t>
            </a:r>
          </a:p>
          <a:p>
            <a:r>
              <a:t> O objetivo da Classe não representa, sob qualquer hipótese, promessa,  garantia ou sugestão da Classe ou de seus Prestadores de Serviços  Essenciais quanto à segurança, rentabilidade e liquidez dos títulos  componentes de sua Carteira.</a:t>
            </a:r>
          </a:p>
          <a:p>
            <a:r>
              <a:t>CNPJ 62552447000120 · Cobrança e servicing · Regulamento · ID 1200623 · 2026-05-21 · versão 1 · p. 7 · https://fnet.bmfbovespa.com.br/fnet/publico/visualizarDocumento?id=1200623</a:t>
            </a:r>
          </a:p>
          <a:p>
            <a:r>
              <a:t>CNPJ 62552447000120 · Cobrança e servicing · Excerto da fonte:</a:t>
            </a:r>
          </a:p>
          <a:p>
            <a:r>
              <a:t>(c) atendam, pro forma, na Data de Aquisição, aos  limites de concentração definidos no Capítulo 4 deste  Anexo I;</a:t>
            </a:r>
          </a:p>
          <a:p>
            <a:r>
              <a:t> (d) não haver disposição legal ou regulamentar  aprovada, ou ordem judicial ou administrativa  emitida, que tenha como objetivo impedir ou impor  limites ou exigências adicionais para o endosso de  Direitos Creditórios decorrentes de transações  dedutíveis da f olha de pagamento a f undos de  investimento;</a:t>
            </a:r>
          </a:p>
          <a:p>
            <a:r>
              <a:t> (e) atendam à Política de Crédito e, conforme aplicável,  à Política de Cobrança; e</a:t>
            </a:r>
          </a:p>
          <a:p>
            <a:r>
              <a:t>CNPJ 62552447000120 · Cobrança e servicing · Regulamento · ID 1200623 · 2026-05-21 · versão 1 · p. 3 · 2.1.2 · https://fnet.bmfbovespa.com.br/fnet/publico/visualizarDocumento?id=1200623</a:t>
            </a:r>
          </a:p>
          <a:p>
            <a:r>
              <a:t>CNPJ 62552447000120 · Cobrança e servicing · Excerto da fonte:</a:t>
            </a:r>
          </a:p>
          <a:p>
            <a:r>
              <a:t>2.1.2 Não obstante as atribuições previstas neste Regulamento e na regulamentação aplicável, cabe  ao Gestor praticar os atos necessários à gestão da Carteira. Assim, em linha com o art. 85 da  Parte Geral da Resolução CVM 175 e com o art. 32 do Anexo Normativo II, o Gestor pode  contratar, em nome do Fundo e/ou da Classe, os seguintes serviços: (a) intermediação de  operações para a Carteira; (b) distribuição de Cotas; (c) consultoria de investimentos; (d)  classificação de risco por agência classificadora de risco; (e) cogestão da Carteira; (f) formador  de mercado; e, eventualmente, (g) consultoria especializada; (h) agente de cobrança, e (i)  outros serviços em benef ício do Fundo ou da classe.</a:t>
            </a:r>
          </a:p>
          <a:p>
            <a:r>
              <a:t>CNPJ 62552447000120 · Cobrança e servicing · Condição: Documentos atuais selecionados no inventário por categoria/escopo; a data documental isolada não comprova vigência jurídica.</a:t>
            </a:r>
          </a:p>
          <a:p>
            <a:r>
              <a:t>CNPJ 62552447000120 · Cobrança e servicing · Versão e prevalência: Documentos atuais selecionados no inventário por categoria/escopo; a data documental isolada não comprova vigência jurídica.</a:t>
            </a:r>
          </a:p>
          <a:p>
            <a:r>
              <a:t>CNPJ 63953620000165 · Cobrança e servicing · Anexo ao Regulamento · ID 1222863 · 2026-06-02 · versão 1 · p. 8 · 4.25 · https://fnet.bmfbovespa.com.br/fnet/publico/visualizarDocumento?id=1222863</a:t>
            </a:r>
          </a:p>
          <a:p>
            <a:r>
              <a:t>CNPJ 63953620000165 · Cobrança e servicing · Excerto da fonte:</a:t>
            </a:r>
          </a:p>
          <a:p>
            <a:r>
              <a:t>4.25 É vedada qualquer forma de antecipação de recursos às Cedentes/aos Endossantes para posterior reembolso  pela Classe, seja pelo Administrador, Gestor, Custodiante, Consultora ou Agente de Cobrança.</a:t>
            </a:r>
          </a:p>
          <a:p>
            <a:r>
              <a:t>CNPJ 63953620000165 · Cobrança e servicing · Condição: Documentos atuais selecionados no inventário por categoria/escopo; a data documental isolada não comprova vigência jurídica.</a:t>
            </a:r>
          </a:p>
          <a:p>
            <a:r>
              <a:t>CNPJ 63953620000165 · Cobrança e servicing · Versão e prevalência: Documentos atuais selecionados no inventário por categoria/escopo; a data documental isolada não comprova vigência jurídica.</a:t>
            </a:r>
          </a:p>
          <a:p>
            <a:r>
              <a:t>CNPJ 63953620000165 · Cobrança e servicing · Resumo do histórico: {"count": 6, "dates": ["2026-04-28", "2026-05-08", "2026-05-15"], "document_count": 3, "sources": [{"document_id": "1327859", "title": "Demonstrações Financeiras - Fusão, cisão e incorporação", "reference_date": "2026-05-15", "version": "1", "page": 29, "url": "https://fnet.bmfbovespa.com.br/fnet/publico/visualizarDocumento?id=1327859", "sha256": "dca1c68babb97f887528c3e2e47596a9c30f507b067981a35655b2f2da9c8054"}, {"document_id": "1298691", "title": "Demonstrações Financeiras - Fusão, cisão e incorporação", "reference_date": "2026-05-08", "version": "1", "page": 5, "url": "https://fnet.bmfbovespa.com.br/fnet/publico/visualizarDocumento?id=1298691", "sha256": "58c570d9b8d4d265330d3db3ea81c435b8e44a6dab4002aa37790652a1ee9819"}, {"document_id": "1282180", "title": "Demonstrações Financeiras - Fusão, cisão e incorporação", "reference_date": "2026-04-28", "version": "1", "page": 30, "url": "https://fnet.bmfbovespa.com.br/fnet/publico/visualizarDocumento?id=1282180", "sha256": "afaaa0e6809be4385e5bdb6c911aac582032c5bdbac3d7750234bf9eaf00438a"}], "reference": {"path": "history/63953620000165.json", "criterion_id": "servicing", "total_count": 6, "preview_count": 3, "full_text_deferred": true, "sha256": "a7b89077f5e21098c2d601c303faabc3ff6b9729f89d8afecdc60fe1404720c1"}}</a:t>
            </a:r>
          </a:p>
          <a:p>
            <a:r>
              <a:t>CNPJ 54871427000194 · Conta de arrecadação e risco de trânsito · Regulamento · ID 670691 · 28/04/2024 · versão Regulamento — referência 28/04/2024 · p. 9 · Anexo I, 4.3 e 4.6 · https://fnet.bmfbovespa.com.br/fnet/publico/visualizarDocumento?id=670691</a:t>
            </a:r>
          </a:p>
          <a:p>
            <a:r>
              <a:t>CNPJ 54871427000194 · Conta de arrecadação e risco de trânsito · Excerto da fonte:</a:t>
            </a:r>
          </a:p>
          <a:p>
            <a:r>
              <a:t>4.3 Os pagamentos relativos aos Direitos Creditórios de titularidade da Classe serão realizados mediante consignação em folha, débito em conta de titularidade dos Devedores e pagamentos de sinistros, para pagamento dos valores correspondentes às parcelas das CCBs representadas pelos CCCBs de titularidade da Classe, os quais serão conciliados e repassados pelo Endossante para a conta corrente da Classe. 4.4 Os Direitos Creditórios deverão contar com Documentos Comprobatórios que evidenciem sua existência, validade e exequibilidade perante os respectivos Devedores . 4.4.1 Os Direitos Creditórios serão adquiridos pela Classe por meio de Contrato de Endosso f irmados entre a Classe e o Endossante e os respectivos Termos de Endosso, acompanhados de todos os direitos, privilégios, preferências, prerrogativas, ações e garantias assegurados aos seus titulares, observada a Política de Investimentos e as demais disposições deste Regulamento e da legislação e regulamentação aplicáveis. 4.5 O Endossante deverá realizar análise cadastral e de crédito dos Devedores, previamente à aquisição de Direitos Creditórios pela Classe. O disposto neste item não impede o ADMINISTRAD</a:t>
            </a:r>
          </a:p>
          <a:p>
            <a:r>
              <a:t>CNPJ 54871427000194 · Conta de arrecadação e risco de trânsito · Regulamento · ID 670691 · 28/04/2024 · versão Regulamento — referência 28/04/2024 · p. 9 · Anexo I, 4.6 · https://fnet.bmfbovespa.com.br/fnet/publico/visualizarDocumento?id=670691</a:t>
            </a:r>
          </a:p>
          <a:p>
            <a:r>
              <a:t>CNPJ 54871427000194 · Conta de arrecadação e risco de trânsito · Excerto da fonte:</a:t>
            </a:r>
          </a:p>
          <a:p>
            <a:r>
              <a:t>4.6 A cobrança ordinária e recebimento de Direitos Creditórios pela Classe é realizada mediante a liquidação dos recursos através de débito dos salários a receber pelos Devedores do órgão consignante ou através da consignação direto da folha, sendo certo que o GESTOR e/ou o Custodiante f arão o monitoramento do pagamento dos Direitos Creditórios através da validação do Arquivo de Liquidação, do Relatório de Repasse, e consulta oriunda do sistema da processadora conveniada ao órgão consignante, responsável pela consignação em f olha de pagamento ou de benef ício dos Devedores (averbação, débito e repasse). Critérios de Elegibilidade 4.7 A Classe somente poderá adquirir os Direitos Creditórios que atendam cumulativamente aos seguintes Critérios de Elegibilidade, a serem verif icados e validados pelo GESTOR, de f orma individualizada e integral, previamente à cessão e na respectiva Data de Aquisição, de modo que apenas são passíveis de aquisição pela Classe os Direitos Creditórios que, na Data de Aquisição: (i) CCBs sem qualquer parcela cedida; (ii) CCBs com diferença menor que 60 (sessenta) dias entre a data provável do endosso e a próxima parcela a vencer;</a:t>
            </a:r>
          </a:p>
          <a:p>
            <a:r>
              <a:t>CNPJ 54871427000194 · Conta de arrecadação e risco de trânsito · Condição: A mecânica prevê passagem dos recursos pelo endossante; o regulamento não estabelece, nesta cláusula, repasse direto automático pelo órgão consignante.</a:t>
            </a:r>
          </a:p>
          <a:p>
            <a:r>
              <a:t>CNPJ 54871427000194 · Conta de arrecadação e risco de trânsito · Versão e prevalência: Leitura específica das cláusulas indicadas; condições e conflitos preservados. Seleção documental atual não comprova vigência jurídica por data isolada.</a:t>
            </a:r>
          </a:p>
          <a:p>
            <a:r>
              <a:t>CNPJ 54871427000194 · Conta de arrecadação e risco de trânsito · Resumo do histórico: {"count": 1, "dates": ["2024-04-19"], "document_count": 1, "sources": [{"document_id": "670689", "title": "Regulamento", "reference_date": "2024-04-19", "version": "1", "page": 25, "url": "https://fnet.bmfbovespa.com.br/fnet/publico/visualizarDocumento?id=670689", "sha256": "891bc9bc5d87bbc02ec139077a84d2702eb81ea02035fb71d24f5b8366b94a0b"}], "reference": {"path": "history/54871427000194.json", "criterion_id": "collection_account", "total_count": 1, "preview_count": 1, "full_text_deferred": true, "sha256": "35d7cd99be50c7287c9fb675cf4f2e736002315295a225a9efa79c8d9186d874"}}</a:t>
            </a:r>
          </a:p>
          <a:p>
            <a:r>
              <a:t>CNPJ 60010416000112 · Conta de arrecadação e risco de trânsito · Regulamento · ID 1051393 · 2025-10-09 · versão 1 · p. 32 · 14.2.1 · https://fnet.bmfbovespa.com.br/fnet/publico/visualizarDocumento?id=1051393</a:t>
            </a:r>
          </a:p>
          <a:p>
            <a:r>
              <a:t>CNPJ 60010416000112 · Conta de arrecadação e risco de trânsito · Excerto da fonte:</a:t>
            </a:r>
          </a:p>
          <a:p>
            <a:r>
              <a:t>14.2.1 Os valores indicados nos Arquivos Dataprev em relação aos Direitos Creditórios endossados à  Classe e depositados mensalmente pela CEF na Conta Vinculada serão cobrados/recebidos da  seguinte f orma:</a:t>
            </a:r>
          </a:p>
          <a:p>
            <a:r>
              <a:t> (i) mensalmente, após o processamento da f olha de pagamento dos Devedores, a Dataprev  enviará os Arquivos Dataprev ao Endossante;</a:t>
            </a:r>
          </a:p>
          <a:p>
            <a:r>
              <a:t> (ii) ao receber os Arquivos Dataprev, o Endossante os disponibilizará ao Custodiante e ao  Agente de Retenção/Cobrança, através de uma interf ace de programação de aplicações  (API), no mesmo dia que forem disponibilizados pela Dataprev, ou no Dia Útil subsequente,  se f orem disponibilizados pela Dataprev após 16:00 (horário de Brasília) sem f azer qualquer  modif icação em suas respectivas inf ormações;</a:t>
            </a:r>
          </a:p>
          <a:p>
            <a:r>
              <a:t> (iii) até 2º (segundo) Dia Útil após o recebimento dos valores repassados pelos Empregadores,  a CEF ef etuará uma transf erência eletrônica disponível (TED) diretamente para a Conta  Vinculada relevante com o valor declarado no Arquivo de Consignações;</a:t>
            </a:r>
          </a:p>
          <a:p>
            <a:r>
              <a:t> (iv) o Endossante, na qualidade de Agente da Conta Vinculada, transferirá os valores devidos  à Classe para a Conta de Cobrança da Classe, de acordo com o Contrato de Conta  Vinculada; e</a:t>
            </a:r>
          </a:p>
          <a:p>
            <a:r>
              <a:t> (v) tendo recebido os Arquivos Dataprev e os valores indicados no item (iv), o Custodiante  realizará a reconciliação dos valores devidos à Classe e/ou ao Endossante.</a:t>
            </a:r>
          </a:p>
          <a:p>
            <a:r>
              <a:t>CNPJ 60010416000112 · Conta de arrecadação e risco de trânsito · Regulamento · ID 1051393 · 2025-10-09 · versão 1 · p. 28 · https://fnet.bmfbovespa.com.br/fnet/publico/visualizarDocumento?id=1051393</a:t>
            </a:r>
          </a:p>
          <a:p>
            <a:r>
              <a:t>CNPJ 60010416000112 · Conta de arrecadação e risco de trânsito · Excerto da fonte:</a:t>
            </a:r>
          </a:p>
          <a:p>
            <a:r>
              <a:t>Anexo I ao Regulamento CLASSE ÚNICA DO MT I CONSIGNADO PRIVADO I FUNDO DE INVESTIMENTO EM DIREITOS CREDITÓRIOS RESPONSABILIDADE LIMITADA  Documentos Comprobatórios e os Documentos Suporte que comprovam a operação, observados os  procedimentos operacionais da Entidade Registradora;</a:t>
            </a:r>
          </a:p>
          <a:p>
            <a:r>
              <a:t> (ii) receber, em nome da Classe, pagamentos de Direitos Creditórios, amortização ou resgate de Ativos  Financeiros ou qualquer outro rendimento dos ativos mantidos em custódia, mediante o recebimento  de valores diretamente na Conta de Cobrança da Classe ou transf eridos da Conta Vinculada;</a:t>
            </a:r>
          </a:p>
          <a:p>
            <a:r>
              <a:t> (iii) cobrar e receber, em nome da Classe, pagamentos, resgate de títulos ou qualquer outro rendimento  relativo aos ativos da Carteira, depositando os valores recebidos diretamente em conta de titularidade  da classe ou, se f or o caso, em conta-vinculada;</a:t>
            </a:r>
          </a:p>
          <a:p>
            <a:r>
              <a:t> (iv) realizar a guarda da documentação relativa ao lastro dos Direitos Creditórios;</a:t>
            </a:r>
          </a:p>
          <a:p>
            <a:r>
              <a:t> (v) realizar a reconciliação dos valores depositados na Conta de Cobrança da Classe;</a:t>
            </a:r>
          </a:p>
          <a:p>
            <a:r>
              <a:t> (vi)</a:t>
            </a:r>
          </a:p>
          <a:p>
            <a:r>
              <a:t> (vii) assegurar que inconsistências indicadas nos relatórios de verif icação dos Documentos  Comprobatórios e dos Documentos Suporte representativos dos Direitos Creditórios e seu endosso  à Classe sejam tratadas tempestivamente.</a:t>
            </a:r>
          </a:p>
          <a:p>
            <a:r>
              <a:t>CNPJ 60010416000112 · Conta de arrecadação e risco de trânsito · Regulamento · ID 1051393 · 2025-10-09 · versão 1 · p. 39 · https://fnet.bmfbovespa.com.br/fnet/publico/visualizarDocumento?id=1051393</a:t>
            </a:r>
          </a:p>
          <a:p>
            <a:r>
              <a:t>CNPJ 60010416000112 · Conta de arrecadação e risco de trânsito · Excerto da fonte:</a:t>
            </a:r>
          </a:p>
          <a:p>
            <a:r>
              <a:t>Anexo I ao Regulamento CLASSE ÚNICA DO MT I CONSIGNADO PRIVADO I FUNDO DE INVESTIMENTO EM DIREITOS CREDITÓRIOS RESPONSABILIDADE LIMITADA  da Classe e, de forma extraordinária, para a Conta de Movimentação da Classe. Em caso de  intervenção ou liquidação extrajudicial das instituições f inanceiras onde a Conta de Cobrança  da Classe e a Conta de Movimentação da Classe são mantidas, os fundos nelas depositados  poderão ser bloqueados e recuperados pela Classe somente através de uma ordem judicial,  o que af etaria seu retorno e poderia causar perda de parte de seus ativos.</a:t>
            </a:r>
          </a:p>
          <a:p>
            <a:r>
              <a:t> (ix) Risco de bloqueio da Conta Vinculada: a Conta Vinculada para a qual os recursos  provenientes do pagamento dos Direitos Creditórios serão direcionados poderá ser  bloqueada, dentre outros, (i) no caso de intervenção ou liquidação extrajudicial do  Endossante, ou (ii) no caso de decisões judiciais serem proferidas em demandas ajuizadas  contra o Endossante, determinando o bloqueio. Em qualquer desses eventos, esses recursos  de propriedade da Classe só poderão ser recuperados em juízo. Essa recuperação poderá  levar tempo para ser ef etuada ou mesmo não obter êxito, o que af etaria a rentabilidade da  Classe e poderia f azê-lo perder parte de seus ativos.</a:t>
            </a:r>
          </a:p>
          <a:p>
            <a:r>
              <a:t> (x) Risco de patrimônio líquido negativo: as estratégias de investimento adotadas pela  Classe, bem como o pagamento de remuneração aos prestadores de serviços da Classe,  podem f azer com que seu Patrimônio Líquido se torne negativo, hipótese em que o Cotista  poderá ser solicitado a f azer aportes adicionais de recursos, a f im de permitir que a Classe  cumpra suas obrigações.</a:t>
            </a:r>
          </a:p>
          <a:p>
            <a:r>
              <a:t> (xi) Risco de cobrança judicial ou extrajudicial: quando não f orem pagos os Direitos  Creditórios que compõem a Carteira, poderá haver cobrança judicial ou extrajudicial dos  valores devidos, mediante decisão dos Cotistas na Assembleia de Cotistas nos termos desse  Anexo I. Entretanto, não há garantia de que, em qualquer desses casos, os procedimentos  de cobrança acima mencionados serão aprovados na Assembleia Especial de Cotistas e,  caso aprovados, de que tais procedimentos atingirão os resultados desejados, nem de que  a Classe terá êxito em recuperar quaisquer valores inadimplidos, o que poderá resultar em  perdas para a Classe.</a:t>
            </a:r>
          </a:p>
          <a:p>
            <a:r>
              <a:t> (xii) Possibilidade de conflito de interesses entre a Classe e o Agente de  Retenção/Cobrança. O Agente de Retenção/Cobrança eventualmente possui ou pode vir a  possuir relacionamento comercial com o Endossante e/ou Devedores, de modo que, em  determinadas circunstâncias seus interesses podem ser conflitantes com os interesses da  Classe. Não é possível garantir que, materializada uma situação de conflito de interesses  conf orme descrita acima, o Agente de Retenção/Cobrança exponha-a adequadamente ao  Administrador e/ou aos Cotistas, ou que o faça absolutamente, tampouco que agirá no melhor  no interesse da Classe. Nesses casos, a Classe pode vir a adquirir Direitos Creditórios ou  pode vir a ter seus Direitos Creditórios Inadimplidos pagos em condições comparativamente  menos vantajosas àquelas que seriam verificadas na ausência de tais conflitos de interesses.</a:t>
            </a:r>
          </a:p>
          <a:p>
            <a:r>
              <a:t> Nesses casos, o Patrimônio Líquido pode ser af etado adversamente.</a:t>
            </a:r>
          </a:p>
          <a:p>
            <a:r>
              <a:t> (xiii) Risco de intervenção ou liquidação judicial do Administrador. A Classe está sujeito ao  risco dos efeitos de decretação de intervenção ou de liquidação judicial do Administrador e/ou  do Custodiante, nos termos da Lei nº 6.024, de 13 de março de 1974, conf orme alterada.</a:t>
            </a:r>
          </a:p>
          <a:p>
            <a:r>
              <a:t> (xiv) Patrimônio Líquido negativo. Os investimentos da Classe estão, por sua natureza, sujeitos  a f lutuações típicas de mercado, risco de crédito, risco sistêmico, condições adversas de  liquidez e negociação atípica nos mercados de atuação, sendo que não há garantia de  completa eliminação da possibilidade de perdas para a Classe e para os Cotistas. Além disso,  as estratégias de investimento adotadas pela Classe poderão f azer com que a Classe  apresente Patrimônio Líquido negativo, caso em que os Cotistas poderão ser chamados a  realizar aportes adicionais de recursos, de f orma a possibilitar que a Classe satisfaça suas  obrigações.</a:t>
            </a:r>
          </a:p>
          <a:p>
            <a:r>
              <a:t>CNPJ 60010416000112 · Conta de arrecadação e risco de trânsito · Condição: Documentos atuais selecionados no inventário por categoria/escopo; a data documental isolada não comprova vigência jurídica.</a:t>
            </a:r>
          </a:p>
          <a:p>
            <a:r>
              <a:t>CNPJ 60010416000112 · Conta de arrecadação e risco de trânsito · Versão e prevalência: Documentos atuais selecionados no inventário por categoria/escopo; a data documental isolada não comprova vigência jurídica.</a:t>
            </a:r>
          </a:p>
          <a:p>
            <a:r>
              <a:t>CNPJ 60010416000112 · Conta de arrecadação e risco de trânsito · Resumo do histórico: {"count": 1, "dates": ["2025-03-20"], "document_count": 1, "sources": [{"document_id": "993786", "title": "Regulamento", "reference_date": "2025-03-20", "version": "1", "page": 32, "clause": "14.2.1", "url": "https://fnet.bmfbovespa.com.br/fnet/publico/visualizarDocumento?id=993786", "sha256": "fd0fdd369a195510d81f81f505195a0b09e5f43522a990afa7d58c4f872921c8"}], "reference": {"path": "history/60010416000112.json", "criterion_id": "collection_account", "total_count": 1, "preview_count": 1, "full_text_deferred": true, "sha256": "8e2bd813f4c51cf01f6bfaad164bafe69d2bbb192f753eac92da3a01c2e63046"}}</a:t>
            </a:r>
          </a:p>
          <a:p>
            <a:r>
              <a:t>CNPJ 62696791000193 · Conta de arrecadação e risco de trânsito · Motivo: Não localizada uma cláusula material para este critério nos textos identificados e processados. A ausência de resultado não comprova inexistência da regra.</a:t>
            </a:r>
          </a:p>
          <a:p>
            <a:r>
              <a:t>CNPJ 55563624000109 · Conta de arrecadação e risco de trânsito · Motivo: Não localizada uma cláusula material para este critério nos textos identificados e processados. A ausência de resultado não comprova inexistência da regra.</a:t>
            </a:r>
          </a:p>
          <a:p>
            <a:r>
              <a:t>CNPJ 62552447000120 · Conta de arrecadação e risco de trânsito · Regulamento · ID 1200623 · 2026-05-21 · versão 1 · p. 37 · https://fnet.bmfbovespa.com.br/fnet/publico/visualizarDocumento?id=1200623</a:t>
            </a:r>
          </a:p>
          <a:p>
            <a:r>
              <a:t>CNPJ 62552447000120 · Conta de arrecadação e risco de trânsito · Excerto da fonte:</a:t>
            </a:r>
          </a:p>
          <a:p>
            <a:r>
              <a:t>operacional dos Direitos Creditórios Consignado Privado e dos Direitos Creditórios FGTS dependem de certif icações e habilitações do Endossante junto à Dataprev e à CEF, respectivamente. O Endossante deve observar as regras aplicáveis a cada Direito Creditório para a manutenção da sua habilitação, que, portanto, pode ser af etada em caso de descumprimento ou de mudança normativa. Nesses casos, a estrutura de cobrança dos Direitos Creditórios Consignado Privado e dos Direitos Creditórios FGTS poderá ser comprometida, dando origem à necessidade de adoção de uma nova estrutura, que poderá não ser tão eficaz quanto ela ou mesmo revelar, na prática, ser inadequada ou ter altos custos operacionais . Esses eventos podem levar a perdas patrimoniais para a Classe, na medida em que a Classe deixará de receber, definitiva ou temporariamente, recursos oriundos desses Direitos Creditórios, no todo ou em parte.</a:t>
            </a:r>
          </a:p>
          <a:p>
            <a:r>
              <a:t>(vii) Risco de fungibilidade: o pagamento dos Direitos Creditórios serão inicialmente realizados em conta liquidante do Endossante por meio de transferência de reserva bancária, sendo automaticamente transferido à Conta Vinculada na sua integralidade, também de titularidade do Endoss ante, o qual será responsável por realizar a conciliação dos valores e repassá-los à Conta da Classe. Enquanto os recursos não f orem transf eridos para a Classe, a Classe estará correndo o risco de crédito do Endossante, e no caso de qualquer evento de crédito do Endossante, como intervenção, liquidação extrajudicial, falência ou outros procedimentos para proteção de credores, a Classe poderá não receber os valores devidos a ele, e poderá incorrer em custos adicionais para recuperar esses valores. Além disso, em caso de intervenção, liquidação extrajudicial, falência, execução ou outro procedimento similar para proteção de credores envolvendo o Endossante, os valores depositados de tempos em tempos na conta liquidante do Endossante por meio de transferência d e reserva bancária, e automaticamente transferidos à Conta Vinculada, poderão ser bloqueados, por ordem judicial ou administrativa, o que poderá causar prejuízos à Classe e ao Cotista.</a:t>
            </a:r>
          </a:p>
          <a:p>
            <a:r>
              <a:t>Risco de descontinuidade</a:t>
            </a:r>
          </a:p>
          <a:p>
            <a:r>
              <a:t>(i) Risco de descontinuidade: a Classe poderá ser liquidada antecipadamente, dentre outros, caso ocorra um Evento de Liquidação. Portanto, o Cotista poderá ter sua perspectiva original de investimento reduzida e não ser capaz de reinvestir os recursos recebidos com a mesma remuneração gerada pela Classe, e nenhuma multa ou penalidade, de qualquer f orma, devido a esse f ato, será devida pela Classe, o Administrador, o Custodiante, o Coordenador Líder, o Gestor, o Agente de Retenção e Cobrança ou o Endossante.</a:t>
            </a:r>
          </a:p>
          <a:p>
            <a:r>
              <a:t>Riscos decorrentes do Regime de Amortização</a:t>
            </a:r>
          </a:p>
          <a:p>
            <a:r>
              <a:t>(i) Risco decorrente da ordem de alocação das distribuições: conforme previsto neste Anexo, as Cotas estarão sujeitas à Amortização de acordo com a ordem de alocação prevista no Capítulo 7. Portanto, o Cotista poderá ter sua perspectiva original de investimento reduzida e não poderá reinvestir os recursos recebidos com a mesma remuneração gerada pela Classe.</a:t>
            </a:r>
          </a:p>
          <a:p>
            <a:r>
              <a:t>Riscos do originador e da originação</a:t>
            </a:r>
          </a:p>
          <a:p>
            <a:r>
              <a:t>(i) Riscos do originador e da originação: a continuidade da Classe poderá ser comprometida no caso de inconstância na concessão de empréstimos pelo Endossante aos Devedores ou incapacidade do Agente de Retenção e Cobrança operacionalizar a Plataf orma VR, através da qual os Direitos Creditórios são originados. Portanto, o investimento na Classe está sujeito ao risco de não originação, no f uturo, de Direitos Creditórios pelo Endossante contra os Devedores através da Plataforma VR, disponibilizada pelo Agente de Retenção e Cobrança. Se isso acontecer, a originação dos Direitos Creditórios pelo Endossante poderá ser impactada negativamente ou mesmo impossibilitada, o que poderá gerar a liquidação antecipada da Classe.</a:t>
            </a:r>
          </a:p>
          <a:p>
            <a:r>
              <a:t>Além disso, a Classe poderá adquirir Direitos Creditórios que f oram originados em conformidade com o processo de originação e/ou políticas de concessão de crédito desenvolvidos e monitorados pelo Endossante.</a:t>
            </a:r>
          </a:p>
          <a:p>
            <a:r>
              <a:t>Entretanto, não é possível assegurar que o cumprimento dessas diretrizes garanta a qualidade dos Direitos Creditórios e/ou a solvência dos respectivos Devedores, ou que as diretrizes e parâmetros estabelecidos no Capítulo 13 sejam corretamente interpretados e aplicados quando a Classe fizer os investimentos. Além disso, se o Endossante deixar de existir ou estiver sujeito a uma ordem de intervenção, liquidação extrajudicial ou regime especial ou gestão temporária ou evento similar, a Classe será impactado também pelo f ato de que a Conta Vinculada na qual as transf erências f eitas pela CEF f oram depositadas f oi aberta em nome do Endossante. Neste caso, a Classe poderá sofrer perdas principalmente em relação ao atraso na regularização</a:t>
            </a:r>
          </a:p>
          <a:p>
            <a:r>
              <a:t>CNPJ 62552447000120 · Conta de arrecadação e risco de trânsito · Condição: Documentos atuais selecionados no inventário por categoria/escopo; a data documental isolada não comprova vigência jurídica.</a:t>
            </a:r>
          </a:p>
          <a:p>
            <a:r>
              <a:t>CNPJ 62552447000120 · Conta de arrecadação e risco de trânsito · Motivo: Cláusula primária localizada e citada, mas sua lista/condições extensas não admitem uma síntese literal curta confirmada. O trecho integral permanece nas fontes.</a:t>
            </a:r>
          </a:p>
          <a:p>
            <a:r>
              <a:t>CNPJ 62552447000120 · Conta de arrecadação e risco de trânsito · Versão e prevalência: Documentos atuais selecionados no inventário por categoria/escopo; a data documental isolada não comprova vigência jurídica.</a:t>
            </a:r>
          </a:p>
          <a:p>
            <a:r>
              <a:t>CNPJ 63953620000165 · Conta de arrecadação e risco de trânsito · Anexo ao Regulamento · ID 1222863 · 2026-06-02 · versão 1 · p. 28 · https://fnet.bmfbovespa.com.br/fnet/publico/visualizarDocumento?id=1222863</a:t>
            </a:r>
          </a:p>
          <a:p>
            <a:r>
              <a:t>CNPJ 63953620000165 · Conta de arrecadação e risco de trânsito · Excerto da fonte:</a:t>
            </a:r>
          </a:p>
          <a:p>
            <a:r>
              <a:t>Creditórios endossados à Classe não sejam pagos integralmente pelos respectivos Devedores em virtude  de qualquer problema de natureza comercial entre o Devedor e o Endossante, e este último não reembolse  à Classe o montante em moeda nacional correspondente ao valor dos Direitos Creditórios mencionados,  os resultados da Classe poderão ser afetados negativamente.</a:t>
            </a:r>
          </a:p>
          <a:p>
            <a:r>
              <a:t> Outros Riscos</a:t>
            </a:r>
          </a:p>
          <a:p>
            <a:r>
              <a:t> (i) Risco relativo à elegibilidade dos Direitos Creditórios: mesmo que os Direitos Creditórios cumpram com  todas as condições de endosso e declarações e garantias estabelecidas no Contrato de Endosso e os  Critérios de Elegibilidade aqui estabelecidos, não é possível afirmar que essas condições de endosso,  declarações e garantias e os Critérios de Elegibilidade sejam suficientes para garantir a satisfação e o  pagamento dos Direitos Creditórios. Além disso, não é possível assegurar que o Gestor verificará  adequadamente a conformidade dos Direitos Creditórios com os Critérios de Elegibilidade e as condições  de endosso, ou que as declarações e garantias prestadas pelo Endossante e pelo Agente de  Retenção/Cobrança em relação aos Direitos Creditórios sejam verdadeiras e exatas. A verificação  inadequada dos Elegibilidade e das condições de endosso, bem como a falsidade ou inexatidão das  declarações e garantias referentes aos Direitos Creditórios poderão resultar na compra de Direitos  Creditórios inelegíveis pela Classe, e as medidas disponíveis no âmbito do Contrato de Endosso poderão  não ser suficientes para manter a Classe protegida de perdas decorrentes de tal verificação inadequada ou  falsidade/inexatidão. Caso os Direitos Creditórios não sejam pagos pontualmente pelos Devedores ou os  Direitos Creditórios não tenham o desempenho esperado pela Classe, o patrimônio da Classe poderá ser  afetado adversamente.</a:t>
            </a:r>
          </a:p>
          <a:p>
            <a:r>
              <a:t> (ii) Risco de invalidade ou ineficácia do endosso: o endosso dos Direitos Creditórios à Classe poderá ser  invalidada ou considerada ineficaz, o que impacta negativamente o patrimônio da Classe, no caso de (a)  fraude contra credores, se no momento do endosso o Endossante for insolvente ou se ele vier a se tornar  insolvente; (b) fraude à execução, se (1) no momento do endosso o Endossante for réu em um processo  judicial capaz de torná-lo insolvente; ou (2) os Direitos Creditórios endossados à Classe estiverem sujeitos  a qualquer demanda judicial baseada em garantia real; e (c) fraude à execução fiscal, se o Endossante, ao  celebrar o endosso de crédito, como contribuinte por débito à Fazenda Pública, e crédito fiscal  regularmente inscrito na dívida ativa, não tiver ativos para pagamento total da dívida fiscal. Entretanto, o  Administrador, o Custodiante, o Gestor e o Agente de Retenção/ Cobrança não verificarão os eventos  acima no endosso de Direito Creditório e não serão responsabilizados em caso de invalidação ou ineficácia  do endosso de um Direito Creditório à Classe.</a:t>
            </a:r>
          </a:p>
          <a:p>
            <a:r>
              <a:t> (iii) Risco de impugnação judicial: a CCB poderá ser impugnada judicialmente tanto no que diz respeito à sua  formalização quanto às taxas aplicadas e à forma de cobrança da CCB, inclusive em virtude das disposições  estabelecidas na Lei nº 8.078, de 11 de setembro de 1990, conforme alterada (Código de Defesa do  Consumidor), tais como uma possível impugnação de cláusula abusiva, bem como qualquer vício nos  Documentos Comprobatórios ou Documentos Suporte que impeçam a exigibilidade do crédito (ausência  de assinaturas ou falta de prova de formalização regular do instrumento, representação ilegítima, dentre  outros). Nesses casos, a CCB poderá ser modificada ou cancelada em virtude de decisão judicial, o que  poderá acarretar perdas para a Classe e, consequentemente, afetar negativamente a rentabilidade de seu  patrimônio.</a:t>
            </a:r>
          </a:p>
          <a:p>
            <a:r>
              <a:t> (iv) Risco de restrições de natureza legal ou regulamentar: a Classe pode estar sujeita a riscos, além do  controle do Administrador, decorrentes de quaisquer restrições futuras de natureza legal e/ou  regulamentar que venham a afetar a validade da constituição e/ou o endosso dos Direitos Creditórios à  Classe. Caso essas restrições ocorram, o fluxo de cessões de Direitos Creditórios à Classe pode ser  interrompido e, portanto, pode comprometer a continuidade da Classe e a perspectiva de investimento  do Cotista. Além disso, os Direitos Creditórios que já estão na Carteira podem ter sua validade questionada,  o que pode causar, portanto, prejuízos ao Cotista.</a:t>
            </a:r>
          </a:p>
          <a:p>
            <a:r>
              <a:t> (v) Risco de bloqueio da Conta de Cobrança da Classe ou da Conta de Movimentação da Classe: os recursos  provenientes da Classe serão direcionados para a Conta de Cobrança da Classe e, de forma extraordinária,  para a Conta de Movimentação da Classe. Em caso de intervenção ou liquidação extrajudicial das  instituições financeiras onde a Conta de Cobrança da Classe e a Conta de Movimentação da Classe são</a:t>
            </a:r>
          </a:p>
          <a:p>
            <a:r>
              <a:t>CNPJ 63953620000165 · Conta de arrecadação e risco de trânsito · Condição: Documentos atuais selecionados no inventário por categoria/escopo; a data documental isolada não comprova vigência jurídica.</a:t>
            </a:r>
          </a:p>
          <a:p>
            <a:r>
              <a:t>CNPJ 63953620000165 · Conta de arrecadação e risco de trânsito · Motivo: Cláusula primária localizada e citada, mas sua lista/condições extensas não admitem uma síntese literal curta confirmada. O trecho integral permanece nas fontes.</a:t>
            </a:r>
          </a:p>
          <a:p>
            <a:r>
              <a:t>CNPJ 63953620000165 · Conta de arrecadação e risco de trânsito · Versão e prevalência: Documentos atuais selecionados no inventário por categoria/escopo; a data documental isolada não comprova vigência jurídica.</a:t>
            </a:r>
          </a:p>
          <a:p>
            <a:r>
              <a:t>CNPJ 63953620000165 · Conta de arrecadação e risco de trânsito · Resumo do histórico: {"count": 2, "dates": ["2026-02-19", "2026-05-15"], "document_count": 2, "sources": [{"document_id": "1327859", "title": "Demonstrações Financeiras - Fusão, cisão e incorporação", "reference_date": "2026-05-15", "version": "1", "page": 22, "url": "https://fnet.bmfbovespa.com.br/fnet/publico/visualizarDocumento?id=1327859", "sha256": "dca1c68babb97f887528c3e2e47596a9c30f507b067981a35655b2f2da9c8054"}, {"document_id": "1200324", "title": "Demonstrações Financeiras - Fusão, cisão e incorporação", "reference_date": "2026-02-19", "version": "1", "page": 22, "url": "https://fnet.bmfbovespa.com.br/fnet/publico/visualizarDocumento?id=1200324", "sha256": "aba4246af804161a6cb22052dc79425be7591e0bb7df5467cda6487f249272fc"}], "reference": {"path": "history/63953620000165.json", "criterion_id": "collection_account", "total_count": 2, "preview_count": 2, "full_text_deferred": true, "sha256": "a7b89077f5e21098c2d601c303faabc3ff6b9729f89d8afecdc60fe1404720c1"}}</a:t>
            </a:r>
          </a:p>
          <a:p>
            <a:r>
              <a:t>CNPJ 54871427000194 · Verificação de lastro e amostragem · Regulamento · ID 670691 · 28/04/2024 · versão Regulamento — referência 28/04/2024 · p. 10 · Anexo I, 4.7.1 · https://fnet.bmfbovespa.com.br/fnet/publico/visualizarDocumento?id=670691</a:t>
            </a:r>
          </a:p>
          <a:p>
            <a:r>
              <a:t>CNPJ 54871427000194 · Verificação de lastro e amostragem · Excerto da fonte:</a:t>
            </a:r>
          </a:p>
          <a:p>
            <a:r>
              <a:t>4.7.1 Os Documentos Comprobatórios deverão ser disponibilizados pelo respectivo Endossante (a) no prazo de 10 (dez) dias contados da Data de Aquisição dos 50 (cinquenta) casos que sejam solicitados pelo GESTOR, a seu exclusivo critério, (b) a totalidade dos demais Documentos Comprobatórios em f ormato digital em até 90 (noventa) dias a contar da Data de Aquisição, bem como dos Documentos Comprobatórios em formato físico relativos aos Direitos Creditórios que eventualmente estejam inadimplidos em ref erida data, e (c) a totalidade dos demais Documentos Comprobatórios em f ormato f ísico em até 180 (cento e oitenta) dias a contar da Data de Aquisição, sujeito à resolução do respectivo endosso, de acordo com os termos do Contrato de Endosso. 4.7.2 Caso um Direito Creditório cedido à Classe deixe de atender quaisquer Critérios de Elegibilidade e/ou quaisquer declarações e garantias ref erentes a esse Direito Creditório, conf orme previsto no respectivo Contrato de Endosso, após seu endosso à Classe, não haverá coobrigação nem direito de regresso da Classe contra o ADMINISTRADOR, o CUSTODIANTE o GESTOR e/ou o En</a:t>
            </a:r>
          </a:p>
          <a:p>
            <a:r>
              <a:t>CNPJ 54871427000194 · Verificação de lastro e amostragem · Regulamento · ID 670691 · 28/04/2024 · versão Regulamento — referência 28/04/2024 · p. 24 · Anexo I, 12.15 e 12.19(iv)–(v) · https://fnet.bmfbovespa.com.br/fnet/publico/visualizarDocumento?id=670691</a:t>
            </a:r>
          </a:p>
          <a:p>
            <a:r>
              <a:t>CNPJ 54871427000194 · Verificação de lastro e amostragem · Excerto da fonte:</a:t>
            </a:r>
          </a:p>
          <a:p>
            <a:r>
              <a:t>12.15 No âmbito das diligências relacionadas à aquisição de Direitos Creditórios caracterizados como direitos e títulos representativos de crédito, conforme referidos na alínea “a” do inciso XII do art. 2º do Anexo Normativo II da Resolução CVM 175, o GESTOR deve verificar a existência, integridade e titularidade do lastro, de f orma integral, utilizando modelo estatístico consistente e passível de verif icação, 12.16 O GESTOR pode contratar terceiros para ef etuar a verif icação do lastro, inclusive a entidade registradora, o CUSTODIANTE ou consultoria especializada, caso aplicável, devendo constar do contrato de prestação de serviços as regras e procedimentos aplicáveis à verif icação, sendo que o GESTOR será responsável pela fiscalização da atuação do agente contratado no tocante à observância às regras e procedimentos aplicáveis à verif icação. Custódia e Verificação do Lastro quando do inadimplemento ou substituição dos Direitos Creditórios 12.17 Caso a classe aplique recursos em Direitos Creditórios que não sejam passíveis de registro em entidade registradora na data deste Regulamento, o ADMINISTRADOR deve contratar o serviço de custódia para a Carteira. 12.18 Os serviços de custódia qualificada dos Direitos Creditóri</a:t>
            </a:r>
          </a:p>
          <a:p>
            <a:r>
              <a:t>CNPJ 54871427000194 · Verificação de lastro e amostragem · Condição: A entrega escalonada dos comprovantes é distinta da verificação integral prevista. O Complemento 2 contém recuperação/cobrança; não contém uma amostragem estatística de lastro.</a:t>
            </a:r>
          </a:p>
          <a:p>
            <a:r>
              <a:t>CNPJ 54871427000194 · Verificação de lastro e amostragem · Versão e prevalência: Leitura específica das cláusulas indicadas; condições e conflitos preservados. Seleção documental atual não comprova vigência jurídica por data isolada.</a:t>
            </a:r>
          </a:p>
          <a:p>
            <a:r>
              <a:t>CNPJ 54871427000194 · Verificação de lastro e amostragem · Resumo do histórico: {"count": 1, "dates": ["2024-04-19"], "document_count": 1, "sources": [{"document_id": "670689", "title": "Regulamento", "reference_date": "2024-04-19", "version": "1", "page": 45, "url": "https://fnet.bmfbovespa.com.br/fnet/publico/visualizarDocumento?id=670689", "sha256": "891bc9bc5d87bbc02ec139077a84d2702eb81ea02035fb71d24f5b8366b94a0b"}], "reference": {"path": "history/54871427000194.json", "criterion_id": "collateral_check", "total_count": 1, "preview_count": 1, "full_text_deferred": true, "sha256": "35d7cd99be50c7287c9fb675cf4f2e736002315295a225a9efa79c8d9186d874"}}</a:t>
            </a:r>
          </a:p>
          <a:p>
            <a:r>
              <a:t>CNPJ 60010416000112 · Verificação de lastro e amostragem · Regulamento · ID 1051393 · 09/10/2025 · versão Regulamento09/10/2025 · p. 59 · Complemento7itens1–4 · https://fnet.bmfbovespa.com.br/fnet/publico/visualizarDocumento?id=1051393</a:t>
            </a:r>
          </a:p>
          <a:p>
            <a:r>
              <a:t>CNPJ 60010416000112 · Verificação de lastro e amostragem · Excerto da fonte:</a:t>
            </a:r>
          </a:p>
          <a:p>
            <a:r>
              <a:t>1. O Gestor deverá realizar a verif icação dos Documentos Comprobatórios relativos aos Direitos Creditórios adquiridos pela Classe trimestralmente; sendo certo que o Endossante e/ou o Agente de Retenção/Cobrança, conforme o caso, deverão enviar os Documentos Comprobatórios para o Gestor, conf orme def inido nos itens conf orme def inido nos itens 11.16 e 11.17 do Anexo I. 2. Observado o disposto no inciso (i) do item 3 abaixo, numa data-base pré-estabelecida, será selecionada uma amostra aleatória simples para a determinação de um intervalo de confiança para a proporção de eventuais f alhas, baseado numa distribuição binomial aproxi</a:t>
            </a:r>
          </a:p>
          <a:p>
            <a:r>
              <a:t>CNPJ 60010416000112 · Verificação de lastro e amostragem · Versão e prevalência: Leitura específica das cláusulas indicadas; condições e conflitos preservados. Seleção documental atual não comprova vigência jurídica por data isolada.</a:t>
            </a:r>
          </a:p>
          <a:p>
            <a:r>
              <a:t>CNPJ 60010416000112 · Verificação de lastro e amostragem · Resumo do histórico: {"count": 1, "dates": ["2025-03-20"], "document_count": 1, "sources": [{"document_id": "993786", "title": "Regulamento", "reference_date": "2025-03-20", "version": "1", "page": 38, "url": "https://fnet.bmfbovespa.com.br/fnet/publico/visualizarDocumento?id=993786", "sha256": "fd0fdd369a195510d81f81f505195a0b09e5f43522a990afa7d58c4f872921c8"}], "reference": {"path": "history/60010416000112.json", "criterion_id": "collateral_check", "total_count": 1, "preview_count": 1, "full_text_deferred": true, "sha256": "8e2bd813f4c51cf01f6bfaad164bafe69d2bbb192f753eac92da3a01c2e63046"}}</a:t>
            </a:r>
          </a:p>
          <a:p>
            <a:r>
              <a:t>CNPJ 62696791000193 · Verificação de lastro e amostragem · Regulamento · ID 1143317 · 20/03/2026 · versão Regulamento — referência 20/03/2026 · p. 13 · Anexo I, 4.15–4.19 · https://fnet.bmfbovespa.com.br/fnet/publico/visualizarDocumento?id=1143317</a:t>
            </a:r>
          </a:p>
          <a:p>
            <a:r>
              <a:t>CNPJ 62696791000193 · Verificação de lastro e amostragem · Excerto da fonte:</a:t>
            </a:r>
          </a:p>
          <a:p>
            <a:r>
              <a:t>4.15 Os serviços de custódia qualif icada dos Direitos Creditórios do Agronegócio não registrados em entidade registradora, bem como a guarda física dos originais dos Direitos Creditórios do Agronegócio e dos Documentos Comprobatórios, serão prestados pelo Custodiante. 4.16 São atribuições do Custodiante, observado o disposto neste Regulamento e na regulamentação aplicável: (i) realizar a liquidação física ou eletrônica e financeira dos Direitos Creditórios do Agronegócio; (ii) cobrar e receber, em nome da classe, pagamentos, resgate de títulos ou qualquer outro rendimento relativo aos ativos da Carteira, depositando os valores recebidos diretamente em conta de titularidade da classe ou, se f or o caso, em conta vinculada; e (iii) realizar a guarda da documentação relativa ao lastro dos Direitos Creditórios do Agronegócio. 4.17 Em razão de a Classe possuir significativa quantidade de Direitos Creditórios do Agronegócio cedidos e expressiva diversificação de devedores e de Cedentes, além de atuar em vários segmentos, o Custodiante está autorizado a ef etuar a verif icação do lastro dos Direitos Creditórios do Agronegócio por amostragem, sempre que permitido pel</a:t>
            </a:r>
          </a:p>
          <a:p>
            <a:r>
              <a:t>CNPJ 62696791000193 · Verificação de lastro e amostragem · Condição: O PDF obtido termina no Complemento I (Fatores de Risco); Complemento II, referenciado para parâmetros de amostragem, não está incluído. Não atribuir confiança 95%/erro 5% por analogia.</a:t>
            </a:r>
          </a:p>
          <a:p>
            <a:r>
              <a:t>CNPJ 62696791000193 · Verificação de lastro e amostragem · Versão e prevalência: Leitura específica das cláusulas indicadas; condições e conflitos preservados. Seleção documental atual não comprova vigência jurídica por data isolada.</a:t>
            </a:r>
          </a:p>
          <a:p>
            <a:r>
              <a:t>CNPJ 55563624000109 · Verificação de lastro e amostragem · Regulamento · ID 1192614 · 30/04/2026 · versão Regulamento30/04/2026 · p. 12 · AnexoI4.5–4.6 · https://fnet.bmfbovespa.com.br/fnet/publico/visualizarDocumento?id=1192614</a:t>
            </a:r>
          </a:p>
          <a:p>
            <a:r>
              <a:t>CNPJ 55563624000109 · Verificação de lastro e amostragem · Excerto da fonte:</a:t>
            </a:r>
          </a:p>
          <a:p>
            <a:r>
              <a:t>4.5 Uma vez que o investimento nas Cotas da Classe Investida não corresponde a um investimento direto em direitos creditórios, uma série de disposições comuns à securitização de direitos creditórios não será aplicável ao investimento nas Cotas da Classe Investida. A título meramente exemplificativo, não existem processos de originação ou política de concessão de crédito adotada pelo GESTOR, tampouco há que se falar em verificação ou guarda de documentos comprobatórios que não sejam referentes às Cotas da Classe Investida. Da mesma forma, não há necessida</a:t>
            </a:r>
          </a:p>
          <a:p>
            <a:r>
              <a:t>CNPJ 55563624000109 · Verificação de lastro e amostragem · Regulamento · ID 1192614 · 30/04/2026 · versão Regulamento30/04/2026 · p. 28 · AnexoI12.22–12.24 · https://fnet.bmfbovespa.com.br/fnet/publico/visualizarDocumento?id=1192614</a:t>
            </a:r>
          </a:p>
          <a:p>
            <a:r>
              <a:t>CNPJ 55563624000109 · Verificação de lastro e amostragem · Excerto da fonte:</a:t>
            </a:r>
          </a:p>
          <a:p>
            <a:r>
              <a:t>12.22 Os Documentos Comprobatórios relativos às Cotas da Classe Investida integrantes da Carteira inadimplidos e/ou substituídos num dado trimestre serão, no referido trimestre, objeto de verificação individualizada e integral pelo CUSTODIANTE ou terceiro por ele contratado. 12.23 Eventuais vícios verificados nos Documentos Comprobatórios que evidenciam o lastro dos Direitos Creditórios serão comunicados por escrito pelo CUSTODIANTE ao ADMINISTRADOR em até 5 (cinco) Dias Úteis da sua verificação, para que sejam tomadas as medidas necessárias. Cobrança da</a:t>
            </a:r>
          </a:p>
          <a:p>
            <a:r>
              <a:t>CNPJ 55563624000109 · Verificação de lastro e amostragem · Versão e prevalência: Leitura específica das cláusulas indicadas; condições e conflitos preservados. Seleção documental atual não comprova vigência jurídica por data isolada.</a:t>
            </a:r>
          </a:p>
          <a:p>
            <a:r>
              <a:t>CNPJ 62552447000120 · Verificação de lastro e amostragem · Regulamento · ID 1200623 · 21/05/2026 · versão Consolidado21/05/2026 aprovado pelo ato1200625 · p. 41 · ComplementoIIitens1–4 · https://fnet.bmfbovespa.com.br/fnet/publico/visualizarDocumento?id=1200623</a:t>
            </a:r>
          </a:p>
          <a:p>
            <a:r>
              <a:t>CNPJ 62552447000120 · Verificação de lastro e amostragem · Excerto da fonte:</a:t>
            </a:r>
          </a:p>
          <a:p>
            <a:r>
              <a:t>1. O Gestor deverá realizar a verif icação dos Documentos Comprobatórios relativos aos Direitos Creditórios adquiridos pela Classe trimestralmente; sendo certo que o Endossante e/ou o Agente de Retenção/Cobrança, conforme o caso, deverão enviar os Documentos Comprobat órios para o Gestor. 2. Observado o disposto no inciso (i) do item 3 abaixo, numa data-base pré-estabelecida, será selecionada uma amostra aleatória simples para a determinação de um intervalo de confiança para a proporção de eventuais falhas, baseado numa distribuição binomial aproximada a uma distribuição normal com 95% (noventa e cinco por cento) de nível de confian</a:t>
            </a:r>
          </a:p>
          <a:p>
            <a:r>
              <a:t>CNPJ 62552447000120 · Verificação de lastro e amostragem · Regulamento · ID 1200623 · 21/05/2026 · versão Consolidado21/05/2026 aprovado pelo ato1200625 · p. 29 · AnexoI12.12–12.13 · https://fnet.bmfbovespa.com.br/fnet/publico/visualizarDocumento?id=1200623</a:t>
            </a:r>
          </a:p>
          <a:p>
            <a:r>
              <a:t>CNPJ 62552447000120 · Verificação de lastro e amostragem · Excerto da fonte:</a:t>
            </a:r>
          </a:p>
          <a:p>
            <a:r>
              <a:t>12.12 Os Documentos Comprobatórios relativos aos Direitos Creditórios integrantes da Carteira inadimplidos e/ou substituídos num dado trimestre serão, no ref erido trimestre, objeto de verificação individualizada e integral pelo Custodiante ou terceiro por ele contratado. 12.13 Eventuais vícios verificados nos Documentos Comprobatórios que evidenciam o lastro dos Direitos Creditórios serão comunicados por escrito pelo Custodiante ao Administrador em até 5 (cinco) Dias Úteis da sua verif icação, para que sejam tomadas as medidas necessárias. Retenção e Cobrança dos Direitos Creditórios Inadimplidos 12.14 A Classe contra</a:t>
            </a:r>
          </a:p>
          <a:p>
            <a:r>
              <a:t>CNPJ 62552447000120 · Verificação de lastro e amostragem · Versão e prevalência: Leitura específica das cláusulas indicadas; condições e conflitos preservados. Seleção documental atual não comprova vigência jurídica por data isolada.</a:t>
            </a:r>
          </a:p>
          <a:p>
            <a:r>
              <a:t>CNPJ 63953620000165 · Verificação de lastro e amostragem · Anexo ao Regulamento · ID 1222863 · 2026-06-02 · versão 1 · p. 30 · https://fnet.bmfbovespa.com.br/fnet/publico/visualizarDocumento?id=1222863</a:t>
            </a:r>
          </a:p>
          <a:p>
            <a:r>
              <a:t>CNPJ 63953620000165 · Verificação de lastro e amostragem · Excerto da fonte:</a:t>
            </a:r>
          </a:p>
          <a:p>
            <a:r>
              <a:t>Complemento II  (Ao Anexo I)  PARÂMETROS PARA A VERIFICAÇÃO DO LASTRO POR AMOSTRAGEM  1. O Gestor deverá realizar a verificação dos Documentos Comprobatórios relativos aos Direitos Creditórios adquiridos pela  Classe trimestralmente; sendo certo que o Endossante e/ou o Agente de Retenção/Cobrança, conforme o caso, deverão  enviar os Documentos Comprobatórios para o Gestor, conforme definido nos itens conforme definido nos itens 11.16 e</a:t>
            </a:r>
          </a:p>
          <a:p>
            <a:r>
              <a:t>CNPJ 63953620000165 · Verificação de lastro e amostragem · Anexo ao Regulamento · ID 1222863 · 2026-06-02 · versão 1 · p. 30 · 11.17 · https://fnet.bmfbovespa.com.br/fnet/publico/visualizarDocumento?id=1222863</a:t>
            </a:r>
          </a:p>
          <a:p>
            <a:r>
              <a:t>CNPJ 63953620000165 · Verificação de lastro e amostragem · Excerto da fonte:</a:t>
            </a:r>
          </a:p>
          <a:p>
            <a:r>
              <a:t>11.17 do Anexo I.</a:t>
            </a:r>
          </a:p>
          <a:p>
            <a:r>
              <a:t> 2. Observado o disposto no inciso (i) do item 3 abaixo, numa data-base pré-estabelecida, será selecionada uma amostra  aleatória simples para a determinação de um intervalo de confiança para a proporção de eventuais falhas, baseado numa  distribuição binomial aproximada a uma distribuição normal com 95% (noventa e cinco por cento) de nível de confiança,  visando a uma margem de erro de 5% (cinco por cento), independentemente do cedente dos Direitos Creditórios.</a:t>
            </a:r>
          </a:p>
          <a:p>
            <a:r>
              <a:t> 3. O escopo da análise da documentação que evidencia o lastro dos Direitos Creditórios contempla a verificação da  existência dos respectivos Documentos Comprobatórios, conforme abaixo discriminado:</a:t>
            </a:r>
          </a:p>
          <a:p>
            <a:r>
              <a:t> i. obtenção de base de dados analítica por Direitos Creditórios integrantes da Carteira;</a:t>
            </a:r>
          </a:p>
          <a:p>
            <a:r>
              <a:t> ii. seleção de uma amostra de acordo com as fórmulas abaixo</a:t>
            </a:r>
          </a:p>
          <a:p>
            <a:r>
              <a:t>CNPJ 63953620000165 · Verificação de lastro e amostragem · Anexo ao Regulamento · ID 1222863 · 2026-06-02 · versão 1 · p. 26 · https://fnet.bmfbovespa.com.br/fnet/publico/visualizarDocumento?id=1222863</a:t>
            </a:r>
          </a:p>
          <a:p>
            <a:r>
              <a:t>CNPJ 63953620000165 · Verificação de lastro e amostragem · Excerto da fonte:</a:t>
            </a:r>
          </a:p>
          <a:p>
            <a:r>
              <a:t>Complemento I  (Ao Anexo I)  FATORES DE RISCO APLICÁVEIS À CLASSE CONSIGNADO PRIVADO DO MT GLOBAL FUNDO DE INVESTIMENTO EM  DIREITOS CREDITÓRIOS RESPONSABILIDADE LIMITADA  Risco de Crédito</a:t>
            </a:r>
          </a:p>
          <a:p>
            <a:r>
              <a:t> (i) Riscos associados aos Devedores: os Direitos Creditórios a serem endossados à Classe serão descontados  pela Dataprev da remuneração do Devedor. A capacidade de pagamento do Devedor poderá ser afetada se,  por exemplo, o Devedor tiver o seu contrato de emprego rescindido ou em virtude de decisão judicial, o  Devedor for obrigado a pagar alimentos, que têm prioridade sobre o empréstimo para fins de desconto na  folha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afetar a rentabilidade da Classe.</a:t>
            </a:r>
          </a:p>
          <a:p>
            <a:r>
              <a:t> (ii)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referido Devedor poderá  ficar inadimplente e, consequentemente, não haverá repasse à Classe do respectivo Direito Creditório, o  que poderá resultar em perdas financeiras à Classe e aos Cotistas.</a:t>
            </a:r>
          </a:p>
          <a:p>
            <a:r>
              <a:t> (iii) Risco do Empregador não efetuar o desconto em folha: o repasse dos recursos oriundos dos Direitos  Creditórios à Classe depende da realização, pelo Empregador, da Escrituração e do desconto na respectiva  folha de pagamento do Devedor. Na hipótese do Empregador deixar de realizar a Escrituração ou os  descontos na folha de pagamento, não haverá repasse de recursos à Classe, podendo causar prejuízos à  Classe e aos Cotistas.</a:t>
            </a:r>
          </a:p>
          <a:p>
            <a:r>
              <a:t> (iv) Risco de perda do vínculo empregatício com o Empregador: caso o Devedor perca o vínculo empregatício  com o Empregador, não haverá remuneração e folha de pagamento para realização dos descontos para  pagamento dos Direitos Creditórios. Neste caso, não obstante a possibilidade do Agente de  Retenção/Cobrança realizar a cobrança ativa dos Direitos Creditórios diretamente do Devedor, a ausência  de remuneração poderá deixar o Devedor inadimplente perante a Classe até que o seu vínculo empregatício  seja retomado e seja efetuado o procedimento operacional para que a CCB seja aditada e/ou seja realizado  o Processo de Reinicialização. Tais situações poderão resultar em prejuízos à Classe e aos Cotistas.</a:t>
            </a:r>
          </a:p>
          <a:p>
            <a:r>
              <a:t> Riscos Operacionais</a:t>
            </a:r>
          </a:p>
          <a:p>
            <a:r>
              <a:t> (i) Risco de irregularidade dos Documentos Comprobatórios e/ou Documentos Suporte: o Gestor, ou  terceiro por ele contratado, deverá realizar a verificação da regularidade dos Documentos Comprobatórios  e Documentos Suporte. A Carteira poderá conter Direitos Creditórios com documentação irregular, o que  poderá impedir que a Classe exerça plenamente as prerrogativas derivadas da titularidade dos Direitos  Creditórios. O Gestor poderá contratar empresas especializadas, com comprovada competência e  adequação, para realizar a guarda física, manutenção, armazenamento, organização e digitalização dos  Documentos Comprobatórios e Documentos Suporte, que estarão sob total responsabilidade do Gestor,  permanecendo as empresas como agentes depositários dos Documentos Comprobatórios e Documentos  Suporte.</a:t>
            </a:r>
          </a:p>
          <a:p>
            <a:r>
              <a:t> (ii) Risco operacional da Dataprev e da CEF: o empréstimo contraído pelos Devedores é pago por meio de  desconto na folha de pagamento feito pela Dataprev e pela CEF, conforme aplicável. É possível que os  rendimentos dos Devedores sejam atrasados ou não pagos devido a questões operacionais envolvendo a  Dataprev e/ou a CEF. Nesse caso, a Carteira poderá sofrer, já que não receberá automaticamente, e  também poderá ter dificuldades para receber, a qualquer momento, os recursos decorrentes dos Direitos  Creditórios.</a:t>
            </a:r>
          </a:p>
          <a:p>
            <a:r>
              <a:t>CNPJ 63953620000165 · Verificação de lastro e amostragem · Condição: Documentos atuais selecionados no inventário por categoria/escopo; a data documental isolada não comprova vigência jurídica.</a:t>
            </a:r>
          </a:p>
          <a:p>
            <a:r>
              <a:t>CNPJ 63953620000165 · Verificação de lastro e amostragem · Versão e prevalência: Documentos atuais selecionados no inventário por categoria/escopo; a data documental isolada não comprova vigência jurídica.</a:t>
            </a:r>
          </a:p>
          <a:p>
            <a:r>
              <a:t>CNPJ 63953620000165 · Verificação de lastro e amostragem · Resumo do histórico: {"count": 8, "dates": ["2026-04-28", "2026-05-08", "2026-05-15"], "document_count": 3, "sources": [{"document_id": "1327859", "title": "Demonstrações Financeiras - Fusão, cisão e incorporação", "reference_date": "2026-05-15", "version": "1", "page": 22, "url": "https://fnet.bmfbovespa.com.br/fnet/publico/visualizarDocumento?id=1327859", "sha256": "dca1c68babb97f887528c3e2e47596a9c30f507b067981a35655b2f2da9c8054"}, {"document_id": "1298691", "title": "Demonstrações Financeiras - Fusão, cisão e incorporação", "reference_date": "2026-05-08", "version": "1", "page": 17, "url": "https://fnet.bmfbovespa.com.br/fnet/publico/visualizarDocumento?id=1298691", "sha256": "58c570d9b8d4d265330d3db3ea81c435b8e44a6dab4002aa37790652a1ee9819"}, {"document_id": "1282180", "title": "Demonstrações Financeiras - Fusão, cisão e incorporação", "reference_date": "2026-04-28", "version": "1", "page": 17, "url": "https://fnet.bmfbovespa.com.br/fnet/publico/visualizarDocumento?id=1282180", "sha256": "afaaa0e6809be4385e5bdb6c911aac582032c5bdbac3d7750234bf9eaf00438a"}], "reference": {"path": "history/63953620000165.json", "criterion_id": "collateral_check",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Garantias e operação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Garantias e constituição · Demonstrações Financeiras - Fusão, cisão e incorporação · ID 1219522 · 2026-02-02 · versão 1 · p. 21 · https://fnet.bmfbovespa.com.br/fnet/publico/visualizarDocumento?id=1219522</a:t>
            </a:r>
          </a:p>
          <a:p>
            <a:r>
              <a:t>CNPJ 54871427000194 · Garantias e constituição · Excerto da fonte:</a:t>
            </a:r>
          </a:p>
          <a:p>
            <a:r>
              <a:t>Em 02 de fevereiro de 2026, a Classe não possuía garantias reais ou fidejussórias, pela liquidação  dos direitos creditórios.</a:t>
            </a:r>
          </a:p>
          <a:p>
            <a:r>
              <a:t>CNPJ 54871427000194 · Garantias e constituição · Condição: Trechos do documento específico identificado com data mais recente; vigência jurídica não inferida.</a:t>
            </a:r>
          </a:p>
          <a:p>
            <a:r>
              <a:t>CNPJ 54871427000194 · Garantias e constituição · Versão e prevalência: Trechos do documento específico identificado com data mais recente; vigência jurídica não inferida.</a:t>
            </a:r>
          </a:p>
          <a:p>
            <a:r>
              <a:t>CNPJ 54871427000194 · Garantias e constituição · Resumo do histórico: {"count": 5, "dates": ["2024-12-31", "2025-01-01", "2025-12-31"], "document_count": 3, "sources": [{"document_id": "1151805", "title": "Demonstrações Financeiras", "reference_date": "2025-12-31", "version": "1", "page": 21, "url": "https://fnet.bmfbovespa.com.br/fnet/publico/visualizarDocumento?id=1151805", "sha256": "f1cea70b152968bf96ef9221b27225953cb20aeef487b2798db3c25e11b528d4"}, {"document_id": "869529", "title": "Demonstrações Financeiras", "reference_date": "2025-01-01", "version": "1", "page": 20, "url": "https://fnet.bmfbovespa.com.br/fnet/publico/visualizarDocumento?id=869529", "sha256": "9a93a9369ac8efdbc54ff8fcee3ccac3abf88edab4807b9323d3852450771b2a"}, {"document_id": "870070", "title": "Demonstrações Financeiras", "reference_date": "2024-12-31", "version": "1", "page": 20, "url": "https://fnet.bmfbovespa.com.br/fnet/publico/visualizarDocumento?id=870070", "sha256": "9a93a9369ac8efdbc54ff8fcee3ccac3abf88edab4807b9323d3852450771b2a"}], "reference": {"path": "history/54871427000194.json", "criterion_id": "guarantee", "total_count": 5, "preview_count": 3, "full_text_deferred": true, "sha256": "35d7cd99be50c7287c9fb675cf4f2e736002315295a225a9efa79c8d9186d874"}}</a:t>
            </a:r>
          </a:p>
          <a:p>
            <a:r>
              <a:t>CNPJ 60010416000112 · Garantias e constituição · Demonstrações Financeiras - Fusão, cisão e incorporação · ID 1298690 · 2026-05-08 · versão 1 · p. 19 · https://fnet.bmfbovespa.com.br/fnet/publico/visualizarDocumento?id=1298690</a:t>
            </a:r>
          </a:p>
          <a:p>
            <a:r>
              <a:t>CNPJ 60010416000112 · Garantias e constituição · Excerto da fonte:</a:t>
            </a:r>
          </a:p>
          <a:p>
            <a:r>
              <a:t>Em 08 de maio de 2026, a Classe não possuía garantias reais ou fidejussórias, pela liquidação  dos Direitos Creditórios.</a:t>
            </a:r>
          </a:p>
          <a:p>
            <a:r>
              <a:t>CNPJ 60010416000112 · Garantias e constituição · Condição: Trechos do documento específico identificado com data mais recente; vigência jurídica não inferida.</a:t>
            </a:r>
          </a:p>
          <a:p>
            <a:r>
              <a:t>CNPJ 60010416000112 · Garantias e constituição · Versão e prevalência: Trechos do documento específico identificado com data mais recente; vigência jurídica não inferida.</a:t>
            </a:r>
          </a:p>
          <a:p>
            <a:r>
              <a:t>CNPJ 60010416000112 · Garantias e constituição · Resumo do histórico: {"count": 4, "dates": ["2025-11-30", "2026-03-18", "2026-04-16"], "document_count": 3, "sources": [{"document_id": "1282181", "title": "Demonstrações Financeiras - Fusão, cisão e incorporação", "reference_date": "2026-04-16", "version": "1", "page": 20, "url": "https://fnet.bmfbovespa.com.br/fnet/publico/visualizarDocumento?id=1282181", "sha256": "b1c6566e43a00bcd00c8a7f30c77b7f86e351bd8e355bbea113f46d1dafda703"}, {"document_id": "1224477", "title": "Demonstrações Financeiras - Fusão, cisão e incorporação", "reference_date": "2026-03-18", "version": "1", "page": 20, "url": "https://fnet.bmfbovespa.com.br/fnet/publico/visualizarDocumento?id=1224477", "sha256": "0751bf0a75bc3b44c2748f5000226665c6ec6698a90c4dc6170b4e6c187759ae"}, {"document_id": "1126154", "title": "Demonstrações Financeiras", "reference_date": "2025-11-30", "version": "1", "page": 21, "url": "https://fnet.bmfbovespa.com.br/fnet/publico/visualizarDocumento?id=1126154", "sha256": "a01e7ccf88c548f12c95cba8526d7efbef6b585c112cd4668eca781c292090b0"}], "reference": {"path": "history/60010416000112.json", "criterion_id": "guarantee", "total_count": 4, "preview_count": 3, "full_text_deferred": true, "sha256": "8e2bd813f4c51cf01f6bfaad164bafe69d2bbb192f753eac92da3a01c2e63046"}}</a:t>
            </a:r>
          </a:p>
          <a:p>
            <a:r>
              <a:t>CNPJ 62696791000193 · Garantias e constituição · Regulamento · ID 1143317 · 20/03/2026 · versão Regulamento — referência 20/03/2026 · p. 11 · Anexo I, 4.7(iv) · https://fnet.bmfbovespa.com.br/fnet/publico/visualizarDocumento?id=1143317</a:t>
            </a:r>
          </a:p>
          <a:p>
            <a:r>
              <a:t>CNPJ 62696791000193 · Garantias e constituição · Excerto da fonte:</a:t>
            </a:r>
          </a:p>
          <a:p>
            <a:r>
              <a:t>(iv) sejam representados por direitos e/ou títulos representativos de crédito, com ou sem garantias reais ou pessoais a eles atreladas, incluindo, sem limitação, duplicatas, debêntures, contratos de locação e contratos mercantis de compra e venda de produtos e/ ou mercadorias perf ormados e/ou para entrega ou prestação f utura, bem como títulos ou certificados representativos desses contratos, decorrentes de operações nos segmentos f inanceiro, comercial, industrial, imobiliário, de hipotecas, de arrendamento mercantil e de prestação de serviços, observadas as vedações do item 4.28 abaixo deste Anexo. 4.7.2 Para f ins da verificação dos Critérios de Elegibilidade, será considerado o Patrimônio Líquido e o valor dos Direitos Creditórios do Agronegócio integrantes da carteira no Dia Útil imediatamente anterior à Data de Aquisição. 4.7.3 Na hipótese de eventuais Direitos Creditórios do Agronegócio elegíveis deixarem de atender a qualquer Critério de Elegibilidade após sua aquisição pela Classe, tal f ato não será entendido como um desenquadramento da carteira, tampouco haverá direito de regresso contra</a:t>
            </a:r>
          </a:p>
          <a:p>
            <a:r>
              <a:t>CNPJ 62696791000193 · Garantias e constituição · Regulamento · ID 1143317 · 20/03/2026 · versão Regulamento — referência 20/03/2026 · p. 14 · Anexo I, 4.24 · https://fnet.bmfbovespa.com.br/fnet/publico/visualizarDocumento?id=1143317</a:t>
            </a:r>
          </a:p>
          <a:p>
            <a:r>
              <a:t>CNPJ 62696791000193 · Garantias e constituição · Excerto da fonte:</a:t>
            </a:r>
          </a:p>
          <a:p>
            <a:r>
              <a:t>4.24 A Classe poderá adquirir imóveis rurais sobre os quais tenham sido constituídos ônus reais anteriormente ao seu ingresso no patrimônio da Classe. Ainda, posteriormente ao seu ingresso no patrimônio da Classe, poderá o Gestor, em nome da Classe, prestar fiança, aval, aceite ou coobrigar- se sob qualquer f orma, relativamente a operações relacionadas à carteira de ativos da Classe, bem como constituir ônus reais sobre imóveis rurais integrantes do patrimônio da Classe para garantir obrigações por ela assumidas. 4.25 O Administrador, conforme orientação do Gestor, poderá utilizar recursos da classe para recomprar suas próprias cotas, com a f inalidade exclusiva de cancelamento, seja por meio de programa de recompra ou por meio de Of erta Pública Voluntária de Aquisição d e suas próprias cotas (“OPAC”), observados os procedimentos eventualmente previstos nos manuais ou regras da B3, bem como o disposto no Art. 56 e seguintes do Anexo Normativo I da Resolução CVM 175. Participações do Agronegócio 4.26 As seguintes regras são aplicáveis aos investimentos em Participações do Agronegócio realizados pela Classe. 4.26.1 Deverão ser asseguradas à Classe (i) a participação no processo deci</a:t>
            </a:r>
          </a:p>
          <a:p>
            <a:r>
              <a:t>CNPJ 62696791000193 · Garantias e constituição · Regulamento · ID 1143317 · 20/03/2026 · versão Regulamento — referência 20/03/2026 · p. 48 · Complemento I, 11.6 · https://fnet.bmfbovespa.com.br/fnet/publico/visualizarDocumento?id=1143317</a:t>
            </a:r>
          </a:p>
          <a:p>
            <a:r>
              <a:t>CNPJ 62696791000193 · Garantias e constituição · Excerto da fonte:</a:t>
            </a:r>
          </a:p>
          <a:p>
            <a:r>
              <a:t>11.6. Ausência de garantia. As aplicações realizadas na Classe não contam com garantia do Cedente, do ADMINISTRADOR, do GESTOR, do CUSTODIANTE ou da Classe Garantidor de Créditos – FGC, de modo que é possível a perda total do capital investido pelos Cotistas ou mesmo a necessidade de os Cotistas realizarem aportes adicionais de recursos para a cobertura de eventuais prejuízos. 11.7. Limitação do gerenciamento de riscos. A realização de investimentos na Classe expõe o investidor a riscos a que a Classe está sujeita, os quais poderão acarretar perdas para os Cotistas. Não há qualquer garantia de completa eliminação da possibilidade de perdas para a Classe e para os Cotistas. Em condições adversas de mercado, esses sistemas de gerenciamento de riscos poderão ter sua ef iciência reduzida. A Classe também poderá estar sujeita a outros riscos advindos de motivos alheios ou exógenos ao controle do Administrador, tais como moratória, inadimplemento de pagamentos, mudança nas regras aplicáveis aos Ativos-Alvo e Ativos Financeiros de Liquidez, alteração na política monetária, alteração da política fiscal aplicável à Classe, os quais poderão causar preju</a:t>
            </a:r>
          </a:p>
          <a:p>
            <a:r>
              <a:t>CNPJ 62696791000193 · Garantias e constituição · Versão e prevalência: Leitura específica das cláusulas indicadas; condições e conflitos preservados. Seleção documental atual não comprova vigência jurídica por data isolada.</a:t>
            </a:r>
          </a:p>
          <a:p>
            <a:r>
              <a:t>CNPJ 55563624000109 · Garantias e constituição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Garantias e constituição · Resumo do histórico: {"count": 1, "dates": ["2026-04-30"], "document_count": 1, "sources": [{"document_id": "1192614", "title": "Regulamento", "reference_date": "2026-04-30", "version": "1", "page": "12, 14", "url": "https://fnet.bmfbovespa.com.br/fnet/publico/visualizarDocumento?id=1192614", "sha256": "f56e63ace0acde41d2f47fb48f1ac7f3f7df5e2d32de092d7c5e075a52516632"}], "reference": {"path": "history/55563624000109.json", "criterion_id": "guarantee", "total_count": 1, "preview_count": 1, "full_text_deferred": true, "sha256": "7835d573fb58a3c19adf5b8ecc2aee2bdbb9a88f7a0c0209b5f262b64c7522e3"}}</a:t>
            </a:r>
          </a:p>
          <a:p>
            <a:r>
              <a:t>CNPJ 62552447000120 · Garantias e constituição · Regulamento · ID 1200623 · 21/05/2026 · versão Consolidado21/05/2026 aprovado pelo ato1200625 · p. 8 · AnexoICondições(ii)(c) · https://fnet.bmfbovespa.com.br/fnet/publico/visualizarDocumento?id=1200623</a:t>
            </a:r>
          </a:p>
          <a:p>
            <a:r>
              <a:t>CNPJ 62552447000120 · Garantias e constituição · Excerto da fonte:</a:t>
            </a:r>
          </a:p>
          <a:p>
            <a:r>
              <a:t>garantias prestadas pelo Endossante ou pelo Agente de Retenção/Cobrança com relação a esse Direito Creditório deverão ser verdadeiras, nos termos deste Contrato e do respectivo Termo de Endosso; (e) tenha sido realizado o tratamento dos dados pessoais de pessoa natural observando as leis e regulamentações que regem a privacidade e a proteção de dados pess</a:t>
            </a:r>
          </a:p>
          <a:p>
            <a:r>
              <a:t>CNPJ 62552447000120 · Garantias e constituição · Regulamento · ID 1200623 · 21/05/2026 · versão Consolidado21/05/2026 aprovado pelo ato1200625 · p. 12 · AnexoI4.3.2 · https://fnet.bmfbovespa.com.br/fnet/publico/visualizarDocumento?id=1200623</a:t>
            </a:r>
          </a:p>
          <a:p>
            <a:r>
              <a:t>CNPJ 62552447000120 · Garantias e constituição · Excerto da fonte:</a:t>
            </a:r>
          </a:p>
          <a:p>
            <a:r>
              <a:t>alienação/cessão fiduciária; e (b) solicitar bloqueio de parte do saldo da conta vinculada do Devedor. Emitida a CCB em favor do Endossante e formalizada a alienação/cessão f iduciária pelo Devedor, o Endossante endossará eletronicamente a CCB em preto à Classe, que receberá todos os valores dela decorrentes (i.e., os Direitos Creditórios FGTS), após concluídas as f ormalidades de processamento pela CEF, na Conta da Classe. Caso a alienação/cessão f iduciária seja acionada nos termos da CCB, os recursos onerados serão liberados em favor do Endossante no</a:t>
            </a:r>
          </a:p>
          <a:p>
            <a:r>
              <a:t>CNPJ 62552447000120 · Garantias e constituição · Regulamento · ID 1200623 · 21/05/2026 · versão Consolidado21/05/2026 aprovado pelo ato1200625 · p. 6 · AnexoIRefinanciamentoLivre(d) · https://fnet.bmfbovespa.com.br/fnet/publico/visualizarDocumento?id=1200623</a:t>
            </a:r>
          </a:p>
          <a:p>
            <a:r>
              <a:t>CNPJ 62552447000120 · Garantias e constituição · Excerto da fonte:</a:t>
            </a:r>
          </a:p>
          <a:p>
            <a:r>
              <a:t>Refinanciamento Livre”, na forma de CCBs originadas no âmbito de um refinanciamento, de acordo com a política de cobrança vigente, de Direitos Creditórios Consignado Privado e de Direitos Creditórios FGTS, que não contem com o lastro de Consignação ou de cessão f iduciária do Saque-Aniversário, respectivamente; e (ii) “Ativos Financei</a:t>
            </a:r>
          </a:p>
          <a:p>
            <a:r>
              <a:t>CNPJ 62552447000120 · Garantias e constituição · Regulamento · ID 1200623 · 21/05/2026 · versão Consolidado21/05/2026 aprovado pelo ato1200625 · p. 16 · AnexoI4.25 · https://fnet.bmfbovespa.com.br/fnet/publico/visualizarDocumento?id=1200623</a:t>
            </a:r>
          </a:p>
          <a:p>
            <a:r>
              <a:t>CNPJ 62552447000120 · Garantias e constituição · Excerto da fonte:</a:t>
            </a:r>
          </a:p>
          <a:p>
            <a:r>
              <a:t>4.25 As aplicações na Classe não contam com garantia: (i) do Administrador; (ii) do Gestor; (iii) do Endossante; (iv) do Custodiante; (v) dos demais prestadores de serviço da Classe; (vii) de qualquer mecanismo de seguro; e/ou (viii) do FGC. CAPÍTULO 5 – CARACTERÍSTICAS E CONDIÇÕES DAS COTAS 5.1 A Classe não possui Subclasse. As características, os direitos e as condições de emissão, distribuição, subscrição, integralização, remuneração, Amortização e resgate das Cotas estão descritos neste Capítulo e no Capítulo 6. 5.1.1 Não obstante, por deliberação conjunta dos Prestadores de Serviços Essenciais e me</a:t>
            </a:r>
          </a:p>
          <a:p>
            <a:r>
              <a:t>CNPJ 62552447000120 · Garantias e constituição · Versão e prevalência: Leitura específica das cláusulas indicadas; condições e conflitos preservados. Seleção documental atual não comprova vigência jurídica por data isolada.</a:t>
            </a:r>
          </a:p>
          <a:p>
            <a:r>
              <a:t>CNPJ 63953620000165 · Garantias e constituição · Demonstrações Financeiras - Fusão, cisão e incorporação · ID 1327859 · 2026-05-15 · versão 1 · p. 21 · https://fnet.bmfbovespa.com.br/fnet/publico/visualizarDocumento?id=1327859</a:t>
            </a:r>
          </a:p>
          <a:p>
            <a:r>
              <a:t>CNPJ 63953620000165 · Garantias e constituição · Excerto da fonte:</a:t>
            </a:r>
          </a:p>
          <a:p>
            <a:r>
              <a:t>i) Alienação de direitos creditórios  No período em findo em 15 de maio de 2026, não houve recompra de direitos creditórios  inadimplentes.</a:t>
            </a:r>
          </a:p>
          <a:p>
            <a:r>
              <a:t>j) Garantias  Em 15 de maio de 2026, a Classe não possuía garantias reais ou fidejussórias, pela liquidação  dos direitos creditórios.</a:t>
            </a:r>
          </a:p>
          <a:p>
            <a:r>
              <a:t>7. Riscos  Não obstante o emprego pela Administradora e pela Gestora de plena diligência e da boa prática  de administração e gestão da Classe, da estrita observância da política de investimento, das  regras legais e regulamentares aplicáveis à sua administração e gestão, a Classe estará sujeita  aos riscos inerentes aos bens e direitos integrantes de sua Carteira, além dos fatores de risco  identificados abaixo.</a:t>
            </a:r>
          </a:p>
          <a:p>
            <a:r>
              <a:t> Risco de Crédito</a:t>
            </a:r>
          </a:p>
          <a:p>
            <a:r>
              <a:t> (i) Riscos associados aos Devedores: os direitos creditórios a serem endossados à  classe serão descontados pela Dataprev da remuneração do devedor. A capacidade de  pagamento do devedor poderá ser afetada se, por exemplo, o devedor tiver o seu  contrato de emprego rescindido ou em virtude de decisão judicial, o devedor for obrigado  a pagar alimentos, que têm prioridade sobre o empréstimo para fins de desconto na folha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afetar a rentabilidade da classe.</a:t>
            </a:r>
          </a:p>
          <a:p>
            <a:r>
              <a:t>CNPJ 63953620000165 · Garantias e constituição · Condição: Trechos do documento específico identificado com data mais recente; vigência jurídica não inferida.</a:t>
            </a:r>
          </a:p>
          <a:p>
            <a:r>
              <a:t>CNPJ 63953620000165 · Garantias e constituição · Versão e prevalência: Trechos do documento específico identificado com data mais recente; vigência jurídica não inferida.</a:t>
            </a:r>
          </a:p>
          <a:p>
            <a:r>
              <a:t>CNPJ 63953620000165 · Garantias e constituição · Resumo do histórico: {"count": 7, "dates": ["2026-04-16", "2026-04-28", "2026-05-08"], "document_count": 3, "sources": [{"document_id": "1298691", "title": "Demonstrações Financeiras - Fusão, cisão e incorporação", "reference_date": "2026-05-08", "version": "1", "page": 21, "url": "https://fnet.bmfbovespa.com.br/fnet/publico/visualizarDocumento?id=1298691", "sha256": "58c570d9b8d4d265330d3db3ea81c435b8e44a6dab4002aa37790652a1ee9819"}, {"document_id": "1282180", "title": "Demonstrações Financeiras - Fusão, cisão e incorporação", "reference_date": "2026-04-28", "version": "1", "page": 21, "url": "https://fnet.bmfbovespa.com.br/fnet/publico/visualizarDocumento?id=1282180", "sha256": "afaaa0e6809be4385e5bdb6c911aac582032c5bdbac3d7750234bf9eaf00438a"}, {"document_id": "1282179", "title": "Demonstrações Financeiras - Fusão, cisão e incorporação", "reference_date": "2026-04-16", "version": "1", "page": 21, "url": "https://fnet.bmfbovespa.com.br/fnet/publico/visualizarDocumento?id=1282179", "sha256": "beb67afbcd64169019477673fd3b7c1edbfabbd9db07379388d8cdd5d3fc9395"}], "reference": {"path": "history/63953620000165.json", "criterion_id": "guarantee", "total_count": 7, "preview_count": 3, "full_text_deferred": true, "sha256": "a7b89077f5e21098c2d601c303faabc3ff6b9729f89d8afecdc60fe1404720c1"}}</a:t>
            </a:r>
          </a:p>
          <a:p>
            <a:r>
              <a:t>CNPJ 54871427000194 · Registro, execução e recuperação · Motivo: Não localizada uma cláusula material para este critério nos textos identificados e processados. A ausência de resultado não comprova inexistência da regra.</a:t>
            </a:r>
          </a:p>
          <a:p>
            <a:r>
              <a:t>CNPJ 60010416000112 · Registro, execução e recuperação · Motivo: Não localizada uma cláusula material para este critério nos textos identificados e processados. A ausência de resultado não comprova inexistência da regra.</a:t>
            </a:r>
          </a:p>
          <a:p>
            <a:r>
              <a:t>CNPJ 62696791000193 · Registro, execução e recuperação · Regulamento · ID 1143317 · 2026-03-20 · versão 1 · p. 45 · 8.7 · https://fnet.bmfbovespa.com.br/fnet/publico/visualizarDocumento?id=1143317</a:t>
            </a:r>
          </a:p>
          <a:p>
            <a:r>
              <a:t>CNPJ 62696791000193 · Registro, execução e recuperação · Excerto da fonte:</a:t>
            </a:r>
          </a:p>
          <a:p>
            <a:r>
              <a:t>8.7. Risco de Execução das Garantias Atreladas aos CRIs. O investimento em CRI inclui uma série  de riscos, dentre estes, o risco de inadimplemento e consequente execução das garantias  outorgadas à respectiva operação e os riscos inerentes à eventual existência de bens imóveis  na composição da carteira da Classe, podendo, nesta hipótese, a rentabilidade da Classe ser  af etada. Em um eventual processo de execução das garantias dos CRI, poderá haver a  necessidade de contratação de consultores, dentre outros custos, que deverão ser suportados  pela Classe, na qualidade de investidor dos CRI. Adicionalmente, a garantia outorgada em  f avor dos CRI pode não ter valor suficiente para suportar as obrigações financeiras atreladas  a tal CRI. Desta f orma, uma série de eventos relacionados à execução de garantias dos CRI  poderá afetar negativamente o valor das Cotas e a rentabilidade do investimento na Classe.</a:t>
            </a:r>
          </a:p>
          <a:p>
            <a:r>
              <a:t>9. Riscos relativos às Participações do Agronegócio</a:t>
            </a:r>
          </a:p>
          <a:p>
            <a:r>
              <a:t>CNPJ 62696791000193 · Registro, execução e recuperação · Condição: Documentos atuais selecionados no inventário por categoria/escopo; a data documental isolada não comprova vigência jurídica.</a:t>
            </a:r>
          </a:p>
          <a:p>
            <a:r>
              <a:t>CNPJ 62696791000193 · Registro, execução e recuperação · Motivo: Cláusula primária localizada e citada, mas sua lista/condições extensas não admitem uma síntese literal curta confirmada. O trecho integral permanece nas fontes.</a:t>
            </a:r>
          </a:p>
          <a:p>
            <a:r>
              <a:t>CNPJ 62696791000193 · Registro, execução e recuperação · Versão e prevalência: Documentos atuais selecionados no inventário por categoria/escopo; a data documental isolada não comprova vigência jurídica.</a:t>
            </a:r>
          </a:p>
          <a:p>
            <a:r>
              <a:t>CNPJ 55563624000109 · Registro, execução e recuperação · Motivo: Não localizada uma cláusula material para este critério nos textos identificados e processados. A ausência de resultado não comprova inexistência da regra.</a:t>
            </a:r>
          </a:p>
          <a:p>
            <a:r>
              <a:t>CNPJ 62552447000120 · Registro, execução e recuperação · Motivo: Não localizada uma cláusula material para este critério nos textos identificados e processados. A ausência de resultado não comprova inexistência da regra.</a:t>
            </a:r>
          </a:p>
          <a:p>
            <a:r>
              <a:t>CNPJ 63953620000165 · Registro, execução e recuperação · Motivo: Não localizada uma cláusula material para este critério nos textos identificados e processados. A ausência de resultado não comprova inexistência da regra.</a:t>
            </a:r>
          </a:p>
          <a:p>
            <a:r>
              <a:t>CNPJ 54871427000194 · Cobrança e servicing · Regulamento · ID 670691 · 28/04/2024 · versão Regulamento — referência 28/04/2024 · p. 44 · Complemento 2, Régua de Cobrança, Desconto e Comissão · https://fnet.bmfbovespa.com.br/fnet/publico/visualizarDocumento?id=670691</a:t>
            </a:r>
          </a:p>
          <a:p>
            <a:r>
              <a:t>CNPJ 54871427000194 · Cobrança e servicing · Excerto da fonte:</a:t>
            </a:r>
          </a:p>
          <a:p>
            <a:r>
              <a:t>Régua de Cobrança A partir da comunicação da desaverbação do a partir de 31 dias a partir de 60 dias contrato - Notificação (canais digitais) - Negativação SERASA - PROTESTO Repescagem diária na - Cobrança terceirizada - Repescagem diária na conta corrente - Repescagem diária na conta corrente conta corrente DESCONTO Normal Atraso Multa e Mora Principal 15 a 90 0% 0% 91 a 180 100% 0% 181 a 270 100% 20% 271 a 360 100% 30% Acima de 360 100% 50% COMISSÃO Faixa de Atraso % comissão De 15 a 90 dias 12% De 90 a 180 dias 15% De 181 a 270 dias 20%</a:t>
            </a:r>
          </a:p>
          <a:p>
            <a:r>
              <a:t>CNPJ 54871427000194 · Cobrança e servicing · Condição: A tabela de comissões se refere à cobrança/recuperação por faixa de atraso; a remuneração geral do agente está remetida ao contrato na cláusula 13.7.</a:t>
            </a:r>
          </a:p>
          <a:p>
            <a:r>
              <a:t>CNPJ 54871427000194 · Cobrança e servicing · Versão e prevalência: Leitura específica das cláusulas indicadas; condições e conflitos preservados. Seleção documental atual não comprova vigência jurídica por data isolada.</a:t>
            </a:r>
          </a:p>
          <a:p>
            <a:r>
              <a:t>CNPJ 60010416000112 · Cobrança e servicing · Regulamento · ID 1051393 · 2025-10-09 · versão 1 · p. 33 · 14.2.5 · https://fnet.bmfbovespa.com.br/fnet/publico/visualizarDocumento?id=1051393</a:t>
            </a:r>
          </a:p>
          <a:p>
            <a:r>
              <a:t>CNPJ 60010416000112 · Cobrança e servicing · Excerto da fonte:</a:t>
            </a:r>
          </a:p>
          <a:p>
            <a:r>
              <a:t>14.2.5 O Agente de Retenção/Cobrança poderá realizar a cobrança do Direitos Creditórios de forma ativa  caso seja verif icado, pelo Agente de Retenção/Cobrança que o Empregador não ef etuou a  Escrituração ou em caso de perda do vínculo empregatício do Devedor com o Empregador. A  cobrança ativa será mantida até que a Escrituração seja realizada e/ou até que o Devedor retome  o vínculo empregatício, observado o disposto abaixo:</a:t>
            </a:r>
          </a:p>
          <a:p>
            <a:r>
              <a:t> (i) As medidas adotadas pelo Agente de Retenção/Cobrança deverão observar a política  de cobrança adotada pelo Custodiante; e</a:t>
            </a:r>
          </a:p>
          <a:p>
            <a:r>
              <a:t> (ii) Uma vez retomado o vínculo empregatício, o Agente de Retenção/Cobrança deverá aditar  a CCB e/ou realizar o Processo de Reinicialização (conforme detalhado no Contrato de  Endosso).</a:t>
            </a:r>
          </a:p>
          <a:p>
            <a:r>
              <a:t>CAPÍTULO 15 – FATORES DE RISCO</a:t>
            </a:r>
          </a:p>
          <a:p>
            <a:r>
              <a:t>CNPJ 60010416000112 · Cobrança e servicing · Condição: Documentos atuais selecionados no inventário por categoria/escopo; a data documental isolada não comprova vigência jurídica.</a:t>
            </a:r>
          </a:p>
          <a:p>
            <a:r>
              <a:t>CNPJ 60010416000112 · Cobrança e servicing · Versão e prevalência: Documentos atuais selecionados no inventário por categoria/escopo; a data documental isolada não comprova vigência jurídica.</a:t>
            </a:r>
          </a:p>
          <a:p>
            <a:r>
              <a:t>CNPJ 60010416000112 · Cobrança e servicing · Resumo do histórico: {"count": 1, "dates": ["2025-03-20"], "document_count": 1, "sources": [{"document_id": "993786", "title": "Regulamento", "reference_date": "2025-03-20", "version": "1", "page": 33, "clause": "14.2.5", "url": "https://fnet.bmfbovespa.com.br/fnet/publico/visualizarDocumento?id=993786", "sha256": "fd0fdd369a195510d81f81f505195a0b09e5f43522a990afa7d58c4f872921c8"}], "reference": {"path": "history/60010416000112.json", "criterion_id": "servicing", "total_count": 1, "preview_count": 1, "full_text_deferred": true, "sha256": "8e2bd813f4c51cf01f6bfaad164bafe69d2bbb192f753eac92da3a01c2e63046"}}</a:t>
            </a:r>
          </a:p>
          <a:p>
            <a:r>
              <a:t>CNPJ 62696791000193 · Cobrança e servicing · Regulamento · ID 1143317 · 2026-03-20 · versão 1 · p. 43 · 7.7 · https://fnet.bmfbovespa.com.br/fnet/publico/visualizarDocumento?id=1143317</a:t>
            </a:r>
          </a:p>
          <a:p>
            <a:r>
              <a:t>CNPJ 62696791000193 · Cobrança e servicing · Excerto da fonte:</a:t>
            </a:r>
          </a:p>
          <a:p>
            <a:r>
              <a:t>7.7. Falhas de Cobrança. A cobrança dos Direitos Creditórios do Agronegócio Inadimplidos de  titularidade da Classe depende da atuação diligente do agente de cobrança. Qualquer f alha  de procedimento ou ineficiência do agente de cobrança poderá acarretar menor recebimento  dos recursos devidos pelos Devedores, levando à queda da rentabilidade da Classe.</a:t>
            </a:r>
          </a:p>
          <a:p>
            <a:r>
              <a:t> Adicionalmente, nada garante que a cobrança judicial dos Direitos Creditórios do Agronegócio  Inadimplidos levará à recuperação total dos Direitos Creditórios do Agronegócio Inadimplidos,  o que poderá implicar perdas patrimoniais à Classe e aos Cotistas.</a:t>
            </a:r>
          </a:p>
          <a:p>
            <a:r>
              <a:t>CNPJ 62696791000193 · Cobrança e servicing · Regulamento · ID 1143317 · 2026-03-20 · versão 1 · p. 9 · 3.2 · https://fnet.bmfbovespa.com.br/fnet/publico/visualizarDocumento?id=1143317</a:t>
            </a:r>
          </a:p>
          <a:p>
            <a:r>
              <a:t>CNPJ 62696791000193 · Cobrança e servicing · Excerto da fonte:</a:t>
            </a:r>
          </a:p>
          <a:p>
            <a:r>
              <a:t>3.2 Sem prejuízo de outras despesas que venham a ser aprovadas em Assembleia Especial, são Encargos  da Classe:</a:t>
            </a:r>
          </a:p>
          <a:p>
            <a:r>
              <a:t> (i) despesas com consultoria especializada;</a:t>
            </a:r>
          </a:p>
          <a:p>
            <a:r>
              <a:t> (ii) despesas com agente de cobrança.</a:t>
            </a:r>
          </a:p>
          <a:p>
            <a:r>
              <a:t>CNPJ 62696791000193 · Cobrança e servicing · Condição: Documentos atuais selecionados no inventário por categoria/escopo; a data documental isolada não comprova vigência jurídica.</a:t>
            </a:r>
          </a:p>
          <a:p>
            <a:r>
              <a:t>CNPJ 62696791000193 · Cobrança e servicing · Versão e prevalência: Documentos atuais selecionados no inventário por categoria/escopo; a data documental isolada não comprova vigência jurídica.</a:t>
            </a:r>
          </a:p>
          <a:p>
            <a:r>
              <a:t>CNPJ 55563624000109 · Cobrança e servicing · Regulamento · ID 1192614 · 2026-04-30 · versão 1 · p. 11 · https://fnet.bmfbovespa.com.br/fnet/publico/visualizarDocumento?id=1192614</a:t>
            </a:r>
          </a:p>
          <a:p>
            <a:r>
              <a:t>CNPJ 55563624000109 · Cobrança e servicing · Excerto da fonte:</a:t>
            </a:r>
          </a:p>
          <a:p>
            <a:r>
              <a:t>(vi) Emolumentos e comissões pagas por operações da Carteira da Classe;</a:t>
            </a:r>
          </a:p>
          <a:p>
            <a:r>
              <a:t> (vii) Despesas com a manutenção de ativos cuja propriedade decorra da execução de garantia ou de acordo  com o respectivo devedor;</a:t>
            </a:r>
          </a:p>
          <a:p>
            <a:r>
              <a:t> (viii) Honorários de advogados, custas e despesas processuais correlatas incorridos em defesa dos interesses  do FUNDO ou da Classe, em juízo ou fora dele, inclusive o valor da condenação imputada, se for o caso;</a:t>
            </a:r>
          </a:p>
          <a:p>
            <a:r>
              <a:t> (ix) Gastos derivados da celebração de contratos de seguro sobre os ativos integrantes da Carteira da Classe,  assim como a parcela de prejuízos da Carteira não coberta por apólices de seguro, salvo se decorrente  diretamente de culpa ou dolo dos prestadores de serviços da Classe no exercício de suas respectivas  funções;</a:t>
            </a:r>
          </a:p>
          <a:p>
            <a:r>
              <a:t> (x) Despesas relacionadas ao exercício do direito de voto decorrente dos ativos integrantes da Carteira;</a:t>
            </a:r>
          </a:p>
          <a:p>
            <a:r>
              <a:t> (xi) Despesas com a realização da Assembleia de Cotistas;</a:t>
            </a:r>
          </a:p>
          <a:p>
            <a:r>
              <a:t> (xii) Despesas inerentes à constituição, à fusão, à incorporação, à cisão, à transformação ou à liquidação da  Classe;</a:t>
            </a:r>
          </a:p>
          <a:p>
            <a:r>
              <a:t> (xiii) Despesas com a liquidação, o registro e a custódia de operações com os ativos integrantes da Carteira;</a:t>
            </a:r>
          </a:p>
          <a:p>
            <a:r>
              <a:t> (xiv) Despesas com o fechamento de câmbio, vinculadas às operações da Carteira da Classe;</a:t>
            </a:r>
          </a:p>
          <a:p>
            <a:r>
              <a:t> (xv) Despesas inerentes à distribuição primária das Cotas e à admissão das Cotas à negociação em mercado  organizado;</a:t>
            </a:r>
          </a:p>
          <a:p>
            <a:r>
              <a:t> (xvi) Taxa de Administração e a Taxa de Gestão;</a:t>
            </a:r>
          </a:p>
          <a:p>
            <a:r>
              <a:t> (xvii) Despesas com a contratação de consultoria especializada, conforme o caso;</a:t>
            </a:r>
          </a:p>
          <a:p>
            <a:r>
              <a:t> (xviii) Despesas com a contratação de agente de cobrança, conforme o caso;</a:t>
            </a:r>
          </a:p>
          <a:p>
            <a:r>
              <a:t> (xix) Despesas decorrentes de empréstimos contraídos em nome da Classe, nos termos da Resolução CVM  175 e deste Anexo;</a:t>
            </a:r>
          </a:p>
          <a:p>
            <a:r>
              <a:t> (xx) Taxa mínima de custódia, se houver; e</a:t>
            </a:r>
          </a:p>
          <a:p>
            <a:r>
              <a:t> (xxi) Montantes devidos a fundos investidores, na hipótese de remuneração com base na taxa de  administração, performance ou gestão, observado o disposto no art. 99 da parte geral da Resolução  CVM 175.</a:t>
            </a:r>
          </a:p>
          <a:p>
            <a:r>
              <a:t>CNPJ 55563624000109 · Cobrança e servicing · Condição: Documentos atuais selecionados no inventário por categoria/escopo; a data documental isolada não comprova vigência jurídica.</a:t>
            </a:r>
          </a:p>
          <a:p>
            <a:r>
              <a:t>CNPJ 55563624000109 · Cobrança e servicing · Motivo: Cláusula primária localizada e citada, mas sua lista/condições extensas não admitem uma síntese literal curta confirmada. O trecho integral permanece nas fontes.</a:t>
            </a:r>
          </a:p>
          <a:p>
            <a:r>
              <a:t>CNPJ 55563624000109 · Cobrança e servicing · Versão e prevalência: Documentos atuais selecionados no inventário por categoria/escopo; a data documental isolada não comprova vigência jurídica.</a:t>
            </a:r>
          </a:p>
          <a:p>
            <a:r>
              <a:t>CNPJ 62552447000120 · Cobrança e servicing · Regulamento · ID 1200623 · 2026-05-21 · versão 1 · p. 6 · https://fnet.bmfbovespa.com.br/fnet/publico/visualizarDocumento?id=1200623</a:t>
            </a:r>
          </a:p>
          <a:p>
            <a:r>
              <a:t>CNPJ 62552447000120 · Cobrança e servicing · Excerto da fonte:</a:t>
            </a:r>
          </a:p>
          <a:p>
            <a:r>
              <a:t>integrantes do conglomerado econômico de instituições  f inanceiras classificadas como S1 pelo Banco Central do  Brasil (“BACEN” e “Instituições Financeiras S1”,  respectivamente), desde que não representem títulos de  emissão ou coobrigação de instituições financeiras, bem  como cotas de f undos de investimento que invistam  preponderantemente nestes direitos, títulos e/ou valores  mobiliários; e</a:t>
            </a:r>
          </a:p>
          <a:p>
            <a:r>
              <a:t> (d) “Direitos Creditórios Refinanciamento Livre”, na forma  de CCBs originadas no âmbito de um refinanciamento, de  acordo com a política de cobrança vigente, de Direitos  Creditórios Consignado Privado e de Direitos Creditórios  FGTS, que não contem com o lastro de Consignação ou  de cessão f iduciária do Saque-Aniversário,  respectivamente; e</a:t>
            </a:r>
          </a:p>
          <a:p>
            <a:r>
              <a:t> (ii) “Ativos Financeiros”, assim entendidos como, em conjunto:</a:t>
            </a:r>
          </a:p>
          <a:p>
            <a:r>
              <a:t> (a) moeda corrente nacional;</a:t>
            </a:r>
          </a:p>
          <a:p>
            <a:r>
              <a:t> (b) títulos públicos f ederais;</a:t>
            </a:r>
          </a:p>
          <a:p>
            <a:r>
              <a:t> (c) ativos f inanceiros de renda f ixa de emissão ou  coobrigação de Instituições Financeiras S1;</a:t>
            </a:r>
          </a:p>
          <a:p>
            <a:r>
              <a:t> (d) operações compromissadas, desde que lastreadas nos  títulos mencionados nas alíneas (b) e (c) acima; e</a:t>
            </a:r>
          </a:p>
          <a:p>
            <a:r>
              <a:t> (e) cotas do BTG Pactual Tesouro Selic Fundo de  Investimento Renda Fixa Ref erenciado DI, inscrito no  CNPJ sob o nº 09.215.250/0001-13;</a:t>
            </a:r>
          </a:p>
          <a:p>
            <a:r>
              <a:t> observados todos os limites de composição e diversificação da carteira da  Classe (“Carteira”), estabelecidos neste Regulamento e na  regulamentação aplicável.</a:t>
            </a:r>
          </a:p>
          <a:p>
            <a:r>
              <a:t> O objetivo da Classe não representa, sob qualquer hipótese, promessa,  garantia ou sugestão da Classe ou de seus Prestadores de Serviços  Essenciais quanto à segurança, rentabilidade e liquidez dos títulos  componentes de sua Carteira.</a:t>
            </a:r>
          </a:p>
          <a:p>
            <a:r>
              <a:t>CNPJ 62552447000120 · Cobrança e servicing · Regulamento · ID 1200623 · 2026-05-21 · versão 1 · p. 7 · https://fnet.bmfbovespa.com.br/fnet/publico/visualizarDocumento?id=1200623</a:t>
            </a:r>
          </a:p>
          <a:p>
            <a:r>
              <a:t>CNPJ 62552447000120 · Cobrança e servicing · Excerto da fonte:</a:t>
            </a:r>
          </a:p>
          <a:p>
            <a:r>
              <a:t>(c) atendam, pro forma, na Data de Aquisição, aos  limites de concentração definidos no Capítulo 4 deste  Anexo I;</a:t>
            </a:r>
          </a:p>
          <a:p>
            <a:r>
              <a:t> (d) não haver disposição legal ou regulamentar  aprovada, ou ordem judicial ou administrativa  emitida, que tenha como objetivo impedir ou impor  limites ou exigências adicionais para o endosso de  Direitos Creditórios decorrentes de transações  dedutíveis da f olha de pagamento a f undos de  investimento;</a:t>
            </a:r>
          </a:p>
          <a:p>
            <a:r>
              <a:t> (e) atendam à Política de Crédito e, conforme aplicável,  à Política de Cobrança; e</a:t>
            </a:r>
          </a:p>
          <a:p>
            <a:r>
              <a:t>CNPJ 62552447000120 · Cobrança e servicing · Regulamento · ID 1200623 · 2026-05-21 · versão 1 · p. 3 · 2.1.2 · https://fnet.bmfbovespa.com.br/fnet/publico/visualizarDocumento?id=1200623</a:t>
            </a:r>
          </a:p>
          <a:p>
            <a:r>
              <a:t>CNPJ 62552447000120 · Cobrança e servicing · Excerto da fonte:</a:t>
            </a:r>
          </a:p>
          <a:p>
            <a:r>
              <a:t>2.1.2 Não obstante as atribuições previstas neste Regulamento e na regulamentação aplicável, cabe  ao Gestor praticar os atos necessários à gestão da Carteira. Assim, em linha com o art. 85 da  Parte Geral da Resolução CVM 175 e com o art. 32 do Anexo Normativo II, o Gestor pode  contratar, em nome do Fundo e/ou da Classe, os seguintes serviços: (a) intermediação de  operações para a Carteira; (b) distribuição de Cotas; (c) consultoria de investimentos; (d)  classificação de risco por agência classificadora de risco; (e) cogestão da Carteira; (f) formador  de mercado; e, eventualmente, (g) consultoria especializada; (h) agente de cobrança, e (i)  outros serviços em benef ício do Fundo ou da classe.</a:t>
            </a:r>
          </a:p>
          <a:p>
            <a:r>
              <a:t>CNPJ 62552447000120 · Cobrança e servicing · Condição: Documentos atuais selecionados no inventário por categoria/escopo; a data documental isolada não comprova vigência jurídica.</a:t>
            </a:r>
          </a:p>
          <a:p>
            <a:r>
              <a:t>CNPJ 62552447000120 · Cobrança e servicing · Versão e prevalência: Documentos atuais selecionados no inventário por categoria/escopo; a data documental isolada não comprova vigência jurídica.</a:t>
            </a:r>
          </a:p>
          <a:p>
            <a:r>
              <a:t>CNPJ 63953620000165 · Cobrança e servicing · Anexo ao Regulamento · ID 1222863 · 2026-06-02 · versão 1 · p. 8 · 4.25 · https://fnet.bmfbovespa.com.br/fnet/publico/visualizarDocumento?id=1222863</a:t>
            </a:r>
          </a:p>
          <a:p>
            <a:r>
              <a:t>CNPJ 63953620000165 · Cobrança e servicing · Excerto da fonte:</a:t>
            </a:r>
          </a:p>
          <a:p>
            <a:r>
              <a:t>4.25 É vedada qualquer forma de antecipação de recursos às Cedentes/aos Endossantes para posterior reembolso  pela Classe, seja pelo Administrador, Gestor, Custodiante, Consultora ou Agente de Cobrança.</a:t>
            </a:r>
          </a:p>
          <a:p>
            <a:r>
              <a:t>CNPJ 63953620000165 · Cobrança e servicing · Condição: Documentos atuais selecionados no inventário por categoria/escopo; a data documental isolada não comprova vigência jurídica.</a:t>
            </a:r>
          </a:p>
          <a:p>
            <a:r>
              <a:t>CNPJ 63953620000165 · Cobrança e servicing · Versão e prevalência: Documentos atuais selecionados no inventário por categoria/escopo; a data documental isolada não comprova vigência jurídica.</a:t>
            </a:r>
          </a:p>
          <a:p>
            <a:r>
              <a:t>CNPJ 63953620000165 · Cobrança e servicing · Resumo do histórico: {"count": 6, "dates": ["2026-04-28", "2026-05-08", "2026-05-15"], "document_count": 3, "sources": [{"document_id": "1327859", "title": "Demonstrações Financeiras - Fusão, cisão e incorporação", "reference_date": "2026-05-15", "version": "1", "page": 29, "url": "https://fnet.bmfbovespa.com.br/fnet/publico/visualizarDocumento?id=1327859", "sha256": "dca1c68babb97f887528c3e2e47596a9c30f507b067981a35655b2f2da9c8054"}, {"document_id": "1298691", "title": "Demonstrações Financeiras - Fusão, cisão e incorporação", "reference_date": "2026-05-08", "version": "1", "page": 5, "url": "https://fnet.bmfbovespa.com.br/fnet/publico/visualizarDocumento?id=1298691", "sha256": "58c570d9b8d4d265330d3db3ea81c435b8e44a6dab4002aa37790652a1ee9819"}, {"document_id": "1282180", "title": "Demonstrações Financeiras - Fusão, cisão e incorporação", "reference_date": "2026-04-28", "version": "1", "page": 30, "url": "https://fnet.bmfbovespa.com.br/fnet/publico/visualizarDocumento?id=1282180", "sha256": "afaaa0e6809be4385e5bdb6c911aac582032c5bdbac3d7750234bf9eaf00438a"}], "reference": {"path": "history/63953620000165.json", "criterion_id": "servicing", "total_count": 6, "preview_count": 3, "full_text_deferred": true, "sha256": "a7b89077f5e21098c2d601c303faabc3ff6b9729f89d8afecdc60fe1404720c1"}}</a:t>
            </a:r>
          </a:p>
          <a:p>
            <a:r>
              <a:t>CNPJ 54871427000194 · Conta de arrecadação e risco de trânsito · Regulamento · ID 670691 · 28/04/2024 · versão Regulamento — referência 28/04/2024 · p. 9 · Anexo I, 4.3 e 4.6 · https://fnet.bmfbovespa.com.br/fnet/publico/visualizarDocumento?id=670691</a:t>
            </a:r>
          </a:p>
          <a:p>
            <a:r>
              <a:t>CNPJ 54871427000194 · Conta de arrecadação e risco de trânsito · Excerto da fonte:</a:t>
            </a:r>
          </a:p>
          <a:p>
            <a:r>
              <a:t>4.3 Os pagamentos relativos aos Direitos Creditórios de titularidade da Classe serão realizados mediante consignação em folha, débito em conta de titularidade dos Devedores e pagamentos de sinistros, para pagamento dos valores correspondentes às parcelas das CCBs representadas pelos CCCBs de titularidade da Classe, os quais serão conciliados e repassados pelo Endossante para a conta corrente da Classe. 4.4 Os Direitos Creditórios deverão contar com Documentos Comprobatórios que evidenciem sua existência, validade e exequibilidade perante os respectivos Devedores . 4.4.1 Os Direitos Creditórios serão adquiridos pela Classe por meio de Contrato de Endosso f irmados entre a Classe e o Endossante e os respectivos Termos de Endosso, acompanhados de todos os direitos, privilégios, preferências, prerrogativas, ações e garantias assegurados aos seus titulares, observada a Política de Investimentos e as demais disposições deste Regulamento e da legislação e regulamentação aplicáveis. 4.5 O Endossante deverá realizar análise cadastral e de crédito dos Devedores, previamente à aquisição de Direitos Creditórios pela Classe. O disposto neste item não impede o ADMINISTRAD</a:t>
            </a:r>
          </a:p>
          <a:p>
            <a:r>
              <a:t>CNPJ 54871427000194 · Conta de arrecadação e risco de trânsito · Regulamento · ID 670691 · 28/04/2024 · versão Regulamento — referência 28/04/2024 · p. 9 · Anexo I, 4.6 · https://fnet.bmfbovespa.com.br/fnet/publico/visualizarDocumento?id=670691</a:t>
            </a:r>
          </a:p>
          <a:p>
            <a:r>
              <a:t>CNPJ 54871427000194 · Conta de arrecadação e risco de trânsito · Excerto da fonte:</a:t>
            </a:r>
          </a:p>
          <a:p>
            <a:r>
              <a:t>4.6 A cobrança ordinária e recebimento de Direitos Creditórios pela Classe é realizada mediante a liquidação dos recursos através de débito dos salários a receber pelos Devedores do órgão consignante ou através da consignação direto da folha, sendo certo que o GESTOR e/ou o Custodiante f arão o monitoramento do pagamento dos Direitos Creditórios através da validação do Arquivo de Liquidação, do Relatório de Repasse, e consulta oriunda do sistema da processadora conveniada ao órgão consignante, responsável pela consignação em f olha de pagamento ou de benef ício dos Devedores (averbação, débito e repasse). Critérios de Elegibilidade 4.7 A Classe somente poderá adquirir os Direitos Creditórios que atendam cumulativamente aos seguintes Critérios de Elegibilidade, a serem verif icados e validados pelo GESTOR, de f orma individualizada e integral, previamente à cessão e na respectiva Data de Aquisição, de modo que apenas são passíveis de aquisição pela Classe os Direitos Creditórios que, na Data de Aquisição: (i) CCBs sem qualquer parcela cedida; (ii) CCBs com diferença menor que 60 (sessenta) dias entre a data provável do endosso e a próxima parcela a vencer;</a:t>
            </a:r>
          </a:p>
          <a:p>
            <a:r>
              <a:t>CNPJ 54871427000194 · Conta de arrecadação e risco de trânsito · Condição: A mecânica prevê passagem dos recursos pelo endossante; o regulamento não estabelece, nesta cláusula, repasse direto automático pelo órgão consignante.</a:t>
            </a:r>
          </a:p>
          <a:p>
            <a:r>
              <a:t>CNPJ 54871427000194 · Conta de arrecadação e risco de trânsito · Versão e prevalência: Leitura específica das cláusulas indicadas; condições e conflitos preservados. Seleção documental atual não comprova vigência jurídica por data isolada.</a:t>
            </a:r>
          </a:p>
          <a:p>
            <a:r>
              <a:t>CNPJ 54871427000194 · Conta de arrecadação e risco de trânsito · Resumo do histórico: {"count": 1, "dates": ["2024-04-19"], "document_count": 1, "sources": [{"document_id": "670689", "title": "Regulamento", "reference_date": "2024-04-19", "version": "1", "page": 25, "url": "https://fnet.bmfbovespa.com.br/fnet/publico/visualizarDocumento?id=670689", "sha256": "891bc9bc5d87bbc02ec139077a84d2702eb81ea02035fb71d24f5b8366b94a0b"}], "reference": {"path": "history/54871427000194.json", "criterion_id": "collection_account", "total_count": 1, "preview_count": 1, "full_text_deferred": true, "sha256": "35d7cd99be50c7287c9fb675cf4f2e736002315295a225a9efa79c8d9186d874"}}</a:t>
            </a:r>
          </a:p>
          <a:p>
            <a:r>
              <a:t>CNPJ 60010416000112 · Conta de arrecadação e risco de trânsito · Regulamento · ID 1051393 · 2025-10-09 · versão 1 · p. 32 · 14.2.1 · https://fnet.bmfbovespa.com.br/fnet/publico/visualizarDocumento?id=1051393</a:t>
            </a:r>
          </a:p>
          <a:p>
            <a:r>
              <a:t>CNPJ 60010416000112 · Conta de arrecadação e risco de trânsito · Excerto da fonte:</a:t>
            </a:r>
          </a:p>
          <a:p>
            <a:r>
              <a:t>14.2.1 Os valores indicados nos Arquivos Dataprev em relação aos Direitos Creditórios endossados à  Classe e depositados mensalmente pela CEF na Conta Vinculada serão cobrados/recebidos da  seguinte f orma:</a:t>
            </a:r>
          </a:p>
          <a:p>
            <a:r>
              <a:t> (i) mensalmente, após o processamento da f olha de pagamento dos Devedores, a Dataprev  enviará os Arquivos Dataprev ao Endossante;</a:t>
            </a:r>
          </a:p>
          <a:p>
            <a:r>
              <a:t> (ii) ao receber os Arquivos Dataprev, o Endossante os disponibilizará ao Custodiante e ao  Agente de Retenção/Cobrança, através de uma interf ace de programação de aplicações  (API), no mesmo dia que forem disponibilizados pela Dataprev, ou no Dia Útil subsequente,  se f orem disponibilizados pela Dataprev após 16:00 (horário de Brasília) sem f azer qualquer  modif icação em suas respectivas inf ormações;</a:t>
            </a:r>
          </a:p>
          <a:p>
            <a:r>
              <a:t> (iii) até 2º (segundo) Dia Útil após o recebimento dos valores repassados pelos Empregadores,  a CEF ef etuará uma transf erência eletrônica disponível (TED) diretamente para a Conta  Vinculada relevante com o valor declarado no Arquivo de Consignações;</a:t>
            </a:r>
          </a:p>
          <a:p>
            <a:r>
              <a:t> (iv) o Endossante, na qualidade de Agente da Conta Vinculada, transferirá os valores devidos  à Classe para a Conta de Cobrança da Classe, de acordo com o Contrato de Conta  Vinculada; e</a:t>
            </a:r>
          </a:p>
          <a:p>
            <a:r>
              <a:t> (v) tendo recebido os Arquivos Dataprev e os valores indicados no item (iv), o Custodiante  realizará a reconciliação dos valores devidos à Classe e/ou ao Endossante.</a:t>
            </a:r>
          </a:p>
          <a:p>
            <a:r>
              <a:t>CNPJ 60010416000112 · Conta de arrecadação e risco de trânsito · Regulamento · ID 1051393 · 2025-10-09 · versão 1 · p. 28 · https://fnet.bmfbovespa.com.br/fnet/publico/visualizarDocumento?id=1051393</a:t>
            </a:r>
          </a:p>
          <a:p>
            <a:r>
              <a:t>CNPJ 60010416000112 · Conta de arrecadação e risco de trânsito · Excerto da fonte:</a:t>
            </a:r>
          </a:p>
          <a:p>
            <a:r>
              <a:t>Anexo I ao Regulamento CLASSE ÚNICA DO MT I CONSIGNADO PRIVADO I FUNDO DE INVESTIMENTO EM DIREITOS CREDITÓRIOS RESPONSABILIDADE LIMITADA  Documentos Comprobatórios e os Documentos Suporte que comprovam a operação, observados os  procedimentos operacionais da Entidade Registradora;</a:t>
            </a:r>
          </a:p>
          <a:p>
            <a:r>
              <a:t> (ii) receber, em nome da Classe, pagamentos de Direitos Creditórios, amortização ou resgate de Ativos  Financeiros ou qualquer outro rendimento dos ativos mantidos em custódia, mediante o recebimento  de valores diretamente na Conta de Cobrança da Classe ou transf eridos da Conta Vinculada;</a:t>
            </a:r>
          </a:p>
          <a:p>
            <a:r>
              <a:t> (iii) cobrar e receber, em nome da Classe, pagamentos, resgate de títulos ou qualquer outro rendimento  relativo aos ativos da Carteira, depositando os valores recebidos diretamente em conta de titularidade  da classe ou, se f or o caso, em conta-vinculada;</a:t>
            </a:r>
          </a:p>
          <a:p>
            <a:r>
              <a:t> (iv) realizar a guarda da documentação relativa ao lastro dos Direitos Creditórios;</a:t>
            </a:r>
          </a:p>
          <a:p>
            <a:r>
              <a:t> (v) realizar a reconciliação dos valores depositados na Conta de Cobrança da Classe;</a:t>
            </a:r>
          </a:p>
          <a:p>
            <a:r>
              <a:t> (vi)</a:t>
            </a:r>
          </a:p>
          <a:p>
            <a:r>
              <a:t> (vii) assegurar que inconsistências indicadas nos relatórios de verif icação dos Documentos  Comprobatórios e dos Documentos Suporte representativos dos Direitos Creditórios e seu endosso  à Classe sejam tratadas tempestivamente.</a:t>
            </a:r>
          </a:p>
          <a:p>
            <a:r>
              <a:t>CNPJ 60010416000112 · Conta de arrecadação e risco de trânsito · Regulamento · ID 1051393 · 2025-10-09 · versão 1 · p. 39 · https://fnet.bmfbovespa.com.br/fnet/publico/visualizarDocumento?id=1051393</a:t>
            </a:r>
          </a:p>
          <a:p>
            <a:r>
              <a:t>CNPJ 60010416000112 · Conta de arrecadação e risco de trânsito · Excerto da fonte:</a:t>
            </a:r>
          </a:p>
          <a:p>
            <a:r>
              <a:t>Anexo I ao Regulamento CLASSE ÚNICA DO MT I CONSIGNADO PRIVADO I FUNDO DE INVESTIMENTO EM DIREITOS CREDITÓRIOS RESPONSABILIDADE LIMITADA  da Classe e, de forma extraordinária, para a Conta de Movimentação da Classe. Em caso de  intervenção ou liquidação extrajudicial das instituições f inanceiras onde a Conta de Cobrança  da Classe e a Conta de Movimentação da Classe são mantidas, os fundos nelas depositados  poderão ser bloqueados e recuperados pela Classe somente através de uma ordem judicial,  o que af etaria seu retorno e poderia causar perda de parte de seus ativos.</a:t>
            </a:r>
          </a:p>
          <a:p>
            <a:r>
              <a:t> (ix) Risco de bloqueio da Conta Vinculada: a Conta Vinculada para a qual os recursos  provenientes do pagamento dos Direitos Creditórios serão direcionados poderá ser  bloqueada, dentre outros, (i) no caso de intervenção ou liquidação extrajudicial do  Endossante, ou (ii) no caso de decisões judiciais serem proferidas em demandas ajuizadas  contra o Endossante, determinando o bloqueio. Em qualquer desses eventos, esses recursos  de propriedade da Classe só poderão ser recuperados em juízo. Essa recuperação poderá  levar tempo para ser ef etuada ou mesmo não obter êxito, o que af etaria a rentabilidade da  Classe e poderia f azê-lo perder parte de seus ativos.</a:t>
            </a:r>
          </a:p>
          <a:p>
            <a:r>
              <a:t> (x) Risco de patrimônio líquido negativo: as estratégias de investimento adotadas pela  Classe, bem como o pagamento de remuneração aos prestadores de serviços da Classe,  podem f azer com que seu Patrimônio Líquido se torne negativo, hipótese em que o Cotista  poderá ser solicitado a f azer aportes adicionais de recursos, a f im de permitir que a Classe  cumpra suas obrigações.</a:t>
            </a:r>
          </a:p>
          <a:p>
            <a:r>
              <a:t> (xi) Risco de cobrança judicial ou extrajudicial: quando não f orem pagos os Direitos  Creditórios que compõem a Carteira, poderá haver cobrança judicial ou extrajudicial dos  valores devidos, mediante decisão dos Cotistas na Assembleia de Cotistas nos termos desse  Anexo I. Entretanto, não há garantia de que, em qualquer desses casos, os procedimentos  de cobrança acima mencionados serão aprovados na Assembleia Especial de Cotistas e,  caso aprovados, de que tais procedimentos atingirão os resultados desejados, nem de que  a Classe terá êxito em recuperar quaisquer valores inadimplidos, o que poderá resultar em  perdas para a Classe.</a:t>
            </a:r>
          </a:p>
          <a:p>
            <a:r>
              <a:t> (xii) Possibilidade de conflito de interesses entre a Classe e o Agente de  Retenção/Cobrança. O Agente de Retenção/Cobrança eventualmente possui ou pode vir a  possuir relacionamento comercial com o Endossante e/ou Devedores, de modo que, em  determinadas circunstâncias seus interesses podem ser conflitantes com os interesses da  Classe. Não é possível garantir que, materializada uma situação de conflito de interesses  conf orme descrita acima, o Agente de Retenção/Cobrança exponha-a adequadamente ao  Administrador e/ou aos Cotistas, ou que o faça absolutamente, tampouco que agirá no melhor  no interesse da Classe. Nesses casos, a Classe pode vir a adquirir Direitos Creditórios ou  pode vir a ter seus Direitos Creditórios Inadimplidos pagos em condições comparativamente  menos vantajosas àquelas que seriam verificadas na ausência de tais conflitos de interesses.</a:t>
            </a:r>
          </a:p>
          <a:p>
            <a:r>
              <a:t> Nesses casos, o Patrimônio Líquido pode ser af etado adversamente.</a:t>
            </a:r>
          </a:p>
          <a:p>
            <a:r>
              <a:t> (xiii) Risco de intervenção ou liquidação judicial do Administrador. A Classe está sujeito ao  risco dos efeitos de decretação de intervenção ou de liquidação judicial do Administrador e/ou  do Custodiante, nos termos da Lei nº 6.024, de 13 de março de 1974, conf orme alterada.</a:t>
            </a:r>
          </a:p>
          <a:p>
            <a:r>
              <a:t> (xiv) Patrimônio Líquido negativo. Os investimentos da Classe estão, por sua natureza, sujeitos  a f lutuações típicas de mercado, risco de crédito, risco sistêmico, condições adversas de  liquidez e negociação atípica nos mercados de atuação, sendo que não há garantia de  completa eliminação da possibilidade de perdas para a Classe e para os Cotistas. Além disso,  as estratégias de investimento adotadas pela Classe poderão f azer com que a Classe  apresente Patrimônio Líquido negativo, caso em que os Cotistas poderão ser chamados a  realizar aportes adicionais de recursos, de f orma a possibilitar que a Classe satisfaça suas  obrigações.</a:t>
            </a:r>
          </a:p>
          <a:p>
            <a:r>
              <a:t>CNPJ 60010416000112 · Conta de arrecadação e risco de trânsito · Condição: Documentos atuais selecionados no inventário por categoria/escopo; a data documental isolada não comprova vigência jurídica.</a:t>
            </a:r>
          </a:p>
          <a:p>
            <a:r>
              <a:t>CNPJ 60010416000112 · Conta de arrecadação e risco de trânsito · Versão e prevalência: Documentos atuais selecionados no inventário por categoria/escopo; a data documental isolada não comprova vigência jurídica.</a:t>
            </a:r>
          </a:p>
          <a:p>
            <a:r>
              <a:t>CNPJ 60010416000112 · Conta de arrecadação e risco de trânsito · Resumo do histórico: {"count": 1, "dates": ["2025-03-20"], "document_count": 1, "sources": [{"document_id": "993786", "title": "Regulamento", "reference_date": "2025-03-20", "version": "1", "page": 32, "clause": "14.2.1", "url": "https://fnet.bmfbovespa.com.br/fnet/publico/visualizarDocumento?id=993786", "sha256": "fd0fdd369a195510d81f81f505195a0b09e5f43522a990afa7d58c4f872921c8"}], "reference": {"path": "history/60010416000112.json", "criterion_id": "collection_account", "total_count": 1, "preview_count": 1, "full_text_deferred": true, "sha256": "8e2bd813f4c51cf01f6bfaad164bafe69d2bbb192f753eac92da3a01c2e63046"}}</a:t>
            </a:r>
          </a:p>
          <a:p>
            <a:r>
              <a:t>CNPJ 62696791000193 · Conta de arrecadação e risco de trânsito · Motivo: Não localizada uma cláusula material para este critério nos textos identificados e processados. A ausência de resultado não comprova inexistência da regra.</a:t>
            </a:r>
          </a:p>
          <a:p>
            <a:r>
              <a:t>CNPJ 55563624000109 · Conta de arrecadação e risco de trânsito · Motivo: Não localizada uma cláusula material para este critério nos textos identificados e processados. A ausência de resultado não comprova inexistência da regra.</a:t>
            </a:r>
          </a:p>
          <a:p>
            <a:r>
              <a:t>CNPJ 62552447000120 · Conta de arrecadação e risco de trânsito · Regulamento · ID 1200623 · 2026-05-21 · versão 1 · p. 37 · https://fnet.bmfbovespa.com.br/fnet/publico/visualizarDocumento?id=1200623</a:t>
            </a:r>
          </a:p>
          <a:p>
            <a:r>
              <a:t>CNPJ 62552447000120 · Conta de arrecadação e risco de trânsito · Excerto da fonte:</a:t>
            </a:r>
          </a:p>
          <a:p>
            <a:r>
              <a:t>operacional dos Direitos Creditórios Consignado Privado e dos Direitos Creditórios FGTS dependem de certif icações e habilitações do Endossante junto à Dataprev e à CEF, respectivamente. O Endossante deve observar as regras aplicáveis a cada Direito Creditório para a manutenção da sua habilitação, que, portanto, pode ser af etada em caso de descumprimento ou de mudança normativa. Nesses casos, a estrutura de cobrança dos Direitos Creditórios Consignado Privado e dos Direitos Creditórios FGTS poderá ser comprometida, dando origem à necessidade de adoção de uma nova estrutura, que poderá não ser tão eficaz quanto ela ou mesmo revelar, na prática, ser inadequada ou ter altos custos operacionais . Esses eventos podem levar a perdas patrimoniais para a Classe, na medida em que a Classe deixará de receber, definitiva ou temporariamente, recursos oriundos desses Direitos Creditórios, no todo ou em parte.</a:t>
            </a:r>
          </a:p>
          <a:p>
            <a:r>
              <a:t>(vii) Risco de fungibilidade: o pagamento dos Direitos Creditórios serão inicialmente realizados em conta liquidante do Endossante por meio de transferência de reserva bancária, sendo automaticamente transferido à Conta Vinculada na sua integralidade, também de titularidade do Endoss ante, o qual será responsável por realizar a conciliação dos valores e repassá-los à Conta da Classe. Enquanto os recursos não f orem transf eridos para a Classe, a Classe estará correndo o risco de crédito do Endossante, e no caso de qualquer evento de crédito do Endossante, como intervenção, liquidação extrajudicial, falência ou outros procedimentos para proteção de credores, a Classe poderá não receber os valores devidos a ele, e poderá incorrer em custos adicionais para recuperar esses valores. Além disso, em caso de intervenção, liquidação extrajudicial, falência, execução ou outro procedimento similar para proteção de credores envolvendo o Endossante, os valores depositados de tempos em tempos na conta liquidante do Endossante por meio de transferência d e reserva bancária, e automaticamente transferidos à Conta Vinculada, poderão ser bloqueados, por ordem judicial ou administrativa, o que poderá causar prejuízos à Classe e ao Cotista.</a:t>
            </a:r>
          </a:p>
          <a:p>
            <a:r>
              <a:t>Risco de descontinuidade</a:t>
            </a:r>
          </a:p>
          <a:p>
            <a:r>
              <a:t>(i) Risco de descontinuidade: a Classe poderá ser liquidada antecipadamente, dentre outros, caso ocorra um Evento de Liquidação. Portanto, o Cotista poderá ter sua perspectiva original de investimento reduzida e não ser capaz de reinvestir os recursos recebidos com a mesma remuneração gerada pela Classe, e nenhuma multa ou penalidade, de qualquer f orma, devido a esse f ato, será devida pela Classe, o Administrador, o Custodiante, o Coordenador Líder, o Gestor, o Agente de Retenção e Cobrança ou o Endossante.</a:t>
            </a:r>
          </a:p>
          <a:p>
            <a:r>
              <a:t>Riscos decorrentes do Regime de Amortização</a:t>
            </a:r>
          </a:p>
          <a:p>
            <a:r>
              <a:t>(i) Risco decorrente da ordem de alocação das distribuições: conforme previsto neste Anexo, as Cotas estarão sujeitas à Amortização de acordo com a ordem de alocação prevista no Capítulo 7. Portanto, o Cotista poderá ter sua perspectiva original de investimento reduzida e não poderá reinvestir os recursos recebidos com a mesma remuneração gerada pela Classe.</a:t>
            </a:r>
          </a:p>
          <a:p>
            <a:r>
              <a:t>Riscos do originador e da originação</a:t>
            </a:r>
          </a:p>
          <a:p>
            <a:r>
              <a:t>(i) Riscos do originador e da originação: a continuidade da Classe poderá ser comprometida no caso de inconstância na concessão de empréstimos pelo Endossante aos Devedores ou incapacidade do Agente de Retenção e Cobrança operacionalizar a Plataf orma VR, através da qual os Direitos Creditórios são originados. Portanto, o investimento na Classe está sujeito ao risco de não originação, no f uturo, de Direitos Creditórios pelo Endossante contra os Devedores através da Plataforma VR, disponibilizada pelo Agente de Retenção e Cobrança. Se isso acontecer, a originação dos Direitos Creditórios pelo Endossante poderá ser impactada negativamente ou mesmo impossibilitada, o que poderá gerar a liquidação antecipada da Classe.</a:t>
            </a:r>
          </a:p>
          <a:p>
            <a:r>
              <a:t>Além disso, a Classe poderá adquirir Direitos Creditórios que f oram originados em conformidade com o processo de originação e/ou políticas de concessão de crédito desenvolvidos e monitorados pelo Endossante.</a:t>
            </a:r>
          </a:p>
          <a:p>
            <a:r>
              <a:t>Entretanto, não é possível assegurar que o cumprimento dessas diretrizes garanta a qualidade dos Direitos Creditórios e/ou a solvência dos respectivos Devedores, ou que as diretrizes e parâmetros estabelecidos no Capítulo 13 sejam corretamente interpretados e aplicados quando a Classe fizer os investimentos. Além disso, se o Endossante deixar de existir ou estiver sujeito a uma ordem de intervenção, liquidação extrajudicial ou regime especial ou gestão temporária ou evento similar, a Classe será impactado também pelo f ato de que a Conta Vinculada na qual as transf erências f eitas pela CEF f oram depositadas f oi aberta em nome do Endossante. Neste caso, a Classe poderá sofrer perdas principalmente em relação ao atraso na regularização</a:t>
            </a:r>
          </a:p>
          <a:p>
            <a:r>
              <a:t>CNPJ 62552447000120 · Conta de arrecadação e risco de trânsito · Condição: Documentos atuais selecionados no inventário por categoria/escopo; a data documental isolada não comprova vigência jurídica.</a:t>
            </a:r>
          </a:p>
          <a:p>
            <a:r>
              <a:t>CNPJ 62552447000120 · Conta de arrecadação e risco de trânsito · Motivo: Cláusula primária localizada e citada, mas sua lista/condições extensas não admitem uma síntese literal curta confirmada. O trecho integral permanece nas fontes.</a:t>
            </a:r>
          </a:p>
          <a:p>
            <a:r>
              <a:t>CNPJ 62552447000120 · Conta de arrecadação e risco de trânsito · Versão e prevalência: Documentos atuais selecionados no inventário por categoria/escopo; a data documental isolada não comprova vigência jurídica.</a:t>
            </a:r>
          </a:p>
          <a:p>
            <a:r>
              <a:t>CNPJ 63953620000165 · Conta de arrecadação e risco de trânsito · Anexo ao Regulamento · ID 1222863 · 2026-06-02 · versão 1 · p. 28 · https://fnet.bmfbovespa.com.br/fnet/publico/visualizarDocumento?id=1222863</a:t>
            </a:r>
          </a:p>
          <a:p>
            <a:r>
              <a:t>CNPJ 63953620000165 · Conta de arrecadação e risco de trânsito · Excerto da fonte:</a:t>
            </a:r>
          </a:p>
          <a:p>
            <a:r>
              <a:t>Creditórios endossados à Classe não sejam pagos integralmente pelos respectivos Devedores em virtude  de qualquer problema de natureza comercial entre o Devedor e o Endossante, e este último não reembolse  à Classe o montante em moeda nacional correspondente ao valor dos Direitos Creditórios mencionados,  os resultados da Classe poderão ser afetados negativamente.</a:t>
            </a:r>
          </a:p>
          <a:p>
            <a:r>
              <a:t> Outros Riscos</a:t>
            </a:r>
          </a:p>
          <a:p>
            <a:r>
              <a:t> (i) Risco relativo à elegibilidade dos Direitos Creditórios: mesmo que os Direitos Creditórios cumpram com  todas as condições de endosso e declarações e garantias estabelecidas no Contrato de Endosso e os  Critérios de Elegibilidade aqui estabelecidos, não é possível afirmar que essas condições de endosso,  declarações e garantias e os Critérios de Elegibilidade sejam suficientes para garantir a satisfação e o  pagamento dos Direitos Creditórios. Além disso, não é possível assegurar que o Gestor verificará  adequadamente a conformidade dos Direitos Creditórios com os Critérios de Elegibilidade e as condições  de endosso, ou que as declarações e garantias prestadas pelo Endossante e pelo Agente de  Retenção/Cobrança em relação aos Direitos Creditórios sejam verdadeiras e exatas. A verificação  inadequada dos Elegibilidade e das condições de endosso, bem como a falsidade ou inexatidão das  declarações e garantias referentes aos Direitos Creditórios poderão resultar na compra de Direitos  Creditórios inelegíveis pela Classe, e as medidas disponíveis no âmbito do Contrato de Endosso poderão  não ser suficientes para manter a Classe protegida de perdas decorrentes de tal verificação inadequada ou  falsidade/inexatidão. Caso os Direitos Creditórios não sejam pagos pontualmente pelos Devedores ou os  Direitos Creditórios não tenham o desempenho esperado pela Classe, o patrimônio da Classe poderá ser  afetado adversamente.</a:t>
            </a:r>
          </a:p>
          <a:p>
            <a:r>
              <a:t> (ii) Risco de invalidade ou ineficácia do endosso: o endosso dos Direitos Creditórios à Classe poderá ser  invalidada ou considerada ineficaz, o que impacta negativamente o patrimônio da Classe, no caso de (a)  fraude contra credores, se no momento do endosso o Endossante for insolvente ou se ele vier a se tornar  insolvente; (b) fraude à execução, se (1) no momento do endosso o Endossante for réu em um processo  judicial capaz de torná-lo insolvente; ou (2) os Direitos Creditórios endossados à Classe estiverem sujeitos  a qualquer demanda judicial baseada em garantia real; e (c) fraude à execução fiscal, se o Endossante, ao  celebrar o endosso de crédito, como contribuinte por débito à Fazenda Pública, e crédito fiscal  regularmente inscrito na dívida ativa, não tiver ativos para pagamento total da dívida fiscal. Entretanto, o  Administrador, o Custodiante, o Gestor e o Agente de Retenção/ Cobrança não verificarão os eventos  acima no endosso de Direito Creditório e não serão responsabilizados em caso de invalidação ou ineficácia  do endosso de um Direito Creditório à Classe.</a:t>
            </a:r>
          </a:p>
          <a:p>
            <a:r>
              <a:t> (iii) Risco de impugnação judicial: a CCB poderá ser impugnada judicialmente tanto no que diz respeito à sua  formalização quanto às taxas aplicadas e à forma de cobrança da CCB, inclusive em virtude das disposições  estabelecidas na Lei nº 8.078, de 11 de setembro de 1990, conforme alterada (Código de Defesa do  Consumidor), tais como uma possível impugnação de cláusula abusiva, bem como qualquer vício nos  Documentos Comprobatórios ou Documentos Suporte que impeçam a exigibilidade do crédito (ausência  de assinaturas ou falta de prova de formalização regular do instrumento, representação ilegítima, dentre  outros). Nesses casos, a CCB poderá ser modificada ou cancelada em virtude de decisão judicial, o que  poderá acarretar perdas para a Classe e, consequentemente, afetar negativamente a rentabilidade de seu  patrimônio.</a:t>
            </a:r>
          </a:p>
          <a:p>
            <a:r>
              <a:t> (iv) Risco de restrições de natureza legal ou regulamentar: a Classe pode estar sujeita a riscos, além do  controle do Administrador, decorrentes de quaisquer restrições futuras de natureza legal e/ou  regulamentar que venham a afetar a validade da constituição e/ou o endosso dos Direitos Creditórios à  Classe. Caso essas restrições ocorram, o fluxo de cessões de Direitos Creditórios à Classe pode ser  interrompido e, portanto, pode comprometer a continuidade da Classe e a perspectiva de investimento  do Cotista. Além disso, os Direitos Creditórios que já estão na Carteira podem ter sua validade questionada,  o que pode causar, portanto, prejuízos ao Cotista.</a:t>
            </a:r>
          </a:p>
          <a:p>
            <a:r>
              <a:t> (v) Risco de bloqueio da Conta de Cobrança da Classe ou da Conta de Movimentação da Classe: os recursos  provenientes da Classe serão direcionados para a Conta de Cobrança da Classe e, de forma extraordinária,  para a Conta de Movimentação da Classe. Em caso de intervenção ou liquidação extrajudicial das  instituições financeiras onde a Conta de Cobrança da Classe e a Conta de Movimentação da Classe são</a:t>
            </a:r>
          </a:p>
          <a:p>
            <a:r>
              <a:t>CNPJ 63953620000165 · Conta de arrecadação e risco de trânsito · Condição: Documentos atuais selecionados no inventário por categoria/escopo; a data documental isolada não comprova vigência jurídica.</a:t>
            </a:r>
          </a:p>
          <a:p>
            <a:r>
              <a:t>CNPJ 63953620000165 · Conta de arrecadação e risco de trânsito · Motivo: Cláusula primária localizada e citada, mas sua lista/condições extensas não admitem uma síntese literal curta confirmada. O trecho integral permanece nas fontes.</a:t>
            </a:r>
          </a:p>
          <a:p>
            <a:r>
              <a:t>CNPJ 63953620000165 · Conta de arrecadação e risco de trânsito · Versão e prevalência: Documentos atuais selecionados no inventário por categoria/escopo; a data documental isolada não comprova vigência jurídica.</a:t>
            </a:r>
          </a:p>
          <a:p>
            <a:r>
              <a:t>CNPJ 63953620000165 · Conta de arrecadação e risco de trânsito · Resumo do histórico: {"count": 2, "dates": ["2026-02-19", "2026-05-15"], "document_count": 2, "sources": [{"document_id": "1327859", "title": "Demonstrações Financeiras - Fusão, cisão e incorporação", "reference_date": "2026-05-15", "version": "1", "page": 22, "url": "https://fnet.bmfbovespa.com.br/fnet/publico/visualizarDocumento?id=1327859", "sha256": "dca1c68babb97f887528c3e2e47596a9c30f507b067981a35655b2f2da9c8054"}, {"document_id": "1200324", "title": "Demonstrações Financeiras - Fusão, cisão e incorporação", "reference_date": "2026-02-19", "version": "1", "page": 22, "url": "https://fnet.bmfbovespa.com.br/fnet/publico/visualizarDocumento?id=1200324", "sha256": "aba4246af804161a6cb22052dc79425be7591e0bb7df5467cda6487f249272fc"}], "reference": {"path": "history/63953620000165.json", "criterion_id": "collection_account", "total_count": 2, "preview_count": 2, "full_text_deferred": true, "sha256": "a7b89077f5e21098c2d601c303faabc3ff6b9729f89d8afecdc60fe1404720c1"}}</a:t>
            </a:r>
          </a:p>
          <a:p>
            <a:r>
              <a:t>CNPJ 54871427000194 · Verificação de lastro e amostragem · Regulamento · ID 670691 · 28/04/2024 · versão Regulamento — referência 28/04/2024 · p. 10 · Anexo I, 4.7.1 · https://fnet.bmfbovespa.com.br/fnet/publico/visualizarDocumento?id=670691</a:t>
            </a:r>
          </a:p>
          <a:p>
            <a:r>
              <a:t>CNPJ 54871427000194 · Verificação de lastro e amostragem · Excerto da fonte:</a:t>
            </a:r>
          </a:p>
          <a:p>
            <a:r>
              <a:t>4.7.1 Os Documentos Comprobatórios deverão ser disponibilizados pelo respectivo Endossante (a) no prazo de 10 (dez) dias contados da Data de Aquisição dos 50 (cinquenta) casos que sejam solicitados pelo GESTOR, a seu exclusivo critério, (b) a totalidade dos demais Documentos Comprobatórios em f ormato digital em até 90 (noventa) dias a contar da Data de Aquisição, bem como dos Documentos Comprobatórios em formato físico relativos aos Direitos Creditórios que eventualmente estejam inadimplidos em ref erida data, e (c) a totalidade dos demais Documentos Comprobatórios em f ormato f ísico em até 180 (cento e oitenta) dias a contar da Data de Aquisição, sujeito à resolução do respectivo endosso, de acordo com os termos do Contrato de Endosso. 4.7.2 Caso um Direito Creditório cedido à Classe deixe de atender quaisquer Critérios de Elegibilidade e/ou quaisquer declarações e garantias ref erentes a esse Direito Creditório, conf orme previsto no respectivo Contrato de Endosso, após seu endosso à Classe, não haverá coobrigação nem direito de regresso da Classe contra o ADMINISTRADOR, o CUSTODIANTE o GESTOR e/ou o En</a:t>
            </a:r>
          </a:p>
          <a:p>
            <a:r>
              <a:t>CNPJ 54871427000194 · Verificação de lastro e amostragem · Regulamento · ID 670691 · 28/04/2024 · versão Regulamento — referência 28/04/2024 · p. 24 · Anexo I, 12.15 e 12.19(iv)–(v) · https://fnet.bmfbovespa.com.br/fnet/publico/visualizarDocumento?id=670691</a:t>
            </a:r>
          </a:p>
          <a:p>
            <a:r>
              <a:t>CNPJ 54871427000194 · Verificação de lastro e amostragem · Excerto da fonte:</a:t>
            </a:r>
          </a:p>
          <a:p>
            <a:r>
              <a:t>12.15 No âmbito das diligências relacionadas à aquisição de Direitos Creditórios caracterizados como direitos e títulos representativos de crédito, conforme referidos na alínea “a” do inciso XII do art. 2º do Anexo Normativo II da Resolução CVM 175, o GESTOR deve verificar a existência, integridade e titularidade do lastro, de f orma integral, utilizando modelo estatístico consistente e passível de verif icação, 12.16 O GESTOR pode contratar terceiros para ef etuar a verif icação do lastro, inclusive a entidade registradora, o CUSTODIANTE ou consultoria especializada, caso aplicável, devendo constar do contrato de prestação de serviços as regras e procedimentos aplicáveis à verif icação, sendo que o GESTOR será responsável pela fiscalização da atuação do agente contratado no tocante à observância às regras e procedimentos aplicáveis à verif icação. Custódia e Verificação do Lastro quando do inadimplemento ou substituição dos Direitos Creditórios 12.17 Caso a classe aplique recursos em Direitos Creditórios que não sejam passíveis de registro em entidade registradora na data deste Regulamento, o ADMINISTRADOR deve contratar o serviço de custódia para a Carteira. 12.18 Os serviços de custódia qualificada dos Direitos Creditóri</a:t>
            </a:r>
          </a:p>
          <a:p>
            <a:r>
              <a:t>CNPJ 54871427000194 · Verificação de lastro e amostragem · Condição: A entrega escalonada dos comprovantes é distinta da verificação integral prevista. O Complemento 2 contém recuperação/cobrança; não contém uma amostragem estatística de lastro.</a:t>
            </a:r>
          </a:p>
          <a:p>
            <a:r>
              <a:t>CNPJ 54871427000194 · Verificação de lastro e amostragem · Versão e prevalência: Leitura específica das cláusulas indicadas; condições e conflitos preservados. Seleção documental atual não comprova vigência jurídica por data isolada.</a:t>
            </a:r>
          </a:p>
          <a:p>
            <a:r>
              <a:t>CNPJ 54871427000194 · Verificação de lastro e amostragem · Resumo do histórico: {"count": 1, "dates": ["2024-04-19"], "document_count": 1, "sources": [{"document_id": "670689", "title": "Regulamento", "reference_date": "2024-04-19", "version": "1", "page": 45, "url": "https://fnet.bmfbovespa.com.br/fnet/publico/visualizarDocumento?id=670689", "sha256": "891bc9bc5d87bbc02ec139077a84d2702eb81ea02035fb71d24f5b8366b94a0b"}], "reference": {"path": "history/54871427000194.json", "criterion_id": "collateral_check", "total_count": 1, "preview_count": 1, "full_text_deferred": true, "sha256": "35d7cd99be50c7287c9fb675cf4f2e736002315295a225a9efa79c8d9186d874"}}</a:t>
            </a:r>
          </a:p>
          <a:p>
            <a:r>
              <a:t>CNPJ 60010416000112 · Verificação de lastro e amostragem · Regulamento · ID 1051393 · 09/10/2025 · versão Regulamento09/10/2025 · p. 59 · Complemento7itens1–4 · https://fnet.bmfbovespa.com.br/fnet/publico/visualizarDocumento?id=1051393</a:t>
            </a:r>
          </a:p>
          <a:p>
            <a:r>
              <a:t>CNPJ 60010416000112 · Verificação de lastro e amostragem · Excerto da fonte:</a:t>
            </a:r>
          </a:p>
          <a:p>
            <a:r>
              <a:t>1. O Gestor deverá realizar a verif icação dos Documentos Comprobatórios relativos aos Direitos Creditórios adquiridos pela Classe trimestralmente; sendo certo que o Endossante e/ou o Agente de Retenção/Cobrança, conforme o caso, deverão enviar os Documentos Comprobatórios para o Gestor, conf orme def inido nos itens conf orme def inido nos itens 11.16 e 11.17 do Anexo I. 2. Observado o disposto no inciso (i) do item 3 abaixo, numa data-base pré-estabelecida, será selecionada uma amostra aleatória simples para a determinação de um intervalo de confiança para a proporção de eventuais f alhas, baseado numa distribuição binomial aproxi</a:t>
            </a:r>
          </a:p>
          <a:p>
            <a:r>
              <a:t>CNPJ 60010416000112 · Verificação de lastro e amostragem · Versão e prevalência: Leitura específica das cláusulas indicadas; condições e conflitos preservados. Seleção documental atual não comprova vigência jurídica por data isolada.</a:t>
            </a:r>
          </a:p>
          <a:p>
            <a:r>
              <a:t>CNPJ 60010416000112 · Verificação de lastro e amostragem · Resumo do histórico: {"count": 1, "dates": ["2025-03-20"], "document_count": 1, "sources": [{"document_id": "993786", "title": "Regulamento", "reference_date": "2025-03-20", "version": "1", "page": 38, "url": "https://fnet.bmfbovespa.com.br/fnet/publico/visualizarDocumento?id=993786", "sha256": "fd0fdd369a195510d81f81f505195a0b09e5f43522a990afa7d58c4f872921c8"}], "reference": {"path": "history/60010416000112.json", "criterion_id": "collateral_check", "total_count": 1, "preview_count": 1, "full_text_deferred": true, "sha256": "8e2bd813f4c51cf01f6bfaad164bafe69d2bbb192f753eac92da3a01c2e63046"}}</a:t>
            </a:r>
          </a:p>
          <a:p>
            <a:r>
              <a:t>CNPJ 62696791000193 · Verificação de lastro e amostragem · Regulamento · ID 1143317 · 20/03/2026 · versão Regulamento — referência 20/03/2026 · p. 13 · Anexo I, 4.15–4.19 · https://fnet.bmfbovespa.com.br/fnet/publico/visualizarDocumento?id=1143317</a:t>
            </a:r>
          </a:p>
          <a:p>
            <a:r>
              <a:t>CNPJ 62696791000193 · Verificação de lastro e amostragem · Excerto da fonte:</a:t>
            </a:r>
          </a:p>
          <a:p>
            <a:r>
              <a:t>4.15 Os serviços de custódia qualif icada dos Direitos Creditórios do Agronegócio não registrados em entidade registradora, bem como a guarda física dos originais dos Direitos Creditórios do Agronegócio e dos Documentos Comprobatórios, serão prestados pelo Custodiante. 4.16 São atribuições do Custodiante, observado o disposto neste Regulamento e na regulamentação aplicável: (i) realizar a liquidação física ou eletrônica e financeira dos Direitos Creditórios do Agronegócio; (ii) cobrar e receber, em nome da classe, pagamentos, resgate de títulos ou qualquer outro rendimento relativo aos ativos da Carteira, depositando os valores recebidos diretamente em conta de titularidade da classe ou, se f or o caso, em conta vinculada; e (iii) realizar a guarda da documentação relativa ao lastro dos Direitos Creditórios do Agronegócio. 4.17 Em razão de a Classe possuir significativa quantidade de Direitos Creditórios do Agronegócio cedidos e expressiva diversificação de devedores e de Cedentes, além de atuar em vários segmentos, o Custodiante está autorizado a ef etuar a verif icação do lastro dos Direitos Creditórios do Agronegócio por amostragem, sempre que permitido pel</a:t>
            </a:r>
          </a:p>
          <a:p>
            <a:r>
              <a:t>CNPJ 62696791000193 · Verificação de lastro e amostragem · Condição: O PDF obtido termina no Complemento I (Fatores de Risco); Complemento II, referenciado para parâmetros de amostragem, não está incluído. Não atribuir confiança 95%/erro 5% por analogia.</a:t>
            </a:r>
          </a:p>
          <a:p>
            <a:r>
              <a:t>CNPJ 62696791000193 · Verificação de lastro e amostragem · Versão e prevalência: Leitura específica das cláusulas indicadas; condições e conflitos preservados. Seleção documental atual não comprova vigência jurídica por data isolada.</a:t>
            </a:r>
          </a:p>
          <a:p>
            <a:r>
              <a:t>CNPJ 55563624000109 · Verificação de lastro e amostragem · Regulamento · ID 1192614 · 30/04/2026 · versão Regulamento30/04/2026 · p. 12 · AnexoI4.5–4.6 · https://fnet.bmfbovespa.com.br/fnet/publico/visualizarDocumento?id=1192614</a:t>
            </a:r>
          </a:p>
          <a:p>
            <a:r>
              <a:t>CNPJ 55563624000109 · Verificação de lastro e amostragem · Excerto da fonte:</a:t>
            </a:r>
          </a:p>
          <a:p>
            <a:r>
              <a:t>4.5 Uma vez que o investimento nas Cotas da Classe Investida não corresponde a um investimento direto em direitos creditórios, uma série de disposições comuns à securitização de direitos creditórios não será aplicável ao investimento nas Cotas da Classe Investida. A título meramente exemplificativo, não existem processos de originação ou política de concessão de crédito adotada pelo GESTOR, tampouco há que se falar em verificação ou guarda de documentos comprobatórios que não sejam referentes às Cotas da Classe Investida. Da mesma forma, não há necessida</a:t>
            </a:r>
          </a:p>
          <a:p>
            <a:r>
              <a:t>CNPJ 55563624000109 · Verificação de lastro e amostragem · Regulamento · ID 1192614 · 30/04/2026 · versão Regulamento30/04/2026 · p. 28 · AnexoI12.22–12.24 · https://fnet.bmfbovespa.com.br/fnet/publico/visualizarDocumento?id=1192614</a:t>
            </a:r>
          </a:p>
          <a:p>
            <a:r>
              <a:t>CNPJ 55563624000109 · Verificação de lastro e amostragem · Excerto da fonte:</a:t>
            </a:r>
          </a:p>
          <a:p>
            <a:r>
              <a:t>12.22 Os Documentos Comprobatórios relativos às Cotas da Classe Investida integrantes da Carteira inadimplidos e/ou substituídos num dado trimestre serão, no referido trimestre, objeto de verificação individualizada e integral pelo CUSTODIANTE ou terceiro por ele contratado. 12.23 Eventuais vícios verificados nos Documentos Comprobatórios que evidenciam o lastro dos Direitos Creditórios serão comunicados por escrito pelo CUSTODIANTE ao ADMINISTRADOR em até 5 (cinco) Dias Úteis da sua verificação, para que sejam tomadas as medidas necessárias. Cobrança da</a:t>
            </a:r>
          </a:p>
          <a:p>
            <a:r>
              <a:t>CNPJ 55563624000109 · Verificação de lastro e amostragem · Versão e prevalência: Leitura específica das cláusulas indicadas; condições e conflitos preservados. Seleção documental atual não comprova vigência jurídica por data isolada.</a:t>
            </a:r>
          </a:p>
          <a:p>
            <a:r>
              <a:t>CNPJ 62552447000120 · Verificação de lastro e amostragem · Regulamento · ID 1200623 · 21/05/2026 · versão Consolidado21/05/2026 aprovado pelo ato1200625 · p. 41 · ComplementoIIitens1–4 · https://fnet.bmfbovespa.com.br/fnet/publico/visualizarDocumento?id=1200623</a:t>
            </a:r>
          </a:p>
          <a:p>
            <a:r>
              <a:t>CNPJ 62552447000120 · Verificação de lastro e amostragem · Excerto da fonte:</a:t>
            </a:r>
          </a:p>
          <a:p>
            <a:r>
              <a:t>1. O Gestor deverá realizar a verif icação dos Documentos Comprobatórios relativos aos Direitos Creditórios adquiridos pela Classe trimestralmente; sendo certo que o Endossante e/ou o Agente de Retenção/Cobrança, conforme o caso, deverão enviar os Documentos Comprobat órios para o Gestor. 2. Observado o disposto no inciso (i) do item 3 abaixo, numa data-base pré-estabelecida, será selecionada uma amostra aleatória simples para a determinação de um intervalo de confiança para a proporção de eventuais falhas, baseado numa distribuição binomial aproximada a uma distribuição normal com 95% (noventa e cinco por cento) de nível de confian</a:t>
            </a:r>
          </a:p>
          <a:p>
            <a:r>
              <a:t>CNPJ 62552447000120 · Verificação de lastro e amostragem · Regulamento · ID 1200623 · 21/05/2026 · versão Consolidado21/05/2026 aprovado pelo ato1200625 · p. 29 · AnexoI12.12–12.13 · https://fnet.bmfbovespa.com.br/fnet/publico/visualizarDocumento?id=1200623</a:t>
            </a:r>
          </a:p>
          <a:p>
            <a:r>
              <a:t>CNPJ 62552447000120 · Verificação de lastro e amostragem · Excerto da fonte:</a:t>
            </a:r>
          </a:p>
          <a:p>
            <a:r>
              <a:t>12.12 Os Documentos Comprobatórios relativos aos Direitos Creditórios integrantes da Carteira inadimplidos e/ou substituídos num dado trimestre serão, no ref erido trimestre, objeto de verificação individualizada e integral pelo Custodiante ou terceiro por ele contratado. 12.13 Eventuais vícios verificados nos Documentos Comprobatórios que evidenciam o lastro dos Direitos Creditórios serão comunicados por escrito pelo Custodiante ao Administrador em até 5 (cinco) Dias Úteis da sua verif icação, para que sejam tomadas as medidas necessárias. Retenção e Cobrança dos Direitos Creditórios Inadimplidos 12.14 A Classe contra</a:t>
            </a:r>
          </a:p>
          <a:p>
            <a:r>
              <a:t>CNPJ 62552447000120 · Verificação de lastro e amostragem · Versão e prevalência: Leitura específica das cláusulas indicadas; condições e conflitos preservados. Seleção documental atual não comprova vigência jurídica por data isolada.</a:t>
            </a:r>
          </a:p>
          <a:p>
            <a:r>
              <a:t>CNPJ 63953620000165 · Verificação de lastro e amostragem · Anexo ao Regulamento · ID 1222863 · 2026-06-02 · versão 1 · p. 30 · https://fnet.bmfbovespa.com.br/fnet/publico/visualizarDocumento?id=1222863</a:t>
            </a:r>
          </a:p>
          <a:p>
            <a:r>
              <a:t>CNPJ 63953620000165 · Verificação de lastro e amostragem · Excerto da fonte:</a:t>
            </a:r>
          </a:p>
          <a:p>
            <a:r>
              <a:t>Complemento II  (Ao Anexo I)  PARÂMETROS PARA A VERIFICAÇÃO DO LASTRO POR AMOSTRAGEM  1. O Gestor deverá realizar a verificação dos Documentos Comprobatórios relativos aos Direitos Creditórios adquiridos pela  Classe trimestralmente; sendo certo que o Endossante e/ou o Agente de Retenção/Cobrança, conforme o caso, deverão  enviar os Documentos Comprobatórios para o Gestor, conforme definido nos itens conforme definido nos itens 11.16 e</a:t>
            </a:r>
          </a:p>
          <a:p>
            <a:r>
              <a:t>CNPJ 63953620000165 · Verificação de lastro e amostragem · Anexo ao Regulamento · ID 1222863 · 2026-06-02 · versão 1 · p. 30 · 11.17 · https://fnet.bmfbovespa.com.br/fnet/publico/visualizarDocumento?id=1222863</a:t>
            </a:r>
          </a:p>
          <a:p>
            <a:r>
              <a:t>CNPJ 63953620000165 · Verificação de lastro e amostragem · Excerto da fonte:</a:t>
            </a:r>
          </a:p>
          <a:p>
            <a:r>
              <a:t>11.17 do Anexo I.</a:t>
            </a:r>
          </a:p>
          <a:p>
            <a:r>
              <a:t> 2. Observado o disposto no inciso (i) do item 3 abaixo, numa data-base pré-estabelecida, será selecionada uma amostra  aleatória simples para a determinação de um intervalo de confiança para a proporção de eventuais falhas, baseado numa  distribuição binomial aproximada a uma distribuição normal com 95% (noventa e cinco por cento) de nível de confiança,  visando a uma margem de erro de 5% (cinco por cento), independentemente do cedente dos Direitos Creditórios.</a:t>
            </a:r>
          </a:p>
          <a:p>
            <a:r>
              <a:t> 3. O escopo da análise da documentação que evidencia o lastro dos Direitos Creditórios contempla a verificação da  existência dos respectivos Documentos Comprobatórios, conforme abaixo discriminado:</a:t>
            </a:r>
          </a:p>
          <a:p>
            <a:r>
              <a:t> i. obtenção de base de dados analítica por Direitos Creditórios integrantes da Carteira;</a:t>
            </a:r>
          </a:p>
          <a:p>
            <a:r>
              <a:t> ii. seleção de uma amostra de acordo com as fórmulas abaixo</a:t>
            </a:r>
          </a:p>
          <a:p>
            <a:r>
              <a:t>CNPJ 63953620000165 · Verificação de lastro e amostragem · Anexo ao Regulamento · ID 1222863 · 2026-06-02 · versão 1 · p. 26 · https://fnet.bmfbovespa.com.br/fnet/publico/visualizarDocumento?id=1222863</a:t>
            </a:r>
          </a:p>
          <a:p>
            <a:r>
              <a:t>CNPJ 63953620000165 · Verificação de lastro e amostragem · Excerto da fonte:</a:t>
            </a:r>
          </a:p>
          <a:p>
            <a:r>
              <a:t>Complemento I  (Ao Anexo I)  FATORES DE RISCO APLICÁVEIS À CLASSE CONSIGNADO PRIVADO DO MT GLOBAL FUNDO DE INVESTIMENTO EM  DIREITOS CREDITÓRIOS RESPONSABILIDADE LIMITADA  Risco de Crédito</a:t>
            </a:r>
          </a:p>
          <a:p>
            <a:r>
              <a:t> (i) Riscos associados aos Devedores: os Direitos Creditórios a serem endossados à Classe serão descontados  pela Dataprev da remuneração do Devedor. A capacidade de pagamento do Devedor poderá ser afetada se,  por exemplo, o Devedor tiver o seu contrato de emprego rescindido ou em virtude de decisão judicial, o  Devedor for obrigado a pagar alimentos, que têm prioridade sobre o empréstimo para fins de desconto na  folha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afetar a rentabilidade da Classe.</a:t>
            </a:r>
          </a:p>
          <a:p>
            <a:r>
              <a:t> (ii)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referido Devedor poderá  ficar inadimplente e, consequentemente, não haverá repasse à Classe do respectivo Direito Creditório, o  que poderá resultar em perdas financeiras à Classe e aos Cotistas.</a:t>
            </a:r>
          </a:p>
          <a:p>
            <a:r>
              <a:t> (iii) Risco do Empregador não efetuar o desconto em folha: o repasse dos recursos oriundos dos Direitos  Creditórios à Classe depende da realização, pelo Empregador, da Escrituração e do desconto na respectiva  folha de pagamento do Devedor. Na hipótese do Empregador deixar de realizar a Escrituração ou os  descontos na folha de pagamento, não haverá repasse de recursos à Classe, podendo causar prejuízos à  Classe e aos Cotistas.</a:t>
            </a:r>
          </a:p>
          <a:p>
            <a:r>
              <a:t> (iv) Risco de perda do vínculo empregatício com o Empregador: caso o Devedor perca o vínculo empregatício  com o Empregador, não haverá remuneração e folha de pagamento para realização dos descontos para  pagamento dos Direitos Creditórios. Neste caso, não obstante a possibilidade do Agente de  Retenção/Cobrança realizar a cobrança ativa dos Direitos Creditórios diretamente do Devedor, a ausência  de remuneração poderá deixar o Devedor inadimplente perante a Classe até que o seu vínculo empregatício  seja retomado e seja efetuado o procedimento operacional para que a CCB seja aditada e/ou seja realizado  o Processo de Reinicialização. Tais situações poderão resultar em prejuízos à Classe e aos Cotistas.</a:t>
            </a:r>
          </a:p>
          <a:p>
            <a:r>
              <a:t> Riscos Operacionais</a:t>
            </a:r>
          </a:p>
          <a:p>
            <a:r>
              <a:t> (i) Risco de irregularidade dos Documentos Comprobatórios e/ou Documentos Suporte: o Gestor, ou  terceiro por ele contratado, deverá realizar a verificação da regularidade dos Documentos Comprobatórios  e Documentos Suporte. A Carteira poderá conter Direitos Creditórios com documentação irregular, o que  poderá impedir que a Classe exerça plenamente as prerrogativas derivadas da titularidade dos Direitos  Creditórios. O Gestor poderá contratar empresas especializadas, com comprovada competência e  adequação, para realizar a guarda física, manutenção, armazenamento, organização e digitalização dos  Documentos Comprobatórios e Documentos Suporte, que estarão sob total responsabilidade do Gestor,  permanecendo as empresas como agentes depositários dos Documentos Comprobatórios e Documentos  Suporte.</a:t>
            </a:r>
          </a:p>
          <a:p>
            <a:r>
              <a:t> (ii) Risco operacional da Dataprev e da CEF: o empréstimo contraído pelos Devedores é pago por meio de  desconto na folha de pagamento feito pela Dataprev e pela CEF, conforme aplicável. É possível que os  rendimentos dos Devedores sejam atrasados ou não pagos devido a questões operacionais envolvendo a  Dataprev e/ou a CEF. Nesse caso, a Carteira poderá sofrer, já que não receberá automaticamente, e  também poderá ter dificuldades para receber, a qualquer momento, os recursos decorrentes dos Direitos  Creditórios.</a:t>
            </a:r>
          </a:p>
          <a:p>
            <a:r>
              <a:t>CNPJ 63953620000165 · Verificação de lastro e amostragem · Condição: Documentos atuais selecionados no inventário por categoria/escopo; a data documental isolada não comprova vigência jurídica.</a:t>
            </a:r>
          </a:p>
          <a:p>
            <a:r>
              <a:t>CNPJ 63953620000165 · Verificação de lastro e amostragem · Versão e prevalência: Documentos atuais selecionados no inventário por categoria/escopo; a data documental isolada não comprova vigência jurídica.</a:t>
            </a:r>
          </a:p>
          <a:p>
            <a:r>
              <a:t>CNPJ 63953620000165 · Verificação de lastro e amostragem · Resumo do histórico: {"count": 8, "dates": ["2026-04-28", "2026-05-08", "2026-05-15"], "document_count": 3, "sources": [{"document_id": "1327859", "title": "Demonstrações Financeiras - Fusão, cisão e incorporação", "reference_date": "2026-05-15", "version": "1", "page": 22, "url": "https://fnet.bmfbovespa.com.br/fnet/publico/visualizarDocumento?id=1327859", "sha256": "dca1c68babb97f887528c3e2e47596a9c30f507b067981a35655b2f2da9c8054"}, {"document_id": "1298691", "title": "Demonstrações Financeiras - Fusão, cisão e incorporação", "reference_date": "2026-05-08", "version": "1", "page": 17, "url": "https://fnet.bmfbovespa.com.br/fnet/publico/visualizarDocumento?id=1298691", "sha256": "58c570d9b8d4d265330d3db3ea81c435b8e44a6dab4002aa37790652a1ee9819"}, {"document_id": "1282180", "title": "Demonstrações Financeiras - Fusão, cisão e incorporação", "reference_date": "2026-04-28", "version": "1", "page": 17, "url": "https://fnet.bmfbovespa.com.br/fnet/publico/visualizarDocumento?id=1282180", "sha256": "afaaa0e6809be4385e5bdb6c911aac582032c5bdbac3d7750234bf9eaf00438a"}], "reference": {"path": "history/63953620000165.json", "criterion_id": "collateral_check",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Garantias e operação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Garantias e constituição · Demonstrações Financeiras - Fusão, cisão e incorporação · ID 1219522 · 2026-02-02 · versão 1 · p. 21 · https://fnet.bmfbovespa.com.br/fnet/publico/visualizarDocumento?id=1219522</a:t>
            </a:r>
          </a:p>
          <a:p>
            <a:r>
              <a:t>CNPJ 54871427000194 · Garantias e constituição · Excerto da fonte:</a:t>
            </a:r>
          </a:p>
          <a:p>
            <a:r>
              <a:t>Em 02 de fevereiro de 2026, a Classe não possuía garantias reais ou fidejussórias, pela liquidação  dos direitos creditórios.</a:t>
            </a:r>
          </a:p>
          <a:p>
            <a:r>
              <a:t>CNPJ 54871427000194 · Garantias e constituição · Condição: Trechos do documento específico identificado com data mais recente; vigência jurídica não inferida.</a:t>
            </a:r>
          </a:p>
          <a:p>
            <a:r>
              <a:t>CNPJ 54871427000194 · Garantias e constituição · Versão e prevalência: Trechos do documento específico identificado com data mais recente; vigência jurídica não inferida.</a:t>
            </a:r>
          </a:p>
          <a:p>
            <a:r>
              <a:t>CNPJ 54871427000194 · Garantias e constituição · Resumo do histórico: {"count": 5, "dates": ["2024-12-31", "2025-01-01", "2025-12-31"], "document_count": 3, "sources": [{"document_id": "1151805", "title": "Demonstrações Financeiras", "reference_date": "2025-12-31", "version": "1", "page": 21, "url": "https://fnet.bmfbovespa.com.br/fnet/publico/visualizarDocumento?id=1151805", "sha256": "f1cea70b152968bf96ef9221b27225953cb20aeef487b2798db3c25e11b528d4"}, {"document_id": "869529", "title": "Demonstrações Financeiras", "reference_date": "2025-01-01", "version": "1", "page": 20, "url": "https://fnet.bmfbovespa.com.br/fnet/publico/visualizarDocumento?id=869529", "sha256": "9a93a9369ac8efdbc54ff8fcee3ccac3abf88edab4807b9323d3852450771b2a"}, {"document_id": "870070", "title": "Demonstrações Financeiras", "reference_date": "2024-12-31", "version": "1", "page": 20, "url": "https://fnet.bmfbovespa.com.br/fnet/publico/visualizarDocumento?id=870070", "sha256": "9a93a9369ac8efdbc54ff8fcee3ccac3abf88edab4807b9323d3852450771b2a"}], "reference": {"path": "history/54871427000194.json", "criterion_id": "guarantee", "total_count": 5, "preview_count": 3, "full_text_deferred": true, "sha256": "35d7cd99be50c7287c9fb675cf4f2e736002315295a225a9efa79c8d9186d874"}}</a:t>
            </a:r>
          </a:p>
          <a:p>
            <a:r>
              <a:t>CNPJ 60010416000112 · Garantias e constituição · Demonstrações Financeiras - Fusão, cisão e incorporação · ID 1298690 · 2026-05-08 · versão 1 · p. 19 · https://fnet.bmfbovespa.com.br/fnet/publico/visualizarDocumento?id=1298690</a:t>
            </a:r>
          </a:p>
          <a:p>
            <a:r>
              <a:t>CNPJ 60010416000112 · Garantias e constituição · Excerto da fonte:</a:t>
            </a:r>
          </a:p>
          <a:p>
            <a:r>
              <a:t>Em 08 de maio de 2026, a Classe não possuía garantias reais ou fidejussórias, pela liquidação  dos Direitos Creditórios.</a:t>
            </a:r>
          </a:p>
          <a:p>
            <a:r>
              <a:t>CNPJ 60010416000112 · Garantias e constituição · Condição: Trechos do documento específico identificado com data mais recente; vigência jurídica não inferida.</a:t>
            </a:r>
          </a:p>
          <a:p>
            <a:r>
              <a:t>CNPJ 60010416000112 · Garantias e constituição · Versão e prevalência: Trechos do documento específico identificado com data mais recente; vigência jurídica não inferida.</a:t>
            </a:r>
          </a:p>
          <a:p>
            <a:r>
              <a:t>CNPJ 60010416000112 · Garantias e constituição · Resumo do histórico: {"count": 4, "dates": ["2025-11-30", "2026-03-18", "2026-04-16"], "document_count": 3, "sources": [{"document_id": "1282181", "title": "Demonstrações Financeiras - Fusão, cisão e incorporação", "reference_date": "2026-04-16", "version": "1", "page": 20, "url": "https://fnet.bmfbovespa.com.br/fnet/publico/visualizarDocumento?id=1282181", "sha256": "b1c6566e43a00bcd00c8a7f30c77b7f86e351bd8e355bbea113f46d1dafda703"}, {"document_id": "1224477", "title": "Demonstrações Financeiras - Fusão, cisão e incorporação", "reference_date": "2026-03-18", "version": "1", "page": 20, "url": "https://fnet.bmfbovespa.com.br/fnet/publico/visualizarDocumento?id=1224477", "sha256": "0751bf0a75bc3b44c2748f5000226665c6ec6698a90c4dc6170b4e6c187759ae"}, {"document_id": "1126154", "title": "Demonstrações Financeiras", "reference_date": "2025-11-30", "version": "1", "page": 21, "url": "https://fnet.bmfbovespa.com.br/fnet/publico/visualizarDocumento?id=1126154", "sha256": "a01e7ccf88c548f12c95cba8526d7efbef6b585c112cd4668eca781c292090b0"}], "reference": {"path": "history/60010416000112.json", "criterion_id": "guarantee", "total_count": 4, "preview_count": 3, "full_text_deferred": true, "sha256": "8e2bd813f4c51cf01f6bfaad164bafe69d2bbb192f753eac92da3a01c2e63046"}}</a:t>
            </a:r>
          </a:p>
          <a:p>
            <a:r>
              <a:t>CNPJ 62696791000193 · Garantias e constituição · Regulamento · ID 1143317 · 20/03/2026 · versão Regulamento — referência 20/03/2026 · p. 11 · Anexo I, 4.7(iv) · https://fnet.bmfbovespa.com.br/fnet/publico/visualizarDocumento?id=1143317</a:t>
            </a:r>
          </a:p>
          <a:p>
            <a:r>
              <a:t>CNPJ 62696791000193 · Garantias e constituição · Excerto da fonte:</a:t>
            </a:r>
          </a:p>
          <a:p>
            <a:r>
              <a:t>(iv) sejam representados por direitos e/ou títulos representativos de crédito, com ou sem garantias reais ou pessoais a eles atreladas, incluindo, sem limitação, duplicatas, debêntures, contratos de locação e contratos mercantis de compra e venda de produtos e/ ou mercadorias perf ormados e/ou para entrega ou prestação f utura, bem como títulos ou certificados representativos desses contratos, decorrentes de operações nos segmentos f inanceiro, comercial, industrial, imobiliário, de hipotecas, de arrendamento mercantil e de prestação de serviços, observadas as vedações do item 4.28 abaixo deste Anexo. 4.7.2 Para f ins da verificação dos Critérios de Elegibilidade, será considerado o Patrimônio Líquido e o valor dos Direitos Creditórios do Agronegócio integrantes da carteira no Dia Útil imediatamente anterior à Data de Aquisição. 4.7.3 Na hipótese de eventuais Direitos Creditórios do Agronegócio elegíveis deixarem de atender a qualquer Critério de Elegibilidade após sua aquisição pela Classe, tal f ato não será entendido como um desenquadramento da carteira, tampouco haverá direito de regresso contra</a:t>
            </a:r>
          </a:p>
          <a:p>
            <a:r>
              <a:t>CNPJ 62696791000193 · Garantias e constituição · Regulamento · ID 1143317 · 20/03/2026 · versão Regulamento — referência 20/03/2026 · p. 14 · Anexo I, 4.24 · https://fnet.bmfbovespa.com.br/fnet/publico/visualizarDocumento?id=1143317</a:t>
            </a:r>
          </a:p>
          <a:p>
            <a:r>
              <a:t>CNPJ 62696791000193 · Garantias e constituição · Excerto da fonte:</a:t>
            </a:r>
          </a:p>
          <a:p>
            <a:r>
              <a:t>4.24 A Classe poderá adquirir imóveis rurais sobre os quais tenham sido constituídos ônus reais anteriormente ao seu ingresso no patrimônio da Classe. Ainda, posteriormente ao seu ingresso no patrimônio da Classe, poderá o Gestor, em nome da Classe, prestar fiança, aval, aceite ou coobrigar- se sob qualquer f orma, relativamente a operações relacionadas à carteira de ativos da Classe, bem como constituir ônus reais sobre imóveis rurais integrantes do patrimônio da Classe para garantir obrigações por ela assumidas. 4.25 O Administrador, conforme orientação do Gestor, poderá utilizar recursos da classe para recomprar suas próprias cotas, com a f inalidade exclusiva de cancelamento, seja por meio de programa de recompra ou por meio de Of erta Pública Voluntária de Aquisição d e suas próprias cotas (“OPAC”), observados os procedimentos eventualmente previstos nos manuais ou regras da B3, bem como o disposto no Art. 56 e seguintes do Anexo Normativo I da Resolução CVM 175. Participações do Agronegócio 4.26 As seguintes regras são aplicáveis aos investimentos em Participações do Agronegócio realizados pela Classe. 4.26.1 Deverão ser asseguradas à Classe (i) a participação no processo deci</a:t>
            </a:r>
          </a:p>
          <a:p>
            <a:r>
              <a:t>CNPJ 62696791000193 · Garantias e constituição · Regulamento · ID 1143317 · 20/03/2026 · versão Regulamento — referência 20/03/2026 · p. 48 · Complemento I, 11.6 · https://fnet.bmfbovespa.com.br/fnet/publico/visualizarDocumento?id=1143317</a:t>
            </a:r>
          </a:p>
          <a:p>
            <a:r>
              <a:t>CNPJ 62696791000193 · Garantias e constituição · Excerto da fonte:</a:t>
            </a:r>
          </a:p>
          <a:p>
            <a:r>
              <a:t>11.6. Ausência de garantia. As aplicações realizadas na Classe não contam com garantia do Cedente, do ADMINISTRADOR, do GESTOR, do CUSTODIANTE ou da Classe Garantidor de Créditos – FGC, de modo que é possível a perda total do capital investido pelos Cotistas ou mesmo a necessidade de os Cotistas realizarem aportes adicionais de recursos para a cobertura de eventuais prejuízos. 11.7. Limitação do gerenciamento de riscos. A realização de investimentos na Classe expõe o investidor a riscos a que a Classe está sujeita, os quais poderão acarretar perdas para os Cotistas. Não há qualquer garantia de completa eliminação da possibilidade de perdas para a Classe e para os Cotistas. Em condições adversas de mercado, esses sistemas de gerenciamento de riscos poderão ter sua ef iciência reduzida. A Classe também poderá estar sujeita a outros riscos advindos de motivos alheios ou exógenos ao controle do Administrador, tais como moratória, inadimplemento de pagamentos, mudança nas regras aplicáveis aos Ativos-Alvo e Ativos Financeiros de Liquidez, alteração na política monetária, alteração da política fiscal aplicável à Classe, os quais poderão causar preju</a:t>
            </a:r>
          </a:p>
          <a:p>
            <a:r>
              <a:t>CNPJ 62696791000193 · Garantias e constituição · Versão e prevalência: Leitura específica das cláusulas indicadas; condições e conflitos preservados. Seleção documental atual não comprova vigência jurídica por data isolada.</a:t>
            </a:r>
          </a:p>
          <a:p>
            <a:r>
              <a:t>CNPJ 55563624000109 · Garantias e constituição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Garantias e constituição · Resumo do histórico: {"count": 1, "dates": ["2026-04-30"], "document_count": 1, "sources": [{"document_id": "1192614", "title": "Regulamento", "reference_date": "2026-04-30", "version": "1", "page": "12, 14", "url": "https://fnet.bmfbovespa.com.br/fnet/publico/visualizarDocumento?id=1192614", "sha256": "f56e63ace0acde41d2f47fb48f1ac7f3f7df5e2d32de092d7c5e075a52516632"}], "reference": {"path": "history/55563624000109.json", "criterion_id": "guarantee", "total_count": 1, "preview_count": 1, "full_text_deferred": true, "sha256": "7835d573fb58a3c19adf5b8ecc2aee2bdbb9a88f7a0c0209b5f262b64c7522e3"}}</a:t>
            </a:r>
          </a:p>
          <a:p>
            <a:r>
              <a:t>CNPJ 62552447000120 · Garantias e constituição · Regulamento · ID 1200623 · 21/05/2026 · versão Consolidado21/05/2026 aprovado pelo ato1200625 · p. 8 · AnexoICondições(ii)(c) · https://fnet.bmfbovespa.com.br/fnet/publico/visualizarDocumento?id=1200623</a:t>
            </a:r>
          </a:p>
          <a:p>
            <a:r>
              <a:t>CNPJ 62552447000120 · Garantias e constituição · Excerto da fonte:</a:t>
            </a:r>
          </a:p>
          <a:p>
            <a:r>
              <a:t>garantias prestadas pelo Endossante ou pelo Agente de Retenção/Cobrança com relação a esse Direito Creditório deverão ser verdadeiras, nos termos deste Contrato e do respectivo Termo de Endosso; (e) tenha sido realizado o tratamento dos dados pessoais de pessoa natural observando as leis e regulamentações que regem a privacidade e a proteção de dados pess</a:t>
            </a:r>
          </a:p>
          <a:p>
            <a:r>
              <a:t>CNPJ 62552447000120 · Garantias e constituição · Regulamento · ID 1200623 · 21/05/2026 · versão Consolidado21/05/2026 aprovado pelo ato1200625 · p. 12 · AnexoI4.3.2 · https://fnet.bmfbovespa.com.br/fnet/publico/visualizarDocumento?id=1200623</a:t>
            </a:r>
          </a:p>
          <a:p>
            <a:r>
              <a:t>CNPJ 62552447000120 · Garantias e constituição · Excerto da fonte:</a:t>
            </a:r>
          </a:p>
          <a:p>
            <a:r>
              <a:t>alienação/cessão fiduciária; e (b) solicitar bloqueio de parte do saldo da conta vinculada do Devedor. Emitida a CCB em favor do Endossante e formalizada a alienação/cessão f iduciária pelo Devedor, o Endossante endossará eletronicamente a CCB em preto à Classe, que receberá todos os valores dela decorrentes (i.e., os Direitos Creditórios FGTS), após concluídas as f ormalidades de processamento pela CEF, na Conta da Classe. Caso a alienação/cessão f iduciária seja acionada nos termos da CCB, os recursos onerados serão liberados em favor do Endossante no</a:t>
            </a:r>
          </a:p>
          <a:p>
            <a:r>
              <a:t>CNPJ 62552447000120 · Garantias e constituição · Regulamento · ID 1200623 · 21/05/2026 · versão Consolidado21/05/2026 aprovado pelo ato1200625 · p. 6 · AnexoIRefinanciamentoLivre(d) · https://fnet.bmfbovespa.com.br/fnet/publico/visualizarDocumento?id=1200623</a:t>
            </a:r>
          </a:p>
          <a:p>
            <a:r>
              <a:t>CNPJ 62552447000120 · Garantias e constituição · Excerto da fonte:</a:t>
            </a:r>
          </a:p>
          <a:p>
            <a:r>
              <a:t>Refinanciamento Livre”, na forma de CCBs originadas no âmbito de um refinanciamento, de acordo com a política de cobrança vigente, de Direitos Creditórios Consignado Privado e de Direitos Creditórios FGTS, que não contem com o lastro de Consignação ou de cessão f iduciária do Saque-Aniversário, respectivamente; e (ii) “Ativos Financei</a:t>
            </a:r>
          </a:p>
          <a:p>
            <a:r>
              <a:t>CNPJ 62552447000120 · Garantias e constituição · Regulamento · ID 1200623 · 21/05/2026 · versão Consolidado21/05/2026 aprovado pelo ato1200625 · p. 16 · AnexoI4.25 · https://fnet.bmfbovespa.com.br/fnet/publico/visualizarDocumento?id=1200623</a:t>
            </a:r>
          </a:p>
          <a:p>
            <a:r>
              <a:t>CNPJ 62552447000120 · Garantias e constituição · Excerto da fonte:</a:t>
            </a:r>
          </a:p>
          <a:p>
            <a:r>
              <a:t>4.25 As aplicações na Classe não contam com garantia: (i) do Administrador; (ii) do Gestor; (iii) do Endossante; (iv) do Custodiante; (v) dos demais prestadores de serviço da Classe; (vii) de qualquer mecanismo de seguro; e/ou (viii) do FGC. CAPÍTULO 5 – CARACTERÍSTICAS E CONDIÇÕES DAS COTAS 5.1 A Classe não possui Subclasse. As características, os direitos e as condições de emissão, distribuição, subscrição, integralização, remuneração, Amortização e resgate das Cotas estão descritos neste Capítulo e no Capítulo 6. 5.1.1 Não obstante, por deliberação conjunta dos Prestadores de Serviços Essenciais e me</a:t>
            </a:r>
          </a:p>
          <a:p>
            <a:r>
              <a:t>CNPJ 62552447000120 · Garantias e constituição · Versão e prevalência: Leitura específica das cláusulas indicadas; condições e conflitos preservados. Seleção documental atual não comprova vigência jurídica por data isolada.</a:t>
            </a:r>
          </a:p>
          <a:p>
            <a:r>
              <a:t>CNPJ 63953620000165 · Garantias e constituição · Demonstrações Financeiras - Fusão, cisão e incorporação · ID 1327859 · 2026-05-15 · versão 1 · p. 21 · https://fnet.bmfbovespa.com.br/fnet/publico/visualizarDocumento?id=1327859</a:t>
            </a:r>
          </a:p>
          <a:p>
            <a:r>
              <a:t>CNPJ 63953620000165 · Garantias e constituição · Excerto da fonte:</a:t>
            </a:r>
          </a:p>
          <a:p>
            <a:r>
              <a:t>i) Alienação de direitos creditórios  No período em findo em 15 de maio de 2026, não houve recompra de direitos creditórios  inadimplentes.</a:t>
            </a:r>
          </a:p>
          <a:p>
            <a:r>
              <a:t>j) Garantias  Em 15 de maio de 2026, a Classe não possuía garantias reais ou fidejussórias, pela liquidação  dos direitos creditórios.</a:t>
            </a:r>
          </a:p>
          <a:p>
            <a:r>
              <a:t>7. Riscos  Não obstante o emprego pela Administradora e pela Gestora de plena diligência e da boa prática  de administração e gestão da Classe, da estrita observância da política de investimento, das  regras legais e regulamentares aplicáveis à sua administração e gestão, a Classe estará sujeita  aos riscos inerentes aos bens e direitos integrantes de sua Carteira, além dos fatores de risco  identificados abaixo.</a:t>
            </a:r>
          </a:p>
          <a:p>
            <a:r>
              <a:t> Risco de Crédito</a:t>
            </a:r>
          </a:p>
          <a:p>
            <a:r>
              <a:t> (i) Riscos associados aos Devedores: os direitos creditórios a serem endossados à  classe serão descontados pela Dataprev da remuneração do devedor. A capacidade de  pagamento do devedor poderá ser afetada se, por exemplo, o devedor tiver o seu  contrato de emprego rescindido ou em virtude de decisão judicial, o devedor for obrigado  a pagar alimentos, que têm prioridade sobre o empréstimo para fins de desconto na folha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afetar a rentabilidade da classe.</a:t>
            </a:r>
          </a:p>
          <a:p>
            <a:r>
              <a:t>CNPJ 63953620000165 · Garantias e constituição · Condição: Trechos do documento específico identificado com data mais recente; vigência jurídica não inferida.</a:t>
            </a:r>
          </a:p>
          <a:p>
            <a:r>
              <a:t>CNPJ 63953620000165 · Garantias e constituição · Versão e prevalência: Trechos do documento específico identificado com data mais recente; vigência jurídica não inferida.</a:t>
            </a:r>
          </a:p>
          <a:p>
            <a:r>
              <a:t>CNPJ 63953620000165 · Garantias e constituição · Resumo do histórico: {"count": 7, "dates": ["2026-04-16", "2026-04-28", "2026-05-08"], "document_count": 3, "sources": [{"document_id": "1298691", "title": "Demonstrações Financeiras - Fusão, cisão e incorporação", "reference_date": "2026-05-08", "version": "1", "page": 21, "url": "https://fnet.bmfbovespa.com.br/fnet/publico/visualizarDocumento?id=1298691", "sha256": "58c570d9b8d4d265330d3db3ea81c435b8e44a6dab4002aa37790652a1ee9819"}, {"document_id": "1282180", "title": "Demonstrações Financeiras - Fusão, cisão e incorporação", "reference_date": "2026-04-28", "version": "1", "page": 21, "url": "https://fnet.bmfbovespa.com.br/fnet/publico/visualizarDocumento?id=1282180", "sha256": "afaaa0e6809be4385e5bdb6c911aac582032c5bdbac3d7750234bf9eaf00438a"}, {"document_id": "1282179", "title": "Demonstrações Financeiras - Fusão, cisão e incorporação", "reference_date": "2026-04-16", "version": "1", "page": 21, "url": "https://fnet.bmfbovespa.com.br/fnet/publico/visualizarDocumento?id=1282179", "sha256": "beb67afbcd64169019477673fd3b7c1edbfabbd9db07379388d8cdd5d3fc9395"}], "reference": {"path": "history/63953620000165.json", "criterion_id": "guarantee", "total_count": 7, "preview_count": 3, "full_text_deferred": true, "sha256": "a7b89077f5e21098c2d601c303faabc3ff6b9729f89d8afecdc60fe1404720c1"}}</a:t>
            </a:r>
          </a:p>
          <a:p>
            <a:r>
              <a:t>CNPJ 54871427000194 · Registro, execução e recuperação · Motivo: Não localizada uma cláusula material para este critério nos textos identificados e processados. A ausência de resultado não comprova inexistência da regra.</a:t>
            </a:r>
          </a:p>
          <a:p>
            <a:r>
              <a:t>CNPJ 60010416000112 · Registro, execução e recuperação · Motivo: Não localizada uma cláusula material para este critério nos textos identificados e processados. A ausência de resultado não comprova inexistência da regra.</a:t>
            </a:r>
          </a:p>
          <a:p>
            <a:r>
              <a:t>CNPJ 62696791000193 · Registro, execução e recuperação · Regulamento · ID 1143317 · 2026-03-20 · versão 1 · p. 45 · 8.7 · https://fnet.bmfbovespa.com.br/fnet/publico/visualizarDocumento?id=1143317</a:t>
            </a:r>
          </a:p>
          <a:p>
            <a:r>
              <a:t>CNPJ 62696791000193 · Registro, execução e recuperação · Excerto da fonte:</a:t>
            </a:r>
          </a:p>
          <a:p>
            <a:r>
              <a:t>8.7. Risco de Execução das Garantias Atreladas aos CRIs. O investimento em CRI inclui uma série  de riscos, dentre estes, o risco de inadimplemento e consequente execução das garantias  outorgadas à respectiva operação e os riscos inerentes à eventual existência de bens imóveis  na composição da carteira da Classe, podendo, nesta hipótese, a rentabilidade da Classe ser  af etada. Em um eventual processo de execução das garantias dos CRI, poderá haver a  necessidade de contratação de consultores, dentre outros custos, que deverão ser suportados  pela Classe, na qualidade de investidor dos CRI. Adicionalmente, a garantia outorgada em  f avor dos CRI pode não ter valor suficiente para suportar as obrigações financeiras atreladas  a tal CRI. Desta f orma, uma série de eventos relacionados à execução de garantias dos CRI  poderá afetar negativamente o valor das Cotas e a rentabilidade do investimento na Classe.</a:t>
            </a:r>
          </a:p>
          <a:p>
            <a:r>
              <a:t>9. Riscos relativos às Participações do Agronegócio</a:t>
            </a:r>
          </a:p>
          <a:p>
            <a:r>
              <a:t>CNPJ 62696791000193 · Registro, execução e recuperação · Condição: Documentos atuais selecionados no inventário por categoria/escopo; a data documental isolada não comprova vigência jurídica.</a:t>
            </a:r>
          </a:p>
          <a:p>
            <a:r>
              <a:t>CNPJ 62696791000193 · Registro, execução e recuperação · Motivo: Cláusula primária localizada e citada, mas sua lista/condições extensas não admitem uma síntese literal curta confirmada. O trecho integral permanece nas fontes.</a:t>
            </a:r>
          </a:p>
          <a:p>
            <a:r>
              <a:t>CNPJ 62696791000193 · Registro, execução e recuperação · Versão e prevalência: Documentos atuais selecionados no inventário por categoria/escopo; a data documental isolada não comprova vigência jurídica.</a:t>
            </a:r>
          </a:p>
          <a:p>
            <a:r>
              <a:t>CNPJ 55563624000109 · Registro, execução e recuperação · Motivo: Não localizada uma cláusula material para este critério nos textos identificados e processados. A ausência de resultado não comprova inexistência da regra.</a:t>
            </a:r>
          </a:p>
          <a:p>
            <a:r>
              <a:t>CNPJ 62552447000120 · Registro, execução e recuperação · Motivo: Não localizada uma cláusula material para este critério nos textos identificados e processados. A ausência de resultado não comprova inexistência da regra.</a:t>
            </a:r>
          </a:p>
          <a:p>
            <a:r>
              <a:t>CNPJ 63953620000165 · Registro, execução e recuperação · Motivo: Não localizada uma cláusula material para este critério nos textos identificados e processados. A ausência de resultado não comprova inexistência da regra.</a:t>
            </a:r>
          </a:p>
          <a:p>
            <a:r>
              <a:t>CNPJ 54871427000194 · Cobrança e servicing · Regulamento · ID 670691 · 28/04/2024 · versão Regulamento — referência 28/04/2024 · p. 44 · Complemento 2, Régua de Cobrança, Desconto e Comissão · https://fnet.bmfbovespa.com.br/fnet/publico/visualizarDocumento?id=670691</a:t>
            </a:r>
          </a:p>
          <a:p>
            <a:r>
              <a:t>CNPJ 54871427000194 · Cobrança e servicing · Excerto da fonte:</a:t>
            </a:r>
          </a:p>
          <a:p>
            <a:r>
              <a:t>Régua de Cobrança A partir da comunicação da desaverbação do a partir de 31 dias a partir de 60 dias contrato - Notificação (canais digitais) - Negativação SERASA - PROTESTO Repescagem diária na - Cobrança terceirizada - Repescagem diária na conta corrente - Repescagem diária na conta corrente conta corrente DESCONTO Normal Atraso Multa e Mora Principal 15 a 90 0% 0% 91 a 180 100% 0% 181 a 270 100% 20% 271 a 360 100% 30% Acima de 360 100% 50% COMISSÃO Faixa de Atraso % comissão De 15 a 90 dias 12% De 90 a 180 dias 15% De 181 a 270 dias 20%</a:t>
            </a:r>
          </a:p>
          <a:p>
            <a:r>
              <a:t>CNPJ 54871427000194 · Cobrança e servicing · Condição: A tabela de comissões se refere à cobrança/recuperação por faixa de atraso; a remuneração geral do agente está remetida ao contrato na cláusula 13.7.</a:t>
            </a:r>
          </a:p>
          <a:p>
            <a:r>
              <a:t>CNPJ 54871427000194 · Cobrança e servicing · Versão e prevalência: Leitura específica das cláusulas indicadas; condições e conflitos preservados. Seleção documental atual não comprova vigência jurídica por data isolada.</a:t>
            </a:r>
          </a:p>
          <a:p>
            <a:r>
              <a:t>CNPJ 60010416000112 · Cobrança e servicing · Regulamento · ID 1051393 · 2025-10-09 · versão 1 · p. 33 · 14.2.5 · https://fnet.bmfbovespa.com.br/fnet/publico/visualizarDocumento?id=1051393</a:t>
            </a:r>
          </a:p>
          <a:p>
            <a:r>
              <a:t>CNPJ 60010416000112 · Cobrança e servicing · Excerto da fonte:</a:t>
            </a:r>
          </a:p>
          <a:p>
            <a:r>
              <a:t>14.2.5 O Agente de Retenção/Cobrança poderá realizar a cobrança do Direitos Creditórios de forma ativa  caso seja verif icado, pelo Agente de Retenção/Cobrança que o Empregador não ef etuou a  Escrituração ou em caso de perda do vínculo empregatício do Devedor com o Empregador. A  cobrança ativa será mantida até que a Escrituração seja realizada e/ou até que o Devedor retome  o vínculo empregatício, observado o disposto abaixo:</a:t>
            </a:r>
          </a:p>
          <a:p>
            <a:r>
              <a:t> (i) As medidas adotadas pelo Agente de Retenção/Cobrança deverão observar a política  de cobrança adotada pelo Custodiante; e</a:t>
            </a:r>
          </a:p>
          <a:p>
            <a:r>
              <a:t> (ii) Uma vez retomado o vínculo empregatício, o Agente de Retenção/Cobrança deverá aditar  a CCB e/ou realizar o Processo de Reinicialização (conforme detalhado no Contrato de  Endosso).</a:t>
            </a:r>
          </a:p>
          <a:p>
            <a:r>
              <a:t>CAPÍTULO 15 – FATORES DE RISCO</a:t>
            </a:r>
          </a:p>
          <a:p>
            <a:r>
              <a:t>CNPJ 60010416000112 · Cobrança e servicing · Condição: Documentos atuais selecionados no inventário por categoria/escopo; a data documental isolada não comprova vigência jurídica.</a:t>
            </a:r>
          </a:p>
          <a:p>
            <a:r>
              <a:t>CNPJ 60010416000112 · Cobrança e servicing · Versão e prevalência: Documentos atuais selecionados no inventário por categoria/escopo; a data documental isolada não comprova vigência jurídica.</a:t>
            </a:r>
          </a:p>
          <a:p>
            <a:r>
              <a:t>CNPJ 60010416000112 · Cobrança e servicing · Resumo do histórico: {"count": 1, "dates": ["2025-03-20"], "document_count": 1, "sources": [{"document_id": "993786", "title": "Regulamento", "reference_date": "2025-03-20", "version": "1", "page": 33, "clause": "14.2.5", "url": "https://fnet.bmfbovespa.com.br/fnet/publico/visualizarDocumento?id=993786", "sha256": "fd0fdd369a195510d81f81f505195a0b09e5f43522a990afa7d58c4f872921c8"}], "reference": {"path": "history/60010416000112.json", "criterion_id": "servicing", "total_count": 1, "preview_count": 1, "full_text_deferred": true, "sha256": "8e2bd813f4c51cf01f6bfaad164bafe69d2bbb192f753eac92da3a01c2e63046"}}</a:t>
            </a:r>
          </a:p>
          <a:p>
            <a:r>
              <a:t>CNPJ 62696791000193 · Cobrança e servicing · Regulamento · ID 1143317 · 2026-03-20 · versão 1 · p. 43 · 7.7 · https://fnet.bmfbovespa.com.br/fnet/publico/visualizarDocumento?id=1143317</a:t>
            </a:r>
          </a:p>
          <a:p>
            <a:r>
              <a:t>CNPJ 62696791000193 · Cobrança e servicing · Excerto da fonte:</a:t>
            </a:r>
          </a:p>
          <a:p>
            <a:r>
              <a:t>7.7. Falhas de Cobrança. A cobrança dos Direitos Creditórios do Agronegócio Inadimplidos de  titularidade da Classe depende da atuação diligente do agente de cobrança. Qualquer f alha  de procedimento ou ineficiência do agente de cobrança poderá acarretar menor recebimento  dos recursos devidos pelos Devedores, levando à queda da rentabilidade da Classe.</a:t>
            </a:r>
          </a:p>
          <a:p>
            <a:r>
              <a:t> Adicionalmente, nada garante que a cobrança judicial dos Direitos Creditórios do Agronegócio  Inadimplidos levará à recuperação total dos Direitos Creditórios do Agronegócio Inadimplidos,  o que poderá implicar perdas patrimoniais à Classe e aos Cotistas.</a:t>
            </a:r>
          </a:p>
          <a:p>
            <a:r>
              <a:t>CNPJ 62696791000193 · Cobrança e servicing · Regulamento · ID 1143317 · 2026-03-20 · versão 1 · p. 9 · 3.2 · https://fnet.bmfbovespa.com.br/fnet/publico/visualizarDocumento?id=1143317</a:t>
            </a:r>
          </a:p>
          <a:p>
            <a:r>
              <a:t>CNPJ 62696791000193 · Cobrança e servicing · Excerto da fonte:</a:t>
            </a:r>
          </a:p>
          <a:p>
            <a:r>
              <a:t>3.2 Sem prejuízo de outras despesas que venham a ser aprovadas em Assembleia Especial, são Encargos  da Classe:</a:t>
            </a:r>
          </a:p>
          <a:p>
            <a:r>
              <a:t> (i) despesas com consultoria especializada;</a:t>
            </a:r>
          </a:p>
          <a:p>
            <a:r>
              <a:t> (ii) despesas com agente de cobrança.</a:t>
            </a:r>
          </a:p>
          <a:p>
            <a:r>
              <a:t>CNPJ 62696791000193 · Cobrança e servicing · Condição: Documentos atuais selecionados no inventário por categoria/escopo; a data documental isolada não comprova vigência jurídica.</a:t>
            </a:r>
          </a:p>
          <a:p>
            <a:r>
              <a:t>CNPJ 62696791000193 · Cobrança e servicing · Versão e prevalência: Documentos atuais selecionados no inventário por categoria/escopo; a data documental isolada não comprova vigência jurídica.</a:t>
            </a:r>
          </a:p>
          <a:p>
            <a:r>
              <a:t>CNPJ 55563624000109 · Cobrança e servicing · Regulamento · ID 1192614 · 2026-04-30 · versão 1 · p. 11 · https://fnet.bmfbovespa.com.br/fnet/publico/visualizarDocumento?id=1192614</a:t>
            </a:r>
          </a:p>
          <a:p>
            <a:r>
              <a:t>CNPJ 55563624000109 · Cobrança e servicing · Excerto da fonte:</a:t>
            </a:r>
          </a:p>
          <a:p>
            <a:r>
              <a:t>(vi) Emolumentos e comissões pagas por operações da Carteira da Classe;</a:t>
            </a:r>
          </a:p>
          <a:p>
            <a:r>
              <a:t> (vii) Despesas com a manutenção de ativos cuja propriedade decorra da execução de garantia ou de acordo  com o respectivo devedor;</a:t>
            </a:r>
          </a:p>
          <a:p>
            <a:r>
              <a:t> (viii) Honorários de advogados, custas e despesas processuais correlatas incorridos em defesa dos interesses  do FUNDO ou da Classe, em juízo ou fora dele, inclusive o valor da condenação imputada, se for o caso;</a:t>
            </a:r>
          </a:p>
          <a:p>
            <a:r>
              <a:t> (ix) Gastos derivados da celebração de contratos de seguro sobre os ativos integrantes da Carteira da Classe,  assim como a parcela de prejuízos da Carteira não coberta por apólices de seguro, salvo se decorrente  diretamente de culpa ou dolo dos prestadores de serviços da Classe no exercício de suas respectivas  funções;</a:t>
            </a:r>
          </a:p>
          <a:p>
            <a:r>
              <a:t> (x) Despesas relacionadas ao exercício do direito de voto decorrente dos ativos integrantes da Carteira;</a:t>
            </a:r>
          </a:p>
          <a:p>
            <a:r>
              <a:t> (xi) Despesas com a realização da Assembleia de Cotistas;</a:t>
            </a:r>
          </a:p>
          <a:p>
            <a:r>
              <a:t> (xii) Despesas inerentes à constituição, à fusão, à incorporação, à cisão, à transformação ou à liquidação da  Classe;</a:t>
            </a:r>
          </a:p>
          <a:p>
            <a:r>
              <a:t> (xiii) Despesas com a liquidação, o registro e a custódia de operações com os ativos integrantes da Carteira;</a:t>
            </a:r>
          </a:p>
          <a:p>
            <a:r>
              <a:t> (xiv) Despesas com o fechamento de câmbio, vinculadas às operações da Carteira da Classe;</a:t>
            </a:r>
          </a:p>
          <a:p>
            <a:r>
              <a:t> (xv) Despesas inerentes à distribuição primária das Cotas e à admissão das Cotas à negociação em mercado  organizado;</a:t>
            </a:r>
          </a:p>
          <a:p>
            <a:r>
              <a:t> (xvi) Taxa de Administração e a Taxa de Gestão;</a:t>
            </a:r>
          </a:p>
          <a:p>
            <a:r>
              <a:t> (xvii) Despesas com a contratação de consultoria especializada, conforme o caso;</a:t>
            </a:r>
          </a:p>
          <a:p>
            <a:r>
              <a:t> (xviii) Despesas com a contratação de agente de cobrança, conforme o caso;</a:t>
            </a:r>
          </a:p>
          <a:p>
            <a:r>
              <a:t> (xix) Despesas decorrentes de empréstimos contraídos em nome da Classe, nos termos da Resolução CVM  175 e deste Anexo;</a:t>
            </a:r>
          </a:p>
          <a:p>
            <a:r>
              <a:t> (xx) Taxa mínima de custódia, se houver; e</a:t>
            </a:r>
          </a:p>
          <a:p>
            <a:r>
              <a:t> (xxi) Montantes devidos a fundos investidores, na hipótese de remuneração com base na taxa de  administração, performance ou gestão, observado o disposto no art. 99 da parte geral da Resolução  CVM 175.</a:t>
            </a:r>
          </a:p>
          <a:p>
            <a:r>
              <a:t>CNPJ 55563624000109 · Cobrança e servicing · Condição: Documentos atuais selecionados no inventário por categoria/escopo; a data documental isolada não comprova vigência jurídica.</a:t>
            </a:r>
          </a:p>
          <a:p>
            <a:r>
              <a:t>CNPJ 55563624000109 · Cobrança e servicing · Motivo: Cláusula primária localizada e citada, mas sua lista/condições extensas não admitem uma síntese literal curta confirmada. O trecho integral permanece nas fontes.</a:t>
            </a:r>
          </a:p>
          <a:p>
            <a:r>
              <a:t>CNPJ 55563624000109 · Cobrança e servicing · Versão e prevalência: Documentos atuais selecionados no inventário por categoria/escopo; a data documental isolada não comprova vigência jurídica.</a:t>
            </a:r>
          </a:p>
          <a:p>
            <a:r>
              <a:t>CNPJ 62552447000120 · Cobrança e servicing · Regulamento · ID 1200623 · 2026-05-21 · versão 1 · p. 6 · https://fnet.bmfbovespa.com.br/fnet/publico/visualizarDocumento?id=1200623</a:t>
            </a:r>
          </a:p>
          <a:p>
            <a:r>
              <a:t>CNPJ 62552447000120 · Cobrança e servicing · Excerto da fonte:</a:t>
            </a:r>
          </a:p>
          <a:p>
            <a:r>
              <a:t>integrantes do conglomerado econômico de instituições  f inanceiras classificadas como S1 pelo Banco Central do  Brasil (“BACEN” e “Instituições Financeiras S1”,  respectivamente), desde que não representem títulos de  emissão ou coobrigação de instituições financeiras, bem  como cotas de f undos de investimento que invistam  preponderantemente nestes direitos, títulos e/ou valores  mobiliários; e</a:t>
            </a:r>
          </a:p>
          <a:p>
            <a:r>
              <a:t> (d) “Direitos Creditórios Refinanciamento Livre”, na forma  de CCBs originadas no âmbito de um refinanciamento, de  acordo com a política de cobrança vigente, de Direitos  Creditórios Consignado Privado e de Direitos Creditórios  FGTS, que não contem com o lastro de Consignação ou  de cessão f iduciária do Saque-Aniversário,  respectivamente; e</a:t>
            </a:r>
          </a:p>
          <a:p>
            <a:r>
              <a:t> (ii) “Ativos Financeiros”, assim entendidos como, em conjunto:</a:t>
            </a:r>
          </a:p>
          <a:p>
            <a:r>
              <a:t> (a) moeda corrente nacional;</a:t>
            </a:r>
          </a:p>
          <a:p>
            <a:r>
              <a:t> (b) títulos públicos f ederais;</a:t>
            </a:r>
          </a:p>
          <a:p>
            <a:r>
              <a:t> (c) ativos f inanceiros de renda f ixa de emissão ou  coobrigação de Instituições Financeiras S1;</a:t>
            </a:r>
          </a:p>
          <a:p>
            <a:r>
              <a:t> (d) operações compromissadas, desde que lastreadas nos  títulos mencionados nas alíneas (b) e (c) acima; e</a:t>
            </a:r>
          </a:p>
          <a:p>
            <a:r>
              <a:t> (e) cotas do BTG Pactual Tesouro Selic Fundo de  Investimento Renda Fixa Ref erenciado DI, inscrito no  CNPJ sob o nº 09.215.250/0001-13;</a:t>
            </a:r>
          </a:p>
          <a:p>
            <a:r>
              <a:t> observados todos os limites de composição e diversificação da carteira da  Classe (“Carteira”), estabelecidos neste Regulamento e na  regulamentação aplicável.</a:t>
            </a:r>
          </a:p>
          <a:p>
            <a:r>
              <a:t> O objetivo da Classe não representa, sob qualquer hipótese, promessa,  garantia ou sugestão da Classe ou de seus Prestadores de Serviços  Essenciais quanto à segurança, rentabilidade e liquidez dos títulos  componentes de sua Carteira.</a:t>
            </a:r>
          </a:p>
          <a:p>
            <a:r>
              <a:t>CNPJ 62552447000120 · Cobrança e servicing · Regulamento · ID 1200623 · 2026-05-21 · versão 1 · p. 7 · https://fnet.bmfbovespa.com.br/fnet/publico/visualizarDocumento?id=1200623</a:t>
            </a:r>
          </a:p>
          <a:p>
            <a:r>
              <a:t>CNPJ 62552447000120 · Cobrança e servicing · Excerto da fonte:</a:t>
            </a:r>
          </a:p>
          <a:p>
            <a:r>
              <a:t>(c) atendam, pro forma, na Data de Aquisição, aos  limites de concentração definidos no Capítulo 4 deste  Anexo I;</a:t>
            </a:r>
          </a:p>
          <a:p>
            <a:r>
              <a:t> (d) não haver disposição legal ou regulamentar  aprovada, ou ordem judicial ou administrativa  emitida, que tenha como objetivo impedir ou impor  limites ou exigências adicionais para o endosso de  Direitos Creditórios decorrentes de transações  dedutíveis da f olha de pagamento a f undos de  investimento;</a:t>
            </a:r>
          </a:p>
          <a:p>
            <a:r>
              <a:t> (e) atendam à Política de Crédito e, conforme aplicável,  à Política de Cobrança; e</a:t>
            </a:r>
          </a:p>
          <a:p>
            <a:r>
              <a:t>CNPJ 62552447000120 · Cobrança e servicing · Regulamento · ID 1200623 · 2026-05-21 · versão 1 · p. 3 · 2.1.2 · https://fnet.bmfbovespa.com.br/fnet/publico/visualizarDocumento?id=1200623</a:t>
            </a:r>
          </a:p>
          <a:p>
            <a:r>
              <a:t>CNPJ 62552447000120 · Cobrança e servicing · Excerto da fonte:</a:t>
            </a:r>
          </a:p>
          <a:p>
            <a:r>
              <a:t>2.1.2 Não obstante as atribuições previstas neste Regulamento e na regulamentação aplicável, cabe  ao Gestor praticar os atos necessários à gestão da Carteira. Assim, em linha com o art. 85 da  Parte Geral da Resolução CVM 175 e com o art. 32 do Anexo Normativo II, o Gestor pode  contratar, em nome do Fundo e/ou da Classe, os seguintes serviços: (a) intermediação de  operações para a Carteira; (b) distribuição de Cotas; (c) consultoria de investimentos; (d)  classificação de risco por agência classificadora de risco; (e) cogestão da Carteira; (f) formador  de mercado; e, eventualmente, (g) consultoria especializada; (h) agente de cobrança, e (i)  outros serviços em benef ício do Fundo ou da classe.</a:t>
            </a:r>
          </a:p>
          <a:p>
            <a:r>
              <a:t>CNPJ 62552447000120 · Cobrança e servicing · Condição: Documentos atuais selecionados no inventário por categoria/escopo; a data documental isolada não comprova vigência jurídica.</a:t>
            </a:r>
          </a:p>
          <a:p>
            <a:r>
              <a:t>CNPJ 62552447000120 · Cobrança e servicing · Versão e prevalência: Documentos atuais selecionados no inventário por categoria/escopo; a data documental isolada não comprova vigência jurídica.</a:t>
            </a:r>
          </a:p>
          <a:p>
            <a:r>
              <a:t>CNPJ 63953620000165 · Cobrança e servicing · Anexo ao Regulamento · ID 1222863 · 2026-06-02 · versão 1 · p. 8 · 4.25 · https://fnet.bmfbovespa.com.br/fnet/publico/visualizarDocumento?id=1222863</a:t>
            </a:r>
          </a:p>
          <a:p>
            <a:r>
              <a:t>CNPJ 63953620000165 · Cobrança e servicing · Excerto da fonte:</a:t>
            </a:r>
          </a:p>
          <a:p>
            <a:r>
              <a:t>4.25 É vedada qualquer forma de antecipação de recursos às Cedentes/aos Endossantes para posterior reembolso  pela Classe, seja pelo Administrador, Gestor, Custodiante, Consultora ou Agente de Cobrança.</a:t>
            </a:r>
          </a:p>
          <a:p>
            <a:r>
              <a:t>CNPJ 63953620000165 · Cobrança e servicing · Condição: Documentos atuais selecionados no inventário por categoria/escopo; a data documental isolada não comprova vigência jurídica.</a:t>
            </a:r>
          </a:p>
          <a:p>
            <a:r>
              <a:t>CNPJ 63953620000165 · Cobrança e servicing · Versão e prevalência: Documentos atuais selecionados no inventário por categoria/escopo; a data documental isolada não comprova vigência jurídica.</a:t>
            </a:r>
          </a:p>
          <a:p>
            <a:r>
              <a:t>CNPJ 63953620000165 · Cobrança e servicing · Resumo do histórico: {"count": 6, "dates": ["2026-04-28", "2026-05-08", "2026-05-15"], "document_count": 3, "sources": [{"document_id": "1327859", "title": "Demonstrações Financeiras - Fusão, cisão e incorporação", "reference_date": "2026-05-15", "version": "1", "page": 29, "url": "https://fnet.bmfbovespa.com.br/fnet/publico/visualizarDocumento?id=1327859", "sha256": "dca1c68babb97f887528c3e2e47596a9c30f507b067981a35655b2f2da9c8054"}, {"document_id": "1298691", "title": "Demonstrações Financeiras - Fusão, cisão e incorporação", "reference_date": "2026-05-08", "version": "1", "page": 5, "url": "https://fnet.bmfbovespa.com.br/fnet/publico/visualizarDocumento?id=1298691", "sha256": "58c570d9b8d4d265330d3db3ea81c435b8e44a6dab4002aa37790652a1ee9819"}, {"document_id": "1282180", "title": "Demonstrações Financeiras - Fusão, cisão e incorporação", "reference_date": "2026-04-28", "version": "1", "page": 30, "url": "https://fnet.bmfbovespa.com.br/fnet/publico/visualizarDocumento?id=1282180", "sha256": "afaaa0e6809be4385e5bdb6c911aac582032c5bdbac3d7750234bf9eaf00438a"}], "reference": {"path": "history/63953620000165.json", "criterion_id": "servicing", "total_count": 6, "preview_count": 3, "full_text_deferred": true, "sha256": "a7b89077f5e21098c2d601c303faabc3ff6b9729f89d8afecdc60fe1404720c1"}}</a:t>
            </a:r>
          </a:p>
          <a:p>
            <a:r>
              <a:t>CNPJ 54871427000194 · Conta de arrecadação e risco de trânsito · Regulamento · ID 670691 · 28/04/2024 · versão Regulamento — referência 28/04/2024 · p. 9 · Anexo I, 4.3 e 4.6 · https://fnet.bmfbovespa.com.br/fnet/publico/visualizarDocumento?id=670691</a:t>
            </a:r>
          </a:p>
          <a:p>
            <a:r>
              <a:t>CNPJ 54871427000194 · Conta de arrecadação e risco de trânsito · Excerto da fonte:</a:t>
            </a:r>
          </a:p>
          <a:p>
            <a:r>
              <a:t>4.3 Os pagamentos relativos aos Direitos Creditórios de titularidade da Classe serão realizados mediante consignação em folha, débito em conta de titularidade dos Devedores e pagamentos de sinistros, para pagamento dos valores correspondentes às parcelas das CCBs representadas pelos CCCBs de titularidade da Classe, os quais serão conciliados e repassados pelo Endossante para a conta corrente da Classe. 4.4 Os Direitos Creditórios deverão contar com Documentos Comprobatórios que evidenciem sua existência, validade e exequibilidade perante os respectivos Devedores . 4.4.1 Os Direitos Creditórios serão adquiridos pela Classe por meio de Contrato de Endosso f irmados entre a Classe e o Endossante e os respectivos Termos de Endosso, acompanhados de todos os direitos, privilégios, preferências, prerrogativas, ações e garantias assegurados aos seus titulares, observada a Política de Investimentos e as demais disposições deste Regulamento e da legislação e regulamentação aplicáveis. 4.5 O Endossante deverá realizar análise cadastral e de crédito dos Devedores, previamente à aquisição de Direitos Creditórios pela Classe. O disposto neste item não impede o ADMINISTRAD</a:t>
            </a:r>
          </a:p>
          <a:p>
            <a:r>
              <a:t>CNPJ 54871427000194 · Conta de arrecadação e risco de trânsito · Regulamento · ID 670691 · 28/04/2024 · versão Regulamento — referência 28/04/2024 · p. 9 · Anexo I, 4.6 · https://fnet.bmfbovespa.com.br/fnet/publico/visualizarDocumento?id=670691</a:t>
            </a:r>
          </a:p>
          <a:p>
            <a:r>
              <a:t>CNPJ 54871427000194 · Conta de arrecadação e risco de trânsito · Excerto da fonte:</a:t>
            </a:r>
          </a:p>
          <a:p>
            <a:r>
              <a:t>4.6 A cobrança ordinária e recebimento de Direitos Creditórios pela Classe é realizada mediante a liquidação dos recursos através de débito dos salários a receber pelos Devedores do órgão consignante ou através da consignação direto da folha, sendo certo que o GESTOR e/ou o Custodiante f arão o monitoramento do pagamento dos Direitos Creditórios através da validação do Arquivo de Liquidação, do Relatório de Repasse, e consulta oriunda do sistema da processadora conveniada ao órgão consignante, responsável pela consignação em f olha de pagamento ou de benef ício dos Devedores (averbação, débito e repasse). Critérios de Elegibilidade 4.7 A Classe somente poderá adquirir os Direitos Creditórios que atendam cumulativamente aos seguintes Critérios de Elegibilidade, a serem verif icados e validados pelo GESTOR, de f orma individualizada e integral, previamente à cessão e na respectiva Data de Aquisição, de modo que apenas são passíveis de aquisição pela Classe os Direitos Creditórios que, na Data de Aquisição: (i) CCBs sem qualquer parcela cedida; (ii) CCBs com diferença menor que 60 (sessenta) dias entre a data provável do endosso e a próxima parcela a vencer;</a:t>
            </a:r>
          </a:p>
          <a:p>
            <a:r>
              <a:t>CNPJ 54871427000194 · Conta de arrecadação e risco de trânsito · Condição: A mecânica prevê passagem dos recursos pelo endossante; o regulamento não estabelece, nesta cláusula, repasse direto automático pelo órgão consignante.</a:t>
            </a:r>
          </a:p>
          <a:p>
            <a:r>
              <a:t>CNPJ 54871427000194 · Conta de arrecadação e risco de trânsito · Versão e prevalência: Leitura específica das cláusulas indicadas; condições e conflitos preservados. Seleção documental atual não comprova vigência jurídica por data isolada.</a:t>
            </a:r>
          </a:p>
          <a:p>
            <a:r>
              <a:t>CNPJ 54871427000194 · Conta de arrecadação e risco de trânsito · Resumo do histórico: {"count": 1, "dates": ["2024-04-19"], "document_count": 1, "sources": [{"document_id": "670689", "title": "Regulamento", "reference_date": "2024-04-19", "version": "1", "page": 25, "url": "https://fnet.bmfbovespa.com.br/fnet/publico/visualizarDocumento?id=670689", "sha256": "891bc9bc5d87bbc02ec139077a84d2702eb81ea02035fb71d24f5b8366b94a0b"}], "reference": {"path": "history/54871427000194.json", "criterion_id": "collection_account", "total_count": 1, "preview_count": 1, "full_text_deferred": true, "sha256": "35d7cd99be50c7287c9fb675cf4f2e736002315295a225a9efa79c8d9186d874"}}</a:t>
            </a:r>
          </a:p>
          <a:p>
            <a:r>
              <a:t>CNPJ 60010416000112 · Conta de arrecadação e risco de trânsito · Regulamento · ID 1051393 · 2025-10-09 · versão 1 · p. 32 · 14.2.1 · https://fnet.bmfbovespa.com.br/fnet/publico/visualizarDocumento?id=1051393</a:t>
            </a:r>
          </a:p>
          <a:p>
            <a:r>
              <a:t>CNPJ 60010416000112 · Conta de arrecadação e risco de trânsito · Excerto da fonte:</a:t>
            </a:r>
          </a:p>
          <a:p>
            <a:r>
              <a:t>14.2.1 Os valores indicados nos Arquivos Dataprev em relação aos Direitos Creditórios endossados à  Classe e depositados mensalmente pela CEF na Conta Vinculada serão cobrados/recebidos da  seguinte f orma:</a:t>
            </a:r>
          </a:p>
          <a:p>
            <a:r>
              <a:t> (i) mensalmente, após o processamento da f olha de pagamento dos Devedores, a Dataprev  enviará os Arquivos Dataprev ao Endossante;</a:t>
            </a:r>
          </a:p>
          <a:p>
            <a:r>
              <a:t> (ii) ao receber os Arquivos Dataprev, o Endossante os disponibilizará ao Custodiante e ao  Agente de Retenção/Cobrança, através de uma interf ace de programação de aplicações  (API), no mesmo dia que forem disponibilizados pela Dataprev, ou no Dia Útil subsequente,  se f orem disponibilizados pela Dataprev após 16:00 (horário de Brasília) sem f azer qualquer  modif icação em suas respectivas inf ormações;</a:t>
            </a:r>
          </a:p>
          <a:p>
            <a:r>
              <a:t> (iii) até 2º (segundo) Dia Útil após o recebimento dos valores repassados pelos Empregadores,  a CEF ef etuará uma transf erência eletrônica disponível (TED) diretamente para a Conta  Vinculada relevante com o valor declarado no Arquivo de Consignações;</a:t>
            </a:r>
          </a:p>
          <a:p>
            <a:r>
              <a:t> (iv) o Endossante, na qualidade de Agente da Conta Vinculada, transferirá os valores devidos  à Classe para a Conta de Cobrança da Classe, de acordo com o Contrato de Conta  Vinculada; e</a:t>
            </a:r>
          </a:p>
          <a:p>
            <a:r>
              <a:t> (v) tendo recebido os Arquivos Dataprev e os valores indicados no item (iv), o Custodiante  realizará a reconciliação dos valores devidos à Classe e/ou ao Endossante.</a:t>
            </a:r>
          </a:p>
          <a:p>
            <a:r>
              <a:t>CNPJ 60010416000112 · Conta de arrecadação e risco de trânsito · Regulamento · ID 1051393 · 2025-10-09 · versão 1 · p. 28 · https://fnet.bmfbovespa.com.br/fnet/publico/visualizarDocumento?id=1051393</a:t>
            </a:r>
          </a:p>
          <a:p>
            <a:r>
              <a:t>CNPJ 60010416000112 · Conta de arrecadação e risco de trânsito · Excerto da fonte:</a:t>
            </a:r>
          </a:p>
          <a:p>
            <a:r>
              <a:t>Anexo I ao Regulamento CLASSE ÚNICA DO MT I CONSIGNADO PRIVADO I FUNDO DE INVESTIMENTO EM DIREITOS CREDITÓRIOS RESPONSABILIDADE LIMITADA  Documentos Comprobatórios e os Documentos Suporte que comprovam a operação, observados os  procedimentos operacionais da Entidade Registradora;</a:t>
            </a:r>
          </a:p>
          <a:p>
            <a:r>
              <a:t> (ii) receber, em nome da Classe, pagamentos de Direitos Creditórios, amortização ou resgate de Ativos  Financeiros ou qualquer outro rendimento dos ativos mantidos em custódia, mediante o recebimento  de valores diretamente na Conta de Cobrança da Classe ou transf eridos da Conta Vinculada;</a:t>
            </a:r>
          </a:p>
          <a:p>
            <a:r>
              <a:t> (iii) cobrar e receber, em nome da Classe, pagamentos, resgate de títulos ou qualquer outro rendimento  relativo aos ativos da Carteira, depositando os valores recebidos diretamente em conta de titularidade  da classe ou, se f or o caso, em conta-vinculada;</a:t>
            </a:r>
          </a:p>
          <a:p>
            <a:r>
              <a:t> (iv) realizar a guarda da documentação relativa ao lastro dos Direitos Creditórios;</a:t>
            </a:r>
          </a:p>
          <a:p>
            <a:r>
              <a:t> (v) realizar a reconciliação dos valores depositados na Conta de Cobrança da Classe;</a:t>
            </a:r>
          </a:p>
          <a:p>
            <a:r>
              <a:t> (vi)</a:t>
            </a:r>
          </a:p>
          <a:p>
            <a:r>
              <a:t> (vii) assegurar que inconsistências indicadas nos relatórios de verif icação dos Documentos  Comprobatórios e dos Documentos Suporte representativos dos Direitos Creditórios e seu endosso  à Classe sejam tratadas tempestivamente.</a:t>
            </a:r>
          </a:p>
          <a:p>
            <a:r>
              <a:t>CNPJ 60010416000112 · Conta de arrecadação e risco de trânsito · Regulamento · ID 1051393 · 2025-10-09 · versão 1 · p. 39 · https://fnet.bmfbovespa.com.br/fnet/publico/visualizarDocumento?id=1051393</a:t>
            </a:r>
          </a:p>
          <a:p>
            <a:r>
              <a:t>CNPJ 60010416000112 · Conta de arrecadação e risco de trânsito · Excerto da fonte:</a:t>
            </a:r>
          </a:p>
          <a:p>
            <a:r>
              <a:t>Anexo I ao Regulamento CLASSE ÚNICA DO MT I CONSIGNADO PRIVADO I FUNDO DE INVESTIMENTO EM DIREITOS CREDITÓRIOS RESPONSABILIDADE LIMITADA  da Classe e, de forma extraordinária, para a Conta de Movimentação da Classe. Em caso de  intervenção ou liquidação extrajudicial das instituições f inanceiras onde a Conta de Cobrança  da Classe e a Conta de Movimentação da Classe são mantidas, os fundos nelas depositados  poderão ser bloqueados e recuperados pela Classe somente através de uma ordem judicial,  o que af etaria seu retorno e poderia causar perda de parte de seus ativos.</a:t>
            </a:r>
          </a:p>
          <a:p>
            <a:r>
              <a:t> (ix) Risco de bloqueio da Conta Vinculada: a Conta Vinculada para a qual os recursos  provenientes do pagamento dos Direitos Creditórios serão direcionados poderá ser  bloqueada, dentre outros, (i) no caso de intervenção ou liquidação extrajudicial do  Endossante, ou (ii) no caso de decisões judiciais serem proferidas em demandas ajuizadas  contra o Endossante, determinando o bloqueio. Em qualquer desses eventos, esses recursos  de propriedade da Classe só poderão ser recuperados em juízo. Essa recuperação poderá  levar tempo para ser ef etuada ou mesmo não obter êxito, o que af etaria a rentabilidade da  Classe e poderia f azê-lo perder parte de seus ativos.</a:t>
            </a:r>
          </a:p>
          <a:p>
            <a:r>
              <a:t> (x) Risco de patrimônio líquido negativo: as estratégias de investimento adotadas pela  Classe, bem como o pagamento de remuneração aos prestadores de serviços da Classe,  podem f azer com que seu Patrimônio Líquido se torne negativo, hipótese em que o Cotista  poderá ser solicitado a f azer aportes adicionais de recursos, a f im de permitir que a Classe  cumpra suas obrigações.</a:t>
            </a:r>
          </a:p>
          <a:p>
            <a:r>
              <a:t> (xi) Risco de cobrança judicial ou extrajudicial: quando não f orem pagos os Direitos  Creditórios que compõem a Carteira, poderá haver cobrança judicial ou extrajudicial dos  valores devidos, mediante decisão dos Cotistas na Assembleia de Cotistas nos termos desse  Anexo I. Entretanto, não há garantia de que, em qualquer desses casos, os procedimentos  de cobrança acima mencionados serão aprovados na Assembleia Especial de Cotistas e,  caso aprovados, de que tais procedimentos atingirão os resultados desejados, nem de que  a Classe terá êxito em recuperar quaisquer valores inadimplidos, o que poderá resultar em  perdas para a Classe.</a:t>
            </a:r>
          </a:p>
          <a:p>
            <a:r>
              <a:t> (xii) Possibilidade de conflito de interesses entre a Classe e o Agente de  Retenção/Cobrança. O Agente de Retenção/Cobrança eventualmente possui ou pode vir a  possuir relacionamento comercial com o Endossante e/ou Devedores, de modo que, em  determinadas circunstâncias seus interesses podem ser conflitantes com os interesses da  Classe. Não é possível garantir que, materializada uma situação de conflito de interesses  conf orme descrita acima, o Agente de Retenção/Cobrança exponha-a adequadamente ao  Administrador e/ou aos Cotistas, ou que o faça absolutamente, tampouco que agirá no melhor  no interesse da Classe. Nesses casos, a Classe pode vir a adquirir Direitos Creditórios ou  pode vir a ter seus Direitos Creditórios Inadimplidos pagos em condições comparativamente  menos vantajosas àquelas que seriam verificadas na ausência de tais conflitos de interesses.</a:t>
            </a:r>
          </a:p>
          <a:p>
            <a:r>
              <a:t> Nesses casos, o Patrimônio Líquido pode ser af etado adversamente.</a:t>
            </a:r>
          </a:p>
          <a:p>
            <a:r>
              <a:t> (xiii) Risco de intervenção ou liquidação judicial do Administrador. A Classe está sujeito ao  risco dos efeitos de decretação de intervenção ou de liquidação judicial do Administrador e/ou  do Custodiante, nos termos da Lei nº 6.024, de 13 de março de 1974, conf orme alterada.</a:t>
            </a:r>
          </a:p>
          <a:p>
            <a:r>
              <a:t> (xiv) Patrimônio Líquido negativo. Os investimentos da Classe estão, por sua natureza, sujeitos  a f lutuações típicas de mercado, risco de crédito, risco sistêmico, condições adversas de  liquidez e negociação atípica nos mercados de atuação, sendo que não há garantia de  completa eliminação da possibilidade de perdas para a Classe e para os Cotistas. Além disso,  as estratégias de investimento adotadas pela Classe poderão f azer com que a Classe  apresente Patrimônio Líquido negativo, caso em que os Cotistas poderão ser chamados a  realizar aportes adicionais de recursos, de f orma a possibilitar que a Classe satisfaça suas  obrigações.</a:t>
            </a:r>
          </a:p>
          <a:p>
            <a:r>
              <a:t>CNPJ 60010416000112 · Conta de arrecadação e risco de trânsito · Condição: Documentos atuais selecionados no inventário por categoria/escopo; a data documental isolada não comprova vigência jurídica.</a:t>
            </a:r>
          </a:p>
          <a:p>
            <a:r>
              <a:t>CNPJ 60010416000112 · Conta de arrecadação e risco de trânsito · Versão e prevalência: Documentos atuais selecionados no inventário por categoria/escopo; a data documental isolada não comprova vigência jurídica.</a:t>
            </a:r>
          </a:p>
          <a:p>
            <a:r>
              <a:t>CNPJ 60010416000112 · Conta de arrecadação e risco de trânsito · Resumo do histórico: {"count": 1, "dates": ["2025-03-20"], "document_count": 1, "sources": [{"document_id": "993786", "title": "Regulamento", "reference_date": "2025-03-20", "version": "1", "page": 32, "clause": "14.2.1", "url": "https://fnet.bmfbovespa.com.br/fnet/publico/visualizarDocumento?id=993786", "sha256": "fd0fdd369a195510d81f81f505195a0b09e5f43522a990afa7d58c4f872921c8"}], "reference": {"path": "history/60010416000112.json", "criterion_id": "collection_account", "total_count": 1, "preview_count": 1, "full_text_deferred": true, "sha256": "8e2bd813f4c51cf01f6bfaad164bafe69d2bbb192f753eac92da3a01c2e63046"}}</a:t>
            </a:r>
          </a:p>
          <a:p>
            <a:r>
              <a:t>CNPJ 62696791000193 · Conta de arrecadação e risco de trânsito · Motivo: Não localizada uma cláusula material para este critério nos textos identificados e processados. A ausência de resultado não comprova inexistência da regra.</a:t>
            </a:r>
          </a:p>
          <a:p>
            <a:r>
              <a:t>CNPJ 55563624000109 · Conta de arrecadação e risco de trânsito · Motivo: Não localizada uma cláusula material para este critério nos textos identificados e processados. A ausência de resultado não comprova inexistência da regra.</a:t>
            </a:r>
          </a:p>
          <a:p>
            <a:r>
              <a:t>CNPJ 62552447000120 · Conta de arrecadação e risco de trânsito · Regulamento · ID 1200623 · 2026-05-21 · versão 1 · p. 37 · https://fnet.bmfbovespa.com.br/fnet/publico/visualizarDocumento?id=1200623</a:t>
            </a:r>
          </a:p>
          <a:p>
            <a:r>
              <a:t>CNPJ 62552447000120 · Conta de arrecadação e risco de trânsito · Excerto da fonte:</a:t>
            </a:r>
          </a:p>
          <a:p>
            <a:r>
              <a:t>operacional dos Direitos Creditórios Consignado Privado e dos Direitos Creditórios FGTS dependem de certif icações e habilitações do Endossante junto à Dataprev e à CEF, respectivamente. O Endossante deve observar as regras aplicáveis a cada Direito Creditório para a manutenção da sua habilitação, que, portanto, pode ser af etada em caso de descumprimento ou de mudança normativa. Nesses casos, a estrutura de cobrança dos Direitos Creditórios Consignado Privado e dos Direitos Creditórios FGTS poderá ser comprometida, dando origem à necessidade de adoção de uma nova estrutura, que poderá não ser tão eficaz quanto ela ou mesmo revelar, na prática, ser inadequada ou ter altos custos operacionais . Esses eventos podem levar a perdas patrimoniais para a Classe, na medida em que a Classe deixará de receber, definitiva ou temporariamente, recursos oriundos desses Direitos Creditórios, no todo ou em parte.</a:t>
            </a:r>
          </a:p>
          <a:p>
            <a:r>
              <a:t>(vii) Risco de fungibilidade: o pagamento dos Direitos Creditórios serão inicialmente realizados em conta liquidante do Endossante por meio de transferência de reserva bancária, sendo automaticamente transferido à Conta Vinculada na sua integralidade, também de titularidade do Endoss ante, o qual será responsável por realizar a conciliação dos valores e repassá-los à Conta da Classe. Enquanto os recursos não f orem transf eridos para a Classe, a Classe estará correndo o risco de crédito do Endossante, e no caso de qualquer evento de crédito do Endossante, como intervenção, liquidação extrajudicial, falência ou outros procedimentos para proteção de credores, a Classe poderá não receber os valores devidos a ele, e poderá incorrer em custos adicionais para recuperar esses valores. Além disso, em caso de intervenção, liquidação extrajudicial, falência, execução ou outro procedimento similar para proteção de credores envolvendo o Endossante, os valores depositados de tempos em tempos na conta liquidante do Endossante por meio de transferência d e reserva bancária, e automaticamente transferidos à Conta Vinculada, poderão ser bloqueados, por ordem judicial ou administrativa, o que poderá causar prejuízos à Classe e ao Cotista.</a:t>
            </a:r>
          </a:p>
          <a:p>
            <a:r>
              <a:t>Risco de descontinuidade</a:t>
            </a:r>
          </a:p>
          <a:p>
            <a:r>
              <a:t>(i) Risco de descontinuidade: a Classe poderá ser liquidada antecipadamente, dentre outros, caso ocorra um Evento de Liquidação. Portanto, o Cotista poderá ter sua perspectiva original de investimento reduzida e não ser capaz de reinvestir os recursos recebidos com a mesma remuneração gerada pela Classe, e nenhuma multa ou penalidade, de qualquer f orma, devido a esse f ato, será devida pela Classe, o Administrador, o Custodiante, o Coordenador Líder, o Gestor, o Agente de Retenção e Cobrança ou o Endossante.</a:t>
            </a:r>
          </a:p>
          <a:p>
            <a:r>
              <a:t>Riscos decorrentes do Regime de Amortização</a:t>
            </a:r>
          </a:p>
          <a:p>
            <a:r>
              <a:t>(i) Risco decorrente da ordem de alocação das distribuições: conforme previsto neste Anexo, as Cotas estarão sujeitas à Amortização de acordo com a ordem de alocação prevista no Capítulo 7. Portanto, o Cotista poderá ter sua perspectiva original de investimento reduzida e não poderá reinvestir os recursos recebidos com a mesma remuneração gerada pela Classe.</a:t>
            </a:r>
          </a:p>
          <a:p>
            <a:r>
              <a:t>Riscos do originador e da originação</a:t>
            </a:r>
          </a:p>
          <a:p>
            <a:r>
              <a:t>(i) Riscos do originador e da originação: a continuidade da Classe poderá ser comprometida no caso de inconstância na concessão de empréstimos pelo Endossante aos Devedores ou incapacidade do Agente de Retenção e Cobrança operacionalizar a Plataf orma VR, através da qual os Direitos Creditórios são originados. Portanto, o investimento na Classe está sujeito ao risco de não originação, no f uturo, de Direitos Creditórios pelo Endossante contra os Devedores através da Plataforma VR, disponibilizada pelo Agente de Retenção e Cobrança. Se isso acontecer, a originação dos Direitos Creditórios pelo Endossante poderá ser impactada negativamente ou mesmo impossibilitada, o que poderá gerar a liquidação antecipada da Classe.</a:t>
            </a:r>
          </a:p>
          <a:p>
            <a:r>
              <a:t>Além disso, a Classe poderá adquirir Direitos Creditórios que f oram originados em conformidade com o processo de originação e/ou políticas de concessão de crédito desenvolvidos e monitorados pelo Endossante.</a:t>
            </a:r>
          </a:p>
          <a:p>
            <a:r>
              <a:t>Entretanto, não é possível assegurar que o cumprimento dessas diretrizes garanta a qualidade dos Direitos Creditórios e/ou a solvência dos respectivos Devedores, ou que as diretrizes e parâmetros estabelecidos no Capítulo 13 sejam corretamente interpretados e aplicados quando a Classe fizer os investimentos. Além disso, se o Endossante deixar de existir ou estiver sujeito a uma ordem de intervenção, liquidação extrajudicial ou regime especial ou gestão temporária ou evento similar, a Classe será impactado também pelo f ato de que a Conta Vinculada na qual as transf erências f eitas pela CEF f oram depositadas f oi aberta em nome do Endossante. Neste caso, a Classe poderá sofrer perdas principalmente em relação ao atraso na regularização</a:t>
            </a:r>
          </a:p>
          <a:p>
            <a:r>
              <a:t>CNPJ 62552447000120 · Conta de arrecadação e risco de trânsito · Condição: Documentos atuais selecionados no inventário por categoria/escopo; a data documental isolada não comprova vigência jurídica.</a:t>
            </a:r>
          </a:p>
          <a:p>
            <a:r>
              <a:t>CNPJ 62552447000120 · Conta de arrecadação e risco de trânsito · Motivo: Cláusula primária localizada e citada, mas sua lista/condições extensas não admitem uma síntese literal curta confirmada. O trecho integral permanece nas fontes.</a:t>
            </a:r>
          </a:p>
          <a:p>
            <a:r>
              <a:t>CNPJ 62552447000120 · Conta de arrecadação e risco de trânsito · Versão e prevalência: Documentos atuais selecionados no inventário por categoria/escopo; a data documental isolada não comprova vigência jurídica.</a:t>
            </a:r>
          </a:p>
          <a:p>
            <a:r>
              <a:t>CNPJ 63953620000165 · Conta de arrecadação e risco de trânsito · Anexo ao Regulamento · ID 1222863 · 2026-06-02 · versão 1 · p. 28 · https://fnet.bmfbovespa.com.br/fnet/publico/visualizarDocumento?id=1222863</a:t>
            </a:r>
          </a:p>
          <a:p>
            <a:r>
              <a:t>CNPJ 63953620000165 · Conta de arrecadação e risco de trânsito · Excerto da fonte:</a:t>
            </a:r>
          </a:p>
          <a:p>
            <a:r>
              <a:t>Creditórios endossados à Classe não sejam pagos integralmente pelos respectivos Devedores em virtude  de qualquer problema de natureza comercial entre o Devedor e o Endossante, e este último não reembolse  à Classe o montante em moeda nacional correspondente ao valor dos Direitos Creditórios mencionados,  os resultados da Classe poderão ser afetados negativamente.</a:t>
            </a:r>
          </a:p>
          <a:p>
            <a:r>
              <a:t> Outros Riscos</a:t>
            </a:r>
          </a:p>
          <a:p>
            <a:r>
              <a:t> (i) Risco relativo à elegibilidade dos Direitos Creditórios: mesmo que os Direitos Creditórios cumpram com  todas as condições de endosso e declarações e garantias estabelecidas no Contrato de Endosso e os  Critérios de Elegibilidade aqui estabelecidos, não é possível afirmar que essas condições de endosso,  declarações e garantias e os Critérios de Elegibilidade sejam suficientes para garantir a satisfação e o  pagamento dos Direitos Creditórios. Além disso, não é possível assegurar que o Gestor verificará  adequadamente a conformidade dos Direitos Creditórios com os Critérios de Elegibilidade e as condições  de endosso, ou que as declarações e garantias prestadas pelo Endossante e pelo Agente de  Retenção/Cobrança em relação aos Direitos Creditórios sejam verdadeiras e exatas. A verificação  inadequada dos Elegibilidade e das condições de endosso, bem como a falsidade ou inexatidão das  declarações e garantias referentes aos Direitos Creditórios poderão resultar na compra de Direitos  Creditórios inelegíveis pela Classe, e as medidas disponíveis no âmbito do Contrato de Endosso poderão  não ser suficientes para manter a Classe protegida de perdas decorrentes de tal verificação inadequada ou  falsidade/inexatidão. Caso os Direitos Creditórios não sejam pagos pontualmente pelos Devedores ou os  Direitos Creditórios não tenham o desempenho esperado pela Classe, o patrimônio da Classe poderá ser  afetado adversamente.</a:t>
            </a:r>
          </a:p>
          <a:p>
            <a:r>
              <a:t> (ii) Risco de invalidade ou ineficácia do endosso: o endosso dos Direitos Creditórios à Classe poderá ser  invalidada ou considerada ineficaz, o que impacta negativamente o patrimônio da Classe, no caso de (a)  fraude contra credores, se no momento do endosso o Endossante for insolvente ou se ele vier a se tornar  insolvente; (b) fraude à execução, se (1) no momento do endosso o Endossante for réu em um processo  judicial capaz de torná-lo insolvente; ou (2) os Direitos Creditórios endossados à Classe estiverem sujeitos  a qualquer demanda judicial baseada em garantia real; e (c) fraude à execução fiscal, se o Endossante, ao  celebrar o endosso de crédito, como contribuinte por débito à Fazenda Pública, e crédito fiscal  regularmente inscrito na dívida ativa, não tiver ativos para pagamento total da dívida fiscal. Entretanto, o  Administrador, o Custodiante, o Gestor e o Agente de Retenção/ Cobrança não verificarão os eventos  acima no endosso de Direito Creditório e não serão responsabilizados em caso de invalidação ou ineficácia  do endosso de um Direito Creditório à Classe.</a:t>
            </a:r>
          </a:p>
          <a:p>
            <a:r>
              <a:t> (iii) Risco de impugnação judicial: a CCB poderá ser impugnada judicialmente tanto no que diz respeito à sua  formalização quanto às taxas aplicadas e à forma de cobrança da CCB, inclusive em virtude das disposições  estabelecidas na Lei nº 8.078, de 11 de setembro de 1990, conforme alterada (Código de Defesa do  Consumidor), tais como uma possível impugnação de cláusula abusiva, bem como qualquer vício nos  Documentos Comprobatórios ou Documentos Suporte que impeçam a exigibilidade do crédito (ausência  de assinaturas ou falta de prova de formalização regular do instrumento, representação ilegítima, dentre  outros). Nesses casos, a CCB poderá ser modificada ou cancelada em virtude de decisão judicial, o que  poderá acarretar perdas para a Classe e, consequentemente, afetar negativamente a rentabilidade de seu  patrimônio.</a:t>
            </a:r>
          </a:p>
          <a:p>
            <a:r>
              <a:t> (iv) Risco de restrições de natureza legal ou regulamentar: a Classe pode estar sujeita a riscos, além do  controle do Administrador, decorrentes de quaisquer restrições futuras de natureza legal e/ou  regulamentar que venham a afetar a validade da constituição e/ou o endosso dos Direitos Creditórios à  Classe. Caso essas restrições ocorram, o fluxo de cessões de Direitos Creditórios à Classe pode ser  interrompido e, portanto, pode comprometer a continuidade da Classe e a perspectiva de investimento  do Cotista. Além disso, os Direitos Creditórios que já estão na Carteira podem ter sua validade questionada,  o que pode causar, portanto, prejuízos ao Cotista.</a:t>
            </a:r>
          </a:p>
          <a:p>
            <a:r>
              <a:t> (v) Risco de bloqueio da Conta de Cobrança da Classe ou da Conta de Movimentação da Classe: os recursos  provenientes da Classe serão direcionados para a Conta de Cobrança da Classe e, de forma extraordinária,  para a Conta de Movimentação da Classe. Em caso de intervenção ou liquidação extrajudicial das  instituições financeiras onde a Conta de Cobrança da Classe e a Conta de Movimentação da Classe são</a:t>
            </a:r>
          </a:p>
          <a:p>
            <a:r>
              <a:t>CNPJ 63953620000165 · Conta de arrecadação e risco de trânsito · Condição: Documentos atuais selecionados no inventário por categoria/escopo; a data documental isolada não comprova vigência jurídica.</a:t>
            </a:r>
          </a:p>
          <a:p>
            <a:r>
              <a:t>CNPJ 63953620000165 · Conta de arrecadação e risco de trânsito · Motivo: Cláusula primária localizada e citada, mas sua lista/condições extensas não admitem uma síntese literal curta confirmada. O trecho integral permanece nas fontes.</a:t>
            </a:r>
          </a:p>
          <a:p>
            <a:r>
              <a:t>CNPJ 63953620000165 · Conta de arrecadação e risco de trânsito · Versão e prevalência: Documentos atuais selecionados no inventário por categoria/escopo; a data documental isolada não comprova vigência jurídica.</a:t>
            </a:r>
          </a:p>
          <a:p>
            <a:r>
              <a:t>CNPJ 63953620000165 · Conta de arrecadação e risco de trânsito · Resumo do histórico: {"count": 2, "dates": ["2026-02-19", "2026-05-15"], "document_count": 2, "sources": [{"document_id": "1327859", "title": "Demonstrações Financeiras - Fusão, cisão e incorporação", "reference_date": "2026-05-15", "version": "1", "page": 22, "url": "https://fnet.bmfbovespa.com.br/fnet/publico/visualizarDocumento?id=1327859", "sha256": "dca1c68babb97f887528c3e2e47596a9c30f507b067981a35655b2f2da9c8054"}, {"document_id": "1200324", "title": "Demonstrações Financeiras - Fusão, cisão e incorporação", "reference_date": "2026-02-19", "version": "1", "page": 22, "url": "https://fnet.bmfbovespa.com.br/fnet/publico/visualizarDocumento?id=1200324", "sha256": "aba4246af804161a6cb22052dc79425be7591e0bb7df5467cda6487f249272fc"}], "reference": {"path": "history/63953620000165.json", "criterion_id": "collection_account", "total_count": 2, "preview_count": 2, "full_text_deferred": true, "sha256": "a7b89077f5e21098c2d601c303faabc3ff6b9729f89d8afecdc60fe1404720c1"}}</a:t>
            </a:r>
          </a:p>
          <a:p>
            <a:r>
              <a:t>CNPJ 54871427000194 · Verificação de lastro e amostragem · Regulamento · ID 670691 · 28/04/2024 · versão Regulamento — referência 28/04/2024 · p. 10 · Anexo I, 4.7.1 · https://fnet.bmfbovespa.com.br/fnet/publico/visualizarDocumento?id=670691</a:t>
            </a:r>
          </a:p>
          <a:p>
            <a:r>
              <a:t>CNPJ 54871427000194 · Verificação de lastro e amostragem · Excerto da fonte:</a:t>
            </a:r>
          </a:p>
          <a:p>
            <a:r>
              <a:t>4.7.1 Os Documentos Comprobatórios deverão ser disponibilizados pelo respectivo Endossante (a) no prazo de 10 (dez) dias contados da Data de Aquisição dos 50 (cinquenta) casos que sejam solicitados pelo GESTOR, a seu exclusivo critério, (b) a totalidade dos demais Documentos Comprobatórios em f ormato digital em até 90 (noventa) dias a contar da Data de Aquisição, bem como dos Documentos Comprobatórios em formato físico relativos aos Direitos Creditórios que eventualmente estejam inadimplidos em ref erida data, e (c) a totalidade dos demais Documentos Comprobatórios em f ormato f ísico em até 180 (cento e oitenta) dias a contar da Data de Aquisição, sujeito à resolução do respectivo endosso, de acordo com os termos do Contrato de Endosso. 4.7.2 Caso um Direito Creditório cedido à Classe deixe de atender quaisquer Critérios de Elegibilidade e/ou quaisquer declarações e garantias ref erentes a esse Direito Creditório, conf orme previsto no respectivo Contrato de Endosso, após seu endosso à Classe, não haverá coobrigação nem direito de regresso da Classe contra o ADMINISTRADOR, o CUSTODIANTE o GESTOR e/ou o En</a:t>
            </a:r>
          </a:p>
          <a:p>
            <a:r>
              <a:t>CNPJ 54871427000194 · Verificação de lastro e amostragem · Regulamento · ID 670691 · 28/04/2024 · versão Regulamento — referência 28/04/2024 · p. 24 · Anexo I, 12.15 e 12.19(iv)–(v) · https://fnet.bmfbovespa.com.br/fnet/publico/visualizarDocumento?id=670691</a:t>
            </a:r>
          </a:p>
          <a:p>
            <a:r>
              <a:t>CNPJ 54871427000194 · Verificação de lastro e amostragem · Excerto da fonte:</a:t>
            </a:r>
          </a:p>
          <a:p>
            <a:r>
              <a:t>12.15 No âmbito das diligências relacionadas à aquisição de Direitos Creditórios caracterizados como direitos e títulos representativos de crédito, conforme referidos na alínea “a” do inciso XII do art. 2º do Anexo Normativo II da Resolução CVM 175, o GESTOR deve verificar a existência, integridade e titularidade do lastro, de f orma integral, utilizando modelo estatístico consistente e passível de verif icação, 12.16 O GESTOR pode contratar terceiros para ef etuar a verif icação do lastro, inclusive a entidade registradora, o CUSTODIANTE ou consultoria especializada, caso aplicável, devendo constar do contrato de prestação de serviços as regras e procedimentos aplicáveis à verif icação, sendo que o GESTOR será responsável pela fiscalização da atuação do agente contratado no tocante à observância às regras e procedimentos aplicáveis à verif icação. Custódia e Verificação do Lastro quando do inadimplemento ou substituição dos Direitos Creditórios 12.17 Caso a classe aplique recursos em Direitos Creditórios que não sejam passíveis de registro em entidade registradora na data deste Regulamento, o ADMINISTRADOR deve contratar o serviço de custódia para a Carteira. 12.18 Os serviços de custódia qualificada dos Direitos Creditóri</a:t>
            </a:r>
          </a:p>
          <a:p>
            <a:r>
              <a:t>CNPJ 54871427000194 · Verificação de lastro e amostragem · Condição: A entrega escalonada dos comprovantes é distinta da verificação integral prevista. O Complemento 2 contém recuperação/cobrança; não contém uma amostragem estatística de lastro.</a:t>
            </a:r>
          </a:p>
          <a:p>
            <a:r>
              <a:t>CNPJ 54871427000194 · Verificação de lastro e amostragem · Versão e prevalência: Leitura específica das cláusulas indicadas; condições e conflitos preservados. Seleção documental atual não comprova vigência jurídica por data isolada.</a:t>
            </a:r>
          </a:p>
          <a:p>
            <a:r>
              <a:t>CNPJ 54871427000194 · Verificação de lastro e amostragem · Resumo do histórico: {"count": 1, "dates": ["2024-04-19"], "document_count": 1, "sources": [{"document_id": "670689", "title": "Regulamento", "reference_date": "2024-04-19", "version": "1", "page": 45, "url": "https://fnet.bmfbovespa.com.br/fnet/publico/visualizarDocumento?id=670689", "sha256": "891bc9bc5d87bbc02ec139077a84d2702eb81ea02035fb71d24f5b8366b94a0b"}], "reference": {"path": "history/54871427000194.json", "criterion_id": "collateral_check", "total_count": 1, "preview_count": 1, "full_text_deferred": true, "sha256": "35d7cd99be50c7287c9fb675cf4f2e736002315295a225a9efa79c8d9186d874"}}</a:t>
            </a:r>
          </a:p>
          <a:p>
            <a:r>
              <a:t>CNPJ 60010416000112 · Verificação de lastro e amostragem · Regulamento · ID 1051393 · 09/10/2025 · versão Regulamento09/10/2025 · p. 59 · Complemento7itens1–4 · https://fnet.bmfbovespa.com.br/fnet/publico/visualizarDocumento?id=1051393</a:t>
            </a:r>
          </a:p>
          <a:p>
            <a:r>
              <a:t>CNPJ 60010416000112 · Verificação de lastro e amostragem · Excerto da fonte:</a:t>
            </a:r>
          </a:p>
          <a:p>
            <a:r>
              <a:t>1. O Gestor deverá realizar a verif icação dos Documentos Comprobatórios relativos aos Direitos Creditórios adquiridos pela Classe trimestralmente; sendo certo que o Endossante e/ou o Agente de Retenção/Cobrança, conforme o caso, deverão enviar os Documentos Comprobatórios para o Gestor, conf orme def inido nos itens conf orme def inido nos itens 11.16 e 11.17 do Anexo I. 2. Observado o disposto no inciso (i) do item 3 abaixo, numa data-base pré-estabelecida, será selecionada uma amostra aleatória simples para a determinação de um intervalo de confiança para a proporção de eventuais f alhas, baseado numa distribuição binomial aproxi</a:t>
            </a:r>
          </a:p>
          <a:p>
            <a:r>
              <a:t>CNPJ 60010416000112 · Verificação de lastro e amostragem · Versão e prevalência: Leitura específica das cláusulas indicadas; condições e conflitos preservados. Seleção documental atual não comprova vigência jurídica por data isolada.</a:t>
            </a:r>
          </a:p>
          <a:p>
            <a:r>
              <a:t>CNPJ 60010416000112 · Verificação de lastro e amostragem · Resumo do histórico: {"count": 1, "dates": ["2025-03-20"], "document_count": 1, "sources": [{"document_id": "993786", "title": "Regulamento", "reference_date": "2025-03-20", "version": "1", "page": 38, "url": "https://fnet.bmfbovespa.com.br/fnet/publico/visualizarDocumento?id=993786", "sha256": "fd0fdd369a195510d81f81f505195a0b09e5f43522a990afa7d58c4f872921c8"}], "reference": {"path": "history/60010416000112.json", "criterion_id": "collateral_check", "total_count": 1, "preview_count": 1, "full_text_deferred": true, "sha256": "8e2bd813f4c51cf01f6bfaad164bafe69d2bbb192f753eac92da3a01c2e63046"}}</a:t>
            </a:r>
          </a:p>
          <a:p>
            <a:r>
              <a:t>CNPJ 62696791000193 · Verificação de lastro e amostragem · Regulamento · ID 1143317 · 20/03/2026 · versão Regulamento — referência 20/03/2026 · p. 13 · Anexo I, 4.15–4.19 · https://fnet.bmfbovespa.com.br/fnet/publico/visualizarDocumento?id=1143317</a:t>
            </a:r>
          </a:p>
          <a:p>
            <a:r>
              <a:t>CNPJ 62696791000193 · Verificação de lastro e amostragem · Excerto da fonte:</a:t>
            </a:r>
          </a:p>
          <a:p>
            <a:r>
              <a:t>4.15 Os serviços de custódia qualif icada dos Direitos Creditórios do Agronegócio não registrados em entidade registradora, bem como a guarda física dos originais dos Direitos Creditórios do Agronegócio e dos Documentos Comprobatórios, serão prestados pelo Custodiante. 4.16 São atribuições do Custodiante, observado o disposto neste Regulamento e na regulamentação aplicável: (i) realizar a liquidação física ou eletrônica e financeira dos Direitos Creditórios do Agronegócio; (ii) cobrar e receber, em nome da classe, pagamentos, resgate de títulos ou qualquer outro rendimento relativo aos ativos da Carteira, depositando os valores recebidos diretamente em conta de titularidade da classe ou, se f or o caso, em conta vinculada; e (iii) realizar a guarda da documentação relativa ao lastro dos Direitos Creditórios do Agronegócio. 4.17 Em razão de a Classe possuir significativa quantidade de Direitos Creditórios do Agronegócio cedidos e expressiva diversificação de devedores e de Cedentes, além de atuar em vários segmentos, o Custodiante está autorizado a ef etuar a verif icação do lastro dos Direitos Creditórios do Agronegócio por amostragem, sempre que permitido pel</a:t>
            </a:r>
          </a:p>
          <a:p>
            <a:r>
              <a:t>CNPJ 62696791000193 · Verificação de lastro e amostragem · Condição: O PDF obtido termina no Complemento I (Fatores de Risco); Complemento II, referenciado para parâmetros de amostragem, não está incluído. Não atribuir confiança 95%/erro 5% por analogia.</a:t>
            </a:r>
          </a:p>
          <a:p>
            <a:r>
              <a:t>CNPJ 62696791000193 · Verificação de lastro e amostragem · Versão e prevalência: Leitura específica das cláusulas indicadas; condições e conflitos preservados. Seleção documental atual não comprova vigência jurídica por data isolada.</a:t>
            </a:r>
          </a:p>
          <a:p>
            <a:r>
              <a:t>CNPJ 55563624000109 · Verificação de lastro e amostragem · Regulamento · ID 1192614 · 30/04/2026 · versão Regulamento30/04/2026 · p. 12 · AnexoI4.5–4.6 · https://fnet.bmfbovespa.com.br/fnet/publico/visualizarDocumento?id=1192614</a:t>
            </a:r>
          </a:p>
          <a:p>
            <a:r>
              <a:t>CNPJ 55563624000109 · Verificação de lastro e amostragem · Excerto da fonte:</a:t>
            </a:r>
          </a:p>
          <a:p>
            <a:r>
              <a:t>4.5 Uma vez que o investimento nas Cotas da Classe Investida não corresponde a um investimento direto em direitos creditórios, uma série de disposições comuns à securitização de direitos creditórios não será aplicável ao investimento nas Cotas da Classe Investida. A título meramente exemplificativo, não existem processos de originação ou política de concessão de crédito adotada pelo GESTOR, tampouco há que se falar em verificação ou guarda de documentos comprobatórios que não sejam referentes às Cotas da Classe Investida. Da mesma forma, não há necessida</a:t>
            </a:r>
          </a:p>
          <a:p>
            <a:r>
              <a:t>CNPJ 55563624000109 · Verificação de lastro e amostragem · Regulamento · ID 1192614 · 30/04/2026 · versão Regulamento30/04/2026 · p. 28 · AnexoI12.22–12.24 · https://fnet.bmfbovespa.com.br/fnet/publico/visualizarDocumento?id=1192614</a:t>
            </a:r>
          </a:p>
          <a:p>
            <a:r>
              <a:t>CNPJ 55563624000109 · Verificação de lastro e amostragem · Excerto da fonte:</a:t>
            </a:r>
          </a:p>
          <a:p>
            <a:r>
              <a:t>12.22 Os Documentos Comprobatórios relativos às Cotas da Classe Investida integrantes da Carteira inadimplidos e/ou substituídos num dado trimestre serão, no referido trimestre, objeto de verificação individualizada e integral pelo CUSTODIANTE ou terceiro por ele contratado. 12.23 Eventuais vícios verificados nos Documentos Comprobatórios que evidenciam o lastro dos Direitos Creditórios serão comunicados por escrito pelo CUSTODIANTE ao ADMINISTRADOR em até 5 (cinco) Dias Úteis da sua verificação, para que sejam tomadas as medidas necessárias. Cobrança da</a:t>
            </a:r>
          </a:p>
          <a:p>
            <a:r>
              <a:t>CNPJ 55563624000109 · Verificação de lastro e amostragem · Versão e prevalência: Leitura específica das cláusulas indicadas; condições e conflitos preservados. Seleção documental atual não comprova vigência jurídica por data isolada.</a:t>
            </a:r>
          </a:p>
          <a:p>
            <a:r>
              <a:t>CNPJ 62552447000120 · Verificação de lastro e amostragem · Regulamento · ID 1200623 · 21/05/2026 · versão Consolidado21/05/2026 aprovado pelo ato1200625 · p. 41 · ComplementoIIitens1–4 · https://fnet.bmfbovespa.com.br/fnet/publico/visualizarDocumento?id=1200623</a:t>
            </a:r>
          </a:p>
          <a:p>
            <a:r>
              <a:t>CNPJ 62552447000120 · Verificação de lastro e amostragem · Excerto da fonte:</a:t>
            </a:r>
          </a:p>
          <a:p>
            <a:r>
              <a:t>1. O Gestor deverá realizar a verif icação dos Documentos Comprobatórios relativos aos Direitos Creditórios adquiridos pela Classe trimestralmente; sendo certo que o Endossante e/ou o Agente de Retenção/Cobrança, conforme o caso, deverão enviar os Documentos Comprobat órios para o Gestor. 2. Observado o disposto no inciso (i) do item 3 abaixo, numa data-base pré-estabelecida, será selecionada uma amostra aleatória simples para a determinação de um intervalo de confiança para a proporção de eventuais falhas, baseado numa distribuição binomial aproximada a uma distribuição normal com 95% (noventa e cinco por cento) de nível de confian</a:t>
            </a:r>
          </a:p>
          <a:p>
            <a:r>
              <a:t>CNPJ 62552447000120 · Verificação de lastro e amostragem · Regulamento · ID 1200623 · 21/05/2026 · versão Consolidado21/05/2026 aprovado pelo ato1200625 · p. 29 · AnexoI12.12–12.13 · https://fnet.bmfbovespa.com.br/fnet/publico/visualizarDocumento?id=1200623</a:t>
            </a:r>
          </a:p>
          <a:p>
            <a:r>
              <a:t>CNPJ 62552447000120 · Verificação de lastro e amostragem · Excerto da fonte:</a:t>
            </a:r>
          </a:p>
          <a:p>
            <a:r>
              <a:t>12.12 Os Documentos Comprobatórios relativos aos Direitos Creditórios integrantes da Carteira inadimplidos e/ou substituídos num dado trimestre serão, no ref erido trimestre, objeto de verificação individualizada e integral pelo Custodiante ou terceiro por ele contratado. 12.13 Eventuais vícios verificados nos Documentos Comprobatórios que evidenciam o lastro dos Direitos Creditórios serão comunicados por escrito pelo Custodiante ao Administrador em até 5 (cinco) Dias Úteis da sua verif icação, para que sejam tomadas as medidas necessárias. Retenção e Cobrança dos Direitos Creditórios Inadimplidos 12.14 A Classe contra</a:t>
            </a:r>
          </a:p>
          <a:p>
            <a:r>
              <a:t>CNPJ 62552447000120 · Verificação de lastro e amostragem · Versão e prevalência: Leitura específica das cláusulas indicadas; condições e conflitos preservados. Seleção documental atual não comprova vigência jurídica por data isolada.</a:t>
            </a:r>
          </a:p>
          <a:p>
            <a:r>
              <a:t>CNPJ 63953620000165 · Verificação de lastro e amostragem · Anexo ao Regulamento · ID 1222863 · 2026-06-02 · versão 1 · p. 30 · https://fnet.bmfbovespa.com.br/fnet/publico/visualizarDocumento?id=1222863</a:t>
            </a:r>
          </a:p>
          <a:p>
            <a:r>
              <a:t>CNPJ 63953620000165 · Verificação de lastro e amostragem · Excerto da fonte:</a:t>
            </a:r>
          </a:p>
          <a:p>
            <a:r>
              <a:t>Complemento II  (Ao Anexo I)  PARÂMETROS PARA A VERIFICAÇÃO DO LASTRO POR AMOSTRAGEM  1. O Gestor deverá realizar a verificação dos Documentos Comprobatórios relativos aos Direitos Creditórios adquiridos pela  Classe trimestralmente; sendo certo que o Endossante e/ou o Agente de Retenção/Cobrança, conforme o caso, deverão  enviar os Documentos Comprobatórios para o Gestor, conforme definido nos itens conforme definido nos itens 11.16 e</a:t>
            </a:r>
          </a:p>
          <a:p>
            <a:r>
              <a:t>CNPJ 63953620000165 · Verificação de lastro e amostragem · Anexo ao Regulamento · ID 1222863 · 2026-06-02 · versão 1 · p. 30 · 11.17 · https://fnet.bmfbovespa.com.br/fnet/publico/visualizarDocumento?id=1222863</a:t>
            </a:r>
          </a:p>
          <a:p>
            <a:r>
              <a:t>CNPJ 63953620000165 · Verificação de lastro e amostragem · Excerto da fonte:</a:t>
            </a:r>
          </a:p>
          <a:p>
            <a:r>
              <a:t>11.17 do Anexo I.</a:t>
            </a:r>
          </a:p>
          <a:p>
            <a:r>
              <a:t> 2. Observado o disposto no inciso (i) do item 3 abaixo, numa data-base pré-estabelecida, será selecionada uma amostra  aleatória simples para a determinação de um intervalo de confiança para a proporção de eventuais falhas, baseado numa  distribuição binomial aproximada a uma distribuição normal com 95% (noventa e cinco por cento) de nível de confiança,  visando a uma margem de erro de 5% (cinco por cento), independentemente do cedente dos Direitos Creditórios.</a:t>
            </a:r>
          </a:p>
          <a:p>
            <a:r>
              <a:t> 3. O escopo da análise da documentação que evidencia o lastro dos Direitos Creditórios contempla a verificação da  existência dos respectivos Documentos Comprobatórios, conforme abaixo discriminado:</a:t>
            </a:r>
          </a:p>
          <a:p>
            <a:r>
              <a:t> i. obtenção de base de dados analítica por Direitos Creditórios integrantes da Carteira;</a:t>
            </a:r>
          </a:p>
          <a:p>
            <a:r>
              <a:t> ii. seleção de uma amostra de acordo com as fórmulas abaixo</a:t>
            </a:r>
          </a:p>
          <a:p>
            <a:r>
              <a:t>CNPJ 63953620000165 · Verificação de lastro e amostragem · Anexo ao Regulamento · ID 1222863 · 2026-06-02 · versão 1 · p. 26 · https://fnet.bmfbovespa.com.br/fnet/publico/visualizarDocumento?id=1222863</a:t>
            </a:r>
          </a:p>
          <a:p>
            <a:r>
              <a:t>CNPJ 63953620000165 · Verificação de lastro e amostragem · Excerto da fonte:</a:t>
            </a:r>
          </a:p>
          <a:p>
            <a:r>
              <a:t>Complemento I  (Ao Anexo I)  FATORES DE RISCO APLICÁVEIS À CLASSE CONSIGNADO PRIVADO DO MT GLOBAL FUNDO DE INVESTIMENTO EM  DIREITOS CREDITÓRIOS RESPONSABILIDADE LIMITADA  Risco de Crédito</a:t>
            </a:r>
          </a:p>
          <a:p>
            <a:r>
              <a:t> (i) Riscos associados aos Devedores: os Direitos Creditórios a serem endossados à Classe serão descontados  pela Dataprev da remuneração do Devedor. A capacidade de pagamento do Devedor poderá ser afetada se,  por exemplo, o Devedor tiver o seu contrato de emprego rescindido ou em virtude de decisão judicial, o  Devedor for obrigado a pagar alimentos, que têm prioridade sobre o empréstimo para fins de desconto na  folha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afetar a rentabilidade da Classe.</a:t>
            </a:r>
          </a:p>
          <a:p>
            <a:r>
              <a:t> (ii)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referido Devedor poderá  ficar inadimplente e, consequentemente, não haverá repasse à Classe do respectivo Direito Creditório, o  que poderá resultar em perdas financeiras à Classe e aos Cotistas.</a:t>
            </a:r>
          </a:p>
          <a:p>
            <a:r>
              <a:t> (iii) Risco do Empregador não efetuar o desconto em folha: o repasse dos recursos oriundos dos Direitos  Creditórios à Classe depende da realização, pelo Empregador, da Escrituração e do desconto na respectiva  folha de pagamento do Devedor. Na hipótese do Empregador deixar de realizar a Escrituração ou os  descontos na folha de pagamento, não haverá repasse de recursos à Classe, podendo causar prejuízos à  Classe e aos Cotistas.</a:t>
            </a:r>
          </a:p>
          <a:p>
            <a:r>
              <a:t> (iv) Risco de perda do vínculo empregatício com o Empregador: caso o Devedor perca o vínculo empregatício  com o Empregador, não haverá remuneração e folha de pagamento para realização dos descontos para  pagamento dos Direitos Creditórios. Neste caso, não obstante a possibilidade do Agente de  Retenção/Cobrança realizar a cobrança ativa dos Direitos Creditórios diretamente do Devedor, a ausência  de remuneração poderá deixar o Devedor inadimplente perante a Classe até que o seu vínculo empregatício  seja retomado e seja efetuado o procedimento operacional para que a CCB seja aditada e/ou seja realizado  o Processo de Reinicialização. Tais situações poderão resultar em prejuízos à Classe e aos Cotistas.</a:t>
            </a:r>
          </a:p>
          <a:p>
            <a:r>
              <a:t> Riscos Operacionais</a:t>
            </a:r>
          </a:p>
          <a:p>
            <a:r>
              <a:t> (i) Risco de irregularidade dos Documentos Comprobatórios e/ou Documentos Suporte: o Gestor, ou  terceiro por ele contratado, deverá realizar a verificação da regularidade dos Documentos Comprobatórios  e Documentos Suporte. A Carteira poderá conter Direitos Creditórios com documentação irregular, o que  poderá impedir que a Classe exerça plenamente as prerrogativas derivadas da titularidade dos Direitos  Creditórios. O Gestor poderá contratar empresas especializadas, com comprovada competência e  adequação, para realizar a guarda física, manutenção, armazenamento, organização e digitalização dos  Documentos Comprobatórios e Documentos Suporte, que estarão sob total responsabilidade do Gestor,  permanecendo as empresas como agentes depositários dos Documentos Comprobatórios e Documentos  Suporte.</a:t>
            </a:r>
          </a:p>
          <a:p>
            <a:r>
              <a:t> (ii) Risco operacional da Dataprev e da CEF: o empréstimo contraído pelos Devedores é pago por meio de  desconto na folha de pagamento feito pela Dataprev e pela CEF, conforme aplicável. É possível que os  rendimentos dos Devedores sejam atrasados ou não pagos devido a questões operacionais envolvendo a  Dataprev e/ou a CEF. Nesse caso, a Carteira poderá sofrer, já que não receberá automaticamente, e  também poderá ter dificuldades para receber, a qualquer momento, os recursos decorrentes dos Direitos  Creditórios.</a:t>
            </a:r>
          </a:p>
          <a:p>
            <a:r>
              <a:t>CNPJ 63953620000165 · Verificação de lastro e amostragem · Condição: Documentos atuais selecionados no inventário por categoria/escopo; a data documental isolada não comprova vigência jurídica.</a:t>
            </a:r>
          </a:p>
          <a:p>
            <a:r>
              <a:t>CNPJ 63953620000165 · Verificação de lastro e amostragem · Versão e prevalência: Documentos atuais selecionados no inventário por categoria/escopo; a data documental isolada não comprova vigência jurídica.</a:t>
            </a:r>
          </a:p>
          <a:p>
            <a:r>
              <a:t>CNPJ 63953620000165 · Verificação de lastro e amostragem · Resumo do histórico: {"count": 8, "dates": ["2026-04-28", "2026-05-08", "2026-05-15"], "document_count": 3, "sources": [{"document_id": "1327859", "title": "Demonstrações Financeiras - Fusão, cisão e incorporação", "reference_date": "2026-05-15", "version": "1", "page": 22, "url": "https://fnet.bmfbovespa.com.br/fnet/publico/visualizarDocumento?id=1327859", "sha256": "dca1c68babb97f887528c3e2e47596a9c30f507b067981a35655b2f2da9c8054"}, {"document_id": "1298691", "title": "Demonstrações Financeiras - Fusão, cisão e incorporação", "reference_date": "2026-05-08", "version": "1", "page": 17, "url": "https://fnet.bmfbovespa.com.br/fnet/publico/visualizarDocumento?id=1298691", "sha256": "58c570d9b8d4d265330d3db3ea81c435b8e44a6dab4002aa37790652a1ee9819"}, {"document_id": "1282180", "title": "Demonstrações Financeiras - Fusão, cisão e incorporação", "reference_date": "2026-04-28", "version": "1", "page": 17, "url": "https://fnet.bmfbovespa.com.br/fnet/publico/visualizarDocumento?id=1282180", "sha256": "afaaa0e6809be4385e5bdb6c911aac582032c5bdbac3d7750234bf9eaf00438a"}], "reference": {"path": "history/63953620000165.json", "criterion_id": "collateral_check",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Garantias e operação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Garantias e constituição · Demonstrações Financeiras - Fusão, cisão e incorporação · ID 1219522 · 2026-02-02 · versão 1 · p. 21 · https://fnet.bmfbovespa.com.br/fnet/publico/visualizarDocumento?id=1219522</a:t>
            </a:r>
          </a:p>
          <a:p>
            <a:r>
              <a:t>CNPJ 54871427000194 · Garantias e constituição · Excerto da fonte:</a:t>
            </a:r>
          </a:p>
          <a:p>
            <a:r>
              <a:t>Em 02 de fevereiro de 2026, a Classe não possuía garantias reais ou fidejussórias, pela liquidação  dos direitos creditórios.</a:t>
            </a:r>
          </a:p>
          <a:p>
            <a:r>
              <a:t>CNPJ 54871427000194 · Garantias e constituição · Condição: Trechos do documento específico identificado com data mais recente; vigência jurídica não inferida.</a:t>
            </a:r>
          </a:p>
          <a:p>
            <a:r>
              <a:t>CNPJ 54871427000194 · Garantias e constituição · Versão e prevalência: Trechos do documento específico identificado com data mais recente; vigência jurídica não inferida.</a:t>
            </a:r>
          </a:p>
          <a:p>
            <a:r>
              <a:t>CNPJ 54871427000194 · Garantias e constituição · Resumo do histórico: {"count": 5, "dates": ["2024-12-31", "2025-01-01", "2025-12-31"], "document_count": 3, "sources": [{"document_id": "1151805", "title": "Demonstrações Financeiras", "reference_date": "2025-12-31", "version": "1", "page": 21, "url": "https://fnet.bmfbovespa.com.br/fnet/publico/visualizarDocumento?id=1151805", "sha256": "f1cea70b152968bf96ef9221b27225953cb20aeef487b2798db3c25e11b528d4"}, {"document_id": "869529", "title": "Demonstrações Financeiras", "reference_date": "2025-01-01", "version": "1", "page": 20, "url": "https://fnet.bmfbovespa.com.br/fnet/publico/visualizarDocumento?id=869529", "sha256": "9a93a9369ac8efdbc54ff8fcee3ccac3abf88edab4807b9323d3852450771b2a"}, {"document_id": "870070", "title": "Demonstrações Financeiras", "reference_date": "2024-12-31", "version": "1", "page": 20, "url": "https://fnet.bmfbovespa.com.br/fnet/publico/visualizarDocumento?id=870070", "sha256": "9a93a9369ac8efdbc54ff8fcee3ccac3abf88edab4807b9323d3852450771b2a"}], "reference": {"path": "history/54871427000194.json", "criterion_id": "guarantee", "total_count": 5, "preview_count": 3, "full_text_deferred": true, "sha256": "35d7cd99be50c7287c9fb675cf4f2e736002315295a225a9efa79c8d9186d874"}}</a:t>
            </a:r>
          </a:p>
          <a:p>
            <a:r>
              <a:t>CNPJ 60010416000112 · Garantias e constituição · Demonstrações Financeiras - Fusão, cisão e incorporação · ID 1298690 · 2026-05-08 · versão 1 · p. 19 · https://fnet.bmfbovespa.com.br/fnet/publico/visualizarDocumento?id=1298690</a:t>
            </a:r>
          </a:p>
          <a:p>
            <a:r>
              <a:t>CNPJ 60010416000112 · Garantias e constituição · Excerto da fonte:</a:t>
            </a:r>
          </a:p>
          <a:p>
            <a:r>
              <a:t>Em 08 de maio de 2026, a Classe não possuía garantias reais ou fidejussórias, pela liquidação  dos Direitos Creditórios.</a:t>
            </a:r>
          </a:p>
          <a:p>
            <a:r>
              <a:t>CNPJ 60010416000112 · Garantias e constituição · Condição: Trechos do documento específico identificado com data mais recente; vigência jurídica não inferida.</a:t>
            </a:r>
          </a:p>
          <a:p>
            <a:r>
              <a:t>CNPJ 60010416000112 · Garantias e constituição · Versão e prevalência: Trechos do documento específico identificado com data mais recente; vigência jurídica não inferida.</a:t>
            </a:r>
          </a:p>
          <a:p>
            <a:r>
              <a:t>CNPJ 60010416000112 · Garantias e constituição · Resumo do histórico: {"count": 4, "dates": ["2025-11-30", "2026-03-18", "2026-04-16"], "document_count": 3, "sources": [{"document_id": "1282181", "title": "Demonstrações Financeiras - Fusão, cisão e incorporação", "reference_date": "2026-04-16", "version": "1", "page": 20, "url": "https://fnet.bmfbovespa.com.br/fnet/publico/visualizarDocumento?id=1282181", "sha256": "b1c6566e43a00bcd00c8a7f30c77b7f86e351bd8e355bbea113f46d1dafda703"}, {"document_id": "1224477", "title": "Demonstrações Financeiras - Fusão, cisão e incorporação", "reference_date": "2026-03-18", "version": "1", "page": 20, "url": "https://fnet.bmfbovespa.com.br/fnet/publico/visualizarDocumento?id=1224477", "sha256": "0751bf0a75bc3b44c2748f5000226665c6ec6698a90c4dc6170b4e6c187759ae"}, {"document_id": "1126154", "title": "Demonstrações Financeiras", "reference_date": "2025-11-30", "version": "1", "page": 21, "url": "https://fnet.bmfbovespa.com.br/fnet/publico/visualizarDocumento?id=1126154", "sha256": "a01e7ccf88c548f12c95cba8526d7efbef6b585c112cd4668eca781c292090b0"}], "reference": {"path": "history/60010416000112.json", "criterion_id": "guarantee", "total_count": 4, "preview_count": 3, "full_text_deferred": true, "sha256": "8e2bd813f4c51cf01f6bfaad164bafe69d2bbb192f753eac92da3a01c2e63046"}}</a:t>
            </a:r>
          </a:p>
          <a:p>
            <a:r>
              <a:t>CNPJ 62696791000193 · Garantias e constituição · Regulamento · ID 1143317 · 20/03/2026 · versão Regulamento — referência 20/03/2026 · p. 11 · Anexo I, 4.7(iv) · https://fnet.bmfbovespa.com.br/fnet/publico/visualizarDocumento?id=1143317</a:t>
            </a:r>
          </a:p>
          <a:p>
            <a:r>
              <a:t>CNPJ 62696791000193 · Garantias e constituição · Excerto da fonte:</a:t>
            </a:r>
          </a:p>
          <a:p>
            <a:r>
              <a:t>(iv) sejam representados por direitos e/ou títulos representativos de crédito, com ou sem garantias reais ou pessoais a eles atreladas, incluindo, sem limitação, duplicatas, debêntures, contratos de locação e contratos mercantis de compra e venda de produtos e/ ou mercadorias perf ormados e/ou para entrega ou prestação f utura, bem como títulos ou certificados representativos desses contratos, decorrentes de operações nos segmentos f inanceiro, comercial, industrial, imobiliário, de hipotecas, de arrendamento mercantil e de prestação de serviços, observadas as vedações do item 4.28 abaixo deste Anexo. 4.7.2 Para f ins da verificação dos Critérios de Elegibilidade, será considerado o Patrimônio Líquido e o valor dos Direitos Creditórios do Agronegócio integrantes da carteira no Dia Útil imediatamente anterior à Data de Aquisição. 4.7.3 Na hipótese de eventuais Direitos Creditórios do Agronegócio elegíveis deixarem de atender a qualquer Critério de Elegibilidade após sua aquisição pela Classe, tal f ato não será entendido como um desenquadramento da carteira, tampouco haverá direito de regresso contra</a:t>
            </a:r>
          </a:p>
          <a:p>
            <a:r>
              <a:t>CNPJ 62696791000193 · Garantias e constituição · Regulamento · ID 1143317 · 20/03/2026 · versão Regulamento — referência 20/03/2026 · p. 14 · Anexo I, 4.24 · https://fnet.bmfbovespa.com.br/fnet/publico/visualizarDocumento?id=1143317</a:t>
            </a:r>
          </a:p>
          <a:p>
            <a:r>
              <a:t>CNPJ 62696791000193 · Garantias e constituição · Excerto da fonte:</a:t>
            </a:r>
          </a:p>
          <a:p>
            <a:r>
              <a:t>4.24 A Classe poderá adquirir imóveis rurais sobre os quais tenham sido constituídos ônus reais anteriormente ao seu ingresso no patrimônio da Classe. Ainda, posteriormente ao seu ingresso no patrimônio da Classe, poderá o Gestor, em nome da Classe, prestar fiança, aval, aceite ou coobrigar- se sob qualquer f orma, relativamente a operações relacionadas à carteira de ativos da Classe, bem como constituir ônus reais sobre imóveis rurais integrantes do patrimônio da Classe para garantir obrigações por ela assumidas. 4.25 O Administrador, conforme orientação do Gestor, poderá utilizar recursos da classe para recomprar suas próprias cotas, com a f inalidade exclusiva de cancelamento, seja por meio de programa de recompra ou por meio de Of erta Pública Voluntária de Aquisição d e suas próprias cotas (“OPAC”), observados os procedimentos eventualmente previstos nos manuais ou regras da B3, bem como o disposto no Art. 56 e seguintes do Anexo Normativo I da Resolução CVM 175. Participações do Agronegócio 4.26 As seguintes regras são aplicáveis aos investimentos em Participações do Agronegócio realizados pela Classe. 4.26.1 Deverão ser asseguradas à Classe (i) a participação no processo deci</a:t>
            </a:r>
          </a:p>
          <a:p>
            <a:r>
              <a:t>CNPJ 62696791000193 · Garantias e constituição · Regulamento · ID 1143317 · 20/03/2026 · versão Regulamento — referência 20/03/2026 · p. 48 · Complemento I, 11.6 · https://fnet.bmfbovespa.com.br/fnet/publico/visualizarDocumento?id=1143317</a:t>
            </a:r>
          </a:p>
          <a:p>
            <a:r>
              <a:t>CNPJ 62696791000193 · Garantias e constituição · Excerto da fonte:</a:t>
            </a:r>
          </a:p>
          <a:p>
            <a:r>
              <a:t>11.6. Ausência de garantia. As aplicações realizadas na Classe não contam com garantia do Cedente, do ADMINISTRADOR, do GESTOR, do CUSTODIANTE ou da Classe Garantidor de Créditos – FGC, de modo que é possível a perda total do capital investido pelos Cotistas ou mesmo a necessidade de os Cotistas realizarem aportes adicionais de recursos para a cobertura de eventuais prejuízos. 11.7. Limitação do gerenciamento de riscos. A realização de investimentos na Classe expõe o investidor a riscos a que a Classe está sujeita, os quais poderão acarretar perdas para os Cotistas. Não há qualquer garantia de completa eliminação da possibilidade de perdas para a Classe e para os Cotistas. Em condições adversas de mercado, esses sistemas de gerenciamento de riscos poderão ter sua ef iciência reduzida. A Classe também poderá estar sujeita a outros riscos advindos de motivos alheios ou exógenos ao controle do Administrador, tais como moratória, inadimplemento de pagamentos, mudança nas regras aplicáveis aos Ativos-Alvo e Ativos Financeiros de Liquidez, alteração na política monetária, alteração da política fiscal aplicável à Classe, os quais poderão causar preju</a:t>
            </a:r>
          </a:p>
          <a:p>
            <a:r>
              <a:t>CNPJ 62696791000193 · Garantias e constituição · Versão e prevalência: Leitura específica das cláusulas indicadas; condições e conflitos preservados. Seleção documental atual não comprova vigência jurídica por data isolada.</a:t>
            </a:r>
          </a:p>
          <a:p>
            <a:r>
              <a:t>CNPJ 55563624000109 · Garantias e constituição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Garantias e constituição · Resumo do histórico: {"count": 1, "dates": ["2026-04-30"], "document_count": 1, "sources": [{"document_id": "1192614", "title": "Regulamento", "reference_date": "2026-04-30", "version": "1", "page": "12, 14", "url": "https://fnet.bmfbovespa.com.br/fnet/publico/visualizarDocumento?id=1192614", "sha256": "f56e63ace0acde41d2f47fb48f1ac7f3f7df5e2d32de092d7c5e075a52516632"}], "reference": {"path": "history/55563624000109.json", "criterion_id": "guarantee", "total_count": 1, "preview_count": 1, "full_text_deferred": true, "sha256": "7835d573fb58a3c19adf5b8ecc2aee2bdbb9a88f7a0c0209b5f262b64c7522e3"}}</a:t>
            </a:r>
          </a:p>
          <a:p>
            <a:r>
              <a:t>CNPJ 62552447000120 · Garantias e constituição · Regulamento · ID 1200623 · 21/05/2026 · versão Consolidado21/05/2026 aprovado pelo ato1200625 · p. 8 · AnexoICondições(ii)(c) · https://fnet.bmfbovespa.com.br/fnet/publico/visualizarDocumento?id=1200623</a:t>
            </a:r>
          </a:p>
          <a:p>
            <a:r>
              <a:t>CNPJ 62552447000120 · Garantias e constituição · Excerto da fonte:</a:t>
            </a:r>
          </a:p>
          <a:p>
            <a:r>
              <a:t>garantias prestadas pelo Endossante ou pelo Agente de Retenção/Cobrança com relação a esse Direito Creditório deverão ser verdadeiras, nos termos deste Contrato e do respectivo Termo de Endosso; (e) tenha sido realizado o tratamento dos dados pessoais de pessoa natural observando as leis e regulamentações que regem a privacidade e a proteção de dados pess</a:t>
            </a:r>
          </a:p>
          <a:p>
            <a:r>
              <a:t>CNPJ 62552447000120 · Garantias e constituição · Regulamento · ID 1200623 · 21/05/2026 · versão Consolidado21/05/2026 aprovado pelo ato1200625 · p. 12 · AnexoI4.3.2 · https://fnet.bmfbovespa.com.br/fnet/publico/visualizarDocumento?id=1200623</a:t>
            </a:r>
          </a:p>
          <a:p>
            <a:r>
              <a:t>CNPJ 62552447000120 · Garantias e constituição · Excerto da fonte:</a:t>
            </a:r>
          </a:p>
          <a:p>
            <a:r>
              <a:t>alienação/cessão fiduciária; e (b) solicitar bloqueio de parte do saldo da conta vinculada do Devedor. Emitida a CCB em favor do Endossante e formalizada a alienação/cessão f iduciária pelo Devedor, o Endossante endossará eletronicamente a CCB em preto à Classe, que receberá todos os valores dela decorrentes (i.e., os Direitos Creditórios FGTS), após concluídas as f ormalidades de processamento pela CEF, na Conta da Classe. Caso a alienação/cessão f iduciária seja acionada nos termos da CCB, os recursos onerados serão liberados em favor do Endossante no</a:t>
            </a:r>
          </a:p>
          <a:p>
            <a:r>
              <a:t>CNPJ 62552447000120 · Garantias e constituição · Regulamento · ID 1200623 · 21/05/2026 · versão Consolidado21/05/2026 aprovado pelo ato1200625 · p. 6 · AnexoIRefinanciamentoLivre(d) · https://fnet.bmfbovespa.com.br/fnet/publico/visualizarDocumento?id=1200623</a:t>
            </a:r>
          </a:p>
          <a:p>
            <a:r>
              <a:t>CNPJ 62552447000120 · Garantias e constituição · Excerto da fonte:</a:t>
            </a:r>
          </a:p>
          <a:p>
            <a:r>
              <a:t>Refinanciamento Livre”, na forma de CCBs originadas no âmbito de um refinanciamento, de acordo com a política de cobrança vigente, de Direitos Creditórios Consignado Privado e de Direitos Creditórios FGTS, que não contem com o lastro de Consignação ou de cessão f iduciária do Saque-Aniversário, respectivamente; e (ii) “Ativos Financei</a:t>
            </a:r>
          </a:p>
          <a:p>
            <a:r>
              <a:t>CNPJ 62552447000120 · Garantias e constituição · Regulamento · ID 1200623 · 21/05/2026 · versão Consolidado21/05/2026 aprovado pelo ato1200625 · p. 16 · AnexoI4.25 · https://fnet.bmfbovespa.com.br/fnet/publico/visualizarDocumento?id=1200623</a:t>
            </a:r>
          </a:p>
          <a:p>
            <a:r>
              <a:t>CNPJ 62552447000120 · Garantias e constituição · Excerto da fonte:</a:t>
            </a:r>
          </a:p>
          <a:p>
            <a:r>
              <a:t>4.25 As aplicações na Classe não contam com garantia: (i) do Administrador; (ii) do Gestor; (iii) do Endossante; (iv) do Custodiante; (v) dos demais prestadores de serviço da Classe; (vii) de qualquer mecanismo de seguro; e/ou (viii) do FGC. CAPÍTULO 5 – CARACTERÍSTICAS E CONDIÇÕES DAS COTAS 5.1 A Classe não possui Subclasse. As características, os direitos e as condições de emissão, distribuição, subscrição, integralização, remuneração, Amortização e resgate das Cotas estão descritos neste Capítulo e no Capítulo 6. 5.1.1 Não obstante, por deliberação conjunta dos Prestadores de Serviços Essenciais e me</a:t>
            </a:r>
          </a:p>
          <a:p>
            <a:r>
              <a:t>CNPJ 62552447000120 · Garantias e constituição · Versão e prevalência: Leitura específica das cláusulas indicadas; condições e conflitos preservados. Seleção documental atual não comprova vigência jurídica por data isolada.</a:t>
            </a:r>
          </a:p>
          <a:p>
            <a:r>
              <a:t>CNPJ 63953620000165 · Garantias e constituição · Demonstrações Financeiras - Fusão, cisão e incorporação · ID 1327859 · 2026-05-15 · versão 1 · p. 21 · https://fnet.bmfbovespa.com.br/fnet/publico/visualizarDocumento?id=1327859</a:t>
            </a:r>
          </a:p>
          <a:p>
            <a:r>
              <a:t>CNPJ 63953620000165 · Garantias e constituição · Excerto da fonte:</a:t>
            </a:r>
          </a:p>
          <a:p>
            <a:r>
              <a:t>i) Alienação de direitos creditórios  No período em findo em 15 de maio de 2026, não houve recompra de direitos creditórios  inadimplentes.</a:t>
            </a:r>
          </a:p>
          <a:p>
            <a:r>
              <a:t>j) Garantias  Em 15 de maio de 2026, a Classe não possuía garantias reais ou fidejussórias, pela liquidação  dos direitos creditórios.</a:t>
            </a:r>
          </a:p>
          <a:p>
            <a:r>
              <a:t>7. Riscos  Não obstante o emprego pela Administradora e pela Gestora de plena diligência e da boa prática  de administração e gestão da Classe, da estrita observância da política de investimento, das  regras legais e regulamentares aplicáveis à sua administração e gestão, a Classe estará sujeita  aos riscos inerentes aos bens e direitos integrantes de sua Carteira, além dos fatores de risco  identificados abaixo.</a:t>
            </a:r>
          </a:p>
          <a:p>
            <a:r>
              <a:t> Risco de Crédito</a:t>
            </a:r>
          </a:p>
          <a:p>
            <a:r>
              <a:t> (i) Riscos associados aos Devedores: os direitos creditórios a serem endossados à  classe serão descontados pela Dataprev da remuneração do devedor. A capacidade de  pagamento do devedor poderá ser afetada se, por exemplo, o devedor tiver o seu  contrato de emprego rescindido ou em virtude de decisão judicial, o devedor for obrigado  a pagar alimentos, que têm prioridade sobre o empréstimo para fins de desconto na folha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afetar a rentabilidade da classe.</a:t>
            </a:r>
          </a:p>
          <a:p>
            <a:r>
              <a:t>CNPJ 63953620000165 · Garantias e constituição · Condição: Trechos do documento específico identificado com data mais recente; vigência jurídica não inferida.</a:t>
            </a:r>
          </a:p>
          <a:p>
            <a:r>
              <a:t>CNPJ 63953620000165 · Garantias e constituição · Versão e prevalência: Trechos do documento específico identificado com data mais recente; vigência jurídica não inferida.</a:t>
            </a:r>
          </a:p>
          <a:p>
            <a:r>
              <a:t>CNPJ 63953620000165 · Garantias e constituição · Resumo do histórico: {"count": 7, "dates": ["2026-04-16", "2026-04-28", "2026-05-08"], "document_count": 3, "sources": [{"document_id": "1298691", "title": "Demonstrações Financeiras - Fusão, cisão e incorporação", "reference_date": "2026-05-08", "version": "1", "page": 21, "url": "https://fnet.bmfbovespa.com.br/fnet/publico/visualizarDocumento?id=1298691", "sha256": "58c570d9b8d4d265330d3db3ea81c435b8e44a6dab4002aa37790652a1ee9819"}, {"document_id": "1282180", "title": "Demonstrações Financeiras - Fusão, cisão e incorporação", "reference_date": "2026-04-28", "version": "1", "page": 21, "url": "https://fnet.bmfbovespa.com.br/fnet/publico/visualizarDocumento?id=1282180", "sha256": "afaaa0e6809be4385e5bdb6c911aac582032c5bdbac3d7750234bf9eaf00438a"}, {"document_id": "1282179", "title": "Demonstrações Financeiras - Fusão, cisão e incorporação", "reference_date": "2026-04-16", "version": "1", "page": 21, "url": "https://fnet.bmfbovespa.com.br/fnet/publico/visualizarDocumento?id=1282179", "sha256": "beb67afbcd64169019477673fd3b7c1edbfabbd9db07379388d8cdd5d3fc9395"}], "reference": {"path": "history/63953620000165.json", "criterion_id": "guarantee", "total_count": 7, "preview_count": 3, "full_text_deferred": true, "sha256": "a7b89077f5e21098c2d601c303faabc3ff6b9729f89d8afecdc60fe1404720c1"}}</a:t>
            </a:r>
          </a:p>
          <a:p>
            <a:r>
              <a:t>CNPJ 54871427000194 · Registro, execução e recuperação · Motivo: Não localizada uma cláusula material para este critério nos textos identificados e processados. A ausência de resultado não comprova inexistência da regra.</a:t>
            </a:r>
          </a:p>
          <a:p>
            <a:r>
              <a:t>CNPJ 60010416000112 · Registro, execução e recuperação · Motivo: Não localizada uma cláusula material para este critério nos textos identificados e processados. A ausência de resultado não comprova inexistência da regra.</a:t>
            </a:r>
          </a:p>
          <a:p>
            <a:r>
              <a:t>CNPJ 62696791000193 · Registro, execução e recuperação · Regulamento · ID 1143317 · 2026-03-20 · versão 1 · p. 45 · 8.7 · https://fnet.bmfbovespa.com.br/fnet/publico/visualizarDocumento?id=1143317</a:t>
            </a:r>
          </a:p>
          <a:p>
            <a:r>
              <a:t>CNPJ 62696791000193 · Registro, execução e recuperação · Excerto da fonte:</a:t>
            </a:r>
          </a:p>
          <a:p>
            <a:r>
              <a:t>8.7. Risco de Execução das Garantias Atreladas aos CRIs. O investimento em CRI inclui uma série  de riscos, dentre estes, o risco de inadimplemento e consequente execução das garantias  outorgadas à respectiva operação e os riscos inerentes à eventual existência de bens imóveis  na composição da carteira da Classe, podendo, nesta hipótese, a rentabilidade da Classe ser  af etada. Em um eventual processo de execução das garantias dos CRI, poderá haver a  necessidade de contratação de consultores, dentre outros custos, que deverão ser suportados  pela Classe, na qualidade de investidor dos CRI. Adicionalmente, a garantia outorgada em  f avor dos CRI pode não ter valor suficiente para suportar as obrigações financeiras atreladas  a tal CRI. Desta f orma, uma série de eventos relacionados à execução de garantias dos CRI  poderá afetar negativamente o valor das Cotas e a rentabilidade do investimento na Classe.</a:t>
            </a:r>
          </a:p>
          <a:p>
            <a:r>
              <a:t>9. Riscos relativos às Participações do Agronegócio</a:t>
            </a:r>
          </a:p>
          <a:p>
            <a:r>
              <a:t>CNPJ 62696791000193 · Registro, execução e recuperação · Condição: Documentos atuais selecionados no inventário por categoria/escopo; a data documental isolada não comprova vigência jurídica.</a:t>
            </a:r>
          </a:p>
          <a:p>
            <a:r>
              <a:t>CNPJ 62696791000193 · Registro, execução e recuperação · Motivo: Cláusula primária localizada e citada, mas sua lista/condições extensas não admitem uma síntese literal curta confirmada. O trecho integral permanece nas fontes.</a:t>
            </a:r>
          </a:p>
          <a:p>
            <a:r>
              <a:t>CNPJ 62696791000193 · Registro, execução e recuperação · Versão e prevalência: Documentos atuais selecionados no inventário por categoria/escopo; a data documental isolada não comprova vigência jurídica.</a:t>
            </a:r>
          </a:p>
          <a:p>
            <a:r>
              <a:t>CNPJ 55563624000109 · Registro, execução e recuperação · Motivo: Não localizada uma cláusula material para este critério nos textos identificados e processados. A ausência de resultado não comprova inexistência da regra.</a:t>
            </a:r>
          </a:p>
          <a:p>
            <a:r>
              <a:t>CNPJ 62552447000120 · Registro, execução e recuperação · Motivo: Não localizada uma cláusula material para este critério nos textos identificados e processados. A ausência de resultado não comprova inexistência da regra.</a:t>
            </a:r>
          </a:p>
          <a:p>
            <a:r>
              <a:t>CNPJ 63953620000165 · Registro, execução e recuperação · Motivo: Não localizada uma cláusula material para este critério nos textos identificados e processados. A ausência de resultado não comprova inexistência da regra.</a:t>
            </a:r>
          </a:p>
          <a:p>
            <a:r>
              <a:t>CNPJ 54871427000194 · Cobrança e servicing · Regulamento · ID 670691 · 28/04/2024 · versão Regulamento — referência 28/04/2024 · p. 44 · Complemento 2, Régua de Cobrança, Desconto e Comissão · https://fnet.bmfbovespa.com.br/fnet/publico/visualizarDocumento?id=670691</a:t>
            </a:r>
          </a:p>
          <a:p>
            <a:r>
              <a:t>CNPJ 54871427000194 · Cobrança e servicing · Excerto da fonte:</a:t>
            </a:r>
          </a:p>
          <a:p>
            <a:r>
              <a:t>Régua de Cobrança A partir da comunicação da desaverbação do a partir de 31 dias a partir de 60 dias contrato - Notificação (canais digitais) - Negativação SERASA - PROTESTO Repescagem diária na - Cobrança terceirizada - Repescagem diária na conta corrente - Repescagem diária na conta corrente conta corrente DESCONTO Normal Atraso Multa e Mora Principal 15 a 90 0% 0% 91 a 180 100% 0% 181 a 270 100% 20% 271 a 360 100% 30% Acima de 360 100% 50% COMISSÃO Faixa de Atraso % comissão De 15 a 90 dias 12% De 90 a 180 dias 15% De 181 a 270 dias 20%</a:t>
            </a:r>
          </a:p>
          <a:p>
            <a:r>
              <a:t>CNPJ 54871427000194 · Cobrança e servicing · Condição: A tabela de comissões se refere à cobrança/recuperação por faixa de atraso; a remuneração geral do agente está remetida ao contrato na cláusula 13.7.</a:t>
            </a:r>
          </a:p>
          <a:p>
            <a:r>
              <a:t>CNPJ 54871427000194 · Cobrança e servicing · Versão e prevalência: Leitura específica das cláusulas indicadas; condições e conflitos preservados. Seleção documental atual não comprova vigência jurídica por data isolada.</a:t>
            </a:r>
          </a:p>
          <a:p>
            <a:r>
              <a:t>CNPJ 60010416000112 · Cobrança e servicing · Regulamento · ID 1051393 · 2025-10-09 · versão 1 · p. 33 · 14.2.5 · https://fnet.bmfbovespa.com.br/fnet/publico/visualizarDocumento?id=1051393</a:t>
            </a:r>
          </a:p>
          <a:p>
            <a:r>
              <a:t>CNPJ 60010416000112 · Cobrança e servicing · Excerto da fonte:</a:t>
            </a:r>
          </a:p>
          <a:p>
            <a:r>
              <a:t>14.2.5 O Agente de Retenção/Cobrança poderá realizar a cobrança do Direitos Creditórios de forma ativa  caso seja verif icado, pelo Agente de Retenção/Cobrança que o Empregador não ef etuou a  Escrituração ou em caso de perda do vínculo empregatício do Devedor com o Empregador. A  cobrança ativa será mantida até que a Escrituração seja realizada e/ou até que o Devedor retome  o vínculo empregatício, observado o disposto abaixo:</a:t>
            </a:r>
          </a:p>
          <a:p>
            <a:r>
              <a:t> (i) As medidas adotadas pelo Agente de Retenção/Cobrança deverão observar a política  de cobrança adotada pelo Custodiante; e</a:t>
            </a:r>
          </a:p>
          <a:p>
            <a:r>
              <a:t> (ii) Uma vez retomado o vínculo empregatício, o Agente de Retenção/Cobrança deverá aditar  a CCB e/ou realizar o Processo de Reinicialização (conforme detalhado no Contrato de  Endosso).</a:t>
            </a:r>
          </a:p>
          <a:p>
            <a:r>
              <a:t>CAPÍTULO 15 – FATORES DE RISCO</a:t>
            </a:r>
          </a:p>
          <a:p>
            <a:r>
              <a:t>CNPJ 60010416000112 · Cobrança e servicing · Condição: Documentos atuais selecionados no inventário por categoria/escopo; a data documental isolada não comprova vigência jurídica.</a:t>
            </a:r>
          </a:p>
          <a:p>
            <a:r>
              <a:t>CNPJ 60010416000112 · Cobrança e servicing · Versão e prevalência: Documentos atuais selecionados no inventário por categoria/escopo; a data documental isolada não comprova vigência jurídica.</a:t>
            </a:r>
          </a:p>
          <a:p>
            <a:r>
              <a:t>CNPJ 60010416000112 · Cobrança e servicing · Resumo do histórico: {"count": 1, "dates": ["2025-03-20"], "document_count": 1, "sources": [{"document_id": "993786", "title": "Regulamento", "reference_date": "2025-03-20", "version": "1", "page": 33, "clause": "14.2.5", "url": "https://fnet.bmfbovespa.com.br/fnet/publico/visualizarDocumento?id=993786", "sha256": "fd0fdd369a195510d81f81f505195a0b09e5f43522a990afa7d58c4f872921c8"}], "reference": {"path": "history/60010416000112.json", "criterion_id": "servicing", "total_count": 1, "preview_count": 1, "full_text_deferred": true, "sha256": "8e2bd813f4c51cf01f6bfaad164bafe69d2bbb192f753eac92da3a01c2e63046"}}</a:t>
            </a:r>
          </a:p>
          <a:p>
            <a:r>
              <a:t>CNPJ 62696791000193 · Cobrança e servicing · Regulamento · ID 1143317 · 2026-03-20 · versão 1 · p. 43 · 7.7 · https://fnet.bmfbovespa.com.br/fnet/publico/visualizarDocumento?id=1143317</a:t>
            </a:r>
          </a:p>
          <a:p>
            <a:r>
              <a:t>CNPJ 62696791000193 · Cobrança e servicing · Excerto da fonte:</a:t>
            </a:r>
          </a:p>
          <a:p>
            <a:r>
              <a:t>7.7. Falhas de Cobrança. A cobrança dos Direitos Creditórios do Agronegócio Inadimplidos de  titularidade da Classe depende da atuação diligente do agente de cobrança. Qualquer f alha  de procedimento ou ineficiência do agente de cobrança poderá acarretar menor recebimento  dos recursos devidos pelos Devedores, levando à queda da rentabilidade da Classe.</a:t>
            </a:r>
          </a:p>
          <a:p>
            <a:r>
              <a:t> Adicionalmente, nada garante que a cobrança judicial dos Direitos Creditórios do Agronegócio  Inadimplidos levará à recuperação total dos Direitos Creditórios do Agronegócio Inadimplidos,  o que poderá implicar perdas patrimoniais à Classe e aos Cotistas.</a:t>
            </a:r>
          </a:p>
          <a:p>
            <a:r>
              <a:t>CNPJ 62696791000193 · Cobrança e servicing · Regulamento · ID 1143317 · 2026-03-20 · versão 1 · p. 9 · 3.2 · https://fnet.bmfbovespa.com.br/fnet/publico/visualizarDocumento?id=1143317</a:t>
            </a:r>
          </a:p>
          <a:p>
            <a:r>
              <a:t>CNPJ 62696791000193 · Cobrança e servicing · Excerto da fonte:</a:t>
            </a:r>
          </a:p>
          <a:p>
            <a:r>
              <a:t>3.2 Sem prejuízo de outras despesas que venham a ser aprovadas em Assembleia Especial, são Encargos  da Classe:</a:t>
            </a:r>
          </a:p>
          <a:p>
            <a:r>
              <a:t> (i) despesas com consultoria especializada;</a:t>
            </a:r>
          </a:p>
          <a:p>
            <a:r>
              <a:t> (ii) despesas com agente de cobrança.</a:t>
            </a:r>
          </a:p>
          <a:p>
            <a:r>
              <a:t>CNPJ 62696791000193 · Cobrança e servicing · Condição: Documentos atuais selecionados no inventário por categoria/escopo; a data documental isolada não comprova vigência jurídica.</a:t>
            </a:r>
          </a:p>
          <a:p>
            <a:r>
              <a:t>CNPJ 62696791000193 · Cobrança e servicing · Versão e prevalência: Documentos atuais selecionados no inventário por categoria/escopo; a data documental isolada não comprova vigência jurídica.</a:t>
            </a:r>
          </a:p>
          <a:p>
            <a:r>
              <a:t>CNPJ 55563624000109 · Cobrança e servicing · Regulamento · ID 1192614 · 2026-04-30 · versão 1 · p. 11 · https://fnet.bmfbovespa.com.br/fnet/publico/visualizarDocumento?id=1192614</a:t>
            </a:r>
          </a:p>
          <a:p>
            <a:r>
              <a:t>CNPJ 55563624000109 · Cobrança e servicing · Excerto da fonte:</a:t>
            </a:r>
          </a:p>
          <a:p>
            <a:r>
              <a:t>(vi) Emolumentos e comissões pagas por operações da Carteira da Classe;</a:t>
            </a:r>
          </a:p>
          <a:p>
            <a:r>
              <a:t> (vii) Despesas com a manutenção de ativos cuja propriedade decorra da execução de garantia ou de acordo  com o respectivo devedor;</a:t>
            </a:r>
          </a:p>
          <a:p>
            <a:r>
              <a:t> (viii) Honorários de advogados, custas e despesas processuais correlatas incorridos em defesa dos interesses  do FUNDO ou da Classe, em juízo ou fora dele, inclusive o valor da condenação imputada, se for o caso;</a:t>
            </a:r>
          </a:p>
          <a:p>
            <a:r>
              <a:t> (ix) Gastos derivados da celebração de contratos de seguro sobre os ativos integrantes da Carteira da Classe,  assim como a parcela de prejuízos da Carteira não coberta por apólices de seguro, salvo se decorrente  diretamente de culpa ou dolo dos prestadores de serviços da Classe no exercício de suas respectivas  funções;</a:t>
            </a:r>
          </a:p>
          <a:p>
            <a:r>
              <a:t> (x) Despesas relacionadas ao exercício do direito de voto decorrente dos ativos integrantes da Carteira;</a:t>
            </a:r>
          </a:p>
          <a:p>
            <a:r>
              <a:t> (xi) Despesas com a realização da Assembleia de Cotistas;</a:t>
            </a:r>
          </a:p>
          <a:p>
            <a:r>
              <a:t> (xii) Despesas inerentes à constituição, à fusão, à incorporação, à cisão, à transformação ou à liquidação da  Classe;</a:t>
            </a:r>
          </a:p>
          <a:p>
            <a:r>
              <a:t> (xiii) Despesas com a liquidação, o registro e a custódia de operações com os ativos integrantes da Carteira;</a:t>
            </a:r>
          </a:p>
          <a:p>
            <a:r>
              <a:t> (xiv) Despesas com o fechamento de câmbio, vinculadas às operações da Carteira da Classe;</a:t>
            </a:r>
          </a:p>
          <a:p>
            <a:r>
              <a:t> (xv) Despesas inerentes à distribuição primária das Cotas e à admissão das Cotas à negociação em mercado  organizado;</a:t>
            </a:r>
          </a:p>
          <a:p>
            <a:r>
              <a:t> (xvi) Taxa de Administração e a Taxa de Gestão;</a:t>
            </a:r>
          </a:p>
          <a:p>
            <a:r>
              <a:t> (xvii) Despesas com a contratação de consultoria especializada, conforme o caso;</a:t>
            </a:r>
          </a:p>
          <a:p>
            <a:r>
              <a:t> (xviii) Despesas com a contratação de agente de cobrança, conforme o caso;</a:t>
            </a:r>
          </a:p>
          <a:p>
            <a:r>
              <a:t> (xix) Despesas decorrentes de empréstimos contraídos em nome da Classe, nos termos da Resolução CVM  175 e deste Anexo;</a:t>
            </a:r>
          </a:p>
          <a:p>
            <a:r>
              <a:t> (xx) Taxa mínima de custódia, se houver; e</a:t>
            </a:r>
          </a:p>
          <a:p>
            <a:r>
              <a:t> (xxi) Montantes devidos a fundos investidores, na hipótese de remuneração com base na taxa de  administração, performance ou gestão, observado o disposto no art. 99 da parte geral da Resolução  CVM 175.</a:t>
            </a:r>
          </a:p>
          <a:p>
            <a:r>
              <a:t>CNPJ 55563624000109 · Cobrança e servicing · Condição: Documentos atuais selecionados no inventário por categoria/escopo; a data documental isolada não comprova vigência jurídica.</a:t>
            </a:r>
          </a:p>
          <a:p>
            <a:r>
              <a:t>CNPJ 55563624000109 · Cobrança e servicing · Motivo: Cláusula primária localizada e citada, mas sua lista/condições extensas não admitem uma síntese literal curta confirmada. O trecho integral permanece nas fontes.</a:t>
            </a:r>
          </a:p>
          <a:p>
            <a:r>
              <a:t>CNPJ 55563624000109 · Cobrança e servicing · Versão e prevalência: Documentos atuais selecionados no inventário por categoria/escopo; a data documental isolada não comprova vigência jurídica.</a:t>
            </a:r>
          </a:p>
          <a:p>
            <a:r>
              <a:t>CNPJ 62552447000120 · Cobrança e servicing · Regulamento · ID 1200623 · 2026-05-21 · versão 1 · p. 6 · https://fnet.bmfbovespa.com.br/fnet/publico/visualizarDocumento?id=1200623</a:t>
            </a:r>
          </a:p>
          <a:p>
            <a:r>
              <a:t>CNPJ 62552447000120 · Cobrança e servicing · Excerto da fonte:</a:t>
            </a:r>
          </a:p>
          <a:p>
            <a:r>
              <a:t>integrantes do conglomerado econômico de instituições  f inanceiras classificadas como S1 pelo Banco Central do  Brasil (“BACEN” e “Instituições Financeiras S1”,  respectivamente), desde que não representem títulos de  emissão ou coobrigação de instituições financeiras, bem  como cotas de f undos de investimento que invistam  preponderantemente nestes direitos, títulos e/ou valores  mobiliários; e</a:t>
            </a:r>
          </a:p>
          <a:p>
            <a:r>
              <a:t> (d) “Direitos Creditórios Refinanciamento Livre”, na forma  de CCBs originadas no âmbito de um refinanciamento, de  acordo com a política de cobrança vigente, de Direitos  Creditórios Consignado Privado e de Direitos Creditórios  FGTS, que não contem com o lastro de Consignação ou  de cessão f iduciária do Saque-Aniversário,  respectivamente; e</a:t>
            </a:r>
          </a:p>
          <a:p>
            <a:r>
              <a:t> (ii) “Ativos Financeiros”, assim entendidos como, em conjunto:</a:t>
            </a:r>
          </a:p>
          <a:p>
            <a:r>
              <a:t> (a) moeda corrente nacional;</a:t>
            </a:r>
          </a:p>
          <a:p>
            <a:r>
              <a:t> (b) títulos públicos f ederais;</a:t>
            </a:r>
          </a:p>
          <a:p>
            <a:r>
              <a:t> (c) ativos f inanceiros de renda f ixa de emissão ou  coobrigação de Instituições Financeiras S1;</a:t>
            </a:r>
          </a:p>
          <a:p>
            <a:r>
              <a:t> (d) operações compromissadas, desde que lastreadas nos  títulos mencionados nas alíneas (b) e (c) acima; e</a:t>
            </a:r>
          </a:p>
          <a:p>
            <a:r>
              <a:t> (e) cotas do BTG Pactual Tesouro Selic Fundo de  Investimento Renda Fixa Ref erenciado DI, inscrito no  CNPJ sob o nº 09.215.250/0001-13;</a:t>
            </a:r>
          </a:p>
          <a:p>
            <a:r>
              <a:t> observados todos os limites de composição e diversificação da carteira da  Classe (“Carteira”), estabelecidos neste Regulamento e na  regulamentação aplicável.</a:t>
            </a:r>
          </a:p>
          <a:p>
            <a:r>
              <a:t> O objetivo da Classe não representa, sob qualquer hipótese, promessa,  garantia ou sugestão da Classe ou de seus Prestadores de Serviços  Essenciais quanto à segurança, rentabilidade e liquidez dos títulos  componentes de sua Carteira.</a:t>
            </a:r>
          </a:p>
          <a:p>
            <a:r>
              <a:t>CNPJ 62552447000120 · Cobrança e servicing · Regulamento · ID 1200623 · 2026-05-21 · versão 1 · p. 7 · https://fnet.bmfbovespa.com.br/fnet/publico/visualizarDocumento?id=1200623</a:t>
            </a:r>
          </a:p>
          <a:p>
            <a:r>
              <a:t>CNPJ 62552447000120 · Cobrança e servicing · Excerto da fonte:</a:t>
            </a:r>
          </a:p>
          <a:p>
            <a:r>
              <a:t>(c) atendam, pro forma, na Data de Aquisição, aos  limites de concentração definidos no Capítulo 4 deste  Anexo I;</a:t>
            </a:r>
          </a:p>
          <a:p>
            <a:r>
              <a:t> (d) não haver disposição legal ou regulamentar  aprovada, ou ordem judicial ou administrativa  emitida, que tenha como objetivo impedir ou impor  limites ou exigências adicionais para o endosso de  Direitos Creditórios decorrentes de transações  dedutíveis da f olha de pagamento a f undos de  investimento;</a:t>
            </a:r>
          </a:p>
          <a:p>
            <a:r>
              <a:t> (e) atendam à Política de Crédito e, conforme aplicável,  à Política de Cobrança; e</a:t>
            </a:r>
          </a:p>
          <a:p>
            <a:r>
              <a:t>CNPJ 62552447000120 · Cobrança e servicing · Regulamento · ID 1200623 · 2026-05-21 · versão 1 · p. 3 · 2.1.2 · https://fnet.bmfbovespa.com.br/fnet/publico/visualizarDocumento?id=1200623</a:t>
            </a:r>
          </a:p>
          <a:p>
            <a:r>
              <a:t>CNPJ 62552447000120 · Cobrança e servicing · Excerto da fonte:</a:t>
            </a:r>
          </a:p>
          <a:p>
            <a:r>
              <a:t>2.1.2 Não obstante as atribuições previstas neste Regulamento e na regulamentação aplicável, cabe  ao Gestor praticar os atos necessários à gestão da Carteira. Assim, em linha com o art. 85 da  Parte Geral da Resolução CVM 175 e com o art. 32 do Anexo Normativo II, o Gestor pode  contratar, em nome do Fundo e/ou da Classe, os seguintes serviços: (a) intermediação de  operações para a Carteira; (b) distribuição de Cotas; (c) consultoria de investimentos; (d)  classificação de risco por agência classificadora de risco; (e) cogestão da Carteira; (f) formador  de mercado; e, eventualmente, (g) consultoria especializada; (h) agente de cobrança, e (i)  outros serviços em benef ício do Fundo ou da classe.</a:t>
            </a:r>
          </a:p>
          <a:p>
            <a:r>
              <a:t>CNPJ 62552447000120 · Cobrança e servicing · Condição: Documentos atuais selecionados no inventário por categoria/escopo; a data documental isolada não comprova vigência jurídica.</a:t>
            </a:r>
          </a:p>
          <a:p>
            <a:r>
              <a:t>CNPJ 62552447000120 · Cobrança e servicing · Versão e prevalência: Documentos atuais selecionados no inventário por categoria/escopo; a data documental isolada não comprova vigência jurídica.</a:t>
            </a:r>
          </a:p>
          <a:p>
            <a:r>
              <a:t>CNPJ 63953620000165 · Cobrança e servicing · Anexo ao Regulamento · ID 1222863 · 2026-06-02 · versão 1 · p. 8 · 4.25 · https://fnet.bmfbovespa.com.br/fnet/publico/visualizarDocumento?id=1222863</a:t>
            </a:r>
          </a:p>
          <a:p>
            <a:r>
              <a:t>CNPJ 63953620000165 · Cobrança e servicing · Excerto da fonte:</a:t>
            </a:r>
          </a:p>
          <a:p>
            <a:r>
              <a:t>4.25 É vedada qualquer forma de antecipação de recursos às Cedentes/aos Endossantes para posterior reembolso  pela Classe, seja pelo Administrador, Gestor, Custodiante, Consultora ou Agente de Cobrança.</a:t>
            </a:r>
          </a:p>
          <a:p>
            <a:r>
              <a:t>CNPJ 63953620000165 · Cobrança e servicing · Condição: Documentos atuais selecionados no inventário por categoria/escopo; a data documental isolada não comprova vigência jurídica.</a:t>
            </a:r>
          </a:p>
          <a:p>
            <a:r>
              <a:t>CNPJ 63953620000165 · Cobrança e servicing · Versão e prevalência: Documentos atuais selecionados no inventário por categoria/escopo; a data documental isolada não comprova vigência jurídica.</a:t>
            </a:r>
          </a:p>
          <a:p>
            <a:r>
              <a:t>CNPJ 63953620000165 · Cobrança e servicing · Resumo do histórico: {"count": 6, "dates": ["2026-04-28", "2026-05-08", "2026-05-15"], "document_count": 3, "sources": [{"document_id": "1327859", "title": "Demonstrações Financeiras - Fusão, cisão e incorporação", "reference_date": "2026-05-15", "version": "1", "page": 29, "url": "https://fnet.bmfbovespa.com.br/fnet/publico/visualizarDocumento?id=1327859", "sha256": "dca1c68babb97f887528c3e2e47596a9c30f507b067981a35655b2f2da9c8054"}, {"document_id": "1298691", "title": "Demonstrações Financeiras - Fusão, cisão e incorporação", "reference_date": "2026-05-08", "version": "1", "page": 5, "url": "https://fnet.bmfbovespa.com.br/fnet/publico/visualizarDocumento?id=1298691", "sha256": "58c570d9b8d4d265330d3db3ea81c435b8e44a6dab4002aa37790652a1ee9819"}, {"document_id": "1282180", "title": "Demonstrações Financeiras - Fusão, cisão e incorporação", "reference_date": "2026-04-28", "version": "1", "page": 30, "url": "https://fnet.bmfbovespa.com.br/fnet/publico/visualizarDocumento?id=1282180", "sha256": "afaaa0e6809be4385e5bdb6c911aac582032c5bdbac3d7750234bf9eaf00438a"}], "reference": {"path": "history/63953620000165.json", "criterion_id": "servicing", "total_count": 6, "preview_count": 3, "full_text_deferred": true, "sha256": "a7b89077f5e21098c2d601c303faabc3ff6b9729f89d8afecdc60fe1404720c1"}}</a:t>
            </a:r>
          </a:p>
          <a:p>
            <a:r>
              <a:t>CNPJ 54871427000194 · Conta de arrecadação e risco de trânsito · Regulamento · ID 670691 · 28/04/2024 · versão Regulamento — referência 28/04/2024 · p. 9 · Anexo I, 4.3 e 4.6 · https://fnet.bmfbovespa.com.br/fnet/publico/visualizarDocumento?id=670691</a:t>
            </a:r>
          </a:p>
          <a:p>
            <a:r>
              <a:t>CNPJ 54871427000194 · Conta de arrecadação e risco de trânsito · Excerto da fonte:</a:t>
            </a:r>
          </a:p>
          <a:p>
            <a:r>
              <a:t>4.3 Os pagamentos relativos aos Direitos Creditórios de titularidade da Classe serão realizados mediante consignação em folha, débito em conta de titularidade dos Devedores e pagamentos de sinistros, para pagamento dos valores correspondentes às parcelas das CCBs representadas pelos CCCBs de titularidade da Classe, os quais serão conciliados e repassados pelo Endossante para a conta corrente da Classe. 4.4 Os Direitos Creditórios deverão contar com Documentos Comprobatórios que evidenciem sua existência, validade e exequibilidade perante os respectivos Devedores . 4.4.1 Os Direitos Creditórios serão adquiridos pela Classe por meio de Contrato de Endosso f irmados entre a Classe e o Endossante e os respectivos Termos de Endosso, acompanhados de todos os direitos, privilégios, preferências, prerrogativas, ações e garantias assegurados aos seus titulares, observada a Política de Investimentos e as demais disposições deste Regulamento e da legislação e regulamentação aplicáveis. 4.5 O Endossante deverá realizar análise cadastral e de crédito dos Devedores, previamente à aquisição de Direitos Creditórios pela Classe. O disposto neste item não impede o ADMINISTRAD</a:t>
            </a:r>
          </a:p>
          <a:p>
            <a:r>
              <a:t>CNPJ 54871427000194 · Conta de arrecadação e risco de trânsito · Regulamento · ID 670691 · 28/04/2024 · versão Regulamento — referência 28/04/2024 · p. 9 · Anexo I, 4.6 · https://fnet.bmfbovespa.com.br/fnet/publico/visualizarDocumento?id=670691</a:t>
            </a:r>
          </a:p>
          <a:p>
            <a:r>
              <a:t>CNPJ 54871427000194 · Conta de arrecadação e risco de trânsito · Excerto da fonte:</a:t>
            </a:r>
          </a:p>
          <a:p>
            <a:r>
              <a:t>4.6 A cobrança ordinária e recebimento de Direitos Creditórios pela Classe é realizada mediante a liquidação dos recursos através de débito dos salários a receber pelos Devedores do órgão consignante ou através da consignação direto da folha, sendo certo que o GESTOR e/ou o Custodiante f arão o monitoramento do pagamento dos Direitos Creditórios através da validação do Arquivo de Liquidação, do Relatório de Repasse, e consulta oriunda do sistema da processadora conveniada ao órgão consignante, responsável pela consignação em f olha de pagamento ou de benef ício dos Devedores (averbação, débito e repasse). Critérios de Elegibilidade 4.7 A Classe somente poderá adquirir os Direitos Creditórios que atendam cumulativamente aos seguintes Critérios de Elegibilidade, a serem verif icados e validados pelo GESTOR, de f orma individualizada e integral, previamente à cessão e na respectiva Data de Aquisição, de modo que apenas são passíveis de aquisição pela Classe os Direitos Creditórios que, na Data de Aquisição: (i) CCBs sem qualquer parcela cedida; (ii) CCBs com diferença menor que 60 (sessenta) dias entre a data provável do endosso e a próxima parcela a vencer;</a:t>
            </a:r>
          </a:p>
          <a:p>
            <a:r>
              <a:t>CNPJ 54871427000194 · Conta de arrecadação e risco de trânsito · Condição: A mecânica prevê passagem dos recursos pelo endossante; o regulamento não estabelece, nesta cláusula, repasse direto automático pelo órgão consignante.</a:t>
            </a:r>
          </a:p>
          <a:p>
            <a:r>
              <a:t>CNPJ 54871427000194 · Conta de arrecadação e risco de trânsito · Versão e prevalência: Leitura específica das cláusulas indicadas; condições e conflitos preservados. Seleção documental atual não comprova vigência jurídica por data isolada.</a:t>
            </a:r>
          </a:p>
          <a:p>
            <a:r>
              <a:t>CNPJ 54871427000194 · Conta de arrecadação e risco de trânsito · Resumo do histórico: {"count": 1, "dates": ["2024-04-19"], "document_count": 1, "sources": [{"document_id": "670689", "title": "Regulamento", "reference_date": "2024-04-19", "version": "1", "page": 25, "url": "https://fnet.bmfbovespa.com.br/fnet/publico/visualizarDocumento?id=670689", "sha256": "891bc9bc5d87bbc02ec139077a84d2702eb81ea02035fb71d24f5b8366b94a0b"}], "reference": {"path": "history/54871427000194.json", "criterion_id": "collection_account", "total_count": 1, "preview_count": 1, "full_text_deferred": true, "sha256": "35d7cd99be50c7287c9fb675cf4f2e736002315295a225a9efa79c8d9186d874"}}</a:t>
            </a:r>
          </a:p>
          <a:p>
            <a:r>
              <a:t>CNPJ 60010416000112 · Conta de arrecadação e risco de trânsito · Regulamento · ID 1051393 · 2025-10-09 · versão 1 · p. 32 · 14.2.1 · https://fnet.bmfbovespa.com.br/fnet/publico/visualizarDocumento?id=1051393</a:t>
            </a:r>
          </a:p>
          <a:p>
            <a:r>
              <a:t>CNPJ 60010416000112 · Conta de arrecadação e risco de trânsito · Excerto da fonte:</a:t>
            </a:r>
          </a:p>
          <a:p>
            <a:r>
              <a:t>14.2.1 Os valores indicados nos Arquivos Dataprev em relação aos Direitos Creditórios endossados à  Classe e depositados mensalmente pela CEF na Conta Vinculada serão cobrados/recebidos da  seguinte f orma:</a:t>
            </a:r>
          </a:p>
          <a:p>
            <a:r>
              <a:t> (i) mensalmente, após o processamento da f olha de pagamento dos Devedores, a Dataprev  enviará os Arquivos Dataprev ao Endossante;</a:t>
            </a:r>
          </a:p>
          <a:p>
            <a:r>
              <a:t> (ii) ao receber os Arquivos Dataprev, o Endossante os disponibilizará ao Custodiante e ao  Agente de Retenção/Cobrança, através de uma interf ace de programação de aplicações  (API), no mesmo dia que forem disponibilizados pela Dataprev, ou no Dia Útil subsequente,  se f orem disponibilizados pela Dataprev após 16:00 (horário de Brasília) sem f azer qualquer  modif icação em suas respectivas inf ormações;</a:t>
            </a:r>
          </a:p>
          <a:p>
            <a:r>
              <a:t> (iii) até 2º (segundo) Dia Útil após o recebimento dos valores repassados pelos Empregadores,  a CEF ef etuará uma transf erência eletrônica disponível (TED) diretamente para a Conta  Vinculada relevante com o valor declarado no Arquivo de Consignações;</a:t>
            </a:r>
          </a:p>
          <a:p>
            <a:r>
              <a:t> (iv) o Endossante, na qualidade de Agente da Conta Vinculada, transferirá os valores devidos  à Classe para a Conta de Cobrança da Classe, de acordo com o Contrato de Conta  Vinculada; e</a:t>
            </a:r>
          </a:p>
          <a:p>
            <a:r>
              <a:t> (v) tendo recebido os Arquivos Dataprev e os valores indicados no item (iv), o Custodiante  realizará a reconciliação dos valores devidos à Classe e/ou ao Endossante.</a:t>
            </a:r>
          </a:p>
          <a:p>
            <a:r>
              <a:t>CNPJ 60010416000112 · Conta de arrecadação e risco de trânsito · Regulamento · ID 1051393 · 2025-10-09 · versão 1 · p. 28 · https://fnet.bmfbovespa.com.br/fnet/publico/visualizarDocumento?id=1051393</a:t>
            </a:r>
          </a:p>
          <a:p>
            <a:r>
              <a:t>CNPJ 60010416000112 · Conta de arrecadação e risco de trânsito · Excerto da fonte:</a:t>
            </a:r>
          </a:p>
          <a:p>
            <a:r>
              <a:t>Anexo I ao Regulamento CLASSE ÚNICA DO MT I CONSIGNADO PRIVADO I FUNDO DE INVESTIMENTO EM DIREITOS CREDITÓRIOS RESPONSABILIDADE LIMITADA  Documentos Comprobatórios e os Documentos Suporte que comprovam a operação, observados os  procedimentos operacionais da Entidade Registradora;</a:t>
            </a:r>
          </a:p>
          <a:p>
            <a:r>
              <a:t> (ii) receber, em nome da Classe, pagamentos de Direitos Creditórios, amortização ou resgate de Ativos  Financeiros ou qualquer outro rendimento dos ativos mantidos em custódia, mediante o recebimento  de valores diretamente na Conta de Cobrança da Classe ou transf eridos da Conta Vinculada;</a:t>
            </a:r>
          </a:p>
          <a:p>
            <a:r>
              <a:t> (iii) cobrar e receber, em nome da Classe, pagamentos, resgate de títulos ou qualquer outro rendimento  relativo aos ativos da Carteira, depositando os valores recebidos diretamente em conta de titularidade  da classe ou, se f or o caso, em conta-vinculada;</a:t>
            </a:r>
          </a:p>
          <a:p>
            <a:r>
              <a:t> (iv) realizar a guarda da documentação relativa ao lastro dos Direitos Creditórios;</a:t>
            </a:r>
          </a:p>
          <a:p>
            <a:r>
              <a:t> (v) realizar a reconciliação dos valores depositados na Conta de Cobrança da Classe;</a:t>
            </a:r>
          </a:p>
          <a:p>
            <a:r>
              <a:t> (vi)</a:t>
            </a:r>
          </a:p>
          <a:p>
            <a:r>
              <a:t> (vii) assegurar que inconsistências indicadas nos relatórios de verif icação dos Documentos  Comprobatórios e dos Documentos Suporte representativos dos Direitos Creditórios e seu endosso  à Classe sejam tratadas tempestivamente.</a:t>
            </a:r>
          </a:p>
          <a:p>
            <a:r>
              <a:t>CNPJ 60010416000112 · Conta de arrecadação e risco de trânsito · Regulamento · ID 1051393 · 2025-10-09 · versão 1 · p. 39 · https://fnet.bmfbovespa.com.br/fnet/publico/visualizarDocumento?id=1051393</a:t>
            </a:r>
          </a:p>
          <a:p>
            <a:r>
              <a:t>CNPJ 60010416000112 · Conta de arrecadação e risco de trânsito · Excerto da fonte:</a:t>
            </a:r>
          </a:p>
          <a:p>
            <a:r>
              <a:t>Anexo I ao Regulamento CLASSE ÚNICA DO MT I CONSIGNADO PRIVADO I FUNDO DE INVESTIMENTO EM DIREITOS CREDITÓRIOS RESPONSABILIDADE LIMITADA  da Classe e, de forma extraordinária, para a Conta de Movimentação da Classe. Em caso de  intervenção ou liquidação extrajudicial das instituições f inanceiras onde a Conta de Cobrança  da Classe e a Conta de Movimentação da Classe são mantidas, os fundos nelas depositados  poderão ser bloqueados e recuperados pela Classe somente através de uma ordem judicial,  o que af etaria seu retorno e poderia causar perda de parte de seus ativos.</a:t>
            </a:r>
          </a:p>
          <a:p>
            <a:r>
              <a:t> (ix) Risco de bloqueio da Conta Vinculada: a Conta Vinculada para a qual os recursos  provenientes do pagamento dos Direitos Creditórios serão direcionados poderá ser  bloqueada, dentre outros, (i) no caso de intervenção ou liquidação extrajudicial do  Endossante, ou (ii) no caso de decisões judiciais serem proferidas em demandas ajuizadas  contra o Endossante, determinando o bloqueio. Em qualquer desses eventos, esses recursos  de propriedade da Classe só poderão ser recuperados em juízo. Essa recuperação poderá  levar tempo para ser ef etuada ou mesmo não obter êxito, o que af etaria a rentabilidade da  Classe e poderia f azê-lo perder parte de seus ativos.</a:t>
            </a:r>
          </a:p>
          <a:p>
            <a:r>
              <a:t> (x) Risco de patrimônio líquido negativo: as estratégias de investimento adotadas pela  Classe, bem como o pagamento de remuneração aos prestadores de serviços da Classe,  podem f azer com que seu Patrimônio Líquido se torne negativo, hipótese em que o Cotista  poderá ser solicitado a f azer aportes adicionais de recursos, a f im de permitir que a Classe  cumpra suas obrigações.</a:t>
            </a:r>
          </a:p>
          <a:p>
            <a:r>
              <a:t> (xi) Risco de cobrança judicial ou extrajudicial: quando não f orem pagos os Direitos  Creditórios que compõem a Carteira, poderá haver cobrança judicial ou extrajudicial dos  valores devidos, mediante decisão dos Cotistas na Assembleia de Cotistas nos termos desse  Anexo I. Entretanto, não há garantia de que, em qualquer desses casos, os procedimentos  de cobrança acima mencionados serão aprovados na Assembleia Especial de Cotistas e,  caso aprovados, de que tais procedimentos atingirão os resultados desejados, nem de que  a Classe terá êxito em recuperar quaisquer valores inadimplidos, o que poderá resultar em  perdas para a Classe.</a:t>
            </a:r>
          </a:p>
          <a:p>
            <a:r>
              <a:t> (xii) Possibilidade de conflito de interesses entre a Classe e o Agente de  Retenção/Cobrança. O Agente de Retenção/Cobrança eventualmente possui ou pode vir a  possuir relacionamento comercial com o Endossante e/ou Devedores, de modo que, em  determinadas circunstâncias seus interesses podem ser conflitantes com os interesses da  Classe. Não é possível garantir que, materializada uma situação de conflito de interesses  conf orme descrita acima, o Agente de Retenção/Cobrança exponha-a adequadamente ao  Administrador e/ou aos Cotistas, ou que o faça absolutamente, tampouco que agirá no melhor  no interesse da Classe. Nesses casos, a Classe pode vir a adquirir Direitos Creditórios ou  pode vir a ter seus Direitos Creditórios Inadimplidos pagos em condições comparativamente  menos vantajosas àquelas que seriam verificadas na ausência de tais conflitos de interesses.</a:t>
            </a:r>
          </a:p>
          <a:p>
            <a:r>
              <a:t> Nesses casos, o Patrimônio Líquido pode ser af etado adversamente.</a:t>
            </a:r>
          </a:p>
          <a:p>
            <a:r>
              <a:t> (xiii) Risco de intervenção ou liquidação judicial do Administrador. A Classe está sujeito ao  risco dos efeitos de decretação de intervenção ou de liquidação judicial do Administrador e/ou  do Custodiante, nos termos da Lei nº 6.024, de 13 de março de 1974, conf orme alterada.</a:t>
            </a:r>
          </a:p>
          <a:p>
            <a:r>
              <a:t> (xiv) Patrimônio Líquido negativo. Os investimentos da Classe estão, por sua natureza, sujeitos  a f lutuações típicas de mercado, risco de crédito, risco sistêmico, condições adversas de  liquidez e negociação atípica nos mercados de atuação, sendo que não há garantia de  completa eliminação da possibilidade de perdas para a Classe e para os Cotistas. Além disso,  as estratégias de investimento adotadas pela Classe poderão f azer com que a Classe  apresente Patrimônio Líquido negativo, caso em que os Cotistas poderão ser chamados a  realizar aportes adicionais de recursos, de f orma a possibilitar que a Classe satisfaça suas  obrigações.</a:t>
            </a:r>
          </a:p>
          <a:p>
            <a:r>
              <a:t>CNPJ 60010416000112 · Conta de arrecadação e risco de trânsito · Condição: Documentos atuais selecionados no inventário por categoria/escopo; a data documental isolada não comprova vigência jurídica.</a:t>
            </a:r>
          </a:p>
          <a:p>
            <a:r>
              <a:t>CNPJ 60010416000112 · Conta de arrecadação e risco de trânsito · Versão e prevalência: Documentos atuais selecionados no inventário por categoria/escopo; a data documental isolada não comprova vigência jurídica.</a:t>
            </a:r>
          </a:p>
          <a:p>
            <a:r>
              <a:t>CNPJ 60010416000112 · Conta de arrecadação e risco de trânsito · Resumo do histórico: {"count": 1, "dates": ["2025-03-20"], "document_count": 1, "sources": [{"document_id": "993786", "title": "Regulamento", "reference_date": "2025-03-20", "version": "1", "page": 32, "clause": "14.2.1", "url": "https://fnet.bmfbovespa.com.br/fnet/publico/visualizarDocumento?id=993786", "sha256": "fd0fdd369a195510d81f81f505195a0b09e5f43522a990afa7d58c4f872921c8"}], "reference": {"path": "history/60010416000112.json", "criterion_id": "collection_account", "total_count": 1, "preview_count": 1, "full_text_deferred": true, "sha256": "8e2bd813f4c51cf01f6bfaad164bafe69d2bbb192f753eac92da3a01c2e63046"}}</a:t>
            </a:r>
          </a:p>
          <a:p>
            <a:r>
              <a:t>CNPJ 62696791000193 · Conta de arrecadação e risco de trânsito · Motivo: Não localizada uma cláusula material para este critério nos textos identificados e processados. A ausência de resultado não comprova inexistência da regra.</a:t>
            </a:r>
          </a:p>
          <a:p>
            <a:r>
              <a:t>CNPJ 55563624000109 · Conta de arrecadação e risco de trânsito · Motivo: Não localizada uma cláusula material para este critério nos textos identificados e processados. A ausência de resultado não comprova inexistência da regra.</a:t>
            </a:r>
          </a:p>
          <a:p>
            <a:r>
              <a:t>CNPJ 62552447000120 · Conta de arrecadação e risco de trânsito · Regulamento · ID 1200623 · 2026-05-21 · versão 1 · p. 37 · https://fnet.bmfbovespa.com.br/fnet/publico/visualizarDocumento?id=1200623</a:t>
            </a:r>
          </a:p>
          <a:p>
            <a:r>
              <a:t>CNPJ 62552447000120 · Conta de arrecadação e risco de trânsito · Excerto da fonte:</a:t>
            </a:r>
          </a:p>
          <a:p>
            <a:r>
              <a:t>operacional dos Direitos Creditórios Consignado Privado e dos Direitos Creditórios FGTS dependem de certif icações e habilitações do Endossante junto à Dataprev e à CEF, respectivamente. O Endossante deve observar as regras aplicáveis a cada Direito Creditório para a manutenção da sua habilitação, que, portanto, pode ser af etada em caso de descumprimento ou de mudança normativa. Nesses casos, a estrutura de cobrança dos Direitos Creditórios Consignado Privado e dos Direitos Creditórios FGTS poderá ser comprometida, dando origem à necessidade de adoção de uma nova estrutura, que poderá não ser tão eficaz quanto ela ou mesmo revelar, na prática, ser inadequada ou ter altos custos operacionais . Esses eventos podem levar a perdas patrimoniais para a Classe, na medida em que a Classe deixará de receber, definitiva ou temporariamente, recursos oriundos desses Direitos Creditórios, no todo ou em parte.</a:t>
            </a:r>
          </a:p>
          <a:p>
            <a:r>
              <a:t>(vii) Risco de fungibilidade: o pagamento dos Direitos Creditórios serão inicialmente realizados em conta liquidante do Endossante por meio de transferência de reserva bancária, sendo automaticamente transferido à Conta Vinculada na sua integralidade, também de titularidade do Endoss ante, o qual será responsável por realizar a conciliação dos valores e repassá-los à Conta da Classe. Enquanto os recursos não f orem transf eridos para a Classe, a Classe estará correndo o risco de crédito do Endossante, e no caso de qualquer evento de crédito do Endossante, como intervenção, liquidação extrajudicial, falência ou outros procedimentos para proteção de credores, a Classe poderá não receber os valores devidos a ele, e poderá incorrer em custos adicionais para recuperar esses valores. Além disso, em caso de intervenção, liquidação extrajudicial, falência, execução ou outro procedimento similar para proteção de credores envolvendo o Endossante, os valores depositados de tempos em tempos na conta liquidante do Endossante por meio de transferência d e reserva bancária, e automaticamente transferidos à Conta Vinculada, poderão ser bloqueados, por ordem judicial ou administrativa, o que poderá causar prejuízos à Classe e ao Cotista.</a:t>
            </a:r>
          </a:p>
          <a:p>
            <a:r>
              <a:t>Risco de descontinuidade</a:t>
            </a:r>
          </a:p>
          <a:p>
            <a:r>
              <a:t>(i) Risco de descontinuidade: a Classe poderá ser liquidada antecipadamente, dentre outros, caso ocorra um Evento de Liquidação. Portanto, o Cotista poderá ter sua perspectiva original de investimento reduzida e não ser capaz de reinvestir os recursos recebidos com a mesma remuneração gerada pela Classe, e nenhuma multa ou penalidade, de qualquer f orma, devido a esse f ato, será devida pela Classe, o Administrador, o Custodiante, o Coordenador Líder, o Gestor, o Agente de Retenção e Cobrança ou o Endossante.</a:t>
            </a:r>
          </a:p>
          <a:p>
            <a:r>
              <a:t>Riscos decorrentes do Regime de Amortização</a:t>
            </a:r>
          </a:p>
          <a:p>
            <a:r>
              <a:t>(i) Risco decorrente da ordem de alocação das distribuições: conforme previsto neste Anexo, as Cotas estarão sujeitas à Amortização de acordo com a ordem de alocação prevista no Capítulo 7. Portanto, o Cotista poderá ter sua perspectiva original de investimento reduzida e não poderá reinvestir os recursos recebidos com a mesma remuneração gerada pela Classe.</a:t>
            </a:r>
          </a:p>
          <a:p>
            <a:r>
              <a:t>Riscos do originador e da originação</a:t>
            </a:r>
          </a:p>
          <a:p>
            <a:r>
              <a:t>(i) Riscos do originador e da originação: a continuidade da Classe poderá ser comprometida no caso de inconstância na concessão de empréstimos pelo Endossante aos Devedores ou incapacidade do Agente de Retenção e Cobrança operacionalizar a Plataf orma VR, através da qual os Direitos Creditórios são originados. Portanto, o investimento na Classe está sujeito ao risco de não originação, no f uturo, de Direitos Creditórios pelo Endossante contra os Devedores através da Plataforma VR, disponibilizada pelo Agente de Retenção e Cobrança. Se isso acontecer, a originação dos Direitos Creditórios pelo Endossante poderá ser impactada negativamente ou mesmo impossibilitada, o que poderá gerar a liquidação antecipada da Classe.</a:t>
            </a:r>
          </a:p>
          <a:p>
            <a:r>
              <a:t>Além disso, a Classe poderá adquirir Direitos Creditórios que f oram originados em conformidade com o processo de originação e/ou políticas de concessão de crédito desenvolvidos e monitorados pelo Endossante.</a:t>
            </a:r>
          </a:p>
          <a:p>
            <a:r>
              <a:t>Entretanto, não é possível assegurar que o cumprimento dessas diretrizes garanta a qualidade dos Direitos Creditórios e/ou a solvência dos respectivos Devedores, ou que as diretrizes e parâmetros estabelecidos no Capítulo 13 sejam corretamente interpretados e aplicados quando a Classe fizer os investimentos. Além disso, se o Endossante deixar de existir ou estiver sujeito a uma ordem de intervenção, liquidação extrajudicial ou regime especial ou gestão temporária ou evento similar, a Classe será impactado também pelo f ato de que a Conta Vinculada na qual as transf erências f eitas pela CEF f oram depositadas f oi aberta em nome do Endossante. Neste caso, a Classe poderá sofrer perdas principalmente em relação ao atraso na regularização</a:t>
            </a:r>
          </a:p>
          <a:p>
            <a:r>
              <a:t>CNPJ 62552447000120 · Conta de arrecadação e risco de trânsito · Condição: Documentos atuais selecionados no inventário por categoria/escopo; a data documental isolada não comprova vigência jurídica.</a:t>
            </a:r>
          </a:p>
          <a:p>
            <a:r>
              <a:t>CNPJ 62552447000120 · Conta de arrecadação e risco de trânsito · Motivo: Cláusula primária localizada e citada, mas sua lista/condições extensas não admitem uma síntese literal curta confirmada. O trecho integral permanece nas fontes.</a:t>
            </a:r>
          </a:p>
          <a:p>
            <a:r>
              <a:t>CNPJ 62552447000120 · Conta de arrecadação e risco de trânsito · Versão e prevalência: Documentos atuais selecionados no inventário por categoria/escopo; a data documental isolada não comprova vigência jurídica.</a:t>
            </a:r>
          </a:p>
          <a:p>
            <a:r>
              <a:t>CNPJ 63953620000165 · Conta de arrecadação e risco de trânsito · Anexo ao Regulamento · ID 1222863 · 2026-06-02 · versão 1 · p. 28 · https://fnet.bmfbovespa.com.br/fnet/publico/visualizarDocumento?id=1222863</a:t>
            </a:r>
          </a:p>
          <a:p>
            <a:r>
              <a:t>CNPJ 63953620000165 · Conta de arrecadação e risco de trânsito · Excerto da fonte:</a:t>
            </a:r>
          </a:p>
          <a:p>
            <a:r>
              <a:t>Creditórios endossados à Classe não sejam pagos integralmente pelos respectivos Devedores em virtude  de qualquer problema de natureza comercial entre o Devedor e o Endossante, e este último não reembolse  à Classe o montante em moeda nacional correspondente ao valor dos Direitos Creditórios mencionados,  os resultados da Classe poderão ser afetados negativamente.</a:t>
            </a:r>
          </a:p>
          <a:p>
            <a:r>
              <a:t> Outros Riscos</a:t>
            </a:r>
          </a:p>
          <a:p>
            <a:r>
              <a:t> (i) Risco relativo à elegibilidade dos Direitos Creditórios: mesmo que os Direitos Creditórios cumpram com  todas as condições de endosso e declarações e garantias estabelecidas no Contrato de Endosso e os  Critérios de Elegibilidade aqui estabelecidos, não é possível afirmar que essas condições de endosso,  declarações e garantias e os Critérios de Elegibilidade sejam suficientes para garantir a satisfação e o  pagamento dos Direitos Creditórios. Além disso, não é possível assegurar que o Gestor verificará  adequadamente a conformidade dos Direitos Creditórios com os Critérios de Elegibilidade e as condições  de endosso, ou que as declarações e garantias prestadas pelo Endossante e pelo Agente de  Retenção/Cobrança em relação aos Direitos Creditórios sejam verdadeiras e exatas. A verificação  inadequada dos Elegibilidade e das condições de endosso, bem como a falsidade ou inexatidão das  declarações e garantias referentes aos Direitos Creditórios poderão resultar na compra de Direitos  Creditórios inelegíveis pela Classe, e as medidas disponíveis no âmbito do Contrato de Endosso poderão  não ser suficientes para manter a Classe protegida de perdas decorrentes de tal verificação inadequada ou  falsidade/inexatidão. Caso os Direitos Creditórios não sejam pagos pontualmente pelos Devedores ou os  Direitos Creditórios não tenham o desempenho esperado pela Classe, o patrimônio da Classe poderá ser  afetado adversamente.</a:t>
            </a:r>
          </a:p>
          <a:p>
            <a:r>
              <a:t> (ii) Risco de invalidade ou ineficácia do endosso: o endosso dos Direitos Creditórios à Classe poderá ser  invalidada ou considerada ineficaz, o que impacta negativamente o patrimônio da Classe, no caso de (a)  fraude contra credores, se no momento do endosso o Endossante for insolvente ou se ele vier a se tornar  insolvente; (b) fraude à execução, se (1) no momento do endosso o Endossante for réu em um processo  judicial capaz de torná-lo insolvente; ou (2) os Direitos Creditórios endossados à Classe estiverem sujeitos  a qualquer demanda judicial baseada em garantia real; e (c) fraude à execução fiscal, se o Endossante, ao  celebrar o endosso de crédito, como contribuinte por débito à Fazenda Pública, e crédito fiscal  regularmente inscrito na dívida ativa, não tiver ativos para pagamento total da dívida fiscal. Entretanto, o  Administrador, o Custodiante, o Gestor e o Agente de Retenção/ Cobrança não verificarão os eventos  acima no endosso de Direito Creditório e não serão responsabilizados em caso de invalidação ou ineficácia  do endosso de um Direito Creditório à Classe.</a:t>
            </a:r>
          </a:p>
          <a:p>
            <a:r>
              <a:t> (iii) Risco de impugnação judicial: a CCB poderá ser impugnada judicialmente tanto no que diz respeito à sua  formalização quanto às taxas aplicadas e à forma de cobrança da CCB, inclusive em virtude das disposições  estabelecidas na Lei nº 8.078, de 11 de setembro de 1990, conforme alterada (Código de Defesa do  Consumidor), tais como uma possível impugnação de cláusula abusiva, bem como qualquer vício nos  Documentos Comprobatórios ou Documentos Suporte que impeçam a exigibilidade do crédito (ausência  de assinaturas ou falta de prova de formalização regular do instrumento, representação ilegítima, dentre  outros). Nesses casos, a CCB poderá ser modificada ou cancelada em virtude de decisão judicial, o que  poderá acarretar perdas para a Classe e, consequentemente, afetar negativamente a rentabilidade de seu  patrimônio.</a:t>
            </a:r>
          </a:p>
          <a:p>
            <a:r>
              <a:t> (iv) Risco de restrições de natureza legal ou regulamentar: a Classe pode estar sujeita a riscos, além do  controle do Administrador, decorrentes de quaisquer restrições futuras de natureza legal e/ou  regulamentar que venham a afetar a validade da constituição e/ou o endosso dos Direitos Creditórios à  Classe. Caso essas restrições ocorram, o fluxo de cessões de Direitos Creditórios à Classe pode ser  interrompido e, portanto, pode comprometer a continuidade da Classe e a perspectiva de investimento  do Cotista. Além disso, os Direitos Creditórios que já estão na Carteira podem ter sua validade questionada,  o que pode causar, portanto, prejuízos ao Cotista.</a:t>
            </a:r>
          </a:p>
          <a:p>
            <a:r>
              <a:t> (v) Risco de bloqueio da Conta de Cobrança da Classe ou da Conta de Movimentação da Classe: os recursos  provenientes da Classe serão direcionados para a Conta de Cobrança da Classe e, de forma extraordinária,  para a Conta de Movimentação da Classe. Em caso de intervenção ou liquidação extrajudicial das  instituições financeiras onde a Conta de Cobrança da Classe e a Conta de Movimentação da Classe são</a:t>
            </a:r>
          </a:p>
          <a:p>
            <a:r>
              <a:t>CNPJ 63953620000165 · Conta de arrecadação e risco de trânsito · Condição: Documentos atuais selecionados no inventário por categoria/escopo; a data documental isolada não comprova vigência jurídica.</a:t>
            </a:r>
          </a:p>
          <a:p>
            <a:r>
              <a:t>CNPJ 63953620000165 · Conta de arrecadação e risco de trânsito · Motivo: Cláusula primária localizada e citada, mas sua lista/condições extensas não admitem uma síntese literal curta confirmada. O trecho integral permanece nas fontes.</a:t>
            </a:r>
          </a:p>
          <a:p>
            <a:r>
              <a:t>CNPJ 63953620000165 · Conta de arrecadação e risco de trânsito · Versão e prevalência: Documentos atuais selecionados no inventário por categoria/escopo; a data documental isolada não comprova vigência jurídica.</a:t>
            </a:r>
          </a:p>
          <a:p>
            <a:r>
              <a:t>CNPJ 63953620000165 · Conta de arrecadação e risco de trânsito · Resumo do histórico: {"count": 2, "dates": ["2026-02-19", "2026-05-15"], "document_count": 2, "sources": [{"document_id": "1327859", "title": "Demonstrações Financeiras - Fusão, cisão e incorporação", "reference_date": "2026-05-15", "version": "1", "page": 22, "url": "https://fnet.bmfbovespa.com.br/fnet/publico/visualizarDocumento?id=1327859", "sha256": "dca1c68babb97f887528c3e2e47596a9c30f507b067981a35655b2f2da9c8054"}, {"document_id": "1200324", "title": "Demonstrações Financeiras - Fusão, cisão e incorporação", "reference_date": "2026-02-19", "version": "1", "page": 22, "url": "https://fnet.bmfbovespa.com.br/fnet/publico/visualizarDocumento?id=1200324", "sha256": "aba4246af804161a6cb22052dc79425be7591e0bb7df5467cda6487f249272fc"}], "reference": {"path": "history/63953620000165.json", "criterion_id": "collection_account", "total_count": 2, "preview_count": 2, "full_text_deferred": true, "sha256": "a7b89077f5e21098c2d601c303faabc3ff6b9729f89d8afecdc60fe1404720c1"}}</a:t>
            </a:r>
          </a:p>
          <a:p>
            <a:r>
              <a:t>CNPJ 54871427000194 · Verificação de lastro e amostragem · Regulamento · ID 670691 · 28/04/2024 · versão Regulamento — referência 28/04/2024 · p. 10 · Anexo I, 4.7.1 · https://fnet.bmfbovespa.com.br/fnet/publico/visualizarDocumento?id=670691</a:t>
            </a:r>
          </a:p>
          <a:p>
            <a:r>
              <a:t>CNPJ 54871427000194 · Verificação de lastro e amostragem · Excerto da fonte:</a:t>
            </a:r>
          </a:p>
          <a:p>
            <a:r>
              <a:t>4.7.1 Os Documentos Comprobatórios deverão ser disponibilizados pelo respectivo Endossante (a) no prazo de 10 (dez) dias contados da Data de Aquisição dos 50 (cinquenta) casos que sejam solicitados pelo GESTOR, a seu exclusivo critério, (b) a totalidade dos demais Documentos Comprobatórios em f ormato digital em até 90 (noventa) dias a contar da Data de Aquisição, bem como dos Documentos Comprobatórios em formato físico relativos aos Direitos Creditórios que eventualmente estejam inadimplidos em ref erida data, e (c) a totalidade dos demais Documentos Comprobatórios em f ormato f ísico em até 180 (cento e oitenta) dias a contar da Data de Aquisição, sujeito à resolução do respectivo endosso, de acordo com os termos do Contrato de Endosso. 4.7.2 Caso um Direito Creditório cedido à Classe deixe de atender quaisquer Critérios de Elegibilidade e/ou quaisquer declarações e garantias ref erentes a esse Direito Creditório, conf orme previsto no respectivo Contrato de Endosso, após seu endosso à Classe, não haverá coobrigação nem direito de regresso da Classe contra o ADMINISTRADOR, o CUSTODIANTE o GESTOR e/ou o En</a:t>
            </a:r>
          </a:p>
          <a:p>
            <a:r>
              <a:t>CNPJ 54871427000194 · Verificação de lastro e amostragem · Regulamento · ID 670691 · 28/04/2024 · versão Regulamento — referência 28/04/2024 · p. 24 · Anexo I, 12.15 e 12.19(iv)–(v) · https://fnet.bmfbovespa.com.br/fnet/publico/visualizarDocumento?id=670691</a:t>
            </a:r>
          </a:p>
          <a:p>
            <a:r>
              <a:t>CNPJ 54871427000194 · Verificação de lastro e amostragem · Excerto da fonte:</a:t>
            </a:r>
          </a:p>
          <a:p>
            <a:r>
              <a:t>12.15 No âmbito das diligências relacionadas à aquisição de Direitos Creditórios caracterizados como direitos e títulos representativos de crédito, conforme referidos na alínea “a” do inciso XII do art. 2º do Anexo Normativo II da Resolução CVM 175, o GESTOR deve verificar a existência, integridade e titularidade do lastro, de f orma integral, utilizando modelo estatístico consistente e passível de verif icação, 12.16 O GESTOR pode contratar terceiros para ef etuar a verif icação do lastro, inclusive a entidade registradora, o CUSTODIANTE ou consultoria especializada, caso aplicável, devendo constar do contrato de prestação de serviços as regras e procedimentos aplicáveis à verif icação, sendo que o GESTOR será responsável pela fiscalização da atuação do agente contratado no tocante à observância às regras e procedimentos aplicáveis à verif icação. Custódia e Verificação do Lastro quando do inadimplemento ou substituição dos Direitos Creditórios 12.17 Caso a classe aplique recursos em Direitos Creditórios que não sejam passíveis de registro em entidade registradora na data deste Regulamento, o ADMINISTRADOR deve contratar o serviço de custódia para a Carteira. 12.18 Os serviços de custódia qualificada dos Direitos Creditóri</a:t>
            </a:r>
          </a:p>
          <a:p>
            <a:r>
              <a:t>CNPJ 54871427000194 · Verificação de lastro e amostragem · Condição: A entrega escalonada dos comprovantes é distinta da verificação integral prevista. O Complemento 2 contém recuperação/cobrança; não contém uma amostragem estatística de lastro.</a:t>
            </a:r>
          </a:p>
          <a:p>
            <a:r>
              <a:t>CNPJ 54871427000194 · Verificação de lastro e amostragem · Versão e prevalência: Leitura específica das cláusulas indicadas; condições e conflitos preservados. Seleção documental atual não comprova vigência jurídica por data isolada.</a:t>
            </a:r>
          </a:p>
          <a:p>
            <a:r>
              <a:t>CNPJ 54871427000194 · Verificação de lastro e amostragem · Resumo do histórico: {"count": 1, "dates": ["2024-04-19"], "document_count": 1, "sources": [{"document_id": "670689", "title": "Regulamento", "reference_date": "2024-04-19", "version": "1", "page": 45, "url": "https://fnet.bmfbovespa.com.br/fnet/publico/visualizarDocumento?id=670689", "sha256": "891bc9bc5d87bbc02ec139077a84d2702eb81ea02035fb71d24f5b8366b94a0b"}], "reference": {"path": "history/54871427000194.json", "criterion_id": "collateral_check", "total_count": 1, "preview_count": 1, "full_text_deferred": true, "sha256": "35d7cd99be50c7287c9fb675cf4f2e736002315295a225a9efa79c8d9186d874"}}</a:t>
            </a:r>
          </a:p>
          <a:p>
            <a:r>
              <a:t>CNPJ 60010416000112 · Verificação de lastro e amostragem · Regulamento · ID 1051393 · 09/10/2025 · versão Regulamento09/10/2025 · p. 59 · Complemento7itens1–4 · https://fnet.bmfbovespa.com.br/fnet/publico/visualizarDocumento?id=1051393</a:t>
            </a:r>
          </a:p>
          <a:p>
            <a:r>
              <a:t>CNPJ 60010416000112 · Verificação de lastro e amostragem · Excerto da fonte:</a:t>
            </a:r>
          </a:p>
          <a:p>
            <a:r>
              <a:t>1. O Gestor deverá realizar a verif icação dos Documentos Comprobatórios relativos aos Direitos Creditórios adquiridos pela Classe trimestralmente; sendo certo que o Endossante e/ou o Agente de Retenção/Cobrança, conforme o caso, deverão enviar os Documentos Comprobatórios para o Gestor, conf orme def inido nos itens conf orme def inido nos itens 11.16 e 11.17 do Anexo I. 2. Observado o disposto no inciso (i) do item 3 abaixo, numa data-base pré-estabelecida, será selecionada uma amostra aleatória simples para a determinação de um intervalo de confiança para a proporção de eventuais f alhas, baseado numa distribuição binomial aproxi</a:t>
            </a:r>
          </a:p>
          <a:p>
            <a:r>
              <a:t>CNPJ 60010416000112 · Verificação de lastro e amostragem · Versão e prevalência: Leitura específica das cláusulas indicadas; condições e conflitos preservados. Seleção documental atual não comprova vigência jurídica por data isolada.</a:t>
            </a:r>
          </a:p>
          <a:p>
            <a:r>
              <a:t>CNPJ 60010416000112 · Verificação de lastro e amostragem · Resumo do histórico: {"count": 1, "dates": ["2025-03-20"], "document_count": 1, "sources": [{"document_id": "993786", "title": "Regulamento", "reference_date": "2025-03-20", "version": "1", "page": 38, "url": "https://fnet.bmfbovespa.com.br/fnet/publico/visualizarDocumento?id=993786", "sha256": "fd0fdd369a195510d81f81f505195a0b09e5f43522a990afa7d58c4f872921c8"}], "reference": {"path": "history/60010416000112.json", "criterion_id": "collateral_check", "total_count": 1, "preview_count": 1, "full_text_deferred": true, "sha256": "8e2bd813f4c51cf01f6bfaad164bafe69d2bbb192f753eac92da3a01c2e63046"}}</a:t>
            </a:r>
          </a:p>
          <a:p>
            <a:r>
              <a:t>CNPJ 62696791000193 · Verificação de lastro e amostragem · Regulamento · ID 1143317 · 20/03/2026 · versão Regulamento — referência 20/03/2026 · p. 13 · Anexo I, 4.15–4.19 · https://fnet.bmfbovespa.com.br/fnet/publico/visualizarDocumento?id=1143317</a:t>
            </a:r>
          </a:p>
          <a:p>
            <a:r>
              <a:t>CNPJ 62696791000193 · Verificação de lastro e amostragem · Excerto da fonte:</a:t>
            </a:r>
          </a:p>
          <a:p>
            <a:r>
              <a:t>4.15 Os serviços de custódia qualif icada dos Direitos Creditórios do Agronegócio não registrados em entidade registradora, bem como a guarda física dos originais dos Direitos Creditórios do Agronegócio e dos Documentos Comprobatórios, serão prestados pelo Custodiante. 4.16 São atribuições do Custodiante, observado o disposto neste Regulamento e na regulamentação aplicável: (i) realizar a liquidação física ou eletrônica e financeira dos Direitos Creditórios do Agronegócio; (ii) cobrar e receber, em nome da classe, pagamentos, resgate de títulos ou qualquer outro rendimento relativo aos ativos da Carteira, depositando os valores recebidos diretamente em conta de titularidade da classe ou, se f or o caso, em conta vinculada; e (iii) realizar a guarda da documentação relativa ao lastro dos Direitos Creditórios do Agronegócio. 4.17 Em razão de a Classe possuir significativa quantidade de Direitos Creditórios do Agronegócio cedidos e expressiva diversificação de devedores e de Cedentes, além de atuar em vários segmentos, o Custodiante está autorizado a ef etuar a verif icação do lastro dos Direitos Creditórios do Agronegócio por amostragem, sempre que permitido pel</a:t>
            </a:r>
          </a:p>
          <a:p>
            <a:r>
              <a:t>CNPJ 62696791000193 · Verificação de lastro e amostragem · Condição: O PDF obtido termina no Complemento I (Fatores de Risco); Complemento II, referenciado para parâmetros de amostragem, não está incluído. Não atribuir confiança 95%/erro 5% por analogia.</a:t>
            </a:r>
          </a:p>
          <a:p>
            <a:r>
              <a:t>CNPJ 62696791000193 · Verificação de lastro e amostragem · Versão e prevalência: Leitura específica das cláusulas indicadas; condições e conflitos preservados. Seleção documental atual não comprova vigência jurídica por data isolada.</a:t>
            </a:r>
          </a:p>
          <a:p>
            <a:r>
              <a:t>CNPJ 55563624000109 · Verificação de lastro e amostragem · Regulamento · ID 1192614 · 30/04/2026 · versão Regulamento30/04/2026 · p. 12 · AnexoI4.5–4.6 · https://fnet.bmfbovespa.com.br/fnet/publico/visualizarDocumento?id=1192614</a:t>
            </a:r>
          </a:p>
          <a:p>
            <a:r>
              <a:t>CNPJ 55563624000109 · Verificação de lastro e amostragem · Excerto da fonte:</a:t>
            </a:r>
          </a:p>
          <a:p>
            <a:r>
              <a:t>4.5 Uma vez que o investimento nas Cotas da Classe Investida não corresponde a um investimento direto em direitos creditórios, uma série de disposições comuns à securitização de direitos creditórios não será aplicável ao investimento nas Cotas da Classe Investida. A título meramente exemplificativo, não existem processos de originação ou política de concessão de crédito adotada pelo GESTOR, tampouco há que se falar em verificação ou guarda de documentos comprobatórios que não sejam referentes às Cotas da Classe Investida. Da mesma forma, não há necessida</a:t>
            </a:r>
          </a:p>
          <a:p>
            <a:r>
              <a:t>CNPJ 55563624000109 · Verificação de lastro e amostragem · Regulamento · ID 1192614 · 30/04/2026 · versão Regulamento30/04/2026 · p. 28 · AnexoI12.22–12.24 · https://fnet.bmfbovespa.com.br/fnet/publico/visualizarDocumento?id=1192614</a:t>
            </a:r>
          </a:p>
          <a:p>
            <a:r>
              <a:t>CNPJ 55563624000109 · Verificação de lastro e amostragem · Excerto da fonte:</a:t>
            </a:r>
          </a:p>
          <a:p>
            <a:r>
              <a:t>12.22 Os Documentos Comprobatórios relativos às Cotas da Classe Investida integrantes da Carteira inadimplidos e/ou substituídos num dado trimestre serão, no referido trimestre, objeto de verificação individualizada e integral pelo CUSTODIANTE ou terceiro por ele contratado. 12.23 Eventuais vícios verificados nos Documentos Comprobatórios que evidenciam o lastro dos Direitos Creditórios serão comunicados por escrito pelo CUSTODIANTE ao ADMINISTRADOR em até 5 (cinco) Dias Úteis da sua verificação, para que sejam tomadas as medidas necessárias. Cobrança da</a:t>
            </a:r>
          </a:p>
          <a:p>
            <a:r>
              <a:t>CNPJ 55563624000109 · Verificação de lastro e amostragem · Versão e prevalência: Leitura específica das cláusulas indicadas; condições e conflitos preservados. Seleção documental atual não comprova vigência jurídica por data isolada.</a:t>
            </a:r>
          </a:p>
          <a:p>
            <a:r>
              <a:t>CNPJ 62552447000120 · Verificação de lastro e amostragem · Regulamento · ID 1200623 · 21/05/2026 · versão Consolidado21/05/2026 aprovado pelo ato1200625 · p. 41 · ComplementoIIitens1–4 · https://fnet.bmfbovespa.com.br/fnet/publico/visualizarDocumento?id=1200623</a:t>
            </a:r>
          </a:p>
          <a:p>
            <a:r>
              <a:t>CNPJ 62552447000120 · Verificação de lastro e amostragem · Excerto da fonte:</a:t>
            </a:r>
          </a:p>
          <a:p>
            <a:r>
              <a:t>1. O Gestor deverá realizar a verif icação dos Documentos Comprobatórios relativos aos Direitos Creditórios adquiridos pela Classe trimestralmente; sendo certo que o Endossante e/ou o Agente de Retenção/Cobrança, conforme o caso, deverão enviar os Documentos Comprobat órios para o Gestor. 2. Observado o disposto no inciso (i) do item 3 abaixo, numa data-base pré-estabelecida, será selecionada uma amostra aleatória simples para a determinação de um intervalo de confiança para a proporção de eventuais falhas, baseado numa distribuição binomial aproximada a uma distribuição normal com 95% (noventa e cinco por cento) de nível de confian</a:t>
            </a:r>
          </a:p>
          <a:p>
            <a:r>
              <a:t>CNPJ 62552447000120 · Verificação de lastro e amostragem · Regulamento · ID 1200623 · 21/05/2026 · versão Consolidado21/05/2026 aprovado pelo ato1200625 · p. 29 · AnexoI12.12–12.13 · https://fnet.bmfbovespa.com.br/fnet/publico/visualizarDocumento?id=1200623</a:t>
            </a:r>
          </a:p>
          <a:p>
            <a:r>
              <a:t>CNPJ 62552447000120 · Verificação de lastro e amostragem · Excerto da fonte:</a:t>
            </a:r>
          </a:p>
          <a:p>
            <a:r>
              <a:t>12.12 Os Documentos Comprobatórios relativos aos Direitos Creditórios integrantes da Carteira inadimplidos e/ou substituídos num dado trimestre serão, no ref erido trimestre, objeto de verificação individualizada e integral pelo Custodiante ou terceiro por ele contratado. 12.13 Eventuais vícios verificados nos Documentos Comprobatórios que evidenciam o lastro dos Direitos Creditórios serão comunicados por escrito pelo Custodiante ao Administrador em até 5 (cinco) Dias Úteis da sua verif icação, para que sejam tomadas as medidas necessárias. Retenção e Cobrança dos Direitos Creditórios Inadimplidos 12.14 A Classe contra</a:t>
            </a:r>
          </a:p>
          <a:p>
            <a:r>
              <a:t>CNPJ 62552447000120 · Verificação de lastro e amostragem · Versão e prevalência: Leitura específica das cláusulas indicadas; condições e conflitos preservados. Seleção documental atual não comprova vigência jurídica por data isolada.</a:t>
            </a:r>
          </a:p>
          <a:p>
            <a:r>
              <a:t>CNPJ 63953620000165 · Verificação de lastro e amostragem · Anexo ao Regulamento · ID 1222863 · 2026-06-02 · versão 1 · p. 30 · https://fnet.bmfbovespa.com.br/fnet/publico/visualizarDocumento?id=1222863</a:t>
            </a:r>
          </a:p>
          <a:p>
            <a:r>
              <a:t>CNPJ 63953620000165 · Verificação de lastro e amostragem · Excerto da fonte:</a:t>
            </a:r>
          </a:p>
          <a:p>
            <a:r>
              <a:t>Complemento II  (Ao Anexo I)  PARÂMETROS PARA A VERIFICAÇÃO DO LASTRO POR AMOSTRAGEM  1. O Gestor deverá realizar a verificação dos Documentos Comprobatórios relativos aos Direitos Creditórios adquiridos pela  Classe trimestralmente; sendo certo que o Endossante e/ou o Agente de Retenção/Cobrança, conforme o caso, deverão  enviar os Documentos Comprobatórios para o Gestor, conforme definido nos itens conforme definido nos itens 11.16 e</a:t>
            </a:r>
          </a:p>
          <a:p>
            <a:r>
              <a:t>CNPJ 63953620000165 · Verificação de lastro e amostragem · Anexo ao Regulamento · ID 1222863 · 2026-06-02 · versão 1 · p. 30 · 11.17 · https://fnet.bmfbovespa.com.br/fnet/publico/visualizarDocumento?id=1222863</a:t>
            </a:r>
          </a:p>
          <a:p>
            <a:r>
              <a:t>CNPJ 63953620000165 · Verificação de lastro e amostragem · Excerto da fonte:</a:t>
            </a:r>
          </a:p>
          <a:p>
            <a:r>
              <a:t>11.17 do Anexo I.</a:t>
            </a:r>
          </a:p>
          <a:p>
            <a:r>
              <a:t> 2. Observado o disposto no inciso (i) do item 3 abaixo, numa data-base pré-estabelecida, será selecionada uma amostra  aleatória simples para a determinação de um intervalo de confiança para a proporção de eventuais falhas, baseado numa  distribuição binomial aproximada a uma distribuição normal com 95% (noventa e cinco por cento) de nível de confiança,  visando a uma margem de erro de 5% (cinco por cento), independentemente do cedente dos Direitos Creditórios.</a:t>
            </a:r>
          </a:p>
          <a:p>
            <a:r>
              <a:t> 3. O escopo da análise da documentação que evidencia o lastro dos Direitos Creditórios contempla a verificação da  existência dos respectivos Documentos Comprobatórios, conforme abaixo discriminado:</a:t>
            </a:r>
          </a:p>
          <a:p>
            <a:r>
              <a:t> i. obtenção de base de dados analítica por Direitos Creditórios integrantes da Carteira;</a:t>
            </a:r>
          </a:p>
          <a:p>
            <a:r>
              <a:t> ii. seleção de uma amostra de acordo com as fórmulas abaixo</a:t>
            </a:r>
          </a:p>
          <a:p>
            <a:r>
              <a:t>CNPJ 63953620000165 · Verificação de lastro e amostragem · Anexo ao Regulamento · ID 1222863 · 2026-06-02 · versão 1 · p. 26 · https://fnet.bmfbovespa.com.br/fnet/publico/visualizarDocumento?id=1222863</a:t>
            </a:r>
          </a:p>
          <a:p>
            <a:r>
              <a:t>CNPJ 63953620000165 · Verificação de lastro e amostragem · Excerto da fonte:</a:t>
            </a:r>
          </a:p>
          <a:p>
            <a:r>
              <a:t>Complemento I  (Ao Anexo I)  FATORES DE RISCO APLICÁVEIS À CLASSE CONSIGNADO PRIVADO DO MT GLOBAL FUNDO DE INVESTIMENTO EM  DIREITOS CREDITÓRIOS RESPONSABILIDADE LIMITADA  Risco de Crédito</a:t>
            </a:r>
          </a:p>
          <a:p>
            <a:r>
              <a:t> (i) Riscos associados aos Devedores: os Direitos Creditórios a serem endossados à Classe serão descontados  pela Dataprev da remuneração do Devedor. A capacidade de pagamento do Devedor poderá ser afetada se,  por exemplo, o Devedor tiver o seu contrato de emprego rescindido ou em virtude de decisão judicial, o  Devedor for obrigado a pagar alimentos, que têm prioridade sobre o empréstimo para fins de desconto na  folha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afetar a rentabilidade da Classe.</a:t>
            </a:r>
          </a:p>
          <a:p>
            <a:r>
              <a:t> (ii)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referido Devedor poderá  ficar inadimplente e, consequentemente, não haverá repasse à Classe do respectivo Direito Creditório, o  que poderá resultar em perdas financeiras à Classe e aos Cotistas.</a:t>
            </a:r>
          </a:p>
          <a:p>
            <a:r>
              <a:t> (iii) Risco do Empregador não efetuar o desconto em folha: o repasse dos recursos oriundos dos Direitos  Creditórios à Classe depende da realização, pelo Empregador, da Escrituração e do desconto na respectiva  folha de pagamento do Devedor. Na hipótese do Empregador deixar de realizar a Escrituração ou os  descontos na folha de pagamento, não haverá repasse de recursos à Classe, podendo causar prejuízos à  Classe e aos Cotistas.</a:t>
            </a:r>
          </a:p>
          <a:p>
            <a:r>
              <a:t> (iv) Risco de perda do vínculo empregatício com o Empregador: caso o Devedor perca o vínculo empregatício  com o Empregador, não haverá remuneração e folha de pagamento para realização dos descontos para  pagamento dos Direitos Creditórios. Neste caso, não obstante a possibilidade do Agente de  Retenção/Cobrança realizar a cobrança ativa dos Direitos Creditórios diretamente do Devedor, a ausência  de remuneração poderá deixar o Devedor inadimplente perante a Classe até que o seu vínculo empregatício  seja retomado e seja efetuado o procedimento operacional para que a CCB seja aditada e/ou seja realizado  o Processo de Reinicialização. Tais situações poderão resultar em prejuízos à Classe e aos Cotistas.</a:t>
            </a:r>
          </a:p>
          <a:p>
            <a:r>
              <a:t> Riscos Operacionais</a:t>
            </a:r>
          </a:p>
          <a:p>
            <a:r>
              <a:t> (i) Risco de irregularidade dos Documentos Comprobatórios e/ou Documentos Suporte: o Gestor, ou  terceiro por ele contratado, deverá realizar a verificação da regularidade dos Documentos Comprobatórios  e Documentos Suporte. A Carteira poderá conter Direitos Creditórios com documentação irregular, o que  poderá impedir que a Classe exerça plenamente as prerrogativas derivadas da titularidade dos Direitos  Creditórios. O Gestor poderá contratar empresas especializadas, com comprovada competência e  adequação, para realizar a guarda física, manutenção, armazenamento, organização e digitalização dos  Documentos Comprobatórios e Documentos Suporte, que estarão sob total responsabilidade do Gestor,  permanecendo as empresas como agentes depositários dos Documentos Comprobatórios e Documentos  Suporte.</a:t>
            </a:r>
          </a:p>
          <a:p>
            <a:r>
              <a:t> (ii) Risco operacional da Dataprev e da CEF: o empréstimo contraído pelos Devedores é pago por meio de  desconto na folha de pagamento feito pela Dataprev e pela CEF, conforme aplicável. É possível que os  rendimentos dos Devedores sejam atrasados ou não pagos devido a questões operacionais envolvendo a  Dataprev e/ou a CEF. Nesse caso, a Carteira poderá sofrer, já que não receberá automaticamente, e  também poderá ter dificuldades para receber, a qualquer momento, os recursos decorrentes dos Direitos  Creditórios.</a:t>
            </a:r>
          </a:p>
          <a:p>
            <a:r>
              <a:t>CNPJ 63953620000165 · Verificação de lastro e amostragem · Condição: Documentos atuais selecionados no inventário por categoria/escopo; a data documental isolada não comprova vigência jurídica.</a:t>
            </a:r>
          </a:p>
          <a:p>
            <a:r>
              <a:t>CNPJ 63953620000165 · Verificação de lastro e amostragem · Versão e prevalência: Documentos atuais selecionados no inventário por categoria/escopo; a data documental isolada não comprova vigência jurídica.</a:t>
            </a:r>
          </a:p>
          <a:p>
            <a:r>
              <a:t>CNPJ 63953620000165 · Verificação de lastro e amostragem · Resumo do histórico: {"count": 8, "dates": ["2026-04-28", "2026-05-08", "2026-05-15"], "document_count": 3, "sources": [{"document_id": "1327859", "title": "Demonstrações Financeiras - Fusão, cisão e incorporação", "reference_date": "2026-05-15", "version": "1", "page": 22, "url": "https://fnet.bmfbovespa.com.br/fnet/publico/visualizarDocumento?id=1327859", "sha256": "dca1c68babb97f887528c3e2e47596a9c30f507b067981a35655b2f2da9c8054"}, {"document_id": "1298691", "title": "Demonstrações Financeiras - Fusão, cisão e incorporação", "reference_date": "2026-05-08", "version": "1", "page": 17, "url": "https://fnet.bmfbovespa.com.br/fnet/publico/visualizarDocumento?id=1298691", "sha256": "58c570d9b8d4d265330d3db3ea81c435b8e44a6dab4002aa37790652a1ee9819"}, {"document_id": "1282180", "title": "Demonstrações Financeiras - Fusão, cisão e incorporação", "reference_date": "2026-04-28", "version": "1", "page": 17, "url": "https://fnet.bmfbovespa.com.br/fnet/publico/visualizarDocumento?id=1282180", "sha256": "afaaa0e6809be4385e5bdb6c911aac582032c5bdbac3d7750234bf9eaf00438a"}], "reference": {"path": "history/63953620000165.json", "criterion_id": "collateral_check",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Garantias e operação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Garantias e constituição · Demonstrações Financeiras - Fusão, cisão e incorporação · ID 1219522 · 2026-02-02 · versão 1 · p. 21 · https://fnet.bmfbovespa.com.br/fnet/publico/visualizarDocumento?id=1219522</a:t>
            </a:r>
          </a:p>
          <a:p>
            <a:r>
              <a:t>CNPJ 54871427000194 · Garantias e constituição · Excerto da fonte:</a:t>
            </a:r>
          </a:p>
          <a:p>
            <a:r>
              <a:t>Em 02 de fevereiro de 2026, a Classe não possuía garantias reais ou fidejussórias, pela liquidação  dos direitos creditórios.</a:t>
            </a:r>
          </a:p>
          <a:p>
            <a:r>
              <a:t>CNPJ 54871427000194 · Garantias e constituição · Condição: Trechos do documento específico identificado com data mais recente; vigência jurídica não inferida.</a:t>
            </a:r>
          </a:p>
          <a:p>
            <a:r>
              <a:t>CNPJ 54871427000194 · Garantias e constituição · Versão e prevalência: Trechos do documento específico identificado com data mais recente; vigência jurídica não inferida.</a:t>
            </a:r>
          </a:p>
          <a:p>
            <a:r>
              <a:t>CNPJ 54871427000194 · Garantias e constituição · Resumo do histórico: {"count": 5, "dates": ["2024-12-31", "2025-01-01", "2025-12-31"], "document_count": 3, "sources": [{"document_id": "1151805", "title": "Demonstrações Financeiras", "reference_date": "2025-12-31", "version": "1", "page": 21, "url": "https://fnet.bmfbovespa.com.br/fnet/publico/visualizarDocumento?id=1151805", "sha256": "f1cea70b152968bf96ef9221b27225953cb20aeef487b2798db3c25e11b528d4"}, {"document_id": "869529", "title": "Demonstrações Financeiras", "reference_date": "2025-01-01", "version": "1", "page": 20, "url": "https://fnet.bmfbovespa.com.br/fnet/publico/visualizarDocumento?id=869529", "sha256": "9a93a9369ac8efdbc54ff8fcee3ccac3abf88edab4807b9323d3852450771b2a"}, {"document_id": "870070", "title": "Demonstrações Financeiras", "reference_date": "2024-12-31", "version": "1", "page": 20, "url": "https://fnet.bmfbovespa.com.br/fnet/publico/visualizarDocumento?id=870070", "sha256": "9a93a9369ac8efdbc54ff8fcee3ccac3abf88edab4807b9323d3852450771b2a"}], "reference": {"path": "history/54871427000194.json", "criterion_id": "guarantee", "total_count": 5, "preview_count": 3, "full_text_deferred": true, "sha256": "35d7cd99be50c7287c9fb675cf4f2e736002315295a225a9efa79c8d9186d874"}}</a:t>
            </a:r>
          </a:p>
          <a:p>
            <a:r>
              <a:t>CNPJ 60010416000112 · Garantias e constituição · Demonstrações Financeiras - Fusão, cisão e incorporação · ID 1298690 · 2026-05-08 · versão 1 · p. 19 · https://fnet.bmfbovespa.com.br/fnet/publico/visualizarDocumento?id=1298690</a:t>
            </a:r>
          </a:p>
          <a:p>
            <a:r>
              <a:t>CNPJ 60010416000112 · Garantias e constituição · Excerto da fonte:</a:t>
            </a:r>
          </a:p>
          <a:p>
            <a:r>
              <a:t>Em 08 de maio de 2026, a Classe não possuía garantias reais ou fidejussórias, pela liquidação  dos Direitos Creditórios.</a:t>
            </a:r>
          </a:p>
          <a:p>
            <a:r>
              <a:t>CNPJ 60010416000112 · Garantias e constituição · Condição: Trechos do documento específico identificado com data mais recente; vigência jurídica não inferida.</a:t>
            </a:r>
          </a:p>
          <a:p>
            <a:r>
              <a:t>CNPJ 60010416000112 · Garantias e constituição · Versão e prevalência: Trechos do documento específico identificado com data mais recente; vigência jurídica não inferida.</a:t>
            </a:r>
          </a:p>
          <a:p>
            <a:r>
              <a:t>CNPJ 60010416000112 · Garantias e constituição · Resumo do histórico: {"count": 4, "dates": ["2025-11-30", "2026-03-18", "2026-04-16"], "document_count": 3, "sources": [{"document_id": "1282181", "title": "Demonstrações Financeiras - Fusão, cisão e incorporação", "reference_date": "2026-04-16", "version": "1", "page": 20, "url": "https://fnet.bmfbovespa.com.br/fnet/publico/visualizarDocumento?id=1282181", "sha256": "b1c6566e43a00bcd00c8a7f30c77b7f86e351bd8e355bbea113f46d1dafda703"}, {"document_id": "1224477", "title": "Demonstrações Financeiras - Fusão, cisão e incorporação", "reference_date": "2026-03-18", "version": "1", "page": 20, "url": "https://fnet.bmfbovespa.com.br/fnet/publico/visualizarDocumento?id=1224477", "sha256": "0751bf0a75bc3b44c2748f5000226665c6ec6698a90c4dc6170b4e6c187759ae"}, {"document_id": "1126154", "title": "Demonstrações Financeiras", "reference_date": "2025-11-30", "version": "1", "page": 21, "url": "https://fnet.bmfbovespa.com.br/fnet/publico/visualizarDocumento?id=1126154", "sha256": "a01e7ccf88c548f12c95cba8526d7efbef6b585c112cd4668eca781c292090b0"}], "reference": {"path": "history/60010416000112.json", "criterion_id": "guarantee", "total_count": 4, "preview_count": 3, "full_text_deferred": true, "sha256": "8e2bd813f4c51cf01f6bfaad164bafe69d2bbb192f753eac92da3a01c2e63046"}}</a:t>
            </a:r>
          </a:p>
          <a:p>
            <a:r>
              <a:t>CNPJ 62696791000193 · Garantias e constituição · Regulamento · ID 1143317 · 20/03/2026 · versão Regulamento — referência 20/03/2026 · p. 11 · Anexo I, 4.7(iv) · https://fnet.bmfbovespa.com.br/fnet/publico/visualizarDocumento?id=1143317</a:t>
            </a:r>
          </a:p>
          <a:p>
            <a:r>
              <a:t>CNPJ 62696791000193 · Garantias e constituição · Excerto da fonte:</a:t>
            </a:r>
          </a:p>
          <a:p>
            <a:r>
              <a:t>(iv) sejam representados por direitos e/ou títulos representativos de crédito, com ou sem garantias reais ou pessoais a eles atreladas, incluindo, sem limitação, duplicatas, debêntures, contratos de locação e contratos mercantis de compra e venda de produtos e/ ou mercadorias perf ormados e/ou para entrega ou prestação f utura, bem como títulos ou certificados representativos desses contratos, decorrentes de operações nos segmentos f inanceiro, comercial, industrial, imobiliário, de hipotecas, de arrendamento mercantil e de prestação de serviços, observadas as vedações do item 4.28 abaixo deste Anexo. 4.7.2 Para f ins da verificação dos Critérios de Elegibilidade, será considerado o Patrimônio Líquido e o valor dos Direitos Creditórios do Agronegócio integrantes da carteira no Dia Útil imediatamente anterior à Data de Aquisição. 4.7.3 Na hipótese de eventuais Direitos Creditórios do Agronegócio elegíveis deixarem de atender a qualquer Critério de Elegibilidade após sua aquisição pela Classe, tal f ato não será entendido como um desenquadramento da carteira, tampouco haverá direito de regresso contra</a:t>
            </a:r>
          </a:p>
          <a:p>
            <a:r>
              <a:t>CNPJ 62696791000193 · Garantias e constituição · Regulamento · ID 1143317 · 20/03/2026 · versão Regulamento — referência 20/03/2026 · p. 14 · Anexo I, 4.24 · https://fnet.bmfbovespa.com.br/fnet/publico/visualizarDocumento?id=1143317</a:t>
            </a:r>
          </a:p>
          <a:p>
            <a:r>
              <a:t>CNPJ 62696791000193 · Garantias e constituição · Excerto da fonte:</a:t>
            </a:r>
          </a:p>
          <a:p>
            <a:r>
              <a:t>4.24 A Classe poderá adquirir imóveis rurais sobre os quais tenham sido constituídos ônus reais anteriormente ao seu ingresso no patrimônio da Classe. Ainda, posteriormente ao seu ingresso no patrimônio da Classe, poderá o Gestor, em nome da Classe, prestar fiança, aval, aceite ou coobrigar- se sob qualquer f orma, relativamente a operações relacionadas à carteira de ativos da Classe, bem como constituir ônus reais sobre imóveis rurais integrantes do patrimônio da Classe para garantir obrigações por ela assumidas. 4.25 O Administrador, conforme orientação do Gestor, poderá utilizar recursos da classe para recomprar suas próprias cotas, com a f inalidade exclusiva de cancelamento, seja por meio de programa de recompra ou por meio de Of erta Pública Voluntária de Aquisição d e suas próprias cotas (“OPAC”), observados os procedimentos eventualmente previstos nos manuais ou regras da B3, bem como o disposto no Art. 56 e seguintes do Anexo Normativo I da Resolução CVM 175. Participações do Agronegócio 4.26 As seguintes regras são aplicáveis aos investimentos em Participações do Agronegócio realizados pela Classe. 4.26.1 Deverão ser asseguradas à Classe (i) a participação no processo deci</a:t>
            </a:r>
          </a:p>
          <a:p>
            <a:r>
              <a:t>CNPJ 62696791000193 · Garantias e constituição · Regulamento · ID 1143317 · 20/03/2026 · versão Regulamento — referência 20/03/2026 · p. 48 · Complemento I, 11.6 · https://fnet.bmfbovespa.com.br/fnet/publico/visualizarDocumento?id=1143317</a:t>
            </a:r>
          </a:p>
          <a:p>
            <a:r>
              <a:t>CNPJ 62696791000193 · Garantias e constituição · Excerto da fonte:</a:t>
            </a:r>
          </a:p>
          <a:p>
            <a:r>
              <a:t>11.6. Ausência de garantia. As aplicações realizadas na Classe não contam com garantia do Cedente, do ADMINISTRADOR, do GESTOR, do CUSTODIANTE ou da Classe Garantidor de Créditos – FGC, de modo que é possível a perda total do capital investido pelos Cotistas ou mesmo a necessidade de os Cotistas realizarem aportes adicionais de recursos para a cobertura de eventuais prejuízos. 11.7. Limitação do gerenciamento de riscos. A realização de investimentos na Classe expõe o investidor a riscos a que a Classe está sujeita, os quais poderão acarretar perdas para os Cotistas. Não há qualquer garantia de completa eliminação da possibilidade de perdas para a Classe e para os Cotistas. Em condições adversas de mercado, esses sistemas de gerenciamento de riscos poderão ter sua ef iciência reduzida. A Classe também poderá estar sujeita a outros riscos advindos de motivos alheios ou exógenos ao controle do Administrador, tais como moratória, inadimplemento de pagamentos, mudança nas regras aplicáveis aos Ativos-Alvo e Ativos Financeiros de Liquidez, alteração na política monetária, alteração da política fiscal aplicável à Classe, os quais poderão causar preju</a:t>
            </a:r>
          </a:p>
          <a:p>
            <a:r>
              <a:t>CNPJ 62696791000193 · Garantias e constituição · Versão e prevalência: Leitura específica das cláusulas indicadas; condições e conflitos preservados. Seleção documental atual não comprova vigência jurídica por data isolada.</a:t>
            </a:r>
          </a:p>
          <a:p>
            <a:r>
              <a:t>CNPJ 55563624000109 · Garantias e constituição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Garantias e constituição · Resumo do histórico: {"count": 1, "dates": ["2026-04-30"], "document_count": 1, "sources": [{"document_id": "1192614", "title": "Regulamento", "reference_date": "2026-04-30", "version": "1", "page": "12, 14", "url": "https://fnet.bmfbovespa.com.br/fnet/publico/visualizarDocumento?id=1192614", "sha256": "f56e63ace0acde41d2f47fb48f1ac7f3f7df5e2d32de092d7c5e075a52516632"}], "reference": {"path": "history/55563624000109.json", "criterion_id": "guarantee", "total_count": 1, "preview_count": 1, "full_text_deferred": true, "sha256": "7835d573fb58a3c19adf5b8ecc2aee2bdbb9a88f7a0c0209b5f262b64c7522e3"}}</a:t>
            </a:r>
          </a:p>
          <a:p>
            <a:r>
              <a:t>CNPJ 62552447000120 · Garantias e constituição · Regulamento · ID 1200623 · 21/05/2026 · versão Consolidado21/05/2026 aprovado pelo ato1200625 · p. 8 · AnexoICondições(ii)(c) · https://fnet.bmfbovespa.com.br/fnet/publico/visualizarDocumento?id=1200623</a:t>
            </a:r>
          </a:p>
          <a:p>
            <a:r>
              <a:t>CNPJ 62552447000120 · Garantias e constituição · Excerto da fonte:</a:t>
            </a:r>
          </a:p>
          <a:p>
            <a:r>
              <a:t>garantias prestadas pelo Endossante ou pelo Agente de Retenção/Cobrança com relação a esse Direito Creditório deverão ser verdadeiras, nos termos deste Contrato e do respectivo Termo de Endosso; (e) tenha sido realizado o tratamento dos dados pessoais de pessoa natural observando as leis e regulamentações que regem a privacidade e a proteção de dados pess</a:t>
            </a:r>
          </a:p>
          <a:p>
            <a:r>
              <a:t>CNPJ 62552447000120 · Garantias e constituição · Regulamento · ID 1200623 · 21/05/2026 · versão Consolidado21/05/2026 aprovado pelo ato1200625 · p. 12 · AnexoI4.3.2 · https://fnet.bmfbovespa.com.br/fnet/publico/visualizarDocumento?id=1200623</a:t>
            </a:r>
          </a:p>
          <a:p>
            <a:r>
              <a:t>CNPJ 62552447000120 · Garantias e constituição · Excerto da fonte:</a:t>
            </a:r>
          </a:p>
          <a:p>
            <a:r>
              <a:t>alienação/cessão fiduciária; e (b) solicitar bloqueio de parte do saldo da conta vinculada do Devedor. Emitida a CCB em favor do Endossante e formalizada a alienação/cessão f iduciária pelo Devedor, o Endossante endossará eletronicamente a CCB em preto à Classe, que receberá todos os valores dela decorrentes (i.e., os Direitos Creditórios FGTS), após concluídas as f ormalidades de processamento pela CEF, na Conta da Classe. Caso a alienação/cessão f iduciária seja acionada nos termos da CCB, os recursos onerados serão liberados em favor do Endossante no</a:t>
            </a:r>
          </a:p>
          <a:p>
            <a:r>
              <a:t>CNPJ 62552447000120 · Garantias e constituição · Regulamento · ID 1200623 · 21/05/2026 · versão Consolidado21/05/2026 aprovado pelo ato1200625 · p. 6 · AnexoIRefinanciamentoLivre(d) · https://fnet.bmfbovespa.com.br/fnet/publico/visualizarDocumento?id=1200623</a:t>
            </a:r>
          </a:p>
          <a:p>
            <a:r>
              <a:t>CNPJ 62552447000120 · Garantias e constituição · Excerto da fonte:</a:t>
            </a:r>
          </a:p>
          <a:p>
            <a:r>
              <a:t>Refinanciamento Livre”, na forma de CCBs originadas no âmbito de um refinanciamento, de acordo com a política de cobrança vigente, de Direitos Creditórios Consignado Privado e de Direitos Creditórios FGTS, que não contem com o lastro de Consignação ou de cessão f iduciária do Saque-Aniversário, respectivamente; e (ii) “Ativos Financei</a:t>
            </a:r>
          </a:p>
          <a:p>
            <a:r>
              <a:t>CNPJ 62552447000120 · Garantias e constituição · Regulamento · ID 1200623 · 21/05/2026 · versão Consolidado21/05/2026 aprovado pelo ato1200625 · p. 16 · AnexoI4.25 · https://fnet.bmfbovespa.com.br/fnet/publico/visualizarDocumento?id=1200623</a:t>
            </a:r>
          </a:p>
          <a:p>
            <a:r>
              <a:t>CNPJ 62552447000120 · Garantias e constituição · Excerto da fonte:</a:t>
            </a:r>
          </a:p>
          <a:p>
            <a:r>
              <a:t>4.25 As aplicações na Classe não contam com garantia: (i) do Administrador; (ii) do Gestor; (iii) do Endossante; (iv) do Custodiante; (v) dos demais prestadores de serviço da Classe; (vii) de qualquer mecanismo de seguro; e/ou (viii) do FGC. CAPÍTULO 5 – CARACTERÍSTICAS E CONDIÇÕES DAS COTAS 5.1 A Classe não possui Subclasse. As características, os direitos e as condições de emissão, distribuição, subscrição, integralização, remuneração, Amortização e resgate das Cotas estão descritos neste Capítulo e no Capítulo 6. 5.1.1 Não obstante, por deliberação conjunta dos Prestadores de Serviços Essenciais e me</a:t>
            </a:r>
          </a:p>
          <a:p>
            <a:r>
              <a:t>CNPJ 62552447000120 · Garantias e constituição · Versão e prevalência: Leitura específica das cláusulas indicadas; condições e conflitos preservados. Seleção documental atual não comprova vigência jurídica por data isolada.</a:t>
            </a:r>
          </a:p>
          <a:p>
            <a:r>
              <a:t>CNPJ 63953620000165 · Garantias e constituição · Demonstrações Financeiras - Fusão, cisão e incorporação · ID 1327859 · 2026-05-15 · versão 1 · p. 21 · https://fnet.bmfbovespa.com.br/fnet/publico/visualizarDocumento?id=1327859</a:t>
            </a:r>
          </a:p>
          <a:p>
            <a:r>
              <a:t>CNPJ 63953620000165 · Garantias e constituição · Excerto da fonte:</a:t>
            </a:r>
          </a:p>
          <a:p>
            <a:r>
              <a:t>i) Alienação de direitos creditórios  No período em findo em 15 de maio de 2026, não houve recompra de direitos creditórios  inadimplentes.</a:t>
            </a:r>
          </a:p>
          <a:p>
            <a:r>
              <a:t>j) Garantias  Em 15 de maio de 2026, a Classe não possuía garantias reais ou fidejussórias, pela liquidação  dos direitos creditórios.</a:t>
            </a:r>
          </a:p>
          <a:p>
            <a:r>
              <a:t>7. Riscos  Não obstante o emprego pela Administradora e pela Gestora de plena diligência e da boa prática  de administração e gestão da Classe, da estrita observância da política de investimento, das  regras legais e regulamentares aplicáveis à sua administração e gestão, a Classe estará sujeita  aos riscos inerentes aos bens e direitos integrantes de sua Carteira, além dos fatores de risco  identificados abaixo.</a:t>
            </a:r>
          </a:p>
          <a:p>
            <a:r>
              <a:t> Risco de Crédito</a:t>
            </a:r>
          </a:p>
          <a:p>
            <a:r>
              <a:t> (i) Riscos associados aos Devedores: os direitos creditórios a serem endossados à  classe serão descontados pela Dataprev da remuneração do devedor. A capacidade de  pagamento do devedor poderá ser afetada se, por exemplo, o devedor tiver o seu  contrato de emprego rescindido ou em virtude de decisão judicial, o devedor for obrigado  a pagar alimentos, que têm prioridade sobre o empréstimo para fins de desconto na folha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afetar a rentabilidade da classe.</a:t>
            </a:r>
          </a:p>
          <a:p>
            <a:r>
              <a:t>CNPJ 63953620000165 · Garantias e constituição · Condição: Trechos do documento específico identificado com data mais recente; vigência jurídica não inferida.</a:t>
            </a:r>
          </a:p>
          <a:p>
            <a:r>
              <a:t>CNPJ 63953620000165 · Garantias e constituição · Versão e prevalência: Trechos do documento específico identificado com data mais recente; vigência jurídica não inferida.</a:t>
            </a:r>
          </a:p>
          <a:p>
            <a:r>
              <a:t>CNPJ 63953620000165 · Garantias e constituição · Resumo do histórico: {"count": 7, "dates": ["2026-04-16", "2026-04-28", "2026-05-08"], "document_count": 3, "sources": [{"document_id": "1298691", "title": "Demonstrações Financeiras - Fusão, cisão e incorporação", "reference_date": "2026-05-08", "version": "1", "page": 21, "url": "https://fnet.bmfbovespa.com.br/fnet/publico/visualizarDocumento?id=1298691", "sha256": "58c570d9b8d4d265330d3db3ea81c435b8e44a6dab4002aa37790652a1ee9819"}, {"document_id": "1282180", "title": "Demonstrações Financeiras - Fusão, cisão e incorporação", "reference_date": "2026-04-28", "version": "1", "page": 21, "url": "https://fnet.bmfbovespa.com.br/fnet/publico/visualizarDocumento?id=1282180", "sha256": "afaaa0e6809be4385e5bdb6c911aac582032c5bdbac3d7750234bf9eaf00438a"}, {"document_id": "1282179", "title": "Demonstrações Financeiras - Fusão, cisão e incorporação", "reference_date": "2026-04-16", "version": "1", "page": 21, "url": "https://fnet.bmfbovespa.com.br/fnet/publico/visualizarDocumento?id=1282179", "sha256": "beb67afbcd64169019477673fd3b7c1edbfabbd9db07379388d8cdd5d3fc9395"}], "reference": {"path": "history/63953620000165.json", "criterion_id": "guarantee", "total_count": 7, "preview_count": 3, "full_text_deferred": true, "sha256": "a7b89077f5e21098c2d601c303faabc3ff6b9729f89d8afecdc60fe1404720c1"}}</a:t>
            </a:r>
          </a:p>
          <a:p>
            <a:r>
              <a:t>CNPJ 54871427000194 · Registro, execução e recuperação · Motivo: Não localizada uma cláusula material para este critério nos textos identificados e processados. A ausência de resultado não comprova inexistência da regra.</a:t>
            </a:r>
          </a:p>
          <a:p>
            <a:r>
              <a:t>CNPJ 60010416000112 · Registro, execução e recuperação · Motivo: Não localizada uma cláusula material para este critério nos textos identificados e processados. A ausência de resultado não comprova inexistência da regra.</a:t>
            </a:r>
          </a:p>
          <a:p>
            <a:r>
              <a:t>CNPJ 62696791000193 · Registro, execução e recuperação · Regulamento · ID 1143317 · 2026-03-20 · versão 1 · p. 45 · 8.7 · https://fnet.bmfbovespa.com.br/fnet/publico/visualizarDocumento?id=1143317</a:t>
            </a:r>
          </a:p>
          <a:p>
            <a:r>
              <a:t>CNPJ 62696791000193 · Registro, execução e recuperação · Excerto da fonte:</a:t>
            </a:r>
          </a:p>
          <a:p>
            <a:r>
              <a:t>8.7. Risco de Execução das Garantias Atreladas aos CRIs. O investimento em CRI inclui uma série  de riscos, dentre estes, o risco de inadimplemento e consequente execução das garantias  outorgadas à respectiva operação e os riscos inerentes à eventual existência de bens imóveis  na composição da carteira da Classe, podendo, nesta hipótese, a rentabilidade da Classe ser  af etada. Em um eventual processo de execução das garantias dos CRI, poderá haver a  necessidade de contratação de consultores, dentre outros custos, que deverão ser suportados  pela Classe, na qualidade de investidor dos CRI. Adicionalmente, a garantia outorgada em  f avor dos CRI pode não ter valor suficiente para suportar as obrigações financeiras atreladas  a tal CRI. Desta f orma, uma série de eventos relacionados à execução de garantias dos CRI  poderá afetar negativamente o valor das Cotas e a rentabilidade do investimento na Classe.</a:t>
            </a:r>
          </a:p>
          <a:p>
            <a:r>
              <a:t>9. Riscos relativos às Participações do Agronegócio</a:t>
            </a:r>
          </a:p>
          <a:p>
            <a:r>
              <a:t>CNPJ 62696791000193 · Registro, execução e recuperação · Condição: Documentos atuais selecionados no inventário por categoria/escopo; a data documental isolada não comprova vigência jurídica.</a:t>
            </a:r>
          </a:p>
          <a:p>
            <a:r>
              <a:t>CNPJ 62696791000193 · Registro, execução e recuperação · Motivo: Cláusula primária localizada e citada, mas sua lista/condições extensas não admitem uma síntese literal curta confirmada. O trecho integral permanece nas fontes.</a:t>
            </a:r>
          </a:p>
          <a:p>
            <a:r>
              <a:t>CNPJ 62696791000193 · Registro, execução e recuperação · Versão e prevalência: Documentos atuais selecionados no inventário por categoria/escopo; a data documental isolada não comprova vigência jurídica.</a:t>
            </a:r>
          </a:p>
          <a:p>
            <a:r>
              <a:t>CNPJ 55563624000109 · Registro, execução e recuperação · Motivo: Não localizada uma cláusula material para este critério nos textos identificados e processados. A ausência de resultado não comprova inexistência da regra.</a:t>
            </a:r>
          </a:p>
          <a:p>
            <a:r>
              <a:t>CNPJ 62552447000120 · Registro, execução e recuperação · Motivo: Não localizada uma cláusula material para este critério nos textos identificados e processados. A ausência de resultado não comprova inexistência da regra.</a:t>
            </a:r>
          </a:p>
          <a:p>
            <a:r>
              <a:t>CNPJ 63953620000165 · Registro, execução e recuperação · Motivo: Não localizada uma cláusula material para este critério nos textos identificados e processados. A ausência de resultado não comprova inexistência da regra.</a:t>
            </a:r>
          </a:p>
          <a:p>
            <a:r>
              <a:t>CNPJ 54871427000194 · Cobrança e servicing · Regulamento · ID 670691 · 28/04/2024 · versão Regulamento — referência 28/04/2024 · p. 44 · Complemento 2, Régua de Cobrança, Desconto e Comissão · https://fnet.bmfbovespa.com.br/fnet/publico/visualizarDocumento?id=670691</a:t>
            </a:r>
          </a:p>
          <a:p>
            <a:r>
              <a:t>CNPJ 54871427000194 · Cobrança e servicing · Excerto da fonte:</a:t>
            </a:r>
          </a:p>
          <a:p>
            <a:r>
              <a:t>Régua de Cobrança A partir da comunicação da desaverbação do a partir de 31 dias a partir de 60 dias contrato - Notificação (canais digitais) - Negativação SERASA - PROTESTO Repescagem diária na - Cobrança terceirizada - Repescagem diária na conta corrente - Repescagem diária na conta corrente conta corrente DESCONTO Normal Atraso Multa e Mora Principal 15 a 90 0% 0% 91 a 180 100% 0% 181 a 270 100% 20% 271 a 360 100% 30% Acima de 360 100% 50% COMISSÃO Faixa de Atraso % comissão De 15 a 90 dias 12% De 90 a 180 dias 15% De 181 a 270 dias 20%</a:t>
            </a:r>
          </a:p>
          <a:p>
            <a:r>
              <a:t>CNPJ 54871427000194 · Cobrança e servicing · Condição: A tabela de comissões se refere à cobrança/recuperação por faixa de atraso; a remuneração geral do agente está remetida ao contrato na cláusula 13.7.</a:t>
            </a:r>
          </a:p>
          <a:p>
            <a:r>
              <a:t>CNPJ 54871427000194 · Cobrança e servicing · Versão e prevalência: Leitura específica das cláusulas indicadas; condições e conflitos preservados. Seleção documental atual não comprova vigência jurídica por data isolada.</a:t>
            </a:r>
          </a:p>
          <a:p>
            <a:r>
              <a:t>CNPJ 60010416000112 · Cobrança e servicing · Regulamento · ID 1051393 · 2025-10-09 · versão 1 · p. 33 · 14.2.5 · https://fnet.bmfbovespa.com.br/fnet/publico/visualizarDocumento?id=1051393</a:t>
            </a:r>
          </a:p>
          <a:p>
            <a:r>
              <a:t>CNPJ 60010416000112 · Cobrança e servicing · Excerto da fonte:</a:t>
            </a:r>
          </a:p>
          <a:p>
            <a:r>
              <a:t>14.2.5 O Agente de Retenção/Cobrança poderá realizar a cobrança do Direitos Creditórios de forma ativa  caso seja verif icado, pelo Agente de Retenção/Cobrança que o Empregador não ef etuou a  Escrituração ou em caso de perda do vínculo empregatício do Devedor com o Empregador. A  cobrança ativa será mantida até que a Escrituração seja realizada e/ou até que o Devedor retome  o vínculo empregatício, observado o disposto abaixo:</a:t>
            </a:r>
          </a:p>
          <a:p>
            <a:r>
              <a:t> (i) As medidas adotadas pelo Agente de Retenção/Cobrança deverão observar a política  de cobrança adotada pelo Custodiante; e</a:t>
            </a:r>
          </a:p>
          <a:p>
            <a:r>
              <a:t> (ii) Uma vez retomado o vínculo empregatício, o Agente de Retenção/Cobrança deverá aditar  a CCB e/ou realizar o Processo de Reinicialização (conforme detalhado no Contrato de  Endosso).</a:t>
            </a:r>
          </a:p>
          <a:p>
            <a:r>
              <a:t>CAPÍTULO 15 – FATORES DE RISCO</a:t>
            </a:r>
          </a:p>
          <a:p>
            <a:r>
              <a:t>CNPJ 60010416000112 · Cobrança e servicing · Condição: Documentos atuais selecionados no inventário por categoria/escopo; a data documental isolada não comprova vigência jurídica.</a:t>
            </a:r>
          </a:p>
          <a:p>
            <a:r>
              <a:t>CNPJ 60010416000112 · Cobrança e servicing · Versão e prevalência: Documentos atuais selecionados no inventário por categoria/escopo; a data documental isolada não comprova vigência jurídica.</a:t>
            </a:r>
          </a:p>
          <a:p>
            <a:r>
              <a:t>CNPJ 60010416000112 · Cobrança e servicing · Resumo do histórico: {"count": 1, "dates": ["2025-03-20"], "document_count": 1, "sources": [{"document_id": "993786", "title": "Regulamento", "reference_date": "2025-03-20", "version": "1", "page": 33, "clause": "14.2.5", "url": "https://fnet.bmfbovespa.com.br/fnet/publico/visualizarDocumento?id=993786", "sha256": "fd0fdd369a195510d81f81f505195a0b09e5f43522a990afa7d58c4f872921c8"}], "reference": {"path": "history/60010416000112.json", "criterion_id": "servicing", "total_count": 1, "preview_count": 1, "full_text_deferred": true, "sha256": "8e2bd813f4c51cf01f6bfaad164bafe69d2bbb192f753eac92da3a01c2e63046"}}</a:t>
            </a:r>
          </a:p>
          <a:p>
            <a:r>
              <a:t>CNPJ 62696791000193 · Cobrança e servicing · Regulamento · ID 1143317 · 2026-03-20 · versão 1 · p. 43 · 7.7 · https://fnet.bmfbovespa.com.br/fnet/publico/visualizarDocumento?id=1143317</a:t>
            </a:r>
          </a:p>
          <a:p>
            <a:r>
              <a:t>CNPJ 62696791000193 · Cobrança e servicing · Excerto da fonte:</a:t>
            </a:r>
          </a:p>
          <a:p>
            <a:r>
              <a:t>7.7. Falhas de Cobrança. A cobrança dos Direitos Creditórios do Agronegócio Inadimplidos de  titularidade da Classe depende da atuação diligente do agente de cobrança. Qualquer f alha  de procedimento ou ineficiência do agente de cobrança poderá acarretar menor recebimento  dos recursos devidos pelos Devedores, levando à queda da rentabilidade da Classe.</a:t>
            </a:r>
          </a:p>
          <a:p>
            <a:r>
              <a:t> Adicionalmente, nada garante que a cobrança judicial dos Direitos Creditórios do Agronegócio  Inadimplidos levará à recuperação total dos Direitos Creditórios do Agronegócio Inadimplidos,  o que poderá implicar perdas patrimoniais à Classe e aos Cotistas.</a:t>
            </a:r>
          </a:p>
          <a:p>
            <a:r>
              <a:t>CNPJ 62696791000193 · Cobrança e servicing · Regulamento · ID 1143317 · 2026-03-20 · versão 1 · p. 9 · 3.2 · https://fnet.bmfbovespa.com.br/fnet/publico/visualizarDocumento?id=1143317</a:t>
            </a:r>
          </a:p>
          <a:p>
            <a:r>
              <a:t>CNPJ 62696791000193 · Cobrança e servicing · Excerto da fonte:</a:t>
            </a:r>
          </a:p>
          <a:p>
            <a:r>
              <a:t>3.2 Sem prejuízo de outras despesas que venham a ser aprovadas em Assembleia Especial, são Encargos  da Classe:</a:t>
            </a:r>
          </a:p>
          <a:p>
            <a:r>
              <a:t> (i) despesas com consultoria especializada;</a:t>
            </a:r>
          </a:p>
          <a:p>
            <a:r>
              <a:t> (ii) despesas com agente de cobrança.</a:t>
            </a:r>
          </a:p>
          <a:p>
            <a:r>
              <a:t>CNPJ 62696791000193 · Cobrança e servicing · Condição: Documentos atuais selecionados no inventário por categoria/escopo; a data documental isolada não comprova vigência jurídica.</a:t>
            </a:r>
          </a:p>
          <a:p>
            <a:r>
              <a:t>CNPJ 62696791000193 · Cobrança e servicing · Versão e prevalência: Documentos atuais selecionados no inventário por categoria/escopo; a data documental isolada não comprova vigência jurídica.</a:t>
            </a:r>
          </a:p>
          <a:p>
            <a:r>
              <a:t>CNPJ 55563624000109 · Cobrança e servicing · Regulamento · ID 1192614 · 2026-04-30 · versão 1 · p. 11 · https://fnet.bmfbovespa.com.br/fnet/publico/visualizarDocumento?id=1192614</a:t>
            </a:r>
          </a:p>
          <a:p>
            <a:r>
              <a:t>CNPJ 55563624000109 · Cobrança e servicing · Excerto da fonte:</a:t>
            </a:r>
          </a:p>
          <a:p>
            <a:r>
              <a:t>(vi) Emolumentos e comissões pagas por operações da Carteira da Classe;</a:t>
            </a:r>
          </a:p>
          <a:p>
            <a:r>
              <a:t> (vii) Despesas com a manutenção de ativos cuja propriedade decorra da execução de garantia ou de acordo  com o respectivo devedor;</a:t>
            </a:r>
          </a:p>
          <a:p>
            <a:r>
              <a:t> (viii) Honorários de advogados, custas e despesas processuais correlatas incorridos em defesa dos interesses  do FUNDO ou da Classe, em juízo ou fora dele, inclusive o valor da condenação imputada, se for o caso;</a:t>
            </a:r>
          </a:p>
          <a:p>
            <a:r>
              <a:t> (ix) Gastos derivados da celebração de contratos de seguro sobre os ativos integrantes da Carteira da Classe,  assim como a parcela de prejuízos da Carteira não coberta por apólices de seguro, salvo se decorrente  diretamente de culpa ou dolo dos prestadores de serviços da Classe no exercício de suas respectivas  funções;</a:t>
            </a:r>
          </a:p>
          <a:p>
            <a:r>
              <a:t> (x) Despesas relacionadas ao exercício do direito de voto decorrente dos ativos integrantes da Carteira;</a:t>
            </a:r>
          </a:p>
          <a:p>
            <a:r>
              <a:t> (xi) Despesas com a realização da Assembleia de Cotistas;</a:t>
            </a:r>
          </a:p>
          <a:p>
            <a:r>
              <a:t> (xii) Despesas inerentes à constituição, à fusão, à incorporação, à cisão, à transformação ou à liquidação da  Classe;</a:t>
            </a:r>
          </a:p>
          <a:p>
            <a:r>
              <a:t> (xiii) Despesas com a liquidação, o registro e a custódia de operações com os ativos integrantes da Carteira;</a:t>
            </a:r>
          </a:p>
          <a:p>
            <a:r>
              <a:t> (xiv) Despesas com o fechamento de câmbio, vinculadas às operações da Carteira da Classe;</a:t>
            </a:r>
          </a:p>
          <a:p>
            <a:r>
              <a:t> (xv) Despesas inerentes à distribuição primária das Cotas e à admissão das Cotas à negociação em mercado  organizado;</a:t>
            </a:r>
          </a:p>
          <a:p>
            <a:r>
              <a:t> (xvi) Taxa de Administração e a Taxa de Gestão;</a:t>
            </a:r>
          </a:p>
          <a:p>
            <a:r>
              <a:t> (xvii) Despesas com a contratação de consultoria especializada, conforme o caso;</a:t>
            </a:r>
          </a:p>
          <a:p>
            <a:r>
              <a:t> (xviii) Despesas com a contratação de agente de cobrança, conforme o caso;</a:t>
            </a:r>
          </a:p>
          <a:p>
            <a:r>
              <a:t> (xix) Despesas decorrentes de empréstimos contraídos em nome da Classe, nos termos da Resolução CVM  175 e deste Anexo;</a:t>
            </a:r>
          </a:p>
          <a:p>
            <a:r>
              <a:t> (xx) Taxa mínima de custódia, se houver; e</a:t>
            </a:r>
          </a:p>
          <a:p>
            <a:r>
              <a:t> (xxi) Montantes devidos a fundos investidores, na hipótese de remuneração com base na taxa de  administração, performance ou gestão, observado o disposto no art. 99 da parte geral da Resolução  CVM 175.</a:t>
            </a:r>
          </a:p>
          <a:p>
            <a:r>
              <a:t>CNPJ 55563624000109 · Cobrança e servicing · Condição: Documentos atuais selecionados no inventário por categoria/escopo; a data documental isolada não comprova vigência jurídica.</a:t>
            </a:r>
          </a:p>
          <a:p>
            <a:r>
              <a:t>CNPJ 55563624000109 · Cobrança e servicing · Motivo: Cláusula primária localizada e citada, mas sua lista/condições extensas não admitem uma síntese literal curta confirmada. O trecho integral permanece nas fontes.</a:t>
            </a:r>
          </a:p>
          <a:p>
            <a:r>
              <a:t>CNPJ 55563624000109 · Cobrança e servicing · Versão e prevalência: Documentos atuais selecionados no inventário por categoria/escopo; a data documental isolada não comprova vigência jurídica.</a:t>
            </a:r>
          </a:p>
          <a:p>
            <a:r>
              <a:t>CNPJ 62552447000120 · Cobrança e servicing · Regulamento · ID 1200623 · 2026-05-21 · versão 1 · p. 6 · https://fnet.bmfbovespa.com.br/fnet/publico/visualizarDocumento?id=1200623</a:t>
            </a:r>
          </a:p>
          <a:p>
            <a:r>
              <a:t>CNPJ 62552447000120 · Cobrança e servicing · Excerto da fonte:</a:t>
            </a:r>
          </a:p>
          <a:p>
            <a:r>
              <a:t>integrantes do conglomerado econômico de instituições  f inanceiras classificadas como S1 pelo Banco Central do  Brasil (“BACEN” e “Instituições Financeiras S1”,  respectivamente), desde que não representem títulos de  emissão ou coobrigação de instituições financeiras, bem  como cotas de f undos de investimento que invistam  preponderantemente nestes direitos, títulos e/ou valores  mobiliários; e</a:t>
            </a:r>
          </a:p>
          <a:p>
            <a:r>
              <a:t> (d) “Direitos Creditórios Refinanciamento Livre”, na forma  de CCBs originadas no âmbito de um refinanciamento, de  acordo com a política de cobrança vigente, de Direitos  Creditórios Consignado Privado e de Direitos Creditórios  FGTS, que não contem com o lastro de Consignação ou  de cessão f iduciária do Saque-Aniversário,  respectivamente; e</a:t>
            </a:r>
          </a:p>
          <a:p>
            <a:r>
              <a:t> (ii) “Ativos Financeiros”, assim entendidos como, em conjunto:</a:t>
            </a:r>
          </a:p>
          <a:p>
            <a:r>
              <a:t> (a) moeda corrente nacional;</a:t>
            </a:r>
          </a:p>
          <a:p>
            <a:r>
              <a:t> (b) títulos públicos f ederais;</a:t>
            </a:r>
          </a:p>
          <a:p>
            <a:r>
              <a:t> (c) ativos f inanceiros de renda f ixa de emissão ou  coobrigação de Instituições Financeiras S1;</a:t>
            </a:r>
          </a:p>
          <a:p>
            <a:r>
              <a:t> (d) operações compromissadas, desde que lastreadas nos  títulos mencionados nas alíneas (b) e (c) acima; e</a:t>
            </a:r>
          </a:p>
          <a:p>
            <a:r>
              <a:t> (e) cotas do BTG Pactual Tesouro Selic Fundo de  Investimento Renda Fixa Ref erenciado DI, inscrito no  CNPJ sob o nº 09.215.250/0001-13;</a:t>
            </a:r>
          </a:p>
          <a:p>
            <a:r>
              <a:t> observados todos os limites de composição e diversificação da carteira da  Classe (“Carteira”), estabelecidos neste Regulamento e na  regulamentação aplicável.</a:t>
            </a:r>
          </a:p>
          <a:p>
            <a:r>
              <a:t> O objetivo da Classe não representa, sob qualquer hipótese, promessa,  garantia ou sugestão da Classe ou de seus Prestadores de Serviços  Essenciais quanto à segurança, rentabilidade e liquidez dos títulos  componentes de sua Carteira.</a:t>
            </a:r>
          </a:p>
          <a:p>
            <a:r>
              <a:t>CNPJ 62552447000120 · Cobrança e servicing · Regulamento · ID 1200623 · 2026-05-21 · versão 1 · p. 7 · https://fnet.bmfbovespa.com.br/fnet/publico/visualizarDocumento?id=1200623</a:t>
            </a:r>
          </a:p>
          <a:p>
            <a:r>
              <a:t>CNPJ 62552447000120 · Cobrança e servicing · Excerto da fonte:</a:t>
            </a:r>
          </a:p>
          <a:p>
            <a:r>
              <a:t>(c) atendam, pro forma, na Data de Aquisição, aos  limites de concentração definidos no Capítulo 4 deste  Anexo I;</a:t>
            </a:r>
          </a:p>
          <a:p>
            <a:r>
              <a:t> (d) não haver disposição legal ou regulamentar  aprovada, ou ordem judicial ou administrativa  emitida, que tenha como objetivo impedir ou impor  limites ou exigências adicionais para o endosso de  Direitos Creditórios decorrentes de transações  dedutíveis da f olha de pagamento a f undos de  investimento;</a:t>
            </a:r>
          </a:p>
          <a:p>
            <a:r>
              <a:t> (e) atendam à Política de Crédito e, conforme aplicável,  à Política de Cobrança; e</a:t>
            </a:r>
          </a:p>
          <a:p>
            <a:r>
              <a:t>CNPJ 62552447000120 · Cobrança e servicing · Regulamento · ID 1200623 · 2026-05-21 · versão 1 · p. 3 · 2.1.2 · https://fnet.bmfbovespa.com.br/fnet/publico/visualizarDocumento?id=1200623</a:t>
            </a:r>
          </a:p>
          <a:p>
            <a:r>
              <a:t>CNPJ 62552447000120 · Cobrança e servicing · Excerto da fonte:</a:t>
            </a:r>
          </a:p>
          <a:p>
            <a:r>
              <a:t>2.1.2 Não obstante as atribuições previstas neste Regulamento e na regulamentação aplicável, cabe  ao Gestor praticar os atos necessários à gestão da Carteira. Assim, em linha com o art. 85 da  Parte Geral da Resolução CVM 175 e com o art. 32 do Anexo Normativo II, o Gestor pode  contratar, em nome do Fundo e/ou da Classe, os seguintes serviços: (a) intermediação de  operações para a Carteira; (b) distribuição de Cotas; (c) consultoria de investimentos; (d)  classificação de risco por agência classificadora de risco; (e) cogestão da Carteira; (f) formador  de mercado; e, eventualmente, (g) consultoria especializada; (h) agente de cobrança, e (i)  outros serviços em benef ício do Fundo ou da classe.</a:t>
            </a:r>
          </a:p>
          <a:p>
            <a:r>
              <a:t>CNPJ 62552447000120 · Cobrança e servicing · Condição: Documentos atuais selecionados no inventário por categoria/escopo; a data documental isolada não comprova vigência jurídica.</a:t>
            </a:r>
          </a:p>
          <a:p>
            <a:r>
              <a:t>CNPJ 62552447000120 · Cobrança e servicing · Versão e prevalência: Documentos atuais selecionados no inventário por categoria/escopo; a data documental isolada não comprova vigência jurídica.</a:t>
            </a:r>
          </a:p>
          <a:p>
            <a:r>
              <a:t>CNPJ 63953620000165 · Cobrança e servicing · Anexo ao Regulamento · ID 1222863 · 2026-06-02 · versão 1 · p. 8 · 4.25 · https://fnet.bmfbovespa.com.br/fnet/publico/visualizarDocumento?id=1222863</a:t>
            </a:r>
          </a:p>
          <a:p>
            <a:r>
              <a:t>CNPJ 63953620000165 · Cobrança e servicing · Excerto da fonte:</a:t>
            </a:r>
          </a:p>
          <a:p>
            <a:r>
              <a:t>4.25 É vedada qualquer forma de antecipação de recursos às Cedentes/aos Endossantes para posterior reembolso  pela Classe, seja pelo Administrador, Gestor, Custodiante, Consultora ou Agente de Cobrança.</a:t>
            </a:r>
          </a:p>
          <a:p>
            <a:r>
              <a:t>CNPJ 63953620000165 · Cobrança e servicing · Condição: Documentos atuais selecionados no inventário por categoria/escopo; a data documental isolada não comprova vigência jurídica.</a:t>
            </a:r>
          </a:p>
          <a:p>
            <a:r>
              <a:t>CNPJ 63953620000165 · Cobrança e servicing · Versão e prevalência: Documentos atuais selecionados no inventário por categoria/escopo; a data documental isolada não comprova vigência jurídica.</a:t>
            </a:r>
          </a:p>
          <a:p>
            <a:r>
              <a:t>CNPJ 63953620000165 · Cobrança e servicing · Resumo do histórico: {"count": 6, "dates": ["2026-04-28", "2026-05-08", "2026-05-15"], "document_count": 3, "sources": [{"document_id": "1327859", "title": "Demonstrações Financeiras - Fusão, cisão e incorporação", "reference_date": "2026-05-15", "version": "1", "page": 29, "url": "https://fnet.bmfbovespa.com.br/fnet/publico/visualizarDocumento?id=1327859", "sha256": "dca1c68babb97f887528c3e2e47596a9c30f507b067981a35655b2f2da9c8054"}, {"document_id": "1298691", "title": "Demonstrações Financeiras - Fusão, cisão e incorporação", "reference_date": "2026-05-08", "version": "1", "page": 5, "url": "https://fnet.bmfbovespa.com.br/fnet/publico/visualizarDocumento?id=1298691", "sha256": "58c570d9b8d4d265330d3db3ea81c435b8e44a6dab4002aa37790652a1ee9819"}, {"document_id": "1282180", "title": "Demonstrações Financeiras - Fusão, cisão e incorporação", "reference_date": "2026-04-28", "version": "1", "page": 30, "url": "https://fnet.bmfbovespa.com.br/fnet/publico/visualizarDocumento?id=1282180", "sha256": "afaaa0e6809be4385e5bdb6c911aac582032c5bdbac3d7750234bf9eaf00438a"}], "reference": {"path": "history/63953620000165.json", "criterion_id": "servicing", "total_count": 6, "preview_count": 3, "full_text_deferred": true, "sha256": "a7b89077f5e21098c2d601c303faabc3ff6b9729f89d8afecdc60fe1404720c1"}}</a:t>
            </a:r>
          </a:p>
          <a:p>
            <a:r>
              <a:t>CNPJ 54871427000194 · Conta de arrecadação e risco de trânsito · Regulamento · ID 670691 · 28/04/2024 · versão Regulamento — referência 28/04/2024 · p. 9 · Anexo I, 4.3 e 4.6 · https://fnet.bmfbovespa.com.br/fnet/publico/visualizarDocumento?id=670691</a:t>
            </a:r>
          </a:p>
          <a:p>
            <a:r>
              <a:t>CNPJ 54871427000194 · Conta de arrecadação e risco de trânsito · Excerto da fonte:</a:t>
            </a:r>
          </a:p>
          <a:p>
            <a:r>
              <a:t>4.3 Os pagamentos relativos aos Direitos Creditórios de titularidade da Classe serão realizados mediante consignação em folha, débito em conta de titularidade dos Devedores e pagamentos de sinistros, para pagamento dos valores correspondentes às parcelas das CCBs representadas pelos CCCBs de titularidade da Classe, os quais serão conciliados e repassados pelo Endossante para a conta corrente da Classe. 4.4 Os Direitos Creditórios deverão contar com Documentos Comprobatórios que evidenciem sua existência, validade e exequibilidade perante os respectivos Devedores . 4.4.1 Os Direitos Creditórios serão adquiridos pela Classe por meio de Contrato de Endosso f irmados entre a Classe e o Endossante e os respectivos Termos de Endosso, acompanhados de todos os direitos, privilégios, preferências, prerrogativas, ações e garantias assegurados aos seus titulares, observada a Política de Investimentos e as demais disposições deste Regulamento e da legislação e regulamentação aplicáveis. 4.5 O Endossante deverá realizar análise cadastral e de crédito dos Devedores, previamente à aquisição de Direitos Creditórios pela Classe. O disposto neste item não impede o ADMINISTRAD</a:t>
            </a:r>
          </a:p>
          <a:p>
            <a:r>
              <a:t>CNPJ 54871427000194 · Conta de arrecadação e risco de trânsito · Regulamento · ID 670691 · 28/04/2024 · versão Regulamento — referência 28/04/2024 · p. 9 · Anexo I, 4.6 · https://fnet.bmfbovespa.com.br/fnet/publico/visualizarDocumento?id=670691</a:t>
            </a:r>
          </a:p>
          <a:p>
            <a:r>
              <a:t>CNPJ 54871427000194 · Conta de arrecadação e risco de trânsito · Excerto da fonte:</a:t>
            </a:r>
          </a:p>
          <a:p>
            <a:r>
              <a:t>4.6 A cobrança ordinária e recebimento de Direitos Creditórios pela Classe é realizada mediante a liquidação dos recursos através de débito dos salários a receber pelos Devedores do órgão consignante ou através da consignação direto da folha, sendo certo que o GESTOR e/ou o Custodiante f arão o monitoramento do pagamento dos Direitos Creditórios através da validação do Arquivo de Liquidação, do Relatório de Repasse, e consulta oriunda do sistema da processadora conveniada ao órgão consignante, responsável pela consignação em f olha de pagamento ou de benef ício dos Devedores (averbação, débito e repasse). Critérios de Elegibilidade 4.7 A Classe somente poderá adquirir os Direitos Creditórios que atendam cumulativamente aos seguintes Critérios de Elegibilidade, a serem verif icados e validados pelo GESTOR, de f orma individualizada e integral, previamente à cessão e na respectiva Data de Aquisição, de modo que apenas são passíveis de aquisição pela Classe os Direitos Creditórios que, na Data de Aquisição: (i) CCBs sem qualquer parcela cedida; (ii) CCBs com diferença menor que 60 (sessenta) dias entre a data provável do endosso e a próxima parcela a vencer;</a:t>
            </a:r>
          </a:p>
          <a:p>
            <a:r>
              <a:t>CNPJ 54871427000194 · Conta de arrecadação e risco de trânsito · Condição: A mecânica prevê passagem dos recursos pelo endossante; o regulamento não estabelece, nesta cláusula, repasse direto automático pelo órgão consignante.</a:t>
            </a:r>
          </a:p>
          <a:p>
            <a:r>
              <a:t>CNPJ 54871427000194 · Conta de arrecadação e risco de trânsito · Versão e prevalência: Leitura específica das cláusulas indicadas; condições e conflitos preservados. Seleção documental atual não comprova vigência jurídica por data isolada.</a:t>
            </a:r>
          </a:p>
          <a:p>
            <a:r>
              <a:t>CNPJ 54871427000194 · Conta de arrecadação e risco de trânsito · Resumo do histórico: {"count": 1, "dates": ["2024-04-19"], "document_count": 1, "sources": [{"document_id": "670689", "title": "Regulamento", "reference_date": "2024-04-19", "version": "1", "page": 25, "url": "https://fnet.bmfbovespa.com.br/fnet/publico/visualizarDocumento?id=670689", "sha256": "891bc9bc5d87bbc02ec139077a84d2702eb81ea02035fb71d24f5b8366b94a0b"}], "reference": {"path": "history/54871427000194.json", "criterion_id": "collection_account", "total_count": 1, "preview_count": 1, "full_text_deferred": true, "sha256": "35d7cd99be50c7287c9fb675cf4f2e736002315295a225a9efa79c8d9186d874"}}</a:t>
            </a:r>
          </a:p>
          <a:p>
            <a:r>
              <a:t>CNPJ 60010416000112 · Conta de arrecadação e risco de trânsito · Regulamento · ID 1051393 · 2025-10-09 · versão 1 · p. 32 · 14.2.1 · https://fnet.bmfbovespa.com.br/fnet/publico/visualizarDocumento?id=1051393</a:t>
            </a:r>
          </a:p>
          <a:p>
            <a:r>
              <a:t>CNPJ 60010416000112 · Conta de arrecadação e risco de trânsito · Excerto da fonte:</a:t>
            </a:r>
          </a:p>
          <a:p>
            <a:r>
              <a:t>14.2.1 Os valores indicados nos Arquivos Dataprev em relação aos Direitos Creditórios endossados à  Classe e depositados mensalmente pela CEF na Conta Vinculada serão cobrados/recebidos da  seguinte f orma:</a:t>
            </a:r>
          </a:p>
          <a:p>
            <a:r>
              <a:t> (i) mensalmente, após o processamento da f olha de pagamento dos Devedores, a Dataprev  enviará os Arquivos Dataprev ao Endossante;</a:t>
            </a:r>
          </a:p>
          <a:p>
            <a:r>
              <a:t> (ii) ao receber os Arquivos Dataprev, o Endossante os disponibilizará ao Custodiante e ao  Agente de Retenção/Cobrança, através de uma interf ace de programação de aplicações  (API), no mesmo dia que forem disponibilizados pela Dataprev, ou no Dia Útil subsequente,  se f orem disponibilizados pela Dataprev após 16:00 (horário de Brasília) sem f azer qualquer  modif icação em suas respectivas inf ormações;</a:t>
            </a:r>
          </a:p>
          <a:p>
            <a:r>
              <a:t> (iii) até 2º (segundo) Dia Útil após o recebimento dos valores repassados pelos Empregadores,  a CEF ef etuará uma transf erência eletrônica disponível (TED) diretamente para a Conta  Vinculada relevante com o valor declarado no Arquivo de Consignações;</a:t>
            </a:r>
          </a:p>
          <a:p>
            <a:r>
              <a:t> (iv) o Endossante, na qualidade de Agente da Conta Vinculada, transferirá os valores devidos  à Classe para a Conta de Cobrança da Classe, de acordo com o Contrato de Conta  Vinculada; e</a:t>
            </a:r>
          </a:p>
          <a:p>
            <a:r>
              <a:t> (v) tendo recebido os Arquivos Dataprev e os valores indicados no item (iv), o Custodiante  realizará a reconciliação dos valores devidos à Classe e/ou ao Endossante.</a:t>
            </a:r>
          </a:p>
          <a:p>
            <a:r>
              <a:t>CNPJ 60010416000112 · Conta de arrecadação e risco de trânsito · Regulamento · ID 1051393 · 2025-10-09 · versão 1 · p. 28 · https://fnet.bmfbovespa.com.br/fnet/publico/visualizarDocumento?id=1051393</a:t>
            </a:r>
          </a:p>
          <a:p>
            <a:r>
              <a:t>CNPJ 60010416000112 · Conta de arrecadação e risco de trânsito · Excerto da fonte:</a:t>
            </a:r>
          </a:p>
          <a:p>
            <a:r>
              <a:t>Anexo I ao Regulamento CLASSE ÚNICA DO MT I CONSIGNADO PRIVADO I FUNDO DE INVESTIMENTO EM DIREITOS CREDITÓRIOS RESPONSABILIDADE LIMITADA  Documentos Comprobatórios e os Documentos Suporte que comprovam a operação, observados os  procedimentos operacionais da Entidade Registradora;</a:t>
            </a:r>
          </a:p>
          <a:p>
            <a:r>
              <a:t> (ii) receber, em nome da Classe, pagamentos de Direitos Creditórios, amortização ou resgate de Ativos  Financeiros ou qualquer outro rendimento dos ativos mantidos em custódia, mediante o recebimento  de valores diretamente na Conta de Cobrança da Classe ou transf eridos da Conta Vinculada;</a:t>
            </a:r>
          </a:p>
          <a:p>
            <a:r>
              <a:t> (iii) cobrar e receber, em nome da Classe, pagamentos, resgate de títulos ou qualquer outro rendimento  relativo aos ativos da Carteira, depositando os valores recebidos diretamente em conta de titularidade  da classe ou, se f or o caso, em conta-vinculada;</a:t>
            </a:r>
          </a:p>
          <a:p>
            <a:r>
              <a:t> (iv) realizar a guarda da documentação relativa ao lastro dos Direitos Creditórios;</a:t>
            </a:r>
          </a:p>
          <a:p>
            <a:r>
              <a:t> (v) realizar a reconciliação dos valores depositados na Conta de Cobrança da Classe;</a:t>
            </a:r>
          </a:p>
          <a:p>
            <a:r>
              <a:t> (vi)</a:t>
            </a:r>
          </a:p>
          <a:p>
            <a:r>
              <a:t> (vii) assegurar que inconsistências indicadas nos relatórios de verif icação dos Documentos  Comprobatórios e dos Documentos Suporte representativos dos Direitos Creditórios e seu endosso  à Classe sejam tratadas tempestivamente.</a:t>
            </a:r>
          </a:p>
          <a:p>
            <a:r>
              <a:t>CNPJ 60010416000112 · Conta de arrecadação e risco de trânsito · Regulamento · ID 1051393 · 2025-10-09 · versão 1 · p. 39 · https://fnet.bmfbovespa.com.br/fnet/publico/visualizarDocumento?id=1051393</a:t>
            </a:r>
          </a:p>
          <a:p>
            <a:r>
              <a:t>CNPJ 60010416000112 · Conta de arrecadação e risco de trânsito · Excerto da fonte:</a:t>
            </a:r>
          </a:p>
          <a:p>
            <a:r>
              <a:t>Anexo I ao Regulamento CLASSE ÚNICA DO MT I CONSIGNADO PRIVADO I FUNDO DE INVESTIMENTO EM DIREITOS CREDITÓRIOS RESPONSABILIDADE LIMITADA  da Classe e, de forma extraordinária, para a Conta de Movimentação da Classe. Em caso de  intervenção ou liquidação extrajudicial das instituições f inanceiras onde a Conta de Cobrança  da Classe e a Conta de Movimentação da Classe são mantidas, os fundos nelas depositados  poderão ser bloqueados e recuperados pela Classe somente através de uma ordem judicial,  o que af etaria seu retorno e poderia causar perda de parte de seus ativos.</a:t>
            </a:r>
          </a:p>
          <a:p>
            <a:r>
              <a:t> (ix) Risco de bloqueio da Conta Vinculada: a Conta Vinculada para a qual os recursos  provenientes do pagamento dos Direitos Creditórios serão direcionados poderá ser  bloqueada, dentre outros, (i) no caso de intervenção ou liquidação extrajudicial do  Endossante, ou (ii) no caso de decisões judiciais serem proferidas em demandas ajuizadas  contra o Endossante, determinando o bloqueio. Em qualquer desses eventos, esses recursos  de propriedade da Classe só poderão ser recuperados em juízo. Essa recuperação poderá  levar tempo para ser ef etuada ou mesmo não obter êxito, o que af etaria a rentabilidade da  Classe e poderia f azê-lo perder parte de seus ativos.</a:t>
            </a:r>
          </a:p>
          <a:p>
            <a:r>
              <a:t> (x) Risco de patrimônio líquido negativo: as estratégias de investimento adotadas pela  Classe, bem como o pagamento de remuneração aos prestadores de serviços da Classe,  podem f azer com que seu Patrimônio Líquido se torne negativo, hipótese em que o Cotista  poderá ser solicitado a f azer aportes adicionais de recursos, a f im de permitir que a Classe  cumpra suas obrigações.</a:t>
            </a:r>
          </a:p>
          <a:p>
            <a:r>
              <a:t> (xi) Risco de cobrança judicial ou extrajudicial: quando não f orem pagos os Direitos  Creditórios que compõem a Carteira, poderá haver cobrança judicial ou extrajudicial dos  valores devidos, mediante decisão dos Cotistas na Assembleia de Cotistas nos termos desse  Anexo I. Entretanto, não há garantia de que, em qualquer desses casos, os procedimentos  de cobrança acima mencionados serão aprovados na Assembleia Especial de Cotistas e,  caso aprovados, de que tais procedimentos atingirão os resultados desejados, nem de que  a Classe terá êxito em recuperar quaisquer valores inadimplidos, o que poderá resultar em  perdas para a Classe.</a:t>
            </a:r>
          </a:p>
          <a:p>
            <a:r>
              <a:t> (xii) Possibilidade de conflito de interesses entre a Classe e o Agente de  Retenção/Cobrança. O Agente de Retenção/Cobrança eventualmente possui ou pode vir a  possuir relacionamento comercial com o Endossante e/ou Devedores, de modo que, em  determinadas circunstâncias seus interesses podem ser conflitantes com os interesses da  Classe. Não é possível garantir que, materializada uma situação de conflito de interesses  conf orme descrita acima, o Agente de Retenção/Cobrança exponha-a adequadamente ao  Administrador e/ou aos Cotistas, ou que o faça absolutamente, tampouco que agirá no melhor  no interesse da Classe. Nesses casos, a Classe pode vir a adquirir Direitos Creditórios ou  pode vir a ter seus Direitos Creditórios Inadimplidos pagos em condições comparativamente  menos vantajosas àquelas que seriam verificadas na ausência de tais conflitos de interesses.</a:t>
            </a:r>
          </a:p>
          <a:p>
            <a:r>
              <a:t> Nesses casos, o Patrimônio Líquido pode ser af etado adversamente.</a:t>
            </a:r>
          </a:p>
          <a:p>
            <a:r>
              <a:t> (xiii) Risco de intervenção ou liquidação judicial do Administrador. A Classe está sujeito ao  risco dos efeitos de decretação de intervenção ou de liquidação judicial do Administrador e/ou  do Custodiante, nos termos da Lei nº 6.024, de 13 de março de 1974, conf orme alterada.</a:t>
            </a:r>
          </a:p>
          <a:p>
            <a:r>
              <a:t> (xiv) Patrimônio Líquido negativo. Os investimentos da Classe estão, por sua natureza, sujeitos  a f lutuações típicas de mercado, risco de crédito, risco sistêmico, condições adversas de  liquidez e negociação atípica nos mercados de atuação, sendo que não há garantia de  completa eliminação da possibilidade de perdas para a Classe e para os Cotistas. Além disso,  as estratégias de investimento adotadas pela Classe poderão f azer com que a Classe  apresente Patrimônio Líquido negativo, caso em que os Cotistas poderão ser chamados a  realizar aportes adicionais de recursos, de f orma a possibilitar que a Classe satisfaça suas  obrigações.</a:t>
            </a:r>
          </a:p>
          <a:p>
            <a:r>
              <a:t>CNPJ 60010416000112 · Conta de arrecadação e risco de trânsito · Condição: Documentos atuais selecionados no inventário por categoria/escopo; a data documental isolada não comprova vigência jurídica.</a:t>
            </a:r>
          </a:p>
          <a:p>
            <a:r>
              <a:t>CNPJ 60010416000112 · Conta de arrecadação e risco de trânsito · Versão e prevalência: Documentos atuais selecionados no inventário por categoria/escopo; a data documental isolada não comprova vigência jurídica.</a:t>
            </a:r>
          </a:p>
          <a:p>
            <a:r>
              <a:t>CNPJ 60010416000112 · Conta de arrecadação e risco de trânsito · Resumo do histórico: {"count": 1, "dates": ["2025-03-20"], "document_count": 1, "sources": [{"document_id": "993786", "title": "Regulamento", "reference_date": "2025-03-20", "version": "1", "page": 32, "clause": "14.2.1", "url": "https://fnet.bmfbovespa.com.br/fnet/publico/visualizarDocumento?id=993786", "sha256": "fd0fdd369a195510d81f81f505195a0b09e5f43522a990afa7d58c4f872921c8"}], "reference": {"path": "history/60010416000112.json", "criterion_id": "collection_account", "total_count": 1, "preview_count": 1, "full_text_deferred": true, "sha256": "8e2bd813f4c51cf01f6bfaad164bafe69d2bbb192f753eac92da3a01c2e63046"}}</a:t>
            </a:r>
          </a:p>
          <a:p>
            <a:r>
              <a:t>CNPJ 62696791000193 · Conta de arrecadação e risco de trânsito · Motivo: Não localizada uma cláusula material para este critério nos textos identificados e processados. A ausência de resultado não comprova inexistência da regra.</a:t>
            </a:r>
          </a:p>
          <a:p>
            <a:r>
              <a:t>CNPJ 55563624000109 · Conta de arrecadação e risco de trânsito · Motivo: Não localizada uma cláusula material para este critério nos textos identificados e processados. A ausência de resultado não comprova inexistência da regra.</a:t>
            </a:r>
          </a:p>
          <a:p>
            <a:r>
              <a:t>CNPJ 62552447000120 · Conta de arrecadação e risco de trânsito · Regulamento · ID 1200623 · 2026-05-21 · versão 1 · p. 37 · https://fnet.bmfbovespa.com.br/fnet/publico/visualizarDocumento?id=1200623</a:t>
            </a:r>
          </a:p>
          <a:p>
            <a:r>
              <a:t>CNPJ 62552447000120 · Conta de arrecadação e risco de trânsito · Excerto da fonte:</a:t>
            </a:r>
          </a:p>
          <a:p>
            <a:r>
              <a:t>operacional dos Direitos Creditórios Consignado Privado e dos Direitos Creditórios FGTS dependem de certif icações e habilitações do Endossante junto à Dataprev e à CEF, respectivamente. O Endossante deve observar as regras aplicáveis a cada Direito Creditório para a manutenção da sua habilitação, que, portanto, pode ser af etada em caso de descumprimento ou de mudança normativa. Nesses casos, a estrutura de cobrança dos Direitos Creditórios Consignado Privado e dos Direitos Creditórios FGTS poderá ser comprometida, dando origem à necessidade de adoção de uma nova estrutura, que poderá não ser tão eficaz quanto ela ou mesmo revelar, na prática, ser inadequada ou ter altos custos operacionais . Esses eventos podem levar a perdas patrimoniais para a Classe, na medida em que a Classe deixará de receber, definitiva ou temporariamente, recursos oriundos desses Direitos Creditórios, no todo ou em parte.</a:t>
            </a:r>
          </a:p>
          <a:p>
            <a:r>
              <a:t>(vii) Risco de fungibilidade: o pagamento dos Direitos Creditórios serão inicialmente realizados em conta liquidante do Endossante por meio de transferência de reserva bancária, sendo automaticamente transferido à Conta Vinculada na sua integralidade, também de titularidade do Endoss ante, o qual será responsável por realizar a conciliação dos valores e repassá-los à Conta da Classe. Enquanto os recursos não f orem transf eridos para a Classe, a Classe estará correndo o risco de crédito do Endossante, e no caso de qualquer evento de crédito do Endossante, como intervenção, liquidação extrajudicial, falência ou outros procedimentos para proteção de credores, a Classe poderá não receber os valores devidos a ele, e poderá incorrer em custos adicionais para recuperar esses valores. Além disso, em caso de intervenção, liquidação extrajudicial, falência, execução ou outro procedimento similar para proteção de credores envolvendo o Endossante, os valores depositados de tempos em tempos na conta liquidante do Endossante por meio de transferência d e reserva bancária, e automaticamente transferidos à Conta Vinculada, poderão ser bloqueados, por ordem judicial ou administrativa, o que poderá causar prejuízos à Classe e ao Cotista.</a:t>
            </a:r>
          </a:p>
          <a:p>
            <a:r>
              <a:t>Risco de descontinuidade</a:t>
            </a:r>
          </a:p>
          <a:p>
            <a:r>
              <a:t>(i) Risco de descontinuidade: a Classe poderá ser liquidada antecipadamente, dentre outros, caso ocorra um Evento de Liquidação. Portanto, o Cotista poderá ter sua perspectiva original de investimento reduzida e não ser capaz de reinvestir os recursos recebidos com a mesma remuneração gerada pela Classe, e nenhuma multa ou penalidade, de qualquer f orma, devido a esse f ato, será devida pela Classe, o Administrador, o Custodiante, o Coordenador Líder, o Gestor, o Agente de Retenção e Cobrança ou o Endossante.</a:t>
            </a:r>
          </a:p>
          <a:p>
            <a:r>
              <a:t>Riscos decorrentes do Regime de Amortização</a:t>
            </a:r>
          </a:p>
          <a:p>
            <a:r>
              <a:t>(i) Risco decorrente da ordem de alocação das distribuições: conforme previsto neste Anexo, as Cotas estarão sujeitas à Amortização de acordo com a ordem de alocação prevista no Capítulo 7. Portanto, o Cotista poderá ter sua perspectiva original de investimento reduzida e não poderá reinvestir os recursos recebidos com a mesma remuneração gerada pela Classe.</a:t>
            </a:r>
          </a:p>
          <a:p>
            <a:r>
              <a:t>Riscos do originador e da originação</a:t>
            </a:r>
          </a:p>
          <a:p>
            <a:r>
              <a:t>(i) Riscos do originador e da originação: a continuidade da Classe poderá ser comprometida no caso de inconstância na concessão de empréstimos pelo Endossante aos Devedores ou incapacidade do Agente de Retenção e Cobrança operacionalizar a Plataf orma VR, através da qual os Direitos Creditórios são originados. Portanto, o investimento na Classe está sujeito ao risco de não originação, no f uturo, de Direitos Creditórios pelo Endossante contra os Devedores através da Plataforma VR, disponibilizada pelo Agente de Retenção e Cobrança. Se isso acontecer, a originação dos Direitos Creditórios pelo Endossante poderá ser impactada negativamente ou mesmo impossibilitada, o que poderá gerar a liquidação antecipada da Classe.</a:t>
            </a:r>
          </a:p>
          <a:p>
            <a:r>
              <a:t>Além disso, a Classe poderá adquirir Direitos Creditórios que f oram originados em conformidade com o processo de originação e/ou políticas de concessão de crédito desenvolvidos e monitorados pelo Endossante.</a:t>
            </a:r>
          </a:p>
          <a:p>
            <a:r>
              <a:t>Entretanto, não é possível assegurar que o cumprimento dessas diretrizes garanta a qualidade dos Direitos Creditórios e/ou a solvência dos respectivos Devedores, ou que as diretrizes e parâmetros estabelecidos no Capítulo 13 sejam corretamente interpretados e aplicados quando a Classe fizer os investimentos. Além disso, se o Endossante deixar de existir ou estiver sujeito a uma ordem de intervenção, liquidação extrajudicial ou regime especial ou gestão temporária ou evento similar, a Classe será impactado também pelo f ato de que a Conta Vinculada na qual as transf erências f eitas pela CEF f oram depositadas f oi aberta em nome do Endossante. Neste caso, a Classe poderá sofrer perdas principalmente em relação ao atraso na regularização</a:t>
            </a:r>
          </a:p>
          <a:p>
            <a:r>
              <a:t>CNPJ 62552447000120 · Conta de arrecadação e risco de trânsito · Condição: Documentos atuais selecionados no inventário por categoria/escopo; a data documental isolada não comprova vigência jurídica.</a:t>
            </a:r>
          </a:p>
          <a:p>
            <a:r>
              <a:t>CNPJ 62552447000120 · Conta de arrecadação e risco de trânsito · Motivo: Cláusula primária localizada e citada, mas sua lista/condições extensas não admitem uma síntese literal curta confirmada. O trecho integral permanece nas fontes.</a:t>
            </a:r>
          </a:p>
          <a:p>
            <a:r>
              <a:t>CNPJ 62552447000120 · Conta de arrecadação e risco de trânsito · Versão e prevalência: Documentos atuais selecionados no inventário por categoria/escopo; a data documental isolada não comprova vigência jurídica.</a:t>
            </a:r>
          </a:p>
          <a:p>
            <a:r>
              <a:t>CNPJ 63953620000165 · Conta de arrecadação e risco de trânsito · Anexo ao Regulamento · ID 1222863 · 2026-06-02 · versão 1 · p. 28 · https://fnet.bmfbovespa.com.br/fnet/publico/visualizarDocumento?id=1222863</a:t>
            </a:r>
          </a:p>
          <a:p>
            <a:r>
              <a:t>CNPJ 63953620000165 · Conta de arrecadação e risco de trânsito · Excerto da fonte:</a:t>
            </a:r>
          </a:p>
          <a:p>
            <a:r>
              <a:t>Creditórios endossados à Classe não sejam pagos integralmente pelos respectivos Devedores em virtude  de qualquer problema de natureza comercial entre o Devedor e o Endossante, e este último não reembolse  à Classe o montante em moeda nacional correspondente ao valor dos Direitos Creditórios mencionados,  os resultados da Classe poderão ser afetados negativamente.</a:t>
            </a:r>
          </a:p>
          <a:p>
            <a:r>
              <a:t> Outros Riscos</a:t>
            </a:r>
          </a:p>
          <a:p>
            <a:r>
              <a:t> (i) Risco relativo à elegibilidade dos Direitos Creditórios: mesmo que os Direitos Creditórios cumpram com  todas as condições de endosso e declarações e garantias estabelecidas no Contrato de Endosso e os  Critérios de Elegibilidade aqui estabelecidos, não é possível afirmar que essas condições de endosso,  declarações e garantias e os Critérios de Elegibilidade sejam suficientes para garantir a satisfação e o  pagamento dos Direitos Creditórios. Além disso, não é possível assegurar que o Gestor verificará  adequadamente a conformidade dos Direitos Creditórios com os Critérios de Elegibilidade e as condições  de endosso, ou que as declarações e garantias prestadas pelo Endossante e pelo Agente de  Retenção/Cobrança em relação aos Direitos Creditórios sejam verdadeiras e exatas. A verificação  inadequada dos Elegibilidade e das condições de endosso, bem como a falsidade ou inexatidão das  declarações e garantias referentes aos Direitos Creditórios poderão resultar na compra de Direitos  Creditórios inelegíveis pela Classe, e as medidas disponíveis no âmbito do Contrato de Endosso poderão  não ser suficientes para manter a Classe protegida de perdas decorrentes de tal verificação inadequada ou  falsidade/inexatidão. Caso os Direitos Creditórios não sejam pagos pontualmente pelos Devedores ou os  Direitos Creditórios não tenham o desempenho esperado pela Classe, o patrimônio da Classe poderá ser  afetado adversamente.</a:t>
            </a:r>
          </a:p>
          <a:p>
            <a:r>
              <a:t> (ii) Risco de invalidade ou ineficácia do endosso: o endosso dos Direitos Creditórios à Classe poderá ser  invalidada ou considerada ineficaz, o que impacta negativamente o patrimônio da Classe, no caso de (a)  fraude contra credores, se no momento do endosso o Endossante for insolvente ou se ele vier a se tornar  insolvente; (b) fraude à execução, se (1) no momento do endosso o Endossante for réu em um processo  judicial capaz de torná-lo insolvente; ou (2) os Direitos Creditórios endossados à Classe estiverem sujeitos  a qualquer demanda judicial baseada em garantia real; e (c) fraude à execução fiscal, se o Endossante, ao  celebrar o endosso de crédito, como contribuinte por débito à Fazenda Pública, e crédito fiscal  regularmente inscrito na dívida ativa, não tiver ativos para pagamento total da dívida fiscal. Entretanto, o  Administrador, o Custodiante, o Gestor e o Agente de Retenção/ Cobrança não verificarão os eventos  acima no endosso de Direito Creditório e não serão responsabilizados em caso de invalidação ou ineficácia  do endosso de um Direito Creditório à Classe.</a:t>
            </a:r>
          </a:p>
          <a:p>
            <a:r>
              <a:t> (iii) Risco de impugnação judicial: a CCB poderá ser impugnada judicialmente tanto no que diz respeito à sua  formalização quanto às taxas aplicadas e à forma de cobrança da CCB, inclusive em virtude das disposições  estabelecidas na Lei nº 8.078, de 11 de setembro de 1990, conforme alterada (Código de Defesa do  Consumidor), tais como uma possível impugnação de cláusula abusiva, bem como qualquer vício nos  Documentos Comprobatórios ou Documentos Suporte que impeçam a exigibilidade do crédito (ausência  de assinaturas ou falta de prova de formalização regular do instrumento, representação ilegítima, dentre  outros). Nesses casos, a CCB poderá ser modificada ou cancelada em virtude de decisão judicial, o que  poderá acarretar perdas para a Classe e, consequentemente, afetar negativamente a rentabilidade de seu  patrimônio.</a:t>
            </a:r>
          </a:p>
          <a:p>
            <a:r>
              <a:t> (iv) Risco de restrições de natureza legal ou regulamentar: a Classe pode estar sujeita a riscos, além do  controle do Administrador, decorrentes de quaisquer restrições futuras de natureza legal e/ou  regulamentar que venham a afetar a validade da constituição e/ou o endosso dos Direitos Creditórios à  Classe. Caso essas restrições ocorram, o fluxo de cessões de Direitos Creditórios à Classe pode ser  interrompido e, portanto, pode comprometer a continuidade da Classe e a perspectiva de investimento  do Cotista. Além disso, os Direitos Creditórios que já estão na Carteira podem ter sua validade questionada,  o que pode causar, portanto, prejuízos ao Cotista.</a:t>
            </a:r>
          </a:p>
          <a:p>
            <a:r>
              <a:t> (v) Risco de bloqueio da Conta de Cobrança da Classe ou da Conta de Movimentação da Classe: os recursos  provenientes da Classe serão direcionados para a Conta de Cobrança da Classe e, de forma extraordinária,  para a Conta de Movimentação da Classe. Em caso de intervenção ou liquidação extrajudicial das  instituições financeiras onde a Conta de Cobrança da Classe e a Conta de Movimentação da Classe são</a:t>
            </a:r>
          </a:p>
          <a:p>
            <a:r>
              <a:t>CNPJ 63953620000165 · Conta de arrecadação e risco de trânsito · Condição: Documentos atuais selecionados no inventário por categoria/escopo; a data documental isolada não comprova vigência jurídica.</a:t>
            </a:r>
          </a:p>
          <a:p>
            <a:r>
              <a:t>CNPJ 63953620000165 · Conta de arrecadação e risco de trânsito · Motivo: Cláusula primária localizada e citada, mas sua lista/condições extensas não admitem uma síntese literal curta confirmada. O trecho integral permanece nas fontes.</a:t>
            </a:r>
          </a:p>
          <a:p>
            <a:r>
              <a:t>CNPJ 63953620000165 · Conta de arrecadação e risco de trânsito · Versão e prevalência: Documentos atuais selecionados no inventário por categoria/escopo; a data documental isolada não comprova vigência jurídica.</a:t>
            </a:r>
          </a:p>
          <a:p>
            <a:r>
              <a:t>CNPJ 63953620000165 · Conta de arrecadação e risco de trânsito · Resumo do histórico: {"count": 2, "dates": ["2026-02-19", "2026-05-15"], "document_count": 2, "sources": [{"document_id": "1327859", "title": "Demonstrações Financeiras - Fusão, cisão e incorporação", "reference_date": "2026-05-15", "version": "1", "page": 22, "url": "https://fnet.bmfbovespa.com.br/fnet/publico/visualizarDocumento?id=1327859", "sha256": "dca1c68babb97f887528c3e2e47596a9c30f507b067981a35655b2f2da9c8054"}, {"document_id": "1200324", "title": "Demonstrações Financeiras - Fusão, cisão e incorporação", "reference_date": "2026-02-19", "version": "1", "page": 22, "url": "https://fnet.bmfbovespa.com.br/fnet/publico/visualizarDocumento?id=1200324", "sha256": "aba4246af804161a6cb22052dc79425be7591e0bb7df5467cda6487f249272fc"}], "reference": {"path": "history/63953620000165.json", "criterion_id": "collection_account", "total_count": 2, "preview_count": 2, "full_text_deferred": true, "sha256": "a7b89077f5e21098c2d601c303faabc3ff6b9729f89d8afecdc60fe1404720c1"}}</a:t>
            </a:r>
          </a:p>
          <a:p>
            <a:r>
              <a:t>CNPJ 54871427000194 · Verificação de lastro e amostragem · Regulamento · ID 670691 · 28/04/2024 · versão Regulamento — referência 28/04/2024 · p. 10 · Anexo I, 4.7.1 · https://fnet.bmfbovespa.com.br/fnet/publico/visualizarDocumento?id=670691</a:t>
            </a:r>
          </a:p>
          <a:p>
            <a:r>
              <a:t>CNPJ 54871427000194 · Verificação de lastro e amostragem · Excerto da fonte:</a:t>
            </a:r>
          </a:p>
          <a:p>
            <a:r>
              <a:t>4.7.1 Os Documentos Comprobatórios deverão ser disponibilizados pelo respectivo Endossante (a) no prazo de 10 (dez) dias contados da Data de Aquisição dos 50 (cinquenta) casos que sejam solicitados pelo GESTOR, a seu exclusivo critério, (b) a totalidade dos demais Documentos Comprobatórios em f ormato digital em até 90 (noventa) dias a contar da Data de Aquisição, bem como dos Documentos Comprobatórios em formato físico relativos aos Direitos Creditórios que eventualmente estejam inadimplidos em ref erida data, e (c) a totalidade dos demais Documentos Comprobatórios em f ormato f ísico em até 180 (cento e oitenta) dias a contar da Data de Aquisição, sujeito à resolução do respectivo endosso, de acordo com os termos do Contrato de Endosso. 4.7.2 Caso um Direito Creditório cedido à Classe deixe de atender quaisquer Critérios de Elegibilidade e/ou quaisquer declarações e garantias ref erentes a esse Direito Creditório, conf orme previsto no respectivo Contrato de Endosso, após seu endosso à Classe, não haverá coobrigação nem direito de regresso da Classe contra o ADMINISTRADOR, o CUSTODIANTE o GESTOR e/ou o En</a:t>
            </a:r>
          </a:p>
          <a:p>
            <a:r>
              <a:t>CNPJ 54871427000194 · Verificação de lastro e amostragem · Regulamento · ID 670691 · 28/04/2024 · versão Regulamento — referência 28/04/2024 · p. 24 · Anexo I, 12.15 e 12.19(iv)–(v) · https://fnet.bmfbovespa.com.br/fnet/publico/visualizarDocumento?id=670691</a:t>
            </a:r>
          </a:p>
          <a:p>
            <a:r>
              <a:t>CNPJ 54871427000194 · Verificação de lastro e amostragem · Excerto da fonte:</a:t>
            </a:r>
          </a:p>
          <a:p>
            <a:r>
              <a:t>12.15 No âmbito das diligências relacionadas à aquisição de Direitos Creditórios caracterizados como direitos e títulos representativos de crédito, conforme referidos na alínea “a” do inciso XII do art. 2º do Anexo Normativo II da Resolução CVM 175, o GESTOR deve verificar a existência, integridade e titularidade do lastro, de f orma integral, utilizando modelo estatístico consistente e passível de verif icação, 12.16 O GESTOR pode contratar terceiros para ef etuar a verif icação do lastro, inclusive a entidade registradora, o CUSTODIANTE ou consultoria especializada, caso aplicável, devendo constar do contrato de prestação de serviços as regras e procedimentos aplicáveis à verif icação, sendo que o GESTOR será responsável pela fiscalização da atuação do agente contratado no tocante à observância às regras e procedimentos aplicáveis à verif icação. Custódia e Verificação do Lastro quando do inadimplemento ou substituição dos Direitos Creditórios 12.17 Caso a classe aplique recursos em Direitos Creditórios que não sejam passíveis de registro em entidade registradora na data deste Regulamento, o ADMINISTRADOR deve contratar o serviço de custódia para a Carteira. 12.18 Os serviços de custódia qualificada dos Direitos Creditóri</a:t>
            </a:r>
          </a:p>
          <a:p>
            <a:r>
              <a:t>CNPJ 54871427000194 · Verificação de lastro e amostragem · Condição: A entrega escalonada dos comprovantes é distinta da verificação integral prevista. O Complemento 2 contém recuperação/cobrança; não contém uma amostragem estatística de lastro.</a:t>
            </a:r>
          </a:p>
          <a:p>
            <a:r>
              <a:t>CNPJ 54871427000194 · Verificação de lastro e amostragem · Versão e prevalência: Leitura específica das cláusulas indicadas; condições e conflitos preservados. Seleção documental atual não comprova vigência jurídica por data isolada.</a:t>
            </a:r>
          </a:p>
          <a:p>
            <a:r>
              <a:t>CNPJ 54871427000194 · Verificação de lastro e amostragem · Resumo do histórico: {"count": 1, "dates": ["2024-04-19"], "document_count": 1, "sources": [{"document_id": "670689", "title": "Regulamento", "reference_date": "2024-04-19", "version": "1", "page": 45, "url": "https://fnet.bmfbovespa.com.br/fnet/publico/visualizarDocumento?id=670689", "sha256": "891bc9bc5d87bbc02ec139077a84d2702eb81ea02035fb71d24f5b8366b94a0b"}], "reference": {"path": "history/54871427000194.json", "criterion_id": "collateral_check", "total_count": 1, "preview_count": 1, "full_text_deferred": true, "sha256": "35d7cd99be50c7287c9fb675cf4f2e736002315295a225a9efa79c8d9186d874"}}</a:t>
            </a:r>
          </a:p>
          <a:p>
            <a:r>
              <a:t>CNPJ 60010416000112 · Verificação de lastro e amostragem · Regulamento · ID 1051393 · 09/10/2025 · versão Regulamento09/10/2025 · p. 59 · Complemento7itens1–4 · https://fnet.bmfbovespa.com.br/fnet/publico/visualizarDocumento?id=1051393</a:t>
            </a:r>
          </a:p>
          <a:p>
            <a:r>
              <a:t>CNPJ 60010416000112 · Verificação de lastro e amostragem · Excerto da fonte:</a:t>
            </a:r>
          </a:p>
          <a:p>
            <a:r>
              <a:t>1. O Gestor deverá realizar a verif icação dos Documentos Comprobatórios relativos aos Direitos Creditórios adquiridos pela Classe trimestralmente; sendo certo que o Endossante e/ou o Agente de Retenção/Cobrança, conforme o caso, deverão enviar os Documentos Comprobatórios para o Gestor, conf orme def inido nos itens conf orme def inido nos itens 11.16 e 11.17 do Anexo I. 2. Observado o disposto no inciso (i) do item 3 abaixo, numa data-base pré-estabelecida, será selecionada uma amostra aleatória simples para a determinação de um intervalo de confiança para a proporção de eventuais f alhas, baseado numa distribuição binomial aproxi</a:t>
            </a:r>
          </a:p>
          <a:p>
            <a:r>
              <a:t>CNPJ 60010416000112 · Verificação de lastro e amostragem · Versão e prevalência: Leitura específica das cláusulas indicadas; condições e conflitos preservados. Seleção documental atual não comprova vigência jurídica por data isolada.</a:t>
            </a:r>
          </a:p>
          <a:p>
            <a:r>
              <a:t>CNPJ 60010416000112 · Verificação de lastro e amostragem · Resumo do histórico: {"count": 1, "dates": ["2025-03-20"], "document_count": 1, "sources": [{"document_id": "993786", "title": "Regulamento", "reference_date": "2025-03-20", "version": "1", "page": 38, "url": "https://fnet.bmfbovespa.com.br/fnet/publico/visualizarDocumento?id=993786", "sha256": "fd0fdd369a195510d81f81f505195a0b09e5f43522a990afa7d58c4f872921c8"}], "reference": {"path": "history/60010416000112.json", "criterion_id": "collateral_check", "total_count": 1, "preview_count": 1, "full_text_deferred": true, "sha256": "8e2bd813f4c51cf01f6bfaad164bafe69d2bbb192f753eac92da3a01c2e63046"}}</a:t>
            </a:r>
          </a:p>
          <a:p>
            <a:r>
              <a:t>CNPJ 62696791000193 · Verificação de lastro e amostragem · Regulamento · ID 1143317 · 20/03/2026 · versão Regulamento — referência 20/03/2026 · p. 13 · Anexo I, 4.15–4.19 · https://fnet.bmfbovespa.com.br/fnet/publico/visualizarDocumento?id=1143317</a:t>
            </a:r>
          </a:p>
          <a:p>
            <a:r>
              <a:t>CNPJ 62696791000193 · Verificação de lastro e amostragem · Excerto da fonte:</a:t>
            </a:r>
          </a:p>
          <a:p>
            <a:r>
              <a:t>4.15 Os serviços de custódia qualif icada dos Direitos Creditórios do Agronegócio não registrados em entidade registradora, bem como a guarda física dos originais dos Direitos Creditórios do Agronegócio e dos Documentos Comprobatórios, serão prestados pelo Custodiante. 4.16 São atribuições do Custodiante, observado o disposto neste Regulamento e na regulamentação aplicável: (i) realizar a liquidação física ou eletrônica e financeira dos Direitos Creditórios do Agronegócio; (ii) cobrar e receber, em nome da classe, pagamentos, resgate de títulos ou qualquer outro rendimento relativo aos ativos da Carteira, depositando os valores recebidos diretamente em conta de titularidade da classe ou, se f or o caso, em conta vinculada; e (iii) realizar a guarda da documentação relativa ao lastro dos Direitos Creditórios do Agronegócio. 4.17 Em razão de a Classe possuir significativa quantidade de Direitos Creditórios do Agronegócio cedidos e expressiva diversificação de devedores e de Cedentes, além de atuar em vários segmentos, o Custodiante está autorizado a ef etuar a verif icação do lastro dos Direitos Creditórios do Agronegócio por amostragem, sempre que permitido pel</a:t>
            </a:r>
          </a:p>
          <a:p>
            <a:r>
              <a:t>CNPJ 62696791000193 · Verificação de lastro e amostragem · Condição: O PDF obtido termina no Complemento I (Fatores de Risco); Complemento II, referenciado para parâmetros de amostragem, não está incluído. Não atribuir confiança 95%/erro 5% por analogia.</a:t>
            </a:r>
          </a:p>
          <a:p>
            <a:r>
              <a:t>CNPJ 62696791000193 · Verificação de lastro e amostragem · Versão e prevalência: Leitura específica das cláusulas indicadas; condições e conflitos preservados. Seleção documental atual não comprova vigência jurídica por data isolada.</a:t>
            </a:r>
          </a:p>
          <a:p>
            <a:r>
              <a:t>CNPJ 55563624000109 · Verificação de lastro e amostragem · Regulamento · ID 1192614 · 30/04/2026 · versão Regulamento30/04/2026 · p. 12 · AnexoI4.5–4.6 · https://fnet.bmfbovespa.com.br/fnet/publico/visualizarDocumento?id=1192614</a:t>
            </a:r>
          </a:p>
          <a:p>
            <a:r>
              <a:t>CNPJ 55563624000109 · Verificação de lastro e amostragem · Excerto da fonte:</a:t>
            </a:r>
          </a:p>
          <a:p>
            <a:r>
              <a:t>4.5 Uma vez que o investimento nas Cotas da Classe Investida não corresponde a um investimento direto em direitos creditórios, uma série de disposições comuns à securitização de direitos creditórios não será aplicável ao investimento nas Cotas da Classe Investida. A título meramente exemplificativo, não existem processos de originação ou política de concessão de crédito adotada pelo GESTOR, tampouco há que se falar em verificação ou guarda de documentos comprobatórios que não sejam referentes às Cotas da Classe Investida. Da mesma forma, não há necessida</a:t>
            </a:r>
          </a:p>
          <a:p>
            <a:r>
              <a:t>CNPJ 55563624000109 · Verificação de lastro e amostragem · Regulamento · ID 1192614 · 30/04/2026 · versão Regulamento30/04/2026 · p. 28 · AnexoI12.22–12.24 · https://fnet.bmfbovespa.com.br/fnet/publico/visualizarDocumento?id=1192614</a:t>
            </a:r>
          </a:p>
          <a:p>
            <a:r>
              <a:t>CNPJ 55563624000109 · Verificação de lastro e amostragem · Excerto da fonte:</a:t>
            </a:r>
          </a:p>
          <a:p>
            <a:r>
              <a:t>12.22 Os Documentos Comprobatórios relativos às Cotas da Classe Investida integrantes da Carteira inadimplidos e/ou substituídos num dado trimestre serão, no referido trimestre, objeto de verificação individualizada e integral pelo CUSTODIANTE ou terceiro por ele contratado. 12.23 Eventuais vícios verificados nos Documentos Comprobatórios que evidenciam o lastro dos Direitos Creditórios serão comunicados por escrito pelo CUSTODIANTE ao ADMINISTRADOR em até 5 (cinco) Dias Úteis da sua verificação, para que sejam tomadas as medidas necessárias. Cobrança da</a:t>
            </a:r>
          </a:p>
          <a:p>
            <a:r>
              <a:t>CNPJ 55563624000109 · Verificação de lastro e amostragem · Versão e prevalência: Leitura específica das cláusulas indicadas; condições e conflitos preservados. Seleção documental atual não comprova vigência jurídica por data isolada.</a:t>
            </a:r>
          </a:p>
          <a:p>
            <a:r>
              <a:t>CNPJ 62552447000120 · Verificação de lastro e amostragem · Regulamento · ID 1200623 · 21/05/2026 · versão Consolidado21/05/2026 aprovado pelo ato1200625 · p. 41 · ComplementoIIitens1–4 · https://fnet.bmfbovespa.com.br/fnet/publico/visualizarDocumento?id=1200623</a:t>
            </a:r>
          </a:p>
          <a:p>
            <a:r>
              <a:t>CNPJ 62552447000120 · Verificação de lastro e amostragem · Excerto da fonte:</a:t>
            </a:r>
          </a:p>
          <a:p>
            <a:r>
              <a:t>1. O Gestor deverá realizar a verif icação dos Documentos Comprobatórios relativos aos Direitos Creditórios adquiridos pela Classe trimestralmente; sendo certo que o Endossante e/ou o Agente de Retenção/Cobrança, conforme o caso, deverão enviar os Documentos Comprobat órios para o Gestor. 2. Observado o disposto no inciso (i) do item 3 abaixo, numa data-base pré-estabelecida, será selecionada uma amostra aleatória simples para a determinação de um intervalo de confiança para a proporção de eventuais falhas, baseado numa distribuição binomial aproximada a uma distribuição normal com 95% (noventa e cinco por cento) de nível de confian</a:t>
            </a:r>
          </a:p>
          <a:p>
            <a:r>
              <a:t>CNPJ 62552447000120 · Verificação de lastro e amostragem · Regulamento · ID 1200623 · 21/05/2026 · versão Consolidado21/05/2026 aprovado pelo ato1200625 · p. 29 · AnexoI12.12–12.13 · https://fnet.bmfbovespa.com.br/fnet/publico/visualizarDocumento?id=1200623</a:t>
            </a:r>
          </a:p>
          <a:p>
            <a:r>
              <a:t>CNPJ 62552447000120 · Verificação de lastro e amostragem · Excerto da fonte:</a:t>
            </a:r>
          </a:p>
          <a:p>
            <a:r>
              <a:t>12.12 Os Documentos Comprobatórios relativos aos Direitos Creditórios integrantes da Carteira inadimplidos e/ou substituídos num dado trimestre serão, no ref erido trimestre, objeto de verificação individualizada e integral pelo Custodiante ou terceiro por ele contratado. 12.13 Eventuais vícios verificados nos Documentos Comprobatórios que evidenciam o lastro dos Direitos Creditórios serão comunicados por escrito pelo Custodiante ao Administrador em até 5 (cinco) Dias Úteis da sua verif icação, para que sejam tomadas as medidas necessárias. Retenção e Cobrança dos Direitos Creditórios Inadimplidos 12.14 A Classe contra</a:t>
            </a:r>
          </a:p>
          <a:p>
            <a:r>
              <a:t>CNPJ 62552447000120 · Verificação de lastro e amostragem · Versão e prevalência: Leitura específica das cláusulas indicadas; condições e conflitos preservados. Seleção documental atual não comprova vigência jurídica por data isolada.</a:t>
            </a:r>
          </a:p>
          <a:p>
            <a:r>
              <a:t>CNPJ 63953620000165 · Verificação de lastro e amostragem · Anexo ao Regulamento · ID 1222863 · 2026-06-02 · versão 1 · p. 30 · https://fnet.bmfbovespa.com.br/fnet/publico/visualizarDocumento?id=1222863</a:t>
            </a:r>
          </a:p>
          <a:p>
            <a:r>
              <a:t>CNPJ 63953620000165 · Verificação de lastro e amostragem · Excerto da fonte:</a:t>
            </a:r>
          </a:p>
          <a:p>
            <a:r>
              <a:t>Complemento II  (Ao Anexo I)  PARÂMETROS PARA A VERIFICAÇÃO DO LASTRO POR AMOSTRAGEM  1. O Gestor deverá realizar a verificação dos Documentos Comprobatórios relativos aos Direitos Creditórios adquiridos pela  Classe trimestralmente; sendo certo que o Endossante e/ou o Agente de Retenção/Cobrança, conforme o caso, deverão  enviar os Documentos Comprobatórios para o Gestor, conforme definido nos itens conforme definido nos itens 11.16 e</a:t>
            </a:r>
          </a:p>
          <a:p>
            <a:r>
              <a:t>CNPJ 63953620000165 · Verificação de lastro e amostragem · Anexo ao Regulamento · ID 1222863 · 2026-06-02 · versão 1 · p. 30 · 11.17 · https://fnet.bmfbovespa.com.br/fnet/publico/visualizarDocumento?id=1222863</a:t>
            </a:r>
          </a:p>
          <a:p>
            <a:r>
              <a:t>CNPJ 63953620000165 · Verificação de lastro e amostragem · Excerto da fonte:</a:t>
            </a:r>
          </a:p>
          <a:p>
            <a:r>
              <a:t>11.17 do Anexo I.</a:t>
            </a:r>
          </a:p>
          <a:p>
            <a:r>
              <a:t> 2. Observado o disposto no inciso (i) do item 3 abaixo, numa data-base pré-estabelecida, será selecionada uma amostra  aleatória simples para a determinação de um intervalo de confiança para a proporção de eventuais falhas, baseado numa  distribuição binomial aproximada a uma distribuição normal com 95% (noventa e cinco por cento) de nível de confiança,  visando a uma margem de erro de 5% (cinco por cento), independentemente do cedente dos Direitos Creditórios.</a:t>
            </a:r>
          </a:p>
          <a:p>
            <a:r>
              <a:t> 3. O escopo da análise da documentação que evidencia o lastro dos Direitos Creditórios contempla a verificação da  existência dos respectivos Documentos Comprobatórios, conforme abaixo discriminado:</a:t>
            </a:r>
          </a:p>
          <a:p>
            <a:r>
              <a:t> i. obtenção de base de dados analítica por Direitos Creditórios integrantes da Carteira;</a:t>
            </a:r>
          </a:p>
          <a:p>
            <a:r>
              <a:t> ii. seleção de uma amostra de acordo com as fórmulas abaixo</a:t>
            </a:r>
          </a:p>
          <a:p>
            <a:r>
              <a:t>CNPJ 63953620000165 · Verificação de lastro e amostragem · Anexo ao Regulamento · ID 1222863 · 2026-06-02 · versão 1 · p. 26 · https://fnet.bmfbovespa.com.br/fnet/publico/visualizarDocumento?id=1222863</a:t>
            </a:r>
          </a:p>
          <a:p>
            <a:r>
              <a:t>CNPJ 63953620000165 · Verificação de lastro e amostragem · Excerto da fonte:</a:t>
            </a:r>
          </a:p>
          <a:p>
            <a:r>
              <a:t>Complemento I  (Ao Anexo I)  FATORES DE RISCO APLICÁVEIS À CLASSE CONSIGNADO PRIVADO DO MT GLOBAL FUNDO DE INVESTIMENTO EM  DIREITOS CREDITÓRIOS RESPONSABILIDADE LIMITADA  Risco de Crédito</a:t>
            </a:r>
          </a:p>
          <a:p>
            <a:r>
              <a:t> (i) Riscos associados aos Devedores: os Direitos Creditórios a serem endossados à Classe serão descontados  pela Dataprev da remuneração do Devedor. A capacidade de pagamento do Devedor poderá ser afetada se,  por exemplo, o Devedor tiver o seu contrato de emprego rescindido ou em virtude de decisão judicial, o  Devedor for obrigado a pagar alimentos, que têm prioridade sobre o empréstimo para fins de desconto na  folha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afetar a rentabilidade da Classe.</a:t>
            </a:r>
          </a:p>
          <a:p>
            <a:r>
              <a:t> (ii)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referido Devedor poderá  ficar inadimplente e, consequentemente, não haverá repasse à Classe do respectivo Direito Creditório, o  que poderá resultar em perdas financeiras à Classe e aos Cotistas.</a:t>
            </a:r>
          </a:p>
          <a:p>
            <a:r>
              <a:t> (iii) Risco do Empregador não efetuar o desconto em folha: o repasse dos recursos oriundos dos Direitos  Creditórios à Classe depende da realização, pelo Empregador, da Escrituração e do desconto na respectiva  folha de pagamento do Devedor. Na hipótese do Empregador deixar de realizar a Escrituração ou os  descontos na folha de pagamento, não haverá repasse de recursos à Classe, podendo causar prejuízos à  Classe e aos Cotistas.</a:t>
            </a:r>
          </a:p>
          <a:p>
            <a:r>
              <a:t> (iv) Risco de perda do vínculo empregatício com o Empregador: caso o Devedor perca o vínculo empregatício  com o Empregador, não haverá remuneração e folha de pagamento para realização dos descontos para  pagamento dos Direitos Creditórios. Neste caso, não obstante a possibilidade do Agente de  Retenção/Cobrança realizar a cobrança ativa dos Direitos Creditórios diretamente do Devedor, a ausência  de remuneração poderá deixar o Devedor inadimplente perante a Classe até que o seu vínculo empregatício  seja retomado e seja efetuado o procedimento operacional para que a CCB seja aditada e/ou seja realizado  o Processo de Reinicialização. Tais situações poderão resultar em prejuízos à Classe e aos Cotistas.</a:t>
            </a:r>
          </a:p>
          <a:p>
            <a:r>
              <a:t> Riscos Operacionais</a:t>
            </a:r>
          </a:p>
          <a:p>
            <a:r>
              <a:t> (i) Risco de irregularidade dos Documentos Comprobatórios e/ou Documentos Suporte: o Gestor, ou  terceiro por ele contratado, deverá realizar a verificação da regularidade dos Documentos Comprobatórios  e Documentos Suporte. A Carteira poderá conter Direitos Creditórios com documentação irregular, o que  poderá impedir que a Classe exerça plenamente as prerrogativas derivadas da titularidade dos Direitos  Creditórios. O Gestor poderá contratar empresas especializadas, com comprovada competência e  adequação, para realizar a guarda física, manutenção, armazenamento, organização e digitalização dos  Documentos Comprobatórios e Documentos Suporte, que estarão sob total responsabilidade do Gestor,  permanecendo as empresas como agentes depositários dos Documentos Comprobatórios e Documentos  Suporte.</a:t>
            </a:r>
          </a:p>
          <a:p>
            <a:r>
              <a:t> (ii) Risco operacional da Dataprev e da CEF: o empréstimo contraído pelos Devedores é pago por meio de  desconto na folha de pagamento feito pela Dataprev e pela CEF, conforme aplicável. É possível que os  rendimentos dos Devedores sejam atrasados ou não pagos devido a questões operacionais envolvendo a  Dataprev e/ou a CEF. Nesse caso, a Carteira poderá sofrer, já que não receberá automaticamente, e  também poderá ter dificuldades para receber, a qualquer momento, os recursos decorrentes dos Direitos  Creditórios.</a:t>
            </a:r>
          </a:p>
          <a:p>
            <a:r>
              <a:t>CNPJ 63953620000165 · Verificação de lastro e amostragem · Condição: Documentos atuais selecionados no inventário por categoria/escopo; a data documental isolada não comprova vigência jurídica.</a:t>
            </a:r>
          </a:p>
          <a:p>
            <a:r>
              <a:t>CNPJ 63953620000165 · Verificação de lastro e amostragem · Versão e prevalência: Documentos atuais selecionados no inventário por categoria/escopo; a data documental isolada não comprova vigência jurídica.</a:t>
            </a:r>
          </a:p>
          <a:p>
            <a:r>
              <a:t>CNPJ 63953620000165 · Verificação de lastro e amostragem · Resumo do histórico: {"count": 8, "dates": ["2026-04-28", "2026-05-08", "2026-05-15"], "document_count": 3, "sources": [{"document_id": "1327859", "title": "Demonstrações Financeiras - Fusão, cisão e incorporação", "reference_date": "2026-05-15", "version": "1", "page": 22, "url": "https://fnet.bmfbovespa.com.br/fnet/publico/visualizarDocumento?id=1327859", "sha256": "dca1c68babb97f887528c3e2e47596a9c30f507b067981a35655b2f2da9c8054"}, {"document_id": "1298691", "title": "Demonstrações Financeiras - Fusão, cisão e incorporação", "reference_date": "2026-05-08", "version": "1", "page": 17, "url": "https://fnet.bmfbovespa.com.br/fnet/publico/visualizarDocumento?id=1298691", "sha256": "58c570d9b8d4d265330d3db3ea81c435b8e44a6dab4002aa37790652a1ee9819"}, {"document_id": "1282180", "title": "Demonstrações Financeiras - Fusão, cisão e incorporação", "reference_date": "2026-04-28", "version": "1", "page": 17, "url": "https://fnet.bmfbovespa.com.br/fnet/publico/visualizarDocumento?id=1282180", "sha256": "afaaa0e6809be4385e5bdb6c911aac582032c5bdbac3d7750234bf9eaf00438a"}], "reference": {"path": "history/63953620000165.json", "criterion_id": "collateral_check",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Garantias e operação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Garantias e constituição · Demonstrações Financeiras - Fusão, cisão e incorporação · ID 1219522 · 2026-02-02 · versão 1 · p. 21 · https://fnet.bmfbovespa.com.br/fnet/publico/visualizarDocumento?id=1219522</a:t>
            </a:r>
          </a:p>
          <a:p>
            <a:r>
              <a:t>CNPJ 54871427000194 · Garantias e constituição · Excerto da fonte:</a:t>
            </a:r>
          </a:p>
          <a:p>
            <a:r>
              <a:t>Em 02 de fevereiro de 2026, a Classe não possuía garantias reais ou fidejussórias, pela liquidação  dos direitos creditórios.</a:t>
            </a:r>
          </a:p>
          <a:p>
            <a:r>
              <a:t>CNPJ 54871427000194 · Garantias e constituição · Condição: Trechos do documento específico identificado com data mais recente; vigência jurídica não inferida.</a:t>
            </a:r>
          </a:p>
          <a:p>
            <a:r>
              <a:t>CNPJ 54871427000194 · Garantias e constituição · Versão e prevalência: Trechos do documento específico identificado com data mais recente; vigência jurídica não inferida.</a:t>
            </a:r>
          </a:p>
          <a:p>
            <a:r>
              <a:t>CNPJ 54871427000194 · Garantias e constituição · Resumo do histórico: {"count": 5, "dates": ["2024-12-31", "2025-01-01", "2025-12-31"], "document_count": 3, "sources": [{"document_id": "1151805", "title": "Demonstrações Financeiras", "reference_date": "2025-12-31", "version": "1", "page": 21, "url": "https://fnet.bmfbovespa.com.br/fnet/publico/visualizarDocumento?id=1151805", "sha256": "f1cea70b152968bf96ef9221b27225953cb20aeef487b2798db3c25e11b528d4"}, {"document_id": "869529", "title": "Demonstrações Financeiras", "reference_date": "2025-01-01", "version": "1", "page": 20, "url": "https://fnet.bmfbovespa.com.br/fnet/publico/visualizarDocumento?id=869529", "sha256": "9a93a9369ac8efdbc54ff8fcee3ccac3abf88edab4807b9323d3852450771b2a"}, {"document_id": "870070", "title": "Demonstrações Financeiras", "reference_date": "2024-12-31", "version": "1", "page": 20, "url": "https://fnet.bmfbovespa.com.br/fnet/publico/visualizarDocumento?id=870070", "sha256": "9a93a9369ac8efdbc54ff8fcee3ccac3abf88edab4807b9323d3852450771b2a"}], "reference": {"path": "history/54871427000194.json", "criterion_id": "guarantee", "total_count": 5, "preview_count": 3, "full_text_deferred": true, "sha256": "35d7cd99be50c7287c9fb675cf4f2e736002315295a225a9efa79c8d9186d874"}}</a:t>
            </a:r>
          </a:p>
          <a:p>
            <a:r>
              <a:t>CNPJ 60010416000112 · Garantias e constituição · Demonstrações Financeiras - Fusão, cisão e incorporação · ID 1298690 · 2026-05-08 · versão 1 · p. 19 · https://fnet.bmfbovespa.com.br/fnet/publico/visualizarDocumento?id=1298690</a:t>
            </a:r>
          </a:p>
          <a:p>
            <a:r>
              <a:t>CNPJ 60010416000112 · Garantias e constituição · Excerto da fonte:</a:t>
            </a:r>
          </a:p>
          <a:p>
            <a:r>
              <a:t>Em 08 de maio de 2026, a Classe não possuía garantias reais ou fidejussórias, pela liquidação  dos Direitos Creditórios.</a:t>
            </a:r>
          </a:p>
          <a:p>
            <a:r>
              <a:t>CNPJ 60010416000112 · Garantias e constituição · Condição: Trechos do documento específico identificado com data mais recente; vigência jurídica não inferida.</a:t>
            </a:r>
          </a:p>
          <a:p>
            <a:r>
              <a:t>CNPJ 60010416000112 · Garantias e constituição · Versão e prevalência: Trechos do documento específico identificado com data mais recente; vigência jurídica não inferida.</a:t>
            </a:r>
          </a:p>
          <a:p>
            <a:r>
              <a:t>CNPJ 60010416000112 · Garantias e constituição · Resumo do histórico: {"count": 4, "dates": ["2025-11-30", "2026-03-18", "2026-04-16"], "document_count": 3, "sources": [{"document_id": "1282181", "title": "Demonstrações Financeiras - Fusão, cisão e incorporação", "reference_date": "2026-04-16", "version": "1", "page": 20, "url": "https://fnet.bmfbovespa.com.br/fnet/publico/visualizarDocumento?id=1282181", "sha256": "b1c6566e43a00bcd00c8a7f30c77b7f86e351bd8e355bbea113f46d1dafda703"}, {"document_id": "1224477", "title": "Demonstrações Financeiras - Fusão, cisão e incorporação", "reference_date": "2026-03-18", "version": "1", "page": 20, "url": "https://fnet.bmfbovespa.com.br/fnet/publico/visualizarDocumento?id=1224477", "sha256": "0751bf0a75bc3b44c2748f5000226665c6ec6698a90c4dc6170b4e6c187759ae"}, {"document_id": "1126154", "title": "Demonstrações Financeiras", "reference_date": "2025-11-30", "version": "1", "page": 21, "url": "https://fnet.bmfbovespa.com.br/fnet/publico/visualizarDocumento?id=1126154", "sha256": "a01e7ccf88c548f12c95cba8526d7efbef6b585c112cd4668eca781c292090b0"}], "reference": {"path": "history/60010416000112.json", "criterion_id": "guarantee", "total_count": 4, "preview_count": 3, "full_text_deferred": true, "sha256": "8e2bd813f4c51cf01f6bfaad164bafe69d2bbb192f753eac92da3a01c2e63046"}}</a:t>
            </a:r>
          </a:p>
          <a:p>
            <a:r>
              <a:t>CNPJ 62696791000193 · Garantias e constituição · Regulamento · ID 1143317 · 20/03/2026 · versão Regulamento — referência 20/03/2026 · p. 11 · Anexo I, 4.7(iv) · https://fnet.bmfbovespa.com.br/fnet/publico/visualizarDocumento?id=1143317</a:t>
            </a:r>
          </a:p>
          <a:p>
            <a:r>
              <a:t>CNPJ 62696791000193 · Garantias e constituição · Excerto da fonte:</a:t>
            </a:r>
          </a:p>
          <a:p>
            <a:r>
              <a:t>(iv) sejam representados por direitos e/ou títulos representativos de crédito, com ou sem garantias reais ou pessoais a eles atreladas, incluindo, sem limitação, duplicatas, debêntures, contratos de locação e contratos mercantis de compra e venda de produtos e/ ou mercadorias perf ormados e/ou para entrega ou prestação f utura, bem como títulos ou certificados representativos desses contratos, decorrentes de operações nos segmentos f inanceiro, comercial, industrial, imobiliário, de hipotecas, de arrendamento mercantil e de prestação de serviços, observadas as vedações do item 4.28 abaixo deste Anexo. 4.7.2 Para f ins da verificação dos Critérios de Elegibilidade, será considerado o Patrimônio Líquido e o valor dos Direitos Creditórios do Agronegócio integrantes da carteira no Dia Útil imediatamente anterior à Data de Aquisição. 4.7.3 Na hipótese de eventuais Direitos Creditórios do Agronegócio elegíveis deixarem de atender a qualquer Critério de Elegibilidade após sua aquisição pela Classe, tal f ato não será entendido como um desenquadramento da carteira, tampouco haverá direito de regresso contra</a:t>
            </a:r>
          </a:p>
          <a:p>
            <a:r>
              <a:t>CNPJ 62696791000193 · Garantias e constituição · Regulamento · ID 1143317 · 20/03/2026 · versão Regulamento — referência 20/03/2026 · p. 14 · Anexo I, 4.24 · https://fnet.bmfbovespa.com.br/fnet/publico/visualizarDocumento?id=1143317</a:t>
            </a:r>
          </a:p>
          <a:p>
            <a:r>
              <a:t>CNPJ 62696791000193 · Garantias e constituição · Excerto da fonte:</a:t>
            </a:r>
          </a:p>
          <a:p>
            <a:r>
              <a:t>4.24 A Classe poderá adquirir imóveis rurais sobre os quais tenham sido constituídos ônus reais anteriormente ao seu ingresso no patrimônio da Classe. Ainda, posteriormente ao seu ingresso no patrimônio da Classe, poderá o Gestor, em nome da Classe, prestar fiança, aval, aceite ou coobrigar- se sob qualquer f orma, relativamente a operações relacionadas à carteira de ativos da Classe, bem como constituir ônus reais sobre imóveis rurais integrantes do patrimônio da Classe para garantir obrigações por ela assumidas. 4.25 O Administrador, conforme orientação do Gestor, poderá utilizar recursos da classe para recomprar suas próprias cotas, com a f inalidade exclusiva de cancelamento, seja por meio de programa de recompra ou por meio de Of erta Pública Voluntária de Aquisição d e suas próprias cotas (“OPAC”), observados os procedimentos eventualmente previstos nos manuais ou regras da B3, bem como o disposto no Art. 56 e seguintes do Anexo Normativo I da Resolução CVM 175. Participações do Agronegócio 4.26 As seguintes regras são aplicáveis aos investimentos em Participações do Agronegócio realizados pela Classe. 4.26.1 Deverão ser asseguradas à Classe (i) a participação no processo deci</a:t>
            </a:r>
          </a:p>
          <a:p>
            <a:r>
              <a:t>CNPJ 62696791000193 · Garantias e constituição · Regulamento · ID 1143317 · 20/03/2026 · versão Regulamento — referência 20/03/2026 · p. 48 · Complemento I, 11.6 · https://fnet.bmfbovespa.com.br/fnet/publico/visualizarDocumento?id=1143317</a:t>
            </a:r>
          </a:p>
          <a:p>
            <a:r>
              <a:t>CNPJ 62696791000193 · Garantias e constituição · Excerto da fonte:</a:t>
            </a:r>
          </a:p>
          <a:p>
            <a:r>
              <a:t>11.6. Ausência de garantia. As aplicações realizadas na Classe não contam com garantia do Cedente, do ADMINISTRADOR, do GESTOR, do CUSTODIANTE ou da Classe Garantidor de Créditos – FGC, de modo que é possível a perda total do capital investido pelos Cotistas ou mesmo a necessidade de os Cotistas realizarem aportes adicionais de recursos para a cobertura de eventuais prejuízos. 11.7. Limitação do gerenciamento de riscos. A realização de investimentos na Classe expõe o investidor a riscos a que a Classe está sujeita, os quais poderão acarretar perdas para os Cotistas. Não há qualquer garantia de completa eliminação da possibilidade de perdas para a Classe e para os Cotistas. Em condições adversas de mercado, esses sistemas de gerenciamento de riscos poderão ter sua ef iciência reduzida. A Classe também poderá estar sujeita a outros riscos advindos de motivos alheios ou exógenos ao controle do Administrador, tais como moratória, inadimplemento de pagamentos, mudança nas regras aplicáveis aos Ativos-Alvo e Ativos Financeiros de Liquidez, alteração na política monetária, alteração da política fiscal aplicável à Classe, os quais poderão causar preju</a:t>
            </a:r>
          </a:p>
          <a:p>
            <a:r>
              <a:t>CNPJ 62696791000193 · Garantias e constituição · Versão e prevalência: Leitura específica das cláusulas indicadas; condições e conflitos preservados. Seleção documental atual não comprova vigência jurídica por data isolada.</a:t>
            </a:r>
          </a:p>
          <a:p>
            <a:r>
              <a:t>CNPJ 55563624000109 · Garantias e constituição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Garantias e constituição · Resumo do histórico: {"count": 1, "dates": ["2026-04-30"], "document_count": 1, "sources": [{"document_id": "1192614", "title": "Regulamento", "reference_date": "2026-04-30", "version": "1", "page": "12, 14", "url": "https://fnet.bmfbovespa.com.br/fnet/publico/visualizarDocumento?id=1192614", "sha256": "f56e63ace0acde41d2f47fb48f1ac7f3f7df5e2d32de092d7c5e075a52516632"}], "reference": {"path": "history/55563624000109.json", "criterion_id": "guarantee", "total_count": 1, "preview_count": 1, "full_text_deferred": true, "sha256": "7835d573fb58a3c19adf5b8ecc2aee2bdbb9a88f7a0c0209b5f262b64c7522e3"}}</a:t>
            </a:r>
          </a:p>
          <a:p>
            <a:r>
              <a:t>CNPJ 62552447000120 · Garantias e constituição · Regulamento · ID 1200623 · 21/05/2026 · versão Consolidado21/05/2026 aprovado pelo ato1200625 · p. 8 · AnexoICondições(ii)(c) · https://fnet.bmfbovespa.com.br/fnet/publico/visualizarDocumento?id=1200623</a:t>
            </a:r>
          </a:p>
          <a:p>
            <a:r>
              <a:t>CNPJ 62552447000120 · Garantias e constituição · Excerto da fonte:</a:t>
            </a:r>
          </a:p>
          <a:p>
            <a:r>
              <a:t>garantias prestadas pelo Endossante ou pelo Agente de Retenção/Cobrança com relação a esse Direito Creditório deverão ser verdadeiras, nos termos deste Contrato e do respectivo Termo de Endosso; (e) tenha sido realizado o tratamento dos dados pessoais de pessoa natural observando as leis e regulamentações que regem a privacidade e a proteção de dados pess</a:t>
            </a:r>
          </a:p>
          <a:p>
            <a:r>
              <a:t>CNPJ 62552447000120 · Garantias e constituição · Regulamento · ID 1200623 · 21/05/2026 · versão Consolidado21/05/2026 aprovado pelo ato1200625 · p. 12 · AnexoI4.3.2 · https://fnet.bmfbovespa.com.br/fnet/publico/visualizarDocumento?id=1200623</a:t>
            </a:r>
          </a:p>
          <a:p>
            <a:r>
              <a:t>CNPJ 62552447000120 · Garantias e constituição · Excerto da fonte:</a:t>
            </a:r>
          </a:p>
          <a:p>
            <a:r>
              <a:t>alienação/cessão fiduciária; e (b) solicitar bloqueio de parte do saldo da conta vinculada do Devedor. Emitida a CCB em favor do Endossante e formalizada a alienação/cessão f iduciária pelo Devedor, o Endossante endossará eletronicamente a CCB em preto à Classe, que receberá todos os valores dela decorrentes (i.e., os Direitos Creditórios FGTS), após concluídas as f ormalidades de processamento pela CEF, na Conta da Classe. Caso a alienação/cessão f iduciária seja acionada nos termos da CCB, os recursos onerados serão liberados em favor do Endossante no</a:t>
            </a:r>
          </a:p>
          <a:p>
            <a:r>
              <a:t>CNPJ 62552447000120 · Garantias e constituição · Regulamento · ID 1200623 · 21/05/2026 · versão Consolidado21/05/2026 aprovado pelo ato1200625 · p. 6 · AnexoIRefinanciamentoLivre(d) · https://fnet.bmfbovespa.com.br/fnet/publico/visualizarDocumento?id=1200623</a:t>
            </a:r>
          </a:p>
          <a:p>
            <a:r>
              <a:t>CNPJ 62552447000120 · Garantias e constituição · Excerto da fonte:</a:t>
            </a:r>
          </a:p>
          <a:p>
            <a:r>
              <a:t>Refinanciamento Livre”, na forma de CCBs originadas no âmbito de um refinanciamento, de acordo com a política de cobrança vigente, de Direitos Creditórios Consignado Privado e de Direitos Creditórios FGTS, que não contem com o lastro de Consignação ou de cessão f iduciária do Saque-Aniversário, respectivamente; e (ii) “Ativos Financei</a:t>
            </a:r>
          </a:p>
          <a:p>
            <a:r>
              <a:t>CNPJ 62552447000120 · Garantias e constituição · Regulamento · ID 1200623 · 21/05/2026 · versão Consolidado21/05/2026 aprovado pelo ato1200625 · p. 16 · AnexoI4.25 · https://fnet.bmfbovespa.com.br/fnet/publico/visualizarDocumento?id=1200623</a:t>
            </a:r>
          </a:p>
          <a:p>
            <a:r>
              <a:t>CNPJ 62552447000120 · Garantias e constituição · Excerto da fonte:</a:t>
            </a:r>
          </a:p>
          <a:p>
            <a:r>
              <a:t>4.25 As aplicações na Classe não contam com garantia: (i) do Administrador; (ii) do Gestor; (iii) do Endossante; (iv) do Custodiante; (v) dos demais prestadores de serviço da Classe; (vii) de qualquer mecanismo de seguro; e/ou (viii) do FGC. CAPÍTULO 5 – CARACTERÍSTICAS E CONDIÇÕES DAS COTAS 5.1 A Classe não possui Subclasse. As características, os direitos e as condições de emissão, distribuição, subscrição, integralização, remuneração, Amortização e resgate das Cotas estão descritos neste Capítulo e no Capítulo 6. 5.1.1 Não obstante, por deliberação conjunta dos Prestadores de Serviços Essenciais e me</a:t>
            </a:r>
          </a:p>
          <a:p>
            <a:r>
              <a:t>CNPJ 62552447000120 · Garantias e constituição · Versão e prevalência: Leitura específica das cláusulas indicadas; condições e conflitos preservados. Seleção documental atual não comprova vigência jurídica por data isolada.</a:t>
            </a:r>
          </a:p>
          <a:p>
            <a:r>
              <a:t>CNPJ 63953620000165 · Garantias e constituição · Demonstrações Financeiras - Fusão, cisão e incorporação · ID 1327859 · 2026-05-15 · versão 1 · p. 21 · https://fnet.bmfbovespa.com.br/fnet/publico/visualizarDocumento?id=1327859</a:t>
            </a:r>
          </a:p>
          <a:p>
            <a:r>
              <a:t>CNPJ 63953620000165 · Garantias e constituição · Excerto da fonte:</a:t>
            </a:r>
          </a:p>
          <a:p>
            <a:r>
              <a:t>i) Alienação de direitos creditórios  No período em findo em 15 de maio de 2026, não houve recompra de direitos creditórios  inadimplentes.</a:t>
            </a:r>
          </a:p>
          <a:p>
            <a:r>
              <a:t>j) Garantias  Em 15 de maio de 2026, a Classe não possuía garantias reais ou fidejussórias, pela liquidação  dos direitos creditórios.</a:t>
            </a:r>
          </a:p>
          <a:p>
            <a:r>
              <a:t>7. Riscos  Não obstante o emprego pela Administradora e pela Gestora de plena diligência e da boa prática  de administração e gestão da Classe, da estrita observância da política de investimento, das  regras legais e regulamentares aplicáveis à sua administração e gestão, a Classe estará sujeita  aos riscos inerentes aos bens e direitos integrantes de sua Carteira, além dos fatores de risco  identificados abaixo.</a:t>
            </a:r>
          </a:p>
          <a:p>
            <a:r>
              <a:t> Risco de Crédito</a:t>
            </a:r>
          </a:p>
          <a:p>
            <a:r>
              <a:t> (i) Riscos associados aos Devedores: os direitos creditórios a serem endossados à  classe serão descontados pela Dataprev da remuneração do devedor. A capacidade de  pagamento do devedor poderá ser afetada se, por exemplo, o devedor tiver o seu  contrato de emprego rescindido ou em virtude de decisão judicial, o devedor for obrigado  a pagar alimentos, que têm prioridade sobre o empréstimo para fins de desconto na folha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afetar a rentabilidade da classe.</a:t>
            </a:r>
          </a:p>
          <a:p>
            <a:r>
              <a:t>CNPJ 63953620000165 · Garantias e constituição · Condição: Trechos do documento específico identificado com data mais recente; vigência jurídica não inferida.</a:t>
            </a:r>
          </a:p>
          <a:p>
            <a:r>
              <a:t>CNPJ 63953620000165 · Garantias e constituição · Versão e prevalência: Trechos do documento específico identificado com data mais recente; vigência jurídica não inferida.</a:t>
            </a:r>
          </a:p>
          <a:p>
            <a:r>
              <a:t>CNPJ 63953620000165 · Garantias e constituição · Resumo do histórico: {"count": 7, "dates": ["2026-04-16", "2026-04-28", "2026-05-08"], "document_count": 3, "sources": [{"document_id": "1298691", "title": "Demonstrações Financeiras - Fusão, cisão e incorporação", "reference_date": "2026-05-08", "version": "1", "page": 21, "url": "https://fnet.bmfbovespa.com.br/fnet/publico/visualizarDocumento?id=1298691", "sha256": "58c570d9b8d4d265330d3db3ea81c435b8e44a6dab4002aa37790652a1ee9819"}, {"document_id": "1282180", "title": "Demonstrações Financeiras - Fusão, cisão e incorporação", "reference_date": "2026-04-28", "version": "1", "page": 21, "url": "https://fnet.bmfbovespa.com.br/fnet/publico/visualizarDocumento?id=1282180", "sha256": "afaaa0e6809be4385e5bdb6c911aac582032c5bdbac3d7750234bf9eaf00438a"}, {"document_id": "1282179", "title": "Demonstrações Financeiras - Fusão, cisão e incorporação", "reference_date": "2026-04-16", "version": "1", "page": 21, "url": "https://fnet.bmfbovespa.com.br/fnet/publico/visualizarDocumento?id=1282179", "sha256": "beb67afbcd64169019477673fd3b7c1edbfabbd9db07379388d8cdd5d3fc9395"}], "reference": {"path": "history/63953620000165.json", "criterion_id": "guarantee", "total_count": 7, "preview_count": 3, "full_text_deferred": true, "sha256": "a7b89077f5e21098c2d601c303faabc3ff6b9729f89d8afecdc60fe1404720c1"}}</a:t>
            </a:r>
          </a:p>
          <a:p>
            <a:r>
              <a:t>CNPJ 54871427000194 · Registro, execução e recuperação · Motivo: Não localizada uma cláusula material para este critério nos textos identificados e processados. A ausência de resultado não comprova inexistência da regra.</a:t>
            </a:r>
          </a:p>
          <a:p>
            <a:r>
              <a:t>CNPJ 60010416000112 · Registro, execução e recuperação · Motivo: Não localizada uma cláusula material para este critério nos textos identificados e processados. A ausência de resultado não comprova inexistência da regra.</a:t>
            </a:r>
          </a:p>
          <a:p>
            <a:r>
              <a:t>CNPJ 62696791000193 · Registro, execução e recuperação · Regulamento · ID 1143317 · 2026-03-20 · versão 1 · p. 45 · 8.7 · https://fnet.bmfbovespa.com.br/fnet/publico/visualizarDocumento?id=1143317</a:t>
            </a:r>
          </a:p>
          <a:p>
            <a:r>
              <a:t>CNPJ 62696791000193 · Registro, execução e recuperação · Excerto da fonte:</a:t>
            </a:r>
          </a:p>
          <a:p>
            <a:r>
              <a:t>8.7. Risco de Execução das Garantias Atreladas aos CRIs. O investimento em CRI inclui uma série  de riscos, dentre estes, o risco de inadimplemento e consequente execução das garantias  outorgadas à respectiva operação e os riscos inerentes à eventual existência de bens imóveis  na composição da carteira da Classe, podendo, nesta hipótese, a rentabilidade da Classe ser  af etada. Em um eventual processo de execução das garantias dos CRI, poderá haver a  necessidade de contratação de consultores, dentre outros custos, que deverão ser suportados  pela Classe, na qualidade de investidor dos CRI. Adicionalmente, a garantia outorgada em  f avor dos CRI pode não ter valor suficiente para suportar as obrigações financeiras atreladas  a tal CRI. Desta f orma, uma série de eventos relacionados à execução de garantias dos CRI  poderá afetar negativamente o valor das Cotas e a rentabilidade do investimento na Classe.</a:t>
            </a:r>
          </a:p>
          <a:p>
            <a:r>
              <a:t>9. Riscos relativos às Participações do Agronegócio</a:t>
            </a:r>
          </a:p>
          <a:p>
            <a:r>
              <a:t>CNPJ 62696791000193 · Registro, execução e recuperação · Condição: Documentos atuais selecionados no inventário por categoria/escopo; a data documental isolada não comprova vigência jurídica.</a:t>
            </a:r>
          </a:p>
          <a:p>
            <a:r>
              <a:t>CNPJ 62696791000193 · Registro, execução e recuperação · Motivo: Cláusula primária localizada e citada, mas sua lista/condições extensas não admitem uma síntese literal curta confirmada. O trecho integral permanece nas fontes.</a:t>
            </a:r>
          </a:p>
          <a:p>
            <a:r>
              <a:t>CNPJ 62696791000193 · Registro, execução e recuperação · Versão e prevalência: Documentos atuais selecionados no inventário por categoria/escopo; a data documental isolada não comprova vigência jurídica.</a:t>
            </a:r>
          </a:p>
          <a:p>
            <a:r>
              <a:t>CNPJ 55563624000109 · Registro, execução e recuperação · Motivo: Não localizada uma cláusula material para este critério nos textos identificados e processados. A ausência de resultado não comprova inexistência da regra.</a:t>
            </a:r>
          </a:p>
          <a:p>
            <a:r>
              <a:t>CNPJ 62552447000120 · Registro, execução e recuperação · Motivo: Não localizada uma cláusula material para este critério nos textos identificados e processados. A ausência de resultado não comprova inexistência da regra.</a:t>
            </a:r>
          </a:p>
          <a:p>
            <a:r>
              <a:t>CNPJ 63953620000165 · Registro, execução e recuperação · Motivo: Não localizada uma cláusula material para este critério nos textos identificados e processados. A ausência de resultado não comprova inexistência da regra.</a:t>
            </a:r>
          </a:p>
          <a:p>
            <a:r>
              <a:t>CNPJ 54871427000194 · Cobrança e servicing · Regulamento · ID 670691 · 28/04/2024 · versão Regulamento — referência 28/04/2024 · p. 44 · Complemento 2, Régua de Cobrança, Desconto e Comissão · https://fnet.bmfbovespa.com.br/fnet/publico/visualizarDocumento?id=670691</a:t>
            </a:r>
          </a:p>
          <a:p>
            <a:r>
              <a:t>CNPJ 54871427000194 · Cobrança e servicing · Excerto da fonte:</a:t>
            </a:r>
          </a:p>
          <a:p>
            <a:r>
              <a:t>Régua de Cobrança A partir da comunicação da desaverbação do a partir de 31 dias a partir de 60 dias contrato - Notificação (canais digitais) - Negativação SERASA - PROTESTO Repescagem diária na - Cobrança terceirizada - Repescagem diária na conta corrente - Repescagem diária na conta corrente conta corrente DESCONTO Normal Atraso Multa e Mora Principal 15 a 90 0% 0% 91 a 180 100% 0% 181 a 270 100% 20% 271 a 360 100% 30% Acima de 360 100% 50% COMISSÃO Faixa de Atraso % comissão De 15 a 90 dias 12% De 90 a 180 dias 15% De 181 a 270 dias 20%</a:t>
            </a:r>
          </a:p>
          <a:p>
            <a:r>
              <a:t>CNPJ 54871427000194 · Cobrança e servicing · Condição: A tabela de comissões se refere à cobrança/recuperação por faixa de atraso; a remuneração geral do agente está remetida ao contrato na cláusula 13.7.</a:t>
            </a:r>
          </a:p>
          <a:p>
            <a:r>
              <a:t>CNPJ 54871427000194 · Cobrança e servicing · Versão e prevalência: Leitura específica das cláusulas indicadas; condições e conflitos preservados. Seleção documental atual não comprova vigência jurídica por data isolada.</a:t>
            </a:r>
          </a:p>
          <a:p>
            <a:r>
              <a:t>CNPJ 60010416000112 · Cobrança e servicing · Regulamento · ID 1051393 · 2025-10-09 · versão 1 · p. 33 · 14.2.5 · https://fnet.bmfbovespa.com.br/fnet/publico/visualizarDocumento?id=1051393</a:t>
            </a:r>
          </a:p>
          <a:p>
            <a:r>
              <a:t>CNPJ 60010416000112 · Cobrança e servicing · Excerto da fonte:</a:t>
            </a:r>
          </a:p>
          <a:p>
            <a:r>
              <a:t>14.2.5 O Agente de Retenção/Cobrança poderá realizar a cobrança do Direitos Creditórios de forma ativa  caso seja verif icado, pelo Agente de Retenção/Cobrança que o Empregador não ef etuou a  Escrituração ou em caso de perda do vínculo empregatício do Devedor com o Empregador. A  cobrança ativa será mantida até que a Escrituração seja realizada e/ou até que o Devedor retome  o vínculo empregatício, observado o disposto abaixo:</a:t>
            </a:r>
          </a:p>
          <a:p>
            <a:r>
              <a:t> (i) As medidas adotadas pelo Agente de Retenção/Cobrança deverão observar a política  de cobrança adotada pelo Custodiante; e</a:t>
            </a:r>
          </a:p>
          <a:p>
            <a:r>
              <a:t> (ii) Uma vez retomado o vínculo empregatício, o Agente de Retenção/Cobrança deverá aditar  a CCB e/ou realizar o Processo de Reinicialização (conforme detalhado no Contrato de  Endosso).</a:t>
            </a:r>
          </a:p>
          <a:p>
            <a:r>
              <a:t>CAPÍTULO 15 – FATORES DE RISCO</a:t>
            </a:r>
          </a:p>
          <a:p>
            <a:r>
              <a:t>CNPJ 60010416000112 · Cobrança e servicing · Condição: Documentos atuais selecionados no inventário por categoria/escopo; a data documental isolada não comprova vigência jurídica.</a:t>
            </a:r>
          </a:p>
          <a:p>
            <a:r>
              <a:t>CNPJ 60010416000112 · Cobrança e servicing · Versão e prevalência: Documentos atuais selecionados no inventário por categoria/escopo; a data documental isolada não comprova vigência jurídica.</a:t>
            </a:r>
          </a:p>
          <a:p>
            <a:r>
              <a:t>CNPJ 60010416000112 · Cobrança e servicing · Resumo do histórico: {"count": 1, "dates": ["2025-03-20"], "document_count": 1, "sources": [{"document_id": "993786", "title": "Regulamento", "reference_date": "2025-03-20", "version": "1", "page": 33, "clause": "14.2.5", "url": "https://fnet.bmfbovespa.com.br/fnet/publico/visualizarDocumento?id=993786", "sha256": "fd0fdd369a195510d81f81f505195a0b09e5f43522a990afa7d58c4f872921c8"}], "reference": {"path": "history/60010416000112.json", "criterion_id": "servicing", "total_count": 1, "preview_count": 1, "full_text_deferred": true, "sha256": "8e2bd813f4c51cf01f6bfaad164bafe69d2bbb192f753eac92da3a01c2e63046"}}</a:t>
            </a:r>
          </a:p>
          <a:p>
            <a:r>
              <a:t>CNPJ 62696791000193 · Cobrança e servicing · Regulamento · ID 1143317 · 2026-03-20 · versão 1 · p. 43 · 7.7 · https://fnet.bmfbovespa.com.br/fnet/publico/visualizarDocumento?id=1143317</a:t>
            </a:r>
          </a:p>
          <a:p>
            <a:r>
              <a:t>CNPJ 62696791000193 · Cobrança e servicing · Excerto da fonte:</a:t>
            </a:r>
          </a:p>
          <a:p>
            <a:r>
              <a:t>7.7. Falhas de Cobrança. A cobrança dos Direitos Creditórios do Agronegócio Inadimplidos de  titularidade da Classe depende da atuação diligente do agente de cobrança. Qualquer f alha  de procedimento ou ineficiência do agente de cobrança poderá acarretar menor recebimento  dos recursos devidos pelos Devedores, levando à queda da rentabilidade da Classe.</a:t>
            </a:r>
          </a:p>
          <a:p>
            <a:r>
              <a:t> Adicionalmente, nada garante que a cobrança judicial dos Direitos Creditórios do Agronegócio  Inadimplidos levará à recuperação total dos Direitos Creditórios do Agronegócio Inadimplidos,  o que poderá implicar perdas patrimoniais à Classe e aos Cotistas.</a:t>
            </a:r>
          </a:p>
          <a:p>
            <a:r>
              <a:t>CNPJ 62696791000193 · Cobrança e servicing · Regulamento · ID 1143317 · 2026-03-20 · versão 1 · p. 9 · 3.2 · https://fnet.bmfbovespa.com.br/fnet/publico/visualizarDocumento?id=1143317</a:t>
            </a:r>
          </a:p>
          <a:p>
            <a:r>
              <a:t>CNPJ 62696791000193 · Cobrança e servicing · Excerto da fonte:</a:t>
            </a:r>
          </a:p>
          <a:p>
            <a:r>
              <a:t>3.2 Sem prejuízo de outras despesas que venham a ser aprovadas em Assembleia Especial, são Encargos  da Classe:</a:t>
            </a:r>
          </a:p>
          <a:p>
            <a:r>
              <a:t> (i) despesas com consultoria especializada;</a:t>
            </a:r>
          </a:p>
          <a:p>
            <a:r>
              <a:t> (ii) despesas com agente de cobrança.</a:t>
            </a:r>
          </a:p>
          <a:p>
            <a:r>
              <a:t>CNPJ 62696791000193 · Cobrança e servicing · Condição: Documentos atuais selecionados no inventário por categoria/escopo; a data documental isolada não comprova vigência jurídica.</a:t>
            </a:r>
          </a:p>
          <a:p>
            <a:r>
              <a:t>CNPJ 62696791000193 · Cobrança e servicing · Versão e prevalência: Documentos atuais selecionados no inventário por categoria/escopo; a data documental isolada não comprova vigência jurídica.</a:t>
            </a:r>
          </a:p>
          <a:p>
            <a:r>
              <a:t>CNPJ 55563624000109 · Cobrança e servicing · Regulamento · ID 1192614 · 2026-04-30 · versão 1 · p. 11 · https://fnet.bmfbovespa.com.br/fnet/publico/visualizarDocumento?id=1192614</a:t>
            </a:r>
          </a:p>
          <a:p>
            <a:r>
              <a:t>CNPJ 55563624000109 · Cobrança e servicing · Excerto da fonte:</a:t>
            </a:r>
          </a:p>
          <a:p>
            <a:r>
              <a:t>(vi) Emolumentos e comissões pagas por operações da Carteira da Classe;</a:t>
            </a:r>
          </a:p>
          <a:p>
            <a:r>
              <a:t> (vii) Despesas com a manutenção de ativos cuja propriedade decorra da execução de garantia ou de acordo  com o respectivo devedor;</a:t>
            </a:r>
          </a:p>
          <a:p>
            <a:r>
              <a:t> (viii) Honorários de advogados, custas e despesas processuais correlatas incorridos em defesa dos interesses  do FUNDO ou da Classe, em juízo ou fora dele, inclusive o valor da condenação imputada, se for o caso;</a:t>
            </a:r>
          </a:p>
          <a:p>
            <a:r>
              <a:t> (ix) Gastos derivados da celebração de contratos de seguro sobre os ativos integrantes da Carteira da Classe,  assim como a parcela de prejuízos da Carteira não coberta por apólices de seguro, salvo se decorrente  diretamente de culpa ou dolo dos prestadores de serviços da Classe no exercício de suas respectivas  funções;</a:t>
            </a:r>
          </a:p>
          <a:p>
            <a:r>
              <a:t> (x) Despesas relacionadas ao exercício do direito de voto decorrente dos ativos integrantes da Carteira;</a:t>
            </a:r>
          </a:p>
          <a:p>
            <a:r>
              <a:t> (xi) Despesas com a realização da Assembleia de Cotistas;</a:t>
            </a:r>
          </a:p>
          <a:p>
            <a:r>
              <a:t> (xii) Despesas inerentes à constituição, à fusão, à incorporação, à cisão, à transformação ou à liquidação da  Classe;</a:t>
            </a:r>
          </a:p>
          <a:p>
            <a:r>
              <a:t> (xiii) Despesas com a liquidação, o registro e a custódia de operações com os ativos integrantes da Carteira;</a:t>
            </a:r>
          </a:p>
          <a:p>
            <a:r>
              <a:t> (xiv) Despesas com o fechamento de câmbio, vinculadas às operações da Carteira da Classe;</a:t>
            </a:r>
          </a:p>
          <a:p>
            <a:r>
              <a:t> (xv) Despesas inerentes à distribuição primária das Cotas e à admissão das Cotas à negociação em mercado  organizado;</a:t>
            </a:r>
          </a:p>
          <a:p>
            <a:r>
              <a:t> (xvi) Taxa de Administração e a Taxa de Gestão;</a:t>
            </a:r>
          </a:p>
          <a:p>
            <a:r>
              <a:t> (xvii) Despesas com a contratação de consultoria especializada, conforme o caso;</a:t>
            </a:r>
          </a:p>
          <a:p>
            <a:r>
              <a:t> (xviii) Despesas com a contratação de agente de cobrança, conforme o caso;</a:t>
            </a:r>
          </a:p>
          <a:p>
            <a:r>
              <a:t> (xix) Despesas decorrentes de empréstimos contraídos em nome da Classe, nos termos da Resolução CVM  175 e deste Anexo;</a:t>
            </a:r>
          </a:p>
          <a:p>
            <a:r>
              <a:t> (xx) Taxa mínima de custódia, se houver; e</a:t>
            </a:r>
          </a:p>
          <a:p>
            <a:r>
              <a:t> (xxi) Montantes devidos a fundos investidores, na hipótese de remuneração com base na taxa de  administração, performance ou gestão, observado o disposto no art. 99 da parte geral da Resolução  CVM 175.</a:t>
            </a:r>
          </a:p>
          <a:p>
            <a:r>
              <a:t>CNPJ 55563624000109 · Cobrança e servicing · Condição: Documentos atuais selecionados no inventário por categoria/escopo; a data documental isolada não comprova vigência jurídica.</a:t>
            </a:r>
          </a:p>
          <a:p>
            <a:r>
              <a:t>CNPJ 55563624000109 · Cobrança e servicing · Motivo: Cláusula primária localizada e citada, mas sua lista/condições extensas não admitem uma síntese literal curta confirmada. O trecho integral permanece nas fontes.</a:t>
            </a:r>
          </a:p>
          <a:p>
            <a:r>
              <a:t>CNPJ 55563624000109 · Cobrança e servicing · Versão e prevalência: Documentos atuais selecionados no inventário por categoria/escopo; a data documental isolada não comprova vigência jurídica.</a:t>
            </a:r>
          </a:p>
          <a:p>
            <a:r>
              <a:t>CNPJ 62552447000120 · Cobrança e servicing · Regulamento · ID 1200623 · 2026-05-21 · versão 1 · p. 6 · https://fnet.bmfbovespa.com.br/fnet/publico/visualizarDocumento?id=1200623</a:t>
            </a:r>
          </a:p>
          <a:p>
            <a:r>
              <a:t>CNPJ 62552447000120 · Cobrança e servicing · Excerto da fonte:</a:t>
            </a:r>
          </a:p>
          <a:p>
            <a:r>
              <a:t>integrantes do conglomerado econômico de instituições  f inanceiras classificadas como S1 pelo Banco Central do  Brasil (“BACEN” e “Instituições Financeiras S1”,  respectivamente), desde que não representem títulos de  emissão ou coobrigação de instituições financeiras, bem  como cotas de f undos de investimento que invistam  preponderantemente nestes direitos, títulos e/ou valores  mobiliários; e</a:t>
            </a:r>
          </a:p>
          <a:p>
            <a:r>
              <a:t> (d) “Direitos Creditórios Refinanciamento Livre”, na forma  de CCBs originadas no âmbito de um refinanciamento, de  acordo com a política de cobrança vigente, de Direitos  Creditórios Consignado Privado e de Direitos Creditórios  FGTS, que não contem com o lastro de Consignação ou  de cessão f iduciária do Saque-Aniversário,  respectivamente; e</a:t>
            </a:r>
          </a:p>
          <a:p>
            <a:r>
              <a:t> (ii) “Ativos Financeiros”, assim entendidos como, em conjunto:</a:t>
            </a:r>
          </a:p>
          <a:p>
            <a:r>
              <a:t> (a) moeda corrente nacional;</a:t>
            </a:r>
          </a:p>
          <a:p>
            <a:r>
              <a:t> (b) títulos públicos f ederais;</a:t>
            </a:r>
          </a:p>
          <a:p>
            <a:r>
              <a:t> (c) ativos f inanceiros de renda f ixa de emissão ou  coobrigação de Instituições Financeiras S1;</a:t>
            </a:r>
          </a:p>
          <a:p>
            <a:r>
              <a:t> (d) operações compromissadas, desde que lastreadas nos  títulos mencionados nas alíneas (b) e (c) acima; e</a:t>
            </a:r>
          </a:p>
          <a:p>
            <a:r>
              <a:t> (e) cotas do BTG Pactual Tesouro Selic Fundo de  Investimento Renda Fixa Ref erenciado DI, inscrito no  CNPJ sob o nº 09.215.250/0001-13;</a:t>
            </a:r>
          </a:p>
          <a:p>
            <a:r>
              <a:t> observados todos os limites de composição e diversificação da carteira da  Classe (“Carteira”), estabelecidos neste Regulamento e na  regulamentação aplicável.</a:t>
            </a:r>
          </a:p>
          <a:p>
            <a:r>
              <a:t> O objetivo da Classe não representa, sob qualquer hipótese, promessa,  garantia ou sugestão da Classe ou de seus Prestadores de Serviços  Essenciais quanto à segurança, rentabilidade e liquidez dos títulos  componentes de sua Carteira.</a:t>
            </a:r>
          </a:p>
          <a:p>
            <a:r>
              <a:t>CNPJ 62552447000120 · Cobrança e servicing · Regulamento · ID 1200623 · 2026-05-21 · versão 1 · p. 7 · https://fnet.bmfbovespa.com.br/fnet/publico/visualizarDocumento?id=1200623</a:t>
            </a:r>
          </a:p>
          <a:p>
            <a:r>
              <a:t>CNPJ 62552447000120 · Cobrança e servicing · Excerto da fonte:</a:t>
            </a:r>
          </a:p>
          <a:p>
            <a:r>
              <a:t>(c) atendam, pro forma, na Data de Aquisição, aos  limites de concentração definidos no Capítulo 4 deste  Anexo I;</a:t>
            </a:r>
          </a:p>
          <a:p>
            <a:r>
              <a:t> (d) não haver disposição legal ou regulamentar  aprovada, ou ordem judicial ou administrativa  emitida, que tenha como objetivo impedir ou impor  limites ou exigências adicionais para o endosso de  Direitos Creditórios decorrentes de transações  dedutíveis da f olha de pagamento a f undos de  investimento;</a:t>
            </a:r>
          </a:p>
          <a:p>
            <a:r>
              <a:t> (e) atendam à Política de Crédito e, conforme aplicável,  à Política de Cobrança; e</a:t>
            </a:r>
          </a:p>
          <a:p>
            <a:r>
              <a:t>CNPJ 62552447000120 · Cobrança e servicing · Regulamento · ID 1200623 · 2026-05-21 · versão 1 · p. 3 · 2.1.2 · https://fnet.bmfbovespa.com.br/fnet/publico/visualizarDocumento?id=1200623</a:t>
            </a:r>
          </a:p>
          <a:p>
            <a:r>
              <a:t>CNPJ 62552447000120 · Cobrança e servicing · Excerto da fonte:</a:t>
            </a:r>
          </a:p>
          <a:p>
            <a:r>
              <a:t>2.1.2 Não obstante as atribuições previstas neste Regulamento e na regulamentação aplicável, cabe  ao Gestor praticar os atos necessários à gestão da Carteira. Assim, em linha com o art. 85 da  Parte Geral da Resolução CVM 175 e com o art. 32 do Anexo Normativo II, o Gestor pode  contratar, em nome do Fundo e/ou da Classe, os seguintes serviços: (a) intermediação de  operações para a Carteira; (b) distribuição de Cotas; (c) consultoria de investimentos; (d)  classificação de risco por agência classificadora de risco; (e) cogestão da Carteira; (f) formador  de mercado; e, eventualmente, (g) consultoria especializada; (h) agente de cobrança, e (i)  outros serviços em benef ício do Fundo ou da classe.</a:t>
            </a:r>
          </a:p>
          <a:p>
            <a:r>
              <a:t>CNPJ 62552447000120 · Cobrança e servicing · Condição: Documentos atuais selecionados no inventário por categoria/escopo; a data documental isolada não comprova vigência jurídica.</a:t>
            </a:r>
          </a:p>
          <a:p>
            <a:r>
              <a:t>CNPJ 62552447000120 · Cobrança e servicing · Versão e prevalência: Documentos atuais selecionados no inventário por categoria/escopo; a data documental isolada não comprova vigência jurídica.</a:t>
            </a:r>
          </a:p>
          <a:p>
            <a:r>
              <a:t>CNPJ 63953620000165 · Cobrança e servicing · Anexo ao Regulamento · ID 1222863 · 2026-06-02 · versão 1 · p. 8 · 4.25 · https://fnet.bmfbovespa.com.br/fnet/publico/visualizarDocumento?id=1222863</a:t>
            </a:r>
          </a:p>
          <a:p>
            <a:r>
              <a:t>CNPJ 63953620000165 · Cobrança e servicing · Excerto da fonte:</a:t>
            </a:r>
          </a:p>
          <a:p>
            <a:r>
              <a:t>4.25 É vedada qualquer forma de antecipação de recursos às Cedentes/aos Endossantes para posterior reembolso  pela Classe, seja pelo Administrador, Gestor, Custodiante, Consultora ou Agente de Cobrança.</a:t>
            </a:r>
          </a:p>
          <a:p>
            <a:r>
              <a:t>CNPJ 63953620000165 · Cobrança e servicing · Condição: Documentos atuais selecionados no inventário por categoria/escopo; a data documental isolada não comprova vigência jurídica.</a:t>
            </a:r>
          </a:p>
          <a:p>
            <a:r>
              <a:t>CNPJ 63953620000165 · Cobrança e servicing · Versão e prevalência: Documentos atuais selecionados no inventário por categoria/escopo; a data documental isolada não comprova vigência jurídica.</a:t>
            </a:r>
          </a:p>
          <a:p>
            <a:r>
              <a:t>CNPJ 63953620000165 · Cobrança e servicing · Resumo do histórico: {"count": 6, "dates": ["2026-04-28", "2026-05-08", "2026-05-15"], "document_count": 3, "sources": [{"document_id": "1327859", "title": "Demonstrações Financeiras - Fusão, cisão e incorporação", "reference_date": "2026-05-15", "version": "1", "page": 29, "url": "https://fnet.bmfbovespa.com.br/fnet/publico/visualizarDocumento?id=1327859", "sha256": "dca1c68babb97f887528c3e2e47596a9c30f507b067981a35655b2f2da9c8054"}, {"document_id": "1298691", "title": "Demonstrações Financeiras - Fusão, cisão e incorporação", "reference_date": "2026-05-08", "version": "1", "page": 5, "url": "https://fnet.bmfbovespa.com.br/fnet/publico/visualizarDocumento?id=1298691", "sha256": "58c570d9b8d4d265330d3db3ea81c435b8e44a6dab4002aa37790652a1ee9819"}, {"document_id": "1282180", "title": "Demonstrações Financeiras - Fusão, cisão e incorporação", "reference_date": "2026-04-28", "version": "1", "page": 30, "url": "https://fnet.bmfbovespa.com.br/fnet/publico/visualizarDocumento?id=1282180", "sha256": "afaaa0e6809be4385e5bdb6c911aac582032c5bdbac3d7750234bf9eaf00438a"}], "reference": {"path": "history/63953620000165.json", "criterion_id": "servicing", "total_count": 6, "preview_count": 3, "full_text_deferred": true, "sha256": "a7b89077f5e21098c2d601c303faabc3ff6b9729f89d8afecdc60fe1404720c1"}}</a:t>
            </a:r>
          </a:p>
          <a:p>
            <a:r>
              <a:t>CNPJ 54871427000194 · Conta de arrecadação e risco de trânsito · Regulamento · ID 670691 · 28/04/2024 · versão Regulamento — referência 28/04/2024 · p. 9 · Anexo I, 4.3 e 4.6 · https://fnet.bmfbovespa.com.br/fnet/publico/visualizarDocumento?id=670691</a:t>
            </a:r>
          </a:p>
          <a:p>
            <a:r>
              <a:t>CNPJ 54871427000194 · Conta de arrecadação e risco de trânsito · Excerto da fonte:</a:t>
            </a:r>
          </a:p>
          <a:p>
            <a:r>
              <a:t>4.3 Os pagamentos relativos aos Direitos Creditórios de titularidade da Classe serão realizados mediante consignação em folha, débito em conta de titularidade dos Devedores e pagamentos de sinistros, para pagamento dos valores correspondentes às parcelas das CCBs representadas pelos CCCBs de titularidade da Classe, os quais serão conciliados e repassados pelo Endossante para a conta corrente da Classe. 4.4 Os Direitos Creditórios deverão contar com Documentos Comprobatórios que evidenciem sua existência, validade e exequibilidade perante os respectivos Devedores . 4.4.1 Os Direitos Creditórios serão adquiridos pela Classe por meio de Contrato de Endosso f irmados entre a Classe e o Endossante e os respectivos Termos de Endosso, acompanhados de todos os direitos, privilégios, preferências, prerrogativas, ações e garantias assegurados aos seus titulares, observada a Política de Investimentos e as demais disposições deste Regulamento e da legislação e regulamentação aplicáveis. 4.5 O Endossante deverá realizar análise cadastral e de crédito dos Devedores, previamente à aquisição de Direitos Creditórios pela Classe. O disposto neste item não impede o ADMINISTRAD</a:t>
            </a:r>
          </a:p>
          <a:p>
            <a:r>
              <a:t>CNPJ 54871427000194 · Conta de arrecadação e risco de trânsito · Regulamento · ID 670691 · 28/04/2024 · versão Regulamento — referência 28/04/2024 · p. 9 · Anexo I, 4.6 · https://fnet.bmfbovespa.com.br/fnet/publico/visualizarDocumento?id=670691</a:t>
            </a:r>
          </a:p>
          <a:p>
            <a:r>
              <a:t>CNPJ 54871427000194 · Conta de arrecadação e risco de trânsito · Excerto da fonte:</a:t>
            </a:r>
          </a:p>
          <a:p>
            <a:r>
              <a:t>4.6 A cobrança ordinária e recebimento de Direitos Creditórios pela Classe é realizada mediante a liquidação dos recursos através de débito dos salários a receber pelos Devedores do órgão consignante ou através da consignação direto da folha, sendo certo que o GESTOR e/ou o Custodiante f arão o monitoramento do pagamento dos Direitos Creditórios através da validação do Arquivo de Liquidação, do Relatório de Repasse, e consulta oriunda do sistema da processadora conveniada ao órgão consignante, responsável pela consignação em f olha de pagamento ou de benef ício dos Devedores (averbação, débito e repasse). Critérios de Elegibilidade 4.7 A Classe somente poderá adquirir os Direitos Creditórios que atendam cumulativamente aos seguintes Critérios de Elegibilidade, a serem verif icados e validados pelo GESTOR, de f orma individualizada e integral, previamente à cessão e na respectiva Data de Aquisição, de modo que apenas são passíveis de aquisição pela Classe os Direitos Creditórios que, na Data de Aquisição: (i) CCBs sem qualquer parcela cedida; (ii) CCBs com diferença menor que 60 (sessenta) dias entre a data provável do endosso e a próxima parcela a vencer;</a:t>
            </a:r>
          </a:p>
          <a:p>
            <a:r>
              <a:t>CNPJ 54871427000194 · Conta de arrecadação e risco de trânsito · Condição: A mecânica prevê passagem dos recursos pelo endossante; o regulamento não estabelece, nesta cláusula, repasse direto automático pelo órgão consignante.</a:t>
            </a:r>
          </a:p>
          <a:p>
            <a:r>
              <a:t>CNPJ 54871427000194 · Conta de arrecadação e risco de trânsito · Versão e prevalência: Leitura específica das cláusulas indicadas; condições e conflitos preservados. Seleção documental atual não comprova vigência jurídica por data isolada.</a:t>
            </a:r>
          </a:p>
          <a:p>
            <a:r>
              <a:t>CNPJ 54871427000194 · Conta de arrecadação e risco de trânsito · Resumo do histórico: {"count": 1, "dates": ["2024-04-19"], "document_count": 1, "sources": [{"document_id": "670689", "title": "Regulamento", "reference_date": "2024-04-19", "version": "1", "page": 25, "url": "https://fnet.bmfbovespa.com.br/fnet/publico/visualizarDocumento?id=670689", "sha256": "891bc9bc5d87bbc02ec139077a84d2702eb81ea02035fb71d24f5b8366b94a0b"}], "reference": {"path": "history/54871427000194.json", "criterion_id": "collection_account", "total_count": 1, "preview_count": 1, "full_text_deferred": true, "sha256": "35d7cd99be50c7287c9fb675cf4f2e736002315295a225a9efa79c8d9186d874"}}</a:t>
            </a:r>
          </a:p>
          <a:p>
            <a:r>
              <a:t>CNPJ 60010416000112 · Conta de arrecadação e risco de trânsito · Regulamento · ID 1051393 · 2025-10-09 · versão 1 · p. 32 · 14.2.1 · https://fnet.bmfbovespa.com.br/fnet/publico/visualizarDocumento?id=1051393</a:t>
            </a:r>
          </a:p>
          <a:p>
            <a:r>
              <a:t>CNPJ 60010416000112 · Conta de arrecadação e risco de trânsito · Excerto da fonte:</a:t>
            </a:r>
          </a:p>
          <a:p>
            <a:r>
              <a:t>14.2.1 Os valores indicados nos Arquivos Dataprev em relação aos Direitos Creditórios endossados à  Classe e depositados mensalmente pela CEF na Conta Vinculada serão cobrados/recebidos da  seguinte f orma:</a:t>
            </a:r>
          </a:p>
          <a:p>
            <a:r>
              <a:t> (i) mensalmente, após o processamento da f olha de pagamento dos Devedores, a Dataprev  enviará os Arquivos Dataprev ao Endossante;</a:t>
            </a:r>
          </a:p>
          <a:p>
            <a:r>
              <a:t> (ii) ao receber os Arquivos Dataprev, o Endossante os disponibilizará ao Custodiante e ao  Agente de Retenção/Cobrança, através de uma interf ace de programação de aplicações  (API), no mesmo dia que forem disponibilizados pela Dataprev, ou no Dia Útil subsequente,  se f orem disponibilizados pela Dataprev após 16:00 (horário de Brasília) sem f azer qualquer  modif icação em suas respectivas inf ormações;</a:t>
            </a:r>
          </a:p>
          <a:p>
            <a:r>
              <a:t> (iii) até 2º (segundo) Dia Útil após o recebimento dos valores repassados pelos Empregadores,  a CEF ef etuará uma transf erência eletrônica disponível (TED) diretamente para a Conta  Vinculada relevante com o valor declarado no Arquivo de Consignações;</a:t>
            </a:r>
          </a:p>
          <a:p>
            <a:r>
              <a:t> (iv) o Endossante, na qualidade de Agente da Conta Vinculada, transferirá os valores devidos  à Classe para a Conta de Cobrança da Classe, de acordo com o Contrato de Conta  Vinculada; e</a:t>
            </a:r>
          </a:p>
          <a:p>
            <a:r>
              <a:t> (v) tendo recebido os Arquivos Dataprev e os valores indicados no item (iv), o Custodiante  realizará a reconciliação dos valores devidos à Classe e/ou ao Endossante.</a:t>
            </a:r>
          </a:p>
          <a:p>
            <a:r>
              <a:t>CNPJ 60010416000112 · Conta de arrecadação e risco de trânsito · Regulamento · ID 1051393 · 2025-10-09 · versão 1 · p. 28 · https://fnet.bmfbovespa.com.br/fnet/publico/visualizarDocumento?id=1051393</a:t>
            </a:r>
          </a:p>
          <a:p>
            <a:r>
              <a:t>CNPJ 60010416000112 · Conta de arrecadação e risco de trânsito · Excerto da fonte:</a:t>
            </a:r>
          </a:p>
          <a:p>
            <a:r>
              <a:t>Anexo I ao Regulamento CLASSE ÚNICA DO MT I CONSIGNADO PRIVADO I FUNDO DE INVESTIMENTO EM DIREITOS CREDITÓRIOS RESPONSABILIDADE LIMITADA  Documentos Comprobatórios e os Documentos Suporte que comprovam a operação, observados os  procedimentos operacionais da Entidade Registradora;</a:t>
            </a:r>
          </a:p>
          <a:p>
            <a:r>
              <a:t> (ii) receber, em nome da Classe, pagamentos de Direitos Creditórios, amortização ou resgate de Ativos  Financeiros ou qualquer outro rendimento dos ativos mantidos em custódia, mediante o recebimento  de valores diretamente na Conta de Cobrança da Classe ou transf eridos da Conta Vinculada;</a:t>
            </a:r>
          </a:p>
          <a:p>
            <a:r>
              <a:t> (iii) cobrar e receber, em nome da Classe, pagamentos, resgate de títulos ou qualquer outro rendimento  relativo aos ativos da Carteira, depositando os valores recebidos diretamente em conta de titularidade  da classe ou, se f or o caso, em conta-vinculada;</a:t>
            </a:r>
          </a:p>
          <a:p>
            <a:r>
              <a:t> (iv) realizar a guarda da documentação relativa ao lastro dos Direitos Creditórios;</a:t>
            </a:r>
          </a:p>
          <a:p>
            <a:r>
              <a:t> (v) realizar a reconciliação dos valores depositados na Conta de Cobrança da Classe;</a:t>
            </a:r>
          </a:p>
          <a:p>
            <a:r>
              <a:t> (vi)</a:t>
            </a:r>
          </a:p>
          <a:p>
            <a:r>
              <a:t> (vii) assegurar que inconsistências indicadas nos relatórios de verif icação dos Documentos  Comprobatórios e dos Documentos Suporte representativos dos Direitos Creditórios e seu endosso  à Classe sejam tratadas tempestivamente.</a:t>
            </a:r>
          </a:p>
          <a:p>
            <a:r>
              <a:t>CNPJ 60010416000112 · Conta de arrecadação e risco de trânsito · Regulamento · ID 1051393 · 2025-10-09 · versão 1 · p. 39 · https://fnet.bmfbovespa.com.br/fnet/publico/visualizarDocumento?id=1051393</a:t>
            </a:r>
          </a:p>
          <a:p>
            <a:r>
              <a:t>CNPJ 60010416000112 · Conta de arrecadação e risco de trânsito · Excerto da fonte:</a:t>
            </a:r>
          </a:p>
          <a:p>
            <a:r>
              <a:t>Anexo I ao Regulamento CLASSE ÚNICA DO MT I CONSIGNADO PRIVADO I FUNDO DE INVESTIMENTO EM DIREITOS CREDITÓRIOS RESPONSABILIDADE LIMITADA  da Classe e, de forma extraordinária, para a Conta de Movimentação da Classe. Em caso de  intervenção ou liquidação extrajudicial das instituições f inanceiras onde a Conta de Cobrança  da Classe e a Conta de Movimentação da Classe são mantidas, os fundos nelas depositados  poderão ser bloqueados e recuperados pela Classe somente através de uma ordem judicial,  o que af etaria seu retorno e poderia causar perda de parte de seus ativos.</a:t>
            </a:r>
          </a:p>
          <a:p>
            <a:r>
              <a:t> (ix) Risco de bloqueio da Conta Vinculada: a Conta Vinculada para a qual os recursos  provenientes do pagamento dos Direitos Creditórios serão direcionados poderá ser  bloqueada, dentre outros, (i) no caso de intervenção ou liquidação extrajudicial do  Endossante, ou (ii) no caso de decisões judiciais serem proferidas em demandas ajuizadas  contra o Endossante, determinando o bloqueio. Em qualquer desses eventos, esses recursos  de propriedade da Classe só poderão ser recuperados em juízo. Essa recuperação poderá  levar tempo para ser ef etuada ou mesmo não obter êxito, o que af etaria a rentabilidade da  Classe e poderia f azê-lo perder parte de seus ativos.</a:t>
            </a:r>
          </a:p>
          <a:p>
            <a:r>
              <a:t> (x) Risco de patrimônio líquido negativo: as estratégias de investimento adotadas pela  Classe, bem como o pagamento de remuneração aos prestadores de serviços da Classe,  podem f azer com que seu Patrimônio Líquido se torne negativo, hipótese em que o Cotista  poderá ser solicitado a f azer aportes adicionais de recursos, a f im de permitir que a Classe  cumpra suas obrigações.</a:t>
            </a:r>
          </a:p>
          <a:p>
            <a:r>
              <a:t> (xi) Risco de cobrança judicial ou extrajudicial: quando não f orem pagos os Direitos  Creditórios que compõem a Carteira, poderá haver cobrança judicial ou extrajudicial dos  valores devidos, mediante decisão dos Cotistas na Assembleia de Cotistas nos termos desse  Anexo I. Entretanto, não há garantia de que, em qualquer desses casos, os procedimentos  de cobrança acima mencionados serão aprovados na Assembleia Especial de Cotistas e,  caso aprovados, de que tais procedimentos atingirão os resultados desejados, nem de que  a Classe terá êxito em recuperar quaisquer valores inadimplidos, o que poderá resultar em  perdas para a Classe.</a:t>
            </a:r>
          </a:p>
          <a:p>
            <a:r>
              <a:t> (xii) Possibilidade de conflito de interesses entre a Classe e o Agente de  Retenção/Cobrança. O Agente de Retenção/Cobrança eventualmente possui ou pode vir a  possuir relacionamento comercial com o Endossante e/ou Devedores, de modo que, em  determinadas circunstâncias seus interesses podem ser conflitantes com os interesses da  Classe. Não é possível garantir que, materializada uma situação de conflito de interesses  conf orme descrita acima, o Agente de Retenção/Cobrança exponha-a adequadamente ao  Administrador e/ou aos Cotistas, ou que o faça absolutamente, tampouco que agirá no melhor  no interesse da Classe. Nesses casos, a Classe pode vir a adquirir Direitos Creditórios ou  pode vir a ter seus Direitos Creditórios Inadimplidos pagos em condições comparativamente  menos vantajosas àquelas que seriam verificadas na ausência de tais conflitos de interesses.</a:t>
            </a:r>
          </a:p>
          <a:p>
            <a:r>
              <a:t> Nesses casos, o Patrimônio Líquido pode ser af etado adversamente.</a:t>
            </a:r>
          </a:p>
          <a:p>
            <a:r>
              <a:t> (xiii) Risco de intervenção ou liquidação judicial do Administrador. A Classe está sujeito ao  risco dos efeitos de decretação de intervenção ou de liquidação judicial do Administrador e/ou  do Custodiante, nos termos da Lei nº 6.024, de 13 de março de 1974, conf orme alterada.</a:t>
            </a:r>
          </a:p>
          <a:p>
            <a:r>
              <a:t> (xiv) Patrimônio Líquido negativo. Os investimentos da Classe estão, por sua natureza, sujeitos  a f lutuações típicas de mercado, risco de crédito, risco sistêmico, condições adversas de  liquidez e negociação atípica nos mercados de atuação, sendo que não há garantia de  completa eliminação da possibilidade de perdas para a Classe e para os Cotistas. Além disso,  as estratégias de investimento adotadas pela Classe poderão f azer com que a Classe  apresente Patrimônio Líquido negativo, caso em que os Cotistas poderão ser chamados a  realizar aportes adicionais de recursos, de f orma a possibilitar que a Classe satisfaça suas  obrigações.</a:t>
            </a:r>
          </a:p>
          <a:p>
            <a:r>
              <a:t>CNPJ 60010416000112 · Conta de arrecadação e risco de trânsito · Condição: Documentos atuais selecionados no inventário por categoria/escopo; a data documental isolada não comprova vigência jurídica.</a:t>
            </a:r>
          </a:p>
          <a:p>
            <a:r>
              <a:t>CNPJ 60010416000112 · Conta de arrecadação e risco de trânsito · Versão e prevalência: Documentos atuais selecionados no inventário por categoria/escopo; a data documental isolada não comprova vigência jurídica.</a:t>
            </a:r>
          </a:p>
          <a:p>
            <a:r>
              <a:t>CNPJ 60010416000112 · Conta de arrecadação e risco de trânsito · Resumo do histórico: {"count": 1, "dates": ["2025-03-20"], "document_count": 1, "sources": [{"document_id": "993786", "title": "Regulamento", "reference_date": "2025-03-20", "version": "1", "page": 32, "clause": "14.2.1", "url": "https://fnet.bmfbovespa.com.br/fnet/publico/visualizarDocumento?id=993786", "sha256": "fd0fdd369a195510d81f81f505195a0b09e5f43522a990afa7d58c4f872921c8"}], "reference": {"path": "history/60010416000112.json", "criterion_id": "collection_account", "total_count": 1, "preview_count": 1, "full_text_deferred": true, "sha256": "8e2bd813f4c51cf01f6bfaad164bafe69d2bbb192f753eac92da3a01c2e63046"}}</a:t>
            </a:r>
          </a:p>
          <a:p>
            <a:r>
              <a:t>CNPJ 62696791000193 · Conta de arrecadação e risco de trânsito · Motivo: Não localizada uma cláusula material para este critério nos textos identificados e processados. A ausência de resultado não comprova inexistência da regra.</a:t>
            </a:r>
          </a:p>
          <a:p>
            <a:r>
              <a:t>CNPJ 55563624000109 · Conta de arrecadação e risco de trânsito · Motivo: Não localizada uma cláusula material para este critério nos textos identificados e processados. A ausência de resultado não comprova inexistência da regra.</a:t>
            </a:r>
          </a:p>
          <a:p>
            <a:r>
              <a:t>CNPJ 62552447000120 · Conta de arrecadação e risco de trânsito · Regulamento · ID 1200623 · 2026-05-21 · versão 1 · p. 37 · https://fnet.bmfbovespa.com.br/fnet/publico/visualizarDocumento?id=1200623</a:t>
            </a:r>
          </a:p>
          <a:p>
            <a:r>
              <a:t>CNPJ 62552447000120 · Conta de arrecadação e risco de trânsito · Excerto da fonte:</a:t>
            </a:r>
          </a:p>
          <a:p>
            <a:r>
              <a:t>operacional dos Direitos Creditórios Consignado Privado e dos Direitos Creditórios FGTS dependem de certif icações e habilitações do Endossante junto à Dataprev e à CEF, respectivamente. O Endossante deve observar as regras aplicáveis a cada Direito Creditório para a manutenção da sua habilitação, que, portanto, pode ser af etada em caso de descumprimento ou de mudança normativa. Nesses casos, a estrutura de cobrança dos Direitos Creditórios Consignado Privado e dos Direitos Creditórios FGTS poderá ser comprometida, dando origem à necessidade de adoção de uma nova estrutura, que poderá não ser tão eficaz quanto ela ou mesmo revelar, na prática, ser inadequada ou ter altos custos operacionais . Esses eventos podem levar a perdas patrimoniais para a Classe, na medida em que a Classe deixará de receber, definitiva ou temporariamente, recursos oriundos desses Direitos Creditórios, no todo ou em parte.</a:t>
            </a:r>
          </a:p>
          <a:p>
            <a:r>
              <a:t>(vii) Risco de fungibilidade: o pagamento dos Direitos Creditórios serão inicialmente realizados em conta liquidante do Endossante por meio de transferência de reserva bancária, sendo automaticamente transferido à Conta Vinculada na sua integralidade, também de titularidade do Endoss ante, o qual será responsável por realizar a conciliação dos valores e repassá-los à Conta da Classe. Enquanto os recursos não f orem transf eridos para a Classe, a Classe estará correndo o risco de crédito do Endossante, e no caso de qualquer evento de crédito do Endossante, como intervenção, liquidação extrajudicial, falência ou outros procedimentos para proteção de credores, a Classe poderá não receber os valores devidos a ele, e poderá incorrer em custos adicionais para recuperar esses valores. Além disso, em caso de intervenção, liquidação extrajudicial, falência, execução ou outro procedimento similar para proteção de credores envolvendo o Endossante, os valores depositados de tempos em tempos na conta liquidante do Endossante por meio de transferência d e reserva bancária, e automaticamente transferidos à Conta Vinculada, poderão ser bloqueados, por ordem judicial ou administrativa, o que poderá causar prejuízos à Classe e ao Cotista.</a:t>
            </a:r>
          </a:p>
          <a:p>
            <a:r>
              <a:t>Risco de descontinuidade</a:t>
            </a:r>
          </a:p>
          <a:p>
            <a:r>
              <a:t>(i) Risco de descontinuidade: a Classe poderá ser liquidada antecipadamente, dentre outros, caso ocorra um Evento de Liquidação. Portanto, o Cotista poderá ter sua perspectiva original de investimento reduzida e não ser capaz de reinvestir os recursos recebidos com a mesma remuneração gerada pela Classe, e nenhuma multa ou penalidade, de qualquer f orma, devido a esse f ato, será devida pela Classe, o Administrador, o Custodiante, o Coordenador Líder, o Gestor, o Agente de Retenção e Cobrança ou o Endossante.</a:t>
            </a:r>
          </a:p>
          <a:p>
            <a:r>
              <a:t>Riscos decorrentes do Regime de Amortização</a:t>
            </a:r>
          </a:p>
          <a:p>
            <a:r>
              <a:t>(i) Risco decorrente da ordem de alocação das distribuições: conforme previsto neste Anexo, as Cotas estarão sujeitas à Amortização de acordo com a ordem de alocação prevista no Capítulo 7. Portanto, o Cotista poderá ter sua perspectiva original de investimento reduzida e não poderá reinvestir os recursos recebidos com a mesma remuneração gerada pela Classe.</a:t>
            </a:r>
          </a:p>
          <a:p>
            <a:r>
              <a:t>Riscos do originador e da originação</a:t>
            </a:r>
          </a:p>
          <a:p>
            <a:r>
              <a:t>(i) Riscos do originador e da originação: a continuidade da Classe poderá ser comprometida no caso de inconstância na concessão de empréstimos pelo Endossante aos Devedores ou incapacidade do Agente de Retenção e Cobrança operacionalizar a Plataf orma VR, através da qual os Direitos Creditórios são originados. Portanto, o investimento na Classe está sujeito ao risco de não originação, no f uturo, de Direitos Creditórios pelo Endossante contra os Devedores através da Plataforma VR, disponibilizada pelo Agente de Retenção e Cobrança. Se isso acontecer, a originação dos Direitos Creditórios pelo Endossante poderá ser impactada negativamente ou mesmo impossibilitada, o que poderá gerar a liquidação antecipada da Classe.</a:t>
            </a:r>
          </a:p>
          <a:p>
            <a:r>
              <a:t>Além disso, a Classe poderá adquirir Direitos Creditórios que f oram originados em conformidade com o processo de originação e/ou políticas de concessão de crédito desenvolvidos e monitorados pelo Endossante.</a:t>
            </a:r>
          </a:p>
          <a:p>
            <a:r>
              <a:t>Entretanto, não é possível assegurar que o cumprimento dessas diretrizes garanta a qualidade dos Direitos Creditórios e/ou a solvência dos respectivos Devedores, ou que as diretrizes e parâmetros estabelecidos no Capítulo 13 sejam corretamente interpretados e aplicados quando a Classe fizer os investimentos. Além disso, se o Endossante deixar de existir ou estiver sujeito a uma ordem de intervenção, liquidação extrajudicial ou regime especial ou gestão temporária ou evento similar, a Classe será impactado também pelo f ato de que a Conta Vinculada na qual as transf erências f eitas pela CEF f oram depositadas f oi aberta em nome do Endossante. Neste caso, a Classe poderá sofrer perdas principalmente em relação ao atraso na regularização</a:t>
            </a:r>
          </a:p>
          <a:p>
            <a:r>
              <a:t>CNPJ 62552447000120 · Conta de arrecadação e risco de trânsito · Condição: Documentos atuais selecionados no inventário por categoria/escopo; a data documental isolada não comprova vigência jurídica.</a:t>
            </a:r>
          </a:p>
          <a:p>
            <a:r>
              <a:t>CNPJ 62552447000120 · Conta de arrecadação e risco de trânsito · Motivo: Cláusula primária localizada e citada, mas sua lista/condições extensas não admitem uma síntese literal curta confirmada. O trecho integral permanece nas fontes.</a:t>
            </a:r>
          </a:p>
          <a:p>
            <a:r>
              <a:t>CNPJ 62552447000120 · Conta de arrecadação e risco de trânsito · Versão e prevalência: Documentos atuais selecionados no inventário por categoria/escopo; a data documental isolada não comprova vigência jurídica.</a:t>
            </a:r>
          </a:p>
          <a:p>
            <a:r>
              <a:t>CNPJ 63953620000165 · Conta de arrecadação e risco de trânsito · Anexo ao Regulamento · ID 1222863 · 2026-06-02 · versão 1 · p. 28 · https://fnet.bmfbovespa.com.br/fnet/publico/visualizarDocumento?id=1222863</a:t>
            </a:r>
          </a:p>
          <a:p>
            <a:r>
              <a:t>CNPJ 63953620000165 · Conta de arrecadação e risco de trânsito · Excerto da fonte:</a:t>
            </a:r>
          </a:p>
          <a:p>
            <a:r>
              <a:t>Creditórios endossados à Classe não sejam pagos integralmente pelos respectivos Devedores em virtude  de qualquer problema de natureza comercial entre o Devedor e o Endossante, e este último não reembolse  à Classe o montante em moeda nacional correspondente ao valor dos Direitos Creditórios mencionados,  os resultados da Classe poderão ser afetados negativamente.</a:t>
            </a:r>
          </a:p>
          <a:p>
            <a:r>
              <a:t> Outros Riscos</a:t>
            </a:r>
          </a:p>
          <a:p>
            <a:r>
              <a:t> (i) Risco relativo à elegibilidade dos Direitos Creditórios: mesmo que os Direitos Creditórios cumpram com  todas as condições de endosso e declarações e garantias estabelecidas no Contrato de Endosso e os  Critérios de Elegibilidade aqui estabelecidos, não é possível afirmar que essas condições de endosso,  declarações e garantias e os Critérios de Elegibilidade sejam suficientes para garantir a satisfação e o  pagamento dos Direitos Creditórios. Além disso, não é possível assegurar que o Gestor verificará  adequadamente a conformidade dos Direitos Creditórios com os Critérios de Elegibilidade e as condições  de endosso, ou que as declarações e garantias prestadas pelo Endossante e pelo Agente de  Retenção/Cobrança em relação aos Direitos Creditórios sejam verdadeiras e exatas. A verificação  inadequada dos Elegibilidade e das condições de endosso, bem como a falsidade ou inexatidão das  declarações e garantias referentes aos Direitos Creditórios poderão resultar na compra de Direitos  Creditórios inelegíveis pela Classe, e as medidas disponíveis no âmbito do Contrato de Endosso poderão  não ser suficientes para manter a Classe protegida de perdas decorrentes de tal verificação inadequada ou  falsidade/inexatidão. Caso os Direitos Creditórios não sejam pagos pontualmente pelos Devedores ou os  Direitos Creditórios não tenham o desempenho esperado pela Classe, o patrimônio da Classe poderá ser  afetado adversamente.</a:t>
            </a:r>
          </a:p>
          <a:p>
            <a:r>
              <a:t> (ii) Risco de invalidade ou ineficácia do endosso: o endosso dos Direitos Creditórios à Classe poderá ser  invalidada ou considerada ineficaz, o que impacta negativamente o patrimônio da Classe, no caso de (a)  fraude contra credores, se no momento do endosso o Endossante for insolvente ou se ele vier a se tornar  insolvente; (b) fraude à execução, se (1) no momento do endosso o Endossante for réu em um processo  judicial capaz de torná-lo insolvente; ou (2) os Direitos Creditórios endossados à Classe estiverem sujeitos  a qualquer demanda judicial baseada em garantia real; e (c) fraude à execução fiscal, se o Endossante, ao  celebrar o endosso de crédito, como contribuinte por débito à Fazenda Pública, e crédito fiscal  regularmente inscrito na dívida ativa, não tiver ativos para pagamento total da dívida fiscal. Entretanto, o  Administrador, o Custodiante, o Gestor e o Agente de Retenção/ Cobrança não verificarão os eventos  acima no endosso de Direito Creditório e não serão responsabilizados em caso de invalidação ou ineficácia  do endosso de um Direito Creditório à Classe.</a:t>
            </a:r>
          </a:p>
          <a:p>
            <a:r>
              <a:t> (iii) Risco de impugnação judicial: a CCB poderá ser impugnada judicialmente tanto no que diz respeito à sua  formalização quanto às taxas aplicadas e à forma de cobrança da CCB, inclusive em virtude das disposições  estabelecidas na Lei nº 8.078, de 11 de setembro de 1990, conforme alterada (Código de Defesa do  Consumidor), tais como uma possível impugnação de cláusula abusiva, bem como qualquer vício nos  Documentos Comprobatórios ou Documentos Suporte que impeçam a exigibilidade do crédito (ausência  de assinaturas ou falta de prova de formalização regular do instrumento, representação ilegítima, dentre  outros). Nesses casos, a CCB poderá ser modificada ou cancelada em virtude de decisão judicial, o que  poderá acarretar perdas para a Classe e, consequentemente, afetar negativamente a rentabilidade de seu  patrimônio.</a:t>
            </a:r>
          </a:p>
          <a:p>
            <a:r>
              <a:t> (iv) Risco de restrições de natureza legal ou regulamentar: a Classe pode estar sujeita a riscos, além do  controle do Administrador, decorrentes de quaisquer restrições futuras de natureza legal e/ou  regulamentar que venham a afetar a validade da constituição e/ou o endosso dos Direitos Creditórios à  Classe. Caso essas restrições ocorram, o fluxo de cessões de Direitos Creditórios à Classe pode ser  interrompido e, portanto, pode comprometer a continuidade da Classe e a perspectiva de investimento  do Cotista. Além disso, os Direitos Creditórios que já estão na Carteira podem ter sua validade questionada,  o que pode causar, portanto, prejuízos ao Cotista.</a:t>
            </a:r>
          </a:p>
          <a:p>
            <a:r>
              <a:t> (v) Risco de bloqueio da Conta de Cobrança da Classe ou da Conta de Movimentação da Classe: os recursos  provenientes da Classe serão direcionados para a Conta de Cobrança da Classe e, de forma extraordinária,  para a Conta de Movimentação da Classe. Em caso de intervenção ou liquidação extrajudicial das  instituições financeiras onde a Conta de Cobrança da Classe e a Conta de Movimentação da Classe são</a:t>
            </a:r>
          </a:p>
          <a:p>
            <a:r>
              <a:t>CNPJ 63953620000165 · Conta de arrecadação e risco de trânsito · Condição: Documentos atuais selecionados no inventário por categoria/escopo; a data documental isolada não comprova vigência jurídica.</a:t>
            </a:r>
          </a:p>
          <a:p>
            <a:r>
              <a:t>CNPJ 63953620000165 · Conta de arrecadação e risco de trânsito · Motivo: Cláusula primária localizada e citada, mas sua lista/condições extensas não admitem uma síntese literal curta confirmada. O trecho integral permanece nas fontes.</a:t>
            </a:r>
          </a:p>
          <a:p>
            <a:r>
              <a:t>CNPJ 63953620000165 · Conta de arrecadação e risco de trânsito · Versão e prevalência: Documentos atuais selecionados no inventário por categoria/escopo; a data documental isolada não comprova vigência jurídica.</a:t>
            </a:r>
          </a:p>
          <a:p>
            <a:r>
              <a:t>CNPJ 63953620000165 · Conta de arrecadação e risco de trânsito · Resumo do histórico: {"count": 2, "dates": ["2026-02-19", "2026-05-15"], "document_count": 2, "sources": [{"document_id": "1327859", "title": "Demonstrações Financeiras - Fusão, cisão e incorporação", "reference_date": "2026-05-15", "version": "1", "page": 22, "url": "https://fnet.bmfbovespa.com.br/fnet/publico/visualizarDocumento?id=1327859", "sha256": "dca1c68babb97f887528c3e2e47596a9c30f507b067981a35655b2f2da9c8054"}, {"document_id": "1200324", "title": "Demonstrações Financeiras - Fusão, cisão e incorporação", "reference_date": "2026-02-19", "version": "1", "page": 22, "url": "https://fnet.bmfbovespa.com.br/fnet/publico/visualizarDocumento?id=1200324", "sha256": "aba4246af804161a6cb22052dc79425be7591e0bb7df5467cda6487f249272fc"}], "reference": {"path": "history/63953620000165.json", "criterion_id": "collection_account", "total_count": 2, "preview_count": 2, "full_text_deferred": true, "sha256": "a7b89077f5e21098c2d601c303faabc3ff6b9729f89d8afecdc60fe1404720c1"}}</a:t>
            </a:r>
          </a:p>
          <a:p>
            <a:r>
              <a:t>CNPJ 54871427000194 · Verificação de lastro e amostragem · Regulamento · ID 670691 · 28/04/2024 · versão Regulamento — referência 28/04/2024 · p. 10 · Anexo I, 4.7.1 · https://fnet.bmfbovespa.com.br/fnet/publico/visualizarDocumento?id=670691</a:t>
            </a:r>
          </a:p>
          <a:p>
            <a:r>
              <a:t>CNPJ 54871427000194 · Verificação de lastro e amostragem · Excerto da fonte:</a:t>
            </a:r>
          </a:p>
          <a:p>
            <a:r>
              <a:t>4.7.1 Os Documentos Comprobatórios deverão ser disponibilizados pelo respectivo Endossante (a) no prazo de 10 (dez) dias contados da Data de Aquisição dos 50 (cinquenta) casos que sejam solicitados pelo GESTOR, a seu exclusivo critério, (b) a totalidade dos demais Documentos Comprobatórios em f ormato digital em até 90 (noventa) dias a contar da Data de Aquisição, bem como dos Documentos Comprobatórios em formato físico relativos aos Direitos Creditórios que eventualmente estejam inadimplidos em ref erida data, e (c) a totalidade dos demais Documentos Comprobatórios em f ormato f ísico em até 180 (cento e oitenta) dias a contar da Data de Aquisição, sujeito à resolução do respectivo endosso, de acordo com os termos do Contrato de Endosso. 4.7.2 Caso um Direito Creditório cedido à Classe deixe de atender quaisquer Critérios de Elegibilidade e/ou quaisquer declarações e garantias ref erentes a esse Direito Creditório, conf orme previsto no respectivo Contrato de Endosso, após seu endosso à Classe, não haverá coobrigação nem direito de regresso da Classe contra o ADMINISTRADOR, o CUSTODIANTE o GESTOR e/ou o En</a:t>
            </a:r>
          </a:p>
          <a:p>
            <a:r>
              <a:t>CNPJ 54871427000194 · Verificação de lastro e amostragem · Regulamento · ID 670691 · 28/04/2024 · versão Regulamento — referência 28/04/2024 · p. 24 · Anexo I, 12.15 e 12.19(iv)–(v) · https://fnet.bmfbovespa.com.br/fnet/publico/visualizarDocumento?id=670691</a:t>
            </a:r>
          </a:p>
          <a:p>
            <a:r>
              <a:t>CNPJ 54871427000194 · Verificação de lastro e amostragem · Excerto da fonte:</a:t>
            </a:r>
          </a:p>
          <a:p>
            <a:r>
              <a:t>12.15 No âmbito das diligências relacionadas à aquisição de Direitos Creditórios caracterizados como direitos e títulos representativos de crédito, conforme referidos na alínea “a” do inciso XII do art. 2º do Anexo Normativo II da Resolução CVM 175, o GESTOR deve verificar a existência, integridade e titularidade do lastro, de f orma integral, utilizando modelo estatístico consistente e passível de verif icação, 12.16 O GESTOR pode contratar terceiros para ef etuar a verif icação do lastro, inclusive a entidade registradora, o CUSTODIANTE ou consultoria especializada, caso aplicável, devendo constar do contrato de prestação de serviços as regras e procedimentos aplicáveis à verif icação, sendo que o GESTOR será responsável pela fiscalização da atuação do agente contratado no tocante à observância às regras e procedimentos aplicáveis à verif icação. Custódia e Verificação do Lastro quando do inadimplemento ou substituição dos Direitos Creditórios 12.17 Caso a classe aplique recursos em Direitos Creditórios que não sejam passíveis de registro em entidade registradora na data deste Regulamento, o ADMINISTRADOR deve contratar o serviço de custódia para a Carteira. 12.18 Os serviços de custódia qualificada dos Direitos Creditóri</a:t>
            </a:r>
          </a:p>
          <a:p>
            <a:r>
              <a:t>CNPJ 54871427000194 · Verificação de lastro e amostragem · Condição: A entrega escalonada dos comprovantes é distinta da verificação integral prevista. O Complemento 2 contém recuperação/cobrança; não contém uma amostragem estatística de lastro.</a:t>
            </a:r>
          </a:p>
          <a:p>
            <a:r>
              <a:t>CNPJ 54871427000194 · Verificação de lastro e amostragem · Versão e prevalência: Leitura específica das cláusulas indicadas; condições e conflitos preservados. Seleção documental atual não comprova vigência jurídica por data isolada.</a:t>
            </a:r>
          </a:p>
          <a:p>
            <a:r>
              <a:t>CNPJ 54871427000194 · Verificação de lastro e amostragem · Resumo do histórico: {"count": 1, "dates": ["2024-04-19"], "document_count": 1, "sources": [{"document_id": "670689", "title": "Regulamento", "reference_date": "2024-04-19", "version": "1", "page": 45, "url": "https://fnet.bmfbovespa.com.br/fnet/publico/visualizarDocumento?id=670689", "sha256": "891bc9bc5d87bbc02ec139077a84d2702eb81ea02035fb71d24f5b8366b94a0b"}], "reference": {"path": "history/54871427000194.json", "criterion_id": "collateral_check", "total_count": 1, "preview_count": 1, "full_text_deferred": true, "sha256": "35d7cd99be50c7287c9fb675cf4f2e736002315295a225a9efa79c8d9186d874"}}</a:t>
            </a:r>
          </a:p>
          <a:p>
            <a:r>
              <a:t>CNPJ 60010416000112 · Verificação de lastro e amostragem · Regulamento · ID 1051393 · 09/10/2025 · versão Regulamento09/10/2025 · p. 59 · Complemento7itens1–4 · https://fnet.bmfbovespa.com.br/fnet/publico/visualizarDocumento?id=1051393</a:t>
            </a:r>
          </a:p>
          <a:p>
            <a:r>
              <a:t>CNPJ 60010416000112 · Verificação de lastro e amostragem · Excerto da fonte:</a:t>
            </a:r>
          </a:p>
          <a:p>
            <a:r>
              <a:t>1. O Gestor deverá realizar a verif icação dos Documentos Comprobatórios relativos aos Direitos Creditórios adquiridos pela Classe trimestralmente; sendo certo que o Endossante e/ou o Agente de Retenção/Cobrança, conforme o caso, deverão enviar os Documentos Comprobatórios para o Gestor, conf orme def inido nos itens conf orme def inido nos itens 11.16 e 11.17 do Anexo I. 2. Observado o disposto no inciso (i) do item 3 abaixo, numa data-base pré-estabelecida, será selecionada uma amostra aleatória simples para a determinação de um intervalo de confiança para a proporção de eventuais f alhas, baseado numa distribuição binomial aproxi</a:t>
            </a:r>
          </a:p>
          <a:p>
            <a:r>
              <a:t>CNPJ 60010416000112 · Verificação de lastro e amostragem · Versão e prevalência: Leitura específica das cláusulas indicadas; condições e conflitos preservados. Seleção documental atual não comprova vigência jurídica por data isolada.</a:t>
            </a:r>
          </a:p>
          <a:p>
            <a:r>
              <a:t>CNPJ 60010416000112 · Verificação de lastro e amostragem · Resumo do histórico: {"count": 1, "dates": ["2025-03-20"], "document_count": 1, "sources": [{"document_id": "993786", "title": "Regulamento", "reference_date": "2025-03-20", "version": "1", "page": 38, "url": "https://fnet.bmfbovespa.com.br/fnet/publico/visualizarDocumento?id=993786", "sha256": "fd0fdd369a195510d81f81f505195a0b09e5f43522a990afa7d58c4f872921c8"}], "reference": {"path": "history/60010416000112.json", "criterion_id": "collateral_check", "total_count": 1, "preview_count": 1, "full_text_deferred": true, "sha256": "8e2bd813f4c51cf01f6bfaad164bafe69d2bbb192f753eac92da3a01c2e63046"}}</a:t>
            </a:r>
          </a:p>
          <a:p>
            <a:r>
              <a:t>CNPJ 62696791000193 · Verificação de lastro e amostragem · Regulamento · ID 1143317 · 20/03/2026 · versão Regulamento — referência 20/03/2026 · p. 13 · Anexo I, 4.15–4.19 · https://fnet.bmfbovespa.com.br/fnet/publico/visualizarDocumento?id=1143317</a:t>
            </a:r>
          </a:p>
          <a:p>
            <a:r>
              <a:t>CNPJ 62696791000193 · Verificação de lastro e amostragem · Excerto da fonte:</a:t>
            </a:r>
          </a:p>
          <a:p>
            <a:r>
              <a:t>4.15 Os serviços de custódia qualif icada dos Direitos Creditórios do Agronegócio não registrados em entidade registradora, bem como a guarda física dos originais dos Direitos Creditórios do Agronegócio e dos Documentos Comprobatórios, serão prestados pelo Custodiante. 4.16 São atribuições do Custodiante, observado o disposto neste Regulamento e na regulamentação aplicável: (i) realizar a liquidação física ou eletrônica e financeira dos Direitos Creditórios do Agronegócio; (ii) cobrar e receber, em nome da classe, pagamentos, resgate de títulos ou qualquer outro rendimento relativo aos ativos da Carteira, depositando os valores recebidos diretamente em conta de titularidade da classe ou, se f or o caso, em conta vinculada; e (iii) realizar a guarda da documentação relativa ao lastro dos Direitos Creditórios do Agronegócio. 4.17 Em razão de a Classe possuir significativa quantidade de Direitos Creditórios do Agronegócio cedidos e expressiva diversificação de devedores e de Cedentes, além de atuar em vários segmentos, o Custodiante está autorizado a ef etuar a verif icação do lastro dos Direitos Creditórios do Agronegócio por amostragem, sempre que permitido pel</a:t>
            </a:r>
          </a:p>
          <a:p>
            <a:r>
              <a:t>CNPJ 62696791000193 · Verificação de lastro e amostragem · Condição: O PDF obtido termina no Complemento I (Fatores de Risco); Complemento II, referenciado para parâmetros de amostragem, não está incluído. Não atribuir confiança 95%/erro 5% por analogia.</a:t>
            </a:r>
          </a:p>
          <a:p>
            <a:r>
              <a:t>CNPJ 62696791000193 · Verificação de lastro e amostragem · Versão e prevalência: Leitura específica das cláusulas indicadas; condições e conflitos preservados. Seleção documental atual não comprova vigência jurídica por data isolada.</a:t>
            </a:r>
          </a:p>
          <a:p>
            <a:r>
              <a:t>CNPJ 55563624000109 · Verificação de lastro e amostragem · Regulamento · ID 1192614 · 30/04/2026 · versão Regulamento30/04/2026 · p. 12 · AnexoI4.5–4.6 · https://fnet.bmfbovespa.com.br/fnet/publico/visualizarDocumento?id=1192614</a:t>
            </a:r>
          </a:p>
          <a:p>
            <a:r>
              <a:t>CNPJ 55563624000109 · Verificação de lastro e amostragem · Excerto da fonte:</a:t>
            </a:r>
          </a:p>
          <a:p>
            <a:r>
              <a:t>4.5 Uma vez que o investimento nas Cotas da Classe Investida não corresponde a um investimento direto em direitos creditórios, uma série de disposições comuns à securitização de direitos creditórios não será aplicável ao investimento nas Cotas da Classe Investida. A título meramente exemplificativo, não existem processos de originação ou política de concessão de crédito adotada pelo GESTOR, tampouco há que se falar em verificação ou guarda de documentos comprobatórios que não sejam referentes às Cotas da Classe Investida. Da mesma forma, não há necessida</a:t>
            </a:r>
          </a:p>
          <a:p>
            <a:r>
              <a:t>CNPJ 55563624000109 · Verificação de lastro e amostragem · Regulamento · ID 1192614 · 30/04/2026 · versão Regulamento30/04/2026 · p. 28 · AnexoI12.22–12.24 · https://fnet.bmfbovespa.com.br/fnet/publico/visualizarDocumento?id=1192614</a:t>
            </a:r>
          </a:p>
          <a:p>
            <a:r>
              <a:t>CNPJ 55563624000109 · Verificação de lastro e amostragem · Excerto da fonte:</a:t>
            </a:r>
          </a:p>
          <a:p>
            <a:r>
              <a:t>12.22 Os Documentos Comprobatórios relativos às Cotas da Classe Investida integrantes da Carteira inadimplidos e/ou substituídos num dado trimestre serão, no referido trimestre, objeto de verificação individualizada e integral pelo CUSTODIANTE ou terceiro por ele contratado. 12.23 Eventuais vícios verificados nos Documentos Comprobatórios que evidenciam o lastro dos Direitos Creditórios serão comunicados por escrito pelo CUSTODIANTE ao ADMINISTRADOR em até 5 (cinco) Dias Úteis da sua verificação, para que sejam tomadas as medidas necessárias. Cobrança da</a:t>
            </a:r>
          </a:p>
          <a:p>
            <a:r>
              <a:t>CNPJ 55563624000109 · Verificação de lastro e amostragem · Versão e prevalência: Leitura específica das cláusulas indicadas; condições e conflitos preservados. Seleção documental atual não comprova vigência jurídica por data isolada.</a:t>
            </a:r>
          </a:p>
          <a:p>
            <a:r>
              <a:t>CNPJ 62552447000120 · Verificação de lastro e amostragem · Regulamento · ID 1200623 · 21/05/2026 · versão Consolidado21/05/2026 aprovado pelo ato1200625 · p. 41 · ComplementoIIitens1–4 · https://fnet.bmfbovespa.com.br/fnet/publico/visualizarDocumento?id=1200623</a:t>
            </a:r>
          </a:p>
          <a:p>
            <a:r>
              <a:t>CNPJ 62552447000120 · Verificação de lastro e amostragem · Excerto da fonte:</a:t>
            </a:r>
          </a:p>
          <a:p>
            <a:r>
              <a:t>1. O Gestor deverá realizar a verif icação dos Documentos Comprobatórios relativos aos Direitos Creditórios adquiridos pela Classe trimestralmente; sendo certo que o Endossante e/ou o Agente de Retenção/Cobrança, conforme o caso, deverão enviar os Documentos Comprobat órios para o Gestor. 2. Observado o disposto no inciso (i) do item 3 abaixo, numa data-base pré-estabelecida, será selecionada uma amostra aleatória simples para a determinação de um intervalo de confiança para a proporção de eventuais falhas, baseado numa distribuição binomial aproximada a uma distribuição normal com 95% (noventa e cinco por cento) de nível de confian</a:t>
            </a:r>
          </a:p>
          <a:p>
            <a:r>
              <a:t>CNPJ 62552447000120 · Verificação de lastro e amostragem · Regulamento · ID 1200623 · 21/05/2026 · versão Consolidado21/05/2026 aprovado pelo ato1200625 · p. 29 · AnexoI12.12–12.13 · https://fnet.bmfbovespa.com.br/fnet/publico/visualizarDocumento?id=1200623</a:t>
            </a:r>
          </a:p>
          <a:p>
            <a:r>
              <a:t>CNPJ 62552447000120 · Verificação de lastro e amostragem · Excerto da fonte:</a:t>
            </a:r>
          </a:p>
          <a:p>
            <a:r>
              <a:t>12.12 Os Documentos Comprobatórios relativos aos Direitos Creditórios integrantes da Carteira inadimplidos e/ou substituídos num dado trimestre serão, no ref erido trimestre, objeto de verificação individualizada e integral pelo Custodiante ou terceiro por ele contratado. 12.13 Eventuais vícios verificados nos Documentos Comprobatórios que evidenciam o lastro dos Direitos Creditórios serão comunicados por escrito pelo Custodiante ao Administrador em até 5 (cinco) Dias Úteis da sua verif icação, para que sejam tomadas as medidas necessárias. Retenção e Cobrança dos Direitos Creditórios Inadimplidos 12.14 A Classe contra</a:t>
            </a:r>
          </a:p>
          <a:p>
            <a:r>
              <a:t>CNPJ 62552447000120 · Verificação de lastro e amostragem · Versão e prevalência: Leitura específica das cláusulas indicadas; condições e conflitos preservados. Seleção documental atual não comprova vigência jurídica por data isolada.</a:t>
            </a:r>
          </a:p>
          <a:p>
            <a:r>
              <a:t>CNPJ 63953620000165 · Verificação de lastro e amostragem · Anexo ao Regulamento · ID 1222863 · 2026-06-02 · versão 1 · p. 30 · https://fnet.bmfbovespa.com.br/fnet/publico/visualizarDocumento?id=1222863</a:t>
            </a:r>
          </a:p>
          <a:p>
            <a:r>
              <a:t>CNPJ 63953620000165 · Verificação de lastro e amostragem · Excerto da fonte:</a:t>
            </a:r>
          </a:p>
          <a:p>
            <a:r>
              <a:t>Complemento II  (Ao Anexo I)  PARÂMETROS PARA A VERIFICAÇÃO DO LASTRO POR AMOSTRAGEM  1. O Gestor deverá realizar a verificação dos Documentos Comprobatórios relativos aos Direitos Creditórios adquiridos pela  Classe trimestralmente; sendo certo que o Endossante e/ou o Agente de Retenção/Cobrança, conforme o caso, deverão  enviar os Documentos Comprobatórios para o Gestor, conforme definido nos itens conforme definido nos itens 11.16 e</a:t>
            </a:r>
          </a:p>
          <a:p>
            <a:r>
              <a:t>CNPJ 63953620000165 · Verificação de lastro e amostragem · Anexo ao Regulamento · ID 1222863 · 2026-06-02 · versão 1 · p. 30 · 11.17 · https://fnet.bmfbovespa.com.br/fnet/publico/visualizarDocumento?id=1222863</a:t>
            </a:r>
          </a:p>
          <a:p>
            <a:r>
              <a:t>CNPJ 63953620000165 · Verificação de lastro e amostragem · Excerto da fonte:</a:t>
            </a:r>
          </a:p>
          <a:p>
            <a:r>
              <a:t>11.17 do Anexo I.</a:t>
            </a:r>
          </a:p>
          <a:p>
            <a:r>
              <a:t> 2. Observado o disposto no inciso (i) do item 3 abaixo, numa data-base pré-estabelecida, será selecionada uma amostra  aleatória simples para a determinação de um intervalo de confiança para a proporção de eventuais falhas, baseado numa  distribuição binomial aproximada a uma distribuição normal com 95% (noventa e cinco por cento) de nível de confiança,  visando a uma margem de erro de 5% (cinco por cento), independentemente do cedente dos Direitos Creditórios.</a:t>
            </a:r>
          </a:p>
          <a:p>
            <a:r>
              <a:t> 3. O escopo da análise da documentação que evidencia o lastro dos Direitos Creditórios contempla a verificação da  existência dos respectivos Documentos Comprobatórios, conforme abaixo discriminado:</a:t>
            </a:r>
          </a:p>
          <a:p>
            <a:r>
              <a:t> i. obtenção de base de dados analítica por Direitos Creditórios integrantes da Carteira;</a:t>
            </a:r>
          </a:p>
          <a:p>
            <a:r>
              <a:t> ii. seleção de uma amostra de acordo com as fórmulas abaixo</a:t>
            </a:r>
          </a:p>
          <a:p>
            <a:r>
              <a:t>CNPJ 63953620000165 · Verificação de lastro e amostragem · Anexo ao Regulamento · ID 1222863 · 2026-06-02 · versão 1 · p. 26 · https://fnet.bmfbovespa.com.br/fnet/publico/visualizarDocumento?id=1222863</a:t>
            </a:r>
          </a:p>
          <a:p>
            <a:r>
              <a:t>CNPJ 63953620000165 · Verificação de lastro e amostragem · Excerto da fonte:</a:t>
            </a:r>
          </a:p>
          <a:p>
            <a:r>
              <a:t>Complemento I  (Ao Anexo I)  FATORES DE RISCO APLICÁVEIS À CLASSE CONSIGNADO PRIVADO DO MT GLOBAL FUNDO DE INVESTIMENTO EM  DIREITOS CREDITÓRIOS RESPONSABILIDADE LIMITADA  Risco de Crédito</a:t>
            </a:r>
          </a:p>
          <a:p>
            <a:r>
              <a:t> (i) Riscos associados aos Devedores: os Direitos Creditórios a serem endossados à Classe serão descontados  pela Dataprev da remuneração do Devedor. A capacidade de pagamento do Devedor poderá ser afetada se,  por exemplo, o Devedor tiver o seu contrato de emprego rescindido ou em virtude de decisão judicial, o  Devedor for obrigado a pagar alimentos, que têm prioridade sobre o empréstimo para fins de desconto na  folha de benefícios. Além disso, a morte do Devedor, a extrapolação de sua margem consignável (inclusive  em razão de qualquer diminuição da margem consignável permitida) ou a suspensão ou extinção do  pagamento do benefício pago pela CEF ao respectivo Devedor podem interromper o desconto automático  na folha de pagamento das prestações vincendas da CCB, e não há seguro ou mecanismo que garanta uma  indenização à Classe nesses casos, o que poderá afetar a rentabilidade da Classe.</a:t>
            </a:r>
          </a:p>
          <a:p>
            <a:r>
              <a:t> (ii) Risco do Empregador se tornar insolvente: o pagamento dos Direitos Creditórios pelos Devedores está  diretamente ligado ao recebimento, pelos Devedores, de remuneração decorrente do vínculo empregatício  mantido junto aos Empregadores. Caso o Empregador de um determinado Devedor se torne insolvente e,  em razão disso, haja suspensão do pagamento da remuneração do Devedor, o referido Devedor poderá  ficar inadimplente e, consequentemente, não haverá repasse à Classe do respectivo Direito Creditório, o  que poderá resultar em perdas financeiras à Classe e aos Cotistas.</a:t>
            </a:r>
          </a:p>
          <a:p>
            <a:r>
              <a:t> (iii) Risco do Empregador não efetuar o desconto em folha: o repasse dos recursos oriundos dos Direitos  Creditórios à Classe depende da realização, pelo Empregador, da Escrituração e do desconto na respectiva  folha de pagamento do Devedor. Na hipótese do Empregador deixar de realizar a Escrituração ou os  descontos na folha de pagamento, não haverá repasse de recursos à Classe, podendo causar prejuízos à  Classe e aos Cotistas.</a:t>
            </a:r>
          </a:p>
          <a:p>
            <a:r>
              <a:t> (iv) Risco de perda do vínculo empregatício com o Empregador: caso o Devedor perca o vínculo empregatício  com o Empregador, não haverá remuneração e folha de pagamento para realização dos descontos para  pagamento dos Direitos Creditórios. Neste caso, não obstante a possibilidade do Agente de  Retenção/Cobrança realizar a cobrança ativa dos Direitos Creditórios diretamente do Devedor, a ausência  de remuneração poderá deixar o Devedor inadimplente perante a Classe até que o seu vínculo empregatício  seja retomado e seja efetuado o procedimento operacional para que a CCB seja aditada e/ou seja realizado  o Processo de Reinicialização. Tais situações poderão resultar em prejuízos à Classe e aos Cotistas.</a:t>
            </a:r>
          </a:p>
          <a:p>
            <a:r>
              <a:t> Riscos Operacionais</a:t>
            </a:r>
          </a:p>
          <a:p>
            <a:r>
              <a:t> (i) Risco de irregularidade dos Documentos Comprobatórios e/ou Documentos Suporte: o Gestor, ou  terceiro por ele contratado, deverá realizar a verificação da regularidade dos Documentos Comprobatórios  e Documentos Suporte. A Carteira poderá conter Direitos Creditórios com documentação irregular, o que  poderá impedir que a Classe exerça plenamente as prerrogativas derivadas da titularidade dos Direitos  Creditórios. O Gestor poderá contratar empresas especializadas, com comprovada competência e  adequação, para realizar a guarda física, manutenção, armazenamento, organização e digitalização dos  Documentos Comprobatórios e Documentos Suporte, que estarão sob total responsabilidade do Gestor,  permanecendo as empresas como agentes depositários dos Documentos Comprobatórios e Documentos  Suporte.</a:t>
            </a:r>
          </a:p>
          <a:p>
            <a:r>
              <a:t> (ii) Risco operacional da Dataprev e da CEF: o empréstimo contraído pelos Devedores é pago por meio de  desconto na folha de pagamento feito pela Dataprev e pela CEF, conforme aplicável. É possível que os  rendimentos dos Devedores sejam atrasados ou não pagos devido a questões operacionais envolvendo a  Dataprev e/ou a CEF. Nesse caso, a Carteira poderá sofrer, já que não receberá automaticamente, e  também poderá ter dificuldades para receber, a qualquer momento, os recursos decorrentes dos Direitos  Creditórios.</a:t>
            </a:r>
          </a:p>
          <a:p>
            <a:r>
              <a:t>CNPJ 63953620000165 · Verificação de lastro e amostragem · Condição: Documentos atuais selecionados no inventário por categoria/escopo; a data documental isolada não comprova vigência jurídica.</a:t>
            </a:r>
          </a:p>
          <a:p>
            <a:r>
              <a:t>CNPJ 63953620000165 · Verificação de lastro e amostragem · Versão e prevalência: Documentos atuais selecionados no inventário por categoria/escopo; a data documental isolada não comprova vigência jurídica.</a:t>
            </a:r>
          </a:p>
          <a:p>
            <a:r>
              <a:t>CNPJ 63953620000165 · Verificação de lastro e amostragem · Resumo do histórico: {"count": 8, "dates": ["2026-04-28", "2026-05-08", "2026-05-15"], "document_count": 3, "sources": [{"document_id": "1327859", "title": "Demonstrações Financeiras - Fusão, cisão e incorporação", "reference_date": "2026-05-15", "version": "1", "page": 22, "url": "https://fnet.bmfbovespa.com.br/fnet/publico/visualizarDocumento?id=1327859", "sha256": "dca1c68babb97f887528c3e2e47596a9c30f507b067981a35655b2f2da9c8054"}, {"document_id": "1298691", "title": "Demonstrações Financeiras - Fusão, cisão e incorporação", "reference_date": "2026-05-08", "version": "1", "page": 17, "url": "https://fnet.bmfbovespa.com.br/fnet/publico/visualizarDocumento?id=1298691", "sha256": "58c570d9b8d4d265330d3db3ea81c435b8e44a6dab4002aa37790652a1ee9819"}, {"document_id": "1282180", "title": "Demonstrações Financeiras - Fusão, cisão e incorporação", "reference_date": "2026-04-28", "version": "1", "page": 17, "url": "https://fnet.bmfbovespa.com.br/fnet/publico/visualizarDocumento?id=1282180", "sha256": "afaaa0e6809be4385e5bdb6c911aac582032c5bdbac3d7750234bf9eaf00438a"}], "reference": {"path": "history/63953620000165.json", "criterion_id": "collateral_check",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Hedge e prestadores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Finalidade e limites de derivativos · Regulamento · ID 670691 · 28/04/2024 · versão Regulamento — referência 28/04/2024 · p. 13 · Anexo I, 4.15–4.16 · https://fnet.bmfbovespa.com.br/fnet/publico/visualizarDocumento?id=670691</a:t>
            </a:r>
          </a:p>
          <a:p>
            <a:r>
              <a:t>CNPJ 54871427000194 · Finalidade e limites de derivativos · Excerto da fonte:</a:t>
            </a:r>
          </a:p>
          <a:p>
            <a:r>
              <a:t>4.15 A Classe poderá utilizar instrumentos derivativos, desde que com o objetivo de proteção patrimonial, ou, desde que não resulte em exposição a risco de capital, conforme definida no inciso XXIV Art. 3º da parte geral da Resolução CVM 175, troca de indexador a que os ativos estão indexados . 4.16 A Classe não realizará operações de day trade, assim consideradas aquelas iniciadas e encerradas no mesmo dia, independentemente de a Classe possuir estoque ou posição anterior do mesmo Ativo Financeiro. 4.17 É vedada qualquer forma de antecipação de recursos aos Endossantes para posterior reembolso pela Classe, seja pelo ADMINISTRADOR, GESTOR, CUSTODIANTE, consultora ou Originadores. 4.18 Exceto na medida em que eventualmente previsto nos Contratos de Cessão e/ou em instrumentos eventualmente celebrados entre a Classe e os Endossantes, os Endossantes não serão responsáveis em caso de eventual inadimplemento dos Direitos Creditórios por eles cedidos, sendo responsáveis, não obstante, apenas pela existência, certeza, conteúdo, exatidão, veracidade, legitimidade, validade e correta f ormalização dos Direitos Creditórios que cederem à Classe, nos termos da</a:t>
            </a:r>
          </a:p>
          <a:p>
            <a:r>
              <a:t>CNPJ 54871427000194 · Finalidade e limites de derivativos · Versão e prevalência: Leitura específica das cláusulas indicadas; condições e conflitos preservados. Seleção documental atual não comprova vigência jurídica por data isolada.</a:t>
            </a:r>
          </a:p>
          <a:p>
            <a:r>
              <a:t>CNPJ 54871427000194 · Finalidade e limites de derivativos · Resumo do histórico: {"count": 2, "dates": ["2024-04-19", "2024-04-28"], "document_count": 2, "sources": [{"document_id": "670691", "title": "Regulamento", "reference_date": "2024-04-28", "version": "1", "page": "13", "url": "https://fnet.bmfbovespa.com.br/fnet/publico/visualizarDocumento?id=670691", "sha256": "bf16dd7f1a62d5cdbf2e2d54fef81783783f7310fbc99c3a8f00459bdf9d037b"}, {"document_id": "670689", "title": "Regulamento", "reference_date": "2024-04-19", "version": "1", "page": 13, "clause": "4.15", "url": "https://fnet.bmfbovespa.com.br/fnet/publico/visualizarDocumento?id=670689", "sha256": "891bc9bc5d87bbc02ec139077a84d2702eb81ea02035fb71d24f5b8366b94a0b"}], "reference": {"path": "history/54871427000194.json", "criterion_id": "hedge", "total_count": 2, "preview_count": 2, "full_text_deferred": true, "sha256": "35d7cd99be50c7287c9fb675cf4f2e736002315295a225a9efa79c8d9186d874"}}</a:t>
            </a:r>
          </a:p>
          <a:p>
            <a:r>
              <a:t>CNPJ 60010416000112 · Finalidade e limites de derivativos · Regulamento · ID 1051393 · 2025-10-09 · versão 1 · p. 12 · 4.9 · https://fnet.bmfbovespa.com.br/fnet/publico/visualizarDocumento?id=1051393</a:t>
            </a:r>
          </a:p>
          <a:p>
            <a:r>
              <a:t>CNPJ 60010416000112 · Finalidade e limites de derivativos · Excerto da fonte:</a:t>
            </a:r>
          </a:p>
          <a:p>
            <a:r>
              <a:t>4.9 Sem prejuízo de limites mais restritivos definidos neste Regulamento, o Gestor deverá observar, ainda, os  seguintes limites de concentração para a composição da Carteira:</a:t>
            </a:r>
          </a:p>
          <a:p>
            <a:r>
              <a:t> (i ) Até 100% (cem por cento) da parcela do Patrimônio Líquido investida em Ativos  Financeiros de Liquidez poderá ser alocada em Ativos Financeiros de Liquidez de  emissão ou que envolvam retenção de risco por parte do Administrador, Gestor, e/ou  suas partes relacionadas; e</a:t>
            </a:r>
          </a:p>
          <a:p>
            <a:r>
              <a:t> (ii) Até 100% (cem por cento) da parcela do Patrimônio Líquido investida em operações  com derivativos poderá ser alocada em derivativos nos quais, inexistindo contraparte  central, se tenha como contraparte o Gestor e/ou suas partes relacionadas.</a:t>
            </a:r>
          </a:p>
          <a:p>
            <a:r>
              <a:t>CNPJ 60010416000112 · Finalidade e limites de derivativos · Regulamento · ID 1051393 · 2025-10-09 · versão 1 · p. 13 · 4.15 · https://fnet.bmfbovespa.com.br/fnet/publico/visualizarDocumento?id=1051393</a:t>
            </a:r>
          </a:p>
          <a:p>
            <a:r>
              <a:t>CNPJ 60010416000112 · Finalidade e limites de derivativos · Excerto da fonte:</a:t>
            </a:r>
          </a:p>
          <a:p>
            <a:r>
              <a:t>4.15 A Classe poderá utilizar instrumentos derivativos, observados os limites de concentração previstos neste  Regulamento, desde que com o objetivo de proteção patrimonial, ou, desde que não resulte em exposição  a risco de capital, conforme definida no inciso XXIV do Art. 3º da parte geral da Resolução CVM 175, troca  de indexador a que os ativos estão indexados e o índice de ref erência de cada Subclasse.</a:t>
            </a:r>
          </a:p>
          <a:p>
            <a:r>
              <a:t>CNPJ 60010416000112 · Finalidade e limites de derivativos · Regulamento · ID 1051393 · 2025-10-09 · versão 1 · p. 16 · 7.11 · https://fnet.bmfbovespa.com.br/fnet/publico/visualizarDocumento?id=1051393</a:t>
            </a:r>
          </a:p>
          <a:p>
            <a:r>
              <a:t>CNPJ 60010416000112 · Finalidade e limites de derivativos · Excerto da fonte:</a:t>
            </a:r>
          </a:p>
          <a:p>
            <a:r>
              <a:t>7.11 Sem prejuízo do disposto do disposto nos itens 7.1 a 7.10 acima, a partir da Data da 1ª Integralização de  Cotas até a liquidação integral das Obrigações da Classe, sempre preservando a manutenção da boa  ordem legal, administrativa e operacional da Classe, o Gestor obriga-se a utilizar os recursos disponíveis  na Conta de Movimentação da Classe e/ou mantidos em Ativos Financeiros de Liquidez, em cada Dia Útil,  de acordo com a seguinte ordem de prioridade de alocação, na forma dos itens e tabela abaixo, de modo  que cada um dos itens listado apenas será contemplado após o direcionamento do montante total  necessário para a satisfação dos itens anteriores, ressalvado, enquanto em curso um Evento de Avaliação  e/ou um Evento de Liquidação, o disposto no item 11.4.1 abaixo</a:t>
            </a:r>
          </a:p>
          <a:p>
            <a:r>
              <a:t> (i) entradas de recursos provenientes da integralização de Cotas e dos Direitos Creditórios e  Ativos Financeiros de Liquidez que compõem a carteira da Classe, durante o Período de  Investimento, na seguinte ordem:</a:t>
            </a:r>
          </a:p>
          <a:p>
            <a:r>
              <a:t> a. pagamento dos Encargos;</a:t>
            </a:r>
          </a:p>
          <a:p>
            <a:r>
              <a:t> b. pagamento de despesas relativas aos instrumentos derivativos, conf orme aplicável;</a:t>
            </a:r>
          </a:p>
          <a:p>
            <a:r>
              <a:t> c. aquisição de Direitos Creditórios, sempre que ofertado, em moeda corrente nacional, em  conf ormidade com a Política de Investimento descrita neste Regulamento, sem prejuízo  do disposto no item 4.12 acima; e  d. aquisição de Ativos Financeiros de Liquidez, observando-se a Política de Investimentos.</a:t>
            </a:r>
          </a:p>
          <a:p>
            <a:r>
              <a:t> (ii) entradas de recursos provenientes dos Direitos Creditórios e Ativos Financeiros de Liquidez  que compõem a carteira da Classe, após o término do Período de Investimento, na seguinte  ordem, observadas as seguintes condições:</a:t>
            </a:r>
          </a:p>
          <a:p>
            <a:r>
              <a:t> a. pagamento dos Encargos;</a:t>
            </a:r>
          </a:p>
          <a:p>
            <a:r>
              <a:t> b. pagamento de despesas relativas aos instrumentos derivativos, conf orme aplicável;</a:t>
            </a:r>
          </a:p>
          <a:p>
            <a:r>
              <a:t> c. pagamento da amortização do principal e dos rendimentos acumulados relacionados às  Cotas Seniores, de modo que, considerando, pro f orma, todas as amortizações  pretendidas, o percentual empregado para amortização das Cotas Seniores seja  equivalente à relação entre o Patrimônio Líquido Sênior dividido pelo Patrimônio Líquido  da Classe, com a devida observância dos termos e condições deste Regulamento, do  Apêndice e do Suplemento das Cotas Seniores;</a:t>
            </a:r>
          </a:p>
          <a:p>
            <a:r>
              <a:t> d. pagamento da amortização do principal e dos rendimentos acumulados relacionados às  Cotas Subordinadas, de modo que, considerando, pro f orma, todas as amortizações  pretendidas, o percentual empregado para amortização das Cotas Subordinadas seja  equivalente à relação entre o Patrimônio Líquido Subordinado dividido pelo Patrimônio  Líquido da Classe, com a devida observância dos termos e condições deste  Regulamento, do Apêndice e do Suplemento das Cotas Seniores e desde que  respeitados o Índice de Subordinação;</a:t>
            </a:r>
          </a:p>
          <a:p>
            <a:r>
              <a:t> e. aquisição de Ativos Financeiros, observado o limite de alocação previsto no item 4.7  deste Anexo I.</a:t>
            </a:r>
          </a:p>
          <a:p>
            <a:r>
              <a:t>CNPJ 60010416000112 · Finalidade e limites de derivativos · Condição: Documentos atuais selecionados no inventário por categoria/escopo; a data documental isolada não comprova vigência jurídica.</a:t>
            </a:r>
          </a:p>
          <a:p>
            <a:r>
              <a:t>CNPJ 60010416000112 · Finalidade e limites de derivativos · Versão e prevalência: Documentos atuais selecionados no inventário por categoria/escopo; a data documental isolada não comprova vigência jurídica.</a:t>
            </a:r>
          </a:p>
          <a:p>
            <a:r>
              <a:t>CNPJ 60010416000112 · Finalidade e limites de derivativos · Resumo do histórico: {"count": 2, "dates": ["2025-03-20", "2025-10-09"], "document_count": 2, "sources": [{"document_id": "1051393", "title": "Regulamento", "reference_date": "2025-10-09", "version": "1", "page": "13", "url": "https://fnet.bmfbovespa.com.br/fnet/publico/visualizarDocumento?id=1051393", "sha256": "8469d613078ffd5a6c1d217885d8a397a16342c0b937ae4aa24b106505f233ae"}, {"document_id": "993786", "title": "Regulamento", "reference_date": "2025-03-20", "version": "1", "page": 12, "clause": "4.9", "url": "https://fnet.bmfbovespa.com.br/fnet/publico/visualizarDocumento?id=993786", "sha256": "fd0fdd369a195510d81f81f505195a0b09e5f43522a990afa7d58c4f872921c8"}], "reference": {"path": "history/60010416000112.json", "criterion_id": "hedge", "total_count": 2, "preview_count": 2, "full_text_deferred": true, "sha256": "8e2bd813f4c51cf01f6bfaad164bafe69d2bbb192f753eac92da3a01c2e63046"}}</a:t>
            </a:r>
          </a:p>
          <a:p>
            <a:r>
              <a:t>CNPJ 62696791000193 · Finalidade e limites de derivativos · Regulamento · ID 1143317 · 20/03/2026 · versão Regulamento — referência 20/03/2026 · p. 15 · Anexo I, 4.28 e 4.30(i) · https://fnet.bmfbovespa.com.br/fnet/publico/visualizarDocumento?id=1143317</a:t>
            </a:r>
          </a:p>
          <a:p>
            <a:r>
              <a:t>CNPJ 62696791000193 · Finalidade e limites de derivativos · Excerto da fonte:</a:t>
            </a:r>
          </a:p>
          <a:p>
            <a:r>
              <a:t>4.28 A Classe pode aplicar recursos em instrumentos financeiros derivativos, exclusivamente para fins de proteção patrimonial, cuja exposição seja sempre, no máximo, o valor do Patrimônio Líquido. 4.29 A Classe pode emprestar ativos f inanceiros e valores mobiliários, desde que tais operações de empréstimo sejam cursadas exclusivamente por meio de serviço autorizado pelo Banco Central do Brasil ou pela CVM. 4.30 É vedado à Classe: (i) aplicar no exterior recursos captados no País; (ii) salvo aprovação em assembleia de Cotistas, a realização de operações quando caracterizada situação de conf lito de interesses entre: (a) a Classe, o Administrador ou o Gestor ou a Consultoria Especializada; (b) a Classe e os Cotistas que detenham participação correspondente a, no mínimo, 10% (dez por cento) do patrimônio da Classe; e (c) a Classe e o representante dos Cotistas; (iii) a aplicação de recursos em sociedades nas quais participem o Administrador, o Gestor, os consultores, os membros de comitês ou conselhos e os Cotistas titulares de Cotas representativas de 5% (cinco por cento) do patri</a:t>
            </a:r>
          </a:p>
          <a:p>
            <a:r>
              <a:t>CNPJ 62696791000193 · Finalidade e limites de derivativos · Regulamento · ID 1143317 · 20/03/2026 · versão Regulamento — referência 20/03/2026 · p. 27 · Anexo I, 12.11(x) · https://fnet.bmfbovespa.com.br/fnet/publico/visualizarDocumento?id=1143317</a:t>
            </a:r>
          </a:p>
          <a:p>
            <a:r>
              <a:t>CNPJ 62696791000193 · Finalidade e limites de derivativos · Excerto da fonte:</a:t>
            </a:r>
          </a:p>
          <a:p>
            <a:r>
              <a:t>(x) realizar operações com derivativos, exceto quando tais operações f orem realizadas exclusivamente para f ins de proteção patrimonial e desde que a exposição seja sempre, no máximo, o valor do Patrimônio Líquido. 12.11.1 A vedação prevista no item (v) acima não impede a aquisição de imóveis sobre os quais tenham sido constituídos ônus reais anteriormente ao seu ingresso no patrimônio . 12.12 É vedado ao Gestor o recebimento de qualquer remuneração, benefício ou vantagem, direta ou indiretamente, que potencialmente prejudique sua independência na tomada de decisão. Consultoria Especializada 12.13 O Gestor, conforme disposto no Anexo Normativo VI da Resolução 175, poderá contratar Consultoria Especializada para que preste os seguintes serviços (“Consultoria Especializada”): (i) Analisar, selecionar, avaliar e acompanhar, de acordo com a Política de Investimentos deste Anexo, os ativos integrantes ou que possam vir a integrar a carteira da classe do Fundo; (ii) Participar de negociações e propor negócios à classe, observada a Política de Investimentos constante deste Anexo;</a:t>
            </a:r>
          </a:p>
          <a:p>
            <a:r>
              <a:t>CNPJ 62696791000193 · Finalidade e limites de derivativos · Versão e prevalência: Leitura específica das cláusulas indicadas; condições e conflitos preservados. Seleção documental atual não comprova vigência jurídica por data isolada.</a:t>
            </a:r>
          </a:p>
          <a:p>
            <a:r>
              <a:t>CNPJ 55563624000109 · Finalidade e limites de derivativos · Regulamento · ID 1192614 · 2026-04-30 · versão 1 · p. 14 · 4.21 · https://fnet.bmfbovespa.com.br/fnet/publico/visualizarDocumento?id=1192614</a:t>
            </a:r>
          </a:p>
          <a:p>
            <a:r>
              <a:t>CNPJ 55563624000109 · Finalidade e limites de derivativos · Excerto da fonte:</a:t>
            </a:r>
          </a:p>
          <a:p>
            <a:r>
              <a:t>4.21 A Classe poderá utilizar instrumentos derivativos, desde que com o objetivo de proteção patrimonial, ou, desde  que não resulte em exposição a risco de capital, conforme definida no inciso XXIV do Art. 3º da parte geral da  Resolução CVM 175 ou em troca de indexador a que os ativos estão indexados.</a:t>
            </a:r>
          </a:p>
          <a:p>
            <a:r>
              <a:t>CNPJ 55563624000109 · Finalidade e limites de derivativos · Regulamento · ID 1192614 · 2026-04-30 · versão 1 · p. 39 · https://fnet.bmfbovespa.com.br/fnet/publico/visualizarDocumento?id=1192614</a:t>
            </a:r>
          </a:p>
          <a:p>
            <a:r>
              <a:t>CNPJ 55563624000109 · Finalidade e limites de derivativos · Excerto da fonte:</a:t>
            </a:r>
          </a:p>
          <a:p>
            <a:r>
              <a:t>(xxii) Operações com derivativos. A Classe poderá realizar operações com derivativos  exclusivamente com o objetivo de proteção patrimonial. As operações com derivativos, pela sua  própria natureza, acrescentam riscos à Carteira e poderão afetar negativamente a sua rentabilidade,  até o limite do Patrimônio Líquido.</a:t>
            </a:r>
          </a:p>
          <a:p>
            <a:r>
              <a:t>CNPJ 55563624000109 · Finalidade e limites de derivativos · Condição: Documentos atuais selecionados no inventário por categoria/escopo; a data documental isolada não comprova vigência jurídica.</a:t>
            </a:r>
          </a:p>
          <a:p>
            <a:r>
              <a:t>CNPJ 55563624000109 · Finalidade e limites de derivativos · Versão e prevalência: Documentos atuais selecionados no inventário por categoria/escopo; a data documental isolada não comprova vigência jurídica.</a:t>
            </a:r>
          </a:p>
          <a:p>
            <a:r>
              <a:t>CNPJ 55563624000109 · Finalidade e limites de derivativos · Resumo do histórico: {"count": 3, "dates": ["2025-01-31", "2026-01-31", "2026-04-30"], "document_count": 3, "sources": [{"document_id": "1192614", "title": "Regulamento", "reference_date": "2026-04-30", "version": "1", "page": "14", "url": "https://fnet.bmfbovespa.com.br/fnet/publico/visualizarDocumento?id=1192614", "sha256": "f56e63ace0acde41d2f47fb48f1ac7f3f7df5e2d32de092d7c5e075a52516632"}, {"document_id": "1178840", "title": "Demonstrações Financeiras", "reference_date": "2026-01-31", "version": "1", "page": 25, "url": "https://fnet.bmfbovespa.com.br/fnet/publico/visualizarDocumento?id=1178840", "sha256": "c458e98664c5c907ddb5a05a94b120bed4e05295b2bfc420f5ba69af0a229abe"}, {"document_id": "891861", "title": "Demonstrações Financeiras", "reference_date": "2025-01-31", "version": "1", "page": 26, "url": "https://fnet.bmfbovespa.com.br/fnet/publico/visualizarDocumento?id=891861", "sha256": "e9cb9e6ddbe505fe068cfcac33605165a98313489de0d3ce6d4d238263c3f3e7"}], "reference": {"path": "history/55563624000109.json", "criterion_id": "hedge", "total_count": 3, "preview_count": 3, "full_text_deferred": true, "sha256": "7835d573fb58a3c19adf5b8ecc2aee2bdbb9a88f7a0c0209b5f262b64c7522e3"}}</a:t>
            </a:r>
          </a:p>
          <a:p>
            <a:r>
              <a:t>CNPJ 62552447000120 · Finalidade e limites de derivativos · Regulamento · ID 1200623 · 21/05/2026 · versão Consolidado21/05/2026 aprovado pelo ato1200625 · p. 14 · AnexoI4.10.1 · https://fnet.bmfbovespa.com.br/fnet/publico/visualizarDocumento?id=1200623</a:t>
            </a:r>
          </a:p>
          <a:p>
            <a:r>
              <a:t>CNPJ 62552447000120 · Finalidade e limites de derivativos · Excerto da fonte:</a:t>
            </a:r>
          </a:p>
          <a:p>
            <a:r>
              <a:t>4.10.1 O uso de derivativos está restrito a operações que visem à proteção patrimonial ou, desde que não resulte em exposição a risco de capital, à troca de indexador e/ou do índice de referência. 4.11 Sem prejuízo de limites mais restritivos definidos neste Regulamento, o Gestor deverá observar, ainda, os seguintes limites de concentração para a composição da Carteira: (i) Até 100% (cem por cento) da parcela do Patrimônio Líquido investida em Direitos Creditórios poderão ser alocados em Direitos Creditórios originados ou cedidos pelo Administrador, Gestor e</a:t>
            </a:r>
          </a:p>
          <a:p>
            <a:r>
              <a:t>CNPJ 62552447000120 · Finalidade e limites de derivativos · Motivo: Cláusula primária localizada e citada, mas sua lista/condições extensas não admitem uma síntese literal curta confirmada. O trecho integral permanece nas fontes.</a:t>
            </a:r>
          </a:p>
          <a:p>
            <a:r>
              <a:t>CNPJ 62552447000120 · Finalidade e limites de derivativos · Versão e prevalência: Leitura específica das cláusulas indicadas; condições e conflitos preservados. Seleção documental atual não comprova vigência jurídica por data isolada.</a:t>
            </a:r>
          </a:p>
          <a:p>
            <a:r>
              <a:t>CNPJ 63953620000165 · Finalidade e limites de derivativos · Anexo ao Regulamento · ID 1222863 · 2026-06-02 · versão 1 · p. 7 · https://fnet.bmfbovespa.com.br/fnet/publico/visualizarDocumento?id=1222863</a:t>
            </a:r>
          </a:p>
          <a:p>
            <a:r>
              <a:t>CNPJ 63953620000165 · Finalidade e limites de derivativos · Excerto da fonte:</a:t>
            </a:r>
          </a:p>
          <a:p>
            <a:r>
              <a:t>Anexo I ao Regulamento  CLASSE CONSIGNADO PRIVADO DO MT GLOBAL FUNDO DE INVESTIMENTO EM DIREITOS  CREDITÓRIOS RESPONSABILIDADE LIMITADA</a:t>
            </a:r>
          </a:p>
          <a:p>
            <a:r>
              <a:t> (i)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 (ii) No máximo, 50% (cinquenta por cento) do Patrimônio Líquido investido em Ativos Financeiros  de Liquidez de emissão ou que envolvam retenção de risco por parte do Administrador, Gestor,  e/ou suas partes relacionadas, observado ainda o disposto acima;</a:t>
            </a:r>
          </a:p>
          <a:p>
            <a:r>
              <a:t> (iii) No máximo, 100% (cem por cento) do Patrimônio Líquido investido em operações com  derivativos nos quais, inexistindo contraparte central, se tenha como contraparte o Gestor,  Consultora e/ou suas partes relacionadas, observado ainda o disposto acima;</a:t>
            </a:r>
          </a:p>
          <a:p>
            <a:r>
              <a:t> (iv) A Classe poderá investir até 100% (cem por cento) de seu Patrimônio Líquido em Direitos  Creditórios Não-Padronizados;</a:t>
            </a:r>
          </a:p>
          <a:p>
            <a:r>
              <a:t> (v) É vedada a aquisição de precatórios federais.</a:t>
            </a:r>
          </a:p>
          <a:p>
            <a:r>
              <a:t>CNPJ 63953620000165 · Finalidade e limites de derivativos · Condição: Documentos atuais selecionados no inventário por categoria/escopo; a data documental isolada não comprova vigência jurídica.</a:t>
            </a:r>
          </a:p>
          <a:p>
            <a:r>
              <a:t>CNPJ 63953620000165 · Finalidade e limites de derivativos · Motivo: Cláusula primária localizada e citada, mas sua lista/condições extensas não admitem uma síntese literal curta confirmada. O trecho integral permanece nas fontes.</a:t>
            </a:r>
          </a:p>
          <a:p>
            <a:r>
              <a:t>CNPJ 63953620000165 · Finalidade e limites de derivativos · Versão e prevalência: Documentos atuais selecionados no inventário por categoria/escopo; a data documental isolada não comprova vigência jurídica.</a:t>
            </a:r>
          </a:p>
          <a:p>
            <a:r>
              <a:t>CNPJ 63953620000165 · Finalidade e limites de derivativos · Resumo do histórico: {"count": 8, "dates": ["2026-04-28", "2026-05-08", "2026-05-15"], "document_count": 3, "sources": [{"document_id": "1327859", "title": "Demonstrações Financeiras - Fusão, cisão e incorporação", "reference_date": "2026-05-15", "version": "1", "page": 26, "url": "https://fnet.bmfbovespa.com.br/fnet/publico/visualizarDocumento?id=1327859", "sha256": "dca1c68babb97f887528c3e2e47596a9c30f507b067981a35655b2f2da9c8054"}, {"document_id": "1298691", "title": "Demonstrações Financeiras - Fusão, cisão e incorporação", "reference_date": "2026-05-08", "version": "1", "page": 26, "url": "https://fnet.bmfbovespa.com.br/fnet/publico/visualizarDocumento?id=1298691", "sha256": "58c570d9b8d4d265330d3db3ea81c435b8e44a6dab4002aa37790652a1ee9819"}, {"document_id": "1282180", "title": "Demonstrações Financeiras - Fusão, cisão e incorporação", "reference_date": "2026-04-28", "version": "1", "page": 27, "url": "https://fnet.bmfbovespa.com.br/fnet/publico/visualizarDocumento?id=1282180", "sha256": "afaaa0e6809be4385e5bdb6c911aac582032c5bdbac3d7750234bf9eaf00438a"}], "reference": {"path": "history/63953620000165.json", "criterion_id": "hedge", "total_count": 8, "preview_count": 3, "full_text_deferred": true, "sha256": "a7b89077f5e21098c2d601c303faabc3ff6b9729f89d8afecdc60fe1404720c1"}}</a:t>
            </a:r>
          </a:p>
          <a:p>
            <a:r>
              <a:t>CNPJ 54871427000194 · Prioridade do hedge e reserva de MTM · Motivo: Não localizada uma cláusula material para este critério nos textos identificados e processados. A ausência de resultado não comprova inexistência da regra.</a:t>
            </a:r>
          </a:p>
          <a:p>
            <a:r>
              <a:t>CNPJ 60010416000112 · Prioridade do hedge e reserva de MTM · Motivo: Não localizada uma cláusula material para este critério nos textos identificados e processados. A ausência de resultado não comprova inexistência da regra.</a:t>
            </a:r>
          </a:p>
          <a:p>
            <a:r>
              <a:t>CNPJ 62696791000193 · Prioridade do hedge e reserva de MTM · Motivo: Não localizada uma cláusula material para este critério nos textos identificados e processados. A ausência de resultado não comprova inexistência da regra.</a:t>
            </a:r>
          </a:p>
          <a:p>
            <a:r>
              <a:t>CNPJ 55563624000109 · Prioridade do hedge e reserva de MTM · Motivo: Não localizada uma cláusula material para este critério nos textos identificados e processados. A ausência de resultado não comprova inexistência da regra.</a:t>
            </a:r>
          </a:p>
          <a:p>
            <a:r>
              <a:t>CNPJ 62552447000120 · Prioridade do hedge e reserva de MTM · Motivo: Não localizada uma cláusula material para este critério nos textos identificados e processados. A ausência de resultado não comprova inexistência da regra.</a:t>
            </a:r>
          </a:p>
          <a:p>
            <a:r>
              <a:t>CNPJ 63953620000165 · Prioridade do hedge e reserva de MTM · Motivo: Não localizada uma cláusula material para este critério nos textos identificados e processados. A ausência de resultado não comprova inexistência da regra.</a:t>
            </a:r>
          </a:p>
          <a:p>
            <a:r>
              <a:t>CNPJ 54871427000194 · Administrador, gestor e custodiante · Regulamento · ID 670691 · 2024-04-28 · versão 1 · p. 1 · 1.1 · https://fnet.bmfbovespa.com.br/fnet/publico/visualizarDocumento?id=670691</a:t>
            </a:r>
          </a:p>
          <a:p>
            <a:r>
              <a:t>CNPJ 54871427000194 · Administrador, gestor e custodiante · Excerto da fonte:</a:t>
            </a:r>
          </a:p>
          <a:p>
            <a:r>
              <a:t>1.1 CONSIGNADO DELTA RECEIVABLES I FUNDO DE INVESTIMENTO EM DIREITOS CREDITÓRIOS  (“FUNDO”), regido pela Lei nº 10.406, de 10 de janeiro de 2002, conf orme alterada (“Código Civil”),  pela parte geral e o Anexo Normativo II da Resolução nº 175, de 23 de dezembro de 2022, conforme  alterada, da Comissão de Valores Mobiliários (respectivamente, “CVM” e “Resolução CVM 175”), terá  como principais características:</a:t>
            </a:r>
          </a:p>
          <a:p>
            <a:r>
              <a:t> Classe de Cotas Classe única.</a:t>
            </a:r>
          </a:p>
          <a:p>
            <a:r>
              <a:t> Indeterminado, exceto se de outra f orma vier a ser deliberado pelos cotistas  Prazo de Duração  reunidos em assembleia geral de cotistas.</a:t>
            </a:r>
          </a:p>
          <a:p>
            <a:r>
              <a:t> BTG Pactual Serviços Financeiros S.A. Distribuidora de Títulos e Valores  Mobiliários, instituição f inanceira, com sede na Cidade e Estado do Rio de  Janeiro, na Praia de Botafogo, nº 501, 5º andar (parte), Torre Corcovado,  ADMINISTRADOR  Botafogo, CEP 22250-040, inscrita no CNPJ sob o nº 59.281.253/0001-23 e  credenciada como administradora de carteira, de acordo com o Ato Declaratório  CVM nº 8.695, de 20 de março de 2006 (“ADMINISTRADOR”).</a:t>
            </a:r>
          </a:p>
          <a:p>
            <a:r>
              <a:t> BTG Pactual Asset Management S.A. Distribuidora de Títulos e Valores  Mobiliários, inscrita no CNPJ/ME sob o nº 29.650.082/0001-00, com sede  Cidade e Estado do Rio de Janeiro, na Praia de Botafogo, n.º 501, 5° andar,  devidamente autorizada à prestação dos serviços de administração de carteira  GESTOR  de títulos e valores mobiliários por meio d o Ato Declaratório número 5.968,  expedido em 10 de maio de 2000 (“GESTOR” e, quando ref erido  conjuntamente e indistintamente com o ADMINISTRADOR, os “Prestadores  de Serviços Essenciais”).</a:t>
            </a:r>
          </a:p>
          <a:p>
            <a:r>
              <a:t> O FUNDO, seus cotistas, os distribuidores de cotas por conta e ordem, seu  GESTOR, seu ADMINISTRADOR e os demais prestadores de serviço do  FUNDO e/ou da CLASSE obrigam-se a resolver, por meio de arbitragem, de  acordo com o Regulamento de Arbitragem da Câmara de Arbitragem do  Mercado da B3 (“Regulamento CAM B3” e “CAM B3”, respectivamente), toda  e qualquer disputa ou controvérsia que possa surgir entre eles, relacionada ou  oriunda, em especial, da aplicação, validade, eficácia, interpretação, violação  e seus ef eitos, das disposições contidas no Regulamento e seus Anexos, nas  normas editadas pela CVM que lhe sejam aplicáveis e nos instrumentos entre  si f irmados (“Arbitragem”).</a:t>
            </a:r>
          </a:p>
          <a:p>
            <a:r>
              <a:t> (i) A Arbitragem será de direito, com a aplicação das normas da República  Federativa do Brasil, terá sede no Município de São Paulo, será  Foro Aplicável conduzida em língua portuguesa e de f orma confidencial. O tribunal  arbitral será constituído por 3 (três) árbitros, sendo um deles  presidente, escolhidos nos termos do Regulamento CAM B3.</a:t>
            </a:r>
          </a:p>
          <a:p>
            <a:r>
              <a:t> (ii) As despesas processuais iniciais deverão ser rateadas entre as partes,  arcando cada polo processual com metade dos valores necessários,  sem prejuízo à possibilidade de adiantamento pelas partes  interessadas, resolvendo-se as indef inições nos termos do  Regulamento CAM B3. A sentença arbitral deverá determinar a  responsabilidade final pelas despesas de acordo com a sucumbência  de cada parte, as quais deverão incluir as taxas administrativas,  honorários de árbitros e de peritos e despesas com diligências  processuais e f ornecimento de garantias que sejam determinadas  expressamente pelo tribunal arbitral. É vedada a imposição de  honorários de sucumbência, bem como a determinação de indenização</a:t>
            </a:r>
          </a:p>
          <a:p>
            <a:r>
              <a:t>CNPJ 54871427000194 · Administrador, gestor e custodiante · Regulamento · ID 670691 · 2024-04-28 · versão 1 · p. 7 · https://fnet.bmfbovespa.com.br/fnet/publico/visualizarDocumento?id=670691</a:t>
            </a:r>
          </a:p>
          <a:p>
            <a:r>
              <a:t>CNPJ 54871427000194 · Administrador, gestor e custodiante · Excerto da fonte:</a:t>
            </a:r>
          </a:p>
          <a:p>
            <a:r>
              <a:t>Banco BTG Pactual S.A., instituição f inanceira, com sede na Cidade e  Estado do Rio de Janeiro, na Praia de Botafogo, nº 501, 5º andar (parte),  Custódia Torre Corcovado, Botafogo, CEP 22250-040, inscrita no CNPJ sob o nº</a:t>
            </a:r>
          </a:p>
          <a:p>
            <a:r>
              <a:t> 30.306.294/0001-45 e credenciado como custodiante, de acordo com o  Ato Declaratório nº 7.204, de 25 de abril de 2003 (“CUSTODIANTE”).</a:t>
            </a:r>
          </a:p>
          <a:p>
            <a:r>
              <a:t> Tesouraria, Controladoria e ADMINISTRADOR.</a:t>
            </a:r>
          </a:p>
          <a:p>
            <a:r>
              <a:t> Escrituração  Subclasses Única.</a:t>
            </a:r>
          </a:p>
          <a:p>
            <a:r>
              <a:t>CNPJ 54871427000194 · Administrador, gestor e custodiante · Regulamento · ID 670691 · 2024-04-28 · versão 1 · p. 38 · https://fnet.bmfbovespa.com.br/fnet/publico/visualizarDocumento?id=670691</a:t>
            </a:r>
          </a:p>
          <a:p>
            <a:r>
              <a:t>CNPJ 54871427000194 · Administrador, gestor e custodiante · Excerto da fonte:</a:t>
            </a:r>
          </a:p>
          <a:p>
            <a:r>
              <a:t>“ADMINISTRADOR”: BTG Pactual Serviços Financeiros S.A. Distribuidora de Títulos e Valores Mobiliários, instituição com sede no Município do Rio de Janeiro, Estado do Rio de Janeiro, à Praia de Botafogo, nº 501, 5º andar – parte, inscrita no CNPJ sob o nº 59.281.253/0001-23, autorizada a funcionar pelo BACEN e autorizada pela CVM para a atividade de administração de carteiras de valores mobiliários, de acordo com o Ato Declaratório nº 8.695, de 20 de março de 2006, ou seu sucessor a qualquer título ;</a:t>
            </a:r>
          </a:p>
          <a:p>
            <a:r>
              <a:t>CNPJ 54871427000194 · Administrador, gestor e custodiante · Condição: Documentos atuais selecionados no inventário por categoria/escopo; a data documental isolada não comprova vigência jurídica.</a:t>
            </a:r>
          </a:p>
          <a:p>
            <a:r>
              <a:t>CNPJ 54871427000194 · Administrador, gestor e custodiante · Versão e prevalência: Documentos atuais selecionados no inventário por categoria/escopo; a data documental isolada não comprova vigência jurídica.</a:t>
            </a:r>
          </a:p>
          <a:p>
            <a:r>
              <a:t>CNPJ 54871427000194 · Administrador, gestor e custodiante · Resumo do histórico: {"count": 2, "dates": ["2024-04-19"], "document_count": 2, "sources": [{"document_id": "670687", "title": "Instrumento Particular de Constituição/Encerramento do Fundo", "reference_date": "2024-04-19", "version": "1", "page": 1, "url": "https://fnet.bmfbovespa.com.br/fnet/publico/visualizarDocumento?id=670687", "sha256": "999f2a47d39f7022b0fcee3d16fd1db33948537b897e92c4c9e14b436bf5eb96"}, {"document_id": "670689", "title": "Regulamento", "reference_date": "2024-04-19", "version": "1", "page": 1, "clause": "1.1", "url": "https://fnet.bmfbovespa.com.br/fnet/publico/visualizarDocumento?id=670689", "sha256": "891bc9bc5d87bbc02ec139077a84d2702eb81ea02035fb71d24f5b8366b94a0b"}], "reference": {"path": "history/54871427000194.json", "criterion_id": "providers", "total_count": 2, "preview_count": 2, "full_text_deferred": true, "sha256": "35d7cd99be50c7287c9fb675cf4f2e736002315295a225a9efa79c8d9186d874"}}</a:t>
            </a:r>
          </a:p>
          <a:p>
            <a:r>
              <a:t>CNPJ 60010416000112 · Administrador, gestor e custodiante · Regulamento · ID 1051393 · 2025-10-09 · versão 1 · p. 8 · https://fnet.bmfbovespa.com.br/fnet/publico/visualizarDocumento?id=1051393</a:t>
            </a:r>
          </a:p>
          <a:p>
            <a:r>
              <a:t>CNPJ 60010416000112 · Administrador, gestor e custodiante · Excerto da fonte:</a:t>
            </a:r>
          </a:p>
          <a:p>
            <a:r>
              <a:t>Tipo de Condomínio Fechado.</a:t>
            </a:r>
          </a:p>
          <a:p>
            <a:r>
              <a:t> Prazo de Duração Indeterminado.</a:t>
            </a:r>
          </a:p>
          <a:p>
            <a:r>
              <a:t> Classe de Investimento  Não.</a:t>
            </a:r>
          </a:p>
          <a:p>
            <a:r>
              <a:t> em Cotas  Tipo “Financeiro”.</a:t>
            </a:r>
          </a:p>
          <a:p>
            <a:r>
              <a:t> Classificação ANBIMA  Foco de atuação “Créditos Consignados”.</a:t>
            </a:r>
          </a:p>
          <a:p>
            <a:r>
              <a:t> O objetivo da classe é proporcionar aos seus Cotistas a valorização de suas Cotas  por meio da aplicação de seu Patrimônio Líquido na aquisição de: (i) Direitos  Creditórios que atendam aos Critérios de Elegibilidade, estabelecidos no Capítulo  4 abaixo, e (ii) Ativos Financeiros de Liquidez, observados todos os limites de  Objetivo composição e diversificação da Carteira da Classe, estabelecidos neste  Regulamento e na regulamentação aplicável.</a:t>
            </a:r>
          </a:p>
          <a:p>
            <a:r>
              <a:t> O objetivo da Classe não representa, sob qualquer hipótese, promessa, garantia  ou sugestão do Fundo ou de seus Prestadores de Serviços Essenciais quanto à  segurança, rentabilidade e liquidez dos títulos integrantes de sua carteira.</a:t>
            </a:r>
          </a:p>
          <a:p>
            <a:r>
              <a:t> Destinado exclusivamente a um único cotista ou grupo de cotistas vinculados por  Público-Alvo  interesse único e indissociável, classificados como Investidores Prof issionais.</a:t>
            </a:r>
          </a:p>
          <a:p>
            <a:r>
              <a:t> Banco BTG Pactual S.A., instituição financeira, com sede no município e Estado  do Rio de Janeiro, na Praia de Botafogo, nº 501, Torre Corcovado, 5º andar (parte),  Custódia e Tesouraria Botafogo, CEP 22.250-040, inscrita no CNPJ sob o nº 30.306.294/0001-45 e  credenciado como custodiante, de acordo com o Ato Declaratório nº 7.204, de 25  de abril de 2003 (“Custodiante”).</a:t>
            </a:r>
          </a:p>
          <a:p>
            <a:r>
              <a:t> Tesouraria,  Controladoria e Administrador.</a:t>
            </a:r>
          </a:p>
          <a:p>
            <a:r>
              <a:t> Escrituração  Subclasses Sênior e Subordinada, nos termos do Capítulo 5 e respectivos Apêndices.</a:t>
            </a:r>
          </a:p>
          <a:p>
            <a:r>
              <a:t> O valor de cada emissão de Cotas, volume e valor unitário da Cota, bem como o  Emissão e Regime de regime de distribuição, seguirão o disposto no instrumento que aprova a emissão  Distribuição de Cotas de Cotas, que disporá acerca da eventual existência de direito de preferência dos  Cotistas.</a:t>
            </a:r>
          </a:p>
          <a:p>
            <a:r>
              <a:t> Capital Autorizado Conf orme previsto nos Apêndices.</a:t>
            </a:r>
          </a:p>
          <a:p>
            <a:r>
              <a:t> As Cotas poderão ser admitidas à negociação em bolsa de valores ou entidade de  Negociação  balcão organizado, conf orme previsto nos Apêndices.</a:t>
            </a:r>
          </a:p>
          <a:p>
            <a:r>
              <a:t> Cálculo do Valor da Cota Conf orme Capítulo 6 deste Anexo e respectivos Apêndices.</a:t>
            </a:r>
          </a:p>
          <a:p>
            <a:r>
              <a:t> A distribuição de quaisquer ganhos e rendimentos da Classe aos Cotistas será  Distribuição de  f eita exclusivamente mediante a amortização e/ou o resgate de Cotas, observado  Proventos  o disposto no Regulamento, neste Anexo e respectivos Apêndices.</a:t>
            </a:r>
          </a:p>
          <a:p>
            <a:r>
              <a:t> Utilização de Ativos Não é permitida a integralização de Cotas, no todo ou em parte, com Direitos BTG Pactual SAC: 0800 772 28 27 - Ouvidoria: 0800 722 00 48 - btgpactual.com 8</a:t>
            </a:r>
          </a:p>
          <a:p>
            <a:r>
              <a:t>CNPJ 60010416000112 · Administrador, gestor e custodiante · Regulamento · ID 1051393 · 2025-10-09 · versão 1 · p. 1 · https://fnet.bmfbovespa.com.br/fnet/publico/visualizarDocumento?id=1051393</a:t>
            </a:r>
          </a:p>
          <a:p>
            <a:r>
              <a:t>CNPJ 60010416000112 · Administrador, gestor e custodiante · Excerto da fonte:</a:t>
            </a:r>
          </a:p>
          <a:p>
            <a:r>
              <a:t>BTG Pactual Asset Management S.A. Distribuidora de Títulos e Valores  Mobiliários, sociedade anônima, com sede no município do Rio de Janeiro,  Estado do Rio de Janeiro, na Praia de Botafogo, nº 501, Torre Corcovado, 5º andar</a:t>
            </a:r>
          </a:p>
          <a:p>
            <a:r>
              <a:t> (parte), CEP 22.250-040, inscrita no CNPJ sob o nº 29.650.082/0001-00,  GESTOR  devidamente credenciada junto à CVM para operar como administradora de  carteira de valores mobiliários nos termos do Ato Declaratório CVM nº 5.968, de  10 de maio de 2000 (“Gestor” e, quando referido conjuntamente e indistintamente  com o Administrador, os “Prestadores de Serviços Essenciais”).</a:t>
            </a:r>
          </a:p>
          <a:p>
            <a:r>
              <a:t>CNPJ 60010416000112 · Administrador, gestor e custodiante · Regulamento · ID 1051393 · 2025-10-09 · versão 1 · p. 45 · https://fnet.bmfbovespa.com.br/fnet/publico/visualizarDocumento?id=1051393</a:t>
            </a:r>
          </a:p>
          <a:p>
            <a:r>
              <a:t>CNPJ 60010416000112 · Administrador, gestor e custodiante · Excerto da fonte:</a:t>
            </a:r>
          </a:p>
          <a:p>
            <a:r>
              <a:t>“Gestor”: a BTG Pactual Asset Management S.A. Distribuidora de Títulos e Valores Mobiliários, sociedade anônima, com sede no município do Rio de Janeiro, Estado do Rio de Janeiro, na Praia de Botafogo, nº 501, Torre Corcovado, 5º andar (parte), CEP 22.250-040, inscrita no CNPJ sob o nº 29.650.082/0001-00, devidamente credenciada junto à CVM para operar como administrador de carteira de valores mobiliários nos termos do Ato Declaratório CVM nº 5.968, de 10 de maio de 2000;</a:t>
            </a:r>
          </a:p>
          <a:p>
            <a:r>
              <a:t>CNPJ 60010416000112 · Administrador, gestor e custodiante · Condição: Documentos atuais selecionados no inventário por categoria/escopo; a data documental isolada não comprova vigência jurídica.</a:t>
            </a:r>
          </a:p>
          <a:p>
            <a:r>
              <a:t>CNPJ 60010416000112 · Administrador, gestor e custodiante · Versão e prevalência: Documentos atuais selecionados no inventário por categoria/escopo; a data documental isolada não comprova vigência jurídica.</a:t>
            </a:r>
          </a:p>
          <a:p>
            <a:r>
              <a:t>CNPJ 60010416000112 · Administrador, gestor e custodiante · Resumo do histórico: {"count": 1, "dates": ["2025-05-12"], "document_count": 1, "sources": [{"document_id": "1004656", "title": "AGE", "reference_date": "2025-05-12", "version": "1", "page": 4, "url": "https://fnet.bmfbovespa.com.br/fnet/publico/visualizarDocumento?id=1004656", "sha256": "f6c9c009f6170e2b29f074b98522accec73f0c40efbf11f9ec2c8d3f1402616b"}], "reference": {"path": "history/60010416000112.json", "criterion_id": "providers", "total_count": 1, "preview_count": 1, "full_text_deferred": true, "sha256": "8e2bd813f4c51cf01f6bfaad164bafe69d2bbb192f753eac92da3a01c2e63046"}}</a:t>
            </a:r>
          </a:p>
          <a:p>
            <a:r>
              <a:t>CNPJ 62696791000193 · Administrador, gestor e custodiante · Regulamento · ID 1143317 · 2026-03-20 · versão 1 · p. 1 · https://fnet.bmfbovespa.com.br/fnet/publico/visualizarDocumento?id=1143317</a:t>
            </a:r>
          </a:p>
          <a:p>
            <a:r>
              <a:t>CNPJ 62696791000193 · Administrador, gestor e custodiante · Excerto da fonte:</a:t>
            </a:r>
          </a:p>
          <a:p>
            <a:r>
              <a:t>BTG Pactual Asset Management S.A. Distribuidora de Títulos e Valores  Mobiliários, com sede no município e Estado do Rio de Janeiro, na Praia de  Botafogo, nº 501, Torre Corcovado, 5º andar (parte), Botafogo, inscrito no  CNPJ sob o nº 29.650.082/0001-00, autorizado à prestação dos serviços de  Gestor  administração de carteira de títulos e valores mobiliários de acordo com o Ato  Declaratório nº 5.968, de 10 de maio de 2000 (“Gestor” e, quando ref erido  conjuntamente com o Administrador, os “Prestadores de Serviços  Essenciais”).</a:t>
            </a:r>
          </a:p>
          <a:p>
            <a:r>
              <a:t>CNPJ 62696791000193 · Administrador, gestor e custodiante · Regulamento · ID 1143317 · 2026-03-20 · versão 1 · p. 1 · https://fnet.bmfbovespa.com.br/fnet/publico/visualizarDocumento?id=1143317</a:t>
            </a:r>
          </a:p>
          <a:p>
            <a:r>
              <a:t>CNPJ 62696791000193 · Administrador, gestor e custodiante · Excerto da fonte:</a:t>
            </a:r>
          </a:p>
          <a:p>
            <a:r>
              <a:t>BTG Pactual Serviços Financeiros S.A. Distribuidora de Títulos e Valores  Mobiliários, sociedade anônima, com sede no município e Estado do Rio de  Janeiro, na Praia de Botafogo, nº 501, 5º andar (parte), Torre Corcovado,  Administrador Botafogo, CEP 22250-040, inscrita no CNPJ sob o nº 59.281.253/0001-23 e  credenciada como Administradora de carteira, de acordo com o Ato Declaratório  CVM nº 8.695, de 20 de março de 2006 (“Administrador”), responsável pela  administração f iduciária.</a:t>
            </a:r>
          </a:p>
          <a:p>
            <a:r>
              <a:t>CNPJ 62696791000193 · Administrador, gestor e custodiante · Regulamento · ID 1143317 · 2026-03-20 · versão 1 · p. 7 · https://fnet.bmfbovespa.com.br/fnet/publico/visualizarDocumento?id=1143317</a:t>
            </a:r>
          </a:p>
          <a:p>
            <a:r>
              <a:t>CNPJ 62696791000193 · Administrador, gestor e custodiante · Excerto da fonte:</a:t>
            </a:r>
          </a:p>
          <a:p>
            <a:r>
              <a:t>Banco BTG Pactual S.A., instituição financeira, com sede no município e  Estado do Rio de Janeiro, na Praia de Botafogo, nº 501, 5º andar (parte),  Custódia e Tesouraria Torre Corcovado, Botafogo, CEP 22250-040, inscrita no CNPJ sob o nº</a:t>
            </a:r>
          </a:p>
          <a:p>
            <a:r>
              <a:t> 30.306.294/0001-45 e credenciada como custodiante, de acordo com o  Ato Declaratório nº 7.204, de 25 de abril de 2003 (“Custodiante”).</a:t>
            </a:r>
          </a:p>
          <a:p>
            <a:r>
              <a:t>CNPJ 62696791000193 · Administrador, gestor e custodiante · Condição: Documentos atuais selecionados no inventário por categoria/escopo; a data documental isolada não comprova vigência jurídica.</a:t>
            </a:r>
          </a:p>
          <a:p>
            <a:r>
              <a:t>CNPJ 62696791000193 · Administrador, gestor e custodiante · Versão e prevalência: Documentos atuais selecionados no inventário por categoria/escopo; a data documental isolada não comprova vigência jurídica.</a:t>
            </a:r>
          </a:p>
          <a:p>
            <a:r>
              <a:t>CNPJ 55563624000109 · Administrador, gestor e custodiante · Regulamento · ID 1192614 · 2026-04-30 · versão 1 · p. 1 · https://fnet.bmfbovespa.com.br/fnet/publico/visualizarDocumento?id=1192614</a:t>
            </a:r>
          </a:p>
          <a:p>
            <a:r>
              <a:t>CNPJ 55563624000109 · Administrador, gestor e custodiante · Excerto da fonte:</a:t>
            </a:r>
          </a:p>
          <a:p>
            <a:r>
              <a:t>Polígono Capital Ltda., sociedade de responsabilidade limitada, com sede no  município e estado de São Paulo, na Avenida Brigadeiro Faria Lima, n° 2601, 12º andar,  Jardim Paulistano, CEP 01452-000, inscrita no CNPJ sob nº 43.241.789/0001-85 e  GESTOR autorizada à prestação do serviço de administração de carteiras de valores mobiliários  pela CVM, de acordo com o Ato Declaratório CVM nº 19.368, expedido em 7 de  dezembro de 2021 (“GESTOR” e, quando referido conjuntamente e indistintamente  com o ADMINISTRADOR, os “Prestadores de Serviços Essenciais”).</a:t>
            </a:r>
          </a:p>
          <a:p>
            <a:r>
              <a:t>CNPJ 55563624000109 · Administrador, gestor e custodiante · Regulamento · ID 1192614 · 2026-04-30 · versão 1 · p. 1 · https://fnet.bmfbovespa.com.br/fnet/publico/visualizarDocumento?id=1192614</a:t>
            </a:r>
          </a:p>
          <a:p>
            <a:r>
              <a:t>CNPJ 55563624000109 · Administrador, gestor e custodiante · Excerto da fonte:</a:t>
            </a:r>
          </a:p>
          <a:p>
            <a:r>
              <a:t>BTG Pactual Serviços Financeiros S.A. Distribuidora de Títulos e Valores Mobiliários,  sociedade anônima, com sede no município e estado do Rio de Janeiro, na Praia de  Botafogo, nº 501, 5º andar (parte), Torre Corcovado, Botafogo, CEP 22250-040, inscrita  ADMINISTRADOR no Cadastro Nacional da Pessoa Jurídica (“CNPJ”) sob o nº 59.281.253/0001-23 e  credenciada como administradora de carteira, de acordo com o Ato Declaratório CVM  nº 8.695, de 20 de março de 2006 (“ADMINISTRADOR”).</a:t>
            </a:r>
          </a:p>
          <a:p>
            <a:r>
              <a:t>CNPJ 55563624000109 · Administrador, gestor e custodiante · Regulamento · ID 1192614 · 2026-04-30 · versão 1 · p. 41 · https://fnet.bmfbovespa.com.br/fnet/publico/visualizarDocumento?id=1192614</a:t>
            </a:r>
          </a:p>
          <a:p>
            <a:r>
              <a:t>CNPJ 55563624000109 · Administrador, gestor e custodiante · Excerto da fonte:</a:t>
            </a:r>
          </a:p>
          <a:p>
            <a:r>
              <a:t>“ADMINISTRADOR”: BTG Pactual Serviços Financeiros S.A. Distribuidora de Títulos e Valores Mobiliários, instituição  com sede no Município do Rio de Janeiro, Estado do Rio de Janeiro, à Praia de Botafogo, nº 501, 5º andar – parte, inscrita  no CNPJ sob o nº 59.281.253/0001-23, autorizada a funcionar pelo BACEN e autorizada pela CVM para a atividade de  administração de carteiras de valores mobiliários, de acordo com o Ato Declaratório nº 8.695, de 20 de março de 2006,  ou seu sucessor a qualquer título;</a:t>
            </a:r>
          </a:p>
          <a:p>
            <a:r>
              <a:t>CNPJ 55563624000109 · Administrador, gestor e custodiante · Condição: Documentos atuais selecionados no inventário por categoria/escopo; a data documental isolada não comprova vigência jurídica.</a:t>
            </a:r>
          </a:p>
          <a:p>
            <a:r>
              <a:t>CNPJ 55563624000109 · Administrador, gestor e custodiante · Versão e prevalência: Documentos atuais selecionados no inventário por categoria/escopo; a data documental isolada não comprova vigência jurídica.</a:t>
            </a:r>
          </a:p>
          <a:p>
            <a:r>
              <a:t>CNPJ 55563624000109 · Administrador, gestor e custodiante · Resumo do histórico: {"count": 6, "dates": ["2024-12-30", "2025-01-31", "2026-01-31"], "document_count": 3, "sources": [{"document_id": "1178840", "title": "Demonstrações Financeiras", "reference_date": "2026-01-31", "version": "1", "page": 3, "url": "https://fnet.bmfbovespa.com.br/fnet/publico/visualizarDocumento?id=1178840", "sha256": "c458e98664c5c907ddb5a05a94b120bed4e05295b2bfc420f5ba69af0a229abe"}, {"document_id": "891861", "title": "Demonstrações Financeiras", "reference_date": "2025-01-31", "version": "1", "page": 11, "url": "https://fnet.bmfbovespa.com.br/fnet/publico/visualizarDocumento?id=891861", "sha256": "e9cb9e6ddbe505fe068cfcac33605165a98313489de0d3ce6d4d238263c3f3e7"}, {"document_id": "811323", "title": "Anúncio de Encerramento", "reference_date": "2024-12-30", "version": "1", "page": 1, "url": "https://fnet.bmfbovespa.com.br/fnet/publico/visualizarDocumento?id=811323", "sha256": "ebc6bc661be5189acffb3c3e352de2aea0a8ca8431011d1237e1ae19da4f9c79"}], "reference": {"path": "history/55563624000109.json", "criterion_id": "providers", "total_count": 6, "preview_count": 3, "full_text_deferred": true, "sha256": "7835d573fb58a3c19adf5b8ecc2aee2bdbb9a88f7a0c0209b5f262b64c7522e3"}}</a:t>
            </a:r>
          </a:p>
          <a:p>
            <a:r>
              <a:t>CNPJ 62552447000120 · Administrador, gestor e custodiante · Regulamento · ID 1200623 · 2026-05-21 · versão 1 · p. 1 · https://fnet.bmfbovespa.com.br/fnet/publico/visualizarDocumento?id=1200623</a:t>
            </a:r>
          </a:p>
          <a:p>
            <a:r>
              <a:t>CNPJ 62552447000120 · Administrador, gestor e custodiante · Excerto da fonte:</a:t>
            </a:r>
          </a:p>
          <a:p>
            <a:r>
              <a:t>BTG Pactual Asset Management S.A. Distribuidora de Títulos e Valores  Mobiliários, sociedade anônima, com sede no município e Estado do Rio de  Janeiro, na Praia de Botafogo, n.º 501, 5º andar (parte), Torre Corcovado, bairro  Botafogo, CEP 22250-040, inscrita no CNPJ sob o n.º 29.650.082/0001-00 e  Gestor  credenciada como administradora de carteira de valores mobiliários , categoria  gestor de recursos, de acordo com o Ato Declaratório CVM n.º 5.968, de 10 de  maio de 2000 (“Gestor” e, quando ref erido conjuntamente e indistintamente  com o Administrador, “Prestadores de Serviços Essenciais”).</a:t>
            </a:r>
          </a:p>
          <a:p>
            <a:r>
              <a:t>CNPJ 62552447000120 · Administrador, gestor e custodiante · Regulamento · ID 1200623 · 2026-05-21 · versão 1 · p. 1 · https://fnet.bmfbovespa.com.br/fnet/publico/visualizarDocumento?id=1200623</a:t>
            </a:r>
          </a:p>
          <a:p>
            <a:r>
              <a:t>CNPJ 62552447000120 · Administrador, gestor e custodiante · Excerto da fonte:</a:t>
            </a:r>
          </a:p>
          <a:p>
            <a:r>
              <a:t>BTG Pactual Serviços Financeiros S.A. Distribuidora de Títulos e Valores  Mobiliários, sociedade anônima, com sede no município e Estado do Rio de  Janeiro, na Praia de Botafogo, n.º 501, 5º andar (parte), Torre Corcovado, bairro  Administrador Botafogo, CEP 22250-040, inscrita no CNPJ sob o n.º 59.281.253/0001-23 e  credenciada como administradora de carteira de valores mobiliários, categoria  administrador fiduciário, de acordo com o Ato Declaratório CVM n.º 8.695, de 20  de março de 2006 (“Administrador”).</a:t>
            </a:r>
          </a:p>
          <a:p>
            <a:r>
              <a:t>CNPJ 62552447000120 · Administrador, gestor e custodiante · Instrumento Particular de Alteração do Regulamento · ID 1200625 · 2026-05-21 · versão 1 · p. 1 · https://fnet.bmfbovespa.com.br/fnet/publico/visualizarDocumento?id=1200625</a:t>
            </a:r>
          </a:p>
          <a:p>
            <a:r>
              <a:t>CNPJ 62552447000120 · Administrador, gestor e custodiante · Excerto da fonte:</a:t>
            </a:r>
          </a:p>
          <a:p>
            <a:r>
              <a:t>A Administradora, BTG PACTUAL SERVIÇOS FINANCEIROS S.A. DTVM, com  sede na Praia de Botafogo, n.º 501, 5º andar (parte), na Cidade e Estado do Rio de  Janeiro, e inscrita no CNPJ sob o número 59.281.253/0001-23, na qualidade de  administradora da V CDT 1 FUNDO DE INVESTIMENTO EM DIREITOS  CREDITÓRIOS RESPONSABILIDADE LIMITADA, inscrita no CNPJ/MF sob o  número 62.552.447/0001-20 ("Classe"), serve-se da presente para:</a:t>
            </a:r>
          </a:p>
          <a:p>
            <a:r>
              <a:t>CNPJ 62552447000120 · Administrador, gestor e custodiante · Condição: Documentos atuais selecionados no inventário por categoria/escopo; a data documental isolada não comprova vigência jurídica.</a:t>
            </a:r>
          </a:p>
          <a:p>
            <a:r>
              <a:t>CNPJ 62552447000120 · Administrador, gestor e custodiante · Versão e prevalência: Documentos atuais selecionados no inventário por categoria/escopo; a data documental isolada não comprova vigência jurídica.</a:t>
            </a:r>
          </a:p>
          <a:p>
            <a:r>
              <a:t>CNPJ 62552447000120 · Administrador, gestor e custodiante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"providers", "total_count": 1, "preview_count": 1, "full_text_deferred": true, "sha256": "d95db8c0613d67ee84118c734588665265ea6b02f86a0318d6a844cbe1d0f82f"}}</a:t>
            </a:r>
          </a:p>
          <a:p>
            <a:r>
              <a:t>CNPJ 63953620000165 · Administrador, gestor e custodiante · Anexo ao Regulamento · ID 1222863 · 2026-06-02 · versão 1 · p. 2 · https://fnet.bmfbovespa.com.br/fnet/publico/visualizarDocumento?id=1222863</a:t>
            </a:r>
          </a:p>
          <a:p>
            <a:r>
              <a:t>CNPJ 63953620000165 · Administrador, gestor e custodiante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Administrador, gestor e custodiante · Condição: Documentos atuais selecionados no inventário por categoria/escopo; a data documental isolada não comprova vigência jurídica.</a:t>
            </a:r>
          </a:p>
          <a:p>
            <a:r>
              <a:t>CNPJ 63953620000165 · Administrador, gestor e custodiante · Motivo: Cláusula primária localizada e citada, mas sua lista/condições extensas não admitem uma síntese literal curta confirmada. O trecho integral permanece nas fontes.</a:t>
            </a:r>
          </a:p>
          <a:p>
            <a:r>
              <a:t>CNPJ 63953620000165 · Administrador, gestor e custodiante · Versão e prevalência: Documentos atuais selecionados no inventário por categoria/escopo; a data documental isolada não comprova vigência jurídica.</a:t>
            </a:r>
          </a:p>
          <a:p>
            <a:r>
              <a:t>CNPJ 63953620000165 · Administrador, gestor e custodiante · Resumo do histórico: {"count": 8, "dates": ["2026-04-28", "2026-05-08", "2026-05-15"], "document_count": 3, "sources": [{"document_id": "1327859", "title": "Demonstrações Financeiras - Fusão, cisão e incorporação", "reference_date": "2026-05-15", "version": "1", "page": 9, "url": "https://fnet.bmfbovespa.com.br/fnet/publico/visualizarDocumento?id=1327859", "sha256": "dca1c68babb97f887528c3e2e47596a9c30f507b067981a35655b2f2da9c8054"}, {"document_id": "1298691", "title": "Demonstrações Financeiras - Fusão, cisão e incorporação", "reference_date": "2026-05-08", "version": "1", "page": 9, "url": "https://fnet.bmfbovespa.com.br/fnet/publico/visualizarDocumento?id=1298691", "sha256": "58c570d9b8d4d265330d3db3ea81c435b8e44a6dab4002aa37790652a1ee9819"}, {"document_id": "1282180", "title": "Demonstrações Financeiras - Fusão, cisão e incorporação", "reference_date": "2026-04-28", "version": "1", "page": 9, "url": "https://fnet.bmfbovespa.com.br/fnet/publico/visualizarDocumento?id=1282180", "sha256": "afaaa0e6809be4385e5bdb6c911aac582032c5bdbac3d7750234bf9eaf00438a"}], "reference": {"path": "history/63953620000165.json", "criterion_id": "providers", "total_count": 8, "preview_count": 3, "full_text_deferred": true, "sha256": "a7b89077f5e21098c2d601c303faabc3ff6b9729f89d8afecdc60fe1404720c1"}}</a:t>
            </a:r>
          </a:p>
          <a:p>
            <a:r>
              <a:t>CNPJ 54871427000194 · Substituição de prestadores · Motivo: Não localizada uma cláusula material para este critério nos textos identificados e processados. A ausência de resultado não comprova inexistência da regra.</a:t>
            </a:r>
          </a:p>
          <a:p>
            <a:r>
              <a:t>CNPJ 60010416000112 · Substituição de prestadores · Regulamento · ID 1051393 · 2025-10-09 · versão 1 · p. 3 · 1.8 · https://fnet.bmfbovespa.com.br/fnet/publico/visualizarDocumento?id=1051393</a:t>
            </a:r>
          </a:p>
          <a:p>
            <a:r>
              <a:t>CNPJ 60010416000112 · Substituição de prestadores · Excerto da fonte:</a:t>
            </a:r>
          </a:p>
          <a:p>
            <a:r>
              <a:t>1.8. Os Cotistas, o Administrador, o Gestor e o Agente de  Retenção/Cobrança estão plenamente conscientes dos termos e efeitos  desta cláusula compromissória e concordam irrevogavelmente que a  arbitragem será a única f orma de resolução de disputas relacionada a  este Regulamento. Sem prejuízo da validade desta cláusula  compromissória, as partes elegem o foro da comarca do Rio de Janeiro,  estado do Rio de Janeiro, com a renúncia expressa a qualquer outra, se  e quando isso f or necessário para fins de: (i) executar as obrigações para  as quais haja disponibilidade imediata de execução judicial; (ii) obter  ordens de execução específica ou liminares de caráter preventivo,  temporário ou permanente, tais como a prestação de caução para um  processo arbitral iniciado ou em andamento entre as partes da  arbitragem e/ou assegurar a existência e ef icácia do processo arbitral;</a:t>
            </a:r>
          </a:p>
          <a:p>
            <a:r>
              <a:t> e/ou (iii) apresentar um pedido de execução específica ou outra ordem,  sendo certo que, uma vez obtida a execução específica ou outra ordem,  o Tribunal Arbitral a ser instituído ou que já esteja instituído, conforme o  caso, assumirá a competência plena e exclusiva para decidir sobre toda  e qualquer questão, quer relacionada ao processo ou ao mérito, que  possa ter dado origem à ordem ou execução específica solicitada, e o  respectivo processo será suspenso até que o Tribunal Arbitral profira  uma decisão parcial ou def initiva sobre a questão. A propositura de  qualquer ação judicial de acordo com este item não resultará em  renúncia à arbitragem ou à competência da Câmara.</a:t>
            </a:r>
          </a:p>
          <a:p>
            <a:r>
              <a:t>CNPJ 60010416000112 · Substituição de prestadores · Condição: Documentos atuais selecionados no inventário por categoria/escopo; a data documental isolada não comprova vigência jurídica.</a:t>
            </a:r>
          </a:p>
          <a:p>
            <a:r>
              <a:t>CNPJ 60010416000112 · Substituição de prestadores · Motivo: Cláusula primária localizada e citada, mas sua lista/condições extensas não admitem uma síntese literal curta confirmada. O trecho integral permanece nas fontes.</a:t>
            </a:r>
          </a:p>
          <a:p>
            <a:r>
              <a:t>CNPJ 60010416000112 · Substituição de prestadores · Versão e prevalência: Documentos atuais selecionados no inventário por categoria/escopo; a data documental isolada não comprova vigência jurídica.</a:t>
            </a:r>
          </a:p>
          <a:p>
            <a:r>
              <a:t>CNPJ 60010416000112 · Substituição de prestadores · Resumo do histórico: {"count": 1, "dates": ["2025-03-20"], "document_count": 1, "sources": [{"document_id": "993786", "title": "Regulamento", "reference_date": "2025-03-20", "version": "1", "page": 3, "clause": "1.8", "url": "https://fnet.bmfbovespa.com.br/fnet/publico/visualizarDocumento?id=993786", "sha256": "fd0fdd369a195510d81f81f505195a0b09e5f43522a990afa7d58c4f872921c8"}], "reference": {"path": "history/60010416000112.json", "criterion_id": "replacement", "total_count": 1, "preview_count": 1, "full_text_deferred": true, "sha256": "8e2bd813f4c51cf01f6bfaad164bafe69d2bbb192f753eac92da3a01c2e63046"}}</a:t>
            </a:r>
          </a:p>
          <a:p>
            <a:r>
              <a:t>CNPJ 62696791000193 · Substituição de prestadores · Regulamento · ID 1143317 · 2026-03-20 · versão 1 · p. 26 · 12.10 · https://fnet.bmfbovespa.com.br/fnet/publico/visualizarDocumento?id=1143317</a:t>
            </a:r>
          </a:p>
          <a:p>
            <a:r>
              <a:t>CNPJ 62696791000193 · Substituição de prestadores · Excerto da fonte:</a:t>
            </a:r>
          </a:p>
          <a:p>
            <a:r>
              <a:t>12.10 Na hipótese de renúncia, o Administrador fica obrigado a permanecer no exercício de suas funções até  a averbação, no cartório de registro de imóveis, nas matrículas referentes aos bens imóveis e direitos  integrantes da carteira de ativos, da ata da assembleia de Cotistas que eleger seu substituto e sucessor  na propriedade f iduciária desses bens e direitos.</a:t>
            </a:r>
          </a:p>
          <a:p>
            <a:r>
              <a:t>CNPJ 62696791000193 · Substituição de prestadores · Regulamento · ID 1143317 · 2026-03-20 · versão 1 · p. 26 · 12.10.1 · https://fnet.bmfbovespa.com.br/fnet/publico/visualizarDocumento?id=1143317</a:t>
            </a:r>
          </a:p>
          <a:p>
            <a:r>
              <a:t>CNPJ 62696791000193 · Substituição de prestadores · Excerto da fonte:</a:t>
            </a:r>
          </a:p>
          <a:p>
            <a:r>
              <a:t>12.10.1 É f acultado aos Cotistas que detenham ao menos 5% (cinco por cento) das Cotas emitidas, a  convocação da assembleia de Cotistas prevista no item 12.4 acima, caso o Administrador não  a convoque, no prazo de 10 (dez) dias contados da renúncia.</a:t>
            </a:r>
          </a:p>
          <a:p>
            <a:r>
              <a:t>CNPJ 62696791000193 · Substituição de prestadores · Condição: Documentos atuais selecionados no inventário por categoria/escopo; a data documental isolada não comprova vigência jurídica.</a:t>
            </a:r>
          </a:p>
          <a:p>
            <a:r>
              <a:t>CNPJ 62696791000193 · Substituição de prestadores · Versão e prevalência: Documentos atuais selecionados no inventário por categoria/escopo; a data documental isolada não comprova vigência jurídica.</a:t>
            </a:r>
          </a:p>
          <a:p>
            <a:r>
              <a:t>CNPJ 55563624000109 · Substituição de prestadores · Motivo: Não localizada uma cláusula material para este critério nos textos identificados e processados. A ausência de resultado não comprova inexistência da regra.</a:t>
            </a:r>
          </a:p>
          <a:p>
            <a:r>
              <a:t>CNPJ 62552447000120 · Substituição de prestadores · Motivo: Não localizada uma cláusula material para este critério nos textos identificados e processados. A ausência de resultado não comprova inexistência da regra.</a:t>
            </a:r>
          </a:p>
          <a:p>
            <a:r>
              <a:t>CNPJ 63953620000165 · Substituição de prestadores · Anexo ao Regulamento · ID 1222863 · 2026-06-02 · versão 1 · p. 15 · https://fnet.bmfbovespa.com.br/fnet/publico/visualizarDocumento?id=1222863</a:t>
            </a:r>
          </a:p>
          <a:p>
            <a:r>
              <a:t>CNPJ 63953620000165 · Substituição de prestadores · Excerto da fonte:</a:t>
            </a:r>
          </a:p>
          <a:p>
            <a:r>
              <a:t>Anexo I ao Regulamento  CLASSE CONSIGNADO PRIVADO DO MT GLOBAL FUNDO DE INVESTIMENTO EM DIREITOS  CREDITÓRIOS RESPONSABILIDADE LIMITADA</a:t>
            </a:r>
          </a:p>
          <a:p>
            <a:r>
              <a:t> (vii) inobservância pelo Administrador, pelo Custodiante e/ou pelo Gestor de seus deveres e obrigações  previstos neste Regulamento, bem como suas atribuições específicas nos outros contratos existentes  referentes ao funcionamento da Classe, verificada pelo Administrador, pelo Custodiante e/ou pelo  Gestor ou por qualquer dos Cotistas, desde que, uma vez notificados para sanar ou justificar o  descumprimento, o Administrador, o Custodiante e/ou o Gestor, conforme o caso, não o sane no prazo  de 5 (cinco) Dias Úteis contados do recebimento da referida notificação;</a:t>
            </a:r>
          </a:p>
          <a:p>
            <a:r>
              <a:t> (viii) aquisição, pela Classe, de Direitos Creditórios que estejam em desacordo com as Condições de Cessão e  os Critérios de Elegibilidade previstos neste Regulamento no momento de sua aquisição;</a:t>
            </a:r>
          </a:p>
          <a:p>
            <a:r>
              <a:t> (ix) alteração na classificação de risco das Cotas, se houver, que, para qualquer dado período após a  classificação de risco inicial das Cotas e/ou após a deliberação da Assembleia Especial de Cotistas a  respeito de um rebaixamento da classificação de risco das Cotas, implique no rebaixamento de dois  níveis na escala de risco pertinente elaborada pela Agência Classificadora de Risco; e/ou</a:t>
            </a:r>
          </a:p>
          <a:p>
            <a:r>
              <a:t> (x) renúncia do Gestor, sem que tenham sido tomadas tempestivamente as providências previstas no  CAPÍTULO 2 da parte geral deste Regulamento;</a:t>
            </a:r>
          </a:p>
          <a:p>
            <a:r>
              <a:t> (xi) no caso de o Contrato de Endosso celebrado com o Endossante, por qualquer razão, (a) seja declarado  inválido, nulo ou ineficaz por ordem judicial e/ou qualquer autoridade governamental; ou (b) tenha sua  validade ou eficácia, total ou parcialmente, contestada pelo Endossante, judicial ou administrativamente</a:t>
            </a:r>
          </a:p>
          <a:p>
            <a:r>
              <a:t> (xii) em caso de não renovação, cancelamento, revogação ou suspensão de concessões, autorizações,  subvenções, autorizações ou licenças, relevantes para o exercício regular dos negócios realizados pelo  Endossante, incluindo o Convênio Consignado Privado, e as autorizações regulatórias concedidas pelo  Banco Central, observado, caso aplicável, os prazos de cura dispostos no Contrato de Endosso;</a:t>
            </a:r>
          </a:p>
          <a:p>
            <a:r>
              <a:t> (xiii) no caso de o Endossante ou o Agente de Retenção/Cobrança e/ou seus acionistas controladores diretos  e/ou indiretos (pessoas físicas ou jurídicas), quotistas, diretores, conselheiros e/ou representantes e  colaboradores do Endossante ou seus acionistas controladores, (a) terem contra si uma decisão judicial  transitada em julgado envolvendo (1) crimes contra a propriedade, (2) crimes de falsificação, (3) crimes  contra o sistema financeiro nacional, (4) crimes contra o mercado de capitais, (5) crimes contra a  seguridade social, (6) crimes contra as relações de consumo e (7) crimes previstos na lei de falências;</a:t>
            </a:r>
          </a:p>
          <a:p>
            <a:r>
              <a:t> e/ou (b) violar as normas anticorrupção aplicáveis, especialmente a Lei nº 9.613, de 3 de março de 1998,  conforme alterada ou substituída de tempos em tempos, e qualquer outra a que estejam sujeitos, quer  contratual ou legalmente, desde que a violação mencionada seja considerada como, especialmente, mas  não limitada a (1) financiamento, crédito, patrocínio ou outra forma de subvenção à prática de atos  ilícitos previstos na legislação anticorrupção, de combate à lavagem de dinheiro, organizações  antissociais e/ou crime organizado; (2) promessa, oferta ou entrega, direta ou indiretamente, de  qualquer objeto de valor a um funcionário público ou terceiros para obter ou manter negócios ou para  obter qualquer vantagem indevida; (3) aceitação ou compromisso de aceitar, de quem quer que seja,  por si ou por outrem, qualquer pagamento, doação, compensação, vantagens financeiras ou não  financeiras ou benefícios de qualquer tipo, direta ou indiretamente relacionados com o objeto da Classe,  que constituam uma prática ilegal, que violem as boas condutas, a ética, a moral e constitua corrupção  nos termos das leis dos países da sede e onde existam filiais das partes envolvidas, das partes  contratantes; e</a:t>
            </a:r>
          </a:p>
          <a:p>
            <a:r>
              <a:t> (xiv) caso o cotista das Cotas Subordinadas deixe de ser titular das Cotas Subordinadas durante todo prazo  de duração da Classe;</a:t>
            </a:r>
          </a:p>
          <a:p>
            <a:r>
              <a:t> (xv) no caso de não serem realizados pagamentos de amortização e/ou resgate de Cotas Seniores, nos  termos, prazos e condições previstos no presente Regulamento e nos respectivos Apêndices e  Suplementos, não sanados em até 2 (dois) Dias Úteis contados do prazo final do respectivo evento;</a:t>
            </a:r>
          </a:p>
          <a:p>
            <a:r>
              <a:t> (xvi) no caso de pagamento de resgate e/ou amortização de Cotas Subordinadas em desacordo com os  termos, prazos e condições previstos no presente Regulamento e no respectivo Apêndice.</a:t>
            </a:r>
          </a:p>
          <a:p>
            <a:r>
              <a:t>CNPJ 63953620000165 · Substituição de prestadores · Condição: Documentos atuais selecionados no inventário por categoria/escopo; a data documental isolada não comprova vigência jurídica.</a:t>
            </a:r>
          </a:p>
          <a:p>
            <a:r>
              <a:t>CNPJ 63953620000165 · Substituição de prestadores · Motivo: Cláusula primária localizada e citada, mas sua lista/condições extensas não admitem uma síntese literal curta confirmada. O trecho integral permanece nas fontes.</a:t>
            </a:r>
          </a:p>
          <a:p>
            <a:r>
              <a:t>CNPJ 63953620000165 · Substituição de prestadores · Versão e prevalência: Documentos atuais selecionados no inventário por categoria/escopo; a data documental isolada não comprova vigência jurídica.</a:t>
            </a:r>
          </a:p>
          <a:p>
            <a:r>
              <a:t>CNPJ 54871427000194 · Rating por subclasse e downgrade · Regulamento · ID 670691 · 28/04/2024 · versão Regulamento — referência 28/04/2024 · p. 15 · Anexo I, 5.12 · https://fnet.bmfbovespa.com.br/fnet/publico/visualizarDocumento?id=670691</a:t>
            </a:r>
          </a:p>
          <a:p>
            <a:r>
              <a:t>CNPJ 54871427000194 · Rating por subclasse e downgrade · Excerto da fonte:</a:t>
            </a:r>
          </a:p>
          <a:p>
            <a:r>
              <a:t>5.12 As Cotas não serão classificadas por Agência Classificadora de Risco em funcionamento no País, uma vez que a Classe não será destinada ao público em geral. CAPÍTULO 6 – ATRIBUIÇÃO DE RESULTADO ÀS COTAS E CÁLCULO DO VALOR UNITÁRIO 6.1 As Cotas terão seu Valor Unitário calculado e divulgado pelo ADMINISTRADOR mensalmente, no último Dia Útil de cada mês, no fechamento dos mercados, a partir do mês seguinte à Data da 1ª Integralização e até a data de resgate das Cotas ou na data de liquidação da Classe Única, conforme o caso. 6.2 A partir da Data da 1ª Integralização de Cotas, o Valor Unitário das Cotas s erá calculado no fechamento do último Dia Útil de cada mês, equivalerá ao resultado da divisão do valor do Patrimônio Líquido apurado para o respectivo dia, pelo número de Cotas em circulação na respectiva data de cálculo . CAPÍTULO 7 – AMORTIZAÇÃO E RESGATE DAS COTAS 7.1 A distribuição de quaisquer ganhos e rendimentos d a Classe aos Cotistas será f eita exclusivamente mediante a Amortização e/ou o resgate de Cotas, observado o disposto neste Capítulo. 7.2 As amortizações de Cotas serão realizadas a qualquer tempo, a critério do GESTOR, observada a disponibilidade de recursos da Classe Única e a</a:t>
            </a:r>
          </a:p>
          <a:p>
            <a:r>
              <a:t>CNPJ 54871427000194 · Rating por subclasse e downgrade · Versão e prevalência: Leitura específica das cláusulas indicadas; condições e conflitos preservados. Seleção documental atual não comprova vigência jurídica por data isolada.</a:t>
            </a:r>
          </a:p>
          <a:p>
            <a:r>
              <a:t>CNPJ 54871427000194 · Rating por subclasse e downgrade · Resumo do histórico: {"count": 5, "dates": ["2024-12-31", "2025-01-01", "2025-12-31"], "document_count": 3, "sources": [{"document_id": "1151805", "title": "Demonstrações Financeiras", "reference_date": "2025-12-31", "version": "1", "page": 25, "url": "https://fnet.bmfbovespa.com.br/fnet/publico/visualizarDocumento?id=1151805", "sha256": "f1cea70b152968bf96ef9221b27225953cb20aeef487b2798db3c25e11b528d4"}, {"document_id": "869529", "title": "Demonstrações Financeiras", "reference_date": "2025-01-01", "version": "1", "page": 25, "url": "https://fnet.bmfbovespa.com.br/fnet/publico/visualizarDocumento?id=869529", "sha256": "9a93a9369ac8efdbc54ff8fcee3ccac3abf88edab4807b9323d3852450771b2a"}, {"document_id": "870070", "title": "Demonstrações Financeiras", "reference_date": "2024-12-31", "version": "1", "page": 25, "url": "https://fnet.bmfbovespa.com.br/fnet/publico/visualizarDocumento?id=870070", "sha256": "9a93a9369ac8efdbc54ff8fcee3ccac3abf88edab4807b9323d3852450771b2a"}], "reference": {"path": "history/54871427000194.json", "criterion_id": "rating", "total_count": 5, "preview_count": 3, "full_text_deferred": true, "sha256": "35d7cd99be50c7287c9fb675cf4f2e736002315295a225a9efa79c8d9186d874"}}</a:t>
            </a:r>
          </a:p>
          <a:p>
            <a:r>
              <a:t>CNPJ 60010416000112 · Rating por subclasse e downgrade · Demonstrações Financeiras - Fusão, cisão e incorporação · ID 1298690 · 2026-05-08 · versão 1 · p. 35 · https://fnet.bmfbovespa.com.br/fnet/publico/visualizarDocumento?id=1298690</a:t>
            </a:r>
          </a:p>
          <a:p>
            <a:r>
              <a:t>CNPJ 60010416000112 · Rating por subclasse e downgrade · Excerto da fonte:</a:t>
            </a:r>
          </a:p>
          <a:p>
            <a:r>
              <a:t>As Cotas Seniores poderão ser objeto de classificação de risco (rating) por Agência  Classificadora de Risco em funcionamento no país.</a:t>
            </a:r>
          </a:p>
          <a:p>
            <a:r>
              <a:t>CNPJ 60010416000112 · Rating por subclasse e downgrade · Condição: Documentos atuais selecionados no inventário por categoria/escopo; a data documental isolada não comprova vigência jurídica.</a:t>
            </a:r>
          </a:p>
          <a:p>
            <a:r>
              <a:t>CNPJ 60010416000112 · Rating por subclasse e downgrade · Versão e prevalência: Documentos atuais selecionados no inventário por categoria/escopo; a data documental isolada não comprova vigência jurídica.</a:t>
            </a:r>
          </a:p>
          <a:p>
            <a:r>
              <a:t>CNPJ 60010416000112 · Rating por subclasse e downgrade · Resumo do histórico: {"count": 5, "dates": ["2025-11-30", "2026-03-18", "2026-04-16"], "document_count": 3, "sources": [{"document_id": "1282181", "title": "Demonstrações Financeiras - Fusão, cisão e incorporação", "reference_date": "2026-04-16", "version": "1", "page": 38, "url": "https://fnet.bmfbovespa.com.br/fnet/publico/visualizarDocumento?id=1282181", "sha256": "b1c6566e43a00bcd00c8a7f30c77b7f86e351bd8e355bbea113f46d1dafda703"}, {"document_id": "1224477", "title": "Demonstrações Financeiras - Fusão, cisão e incorporação", "reference_date": "2026-03-18", "version": "1", "page": 37, "url": "https://fnet.bmfbovespa.com.br/fnet/publico/visualizarDocumento?id=1224477", "sha256": "0751bf0a75bc3b44c2748f5000226665c6ec6698a90c4dc6170b4e6c187759ae"}, {"document_id": "1126154", "title": "Demonstrações Financeiras", "reference_date": "2025-11-30", "version": "1", "page": 38, "url": "https://fnet.bmfbovespa.com.br/fnet/publico/visualizarDocumento?id=1126154", "sha256": "a01e7ccf88c548f12c95cba8526d7efbef6b585c112cd4668eca781c292090b0"}], "reference": {"path": "history/60010416000112.json", "criterion_id": "rating", "total_count": 5, "preview_count": 3, "full_text_deferred": true, "sha256": "8e2bd813f4c51cf01f6bfaad164bafe69d2bbb192f753eac92da3a01c2e63046"}}</a:t>
            </a:r>
          </a:p>
          <a:p>
            <a:r>
              <a:t>CNPJ 62696791000193 · Rating por subclasse e downgrade · Regulamento · ID 1143317 · 2026-03-20 · versão 1 · p. 3 · 2.1.2 · https://fnet.bmfbovespa.com.br/fnet/publico/visualizarDocumento?id=1143317</a:t>
            </a:r>
          </a:p>
          <a:p>
            <a:r>
              <a:t>CNPJ 62696791000193 · Rating por subclasse e downgrade · Excerto da fonte:</a:t>
            </a:r>
          </a:p>
          <a:p>
            <a:r>
              <a:t>2.1.2 Não obstante as atribuições previstas neste Regulamento e na regulamentação aplicável, cabe  ao Gestor praticar os atos necessários à gestão da carteira de ativos do Fundo, o que inclui,  mas não se limita, à contratação, em nome do Fundo ou da classe de cot as, dos seguintes  serviços: (a) intermediação de operações para carteira de ativos; (b) distribuição de cotas; (c)  consultoria de investimentos ou consultoria especializada; (d) classificação de risco por agência  de classificação de risco de crédito; (e) f ormador de mercado de classe f echada; (f ) cogestão  da carteira de ativos; (g) empresa especializada para administrar as locações ou arrendamentos  de imóveis rurais e a exploração do direito de superf ície, assim como para monitorar e</a:t>
            </a:r>
          </a:p>
          <a:p>
            <a:r>
              <a:t>CNPJ 62696791000193 · Rating por subclasse e downgrade · Regulamento · ID 1143317 · 2026-03-20 · versão 1 · p. 36 · 1.2 · https://fnet.bmfbovespa.com.br/fnet/publico/visualizarDocumento?id=1143317</a:t>
            </a:r>
          </a:p>
          <a:p>
            <a:r>
              <a:t>CNPJ 62696791000193 · Rating por subclasse e downgrade · Excerto da fonte:</a:t>
            </a:r>
          </a:p>
          <a:p>
            <a:r>
              <a:t>1.2. As Cotas Subordinadas Juniores serão subscritas e integralizadas por um único Cotista e/ou por Cotistas  vinculados por interesse único e indissociável, de forma que serão objeto de colocação privada, nos termos  do Compromisso de Investimento a ser f irmado pelo Cotista, dispensadas da classificação de risco e não  terão parâmetro de remuneração def inido.</a:t>
            </a:r>
          </a:p>
          <a:p>
            <a:r>
              <a:t>2. Emissão, Subscrição e Integralização das Cotas</a:t>
            </a:r>
          </a:p>
          <a:p>
            <a:r>
              <a:t>CNPJ 62696791000193 · Rating por subclasse e downgrade · Condição: Documentos atuais selecionados no inventário por categoria/escopo; a data documental isolada não comprova vigência jurídica.</a:t>
            </a:r>
          </a:p>
          <a:p>
            <a:r>
              <a:t>CNPJ 62696791000193 · Rating por subclasse e downgrade · Versão e prevalência: Documentos atuais selecionados no inventário por categoria/escopo; a data documental isolada não comprova vigência jurídica.</a:t>
            </a:r>
          </a:p>
          <a:p>
            <a:r>
              <a:t>CNPJ 55563624000109 · Rating por subclasse e downgrade · Regulamento · ID 1192614 · 30/04/2026 · versão Regulamento30/04/2026 · p. 44 · GlossárioTermo de Adesão · https://fnet.bmfbovespa.com.br/fnet/publico/visualizarDocumento?id=1192614</a:t>
            </a:r>
          </a:p>
          <a:p>
            <a:r>
              <a:t>CNPJ 55563624000109 · Rating por subclasse e downgrade · Excerto da fonte:</a:t>
            </a:r>
          </a:p>
          <a:p>
            <a:r>
              <a:t>Termo de Adesão”: documento elaborado nos termos do art. 29 da Resolução CVM 175, por meio do qual o Cotista adere a este Regulamento e que deve ser firmado quando de seu ingresso no FUNDO, declarando, inclusive, sem se limitar a, ter pleno conhecimento dos riscos envolvidos na operação, inclusive da possibilidade de perda total do capital investido, e da ausência de classificação de risco das Cotas subscritas; “Valor Unitário”: o valor individual das Cotas, equivalente a R$ 1.000,00 (um mil), na primeira Data de Emissão, calculado todo Dia Útil para efeito da definição de seu valor de integralização e</a:t>
            </a:r>
          </a:p>
          <a:p>
            <a:r>
              <a:t>CNPJ 55563624000109 · Rating por subclasse e downgrade · Versão e prevalência: Leitura específica das cláusulas indicadas; condições e conflitos preservados. Seleção documental atual não comprova vigência jurídica por data isolada.</a:t>
            </a:r>
          </a:p>
          <a:p>
            <a:r>
              <a:t>CNPJ 55563624000109 · Rating por subclasse e downgrade · Resumo do histórico: {"count": 2, "dates": ["2025-01-31", "2026-01-31"], "document_count": 2, "sources": [{"document_id": "1178840", "title": "Demonstrações Financeiras", "reference_date": "2026-01-31", "version": "1", "page": 22, "url": "https://fnet.bmfbovespa.com.br/fnet/publico/visualizarDocumento?id=1178840", "sha256": "c458e98664c5c907ddb5a05a94b120bed4e05295b2bfc420f5ba69af0a229abe"}, {"document_id": "891861", "title": "Demonstrações Financeiras", "reference_date": "2025-01-31", "version": "1", "page": 23, "url": "https://fnet.bmfbovespa.com.br/fnet/publico/visualizarDocumento?id=891861", "sha256": "e9cb9e6ddbe505fe068cfcac33605165a98313489de0d3ce6d4d238263c3f3e7"}], "reference": {"path": "history/55563624000109.json", "criterion_id": "rating", "total_count": 2, "preview_count": 2, "full_text_deferred": true, "sha256": "7835d573fb58a3c19adf5b8ecc2aee2bdbb9a88f7a0c0209b5f262b64c7522e3"}}</a:t>
            </a:r>
          </a:p>
          <a:p>
            <a:r>
              <a:t>CNPJ 62552447000120 · Rating por subclasse e downgrade · Regulamento · ID 1200623 · 21/05/2026 · versão Consolidado21/05/2026 aprovado pelo ato1200625 · p. 19 · AnexoI6.11 · https://fnet.bmfbovespa.com.br/fnet/publico/visualizarDocumento?id=1200623</a:t>
            </a:r>
          </a:p>
          <a:p>
            <a:r>
              <a:t>CNPJ 62552447000120 · Rating por subclasse e downgrade · Excerto da fonte:</a:t>
            </a:r>
          </a:p>
          <a:p>
            <a:r>
              <a:t>6.11 As Cotas não serão objeto de classif icação de risco . CAPÍTULO 7 – AMORTIZAÇÃO DAS COTAS 7.1 A distribuição de quaisquer ganhos e rendimentos d a Classe aos Cotistas será f eita exclusivamente mediante a Amortização, observado o disposto neste Capítulo. 7.2 As Cotas poderão ser amortizadas através de uma Amortização programada, se houver, conforme prevista nos Apêndices, caso aplicável (“Amortização Programada”), e por meio amortização extraordinária das Cotas, a ser realizada por (a) por decisão do Gestor, para: (i) reenquadramento da Carteira ao mínimo de Direitos Creditórios que deve ser detido pel</a:t>
            </a:r>
          </a:p>
          <a:p>
            <a:r>
              <a:t>CNPJ 62552447000120 · Rating por subclasse e downgrade · Versão e prevalência: Leitura específica das cláusulas indicadas; condições e conflitos preservados. Seleção documental atual não comprova vigência jurídica por data isolada.</a:t>
            </a:r>
          </a:p>
          <a:p>
            <a:r>
              <a:t>CNPJ 63953620000165 · Rating por subclasse e downgrade · Anexo ao Regulamento · ID 1222863 · 02/06/2026 · versão AnexoConsignadoPrivado02/06/2026 · p. 11 · 6.14 · https://fnet.bmfbovespa.com.br/fnet/publico/visualizarDocumento?id=1222863</a:t>
            </a:r>
          </a:p>
          <a:p>
            <a:r>
              <a:t>CNPJ 63953620000165 · Rating por subclasse e downgrade · Excerto da fonte:</a:t>
            </a:r>
          </a:p>
          <a:p>
            <a:r>
              <a:t>6.14 As Cotas poderão ser objeto de classificação de risco pela contratada pelo Gestor, desde que em comum acordo entre Gestor e Cotistas Subordinados em Assembleia Especial de Cotistas (“Agência Classificadora de Risco”). CAPÍTULO 7 – AMORTIZAÇÃO DAS COTAS 7.1 A distribuição de quaisquer ganhos e rendimentos da Classe aos Cotistas será feita exclusivamente mediante a Amortização de Cotas, observado o disposto neste Capítulo e nos Apêndices. 7.2 As Cotas poderão ser amortizadas através de uma Amortização por Regime de Caixa, se houver conforme prevista nos Apêndices; e por meio amortização extraordinária das Cotas, a ser realiz</a:t>
            </a:r>
          </a:p>
          <a:p>
            <a:r>
              <a:t>CNPJ 63953620000165 · Rating por subclasse e downgrade · Versão e prevalência: Leitura específica das cláusulas indicadas; condições e conflitos preservados. Seleção documental atual não comprova vigência jurídica por data isolada.</a:t>
            </a:r>
          </a:p>
          <a:p>
            <a:r>
              <a:t>CNPJ 63953620000165 · Rating por subclasse e downgrade · Resumo do histórico: {"count": 8, "dates": ["2026-04-28", "2026-05-08", "2026-05-15"], "document_count": 3, "sources": [{"document_id": "1327859", "title": "Demonstrações Financeiras - Fusão, cisão e incorporação", "reference_date": "2026-05-15", "version": "1", "page": 29, "url": "https://fnet.bmfbovespa.com.br/fnet/publico/visualizarDocumento?id=1327859", "sha256": "dca1c68babb97f887528c3e2e47596a9c30f507b067981a35655b2f2da9c8054"}, {"document_id": "1298691", "title": "Demonstrações Financeiras - Fusão, cisão e incorporação", "reference_date": "2026-05-08", "version": "1", "page": 30, "url": "https://fnet.bmfbovespa.com.br/fnet/publico/visualizarDocumento?id=1298691", "sha256": "58c570d9b8d4d265330d3db3ea81c435b8e44a6dab4002aa37790652a1ee9819"}, {"document_id": "1282180", "title": "Demonstrações Financeiras - Fusão, cisão e incorporação", "reference_date": "2026-04-28", "version": "1", "page": 30, "url": "https://fnet.bmfbovespa.com.br/fnet/publico/visualizarDocumento?id=1282180", "sha256": "afaaa0e6809be4385e5bdb6c911aac582032c5bdbac3d7750234bf9eaf00438a"}], "reference": {"path": "history/63953620000165.json", "criterion_id": "rating",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Hedge e prestadores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Finalidade e limites de derivativos · Regulamento · ID 670691 · 28/04/2024 · versão Regulamento — referência 28/04/2024 · p. 13 · Anexo I, 4.15–4.16 · https://fnet.bmfbovespa.com.br/fnet/publico/visualizarDocumento?id=670691</a:t>
            </a:r>
          </a:p>
          <a:p>
            <a:r>
              <a:t>CNPJ 54871427000194 · Finalidade e limites de derivativos · Excerto da fonte:</a:t>
            </a:r>
          </a:p>
          <a:p>
            <a:r>
              <a:t>4.15 A Classe poderá utilizar instrumentos derivativos, desde que com o objetivo de proteção patrimonial, ou, desde que não resulte em exposição a risco de capital, conforme definida no inciso XXIV Art. 3º da parte geral da Resolução CVM 175, troca de indexador a que os ativos estão indexados . 4.16 A Classe não realizará operações de day trade, assim consideradas aquelas iniciadas e encerradas no mesmo dia, independentemente de a Classe possuir estoque ou posição anterior do mesmo Ativo Financeiro. 4.17 É vedada qualquer forma de antecipação de recursos aos Endossantes para posterior reembolso pela Classe, seja pelo ADMINISTRADOR, GESTOR, CUSTODIANTE, consultora ou Originadores. 4.18 Exceto na medida em que eventualmente previsto nos Contratos de Cessão e/ou em instrumentos eventualmente celebrados entre a Classe e os Endossantes, os Endossantes não serão responsáveis em caso de eventual inadimplemento dos Direitos Creditórios por eles cedidos, sendo responsáveis, não obstante, apenas pela existência, certeza, conteúdo, exatidão, veracidade, legitimidade, validade e correta f ormalização dos Direitos Creditórios que cederem à Classe, nos termos da</a:t>
            </a:r>
          </a:p>
          <a:p>
            <a:r>
              <a:t>CNPJ 54871427000194 · Finalidade e limites de derivativos · Versão e prevalência: Leitura específica das cláusulas indicadas; condições e conflitos preservados. Seleção documental atual não comprova vigência jurídica por data isolada.</a:t>
            </a:r>
          </a:p>
          <a:p>
            <a:r>
              <a:t>CNPJ 54871427000194 · Finalidade e limites de derivativos · Resumo do histórico: {"count": 2, "dates": ["2024-04-19", "2024-04-28"], "document_count": 2, "sources": [{"document_id": "670691", "title": "Regulamento", "reference_date": "2024-04-28", "version": "1", "page": "13", "url": "https://fnet.bmfbovespa.com.br/fnet/publico/visualizarDocumento?id=670691", "sha256": "bf16dd7f1a62d5cdbf2e2d54fef81783783f7310fbc99c3a8f00459bdf9d037b"}, {"document_id": "670689", "title": "Regulamento", "reference_date": "2024-04-19", "version": "1", "page": 13, "clause": "4.15", "url": "https://fnet.bmfbovespa.com.br/fnet/publico/visualizarDocumento?id=670689", "sha256": "891bc9bc5d87bbc02ec139077a84d2702eb81ea02035fb71d24f5b8366b94a0b"}], "reference": {"path": "history/54871427000194.json", "criterion_id": "hedge", "total_count": 2, "preview_count": 2, "full_text_deferred": true, "sha256": "35d7cd99be50c7287c9fb675cf4f2e736002315295a225a9efa79c8d9186d874"}}</a:t>
            </a:r>
          </a:p>
          <a:p>
            <a:r>
              <a:t>CNPJ 60010416000112 · Finalidade e limites de derivativos · Regulamento · ID 1051393 · 2025-10-09 · versão 1 · p. 12 · 4.9 · https://fnet.bmfbovespa.com.br/fnet/publico/visualizarDocumento?id=1051393</a:t>
            </a:r>
          </a:p>
          <a:p>
            <a:r>
              <a:t>CNPJ 60010416000112 · Finalidade e limites de derivativos · Excerto da fonte:</a:t>
            </a:r>
          </a:p>
          <a:p>
            <a:r>
              <a:t>4.9 Sem prejuízo de limites mais restritivos definidos neste Regulamento, o Gestor deverá observar, ainda, os  seguintes limites de concentração para a composição da Carteira:</a:t>
            </a:r>
          </a:p>
          <a:p>
            <a:r>
              <a:t> (i ) Até 100% (cem por cento) da parcela do Patrimônio Líquido investida em Ativos  Financeiros de Liquidez poderá ser alocada em Ativos Financeiros de Liquidez de  emissão ou que envolvam retenção de risco por parte do Administrador, Gestor, e/ou  suas partes relacionadas; e</a:t>
            </a:r>
          </a:p>
          <a:p>
            <a:r>
              <a:t> (ii) Até 100% (cem por cento) da parcela do Patrimônio Líquido investida em operações  com derivativos poderá ser alocada em derivativos nos quais, inexistindo contraparte  central, se tenha como contraparte o Gestor e/ou suas partes relacionadas.</a:t>
            </a:r>
          </a:p>
          <a:p>
            <a:r>
              <a:t>CNPJ 60010416000112 · Finalidade e limites de derivativos · Regulamento · ID 1051393 · 2025-10-09 · versão 1 · p. 13 · 4.15 · https://fnet.bmfbovespa.com.br/fnet/publico/visualizarDocumento?id=1051393</a:t>
            </a:r>
          </a:p>
          <a:p>
            <a:r>
              <a:t>CNPJ 60010416000112 · Finalidade e limites de derivativos · Excerto da fonte:</a:t>
            </a:r>
          </a:p>
          <a:p>
            <a:r>
              <a:t>4.15 A Classe poderá utilizar instrumentos derivativos, observados os limites de concentração previstos neste  Regulamento, desde que com o objetivo de proteção patrimonial, ou, desde que não resulte em exposição  a risco de capital, conforme definida no inciso XXIV do Art. 3º da parte geral da Resolução CVM 175, troca  de indexador a que os ativos estão indexados e o índice de ref erência de cada Subclasse.</a:t>
            </a:r>
          </a:p>
          <a:p>
            <a:r>
              <a:t>CNPJ 60010416000112 · Finalidade e limites de derivativos · Regulamento · ID 1051393 · 2025-10-09 · versão 1 · p. 16 · 7.11 · https://fnet.bmfbovespa.com.br/fnet/publico/visualizarDocumento?id=1051393</a:t>
            </a:r>
          </a:p>
          <a:p>
            <a:r>
              <a:t>CNPJ 60010416000112 · Finalidade e limites de derivativos · Excerto da fonte:</a:t>
            </a:r>
          </a:p>
          <a:p>
            <a:r>
              <a:t>7.11 Sem prejuízo do disposto do disposto nos itens 7.1 a 7.10 acima, a partir da Data da 1ª Integralização de  Cotas até a liquidação integral das Obrigações da Classe, sempre preservando a manutenção da boa  ordem legal, administrativa e operacional da Classe, o Gestor obriga-se a utilizar os recursos disponíveis  na Conta de Movimentação da Classe e/ou mantidos em Ativos Financeiros de Liquidez, em cada Dia Útil,  de acordo com a seguinte ordem de prioridade de alocação, na forma dos itens e tabela abaixo, de modo  que cada um dos itens listado apenas será contemplado após o direcionamento do montante total  necessário para a satisfação dos itens anteriores, ressalvado, enquanto em curso um Evento de Avaliação  e/ou um Evento de Liquidação, o disposto no item 11.4.1 abaixo</a:t>
            </a:r>
          </a:p>
          <a:p>
            <a:r>
              <a:t> (i) entradas de recursos provenientes da integralização de Cotas e dos Direitos Creditórios e  Ativos Financeiros de Liquidez que compõem a carteira da Classe, durante o Período de  Investimento, na seguinte ordem:</a:t>
            </a:r>
          </a:p>
          <a:p>
            <a:r>
              <a:t> a. pagamento dos Encargos;</a:t>
            </a:r>
          </a:p>
          <a:p>
            <a:r>
              <a:t> b. pagamento de despesas relativas aos instrumentos derivativos, conf orme aplicável;</a:t>
            </a:r>
          </a:p>
          <a:p>
            <a:r>
              <a:t> c. aquisição de Direitos Creditórios, sempre que ofertado, em moeda corrente nacional, em  conf ormidade com a Política de Investimento descrita neste Regulamento, sem prejuízo  do disposto no item 4.12 acima; e  d. aquisição de Ativos Financeiros de Liquidez, observando-se a Política de Investimentos.</a:t>
            </a:r>
          </a:p>
          <a:p>
            <a:r>
              <a:t> (ii) entradas de recursos provenientes dos Direitos Creditórios e Ativos Financeiros de Liquidez  que compõem a carteira da Classe, após o término do Período de Investimento, na seguinte  ordem, observadas as seguintes condições:</a:t>
            </a:r>
          </a:p>
          <a:p>
            <a:r>
              <a:t> a. pagamento dos Encargos;</a:t>
            </a:r>
          </a:p>
          <a:p>
            <a:r>
              <a:t> b. pagamento de despesas relativas aos instrumentos derivativos, conf orme aplicável;</a:t>
            </a:r>
          </a:p>
          <a:p>
            <a:r>
              <a:t> c. pagamento da amortização do principal e dos rendimentos acumulados relacionados às  Cotas Seniores, de modo que, considerando, pro f orma, todas as amortizações  pretendidas, o percentual empregado para amortização das Cotas Seniores seja  equivalente à relação entre o Patrimônio Líquido Sênior dividido pelo Patrimônio Líquido  da Classe, com a devida observância dos termos e condições deste Regulamento, do  Apêndice e do Suplemento das Cotas Seniores;</a:t>
            </a:r>
          </a:p>
          <a:p>
            <a:r>
              <a:t> d. pagamento da amortização do principal e dos rendimentos acumulados relacionados às  Cotas Subordinadas, de modo que, considerando, pro f orma, todas as amortizações  pretendidas, o percentual empregado para amortização das Cotas Subordinadas seja  equivalente à relação entre o Patrimônio Líquido Subordinado dividido pelo Patrimônio  Líquido da Classe, com a devida observância dos termos e condições deste  Regulamento, do Apêndice e do Suplemento das Cotas Seniores e desde que  respeitados o Índice de Subordinação;</a:t>
            </a:r>
          </a:p>
          <a:p>
            <a:r>
              <a:t> e. aquisição de Ativos Financeiros, observado o limite de alocação previsto no item 4.7  deste Anexo I.</a:t>
            </a:r>
          </a:p>
          <a:p>
            <a:r>
              <a:t>CNPJ 60010416000112 · Finalidade e limites de derivativos · Condição: Documentos atuais selecionados no inventário por categoria/escopo; a data documental isolada não comprova vigência jurídica.</a:t>
            </a:r>
          </a:p>
          <a:p>
            <a:r>
              <a:t>CNPJ 60010416000112 · Finalidade e limites de derivativos · Versão e prevalência: Documentos atuais selecionados no inventário por categoria/escopo; a data documental isolada não comprova vigência jurídica.</a:t>
            </a:r>
          </a:p>
          <a:p>
            <a:r>
              <a:t>CNPJ 60010416000112 · Finalidade e limites de derivativos · Resumo do histórico: {"count": 2, "dates": ["2025-03-20", "2025-10-09"], "document_count": 2, "sources": [{"document_id": "1051393", "title": "Regulamento", "reference_date": "2025-10-09", "version": "1", "page": "13", "url": "https://fnet.bmfbovespa.com.br/fnet/publico/visualizarDocumento?id=1051393", "sha256": "8469d613078ffd5a6c1d217885d8a397a16342c0b937ae4aa24b106505f233ae"}, {"document_id": "993786", "title": "Regulamento", "reference_date": "2025-03-20", "version": "1", "page": 12, "clause": "4.9", "url": "https://fnet.bmfbovespa.com.br/fnet/publico/visualizarDocumento?id=993786", "sha256": "fd0fdd369a195510d81f81f505195a0b09e5f43522a990afa7d58c4f872921c8"}], "reference": {"path": "history/60010416000112.json", "criterion_id": "hedge", "total_count": 2, "preview_count": 2, "full_text_deferred": true, "sha256": "8e2bd813f4c51cf01f6bfaad164bafe69d2bbb192f753eac92da3a01c2e63046"}}</a:t>
            </a:r>
          </a:p>
          <a:p>
            <a:r>
              <a:t>CNPJ 62696791000193 · Finalidade e limites de derivativos · Regulamento · ID 1143317 · 20/03/2026 · versão Regulamento — referência 20/03/2026 · p. 15 · Anexo I, 4.28 e 4.30(i) · https://fnet.bmfbovespa.com.br/fnet/publico/visualizarDocumento?id=1143317</a:t>
            </a:r>
          </a:p>
          <a:p>
            <a:r>
              <a:t>CNPJ 62696791000193 · Finalidade e limites de derivativos · Excerto da fonte:</a:t>
            </a:r>
          </a:p>
          <a:p>
            <a:r>
              <a:t>4.28 A Classe pode aplicar recursos em instrumentos financeiros derivativos, exclusivamente para fins de proteção patrimonial, cuja exposição seja sempre, no máximo, o valor do Patrimônio Líquido. 4.29 A Classe pode emprestar ativos f inanceiros e valores mobiliários, desde que tais operações de empréstimo sejam cursadas exclusivamente por meio de serviço autorizado pelo Banco Central do Brasil ou pela CVM. 4.30 É vedado à Classe: (i) aplicar no exterior recursos captados no País; (ii) salvo aprovação em assembleia de Cotistas, a realização de operações quando caracterizada situação de conf lito de interesses entre: (a) a Classe, o Administrador ou o Gestor ou a Consultoria Especializada; (b) a Classe e os Cotistas que detenham participação correspondente a, no mínimo, 10% (dez por cento) do patrimônio da Classe; e (c) a Classe e o representante dos Cotistas; (iii) a aplicação de recursos em sociedades nas quais participem o Administrador, o Gestor, os consultores, os membros de comitês ou conselhos e os Cotistas titulares de Cotas representativas de 5% (cinco por cento) do patri</a:t>
            </a:r>
          </a:p>
          <a:p>
            <a:r>
              <a:t>CNPJ 62696791000193 · Finalidade e limites de derivativos · Regulamento · ID 1143317 · 20/03/2026 · versão Regulamento — referência 20/03/2026 · p. 27 · Anexo I, 12.11(x) · https://fnet.bmfbovespa.com.br/fnet/publico/visualizarDocumento?id=1143317</a:t>
            </a:r>
          </a:p>
          <a:p>
            <a:r>
              <a:t>CNPJ 62696791000193 · Finalidade e limites de derivativos · Excerto da fonte:</a:t>
            </a:r>
          </a:p>
          <a:p>
            <a:r>
              <a:t>(x) realizar operações com derivativos, exceto quando tais operações f orem realizadas exclusivamente para f ins de proteção patrimonial e desde que a exposição seja sempre, no máximo, o valor do Patrimônio Líquido. 12.11.1 A vedação prevista no item (v) acima não impede a aquisição de imóveis sobre os quais tenham sido constituídos ônus reais anteriormente ao seu ingresso no patrimônio . 12.12 É vedado ao Gestor o recebimento de qualquer remuneração, benefício ou vantagem, direta ou indiretamente, que potencialmente prejudique sua independência na tomada de decisão. Consultoria Especializada 12.13 O Gestor, conforme disposto no Anexo Normativo VI da Resolução 175, poderá contratar Consultoria Especializada para que preste os seguintes serviços (“Consultoria Especializada”): (i) Analisar, selecionar, avaliar e acompanhar, de acordo com a Política de Investimentos deste Anexo, os ativos integrantes ou que possam vir a integrar a carteira da classe do Fundo; (ii) Participar de negociações e propor negócios à classe, observada a Política de Investimentos constante deste Anexo;</a:t>
            </a:r>
          </a:p>
          <a:p>
            <a:r>
              <a:t>CNPJ 62696791000193 · Finalidade e limites de derivativos · Versão e prevalência: Leitura específica das cláusulas indicadas; condições e conflitos preservados. Seleção documental atual não comprova vigência jurídica por data isolada.</a:t>
            </a:r>
          </a:p>
          <a:p>
            <a:r>
              <a:t>CNPJ 55563624000109 · Finalidade e limites de derivativos · Regulamento · ID 1192614 · 2026-04-30 · versão 1 · p. 14 · 4.21 · https://fnet.bmfbovespa.com.br/fnet/publico/visualizarDocumento?id=1192614</a:t>
            </a:r>
          </a:p>
          <a:p>
            <a:r>
              <a:t>CNPJ 55563624000109 · Finalidade e limites de derivativos · Excerto da fonte:</a:t>
            </a:r>
          </a:p>
          <a:p>
            <a:r>
              <a:t>4.21 A Classe poderá utilizar instrumentos derivativos, desde que com o objetivo de proteção patrimonial, ou, desde  que não resulte em exposição a risco de capital, conforme definida no inciso XXIV do Art. 3º da parte geral da  Resolução CVM 175 ou em troca de indexador a que os ativos estão indexados.</a:t>
            </a:r>
          </a:p>
          <a:p>
            <a:r>
              <a:t>CNPJ 55563624000109 · Finalidade e limites de derivativos · Regulamento · ID 1192614 · 2026-04-30 · versão 1 · p. 39 · https://fnet.bmfbovespa.com.br/fnet/publico/visualizarDocumento?id=1192614</a:t>
            </a:r>
          </a:p>
          <a:p>
            <a:r>
              <a:t>CNPJ 55563624000109 · Finalidade e limites de derivativos · Excerto da fonte:</a:t>
            </a:r>
          </a:p>
          <a:p>
            <a:r>
              <a:t>(xxii) Operações com derivativos. A Classe poderá realizar operações com derivativos  exclusivamente com o objetivo de proteção patrimonial. As operações com derivativos, pela sua  própria natureza, acrescentam riscos à Carteira e poderão afetar negativamente a sua rentabilidade,  até o limite do Patrimônio Líquido.</a:t>
            </a:r>
          </a:p>
          <a:p>
            <a:r>
              <a:t>CNPJ 55563624000109 · Finalidade e limites de derivativos · Condição: Documentos atuais selecionados no inventário por categoria/escopo; a data documental isolada não comprova vigência jurídica.</a:t>
            </a:r>
          </a:p>
          <a:p>
            <a:r>
              <a:t>CNPJ 55563624000109 · Finalidade e limites de derivativos · Versão e prevalência: Documentos atuais selecionados no inventário por categoria/escopo; a data documental isolada não comprova vigência jurídica.</a:t>
            </a:r>
          </a:p>
          <a:p>
            <a:r>
              <a:t>CNPJ 55563624000109 · Finalidade e limites de derivativos · Resumo do histórico: {"count": 3, "dates": ["2025-01-31", "2026-01-31", "2026-04-30"], "document_count": 3, "sources": [{"document_id": "1192614", "title": "Regulamento", "reference_date": "2026-04-30", "version": "1", "page": "14", "url": "https://fnet.bmfbovespa.com.br/fnet/publico/visualizarDocumento?id=1192614", "sha256": "f56e63ace0acde41d2f47fb48f1ac7f3f7df5e2d32de092d7c5e075a52516632"}, {"document_id": "1178840", "title": "Demonstrações Financeiras", "reference_date": "2026-01-31", "version": "1", "page": 25, "url": "https://fnet.bmfbovespa.com.br/fnet/publico/visualizarDocumento?id=1178840", "sha256": "c458e98664c5c907ddb5a05a94b120bed4e05295b2bfc420f5ba69af0a229abe"}, {"document_id": "891861", "title": "Demonstrações Financeiras", "reference_date": "2025-01-31", "version": "1", "page": 26, "url": "https://fnet.bmfbovespa.com.br/fnet/publico/visualizarDocumento?id=891861", "sha256": "e9cb9e6ddbe505fe068cfcac33605165a98313489de0d3ce6d4d238263c3f3e7"}], "reference": {"path": "history/55563624000109.json", "criterion_id": "hedge", "total_count": 3, "preview_count": 3, "full_text_deferred": true, "sha256": "7835d573fb58a3c19adf5b8ecc2aee2bdbb9a88f7a0c0209b5f262b64c7522e3"}}</a:t>
            </a:r>
          </a:p>
          <a:p>
            <a:r>
              <a:t>CNPJ 62552447000120 · Finalidade e limites de derivativos · Regulamento · ID 1200623 · 21/05/2026 · versão Consolidado21/05/2026 aprovado pelo ato1200625 · p. 14 · AnexoI4.10.1 · https://fnet.bmfbovespa.com.br/fnet/publico/visualizarDocumento?id=1200623</a:t>
            </a:r>
          </a:p>
          <a:p>
            <a:r>
              <a:t>CNPJ 62552447000120 · Finalidade e limites de derivativos · Excerto da fonte:</a:t>
            </a:r>
          </a:p>
          <a:p>
            <a:r>
              <a:t>4.10.1 O uso de derivativos está restrito a operações que visem à proteção patrimonial ou, desde que não resulte em exposição a risco de capital, à troca de indexador e/ou do índice de referência. 4.11 Sem prejuízo de limites mais restritivos definidos neste Regulamento, o Gestor deverá observar, ainda, os seguintes limites de concentração para a composição da Carteira: (i) Até 100% (cem por cento) da parcela do Patrimônio Líquido investida em Direitos Creditórios poderão ser alocados em Direitos Creditórios originados ou cedidos pelo Administrador, Gestor e</a:t>
            </a:r>
          </a:p>
          <a:p>
            <a:r>
              <a:t>CNPJ 62552447000120 · Finalidade e limites de derivativos · Motivo: Cláusula primária localizada e citada, mas sua lista/condições extensas não admitem uma síntese literal curta confirmada. O trecho integral permanece nas fontes.</a:t>
            </a:r>
          </a:p>
          <a:p>
            <a:r>
              <a:t>CNPJ 62552447000120 · Finalidade e limites de derivativos · Versão e prevalência: Leitura específica das cláusulas indicadas; condições e conflitos preservados. Seleção documental atual não comprova vigência jurídica por data isolada.</a:t>
            </a:r>
          </a:p>
          <a:p>
            <a:r>
              <a:t>CNPJ 63953620000165 · Finalidade e limites de derivativos · Anexo ao Regulamento · ID 1222863 · 2026-06-02 · versão 1 · p. 7 · https://fnet.bmfbovespa.com.br/fnet/publico/visualizarDocumento?id=1222863</a:t>
            </a:r>
          </a:p>
          <a:p>
            <a:r>
              <a:t>CNPJ 63953620000165 · Finalidade e limites de derivativos · Excerto da fonte:</a:t>
            </a:r>
          </a:p>
          <a:p>
            <a:r>
              <a:t>Anexo I ao Regulamento  CLASSE CONSIGNADO PRIVADO DO MT GLOBAL FUNDO DE INVESTIMENTO EM DIREITOS  CREDITÓRIOS RESPONSABILIDADE LIMITADA</a:t>
            </a:r>
          </a:p>
          <a:p>
            <a:r>
              <a:t> (i)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 (ii) No máximo, 50% (cinquenta por cento) do Patrimônio Líquido investido em Ativos Financeiros  de Liquidez de emissão ou que envolvam retenção de risco por parte do Administrador, Gestor,  e/ou suas partes relacionadas, observado ainda o disposto acima;</a:t>
            </a:r>
          </a:p>
          <a:p>
            <a:r>
              <a:t> (iii) No máximo, 100% (cem por cento) do Patrimônio Líquido investido em operações com  derivativos nos quais, inexistindo contraparte central, se tenha como contraparte o Gestor,  Consultora e/ou suas partes relacionadas, observado ainda o disposto acima;</a:t>
            </a:r>
          </a:p>
          <a:p>
            <a:r>
              <a:t> (iv) A Classe poderá investir até 100% (cem por cento) de seu Patrimônio Líquido em Direitos  Creditórios Não-Padronizados;</a:t>
            </a:r>
          </a:p>
          <a:p>
            <a:r>
              <a:t> (v) É vedada a aquisição de precatórios federais.</a:t>
            </a:r>
          </a:p>
          <a:p>
            <a:r>
              <a:t>CNPJ 63953620000165 · Finalidade e limites de derivativos · Condição: Documentos atuais selecionados no inventário por categoria/escopo; a data documental isolada não comprova vigência jurídica.</a:t>
            </a:r>
          </a:p>
          <a:p>
            <a:r>
              <a:t>CNPJ 63953620000165 · Finalidade e limites de derivativos · Motivo: Cláusula primária localizada e citada, mas sua lista/condições extensas não admitem uma síntese literal curta confirmada. O trecho integral permanece nas fontes.</a:t>
            </a:r>
          </a:p>
          <a:p>
            <a:r>
              <a:t>CNPJ 63953620000165 · Finalidade e limites de derivativos · Versão e prevalência: Documentos atuais selecionados no inventário por categoria/escopo; a data documental isolada não comprova vigência jurídica.</a:t>
            </a:r>
          </a:p>
          <a:p>
            <a:r>
              <a:t>CNPJ 63953620000165 · Finalidade e limites de derivativos · Resumo do histórico: {"count": 8, "dates": ["2026-04-28", "2026-05-08", "2026-05-15"], "document_count": 3, "sources": [{"document_id": "1327859", "title": "Demonstrações Financeiras - Fusão, cisão e incorporação", "reference_date": "2026-05-15", "version": "1", "page": 26, "url": "https://fnet.bmfbovespa.com.br/fnet/publico/visualizarDocumento?id=1327859", "sha256": "dca1c68babb97f887528c3e2e47596a9c30f507b067981a35655b2f2da9c8054"}, {"document_id": "1298691", "title": "Demonstrações Financeiras - Fusão, cisão e incorporação", "reference_date": "2026-05-08", "version": "1", "page": 26, "url": "https://fnet.bmfbovespa.com.br/fnet/publico/visualizarDocumento?id=1298691", "sha256": "58c570d9b8d4d265330d3db3ea81c435b8e44a6dab4002aa37790652a1ee9819"}, {"document_id": "1282180", "title": "Demonstrações Financeiras - Fusão, cisão e incorporação", "reference_date": "2026-04-28", "version": "1", "page": 27, "url": "https://fnet.bmfbovespa.com.br/fnet/publico/visualizarDocumento?id=1282180", "sha256": "afaaa0e6809be4385e5bdb6c911aac582032c5bdbac3d7750234bf9eaf00438a"}], "reference": {"path": "history/63953620000165.json", "criterion_id": "hedge", "total_count": 8, "preview_count": 3, "full_text_deferred": true, "sha256": "a7b89077f5e21098c2d601c303faabc3ff6b9729f89d8afecdc60fe1404720c1"}}</a:t>
            </a:r>
          </a:p>
          <a:p>
            <a:r>
              <a:t>CNPJ 54871427000194 · Prioridade do hedge e reserva de MTM · Motivo: Não localizada uma cláusula material para este critério nos textos identificados e processados. A ausência de resultado não comprova inexistência da regra.</a:t>
            </a:r>
          </a:p>
          <a:p>
            <a:r>
              <a:t>CNPJ 60010416000112 · Prioridade do hedge e reserva de MTM · Motivo: Não localizada uma cláusula material para este critério nos textos identificados e processados. A ausência de resultado não comprova inexistência da regra.</a:t>
            </a:r>
          </a:p>
          <a:p>
            <a:r>
              <a:t>CNPJ 62696791000193 · Prioridade do hedge e reserva de MTM · Motivo: Não localizada uma cláusula material para este critério nos textos identificados e processados. A ausência de resultado não comprova inexistência da regra.</a:t>
            </a:r>
          </a:p>
          <a:p>
            <a:r>
              <a:t>CNPJ 55563624000109 · Prioridade do hedge e reserva de MTM · Motivo: Não localizada uma cláusula material para este critério nos textos identificados e processados. A ausência de resultado não comprova inexistência da regra.</a:t>
            </a:r>
          </a:p>
          <a:p>
            <a:r>
              <a:t>CNPJ 62552447000120 · Prioridade do hedge e reserva de MTM · Motivo: Não localizada uma cláusula material para este critério nos textos identificados e processados. A ausência de resultado não comprova inexistência da regra.</a:t>
            </a:r>
          </a:p>
          <a:p>
            <a:r>
              <a:t>CNPJ 63953620000165 · Prioridade do hedge e reserva de MTM · Motivo: Não localizada uma cláusula material para este critério nos textos identificados e processados. A ausência de resultado não comprova inexistência da regra.</a:t>
            </a:r>
          </a:p>
          <a:p>
            <a:r>
              <a:t>CNPJ 54871427000194 · Administrador, gestor e custodiante · Regulamento · ID 670691 · 2024-04-28 · versão 1 · p. 1 · 1.1 · https://fnet.bmfbovespa.com.br/fnet/publico/visualizarDocumento?id=670691</a:t>
            </a:r>
          </a:p>
          <a:p>
            <a:r>
              <a:t>CNPJ 54871427000194 · Administrador, gestor e custodiante · Excerto da fonte:</a:t>
            </a:r>
          </a:p>
          <a:p>
            <a:r>
              <a:t>1.1 CONSIGNADO DELTA RECEIVABLES I FUNDO DE INVESTIMENTO EM DIREITOS CREDITÓRIOS  (“FUNDO”), regido pela Lei nº 10.406, de 10 de janeiro de 2002, conf orme alterada (“Código Civil”),  pela parte geral e o Anexo Normativo II da Resolução nº 175, de 23 de dezembro de 2022, conforme  alterada, da Comissão de Valores Mobiliários (respectivamente, “CVM” e “Resolução CVM 175”), terá  como principais características:</a:t>
            </a:r>
          </a:p>
          <a:p>
            <a:r>
              <a:t> Classe de Cotas Classe única.</a:t>
            </a:r>
          </a:p>
          <a:p>
            <a:r>
              <a:t> Indeterminado, exceto se de outra f orma vier a ser deliberado pelos cotistas  Prazo de Duração  reunidos em assembleia geral de cotistas.</a:t>
            </a:r>
          </a:p>
          <a:p>
            <a:r>
              <a:t> BTG Pactual Serviços Financeiros S.A. Distribuidora de Títulos e Valores  Mobiliários, instituição f inanceira, com sede na Cidade e Estado do Rio de  Janeiro, na Praia de Botafogo, nº 501, 5º andar (parte), Torre Corcovado,  ADMINISTRADOR  Botafogo, CEP 22250-040, inscrita no CNPJ sob o nº 59.281.253/0001-23 e  credenciada como administradora de carteira, de acordo com o Ato Declaratório  CVM nº 8.695, de 20 de março de 2006 (“ADMINISTRADOR”).</a:t>
            </a:r>
          </a:p>
          <a:p>
            <a:r>
              <a:t> BTG Pactual Asset Management S.A. Distribuidora de Títulos e Valores  Mobiliários, inscrita no CNPJ/ME sob o nº 29.650.082/0001-00, com sede  Cidade e Estado do Rio de Janeiro, na Praia de Botafogo, n.º 501, 5° andar,  devidamente autorizada à prestação dos serviços de administração de carteira  GESTOR  de títulos e valores mobiliários por meio d o Ato Declaratório número 5.968,  expedido em 10 de maio de 2000 (“GESTOR” e, quando ref erido  conjuntamente e indistintamente com o ADMINISTRADOR, os “Prestadores  de Serviços Essenciais”).</a:t>
            </a:r>
          </a:p>
          <a:p>
            <a:r>
              <a:t> O FUNDO, seus cotistas, os distribuidores de cotas por conta e ordem, seu  GESTOR, seu ADMINISTRADOR e os demais prestadores de serviço do  FUNDO e/ou da CLASSE obrigam-se a resolver, por meio de arbitragem, de  acordo com o Regulamento de Arbitragem da Câmara de Arbitragem do  Mercado da B3 (“Regulamento CAM B3” e “CAM B3”, respectivamente), toda  e qualquer disputa ou controvérsia que possa surgir entre eles, relacionada ou  oriunda, em especial, da aplicação, validade, eficácia, interpretação, violação  e seus ef eitos, das disposições contidas no Regulamento e seus Anexos, nas  normas editadas pela CVM que lhe sejam aplicáveis e nos instrumentos entre  si f irmados (“Arbitragem”).</a:t>
            </a:r>
          </a:p>
          <a:p>
            <a:r>
              <a:t> (i) A Arbitragem será de direito, com a aplicação das normas da República  Federativa do Brasil, terá sede no Município de São Paulo, será  Foro Aplicável conduzida em língua portuguesa e de f orma confidencial. O tribunal  arbitral será constituído por 3 (três) árbitros, sendo um deles  presidente, escolhidos nos termos do Regulamento CAM B3.</a:t>
            </a:r>
          </a:p>
          <a:p>
            <a:r>
              <a:t> (ii) As despesas processuais iniciais deverão ser rateadas entre as partes,  arcando cada polo processual com metade dos valores necessários,  sem prejuízo à possibilidade de adiantamento pelas partes  interessadas, resolvendo-se as indef inições nos termos do  Regulamento CAM B3. A sentença arbitral deverá determinar a  responsabilidade final pelas despesas de acordo com a sucumbência  de cada parte, as quais deverão incluir as taxas administrativas,  honorários de árbitros e de peritos e despesas com diligências  processuais e f ornecimento de garantias que sejam determinadas  expressamente pelo tribunal arbitral. É vedada a imposição de  honorários de sucumbência, bem como a determinação de indenização</a:t>
            </a:r>
          </a:p>
          <a:p>
            <a:r>
              <a:t>CNPJ 54871427000194 · Administrador, gestor e custodiante · Regulamento · ID 670691 · 2024-04-28 · versão 1 · p. 7 · https://fnet.bmfbovespa.com.br/fnet/publico/visualizarDocumento?id=670691</a:t>
            </a:r>
          </a:p>
          <a:p>
            <a:r>
              <a:t>CNPJ 54871427000194 · Administrador, gestor e custodiante · Excerto da fonte:</a:t>
            </a:r>
          </a:p>
          <a:p>
            <a:r>
              <a:t>Banco BTG Pactual S.A., instituição f inanceira, com sede na Cidade e  Estado do Rio de Janeiro, na Praia de Botafogo, nº 501, 5º andar (parte),  Custódia Torre Corcovado, Botafogo, CEP 22250-040, inscrita no CNPJ sob o nº</a:t>
            </a:r>
          </a:p>
          <a:p>
            <a:r>
              <a:t> 30.306.294/0001-45 e credenciado como custodiante, de acordo com o  Ato Declaratório nº 7.204, de 25 de abril de 2003 (“CUSTODIANTE”).</a:t>
            </a:r>
          </a:p>
          <a:p>
            <a:r>
              <a:t> Tesouraria, Controladoria e ADMINISTRADOR.</a:t>
            </a:r>
          </a:p>
          <a:p>
            <a:r>
              <a:t> Escrituração  Subclasses Única.</a:t>
            </a:r>
          </a:p>
          <a:p>
            <a:r>
              <a:t>CNPJ 54871427000194 · Administrador, gestor e custodiante · Regulamento · ID 670691 · 2024-04-28 · versão 1 · p. 38 · https://fnet.bmfbovespa.com.br/fnet/publico/visualizarDocumento?id=670691</a:t>
            </a:r>
          </a:p>
          <a:p>
            <a:r>
              <a:t>CNPJ 54871427000194 · Administrador, gestor e custodiante · Excerto da fonte:</a:t>
            </a:r>
          </a:p>
          <a:p>
            <a:r>
              <a:t>“ADMINISTRADOR”: BTG Pactual Serviços Financeiros S.A. Distribuidora de Títulos e Valores Mobiliários, instituição com sede no Município do Rio de Janeiro, Estado do Rio de Janeiro, à Praia de Botafogo, nº 501, 5º andar – parte, inscrita no CNPJ sob o nº 59.281.253/0001-23, autorizada a funcionar pelo BACEN e autorizada pela CVM para a atividade de administração de carteiras de valores mobiliários, de acordo com o Ato Declaratório nº 8.695, de 20 de março de 2006, ou seu sucessor a qualquer título ;</a:t>
            </a:r>
          </a:p>
          <a:p>
            <a:r>
              <a:t>CNPJ 54871427000194 · Administrador, gestor e custodiante · Condição: Documentos atuais selecionados no inventário por categoria/escopo; a data documental isolada não comprova vigência jurídica.</a:t>
            </a:r>
          </a:p>
          <a:p>
            <a:r>
              <a:t>CNPJ 54871427000194 · Administrador, gestor e custodiante · Versão e prevalência: Documentos atuais selecionados no inventário por categoria/escopo; a data documental isolada não comprova vigência jurídica.</a:t>
            </a:r>
          </a:p>
          <a:p>
            <a:r>
              <a:t>CNPJ 54871427000194 · Administrador, gestor e custodiante · Resumo do histórico: {"count": 2, "dates": ["2024-04-19"], "document_count": 2, "sources": [{"document_id": "670687", "title": "Instrumento Particular de Constituição/Encerramento do Fundo", "reference_date": "2024-04-19", "version": "1", "page": 1, "url": "https://fnet.bmfbovespa.com.br/fnet/publico/visualizarDocumento?id=670687", "sha256": "999f2a47d39f7022b0fcee3d16fd1db33948537b897e92c4c9e14b436bf5eb96"}, {"document_id": "670689", "title": "Regulamento", "reference_date": "2024-04-19", "version": "1", "page": 1, "clause": "1.1", "url": "https://fnet.bmfbovespa.com.br/fnet/publico/visualizarDocumento?id=670689", "sha256": "891bc9bc5d87bbc02ec139077a84d2702eb81ea02035fb71d24f5b8366b94a0b"}], "reference": {"path": "history/54871427000194.json", "criterion_id": "providers", "total_count": 2, "preview_count": 2, "full_text_deferred": true, "sha256": "35d7cd99be50c7287c9fb675cf4f2e736002315295a225a9efa79c8d9186d874"}}</a:t>
            </a:r>
          </a:p>
          <a:p>
            <a:r>
              <a:t>CNPJ 60010416000112 · Administrador, gestor e custodiante · Regulamento · ID 1051393 · 2025-10-09 · versão 1 · p. 8 · https://fnet.bmfbovespa.com.br/fnet/publico/visualizarDocumento?id=1051393</a:t>
            </a:r>
          </a:p>
          <a:p>
            <a:r>
              <a:t>CNPJ 60010416000112 · Administrador, gestor e custodiante · Excerto da fonte:</a:t>
            </a:r>
          </a:p>
          <a:p>
            <a:r>
              <a:t>Tipo de Condomínio Fechado.</a:t>
            </a:r>
          </a:p>
          <a:p>
            <a:r>
              <a:t> Prazo de Duração Indeterminado.</a:t>
            </a:r>
          </a:p>
          <a:p>
            <a:r>
              <a:t> Classe de Investimento  Não.</a:t>
            </a:r>
          </a:p>
          <a:p>
            <a:r>
              <a:t> em Cotas  Tipo “Financeiro”.</a:t>
            </a:r>
          </a:p>
          <a:p>
            <a:r>
              <a:t> Classificação ANBIMA  Foco de atuação “Créditos Consignados”.</a:t>
            </a:r>
          </a:p>
          <a:p>
            <a:r>
              <a:t> O objetivo da classe é proporcionar aos seus Cotistas a valorização de suas Cotas  por meio da aplicação de seu Patrimônio Líquido na aquisição de: (i) Direitos  Creditórios que atendam aos Critérios de Elegibilidade, estabelecidos no Capítulo  4 abaixo, e (ii) Ativos Financeiros de Liquidez, observados todos os limites de  Objetivo composição e diversificação da Carteira da Classe, estabelecidos neste  Regulamento e na regulamentação aplicável.</a:t>
            </a:r>
          </a:p>
          <a:p>
            <a:r>
              <a:t> O objetivo da Classe não representa, sob qualquer hipótese, promessa, garantia  ou sugestão do Fundo ou de seus Prestadores de Serviços Essenciais quanto à  segurança, rentabilidade e liquidez dos títulos integrantes de sua carteira.</a:t>
            </a:r>
          </a:p>
          <a:p>
            <a:r>
              <a:t> Destinado exclusivamente a um único cotista ou grupo de cotistas vinculados por  Público-Alvo  interesse único e indissociável, classificados como Investidores Prof issionais.</a:t>
            </a:r>
          </a:p>
          <a:p>
            <a:r>
              <a:t> Banco BTG Pactual S.A., instituição financeira, com sede no município e Estado  do Rio de Janeiro, na Praia de Botafogo, nº 501, Torre Corcovado, 5º andar (parte),  Custódia e Tesouraria Botafogo, CEP 22.250-040, inscrita no CNPJ sob o nº 30.306.294/0001-45 e  credenciado como custodiante, de acordo com o Ato Declaratório nº 7.204, de 25  de abril de 2003 (“Custodiante”).</a:t>
            </a:r>
          </a:p>
          <a:p>
            <a:r>
              <a:t> Tesouraria,  Controladoria e Administrador.</a:t>
            </a:r>
          </a:p>
          <a:p>
            <a:r>
              <a:t> Escrituração  Subclasses Sênior e Subordinada, nos termos do Capítulo 5 e respectivos Apêndices.</a:t>
            </a:r>
          </a:p>
          <a:p>
            <a:r>
              <a:t> O valor de cada emissão de Cotas, volume e valor unitário da Cota, bem como o  Emissão e Regime de regime de distribuição, seguirão o disposto no instrumento que aprova a emissão  Distribuição de Cotas de Cotas, que disporá acerca da eventual existência de direito de preferência dos  Cotistas.</a:t>
            </a:r>
          </a:p>
          <a:p>
            <a:r>
              <a:t> Capital Autorizado Conf orme previsto nos Apêndices.</a:t>
            </a:r>
          </a:p>
          <a:p>
            <a:r>
              <a:t> As Cotas poderão ser admitidas à negociação em bolsa de valores ou entidade de  Negociação  balcão organizado, conf orme previsto nos Apêndices.</a:t>
            </a:r>
          </a:p>
          <a:p>
            <a:r>
              <a:t> Cálculo do Valor da Cota Conf orme Capítulo 6 deste Anexo e respectivos Apêndices.</a:t>
            </a:r>
          </a:p>
          <a:p>
            <a:r>
              <a:t> A distribuição de quaisquer ganhos e rendimentos da Classe aos Cotistas será  Distribuição de  f eita exclusivamente mediante a amortização e/ou o resgate de Cotas, observado  Proventos  o disposto no Regulamento, neste Anexo e respectivos Apêndices.</a:t>
            </a:r>
          </a:p>
          <a:p>
            <a:r>
              <a:t> Utilização de Ativos Não é permitida a integralização de Cotas, no todo ou em parte, com Direitos BTG Pactual SAC: 0800 772 28 27 - Ouvidoria: 0800 722 00 48 - btgpactual.com 8</a:t>
            </a:r>
          </a:p>
          <a:p>
            <a:r>
              <a:t>CNPJ 60010416000112 · Administrador, gestor e custodiante · Regulamento · ID 1051393 · 2025-10-09 · versão 1 · p. 1 · https://fnet.bmfbovespa.com.br/fnet/publico/visualizarDocumento?id=1051393</a:t>
            </a:r>
          </a:p>
          <a:p>
            <a:r>
              <a:t>CNPJ 60010416000112 · Administrador, gestor e custodiante · Excerto da fonte:</a:t>
            </a:r>
          </a:p>
          <a:p>
            <a:r>
              <a:t>BTG Pactual Asset Management S.A. Distribuidora de Títulos e Valores  Mobiliários, sociedade anônima, com sede no município do Rio de Janeiro,  Estado do Rio de Janeiro, na Praia de Botafogo, nº 501, Torre Corcovado, 5º andar</a:t>
            </a:r>
          </a:p>
          <a:p>
            <a:r>
              <a:t> (parte), CEP 22.250-040, inscrita no CNPJ sob o nº 29.650.082/0001-00,  GESTOR  devidamente credenciada junto à CVM para operar como administradora de  carteira de valores mobiliários nos termos do Ato Declaratório CVM nº 5.968, de  10 de maio de 2000 (“Gestor” e, quando referido conjuntamente e indistintamente  com o Administrador, os “Prestadores de Serviços Essenciais”).</a:t>
            </a:r>
          </a:p>
          <a:p>
            <a:r>
              <a:t>CNPJ 60010416000112 · Administrador, gestor e custodiante · Regulamento · ID 1051393 · 2025-10-09 · versão 1 · p. 45 · https://fnet.bmfbovespa.com.br/fnet/publico/visualizarDocumento?id=1051393</a:t>
            </a:r>
          </a:p>
          <a:p>
            <a:r>
              <a:t>CNPJ 60010416000112 · Administrador, gestor e custodiante · Excerto da fonte:</a:t>
            </a:r>
          </a:p>
          <a:p>
            <a:r>
              <a:t>“Gestor”: a BTG Pactual Asset Management S.A. Distribuidora de Títulos e Valores Mobiliários, sociedade anônima, com sede no município do Rio de Janeiro, Estado do Rio de Janeiro, na Praia de Botafogo, nº 501, Torre Corcovado, 5º andar (parte), CEP 22.250-040, inscrita no CNPJ sob o nº 29.650.082/0001-00, devidamente credenciada junto à CVM para operar como administrador de carteira de valores mobiliários nos termos do Ato Declaratório CVM nº 5.968, de 10 de maio de 2000;</a:t>
            </a:r>
          </a:p>
          <a:p>
            <a:r>
              <a:t>CNPJ 60010416000112 · Administrador, gestor e custodiante · Condição: Documentos atuais selecionados no inventário por categoria/escopo; a data documental isolada não comprova vigência jurídica.</a:t>
            </a:r>
          </a:p>
          <a:p>
            <a:r>
              <a:t>CNPJ 60010416000112 · Administrador, gestor e custodiante · Versão e prevalência: Documentos atuais selecionados no inventário por categoria/escopo; a data documental isolada não comprova vigência jurídica.</a:t>
            </a:r>
          </a:p>
          <a:p>
            <a:r>
              <a:t>CNPJ 60010416000112 · Administrador, gestor e custodiante · Resumo do histórico: {"count": 1, "dates": ["2025-05-12"], "document_count": 1, "sources": [{"document_id": "1004656", "title": "AGE", "reference_date": "2025-05-12", "version": "1", "page": 4, "url": "https://fnet.bmfbovespa.com.br/fnet/publico/visualizarDocumento?id=1004656", "sha256": "f6c9c009f6170e2b29f074b98522accec73f0c40efbf11f9ec2c8d3f1402616b"}], "reference": {"path": "history/60010416000112.json", "criterion_id": "providers", "total_count": 1, "preview_count": 1, "full_text_deferred": true, "sha256": "8e2bd813f4c51cf01f6bfaad164bafe69d2bbb192f753eac92da3a01c2e63046"}}</a:t>
            </a:r>
          </a:p>
          <a:p>
            <a:r>
              <a:t>CNPJ 62696791000193 · Administrador, gestor e custodiante · Regulamento · ID 1143317 · 2026-03-20 · versão 1 · p. 1 · https://fnet.bmfbovespa.com.br/fnet/publico/visualizarDocumento?id=1143317</a:t>
            </a:r>
          </a:p>
          <a:p>
            <a:r>
              <a:t>CNPJ 62696791000193 · Administrador, gestor e custodiante · Excerto da fonte:</a:t>
            </a:r>
          </a:p>
          <a:p>
            <a:r>
              <a:t>BTG Pactual Asset Management S.A. Distribuidora de Títulos e Valores  Mobiliários, com sede no município e Estado do Rio de Janeiro, na Praia de  Botafogo, nº 501, Torre Corcovado, 5º andar (parte), Botafogo, inscrito no  CNPJ sob o nº 29.650.082/0001-00, autorizado à prestação dos serviços de  Gestor  administração de carteira de títulos e valores mobiliários de acordo com o Ato  Declaratório nº 5.968, de 10 de maio de 2000 (“Gestor” e, quando ref erido  conjuntamente com o Administrador, os “Prestadores de Serviços  Essenciais”).</a:t>
            </a:r>
          </a:p>
          <a:p>
            <a:r>
              <a:t>CNPJ 62696791000193 · Administrador, gestor e custodiante · Regulamento · ID 1143317 · 2026-03-20 · versão 1 · p. 1 · https://fnet.bmfbovespa.com.br/fnet/publico/visualizarDocumento?id=1143317</a:t>
            </a:r>
          </a:p>
          <a:p>
            <a:r>
              <a:t>CNPJ 62696791000193 · Administrador, gestor e custodiante · Excerto da fonte:</a:t>
            </a:r>
          </a:p>
          <a:p>
            <a:r>
              <a:t>BTG Pactual Serviços Financeiros S.A. Distribuidora de Títulos e Valores  Mobiliários, sociedade anônima, com sede no município e Estado do Rio de  Janeiro, na Praia de Botafogo, nº 501, 5º andar (parte), Torre Corcovado,  Administrador Botafogo, CEP 22250-040, inscrita no CNPJ sob o nº 59.281.253/0001-23 e  credenciada como Administradora de carteira, de acordo com o Ato Declaratório  CVM nº 8.695, de 20 de março de 2006 (“Administrador”), responsável pela  administração f iduciária.</a:t>
            </a:r>
          </a:p>
          <a:p>
            <a:r>
              <a:t>CNPJ 62696791000193 · Administrador, gestor e custodiante · Regulamento · ID 1143317 · 2026-03-20 · versão 1 · p. 7 · https://fnet.bmfbovespa.com.br/fnet/publico/visualizarDocumento?id=1143317</a:t>
            </a:r>
          </a:p>
          <a:p>
            <a:r>
              <a:t>CNPJ 62696791000193 · Administrador, gestor e custodiante · Excerto da fonte:</a:t>
            </a:r>
          </a:p>
          <a:p>
            <a:r>
              <a:t>Banco BTG Pactual S.A., instituição financeira, com sede no município e  Estado do Rio de Janeiro, na Praia de Botafogo, nº 501, 5º andar (parte),  Custódia e Tesouraria Torre Corcovado, Botafogo, CEP 22250-040, inscrita no CNPJ sob o nº</a:t>
            </a:r>
          </a:p>
          <a:p>
            <a:r>
              <a:t> 30.306.294/0001-45 e credenciada como custodiante, de acordo com o  Ato Declaratório nº 7.204, de 25 de abril de 2003 (“Custodiante”).</a:t>
            </a:r>
          </a:p>
          <a:p>
            <a:r>
              <a:t>CNPJ 62696791000193 · Administrador, gestor e custodiante · Condição: Documentos atuais selecionados no inventário por categoria/escopo; a data documental isolada não comprova vigência jurídica.</a:t>
            </a:r>
          </a:p>
          <a:p>
            <a:r>
              <a:t>CNPJ 62696791000193 · Administrador, gestor e custodiante · Versão e prevalência: Documentos atuais selecionados no inventário por categoria/escopo; a data documental isolada não comprova vigência jurídica.</a:t>
            </a:r>
          </a:p>
          <a:p>
            <a:r>
              <a:t>CNPJ 55563624000109 · Administrador, gestor e custodiante · Regulamento · ID 1192614 · 2026-04-30 · versão 1 · p. 1 · https://fnet.bmfbovespa.com.br/fnet/publico/visualizarDocumento?id=1192614</a:t>
            </a:r>
          </a:p>
          <a:p>
            <a:r>
              <a:t>CNPJ 55563624000109 · Administrador, gestor e custodiante · Excerto da fonte:</a:t>
            </a:r>
          </a:p>
          <a:p>
            <a:r>
              <a:t>Polígono Capital Ltda., sociedade de responsabilidade limitada, com sede no  município e estado de São Paulo, na Avenida Brigadeiro Faria Lima, n° 2601, 12º andar,  Jardim Paulistano, CEP 01452-000, inscrita no CNPJ sob nº 43.241.789/0001-85 e  GESTOR autorizada à prestação do serviço de administração de carteiras de valores mobiliários  pela CVM, de acordo com o Ato Declaratório CVM nº 19.368, expedido em 7 de  dezembro de 2021 (“GESTOR” e, quando referido conjuntamente e indistintamente  com o ADMINISTRADOR, os “Prestadores de Serviços Essenciais”).</a:t>
            </a:r>
          </a:p>
          <a:p>
            <a:r>
              <a:t>CNPJ 55563624000109 · Administrador, gestor e custodiante · Regulamento · ID 1192614 · 2026-04-30 · versão 1 · p. 1 · https://fnet.bmfbovespa.com.br/fnet/publico/visualizarDocumento?id=1192614</a:t>
            </a:r>
          </a:p>
          <a:p>
            <a:r>
              <a:t>CNPJ 55563624000109 · Administrador, gestor e custodiante · Excerto da fonte:</a:t>
            </a:r>
          </a:p>
          <a:p>
            <a:r>
              <a:t>BTG Pactual Serviços Financeiros S.A. Distribuidora de Títulos e Valores Mobiliários,  sociedade anônima, com sede no município e estado do Rio de Janeiro, na Praia de  Botafogo, nº 501, 5º andar (parte), Torre Corcovado, Botafogo, CEP 22250-040, inscrita  ADMINISTRADOR no Cadastro Nacional da Pessoa Jurídica (“CNPJ”) sob o nº 59.281.253/0001-23 e  credenciada como administradora de carteira, de acordo com o Ato Declaratório CVM  nº 8.695, de 20 de março de 2006 (“ADMINISTRADOR”).</a:t>
            </a:r>
          </a:p>
          <a:p>
            <a:r>
              <a:t>CNPJ 55563624000109 · Administrador, gestor e custodiante · Regulamento · ID 1192614 · 2026-04-30 · versão 1 · p. 41 · https://fnet.bmfbovespa.com.br/fnet/publico/visualizarDocumento?id=1192614</a:t>
            </a:r>
          </a:p>
          <a:p>
            <a:r>
              <a:t>CNPJ 55563624000109 · Administrador, gestor e custodiante · Excerto da fonte:</a:t>
            </a:r>
          </a:p>
          <a:p>
            <a:r>
              <a:t>“ADMINISTRADOR”: BTG Pactual Serviços Financeiros S.A. Distribuidora de Títulos e Valores Mobiliários, instituição  com sede no Município do Rio de Janeiro, Estado do Rio de Janeiro, à Praia de Botafogo, nº 501, 5º andar – parte, inscrita  no CNPJ sob o nº 59.281.253/0001-23, autorizada a funcionar pelo BACEN e autorizada pela CVM para a atividade de  administração de carteiras de valores mobiliários, de acordo com o Ato Declaratório nº 8.695, de 20 de março de 2006,  ou seu sucessor a qualquer título;</a:t>
            </a:r>
          </a:p>
          <a:p>
            <a:r>
              <a:t>CNPJ 55563624000109 · Administrador, gestor e custodiante · Condição: Documentos atuais selecionados no inventário por categoria/escopo; a data documental isolada não comprova vigência jurídica.</a:t>
            </a:r>
          </a:p>
          <a:p>
            <a:r>
              <a:t>CNPJ 55563624000109 · Administrador, gestor e custodiante · Versão e prevalência: Documentos atuais selecionados no inventário por categoria/escopo; a data documental isolada não comprova vigência jurídica.</a:t>
            </a:r>
          </a:p>
          <a:p>
            <a:r>
              <a:t>CNPJ 55563624000109 · Administrador, gestor e custodiante · Resumo do histórico: {"count": 6, "dates": ["2024-12-30", "2025-01-31", "2026-01-31"], "document_count": 3, "sources": [{"document_id": "1178840", "title": "Demonstrações Financeiras", "reference_date": "2026-01-31", "version": "1", "page": 3, "url": "https://fnet.bmfbovespa.com.br/fnet/publico/visualizarDocumento?id=1178840", "sha256": "c458e98664c5c907ddb5a05a94b120bed4e05295b2bfc420f5ba69af0a229abe"}, {"document_id": "891861", "title": "Demonstrações Financeiras", "reference_date": "2025-01-31", "version": "1", "page": 11, "url": "https://fnet.bmfbovespa.com.br/fnet/publico/visualizarDocumento?id=891861", "sha256": "e9cb9e6ddbe505fe068cfcac33605165a98313489de0d3ce6d4d238263c3f3e7"}, {"document_id": "811323", "title": "Anúncio de Encerramento", "reference_date": "2024-12-30", "version": "1", "page": 1, "url": "https://fnet.bmfbovespa.com.br/fnet/publico/visualizarDocumento?id=811323", "sha256": "ebc6bc661be5189acffb3c3e352de2aea0a8ca8431011d1237e1ae19da4f9c79"}], "reference": {"path": "history/55563624000109.json", "criterion_id": "providers", "total_count": 6, "preview_count": 3, "full_text_deferred": true, "sha256": "7835d573fb58a3c19adf5b8ecc2aee2bdbb9a88f7a0c0209b5f262b64c7522e3"}}</a:t>
            </a:r>
          </a:p>
          <a:p>
            <a:r>
              <a:t>CNPJ 62552447000120 · Administrador, gestor e custodiante · Regulamento · ID 1200623 · 2026-05-21 · versão 1 · p. 1 · https://fnet.bmfbovespa.com.br/fnet/publico/visualizarDocumento?id=1200623</a:t>
            </a:r>
          </a:p>
          <a:p>
            <a:r>
              <a:t>CNPJ 62552447000120 · Administrador, gestor e custodiante · Excerto da fonte:</a:t>
            </a:r>
          </a:p>
          <a:p>
            <a:r>
              <a:t>BTG Pactual Asset Management S.A. Distribuidora de Títulos e Valores  Mobiliários, sociedade anônima, com sede no município e Estado do Rio de  Janeiro, na Praia de Botafogo, n.º 501, 5º andar (parte), Torre Corcovado, bairro  Botafogo, CEP 22250-040, inscrita no CNPJ sob o n.º 29.650.082/0001-00 e  Gestor  credenciada como administradora de carteira de valores mobiliários , categoria  gestor de recursos, de acordo com o Ato Declaratório CVM n.º 5.968, de 10 de  maio de 2000 (“Gestor” e, quando ref erido conjuntamente e indistintamente  com o Administrador, “Prestadores de Serviços Essenciais”).</a:t>
            </a:r>
          </a:p>
          <a:p>
            <a:r>
              <a:t>CNPJ 62552447000120 · Administrador, gestor e custodiante · Regulamento · ID 1200623 · 2026-05-21 · versão 1 · p. 1 · https://fnet.bmfbovespa.com.br/fnet/publico/visualizarDocumento?id=1200623</a:t>
            </a:r>
          </a:p>
          <a:p>
            <a:r>
              <a:t>CNPJ 62552447000120 · Administrador, gestor e custodiante · Excerto da fonte:</a:t>
            </a:r>
          </a:p>
          <a:p>
            <a:r>
              <a:t>BTG Pactual Serviços Financeiros S.A. Distribuidora de Títulos e Valores  Mobiliários, sociedade anônima, com sede no município e Estado do Rio de  Janeiro, na Praia de Botafogo, n.º 501, 5º andar (parte), Torre Corcovado, bairro  Administrador Botafogo, CEP 22250-040, inscrita no CNPJ sob o n.º 59.281.253/0001-23 e  credenciada como administradora de carteira de valores mobiliários, categoria  administrador fiduciário, de acordo com o Ato Declaratório CVM n.º 8.695, de 20  de março de 2006 (“Administrador”).</a:t>
            </a:r>
          </a:p>
          <a:p>
            <a:r>
              <a:t>CNPJ 62552447000120 · Administrador, gestor e custodiante · Instrumento Particular de Alteração do Regulamento · ID 1200625 · 2026-05-21 · versão 1 · p. 1 · https://fnet.bmfbovespa.com.br/fnet/publico/visualizarDocumento?id=1200625</a:t>
            </a:r>
          </a:p>
          <a:p>
            <a:r>
              <a:t>CNPJ 62552447000120 · Administrador, gestor e custodiante · Excerto da fonte:</a:t>
            </a:r>
          </a:p>
          <a:p>
            <a:r>
              <a:t>A Administradora, BTG PACTUAL SERVIÇOS FINANCEIROS S.A. DTVM, com  sede na Praia de Botafogo, n.º 501, 5º andar (parte), na Cidade e Estado do Rio de  Janeiro, e inscrita no CNPJ sob o número 59.281.253/0001-23, na qualidade de  administradora da V CDT 1 FUNDO DE INVESTIMENTO EM DIREITOS  CREDITÓRIOS RESPONSABILIDADE LIMITADA, inscrita no CNPJ/MF sob o  número 62.552.447/0001-20 ("Classe"), serve-se da presente para:</a:t>
            </a:r>
          </a:p>
          <a:p>
            <a:r>
              <a:t>CNPJ 62552447000120 · Administrador, gestor e custodiante · Condição: Documentos atuais selecionados no inventário por categoria/escopo; a data documental isolada não comprova vigência jurídica.</a:t>
            </a:r>
          </a:p>
          <a:p>
            <a:r>
              <a:t>CNPJ 62552447000120 · Administrador, gestor e custodiante · Versão e prevalência: Documentos atuais selecionados no inventário por categoria/escopo; a data documental isolada não comprova vigência jurídica.</a:t>
            </a:r>
          </a:p>
          <a:p>
            <a:r>
              <a:t>CNPJ 62552447000120 · Administrador, gestor e custodiante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"providers", "total_count": 1, "preview_count": 1, "full_text_deferred": true, "sha256": "d95db8c0613d67ee84118c734588665265ea6b02f86a0318d6a844cbe1d0f82f"}}</a:t>
            </a:r>
          </a:p>
          <a:p>
            <a:r>
              <a:t>CNPJ 63953620000165 · Administrador, gestor e custodiante · Anexo ao Regulamento · ID 1222863 · 2026-06-02 · versão 1 · p. 2 · https://fnet.bmfbovespa.com.br/fnet/publico/visualizarDocumento?id=1222863</a:t>
            </a:r>
          </a:p>
          <a:p>
            <a:r>
              <a:t>CNPJ 63953620000165 · Administrador, gestor e custodiante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Administrador, gestor e custodiante · Condição: Documentos atuais selecionados no inventário por categoria/escopo; a data documental isolada não comprova vigência jurídica.</a:t>
            </a:r>
          </a:p>
          <a:p>
            <a:r>
              <a:t>CNPJ 63953620000165 · Administrador, gestor e custodiante · Motivo: Cláusula primária localizada e citada, mas sua lista/condições extensas não admitem uma síntese literal curta confirmada. O trecho integral permanece nas fontes.</a:t>
            </a:r>
          </a:p>
          <a:p>
            <a:r>
              <a:t>CNPJ 63953620000165 · Administrador, gestor e custodiante · Versão e prevalência: Documentos atuais selecionados no inventário por categoria/escopo; a data documental isolada não comprova vigência jurídica.</a:t>
            </a:r>
          </a:p>
          <a:p>
            <a:r>
              <a:t>CNPJ 63953620000165 · Administrador, gestor e custodiante · Resumo do histórico: {"count": 8, "dates": ["2026-04-28", "2026-05-08", "2026-05-15"], "document_count": 3, "sources": [{"document_id": "1327859", "title": "Demonstrações Financeiras - Fusão, cisão e incorporação", "reference_date": "2026-05-15", "version": "1", "page": 9, "url": "https://fnet.bmfbovespa.com.br/fnet/publico/visualizarDocumento?id=1327859", "sha256": "dca1c68babb97f887528c3e2e47596a9c30f507b067981a35655b2f2da9c8054"}, {"document_id": "1298691", "title": "Demonstrações Financeiras - Fusão, cisão e incorporação", "reference_date": "2026-05-08", "version": "1", "page": 9, "url": "https://fnet.bmfbovespa.com.br/fnet/publico/visualizarDocumento?id=1298691", "sha256": "58c570d9b8d4d265330d3db3ea81c435b8e44a6dab4002aa37790652a1ee9819"}, {"document_id": "1282180", "title": "Demonstrações Financeiras - Fusão, cisão e incorporação", "reference_date": "2026-04-28", "version": "1", "page": 9, "url": "https://fnet.bmfbovespa.com.br/fnet/publico/visualizarDocumento?id=1282180", "sha256": "afaaa0e6809be4385e5bdb6c911aac582032c5bdbac3d7750234bf9eaf00438a"}], "reference": {"path": "history/63953620000165.json", "criterion_id": "providers", "total_count": 8, "preview_count": 3, "full_text_deferred": true, "sha256": "a7b89077f5e21098c2d601c303faabc3ff6b9729f89d8afecdc60fe1404720c1"}}</a:t>
            </a:r>
          </a:p>
          <a:p>
            <a:r>
              <a:t>CNPJ 54871427000194 · Substituição de prestadores · Motivo: Não localizada uma cláusula material para este critério nos textos identificados e processados. A ausência de resultado não comprova inexistência da regra.</a:t>
            </a:r>
          </a:p>
          <a:p>
            <a:r>
              <a:t>CNPJ 60010416000112 · Substituição de prestadores · Regulamento · ID 1051393 · 2025-10-09 · versão 1 · p. 3 · 1.8 · https://fnet.bmfbovespa.com.br/fnet/publico/visualizarDocumento?id=1051393</a:t>
            </a:r>
          </a:p>
          <a:p>
            <a:r>
              <a:t>CNPJ 60010416000112 · Substituição de prestadores · Excerto da fonte:</a:t>
            </a:r>
          </a:p>
          <a:p>
            <a:r>
              <a:t>1.8. Os Cotistas, o Administrador, o Gestor e o Agente de  Retenção/Cobrança estão plenamente conscientes dos termos e efeitos  desta cláusula compromissória e concordam irrevogavelmente que a  arbitragem será a única f orma de resolução de disputas relacionada a  este Regulamento. Sem prejuízo da validade desta cláusula  compromissória, as partes elegem o foro da comarca do Rio de Janeiro,  estado do Rio de Janeiro, com a renúncia expressa a qualquer outra, se  e quando isso f or necessário para fins de: (i) executar as obrigações para  as quais haja disponibilidade imediata de execução judicial; (ii) obter  ordens de execução específica ou liminares de caráter preventivo,  temporário ou permanente, tais como a prestação de caução para um  processo arbitral iniciado ou em andamento entre as partes da  arbitragem e/ou assegurar a existência e ef icácia do processo arbitral;</a:t>
            </a:r>
          </a:p>
          <a:p>
            <a:r>
              <a:t> e/ou (iii) apresentar um pedido de execução específica ou outra ordem,  sendo certo que, uma vez obtida a execução específica ou outra ordem,  o Tribunal Arbitral a ser instituído ou que já esteja instituído, conforme o  caso, assumirá a competência plena e exclusiva para decidir sobre toda  e qualquer questão, quer relacionada ao processo ou ao mérito, que  possa ter dado origem à ordem ou execução específica solicitada, e o  respectivo processo será suspenso até que o Tribunal Arbitral profira  uma decisão parcial ou def initiva sobre a questão. A propositura de  qualquer ação judicial de acordo com este item não resultará em  renúncia à arbitragem ou à competência da Câmara.</a:t>
            </a:r>
          </a:p>
          <a:p>
            <a:r>
              <a:t>CNPJ 60010416000112 · Substituição de prestadores · Condição: Documentos atuais selecionados no inventário por categoria/escopo; a data documental isolada não comprova vigência jurídica.</a:t>
            </a:r>
          </a:p>
          <a:p>
            <a:r>
              <a:t>CNPJ 60010416000112 · Substituição de prestadores · Motivo: Cláusula primária localizada e citada, mas sua lista/condições extensas não admitem uma síntese literal curta confirmada. O trecho integral permanece nas fontes.</a:t>
            </a:r>
          </a:p>
          <a:p>
            <a:r>
              <a:t>CNPJ 60010416000112 · Substituição de prestadores · Versão e prevalência: Documentos atuais selecionados no inventário por categoria/escopo; a data documental isolada não comprova vigência jurídica.</a:t>
            </a:r>
          </a:p>
          <a:p>
            <a:r>
              <a:t>CNPJ 60010416000112 · Substituição de prestadores · Resumo do histórico: {"count": 1, "dates": ["2025-03-20"], "document_count": 1, "sources": [{"document_id": "993786", "title": "Regulamento", "reference_date": "2025-03-20", "version": "1", "page": 3, "clause": "1.8", "url": "https://fnet.bmfbovespa.com.br/fnet/publico/visualizarDocumento?id=993786", "sha256": "fd0fdd369a195510d81f81f505195a0b09e5f43522a990afa7d58c4f872921c8"}], "reference": {"path": "history/60010416000112.json", "criterion_id": "replacement", "total_count": 1, "preview_count": 1, "full_text_deferred": true, "sha256": "8e2bd813f4c51cf01f6bfaad164bafe69d2bbb192f753eac92da3a01c2e63046"}}</a:t>
            </a:r>
          </a:p>
          <a:p>
            <a:r>
              <a:t>CNPJ 62696791000193 · Substituição de prestadores · Regulamento · ID 1143317 · 2026-03-20 · versão 1 · p. 26 · 12.10 · https://fnet.bmfbovespa.com.br/fnet/publico/visualizarDocumento?id=1143317</a:t>
            </a:r>
          </a:p>
          <a:p>
            <a:r>
              <a:t>CNPJ 62696791000193 · Substituição de prestadores · Excerto da fonte:</a:t>
            </a:r>
          </a:p>
          <a:p>
            <a:r>
              <a:t>12.10 Na hipótese de renúncia, o Administrador fica obrigado a permanecer no exercício de suas funções até  a averbação, no cartório de registro de imóveis, nas matrículas referentes aos bens imóveis e direitos  integrantes da carteira de ativos, da ata da assembleia de Cotistas que eleger seu substituto e sucessor  na propriedade f iduciária desses bens e direitos.</a:t>
            </a:r>
          </a:p>
          <a:p>
            <a:r>
              <a:t>CNPJ 62696791000193 · Substituição de prestadores · Regulamento · ID 1143317 · 2026-03-20 · versão 1 · p. 26 · 12.10.1 · https://fnet.bmfbovespa.com.br/fnet/publico/visualizarDocumento?id=1143317</a:t>
            </a:r>
          </a:p>
          <a:p>
            <a:r>
              <a:t>CNPJ 62696791000193 · Substituição de prestadores · Excerto da fonte:</a:t>
            </a:r>
          </a:p>
          <a:p>
            <a:r>
              <a:t>12.10.1 É f acultado aos Cotistas que detenham ao menos 5% (cinco por cento) das Cotas emitidas, a  convocação da assembleia de Cotistas prevista no item 12.4 acima, caso o Administrador não  a convoque, no prazo de 10 (dez) dias contados da renúncia.</a:t>
            </a:r>
          </a:p>
          <a:p>
            <a:r>
              <a:t>CNPJ 62696791000193 · Substituição de prestadores · Condição: Documentos atuais selecionados no inventário por categoria/escopo; a data documental isolada não comprova vigência jurídica.</a:t>
            </a:r>
          </a:p>
          <a:p>
            <a:r>
              <a:t>CNPJ 62696791000193 · Substituição de prestadores · Versão e prevalência: Documentos atuais selecionados no inventário por categoria/escopo; a data documental isolada não comprova vigência jurídica.</a:t>
            </a:r>
          </a:p>
          <a:p>
            <a:r>
              <a:t>CNPJ 55563624000109 · Substituição de prestadores · Motivo: Não localizada uma cláusula material para este critério nos textos identificados e processados. A ausência de resultado não comprova inexistência da regra.</a:t>
            </a:r>
          </a:p>
          <a:p>
            <a:r>
              <a:t>CNPJ 62552447000120 · Substituição de prestadores · Motivo: Não localizada uma cláusula material para este critério nos textos identificados e processados. A ausência de resultado não comprova inexistência da regra.</a:t>
            </a:r>
          </a:p>
          <a:p>
            <a:r>
              <a:t>CNPJ 63953620000165 · Substituição de prestadores · Anexo ao Regulamento · ID 1222863 · 2026-06-02 · versão 1 · p. 15 · https://fnet.bmfbovespa.com.br/fnet/publico/visualizarDocumento?id=1222863</a:t>
            </a:r>
          </a:p>
          <a:p>
            <a:r>
              <a:t>CNPJ 63953620000165 · Substituição de prestadores · Excerto da fonte:</a:t>
            </a:r>
          </a:p>
          <a:p>
            <a:r>
              <a:t>Anexo I ao Regulamento  CLASSE CONSIGNADO PRIVADO DO MT GLOBAL FUNDO DE INVESTIMENTO EM DIREITOS  CREDITÓRIOS RESPONSABILIDADE LIMITADA</a:t>
            </a:r>
          </a:p>
          <a:p>
            <a:r>
              <a:t> (vii) inobservância pelo Administrador, pelo Custodiante e/ou pelo Gestor de seus deveres e obrigações  previstos neste Regulamento, bem como suas atribuições específicas nos outros contratos existentes  referentes ao funcionamento da Classe, verificada pelo Administrador, pelo Custodiante e/ou pelo  Gestor ou por qualquer dos Cotistas, desde que, uma vez notificados para sanar ou justificar o  descumprimento, o Administrador, o Custodiante e/ou o Gestor, conforme o caso, não o sane no prazo  de 5 (cinco) Dias Úteis contados do recebimento da referida notificação;</a:t>
            </a:r>
          </a:p>
          <a:p>
            <a:r>
              <a:t> (viii) aquisição, pela Classe, de Direitos Creditórios que estejam em desacordo com as Condições de Cessão e  os Critérios de Elegibilidade previstos neste Regulamento no momento de sua aquisição;</a:t>
            </a:r>
          </a:p>
          <a:p>
            <a:r>
              <a:t> (ix) alteração na classificação de risco das Cotas, se houver, que, para qualquer dado período após a  classificação de risco inicial das Cotas e/ou após a deliberação da Assembleia Especial de Cotistas a  respeito de um rebaixamento da classificação de risco das Cotas, implique no rebaixamento de dois  níveis na escala de risco pertinente elaborada pela Agência Classificadora de Risco; e/ou</a:t>
            </a:r>
          </a:p>
          <a:p>
            <a:r>
              <a:t> (x) renúncia do Gestor, sem que tenham sido tomadas tempestivamente as providências previstas no  CAPÍTULO 2 da parte geral deste Regulamento;</a:t>
            </a:r>
          </a:p>
          <a:p>
            <a:r>
              <a:t> (xi) no caso de o Contrato de Endosso celebrado com o Endossante, por qualquer razão, (a) seja declarado  inválido, nulo ou ineficaz por ordem judicial e/ou qualquer autoridade governamental; ou (b) tenha sua  validade ou eficácia, total ou parcialmente, contestada pelo Endossante, judicial ou administrativamente</a:t>
            </a:r>
          </a:p>
          <a:p>
            <a:r>
              <a:t> (xii) em caso de não renovação, cancelamento, revogação ou suspensão de concessões, autorizações,  subvenções, autorizações ou licenças, relevantes para o exercício regular dos negócios realizados pelo  Endossante, incluindo o Convênio Consignado Privado, e as autorizações regulatórias concedidas pelo  Banco Central, observado, caso aplicável, os prazos de cura dispostos no Contrato de Endosso;</a:t>
            </a:r>
          </a:p>
          <a:p>
            <a:r>
              <a:t> (xiii) no caso de o Endossante ou o Agente de Retenção/Cobrança e/ou seus acionistas controladores diretos  e/ou indiretos (pessoas físicas ou jurídicas), quotistas, diretores, conselheiros e/ou representantes e  colaboradores do Endossante ou seus acionistas controladores, (a) terem contra si uma decisão judicial  transitada em julgado envolvendo (1) crimes contra a propriedade, (2) crimes de falsificação, (3) crimes  contra o sistema financeiro nacional, (4) crimes contra o mercado de capitais, (5) crimes contra a  seguridade social, (6) crimes contra as relações de consumo e (7) crimes previstos na lei de falências;</a:t>
            </a:r>
          </a:p>
          <a:p>
            <a:r>
              <a:t> e/ou (b) violar as normas anticorrupção aplicáveis, especialmente a Lei nº 9.613, de 3 de março de 1998,  conforme alterada ou substituída de tempos em tempos, e qualquer outra a que estejam sujeitos, quer  contratual ou legalmente, desde que a violação mencionada seja considerada como, especialmente, mas  não limitada a (1) financiamento, crédito, patrocínio ou outra forma de subvenção à prática de atos  ilícitos previstos na legislação anticorrupção, de combate à lavagem de dinheiro, organizações  antissociais e/ou crime organizado; (2) promessa, oferta ou entrega, direta ou indiretamente, de  qualquer objeto de valor a um funcionário público ou terceiros para obter ou manter negócios ou para  obter qualquer vantagem indevida; (3) aceitação ou compromisso de aceitar, de quem quer que seja,  por si ou por outrem, qualquer pagamento, doação, compensação, vantagens financeiras ou não  financeiras ou benefícios de qualquer tipo, direta ou indiretamente relacionados com o objeto da Classe,  que constituam uma prática ilegal, que violem as boas condutas, a ética, a moral e constitua corrupção  nos termos das leis dos países da sede e onde existam filiais das partes envolvidas, das partes  contratantes; e</a:t>
            </a:r>
          </a:p>
          <a:p>
            <a:r>
              <a:t> (xiv) caso o cotista das Cotas Subordinadas deixe de ser titular das Cotas Subordinadas durante todo prazo  de duração da Classe;</a:t>
            </a:r>
          </a:p>
          <a:p>
            <a:r>
              <a:t> (xv) no caso de não serem realizados pagamentos de amortização e/ou resgate de Cotas Seniores, nos  termos, prazos e condições previstos no presente Regulamento e nos respectivos Apêndices e  Suplementos, não sanados em até 2 (dois) Dias Úteis contados do prazo final do respectivo evento;</a:t>
            </a:r>
          </a:p>
          <a:p>
            <a:r>
              <a:t> (xvi) no caso de pagamento de resgate e/ou amortização de Cotas Subordinadas em desacordo com os  termos, prazos e condições previstos no presente Regulamento e no respectivo Apêndice.</a:t>
            </a:r>
          </a:p>
          <a:p>
            <a:r>
              <a:t>CNPJ 63953620000165 · Substituição de prestadores · Condição: Documentos atuais selecionados no inventário por categoria/escopo; a data documental isolada não comprova vigência jurídica.</a:t>
            </a:r>
          </a:p>
          <a:p>
            <a:r>
              <a:t>CNPJ 63953620000165 · Substituição de prestadores · Motivo: Cláusula primária localizada e citada, mas sua lista/condições extensas não admitem uma síntese literal curta confirmada. O trecho integral permanece nas fontes.</a:t>
            </a:r>
          </a:p>
          <a:p>
            <a:r>
              <a:t>CNPJ 63953620000165 · Substituição de prestadores · Versão e prevalência: Documentos atuais selecionados no inventário por categoria/escopo; a data documental isolada não comprova vigência jurídica.</a:t>
            </a:r>
          </a:p>
          <a:p>
            <a:r>
              <a:t>CNPJ 54871427000194 · Rating por subclasse e downgrade · Regulamento · ID 670691 · 28/04/2024 · versão Regulamento — referência 28/04/2024 · p. 15 · Anexo I, 5.12 · https://fnet.bmfbovespa.com.br/fnet/publico/visualizarDocumento?id=670691</a:t>
            </a:r>
          </a:p>
          <a:p>
            <a:r>
              <a:t>CNPJ 54871427000194 · Rating por subclasse e downgrade · Excerto da fonte:</a:t>
            </a:r>
          </a:p>
          <a:p>
            <a:r>
              <a:t>5.12 As Cotas não serão classificadas por Agência Classificadora de Risco em funcionamento no País, uma vez que a Classe não será destinada ao público em geral. CAPÍTULO 6 – ATRIBUIÇÃO DE RESULTADO ÀS COTAS E CÁLCULO DO VALOR UNITÁRIO 6.1 As Cotas terão seu Valor Unitário calculado e divulgado pelo ADMINISTRADOR mensalmente, no último Dia Útil de cada mês, no fechamento dos mercados, a partir do mês seguinte à Data da 1ª Integralização e até a data de resgate das Cotas ou na data de liquidação da Classe Única, conforme o caso. 6.2 A partir da Data da 1ª Integralização de Cotas, o Valor Unitário das Cotas s erá calculado no fechamento do último Dia Útil de cada mês, equivalerá ao resultado da divisão do valor do Patrimônio Líquido apurado para o respectivo dia, pelo número de Cotas em circulação na respectiva data de cálculo . CAPÍTULO 7 – AMORTIZAÇÃO E RESGATE DAS COTAS 7.1 A distribuição de quaisquer ganhos e rendimentos d a Classe aos Cotistas será f eita exclusivamente mediante a Amortização e/ou o resgate de Cotas, observado o disposto neste Capítulo. 7.2 As amortizações de Cotas serão realizadas a qualquer tempo, a critério do GESTOR, observada a disponibilidade de recursos da Classe Única e a</a:t>
            </a:r>
          </a:p>
          <a:p>
            <a:r>
              <a:t>CNPJ 54871427000194 · Rating por subclasse e downgrade · Versão e prevalência: Leitura específica das cláusulas indicadas; condições e conflitos preservados. Seleção documental atual não comprova vigência jurídica por data isolada.</a:t>
            </a:r>
          </a:p>
          <a:p>
            <a:r>
              <a:t>CNPJ 54871427000194 · Rating por subclasse e downgrade · Resumo do histórico: {"count": 5, "dates": ["2024-12-31", "2025-01-01", "2025-12-31"], "document_count": 3, "sources": [{"document_id": "1151805", "title": "Demonstrações Financeiras", "reference_date": "2025-12-31", "version": "1", "page": 25, "url": "https://fnet.bmfbovespa.com.br/fnet/publico/visualizarDocumento?id=1151805", "sha256": "f1cea70b152968bf96ef9221b27225953cb20aeef487b2798db3c25e11b528d4"}, {"document_id": "869529", "title": "Demonstrações Financeiras", "reference_date": "2025-01-01", "version": "1", "page": 25, "url": "https://fnet.bmfbovespa.com.br/fnet/publico/visualizarDocumento?id=869529", "sha256": "9a93a9369ac8efdbc54ff8fcee3ccac3abf88edab4807b9323d3852450771b2a"}, {"document_id": "870070", "title": "Demonstrações Financeiras", "reference_date": "2024-12-31", "version": "1", "page": 25, "url": "https://fnet.bmfbovespa.com.br/fnet/publico/visualizarDocumento?id=870070", "sha256": "9a93a9369ac8efdbc54ff8fcee3ccac3abf88edab4807b9323d3852450771b2a"}], "reference": {"path": "history/54871427000194.json", "criterion_id": "rating", "total_count": 5, "preview_count": 3, "full_text_deferred": true, "sha256": "35d7cd99be50c7287c9fb675cf4f2e736002315295a225a9efa79c8d9186d874"}}</a:t>
            </a:r>
          </a:p>
          <a:p>
            <a:r>
              <a:t>CNPJ 60010416000112 · Rating por subclasse e downgrade · Demonstrações Financeiras - Fusão, cisão e incorporação · ID 1298690 · 2026-05-08 · versão 1 · p. 35 · https://fnet.bmfbovespa.com.br/fnet/publico/visualizarDocumento?id=1298690</a:t>
            </a:r>
          </a:p>
          <a:p>
            <a:r>
              <a:t>CNPJ 60010416000112 · Rating por subclasse e downgrade · Excerto da fonte:</a:t>
            </a:r>
          </a:p>
          <a:p>
            <a:r>
              <a:t>As Cotas Seniores poderão ser objeto de classificação de risco (rating) por Agência  Classificadora de Risco em funcionamento no país.</a:t>
            </a:r>
          </a:p>
          <a:p>
            <a:r>
              <a:t>CNPJ 60010416000112 · Rating por subclasse e downgrade · Condição: Documentos atuais selecionados no inventário por categoria/escopo; a data documental isolada não comprova vigência jurídica.</a:t>
            </a:r>
          </a:p>
          <a:p>
            <a:r>
              <a:t>CNPJ 60010416000112 · Rating por subclasse e downgrade · Versão e prevalência: Documentos atuais selecionados no inventário por categoria/escopo; a data documental isolada não comprova vigência jurídica.</a:t>
            </a:r>
          </a:p>
          <a:p>
            <a:r>
              <a:t>CNPJ 60010416000112 · Rating por subclasse e downgrade · Resumo do histórico: {"count": 5, "dates": ["2025-11-30", "2026-03-18", "2026-04-16"], "document_count": 3, "sources": [{"document_id": "1282181", "title": "Demonstrações Financeiras - Fusão, cisão e incorporação", "reference_date": "2026-04-16", "version": "1", "page": 38, "url": "https://fnet.bmfbovespa.com.br/fnet/publico/visualizarDocumento?id=1282181", "sha256": "b1c6566e43a00bcd00c8a7f30c77b7f86e351bd8e355bbea113f46d1dafda703"}, {"document_id": "1224477", "title": "Demonstrações Financeiras - Fusão, cisão e incorporação", "reference_date": "2026-03-18", "version": "1", "page": 37, "url": "https://fnet.bmfbovespa.com.br/fnet/publico/visualizarDocumento?id=1224477", "sha256": "0751bf0a75bc3b44c2748f5000226665c6ec6698a90c4dc6170b4e6c187759ae"}, {"document_id": "1126154", "title": "Demonstrações Financeiras", "reference_date": "2025-11-30", "version": "1", "page": 38, "url": "https://fnet.bmfbovespa.com.br/fnet/publico/visualizarDocumento?id=1126154", "sha256": "a01e7ccf88c548f12c95cba8526d7efbef6b585c112cd4668eca781c292090b0"}], "reference": {"path": "history/60010416000112.json", "criterion_id": "rating", "total_count": 5, "preview_count": 3, "full_text_deferred": true, "sha256": "8e2bd813f4c51cf01f6bfaad164bafe69d2bbb192f753eac92da3a01c2e63046"}}</a:t>
            </a:r>
          </a:p>
          <a:p>
            <a:r>
              <a:t>CNPJ 62696791000193 · Rating por subclasse e downgrade · Regulamento · ID 1143317 · 2026-03-20 · versão 1 · p. 3 · 2.1.2 · https://fnet.bmfbovespa.com.br/fnet/publico/visualizarDocumento?id=1143317</a:t>
            </a:r>
          </a:p>
          <a:p>
            <a:r>
              <a:t>CNPJ 62696791000193 · Rating por subclasse e downgrade · Excerto da fonte:</a:t>
            </a:r>
          </a:p>
          <a:p>
            <a:r>
              <a:t>2.1.2 Não obstante as atribuições previstas neste Regulamento e na regulamentação aplicável, cabe  ao Gestor praticar os atos necessários à gestão da carteira de ativos do Fundo, o que inclui,  mas não se limita, à contratação, em nome do Fundo ou da classe de cot as, dos seguintes  serviços: (a) intermediação de operações para carteira de ativos; (b) distribuição de cotas; (c)  consultoria de investimentos ou consultoria especializada; (d) classificação de risco por agência  de classificação de risco de crédito; (e) f ormador de mercado de classe f echada; (f ) cogestão  da carteira de ativos; (g) empresa especializada para administrar as locações ou arrendamentos  de imóveis rurais e a exploração do direito de superf ície, assim como para monitorar e</a:t>
            </a:r>
          </a:p>
          <a:p>
            <a:r>
              <a:t>CNPJ 62696791000193 · Rating por subclasse e downgrade · Regulamento · ID 1143317 · 2026-03-20 · versão 1 · p. 36 · 1.2 · https://fnet.bmfbovespa.com.br/fnet/publico/visualizarDocumento?id=1143317</a:t>
            </a:r>
          </a:p>
          <a:p>
            <a:r>
              <a:t>CNPJ 62696791000193 · Rating por subclasse e downgrade · Excerto da fonte:</a:t>
            </a:r>
          </a:p>
          <a:p>
            <a:r>
              <a:t>1.2. As Cotas Subordinadas Juniores serão subscritas e integralizadas por um único Cotista e/ou por Cotistas  vinculados por interesse único e indissociável, de forma que serão objeto de colocação privada, nos termos  do Compromisso de Investimento a ser f irmado pelo Cotista, dispensadas da classificação de risco e não  terão parâmetro de remuneração def inido.</a:t>
            </a:r>
          </a:p>
          <a:p>
            <a:r>
              <a:t>2. Emissão, Subscrição e Integralização das Cotas</a:t>
            </a:r>
          </a:p>
          <a:p>
            <a:r>
              <a:t>CNPJ 62696791000193 · Rating por subclasse e downgrade · Condição: Documentos atuais selecionados no inventário por categoria/escopo; a data documental isolada não comprova vigência jurídica.</a:t>
            </a:r>
          </a:p>
          <a:p>
            <a:r>
              <a:t>CNPJ 62696791000193 · Rating por subclasse e downgrade · Versão e prevalência: Documentos atuais selecionados no inventário por categoria/escopo; a data documental isolada não comprova vigência jurídica.</a:t>
            </a:r>
          </a:p>
          <a:p>
            <a:r>
              <a:t>CNPJ 55563624000109 · Rating por subclasse e downgrade · Regulamento · ID 1192614 · 30/04/2026 · versão Regulamento30/04/2026 · p. 44 · GlossárioTermo de Adesão · https://fnet.bmfbovespa.com.br/fnet/publico/visualizarDocumento?id=1192614</a:t>
            </a:r>
          </a:p>
          <a:p>
            <a:r>
              <a:t>CNPJ 55563624000109 · Rating por subclasse e downgrade · Excerto da fonte:</a:t>
            </a:r>
          </a:p>
          <a:p>
            <a:r>
              <a:t>Termo de Adesão”: documento elaborado nos termos do art. 29 da Resolução CVM 175, por meio do qual o Cotista adere a este Regulamento e que deve ser firmado quando de seu ingresso no FUNDO, declarando, inclusive, sem se limitar a, ter pleno conhecimento dos riscos envolvidos na operação, inclusive da possibilidade de perda total do capital investido, e da ausência de classificação de risco das Cotas subscritas; “Valor Unitário”: o valor individual das Cotas, equivalente a R$ 1.000,00 (um mil), na primeira Data de Emissão, calculado todo Dia Útil para efeito da definição de seu valor de integralização e</a:t>
            </a:r>
          </a:p>
          <a:p>
            <a:r>
              <a:t>CNPJ 55563624000109 · Rating por subclasse e downgrade · Versão e prevalência: Leitura específica das cláusulas indicadas; condições e conflitos preservados. Seleção documental atual não comprova vigência jurídica por data isolada.</a:t>
            </a:r>
          </a:p>
          <a:p>
            <a:r>
              <a:t>CNPJ 55563624000109 · Rating por subclasse e downgrade · Resumo do histórico: {"count": 2, "dates": ["2025-01-31", "2026-01-31"], "document_count": 2, "sources": [{"document_id": "1178840", "title": "Demonstrações Financeiras", "reference_date": "2026-01-31", "version": "1", "page": 22, "url": "https://fnet.bmfbovespa.com.br/fnet/publico/visualizarDocumento?id=1178840", "sha256": "c458e98664c5c907ddb5a05a94b120bed4e05295b2bfc420f5ba69af0a229abe"}, {"document_id": "891861", "title": "Demonstrações Financeiras", "reference_date": "2025-01-31", "version": "1", "page": 23, "url": "https://fnet.bmfbovespa.com.br/fnet/publico/visualizarDocumento?id=891861", "sha256": "e9cb9e6ddbe505fe068cfcac33605165a98313489de0d3ce6d4d238263c3f3e7"}], "reference": {"path": "history/55563624000109.json", "criterion_id": "rating", "total_count": 2, "preview_count": 2, "full_text_deferred": true, "sha256": "7835d573fb58a3c19adf5b8ecc2aee2bdbb9a88f7a0c0209b5f262b64c7522e3"}}</a:t>
            </a:r>
          </a:p>
          <a:p>
            <a:r>
              <a:t>CNPJ 62552447000120 · Rating por subclasse e downgrade · Regulamento · ID 1200623 · 21/05/2026 · versão Consolidado21/05/2026 aprovado pelo ato1200625 · p. 19 · AnexoI6.11 · https://fnet.bmfbovespa.com.br/fnet/publico/visualizarDocumento?id=1200623</a:t>
            </a:r>
          </a:p>
          <a:p>
            <a:r>
              <a:t>CNPJ 62552447000120 · Rating por subclasse e downgrade · Excerto da fonte:</a:t>
            </a:r>
          </a:p>
          <a:p>
            <a:r>
              <a:t>6.11 As Cotas não serão objeto de classif icação de risco . CAPÍTULO 7 – AMORTIZAÇÃO DAS COTAS 7.1 A distribuição de quaisquer ganhos e rendimentos d a Classe aos Cotistas será f eita exclusivamente mediante a Amortização, observado o disposto neste Capítulo. 7.2 As Cotas poderão ser amortizadas através de uma Amortização programada, se houver, conforme prevista nos Apêndices, caso aplicável (“Amortização Programada”), e por meio amortização extraordinária das Cotas, a ser realizada por (a) por decisão do Gestor, para: (i) reenquadramento da Carteira ao mínimo de Direitos Creditórios que deve ser detido pel</a:t>
            </a:r>
          </a:p>
          <a:p>
            <a:r>
              <a:t>CNPJ 62552447000120 · Rating por subclasse e downgrade · Versão e prevalência: Leitura específica das cláusulas indicadas; condições e conflitos preservados. Seleção documental atual não comprova vigência jurídica por data isolada.</a:t>
            </a:r>
          </a:p>
          <a:p>
            <a:r>
              <a:t>CNPJ 63953620000165 · Rating por subclasse e downgrade · Anexo ao Regulamento · ID 1222863 · 02/06/2026 · versão AnexoConsignadoPrivado02/06/2026 · p. 11 · 6.14 · https://fnet.bmfbovespa.com.br/fnet/publico/visualizarDocumento?id=1222863</a:t>
            </a:r>
          </a:p>
          <a:p>
            <a:r>
              <a:t>CNPJ 63953620000165 · Rating por subclasse e downgrade · Excerto da fonte:</a:t>
            </a:r>
          </a:p>
          <a:p>
            <a:r>
              <a:t>6.14 As Cotas poderão ser objeto de classificação de risco pela contratada pelo Gestor, desde que em comum acordo entre Gestor e Cotistas Subordinados em Assembleia Especial de Cotistas (“Agência Classificadora de Risco”). CAPÍTULO 7 – AMORTIZAÇÃO DAS COTAS 7.1 A distribuição de quaisquer ganhos e rendimentos da Classe aos Cotistas será feita exclusivamente mediante a Amortização de Cotas, observado o disposto neste Capítulo e nos Apêndices. 7.2 As Cotas poderão ser amortizadas através de uma Amortização por Regime de Caixa, se houver conforme prevista nos Apêndices; e por meio amortização extraordinária das Cotas, a ser realiz</a:t>
            </a:r>
          </a:p>
          <a:p>
            <a:r>
              <a:t>CNPJ 63953620000165 · Rating por subclasse e downgrade · Versão e prevalência: Leitura específica das cláusulas indicadas; condições e conflitos preservados. Seleção documental atual não comprova vigência jurídica por data isolada.</a:t>
            </a:r>
          </a:p>
          <a:p>
            <a:r>
              <a:t>CNPJ 63953620000165 · Rating por subclasse e downgrade · Resumo do histórico: {"count": 8, "dates": ["2026-04-28", "2026-05-08", "2026-05-15"], "document_count": 3, "sources": [{"document_id": "1327859", "title": "Demonstrações Financeiras - Fusão, cisão e incorporação", "reference_date": "2026-05-15", "version": "1", "page": 29, "url": "https://fnet.bmfbovespa.com.br/fnet/publico/visualizarDocumento?id=1327859", "sha256": "dca1c68babb97f887528c3e2e47596a9c30f507b067981a35655b2f2da9c8054"}, {"document_id": "1298691", "title": "Demonstrações Financeiras - Fusão, cisão e incorporação", "reference_date": "2026-05-08", "version": "1", "page": 30, "url": "https://fnet.bmfbovespa.com.br/fnet/publico/visualizarDocumento?id=1298691", "sha256": "58c570d9b8d4d265330d3db3ea81c435b8e44a6dab4002aa37790652a1ee9819"}, {"document_id": "1282180", "title": "Demonstrações Financeiras - Fusão, cisão e incorporação", "reference_date": "2026-04-28", "version": "1", "page": 30, "url": "https://fnet.bmfbovespa.com.br/fnet/publico/visualizarDocumento?id=1282180", "sha256": "afaaa0e6809be4385e5bdb6c911aac582032c5bdbac3d7750234bf9eaf00438a"}], "reference": {"path": "history/63953620000165.json", "criterion_id": "rating",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Hedge e prestadores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Finalidade e limites de derivativos · Regulamento · ID 670691 · 28/04/2024 · versão Regulamento — referência 28/04/2024 · p. 13 · Anexo I, 4.15–4.16 · https://fnet.bmfbovespa.com.br/fnet/publico/visualizarDocumento?id=670691</a:t>
            </a:r>
          </a:p>
          <a:p>
            <a:r>
              <a:t>CNPJ 54871427000194 · Finalidade e limites de derivativos · Excerto da fonte:</a:t>
            </a:r>
          </a:p>
          <a:p>
            <a:r>
              <a:t>4.15 A Classe poderá utilizar instrumentos derivativos, desde que com o objetivo de proteção patrimonial, ou, desde que não resulte em exposição a risco de capital, conforme definida no inciso XXIV Art. 3º da parte geral da Resolução CVM 175, troca de indexador a que os ativos estão indexados . 4.16 A Classe não realizará operações de day trade, assim consideradas aquelas iniciadas e encerradas no mesmo dia, independentemente de a Classe possuir estoque ou posição anterior do mesmo Ativo Financeiro. 4.17 É vedada qualquer forma de antecipação de recursos aos Endossantes para posterior reembolso pela Classe, seja pelo ADMINISTRADOR, GESTOR, CUSTODIANTE, consultora ou Originadores. 4.18 Exceto na medida em que eventualmente previsto nos Contratos de Cessão e/ou em instrumentos eventualmente celebrados entre a Classe e os Endossantes, os Endossantes não serão responsáveis em caso de eventual inadimplemento dos Direitos Creditórios por eles cedidos, sendo responsáveis, não obstante, apenas pela existência, certeza, conteúdo, exatidão, veracidade, legitimidade, validade e correta f ormalização dos Direitos Creditórios que cederem à Classe, nos termos da</a:t>
            </a:r>
          </a:p>
          <a:p>
            <a:r>
              <a:t>CNPJ 54871427000194 · Finalidade e limites de derivativos · Versão e prevalência: Leitura específica das cláusulas indicadas; condições e conflitos preservados. Seleção documental atual não comprova vigência jurídica por data isolada.</a:t>
            </a:r>
          </a:p>
          <a:p>
            <a:r>
              <a:t>CNPJ 54871427000194 · Finalidade e limites de derivativos · Resumo do histórico: {"count": 2, "dates": ["2024-04-19", "2024-04-28"], "document_count": 2, "sources": [{"document_id": "670691", "title": "Regulamento", "reference_date": "2024-04-28", "version": "1", "page": "13", "url": "https://fnet.bmfbovespa.com.br/fnet/publico/visualizarDocumento?id=670691", "sha256": "bf16dd7f1a62d5cdbf2e2d54fef81783783f7310fbc99c3a8f00459bdf9d037b"}, {"document_id": "670689", "title": "Regulamento", "reference_date": "2024-04-19", "version": "1", "page": 13, "clause": "4.15", "url": "https://fnet.bmfbovespa.com.br/fnet/publico/visualizarDocumento?id=670689", "sha256": "891bc9bc5d87bbc02ec139077a84d2702eb81ea02035fb71d24f5b8366b94a0b"}], "reference": {"path": "history/54871427000194.json", "criterion_id": "hedge", "total_count": 2, "preview_count": 2, "full_text_deferred": true, "sha256": "35d7cd99be50c7287c9fb675cf4f2e736002315295a225a9efa79c8d9186d874"}}</a:t>
            </a:r>
          </a:p>
          <a:p>
            <a:r>
              <a:t>CNPJ 60010416000112 · Finalidade e limites de derivativos · Regulamento · ID 1051393 · 2025-10-09 · versão 1 · p. 12 · 4.9 · https://fnet.bmfbovespa.com.br/fnet/publico/visualizarDocumento?id=1051393</a:t>
            </a:r>
          </a:p>
          <a:p>
            <a:r>
              <a:t>CNPJ 60010416000112 · Finalidade e limites de derivativos · Excerto da fonte:</a:t>
            </a:r>
          </a:p>
          <a:p>
            <a:r>
              <a:t>4.9 Sem prejuízo de limites mais restritivos definidos neste Regulamento, o Gestor deverá observar, ainda, os  seguintes limites de concentração para a composição da Carteira:</a:t>
            </a:r>
          </a:p>
          <a:p>
            <a:r>
              <a:t> (i ) Até 100% (cem por cento) da parcela do Patrimônio Líquido investida em Ativos  Financeiros de Liquidez poderá ser alocada em Ativos Financeiros de Liquidez de  emissão ou que envolvam retenção de risco por parte do Administrador, Gestor, e/ou  suas partes relacionadas; e</a:t>
            </a:r>
          </a:p>
          <a:p>
            <a:r>
              <a:t> (ii) Até 100% (cem por cento) da parcela do Patrimônio Líquido investida em operações  com derivativos poderá ser alocada em derivativos nos quais, inexistindo contraparte  central, se tenha como contraparte o Gestor e/ou suas partes relacionadas.</a:t>
            </a:r>
          </a:p>
          <a:p>
            <a:r>
              <a:t>CNPJ 60010416000112 · Finalidade e limites de derivativos · Regulamento · ID 1051393 · 2025-10-09 · versão 1 · p. 13 · 4.15 · https://fnet.bmfbovespa.com.br/fnet/publico/visualizarDocumento?id=1051393</a:t>
            </a:r>
          </a:p>
          <a:p>
            <a:r>
              <a:t>CNPJ 60010416000112 · Finalidade e limites de derivativos · Excerto da fonte:</a:t>
            </a:r>
          </a:p>
          <a:p>
            <a:r>
              <a:t>4.15 A Classe poderá utilizar instrumentos derivativos, observados os limites de concentração previstos neste  Regulamento, desde que com o objetivo de proteção patrimonial, ou, desde que não resulte em exposição  a risco de capital, conforme definida no inciso XXIV do Art. 3º da parte geral da Resolução CVM 175, troca  de indexador a que os ativos estão indexados e o índice de ref erência de cada Subclasse.</a:t>
            </a:r>
          </a:p>
          <a:p>
            <a:r>
              <a:t>CNPJ 60010416000112 · Finalidade e limites de derivativos · Regulamento · ID 1051393 · 2025-10-09 · versão 1 · p. 16 · 7.11 · https://fnet.bmfbovespa.com.br/fnet/publico/visualizarDocumento?id=1051393</a:t>
            </a:r>
          </a:p>
          <a:p>
            <a:r>
              <a:t>CNPJ 60010416000112 · Finalidade e limites de derivativos · Excerto da fonte:</a:t>
            </a:r>
          </a:p>
          <a:p>
            <a:r>
              <a:t>7.11 Sem prejuízo do disposto do disposto nos itens 7.1 a 7.10 acima, a partir da Data da 1ª Integralização de  Cotas até a liquidação integral das Obrigações da Classe, sempre preservando a manutenção da boa  ordem legal, administrativa e operacional da Classe, o Gestor obriga-se a utilizar os recursos disponíveis  na Conta de Movimentação da Classe e/ou mantidos em Ativos Financeiros de Liquidez, em cada Dia Útil,  de acordo com a seguinte ordem de prioridade de alocação, na forma dos itens e tabela abaixo, de modo  que cada um dos itens listado apenas será contemplado após o direcionamento do montante total  necessário para a satisfação dos itens anteriores, ressalvado, enquanto em curso um Evento de Avaliação  e/ou um Evento de Liquidação, o disposto no item 11.4.1 abaixo</a:t>
            </a:r>
          </a:p>
          <a:p>
            <a:r>
              <a:t> (i) entradas de recursos provenientes da integralização de Cotas e dos Direitos Creditórios e  Ativos Financeiros de Liquidez que compõem a carteira da Classe, durante o Período de  Investimento, na seguinte ordem:</a:t>
            </a:r>
          </a:p>
          <a:p>
            <a:r>
              <a:t> a. pagamento dos Encargos;</a:t>
            </a:r>
          </a:p>
          <a:p>
            <a:r>
              <a:t> b. pagamento de despesas relativas aos instrumentos derivativos, conf orme aplicável;</a:t>
            </a:r>
          </a:p>
          <a:p>
            <a:r>
              <a:t> c. aquisição de Direitos Creditórios, sempre que ofertado, em moeda corrente nacional, em  conf ormidade com a Política de Investimento descrita neste Regulamento, sem prejuízo  do disposto no item 4.12 acima; e  d. aquisição de Ativos Financeiros de Liquidez, observando-se a Política de Investimentos.</a:t>
            </a:r>
          </a:p>
          <a:p>
            <a:r>
              <a:t> (ii) entradas de recursos provenientes dos Direitos Creditórios e Ativos Financeiros de Liquidez  que compõem a carteira da Classe, após o término do Período de Investimento, na seguinte  ordem, observadas as seguintes condições:</a:t>
            </a:r>
          </a:p>
          <a:p>
            <a:r>
              <a:t> a. pagamento dos Encargos;</a:t>
            </a:r>
          </a:p>
          <a:p>
            <a:r>
              <a:t> b. pagamento de despesas relativas aos instrumentos derivativos, conf orme aplicável;</a:t>
            </a:r>
          </a:p>
          <a:p>
            <a:r>
              <a:t> c. pagamento da amortização do principal e dos rendimentos acumulados relacionados às  Cotas Seniores, de modo que, considerando, pro f orma, todas as amortizações  pretendidas, o percentual empregado para amortização das Cotas Seniores seja  equivalente à relação entre o Patrimônio Líquido Sênior dividido pelo Patrimônio Líquido  da Classe, com a devida observância dos termos e condições deste Regulamento, do  Apêndice e do Suplemento das Cotas Seniores;</a:t>
            </a:r>
          </a:p>
          <a:p>
            <a:r>
              <a:t> d. pagamento da amortização do principal e dos rendimentos acumulados relacionados às  Cotas Subordinadas, de modo que, considerando, pro f orma, todas as amortizações  pretendidas, o percentual empregado para amortização das Cotas Subordinadas seja  equivalente à relação entre o Patrimônio Líquido Subordinado dividido pelo Patrimônio  Líquido da Classe, com a devida observância dos termos e condições deste  Regulamento, do Apêndice e do Suplemento das Cotas Seniores e desde que  respeitados o Índice de Subordinação;</a:t>
            </a:r>
          </a:p>
          <a:p>
            <a:r>
              <a:t> e. aquisição de Ativos Financeiros, observado o limite de alocação previsto no item 4.7  deste Anexo I.</a:t>
            </a:r>
          </a:p>
          <a:p>
            <a:r>
              <a:t>CNPJ 60010416000112 · Finalidade e limites de derivativos · Condição: Documentos atuais selecionados no inventário por categoria/escopo; a data documental isolada não comprova vigência jurídica.</a:t>
            </a:r>
          </a:p>
          <a:p>
            <a:r>
              <a:t>CNPJ 60010416000112 · Finalidade e limites de derivativos · Versão e prevalência: Documentos atuais selecionados no inventário por categoria/escopo; a data documental isolada não comprova vigência jurídica.</a:t>
            </a:r>
          </a:p>
          <a:p>
            <a:r>
              <a:t>CNPJ 60010416000112 · Finalidade e limites de derivativos · Resumo do histórico: {"count": 2, "dates": ["2025-03-20", "2025-10-09"], "document_count": 2, "sources": [{"document_id": "1051393", "title": "Regulamento", "reference_date": "2025-10-09", "version": "1", "page": "13", "url": "https://fnet.bmfbovespa.com.br/fnet/publico/visualizarDocumento?id=1051393", "sha256": "8469d613078ffd5a6c1d217885d8a397a16342c0b937ae4aa24b106505f233ae"}, {"document_id": "993786", "title": "Regulamento", "reference_date": "2025-03-20", "version": "1", "page": 12, "clause": "4.9", "url": "https://fnet.bmfbovespa.com.br/fnet/publico/visualizarDocumento?id=993786", "sha256": "fd0fdd369a195510d81f81f505195a0b09e5f43522a990afa7d58c4f872921c8"}], "reference": {"path": "history/60010416000112.json", "criterion_id": "hedge", "total_count": 2, "preview_count": 2, "full_text_deferred": true, "sha256": "8e2bd813f4c51cf01f6bfaad164bafe69d2bbb192f753eac92da3a01c2e63046"}}</a:t>
            </a:r>
          </a:p>
          <a:p>
            <a:r>
              <a:t>CNPJ 62696791000193 · Finalidade e limites de derivativos · Regulamento · ID 1143317 · 20/03/2026 · versão Regulamento — referência 20/03/2026 · p. 15 · Anexo I, 4.28 e 4.30(i) · https://fnet.bmfbovespa.com.br/fnet/publico/visualizarDocumento?id=1143317</a:t>
            </a:r>
          </a:p>
          <a:p>
            <a:r>
              <a:t>CNPJ 62696791000193 · Finalidade e limites de derivativos · Excerto da fonte:</a:t>
            </a:r>
          </a:p>
          <a:p>
            <a:r>
              <a:t>4.28 A Classe pode aplicar recursos em instrumentos financeiros derivativos, exclusivamente para fins de proteção patrimonial, cuja exposição seja sempre, no máximo, o valor do Patrimônio Líquido. 4.29 A Classe pode emprestar ativos f inanceiros e valores mobiliários, desde que tais operações de empréstimo sejam cursadas exclusivamente por meio de serviço autorizado pelo Banco Central do Brasil ou pela CVM. 4.30 É vedado à Classe: (i) aplicar no exterior recursos captados no País; (ii) salvo aprovação em assembleia de Cotistas, a realização de operações quando caracterizada situação de conf lito de interesses entre: (a) a Classe, o Administrador ou o Gestor ou a Consultoria Especializada; (b) a Classe e os Cotistas que detenham participação correspondente a, no mínimo, 10% (dez por cento) do patrimônio da Classe; e (c) a Classe e o representante dos Cotistas; (iii) a aplicação de recursos em sociedades nas quais participem o Administrador, o Gestor, os consultores, os membros de comitês ou conselhos e os Cotistas titulares de Cotas representativas de 5% (cinco por cento) do patri</a:t>
            </a:r>
          </a:p>
          <a:p>
            <a:r>
              <a:t>CNPJ 62696791000193 · Finalidade e limites de derivativos · Regulamento · ID 1143317 · 20/03/2026 · versão Regulamento — referência 20/03/2026 · p. 27 · Anexo I, 12.11(x) · https://fnet.bmfbovespa.com.br/fnet/publico/visualizarDocumento?id=1143317</a:t>
            </a:r>
          </a:p>
          <a:p>
            <a:r>
              <a:t>CNPJ 62696791000193 · Finalidade e limites de derivativos · Excerto da fonte:</a:t>
            </a:r>
          </a:p>
          <a:p>
            <a:r>
              <a:t>(x) realizar operações com derivativos, exceto quando tais operações f orem realizadas exclusivamente para f ins de proteção patrimonial e desde que a exposição seja sempre, no máximo, o valor do Patrimônio Líquido. 12.11.1 A vedação prevista no item (v) acima não impede a aquisição de imóveis sobre os quais tenham sido constituídos ônus reais anteriormente ao seu ingresso no patrimônio . 12.12 É vedado ao Gestor o recebimento de qualquer remuneração, benefício ou vantagem, direta ou indiretamente, que potencialmente prejudique sua independência na tomada de decisão. Consultoria Especializada 12.13 O Gestor, conforme disposto no Anexo Normativo VI da Resolução 175, poderá contratar Consultoria Especializada para que preste os seguintes serviços (“Consultoria Especializada”): (i) Analisar, selecionar, avaliar e acompanhar, de acordo com a Política de Investimentos deste Anexo, os ativos integrantes ou que possam vir a integrar a carteira da classe do Fundo; (ii) Participar de negociações e propor negócios à classe, observada a Política de Investimentos constante deste Anexo;</a:t>
            </a:r>
          </a:p>
          <a:p>
            <a:r>
              <a:t>CNPJ 62696791000193 · Finalidade e limites de derivativos · Versão e prevalência: Leitura específica das cláusulas indicadas; condições e conflitos preservados. Seleção documental atual não comprova vigência jurídica por data isolada.</a:t>
            </a:r>
          </a:p>
          <a:p>
            <a:r>
              <a:t>CNPJ 55563624000109 · Finalidade e limites de derivativos · Regulamento · ID 1192614 · 2026-04-30 · versão 1 · p. 14 · 4.21 · https://fnet.bmfbovespa.com.br/fnet/publico/visualizarDocumento?id=1192614</a:t>
            </a:r>
          </a:p>
          <a:p>
            <a:r>
              <a:t>CNPJ 55563624000109 · Finalidade e limites de derivativos · Excerto da fonte:</a:t>
            </a:r>
          </a:p>
          <a:p>
            <a:r>
              <a:t>4.21 A Classe poderá utilizar instrumentos derivativos, desde que com o objetivo de proteção patrimonial, ou, desde  que não resulte em exposição a risco de capital, conforme definida no inciso XXIV do Art. 3º da parte geral da  Resolução CVM 175 ou em troca de indexador a que os ativos estão indexados.</a:t>
            </a:r>
          </a:p>
          <a:p>
            <a:r>
              <a:t>CNPJ 55563624000109 · Finalidade e limites de derivativos · Regulamento · ID 1192614 · 2026-04-30 · versão 1 · p. 39 · https://fnet.bmfbovespa.com.br/fnet/publico/visualizarDocumento?id=1192614</a:t>
            </a:r>
          </a:p>
          <a:p>
            <a:r>
              <a:t>CNPJ 55563624000109 · Finalidade e limites de derivativos · Excerto da fonte:</a:t>
            </a:r>
          </a:p>
          <a:p>
            <a:r>
              <a:t>(xxii) Operações com derivativos. A Classe poderá realizar operações com derivativos  exclusivamente com o objetivo de proteção patrimonial. As operações com derivativos, pela sua  própria natureza, acrescentam riscos à Carteira e poderão afetar negativamente a sua rentabilidade,  até o limite do Patrimônio Líquido.</a:t>
            </a:r>
          </a:p>
          <a:p>
            <a:r>
              <a:t>CNPJ 55563624000109 · Finalidade e limites de derivativos · Condição: Documentos atuais selecionados no inventário por categoria/escopo; a data documental isolada não comprova vigência jurídica.</a:t>
            </a:r>
          </a:p>
          <a:p>
            <a:r>
              <a:t>CNPJ 55563624000109 · Finalidade e limites de derivativos · Versão e prevalência: Documentos atuais selecionados no inventário por categoria/escopo; a data documental isolada não comprova vigência jurídica.</a:t>
            </a:r>
          </a:p>
          <a:p>
            <a:r>
              <a:t>CNPJ 55563624000109 · Finalidade e limites de derivativos · Resumo do histórico: {"count": 3, "dates": ["2025-01-31", "2026-01-31", "2026-04-30"], "document_count": 3, "sources": [{"document_id": "1192614", "title": "Regulamento", "reference_date": "2026-04-30", "version": "1", "page": "14", "url": "https://fnet.bmfbovespa.com.br/fnet/publico/visualizarDocumento?id=1192614", "sha256": "f56e63ace0acde41d2f47fb48f1ac7f3f7df5e2d32de092d7c5e075a52516632"}, {"document_id": "1178840", "title": "Demonstrações Financeiras", "reference_date": "2026-01-31", "version": "1", "page": 25, "url": "https://fnet.bmfbovespa.com.br/fnet/publico/visualizarDocumento?id=1178840", "sha256": "c458e98664c5c907ddb5a05a94b120bed4e05295b2bfc420f5ba69af0a229abe"}, {"document_id": "891861", "title": "Demonstrações Financeiras", "reference_date": "2025-01-31", "version": "1", "page": 26, "url": "https://fnet.bmfbovespa.com.br/fnet/publico/visualizarDocumento?id=891861", "sha256": "e9cb9e6ddbe505fe068cfcac33605165a98313489de0d3ce6d4d238263c3f3e7"}], "reference": {"path": "history/55563624000109.json", "criterion_id": "hedge", "total_count": 3, "preview_count": 3, "full_text_deferred": true, "sha256": "7835d573fb58a3c19adf5b8ecc2aee2bdbb9a88f7a0c0209b5f262b64c7522e3"}}</a:t>
            </a:r>
          </a:p>
          <a:p>
            <a:r>
              <a:t>CNPJ 62552447000120 · Finalidade e limites de derivativos · Regulamento · ID 1200623 · 21/05/2026 · versão Consolidado21/05/2026 aprovado pelo ato1200625 · p. 14 · AnexoI4.10.1 · https://fnet.bmfbovespa.com.br/fnet/publico/visualizarDocumento?id=1200623</a:t>
            </a:r>
          </a:p>
          <a:p>
            <a:r>
              <a:t>CNPJ 62552447000120 · Finalidade e limites de derivativos · Excerto da fonte:</a:t>
            </a:r>
          </a:p>
          <a:p>
            <a:r>
              <a:t>4.10.1 O uso de derivativos está restrito a operações que visem à proteção patrimonial ou, desde que não resulte em exposição a risco de capital, à troca de indexador e/ou do índice de referência. 4.11 Sem prejuízo de limites mais restritivos definidos neste Regulamento, o Gestor deverá observar, ainda, os seguintes limites de concentração para a composição da Carteira: (i) Até 100% (cem por cento) da parcela do Patrimônio Líquido investida em Direitos Creditórios poderão ser alocados em Direitos Creditórios originados ou cedidos pelo Administrador, Gestor e</a:t>
            </a:r>
          </a:p>
          <a:p>
            <a:r>
              <a:t>CNPJ 62552447000120 · Finalidade e limites de derivativos · Motivo: Cláusula primária localizada e citada, mas sua lista/condições extensas não admitem uma síntese literal curta confirmada. O trecho integral permanece nas fontes.</a:t>
            </a:r>
          </a:p>
          <a:p>
            <a:r>
              <a:t>CNPJ 62552447000120 · Finalidade e limites de derivativos · Versão e prevalência: Leitura específica das cláusulas indicadas; condições e conflitos preservados. Seleção documental atual não comprova vigência jurídica por data isolada.</a:t>
            </a:r>
          </a:p>
          <a:p>
            <a:r>
              <a:t>CNPJ 63953620000165 · Finalidade e limites de derivativos · Anexo ao Regulamento · ID 1222863 · 2026-06-02 · versão 1 · p. 7 · https://fnet.bmfbovespa.com.br/fnet/publico/visualizarDocumento?id=1222863</a:t>
            </a:r>
          </a:p>
          <a:p>
            <a:r>
              <a:t>CNPJ 63953620000165 · Finalidade e limites de derivativos · Excerto da fonte:</a:t>
            </a:r>
          </a:p>
          <a:p>
            <a:r>
              <a:t>Anexo I ao Regulamento  CLASSE CONSIGNADO PRIVADO DO MT GLOBAL FUNDO DE INVESTIMENTO EM DIREITOS  CREDITÓRIOS RESPONSABILIDADE LIMITADA</a:t>
            </a:r>
          </a:p>
          <a:p>
            <a:r>
              <a:t> (i)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 (ii) No máximo, 50% (cinquenta por cento) do Patrimônio Líquido investido em Ativos Financeiros  de Liquidez de emissão ou que envolvam retenção de risco por parte do Administrador, Gestor,  e/ou suas partes relacionadas, observado ainda o disposto acima;</a:t>
            </a:r>
          </a:p>
          <a:p>
            <a:r>
              <a:t> (iii) No máximo, 100% (cem por cento) do Patrimônio Líquido investido em operações com  derivativos nos quais, inexistindo contraparte central, se tenha como contraparte o Gestor,  Consultora e/ou suas partes relacionadas, observado ainda o disposto acima;</a:t>
            </a:r>
          </a:p>
          <a:p>
            <a:r>
              <a:t> (iv) A Classe poderá investir até 100% (cem por cento) de seu Patrimônio Líquido em Direitos  Creditórios Não-Padronizados;</a:t>
            </a:r>
          </a:p>
          <a:p>
            <a:r>
              <a:t> (v) É vedada a aquisição de precatórios federais.</a:t>
            </a:r>
          </a:p>
          <a:p>
            <a:r>
              <a:t>CNPJ 63953620000165 · Finalidade e limites de derivativos · Condição: Documentos atuais selecionados no inventário por categoria/escopo; a data documental isolada não comprova vigência jurídica.</a:t>
            </a:r>
          </a:p>
          <a:p>
            <a:r>
              <a:t>CNPJ 63953620000165 · Finalidade e limites de derivativos · Motivo: Cláusula primária localizada e citada, mas sua lista/condições extensas não admitem uma síntese literal curta confirmada. O trecho integral permanece nas fontes.</a:t>
            </a:r>
          </a:p>
          <a:p>
            <a:r>
              <a:t>CNPJ 63953620000165 · Finalidade e limites de derivativos · Versão e prevalência: Documentos atuais selecionados no inventário por categoria/escopo; a data documental isolada não comprova vigência jurídica.</a:t>
            </a:r>
          </a:p>
          <a:p>
            <a:r>
              <a:t>CNPJ 63953620000165 · Finalidade e limites de derivativos · Resumo do histórico: {"count": 8, "dates": ["2026-04-28", "2026-05-08", "2026-05-15"], "document_count": 3, "sources": [{"document_id": "1327859", "title": "Demonstrações Financeiras - Fusão, cisão e incorporação", "reference_date": "2026-05-15", "version": "1", "page": 26, "url": "https://fnet.bmfbovespa.com.br/fnet/publico/visualizarDocumento?id=1327859", "sha256": "dca1c68babb97f887528c3e2e47596a9c30f507b067981a35655b2f2da9c8054"}, {"document_id": "1298691", "title": "Demonstrações Financeiras - Fusão, cisão e incorporação", "reference_date": "2026-05-08", "version": "1", "page": 26, "url": "https://fnet.bmfbovespa.com.br/fnet/publico/visualizarDocumento?id=1298691", "sha256": "58c570d9b8d4d265330d3db3ea81c435b8e44a6dab4002aa37790652a1ee9819"}, {"document_id": "1282180", "title": "Demonstrações Financeiras - Fusão, cisão e incorporação", "reference_date": "2026-04-28", "version": "1", "page": 27, "url": "https://fnet.bmfbovespa.com.br/fnet/publico/visualizarDocumento?id=1282180", "sha256": "afaaa0e6809be4385e5bdb6c911aac582032c5bdbac3d7750234bf9eaf00438a"}], "reference": {"path": "history/63953620000165.json", "criterion_id": "hedge", "total_count": 8, "preview_count": 3, "full_text_deferred": true, "sha256": "a7b89077f5e21098c2d601c303faabc3ff6b9729f89d8afecdc60fe1404720c1"}}</a:t>
            </a:r>
          </a:p>
          <a:p>
            <a:r>
              <a:t>CNPJ 54871427000194 · Prioridade do hedge e reserva de MTM · Motivo: Não localizada uma cláusula material para este critério nos textos identificados e processados. A ausência de resultado não comprova inexistência da regra.</a:t>
            </a:r>
          </a:p>
          <a:p>
            <a:r>
              <a:t>CNPJ 60010416000112 · Prioridade do hedge e reserva de MTM · Motivo: Não localizada uma cláusula material para este critério nos textos identificados e processados. A ausência de resultado não comprova inexistência da regra.</a:t>
            </a:r>
          </a:p>
          <a:p>
            <a:r>
              <a:t>CNPJ 62696791000193 · Prioridade do hedge e reserva de MTM · Motivo: Não localizada uma cláusula material para este critério nos textos identificados e processados. A ausência de resultado não comprova inexistência da regra.</a:t>
            </a:r>
          </a:p>
          <a:p>
            <a:r>
              <a:t>CNPJ 55563624000109 · Prioridade do hedge e reserva de MTM · Motivo: Não localizada uma cláusula material para este critério nos textos identificados e processados. A ausência de resultado não comprova inexistência da regra.</a:t>
            </a:r>
          </a:p>
          <a:p>
            <a:r>
              <a:t>CNPJ 62552447000120 · Prioridade do hedge e reserva de MTM · Motivo: Não localizada uma cláusula material para este critério nos textos identificados e processados. A ausência de resultado não comprova inexistência da regra.</a:t>
            </a:r>
          </a:p>
          <a:p>
            <a:r>
              <a:t>CNPJ 63953620000165 · Prioridade do hedge e reserva de MTM · Motivo: Não localizada uma cláusula material para este critério nos textos identificados e processados. A ausência de resultado não comprova inexistência da regra.</a:t>
            </a:r>
          </a:p>
          <a:p>
            <a:r>
              <a:t>CNPJ 54871427000194 · Administrador, gestor e custodiante · Regulamento · ID 670691 · 2024-04-28 · versão 1 · p. 1 · 1.1 · https://fnet.bmfbovespa.com.br/fnet/publico/visualizarDocumento?id=670691</a:t>
            </a:r>
          </a:p>
          <a:p>
            <a:r>
              <a:t>CNPJ 54871427000194 · Administrador, gestor e custodiante · Excerto da fonte:</a:t>
            </a:r>
          </a:p>
          <a:p>
            <a:r>
              <a:t>1.1 CONSIGNADO DELTA RECEIVABLES I FUNDO DE INVESTIMENTO EM DIREITOS CREDITÓRIOS  (“FUNDO”), regido pela Lei nº 10.406, de 10 de janeiro de 2002, conf orme alterada (“Código Civil”),  pela parte geral e o Anexo Normativo II da Resolução nº 175, de 23 de dezembro de 2022, conforme  alterada, da Comissão de Valores Mobiliários (respectivamente, “CVM” e “Resolução CVM 175”), terá  como principais características:</a:t>
            </a:r>
          </a:p>
          <a:p>
            <a:r>
              <a:t> Classe de Cotas Classe única.</a:t>
            </a:r>
          </a:p>
          <a:p>
            <a:r>
              <a:t> Indeterminado, exceto se de outra f orma vier a ser deliberado pelos cotistas  Prazo de Duração  reunidos em assembleia geral de cotistas.</a:t>
            </a:r>
          </a:p>
          <a:p>
            <a:r>
              <a:t> BTG Pactual Serviços Financeiros S.A. Distribuidora de Títulos e Valores  Mobiliários, instituição f inanceira, com sede na Cidade e Estado do Rio de  Janeiro, na Praia de Botafogo, nº 501, 5º andar (parte), Torre Corcovado,  ADMINISTRADOR  Botafogo, CEP 22250-040, inscrita no CNPJ sob o nº 59.281.253/0001-23 e  credenciada como administradora de carteira, de acordo com o Ato Declaratório  CVM nº 8.695, de 20 de março de 2006 (“ADMINISTRADOR”).</a:t>
            </a:r>
          </a:p>
          <a:p>
            <a:r>
              <a:t> BTG Pactual Asset Management S.A. Distribuidora de Títulos e Valores  Mobiliários, inscrita no CNPJ/ME sob o nº 29.650.082/0001-00, com sede  Cidade e Estado do Rio de Janeiro, na Praia de Botafogo, n.º 501, 5° andar,  devidamente autorizada à prestação dos serviços de administração de carteira  GESTOR  de títulos e valores mobiliários por meio d o Ato Declaratório número 5.968,  expedido em 10 de maio de 2000 (“GESTOR” e, quando ref erido  conjuntamente e indistintamente com o ADMINISTRADOR, os “Prestadores  de Serviços Essenciais”).</a:t>
            </a:r>
          </a:p>
          <a:p>
            <a:r>
              <a:t> O FUNDO, seus cotistas, os distribuidores de cotas por conta e ordem, seu  GESTOR, seu ADMINISTRADOR e os demais prestadores de serviço do  FUNDO e/ou da CLASSE obrigam-se a resolver, por meio de arbitragem, de  acordo com o Regulamento de Arbitragem da Câmara de Arbitragem do  Mercado da B3 (“Regulamento CAM B3” e “CAM B3”, respectivamente), toda  e qualquer disputa ou controvérsia que possa surgir entre eles, relacionada ou  oriunda, em especial, da aplicação, validade, eficácia, interpretação, violação  e seus ef eitos, das disposições contidas no Regulamento e seus Anexos, nas  normas editadas pela CVM que lhe sejam aplicáveis e nos instrumentos entre  si f irmados (“Arbitragem”).</a:t>
            </a:r>
          </a:p>
          <a:p>
            <a:r>
              <a:t> (i) A Arbitragem será de direito, com a aplicação das normas da República  Federativa do Brasil, terá sede no Município de São Paulo, será  Foro Aplicável conduzida em língua portuguesa e de f orma confidencial. O tribunal  arbitral será constituído por 3 (três) árbitros, sendo um deles  presidente, escolhidos nos termos do Regulamento CAM B3.</a:t>
            </a:r>
          </a:p>
          <a:p>
            <a:r>
              <a:t> (ii) As despesas processuais iniciais deverão ser rateadas entre as partes,  arcando cada polo processual com metade dos valores necessários,  sem prejuízo à possibilidade de adiantamento pelas partes  interessadas, resolvendo-se as indef inições nos termos do  Regulamento CAM B3. A sentença arbitral deverá determinar a  responsabilidade final pelas despesas de acordo com a sucumbência  de cada parte, as quais deverão incluir as taxas administrativas,  honorários de árbitros e de peritos e despesas com diligências  processuais e f ornecimento de garantias que sejam determinadas  expressamente pelo tribunal arbitral. É vedada a imposição de  honorários de sucumbência, bem como a determinação de indenização</a:t>
            </a:r>
          </a:p>
          <a:p>
            <a:r>
              <a:t>CNPJ 54871427000194 · Administrador, gestor e custodiante · Regulamento · ID 670691 · 2024-04-28 · versão 1 · p. 7 · https://fnet.bmfbovespa.com.br/fnet/publico/visualizarDocumento?id=670691</a:t>
            </a:r>
          </a:p>
          <a:p>
            <a:r>
              <a:t>CNPJ 54871427000194 · Administrador, gestor e custodiante · Excerto da fonte:</a:t>
            </a:r>
          </a:p>
          <a:p>
            <a:r>
              <a:t>Banco BTG Pactual S.A., instituição f inanceira, com sede na Cidade e  Estado do Rio de Janeiro, na Praia de Botafogo, nº 501, 5º andar (parte),  Custódia Torre Corcovado, Botafogo, CEP 22250-040, inscrita no CNPJ sob o nº</a:t>
            </a:r>
          </a:p>
          <a:p>
            <a:r>
              <a:t> 30.306.294/0001-45 e credenciado como custodiante, de acordo com o  Ato Declaratório nº 7.204, de 25 de abril de 2003 (“CUSTODIANTE”).</a:t>
            </a:r>
          </a:p>
          <a:p>
            <a:r>
              <a:t> Tesouraria, Controladoria e ADMINISTRADOR.</a:t>
            </a:r>
          </a:p>
          <a:p>
            <a:r>
              <a:t> Escrituração  Subclasses Única.</a:t>
            </a:r>
          </a:p>
          <a:p>
            <a:r>
              <a:t>CNPJ 54871427000194 · Administrador, gestor e custodiante · Regulamento · ID 670691 · 2024-04-28 · versão 1 · p. 38 · https://fnet.bmfbovespa.com.br/fnet/publico/visualizarDocumento?id=670691</a:t>
            </a:r>
          </a:p>
          <a:p>
            <a:r>
              <a:t>CNPJ 54871427000194 · Administrador, gestor e custodiante · Excerto da fonte:</a:t>
            </a:r>
          </a:p>
          <a:p>
            <a:r>
              <a:t>“ADMINISTRADOR”: BTG Pactual Serviços Financeiros S.A. Distribuidora de Títulos e Valores Mobiliários, instituição com sede no Município do Rio de Janeiro, Estado do Rio de Janeiro, à Praia de Botafogo, nº 501, 5º andar – parte, inscrita no CNPJ sob o nº 59.281.253/0001-23, autorizada a funcionar pelo BACEN e autorizada pela CVM para a atividade de administração de carteiras de valores mobiliários, de acordo com o Ato Declaratório nº 8.695, de 20 de março de 2006, ou seu sucessor a qualquer título ;</a:t>
            </a:r>
          </a:p>
          <a:p>
            <a:r>
              <a:t>CNPJ 54871427000194 · Administrador, gestor e custodiante · Condição: Documentos atuais selecionados no inventário por categoria/escopo; a data documental isolada não comprova vigência jurídica.</a:t>
            </a:r>
          </a:p>
          <a:p>
            <a:r>
              <a:t>CNPJ 54871427000194 · Administrador, gestor e custodiante · Versão e prevalência: Documentos atuais selecionados no inventário por categoria/escopo; a data documental isolada não comprova vigência jurídica.</a:t>
            </a:r>
          </a:p>
          <a:p>
            <a:r>
              <a:t>CNPJ 54871427000194 · Administrador, gestor e custodiante · Resumo do histórico: {"count": 2, "dates": ["2024-04-19"], "document_count": 2, "sources": [{"document_id": "670687", "title": "Instrumento Particular de Constituição/Encerramento do Fundo", "reference_date": "2024-04-19", "version": "1", "page": 1, "url": "https://fnet.bmfbovespa.com.br/fnet/publico/visualizarDocumento?id=670687", "sha256": "999f2a47d39f7022b0fcee3d16fd1db33948537b897e92c4c9e14b436bf5eb96"}, {"document_id": "670689", "title": "Regulamento", "reference_date": "2024-04-19", "version": "1", "page": 1, "clause": "1.1", "url": "https://fnet.bmfbovespa.com.br/fnet/publico/visualizarDocumento?id=670689", "sha256": "891bc9bc5d87bbc02ec139077a84d2702eb81ea02035fb71d24f5b8366b94a0b"}], "reference": {"path": "history/54871427000194.json", "criterion_id": "providers", "total_count": 2, "preview_count": 2, "full_text_deferred": true, "sha256": "35d7cd99be50c7287c9fb675cf4f2e736002315295a225a9efa79c8d9186d874"}}</a:t>
            </a:r>
          </a:p>
          <a:p>
            <a:r>
              <a:t>CNPJ 60010416000112 · Administrador, gestor e custodiante · Regulamento · ID 1051393 · 2025-10-09 · versão 1 · p. 8 · https://fnet.bmfbovespa.com.br/fnet/publico/visualizarDocumento?id=1051393</a:t>
            </a:r>
          </a:p>
          <a:p>
            <a:r>
              <a:t>CNPJ 60010416000112 · Administrador, gestor e custodiante · Excerto da fonte:</a:t>
            </a:r>
          </a:p>
          <a:p>
            <a:r>
              <a:t>Tipo de Condomínio Fechado.</a:t>
            </a:r>
          </a:p>
          <a:p>
            <a:r>
              <a:t> Prazo de Duração Indeterminado.</a:t>
            </a:r>
          </a:p>
          <a:p>
            <a:r>
              <a:t> Classe de Investimento  Não.</a:t>
            </a:r>
          </a:p>
          <a:p>
            <a:r>
              <a:t> em Cotas  Tipo “Financeiro”.</a:t>
            </a:r>
          </a:p>
          <a:p>
            <a:r>
              <a:t> Classificação ANBIMA  Foco de atuação “Créditos Consignados”.</a:t>
            </a:r>
          </a:p>
          <a:p>
            <a:r>
              <a:t> O objetivo da classe é proporcionar aos seus Cotistas a valorização de suas Cotas  por meio da aplicação de seu Patrimônio Líquido na aquisição de: (i) Direitos  Creditórios que atendam aos Critérios de Elegibilidade, estabelecidos no Capítulo  4 abaixo, e (ii) Ativos Financeiros de Liquidez, observados todos os limites de  Objetivo composição e diversificação da Carteira da Classe, estabelecidos neste  Regulamento e na regulamentação aplicável.</a:t>
            </a:r>
          </a:p>
          <a:p>
            <a:r>
              <a:t> O objetivo da Classe não representa, sob qualquer hipótese, promessa, garantia  ou sugestão do Fundo ou de seus Prestadores de Serviços Essenciais quanto à  segurança, rentabilidade e liquidez dos títulos integrantes de sua carteira.</a:t>
            </a:r>
          </a:p>
          <a:p>
            <a:r>
              <a:t> Destinado exclusivamente a um único cotista ou grupo de cotistas vinculados por  Público-Alvo  interesse único e indissociável, classificados como Investidores Prof issionais.</a:t>
            </a:r>
          </a:p>
          <a:p>
            <a:r>
              <a:t> Banco BTG Pactual S.A., instituição financeira, com sede no município e Estado  do Rio de Janeiro, na Praia de Botafogo, nº 501, Torre Corcovado, 5º andar (parte),  Custódia e Tesouraria Botafogo, CEP 22.250-040, inscrita no CNPJ sob o nº 30.306.294/0001-45 e  credenciado como custodiante, de acordo com o Ato Declaratório nº 7.204, de 25  de abril de 2003 (“Custodiante”).</a:t>
            </a:r>
          </a:p>
          <a:p>
            <a:r>
              <a:t> Tesouraria,  Controladoria e Administrador.</a:t>
            </a:r>
          </a:p>
          <a:p>
            <a:r>
              <a:t> Escrituração  Subclasses Sênior e Subordinada, nos termos do Capítulo 5 e respectivos Apêndices.</a:t>
            </a:r>
          </a:p>
          <a:p>
            <a:r>
              <a:t> O valor de cada emissão de Cotas, volume e valor unitário da Cota, bem como o  Emissão e Regime de regime de distribuição, seguirão o disposto no instrumento que aprova a emissão  Distribuição de Cotas de Cotas, que disporá acerca da eventual existência de direito de preferência dos  Cotistas.</a:t>
            </a:r>
          </a:p>
          <a:p>
            <a:r>
              <a:t> Capital Autorizado Conf orme previsto nos Apêndices.</a:t>
            </a:r>
          </a:p>
          <a:p>
            <a:r>
              <a:t> As Cotas poderão ser admitidas à negociação em bolsa de valores ou entidade de  Negociação  balcão organizado, conf orme previsto nos Apêndices.</a:t>
            </a:r>
          </a:p>
          <a:p>
            <a:r>
              <a:t> Cálculo do Valor da Cota Conf orme Capítulo 6 deste Anexo e respectivos Apêndices.</a:t>
            </a:r>
          </a:p>
          <a:p>
            <a:r>
              <a:t> A distribuição de quaisquer ganhos e rendimentos da Classe aos Cotistas será  Distribuição de  f eita exclusivamente mediante a amortização e/ou o resgate de Cotas, observado  Proventos  o disposto no Regulamento, neste Anexo e respectivos Apêndices.</a:t>
            </a:r>
          </a:p>
          <a:p>
            <a:r>
              <a:t> Utilização de Ativos Não é permitida a integralização de Cotas, no todo ou em parte, com Direitos BTG Pactual SAC: 0800 772 28 27 - Ouvidoria: 0800 722 00 48 - btgpactual.com 8</a:t>
            </a:r>
          </a:p>
          <a:p>
            <a:r>
              <a:t>CNPJ 60010416000112 · Administrador, gestor e custodiante · Regulamento · ID 1051393 · 2025-10-09 · versão 1 · p. 1 · https://fnet.bmfbovespa.com.br/fnet/publico/visualizarDocumento?id=1051393</a:t>
            </a:r>
          </a:p>
          <a:p>
            <a:r>
              <a:t>CNPJ 60010416000112 · Administrador, gestor e custodiante · Excerto da fonte:</a:t>
            </a:r>
          </a:p>
          <a:p>
            <a:r>
              <a:t>BTG Pactual Asset Management S.A. Distribuidora de Títulos e Valores  Mobiliários, sociedade anônima, com sede no município do Rio de Janeiro,  Estado do Rio de Janeiro, na Praia de Botafogo, nº 501, Torre Corcovado, 5º andar</a:t>
            </a:r>
          </a:p>
          <a:p>
            <a:r>
              <a:t> (parte), CEP 22.250-040, inscrita no CNPJ sob o nº 29.650.082/0001-00,  GESTOR  devidamente credenciada junto à CVM para operar como administradora de  carteira de valores mobiliários nos termos do Ato Declaratório CVM nº 5.968, de  10 de maio de 2000 (“Gestor” e, quando referido conjuntamente e indistintamente  com o Administrador, os “Prestadores de Serviços Essenciais”).</a:t>
            </a:r>
          </a:p>
          <a:p>
            <a:r>
              <a:t>CNPJ 60010416000112 · Administrador, gestor e custodiante · Regulamento · ID 1051393 · 2025-10-09 · versão 1 · p. 45 · https://fnet.bmfbovespa.com.br/fnet/publico/visualizarDocumento?id=1051393</a:t>
            </a:r>
          </a:p>
          <a:p>
            <a:r>
              <a:t>CNPJ 60010416000112 · Administrador, gestor e custodiante · Excerto da fonte:</a:t>
            </a:r>
          </a:p>
          <a:p>
            <a:r>
              <a:t>“Gestor”: a BTG Pactual Asset Management S.A. Distribuidora de Títulos e Valores Mobiliários, sociedade anônima, com sede no município do Rio de Janeiro, Estado do Rio de Janeiro, na Praia de Botafogo, nº 501, Torre Corcovado, 5º andar (parte), CEP 22.250-040, inscrita no CNPJ sob o nº 29.650.082/0001-00, devidamente credenciada junto à CVM para operar como administrador de carteira de valores mobiliários nos termos do Ato Declaratório CVM nº 5.968, de 10 de maio de 2000;</a:t>
            </a:r>
          </a:p>
          <a:p>
            <a:r>
              <a:t>CNPJ 60010416000112 · Administrador, gestor e custodiante · Condição: Documentos atuais selecionados no inventário por categoria/escopo; a data documental isolada não comprova vigência jurídica.</a:t>
            </a:r>
          </a:p>
          <a:p>
            <a:r>
              <a:t>CNPJ 60010416000112 · Administrador, gestor e custodiante · Versão e prevalência: Documentos atuais selecionados no inventário por categoria/escopo; a data documental isolada não comprova vigência jurídica.</a:t>
            </a:r>
          </a:p>
          <a:p>
            <a:r>
              <a:t>CNPJ 60010416000112 · Administrador, gestor e custodiante · Resumo do histórico: {"count": 1, "dates": ["2025-05-12"], "document_count": 1, "sources": [{"document_id": "1004656", "title": "AGE", "reference_date": "2025-05-12", "version": "1", "page": 4, "url": "https://fnet.bmfbovespa.com.br/fnet/publico/visualizarDocumento?id=1004656", "sha256": "f6c9c009f6170e2b29f074b98522accec73f0c40efbf11f9ec2c8d3f1402616b"}], "reference": {"path": "history/60010416000112.json", "criterion_id": "providers", "total_count": 1, "preview_count": 1, "full_text_deferred": true, "sha256": "8e2bd813f4c51cf01f6bfaad164bafe69d2bbb192f753eac92da3a01c2e63046"}}</a:t>
            </a:r>
          </a:p>
          <a:p>
            <a:r>
              <a:t>CNPJ 62696791000193 · Administrador, gestor e custodiante · Regulamento · ID 1143317 · 2026-03-20 · versão 1 · p. 1 · https://fnet.bmfbovespa.com.br/fnet/publico/visualizarDocumento?id=1143317</a:t>
            </a:r>
          </a:p>
          <a:p>
            <a:r>
              <a:t>CNPJ 62696791000193 · Administrador, gestor e custodiante · Excerto da fonte:</a:t>
            </a:r>
          </a:p>
          <a:p>
            <a:r>
              <a:t>BTG Pactual Asset Management S.A. Distribuidora de Títulos e Valores  Mobiliários, com sede no município e Estado do Rio de Janeiro, na Praia de  Botafogo, nº 501, Torre Corcovado, 5º andar (parte), Botafogo, inscrito no  CNPJ sob o nº 29.650.082/0001-00, autorizado à prestação dos serviços de  Gestor  administração de carteira de títulos e valores mobiliários de acordo com o Ato  Declaratório nº 5.968, de 10 de maio de 2000 (“Gestor” e, quando ref erido  conjuntamente com o Administrador, os “Prestadores de Serviços  Essenciais”).</a:t>
            </a:r>
          </a:p>
          <a:p>
            <a:r>
              <a:t>CNPJ 62696791000193 · Administrador, gestor e custodiante · Regulamento · ID 1143317 · 2026-03-20 · versão 1 · p. 1 · https://fnet.bmfbovespa.com.br/fnet/publico/visualizarDocumento?id=1143317</a:t>
            </a:r>
          </a:p>
          <a:p>
            <a:r>
              <a:t>CNPJ 62696791000193 · Administrador, gestor e custodiante · Excerto da fonte:</a:t>
            </a:r>
          </a:p>
          <a:p>
            <a:r>
              <a:t>BTG Pactual Serviços Financeiros S.A. Distribuidora de Títulos e Valores  Mobiliários, sociedade anônima, com sede no município e Estado do Rio de  Janeiro, na Praia de Botafogo, nº 501, 5º andar (parte), Torre Corcovado,  Administrador Botafogo, CEP 22250-040, inscrita no CNPJ sob o nº 59.281.253/0001-23 e  credenciada como Administradora de carteira, de acordo com o Ato Declaratório  CVM nº 8.695, de 20 de março de 2006 (“Administrador”), responsável pela  administração f iduciária.</a:t>
            </a:r>
          </a:p>
          <a:p>
            <a:r>
              <a:t>CNPJ 62696791000193 · Administrador, gestor e custodiante · Regulamento · ID 1143317 · 2026-03-20 · versão 1 · p. 7 · https://fnet.bmfbovespa.com.br/fnet/publico/visualizarDocumento?id=1143317</a:t>
            </a:r>
          </a:p>
          <a:p>
            <a:r>
              <a:t>CNPJ 62696791000193 · Administrador, gestor e custodiante · Excerto da fonte:</a:t>
            </a:r>
          </a:p>
          <a:p>
            <a:r>
              <a:t>Banco BTG Pactual S.A., instituição financeira, com sede no município e  Estado do Rio de Janeiro, na Praia de Botafogo, nº 501, 5º andar (parte),  Custódia e Tesouraria Torre Corcovado, Botafogo, CEP 22250-040, inscrita no CNPJ sob o nº</a:t>
            </a:r>
          </a:p>
          <a:p>
            <a:r>
              <a:t> 30.306.294/0001-45 e credenciada como custodiante, de acordo com o  Ato Declaratório nº 7.204, de 25 de abril de 2003 (“Custodiante”).</a:t>
            </a:r>
          </a:p>
          <a:p>
            <a:r>
              <a:t>CNPJ 62696791000193 · Administrador, gestor e custodiante · Condição: Documentos atuais selecionados no inventário por categoria/escopo; a data documental isolada não comprova vigência jurídica.</a:t>
            </a:r>
          </a:p>
          <a:p>
            <a:r>
              <a:t>CNPJ 62696791000193 · Administrador, gestor e custodiante · Versão e prevalência: Documentos atuais selecionados no inventário por categoria/escopo; a data documental isolada não comprova vigência jurídica.</a:t>
            </a:r>
          </a:p>
          <a:p>
            <a:r>
              <a:t>CNPJ 55563624000109 · Administrador, gestor e custodiante · Regulamento · ID 1192614 · 2026-04-30 · versão 1 · p. 1 · https://fnet.bmfbovespa.com.br/fnet/publico/visualizarDocumento?id=1192614</a:t>
            </a:r>
          </a:p>
          <a:p>
            <a:r>
              <a:t>CNPJ 55563624000109 · Administrador, gestor e custodiante · Excerto da fonte:</a:t>
            </a:r>
          </a:p>
          <a:p>
            <a:r>
              <a:t>Polígono Capital Ltda., sociedade de responsabilidade limitada, com sede no  município e estado de São Paulo, na Avenida Brigadeiro Faria Lima, n° 2601, 12º andar,  Jardim Paulistano, CEP 01452-000, inscrita no CNPJ sob nº 43.241.789/0001-85 e  GESTOR autorizada à prestação do serviço de administração de carteiras de valores mobiliários  pela CVM, de acordo com o Ato Declaratório CVM nº 19.368, expedido em 7 de  dezembro de 2021 (“GESTOR” e, quando referido conjuntamente e indistintamente  com o ADMINISTRADOR, os “Prestadores de Serviços Essenciais”).</a:t>
            </a:r>
          </a:p>
          <a:p>
            <a:r>
              <a:t>CNPJ 55563624000109 · Administrador, gestor e custodiante · Regulamento · ID 1192614 · 2026-04-30 · versão 1 · p. 1 · https://fnet.bmfbovespa.com.br/fnet/publico/visualizarDocumento?id=1192614</a:t>
            </a:r>
          </a:p>
          <a:p>
            <a:r>
              <a:t>CNPJ 55563624000109 · Administrador, gestor e custodiante · Excerto da fonte:</a:t>
            </a:r>
          </a:p>
          <a:p>
            <a:r>
              <a:t>BTG Pactual Serviços Financeiros S.A. Distribuidora de Títulos e Valores Mobiliários,  sociedade anônima, com sede no município e estado do Rio de Janeiro, na Praia de  Botafogo, nº 501, 5º andar (parte), Torre Corcovado, Botafogo, CEP 22250-040, inscrita  ADMINISTRADOR no Cadastro Nacional da Pessoa Jurídica (“CNPJ”) sob o nº 59.281.253/0001-23 e  credenciada como administradora de carteira, de acordo com o Ato Declaratório CVM  nº 8.695, de 20 de março de 2006 (“ADMINISTRADOR”).</a:t>
            </a:r>
          </a:p>
          <a:p>
            <a:r>
              <a:t>CNPJ 55563624000109 · Administrador, gestor e custodiante · Regulamento · ID 1192614 · 2026-04-30 · versão 1 · p. 41 · https://fnet.bmfbovespa.com.br/fnet/publico/visualizarDocumento?id=1192614</a:t>
            </a:r>
          </a:p>
          <a:p>
            <a:r>
              <a:t>CNPJ 55563624000109 · Administrador, gestor e custodiante · Excerto da fonte:</a:t>
            </a:r>
          </a:p>
          <a:p>
            <a:r>
              <a:t>“ADMINISTRADOR”: BTG Pactual Serviços Financeiros S.A. Distribuidora de Títulos e Valores Mobiliários, instituição  com sede no Município do Rio de Janeiro, Estado do Rio de Janeiro, à Praia de Botafogo, nº 501, 5º andar – parte, inscrita  no CNPJ sob o nº 59.281.253/0001-23, autorizada a funcionar pelo BACEN e autorizada pela CVM para a atividade de  administração de carteiras de valores mobiliários, de acordo com o Ato Declaratório nº 8.695, de 20 de março de 2006,  ou seu sucessor a qualquer título;</a:t>
            </a:r>
          </a:p>
          <a:p>
            <a:r>
              <a:t>CNPJ 55563624000109 · Administrador, gestor e custodiante · Condição: Documentos atuais selecionados no inventário por categoria/escopo; a data documental isolada não comprova vigência jurídica.</a:t>
            </a:r>
          </a:p>
          <a:p>
            <a:r>
              <a:t>CNPJ 55563624000109 · Administrador, gestor e custodiante · Versão e prevalência: Documentos atuais selecionados no inventário por categoria/escopo; a data documental isolada não comprova vigência jurídica.</a:t>
            </a:r>
          </a:p>
          <a:p>
            <a:r>
              <a:t>CNPJ 55563624000109 · Administrador, gestor e custodiante · Resumo do histórico: {"count": 6, "dates": ["2024-12-30", "2025-01-31", "2026-01-31"], "document_count": 3, "sources": [{"document_id": "1178840", "title": "Demonstrações Financeiras", "reference_date": "2026-01-31", "version": "1", "page": 3, "url": "https://fnet.bmfbovespa.com.br/fnet/publico/visualizarDocumento?id=1178840", "sha256": "c458e98664c5c907ddb5a05a94b120bed4e05295b2bfc420f5ba69af0a229abe"}, {"document_id": "891861", "title": "Demonstrações Financeiras", "reference_date": "2025-01-31", "version": "1", "page": 11, "url": "https://fnet.bmfbovespa.com.br/fnet/publico/visualizarDocumento?id=891861", "sha256": "e9cb9e6ddbe505fe068cfcac33605165a98313489de0d3ce6d4d238263c3f3e7"}, {"document_id": "811323", "title": "Anúncio de Encerramento", "reference_date": "2024-12-30", "version": "1", "page": 1, "url": "https://fnet.bmfbovespa.com.br/fnet/publico/visualizarDocumento?id=811323", "sha256": "ebc6bc661be5189acffb3c3e352de2aea0a8ca8431011d1237e1ae19da4f9c79"}], "reference": {"path": "history/55563624000109.json", "criterion_id": "providers", "total_count": 6, "preview_count": 3, "full_text_deferred": true, "sha256": "7835d573fb58a3c19adf5b8ecc2aee2bdbb9a88f7a0c0209b5f262b64c7522e3"}}</a:t>
            </a:r>
          </a:p>
          <a:p>
            <a:r>
              <a:t>CNPJ 62552447000120 · Administrador, gestor e custodiante · Regulamento · ID 1200623 · 2026-05-21 · versão 1 · p. 1 · https://fnet.bmfbovespa.com.br/fnet/publico/visualizarDocumento?id=1200623</a:t>
            </a:r>
          </a:p>
          <a:p>
            <a:r>
              <a:t>CNPJ 62552447000120 · Administrador, gestor e custodiante · Excerto da fonte:</a:t>
            </a:r>
          </a:p>
          <a:p>
            <a:r>
              <a:t>BTG Pactual Asset Management S.A. Distribuidora de Títulos e Valores  Mobiliários, sociedade anônima, com sede no município e Estado do Rio de  Janeiro, na Praia de Botafogo, n.º 501, 5º andar (parte), Torre Corcovado, bairro  Botafogo, CEP 22250-040, inscrita no CNPJ sob o n.º 29.650.082/0001-00 e  Gestor  credenciada como administradora de carteira de valores mobiliários , categoria  gestor de recursos, de acordo com o Ato Declaratório CVM n.º 5.968, de 10 de  maio de 2000 (“Gestor” e, quando ref erido conjuntamente e indistintamente  com o Administrador, “Prestadores de Serviços Essenciais”).</a:t>
            </a:r>
          </a:p>
          <a:p>
            <a:r>
              <a:t>CNPJ 62552447000120 · Administrador, gestor e custodiante · Regulamento · ID 1200623 · 2026-05-21 · versão 1 · p. 1 · https://fnet.bmfbovespa.com.br/fnet/publico/visualizarDocumento?id=1200623</a:t>
            </a:r>
          </a:p>
          <a:p>
            <a:r>
              <a:t>CNPJ 62552447000120 · Administrador, gestor e custodiante · Excerto da fonte:</a:t>
            </a:r>
          </a:p>
          <a:p>
            <a:r>
              <a:t>BTG Pactual Serviços Financeiros S.A. Distribuidora de Títulos e Valores  Mobiliários, sociedade anônima, com sede no município e Estado do Rio de  Janeiro, na Praia de Botafogo, n.º 501, 5º andar (parte), Torre Corcovado, bairro  Administrador Botafogo, CEP 22250-040, inscrita no CNPJ sob o n.º 59.281.253/0001-23 e  credenciada como administradora de carteira de valores mobiliários, categoria  administrador fiduciário, de acordo com o Ato Declaratório CVM n.º 8.695, de 20  de março de 2006 (“Administrador”).</a:t>
            </a:r>
          </a:p>
          <a:p>
            <a:r>
              <a:t>CNPJ 62552447000120 · Administrador, gestor e custodiante · Instrumento Particular de Alteração do Regulamento · ID 1200625 · 2026-05-21 · versão 1 · p. 1 · https://fnet.bmfbovespa.com.br/fnet/publico/visualizarDocumento?id=1200625</a:t>
            </a:r>
          </a:p>
          <a:p>
            <a:r>
              <a:t>CNPJ 62552447000120 · Administrador, gestor e custodiante · Excerto da fonte:</a:t>
            </a:r>
          </a:p>
          <a:p>
            <a:r>
              <a:t>A Administradora, BTG PACTUAL SERVIÇOS FINANCEIROS S.A. DTVM, com  sede na Praia de Botafogo, n.º 501, 5º andar (parte), na Cidade e Estado do Rio de  Janeiro, e inscrita no CNPJ sob o número 59.281.253/0001-23, na qualidade de  administradora da V CDT 1 FUNDO DE INVESTIMENTO EM DIREITOS  CREDITÓRIOS RESPONSABILIDADE LIMITADA, inscrita no CNPJ/MF sob o  número 62.552.447/0001-20 ("Classe"), serve-se da presente para:</a:t>
            </a:r>
          </a:p>
          <a:p>
            <a:r>
              <a:t>CNPJ 62552447000120 · Administrador, gestor e custodiante · Condição: Documentos atuais selecionados no inventário por categoria/escopo; a data documental isolada não comprova vigência jurídica.</a:t>
            </a:r>
          </a:p>
          <a:p>
            <a:r>
              <a:t>CNPJ 62552447000120 · Administrador, gestor e custodiante · Versão e prevalência: Documentos atuais selecionados no inventário por categoria/escopo; a data documental isolada não comprova vigência jurídica.</a:t>
            </a:r>
          </a:p>
          <a:p>
            <a:r>
              <a:t>CNPJ 62552447000120 · Administrador, gestor e custodiante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"providers", "total_count": 1, "preview_count": 1, "full_text_deferred": true, "sha256": "d95db8c0613d67ee84118c734588665265ea6b02f86a0318d6a844cbe1d0f82f"}}</a:t>
            </a:r>
          </a:p>
          <a:p>
            <a:r>
              <a:t>CNPJ 63953620000165 · Administrador, gestor e custodiante · Anexo ao Regulamento · ID 1222863 · 2026-06-02 · versão 1 · p. 2 · https://fnet.bmfbovespa.com.br/fnet/publico/visualizarDocumento?id=1222863</a:t>
            </a:r>
          </a:p>
          <a:p>
            <a:r>
              <a:t>CNPJ 63953620000165 · Administrador, gestor e custodiante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Administrador, gestor e custodiante · Condição: Documentos atuais selecionados no inventário por categoria/escopo; a data documental isolada não comprova vigência jurídica.</a:t>
            </a:r>
          </a:p>
          <a:p>
            <a:r>
              <a:t>CNPJ 63953620000165 · Administrador, gestor e custodiante · Motivo: Cláusula primária localizada e citada, mas sua lista/condições extensas não admitem uma síntese literal curta confirmada. O trecho integral permanece nas fontes.</a:t>
            </a:r>
          </a:p>
          <a:p>
            <a:r>
              <a:t>CNPJ 63953620000165 · Administrador, gestor e custodiante · Versão e prevalência: Documentos atuais selecionados no inventário por categoria/escopo; a data documental isolada não comprova vigência jurídica.</a:t>
            </a:r>
          </a:p>
          <a:p>
            <a:r>
              <a:t>CNPJ 63953620000165 · Administrador, gestor e custodiante · Resumo do histórico: {"count": 8, "dates": ["2026-04-28", "2026-05-08", "2026-05-15"], "document_count": 3, "sources": [{"document_id": "1327859", "title": "Demonstrações Financeiras - Fusão, cisão e incorporação", "reference_date": "2026-05-15", "version": "1", "page": 9, "url": "https://fnet.bmfbovespa.com.br/fnet/publico/visualizarDocumento?id=1327859", "sha256": "dca1c68babb97f887528c3e2e47596a9c30f507b067981a35655b2f2da9c8054"}, {"document_id": "1298691", "title": "Demonstrações Financeiras - Fusão, cisão e incorporação", "reference_date": "2026-05-08", "version": "1", "page": 9, "url": "https://fnet.bmfbovespa.com.br/fnet/publico/visualizarDocumento?id=1298691", "sha256": "58c570d9b8d4d265330d3db3ea81c435b8e44a6dab4002aa37790652a1ee9819"}, {"document_id": "1282180", "title": "Demonstrações Financeiras - Fusão, cisão e incorporação", "reference_date": "2026-04-28", "version": "1", "page": 9, "url": "https://fnet.bmfbovespa.com.br/fnet/publico/visualizarDocumento?id=1282180", "sha256": "afaaa0e6809be4385e5bdb6c911aac582032c5bdbac3d7750234bf9eaf00438a"}], "reference": {"path": "history/63953620000165.json", "criterion_id": "providers", "total_count": 8, "preview_count": 3, "full_text_deferred": true, "sha256": "a7b89077f5e21098c2d601c303faabc3ff6b9729f89d8afecdc60fe1404720c1"}}</a:t>
            </a:r>
          </a:p>
          <a:p>
            <a:r>
              <a:t>CNPJ 54871427000194 · Substituição de prestadores · Motivo: Não localizada uma cláusula material para este critério nos textos identificados e processados. A ausência de resultado não comprova inexistência da regra.</a:t>
            </a:r>
          </a:p>
          <a:p>
            <a:r>
              <a:t>CNPJ 60010416000112 · Substituição de prestadores · Regulamento · ID 1051393 · 2025-10-09 · versão 1 · p. 3 · 1.8 · https://fnet.bmfbovespa.com.br/fnet/publico/visualizarDocumento?id=1051393</a:t>
            </a:r>
          </a:p>
          <a:p>
            <a:r>
              <a:t>CNPJ 60010416000112 · Substituição de prestadores · Excerto da fonte:</a:t>
            </a:r>
          </a:p>
          <a:p>
            <a:r>
              <a:t>1.8. Os Cotistas, o Administrador, o Gestor e o Agente de  Retenção/Cobrança estão plenamente conscientes dos termos e efeitos  desta cláusula compromissória e concordam irrevogavelmente que a  arbitragem será a única f orma de resolução de disputas relacionada a  este Regulamento. Sem prejuízo da validade desta cláusula  compromissória, as partes elegem o foro da comarca do Rio de Janeiro,  estado do Rio de Janeiro, com a renúncia expressa a qualquer outra, se  e quando isso f or necessário para fins de: (i) executar as obrigações para  as quais haja disponibilidade imediata de execução judicial; (ii) obter  ordens de execução específica ou liminares de caráter preventivo,  temporário ou permanente, tais como a prestação de caução para um  processo arbitral iniciado ou em andamento entre as partes da  arbitragem e/ou assegurar a existência e ef icácia do processo arbitral;</a:t>
            </a:r>
          </a:p>
          <a:p>
            <a:r>
              <a:t> e/ou (iii) apresentar um pedido de execução específica ou outra ordem,  sendo certo que, uma vez obtida a execução específica ou outra ordem,  o Tribunal Arbitral a ser instituído ou que já esteja instituído, conforme o  caso, assumirá a competência plena e exclusiva para decidir sobre toda  e qualquer questão, quer relacionada ao processo ou ao mérito, que  possa ter dado origem à ordem ou execução específica solicitada, e o  respectivo processo será suspenso até que o Tribunal Arbitral profira  uma decisão parcial ou def initiva sobre a questão. A propositura de  qualquer ação judicial de acordo com este item não resultará em  renúncia à arbitragem ou à competência da Câmara.</a:t>
            </a:r>
          </a:p>
          <a:p>
            <a:r>
              <a:t>CNPJ 60010416000112 · Substituição de prestadores · Condição: Documentos atuais selecionados no inventário por categoria/escopo; a data documental isolada não comprova vigência jurídica.</a:t>
            </a:r>
          </a:p>
          <a:p>
            <a:r>
              <a:t>CNPJ 60010416000112 · Substituição de prestadores · Motivo: Cláusula primária localizada e citada, mas sua lista/condições extensas não admitem uma síntese literal curta confirmada. O trecho integral permanece nas fontes.</a:t>
            </a:r>
          </a:p>
          <a:p>
            <a:r>
              <a:t>CNPJ 60010416000112 · Substituição de prestadores · Versão e prevalência: Documentos atuais selecionados no inventário por categoria/escopo; a data documental isolada não comprova vigência jurídica.</a:t>
            </a:r>
          </a:p>
          <a:p>
            <a:r>
              <a:t>CNPJ 60010416000112 · Substituição de prestadores · Resumo do histórico: {"count": 1, "dates": ["2025-03-20"], "document_count": 1, "sources": [{"document_id": "993786", "title": "Regulamento", "reference_date": "2025-03-20", "version": "1", "page": 3, "clause": "1.8", "url": "https://fnet.bmfbovespa.com.br/fnet/publico/visualizarDocumento?id=993786", "sha256": "fd0fdd369a195510d81f81f505195a0b09e5f43522a990afa7d58c4f872921c8"}], "reference": {"path": "history/60010416000112.json", "criterion_id": "replacement", "total_count": 1, "preview_count": 1, "full_text_deferred": true, "sha256": "8e2bd813f4c51cf01f6bfaad164bafe69d2bbb192f753eac92da3a01c2e63046"}}</a:t>
            </a:r>
          </a:p>
          <a:p>
            <a:r>
              <a:t>CNPJ 62696791000193 · Substituição de prestadores · Regulamento · ID 1143317 · 2026-03-20 · versão 1 · p. 26 · 12.10 · https://fnet.bmfbovespa.com.br/fnet/publico/visualizarDocumento?id=1143317</a:t>
            </a:r>
          </a:p>
          <a:p>
            <a:r>
              <a:t>CNPJ 62696791000193 · Substituição de prestadores · Excerto da fonte:</a:t>
            </a:r>
          </a:p>
          <a:p>
            <a:r>
              <a:t>12.10 Na hipótese de renúncia, o Administrador fica obrigado a permanecer no exercício de suas funções até  a averbação, no cartório de registro de imóveis, nas matrículas referentes aos bens imóveis e direitos  integrantes da carteira de ativos, da ata da assembleia de Cotistas que eleger seu substituto e sucessor  na propriedade f iduciária desses bens e direitos.</a:t>
            </a:r>
          </a:p>
          <a:p>
            <a:r>
              <a:t>CNPJ 62696791000193 · Substituição de prestadores · Regulamento · ID 1143317 · 2026-03-20 · versão 1 · p. 26 · 12.10.1 · https://fnet.bmfbovespa.com.br/fnet/publico/visualizarDocumento?id=1143317</a:t>
            </a:r>
          </a:p>
          <a:p>
            <a:r>
              <a:t>CNPJ 62696791000193 · Substituição de prestadores · Excerto da fonte:</a:t>
            </a:r>
          </a:p>
          <a:p>
            <a:r>
              <a:t>12.10.1 É f acultado aos Cotistas que detenham ao menos 5% (cinco por cento) das Cotas emitidas, a  convocação da assembleia de Cotistas prevista no item 12.4 acima, caso o Administrador não  a convoque, no prazo de 10 (dez) dias contados da renúncia.</a:t>
            </a:r>
          </a:p>
          <a:p>
            <a:r>
              <a:t>CNPJ 62696791000193 · Substituição de prestadores · Condição: Documentos atuais selecionados no inventário por categoria/escopo; a data documental isolada não comprova vigência jurídica.</a:t>
            </a:r>
          </a:p>
          <a:p>
            <a:r>
              <a:t>CNPJ 62696791000193 · Substituição de prestadores · Versão e prevalência: Documentos atuais selecionados no inventário por categoria/escopo; a data documental isolada não comprova vigência jurídica.</a:t>
            </a:r>
          </a:p>
          <a:p>
            <a:r>
              <a:t>CNPJ 55563624000109 · Substituição de prestadores · Motivo: Não localizada uma cláusula material para este critério nos textos identificados e processados. A ausência de resultado não comprova inexistência da regra.</a:t>
            </a:r>
          </a:p>
          <a:p>
            <a:r>
              <a:t>CNPJ 62552447000120 · Substituição de prestadores · Motivo: Não localizada uma cláusula material para este critério nos textos identificados e processados. A ausência de resultado não comprova inexistência da regra.</a:t>
            </a:r>
          </a:p>
          <a:p>
            <a:r>
              <a:t>CNPJ 63953620000165 · Substituição de prestadores · Anexo ao Regulamento · ID 1222863 · 2026-06-02 · versão 1 · p. 15 · https://fnet.bmfbovespa.com.br/fnet/publico/visualizarDocumento?id=1222863</a:t>
            </a:r>
          </a:p>
          <a:p>
            <a:r>
              <a:t>CNPJ 63953620000165 · Substituição de prestadores · Excerto da fonte:</a:t>
            </a:r>
          </a:p>
          <a:p>
            <a:r>
              <a:t>Anexo I ao Regulamento  CLASSE CONSIGNADO PRIVADO DO MT GLOBAL FUNDO DE INVESTIMENTO EM DIREITOS  CREDITÓRIOS RESPONSABILIDADE LIMITADA</a:t>
            </a:r>
          </a:p>
          <a:p>
            <a:r>
              <a:t> (vii) inobservância pelo Administrador, pelo Custodiante e/ou pelo Gestor de seus deveres e obrigações  previstos neste Regulamento, bem como suas atribuições específicas nos outros contratos existentes  referentes ao funcionamento da Classe, verificada pelo Administrador, pelo Custodiante e/ou pelo  Gestor ou por qualquer dos Cotistas, desde que, uma vez notificados para sanar ou justificar o  descumprimento, o Administrador, o Custodiante e/ou o Gestor, conforme o caso, não o sane no prazo  de 5 (cinco) Dias Úteis contados do recebimento da referida notificação;</a:t>
            </a:r>
          </a:p>
          <a:p>
            <a:r>
              <a:t> (viii) aquisição, pela Classe, de Direitos Creditórios que estejam em desacordo com as Condições de Cessão e  os Critérios de Elegibilidade previstos neste Regulamento no momento de sua aquisição;</a:t>
            </a:r>
          </a:p>
          <a:p>
            <a:r>
              <a:t> (ix) alteração na classificação de risco das Cotas, se houver, que, para qualquer dado período após a  classificação de risco inicial das Cotas e/ou após a deliberação da Assembleia Especial de Cotistas a  respeito de um rebaixamento da classificação de risco das Cotas, implique no rebaixamento de dois  níveis na escala de risco pertinente elaborada pela Agência Classificadora de Risco; e/ou</a:t>
            </a:r>
          </a:p>
          <a:p>
            <a:r>
              <a:t> (x) renúncia do Gestor, sem que tenham sido tomadas tempestivamente as providências previstas no  CAPÍTULO 2 da parte geral deste Regulamento;</a:t>
            </a:r>
          </a:p>
          <a:p>
            <a:r>
              <a:t> (xi) no caso de o Contrato de Endosso celebrado com o Endossante, por qualquer razão, (a) seja declarado  inválido, nulo ou ineficaz por ordem judicial e/ou qualquer autoridade governamental; ou (b) tenha sua  validade ou eficácia, total ou parcialmente, contestada pelo Endossante, judicial ou administrativamente</a:t>
            </a:r>
          </a:p>
          <a:p>
            <a:r>
              <a:t> (xii) em caso de não renovação, cancelamento, revogação ou suspensão de concessões, autorizações,  subvenções, autorizações ou licenças, relevantes para o exercício regular dos negócios realizados pelo  Endossante, incluindo o Convênio Consignado Privado, e as autorizações regulatórias concedidas pelo  Banco Central, observado, caso aplicável, os prazos de cura dispostos no Contrato de Endosso;</a:t>
            </a:r>
          </a:p>
          <a:p>
            <a:r>
              <a:t> (xiii) no caso de o Endossante ou o Agente de Retenção/Cobrança e/ou seus acionistas controladores diretos  e/ou indiretos (pessoas físicas ou jurídicas), quotistas, diretores, conselheiros e/ou representantes e  colaboradores do Endossante ou seus acionistas controladores, (a) terem contra si uma decisão judicial  transitada em julgado envolvendo (1) crimes contra a propriedade, (2) crimes de falsificação, (3) crimes  contra o sistema financeiro nacional, (4) crimes contra o mercado de capitais, (5) crimes contra a  seguridade social, (6) crimes contra as relações de consumo e (7) crimes previstos na lei de falências;</a:t>
            </a:r>
          </a:p>
          <a:p>
            <a:r>
              <a:t> e/ou (b) violar as normas anticorrupção aplicáveis, especialmente a Lei nº 9.613, de 3 de março de 1998,  conforme alterada ou substituída de tempos em tempos, e qualquer outra a que estejam sujeitos, quer  contratual ou legalmente, desde que a violação mencionada seja considerada como, especialmente, mas  não limitada a (1) financiamento, crédito, patrocínio ou outra forma de subvenção à prática de atos  ilícitos previstos na legislação anticorrupção, de combate à lavagem de dinheiro, organizações  antissociais e/ou crime organizado; (2) promessa, oferta ou entrega, direta ou indiretamente, de  qualquer objeto de valor a um funcionário público ou terceiros para obter ou manter negócios ou para  obter qualquer vantagem indevida; (3) aceitação ou compromisso de aceitar, de quem quer que seja,  por si ou por outrem, qualquer pagamento, doação, compensação, vantagens financeiras ou não  financeiras ou benefícios de qualquer tipo, direta ou indiretamente relacionados com o objeto da Classe,  que constituam uma prática ilegal, que violem as boas condutas, a ética, a moral e constitua corrupção  nos termos das leis dos países da sede e onde existam filiais das partes envolvidas, das partes  contratantes; e</a:t>
            </a:r>
          </a:p>
          <a:p>
            <a:r>
              <a:t> (xiv) caso o cotista das Cotas Subordinadas deixe de ser titular das Cotas Subordinadas durante todo prazo  de duração da Classe;</a:t>
            </a:r>
          </a:p>
          <a:p>
            <a:r>
              <a:t> (xv) no caso de não serem realizados pagamentos de amortização e/ou resgate de Cotas Seniores, nos  termos, prazos e condições previstos no presente Regulamento e nos respectivos Apêndices e  Suplementos, não sanados em até 2 (dois) Dias Úteis contados do prazo final do respectivo evento;</a:t>
            </a:r>
          </a:p>
          <a:p>
            <a:r>
              <a:t> (xvi) no caso de pagamento de resgate e/ou amortização de Cotas Subordinadas em desacordo com os  termos, prazos e condições previstos no presente Regulamento e no respectivo Apêndice.</a:t>
            </a:r>
          </a:p>
          <a:p>
            <a:r>
              <a:t>CNPJ 63953620000165 · Substituição de prestadores · Condição: Documentos atuais selecionados no inventário por categoria/escopo; a data documental isolada não comprova vigência jurídica.</a:t>
            </a:r>
          </a:p>
          <a:p>
            <a:r>
              <a:t>CNPJ 63953620000165 · Substituição de prestadores · Motivo: Cláusula primária localizada e citada, mas sua lista/condições extensas não admitem uma síntese literal curta confirmada. O trecho integral permanece nas fontes.</a:t>
            </a:r>
          </a:p>
          <a:p>
            <a:r>
              <a:t>CNPJ 63953620000165 · Substituição de prestadores · Versão e prevalência: Documentos atuais selecionados no inventário por categoria/escopo; a data documental isolada não comprova vigência jurídica.</a:t>
            </a:r>
          </a:p>
          <a:p>
            <a:r>
              <a:t>CNPJ 54871427000194 · Rating por subclasse e downgrade · Regulamento · ID 670691 · 28/04/2024 · versão Regulamento — referência 28/04/2024 · p. 15 · Anexo I, 5.12 · https://fnet.bmfbovespa.com.br/fnet/publico/visualizarDocumento?id=670691</a:t>
            </a:r>
          </a:p>
          <a:p>
            <a:r>
              <a:t>CNPJ 54871427000194 · Rating por subclasse e downgrade · Excerto da fonte:</a:t>
            </a:r>
          </a:p>
          <a:p>
            <a:r>
              <a:t>5.12 As Cotas não serão classificadas por Agência Classificadora de Risco em funcionamento no País, uma vez que a Classe não será destinada ao público em geral. CAPÍTULO 6 – ATRIBUIÇÃO DE RESULTADO ÀS COTAS E CÁLCULO DO VALOR UNITÁRIO 6.1 As Cotas terão seu Valor Unitário calculado e divulgado pelo ADMINISTRADOR mensalmente, no último Dia Útil de cada mês, no fechamento dos mercados, a partir do mês seguinte à Data da 1ª Integralização e até a data de resgate das Cotas ou na data de liquidação da Classe Única, conforme o caso. 6.2 A partir da Data da 1ª Integralização de Cotas, o Valor Unitário das Cotas s erá calculado no fechamento do último Dia Útil de cada mês, equivalerá ao resultado da divisão do valor do Patrimônio Líquido apurado para o respectivo dia, pelo número de Cotas em circulação na respectiva data de cálculo . CAPÍTULO 7 – AMORTIZAÇÃO E RESGATE DAS COTAS 7.1 A distribuição de quaisquer ganhos e rendimentos d a Classe aos Cotistas será f eita exclusivamente mediante a Amortização e/ou o resgate de Cotas, observado o disposto neste Capítulo. 7.2 As amortizações de Cotas serão realizadas a qualquer tempo, a critério do GESTOR, observada a disponibilidade de recursos da Classe Única e a</a:t>
            </a:r>
          </a:p>
          <a:p>
            <a:r>
              <a:t>CNPJ 54871427000194 · Rating por subclasse e downgrade · Versão e prevalência: Leitura específica das cláusulas indicadas; condições e conflitos preservados. Seleção documental atual não comprova vigência jurídica por data isolada.</a:t>
            </a:r>
          </a:p>
          <a:p>
            <a:r>
              <a:t>CNPJ 54871427000194 · Rating por subclasse e downgrade · Resumo do histórico: {"count": 5, "dates": ["2024-12-31", "2025-01-01", "2025-12-31"], "document_count": 3, "sources": [{"document_id": "1151805", "title": "Demonstrações Financeiras", "reference_date": "2025-12-31", "version": "1", "page": 25, "url": "https://fnet.bmfbovespa.com.br/fnet/publico/visualizarDocumento?id=1151805", "sha256": "f1cea70b152968bf96ef9221b27225953cb20aeef487b2798db3c25e11b528d4"}, {"document_id": "869529", "title": "Demonstrações Financeiras", "reference_date": "2025-01-01", "version": "1", "page": 25, "url": "https://fnet.bmfbovespa.com.br/fnet/publico/visualizarDocumento?id=869529", "sha256": "9a93a9369ac8efdbc54ff8fcee3ccac3abf88edab4807b9323d3852450771b2a"}, {"document_id": "870070", "title": "Demonstrações Financeiras", "reference_date": "2024-12-31", "version": "1", "page": 25, "url": "https://fnet.bmfbovespa.com.br/fnet/publico/visualizarDocumento?id=870070", "sha256": "9a93a9369ac8efdbc54ff8fcee3ccac3abf88edab4807b9323d3852450771b2a"}], "reference": {"path": "history/54871427000194.json", "criterion_id": "rating", "total_count": 5, "preview_count": 3, "full_text_deferred": true, "sha256": "35d7cd99be50c7287c9fb675cf4f2e736002315295a225a9efa79c8d9186d874"}}</a:t>
            </a:r>
          </a:p>
          <a:p>
            <a:r>
              <a:t>CNPJ 60010416000112 · Rating por subclasse e downgrade · Demonstrações Financeiras - Fusão, cisão e incorporação · ID 1298690 · 2026-05-08 · versão 1 · p. 35 · https://fnet.bmfbovespa.com.br/fnet/publico/visualizarDocumento?id=1298690</a:t>
            </a:r>
          </a:p>
          <a:p>
            <a:r>
              <a:t>CNPJ 60010416000112 · Rating por subclasse e downgrade · Excerto da fonte:</a:t>
            </a:r>
          </a:p>
          <a:p>
            <a:r>
              <a:t>As Cotas Seniores poderão ser objeto de classificação de risco (rating) por Agência  Classificadora de Risco em funcionamento no país.</a:t>
            </a:r>
          </a:p>
          <a:p>
            <a:r>
              <a:t>CNPJ 60010416000112 · Rating por subclasse e downgrade · Condição: Documentos atuais selecionados no inventário por categoria/escopo; a data documental isolada não comprova vigência jurídica.</a:t>
            </a:r>
          </a:p>
          <a:p>
            <a:r>
              <a:t>CNPJ 60010416000112 · Rating por subclasse e downgrade · Versão e prevalência: Documentos atuais selecionados no inventário por categoria/escopo; a data documental isolada não comprova vigência jurídica.</a:t>
            </a:r>
          </a:p>
          <a:p>
            <a:r>
              <a:t>CNPJ 60010416000112 · Rating por subclasse e downgrade · Resumo do histórico: {"count": 5, "dates": ["2025-11-30", "2026-03-18", "2026-04-16"], "document_count": 3, "sources": [{"document_id": "1282181", "title": "Demonstrações Financeiras - Fusão, cisão e incorporação", "reference_date": "2026-04-16", "version": "1", "page": 38, "url": "https://fnet.bmfbovespa.com.br/fnet/publico/visualizarDocumento?id=1282181", "sha256": "b1c6566e43a00bcd00c8a7f30c77b7f86e351bd8e355bbea113f46d1dafda703"}, {"document_id": "1224477", "title": "Demonstrações Financeiras - Fusão, cisão e incorporação", "reference_date": "2026-03-18", "version": "1", "page": 37, "url": "https://fnet.bmfbovespa.com.br/fnet/publico/visualizarDocumento?id=1224477", "sha256": "0751bf0a75bc3b44c2748f5000226665c6ec6698a90c4dc6170b4e6c187759ae"}, {"document_id": "1126154", "title": "Demonstrações Financeiras", "reference_date": "2025-11-30", "version": "1", "page": 38, "url": "https://fnet.bmfbovespa.com.br/fnet/publico/visualizarDocumento?id=1126154", "sha256": "a01e7ccf88c548f12c95cba8526d7efbef6b585c112cd4668eca781c292090b0"}], "reference": {"path": "history/60010416000112.json", "criterion_id": "rating", "total_count": 5, "preview_count": 3, "full_text_deferred": true, "sha256": "8e2bd813f4c51cf01f6bfaad164bafe69d2bbb192f753eac92da3a01c2e63046"}}</a:t>
            </a:r>
          </a:p>
          <a:p>
            <a:r>
              <a:t>CNPJ 62696791000193 · Rating por subclasse e downgrade · Regulamento · ID 1143317 · 2026-03-20 · versão 1 · p. 3 · 2.1.2 · https://fnet.bmfbovespa.com.br/fnet/publico/visualizarDocumento?id=1143317</a:t>
            </a:r>
          </a:p>
          <a:p>
            <a:r>
              <a:t>CNPJ 62696791000193 · Rating por subclasse e downgrade · Excerto da fonte:</a:t>
            </a:r>
          </a:p>
          <a:p>
            <a:r>
              <a:t>2.1.2 Não obstante as atribuições previstas neste Regulamento e na regulamentação aplicável, cabe  ao Gestor praticar os atos necessários à gestão da carteira de ativos do Fundo, o que inclui,  mas não se limita, à contratação, em nome do Fundo ou da classe de cot as, dos seguintes  serviços: (a) intermediação de operações para carteira de ativos; (b) distribuição de cotas; (c)  consultoria de investimentos ou consultoria especializada; (d) classificação de risco por agência  de classificação de risco de crédito; (e) f ormador de mercado de classe f echada; (f ) cogestão  da carteira de ativos; (g) empresa especializada para administrar as locações ou arrendamentos  de imóveis rurais e a exploração do direito de superf ície, assim como para monitorar e</a:t>
            </a:r>
          </a:p>
          <a:p>
            <a:r>
              <a:t>CNPJ 62696791000193 · Rating por subclasse e downgrade · Regulamento · ID 1143317 · 2026-03-20 · versão 1 · p. 36 · 1.2 · https://fnet.bmfbovespa.com.br/fnet/publico/visualizarDocumento?id=1143317</a:t>
            </a:r>
          </a:p>
          <a:p>
            <a:r>
              <a:t>CNPJ 62696791000193 · Rating por subclasse e downgrade · Excerto da fonte:</a:t>
            </a:r>
          </a:p>
          <a:p>
            <a:r>
              <a:t>1.2. As Cotas Subordinadas Juniores serão subscritas e integralizadas por um único Cotista e/ou por Cotistas  vinculados por interesse único e indissociável, de forma que serão objeto de colocação privada, nos termos  do Compromisso de Investimento a ser f irmado pelo Cotista, dispensadas da classificação de risco e não  terão parâmetro de remuneração def inido.</a:t>
            </a:r>
          </a:p>
          <a:p>
            <a:r>
              <a:t>2. Emissão, Subscrição e Integralização das Cotas</a:t>
            </a:r>
          </a:p>
          <a:p>
            <a:r>
              <a:t>CNPJ 62696791000193 · Rating por subclasse e downgrade · Condição: Documentos atuais selecionados no inventário por categoria/escopo; a data documental isolada não comprova vigência jurídica.</a:t>
            </a:r>
          </a:p>
          <a:p>
            <a:r>
              <a:t>CNPJ 62696791000193 · Rating por subclasse e downgrade · Versão e prevalência: Documentos atuais selecionados no inventário por categoria/escopo; a data documental isolada não comprova vigência jurídica.</a:t>
            </a:r>
          </a:p>
          <a:p>
            <a:r>
              <a:t>CNPJ 55563624000109 · Rating por subclasse e downgrade · Regulamento · ID 1192614 · 30/04/2026 · versão Regulamento30/04/2026 · p. 44 · GlossárioTermo de Adesão · https://fnet.bmfbovespa.com.br/fnet/publico/visualizarDocumento?id=1192614</a:t>
            </a:r>
          </a:p>
          <a:p>
            <a:r>
              <a:t>CNPJ 55563624000109 · Rating por subclasse e downgrade · Excerto da fonte:</a:t>
            </a:r>
          </a:p>
          <a:p>
            <a:r>
              <a:t>Termo de Adesão”: documento elaborado nos termos do art. 29 da Resolução CVM 175, por meio do qual o Cotista adere a este Regulamento e que deve ser firmado quando de seu ingresso no FUNDO, declarando, inclusive, sem se limitar a, ter pleno conhecimento dos riscos envolvidos na operação, inclusive da possibilidade de perda total do capital investido, e da ausência de classificação de risco das Cotas subscritas; “Valor Unitário”: o valor individual das Cotas, equivalente a R$ 1.000,00 (um mil), na primeira Data de Emissão, calculado todo Dia Útil para efeito da definição de seu valor de integralização e</a:t>
            </a:r>
          </a:p>
          <a:p>
            <a:r>
              <a:t>CNPJ 55563624000109 · Rating por subclasse e downgrade · Versão e prevalência: Leitura específica das cláusulas indicadas; condições e conflitos preservados. Seleção documental atual não comprova vigência jurídica por data isolada.</a:t>
            </a:r>
          </a:p>
          <a:p>
            <a:r>
              <a:t>CNPJ 55563624000109 · Rating por subclasse e downgrade · Resumo do histórico: {"count": 2, "dates": ["2025-01-31", "2026-01-31"], "document_count": 2, "sources": [{"document_id": "1178840", "title": "Demonstrações Financeiras", "reference_date": "2026-01-31", "version": "1", "page": 22, "url": "https://fnet.bmfbovespa.com.br/fnet/publico/visualizarDocumento?id=1178840", "sha256": "c458e98664c5c907ddb5a05a94b120bed4e05295b2bfc420f5ba69af0a229abe"}, {"document_id": "891861", "title": "Demonstrações Financeiras", "reference_date": "2025-01-31", "version": "1", "page": 23, "url": "https://fnet.bmfbovespa.com.br/fnet/publico/visualizarDocumento?id=891861", "sha256": "e9cb9e6ddbe505fe068cfcac33605165a98313489de0d3ce6d4d238263c3f3e7"}], "reference": {"path": "history/55563624000109.json", "criterion_id": "rating", "total_count": 2, "preview_count": 2, "full_text_deferred": true, "sha256": "7835d573fb58a3c19adf5b8ecc2aee2bdbb9a88f7a0c0209b5f262b64c7522e3"}}</a:t>
            </a:r>
          </a:p>
          <a:p>
            <a:r>
              <a:t>CNPJ 62552447000120 · Rating por subclasse e downgrade · Regulamento · ID 1200623 · 21/05/2026 · versão Consolidado21/05/2026 aprovado pelo ato1200625 · p. 19 · AnexoI6.11 · https://fnet.bmfbovespa.com.br/fnet/publico/visualizarDocumento?id=1200623</a:t>
            </a:r>
          </a:p>
          <a:p>
            <a:r>
              <a:t>CNPJ 62552447000120 · Rating por subclasse e downgrade · Excerto da fonte:</a:t>
            </a:r>
          </a:p>
          <a:p>
            <a:r>
              <a:t>6.11 As Cotas não serão objeto de classif icação de risco . CAPÍTULO 7 – AMORTIZAÇÃO DAS COTAS 7.1 A distribuição de quaisquer ganhos e rendimentos d a Classe aos Cotistas será f eita exclusivamente mediante a Amortização, observado o disposto neste Capítulo. 7.2 As Cotas poderão ser amortizadas através de uma Amortização programada, se houver, conforme prevista nos Apêndices, caso aplicável (“Amortização Programada”), e por meio amortização extraordinária das Cotas, a ser realizada por (a) por decisão do Gestor, para: (i) reenquadramento da Carteira ao mínimo de Direitos Creditórios que deve ser detido pel</a:t>
            </a:r>
          </a:p>
          <a:p>
            <a:r>
              <a:t>CNPJ 62552447000120 · Rating por subclasse e downgrade · Versão e prevalência: Leitura específica das cláusulas indicadas; condições e conflitos preservados. Seleção documental atual não comprova vigência jurídica por data isolada.</a:t>
            </a:r>
          </a:p>
          <a:p>
            <a:r>
              <a:t>CNPJ 63953620000165 · Rating por subclasse e downgrade · Anexo ao Regulamento · ID 1222863 · 02/06/2026 · versão AnexoConsignadoPrivado02/06/2026 · p. 11 · 6.14 · https://fnet.bmfbovespa.com.br/fnet/publico/visualizarDocumento?id=1222863</a:t>
            </a:r>
          </a:p>
          <a:p>
            <a:r>
              <a:t>CNPJ 63953620000165 · Rating por subclasse e downgrade · Excerto da fonte:</a:t>
            </a:r>
          </a:p>
          <a:p>
            <a:r>
              <a:t>6.14 As Cotas poderão ser objeto de classificação de risco pela contratada pelo Gestor, desde que em comum acordo entre Gestor e Cotistas Subordinados em Assembleia Especial de Cotistas (“Agência Classificadora de Risco”). CAPÍTULO 7 – AMORTIZAÇÃO DAS COTAS 7.1 A distribuição de quaisquer ganhos e rendimentos da Classe aos Cotistas será feita exclusivamente mediante a Amortização de Cotas, observado o disposto neste Capítulo e nos Apêndices. 7.2 As Cotas poderão ser amortizadas através de uma Amortização por Regime de Caixa, se houver conforme prevista nos Apêndices; e por meio amortização extraordinária das Cotas, a ser realiz</a:t>
            </a:r>
          </a:p>
          <a:p>
            <a:r>
              <a:t>CNPJ 63953620000165 · Rating por subclasse e downgrade · Versão e prevalência: Leitura específica das cláusulas indicadas; condições e conflitos preservados. Seleção documental atual não comprova vigência jurídica por data isolada.</a:t>
            </a:r>
          </a:p>
          <a:p>
            <a:r>
              <a:t>CNPJ 63953620000165 · Rating por subclasse e downgrade · Resumo do histórico: {"count": 8, "dates": ["2026-04-28", "2026-05-08", "2026-05-15"], "document_count": 3, "sources": [{"document_id": "1327859", "title": "Demonstrações Financeiras - Fusão, cisão e incorporação", "reference_date": "2026-05-15", "version": "1", "page": 29, "url": "https://fnet.bmfbovespa.com.br/fnet/publico/visualizarDocumento?id=1327859", "sha256": "dca1c68babb97f887528c3e2e47596a9c30f507b067981a35655b2f2da9c8054"}, {"document_id": "1298691", "title": "Demonstrações Financeiras - Fusão, cisão e incorporação", "reference_date": "2026-05-08", "version": "1", "page": 30, "url": "https://fnet.bmfbovespa.com.br/fnet/publico/visualizarDocumento?id=1298691", "sha256": "58c570d9b8d4d265330d3db3ea81c435b8e44a6dab4002aa37790652a1ee9819"}, {"document_id": "1282180", "title": "Demonstrações Financeiras - Fusão, cisão e incorporação", "reference_date": "2026-04-28", "version": "1", "page": 30, "url": "https://fnet.bmfbovespa.com.br/fnet/publico/visualizarDocumento?id=1282180", "sha256": "afaaa0e6809be4385e5bdb6c911aac582032c5bdbac3d7750234bf9eaf00438a"}], "reference": {"path": "history/63953620000165.json", "criterion_id": "rating",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Hedge e prestadores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Finalidade e limites de derivativos · Regulamento · ID 670691 · 28/04/2024 · versão Regulamento — referência 28/04/2024 · p. 13 · Anexo I, 4.15–4.16 · https://fnet.bmfbovespa.com.br/fnet/publico/visualizarDocumento?id=670691</a:t>
            </a:r>
          </a:p>
          <a:p>
            <a:r>
              <a:t>CNPJ 54871427000194 · Finalidade e limites de derivativos · Excerto da fonte:</a:t>
            </a:r>
          </a:p>
          <a:p>
            <a:r>
              <a:t>4.15 A Classe poderá utilizar instrumentos derivativos, desde que com o objetivo de proteção patrimonial, ou, desde que não resulte em exposição a risco de capital, conforme definida no inciso XXIV Art. 3º da parte geral da Resolução CVM 175, troca de indexador a que os ativos estão indexados . 4.16 A Classe não realizará operações de day trade, assim consideradas aquelas iniciadas e encerradas no mesmo dia, independentemente de a Classe possuir estoque ou posição anterior do mesmo Ativo Financeiro. 4.17 É vedada qualquer forma de antecipação de recursos aos Endossantes para posterior reembolso pela Classe, seja pelo ADMINISTRADOR, GESTOR, CUSTODIANTE, consultora ou Originadores. 4.18 Exceto na medida em que eventualmente previsto nos Contratos de Cessão e/ou em instrumentos eventualmente celebrados entre a Classe e os Endossantes, os Endossantes não serão responsáveis em caso de eventual inadimplemento dos Direitos Creditórios por eles cedidos, sendo responsáveis, não obstante, apenas pela existência, certeza, conteúdo, exatidão, veracidade, legitimidade, validade e correta f ormalização dos Direitos Creditórios que cederem à Classe, nos termos da</a:t>
            </a:r>
          </a:p>
          <a:p>
            <a:r>
              <a:t>CNPJ 54871427000194 · Finalidade e limites de derivativos · Versão e prevalência: Leitura específica das cláusulas indicadas; condições e conflitos preservados. Seleção documental atual não comprova vigência jurídica por data isolada.</a:t>
            </a:r>
          </a:p>
          <a:p>
            <a:r>
              <a:t>CNPJ 54871427000194 · Finalidade e limites de derivativos · Resumo do histórico: {"count": 2, "dates": ["2024-04-19", "2024-04-28"], "document_count": 2, "sources": [{"document_id": "670691", "title": "Regulamento", "reference_date": "2024-04-28", "version": "1", "page": "13", "url": "https://fnet.bmfbovespa.com.br/fnet/publico/visualizarDocumento?id=670691", "sha256": "bf16dd7f1a62d5cdbf2e2d54fef81783783f7310fbc99c3a8f00459bdf9d037b"}, {"document_id": "670689", "title": "Regulamento", "reference_date": "2024-04-19", "version": "1", "page": 13, "clause": "4.15", "url": "https://fnet.bmfbovespa.com.br/fnet/publico/visualizarDocumento?id=670689", "sha256": "891bc9bc5d87bbc02ec139077a84d2702eb81ea02035fb71d24f5b8366b94a0b"}], "reference": {"path": "history/54871427000194.json", "criterion_id": "hedge", "total_count": 2, "preview_count": 2, "full_text_deferred": true, "sha256": "35d7cd99be50c7287c9fb675cf4f2e736002315295a225a9efa79c8d9186d874"}}</a:t>
            </a:r>
          </a:p>
          <a:p>
            <a:r>
              <a:t>CNPJ 60010416000112 · Finalidade e limites de derivativos · Regulamento · ID 1051393 · 2025-10-09 · versão 1 · p. 12 · 4.9 · https://fnet.bmfbovespa.com.br/fnet/publico/visualizarDocumento?id=1051393</a:t>
            </a:r>
          </a:p>
          <a:p>
            <a:r>
              <a:t>CNPJ 60010416000112 · Finalidade e limites de derivativos · Excerto da fonte:</a:t>
            </a:r>
          </a:p>
          <a:p>
            <a:r>
              <a:t>4.9 Sem prejuízo de limites mais restritivos definidos neste Regulamento, o Gestor deverá observar, ainda, os  seguintes limites de concentração para a composição da Carteira:</a:t>
            </a:r>
          </a:p>
          <a:p>
            <a:r>
              <a:t> (i ) Até 100% (cem por cento) da parcela do Patrimônio Líquido investida em Ativos  Financeiros de Liquidez poderá ser alocada em Ativos Financeiros de Liquidez de  emissão ou que envolvam retenção de risco por parte do Administrador, Gestor, e/ou  suas partes relacionadas; e</a:t>
            </a:r>
          </a:p>
          <a:p>
            <a:r>
              <a:t> (ii) Até 100% (cem por cento) da parcela do Patrimônio Líquido investida em operações  com derivativos poderá ser alocada em derivativos nos quais, inexistindo contraparte  central, se tenha como contraparte o Gestor e/ou suas partes relacionadas.</a:t>
            </a:r>
          </a:p>
          <a:p>
            <a:r>
              <a:t>CNPJ 60010416000112 · Finalidade e limites de derivativos · Regulamento · ID 1051393 · 2025-10-09 · versão 1 · p. 13 · 4.15 · https://fnet.bmfbovespa.com.br/fnet/publico/visualizarDocumento?id=1051393</a:t>
            </a:r>
          </a:p>
          <a:p>
            <a:r>
              <a:t>CNPJ 60010416000112 · Finalidade e limites de derivativos · Excerto da fonte:</a:t>
            </a:r>
          </a:p>
          <a:p>
            <a:r>
              <a:t>4.15 A Classe poderá utilizar instrumentos derivativos, observados os limites de concentração previstos neste  Regulamento, desde que com o objetivo de proteção patrimonial, ou, desde que não resulte em exposição  a risco de capital, conforme definida no inciso XXIV do Art. 3º da parte geral da Resolução CVM 175, troca  de indexador a que os ativos estão indexados e o índice de ref erência de cada Subclasse.</a:t>
            </a:r>
          </a:p>
          <a:p>
            <a:r>
              <a:t>CNPJ 60010416000112 · Finalidade e limites de derivativos · Regulamento · ID 1051393 · 2025-10-09 · versão 1 · p. 16 · 7.11 · https://fnet.bmfbovespa.com.br/fnet/publico/visualizarDocumento?id=1051393</a:t>
            </a:r>
          </a:p>
          <a:p>
            <a:r>
              <a:t>CNPJ 60010416000112 · Finalidade e limites de derivativos · Excerto da fonte:</a:t>
            </a:r>
          </a:p>
          <a:p>
            <a:r>
              <a:t>7.11 Sem prejuízo do disposto do disposto nos itens 7.1 a 7.10 acima, a partir da Data da 1ª Integralização de  Cotas até a liquidação integral das Obrigações da Classe, sempre preservando a manutenção da boa  ordem legal, administrativa e operacional da Classe, o Gestor obriga-se a utilizar os recursos disponíveis  na Conta de Movimentação da Classe e/ou mantidos em Ativos Financeiros de Liquidez, em cada Dia Útil,  de acordo com a seguinte ordem de prioridade de alocação, na forma dos itens e tabela abaixo, de modo  que cada um dos itens listado apenas será contemplado após o direcionamento do montante total  necessário para a satisfação dos itens anteriores, ressalvado, enquanto em curso um Evento de Avaliação  e/ou um Evento de Liquidação, o disposto no item 11.4.1 abaixo</a:t>
            </a:r>
          </a:p>
          <a:p>
            <a:r>
              <a:t> (i) entradas de recursos provenientes da integralização de Cotas e dos Direitos Creditórios e  Ativos Financeiros de Liquidez que compõem a carteira da Classe, durante o Período de  Investimento, na seguinte ordem:</a:t>
            </a:r>
          </a:p>
          <a:p>
            <a:r>
              <a:t> a. pagamento dos Encargos;</a:t>
            </a:r>
          </a:p>
          <a:p>
            <a:r>
              <a:t> b. pagamento de despesas relativas aos instrumentos derivativos, conf orme aplicável;</a:t>
            </a:r>
          </a:p>
          <a:p>
            <a:r>
              <a:t> c. aquisição de Direitos Creditórios, sempre que ofertado, em moeda corrente nacional, em  conf ormidade com a Política de Investimento descrita neste Regulamento, sem prejuízo  do disposto no item 4.12 acima; e  d. aquisição de Ativos Financeiros de Liquidez, observando-se a Política de Investimentos.</a:t>
            </a:r>
          </a:p>
          <a:p>
            <a:r>
              <a:t> (ii) entradas de recursos provenientes dos Direitos Creditórios e Ativos Financeiros de Liquidez  que compõem a carteira da Classe, após o término do Período de Investimento, na seguinte  ordem, observadas as seguintes condições:</a:t>
            </a:r>
          </a:p>
          <a:p>
            <a:r>
              <a:t> a. pagamento dos Encargos;</a:t>
            </a:r>
          </a:p>
          <a:p>
            <a:r>
              <a:t> b. pagamento de despesas relativas aos instrumentos derivativos, conf orme aplicável;</a:t>
            </a:r>
          </a:p>
          <a:p>
            <a:r>
              <a:t> c. pagamento da amortização do principal e dos rendimentos acumulados relacionados às  Cotas Seniores, de modo que, considerando, pro f orma, todas as amortizações  pretendidas, o percentual empregado para amortização das Cotas Seniores seja  equivalente à relação entre o Patrimônio Líquido Sênior dividido pelo Patrimônio Líquido  da Classe, com a devida observância dos termos e condições deste Regulamento, do  Apêndice e do Suplemento das Cotas Seniores;</a:t>
            </a:r>
          </a:p>
          <a:p>
            <a:r>
              <a:t> d. pagamento da amortização do principal e dos rendimentos acumulados relacionados às  Cotas Subordinadas, de modo que, considerando, pro f orma, todas as amortizações  pretendidas, o percentual empregado para amortização das Cotas Subordinadas seja  equivalente à relação entre o Patrimônio Líquido Subordinado dividido pelo Patrimônio  Líquido da Classe, com a devida observância dos termos e condições deste  Regulamento, do Apêndice e do Suplemento das Cotas Seniores e desde que  respeitados o Índice de Subordinação;</a:t>
            </a:r>
          </a:p>
          <a:p>
            <a:r>
              <a:t> e. aquisição de Ativos Financeiros, observado o limite de alocação previsto no item 4.7  deste Anexo I.</a:t>
            </a:r>
          </a:p>
          <a:p>
            <a:r>
              <a:t>CNPJ 60010416000112 · Finalidade e limites de derivativos · Condição: Documentos atuais selecionados no inventário por categoria/escopo; a data documental isolada não comprova vigência jurídica.</a:t>
            </a:r>
          </a:p>
          <a:p>
            <a:r>
              <a:t>CNPJ 60010416000112 · Finalidade e limites de derivativos · Versão e prevalência: Documentos atuais selecionados no inventário por categoria/escopo; a data documental isolada não comprova vigência jurídica.</a:t>
            </a:r>
          </a:p>
          <a:p>
            <a:r>
              <a:t>CNPJ 60010416000112 · Finalidade e limites de derivativos · Resumo do histórico: {"count": 2, "dates": ["2025-03-20", "2025-10-09"], "document_count": 2, "sources": [{"document_id": "1051393", "title": "Regulamento", "reference_date": "2025-10-09", "version": "1", "page": "13", "url": "https://fnet.bmfbovespa.com.br/fnet/publico/visualizarDocumento?id=1051393", "sha256": "8469d613078ffd5a6c1d217885d8a397a16342c0b937ae4aa24b106505f233ae"}, {"document_id": "993786", "title": "Regulamento", "reference_date": "2025-03-20", "version": "1", "page": 12, "clause": "4.9", "url": "https://fnet.bmfbovespa.com.br/fnet/publico/visualizarDocumento?id=993786", "sha256": "fd0fdd369a195510d81f81f505195a0b09e5f43522a990afa7d58c4f872921c8"}], "reference": {"path": "history/60010416000112.json", "criterion_id": "hedge", "total_count": 2, "preview_count": 2, "full_text_deferred": true, "sha256": "8e2bd813f4c51cf01f6bfaad164bafe69d2bbb192f753eac92da3a01c2e63046"}}</a:t>
            </a:r>
          </a:p>
          <a:p>
            <a:r>
              <a:t>CNPJ 62696791000193 · Finalidade e limites de derivativos · Regulamento · ID 1143317 · 20/03/2026 · versão Regulamento — referência 20/03/2026 · p. 15 · Anexo I, 4.28 e 4.30(i) · https://fnet.bmfbovespa.com.br/fnet/publico/visualizarDocumento?id=1143317</a:t>
            </a:r>
          </a:p>
          <a:p>
            <a:r>
              <a:t>CNPJ 62696791000193 · Finalidade e limites de derivativos · Excerto da fonte:</a:t>
            </a:r>
          </a:p>
          <a:p>
            <a:r>
              <a:t>4.28 A Classe pode aplicar recursos em instrumentos financeiros derivativos, exclusivamente para fins de proteção patrimonial, cuja exposição seja sempre, no máximo, o valor do Patrimônio Líquido. 4.29 A Classe pode emprestar ativos f inanceiros e valores mobiliários, desde que tais operações de empréstimo sejam cursadas exclusivamente por meio de serviço autorizado pelo Banco Central do Brasil ou pela CVM. 4.30 É vedado à Classe: (i) aplicar no exterior recursos captados no País; (ii) salvo aprovação em assembleia de Cotistas, a realização de operações quando caracterizada situação de conf lito de interesses entre: (a) a Classe, o Administrador ou o Gestor ou a Consultoria Especializada; (b) a Classe e os Cotistas que detenham participação correspondente a, no mínimo, 10% (dez por cento) do patrimônio da Classe; e (c) a Classe e o representante dos Cotistas; (iii) a aplicação de recursos em sociedades nas quais participem o Administrador, o Gestor, os consultores, os membros de comitês ou conselhos e os Cotistas titulares de Cotas representativas de 5% (cinco por cento) do patri</a:t>
            </a:r>
          </a:p>
          <a:p>
            <a:r>
              <a:t>CNPJ 62696791000193 · Finalidade e limites de derivativos · Regulamento · ID 1143317 · 20/03/2026 · versão Regulamento — referência 20/03/2026 · p. 27 · Anexo I, 12.11(x) · https://fnet.bmfbovespa.com.br/fnet/publico/visualizarDocumento?id=1143317</a:t>
            </a:r>
          </a:p>
          <a:p>
            <a:r>
              <a:t>CNPJ 62696791000193 · Finalidade e limites de derivativos · Excerto da fonte:</a:t>
            </a:r>
          </a:p>
          <a:p>
            <a:r>
              <a:t>(x) realizar operações com derivativos, exceto quando tais operações f orem realizadas exclusivamente para f ins de proteção patrimonial e desde que a exposição seja sempre, no máximo, o valor do Patrimônio Líquido. 12.11.1 A vedação prevista no item (v) acima não impede a aquisição de imóveis sobre os quais tenham sido constituídos ônus reais anteriormente ao seu ingresso no patrimônio . 12.12 É vedado ao Gestor o recebimento de qualquer remuneração, benefício ou vantagem, direta ou indiretamente, que potencialmente prejudique sua independência na tomada de decisão. Consultoria Especializada 12.13 O Gestor, conforme disposto no Anexo Normativo VI da Resolução 175, poderá contratar Consultoria Especializada para que preste os seguintes serviços (“Consultoria Especializada”): (i) Analisar, selecionar, avaliar e acompanhar, de acordo com a Política de Investimentos deste Anexo, os ativos integrantes ou que possam vir a integrar a carteira da classe do Fundo; (ii) Participar de negociações e propor negócios à classe, observada a Política de Investimentos constante deste Anexo;</a:t>
            </a:r>
          </a:p>
          <a:p>
            <a:r>
              <a:t>CNPJ 62696791000193 · Finalidade e limites de derivativos · Versão e prevalência: Leitura específica das cláusulas indicadas; condições e conflitos preservados. Seleção documental atual não comprova vigência jurídica por data isolada.</a:t>
            </a:r>
          </a:p>
          <a:p>
            <a:r>
              <a:t>CNPJ 55563624000109 · Finalidade e limites de derivativos · Regulamento · ID 1192614 · 2026-04-30 · versão 1 · p. 14 · 4.21 · https://fnet.bmfbovespa.com.br/fnet/publico/visualizarDocumento?id=1192614</a:t>
            </a:r>
          </a:p>
          <a:p>
            <a:r>
              <a:t>CNPJ 55563624000109 · Finalidade e limites de derivativos · Excerto da fonte:</a:t>
            </a:r>
          </a:p>
          <a:p>
            <a:r>
              <a:t>4.21 A Classe poderá utilizar instrumentos derivativos, desde que com o objetivo de proteção patrimonial, ou, desde  que não resulte em exposição a risco de capital, conforme definida no inciso XXIV do Art. 3º da parte geral da  Resolução CVM 175 ou em troca de indexador a que os ativos estão indexados.</a:t>
            </a:r>
          </a:p>
          <a:p>
            <a:r>
              <a:t>CNPJ 55563624000109 · Finalidade e limites de derivativos · Regulamento · ID 1192614 · 2026-04-30 · versão 1 · p. 39 · https://fnet.bmfbovespa.com.br/fnet/publico/visualizarDocumento?id=1192614</a:t>
            </a:r>
          </a:p>
          <a:p>
            <a:r>
              <a:t>CNPJ 55563624000109 · Finalidade e limites de derivativos · Excerto da fonte:</a:t>
            </a:r>
          </a:p>
          <a:p>
            <a:r>
              <a:t>(xxii) Operações com derivativos. A Classe poderá realizar operações com derivativos  exclusivamente com o objetivo de proteção patrimonial. As operações com derivativos, pela sua  própria natureza, acrescentam riscos à Carteira e poderão afetar negativamente a sua rentabilidade,  até o limite do Patrimônio Líquido.</a:t>
            </a:r>
          </a:p>
          <a:p>
            <a:r>
              <a:t>CNPJ 55563624000109 · Finalidade e limites de derivativos · Condição: Documentos atuais selecionados no inventário por categoria/escopo; a data documental isolada não comprova vigência jurídica.</a:t>
            </a:r>
          </a:p>
          <a:p>
            <a:r>
              <a:t>CNPJ 55563624000109 · Finalidade e limites de derivativos · Versão e prevalência: Documentos atuais selecionados no inventário por categoria/escopo; a data documental isolada não comprova vigência jurídica.</a:t>
            </a:r>
          </a:p>
          <a:p>
            <a:r>
              <a:t>CNPJ 55563624000109 · Finalidade e limites de derivativos · Resumo do histórico: {"count": 3, "dates": ["2025-01-31", "2026-01-31", "2026-04-30"], "document_count": 3, "sources": [{"document_id": "1192614", "title": "Regulamento", "reference_date": "2026-04-30", "version": "1", "page": "14", "url": "https://fnet.bmfbovespa.com.br/fnet/publico/visualizarDocumento?id=1192614", "sha256": "f56e63ace0acde41d2f47fb48f1ac7f3f7df5e2d32de092d7c5e075a52516632"}, {"document_id": "1178840", "title": "Demonstrações Financeiras", "reference_date": "2026-01-31", "version": "1", "page": 25, "url": "https://fnet.bmfbovespa.com.br/fnet/publico/visualizarDocumento?id=1178840", "sha256": "c458e98664c5c907ddb5a05a94b120bed4e05295b2bfc420f5ba69af0a229abe"}, {"document_id": "891861", "title": "Demonstrações Financeiras", "reference_date": "2025-01-31", "version": "1", "page": 26, "url": "https://fnet.bmfbovespa.com.br/fnet/publico/visualizarDocumento?id=891861", "sha256": "e9cb9e6ddbe505fe068cfcac33605165a98313489de0d3ce6d4d238263c3f3e7"}], "reference": {"path": "history/55563624000109.json", "criterion_id": "hedge", "total_count": 3, "preview_count": 3, "full_text_deferred": true, "sha256": "7835d573fb58a3c19adf5b8ecc2aee2bdbb9a88f7a0c0209b5f262b64c7522e3"}}</a:t>
            </a:r>
          </a:p>
          <a:p>
            <a:r>
              <a:t>CNPJ 62552447000120 · Finalidade e limites de derivativos · Regulamento · ID 1200623 · 21/05/2026 · versão Consolidado21/05/2026 aprovado pelo ato1200625 · p. 14 · AnexoI4.10.1 · https://fnet.bmfbovespa.com.br/fnet/publico/visualizarDocumento?id=1200623</a:t>
            </a:r>
          </a:p>
          <a:p>
            <a:r>
              <a:t>CNPJ 62552447000120 · Finalidade e limites de derivativos · Excerto da fonte:</a:t>
            </a:r>
          </a:p>
          <a:p>
            <a:r>
              <a:t>4.10.1 O uso de derivativos está restrito a operações que visem à proteção patrimonial ou, desde que não resulte em exposição a risco de capital, à troca de indexador e/ou do índice de referência. 4.11 Sem prejuízo de limites mais restritivos definidos neste Regulamento, o Gestor deverá observar, ainda, os seguintes limites de concentração para a composição da Carteira: (i) Até 100% (cem por cento) da parcela do Patrimônio Líquido investida em Direitos Creditórios poderão ser alocados em Direitos Creditórios originados ou cedidos pelo Administrador, Gestor e</a:t>
            </a:r>
          </a:p>
          <a:p>
            <a:r>
              <a:t>CNPJ 62552447000120 · Finalidade e limites de derivativos · Motivo: Cláusula primária localizada e citada, mas sua lista/condições extensas não admitem uma síntese literal curta confirmada. O trecho integral permanece nas fontes.</a:t>
            </a:r>
          </a:p>
          <a:p>
            <a:r>
              <a:t>CNPJ 62552447000120 · Finalidade e limites de derivativos · Versão e prevalência: Leitura específica das cláusulas indicadas; condições e conflitos preservados. Seleção documental atual não comprova vigência jurídica por data isolada.</a:t>
            </a:r>
          </a:p>
          <a:p>
            <a:r>
              <a:t>CNPJ 63953620000165 · Finalidade e limites de derivativos · Anexo ao Regulamento · ID 1222863 · 2026-06-02 · versão 1 · p. 7 · https://fnet.bmfbovespa.com.br/fnet/publico/visualizarDocumento?id=1222863</a:t>
            </a:r>
          </a:p>
          <a:p>
            <a:r>
              <a:t>CNPJ 63953620000165 · Finalidade e limites de derivativos · Excerto da fonte:</a:t>
            </a:r>
          </a:p>
          <a:p>
            <a:r>
              <a:t>Anexo I ao Regulamento  CLASSE CONSIGNADO PRIVADO DO MT GLOBAL FUNDO DE INVESTIMENTO EM DIREITOS  CREDITÓRIOS RESPONSABILIDADE LIMITADA</a:t>
            </a:r>
          </a:p>
          <a:p>
            <a:r>
              <a:t> (i)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 (ii) No máximo, 50% (cinquenta por cento) do Patrimônio Líquido investido em Ativos Financeiros  de Liquidez de emissão ou que envolvam retenção de risco por parte do Administrador, Gestor,  e/ou suas partes relacionadas, observado ainda o disposto acima;</a:t>
            </a:r>
          </a:p>
          <a:p>
            <a:r>
              <a:t> (iii) No máximo, 100% (cem por cento) do Patrimônio Líquido investido em operações com  derivativos nos quais, inexistindo contraparte central, se tenha como contraparte o Gestor,  Consultora e/ou suas partes relacionadas, observado ainda o disposto acima;</a:t>
            </a:r>
          </a:p>
          <a:p>
            <a:r>
              <a:t> (iv) A Classe poderá investir até 100% (cem por cento) de seu Patrimônio Líquido em Direitos  Creditórios Não-Padronizados;</a:t>
            </a:r>
          </a:p>
          <a:p>
            <a:r>
              <a:t> (v) É vedada a aquisição de precatórios federais.</a:t>
            </a:r>
          </a:p>
          <a:p>
            <a:r>
              <a:t>CNPJ 63953620000165 · Finalidade e limites de derivativos · Condição: Documentos atuais selecionados no inventário por categoria/escopo; a data documental isolada não comprova vigência jurídica.</a:t>
            </a:r>
          </a:p>
          <a:p>
            <a:r>
              <a:t>CNPJ 63953620000165 · Finalidade e limites de derivativos · Motivo: Cláusula primária localizada e citada, mas sua lista/condições extensas não admitem uma síntese literal curta confirmada. O trecho integral permanece nas fontes.</a:t>
            </a:r>
          </a:p>
          <a:p>
            <a:r>
              <a:t>CNPJ 63953620000165 · Finalidade e limites de derivativos · Versão e prevalência: Documentos atuais selecionados no inventário por categoria/escopo; a data documental isolada não comprova vigência jurídica.</a:t>
            </a:r>
          </a:p>
          <a:p>
            <a:r>
              <a:t>CNPJ 63953620000165 · Finalidade e limites de derivativos · Resumo do histórico: {"count": 8, "dates": ["2026-04-28", "2026-05-08", "2026-05-15"], "document_count": 3, "sources": [{"document_id": "1327859", "title": "Demonstrações Financeiras - Fusão, cisão e incorporação", "reference_date": "2026-05-15", "version": "1", "page": 26, "url": "https://fnet.bmfbovespa.com.br/fnet/publico/visualizarDocumento?id=1327859", "sha256": "dca1c68babb97f887528c3e2e47596a9c30f507b067981a35655b2f2da9c8054"}, {"document_id": "1298691", "title": "Demonstrações Financeiras - Fusão, cisão e incorporação", "reference_date": "2026-05-08", "version": "1", "page": 26, "url": "https://fnet.bmfbovespa.com.br/fnet/publico/visualizarDocumento?id=1298691", "sha256": "58c570d9b8d4d265330d3db3ea81c435b8e44a6dab4002aa37790652a1ee9819"}, {"document_id": "1282180", "title": "Demonstrações Financeiras - Fusão, cisão e incorporação", "reference_date": "2026-04-28", "version": "1", "page": 27, "url": "https://fnet.bmfbovespa.com.br/fnet/publico/visualizarDocumento?id=1282180", "sha256": "afaaa0e6809be4385e5bdb6c911aac582032c5bdbac3d7750234bf9eaf00438a"}], "reference": {"path": "history/63953620000165.json", "criterion_id": "hedge", "total_count": 8, "preview_count": 3, "full_text_deferred": true, "sha256": "a7b89077f5e21098c2d601c303faabc3ff6b9729f89d8afecdc60fe1404720c1"}}</a:t>
            </a:r>
          </a:p>
          <a:p>
            <a:r>
              <a:t>CNPJ 54871427000194 · Prioridade do hedge e reserva de MTM · Motivo: Não localizada uma cláusula material para este critério nos textos identificados e processados. A ausência de resultado não comprova inexistência da regra.</a:t>
            </a:r>
          </a:p>
          <a:p>
            <a:r>
              <a:t>CNPJ 60010416000112 · Prioridade do hedge e reserva de MTM · Motivo: Não localizada uma cláusula material para este critério nos textos identificados e processados. A ausência de resultado não comprova inexistência da regra.</a:t>
            </a:r>
          </a:p>
          <a:p>
            <a:r>
              <a:t>CNPJ 62696791000193 · Prioridade do hedge e reserva de MTM · Motivo: Não localizada uma cláusula material para este critério nos textos identificados e processados. A ausência de resultado não comprova inexistência da regra.</a:t>
            </a:r>
          </a:p>
          <a:p>
            <a:r>
              <a:t>CNPJ 55563624000109 · Prioridade do hedge e reserva de MTM · Motivo: Não localizada uma cláusula material para este critério nos textos identificados e processados. A ausência de resultado não comprova inexistência da regra.</a:t>
            </a:r>
          </a:p>
          <a:p>
            <a:r>
              <a:t>CNPJ 62552447000120 · Prioridade do hedge e reserva de MTM · Motivo: Não localizada uma cláusula material para este critério nos textos identificados e processados. A ausência de resultado não comprova inexistência da regra.</a:t>
            </a:r>
          </a:p>
          <a:p>
            <a:r>
              <a:t>CNPJ 63953620000165 · Prioridade do hedge e reserva de MTM · Motivo: Não localizada uma cláusula material para este critério nos textos identificados e processados. A ausência de resultado não comprova inexistência da regra.</a:t>
            </a:r>
          </a:p>
          <a:p>
            <a:r>
              <a:t>CNPJ 54871427000194 · Administrador, gestor e custodiante · Regulamento · ID 670691 · 2024-04-28 · versão 1 · p. 1 · 1.1 · https://fnet.bmfbovespa.com.br/fnet/publico/visualizarDocumento?id=670691</a:t>
            </a:r>
          </a:p>
          <a:p>
            <a:r>
              <a:t>CNPJ 54871427000194 · Administrador, gestor e custodiante · Excerto da fonte:</a:t>
            </a:r>
          </a:p>
          <a:p>
            <a:r>
              <a:t>1.1 CONSIGNADO DELTA RECEIVABLES I FUNDO DE INVESTIMENTO EM DIREITOS CREDITÓRIOS  (“FUNDO”), regido pela Lei nº 10.406, de 10 de janeiro de 2002, conf orme alterada (“Código Civil”),  pela parte geral e o Anexo Normativo II da Resolução nº 175, de 23 de dezembro de 2022, conforme  alterada, da Comissão de Valores Mobiliários (respectivamente, “CVM” e “Resolução CVM 175”), terá  como principais características:</a:t>
            </a:r>
          </a:p>
          <a:p>
            <a:r>
              <a:t> Classe de Cotas Classe única.</a:t>
            </a:r>
          </a:p>
          <a:p>
            <a:r>
              <a:t> Indeterminado, exceto se de outra f orma vier a ser deliberado pelos cotistas  Prazo de Duração  reunidos em assembleia geral de cotistas.</a:t>
            </a:r>
          </a:p>
          <a:p>
            <a:r>
              <a:t> BTG Pactual Serviços Financeiros S.A. Distribuidora de Títulos e Valores  Mobiliários, instituição f inanceira, com sede na Cidade e Estado do Rio de  Janeiro, na Praia de Botafogo, nº 501, 5º andar (parte), Torre Corcovado,  ADMINISTRADOR  Botafogo, CEP 22250-040, inscrita no CNPJ sob o nº 59.281.253/0001-23 e  credenciada como administradora de carteira, de acordo com o Ato Declaratório  CVM nº 8.695, de 20 de março de 2006 (“ADMINISTRADOR”).</a:t>
            </a:r>
          </a:p>
          <a:p>
            <a:r>
              <a:t> BTG Pactual Asset Management S.A. Distribuidora de Títulos e Valores  Mobiliários, inscrita no CNPJ/ME sob o nº 29.650.082/0001-00, com sede  Cidade e Estado do Rio de Janeiro, na Praia de Botafogo, n.º 501, 5° andar,  devidamente autorizada à prestação dos serviços de administração de carteira  GESTOR  de títulos e valores mobiliários por meio d o Ato Declaratório número 5.968,  expedido em 10 de maio de 2000 (“GESTOR” e, quando ref erido  conjuntamente e indistintamente com o ADMINISTRADOR, os “Prestadores  de Serviços Essenciais”).</a:t>
            </a:r>
          </a:p>
          <a:p>
            <a:r>
              <a:t> O FUNDO, seus cotistas, os distribuidores de cotas por conta e ordem, seu  GESTOR, seu ADMINISTRADOR e os demais prestadores de serviço do  FUNDO e/ou da CLASSE obrigam-se a resolver, por meio de arbitragem, de  acordo com o Regulamento de Arbitragem da Câmara de Arbitragem do  Mercado da B3 (“Regulamento CAM B3” e “CAM B3”, respectivamente), toda  e qualquer disputa ou controvérsia que possa surgir entre eles, relacionada ou  oriunda, em especial, da aplicação, validade, eficácia, interpretação, violação  e seus ef eitos, das disposições contidas no Regulamento e seus Anexos, nas  normas editadas pela CVM que lhe sejam aplicáveis e nos instrumentos entre  si f irmados (“Arbitragem”).</a:t>
            </a:r>
          </a:p>
          <a:p>
            <a:r>
              <a:t> (i) A Arbitragem será de direito, com a aplicação das normas da República  Federativa do Brasil, terá sede no Município de São Paulo, será  Foro Aplicável conduzida em língua portuguesa e de f orma confidencial. O tribunal  arbitral será constituído por 3 (três) árbitros, sendo um deles  presidente, escolhidos nos termos do Regulamento CAM B3.</a:t>
            </a:r>
          </a:p>
          <a:p>
            <a:r>
              <a:t> (ii) As despesas processuais iniciais deverão ser rateadas entre as partes,  arcando cada polo processual com metade dos valores necessários,  sem prejuízo à possibilidade de adiantamento pelas partes  interessadas, resolvendo-se as indef inições nos termos do  Regulamento CAM B3. A sentença arbitral deverá determinar a  responsabilidade final pelas despesas de acordo com a sucumbência  de cada parte, as quais deverão incluir as taxas administrativas,  honorários de árbitros e de peritos e despesas com diligências  processuais e f ornecimento de garantias que sejam determinadas  expressamente pelo tribunal arbitral. É vedada a imposição de  honorários de sucumbência, bem como a determinação de indenização</a:t>
            </a:r>
          </a:p>
          <a:p>
            <a:r>
              <a:t>CNPJ 54871427000194 · Administrador, gestor e custodiante · Regulamento · ID 670691 · 2024-04-28 · versão 1 · p. 7 · https://fnet.bmfbovespa.com.br/fnet/publico/visualizarDocumento?id=670691</a:t>
            </a:r>
          </a:p>
          <a:p>
            <a:r>
              <a:t>CNPJ 54871427000194 · Administrador, gestor e custodiante · Excerto da fonte:</a:t>
            </a:r>
          </a:p>
          <a:p>
            <a:r>
              <a:t>Banco BTG Pactual S.A., instituição f inanceira, com sede na Cidade e  Estado do Rio de Janeiro, na Praia de Botafogo, nº 501, 5º andar (parte),  Custódia Torre Corcovado, Botafogo, CEP 22250-040, inscrita no CNPJ sob o nº</a:t>
            </a:r>
          </a:p>
          <a:p>
            <a:r>
              <a:t> 30.306.294/0001-45 e credenciado como custodiante, de acordo com o  Ato Declaratório nº 7.204, de 25 de abril de 2003 (“CUSTODIANTE”).</a:t>
            </a:r>
          </a:p>
          <a:p>
            <a:r>
              <a:t> Tesouraria, Controladoria e ADMINISTRADOR.</a:t>
            </a:r>
          </a:p>
          <a:p>
            <a:r>
              <a:t> Escrituração  Subclasses Única.</a:t>
            </a:r>
          </a:p>
          <a:p>
            <a:r>
              <a:t>CNPJ 54871427000194 · Administrador, gestor e custodiante · Regulamento · ID 670691 · 2024-04-28 · versão 1 · p. 38 · https://fnet.bmfbovespa.com.br/fnet/publico/visualizarDocumento?id=670691</a:t>
            </a:r>
          </a:p>
          <a:p>
            <a:r>
              <a:t>CNPJ 54871427000194 · Administrador, gestor e custodiante · Excerto da fonte:</a:t>
            </a:r>
          </a:p>
          <a:p>
            <a:r>
              <a:t>“ADMINISTRADOR”: BTG Pactual Serviços Financeiros S.A. Distribuidora de Títulos e Valores Mobiliários, instituição com sede no Município do Rio de Janeiro, Estado do Rio de Janeiro, à Praia de Botafogo, nº 501, 5º andar – parte, inscrita no CNPJ sob o nº 59.281.253/0001-23, autorizada a funcionar pelo BACEN e autorizada pela CVM para a atividade de administração de carteiras de valores mobiliários, de acordo com o Ato Declaratório nº 8.695, de 20 de março de 2006, ou seu sucessor a qualquer título ;</a:t>
            </a:r>
          </a:p>
          <a:p>
            <a:r>
              <a:t>CNPJ 54871427000194 · Administrador, gestor e custodiante · Condição: Documentos atuais selecionados no inventário por categoria/escopo; a data documental isolada não comprova vigência jurídica.</a:t>
            </a:r>
          </a:p>
          <a:p>
            <a:r>
              <a:t>CNPJ 54871427000194 · Administrador, gestor e custodiante · Versão e prevalência: Documentos atuais selecionados no inventário por categoria/escopo; a data documental isolada não comprova vigência jurídica.</a:t>
            </a:r>
          </a:p>
          <a:p>
            <a:r>
              <a:t>CNPJ 54871427000194 · Administrador, gestor e custodiante · Resumo do histórico: {"count": 2, "dates": ["2024-04-19"], "document_count": 2, "sources": [{"document_id": "670687", "title": "Instrumento Particular de Constituição/Encerramento do Fundo", "reference_date": "2024-04-19", "version": "1", "page": 1, "url": "https://fnet.bmfbovespa.com.br/fnet/publico/visualizarDocumento?id=670687", "sha256": "999f2a47d39f7022b0fcee3d16fd1db33948537b897e92c4c9e14b436bf5eb96"}, {"document_id": "670689", "title": "Regulamento", "reference_date": "2024-04-19", "version": "1", "page": 1, "clause": "1.1", "url": "https://fnet.bmfbovespa.com.br/fnet/publico/visualizarDocumento?id=670689", "sha256": "891bc9bc5d87bbc02ec139077a84d2702eb81ea02035fb71d24f5b8366b94a0b"}], "reference": {"path": "history/54871427000194.json", "criterion_id": "providers", "total_count": 2, "preview_count": 2, "full_text_deferred": true, "sha256": "35d7cd99be50c7287c9fb675cf4f2e736002315295a225a9efa79c8d9186d874"}}</a:t>
            </a:r>
          </a:p>
          <a:p>
            <a:r>
              <a:t>CNPJ 60010416000112 · Administrador, gestor e custodiante · Regulamento · ID 1051393 · 2025-10-09 · versão 1 · p. 8 · https://fnet.bmfbovespa.com.br/fnet/publico/visualizarDocumento?id=1051393</a:t>
            </a:r>
          </a:p>
          <a:p>
            <a:r>
              <a:t>CNPJ 60010416000112 · Administrador, gestor e custodiante · Excerto da fonte:</a:t>
            </a:r>
          </a:p>
          <a:p>
            <a:r>
              <a:t>Tipo de Condomínio Fechado.</a:t>
            </a:r>
          </a:p>
          <a:p>
            <a:r>
              <a:t> Prazo de Duração Indeterminado.</a:t>
            </a:r>
          </a:p>
          <a:p>
            <a:r>
              <a:t> Classe de Investimento  Não.</a:t>
            </a:r>
          </a:p>
          <a:p>
            <a:r>
              <a:t> em Cotas  Tipo “Financeiro”.</a:t>
            </a:r>
          </a:p>
          <a:p>
            <a:r>
              <a:t> Classificação ANBIMA  Foco de atuação “Créditos Consignados”.</a:t>
            </a:r>
          </a:p>
          <a:p>
            <a:r>
              <a:t> O objetivo da classe é proporcionar aos seus Cotistas a valorização de suas Cotas  por meio da aplicação de seu Patrimônio Líquido na aquisição de: (i) Direitos  Creditórios que atendam aos Critérios de Elegibilidade, estabelecidos no Capítulo  4 abaixo, e (ii) Ativos Financeiros de Liquidez, observados todos os limites de  Objetivo composição e diversificação da Carteira da Classe, estabelecidos neste  Regulamento e na regulamentação aplicável.</a:t>
            </a:r>
          </a:p>
          <a:p>
            <a:r>
              <a:t> O objetivo da Classe não representa, sob qualquer hipótese, promessa, garantia  ou sugestão do Fundo ou de seus Prestadores de Serviços Essenciais quanto à  segurança, rentabilidade e liquidez dos títulos integrantes de sua carteira.</a:t>
            </a:r>
          </a:p>
          <a:p>
            <a:r>
              <a:t> Destinado exclusivamente a um único cotista ou grupo de cotistas vinculados por  Público-Alvo  interesse único e indissociável, classificados como Investidores Prof issionais.</a:t>
            </a:r>
          </a:p>
          <a:p>
            <a:r>
              <a:t> Banco BTG Pactual S.A., instituição financeira, com sede no município e Estado  do Rio de Janeiro, na Praia de Botafogo, nº 501, Torre Corcovado, 5º andar (parte),  Custódia e Tesouraria Botafogo, CEP 22.250-040, inscrita no CNPJ sob o nº 30.306.294/0001-45 e  credenciado como custodiante, de acordo com o Ato Declaratório nº 7.204, de 25  de abril de 2003 (“Custodiante”).</a:t>
            </a:r>
          </a:p>
          <a:p>
            <a:r>
              <a:t> Tesouraria,  Controladoria e Administrador.</a:t>
            </a:r>
          </a:p>
          <a:p>
            <a:r>
              <a:t> Escrituração  Subclasses Sênior e Subordinada, nos termos do Capítulo 5 e respectivos Apêndices.</a:t>
            </a:r>
          </a:p>
          <a:p>
            <a:r>
              <a:t> O valor de cada emissão de Cotas, volume e valor unitário da Cota, bem como o  Emissão e Regime de regime de distribuição, seguirão o disposto no instrumento que aprova a emissão  Distribuição de Cotas de Cotas, que disporá acerca da eventual existência de direito de preferência dos  Cotistas.</a:t>
            </a:r>
          </a:p>
          <a:p>
            <a:r>
              <a:t> Capital Autorizado Conf orme previsto nos Apêndices.</a:t>
            </a:r>
          </a:p>
          <a:p>
            <a:r>
              <a:t> As Cotas poderão ser admitidas à negociação em bolsa de valores ou entidade de  Negociação  balcão organizado, conf orme previsto nos Apêndices.</a:t>
            </a:r>
          </a:p>
          <a:p>
            <a:r>
              <a:t> Cálculo do Valor da Cota Conf orme Capítulo 6 deste Anexo e respectivos Apêndices.</a:t>
            </a:r>
          </a:p>
          <a:p>
            <a:r>
              <a:t> A distribuição de quaisquer ganhos e rendimentos da Classe aos Cotistas será  Distribuição de  f eita exclusivamente mediante a amortização e/ou o resgate de Cotas, observado  Proventos  o disposto no Regulamento, neste Anexo e respectivos Apêndices.</a:t>
            </a:r>
          </a:p>
          <a:p>
            <a:r>
              <a:t> Utilização de Ativos Não é permitida a integralização de Cotas, no todo ou em parte, com Direitos BTG Pactual SAC: 0800 772 28 27 - Ouvidoria: 0800 722 00 48 - btgpactual.com 8</a:t>
            </a:r>
          </a:p>
          <a:p>
            <a:r>
              <a:t>CNPJ 60010416000112 · Administrador, gestor e custodiante · Regulamento · ID 1051393 · 2025-10-09 · versão 1 · p. 1 · https://fnet.bmfbovespa.com.br/fnet/publico/visualizarDocumento?id=1051393</a:t>
            </a:r>
          </a:p>
          <a:p>
            <a:r>
              <a:t>CNPJ 60010416000112 · Administrador, gestor e custodiante · Excerto da fonte:</a:t>
            </a:r>
          </a:p>
          <a:p>
            <a:r>
              <a:t>BTG Pactual Asset Management S.A. Distribuidora de Títulos e Valores  Mobiliários, sociedade anônima, com sede no município do Rio de Janeiro,  Estado do Rio de Janeiro, na Praia de Botafogo, nº 501, Torre Corcovado, 5º andar</a:t>
            </a:r>
          </a:p>
          <a:p>
            <a:r>
              <a:t> (parte), CEP 22.250-040, inscrita no CNPJ sob o nº 29.650.082/0001-00,  GESTOR  devidamente credenciada junto à CVM para operar como administradora de  carteira de valores mobiliários nos termos do Ato Declaratório CVM nº 5.968, de  10 de maio de 2000 (“Gestor” e, quando referido conjuntamente e indistintamente  com o Administrador, os “Prestadores de Serviços Essenciais”).</a:t>
            </a:r>
          </a:p>
          <a:p>
            <a:r>
              <a:t>CNPJ 60010416000112 · Administrador, gestor e custodiante · Regulamento · ID 1051393 · 2025-10-09 · versão 1 · p. 45 · https://fnet.bmfbovespa.com.br/fnet/publico/visualizarDocumento?id=1051393</a:t>
            </a:r>
          </a:p>
          <a:p>
            <a:r>
              <a:t>CNPJ 60010416000112 · Administrador, gestor e custodiante · Excerto da fonte:</a:t>
            </a:r>
          </a:p>
          <a:p>
            <a:r>
              <a:t>“Gestor”: a BTG Pactual Asset Management S.A. Distribuidora de Títulos e Valores Mobiliários, sociedade anônima, com sede no município do Rio de Janeiro, Estado do Rio de Janeiro, na Praia de Botafogo, nº 501, Torre Corcovado, 5º andar (parte), CEP 22.250-040, inscrita no CNPJ sob o nº 29.650.082/0001-00, devidamente credenciada junto à CVM para operar como administrador de carteira de valores mobiliários nos termos do Ato Declaratório CVM nº 5.968, de 10 de maio de 2000;</a:t>
            </a:r>
          </a:p>
          <a:p>
            <a:r>
              <a:t>CNPJ 60010416000112 · Administrador, gestor e custodiante · Condição: Documentos atuais selecionados no inventário por categoria/escopo; a data documental isolada não comprova vigência jurídica.</a:t>
            </a:r>
          </a:p>
          <a:p>
            <a:r>
              <a:t>CNPJ 60010416000112 · Administrador, gestor e custodiante · Versão e prevalência: Documentos atuais selecionados no inventário por categoria/escopo; a data documental isolada não comprova vigência jurídica.</a:t>
            </a:r>
          </a:p>
          <a:p>
            <a:r>
              <a:t>CNPJ 60010416000112 · Administrador, gestor e custodiante · Resumo do histórico: {"count": 1, "dates": ["2025-05-12"], "document_count": 1, "sources": [{"document_id": "1004656", "title": "AGE", "reference_date": "2025-05-12", "version": "1", "page": 4, "url": "https://fnet.bmfbovespa.com.br/fnet/publico/visualizarDocumento?id=1004656", "sha256": "f6c9c009f6170e2b29f074b98522accec73f0c40efbf11f9ec2c8d3f1402616b"}], "reference": {"path": "history/60010416000112.json", "criterion_id": "providers", "total_count": 1, "preview_count": 1, "full_text_deferred": true, "sha256": "8e2bd813f4c51cf01f6bfaad164bafe69d2bbb192f753eac92da3a01c2e63046"}}</a:t>
            </a:r>
          </a:p>
          <a:p>
            <a:r>
              <a:t>CNPJ 62696791000193 · Administrador, gestor e custodiante · Regulamento · ID 1143317 · 2026-03-20 · versão 1 · p. 1 · https://fnet.bmfbovespa.com.br/fnet/publico/visualizarDocumento?id=1143317</a:t>
            </a:r>
          </a:p>
          <a:p>
            <a:r>
              <a:t>CNPJ 62696791000193 · Administrador, gestor e custodiante · Excerto da fonte:</a:t>
            </a:r>
          </a:p>
          <a:p>
            <a:r>
              <a:t>BTG Pactual Asset Management S.A. Distribuidora de Títulos e Valores  Mobiliários, com sede no município e Estado do Rio de Janeiro, na Praia de  Botafogo, nº 501, Torre Corcovado, 5º andar (parte), Botafogo, inscrito no  CNPJ sob o nº 29.650.082/0001-00, autorizado à prestação dos serviços de  Gestor  administração de carteira de títulos e valores mobiliários de acordo com o Ato  Declaratório nº 5.968, de 10 de maio de 2000 (“Gestor” e, quando ref erido  conjuntamente com o Administrador, os “Prestadores de Serviços  Essenciais”).</a:t>
            </a:r>
          </a:p>
          <a:p>
            <a:r>
              <a:t>CNPJ 62696791000193 · Administrador, gestor e custodiante · Regulamento · ID 1143317 · 2026-03-20 · versão 1 · p. 1 · https://fnet.bmfbovespa.com.br/fnet/publico/visualizarDocumento?id=1143317</a:t>
            </a:r>
          </a:p>
          <a:p>
            <a:r>
              <a:t>CNPJ 62696791000193 · Administrador, gestor e custodiante · Excerto da fonte:</a:t>
            </a:r>
          </a:p>
          <a:p>
            <a:r>
              <a:t>BTG Pactual Serviços Financeiros S.A. Distribuidora de Títulos e Valores  Mobiliários, sociedade anônima, com sede no município e Estado do Rio de  Janeiro, na Praia de Botafogo, nº 501, 5º andar (parte), Torre Corcovado,  Administrador Botafogo, CEP 22250-040, inscrita no CNPJ sob o nº 59.281.253/0001-23 e  credenciada como Administradora de carteira, de acordo com o Ato Declaratório  CVM nº 8.695, de 20 de março de 2006 (“Administrador”), responsável pela  administração f iduciária.</a:t>
            </a:r>
          </a:p>
          <a:p>
            <a:r>
              <a:t>CNPJ 62696791000193 · Administrador, gestor e custodiante · Regulamento · ID 1143317 · 2026-03-20 · versão 1 · p. 7 · https://fnet.bmfbovespa.com.br/fnet/publico/visualizarDocumento?id=1143317</a:t>
            </a:r>
          </a:p>
          <a:p>
            <a:r>
              <a:t>CNPJ 62696791000193 · Administrador, gestor e custodiante · Excerto da fonte:</a:t>
            </a:r>
          </a:p>
          <a:p>
            <a:r>
              <a:t>Banco BTG Pactual S.A., instituição financeira, com sede no município e  Estado do Rio de Janeiro, na Praia de Botafogo, nº 501, 5º andar (parte),  Custódia e Tesouraria Torre Corcovado, Botafogo, CEP 22250-040, inscrita no CNPJ sob o nº</a:t>
            </a:r>
          </a:p>
          <a:p>
            <a:r>
              <a:t> 30.306.294/0001-45 e credenciada como custodiante, de acordo com o  Ato Declaratório nº 7.204, de 25 de abril de 2003 (“Custodiante”).</a:t>
            </a:r>
          </a:p>
          <a:p>
            <a:r>
              <a:t>CNPJ 62696791000193 · Administrador, gestor e custodiante · Condição: Documentos atuais selecionados no inventário por categoria/escopo; a data documental isolada não comprova vigência jurídica.</a:t>
            </a:r>
          </a:p>
          <a:p>
            <a:r>
              <a:t>CNPJ 62696791000193 · Administrador, gestor e custodiante · Versão e prevalência: Documentos atuais selecionados no inventário por categoria/escopo; a data documental isolada não comprova vigência jurídica.</a:t>
            </a:r>
          </a:p>
          <a:p>
            <a:r>
              <a:t>CNPJ 55563624000109 · Administrador, gestor e custodiante · Regulamento · ID 1192614 · 2026-04-30 · versão 1 · p. 1 · https://fnet.bmfbovespa.com.br/fnet/publico/visualizarDocumento?id=1192614</a:t>
            </a:r>
          </a:p>
          <a:p>
            <a:r>
              <a:t>CNPJ 55563624000109 · Administrador, gestor e custodiante · Excerto da fonte:</a:t>
            </a:r>
          </a:p>
          <a:p>
            <a:r>
              <a:t>Polígono Capital Ltda., sociedade de responsabilidade limitada, com sede no  município e estado de São Paulo, na Avenida Brigadeiro Faria Lima, n° 2601, 12º andar,  Jardim Paulistano, CEP 01452-000, inscrita no CNPJ sob nº 43.241.789/0001-85 e  GESTOR autorizada à prestação do serviço de administração de carteiras de valores mobiliários  pela CVM, de acordo com o Ato Declaratório CVM nº 19.368, expedido em 7 de  dezembro de 2021 (“GESTOR” e, quando referido conjuntamente e indistintamente  com o ADMINISTRADOR, os “Prestadores de Serviços Essenciais”).</a:t>
            </a:r>
          </a:p>
          <a:p>
            <a:r>
              <a:t>CNPJ 55563624000109 · Administrador, gestor e custodiante · Regulamento · ID 1192614 · 2026-04-30 · versão 1 · p. 1 · https://fnet.bmfbovespa.com.br/fnet/publico/visualizarDocumento?id=1192614</a:t>
            </a:r>
          </a:p>
          <a:p>
            <a:r>
              <a:t>CNPJ 55563624000109 · Administrador, gestor e custodiante · Excerto da fonte:</a:t>
            </a:r>
          </a:p>
          <a:p>
            <a:r>
              <a:t>BTG Pactual Serviços Financeiros S.A. Distribuidora de Títulos e Valores Mobiliários,  sociedade anônima, com sede no município e estado do Rio de Janeiro, na Praia de  Botafogo, nº 501, 5º andar (parte), Torre Corcovado, Botafogo, CEP 22250-040, inscrita  ADMINISTRADOR no Cadastro Nacional da Pessoa Jurídica (“CNPJ”) sob o nº 59.281.253/0001-23 e  credenciada como administradora de carteira, de acordo com o Ato Declaratório CVM  nº 8.695, de 20 de março de 2006 (“ADMINISTRADOR”).</a:t>
            </a:r>
          </a:p>
          <a:p>
            <a:r>
              <a:t>CNPJ 55563624000109 · Administrador, gestor e custodiante · Regulamento · ID 1192614 · 2026-04-30 · versão 1 · p. 41 · https://fnet.bmfbovespa.com.br/fnet/publico/visualizarDocumento?id=1192614</a:t>
            </a:r>
          </a:p>
          <a:p>
            <a:r>
              <a:t>CNPJ 55563624000109 · Administrador, gestor e custodiante · Excerto da fonte:</a:t>
            </a:r>
          </a:p>
          <a:p>
            <a:r>
              <a:t>“ADMINISTRADOR”: BTG Pactual Serviços Financeiros S.A. Distribuidora de Títulos e Valores Mobiliários, instituição  com sede no Município do Rio de Janeiro, Estado do Rio de Janeiro, à Praia de Botafogo, nº 501, 5º andar – parte, inscrita  no CNPJ sob o nº 59.281.253/0001-23, autorizada a funcionar pelo BACEN e autorizada pela CVM para a atividade de  administração de carteiras de valores mobiliários, de acordo com o Ato Declaratório nº 8.695, de 20 de março de 2006,  ou seu sucessor a qualquer título;</a:t>
            </a:r>
          </a:p>
          <a:p>
            <a:r>
              <a:t>CNPJ 55563624000109 · Administrador, gestor e custodiante · Condição: Documentos atuais selecionados no inventário por categoria/escopo; a data documental isolada não comprova vigência jurídica.</a:t>
            </a:r>
          </a:p>
          <a:p>
            <a:r>
              <a:t>CNPJ 55563624000109 · Administrador, gestor e custodiante · Versão e prevalência: Documentos atuais selecionados no inventário por categoria/escopo; a data documental isolada não comprova vigência jurídica.</a:t>
            </a:r>
          </a:p>
          <a:p>
            <a:r>
              <a:t>CNPJ 55563624000109 · Administrador, gestor e custodiante · Resumo do histórico: {"count": 6, "dates": ["2024-12-30", "2025-01-31", "2026-01-31"], "document_count": 3, "sources": [{"document_id": "1178840", "title": "Demonstrações Financeiras", "reference_date": "2026-01-31", "version": "1", "page": 3, "url": "https://fnet.bmfbovespa.com.br/fnet/publico/visualizarDocumento?id=1178840", "sha256": "c458e98664c5c907ddb5a05a94b120bed4e05295b2bfc420f5ba69af0a229abe"}, {"document_id": "891861", "title": "Demonstrações Financeiras", "reference_date": "2025-01-31", "version": "1", "page": 11, "url": "https://fnet.bmfbovespa.com.br/fnet/publico/visualizarDocumento?id=891861", "sha256": "e9cb9e6ddbe505fe068cfcac33605165a98313489de0d3ce6d4d238263c3f3e7"}, {"document_id": "811323", "title": "Anúncio de Encerramento", "reference_date": "2024-12-30", "version": "1", "page": 1, "url": "https://fnet.bmfbovespa.com.br/fnet/publico/visualizarDocumento?id=811323", "sha256": "ebc6bc661be5189acffb3c3e352de2aea0a8ca8431011d1237e1ae19da4f9c79"}], "reference": {"path": "history/55563624000109.json", "criterion_id": "providers", "total_count": 6, "preview_count": 3, "full_text_deferred": true, "sha256": "7835d573fb58a3c19adf5b8ecc2aee2bdbb9a88f7a0c0209b5f262b64c7522e3"}}</a:t>
            </a:r>
          </a:p>
          <a:p>
            <a:r>
              <a:t>CNPJ 62552447000120 · Administrador, gestor e custodiante · Regulamento · ID 1200623 · 2026-05-21 · versão 1 · p. 1 · https://fnet.bmfbovespa.com.br/fnet/publico/visualizarDocumento?id=1200623</a:t>
            </a:r>
          </a:p>
          <a:p>
            <a:r>
              <a:t>CNPJ 62552447000120 · Administrador, gestor e custodiante · Excerto da fonte:</a:t>
            </a:r>
          </a:p>
          <a:p>
            <a:r>
              <a:t>BTG Pactual Asset Management S.A. Distribuidora de Títulos e Valores  Mobiliários, sociedade anônima, com sede no município e Estado do Rio de  Janeiro, na Praia de Botafogo, n.º 501, 5º andar (parte), Torre Corcovado, bairro  Botafogo, CEP 22250-040, inscrita no CNPJ sob o n.º 29.650.082/0001-00 e  Gestor  credenciada como administradora de carteira de valores mobiliários , categoria  gestor de recursos, de acordo com o Ato Declaratório CVM n.º 5.968, de 10 de  maio de 2000 (“Gestor” e, quando ref erido conjuntamente e indistintamente  com o Administrador, “Prestadores de Serviços Essenciais”).</a:t>
            </a:r>
          </a:p>
          <a:p>
            <a:r>
              <a:t>CNPJ 62552447000120 · Administrador, gestor e custodiante · Regulamento · ID 1200623 · 2026-05-21 · versão 1 · p. 1 · https://fnet.bmfbovespa.com.br/fnet/publico/visualizarDocumento?id=1200623</a:t>
            </a:r>
          </a:p>
          <a:p>
            <a:r>
              <a:t>CNPJ 62552447000120 · Administrador, gestor e custodiante · Excerto da fonte:</a:t>
            </a:r>
          </a:p>
          <a:p>
            <a:r>
              <a:t>BTG Pactual Serviços Financeiros S.A. Distribuidora de Títulos e Valores  Mobiliários, sociedade anônima, com sede no município e Estado do Rio de  Janeiro, na Praia de Botafogo, n.º 501, 5º andar (parte), Torre Corcovado, bairro  Administrador Botafogo, CEP 22250-040, inscrita no CNPJ sob o n.º 59.281.253/0001-23 e  credenciada como administradora de carteira de valores mobiliários, categoria  administrador fiduciário, de acordo com o Ato Declaratório CVM n.º 8.695, de 20  de março de 2006 (“Administrador”).</a:t>
            </a:r>
          </a:p>
          <a:p>
            <a:r>
              <a:t>CNPJ 62552447000120 · Administrador, gestor e custodiante · Instrumento Particular de Alteração do Regulamento · ID 1200625 · 2026-05-21 · versão 1 · p. 1 · https://fnet.bmfbovespa.com.br/fnet/publico/visualizarDocumento?id=1200625</a:t>
            </a:r>
          </a:p>
          <a:p>
            <a:r>
              <a:t>CNPJ 62552447000120 · Administrador, gestor e custodiante · Excerto da fonte:</a:t>
            </a:r>
          </a:p>
          <a:p>
            <a:r>
              <a:t>A Administradora, BTG PACTUAL SERVIÇOS FINANCEIROS S.A. DTVM, com  sede na Praia de Botafogo, n.º 501, 5º andar (parte), na Cidade e Estado do Rio de  Janeiro, e inscrita no CNPJ sob o número 59.281.253/0001-23, na qualidade de  administradora da V CDT 1 FUNDO DE INVESTIMENTO EM DIREITOS  CREDITÓRIOS RESPONSABILIDADE LIMITADA, inscrita no CNPJ/MF sob o  número 62.552.447/0001-20 ("Classe"), serve-se da presente para:</a:t>
            </a:r>
          </a:p>
          <a:p>
            <a:r>
              <a:t>CNPJ 62552447000120 · Administrador, gestor e custodiante · Condição: Documentos atuais selecionados no inventário por categoria/escopo; a data documental isolada não comprova vigência jurídica.</a:t>
            </a:r>
          </a:p>
          <a:p>
            <a:r>
              <a:t>CNPJ 62552447000120 · Administrador, gestor e custodiante · Versão e prevalência: Documentos atuais selecionados no inventário por categoria/escopo; a data documental isolada não comprova vigência jurídica.</a:t>
            </a:r>
          </a:p>
          <a:p>
            <a:r>
              <a:t>CNPJ 62552447000120 · Administrador, gestor e custodiante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"providers", "total_count": 1, "preview_count": 1, "full_text_deferred": true, "sha256": "d95db8c0613d67ee84118c734588665265ea6b02f86a0318d6a844cbe1d0f82f"}}</a:t>
            </a:r>
          </a:p>
          <a:p>
            <a:r>
              <a:t>CNPJ 63953620000165 · Administrador, gestor e custodiante · Anexo ao Regulamento · ID 1222863 · 2026-06-02 · versão 1 · p. 2 · https://fnet.bmfbovespa.com.br/fnet/publico/visualizarDocumento?id=1222863</a:t>
            </a:r>
          </a:p>
          <a:p>
            <a:r>
              <a:t>CNPJ 63953620000165 · Administrador, gestor e custodiante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Administrador, gestor e custodiante · Condição: Documentos atuais selecionados no inventário por categoria/escopo; a data documental isolada não comprova vigência jurídica.</a:t>
            </a:r>
          </a:p>
          <a:p>
            <a:r>
              <a:t>CNPJ 63953620000165 · Administrador, gestor e custodiante · Motivo: Cláusula primária localizada e citada, mas sua lista/condições extensas não admitem uma síntese literal curta confirmada. O trecho integral permanece nas fontes.</a:t>
            </a:r>
          </a:p>
          <a:p>
            <a:r>
              <a:t>CNPJ 63953620000165 · Administrador, gestor e custodiante · Versão e prevalência: Documentos atuais selecionados no inventário por categoria/escopo; a data documental isolada não comprova vigência jurídica.</a:t>
            </a:r>
          </a:p>
          <a:p>
            <a:r>
              <a:t>CNPJ 63953620000165 · Administrador, gestor e custodiante · Resumo do histórico: {"count": 8, "dates": ["2026-04-28", "2026-05-08", "2026-05-15"], "document_count": 3, "sources": [{"document_id": "1327859", "title": "Demonstrações Financeiras - Fusão, cisão e incorporação", "reference_date": "2026-05-15", "version": "1", "page": 9, "url": "https://fnet.bmfbovespa.com.br/fnet/publico/visualizarDocumento?id=1327859", "sha256": "dca1c68babb97f887528c3e2e47596a9c30f507b067981a35655b2f2da9c8054"}, {"document_id": "1298691", "title": "Demonstrações Financeiras - Fusão, cisão e incorporação", "reference_date": "2026-05-08", "version": "1", "page": 9, "url": "https://fnet.bmfbovespa.com.br/fnet/publico/visualizarDocumento?id=1298691", "sha256": "58c570d9b8d4d265330d3db3ea81c435b8e44a6dab4002aa37790652a1ee9819"}, {"document_id": "1282180", "title": "Demonstrações Financeiras - Fusão, cisão e incorporação", "reference_date": "2026-04-28", "version": "1", "page": 9, "url": "https://fnet.bmfbovespa.com.br/fnet/publico/visualizarDocumento?id=1282180", "sha256": "afaaa0e6809be4385e5bdb6c911aac582032c5bdbac3d7750234bf9eaf00438a"}], "reference": {"path": "history/63953620000165.json", "criterion_id": "providers", "total_count": 8, "preview_count": 3, "full_text_deferred": true, "sha256": "a7b89077f5e21098c2d601c303faabc3ff6b9729f89d8afecdc60fe1404720c1"}}</a:t>
            </a:r>
          </a:p>
          <a:p>
            <a:r>
              <a:t>CNPJ 54871427000194 · Substituição de prestadores · Motivo: Não localizada uma cláusula material para este critério nos textos identificados e processados. A ausência de resultado não comprova inexistência da regra.</a:t>
            </a:r>
          </a:p>
          <a:p>
            <a:r>
              <a:t>CNPJ 60010416000112 · Substituição de prestadores · Regulamento · ID 1051393 · 2025-10-09 · versão 1 · p. 3 · 1.8 · https://fnet.bmfbovespa.com.br/fnet/publico/visualizarDocumento?id=1051393</a:t>
            </a:r>
          </a:p>
          <a:p>
            <a:r>
              <a:t>CNPJ 60010416000112 · Substituição de prestadores · Excerto da fonte:</a:t>
            </a:r>
          </a:p>
          <a:p>
            <a:r>
              <a:t>1.8. Os Cotistas, o Administrador, o Gestor e o Agente de  Retenção/Cobrança estão plenamente conscientes dos termos e efeitos  desta cláusula compromissória e concordam irrevogavelmente que a  arbitragem será a única f orma de resolução de disputas relacionada a  este Regulamento. Sem prejuízo da validade desta cláusula  compromissória, as partes elegem o foro da comarca do Rio de Janeiro,  estado do Rio de Janeiro, com a renúncia expressa a qualquer outra, se  e quando isso f or necessário para fins de: (i) executar as obrigações para  as quais haja disponibilidade imediata de execução judicial; (ii) obter  ordens de execução específica ou liminares de caráter preventivo,  temporário ou permanente, tais como a prestação de caução para um  processo arbitral iniciado ou em andamento entre as partes da  arbitragem e/ou assegurar a existência e ef icácia do processo arbitral;</a:t>
            </a:r>
          </a:p>
          <a:p>
            <a:r>
              <a:t> e/ou (iii) apresentar um pedido de execução específica ou outra ordem,  sendo certo que, uma vez obtida a execução específica ou outra ordem,  o Tribunal Arbitral a ser instituído ou que já esteja instituído, conforme o  caso, assumirá a competência plena e exclusiva para decidir sobre toda  e qualquer questão, quer relacionada ao processo ou ao mérito, que  possa ter dado origem à ordem ou execução específica solicitada, e o  respectivo processo será suspenso até que o Tribunal Arbitral profira  uma decisão parcial ou def initiva sobre a questão. A propositura de  qualquer ação judicial de acordo com este item não resultará em  renúncia à arbitragem ou à competência da Câmara.</a:t>
            </a:r>
          </a:p>
          <a:p>
            <a:r>
              <a:t>CNPJ 60010416000112 · Substituição de prestadores · Condição: Documentos atuais selecionados no inventário por categoria/escopo; a data documental isolada não comprova vigência jurídica.</a:t>
            </a:r>
          </a:p>
          <a:p>
            <a:r>
              <a:t>CNPJ 60010416000112 · Substituição de prestadores · Motivo: Cláusula primária localizada e citada, mas sua lista/condições extensas não admitem uma síntese literal curta confirmada. O trecho integral permanece nas fontes.</a:t>
            </a:r>
          </a:p>
          <a:p>
            <a:r>
              <a:t>CNPJ 60010416000112 · Substituição de prestadores · Versão e prevalência: Documentos atuais selecionados no inventário por categoria/escopo; a data documental isolada não comprova vigência jurídica.</a:t>
            </a:r>
          </a:p>
          <a:p>
            <a:r>
              <a:t>CNPJ 60010416000112 · Substituição de prestadores · Resumo do histórico: {"count": 1, "dates": ["2025-03-20"], "document_count": 1, "sources": [{"document_id": "993786", "title": "Regulamento", "reference_date": "2025-03-20", "version": "1", "page": 3, "clause": "1.8", "url": "https://fnet.bmfbovespa.com.br/fnet/publico/visualizarDocumento?id=993786", "sha256": "fd0fdd369a195510d81f81f505195a0b09e5f43522a990afa7d58c4f872921c8"}], "reference": {"path": "history/60010416000112.json", "criterion_id": "replacement", "total_count": 1, "preview_count": 1, "full_text_deferred": true, "sha256": "8e2bd813f4c51cf01f6bfaad164bafe69d2bbb192f753eac92da3a01c2e63046"}}</a:t>
            </a:r>
          </a:p>
          <a:p>
            <a:r>
              <a:t>CNPJ 62696791000193 · Substituição de prestadores · Regulamento · ID 1143317 · 2026-03-20 · versão 1 · p. 26 · 12.10 · https://fnet.bmfbovespa.com.br/fnet/publico/visualizarDocumento?id=1143317</a:t>
            </a:r>
          </a:p>
          <a:p>
            <a:r>
              <a:t>CNPJ 62696791000193 · Substituição de prestadores · Excerto da fonte:</a:t>
            </a:r>
          </a:p>
          <a:p>
            <a:r>
              <a:t>12.10 Na hipótese de renúncia, o Administrador fica obrigado a permanecer no exercício de suas funções até  a averbação, no cartório de registro de imóveis, nas matrículas referentes aos bens imóveis e direitos  integrantes da carteira de ativos, da ata da assembleia de Cotistas que eleger seu substituto e sucessor  na propriedade f iduciária desses bens e direitos.</a:t>
            </a:r>
          </a:p>
          <a:p>
            <a:r>
              <a:t>CNPJ 62696791000193 · Substituição de prestadores · Regulamento · ID 1143317 · 2026-03-20 · versão 1 · p. 26 · 12.10.1 · https://fnet.bmfbovespa.com.br/fnet/publico/visualizarDocumento?id=1143317</a:t>
            </a:r>
          </a:p>
          <a:p>
            <a:r>
              <a:t>CNPJ 62696791000193 · Substituição de prestadores · Excerto da fonte:</a:t>
            </a:r>
          </a:p>
          <a:p>
            <a:r>
              <a:t>12.10.1 É f acultado aos Cotistas que detenham ao menos 5% (cinco por cento) das Cotas emitidas, a  convocação da assembleia de Cotistas prevista no item 12.4 acima, caso o Administrador não  a convoque, no prazo de 10 (dez) dias contados da renúncia.</a:t>
            </a:r>
          </a:p>
          <a:p>
            <a:r>
              <a:t>CNPJ 62696791000193 · Substituição de prestadores · Condição: Documentos atuais selecionados no inventário por categoria/escopo; a data documental isolada não comprova vigência jurídica.</a:t>
            </a:r>
          </a:p>
          <a:p>
            <a:r>
              <a:t>CNPJ 62696791000193 · Substituição de prestadores · Versão e prevalência: Documentos atuais selecionados no inventário por categoria/escopo; a data documental isolada não comprova vigência jurídica.</a:t>
            </a:r>
          </a:p>
          <a:p>
            <a:r>
              <a:t>CNPJ 55563624000109 · Substituição de prestadores · Motivo: Não localizada uma cláusula material para este critério nos textos identificados e processados. A ausência de resultado não comprova inexistência da regra.</a:t>
            </a:r>
          </a:p>
          <a:p>
            <a:r>
              <a:t>CNPJ 62552447000120 · Substituição de prestadores · Motivo: Não localizada uma cláusula material para este critério nos textos identificados e processados. A ausência de resultado não comprova inexistência da regra.</a:t>
            </a:r>
          </a:p>
          <a:p>
            <a:r>
              <a:t>CNPJ 63953620000165 · Substituição de prestadores · Anexo ao Regulamento · ID 1222863 · 2026-06-02 · versão 1 · p. 15 · https://fnet.bmfbovespa.com.br/fnet/publico/visualizarDocumento?id=1222863</a:t>
            </a:r>
          </a:p>
          <a:p>
            <a:r>
              <a:t>CNPJ 63953620000165 · Substituição de prestadores · Excerto da fonte:</a:t>
            </a:r>
          </a:p>
          <a:p>
            <a:r>
              <a:t>Anexo I ao Regulamento  CLASSE CONSIGNADO PRIVADO DO MT GLOBAL FUNDO DE INVESTIMENTO EM DIREITOS  CREDITÓRIOS RESPONSABILIDADE LIMITADA</a:t>
            </a:r>
          </a:p>
          <a:p>
            <a:r>
              <a:t> (vii) inobservância pelo Administrador, pelo Custodiante e/ou pelo Gestor de seus deveres e obrigações  previstos neste Regulamento, bem como suas atribuições específicas nos outros contratos existentes  referentes ao funcionamento da Classe, verificada pelo Administrador, pelo Custodiante e/ou pelo  Gestor ou por qualquer dos Cotistas, desde que, uma vez notificados para sanar ou justificar o  descumprimento, o Administrador, o Custodiante e/ou o Gestor, conforme o caso, não o sane no prazo  de 5 (cinco) Dias Úteis contados do recebimento da referida notificação;</a:t>
            </a:r>
          </a:p>
          <a:p>
            <a:r>
              <a:t> (viii) aquisição, pela Classe, de Direitos Creditórios que estejam em desacordo com as Condições de Cessão e  os Critérios de Elegibilidade previstos neste Regulamento no momento de sua aquisição;</a:t>
            </a:r>
          </a:p>
          <a:p>
            <a:r>
              <a:t> (ix) alteração na classificação de risco das Cotas, se houver, que, para qualquer dado período após a  classificação de risco inicial das Cotas e/ou após a deliberação da Assembleia Especial de Cotistas a  respeito de um rebaixamento da classificação de risco das Cotas, implique no rebaixamento de dois  níveis na escala de risco pertinente elaborada pela Agência Classificadora de Risco; e/ou</a:t>
            </a:r>
          </a:p>
          <a:p>
            <a:r>
              <a:t> (x) renúncia do Gestor, sem que tenham sido tomadas tempestivamente as providências previstas no  CAPÍTULO 2 da parte geral deste Regulamento;</a:t>
            </a:r>
          </a:p>
          <a:p>
            <a:r>
              <a:t> (xi) no caso de o Contrato de Endosso celebrado com o Endossante, por qualquer razão, (a) seja declarado  inválido, nulo ou ineficaz por ordem judicial e/ou qualquer autoridade governamental; ou (b) tenha sua  validade ou eficácia, total ou parcialmente, contestada pelo Endossante, judicial ou administrativamente</a:t>
            </a:r>
          </a:p>
          <a:p>
            <a:r>
              <a:t> (xii) em caso de não renovação, cancelamento, revogação ou suspensão de concessões, autorizações,  subvenções, autorizações ou licenças, relevantes para o exercício regular dos negócios realizados pelo  Endossante, incluindo o Convênio Consignado Privado, e as autorizações regulatórias concedidas pelo  Banco Central, observado, caso aplicável, os prazos de cura dispostos no Contrato de Endosso;</a:t>
            </a:r>
          </a:p>
          <a:p>
            <a:r>
              <a:t> (xiii) no caso de o Endossante ou o Agente de Retenção/Cobrança e/ou seus acionistas controladores diretos  e/ou indiretos (pessoas físicas ou jurídicas), quotistas, diretores, conselheiros e/ou representantes e  colaboradores do Endossante ou seus acionistas controladores, (a) terem contra si uma decisão judicial  transitada em julgado envolvendo (1) crimes contra a propriedade, (2) crimes de falsificação, (3) crimes  contra o sistema financeiro nacional, (4) crimes contra o mercado de capitais, (5) crimes contra a  seguridade social, (6) crimes contra as relações de consumo e (7) crimes previstos na lei de falências;</a:t>
            </a:r>
          </a:p>
          <a:p>
            <a:r>
              <a:t> e/ou (b) violar as normas anticorrupção aplicáveis, especialmente a Lei nº 9.613, de 3 de março de 1998,  conforme alterada ou substituída de tempos em tempos, e qualquer outra a que estejam sujeitos, quer  contratual ou legalmente, desde que a violação mencionada seja considerada como, especialmente, mas  não limitada a (1) financiamento, crédito, patrocínio ou outra forma de subvenção à prática de atos  ilícitos previstos na legislação anticorrupção, de combate à lavagem de dinheiro, organizações  antissociais e/ou crime organizado; (2) promessa, oferta ou entrega, direta ou indiretamente, de  qualquer objeto de valor a um funcionário público ou terceiros para obter ou manter negócios ou para  obter qualquer vantagem indevida; (3) aceitação ou compromisso de aceitar, de quem quer que seja,  por si ou por outrem, qualquer pagamento, doação, compensação, vantagens financeiras ou não  financeiras ou benefícios de qualquer tipo, direta ou indiretamente relacionados com o objeto da Classe,  que constituam uma prática ilegal, que violem as boas condutas, a ética, a moral e constitua corrupção  nos termos das leis dos países da sede e onde existam filiais das partes envolvidas, das partes  contratantes; e</a:t>
            </a:r>
          </a:p>
          <a:p>
            <a:r>
              <a:t> (xiv) caso o cotista das Cotas Subordinadas deixe de ser titular das Cotas Subordinadas durante todo prazo  de duração da Classe;</a:t>
            </a:r>
          </a:p>
          <a:p>
            <a:r>
              <a:t> (xv) no caso de não serem realizados pagamentos de amortização e/ou resgate de Cotas Seniores, nos  termos, prazos e condições previstos no presente Regulamento e nos respectivos Apêndices e  Suplementos, não sanados em até 2 (dois) Dias Úteis contados do prazo final do respectivo evento;</a:t>
            </a:r>
          </a:p>
          <a:p>
            <a:r>
              <a:t> (xvi) no caso de pagamento de resgate e/ou amortização de Cotas Subordinadas em desacordo com os  termos, prazos e condições previstos no presente Regulamento e no respectivo Apêndice.</a:t>
            </a:r>
          </a:p>
          <a:p>
            <a:r>
              <a:t>CNPJ 63953620000165 · Substituição de prestadores · Condição: Documentos atuais selecionados no inventário por categoria/escopo; a data documental isolada não comprova vigência jurídica.</a:t>
            </a:r>
          </a:p>
          <a:p>
            <a:r>
              <a:t>CNPJ 63953620000165 · Substituição de prestadores · Motivo: Cláusula primária localizada e citada, mas sua lista/condições extensas não admitem uma síntese literal curta confirmada. O trecho integral permanece nas fontes.</a:t>
            </a:r>
          </a:p>
          <a:p>
            <a:r>
              <a:t>CNPJ 63953620000165 · Substituição de prestadores · Versão e prevalência: Documentos atuais selecionados no inventário por categoria/escopo; a data documental isolada não comprova vigência jurídica.</a:t>
            </a:r>
          </a:p>
          <a:p>
            <a:r>
              <a:t>CNPJ 54871427000194 · Rating por subclasse e downgrade · Regulamento · ID 670691 · 28/04/2024 · versão Regulamento — referência 28/04/2024 · p. 15 · Anexo I, 5.12 · https://fnet.bmfbovespa.com.br/fnet/publico/visualizarDocumento?id=670691</a:t>
            </a:r>
          </a:p>
          <a:p>
            <a:r>
              <a:t>CNPJ 54871427000194 · Rating por subclasse e downgrade · Excerto da fonte:</a:t>
            </a:r>
          </a:p>
          <a:p>
            <a:r>
              <a:t>5.12 As Cotas não serão classificadas por Agência Classificadora de Risco em funcionamento no País, uma vez que a Classe não será destinada ao público em geral. CAPÍTULO 6 – ATRIBUIÇÃO DE RESULTADO ÀS COTAS E CÁLCULO DO VALOR UNITÁRIO 6.1 As Cotas terão seu Valor Unitário calculado e divulgado pelo ADMINISTRADOR mensalmente, no último Dia Útil de cada mês, no fechamento dos mercados, a partir do mês seguinte à Data da 1ª Integralização e até a data de resgate das Cotas ou na data de liquidação da Classe Única, conforme o caso. 6.2 A partir da Data da 1ª Integralização de Cotas, o Valor Unitário das Cotas s erá calculado no fechamento do último Dia Útil de cada mês, equivalerá ao resultado da divisão do valor do Patrimônio Líquido apurado para o respectivo dia, pelo número de Cotas em circulação na respectiva data de cálculo . CAPÍTULO 7 – AMORTIZAÇÃO E RESGATE DAS COTAS 7.1 A distribuição de quaisquer ganhos e rendimentos d a Classe aos Cotistas será f eita exclusivamente mediante a Amortização e/ou o resgate de Cotas, observado o disposto neste Capítulo. 7.2 As amortizações de Cotas serão realizadas a qualquer tempo, a critério do GESTOR, observada a disponibilidade de recursos da Classe Única e a</a:t>
            </a:r>
          </a:p>
          <a:p>
            <a:r>
              <a:t>CNPJ 54871427000194 · Rating por subclasse e downgrade · Versão e prevalência: Leitura específica das cláusulas indicadas; condições e conflitos preservados. Seleção documental atual não comprova vigência jurídica por data isolada.</a:t>
            </a:r>
          </a:p>
          <a:p>
            <a:r>
              <a:t>CNPJ 54871427000194 · Rating por subclasse e downgrade · Resumo do histórico: {"count": 5, "dates": ["2024-12-31", "2025-01-01", "2025-12-31"], "document_count": 3, "sources": [{"document_id": "1151805", "title": "Demonstrações Financeiras", "reference_date": "2025-12-31", "version": "1", "page": 25, "url": "https://fnet.bmfbovespa.com.br/fnet/publico/visualizarDocumento?id=1151805", "sha256": "f1cea70b152968bf96ef9221b27225953cb20aeef487b2798db3c25e11b528d4"}, {"document_id": "869529", "title": "Demonstrações Financeiras", "reference_date": "2025-01-01", "version": "1", "page": 25, "url": "https://fnet.bmfbovespa.com.br/fnet/publico/visualizarDocumento?id=869529", "sha256": "9a93a9369ac8efdbc54ff8fcee3ccac3abf88edab4807b9323d3852450771b2a"}, {"document_id": "870070", "title": "Demonstrações Financeiras", "reference_date": "2024-12-31", "version": "1", "page": 25, "url": "https://fnet.bmfbovespa.com.br/fnet/publico/visualizarDocumento?id=870070", "sha256": "9a93a9369ac8efdbc54ff8fcee3ccac3abf88edab4807b9323d3852450771b2a"}], "reference": {"path": "history/54871427000194.json", "criterion_id": "rating", "total_count": 5, "preview_count": 3, "full_text_deferred": true, "sha256": "35d7cd99be50c7287c9fb675cf4f2e736002315295a225a9efa79c8d9186d874"}}</a:t>
            </a:r>
          </a:p>
          <a:p>
            <a:r>
              <a:t>CNPJ 60010416000112 · Rating por subclasse e downgrade · Demonstrações Financeiras - Fusão, cisão e incorporação · ID 1298690 · 2026-05-08 · versão 1 · p. 35 · https://fnet.bmfbovespa.com.br/fnet/publico/visualizarDocumento?id=1298690</a:t>
            </a:r>
          </a:p>
          <a:p>
            <a:r>
              <a:t>CNPJ 60010416000112 · Rating por subclasse e downgrade · Excerto da fonte:</a:t>
            </a:r>
          </a:p>
          <a:p>
            <a:r>
              <a:t>As Cotas Seniores poderão ser objeto de classificação de risco (rating) por Agência  Classificadora de Risco em funcionamento no país.</a:t>
            </a:r>
          </a:p>
          <a:p>
            <a:r>
              <a:t>CNPJ 60010416000112 · Rating por subclasse e downgrade · Condição: Documentos atuais selecionados no inventário por categoria/escopo; a data documental isolada não comprova vigência jurídica.</a:t>
            </a:r>
          </a:p>
          <a:p>
            <a:r>
              <a:t>CNPJ 60010416000112 · Rating por subclasse e downgrade · Versão e prevalência: Documentos atuais selecionados no inventário por categoria/escopo; a data documental isolada não comprova vigência jurídica.</a:t>
            </a:r>
          </a:p>
          <a:p>
            <a:r>
              <a:t>CNPJ 60010416000112 · Rating por subclasse e downgrade · Resumo do histórico: {"count": 5, "dates": ["2025-11-30", "2026-03-18", "2026-04-16"], "document_count": 3, "sources": [{"document_id": "1282181", "title": "Demonstrações Financeiras - Fusão, cisão e incorporação", "reference_date": "2026-04-16", "version": "1", "page": 38, "url": "https://fnet.bmfbovespa.com.br/fnet/publico/visualizarDocumento?id=1282181", "sha256": "b1c6566e43a00bcd00c8a7f30c77b7f86e351bd8e355bbea113f46d1dafda703"}, {"document_id": "1224477", "title": "Demonstrações Financeiras - Fusão, cisão e incorporação", "reference_date": "2026-03-18", "version": "1", "page": 37, "url": "https://fnet.bmfbovespa.com.br/fnet/publico/visualizarDocumento?id=1224477", "sha256": "0751bf0a75bc3b44c2748f5000226665c6ec6698a90c4dc6170b4e6c187759ae"}, {"document_id": "1126154", "title": "Demonstrações Financeiras", "reference_date": "2025-11-30", "version": "1", "page": 38, "url": "https://fnet.bmfbovespa.com.br/fnet/publico/visualizarDocumento?id=1126154", "sha256": "a01e7ccf88c548f12c95cba8526d7efbef6b585c112cd4668eca781c292090b0"}], "reference": {"path": "history/60010416000112.json", "criterion_id": "rating", "total_count": 5, "preview_count": 3, "full_text_deferred": true, "sha256": "8e2bd813f4c51cf01f6bfaad164bafe69d2bbb192f753eac92da3a01c2e63046"}}</a:t>
            </a:r>
          </a:p>
          <a:p>
            <a:r>
              <a:t>CNPJ 62696791000193 · Rating por subclasse e downgrade · Regulamento · ID 1143317 · 2026-03-20 · versão 1 · p. 3 · 2.1.2 · https://fnet.bmfbovespa.com.br/fnet/publico/visualizarDocumento?id=1143317</a:t>
            </a:r>
          </a:p>
          <a:p>
            <a:r>
              <a:t>CNPJ 62696791000193 · Rating por subclasse e downgrade · Excerto da fonte:</a:t>
            </a:r>
          </a:p>
          <a:p>
            <a:r>
              <a:t>2.1.2 Não obstante as atribuições previstas neste Regulamento e na regulamentação aplicável, cabe  ao Gestor praticar os atos necessários à gestão da carteira de ativos do Fundo, o que inclui,  mas não se limita, à contratação, em nome do Fundo ou da classe de cot as, dos seguintes  serviços: (a) intermediação de operações para carteira de ativos; (b) distribuição de cotas; (c)  consultoria de investimentos ou consultoria especializada; (d) classificação de risco por agência  de classificação de risco de crédito; (e) f ormador de mercado de classe f echada; (f ) cogestão  da carteira de ativos; (g) empresa especializada para administrar as locações ou arrendamentos  de imóveis rurais e a exploração do direito de superf ície, assim como para monitorar e</a:t>
            </a:r>
          </a:p>
          <a:p>
            <a:r>
              <a:t>CNPJ 62696791000193 · Rating por subclasse e downgrade · Regulamento · ID 1143317 · 2026-03-20 · versão 1 · p. 36 · 1.2 · https://fnet.bmfbovespa.com.br/fnet/publico/visualizarDocumento?id=1143317</a:t>
            </a:r>
          </a:p>
          <a:p>
            <a:r>
              <a:t>CNPJ 62696791000193 · Rating por subclasse e downgrade · Excerto da fonte:</a:t>
            </a:r>
          </a:p>
          <a:p>
            <a:r>
              <a:t>1.2. As Cotas Subordinadas Juniores serão subscritas e integralizadas por um único Cotista e/ou por Cotistas  vinculados por interesse único e indissociável, de forma que serão objeto de colocação privada, nos termos  do Compromisso de Investimento a ser f irmado pelo Cotista, dispensadas da classificação de risco e não  terão parâmetro de remuneração def inido.</a:t>
            </a:r>
          </a:p>
          <a:p>
            <a:r>
              <a:t>2. Emissão, Subscrição e Integralização das Cotas</a:t>
            </a:r>
          </a:p>
          <a:p>
            <a:r>
              <a:t>CNPJ 62696791000193 · Rating por subclasse e downgrade · Condição: Documentos atuais selecionados no inventário por categoria/escopo; a data documental isolada não comprova vigência jurídica.</a:t>
            </a:r>
          </a:p>
          <a:p>
            <a:r>
              <a:t>CNPJ 62696791000193 · Rating por subclasse e downgrade · Versão e prevalência: Documentos atuais selecionados no inventário por categoria/escopo; a data documental isolada não comprova vigência jurídica.</a:t>
            </a:r>
          </a:p>
          <a:p>
            <a:r>
              <a:t>CNPJ 55563624000109 · Rating por subclasse e downgrade · Regulamento · ID 1192614 · 30/04/2026 · versão Regulamento30/04/2026 · p. 44 · GlossárioTermo de Adesão · https://fnet.bmfbovespa.com.br/fnet/publico/visualizarDocumento?id=1192614</a:t>
            </a:r>
          </a:p>
          <a:p>
            <a:r>
              <a:t>CNPJ 55563624000109 · Rating por subclasse e downgrade · Excerto da fonte:</a:t>
            </a:r>
          </a:p>
          <a:p>
            <a:r>
              <a:t>Termo de Adesão”: documento elaborado nos termos do art. 29 da Resolução CVM 175, por meio do qual o Cotista adere a este Regulamento e que deve ser firmado quando de seu ingresso no FUNDO, declarando, inclusive, sem se limitar a, ter pleno conhecimento dos riscos envolvidos na operação, inclusive da possibilidade de perda total do capital investido, e da ausência de classificação de risco das Cotas subscritas; “Valor Unitário”: o valor individual das Cotas, equivalente a R$ 1.000,00 (um mil), na primeira Data de Emissão, calculado todo Dia Útil para efeito da definição de seu valor de integralização e</a:t>
            </a:r>
          </a:p>
          <a:p>
            <a:r>
              <a:t>CNPJ 55563624000109 · Rating por subclasse e downgrade · Versão e prevalência: Leitura específica das cláusulas indicadas; condições e conflitos preservados. Seleção documental atual não comprova vigência jurídica por data isolada.</a:t>
            </a:r>
          </a:p>
          <a:p>
            <a:r>
              <a:t>CNPJ 55563624000109 · Rating por subclasse e downgrade · Resumo do histórico: {"count": 2, "dates": ["2025-01-31", "2026-01-31"], "document_count": 2, "sources": [{"document_id": "1178840", "title": "Demonstrações Financeiras", "reference_date": "2026-01-31", "version": "1", "page": 22, "url": "https://fnet.bmfbovespa.com.br/fnet/publico/visualizarDocumento?id=1178840", "sha256": "c458e98664c5c907ddb5a05a94b120bed4e05295b2bfc420f5ba69af0a229abe"}, {"document_id": "891861", "title": "Demonstrações Financeiras", "reference_date": "2025-01-31", "version": "1", "page": 23, "url": "https://fnet.bmfbovespa.com.br/fnet/publico/visualizarDocumento?id=891861", "sha256": "e9cb9e6ddbe505fe068cfcac33605165a98313489de0d3ce6d4d238263c3f3e7"}], "reference": {"path": "history/55563624000109.json", "criterion_id": "rating", "total_count": 2, "preview_count": 2, "full_text_deferred": true, "sha256": "7835d573fb58a3c19adf5b8ecc2aee2bdbb9a88f7a0c0209b5f262b64c7522e3"}}</a:t>
            </a:r>
          </a:p>
          <a:p>
            <a:r>
              <a:t>CNPJ 62552447000120 · Rating por subclasse e downgrade · Regulamento · ID 1200623 · 21/05/2026 · versão Consolidado21/05/2026 aprovado pelo ato1200625 · p. 19 · AnexoI6.11 · https://fnet.bmfbovespa.com.br/fnet/publico/visualizarDocumento?id=1200623</a:t>
            </a:r>
          </a:p>
          <a:p>
            <a:r>
              <a:t>CNPJ 62552447000120 · Rating por subclasse e downgrade · Excerto da fonte:</a:t>
            </a:r>
          </a:p>
          <a:p>
            <a:r>
              <a:t>6.11 As Cotas não serão objeto de classif icação de risco . CAPÍTULO 7 – AMORTIZAÇÃO DAS COTAS 7.1 A distribuição de quaisquer ganhos e rendimentos d a Classe aos Cotistas será f eita exclusivamente mediante a Amortização, observado o disposto neste Capítulo. 7.2 As Cotas poderão ser amortizadas através de uma Amortização programada, se houver, conforme prevista nos Apêndices, caso aplicável (“Amortização Programada”), e por meio amortização extraordinária das Cotas, a ser realizada por (a) por decisão do Gestor, para: (i) reenquadramento da Carteira ao mínimo de Direitos Creditórios que deve ser detido pel</a:t>
            </a:r>
          </a:p>
          <a:p>
            <a:r>
              <a:t>CNPJ 62552447000120 · Rating por subclasse e downgrade · Versão e prevalência: Leitura específica das cláusulas indicadas; condições e conflitos preservados. Seleção documental atual não comprova vigência jurídica por data isolada.</a:t>
            </a:r>
          </a:p>
          <a:p>
            <a:r>
              <a:t>CNPJ 63953620000165 · Rating por subclasse e downgrade · Anexo ao Regulamento · ID 1222863 · 02/06/2026 · versão AnexoConsignadoPrivado02/06/2026 · p. 11 · 6.14 · https://fnet.bmfbovespa.com.br/fnet/publico/visualizarDocumento?id=1222863</a:t>
            </a:r>
          </a:p>
          <a:p>
            <a:r>
              <a:t>CNPJ 63953620000165 · Rating por subclasse e downgrade · Excerto da fonte:</a:t>
            </a:r>
          </a:p>
          <a:p>
            <a:r>
              <a:t>6.14 As Cotas poderão ser objeto de classificação de risco pela contratada pelo Gestor, desde que em comum acordo entre Gestor e Cotistas Subordinados em Assembleia Especial de Cotistas (“Agência Classificadora de Risco”). CAPÍTULO 7 – AMORTIZAÇÃO DAS COTAS 7.1 A distribuição de quaisquer ganhos e rendimentos da Classe aos Cotistas será feita exclusivamente mediante a Amortização de Cotas, observado o disposto neste Capítulo e nos Apêndices. 7.2 As Cotas poderão ser amortizadas através de uma Amortização por Regime de Caixa, se houver conforme prevista nos Apêndices; e por meio amortização extraordinária das Cotas, a ser realiz</a:t>
            </a:r>
          </a:p>
          <a:p>
            <a:r>
              <a:t>CNPJ 63953620000165 · Rating por subclasse e downgrade · Versão e prevalência: Leitura específica das cláusulas indicadas; condições e conflitos preservados. Seleção documental atual não comprova vigência jurídica por data isolada.</a:t>
            </a:r>
          </a:p>
          <a:p>
            <a:r>
              <a:t>CNPJ 63953620000165 · Rating por subclasse e downgrade · Resumo do histórico: {"count": 8, "dates": ["2026-04-28", "2026-05-08", "2026-05-15"], "document_count": 3, "sources": [{"document_id": "1327859", "title": "Demonstrações Financeiras - Fusão, cisão e incorporação", "reference_date": "2026-05-15", "version": "1", "page": 29, "url": "https://fnet.bmfbovespa.com.br/fnet/publico/visualizarDocumento?id=1327859", "sha256": "dca1c68babb97f887528c3e2e47596a9c30f507b067981a35655b2f2da9c8054"}, {"document_id": "1298691", "title": "Demonstrações Financeiras - Fusão, cisão e incorporação", "reference_date": "2026-05-08", "version": "1", "page": 30, "url": "https://fnet.bmfbovespa.com.br/fnet/publico/visualizarDocumento?id=1298691", "sha256": "58c570d9b8d4d265330d3db3ea81c435b8e44a6dab4002aa37790652a1ee9819"}, {"document_id": "1282180", "title": "Demonstrações Financeiras - Fusão, cisão e incorporação", "reference_date": "2026-04-28", "version": "1", "page": 30, "url": "https://fnet.bmfbovespa.com.br/fnet/publico/visualizarDocumento?id=1282180", "sha256": "afaaa0e6809be4385e5bdb6c911aac582032c5bdbac3d7750234bf9eaf00438a"}], "reference": {"path": "history/63953620000165.json", "criterion_id": "rating",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Hedge e prestadores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Finalidade e limites de derivativos · Regulamento · ID 670691 · 28/04/2024 · versão Regulamento — referência 28/04/2024 · p. 13 · Anexo I, 4.15–4.16 · https://fnet.bmfbovespa.com.br/fnet/publico/visualizarDocumento?id=670691</a:t>
            </a:r>
          </a:p>
          <a:p>
            <a:r>
              <a:t>CNPJ 54871427000194 · Finalidade e limites de derivativos · Excerto da fonte:</a:t>
            </a:r>
          </a:p>
          <a:p>
            <a:r>
              <a:t>4.15 A Classe poderá utilizar instrumentos derivativos, desde que com o objetivo de proteção patrimonial, ou, desde que não resulte em exposição a risco de capital, conforme definida no inciso XXIV Art. 3º da parte geral da Resolução CVM 175, troca de indexador a que os ativos estão indexados . 4.16 A Classe não realizará operações de day trade, assim consideradas aquelas iniciadas e encerradas no mesmo dia, independentemente de a Classe possuir estoque ou posição anterior do mesmo Ativo Financeiro. 4.17 É vedada qualquer forma de antecipação de recursos aos Endossantes para posterior reembolso pela Classe, seja pelo ADMINISTRADOR, GESTOR, CUSTODIANTE, consultora ou Originadores. 4.18 Exceto na medida em que eventualmente previsto nos Contratos de Cessão e/ou em instrumentos eventualmente celebrados entre a Classe e os Endossantes, os Endossantes não serão responsáveis em caso de eventual inadimplemento dos Direitos Creditórios por eles cedidos, sendo responsáveis, não obstante, apenas pela existência, certeza, conteúdo, exatidão, veracidade, legitimidade, validade e correta f ormalização dos Direitos Creditórios que cederem à Classe, nos termos da</a:t>
            </a:r>
          </a:p>
          <a:p>
            <a:r>
              <a:t>CNPJ 54871427000194 · Finalidade e limites de derivativos · Versão e prevalência: Leitura específica das cláusulas indicadas; condições e conflitos preservados. Seleção documental atual não comprova vigência jurídica por data isolada.</a:t>
            </a:r>
          </a:p>
          <a:p>
            <a:r>
              <a:t>CNPJ 54871427000194 · Finalidade e limites de derivativos · Resumo do histórico: {"count": 2, "dates": ["2024-04-19", "2024-04-28"], "document_count": 2, "sources": [{"document_id": "670691", "title": "Regulamento", "reference_date": "2024-04-28", "version": "1", "page": "13", "url": "https://fnet.bmfbovespa.com.br/fnet/publico/visualizarDocumento?id=670691", "sha256": "bf16dd7f1a62d5cdbf2e2d54fef81783783f7310fbc99c3a8f00459bdf9d037b"}, {"document_id": "670689", "title": "Regulamento", "reference_date": "2024-04-19", "version": "1", "page": 13, "clause": "4.15", "url": "https://fnet.bmfbovespa.com.br/fnet/publico/visualizarDocumento?id=670689", "sha256": "891bc9bc5d87bbc02ec139077a84d2702eb81ea02035fb71d24f5b8366b94a0b"}], "reference": {"path": "history/54871427000194.json", "criterion_id": "hedge", "total_count": 2, "preview_count": 2, "full_text_deferred": true, "sha256": "35d7cd99be50c7287c9fb675cf4f2e736002315295a225a9efa79c8d9186d874"}}</a:t>
            </a:r>
          </a:p>
          <a:p>
            <a:r>
              <a:t>CNPJ 60010416000112 · Finalidade e limites de derivativos · Regulamento · ID 1051393 · 2025-10-09 · versão 1 · p. 12 · 4.9 · https://fnet.bmfbovespa.com.br/fnet/publico/visualizarDocumento?id=1051393</a:t>
            </a:r>
          </a:p>
          <a:p>
            <a:r>
              <a:t>CNPJ 60010416000112 · Finalidade e limites de derivativos · Excerto da fonte:</a:t>
            </a:r>
          </a:p>
          <a:p>
            <a:r>
              <a:t>4.9 Sem prejuízo de limites mais restritivos definidos neste Regulamento, o Gestor deverá observar, ainda, os  seguintes limites de concentração para a composição da Carteira:</a:t>
            </a:r>
          </a:p>
          <a:p>
            <a:r>
              <a:t> (i ) Até 100% (cem por cento) da parcela do Patrimônio Líquido investida em Ativos  Financeiros de Liquidez poderá ser alocada em Ativos Financeiros de Liquidez de  emissão ou que envolvam retenção de risco por parte do Administrador, Gestor, e/ou  suas partes relacionadas; e</a:t>
            </a:r>
          </a:p>
          <a:p>
            <a:r>
              <a:t> (ii) Até 100% (cem por cento) da parcela do Patrimônio Líquido investida em operações  com derivativos poderá ser alocada em derivativos nos quais, inexistindo contraparte  central, se tenha como contraparte o Gestor e/ou suas partes relacionadas.</a:t>
            </a:r>
          </a:p>
          <a:p>
            <a:r>
              <a:t>CNPJ 60010416000112 · Finalidade e limites de derivativos · Regulamento · ID 1051393 · 2025-10-09 · versão 1 · p. 13 · 4.15 · https://fnet.bmfbovespa.com.br/fnet/publico/visualizarDocumento?id=1051393</a:t>
            </a:r>
          </a:p>
          <a:p>
            <a:r>
              <a:t>CNPJ 60010416000112 · Finalidade e limites de derivativos · Excerto da fonte:</a:t>
            </a:r>
          </a:p>
          <a:p>
            <a:r>
              <a:t>4.15 A Classe poderá utilizar instrumentos derivativos, observados os limites de concentração previstos neste  Regulamento, desde que com o objetivo de proteção patrimonial, ou, desde que não resulte em exposição  a risco de capital, conforme definida no inciso XXIV do Art. 3º da parte geral da Resolução CVM 175, troca  de indexador a que os ativos estão indexados e o índice de ref erência de cada Subclasse.</a:t>
            </a:r>
          </a:p>
          <a:p>
            <a:r>
              <a:t>CNPJ 60010416000112 · Finalidade e limites de derivativos · Regulamento · ID 1051393 · 2025-10-09 · versão 1 · p. 16 · 7.11 · https://fnet.bmfbovespa.com.br/fnet/publico/visualizarDocumento?id=1051393</a:t>
            </a:r>
          </a:p>
          <a:p>
            <a:r>
              <a:t>CNPJ 60010416000112 · Finalidade e limites de derivativos · Excerto da fonte:</a:t>
            </a:r>
          </a:p>
          <a:p>
            <a:r>
              <a:t>7.11 Sem prejuízo do disposto do disposto nos itens 7.1 a 7.10 acima, a partir da Data da 1ª Integralização de  Cotas até a liquidação integral das Obrigações da Classe, sempre preservando a manutenção da boa  ordem legal, administrativa e operacional da Classe, o Gestor obriga-se a utilizar os recursos disponíveis  na Conta de Movimentação da Classe e/ou mantidos em Ativos Financeiros de Liquidez, em cada Dia Útil,  de acordo com a seguinte ordem de prioridade de alocação, na forma dos itens e tabela abaixo, de modo  que cada um dos itens listado apenas será contemplado após o direcionamento do montante total  necessário para a satisfação dos itens anteriores, ressalvado, enquanto em curso um Evento de Avaliação  e/ou um Evento de Liquidação, o disposto no item 11.4.1 abaixo</a:t>
            </a:r>
          </a:p>
          <a:p>
            <a:r>
              <a:t> (i) entradas de recursos provenientes da integralização de Cotas e dos Direitos Creditórios e  Ativos Financeiros de Liquidez que compõem a carteira da Classe, durante o Período de  Investimento, na seguinte ordem:</a:t>
            </a:r>
          </a:p>
          <a:p>
            <a:r>
              <a:t> a. pagamento dos Encargos;</a:t>
            </a:r>
          </a:p>
          <a:p>
            <a:r>
              <a:t> b. pagamento de despesas relativas aos instrumentos derivativos, conf orme aplicável;</a:t>
            </a:r>
          </a:p>
          <a:p>
            <a:r>
              <a:t> c. aquisição de Direitos Creditórios, sempre que ofertado, em moeda corrente nacional, em  conf ormidade com a Política de Investimento descrita neste Regulamento, sem prejuízo  do disposto no item 4.12 acima; e  d. aquisição de Ativos Financeiros de Liquidez, observando-se a Política de Investimentos.</a:t>
            </a:r>
          </a:p>
          <a:p>
            <a:r>
              <a:t> (ii) entradas de recursos provenientes dos Direitos Creditórios e Ativos Financeiros de Liquidez  que compõem a carteira da Classe, após o término do Período de Investimento, na seguinte  ordem, observadas as seguintes condições:</a:t>
            </a:r>
          </a:p>
          <a:p>
            <a:r>
              <a:t> a. pagamento dos Encargos;</a:t>
            </a:r>
          </a:p>
          <a:p>
            <a:r>
              <a:t> b. pagamento de despesas relativas aos instrumentos derivativos, conf orme aplicável;</a:t>
            </a:r>
          </a:p>
          <a:p>
            <a:r>
              <a:t> c. pagamento da amortização do principal e dos rendimentos acumulados relacionados às  Cotas Seniores, de modo que, considerando, pro f orma, todas as amortizações  pretendidas, o percentual empregado para amortização das Cotas Seniores seja  equivalente à relação entre o Patrimônio Líquido Sênior dividido pelo Patrimônio Líquido  da Classe, com a devida observância dos termos e condições deste Regulamento, do  Apêndice e do Suplemento das Cotas Seniores;</a:t>
            </a:r>
          </a:p>
          <a:p>
            <a:r>
              <a:t> d. pagamento da amortização do principal e dos rendimentos acumulados relacionados às  Cotas Subordinadas, de modo que, considerando, pro f orma, todas as amortizações  pretendidas, o percentual empregado para amortização das Cotas Subordinadas seja  equivalente à relação entre o Patrimônio Líquido Subordinado dividido pelo Patrimônio  Líquido da Classe, com a devida observância dos termos e condições deste  Regulamento, do Apêndice e do Suplemento das Cotas Seniores e desde que  respeitados o Índice de Subordinação;</a:t>
            </a:r>
          </a:p>
          <a:p>
            <a:r>
              <a:t> e. aquisição de Ativos Financeiros, observado o limite de alocação previsto no item 4.7  deste Anexo I.</a:t>
            </a:r>
          </a:p>
          <a:p>
            <a:r>
              <a:t>CNPJ 60010416000112 · Finalidade e limites de derivativos · Condição: Documentos atuais selecionados no inventário por categoria/escopo; a data documental isolada não comprova vigência jurídica.</a:t>
            </a:r>
          </a:p>
          <a:p>
            <a:r>
              <a:t>CNPJ 60010416000112 · Finalidade e limites de derivativos · Versão e prevalência: Documentos atuais selecionados no inventário por categoria/escopo; a data documental isolada não comprova vigência jurídica.</a:t>
            </a:r>
          </a:p>
          <a:p>
            <a:r>
              <a:t>CNPJ 60010416000112 · Finalidade e limites de derivativos · Resumo do histórico: {"count": 2, "dates": ["2025-03-20", "2025-10-09"], "document_count": 2, "sources": [{"document_id": "1051393", "title": "Regulamento", "reference_date": "2025-10-09", "version": "1", "page": "13", "url": "https://fnet.bmfbovespa.com.br/fnet/publico/visualizarDocumento?id=1051393", "sha256": "8469d613078ffd5a6c1d217885d8a397a16342c0b937ae4aa24b106505f233ae"}, {"document_id": "993786", "title": "Regulamento", "reference_date": "2025-03-20", "version": "1", "page": 12, "clause": "4.9", "url": "https://fnet.bmfbovespa.com.br/fnet/publico/visualizarDocumento?id=993786", "sha256": "fd0fdd369a195510d81f81f505195a0b09e5f43522a990afa7d58c4f872921c8"}], "reference": {"path": "history/60010416000112.json", "criterion_id": "hedge", "total_count": 2, "preview_count": 2, "full_text_deferred": true, "sha256": "8e2bd813f4c51cf01f6bfaad164bafe69d2bbb192f753eac92da3a01c2e63046"}}</a:t>
            </a:r>
          </a:p>
          <a:p>
            <a:r>
              <a:t>CNPJ 62696791000193 · Finalidade e limites de derivativos · Regulamento · ID 1143317 · 20/03/2026 · versão Regulamento — referência 20/03/2026 · p. 15 · Anexo I, 4.28 e 4.30(i) · https://fnet.bmfbovespa.com.br/fnet/publico/visualizarDocumento?id=1143317</a:t>
            </a:r>
          </a:p>
          <a:p>
            <a:r>
              <a:t>CNPJ 62696791000193 · Finalidade e limites de derivativos · Excerto da fonte:</a:t>
            </a:r>
          </a:p>
          <a:p>
            <a:r>
              <a:t>4.28 A Classe pode aplicar recursos em instrumentos financeiros derivativos, exclusivamente para fins de proteção patrimonial, cuja exposição seja sempre, no máximo, o valor do Patrimônio Líquido. 4.29 A Classe pode emprestar ativos f inanceiros e valores mobiliários, desde que tais operações de empréstimo sejam cursadas exclusivamente por meio de serviço autorizado pelo Banco Central do Brasil ou pela CVM. 4.30 É vedado à Classe: (i) aplicar no exterior recursos captados no País; (ii) salvo aprovação em assembleia de Cotistas, a realização de operações quando caracterizada situação de conf lito de interesses entre: (a) a Classe, o Administrador ou o Gestor ou a Consultoria Especializada; (b) a Classe e os Cotistas que detenham participação correspondente a, no mínimo, 10% (dez por cento) do patrimônio da Classe; e (c) a Classe e o representante dos Cotistas; (iii) a aplicação de recursos em sociedades nas quais participem o Administrador, o Gestor, os consultores, os membros de comitês ou conselhos e os Cotistas titulares de Cotas representativas de 5% (cinco por cento) do patri</a:t>
            </a:r>
          </a:p>
          <a:p>
            <a:r>
              <a:t>CNPJ 62696791000193 · Finalidade e limites de derivativos · Regulamento · ID 1143317 · 20/03/2026 · versão Regulamento — referência 20/03/2026 · p. 27 · Anexo I, 12.11(x) · https://fnet.bmfbovespa.com.br/fnet/publico/visualizarDocumento?id=1143317</a:t>
            </a:r>
          </a:p>
          <a:p>
            <a:r>
              <a:t>CNPJ 62696791000193 · Finalidade e limites de derivativos · Excerto da fonte:</a:t>
            </a:r>
          </a:p>
          <a:p>
            <a:r>
              <a:t>(x) realizar operações com derivativos, exceto quando tais operações f orem realizadas exclusivamente para f ins de proteção patrimonial e desde que a exposição seja sempre, no máximo, o valor do Patrimônio Líquido. 12.11.1 A vedação prevista no item (v) acima não impede a aquisição de imóveis sobre os quais tenham sido constituídos ônus reais anteriormente ao seu ingresso no patrimônio . 12.12 É vedado ao Gestor o recebimento de qualquer remuneração, benefício ou vantagem, direta ou indiretamente, que potencialmente prejudique sua independência na tomada de decisão. Consultoria Especializada 12.13 O Gestor, conforme disposto no Anexo Normativo VI da Resolução 175, poderá contratar Consultoria Especializada para que preste os seguintes serviços (“Consultoria Especializada”): (i) Analisar, selecionar, avaliar e acompanhar, de acordo com a Política de Investimentos deste Anexo, os ativos integrantes ou que possam vir a integrar a carteira da classe do Fundo; (ii) Participar de negociações e propor negócios à classe, observada a Política de Investimentos constante deste Anexo;</a:t>
            </a:r>
          </a:p>
          <a:p>
            <a:r>
              <a:t>CNPJ 62696791000193 · Finalidade e limites de derivativos · Versão e prevalência: Leitura específica das cláusulas indicadas; condições e conflitos preservados. Seleção documental atual não comprova vigência jurídica por data isolada.</a:t>
            </a:r>
          </a:p>
          <a:p>
            <a:r>
              <a:t>CNPJ 55563624000109 · Finalidade e limites de derivativos · Regulamento · ID 1192614 · 2026-04-30 · versão 1 · p. 14 · 4.21 · https://fnet.bmfbovespa.com.br/fnet/publico/visualizarDocumento?id=1192614</a:t>
            </a:r>
          </a:p>
          <a:p>
            <a:r>
              <a:t>CNPJ 55563624000109 · Finalidade e limites de derivativos · Excerto da fonte:</a:t>
            </a:r>
          </a:p>
          <a:p>
            <a:r>
              <a:t>4.21 A Classe poderá utilizar instrumentos derivativos, desde que com o objetivo de proteção patrimonial, ou, desde  que não resulte em exposição a risco de capital, conforme definida no inciso XXIV do Art. 3º da parte geral da  Resolução CVM 175 ou em troca de indexador a que os ativos estão indexados.</a:t>
            </a:r>
          </a:p>
          <a:p>
            <a:r>
              <a:t>CNPJ 55563624000109 · Finalidade e limites de derivativos · Regulamento · ID 1192614 · 2026-04-30 · versão 1 · p. 39 · https://fnet.bmfbovespa.com.br/fnet/publico/visualizarDocumento?id=1192614</a:t>
            </a:r>
          </a:p>
          <a:p>
            <a:r>
              <a:t>CNPJ 55563624000109 · Finalidade e limites de derivativos · Excerto da fonte:</a:t>
            </a:r>
          </a:p>
          <a:p>
            <a:r>
              <a:t>(xxii) Operações com derivativos. A Classe poderá realizar operações com derivativos  exclusivamente com o objetivo de proteção patrimonial. As operações com derivativos, pela sua  própria natureza, acrescentam riscos à Carteira e poderão afetar negativamente a sua rentabilidade,  até o limite do Patrimônio Líquido.</a:t>
            </a:r>
          </a:p>
          <a:p>
            <a:r>
              <a:t>CNPJ 55563624000109 · Finalidade e limites de derivativos · Condição: Documentos atuais selecionados no inventário por categoria/escopo; a data documental isolada não comprova vigência jurídica.</a:t>
            </a:r>
          </a:p>
          <a:p>
            <a:r>
              <a:t>CNPJ 55563624000109 · Finalidade e limites de derivativos · Versão e prevalência: Documentos atuais selecionados no inventário por categoria/escopo; a data documental isolada não comprova vigência jurídica.</a:t>
            </a:r>
          </a:p>
          <a:p>
            <a:r>
              <a:t>CNPJ 55563624000109 · Finalidade e limites de derivativos · Resumo do histórico: {"count": 3, "dates": ["2025-01-31", "2026-01-31", "2026-04-30"], "document_count": 3, "sources": [{"document_id": "1192614", "title": "Regulamento", "reference_date": "2026-04-30", "version": "1", "page": "14", "url": "https://fnet.bmfbovespa.com.br/fnet/publico/visualizarDocumento?id=1192614", "sha256": "f56e63ace0acde41d2f47fb48f1ac7f3f7df5e2d32de092d7c5e075a52516632"}, {"document_id": "1178840", "title": "Demonstrações Financeiras", "reference_date": "2026-01-31", "version": "1", "page": 25, "url": "https://fnet.bmfbovespa.com.br/fnet/publico/visualizarDocumento?id=1178840", "sha256": "c458e98664c5c907ddb5a05a94b120bed4e05295b2bfc420f5ba69af0a229abe"}, {"document_id": "891861", "title": "Demonstrações Financeiras", "reference_date": "2025-01-31", "version": "1", "page": 26, "url": "https://fnet.bmfbovespa.com.br/fnet/publico/visualizarDocumento?id=891861", "sha256": "e9cb9e6ddbe505fe068cfcac33605165a98313489de0d3ce6d4d238263c3f3e7"}], "reference": {"path": "history/55563624000109.json", "criterion_id": "hedge", "total_count": 3, "preview_count": 3, "full_text_deferred": true, "sha256": "7835d573fb58a3c19adf5b8ecc2aee2bdbb9a88f7a0c0209b5f262b64c7522e3"}}</a:t>
            </a:r>
          </a:p>
          <a:p>
            <a:r>
              <a:t>CNPJ 62552447000120 · Finalidade e limites de derivativos · Regulamento · ID 1200623 · 21/05/2026 · versão Consolidado21/05/2026 aprovado pelo ato1200625 · p. 14 · AnexoI4.10.1 · https://fnet.bmfbovespa.com.br/fnet/publico/visualizarDocumento?id=1200623</a:t>
            </a:r>
          </a:p>
          <a:p>
            <a:r>
              <a:t>CNPJ 62552447000120 · Finalidade e limites de derivativos · Excerto da fonte:</a:t>
            </a:r>
          </a:p>
          <a:p>
            <a:r>
              <a:t>4.10.1 O uso de derivativos está restrito a operações que visem à proteção patrimonial ou, desde que não resulte em exposição a risco de capital, à troca de indexador e/ou do índice de referência. 4.11 Sem prejuízo de limites mais restritivos definidos neste Regulamento, o Gestor deverá observar, ainda, os seguintes limites de concentração para a composição da Carteira: (i) Até 100% (cem por cento) da parcela do Patrimônio Líquido investida em Direitos Creditórios poderão ser alocados em Direitos Creditórios originados ou cedidos pelo Administrador, Gestor e</a:t>
            </a:r>
          </a:p>
          <a:p>
            <a:r>
              <a:t>CNPJ 62552447000120 · Finalidade e limites de derivativos · Motivo: Cláusula primária localizada e citada, mas sua lista/condições extensas não admitem uma síntese literal curta confirmada. O trecho integral permanece nas fontes.</a:t>
            </a:r>
          </a:p>
          <a:p>
            <a:r>
              <a:t>CNPJ 62552447000120 · Finalidade e limites de derivativos · Versão e prevalência: Leitura específica das cláusulas indicadas; condições e conflitos preservados. Seleção documental atual não comprova vigência jurídica por data isolada.</a:t>
            </a:r>
          </a:p>
          <a:p>
            <a:r>
              <a:t>CNPJ 63953620000165 · Finalidade e limites de derivativos · Anexo ao Regulamento · ID 1222863 · 2026-06-02 · versão 1 · p. 7 · https://fnet.bmfbovespa.com.br/fnet/publico/visualizarDocumento?id=1222863</a:t>
            </a:r>
          </a:p>
          <a:p>
            <a:r>
              <a:t>CNPJ 63953620000165 · Finalidade e limites de derivativos · Excerto da fonte:</a:t>
            </a:r>
          </a:p>
          <a:p>
            <a:r>
              <a:t>Anexo I ao Regulamento  CLASSE CONSIGNADO PRIVADO DO MT GLOBAL FUNDO DE INVESTIMENTO EM DIREITOS  CREDITÓRIOS RESPONSABILIDADE LIMITADA</a:t>
            </a:r>
          </a:p>
          <a:p>
            <a:r>
              <a:t> (i)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 (ii) No máximo, 50% (cinquenta por cento) do Patrimônio Líquido investido em Ativos Financeiros  de Liquidez de emissão ou que envolvam retenção de risco por parte do Administrador, Gestor,  e/ou suas partes relacionadas, observado ainda o disposto acima;</a:t>
            </a:r>
          </a:p>
          <a:p>
            <a:r>
              <a:t> (iii) No máximo, 100% (cem por cento) do Patrimônio Líquido investido em operações com  derivativos nos quais, inexistindo contraparte central, se tenha como contraparte o Gestor,  Consultora e/ou suas partes relacionadas, observado ainda o disposto acima;</a:t>
            </a:r>
          </a:p>
          <a:p>
            <a:r>
              <a:t> (iv) A Classe poderá investir até 100% (cem por cento) de seu Patrimônio Líquido em Direitos  Creditórios Não-Padronizados;</a:t>
            </a:r>
          </a:p>
          <a:p>
            <a:r>
              <a:t> (v) É vedada a aquisição de precatórios federais.</a:t>
            </a:r>
          </a:p>
          <a:p>
            <a:r>
              <a:t>CNPJ 63953620000165 · Finalidade e limites de derivativos · Condição: Documentos atuais selecionados no inventário por categoria/escopo; a data documental isolada não comprova vigência jurídica.</a:t>
            </a:r>
          </a:p>
          <a:p>
            <a:r>
              <a:t>CNPJ 63953620000165 · Finalidade e limites de derivativos · Motivo: Cláusula primária localizada e citada, mas sua lista/condições extensas não admitem uma síntese literal curta confirmada. O trecho integral permanece nas fontes.</a:t>
            </a:r>
          </a:p>
          <a:p>
            <a:r>
              <a:t>CNPJ 63953620000165 · Finalidade e limites de derivativos · Versão e prevalência: Documentos atuais selecionados no inventário por categoria/escopo; a data documental isolada não comprova vigência jurídica.</a:t>
            </a:r>
          </a:p>
          <a:p>
            <a:r>
              <a:t>CNPJ 63953620000165 · Finalidade e limites de derivativos · Resumo do histórico: {"count": 8, "dates": ["2026-04-28", "2026-05-08", "2026-05-15"], "document_count": 3, "sources": [{"document_id": "1327859", "title": "Demonstrações Financeiras - Fusão, cisão e incorporação", "reference_date": "2026-05-15", "version": "1", "page": 26, "url": "https://fnet.bmfbovespa.com.br/fnet/publico/visualizarDocumento?id=1327859", "sha256": "dca1c68babb97f887528c3e2e47596a9c30f507b067981a35655b2f2da9c8054"}, {"document_id": "1298691", "title": "Demonstrações Financeiras - Fusão, cisão e incorporação", "reference_date": "2026-05-08", "version": "1", "page": 26, "url": "https://fnet.bmfbovespa.com.br/fnet/publico/visualizarDocumento?id=1298691", "sha256": "58c570d9b8d4d265330d3db3ea81c435b8e44a6dab4002aa37790652a1ee9819"}, {"document_id": "1282180", "title": "Demonstrações Financeiras - Fusão, cisão e incorporação", "reference_date": "2026-04-28", "version": "1", "page": 27, "url": "https://fnet.bmfbovespa.com.br/fnet/publico/visualizarDocumento?id=1282180", "sha256": "afaaa0e6809be4385e5bdb6c911aac582032c5bdbac3d7750234bf9eaf00438a"}], "reference": {"path": "history/63953620000165.json", "criterion_id": "hedge", "total_count": 8, "preview_count": 3, "full_text_deferred": true, "sha256": "a7b89077f5e21098c2d601c303faabc3ff6b9729f89d8afecdc60fe1404720c1"}}</a:t>
            </a:r>
          </a:p>
          <a:p>
            <a:r>
              <a:t>CNPJ 54871427000194 · Prioridade do hedge e reserva de MTM · Motivo: Não localizada uma cláusula material para este critério nos textos identificados e processados. A ausência de resultado não comprova inexistência da regra.</a:t>
            </a:r>
          </a:p>
          <a:p>
            <a:r>
              <a:t>CNPJ 60010416000112 · Prioridade do hedge e reserva de MTM · Motivo: Não localizada uma cláusula material para este critério nos textos identificados e processados. A ausência de resultado não comprova inexistência da regra.</a:t>
            </a:r>
          </a:p>
          <a:p>
            <a:r>
              <a:t>CNPJ 62696791000193 · Prioridade do hedge e reserva de MTM · Motivo: Não localizada uma cláusula material para este critério nos textos identificados e processados. A ausência de resultado não comprova inexistência da regra.</a:t>
            </a:r>
          </a:p>
          <a:p>
            <a:r>
              <a:t>CNPJ 55563624000109 · Prioridade do hedge e reserva de MTM · Motivo: Não localizada uma cláusula material para este critério nos textos identificados e processados. A ausência de resultado não comprova inexistência da regra.</a:t>
            </a:r>
          </a:p>
          <a:p>
            <a:r>
              <a:t>CNPJ 62552447000120 · Prioridade do hedge e reserva de MTM · Motivo: Não localizada uma cláusula material para este critério nos textos identificados e processados. A ausência de resultado não comprova inexistência da regra.</a:t>
            </a:r>
          </a:p>
          <a:p>
            <a:r>
              <a:t>CNPJ 63953620000165 · Prioridade do hedge e reserva de MTM · Motivo: Não localizada uma cláusula material para este critério nos textos identificados e processados. A ausência de resultado não comprova inexistência da regra.</a:t>
            </a:r>
          </a:p>
          <a:p>
            <a:r>
              <a:t>CNPJ 54871427000194 · Administrador, gestor e custodiante · Regulamento · ID 670691 · 2024-04-28 · versão 1 · p. 1 · 1.1 · https://fnet.bmfbovespa.com.br/fnet/publico/visualizarDocumento?id=670691</a:t>
            </a:r>
          </a:p>
          <a:p>
            <a:r>
              <a:t>CNPJ 54871427000194 · Administrador, gestor e custodiante · Excerto da fonte:</a:t>
            </a:r>
          </a:p>
          <a:p>
            <a:r>
              <a:t>1.1 CONSIGNADO DELTA RECEIVABLES I FUNDO DE INVESTIMENTO EM DIREITOS CREDITÓRIOS  (“FUNDO”), regido pela Lei nº 10.406, de 10 de janeiro de 2002, conf orme alterada (“Código Civil”),  pela parte geral e o Anexo Normativo II da Resolução nº 175, de 23 de dezembro de 2022, conforme  alterada, da Comissão de Valores Mobiliários (respectivamente, “CVM” e “Resolução CVM 175”), terá  como principais características:</a:t>
            </a:r>
          </a:p>
          <a:p>
            <a:r>
              <a:t> Classe de Cotas Classe única.</a:t>
            </a:r>
          </a:p>
          <a:p>
            <a:r>
              <a:t> Indeterminado, exceto se de outra f orma vier a ser deliberado pelos cotistas  Prazo de Duração  reunidos em assembleia geral de cotistas.</a:t>
            </a:r>
          </a:p>
          <a:p>
            <a:r>
              <a:t> BTG Pactual Serviços Financeiros S.A. Distribuidora de Títulos e Valores  Mobiliários, instituição f inanceira, com sede na Cidade e Estado do Rio de  Janeiro, na Praia de Botafogo, nº 501, 5º andar (parte), Torre Corcovado,  ADMINISTRADOR  Botafogo, CEP 22250-040, inscrita no CNPJ sob o nº 59.281.253/0001-23 e  credenciada como administradora de carteira, de acordo com o Ato Declaratório  CVM nº 8.695, de 20 de março de 2006 (“ADMINISTRADOR”).</a:t>
            </a:r>
          </a:p>
          <a:p>
            <a:r>
              <a:t> BTG Pactual Asset Management S.A. Distribuidora de Títulos e Valores  Mobiliários, inscrita no CNPJ/ME sob o nº 29.650.082/0001-00, com sede  Cidade e Estado do Rio de Janeiro, na Praia de Botafogo, n.º 501, 5° andar,  devidamente autorizada à prestação dos serviços de administração de carteira  GESTOR  de títulos e valores mobiliários por meio d o Ato Declaratório número 5.968,  expedido em 10 de maio de 2000 (“GESTOR” e, quando ref erido  conjuntamente e indistintamente com o ADMINISTRADOR, os “Prestadores  de Serviços Essenciais”).</a:t>
            </a:r>
          </a:p>
          <a:p>
            <a:r>
              <a:t> O FUNDO, seus cotistas, os distribuidores de cotas por conta e ordem, seu  GESTOR, seu ADMINISTRADOR e os demais prestadores de serviço do  FUNDO e/ou da CLASSE obrigam-se a resolver, por meio de arbitragem, de  acordo com o Regulamento de Arbitragem da Câmara de Arbitragem do  Mercado da B3 (“Regulamento CAM B3” e “CAM B3”, respectivamente), toda  e qualquer disputa ou controvérsia que possa surgir entre eles, relacionada ou  oriunda, em especial, da aplicação, validade, eficácia, interpretação, violação  e seus ef eitos, das disposições contidas no Regulamento e seus Anexos, nas  normas editadas pela CVM que lhe sejam aplicáveis e nos instrumentos entre  si f irmados (“Arbitragem”).</a:t>
            </a:r>
          </a:p>
          <a:p>
            <a:r>
              <a:t> (i) A Arbitragem será de direito, com a aplicação das normas da República  Federativa do Brasil, terá sede no Município de São Paulo, será  Foro Aplicável conduzida em língua portuguesa e de f orma confidencial. O tribunal  arbitral será constituído por 3 (três) árbitros, sendo um deles  presidente, escolhidos nos termos do Regulamento CAM B3.</a:t>
            </a:r>
          </a:p>
          <a:p>
            <a:r>
              <a:t> (ii) As despesas processuais iniciais deverão ser rateadas entre as partes,  arcando cada polo processual com metade dos valores necessários,  sem prejuízo à possibilidade de adiantamento pelas partes  interessadas, resolvendo-se as indef inições nos termos do  Regulamento CAM B3. A sentença arbitral deverá determinar a  responsabilidade final pelas despesas de acordo com a sucumbência  de cada parte, as quais deverão incluir as taxas administrativas,  honorários de árbitros e de peritos e despesas com diligências  processuais e f ornecimento de garantias que sejam determinadas  expressamente pelo tribunal arbitral. É vedada a imposição de  honorários de sucumbência, bem como a determinação de indenização</a:t>
            </a:r>
          </a:p>
          <a:p>
            <a:r>
              <a:t>CNPJ 54871427000194 · Administrador, gestor e custodiante · Regulamento · ID 670691 · 2024-04-28 · versão 1 · p. 7 · https://fnet.bmfbovespa.com.br/fnet/publico/visualizarDocumento?id=670691</a:t>
            </a:r>
          </a:p>
          <a:p>
            <a:r>
              <a:t>CNPJ 54871427000194 · Administrador, gestor e custodiante · Excerto da fonte:</a:t>
            </a:r>
          </a:p>
          <a:p>
            <a:r>
              <a:t>Banco BTG Pactual S.A., instituição f inanceira, com sede na Cidade e  Estado do Rio de Janeiro, na Praia de Botafogo, nº 501, 5º andar (parte),  Custódia Torre Corcovado, Botafogo, CEP 22250-040, inscrita no CNPJ sob o nº</a:t>
            </a:r>
          </a:p>
          <a:p>
            <a:r>
              <a:t> 30.306.294/0001-45 e credenciado como custodiante, de acordo com o  Ato Declaratório nº 7.204, de 25 de abril de 2003 (“CUSTODIANTE”).</a:t>
            </a:r>
          </a:p>
          <a:p>
            <a:r>
              <a:t> Tesouraria, Controladoria e ADMINISTRADOR.</a:t>
            </a:r>
          </a:p>
          <a:p>
            <a:r>
              <a:t> Escrituração  Subclasses Única.</a:t>
            </a:r>
          </a:p>
          <a:p>
            <a:r>
              <a:t>CNPJ 54871427000194 · Administrador, gestor e custodiante · Regulamento · ID 670691 · 2024-04-28 · versão 1 · p. 38 · https://fnet.bmfbovespa.com.br/fnet/publico/visualizarDocumento?id=670691</a:t>
            </a:r>
          </a:p>
          <a:p>
            <a:r>
              <a:t>CNPJ 54871427000194 · Administrador, gestor e custodiante · Excerto da fonte:</a:t>
            </a:r>
          </a:p>
          <a:p>
            <a:r>
              <a:t>“ADMINISTRADOR”: BTG Pactual Serviços Financeiros S.A. Distribuidora de Títulos e Valores Mobiliários, instituição com sede no Município do Rio de Janeiro, Estado do Rio de Janeiro, à Praia de Botafogo, nº 501, 5º andar – parte, inscrita no CNPJ sob o nº 59.281.253/0001-23, autorizada a funcionar pelo BACEN e autorizada pela CVM para a atividade de administração de carteiras de valores mobiliários, de acordo com o Ato Declaratório nº 8.695, de 20 de março de 2006, ou seu sucessor a qualquer título ;</a:t>
            </a:r>
          </a:p>
          <a:p>
            <a:r>
              <a:t>CNPJ 54871427000194 · Administrador, gestor e custodiante · Condição: Documentos atuais selecionados no inventário por categoria/escopo; a data documental isolada não comprova vigência jurídica.</a:t>
            </a:r>
          </a:p>
          <a:p>
            <a:r>
              <a:t>CNPJ 54871427000194 · Administrador, gestor e custodiante · Versão e prevalência: Documentos atuais selecionados no inventário por categoria/escopo; a data documental isolada não comprova vigência jurídica.</a:t>
            </a:r>
          </a:p>
          <a:p>
            <a:r>
              <a:t>CNPJ 54871427000194 · Administrador, gestor e custodiante · Resumo do histórico: {"count": 2, "dates": ["2024-04-19"], "document_count": 2, "sources": [{"document_id": "670687", "title": "Instrumento Particular de Constituição/Encerramento do Fundo", "reference_date": "2024-04-19", "version": "1", "page": 1, "url": "https://fnet.bmfbovespa.com.br/fnet/publico/visualizarDocumento?id=670687", "sha256": "999f2a47d39f7022b0fcee3d16fd1db33948537b897e92c4c9e14b436bf5eb96"}, {"document_id": "670689", "title": "Regulamento", "reference_date": "2024-04-19", "version": "1", "page": 1, "clause": "1.1", "url": "https://fnet.bmfbovespa.com.br/fnet/publico/visualizarDocumento?id=670689", "sha256": "891bc9bc5d87bbc02ec139077a84d2702eb81ea02035fb71d24f5b8366b94a0b"}], "reference": {"path": "history/54871427000194.json", "criterion_id": "providers", "total_count": 2, "preview_count": 2, "full_text_deferred": true, "sha256": "35d7cd99be50c7287c9fb675cf4f2e736002315295a225a9efa79c8d9186d874"}}</a:t>
            </a:r>
          </a:p>
          <a:p>
            <a:r>
              <a:t>CNPJ 60010416000112 · Administrador, gestor e custodiante · Regulamento · ID 1051393 · 2025-10-09 · versão 1 · p. 8 · https://fnet.bmfbovespa.com.br/fnet/publico/visualizarDocumento?id=1051393</a:t>
            </a:r>
          </a:p>
          <a:p>
            <a:r>
              <a:t>CNPJ 60010416000112 · Administrador, gestor e custodiante · Excerto da fonte:</a:t>
            </a:r>
          </a:p>
          <a:p>
            <a:r>
              <a:t>Tipo de Condomínio Fechado.</a:t>
            </a:r>
          </a:p>
          <a:p>
            <a:r>
              <a:t> Prazo de Duração Indeterminado.</a:t>
            </a:r>
          </a:p>
          <a:p>
            <a:r>
              <a:t> Classe de Investimento  Não.</a:t>
            </a:r>
          </a:p>
          <a:p>
            <a:r>
              <a:t> em Cotas  Tipo “Financeiro”.</a:t>
            </a:r>
          </a:p>
          <a:p>
            <a:r>
              <a:t> Classificação ANBIMA  Foco de atuação “Créditos Consignados”.</a:t>
            </a:r>
          </a:p>
          <a:p>
            <a:r>
              <a:t> O objetivo da classe é proporcionar aos seus Cotistas a valorização de suas Cotas  por meio da aplicação de seu Patrimônio Líquido na aquisição de: (i) Direitos  Creditórios que atendam aos Critérios de Elegibilidade, estabelecidos no Capítulo  4 abaixo, e (ii) Ativos Financeiros de Liquidez, observados todos os limites de  Objetivo composição e diversificação da Carteira da Classe, estabelecidos neste  Regulamento e na regulamentação aplicável.</a:t>
            </a:r>
          </a:p>
          <a:p>
            <a:r>
              <a:t> O objetivo da Classe não representa, sob qualquer hipótese, promessa, garantia  ou sugestão do Fundo ou de seus Prestadores de Serviços Essenciais quanto à  segurança, rentabilidade e liquidez dos títulos integrantes de sua carteira.</a:t>
            </a:r>
          </a:p>
          <a:p>
            <a:r>
              <a:t> Destinado exclusivamente a um único cotista ou grupo de cotistas vinculados por  Público-Alvo  interesse único e indissociável, classificados como Investidores Prof issionais.</a:t>
            </a:r>
          </a:p>
          <a:p>
            <a:r>
              <a:t> Banco BTG Pactual S.A., instituição financeira, com sede no município e Estado  do Rio de Janeiro, na Praia de Botafogo, nº 501, Torre Corcovado, 5º andar (parte),  Custódia e Tesouraria Botafogo, CEP 22.250-040, inscrita no CNPJ sob o nº 30.306.294/0001-45 e  credenciado como custodiante, de acordo com o Ato Declaratório nº 7.204, de 25  de abril de 2003 (“Custodiante”).</a:t>
            </a:r>
          </a:p>
          <a:p>
            <a:r>
              <a:t> Tesouraria,  Controladoria e Administrador.</a:t>
            </a:r>
          </a:p>
          <a:p>
            <a:r>
              <a:t> Escrituração  Subclasses Sênior e Subordinada, nos termos do Capítulo 5 e respectivos Apêndices.</a:t>
            </a:r>
          </a:p>
          <a:p>
            <a:r>
              <a:t> O valor de cada emissão de Cotas, volume e valor unitário da Cota, bem como o  Emissão e Regime de regime de distribuição, seguirão o disposto no instrumento que aprova a emissão  Distribuição de Cotas de Cotas, que disporá acerca da eventual existência de direito de preferência dos  Cotistas.</a:t>
            </a:r>
          </a:p>
          <a:p>
            <a:r>
              <a:t> Capital Autorizado Conf orme previsto nos Apêndices.</a:t>
            </a:r>
          </a:p>
          <a:p>
            <a:r>
              <a:t> As Cotas poderão ser admitidas à negociação em bolsa de valores ou entidade de  Negociação  balcão organizado, conf orme previsto nos Apêndices.</a:t>
            </a:r>
          </a:p>
          <a:p>
            <a:r>
              <a:t> Cálculo do Valor da Cota Conf orme Capítulo 6 deste Anexo e respectivos Apêndices.</a:t>
            </a:r>
          </a:p>
          <a:p>
            <a:r>
              <a:t> A distribuição de quaisquer ganhos e rendimentos da Classe aos Cotistas será  Distribuição de  f eita exclusivamente mediante a amortização e/ou o resgate de Cotas, observado  Proventos  o disposto no Regulamento, neste Anexo e respectivos Apêndices.</a:t>
            </a:r>
          </a:p>
          <a:p>
            <a:r>
              <a:t> Utilização de Ativos Não é permitida a integralização de Cotas, no todo ou em parte, com Direitos BTG Pactual SAC: 0800 772 28 27 - Ouvidoria: 0800 722 00 48 - btgpactual.com 8</a:t>
            </a:r>
          </a:p>
          <a:p>
            <a:r>
              <a:t>CNPJ 60010416000112 · Administrador, gestor e custodiante · Regulamento · ID 1051393 · 2025-10-09 · versão 1 · p. 1 · https://fnet.bmfbovespa.com.br/fnet/publico/visualizarDocumento?id=1051393</a:t>
            </a:r>
          </a:p>
          <a:p>
            <a:r>
              <a:t>CNPJ 60010416000112 · Administrador, gestor e custodiante · Excerto da fonte:</a:t>
            </a:r>
          </a:p>
          <a:p>
            <a:r>
              <a:t>BTG Pactual Asset Management S.A. Distribuidora de Títulos e Valores  Mobiliários, sociedade anônima, com sede no município do Rio de Janeiro,  Estado do Rio de Janeiro, na Praia de Botafogo, nº 501, Torre Corcovado, 5º andar</a:t>
            </a:r>
          </a:p>
          <a:p>
            <a:r>
              <a:t> (parte), CEP 22.250-040, inscrita no CNPJ sob o nº 29.650.082/0001-00,  GESTOR  devidamente credenciada junto à CVM para operar como administradora de  carteira de valores mobiliários nos termos do Ato Declaratório CVM nº 5.968, de  10 de maio de 2000 (“Gestor” e, quando referido conjuntamente e indistintamente  com o Administrador, os “Prestadores de Serviços Essenciais”).</a:t>
            </a:r>
          </a:p>
          <a:p>
            <a:r>
              <a:t>CNPJ 60010416000112 · Administrador, gestor e custodiante · Regulamento · ID 1051393 · 2025-10-09 · versão 1 · p. 45 · https://fnet.bmfbovespa.com.br/fnet/publico/visualizarDocumento?id=1051393</a:t>
            </a:r>
          </a:p>
          <a:p>
            <a:r>
              <a:t>CNPJ 60010416000112 · Administrador, gestor e custodiante · Excerto da fonte:</a:t>
            </a:r>
          </a:p>
          <a:p>
            <a:r>
              <a:t>“Gestor”: a BTG Pactual Asset Management S.A. Distribuidora de Títulos e Valores Mobiliários, sociedade anônima, com sede no município do Rio de Janeiro, Estado do Rio de Janeiro, na Praia de Botafogo, nº 501, Torre Corcovado, 5º andar (parte), CEP 22.250-040, inscrita no CNPJ sob o nº 29.650.082/0001-00, devidamente credenciada junto à CVM para operar como administrador de carteira de valores mobiliários nos termos do Ato Declaratório CVM nº 5.968, de 10 de maio de 2000;</a:t>
            </a:r>
          </a:p>
          <a:p>
            <a:r>
              <a:t>CNPJ 60010416000112 · Administrador, gestor e custodiante · Condição: Documentos atuais selecionados no inventário por categoria/escopo; a data documental isolada não comprova vigência jurídica.</a:t>
            </a:r>
          </a:p>
          <a:p>
            <a:r>
              <a:t>CNPJ 60010416000112 · Administrador, gestor e custodiante · Versão e prevalência: Documentos atuais selecionados no inventário por categoria/escopo; a data documental isolada não comprova vigência jurídica.</a:t>
            </a:r>
          </a:p>
          <a:p>
            <a:r>
              <a:t>CNPJ 60010416000112 · Administrador, gestor e custodiante · Resumo do histórico: {"count": 1, "dates": ["2025-05-12"], "document_count": 1, "sources": [{"document_id": "1004656", "title": "AGE", "reference_date": "2025-05-12", "version": "1", "page": 4, "url": "https://fnet.bmfbovespa.com.br/fnet/publico/visualizarDocumento?id=1004656", "sha256": "f6c9c009f6170e2b29f074b98522accec73f0c40efbf11f9ec2c8d3f1402616b"}], "reference": {"path": "history/60010416000112.json", "criterion_id": "providers", "total_count": 1, "preview_count": 1, "full_text_deferred": true, "sha256": "8e2bd813f4c51cf01f6bfaad164bafe69d2bbb192f753eac92da3a01c2e63046"}}</a:t>
            </a:r>
          </a:p>
          <a:p>
            <a:r>
              <a:t>CNPJ 62696791000193 · Administrador, gestor e custodiante · Regulamento · ID 1143317 · 2026-03-20 · versão 1 · p. 1 · https://fnet.bmfbovespa.com.br/fnet/publico/visualizarDocumento?id=1143317</a:t>
            </a:r>
          </a:p>
          <a:p>
            <a:r>
              <a:t>CNPJ 62696791000193 · Administrador, gestor e custodiante · Excerto da fonte:</a:t>
            </a:r>
          </a:p>
          <a:p>
            <a:r>
              <a:t>BTG Pactual Asset Management S.A. Distribuidora de Títulos e Valores  Mobiliários, com sede no município e Estado do Rio de Janeiro, na Praia de  Botafogo, nº 501, Torre Corcovado, 5º andar (parte), Botafogo, inscrito no  CNPJ sob o nº 29.650.082/0001-00, autorizado à prestação dos serviços de  Gestor  administração de carteira de títulos e valores mobiliários de acordo com o Ato  Declaratório nº 5.968, de 10 de maio de 2000 (“Gestor” e, quando ref erido  conjuntamente com o Administrador, os “Prestadores de Serviços  Essenciais”).</a:t>
            </a:r>
          </a:p>
          <a:p>
            <a:r>
              <a:t>CNPJ 62696791000193 · Administrador, gestor e custodiante · Regulamento · ID 1143317 · 2026-03-20 · versão 1 · p. 1 · https://fnet.bmfbovespa.com.br/fnet/publico/visualizarDocumento?id=1143317</a:t>
            </a:r>
          </a:p>
          <a:p>
            <a:r>
              <a:t>CNPJ 62696791000193 · Administrador, gestor e custodiante · Excerto da fonte:</a:t>
            </a:r>
          </a:p>
          <a:p>
            <a:r>
              <a:t>BTG Pactual Serviços Financeiros S.A. Distribuidora de Títulos e Valores  Mobiliários, sociedade anônima, com sede no município e Estado do Rio de  Janeiro, na Praia de Botafogo, nº 501, 5º andar (parte), Torre Corcovado,  Administrador Botafogo, CEP 22250-040, inscrita no CNPJ sob o nº 59.281.253/0001-23 e  credenciada como Administradora de carteira, de acordo com o Ato Declaratório  CVM nº 8.695, de 20 de março de 2006 (“Administrador”), responsável pela  administração f iduciária.</a:t>
            </a:r>
          </a:p>
          <a:p>
            <a:r>
              <a:t>CNPJ 62696791000193 · Administrador, gestor e custodiante · Regulamento · ID 1143317 · 2026-03-20 · versão 1 · p. 7 · https://fnet.bmfbovespa.com.br/fnet/publico/visualizarDocumento?id=1143317</a:t>
            </a:r>
          </a:p>
          <a:p>
            <a:r>
              <a:t>CNPJ 62696791000193 · Administrador, gestor e custodiante · Excerto da fonte:</a:t>
            </a:r>
          </a:p>
          <a:p>
            <a:r>
              <a:t>Banco BTG Pactual S.A., instituição financeira, com sede no município e  Estado do Rio de Janeiro, na Praia de Botafogo, nº 501, 5º andar (parte),  Custódia e Tesouraria Torre Corcovado, Botafogo, CEP 22250-040, inscrita no CNPJ sob o nº</a:t>
            </a:r>
          </a:p>
          <a:p>
            <a:r>
              <a:t> 30.306.294/0001-45 e credenciada como custodiante, de acordo com o  Ato Declaratório nº 7.204, de 25 de abril de 2003 (“Custodiante”).</a:t>
            </a:r>
          </a:p>
          <a:p>
            <a:r>
              <a:t>CNPJ 62696791000193 · Administrador, gestor e custodiante · Condição: Documentos atuais selecionados no inventário por categoria/escopo; a data documental isolada não comprova vigência jurídica.</a:t>
            </a:r>
          </a:p>
          <a:p>
            <a:r>
              <a:t>CNPJ 62696791000193 · Administrador, gestor e custodiante · Versão e prevalência: Documentos atuais selecionados no inventário por categoria/escopo; a data documental isolada não comprova vigência jurídica.</a:t>
            </a:r>
          </a:p>
          <a:p>
            <a:r>
              <a:t>CNPJ 55563624000109 · Administrador, gestor e custodiante · Regulamento · ID 1192614 · 2026-04-30 · versão 1 · p. 1 · https://fnet.bmfbovespa.com.br/fnet/publico/visualizarDocumento?id=1192614</a:t>
            </a:r>
          </a:p>
          <a:p>
            <a:r>
              <a:t>CNPJ 55563624000109 · Administrador, gestor e custodiante · Excerto da fonte:</a:t>
            </a:r>
          </a:p>
          <a:p>
            <a:r>
              <a:t>Polígono Capital Ltda., sociedade de responsabilidade limitada, com sede no  município e estado de São Paulo, na Avenida Brigadeiro Faria Lima, n° 2601, 12º andar,  Jardim Paulistano, CEP 01452-000, inscrita no CNPJ sob nº 43.241.789/0001-85 e  GESTOR autorizada à prestação do serviço de administração de carteiras de valores mobiliários  pela CVM, de acordo com o Ato Declaratório CVM nº 19.368, expedido em 7 de  dezembro de 2021 (“GESTOR” e, quando referido conjuntamente e indistintamente  com o ADMINISTRADOR, os “Prestadores de Serviços Essenciais”).</a:t>
            </a:r>
          </a:p>
          <a:p>
            <a:r>
              <a:t>CNPJ 55563624000109 · Administrador, gestor e custodiante · Regulamento · ID 1192614 · 2026-04-30 · versão 1 · p. 1 · https://fnet.bmfbovespa.com.br/fnet/publico/visualizarDocumento?id=1192614</a:t>
            </a:r>
          </a:p>
          <a:p>
            <a:r>
              <a:t>CNPJ 55563624000109 · Administrador, gestor e custodiante · Excerto da fonte:</a:t>
            </a:r>
          </a:p>
          <a:p>
            <a:r>
              <a:t>BTG Pactual Serviços Financeiros S.A. Distribuidora de Títulos e Valores Mobiliários,  sociedade anônima, com sede no município e estado do Rio de Janeiro, na Praia de  Botafogo, nº 501, 5º andar (parte), Torre Corcovado, Botafogo, CEP 22250-040, inscrita  ADMINISTRADOR no Cadastro Nacional da Pessoa Jurídica (“CNPJ”) sob o nº 59.281.253/0001-23 e  credenciada como administradora de carteira, de acordo com o Ato Declaratório CVM  nº 8.695, de 20 de março de 2006 (“ADMINISTRADOR”).</a:t>
            </a:r>
          </a:p>
          <a:p>
            <a:r>
              <a:t>CNPJ 55563624000109 · Administrador, gestor e custodiante · Regulamento · ID 1192614 · 2026-04-30 · versão 1 · p. 41 · https://fnet.bmfbovespa.com.br/fnet/publico/visualizarDocumento?id=1192614</a:t>
            </a:r>
          </a:p>
          <a:p>
            <a:r>
              <a:t>CNPJ 55563624000109 · Administrador, gestor e custodiante · Excerto da fonte:</a:t>
            </a:r>
          </a:p>
          <a:p>
            <a:r>
              <a:t>“ADMINISTRADOR”: BTG Pactual Serviços Financeiros S.A. Distribuidora de Títulos e Valores Mobiliários, instituição  com sede no Município do Rio de Janeiro, Estado do Rio de Janeiro, à Praia de Botafogo, nº 501, 5º andar – parte, inscrita  no CNPJ sob o nº 59.281.253/0001-23, autorizada a funcionar pelo BACEN e autorizada pela CVM para a atividade de  administração de carteiras de valores mobiliários, de acordo com o Ato Declaratório nº 8.695, de 20 de março de 2006,  ou seu sucessor a qualquer título;</a:t>
            </a:r>
          </a:p>
          <a:p>
            <a:r>
              <a:t>CNPJ 55563624000109 · Administrador, gestor e custodiante · Condição: Documentos atuais selecionados no inventário por categoria/escopo; a data documental isolada não comprova vigência jurídica.</a:t>
            </a:r>
          </a:p>
          <a:p>
            <a:r>
              <a:t>CNPJ 55563624000109 · Administrador, gestor e custodiante · Versão e prevalência: Documentos atuais selecionados no inventário por categoria/escopo; a data documental isolada não comprova vigência jurídica.</a:t>
            </a:r>
          </a:p>
          <a:p>
            <a:r>
              <a:t>CNPJ 55563624000109 · Administrador, gestor e custodiante · Resumo do histórico: {"count": 6, "dates": ["2024-12-30", "2025-01-31", "2026-01-31"], "document_count": 3, "sources": [{"document_id": "1178840", "title": "Demonstrações Financeiras", "reference_date": "2026-01-31", "version": "1", "page": 3, "url": "https://fnet.bmfbovespa.com.br/fnet/publico/visualizarDocumento?id=1178840", "sha256": "c458e98664c5c907ddb5a05a94b120bed4e05295b2bfc420f5ba69af0a229abe"}, {"document_id": "891861", "title": "Demonstrações Financeiras", "reference_date": "2025-01-31", "version": "1", "page": 11, "url": "https://fnet.bmfbovespa.com.br/fnet/publico/visualizarDocumento?id=891861", "sha256": "e9cb9e6ddbe505fe068cfcac33605165a98313489de0d3ce6d4d238263c3f3e7"}, {"document_id": "811323", "title": "Anúncio de Encerramento", "reference_date": "2024-12-30", "version": "1", "page": 1, "url": "https://fnet.bmfbovespa.com.br/fnet/publico/visualizarDocumento?id=811323", "sha256": "ebc6bc661be5189acffb3c3e352de2aea0a8ca8431011d1237e1ae19da4f9c79"}], "reference": {"path": "history/55563624000109.json", "criterion_id": "providers", "total_count": 6, "preview_count": 3, "full_text_deferred": true, "sha256": "7835d573fb58a3c19adf5b8ecc2aee2bdbb9a88f7a0c0209b5f262b64c7522e3"}}</a:t>
            </a:r>
          </a:p>
          <a:p>
            <a:r>
              <a:t>CNPJ 62552447000120 · Administrador, gestor e custodiante · Regulamento · ID 1200623 · 2026-05-21 · versão 1 · p. 1 · https://fnet.bmfbovespa.com.br/fnet/publico/visualizarDocumento?id=1200623</a:t>
            </a:r>
          </a:p>
          <a:p>
            <a:r>
              <a:t>CNPJ 62552447000120 · Administrador, gestor e custodiante · Excerto da fonte:</a:t>
            </a:r>
          </a:p>
          <a:p>
            <a:r>
              <a:t>BTG Pactual Asset Management S.A. Distribuidora de Títulos e Valores  Mobiliários, sociedade anônima, com sede no município e Estado do Rio de  Janeiro, na Praia de Botafogo, n.º 501, 5º andar (parte), Torre Corcovado, bairro  Botafogo, CEP 22250-040, inscrita no CNPJ sob o n.º 29.650.082/0001-00 e  Gestor  credenciada como administradora de carteira de valores mobiliários , categoria  gestor de recursos, de acordo com o Ato Declaratório CVM n.º 5.968, de 10 de  maio de 2000 (“Gestor” e, quando ref erido conjuntamente e indistintamente  com o Administrador, “Prestadores de Serviços Essenciais”).</a:t>
            </a:r>
          </a:p>
          <a:p>
            <a:r>
              <a:t>CNPJ 62552447000120 · Administrador, gestor e custodiante · Regulamento · ID 1200623 · 2026-05-21 · versão 1 · p. 1 · https://fnet.bmfbovespa.com.br/fnet/publico/visualizarDocumento?id=1200623</a:t>
            </a:r>
          </a:p>
          <a:p>
            <a:r>
              <a:t>CNPJ 62552447000120 · Administrador, gestor e custodiante · Excerto da fonte:</a:t>
            </a:r>
          </a:p>
          <a:p>
            <a:r>
              <a:t>BTG Pactual Serviços Financeiros S.A. Distribuidora de Títulos e Valores  Mobiliários, sociedade anônima, com sede no município e Estado do Rio de  Janeiro, na Praia de Botafogo, n.º 501, 5º andar (parte), Torre Corcovado, bairro  Administrador Botafogo, CEP 22250-040, inscrita no CNPJ sob o n.º 59.281.253/0001-23 e  credenciada como administradora de carteira de valores mobiliários, categoria  administrador fiduciário, de acordo com o Ato Declaratório CVM n.º 8.695, de 20  de março de 2006 (“Administrador”).</a:t>
            </a:r>
          </a:p>
          <a:p>
            <a:r>
              <a:t>CNPJ 62552447000120 · Administrador, gestor e custodiante · Instrumento Particular de Alteração do Regulamento · ID 1200625 · 2026-05-21 · versão 1 · p. 1 · https://fnet.bmfbovespa.com.br/fnet/publico/visualizarDocumento?id=1200625</a:t>
            </a:r>
          </a:p>
          <a:p>
            <a:r>
              <a:t>CNPJ 62552447000120 · Administrador, gestor e custodiante · Excerto da fonte:</a:t>
            </a:r>
          </a:p>
          <a:p>
            <a:r>
              <a:t>A Administradora, BTG PACTUAL SERVIÇOS FINANCEIROS S.A. DTVM, com  sede na Praia de Botafogo, n.º 501, 5º andar (parte), na Cidade e Estado do Rio de  Janeiro, e inscrita no CNPJ sob o número 59.281.253/0001-23, na qualidade de  administradora da V CDT 1 FUNDO DE INVESTIMENTO EM DIREITOS  CREDITÓRIOS RESPONSABILIDADE LIMITADA, inscrita no CNPJ/MF sob o  número 62.552.447/0001-20 ("Classe"), serve-se da presente para:</a:t>
            </a:r>
          </a:p>
          <a:p>
            <a:r>
              <a:t>CNPJ 62552447000120 · Administrador, gestor e custodiante · Condição: Documentos atuais selecionados no inventário por categoria/escopo; a data documental isolada não comprova vigência jurídica.</a:t>
            </a:r>
          </a:p>
          <a:p>
            <a:r>
              <a:t>CNPJ 62552447000120 · Administrador, gestor e custodiante · Versão e prevalência: Documentos atuais selecionados no inventário por categoria/escopo; a data documental isolada não comprova vigência jurídica.</a:t>
            </a:r>
          </a:p>
          <a:p>
            <a:r>
              <a:t>CNPJ 62552447000120 · Administrador, gestor e custodiante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"providers", "total_count": 1, "preview_count": 1, "full_text_deferred": true, "sha256": "d95db8c0613d67ee84118c734588665265ea6b02f86a0318d6a844cbe1d0f82f"}}</a:t>
            </a:r>
          </a:p>
          <a:p>
            <a:r>
              <a:t>CNPJ 63953620000165 · Administrador, gestor e custodiante · Anexo ao Regulamento · ID 1222863 · 2026-06-02 · versão 1 · p. 2 · https://fnet.bmfbovespa.com.br/fnet/publico/visualizarDocumento?id=1222863</a:t>
            </a:r>
          </a:p>
          <a:p>
            <a:r>
              <a:t>CNPJ 63953620000165 · Administrador, gestor e custodiante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Administrador, gestor e custodiante · Condição: Documentos atuais selecionados no inventário por categoria/escopo; a data documental isolada não comprova vigência jurídica.</a:t>
            </a:r>
          </a:p>
          <a:p>
            <a:r>
              <a:t>CNPJ 63953620000165 · Administrador, gestor e custodiante · Motivo: Cláusula primária localizada e citada, mas sua lista/condições extensas não admitem uma síntese literal curta confirmada. O trecho integral permanece nas fontes.</a:t>
            </a:r>
          </a:p>
          <a:p>
            <a:r>
              <a:t>CNPJ 63953620000165 · Administrador, gestor e custodiante · Versão e prevalência: Documentos atuais selecionados no inventário por categoria/escopo; a data documental isolada não comprova vigência jurídica.</a:t>
            </a:r>
          </a:p>
          <a:p>
            <a:r>
              <a:t>CNPJ 63953620000165 · Administrador, gestor e custodiante · Resumo do histórico: {"count": 8, "dates": ["2026-04-28", "2026-05-08", "2026-05-15"], "document_count": 3, "sources": [{"document_id": "1327859", "title": "Demonstrações Financeiras - Fusão, cisão e incorporação", "reference_date": "2026-05-15", "version": "1", "page": 9, "url": "https://fnet.bmfbovespa.com.br/fnet/publico/visualizarDocumento?id=1327859", "sha256": "dca1c68babb97f887528c3e2e47596a9c30f507b067981a35655b2f2da9c8054"}, {"document_id": "1298691", "title": "Demonstrações Financeiras - Fusão, cisão e incorporação", "reference_date": "2026-05-08", "version": "1", "page": 9, "url": "https://fnet.bmfbovespa.com.br/fnet/publico/visualizarDocumento?id=1298691", "sha256": "58c570d9b8d4d265330d3db3ea81c435b8e44a6dab4002aa37790652a1ee9819"}, {"document_id": "1282180", "title": "Demonstrações Financeiras - Fusão, cisão e incorporação", "reference_date": "2026-04-28", "version": "1", "page": 9, "url": "https://fnet.bmfbovespa.com.br/fnet/publico/visualizarDocumento?id=1282180", "sha256": "afaaa0e6809be4385e5bdb6c911aac582032c5bdbac3d7750234bf9eaf00438a"}], "reference": {"path": "history/63953620000165.json", "criterion_id": "providers", "total_count": 8, "preview_count": 3, "full_text_deferred": true, "sha256": "a7b89077f5e21098c2d601c303faabc3ff6b9729f89d8afecdc60fe1404720c1"}}</a:t>
            </a:r>
          </a:p>
          <a:p>
            <a:r>
              <a:t>CNPJ 54871427000194 · Substituição de prestadores · Motivo: Não localizada uma cláusula material para este critério nos textos identificados e processados. A ausência de resultado não comprova inexistência da regra.</a:t>
            </a:r>
          </a:p>
          <a:p>
            <a:r>
              <a:t>CNPJ 60010416000112 · Substituição de prestadores · Regulamento · ID 1051393 · 2025-10-09 · versão 1 · p. 3 · 1.8 · https://fnet.bmfbovespa.com.br/fnet/publico/visualizarDocumento?id=1051393</a:t>
            </a:r>
          </a:p>
          <a:p>
            <a:r>
              <a:t>CNPJ 60010416000112 · Substituição de prestadores · Excerto da fonte:</a:t>
            </a:r>
          </a:p>
          <a:p>
            <a:r>
              <a:t>1.8. Os Cotistas, o Administrador, o Gestor e o Agente de  Retenção/Cobrança estão plenamente conscientes dos termos e efeitos  desta cláusula compromissória e concordam irrevogavelmente que a  arbitragem será a única f orma de resolução de disputas relacionada a  este Regulamento. Sem prejuízo da validade desta cláusula  compromissória, as partes elegem o foro da comarca do Rio de Janeiro,  estado do Rio de Janeiro, com a renúncia expressa a qualquer outra, se  e quando isso f or necessário para fins de: (i) executar as obrigações para  as quais haja disponibilidade imediata de execução judicial; (ii) obter  ordens de execução específica ou liminares de caráter preventivo,  temporário ou permanente, tais como a prestação de caução para um  processo arbitral iniciado ou em andamento entre as partes da  arbitragem e/ou assegurar a existência e ef icácia do processo arbitral;</a:t>
            </a:r>
          </a:p>
          <a:p>
            <a:r>
              <a:t> e/ou (iii) apresentar um pedido de execução específica ou outra ordem,  sendo certo que, uma vez obtida a execução específica ou outra ordem,  o Tribunal Arbitral a ser instituído ou que já esteja instituído, conforme o  caso, assumirá a competência plena e exclusiva para decidir sobre toda  e qualquer questão, quer relacionada ao processo ou ao mérito, que  possa ter dado origem à ordem ou execução específica solicitada, e o  respectivo processo será suspenso até que o Tribunal Arbitral profira  uma decisão parcial ou def initiva sobre a questão. A propositura de  qualquer ação judicial de acordo com este item não resultará em  renúncia à arbitragem ou à competência da Câmara.</a:t>
            </a:r>
          </a:p>
          <a:p>
            <a:r>
              <a:t>CNPJ 60010416000112 · Substituição de prestadores · Condição: Documentos atuais selecionados no inventário por categoria/escopo; a data documental isolada não comprova vigência jurídica.</a:t>
            </a:r>
          </a:p>
          <a:p>
            <a:r>
              <a:t>CNPJ 60010416000112 · Substituição de prestadores · Motivo: Cláusula primária localizada e citada, mas sua lista/condições extensas não admitem uma síntese literal curta confirmada. O trecho integral permanece nas fontes.</a:t>
            </a:r>
          </a:p>
          <a:p>
            <a:r>
              <a:t>CNPJ 60010416000112 · Substituição de prestadores · Versão e prevalência: Documentos atuais selecionados no inventário por categoria/escopo; a data documental isolada não comprova vigência jurídica.</a:t>
            </a:r>
          </a:p>
          <a:p>
            <a:r>
              <a:t>CNPJ 60010416000112 · Substituição de prestadores · Resumo do histórico: {"count": 1, "dates": ["2025-03-20"], "document_count": 1, "sources": [{"document_id": "993786", "title": "Regulamento", "reference_date": "2025-03-20", "version": "1", "page": 3, "clause": "1.8", "url": "https://fnet.bmfbovespa.com.br/fnet/publico/visualizarDocumento?id=993786", "sha256": "fd0fdd369a195510d81f81f505195a0b09e5f43522a990afa7d58c4f872921c8"}], "reference": {"path": "history/60010416000112.json", "criterion_id": "replacement", "total_count": 1, "preview_count": 1, "full_text_deferred": true, "sha256": "8e2bd813f4c51cf01f6bfaad164bafe69d2bbb192f753eac92da3a01c2e63046"}}</a:t>
            </a:r>
          </a:p>
          <a:p>
            <a:r>
              <a:t>CNPJ 62696791000193 · Substituição de prestadores · Regulamento · ID 1143317 · 2026-03-20 · versão 1 · p. 26 · 12.10 · https://fnet.bmfbovespa.com.br/fnet/publico/visualizarDocumento?id=1143317</a:t>
            </a:r>
          </a:p>
          <a:p>
            <a:r>
              <a:t>CNPJ 62696791000193 · Substituição de prestadores · Excerto da fonte:</a:t>
            </a:r>
          </a:p>
          <a:p>
            <a:r>
              <a:t>12.10 Na hipótese de renúncia, o Administrador fica obrigado a permanecer no exercício de suas funções até  a averbação, no cartório de registro de imóveis, nas matrículas referentes aos bens imóveis e direitos  integrantes da carteira de ativos, da ata da assembleia de Cotistas que eleger seu substituto e sucessor  na propriedade f iduciária desses bens e direitos.</a:t>
            </a:r>
          </a:p>
          <a:p>
            <a:r>
              <a:t>CNPJ 62696791000193 · Substituição de prestadores · Regulamento · ID 1143317 · 2026-03-20 · versão 1 · p. 26 · 12.10.1 · https://fnet.bmfbovespa.com.br/fnet/publico/visualizarDocumento?id=1143317</a:t>
            </a:r>
          </a:p>
          <a:p>
            <a:r>
              <a:t>CNPJ 62696791000193 · Substituição de prestadores · Excerto da fonte:</a:t>
            </a:r>
          </a:p>
          <a:p>
            <a:r>
              <a:t>12.10.1 É f acultado aos Cotistas que detenham ao menos 5% (cinco por cento) das Cotas emitidas, a  convocação da assembleia de Cotistas prevista no item 12.4 acima, caso o Administrador não  a convoque, no prazo de 10 (dez) dias contados da renúncia.</a:t>
            </a:r>
          </a:p>
          <a:p>
            <a:r>
              <a:t>CNPJ 62696791000193 · Substituição de prestadores · Condição: Documentos atuais selecionados no inventário por categoria/escopo; a data documental isolada não comprova vigência jurídica.</a:t>
            </a:r>
          </a:p>
          <a:p>
            <a:r>
              <a:t>CNPJ 62696791000193 · Substituição de prestadores · Versão e prevalência: Documentos atuais selecionados no inventário por categoria/escopo; a data documental isolada não comprova vigência jurídica.</a:t>
            </a:r>
          </a:p>
          <a:p>
            <a:r>
              <a:t>CNPJ 55563624000109 · Substituição de prestadores · Motivo: Não localizada uma cláusula material para este critério nos textos identificados e processados. A ausência de resultado não comprova inexistência da regra.</a:t>
            </a:r>
          </a:p>
          <a:p>
            <a:r>
              <a:t>CNPJ 62552447000120 · Substituição de prestadores · Motivo: Não localizada uma cláusula material para este critério nos textos identificados e processados. A ausência de resultado não comprova inexistência da regra.</a:t>
            </a:r>
          </a:p>
          <a:p>
            <a:r>
              <a:t>CNPJ 63953620000165 · Substituição de prestadores · Anexo ao Regulamento · ID 1222863 · 2026-06-02 · versão 1 · p. 15 · https://fnet.bmfbovespa.com.br/fnet/publico/visualizarDocumento?id=1222863</a:t>
            </a:r>
          </a:p>
          <a:p>
            <a:r>
              <a:t>CNPJ 63953620000165 · Substituição de prestadores · Excerto da fonte:</a:t>
            </a:r>
          </a:p>
          <a:p>
            <a:r>
              <a:t>Anexo I ao Regulamento  CLASSE CONSIGNADO PRIVADO DO MT GLOBAL FUNDO DE INVESTIMENTO EM DIREITOS  CREDITÓRIOS RESPONSABILIDADE LIMITADA</a:t>
            </a:r>
          </a:p>
          <a:p>
            <a:r>
              <a:t> (vii) inobservância pelo Administrador, pelo Custodiante e/ou pelo Gestor de seus deveres e obrigações  previstos neste Regulamento, bem como suas atribuições específicas nos outros contratos existentes  referentes ao funcionamento da Classe, verificada pelo Administrador, pelo Custodiante e/ou pelo  Gestor ou por qualquer dos Cotistas, desde que, uma vez notificados para sanar ou justificar o  descumprimento, o Administrador, o Custodiante e/ou o Gestor, conforme o caso, não o sane no prazo  de 5 (cinco) Dias Úteis contados do recebimento da referida notificação;</a:t>
            </a:r>
          </a:p>
          <a:p>
            <a:r>
              <a:t> (viii) aquisição, pela Classe, de Direitos Creditórios que estejam em desacordo com as Condições de Cessão e  os Critérios de Elegibilidade previstos neste Regulamento no momento de sua aquisição;</a:t>
            </a:r>
          </a:p>
          <a:p>
            <a:r>
              <a:t> (ix) alteração na classificação de risco das Cotas, se houver, que, para qualquer dado período após a  classificação de risco inicial das Cotas e/ou após a deliberação da Assembleia Especial de Cotistas a  respeito de um rebaixamento da classificação de risco das Cotas, implique no rebaixamento de dois  níveis na escala de risco pertinente elaborada pela Agência Classificadora de Risco; e/ou</a:t>
            </a:r>
          </a:p>
          <a:p>
            <a:r>
              <a:t> (x) renúncia do Gestor, sem que tenham sido tomadas tempestivamente as providências previstas no  CAPÍTULO 2 da parte geral deste Regulamento;</a:t>
            </a:r>
          </a:p>
          <a:p>
            <a:r>
              <a:t> (xi) no caso de o Contrato de Endosso celebrado com o Endossante, por qualquer razão, (a) seja declarado  inválido, nulo ou ineficaz por ordem judicial e/ou qualquer autoridade governamental; ou (b) tenha sua  validade ou eficácia, total ou parcialmente, contestada pelo Endossante, judicial ou administrativamente</a:t>
            </a:r>
          </a:p>
          <a:p>
            <a:r>
              <a:t> (xii) em caso de não renovação, cancelamento, revogação ou suspensão de concessões, autorizações,  subvenções, autorizações ou licenças, relevantes para o exercício regular dos negócios realizados pelo  Endossante, incluindo o Convênio Consignado Privado, e as autorizações regulatórias concedidas pelo  Banco Central, observado, caso aplicável, os prazos de cura dispostos no Contrato de Endosso;</a:t>
            </a:r>
          </a:p>
          <a:p>
            <a:r>
              <a:t> (xiii) no caso de o Endossante ou o Agente de Retenção/Cobrança e/ou seus acionistas controladores diretos  e/ou indiretos (pessoas físicas ou jurídicas), quotistas, diretores, conselheiros e/ou representantes e  colaboradores do Endossante ou seus acionistas controladores, (a) terem contra si uma decisão judicial  transitada em julgado envolvendo (1) crimes contra a propriedade, (2) crimes de falsificação, (3) crimes  contra o sistema financeiro nacional, (4) crimes contra o mercado de capitais, (5) crimes contra a  seguridade social, (6) crimes contra as relações de consumo e (7) crimes previstos na lei de falências;</a:t>
            </a:r>
          </a:p>
          <a:p>
            <a:r>
              <a:t> e/ou (b) violar as normas anticorrupção aplicáveis, especialmente a Lei nº 9.613, de 3 de março de 1998,  conforme alterada ou substituída de tempos em tempos, e qualquer outra a que estejam sujeitos, quer  contratual ou legalmente, desde que a violação mencionada seja considerada como, especialmente, mas  não limitada a (1) financiamento, crédito, patrocínio ou outra forma de subvenção à prática de atos  ilícitos previstos na legislação anticorrupção, de combate à lavagem de dinheiro, organizações  antissociais e/ou crime organizado; (2) promessa, oferta ou entrega, direta ou indiretamente, de  qualquer objeto de valor a um funcionário público ou terceiros para obter ou manter negócios ou para  obter qualquer vantagem indevida; (3) aceitação ou compromisso de aceitar, de quem quer que seja,  por si ou por outrem, qualquer pagamento, doação, compensação, vantagens financeiras ou não  financeiras ou benefícios de qualquer tipo, direta ou indiretamente relacionados com o objeto da Classe,  que constituam uma prática ilegal, que violem as boas condutas, a ética, a moral e constitua corrupção  nos termos das leis dos países da sede e onde existam filiais das partes envolvidas, das partes  contratantes; e</a:t>
            </a:r>
          </a:p>
          <a:p>
            <a:r>
              <a:t> (xiv) caso o cotista das Cotas Subordinadas deixe de ser titular das Cotas Subordinadas durante todo prazo  de duração da Classe;</a:t>
            </a:r>
          </a:p>
          <a:p>
            <a:r>
              <a:t> (xv) no caso de não serem realizados pagamentos de amortização e/ou resgate de Cotas Seniores, nos  termos, prazos e condições previstos no presente Regulamento e nos respectivos Apêndices e  Suplementos, não sanados em até 2 (dois) Dias Úteis contados do prazo final do respectivo evento;</a:t>
            </a:r>
          </a:p>
          <a:p>
            <a:r>
              <a:t> (xvi) no caso de pagamento de resgate e/ou amortização de Cotas Subordinadas em desacordo com os  termos, prazos e condições previstos no presente Regulamento e no respectivo Apêndice.</a:t>
            </a:r>
          </a:p>
          <a:p>
            <a:r>
              <a:t>CNPJ 63953620000165 · Substituição de prestadores · Condição: Documentos atuais selecionados no inventário por categoria/escopo; a data documental isolada não comprova vigência jurídica.</a:t>
            </a:r>
          </a:p>
          <a:p>
            <a:r>
              <a:t>CNPJ 63953620000165 · Substituição de prestadores · Motivo: Cláusula primária localizada e citada, mas sua lista/condições extensas não admitem uma síntese literal curta confirmada. O trecho integral permanece nas fontes.</a:t>
            </a:r>
          </a:p>
          <a:p>
            <a:r>
              <a:t>CNPJ 63953620000165 · Substituição de prestadores · Versão e prevalência: Documentos atuais selecionados no inventário por categoria/escopo; a data documental isolada não comprova vigência jurídica.</a:t>
            </a:r>
          </a:p>
          <a:p>
            <a:r>
              <a:t>CNPJ 54871427000194 · Rating por subclasse e downgrade · Regulamento · ID 670691 · 28/04/2024 · versão Regulamento — referência 28/04/2024 · p. 15 · Anexo I, 5.12 · https://fnet.bmfbovespa.com.br/fnet/publico/visualizarDocumento?id=670691</a:t>
            </a:r>
          </a:p>
          <a:p>
            <a:r>
              <a:t>CNPJ 54871427000194 · Rating por subclasse e downgrade · Excerto da fonte:</a:t>
            </a:r>
          </a:p>
          <a:p>
            <a:r>
              <a:t>5.12 As Cotas não serão classificadas por Agência Classificadora de Risco em funcionamento no País, uma vez que a Classe não será destinada ao público em geral. CAPÍTULO 6 – ATRIBUIÇÃO DE RESULTADO ÀS COTAS E CÁLCULO DO VALOR UNITÁRIO 6.1 As Cotas terão seu Valor Unitário calculado e divulgado pelo ADMINISTRADOR mensalmente, no último Dia Útil de cada mês, no fechamento dos mercados, a partir do mês seguinte à Data da 1ª Integralização e até a data de resgate das Cotas ou na data de liquidação da Classe Única, conforme o caso. 6.2 A partir da Data da 1ª Integralização de Cotas, o Valor Unitário das Cotas s erá calculado no fechamento do último Dia Útil de cada mês, equivalerá ao resultado da divisão do valor do Patrimônio Líquido apurado para o respectivo dia, pelo número de Cotas em circulação na respectiva data de cálculo . CAPÍTULO 7 – AMORTIZAÇÃO E RESGATE DAS COTAS 7.1 A distribuição de quaisquer ganhos e rendimentos d a Classe aos Cotistas será f eita exclusivamente mediante a Amortização e/ou o resgate de Cotas, observado o disposto neste Capítulo. 7.2 As amortizações de Cotas serão realizadas a qualquer tempo, a critério do GESTOR, observada a disponibilidade de recursos da Classe Única e a</a:t>
            </a:r>
          </a:p>
          <a:p>
            <a:r>
              <a:t>CNPJ 54871427000194 · Rating por subclasse e downgrade · Versão e prevalência: Leitura específica das cláusulas indicadas; condições e conflitos preservados. Seleção documental atual não comprova vigência jurídica por data isolada.</a:t>
            </a:r>
          </a:p>
          <a:p>
            <a:r>
              <a:t>CNPJ 54871427000194 · Rating por subclasse e downgrade · Resumo do histórico: {"count": 5, "dates": ["2024-12-31", "2025-01-01", "2025-12-31"], "document_count": 3, "sources": [{"document_id": "1151805", "title": "Demonstrações Financeiras", "reference_date": "2025-12-31", "version": "1", "page": 25, "url": "https://fnet.bmfbovespa.com.br/fnet/publico/visualizarDocumento?id=1151805", "sha256": "f1cea70b152968bf96ef9221b27225953cb20aeef487b2798db3c25e11b528d4"}, {"document_id": "869529", "title": "Demonstrações Financeiras", "reference_date": "2025-01-01", "version": "1", "page": 25, "url": "https://fnet.bmfbovespa.com.br/fnet/publico/visualizarDocumento?id=869529", "sha256": "9a93a9369ac8efdbc54ff8fcee3ccac3abf88edab4807b9323d3852450771b2a"}, {"document_id": "870070", "title": "Demonstrações Financeiras", "reference_date": "2024-12-31", "version": "1", "page": 25, "url": "https://fnet.bmfbovespa.com.br/fnet/publico/visualizarDocumento?id=870070", "sha256": "9a93a9369ac8efdbc54ff8fcee3ccac3abf88edab4807b9323d3852450771b2a"}], "reference": {"path": "history/54871427000194.json", "criterion_id": "rating", "total_count": 5, "preview_count": 3, "full_text_deferred": true, "sha256": "35d7cd99be50c7287c9fb675cf4f2e736002315295a225a9efa79c8d9186d874"}}</a:t>
            </a:r>
          </a:p>
          <a:p>
            <a:r>
              <a:t>CNPJ 60010416000112 · Rating por subclasse e downgrade · Demonstrações Financeiras - Fusão, cisão e incorporação · ID 1298690 · 2026-05-08 · versão 1 · p. 35 · https://fnet.bmfbovespa.com.br/fnet/publico/visualizarDocumento?id=1298690</a:t>
            </a:r>
          </a:p>
          <a:p>
            <a:r>
              <a:t>CNPJ 60010416000112 · Rating por subclasse e downgrade · Excerto da fonte:</a:t>
            </a:r>
          </a:p>
          <a:p>
            <a:r>
              <a:t>As Cotas Seniores poderão ser objeto de classificação de risco (rating) por Agência  Classificadora de Risco em funcionamento no país.</a:t>
            </a:r>
          </a:p>
          <a:p>
            <a:r>
              <a:t>CNPJ 60010416000112 · Rating por subclasse e downgrade · Condição: Documentos atuais selecionados no inventário por categoria/escopo; a data documental isolada não comprova vigência jurídica.</a:t>
            </a:r>
          </a:p>
          <a:p>
            <a:r>
              <a:t>CNPJ 60010416000112 · Rating por subclasse e downgrade · Versão e prevalência: Documentos atuais selecionados no inventário por categoria/escopo; a data documental isolada não comprova vigência jurídica.</a:t>
            </a:r>
          </a:p>
          <a:p>
            <a:r>
              <a:t>CNPJ 60010416000112 · Rating por subclasse e downgrade · Resumo do histórico: {"count": 5, "dates": ["2025-11-30", "2026-03-18", "2026-04-16"], "document_count": 3, "sources": [{"document_id": "1282181", "title": "Demonstrações Financeiras - Fusão, cisão e incorporação", "reference_date": "2026-04-16", "version": "1", "page": 38, "url": "https://fnet.bmfbovespa.com.br/fnet/publico/visualizarDocumento?id=1282181", "sha256": "b1c6566e43a00bcd00c8a7f30c77b7f86e351bd8e355bbea113f46d1dafda703"}, {"document_id": "1224477", "title": "Demonstrações Financeiras - Fusão, cisão e incorporação", "reference_date": "2026-03-18", "version": "1", "page": 37, "url": "https://fnet.bmfbovespa.com.br/fnet/publico/visualizarDocumento?id=1224477", "sha256": "0751bf0a75bc3b44c2748f5000226665c6ec6698a90c4dc6170b4e6c187759ae"}, {"document_id": "1126154", "title": "Demonstrações Financeiras", "reference_date": "2025-11-30", "version": "1", "page": 38, "url": "https://fnet.bmfbovespa.com.br/fnet/publico/visualizarDocumento?id=1126154", "sha256": "a01e7ccf88c548f12c95cba8526d7efbef6b585c112cd4668eca781c292090b0"}], "reference": {"path": "history/60010416000112.json", "criterion_id": "rating", "total_count": 5, "preview_count": 3, "full_text_deferred": true, "sha256": "8e2bd813f4c51cf01f6bfaad164bafe69d2bbb192f753eac92da3a01c2e63046"}}</a:t>
            </a:r>
          </a:p>
          <a:p>
            <a:r>
              <a:t>CNPJ 62696791000193 · Rating por subclasse e downgrade · Regulamento · ID 1143317 · 2026-03-20 · versão 1 · p. 3 · 2.1.2 · https://fnet.bmfbovespa.com.br/fnet/publico/visualizarDocumento?id=1143317</a:t>
            </a:r>
          </a:p>
          <a:p>
            <a:r>
              <a:t>CNPJ 62696791000193 · Rating por subclasse e downgrade · Excerto da fonte:</a:t>
            </a:r>
          </a:p>
          <a:p>
            <a:r>
              <a:t>2.1.2 Não obstante as atribuições previstas neste Regulamento e na regulamentação aplicável, cabe  ao Gestor praticar os atos necessários à gestão da carteira de ativos do Fundo, o que inclui,  mas não se limita, à contratação, em nome do Fundo ou da classe de cot as, dos seguintes  serviços: (a) intermediação de operações para carteira de ativos; (b) distribuição de cotas; (c)  consultoria de investimentos ou consultoria especializada; (d) classificação de risco por agência  de classificação de risco de crédito; (e) f ormador de mercado de classe f echada; (f ) cogestão  da carteira de ativos; (g) empresa especializada para administrar as locações ou arrendamentos  de imóveis rurais e a exploração do direito de superf ície, assim como para monitorar e</a:t>
            </a:r>
          </a:p>
          <a:p>
            <a:r>
              <a:t>CNPJ 62696791000193 · Rating por subclasse e downgrade · Regulamento · ID 1143317 · 2026-03-20 · versão 1 · p. 36 · 1.2 · https://fnet.bmfbovespa.com.br/fnet/publico/visualizarDocumento?id=1143317</a:t>
            </a:r>
          </a:p>
          <a:p>
            <a:r>
              <a:t>CNPJ 62696791000193 · Rating por subclasse e downgrade · Excerto da fonte:</a:t>
            </a:r>
          </a:p>
          <a:p>
            <a:r>
              <a:t>1.2. As Cotas Subordinadas Juniores serão subscritas e integralizadas por um único Cotista e/ou por Cotistas  vinculados por interesse único e indissociável, de forma que serão objeto de colocação privada, nos termos  do Compromisso de Investimento a ser f irmado pelo Cotista, dispensadas da classificação de risco e não  terão parâmetro de remuneração def inido.</a:t>
            </a:r>
          </a:p>
          <a:p>
            <a:r>
              <a:t>2. Emissão, Subscrição e Integralização das Cotas</a:t>
            </a:r>
          </a:p>
          <a:p>
            <a:r>
              <a:t>CNPJ 62696791000193 · Rating por subclasse e downgrade · Condição: Documentos atuais selecionados no inventário por categoria/escopo; a data documental isolada não comprova vigência jurídica.</a:t>
            </a:r>
          </a:p>
          <a:p>
            <a:r>
              <a:t>CNPJ 62696791000193 · Rating por subclasse e downgrade · Versão e prevalência: Documentos atuais selecionados no inventário por categoria/escopo; a data documental isolada não comprova vigência jurídica.</a:t>
            </a:r>
          </a:p>
          <a:p>
            <a:r>
              <a:t>CNPJ 55563624000109 · Rating por subclasse e downgrade · Regulamento · ID 1192614 · 30/04/2026 · versão Regulamento30/04/2026 · p. 44 · GlossárioTermo de Adesão · https://fnet.bmfbovespa.com.br/fnet/publico/visualizarDocumento?id=1192614</a:t>
            </a:r>
          </a:p>
          <a:p>
            <a:r>
              <a:t>CNPJ 55563624000109 · Rating por subclasse e downgrade · Excerto da fonte:</a:t>
            </a:r>
          </a:p>
          <a:p>
            <a:r>
              <a:t>Termo de Adesão”: documento elaborado nos termos do art. 29 da Resolução CVM 175, por meio do qual o Cotista adere a este Regulamento e que deve ser firmado quando de seu ingresso no FUNDO, declarando, inclusive, sem se limitar a, ter pleno conhecimento dos riscos envolvidos na operação, inclusive da possibilidade de perda total do capital investido, e da ausência de classificação de risco das Cotas subscritas; “Valor Unitário”: o valor individual das Cotas, equivalente a R$ 1.000,00 (um mil), na primeira Data de Emissão, calculado todo Dia Útil para efeito da definição de seu valor de integralização e</a:t>
            </a:r>
          </a:p>
          <a:p>
            <a:r>
              <a:t>CNPJ 55563624000109 · Rating por subclasse e downgrade · Versão e prevalência: Leitura específica das cláusulas indicadas; condições e conflitos preservados. Seleção documental atual não comprova vigência jurídica por data isolada.</a:t>
            </a:r>
          </a:p>
          <a:p>
            <a:r>
              <a:t>CNPJ 55563624000109 · Rating por subclasse e downgrade · Resumo do histórico: {"count": 2, "dates": ["2025-01-31", "2026-01-31"], "document_count": 2, "sources": [{"document_id": "1178840", "title": "Demonstrações Financeiras", "reference_date": "2026-01-31", "version": "1", "page": 22, "url": "https://fnet.bmfbovespa.com.br/fnet/publico/visualizarDocumento?id=1178840", "sha256": "c458e98664c5c907ddb5a05a94b120bed4e05295b2bfc420f5ba69af0a229abe"}, {"document_id": "891861", "title": "Demonstrações Financeiras", "reference_date": "2025-01-31", "version": "1", "page": 23, "url": "https://fnet.bmfbovespa.com.br/fnet/publico/visualizarDocumento?id=891861", "sha256": "e9cb9e6ddbe505fe068cfcac33605165a98313489de0d3ce6d4d238263c3f3e7"}], "reference": {"path": "history/55563624000109.json", "criterion_id": "rating", "total_count": 2, "preview_count": 2, "full_text_deferred": true, "sha256": "7835d573fb58a3c19adf5b8ecc2aee2bdbb9a88f7a0c0209b5f262b64c7522e3"}}</a:t>
            </a:r>
          </a:p>
          <a:p>
            <a:r>
              <a:t>CNPJ 62552447000120 · Rating por subclasse e downgrade · Regulamento · ID 1200623 · 21/05/2026 · versão Consolidado21/05/2026 aprovado pelo ato1200625 · p. 19 · AnexoI6.11 · https://fnet.bmfbovespa.com.br/fnet/publico/visualizarDocumento?id=1200623</a:t>
            </a:r>
          </a:p>
          <a:p>
            <a:r>
              <a:t>CNPJ 62552447000120 · Rating por subclasse e downgrade · Excerto da fonte:</a:t>
            </a:r>
          </a:p>
          <a:p>
            <a:r>
              <a:t>6.11 As Cotas não serão objeto de classif icação de risco . CAPÍTULO 7 – AMORTIZAÇÃO DAS COTAS 7.1 A distribuição de quaisquer ganhos e rendimentos d a Classe aos Cotistas será f eita exclusivamente mediante a Amortização, observado o disposto neste Capítulo. 7.2 As Cotas poderão ser amortizadas através de uma Amortização programada, se houver, conforme prevista nos Apêndices, caso aplicável (“Amortização Programada”), e por meio amortização extraordinária das Cotas, a ser realizada por (a) por decisão do Gestor, para: (i) reenquadramento da Carteira ao mínimo de Direitos Creditórios que deve ser detido pel</a:t>
            </a:r>
          </a:p>
          <a:p>
            <a:r>
              <a:t>CNPJ 62552447000120 · Rating por subclasse e downgrade · Versão e prevalência: Leitura específica das cláusulas indicadas; condições e conflitos preservados. Seleção documental atual não comprova vigência jurídica por data isolada.</a:t>
            </a:r>
          </a:p>
          <a:p>
            <a:r>
              <a:t>CNPJ 63953620000165 · Rating por subclasse e downgrade · Anexo ao Regulamento · ID 1222863 · 02/06/2026 · versão AnexoConsignadoPrivado02/06/2026 · p. 11 · 6.14 · https://fnet.bmfbovespa.com.br/fnet/publico/visualizarDocumento?id=1222863</a:t>
            </a:r>
          </a:p>
          <a:p>
            <a:r>
              <a:t>CNPJ 63953620000165 · Rating por subclasse e downgrade · Excerto da fonte:</a:t>
            </a:r>
          </a:p>
          <a:p>
            <a:r>
              <a:t>6.14 As Cotas poderão ser objeto de classificação de risco pela contratada pelo Gestor, desde que em comum acordo entre Gestor e Cotistas Subordinados em Assembleia Especial de Cotistas (“Agência Classificadora de Risco”). CAPÍTULO 7 – AMORTIZAÇÃO DAS COTAS 7.1 A distribuição de quaisquer ganhos e rendimentos da Classe aos Cotistas será feita exclusivamente mediante a Amortização de Cotas, observado o disposto neste Capítulo e nos Apêndices. 7.2 As Cotas poderão ser amortizadas através de uma Amortização por Regime de Caixa, se houver conforme prevista nos Apêndices; e por meio amortização extraordinária das Cotas, a ser realiz</a:t>
            </a:r>
          </a:p>
          <a:p>
            <a:r>
              <a:t>CNPJ 63953620000165 · Rating por subclasse e downgrade · Versão e prevalência: Leitura específica das cláusulas indicadas; condições e conflitos preservados. Seleção documental atual não comprova vigência jurídica por data isolada.</a:t>
            </a:r>
          </a:p>
          <a:p>
            <a:r>
              <a:t>CNPJ 63953620000165 · Rating por subclasse e downgrade · Resumo do histórico: {"count": 8, "dates": ["2026-04-28", "2026-05-08", "2026-05-15"], "document_count": 3, "sources": [{"document_id": "1327859", "title": "Demonstrações Financeiras - Fusão, cisão e incorporação", "reference_date": "2026-05-15", "version": "1", "page": 29, "url": "https://fnet.bmfbovespa.com.br/fnet/publico/visualizarDocumento?id=1327859", "sha256": "dca1c68babb97f887528c3e2e47596a9c30f507b067981a35655b2f2da9c8054"}, {"document_id": "1298691", "title": "Demonstrações Financeiras - Fusão, cisão e incorporação", "reference_date": "2026-05-08", "version": "1", "page": 30, "url": "https://fnet.bmfbovespa.com.br/fnet/publico/visualizarDocumento?id=1298691", "sha256": "58c570d9b8d4d265330d3db3ea81c435b8e44a6dab4002aa37790652a1ee9819"}, {"document_id": "1282180", "title": "Demonstrações Financeiras - Fusão, cisão e incorporação", "reference_date": "2026-04-28", "version": "1", "page": 30, "url": "https://fnet.bmfbovespa.com.br/fnet/publico/visualizarDocumento?id=1282180", "sha256": "afaaa0e6809be4385e5bdb6c911aac582032c5bdbac3d7750234bf9eaf00438a"}], "reference": {"path": "history/63953620000165.json", "criterion_id": "rating",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Hedge e prestadores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Finalidade e limites de derivativos · Regulamento · ID 670691 · 28/04/2024 · versão Regulamento — referência 28/04/2024 · p. 13 · Anexo I, 4.15–4.16 · https://fnet.bmfbovespa.com.br/fnet/publico/visualizarDocumento?id=670691</a:t>
            </a:r>
          </a:p>
          <a:p>
            <a:r>
              <a:t>CNPJ 54871427000194 · Finalidade e limites de derivativos · Excerto da fonte:</a:t>
            </a:r>
          </a:p>
          <a:p>
            <a:r>
              <a:t>4.15 A Classe poderá utilizar instrumentos derivativos, desde que com o objetivo de proteção patrimonial, ou, desde que não resulte em exposição a risco de capital, conforme definida no inciso XXIV Art. 3º da parte geral da Resolução CVM 175, troca de indexador a que os ativos estão indexados . 4.16 A Classe não realizará operações de day trade, assim consideradas aquelas iniciadas e encerradas no mesmo dia, independentemente de a Classe possuir estoque ou posição anterior do mesmo Ativo Financeiro. 4.17 É vedada qualquer forma de antecipação de recursos aos Endossantes para posterior reembolso pela Classe, seja pelo ADMINISTRADOR, GESTOR, CUSTODIANTE, consultora ou Originadores. 4.18 Exceto na medida em que eventualmente previsto nos Contratos de Cessão e/ou em instrumentos eventualmente celebrados entre a Classe e os Endossantes, os Endossantes não serão responsáveis em caso de eventual inadimplemento dos Direitos Creditórios por eles cedidos, sendo responsáveis, não obstante, apenas pela existência, certeza, conteúdo, exatidão, veracidade, legitimidade, validade e correta f ormalização dos Direitos Creditórios que cederem à Classe, nos termos da</a:t>
            </a:r>
          </a:p>
          <a:p>
            <a:r>
              <a:t>CNPJ 54871427000194 · Finalidade e limites de derivativos · Versão e prevalência: Leitura específica das cláusulas indicadas; condições e conflitos preservados. Seleção documental atual não comprova vigência jurídica por data isolada.</a:t>
            </a:r>
          </a:p>
          <a:p>
            <a:r>
              <a:t>CNPJ 54871427000194 · Finalidade e limites de derivativos · Resumo do histórico: {"count": 2, "dates": ["2024-04-19", "2024-04-28"], "document_count": 2, "sources": [{"document_id": "670691", "title": "Regulamento", "reference_date": "2024-04-28", "version": "1", "page": "13", "url": "https://fnet.bmfbovespa.com.br/fnet/publico/visualizarDocumento?id=670691", "sha256": "bf16dd7f1a62d5cdbf2e2d54fef81783783f7310fbc99c3a8f00459bdf9d037b"}, {"document_id": "670689", "title": "Regulamento", "reference_date": "2024-04-19", "version": "1", "page": 13, "clause": "4.15", "url": "https://fnet.bmfbovespa.com.br/fnet/publico/visualizarDocumento?id=670689", "sha256": "891bc9bc5d87bbc02ec139077a84d2702eb81ea02035fb71d24f5b8366b94a0b"}], "reference": {"path": "history/54871427000194.json", "criterion_id": "hedge", "total_count": 2, "preview_count": 2, "full_text_deferred": true, "sha256": "35d7cd99be50c7287c9fb675cf4f2e736002315295a225a9efa79c8d9186d874"}}</a:t>
            </a:r>
          </a:p>
          <a:p>
            <a:r>
              <a:t>CNPJ 60010416000112 · Finalidade e limites de derivativos · Regulamento · ID 1051393 · 2025-10-09 · versão 1 · p. 12 · 4.9 · https://fnet.bmfbovespa.com.br/fnet/publico/visualizarDocumento?id=1051393</a:t>
            </a:r>
          </a:p>
          <a:p>
            <a:r>
              <a:t>CNPJ 60010416000112 · Finalidade e limites de derivativos · Excerto da fonte:</a:t>
            </a:r>
          </a:p>
          <a:p>
            <a:r>
              <a:t>4.9 Sem prejuízo de limites mais restritivos definidos neste Regulamento, o Gestor deverá observar, ainda, os  seguintes limites de concentração para a composição da Carteira:</a:t>
            </a:r>
          </a:p>
          <a:p>
            <a:r>
              <a:t> (i ) Até 100% (cem por cento) da parcela do Patrimônio Líquido investida em Ativos  Financeiros de Liquidez poderá ser alocada em Ativos Financeiros de Liquidez de  emissão ou que envolvam retenção de risco por parte do Administrador, Gestor, e/ou  suas partes relacionadas; e</a:t>
            </a:r>
          </a:p>
          <a:p>
            <a:r>
              <a:t> (ii) Até 100% (cem por cento) da parcela do Patrimônio Líquido investida em operações  com derivativos poderá ser alocada em derivativos nos quais, inexistindo contraparte  central, se tenha como contraparte o Gestor e/ou suas partes relacionadas.</a:t>
            </a:r>
          </a:p>
          <a:p>
            <a:r>
              <a:t>CNPJ 60010416000112 · Finalidade e limites de derivativos · Regulamento · ID 1051393 · 2025-10-09 · versão 1 · p. 13 · 4.15 · https://fnet.bmfbovespa.com.br/fnet/publico/visualizarDocumento?id=1051393</a:t>
            </a:r>
          </a:p>
          <a:p>
            <a:r>
              <a:t>CNPJ 60010416000112 · Finalidade e limites de derivativos · Excerto da fonte:</a:t>
            </a:r>
          </a:p>
          <a:p>
            <a:r>
              <a:t>4.15 A Classe poderá utilizar instrumentos derivativos, observados os limites de concentração previstos neste  Regulamento, desde que com o objetivo de proteção patrimonial, ou, desde que não resulte em exposição  a risco de capital, conforme definida no inciso XXIV do Art. 3º da parte geral da Resolução CVM 175, troca  de indexador a que os ativos estão indexados e o índice de ref erência de cada Subclasse.</a:t>
            </a:r>
          </a:p>
          <a:p>
            <a:r>
              <a:t>CNPJ 60010416000112 · Finalidade e limites de derivativos · Regulamento · ID 1051393 · 2025-10-09 · versão 1 · p. 16 · 7.11 · https://fnet.bmfbovespa.com.br/fnet/publico/visualizarDocumento?id=1051393</a:t>
            </a:r>
          </a:p>
          <a:p>
            <a:r>
              <a:t>CNPJ 60010416000112 · Finalidade e limites de derivativos · Excerto da fonte:</a:t>
            </a:r>
          </a:p>
          <a:p>
            <a:r>
              <a:t>7.11 Sem prejuízo do disposto do disposto nos itens 7.1 a 7.10 acima, a partir da Data da 1ª Integralização de  Cotas até a liquidação integral das Obrigações da Classe, sempre preservando a manutenção da boa  ordem legal, administrativa e operacional da Classe, o Gestor obriga-se a utilizar os recursos disponíveis  na Conta de Movimentação da Classe e/ou mantidos em Ativos Financeiros de Liquidez, em cada Dia Útil,  de acordo com a seguinte ordem de prioridade de alocação, na forma dos itens e tabela abaixo, de modo  que cada um dos itens listado apenas será contemplado após o direcionamento do montante total  necessário para a satisfação dos itens anteriores, ressalvado, enquanto em curso um Evento de Avaliação  e/ou um Evento de Liquidação, o disposto no item 11.4.1 abaixo</a:t>
            </a:r>
          </a:p>
          <a:p>
            <a:r>
              <a:t> (i) entradas de recursos provenientes da integralização de Cotas e dos Direitos Creditórios e  Ativos Financeiros de Liquidez que compõem a carteira da Classe, durante o Período de  Investimento, na seguinte ordem:</a:t>
            </a:r>
          </a:p>
          <a:p>
            <a:r>
              <a:t> a. pagamento dos Encargos;</a:t>
            </a:r>
          </a:p>
          <a:p>
            <a:r>
              <a:t> b. pagamento de despesas relativas aos instrumentos derivativos, conf orme aplicável;</a:t>
            </a:r>
          </a:p>
          <a:p>
            <a:r>
              <a:t> c. aquisição de Direitos Creditórios, sempre que ofertado, em moeda corrente nacional, em  conf ormidade com a Política de Investimento descrita neste Regulamento, sem prejuízo  do disposto no item 4.12 acima; e  d. aquisição de Ativos Financeiros de Liquidez, observando-se a Política de Investimentos.</a:t>
            </a:r>
          </a:p>
          <a:p>
            <a:r>
              <a:t> (ii) entradas de recursos provenientes dos Direitos Creditórios e Ativos Financeiros de Liquidez  que compõem a carteira da Classe, após o término do Período de Investimento, na seguinte  ordem, observadas as seguintes condições:</a:t>
            </a:r>
          </a:p>
          <a:p>
            <a:r>
              <a:t> a. pagamento dos Encargos;</a:t>
            </a:r>
          </a:p>
          <a:p>
            <a:r>
              <a:t> b. pagamento de despesas relativas aos instrumentos derivativos, conf orme aplicável;</a:t>
            </a:r>
          </a:p>
          <a:p>
            <a:r>
              <a:t> c. pagamento da amortização do principal e dos rendimentos acumulados relacionados às  Cotas Seniores, de modo que, considerando, pro f orma, todas as amortizações  pretendidas, o percentual empregado para amortização das Cotas Seniores seja  equivalente à relação entre o Patrimônio Líquido Sênior dividido pelo Patrimônio Líquido  da Classe, com a devida observância dos termos e condições deste Regulamento, do  Apêndice e do Suplemento das Cotas Seniores;</a:t>
            </a:r>
          </a:p>
          <a:p>
            <a:r>
              <a:t> d. pagamento da amortização do principal e dos rendimentos acumulados relacionados às  Cotas Subordinadas, de modo que, considerando, pro f orma, todas as amortizações  pretendidas, o percentual empregado para amortização das Cotas Subordinadas seja  equivalente à relação entre o Patrimônio Líquido Subordinado dividido pelo Patrimônio  Líquido da Classe, com a devida observância dos termos e condições deste  Regulamento, do Apêndice e do Suplemento das Cotas Seniores e desde que  respeitados o Índice de Subordinação;</a:t>
            </a:r>
          </a:p>
          <a:p>
            <a:r>
              <a:t> e. aquisição de Ativos Financeiros, observado o limite de alocação previsto no item 4.7  deste Anexo I.</a:t>
            </a:r>
          </a:p>
          <a:p>
            <a:r>
              <a:t>CNPJ 60010416000112 · Finalidade e limites de derivativos · Condição: Documentos atuais selecionados no inventário por categoria/escopo; a data documental isolada não comprova vigência jurídica.</a:t>
            </a:r>
          </a:p>
          <a:p>
            <a:r>
              <a:t>CNPJ 60010416000112 · Finalidade e limites de derivativos · Versão e prevalência: Documentos atuais selecionados no inventário por categoria/escopo; a data documental isolada não comprova vigência jurídica.</a:t>
            </a:r>
          </a:p>
          <a:p>
            <a:r>
              <a:t>CNPJ 60010416000112 · Finalidade e limites de derivativos · Resumo do histórico: {"count": 2, "dates": ["2025-03-20", "2025-10-09"], "document_count": 2, "sources": [{"document_id": "1051393", "title": "Regulamento", "reference_date": "2025-10-09", "version": "1", "page": "13", "url": "https://fnet.bmfbovespa.com.br/fnet/publico/visualizarDocumento?id=1051393", "sha256": "8469d613078ffd5a6c1d217885d8a397a16342c0b937ae4aa24b106505f233ae"}, {"document_id": "993786", "title": "Regulamento", "reference_date": "2025-03-20", "version": "1", "page": 12, "clause": "4.9", "url": "https://fnet.bmfbovespa.com.br/fnet/publico/visualizarDocumento?id=993786", "sha256": "fd0fdd369a195510d81f81f505195a0b09e5f43522a990afa7d58c4f872921c8"}], "reference": {"path": "history/60010416000112.json", "criterion_id": "hedge", "total_count": 2, "preview_count": 2, "full_text_deferred": true, "sha256": "8e2bd813f4c51cf01f6bfaad164bafe69d2bbb192f753eac92da3a01c2e63046"}}</a:t>
            </a:r>
          </a:p>
          <a:p>
            <a:r>
              <a:t>CNPJ 62696791000193 · Finalidade e limites de derivativos · Regulamento · ID 1143317 · 20/03/2026 · versão Regulamento — referência 20/03/2026 · p. 15 · Anexo I, 4.28 e 4.30(i) · https://fnet.bmfbovespa.com.br/fnet/publico/visualizarDocumento?id=1143317</a:t>
            </a:r>
          </a:p>
          <a:p>
            <a:r>
              <a:t>CNPJ 62696791000193 · Finalidade e limites de derivativos · Excerto da fonte:</a:t>
            </a:r>
          </a:p>
          <a:p>
            <a:r>
              <a:t>4.28 A Classe pode aplicar recursos em instrumentos financeiros derivativos, exclusivamente para fins de proteção patrimonial, cuja exposição seja sempre, no máximo, o valor do Patrimônio Líquido. 4.29 A Classe pode emprestar ativos f inanceiros e valores mobiliários, desde que tais operações de empréstimo sejam cursadas exclusivamente por meio de serviço autorizado pelo Banco Central do Brasil ou pela CVM. 4.30 É vedado à Classe: (i) aplicar no exterior recursos captados no País; (ii) salvo aprovação em assembleia de Cotistas, a realização de operações quando caracterizada situação de conf lito de interesses entre: (a) a Classe, o Administrador ou o Gestor ou a Consultoria Especializada; (b) a Classe e os Cotistas que detenham participação correspondente a, no mínimo, 10% (dez por cento) do patrimônio da Classe; e (c) a Classe e o representante dos Cotistas; (iii) a aplicação de recursos em sociedades nas quais participem o Administrador, o Gestor, os consultores, os membros de comitês ou conselhos e os Cotistas titulares de Cotas representativas de 5% (cinco por cento) do patri</a:t>
            </a:r>
          </a:p>
          <a:p>
            <a:r>
              <a:t>CNPJ 62696791000193 · Finalidade e limites de derivativos · Regulamento · ID 1143317 · 20/03/2026 · versão Regulamento — referência 20/03/2026 · p. 27 · Anexo I, 12.11(x) · https://fnet.bmfbovespa.com.br/fnet/publico/visualizarDocumento?id=1143317</a:t>
            </a:r>
          </a:p>
          <a:p>
            <a:r>
              <a:t>CNPJ 62696791000193 · Finalidade e limites de derivativos · Excerto da fonte:</a:t>
            </a:r>
          </a:p>
          <a:p>
            <a:r>
              <a:t>(x) realizar operações com derivativos, exceto quando tais operações f orem realizadas exclusivamente para f ins de proteção patrimonial e desde que a exposição seja sempre, no máximo, o valor do Patrimônio Líquido. 12.11.1 A vedação prevista no item (v) acima não impede a aquisição de imóveis sobre os quais tenham sido constituídos ônus reais anteriormente ao seu ingresso no patrimônio . 12.12 É vedado ao Gestor o recebimento de qualquer remuneração, benefício ou vantagem, direta ou indiretamente, que potencialmente prejudique sua independência na tomada de decisão. Consultoria Especializada 12.13 O Gestor, conforme disposto no Anexo Normativo VI da Resolução 175, poderá contratar Consultoria Especializada para que preste os seguintes serviços (“Consultoria Especializada”): (i) Analisar, selecionar, avaliar e acompanhar, de acordo com a Política de Investimentos deste Anexo, os ativos integrantes ou que possam vir a integrar a carteira da classe do Fundo; (ii) Participar de negociações e propor negócios à classe, observada a Política de Investimentos constante deste Anexo;</a:t>
            </a:r>
          </a:p>
          <a:p>
            <a:r>
              <a:t>CNPJ 62696791000193 · Finalidade e limites de derivativos · Versão e prevalência: Leitura específica das cláusulas indicadas; condições e conflitos preservados. Seleção documental atual não comprova vigência jurídica por data isolada.</a:t>
            </a:r>
          </a:p>
          <a:p>
            <a:r>
              <a:t>CNPJ 55563624000109 · Finalidade e limites de derivativos · Regulamento · ID 1192614 · 2026-04-30 · versão 1 · p. 14 · 4.21 · https://fnet.bmfbovespa.com.br/fnet/publico/visualizarDocumento?id=1192614</a:t>
            </a:r>
          </a:p>
          <a:p>
            <a:r>
              <a:t>CNPJ 55563624000109 · Finalidade e limites de derivativos · Excerto da fonte:</a:t>
            </a:r>
          </a:p>
          <a:p>
            <a:r>
              <a:t>4.21 A Classe poderá utilizar instrumentos derivativos, desde que com o objetivo de proteção patrimonial, ou, desde  que não resulte em exposição a risco de capital, conforme definida no inciso XXIV do Art. 3º da parte geral da  Resolução CVM 175 ou em troca de indexador a que os ativos estão indexados.</a:t>
            </a:r>
          </a:p>
          <a:p>
            <a:r>
              <a:t>CNPJ 55563624000109 · Finalidade e limites de derivativos · Regulamento · ID 1192614 · 2026-04-30 · versão 1 · p. 39 · https://fnet.bmfbovespa.com.br/fnet/publico/visualizarDocumento?id=1192614</a:t>
            </a:r>
          </a:p>
          <a:p>
            <a:r>
              <a:t>CNPJ 55563624000109 · Finalidade e limites de derivativos · Excerto da fonte:</a:t>
            </a:r>
          </a:p>
          <a:p>
            <a:r>
              <a:t>(xxii) Operações com derivativos. A Classe poderá realizar operações com derivativos  exclusivamente com o objetivo de proteção patrimonial. As operações com derivativos, pela sua  própria natureza, acrescentam riscos à Carteira e poderão afetar negativamente a sua rentabilidade,  até o limite do Patrimônio Líquido.</a:t>
            </a:r>
          </a:p>
          <a:p>
            <a:r>
              <a:t>CNPJ 55563624000109 · Finalidade e limites de derivativos · Condição: Documentos atuais selecionados no inventário por categoria/escopo; a data documental isolada não comprova vigência jurídica.</a:t>
            </a:r>
          </a:p>
          <a:p>
            <a:r>
              <a:t>CNPJ 55563624000109 · Finalidade e limites de derivativos · Versão e prevalência: Documentos atuais selecionados no inventário por categoria/escopo; a data documental isolada não comprova vigência jurídica.</a:t>
            </a:r>
          </a:p>
          <a:p>
            <a:r>
              <a:t>CNPJ 55563624000109 · Finalidade e limites de derivativos · Resumo do histórico: {"count": 3, "dates": ["2025-01-31", "2026-01-31", "2026-04-30"], "document_count": 3, "sources": [{"document_id": "1192614", "title": "Regulamento", "reference_date": "2026-04-30", "version": "1", "page": "14", "url": "https://fnet.bmfbovespa.com.br/fnet/publico/visualizarDocumento?id=1192614", "sha256": "f56e63ace0acde41d2f47fb48f1ac7f3f7df5e2d32de092d7c5e075a52516632"}, {"document_id": "1178840", "title": "Demonstrações Financeiras", "reference_date": "2026-01-31", "version": "1", "page": 25, "url": "https://fnet.bmfbovespa.com.br/fnet/publico/visualizarDocumento?id=1178840", "sha256": "c458e98664c5c907ddb5a05a94b120bed4e05295b2bfc420f5ba69af0a229abe"}, {"document_id": "891861", "title": "Demonstrações Financeiras", "reference_date": "2025-01-31", "version": "1", "page": 26, "url": "https://fnet.bmfbovespa.com.br/fnet/publico/visualizarDocumento?id=891861", "sha256": "e9cb9e6ddbe505fe068cfcac33605165a98313489de0d3ce6d4d238263c3f3e7"}], "reference": {"path": "history/55563624000109.json", "criterion_id": "hedge", "total_count": 3, "preview_count": 3, "full_text_deferred": true, "sha256": "7835d573fb58a3c19adf5b8ecc2aee2bdbb9a88f7a0c0209b5f262b64c7522e3"}}</a:t>
            </a:r>
          </a:p>
          <a:p>
            <a:r>
              <a:t>CNPJ 62552447000120 · Finalidade e limites de derivativos · Regulamento · ID 1200623 · 21/05/2026 · versão Consolidado21/05/2026 aprovado pelo ato1200625 · p. 14 · AnexoI4.10.1 · https://fnet.bmfbovespa.com.br/fnet/publico/visualizarDocumento?id=1200623</a:t>
            </a:r>
          </a:p>
          <a:p>
            <a:r>
              <a:t>CNPJ 62552447000120 · Finalidade e limites de derivativos · Excerto da fonte:</a:t>
            </a:r>
          </a:p>
          <a:p>
            <a:r>
              <a:t>4.10.1 O uso de derivativos está restrito a operações que visem à proteção patrimonial ou, desde que não resulte em exposição a risco de capital, à troca de indexador e/ou do índice de referência. 4.11 Sem prejuízo de limites mais restritivos definidos neste Regulamento, o Gestor deverá observar, ainda, os seguintes limites de concentração para a composição da Carteira: (i) Até 100% (cem por cento) da parcela do Patrimônio Líquido investida em Direitos Creditórios poderão ser alocados em Direitos Creditórios originados ou cedidos pelo Administrador, Gestor e</a:t>
            </a:r>
          </a:p>
          <a:p>
            <a:r>
              <a:t>CNPJ 62552447000120 · Finalidade e limites de derivativos · Motivo: Cláusula primária localizada e citada, mas sua lista/condições extensas não admitem uma síntese literal curta confirmada. O trecho integral permanece nas fontes.</a:t>
            </a:r>
          </a:p>
          <a:p>
            <a:r>
              <a:t>CNPJ 62552447000120 · Finalidade e limites de derivativos · Versão e prevalência: Leitura específica das cláusulas indicadas; condições e conflitos preservados. Seleção documental atual não comprova vigência jurídica por data isolada.</a:t>
            </a:r>
          </a:p>
          <a:p>
            <a:r>
              <a:t>CNPJ 63953620000165 · Finalidade e limites de derivativos · Anexo ao Regulamento · ID 1222863 · 2026-06-02 · versão 1 · p. 7 · https://fnet.bmfbovespa.com.br/fnet/publico/visualizarDocumento?id=1222863</a:t>
            </a:r>
          </a:p>
          <a:p>
            <a:r>
              <a:t>CNPJ 63953620000165 · Finalidade e limites de derivativos · Excerto da fonte:</a:t>
            </a:r>
          </a:p>
          <a:p>
            <a:r>
              <a:t>Anexo I ao Regulamento  CLASSE CONSIGNADO PRIVADO DO MT GLOBAL FUNDO DE INVESTIMENTO EM DIREITOS  CREDITÓRIOS RESPONSABILIDADE LIMITADA</a:t>
            </a:r>
          </a:p>
          <a:p>
            <a:r>
              <a:t> (i)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 (ii) No máximo, 50% (cinquenta por cento) do Patrimônio Líquido investido em Ativos Financeiros  de Liquidez de emissão ou que envolvam retenção de risco por parte do Administrador, Gestor,  e/ou suas partes relacionadas, observado ainda o disposto acima;</a:t>
            </a:r>
          </a:p>
          <a:p>
            <a:r>
              <a:t> (iii) No máximo, 100% (cem por cento) do Patrimônio Líquido investido em operações com  derivativos nos quais, inexistindo contraparte central, se tenha como contraparte o Gestor,  Consultora e/ou suas partes relacionadas, observado ainda o disposto acima;</a:t>
            </a:r>
          </a:p>
          <a:p>
            <a:r>
              <a:t> (iv) A Classe poderá investir até 100% (cem por cento) de seu Patrimônio Líquido em Direitos  Creditórios Não-Padronizados;</a:t>
            </a:r>
          </a:p>
          <a:p>
            <a:r>
              <a:t> (v) É vedada a aquisição de precatórios federais.</a:t>
            </a:r>
          </a:p>
          <a:p>
            <a:r>
              <a:t>CNPJ 63953620000165 · Finalidade e limites de derivativos · Condição: Documentos atuais selecionados no inventário por categoria/escopo; a data documental isolada não comprova vigência jurídica.</a:t>
            </a:r>
          </a:p>
          <a:p>
            <a:r>
              <a:t>CNPJ 63953620000165 · Finalidade e limites de derivativos · Motivo: Cláusula primária localizada e citada, mas sua lista/condições extensas não admitem uma síntese literal curta confirmada. O trecho integral permanece nas fontes.</a:t>
            </a:r>
          </a:p>
          <a:p>
            <a:r>
              <a:t>CNPJ 63953620000165 · Finalidade e limites de derivativos · Versão e prevalência: Documentos atuais selecionados no inventário por categoria/escopo; a data documental isolada não comprova vigência jurídica.</a:t>
            </a:r>
          </a:p>
          <a:p>
            <a:r>
              <a:t>CNPJ 63953620000165 · Finalidade e limites de derivativos · Resumo do histórico: {"count": 8, "dates": ["2026-04-28", "2026-05-08", "2026-05-15"], "document_count": 3, "sources": [{"document_id": "1327859", "title": "Demonstrações Financeiras - Fusão, cisão e incorporação", "reference_date": "2026-05-15", "version": "1", "page": 26, "url": "https://fnet.bmfbovespa.com.br/fnet/publico/visualizarDocumento?id=1327859", "sha256": "dca1c68babb97f887528c3e2e47596a9c30f507b067981a35655b2f2da9c8054"}, {"document_id": "1298691", "title": "Demonstrações Financeiras - Fusão, cisão e incorporação", "reference_date": "2026-05-08", "version": "1", "page": 26, "url": "https://fnet.bmfbovespa.com.br/fnet/publico/visualizarDocumento?id=1298691", "sha256": "58c570d9b8d4d265330d3db3ea81c435b8e44a6dab4002aa37790652a1ee9819"}, {"document_id": "1282180", "title": "Demonstrações Financeiras - Fusão, cisão e incorporação", "reference_date": "2026-04-28", "version": "1", "page": 27, "url": "https://fnet.bmfbovespa.com.br/fnet/publico/visualizarDocumento?id=1282180", "sha256": "afaaa0e6809be4385e5bdb6c911aac582032c5bdbac3d7750234bf9eaf00438a"}], "reference": {"path": "history/63953620000165.json", "criterion_id": "hedge", "total_count": 8, "preview_count": 3, "full_text_deferred": true, "sha256": "a7b89077f5e21098c2d601c303faabc3ff6b9729f89d8afecdc60fe1404720c1"}}</a:t>
            </a:r>
          </a:p>
          <a:p>
            <a:r>
              <a:t>CNPJ 54871427000194 · Prioridade do hedge e reserva de MTM · Motivo: Não localizada uma cláusula material para este critério nos textos identificados e processados. A ausência de resultado não comprova inexistência da regra.</a:t>
            </a:r>
          </a:p>
          <a:p>
            <a:r>
              <a:t>CNPJ 60010416000112 · Prioridade do hedge e reserva de MTM · Motivo: Não localizada uma cláusula material para este critério nos textos identificados e processados. A ausência de resultado não comprova inexistência da regra.</a:t>
            </a:r>
          </a:p>
          <a:p>
            <a:r>
              <a:t>CNPJ 62696791000193 · Prioridade do hedge e reserva de MTM · Motivo: Não localizada uma cláusula material para este critério nos textos identificados e processados. A ausência de resultado não comprova inexistência da regra.</a:t>
            </a:r>
          </a:p>
          <a:p>
            <a:r>
              <a:t>CNPJ 55563624000109 · Prioridade do hedge e reserva de MTM · Motivo: Não localizada uma cláusula material para este critério nos textos identificados e processados. A ausência de resultado não comprova inexistência da regra.</a:t>
            </a:r>
          </a:p>
          <a:p>
            <a:r>
              <a:t>CNPJ 62552447000120 · Prioridade do hedge e reserva de MTM · Motivo: Não localizada uma cláusula material para este critério nos textos identificados e processados. A ausência de resultado não comprova inexistência da regra.</a:t>
            </a:r>
          </a:p>
          <a:p>
            <a:r>
              <a:t>CNPJ 63953620000165 · Prioridade do hedge e reserva de MTM · Motivo: Não localizada uma cláusula material para este critério nos textos identificados e processados. A ausência de resultado não comprova inexistência da regra.</a:t>
            </a:r>
          </a:p>
          <a:p>
            <a:r>
              <a:t>CNPJ 54871427000194 · Administrador, gestor e custodiante · Regulamento · ID 670691 · 2024-04-28 · versão 1 · p. 1 · 1.1 · https://fnet.bmfbovespa.com.br/fnet/publico/visualizarDocumento?id=670691</a:t>
            </a:r>
          </a:p>
          <a:p>
            <a:r>
              <a:t>CNPJ 54871427000194 · Administrador, gestor e custodiante · Excerto da fonte:</a:t>
            </a:r>
          </a:p>
          <a:p>
            <a:r>
              <a:t>1.1 CONSIGNADO DELTA RECEIVABLES I FUNDO DE INVESTIMENTO EM DIREITOS CREDITÓRIOS  (“FUNDO”), regido pela Lei nº 10.406, de 10 de janeiro de 2002, conf orme alterada (“Código Civil”),  pela parte geral e o Anexo Normativo II da Resolução nº 175, de 23 de dezembro de 2022, conforme  alterada, da Comissão de Valores Mobiliários (respectivamente, “CVM” e “Resolução CVM 175”), terá  como principais características:</a:t>
            </a:r>
          </a:p>
          <a:p>
            <a:r>
              <a:t> Classe de Cotas Classe única.</a:t>
            </a:r>
          </a:p>
          <a:p>
            <a:r>
              <a:t> Indeterminado, exceto se de outra f orma vier a ser deliberado pelos cotistas  Prazo de Duração  reunidos em assembleia geral de cotistas.</a:t>
            </a:r>
          </a:p>
          <a:p>
            <a:r>
              <a:t> BTG Pactual Serviços Financeiros S.A. Distribuidora de Títulos e Valores  Mobiliários, instituição f inanceira, com sede na Cidade e Estado do Rio de  Janeiro, na Praia de Botafogo, nº 501, 5º andar (parte), Torre Corcovado,  ADMINISTRADOR  Botafogo, CEP 22250-040, inscrita no CNPJ sob o nº 59.281.253/0001-23 e  credenciada como administradora de carteira, de acordo com o Ato Declaratório  CVM nº 8.695, de 20 de março de 2006 (“ADMINISTRADOR”).</a:t>
            </a:r>
          </a:p>
          <a:p>
            <a:r>
              <a:t> BTG Pactual Asset Management S.A. Distribuidora de Títulos e Valores  Mobiliários, inscrita no CNPJ/ME sob o nº 29.650.082/0001-00, com sede  Cidade e Estado do Rio de Janeiro, na Praia de Botafogo, n.º 501, 5° andar,  devidamente autorizada à prestação dos serviços de administração de carteira  GESTOR  de títulos e valores mobiliários por meio d o Ato Declaratório número 5.968,  expedido em 10 de maio de 2000 (“GESTOR” e, quando ref erido  conjuntamente e indistintamente com o ADMINISTRADOR, os “Prestadores  de Serviços Essenciais”).</a:t>
            </a:r>
          </a:p>
          <a:p>
            <a:r>
              <a:t> O FUNDO, seus cotistas, os distribuidores de cotas por conta e ordem, seu  GESTOR, seu ADMINISTRADOR e os demais prestadores de serviço do  FUNDO e/ou da CLASSE obrigam-se a resolver, por meio de arbitragem, de  acordo com o Regulamento de Arbitragem da Câmara de Arbitragem do  Mercado da B3 (“Regulamento CAM B3” e “CAM B3”, respectivamente), toda  e qualquer disputa ou controvérsia que possa surgir entre eles, relacionada ou  oriunda, em especial, da aplicação, validade, eficácia, interpretação, violação  e seus ef eitos, das disposições contidas no Regulamento e seus Anexos, nas  normas editadas pela CVM que lhe sejam aplicáveis e nos instrumentos entre  si f irmados (“Arbitragem”).</a:t>
            </a:r>
          </a:p>
          <a:p>
            <a:r>
              <a:t> (i) A Arbitragem será de direito, com a aplicação das normas da República  Federativa do Brasil, terá sede no Município de São Paulo, será  Foro Aplicável conduzida em língua portuguesa e de f orma confidencial. O tribunal  arbitral será constituído por 3 (três) árbitros, sendo um deles  presidente, escolhidos nos termos do Regulamento CAM B3.</a:t>
            </a:r>
          </a:p>
          <a:p>
            <a:r>
              <a:t> (ii) As despesas processuais iniciais deverão ser rateadas entre as partes,  arcando cada polo processual com metade dos valores necessários,  sem prejuízo à possibilidade de adiantamento pelas partes  interessadas, resolvendo-se as indef inições nos termos do  Regulamento CAM B3. A sentença arbitral deverá determinar a  responsabilidade final pelas despesas de acordo com a sucumbência  de cada parte, as quais deverão incluir as taxas administrativas,  honorários de árbitros e de peritos e despesas com diligências  processuais e f ornecimento de garantias que sejam determinadas  expressamente pelo tribunal arbitral. É vedada a imposição de  honorários de sucumbência, bem como a determinação de indenização</a:t>
            </a:r>
          </a:p>
          <a:p>
            <a:r>
              <a:t>CNPJ 54871427000194 · Administrador, gestor e custodiante · Regulamento · ID 670691 · 2024-04-28 · versão 1 · p. 7 · https://fnet.bmfbovespa.com.br/fnet/publico/visualizarDocumento?id=670691</a:t>
            </a:r>
          </a:p>
          <a:p>
            <a:r>
              <a:t>CNPJ 54871427000194 · Administrador, gestor e custodiante · Excerto da fonte:</a:t>
            </a:r>
          </a:p>
          <a:p>
            <a:r>
              <a:t>Banco BTG Pactual S.A., instituição f inanceira, com sede na Cidade e  Estado do Rio de Janeiro, na Praia de Botafogo, nº 501, 5º andar (parte),  Custódia Torre Corcovado, Botafogo, CEP 22250-040, inscrita no CNPJ sob o nº</a:t>
            </a:r>
          </a:p>
          <a:p>
            <a:r>
              <a:t> 30.306.294/0001-45 e credenciado como custodiante, de acordo com o  Ato Declaratório nº 7.204, de 25 de abril de 2003 (“CUSTODIANTE”).</a:t>
            </a:r>
          </a:p>
          <a:p>
            <a:r>
              <a:t> Tesouraria, Controladoria e ADMINISTRADOR.</a:t>
            </a:r>
          </a:p>
          <a:p>
            <a:r>
              <a:t> Escrituração  Subclasses Única.</a:t>
            </a:r>
          </a:p>
          <a:p>
            <a:r>
              <a:t>CNPJ 54871427000194 · Administrador, gestor e custodiante · Regulamento · ID 670691 · 2024-04-28 · versão 1 · p. 38 · https://fnet.bmfbovespa.com.br/fnet/publico/visualizarDocumento?id=670691</a:t>
            </a:r>
          </a:p>
          <a:p>
            <a:r>
              <a:t>CNPJ 54871427000194 · Administrador, gestor e custodiante · Excerto da fonte:</a:t>
            </a:r>
          </a:p>
          <a:p>
            <a:r>
              <a:t>“ADMINISTRADOR”: BTG Pactual Serviços Financeiros S.A. Distribuidora de Títulos e Valores Mobiliários, instituição com sede no Município do Rio de Janeiro, Estado do Rio de Janeiro, à Praia de Botafogo, nº 501, 5º andar – parte, inscrita no CNPJ sob o nº 59.281.253/0001-23, autorizada a funcionar pelo BACEN e autorizada pela CVM para a atividade de administração de carteiras de valores mobiliários, de acordo com o Ato Declaratório nº 8.695, de 20 de março de 2006, ou seu sucessor a qualquer título ;</a:t>
            </a:r>
          </a:p>
          <a:p>
            <a:r>
              <a:t>CNPJ 54871427000194 · Administrador, gestor e custodiante · Condição: Documentos atuais selecionados no inventário por categoria/escopo; a data documental isolada não comprova vigência jurídica.</a:t>
            </a:r>
          </a:p>
          <a:p>
            <a:r>
              <a:t>CNPJ 54871427000194 · Administrador, gestor e custodiante · Versão e prevalência: Documentos atuais selecionados no inventário por categoria/escopo; a data documental isolada não comprova vigência jurídica.</a:t>
            </a:r>
          </a:p>
          <a:p>
            <a:r>
              <a:t>CNPJ 54871427000194 · Administrador, gestor e custodiante · Resumo do histórico: {"count": 2, "dates": ["2024-04-19"], "document_count": 2, "sources": [{"document_id": "670687", "title": "Instrumento Particular de Constituição/Encerramento do Fundo", "reference_date": "2024-04-19", "version": "1", "page": 1, "url": "https://fnet.bmfbovespa.com.br/fnet/publico/visualizarDocumento?id=670687", "sha256": "999f2a47d39f7022b0fcee3d16fd1db33948537b897e92c4c9e14b436bf5eb96"}, {"document_id": "670689", "title": "Regulamento", "reference_date": "2024-04-19", "version": "1", "page": 1, "clause": "1.1", "url": "https://fnet.bmfbovespa.com.br/fnet/publico/visualizarDocumento?id=670689", "sha256": "891bc9bc5d87bbc02ec139077a84d2702eb81ea02035fb71d24f5b8366b94a0b"}], "reference": {"path": "history/54871427000194.json", "criterion_id": "providers", "total_count": 2, "preview_count": 2, "full_text_deferred": true, "sha256": "35d7cd99be50c7287c9fb675cf4f2e736002315295a225a9efa79c8d9186d874"}}</a:t>
            </a:r>
          </a:p>
          <a:p>
            <a:r>
              <a:t>CNPJ 60010416000112 · Administrador, gestor e custodiante · Regulamento · ID 1051393 · 2025-10-09 · versão 1 · p. 8 · https://fnet.bmfbovespa.com.br/fnet/publico/visualizarDocumento?id=1051393</a:t>
            </a:r>
          </a:p>
          <a:p>
            <a:r>
              <a:t>CNPJ 60010416000112 · Administrador, gestor e custodiante · Excerto da fonte:</a:t>
            </a:r>
          </a:p>
          <a:p>
            <a:r>
              <a:t>Tipo de Condomínio Fechado.</a:t>
            </a:r>
          </a:p>
          <a:p>
            <a:r>
              <a:t> Prazo de Duração Indeterminado.</a:t>
            </a:r>
          </a:p>
          <a:p>
            <a:r>
              <a:t> Classe de Investimento  Não.</a:t>
            </a:r>
          </a:p>
          <a:p>
            <a:r>
              <a:t> em Cotas  Tipo “Financeiro”.</a:t>
            </a:r>
          </a:p>
          <a:p>
            <a:r>
              <a:t> Classificação ANBIMA  Foco de atuação “Créditos Consignados”.</a:t>
            </a:r>
          </a:p>
          <a:p>
            <a:r>
              <a:t> O objetivo da classe é proporcionar aos seus Cotistas a valorização de suas Cotas  por meio da aplicação de seu Patrimônio Líquido na aquisição de: (i) Direitos  Creditórios que atendam aos Critérios de Elegibilidade, estabelecidos no Capítulo  4 abaixo, e (ii) Ativos Financeiros de Liquidez, observados todos os limites de  Objetivo composição e diversificação da Carteira da Classe, estabelecidos neste  Regulamento e na regulamentação aplicável.</a:t>
            </a:r>
          </a:p>
          <a:p>
            <a:r>
              <a:t> O objetivo da Classe não representa, sob qualquer hipótese, promessa, garantia  ou sugestão do Fundo ou de seus Prestadores de Serviços Essenciais quanto à  segurança, rentabilidade e liquidez dos títulos integrantes de sua carteira.</a:t>
            </a:r>
          </a:p>
          <a:p>
            <a:r>
              <a:t> Destinado exclusivamente a um único cotista ou grupo de cotistas vinculados por  Público-Alvo  interesse único e indissociável, classificados como Investidores Prof issionais.</a:t>
            </a:r>
          </a:p>
          <a:p>
            <a:r>
              <a:t> Banco BTG Pactual S.A., instituição financeira, com sede no município e Estado  do Rio de Janeiro, na Praia de Botafogo, nº 501, Torre Corcovado, 5º andar (parte),  Custódia e Tesouraria Botafogo, CEP 22.250-040, inscrita no CNPJ sob o nº 30.306.294/0001-45 e  credenciado como custodiante, de acordo com o Ato Declaratório nº 7.204, de 25  de abril de 2003 (“Custodiante”).</a:t>
            </a:r>
          </a:p>
          <a:p>
            <a:r>
              <a:t> Tesouraria,  Controladoria e Administrador.</a:t>
            </a:r>
          </a:p>
          <a:p>
            <a:r>
              <a:t> Escrituração  Subclasses Sênior e Subordinada, nos termos do Capítulo 5 e respectivos Apêndices.</a:t>
            </a:r>
          </a:p>
          <a:p>
            <a:r>
              <a:t> O valor de cada emissão de Cotas, volume e valor unitário da Cota, bem como o  Emissão e Regime de regime de distribuição, seguirão o disposto no instrumento que aprova a emissão  Distribuição de Cotas de Cotas, que disporá acerca da eventual existência de direito de preferência dos  Cotistas.</a:t>
            </a:r>
          </a:p>
          <a:p>
            <a:r>
              <a:t> Capital Autorizado Conf orme previsto nos Apêndices.</a:t>
            </a:r>
          </a:p>
          <a:p>
            <a:r>
              <a:t> As Cotas poderão ser admitidas à negociação em bolsa de valores ou entidade de  Negociação  balcão organizado, conf orme previsto nos Apêndices.</a:t>
            </a:r>
          </a:p>
          <a:p>
            <a:r>
              <a:t> Cálculo do Valor da Cota Conf orme Capítulo 6 deste Anexo e respectivos Apêndices.</a:t>
            </a:r>
          </a:p>
          <a:p>
            <a:r>
              <a:t> A distribuição de quaisquer ganhos e rendimentos da Classe aos Cotistas será  Distribuição de  f eita exclusivamente mediante a amortização e/ou o resgate de Cotas, observado  Proventos  o disposto no Regulamento, neste Anexo e respectivos Apêndices.</a:t>
            </a:r>
          </a:p>
          <a:p>
            <a:r>
              <a:t> Utilização de Ativos Não é permitida a integralização de Cotas, no todo ou em parte, com Direitos BTG Pactual SAC: 0800 772 28 27 - Ouvidoria: 0800 722 00 48 - btgpactual.com 8</a:t>
            </a:r>
          </a:p>
          <a:p>
            <a:r>
              <a:t>CNPJ 60010416000112 · Administrador, gestor e custodiante · Regulamento · ID 1051393 · 2025-10-09 · versão 1 · p. 1 · https://fnet.bmfbovespa.com.br/fnet/publico/visualizarDocumento?id=1051393</a:t>
            </a:r>
          </a:p>
          <a:p>
            <a:r>
              <a:t>CNPJ 60010416000112 · Administrador, gestor e custodiante · Excerto da fonte:</a:t>
            </a:r>
          </a:p>
          <a:p>
            <a:r>
              <a:t>BTG Pactual Asset Management S.A. Distribuidora de Títulos e Valores  Mobiliários, sociedade anônima, com sede no município do Rio de Janeiro,  Estado do Rio de Janeiro, na Praia de Botafogo, nº 501, Torre Corcovado, 5º andar</a:t>
            </a:r>
          </a:p>
          <a:p>
            <a:r>
              <a:t> (parte), CEP 22.250-040, inscrita no CNPJ sob o nº 29.650.082/0001-00,  GESTOR  devidamente credenciada junto à CVM para operar como administradora de  carteira de valores mobiliários nos termos do Ato Declaratório CVM nº 5.968, de  10 de maio de 2000 (“Gestor” e, quando referido conjuntamente e indistintamente  com o Administrador, os “Prestadores de Serviços Essenciais”).</a:t>
            </a:r>
          </a:p>
          <a:p>
            <a:r>
              <a:t>CNPJ 60010416000112 · Administrador, gestor e custodiante · Regulamento · ID 1051393 · 2025-10-09 · versão 1 · p. 45 · https://fnet.bmfbovespa.com.br/fnet/publico/visualizarDocumento?id=1051393</a:t>
            </a:r>
          </a:p>
          <a:p>
            <a:r>
              <a:t>CNPJ 60010416000112 · Administrador, gestor e custodiante · Excerto da fonte:</a:t>
            </a:r>
          </a:p>
          <a:p>
            <a:r>
              <a:t>“Gestor”: a BTG Pactual Asset Management S.A. Distribuidora de Títulos e Valores Mobiliários, sociedade anônima, com sede no município do Rio de Janeiro, Estado do Rio de Janeiro, na Praia de Botafogo, nº 501, Torre Corcovado, 5º andar (parte), CEP 22.250-040, inscrita no CNPJ sob o nº 29.650.082/0001-00, devidamente credenciada junto à CVM para operar como administrador de carteira de valores mobiliários nos termos do Ato Declaratório CVM nº 5.968, de 10 de maio de 2000;</a:t>
            </a:r>
          </a:p>
          <a:p>
            <a:r>
              <a:t>CNPJ 60010416000112 · Administrador, gestor e custodiante · Condição: Documentos atuais selecionados no inventário por categoria/escopo; a data documental isolada não comprova vigência jurídica.</a:t>
            </a:r>
          </a:p>
          <a:p>
            <a:r>
              <a:t>CNPJ 60010416000112 · Administrador, gestor e custodiante · Versão e prevalência: Documentos atuais selecionados no inventário por categoria/escopo; a data documental isolada não comprova vigência jurídica.</a:t>
            </a:r>
          </a:p>
          <a:p>
            <a:r>
              <a:t>CNPJ 60010416000112 · Administrador, gestor e custodiante · Resumo do histórico: {"count": 1, "dates": ["2025-05-12"], "document_count": 1, "sources": [{"document_id": "1004656", "title": "AGE", "reference_date": "2025-05-12", "version": "1", "page": 4, "url": "https://fnet.bmfbovespa.com.br/fnet/publico/visualizarDocumento?id=1004656", "sha256": "f6c9c009f6170e2b29f074b98522accec73f0c40efbf11f9ec2c8d3f1402616b"}], "reference": {"path": "history/60010416000112.json", "criterion_id": "providers", "total_count": 1, "preview_count": 1, "full_text_deferred": true, "sha256": "8e2bd813f4c51cf01f6bfaad164bafe69d2bbb192f753eac92da3a01c2e63046"}}</a:t>
            </a:r>
          </a:p>
          <a:p>
            <a:r>
              <a:t>CNPJ 62696791000193 · Administrador, gestor e custodiante · Regulamento · ID 1143317 · 2026-03-20 · versão 1 · p. 1 · https://fnet.bmfbovespa.com.br/fnet/publico/visualizarDocumento?id=1143317</a:t>
            </a:r>
          </a:p>
          <a:p>
            <a:r>
              <a:t>CNPJ 62696791000193 · Administrador, gestor e custodiante · Excerto da fonte:</a:t>
            </a:r>
          </a:p>
          <a:p>
            <a:r>
              <a:t>BTG Pactual Asset Management S.A. Distribuidora de Títulos e Valores  Mobiliários, com sede no município e Estado do Rio de Janeiro, na Praia de  Botafogo, nº 501, Torre Corcovado, 5º andar (parte), Botafogo, inscrito no  CNPJ sob o nº 29.650.082/0001-00, autorizado à prestação dos serviços de  Gestor  administração de carteira de títulos e valores mobiliários de acordo com o Ato  Declaratório nº 5.968, de 10 de maio de 2000 (“Gestor” e, quando ref erido  conjuntamente com o Administrador, os “Prestadores de Serviços  Essenciais”).</a:t>
            </a:r>
          </a:p>
          <a:p>
            <a:r>
              <a:t>CNPJ 62696791000193 · Administrador, gestor e custodiante · Regulamento · ID 1143317 · 2026-03-20 · versão 1 · p. 1 · https://fnet.bmfbovespa.com.br/fnet/publico/visualizarDocumento?id=1143317</a:t>
            </a:r>
          </a:p>
          <a:p>
            <a:r>
              <a:t>CNPJ 62696791000193 · Administrador, gestor e custodiante · Excerto da fonte:</a:t>
            </a:r>
          </a:p>
          <a:p>
            <a:r>
              <a:t>BTG Pactual Serviços Financeiros S.A. Distribuidora de Títulos e Valores  Mobiliários, sociedade anônima, com sede no município e Estado do Rio de  Janeiro, na Praia de Botafogo, nº 501, 5º andar (parte), Torre Corcovado,  Administrador Botafogo, CEP 22250-040, inscrita no CNPJ sob o nº 59.281.253/0001-23 e  credenciada como Administradora de carteira, de acordo com o Ato Declaratório  CVM nº 8.695, de 20 de março de 2006 (“Administrador”), responsável pela  administração f iduciária.</a:t>
            </a:r>
          </a:p>
          <a:p>
            <a:r>
              <a:t>CNPJ 62696791000193 · Administrador, gestor e custodiante · Regulamento · ID 1143317 · 2026-03-20 · versão 1 · p. 7 · https://fnet.bmfbovespa.com.br/fnet/publico/visualizarDocumento?id=1143317</a:t>
            </a:r>
          </a:p>
          <a:p>
            <a:r>
              <a:t>CNPJ 62696791000193 · Administrador, gestor e custodiante · Excerto da fonte:</a:t>
            </a:r>
          </a:p>
          <a:p>
            <a:r>
              <a:t>Banco BTG Pactual S.A., instituição financeira, com sede no município e  Estado do Rio de Janeiro, na Praia de Botafogo, nº 501, 5º andar (parte),  Custódia e Tesouraria Torre Corcovado, Botafogo, CEP 22250-040, inscrita no CNPJ sob o nº</a:t>
            </a:r>
          </a:p>
          <a:p>
            <a:r>
              <a:t> 30.306.294/0001-45 e credenciada como custodiante, de acordo com o  Ato Declaratório nº 7.204, de 25 de abril de 2003 (“Custodiante”).</a:t>
            </a:r>
          </a:p>
          <a:p>
            <a:r>
              <a:t>CNPJ 62696791000193 · Administrador, gestor e custodiante · Condição: Documentos atuais selecionados no inventário por categoria/escopo; a data documental isolada não comprova vigência jurídica.</a:t>
            </a:r>
          </a:p>
          <a:p>
            <a:r>
              <a:t>CNPJ 62696791000193 · Administrador, gestor e custodiante · Versão e prevalência: Documentos atuais selecionados no inventário por categoria/escopo; a data documental isolada não comprova vigência jurídica.</a:t>
            </a:r>
          </a:p>
          <a:p>
            <a:r>
              <a:t>CNPJ 55563624000109 · Administrador, gestor e custodiante · Regulamento · ID 1192614 · 2026-04-30 · versão 1 · p. 1 · https://fnet.bmfbovespa.com.br/fnet/publico/visualizarDocumento?id=1192614</a:t>
            </a:r>
          </a:p>
          <a:p>
            <a:r>
              <a:t>CNPJ 55563624000109 · Administrador, gestor e custodiante · Excerto da fonte:</a:t>
            </a:r>
          </a:p>
          <a:p>
            <a:r>
              <a:t>Polígono Capital Ltda., sociedade de responsabilidade limitada, com sede no  município e estado de São Paulo, na Avenida Brigadeiro Faria Lima, n° 2601, 12º andar,  Jardim Paulistano, CEP 01452-000, inscrita no CNPJ sob nº 43.241.789/0001-85 e  GESTOR autorizada à prestação do serviço de administração de carteiras de valores mobiliários  pela CVM, de acordo com o Ato Declaratório CVM nº 19.368, expedido em 7 de  dezembro de 2021 (“GESTOR” e, quando referido conjuntamente e indistintamente  com o ADMINISTRADOR, os “Prestadores de Serviços Essenciais”).</a:t>
            </a:r>
          </a:p>
          <a:p>
            <a:r>
              <a:t>CNPJ 55563624000109 · Administrador, gestor e custodiante · Regulamento · ID 1192614 · 2026-04-30 · versão 1 · p. 1 · https://fnet.bmfbovespa.com.br/fnet/publico/visualizarDocumento?id=1192614</a:t>
            </a:r>
          </a:p>
          <a:p>
            <a:r>
              <a:t>CNPJ 55563624000109 · Administrador, gestor e custodiante · Excerto da fonte:</a:t>
            </a:r>
          </a:p>
          <a:p>
            <a:r>
              <a:t>BTG Pactual Serviços Financeiros S.A. Distribuidora de Títulos e Valores Mobiliários,  sociedade anônima, com sede no município e estado do Rio de Janeiro, na Praia de  Botafogo, nº 501, 5º andar (parte), Torre Corcovado, Botafogo, CEP 22250-040, inscrita  ADMINISTRADOR no Cadastro Nacional da Pessoa Jurídica (“CNPJ”) sob o nº 59.281.253/0001-23 e  credenciada como administradora de carteira, de acordo com o Ato Declaratório CVM  nº 8.695, de 20 de março de 2006 (“ADMINISTRADOR”).</a:t>
            </a:r>
          </a:p>
          <a:p>
            <a:r>
              <a:t>CNPJ 55563624000109 · Administrador, gestor e custodiante · Regulamento · ID 1192614 · 2026-04-30 · versão 1 · p. 41 · https://fnet.bmfbovespa.com.br/fnet/publico/visualizarDocumento?id=1192614</a:t>
            </a:r>
          </a:p>
          <a:p>
            <a:r>
              <a:t>CNPJ 55563624000109 · Administrador, gestor e custodiante · Excerto da fonte:</a:t>
            </a:r>
          </a:p>
          <a:p>
            <a:r>
              <a:t>“ADMINISTRADOR”: BTG Pactual Serviços Financeiros S.A. Distribuidora de Títulos e Valores Mobiliários, instituição  com sede no Município do Rio de Janeiro, Estado do Rio de Janeiro, à Praia de Botafogo, nº 501, 5º andar – parte, inscrita  no CNPJ sob o nº 59.281.253/0001-23, autorizada a funcionar pelo BACEN e autorizada pela CVM para a atividade de  administração de carteiras de valores mobiliários, de acordo com o Ato Declaratório nº 8.695, de 20 de março de 2006,  ou seu sucessor a qualquer título;</a:t>
            </a:r>
          </a:p>
          <a:p>
            <a:r>
              <a:t>CNPJ 55563624000109 · Administrador, gestor e custodiante · Condição: Documentos atuais selecionados no inventário por categoria/escopo; a data documental isolada não comprova vigência jurídica.</a:t>
            </a:r>
          </a:p>
          <a:p>
            <a:r>
              <a:t>CNPJ 55563624000109 · Administrador, gestor e custodiante · Versão e prevalência: Documentos atuais selecionados no inventário por categoria/escopo; a data documental isolada não comprova vigência jurídica.</a:t>
            </a:r>
          </a:p>
          <a:p>
            <a:r>
              <a:t>CNPJ 55563624000109 · Administrador, gestor e custodiante · Resumo do histórico: {"count": 6, "dates": ["2024-12-30", "2025-01-31", "2026-01-31"], "document_count": 3, "sources": [{"document_id": "1178840", "title": "Demonstrações Financeiras", "reference_date": "2026-01-31", "version": "1", "page": 3, "url": "https://fnet.bmfbovespa.com.br/fnet/publico/visualizarDocumento?id=1178840", "sha256": "c458e98664c5c907ddb5a05a94b120bed4e05295b2bfc420f5ba69af0a229abe"}, {"document_id": "891861", "title": "Demonstrações Financeiras", "reference_date": "2025-01-31", "version": "1", "page": 11, "url": "https://fnet.bmfbovespa.com.br/fnet/publico/visualizarDocumento?id=891861", "sha256": "e9cb9e6ddbe505fe068cfcac33605165a98313489de0d3ce6d4d238263c3f3e7"}, {"document_id": "811323", "title": "Anúncio de Encerramento", "reference_date": "2024-12-30", "version": "1", "page": 1, "url": "https://fnet.bmfbovespa.com.br/fnet/publico/visualizarDocumento?id=811323", "sha256": "ebc6bc661be5189acffb3c3e352de2aea0a8ca8431011d1237e1ae19da4f9c79"}], "reference": {"path": "history/55563624000109.json", "criterion_id": "providers", "total_count": 6, "preview_count": 3, "full_text_deferred": true, "sha256": "7835d573fb58a3c19adf5b8ecc2aee2bdbb9a88f7a0c0209b5f262b64c7522e3"}}</a:t>
            </a:r>
          </a:p>
          <a:p>
            <a:r>
              <a:t>CNPJ 62552447000120 · Administrador, gestor e custodiante · Regulamento · ID 1200623 · 2026-05-21 · versão 1 · p. 1 · https://fnet.bmfbovespa.com.br/fnet/publico/visualizarDocumento?id=1200623</a:t>
            </a:r>
          </a:p>
          <a:p>
            <a:r>
              <a:t>CNPJ 62552447000120 · Administrador, gestor e custodiante · Excerto da fonte:</a:t>
            </a:r>
          </a:p>
          <a:p>
            <a:r>
              <a:t>BTG Pactual Asset Management S.A. Distribuidora de Títulos e Valores  Mobiliários, sociedade anônima, com sede no município e Estado do Rio de  Janeiro, na Praia de Botafogo, n.º 501, 5º andar (parte), Torre Corcovado, bairro  Botafogo, CEP 22250-040, inscrita no CNPJ sob o n.º 29.650.082/0001-00 e  Gestor  credenciada como administradora de carteira de valores mobiliários , categoria  gestor de recursos, de acordo com o Ato Declaratório CVM n.º 5.968, de 10 de  maio de 2000 (“Gestor” e, quando ref erido conjuntamente e indistintamente  com o Administrador, “Prestadores de Serviços Essenciais”).</a:t>
            </a:r>
          </a:p>
          <a:p>
            <a:r>
              <a:t>CNPJ 62552447000120 · Administrador, gestor e custodiante · Regulamento · ID 1200623 · 2026-05-21 · versão 1 · p. 1 · https://fnet.bmfbovespa.com.br/fnet/publico/visualizarDocumento?id=1200623</a:t>
            </a:r>
          </a:p>
          <a:p>
            <a:r>
              <a:t>CNPJ 62552447000120 · Administrador, gestor e custodiante · Excerto da fonte:</a:t>
            </a:r>
          </a:p>
          <a:p>
            <a:r>
              <a:t>BTG Pactual Serviços Financeiros S.A. Distribuidora de Títulos e Valores  Mobiliários, sociedade anônima, com sede no município e Estado do Rio de  Janeiro, na Praia de Botafogo, n.º 501, 5º andar (parte), Torre Corcovado, bairro  Administrador Botafogo, CEP 22250-040, inscrita no CNPJ sob o n.º 59.281.253/0001-23 e  credenciada como administradora de carteira de valores mobiliários, categoria  administrador fiduciário, de acordo com o Ato Declaratório CVM n.º 8.695, de 20  de março de 2006 (“Administrador”).</a:t>
            </a:r>
          </a:p>
          <a:p>
            <a:r>
              <a:t>CNPJ 62552447000120 · Administrador, gestor e custodiante · Instrumento Particular de Alteração do Regulamento · ID 1200625 · 2026-05-21 · versão 1 · p. 1 · https://fnet.bmfbovespa.com.br/fnet/publico/visualizarDocumento?id=1200625</a:t>
            </a:r>
          </a:p>
          <a:p>
            <a:r>
              <a:t>CNPJ 62552447000120 · Administrador, gestor e custodiante · Excerto da fonte:</a:t>
            </a:r>
          </a:p>
          <a:p>
            <a:r>
              <a:t>A Administradora, BTG PACTUAL SERVIÇOS FINANCEIROS S.A. DTVM, com  sede na Praia de Botafogo, n.º 501, 5º andar (parte), na Cidade e Estado do Rio de  Janeiro, e inscrita no CNPJ sob o número 59.281.253/0001-23, na qualidade de  administradora da V CDT 1 FUNDO DE INVESTIMENTO EM DIREITOS  CREDITÓRIOS RESPONSABILIDADE LIMITADA, inscrita no CNPJ/MF sob o  número 62.552.447/0001-20 ("Classe"), serve-se da presente para:</a:t>
            </a:r>
          </a:p>
          <a:p>
            <a:r>
              <a:t>CNPJ 62552447000120 · Administrador, gestor e custodiante · Condição: Documentos atuais selecionados no inventário por categoria/escopo; a data documental isolada não comprova vigência jurídica.</a:t>
            </a:r>
          </a:p>
          <a:p>
            <a:r>
              <a:t>CNPJ 62552447000120 · Administrador, gestor e custodiante · Versão e prevalência: Documentos atuais selecionados no inventário por categoria/escopo; a data documental isolada não comprova vigência jurídica.</a:t>
            </a:r>
          </a:p>
          <a:p>
            <a:r>
              <a:t>CNPJ 62552447000120 · Administrador, gestor e custodiante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"providers", "total_count": 1, "preview_count": 1, "full_text_deferred": true, "sha256": "d95db8c0613d67ee84118c734588665265ea6b02f86a0318d6a844cbe1d0f82f"}}</a:t>
            </a:r>
          </a:p>
          <a:p>
            <a:r>
              <a:t>CNPJ 63953620000165 · Administrador, gestor e custodiante · Anexo ao Regulamento · ID 1222863 · 2026-06-02 · versão 1 · p. 2 · https://fnet.bmfbovespa.com.br/fnet/publico/visualizarDocumento?id=1222863</a:t>
            </a:r>
          </a:p>
          <a:p>
            <a:r>
              <a:t>CNPJ 63953620000165 · Administrador, gestor e custodiante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Administrador, gestor e custodiante · Condição: Documentos atuais selecionados no inventário por categoria/escopo; a data documental isolada não comprova vigência jurídica.</a:t>
            </a:r>
          </a:p>
          <a:p>
            <a:r>
              <a:t>CNPJ 63953620000165 · Administrador, gestor e custodiante · Motivo: Cláusula primária localizada e citada, mas sua lista/condições extensas não admitem uma síntese literal curta confirmada. O trecho integral permanece nas fontes.</a:t>
            </a:r>
          </a:p>
          <a:p>
            <a:r>
              <a:t>CNPJ 63953620000165 · Administrador, gestor e custodiante · Versão e prevalência: Documentos atuais selecionados no inventário por categoria/escopo; a data documental isolada não comprova vigência jurídica.</a:t>
            </a:r>
          </a:p>
          <a:p>
            <a:r>
              <a:t>CNPJ 63953620000165 · Administrador, gestor e custodiante · Resumo do histórico: {"count": 8, "dates": ["2026-04-28", "2026-05-08", "2026-05-15"], "document_count": 3, "sources": [{"document_id": "1327859", "title": "Demonstrações Financeiras - Fusão, cisão e incorporação", "reference_date": "2026-05-15", "version": "1", "page": 9, "url": "https://fnet.bmfbovespa.com.br/fnet/publico/visualizarDocumento?id=1327859", "sha256": "dca1c68babb97f887528c3e2e47596a9c30f507b067981a35655b2f2da9c8054"}, {"document_id": "1298691", "title": "Demonstrações Financeiras - Fusão, cisão e incorporação", "reference_date": "2026-05-08", "version": "1", "page": 9, "url": "https://fnet.bmfbovespa.com.br/fnet/publico/visualizarDocumento?id=1298691", "sha256": "58c570d9b8d4d265330d3db3ea81c435b8e44a6dab4002aa37790652a1ee9819"}, {"document_id": "1282180", "title": "Demonstrações Financeiras - Fusão, cisão e incorporação", "reference_date": "2026-04-28", "version": "1", "page": 9, "url": "https://fnet.bmfbovespa.com.br/fnet/publico/visualizarDocumento?id=1282180", "sha256": "afaaa0e6809be4385e5bdb6c911aac582032c5bdbac3d7750234bf9eaf00438a"}], "reference": {"path": "history/63953620000165.json", "criterion_id": "providers", "total_count": 8, "preview_count": 3, "full_text_deferred": true, "sha256": "a7b89077f5e21098c2d601c303faabc3ff6b9729f89d8afecdc60fe1404720c1"}}</a:t>
            </a:r>
          </a:p>
          <a:p>
            <a:r>
              <a:t>CNPJ 54871427000194 · Substituição de prestadores · Motivo: Não localizada uma cláusula material para este critério nos textos identificados e processados. A ausência de resultado não comprova inexistência da regra.</a:t>
            </a:r>
          </a:p>
          <a:p>
            <a:r>
              <a:t>CNPJ 60010416000112 · Substituição de prestadores · Regulamento · ID 1051393 · 2025-10-09 · versão 1 · p. 3 · 1.8 · https://fnet.bmfbovespa.com.br/fnet/publico/visualizarDocumento?id=1051393</a:t>
            </a:r>
          </a:p>
          <a:p>
            <a:r>
              <a:t>CNPJ 60010416000112 · Substituição de prestadores · Excerto da fonte:</a:t>
            </a:r>
          </a:p>
          <a:p>
            <a:r>
              <a:t>1.8. Os Cotistas, o Administrador, o Gestor e o Agente de  Retenção/Cobrança estão plenamente conscientes dos termos e efeitos  desta cláusula compromissória e concordam irrevogavelmente que a  arbitragem será a única f orma de resolução de disputas relacionada a  este Regulamento. Sem prejuízo da validade desta cláusula  compromissória, as partes elegem o foro da comarca do Rio de Janeiro,  estado do Rio de Janeiro, com a renúncia expressa a qualquer outra, se  e quando isso f or necessário para fins de: (i) executar as obrigações para  as quais haja disponibilidade imediata de execução judicial; (ii) obter  ordens de execução específica ou liminares de caráter preventivo,  temporário ou permanente, tais como a prestação de caução para um  processo arbitral iniciado ou em andamento entre as partes da  arbitragem e/ou assegurar a existência e ef icácia do processo arbitral;</a:t>
            </a:r>
          </a:p>
          <a:p>
            <a:r>
              <a:t> e/ou (iii) apresentar um pedido de execução específica ou outra ordem,  sendo certo que, uma vez obtida a execução específica ou outra ordem,  o Tribunal Arbitral a ser instituído ou que já esteja instituído, conforme o  caso, assumirá a competência plena e exclusiva para decidir sobre toda  e qualquer questão, quer relacionada ao processo ou ao mérito, que  possa ter dado origem à ordem ou execução específica solicitada, e o  respectivo processo será suspenso até que o Tribunal Arbitral profira  uma decisão parcial ou def initiva sobre a questão. A propositura de  qualquer ação judicial de acordo com este item não resultará em  renúncia à arbitragem ou à competência da Câmara.</a:t>
            </a:r>
          </a:p>
          <a:p>
            <a:r>
              <a:t>CNPJ 60010416000112 · Substituição de prestadores · Condição: Documentos atuais selecionados no inventário por categoria/escopo; a data documental isolada não comprova vigência jurídica.</a:t>
            </a:r>
          </a:p>
          <a:p>
            <a:r>
              <a:t>CNPJ 60010416000112 · Substituição de prestadores · Motivo: Cláusula primária localizada e citada, mas sua lista/condições extensas não admitem uma síntese literal curta confirmada. O trecho integral permanece nas fontes.</a:t>
            </a:r>
          </a:p>
          <a:p>
            <a:r>
              <a:t>CNPJ 60010416000112 · Substituição de prestadores · Versão e prevalência: Documentos atuais selecionados no inventário por categoria/escopo; a data documental isolada não comprova vigência jurídica.</a:t>
            </a:r>
          </a:p>
          <a:p>
            <a:r>
              <a:t>CNPJ 60010416000112 · Substituição de prestadores · Resumo do histórico: {"count": 1, "dates": ["2025-03-20"], "document_count": 1, "sources": [{"document_id": "993786", "title": "Regulamento", "reference_date": "2025-03-20", "version": "1", "page": 3, "clause": "1.8", "url": "https://fnet.bmfbovespa.com.br/fnet/publico/visualizarDocumento?id=993786", "sha256": "fd0fdd369a195510d81f81f505195a0b09e5f43522a990afa7d58c4f872921c8"}], "reference": {"path": "history/60010416000112.json", "criterion_id": "replacement", "total_count": 1, "preview_count": 1, "full_text_deferred": true, "sha256": "8e2bd813f4c51cf01f6bfaad164bafe69d2bbb192f753eac92da3a01c2e63046"}}</a:t>
            </a:r>
          </a:p>
          <a:p>
            <a:r>
              <a:t>CNPJ 62696791000193 · Substituição de prestadores · Regulamento · ID 1143317 · 2026-03-20 · versão 1 · p. 26 · 12.10 · https://fnet.bmfbovespa.com.br/fnet/publico/visualizarDocumento?id=1143317</a:t>
            </a:r>
          </a:p>
          <a:p>
            <a:r>
              <a:t>CNPJ 62696791000193 · Substituição de prestadores · Excerto da fonte:</a:t>
            </a:r>
          </a:p>
          <a:p>
            <a:r>
              <a:t>12.10 Na hipótese de renúncia, o Administrador fica obrigado a permanecer no exercício de suas funções até  a averbação, no cartório de registro de imóveis, nas matrículas referentes aos bens imóveis e direitos  integrantes da carteira de ativos, da ata da assembleia de Cotistas que eleger seu substituto e sucessor  na propriedade f iduciária desses bens e direitos.</a:t>
            </a:r>
          </a:p>
          <a:p>
            <a:r>
              <a:t>CNPJ 62696791000193 · Substituição de prestadores · Regulamento · ID 1143317 · 2026-03-20 · versão 1 · p. 26 · 12.10.1 · https://fnet.bmfbovespa.com.br/fnet/publico/visualizarDocumento?id=1143317</a:t>
            </a:r>
          </a:p>
          <a:p>
            <a:r>
              <a:t>CNPJ 62696791000193 · Substituição de prestadores · Excerto da fonte:</a:t>
            </a:r>
          </a:p>
          <a:p>
            <a:r>
              <a:t>12.10.1 É f acultado aos Cotistas que detenham ao menos 5% (cinco por cento) das Cotas emitidas, a  convocação da assembleia de Cotistas prevista no item 12.4 acima, caso o Administrador não  a convoque, no prazo de 10 (dez) dias contados da renúncia.</a:t>
            </a:r>
          </a:p>
          <a:p>
            <a:r>
              <a:t>CNPJ 62696791000193 · Substituição de prestadores · Condição: Documentos atuais selecionados no inventário por categoria/escopo; a data documental isolada não comprova vigência jurídica.</a:t>
            </a:r>
          </a:p>
          <a:p>
            <a:r>
              <a:t>CNPJ 62696791000193 · Substituição de prestadores · Versão e prevalência: Documentos atuais selecionados no inventário por categoria/escopo; a data documental isolada não comprova vigência jurídica.</a:t>
            </a:r>
          </a:p>
          <a:p>
            <a:r>
              <a:t>CNPJ 55563624000109 · Substituição de prestadores · Motivo: Não localizada uma cláusula material para este critério nos textos identificados e processados. A ausência de resultado não comprova inexistência da regra.</a:t>
            </a:r>
          </a:p>
          <a:p>
            <a:r>
              <a:t>CNPJ 62552447000120 · Substituição de prestadores · Motivo: Não localizada uma cláusula material para este critério nos textos identificados e processados. A ausência de resultado não comprova inexistência da regra.</a:t>
            </a:r>
          </a:p>
          <a:p>
            <a:r>
              <a:t>CNPJ 63953620000165 · Substituição de prestadores · Anexo ao Regulamento · ID 1222863 · 2026-06-02 · versão 1 · p. 15 · https://fnet.bmfbovespa.com.br/fnet/publico/visualizarDocumento?id=1222863</a:t>
            </a:r>
          </a:p>
          <a:p>
            <a:r>
              <a:t>CNPJ 63953620000165 · Substituição de prestadores · Excerto da fonte:</a:t>
            </a:r>
          </a:p>
          <a:p>
            <a:r>
              <a:t>Anexo I ao Regulamento  CLASSE CONSIGNADO PRIVADO DO MT GLOBAL FUNDO DE INVESTIMENTO EM DIREITOS  CREDITÓRIOS RESPONSABILIDADE LIMITADA</a:t>
            </a:r>
          </a:p>
          <a:p>
            <a:r>
              <a:t> (vii) inobservância pelo Administrador, pelo Custodiante e/ou pelo Gestor de seus deveres e obrigações  previstos neste Regulamento, bem como suas atribuições específicas nos outros contratos existentes  referentes ao funcionamento da Classe, verificada pelo Administrador, pelo Custodiante e/ou pelo  Gestor ou por qualquer dos Cotistas, desde que, uma vez notificados para sanar ou justificar o  descumprimento, o Administrador, o Custodiante e/ou o Gestor, conforme o caso, não o sane no prazo  de 5 (cinco) Dias Úteis contados do recebimento da referida notificação;</a:t>
            </a:r>
          </a:p>
          <a:p>
            <a:r>
              <a:t> (viii) aquisição, pela Classe, de Direitos Creditórios que estejam em desacordo com as Condições de Cessão e  os Critérios de Elegibilidade previstos neste Regulamento no momento de sua aquisição;</a:t>
            </a:r>
          </a:p>
          <a:p>
            <a:r>
              <a:t> (ix) alteração na classificação de risco das Cotas, se houver, que, para qualquer dado período após a  classificação de risco inicial das Cotas e/ou após a deliberação da Assembleia Especial de Cotistas a  respeito de um rebaixamento da classificação de risco das Cotas, implique no rebaixamento de dois  níveis na escala de risco pertinente elaborada pela Agência Classificadora de Risco; e/ou</a:t>
            </a:r>
          </a:p>
          <a:p>
            <a:r>
              <a:t> (x) renúncia do Gestor, sem que tenham sido tomadas tempestivamente as providências previstas no  CAPÍTULO 2 da parte geral deste Regulamento;</a:t>
            </a:r>
          </a:p>
          <a:p>
            <a:r>
              <a:t> (xi) no caso de o Contrato de Endosso celebrado com o Endossante, por qualquer razão, (a) seja declarado  inválido, nulo ou ineficaz por ordem judicial e/ou qualquer autoridade governamental; ou (b) tenha sua  validade ou eficácia, total ou parcialmente, contestada pelo Endossante, judicial ou administrativamente</a:t>
            </a:r>
          </a:p>
          <a:p>
            <a:r>
              <a:t> (xii) em caso de não renovação, cancelamento, revogação ou suspensão de concessões, autorizações,  subvenções, autorizações ou licenças, relevantes para o exercício regular dos negócios realizados pelo  Endossante, incluindo o Convênio Consignado Privado, e as autorizações regulatórias concedidas pelo  Banco Central, observado, caso aplicável, os prazos de cura dispostos no Contrato de Endosso;</a:t>
            </a:r>
          </a:p>
          <a:p>
            <a:r>
              <a:t> (xiii) no caso de o Endossante ou o Agente de Retenção/Cobrança e/ou seus acionistas controladores diretos  e/ou indiretos (pessoas físicas ou jurídicas), quotistas, diretores, conselheiros e/ou representantes e  colaboradores do Endossante ou seus acionistas controladores, (a) terem contra si uma decisão judicial  transitada em julgado envolvendo (1) crimes contra a propriedade, (2) crimes de falsificação, (3) crimes  contra o sistema financeiro nacional, (4) crimes contra o mercado de capitais, (5) crimes contra a  seguridade social, (6) crimes contra as relações de consumo e (7) crimes previstos na lei de falências;</a:t>
            </a:r>
          </a:p>
          <a:p>
            <a:r>
              <a:t> e/ou (b) violar as normas anticorrupção aplicáveis, especialmente a Lei nº 9.613, de 3 de março de 1998,  conforme alterada ou substituída de tempos em tempos, e qualquer outra a que estejam sujeitos, quer  contratual ou legalmente, desde que a violação mencionada seja considerada como, especialmente, mas  não limitada a (1) financiamento, crédito, patrocínio ou outra forma de subvenção à prática de atos  ilícitos previstos na legislação anticorrupção, de combate à lavagem de dinheiro, organizações  antissociais e/ou crime organizado; (2) promessa, oferta ou entrega, direta ou indiretamente, de  qualquer objeto de valor a um funcionário público ou terceiros para obter ou manter negócios ou para  obter qualquer vantagem indevida; (3) aceitação ou compromisso de aceitar, de quem quer que seja,  por si ou por outrem, qualquer pagamento, doação, compensação, vantagens financeiras ou não  financeiras ou benefícios de qualquer tipo, direta ou indiretamente relacionados com o objeto da Classe,  que constituam uma prática ilegal, que violem as boas condutas, a ética, a moral e constitua corrupção  nos termos das leis dos países da sede e onde existam filiais das partes envolvidas, das partes  contratantes; e</a:t>
            </a:r>
          </a:p>
          <a:p>
            <a:r>
              <a:t> (xiv) caso o cotista das Cotas Subordinadas deixe de ser titular das Cotas Subordinadas durante todo prazo  de duração da Classe;</a:t>
            </a:r>
          </a:p>
          <a:p>
            <a:r>
              <a:t> (xv) no caso de não serem realizados pagamentos de amortização e/ou resgate de Cotas Seniores, nos  termos, prazos e condições previstos no presente Regulamento e nos respectivos Apêndices e  Suplementos, não sanados em até 2 (dois) Dias Úteis contados do prazo final do respectivo evento;</a:t>
            </a:r>
          </a:p>
          <a:p>
            <a:r>
              <a:t> (xvi) no caso de pagamento de resgate e/ou amortização de Cotas Subordinadas em desacordo com os  termos, prazos e condições previstos no presente Regulamento e no respectivo Apêndice.</a:t>
            </a:r>
          </a:p>
          <a:p>
            <a:r>
              <a:t>CNPJ 63953620000165 · Substituição de prestadores · Condição: Documentos atuais selecionados no inventário por categoria/escopo; a data documental isolada não comprova vigência jurídica.</a:t>
            </a:r>
          </a:p>
          <a:p>
            <a:r>
              <a:t>CNPJ 63953620000165 · Substituição de prestadores · Motivo: Cláusula primária localizada e citada, mas sua lista/condições extensas não admitem uma síntese literal curta confirmada. O trecho integral permanece nas fontes.</a:t>
            </a:r>
          </a:p>
          <a:p>
            <a:r>
              <a:t>CNPJ 63953620000165 · Substituição de prestadores · Versão e prevalência: Documentos atuais selecionados no inventário por categoria/escopo; a data documental isolada não comprova vigência jurídica.</a:t>
            </a:r>
          </a:p>
          <a:p>
            <a:r>
              <a:t>CNPJ 54871427000194 · Rating por subclasse e downgrade · Regulamento · ID 670691 · 28/04/2024 · versão Regulamento — referência 28/04/2024 · p. 15 · Anexo I, 5.12 · https://fnet.bmfbovespa.com.br/fnet/publico/visualizarDocumento?id=670691</a:t>
            </a:r>
          </a:p>
          <a:p>
            <a:r>
              <a:t>CNPJ 54871427000194 · Rating por subclasse e downgrade · Excerto da fonte:</a:t>
            </a:r>
          </a:p>
          <a:p>
            <a:r>
              <a:t>5.12 As Cotas não serão classificadas por Agência Classificadora de Risco em funcionamento no País, uma vez que a Classe não será destinada ao público em geral. CAPÍTULO 6 – ATRIBUIÇÃO DE RESULTADO ÀS COTAS E CÁLCULO DO VALOR UNITÁRIO 6.1 As Cotas terão seu Valor Unitário calculado e divulgado pelo ADMINISTRADOR mensalmente, no último Dia Útil de cada mês, no fechamento dos mercados, a partir do mês seguinte à Data da 1ª Integralização e até a data de resgate das Cotas ou na data de liquidação da Classe Única, conforme o caso. 6.2 A partir da Data da 1ª Integralização de Cotas, o Valor Unitário das Cotas s erá calculado no fechamento do último Dia Útil de cada mês, equivalerá ao resultado da divisão do valor do Patrimônio Líquido apurado para o respectivo dia, pelo número de Cotas em circulação na respectiva data de cálculo . CAPÍTULO 7 – AMORTIZAÇÃO E RESGATE DAS COTAS 7.1 A distribuição de quaisquer ganhos e rendimentos d a Classe aos Cotistas será f eita exclusivamente mediante a Amortização e/ou o resgate de Cotas, observado o disposto neste Capítulo. 7.2 As amortizações de Cotas serão realizadas a qualquer tempo, a critério do GESTOR, observada a disponibilidade de recursos da Classe Única e a</a:t>
            </a:r>
          </a:p>
          <a:p>
            <a:r>
              <a:t>CNPJ 54871427000194 · Rating por subclasse e downgrade · Versão e prevalência: Leitura específica das cláusulas indicadas; condições e conflitos preservados. Seleção documental atual não comprova vigência jurídica por data isolada.</a:t>
            </a:r>
          </a:p>
          <a:p>
            <a:r>
              <a:t>CNPJ 54871427000194 · Rating por subclasse e downgrade · Resumo do histórico: {"count": 5, "dates": ["2024-12-31", "2025-01-01", "2025-12-31"], "document_count": 3, "sources": [{"document_id": "1151805", "title": "Demonstrações Financeiras", "reference_date": "2025-12-31", "version": "1", "page": 25, "url": "https://fnet.bmfbovespa.com.br/fnet/publico/visualizarDocumento?id=1151805", "sha256": "f1cea70b152968bf96ef9221b27225953cb20aeef487b2798db3c25e11b528d4"}, {"document_id": "869529", "title": "Demonstrações Financeiras", "reference_date": "2025-01-01", "version": "1", "page": 25, "url": "https://fnet.bmfbovespa.com.br/fnet/publico/visualizarDocumento?id=869529", "sha256": "9a93a9369ac8efdbc54ff8fcee3ccac3abf88edab4807b9323d3852450771b2a"}, {"document_id": "870070", "title": "Demonstrações Financeiras", "reference_date": "2024-12-31", "version": "1", "page": 25, "url": "https://fnet.bmfbovespa.com.br/fnet/publico/visualizarDocumento?id=870070", "sha256": "9a93a9369ac8efdbc54ff8fcee3ccac3abf88edab4807b9323d3852450771b2a"}], "reference": {"path": "history/54871427000194.json", "criterion_id": "rating", "total_count": 5, "preview_count": 3, "full_text_deferred": true, "sha256": "35d7cd99be50c7287c9fb675cf4f2e736002315295a225a9efa79c8d9186d874"}}</a:t>
            </a:r>
          </a:p>
          <a:p>
            <a:r>
              <a:t>CNPJ 60010416000112 · Rating por subclasse e downgrade · Demonstrações Financeiras - Fusão, cisão e incorporação · ID 1298690 · 2026-05-08 · versão 1 · p. 35 · https://fnet.bmfbovespa.com.br/fnet/publico/visualizarDocumento?id=1298690</a:t>
            </a:r>
          </a:p>
          <a:p>
            <a:r>
              <a:t>CNPJ 60010416000112 · Rating por subclasse e downgrade · Excerto da fonte:</a:t>
            </a:r>
          </a:p>
          <a:p>
            <a:r>
              <a:t>As Cotas Seniores poderão ser objeto de classificação de risco (rating) por Agência  Classificadora de Risco em funcionamento no país.</a:t>
            </a:r>
          </a:p>
          <a:p>
            <a:r>
              <a:t>CNPJ 60010416000112 · Rating por subclasse e downgrade · Condição: Documentos atuais selecionados no inventário por categoria/escopo; a data documental isolada não comprova vigência jurídica.</a:t>
            </a:r>
          </a:p>
          <a:p>
            <a:r>
              <a:t>CNPJ 60010416000112 · Rating por subclasse e downgrade · Versão e prevalência: Documentos atuais selecionados no inventário por categoria/escopo; a data documental isolada não comprova vigência jurídica.</a:t>
            </a:r>
          </a:p>
          <a:p>
            <a:r>
              <a:t>CNPJ 60010416000112 · Rating por subclasse e downgrade · Resumo do histórico: {"count": 5, "dates": ["2025-11-30", "2026-03-18", "2026-04-16"], "document_count": 3, "sources": [{"document_id": "1282181", "title": "Demonstrações Financeiras - Fusão, cisão e incorporação", "reference_date": "2026-04-16", "version": "1", "page": 38, "url": "https://fnet.bmfbovespa.com.br/fnet/publico/visualizarDocumento?id=1282181", "sha256": "b1c6566e43a00bcd00c8a7f30c77b7f86e351bd8e355bbea113f46d1dafda703"}, {"document_id": "1224477", "title": "Demonstrações Financeiras - Fusão, cisão e incorporação", "reference_date": "2026-03-18", "version": "1", "page": 37, "url": "https://fnet.bmfbovespa.com.br/fnet/publico/visualizarDocumento?id=1224477", "sha256": "0751bf0a75bc3b44c2748f5000226665c6ec6698a90c4dc6170b4e6c187759ae"}, {"document_id": "1126154", "title": "Demonstrações Financeiras", "reference_date": "2025-11-30", "version": "1", "page": 38, "url": "https://fnet.bmfbovespa.com.br/fnet/publico/visualizarDocumento?id=1126154", "sha256": "a01e7ccf88c548f12c95cba8526d7efbef6b585c112cd4668eca781c292090b0"}], "reference": {"path": "history/60010416000112.json", "criterion_id": "rating", "total_count": 5, "preview_count": 3, "full_text_deferred": true, "sha256": "8e2bd813f4c51cf01f6bfaad164bafe69d2bbb192f753eac92da3a01c2e63046"}}</a:t>
            </a:r>
          </a:p>
          <a:p>
            <a:r>
              <a:t>CNPJ 62696791000193 · Rating por subclasse e downgrade · Regulamento · ID 1143317 · 2026-03-20 · versão 1 · p. 3 · 2.1.2 · https://fnet.bmfbovespa.com.br/fnet/publico/visualizarDocumento?id=1143317</a:t>
            </a:r>
          </a:p>
          <a:p>
            <a:r>
              <a:t>CNPJ 62696791000193 · Rating por subclasse e downgrade · Excerto da fonte:</a:t>
            </a:r>
          </a:p>
          <a:p>
            <a:r>
              <a:t>2.1.2 Não obstante as atribuições previstas neste Regulamento e na regulamentação aplicável, cabe  ao Gestor praticar os atos necessários à gestão da carteira de ativos do Fundo, o que inclui,  mas não se limita, à contratação, em nome do Fundo ou da classe de cot as, dos seguintes  serviços: (a) intermediação de operações para carteira de ativos; (b) distribuição de cotas; (c)  consultoria de investimentos ou consultoria especializada; (d) classificação de risco por agência  de classificação de risco de crédito; (e) f ormador de mercado de classe f echada; (f ) cogestão  da carteira de ativos; (g) empresa especializada para administrar as locações ou arrendamentos  de imóveis rurais e a exploração do direito de superf ície, assim como para monitorar e</a:t>
            </a:r>
          </a:p>
          <a:p>
            <a:r>
              <a:t>CNPJ 62696791000193 · Rating por subclasse e downgrade · Regulamento · ID 1143317 · 2026-03-20 · versão 1 · p. 36 · 1.2 · https://fnet.bmfbovespa.com.br/fnet/publico/visualizarDocumento?id=1143317</a:t>
            </a:r>
          </a:p>
          <a:p>
            <a:r>
              <a:t>CNPJ 62696791000193 · Rating por subclasse e downgrade · Excerto da fonte:</a:t>
            </a:r>
          </a:p>
          <a:p>
            <a:r>
              <a:t>1.2. As Cotas Subordinadas Juniores serão subscritas e integralizadas por um único Cotista e/ou por Cotistas  vinculados por interesse único e indissociável, de forma que serão objeto de colocação privada, nos termos  do Compromisso de Investimento a ser f irmado pelo Cotista, dispensadas da classificação de risco e não  terão parâmetro de remuneração def inido.</a:t>
            </a:r>
          </a:p>
          <a:p>
            <a:r>
              <a:t>2. Emissão, Subscrição e Integralização das Cotas</a:t>
            </a:r>
          </a:p>
          <a:p>
            <a:r>
              <a:t>CNPJ 62696791000193 · Rating por subclasse e downgrade · Condição: Documentos atuais selecionados no inventário por categoria/escopo; a data documental isolada não comprova vigência jurídica.</a:t>
            </a:r>
          </a:p>
          <a:p>
            <a:r>
              <a:t>CNPJ 62696791000193 · Rating por subclasse e downgrade · Versão e prevalência: Documentos atuais selecionados no inventário por categoria/escopo; a data documental isolada não comprova vigência jurídica.</a:t>
            </a:r>
          </a:p>
          <a:p>
            <a:r>
              <a:t>CNPJ 55563624000109 · Rating por subclasse e downgrade · Regulamento · ID 1192614 · 30/04/2026 · versão Regulamento30/04/2026 · p. 44 · GlossárioTermo de Adesão · https://fnet.bmfbovespa.com.br/fnet/publico/visualizarDocumento?id=1192614</a:t>
            </a:r>
          </a:p>
          <a:p>
            <a:r>
              <a:t>CNPJ 55563624000109 · Rating por subclasse e downgrade · Excerto da fonte:</a:t>
            </a:r>
          </a:p>
          <a:p>
            <a:r>
              <a:t>Termo de Adesão”: documento elaborado nos termos do art. 29 da Resolução CVM 175, por meio do qual o Cotista adere a este Regulamento e que deve ser firmado quando de seu ingresso no FUNDO, declarando, inclusive, sem se limitar a, ter pleno conhecimento dos riscos envolvidos na operação, inclusive da possibilidade de perda total do capital investido, e da ausência de classificação de risco das Cotas subscritas; “Valor Unitário”: o valor individual das Cotas, equivalente a R$ 1.000,00 (um mil), na primeira Data de Emissão, calculado todo Dia Útil para efeito da definição de seu valor de integralização e</a:t>
            </a:r>
          </a:p>
          <a:p>
            <a:r>
              <a:t>CNPJ 55563624000109 · Rating por subclasse e downgrade · Versão e prevalência: Leitura específica das cláusulas indicadas; condições e conflitos preservados. Seleção documental atual não comprova vigência jurídica por data isolada.</a:t>
            </a:r>
          </a:p>
          <a:p>
            <a:r>
              <a:t>CNPJ 55563624000109 · Rating por subclasse e downgrade · Resumo do histórico: {"count": 2, "dates": ["2025-01-31", "2026-01-31"], "document_count": 2, "sources": [{"document_id": "1178840", "title": "Demonstrações Financeiras", "reference_date": "2026-01-31", "version": "1", "page": 22, "url": "https://fnet.bmfbovespa.com.br/fnet/publico/visualizarDocumento?id=1178840", "sha256": "c458e98664c5c907ddb5a05a94b120bed4e05295b2bfc420f5ba69af0a229abe"}, {"document_id": "891861", "title": "Demonstrações Financeiras", "reference_date": "2025-01-31", "version": "1", "page": 23, "url": "https://fnet.bmfbovespa.com.br/fnet/publico/visualizarDocumento?id=891861", "sha256": "e9cb9e6ddbe505fe068cfcac33605165a98313489de0d3ce6d4d238263c3f3e7"}], "reference": {"path": "history/55563624000109.json", "criterion_id": "rating", "total_count": 2, "preview_count": 2, "full_text_deferred": true, "sha256": "7835d573fb58a3c19adf5b8ecc2aee2bdbb9a88f7a0c0209b5f262b64c7522e3"}}</a:t>
            </a:r>
          </a:p>
          <a:p>
            <a:r>
              <a:t>CNPJ 62552447000120 · Rating por subclasse e downgrade · Regulamento · ID 1200623 · 21/05/2026 · versão Consolidado21/05/2026 aprovado pelo ato1200625 · p. 19 · AnexoI6.11 · https://fnet.bmfbovespa.com.br/fnet/publico/visualizarDocumento?id=1200623</a:t>
            </a:r>
          </a:p>
          <a:p>
            <a:r>
              <a:t>CNPJ 62552447000120 · Rating por subclasse e downgrade · Excerto da fonte:</a:t>
            </a:r>
          </a:p>
          <a:p>
            <a:r>
              <a:t>6.11 As Cotas não serão objeto de classif icação de risco . CAPÍTULO 7 – AMORTIZAÇÃO DAS COTAS 7.1 A distribuição de quaisquer ganhos e rendimentos d a Classe aos Cotistas será f eita exclusivamente mediante a Amortização, observado o disposto neste Capítulo. 7.2 As Cotas poderão ser amortizadas através de uma Amortização programada, se houver, conforme prevista nos Apêndices, caso aplicável (“Amortização Programada”), e por meio amortização extraordinária das Cotas, a ser realizada por (a) por decisão do Gestor, para: (i) reenquadramento da Carteira ao mínimo de Direitos Creditórios que deve ser detido pel</a:t>
            </a:r>
          </a:p>
          <a:p>
            <a:r>
              <a:t>CNPJ 62552447000120 · Rating por subclasse e downgrade · Versão e prevalência: Leitura específica das cláusulas indicadas; condições e conflitos preservados. Seleção documental atual não comprova vigência jurídica por data isolada.</a:t>
            </a:r>
          </a:p>
          <a:p>
            <a:r>
              <a:t>CNPJ 63953620000165 · Rating por subclasse e downgrade · Anexo ao Regulamento · ID 1222863 · 02/06/2026 · versão AnexoConsignadoPrivado02/06/2026 · p. 11 · 6.14 · https://fnet.bmfbovespa.com.br/fnet/publico/visualizarDocumento?id=1222863</a:t>
            </a:r>
          </a:p>
          <a:p>
            <a:r>
              <a:t>CNPJ 63953620000165 · Rating por subclasse e downgrade · Excerto da fonte:</a:t>
            </a:r>
          </a:p>
          <a:p>
            <a:r>
              <a:t>6.14 As Cotas poderão ser objeto de classificação de risco pela contratada pelo Gestor, desde que em comum acordo entre Gestor e Cotistas Subordinados em Assembleia Especial de Cotistas (“Agência Classificadora de Risco”). CAPÍTULO 7 – AMORTIZAÇÃO DAS COTAS 7.1 A distribuição de quaisquer ganhos e rendimentos da Classe aos Cotistas será feita exclusivamente mediante a Amortização de Cotas, observado o disposto neste Capítulo e nos Apêndices. 7.2 As Cotas poderão ser amortizadas através de uma Amortização por Regime de Caixa, se houver conforme prevista nos Apêndices; e por meio amortização extraordinária das Cotas, a ser realiz</a:t>
            </a:r>
          </a:p>
          <a:p>
            <a:r>
              <a:t>CNPJ 63953620000165 · Rating por subclasse e downgrade · Versão e prevalência: Leitura específica das cláusulas indicadas; condições e conflitos preservados. Seleção documental atual não comprova vigência jurídica por data isolada.</a:t>
            </a:r>
          </a:p>
          <a:p>
            <a:r>
              <a:t>CNPJ 63953620000165 · Rating por subclasse e downgrade · Resumo do histórico: {"count": 8, "dates": ["2026-04-28", "2026-05-08", "2026-05-15"], "document_count": 3, "sources": [{"document_id": "1327859", "title": "Demonstrações Financeiras - Fusão, cisão e incorporação", "reference_date": "2026-05-15", "version": "1", "page": 29, "url": "https://fnet.bmfbovespa.com.br/fnet/publico/visualizarDocumento?id=1327859", "sha256": "dca1c68babb97f887528c3e2e47596a9c30f507b067981a35655b2f2da9c8054"}, {"document_id": "1298691", "title": "Demonstrações Financeiras - Fusão, cisão e incorporação", "reference_date": "2026-05-08", "version": "1", "page": 30, "url": "https://fnet.bmfbovespa.com.br/fnet/publico/visualizarDocumento?id=1298691", "sha256": "58c570d9b8d4d265330d3db3ea81c435b8e44a6dab4002aa37790652a1ee9819"}, {"document_id": "1282180", "title": "Demonstrações Financeiras - Fusão, cisão e incorporação", "reference_date": "2026-04-28", "version": "1", "page": 30, "url": "https://fnet.bmfbovespa.com.br/fnet/publico/visualizarDocumento?id=1282180", "sha256": "afaaa0e6809be4385e5bdb6c911aac582032c5bdbac3d7750234bf9eaf00438a"}], "reference": {"path": "history/63953620000165.json", "criterion_id": "rating",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Hedge e prestadores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Finalidade e limites de derivativos · Regulamento · ID 670691 · 28/04/2024 · versão Regulamento — referência 28/04/2024 · p. 13 · Anexo I, 4.15–4.16 · https://fnet.bmfbovespa.com.br/fnet/publico/visualizarDocumento?id=670691</a:t>
            </a:r>
          </a:p>
          <a:p>
            <a:r>
              <a:t>CNPJ 54871427000194 · Finalidade e limites de derivativos · Excerto da fonte:</a:t>
            </a:r>
          </a:p>
          <a:p>
            <a:r>
              <a:t>4.15 A Classe poderá utilizar instrumentos derivativos, desde que com o objetivo de proteção patrimonial, ou, desde que não resulte em exposição a risco de capital, conforme definida no inciso XXIV Art. 3º da parte geral da Resolução CVM 175, troca de indexador a que os ativos estão indexados . 4.16 A Classe não realizará operações de day trade, assim consideradas aquelas iniciadas e encerradas no mesmo dia, independentemente de a Classe possuir estoque ou posição anterior do mesmo Ativo Financeiro. 4.17 É vedada qualquer forma de antecipação de recursos aos Endossantes para posterior reembolso pela Classe, seja pelo ADMINISTRADOR, GESTOR, CUSTODIANTE, consultora ou Originadores. 4.18 Exceto na medida em que eventualmente previsto nos Contratos de Cessão e/ou em instrumentos eventualmente celebrados entre a Classe e os Endossantes, os Endossantes não serão responsáveis em caso de eventual inadimplemento dos Direitos Creditórios por eles cedidos, sendo responsáveis, não obstante, apenas pela existência, certeza, conteúdo, exatidão, veracidade, legitimidade, validade e correta f ormalização dos Direitos Creditórios que cederem à Classe, nos termos da</a:t>
            </a:r>
          </a:p>
          <a:p>
            <a:r>
              <a:t>CNPJ 54871427000194 · Finalidade e limites de derivativos · Versão e prevalência: Leitura específica das cláusulas indicadas; condições e conflitos preservados. Seleção documental atual não comprova vigência jurídica por data isolada.</a:t>
            </a:r>
          </a:p>
          <a:p>
            <a:r>
              <a:t>CNPJ 54871427000194 · Finalidade e limites de derivativos · Resumo do histórico: {"count": 2, "dates": ["2024-04-19", "2024-04-28"], "document_count": 2, "sources": [{"document_id": "670691", "title": "Regulamento", "reference_date": "2024-04-28", "version": "1", "page": "13", "url": "https://fnet.bmfbovespa.com.br/fnet/publico/visualizarDocumento?id=670691", "sha256": "bf16dd7f1a62d5cdbf2e2d54fef81783783f7310fbc99c3a8f00459bdf9d037b"}, {"document_id": "670689", "title": "Regulamento", "reference_date": "2024-04-19", "version": "1", "page": 13, "clause": "4.15", "url": "https://fnet.bmfbovespa.com.br/fnet/publico/visualizarDocumento?id=670689", "sha256": "891bc9bc5d87bbc02ec139077a84d2702eb81ea02035fb71d24f5b8366b94a0b"}], "reference": {"path": "history/54871427000194.json", "criterion_id": "hedge", "total_count": 2, "preview_count": 2, "full_text_deferred": true, "sha256": "35d7cd99be50c7287c9fb675cf4f2e736002315295a225a9efa79c8d9186d874"}}</a:t>
            </a:r>
          </a:p>
          <a:p>
            <a:r>
              <a:t>CNPJ 60010416000112 · Finalidade e limites de derivativos · Regulamento · ID 1051393 · 2025-10-09 · versão 1 · p. 12 · 4.9 · https://fnet.bmfbovespa.com.br/fnet/publico/visualizarDocumento?id=1051393</a:t>
            </a:r>
          </a:p>
          <a:p>
            <a:r>
              <a:t>CNPJ 60010416000112 · Finalidade e limites de derivativos · Excerto da fonte:</a:t>
            </a:r>
          </a:p>
          <a:p>
            <a:r>
              <a:t>4.9 Sem prejuízo de limites mais restritivos definidos neste Regulamento, o Gestor deverá observar, ainda, os  seguintes limites de concentração para a composição da Carteira:</a:t>
            </a:r>
          </a:p>
          <a:p>
            <a:r>
              <a:t> (i ) Até 100% (cem por cento) da parcela do Patrimônio Líquido investida em Ativos  Financeiros de Liquidez poderá ser alocada em Ativos Financeiros de Liquidez de  emissão ou que envolvam retenção de risco por parte do Administrador, Gestor, e/ou  suas partes relacionadas; e</a:t>
            </a:r>
          </a:p>
          <a:p>
            <a:r>
              <a:t> (ii) Até 100% (cem por cento) da parcela do Patrimônio Líquido investida em operações  com derivativos poderá ser alocada em derivativos nos quais, inexistindo contraparte  central, se tenha como contraparte o Gestor e/ou suas partes relacionadas.</a:t>
            </a:r>
          </a:p>
          <a:p>
            <a:r>
              <a:t>CNPJ 60010416000112 · Finalidade e limites de derivativos · Regulamento · ID 1051393 · 2025-10-09 · versão 1 · p. 13 · 4.15 · https://fnet.bmfbovespa.com.br/fnet/publico/visualizarDocumento?id=1051393</a:t>
            </a:r>
          </a:p>
          <a:p>
            <a:r>
              <a:t>CNPJ 60010416000112 · Finalidade e limites de derivativos · Excerto da fonte:</a:t>
            </a:r>
          </a:p>
          <a:p>
            <a:r>
              <a:t>4.15 A Classe poderá utilizar instrumentos derivativos, observados os limites de concentração previstos neste  Regulamento, desde que com o objetivo de proteção patrimonial, ou, desde que não resulte em exposição  a risco de capital, conforme definida no inciso XXIV do Art. 3º da parte geral da Resolução CVM 175, troca  de indexador a que os ativos estão indexados e o índice de ref erência de cada Subclasse.</a:t>
            </a:r>
          </a:p>
          <a:p>
            <a:r>
              <a:t>CNPJ 60010416000112 · Finalidade e limites de derivativos · Regulamento · ID 1051393 · 2025-10-09 · versão 1 · p. 16 · 7.11 · https://fnet.bmfbovespa.com.br/fnet/publico/visualizarDocumento?id=1051393</a:t>
            </a:r>
          </a:p>
          <a:p>
            <a:r>
              <a:t>CNPJ 60010416000112 · Finalidade e limites de derivativos · Excerto da fonte:</a:t>
            </a:r>
          </a:p>
          <a:p>
            <a:r>
              <a:t>7.11 Sem prejuízo do disposto do disposto nos itens 7.1 a 7.10 acima, a partir da Data da 1ª Integralização de  Cotas até a liquidação integral das Obrigações da Classe, sempre preservando a manutenção da boa  ordem legal, administrativa e operacional da Classe, o Gestor obriga-se a utilizar os recursos disponíveis  na Conta de Movimentação da Classe e/ou mantidos em Ativos Financeiros de Liquidez, em cada Dia Útil,  de acordo com a seguinte ordem de prioridade de alocação, na forma dos itens e tabela abaixo, de modo  que cada um dos itens listado apenas será contemplado após o direcionamento do montante total  necessário para a satisfação dos itens anteriores, ressalvado, enquanto em curso um Evento de Avaliação  e/ou um Evento de Liquidação, o disposto no item 11.4.1 abaixo</a:t>
            </a:r>
          </a:p>
          <a:p>
            <a:r>
              <a:t> (i) entradas de recursos provenientes da integralização de Cotas e dos Direitos Creditórios e  Ativos Financeiros de Liquidez que compõem a carteira da Classe, durante o Período de  Investimento, na seguinte ordem:</a:t>
            </a:r>
          </a:p>
          <a:p>
            <a:r>
              <a:t> a. pagamento dos Encargos;</a:t>
            </a:r>
          </a:p>
          <a:p>
            <a:r>
              <a:t> b. pagamento de despesas relativas aos instrumentos derivativos, conf orme aplicável;</a:t>
            </a:r>
          </a:p>
          <a:p>
            <a:r>
              <a:t> c. aquisição de Direitos Creditórios, sempre que ofertado, em moeda corrente nacional, em  conf ormidade com a Política de Investimento descrita neste Regulamento, sem prejuízo  do disposto no item 4.12 acima; e  d. aquisição de Ativos Financeiros de Liquidez, observando-se a Política de Investimentos.</a:t>
            </a:r>
          </a:p>
          <a:p>
            <a:r>
              <a:t> (ii) entradas de recursos provenientes dos Direitos Creditórios e Ativos Financeiros de Liquidez  que compõem a carteira da Classe, após o término do Período de Investimento, na seguinte  ordem, observadas as seguintes condições:</a:t>
            </a:r>
          </a:p>
          <a:p>
            <a:r>
              <a:t> a. pagamento dos Encargos;</a:t>
            </a:r>
          </a:p>
          <a:p>
            <a:r>
              <a:t> b. pagamento de despesas relativas aos instrumentos derivativos, conf orme aplicável;</a:t>
            </a:r>
          </a:p>
          <a:p>
            <a:r>
              <a:t> c. pagamento da amortização do principal e dos rendimentos acumulados relacionados às  Cotas Seniores, de modo que, considerando, pro f orma, todas as amortizações  pretendidas, o percentual empregado para amortização das Cotas Seniores seja  equivalente à relação entre o Patrimônio Líquido Sênior dividido pelo Patrimônio Líquido  da Classe, com a devida observância dos termos e condições deste Regulamento, do  Apêndice e do Suplemento das Cotas Seniores;</a:t>
            </a:r>
          </a:p>
          <a:p>
            <a:r>
              <a:t> d. pagamento da amortização do principal e dos rendimentos acumulados relacionados às  Cotas Subordinadas, de modo que, considerando, pro f orma, todas as amortizações  pretendidas, o percentual empregado para amortização das Cotas Subordinadas seja  equivalente à relação entre o Patrimônio Líquido Subordinado dividido pelo Patrimônio  Líquido da Classe, com a devida observância dos termos e condições deste  Regulamento, do Apêndice e do Suplemento das Cotas Seniores e desde que  respeitados o Índice de Subordinação;</a:t>
            </a:r>
          </a:p>
          <a:p>
            <a:r>
              <a:t> e. aquisição de Ativos Financeiros, observado o limite de alocação previsto no item 4.7  deste Anexo I.</a:t>
            </a:r>
          </a:p>
          <a:p>
            <a:r>
              <a:t>CNPJ 60010416000112 · Finalidade e limites de derivativos · Condição: Documentos atuais selecionados no inventário por categoria/escopo; a data documental isolada não comprova vigência jurídica.</a:t>
            </a:r>
          </a:p>
          <a:p>
            <a:r>
              <a:t>CNPJ 60010416000112 · Finalidade e limites de derivativos · Versão e prevalência: Documentos atuais selecionados no inventário por categoria/escopo; a data documental isolada não comprova vigência jurídica.</a:t>
            </a:r>
          </a:p>
          <a:p>
            <a:r>
              <a:t>CNPJ 60010416000112 · Finalidade e limites de derivativos · Resumo do histórico: {"count": 2, "dates": ["2025-03-20", "2025-10-09"], "document_count": 2, "sources": [{"document_id": "1051393", "title": "Regulamento", "reference_date": "2025-10-09", "version": "1", "page": "13", "url": "https://fnet.bmfbovespa.com.br/fnet/publico/visualizarDocumento?id=1051393", "sha256": "8469d613078ffd5a6c1d217885d8a397a16342c0b937ae4aa24b106505f233ae"}, {"document_id": "993786", "title": "Regulamento", "reference_date": "2025-03-20", "version": "1", "page": 12, "clause": "4.9", "url": "https://fnet.bmfbovespa.com.br/fnet/publico/visualizarDocumento?id=993786", "sha256": "fd0fdd369a195510d81f81f505195a0b09e5f43522a990afa7d58c4f872921c8"}], "reference": {"path": "history/60010416000112.json", "criterion_id": "hedge", "total_count": 2, "preview_count": 2, "full_text_deferred": true, "sha256": "8e2bd813f4c51cf01f6bfaad164bafe69d2bbb192f753eac92da3a01c2e63046"}}</a:t>
            </a:r>
          </a:p>
          <a:p>
            <a:r>
              <a:t>CNPJ 62696791000193 · Finalidade e limites de derivativos · Regulamento · ID 1143317 · 20/03/2026 · versão Regulamento — referência 20/03/2026 · p. 15 · Anexo I, 4.28 e 4.30(i) · https://fnet.bmfbovespa.com.br/fnet/publico/visualizarDocumento?id=1143317</a:t>
            </a:r>
          </a:p>
          <a:p>
            <a:r>
              <a:t>CNPJ 62696791000193 · Finalidade e limites de derivativos · Excerto da fonte:</a:t>
            </a:r>
          </a:p>
          <a:p>
            <a:r>
              <a:t>4.28 A Classe pode aplicar recursos em instrumentos financeiros derivativos, exclusivamente para fins de proteção patrimonial, cuja exposição seja sempre, no máximo, o valor do Patrimônio Líquido. 4.29 A Classe pode emprestar ativos f inanceiros e valores mobiliários, desde que tais operações de empréstimo sejam cursadas exclusivamente por meio de serviço autorizado pelo Banco Central do Brasil ou pela CVM. 4.30 É vedado à Classe: (i) aplicar no exterior recursos captados no País; (ii) salvo aprovação em assembleia de Cotistas, a realização de operações quando caracterizada situação de conf lito de interesses entre: (a) a Classe, o Administrador ou o Gestor ou a Consultoria Especializada; (b) a Classe e os Cotistas que detenham participação correspondente a, no mínimo, 10% (dez por cento) do patrimônio da Classe; e (c) a Classe e o representante dos Cotistas; (iii) a aplicação de recursos em sociedades nas quais participem o Administrador, o Gestor, os consultores, os membros de comitês ou conselhos e os Cotistas titulares de Cotas representativas de 5% (cinco por cento) do patri</a:t>
            </a:r>
          </a:p>
          <a:p>
            <a:r>
              <a:t>CNPJ 62696791000193 · Finalidade e limites de derivativos · Regulamento · ID 1143317 · 20/03/2026 · versão Regulamento — referência 20/03/2026 · p. 27 · Anexo I, 12.11(x) · https://fnet.bmfbovespa.com.br/fnet/publico/visualizarDocumento?id=1143317</a:t>
            </a:r>
          </a:p>
          <a:p>
            <a:r>
              <a:t>CNPJ 62696791000193 · Finalidade e limites de derivativos · Excerto da fonte:</a:t>
            </a:r>
          </a:p>
          <a:p>
            <a:r>
              <a:t>(x) realizar operações com derivativos, exceto quando tais operações f orem realizadas exclusivamente para f ins de proteção patrimonial e desde que a exposição seja sempre, no máximo, o valor do Patrimônio Líquido. 12.11.1 A vedação prevista no item (v) acima não impede a aquisição de imóveis sobre os quais tenham sido constituídos ônus reais anteriormente ao seu ingresso no patrimônio . 12.12 É vedado ao Gestor o recebimento de qualquer remuneração, benefício ou vantagem, direta ou indiretamente, que potencialmente prejudique sua independência na tomada de decisão. Consultoria Especializada 12.13 O Gestor, conforme disposto no Anexo Normativo VI da Resolução 175, poderá contratar Consultoria Especializada para que preste os seguintes serviços (“Consultoria Especializada”): (i) Analisar, selecionar, avaliar e acompanhar, de acordo com a Política de Investimentos deste Anexo, os ativos integrantes ou que possam vir a integrar a carteira da classe do Fundo; (ii) Participar de negociações e propor negócios à classe, observada a Política de Investimentos constante deste Anexo;</a:t>
            </a:r>
          </a:p>
          <a:p>
            <a:r>
              <a:t>CNPJ 62696791000193 · Finalidade e limites de derivativos · Versão e prevalência: Leitura específica das cláusulas indicadas; condições e conflitos preservados. Seleção documental atual não comprova vigência jurídica por data isolada.</a:t>
            </a:r>
          </a:p>
          <a:p>
            <a:r>
              <a:t>CNPJ 55563624000109 · Finalidade e limites de derivativos · Regulamento · ID 1192614 · 2026-04-30 · versão 1 · p. 14 · 4.21 · https://fnet.bmfbovespa.com.br/fnet/publico/visualizarDocumento?id=1192614</a:t>
            </a:r>
          </a:p>
          <a:p>
            <a:r>
              <a:t>CNPJ 55563624000109 · Finalidade e limites de derivativos · Excerto da fonte:</a:t>
            </a:r>
          </a:p>
          <a:p>
            <a:r>
              <a:t>4.21 A Classe poderá utilizar instrumentos derivativos, desde que com o objetivo de proteção patrimonial, ou, desde  que não resulte em exposição a risco de capital, conforme definida no inciso XXIV do Art. 3º da parte geral da  Resolução CVM 175 ou em troca de indexador a que os ativos estão indexados.</a:t>
            </a:r>
          </a:p>
          <a:p>
            <a:r>
              <a:t>CNPJ 55563624000109 · Finalidade e limites de derivativos · Regulamento · ID 1192614 · 2026-04-30 · versão 1 · p. 39 · https://fnet.bmfbovespa.com.br/fnet/publico/visualizarDocumento?id=1192614</a:t>
            </a:r>
          </a:p>
          <a:p>
            <a:r>
              <a:t>CNPJ 55563624000109 · Finalidade e limites de derivativos · Excerto da fonte:</a:t>
            </a:r>
          </a:p>
          <a:p>
            <a:r>
              <a:t>(xxii) Operações com derivativos. A Classe poderá realizar operações com derivativos  exclusivamente com o objetivo de proteção patrimonial. As operações com derivativos, pela sua  própria natureza, acrescentam riscos à Carteira e poderão afetar negativamente a sua rentabilidade,  até o limite do Patrimônio Líquido.</a:t>
            </a:r>
          </a:p>
          <a:p>
            <a:r>
              <a:t>CNPJ 55563624000109 · Finalidade e limites de derivativos · Condição: Documentos atuais selecionados no inventário por categoria/escopo; a data documental isolada não comprova vigência jurídica.</a:t>
            </a:r>
          </a:p>
          <a:p>
            <a:r>
              <a:t>CNPJ 55563624000109 · Finalidade e limites de derivativos · Versão e prevalência: Documentos atuais selecionados no inventário por categoria/escopo; a data documental isolada não comprova vigência jurídica.</a:t>
            </a:r>
          </a:p>
          <a:p>
            <a:r>
              <a:t>CNPJ 55563624000109 · Finalidade e limites de derivativos · Resumo do histórico: {"count": 3, "dates": ["2025-01-31", "2026-01-31", "2026-04-30"], "document_count": 3, "sources": [{"document_id": "1192614", "title": "Regulamento", "reference_date": "2026-04-30", "version": "1", "page": "14", "url": "https://fnet.bmfbovespa.com.br/fnet/publico/visualizarDocumento?id=1192614", "sha256": "f56e63ace0acde41d2f47fb48f1ac7f3f7df5e2d32de092d7c5e075a52516632"}, {"document_id": "1178840", "title": "Demonstrações Financeiras", "reference_date": "2026-01-31", "version": "1", "page": 25, "url": "https://fnet.bmfbovespa.com.br/fnet/publico/visualizarDocumento?id=1178840", "sha256": "c458e98664c5c907ddb5a05a94b120bed4e05295b2bfc420f5ba69af0a229abe"}, {"document_id": "891861", "title": "Demonstrações Financeiras", "reference_date": "2025-01-31", "version": "1", "page": 26, "url": "https://fnet.bmfbovespa.com.br/fnet/publico/visualizarDocumento?id=891861", "sha256": "e9cb9e6ddbe505fe068cfcac33605165a98313489de0d3ce6d4d238263c3f3e7"}], "reference": {"path": "history/55563624000109.json", "criterion_id": "hedge", "total_count": 3, "preview_count": 3, "full_text_deferred": true, "sha256": "7835d573fb58a3c19adf5b8ecc2aee2bdbb9a88f7a0c0209b5f262b64c7522e3"}}</a:t>
            </a:r>
          </a:p>
          <a:p>
            <a:r>
              <a:t>CNPJ 62552447000120 · Finalidade e limites de derivativos · Regulamento · ID 1200623 · 21/05/2026 · versão Consolidado21/05/2026 aprovado pelo ato1200625 · p. 14 · AnexoI4.10.1 · https://fnet.bmfbovespa.com.br/fnet/publico/visualizarDocumento?id=1200623</a:t>
            </a:r>
          </a:p>
          <a:p>
            <a:r>
              <a:t>CNPJ 62552447000120 · Finalidade e limites de derivativos · Excerto da fonte:</a:t>
            </a:r>
          </a:p>
          <a:p>
            <a:r>
              <a:t>4.10.1 O uso de derivativos está restrito a operações que visem à proteção patrimonial ou, desde que não resulte em exposição a risco de capital, à troca de indexador e/ou do índice de referência. 4.11 Sem prejuízo de limites mais restritivos definidos neste Regulamento, o Gestor deverá observar, ainda, os seguintes limites de concentração para a composição da Carteira: (i) Até 100% (cem por cento) da parcela do Patrimônio Líquido investida em Direitos Creditórios poderão ser alocados em Direitos Creditórios originados ou cedidos pelo Administrador, Gestor e</a:t>
            </a:r>
          </a:p>
          <a:p>
            <a:r>
              <a:t>CNPJ 62552447000120 · Finalidade e limites de derivativos · Motivo: Cláusula primária localizada e citada, mas sua lista/condições extensas não admitem uma síntese literal curta confirmada. O trecho integral permanece nas fontes.</a:t>
            </a:r>
          </a:p>
          <a:p>
            <a:r>
              <a:t>CNPJ 62552447000120 · Finalidade e limites de derivativos · Versão e prevalência: Leitura específica das cláusulas indicadas; condições e conflitos preservados. Seleção documental atual não comprova vigência jurídica por data isolada.</a:t>
            </a:r>
          </a:p>
          <a:p>
            <a:r>
              <a:t>CNPJ 63953620000165 · Finalidade e limites de derivativos · Anexo ao Regulamento · ID 1222863 · 2026-06-02 · versão 1 · p. 7 · https://fnet.bmfbovespa.com.br/fnet/publico/visualizarDocumento?id=1222863</a:t>
            </a:r>
          </a:p>
          <a:p>
            <a:r>
              <a:t>CNPJ 63953620000165 · Finalidade e limites de derivativos · Excerto da fonte:</a:t>
            </a:r>
          </a:p>
          <a:p>
            <a:r>
              <a:t>Anexo I ao Regulamento  CLASSE CONSIGNADO PRIVADO DO MT GLOBAL FUNDO DE INVESTIMENTO EM DIREITOS  CREDITÓRIOS RESPONSABILIDADE LIMITADA</a:t>
            </a:r>
          </a:p>
          <a:p>
            <a:r>
              <a:t> (i)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 (ii) No máximo, 50% (cinquenta por cento) do Patrimônio Líquido investido em Ativos Financeiros  de Liquidez de emissão ou que envolvam retenção de risco por parte do Administrador, Gestor,  e/ou suas partes relacionadas, observado ainda o disposto acima;</a:t>
            </a:r>
          </a:p>
          <a:p>
            <a:r>
              <a:t> (iii) No máximo, 100% (cem por cento) do Patrimônio Líquido investido em operações com  derivativos nos quais, inexistindo contraparte central, se tenha como contraparte o Gestor,  Consultora e/ou suas partes relacionadas, observado ainda o disposto acima;</a:t>
            </a:r>
          </a:p>
          <a:p>
            <a:r>
              <a:t> (iv) A Classe poderá investir até 100% (cem por cento) de seu Patrimônio Líquido em Direitos  Creditórios Não-Padronizados;</a:t>
            </a:r>
          </a:p>
          <a:p>
            <a:r>
              <a:t> (v) É vedada a aquisição de precatórios federais.</a:t>
            </a:r>
          </a:p>
          <a:p>
            <a:r>
              <a:t>CNPJ 63953620000165 · Finalidade e limites de derivativos · Condição: Documentos atuais selecionados no inventário por categoria/escopo; a data documental isolada não comprova vigência jurídica.</a:t>
            </a:r>
          </a:p>
          <a:p>
            <a:r>
              <a:t>CNPJ 63953620000165 · Finalidade e limites de derivativos · Motivo: Cláusula primária localizada e citada, mas sua lista/condições extensas não admitem uma síntese literal curta confirmada. O trecho integral permanece nas fontes.</a:t>
            </a:r>
          </a:p>
          <a:p>
            <a:r>
              <a:t>CNPJ 63953620000165 · Finalidade e limites de derivativos · Versão e prevalência: Documentos atuais selecionados no inventário por categoria/escopo; a data documental isolada não comprova vigência jurídica.</a:t>
            </a:r>
          </a:p>
          <a:p>
            <a:r>
              <a:t>CNPJ 63953620000165 · Finalidade e limites de derivativos · Resumo do histórico: {"count": 8, "dates": ["2026-04-28", "2026-05-08", "2026-05-15"], "document_count": 3, "sources": [{"document_id": "1327859", "title": "Demonstrações Financeiras - Fusão, cisão e incorporação", "reference_date": "2026-05-15", "version": "1", "page": 26, "url": "https://fnet.bmfbovespa.com.br/fnet/publico/visualizarDocumento?id=1327859", "sha256": "dca1c68babb97f887528c3e2e47596a9c30f507b067981a35655b2f2da9c8054"}, {"document_id": "1298691", "title": "Demonstrações Financeiras - Fusão, cisão e incorporação", "reference_date": "2026-05-08", "version": "1", "page": 26, "url": "https://fnet.bmfbovespa.com.br/fnet/publico/visualizarDocumento?id=1298691", "sha256": "58c570d9b8d4d265330d3db3ea81c435b8e44a6dab4002aa37790652a1ee9819"}, {"document_id": "1282180", "title": "Demonstrações Financeiras - Fusão, cisão e incorporação", "reference_date": "2026-04-28", "version": "1", "page": 27, "url": "https://fnet.bmfbovespa.com.br/fnet/publico/visualizarDocumento?id=1282180", "sha256": "afaaa0e6809be4385e5bdb6c911aac582032c5bdbac3d7750234bf9eaf00438a"}], "reference": {"path": "history/63953620000165.json", "criterion_id": "hedge", "total_count": 8, "preview_count": 3, "full_text_deferred": true, "sha256": "a7b89077f5e21098c2d601c303faabc3ff6b9729f89d8afecdc60fe1404720c1"}}</a:t>
            </a:r>
          </a:p>
          <a:p>
            <a:r>
              <a:t>CNPJ 54871427000194 · Prioridade do hedge e reserva de MTM · Motivo: Não localizada uma cláusula material para este critério nos textos identificados e processados. A ausência de resultado não comprova inexistência da regra.</a:t>
            </a:r>
          </a:p>
          <a:p>
            <a:r>
              <a:t>CNPJ 60010416000112 · Prioridade do hedge e reserva de MTM · Motivo: Não localizada uma cláusula material para este critério nos textos identificados e processados. A ausência de resultado não comprova inexistência da regra.</a:t>
            </a:r>
          </a:p>
          <a:p>
            <a:r>
              <a:t>CNPJ 62696791000193 · Prioridade do hedge e reserva de MTM · Motivo: Não localizada uma cláusula material para este critério nos textos identificados e processados. A ausência de resultado não comprova inexistência da regra.</a:t>
            </a:r>
          </a:p>
          <a:p>
            <a:r>
              <a:t>CNPJ 55563624000109 · Prioridade do hedge e reserva de MTM · Motivo: Não localizada uma cláusula material para este critério nos textos identificados e processados. A ausência de resultado não comprova inexistência da regra.</a:t>
            </a:r>
          </a:p>
          <a:p>
            <a:r>
              <a:t>CNPJ 62552447000120 · Prioridade do hedge e reserva de MTM · Motivo: Não localizada uma cláusula material para este critério nos textos identificados e processados. A ausência de resultado não comprova inexistência da regra.</a:t>
            </a:r>
          </a:p>
          <a:p>
            <a:r>
              <a:t>CNPJ 63953620000165 · Prioridade do hedge e reserva de MTM · Motivo: Não localizada uma cláusula material para este critério nos textos identificados e processados. A ausência de resultado não comprova inexistência da regra.</a:t>
            </a:r>
          </a:p>
          <a:p>
            <a:r>
              <a:t>CNPJ 54871427000194 · Administrador, gestor e custodiante · Regulamento · ID 670691 · 2024-04-28 · versão 1 · p. 1 · 1.1 · https://fnet.bmfbovespa.com.br/fnet/publico/visualizarDocumento?id=670691</a:t>
            </a:r>
          </a:p>
          <a:p>
            <a:r>
              <a:t>CNPJ 54871427000194 · Administrador, gestor e custodiante · Excerto da fonte:</a:t>
            </a:r>
          </a:p>
          <a:p>
            <a:r>
              <a:t>1.1 CONSIGNADO DELTA RECEIVABLES I FUNDO DE INVESTIMENTO EM DIREITOS CREDITÓRIOS  (“FUNDO”), regido pela Lei nº 10.406, de 10 de janeiro de 2002, conf orme alterada (“Código Civil”),  pela parte geral e o Anexo Normativo II da Resolução nº 175, de 23 de dezembro de 2022, conforme  alterada, da Comissão de Valores Mobiliários (respectivamente, “CVM” e “Resolução CVM 175”), terá  como principais características:</a:t>
            </a:r>
          </a:p>
          <a:p>
            <a:r>
              <a:t> Classe de Cotas Classe única.</a:t>
            </a:r>
          </a:p>
          <a:p>
            <a:r>
              <a:t> Indeterminado, exceto se de outra f orma vier a ser deliberado pelos cotistas  Prazo de Duração  reunidos em assembleia geral de cotistas.</a:t>
            </a:r>
          </a:p>
          <a:p>
            <a:r>
              <a:t> BTG Pactual Serviços Financeiros S.A. Distribuidora de Títulos e Valores  Mobiliários, instituição f inanceira, com sede na Cidade e Estado do Rio de  Janeiro, na Praia de Botafogo, nº 501, 5º andar (parte), Torre Corcovado,  ADMINISTRADOR  Botafogo, CEP 22250-040, inscrita no CNPJ sob o nº 59.281.253/0001-23 e  credenciada como administradora de carteira, de acordo com o Ato Declaratório  CVM nº 8.695, de 20 de março de 2006 (“ADMINISTRADOR”).</a:t>
            </a:r>
          </a:p>
          <a:p>
            <a:r>
              <a:t> BTG Pactual Asset Management S.A. Distribuidora de Títulos e Valores  Mobiliários, inscrita no CNPJ/ME sob o nº 29.650.082/0001-00, com sede  Cidade e Estado do Rio de Janeiro, na Praia de Botafogo, n.º 501, 5° andar,  devidamente autorizada à prestação dos serviços de administração de carteira  GESTOR  de títulos e valores mobiliários por meio d o Ato Declaratório número 5.968,  expedido em 10 de maio de 2000 (“GESTOR” e, quando ref erido  conjuntamente e indistintamente com o ADMINISTRADOR, os “Prestadores  de Serviços Essenciais”).</a:t>
            </a:r>
          </a:p>
          <a:p>
            <a:r>
              <a:t> O FUNDO, seus cotistas, os distribuidores de cotas por conta e ordem, seu  GESTOR, seu ADMINISTRADOR e os demais prestadores de serviço do  FUNDO e/ou da CLASSE obrigam-se a resolver, por meio de arbitragem, de  acordo com o Regulamento de Arbitragem da Câmara de Arbitragem do  Mercado da B3 (“Regulamento CAM B3” e “CAM B3”, respectivamente), toda  e qualquer disputa ou controvérsia que possa surgir entre eles, relacionada ou  oriunda, em especial, da aplicação, validade, eficácia, interpretação, violação  e seus ef eitos, das disposições contidas no Regulamento e seus Anexos, nas  normas editadas pela CVM que lhe sejam aplicáveis e nos instrumentos entre  si f irmados (“Arbitragem”).</a:t>
            </a:r>
          </a:p>
          <a:p>
            <a:r>
              <a:t> (i) A Arbitragem será de direito, com a aplicação das normas da República  Federativa do Brasil, terá sede no Município de São Paulo, será  Foro Aplicável conduzida em língua portuguesa e de f orma confidencial. O tribunal  arbitral será constituído por 3 (três) árbitros, sendo um deles  presidente, escolhidos nos termos do Regulamento CAM B3.</a:t>
            </a:r>
          </a:p>
          <a:p>
            <a:r>
              <a:t> (ii) As despesas processuais iniciais deverão ser rateadas entre as partes,  arcando cada polo processual com metade dos valores necessários,  sem prejuízo à possibilidade de adiantamento pelas partes  interessadas, resolvendo-se as indef inições nos termos do  Regulamento CAM B3. A sentença arbitral deverá determinar a  responsabilidade final pelas despesas de acordo com a sucumbência  de cada parte, as quais deverão incluir as taxas administrativas,  honorários de árbitros e de peritos e despesas com diligências  processuais e f ornecimento de garantias que sejam determinadas  expressamente pelo tribunal arbitral. É vedada a imposição de  honorários de sucumbência, bem como a determinação de indenização</a:t>
            </a:r>
          </a:p>
          <a:p>
            <a:r>
              <a:t>CNPJ 54871427000194 · Administrador, gestor e custodiante · Regulamento · ID 670691 · 2024-04-28 · versão 1 · p. 7 · https://fnet.bmfbovespa.com.br/fnet/publico/visualizarDocumento?id=670691</a:t>
            </a:r>
          </a:p>
          <a:p>
            <a:r>
              <a:t>CNPJ 54871427000194 · Administrador, gestor e custodiante · Excerto da fonte:</a:t>
            </a:r>
          </a:p>
          <a:p>
            <a:r>
              <a:t>Banco BTG Pactual S.A., instituição f inanceira, com sede na Cidade e  Estado do Rio de Janeiro, na Praia de Botafogo, nº 501, 5º andar (parte),  Custódia Torre Corcovado, Botafogo, CEP 22250-040, inscrita no CNPJ sob o nº</a:t>
            </a:r>
          </a:p>
          <a:p>
            <a:r>
              <a:t> 30.306.294/0001-45 e credenciado como custodiante, de acordo com o  Ato Declaratório nº 7.204, de 25 de abril de 2003 (“CUSTODIANTE”).</a:t>
            </a:r>
          </a:p>
          <a:p>
            <a:r>
              <a:t> Tesouraria, Controladoria e ADMINISTRADOR.</a:t>
            </a:r>
          </a:p>
          <a:p>
            <a:r>
              <a:t> Escrituração  Subclasses Única.</a:t>
            </a:r>
          </a:p>
          <a:p>
            <a:r>
              <a:t>CNPJ 54871427000194 · Administrador, gestor e custodiante · Regulamento · ID 670691 · 2024-04-28 · versão 1 · p. 38 · https://fnet.bmfbovespa.com.br/fnet/publico/visualizarDocumento?id=670691</a:t>
            </a:r>
          </a:p>
          <a:p>
            <a:r>
              <a:t>CNPJ 54871427000194 · Administrador, gestor e custodiante · Excerto da fonte:</a:t>
            </a:r>
          </a:p>
          <a:p>
            <a:r>
              <a:t>“ADMINISTRADOR”: BTG Pactual Serviços Financeiros S.A. Distribuidora de Títulos e Valores Mobiliários, instituição com sede no Município do Rio de Janeiro, Estado do Rio de Janeiro, à Praia de Botafogo, nº 501, 5º andar – parte, inscrita no CNPJ sob o nº 59.281.253/0001-23, autorizada a funcionar pelo BACEN e autorizada pela CVM para a atividade de administração de carteiras de valores mobiliários, de acordo com o Ato Declaratório nº 8.695, de 20 de março de 2006, ou seu sucessor a qualquer título ;</a:t>
            </a:r>
          </a:p>
          <a:p>
            <a:r>
              <a:t>CNPJ 54871427000194 · Administrador, gestor e custodiante · Condição: Documentos atuais selecionados no inventário por categoria/escopo; a data documental isolada não comprova vigência jurídica.</a:t>
            </a:r>
          </a:p>
          <a:p>
            <a:r>
              <a:t>CNPJ 54871427000194 · Administrador, gestor e custodiante · Versão e prevalência: Documentos atuais selecionados no inventário por categoria/escopo; a data documental isolada não comprova vigência jurídica.</a:t>
            </a:r>
          </a:p>
          <a:p>
            <a:r>
              <a:t>CNPJ 54871427000194 · Administrador, gestor e custodiante · Resumo do histórico: {"count": 2, "dates": ["2024-04-19"], "document_count": 2, "sources": [{"document_id": "670687", "title": "Instrumento Particular de Constituição/Encerramento do Fundo", "reference_date": "2024-04-19", "version": "1", "page": 1, "url": "https://fnet.bmfbovespa.com.br/fnet/publico/visualizarDocumento?id=670687", "sha256": "999f2a47d39f7022b0fcee3d16fd1db33948537b897e92c4c9e14b436bf5eb96"}, {"document_id": "670689", "title": "Regulamento", "reference_date": "2024-04-19", "version": "1", "page": 1, "clause": "1.1", "url": "https://fnet.bmfbovespa.com.br/fnet/publico/visualizarDocumento?id=670689", "sha256": "891bc9bc5d87bbc02ec139077a84d2702eb81ea02035fb71d24f5b8366b94a0b"}], "reference": {"path": "history/54871427000194.json", "criterion_id": "providers", "total_count": 2, "preview_count": 2, "full_text_deferred": true, "sha256": "35d7cd99be50c7287c9fb675cf4f2e736002315295a225a9efa79c8d9186d874"}}</a:t>
            </a:r>
          </a:p>
          <a:p>
            <a:r>
              <a:t>CNPJ 60010416000112 · Administrador, gestor e custodiante · Regulamento · ID 1051393 · 2025-10-09 · versão 1 · p. 8 · https://fnet.bmfbovespa.com.br/fnet/publico/visualizarDocumento?id=1051393</a:t>
            </a:r>
          </a:p>
          <a:p>
            <a:r>
              <a:t>CNPJ 60010416000112 · Administrador, gestor e custodiante · Excerto da fonte:</a:t>
            </a:r>
          </a:p>
          <a:p>
            <a:r>
              <a:t>Tipo de Condomínio Fechado.</a:t>
            </a:r>
          </a:p>
          <a:p>
            <a:r>
              <a:t> Prazo de Duração Indeterminado.</a:t>
            </a:r>
          </a:p>
          <a:p>
            <a:r>
              <a:t> Classe de Investimento  Não.</a:t>
            </a:r>
          </a:p>
          <a:p>
            <a:r>
              <a:t> em Cotas  Tipo “Financeiro”.</a:t>
            </a:r>
          </a:p>
          <a:p>
            <a:r>
              <a:t> Classificação ANBIMA  Foco de atuação “Créditos Consignados”.</a:t>
            </a:r>
          </a:p>
          <a:p>
            <a:r>
              <a:t> O objetivo da classe é proporcionar aos seus Cotistas a valorização de suas Cotas  por meio da aplicação de seu Patrimônio Líquido na aquisição de: (i) Direitos  Creditórios que atendam aos Critérios de Elegibilidade, estabelecidos no Capítulo  4 abaixo, e (ii) Ativos Financeiros de Liquidez, observados todos os limites de  Objetivo composição e diversificação da Carteira da Classe, estabelecidos neste  Regulamento e na regulamentação aplicável.</a:t>
            </a:r>
          </a:p>
          <a:p>
            <a:r>
              <a:t> O objetivo da Classe não representa, sob qualquer hipótese, promessa, garantia  ou sugestão do Fundo ou de seus Prestadores de Serviços Essenciais quanto à  segurança, rentabilidade e liquidez dos títulos integrantes de sua carteira.</a:t>
            </a:r>
          </a:p>
          <a:p>
            <a:r>
              <a:t> Destinado exclusivamente a um único cotista ou grupo de cotistas vinculados por  Público-Alvo  interesse único e indissociável, classificados como Investidores Prof issionais.</a:t>
            </a:r>
          </a:p>
          <a:p>
            <a:r>
              <a:t> Banco BTG Pactual S.A., instituição financeira, com sede no município e Estado  do Rio de Janeiro, na Praia de Botafogo, nº 501, Torre Corcovado, 5º andar (parte),  Custódia e Tesouraria Botafogo, CEP 22.250-040, inscrita no CNPJ sob o nº 30.306.294/0001-45 e  credenciado como custodiante, de acordo com o Ato Declaratório nº 7.204, de 25  de abril de 2003 (“Custodiante”).</a:t>
            </a:r>
          </a:p>
          <a:p>
            <a:r>
              <a:t> Tesouraria,  Controladoria e Administrador.</a:t>
            </a:r>
          </a:p>
          <a:p>
            <a:r>
              <a:t> Escrituração  Subclasses Sênior e Subordinada, nos termos do Capítulo 5 e respectivos Apêndices.</a:t>
            </a:r>
          </a:p>
          <a:p>
            <a:r>
              <a:t> O valor de cada emissão de Cotas, volume e valor unitário da Cota, bem como o  Emissão e Regime de regime de distribuição, seguirão o disposto no instrumento que aprova a emissão  Distribuição de Cotas de Cotas, que disporá acerca da eventual existência de direito de preferência dos  Cotistas.</a:t>
            </a:r>
          </a:p>
          <a:p>
            <a:r>
              <a:t> Capital Autorizado Conf orme previsto nos Apêndices.</a:t>
            </a:r>
          </a:p>
          <a:p>
            <a:r>
              <a:t> As Cotas poderão ser admitidas à negociação em bolsa de valores ou entidade de  Negociação  balcão organizado, conf orme previsto nos Apêndices.</a:t>
            </a:r>
          </a:p>
          <a:p>
            <a:r>
              <a:t> Cálculo do Valor da Cota Conf orme Capítulo 6 deste Anexo e respectivos Apêndices.</a:t>
            </a:r>
          </a:p>
          <a:p>
            <a:r>
              <a:t> A distribuição de quaisquer ganhos e rendimentos da Classe aos Cotistas será  Distribuição de  f eita exclusivamente mediante a amortização e/ou o resgate de Cotas, observado  Proventos  o disposto no Regulamento, neste Anexo e respectivos Apêndices.</a:t>
            </a:r>
          </a:p>
          <a:p>
            <a:r>
              <a:t> Utilização de Ativos Não é permitida a integralização de Cotas, no todo ou em parte, com Direitos BTG Pactual SAC: 0800 772 28 27 - Ouvidoria: 0800 722 00 48 - btgpactual.com 8</a:t>
            </a:r>
          </a:p>
          <a:p>
            <a:r>
              <a:t>CNPJ 60010416000112 · Administrador, gestor e custodiante · Regulamento · ID 1051393 · 2025-10-09 · versão 1 · p. 1 · https://fnet.bmfbovespa.com.br/fnet/publico/visualizarDocumento?id=1051393</a:t>
            </a:r>
          </a:p>
          <a:p>
            <a:r>
              <a:t>CNPJ 60010416000112 · Administrador, gestor e custodiante · Excerto da fonte:</a:t>
            </a:r>
          </a:p>
          <a:p>
            <a:r>
              <a:t>BTG Pactual Asset Management S.A. Distribuidora de Títulos e Valores  Mobiliários, sociedade anônima, com sede no município do Rio de Janeiro,  Estado do Rio de Janeiro, na Praia de Botafogo, nº 501, Torre Corcovado, 5º andar</a:t>
            </a:r>
          </a:p>
          <a:p>
            <a:r>
              <a:t> (parte), CEP 22.250-040, inscrita no CNPJ sob o nº 29.650.082/0001-00,  GESTOR  devidamente credenciada junto à CVM para operar como administradora de  carteira de valores mobiliários nos termos do Ato Declaratório CVM nº 5.968, de  10 de maio de 2000 (“Gestor” e, quando referido conjuntamente e indistintamente  com o Administrador, os “Prestadores de Serviços Essenciais”).</a:t>
            </a:r>
          </a:p>
          <a:p>
            <a:r>
              <a:t>CNPJ 60010416000112 · Administrador, gestor e custodiante · Regulamento · ID 1051393 · 2025-10-09 · versão 1 · p. 45 · https://fnet.bmfbovespa.com.br/fnet/publico/visualizarDocumento?id=1051393</a:t>
            </a:r>
          </a:p>
          <a:p>
            <a:r>
              <a:t>CNPJ 60010416000112 · Administrador, gestor e custodiante · Excerto da fonte:</a:t>
            </a:r>
          </a:p>
          <a:p>
            <a:r>
              <a:t>“Gestor”: a BTG Pactual Asset Management S.A. Distribuidora de Títulos e Valores Mobiliários, sociedade anônima, com sede no município do Rio de Janeiro, Estado do Rio de Janeiro, na Praia de Botafogo, nº 501, Torre Corcovado, 5º andar (parte), CEP 22.250-040, inscrita no CNPJ sob o nº 29.650.082/0001-00, devidamente credenciada junto à CVM para operar como administrador de carteira de valores mobiliários nos termos do Ato Declaratório CVM nº 5.968, de 10 de maio de 2000;</a:t>
            </a:r>
          </a:p>
          <a:p>
            <a:r>
              <a:t>CNPJ 60010416000112 · Administrador, gestor e custodiante · Condição: Documentos atuais selecionados no inventário por categoria/escopo; a data documental isolada não comprova vigência jurídica.</a:t>
            </a:r>
          </a:p>
          <a:p>
            <a:r>
              <a:t>CNPJ 60010416000112 · Administrador, gestor e custodiante · Versão e prevalência: Documentos atuais selecionados no inventário por categoria/escopo; a data documental isolada não comprova vigência jurídica.</a:t>
            </a:r>
          </a:p>
          <a:p>
            <a:r>
              <a:t>CNPJ 60010416000112 · Administrador, gestor e custodiante · Resumo do histórico: {"count": 1, "dates": ["2025-05-12"], "document_count": 1, "sources": [{"document_id": "1004656", "title": "AGE", "reference_date": "2025-05-12", "version": "1", "page": 4, "url": "https://fnet.bmfbovespa.com.br/fnet/publico/visualizarDocumento?id=1004656", "sha256": "f6c9c009f6170e2b29f074b98522accec73f0c40efbf11f9ec2c8d3f1402616b"}], "reference": {"path": "history/60010416000112.json", "criterion_id": "providers", "total_count": 1, "preview_count": 1, "full_text_deferred": true, "sha256": "8e2bd813f4c51cf01f6bfaad164bafe69d2bbb192f753eac92da3a01c2e63046"}}</a:t>
            </a:r>
          </a:p>
          <a:p>
            <a:r>
              <a:t>CNPJ 62696791000193 · Administrador, gestor e custodiante · Regulamento · ID 1143317 · 2026-03-20 · versão 1 · p. 1 · https://fnet.bmfbovespa.com.br/fnet/publico/visualizarDocumento?id=1143317</a:t>
            </a:r>
          </a:p>
          <a:p>
            <a:r>
              <a:t>CNPJ 62696791000193 · Administrador, gestor e custodiante · Excerto da fonte:</a:t>
            </a:r>
          </a:p>
          <a:p>
            <a:r>
              <a:t>BTG Pactual Asset Management S.A. Distribuidora de Títulos e Valores  Mobiliários, com sede no município e Estado do Rio de Janeiro, na Praia de  Botafogo, nº 501, Torre Corcovado, 5º andar (parte), Botafogo, inscrito no  CNPJ sob o nº 29.650.082/0001-00, autorizado à prestação dos serviços de  Gestor  administração de carteira de títulos e valores mobiliários de acordo com o Ato  Declaratório nº 5.968, de 10 de maio de 2000 (“Gestor” e, quando ref erido  conjuntamente com o Administrador, os “Prestadores de Serviços  Essenciais”).</a:t>
            </a:r>
          </a:p>
          <a:p>
            <a:r>
              <a:t>CNPJ 62696791000193 · Administrador, gestor e custodiante · Regulamento · ID 1143317 · 2026-03-20 · versão 1 · p. 1 · https://fnet.bmfbovespa.com.br/fnet/publico/visualizarDocumento?id=1143317</a:t>
            </a:r>
          </a:p>
          <a:p>
            <a:r>
              <a:t>CNPJ 62696791000193 · Administrador, gestor e custodiante · Excerto da fonte:</a:t>
            </a:r>
          </a:p>
          <a:p>
            <a:r>
              <a:t>BTG Pactual Serviços Financeiros S.A. Distribuidora de Títulos e Valores  Mobiliários, sociedade anônima, com sede no município e Estado do Rio de  Janeiro, na Praia de Botafogo, nº 501, 5º andar (parte), Torre Corcovado,  Administrador Botafogo, CEP 22250-040, inscrita no CNPJ sob o nº 59.281.253/0001-23 e  credenciada como Administradora de carteira, de acordo com o Ato Declaratório  CVM nº 8.695, de 20 de março de 2006 (“Administrador”), responsável pela  administração f iduciária.</a:t>
            </a:r>
          </a:p>
          <a:p>
            <a:r>
              <a:t>CNPJ 62696791000193 · Administrador, gestor e custodiante · Regulamento · ID 1143317 · 2026-03-20 · versão 1 · p. 7 · https://fnet.bmfbovespa.com.br/fnet/publico/visualizarDocumento?id=1143317</a:t>
            </a:r>
          </a:p>
          <a:p>
            <a:r>
              <a:t>CNPJ 62696791000193 · Administrador, gestor e custodiante · Excerto da fonte:</a:t>
            </a:r>
          </a:p>
          <a:p>
            <a:r>
              <a:t>Banco BTG Pactual S.A., instituição financeira, com sede no município e  Estado do Rio de Janeiro, na Praia de Botafogo, nº 501, 5º andar (parte),  Custódia e Tesouraria Torre Corcovado, Botafogo, CEP 22250-040, inscrita no CNPJ sob o nº</a:t>
            </a:r>
          </a:p>
          <a:p>
            <a:r>
              <a:t> 30.306.294/0001-45 e credenciada como custodiante, de acordo com o  Ato Declaratório nº 7.204, de 25 de abril de 2003 (“Custodiante”).</a:t>
            </a:r>
          </a:p>
          <a:p>
            <a:r>
              <a:t>CNPJ 62696791000193 · Administrador, gestor e custodiante · Condição: Documentos atuais selecionados no inventário por categoria/escopo; a data documental isolada não comprova vigência jurídica.</a:t>
            </a:r>
          </a:p>
          <a:p>
            <a:r>
              <a:t>CNPJ 62696791000193 · Administrador, gestor e custodiante · Versão e prevalência: Documentos atuais selecionados no inventário por categoria/escopo; a data documental isolada não comprova vigência jurídica.</a:t>
            </a:r>
          </a:p>
          <a:p>
            <a:r>
              <a:t>CNPJ 55563624000109 · Administrador, gestor e custodiante · Regulamento · ID 1192614 · 2026-04-30 · versão 1 · p. 1 · https://fnet.bmfbovespa.com.br/fnet/publico/visualizarDocumento?id=1192614</a:t>
            </a:r>
          </a:p>
          <a:p>
            <a:r>
              <a:t>CNPJ 55563624000109 · Administrador, gestor e custodiante · Excerto da fonte:</a:t>
            </a:r>
          </a:p>
          <a:p>
            <a:r>
              <a:t>Polígono Capital Ltda., sociedade de responsabilidade limitada, com sede no  município e estado de São Paulo, na Avenida Brigadeiro Faria Lima, n° 2601, 12º andar,  Jardim Paulistano, CEP 01452-000, inscrita no CNPJ sob nº 43.241.789/0001-85 e  GESTOR autorizada à prestação do serviço de administração de carteiras de valores mobiliários  pela CVM, de acordo com o Ato Declaratório CVM nº 19.368, expedido em 7 de  dezembro de 2021 (“GESTOR” e, quando referido conjuntamente e indistintamente  com o ADMINISTRADOR, os “Prestadores de Serviços Essenciais”).</a:t>
            </a:r>
          </a:p>
          <a:p>
            <a:r>
              <a:t>CNPJ 55563624000109 · Administrador, gestor e custodiante · Regulamento · ID 1192614 · 2026-04-30 · versão 1 · p. 1 · https://fnet.bmfbovespa.com.br/fnet/publico/visualizarDocumento?id=1192614</a:t>
            </a:r>
          </a:p>
          <a:p>
            <a:r>
              <a:t>CNPJ 55563624000109 · Administrador, gestor e custodiante · Excerto da fonte:</a:t>
            </a:r>
          </a:p>
          <a:p>
            <a:r>
              <a:t>BTG Pactual Serviços Financeiros S.A. Distribuidora de Títulos e Valores Mobiliários,  sociedade anônima, com sede no município e estado do Rio de Janeiro, na Praia de  Botafogo, nº 501, 5º andar (parte), Torre Corcovado, Botafogo, CEP 22250-040, inscrita  ADMINISTRADOR no Cadastro Nacional da Pessoa Jurídica (“CNPJ”) sob o nº 59.281.253/0001-23 e  credenciada como administradora de carteira, de acordo com o Ato Declaratório CVM  nº 8.695, de 20 de março de 2006 (“ADMINISTRADOR”).</a:t>
            </a:r>
          </a:p>
          <a:p>
            <a:r>
              <a:t>CNPJ 55563624000109 · Administrador, gestor e custodiante · Regulamento · ID 1192614 · 2026-04-30 · versão 1 · p. 41 · https://fnet.bmfbovespa.com.br/fnet/publico/visualizarDocumento?id=1192614</a:t>
            </a:r>
          </a:p>
          <a:p>
            <a:r>
              <a:t>CNPJ 55563624000109 · Administrador, gestor e custodiante · Excerto da fonte:</a:t>
            </a:r>
          </a:p>
          <a:p>
            <a:r>
              <a:t>“ADMINISTRADOR”: BTG Pactual Serviços Financeiros S.A. Distribuidora de Títulos e Valores Mobiliários, instituição  com sede no Município do Rio de Janeiro, Estado do Rio de Janeiro, à Praia de Botafogo, nº 501, 5º andar – parte, inscrita  no CNPJ sob o nº 59.281.253/0001-23, autorizada a funcionar pelo BACEN e autorizada pela CVM para a atividade de  administração de carteiras de valores mobiliários, de acordo com o Ato Declaratório nº 8.695, de 20 de março de 2006,  ou seu sucessor a qualquer título;</a:t>
            </a:r>
          </a:p>
          <a:p>
            <a:r>
              <a:t>CNPJ 55563624000109 · Administrador, gestor e custodiante · Condição: Documentos atuais selecionados no inventário por categoria/escopo; a data documental isolada não comprova vigência jurídica.</a:t>
            </a:r>
          </a:p>
          <a:p>
            <a:r>
              <a:t>CNPJ 55563624000109 · Administrador, gestor e custodiante · Versão e prevalência: Documentos atuais selecionados no inventário por categoria/escopo; a data documental isolada não comprova vigência jurídica.</a:t>
            </a:r>
          </a:p>
          <a:p>
            <a:r>
              <a:t>CNPJ 55563624000109 · Administrador, gestor e custodiante · Resumo do histórico: {"count": 6, "dates": ["2024-12-30", "2025-01-31", "2026-01-31"], "document_count": 3, "sources": [{"document_id": "1178840", "title": "Demonstrações Financeiras", "reference_date": "2026-01-31", "version": "1", "page": 3, "url": "https://fnet.bmfbovespa.com.br/fnet/publico/visualizarDocumento?id=1178840", "sha256": "c458e98664c5c907ddb5a05a94b120bed4e05295b2bfc420f5ba69af0a229abe"}, {"document_id": "891861", "title": "Demonstrações Financeiras", "reference_date": "2025-01-31", "version": "1", "page": 11, "url": "https://fnet.bmfbovespa.com.br/fnet/publico/visualizarDocumento?id=891861", "sha256": "e9cb9e6ddbe505fe068cfcac33605165a98313489de0d3ce6d4d238263c3f3e7"}, {"document_id": "811323", "title": "Anúncio de Encerramento", "reference_date": "2024-12-30", "version": "1", "page": 1, "url": "https://fnet.bmfbovespa.com.br/fnet/publico/visualizarDocumento?id=811323", "sha256": "ebc6bc661be5189acffb3c3e352de2aea0a8ca8431011d1237e1ae19da4f9c79"}], "reference": {"path": "history/55563624000109.json", "criterion_id": "providers", "total_count": 6, "preview_count": 3, "full_text_deferred": true, "sha256": "7835d573fb58a3c19adf5b8ecc2aee2bdbb9a88f7a0c0209b5f262b64c7522e3"}}</a:t>
            </a:r>
          </a:p>
          <a:p>
            <a:r>
              <a:t>CNPJ 62552447000120 · Administrador, gestor e custodiante · Regulamento · ID 1200623 · 2026-05-21 · versão 1 · p. 1 · https://fnet.bmfbovespa.com.br/fnet/publico/visualizarDocumento?id=1200623</a:t>
            </a:r>
          </a:p>
          <a:p>
            <a:r>
              <a:t>CNPJ 62552447000120 · Administrador, gestor e custodiante · Excerto da fonte:</a:t>
            </a:r>
          </a:p>
          <a:p>
            <a:r>
              <a:t>BTG Pactual Asset Management S.A. Distribuidora de Títulos e Valores  Mobiliários, sociedade anônima, com sede no município e Estado do Rio de  Janeiro, na Praia de Botafogo, n.º 501, 5º andar (parte), Torre Corcovado, bairro  Botafogo, CEP 22250-040, inscrita no CNPJ sob o n.º 29.650.082/0001-00 e  Gestor  credenciada como administradora de carteira de valores mobiliários , categoria  gestor de recursos, de acordo com o Ato Declaratório CVM n.º 5.968, de 10 de  maio de 2000 (“Gestor” e, quando ref erido conjuntamente e indistintamente  com o Administrador, “Prestadores de Serviços Essenciais”).</a:t>
            </a:r>
          </a:p>
          <a:p>
            <a:r>
              <a:t>CNPJ 62552447000120 · Administrador, gestor e custodiante · Regulamento · ID 1200623 · 2026-05-21 · versão 1 · p. 1 · https://fnet.bmfbovespa.com.br/fnet/publico/visualizarDocumento?id=1200623</a:t>
            </a:r>
          </a:p>
          <a:p>
            <a:r>
              <a:t>CNPJ 62552447000120 · Administrador, gestor e custodiante · Excerto da fonte:</a:t>
            </a:r>
          </a:p>
          <a:p>
            <a:r>
              <a:t>BTG Pactual Serviços Financeiros S.A. Distribuidora de Títulos e Valores  Mobiliários, sociedade anônima, com sede no município e Estado do Rio de  Janeiro, na Praia de Botafogo, n.º 501, 5º andar (parte), Torre Corcovado, bairro  Administrador Botafogo, CEP 22250-040, inscrita no CNPJ sob o n.º 59.281.253/0001-23 e  credenciada como administradora de carteira de valores mobiliários, categoria  administrador fiduciário, de acordo com o Ato Declaratório CVM n.º 8.695, de 20  de março de 2006 (“Administrador”).</a:t>
            </a:r>
          </a:p>
          <a:p>
            <a:r>
              <a:t>CNPJ 62552447000120 · Administrador, gestor e custodiante · Instrumento Particular de Alteração do Regulamento · ID 1200625 · 2026-05-21 · versão 1 · p. 1 · https://fnet.bmfbovespa.com.br/fnet/publico/visualizarDocumento?id=1200625</a:t>
            </a:r>
          </a:p>
          <a:p>
            <a:r>
              <a:t>CNPJ 62552447000120 · Administrador, gestor e custodiante · Excerto da fonte:</a:t>
            </a:r>
          </a:p>
          <a:p>
            <a:r>
              <a:t>A Administradora, BTG PACTUAL SERVIÇOS FINANCEIROS S.A. DTVM, com  sede na Praia de Botafogo, n.º 501, 5º andar (parte), na Cidade e Estado do Rio de  Janeiro, e inscrita no CNPJ sob o número 59.281.253/0001-23, na qualidade de  administradora da V CDT 1 FUNDO DE INVESTIMENTO EM DIREITOS  CREDITÓRIOS RESPONSABILIDADE LIMITADA, inscrita no CNPJ/MF sob o  número 62.552.447/0001-20 ("Classe"), serve-se da presente para:</a:t>
            </a:r>
          </a:p>
          <a:p>
            <a:r>
              <a:t>CNPJ 62552447000120 · Administrador, gestor e custodiante · Condição: Documentos atuais selecionados no inventário por categoria/escopo; a data documental isolada não comprova vigência jurídica.</a:t>
            </a:r>
          </a:p>
          <a:p>
            <a:r>
              <a:t>CNPJ 62552447000120 · Administrador, gestor e custodiante · Versão e prevalência: Documentos atuais selecionados no inventário por categoria/escopo; a data documental isolada não comprova vigência jurídica.</a:t>
            </a:r>
          </a:p>
          <a:p>
            <a:r>
              <a:t>CNPJ 62552447000120 · Administrador, gestor e custodiante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"providers", "total_count": 1, "preview_count": 1, "full_text_deferred": true, "sha256": "d95db8c0613d67ee84118c734588665265ea6b02f86a0318d6a844cbe1d0f82f"}}</a:t>
            </a:r>
          </a:p>
          <a:p>
            <a:r>
              <a:t>CNPJ 63953620000165 · Administrador, gestor e custodiante · Anexo ao Regulamento · ID 1222863 · 2026-06-02 · versão 1 · p. 2 · https://fnet.bmfbovespa.com.br/fnet/publico/visualizarDocumento?id=1222863</a:t>
            </a:r>
          </a:p>
          <a:p>
            <a:r>
              <a:t>CNPJ 63953620000165 · Administrador, gestor e custodiante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Administrador, gestor e custodiante · Condição: Documentos atuais selecionados no inventário por categoria/escopo; a data documental isolada não comprova vigência jurídica.</a:t>
            </a:r>
          </a:p>
          <a:p>
            <a:r>
              <a:t>CNPJ 63953620000165 · Administrador, gestor e custodiante · Motivo: Cláusula primária localizada e citada, mas sua lista/condições extensas não admitem uma síntese literal curta confirmada. O trecho integral permanece nas fontes.</a:t>
            </a:r>
          </a:p>
          <a:p>
            <a:r>
              <a:t>CNPJ 63953620000165 · Administrador, gestor e custodiante · Versão e prevalência: Documentos atuais selecionados no inventário por categoria/escopo; a data documental isolada não comprova vigência jurídica.</a:t>
            </a:r>
          </a:p>
          <a:p>
            <a:r>
              <a:t>CNPJ 63953620000165 · Administrador, gestor e custodiante · Resumo do histórico: {"count": 8, "dates": ["2026-04-28", "2026-05-08", "2026-05-15"], "document_count": 3, "sources": [{"document_id": "1327859", "title": "Demonstrações Financeiras - Fusão, cisão e incorporação", "reference_date": "2026-05-15", "version": "1", "page": 9, "url": "https://fnet.bmfbovespa.com.br/fnet/publico/visualizarDocumento?id=1327859", "sha256": "dca1c68babb97f887528c3e2e47596a9c30f507b067981a35655b2f2da9c8054"}, {"document_id": "1298691", "title": "Demonstrações Financeiras - Fusão, cisão e incorporação", "reference_date": "2026-05-08", "version": "1", "page": 9, "url": "https://fnet.bmfbovespa.com.br/fnet/publico/visualizarDocumento?id=1298691", "sha256": "58c570d9b8d4d265330d3db3ea81c435b8e44a6dab4002aa37790652a1ee9819"}, {"document_id": "1282180", "title": "Demonstrações Financeiras - Fusão, cisão e incorporação", "reference_date": "2026-04-28", "version": "1", "page": 9, "url": "https://fnet.bmfbovespa.com.br/fnet/publico/visualizarDocumento?id=1282180", "sha256": "afaaa0e6809be4385e5bdb6c911aac582032c5bdbac3d7750234bf9eaf00438a"}], "reference": {"path": "history/63953620000165.json", "criterion_id": "providers", "total_count": 8, "preview_count": 3, "full_text_deferred": true, "sha256": "a7b89077f5e21098c2d601c303faabc3ff6b9729f89d8afecdc60fe1404720c1"}}</a:t>
            </a:r>
          </a:p>
          <a:p>
            <a:r>
              <a:t>CNPJ 54871427000194 · Substituição de prestadores · Motivo: Não localizada uma cláusula material para este critério nos textos identificados e processados. A ausência de resultado não comprova inexistência da regra.</a:t>
            </a:r>
          </a:p>
          <a:p>
            <a:r>
              <a:t>CNPJ 60010416000112 · Substituição de prestadores · Regulamento · ID 1051393 · 2025-10-09 · versão 1 · p. 3 · 1.8 · https://fnet.bmfbovespa.com.br/fnet/publico/visualizarDocumento?id=1051393</a:t>
            </a:r>
          </a:p>
          <a:p>
            <a:r>
              <a:t>CNPJ 60010416000112 · Substituição de prestadores · Excerto da fonte:</a:t>
            </a:r>
          </a:p>
          <a:p>
            <a:r>
              <a:t>1.8. Os Cotistas, o Administrador, o Gestor e o Agente de  Retenção/Cobrança estão plenamente conscientes dos termos e efeitos  desta cláusula compromissória e concordam irrevogavelmente que a  arbitragem será a única f orma de resolução de disputas relacionada a  este Regulamento. Sem prejuízo da validade desta cláusula  compromissória, as partes elegem o foro da comarca do Rio de Janeiro,  estado do Rio de Janeiro, com a renúncia expressa a qualquer outra, se  e quando isso f or necessário para fins de: (i) executar as obrigações para  as quais haja disponibilidade imediata de execução judicial; (ii) obter  ordens de execução específica ou liminares de caráter preventivo,  temporário ou permanente, tais como a prestação de caução para um  processo arbitral iniciado ou em andamento entre as partes da  arbitragem e/ou assegurar a existência e ef icácia do processo arbitral;</a:t>
            </a:r>
          </a:p>
          <a:p>
            <a:r>
              <a:t> e/ou (iii) apresentar um pedido de execução específica ou outra ordem,  sendo certo que, uma vez obtida a execução específica ou outra ordem,  o Tribunal Arbitral a ser instituído ou que já esteja instituído, conforme o  caso, assumirá a competência plena e exclusiva para decidir sobre toda  e qualquer questão, quer relacionada ao processo ou ao mérito, que  possa ter dado origem à ordem ou execução específica solicitada, e o  respectivo processo será suspenso até que o Tribunal Arbitral profira  uma decisão parcial ou def initiva sobre a questão. A propositura de  qualquer ação judicial de acordo com este item não resultará em  renúncia à arbitragem ou à competência da Câmara.</a:t>
            </a:r>
          </a:p>
          <a:p>
            <a:r>
              <a:t>CNPJ 60010416000112 · Substituição de prestadores · Condição: Documentos atuais selecionados no inventário por categoria/escopo; a data documental isolada não comprova vigência jurídica.</a:t>
            </a:r>
          </a:p>
          <a:p>
            <a:r>
              <a:t>CNPJ 60010416000112 · Substituição de prestadores · Motivo: Cláusula primária localizada e citada, mas sua lista/condições extensas não admitem uma síntese literal curta confirmada. O trecho integral permanece nas fontes.</a:t>
            </a:r>
          </a:p>
          <a:p>
            <a:r>
              <a:t>CNPJ 60010416000112 · Substituição de prestadores · Versão e prevalência: Documentos atuais selecionados no inventário por categoria/escopo; a data documental isolada não comprova vigência jurídica.</a:t>
            </a:r>
          </a:p>
          <a:p>
            <a:r>
              <a:t>CNPJ 60010416000112 · Substituição de prestadores · Resumo do histórico: {"count": 1, "dates": ["2025-03-20"], "document_count": 1, "sources": [{"document_id": "993786", "title": "Regulamento", "reference_date": "2025-03-20", "version": "1", "page": 3, "clause": "1.8", "url": "https://fnet.bmfbovespa.com.br/fnet/publico/visualizarDocumento?id=993786", "sha256": "fd0fdd369a195510d81f81f505195a0b09e5f43522a990afa7d58c4f872921c8"}], "reference": {"path": "history/60010416000112.json", "criterion_id": "replacement", "total_count": 1, "preview_count": 1, "full_text_deferred": true, "sha256": "8e2bd813f4c51cf01f6bfaad164bafe69d2bbb192f753eac92da3a01c2e63046"}}</a:t>
            </a:r>
          </a:p>
          <a:p>
            <a:r>
              <a:t>CNPJ 62696791000193 · Substituição de prestadores · Regulamento · ID 1143317 · 2026-03-20 · versão 1 · p. 26 · 12.10 · https://fnet.bmfbovespa.com.br/fnet/publico/visualizarDocumento?id=1143317</a:t>
            </a:r>
          </a:p>
          <a:p>
            <a:r>
              <a:t>CNPJ 62696791000193 · Substituição de prestadores · Excerto da fonte:</a:t>
            </a:r>
          </a:p>
          <a:p>
            <a:r>
              <a:t>12.10 Na hipótese de renúncia, o Administrador fica obrigado a permanecer no exercício de suas funções até  a averbação, no cartório de registro de imóveis, nas matrículas referentes aos bens imóveis e direitos  integrantes da carteira de ativos, da ata da assembleia de Cotistas que eleger seu substituto e sucessor  na propriedade f iduciária desses bens e direitos.</a:t>
            </a:r>
          </a:p>
          <a:p>
            <a:r>
              <a:t>CNPJ 62696791000193 · Substituição de prestadores · Regulamento · ID 1143317 · 2026-03-20 · versão 1 · p. 26 · 12.10.1 · https://fnet.bmfbovespa.com.br/fnet/publico/visualizarDocumento?id=1143317</a:t>
            </a:r>
          </a:p>
          <a:p>
            <a:r>
              <a:t>CNPJ 62696791000193 · Substituição de prestadores · Excerto da fonte:</a:t>
            </a:r>
          </a:p>
          <a:p>
            <a:r>
              <a:t>12.10.1 É f acultado aos Cotistas que detenham ao menos 5% (cinco por cento) das Cotas emitidas, a  convocação da assembleia de Cotistas prevista no item 12.4 acima, caso o Administrador não  a convoque, no prazo de 10 (dez) dias contados da renúncia.</a:t>
            </a:r>
          </a:p>
          <a:p>
            <a:r>
              <a:t>CNPJ 62696791000193 · Substituição de prestadores · Condição: Documentos atuais selecionados no inventário por categoria/escopo; a data documental isolada não comprova vigência jurídica.</a:t>
            </a:r>
          </a:p>
          <a:p>
            <a:r>
              <a:t>CNPJ 62696791000193 · Substituição de prestadores · Versão e prevalência: Documentos atuais selecionados no inventário por categoria/escopo; a data documental isolada não comprova vigência jurídica.</a:t>
            </a:r>
          </a:p>
          <a:p>
            <a:r>
              <a:t>CNPJ 55563624000109 · Substituição de prestadores · Motivo: Não localizada uma cláusula material para este critério nos textos identificados e processados. A ausência de resultado não comprova inexistência da regra.</a:t>
            </a:r>
          </a:p>
          <a:p>
            <a:r>
              <a:t>CNPJ 62552447000120 · Substituição de prestadores · Motivo: Não localizada uma cláusula material para este critério nos textos identificados e processados. A ausência de resultado não comprova inexistência da regra.</a:t>
            </a:r>
          </a:p>
          <a:p>
            <a:r>
              <a:t>CNPJ 63953620000165 · Substituição de prestadores · Anexo ao Regulamento · ID 1222863 · 2026-06-02 · versão 1 · p. 15 · https://fnet.bmfbovespa.com.br/fnet/publico/visualizarDocumento?id=1222863</a:t>
            </a:r>
          </a:p>
          <a:p>
            <a:r>
              <a:t>CNPJ 63953620000165 · Substituição de prestadores · Excerto da fonte:</a:t>
            </a:r>
          </a:p>
          <a:p>
            <a:r>
              <a:t>Anexo I ao Regulamento  CLASSE CONSIGNADO PRIVADO DO MT GLOBAL FUNDO DE INVESTIMENTO EM DIREITOS  CREDITÓRIOS RESPONSABILIDADE LIMITADA</a:t>
            </a:r>
          </a:p>
          <a:p>
            <a:r>
              <a:t> (vii) inobservância pelo Administrador, pelo Custodiante e/ou pelo Gestor de seus deveres e obrigações  previstos neste Regulamento, bem como suas atribuições específicas nos outros contratos existentes  referentes ao funcionamento da Classe, verificada pelo Administrador, pelo Custodiante e/ou pelo  Gestor ou por qualquer dos Cotistas, desde que, uma vez notificados para sanar ou justificar o  descumprimento, o Administrador, o Custodiante e/ou o Gestor, conforme o caso, não o sane no prazo  de 5 (cinco) Dias Úteis contados do recebimento da referida notificação;</a:t>
            </a:r>
          </a:p>
          <a:p>
            <a:r>
              <a:t> (viii) aquisição, pela Classe, de Direitos Creditórios que estejam em desacordo com as Condições de Cessão e  os Critérios de Elegibilidade previstos neste Regulamento no momento de sua aquisição;</a:t>
            </a:r>
          </a:p>
          <a:p>
            <a:r>
              <a:t> (ix) alteração na classificação de risco das Cotas, se houver, que, para qualquer dado período após a  classificação de risco inicial das Cotas e/ou após a deliberação da Assembleia Especial de Cotistas a  respeito de um rebaixamento da classificação de risco das Cotas, implique no rebaixamento de dois  níveis na escala de risco pertinente elaborada pela Agência Classificadora de Risco; e/ou</a:t>
            </a:r>
          </a:p>
          <a:p>
            <a:r>
              <a:t> (x) renúncia do Gestor, sem que tenham sido tomadas tempestivamente as providências previstas no  CAPÍTULO 2 da parte geral deste Regulamento;</a:t>
            </a:r>
          </a:p>
          <a:p>
            <a:r>
              <a:t> (xi) no caso de o Contrato de Endosso celebrado com o Endossante, por qualquer razão, (a) seja declarado  inválido, nulo ou ineficaz por ordem judicial e/ou qualquer autoridade governamental; ou (b) tenha sua  validade ou eficácia, total ou parcialmente, contestada pelo Endossante, judicial ou administrativamente</a:t>
            </a:r>
          </a:p>
          <a:p>
            <a:r>
              <a:t> (xii) em caso de não renovação, cancelamento, revogação ou suspensão de concessões, autorizações,  subvenções, autorizações ou licenças, relevantes para o exercício regular dos negócios realizados pelo  Endossante, incluindo o Convênio Consignado Privado, e as autorizações regulatórias concedidas pelo  Banco Central, observado, caso aplicável, os prazos de cura dispostos no Contrato de Endosso;</a:t>
            </a:r>
          </a:p>
          <a:p>
            <a:r>
              <a:t> (xiii) no caso de o Endossante ou o Agente de Retenção/Cobrança e/ou seus acionistas controladores diretos  e/ou indiretos (pessoas físicas ou jurídicas), quotistas, diretores, conselheiros e/ou representantes e  colaboradores do Endossante ou seus acionistas controladores, (a) terem contra si uma decisão judicial  transitada em julgado envolvendo (1) crimes contra a propriedade, (2) crimes de falsificação, (3) crimes  contra o sistema financeiro nacional, (4) crimes contra o mercado de capitais, (5) crimes contra a  seguridade social, (6) crimes contra as relações de consumo e (7) crimes previstos na lei de falências;</a:t>
            </a:r>
          </a:p>
          <a:p>
            <a:r>
              <a:t> e/ou (b) violar as normas anticorrupção aplicáveis, especialmente a Lei nº 9.613, de 3 de março de 1998,  conforme alterada ou substituída de tempos em tempos, e qualquer outra a que estejam sujeitos, quer  contratual ou legalmente, desde que a violação mencionada seja considerada como, especialmente, mas  não limitada a (1) financiamento, crédito, patrocínio ou outra forma de subvenção à prática de atos  ilícitos previstos na legislação anticorrupção, de combate à lavagem de dinheiro, organizações  antissociais e/ou crime organizado; (2) promessa, oferta ou entrega, direta ou indiretamente, de  qualquer objeto de valor a um funcionário público ou terceiros para obter ou manter negócios ou para  obter qualquer vantagem indevida; (3) aceitação ou compromisso de aceitar, de quem quer que seja,  por si ou por outrem, qualquer pagamento, doação, compensação, vantagens financeiras ou não  financeiras ou benefícios de qualquer tipo, direta ou indiretamente relacionados com o objeto da Classe,  que constituam uma prática ilegal, que violem as boas condutas, a ética, a moral e constitua corrupção  nos termos das leis dos países da sede e onde existam filiais das partes envolvidas, das partes  contratantes; e</a:t>
            </a:r>
          </a:p>
          <a:p>
            <a:r>
              <a:t> (xiv) caso o cotista das Cotas Subordinadas deixe de ser titular das Cotas Subordinadas durante todo prazo  de duração da Classe;</a:t>
            </a:r>
          </a:p>
          <a:p>
            <a:r>
              <a:t> (xv) no caso de não serem realizados pagamentos de amortização e/ou resgate de Cotas Seniores, nos  termos, prazos e condições previstos no presente Regulamento e nos respectivos Apêndices e  Suplementos, não sanados em até 2 (dois) Dias Úteis contados do prazo final do respectivo evento;</a:t>
            </a:r>
          </a:p>
          <a:p>
            <a:r>
              <a:t> (xvi) no caso de pagamento de resgate e/ou amortização de Cotas Subordinadas em desacordo com os  termos, prazos e condições previstos no presente Regulamento e no respectivo Apêndice.</a:t>
            </a:r>
          </a:p>
          <a:p>
            <a:r>
              <a:t>CNPJ 63953620000165 · Substituição de prestadores · Condição: Documentos atuais selecionados no inventário por categoria/escopo; a data documental isolada não comprova vigência jurídica.</a:t>
            </a:r>
          </a:p>
          <a:p>
            <a:r>
              <a:t>CNPJ 63953620000165 · Substituição de prestadores · Motivo: Cláusula primária localizada e citada, mas sua lista/condições extensas não admitem uma síntese literal curta confirmada. O trecho integral permanece nas fontes.</a:t>
            </a:r>
          </a:p>
          <a:p>
            <a:r>
              <a:t>CNPJ 63953620000165 · Substituição de prestadores · Versão e prevalência: Documentos atuais selecionados no inventário por categoria/escopo; a data documental isolada não comprova vigência jurídica.</a:t>
            </a:r>
          </a:p>
          <a:p>
            <a:r>
              <a:t>CNPJ 54871427000194 · Rating por subclasse e downgrade · Regulamento · ID 670691 · 28/04/2024 · versão Regulamento — referência 28/04/2024 · p. 15 · Anexo I, 5.12 · https://fnet.bmfbovespa.com.br/fnet/publico/visualizarDocumento?id=670691</a:t>
            </a:r>
          </a:p>
          <a:p>
            <a:r>
              <a:t>CNPJ 54871427000194 · Rating por subclasse e downgrade · Excerto da fonte:</a:t>
            </a:r>
          </a:p>
          <a:p>
            <a:r>
              <a:t>5.12 As Cotas não serão classificadas por Agência Classificadora de Risco em funcionamento no País, uma vez que a Classe não será destinada ao público em geral. CAPÍTULO 6 – ATRIBUIÇÃO DE RESULTADO ÀS COTAS E CÁLCULO DO VALOR UNITÁRIO 6.1 As Cotas terão seu Valor Unitário calculado e divulgado pelo ADMINISTRADOR mensalmente, no último Dia Útil de cada mês, no fechamento dos mercados, a partir do mês seguinte à Data da 1ª Integralização e até a data de resgate das Cotas ou na data de liquidação da Classe Única, conforme o caso. 6.2 A partir da Data da 1ª Integralização de Cotas, o Valor Unitário das Cotas s erá calculado no fechamento do último Dia Útil de cada mês, equivalerá ao resultado da divisão do valor do Patrimônio Líquido apurado para o respectivo dia, pelo número de Cotas em circulação na respectiva data de cálculo . CAPÍTULO 7 – AMORTIZAÇÃO E RESGATE DAS COTAS 7.1 A distribuição de quaisquer ganhos e rendimentos d a Classe aos Cotistas será f eita exclusivamente mediante a Amortização e/ou o resgate de Cotas, observado o disposto neste Capítulo. 7.2 As amortizações de Cotas serão realizadas a qualquer tempo, a critério do GESTOR, observada a disponibilidade de recursos da Classe Única e a</a:t>
            </a:r>
          </a:p>
          <a:p>
            <a:r>
              <a:t>CNPJ 54871427000194 · Rating por subclasse e downgrade · Versão e prevalência: Leitura específica das cláusulas indicadas; condições e conflitos preservados. Seleção documental atual não comprova vigência jurídica por data isolada.</a:t>
            </a:r>
          </a:p>
          <a:p>
            <a:r>
              <a:t>CNPJ 54871427000194 · Rating por subclasse e downgrade · Resumo do histórico: {"count": 5, "dates": ["2024-12-31", "2025-01-01", "2025-12-31"], "document_count": 3, "sources": [{"document_id": "1151805", "title": "Demonstrações Financeiras", "reference_date": "2025-12-31", "version": "1", "page": 25, "url": "https://fnet.bmfbovespa.com.br/fnet/publico/visualizarDocumento?id=1151805", "sha256": "f1cea70b152968bf96ef9221b27225953cb20aeef487b2798db3c25e11b528d4"}, {"document_id": "869529", "title": "Demonstrações Financeiras", "reference_date": "2025-01-01", "version": "1", "page": 25, "url": "https://fnet.bmfbovespa.com.br/fnet/publico/visualizarDocumento?id=869529", "sha256": "9a93a9369ac8efdbc54ff8fcee3ccac3abf88edab4807b9323d3852450771b2a"}, {"document_id": "870070", "title": "Demonstrações Financeiras", "reference_date": "2024-12-31", "version": "1", "page": 25, "url": "https://fnet.bmfbovespa.com.br/fnet/publico/visualizarDocumento?id=870070", "sha256": "9a93a9369ac8efdbc54ff8fcee3ccac3abf88edab4807b9323d3852450771b2a"}], "reference": {"path": "history/54871427000194.json", "criterion_id": "rating", "total_count": 5, "preview_count": 3, "full_text_deferred": true, "sha256": "35d7cd99be50c7287c9fb675cf4f2e736002315295a225a9efa79c8d9186d874"}}</a:t>
            </a:r>
          </a:p>
          <a:p>
            <a:r>
              <a:t>CNPJ 60010416000112 · Rating por subclasse e downgrade · Demonstrações Financeiras - Fusão, cisão e incorporação · ID 1298690 · 2026-05-08 · versão 1 · p. 35 · https://fnet.bmfbovespa.com.br/fnet/publico/visualizarDocumento?id=1298690</a:t>
            </a:r>
          </a:p>
          <a:p>
            <a:r>
              <a:t>CNPJ 60010416000112 · Rating por subclasse e downgrade · Excerto da fonte:</a:t>
            </a:r>
          </a:p>
          <a:p>
            <a:r>
              <a:t>As Cotas Seniores poderão ser objeto de classificação de risco (rating) por Agência  Classificadora de Risco em funcionamento no país.</a:t>
            </a:r>
          </a:p>
          <a:p>
            <a:r>
              <a:t>CNPJ 60010416000112 · Rating por subclasse e downgrade · Condição: Documentos atuais selecionados no inventário por categoria/escopo; a data documental isolada não comprova vigência jurídica.</a:t>
            </a:r>
          </a:p>
          <a:p>
            <a:r>
              <a:t>CNPJ 60010416000112 · Rating por subclasse e downgrade · Versão e prevalência: Documentos atuais selecionados no inventário por categoria/escopo; a data documental isolada não comprova vigência jurídica.</a:t>
            </a:r>
          </a:p>
          <a:p>
            <a:r>
              <a:t>CNPJ 60010416000112 · Rating por subclasse e downgrade · Resumo do histórico: {"count": 5, "dates": ["2025-11-30", "2026-03-18", "2026-04-16"], "document_count": 3, "sources": [{"document_id": "1282181", "title": "Demonstrações Financeiras - Fusão, cisão e incorporação", "reference_date": "2026-04-16", "version": "1", "page": 38, "url": "https://fnet.bmfbovespa.com.br/fnet/publico/visualizarDocumento?id=1282181", "sha256": "b1c6566e43a00bcd00c8a7f30c77b7f86e351bd8e355bbea113f46d1dafda703"}, {"document_id": "1224477", "title": "Demonstrações Financeiras - Fusão, cisão e incorporação", "reference_date": "2026-03-18", "version": "1", "page": 37, "url": "https://fnet.bmfbovespa.com.br/fnet/publico/visualizarDocumento?id=1224477", "sha256": "0751bf0a75bc3b44c2748f5000226665c6ec6698a90c4dc6170b4e6c187759ae"}, {"document_id": "1126154", "title": "Demonstrações Financeiras", "reference_date": "2025-11-30", "version": "1", "page": 38, "url": "https://fnet.bmfbovespa.com.br/fnet/publico/visualizarDocumento?id=1126154", "sha256": "a01e7ccf88c548f12c95cba8526d7efbef6b585c112cd4668eca781c292090b0"}], "reference": {"path": "history/60010416000112.json", "criterion_id": "rating", "total_count": 5, "preview_count": 3, "full_text_deferred": true, "sha256": "8e2bd813f4c51cf01f6bfaad164bafe69d2bbb192f753eac92da3a01c2e63046"}}</a:t>
            </a:r>
          </a:p>
          <a:p>
            <a:r>
              <a:t>CNPJ 62696791000193 · Rating por subclasse e downgrade · Regulamento · ID 1143317 · 2026-03-20 · versão 1 · p. 3 · 2.1.2 · https://fnet.bmfbovespa.com.br/fnet/publico/visualizarDocumento?id=1143317</a:t>
            </a:r>
          </a:p>
          <a:p>
            <a:r>
              <a:t>CNPJ 62696791000193 · Rating por subclasse e downgrade · Excerto da fonte:</a:t>
            </a:r>
          </a:p>
          <a:p>
            <a:r>
              <a:t>2.1.2 Não obstante as atribuições previstas neste Regulamento e na regulamentação aplicável, cabe  ao Gestor praticar os atos necessários à gestão da carteira de ativos do Fundo, o que inclui,  mas não se limita, à contratação, em nome do Fundo ou da classe de cot as, dos seguintes  serviços: (a) intermediação de operações para carteira de ativos; (b) distribuição de cotas; (c)  consultoria de investimentos ou consultoria especializada; (d) classificação de risco por agência  de classificação de risco de crédito; (e) f ormador de mercado de classe f echada; (f ) cogestão  da carteira de ativos; (g) empresa especializada para administrar as locações ou arrendamentos  de imóveis rurais e a exploração do direito de superf ície, assim como para monitorar e</a:t>
            </a:r>
          </a:p>
          <a:p>
            <a:r>
              <a:t>CNPJ 62696791000193 · Rating por subclasse e downgrade · Regulamento · ID 1143317 · 2026-03-20 · versão 1 · p. 36 · 1.2 · https://fnet.bmfbovespa.com.br/fnet/publico/visualizarDocumento?id=1143317</a:t>
            </a:r>
          </a:p>
          <a:p>
            <a:r>
              <a:t>CNPJ 62696791000193 · Rating por subclasse e downgrade · Excerto da fonte:</a:t>
            </a:r>
          </a:p>
          <a:p>
            <a:r>
              <a:t>1.2. As Cotas Subordinadas Juniores serão subscritas e integralizadas por um único Cotista e/ou por Cotistas  vinculados por interesse único e indissociável, de forma que serão objeto de colocação privada, nos termos  do Compromisso de Investimento a ser f irmado pelo Cotista, dispensadas da classificação de risco e não  terão parâmetro de remuneração def inido.</a:t>
            </a:r>
          </a:p>
          <a:p>
            <a:r>
              <a:t>2. Emissão, Subscrição e Integralização das Cotas</a:t>
            </a:r>
          </a:p>
          <a:p>
            <a:r>
              <a:t>CNPJ 62696791000193 · Rating por subclasse e downgrade · Condição: Documentos atuais selecionados no inventário por categoria/escopo; a data documental isolada não comprova vigência jurídica.</a:t>
            </a:r>
          </a:p>
          <a:p>
            <a:r>
              <a:t>CNPJ 62696791000193 · Rating por subclasse e downgrade · Versão e prevalência: Documentos atuais selecionados no inventário por categoria/escopo; a data documental isolada não comprova vigência jurídica.</a:t>
            </a:r>
          </a:p>
          <a:p>
            <a:r>
              <a:t>CNPJ 55563624000109 · Rating por subclasse e downgrade · Regulamento · ID 1192614 · 30/04/2026 · versão Regulamento30/04/2026 · p. 44 · GlossárioTermo de Adesão · https://fnet.bmfbovespa.com.br/fnet/publico/visualizarDocumento?id=1192614</a:t>
            </a:r>
          </a:p>
          <a:p>
            <a:r>
              <a:t>CNPJ 55563624000109 · Rating por subclasse e downgrade · Excerto da fonte:</a:t>
            </a:r>
          </a:p>
          <a:p>
            <a:r>
              <a:t>Termo de Adesão”: documento elaborado nos termos do art. 29 da Resolução CVM 175, por meio do qual o Cotista adere a este Regulamento e que deve ser firmado quando de seu ingresso no FUNDO, declarando, inclusive, sem se limitar a, ter pleno conhecimento dos riscos envolvidos na operação, inclusive da possibilidade de perda total do capital investido, e da ausência de classificação de risco das Cotas subscritas; “Valor Unitário”: o valor individual das Cotas, equivalente a R$ 1.000,00 (um mil), na primeira Data de Emissão, calculado todo Dia Útil para efeito da definição de seu valor de integralização e</a:t>
            </a:r>
          </a:p>
          <a:p>
            <a:r>
              <a:t>CNPJ 55563624000109 · Rating por subclasse e downgrade · Versão e prevalência: Leitura específica das cláusulas indicadas; condições e conflitos preservados. Seleção documental atual não comprova vigência jurídica por data isolada.</a:t>
            </a:r>
          </a:p>
          <a:p>
            <a:r>
              <a:t>CNPJ 55563624000109 · Rating por subclasse e downgrade · Resumo do histórico: {"count": 2, "dates": ["2025-01-31", "2026-01-31"], "document_count": 2, "sources": [{"document_id": "1178840", "title": "Demonstrações Financeiras", "reference_date": "2026-01-31", "version": "1", "page": 22, "url": "https://fnet.bmfbovespa.com.br/fnet/publico/visualizarDocumento?id=1178840", "sha256": "c458e98664c5c907ddb5a05a94b120bed4e05295b2bfc420f5ba69af0a229abe"}, {"document_id": "891861", "title": "Demonstrações Financeiras", "reference_date": "2025-01-31", "version": "1", "page": 23, "url": "https://fnet.bmfbovespa.com.br/fnet/publico/visualizarDocumento?id=891861", "sha256": "e9cb9e6ddbe505fe068cfcac33605165a98313489de0d3ce6d4d238263c3f3e7"}], "reference": {"path": "history/55563624000109.json", "criterion_id": "rating", "total_count": 2, "preview_count": 2, "full_text_deferred": true, "sha256": "7835d573fb58a3c19adf5b8ecc2aee2bdbb9a88f7a0c0209b5f262b64c7522e3"}}</a:t>
            </a:r>
          </a:p>
          <a:p>
            <a:r>
              <a:t>CNPJ 62552447000120 · Rating por subclasse e downgrade · Regulamento · ID 1200623 · 21/05/2026 · versão Consolidado21/05/2026 aprovado pelo ato1200625 · p. 19 · AnexoI6.11 · https://fnet.bmfbovespa.com.br/fnet/publico/visualizarDocumento?id=1200623</a:t>
            </a:r>
          </a:p>
          <a:p>
            <a:r>
              <a:t>CNPJ 62552447000120 · Rating por subclasse e downgrade · Excerto da fonte:</a:t>
            </a:r>
          </a:p>
          <a:p>
            <a:r>
              <a:t>6.11 As Cotas não serão objeto de classif icação de risco . CAPÍTULO 7 – AMORTIZAÇÃO DAS COTAS 7.1 A distribuição de quaisquer ganhos e rendimentos d a Classe aos Cotistas será f eita exclusivamente mediante a Amortização, observado o disposto neste Capítulo. 7.2 As Cotas poderão ser amortizadas através de uma Amortização programada, se houver, conforme prevista nos Apêndices, caso aplicável (“Amortização Programada”), e por meio amortização extraordinária das Cotas, a ser realizada por (a) por decisão do Gestor, para: (i) reenquadramento da Carteira ao mínimo de Direitos Creditórios que deve ser detido pel</a:t>
            </a:r>
          </a:p>
          <a:p>
            <a:r>
              <a:t>CNPJ 62552447000120 · Rating por subclasse e downgrade · Versão e prevalência: Leitura específica das cláusulas indicadas; condições e conflitos preservados. Seleção documental atual não comprova vigência jurídica por data isolada.</a:t>
            </a:r>
          </a:p>
          <a:p>
            <a:r>
              <a:t>CNPJ 63953620000165 · Rating por subclasse e downgrade · Anexo ao Regulamento · ID 1222863 · 02/06/2026 · versão AnexoConsignadoPrivado02/06/2026 · p. 11 · 6.14 · https://fnet.bmfbovespa.com.br/fnet/publico/visualizarDocumento?id=1222863</a:t>
            </a:r>
          </a:p>
          <a:p>
            <a:r>
              <a:t>CNPJ 63953620000165 · Rating por subclasse e downgrade · Excerto da fonte:</a:t>
            </a:r>
          </a:p>
          <a:p>
            <a:r>
              <a:t>6.14 As Cotas poderão ser objeto de classificação de risco pela contratada pelo Gestor, desde que em comum acordo entre Gestor e Cotistas Subordinados em Assembleia Especial de Cotistas (“Agência Classificadora de Risco”). CAPÍTULO 7 – AMORTIZAÇÃO DAS COTAS 7.1 A distribuição de quaisquer ganhos e rendimentos da Classe aos Cotistas será feita exclusivamente mediante a Amortização de Cotas, observado o disposto neste Capítulo e nos Apêndices. 7.2 As Cotas poderão ser amortizadas através de uma Amortização por Regime de Caixa, se houver conforme prevista nos Apêndices; e por meio amortização extraordinária das Cotas, a ser realiz</a:t>
            </a:r>
          </a:p>
          <a:p>
            <a:r>
              <a:t>CNPJ 63953620000165 · Rating por subclasse e downgrade · Versão e prevalência: Leitura específica das cláusulas indicadas; condições e conflitos preservados. Seleção documental atual não comprova vigência jurídica por data isolada.</a:t>
            </a:r>
          </a:p>
          <a:p>
            <a:r>
              <a:t>CNPJ 63953620000165 · Rating por subclasse e downgrade · Resumo do histórico: {"count": 8, "dates": ["2026-04-28", "2026-05-08", "2026-05-15"], "document_count": 3, "sources": [{"document_id": "1327859", "title": "Demonstrações Financeiras - Fusão, cisão e incorporação", "reference_date": "2026-05-15", "version": "1", "page": 29, "url": "https://fnet.bmfbovespa.com.br/fnet/publico/visualizarDocumento?id=1327859", "sha256": "dca1c68babb97f887528c3e2e47596a9c30f507b067981a35655b2f2da9c8054"}, {"document_id": "1298691", "title": "Demonstrações Financeiras - Fusão, cisão e incorporação", "reference_date": "2026-05-08", "version": "1", "page": 30, "url": "https://fnet.bmfbovespa.com.br/fnet/publico/visualizarDocumento?id=1298691", "sha256": "58c570d9b8d4d265330d3db3ea81c435b8e44a6dab4002aa37790652a1ee9819"}, {"document_id": "1282180", "title": "Demonstrações Financeiras - Fusão, cisão e incorporação", "reference_date": "2026-04-28", "version": "1", "page": 30, "url": "https://fnet.bmfbovespa.com.br/fnet/publico/visualizarDocumento?id=1282180", "sha256": "afaaa0e6809be4385e5bdb6c911aac582032c5bdbac3d7750234bf9eaf00438a"}], "reference": {"path": "history/63953620000165.json", "criterion_id": "rating",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Hedge e prestadores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Finalidade e limites de derivativos · Regulamento · ID 670691 · 28/04/2024 · versão Regulamento — referência 28/04/2024 · p. 13 · Anexo I, 4.15–4.16 · https://fnet.bmfbovespa.com.br/fnet/publico/visualizarDocumento?id=670691</a:t>
            </a:r>
          </a:p>
          <a:p>
            <a:r>
              <a:t>CNPJ 54871427000194 · Finalidade e limites de derivativos · Excerto da fonte:</a:t>
            </a:r>
          </a:p>
          <a:p>
            <a:r>
              <a:t>4.15 A Classe poderá utilizar instrumentos derivativos, desde que com o objetivo de proteção patrimonial, ou, desde que não resulte em exposição a risco de capital, conforme definida no inciso XXIV Art. 3º da parte geral da Resolução CVM 175, troca de indexador a que os ativos estão indexados . 4.16 A Classe não realizará operações de day trade, assim consideradas aquelas iniciadas e encerradas no mesmo dia, independentemente de a Classe possuir estoque ou posição anterior do mesmo Ativo Financeiro. 4.17 É vedada qualquer forma de antecipação de recursos aos Endossantes para posterior reembolso pela Classe, seja pelo ADMINISTRADOR, GESTOR, CUSTODIANTE, consultora ou Originadores. 4.18 Exceto na medida em que eventualmente previsto nos Contratos de Cessão e/ou em instrumentos eventualmente celebrados entre a Classe e os Endossantes, os Endossantes não serão responsáveis em caso de eventual inadimplemento dos Direitos Creditórios por eles cedidos, sendo responsáveis, não obstante, apenas pela existência, certeza, conteúdo, exatidão, veracidade, legitimidade, validade e correta f ormalização dos Direitos Creditórios que cederem à Classe, nos termos da</a:t>
            </a:r>
          </a:p>
          <a:p>
            <a:r>
              <a:t>CNPJ 54871427000194 · Finalidade e limites de derivativos · Versão e prevalência: Leitura específica das cláusulas indicadas; condições e conflitos preservados. Seleção documental atual não comprova vigência jurídica por data isolada.</a:t>
            </a:r>
          </a:p>
          <a:p>
            <a:r>
              <a:t>CNPJ 54871427000194 · Finalidade e limites de derivativos · Resumo do histórico: {"count": 2, "dates": ["2024-04-19", "2024-04-28"], "document_count": 2, "sources": [{"document_id": "670691", "title": "Regulamento", "reference_date": "2024-04-28", "version": "1", "page": "13", "url": "https://fnet.bmfbovespa.com.br/fnet/publico/visualizarDocumento?id=670691", "sha256": "bf16dd7f1a62d5cdbf2e2d54fef81783783f7310fbc99c3a8f00459bdf9d037b"}, {"document_id": "670689", "title": "Regulamento", "reference_date": "2024-04-19", "version": "1", "page": 13, "clause": "4.15", "url": "https://fnet.bmfbovespa.com.br/fnet/publico/visualizarDocumento?id=670689", "sha256": "891bc9bc5d87bbc02ec139077a84d2702eb81ea02035fb71d24f5b8366b94a0b"}], "reference": {"path": "history/54871427000194.json", "criterion_id": "hedge", "total_count": 2, "preview_count": 2, "full_text_deferred": true, "sha256": "35d7cd99be50c7287c9fb675cf4f2e736002315295a225a9efa79c8d9186d874"}}</a:t>
            </a:r>
          </a:p>
          <a:p>
            <a:r>
              <a:t>CNPJ 60010416000112 · Finalidade e limites de derivativos · Regulamento · ID 1051393 · 2025-10-09 · versão 1 · p. 12 · 4.9 · https://fnet.bmfbovespa.com.br/fnet/publico/visualizarDocumento?id=1051393</a:t>
            </a:r>
          </a:p>
          <a:p>
            <a:r>
              <a:t>CNPJ 60010416000112 · Finalidade e limites de derivativos · Excerto da fonte:</a:t>
            </a:r>
          </a:p>
          <a:p>
            <a:r>
              <a:t>4.9 Sem prejuízo de limites mais restritivos definidos neste Regulamento, o Gestor deverá observar, ainda, os  seguintes limites de concentração para a composição da Carteira:</a:t>
            </a:r>
          </a:p>
          <a:p>
            <a:r>
              <a:t> (i ) Até 100% (cem por cento) da parcela do Patrimônio Líquido investida em Ativos  Financeiros de Liquidez poderá ser alocada em Ativos Financeiros de Liquidez de  emissão ou que envolvam retenção de risco por parte do Administrador, Gestor, e/ou  suas partes relacionadas; e</a:t>
            </a:r>
          </a:p>
          <a:p>
            <a:r>
              <a:t> (ii) Até 100% (cem por cento) da parcela do Patrimônio Líquido investida em operações  com derivativos poderá ser alocada em derivativos nos quais, inexistindo contraparte  central, se tenha como contraparte o Gestor e/ou suas partes relacionadas.</a:t>
            </a:r>
          </a:p>
          <a:p>
            <a:r>
              <a:t>CNPJ 60010416000112 · Finalidade e limites de derivativos · Regulamento · ID 1051393 · 2025-10-09 · versão 1 · p. 13 · 4.15 · https://fnet.bmfbovespa.com.br/fnet/publico/visualizarDocumento?id=1051393</a:t>
            </a:r>
          </a:p>
          <a:p>
            <a:r>
              <a:t>CNPJ 60010416000112 · Finalidade e limites de derivativos · Excerto da fonte:</a:t>
            </a:r>
          </a:p>
          <a:p>
            <a:r>
              <a:t>4.15 A Classe poderá utilizar instrumentos derivativos, observados os limites de concentração previstos neste  Regulamento, desde que com o objetivo de proteção patrimonial, ou, desde que não resulte em exposição  a risco de capital, conforme definida no inciso XXIV do Art. 3º da parte geral da Resolução CVM 175, troca  de indexador a que os ativos estão indexados e o índice de ref erência de cada Subclasse.</a:t>
            </a:r>
          </a:p>
          <a:p>
            <a:r>
              <a:t>CNPJ 60010416000112 · Finalidade e limites de derivativos · Regulamento · ID 1051393 · 2025-10-09 · versão 1 · p. 16 · 7.11 · https://fnet.bmfbovespa.com.br/fnet/publico/visualizarDocumento?id=1051393</a:t>
            </a:r>
          </a:p>
          <a:p>
            <a:r>
              <a:t>CNPJ 60010416000112 · Finalidade e limites de derivativos · Excerto da fonte:</a:t>
            </a:r>
          </a:p>
          <a:p>
            <a:r>
              <a:t>7.11 Sem prejuízo do disposto do disposto nos itens 7.1 a 7.10 acima, a partir da Data da 1ª Integralização de  Cotas até a liquidação integral das Obrigações da Classe, sempre preservando a manutenção da boa  ordem legal, administrativa e operacional da Classe, o Gestor obriga-se a utilizar os recursos disponíveis  na Conta de Movimentação da Classe e/ou mantidos em Ativos Financeiros de Liquidez, em cada Dia Útil,  de acordo com a seguinte ordem de prioridade de alocação, na forma dos itens e tabela abaixo, de modo  que cada um dos itens listado apenas será contemplado após o direcionamento do montante total  necessário para a satisfação dos itens anteriores, ressalvado, enquanto em curso um Evento de Avaliação  e/ou um Evento de Liquidação, o disposto no item 11.4.1 abaixo</a:t>
            </a:r>
          </a:p>
          <a:p>
            <a:r>
              <a:t> (i) entradas de recursos provenientes da integralização de Cotas e dos Direitos Creditórios e  Ativos Financeiros de Liquidez que compõem a carteira da Classe, durante o Período de  Investimento, na seguinte ordem:</a:t>
            </a:r>
          </a:p>
          <a:p>
            <a:r>
              <a:t> a. pagamento dos Encargos;</a:t>
            </a:r>
          </a:p>
          <a:p>
            <a:r>
              <a:t> b. pagamento de despesas relativas aos instrumentos derivativos, conf orme aplicável;</a:t>
            </a:r>
          </a:p>
          <a:p>
            <a:r>
              <a:t> c. aquisição de Direitos Creditórios, sempre que ofertado, em moeda corrente nacional, em  conf ormidade com a Política de Investimento descrita neste Regulamento, sem prejuízo  do disposto no item 4.12 acima; e  d. aquisição de Ativos Financeiros de Liquidez, observando-se a Política de Investimentos.</a:t>
            </a:r>
          </a:p>
          <a:p>
            <a:r>
              <a:t> (ii) entradas de recursos provenientes dos Direitos Creditórios e Ativos Financeiros de Liquidez  que compõem a carteira da Classe, após o término do Período de Investimento, na seguinte  ordem, observadas as seguintes condições:</a:t>
            </a:r>
          </a:p>
          <a:p>
            <a:r>
              <a:t> a. pagamento dos Encargos;</a:t>
            </a:r>
          </a:p>
          <a:p>
            <a:r>
              <a:t> b. pagamento de despesas relativas aos instrumentos derivativos, conf orme aplicável;</a:t>
            </a:r>
          </a:p>
          <a:p>
            <a:r>
              <a:t> c. pagamento da amortização do principal e dos rendimentos acumulados relacionados às  Cotas Seniores, de modo que, considerando, pro f orma, todas as amortizações  pretendidas, o percentual empregado para amortização das Cotas Seniores seja  equivalente à relação entre o Patrimônio Líquido Sênior dividido pelo Patrimônio Líquido  da Classe, com a devida observância dos termos e condições deste Regulamento, do  Apêndice e do Suplemento das Cotas Seniores;</a:t>
            </a:r>
          </a:p>
          <a:p>
            <a:r>
              <a:t> d. pagamento da amortização do principal e dos rendimentos acumulados relacionados às  Cotas Subordinadas, de modo que, considerando, pro f orma, todas as amortizações  pretendidas, o percentual empregado para amortização das Cotas Subordinadas seja  equivalente à relação entre o Patrimônio Líquido Subordinado dividido pelo Patrimônio  Líquido da Classe, com a devida observância dos termos e condições deste  Regulamento, do Apêndice e do Suplemento das Cotas Seniores e desde que  respeitados o Índice de Subordinação;</a:t>
            </a:r>
          </a:p>
          <a:p>
            <a:r>
              <a:t> e. aquisição de Ativos Financeiros, observado o limite de alocação previsto no item 4.7  deste Anexo I.</a:t>
            </a:r>
          </a:p>
          <a:p>
            <a:r>
              <a:t>CNPJ 60010416000112 · Finalidade e limites de derivativos · Condição: Documentos atuais selecionados no inventário por categoria/escopo; a data documental isolada não comprova vigência jurídica.</a:t>
            </a:r>
          </a:p>
          <a:p>
            <a:r>
              <a:t>CNPJ 60010416000112 · Finalidade e limites de derivativos · Versão e prevalência: Documentos atuais selecionados no inventário por categoria/escopo; a data documental isolada não comprova vigência jurídica.</a:t>
            </a:r>
          </a:p>
          <a:p>
            <a:r>
              <a:t>CNPJ 60010416000112 · Finalidade e limites de derivativos · Resumo do histórico: {"count": 2, "dates": ["2025-03-20", "2025-10-09"], "document_count": 2, "sources": [{"document_id": "1051393", "title": "Regulamento", "reference_date": "2025-10-09", "version": "1", "page": "13", "url": "https://fnet.bmfbovespa.com.br/fnet/publico/visualizarDocumento?id=1051393", "sha256": "8469d613078ffd5a6c1d217885d8a397a16342c0b937ae4aa24b106505f233ae"}, {"document_id": "993786", "title": "Regulamento", "reference_date": "2025-03-20", "version": "1", "page": 12, "clause": "4.9", "url": "https://fnet.bmfbovespa.com.br/fnet/publico/visualizarDocumento?id=993786", "sha256": "fd0fdd369a195510d81f81f505195a0b09e5f43522a990afa7d58c4f872921c8"}], "reference": {"path": "history/60010416000112.json", "criterion_id": "hedge", "total_count": 2, "preview_count": 2, "full_text_deferred": true, "sha256": "8e2bd813f4c51cf01f6bfaad164bafe69d2bbb192f753eac92da3a01c2e63046"}}</a:t>
            </a:r>
          </a:p>
          <a:p>
            <a:r>
              <a:t>CNPJ 62696791000193 · Finalidade e limites de derivativos · Regulamento · ID 1143317 · 20/03/2026 · versão Regulamento — referência 20/03/2026 · p. 15 · Anexo I, 4.28 e 4.30(i) · https://fnet.bmfbovespa.com.br/fnet/publico/visualizarDocumento?id=1143317</a:t>
            </a:r>
          </a:p>
          <a:p>
            <a:r>
              <a:t>CNPJ 62696791000193 · Finalidade e limites de derivativos · Excerto da fonte:</a:t>
            </a:r>
          </a:p>
          <a:p>
            <a:r>
              <a:t>4.28 A Classe pode aplicar recursos em instrumentos financeiros derivativos, exclusivamente para fins de proteção patrimonial, cuja exposição seja sempre, no máximo, o valor do Patrimônio Líquido. 4.29 A Classe pode emprestar ativos f inanceiros e valores mobiliários, desde que tais operações de empréstimo sejam cursadas exclusivamente por meio de serviço autorizado pelo Banco Central do Brasil ou pela CVM. 4.30 É vedado à Classe: (i) aplicar no exterior recursos captados no País; (ii) salvo aprovação em assembleia de Cotistas, a realização de operações quando caracterizada situação de conf lito de interesses entre: (a) a Classe, o Administrador ou o Gestor ou a Consultoria Especializada; (b) a Classe e os Cotistas que detenham participação correspondente a, no mínimo, 10% (dez por cento) do patrimônio da Classe; e (c) a Classe e o representante dos Cotistas; (iii) a aplicação de recursos em sociedades nas quais participem o Administrador, o Gestor, os consultores, os membros de comitês ou conselhos e os Cotistas titulares de Cotas representativas de 5% (cinco por cento) do patri</a:t>
            </a:r>
          </a:p>
          <a:p>
            <a:r>
              <a:t>CNPJ 62696791000193 · Finalidade e limites de derivativos · Regulamento · ID 1143317 · 20/03/2026 · versão Regulamento — referência 20/03/2026 · p. 27 · Anexo I, 12.11(x) · https://fnet.bmfbovespa.com.br/fnet/publico/visualizarDocumento?id=1143317</a:t>
            </a:r>
          </a:p>
          <a:p>
            <a:r>
              <a:t>CNPJ 62696791000193 · Finalidade e limites de derivativos · Excerto da fonte:</a:t>
            </a:r>
          </a:p>
          <a:p>
            <a:r>
              <a:t>(x) realizar operações com derivativos, exceto quando tais operações f orem realizadas exclusivamente para f ins de proteção patrimonial e desde que a exposição seja sempre, no máximo, o valor do Patrimônio Líquido. 12.11.1 A vedação prevista no item (v) acima não impede a aquisição de imóveis sobre os quais tenham sido constituídos ônus reais anteriormente ao seu ingresso no patrimônio . 12.12 É vedado ao Gestor o recebimento de qualquer remuneração, benefício ou vantagem, direta ou indiretamente, que potencialmente prejudique sua independência na tomada de decisão. Consultoria Especializada 12.13 O Gestor, conforme disposto no Anexo Normativo VI da Resolução 175, poderá contratar Consultoria Especializada para que preste os seguintes serviços (“Consultoria Especializada”): (i) Analisar, selecionar, avaliar e acompanhar, de acordo com a Política de Investimentos deste Anexo, os ativos integrantes ou que possam vir a integrar a carteira da classe do Fundo; (ii) Participar de negociações e propor negócios à classe, observada a Política de Investimentos constante deste Anexo;</a:t>
            </a:r>
          </a:p>
          <a:p>
            <a:r>
              <a:t>CNPJ 62696791000193 · Finalidade e limites de derivativos · Versão e prevalência: Leitura específica das cláusulas indicadas; condições e conflitos preservados. Seleção documental atual não comprova vigência jurídica por data isolada.</a:t>
            </a:r>
          </a:p>
          <a:p>
            <a:r>
              <a:t>CNPJ 55563624000109 · Finalidade e limites de derivativos · Regulamento · ID 1192614 · 2026-04-30 · versão 1 · p. 14 · 4.21 · https://fnet.bmfbovespa.com.br/fnet/publico/visualizarDocumento?id=1192614</a:t>
            </a:r>
          </a:p>
          <a:p>
            <a:r>
              <a:t>CNPJ 55563624000109 · Finalidade e limites de derivativos · Excerto da fonte:</a:t>
            </a:r>
          </a:p>
          <a:p>
            <a:r>
              <a:t>4.21 A Classe poderá utilizar instrumentos derivativos, desde que com o objetivo de proteção patrimonial, ou, desde  que não resulte em exposição a risco de capital, conforme definida no inciso XXIV do Art. 3º da parte geral da  Resolução CVM 175 ou em troca de indexador a que os ativos estão indexados.</a:t>
            </a:r>
          </a:p>
          <a:p>
            <a:r>
              <a:t>CNPJ 55563624000109 · Finalidade e limites de derivativos · Regulamento · ID 1192614 · 2026-04-30 · versão 1 · p. 39 · https://fnet.bmfbovespa.com.br/fnet/publico/visualizarDocumento?id=1192614</a:t>
            </a:r>
          </a:p>
          <a:p>
            <a:r>
              <a:t>CNPJ 55563624000109 · Finalidade e limites de derivativos · Excerto da fonte:</a:t>
            </a:r>
          </a:p>
          <a:p>
            <a:r>
              <a:t>(xxii) Operações com derivativos. A Classe poderá realizar operações com derivativos  exclusivamente com o objetivo de proteção patrimonial. As operações com derivativos, pela sua  própria natureza, acrescentam riscos à Carteira e poderão afetar negativamente a sua rentabilidade,  até o limite do Patrimônio Líquido.</a:t>
            </a:r>
          </a:p>
          <a:p>
            <a:r>
              <a:t>CNPJ 55563624000109 · Finalidade e limites de derivativos · Condição: Documentos atuais selecionados no inventário por categoria/escopo; a data documental isolada não comprova vigência jurídica.</a:t>
            </a:r>
          </a:p>
          <a:p>
            <a:r>
              <a:t>CNPJ 55563624000109 · Finalidade e limites de derivativos · Versão e prevalência: Documentos atuais selecionados no inventário por categoria/escopo; a data documental isolada não comprova vigência jurídica.</a:t>
            </a:r>
          </a:p>
          <a:p>
            <a:r>
              <a:t>CNPJ 55563624000109 · Finalidade e limites de derivativos · Resumo do histórico: {"count": 3, "dates": ["2025-01-31", "2026-01-31", "2026-04-30"], "document_count": 3, "sources": [{"document_id": "1192614", "title": "Regulamento", "reference_date": "2026-04-30", "version": "1", "page": "14", "url": "https://fnet.bmfbovespa.com.br/fnet/publico/visualizarDocumento?id=1192614", "sha256": "f56e63ace0acde41d2f47fb48f1ac7f3f7df5e2d32de092d7c5e075a52516632"}, {"document_id": "1178840", "title": "Demonstrações Financeiras", "reference_date": "2026-01-31", "version": "1", "page": 25, "url": "https://fnet.bmfbovespa.com.br/fnet/publico/visualizarDocumento?id=1178840", "sha256": "c458e98664c5c907ddb5a05a94b120bed4e05295b2bfc420f5ba69af0a229abe"}, {"document_id": "891861", "title": "Demonstrações Financeiras", "reference_date": "2025-01-31", "version": "1", "page": 26, "url": "https://fnet.bmfbovespa.com.br/fnet/publico/visualizarDocumento?id=891861", "sha256": "e9cb9e6ddbe505fe068cfcac33605165a98313489de0d3ce6d4d238263c3f3e7"}], "reference": {"path": "history/55563624000109.json", "criterion_id": "hedge", "total_count": 3, "preview_count": 3, "full_text_deferred": true, "sha256": "7835d573fb58a3c19adf5b8ecc2aee2bdbb9a88f7a0c0209b5f262b64c7522e3"}}</a:t>
            </a:r>
          </a:p>
          <a:p>
            <a:r>
              <a:t>CNPJ 62552447000120 · Finalidade e limites de derivativos · Regulamento · ID 1200623 · 21/05/2026 · versão Consolidado21/05/2026 aprovado pelo ato1200625 · p. 14 · AnexoI4.10.1 · https://fnet.bmfbovespa.com.br/fnet/publico/visualizarDocumento?id=1200623</a:t>
            </a:r>
          </a:p>
          <a:p>
            <a:r>
              <a:t>CNPJ 62552447000120 · Finalidade e limites de derivativos · Excerto da fonte:</a:t>
            </a:r>
          </a:p>
          <a:p>
            <a:r>
              <a:t>4.10.1 O uso de derivativos está restrito a operações que visem à proteção patrimonial ou, desde que não resulte em exposição a risco de capital, à troca de indexador e/ou do índice de referência. 4.11 Sem prejuízo de limites mais restritivos definidos neste Regulamento, o Gestor deverá observar, ainda, os seguintes limites de concentração para a composição da Carteira: (i) Até 100% (cem por cento) da parcela do Patrimônio Líquido investida em Direitos Creditórios poderão ser alocados em Direitos Creditórios originados ou cedidos pelo Administrador, Gestor e</a:t>
            </a:r>
          </a:p>
          <a:p>
            <a:r>
              <a:t>CNPJ 62552447000120 · Finalidade e limites de derivativos · Motivo: Cláusula primária localizada e citada, mas sua lista/condições extensas não admitem uma síntese literal curta confirmada. O trecho integral permanece nas fontes.</a:t>
            </a:r>
          </a:p>
          <a:p>
            <a:r>
              <a:t>CNPJ 62552447000120 · Finalidade e limites de derivativos · Versão e prevalência: Leitura específica das cláusulas indicadas; condições e conflitos preservados. Seleção documental atual não comprova vigência jurídica por data isolada.</a:t>
            </a:r>
          </a:p>
          <a:p>
            <a:r>
              <a:t>CNPJ 63953620000165 · Finalidade e limites de derivativos · Anexo ao Regulamento · ID 1222863 · 2026-06-02 · versão 1 · p. 7 · https://fnet.bmfbovespa.com.br/fnet/publico/visualizarDocumento?id=1222863</a:t>
            </a:r>
          </a:p>
          <a:p>
            <a:r>
              <a:t>CNPJ 63953620000165 · Finalidade e limites de derivativos · Excerto da fonte:</a:t>
            </a:r>
          </a:p>
          <a:p>
            <a:r>
              <a:t>Anexo I ao Regulamento  CLASSE CONSIGNADO PRIVADO DO MT GLOBAL FUNDO DE INVESTIMENTO EM DIREITOS  CREDITÓRIOS RESPONSABILIDADE LIMITADA</a:t>
            </a:r>
          </a:p>
          <a:p>
            <a:r>
              <a:t> (i)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 (ii) No máximo, 50% (cinquenta por cento) do Patrimônio Líquido investido em Ativos Financeiros  de Liquidez de emissão ou que envolvam retenção de risco por parte do Administrador, Gestor,  e/ou suas partes relacionadas, observado ainda o disposto acima;</a:t>
            </a:r>
          </a:p>
          <a:p>
            <a:r>
              <a:t> (iii) No máximo, 100% (cem por cento) do Patrimônio Líquido investido em operações com  derivativos nos quais, inexistindo contraparte central, se tenha como contraparte o Gestor,  Consultora e/ou suas partes relacionadas, observado ainda o disposto acima;</a:t>
            </a:r>
          </a:p>
          <a:p>
            <a:r>
              <a:t> (iv) A Classe poderá investir até 100% (cem por cento) de seu Patrimônio Líquido em Direitos  Creditórios Não-Padronizados;</a:t>
            </a:r>
          </a:p>
          <a:p>
            <a:r>
              <a:t> (v) É vedada a aquisição de precatórios federais.</a:t>
            </a:r>
          </a:p>
          <a:p>
            <a:r>
              <a:t>CNPJ 63953620000165 · Finalidade e limites de derivativos · Condição: Documentos atuais selecionados no inventário por categoria/escopo; a data documental isolada não comprova vigência jurídica.</a:t>
            </a:r>
          </a:p>
          <a:p>
            <a:r>
              <a:t>CNPJ 63953620000165 · Finalidade e limites de derivativos · Motivo: Cláusula primária localizada e citada, mas sua lista/condições extensas não admitem uma síntese literal curta confirmada. O trecho integral permanece nas fontes.</a:t>
            </a:r>
          </a:p>
          <a:p>
            <a:r>
              <a:t>CNPJ 63953620000165 · Finalidade e limites de derivativos · Versão e prevalência: Documentos atuais selecionados no inventário por categoria/escopo; a data documental isolada não comprova vigência jurídica.</a:t>
            </a:r>
          </a:p>
          <a:p>
            <a:r>
              <a:t>CNPJ 63953620000165 · Finalidade e limites de derivativos · Resumo do histórico: {"count": 8, "dates": ["2026-04-28", "2026-05-08", "2026-05-15"], "document_count": 3, "sources": [{"document_id": "1327859", "title": "Demonstrações Financeiras - Fusão, cisão e incorporação", "reference_date": "2026-05-15", "version": "1", "page": 26, "url": "https://fnet.bmfbovespa.com.br/fnet/publico/visualizarDocumento?id=1327859", "sha256": "dca1c68babb97f887528c3e2e47596a9c30f507b067981a35655b2f2da9c8054"}, {"document_id": "1298691", "title": "Demonstrações Financeiras - Fusão, cisão e incorporação", "reference_date": "2026-05-08", "version": "1", "page": 26, "url": "https://fnet.bmfbovespa.com.br/fnet/publico/visualizarDocumento?id=1298691", "sha256": "58c570d9b8d4d265330d3db3ea81c435b8e44a6dab4002aa37790652a1ee9819"}, {"document_id": "1282180", "title": "Demonstrações Financeiras - Fusão, cisão e incorporação", "reference_date": "2026-04-28", "version": "1", "page": 27, "url": "https://fnet.bmfbovespa.com.br/fnet/publico/visualizarDocumento?id=1282180", "sha256": "afaaa0e6809be4385e5bdb6c911aac582032c5bdbac3d7750234bf9eaf00438a"}], "reference": {"path": "history/63953620000165.json", "criterion_id": "hedge", "total_count": 8, "preview_count": 3, "full_text_deferred": true, "sha256": "a7b89077f5e21098c2d601c303faabc3ff6b9729f89d8afecdc60fe1404720c1"}}</a:t>
            </a:r>
          </a:p>
          <a:p>
            <a:r>
              <a:t>CNPJ 54871427000194 · Prioridade do hedge e reserva de MTM · Motivo: Não localizada uma cláusula material para este critério nos textos identificados e processados. A ausência de resultado não comprova inexistência da regra.</a:t>
            </a:r>
          </a:p>
          <a:p>
            <a:r>
              <a:t>CNPJ 60010416000112 · Prioridade do hedge e reserva de MTM · Motivo: Não localizada uma cláusula material para este critério nos textos identificados e processados. A ausência de resultado não comprova inexistência da regra.</a:t>
            </a:r>
          </a:p>
          <a:p>
            <a:r>
              <a:t>CNPJ 62696791000193 · Prioridade do hedge e reserva de MTM · Motivo: Não localizada uma cláusula material para este critério nos textos identificados e processados. A ausência de resultado não comprova inexistência da regra.</a:t>
            </a:r>
          </a:p>
          <a:p>
            <a:r>
              <a:t>CNPJ 55563624000109 · Prioridade do hedge e reserva de MTM · Motivo: Não localizada uma cláusula material para este critério nos textos identificados e processados. A ausência de resultado não comprova inexistência da regra.</a:t>
            </a:r>
          </a:p>
          <a:p>
            <a:r>
              <a:t>CNPJ 62552447000120 · Prioridade do hedge e reserva de MTM · Motivo: Não localizada uma cláusula material para este critério nos textos identificados e processados. A ausência de resultado não comprova inexistência da regra.</a:t>
            </a:r>
          </a:p>
          <a:p>
            <a:r>
              <a:t>CNPJ 63953620000165 · Prioridade do hedge e reserva de MTM · Motivo: Não localizada uma cláusula material para este critério nos textos identificados e processados. A ausência de resultado não comprova inexistência da regra.</a:t>
            </a:r>
          </a:p>
          <a:p>
            <a:r>
              <a:t>CNPJ 54871427000194 · Administrador, gestor e custodiante · Regulamento · ID 670691 · 2024-04-28 · versão 1 · p. 1 · 1.1 · https://fnet.bmfbovespa.com.br/fnet/publico/visualizarDocumento?id=670691</a:t>
            </a:r>
          </a:p>
          <a:p>
            <a:r>
              <a:t>CNPJ 54871427000194 · Administrador, gestor e custodiante · Excerto da fonte:</a:t>
            </a:r>
          </a:p>
          <a:p>
            <a:r>
              <a:t>1.1 CONSIGNADO DELTA RECEIVABLES I FUNDO DE INVESTIMENTO EM DIREITOS CREDITÓRIOS  (“FUNDO”), regido pela Lei nº 10.406, de 10 de janeiro de 2002, conf orme alterada (“Código Civil”),  pela parte geral e o Anexo Normativo II da Resolução nº 175, de 23 de dezembro de 2022, conforme  alterada, da Comissão de Valores Mobiliários (respectivamente, “CVM” e “Resolução CVM 175”), terá  como principais características:</a:t>
            </a:r>
          </a:p>
          <a:p>
            <a:r>
              <a:t> Classe de Cotas Classe única.</a:t>
            </a:r>
          </a:p>
          <a:p>
            <a:r>
              <a:t> Indeterminado, exceto se de outra f orma vier a ser deliberado pelos cotistas  Prazo de Duração  reunidos em assembleia geral de cotistas.</a:t>
            </a:r>
          </a:p>
          <a:p>
            <a:r>
              <a:t> BTG Pactual Serviços Financeiros S.A. Distribuidora de Títulos e Valores  Mobiliários, instituição f inanceira, com sede na Cidade e Estado do Rio de  Janeiro, na Praia de Botafogo, nº 501, 5º andar (parte), Torre Corcovado,  ADMINISTRADOR  Botafogo, CEP 22250-040, inscrita no CNPJ sob o nº 59.281.253/0001-23 e  credenciada como administradora de carteira, de acordo com o Ato Declaratório  CVM nº 8.695, de 20 de março de 2006 (“ADMINISTRADOR”).</a:t>
            </a:r>
          </a:p>
          <a:p>
            <a:r>
              <a:t> BTG Pactual Asset Management S.A. Distribuidora de Títulos e Valores  Mobiliários, inscrita no CNPJ/ME sob o nº 29.650.082/0001-00, com sede  Cidade e Estado do Rio de Janeiro, na Praia de Botafogo, n.º 501, 5° andar,  devidamente autorizada à prestação dos serviços de administração de carteira  GESTOR  de títulos e valores mobiliários por meio d o Ato Declaratório número 5.968,  expedido em 10 de maio de 2000 (“GESTOR” e, quando ref erido  conjuntamente e indistintamente com o ADMINISTRADOR, os “Prestadores  de Serviços Essenciais”).</a:t>
            </a:r>
          </a:p>
          <a:p>
            <a:r>
              <a:t> O FUNDO, seus cotistas, os distribuidores de cotas por conta e ordem, seu  GESTOR, seu ADMINISTRADOR e os demais prestadores de serviço do  FUNDO e/ou da CLASSE obrigam-se a resolver, por meio de arbitragem, de  acordo com o Regulamento de Arbitragem da Câmara de Arbitragem do  Mercado da B3 (“Regulamento CAM B3” e “CAM B3”, respectivamente), toda  e qualquer disputa ou controvérsia que possa surgir entre eles, relacionada ou  oriunda, em especial, da aplicação, validade, eficácia, interpretação, violação  e seus ef eitos, das disposições contidas no Regulamento e seus Anexos, nas  normas editadas pela CVM que lhe sejam aplicáveis e nos instrumentos entre  si f irmados (“Arbitragem”).</a:t>
            </a:r>
          </a:p>
          <a:p>
            <a:r>
              <a:t> (i) A Arbitragem será de direito, com a aplicação das normas da República  Federativa do Brasil, terá sede no Município de São Paulo, será  Foro Aplicável conduzida em língua portuguesa e de f orma confidencial. O tribunal  arbitral será constituído por 3 (três) árbitros, sendo um deles  presidente, escolhidos nos termos do Regulamento CAM B3.</a:t>
            </a:r>
          </a:p>
          <a:p>
            <a:r>
              <a:t> (ii) As despesas processuais iniciais deverão ser rateadas entre as partes,  arcando cada polo processual com metade dos valores necessários,  sem prejuízo à possibilidade de adiantamento pelas partes  interessadas, resolvendo-se as indef inições nos termos do  Regulamento CAM B3. A sentença arbitral deverá determinar a  responsabilidade final pelas despesas de acordo com a sucumbência  de cada parte, as quais deverão incluir as taxas administrativas,  honorários de árbitros e de peritos e despesas com diligências  processuais e f ornecimento de garantias que sejam determinadas  expressamente pelo tribunal arbitral. É vedada a imposição de  honorários de sucumbência, bem como a determinação de indenização</a:t>
            </a:r>
          </a:p>
          <a:p>
            <a:r>
              <a:t>CNPJ 54871427000194 · Administrador, gestor e custodiante · Regulamento · ID 670691 · 2024-04-28 · versão 1 · p. 7 · https://fnet.bmfbovespa.com.br/fnet/publico/visualizarDocumento?id=670691</a:t>
            </a:r>
          </a:p>
          <a:p>
            <a:r>
              <a:t>CNPJ 54871427000194 · Administrador, gestor e custodiante · Excerto da fonte:</a:t>
            </a:r>
          </a:p>
          <a:p>
            <a:r>
              <a:t>Banco BTG Pactual S.A., instituição f inanceira, com sede na Cidade e  Estado do Rio de Janeiro, na Praia de Botafogo, nº 501, 5º andar (parte),  Custódia Torre Corcovado, Botafogo, CEP 22250-040, inscrita no CNPJ sob o nº</a:t>
            </a:r>
          </a:p>
          <a:p>
            <a:r>
              <a:t> 30.306.294/0001-45 e credenciado como custodiante, de acordo com o  Ato Declaratório nº 7.204, de 25 de abril de 2003 (“CUSTODIANTE”).</a:t>
            </a:r>
          </a:p>
          <a:p>
            <a:r>
              <a:t> Tesouraria, Controladoria e ADMINISTRADOR.</a:t>
            </a:r>
          </a:p>
          <a:p>
            <a:r>
              <a:t> Escrituração  Subclasses Única.</a:t>
            </a:r>
          </a:p>
          <a:p>
            <a:r>
              <a:t>CNPJ 54871427000194 · Administrador, gestor e custodiante · Regulamento · ID 670691 · 2024-04-28 · versão 1 · p. 38 · https://fnet.bmfbovespa.com.br/fnet/publico/visualizarDocumento?id=670691</a:t>
            </a:r>
          </a:p>
          <a:p>
            <a:r>
              <a:t>CNPJ 54871427000194 · Administrador, gestor e custodiante · Excerto da fonte:</a:t>
            </a:r>
          </a:p>
          <a:p>
            <a:r>
              <a:t>“ADMINISTRADOR”: BTG Pactual Serviços Financeiros S.A. Distribuidora de Títulos e Valores Mobiliários, instituição com sede no Município do Rio de Janeiro, Estado do Rio de Janeiro, à Praia de Botafogo, nº 501, 5º andar – parte, inscrita no CNPJ sob o nº 59.281.253/0001-23, autorizada a funcionar pelo BACEN e autorizada pela CVM para a atividade de administração de carteiras de valores mobiliários, de acordo com o Ato Declaratório nº 8.695, de 20 de março de 2006, ou seu sucessor a qualquer título ;</a:t>
            </a:r>
          </a:p>
          <a:p>
            <a:r>
              <a:t>CNPJ 54871427000194 · Administrador, gestor e custodiante · Condição: Documentos atuais selecionados no inventário por categoria/escopo; a data documental isolada não comprova vigência jurídica.</a:t>
            </a:r>
          </a:p>
          <a:p>
            <a:r>
              <a:t>CNPJ 54871427000194 · Administrador, gestor e custodiante · Versão e prevalência: Documentos atuais selecionados no inventário por categoria/escopo; a data documental isolada não comprova vigência jurídica.</a:t>
            </a:r>
          </a:p>
          <a:p>
            <a:r>
              <a:t>CNPJ 54871427000194 · Administrador, gestor e custodiante · Resumo do histórico: {"count": 2, "dates": ["2024-04-19"], "document_count": 2, "sources": [{"document_id": "670687", "title": "Instrumento Particular de Constituição/Encerramento do Fundo", "reference_date": "2024-04-19", "version": "1", "page": 1, "url": "https://fnet.bmfbovespa.com.br/fnet/publico/visualizarDocumento?id=670687", "sha256": "999f2a47d39f7022b0fcee3d16fd1db33948537b897e92c4c9e14b436bf5eb96"}, {"document_id": "670689", "title": "Regulamento", "reference_date": "2024-04-19", "version": "1", "page": 1, "clause": "1.1", "url": "https://fnet.bmfbovespa.com.br/fnet/publico/visualizarDocumento?id=670689", "sha256": "891bc9bc5d87bbc02ec139077a84d2702eb81ea02035fb71d24f5b8366b94a0b"}], "reference": {"path": "history/54871427000194.json", "criterion_id": "providers", "total_count": 2, "preview_count": 2, "full_text_deferred": true, "sha256": "35d7cd99be50c7287c9fb675cf4f2e736002315295a225a9efa79c8d9186d874"}}</a:t>
            </a:r>
          </a:p>
          <a:p>
            <a:r>
              <a:t>CNPJ 60010416000112 · Administrador, gestor e custodiante · Regulamento · ID 1051393 · 2025-10-09 · versão 1 · p. 8 · https://fnet.bmfbovespa.com.br/fnet/publico/visualizarDocumento?id=1051393</a:t>
            </a:r>
          </a:p>
          <a:p>
            <a:r>
              <a:t>CNPJ 60010416000112 · Administrador, gestor e custodiante · Excerto da fonte:</a:t>
            </a:r>
          </a:p>
          <a:p>
            <a:r>
              <a:t>Tipo de Condomínio Fechado.</a:t>
            </a:r>
          </a:p>
          <a:p>
            <a:r>
              <a:t> Prazo de Duração Indeterminado.</a:t>
            </a:r>
          </a:p>
          <a:p>
            <a:r>
              <a:t> Classe de Investimento  Não.</a:t>
            </a:r>
          </a:p>
          <a:p>
            <a:r>
              <a:t> em Cotas  Tipo “Financeiro”.</a:t>
            </a:r>
          </a:p>
          <a:p>
            <a:r>
              <a:t> Classificação ANBIMA  Foco de atuação “Créditos Consignados”.</a:t>
            </a:r>
          </a:p>
          <a:p>
            <a:r>
              <a:t> O objetivo da classe é proporcionar aos seus Cotistas a valorização de suas Cotas  por meio da aplicação de seu Patrimônio Líquido na aquisição de: (i) Direitos  Creditórios que atendam aos Critérios de Elegibilidade, estabelecidos no Capítulo  4 abaixo, e (ii) Ativos Financeiros de Liquidez, observados todos os limites de  Objetivo composição e diversificação da Carteira da Classe, estabelecidos neste  Regulamento e na regulamentação aplicável.</a:t>
            </a:r>
          </a:p>
          <a:p>
            <a:r>
              <a:t> O objetivo da Classe não representa, sob qualquer hipótese, promessa, garantia  ou sugestão do Fundo ou de seus Prestadores de Serviços Essenciais quanto à  segurança, rentabilidade e liquidez dos títulos integrantes de sua carteira.</a:t>
            </a:r>
          </a:p>
          <a:p>
            <a:r>
              <a:t> Destinado exclusivamente a um único cotista ou grupo de cotistas vinculados por  Público-Alvo  interesse único e indissociável, classificados como Investidores Prof issionais.</a:t>
            </a:r>
          </a:p>
          <a:p>
            <a:r>
              <a:t> Banco BTG Pactual S.A., instituição financeira, com sede no município e Estado  do Rio de Janeiro, na Praia de Botafogo, nº 501, Torre Corcovado, 5º andar (parte),  Custódia e Tesouraria Botafogo, CEP 22.250-040, inscrita no CNPJ sob o nº 30.306.294/0001-45 e  credenciado como custodiante, de acordo com o Ato Declaratório nº 7.204, de 25  de abril de 2003 (“Custodiante”).</a:t>
            </a:r>
          </a:p>
          <a:p>
            <a:r>
              <a:t> Tesouraria,  Controladoria e Administrador.</a:t>
            </a:r>
          </a:p>
          <a:p>
            <a:r>
              <a:t> Escrituração  Subclasses Sênior e Subordinada, nos termos do Capítulo 5 e respectivos Apêndices.</a:t>
            </a:r>
          </a:p>
          <a:p>
            <a:r>
              <a:t> O valor de cada emissão de Cotas, volume e valor unitário da Cota, bem como o  Emissão e Regime de regime de distribuição, seguirão o disposto no instrumento que aprova a emissão  Distribuição de Cotas de Cotas, que disporá acerca da eventual existência de direito de preferência dos  Cotistas.</a:t>
            </a:r>
          </a:p>
          <a:p>
            <a:r>
              <a:t> Capital Autorizado Conf orme previsto nos Apêndices.</a:t>
            </a:r>
          </a:p>
          <a:p>
            <a:r>
              <a:t> As Cotas poderão ser admitidas à negociação em bolsa de valores ou entidade de  Negociação  balcão organizado, conf orme previsto nos Apêndices.</a:t>
            </a:r>
          </a:p>
          <a:p>
            <a:r>
              <a:t> Cálculo do Valor da Cota Conf orme Capítulo 6 deste Anexo e respectivos Apêndices.</a:t>
            </a:r>
          </a:p>
          <a:p>
            <a:r>
              <a:t> A distribuição de quaisquer ganhos e rendimentos da Classe aos Cotistas será  Distribuição de  f eita exclusivamente mediante a amortização e/ou o resgate de Cotas, observado  Proventos  o disposto no Regulamento, neste Anexo e respectivos Apêndices.</a:t>
            </a:r>
          </a:p>
          <a:p>
            <a:r>
              <a:t> Utilização de Ativos Não é permitida a integralização de Cotas, no todo ou em parte, com Direitos BTG Pactual SAC: 0800 772 28 27 - Ouvidoria: 0800 722 00 48 - btgpactual.com 8</a:t>
            </a:r>
          </a:p>
          <a:p>
            <a:r>
              <a:t>CNPJ 60010416000112 · Administrador, gestor e custodiante · Regulamento · ID 1051393 · 2025-10-09 · versão 1 · p. 1 · https://fnet.bmfbovespa.com.br/fnet/publico/visualizarDocumento?id=1051393</a:t>
            </a:r>
          </a:p>
          <a:p>
            <a:r>
              <a:t>CNPJ 60010416000112 · Administrador, gestor e custodiante · Excerto da fonte:</a:t>
            </a:r>
          </a:p>
          <a:p>
            <a:r>
              <a:t>BTG Pactual Asset Management S.A. Distribuidora de Títulos e Valores  Mobiliários, sociedade anônima, com sede no município do Rio de Janeiro,  Estado do Rio de Janeiro, na Praia de Botafogo, nº 501, Torre Corcovado, 5º andar</a:t>
            </a:r>
          </a:p>
          <a:p>
            <a:r>
              <a:t> (parte), CEP 22.250-040, inscrita no CNPJ sob o nº 29.650.082/0001-00,  GESTOR  devidamente credenciada junto à CVM para operar como administradora de  carteira de valores mobiliários nos termos do Ato Declaratório CVM nº 5.968, de  10 de maio de 2000 (“Gestor” e, quando referido conjuntamente e indistintamente  com o Administrador, os “Prestadores de Serviços Essenciais”).</a:t>
            </a:r>
          </a:p>
          <a:p>
            <a:r>
              <a:t>CNPJ 60010416000112 · Administrador, gestor e custodiante · Regulamento · ID 1051393 · 2025-10-09 · versão 1 · p. 45 · https://fnet.bmfbovespa.com.br/fnet/publico/visualizarDocumento?id=1051393</a:t>
            </a:r>
          </a:p>
          <a:p>
            <a:r>
              <a:t>CNPJ 60010416000112 · Administrador, gestor e custodiante · Excerto da fonte:</a:t>
            </a:r>
          </a:p>
          <a:p>
            <a:r>
              <a:t>“Gestor”: a BTG Pactual Asset Management S.A. Distribuidora de Títulos e Valores Mobiliários, sociedade anônima, com sede no município do Rio de Janeiro, Estado do Rio de Janeiro, na Praia de Botafogo, nº 501, Torre Corcovado, 5º andar (parte), CEP 22.250-040, inscrita no CNPJ sob o nº 29.650.082/0001-00, devidamente credenciada junto à CVM para operar como administrador de carteira de valores mobiliários nos termos do Ato Declaratório CVM nº 5.968, de 10 de maio de 2000;</a:t>
            </a:r>
          </a:p>
          <a:p>
            <a:r>
              <a:t>CNPJ 60010416000112 · Administrador, gestor e custodiante · Condição: Documentos atuais selecionados no inventário por categoria/escopo; a data documental isolada não comprova vigência jurídica.</a:t>
            </a:r>
          </a:p>
          <a:p>
            <a:r>
              <a:t>CNPJ 60010416000112 · Administrador, gestor e custodiante · Versão e prevalência: Documentos atuais selecionados no inventário por categoria/escopo; a data documental isolada não comprova vigência jurídica.</a:t>
            </a:r>
          </a:p>
          <a:p>
            <a:r>
              <a:t>CNPJ 60010416000112 · Administrador, gestor e custodiante · Resumo do histórico: {"count": 1, "dates": ["2025-05-12"], "document_count": 1, "sources": [{"document_id": "1004656", "title": "AGE", "reference_date": "2025-05-12", "version": "1", "page": 4, "url": "https://fnet.bmfbovespa.com.br/fnet/publico/visualizarDocumento?id=1004656", "sha256": "f6c9c009f6170e2b29f074b98522accec73f0c40efbf11f9ec2c8d3f1402616b"}], "reference": {"path": "history/60010416000112.json", "criterion_id": "providers", "total_count": 1, "preview_count": 1, "full_text_deferred": true, "sha256": "8e2bd813f4c51cf01f6bfaad164bafe69d2bbb192f753eac92da3a01c2e63046"}}</a:t>
            </a:r>
          </a:p>
          <a:p>
            <a:r>
              <a:t>CNPJ 62696791000193 · Administrador, gestor e custodiante · Regulamento · ID 1143317 · 2026-03-20 · versão 1 · p. 1 · https://fnet.bmfbovespa.com.br/fnet/publico/visualizarDocumento?id=1143317</a:t>
            </a:r>
          </a:p>
          <a:p>
            <a:r>
              <a:t>CNPJ 62696791000193 · Administrador, gestor e custodiante · Excerto da fonte:</a:t>
            </a:r>
          </a:p>
          <a:p>
            <a:r>
              <a:t>BTG Pactual Asset Management S.A. Distribuidora de Títulos e Valores  Mobiliários, com sede no município e Estado do Rio de Janeiro, na Praia de  Botafogo, nº 501, Torre Corcovado, 5º andar (parte), Botafogo, inscrito no  CNPJ sob o nº 29.650.082/0001-00, autorizado à prestação dos serviços de  Gestor  administração de carteira de títulos e valores mobiliários de acordo com o Ato  Declaratório nº 5.968, de 10 de maio de 2000 (“Gestor” e, quando ref erido  conjuntamente com o Administrador, os “Prestadores de Serviços  Essenciais”).</a:t>
            </a:r>
          </a:p>
          <a:p>
            <a:r>
              <a:t>CNPJ 62696791000193 · Administrador, gestor e custodiante · Regulamento · ID 1143317 · 2026-03-20 · versão 1 · p. 1 · https://fnet.bmfbovespa.com.br/fnet/publico/visualizarDocumento?id=1143317</a:t>
            </a:r>
          </a:p>
          <a:p>
            <a:r>
              <a:t>CNPJ 62696791000193 · Administrador, gestor e custodiante · Excerto da fonte:</a:t>
            </a:r>
          </a:p>
          <a:p>
            <a:r>
              <a:t>BTG Pactual Serviços Financeiros S.A. Distribuidora de Títulos e Valores  Mobiliários, sociedade anônima, com sede no município e Estado do Rio de  Janeiro, na Praia de Botafogo, nº 501, 5º andar (parte), Torre Corcovado,  Administrador Botafogo, CEP 22250-040, inscrita no CNPJ sob o nº 59.281.253/0001-23 e  credenciada como Administradora de carteira, de acordo com o Ato Declaratório  CVM nº 8.695, de 20 de março de 2006 (“Administrador”), responsável pela  administração f iduciária.</a:t>
            </a:r>
          </a:p>
          <a:p>
            <a:r>
              <a:t>CNPJ 62696791000193 · Administrador, gestor e custodiante · Regulamento · ID 1143317 · 2026-03-20 · versão 1 · p. 7 · https://fnet.bmfbovespa.com.br/fnet/publico/visualizarDocumento?id=1143317</a:t>
            </a:r>
          </a:p>
          <a:p>
            <a:r>
              <a:t>CNPJ 62696791000193 · Administrador, gestor e custodiante · Excerto da fonte:</a:t>
            </a:r>
          </a:p>
          <a:p>
            <a:r>
              <a:t>Banco BTG Pactual S.A., instituição financeira, com sede no município e  Estado do Rio de Janeiro, na Praia de Botafogo, nº 501, 5º andar (parte),  Custódia e Tesouraria Torre Corcovado, Botafogo, CEP 22250-040, inscrita no CNPJ sob o nº</a:t>
            </a:r>
          </a:p>
          <a:p>
            <a:r>
              <a:t> 30.306.294/0001-45 e credenciada como custodiante, de acordo com o  Ato Declaratório nº 7.204, de 25 de abril de 2003 (“Custodiante”).</a:t>
            </a:r>
          </a:p>
          <a:p>
            <a:r>
              <a:t>CNPJ 62696791000193 · Administrador, gestor e custodiante · Condição: Documentos atuais selecionados no inventário por categoria/escopo; a data documental isolada não comprova vigência jurídica.</a:t>
            </a:r>
          </a:p>
          <a:p>
            <a:r>
              <a:t>CNPJ 62696791000193 · Administrador, gestor e custodiante · Versão e prevalência: Documentos atuais selecionados no inventário por categoria/escopo; a data documental isolada não comprova vigência jurídica.</a:t>
            </a:r>
          </a:p>
          <a:p>
            <a:r>
              <a:t>CNPJ 55563624000109 · Administrador, gestor e custodiante · Regulamento · ID 1192614 · 2026-04-30 · versão 1 · p. 1 · https://fnet.bmfbovespa.com.br/fnet/publico/visualizarDocumento?id=1192614</a:t>
            </a:r>
          </a:p>
          <a:p>
            <a:r>
              <a:t>CNPJ 55563624000109 · Administrador, gestor e custodiante · Excerto da fonte:</a:t>
            </a:r>
          </a:p>
          <a:p>
            <a:r>
              <a:t>Polígono Capital Ltda., sociedade de responsabilidade limitada, com sede no  município e estado de São Paulo, na Avenida Brigadeiro Faria Lima, n° 2601, 12º andar,  Jardim Paulistano, CEP 01452-000, inscrita no CNPJ sob nº 43.241.789/0001-85 e  GESTOR autorizada à prestação do serviço de administração de carteiras de valores mobiliários  pela CVM, de acordo com o Ato Declaratório CVM nº 19.368, expedido em 7 de  dezembro de 2021 (“GESTOR” e, quando referido conjuntamente e indistintamente  com o ADMINISTRADOR, os “Prestadores de Serviços Essenciais”).</a:t>
            </a:r>
          </a:p>
          <a:p>
            <a:r>
              <a:t>CNPJ 55563624000109 · Administrador, gestor e custodiante · Regulamento · ID 1192614 · 2026-04-30 · versão 1 · p. 1 · https://fnet.bmfbovespa.com.br/fnet/publico/visualizarDocumento?id=1192614</a:t>
            </a:r>
          </a:p>
          <a:p>
            <a:r>
              <a:t>CNPJ 55563624000109 · Administrador, gestor e custodiante · Excerto da fonte:</a:t>
            </a:r>
          </a:p>
          <a:p>
            <a:r>
              <a:t>BTG Pactual Serviços Financeiros S.A. Distribuidora de Títulos e Valores Mobiliários,  sociedade anônima, com sede no município e estado do Rio de Janeiro, na Praia de  Botafogo, nº 501, 5º andar (parte), Torre Corcovado, Botafogo, CEP 22250-040, inscrita  ADMINISTRADOR no Cadastro Nacional da Pessoa Jurídica (“CNPJ”) sob o nº 59.281.253/0001-23 e  credenciada como administradora de carteira, de acordo com o Ato Declaratório CVM  nº 8.695, de 20 de março de 2006 (“ADMINISTRADOR”).</a:t>
            </a:r>
          </a:p>
          <a:p>
            <a:r>
              <a:t>CNPJ 55563624000109 · Administrador, gestor e custodiante · Regulamento · ID 1192614 · 2026-04-30 · versão 1 · p. 41 · https://fnet.bmfbovespa.com.br/fnet/publico/visualizarDocumento?id=1192614</a:t>
            </a:r>
          </a:p>
          <a:p>
            <a:r>
              <a:t>CNPJ 55563624000109 · Administrador, gestor e custodiante · Excerto da fonte:</a:t>
            </a:r>
          </a:p>
          <a:p>
            <a:r>
              <a:t>“ADMINISTRADOR”: BTG Pactual Serviços Financeiros S.A. Distribuidora de Títulos e Valores Mobiliários, instituição  com sede no Município do Rio de Janeiro, Estado do Rio de Janeiro, à Praia de Botafogo, nº 501, 5º andar – parte, inscrita  no CNPJ sob o nº 59.281.253/0001-23, autorizada a funcionar pelo BACEN e autorizada pela CVM para a atividade de  administração de carteiras de valores mobiliários, de acordo com o Ato Declaratório nº 8.695, de 20 de março de 2006,  ou seu sucessor a qualquer título;</a:t>
            </a:r>
          </a:p>
          <a:p>
            <a:r>
              <a:t>CNPJ 55563624000109 · Administrador, gestor e custodiante · Condição: Documentos atuais selecionados no inventário por categoria/escopo; a data documental isolada não comprova vigência jurídica.</a:t>
            </a:r>
          </a:p>
          <a:p>
            <a:r>
              <a:t>CNPJ 55563624000109 · Administrador, gestor e custodiante · Versão e prevalência: Documentos atuais selecionados no inventário por categoria/escopo; a data documental isolada não comprova vigência jurídica.</a:t>
            </a:r>
          </a:p>
          <a:p>
            <a:r>
              <a:t>CNPJ 55563624000109 · Administrador, gestor e custodiante · Resumo do histórico: {"count": 6, "dates": ["2024-12-30", "2025-01-31", "2026-01-31"], "document_count": 3, "sources": [{"document_id": "1178840", "title": "Demonstrações Financeiras", "reference_date": "2026-01-31", "version": "1", "page": 3, "url": "https://fnet.bmfbovespa.com.br/fnet/publico/visualizarDocumento?id=1178840", "sha256": "c458e98664c5c907ddb5a05a94b120bed4e05295b2bfc420f5ba69af0a229abe"}, {"document_id": "891861", "title": "Demonstrações Financeiras", "reference_date": "2025-01-31", "version": "1", "page": 11, "url": "https://fnet.bmfbovespa.com.br/fnet/publico/visualizarDocumento?id=891861", "sha256": "e9cb9e6ddbe505fe068cfcac33605165a98313489de0d3ce6d4d238263c3f3e7"}, {"document_id": "811323", "title": "Anúncio de Encerramento", "reference_date": "2024-12-30", "version": "1", "page": 1, "url": "https://fnet.bmfbovespa.com.br/fnet/publico/visualizarDocumento?id=811323", "sha256": "ebc6bc661be5189acffb3c3e352de2aea0a8ca8431011d1237e1ae19da4f9c79"}], "reference": {"path": "history/55563624000109.json", "criterion_id": "providers", "total_count": 6, "preview_count": 3, "full_text_deferred": true, "sha256": "7835d573fb58a3c19adf5b8ecc2aee2bdbb9a88f7a0c0209b5f262b64c7522e3"}}</a:t>
            </a:r>
          </a:p>
          <a:p>
            <a:r>
              <a:t>CNPJ 62552447000120 · Administrador, gestor e custodiante · Regulamento · ID 1200623 · 2026-05-21 · versão 1 · p. 1 · https://fnet.bmfbovespa.com.br/fnet/publico/visualizarDocumento?id=1200623</a:t>
            </a:r>
          </a:p>
          <a:p>
            <a:r>
              <a:t>CNPJ 62552447000120 · Administrador, gestor e custodiante · Excerto da fonte:</a:t>
            </a:r>
          </a:p>
          <a:p>
            <a:r>
              <a:t>BTG Pactual Asset Management S.A. Distribuidora de Títulos e Valores  Mobiliários, sociedade anônima, com sede no município e Estado do Rio de  Janeiro, na Praia de Botafogo, n.º 501, 5º andar (parte), Torre Corcovado, bairro  Botafogo, CEP 22250-040, inscrita no CNPJ sob o n.º 29.650.082/0001-00 e  Gestor  credenciada como administradora de carteira de valores mobiliários , categoria  gestor de recursos, de acordo com o Ato Declaratório CVM n.º 5.968, de 10 de  maio de 2000 (“Gestor” e, quando ref erido conjuntamente e indistintamente  com o Administrador, “Prestadores de Serviços Essenciais”).</a:t>
            </a:r>
          </a:p>
          <a:p>
            <a:r>
              <a:t>CNPJ 62552447000120 · Administrador, gestor e custodiante · Regulamento · ID 1200623 · 2026-05-21 · versão 1 · p. 1 · https://fnet.bmfbovespa.com.br/fnet/publico/visualizarDocumento?id=1200623</a:t>
            </a:r>
          </a:p>
          <a:p>
            <a:r>
              <a:t>CNPJ 62552447000120 · Administrador, gestor e custodiante · Excerto da fonte:</a:t>
            </a:r>
          </a:p>
          <a:p>
            <a:r>
              <a:t>BTG Pactual Serviços Financeiros S.A. Distribuidora de Títulos e Valores  Mobiliários, sociedade anônima, com sede no município e Estado do Rio de  Janeiro, na Praia de Botafogo, n.º 501, 5º andar (parte), Torre Corcovado, bairro  Administrador Botafogo, CEP 22250-040, inscrita no CNPJ sob o n.º 59.281.253/0001-23 e  credenciada como administradora de carteira de valores mobiliários, categoria  administrador fiduciário, de acordo com o Ato Declaratório CVM n.º 8.695, de 20  de março de 2006 (“Administrador”).</a:t>
            </a:r>
          </a:p>
          <a:p>
            <a:r>
              <a:t>CNPJ 62552447000120 · Administrador, gestor e custodiante · Instrumento Particular de Alteração do Regulamento · ID 1200625 · 2026-05-21 · versão 1 · p. 1 · https://fnet.bmfbovespa.com.br/fnet/publico/visualizarDocumento?id=1200625</a:t>
            </a:r>
          </a:p>
          <a:p>
            <a:r>
              <a:t>CNPJ 62552447000120 · Administrador, gestor e custodiante · Excerto da fonte:</a:t>
            </a:r>
          </a:p>
          <a:p>
            <a:r>
              <a:t>A Administradora, BTG PACTUAL SERVIÇOS FINANCEIROS S.A. DTVM, com  sede na Praia de Botafogo, n.º 501, 5º andar (parte), na Cidade e Estado do Rio de  Janeiro, e inscrita no CNPJ sob o número 59.281.253/0001-23, na qualidade de  administradora da V CDT 1 FUNDO DE INVESTIMENTO EM DIREITOS  CREDITÓRIOS RESPONSABILIDADE LIMITADA, inscrita no CNPJ/MF sob o  número 62.552.447/0001-20 ("Classe"), serve-se da presente para:</a:t>
            </a:r>
          </a:p>
          <a:p>
            <a:r>
              <a:t>CNPJ 62552447000120 · Administrador, gestor e custodiante · Condição: Documentos atuais selecionados no inventário por categoria/escopo; a data documental isolada não comprova vigência jurídica.</a:t>
            </a:r>
          </a:p>
          <a:p>
            <a:r>
              <a:t>CNPJ 62552447000120 · Administrador, gestor e custodiante · Versão e prevalência: Documentos atuais selecionados no inventário por categoria/escopo; a data documental isolada não comprova vigência jurídica.</a:t>
            </a:r>
          </a:p>
          <a:p>
            <a:r>
              <a:t>CNPJ 62552447000120 · Administrador, gestor e custodiante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"providers", "total_count": 1, "preview_count": 1, "full_text_deferred": true, "sha256": "d95db8c0613d67ee84118c734588665265ea6b02f86a0318d6a844cbe1d0f82f"}}</a:t>
            </a:r>
          </a:p>
          <a:p>
            <a:r>
              <a:t>CNPJ 63953620000165 · Administrador, gestor e custodiante · Anexo ao Regulamento · ID 1222863 · 2026-06-02 · versão 1 · p. 2 · https://fnet.bmfbovespa.com.br/fnet/publico/visualizarDocumento?id=1222863</a:t>
            </a:r>
          </a:p>
          <a:p>
            <a:r>
              <a:t>CNPJ 63953620000165 · Administrador, gestor e custodiante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Administrador, gestor e custodiante · Condição: Documentos atuais selecionados no inventário por categoria/escopo; a data documental isolada não comprova vigência jurídica.</a:t>
            </a:r>
          </a:p>
          <a:p>
            <a:r>
              <a:t>CNPJ 63953620000165 · Administrador, gestor e custodiante · Motivo: Cláusula primária localizada e citada, mas sua lista/condições extensas não admitem uma síntese literal curta confirmada. O trecho integral permanece nas fontes.</a:t>
            </a:r>
          </a:p>
          <a:p>
            <a:r>
              <a:t>CNPJ 63953620000165 · Administrador, gestor e custodiante · Versão e prevalência: Documentos atuais selecionados no inventário por categoria/escopo; a data documental isolada não comprova vigência jurídica.</a:t>
            </a:r>
          </a:p>
          <a:p>
            <a:r>
              <a:t>CNPJ 63953620000165 · Administrador, gestor e custodiante · Resumo do histórico: {"count": 8, "dates": ["2026-04-28", "2026-05-08", "2026-05-15"], "document_count": 3, "sources": [{"document_id": "1327859", "title": "Demonstrações Financeiras - Fusão, cisão e incorporação", "reference_date": "2026-05-15", "version": "1", "page": 9, "url": "https://fnet.bmfbovespa.com.br/fnet/publico/visualizarDocumento?id=1327859", "sha256": "dca1c68babb97f887528c3e2e47596a9c30f507b067981a35655b2f2da9c8054"}, {"document_id": "1298691", "title": "Demonstrações Financeiras - Fusão, cisão e incorporação", "reference_date": "2026-05-08", "version": "1", "page": 9, "url": "https://fnet.bmfbovespa.com.br/fnet/publico/visualizarDocumento?id=1298691", "sha256": "58c570d9b8d4d265330d3db3ea81c435b8e44a6dab4002aa37790652a1ee9819"}, {"document_id": "1282180", "title": "Demonstrações Financeiras - Fusão, cisão e incorporação", "reference_date": "2026-04-28", "version": "1", "page": 9, "url": "https://fnet.bmfbovespa.com.br/fnet/publico/visualizarDocumento?id=1282180", "sha256": "afaaa0e6809be4385e5bdb6c911aac582032c5bdbac3d7750234bf9eaf00438a"}], "reference": {"path": "history/63953620000165.json", "criterion_id": "providers", "total_count": 8, "preview_count": 3, "full_text_deferred": true, "sha256": "a7b89077f5e21098c2d601c303faabc3ff6b9729f89d8afecdc60fe1404720c1"}}</a:t>
            </a:r>
          </a:p>
          <a:p>
            <a:r>
              <a:t>CNPJ 54871427000194 · Substituição de prestadores · Motivo: Não localizada uma cláusula material para este critério nos textos identificados e processados. A ausência de resultado não comprova inexistência da regra.</a:t>
            </a:r>
          </a:p>
          <a:p>
            <a:r>
              <a:t>CNPJ 60010416000112 · Substituição de prestadores · Regulamento · ID 1051393 · 2025-10-09 · versão 1 · p. 3 · 1.8 · https://fnet.bmfbovespa.com.br/fnet/publico/visualizarDocumento?id=1051393</a:t>
            </a:r>
          </a:p>
          <a:p>
            <a:r>
              <a:t>CNPJ 60010416000112 · Substituição de prestadores · Excerto da fonte:</a:t>
            </a:r>
          </a:p>
          <a:p>
            <a:r>
              <a:t>1.8. Os Cotistas, o Administrador, o Gestor e o Agente de  Retenção/Cobrança estão plenamente conscientes dos termos e efeitos  desta cláusula compromissória e concordam irrevogavelmente que a  arbitragem será a única f orma de resolução de disputas relacionada a  este Regulamento. Sem prejuízo da validade desta cláusula  compromissória, as partes elegem o foro da comarca do Rio de Janeiro,  estado do Rio de Janeiro, com a renúncia expressa a qualquer outra, se  e quando isso f or necessário para fins de: (i) executar as obrigações para  as quais haja disponibilidade imediata de execução judicial; (ii) obter  ordens de execução específica ou liminares de caráter preventivo,  temporário ou permanente, tais como a prestação de caução para um  processo arbitral iniciado ou em andamento entre as partes da  arbitragem e/ou assegurar a existência e ef icácia do processo arbitral;</a:t>
            </a:r>
          </a:p>
          <a:p>
            <a:r>
              <a:t> e/ou (iii) apresentar um pedido de execução específica ou outra ordem,  sendo certo que, uma vez obtida a execução específica ou outra ordem,  o Tribunal Arbitral a ser instituído ou que já esteja instituído, conforme o  caso, assumirá a competência plena e exclusiva para decidir sobre toda  e qualquer questão, quer relacionada ao processo ou ao mérito, que  possa ter dado origem à ordem ou execução específica solicitada, e o  respectivo processo será suspenso até que o Tribunal Arbitral profira  uma decisão parcial ou def initiva sobre a questão. A propositura de  qualquer ação judicial de acordo com este item não resultará em  renúncia à arbitragem ou à competência da Câmara.</a:t>
            </a:r>
          </a:p>
          <a:p>
            <a:r>
              <a:t>CNPJ 60010416000112 · Substituição de prestadores · Condição: Documentos atuais selecionados no inventário por categoria/escopo; a data documental isolada não comprova vigência jurídica.</a:t>
            </a:r>
          </a:p>
          <a:p>
            <a:r>
              <a:t>CNPJ 60010416000112 · Substituição de prestadores · Motivo: Cláusula primária localizada e citada, mas sua lista/condições extensas não admitem uma síntese literal curta confirmada. O trecho integral permanece nas fontes.</a:t>
            </a:r>
          </a:p>
          <a:p>
            <a:r>
              <a:t>CNPJ 60010416000112 · Substituição de prestadores · Versão e prevalência: Documentos atuais selecionados no inventário por categoria/escopo; a data documental isolada não comprova vigência jurídica.</a:t>
            </a:r>
          </a:p>
          <a:p>
            <a:r>
              <a:t>CNPJ 60010416000112 · Substituição de prestadores · Resumo do histórico: {"count": 1, "dates": ["2025-03-20"], "document_count": 1, "sources": [{"document_id": "993786", "title": "Regulamento", "reference_date": "2025-03-20", "version": "1", "page": 3, "clause": "1.8", "url": "https://fnet.bmfbovespa.com.br/fnet/publico/visualizarDocumento?id=993786", "sha256": "fd0fdd369a195510d81f81f505195a0b09e5f43522a990afa7d58c4f872921c8"}], "reference": {"path": "history/60010416000112.json", "criterion_id": "replacement", "total_count": 1, "preview_count": 1, "full_text_deferred": true, "sha256": "8e2bd813f4c51cf01f6bfaad164bafe69d2bbb192f753eac92da3a01c2e63046"}}</a:t>
            </a:r>
          </a:p>
          <a:p>
            <a:r>
              <a:t>CNPJ 62696791000193 · Substituição de prestadores · Regulamento · ID 1143317 · 2026-03-20 · versão 1 · p. 26 · 12.10 · https://fnet.bmfbovespa.com.br/fnet/publico/visualizarDocumento?id=1143317</a:t>
            </a:r>
          </a:p>
          <a:p>
            <a:r>
              <a:t>CNPJ 62696791000193 · Substituição de prestadores · Excerto da fonte:</a:t>
            </a:r>
          </a:p>
          <a:p>
            <a:r>
              <a:t>12.10 Na hipótese de renúncia, o Administrador fica obrigado a permanecer no exercício de suas funções até  a averbação, no cartório de registro de imóveis, nas matrículas referentes aos bens imóveis e direitos  integrantes da carteira de ativos, da ata da assembleia de Cotistas que eleger seu substituto e sucessor  na propriedade f iduciária desses bens e direitos.</a:t>
            </a:r>
          </a:p>
          <a:p>
            <a:r>
              <a:t>CNPJ 62696791000193 · Substituição de prestadores · Regulamento · ID 1143317 · 2026-03-20 · versão 1 · p. 26 · 12.10.1 · https://fnet.bmfbovespa.com.br/fnet/publico/visualizarDocumento?id=1143317</a:t>
            </a:r>
          </a:p>
          <a:p>
            <a:r>
              <a:t>CNPJ 62696791000193 · Substituição de prestadores · Excerto da fonte:</a:t>
            </a:r>
          </a:p>
          <a:p>
            <a:r>
              <a:t>12.10.1 É f acultado aos Cotistas que detenham ao menos 5% (cinco por cento) das Cotas emitidas, a  convocação da assembleia de Cotistas prevista no item 12.4 acima, caso o Administrador não  a convoque, no prazo de 10 (dez) dias contados da renúncia.</a:t>
            </a:r>
          </a:p>
          <a:p>
            <a:r>
              <a:t>CNPJ 62696791000193 · Substituição de prestadores · Condição: Documentos atuais selecionados no inventário por categoria/escopo; a data documental isolada não comprova vigência jurídica.</a:t>
            </a:r>
          </a:p>
          <a:p>
            <a:r>
              <a:t>CNPJ 62696791000193 · Substituição de prestadores · Versão e prevalência: Documentos atuais selecionados no inventário por categoria/escopo; a data documental isolada não comprova vigência jurídica.</a:t>
            </a:r>
          </a:p>
          <a:p>
            <a:r>
              <a:t>CNPJ 55563624000109 · Substituição de prestadores · Motivo: Não localizada uma cláusula material para este critério nos textos identificados e processados. A ausência de resultado não comprova inexistência da regra.</a:t>
            </a:r>
          </a:p>
          <a:p>
            <a:r>
              <a:t>CNPJ 62552447000120 · Substituição de prestadores · Motivo: Não localizada uma cláusula material para este critério nos textos identificados e processados. A ausência de resultado não comprova inexistência da regra.</a:t>
            </a:r>
          </a:p>
          <a:p>
            <a:r>
              <a:t>CNPJ 63953620000165 · Substituição de prestadores · Anexo ao Regulamento · ID 1222863 · 2026-06-02 · versão 1 · p. 15 · https://fnet.bmfbovespa.com.br/fnet/publico/visualizarDocumento?id=1222863</a:t>
            </a:r>
          </a:p>
          <a:p>
            <a:r>
              <a:t>CNPJ 63953620000165 · Substituição de prestadores · Excerto da fonte:</a:t>
            </a:r>
          </a:p>
          <a:p>
            <a:r>
              <a:t>Anexo I ao Regulamento  CLASSE CONSIGNADO PRIVADO DO MT GLOBAL FUNDO DE INVESTIMENTO EM DIREITOS  CREDITÓRIOS RESPONSABILIDADE LIMITADA</a:t>
            </a:r>
          </a:p>
          <a:p>
            <a:r>
              <a:t> (vii) inobservância pelo Administrador, pelo Custodiante e/ou pelo Gestor de seus deveres e obrigações  previstos neste Regulamento, bem como suas atribuições específicas nos outros contratos existentes  referentes ao funcionamento da Classe, verificada pelo Administrador, pelo Custodiante e/ou pelo  Gestor ou por qualquer dos Cotistas, desde que, uma vez notificados para sanar ou justificar o  descumprimento, o Administrador, o Custodiante e/ou o Gestor, conforme o caso, não o sane no prazo  de 5 (cinco) Dias Úteis contados do recebimento da referida notificação;</a:t>
            </a:r>
          </a:p>
          <a:p>
            <a:r>
              <a:t> (viii) aquisição, pela Classe, de Direitos Creditórios que estejam em desacordo com as Condições de Cessão e  os Critérios de Elegibilidade previstos neste Regulamento no momento de sua aquisição;</a:t>
            </a:r>
          </a:p>
          <a:p>
            <a:r>
              <a:t> (ix) alteração na classificação de risco das Cotas, se houver, que, para qualquer dado período após a  classificação de risco inicial das Cotas e/ou após a deliberação da Assembleia Especial de Cotistas a  respeito de um rebaixamento da classificação de risco das Cotas, implique no rebaixamento de dois  níveis na escala de risco pertinente elaborada pela Agência Classificadora de Risco; e/ou</a:t>
            </a:r>
          </a:p>
          <a:p>
            <a:r>
              <a:t> (x) renúncia do Gestor, sem que tenham sido tomadas tempestivamente as providências previstas no  CAPÍTULO 2 da parte geral deste Regulamento;</a:t>
            </a:r>
          </a:p>
          <a:p>
            <a:r>
              <a:t> (xi) no caso de o Contrato de Endosso celebrado com o Endossante, por qualquer razão, (a) seja declarado  inválido, nulo ou ineficaz por ordem judicial e/ou qualquer autoridade governamental; ou (b) tenha sua  validade ou eficácia, total ou parcialmente, contestada pelo Endossante, judicial ou administrativamente</a:t>
            </a:r>
          </a:p>
          <a:p>
            <a:r>
              <a:t> (xii) em caso de não renovação, cancelamento, revogação ou suspensão de concessões, autorizações,  subvenções, autorizações ou licenças, relevantes para o exercício regular dos negócios realizados pelo  Endossante, incluindo o Convênio Consignado Privado, e as autorizações regulatórias concedidas pelo  Banco Central, observado, caso aplicável, os prazos de cura dispostos no Contrato de Endosso;</a:t>
            </a:r>
          </a:p>
          <a:p>
            <a:r>
              <a:t> (xiii) no caso de o Endossante ou o Agente de Retenção/Cobrança e/ou seus acionistas controladores diretos  e/ou indiretos (pessoas físicas ou jurídicas), quotistas, diretores, conselheiros e/ou representantes e  colaboradores do Endossante ou seus acionistas controladores, (a) terem contra si uma decisão judicial  transitada em julgado envolvendo (1) crimes contra a propriedade, (2) crimes de falsificação, (3) crimes  contra o sistema financeiro nacional, (4) crimes contra o mercado de capitais, (5) crimes contra a  seguridade social, (6) crimes contra as relações de consumo e (7) crimes previstos na lei de falências;</a:t>
            </a:r>
          </a:p>
          <a:p>
            <a:r>
              <a:t> e/ou (b) violar as normas anticorrupção aplicáveis, especialmente a Lei nº 9.613, de 3 de março de 1998,  conforme alterada ou substituída de tempos em tempos, e qualquer outra a que estejam sujeitos, quer  contratual ou legalmente, desde que a violação mencionada seja considerada como, especialmente, mas  não limitada a (1) financiamento, crédito, patrocínio ou outra forma de subvenção à prática de atos  ilícitos previstos na legislação anticorrupção, de combate à lavagem de dinheiro, organizações  antissociais e/ou crime organizado; (2) promessa, oferta ou entrega, direta ou indiretamente, de  qualquer objeto de valor a um funcionário público ou terceiros para obter ou manter negócios ou para  obter qualquer vantagem indevida; (3) aceitação ou compromisso de aceitar, de quem quer que seja,  por si ou por outrem, qualquer pagamento, doação, compensação, vantagens financeiras ou não  financeiras ou benefícios de qualquer tipo, direta ou indiretamente relacionados com o objeto da Classe,  que constituam uma prática ilegal, que violem as boas condutas, a ética, a moral e constitua corrupção  nos termos das leis dos países da sede e onde existam filiais das partes envolvidas, das partes  contratantes; e</a:t>
            </a:r>
          </a:p>
          <a:p>
            <a:r>
              <a:t> (xiv) caso o cotista das Cotas Subordinadas deixe de ser titular das Cotas Subordinadas durante todo prazo  de duração da Classe;</a:t>
            </a:r>
          </a:p>
          <a:p>
            <a:r>
              <a:t> (xv) no caso de não serem realizados pagamentos de amortização e/ou resgate de Cotas Seniores, nos  termos, prazos e condições previstos no presente Regulamento e nos respectivos Apêndices e  Suplementos, não sanados em até 2 (dois) Dias Úteis contados do prazo final do respectivo evento;</a:t>
            </a:r>
          </a:p>
          <a:p>
            <a:r>
              <a:t> (xvi) no caso de pagamento de resgate e/ou amortização de Cotas Subordinadas em desacordo com os  termos, prazos e condições previstos no presente Regulamento e no respectivo Apêndice.</a:t>
            </a:r>
          </a:p>
          <a:p>
            <a:r>
              <a:t>CNPJ 63953620000165 · Substituição de prestadores · Condição: Documentos atuais selecionados no inventário por categoria/escopo; a data documental isolada não comprova vigência jurídica.</a:t>
            </a:r>
          </a:p>
          <a:p>
            <a:r>
              <a:t>CNPJ 63953620000165 · Substituição de prestadores · Motivo: Cláusula primária localizada e citada, mas sua lista/condições extensas não admitem uma síntese literal curta confirmada. O trecho integral permanece nas fontes.</a:t>
            </a:r>
          </a:p>
          <a:p>
            <a:r>
              <a:t>CNPJ 63953620000165 · Substituição de prestadores · Versão e prevalência: Documentos atuais selecionados no inventário por categoria/escopo; a data documental isolada não comprova vigência jurídica.</a:t>
            </a:r>
          </a:p>
          <a:p>
            <a:r>
              <a:t>CNPJ 54871427000194 · Rating por subclasse e downgrade · Regulamento · ID 670691 · 28/04/2024 · versão Regulamento — referência 28/04/2024 · p. 15 · Anexo I, 5.12 · https://fnet.bmfbovespa.com.br/fnet/publico/visualizarDocumento?id=670691</a:t>
            </a:r>
          </a:p>
          <a:p>
            <a:r>
              <a:t>CNPJ 54871427000194 · Rating por subclasse e downgrade · Excerto da fonte:</a:t>
            </a:r>
          </a:p>
          <a:p>
            <a:r>
              <a:t>5.12 As Cotas não serão classificadas por Agência Classificadora de Risco em funcionamento no País, uma vez que a Classe não será destinada ao público em geral. CAPÍTULO 6 – ATRIBUIÇÃO DE RESULTADO ÀS COTAS E CÁLCULO DO VALOR UNITÁRIO 6.1 As Cotas terão seu Valor Unitário calculado e divulgado pelo ADMINISTRADOR mensalmente, no último Dia Útil de cada mês, no fechamento dos mercados, a partir do mês seguinte à Data da 1ª Integralização e até a data de resgate das Cotas ou na data de liquidação da Classe Única, conforme o caso. 6.2 A partir da Data da 1ª Integralização de Cotas, o Valor Unitário das Cotas s erá calculado no fechamento do último Dia Útil de cada mês, equivalerá ao resultado da divisão do valor do Patrimônio Líquido apurado para o respectivo dia, pelo número de Cotas em circulação na respectiva data de cálculo . CAPÍTULO 7 – AMORTIZAÇÃO E RESGATE DAS COTAS 7.1 A distribuição de quaisquer ganhos e rendimentos d a Classe aos Cotistas será f eita exclusivamente mediante a Amortização e/ou o resgate de Cotas, observado o disposto neste Capítulo. 7.2 As amortizações de Cotas serão realizadas a qualquer tempo, a critério do GESTOR, observada a disponibilidade de recursos da Classe Única e a</a:t>
            </a:r>
          </a:p>
          <a:p>
            <a:r>
              <a:t>CNPJ 54871427000194 · Rating por subclasse e downgrade · Versão e prevalência: Leitura específica das cláusulas indicadas; condições e conflitos preservados. Seleção documental atual não comprova vigência jurídica por data isolada.</a:t>
            </a:r>
          </a:p>
          <a:p>
            <a:r>
              <a:t>CNPJ 54871427000194 · Rating por subclasse e downgrade · Resumo do histórico: {"count": 5, "dates": ["2024-12-31", "2025-01-01", "2025-12-31"], "document_count": 3, "sources": [{"document_id": "1151805", "title": "Demonstrações Financeiras", "reference_date": "2025-12-31", "version": "1", "page": 25, "url": "https://fnet.bmfbovespa.com.br/fnet/publico/visualizarDocumento?id=1151805", "sha256": "f1cea70b152968bf96ef9221b27225953cb20aeef487b2798db3c25e11b528d4"}, {"document_id": "869529", "title": "Demonstrações Financeiras", "reference_date": "2025-01-01", "version": "1", "page": 25, "url": "https://fnet.bmfbovespa.com.br/fnet/publico/visualizarDocumento?id=869529", "sha256": "9a93a9369ac8efdbc54ff8fcee3ccac3abf88edab4807b9323d3852450771b2a"}, {"document_id": "870070", "title": "Demonstrações Financeiras", "reference_date": "2024-12-31", "version": "1", "page": 25, "url": "https://fnet.bmfbovespa.com.br/fnet/publico/visualizarDocumento?id=870070", "sha256": "9a93a9369ac8efdbc54ff8fcee3ccac3abf88edab4807b9323d3852450771b2a"}], "reference": {"path": "history/54871427000194.json", "criterion_id": "rating", "total_count": 5, "preview_count": 3, "full_text_deferred": true, "sha256": "35d7cd99be50c7287c9fb675cf4f2e736002315295a225a9efa79c8d9186d874"}}</a:t>
            </a:r>
          </a:p>
          <a:p>
            <a:r>
              <a:t>CNPJ 60010416000112 · Rating por subclasse e downgrade · Demonstrações Financeiras - Fusão, cisão e incorporação · ID 1298690 · 2026-05-08 · versão 1 · p. 35 · https://fnet.bmfbovespa.com.br/fnet/publico/visualizarDocumento?id=1298690</a:t>
            </a:r>
          </a:p>
          <a:p>
            <a:r>
              <a:t>CNPJ 60010416000112 · Rating por subclasse e downgrade · Excerto da fonte:</a:t>
            </a:r>
          </a:p>
          <a:p>
            <a:r>
              <a:t>As Cotas Seniores poderão ser objeto de classificação de risco (rating) por Agência  Classificadora de Risco em funcionamento no país.</a:t>
            </a:r>
          </a:p>
          <a:p>
            <a:r>
              <a:t>CNPJ 60010416000112 · Rating por subclasse e downgrade · Condição: Documentos atuais selecionados no inventário por categoria/escopo; a data documental isolada não comprova vigência jurídica.</a:t>
            </a:r>
          </a:p>
          <a:p>
            <a:r>
              <a:t>CNPJ 60010416000112 · Rating por subclasse e downgrade · Versão e prevalência: Documentos atuais selecionados no inventário por categoria/escopo; a data documental isolada não comprova vigência jurídica.</a:t>
            </a:r>
          </a:p>
          <a:p>
            <a:r>
              <a:t>CNPJ 60010416000112 · Rating por subclasse e downgrade · Resumo do histórico: {"count": 5, "dates": ["2025-11-30", "2026-03-18", "2026-04-16"], "document_count": 3, "sources": [{"document_id": "1282181", "title": "Demonstrações Financeiras - Fusão, cisão e incorporação", "reference_date": "2026-04-16", "version": "1", "page": 38, "url": "https://fnet.bmfbovespa.com.br/fnet/publico/visualizarDocumento?id=1282181", "sha256": "b1c6566e43a00bcd00c8a7f30c77b7f86e351bd8e355bbea113f46d1dafda703"}, {"document_id": "1224477", "title": "Demonstrações Financeiras - Fusão, cisão e incorporação", "reference_date": "2026-03-18", "version": "1", "page": 37, "url": "https://fnet.bmfbovespa.com.br/fnet/publico/visualizarDocumento?id=1224477", "sha256": "0751bf0a75bc3b44c2748f5000226665c6ec6698a90c4dc6170b4e6c187759ae"}, {"document_id": "1126154", "title": "Demonstrações Financeiras", "reference_date": "2025-11-30", "version": "1", "page": 38, "url": "https://fnet.bmfbovespa.com.br/fnet/publico/visualizarDocumento?id=1126154", "sha256": "a01e7ccf88c548f12c95cba8526d7efbef6b585c112cd4668eca781c292090b0"}], "reference": {"path": "history/60010416000112.json", "criterion_id": "rating", "total_count": 5, "preview_count": 3, "full_text_deferred": true, "sha256": "8e2bd813f4c51cf01f6bfaad164bafe69d2bbb192f753eac92da3a01c2e63046"}}</a:t>
            </a:r>
          </a:p>
          <a:p>
            <a:r>
              <a:t>CNPJ 62696791000193 · Rating por subclasse e downgrade · Regulamento · ID 1143317 · 2026-03-20 · versão 1 · p. 3 · 2.1.2 · https://fnet.bmfbovespa.com.br/fnet/publico/visualizarDocumento?id=1143317</a:t>
            </a:r>
          </a:p>
          <a:p>
            <a:r>
              <a:t>CNPJ 62696791000193 · Rating por subclasse e downgrade · Excerto da fonte:</a:t>
            </a:r>
          </a:p>
          <a:p>
            <a:r>
              <a:t>2.1.2 Não obstante as atribuições previstas neste Regulamento e na regulamentação aplicável, cabe  ao Gestor praticar os atos necessários à gestão da carteira de ativos do Fundo, o que inclui,  mas não se limita, à contratação, em nome do Fundo ou da classe de cot as, dos seguintes  serviços: (a) intermediação de operações para carteira de ativos; (b) distribuição de cotas; (c)  consultoria de investimentos ou consultoria especializada; (d) classificação de risco por agência  de classificação de risco de crédito; (e) f ormador de mercado de classe f echada; (f ) cogestão  da carteira de ativos; (g) empresa especializada para administrar as locações ou arrendamentos  de imóveis rurais e a exploração do direito de superf ície, assim como para monitorar e</a:t>
            </a:r>
          </a:p>
          <a:p>
            <a:r>
              <a:t>CNPJ 62696791000193 · Rating por subclasse e downgrade · Regulamento · ID 1143317 · 2026-03-20 · versão 1 · p. 36 · 1.2 · https://fnet.bmfbovespa.com.br/fnet/publico/visualizarDocumento?id=1143317</a:t>
            </a:r>
          </a:p>
          <a:p>
            <a:r>
              <a:t>CNPJ 62696791000193 · Rating por subclasse e downgrade · Excerto da fonte:</a:t>
            </a:r>
          </a:p>
          <a:p>
            <a:r>
              <a:t>1.2. As Cotas Subordinadas Juniores serão subscritas e integralizadas por um único Cotista e/ou por Cotistas  vinculados por interesse único e indissociável, de forma que serão objeto de colocação privada, nos termos  do Compromisso de Investimento a ser f irmado pelo Cotista, dispensadas da classificação de risco e não  terão parâmetro de remuneração def inido.</a:t>
            </a:r>
          </a:p>
          <a:p>
            <a:r>
              <a:t>2. Emissão, Subscrição e Integralização das Cotas</a:t>
            </a:r>
          </a:p>
          <a:p>
            <a:r>
              <a:t>CNPJ 62696791000193 · Rating por subclasse e downgrade · Condição: Documentos atuais selecionados no inventário por categoria/escopo; a data documental isolada não comprova vigência jurídica.</a:t>
            </a:r>
          </a:p>
          <a:p>
            <a:r>
              <a:t>CNPJ 62696791000193 · Rating por subclasse e downgrade · Versão e prevalência: Documentos atuais selecionados no inventário por categoria/escopo; a data documental isolada não comprova vigência jurídica.</a:t>
            </a:r>
          </a:p>
          <a:p>
            <a:r>
              <a:t>CNPJ 55563624000109 · Rating por subclasse e downgrade · Regulamento · ID 1192614 · 30/04/2026 · versão Regulamento30/04/2026 · p. 44 · GlossárioTermo de Adesão · https://fnet.bmfbovespa.com.br/fnet/publico/visualizarDocumento?id=1192614</a:t>
            </a:r>
          </a:p>
          <a:p>
            <a:r>
              <a:t>CNPJ 55563624000109 · Rating por subclasse e downgrade · Excerto da fonte:</a:t>
            </a:r>
          </a:p>
          <a:p>
            <a:r>
              <a:t>Termo de Adesão”: documento elaborado nos termos do art. 29 da Resolução CVM 175, por meio do qual o Cotista adere a este Regulamento e que deve ser firmado quando de seu ingresso no FUNDO, declarando, inclusive, sem se limitar a, ter pleno conhecimento dos riscos envolvidos na operação, inclusive da possibilidade de perda total do capital investido, e da ausência de classificação de risco das Cotas subscritas; “Valor Unitário”: o valor individual das Cotas, equivalente a R$ 1.000,00 (um mil), na primeira Data de Emissão, calculado todo Dia Útil para efeito da definição de seu valor de integralização e</a:t>
            </a:r>
          </a:p>
          <a:p>
            <a:r>
              <a:t>CNPJ 55563624000109 · Rating por subclasse e downgrade · Versão e prevalência: Leitura específica das cláusulas indicadas; condições e conflitos preservados. Seleção documental atual não comprova vigência jurídica por data isolada.</a:t>
            </a:r>
          </a:p>
          <a:p>
            <a:r>
              <a:t>CNPJ 55563624000109 · Rating por subclasse e downgrade · Resumo do histórico: {"count": 2, "dates": ["2025-01-31", "2026-01-31"], "document_count": 2, "sources": [{"document_id": "1178840", "title": "Demonstrações Financeiras", "reference_date": "2026-01-31", "version": "1", "page": 22, "url": "https://fnet.bmfbovespa.com.br/fnet/publico/visualizarDocumento?id=1178840", "sha256": "c458e98664c5c907ddb5a05a94b120bed4e05295b2bfc420f5ba69af0a229abe"}, {"document_id": "891861", "title": "Demonstrações Financeiras", "reference_date": "2025-01-31", "version": "1", "page": 23, "url": "https://fnet.bmfbovespa.com.br/fnet/publico/visualizarDocumento?id=891861", "sha256": "e9cb9e6ddbe505fe068cfcac33605165a98313489de0d3ce6d4d238263c3f3e7"}], "reference": {"path": "history/55563624000109.json", "criterion_id": "rating", "total_count": 2, "preview_count": 2, "full_text_deferred": true, "sha256": "7835d573fb58a3c19adf5b8ecc2aee2bdbb9a88f7a0c0209b5f262b64c7522e3"}}</a:t>
            </a:r>
          </a:p>
          <a:p>
            <a:r>
              <a:t>CNPJ 62552447000120 · Rating por subclasse e downgrade · Regulamento · ID 1200623 · 21/05/2026 · versão Consolidado21/05/2026 aprovado pelo ato1200625 · p. 19 · AnexoI6.11 · https://fnet.bmfbovespa.com.br/fnet/publico/visualizarDocumento?id=1200623</a:t>
            </a:r>
          </a:p>
          <a:p>
            <a:r>
              <a:t>CNPJ 62552447000120 · Rating por subclasse e downgrade · Excerto da fonte:</a:t>
            </a:r>
          </a:p>
          <a:p>
            <a:r>
              <a:t>6.11 As Cotas não serão objeto de classif icação de risco . CAPÍTULO 7 – AMORTIZAÇÃO DAS COTAS 7.1 A distribuição de quaisquer ganhos e rendimentos d a Classe aos Cotistas será f eita exclusivamente mediante a Amortização, observado o disposto neste Capítulo. 7.2 As Cotas poderão ser amortizadas através de uma Amortização programada, se houver, conforme prevista nos Apêndices, caso aplicável (“Amortização Programada”), e por meio amortização extraordinária das Cotas, a ser realizada por (a) por decisão do Gestor, para: (i) reenquadramento da Carteira ao mínimo de Direitos Creditórios que deve ser detido pel</a:t>
            </a:r>
          </a:p>
          <a:p>
            <a:r>
              <a:t>CNPJ 62552447000120 · Rating por subclasse e downgrade · Versão e prevalência: Leitura específica das cláusulas indicadas; condições e conflitos preservados. Seleção documental atual não comprova vigência jurídica por data isolada.</a:t>
            </a:r>
          </a:p>
          <a:p>
            <a:r>
              <a:t>CNPJ 63953620000165 · Rating por subclasse e downgrade · Anexo ao Regulamento · ID 1222863 · 02/06/2026 · versão AnexoConsignadoPrivado02/06/2026 · p. 11 · 6.14 · https://fnet.bmfbovespa.com.br/fnet/publico/visualizarDocumento?id=1222863</a:t>
            </a:r>
          </a:p>
          <a:p>
            <a:r>
              <a:t>CNPJ 63953620000165 · Rating por subclasse e downgrade · Excerto da fonte:</a:t>
            </a:r>
          </a:p>
          <a:p>
            <a:r>
              <a:t>6.14 As Cotas poderão ser objeto de classificação de risco pela contratada pelo Gestor, desde que em comum acordo entre Gestor e Cotistas Subordinados em Assembleia Especial de Cotistas (“Agência Classificadora de Risco”). CAPÍTULO 7 – AMORTIZAÇÃO DAS COTAS 7.1 A distribuição de quaisquer ganhos e rendimentos da Classe aos Cotistas será feita exclusivamente mediante a Amortização de Cotas, observado o disposto neste Capítulo e nos Apêndices. 7.2 As Cotas poderão ser amortizadas através de uma Amortização por Regime de Caixa, se houver conforme prevista nos Apêndices; e por meio amortização extraordinária das Cotas, a ser realiz</a:t>
            </a:r>
          </a:p>
          <a:p>
            <a:r>
              <a:t>CNPJ 63953620000165 · Rating por subclasse e downgrade · Versão e prevalência: Leitura específica das cláusulas indicadas; condições e conflitos preservados. Seleção documental atual não comprova vigência jurídica por data isolada.</a:t>
            </a:r>
          </a:p>
          <a:p>
            <a:r>
              <a:t>CNPJ 63953620000165 · Rating por subclasse e downgrade · Resumo do histórico: {"count": 8, "dates": ["2026-04-28", "2026-05-08", "2026-05-15"], "document_count": 3, "sources": [{"document_id": "1327859", "title": "Demonstrações Financeiras - Fusão, cisão e incorporação", "reference_date": "2026-05-15", "version": "1", "page": 29, "url": "https://fnet.bmfbovespa.com.br/fnet/publico/visualizarDocumento?id=1327859", "sha256": "dca1c68babb97f887528c3e2e47596a9c30f507b067981a35655b2f2da9c8054"}, {"document_id": "1298691", "title": "Demonstrações Financeiras - Fusão, cisão e incorporação", "reference_date": "2026-05-08", "version": "1", "page": 30, "url": "https://fnet.bmfbovespa.com.br/fnet/publico/visualizarDocumento?id=1298691", "sha256": "58c570d9b8d4d265330d3db3ea81c435b8e44a6dab4002aa37790652a1ee9819"}, {"document_id": "1282180", "title": "Demonstrações Financeiras - Fusão, cisão e incorporação", "reference_date": "2026-04-28", "version": "1", "page": 30, "url": "https://fnet.bmfbovespa.com.br/fnet/publico/visualizarDocumento?id=1282180", "sha256": "afaaa0e6809be4385e5bdb6c911aac582032c5bdbac3d7750234bf9eaf00438a"}], "reference": {"path": "history/63953620000165.json", "criterion_id": "rating",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Hedge e prestadores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Finalidade e limites de derivativos · Regulamento · ID 670691 · 28/04/2024 · versão Regulamento — referência 28/04/2024 · p. 13 · Anexo I, 4.15–4.16 · https://fnet.bmfbovespa.com.br/fnet/publico/visualizarDocumento?id=670691</a:t>
            </a:r>
          </a:p>
          <a:p>
            <a:r>
              <a:t>CNPJ 54871427000194 · Finalidade e limites de derivativos · Excerto da fonte:</a:t>
            </a:r>
          </a:p>
          <a:p>
            <a:r>
              <a:t>4.15 A Classe poderá utilizar instrumentos derivativos, desde que com o objetivo de proteção patrimonial, ou, desde que não resulte em exposição a risco de capital, conforme definida no inciso XXIV Art. 3º da parte geral da Resolução CVM 175, troca de indexador a que os ativos estão indexados . 4.16 A Classe não realizará operações de day trade, assim consideradas aquelas iniciadas e encerradas no mesmo dia, independentemente de a Classe possuir estoque ou posição anterior do mesmo Ativo Financeiro. 4.17 É vedada qualquer forma de antecipação de recursos aos Endossantes para posterior reembolso pela Classe, seja pelo ADMINISTRADOR, GESTOR, CUSTODIANTE, consultora ou Originadores. 4.18 Exceto na medida em que eventualmente previsto nos Contratos de Cessão e/ou em instrumentos eventualmente celebrados entre a Classe e os Endossantes, os Endossantes não serão responsáveis em caso de eventual inadimplemento dos Direitos Creditórios por eles cedidos, sendo responsáveis, não obstante, apenas pela existência, certeza, conteúdo, exatidão, veracidade, legitimidade, validade e correta f ormalização dos Direitos Creditórios que cederem à Classe, nos termos da</a:t>
            </a:r>
          </a:p>
          <a:p>
            <a:r>
              <a:t>CNPJ 54871427000194 · Finalidade e limites de derivativos · Versão e prevalência: Leitura específica das cláusulas indicadas; condições e conflitos preservados. Seleção documental atual não comprova vigência jurídica por data isolada.</a:t>
            </a:r>
          </a:p>
          <a:p>
            <a:r>
              <a:t>CNPJ 54871427000194 · Finalidade e limites de derivativos · Resumo do histórico: {"count": 2, "dates": ["2024-04-19", "2024-04-28"], "document_count": 2, "sources": [{"document_id": "670691", "title": "Regulamento", "reference_date": "2024-04-28", "version": "1", "page": "13", "url": "https://fnet.bmfbovespa.com.br/fnet/publico/visualizarDocumento?id=670691", "sha256": "bf16dd7f1a62d5cdbf2e2d54fef81783783f7310fbc99c3a8f00459bdf9d037b"}, {"document_id": "670689", "title": "Regulamento", "reference_date": "2024-04-19", "version": "1", "page": 13, "clause": "4.15", "url": "https://fnet.bmfbovespa.com.br/fnet/publico/visualizarDocumento?id=670689", "sha256": "891bc9bc5d87bbc02ec139077a84d2702eb81ea02035fb71d24f5b8366b94a0b"}], "reference": {"path": "history/54871427000194.json", "criterion_id": "hedge", "total_count": 2, "preview_count": 2, "full_text_deferred": true, "sha256": "35d7cd99be50c7287c9fb675cf4f2e736002315295a225a9efa79c8d9186d874"}}</a:t>
            </a:r>
          </a:p>
          <a:p>
            <a:r>
              <a:t>CNPJ 60010416000112 · Finalidade e limites de derivativos · Regulamento · ID 1051393 · 2025-10-09 · versão 1 · p. 12 · 4.9 · https://fnet.bmfbovespa.com.br/fnet/publico/visualizarDocumento?id=1051393</a:t>
            </a:r>
          </a:p>
          <a:p>
            <a:r>
              <a:t>CNPJ 60010416000112 · Finalidade e limites de derivativos · Excerto da fonte:</a:t>
            </a:r>
          </a:p>
          <a:p>
            <a:r>
              <a:t>4.9 Sem prejuízo de limites mais restritivos definidos neste Regulamento, o Gestor deverá observar, ainda, os  seguintes limites de concentração para a composição da Carteira:</a:t>
            </a:r>
          </a:p>
          <a:p>
            <a:r>
              <a:t> (i ) Até 100% (cem por cento) da parcela do Patrimônio Líquido investida em Ativos  Financeiros de Liquidez poderá ser alocada em Ativos Financeiros de Liquidez de  emissão ou que envolvam retenção de risco por parte do Administrador, Gestor, e/ou  suas partes relacionadas; e</a:t>
            </a:r>
          </a:p>
          <a:p>
            <a:r>
              <a:t> (ii) Até 100% (cem por cento) da parcela do Patrimônio Líquido investida em operações  com derivativos poderá ser alocada em derivativos nos quais, inexistindo contraparte  central, se tenha como contraparte o Gestor e/ou suas partes relacionadas.</a:t>
            </a:r>
          </a:p>
          <a:p>
            <a:r>
              <a:t>CNPJ 60010416000112 · Finalidade e limites de derivativos · Regulamento · ID 1051393 · 2025-10-09 · versão 1 · p. 13 · 4.15 · https://fnet.bmfbovespa.com.br/fnet/publico/visualizarDocumento?id=1051393</a:t>
            </a:r>
          </a:p>
          <a:p>
            <a:r>
              <a:t>CNPJ 60010416000112 · Finalidade e limites de derivativos · Excerto da fonte:</a:t>
            </a:r>
          </a:p>
          <a:p>
            <a:r>
              <a:t>4.15 A Classe poderá utilizar instrumentos derivativos, observados os limites de concentração previstos neste  Regulamento, desde que com o objetivo de proteção patrimonial, ou, desde que não resulte em exposição  a risco de capital, conforme definida no inciso XXIV do Art. 3º da parte geral da Resolução CVM 175, troca  de indexador a que os ativos estão indexados e o índice de ref erência de cada Subclasse.</a:t>
            </a:r>
          </a:p>
          <a:p>
            <a:r>
              <a:t>CNPJ 60010416000112 · Finalidade e limites de derivativos · Regulamento · ID 1051393 · 2025-10-09 · versão 1 · p. 16 · 7.11 · https://fnet.bmfbovespa.com.br/fnet/publico/visualizarDocumento?id=1051393</a:t>
            </a:r>
          </a:p>
          <a:p>
            <a:r>
              <a:t>CNPJ 60010416000112 · Finalidade e limites de derivativos · Excerto da fonte:</a:t>
            </a:r>
          </a:p>
          <a:p>
            <a:r>
              <a:t>7.11 Sem prejuízo do disposto do disposto nos itens 7.1 a 7.10 acima, a partir da Data da 1ª Integralização de  Cotas até a liquidação integral das Obrigações da Classe, sempre preservando a manutenção da boa  ordem legal, administrativa e operacional da Classe, o Gestor obriga-se a utilizar os recursos disponíveis  na Conta de Movimentação da Classe e/ou mantidos em Ativos Financeiros de Liquidez, em cada Dia Útil,  de acordo com a seguinte ordem de prioridade de alocação, na forma dos itens e tabela abaixo, de modo  que cada um dos itens listado apenas será contemplado após o direcionamento do montante total  necessário para a satisfação dos itens anteriores, ressalvado, enquanto em curso um Evento de Avaliação  e/ou um Evento de Liquidação, o disposto no item 11.4.1 abaixo</a:t>
            </a:r>
          </a:p>
          <a:p>
            <a:r>
              <a:t> (i) entradas de recursos provenientes da integralização de Cotas e dos Direitos Creditórios e  Ativos Financeiros de Liquidez que compõem a carteira da Classe, durante o Período de  Investimento, na seguinte ordem:</a:t>
            </a:r>
          </a:p>
          <a:p>
            <a:r>
              <a:t> a. pagamento dos Encargos;</a:t>
            </a:r>
          </a:p>
          <a:p>
            <a:r>
              <a:t> b. pagamento de despesas relativas aos instrumentos derivativos, conf orme aplicável;</a:t>
            </a:r>
          </a:p>
          <a:p>
            <a:r>
              <a:t> c. aquisição de Direitos Creditórios, sempre que ofertado, em moeda corrente nacional, em  conf ormidade com a Política de Investimento descrita neste Regulamento, sem prejuízo  do disposto no item 4.12 acima; e  d. aquisição de Ativos Financeiros de Liquidez, observando-se a Política de Investimentos.</a:t>
            </a:r>
          </a:p>
          <a:p>
            <a:r>
              <a:t> (ii) entradas de recursos provenientes dos Direitos Creditórios e Ativos Financeiros de Liquidez  que compõem a carteira da Classe, após o término do Período de Investimento, na seguinte  ordem, observadas as seguintes condições:</a:t>
            </a:r>
          </a:p>
          <a:p>
            <a:r>
              <a:t> a. pagamento dos Encargos;</a:t>
            </a:r>
          </a:p>
          <a:p>
            <a:r>
              <a:t> b. pagamento de despesas relativas aos instrumentos derivativos, conf orme aplicável;</a:t>
            </a:r>
          </a:p>
          <a:p>
            <a:r>
              <a:t> c. pagamento da amortização do principal e dos rendimentos acumulados relacionados às  Cotas Seniores, de modo que, considerando, pro f orma, todas as amortizações  pretendidas, o percentual empregado para amortização das Cotas Seniores seja  equivalente à relação entre o Patrimônio Líquido Sênior dividido pelo Patrimônio Líquido  da Classe, com a devida observância dos termos e condições deste Regulamento, do  Apêndice e do Suplemento das Cotas Seniores;</a:t>
            </a:r>
          </a:p>
          <a:p>
            <a:r>
              <a:t> d. pagamento da amortização do principal e dos rendimentos acumulados relacionados às  Cotas Subordinadas, de modo que, considerando, pro f orma, todas as amortizações  pretendidas, o percentual empregado para amortização das Cotas Subordinadas seja  equivalente à relação entre o Patrimônio Líquido Subordinado dividido pelo Patrimônio  Líquido da Classe, com a devida observância dos termos e condições deste  Regulamento, do Apêndice e do Suplemento das Cotas Seniores e desde que  respeitados o Índice de Subordinação;</a:t>
            </a:r>
          </a:p>
          <a:p>
            <a:r>
              <a:t> e. aquisição de Ativos Financeiros, observado o limite de alocação previsto no item 4.7  deste Anexo I.</a:t>
            </a:r>
          </a:p>
          <a:p>
            <a:r>
              <a:t>CNPJ 60010416000112 · Finalidade e limites de derivativos · Condição: Documentos atuais selecionados no inventário por categoria/escopo; a data documental isolada não comprova vigência jurídica.</a:t>
            </a:r>
          </a:p>
          <a:p>
            <a:r>
              <a:t>CNPJ 60010416000112 · Finalidade e limites de derivativos · Versão e prevalência: Documentos atuais selecionados no inventário por categoria/escopo; a data documental isolada não comprova vigência jurídica.</a:t>
            </a:r>
          </a:p>
          <a:p>
            <a:r>
              <a:t>CNPJ 60010416000112 · Finalidade e limites de derivativos · Resumo do histórico: {"count": 2, "dates": ["2025-03-20", "2025-10-09"], "document_count": 2, "sources": [{"document_id": "1051393", "title": "Regulamento", "reference_date": "2025-10-09", "version": "1", "page": "13", "url": "https://fnet.bmfbovespa.com.br/fnet/publico/visualizarDocumento?id=1051393", "sha256": "8469d613078ffd5a6c1d217885d8a397a16342c0b937ae4aa24b106505f233ae"}, {"document_id": "993786", "title": "Regulamento", "reference_date": "2025-03-20", "version": "1", "page": 12, "clause": "4.9", "url": "https://fnet.bmfbovespa.com.br/fnet/publico/visualizarDocumento?id=993786", "sha256": "fd0fdd369a195510d81f81f505195a0b09e5f43522a990afa7d58c4f872921c8"}], "reference": {"path": "history/60010416000112.json", "criterion_id": "hedge", "total_count": 2, "preview_count": 2, "full_text_deferred": true, "sha256": "8e2bd813f4c51cf01f6bfaad164bafe69d2bbb192f753eac92da3a01c2e63046"}}</a:t>
            </a:r>
          </a:p>
          <a:p>
            <a:r>
              <a:t>CNPJ 62696791000193 · Finalidade e limites de derivativos · Regulamento · ID 1143317 · 20/03/2026 · versão Regulamento — referência 20/03/2026 · p. 15 · Anexo I, 4.28 e 4.30(i) · https://fnet.bmfbovespa.com.br/fnet/publico/visualizarDocumento?id=1143317</a:t>
            </a:r>
          </a:p>
          <a:p>
            <a:r>
              <a:t>CNPJ 62696791000193 · Finalidade e limites de derivativos · Excerto da fonte:</a:t>
            </a:r>
          </a:p>
          <a:p>
            <a:r>
              <a:t>4.28 A Classe pode aplicar recursos em instrumentos financeiros derivativos, exclusivamente para fins de proteção patrimonial, cuja exposição seja sempre, no máximo, o valor do Patrimônio Líquido. 4.29 A Classe pode emprestar ativos f inanceiros e valores mobiliários, desde que tais operações de empréstimo sejam cursadas exclusivamente por meio de serviço autorizado pelo Banco Central do Brasil ou pela CVM. 4.30 É vedado à Classe: (i) aplicar no exterior recursos captados no País; (ii) salvo aprovação em assembleia de Cotistas, a realização de operações quando caracterizada situação de conf lito de interesses entre: (a) a Classe, o Administrador ou o Gestor ou a Consultoria Especializada; (b) a Classe e os Cotistas que detenham participação correspondente a, no mínimo, 10% (dez por cento) do patrimônio da Classe; e (c) a Classe e o representante dos Cotistas; (iii) a aplicação de recursos em sociedades nas quais participem o Administrador, o Gestor, os consultores, os membros de comitês ou conselhos e os Cotistas titulares de Cotas representativas de 5% (cinco por cento) do patri</a:t>
            </a:r>
          </a:p>
          <a:p>
            <a:r>
              <a:t>CNPJ 62696791000193 · Finalidade e limites de derivativos · Regulamento · ID 1143317 · 20/03/2026 · versão Regulamento — referência 20/03/2026 · p. 27 · Anexo I, 12.11(x) · https://fnet.bmfbovespa.com.br/fnet/publico/visualizarDocumento?id=1143317</a:t>
            </a:r>
          </a:p>
          <a:p>
            <a:r>
              <a:t>CNPJ 62696791000193 · Finalidade e limites de derivativos · Excerto da fonte:</a:t>
            </a:r>
          </a:p>
          <a:p>
            <a:r>
              <a:t>(x) realizar operações com derivativos, exceto quando tais operações f orem realizadas exclusivamente para f ins de proteção patrimonial e desde que a exposição seja sempre, no máximo, o valor do Patrimônio Líquido. 12.11.1 A vedação prevista no item (v) acima não impede a aquisição de imóveis sobre os quais tenham sido constituídos ônus reais anteriormente ao seu ingresso no patrimônio . 12.12 É vedado ao Gestor o recebimento de qualquer remuneração, benefício ou vantagem, direta ou indiretamente, que potencialmente prejudique sua independência na tomada de decisão. Consultoria Especializada 12.13 O Gestor, conforme disposto no Anexo Normativo VI da Resolução 175, poderá contratar Consultoria Especializada para que preste os seguintes serviços (“Consultoria Especializada”): (i) Analisar, selecionar, avaliar e acompanhar, de acordo com a Política de Investimentos deste Anexo, os ativos integrantes ou que possam vir a integrar a carteira da classe do Fundo; (ii) Participar de negociações e propor negócios à classe, observada a Política de Investimentos constante deste Anexo;</a:t>
            </a:r>
          </a:p>
          <a:p>
            <a:r>
              <a:t>CNPJ 62696791000193 · Finalidade e limites de derivativos · Versão e prevalência: Leitura específica das cláusulas indicadas; condições e conflitos preservados. Seleção documental atual não comprova vigência jurídica por data isolada.</a:t>
            </a:r>
          </a:p>
          <a:p>
            <a:r>
              <a:t>CNPJ 55563624000109 · Finalidade e limites de derivativos · Regulamento · ID 1192614 · 2026-04-30 · versão 1 · p. 14 · 4.21 · https://fnet.bmfbovespa.com.br/fnet/publico/visualizarDocumento?id=1192614</a:t>
            </a:r>
          </a:p>
          <a:p>
            <a:r>
              <a:t>CNPJ 55563624000109 · Finalidade e limites de derivativos · Excerto da fonte:</a:t>
            </a:r>
          </a:p>
          <a:p>
            <a:r>
              <a:t>4.21 A Classe poderá utilizar instrumentos derivativos, desde que com o objetivo de proteção patrimonial, ou, desde  que não resulte em exposição a risco de capital, conforme definida no inciso XXIV do Art. 3º da parte geral da  Resolução CVM 175 ou em troca de indexador a que os ativos estão indexados.</a:t>
            </a:r>
          </a:p>
          <a:p>
            <a:r>
              <a:t>CNPJ 55563624000109 · Finalidade e limites de derivativos · Regulamento · ID 1192614 · 2026-04-30 · versão 1 · p. 39 · https://fnet.bmfbovespa.com.br/fnet/publico/visualizarDocumento?id=1192614</a:t>
            </a:r>
          </a:p>
          <a:p>
            <a:r>
              <a:t>CNPJ 55563624000109 · Finalidade e limites de derivativos · Excerto da fonte:</a:t>
            </a:r>
          </a:p>
          <a:p>
            <a:r>
              <a:t>(xxii) Operações com derivativos. A Classe poderá realizar operações com derivativos  exclusivamente com o objetivo de proteção patrimonial. As operações com derivativos, pela sua  própria natureza, acrescentam riscos à Carteira e poderão afetar negativamente a sua rentabilidade,  até o limite do Patrimônio Líquido.</a:t>
            </a:r>
          </a:p>
          <a:p>
            <a:r>
              <a:t>CNPJ 55563624000109 · Finalidade e limites de derivativos · Condição: Documentos atuais selecionados no inventário por categoria/escopo; a data documental isolada não comprova vigência jurídica.</a:t>
            </a:r>
          </a:p>
          <a:p>
            <a:r>
              <a:t>CNPJ 55563624000109 · Finalidade e limites de derivativos · Versão e prevalência: Documentos atuais selecionados no inventário por categoria/escopo; a data documental isolada não comprova vigência jurídica.</a:t>
            </a:r>
          </a:p>
          <a:p>
            <a:r>
              <a:t>CNPJ 55563624000109 · Finalidade e limites de derivativos · Resumo do histórico: {"count": 3, "dates": ["2025-01-31", "2026-01-31", "2026-04-30"], "document_count": 3, "sources": [{"document_id": "1192614", "title": "Regulamento", "reference_date": "2026-04-30", "version": "1", "page": "14", "url": "https://fnet.bmfbovespa.com.br/fnet/publico/visualizarDocumento?id=1192614", "sha256": "f56e63ace0acde41d2f47fb48f1ac7f3f7df5e2d32de092d7c5e075a52516632"}, {"document_id": "1178840", "title": "Demonstrações Financeiras", "reference_date": "2026-01-31", "version": "1", "page": 25, "url": "https://fnet.bmfbovespa.com.br/fnet/publico/visualizarDocumento?id=1178840", "sha256": "c458e98664c5c907ddb5a05a94b120bed4e05295b2bfc420f5ba69af0a229abe"}, {"document_id": "891861", "title": "Demonstrações Financeiras", "reference_date": "2025-01-31", "version": "1", "page": 26, "url": "https://fnet.bmfbovespa.com.br/fnet/publico/visualizarDocumento?id=891861", "sha256": "e9cb9e6ddbe505fe068cfcac33605165a98313489de0d3ce6d4d238263c3f3e7"}], "reference": {"path": "history/55563624000109.json", "criterion_id": "hedge", "total_count": 3, "preview_count": 3, "full_text_deferred": true, "sha256": "7835d573fb58a3c19adf5b8ecc2aee2bdbb9a88f7a0c0209b5f262b64c7522e3"}}</a:t>
            </a:r>
          </a:p>
          <a:p>
            <a:r>
              <a:t>CNPJ 62552447000120 · Finalidade e limites de derivativos · Regulamento · ID 1200623 · 21/05/2026 · versão Consolidado21/05/2026 aprovado pelo ato1200625 · p. 14 · AnexoI4.10.1 · https://fnet.bmfbovespa.com.br/fnet/publico/visualizarDocumento?id=1200623</a:t>
            </a:r>
          </a:p>
          <a:p>
            <a:r>
              <a:t>CNPJ 62552447000120 · Finalidade e limites de derivativos · Excerto da fonte:</a:t>
            </a:r>
          </a:p>
          <a:p>
            <a:r>
              <a:t>4.10.1 O uso de derivativos está restrito a operações que visem à proteção patrimonial ou, desde que não resulte em exposição a risco de capital, à troca de indexador e/ou do índice de referência. 4.11 Sem prejuízo de limites mais restritivos definidos neste Regulamento, o Gestor deverá observar, ainda, os seguintes limites de concentração para a composição da Carteira: (i) Até 100% (cem por cento) da parcela do Patrimônio Líquido investida em Direitos Creditórios poderão ser alocados em Direitos Creditórios originados ou cedidos pelo Administrador, Gestor e</a:t>
            </a:r>
          </a:p>
          <a:p>
            <a:r>
              <a:t>CNPJ 62552447000120 · Finalidade e limites de derivativos · Motivo: Cláusula primária localizada e citada, mas sua lista/condições extensas não admitem uma síntese literal curta confirmada. O trecho integral permanece nas fontes.</a:t>
            </a:r>
          </a:p>
          <a:p>
            <a:r>
              <a:t>CNPJ 62552447000120 · Finalidade e limites de derivativos · Versão e prevalência: Leitura específica das cláusulas indicadas; condições e conflitos preservados. Seleção documental atual não comprova vigência jurídica por data isolada.</a:t>
            </a:r>
          </a:p>
          <a:p>
            <a:r>
              <a:t>CNPJ 63953620000165 · Finalidade e limites de derivativos · Anexo ao Regulamento · ID 1222863 · 2026-06-02 · versão 1 · p. 7 · https://fnet.bmfbovespa.com.br/fnet/publico/visualizarDocumento?id=1222863</a:t>
            </a:r>
          </a:p>
          <a:p>
            <a:r>
              <a:t>CNPJ 63953620000165 · Finalidade e limites de derivativos · Excerto da fonte:</a:t>
            </a:r>
          </a:p>
          <a:p>
            <a:r>
              <a:t>Anexo I ao Regulamento  CLASSE CONSIGNADO PRIVADO DO MT GLOBAL FUNDO DE INVESTIMENTO EM DIREITOS  CREDITÓRIOS RESPONSABILIDADE LIMITADA</a:t>
            </a:r>
          </a:p>
          <a:p>
            <a:r>
              <a:t> (i)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 (ii) No máximo, 50% (cinquenta por cento) do Patrimônio Líquido investido em Ativos Financeiros  de Liquidez de emissão ou que envolvam retenção de risco por parte do Administrador, Gestor,  e/ou suas partes relacionadas, observado ainda o disposto acima;</a:t>
            </a:r>
          </a:p>
          <a:p>
            <a:r>
              <a:t> (iii) No máximo, 100% (cem por cento) do Patrimônio Líquido investido em operações com  derivativos nos quais, inexistindo contraparte central, se tenha como contraparte o Gestor,  Consultora e/ou suas partes relacionadas, observado ainda o disposto acima;</a:t>
            </a:r>
          </a:p>
          <a:p>
            <a:r>
              <a:t> (iv) A Classe poderá investir até 100% (cem por cento) de seu Patrimônio Líquido em Direitos  Creditórios Não-Padronizados;</a:t>
            </a:r>
          </a:p>
          <a:p>
            <a:r>
              <a:t> (v) É vedada a aquisição de precatórios federais.</a:t>
            </a:r>
          </a:p>
          <a:p>
            <a:r>
              <a:t>CNPJ 63953620000165 · Finalidade e limites de derivativos · Condição: Documentos atuais selecionados no inventário por categoria/escopo; a data documental isolada não comprova vigência jurídica.</a:t>
            </a:r>
          </a:p>
          <a:p>
            <a:r>
              <a:t>CNPJ 63953620000165 · Finalidade e limites de derivativos · Motivo: Cláusula primária localizada e citada, mas sua lista/condições extensas não admitem uma síntese literal curta confirmada. O trecho integral permanece nas fontes.</a:t>
            </a:r>
          </a:p>
          <a:p>
            <a:r>
              <a:t>CNPJ 63953620000165 · Finalidade e limites de derivativos · Versão e prevalência: Documentos atuais selecionados no inventário por categoria/escopo; a data documental isolada não comprova vigência jurídica.</a:t>
            </a:r>
          </a:p>
          <a:p>
            <a:r>
              <a:t>CNPJ 63953620000165 · Finalidade e limites de derivativos · Resumo do histórico: {"count": 8, "dates": ["2026-04-28", "2026-05-08", "2026-05-15"], "document_count": 3, "sources": [{"document_id": "1327859", "title": "Demonstrações Financeiras - Fusão, cisão e incorporação", "reference_date": "2026-05-15", "version": "1", "page": 26, "url": "https://fnet.bmfbovespa.com.br/fnet/publico/visualizarDocumento?id=1327859", "sha256": "dca1c68babb97f887528c3e2e47596a9c30f507b067981a35655b2f2da9c8054"}, {"document_id": "1298691", "title": "Demonstrações Financeiras - Fusão, cisão e incorporação", "reference_date": "2026-05-08", "version": "1", "page": 26, "url": "https://fnet.bmfbovespa.com.br/fnet/publico/visualizarDocumento?id=1298691", "sha256": "58c570d9b8d4d265330d3db3ea81c435b8e44a6dab4002aa37790652a1ee9819"}, {"document_id": "1282180", "title": "Demonstrações Financeiras - Fusão, cisão e incorporação", "reference_date": "2026-04-28", "version": "1", "page": 27, "url": "https://fnet.bmfbovespa.com.br/fnet/publico/visualizarDocumento?id=1282180", "sha256": "afaaa0e6809be4385e5bdb6c911aac582032c5bdbac3d7750234bf9eaf00438a"}], "reference": {"path": "history/63953620000165.json", "criterion_id": "hedge", "total_count": 8, "preview_count": 3, "full_text_deferred": true, "sha256": "a7b89077f5e21098c2d601c303faabc3ff6b9729f89d8afecdc60fe1404720c1"}}</a:t>
            </a:r>
          </a:p>
          <a:p>
            <a:r>
              <a:t>CNPJ 54871427000194 · Prioridade do hedge e reserva de MTM · Motivo: Não localizada uma cláusula material para este critério nos textos identificados e processados. A ausência de resultado não comprova inexistência da regra.</a:t>
            </a:r>
          </a:p>
          <a:p>
            <a:r>
              <a:t>CNPJ 60010416000112 · Prioridade do hedge e reserva de MTM · Motivo: Não localizada uma cláusula material para este critério nos textos identificados e processados. A ausência de resultado não comprova inexistência da regra.</a:t>
            </a:r>
          </a:p>
          <a:p>
            <a:r>
              <a:t>CNPJ 62696791000193 · Prioridade do hedge e reserva de MTM · Motivo: Não localizada uma cláusula material para este critério nos textos identificados e processados. A ausência de resultado não comprova inexistência da regra.</a:t>
            </a:r>
          </a:p>
          <a:p>
            <a:r>
              <a:t>CNPJ 55563624000109 · Prioridade do hedge e reserva de MTM · Motivo: Não localizada uma cláusula material para este critério nos textos identificados e processados. A ausência de resultado não comprova inexistência da regra.</a:t>
            </a:r>
          </a:p>
          <a:p>
            <a:r>
              <a:t>CNPJ 62552447000120 · Prioridade do hedge e reserva de MTM · Motivo: Não localizada uma cláusula material para este critério nos textos identificados e processados. A ausência de resultado não comprova inexistência da regra.</a:t>
            </a:r>
          </a:p>
          <a:p>
            <a:r>
              <a:t>CNPJ 63953620000165 · Prioridade do hedge e reserva de MTM · Motivo: Não localizada uma cláusula material para este critério nos textos identificados e processados. A ausência de resultado não comprova inexistência da regra.</a:t>
            </a:r>
          </a:p>
          <a:p>
            <a:r>
              <a:t>CNPJ 54871427000194 · Administrador, gestor e custodiante · Regulamento · ID 670691 · 2024-04-28 · versão 1 · p. 1 · 1.1 · https://fnet.bmfbovespa.com.br/fnet/publico/visualizarDocumento?id=670691</a:t>
            </a:r>
          </a:p>
          <a:p>
            <a:r>
              <a:t>CNPJ 54871427000194 · Administrador, gestor e custodiante · Excerto da fonte:</a:t>
            </a:r>
          </a:p>
          <a:p>
            <a:r>
              <a:t>1.1 CONSIGNADO DELTA RECEIVABLES I FUNDO DE INVESTIMENTO EM DIREITOS CREDITÓRIOS  (“FUNDO”), regido pela Lei nº 10.406, de 10 de janeiro de 2002, conf orme alterada (“Código Civil”),  pela parte geral e o Anexo Normativo II da Resolução nº 175, de 23 de dezembro de 2022, conforme  alterada, da Comissão de Valores Mobiliários (respectivamente, “CVM” e “Resolução CVM 175”), terá  como principais características:</a:t>
            </a:r>
          </a:p>
          <a:p>
            <a:r>
              <a:t> Classe de Cotas Classe única.</a:t>
            </a:r>
          </a:p>
          <a:p>
            <a:r>
              <a:t> Indeterminado, exceto se de outra f orma vier a ser deliberado pelos cotistas  Prazo de Duração  reunidos em assembleia geral de cotistas.</a:t>
            </a:r>
          </a:p>
          <a:p>
            <a:r>
              <a:t> BTG Pactual Serviços Financeiros S.A. Distribuidora de Títulos e Valores  Mobiliários, instituição f inanceira, com sede na Cidade e Estado do Rio de  Janeiro, na Praia de Botafogo, nº 501, 5º andar (parte), Torre Corcovado,  ADMINISTRADOR  Botafogo, CEP 22250-040, inscrita no CNPJ sob o nº 59.281.253/0001-23 e  credenciada como administradora de carteira, de acordo com o Ato Declaratório  CVM nº 8.695, de 20 de março de 2006 (“ADMINISTRADOR”).</a:t>
            </a:r>
          </a:p>
          <a:p>
            <a:r>
              <a:t> BTG Pactual Asset Management S.A. Distribuidora de Títulos e Valores  Mobiliários, inscrita no CNPJ/ME sob o nº 29.650.082/0001-00, com sede  Cidade e Estado do Rio de Janeiro, na Praia de Botafogo, n.º 501, 5° andar,  devidamente autorizada à prestação dos serviços de administração de carteira  GESTOR  de títulos e valores mobiliários por meio d o Ato Declaratório número 5.968,  expedido em 10 de maio de 2000 (“GESTOR” e, quando ref erido  conjuntamente e indistintamente com o ADMINISTRADOR, os “Prestadores  de Serviços Essenciais”).</a:t>
            </a:r>
          </a:p>
          <a:p>
            <a:r>
              <a:t> O FUNDO, seus cotistas, os distribuidores de cotas por conta e ordem, seu  GESTOR, seu ADMINISTRADOR e os demais prestadores de serviço do  FUNDO e/ou da CLASSE obrigam-se a resolver, por meio de arbitragem, de  acordo com o Regulamento de Arbitragem da Câmara de Arbitragem do  Mercado da B3 (“Regulamento CAM B3” e “CAM B3”, respectivamente), toda  e qualquer disputa ou controvérsia que possa surgir entre eles, relacionada ou  oriunda, em especial, da aplicação, validade, eficácia, interpretação, violação  e seus ef eitos, das disposições contidas no Regulamento e seus Anexos, nas  normas editadas pela CVM que lhe sejam aplicáveis e nos instrumentos entre  si f irmados (“Arbitragem”).</a:t>
            </a:r>
          </a:p>
          <a:p>
            <a:r>
              <a:t> (i) A Arbitragem será de direito, com a aplicação das normas da República  Federativa do Brasil, terá sede no Município de São Paulo, será  Foro Aplicável conduzida em língua portuguesa e de f orma confidencial. O tribunal  arbitral será constituído por 3 (três) árbitros, sendo um deles  presidente, escolhidos nos termos do Regulamento CAM B3.</a:t>
            </a:r>
          </a:p>
          <a:p>
            <a:r>
              <a:t> (ii) As despesas processuais iniciais deverão ser rateadas entre as partes,  arcando cada polo processual com metade dos valores necessários,  sem prejuízo à possibilidade de adiantamento pelas partes  interessadas, resolvendo-se as indef inições nos termos do  Regulamento CAM B3. A sentença arbitral deverá determinar a  responsabilidade final pelas despesas de acordo com a sucumbência  de cada parte, as quais deverão incluir as taxas administrativas,  honorários de árbitros e de peritos e despesas com diligências  processuais e f ornecimento de garantias que sejam determinadas  expressamente pelo tribunal arbitral. É vedada a imposição de  honorários de sucumbência, bem como a determinação de indenização</a:t>
            </a:r>
          </a:p>
          <a:p>
            <a:r>
              <a:t>CNPJ 54871427000194 · Administrador, gestor e custodiante · Regulamento · ID 670691 · 2024-04-28 · versão 1 · p. 7 · https://fnet.bmfbovespa.com.br/fnet/publico/visualizarDocumento?id=670691</a:t>
            </a:r>
          </a:p>
          <a:p>
            <a:r>
              <a:t>CNPJ 54871427000194 · Administrador, gestor e custodiante · Excerto da fonte:</a:t>
            </a:r>
          </a:p>
          <a:p>
            <a:r>
              <a:t>Banco BTG Pactual S.A., instituição f inanceira, com sede na Cidade e  Estado do Rio de Janeiro, na Praia de Botafogo, nº 501, 5º andar (parte),  Custódia Torre Corcovado, Botafogo, CEP 22250-040, inscrita no CNPJ sob o nº</a:t>
            </a:r>
          </a:p>
          <a:p>
            <a:r>
              <a:t> 30.306.294/0001-45 e credenciado como custodiante, de acordo com o  Ato Declaratório nº 7.204, de 25 de abril de 2003 (“CUSTODIANTE”).</a:t>
            </a:r>
          </a:p>
          <a:p>
            <a:r>
              <a:t> Tesouraria, Controladoria e ADMINISTRADOR.</a:t>
            </a:r>
          </a:p>
          <a:p>
            <a:r>
              <a:t> Escrituração  Subclasses Única.</a:t>
            </a:r>
          </a:p>
          <a:p>
            <a:r>
              <a:t>CNPJ 54871427000194 · Administrador, gestor e custodiante · Regulamento · ID 670691 · 2024-04-28 · versão 1 · p. 38 · https://fnet.bmfbovespa.com.br/fnet/publico/visualizarDocumento?id=670691</a:t>
            </a:r>
          </a:p>
          <a:p>
            <a:r>
              <a:t>CNPJ 54871427000194 · Administrador, gestor e custodiante · Excerto da fonte:</a:t>
            </a:r>
          </a:p>
          <a:p>
            <a:r>
              <a:t>“ADMINISTRADOR”: BTG Pactual Serviços Financeiros S.A. Distribuidora de Títulos e Valores Mobiliários, instituição com sede no Município do Rio de Janeiro, Estado do Rio de Janeiro, à Praia de Botafogo, nº 501, 5º andar – parte, inscrita no CNPJ sob o nº 59.281.253/0001-23, autorizada a funcionar pelo BACEN e autorizada pela CVM para a atividade de administração de carteiras de valores mobiliários, de acordo com o Ato Declaratório nº 8.695, de 20 de março de 2006, ou seu sucessor a qualquer título ;</a:t>
            </a:r>
          </a:p>
          <a:p>
            <a:r>
              <a:t>CNPJ 54871427000194 · Administrador, gestor e custodiante · Condição: Documentos atuais selecionados no inventário por categoria/escopo; a data documental isolada não comprova vigência jurídica.</a:t>
            </a:r>
          </a:p>
          <a:p>
            <a:r>
              <a:t>CNPJ 54871427000194 · Administrador, gestor e custodiante · Versão e prevalência: Documentos atuais selecionados no inventário por categoria/escopo; a data documental isolada não comprova vigência jurídica.</a:t>
            </a:r>
          </a:p>
          <a:p>
            <a:r>
              <a:t>CNPJ 54871427000194 · Administrador, gestor e custodiante · Resumo do histórico: {"count": 2, "dates": ["2024-04-19"], "document_count": 2, "sources": [{"document_id": "670687", "title": "Instrumento Particular de Constituição/Encerramento do Fundo", "reference_date": "2024-04-19", "version": "1", "page": 1, "url": "https://fnet.bmfbovespa.com.br/fnet/publico/visualizarDocumento?id=670687", "sha256": "999f2a47d39f7022b0fcee3d16fd1db33948537b897e92c4c9e14b436bf5eb96"}, {"document_id": "670689", "title": "Regulamento", "reference_date": "2024-04-19", "version": "1", "page": 1, "clause": "1.1", "url": "https://fnet.bmfbovespa.com.br/fnet/publico/visualizarDocumento?id=670689", "sha256": "891bc9bc5d87bbc02ec139077a84d2702eb81ea02035fb71d24f5b8366b94a0b"}], "reference": {"path": "history/54871427000194.json", "criterion_id": "providers", "total_count": 2, "preview_count": 2, "full_text_deferred": true, "sha256": "35d7cd99be50c7287c9fb675cf4f2e736002315295a225a9efa79c8d9186d874"}}</a:t>
            </a:r>
          </a:p>
          <a:p>
            <a:r>
              <a:t>CNPJ 60010416000112 · Administrador, gestor e custodiante · Regulamento · ID 1051393 · 2025-10-09 · versão 1 · p. 8 · https://fnet.bmfbovespa.com.br/fnet/publico/visualizarDocumento?id=1051393</a:t>
            </a:r>
          </a:p>
          <a:p>
            <a:r>
              <a:t>CNPJ 60010416000112 · Administrador, gestor e custodiante · Excerto da fonte:</a:t>
            </a:r>
          </a:p>
          <a:p>
            <a:r>
              <a:t>Tipo de Condomínio Fechado.</a:t>
            </a:r>
          </a:p>
          <a:p>
            <a:r>
              <a:t> Prazo de Duração Indeterminado.</a:t>
            </a:r>
          </a:p>
          <a:p>
            <a:r>
              <a:t> Classe de Investimento  Não.</a:t>
            </a:r>
          </a:p>
          <a:p>
            <a:r>
              <a:t> em Cotas  Tipo “Financeiro”.</a:t>
            </a:r>
          </a:p>
          <a:p>
            <a:r>
              <a:t> Classificação ANBIMA  Foco de atuação “Créditos Consignados”.</a:t>
            </a:r>
          </a:p>
          <a:p>
            <a:r>
              <a:t> O objetivo da classe é proporcionar aos seus Cotistas a valorização de suas Cotas  por meio da aplicação de seu Patrimônio Líquido na aquisição de: (i) Direitos  Creditórios que atendam aos Critérios de Elegibilidade, estabelecidos no Capítulo  4 abaixo, e (ii) Ativos Financeiros de Liquidez, observados todos os limites de  Objetivo composição e diversificação da Carteira da Classe, estabelecidos neste  Regulamento e na regulamentação aplicável.</a:t>
            </a:r>
          </a:p>
          <a:p>
            <a:r>
              <a:t> O objetivo da Classe não representa, sob qualquer hipótese, promessa, garantia  ou sugestão do Fundo ou de seus Prestadores de Serviços Essenciais quanto à  segurança, rentabilidade e liquidez dos títulos integrantes de sua carteira.</a:t>
            </a:r>
          </a:p>
          <a:p>
            <a:r>
              <a:t> Destinado exclusivamente a um único cotista ou grupo de cotistas vinculados por  Público-Alvo  interesse único e indissociável, classificados como Investidores Prof issionais.</a:t>
            </a:r>
          </a:p>
          <a:p>
            <a:r>
              <a:t> Banco BTG Pactual S.A., instituição financeira, com sede no município e Estado  do Rio de Janeiro, na Praia de Botafogo, nº 501, Torre Corcovado, 5º andar (parte),  Custódia e Tesouraria Botafogo, CEP 22.250-040, inscrita no CNPJ sob o nº 30.306.294/0001-45 e  credenciado como custodiante, de acordo com o Ato Declaratório nº 7.204, de 25  de abril de 2003 (“Custodiante”).</a:t>
            </a:r>
          </a:p>
          <a:p>
            <a:r>
              <a:t> Tesouraria,  Controladoria e Administrador.</a:t>
            </a:r>
          </a:p>
          <a:p>
            <a:r>
              <a:t> Escrituração  Subclasses Sênior e Subordinada, nos termos do Capítulo 5 e respectivos Apêndices.</a:t>
            </a:r>
          </a:p>
          <a:p>
            <a:r>
              <a:t> O valor de cada emissão de Cotas, volume e valor unitário da Cota, bem como o  Emissão e Regime de regime de distribuição, seguirão o disposto no instrumento que aprova a emissão  Distribuição de Cotas de Cotas, que disporá acerca da eventual existência de direito de preferência dos  Cotistas.</a:t>
            </a:r>
          </a:p>
          <a:p>
            <a:r>
              <a:t> Capital Autorizado Conf orme previsto nos Apêndices.</a:t>
            </a:r>
          </a:p>
          <a:p>
            <a:r>
              <a:t> As Cotas poderão ser admitidas à negociação em bolsa de valores ou entidade de  Negociação  balcão organizado, conf orme previsto nos Apêndices.</a:t>
            </a:r>
          </a:p>
          <a:p>
            <a:r>
              <a:t> Cálculo do Valor da Cota Conf orme Capítulo 6 deste Anexo e respectivos Apêndices.</a:t>
            </a:r>
          </a:p>
          <a:p>
            <a:r>
              <a:t> A distribuição de quaisquer ganhos e rendimentos da Classe aos Cotistas será  Distribuição de  f eita exclusivamente mediante a amortização e/ou o resgate de Cotas, observado  Proventos  o disposto no Regulamento, neste Anexo e respectivos Apêndices.</a:t>
            </a:r>
          </a:p>
          <a:p>
            <a:r>
              <a:t> Utilização de Ativos Não é permitida a integralização de Cotas, no todo ou em parte, com Direitos BTG Pactual SAC: 0800 772 28 27 - Ouvidoria: 0800 722 00 48 - btgpactual.com 8</a:t>
            </a:r>
          </a:p>
          <a:p>
            <a:r>
              <a:t>CNPJ 60010416000112 · Administrador, gestor e custodiante · Regulamento · ID 1051393 · 2025-10-09 · versão 1 · p. 1 · https://fnet.bmfbovespa.com.br/fnet/publico/visualizarDocumento?id=1051393</a:t>
            </a:r>
          </a:p>
          <a:p>
            <a:r>
              <a:t>CNPJ 60010416000112 · Administrador, gestor e custodiante · Excerto da fonte:</a:t>
            </a:r>
          </a:p>
          <a:p>
            <a:r>
              <a:t>BTG Pactual Asset Management S.A. Distribuidora de Títulos e Valores  Mobiliários, sociedade anônima, com sede no município do Rio de Janeiro,  Estado do Rio de Janeiro, na Praia de Botafogo, nº 501, Torre Corcovado, 5º andar</a:t>
            </a:r>
          </a:p>
          <a:p>
            <a:r>
              <a:t> (parte), CEP 22.250-040, inscrita no CNPJ sob o nº 29.650.082/0001-00,  GESTOR  devidamente credenciada junto à CVM para operar como administradora de  carteira de valores mobiliários nos termos do Ato Declaratório CVM nº 5.968, de  10 de maio de 2000 (“Gestor” e, quando referido conjuntamente e indistintamente  com o Administrador, os “Prestadores de Serviços Essenciais”).</a:t>
            </a:r>
          </a:p>
          <a:p>
            <a:r>
              <a:t>CNPJ 60010416000112 · Administrador, gestor e custodiante · Regulamento · ID 1051393 · 2025-10-09 · versão 1 · p. 45 · https://fnet.bmfbovespa.com.br/fnet/publico/visualizarDocumento?id=1051393</a:t>
            </a:r>
          </a:p>
          <a:p>
            <a:r>
              <a:t>CNPJ 60010416000112 · Administrador, gestor e custodiante · Excerto da fonte:</a:t>
            </a:r>
          </a:p>
          <a:p>
            <a:r>
              <a:t>“Gestor”: a BTG Pactual Asset Management S.A. Distribuidora de Títulos e Valores Mobiliários, sociedade anônima, com sede no município do Rio de Janeiro, Estado do Rio de Janeiro, na Praia de Botafogo, nº 501, Torre Corcovado, 5º andar (parte), CEP 22.250-040, inscrita no CNPJ sob o nº 29.650.082/0001-00, devidamente credenciada junto à CVM para operar como administrador de carteira de valores mobiliários nos termos do Ato Declaratório CVM nº 5.968, de 10 de maio de 2000;</a:t>
            </a:r>
          </a:p>
          <a:p>
            <a:r>
              <a:t>CNPJ 60010416000112 · Administrador, gestor e custodiante · Condição: Documentos atuais selecionados no inventário por categoria/escopo; a data documental isolada não comprova vigência jurídica.</a:t>
            </a:r>
          </a:p>
          <a:p>
            <a:r>
              <a:t>CNPJ 60010416000112 · Administrador, gestor e custodiante · Versão e prevalência: Documentos atuais selecionados no inventário por categoria/escopo; a data documental isolada não comprova vigência jurídica.</a:t>
            </a:r>
          </a:p>
          <a:p>
            <a:r>
              <a:t>CNPJ 60010416000112 · Administrador, gestor e custodiante · Resumo do histórico: {"count": 1, "dates": ["2025-05-12"], "document_count": 1, "sources": [{"document_id": "1004656", "title": "AGE", "reference_date": "2025-05-12", "version": "1", "page": 4, "url": "https://fnet.bmfbovespa.com.br/fnet/publico/visualizarDocumento?id=1004656", "sha256": "f6c9c009f6170e2b29f074b98522accec73f0c40efbf11f9ec2c8d3f1402616b"}], "reference": {"path": "history/60010416000112.json", "criterion_id": "providers", "total_count": 1, "preview_count": 1, "full_text_deferred": true, "sha256": "8e2bd813f4c51cf01f6bfaad164bafe69d2bbb192f753eac92da3a01c2e63046"}}</a:t>
            </a:r>
          </a:p>
          <a:p>
            <a:r>
              <a:t>CNPJ 62696791000193 · Administrador, gestor e custodiante · Regulamento · ID 1143317 · 2026-03-20 · versão 1 · p. 1 · https://fnet.bmfbovespa.com.br/fnet/publico/visualizarDocumento?id=1143317</a:t>
            </a:r>
          </a:p>
          <a:p>
            <a:r>
              <a:t>CNPJ 62696791000193 · Administrador, gestor e custodiante · Excerto da fonte:</a:t>
            </a:r>
          </a:p>
          <a:p>
            <a:r>
              <a:t>BTG Pactual Asset Management S.A. Distribuidora de Títulos e Valores  Mobiliários, com sede no município e Estado do Rio de Janeiro, na Praia de  Botafogo, nº 501, Torre Corcovado, 5º andar (parte), Botafogo, inscrito no  CNPJ sob o nº 29.650.082/0001-00, autorizado à prestação dos serviços de  Gestor  administração de carteira de títulos e valores mobiliários de acordo com o Ato  Declaratório nº 5.968, de 10 de maio de 2000 (“Gestor” e, quando ref erido  conjuntamente com o Administrador, os “Prestadores de Serviços  Essenciais”).</a:t>
            </a:r>
          </a:p>
          <a:p>
            <a:r>
              <a:t>CNPJ 62696791000193 · Administrador, gestor e custodiante · Regulamento · ID 1143317 · 2026-03-20 · versão 1 · p. 1 · https://fnet.bmfbovespa.com.br/fnet/publico/visualizarDocumento?id=1143317</a:t>
            </a:r>
          </a:p>
          <a:p>
            <a:r>
              <a:t>CNPJ 62696791000193 · Administrador, gestor e custodiante · Excerto da fonte:</a:t>
            </a:r>
          </a:p>
          <a:p>
            <a:r>
              <a:t>BTG Pactual Serviços Financeiros S.A. Distribuidora de Títulos e Valores  Mobiliários, sociedade anônima, com sede no município e Estado do Rio de  Janeiro, na Praia de Botafogo, nº 501, 5º andar (parte), Torre Corcovado,  Administrador Botafogo, CEP 22250-040, inscrita no CNPJ sob o nº 59.281.253/0001-23 e  credenciada como Administradora de carteira, de acordo com o Ato Declaratório  CVM nº 8.695, de 20 de março de 2006 (“Administrador”), responsável pela  administração f iduciária.</a:t>
            </a:r>
          </a:p>
          <a:p>
            <a:r>
              <a:t>CNPJ 62696791000193 · Administrador, gestor e custodiante · Regulamento · ID 1143317 · 2026-03-20 · versão 1 · p. 7 · https://fnet.bmfbovespa.com.br/fnet/publico/visualizarDocumento?id=1143317</a:t>
            </a:r>
          </a:p>
          <a:p>
            <a:r>
              <a:t>CNPJ 62696791000193 · Administrador, gestor e custodiante · Excerto da fonte:</a:t>
            </a:r>
          </a:p>
          <a:p>
            <a:r>
              <a:t>Banco BTG Pactual S.A., instituição financeira, com sede no município e  Estado do Rio de Janeiro, na Praia de Botafogo, nº 501, 5º andar (parte),  Custódia e Tesouraria Torre Corcovado, Botafogo, CEP 22250-040, inscrita no CNPJ sob o nº</a:t>
            </a:r>
          </a:p>
          <a:p>
            <a:r>
              <a:t> 30.306.294/0001-45 e credenciada como custodiante, de acordo com o  Ato Declaratório nº 7.204, de 25 de abril de 2003 (“Custodiante”).</a:t>
            </a:r>
          </a:p>
          <a:p>
            <a:r>
              <a:t>CNPJ 62696791000193 · Administrador, gestor e custodiante · Condição: Documentos atuais selecionados no inventário por categoria/escopo; a data documental isolada não comprova vigência jurídica.</a:t>
            </a:r>
          </a:p>
          <a:p>
            <a:r>
              <a:t>CNPJ 62696791000193 · Administrador, gestor e custodiante · Versão e prevalência: Documentos atuais selecionados no inventário por categoria/escopo; a data documental isolada não comprova vigência jurídica.</a:t>
            </a:r>
          </a:p>
          <a:p>
            <a:r>
              <a:t>CNPJ 55563624000109 · Administrador, gestor e custodiante · Regulamento · ID 1192614 · 2026-04-30 · versão 1 · p. 1 · https://fnet.bmfbovespa.com.br/fnet/publico/visualizarDocumento?id=1192614</a:t>
            </a:r>
          </a:p>
          <a:p>
            <a:r>
              <a:t>CNPJ 55563624000109 · Administrador, gestor e custodiante · Excerto da fonte:</a:t>
            </a:r>
          </a:p>
          <a:p>
            <a:r>
              <a:t>Polígono Capital Ltda., sociedade de responsabilidade limitada, com sede no  município e estado de São Paulo, na Avenida Brigadeiro Faria Lima, n° 2601, 12º andar,  Jardim Paulistano, CEP 01452-000, inscrita no CNPJ sob nº 43.241.789/0001-85 e  GESTOR autorizada à prestação do serviço de administração de carteiras de valores mobiliários  pela CVM, de acordo com o Ato Declaratório CVM nº 19.368, expedido em 7 de  dezembro de 2021 (“GESTOR” e, quando referido conjuntamente e indistintamente  com o ADMINISTRADOR, os “Prestadores de Serviços Essenciais”).</a:t>
            </a:r>
          </a:p>
          <a:p>
            <a:r>
              <a:t>CNPJ 55563624000109 · Administrador, gestor e custodiante · Regulamento · ID 1192614 · 2026-04-30 · versão 1 · p. 1 · https://fnet.bmfbovespa.com.br/fnet/publico/visualizarDocumento?id=1192614</a:t>
            </a:r>
          </a:p>
          <a:p>
            <a:r>
              <a:t>CNPJ 55563624000109 · Administrador, gestor e custodiante · Excerto da fonte:</a:t>
            </a:r>
          </a:p>
          <a:p>
            <a:r>
              <a:t>BTG Pactual Serviços Financeiros S.A. Distribuidora de Títulos e Valores Mobiliários,  sociedade anônima, com sede no município e estado do Rio de Janeiro, na Praia de  Botafogo, nº 501, 5º andar (parte), Torre Corcovado, Botafogo, CEP 22250-040, inscrita  ADMINISTRADOR no Cadastro Nacional da Pessoa Jurídica (“CNPJ”) sob o nº 59.281.253/0001-23 e  credenciada como administradora de carteira, de acordo com o Ato Declaratório CVM  nº 8.695, de 20 de março de 2006 (“ADMINISTRADOR”).</a:t>
            </a:r>
          </a:p>
          <a:p>
            <a:r>
              <a:t>CNPJ 55563624000109 · Administrador, gestor e custodiante · Regulamento · ID 1192614 · 2026-04-30 · versão 1 · p. 41 · https://fnet.bmfbovespa.com.br/fnet/publico/visualizarDocumento?id=1192614</a:t>
            </a:r>
          </a:p>
          <a:p>
            <a:r>
              <a:t>CNPJ 55563624000109 · Administrador, gestor e custodiante · Excerto da fonte:</a:t>
            </a:r>
          </a:p>
          <a:p>
            <a:r>
              <a:t>“ADMINISTRADOR”: BTG Pactual Serviços Financeiros S.A. Distribuidora de Títulos e Valores Mobiliários, instituição  com sede no Município do Rio de Janeiro, Estado do Rio de Janeiro, à Praia de Botafogo, nº 501, 5º andar – parte, inscrita  no CNPJ sob o nº 59.281.253/0001-23, autorizada a funcionar pelo BACEN e autorizada pela CVM para a atividade de  administração de carteiras de valores mobiliários, de acordo com o Ato Declaratório nº 8.695, de 20 de março de 2006,  ou seu sucessor a qualquer título;</a:t>
            </a:r>
          </a:p>
          <a:p>
            <a:r>
              <a:t>CNPJ 55563624000109 · Administrador, gestor e custodiante · Condição: Documentos atuais selecionados no inventário por categoria/escopo; a data documental isolada não comprova vigência jurídica.</a:t>
            </a:r>
          </a:p>
          <a:p>
            <a:r>
              <a:t>CNPJ 55563624000109 · Administrador, gestor e custodiante · Versão e prevalência: Documentos atuais selecionados no inventário por categoria/escopo; a data documental isolada não comprova vigência jurídica.</a:t>
            </a:r>
          </a:p>
          <a:p>
            <a:r>
              <a:t>CNPJ 55563624000109 · Administrador, gestor e custodiante · Resumo do histórico: {"count": 6, "dates": ["2024-12-30", "2025-01-31", "2026-01-31"], "document_count": 3, "sources": [{"document_id": "1178840", "title": "Demonstrações Financeiras", "reference_date": "2026-01-31", "version": "1", "page": 3, "url": "https://fnet.bmfbovespa.com.br/fnet/publico/visualizarDocumento?id=1178840", "sha256": "c458e98664c5c907ddb5a05a94b120bed4e05295b2bfc420f5ba69af0a229abe"}, {"document_id": "891861", "title": "Demonstrações Financeiras", "reference_date": "2025-01-31", "version": "1", "page": 11, "url": "https://fnet.bmfbovespa.com.br/fnet/publico/visualizarDocumento?id=891861", "sha256": "e9cb9e6ddbe505fe068cfcac33605165a98313489de0d3ce6d4d238263c3f3e7"}, {"document_id": "811323", "title": "Anúncio de Encerramento", "reference_date": "2024-12-30", "version": "1", "page": 1, "url": "https://fnet.bmfbovespa.com.br/fnet/publico/visualizarDocumento?id=811323", "sha256": "ebc6bc661be5189acffb3c3e352de2aea0a8ca8431011d1237e1ae19da4f9c79"}], "reference": {"path": "history/55563624000109.json", "criterion_id": "providers", "total_count": 6, "preview_count": 3, "full_text_deferred": true, "sha256": "7835d573fb58a3c19adf5b8ecc2aee2bdbb9a88f7a0c0209b5f262b64c7522e3"}}</a:t>
            </a:r>
          </a:p>
          <a:p>
            <a:r>
              <a:t>CNPJ 62552447000120 · Administrador, gestor e custodiante · Regulamento · ID 1200623 · 2026-05-21 · versão 1 · p. 1 · https://fnet.bmfbovespa.com.br/fnet/publico/visualizarDocumento?id=1200623</a:t>
            </a:r>
          </a:p>
          <a:p>
            <a:r>
              <a:t>CNPJ 62552447000120 · Administrador, gestor e custodiante · Excerto da fonte:</a:t>
            </a:r>
          </a:p>
          <a:p>
            <a:r>
              <a:t>BTG Pactual Asset Management S.A. Distribuidora de Títulos e Valores  Mobiliários, sociedade anônima, com sede no município e Estado do Rio de  Janeiro, na Praia de Botafogo, n.º 501, 5º andar (parte), Torre Corcovado, bairro  Botafogo, CEP 22250-040, inscrita no CNPJ sob o n.º 29.650.082/0001-00 e  Gestor  credenciada como administradora de carteira de valores mobiliários , categoria  gestor de recursos, de acordo com o Ato Declaratório CVM n.º 5.968, de 10 de  maio de 2000 (“Gestor” e, quando ref erido conjuntamente e indistintamente  com o Administrador, “Prestadores de Serviços Essenciais”).</a:t>
            </a:r>
          </a:p>
          <a:p>
            <a:r>
              <a:t>CNPJ 62552447000120 · Administrador, gestor e custodiante · Regulamento · ID 1200623 · 2026-05-21 · versão 1 · p. 1 · https://fnet.bmfbovespa.com.br/fnet/publico/visualizarDocumento?id=1200623</a:t>
            </a:r>
          </a:p>
          <a:p>
            <a:r>
              <a:t>CNPJ 62552447000120 · Administrador, gestor e custodiante · Excerto da fonte:</a:t>
            </a:r>
          </a:p>
          <a:p>
            <a:r>
              <a:t>BTG Pactual Serviços Financeiros S.A. Distribuidora de Títulos e Valores  Mobiliários, sociedade anônima, com sede no município e Estado do Rio de  Janeiro, na Praia de Botafogo, n.º 501, 5º andar (parte), Torre Corcovado, bairro  Administrador Botafogo, CEP 22250-040, inscrita no CNPJ sob o n.º 59.281.253/0001-23 e  credenciada como administradora de carteira de valores mobiliários, categoria  administrador fiduciário, de acordo com o Ato Declaratório CVM n.º 8.695, de 20  de março de 2006 (“Administrador”).</a:t>
            </a:r>
          </a:p>
          <a:p>
            <a:r>
              <a:t>CNPJ 62552447000120 · Administrador, gestor e custodiante · Instrumento Particular de Alteração do Regulamento · ID 1200625 · 2026-05-21 · versão 1 · p. 1 · https://fnet.bmfbovespa.com.br/fnet/publico/visualizarDocumento?id=1200625</a:t>
            </a:r>
          </a:p>
          <a:p>
            <a:r>
              <a:t>CNPJ 62552447000120 · Administrador, gestor e custodiante · Excerto da fonte:</a:t>
            </a:r>
          </a:p>
          <a:p>
            <a:r>
              <a:t>A Administradora, BTG PACTUAL SERVIÇOS FINANCEIROS S.A. DTVM, com  sede na Praia de Botafogo, n.º 501, 5º andar (parte), na Cidade e Estado do Rio de  Janeiro, e inscrita no CNPJ sob o número 59.281.253/0001-23, na qualidade de  administradora da V CDT 1 FUNDO DE INVESTIMENTO EM DIREITOS  CREDITÓRIOS RESPONSABILIDADE LIMITADA, inscrita no CNPJ/MF sob o  número 62.552.447/0001-20 ("Classe"), serve-se da presente para:</a:t>
            </a:r>
          </a:p>
          <a:p>
            <a:r>
              <a:t>CNPJ 62552447000120 · Administrador, gestor e custodiante · Condição: Documentos atuais selecionados no inventário por categoria/escopo; a data documental isolada não comprova vigência jurídica.</a:t>
            </a:r>
          </a:p>
          <a:p>
            <a:r>
              <a:t>CNPJ 62552447000120 · Administrador, gestor e custodiante · Versão e prevalência: Documentos atuais selecionados no inventário por categoria/escopo; a data documental isolada não comprova vigência jurídica.</a:t>
            </a:r>
          </a:p>
          <a:p>
            <a:r>
              <a:t>CNPJ 62552447000120 · Administrador, gestor e custodiante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"providers", "total_count": 1, "preview_count": 1, "full_text_deferred": true, "sha256": "d95db8c0613d67ee84118c734588665265ea6b02f86a0318d6a844cbe1d0f82f"}}</a:t>
            </a:r>
          </a:p>
          <a:p>
            <a:r>
              <a:t>CNPJ 63953620000165 · Administrador, gestor e custodiante · Anexo ao Regulamento · ID 1222863 · 2026-06-02 · versão 1 · p. 2 · https://fnet.bmfbovespa.com.br/fnet/publico/visualizarDocumento?id=1222863</a:t>
            </a:r>
          </a:p>
          <a:p>
            <a:r>
              <a:t>CNPJ 63953620000165 · Administrador, gestor e custodiante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Administrador, gestor e custodiante · Condição: Documentos atuais selecionados no inventário por categoria/escopo; a data documental isolada não comprova vigência jurídica.</a:t>
            </a:r>
          </a:p>
          <a:p>
            <a:r>
              <a:t>CNPJ 63953620000165 · Administrador, gestor e custodiante · Motivo: Cláusula primária localizada e citada, mas sua lista/condições extensas não admitem uma síntese literal curta confirmada. O trecho integral permanece nas fontes.</a:t>
            </a:r>
          </a:p>
          <a:p>
            <a:r>
              <a:t>CNPJ 63953620000165 · Administrador, gestor e custodiante · Versão e prevalência: Documentos atuais selecionados no inventário por categoria/escopo; a data documental isolada não comprova vigência jurídica.</a:t>
            </a:r>
          </a:p>
          <a:p>
            <a:r>
              <a:t>CNPJ 63953620000165 · Administrador, gestor e custodiante · Resumo do histórico: {"count": 8, "dates": ["2026-04-28", "2026-05-08", "2026-05-15"], "document_count": 3, "sources": [{"document_id": "1327859", "title": "Demonstrações Financeiras - Fusão, cisão e incorporação", "reference_date": "2026-05-15", "version": "1", "page": 9, "url": "https://fnet.bmfbovespa.com.br/fnet/publico/visualizarDocumento?id=1327859", "sha256": "dca1c68babb97f887528c3e2e47596a9c30f507b067981a35655b2f2da9c8054"}, {"document_id": "1298691", "title": "Demonstrações Financeiras - Fusão, cisão e incorporação", "reference_date": "2026-05-08", "version": "1", "page": 9, "url": "https://fnet.bmfbovespa.com.br/fnet/publico/visualizarDocumento?id=1298691", "sha256": "58c570d9b8d4d265330d3db3ea81c435b8e44a6dab4002aa37790652a1ee9819"}, {"document_id": "1282180", "title": "Demonstrações Financeiras - Fusão, cisão e incorporação", "reference_date": "2026-04-28", "version": "1", "page": 9, "url": "https://fnet.bmfbovespa.com.br/fnet/publico/visualizarDocumento?id=1282180", "sha256": "afaaa0e6809be4385e5bdb6c911aac582032c5bdbac3d7750234bf9eaf00438a"}], "reference": {"path": "history/63953620000165.json", "criterion_id": "providers", "total_count": 8, "preview_count": 3, "full_text_deferred": true, "sha256": "a7b89077f5e21098c2d601c303faabc3ff6b9729f89d8afecdc60fe1404720c1"}}</a:t>
            </a:r>
          </a:p>
          <a:p>
            <a:r>
              <a:t>CNPJ 54871427000194 · Substituição de prestadores · Motivo: Não localizada uma cláusula material para este critério nos textos identificados e processados. A ausência de resultado não comprova inexistência da regra.</a:t>
            </a:r>
          </a:p>
          <a:p>
            <a:r>
              <a:t>CNPJ 60010416000112 · Substituição de prestadores · Regulamento · ID 1051393 · 2025-10-09 · versão 1 · p. 3 · 1.8 · https://fnet.bmfbovespa.com.br/fnet/publico/visualizarDocumento?id=1051393</a:t>
            </a:r>
          </a:p>
          <a:p>
            <a:r>
              <a:t>CNPJ 60010416000112 · Substituição de prestadores · Excerto da fonte:</a:t>
            </a:r>
          </a:p>
          <a:p>
            <a:r>
              <a:t>1.8. Os Cotistas, o Administrador, o Gestor e o Agente de  Retenção/Cobrança estão plenamente conscientes dos termos e efeitos  desta cláusula compromissória e concordam irrevogavelmente que a  arbitragem será a única f orma de resolução de disputas relacionada a  este Regulamento. Sem prejuízo da validade desta cláusula  compromissória, as partes elegem o foro da comarca do Rio de Janeiro,  estado do Rio de Janeiro, com a renúncia expressa a qualquer outra, se  e quando isso f or necessário para fins de: (i) executar as obrigações para  as quais haja disponibilidade imediata de execução judicial; (ii) obter  ordens de execução específica ou liminares de caráter preventivo,  temporário ou permanente, tais como a prestação de caução para um  processo arbitral iniciado ou em andamento entre as partes da  arbitragem e/ou assegurar a existência e ef icácia do processo arbitral;</a:t>
            </a:r>
          </a:p>
          <a:p>
            <a:r>
              <a:t> e/ou (iii) apresentar um pedido de execução específica ou outra ordem,  sendo certo que, uma vez obtida a execução específica ou outra ordem,  o Tribunal Arbitral a ser instituído ou que já esteja instituído, conforme o  caso, assumirá a competência plena e exclusiva para decidir sobre toda  e qualquer questão, quer relacionada ao processo ou ao mérito, que  possa ter dado origem à ordem ou execução específica solicitada, e o  respectivo processo será suspenso até que o Tribunal Arbitral profira  uma decisão parcial ou def initiva sobre a questão. A propositura de  qualquer ação judicial de acordo com este item não resultará em  renúncia à arbitragem ou à competência da Câmara.</a:t>
            </a:r>
          </a:p>
          <a:p>
            <a:r>
              <a:t>CNPJ 60010416000112 · Substituição de prestadores · Condição: Documentos atuais selecionados no inventário por categoria/escopo; a data documental isolada não comprova vigência jurídica.</a:t>
            </a:r>
          </a:p>
          <a:p>
            <a:r>
              <a:t>CNPJ 60010416000112 · Substituição de prestadores · Motivo: Cláusula primária localizada e citada, mas sua lista/condições extensas não admitem uma síntese literal curta confirmada. O trecho integral permanece nas fontes.</a:t>
            </a:r>
          </a:p>
          <a:p>
            <a:r>
              <a:t>CNPJ 60010416000112 · Substituição de prestadores · Versão e prevalência: Documentos atuais selecionados no inventário por categoria/escopo; a data documental isolada não comprova vigência jurídica.</a:t>
            </a:r>
          </a:p>
          <a:p>
            <a:r>
              <a:t>CNPJ 60010416000112 · Substituição de prestadores · Resumo do histórico: {"count": 1, "dates": ["2025-03-20"], "document_count": 1, "sources": [{"document_id": "993786", "title": "Regulamento", "reference_date": "2025-03-20", "version": "1", "page": 3, "clause": "1.8", "url": "https://fnet.bmfbovespa.com.br/fnet/publico/visualizarDocumento?id=993786", "sha256": "fd0fdd369a195510d81f81f505195a0b09e5f43522a990afa7d58c4f872921c8"}], "reference": {"path": "history/60010416000112.json", "criterion_id": "replacement", "total_count": 1, "preview_count": 1, "full_text_deferred": true, "sha256": "8e2bd813f4c51cf01f6bfaad164bafe69d2bbb192f753eac92da3a01c2e63046"}}</a:t>
            </a:r>
          </a:p>
          <a:p>
            <a:r>
              <a:t>CNPJ 62696791000193 · Substituição de prestadores · Regulamento · ID 1143317 · 2026-03-20 · versão 1 · p. 26 · 12.10 · https://fnet.bmfbovespa.com.br/fnet/publico/visualizarDocumento?id=1143317</a:t>
            </a:r>
          </a:p>
          <a:p>
            <a:r>
              <a:t>CNPJ 62696791000193 · Substituição de prestadores · Excerto da fonte:</a:t>
            </a:r>
          </a:p>
          <a:p>
            <a:r>
              <a:t>12.10 Na hipótese de renúncia, o Administrador fica obrigado a permanecer no exercício de suas funções até  a averbação, no cartório de registro de imóveis, nas matrículas referentes aos bens imóveis e direitos  integrantes da carteira de ativos, da ata da assembleia de Cotistas que eleger seu substituto e sucessor  na propriedade f iduciária desses bens e direitos.</a:t>
            </a:r>
          </a:p>
          <a:p>
            <a:r>
              <a:t>CNPJ 62696791000193 · Substituição de prestadores · Regulamento · ID 1143317 · 2026-03-20 · versão 1 · p. 26 · 12.10.1 · https://fnet.bmfbovespa.com.br/fnet/publico/visualizarDocumento?id=1143317</a:t>
            </a:r>
          </a:p>
          <a:p>
            <a:r>
              <a:t>CNPJ 62696791000193 · Substituição de prestadores · Excerto da fonte:</a:t>
            </a:r>
          </a:p>
          <a:p>
            <a:r>
              <a:t>12.10.1 É f acultado aos Cotistas que detenham ao menos 5% (cinco por cento) das Cotas emitidas, a  convocação da assembleia de Cotistas prevista no item 12.4 acima, caso o Administrador não  a convoque, no prazo de 10 (dez) dias contados da renúncia.</a:t>
            </a:r>
          </a:p>
          <a:p>
            <a:r>
              <a:t>CNPJ 62696791000193 · Substituição de prestadores · Condição: Documentos atuais selecionados no inventário por categoria/escopo; a data documental isolada não comprova vigência jurídica.</a:t>
            </a:r>
          </a:p>
          <a:p>
            <a:r>
              <a:t>CNPJ 62696791000193 · Substituição de prestadores · Versão e prevalência: Documentos atuais selecionados no inventário por categoria/escopo; a data documental isolada não comprova vigência jurídica.</a:t>
            </a:r>
          </a:p>
          <a:p>
            <a:r>
              <a:t>CNPJ 55563624000109 · Substituição de prestadores · Motivo: Não localizada uma cláusula material para este critério nos textos identificados e processados. A ausência de resultado não comprova inexistência da regra.</a:t>
            </a:r>
          </a:p>
          <a:p>
            <a:r>
              <a:t>CNPJ 62552447000120 · Substituição de prestadores · Motivo: Não localizada uma cláusula material para este critério nos textos identificados e processados. A ausência de resultado não comprova inexistência da regra.</a:t>
            </a:r>
          </a:p>
          <a:p>
            <a:r>
              <a:t>CNPJ 63953620000165 · Substituição de prestadores · Anexo ao Regulamento · ID 1222863 · 2026-06-02 · versão 1 · p. 15 · https://fnet.bmfbovespa.com.br/fnet/publico/visualizarDocumento?id=1222863</a:t>
            </a:r>
          </a:p>
          <a:p>
            <a:r>
              <a:t>CNPJ 63953620000165 · Substituição de prestadores · Excerto da fonte:</a:t>
            </a:r>
          </a:p>
          <a:p>
            <a:r>
              <a:t>Anexo I ao Regulamento  CLASSE CONSIGNADO PRIVADO DO MT GLOBAL FUNDO DE INVESTIMENTO EM DIREITOS  CREDITÓRIOS RESPONSABILIDADE LIMITADA</a:t>
            </a:r>
          </a:p>
          <a:p>
            <a:r>
              <a:t> (vii) inobservância pelo Administrador, pelo Custodiante e/ou pelo Gestor de seus deveres e obrigações  previstos neste Regulamento, bem como suas atribuições específicas nos outros contratos existentes  referentes ao funcionamento da Classe, verificada pelo Administrador, pelo Custodiante e/ou pelo  Gestor ou por qualquer dos Cotistas, desde que, uma vez notificados para sanar ou justificar o  descumprimento, o Administrador, o Custodiante e/ou o Gestor, conforme o caso, não o sane no prazo  de 5 (cinco) Dias Úteis contados do recebimento da referida notificação;</a:t>
            </a:r>
          </a:p>
          <a:p>
            <a:r>
              <a:t> (viii) aquisição, pela Classe, de Direitos Creditórios que estejam em desacordo com as Condições de Cessão e  os Critérios de Elegibilidade previstos neste Regulamento no momento de sua aquisição;</a:t>
            </a:r>
          </a:p>
          <a:p>
            <a:r>
              <a:t> (ix) alteração na classificação de risco das Cotas, se houver, que, para qualquer dado período após a  classificação de risco inicial das Cotas e/ou após a deliberação da Assembleia Especial de Cotistas a  respeito de um rebaixamento da classificação de risco das Cotas, implique no rebaixamento de dois  níveis na escala de risco pertinente elaborada pela Agência Classificadora de Risco; e/ou</a:t>
            </a:r>
          </a:p>
          <a:p>
            <a:r>
              <a:t> (x) renúncia do Gestor, sem que tenham sido tomadas tempestivamente as providências previstas no  CAPÍTULO 2 da parte geral deste Regulamento;</a:t>
            </a:r>
          </a:p>
          <a:p>
            <a:r>
              <a:t> (xi) no caso de o Contrato de Endosso celebrado com o Endossante, por qualquer razão, (a) seja declarado  inválido, nulo ou ineficaz por ordem judicial e/ou qualquer autoridade governamental; ou (b) tenha sua  validade ou eficácia, total ou parcialmente, contestada pelo Endossante, judicial ou administrativamente</a:t>
            </a:r>
          </a:p>
          <a:p>
            <a:r>
              <a:t> (xii) em caso de não renovação, cancelamento, revogação ou suspensão de concessões, autorizações,  subvenções, autorizações ou licenças, relevantes para o exercício regular dos negócios realizados pelo  Endossante, incluindo o Convênio Consignado Privado, e as autorizações regulatórias concedidas pelo  Banco Central, observado, caso aplicável, os prazos de cura dispostos no Contrato de Endosso;</a:t>
            </a:r>
          </a:p>
          <a:p>
            <a:r>
              <a:t> (xiii) no caso de o Endossante ou o Agente de Retenção/Cobrança e/ou seus acionistas controladores diretos  e/ou indiretos (pessoas físicas ou jurídicas), quotistas, diretores, conselheiros e/ou representantes e  colaboradores do Endossante ou seus acionistas controladores, (a) terem contra si uma decisão judicial  transitada em julgado envolvendo (1) crimes contra a propriedade, (2) crimes de falsificação, (3) crimes  contra o sistema financeiro nacional, (4) crimes contra o mercado de capitais, (5) crimes contra a  seguridade social, (6) crimes contra as relações de consumo e (7) crimes previstos na lei de falências;</a:t>
            </a:r>
          </a:p>
          <a:p>
            <a:r>
              <a:t> e/ou (b) violar as normas anticorrupção aplicáveis, especialmente a Lei nº 9.613, de 3 de março de 1998,  conforme alterada ou substituída de tempos em tempos, e qualquer outra a que estejam sujeitos, quer  contratual ou legalmente, desde que a violação mencionada seja considerada como, especialmente, mas  não limitada a (1) financiamento, crédito, patrocínio ou outra forma de subvenção à prática de atos  ilícitos previstos na legislação anticorrupção, de combate à lavagem de dinheiro, organizações  antissociais e/ou crime organizado; (2) promessa, oferta ou entrega, direta ou indiretamente, de  qualquer objeto de valor a um funcionário público ou terceiros para obter ou manter negócios ou para  obter qualquer vantagem indevida; (3) aceitação ou compromisso de aceitar, de quem quer que seja,  por si ou por outrem, qualquer pagamento, doação, compensação, vantagens financeiras ou não  financeiras ou benefícios de qualquer tipo, direta ou indiretamente relacionados com o objeto da Classe,  que constituam uma prática ilegal, que violem as boas condutas, a ética, a moral e constitua corrupção  nos termos das leis dos países da sede e onde existam filiais das partes envolvidas, das partes  contratantes; e</a:t>
            </a:r>
          </a:p>
          <a:p>
            <a:r>
              <a:t> (xiv) caso o cotista das Cotas Subordinadas deixe de ser titular das Cotas Subordinadas durante todo prazo  de duração da Classe;</a:t>
            </a:r>
          </a:p>
          <a:p>
            <a:r>
              <a:t> (xv) no caso de não serem realizados pagamentos de amortização e/ou resgate de Cotas Seniores, nos  termos, prazos e condições previstos no presente Regulamento e nos respectivos Apêndices e  Suplementos, não sanados em até 2 (dois) Dias Úteis contados do prazo final do respectivo evento;</a:t>
            </a:r>
          </a:p>
          <a:p>
            <a:r>
              <a:t> (xvi) no caso de pagamento de resgate e/ou amortização de Cotas Subordinadas em desacordo com os  termos, prazos e condições previstos no presente Regulamento e no respectivo Apêndice.</a:t>
            </a:r>
          </a:p>
          <a:p>
            <a:r>
              <a:t>CNPJ 63953620000165 · Substituição de prestadores · Condição: Documentos atuais selecionados no inventário por categoria/escopo; a data documental isolada não comprova vigência jurídica.</a:t>
            </a:r>
          </a:p>
          <a:p>
            <a:r>
              <a:t>CNPJ 63953620000165 · Substituição de prestadores · Motivo: Cláusula primária localizada e citada, mas sua lista/condições extensas não admitem uma síntese literal curta confirmada. O trecho integral permanece nas fontes.</a:t>
            </a:r>
          </a:p>
          <a:p>
            <a:r>
              <a:t>CNPJ 63953620000165 · Substituição de prestadores · Versão e prevalência: Documentos atuais selecionados no inventário por categoria/escopo; a data documental isolada não comprova vigência jurídica.</a:t>
            </a:r>
          </a:p>
          <a:p>
            <a:r>
              <a:t>CNPJ 54871427000194 · Rating por subclasse e downgrade · Regulamento · ID 670691 · 28/04/2024 · versão Regulamento — referência 28/04/2024 · p. 15 · Anexo I, 5.12 · https://fnet.bmfbovespa.com.br/fnet/publico/visualizarDocumento?id=670691</a:t>
            </a:r>
          </a:p>
          <a:p>
            <a:r>
              <a:t>CNPJ 54871427000194 · Rating por subclasse e downgrade · Excerto da fonte:</a:t>
            </a:r>
          </a:p>
          <a:p>
            <a:r>
              <a:t>5.12 As Cotas não serão classificadas por Agência Classificadora de Risco em funcionamento no País, uma vez que a Classe não será destinada ao público em geral. CAPÍTULO 6 – ATRIBUIÇÃO DE RESULTADO ÀS COTAS E CÁLCULO DO VALOR UNITÁRIO 6.1 As Cotas terão seu Valor Unitário calculado e divulgado pelo ADMINISTRADOR mensalmente, no último Dia Útil de cada mês, no fechamento dos mercados, a partir do mês seguinte à Data da 1ª Integralização e até a data de resgate das Cotas ou na data de liquidação da Classe Única, conforme o caso. 6.2 A partir da Data da 1ª Integralização de Cotas, o Valor Unitário das Cotas s erá calculado no fechamento do último Dia Útil de cada mês, equivalerá ao resultado da divisão do valor do Patrimônio Líquido apurado para o respectivo dia, pelo número de Cotas em circulação na respectiva data de cálculo . CAPÍTULO 7 – AMORTIZAÇÃO E RESGATE DAS COTAS 7.1 A distribuição de quaisquer ganhos e rendimentos d a Classe aos Cotistas será f eita exclusivamente mediante a Amortização e/ou o resgate de Cotas, observado o disposto neste Capítulo. 7.2 As amortizações de Cotas serão realizadas a qualquer tempo, a critério do GESTOR, observada a disponibilidade de recursos da Classe Única e a</a:t>
            </a:r>
          </a:p>
          <a:p>
            <a:r>
              <a:t>CNPJ 54871427000194 · Rating por subclasse e downgrade · Versão e prevalência: Leitura específica das cláusulas indicadas; condições e conflitos preservados. Seleção documental atual não comprova vigência jurídica por data isolada.</a:t>
            </a:r>
          </a:p>
          <a:p>
            <a:r>
              <a:t>CNPJ 54871427000194 · Rating por subclasse e downgrade · Resumo do histórico: {"count": 5, "dates": ["2024-12-31", "2025-01-01", "2025-12-31"], "document_count": 3, "sources": [{"document_id": "1151805", "title": "Demonstrações Financeiras", "reference_date": "2025-12-31", "version": "1", "page": 25, "url": "https://fnet.bmfbovespa.com.br/fnet/publico/visualizarDocumento?id=1151805", "sha256": "f1cea70b152968bf96ef9221b27225953cb20aeef487b2798db3c25e11b528d4"}, {"document_id": "869529", "title": "Demonstrações Financeiras", "reference_date": "2025-01-01", "version": "1", "page": 25, "url": "https://fnet.bmfbovespa.com.br/fnet/publico/visualizarDocumento?id=869529", "sha256": "9a93a9369ac8efdbc54ff8fcee3ccac3abf88edab4807b9323d3852450771b2a"}, {"document_id": "870070", "title": "Demonstrações Financeiras", "reference_date": "2024-12-31", "version": "1", "page": 25, "url": "https://fnet.bmfbovespa.com.br/fnet/publico/visualizarDocumento?id=870070", "sha256": "9a93a9369ac8efdbc54ff8fcee3ccac3abf88edab4807b9323d3852450771b2a"}], "reference": {"path": "history/54871427000194.json", "criterion_id": "rating", "total_count": 5, "preview_count": 3, "full_text_deferred": true, "sha256": "35d7cd99be50c7287c9fb675cf4f2e736002315295a225a9efa79c8d9186d874"}}</a:t>
            </a:r>
          </a:p>
          <a:p>
            <a:r>
              <a:t>CNPJ 60010416000112 · Rating por subclasse e downgrade · Demonstrações Financeiras - Fusão, cisão e incorporação · ID 1298690 · 2026-05-08 · versão 1 · p. 35 · https://fnet.bmfbovespa.com.br/fnet/publico/visualizarDocumento?id=1298690</a:t>
            </a:r>
          </a:p>
          <a:p>
            <a:r>
              <a:t>CNPJ 60010416000112 · Rating por subclasse e downgrade · Excerto da fonte:</a:t>
            </a:r>
          </a:p>
          <a:p>
            <a:r>
              <a:t>As Cotas Seniores poderão ser objeto de classificação de risco (rating) por Agência  Classificadora de Risco em funcionamento no país.</a:t>
            </a:r>
          </a:p>
          <a:p>
            <a:r>
              <a:t>CNPJ 60010416000112 · Rating por subclasse e downgrade · Condição: Documentos atuais selecionados no inventário por categoria/escopo; a data documental isolada não comprova vigência jurídica.</a:t>
            </a:r>
          </a:p>
          <a:p>
            <a:r>
              <a:t>CNPJ 60010416000112 · Rating por subclasse e downgrade · Versão e prevalência: Documentos atuais selecionados no inventário por categoria/escopo; a data documental isolada não comprova vigência jurídica.</a:t>
            </a:r>
          </a:p>
          <a:p>
            <a:r>
              <a:t>CNPJ 60010416000112 · Rating por subclasse e downgrade · Resumo do histórico: {"count": 5, "dates": ["2025-11-30", "2026-03-18", "2026-04-16"], "document_count": 3, "sources": [{"document_id": "1282181", "title": "Demonstrações Financeiras - Fusão, cisão e incorporação", "reference_date": "2026-04-16", "version": "1", "page": 38, "url": "https://fnet.bmfbovespa.com.br/fnet/publico/visualizarDocumento?id=1282181", "sha256": "b1c6566e43a00bcd00c8a7f30c77b7f86e351bd8e355bbea113f46d1dafda703"}, {"document_id": "1224477", "title": "Demonstrações Financeiras - Fusão, cisão e incorporação", "reference_date": "2026-03-18", "version": "1", "page": 37, "url": "https://fnet.bmfbovespa.com.br/fnet/publico/visualizarDocumento?id=1224477", "sha256": "0751bf0a75bc3b44c2748f5000226665c6ec6698a90c4dc6170b4e6c187759ae"}, {"document_id": "1126154", "title": "Demonstrações Financeiras", "reference_date": "2025-11-30", "version": "1", "page": 38, "url": "https://fnet.bmfbovespa.com.br/fnet/publico/visualizarDocumento?id=1126154", "sha256": "a01e7ccf88c548f12c95cba8526d7efbef6b585c112cd4668eca781c292090b0"}], "reference": {"path": "history/60010416000112.json", "criterion_id": "rating", "total_count": 5, "preview_count": 3, "full_text_deferred": true, "sha256": "8e2bd813f4c51cf01f6bfaad164bafe69d2bbb192f753eac92da3a01c2e63046"}}</a:t>
            </a:r>
          </a:p>
          <a:p>
            <a:r>
              <a:t>CNPJ 62696791000193 · Rating por subclasse e downgrade · Regulamento · ID 1143317 · 2026-03-20 · versão 1 · p. 3 · 2.1.2 · https://fnet.bmfbovespa.com.br/fnet/publico/visualizarDocumento?id=1143317</a:t>
            </a:r>
          </a:p>
          <a:p>
            <a:r>
              <a:t>CNPJ 62696791000193 · Rating por subclasse e downgrade · Excerto da fonte:</a:t>
            </a:r>
          </a:p>
          <a:p>
            <a:r>
              <a:t>2.1.2 Não obstante as atribuições previstas neste Regulamento e na regulamentação aplicável, cabe  ao Gestor praticar os atos necessários à gestão da carteira de ativos do Fundo, o que inclui,  mas não se limita, à contratação, em nome do Fundo ou da classe de cot as, dos seguintes  serviços: (a) intermediação de operações para carteira de ativos; (b) distribuição de cotas; (c)  consultoria de investimentos ou consultoria especializada; (d) classificação de risco por agência  de classificação de risco de crédito; (e) f ormador de mercado de classe f echada; (f ) cogestão  da carteira de ativos; (g) empresa especializada para administrar as locações ou arrendamentos  de imóveis rurais e a exploração do direito de superf ície, assim como para monitorar e</a:t>
            </a:r>
          </a:p>
          <a:p>
            <a:r>
              <a:t>CNPJ 62696791000193 · Rating por subclasse e downgrade · Regulamento · ID 1143317 · 2026-03-20 · versão 1 · p. 36 · 1.2 · https://fnet.bmfbovespa.com.br/fnet/publico/visualizarDocumento?id=1143317</a:t>
            </a:r>
          </a:p>
          <a:p>
            <a:r>
              <a:t>CNPJ 62696791000193 · Rating por subclasse e downgrade · Excerto da fonte:</a:t>
            </a:r>
          </a:p>
          <a:p>
            <a:r>
              <a:t>1.2. As Cotas Subordinadas Juniores serão subscritas e integralizadas por um único Cotista e/ou por Cotistas  vinculados por interesse único e indissociável, de forma que serão objeto de colocação privada, nos termos  do Compromisso de Investimento a ser f irmado pelo Cotista, dispensadas da classificação de risco e não  terão parâmetro de remuneração def inido.</a:t>
            </a:r>
          </a:p>
          <a:p>
            <a:r>
              <a:t>2. Emissão, Subscrição e Integralização das Cotas</a:t>
            </a:r>
          </a:p>
          <a:p>
            <a:r>
              <a:t>CNPJ 62696791000193 · Rating por subclasse e downgrade · Condição: Documentos atuais selecionados no inventário por categoria/escopo; a data documental isolada não comprova vigência jurídica.</a:t>
            </a:r>
          </a:p>
          <a:p>
            <a:r>
              <a:t>CNPJ 62696791000193 · Rating por subclasse e downgrade · Versão e prevalência: Documentos atuais selecionados no inventário por categoria/escopo; a data documental isolada não comprova vigência jurídica.</a:t>
            </a:r>
          </a:p>
          <a:p>
            <a:r>
              <a:t>CNPJ 55563624000109 · Rating por subclasse e downgrade · Regulamento · ID 1192614 · 30/04/2026 · versão Regulamento30/04/2026 · p. 44 · GlossárioTermo de Adesão · https://fnet.bmfbovespa.com.br/fnet/publico/visualizarDocumento?id=1192614</a:t>
            </a:r>
          </a:p>
          <a:p>
            <a:r>
              <a:t>CNPJ 55563624000109 · Rating por subclasse e downgrade · Excerto da fonte:</a:t>
            </a:r>
          </a:p>
          <a:p>
            <a:r>
              <a:t>Termo de Adesão”: documento elaborado nos termos do art. 29 da Resolução CVM 175, por meio do qual o Cotista adere a este Regulamento e que deve ser firmado quando de seu ingresso no FUNDO, declarando, inclusive, sem se limitar a, ter pleno conhecimento dos riscos envolvidos na operação, inclusive da possibilidade de perda total do capital investido, e da ausência de classificação de risco das Cotas subscritas; “Valor Unitário”: o valor individual das Cotas, equivalente a R$ 1.000,00 (um mil), na primeira Data de Emissão, calculado todo Dia Útil para efeito da definição de seu valor de integralização e</a:t>
            </a:r>
          </a:p>
          <a:p>
            <a:r>
              <a:t>CNPJ 55563624000109 · Rating por subclasse e downgrade · Versão e prevalência: Leitura específica das cláusulas indicadas; condições e conflitos preservados. Seleção documental atual não comprova vigência jurídica por data isolada.</a:t>
            </a:r>
          </a:p>
          <a:p>
            <a:r>
              <a:t>CNPJ 55563624000109 · Rating por subclasse e downgrade · Resumo do histórico: {"count": 2, "dates": ["2025-01-31", "2026-01-31"], "document_count": 2, "sources": [{"document_id": "1178840", "title": "Demonstrações Financeiras", "reference_date": "2026-01-31", "version": "1", "page": 22, "url": "https://fnet.bmfbovespa.com.br/fnet/publico/visualizarDocumento?id=1178840", "sha256": "c458e98664c5c907ddb5a05a94b120bed4e05295b2bfc420f5ba69af0a229abe"}, {"document_id": "891861", "title": "Demonstrações Financeiras", "reference_date": "2025-01-31", "version": "1", "page": 23, "url": "https://fnet.bmfbovespa.com.br/fnet/publico/visualizarDocumento?id=891861", "sha256": "e9cb9e6ddbe505fe068cfcac33605165a98313489de0d3ce6d4d238263c3f3e7"}], "reference": {"path": "history/55563624000109.json", "criterion_id": "rating", "total_count": 2, "preview_count": 2, "full_text_deferred": true, "sha256": "7835d573fb58a3c19adf5b8ecc2aee2bdbb9a88f7a0c0209b5f262b64c7522e3"}}</a:t>
            </a:r>
          </a:p>
          <a:p>
            <a:r>
              <a:t>CNPJ 62552447000120 · Rating por subclasse e downgrade · Regulamento · ID 1200623 · 21/05/2026 · versão Consolidado21/05/2026 aprovado pelo ato1200625 · p. 19 · AnexoI6.11 · https://fnet.bmfbovespa.com.br/fnet/publico/visualizarDocumento?id=1200623</a:t>
            </a:r>
          </a:p>
          <a:p>
            <a:r>
              <a:t>CNPJ 62552447000120 · Rating por subclasse e downgrade · Excerto da fonte:</a:t>
            </a:r>
          </a:p>
          <a:p>
            <a:r>
              <a:t>6.11 As Cotas não serão objeto de classif icação de risco . CAPÍTULO 7 – AMORTIZAÇÃO DAS COTAS 7.1 A distribuição de quaisquer ganhos e rendimentos d a Classe aos Cotistas será f eita exclusivamente mediante a Amortização, observado o disposto neste Capítulo. 7.2 As Cotas poderão ser amortizadas através de uma Amortização programada, se houver, conforme prevista nos Apêndices, caso aplicável (“Amortização Programada”), e por meio amortização extraordinária das Cotas, a ser realizada por (a) por decisão do Gestor, para: (i) reenquadramento da Carteira ao mínimo de Direitos Creditórios que deve ser detido pel</a:t>
            </a:r>
          </a:p>
          <a:p>
            <a:r>
              <a:t>CNPJ 62552447000120 · Rating por subclasse e downgrade · Versão e prevalência: Leitura específica das cláusulas indicadas; condições e conflitos preservados. Seleção documental atual não comprova vigência jurídica por data isolada.</a:t>
            </a:r>
          </a:p>
          <a:p>
            <a:r>
              <a:t>CNPJ 63953620000165 · Rating por subclasse e downgrade · Anexo ao Regulamento · ID 1222863 · 02/06/2026 · versão AnexoConsignadoPrivado02/06/2026 · p. 11 · 6.14 · https://fnet.bmfbovespa.com.br/fnet/publico/visualizarDocumento?id=1222863</a:t>
            </a:r>
          </a:p>
          <a:p>
            <a:r>
              <a:t>CNPJ 63953620000165 · Rating por subclasse e downgrade · Excerto da fonte:</a:t>
            </a:r>
          </a:p>
          <a:p>
            <a:r>
              <a:t>6.14 As Cotas poderão ser objeto de classificação de risco pela contratada pelo Gestor, desde que em comum acordo entre Gestor e Cotistas Subordinados em Assembleia Especial de Cotistas (“Agência Classificadora de Risco”). CAPÍTULO 7 – AMORTIZAÇÃO DAS COTAS 7.1 A distribuição de quaisquer ganhos e rendimentos da Classe aos Cotistas será feita exclusivamente mediante a Amortização de Cotas, observado o disposto neste Capítulo e nos Apêndices. 7.2 As Cotas poderão ser amortizadas através de uma Amortização por Regime de Caixa, se houver conforme prevista nos Apêndices; e por meio amortização extraordinária das Cotas, a ser realiz</a:t>
            </a:r>
          </a:p>
          <a:p>
            <a:r>
              <a:t>CNPJ 63953620000165 · Rating por subclasse e downgrade · Versão e prevalência: Leitura específica das cláusulas indicadas; condições e conflitos preservados. Seleção documental atual não comprova vigência jurídica por data isolada.</a:t>
            </a:r>
          </a:p>
          <a:p>
            <a:r>
              <a:t>CNPJ 63953620000165 · Rating por subclasse e downgrade · Resumo do histórico: {"count": 8, "dates": ["2026-04-28", "2026-05-08", "2026-05-15"], "document_count": 3, "sources": [{"document_id": "1327859", "title": "Demonstrações Financeiras - Fusão, cisão e incorporação", "reference_date": "2026-05-15", "version": "1", "page": 29, "url": "https://fnet.bmfbovespa.com.br/fnet/publico/visualizarDocumento?id=1327859", "sha256": "dca1c68babb97f887528c3e2e47596a9c30f507b067981a35655b2f2da9c8054"}, {"document_id": "1298691", "title": "Demonstrações Financeiras - Fusão, cisão e incorporação", "reference_date": "2026-05-08", "version": "1", "page": 30, "url": "https://fnet.bmfbovespa.com.br/fnet/publico/visualizarDocumento?id=1298691", "sha256": "58c570d9b8d4d265330d3db3ea81c435b8e44a6dab4002aa37790652a1ee9819"}, {"document_id": "1282180", "title": "Demonstrações Financeiras - Fusão, cisão e incorporação", "reference_date": "2026-04-28", "version": "1", "page": 30, "url": "https://fnet.bmfbovespa.com.br/fnet/publico/visualizarDocumento?id=1282180", "sha256": "afaaa0e6809be4385e5bdb6c911aac582032c5bdbac3d7750234bf9eaf00438a"}], "reference": {"path": "history/63953620000165.json", "criterion_id": "rating",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Hedge e prestadores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Finalidade e limites de derivativos · Regulamento · ID 670691 · 28/04/2024 · versão Regulamento — referência 28/04/2024 · p. 13 · Anexo I, 4.15–4.16 · https://fnet.bmfbovespa.com.br/fnet/publico/visualizarDocumento?id=670691</a:t>
            </a:r>
          </a:p>
          <a:p>
            <a:r>
              <a:t>CNPJ 54871427000194 · Finalidade e limites de derivativos · Excerto da fonte:</a:t>
            </a:r>
          </a:p>
          <a:p>
            <a:r>
              <a:t>4.15 A Classe poderá utilizar instrumentos derivativos, desde que com o objetivo de proteção patrimonial, ou, desde que não resulte em exposição a risco de capital, conforme definida no inciso XXIV Art. 3º da parte geral da Resolução CVM 175, troca de indexador a que os ativos estão indexados . 4.16 A Classe não realizará operações de day trade, assim consideradas aquelas iniciadas e encerradas no mesmo dia, independentemente de a Classe possuir estoque ou posição anterior do mesmo Ativo Financeiro. 4.17 É vedada qualquer forma de antecipação de recursos aos Endossantes para posterior reembolso pela Classe, seja pelo ADMINISTRADOR, GESTOR, CUSTODIANTE, consultora ou Originadores. 4.18 Exceto na medida em que eventualmente previsto nos Contratos de Cessão e/ou em instrumentos eventualmente celebrados entre a Classe e os Endossantes, os Endossantes não serão responsáveis em caso de eventual inadimplemento dos Direitos Creditórios por eles cedidos, sendo responsáveis, não obstante, apenas pela existência, certeza, conteúdo, exatidão, veracidade, legitimidade, validade e correta f ormalização dos Direitos Creditórios que cederem à Classe, nos termos da</a:t>
            </a:r>
          </a:p>
          <a:p>
            <a:r>
              <a:t>CNPJ 54871427000194 · Finalidade e limites de derivativos · Versão e prevalência: Leitura específica das cláusulas indicadas; condições e conflitos preservados. Seleção documental atual não comprova vigência jurídica por data isolada.</a:t>
            </a:r>
          </a:p>
          <a:p>
            <a:r>
              <a:t>CNPJ 54871427000194 · Finalidade e limites de derivativos · Resumo do histórico: {"count": 2, "dates": ["2024-04-19", "2024-04-28"], "document_count": 2, "sources": [{"document_id": "670691", "title": "Regulamento", "reference_date": "2024-04-28", "version": "1", "page": "13", "url": "https://fnet.bmfbovespa.com.br/fnet/publico/visualizarDocumento?id=670691", "sha256": "bf16dd7f1a62d5cdbf2e2d54fef81783783f7310fbc99c3a8f00459bdf9d037b"}, {"document_id": "670689", "title": "Regulamento", "reference_date": "2024-04-19", "version": "1", "page": 13, "clause": "4.15", "url": "https://fnet.bmfbovespa.com.br/fnet/publico/visualizarDocumento?id=670689", "sha256": "891bc9bc5d87bbc02ec139077a84d2702eb81ea02035fb71d24f5b8366b94a0b"}], "reference": {"path": "history/54871427000194.json", "criterion_id": "hedge", "total_count": 2, "preview_count": 2, "full_text_deferred": true, "sha256": "35d7cd99be50c7287c9fb675cf4f2e736002315295a225a9efa79c8d9186d874"}}</a:t>
            </a:r>
          </a:p>
          <a:p>
            <a:r>
              <a:t>CNPJ 60010416000112 · Finalidade e limites de derivativos · Regulamento · ID 1051393 · 2025-10-09 · versão 1 · p. 12 · 4.9 · https://fnet.bmfbovespa.com.br/fnet/publico/visualizarDocumento?id=1051393</a:t>
            </a:r>
          </a:p>
          <a:p>
            <a:r>
              <a:t>CNPJ 60010416000112 · Finalidade e limites de derivativos · Excerto da fonte:</a:t>
            </a:r>
          </a:p>
          <a:p>
            <a:r>
              <a:t>4.9 Sem prejuízo de limites mais restritivos definidos neste Regulamento, o Gestor deverá observar, ainda, os  seguintes limites de concentração para a composição da Carteira:</a:t>
            </a:r>
          </a:p>
          <a:p>
            <a:r>
              <a:t> (i ) Até 100% (cem por cento) da parcela do Patrimônio Líquido investida em Ativos  Financeiros de Liquidez poderá ser alocada em Ativos Financeiros de Liquidez de  emissão ou que envolvam retenção de risco por parte do Administrador, Gestor, e/ou  suas partes relacionadas; e</a:t>
            </a:r>
          </a:p>
          <a:p>
            <a:r>
              <a:t> (ii) Até 100% (cem por cento) da parcela do Patrimônio Líquido investida em operações  com derivativos poderá ser alocada em derivativos nos quais, inexistindo contraparte  central, se tenha como contraparte o Gestor e/ou suas partes relacionadas.</a:t>
            </a:r>
          </a:p>
          <a:p>
            <a:r>
              <a:t>CNPJ 60010416000112 · Finalidade e limites de derivativos · Regulamento · ID 1051393 · 2025-10-09 · versão 1 · p. 13 · 4.15 · https://fnet.bmfbovespa.com.br/fnet/publico/visualizarDocumento?id=1051393</a:t>
            </a:r>
          </a:p>
          <a:p>
            <a:r>
              <a:t>CNPJ 60010416000112 · Finalidade e limites de derivativos · Excerto da fonte:</a:t>
            </a:r>
          </a:p>
          <a:p>
            <a:r>
              <a:t>4.15 A Classe poderá utilizar instrumentos derivativos, observados os limites de concentração previstos neste  Regulamento, desde que com o objetivo de proteção patrimonial, ou, desde que não resulte em exposição  a risco de capital, conforme definida no inciso XXIV do Art. 3º da parte geral da Resolução CVM 175, troca  de indexador a que os ativos estão indexados e o índice de ref erência de cada Subclasse.</a:t>
            </a:r>
          </a:p>
          <a:p>
            <a:r>
              <a:t>CNPJ 60010416000112 · Finalidade e limites de derivativos · Regulamento · ID 1051393 · 2025-10-09 · versão 1 · p. 16 · 7.11 · https://fnet.bmfbovespa.com.br/fnet/publico/visualizarDocumento?id=1051393</a:t>
            </a:r>
          </a:p>
          <a:p>
            <a:r>
              <a:t>CNPJ 60010416000112 · Finalidade e limites de derivativos · Excerto da fonte:</a:t>
            </a:r>
          </a:p>
          <a:p>
            <a:r>
              <a:t>7.11 Sem prejuízo do disposto do disposto nos itens 7.1 a 7.10 acima, a partir da Data da 1ª Integralização de  Cotas até a liquidação integral das Obrigações da Classe, sempre preservando a manutenção da boa  ordem legal, administrativa e operacional da Classe, o Gestor obriga-se a utilizar os recursos disponíveis  na Conta de Movimentação da Classe e/ou mantidos em Ativos Financeiros de Liquidez, em cada Dia Útil,  de acordo com a seguinte ordem de prioridade de alocação, na forma dos itens e tabela abaixo, de modo  que cada um dos itens listado apenas será contemplado após o direcionamento do montante total  necessário para a satisfação dos itens anteriores, ressalvado, enquanto em curso um Evento de Avaliação  e/ou um Evento de Liquidação, o disposto no item 11.4.1 abaixo</a:t>
            </a:r>
          </a:p>
          <a:p>
            <a:r>
              <a:t> (i) entradas de recursos provenientes da integralização de Cotas e dos Direitos Creditórios e  Ativos Financeiros de Liquidez que compõem a carteira da Classe, durante o Período de  Investimento, na seguinte ordem:</a:t>
            </a:r>
          </a:p>
          <a:p>
            <a:r>
              <a:t> a. pagamento dos Encargos;</a:t>
            </a:r>
          </a:p>
          <a:p>
            <a:r>
              <a:t> b. pagamento de despesas relativas aos instrumentos derivativos, conf orme aplicável;</a:t>
            </a:r>
          </a:p>
          <a:p>
            <a:r>
              <a:t> c. aquisição de Direitos Creditórios, sempre que ofertado, em moeda corrente nacional, em  conf ormidade com a Política de Investimento descrita neste Regulamento, sem prejuízo  do disposto no item 4.12 acima; e  d. aquisição de Ativos Financeiros de Liquidez, observando-se a Política de Investimentos.</a:t>
            </a:r>
          </a:p>
          <a:p>
            <a:r>
              <a:t> (ii) entradas de recursos provenientes dos Direitos Creditórios e Ativos Financeiros de Liquidez  que compõem a carteira da Classe, após o término do Período de Investimento, na seguinte  ordem, observadas as seguintes condições:</a:t>
            </a:r>
          </a:p>
          <a:p>
            <a:r>
              <a:t> a. pagamento dos Encargos;</a:t>
            </a:r>
          </a:p>
          <a:p>
            <a:r>
              <a:t> b. pagamento de despesas relativas aos instrumentos derivativos, conf orme aplicável;</a:t>
            </a:r>
          </a:p>
          <a:p>
            <a:r>
              <a:t> c. pagamento da amortização do principal e dos rendimentos acumulados relacionados às  Cotas Seniores, de modo que, considerando, pro f orma, todas as amortizações  pretendidas, o percentual empregado para amortização das Cotas Seniores seja  equivalente à relação entre o Patrimônio Líquido Sênior dividido pelo Patrimônio Líquido  da Classe, com a devida observância dos termos e condições deste Regulamento, do  Apêndice e do Suplemento das Cotas Seniores;</a:t>
            </a:r>
          </a:p>
          <a:p>
            <a:r>
              <a:t> d. pagamento da amortização do principal e dos rendimentos acumulados relacionados às  Cotas Subordinadas, de modo que, considerando, pro f orma, todas as amortizações  pretendidas, o percentual empregado para amortização das Cotas Subordinadas seja  equivalente à relação entre o Patrimônio Líquido Subordinado dividido pelo Patrimônio  Líquido da Classe, com a devida observância dos termos e condições deste  Regulamento, do Apêndice e do Suplemento das Cotas Seniores e desde que  respeitados o Índice de Subordinação;</a:t>
            </a:r>
          </a:p>
          <a:p>
            <a:r>
              <a:t> e. aquisição de Ativos Financeiros, observado o limite de alocação previsto no item 4.7  deste Anexo I.</a:t>
            </a:r>
          </a:p>
          <a:p>
            <a:r>
              <a:t>CNPJ 60010416000112 · Finalidade e limites de derivativos · Condição: Documentos atuais selecionados no inventário por categoria/escopo; a data documental isolada não comprova vigência jurídica.</a:t>
            </a:r>
          </a:p>
          <a:p>
            <a:r>
              <a:t>CNPJ 60010416000112 · Finalidade e limites de derivativos · Versão e prevalência: Documentos atuais selecionados no inventário por categoria/escopo; a data documental isolada não comprova vigência jurídica.</a:t>
            </a:r>
          </a:p>
          <a:p>
            <a:r>
              <a:t>CNPJ 60010416000112 · Finalidade e limites de derivativos · Resumo do histórico: {"count": 2, "dates": ["2025-03-20", "2025-10-09"], "document_count": 2, "sources": [{"document_id": "1051393", "title": "Regulamento", "reference_date": "2025-10-09", "version": "1", "page": "13", "url": "https://fnet.bmfbovespa.com.br/fnet/publico/visualizarDocumento?id=1051393", "sha256": "8469d613078ffd5a6c1d217885d8a397a16342c0b937ae4aa24b106505f233ae"}, {"document_id": "993786", "title": "Regulamento", "reference_date": "2025-03-20", "version": "1", "page": 12, "clause": "4.9", "url": "https://fnet.bmfbovespa.com.br/fnet/publico/visualizarDocumento?id=993786", "sha256": "fd0fdd369a195510d81f81f505195a0b09e5f43522a990afa7d58c4f872921c8"}], "reference": {"path": "history/60010416000112.json", "criterion_id": "hedge", "total_count": 2, "preview_count": 2, "full_text_deferred": true, "sha256": "8e2bd813f4c51cf01f6bfaad164bafe69d2bbb192f753eac92da3a01c2e63046"}}</a:t>
            </a:r>
          </a:p>
          <a:p>
            <a:r>
              <a:t>CNPJ 62696791000193 · Finalidade e limites de derivativos · Regulamento · ID 1143317 · 20/03/2026 · versão Regulamento — referência 20/03/2026 · p. 15 · Anexo I, 4.28 e 4.30(i) · https://fnet.bmfbovespa.com.br/fnet/publico/visualizarDocumento?id=1143317</a:t>
            </a:r>
          </a:p>
          <a:p>
            <a:r>
              <a:t>CNPJ 62696791000193 · Finalidade e limites de derivativos · Excerto da fonte:</a:t>
            </a:r>
          </a:p>
          <a:p>
            <a:r>
              <a:t>4.28 A Classe pode aplicar recursos em instrumentos financeiros derivativos, exclusivamente para fins de proteção patrimonial, cuja exposição seja sempre, no máximo, o valor do Patrimônio Líquido. 4.29 A Classe pode emprestar ativos f inanceiros e valores mobiliários, desde que tais operações de empréstimo sejam cursadas exclusivamente por meio de serviço autorizado pelo Banco Central do Brasil ou pela CVM. 4.30 É vedado à Classe: (i) aplicar no exterior recursos captados no País; (ii) salvo aprovação em assembleia de Cotistas, a realização de operações quando caracterizada situação de conf lito de interesses entre: (a) a Classe, o Administrador ou o Gestor ou a Consultoria Especializada; (b) a Classe e os Cotistas que detenham participação correspondente a, no mínimo, 10% (dez por cento) do patrimônio da Classe; e (c) a Classe e o representante dos Cotistas; (iii) a aplicação de recursos em sociedades nas quais participem o Administrador, o Gestor, os consultores, os membros de comitês ou conselhos e os Cotistas titulares de Cotas representativas de 5% (cinco por cento) do patri</a:t>
            </a:r>
          </a:p>
          <a:p>
            <a:r>
              <a:t>CNPJ 62696791000193 · Finalidade e limites de derivativos · Regulamento · ID 1143317 · 20/03/2026 · versão Regulamento — referência 20/03/2026 · p. 27 · Anexo I, 12.11(x) · https://fnet.bmfbovespa.com.br/fnet/publico/visualizarDocumento?id=1143317</a:t>
            </a:r>
          </a:p>
          <a:p>
            <a:r>
              <a:t>CNPJ 62696791000193 · Finalidade e limites de derivativos · Excerto da fonte:</a:t>
            </a:r>
          </a:p>
          <a:p>
            <a:r>
              <a:t>(x) realizar operações com derivativos, exceto quando tais operações f orem realizadas exclusivamente para f ins de proteção patrimonial e desde que a exposição seja sempre, no máximo, o valor do Patrimônio Líquido. 12.11.1 A vedação prevista no item (v) acima não impede a aquisição de imóveis sobre os quais tenham sido constituídos ônus reais anteriormente ao seu ingresso no patrimônio . 12.12 É vedado ao Gestor o recebimento de qualquer remuneração, benefício ou vantagem, direta ou indiretamente, que potencialmente prejudique sua independência na tomada de decisão. Consultoria Especializada 12.13 O Gestor, conforme disposto no Anexo Normativo VI da Resolução 175, poderá contratar Consultoria Especializada para que preste os seguintes serviços (“Consultoria Especializada”): (i) Analisar, selecionar, avaliar e acompanhar, de acordo com a Política de Investimentos deste Anexo, os ativos integrantes ou que possam vir a integrar a carteira da classe do Fundo; (ii) Participar de negociações e propor negócios à classe, observada a Política de Investimentos constante deste Anexo;</a:t>
            </a:r>
          </a:p>
          <a:p>
            <a:r>
              <a:t>CNPJ 62696791000193 · Finalidade e limites de derivativos · Versão e prevalência: Leitura específica das cláusulas indicadas; condições e conflitos preservados. Seleção documental atual não comprova vigência jurídica por data isolada.</a:t>
            </a:r>
          </a:p>
          <a:p>
            <a:r>
              <a:t>CNPJ 55563624000109 · Finalidade e limites de derivativos · Regulamento · ID 1192614 · 2026-04-30 · versão 1 · p. 14 · 4.21 · https://fnet.bmfbovespa.com.br/fnet/publico/visualizarDocumento?id=1192614</a:t>
            </a:r>
          </a:p>
          <a:p>
            <a:r>
              <a:t>CNPJ 55563624000109 · Finalidade e limites de derivativos · Excerto da fonte:</a:t>
            </a:r>
          </a:p>
          <a:p>
            <a:r>
              <a:t>4.21 A Classe poderá utilizar instrumentos derivativos, desde que com o objetivo de proteção patrimonial, ou, desde  que não resulte em exposição a risco de capital, conforme definida no inciso XXIV do Art. 3º da parte geral da  Resolução CVM 175 ou em troca de indexador a que os ativos estão indexados.</a:t>
            </a:r>
          </a:p>
          <a:p>
            <a:r>
              <a:t>CNPJ 55563624000109 · Finalidade e limites de derivativos · Regulamento · ID 1192614 · 2026-04-30 · versão 1 · p. 39 · https://fnet.bmfbovespa.com.br/fnet/publico/visualizarDocumento?id=1192614</a:t>
            </a:r>
          </a:p>
          <a:p>
            <a:r>
              <a:t>CNPJ 55563624000109 · Finalidade e limites de derivativos · Excerto da fonte:</a:t>
            </a:r>
          </a:p>
          <a:p>
            <a:r>
              <a:t>(xxii) Operações com derivativos. A Classe poderá realizar operações com derivativos  exclusivamente com o objetivo de proteção patrimonial. As operações com derivativos, pela sua  própria natureza, acrescentam riscos à Carteira e poderão afetar negativamente a sua rentabilidade,  até o limite do Patrimônio Líquido.</a:t>
            </a:r>
          </a:p>
          <a:p>
            <a:r>
              <a:t>CNPJ 55563624000109 · Finalidade e limites de derivativos · Condição: Documentos atuais selecionados no inventário por categoria/escopo; a data documental isolada não comprova vigência jurídica.</a:t>
            </a:r>
          </a:p>
          <a:p>
            <a:r>
              <a:t>CNPJ 55563624000109 · Finalidade e limites de derivativos · Versão e prevalência: Documentos atuais selecionados no inventário por categoria/escopo; a data documental isolada não comprova vigência jurídica.</a:t>
            </a:r>
          </a:p>
          <a:p>
            <a:r>
              <a:t>CNPJ 55563624000109 · Finalidade e limites de derivativos · Resumo do histórico: {"count": 3, "dates": ["2025-01-31", "2026-01-31", "2026-04-30"], "document_count": 3, "sources": [{"document_id": "1192614", "title": "Regulamento", "reference_date": "2026-04-30", "version": "1", "page": "14", "url": "https://fnet.bmfbovespa.com.br/fnet/publico/visualizarDocumento?id=1192614", "sha256": "f56e63ace0acde41d2f47fb48f1ac7f3f7df5e2d32de092d7c5e075a52516632"}, {"document_id": "1178840", "title": "Demonstrações Financeiras", "reference_date": "2026-01-31", "version": "1", "page": 25, "url": "https://fnet.bmfbovespa.com.br/fnet/publico/visualizarDocumento?id=1178840", "sha256": "c458e98664c5c907ddb5a05a94b120bed4e05295b2bfc420f5ba69af0a229abe"}, {"document_id": "891861", "title": "Demonstrações Financeiras", "reference_date": "2025-01-31", "version": "1", "page": 26, "url": "https://fnet.bmfbovespa.com.br/fnet/publico/visualizarDocumento?id=891861", "sha256": "e9cb9e6ddbe505fe068cfcac33605165a98313489de0d3ce6d4d238263c3f3e7"}], "reference": {"path": "history/55563624000109.json", "criterion_id": "hedge", "total_count": 3, "preview_count": 3, "full_text_deferred": true, "sha256": "7835d573fb58a3c19adf5b8ecc2aee2bdbb9a88f7a0c0209b5f262b64c7522e3"}}</a:t>
            </a:r>
          </a:p>
          <a:p>
            <a:r>
              <a:t>CNPJ 62552447000120 · Finalidade e limites de derivativos · Regulamento · ID 1200623 · 21/05/2026 · versão Consolidado21/05/2026 aprovado pelo ato1200625 · p. 14 · AnexoI4.10.1 · https://fnet.bmfbovespa.com.br/fnet/publico/visualizarDocumento?id=1200623</a:t>
            </a:r>
          </a:p>
          <a:p>
            <a:r>
              <a:t>CNPJ 62552447000120 · Finalidade e limites de derivativos · Excerto da fonte:</a:t>
            </a:r>
          </a:p>
          <a:p>
            <a:r>
              <a:t>4.10.1 O uso de derivativos está restrito a operações que visem à proteção patrimonial ou, desde que não resulte em exposição a risco de capital, à troca de indexador e/ou do índice de referência. 4.11 Sem prejuízo de limites mais restritivos definidos neste Regulamento, o Gestor deverá observar, ainda, os seguintes limites de concentração para a composição da Carteira: (i) Até 100% (cem por cento) da parcela do Patrimônio Líquido investida em Direitos Creditórios poderão ser alocados em Direitos Creditórios originados ou cedidos pelo Administrador, Gestor e</a:t>
            </a:r>
          </a:p>
          <a:p>
            <a:r>
              <a:t>CNPJ 62552447000120 · Finalidade e limites de derivativos · Motivo: Cláusula primária localizada e citada, mas sua lista/condições extensas não admitem uma síntese literal curta confirmada. O trecho integral permanece nas fontes.</a:t>
            </a:r>
          </a:p>
          <a:p>
            <a:r>
              <a:t>CNPJ 62552447000120 · Finalidade e limites de derivativos · Versão e prevalência: Leitura específica das cláusulas indicadas; condições e conflitos preservados. Seleção documental atual não comprova vigência jurídica por data isolada.</a:t>
            </a:r>
          </a:p>
          <a:p>
            <a:r>
              <a:t>CNPJ 63953620000165 · Finalidade e limites de derivativos · Anexo ao Regulamento · ID 1222863 · 2026-06-02 · versão 1 · p. 7 · https://fnet.bmfbovespa.com.br/fnet/publico/visualizarDocumento?id=1222863</a:t>
            </a:r>
          </a:p>
          <a:p>
            <a:r>
              <a:t>CNPJ 63953620000165 · Finalidade e limites de derivativos · Excerto da fonte:</a:t>
            </a:r>
          </a:p>
          <a:p>
            <a:r>
              <a:t>Anexo I ao Regulamento  CLASSE CONSIGNADO PRIVADO DO MT GLOBAL FUNDO DE INVESTIMENTO EM DIREITOS  CREDITÓRIOS RESPONSABILIDADE LIMITADA</a:t>
            </a:r>
          </a:p>
          <a:p>
            <a:r>
              <a:t> (i)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 (ii) No máximo, 50% (cinquenta por cento) do Patrimônio Líquido investido em Ativos Financeiros  de Liquidez de emissão ou que envolvam retenção de risco por parte do Administrador, Gestor,  e/ou suas partes relacionadas, observado ainda o disposto acima;</a:t>
            </a:r>
          </a:p>
          <a:p>
            <a:r>
              <a:t> (iii) No máximo, 100% (cem por cento) do Patrimônio Líquido investido em operações com  derivativos nos quais, inexistindo contraparte central, se tenha como contraparte o Gestor,  Consultora e/ou suas partes relacionadas, observado ainda o disposto acima;</a:t>
            </a:r>
          </a:p>
          <a:p>
            <a:r>
              <a:t> (iv) A Classe poderá investir até 100% (cem por cento) de seu Patrimônio Líquido em Direitos  Creditórios Não-Padronizados;</a:t>
            </a:r>
          </a:p>
          <a:p>
            <a:r>
              <a:t> (v) É vedada a aquisição de precatórios federais.</a:t>
            </a:r>
          </a:p>
          <a:p>
            <a:r>
              <a:t>CNPJ 63953620000165 · Finalidade e limites de derivativos · Condição: Documentos atuais selecionados no inventário por categoria/escopo; a data documental isolada não comprova vigência jurídica.</a:t>
            </a:r>
          </a:p>
          <a:p>
            <a:r>
              <a:t>CNPJ 63953620000165 · Finalidade e limites de derivativos · Motivo: Cláusula primária localizada e citada, mas sua lista/condições extensas não admitem uma síntese literal curta confirmada. O trecho integral permanece nas fontes.</a:t>
            </a:r>
          </a:p>
          <a:p>
            <a:r>
              <a:t>CNPJ 63953620000165 · Finalidade e limites de derivativos · Versão e prevalência: Documentos atuais selecionados no inventário por categoria/escopo; a data documental isolada não comprova vigência jurídica.</a:t>
            </a:r>
          </a:p>
          <a:p>
            <a:r>
              <a:t>CNPJ 63953620000165 · Finalidade e limites de derivativos · Resumo do histórico: {"count": 8, "dates": ["2026-04-28", "2026-05-08", "2026-05-15"], "document_count": 3, "sources": [{"document_id": "1327859", "title": "Demonstrações Financeiras - Fusão, cisão e incorporação", "reference_date": "2026-05-15", "version": "1", "page": 26, "url": "https://fnet.bmfbovespa.com.br/fnet/publico/visualizarDocumento?id=1327859", "sha256": "dca1c68babb97f887528c3e2e47596a9c30f507b067981a35655b2f2da9c8054"}, {"document_id": "1298691", "title": "Demonstrações Financeiras - Fusão, cisão e incorporação", "reference_date": "2026-05-08", "version": "1", "page": 26, "url": "https://fnet.bmfbovespa.com.br/fnet/publico/visualizarDocumento?id=1298691", "sha256": "58c570d9b8d4d265330d3db3ea81c435b8e44a6dab4002aa37790652a1ee9819"}, {"document_id": "1282180", "title": "Demonstrações Financeiras - Fusão, cisão e incorporação", "reference_date": "2026-04-28", "version": "1", "page": 27, "url": "https://fnet.bmfbovespa.com.br/fnet/publico/visualizarDocumento?id=1282180", "sha256": "afaaa0e6809be4385e5bdb6c911aac582032c5bdbac3d7750234bf9eaf00438a"}], "reference": {"path": "history/63953620000165.json", "criterion_id": "hedge", "total_count": 8, "preview_count": 3, "full_text_deferred": true, "sha256": "a7b89077f5e21098c2d601c303faabc3ff6b9729f89d8afecdc60fe1404720c1"}}</a:t>
            </a:r>
          </a:p>
          <a:p>
            <a:r>
              <a:t>CNPJ 54871427000194 · Prioridade do hedge e reserva de MTM · Motivo: Não localizada uma cláusula material para este critério nos textos identificados e processados. A ausência de resultado não comprova inexistência da regra.</a:t>
            </a:r>
          </a:p>
          <a:p>
            <a:r>
              <a:t>CNPJ 60010416000112 · Prioridade do hedge e reserva de MTM · Motivo: Não localizada uma cláusula material para este critério nos textos identificados e processados. A ausência de resultado não comprova inexistência da regra.</a:t>
            </a:r>
          </a:p>
          <a:p>
            <a:r>
              <a:t>CNPJ 62696791000193 · Prioridade do hedge e reserva de MTM · Motivo: Não localizada uma cláusula material para este critério nos textos identificados e processados. A ausência de resultado não comprova inexistência da regra.</a:t>
            </a:r>
          </a:p>
          <a:p>
            <a:r>
              <a:t>CNPJ 55563624000109 · Prioridade do hedge e reserva de MTM · Motivo: Não localizada uma cláusula material para este critério nos textos identificados e processados. A ausência de resultado não comprova inexistência da regra.</a:t>
            </a:r>
          </a:p>
          <a:p>
            <a:r>
              <a:t>CNPJ 62552447000120 · Prioridade do hedge e reserva de MTM · Motivo: Não localizada uma cláusula material para este critério nos textos identificados e processados. A ausência de resultado não comprova inexistência da regra.</a:t>
            </a:r>
          </a:p>
          <a:p>
            <a:r>
              <a:t>CNPJ 63953620000165 · Prioridade do hedge e reserva de MTM · Motivo: Não localizada uma cláusula material para este critério nos textos identificados e processados. A ausência de resultado não comprova inexistência da regra.</a:t>
            </a:r>
          </a:p>
          <a:p>
            <a:r>
              <a:t>CNPJ 54871427000194 · Administrador, gestor e custodiante · Regulamento · ID 670691 · 2024-04-28 · versão 1 · p. 1 · 1.1 · https://fnet.bmfbovespa.com.br/fnet/publico/visualizarDocumento?id=670691</a:t>
            </a:r>
          </a:p>
          <a:p>
            <a:r>
              <a:t>CNPJ 54871427000194 · Administrador, gestor e custodiante · Excerto da fonte:</a:t>
            </a:r>
          </a:p>
          <a:p>
            <a:r>
              <a:t>1.1 CONSIGNADO DELTA RECEIVABLES I FUNDO DE INVESTIMENTO EM DIREITOS CREDITÓRIOS  (“FUNDO”), regido pela Lei nº 10.406, de 10 de janeiro de 2002, conf orme alterada (“Código Civil”),  pela parte geral e o Anexo Normativo II da Resolução nº 175, de 23 de dezembro de 2022, conforme  alterada, da Comissão de Valores Mobiliários (respectivamente, “CVM” e “Resolução CVM 175”), terá  como principais características:</a:t>
            </a:r>
          </a:p>
          <a:p>
            <a:r>
              <a:t> Classe de Cotas Classe única.</a:t>
            </a:r>
          </a:p>
          <a:p>
            <a:r>
              <a:t> Indeterminado, exceto se de outra f orma vier a ser deliberado pelos cotistas  Prazo de Duração  reunidos em assembleia geral de cotistas.</a:t>
            </a:r>
          </a:p>
          <a:p>
            <a:r>
              <a:t> BTG Pactual Serviços Financeiros S.A. Distribuidora de Títulos e Valores  Mobiliários, instituição f inanceira, com sede na Cidade e Estado do Rio de  Janeiro, na Praia de Botafogo, nº 501, 5º andar (parte), Torre Corcovado,  ADMINISTRADOR  Botafogo, CEP 22250-040, inscrita no CNPJ sob o nº 59.281.253/0001-23 e  credenciada como administradora de carteira, de acordo com o Ato Declaratório  CVM nº 8.695, de 20 de março de 2006 (“ADMINISTRADOR”).</a:t>
            </a:r>
          </a:p>
          <a:p>
            <a:r>
              <a:t> BTG Pactual Asset Management S.A. Distribuidora de Títulos e Valores  Mobiliários, inscrita no CNPJ/ME sob o nº 29.650.082/0001-00, com sede  Cidade e Estado do Rio de Janeiro, na Praia de Botafogo, n.º 501, 5° andar,  devidamente autorizada à prestação dos serviços de administração de carteira  GESTOR  de títulos e valores mobiliários por meio d o Ato Declaratório número 5.968,  expedido em 10 de maio de 2000 (“GESTOR” e, quando ref erido  conjuntamente e indistintamente com o ADMINISTRADOR, os “Prestadores  de Serviços Essenciais”).</a:t>
            </a:r>
          </a:p>
          <a:p>
            <a:r>
              <a:t> O FUNDO, seus cotistas, os distribuidores de cotas por conta e ordem, seu  GESTOR, seu ADMINISTRADOR e os demais prestadores de serviço do  FUNDO e/ou da CLASSE obrigam-se a resolver, por meio de arbitragem, de  acordo com o Regulamento de Arbitragem da Câmara de Arbitragem do  Mercado da B3 (“Regulamento CAM B3” e “CAM B3”, respectivamente), toda  e qualquer disputa ou controvérsia que possa surgir entre eles, relacionada ou  oriunda, em especial, da aplicação, validade, eficácia, interpretação, violação  e seus ef eitos, das disposições contidas no Regulamento e seus Anexos, nas  normas editadas pela CVM que lhe sejam aplicáveis e nos instrumentos entre  si f irmados (“Arbitragem”).</a:t>
            </a:r>
          </a:p>
          <a:p>
            <a:r>
              <a:t> (i) A Arbitragem será de direito, com a aplicação das normas da República  Federativa do Brasil, terá sede no Município de São Paulo, será  Foro Aplicável conduzida em língua portuguesa e de f orma confidencial. O tribunal  arbitral será constituído por 3 (três) árbitros, sendo um deles  presidente, escolhidos nos termos do Regulamento CAM B3.</a:t>
            </a:r>
          </a:p>
          <a:p>
            <a:r>
              <a:t> (ii) As despesas processuais iniciais deverão ser rateadas entre as partes,  arcando cada polo processual com metade dos valores necessários,  sem prejuízo à possibilidade de adiantamento pelas partes  interessadas, resolvendo-se as indef inições nos termos do  Regulamento CAM B3. A sentença arbitral deverá determinar a  responsabilidade final pelas despesas de acordo com a sucumbência  de cada parte, as quais deverão incluir as taxas administrativas,  honorários de árbitros e de peritos e despesas com diligências  processuais e f ornecimento de garantias que sejam determinadas  expressamente pelo tribunal arbitral. É vedada a imposição de  honorários de sucumbência, bem como a determinação de indenização</a:t>
            </a:r>
          </a:p>
          <a:p>
            <a:r>
              <a:t>CNPJ 54871427000194 · Administrador, gestor e custodiante · Regulamento · ID 670691 · 2024-04-28 · versão 1 · p. 7 · https://fnet.bmfbovespa.com.br/fnet/publico/visualizarDocumento?id=670691</a:t>
            </a:r>
          </a:p>
          <a:p>
            <a:r>
              <a:t>CNPJ 54871427000194 · Administrador, gestor e custodiante · Excerto da fonte:</a:t>
            </a:r>
          </a:p>
          <a:p>
            <a:r>
              <a:t>Banco BTG Pactual S.A., instituição f inanceira, com sede na Cidade e  Estado do Rio de Janeiro, na Praia de Botafogo, nº 501, 5º andar (parte),  Custódia Torre Corcovado, Botafogo, CEP 22250-040, inscrita no CNPJ sob o nº</a:t>
            </a:r>
          </a:p>
          <a:p>
            <a:r>
              <a:t> 30.306.294/0001-45 e credenciado como custodiante, de acordo com o  Ato Declaratório nº 7.204, de 25 de abril de 2003 (“CUSTODIANTE”).</a:t>
            </a:r>
          </a:p>
          <a:p>
            <a:r>
              <a:t> Tesouraria, Controladoria e ADMINISTRADOR.</a:t>
            </a:r>
          </a:p>
          <a:p>
            <a:r>
              <a:t> Escrituração  Subclasses Única.</a:t>
            </a:r>
          </a:p>
          <a:p>
            <a:r>
              <a:t>CNPJ 54871427000194 · Administrador, gestor e custodiante · Regulamento · ID 670691 · 2024-04-28 · versão 1 · p. 38 · https://fnet.bmfbovespa.com.br/fnet/publico/visualizarDocumento?id=670691</a:t>
            </a:r>
          </a:p>
          <a:p>
            <a:r>
              <a:t>CNPJ 54871427000194 · Administrador, gestor e custodiante · Excerto da fonte:</a:t>
            </a:r>
          </a:p>
          <a:p>
            <a:r>
              <a:t>“ADMINISTRADOR”: BTG Pactual Serviços Financeiros S.A. Distribuidora de Títulos e Valores Mobiliários, instituição com sede no Município do Rio de Janeiro, Estado do Rio de Janeiro, à Praia de Botafogo, nº 501, 5º andar – parte, inscrita no CNPJ sob o nº 59.281.253/0001-23, autorizada a funcionar pelo BACEN e autorizada pela CVM para a atividade de administração de carteiras de valores mobiliários, de acordo com o Ato Declaratório nº 8.695, de 20 de março de 2006, ou seu sucessor a qualquer título ;</a:t>
            </a:r>
          </a:p>
          <a:p>
            <a:r>
              <a:t>CNPJ 54871427000194 · Administrador, gestor e custodiante · Condição: Documentos atuais selecionados no inventário por categoria/escopo; a data documental isolada não comprova vigência jurídica.</a:t>
            </a:r>
          </a:p>
          <a:p>
            <a:r>
              <a:t>CNPJ 54871427000194 · Administrador, gestor e custodiante · Versão e prevalência: Documentos atuais selecionados no inventário por categoria/escopo; a data documental isolada não comprova vigência jurídica.</a:t>
            </a:r>
          </a:p>
          <a:p>
            <a:r>
              <a:t>CNPJ 54871427000194 · Administrador, gestor e custodiante · Resumo do histórico: {"count": 2, "dates": ["2024-04-19"], "document_count": 2, "sources": [{"document_id": "670687", "title": "Instrumento Particular de Constituição/Encerramento do Fundo", "reference_date": "2024-04-19", "version": "1", "page": 1, "url": "https://fnet.bmfbovespa.com.br/fnet/publico/visualizarDocumento?id=670687", "sha256": "999f2a47d39f7022b0fcee3d16fd1db33948537b897e92c4c9e14b436bf5eb96"}, {"document_id": "670689", "title": "Regulamento", "reference_date": "2024-04-19", "version": "1", "page": 1, "clause": "1.1", "url": "https://fnet.bmfbovespa.com.br/fnet/publico/visualizarDocumento?id=670689", "sha256": "891bc9bc5d87bbc02ec139077a84d2702eb81ea02035fb71d24f5b8366b94a0b"}], "reference": {"path": "history/54871427000194.json", "criterion_id": "providers", "total_count": 2, "preview_count": 2, "full_text_deferred": true, "sha256": "35d7cd99be50c7287c9fb675cf4f2e736002315295a225a9efa79c8d9186d874"}}</a:t>
            </a:r>
          </a:p>
          <a:p>
            <a:r>
              <a:t>CNPJ 60010416000112 · Administrador, gestor e custodiante · Regulamento · ID 1051393 · 2025-10-09 · versão 1 · p. 8 · https://fnet.bmfbovespa.com.br/fnet/publico/visualizarDocumento?id=1051393</a:t>
            </a:r>
          </a:p>
          <a:p>
            <a:r>
              <a:t>CNPJ 60010416000112 · Administrador, gestor e custodiante · Excerto da fonte:</a:t>
            </a:r>
          </a:p>
          <a:p>
            <a:r>
              <a:t>Tipo de Condomínio Fechado.</a:t>
            </a:r>
          </a:p>
          <a:p>
            <a:r>
              <a:t> Prazo de Duração Indeterminado.</a:t>
            </a:r>
          </a:p>
          <a:p>
            <a:r>
              <a:t> Classe de Investimento  Não.</a:t>
            </a:r>
          </a:p>
          <a:p>
            <a:r>
              <a:t> em Cotas  Tipo “Financeiro”.</a:t>
            </a:r>
          </a:p>
          <a:p>
            <a:r>
              <a:t> Classificação ANBIMA  Foco de atuação “Créditos Consignados”.</a:t>
            </a:r>
          </a:p>
          <a:p>
            <a:r>
              <a:t> O objetivo da classe é proporcionar aos seus Cotistas a valorização de suas Cotas  por meio da aplicação de seu Patrimônio Líquido na aquisição de: (i) Direitos  Creditórios que atendam aos Critérios de Elegibilidade, estabelecidos no Capítulo  4 abaixo, e (ii) Ativos Financeiros de Liquidez, observados todos os limites de  Objetivo composição e diversificação da Carteira da Classe, estabelecidos neste  Regulamento e na regulamentação aplicável.</a:t>
            </a:r>
          </a:p>
          <a:p>
            <a:r>
              <a:t> O objetivo da Classe não representa, sob qualquer hipótese, promessa, garantia  ou sugestão do Fundo ou de seus Prestadores de Serviços Essenciais quanto à  segurança, rentabilidade e liquidez dos títulos integrantes de sua carteira.</a:t>
            </a:r>
          </a:p>
          <a:p>
            <a:r>
              <a:t> Destinado exclusivamente a um único cotista ou grupo de cotistas vinculados por  Público-Alvo  interesse único e indissociável, classificados como Investidores Prof issionais.</a:t>
            </a:r>
          </a:p>
          <a:p>
            <a:r>
              <a:t> Banco BTG Pactual S.A., instituição financeira, com sede no município e Estado  do Rio de Janeiro, na Praia de Botafogo, nº 501, Torre Corcovado, 5º andar (parte),  Custódia e Tesouraria Botafogo, CEP 22.250-040, inscrita no CNPJ sob o nº 30.306.294/0001-45 e  credenciado como custodiante, de acordo com o Ato Declaratório nº 7.204, de 25  de abril de 2003 (“Custodiante”).</a:t>
            </a:r>
          </a:p>
          <a:p>
            <a:r>
              <a:t> Tesouraria,  Controladoria e Administrador.</a:t>
            </a:r>
          </a:p>
          <a:p>
            <a:r>
              <a:t> Escrituração  Subclasses Sênior e Subordinada, nos termos do Capítulo 5 e respectivos Apêndices.</a:t>
            </a:r>
          </a:p>
          <a:p>
            <a:r>
              <a:t> O valor de cada emissão de Cotas, volume e valor unitário da Cota, bem como o  Emissão e Regime de regime de distribuição, seguirão o disposto no instrumento que aprova a emissão  Distribuição de Cotas de Cotas, que disporá acerca da eventual existência de direito de preferência dos  Cotistas.</a:t>
            </a:r>
          </a:p>
          <a:p>
            <a:r>
              <a:t> Capital Autorizado Conf orme previsto nos Apêndices.</a:t>
            </a:r>
          </a:p>
          <a:p>
            <a:r>
              <a:t> As Cotas poderão ser admitidas à negociação em bolsa de valores ou entidade de  Negociação  balcão organizado, conf orme previsto nos Apêndices.</a:t>
            </a:r>
          </a:p>
          <a:p>
            <a:r>
              <a:t> Cálculo do Valor da Cota Conf orme Capítulo 6 deste Anexo e respectivos Apêndices.</a:t>
            </a:r>
          </a:p>
          <a:p>
            <a:r>
              <a:t> A distribuição de quaisquer ganhos e rendimentos da Classe aos Cotistas será  Distribuição de  f eita exclusivamente mediante a amortização e/ou o resgate de Cotas, observado  Proventos  o disposto no Regulamento, neste Anexo e respectivos Apêndices.</a:t>
            </a:r>
          </a:p>
          <a:p>
            <a:r>
              <a:t> Utilização de Ativos Não é permitida a integralização de Cotas, no todo ou em parte, com Direitos BTG Pactual SAC: 0800 772 28 27 - Ouvidoria: 0800 722 00 48 - btgpactual.com 8</a:t>
            </a:r>
          </a:p>
          <a:p>
            <a:r>
              <a:t>CNPJ 60010416000112 · Administrador, gestor e custodiante · Regulamento · ID 1051393 · 2025-10-09 · versão 1 · p. 1 · https://fnet.bmfbovespa.com.br/fnet/publico/visualizarDocumento?id=1051393</a:t>
            </a:r>
          </a:p>
          <a:p>
            <a:r>
              <a:t>CNPJ 60010416000112 · Administrador, gestor e custodiante · Excerto da fonte:</a:t>
            </a:r>
          </a:p>
          <a:p>
            <a:r>
              <a:t>BTG Pactual Asset Management S.A. Distribuidora de Títulos e Valores  Mobiliários, sociedade anônima, com sede no município do Rio de Janeiro,  Estado do Rio de Janeiro, na Praia de Botafogo, nº 501, Torre Corcovado, 5º andar</a:t>
            </a:r>
          </a:p>
          <a:p>
            <a:r>
              <a:t> (parte), CEP 22.250-040, inscrita no CNPJ sob o nº 29.650.082/0001-00,  GESTOR  devidamente credenciada junto à CVM para operar como administradora de  carteira de valores mobiliários nos termos do Ato Declaratório CVM nº 5.968, de  10 de maio de 2000 (“Gestor” e, quando referido conjuntamente e indistintamente  com o Administrador, os “Prestadores de Serviços Essenciais”).</a:t>
            </a:r>
          </a:p>
          <a:p>
            <a:r>
              <a:t>CNPJ 60010416000112 · Administrador, gestor e custodiante · Regulamento · ID 1051393 · 2025-10-09 · versão 1 · p. 45 · https://fnet.bmfbovespa.com.br/fnet/publico/visualizarDocumento?id=1051393</a:t>
            </a:r>
          </a:p>
          <a:p>
            <a:r>
              <a:t>CNPJ 60010416000112 · Administrador, gestor e custodiante · Excerto da fonte:</a:t>
            </a:r>
          </a:p>
          <a:p>
            <a:r>
              <a:t>“Gestor”: a BTG Pactual Asset Management S.A. Distribuidora de Títulos e Valores Mobiliários, sociedade anônima, com sede no município do Rio de Janeiro, Estado do Rio de Janeiro, na Praia de Botafogo, nº 501, Torre Corcovado, 5º andar (parte), CEP 22.250-040, inscrita no CNPJ sob o nº 29.650.082/0001-00, devidamente credenciada junto à CVM para operar como administrador de carteira de valores mobiliários nos termos do Ato Declaratório CVM nº 5.968, de 10 de maio de 2000;</a:t>
            </a:r>
          </a:p>
          <a:p>
            <a:r>
              <a:t>CNPJ 60010416000112 · Administrador, gestor e custodiante · Condição: Documentos atuais selecionados no inventário por categoria/escopo; a data documental isolada não comprova vigência jurídica.</a:t>
            </a:r>
          </a:p>
          <a:p>
            <a:r>
              <a:t>CNPJ 60010416000112 · Administrador, gestor e custodiante · Versão e prevalência: Documentos atuais selecionados no inventário por categoria/escopo; a data documental isolada não comprova vigência jurídica.</a:t>
            </a:r>
          </a:p>
          <a:p>
            <a:r>
              <a:t>CNPJ 60010416000112 · Administrador, gestor e custodiante · Resumo do histórico: {"count": 1, "dates": ["2025-05-12"], "document_count": 1, "sources": [{"document_id": "1004656", "title": "AGE", "reference_date": "2025-05-12", "version": "1", "page": 4, "url": "https://fnet.bmfbovespa.com.br/fnet/publico/visualizarDocumento?id=1004656", "sha256": "f6c9c009f6170e2b29f074b98522accec73f0c40efbf11f9ec2c8d3f1402616b"}], "reference": {"path": "history/60010416000112.json", "criterion_id": "providers", "total_count": 1, "preview_count": 1, "full_text_deferred": true, "sha256": "8e2bd813f4c51cf01f6bfaad164bafe69d2bbb192f753eac92da3a01c2e63046"}}</a:t>
            </a:r>
          </a:p>
          <a:p>
            <a:r>
              <a:t>CNPJ 62696791000193 · Administrador, gestor e custodiante · Regulamento · ID 1143317 · 2026-03-20 · versão 1 · p. 1 · https://fnet.bmfbovespa.com.br/fnet/publico/visualizarDocumento?id=1143317</a:t>
            </a:r>
          </a:p>
          <a:p>
            <a:r>
              <a:t>CNPJ 62696791000193 · Administrador, gestor e custodiante · Excerto da fonte:</a:t>
            </a:r>
          </a:p>
          <a:p>
            <a:r>
              <a:t>BTG Pactual Asset Management S.A. Distribuidora de Títulos e Valores  Mobiliários, com sede no município e Estado do Rio de Janeiro, na Praia de  Botafogo, nº 501, Torre Corcovado, 5º andar (parte), Botafogo, inscrito no  CNPJ sob o nº 29.650.082/0001-00, autorizado à prestação dos serviços de  Gestor  administração de carteira de títulos e valores mobiliários de acordo com o Ato  Declaratório nº 5.968, de 10 de maio de 2000 (“Gestor” e, quando ref erido  conjuntamente com o Administrador, os “Prestadores de Serviços  Essenciais”).</a:t>
            </a:r>
          </a:p>
          <a:p>
            <a:r>
              <a:t>CNPJ 62696791000193 · Administrador, gestor e custodiante · Regulamento · ID 1143317 · 2026-03-20 · versão 1 · p. 1 · https://fnet.bmfbovespa.com.br/fnet/publico/visualizarDocumento?id=1143317</a:t>
            </a:r>
          </a:p>
          <a:p>
            <a:r>
              <a:t>CNPJ 62696791000193 · Administrador, gestor e custodiante · Excerto da fonte:</a:t>
            </a:r>
          </a:p>
          <a:p>
            <a:r>
              <a:t>BTG Pactual Serviços Financeiros S.A. Distribuidora de Títulos e Valores  Mobiliários, sociedade anônima, com sede no município e Estado do Rio de  Janeiro, na Praia de Botafogo, nº 501, 5º andar (parte), Torre Corcovado,  Administrador Botafogo, CEP 22250-040, inscrita no CNPJ sob o nº 59.281.253/0001-23 e  credenciada como Administradora de carteira, de acordo com o Ato Declaratório  CVM nº 8.695, de 20 de março de 2006 (“Administrador”), responsável pela  administração f iduciária.</a:t>
            </a:r>
          </a:p>
          <a:p>
            <a:r>
              <a:t>CNPJ 62696791000193 · Administrador, gestor e custodiante · Regulamento · ID 1143317 · 2026-03-20 · versão 1 · p. 7 · https://fnet.bmfbovespa.com.br/fnet/publico/visualizarDocumento?id=1143317</a:t>
            </a:r>
          </a:p>
          <a:p>
            <a:r>
              <a:t>CNPJ 62696791000193 · Administrador, gestor e custodiante · Excerto da fonte:</a:t>
            </a:r>
          </a:p>
          <a:p>
            <a:r>
              <a:t>Banco BTG Pactual S.A., instituição financeira, com sede no município e  Estado do Rio de Janeiro, na Praia de Botafogo, nº 501, 5º andar (parte),  Custódia e Tesouraria Torre Corcovado, Botafogo, CEP 22250-040, inscrita no CNPJ sob o nº</a:t>
            </a:r>
          </a:p>
          <a:p>
            <a:r>
              <a:t> 30.306.294/0001-45 e credenciada como custodiante, de acordo com o  Ato Declaratório nº 7.204, de 25 de abril de 2003 (“Custodiante”).</a:t>
            </a:r>
          </a:p>
          <a:p>
            <a:r>
              <a:t>CNPJ 62696791000193 · Administrador, gestor e custodiante · Condição: Documentos atuais selecionados no inventário por categoria/escopo; a data documental isolada não comprova vigência jurídica.</a:t>
            </a:r>
          </a:p>
          <a:p>
            <a:r>
              <a:t>CNPJ 62696791000193 · Administrador, gestor e custodiante · Versão e prevalência: Documentos atuais selecionados no inventário por categoria/escopo; a data documental isolada não comprova vigência jurídica.</a:t>
            </a:r>
          </a:p>
          <a:p>
            <a:r>
              <a:t>CNPJ 55563624000109 · Administrador, gestor e custodiante · Regulamento · ID 1192614 · 2026-04-30 · versão 1 · p. 1 · https://fnet.bmfbovespa.com.br/fnet/publico/visualizarDocumento?id=1192614</a:t>
            </a:r>
          </a:p>
          <a:p>
            <a:r>
              <a:t>CNPJ 55563624000109 · Administrador, gestor e custodiante · Excerto da fonte:</a:t>
            </a:r>
          </a:p>
          <a:p>
            <a:r>
              <a:t>Polígono Capital Ltda., sociedade de responsabilidade limitada, com sede no  município e estado de São Paulo, na Avenida Brigadeiro Faria Lima, n° 2601, 12º andar,  Jardim Paulistano, CEP 01452-000, inscrita no CNPJ sob nº 43.241.789/0001-85 e  GESTOR autorizada à prestação do serviço de administração de carteiras de valores mobiliários  pela CVM, de acordo com o Ato Declaratório CVM nº 19.368, expedido em 7 de  dezembro de 2021 (“GESTOR” e, quando referido conjuntamente e indistintamente  com o ADMINISTRADOR, os “Prestadores de Serviços Essenciais”).</a:t>
            </a:r>
          </a:p>
          <a:p>
            <a:r>
              <a:t>CNPJ 55563624000109 · Administrador, gestor e custodiante · Regulamento · ID 1192614 · 2026-04-30 · versão 1 · p. 1 · https://fnet.bmfbovespa.com.br/fnet/publico/visualizarDocumento?id=1192614</a:t>
            </a:r>
          </a:p>
          <a:p>
            <a:r>
              <a:t>CNPJ 55563624000109 · Administrador, gestor e custodiante · Excerto da fonte:</a:t>
            </a:r>
          </a:p>
          <a:p>
            <a:r>
              <a:t>BTG Pactual Serviços Financeiros S.A. Distribuidora de Títulos e Valores Mobiliários,  sociedade anônima, com sede no município e estado do Rio de Janeiro, na Praia de  Botafogo, nº 501, 5º andar (parte), Torre Corcovado, Botafogo, CEP 22250-040, inscrita  ADMINISTRADOR no Cadastro Nacional da Pessoa Jurídica (“CNPJ”) sob o nº 59.281.253/0001-23 e  credenciada como administradora de carteira, de acordo com o Ato Declaratório CVM  nº 8.695, de 20 de março de 2006 (“ADMINISTRADOR”).</a:t>
            </a:r>
          </a:p>
          <a:p>
            <a:r>
              <a:t>CNPJ 55563624000109 · Administrador, gestor e custodiante · Regulamento · ID 1192614 · 2026-04-30 · versão 1 · p. 41 · https://fnet.bmfbovespa.com.br/fnet/publico/visualizarDocumento?id=1192614</a:t>
            </a:r>
          </a:p>
          <a:p>
            <a:r>
              <a:t>CNPJ 55563624000109 · Administrador, gestor e custodiante · Excerto da fonte:</a:t>
            </a:r>
          </a:p>
          <a:p>
            <a:r>
              <a:t>“ADMINISTRADOR”: BTG Pactual Serviços Financeiros S.A. Distribuidora de Títulos e Valores Mobiliários, instituição  com sede no Município do Rio de Janeiro, Estado do Rio de Janeiro, à Praia de Botafogo, nº 501, 5º andar – parte, inscrita  no CNPJ sob o nº 59.281.253/0001-23, autorizada a funcionar pelo BACEN e autorizada pela CVM para a atividade de  administração de carteiras de valores mobiliários, de acordo com o Ato Declaratório nº 8.695, de 20 de março de 2006,  ou seu sucessor a qualquer título;</a:t>
            </a:r>
          </a:p>
          <a:p>
            <a:r>
              <a:t>CNPJ 55563624000109 · Administrador, gestor e custodiante · Condição: Documentos atuais selecionados no inventário por categoria/escopo; a data documental isolada não comprova vigência jurídica.</a:t>
            </a:r>
          </a:p>
          <a:p>
            <a:r>
              <a:t>CNPJ 55563624000109 · Administrador, gestor e custodiante · Versão e prevalência: Documentos atuais selecionados no inventário por categoria/escopo; a data documental isolada não comprova vigência jurídica.</a:t>
            </a:r>
          </a:p>
          <a:p>
            <a:r>
              <a:t>CNPJ 55563624000109 · Administrador, gestor e custodiante · Resumo do histórico: {"count": 6, "dates": ["2024-12-30", "2025-01-31", "2026-01-31"], "document_count": 3, "sources": [{"document_id": "1178840", "title": "Demonstrações Financeiras", "reference_date": "2026-01-31", "version": "1", "page": 3, "url": "https://fnet.bmfbovespa.com.br/fnet/publico/visualizarDocumento?id=1178840", "sha256": "c458e98664c5c907ddb5a05a94b120bed4e05295b2bfc420f5ba69af0a229abe"}, {"document_id": "891861", "title": "Demonstrações Financeiras", "reference_date": "2025-01-31", "version": "1", "page": 11, "url": "https://fnet.bmfbovespa.com.br/fnet/publico/visualizarDocumento?id=891861", "sha256": "e9cb9e6ddbe505fe068cfcac33605165a98313489de0d3ce6d4d238263c3f3e7"}, {"document_id": "811323", "title": "Anúncio de Encerramento", "reference_date": "2024-12-30", "version": "1", "page": 1, "url": "https://fnet.bmfbovespa.com.br/fnet/publico/visualizarDocumento?id=811323", "sha256": "ebc6bc661be5189acffb3c3e352de2aea0a8ca8431011d1237e1ae19da4f9c79"}], "reference": {"path": "history/55563624000109.json", "criterion_id": "providers", "total_count": 6, "preview_count": 3, "full_text_deferred": true, "sha256": "7835d573fb58a3c19adf5b8ecc2aee2bdbb9a88f7a0c0209b5f262b64c7522e3"}}</a:t>
            </a:r>
          </a:p>
          <a:p>
            <a:r>
              <a:t>CNPJ 62552447000120 · Administrador, gestor e custodiante · Regulamento · ID 1200623 · 2026-05-21 · versão 1 · p. 1 · https://fnet.bmfbovespa.com.br/fnet/publico/visualizarDocumento?id=1200623</a:t>
            </a:r>
          </a:p>
          <a:p>
            <a:r>
              <a:t>CNPJ 62552447000120 · Administrador, gestor e custodiante · Excerto da fonte:</a:t>
            </a:r>
          </a:p>
          <a:p>
            <a:r>
              <a:t>BTG Pactual Asset Management S.A. Distribuidora de Títulos e Valores  Mobiliários, sociedade anônima, com sede no município e Estado do Rio de  Janeiro, na Praia de Botafogo, n.º 501, 5º andar (parte), Torre Corcovado, bairro  Botafogo, CEP 22250-040, inscrita no CNPJ sob o n.º 29.650.082/0001-00 e  Gestor  credenciada como administradora de carteira de valores mobiliários , categoria  gestor de recursos, de acordo com o Ato Declaratório CVM n.º 5.968, de 10 de  maio de 2000 (“Gestor” e, quando ref erido conjuntamente e indistintamente  com o Administrador, “Prestadores de Serviços Essenciais”).</a:t>
            </a:r>
          </a:p>
          <a:p>
            <a:r>
              <a:t>CNPJ 62552447000120 · Administrador, gestor e custodiante · Regulamento · ID 1200623 · 2026-05-21 · versão 1 · p. 1 · https://fnet.bmfbovespa.com.br/fnet/publico/visualizarDocumento?id=1200623</a:t>
            </a:r>
          </a:p>
          <a:p>
            <a:r>
              <a:t>CNPJ 62552447000120 · Administrador, gestor e custodiante · Excerto da fonte:</a:t>
            </a:r>
          </a:p>
          <a:p>
            <a:r>
              <a:t>BTG Pactual Serviços Financeiros S.A. Distribuidora de Títulos e Valores  Mobiliários, sociedade anônima, com sede no município e Estado do Rio de  Janeiro, na Praia de Botafogo, n.º 501, 5º andar (parte), Torre Corcovado, bairro  Administrador Botafogo, CEP 22250-040, inscrita no CNPJ sob o n.º 59.281.253/0001-23 e  credenciada como administradora de carteira de valores mobiliários, categoria  administrador fiduciário, de acordo com o Ato Declaratório CVM n.º 8.695, de 20  de março de 2006 (“Administrador”).</a:t>
            </a:r>
          </a:p>
          <a:p>
            <a:r>
              <a:t>CNPJ 62552447000120 · Administrador, gestor e custodiante · Instrumento Particular de Alteração do Regulamento · ID 1200625 · 2026-05-21 · versão 1 · p. 1 · https://fnet.bmfbovespa.com.br/fnet/publico/visualizarDocumento?id=1200625</a:t>
            </a:r>
          </a:p>
          <a:p>
            <a:r>
              <a:t>CNPJ 62552447000120 · Administrador, gestor e custodiante · Excerto da fonte:</a:t>
            </a:r>
          </a:p>
          <a:p>
            <a:r>
              <a:t>A Administradora, BTG PACTUAL SERVIÇOS FINANCEIROS S.A. DTVM, com  sede na Praia de Botafogo, n.º 501, 5º andar (parte), na Cidade e Estado do Rio de  Janeiro, e inscrita no CNPJ sob o número 59.281.253/0001-23, na qualidade de  administradora da V CDT 1 FUNDO DE INVESTIMENTO EM DIREITOS  CREDITÓRIOS RESPONSABILIDADE LIMITADA, inscrita no CNPJ/MF sob o  número 62.552.447/0001-20 ("Classe"), serve-se da presente para:</a:t>
            </a:r>
          </a:p>
          <a:p>
            <a:r>
              <a:t>CNPJ 62552447000120 · Administrador, gestor e custodiante · Condição: Documentos atuais selecionados no inventário por categoria/escopo; a data documental isolada não comprova vigência jurídica.</a:t>
            </a:r>
          </a:p>
          <a:p>
            <a:r>
              <a:t>CNPJ 62552447000120 · Administrador, gestor e custodiante · Versão e prevalência: Documentos atuais selecionados no inventário por categoria/escopo; a data documental isolada não comprova vigência jurídica.</a:t>
            </a:r>
          </a:p>
          <a:p>
            <a:r>
              <a:t>CNPJ 62552447000120 · Administrador, gestor e custodiante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"providers", "total_count": 1, "preview_count": 1, "full_text_deferred": true, "sha256": "d95db8c0613d67ee84118c734588665265ea6b02f86a0318d6a844cbe1d0f82f"}}</a:t>
            </a:r>
          </a:p>
          <a:p>
            <a:r>
              <a:t>CNPJ 63953620000165 · Administrador, gestor e custodiante · Anexo ao Regulamento · ID 1222863 · 2026-06-02 · versão 1 · p. 2 · https://fnet.bmfbovespa.com.br/fnet/publico/visualizarDocumento?id=1222863</a:t>
            </a:r>
          </a:p>
          <a:p>
            <a:r>
              <a:t>CNPJ 63953620000165 · Administrador, gestor e custodiante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Administrador, gestor e custodiante · Condição: Documentos atuais selecionados no inventário por categoria/escopo; a data documental isolada não comprova vigência jurídica.</a:t>
            </a:r>
          </a:p>
          <a:p>
            <a:r>
              <a:t>CNPJ 63953620000165 · Administrador, gestor e custodiante · Motivo: Cláusula primária localizada e citada, mas sua lista/condições extensas não admitem uma síntese literal curta confirmada. O trecho integral permanece nas fontes.</a:t>
            </a:r>
          </a:p>
          <a:p>
            <a:r>
              <a:t>CNPJ 63953620000165 · Administrador, gestor e custodiante · Versão e prevalência: Documentos atuais selecionados no inventário por categoria/escopo; a data documental isolada não comprova vigência jurídica.</a:t>
            </a:r>
          </a:p>
          <a:p>
            <a:r>
              <a:t>CNPJ 63953620000165 · Administrador, gestor e custodiante · Resumo do histórico: {"count": 8, "dates": ["2026-04-28", "2026-05-08", "2026-05-15"], "document_count": 3, "sources": [{"document_id": "1327859", "title": "Demonstrações Financeiras - Fusão, cisão e incorporação", "reference_date": "2026-05-15", "version": "1", "page": 9, "url": "https://fnet.bmfbovespa.com.br/fnet/publico/visualizarDocumento?id=1327859", "sha256": "dca1c68babb97f887528c3e2e47596a9c30f507b067981a35655b2f2da9c8054"}, {"document_id": "1298691", "title": "Demonstrações Financeiras - Fusão, cisão e incorporação", "reference_date": "2026-05-08", "version": "1", "page": 9, "url": "https://fnet.bmfbovespa.com.br/fnet/publico/visualizarDocumento?id=1298691", "sha256": "58c570d9b8d4d265330d3db3ea81c435b8e44a6dab4002aa37790652a1ee9819"}, {"document_id": "1282180", "title": "Demonstrações Financeiras - Fusão, cisão e incorporação", "reference_date": "2026-04-28", "version": "1", "page": 9, "url": "https://fnet.bmfbovespa.com.br/fnet/publico/visualizarDocumento?id=1282180", "sha256": "afaaa0e6809be4385e5bdb6c911aac582032c5bdbac3d7750234bf9eaf00438a"}], "reference": {"path": "history/63953620000165.json", "criterion_id": "providers", "total_count": 8, "preview_count": 3, "full_text_deferred": true, "sha256": "a7b89077f5e21098c2d601c303faabc3ff6b9729f89d8afecdc60fe1404720c1"}}</a:t>
            </a:r>
          </a:p>
          <a:p>
            <a:r>
              <a:t>CNPJ 54871427000194 · Substituição de prestadores · Motivo: Não localizada uma cláusula material para este critério nos textos identificados e processados. A ausência de resultado não comprova inexistência da regra.</a:t>
            </a:r>
          </a:p>
          <a:p>
            <a:r>
              <a:t>CNPJ 60010416000112 · Substituição de prestadores · Regulamento · ID 1051393 · 2025-10-09 · versão 1 · p. 3 · 1.8 · https://fnet.bmfbovespa.com.br/fnet/publico/visualizarDocumento?id=1051393</a:t>
            </a:r>
          </a:p>
          <a:p>
            <a:r>
              <a:t>CNPJ 60010416000112 · Substituição de prestadores · Excerto da fonte:</a:t>
            </a:r>
          </a:p>
          <a:p>
            <a:r>
              <a:t>1.8. Os Cotistas, o Administrador, o Gestor e o Agente de  Retenção/Cobrança estão plenamente conscientes dos termos e efeitos  desta cláusula compromissória e concordam irrevogavelmente que a  arbitragem será a única f orma de resolução de disputas relacionada a  este Regulamento. Sem prejuízo da validade desta cláusula  compromissória, as partes elegem o foro da comarca do Rio de Janeiro,  estado do Rio de Janeiro, com a renúncia expressa a qualquer outra, se  e quando isso f or necessário para fins de: (i) executar as obrigações para  as quais haja disponibilidade imediata de execução judicial; (ii) obter  ordens de execução específica ou liminares de caráter preventivo,  temporário ou permanente, tais como a prestação de caução para um  processo arbitral iniciado ou em andamento entre as partes da  arbitragem e/ou assegurar a existência e ef icácia do processo arbitral;</a:t>
            </a:r>
          </a:p>
          <a:p>
            <a:r>
              <a:t> e/ou (iii) apresentar um pedido de execução específica ou outra ordem,  sendo certo que, uma vez obtida a execução específica ou outra ordem,  o Tribunal Arbitral a ser instituído ou que já esteja instituído, conforme o  caso, assumirá a competência plena e exclusiva para decidir sobre toda  e qualquer questão, quer relacionada ao processo ou ao mérito, que  possa ter dado origem à ordem ou execução específica solicitada, e o  respectivo processo será suspenso até que o Tribunal Arbitral profira  uma decisão parcial ou def initiva sobre a questão. A propositura de  qualquer ação judicial de acordo com este item não resultará em  renúncia à arbitragem ou à competência da Câmara.</a:t>
            </a:r>
          </a:p>
          <a:p>
            <a:r>
              <a:t>CNPJ 60010416000112 · Substituição de prestadores · Condição: Documentos atuais selecionados no inventário por categoria/escopo; a data documental isolada não comprova vigência jurídica.</a:t>
            </a:r>
          </a:p>
          <a:p>
            <a:r>
              <a:t>CNPJ 60010416000112 · Substituição de prestadores · Motivo: Cláusula primária localizada e citada, mas sua lista/condições extensas não admitem uma síntese literal curta confirmada. O trecho integral permanece nas fontes.</a:t>
            </a:r>
          </a:p>
          <a:p>
            <a:r>
              <a:t>CNPJ 60010416000112 · Substituição de prestadores · Versão e prevalência: Documentos atuais selecionados no inventário por categoria/escopo; a data documental isolada não comprova vigência jurídica.</a:t>
            </a:r>
          </a:p>
          <a:p>
            <a:r>
              <a:t>CNPJ 60010416000112 · Substituição de prestadores · Resumo do histórico: {"count": 1, "dates": ["2025-03-20"], "document_count": 1, "sources": [{"document_id": "993786", "title": "Regulamento", "reference_date": "2025-03-20", "version": "1", "page": 3, "clause": "1.8", "url": "https://fnet.bmfbovespa.com.br/fnet/publico/visualizarDocumento?id=993786", "sha256": "fd0fdd369a195510d81f81f505195a0b09e5f43522a990afa7d58c4f872921c8"}], "reference": {"path": "history/60010416000112.json", "criterion_id": "replacement", "total_count": 1, "preview_count": 1, "full_text_deferred": true, "sha256": "8e2bd813f4c51cf01f6bfaad164bafe69d2bbb192f753eac92da3a01c2e63046"}}</a:t>
            </a:r>
          </a:p>
          <a:p>
            <a:r>
              <a:t>CNPJ 62696791000193 · Substituição de prestadores · Regulamento · ID 1143317 · 2026-03-20 · versão 1 · p. 26 · 12.10 · https://fnet.bmfbovespa.com.br/fnet/publico/visualizarDocumento?id=1143317</a:t>
            </a:r>
          </a:p>
          <a:p>
            <a:r>
              <a:t>CNPJ 62696791000193 · Substituição de prestadores · Excerto da fonte:</a:t>
            </a:r>
          </a:p>
          <a:p>
            <a:r>
              <a:t>12.10 Na hipótese de renúncia, o Administrador fica obrigado a permanecer no exercício de suas funções até  a averbação, no cartório de registro de imóveis, nas matrículas referentes aos bens imóveis e direitos  integrantes da carteira de ativos, da ata da assembleia de Cotistas que eleger seu substituto e sucessor  na propriedade f iduciária desses bens e direitos.</a:t>
            </a:r>
          </a:p>
          <a:p>
            <a:r>
              <a:t>CNPJ 62696791000193 · Substituição de prestadores · Regulamento · ID 1143317 · 2026-03-20 · versão 1 · p. 26 · 12.10.1 · https://fnet.bmfbovespa.com.br/fnet/publico/visualizarDocumento?id=1143317</a:t>
            </a:r>
          </a:p>
          <a:p>
            <a:r>
              <a:t>CNPJ 62696791000193 · Substituição de prestadores · Excerto da fonte:</a:t>
            </a:r>
          </a:p>
          <a:p>
            <a:r>
              <a:t>12.10.1 É f acultado aos Cotistas que detenham ao menos 5% (cinco por cento) das Cotas emitidas, a  convocação da assembleia de Cotistas prevista no item 12.4 acima, caso o Administrador não  a convoque, no prazo de 10 (dez) dias contados da renúncia.</a:t>
            </a:r>
          </a:p>
          <a:p>
            <a:r>
              <a:t>CNPJ 62696791000193 · Substituição de prestadores · Condição: Documentos atuais selecionados no inventário por categoria/escopo; a data documental isolada não comprova vigência jurídica.</a:t>
            </a:r>
          </a:p>
          <a:p>
            <a:r>
              <a:t>CNPJ 62696791000193 · Substituição de prestadores · Versão e prevalência: Documentos atuais selecionados no inventário por categoria/escopo; a data documental isolada não comprova vigência jurídica.</a:t>
            </a:r>
          </a:p>
          <a:p>
            <a:r>
              <a:t>CNPJ 55563624000109 · Substituição de prestadores · Motivo: Não localizada uma cláusula material para este critério nos textos identificados e processados. A ausência de resultado não comprova inexistência da regra.</a:t>
            </a:r>
          </a:p>
          <a:p>
            <a:r>
              <a:t>CNPJ 62552447000120 · Substituição de prestadores · Motivo: Não localizada uma cláusula material para este critério nos textos identificados e processados. A ausência de resultado não comprova inexistência da regra.</a:t>
            </a:r>
          </a:p>
          <a:p>
            <a:r>
              <a:t>CNPJ 63953620000165 · Substituição de prestadores · Anexo ao Regulamento · ID 1222863 · 2026-06-02 · versão 1 · p. 15 · https://fnet.bmfbovespa.com.br/fnet/publico/visualizarDocumento?id=1222863</a:t>
            </a:r>
          </a:p>
          <a:p>
            <a:r>
              <a:t>CNPJ 63953620000165 · Substituição de prestadores · Excerto da fonte:</a:t>
            </a:r>
          </a:p>
          <a:p>
            <a:r>
              <a:t>Anexo I ao Regulamento  CLASSE CONSIGNADO PRIVADO DO MT GLOBAL FUNDO DE INVESTIMENTO EM DIREITOS  CREDITÓRIOS RESPONSABILIDADE LIMITADA</a:t>
            </a:r>
          </a:p>
          <a:p>
            <a:r>
              <a:t> (vii) inobservância pelo Administrador, pelo Custodiante e/ou pelo Gestor de seus deveres e obrigações  previstos neste Regulamento, bem como suas atribuições específicas nos outros contratos existentes  referentes ao funcionamento da Classe, verificada pelo Administrador, pelo Custodiante e/ou pelo  Gestor ou por qualquer dos Cotistas, desde que, uma vez notificados para sanar ou justificar o  descumprimento, o Administrador, o Custodiante e/ou o Gestor, conforme o caso, não o sane no prazo  de 5 (cinco) Dias Úteis contados do recebimento da referida notificação;</a:t>
            </a:r>
          </a:p>
          <a:p>
            <a:r>
              <a:t> (viii) aquisição, pela Classe, de Direitos Creditórios que estejam em desacordo com as Condições de Cessão e  os Critérios de Elegibilidade previstos neste Regulamento no momento de sua aquisição;</a:t>
            </a:r>
          </a:p>
          <a:p>
            <a:r>
              <a:t> (ix) alteração na classificação de risco das Cotas, se houver, que, para qualquer dado período após a  classificação de risco inicial das Cotas e/ou após a deliberação da Assembleia Especial de Cotistas a  respeito de um rebaixamento da classificação de risco das Cotas, implique no rebaixamento de dois  níveis na escala de risco pertinente elaborada pela Agência Classificadora de Risco; e/ou</a:t>
            </a:r>
          </a:p>
          <a:p>
            <a:r>
              <a:t> (x) renúncia do Gestor, sem que tenham sido tomadas tempestivamente as providências previstas no  CAPÍTULO 2 da parte geral deste Regulamento;</a:t>
            </a:r>
          </a:p>
          <a:p>
            <a:r>
              <a:t> (xi) no caso de o Contrato de Endosso celebrado com o Endossante, por qualquer razão, (a) seja declarado  inválido, nulo ou ineficaz por ordem judicial e/ou qualquer autoridade governamental; ou (b) tenha sua  validade ou eficácia, total ou parcialmente, contestada pelo Endossante, judicial ou administrativamente</a:t>
            </a:r>
          </a:p>
          <a:p>
            <a:r>
              <a:t> (xii) em caso de não renovação, cancelamento, revogação ou suspensão de concessões, autorizações,  subvenções, autorizações ou licenças, relevantes para o exercício regular dos negócios realizados pelo  Endossante, incluindo o Convênio Consignado Privado, e as autorizações regulatórias concedidas pelo  Banco Central, observado, caso aplicável, os prazos de cura dispostos no Contrato de Endosso;</a:t>
            </a:r>
          </a:p>
          <a:p>
            <a:r>
              <a:t> (xiii) no caso de o Endossante ou o Agente de Retenção/Cobrança e/ou seus acionistas controladores diretos  e/ou indiretos (pessoas físicas ou jurídicas), quotistas, diretores, conselheiros e/ou representantes e  colaboradores do Endossante ou seus acionistas controladores, (a) terem contra si uma decisão judicial  transitada em julgado envolvendo (1) crimes contra a propriedade, (2) crimes de falsificação, (3) crimes  contra o sistema financeiro nacional, (4) crimes contra o mercado de capitais, (5) crimes contra a  seguridade social, (6) crimes contra as relações de consumo e (7) crimes previstos na lei de falências;</a:t>
            </a:r>
          </a:p>
          <a:p>
            <a:r>
              <a:t> e/ou (b) violar as normas anticorrupção aplicáveis, especialmente a Lei nº 9.613, de 3 de março de 1998,  conforme alterada ou substituída de tempos em tempos, e qualquer outra a que estejam sujeitos, quer  contratual ou legalmente, desde que a violação mencionada seja considerada como, especialmente, mas  não limitada a (1) financiamento, crédito, patrocínio ou outra forma de subvenção à prática de atos  ilícitos previstos na legislação anticorrupção, de combate à lavagem de dinheiro, organizações  antissociais e/ou crime organizado; (2) promessa, oferta ou entrega, direta ou indiretamente, de  qualquer objeto de valor a um funcionário público ou terceiros para obter ou manter negócios ou para  obter qualquer vantagem indevida; (3) aceitação ou compromisso de aceitar, de quem quer que seja,  por si ou por outrem, qualquer pagamento, doação, compensação, vantagens financeiras ou não  financeiras ou benefícios de qualquer tipo, direta ou indiretamente relacionados com o objeto da Classe,  que constituam uma prática ilegal, que violem as boas condutas, a ética, a moral e constitua corrupção  nos termos das leis dos países da sede e onde existam filiais das partes envolvidas, das partes  contratantes; e</a:t>
            </a:r>
          </a:p>
          <a:p>
            <a:r>
              <a:t> (xiv) caso o cotista das Cotas Subordinadas deixe de ser titular das Cotas Subordinadas durante todo prazo  de duração da Classe;</a:t>
            </a:r>
          </a:p>
          <a:p>
            <a:r>
              <a:t> (xv) no caso de não serem realizados pagamentos de amortização e/ou resgate de Cotas Seniores, nos  termos, prazos e condições previstos no presente Regulamento e nos respectivos Apêndices e  Suplementos, não sanados em até 2 (dois) Dias Úteis contados do prazo final do respectivo evento;</a:t>
            </a:r>
          </a:p>
          <a:p>
            <a:r>
              <a:t> (xvi) no caso de pagamento de resgate e/ou amortização de Cotas Subordinadas em desacordo com os  termos, prazos e condições previstos no presente Regulamento e no respectivo Apêndice.</a:t>
            </a:r>
          </a:p>
          <a:p>
            <a:r>
              <a:t>CNPJ 63953620000165 · Substituição de prestadores · Condição: Documentos atuais selecionados no inventário por categoria/escopo; a data documental isolada não comprova vigência jurídica.</a:t>
            </a:r>
          </a:p>
          <a:p>
            <a:r>
              <a:t>CNPJ 63953620000165 · Substituição de prestadores · Motivo: Cláusula primária localizada e citada, mas sua lista/condições extensas não admitem uma síntese literal curta confirmada. O trecho integral permanece nas fontes.</a:t>
            </a:r>
          </a:p>
          <a:p>
            <a:r>
              <a:t>CNPJ 63953620000165 · Substituição de prestadores · Versão e prevalência: Documentos atuais selecionados no inventário por categoria/escopo; a data documental isolada não comprova vigência jurídica.</a:t>
            </a:r>
          </a:p>
          <a:p>
            <a:r>
              <a:t>CNPJ 54871427000194 · Rating por subclasse e downgrade · Regulamento · ID 670691 · 28/04/2024 · versão Regulamento — referência 28/04/2024 · p. 15 · Anexo I, 5.12 · https://fnet.bmfbovespa.com.br/fnet/publico/visualizarDocumento?id=670691</a:t>
            </a:r>
          </a:p>
          <a:p>
            <a:r>
              <a:t>CNPJ 54871427000194 · Rating por subclasse e downgrade · Excerto da fonte:</a:t>
            </a:r>
          </a:p>
          <a:p>
            <a:r>
              <a:t>5.12 As Cotas não serão classificadas por Agência Classificadora de Risco em funcionamento no País, uma vez que a Classe não será destinada ao público em geral. CAPÍTULO 6 – ATRIBUIÇÃO DE RESULTADO ÀS COTAS E CÁLCULO DO VALOR UNITÁRIO 6.1 As Cotas terão seu Valor Unitário calculado e divulgado pelo ADMINISTRADOR mensalmente, no último Dia Útil de cada mês, no fechamento dos mercados, a partir do mês seguinte à Data da 1ª Integralização e até a data de resgate das Cotas ou na data de liquidação da Classe Única, conforme o caso. 6.2 A partir da Data da 1ª Integralização de Cotas, o Valor Unitário das Cotas s erá calculado no fechamento do último Dia Útil de cada mês, equivalerá ao resultado da divisão do valor do Patrimônio Líquido apurado para o respectivo dia, pelo número de Cotas em circulação na respectiva data de cálculo . CAPÍTULO 7 – AMORTIZAÇÃO E RESGATE DAS COTAS 7.1 A distribuição de quaisquer ganhos e rendimentos d a Classe aos Cotistas será f eita exclusivamente mediante a Amortização e/ou o resgate de Cotas, observado o disposto neste Capítulo. 7.2 As amortizações de Cotas serão realizadas a qualquer tempo, a critério do GESTOR, observada a disponibilidade de recursos da Classe Única e a</a:t>
            </a:r>
          </a:p>
          <a:p>
            <a:r>
              <a:t>CNPJ 54871427000194 · Rating por subclasse e downgrade · Versão e prevalência: Leitura específica das cláusulas indicadas; condições e conflitos preservados. Seleção documental atual não comprova vigência jurídica por data isolada.</a:t>
            </a:r>
          </a:p>
          <a:p>
            <a:r>
              <a:t>CNPJ 54871427000194 · Rating por subclasse e downgrade · Resumo do histórico: {"count": 5, "dates": ["2024-12-31", "2025-01-01", "2025-12-31"], "document_count": 3, "sources": [{"document_id": "1151805", "title": "Demonstrações Financeiras", "reference_date": "2025-12-31", "version": "1", "page": 25, "url": "https://fnet.bmfbovespa.com.br/fnet/publico/visualizarDocumento?id=1151805", "sha256": "f1cea70b152968bf96ef9221b27225953cb20aeef487b2798db3c25e11b528d4"}, {"document_id": "869529", "title": "Demonstrações Financeiras", "reference_date": "2025-01-01", "version": "1", "page": 25, "url": "https://fnet.bmfbovespa.com.br/fnet/publico/visualizarDocumento?id=869529", "sha256": "9a93a9369ac8efdbc54ff8fcee3ccac3abf88edab4807b9323d3852450771b2a"}, {"document_id": "870070", "title": "Demonstrações Financeiras", "reference_date": "2024-12-31", "version": "1", "page": 25, "url": "https://fnet.bmfbovespa.com.br/fnet/publico/visualizarDocumento?id=870070", "sha256": "9a93a9369ac8efdbc54ff8fcee3ccac3abf88edab4807b9323d3852450771b2a"}], "reference": {"path": "history/54871427000194.json", "criterion_id": "rating", "total_count": 5, "preview_count": 3, "full_text_deferred": true, "sha256": "35d7cd99be50c7287c9fb675cf4f2e736002315295a225a9efa79c8d9186d874"}}</a:t>
            </a:r>
          </a:p>
          <a:p>
            <a:r>
              <a:t>CNPJ 60010416000112 · Rating por subclasse e downgrade · Demonstrações Financeiras - Fusão, cisão e incorporação · ID 1298690 · 2026-05-08 · versão 1 · p. 35 · https://fnet.bmfbovespa.com.br/fnet/publico/visualizarDocumento?id=1298690</a:t>
            </a:r>
          </a:p>
          <a:p>
            <a:r>
              <a:t>CNPJ 60010416000112 · Rating por subclasse e downgrade · Excerto da fonte:</a:t>
            </a:r>
          </a:p>
          <a:p>
            <a:r>
              <a:t>As Cotas Seniores poderão ser objeto de classificação de risco (rating) por Agência  Classificadora de Risco em funcionamento no país.</a:t>
            </a:r>
          </a:p>
          <a:p>
            <a:r>
              <a:t>CNPJ 60010416000112 · Rating por subclasse e downgrade · Condição: Documentos atuais selecionados no inventário por categoria/escopo; a data documental isolada não comprova vigência jurídica.</a:t>
            </a:r>
          </a:p>
          <a:p>
            <a:r>
              <a:t>CNPJ 60010416000112 · Rating por subclasse e downgrade · Versão e prevalência: Documentos atuais selecionados no inventário por categoria/escopo; a data documental isolada não comprova vigência jurídica.</a:t>
            </a:r>
          </a:p>
          <a:p>
            <a:r>
              <a:t>CNPJ 60010416000112 · Rating por subclasse e downgrade · Resumo do histórico: {"count": 5, "dates": ["2025-11-30", "2026-03-18", "2026-04-16"], "document_count": 3, "sources": [{"document_id": "1282181", "title": "Demonstrações Financeiras - Fusão, cisão e incorporação", "reference_date": "2026-04-16", "version": "1", "page": 38, "url": "https://fnet.bmfbovespa.com.br/fnet/publico/visualizarDocumento?id=1282181", "sha256": "b1c6566e43a00bcd00c8a7f30c77b7f86e351bd8e355bbea113f46d1dafda703"}, {"document_id": "1224477", "title": "Demonstrações Financeiras - Fusão, cisão e incorporação", "reference_date": "2026-03-18", "version": "1", "page": 37, "url": "https://fnet.bmfbovespa.com.br/fnet/publico/visualizarDocumento?id=1224477", "sha256": "0751bf0a75bc3b44c2748f5000226665c6ec6698a90c4dc6170b4e6c187759ae"}, {"document_id": "1126154", "title": "Demonstrações Financeiras", "reference_date": "2025-11-30", "version": "1", "page": 38, "url": "https://fnet.bmfbovespa.com.br/fnet/publico/visualizarDocumento?id=1126154", "sha256": "a01e7ccf88c548f12c95cba8526d7efbef6b585c112cd4668eca781c292090b0"}], "reference": {"path": "history/60010416000112.json", "criterion_id": "rating", "total_count": 5, "preview_count": 3, "full_text_deferred": true, "sha256": "8e2bd813f4c51cf01f6bfaad164bafe69d2bbb192f753eac92da3a01c2e63046"}}</a:t>
            </a:r>
          </a:p>
          <a:p>
            <a:r>
              <a:t>CNPJ 62696791000193 · Rating por subclasse e downgrade · Regulamento · ID 1143317 · 2026-03-20 · versão 1 · p. 3 · 2.1.2 · https://fnet.bmfbovespa.com.br/fnet/publico/visualizarDocumento?id=1143317</a:t>
            </a:r>
          </a:p>
          <a:p>
            <a:r>
              <a:t>CNPJ 62696791000193 · Rating por subclasse e downgrade · Excerto da fonte:</a:t>
            </a:r>
          </a:p>
          <a:p>
            <a:r>
              <a:t>2.1.2 Não obstante as atribuições previstas neste Regulamento e na regulamentação aplicável, cabe  ao Gestor praticar os atos necessários à gestão da carteira de ativos do Fundo, o que inclui,  mas não se limita, à contratação, em nome do Fundo ou da classe de cot as, dos seguintes  serviços: (a) intermediação de operações para carteira de ativos; (b) distribuição de cotas; (c)  consultoria de investimentos ou consultoria especializada; (d) classificação de risco por agência  de classificação de risco de crédito; (e) f ormador de mercado de classe f echada; (f ) cogestão  da carteira de ativos; (g) empresa especializada para administrar as locações ou arrendamentos  de imóveis rurais e a exploração do direito de superf ície, assim como para monitorar e</a:t>
            </a:r>
          </a:p>
          <a:p>
            <a:r>
              <a:t>CNPJ 62696791000193 · Rating por subclasse e downgrade · Regulamento · ID 1143317 · 2026-03-20 · versão 1 · p. 36 · 1.2 · https://fnet.bmfbovespa.com.br/fnet/publico/visualizarDocumento?id=1143317</a:t>
            </a:r>
          </a:p>
          <a:p>
            <a:r>
              <a:t>CNPJ 62696791000193 · Rating por subclasse e downgrade · Excerto da fonte:</a:t>
            </a:r>
          </a:p>
          <a:p>
            <a:r>
              <a:t>1.2. As Cotas Subordinadas Juniores serão subscritas e integralizadas por um único Cotista e/ou por Cotistas  vinculados por interesse único e indissociável, de forma que serão objeto de colocação privada, nos termos  do Compromisso de Investimento a ser f irmado pelo Cotista, dispensadas da classificação de risco e não  terão parâmetro de remuneração def inido.</a:t>
            </a:r>
          </a:p>
          <a:p>
            <a:r>
              <a:t>2. Emissão, Subscrição e Integralização das Cotas</a:t>
            </a:r>
          </a:p>
          <a:p>
            <a:r>
              <a:t>CNPJ 62696791000193 · Rating por subclasse e downgrade · Condição: Documentos atuais selecionados no inventário por categoria/escopo; a data documental isolada não comprova vigência jurídica.</a:t>
            </a:r>
          </a:p>
          <a:p>
            <a:r>
              <a:t>CNPJ 62696791000193 · Rating por subclasse e downgrade · Versão e prevalência: Documentos atuais selecionados no inventário por categoria/escopo; a data documental isolada não comprova vigência jurídica.</a:t>
            </a:r>
          </a:p>
          <a:p>
            <a:r>
              <a:t>CNPJ 55563624000109 · Rating por subclasse e downgrade · Regulamento · ID 1192614 · 30/04/2026 · versão Regulamento30/04/2026 · p. 44 · GlossárioTermo de Adesão · https://fnet.bmfbovespa.com.br/fnet/publico/visualizarDocumento?id=1192614</a:t>
            </a:r>
          </a:p>
          <a:p>
            <a:r>
              <a:t>CNPJ 55563624000109 · Rating por subclasse e downgrade · Excerto da fonte:</a:t>
            </a:r>
          </a:p>
          <a:p>
            <a:r>
              <a:t>Termo de Adesão”: documento elaborado nos termos do art. 29 da Resolução CVM 175, por meio do qual o Cotista adere a este Regulamento e que deve ser firmado quando de seu ingresso no FUNDO, declarando, inclusive, sem se limitar a, ter pleno conhecimento dos riscos envolvidos na operação, inclusive da possibilidade de perda total do capital investido, e da ausência de classificação de risco das Cotas subscritas; “Valor Unitário”: o valor individual das Cotas, equivalente a R$ 1.000,00 (um mil), na primeira Data de Emissão, calculado todo Dia Útil para efeito da definição de seu valor de integralização e</a:t>
            </a:r>
          </a:p>
          <a:p>
            <a:r>
              <a:t>CNPJ 55563624000109 · Rating por subclasse e downgrade · Versão e prevalência: Leitura específica das cláusulas indicadas; condições e conflitos preservados. Seleção documental atual não comprova vigência jurídica por data isolada.</a:t>
            </a:r>
          </a:p>
          <a:p>
            <a:r>
              <a:t>CNPJ 55563624000109 · Rating por subclasse e downgrade · Resumo do histórico: {"count": 2, "dates": ["2025-01-31", "2026-01-31"], "document_count": 2, "sources": [{"document_id": "1178840", "title": "Demonstrações Financeiras", "reference_date": "2026-01-31", "version": "1", "page": 22, "url": "https://fnet.bmfbovespa.com.br/fnet/publico/visualizarDocumento?id=1178840", "sha256": "c458e98664c5c907ddb5a05a94b120bed4e05295b2bfc420f5ba69af0a229abe"}, {"document_id": "891861", "title": "Demonstrações Financeiras", "reference_date": "2025-01-31", "version": "1", "page": 23, "url": "https://fnet.bmfbovespa.com.br/fnet/publico/visualizarDocumento?id=891861", "sha256": "e9cb9e6ddbe505fe068cfcac33605165a98313489de0d3ce6d4d238263c3f3e7"}], "reference": {"path": "history/55563624000109.json", "criterion_id": "rating", "total_count": 2, "preview_count": 2, "full_text_deferred": true, "sha256": "7835d573fb58a3c19adf5b8ecc2aee2bdbb9a88f7a0c0209b5f262b64c7522e3"}}</a:t>
            </a:r>
          </a:p>
          <a:p>
            <a:r>
              <a:t>CNPJ 62552447000120 · Rating por subclasse e downgrade · Regulamento · ID 1200623 · 21/05/2026 · versão Consolidado21/05/2026 aprovado pelo ato1200625 · p. 19 · AnexoI6.11 · https://fnet.bmfbovespa.com.br/fnet/publico/visualizarDocumento?id=1200623</a:t>
            </a:r>
          </a:p>
          <a:p>
            <a:r>
              <a:t>CNPJ 62552447000120 · Rating por subclasse e downgrade · Excerto da fonte:</a:t>
            </a:r>
          </a:p>
          <a:p>
            <a:r>
              <a:t>6.11 As Cotas não serão objeto de classif icação de risco . CAPÍTULO 7 – AMORTIZAÇÃO DAS COTAS 7.1 A distribuição de quaisquer ganhos e rendimentos d a Classe aos Cotistas será f eita exclusivamente mediante a Amortização, observado o disposto neste Capítulo. 7.2 As Cotas poderão ser amortizadas através de uma Amortização programada, se houver, conforme prevista nos Apêndices, caso aplicável (“Amortização Programada”), e por meio amortização extraordinária das Cotas, a ser realizada por (a) por decisão do Gestor, para: (i) reenquadramento da Carteira ao mínimo de Direitos Creditórios que deve ser detido pel</a:t>
            </a:r>
          </a:p>
          <a:p>
            <a:r>
              <a:t>CNPJ 62552447000120 · Rating por subclasse e downgrade · Versão e prevalência: Leitura específica das cláusulas indicadas; condições e conflitos preservados. Seleção documental atual não comprova vigência jurídica por data isolada.</a:t>
            </a:r>
          </a:p>
          <a:p>
            <a:r>
              <a:t>CNPJ 63953620000165 · Rating por subclasse e downgrade · Anexo ao Regulamento · ID 1222863 · 02/06/2026 · versão AnexoConsignadoPrivado02/06/2026 · p. 11 · 6.14 · https://fnet.bmfbovespa.com.br/fnet/publico/visualizarDocumento?id=1222863</a:t>
            </a:r>
          </a:p>
          <a:p>
            <a:r>
              <a:t>CNPJ 63953620000165 · Rating por subclasse e downgrade · Excerto da fonte:</a:t>
            </a:r>
          </a:p>
          <a:p>
            <a:r>
              <a:t>6.14 As Cotas poderão ser objeto de classificação de risco pela contratada pelo Gestor, desde que em comum acordo entre Gestor e Cotistas Subordinados em Assembleia Especial de Cotistas (“Agência Classificadora de Risco”). CAPÍTULO 7 – AMORTIZAÇÃO DAS COTAS 7.1 A distribuição de quaisquer ganhos e rendimentos da Classe aos Cotistas será feita exclusivamente mediante a Amortização de Cotas, observado o disposto neste Capítulo e nos Apêndices. 7.2 As Cotas poderão ser amortizadas através de uma Amortização por Regime de Caixa, se houver conforme prevista nos Apêndices; e por meio amortização extraordinária das Cotas, a ser realiz</a:t>
            </a:r>
          </a:p>
          <a:p>
            <a:r>
              <a:t>CNPJ 63953620000165 · Rating por subclasse e downgrade · Versão e prevalência: Leitura específica das cláusulas indicadas; condições e conflitos preservados. Seleção documental atual não comprova vigência jurídica por data isolada.</a:t>
            </a:r>
          </a:p>
          <a:p>
            <a:r>
              <a:t>CNPJ 63953620000165 · Rating por subclasse e downgrade · Resumo do histórico: {"count": 8, "dates": ["2026-04-28", "2026-05-08", "2026-05-15"], "document_count": 3, "sources": [{"document_id": "1327859", "title": "Demonstrações Financeiras - Fusão, cisão e incorporação", "reference_date": "2026-05-15", "version": "1", "page": 29, "url": "https://fnet.bmfbovespa.com.br/fnet/publico/visualizarDocumento?id=1327859", "sha256": "dca1c68babb97f887528c3e2e47596a9c30f507b067981a35655b2f2da9c8054"}, {"document_id": "1298691", "title": "Demonstrações Financeiras - Fusão, cisão e incorporação", "reference_date": "2026-05-08", "version": "1", "page": 30, "url": "https://fnet.bmfbovespa.com.br/fnet/publico/visualizarDocumento?id=1298691", "sha256": "58c570d9b8d4d265330d3db3ea81c435b8e44a6dab4002aa37790652a1ee9819"}, {"document_id": "1282180", "title": "Demonstrações Financeiras - Fusão, cisão e incorporação", "reference_date": "2026-04-28", "version": "1", "page": 30, "url": "https://fnet.bmfbovespa.com.br/fnet/publico/visualizarDocumento?id=1282180", "sha256": "afaaa0e6809be4385e5bdb6c911aac582032c5bdbac3d7750234bf9eaf00438a"}], "reference": {"path": "history/63953620000165.json", "criterion_id": "rating",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Hedge e prestadores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Finalidade e limites de derivativos · Regulamento · ID 670691 · 28/04/2024 · versão Regulamento — referência 28/04/2024 · p. 13 · Anexo I, 4.15–4.16 · https://fnet.bmfbovespa.com.br/fnet/publico/visualizarDocumento?id=670691</a:t>
            </a:r>
          </a:p>
          <a:p>
            <a:r>
              <a:t>CNPJ 54871427000194 · Finalidade e limites de derivativos · Excerto da fonte:</a:t>
            </a:r>
          </a:p>
          <a:p>
            <a:r>
              <a:t>4.15 A Classe poderá utilizar instrumentos derivativos, desde que com o objetivo de proteção patrimonial, ou, desde que não resulte em exposição a risco de capital, conforme definida no inciso XXIV Art. 3º da parte geral da Resolução CVM 175, troca de indexador a que os ativos estão indexados . 4.16 A Classe não realizará operações de day trade, assim consideradas aquelas iniciadas e encerradas no mesmo dia, independentemente de a Classe possuir estoque ou posição anterior do mesmo Ativo Financeiro. 4.17 É vedada qualquer forma de antecipação de recursos aos Endossantes para posterior reembolso pela Classe, seja pelo ADMINISTRADOR, GESTOR, CUSTODIANTE, consultora ou Originadores. 4.18 Exceto na medida em que eventualmente previsto nos Contratos de Cessão e/ou em instrumentos eventualmente celebrados entre a Classe e os Endossantes, os Endossantes não serão responsáveis em caso de eventual inadimplemento dos Direitos Creditórios por eles cedidos, sendo responsáveis, não obstante, apenas pela existência, certeza, conteúdo, exatidão, veracidade, legitimidade, validade e correta f ormalização dos Direitos Creditórios que cederem à Classe, nos termos da</a:t>
            </a:r>
          </a:p>
          <a:p>
            <a:r>
              <a:t>CNPJ 54871427000194 · Finalidade e limites de derivativos · Versão e prevalência: Leitura específica das cláusulas indicadas; condições e conflitos preservados. Seleção documental atual não comprova vigência jurídica por data isolada.</a:t>
            </a:r>
          </a:p>
          <a:p>
            <a:r>
              <a:t>CNPJ 54871427000194 · Finalidade e limites de derivativos · Resumo do histórico: {"count": 2, "dates": ["2024-04-19", "2024-04-28"], "document_count": 2, "sources": [{"document_id": "670691", "title": "Regulamento", "reference_date": "2024-04-28", "version": "1", "page": "13", "url": "https://fnet.bmfbovespa.com.br/fnet/publico/visualizarDocumento?id=670691", "sha256": "bf16dd7f1a62d5cdbf2e2d54fef81783783f7310fbc99c3a8f00459bdf9d037b"}, {"document_id": "670689", "title": "Regulamento", "reference_date": "2024-04-19", "version": "1", "page": 13, "clause": "4.15", "url": "https://fnet.bmfbovespa.com.br/fnet/publico/visualizarDocumento?id=670689", "sha256": "891bc9bc5d87bbc02ec139077a84d2702eb81ea02035fb71d24f5b8366b94a0b"}], "reference": {"path": "history/54871427000194.json", "criterion_id": "hedge", "total_count": 2, "preview_count": 2, "full_text_deferred": true, "sha256": "35d7cd99be50c7287c9fb675cf4f2e736002315295a225a9efa79c8d9186d874"}}</a:t>
            </a:r>
          </a:p>
          <a:p>
            <a:r>
              <a:t>CNPJ 60010416000112 · Finalidade e limites de derivativos · Regulamento · ID 1051393 · 2025-10-09 · versão 1 · p. 12 · 4.9 · https://fnet.bmfbovespa.com.br/fnet/publico/visualizarDocumento?id=1051393</a:t>
            </a:r>
          </a:p>
          <a:p>
            <a:r>
              <a:t>CNPJ 60010416000112 · Finalidade e limites de derivativos · Excerto da fonte:</a:t>
            </a:r>
          </a:p>
          <a:p>
            <a:r>
              <a:t>4.9 Sem prejuízo de limites mais restritivos definidos neste Regulamento, o Gestor deverá observar, ainda, os  seguintes limites de concentração para a composição da Carteira:</a:t>
            </a:r>
          </a:p>
          <a:p>
            <a:r>
              <a:t> (i ) Até 100% (cem por cento) da parcela do Patrimônio Líquido investida em Ativos  Financeiros de Liquidez poderá ser alocada em Ativos Financeiros de Liquidez de  emissão ou que envolvam retenção de risco por parte do Administrador, Gestor, e/ou  suas partes relacionadas; e</a:t>
            </a:r>
          </a:p>
          <a:p>
            <a:r>
              <a:t> (ii) Até 100% (cem por cento) da parcela do Patrimônio Líquido investida em operações  com derivativos poderá ser alocada em derivativos nos quais, inexistindo contraparte  central, se tenha como contraparte o Gestor e/ou suas partes relacionadas.</a:t>
            </a:r>
          </a:p>
          <a:p>
            <a:r>
              <a:t>CNPJ 60010416000112 · Finalidade e limites de derivativos · Regulamento · ID 1051393 · 2025-10-09 · versão 1 · p. 13 · 4.15 · https://fnet.bmfbovespa.com.br/fnet/publico/visualizarDocumento?id=1051393</a:t>
            </a:r>
          </a:p>
          <a:p>
            <a:r>
              <a:t>CNPJ 60010416000112 · Finalidade e limites de derivativos · Excerto da fonte:</a:t>
            </a:r>
          </a:p>
          <a:p>
            <a:r>
              <a:t>4.15 A Classe poderá utilizar instrumentos derivativos, observados os limites de concentração previstos neste  Regulamento, desde que com o objetivo de proteção patrimonial, ou, desde que não resulte em exposição  a risco de capital, conforme definida no inciso XXIV do Art. 3º da parte geral da Resolução CVM 175, troca  de indexador a que os ativos estão indexados e o índice de ref erência de cada Subclasse.</a:t>
            </a:r>
          </a:p>
          <a:p>
            <a:r>
              <a:t>CNPJ 60010416000112 · Finalidade e limites de derivativos · Regulamento · ID 1051393 · 2025-10-09 · versão 1 · p. 16 · 7.11 · https://fnet.bmfbovespa.com.br/fnet/publico/visualizarDocumento?id=1051393</a:t>
            </a:r>
          </a:p>
          <a:p>
            <a:r>
              <a:t>CNPJ 60010416000112 · Finalidade e limites de derivativos · Excerto da fonte:</a:t>
            </a:r>
          </a:p>
          <a:p>
            <a:r>
              <a:t>7.11 Sem prejuízo do disposto do disposto nos itens 7.1 a 7.10 acima, a partir da Data da 1ª Integralização de  Cotas até a liquidação integral das Obrigações da Classe, sempre preservando a manutenção da boa  ordem legal, administrativa e operacional da Classe, o Gestor obriga-se a utilizar os recursos disponíveis  na Conta de Movimentação da Classe e/ou mantidos em Ativos Financeiros de Liquidez, em cada Dia Útil,  de acordo com a seguinte ordem de prioridade de alocação, na forma dos itens e tabela abaixo, de modo  que cada um dos itens listado apenas será contemplado após o direcionamento do montante total  necessário para a satisfação dos itens anteriores, ressalvado, enquanto em curso um Evento de Avaliação  e/ou um Evento de Liquidação, o disposto no item 11.4.1 abaixo</a:t>
            </a:r>
          </a:p>
          <a:p>
            <a:r>
              <a:t> (i) entradas de recursos provenientes da integralização de Cotas e dos Direitos Creditórios e  Ativos Financeiros de Liquidez que compõem a carteira da Classe, durante o Período de  Investimento, na seguinte ordem:</a:t>
            </a:r>
          </a:p>
          <a:p>
            <a:r>
              <a:t> a. pagamento dos Encargos;</a:t>
            </a:r>
          </a:p>
          <a:p>
            <a:r>
              <a:t> b. pagamento de despesas relativas aos instrumentos derivativos, conf orme aplicável;</a:t>
            </a:r>
          </a:p>
          <a:p>
            <a:r>
              <a:t> c. aquisição de Direitos Creditórios, sempre que ofertado, em moeda corrente nacional, em  conf ormidade com a Política de Investimento descrita neste Regulamento, sem prejuízo  do disposto no item 4.12 acima; e  d. aquisição de Ativos Financeiros de Liquidez, observando-se a Política de Investimentos.</a:t>
            </a:r>
          </a:p>
          <a:p>
            <a:r>
              <a:t> (ii) entradas de recursos provenientes dos Direitos Creditórios e Ativos Financeiros de Liquidez  que compõem a carteira da Classe, após o término do Período de Investimento, na seguinte  ordem, observadas as seguintes condições:</a:t>
            </a:r>
          </a:p>
          <a:p>
            <a:r>
              <a:t> a. pagamento dos Encargos;</a:t>
            </a:r>
          </a:p>
          <a:p>
            <a:r>
              <a:t> b. pagamento de despesas relativas aos instrumentos derivativos, conf orme aplicável;</a:t>
            </a:r>
          </a:p>
          <a:p>
            <a:r>
              <a:t> c. pagamento da amortização do principal e dos rendimentos acumulados relacionados às  Cotas Seniores, de modo que, considerando, pro f orma, todas as amortizações  pretendidas, o percentual empregado para amortização das Cotas Seniores seja  equivalente à relação entre o Patrimônio Líquido Sênior dividido pelo Patrimônio Líquido  da Classe, com a devida observância dos termos e condições deste Regulamento, do  Apêndice e do Suplemento das Cotas Seniores;</a:t>
            </a:r>
          </a:p>
          <a:p>
            <a:r>
              <a:t> d. pagamento da amortização do principal e dos rendimentos acumulados relacionados às  Cotas Subordinadas, de modo que, considerando, pro f orma, todas as amortizações  pretendidas, o percentual empregado para amortização das Cotas Subordinadas seja  equivalente à relação entre o Patrimônio Líquido Subordinado dividido pelo Patrimônio  Líquido da Classe, com a devida observância dos termos e condições deste  Regulamento, do Apêndice e do Suplemento das Cotas Seniores e desde que  respeitados o Índice de Subordinação;</a:t>
            </a:r>
          </a:p>
          <a:p>
            <a:r>
              <a:t> e. aquisição de Ativos Financeiros, observado o limite de alocação previsto no item 4.7  deste Anexo I.</a:t>
            </a:r>
          </a:p>
          <a:p>
            <a:r>
              <a:t>CNPJ 60010416000112 · Finalidade e limites de derivativos · Condição: Documentos atuais selecionados no inventário por categoria/escopo; a data documental isolada não comprova vigência jurídica.</a:t>
            </a:r>
          </a:p>
          <a:p>
            <a:r>
              <a:t>CNPJ 60010416000112 · Finalidade e limites de derivativos · Versão e prevalência: Documentos atuais selecionados no inventário por categoria/escopo; a data documental isolada não comprova vigência jurídica.</a:t>
            </a:r>
          </a:p>
          <a:p>
            <a:r>
              <a:t>CNPJ 60010416000112 · Finalidade e limites de derivativos · Resumo do histórico: {"count": 2, "dates": ["2025-03-20", "2025-10-09"], "document_count": 2, "sources": [{"document_id": "1051393", "title": "Regulamento", "reference_date": "2025-10-09", "version": "1", "page": "13", "url": "https://fnet.bmfbovespa.com.br/fnet/publico/visualizarDocumento?id=1051393", "sha256": "8469d613078ffd5a6c1d217885d8a397a16342c0b937ae4aa24b106505f233ae"}, {"document_id": "993786", "title": "Regulamento", "reference_date": "2025-03-20", "version": "1", "page": 12, "clause": "4.9", "url": "https://fnet.bmfbovespa.com.br/fnet/publico/visualizarDocumento?id=993786", "sha256": "fd0fdd369a195510d81f81f505195a0b09e5f43522a990afa7d58c4f872921c8"}], "reference": {"path": "history/60010416000112.json", "criterion_id": "hedge", "total_count": 2, "preview_count": 2, "full_text_deferred": true, "sha256": "8e2bd813f4c51cf01f6bfaad164bafe69d2bbb192f753eac92da3a01c2e63046"}}</a:t>
            </a:r>
          </a:p>
          <a:p>
            <a:r>
              <a:t>CNPJ 62696791000193 · Finalidade e limites de derivativos · Regulamento · ID 1143317 · 20/03/2026 · versão Regulamento — referência 20/03/2026 · p. 15 · Anexo I, 4.28 e 4.30(i) · https://fnet.bmfbovespa.com.br/fnet/publico/visualizarDocumento?id=1143317</a:t>
            </a:r>
          </a:p>
          <a:p>
            <a:r>
              <a:t>CNPJ 62696791000193 · Finalidade e limites de derivativos · Excerto da fonte:</a:t>
            </a:r>
          </a:p>
          <a:p>
            <a:r>
              <a:t>4.28 A Classe pode aplicar recursos em instrumentos financeiros derivativos, exclusivamente para fins de proteção patrimonial, cuja exposição seja sempre, no máximo, o valor do Patrimônio Líquido. 4.29 A Classe pode emprestar ativos f inanceiros e valores mobiliários, desde que tais operações de empréstimo sejam cursadas exclusivamente por meio de serviço autorizado pelo Banco Central do Brasil ou pela CVM. 4.30 É vedado à Classe: (i) aplicar no exterior recursos captados no País; (ii) salvo aprovação em assembleia de Cotistas, a realização de operações quando caracterizada situação de conf lito de interesses entre: (a) a Classe, o Administrador ou o Gestor ou a Consultoria Especializada; (b) a Classe e os Cotistas que detenham participação correspondente a, no mínimo, 10% (dez por cento) do patrimônio da Classe; e (c) a Classe e o representante dos Cotistas; (iii) a aplicação de recursos em sociedades nas quais participem o Administrador, o Gestor, os consultores, os membros de comitês ou conselhos e os Cotistas titulares de Cotas representativas de 5% (cinco por cento) do patri</a:t>
            </a:r>
          </a:p>
          <a:p>
            <a:r>
              <a:t>CNPJ 62696791000193 · Finalidade e limites de derivativos · Regulamento · ID 1143317 · 20/03/2026 · versão Regulamento — referência 20/03/2026 · p. 27 · Anexo I, 12.11(x) · https://fnet.bmfbovespa.com.br/fnet/publico/visualizarDocumento?id=1143317</a:t>
            </a:r>
          </a:p>
          <a:p>
            <a:r>
              <a:t>CNPJ 62696791000193 · Finalidade e limites de derivativos · Excerto da fonte:</a:t>
            </a:r>
          </a:p>
          <a:p>
            <a:r>
              <a:t>(x) realizar operações com derivativos, exceto quando tais operações f orem realizadas exclusivamente para f ins de proteção patrimonial e desde que a exposição seja sempre, no máximo, o valor do Patrimônio Líquido. 12.11.1 A vedação prevista no item (v) acima não impede a aquisição de imóveis sobre os quais tenham sido constituídos ônus reais anteriormente ao seu ingresso no patrimônio . 12.12 É vedado ao Gestor o recebimento de qualquer remuneração, benefício ou vantagem, direta ou indiretamente, que potencialmente prejudique sua independência na tomada de decisão. Consultoria Especializada 12.13 O Gestor, conforme disposto no Anexo Normativo VI da Resolução 175, poderá contratar Consultoria Especializada para que preste os seguintes serviços (“Consultoria Especializada”): (i) Analisar, selecionar, avaliar e acompanhar, de acordo com a Política de Investimentos deste Anexo, os ativos integrantes ou que possam vir a integrar a carteira da classe do Fundo; (ii) Participar de negociações e propor negócios à classe, observada a Política de Investimentos constante deste Anexo;</a:t>
            </a:r>
          </a:p>
          <a:p>
            <a:r>
              <a:t>CNPJ 62696791000193 · Finalidade e limites de derivativos · Versão e prevalência: Leitura específica das cláusulas indicadas; condições e conflitos preservados. Seleção documental atual não comprova vigência jurídica por data isolada.</a:t>
            </a:r>
          </a:p>
          <a:p>
            <a:r>
              <a:t>CNPJ 55563624000109 · Finalidade e limites de derivativos · Regulamento · ID 1192614 · 2026-04-30 · versão 1 · p. 14 · 4.21 · https://fnet.bmfbovespa.com.br/fnet/publico/visualizarDocumento?id=1192614</a:t>
            </a:r>
          </a:p>
          <a:p>
            <a:r>
              <a:t>CNPJ 55563624000109 · Finalidade e limites de derivativos · Excerto da fonte:</a:t>
            </a:r>
          </a:p>
          <a:p>
            <a:r>
              <a:t>4.21 A Classe poderá utilizar instrumentos derivativos, desde que com o objetivo de proteção patrimonial, ou, desde  que não resulte em exposição a risco de capital, conforme definida no inciso XXIV do Art. 3º da parte geral da  Resolução CVM 175 ou em troca de indexador a que os ativos estão indexados.</a:t>
            </a:r>
          </a:p>
          <a:p>
            <a:r>
              <a:t>CNPJ 55563624000109 · Finalidade e limites de derivativos · Regulamento · ID 1192614 · 2026-04-30 · versão 1 · p. 39 · https://fnet.bmfbovespa.com.br/fnet/publico/visualizarDocumento?id=1192614</a:t>
            </a:r>
          </a:p>
          <a:p>
            <a:r>
              <a:t>CNPJ 55563624000109 · Finalidade e limites de derivativos · Excerto da fonte:</a:t>
            </a:r>
          </a:p>
          <a:p>
            <a:r>
              <a:t>(xxii) Operações com derivativos. A Classe poderá realizar operações com derivativos  exclusivamente com o objetivo de proteção patrimonial. As operações com derivativos, pela sua  própria natureza, acrescentam riscos à Carteira e poderão afetar negativamente a sua rentabilidade,  até o limite do Patrimônio Líquido.</a:t>
            </a:r>
          </a:p>
          <a:p>
            <a:r>
              <a:t>CNPJ 55563624000109 · Finalidade e limites de derivativos · Condição: Documentos atuais selecionados no inventário por categoria/escopo; a data documental isolada não comprova vigência jurídica.</a:t>
            </a:r>
          </a:p>
          <a:p>
            <a:r>
              <a:t>CNPJ 55563624000109 · Finalidade e limites de derivativos · Versão e prevalência: Documentos atuais selecionados no inventário por categoria/escopo; a data documental isolada não comprova vigência jurídica.</a:t>
            </a:r>
          </a:p>
          <a:p>
            <a:r>
              <a:t>CNPJ 55563624000109 · Finalidade e limites de derivativos · Resumo do histórico: {"count": 3, "dates": ["2025-01-31", "2026-01-31", "2026-04-30"], "document_count": 3, "sources": [{"document_id": "1192614", "title": "Regulamento", "reference_date": "2026-04-30", "version": "1", "page": "14", "url": "https://fnet.bmfbovespa.com.br/fnet/publico/visualizarDocumento?id=1192614", "sha256": "f56e63ace0acde41d2f47fb48f1ac7f3f7df5e2d32de092d7c5e075a52516632"}, {"document_id": "1178840", "title": "Demonstrações Financeiras", "reference_date": "2026-01-31", "version": "1", "page": 25, "url": "https://fnet.bmfbovespa.com.br/fnet/publico/visualizarDocumento?id=1178840", "sha256": "c458e98664c5c907ddb5a05a94b120bed4e05295b2bfc420f5ba69af0a229abe"}, {"document_id": "891861", "title": "Demonstrações Financeiras", "reference_date": "2025-01-31", "version": "1", "page": 26, "url": "https://fnet.bmfbovespa.com.br/fnet/publico/visualizarDocumento?id=891861", "sha256": "e9cb9e6ddbe505fe068cfcac33605165a98313489de0d3ce6d4d238263c3f3e7"}], "reference": {"path": "history/55563624000109.json", "criterion_id": "hedge", "total_count": 3, "preview_count": 3, "full_text_deferred": true, "sha256": "7835d573fb58a3c19adf5b8ecc2aee2bdbb9a88f7a0c0209b5f262b64c7522e3"}}</a:t>
            </a:r>
          </a:p>
          <a:p>
            <a:r>
              <a:t>CNPJ 62552447000120 · Finalidade e limites de derivativos · Regulamento · ID 1200623 · 21/05/2026 · versão Consolidado21/05/2026 aprovado pelo ato1200625 · p. 14 · AnexoI4.10.1 · https://fnet.bmfbovespa.com.br/fnet/publico/visualizarDocumento?id=1200623</a:t>
            </a:r>
          </a:p>
          <a:p>
            <a:r>
              <a:t>CNPJ 62552447000120 · Finalidade e limites de derivativos · Excerto da fonte:</a:t>
            </a:r>
          </a:p>
          <a:p>
            <a:r>
              <a:t>4.10.1 O uso de derivativos está restrito a operações que visem à proteção patrimonial ou, desde que não resulte em exposição a risco de capital, à troca de indexador e/ou do índice de referência. 4.11 Sem prejuízo de limites mais restritivos definidos neste Regulamento, o Gestor deverá observar, ainda, os seguintes limites de concentração para a composição da Carteira: (i) Até 100% (cem por cento) da parcela do Patrimônio Líquido investida em Direitos Creditórios poderão ser alocados em Direitos Creditórios originados ou cedidos pelo Administrador, Gestor e</a:t>
            </a:r>
          </a:p>
          <a:p>
            <a:r>
              <a:t>CNPJ 62552447000120 · Finalidade e limites de derivativos · Motivo: Cláusula primária localizada e citada, mas sua lista/condições extensas não admitem uma síntese literal curta confirmada. O trecho integral permanece nas fontes.</a:t>
            </a:r>
          </a:p>
          <a:p>
            <a:r>
              <a:t>CNPJ 62552447000120 · Finalidade e limites de derivativos · Versão e prevalência: Leitura específica das cláusulas indicadas; condições e conflitos preservados. Seleção documental atual não comprova vigência jurídica por data isolada.</a:t>
            </a:r>
          </a:p>
          <a:p>
            <a:r>
              <a:t>CNPJ 63953620000165 · Finalidade e limites de derivativos · Anexo ao Regulamento · ID 1222863 · 2026-06-02 · versão 1 · p. 7 · https://fnet.bmfbovespa.com.br/fnet/publico/visualizarDocumento?id=1222863</a:t>
            </a:r>
          </a:p>
          <a:p>
            <a:r>
              <a:t>CNPJ 63953620000165 · Finalidade e limites de derivativos · Excerto da fonte:</a:t>
            </a:r>
          </a:p>
          <a:p>
            <a:r>
              <a:t>Anexo I ao Regulamento  CLASSE CONSIGNADO PRIVADO DO MT GLOBAL FUNDO DE INVESTIMENTO EM DIREITOS  CREDITÓRIOS RESPONSABILIDADE LIMITADA</a:t>
            </a:r>
          </a:p>
          <a:p>
            <a:r>
              <a:t> (i)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 (ii) No máximo, 50% (cinquenta por cento) do Patrimônio Líquido investido em Ativos Financeiros  de Liquidez de emissão ou que envolvam retenção de risco por parte do Administrador, Gestor,  e/ou suas partes relacionadas, observado ainda o disposto acima;</a:t>
            </a:r>
          </a:p>
          <a:p>
            <a:r>
              <a:t> (iii) No máximo, 100% (cem por cento) do Patrimônio Líquido investido em operações com  derivativos nos quais, inexistindo contraparte central, se tenha como contraparte o Gestor,  Consultora e/ou suas partes relacionadas, observado ainda o disposto acima;</a:t>
            </a:r>
          </a:p>
          <a:p>
            <a:r>
              <a:t> (iv) A Classe poderá investir até 100% (cem por cento) de seu Patrimônio Líquido em Direitos  Creditórios Não-Padronizados;</a:t>
            </a:r>
          </a:p>
          <a:p>
            <a:r>
              <a:t> (v) É vedada a aquisição de precatórios federais.</a:t>
            </a:r>
          </a:p>
          <a:p>
            <a:r>
              <a:t>CNPJ 63953620000165 · Finalidade e limites de derivativos · Condição: Documentos atuais selecionados no inventário por categoria/escopo; a data documental isolada não comprova vigência jurídica.</a:t>
            </a:r>
          </a:p>
          <a:p>
            <a:r>
              <a:t>CNPJ 63953620000165 · Finalidade e limites de derivativos · Motivo: Cláusula primária localizada e citada, mas sua lista/condições extensas não admitem uma síntese literal curta confirmada. O trecho integral permanece nas fontes.</a:t>
            </a:r>
          </a:p>
          <a:p>
            <a:r>
              <a:t>CNPJ 63953620000165 · Finalidade e limites de derivativos · Versão e prevalência: Documentos atuais selecionados no inventário por categoria/escopo; a data documental isolada não comprova vigência jurídica.</a:t>
            </a:r>
          </a:p>
          <a:p>
            <a:r>
              <a:t>CNPJ 63953620000165 · Finalidade e limites de derivativos · Resumo do histórico: {"count": 8, "dates": ["2026-04-28", "2026-05-08", "2026-05-15"], "document_count": 3, "sources": [{"document_id": "1327859", "title": "Demonstrações Financeiras - Fusão, cisão e incorporação", "reference_date": "2026-05-15", "version": "1", "page": 26, "url": "https://fnet.bmfbovespa.com.br/fnet/publico/visualizarDocumento?id=1327859", "sha256": "dca1c68babb97f887528c3e2e47596a9c30f507b067981a35655b2f2da9c8054"}, {"document_id": "1298691", "title": "Demonstrações Financeiras - Fusão, cisão e incorporação", "reference_date": "2026-05-08", "version": "1", "page": 26, "url": "https://fnet.bmfbovespa.com.br/fnet/publico/visualizarDocumento?id=1298691", "sha256": "58c570d9b8d4d265330d3db3ea81c435b8e44a6dab4002aa37790652a1ee9819"}, {"document_id": "1282180", "title": "Demonstrações Financeiras - Fusão, cisão e incorporação", "reference_date": "2026-04-28", "version": "1", "page": 27, "url": "https://fnet.bmfbovespa.com.br/fnet/publico/visualizarDocumento?id=1282180", "sha256": "afaaa0e6809be4385e5bdb6c911aac582032c5bdbac3d7750234bf9eaf00438a"}], "reference": {"path": "history/63953620000165.json", "criterion_id": "hedge", "total_count": 8, "preview_count": 3, "full_text_deferred": true, "sha256": "a7b89077f5e21098c2d601c303faabc3ff6b9729f89d8afecdc60fe1404720c1"}}</a:t>
            </a:r>
          </a:p>
          <a:p>
            <a:r>
              <a:t>CNPJ 54871427000194 · Prioridade do hedge e reserva de MTM · Motivo: Não localizada uma cláusula material para este critério nos textos identificados e processados. A ausência de resultado não comprova inexistência da regra.</a:t>
            </a:r>
          </a:p>
          <a:p>
            <a:r>
              <a:t>CNPJ 60010416000112 · Prioridade do hedge e reserva de MTM · Motivo: Não localizada uma cláusula material para este critério nos textos identificados e processados. A ausência de resultado não comprova inexistência da regra.</a:t>
            </a:r>
          </a:p>
          <a:p>
            <a:r>
              <a:t>CNPJ 62696791000193 · Prioridade do hedge e reserva de MTM · Motivo: Não localizada uma cláusula material para este critério nos textos identificados e processados. A ausência de resultado não comprova inexistência da regra.</a:t>
            </a:r>
          </a:p>
          <a:p>
            <a:r>
              <a:t>CNPJ 55563624000109 · Prioridade do hedge e reserva de MTM · Motivo: Não localizada uma cláusula material para este critério nos textos identificados e processados. A ausência de resultado não comprova inexistência da regra.</a:t>
            </a:r>
          </a:p>
          <a:p>
            <a:r>
              <a:t>CNPJ 62552447000120 · Prioridade do hedge e reserva de MTM · Motivo: Não localizada uma cláusula material para este critério nos textos identificados e processados. A ausência de resultado não comprova inexistência da regra.</a:t>
            </a:r>
          </a:p>
          <a:p>
            <a:r>
              <a:t>CNPJ 63953620000165 · Prioridade do hedge e reserva de MTM · Motivo: Não localizada uma cláusula material para este critério nos textos identificados e processados. A ausência de resultado não comprova inexistência da regra.</a:t>
            </a:r>
          </a:p>
          <a:p>
            <a:r>
              <a:t>CNPJ 54871427000194 · Administrador, gestor e custodiante · Regulamento · ID 670691 · 2024-04-28 · versão 1 · p. 1 · 1.1 · https://fnet.bmfbovespa.com.br/fnet/publico/visualizarDocumento?id=670691</a:t>
            </a:r>
          </a:p>
          <a:p>
            <a:r>
              <a:t>CNPJ 54871427000194 · Administrador, gestor e custodiante · Excerto da fonte:</a:t>
            </a:r>
          </a:p>
          <a:p>
            <a:r>
              <a:t>1.1 CONSIGNADO DELTA RECEIVABLES I FUNDO DE INVESTIMENTO EM DIREITOS CREDITÓRIOS  (“FUNDO”), regido pela Lei nº 10.406, de 10 de janeiro de 2002, conf orme alterada (“Código Civil”),  pela parte geral e o Anexo Normativo II da Resolução nº 175, de 23 de dezembro de 2022, conforme  alterada, da Comissão de Valores Mobiliários (respectivamente, “CVM” e “Resolução CVM 175”), terá  como principais características:</a:t>
            </a:r>
          </a:p>
          <a:p>
            <a:r>
              <a:t> Classe de Cotas Classe única.</a:t>
            </a:r>
          </a:p>
          <a:p>
            <a:r>
              <a:t> Indeterminado, exceto se de outra f orma vier a ser deliberado pelos cotistas  Prazo de Duração  reunidos em assembleia geral de cotistas.</a:t>
            </a:r>
          </a:p>
          <a:p>
            <a:r>
              <a:t> BTG Pactual Serviços Financeiros S.A. Distribuidora de Títulos e Valores  Mobiliários, instituição f inanceira, com sede na Cidade e Estado do Rio de  Janeiro, na Praia de Botafogo, nº 501, 5º andar (parte), Torre Corcovado,  ADMINISTRADOR  Botafogo, CEP 22250-040, inscrita no CNPJ sob o nº 59.281.253/0001-23 e  credenciada como administradora de carteira, de acordo com o Ato Declaratório  CVM nº 8.695, de 20 de março de 2006 (“ADMINISTRADOR”).</a:t>
            </a:r>
          </a:p>
          <a:p>
            <a:r>
              <a:t> BTG Pactual Asset Management S.A. Distribuidora de Títulos e Valores  Mobiliários, inscrita no CNPJ/ME sob o nº 29.650.082/0001-00, com sede  Cidade e Estado do Rio de Janeiro, na Praia de Botafogo, n.º 501, 5° andar,  devidamente autorizada à prestação dos serviços de administração de carteira  GESTOR  de títulos e valores mobiliários por meio d o Ato Declaratório número 5.968,  expedido em 10 de maio de 2000 (“GESTOR” e, quando ref erido  conjuntamente e indistintamente com o ADMINISTRADOR, os “Prestadores  de Serviços Essenciais”).</a:t>
            </a:r>
          </a:p>
          <a:p>
            <a:r>
              <a:t> O FUNDO, seus cotistas, os distribuidores de cotas por conta e ordem, seu  GESTOR, seu ADMINISTRADOR e os demais prestadores de serviço do  FUNDO e/ou da CLASSE obrigam-se a resolver, por meio de arbitragem, de  acordo com o Regulamento de Arbitragem da Câmara de Arbitragem do  Mercado da B3 (“Regulamento CAM B3” e “CAM B3”, respectivamente), toda  e qualquer disputa ou controvérsia que possa surgir entre eles, relacionada ou  oriunda, em especial, da aplicação, validade, eficácia, interpretação, violação  e seus ef eitos, das disposições contidas no Regulamento e seus Anexos, nas  normas editadas pela CVM que lhe sejam aplicáveis e nos instrumentos entre  si f irmados (“Arbitragem”).</a:t>
            </a:r>
          </a:p>
          <a:p>
            <a:r>
              <a:t> (i) A Arbitragem será de direito, com a aplicação das normas da República  Federativa do Brasil, terá sede no Município de São Paulo, será  Foro Aplicável conduzida em língua portuguesa e de f orma confidencial. O tribunal  arbitral será constituído por 3 (três) árbitros, sendo um deles  presidente, escolhidos nos termos do Regulamento CAM B3.</a:t>
            </a:r>
          </a:p>
          <a:p>
            <a:r>
              <a:t> (ii) As despesas processuais iniciais deverão ser rateadas entre as partes,  arcando cada polo processual com metade dos valores necessários,  sem prejuízo à possibilidade de adiantamento pelas partes  interessadas, resolvendo-se as indef inições nos termos do  Regulamento CAM B3. A sentença arbitral deverá determinar a  responsabilidade final pelas despesas de acordo com a sucumbência  de cada parte, as quais deverão incluir as taxas administrativas,  honorários de árbitros e de peritos e despesas com diligências  processuais e f ornecimento de garantias que sejam determinadas  expressamente pelo tribunal arbitral. É vedada a imposição de  honorários de sucumbência, bem como a determinação de indenização</a:t>
            </a:r>
          </a:p>
          <a:p>
            <a:r>
              <a:t>CNPJ 54871427000194 · Administrador, gestor e custodiante · Regulamento · ID 670691 · 2024-04-28 · versão 1 · p. 7 · https://fnet.bmfbovespa.com.br/fnet/publico/visualizarDocumento?id=670691</a:t>
            </a:r>
          </a:p>
          <a:p>
            <a:r>
              <a:t>CNPJ 54871427000194 · Administrador, gestor e custodiante · Excerto da fonte:</a:t>
            </a:r>
          </a:p>
          <a:p>
            <a:r>
              <a:t>Banco BTG Pactual S.A., instituição f inanceira, com sede na Cidade e  Estado do Rio de Janeiro, na Praia de Botafogo, nº 501, 5º andar (parte),  Custódia Torre Corcovado, Botafogo, CEP 22250-040, inscrita no CNPJ sob o nº</a:t>
            </a:r>
          </a:p>
          <a:p>
            <a:r>
              <a:t> 30.306.294/0001-45 e credenciado como custodiante, de acordo com o  Ato Declaratório nº 7.204, de 25 de abril de 2003 (“CUSTODIANTE”).</a:t>
            </a:r>
          </a:p>
          <a:p>
            <a:r>
              <a:t> Tesouraria, Controladoria e ADMINISTRADOR.</a:t>
            </a:r>
          </a:p>
          <a:p>
            <a:r>
              <a:t> Escrituração  Subclasses Única.</a:t>
            </a:r>
          </a:p>
          <a:p>
            <a:r>
              <a:t>CNPJ 54871427000194 · Administrador, gestor e custodiante · Regulamento · ID 670691 · 2024-04-28 · versão 1 · p. 38 · https://fnet.bmfbovespa.com.br/fnet/publico/visualizarDocumento?id=670691</a:t>
            </a:r>
          </a:p>
          <a:p>
            <a:r>
              <a:t>CNPJ 54871427000194 · Administrador, gestor e custodiante · Excerto da fonte:</a:t>
            </a:r>
          </a:p>
          <a:p>
            <a:r>
              <a:t>“ADMINISTRADOR”: BTG Pactual Serviços Financeiros S.A. Distribuidora de Títulos e Valores Mobiliários, instituição com sede no Município do Rio de Janeiro, Estado do Rio de Janeiro, à Praia de Botafogo, nº 501, 5º andar – parte, inscrita no CNPJ sob o nº 59.281.253/0001-23, autorizada a funcionar pelo BACEN e autorizada pela CVM para a atividade de administração de carteiras de valores mobiliários, de acordo com o Ato Declaratório nº 8.695, de 20 de março de 2006, ou seu sucessor a qualquer título ;</a:t>
            </a:r>
          </a:p>
          <a:p>
            <a:r>
              <a:t>CNPJ 54871427000194 · Administrador, gestor e custodiante · Condição: Documentos atuais selecionados no inventário por categoria/escopo; a data documental isolada não comprova vigência jurídica.</a:t>
            </a:r>
          </a:p>
          <a:p>
            <a:r>
              <a:t>CNPJ 54871427000194 · Administrador, gestor e custodiante · Versão e prevalência: Documentos atuais selecionados no inventário por categoria/escopo; a data documental isolada não comprova vigência jurídica.</a:t>
            </a:r>
          </a:p>
          <a:p>
            <a:r>
              <a:t>CNPJ 54871427000194 · Administrador, gestor e custodiante · Resumo do histórico: {"count": 2, "dates": ["2024-04-19"], "document_count": 2, "sources": [{"document_id": "670687", "title": "Instrumento Particular de Constituição/Encerramento do Fundo", "reference_date": "2024-04-19", "version": "1", "page": 1, "url": "https://fnet.bmfbovespa.com.br/fnet/publico/visualizarDocumento?id=670687", "sha256": "999f2a47d39f7022b0fcee3d16fd1db33948537b897e92c4c9e14b436bf5eb96"}, {"document_id": "670689", "title": "Regulamento", "reference_date": "2024-04-19", "version": "1", "page": 1, "clause": "1.1", "url": "https://fnet.bmfbovespa.com.br/fnet/publico/visualizarDocumento?id=670689", "sha256": "891bc9bc5d87bbc02ec139077a84d2702eb81ea02035fb71d24f5b8366b94a0b"}], "reference": {"path": "history/54871427000194.json", "criterion_id": "providers", "total_count": 2, "preview_count": 2, "full_text_deferred": true, "sha256": "35d7cd99be50c7287c9fb675cf4f2e736002315295a225a9efa79c8d9186d874"}}</a:t>
            </a:r>
          </a:p>
          <a:p>
            <a:r>
              <a:t>CNPJ 60010416000112 · Administrador, gestor e custodiante · Regulamento · ID 1051393 · 2025-10-09 · versão 1 · p. 8 · https://fnet.bmfbovespa.com.br/fnet/publico/visualizarDocumento?id=1051393</a:t>
            </a:r>
          </a:p>
          <a:p>
            <a:r>
              <a:t>CNPJ 60010416000112 · Administrador, gestor e custodiante · Excerto da fonte:</a:t>
            </a:r>
          </a:p>
          <a:p>
            <a:r>
              <a:t>Tipo de Condomínio Fechado.</a:t>
            </a:r>
          </a:p>
          <a:p>
            <a:r>
              <a:t> Prazo de Duração Indeterminado.</a:t>
            </a:r>
          </a:p>
          <a:p>
            <a:r>
              <a:t> Classe de Investimento  Não.</a:t>
            </a:r>
          </a:p>
          <a:p>
            <a:r>
              <a:t> em Cotas  Tipo “Financeiro”.</a:t>
            </a:r>
          </a:p>
          <a:p>
            <a:r>
              <a:t> Classificação ANBIMA  Foco de atuação “Créditos Consignados”.</a:t>
            </a:r>
          </a:p>
          <a:p>
            <a:r>
              <a:t> O objetivo da classe é proporcionar aos seus Cotistas a valorização de suas Cotas  por meio da aplicação de seu Patrimônio Líquido na aquisição de: (i) Direitos  Creditórios que atendam aos Critérios de Elegibilidade, estabelecidos no Capítulo  4 abaixo, e (ii) Ativos Financeiros de Liquidez, observados todos os limites de  Objetivo composição e diversificação da Carteira da Classe, estabelecidos neste  Regulamento e na regulamentação aplicável.</a:t>
            </a:r>
          </a:p>
          <a:p>
            <a:r>
              <a:t> O objetivo da Classe não representa, sob qualquer hipótese, promessa, garantia  ou sugestão do Fundo ou de seus Prestadores de Serviços Essenciais quanto à  segurança, rentabilidade e liquidez dos títulos integrantes de sua carteira.</a:t>
            </a:r>
          </a:p>
          <a:p>
            <a:r>
              <a:t> Destinado exclusivamente a um único cotista ou grupo de cotistas vinculados por  Público-Alvo  interesse único e indissociável, classificados como Investidores Prof issionais.</a:t>
            </a:r>
          </a:p>
          <a:p>
            <a:r>
              <a:t> Banco BTG Pactual S.A., instituição financeira, com sede no município e Estado  do Rio de Janeiro, na Praia de Botafogo, nº 501, Torre Corcovado, 5º andar (parte),  Custódia e Tesouraria Botafogo, CEP 22.250-040, inscrita no CNPJ sob o nº 30.306.294/0001-45 e  credenciado como custodiante, de acordo com o Ato Declaratório nº 7.204, de 25  de abril de 2003 (“Custodiante”).</a:t>
            </a:r>
          </a:p>
          <a:p>
            <a:r>
              <a:t> Tesouraria,  Controladoria e Administrador.</a:t>
            </a:r>
          </a:p>
          <a:p>
            <a:r>
              <a:t> Escrituração  Subclasses Sênior e Subordinada, nos termos do Capítulo 5 e respectivos Apêndices.</a:t>
            </a:r>
          </a:p>
          <a:p>
            <a:r>
              <a:t> O valor de cada emissão de Cotas, volume e valor unitário da Cota, bem como o  Emissão e Regime de regime de distribuição, seguirão o disposto no instrumento que aprova a emissão  Distribuição de Cotas de Cotas, que disporá acerca da eventual existência de direito de preferência dos  Cotistas.</a:t>
            </a:r>
          </a:p>
          <a:p>
            <a:r>
              <a:t> Capital Autorizado Conf orme previsto nos Apêndices.</a:t>
            </a:r>
          </a:p>
          <a:p>
            <a:r>
              <a:t> As Cotas poderão ser admitidas à negociação em bolsa de valores ou entidade de  Negociação  balcão organizado, conf orme previsto nos Apêndices.</a:t>
            </a:r>
          </a:p>
          <a:p>
            <a:r>
              <a:t> Cálculo do Valor da Cota Conf orme Capítulo 6 deste Anexo e respectivos Apêndices.</a:t>
            </a:r>
          </a:p>
          <a:p>
            <a:r>
              <a:t> A distribuição de quaisquer ganhos e rendimentos da Classe aos Cotistas será  Distribuição de  f eita exclusivamente mediante a amortização e/ou o resgate de Cotas, observado  Proventos  o disposto no Regulamento, neste Anexo e respectivos Apêndices.</a:t>
            </a:r>
          </a:p>
          <a:p>
            <a:r>
              <a:t> Utilização de Ativos Não é permitida a integralização de Cotas, no todo ou em parte, com Direitos BTG Pactual SAC: 0800 772 28 27 - Ouvidoria: 0800 722 00 48 - btgpactual.com 8</a:t>
            </a:r>
          </a:p>
          <a:p>
            <a:r>
              <a:t>CNPJ 60010416000112 · Administrador, gestor e custodiante · Regulamento · ID 1051393 · 2025-10-09 · versão 1 · p. 1 · https://fnet.bmfbovespa.com.br/fnet/publico/visualizarDocumento?id=1051393</a:t>
            </a:r>
          </a:p>
          <a:p>
            <a:r>
              <a:t>CNPJ 60010416000112 · Administrador, gestor e custodiante · Excerto da fonte:</a:t>
            </a:r>
          </a:p>
          <a:p>
            <a:r>
              <a:t>BTG Pactual Asset Management S.A. Distribuidora de Títulos e Valores  Mobiliários, sociedade anônima, com sede no município do Rio de Janeiro,  Estado do Rio de Janeiro, na Praia de Botafogo, nº 501, Torre Corcovado, 5º andar</a:t>
            </a:r>
          </a:p>
          <a:p>
            <a:r>
              <a:t> (parte), CEP 22.250-040, inscrita no CNPJ sob o nº 29.650.082/0001-00,  GESTOR  devidamente credenciada junto à CVM para operar como administradora de  carteira de valores mobiliários nos termos do Ato Declaratório CVM nº 5.968, de  10 de maio de 2000 (“Gestor” e, quando referido conjuntamente e indistintamente  com o Administrador, os “Prestadores de Serviços Essenciais”).</a:t>
            </a:r>
          </a:p>
          <a:p>
            <a:r>
              <a:t>CNPJ 60010416000112 · Administrador, gestor e custodiante · Regulamento · ID 1051393 · 2025-10-09 · versão 1 · p. 45 · https://fnet.bmfbovespa.com.br/fnet/publico/visualizarDocumento?id=1051393</a:t>
            </a:r>
          </a:p>
          <a:p>
            <a:r>
              <a:t>CNPJ 60010416000112 · Administrador, gestor e custodiante · Excerto da fonte:</a:t>
            </a:r>
          </a:p>
          <a:p>
            <a:r>
              <a:t>“Gestor”: a BTG Pactual Asset Management S.A. Distribuidora de Títulos e Valores Mobiliários, sociedade anônima, com sede no município do Rio de Janeiro, Estado do Rio de Janeiro, na Praia de Botafogo, nº 501, Torre Corcovado, 5º andar (parte), CEP 22.250-040, inscrita no CNPJ sob o nº 29.650.082/0001-00, devidamente credenciada junto à CVM para operar como administrador de carteira de valores mobiliários nos termos do Ato Declaratório CVM nº 5.968, de 10 de maio de 2000;</a:t>
            </a:r>
          </a:p>
          <a:p>
            <a:r>
              <a:t>CNPJ 60010416000112 · Administrador, gestor e custodiante · Condição: Documentos atuais selecionados no inventário por categoria/escopo; a data documental isolada não comprova vigência jurídica.</a:t>
            </a:r>
          </a:p>
          <a:p>
            <a:r>
              <a:t>CNPJ 60010416000112 · Administrador, gestor e custodiante · Versão e prevalência: Documentos atuais selecionados no inventário por categoria/escopo; a data documental isolada não comprova vigência jurídica.</a:t>
            </a:r>
          </a:p>
          <a:p>
            <a:r>
              <a:t>CNPJ 60010416000112 · Administrador, gestor e custodiante · Resumo do histórico: {"count": 1, "dates": ["2025-05-12"], "document_count": 1, "sources": [{"document_id": "1004656", "title": "AGE", "reference_date": "2025-05-12", "version": "1", "page": 4, "url": "https://fnet.bmfbovespa.com.br/fnet/publico/visualizarDocumento?id=1004656", "sha256": "f6c9c009f6170e2b29f074b98522accec73f0c40efbf11f9ec2c8d3f1402616b"}], "reference": {"path": "history/60010416000112.json", "criterion_id": "providers", "total_count": 1, "preview_count": 1, "full_text_deferred": true, "sha256": "8e2bd813f4c51cf01f6bfaad164bafe69d2bbb192f753eac92da3a01c2e63046"}}</a:t>
            </a:r>
          </a:p>
          <a:p>
            <a:r>
              <a:t>CNPJ 62696791000193 · Administrador, gestor e custodiante · Regulamento · ID 1143317 · 2026-03-20 · versão 1 · p. 1 · https://fnet.bmfbovespa.com.br/fnet/publico/visualizarDocumento?id=1143317</a:t>
            </a:r>
          </a:p>
          <a:p>
            <a:r>
              <a:t>CNPJ 62696791000193 · Administrador, gestor e custodiante · Excerto da fonte:</a:t>
            </a:r>
          </a:p>
          <a:p>
            <a:r>
              <a:t>BTG Pactual Asset Management S.A. Distribuidora de Títulos e Valores  Mobiliários, com sede no município e Estado do Rio de Janeiro, na Praia de  Botafogo, nº 501, Torre Corcovado, 5º andar (parte), Botafogo, inscrito no  CNPJ sob o nº 29.650.082/0001-00, autorizado à prestação dos serviços de  Gestor  administração de carteira de títulos e valores mobiliários de acordo com o Ato  Declaratório nº 5.968, de 10 de maio de 2000 (“Gestor” e, quando ref erido  conjuntamente com o Administrador, os “Prestadores de Serviços  Essenciais”).</a:t>
            </a:r>
          </a:p>
          <a:p>
            <a:r>
              <a:t>CNPJ 62696791000193 · Administrador, gestor e custodiante · Regulamento · ID 1143317 · 2026-03-20 · versão 1 · p. 1 · https://fnet.bmfbovespa.com.br/fnet/publico/visualizarDocumento?id=1143317</a:t>
            </a:r>
          </a:p>
          <a:p>
            <a:r>
              <a:t>CNPJ 62696791000193 · Administrador, gestor e custodiante · Excerto da fonte:</a:t>
            </a:r>
          </a:p>
          <a:p>
            <a:r>
              <a:t>BTG Pactual Serviços Financeiros S.A. Distribuidora de Títulos e Valores  Mobiliários, sociedade anônima, com sede no município e Estado do Rio de  Janeiro, na Praia de Botafogo, nº 501, 5º andar (parte), Torre Corcovado,  Administrador Botafogo, CEP 22250-040, inscrita no CNPJ sob o nº 59.281.253/0001-23 e  credenciada como Administradora de carteira, de acordo com o Ato Declaratório  CVM nº 8.695, de 20 de março de 2006 (“Administrador”), responsável pela  administração f iduciária.</a:t>
            </a:r>
          </a:p>
          <a:p>
            <a:r>
              <a:t>CNPJ 62696791000193 · Administrador, gestor e custodiante · Regulamento · ID 1143317 · 2026-03-20 · versão 1 · p. 7 · https://fnet.bmfbovespa.com.br/fnet/publico/visualizarDocumento?id=1143317</a:t>
            </a:r>
          </a:p>
          <a:p>
            <a:r>
              <a:t>CNPJ 62696791000193 · Administrador, gestor e custodiante · Excerto da fonte:</a:t>
            </a:r>
          </a:p>
          <a:p>
            <a:r>
              <a:t>Banco BTG Pactual S.A., instituição financeira, com sede no município e  Estado do Rio de Janeiro, na Praia de Botafogo, nº 501, 5º andar (parte),  Custódia e Tesouraria Torre Corcovado, Botafogo, CEP 22250-040, inscrita no CNPJ sob o nº</a:t>
            </a:r>
          </a:p>
          <a:p>
            <a:r>
              <a:t> 30.306.294/0001-45 e credenciada como custodiante, de acordo com o  Ato Declaratório nº 7.204, de 25 de abril de 2003 (“Custodiante”).</a:t>
            </a:r>
          </a:p>
          <a:p>
            <a:r>
              <a:t>CNPJ 62696791000193 · Administrador, gestor e custodiante · Condição: Documentos atuais selecionados no inventário por categoria/escopo; a data documental isolada não comprova vigência jurídica.</a:t>
            </a:r>
          </a:p>
          <a:p>
            <a:r>
              <a:t>CNPJ 62696791000193 · Administrador, gestor e custodiante · Versão e prevalência: Documentos atuais selecionados no inventário por categoria/escopo; a data documental isolada não comprova vigência jurídica.</a:t>
            </a:r>
          </a:p>
          <a:p>
            <a:r>
              <a:t>CNPJ 55563624000109 · Administrador, gestor e custodiante · Regulamento · ID 1192614 · 2026-04-30 · versão 1 · p. 1 · https://fnet.bmfbovespa.com.br/fnet/publico/visualizarDocumento?id=1192614</a:t>
            </a:r>
          </a:p>
          <a:p>
            <a:r>
              <a:t>CNPJ 55563624000109 · Administrador, gestor e custodiante · Excerto da fonte:</a:t>
            </a:r>
          </a:p>
          <a:p>
            <a:r>
              <a:t>Polígono Capital Ltda., sociedade de responsabilidade limitada, com sede no  município e estado de São Paulo, na Avenida Brigadeiro Faria Lima, n° 2601, 12º andar,  Jardim Paulistano, CEP 01452-000, inscrita no CNPJ sob nº 43.241.789/0001-85 e  GESTOR autorizada à prestação do serviço de administração de carteiras de valores mobiliários  pela CVM, de acordo com o Ato Declaratório CVM nº 19.368, expedido em 7 de  dezembro de 2021 (“GESTOR” e, quando referido conjuntamente e indistintamente  com o ADMINISTRADOR, os “Prestadores de Serviços Essenciais”).</a:t>
            </a:r>
          </a:p>
          <a:p>
            <a:r>
              <a:t>CNPJ 55563624000109 · Administrador, gestor e custodiante · Regulamento · ID 1192614 · 2026-04-30 · versão 1 · p. 1 · https://fnet.bmfbovespa.com.br/fnet/publico/visualizarDocumento?id=1192614</a:t>
            </a:r>
          </a:p>
          <a:p>
            <a:r>
              <a:t>CNPJ 55563624000109 · Administrador, gestor e custodiante · Excerto da fonte:</a:t>
            </a:r>
          </a:p>
          <a:p>
            <a:r>
              <a:t>BTG Pactual Serviços Financeiros S.A. Distribuidora de Títulos e Valores Mobiliários,  sociedade anônima, com sede no município e estado do Rio de Janeiro, na Praia de  Botafogo, nº 501, 5º andar (parte), Torre Corcovado, Botafogo, CEP 22250-040, inscrita  ADMINISTRADOR no Cadastro Nacional da Pessoa Jurídica (“CNPJ”) sob o nº 59.281.253/0001-23 e  credenciada como administradora de carteira, de acordo com o Ato Declaratório CVM  nº 8.695, de 20 de março de 2006 (“ADMINISTRADOR”).</a:t>
            </a:r>
          </a:p>
          <a:p>
            <a:r>
              <a:t>CNPJ 55563624000109 · Administrador, gestor e custodiante · Regulamento · ID 1192614 · 2026-04-30 · versão 1 · p. 41 · https://fnet.bmfbovespa.com.br/fnet/publico/visualizarDocumento?id=1192614</a:t>
            </a:r>
          </a:p>
          <a:p>
            <a:r>
              <a:t>CNPJ 55563624000109 · Administrador, gestor e custodiante · Excerto da fonte:</a:t>
            </a:r>
          </a:p>
          <a:p>
            <a:r>
              <a:t>“ADMINISTRADOR”: BTG Pactual Serviços Financeiros S.A. Distribuidora de Títulos e Valores Mobiliários, instituição  com sede no Município do Rio de Janeiro, Estado do Rio de Janeiro, à Praia de Botafogo, nº 501, 5º andar – parte, inscrita  no CNPJ sob o nº 59.281.253/0001-23, autorizada a funcionar pelo BACEN e autorizada pela CVM para a atividade de  administração de carteiras de valores mobiliários, de acordo com o Ato Declaratório nº 8.695, de 20 de março de 2006,  ou seu sucessor a qualquer título;</a:t>
            </a:r>
          </a:p>
          <a:p>
            <a:r>
              <a:t>CNPJ 55563624000109 · Administrador, gestor e custodiante · Condição: Documentos atuais selecionados no inventário por categoria/escopo; a data documental isolada não comprova vigência jurídica.</a:t>
            </a:r>
          </a:p>
          <a:p>
            <a:r>
              <a:t>CNPJ 55563624000109 · Administrador, gestor e custodiante · Versão e prevalência: Documentos atuais selecionados no inventário por categoria/escopo; a data documental isolada não comprova vigência jurídica.</a:t>
            </a:r>
          </a:p>
          <a:p>
            <a:r>
              <a:t>CNPJ 55563624000109 · Administrador, gestor e custodiante · Resumo do histórico: {"count": 6, "dates": ["2024-12-30", "2025-01-31", "2026-01-31"], "document_count": 3, "sources": [{"document_id": "1178840", "title": "Demonstrações Financeiras", "reference_date": "2026-01-31", "version": "1", "page": 3, "url": "https://fnet.bmfbovespa.com.br/fnet/publico/visualizarDocumento?id=1178840", "sha256": "c458e98664c5c907ddb5a05a94b120bed4e05295b2bfc420f5ba69af0a229abe"}, {"document_id": "891861", "title": "Demonstrações Financeiras", "reference_date": "2025-01-31", "version": "1", "page": 11, "url": "https://fnet.bmfbovespa.com.br/fnet/publico/visualizarDocumento?id=891861", "sha256": "e9cb9e6ddbe505fe068cfcac33605165a98313489de0d3ce6d4d238263c3f3e7"}, {"document_id": "811323", "title": "Anúncio de Encerramento", "reference_date": "2024-12-30", "version": "1", "page": 1, "url": "https://fnet.bmfbovespa.com.br/fnet/publico/visualizarDocumento?id=811323", "sha256": "ebc6bc661be5189acffb3c3e352de2aea0a8ca8431011d1237e1ae19da4f9c79"}], "reference": {"path": "history/55563624000109.json", "criterion_id": "providers", "total_count": 6, "preview_count": 3, "full_text_deferred": true, "sha256": "7835d573fb58a3c19adf5b8ecc2aee2bdbb9a88f7a0c0209b5f262b64c7522e3"}}</a:t>
            </a:r>
          </a:p>
          <a:p>
            <a:r>
              <a:t>CNPJ 62552447000120 · Administrador, gestor e custodiante · Regulamento · ID 1200623 · 2026-05-21 · versão 1 · p. 1 · https://fnet.bmfbovespa.com.br/fnet/publico/visualizarDocumento?id=1200623</a:t>
            </a:r>
          </a:p>
          <a:p>
            <a:r>
              <a:t>CNPJ 62552447000120 · Administrador, gestor e custodiante · Excerto da fonte:</a:t>
            </a:r>
          </a:p>
          <a:p>
            <a:r>
              <a:t>BTG Pactual Asset Management S.A. Distribuidora de Títulos e Valores  Mobiliários, sociedade anônima, com sede no município e Estado do Rio de  Janeiro, na Praia de Botafogo, n.º 501, 5º andar (parte), Torre Corcovado, bairro  Botafogo, CEP 22250-040, inscrita no CNPJ sob o n.º 29.650.082/0001-00 e  Gestor  credenciada como administradora de carteira de valores mobiliários , categoria  gestor de recursos, de acordo com o Ato Declaratório CVM n.º 5.968, de 10 de  maio de 2000 (“Gestor” e, quando ref erido conjuntamente e indistintamente  com o Administrador, “Prestadores de Serviços Essenciais”).</a:t>
            </a:r>
          </a:p>
          <a:p>
            <a:r>
              <a:t>CNPJ 62552447000120 · Administrador, gestor e custodiante · Regulamento · ID 1200623 · 2026-05-21 · versão 1 · p. 1 · https://fnet.bmfbovespa.com.br/fnet/publico/visualizarDocumento?id=1200623</a:t>
            </a:r>
          </a:p>
          <a:p>
            <a:r>
              <a:t>CNPJ 62552447000120 · Administrador, gestor e custodiante · Excerto da fonte:</a:t>
            </a:r>
          </a:p>
          <a:p>
            <a:r>
              <a:t>BTG Pactual Serviços Financeiros S.A. Distribuidora de Títulos e Valores  Mobiliários, sociedade anônima, com sede no município e Estado do Rio de  Janeiro, na Praia de Botafogo, n.º 501, 5º andar (parte), Torre Corcovado, bairro  Administrador Botafogo, CEP 22250-040, inscrita no CNPJ sob o n.º 59.281.253/0001-23 e  credenciada como administradora de carteira de valores mobiliários, categoria  administrador fiduciário, de acordo com o Ato Declaratório CVM n.º 8.695, de 20  de março de 2006 (“Administrador”).</a:t>
            </a:r>
          </a:p>
          <a:p>
            <a:r>
              <a:t>CNPJ 62552447000120 · Administrador, gestor e custodiante · Instrumento Particular de Alteração do Regulamento · ID 1200625 · 2026-05-21 · versão 1 · p. 1 · https://fnet.bmfbovespa.com.br/fnet/publico/visualizarDocumento?id=1200625</a:t>
            </a:r>
          </a:p>
          <a:p>
            <a:r>
              <a:t>CNPJ 62552447000120 · Administrador, gestor e custodiante · Excerto da fonte:</a:t>
            </a:r>
          </a:p>
          <a:p>
            <a:r>
              <a:t>A Administradora, BTG PACTUAL SERVIÇOS FINANCEIROS S.A. DTVM, com  sede na Praia de Botafogo, n.º 501, 5º andar (parte), na Cidade e Estado do Rio de  Janeiro, e inscrita no CNPJ sob o número 59.281.253/0001-23, na qualidade de  administradora da V CDT 1 FUNDO DE INVESTIMENTO EM DIREITOS  CREDITÓRIOS RESPONSABILIDADE LIMITADA, inscrita no CNPJ/MF sob o  número 62.552.447/0001-20 ("Classe"), serve-se da presente para:</a:t>
            </a:r>
          </a:p>
          <a:p>
            <a:r>
              <a:t>CNPJ 62552447000120 · Administrador, gestor e custodiante · Condição: Documentos atuais selecionados no inventário por categoria/escopo; a data documental isolada não comprova vigência jurídica.</a:t>
            </a:r>
          </a:p>
          <a:p>
            <a:r>
              <a:t>CNPJ 62552447000120 · Administrador, gestor e custodiante · Versão e prevalência: Documentos atuais selecionados no inventário por categoria/escopo; a data documental isolada não comprova vigência jurídica.</a:t>
            </a:r>
          </a:p>
          <a:p>
            <a:r>
              <a:t>CNPJ 62552447000120 · Administrador, gestor e custodiante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"providers", "total_count": 1, "preview_count": 1, "full_text_deferred": true, "sha256": "d95db8c0613d67ee84118c734588665265ea6b02f86a0318d6a844cbe1d0f82f"}}</a:t>
            </a:r>
          </a:p>
          <a:p>
            <a:r>
              <a:t>CNPJ 63953620000165 · Administrador, gestor e custodiante · Anexo ao Regulamento · ID 1222863 · 2026-06-02 · versão 1 · p. 2 · https://fnet.bmfbovespa.com.br/fnet/publico/visualizarDocumento?id=1222863</a:t>
            </a:r>
          </a:p>
          <a:p>
            <a:r>
              <a:t>CNPJ 63953620000165 · Administrador, gestor e custodiante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Administrador, gestor e custodiante · Condição: Documentos atuais selecionados no inventário por categoria/escopo; a data documental isolada não comprova vigência jurídica.</a:t>
            </a:r>
          </a:p>
          <a:p>
            <a:r>
              <a:t>CNPJ 63953620000165 · Administrador, gestor e custodiante · Motivo: Cláusula primária localizada e citada, mas sua lista/condições extensas não admitem uma síntese literal curta confirmada. O trecho integral permanece nas fontes.</a:t>
            </a:r>
          </a:p>
          <a:p>
            <a:r>
              <a:t>CNPJ 63953620000165 · Administrador, gestor e custodiante · Versão e prevalência: Documentos atuais selecionados no inventário por categoria/escopo; a data documental isolada não comprova vigência jurídica.</a:t>
            </a:r>
          </a:p>
          <a:p>
            <a:r>
              <a:t>CNPJ 63953620000165 · Administrador, gestor e custodiante · Resumo do histórico: {"count": 8, "dates": ["2026-04-28", "2026-05-08", "2026-05-15"], "document_count": 3, "sources": [{"document_id": "1327859", "title": "Demonstrações Financeiras - Fusão, cisão e incorporação", "reference_date": "2026-05-15", "version": "1", "page": 9, "url": "https://fnet.bmfbovespa.com.br/fnet/publico/visualizarDocumento?id=1327859", "sha256": "dca1c68babb97f887528c3e2e47596a9c30f507b067981a35655b2f2da9c8054"}, {"document_id": "1298691", "title": "Demonstrações Financeiras - Fusão, cisão e incorporação", "reference_date": "2026-05-08", "version": "1", "page": 9, "url": "https://fnet.bmfbovespa.com.br/fnet/publico/visualizarDocumento?id=1298691", "sha256": "58c570d9b8d4d265330d3db3ea81c435b8e44a6dab4002aa37790652a1ee9819"}, {"document_id": "1282180", "title": "Demonstrações Financeiras - Fusão, cisão e incorporação", "reference_date": "2026-04-28", "version": "1", "page": 9, "url": "https://fnet.bmfbovespa.com.br/fnet/publico/visualizarDocumento?id=1282180", "sha256": "afaaa0e6809be4385e5bdb6c911aac582032c5bdbac3d7750234bf9eaf00438a"}], "reference": {"path": "history/63953620000165.json", "criterion_id": "providers", "total_count": 8, "preview_count": 3, "full_text_deferred": true, "sha256": "a7b89077f5e21098c2d601c303faabc3ff6b9729f89d8afecdc60fe1404720c1"}}</a:t>
            </a:r>
          </a:p>
          <a:p>
            <a:r>
              <a:t>CNPJ 54871427000194 · Substituição de prestadores · Motivo: Não localizada uma cláusula material para este critério nos textos identificados e processados. A ausência de resultado não comprova inexistência da regra.</a:t>
            </a:r>
          </a:p>
          <a:p>
            <a:r>
              <a:t>CNPJ 60010416000112 · Substituição de prestadores · Regulamento · ID 1051393 · 2025-10-09 · versão 1 · p. 3 · 1.8 · https://fnet.bmfbovespa.com.br/fnet/publico/visualizarDocumento?id=1051393</a:t>
            </a:r>
          </a:p>
          <a:p>
            <a:r>
              <a:t>CNPJ 60010416000112 · Substituição de prestadores · Excerto da fonte:</a:t>
            </a:r>
          </a:p>
          <a:p>
            <a:r>
              <a:t>1.8. Os Cotistas, o Administrador, o Gestor e o Agente de  Retenção/Cobrança estão plenamente conscientes dos termos e efeitos  desta cláusula compromissória e concordam irrevogavelmente que a  arbitragem será a única f orma de resolução de disputas relacionada a  este Regulamento. Sem prejuízo da validade desta cláusula  compromissória, as partes elegem o foro da comarca do Rio de Janeiro,  estado do Rio de Janeiro, com a renúncia expressa a qualquer outra, se  e quando isso f or necessário para fins de: (i) executar as obrigações para  as quais haja disponibilidade imediata de execução judicial; (ii) obter  ordens de execução específica ou liminares de caráter preventivo,  temporário ou permanente, tais como a prestação de caução para um  processo arbitral iniciado ou em andamento entre as partes da  arbitragem e/ou assegurar a existência e ef icácia do processo arbitral;</a:t>
            </a:r>
          </a:p>
          <a:p>
            <a:r>
              <a:t> e/ou (iii) apresentar um pedido de execução específica ou outra ordem,  sendo certo que, uma vez obtida a execução específica ou outra ordem,  o Tribunal Arbitral a ser instituído ou que já esteja instituído, conforme o  caso, assumirá a competência plena e exclusiva para decidir sobre toda  e qualquer questão, quer relacionada ao processo ou ao mérito, que  possa ter dado origem à ordem ou execução específica solicitada, e o  respectivo processo será suspenso até que o Tribunal Arbitral profira  uma decisão parcial ou def initiva sobre a questão. A propositura de  qualquer ação judicial de acordo com este item não resultará em  renúncia à arbitragem ou à competência da Câmara.</a:t>
            </a:r>
          </a:p>
          <a:p>
            <a:r>
              <a:t>CNPJ 60010416000112 · Substituição de prestadores · Condição: Documentos atuais selecionados no inventário por categoria/escopo; a data documental isolada não comprova vigência jurídica.</a:t>
            </a:r>
          </a:p>
          <a:p>
            <a:r>
              <a:t>CNPJ 60010416000112 · Substituição de prestadores · Motivo: Cláusula primária localizada e citada, mas sua lista/condições extensas não admitem uma síntese literal curta confirmada. O trecho integral permanece nas fontes.</a:t>
            </a:r>
          </a:p>
          <a:p>
            <a:r>
              <a:t>CNPJ 60010416000112 · Substituição de prestadores · Versão e prevalência: Documentos atuais selecionados no inventário por categoria/escopo; a data documental isolada não comprova vigência jurídica.</a:t>
            </a:r>
          </a:p>
          <a:p>
            <a:r>
              <a:t>CNPJ 60010416000112 · Substituição de prestadores · Resumo do histórico: {"count": 1, "dates": ["2025-03-20"], "document_count": 1, "sources": [{"document_id": "993786", "title": "Regulamento", "reference_date": "2025-03-20", "version": "1", "page": 3, "clause": "1.8", "url": "https://fnet.bmfbovespa.com.br/fnet/publico/visualizarDocumento?id=993786", "sha256": "fd0fdd369a195510d81f81f505195a0b09e5f43522a990afa7d58c4f872921c8"}], "reference": {"path": "history/60010416000112.json", "criterion_id": "replacement", "total_count": 1, "preview_count": 1, "full_text_deferred": true, "sha256": "8e2bd813f4c51cf01f6bfaad164bafe69d2bbb192f753eac92da3a01c2e63046"}}</a:t>
            </a:r>
          </a:p>
          <a:p>
            <a:r>
              <a:t>CNPJ 62696791000193 · Substituição de prestadores · Regulamento · ID 1143317 · 2026-03-20 · versão 1 · p. 26 · 12.10 · https://fnet.bmfbovespa.com.br/fnet/publico/visualizarDocumento?id=1143317</a:t>
            </a:r>
          </a:p>
          <a:p>
            <a:r>
              <a:t>CNPJ 62696791000193 · Substituição de prestadores · Excerto da fonte:</a:t>
            </a:r>
          </a:p>
          <a:p>
            <a:r>
              <a:t>12.10 Na hipótese de renúncia, o Administrador fica obrigado a permanecer no exercício de suas funções até  a averbação, no cartório de registro de imóveis, nas matrículas referentes aos bens imóveis e direitos  integrantes da carteira de ativos, da ata da assembleia de Cotistas que eleger seu substituto e sucessor  na propriedade f iduciária desses bens e direitos.</a:t>
            </a:r>
          </a:p>
          <a:p>
            <a:r>
              <a:t>CNPJ 62696791000193 · Substituição de prestadores · Regulamento · ID 1143317 · 2026-03-20 · versão 1 · p. 26 · 12.10.1 · https://fnet.bmfbovespa.com.br/fnet/publico/visualizarDocumento?id=1143317</a:t>
            </a:r>
          </a:p>
          <a:p>
            <a:r>
              <a:t>CNPJ 62696791000193 · Substituição de prestadores · Excerto da fonte:</a:t>
            </a:r>
          </a:p>
          <a:p>
            <a:r>
              <a:t>12.10.1 É f acultado aos Cotistas que detenham ao menos 5% (cinco por cento) das Cotas emitidas, a  convocação da assembleia de Cotistas prevista no item 12.4 acima, caso o Administrador não  a convoque, no prazo de 10 (dez) dias contados da renúncia.</a:t>
            </a:r>
          </a:p>
          <a:p>
            <a:r>
              <a:t>CNPJ 62696791000193 · Substituição de prestadores · Condição: Documentos atuais selecionados no inventário por categoria/escopo; a data documental isolada não comprova vigência jurídica.</a:t>
            </a:r>
          </a:p>
          <a:p>
            <a:r>
              <a:t>CNPJ 62696791000193 · Substituição de prestadores · Versão e prevalência: Documentos atuais selecionados no inventário por categoria/escopo; a data documental isolada não comprova vigência jurídica.</a:t>
            </a:r>
          </a:p>
          <a:p>
            <a:r>
              <a:t>CNPJ 55563624000109 · Substituição de prestadores · Motivo: Não localizada uma cláusula material para este critério nos textos identificados e processados. A ausência de resultado não comprova inexistência da regra.</a:t>
            </a:r>
          </a:p>
          <a:p>
            <a:r>
              <a:t>CNPJ 62552447000120 · Substituição de prestadores · Motivo: Não localizada uma cláusula material para este critério nos textos identificados e processados. A ausência de resultado não comprova inexistência da regra.</a:t>
            </a:r>
          </a:p>
          <a:p>
            <a:r>
              <a:t>CNPJ 63953620000165 · Substituição de prestadores · Anexo ao Regulamento · ID 1222863 · 2026-06-02 · versão 1 · p. 15 · https://fnet.bmfbovespa.com.br/fnet/publico/visualizarDocumento?id=1222863</a:t>
            </a:r>
          </a:p>
          <a:p>
            <a:r>
              <a:t>CNPJ 63953620000165 · Substituição de prestadores · Excerto da fonte:</a:t>
            </a:r>
          </a:p>
          <a:p>
            <a:r>
              <a:t>Anexo I ao Regulamento  CLASSE CONSIGNADO PRIVADO DO MT GLOBAL FUNDO DE INVESTIMENTO EM DIREITOS  CREDITÓRIOS RESPONSABILIDADE LIMITADA</a:t>
            </a:r>
          </a:p>
          <a:p>
            <a:r>
              <a:t> (vii) inobservância pelo Administrador, pelo Custodiante e/ou pelo Gestor de seus deveres e obrigações  previstos neste Regulamento, bem como suas atribuições específicas nos outros contratos existentes  referentes ao funcionamento da Classe, verificada pelo Administrador, pelo Custodiante e/ou pelo  Gestor ou por qualquer dos Cotistas, desde que, uma vez notificados para sanar ou justificar o  descumprimento, o Administrador, o Custodiante e/ou o Gestor, conforme o caso, não o sane no prazo  de 5 (cinco) Dias Úteis contados do recebimento da referida notificação;</a:t>
            </a:r>
          </a:p>
          <a:p>
            <a:r>
              <a:t> (viii) aquisição, pela Classe, de Direitos Creditórios que estejam em desacordo com as Condições de Cessão e  os Critérios de Elegibilidade previstos neste Regulamento no momento de sua aquisição;</a:t>
            </a:r>
          </a:p>
          <a:p>
            <a:r>
              <a:t> (ix) alteração na classificação de risco das Cotas, se houver, que, para qualquer dado período após a  classificação de risco inicial das Cotas e/ou após a deliberação da Assembleia Especial de Cotistas a  respeito de um rebaixamento da classificação de risco das Cotas, implique no rebaixamento de dois  níveis na escala de risco pertinente elaborada pela Agência Classificadora de Risco; e/ou</a:t>
            </a:r>
          </a:p>
          <a:p>
            <a:r>
              <a:t> (x) renúncia do Gestor, sem que tenham sido tomadas tempestivamente as providências previstas no  CAPÍTULO 2 da parte geral deste Regulamento;</a:t>
            </a:r>
          </a:p>
          <a:p>
            <a:r>
              <a:t> (xi) no caso de o Contrato de Endosso celebrado com o Endossante, por qualquer razão, (a) seja declarado  inválido, nulo ou ineficaz por ordem judicial e/ou qualquer autoridade governamental; ou (b) tenha sua  validade ou eficácia, total ou parcialmente, contestada pelo Endossante, judicial ou administrativamente</a:t>
            </a:r>
          </a:p>
          <a:p>
            <a:r>
              <a:t> (xii) em caso de não renovação, cancelamento, revogação ou suspensão de concessões, autorizações,  subvenções, autorizações ou licenças, relevantes para o exercício regular dos negócios realizados pelo  Endossante, incluindo o Convênio Consignado Privado, e as autorizações regulatórias concedidas pelo  Banco Central, observado, caso aplicável, os prazos de cura dispostos no Contrato de Endosso;</a:t>
            </a:r>
          </a:p>
          <a:p>
            <a:r>
              <a:t> (xiii) no caso de o Endossante ou o Agente de Retenção/Cobrança e/ou seus acionistas controladores diretos  e/ou indiretos (pessoas físicas ou jurídicas), quotistas, diretores, conselheiros e/ou representantes e  colaboradores do Endossante ou seus acionistas controladores, (a) terem contra si uma decisão judicial  transitada em julgado envolvendo (1) crimes contra a propriedade, (2) crimes de falsificação, (3) crimes  contra o sistema financeiro nacional, (4) crimes contra o mercado de capitais, (5) crimes contra a  seguridade social, (6) crimes contra as relações de consumo e (7) crimes previstos na lei de falências;</a:t>
            </a:r>
          </a:p>
          <a:p>
            <a:r>
              <a:t> e/ou (b) violar as normas anticorrupção aplicáveis, especialmente a Lei nº 9.613, de 3 de março de 1998,  conforme alterada ou substituída de tempos em tempos, e qualquer outra a que estejam sujeitos, quer  contratual ou legalmente, desde que a violação mencionada seja considerada como, especialmente, mas  não limitada a (1) financiamento, crédito, patrocínio ou outra forma de subvenção à prática de atos  ilícitos previstos na legislação anticorrupção, de combate à lavagem de dinheiro, organizações  antissociais e/ou crime organizado; (2) promessa, oferta ou entrega, direta ou indiretamente, de  qualquer objeto de valor a um funcionário público ou terceiros para obter ou manter negócios ou para  obter qualquer vantagem indevida; (3) aceitação ou compromisso de aceitar, de quem quer que seja,  por si ou por outrem, qualquer pagamento, doação, compensação, vantagens financeiras ou não  financeiras ou benefícios de qualquer tipo, direta ou indiretamente relacionados com o objeto da Classe,  que constituam uma prática ilegal, que violem as boas condutas, a ética, a moral e constitua corrupção  nos termos das leis dos países da sede e onde existam filiais das partes envolvidas, das partes  contratantes; e</a:t>
            </a:r>
          </a:p>
          <a:p>
            <a:r>
              <a:t> (xiv) caso o cotista das Cotas Subordinadas deixe de ser titular das Cotas Subordinadas durante todo prazo  de duração da Classe;</a:t>
            </a:r>
          </a:p>
          <a:p>
            <a:r>
              <a:t> (xv) no caso de não serem realizados pagamentos de amortização e/ou resgate de Cotas Seniores, nos  termos, prazos e condições previstos no presente Regulamento e nos respectivos Apêndices e  Suplementos, não sanados em até 2 (dois) Dias Úteis contados do prazo final do respectivo evento;</a:t>
            </a:r>
          </a:p>
          <a:p>
            <a:r>
              <a:t> (xvi) no caso de pagamento de resgate e/ou amortização de Cotas Subordinadas em desacordo com os  termos, prazos e condições previstos no presente Regulamento e no respectivo Apêndice.</a:t>
            </a:r>
          </a:p>
          <a:p>
            <a:r>
              <a:t>CNPJ 63953620000165 · Substituição de prestadores · Condição: Documentos atuais selecionados no inventário por categoria/escopo; a data documental isolada não comprova vigência jurídica.</a:t>
            </a:r>
          </a:p>
          <a:p>
            <a:r>
              <a:t>CNPJ 63953620000165 · Substituição de prestadores · Motivo: Cláusula primária localizada e citada, mas sua lista/condições extensas não admitem uma síntese literal curta confirmada. O trecho integral permanece nas fontes.</a:t>
            </a:r>
          </a:p>
          <a:p>
            <a:r>
              <a:t>CNPJ 63953620000165 · Substituição de prestadores · Versão e prevalência: Documentos atuais selecionados no inventário por categoria/escopo; a data documental isolada não comprova vigência jurídica.</a:t>
            </a:r>
          </a:p>
          <a:p>
            <a:r>
              <a:t>CNPJ 54871427000194 · Rating por subclasse e downgrade · Regulamento · ID 670691 · 28/04/2024 · versão Regulamento — referência 28/04/2024 · p. 15 · Anexo I, 5.12 · https://fnet.bmfbovespa.com.br/fnet/publico/visualizarDocumento?id=670691</a:t>
            </a:r>
          </a:p>
          <a:p>
            <a:r>
              <a:t>CNPJ 54871427000194 · Rating por subclasse e downgrade · Excerto da fonte:</a:t>
            </a:r>
          </a:p>
          <a:p>
            <a:r>
              <a:t>5.12 As Cotas não serão classificadas por Agência Classificadora de Risco em funcionamento no País, uma vez que a Classe não será destinada ao público em geral. CAPÍTULO 6 – ATRIBUIÇÃO DE RESULTADO ÀS COTAS E CÁLCULO DO VALOR UNITÁRIO 6.1 As Cotas terão seu Valor Unitário calculado e divulgado pelo ADMINISTRADOR mensalmente, no último Dia Útil de cada mês, no fechamento dos mercados, a partir do mês seguinte à Data da 1ª Integralização e até a data de resgate das Cotas ou na data de liquidação da Classe Única, conforme o caso. 6.2 A partir da Data da 1ª Integralização de Cotas, o Valor Unitário das Cotas s erá calculado no fechamento do último Dia Útil de cada mês, equivalerá ao resultado da divisão do valor do Patrimônio Líquido apurado para o respectivo dia, pelo número de Cotas em circulação na respectiva data de cálculo . CAPÍTULO 7 – AMORTIZAÇÃO E RESGATE DAS COTAS 7.1 A distribuição de quaisquer ganhos e rendimentos d a Classe aos Cotistas será f eita exclusivamente mediante a Amortização e/ou o resgate de Cotas, observado o disposto neste Capítulo. 7.2 As amortizações de Cotas serão realizadas a qualquer tempo, a critério do GESTOR, observada a disponibilidade de recursos da Classe Única e a</a:t>
            </a:r>
          </a:p>
          <a:p>
            <a:r>
              <a:t>CNPJ 54871427000194 · Rating por subclasse e downgrade · Versão e prevalência: Leitura específica das cláusulas indicadas; condições e conflitos preservados. Seleção documental atual não comprova vigência jurídica por data isolada.</a:t>
            </a:r>
          </a:p>
          <a:p>
            <a:r>
              <a:t>CNPJ 54871427000194 · Rating por subclasse e downgrade · Resumo do histórico: {"count": 5, "dates": ["2024-12-31", "2025-01-01", "2025-12-31"], "document_count": 3, "sources": [{"document_id": "1151805", "title": "Demonstrações Financeiras", "reference_date": "2025-12-31", "version": "1", "page": 25, "url": "https://fnet.bmfbovespa.com.br/fnet/publico/visualizarDocumento?id=1151805", "sha256": "f1cea70b152968bf96ef9221b27225953cb20aeef487b2798db3c25e11b528d4"}, {"document_id": "869529", "title": "Demonstrações Financeiras", "reference_date": "2025-01-01", "version": "1", "page": 25, "url": "https://fnet.bmfbovespa.com.br/fnet/publico/visualizarDocumento?id=869529", "sha256": "9a93a9369ac8efdbc54ff8fcee3ccac3abf88edab4807b9323d3852450771b2a"}, {"document_id": "870070", "title": "Demonstrações Financeiras", "reference_date": "2024-12-31", "version": "1", "page": 25, "url": "https://fnet.bmfbovespa.com.br/fnet/publico/visualizarDocumento?id=870070", "sha256": "9a93a9369ac8efdbc54ff8fcee3ccac3abf88edab4807b9323d3852450771b2a"}], "reference": {"path": "history/54871427000194.json", "criterion_id": "rating", "total_count": 5, "preview_count": 3, "full_text_deferred": true, "sha256": "35d7cd99be50c7287c9fb675cf4f2e736002315295a225a9efa79c8d9186d874"}}</a:t>
            </a:r>
          </a:p>
          <a:p>
            <a:r>
              <a:t>CNPJ 60010416000112 · Rating por subclasse e downgrade · Demonstrações Financeiras - Fusão, cisão e incorporação · ID 1298690 · 2026-05-08 · versão 1 · p. 35 · https://fnet.bmfbovespa.com.br/fnet/publico/visualizarDocumento?id=1298690</a:t>
            </a:r>
          </a:p>
          <a:p>
            <a:r>
              <a:t>CNPJ 60010416000112 · Rating por subclasse e downgrade · Excerto da fonte:</a:t>
            </a:r>
          </a:p>
          <a:p>
            <a:r>
              <a:t>As Cotas Seniores poderão ser objeto de classificação de risco (rating) por Agência  Classificadora de Risco em funcionamento no país.</a:t>
            </a:r>
          </a:p>
          <a:p>
            <a:r>
              <a:t>CNPJ 60010416000112 · Rating por subclasse e downgrade · Condição: Documentos atuais selecionados no inventário por categoria/escopo; a data documental isolada não comprova vigência jurídica.</a:t>
            </a:r>
          </a:p>
          <a:p>
            <a:r>
              <a:t>CNPJ 60010416000112 · Rating por subclasse e downgrade · Versão e prevalência: Documentos atuais selecionados no inventário por categoria/escopo; a data documental isolada não comprova vigência jurídica.</a:t>
            </a:r>
          </a:p>
          <a:p>
            <a:r>
              <a:t>CNPJ 60010416000112 · Rating por subclasse e downgrade · Resumo do histórico: {"count": 5, "dates": ["2025-11-30", "2026-03-18", "2026-04-16"], "document_count": 3, "sources": [{"document_id": "1282181", "title": "Demonstrações Financeiras - Fusão, cisão e incorporação", "reference_date": "2026-04-16", "version": "1", "page": 38, "url": "https://fnet.bmfbovespa.com.br/fnet/publico/visualizarDocumento?id=1282181", "sha256": "b1c6566e43a00bcd00c8a7f30c77b7f86e351bd8e355bbea113f46d1dafda703"}, {"document_id": "1224477", "title": "Demonstrações Financeiras - Fusão, cisão e incorporação", "reference_date": "2026-03-18", "version": "1", "page": 37, "url": "https://fnet.bmfbovespa.com.br/fnet/publico/visualizarDocumento?id=1224477", "sha256": "0751bf0a75bc3b44c2748f5000226665c6ec6698a90c4dc6170b4e6c187759ae"}, {"document_id": "1126154", "title": "Demonstrações Financeiras", "reference_date": "2025-11-30", "version": "1", "page": 38, "url": "https://fnet.bmfbovespa.com.br/fnet/publico/visualizarDocumento?id=1126154", "sha256": "a01e7ccf88c548f12c95cba8526d7efbef6b585c112cd4668eca781c292090b0"}], "reference": {"path": "history/60010416000112.json", "criterion_id": "rating", "total_count": 5, "preview_count": 3, "full_text_deferred": true, "sha256": "8e2bd813f4c51cf01f6bfaad164bafe69d2bbb192f753eac92da3a01c2e63046"}}</a:t>
            </a:r>
          </a:p>
          <a:p>
            <a:r>
              <a:t>CNPJ 62696791000193 · Rating por subclasse e downgrade · Regulamento · ID 1143317 · 2026-03-20 · versão 1 · p. 3 · 2.1.2 · https://fnet.bmfbovespa.com.br/fnet/publico/visualizarDocumento?id=1143317</a:t>
            </a:r>
          </a:p>
          <a:p>
            <a:r>
              <a:t>CNPJ 62696791000193 · Rating por subclasse e downgrade · Excerto da fonte:</a:t>
            </a:r>
          </a:p>
          <a:p>
            <a:r>
              <a:t>2.1.2 Não obstante as atribuições previstas neste Regulamento e na regulamentação aplicável, cabe  ao Gestor praticar os atos necessários à gestão da carteira de ativos do Fundo, o que inclui,  mas não se limita, à contratação, em nome do Fundo ou da classe de cot as, dos seguintes  serviços: (a) intermediação de operações para carteira de ativos; (b) distribuição de cotas; (c)  consultoria de investimentos ou consultoria especializada; (d) classificação de risco por agência  de classificação de risco de crédito; (e) f ormador de mercado de classe f echada; (f ) cogestão  da carteira de ativos; (g) empresa especializada para administrar as locações ou arrendamentos  de imóveis rurais e a exploração do direito de superf ície, assim como para monitorar e</a:t>
            </a:r>
          </a:p>
          <a:p>
            <a:r>
              <a:t>CNPJ 62696791000193 · Rating por subclasse e downgrade · Regulamento · ID 1143317 · 2026-03-20 · versão 1 · p. 36 · 1.2 · https://fnet.bmfbovespa.com.br/fnet/publico/visualizarDocumento?id=1143317</a:t>
            </a:r>
          </a:p>
          <a:p>
            <a:r>
              <a:t>CNPJ 62696791000193 · Rating por subclasse e downgrade · Excerto da fonte:</a:t>
            </a:r>
          </a:p>
          <a:p>
            <a:r>
              <a:t>1.2. As Cotas Subordinadas Juniores serão subscritas e integralizadas por um único Cotista e/ou por Cotistas  vinculados por interesse único e indissociável, de forma que serão objeto de colocação privada, nos termos  do Compromisso de Investimento a ser f irmado pelo Cotista, dispensadas da classificação de risco e não  terão parâmetro de remuneração def inido.</a:t>
            </a:r>
          </a:p>
          <a:p>
            <a:r>
              <a:t>2. Emissão, Subscrição e Integralização das Cotas</a:t>
            </a:r>
          </a:p>
          <a:p>
            <a:r>
              <a:t>CNPJ 62696791000193 · Rating por subclasse e downgrade · Condição: Documentos atuais selecionados no inventário por categoria/escopo; a data documental isolada não comprova vigência jurídica.</a:t>
            </a:r>
          </a:p>
          <a:p>
            <a:r>
              <a:t>CNPJ 62696791000193 · Rating por subclasse e downgrade · Versão e prevalência: Documentos atuais selecionados no inventário por categoria/escopo; a data documental isolada não comprova vigência jurídica.</a:t>
            </a:r>
          </a:p>
          <a:p>
            <a:r>
              <a:t>CNPJ 55563624000109 · Rating por subclasse e downgrade · Regulamento · ID 1192614 · 30/04/2026 · versão Regulamento30/04/2026 · p. 44 · GlossárioTermo de Adesão · https://fnet.bmfbovespa.com.br/fnet/publico/visualizarDocumento?id=1192614</a:t>
            </a:r>
          </a:p>
          <a:p>
            <a:r>
              <a:t>CNPJ 55563624000109 · Rating por subclasse e downgrade · Excerto da fonte:</a:t>
            </a:r>
          </a:p>
          <a:p>
            <a:r>
              <a:t>Termo de Adesão”: documento elaborado nos termos do art. 29 da Resolução CVM 175, por meio do qual o Cotista adere a este Regulamento e que deve ser firmado quando de seu ingresso no FUNDO, declarando, inclusive, sem se limitar a, ter pleno conhecimento dos riscos envolvidos na operação, inclusive da possibilidade de perda total do capital investido, e da ausência de classificação de risco das Cotas subscritas; “Valor Unitário”: o valor individual das Cotas, equivalente a R$ 1.000,00 (um mil), na primeira Data de Emissão, calculado todo Dia Útil para efeito da definição de seu valor de integralização e</a:t>
            </a:r>
          </a:p>
          <a:p>
            <a:r>
              <a:t>CNPJ 55563624000109 · Rating por subclasse e downgrade · Versão e prevalência: Leitura específica das cláusulas indicadas; condições e conflitos preservados. Seleção documental atual não comprova vigência jurídica por data isolada.</a:t>
            </a:r>
          </a:p>
          <a:p>
            <a:r>
              <a:t>CNPJ 55563624000109 · Rating por subclasse e downgrade · Resumo do histórico: {"count": 2, "dates": ["2025-01-31", "2026-01-31"], "document_count": 2, "sources": [{"document_id": "1178840", "title": "Demonstrações Financeiras", "reference_date": "2026-01-31", "version": "1", "page": 22, "url": "https://fnet.bmfbovespa.com.br/fnet/publico/visualizarDocumento?id=1178840", "sha256": "c458e98664c5c907ddb5a05a94b120bed4e05295b2bfc420f5ba69af0a229abe"}, {"document_id": "891861", "title": "Demonstrações Financeiras", "reference_date": "2025-01-31", "version": "1", "page": 23, "url": "https://fnet.bmfbovespa.com.br/fnet/publico/visualizarDocumento?id=891861", "sha256": "e9cb9e6ddbe505fe068cfcac33605165a98313489de0d3ce6d4d238263c3f3e7"}], "reference": {"path": "history/55563624000109.json", "criterion_id": "rating", "total_count": 2, "preview_count": 2, "full_text_deferred": true, "sha256": "7835d573fb58a3c19adf5b8ecc2aee2bdbb9a88f7a0c0209b5f262b64c7522e3"}}</a:t>
            </a:r>
          </a:p>
          <a:p>
            <a:r>
              <a:t>CNPJ 62552447000120 · Rating por subclasse e downgrade · Regulamento · ID 1200623 · 21/05/2026 · versão Consolidado21/05/2026 aprovado pelo ato1200625 · p. 19 · AnexoI6.11 · https://fnet.bmfbovespa.com.br/fnet/publico/visualizarDocumento?id=1200623</a:t>
            </a:r>
          </a:p>
          <a:p>
            <a:r>
              <a:t>CNPJ 62552447000120 · Rating por subclasse e downgrade · Excerto da fonte:</a:t>
            </a:r>
          </a:p>
          <a:p>
            <a:r>
              <a:t>6.11 As Cotas não serão objeto de classif icação de risco . CAPÍTULO 7 – AMORTIZAÇÃO DAS COTAS 7.1 A distribuição de quaisquer ganhos e rendimentos d a Classe aos Cotistas será f eita exclusivamente mediante a Amortização, observado o disposto neste Capítulo. 7.2 As Cotas poderão ser amortizadas através de uma Amortização programada, se houver, conforme prevista nos Apêndices, caso aplicável (“Amortização Programada”), e por meio amortização extraordinária das Cotas, a ser realizada por (a) por decisão do Gestor, para: (i) reenquadramento da Carteira ao mínimo de Direitos Creditórios que deve ser detido pel</a:t>
            </a:r>
          </a:p>
          <a:p>
            <a:r>
              <a:t>CNPJ 62552447000120 · Rating por subclasse e downgrade · Versão e prevalência: Leitura específica das cláusulas indicadas; condições e conflitos preservados. Seleção documental atual não comprova vigência jurídica por data isolada.</a:t>
            </a:r>
          </a:p>
          <a:p>
            <a:r>
              <a:t>CNPJ 63953620000165 · Rating por subclasse e downgrade · Anexo ao Regulamento · ID 1222863 · 02/06/2026 · versão AnexoConsignadoPrivado02/06/2026 · p. 11 · 6.14 · https://fnet.bmfbovespa.com.br/fnet/publico/visualizarDocumento?id=1222863</a:t>
            </a:r>
          </a:p>
          <a:p>
            <a:r>
              <a:t>CNPJ 63953620000165 · Rating por subclasse e downgrade · Excerto da fonte:</a:t>
            </a:r>
          </a:p>
          <a:p>
            <a:r>
              <a:t>6.14 As Cotas poderão ser objeto de classificação de risco pela contratada pelo Gestor, desde que em comum acordo entre Gestor e Cotistas Subordinados em Assembleia Especial de Cotistas (“Agência Classificadora de Risco”). CAPÍTULO 7 – AMORTIZAÇÃO DAS COTAS 7.1 A distribuição de quaisquer ganhos e rendimentos da Classe aos Cotistas será feita exclusivamente mediante a Amortização de Cotas, observado o disposto neste Capítulo e nos Apêndices. 7.2 As Cotas poderão ser amortizadas através de uma Amortização por Regime de Caixa, se houver conforme prevista nos Apêndices; e por meio amortização extraordinária das Cotas, a ser realiz</a:t>
            </a:r>
          </a:p>
          <a:p>
            <a:r>
              <a:t>CNPJ 63953620000165 · Rating por subclasse e downgrade · Versão e prevalência: Leitura específica das cláusulas indicadas; condições e conflitos preservados. Seleção documental atual não comprova vigência jurídica por data isolada.</a:t>
            </a:r>
          </a:p>
          <a:p>
            <a:r>
              <a:t>CNPJ 63953620000165 · Rating por subclasse e downgrade · Resumo do histórico: {"count": 8, "dates": ["2026-04-28", "2026-05-08", "2026-05-15"], "document_count": 3, "sources": [{"document_id": "1327859", "title": "Demonstrações Financeiras - Fusão, cisão e incorporação", "reference_date": "2026-05-15", "version": "1", "page": 29, "url": "https://fnet.bmfbovespa.com.br/fnet/publico/visualizarDocumento?id=1327859", "sha256": "dca1c68babb97f887528c3e2e47596a9c30f507b067981a35655b2f2da9c8054"}, {"document_id": "1298691", "title": "Demonstrações Financeiras - Fusão, cisão e incorporação", "reference_date": "2026-05-08", "version": "1", "page": 30, "url": "https://fnet.bmfbovespa.com.br/fnet/publico/visualizarDocumento?id=1298691", "sha256": "58c570d9b8d4d265330d3db3ea81c435b8e44a6dab4002aa37790652a1ee9819"}, {"document_id": "1282180", "title": "Demonstrações Financeiras - Fusão, cisão e incorporação", "reference_date": "2026-04-28", "version": "1", "page": 30, "url": "https://fnet.bmfbovespa.com.br/fnet/publico/visualizarDocumento?id=1282180", "sha256": "afaaa0e6809be4385e5bdb6c911aac582032c5bdbac3d7750234bf9eaf00438a"}], "reference": {"path": "history/63953620000165.json", "criterion_id": "rating",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Hedge e prestadores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Finalidade e limites de derivativos · Regulamento · ID 670691 · 28/04/2024 · versão Regulamento — referência 28/04/2024 · p. 13 · Anexo I, 4.15–4.16 · https://fnet.bmfbovespa.com.br/fnet/publico/visualizarDocumento?id=670691</a:t>
            </a:r>
          </a:p>
          <a:p>
            <a:r>
              <a:t>CNPJ 54871427000194 · Finalidade e limites de derivativos · Excerto da fonte:</a:t>
            </a:r>
          </a:p>
          <a:p>
            <a:r>
              <a:t>4.15 A Classe poderá utilizar instrumentos derivativos, desde que com o objetivo de proteção patrimonial, ou, desde que não resulte em exposição a risco de capital, conforme definida no inciso XXIV Art. 3º da parte geral da Resolução CVM 175, troca de indexador a que os ativos estão indexados . 4.16 A Classe não realizará operações de day trade, assim consideradas aquelas iniciadas e encerradas no mesmo dia, independentemente de a Classe possuir estoque ou posição anterior do mesmo Ativo Financeiro. 4.17 É vedada qualquer forma de antecipação de recursos aos Endossantes para posterior reembolso pela Classe, seja pelo ADMINISTRADOR, GESTOR, CUSTODIANTE, consultora ou Originadores. 4.18 Exceto na medida em que eventualmente previsto nos Contratos de Cessão e/ou em instrumentos eventualmente celebrados entre a Classe e os Endossantes, os Endossantes não serão responsáveis em caso de eventual inadimplemento dos Direitos Creditórios por eles cedidos, sendo responsáveis, não obstante, apenas pela existência, certeza, conteúdo, exatidão, veracidade, legitimidade, validade e correta f ormalização dos Direitos Creditórios que cederem à Classe, nos termos da</a:t>
            </a:r>
          </a:p>
          <a:p>
            <a:r>
              <a:t>CNPJ 54871427000194 · Finalidade e limites de derivativos · Versão e prevalência: Leitura específica das cláusulas indicadas; condições e conflitos preservados. Seleção documental atual não comprova vigência jurídica por data isolada.</a:t>
            </a:r>
          </a:p>
          <a:p>
            <a:r>
              <a:t>CNPJ 54871427000194 · Finalidade e limites de derivativos · Resumo do histórico: {"count": 2, "dates": ["2024-04-19", "2024-04-28"], "document_count": 2, "sources": [{"document_id": "670691", "title": "Regulamento", "reference_date": "2024-04-28", "version": "1", "page": "13", "url": "https://fnet.bmfbovespa.com.br/fnet/publico/visualizarDocumento?id=670691", "sha256": "bf16dd7f1a62d5cdbf2e2d54fef81783783f7310fbc99c3a8f00459bdf9d037b"}, {"document_id": "670689", "title": "Regulamento", "reference_date": "2024-04-19", "version": "1", "page": 13, "clause": "4.15", "url": "https://fnet.bmfbovespa.com.br/fnet/publico/visualizarDocumento?id=670689", "sha256": "891bc9bc5d87bbc02ec139077a84d2702eb81ea02035fb71d24f5b8366b94a0b"}], "reference": {"path": "history/54871427000194.json", "criterion_id": "hedge", "total_count": 2, "preview_count": 2, "full_text_deferred": true, "sha256": "35d7cd99be50c7287c9fb675cf4f2e736002315295a225a9efa79c8d9186d874"}}</a:t>
            </a:r>
          </a:p>
          <a:p>
            <a:r>
              <a:t>CNPJ 60010416000112 · Finalidade e limites de derivativos · Regulamento · ID 1051393 · 2025-10-09 · versão 1 · p. 12 · 4.9 · https://fnet.bmfbovespa.com.br/fnet/publico/visualizarDocumento?id=1051393</a:t>
            </a:r>
          </a:p>
          <a:p>
            <a:r>
              <a:t>CNPJ 60010416000112 · Finalidade e limites de derivativos · Excerto da fonte:</a:t>
            </a:r>
          </a:p>
          <a:p>
            <a:r>
              <a:t>4.9 Sem prejuízo de limites mais restritivos definidos neste Regulamento, o Gestor deverá observar, ainda, os  seguintes limites de concentração para a composição da Carteira:</a:t>
            </a:r>
          </a:p>
          <a:p>
            <a:r>
              <a:t> (i ) Até 100% (cem por cento) da parcela do Patrimônio Líquido investida em Ativos  Financeiros de Liquidez poderá ser alocada em Ativos Financeiros de Liquidez de  emissão ou que envolvam retenção de risco por parte do Administrador, Gestor, e/ou  suas partes relacionadas; e</a:t>
            </a:r>
          </a:p>
          <a:p>
            <a:r>
              <a:t> (ii) Até 100% (cem por cento) da parcela do Patrimônio Líquido investida em operações  com derivativos poderá ser alocada em derivativos nos quais, inexistindo contraparte  central, se tenha como contraparte o Gestor e/ou suas partes relacionadas.</a:t>
            </a:r>
          </a:p>
          <a:p>
            <a:r>
              <a:t>CNPJ 60010416000112 · Finalidade e limites de derivativos · Regulamento · ID 1051393 · 2025-10-09 · versão 1 · p. 13 · 4.15 · https://fnet.bmfbovespa.com.br/fnet/publico/visualizarDocumento?id=1051393</a:t>
            </a:r>
          </a:p>
          <a:p>
            <a:r>
              <a:t>CNPJ 60010416000112 · Finalidade e limites de derivativos · Excerto da fonte:</a:t>
            </a:r>
          </a:p>
          <a:p>
            <a:r>
              <a:t>4.15 A Classe poderá utilizar instrumentos derivativos, observados os limites de concentração previstos neste  Regulamento, desde que com o objetivo de proteção patrimonial, ou, desde que não resulte em exposição  a risco de capital, conforme definida no inciso XXIV do Art. 3º da parte geral da Resolução CVM 175, troca  de indexador a que os ativos estão indexados e o índice de ref erência de cada Subclasse.</a:t>
            </a:r>
          </a:p>
          <a:p>
            <a:r>
              <a:t>CNPJ 60010416000112 · Finalidade e limites de derivativos · Regulamento · ID 1051393 · 2025-10-09 · versão 1 · p. 16 · 7.11 · https://fnet.bmfbovespa.com.br/fnet/publico/visualizarDocumento?id=1051393</a:t>
            </a:r>
          </a:p>
          <a:p>
            <a:r>
              <a:t>CNPJ 60010416000112 · Finalidade e limites de derivativos · Excerto da fonte:</a:t>
            </a:r>
          </a:p>
          <a:p>
            <a:r>
              <a:t>7.11 Sem prejuízo do disposto do disposto nos itens 7.1 a 7.10 acima, a partir da Data da 1ª Integralização de  Cotas até a liquidação integral das Obrigações da Classe, sempre preservando a manutenção da boa  ordem legal, administrativa e operacional da Classe, o Gestor obriga-se a utilizar os recursos disponíveis  na Conta de Movimentação da Classe e/ou mantidos em Ativos Financeiros de Liquidez, em cada Dia Útil,  de acordo com a seguinte ordem de prioridade de alocação, na forma dos itens e tabela abaixo, de modo  que cada um dos itens listado apenas será contemplado após o direcionamento do montante total  necessário para a satisfação dos itens anteriores, ressalvado, enquanto em curso um Evento de Avaliação  e/ou um Evento de Liquidação, o disposto no item 11.4.1 abaixo</a:t>
            </a:r>
          </a:p>
          <a:p>
            <a:r>
              <a:t> (i) entradas de recursos provenientes da integralização de Cotas e dos Direitos Creditórios e  Ativos Financeiros de Liquidez que compõem a carteira da Classe, durante o Período de  Investimento, na seguinte ordem:</a:t>
            </a:r>
          </a:p>
          <a:p>
            <a:r>
              <a:t> a. pagamento dos Encargos;</a:t>
            </a:r>
          </a:p>
          <a:p>
            <a:r>
              <a:t> b. pagamento de despesas relativas aos instrumentos derivativos, conf orme aplicável;</a:t>
            </a:r>
          </a:p>
          <a:p>
            <a:r>
              <a:t> c. aquisição de Direitos Creditórios, sempre que ofertado, em moeda corrente nacional, em  conf ormidade com a Política de Investimento descrita neste Regulamento, sem prejuízo  do disposto no item 4.12 acima; e  d. aquisição de Ativos Financeiros de Liquidez, observando-se a Política de Investimentos.</a:t>
            </a:r>
          </a:p>
          <a:p>
            <a:r>
              <a:t> (ii) entradas de recursos provenientes dos Direitos Creditórios e Ativos Financeiros de Liquidez  que compõem a carteira da Classe, após o término do Período de Investimento, na seguinte  ordem, observadas as seguintes condições:</a:t>
            </a:r>
          </a:p>
          <a:p>
            <a:r>
              <a:t> a. pagamento dos Encargos;</a:t>
            </a:r>
          </a:p>
          <a:p>
            <a:r>
              <a:t> b. pagamento de despesas relativas aos instrumentos derivativos, conf orme aplicável;</a:t>
            </a:r>
          </a:p>
          <a:p>
            <a:r>
              <a:t> c. pagamento da amortização do principal e dos rendimentos acumulados relacionados às  Cotas Seniores, de modo que, considerando, pro f orma, todas as amortizações  pretendidas, o percentual empregado para amortização das Cotas Seniores seja  equivalente à relação entre o Patrimônio Líquido Sênior dividido pelo Patrimônio Líquido  da Classe, com a devida observância dos termos e condições deste Regulamento, do  Apêndice e do Suplemento das Cotas Seniores;</a:t>
            </a:r>
          </a:p>
          <a:p>
            <a:r>
              <a:t> d. pagamento da amortização do principal e dos rendimentos acumulados relacionados às  Cotas Subordinadas, de modo que, considerando, pro f orma, todas as amortizações  pretendidas, o percentual empregado para amortização das Cotas Subordinadas seja  equivalente à relação entre o Patrimônio Líquido Subordinado dividido pelo Patrimônio  Líquido da Classe, com a devida observância dos termos e condições deste  Regulamento, do Apêndice e do Suplemento das Cotas Seniores e desde que  respeitados o Índice de Subordinação;</a:t>
            </a:r>
          </a:p>
          <a:p>
            <a:r>
              <a:t> e. aquisição de Ativos Financeiros, observado o limite de alocação previsto no item 4.7  deste Anexo I.</a:t>
            </a:r>
          </a:p>
          <a:p>
            <a:r>
              <a:t>CNPJ 60010416000112 · Finalidade e limites de derivativos · Condição: Documentos atuais selecionados no inventário por categoria/escopo; a data documental isolada não comprova vigência jurídica.</a:t>
            </a:r>
          </a:p>
          <a:p>
            <a:r>
              <a:t>CNPJ 60010416000112 · Finalidade e limites de derivativos · Versão e prevalência: Documentos atuais selecionados no inventário por categoria/escopo; a data documental isolada não comprova vigência jurídica.</a:t>
            </a:r>
          </a:p>
          <a:p>
            <a:r>
              <a:t>CNPJ 60010416000112 · Finalidade e limites de derivativos · Resumo do histórico: {"count": 2, "dates": ["2025-03-20", "2025-10-09"], "document_count": 2, "sources": [{"document_id": "1051393", "title": "Regulamento", "reference_date": "2025-10-09", "version": "1", "page": "13", "url": "https://fnet.bmfbovespa.com.br/fnet/publico/visualizarDocumento?id=1051393", "sha256": "8469d613078ffd5a6c1d217885d8a397a16342c0b937ae4aa24b106505f233ae"}, {"document_id": "993786", "title": "Regulamento", "reference_date": "2025-03-20", "version": "1", "page": 12, "clause": "4.9", "url": "https://fnet.bmfbovespa.com.br/fnet/publico/visualizarDocumento?id=993786", "sha256": "fd0fdd369a195510d81f81f505195a0b09e5f43522a990afa7d58c4f872921c8"}], "reference": {"path": "history/60010416000112.json", "criterion_id": "hedge", "total_count": 2, "preview_count": 2, "full_text_deferred": true, "sha256": "8e2bd813f4c51cf01f6bfaad164bafe69d2bbb192f753eac92da3a01c2e63046"}}</a:t>
            </a:r>
          </a:p>
          <a:p>
            <a:r>
              <a:t>CNPJ 62696791000193 · Finalidade e limites de derivativos · Regulamento · ID 1143317 · 20/03/2026 · versão Regulamento — referência 20/03/2026 · p. 15 · Anexo I, 4.28 e 4.30(i) · https://fnet.bmfbovespa.com.br/fnet/publico/visualizarDocumento?id=1143317</a:t>
            </a:r>
          </a:p>
          <a:p>
            <a:r>
              <a:t>CNPJ 62696791000193 · Finalidade e limites de derivativos · Excerto da fonte:</a:t>
            </a:r>
          </a:p>
          <a:p>
            <a:r>
              <a:t>4.28 A Classe pode aplicar recursos em instrumentos financeiros derivativos, exclusivamente para fins de proteção patrimonial, cuja exposição seja sempre, no máximo, o valor do Patrimônio Líquido. 4.29 A Classe pode emprestar ativos f inanceiros e valores mobiliários, desde que tais operações de empréstimo sejam cursadas exclusivamente por meio de serviço autorizado pelo Banco Central do Brasil ou pela CVM. 4.30 É vedado à Classe: (i) aplicar no exterior recursos captados no País; (ii) salvo aprovação em assembleia de Cotistas, a realização de operações quando caracterizada situação de conf lito de interesses entre: (a) a Classe, o Administrador ou o Gestor ou a Consultoria Especializada; (b) a Classe e os Cotistas que detenham participação correspondente a, no mínimo, 10% (dez por cento) do patrimônio da Classe; e (c) a Classe e o representante dos Cotistas; (iii) a aplicação de recursos em sociedades nas quais participem o Administrador, o Gestor, os consultores, os membros de comitês ou conselhos e os Cotistas titulares de Cotas representativas de 5% (cinco por cento) do patri</a:t>
            </a:r>
          </a:p>
          <a:p>
            <a:r>
              <a:t>CNPJ 62696791000193 · Finalidade e limites de derivativos · Regulamento · ID 1143317 · 20/03/2026 · versão Regulamento — referência 20/03/2026 · p. 27 · Anexo I, 12.11(x) · https://fnet.bmfbovespa.com.br/fnet/publico/visualizarDocumento?id=1143317</a:t>
            </a:r>
          </a:p>
          <a:p>
            <a:r>
              <a:t>CNPJ 62696791000193 · Finalidade e limites de derivativos · Excerto da fonte:</a:t>
            </a:r>
          </a:p>
          <a:p>
            <a:r>
              <a:t>(x) realizar operações com derivativos, exceto quando tais operações f orem realizadas exclusivamente para f ins de proteção patrimonial e desde que a exposição seja sempre, no máximo, o valor do Patrimônio Líquido. 12.11.1 A vedação prevista no item (v) acima não impede a aquisição de imóveis sobre os quais tenham sido constituídos ônus reais anteriormente ao seu ingresso no patrimônio . 12.12 É vedado ao Gestor o recebimento de qualquer remuneração, benefício ou vantagem, direta ou indiretamente, que potencialmente prejudique sua independência na tomada de decisão. Consultoria Especializada 12.13 O Gestor, conforme disposto no Anexo Normativo VI da Resolução 175, poderá contratar Consultoria Especializada para que preste os seguintes serviços (“Consultoria Especializada”): (i) Analisar, selecionar, avaliar e acompanhar, de acordo com a Política de Investimentos deste Anexo, os ativos integrantes ou que possam vir a integrar a carteira da classe do Fundo; (ii) Participar de negociações e propor negócios à classe, observada a Política de Investimentos constante deste Anexo;</a:t>
            </a:r>
          </a:p>
          <a:p>
            <a:r>
              <a:t>CNPJ 62696791000193 · Finalidade e limites de derivativos · Versão e prevalência: Leitura específica das cláusulas indicadas; condições e conflitos preservados. Seleção documental atual não comprova vigência jurídica por data isolada.</a:t>
            </a:r>
          </a:p>
          <a:p>
            <a:r>
              <a:t>CNPJ 55563624000109 · Finalidade e limites de derivativos · Regulamento · ID 1192614 · 2026-04-30 · versão 1 · p. 14 · 4.21 · https://fnet.bmfbovespa.com.br/fnet/publico/visualizarDocumento?id=1192614</a:t>
            </a:r>
          </a:p>
          <a:p>
            <a:r>
              <a:t>CNPJ 55563624000109 · Finalidade e limites de derivativos · Excerto da fonte:</a:t>
            </a:r>
          </a:p>
          <a:p>
            <a:r>
              <a:t>4.21 A Classe poderá utilizar instrumentos derivativos, desde que com o objetivo de proteção patrimonial, ou, desde  que não resulte em exposição a risco de capital, conforme definida no inciso XXIV do Art. 3º da parte geral da  Resolução CVM 175 ou em troca de indexador a que os ativos estão indexados.</a:t>
            </a:r>
          </a:p>
          <a:p>
            <a:r>
              <a:t>CNPJ 55563624000109 · Finalidade e limites de derivativos · Regulamento · ID 1192614 · 2026-04-30 · versão 1 · p. 39 · https://fnet.bmfbovespa.com.br/fnet/publico/visualizarDocumento?id=1192614</a:t>
            </a:r>
          </a:p>
          <a:p>
            <a:r>
              <a:t>CNPJ 55563624000109 · Finalidade e limites de derivativos · Excerto da fonte:</a:t>
            </a:r>
          </a:p>
          <a:p>
            <a:r>
              <a:t>(xxii) Operações com derivativos. A Classe poderá realizar operações com derivativos  exclusivamente com o objetivo de proteção patrimonial. As operações com derivativos, pela sua  própria natureza, acrescentam riscos à Carteira e poderão afetar negativamente a sua rentabilidade,  até o limite do Patrimônio Líquido.</a:t>
            </a:r>
          </a:p>
          <a:p>
            <a:r>
              <a:t>CNPJ 55563624000109 · Finalidade e limites de derivativos · Condição: Documentos atuais selecionados no inventário por categoria/escopo; a data documental isolada não comprova vigência jurídica.</a:t>
            </a:r>
          </a:p>
          <a:p>
            <a:r>
              <a:t>CNPJ 55563624000109 · Finalidade e limites de derivativos · Versão e prevalência: Documentos atuais selecionados no inventário por categoria/escopo; a data documental isolada não comprova vigência jurídica.</a:t>
            </a:r>
          </a:p>
          <a:p>
            <a:r>
              <a:t>CNPJ 55563624000109 · Finalidade e limites de derivativos · Resumo do histórico: {"count": 3, "dates": ["2025-01-31", "2026-01-31", "2026-04-30"], "document_count": 3, "sources": [{"document_id": "1192614", "title": "Regulamento", "reference_date": "2026-04-30", "version": "1", "page": "14", "url": "https://fnet.bmfbovespa.com.br/fnet/publico/visualizarDocumento?id=1192614", "sha256": "f56e63ace0acde41d2f47fb48f1ac7f3f7df5e2d32de092d7c5e075a52516632"}, {"document_id": "1178840", "title": "Demonstrações Financeiras", "reference_date": "2026-01-31", "version": "1", "page": 25, "url": "https://fnet.bmfbovespa.com.br/fnet/publico/visualizarDocumento?id=1178840", "sha256": "c458e98664c5c907ddb5a05a94b120bed4e05295b2bfc420f5ba69af0a229abe"}, {"document_id": "891861", "title": "Demonstrações Financeiras", "reference_date": "2025-01-31", "version": "1", "page": 26, "url": "https://fnet.bmfbovespa.com.br/fnet/publico/visualizarDocumento?id=891861", "sha256": "e9cb9e6ddbe505fe068cfcac33605165a98313489de0d3ce6d4d238263c3f3e7"}], "reference": {"path": "history/55563624000109.json", "criterion_id": "hedge", "total_count": 3, "preview_count": 3, "full_text_deferred": true, "sha256": "7835d573fb58a3c19adf5b8ecc2aee2bdbb9a88f7a0c0209b5f262b64c7522e3"}}</a:t>
            </a:r>
          </a:p>
          <a:p>
            <a:r>
              <a:t>CNPJ 62552447000120 · Finalidade e limites de derivativos · Regulamento · ID 1200623 · 21/05/2026 · versão Consolidado21/05/2026 aprovado pelo ato1200625 · p. 14 · AnexoI4.10.1 · https://fnet.bmfbovespa.com.br/fnet/publico/visualizarDocumento?id=1200623</a:t>
            </a:r>
          </a:p>
          <a:p>
            <a:r>
              <a:t>CNPJ 62552447000120 · Finalidade e limites de derivativos · Excerto da fonte:</a:t>
            </a:r>
          </a:p>
          <a:p>
            <a:r>
              <a:t>4.10.1 O uso de derivativos está restrito a operações que visem à proteção patrimonial ou, desde que não resulte em exposição a risco de capital, à troca de indexador e/ou do índice de referência. 4.11 Sem prejuízo de limites mais restritivos definidos neste Regulamento, o Gestor deverá observar, ainda, os seguintes limites de concentração para a composição da Carteira: (i) Até 100% (cem por cento) da parcela do Patrimônio Líquido investida em Direitos Creditórios poderão ser alocados em Direitos Creditórios originados ou cedidos pelo Administrador, Gestor e</a:t>
            </a:r>
          </a:p>
          <a:p>
            <a:r>
              <a:t>CNPJ 62552447000120 · Finalidade e limites de derivativos · Motivo: Cláusula primária localizada e citada, mas sua lista/condições extensas não admitem uma síntese literal curta confirmada. O trecho integral permanece nas fontes.</a:t>
            </a:r>
          </a:p>
          <a:p>
            <a:r>
              <a:t>CNPJ 62552447000120 · Finalidade e limites de derivativos · Versão e prevalência: Leitura específica das cláusulas indicadas; condições e conflitos preservados. Seleção documental atual não comprova vigência jurídica por data isolada.</a:t>
            </a:r>
          </a:p>
          <a:p>
            <a:r>
              <a:t>CNPJ 63953620000165 · Finalidade e limites de derivativos · Anexo ao Regulamento · ID 1222863 · 2026-06-02 · versão 1 · p. 7 · https://fnet.bmfbovespa.com.br/fnet/publico/visualizarDocumento?id=1222863</a:t>
            </a:r>
          </a:p>
          <a:p>
            <a:r>
              <a:t>CNPJ 63953620000165 · Finalidade e limites de derivativos · Excerto da fonte:</a:t>
            </a:r>
          </a:p>
          <a:p>
            <a:r>
              <a:t>Anexo I ao Regulamento  CLASSE CONSIGNADO PRIVADO DO MT GLOBAL FUNDO DE INVESTIMENTO EM DIREITOS  CREDITÓRIOS RESPONSABILIDADE LIMITADA</a:t>
            </a:r>
          </a:p>
          <a:p>
            <a:r>
              <a:t> (i)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 (ii) No máximo, 50% (cinquenta por cento) do Patrimônio Líquido investido em Ativos Financeiros  de Liquidez de emissão ou que envolvam retenção de risco por parte do Administrador, Gestor,  e/ou suas partes relacionadas, observado ainda o disposto acima;</a:t>
            </a:r>
          </a:p>
          <a:p>
            <a:r>
              <a:t> (iii) No máximo, 100% (cem por cento) do Patrimônio Líquido investido em operações com  derivativos nos quais, inexistindo contraparte central, se tenha como contraparte o Gestor,  Consultora e/ou suas partes relacionadas, observado ainda o disposto acima;</a:t>
            </a:r>
          </a:p>
          <a:p>
            <a:r>
              <a:t> (iv) A Classe poderá investir até 100% (cem por cento) de seu Patrimônio Líquido em Direitos  Creditórios Não-Padronizados;</a:t>
            </a:r>
          </a:p>
          <a:p>
            <a:r>
              <a:t> (v) É vedada a aquisição de precatórios federais.</a:t>
            </a:r>
          </a:p>
          <a:p>
            <a:r>
              <a:t>CNPJ 63953620000165 · Finalidade e limites de derivativos · Condição: Documentos atuais selecionados no inventário por categoria/escopo; a data documental isolada não comprova vigência jurídica.</a:t>
            </a:r>
          </a:p>
          <a:p>
            <a:r>
              <a:t>CNPJ 63953620000165 · Finalidade e limites de derivativos · Motivo: Cláusula primária localizada e citada, mas sua lista/condições extensas não admitem uma síntese literal curta confirmada. O trecho integral permanece nas fontes.</a:t>
            </a:r>
          </a:p>
          <a:p>
            <a:r>
              <a:t>CNPJ 63953620000165 · Finalidade e limites de derivativos · Versão e prevalência: Documentos atuais selecionados no inventário por categoria/escopo; a data documental isolada não comprova vigência jurídica.</a:t>
            </a:r>
          </a:p>
          <a:p>
            <a:r>
              <a:t>CNPJ 63953620000165 · Finalidade e limites de derivativos · Resumo do histórico: {"count": 8, "dates": ["2026-04-28", "2026-05-08", "2026-05-15"], "document_count": 3, "sources": [{"document_id": "1327859", "title": "Demonstrações Financeiras - Fusão, cisão e incorporação", "reference_date": "2026-05-15", "version": "1", "page": 26, "url": "https://fnet.bmfbovespa.com.br/fnet/publico/visualizarDocumento?id=1327859", "sha256": "dca1c68babb97f887528c3e2e47596a9c30f507b067981a35655b2f2da9c8054"}, {"document_id": "1298691", "title": "Demonstrações Financeiras - Fusão, cisão e incorporação", "reference_date": "2026-05-08", "version": "1", "page": 26, "url": "https://fnet.bmfbovespa.com.br/fnet/publico/visualizarDocumento?id=1298691", "sha256": "58c570d9b8d4d265330d3db3ea81c435b8e44a6dab4002aa37790652a1ee9819"}, {"document_id": "1282180", "title": "Demonstrações Financeiras - Fusão, cisão e incorporação", "reference_date": "2026-04-28", "version": "1", "page": 27, "url": "https://fnet.bmfbovespa.com.br/fnet/publico/visualizarDocumento?id=1282180", "sha256": "afaaa0e6809be4385e5bdb6c911aac582032c5bdbac3d7750234bf9eaf00438a"}], "reference": {"path": "history/63953620000165.json", "criterion_id": "hedge", "total_count": 8, "preview_count": 3, "full_text_deferred": true, "sha256": "a7b89077f5e21098c2d601c303faabc3ff6b9729f89d8afecdc60fe1404720c1"}}</a:t>
            </a:r>
          </a:p>
          <a:p>
            <a:r>
              <a:t>CNPJ 54871427000194 · Prioridade do hedge e reserva de MTM · Motivo: Não localizada uma cláusula material para este critério nos textos identificados e processados. A ausência de resultado não comprova inexistência da regra.</a:t>
            </a:r>
          </a:p>
          <a:p>
            <a:r>
              <a:t>CNPJ 60010416000112 · Prioridade do hedge e reserva de MTM · Motivo: Não localizada uma cláusula material para este critério nos textos identificados e processados. A ausência de resultado não comprova inexistência da regra.</a:t>
            </a:r>
          </a:p>
          <a:p>
            <a:r>
              <a:t>CNPJ 62696791000193 · Prioridade do hedge e reserva de MTM · Motivo: Não localizada uma cláusula material para este critério nos textos identificados e processados. A ausência de resultado não comprova inexistência da regra.</a:t>
            </a:r>
          </a:p>
          <a:p>
            <a:r>
              <a:t>CNPJ 55563624000109 · Prioridade do hedge e reserva de MTM · Motivo: Não localizada uma cláusula material para este critério nos textos identificados e processados. A ausência de resultado não comprova inexistência da regra.</a:t>
            </a:r>
          </a:p>
          <a:p>
            <a:r>
              <a:t>CNPJ 62552447000120 · Prioridade do hedge e reserva de MTM · Motivo: Não localizada uma cláusula material para este critério nos textos identificados e processados. A ausência de resultado não comprova inexistência da regra.</a:t>
            </a:r>
          </a:p>
          <a:p>
            <a:r>
              <a:t>CNPJ 63953620000165 · Prioridade do hedge e reserva de MTM · Motivo: Não localizada uma cláusula material para este critério nos textos identificados e processados. A ausência de resultado não comprova inexistência da regra.</a:t>
            </a:r>
          </a:p>
          <a:p>
            <a:r>
              <a:t>CNPJ 54871427000194 · Administrador, gestor e custodiante · Regulamento · ID 670691 · 2024-04-28 · versão 1 · p. 1 · 1.1 · https://fnet.bmfbovespa.com.br/fnet/publico/visualizarDocumento?id=670691</a:t>
            </a:r>
          </a:p>
          <a:p>
            <a:r>
              <a:t>CNPJ 54871427000194 · Administrador, gestor e custodiante · Excerto da fonte:</a:t>
            </a:r>
          </a:p>
          <a:p>
            <a:r>
              <a:t>1.1 CONSIGNADO DELTA RECEIVABLES I FUNDO DE INVESTIMENTO EM DIREITOS CREDITÓRIOS  (“FUNDO”), regido pela Lei nº 10.406, de 10 de janeiro de 2002, conf orme alterada (“Código Civil”),  pela parte geral e o Anexo Normativo II da Resolução nº 175, de 23 de dezembro de 2022, conforme  alterada, da Comissão de Valores Mobiliários (respectivamente, “CVM” e “Resolução CVM 175”), terá  como principais características:</a:t>
            </a:r>
          </a:p>
          <a:p>
            <a:r>
              <a:t> Classe de Cotas Classe única.</a:t>
            </a:r>
          </a:p>
          <a:p>
            <a:r>
              <a:t> Indeterminado, exceto se de outra f orma vier a ser deliberado pelos cotistas  Prazo de Duração  reunidos em assembleia geral de cotistas.</a:t>
            </a:r>
          </a:p>
          <a:p>
            <a:r>
              <a:t> BTG Pactual Serviços Financeiros S.A. Distribuidora de Títulos e Valores  Mobiliários, instituição f inanceira, com sede na Cidade e Estado do Rio de  Janeiro, na Praia de Botafogo, nº 501, 5º andar (parte), Torre Corcovado,  ADMINISTRADOR  Botafogo, CEP 22250-040, inscrita no CNPJ sob o nº 59.281.253/0001-23 e  credenciada como administradora de carteira, de acordo com o Ato Declaratório  CVM nº 8.695, de 20 de março de 2006 (“ADMINISTRADOR”).</a:t>
            </a:r>
          </a:p>
          <a:p>
            <a:r>
              <a:t> BTG Pactual Asset Management S.A. Distribuidora de Títulos e Valores  Mobiliários, inscrita no CNPJ/ME sob o nº 29.650.082/0001-00, com sede  Cidade e Estado do Rio de Janeiro, na Praia de Botafogo, n.º 501, 5° andar,  devidamente autorizada à prestação dos serviços de administração de carteira  GESTOR  de títulos e valores mobiliários por meio d o Ato Declaratório número 5.968,  expedido em 10 de maio de 2000 (“GESTOR” e, quando ref erido  conjuntamente e indistintamente com o ADMINISTRADOR, os “Prestadores  de Serviços Essenciais”).</a:t>
            </a:r>
          </a:p>
          <a:p>
            <a:r>
              <a:t> O FUNDO, seus cotistas, os distribuidores de cotas por conta e ordem, seu  GESTOR, seu ADMINISTRADOR e os demais prestadores de serviço do  FUNDO e/ou da CLASSE obrigam-se a resolver, por meio de arbitragem, de  acordo com o Regulamento de Arbitragem da Câmara de Arbitragem do  Mercado da B3 (“Regulamento CAM B3” e “CAM B3”, respectivamente), toda  e qualquer disputa ou controvérsia que possa surgir entre eles, relacionada ou  oriunda, em especial, da aplicação, validade, eficácia, interpretação, violação  e seus ef eitos, das disposições contidas no Regulamento e seus Anexos, nas  normas editadas pela CVM que lhe sejam aplicáveis e nos instrumentos entre  si f irmados (“Arbitragem”).</a:t>
            </a:r>
          </a:p>
          <a:p>
            <a:r>
              <a:t> (i) A Arbitragem será de direito, com a aplicação das normas da República  Federativa do Brasil, terá sede no Município de São Paulo, será  Foro Aplicável conduzida em língua portuguesa e de f orma confidencial. O tribunal  arbitral será constituído por 3 (três) árbitros, sendo um deles  presidente, escolhidos nos termos do Regulamento CAM B3.</a:t>
            </a:r>
          </a:p>
          <a:p>
            <a:r>
              <a:t> (ii) As despesas processuais iniciais deverão ser rateadas entre as partes,  arcando cada polo processual com metade dos valores necessários,  sem prejuízo à possibilidade de adiantamento pelas partes  interessadas, resolvendo-se as indef inições nos termos do  Regulamento CAM B3. A sentença arbitral deverá determinar a  responsabilidade final pelas despesas de acordo com a sucumbência  de cada parte, as quais deverão incluir as taxas administrativas,  honorários de árbitros e de peritos e despesas com diligências  processuais e f ornecimento de garantias que sejam determinadas  expressamente pelo tribunal arbitral. É vedada a imposição de  honorários de sucumbência, bem como a determinação de indenização</a:t>
            </a:r>
          </a:p>
          <a:p>
            <a:r>
              <a:t>CNPJ 54871427000194 · Administrador, gestor e custodiante · Regulamento · ID 670691 · 2024-04-28 · versão 1 · p. 7 · https://fnet.bmfbovespa.com.br/fnet/publico/visualizarDocumento?id=670691</a:t>
            </a:r>
          </a:p>
          <a:p>
            <a:r>
              <a:t>CNPJ 54871427000194 · Administrador, gestor e custodiante · Excerto da fonte:</a:t>
            </a:r>
          </a:p>
          <a:p>
            <a:r>
              <a:t>Banco BTG Pactual S.A., instituição f inanceira, com sede na Cidade e  Estado do Rio de Janeiro, na Praia de Botafogo, nº 501, 5º andar (parte),  Custódia Torre Corcovado, Botafogo, CEP 22250-040, inscrita no CNPJ sob o nº</a:t>
            </a:r>
          </a:p>
          <a:p>
            <a:r>
              <a:t> 30.306.294/0001-45 e credenciado como custodiante, de acordo com o  Ato Declaratório nº 7.204, de 25 de abril de 2003 (“CUSTODIANTE”).</a:t>
            </a:r>
          </a:p>
          <a:p>
            <a:r>
              <a:t> Tesouraria, Controladoria e ADMINISTRADOR.</a:t>
            </a:r>
          </a:p>
          <a:p>
            <a:r>
              <a:t> Escrituração  Subclasses Única.</a:t>
            </a:r>
          </a:p>
          <a:p>
            <a:r>
              <a:t>CNPJ 54871427000194 · Administrador, gestor e custodiante · Regulamento · ID 670691 · 2024-04-28 · versão 1 · p. 38 · https://fnet.bmfbovespa.com.br/fnet/publico/visualizarDocumento?id=670691</a:t>
            </a:r>
          </a:p>
          <a:p>
            <a:r>
              <a:t>CNPJ 54871427000194 · Administrador, gestor e custodiante · Excerto da fonte:</a:t>
            </a:r>
          </a:p>
          <a:p>
            <a:r>
              <a:t>“ADMINISTRADOR”: BTG Pactual Serviços Financeiros S.A. Distribuidora de Títulos e Valores Mobiliários, instituição com sede no Município do Rio de Janeiro, Estado do Rio de Janeiro, à Praia de Botafogo, nº 501, 5º andar – parte, inscrita no CNPJ sob o nº 59.281.253/0001-23, autorizada a funcionar pelo BACEN e autorizada pela CVM para a atividade de administração de carteiras de valores mobiliários, de acordo com o Ato Declaratório nº 8.695, de 20 de março de 2006, ou seu sucessor a qualquer título ;</a:t>
            </a:r>
          </a:p>
          <a:p>
            <a:r>
              <a:t>CNPJ 54871427000194 · Administrador, gestor e custodiante · Condição: Documentos atuais selecionados no inventário por categoria/escopo; a data documental isolada não comprova vigência jurídica.</a:t>
            </a:r>
          </a:p>
          <a:p>
            <a:r>
              <a:t>CNPJ 54871427000194 · Administrador, gestor e custodiante · Versão e prevalência: Documentos atuais selecionados no inventário por categoria/escopo; a data documental isolada não comprova vigência jurídica.</a:t>
            </a:r>
          </a:p>
          <a:p>
            <a:r>
              <a:t>CNPJ 54871427000194 · Administrador, gestor e custodiante · Resumo do histórico: {"count": 2, "dates": ["2024-04-19"], "document_count": 2, "sources": [{"document_id": "670687", "title": "Instrumento Particular de Constituição/Encerramento do Fundo", "reference_date": "2024-04-19", "version": "1", "page": 1, "url": "https://fnet.bmfbovespa.com.br/fnet/publico/visualizarDocumento?id=670687", "sha256": "999f2a47d39f7022b0fcee3d16fd1db33948537b897e92c4c9e14b436bf5eb96"}, {"document_id": "670689", "title": "Regulamento", "reference_date": "2024-04-19", "version": "1", "page": 1, "clause": "1.1", "url": "https://fnet.bmfbovespa.com.br/fnet/publico/visualizarDocumento?id=670689", "sha256": "891bc9bc5d87bbc02ec139077a84d2702eb81ea02035fb71d24f5b8366b94a0b"}], "reference": {"path": "history/54871427000194.json", "criterion_id": "providers", "total_count": 2, "preview_count": 2, "full_text_deferred": true, "sha256": "35d7cd99be50c7287c9fb675cf4f2e736002315295a225a9efa79c8d9186d874"}}</a:t>
            </a:r>
          </a:p>
          <a:p>
            <a:r>
              <a:t>CNPJ 60010416000112 · Administrador, gestor e custodiante · Regulamento · ID 1051393 · 2025-10-09 · versão 1 · p. 8 · https://fnet.bmfbovespa.com.br/fnet/publico/visualizarDocumento?id=1051393</a:t>
            </a:r>
          </a:p>
          <a:p>
            <a:r>
              <a:t>CNPJ 60010416000112 · Administrador, gestor e custodiante · Excerto da fonte:</a:t>
            </a:r>
          </a:p>
          <a:p>
            <a:r>
              <a:t>Tipo de Condomínio Fechado.</a:t>
            </a:r>
          </a:p>
          <a:p>
            <a:r>
              <a:t> Prazo de Duração Indeterminado.</a:t>
            </a:r>
          </a:p>
          <a:p>
            <a:r>
              <a:t> Classe de Investimento  Não.</a:t>
            </a:r>
          </a:p>
          <a:p>
            <a:r>
              <a:t> em Cotas  Tipo “Financeiro”.</a:t>
            </a:r>
          </a:p>
          <a:p>
            <a:r>
              <a:t> Classificação ANBIMA  Foco de atuação “Créditos Consignados”.</a:t>
            </a:r>
          </a:p>
          <a:p>
            <a:r>
              <a:t> O objetivo da classe é proporcionar aos seus Cotistas a valorização de suas Cotas  por meio da aplicação de seu Patrimônio Líquido na aquisição de: (i) Direitos  Creditórios que atendam aos Critérios de Elegibilidade, estabelecidos no Capítulo  4 abaixo, e (ii) Ativos Financeiros de Liquidez, observados todos os limites de  Objetivo composição e diversificação da Carteira da Classe, estabelecidos neste  Regulamento e na regulamentação aplicável.</a:t>
            </a:r>
          </a:p>
          <a:p>
            <a:r>
              <a:t> O objetivo da Classe não representa, sob qualquer hipótese, promessa, garantia  ou sugestão do Fundo ou de seus Prestadores de Serviços Essenciais quanto à  segurança, rentabilidade e liquidez dos títulos integrantes de sua carteira.</a:t>
            </a:r>
          </a:p>
          <a:p>
            <a:r>
              <a:t> Destinado exclusivamente a um único cotista ou grupo de cotistas vinculados por  Público-Alvo  interesse único e indissociável, classificados como Investidores Prof issionais.</a:t>
            </a:r>
          </a:p>
          <a:p>
            <a:r>
              <a:t> Banco BTG Pactual S.A., instituição financeira, com sede no município e Estado  do Rio de Janeiro, na Praia de Botafogo, nº 501, Torre Corcovado, 5º andar (parte),  Custódia e Tesouraria Botafogo, CEP 22.250-040, inscrita no CNPJ sob o nº 30.306.294/0001-45 e  credenciado como custodiante, de acordo com o Ato Declaratório nº 7.204, de 25  de abril de 2003 (“Custodiante”).</a:t>
            </a:r>
          </a:p>
          <a:p>
            <a:r>
              <a:t> Tesouraria,  Controladoria e Administrador.</a:t>
            </a:r>
          </a:p>
          <a:p>
            <a:r>
              <a:t> Escrituração  Subclasses Sênior e Subordinada, nos termos do Capítulo 5 e respectivos Apêndices.</a:t>
            </a:r>
          </a:p>
          <a:p>
            <a:r>
              <a:t> O valor de cada emissão de Cotas, volume e valor unitário da Cota, bem como o  Emissão e Regime de regime de distribuição, seguirão o disposto no instrumento que aprova a emissão  Distribuição de Cotas de Cotas, que disporá acerca da eventual existência de direito de preferência dos  Cotistas.</a:t>
            </a:r>
          </a:p>
          <a:p>
            <a:r>
              <a:t> Capital Autorizado Conf orme previsto nos Apêndices.</a:t>
            </a:r>
          </a:p>
          <a:p>
            <a:r>
              <a:t> As Cotas poderão ser admitidas à negociação em bolsa de valores ou entidade de  Negociação  balcão organizado, conf orme previsto nos Apêndices.</a:t>
            </a:r>
          </a:p>
          <a:p>
            <a:r>
              <a:t> Cálculo do Valor da Cota Conf orme Capítulo 6 deste Anexo e respectivos Apêndices.</a:t>
            </a:r>
          </a:p>
          <a:p>
            <a:r>
              <a:t> A distribuição de quaisquer ganhos e rendimentos da Classe aos Cotistas será  Distribuição de  f eita exclusivamente mediante a amortização e/ou o resgate de Cotas, observado  Proventos  o disposto no Regulamento, neste Anexo e respectivos Apêndices.</a:t>
            </a:r>
          </a:p>
          <a:p>
            <a:r>
              <a:t> Utilização de Ativos Não é permitida a integralização de Cotas, no todo ou em parte, com Direitos BTG Pactual SAC: 0800 772 28 27 - Ouvidoria: 0800 722 00 48 - btgpactual.com 8</a:t>
            </a:r>
          </a:p>
          <a:p>
            <a:r>
              <a:t>CNPJ 60010416000112 · Administrador, gestor e custodiante · Regulamento · ID 1051393 · 2025-10-09 · versão 1 · p. 1 · https://fnet.bmfbovespa.com.br/fnet/publico/visualizarDocumento?id=1051393</a:t>
            </a:r>
          </a:p>
          <a:p>
            <a:r>
              <a:t>CNPJ 60010416000112 · Administrador, gestor e custodiante · Excerto da fonte:</a:t>
            </a:r>
          </a:p>
          <a:p>
            <a:r>
              <a:t>BTG Pactual Asset Management S.A. Distribuidora de Títulos e Valores  Mobiliários, sociedade anônima, com sede no município do Rio de Janeiro,  Estado do Rio de Janeiro, na Praia de Botafogo, nº 501, Torre Corcovado, 5º andar</a:t>
            </a:r>
          </a:p>
          <a:p>
            <a:r>
              <a:t> (parte), CEP 22.250-040, inscrita no CNPJ sob o nº 29.650.082/0001-00,  GESTOR  devidamente credenciada junto à CVM para operar como administradora de  carteira de valores mobiliários nos termos do Ato Declaratório CVM nº 5.968, de  10 de maio de 2000 (“Gestor” e, quando referido conjuntamente e indistintamente  com o Administrador, os “Prestadores de Serviços Essenciais”).</a:t>
            </a:r>
          </a:p>
          <a:p>
            <a:r>
              <a:t>CNPJ 60010416000112 · Administrador, gestor e custodiante · Regulamento · ID 1051393 · 2025-10-09 · versão 1 · p. 45 · https://fnet.bmfbovespa.com.br/fnet/publico/visualizarDocumento?id=1051393</a:t>
            </a:r>
          </a:p>
          <a:p>
            <a:r>
              <a:t>CNPJ 60010416000112 · Administrador, gestor e custodiante · Excerto da fonte:</a:t>
            </a:r>
          </a:p>
          <a:p>
            <a:r>
              <a:t>“Gestor”: a BTG Pactual Asset Management S.A. Distribuidora de Títulos e Valores Mobiliários, sociedade anônima, com sede no município do Rio de Janeiro, Estado do Rio de Janeiro, na Praia de Botafogo, nº 501, Torre Corcovado, 5º andar (parte), CEP 22.250-040, inscrita no CNPJ sob o nº 29.650.082/0001-00, devidamente credenciada junto à CVM para operar como administrador de carteira de valores mobiliários nos termos do Ato Declaratório CVM nº 5.968, de 10 de maio de 2000;</a:t>
            </a:r>
          </a:p>
          <a:p>
            <a:r>
              <a:t>CNPJ 60010416000112 · Administrador, gestor e custodiante · Condição: Documentos atuais selecionados no inventário por categoria/escopo; a data documental isolada não comprova vigência jurídica.</a:t>
            </a:r>
          </a:p>
          <a:p>
            <a:r>
              <a:t>CNPJ 60010416000112 · Administrador, gestor e custodiante · Versão e prevalência: Documentos atuais selecionados no inventário por categoria/escopo; a data documental isolada não comprova vigência jurídica.</a:t>
            </a:r>
          </a:p>
          <a:p>
            <a:r>
              <a:t>CNPJ 60010416000112 · Administrador, gestor e custodiante · Resumo do histórico: {"count": 1, "dates": ["2025-05-12"], "document_count": 1, "sources": [{"document_id": "1004656", "title": "AGE", "reference_date": "2025-05-12", "version": "1", "page": 4, "url": "https://fnet.bmfbovespa.com.br/fnet/publico/visualizarDocumento?id=1004656", "sha256": "f6c9c009f6170e2b29f074b98522accec73f0c40efbf11f9ec2c8d3f1402616b"}], "reference": {"path": "history/60010416000112.json", "criterion_id": "providers", "total_count": 1, "preview_count": 1, "full_text_deferred": true, "sha256": "8e2bd813f4c51cf01f6bfaad164bafe69d2bbb192f753eac92da3a01c2e63046"}}</a:t>
            </a:r>
          </a:p>
          <a:p>
            <a:r>
              <a:t>CNPJ 62696791000193 · Administrador, gestor e custodiante · Regulamento · ID 1143317 · 2026-03-20 · versão 1 · p. 1 · https://fnet.bmfbovespa.com.br/fnet/publico/visualizarDocumento?id=1143317</a:t>
            </a:r>
          </a:p>
          <a:p>
            <a:r>
              <a:t>CNPJ 62696791000193 · Administrador, gestor e custodiante · Excerto da fonte:</a:t>
            </a:r>
          </a:p>
          <a:p>
            <a:r>
              <a:t>BTG Pactual Asset Management S.A. Distribuidora de Títulos e Valores  Mobiliários, com sede no município e Estado do Rio de Janeiro, na Praia de  Botafogo, nº 501, Torre Corcovado, 5º andar (parte), Botafogo, inscrito no  CNPJ sob o nº 29.650.082/0001-00, autorizado à prestação dos serviços de  Gestor  administração de carteira de títulos e valores mobiliários de acordo com o Ato  Declaratório nº 5.968, de 10 de maio de 2000 (“Gestor” e, quando ref erido  conjuntamente com o Administrador, os “Prestadores de Serviços  Essenciais”).</a:t>
            </a:r>
          </a:p>
          <a:p>
            <a:r>
              <a:t>CNPJ 62696791000193 · Administrador, gestor e custodiante · Regulamento · ID 1143317 · 2026-03-20 · versão 1 · p. 1 · https://fnet.bmfbovespa.com.br/fnet/publico/visualizarDocumento?id=1143317</a:t>
            </a:r>
          </a:p>
          <a:p>
            <a:r>
              <a:t>CNPJ 62696791000193 · Administrador, gestor e custodiante · Excerto da fonte:</a:t>
            </a:r>
          </a:p>
          <a:p>
            <a:r>
              <a:t>BTG Pactual Serviços Financeiros S.A. Distribuidora de Títulos e Valores  Mobiliários, sociedade anônima, com sede no município e Estado do Rio de  Janeiro, na Praia de Botafogo, nº 501, 5º andar (parte), Torre Corcovado,  Administrador Botafogo, CEP 22250-040, inscrita no CNPJ sob o nº 59.281.253/0001-23 e  credenciada como Administradora de carteira, de acordo com o Ato Declaratório  CVM nº 8.695, de 20 de março de 2006 (“Administrador”), responsável pela  administração f iduciária.</a:t>
            </a:r>
          </a:p>
          <a:p>
            <a:r>
              <a:t>CNPJ 62696791000193 · Administrador, gestor e custodiante · Regulamento · ID 1143317 · 2026-03-20 · versão 1 · p. 7 · https://fnet.bmfbovespa.com.br/fnet/publico/visualizarDocumento?id=1143317</a:t>
            </a:r>
          </a:p>
          <a:p>
            <a:r>
              <a:t>CNPJ 62696791000193 · Administrador, gestor e custodiante · Excerto da fonte:</a:t>
            </a:r>
          </a:p>
          <a:p>
            <a:r>
              <a:t>Banco BTG Pactual S.A., instituição financeira, com sede no município e  Estado do Rio de Janeiro, na Praia de Botafogo, nº 501, 5º andar (parte),  Custódia e Tesouraria Torre Corcovado, Botafogo, CEP 22250-040, inscrita no CNPJ sob o nº</a:t>
            </a:r>
          </a:p>
          <a:p>
            <a:r>
              <a:t> 30.306.294/0001-45 e credenciada como custodiante, de acordo com o  Ato Declaratório nº 7.204, de 25 de abril de 2003 (“Custodiante”).</a:t>
            </a:r>
          </a:p>
          <a:p>
            <a:r>
              <a:t>CNPJ 62696791000193 · Administrador, gestor e custodiante · Condição: Documentos atuais selecionados no inventário por categoria/escopo; a data documental isolada não comprova vigência jurídica.</a:t>
            </a:r>
          </a:p>
          <a:p>
            <a:r>
              <a:t>CNPJ 62696791000193 · Administrador, gestor e custodiante · Versão e prevalência: Documentos atuais selecionados no inventário por categoria/escopo; a data documental isolada não comprova vigência jurídica.</a:t>
            </a:r>
          </a:p>
          <a:p>
            <a:r>
              <a:t>CNPJ 55563624000109 · Administrador, gestor e custodiante · Regulamento · ID 1192614 · 2026-04-30 · versão 1 · p. 1 · https://fnet.bmfbovespa.com.br/fnet/publico/visualizarDocumento?id=1192614</a:t>
            </a:r>
          </a:p>
          <a:p>
            <a:r>
              <a:t>CNPJ 55563624000109 · Administrador, gestor e custodiante · Excerto da fonte:</a:t>
            </a:r>
          </a:p>
          <a:p>
            <a:r>
              <a:t>Polígono Capital Ltda., sociedade de responsabilidade limitada, com sede no  município e estado de São Paulo, na Avenida Brigadeiro Faria Lima, n° 2601, 12º andar,  Jardim Paulistano, CEP 01452-000, inscrita no CNPJ sob nº 43.241.789/0001-85 e  GESTOR autorizada à prestação do serviço de administração de carteiras de valores mobiliários  pela CVM, de acordo com o Ato Declaratório CVM nº 19.368, expedido em 7 de  dezembro de 2021 (“GESTOR” e, quando referido conjuntamente e indistintamente  com o ADMINISTRADOR, os “Prestadores de Serviços Essenciais”).</a:t>
            </a:r>
          </a:p>
          <a:p>
            <a:r>
              <a:t>CNPJ 55563624000109 · Administrador, gestor e custodiante · Regulamento · ID 1192614 · 2026-04-30 · versão 1 · p. 1 · https://fnet.bmfbovespa.com.br/fnet/publico/visualizarDocumento?id=1192614</a:t>
            </a:r>
          </a:p>
          <a:p>
            <a:r>
              <a:t>CNPJ 55563624000109 · Administrador, gestor e custodiante · Excerto da fonte:</a:t>
            </a:r>
          </a:p>
          <a:p>
            <a:r>
              <a:t>BTG Pactual Serviços Financeiros S.A. Distribuidora de Títulos e Valores Mobiliários,  sociedade anônima, com sede no município e estado do Rio de Janeiro, na Praia de  Botafogo, nº 501, 5º andar (parte), Torre Corcovado, Botafogo, CEP 22250-040, inscrita  ADMINISTRADOR no Cadastro Nacional da Pessoa Jurídica (“CNPJ”) sob o nº 59.281.253/0001-23 e  credenciada como administradora de carteira, de acordo com o Ato Declaratório CVM  nº 8.695, de 20 de março de 2006 (“ADMINISTRADOR”).</a:t>
            </a:r>
          </a:p>
          <a:p>
            <a:r>
              <a:t>CNPJ 55563624000109 · Administrador, gestor e custodiante · Regulamento · ID 1192614 · 2026-04-30 · versão 1 · p. 41 · https://fnet.bmfbovespa.com.br/fnet/publico/visualizarDocumento?id=1192614</a:t>
            </a:r>
          </a:p>
          <a:p>
            <a:r>
              <a:t>CNPJ 55563624000109 · Administrador, gestor e custodiante · Excerto da fonte:</a:t>
            </a:r>
          </a:p>
          <a:p>
            <a:r>
              <a:t>“ADMINISTRADOR”: BTG Pactual Serviços Financeiros S.A. Distribuidora de Títulos e Valores Mobiliários, instituição  com sede no Município do Rio de Janeiro, Estado do Rio de Janeiro, à Praia de Botafogo, nº 501, 5º andar – parte, inscrita  no CNPJ sob o nº 59.281.253/0001-23, autorizada a funcionar pelo BACEN e autorizada pela CVM para a atividade de  administração de carteiras de valores mobiliários, de acordo com o Ato Declaratório nº 8.695, de 20 de março de 2006,  ou seu sucessor a qualquer título;</a:t>
            </a:r>
          </a:p>
          <a:p>
            <a:r>
              <a:t>CNPJ 55563624000109 · Administrador, gestor e custodiante · Condição: Documentos atuais selecionados no inventário por categoria/escopo; a data documental isolada não comprova vigência jurídica.</a:t>
            </a:r>
          </a:p>
          <a:p>
            <a:r>
              <a:t>CNPJ 55563624000109 · Administrador, gestor e custodiante · Versão e prevalência: Documentos atuais selecionados no inventário por categoria/escopo; a data documental isolada não comprova vigência jurídica.</a:t>
            </a:r>
          </a:p>
          <a:p>
            <a:r>
              <a:t>CNPJ 55563624000109 · Administrador, gestor e custodiante · Resumo do histórico: {"count": 6, "dates": ["2024-12-30", "2025-01-31", "2026-01-31"], "document_count": 3, "sources": [{"document_id": "1178840", "title": "Demonstrações Financeiras", "reference_date": "2026-01-31", "version": "1", "page": 3, "url": "https://fnet.bmfbovespa.com.br/fnet/publico/visualizarDocumento?id=1178840", "sha256": "c458e98664c5c907ddb5a05a94b120bed4e05295b2bfc420f5ba69af0a229abe"}, {"document_id": "891861", "title": "Demonstrações Financeiras", "reference_date": "2025-01-31", "version": "1", "page": 11, "url": "https://fnet.bmfbovespa.com.br/fnet/publico/visualizarDocumento?id=891861", "sha256": "e9cb9e6ddbe505fe068cfcac33605165a98313489de0d3ce6d4d238263c3f3e7"}, {"document_id": "811323", "title": "Anúncio de Encerramento", "reference_date": "2024-12-30", "version": "1", "page": 1, "url": "https://fnet.bmfbovespa.com.br/fnet/publico/visualizarDocumento?id=811323", "sha256": "ebc6bc661be5189acffb3c3e352de2aea0a8ca8431011d1237e1ae19da4f9c79"}], "reference": {"path": "history/55563624000109.json", "criterion_id": "providers", "total_count": 6, "preview_count": 3, "full_text_deferred": true, "sha256": "7835d573fb58a3c19adf5b8ecc2aee2bdbb9a88f7a0c0209b5f262b64c7522e3"}}</a:t>
            </a:r>
          </a:p>
          <a:p>
            <a:r>
              <a:t>CNPJ 62552447000120 · Administrador, gestor e custodiante · Regulamento · ID 1200623 · 2026-05-21 · versão 1 · p. 1 · https://fnet.bmfbovespa.com.br/fnet/publico/visualizarDocumento?id=1200623</a:t>
            </a:r>
          </a:p>
          <a:p>
            <a:r>
              <a:t>CNPJ 62552447000120 · Administrador, gestor e custodiante · Excerto da fonte:</a:t>
            </a:r>
          </a:p>
          <a:p>
            <a:r>
              <a:t>BTG Pactual Asset Management S.A. Distribuidora de Títulos e Valores  Mobiliários, sociedade anônima, com sede no município e Estado do Rio de  Janeiro, na Praia de Botafogo, n.º 501, 5º andar (parte), Torre Corcovado, bairro  Botafogo, CEP 22250-040, inscrita no CNPJ sob o n.º 29.650.082/0001-00 e  Gestor  credenciada como administradora de carteira de valores mobiliários , categoria  gestor de recursos, de acordo com o Ato Declaratório CVM n.º 5.968, de 10 de  maio de 2000 (“Gestor” e, quando ref erido conjuntamente e indistintamente  com o Administrador, “Prestadores de Serviços Essenciais”).</a:t>
            </a:r>
          </a:p>
          <a:p>
            <a:r>
              <a:t>CNPJ 62552447000120 · Administrador, gestor e custodiante · Regulamento · ID 1200623 · 2026-05-21 · versão 1 · p. 1 · https://fnet.bmfbovespa.com.br/fnet/publico/visualizarDocumento?id=1200623</a:t>
            </a:r>
          </a:p>
          <a:p>
            <a:r>
              <a:t>CNPJ 62552447000120 · Administrador, gestor e custodiante · Excerto da fonte:</a:t>
            </a:r>
          </a:p>
          <a:p>
            <a:r>
              <a:t>BTG Pactual Serviços Financeiros S.A. Distribuidora de Títulos e Valores  Mobiliários, sociedade anônima, com sede no município e Estado do Rio de  Janeiro, na Praia de Botafogo, n.º 501, 5º andar (parte), Torre Corcovado, bairro  Administrador Botafogo, CEP 22250-040, inscrita no CNPJ sob o n.º 59.281.253/0001-23 e  credenciada como administradora de carteira de valores mobiliários, categoria  administrador fiduciário, de acordo com o Ato Declaratório CVM n.º 8.695, de 20  de março de 2006 (“Administrador”).</a:t>
            </a:r>
          </a:p>
          <a:p>
            <a:r>
              <a:t>CNPJ 62552447000120 · Administrador, gestor e custodiante · Instrumento Particular de Alteração do Regulamento · ID 1200625 · 2026-05-21 · versão 1 · p. 1 · https://fnet.bmfbovespa.com.br/fnet/publico/visualizarDocumento?id=1200625</a:t>
            </a:r>
          </a:p>
          <a:p>
            <a:r>
              <a:t>CNPJ 62552447000120 · Administrador, gestor e custodiante · Excerto da fonte:</a:t>
            </a:r>
          </a:p>
          <a:p>
            <a:r>
              <a:t>A Administradora, BTG PACTUAL SERVIÇOS FINANCEIROS S.A. DTVM, com  sede na Praia de Botafogo, n.º 501, 5º andar (parte), na Cidade e Estado do Rio de  Janeiro, e inscrita no CNPJ sob o número 59.281.253/0001-23, na qualidade de  administradora da V CDT 1 FUNDO DE INVESTIMENTO EM DIREITOS  CREDITÓRIOS RESPONSABILIDADE LIMITADA, inscrita no CNPJ/MF sob o  número 62.552.447/0001-20 ("Classe"), serve-se da presente para:</a:t>
            </a:r>
          </a:p>
          <a:p>
            <a:r>
              <a:t>CNPJ 62552447000120 · Administrador, gestor e custodiante · Condição: Documentos atuais selecionados no inventário por categoria/escopo; a data documental isolada não comprova vigência jurídica.</a:t>
            </a:r>
          </a:p>
          <a:p>
            <a:r>
              <a:t>CNPJ 62552447000120 · Administrador, gestor e custodiante · Versão e prevalência: Documentos atuais selecionados no inventário por categoria/escopo; a data documental isolada não comprova vigência jurídica.</a:t>
            </a:r>
          </a:p>
          <a:p>
            <a:r>
              <a:t>CNPJ 62552447000120 · Administrador, gestor e custodiante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"providers", "total_count": 1, "preview_count": 1, "full_text_deferred": true, "sha256": "d95db8c0613d67ee84118c734588665265ea6b02f86a0318d6a844cbe1d0f82f"}}</a:t>
            </a:r>
          </a:p>
          <a:p>
            <a:r>
              <a:t>CNPJ 63953620000165 · Administrador, gestor e custodiante · Anexo ao Regulamento · ID 1222863 · 2026-06-02 · versão 1 · p. 2 · https://fnet.bmfbovespa.com.br/fnet/publico/visualizarDocumento?id=1222863</a:t>
            </a:r>
          </a:p>
          <a:p>
            <a:r>
              <a:t>CNPJ 63953620000165 · Administrador, gestor e custodiante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Administrador, gestor e custodiante · Condição: Documentos atuais selecionados no inventário por categoria/escopo; a data documental isolada não comprova vigência jurídica.</a:t>
            </a:r>
          </a:p>
          <a:p>
            <a:r>
              <a:t>CNPJ 63953620000165 · Administrador, gestor e custodiante · Motivo: Cláusula primária localizada e citada, mas sua lista/condições extensas não admitem uma síntese literal curta confirmada. O trecho integral permanece nas fontes.</a:t>
            </a:r>
          </a:p>
          <a:p>
            <a:r>
              <a:t>CNPJ 63953620000165 · Administrador, gestor e custodiante · Versão e prevalência: Documentos atuais selecionados no inventário por categoria/escopo; a data documental isolada não comprova vigência jurídica.</a:t>
            </a:r>
          </a:p>
          <a:p>
            <a:r>
              <a:t>CNPJ 63953620000165 · Administrador, gestor e custodiante · Resumo do histórico: {"count": 8, "dates": ["2026-04-28", "2026-05-08", "2026-05-15"], "document_count": 3, "sources": [{"document_id": "1327859", "title": "Demonstrações Financeiras - Fusão, cisão e incorporação", "reference_date": "2026-05-15", "version": "1", "page": 9, "url": "https://fnet.bmfbovespa.com.br/fnet/publico/visualizarDocumento?id=1327859", "sha256": "dca1c68babb97f887528c3e2e47596a9c30f507b067981a35655b2f2da9c8054"}, {"document_id": "1298691", "title": "Demonstrações Financeiras - Fusão, cisão e incorporação", "reference_date": "2026-05-08", "version": "1", "page": 9, "url": "https://fnet.bmfbovespa.com.br/fnet/publico/visualizarDocumento?id=1298691", "sha256": "58c570d9b8d4d265330d3db3ea81c435b8e44a6dab4002aa37790652a1ee9819"}, {"document_id": "1282180", "title": "Demonstrações Financeiras - Fusão, cisão e incorporação", "reference_date": "2026-04-28", "version": "1", "page": 9, "url": "https://fnet.bmfbovespa.com.br/fnet/publico/visualizarDocumento?id=1282180", "sha256": "afaaa0e6809be4385e5bdb6c911aac582032c5bdbac3d7750234bf9eaf00438a"}], "reference": {"path": "history/63953620000165.json", "criterion_id": "providers", "total_count": 8, "preview_count": 3, "full_text_deferred": true, "sha256": "a7b89077f5e21098c2d601c303faabc3ff6b9729f89d8afecdc60fe1404720c1"}}</a:t>
            </a:r>
          </a:p>
          <a:p>
            <a:r>
              <a:t>CNPJ 54871427000194 · Substituição de prestadores · Motivo: Não localizada uma cláusula material para este critério nos textos identificados e processados. A ausência de resultado não comprova inexistência da regra.</a:t>
            </a:r>
          </a:p>
          <a:p>
            <a:r>
              <a:t>CNPJ 60010416000112 · Substituição de prestadores · Regulamento · ID 1051393 · 2025-10-09 · versão 1 · p. 3 · 1.8 · https://fnet.bmfbovespa.com.br/fnet/publico/visualizarDocumento?id=1051393</a:t>
            </a:r>
          </a:p>
          <a:p>
            <a:r>
              <a:t>CNPJ 60010416000112 · Substituição de prestadores · Excerto da fonte:</a:t>
            </a:r>
          </a:p>
          <a:p>
            <a:r>
              <a:t>1.8. Os Cotistas, o Administrador, o Gestor e o Agente de  Retenção/Cobrança estão plenamente conscientes dos termos e efeitos  desta cláusula compromissória e concordam irrevogavelmente que a  arbitragem será a única f orma de resolução de disputas relacionada a  este Regulamento. Sem prejuízo da validade desta cláusula  compromissória, as partes elegem o foro da comarca do Rio de Janeiro,  estado do Rio de Janeiro, com a renúncia expressa a qualquer outra, se  e quando isso f or necessário para fins de: (i) executar as obrigações para  as quais haja disponibilidade imediata de execução judicial; (ii) obter  ordens de execução específica ou liminares de caráter preventivo,  temporário ou permanente, tais como a prestação de caução para um  processo arbitral iniciado ou em andamento entre as partes da  arbitragem e/ou assegurar a existência e ef icácia do processo arbitral;</a:t>
            </a:r>
          </a:p>
          <a:p>
            <a:r>
              <a:t> e/ou (iii) apresentar um pedido de execução específica ou outra ordem,  sendo certo que, uma vez obtida a execução específica ou outra ordem,  o Tribunal Arbitral a ser instituído ou que já esteja instituído, conforme o  caso, assumirá a competência plena e exclusiva para decidir sobre toda  e qualquer questão, quer relacionada ao processo ou ao mérito, que  possa ter dado origem à ordem ou execução específica solicitada, e o  respectivo processo será suspenso até que o Tribunal Arbitral profira  uma decisão parcial ou def initiva sobre a questão. A propositura de  qualquer ação judicial de acordo com este item não resultará em  renúncia à arbitragem ou à competência da Câmara.</a:t>
            </a:r>
          </a:p>
          <a:p>
            <a:r>
              <a:t>CNPJ 60010416000112 · Substituição de prestadores · Condição: Documentos atuais selecionados no inventário por categoria/escopo; a data documental isolada não comprova vigência jurídica.</a:t>
            </a:r>
          </a:p>
          <a:p>
            <a:r>
              <a:t>CNPJ 60010416000112 · Substituição de prestadores · Motivo: Cláusula primária localizada e citada, mas sua lista/condições extensas não admitem uma síntese literal curta confirmada. O trecho integral permanece nas fontes.</a:t>
            </a:r>
          </a:p>
          <a:p>
            <a:r>
              <a:t>CNPJ 60010416000112 · Substituição de prestadores · Versão e prevalência: Documentos atuais selecionados no inventário por categoria/escopo; a data documental isolada não comprova vigência jurídica.</a:t>
            </a:r>
          </a:p>
          <a:p>
            <a:r>
              <a:t>CNPJ 60010416000112 · Substituição de prestadores · Resumo do histórico: {"count": 1, "dates": ["2025-03-20"], "document_count": 1, "sources": [{"document_id": "993786", "title": "Regulamento", "reference_date": "2025-03-20", "version": "1", "page": 3, "clause": "1.8", "url": "https://fnet.bmfbovespa.com.br/fnet/publico/visualizarDocumento?id=993786", "sha256": "fd0fdd369a195510d81f81f505195a0b09e5f43522a990afa7d58c4f872921c8"}], "reference": {"path": "history/60010416000112.json", "criterion_id": "replacement", "total_count": 1, "preview_count": 1, "full_text_deferred": true, "sha256": "8e2bd813f4c51cf01f6bfaad164bafe69d2bbb192f753eac92da3a01c2e63046"}}</a:t>
            </a:r>
          </a:p>
          <a:p>
            <a:r>
              <a:t>CNPJ 62696791000193 · Substituição de prestadores · Regulamento · ID 1143317 · 2026-03-20 · versão 1 · p. 26 · 12.10 · https://fnet.bmfbovespa.com.br/fnet/publico/visualizarDocumento?id=1143317</a:t>
            </a:r>
          </a:p>
          <a:p>
            <a:r>
              <a:t>CNPJ 62696791000193 · Substituição de prestadores · Excerto da fonte:</a:t>
            </a:r>
          </a:p>
          <a:p>
            <a:r>
              <a:t>12.10 Na hipótese de renúncia, o Administrador fica obrigado a permanecer no exercício de suas funções até  a averbação, no cartório de registro de imóveis, nas matrículas referentes aos bens imóveis e direitos  integrantes da carteira de ativos, da ata da assembleia de Cotistas que eleger seu substituto e sucessor  na propriedade f iduciária desses bens e direitos.</a:t>
            </a:r>
          </a:p>
          <a:p>
            <a:r>
              <a:t>CNPJ 62696791000193 · Substituição de prestadores · Regulamento · ID 1143317 · 2026-03-20 · versão 1 · p. 26 · 12.10.1 · https://fnet.bmfbovespa.com.br/fnet/publico/visualizarDocumento?id=1143317</a:t>
            </a:r>
          </a:p>
          <a:p>
            <a:r>
              <a:t>CNPJ 62696791000193 · Substituição de prestadores · Excerto da fonte:</a:t>
            </a:r>
          </a:p>
          <a:p>
            <a:r>
              <a:t>12.10.1 É f acultado aos Cotistas que detenham ao menos 5% (cinco por cento) das Cotas emitidas, a  convocação da assembleia de Cotistas prevista no item 12.4 acima, caso o Administrador não  a convoque, no prazo de 10 (dez) dias contados da renúncia.</a:t>
            </a:r>
          </a:p>
          <a:p>
            <a:r>
              <a:t>CNPJ 62696791000193 · Substituição de prestadores · Condição: Documentos atuais selecionados no inventário por categoria/escopo; a data documental isolada não comprova vigência jurídica.</a:t>
            </a:r>
          </a:p>
          <a:p>
            <a:r>
              <a:t>CNPJ 62696791000193 · Substituição de prestadores · Versão e prevalência: Documentos atuais selecionados no inventário por categoria/escopo; a data documental isolada não comprova vigência jurídica.</a:t>
            </a:r>
          </a:p>
          <a:p>
            <a:r>
              <a:t>CNPJ 55563624000109 · Substituição de prestadores · Motivo: Não localizada uma cláusula material para este critério nos textos identificados e processados. A ausência de resultado não comprova inexistência da regra.</a:t>
            </a:r>
          </a:p>
          <a:p>
            <a:r>
              <a:t>CNPJ 62552447000120 · Substituição de prestadores · Motivo: Não localizada uma cláusula material para este critério nos textos identificados e processados. A ausência de resultado não comprova inexistência da regra.</a:t>
            </a:r>
          </a:p>
          <a:p>
            <a:r>
              <a:t>CNPJ 63953620000165 · Substituição de prestadores · Anexo ao Regulamento · ID 1222863 · 2026-06-02 · versão 1 · p. 15 · https://fnet.bmfbovespa.com.br/fnet/publico/visualizarDocumento?id=1222863</a:t>
            </a:r>
          </a:p>
          <a:p>
            <a:r>
              <a:t>CNPJ 63953620000165 · Substituição de prestadores · Excerto da fonte:</a:t>
            </a:r>
          </a:p>
          <a:p>
            <a:r>
              <a:t>Anexo I ao Regulamento  CLASSE CONSIGNADO PRIVADO DO MT GLOBAL FUNDO DE INVESTIMENTO EM DIREITOS  CREDITÓRIOS RESPONSABILIDADE LIMITADA</a:t>
            </a:r>
          </a:p>
          <a:p>
            <a:r>
              <a:t> (vii) inobservância pelo Administrador, pelo Custodiante e/ou pelo Gestor de seus deveres e obrigações  previstos neste Regulamento, bem como suas atribuições específicas nos outros contratos existentes  referentes ao funcionamento da Classe, verificada pelo Administrador, pelo Custodiante e/ou pelo  Gestor ou por qualquer dos Cotistas, desde que, uma vez notificados para sanar ou justificar o  descumprimento, o Administrador, o Custodiante e/ou o Gestor, conforme o caso, não o sane no prazo  de 5 (cinco) Dias Úteis contados do recebimento da referida notificação;</a:t>
            </a:r>
          </a:p>
          <a:p>
            <a:r>
              <a:t> (viii) aquisição, pela Classe, de Direitos Creditórios que estejam em desacordo com as Condições de Cessão e  os Critérios de Elegibilidade previstos neste Regulamento no momento de sua aquisição;</a:t>
            </a:r>
          </a:p>
          <a:p>
            <a:r>
              <a:t> (ix) alteração na classificação de risco das Cotas, se houver, que, para qualquer dado período após a  classificação de risco inicial das Cotas e/ou após a deliberação da Assembleia Especial de Cotistas a  respeito de um rebaixamento da classificação de risco das Cotas, implique no rebaixamento de dois  níveis na escala de risco pertinente elaborada pela Agência Classificadora de Risco; e/ou</a:t>
            </a:r>
          </a:p>
          <a:p>
            <a:r>
              <a:t> (x) renúncia do Gestor, sem que tenham sido tomadas tempestivamente as providências previstas no  CAPÍTULO 2 da parte geral deste Regulamento;</a:t>
            </a:r>
          </a:p>
          <a:p>
            <a:r>
              <a:t> (xi) no caso de o Contrato de Endosso celebrado com o Endossante, por qualquer razão, (a) seja declarado  inválido, nulo ou ineficaz por ordem judicial e/ou qualquer autoridade governamental; ou (b) tenha sua  validade ou eficácia, total ou parcialmente, contestada pelo Endossante, judicial ou administrativamente</a:t>
            </a:r>
          </a:p>
          <a:p>
            <a:r>
              <a:t> (xii) em caso de não renovação, cancelamento, revogação ou suspensão de concessões, autorizações,  subvenções, autorizações ou licenças, relevantes para o exercício regular dos negócios realizados pelo  Endossante, incluindo o Convênio Consignado Privado, e as autorizações regulatórias concedidas pelo  Banco Central, observado, caso aplicável, os prazos de cura dispostos no Contrato de Endosso;</a:t>
            </a:r>
          </a:p>
          <a:p>
            <a:r>
              <a:t> (xiii) no caso de o Endossante ou o Agente de Retenção/Cobrança e/ou seus acionistas controladores diretos  e/ou indiretos (pessoas físicas ou jurídicas), quotistas, diretores, conselheiros e/ou representantes e  colaboradores do Endossante ou seus acionistas controladores, (a) terem contra si uma decisão judicial  transitada em julgado envolvendo (1) crimes contra a propriedade, (2) crimes de falsificação, (3) crimes  contra o sistema financeiro nacional, (4) crimes contra o mercado de capitais, (5) crimes contra a  seguridade social, (6) crimes contra as relações de consumo e (7) crimes previstos na lei de falências;</a:t>
            </a:r>
          </a:p>
          <a:p>
            <a:r>
              <a:t> e/ou (b) violar as normas anticorrupção aplicáveis, especialmente a Lei nº 9.613, de 3 de março de 1998,  conforme alterada ou substituída de tempos em tempos, e qualquer outra a que estejam sujeitos, quer  contratual ou legalmente, desde que a violação mencionada seja considerada como, especialmente, mas  não limitada a (1) financiamento, crédito, patrocínio ou outra forma de subvenção à prática de atos  ilícitos previstos na legislação anticorrupção, de combate à lavagem de dinheiro, organizações  antissociais e/ou crime organizado; (2) promessa, oferta ou entrega, direta ou indiretamente, de  qualquer objeto de valor a um funcionário público ou terceiros para obter ou manter negócios ou para  obter qualquer vantagem indevida; (3) aceitação ou compromisso de aceitar, de quem quer que seja,  por si ou por outrem, qualquer pagamento, doação, compensação, vantagens financeiras ou não  financeiras ou benefícios de qualquer tipo, direta ou indiretamente relacionados com o objeto da Classe,  que constituam uma prática ilegal, que violem as boas condutas, a ética, a moral e constitua corrupção  nos termos das leis dos países da sede e onde existam filiais das partes envolvidas, das partes  contratantes; e</a:t>
            </a:r>
          </a:p>
          <a:p>
            <a:r>
              <a:t> (xiv) caso o cotista das Cotas Subordinadas deixe de ser titular das Cotas Subordinadas durante todo prazo  de duração da Classe;</a:t>
            </a:r>
          </a:p>
          <a:p>
            <a:r>
              <a:t> (xv) no caso de não serem realizados pagamentos de amortização e/ou resgate de Cotas Seniores, nos  termos, prazos e condições previstos no presente Regulamento e nos respectivos Apêndices e  Suplementos, não sanados em até 2 (dois) Dias Úteis contados do prazo final do respectivo evento;</a:t>
            </a:r>
          </a:p>
          <a:p>
            <a:r>
              <a:t> (xvi) no caso de pagamento de resgate e/ou amortização de Cotas Subordinadas em desacordo com os  termos, prazos e condições previstos no presente Regulamento e no respectivo Apêndice.</a:t>
            </a:r>
          </a:p>
          <a:p>
            <a:r>
              <a:t>CNPJ 63953620000165 · Substituição de prestadores · Condição: Documentos atuais selecionados no inventário por categoria/escopo; a data documental isolada não comprova vigência jurídica.</a:t>
            </a:r>
          </a:p>
          <a:p>
            <a:r>
              <a:t>CNPJ 63953620000165 · Substituição de prestadores · Motivo: Cláusula primária localizada e citada, mas sua lista/condições extensas não admitem uma síntese literal curta confirmada. O trecho integral permanece nas fontes.</a:t>
            </a:r>
          </a:p>
          <a:p>
            <a:r>
              <a:t>CNPJ 63953620000165 · Substituição de prestadores · Versão e prevalência: Documentos atuais selecionados no inventário por categoria/escopo; a data documental isolada não comprova vigência jurídica.</a:t>
            </a:r>
          </a:p>
          <a:p>
            <a:r>
              <a:t>CNPJ 54871427000194 · Rating por subclasse e downgrade · Regulamento · ID 670691 · 28/04/2024 · versão Regulamento — referência 28/04/2024 · p. 15 · Anexo I, 5.12 · https://fnet.bmfbovespa.com.br/fnet/publico/visualizarDocumento?id=670691</a:t>
            </a:r>
          </a:p>
          <a:p>
            <a:r>
              <a:t>CNPJ 54871427000194 · Rating por subclasse e downgrade · Excerto da fonte:</a:t>
            </a:r>
          </a:p>
          <a:p>
            <a:r>
              <a:t>5.12 As Cotas não serão classificadas por Agência Classificadora de Risco em funcionamento no País, uma vez que a Classe não será destinada ao público em geral. CAPÍTULO 6 – ATRIBUIÇÃO DE RESULTADO ÀS COTAS E CÁLCULO DO VALOR UNITÁRIO 6.1 As Cotas terão seu Valor Unitário calculado e divulgado pelo ADMINISTRADOR mensalmente, no último Dia Útil de cada mês, no fechamento dos mercados, a partir do mês seguinte à Data da 1ª Integralização e até a data de resgate das Cotas ou na data de liquidação da Classe Única, conforme o caso. 6.2 A partir da Data da 1ª Integralização de Cotas, o Valor Unitário das Cotas s erá calculado no fechamento do último Dia Útil de cada mês, equivalerá ao resultado da divisão do valor do Patrimônio Líquido apurado para o respectivo dia, pelo número de Cotas em circulação na respectiva data de cálculo . CAPÍTULO 7 – AMORTIZAÇÃO E RESGATE DAS COTAS 7.1 A distribuição de quaisquer ganhos e rendimentos d a Classe aos Cotistas será f eita exclusivamente mediante a Amortização e/ou o resgate de Cotas, observado o disposto neste Capítulo. 7.2 As amortizações de Cotas serão realizadas a qualquer tempo, a critério do GESTOR, observada a disponibilidade de recursos da Classe Única e a</a:t>
            </a:r>
          </a:p>
          <a:p>
            <a:r>
              <a:t>CNPJ 54871427000194 · Rating por subclasse e downgrade · Versão e prevalência: Leitura específica das cláusulas indicadas; condições e conflitos preservados. Seleção documental atual não comprova vigência jurídica por data isolada.</a:t>
            </a:r>
          </a:p>
          <a:p>
            <a:r>
              <a:t>CNPJ 54871427000194 · Rating por subclasse e downgrade · Resumo do histórico: {"count": 5, "dates": ["2024-12-31", "2025-01-01", "2025-12-31"], "document_count": 3, "sources": [{"document_id": "1151805", "title": "Demonstrações Financeiras", "reference_date": "2025-12-31", "version": "1", "page": 25, "url": "https://fnet.bmfbovespa.com.br/fnet/publico/visualizarDocumento?id=1151805", "sha256": "f1cea70b152968bf96ef9221b27225953cb20aeef487b2798db3c25e11b528d4"}, {"document_id": "869529", "title": "Demonstrações Financeiras", "reference_date": "2025-01-01", "version": "1", "page": 25, "url": "https://fnet.bmfbovespa.com.br/fnet/publico/visualizarDocumento?id=869529", "sha256": "9a93a9369ac8efdbc54ff8fcee3ccac3abf88edab4807b9323d3852450771b2a"}, {"document_id": "870070", "title": "Demonstrações Financeiras", "reference_date": "2024-12-31", "version": "1", "page": 25, "url": "https://fnet.bmfbovespa.com.br/fnet/publico/visualizarDocumento?id=870070", "sha256": "9a93a9369ac8efdbc54ff8fcee3ccac3abf88edab4807b9323d3852450771b2a"}], "reference": {"path": "history/54871427000194.json", "criterion_id": "rating", "total_count": 5, "preview_count": 3, "full_text_deferred": true, "sha256": "35d7cd99be50c7287c9fb675cf4f2e736002315295a225a9efa79c8d9186d874"}}</a:t>
            </a:r>
          </a:p>
          <a:p>
            <a:r>
              <a:t>CNPJ 60010416000112 · Rating por subclasse e downgrade · Demonstrações Financeiras - Fusão, cisão e incorporação · ID 1298690 · 2026-05-08 · versão 1 · p. 35 · https://fnet.bmfbovespa.com.br/fnet/publico/visualizarDocumento?id=1298690</a:t>
            </a:r>
          </a:p>
          <a:p>
            <a:r>
              <a:t>CNPJ 60010416000112 · Rating por subclasse e downgrade · Excerto da fonte:</a:t>
            </a:r>
          </a:p>
          <a:p>
            <a:r>
              <a:t>As Cotas Seniores poderão ser objeto de classificação de risco (rating) por Agência  Classificadora de Risco em funcionamento no país.</a:t>
            </a:r>
          </a:p>
          <a:p>
            <a:r>
              <a:t>CNPJ 60010416000112 · Rating por subclasse e downgrade · Condição: Documentos atuais selecionados no inventário por categoria/escopo; a data documental isolada não comprova vigência jurídica.</a:t>
            </a:r>
          </a:p>
          <a:p>
            <a:r>
              <a:t>CNPJ 60010416000112 · Rating por subclasse e downgrade · Versão e prevalência: Documentos atuais selecionados no inventário por categoria/escopo; a data documental isolada não comprova vigência jurídica.</a:t>
            </a:r>
          </a:p>
          <a:p>
            <a:r>
              <a:t>CNPJ 60010416000112 · Rating por subclasse e downgrade · Resumo do histórico: {"count": 5, "dates": ["2025-11-30", "2026-03-18", "2026-04-16"], "document_count": 3, "sources": [{"document_id": "1282181", "title": "Demonstrações Financeiras - Fusão, cisão e incorporação", "reference_date": "2026-04-16", "version": "1", "page": 38, "url": "https://fnet.bmfbovespa.com.br/fnet/publico/visualizarDocumento?id=1282181", "sha256": "b1c6566e43a00bcd00c8a7f30c77b7f86e351bd8e355bbea113f46d1dafda703"}, {"document_id": "1224477", "title": "Demonstrações Financeiras - Fusão, cisão e incorporação", "reference_date": "2026-03-18", "version": "1", "page": 37, "url": "https://fnet.bmfbovespa.com.br/fnet/publico/visualizarDocumento?id=1224477", "sha256": "0751bf0a75bc3b44c2748f5000226665c6ec6698a90c4dc6170b4e6c187759ae"}, {"document_id": "1126154", "title": "Demonstrações Financeiras", "reference_date": "2025-11-30", "version": "1", "page": 38, "url": "https://fnet.bmfbovespa.com.br/fnet/publico/visualizarDocumento?id=1126154", "sha256": "a01e7ccf88c548f12c95cba8526d7efbef6b585c112cd4668eca781c292090b0"}], "reference": {"path": "history/60010416000112.json", "criterion_id": "rating", "total_count": 5, "preview_count": 3, "full_text_deferred": true, "sha256": "8e2bd813f4c51cf01f6bfaad164bafe69d2bbb192f753eac92da3a01c2e63046"}}</a:t>
            </a:r>
          </a:p>
          <a:p>
            <a:r>
              <a:t>CNPJ 62696791000193 · Rating por subclasse e downgrade · Regulamento · ID 1143317 · 2026-03-20 · versão 1 · p. 3 · 2.1.2 · https://fnet.bmfbovespa.com.br/fnet/publico/visualizarDocumento?id=1143317</a:t>
            </a:r>
          </a:p>
          <a:p>
            <a:r>
              <a:t>CNPJ 62696791000193 · Rating por subclasse e downgrade · Excerto da fonte:</a:t>
            </a:r>
          </a:p>
          <a:p>
            <a:r>
              <a:t>2.1.2 Não obstante as atribuições previstas neste Regulamento e na regulamentação aplicável, cabe  ao Gestor praticar os atos necessários à gestão da carteira de ativos do Fundo, o que inclui,  mas não se limita, à contratação, em nome do Fundo ou da classe de cot as, dos seguintes  serviços: (a) intermediação de operações para carteira de ativos; (b) distribuição de cotas; (c)  consultoria de investimentos ou consultoria especializada; (d) classificação de risco por agência  de classificação de risco de crédito; (e) f ormador de mercado de classe f echada; (f ) cogestão  da carteira de ativos; (g) empresa especializada para administrar as locações ou arrendamentos  de imóveis rurais e a exploração do direito de superf ície, assim como para monitorar e</a:t>
            </a:r>
          </a:p>
          <a:p>
            <a:r>
              <a:t>CNPJ 62696791000193 · Rating por subclasse e downgrade · Regulamento · ID 1143317 · 2026-03-20 · versão 1 · p. 36 · 1.2 · https://fnet.bmfbovespa.com.br/fnet/publico/visualizarDocumento?id=1143317</a:t>
            </a:r>
          </a:p>
          <a:p>
            <a:r>
              <a:t>CNPJ 62696791000193 · Rating por subclasse e downgrade · Excerto da fonte:</a:t>
            </a:r>
          </a:p>
          <a:p>
            <a:r>
              <a:t>1.2. As Cotas Subordinadas Juniores serão subscritas e integralizadas por um único Cotista e/ou por Cotistas  vinculados por interesse único e indissociável, de forma que serão objeto de colocação privada, nos termos  do Compromisso de Investimento a ser f irmado pelo Cotista, dispensadas da classificação de risco e não  terão parâmetro de remuneração def inido.</a:t>
            </a:r>
          </a:p>
          <a:p>
            <a:r>
              <a:t>2. Emissão, Subscrição e Integralização das Cotas</a:t>
            </a:r>
          </a:p>
          <a:p>
            <a:r>
              <a:t>CNPJ 62696791000193 · Rating por subclasse e downgrade · Condição: Documentos atuais selecionados no inventário por categoria/escopo; a data documental isolada não comprova vigência jurídica.</a:t>
            </a:r>
          </a:p>
          <a:p>
            <a:r>
              <a:t>CNPJ 62696791000193 · Rating por subclasse e downgrade · Versão e prevalência: Documentos atuais selecionados no inventário por categoria/escopo; a data documental isolada não comprova vigência jurídica.</a:t>
            </a:r>
          </a:p>
          <a:p>
            <a:r>
              <a:t>CNPJ 55563624000109 · Rating por subclasse e downgrade · Regulamento · ID 1192614 · 30/04/2026 · versão Regulamento30/04/2026 · p. 44 · GlossárioTermo de Adesão · https://fnet.bmfbovespa.com.br/fnet/publico/visualizarDocumento?id=1192614</a:t>
            </a:r>
          </a:p>
          <a:p>
            <a:r>
              <a:t>CNPJ 55563624000109 · Rating por subclasse e downgrade · Excerto da fonte:</a:t>
            </a:r>
          </a:p>
          <a:p>
            <a:r>
              <a:t>Termo de Adesão”: documento elaborado nos termos do art. 29 da Resolução CVM 175, por meio do qual o Cotista adere a este Regulamento e que deve ser firmado quando de seu ingresso no FUNDO, declarando, inclusive, sem se limitar a, ter pleno conhecimento dos riscos envolvidos na operação, inclusive da possibilidade de perda total do capital investido, e da ausência de classificação de risco das Cotas subscritas; “Valor Unitário”: o valor individual das Cotas, equivalente a R$ 1.000,00 (um mil), na primeira Data de Emissão, calculado todo Dia Útil para efeito da definição de seu valor de integralização e</a:t>
            </a:r>
          </a:p>
          <a:p>
            <a:r>
              <a:t>CNPJ 55563624000109 · Rating por subclasse e downgrade · Versão e prevalência: Leitura específica das cláusulas indicadas; condições e conflitos preservados. Seleção documental atual não comprova vigência jurídica por data isolada.</a:t>
            </a:r>
          </a:p>
          <a:p>
            <a:r>
              <a:t>CNPJ 55563624000109 · Rating por subclasse e downgrade · Resumo do histórico: {"count": 2, "dates": ["2025-01-31", "2026-01-31"], "document_count": 2, "sources": [{"document_id": "1178840", "title": "Demonstrações Financeiras", "reference_date": "2026-01-31", "version": "1", "page": 22, "url": "https://fnet.bmfbovespa.com.br/fnet/publico/visualizarDocumento?id=1178840", "sha256": "c458e98664c5c907ddb5a05a94b120bed4e05295b2bfc420f5ba69af0a229abe"}, {"document_id": "891861", "title": "Demonstrações Financeiras", "reference_date": "2025-01-31", "version": "1", "page": 23, "url": "https://fnet.bmfbovespa.com.br/fnet/publico/visualizarDocumento?id=891861", "sha256": "e9cb9e6ddbe505fe068cfcac33605165a98313489de0d3ce6d4d238263c3f3e7"}], "reference": {"path": "history/55563624000109.json", "criterion_id": "rating", "total_count": 2, "preview_count": 2, "full_text_deferred": true, "sha256": "7835d573fb58a3c19adf5b8ecc2aee2bdbb9a88f7a0c0209b5f262b64c7522e3"}}</a:t>
            </a:r>
          </a:p>
          <a:p>
            <a:r>
              <a:t>CNPJ 62552447000120 · Rating por subclasse e downgrade · Regulamento · ID 1200623 · 21/05/2026 · versão Consolidado21/05/2026 aprovado pelo ato1200625 · p. 19 · AnexoI6.11 · https://fnet.bmfbovespa.com.br/fnet/publico/visualizarDocumento?id=1200623</a:t>
            </a:r>
          </a:p>
          <a:p>
            <a:r>
              <a:t>CNPJ 62552447000120 · Rating por subclasse e downgrade · Excerto da fonte:</a:t>
            </a:r>
          </a:p>
          <a:p>
            <a:r>
              <a:t>6.11 As Cotas não serão objeto de classif icação de risco . CAPÍTULO 7 – AMORTIZAÇÃO DAS COTAS 7.1 A distribuição de quaisquer ganhos e rendimentos d a Classe aos Cotistas será f eita exclusivamente mediante a Amortização, observado o disposto neste Capítulo. 7.2 As Cotas poderão ser amortizadas através de uma Amortização programada, se houver, conforme prevista nos Apêndices, caso aplicável (“Amortização Programada”), e por meio amortização extraordinária das Cotas, a ser realizada por (a) por decisão do Gestor, para: (i) reenquadramento da Carteira ao mínimo de Direitos Creditórios que deve ser detido pel</a:t>
            </a:r>
          </a:p>
          <a:p>
            <a:r>
              <a:t>CNPJ 62552447000120 · Rating por subclasse e downgrade · Versão e prevalência: Leitura específica das cláusulas indicadas; condições e conflitos preservados. Seleção documental atual não comprova vigência jurídica por data isolada.</a:t>
            </a:r>
          </a:p>
          <a:p>
            <a:r>
              <a:t>CNPJ 63953620000165 · Rating por subclasse e downgrade · Anexo ao Regulamento · ID 1222863 · 02/06/2026 · versão AnexoConsignadoPrivado02/06/2026 · p. 11 · 6.14 · https://fnet.bmfbovespa.com.br/fnet/publico/visualizarDocumento?id=1222863</a:t>
            </a:r>
          </a:p>
          <a:p>
            <a:r>
              <a:t>CNPJ 63953620000165 · Rating por subclasse e downgrade · Excerto da fonte:</a:t>
            </a:r>
          </a:p>
          <a:p>
            <a:r>
              <a:t>6.14 As Cotas poderão ser objeto de classificação de risco pela contratada pelo Gestor, desde que em comum acordo entre Gestor e Cotistas Subordinados em Assembleia Especial de Cotistas (“Agência Classificadora de Risco”). CAPÍTULO 7 – AMORTIZAÇÃO DAS COTAS 7.1 A distribuição de quaisquer ganhos e rendimentos da Classe aos Cotistas será feita exclusivamente mediante a Amortização de Cotas, observado o disposto neste Capítulo e nos Apêndices. 7.2 As Cotas poderão ser amortizadas através de uma Amortização por Regime de Caixa, se houver conforme prevista nos Apêndices; e por meio amortização extraordinária das Cotas, a ser realiz</a:t>
            </a:r>
          </a:p>
          <a:p>
            <a:r>
              <a:t>CNPJ 63953620000165 · Rating por subclasse e downgrade · Versão e prevalência: Leitura específica das cláusulas indicadas; condições e conflitos preservados. Seleção documental atual não comprova vigência jurídica por data isolada.</a:t>
            </a:r>
          </a:p>
          <a:p>
            <a:r>
              <a:t>CNPJ 63953620000165 · Rating por subclasse e downgrade · Resumo do histórico: {"count": 8, "dates": ["2026-04-28", "2026-05-08", "2026-05-15"], "document_count": 3, "sources": [{"document_id": "1327859", "title": "Demonstrações Financeiras - Fusão, cisão e incorporação", "reference_date": "2026-05-15", "version": "1", "page": 29, "url": "https://fnet.bmfbovespa.com.br/fnet/publico/visualizarDocumento?id=1327859", "sha256": "dca1c68babb97f887528c3e2e47596a9c30f507b067981a35655b2f2da9c8054"}, {"document_id": "1298691", "title": "Demonstrações Financeiras - Fusão, cisão e incorporação", "reference_date": "2026-05-08", "version": "1", "page": 30, "url": "https://fnet.bmfbovespa.com.br/fnet/publico/visualizarDocumento?id=1298691", "sha256": "58c570d9b8d4d265330d3db3ea81c435b8e44a6dab4002aa37790652a1ee9819"}, {"document_id": "1282180", "title": "Demonstrações Financeiras - Fusão, cisão e incorporação", "reference_date": "2026-04-28", "version": "1", "page": 30, "url": "https://fnet.bmfbovespa.com.br/fnet/publico/visualizarDocumento?id=1282180", "sha256": "afaaa0e6809be4385e5bdb6c911aac582032c5bdbac3d7750234bf9eaf00438a"}], "reference": {"path": "history/63953620000165.json", "criterion_id": "rating",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Hedge e prestadores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Finalidade e limites de derivativos · Regulamento · ID 670691 · 28/04/2024 · versão Regulamento — referência 28/04/2024 · p. 13 · Anexo I, 4.15–4.16 · https://fnet.bmfbovespa.com.br/fnet/publico/visualizarDocumento?id=670691</a:t>
            </a:r>
          </a:p>
          <a:p>
            <a:r>
              <a:t>CNPJ 54871427000194 · Finalidade e limites de derivativos · Excerto da fonte:</a:t>
            </a:r>
          </a:p>
          <a:p>
            <a:r>
              <a:t>4.15 A Classe poderá utilizar instrumentos derivativos, desde que com o objetivo de proteção patrimonial, ou, desde que não resulte em exposição a risco de capital, conforme definida no inciso XXIV Art. 3º da parte geral da Resolução CVM 175, troca de indexador a que os ativos estão indexados . 4.16 A Classe não realizará operações de day trade, assim consideradas aquelas iniciadas e encerradas no mesmo dia, independentemente de a Classe possuir estoque ou posição anterior do mesmo Ativo Financeiro. 4.17 É vedada qualquer forma de antecipação de recursos aos Endossantes para posterior reembolso pela Classe, seja pelo ADMINISTRADOR, GESTOR, CUSTODIANTE, consultora ou Originadores. 4.18 Exceto na medida em que eventualmente previsto nos Contratos de Cessão e/ou em instrumentos eventualmente celebrados entre a Classe e os Endossantes, os Endossantes não serão responsáveis em caso de eventual inadimplemento dos Direitos Creditórios por eles cedidos, sendo responsáveis, não obstante, apenas pela existência, certeza, conteúdo, exatidão, veracidade, legitimidade, validade e correta f ormalização dos Direitos Creditórios que cederem à Classe, nos termos da</a:t>
            </a:r>
          </a:p>
          <a:p>
            <a:r>
              <a:t>CNPJ 54871427000194 · Finalidade e limites de derivativos · Versão e prevalência: Leitura específica das cláusulas indicadas; condições e conflitos preservados. Seleção documental atual não comprova vigência jurídica por data isolada.</a:t>
            </a:r>
          </a:p>
          <a:p>
            <a:r>
              <a:t>CNPJ 54871427000194 · Finalidade e limites de derivativos · Resumo do histórico: {"count": 2, "dates": ["2024-04-19", "2024-04-28"], "document_count": 2, "sources": [{"document_id": "670691", "title": "Regulamento", "reference_date": "2024-04-28", "version": "1", "page": "13", "url": "https://fnet.bmfbovespa.com.br/fnet/publico/visualizarDocumento?id=670691", "sha256": "bf16dd7f1a62d5cdbf2e2d54fef81783783f7310fbc99c3a8f00459bdf9d037b"}, {"document_id": "670689", "title": "Regulamento", "reference_date": "2024-04-19", "version": "1", "page": 13, "clause": "4.15", "url": "https://fnet.bmfbovespa.com.br/fnet/publico/visualizarDocumento?id=670689", "sha256": "891bc9bc5d87bbc02ec139077a84d2702eb81ea02035fb71d24f5b8366b94a0b"}], "reference": {"path": "history/54871427000194.json", "criterion_id": "hedge", "total_count": 2, "preview_count": 2, "full_text_deferred": true, "sha256": "35d7cd99be50c7287c9fb675cf4f2e736002315295a225a9efa79c8d9186d874"}}</a:t>
            </a:r>
          </a:p>
          <a:p>
            <a:r>
              <a:t>CNPJ 60010416000112 · Finalidade e limites de derivativos · Regulamento · ID 1051393 · 2025-10-09 · versão 1 · p. 12 · 4.9 · https://fnet.bmfbovespa.com.br/fnet/publico/visualizarDocumento?id=1051393</a:t>
            </a:r>
          </a:p>
          <a:p>
            <a:r>
              <a:t>CNPJ 60010416000112 · Finalidade e limites de derivativos · Excerto da fonte:</a:t>
            </a:r>
          </a:p>
          <a:p>
            <a:r>
              <a:t>4.9 Sem prejuízo de limites mais restritivos definidos neste Regulamento, o Gestor deverá observar, ainda, os  seguintes limites de concentração para a composição da Carteira:</a:t>
            </a:r>
          </a:p>
          <a:p>
            <a:r>
              <a:t> (i ) Até 100% (cem por cento) da parcela do Patrimônio Líquido investida em Ativos  Financeiros de Liquidez poderá ser alocada em Ativos Financeiros de Liquidez de  emissão ou que envolvam retenção de risco por parte do Administrador, Gestor, e/ou  suas partes relacionadas; e</a:t>
            </a:r>
          </a:p>
          <a:p>
            <a:r>
              <a:t> (ii) Até 100% (cem por cento) da parcela do Patrimônio Líquido investida em operações  com derivativos poderá ser alocada em derivativos nos quais, inexistindo contraparte  central, se tenha como contraparte o Gestor e/ou suas partes relacionadas.</a:t>
            </a:r>
          </a:p>
          <a:p>
            <a:r>
              <a:t>CNPJ 60010416000112 · Finalidade e limites de derivativos · Regulamento · ID 1051393 · 2025-10-09 · versão 1 · p. 13 · 4.15 · https://fnet.bmfbovespa.com.br/fnet/publico/visualizarDocumento?id=1051393</a:t>
            </a:r>
          </a:p>
          <a:p>
            <a:r>
              <a:t>CNPJ 60010416000112 · Finalidade e limites de derivativos · Excerto da fonte:</a:t>
            </a:r>
          </a:p>
          <a:p>
            <a:r>
              <a:t>4.15 A Classe poderá utilizar instrumentos derivativos, observados os limites de concentração previstos neste  Regulamento, desde que com o objetivo de proteção patrimonial, ou, desde que não resulte em exposição  a risco de capital, conforme definida no inciso XXIV do Art. 3º da parte geral da Resolução CVM 175, troca  de indexador a que os ativos estão indexados e o índice de ref erência de cada Subclasse.</a:t>
            </a:r>
          </a:p>
          <a:p>
            <a:r>
              <a:t>CNPJ 60010416000112 · Finalidade e limites de derivativos · Regulamento · ID 1051393 · 2025-10-09 · versão 1 · p. 16 · 7.11 · https://fnet.bmfbovespa.com.br/fnet/publico/visualizarDocumento?id=1051393</a:t>
            </a:r>
          </a:p>
          <a:p>
            <a:r>
              <a:t>CNPJ 60010416000112 · Finalidade e limites de derivativos · Excerto da fonte:</a:t>
            </a:r>
          </a:p>
          <a:p>
            <a:r>
              <a:t>7.11 Sem prejuízo do disposto do disposto nos itens 7.1 a 7.10 acima, a partir da Data da 1ª Integralização de  Cotas até a liquidação integral das Obrigações da Classe, sempre preservando a manutenção da boa  ordem legal, administrativa e operacional da Classe, o Gestor obriga-se a utilizar os recursos disponíveis  na Conta de Movimentação da Classe e/ou mantidos em Ativos Financeiros de Liquidez, em cada Dia Útil,  de acordo com a seguinte ordem de prioridade de alocação, na forma dos itens e tabela abaixo, de modo  que cada um dos itens listado apenas será contemplado após o direcionamento do montante total  necessário para a satisfação dos itens anteriores, ressalvado, enquanto em curso um Evento de Avaliação  e/ou um Evento de Liquidação, o disposto no item 11.4.1 abaixo</a:t>
            </a:r>
          </a:p>
          <a:p>
            <a:r>
              <a:t> (i) entradas de recursos provenientes da integralização de Cotas e dos Direitos Creditórios e  Ativos Financeiros de Liquidez que compõem a carteira da Classe, durante o Período de  Investimento, na seguinte ordem:</a:t>
            </a:r>
          </a:p>
          <a:p>
            <a:r>
              <a:t> a. pagamento dos Encargos;</a:t>
            </a:r>
          </a:p>
          <a:p>
            <a:r>
              <a:t> b. pagamento de despesas relativas aos instrumentos derivativos, conf orme aplicável;</a:t>
            </a:r>
          </a:p>
          <a:p>
            <a:r>
              <a:t> c. aquisição de Direitos Creditórios, sempre que ofertado, em moeda corrente nacional, em  conf ormidade com a Política de Investimento descrita neste Regulamento, sem prejuízo  do disposto no item 4.12 acima; e  d. aquisição de Ativos Financeiros de Liquidez, observando-se a Política de Investimentos.</a:t>
            </a:r>
          </a:p>
          <a:p>
            <a:r>
              <a:t> (ii) entradas de recursos provenientes dos Direitos Creditórios e Ativos Financeiros de Liquidez  que compõem a carteira da Classe, após o término do Período de Investimento, na seguinte  ordem, observadas as seguintes condições:</a:t>
            </a:r>
          </a:p>
          <a:p>
            <a:r>
              <a:t> a. pagamento dos Encargos;</a:t>
            </a:r>
          </a:p>
          <a:p>
            <a:r>
              <a:t> b. pagamento de despesas relativas aos instrumentos derivativos, conf orme aplicável;</a:t>
            </a:r>
          </a:p>
          <a:p>
            <a:r>
              <a:t> c. pagamento da amortização do principal e dos rendimentos acumulados relacionados às  Cotas Seniores, de modo que, considerando, pro f orma, todas as amortizações  pretendidas, o percentual empregado para amortização das Cotas Seniores seja  equivalente à relação entre o Patrimônio Líquido Sênior dividido pelo Patrimônio Líquido  da Classe, com a devida observância dos termos e condições deste Regulamento, do  Apêndice e do Suplemento das Cotas Seniores;</a:t>
            </a:r>
          </a:p>
          <a:p>
            <a:r>
              <a:t> d. pagamento da amortização do principal e dos rendimentos acumulados relacionados às  Cotas Subordinadas, de modo que, considerando, pro f orma, todas as amortizações  pretendidas, o percentual empregado para amortização das Cotas Subordinadas seja  equivalente à relação entre o Patrimônio Líquido Subordinado dividido pelo Patrimônio  Líquido da Classe, com a devida observância dos termos e condições deste  Regulamento, do Apêndice e do Suplemento das Cotas Seniores e desde que  respeitados o Índice de Subordinação;</a:t>
            </a:r>
          </a:p>
          <a:p>
            <a:r>
              <a:t> e. aquisição de Ativos Financeiros, observado o limite de alocação previsto no item 4.7  deste Anexo I.</a:t>
            </a:r>
          </a:p>
          <a:p>
            <a:r>
              <a:t>CNPJ 60010416000112 · Finalidade e limites de derivativos · Condição: Documentos atuais selecionados no inventário por categoria/escopo; a data documental isolada não comprova vigência jurídica.</a:t>
            </a:r>
          </a:p>
          <a:p>
            <a:r>
              <a:t>CNPJ 60010416000112 · Finalidade e limites de derivativos · Versão e prevalência: Documentos atuais selecionados no inventário por categoria/escopo; a data documental isolada não comprova vigência jurídica.</a:t>
            </a:r>
          </a:p>
          <a:p>
            <a:r>
              <a:t>CNPJ 60010416000112 · Finalidade e limites de derivativos · Resumo do histórico: {"count": 2, "dates": ["2025-03-20", "2025-10-09"], "document_count": 2, "sources": [{"document_id": "1051393", "title": "Regulamento", "reference_date": "2025-10-09", "version": "1", "page": "13", "url": "https://fnet.bmfbovespa.com.br/fnet/publico/visualizarDocumento?id=1051393", "sha256": "8469d613078ffd5a6c1d217885d8a397a16342c0b937ae4aa24b106505f233ae"}, {"document_id": "993786", "title": "Regulamento", "reference_date": "2025-03-20", "version": "1", "page": 12, "clause": "4.9", "url": "https://fnet.bmfbovespa.com.br/fnet/publico/visualizarDocumento?id=993786", "sha256": "fd0fdd369a195510d81f81f505195a0b09e5f43522a990afa7d58c4f872921c8"}], "reference": {"path": "history/60010416000112.json", "criterion_id": "hedge", "total_count": 2, "preview_count": 2, "full_text_deferred": true, "sha256": "8e2bd813f4c51cf01f6bfaad164bafe69d2bbb192f753eac92da3a01c2e63046"}}</a:t>
            </a:r>
          </a:p>
          <a:p>
            <a:r>
              <a:t>CNPJ 62696791000193 · Finalidade e limites de derivativos · Regulamento · ID 1143317 · 20/03/2026 · versão Regulamento — referência 20/03/2026 · p. 15 · Anexo I, 4.28 e 4.30(i) · https://fnet.bmfbovespa.com.br/fnet/publico/visualizarDocumento?id=1143317</a:t>
            </a:r>
          </a:p>
          <a:p>
            <a:r>
              <a:t>CNPJ 62696791000193 · Finalidade e limites de derivativos · Excerto da fonte:</a:t>
            </a:r>
          </a:p>
          <a:p>
            <a:r>
              <a:t>4.28 A Classe pode aplicar recursos em instrumentos financeiros derivativos, exclusivamente para fins de proteção patrimonial, cuja exposição seja sempre, no máximo, o valor do Patrimônio Líquido. 4.29 A Classe pode emprestar ativos f inanceiros e valores mobiliários, desde que tais operações de empréstimo sejam cursadas exclusivamente por meio de serviço autorizado pelo Banco Central do Brasil ou pela CVM. 4.30 É vedado à Classe: (i) aplicar no exterior recursos captados no País; (ii) salvo aprovação em assembleia de Cotistas, a realização de operações quando caracterizada situação de conf lito de interesses entre: (a) a Classe, o Administrador ou o Gestor ou a Consultoria Especializada; (b) a Classe e os Cotistas que detenham participação correspondente a, no mínimo, 10% (dez por cento) do patrimônio da Classe; e (c) a Classe e o representante dos Cotistas; (iii) a aplicação de recursos em sociedades nas quais participem o Administrador, o Gestor, os consultores, os membros de comitês ou conselhos e os Cotistas titulares de Cotas representativas de 5% (cinco por cento) do patri</a:t>
            </a:r>
          </a:p>
          <a:p>
            <a:r>
              <a:t>CNPJ 62696791000193 · Finalidade e limites de derivativos · Regulamento · ID 1143317 · 20/03/2026 · versão Regulamento — referência 20/03/2026 · p. 27 · Anexo I, 12.11(x) · https://fnet.bmfbovespa.com.br/fnet/publico/visualizarDocumento?id=1143317</a:t>
            </a:r>
          </a:p>
          <a:p>
            <a:r>
              <a:t>CNPJ 62696791000193 · Finalidade e limites de derivativos · Excerto da fonte:</a:t>
            </a:r>
          </a:p>
          <a:p>
            <a:r>
              <a:t>(x) realizar operações com derivativos, exceto quando tais operações f orem realizadas exclusivamente para f ins de proteção patrimonial e desde que a exposição seja sempre, no máximo, o valor do Patrimônio Líquido. 12.11.1 A vedação prevista no item (v) acima não impede a aquisição de imóveis sobre os quais tenham sido constituídos ônus reais anteriormente ao seu ingresso no patrimônio . 12.12 É vedado ao Gestor o recebimento de qualquer remuneração, benefício ou vantagem, direta ou indiretamente, que potencialmente prejudique sua independência na tomada de decisão. Consultoria Especializada 12.13 O Gestor, conforme disposto no Anexo Normativo VI da Resolução 175, poderá contratar Consultoria Especializada para que preste os seguintes serviços (“Consultoria Especializada”): (i) Analisar, selecionar, avaliar e acompanhar, de acordo com a Política de Investimentos deste Anexo, os ativos integrantes ou que possam vir a integrar a carteira da classe do Fundo; (ii) Participar de negociações e propor negócios à classe, observada a Política de Investimentos constante deste Anexo;</a:t>
            </a:r>
          </a:p>
          <a:p>
            <a:r>
              <a:t>CNPJ 62696791000193 · Finalidade e limites de derivativos · Versão e prevalência: Leitura específica das cláusulas indicadas; condições e conflitos preservados. Seleção documental atual não comprova vigência jurídica por data isolada.</a:t>
            </a:r>
          </a:p>
          <a:p>
            <a:r>
              <a:t>CNPJ 55563624000109 · Finalidade e limites de derivativos · Regulamento · ID 1192614 · 2026-04-30 · versão 1 · p. 14 · 4.21 · https://fnet.bmfbovespa.com.br/fnet/publico/visualizarDocumento?id=1192614</a:t>
            </a:r>
          </a:p>
          <a:p>
            <a:r>
              <a:t>CNPJ 55563624000109 · Finalidade e limites de derivativos · Excerto da fonte:</a:t>
            </a:r>
          </a:p>
          <a:p>
            <a:r>
              <a:t>4.21 A Classe poderá utilizar instrumentos derivativos, desde que com o objetivo de proteção patrimonial, ou, desde  que não resulte em exposição a risco de capital, conforme definida no inciso XXIV do Art. 3º da parte geral da  Resolução CVM 175 ou em troca de indexador a que os ativos estão indexados.</a:t>
            </a:r>
          </a:p>
          <a:p>
            <a:r>
              <a:t>CNPJ 55563624000109 · Finalidade e limites de derivativos · Regulamento · ID 1192614 · 2026-04-30 · versão 1 · p. 39 · https://fnet.bmfbovespa.com.br/fnet/publico/visualizarDocumento?id=1192614</a:t>
            </a:r>
          </a:p>
          <a:p>
            <a:r>
              <a:t>CNPJ 55563624000109 · Finalidade e limites de derivativos · Excerto da fonte:</a:t>
            </a:r>
          </a:p>
          <a:p>
            <a:r>
              <a:t>(xxii) Operações com derivativos. A Classe poderá realizar operações com derivativos  exclusivamente com o objetivo de proteção patrimonial. As operações com derivativos, pela sua  própria natureza, acrescentam riscos à Carteira e poderão afetar negativamente a sua rentabilidade,  até o limite do Patrimônio Líquido.</a:t>
            </a:r>
          </a:p>
          <a:p>
            <a:r>
              <a:t>CNPJ 55563624000109 · Finalidade e limites de derivativos · Condição: Documentos atuais selecionados no inventário por categoria/escopo; a data documental isolada não comprova vigência jurídica.</a:t>
            </a:r>
          </a:p>
          <a:p>
            <a:r>
              <a:t>CNPJ 55563624000109 · Finalidade e limites de derivativos · Versão e prevalência: Documentos atuais selecionados no inventário por categoria/escopo; a data documental isolada não comprova vigência jurídica.</a:t>
            </a:r>
          </a:p>
          <a:p>
            <a:r>
              <a:t>CNPJ 55563624000109 · Finalidade e limites de derivativos · Resumo do histórico: {"count": 3, "dates": ["2025-01-31", "2026-01-31", "2026-04-30"], "document_count": 3, "sources": [{"document_id": "1192614", "title": "Regulamento", "reference_date": "2026-04-30", "version": "1", "page": "14", "url": "https://fnet.bmfbovespa.com.br/fnet/publico/visualizarDocumento?id=1192614", "sha256": "f56e63ace0acde41d2f47fb48f1ac7f3f7df5e2d32de092d7c5e075a52516632"}, {"document_id": "1178840", "title": "Demonstrações Financeiras", "reference_date": "2026-01-31", "version": "1", "page": 25, "url": "https://fnet.bmfbovespa.com.br/fnet/publico/visualizarDocumento?id=1178840", "sha256": "c458e98664c5c907ddb5a05a94b120bed4e05295b2bfc420f5ba69af0a229abe"}, {"document_id": "891861", "title": "Demonstrações Financeiras", "reference_date": "2025-01-31", "version": "1", "page": 26, "url": "https://fnet.bmfbovespa.com.br/fnet/publico/visualizarDocumento?id=891861", "sha256": "e9cb9e6ddbe505fe068cfcac33605165a98313489de0d3ce6d4d238263c3f3e7"}], "reference": {"path": "history/55563624000109.json", "criterion_id": "hedge", "total_count": 3, "preview_count": 3, "full_text_deferred": true, "sha256": "7835d573fb58a3c19adf5b8ecc2aee2bdbb9a88f7a0c0209b5f262b64c7522e3"}}</a:t>
            </a:r>
          </a:p>
          <a:p>
            <a:r>
              <a:t>CNPJ 62552447000120 · Finalidade e limites de derivativos · Regulamento · ID 1200623 · 21/05/2026 · versão Consolidado21/05/2026 aprovado pelo ato1200625 · p. 14 · AnexoI4.10.1 · https://fnet.bmfbovespa.com.br/fnet/publico/visualizarDocumento?id=1200623</a:t>
            </a:r>
          </a:p>
          <a:p>
            <a:r>
              <a:t>CNPJ 62552447000120 · Finalidade e limites de derivativos · Excerto da fonte:</a:t>
            </a:r>
          </a:p>
          <a:p>
            <a:r>
              <a:t>4.10.1 O uso de derivativos está restrito a operações que visem à proteção patrimonial ou, desde que não resulte em exposição a risco de capital, à troca de indexador e/ou do índice de referência. 4.11 Sem prejuízo de limites mais restritivos definidos neste Regulamento, o Gestor deverá observar, ainda, os seguintes limites de concentração para a composição da Carteira: (i) Até 100% (cem por cento) da parcela do Patrimônio Líquido investida em Direitos Creditórios poderão ser alocados em Direitos Creditórios originados ou cedidos pelo Administrador, Gestor e</a:t>
            </a:r>
          </a:p>
          <a:p>
            <a:r>
              <a:t>CNPJ 62552447000120 · Finalidade e limites de derivativos · Motivo: Cláusula primária localizada e citada, mas sua lista/condições extensas não admitem uma síntese literal curta confirmada. O trecho integral permanece nas fontes.</a:t>
            </a:r>
          </a:p>
          <a:p>
            <a:r>
              <a:t>CNPJ 62552447000120 · Finalidade e limites de derivativos · Versão e prevalência: Leitura específica das cláusulas indicadas; condições e conflitos preservados. Seleção documental atual não comprova vigência jurídica por data isolada.</a:t>
            </a:r>
          </a:p>
          <a:p>
            <a:r>
              <a:t>CNPJ 63953620000165 · Finalidade e limites de derivativos · Anexo ao Regulamento · ID 1222863 · 2026-06-02 · versão 1 · p. 7 · https://fnet.bmfbovespa.com.br/fnet/publico/visualizarDocumento?id=1222863</a:t>
            </a:r>
          </a:p>
          <a:p>
            <a:r>
              <a:t>CNPJ 63953620000165 · Finalidade e limites de derivativos · Excerto da fonte:</a:t>
            </a:r>
          </a:p>
          <a:p>
            <a:r>
              <a:t>Anexo I ao Regulamento  CLASSE CONSIGNADO PRIVADO DO MT GLOBAL FUNDO DE INVESTIMENTO EM DIREITOS  CREDITÓRIOS RESPONSABILIDADE LIMITADA</a:t>
            </a:r>
          </a:p>
          <a:p>
            <a:r>
              <a:t> (i)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 (ii) No máximo, 50% (cinquenta por cento) do Patrimônio Líquido investido em Ativos Financeiros  de Liquidez de emissão ou que envolvam retenção de risco por parte do Administrador, Gestor,  e/ou suas partes relacionadas, observado ainda o disposto acima;</a:t>
            </a:r>
          </a:p>
          <a:p>
            <a:r>
              <a:t> (iii) No máximo, 100% (cem por cento) do Patrimônio Líquido investido em operações com  derivativos nos quais, inexistindo contraparte central, se tenha como contraparte o Gestor,  Consultora e/ou suas partes relacionadas, observado ainda o disposto acima;</a:t>
            </a:r>
          </a:p>
          <a:p>
            <a:r>
              <a:t> (iv) A Classe poderá investir até 100% (cem por cento) de seu Patrimônio Líquido em Direitos  Creditórios Não-Padronizados;</a:t>
            </a:r>
          </a:p>
          <a:p>
            <a:r>
              <a:t> (v) É vedada a aquisição de precatórios federais.</a:t>
            </a:r>
          </a:p>
          <a:p>
            <a:r>
              <a:t>CNPJ 63953620000165 · Finalidade e limites de derivativos · Condição: Documentos atuais selecionados no inventário por categoria/escopo; a data documental isolada não comprova vigência jurídica.</a:t>
            </a:r>
          </a:p>
          <a:p>
            <a:r>
              <a:t>CNPJ 63953620000165 · Finalidade e limites de derivativos · Motivo: Cláusula primária localizada e citada, mas sua lista/condições extensas não admitem uma síntese literal curta confirmada. O trecho integral permanece nas fontes.</a:t>
            </a:r>
          </a:p>
          <a:p>
            <a:r>
              <a:t>CNPJ 63953620000165 · Finalidade e limites de derivativos · Versão e prevalência: Documentos atuais selecionados no inventário por categoria/escopo; a data documental isolada não comprova vigência jurídica.</a:t>
            </a:r>
          </a:p>
          <a:p>
            <a:r>
              <a:t>CNPJ 63953620000165 · Finalidade e limites de derivativos · Resumo do histórico: {"count": 8, "dates": ["2026-04-28", "2026-05-08", "2026-05-15"], "document_count": 3, "sources": [{"document_id": "1327859", "title": "Demonstrações Financeiras - Fusão, cisão e incorporação", "reference_date": "2026-05-15", "version": "1", "page": 26, "url": "https://fnet.bmfbovespa.com.br/fnet/publico/visualizarDocumento?id=1327859", "sha256": "dca1c68babb97f887528c3e2e47596a9c30f507b067981a35655b2f2da9c8054"}, {"document_id": "1298691", "title": "Demonstrações Financeiras - Fusão, cisão e incorporação", "reference_date": "2026-05-08", "version": "1", "page": 26, "url": "https://fnet.bmfbovespa.com.br/fnet/publico/visualizarDocumento?id=1298691", "sha256": "58c570d9b8d4d265330d3db3ea81c435b8e44a6dab4002aa37790652a1ee9819"}, {"document_id": "1282180", "title": "Demonstrações Financeiras - Fusão, cisão e incorporação", "reference_date": "2026-04-28", "version": "1", "page": 27, "url": "https://fnet.bmfbovespa.com.br/fnet/publico/visualizarDocumento?id=1282180", "sha256": "afaaa0e6809be4385e5bdb6c911aac582032c5bdbac3d7750234bf9eaf00438a"}], "reference": {"path": "history/63953620000165.json", "criterion_id": "hedge", "total_count": 8, "preview_count": 3, "full_text_deferred": true, "sha256": "a7b89077f5e21098c2d601c303faabc3ff6b9729f89d8afecdc60fe1404720c1"}}</a:t>
            </a:r>
          </a:p>
          <a:p>
            <a:r>
              <a:t>CNPJ 54871427000194 · Prioridade do hedge e reserva de MTM · Motivo: Não localizada uma cláusula material para este critério nos textos identificados e processados. A ausência de resultado não comprova inexistência da regra.</a:t>
            </a:r>
          </a:p>
          <a:p>
            <a:r>
              <a:t>CNPJ 60010416000112 · Prioridade do hedge e reserva de MTM · Motivo: Não localizada uma cláusula material para este critério nos textos identificados e processados. A ausência de resultado não comprova inexistência da regra.</a:t>
            </a:r>
          </a:p>
          <a:p>
            <a:r>
              <a:t>CNPJ 62696791000193 · Prioridade do hedge e reserva de MTM · Motivo: Não localizada uma cláusula material para este critério nos textos identificados e processados. A ausência de resultado não comprova inexistência da regra.</a:t>
            </a:r>
          </a:p>
          <a:p>
            <a:r>
              <a:t>CNPJ 55563624000109 · Prioridade do hedge e reserva de MTM · Motivo: Não localizada uma cláusula material para este critério nos textos identificados e processados. A ausência de resultado não comprova inexistência da regra.</a:t>
            </a:r>
          </a:p>
          <a:p>
            <a:r>
              <a:t>CNPJ 62552447000120 · Prioridade do hedge e reserva de MTM · Motivo: Não localizada uma cláusula material para este critério nos textos identificados e processados. A ausência de resultado não comprova inexistência da regra.</a:t>
            </a:r>
          </a:p>
          <a:p>
            <a:r>
              <a:t>CNPJ 63953620000165 · Prioridade do hedge e reserva de MTM · Motivo: Não localizada uma cláusula material para este critério nos textos identificados e processados. A ausência de resultado não comprova inexistência da regra.</a:t>
            </a:r>
          </a:p>
          <a:p>
            <a:r>
              <a:t>CNPJ 54871427000194 · Administrador, gestor e custodiante · Regulamento · ID 670691 · 2024-04-28 · versão 1 · p. 1 · 1.1 · https://fnet.bmfbovespa.com.br/fnet/publico/visualizarDocumento?id=670691</a:t>
            </a:r>
          </a:p>
          <a:p>
            <a:r>
              <a:t>CNPJ 54871427000194 · Administrador, gestor e custodiante · Excerto da fonte:</a:t>
            </a:r>
          </a:p>
          <a:p>
            <a:r>
              <a:t>1.1 CONSIGNADO DELTA RECEIVABLES I FUNDO DE INVESTIMENTO EM DIREITOS CREDITÓRIOS  (“FUNDO”), regido pela Lei nº 10.406, de 10 de janeiro de 2002, conf orme alterada (“Código Civil”),  pela parte geral e o Anexo Normativo II da Resolução nº 175, de 23 de dezembro de 2022, conforme  alterada, da Comissão de Valores Mobiliários (respectivamente, “CVM” e “Resolução CVM 175”), terá  como principais características:</a:t>
            </a:r>
          </a:p>
          <a:p>
            <a:r>
              <a:t> Classe de Cotas Classe única.</a:t>
            </a:r>
          </a:p>
          <a:p>
            <a:r>
              <a:t> Indeterminado, exceto se de outra f orma vier a ser deliberado pelos cotistas  Prazo de Duração  reunidos em assembleia geral de cotistas.</a:t>
            </a:r>
          </a:p>
          <a:p>
            <a:r>
              <a:t> BTG Pactual Serviços Financeiros S.A. Distribuidora de Títulos e Valores  Mobiliários, instituição f inanceira, com sede na Cidade e Estado do Rio de  Janeiro, na Praia de Botafogo, nº 501, 5º andar (parte), Torre Corcovado,  ADMINISTRADOR  Botafogo, CEP 22250-040, inscrita no CNPJ sob o nº 59.281.253/0001-23 e  credenciada como administradora de carteira, de acordo com o Ato Declaratório  CVM nº 8.695, de 20 de março de 2006 (“ADMINISTRADOR”).</a:t>
            </a:r>
          </a:p>
          <a:p>
            <a:r>
              <a:t> BTG Pactual Asset Management S.A. Distribuidora de Títulos e Valores  Mobiliários, inscrita no CNPJ/ME sob o nº 29.650.082/0001-00, com sede  Cidade e Estado do Rio de Janeiro, na Praia de Botafogo, n.º 501, 5° andar,  devidamente autorizada à prestação dos serviços de administração de carteira  GESTOR  de títulos e valores mobiliários por meio d o Ato Declaratório número 5.968,  expedido em 10 de maio de 2000 (“GESTOR” e, quando ref erido  conjuntamente e indistintamente com o ADMINISTRADOR, os “Prestadores  de Serviços Essenciais”).</a:t>
            </a:r>
          </a:p>
          <a:p>
            <a:r>
              <a:t> O FUNDO, seus cotistas, os distribuidores de cotas por conta e ordem, seu  GESTOR, seu ADMINISTRADOR e os demais prestadores de serviço do  FUNDO e/ou da CLASSE obrigam-se a resolver, por meio de arbitragem, de  acordo com o Regulamento de Arbitragem da Câmara de Arbitragem do  Mercado da B3 (“Regulamento CAM B3” e “CAM B3”, respectivamente), toda  e qualquer disputa ou controvérsia que possa surgir entre eles, relacionada ou  oriunda, em especial, da aplicação, validade, eficácia, interpretação, violação  e seus ef eitos, das disposições contidas no Regulamento e seus Anexos, nas  normas editadas pela CVM que lhe sejam aplicáveis e nos instrumentos entre  si f irmados (“Arbitragem”).</a:t>
            </a:r>
          </a:p>
          <a:p>
            <a:r>
              <a:t> (i) A Arbitragem será de direito, com a aplicação das normas da República  Federativa do Brasil, terá sede no Município de São Paulo, será  Foro Aplicável conduzida em língua portuguesa e de f orma confidencial. O tribunal  arbitral será constituído por 3 (três) árbitros, sendo um deles  presidente, escolhidos nos termos do Regulamento CAM B3.</a:t>
            </a:r>
          </a:p>
          <a:p>
            <a:r>
              <a:t> (ii) As despesas processuais iniciais deverão ser rateadas entre as partes,  arcando cada polo processual com metade dos valores necessários,  sem prejuízo à possibilidade de adiantamento pelas partes  interessadas, resolvendo-se as indef inições nos termos do  Regulamento CAM B3. A sentença arbitral deverá determinar a  responsabilidade final pelas despesas de acordo com a sucumbência  de cada parte, as quais deverão incluir as taxas administrativas,  honorários de árbitros e de peritos e despesas com diligências  processuais e f ornecimento de garantias que sejam determinadas  expressamente pelo tribunal arbitral. É vedada a imposição de  honorários de sucumbência, bem como a determinação de indenização</a:t>
            </a:r>
          </a:p>
          <a:p>
            <a:r>
              <a:t>CNPJ 54871427000194 · Administrador, gestor e custodiante · Regulamento · ID 670691 · 2024-04-28 · versão 1 · p. 7 · https://fnet.bmfbovespa.com.br/fnet/publico/visualizarDocumento?id=670691</a:t>
            </a:r>
          </a:p>
          <a:p>
            <a:r>
              <a:t>CNPJ 54871427000194 · Administrador, gestor e custodiante · Excerto da fonte:</a:t>
            </a:r>
          </a:p>
          <a:p>
            <a:r>
              <a:t>Banco BTG Pactual S.A., instituição f inanceira, com sede na Cidade e  Estado do Rio de Janeiro, na Praia de Botafogo, nº 501, 5º andar (parte),  Custódia Torre Corcovado, Botafogo, CEP 22250-040, inscrita no CNPJ sob o nº</a:t>
            </a:r>
          </a:p>
          <a:p>
            <a:r>
              <a:t> 30.306.294/0001-45 e credenciado como custodiante, de acordo com o  Ato Declaratório nº 7.204, de 25 de abril de 2003 (“CUSTODIANTE”).</a:t>
            </a:r>
          </a:p>
          <a:p>
            <a:r>
              <a:t> Tesouraria, Controladoria e ADMINISTRADOR.</a:t>
            </a:r>
          </a:p>
          <a:p>
            <a:r>
              <a:t> Escrituração  Subclasses Única.</a:t>
            </a:r>
          </a:p>
          <a:p>
            <a:r>
              <a:t>CNPJ 54871427000194 · Administrador, gestor e custodiante · Regulamento · ID 670691 · 2024-04-28 · versão 1 · p. 38 · https://fnet.bmfbovespa.com.br/fnet/publico/visualizarDocumento?id=670691</a:t>
            </a:r>
          </a:p>
          <a:p>
            <a:r>
              <a:t>CNPJ 54871427000194 · Administrador, gestor e custodiante · Excerto da fonte:</a:t>
            </a:r>
          </a:p>
          <a:p>
            <a:r>
              <a:t>“ADMINISTRADOR”: BTG Pactual Serviços Financeiros S.A. Distribuidora de Títulos e Valores Mobiliários, instituição com sede no Município do Rio de Janeiro, Estado do Rio de Janeiro, à Praia de Botafogo, nº 501, 5º andar – parte, inscrita no CNPJ sob o nº 59.281.253/0001-23, autorizada a funcionar pelo BACEN e autorizada pela CVM para a atividade de administração de carteiras de valores mobiliários, de acordo com o Ato Declaratório nº 8.695, de 20 de março de 2006, ou seu sucessor a qualquer título ;</a:t>
            </a:r>
          </a:p>
          <a:p>
            <a:r>
              <a:t>CNPJ 54871427000194 · Administrador, gestor e custodiante · Condição: Documentos atuais selecionados no inventário por categoria/escopo; a data documental isolada não comprova vigência jurídica.</a:t>
            </a:r>
          </a:p>
          <a:p>
            <a:r>
              <a:t>CNPJ 54871427000194 · Administrador, gestor e custodiante · Versão e prevalência: Documentos atuais selecionados no inventário por categoria/escopo; a data documental isolada não comprova vigência jurídica.</a:t>
            </a:r>
          </a:p>
          <a:p>
            <a:r>
              <a:t>CNPJ 54871427000194 · Administrador, gestor e custodiante · Resumo do histórico: {"count": 2, "dates": ["2024-04-19"], "document_count": 2, "sources": [{"document_id": "670687", "title": "Instrumento Particular de Constituição/Encerramento do Fundo", "reference_date": "2024-04-19", "version": "1", "page": 1, "url": "https://fnet.bmfbovespa.com.br/fnet/publico/visualizarDocumento?id=670687", "sha256": "999f2a47d39f7022b0fcee3d16fd1db33948537b897e92c4c9e14b436bf5eb96"}, {"document_id": "670689", "title": "Regulamento", "reference_date": "2024-04-19", "version": "1", "page": 1, "clause": "1.1", "url": "https://fnet.bmfbovespa.com.br/fnet/publico/visualizarDocumento?id=670689", "sha256": "891bc9bc5d87bbc02ec139077a84d2702eb81ea02035fb71d24f5b8366b94a0b"}], "reference": {"path": "history/54871427000194.json", "criterion_id": "providers", "total_count": 2, "preview_count": 2, "full_text_deferred": true, "sha256": "35d7cd99be50c7287c9fb675cf4f2e736002315295a225a9efa79c8d9186d874"}}</a:t>
            </a:r>
          </a:p>
          <a:p>
            <a:r>
              <a:t>CNPJ 60010416000112 · Administrador, gestor e custodiante · Regulamento · ID 1051393 · 2025-10-09 · versão 1 · p. 8 · https://fnet.bmfbovespa.com.br/fnet/publico/visualizarDocumento?id=1051393</a:t>
            </a:r>
          </a:p>
          <a:p>
            <a:r>
              <a:t>CNPJ 60010416000112 · Administrador, gestor e custodiante · Excerto da fonte:</a:t>
            </a:r>
          </a:p>
          <a:p>
            <a:r>
              <a:t>Tipo de Condomínio Fechado.</a:t>
            </a:r>
          </a:p>
          <a:p>
            <a:r>
              <a:t> Prazo de Duração Indeterminado.</a:t>
            </a:r>
          </a:p>
          <a:p>
            <a:r>
              <a:t> Classe de Investimento  Não.</a:t>
            </a:r>
          </a:p>
          <a:p>
            <a:r>
              <a:t> em Cotas  Tipo “Financeiro”.</a:t>
            </a:r>
          </a:p>
          <a:p>
            <a:r>
              <a:t> Classificação ANBIMA  Foco de atuação “Créditos Consignados”.</a:t>
            </a:r>
          </a:p>
          <a:p>
            <a:r>
              <a:t> O objetivo da classe é proporcionar aos seus Cotistas a valorização de suas Cotas  por meio da aplicação de seu Patrimônio Líquido na aquisição de: (i) Direitos  Creditórios que atendam aos Critérios de Elegibilidade, estabelecidos no Capítulo  4 abaixo, e (ii) Ativos Financeiros de Liquidez, observados todos os limites de  Objetivo composição e diversificação da Carteira da Classe, estabelecidos neste  Regulamento e na regulamentação aplicável.</a:t>
            </a:r>
          </a:p>
          <a:p>
            <a:r>
              <a:t> O objetivo da Classe não representa, sob qualquer hipótese, promessa, garantia  ou sugestão do Fundo ou de seus Prestadores de Serviços Essenciais quanto à  segurança, rentabilidade e liquidez dos títulos integrantes de sua carteira.</a:t>
            </a:r>
          </a:p>
          <a:p>
            <a:r>
              <a:t> Destinado exclusivamente a um único cotista ou grupo de cotistas vinculados por  Público-Alvo  interesse único e indissociável, classificados como Investidores Prof issionais.</a:t>
            </a:r>
          </a:p>
          <a:p>
            <a:r>
              <a:t> Banco BTG Pactual S.A., instituição financeira, com sede no município e Estado  do Rio de Janeiro, na Praia de Botafogo, nº 501, Torre Corcovado, 5º andar (parte),  Custódia e Tesouraria Botafogo, CEP 22.250-040, inscrita no CNPJ sob o nº 30.306.294/0001-45 e  credenciado como custodiante, de acordo com o Ato Declaratório nº 7.204, de 25  de abril de 2003 (“Custodiante”).</a:t>
            </a:r>
          </a:p>
          <a:p>
            <a:r>
              <a:t> Tesouraria,  Controladoria e Administrador.</a:t>
            </a:r>
          </a:p>
          <a:p>
            <a:r>
              <a:t> Escrituração  Subclasses Sênior e Subordinada, nos termos do Capítulo 5 e respectivos Apêndices.</a:t>
            </a:r>
          </a:p>
          <a:p>
            <a:r>
              <a:t> O valor de cada emissão de Cotas, volume e valor unitário da Cota, bem como o  Emissão e Regime de regime de distribuição, seguirão o disposto no instrumento que aprova a emissão  Distribuição de Cotas de Cotas, que disporá acerca da eventual existência de direito de preferência dos  Cotistas.</a:t>
            </a:r>
          </a:p>
          <a:p>
            <a:r>
              <a:t> Capital Autorizado Conf orme previsto nos Apêndices.</a:t>
            </a:r>
          </a:p>
          <a:p>
            <a:r>
              <a:t> As Cotas poderão ser admitidas à negociação em bolsa de valores ou entidade de  Negociação  balcão organizado, conf orme previsto nos Apêndices.</a:t>
            </a:r>
          </a:p>
          <a:p>
            <a:r>
              <a:t> Cálculo do Valor da Cota Conf orme Capítulo 6 deste Anexo e respectivos Apêndices.</a:t>
            </a:r>
          </a:p>
          <a:p>
            <a:r>
              <a:t> A distribuição de quaisquer ganhos e rendimentos da Classe aos Cotistas será  Distribuição de  f eita exclusivamente mediante a amortização e/ou o resgate de Cotas, observado  Proventos  o disposto no Regulamento, neste Anexo e respectivos Apêndices.</a:t>
            </a:r>
          </a:p>
          <a:p>
            <a:r>
              <a:t> Utilização de Ativos Não é permitida a integralização de Cotas, no todo ou em parte, com Direitos BTG Pactual SAC: 0800 772 28 27 - Ouvidoria: 0800 722 00 48 - btgpactual.com 8</a:t>
            </a:r>
          </a:p>
          <a:p>
            <a:r>
              <a:t>CNPJ 60010416000112 · Administrador, gestor e custodiante · Regulamento · ID 1051393 · 2025-10-09 · versão 1 · p. 1 · https://fnet.bmfbovespa.com.br/fnet/publico/visualizarDocumento?id=1051393</a:t>
            </a:r>
          </a:p>
          <a:p>
            <a:r>
              <a:t>CNPJ 60010416000112 · Administrador, gestor e custodiante · Excerto da fonte:</a:t>
            </a:r>
          </a:p>
          <a:p>
            <a:r>
              <a:t>BTG Pactual Asset Management S.A. Distribuidora de Títulos e Valores  Mobiliários, sociedade anônima, com sede no município do Rio de Janeiro,  Estado do Rio de Janeiro, na Praia de Botafogo, nº 501, Torre Corcovado, 5º andar</a:t>
            </a:r>
          </a:p>
          <a:p>
            <a:r>
              <a:t> (parte), CEP 22.250-040, inscrita no CNPJ sob o nº 29.650.082/0001-00,  GESTOR  devidamente credenciada junto à CVM para operar como administradora de  carteira de valores mobiliários nos termos do Ato Declaratório CVM nº 5.968, de  10 de maio de 2000 (“Gestor” e, quando referido conjuntamente e indistintamente  com o Administrador, os “Prestadores de Serviços Essenciais”).</a:t>
            </a:r>
          </a:p>
          <a:p>
            <a:r>
              <a:t>CNPJ 60010416000112 · Administrador, gestor e custodiante · Regulamento · ID 1051393 · 2025-10-09 · versão 1 · p. 45 · https://fnet.bmfbovespa.com.br/fnet/publico/visualizarDocumento?id=1051393</a:t>
            </a:r>
          </a:p>
          <a:p>
            <a:r>
              <a:t>CNPJ 60010416000112 · Administrador, gestor e custodiante · Excerto da fonte:</a:t>
            </a:r>
          </a:p>
          <a:p>
            <a:r>
              <a:t>“Gestor”: a BTG Pactual Asset Management S.A. Distribuidora de Títulos e Valores Mobiliários, sociedade anônima, com sede no município do Rio de Janeiro, Estado do Rio de Janeiro, na Praia de Botafogo, nº 501, Torre Corcovado, 5º andar (parte), CEP 22.250-040, inscrita no CNPJ sob o nº 29.650.082/0001-00, devidamente credenciada junto à CVM para operar como administrador de carteira de valores mobiliários nos termos do Ato Declaratório CVM nº 5.968, de 10 de maio de 2000;</a:t>
            </a:r>
          </a:p>
          <a:p>
            <a:r>
              <a:t>CNPJ 60010416000112 · Administrador, gestor e custodiante · Condição: Documentos atuais selecionados no inventário por categoria/escopo; a data documental isolada não comprova vigência jurídica.</a:t>
            </a:r>
          </a:p>
          <a:p>
            <a:r>
              <a:t>CNPJ 60010416000112 · Administrador, gestor e custodiante · Versão e prevalência: Documentos atuais selecionados no inventário por categoria/escopo; a data documental isolada não comprova vigência jurídica.</a:t>
            </a:r>
          </a:p>
          <a:p>
            <a:r>
              <a:t>CNPJ 60010416000112 · Administrador, gestor e custodiante · Resumo do histórico: {"count": 1, "dates": ["2025-05-12"], "document_count": 1, "sources": [{"document_id": "1004656", "title": "AGE", "reference_date": "2025-05-12", "version": "1", "page": 4, "url": "https://fnet.bmfbovespa.com.br/fnet/publico/visualizarDocumento?id=1004656", "sha256": "f6c9c009f6170e2b29f074b98522accec73f0c40efbf11f9ec2c8d3f1402616b"}], "reference": {"path": "history/60010416000112.json", "criterion_id": "providers", "total_count": 1, "preview_count": 1, "full_text_deferred": true, "sha256": "8e2bd813f4c51cf01f6bfaad164bafe69d2bbb192f753eac92da3a01c2e63046"}}</a:t>
            </a:r>
          </a:p>
          <a:p>
            <a:r>
              <a:t>CNPJ 62696791000193 · Administrador, gestor e custodiante · Regulamento · ID 1143317 · 2026-03-20 · versão 1 · p. 1 · https://fnet.bmfbovespa.com.br/fnet/publico/visualizarDocumento?id=1143317</a:t>
            </a:r>
          </a:p>
          <a:p>
            <a:r>
              <a:t>CNPJ 62696791000193 · Administrador, gestor e custodiante · Excerto da fonte:</a:t>
            </a:r>
          </a:p>
          <a:p>
            <a:r>
              <a:t>BTG Pactual Asset Management S.A. Distribuidora de Títulos e Valores  Mobiliários, com sede no município e Estado do Rio de Janeiro, na Praia de  Botafogo, nº 501, Torre Corcovado, 5º andar (parte), Botafogo, inscrito no  CNPJ sob o nº 29.650.082/0001-00, autorizado à prestação dos serviços de  Gestor  administração de carteira de títulos e valores mobiliários de acordo com o Ato  Declaratório nº 5.968, de 10 de maio de 2000 (“Gestor” e, quando ref erido  conjuntamente com o Administrador, os “Prestadores de Serviços  Essenciais”).</a:t>
            </a:r>
          </a:p>
          <a:p>
            <a:r>
              <a:t>CNPJ 62696791000193 · Administrador, gestor e custodiante · Regulamento · ID 1143317 · 2026-03-20 · versão 1 · p. 1 · https://fnet.bmfbovespa.com.br/fnet/publico/visualizarDocumento?id=1143317</a:t>
            </a:r>
          </a:p>
          <a:p>
            <a:r>
              <a:t>CNPJ 62696791000193 · Administrador, gestor e custodiante · Excerto da fonte:</a:t>
            </a:r>
          </a:p>
          <a:p>
            <a:r>
              <a:t>BTG Pactual Serviços Financeiros S.A. Distribuidora de Títulos e Valores  Mobiliários, sociedade anônima, com sede no município e Estado do Rio de  Janeiro, na Praia de Botafogo, nº 501, 5º andar (parte), Torre Corcovado,  Administrador Botafogo, CEP 22250-040, inscrita no CNPJ sob o nº 59.281.253/0001-23 e  credenciada como Administradora de carteira, de acordo com o Ato Declaratório  CVM nº 8.695, de 20 de março de 2006 (“Administrador”), responsável pela  administração f iduciária.</a:t>
            </a:r>
          </a:p>
          <a:p>
            <a:r>
              <a:t>CNPJ 62696791000193 · Administrador, gestor e custodiante · Regulamento · ID 1143317 · 2026-03-20 · versão 1 · p. 7 · https://fnet.bmfbovespa.com.br/fnet/publico/visualizarDocumento?id=1143317</a:t>
            </a:r>
          </a:p>
          <a:p>
            <a:r>
              <a:t>CNPJ 62696791000193 · Administrador, gestor e custodiante · Excerto da fonte:</a:t>
            </a:r>
          </a:p>
          <a:p>
            <a:r>
              <a:t>Banco BTG Pactual S.A., instituição financeira, com sede no município e  Estado do Rio de Janeiro, na Praia de Botafogo, nº 501, 5º andar (parte),  Custódia e Tesouraria Torre Corcovado, Botafogo, CEP 22250-040, inscrita no CNPJ sob o nº</a:t>
            </a:r>
          </a:p>
          <a:p>
            <a:r>
              <a:t> 30.306.294/0001-45 e credenciada como custodiante, de acordo com o  Ato Declaratório nº 7.204, de 25 de abril de 2003 (“Custodiante”).</a:t>
            </a:r>
          </a:p>
          <a:p>
            <a:r>
              <a:t>CNPJ 62696791000193 · Administrador, gestor e custodiante · Condição: Documentos atuais selecionados no inventário por categoria/escopo; a data documental isolada não comprova vigência jurídica.</a:t>
            </a:r>
          </a:p>
          <a:p>
            <a:r>
              <a:t>CNPJ 62696791000193 · Administrador, gestor e custodiante · Versão e prevalência: Documentos atuais selecionados no inventário por categoria/escopo; a data documental isolada não comprova vigência jurídica.</a:t>
            </a:r>
          </a:p>
          <a:p>
            <a:r>
              <a:t>CNPJ 55563624000109 · Administrador, gestor e custodiante · Regulamento · ID 1192614 · 2026-04-30 · versão 1 · p. 1 · https://fnet.bmfbovespa.com.br/fnet/publico/visualizarDocumento?id=1192614</a:t>
            </a:r>
          </a:p>
          <a:p>
            <a:r>
              <a:t>CNPJ 55563624000109 · Administrador, gestor e custodiante · Excerto da fonte:</a:t>
            </a:r>
          </a:p>
          <a:p>
            <a:r>
              <a:t>Polígono Capital Ltda., sociedade de responsabilidade limitada, com sede no  município e estado de São Paulo, na Avenida Brigadeiro Faria Lima, n° 2601, 12º andar,  Jardim Paulistano, CEP 01452-000, inscrita no CNPJ sob nº 43.241.789/0001-85 e  GESTOR autorizada à prestação do serviço de administração de carteiras de valores mobiliários  pela CVM, de acordo com o Ato Declaratório CVM nº 19.368, expedido em 7 de  dezembro de 2021 (“GESTOR” e, quando referido conjuntamente e indistintamente  com o ADMINISTRADOR, os “Prestadores de Serviços Essenciais”).</a:t>
            </a:r>
          </a:p>
          <a:p>
            <a:r>
              <a:t>CNPJ 55563624000109 · Administrador, gestor e custodiante · Regulamento · ID 1192614 · 2026-04-30 · versão 1 · p. 1 · https://fnet.bmfbovespa.com.br/fnet/publico/visualizarDocumento?id=1192614</a:t>
            </a:r>
          </a:p>
          <a:p>
            <a:r>
              <a:t>CNPJ 55563624000109 · Administrador, gestor e custodiante · Excerto da fonte:</a:t>
            </a:r>
          </a:p>
          <a:p>
            <a:r>
              <a:t>BTG Pactual Serviços Financeiros S.A. Distribuidora de Títulos e Valores Mobiliários,  sociedade anônima, com sede no município e estado do Rio de Janeiro, na Praia de  Botafogo, nº 501, 5º andar (parte), Torre Corcovado, Botafogo, CEP 22250-040, inscrita  ADMINISTRADOR no Cadastro Nacional da Pessoa Jurídica (“CNPJ”) sob o nº 59.281.253/0001-23 e  credenciada como administradora de carteira, de acordo com o Ato Declaratório CVM  nº 8.695, de 20 de março de 2006 (“ADMINISTRADOR”).</a:t>
            </a:r>
          </a:p>
          <a:p>
            <a:r>
              <a:t>CNPJ 55563624000109 · Administrador, gestor e custodiante · Regulamento · ID 1192614 · 2026-04-30 · versão 1 · p. 41 · https://fnet.bmfbovespa.com.br/fnet/publico/visualizarDocumento?id=1192614</a:t>
            </a:r>
          </a:p>
          <a:p>
            <a:r>
              <a:t>CNPJ 55563624000109 · Administrador, gestor e custodiante · Excerto da fonte:</a:t>
            </a:r>
          </a:p>
          <a:p>
            <a:r>
              <a:t>“ADMINISTRADOR”: BTG Pactual Serviços Financeiros S.A. Distribuidora de Títulos e Valores Mobiliários, instituição  com sede no Município do Rio de Janeiro, Estado do Rio de Janeiro, à Praia de Botafogo, nº 501, 5º andar – parte, inscrita  no CNPJ sob o nº 59.281.253/0001-23, autorizada a funcionar pelo BACEN e autorizada pela CVM para a atividade de  administração de carteiras de valores mobiliários, de acordo com o Ato Declaratório nº 8.695, de 20 de março de 2006,  ou seu sucessor a qualquer título;</a:t>
            </a:r>
          </a:p>
          <a:p>
            <a:r>
              <a:t>CNPJ 55563624000109 · Administrador, gestor e custodiante · Condição: Documentos atuais selecionados no inventário por categoria/escopo; a data documental isolada não comprova vigência jurídica.</a:t>
            </a:r>
          </a:p>
          <a:p>
            <a:r>
              <a:t>CNPJ 55563624000109 · Administrador, gestor e custodiante · Versão e prevalência: Documentos atuais selecionados no inventário por categoria/escopo; a data documental isolada não comprova vigência jurídica.</a:t>
            </a:r>
          </a:p>
          <a:p>
            <a:r>
              <a:t>CNPJ 55563624000109 · Administrador, gestor e custodiante · Resumo do histórico: {"count": 6, "dates": ["2024-12-30", "2025-01-31", "2026-01-31"], "document_count": 3, "sources": [{"document_id": "1178840", "title": "Demonstrações Financeiras", "reference_date": "2026-01-31", "version": "1", "page": 3, "url": "https://fnet.bmfbovespa.com.br/fnet/publico/visualizarDocumento?id=1178840", "sha256": "c458e98664c5c907ddb5a05a94b120bed4e05295b2bfc420f5ba69af0a229abe"}, {"document_id": "891861", "title": "Demonstrações Financeiras", "reference_date": "2025-01-31", "version": "1", "page": 11, "url": "https://fnet.bmfbovespa.com.br/fnet/publico/visualizarDocumento?id=891861", "sha256": "e9cb9e6ddbe505fe068cfcac33605165a98313489de0d3ce6d4d238263c3f3e7"}, {"document_id": "811323", "title": "Anúncio de Encerramento", "reference_date": "2024-12-30", "version": "1", "page": 1, "url": "https://fnet.bmfbovespa.com.br/fnet/publico/visualizarDocumento?id=811323", "sha256": "ebc6bc661be5189acffb3c3e352de2aea0a8ca8431011d1237e1ae19da4f9c79"}], "reference": {"path": "history/55563624000109.json", "criterion_id": "providers", "total_count": 6, "preview_count": 3, "full_text_deferred": true, "sha256": "7835d573fb58a3c19adf5b8ecc2aee2bdbb9a88f7a0c0209b5f262b64c7522e3"}}</a:t>
            </a:r>
          </a:p>
          <a:p>
            <a:r>
              <a:t>CNPJ 62552447000120 · Administrador, gestor e custodiante · Regulamento · ID 1200623 · 2026-05-21 · versão 1 · p. 1 · https://fnet.bmfbovespa.com.br/fnet/publico/visualizarDocumento?id=1200623</a:t>
            </a:r>
          </a:p>
          <a:p>
            <a:r>
              <a:t>CNPJ 62552447000120 · Administrador, gestor e custodiante · Excerto da fonte:</a:t>
            </a:r>
          </a:p>
          <a:p>
            <a:r>
              <a:t>BTG Pactual Asset Management S.A. Distribuidora de Títulos e Valores  Mobiliários, sociedade anônima, com sede no município e Estado do Rio de  Janeiro, na Praia de Botafogo, n.º 501, 5º andar (parte), Torre Corcovado, bairro  Botafogo, CEP 22250-040, inscrita no CNPJ sob o n.º 29.650.082/0001-00 e  Gestor  credenciada como administradora de carteira de valores mobiliários , categoria  gestor de recursos, de acordo com o Ato Declaratório CVM n.º 5.968, de 10 de  maio de 2000 (“Gestor” e, quando ref erido conjuntamente e indistintamente  com o Administrador, “Prestadores de Serviços Essenciais”).</a:t>
            </a:r>
          </a:p>
          <a:p>
            <a:r>
              <a:t>CNPJ 62552447000120 · Administrador, gestor e custodiante · Regulamento · ID 1200623 · 2026-05-21 · versão 1 · p. 1 · https://fnet.bmfbovespa.com.br/fnet/publico/visualizarDocumento?id=1200623</a:t>
            </a:r>
          </a:p>
          <a:p>
            <a:r>
              <a:t>CNPJ 62552447000120 · Administrador, gestor e custodiante · Excerto da fonte:</a:t>
            </a:r>
          </a:p>
          <a:p>
            <a:r>
              <a:t>BTG Pactual Serviços Financeiros S.A. Distribuidora de Títulos e Valores  Mobiliários, sociedade anônima, com sede no município e Estado do Rio de  Janeiro, na Praia de Botafogo, n.º 501, 5º andar (parte), Torre Corcovado, bairro  Administrador Botafogo, CEP 22250-040, inscrita no CNPJ sob o n.º 59.281.253/0001-23 e  credenciada como administradora de carteira de valores mobiliários, categoria  administrador fiduciário, de acordo com o Ato Declaratório CVM n.º 8.695, de 20  de março de 2006 (“Administrador”).</a:t>
            </a:r>
          </a:p>
          <a:p>
            <a:r>
              <a:t>CNPJ 62552447000120 · Administrador, gestor e custodiante · Instrumento Particular de Alteração do Regulamento · ID 1200625 · 2026-05-21 · versão 1 · p. 1 · https://fnet.bmfbovespa.com.br/fnet/publico/visualizarDocumento?id=1200625</a:t>
            </a:r>
          </a:p>
          <a:p>
            <a:r>
              <a:t>CNPJ 62552447000120 · Administrador, gestor e custodiante · Excerto da fonte:</a:t>
            </a:r>
          </a:p>
          <a:p>
            <a:r>
              <a:t>A Administradora, BTG PACTUAL SERVIÇOS FINANCEIROS S.A. DTVM, com  sede na Praia de Botafogo, n.º 501, 5º andar (parte), na Cidade e Estado do Rio de  Janeiro, e inscrita no CNPJ sob o número 59.281.253/0001-23, na qualidade de  administradora da V CDT 1 FUNDO DE INVESTIMENTO EM DIREITOS  CREDITÓRIOS RESPONSABILIDADE LIMITADA, inscrita no CNPJ/MF sob o  número 62.552.447/0001-20 ("Classe"), serve-se da presente para:</a:t>
            </a:r>
          </a:p>
          <a:p>
            <a:r>
              <a:t>CNPJ 62552447000120 · Administrador, gestor e custodiante · Condição: Documentos atuais selecionados no inventário por categoria/escopo; a data documental isolada não comprova vigência jurídica.</a:t>
            </a:r>
          </a:p>
          <a:p>
            <a:r>
              <a:t>CNPJ 62552447000120 · Administrador, gestor e custodiante · Versão e prevalência: Documentos atuais selecionados no inventário por categoria/escopo; a data documental isolada não comprova vigência jurídica.</a:t>
            </a:r>
          </a:p>
          <a:p>
            <a:r>
              <a:t>CNPJ 62552447000120 · Administrador, gestor e custodiante · Resumo do histórico: {"count": 1, "dates": ["2025-09-03"], "document_count": 1, "sources": [{"document_id": "988020", "title": "Instrumento Particular de Emissão de Cotas", "reference_date": "2025-09-03", "version": "1", "page": 1, "url": "https://fnet.bmfbovespa.com.br/fnet/publico/visualizarDocumento?id=988020", "sha256": "8ecc8a771bb9713d64e5fc2052c489664cb0433801a9280db68e5187d35bf7a5"}], "reference": {"path": "history/62552447000120.json", "criterion_id": "providers", "total_count": 1, "preview_count": 1, "full_text_deferred": true, "sha256": "d95db8c0613d67ee84118c734588665265ea6b02f86a0318d6a844cbe1d0f82f"}}</a:t>
            </a:r>
          </a:p>
          <a:p>
            <a:r>
              <a:t>CNPJ 63953620000165 · Administrador, gestor e custodiante · Anexo ao Regulamento · ID 1222863 · 2026-06-02 · versão 1 · p. 2 · https://fnet.bmfbovespa.com.br/fnet/publico/visualizarDocumento?id=1222863</a:t>
            </a:r>
          </a:p>
          <a:p>
            <a:r>
              <a:t>CNPJ 63953620000165 · Administrador, gestor e custodiante · Excerto da fonte:</a:t>
            </a:r>
          </a:p>
          <a:p>
            <a:r>
              <a:t>Anexo I ao Regulamento  CLASSE CONSIGNADO PRIVADO DO MT GLOBAL FUNDO DE INVESTIMENTO EM DIREITOS  CREDITÓRIOS RESPONSABILIDADE LIMITADA  inferior a 365 (trezentos e sessenta e cinco) dias; e (v) cotas de classes de fundos  de investimentos de renda fixa ou indexados à Taxa DI com liquidez diária, cujas  políticas de investimento admitam a alocação de recursos exclusivamente nos  ativos das alíneas (ii) e (iii) acima, incluindo fundos geridos e/ou administrados  pelo Administrador, pelo Custodiante e/ou pelo Gestor (“Ativos de Liquidez” e,  quando referido em conjunto com os Ativos de Liquidez MT, os “Ativos  Financeiros”).</a:t>
            </a:r>
          </a:p>
          <a:p>
            <a:r>
              <a:t> O objetivo da Classe não representa, sob qualquer hipótese, promessa, garantia  ou sugestão da Classe ou de seus Prestadores de Serviços Essenciais quanto à  segurança, rentabilidade e liquidez dos títulos componentes de sua carteira.</a:t>
            </a:r>
          </a:p>
          <a:p>
            <a:r>
              <a:t> A Classe somente poderá adquirir os Direitos Creditórios que atendam  cumulativamente aos seguintes critérios de elegibilidade, na forma prevista na  Cláusula 4.10 (“Critérios de Elegibilidade”):</a:t>
            </a:r>
          </a:p>
          <a:p>
            <a:r>
              <a:t> (a) Quando representados por Direitos Creditórios Consignado Privado:</a:t>
            </a:r>
          </a:p>
          <a:p>
            <a:r>
              <a:t> (i) os Direitos Creditórios deverão decorrer de empréstimo concedido  pelo Endossante a um Devedor, representado por uma CCB, com  taxa de juros prefixada e vencimento final anterior ao vencimento  final da Classe;</a:t>
            </a:r>
          </a:p>
          <a:p>
            <a:r>
              <a:t> (ii) o saldo dos Direitos Creditórios devidos pelo mesmo Devedor à  Classe, considerando, pro forma, o endosso pretendido, não deverá  exceder R$ 150.000,00 (cento e cinquenta mil reais);</a:t>
            </a:r>
          </a:p>
          <a:p>
            <a:r>
              <a:t> (iii) o prazo de vencimento das CCB representativas dos Direitos  Creditórios deverá ser, no máximo, equivalente ao prazo máximo  permitido pelas leis e regulamentações aplicáveis; e  Critérios de Elegibilidade</a:t>
            </a:r>
          </a:p>
          <a:p>
            <a:r>
              <a:t> (iv) os Direitos Creditórios não poderão ser devidos por Devedores que  tenham acima de 64 (sessenta e quatro) anos 11 (onze) meses e 29  (vinte e nove) dias na data de emissão da respectiva CCB.</a:t>
            </a:r>
          </a:p>
          <a:p>
            <a:r>
              <a:t> (b) Quando representados por Direitos Creditórios TVM:</a:t>
            </a:r>
          </a:p>
          <a:p>
            <a:r>
              <a:t> (i) sejam objeto de subscrição primária;</a:t>
            </a:r>
          </a:p>
          <a:p>
            <a:r>
              <a:t> (ii) sejam representados em moeda corrente nacional;</a:t>
            </a:r>
          </a:p>
          <a:p>
            <a:r>
              <a:t> (iii) a natureza ou característica essencial dos Direitos Creditórios TVM  deverá permitir o seu registro contábil e a sua custódia pelo  Custodiante, de acordo com os procedimentos operacionais e  contábeis praticados pelo Custodiante, de acordo com as normas  aplicáveis vigentes; e</a:t>
            </a:r>
          </a:p>
          <a:p>
            <a:r>
              <a:t> (iv) sejam limitados a 3,00% (três por cento) do Patrimônio Líquido da  Classe.</a:t>
            </a:r>
          </a:p>
          <a:p>
            <a:r>
              <a:t> Investidores profissionais, conforme definidos no art. 11 da Resolução CVM nº  Público-Alvo 30, de 11 de maio de 2021, conforme alterada (“Investidores Profissionais” e  “Resolução CVM 30”, respectivamente)  Banco BTG Pactual S.A., instituição financeira, com sede no município e Estado  do Rio de Janeiro, na Praia de Botafogo, nº 501, 5º andar (parte), Torre Corcovado,  Custódia da Classe e Tesouraria Botafogo, CEP 22250-040, inscrita no CNPJ sob o nº 30.306.294/0001-45 e  credenciado como custodiante, de acordo com o Ato Declaratório nº 7.204, de  25 de abril de 2003 (“Custodiante”).</a:t>
            </a:r>
          </a:p>
          <a:p>
            <a:r>
              <a:t> BTG Pactual Serviços Financeiros S.A. Distribuidora de Títulos e Valores  Controladoria e Escrituração Mobiliários, sociedade anônima, com sede no município e Estado do Rio de  Janeiro, na Praia de Botafogo, nº 501, 5º andar (parte), Torre Corcovado,</a:t>
            </a:r>
          </a:p>
          <a:p>
            <a:r>
              <a:t>CNPJ 63953620000165 · Administrador, gestor e custodiante · Condição: Documentos atuais selecionados no inventário por categoria/escopo; a data documental isolada não comprova vigência jurídica.</a:t>
            </a:r>
          </a:p>
          <a:p>
            <a:r>
              <a:t>CNPJ 63953620000165 · Administrador, gestor e custodiante · Motivo: Cláusula primária localizada e citada, mas sua lista/condições extensas não admitem uma síntese literal curta confirmada. O trecho integral permanece nas fontes.</a:t>
            </a:r>
          </a:p>
          <a:p>
            <a:r>
              <a:t>CNPJ 63953620000165 · Administrador, gestor e custodiante · Versão e prevalência: Documentos atuais selecionados no inventário por categoria/escopo; a data documental isolada não comprova vigência jurídica.</a:t>
            </a:r>
          </a:p>
          <a:p>
            <a:r>
              <a:t>CNPJ 63953620000165 · Administrador, gestor e custodiante · Resumo do histórico: {"count": 8, "dates": ["2026-04-28", "2026-05-08", "2026-05-15"], "document_count": 3, "sources": [{"document_id": "1327859", "title": "Demonstrações Financeiras - Fusão, cisão e incorporação", "reference_date": "2026-05-15", "version": "1", "page": 9, "url": "https://fnet.bmfbovespa.com.br/fnet/publico/visualizarDocumento?id=1327859", "sha256": "dca1c68babb97f887528c3e2e47596a9c30f507b067981a35655b2f2da9c8054"}, {"document_id": "1298691", "title": "Demonstrações Financeiras - Fusão, cisão e incorporação", "reference_date": "2026-05-08", "version": "1", "page": 9, "url": "https://fnet.bmfbovespa.com.br/fnet/publico/visualizarDocumento?id=1298691", "sha256": "58c570d9b8d4d265330d3db3ea81c435b8e44a6dab4002aa37790652a1ee9819"}, {"document_id": "1282180", "title": "Demonstrações Financeiras - Fusão, cisão e incorporação", "reference_date": "2026-04-28", "version": "1", "page": 9, "url": "https://fnet.bmfbovespa.com.br/fnet/publico/visualizarDocumento?id=1282180", "sha256": "afaaa0e6809be4385e5bdb6c911aac582032c5bdbac3d7750234bf9eaf00438a"}], "reference": {"path": "history/63953620000165.json", "criterion_id": "providers", "total_count": 8, "preview_count": 3, "full_text_deferred": true, "sha256": "a7b89077f5e21098c2d601c303faabc3ff6b9729f89d8afecdc60fe1404720c1"}}</a:t>
            </a:r>
          </a:p>
          <a:p>
            <a:r>
              <a:t>CNPJ 54871427000194 · Substituição de prestadores · Motivo: Não localizada uma cláusula material para este critério nos textos identificados e processados. A ausência de resultado não comprova inexistência da regra.</a:t>
            </a:r>
          </a:p>
          <a:p>
            <a:r>
              <a:t>CNPJ 60010416000112 · Substituição de prestadores · Regulamento · ID 1051393 · 2025-10-09 · versão 1 · p. 3 · 1.8 · https://fnet.bmfbovespa.com.br/fnet/publico/visualizarDocumento?id=1051393</a:t>
            </a:r>
          </a:p>
          <a:p>
            <a:r>
              <a:t>CNPJ 60010416000112 · Substituição de prestadores · Excerto da fonte:</a:t>
            </a:r>
          </a:p>
          <a:p>
            <a:r>
              <a:t>1.8. Os Cotistas, o Administrador, o Gestor e o Agente de  Retenção/Cobrança estão plenamente conscientes dos termos e efeitos  desta cláusula compromissória e concordam irrevogavelmente que a  arbitragem será a única f orma de resolução de disputas relacionada a  este Regulamento. Sem prejuízo da validade desta cláusula  compromissória, as partes elegem o foro da comarca do Rio de Janeiro,  estado do Rio de Janeiro, com a renúncia expressa a qualquer outra, se  e quando isso f or necessário para fins de: (i) executar as obrigações para  as quais haja disponibilidade imediata de execução judicial; (ii) obter  ordens de execução específica ou liminares de caráter preventivo,  temporário ou permanente, tais como a prestação de caução para um  processo arbitral iniciado ou em andamento entre as partes da  arbitragem e/ou assegurar a existência e ef icácia do processo arbitral;</a:t>
            </a:r>
          </a:p>
          <a:p>
            <a:r>
              <a:t> e/ou (iii) apresentar um pedido de execução específica ou outra ordem,  sendo certo que, uma vez obtida a execução específica ou outra ordem,  o Tribunal Arbitral a ser instituído ou que já esteja instituído, conforme o  caso, assumirá a competência plena e exclusiva para decidir sobre toda  e qualquer questão, quer relacionada ao processo ou ao mérito, que  possa ter dado origem à ordem ou execução específica solicitada, e o  respectivo processo será suspenso até que o Tribunal Arbitral profira  uma decisão parcial ou def initiva sobre a questão. A propositura de  qualquer ação judicial de acordo com este item não resultará em  renúncia à arbitragem ou à competência da Câmara.</a:t>
            </a:r>
          </a:p>
          <a:p>
            <a:r>
              <a:t>CNPJ 60010416000112 · Substituição de prestadores · Condição: Documentos atuais selecionados no inventário por categoria/escopo; a data documental isolada não comprova vigência jurídica.</a:t>
            </a:r>
          </a:p>
          <a:p>
            <a:r>
              <a:t>CNPJ 60010416000112 · Substituição de prestadores · Motivo: Cláusula primária localizada e citada, mas sua lista/condições extensas não admitem uma síntese literal curta confirmada. O trecho integral permanece nas fontes.</a:t>
            </a:r>
          </a:p>
          <a:p>
            <a:r>
              <a:t>CNPJ 60010416000112 · Substituição de prestadores · Versão e prevalência: Documentos atuais selecionados no inventário por categoria/escopo; a data documental isolada não comprova vigência jurídica.</a:t>
            </a:r>
          </a:p>
          <a:p>
            <a:r>
              <a:t>CNPJ 60010416000112 · Substituição de prestadores · Resumo do histórico: {"count": 1, "dates": ["2025-03-20"], "document_count": 1, "sources": [{"document_id": "993786", "title": "Regulamento", "reference_date": "2025-03-20", "version": "1", "page": 3, "clause": "1.8", "url": "https://fnet.bmfbovespa.com.br/fnet/publico/visualizarDocumento?id=993786", "sha256": "fd0fdd369a195510d81f81f505195a0b09e5f43522a990afa7d58c4f872921c8"}], "reference": {"path": "history/60010416000112.json", "criterion_id": "replacement", "total_count": 1, "preview_count": 1, "full_text_deferred": true, "sha256": "8e2bd813f4c51cf01f6bfaad164bafe69d2bbb192f753eac92da3a01c2e63046"}}</a:t>
            </a:r>
          </a:p>
          <a:p>
            <a:r>
              <a:t>CNPJ 62696791000193 · Substituição de prestadores · Regulamento · ID 1143317 · 2026-03-20 · versão 1 · p. 26 · 12.10 · https://fnet.bmfbovespa.com.br/fnet/publico/visualizarDocumento?id=1143317</a:t>
            </a:r>
          </a:p>
          <a:p>
            <a:r>
              <a:t>CNPJ 62696791000193 · Substituição de prestadores · Excerto da fonte:</a:t>
            </a:r>
          </a:p>
          <a:p>
            <a:r>
              <a:t>12.10 Na hipótese de renúncia, o Administrador fica obrigado a permanecer no exercício de suas funções até  a averbação, no cartório de registro de imóveis, nas matrículas referentes aos bens imóveis e direitos  integrantes da carteira de ativos, da ata da assembleia de Cotistas que eleger seu substituto e sucessor  na propriedade f iduciária desses bens e direitos.</a:t>
            </a:r>
          </a:p>
          <a:p>
            <a:r>
              <a:t>CNPJ 62696791000193 · Substituição de prestadores · Regulamento · ID 1143317 · 2026-03-20 · versão 1 · p. 26 · 12.10.1 · https://fnet.bmfbovespa.com.br/fnet/publico/visualizarDocumento?id=1143317</a:t>
            </a:r>
          </a:p>
          <a:p>
            <a:r>
              <a:t>CNPJ 62696791000193 · Substituição de prestadores · Excerto da fonte:</a:t>
            </a:r>
          </a:p>
          <a:p>
            <a:r>
              <a:t>12.10.1 É f acultado aos Cotistas que detenham ao menos 5% (cinco por cento) das Cotas emitidas, a  convocação da assembleia de Cotistas prevista no item 12.4 acima, caso o Administrador não  a convoque, no prazo de 10 (dez) dias contados da renúncia.</a:t>
            </a:r>
          </a:p>
          <a:p>
            <a:r>
              <a:t>CNPJ 62696791000193 · Substituição de prestadores · Condição: Documentos atuais selecionados no inventário por categoria/escopo; a data documental isolada não comprova vigência jurídica.</a:t>
            </a:r>
          </a:p>
          <a:p>
            <a:r>
              <a:t>CNPJ 62696791000193 · Substituição de prestadores · Versão e prevalência: Documentos atuais selecionados no inventário por categoria/escopo; a data documental isolada não comprova vigência jurídica.</a:t>
            </a:r>
          </a:p>
          <a:p>
            <a:r>
              <a:t>CNPJ 55563624000109 · Substituição de prestadores · Motivo: Não localizada uma cláusula material para este critério nos textos identificados e processados. A ausência de resultado não comprova inexistência da regra.</a:t>
            </a:r>
          </a:p>
          <a:p>
            <a:r>
              <a:t>CNPJ 62552447000120 · Substituição de prestadores · Motivo: Não localizada uma cláusula material para este critério nos textos identificados e processados. A ausência de resultado não comprova inexistência da regra.</a:t>
            </a:r>
          </a:p>
          <a:p>
            <a:r>
              <a:t>CNPJ 63953620000165 · Substituição de prestadores · Anexo ao Regulamento · ID 1222863 · 2026-06-02 · versão 1 · p. 15 · https://fnet.bmfbovespa.com.br/fnet/publico/visualizarDocumento?id=1222863</a:t>
            </a:r>
          </a:p>
          <a:p>
            <a:r>
              <a:t>CNPJ 63953620000165 · Substituição de prestadores · Excerto da fonte:</a:t>
            </a:r>
          </a:p>
          <a:p>
            <a:r>
              <a:t>Anexo I ao Regulamento  CLASSE CONSIGNADO PRIVADO DO MT GLOBAL FUNDO DE INVESTIMENTO EM DIREITOS  CREDITÓRIOS RESPONSABILIDADE LIMITADA</a:t>
            </a:r>
          </a:p>
          <a:p>
            <a:r>
              <a:t> (vii) inobservância pelo Administrador, pelo Custodiante e/ou pelo Gestor de seus deveres e obrigações  previstos neste Regulamento, bem como suas atribuições específicas nos outros contratos existentes  referentes ao funcionamento da Classe, verificada pelo Administrador, pelo Custodiante e/ou pelo  Gestor ou por qualquer dos Cotistas, desde que, uma vez notificados para sanar ou justificar o  descumprimento, o Administrador, o Custodiante e/ou o Gestor, conforme o caso, não o sane no prazo  de 5 (cinco) Dias Úteis contados do recebimento da referida notificação;</a:t>
            </a:r>
          </a:p>
          <a:p>
            <a:r>
              <a:t> (viii) aquisição, pela Classe, de Direitos Creditórios que estejam em desacordo com as Condições de Cessão e  os Critérios de Elegibilidade previstos neste Regulamento no momento de sua aquisição;</a:t>
            </a:r>
          </a:p>
          <a:p>
            <a:r>
              <a:t> (ix) alteração na classificação de risco das Cotas, se houver, que, para qualquer dado período após a  classificação de risco inicial das Cotas e/ou após a deliberação da Assembleia Especial de Cotistas a  respeito de um rebaixamento da classificação de risco das Cotas, implique no rebaixamento de dois  níveis na escala de risco pertinente elaborada pela Agência Classificadora de Risco; e/ou</a:t>
            </a:r>
          </a:p>
          <a:p>
            <a:r>
              <a:t> (x) renúncia do Gestor, sem que tenham sido tomadas tempestivamente as providências previstas no  CAPÍTULO 2 da parte geral deste Regulamento;</a:t>
            </a:r>
          </a:p>
          <a:p>
            <a:r>
              <a:t> (xi) no caso de o Contrato de Endosso celebrado com o Endossante, por qualquer razão, (a) seja declarado  inválido, nulo ou ineficaz por ordem judicial e/ou qualquer autoridade governamental; ou (b) tenha sua  validade ou eficácia, total ou parcialmente, contestada pelo Endossante, judicial ou administrativamente</a:t>
            </a:r>
          </a:p>
          <a:p>
            <a:r>
              <a:t> (xii) em caso de não renovação, cancelamento, revogação ou suspensão de concessões, autorizações,  subvenções, autorizações ou licenças, relevantes para o exercício regular dos negócios realizados pelo  Endossante, incluindo o Convênio Consignado Privado, e as autorizações regulatórias concedidas pelo  Banco Central, observado, caso aplicável, os prazos de cura dispostos no Contrato de Endosso;</a:t>
            </a:r>
          </a:p>
          <a:p>
            <a:r>
              <a:t> (xiii) no caso de o Endossante ou o Agente de Retenção/Cobrança e/ou seus acionistas controladores diretos  e/ou indiretos (pessoas físicas ou jurídicas), quotistas, diretores, conselheiros e/ou representantes e  colaboradores do Endossante ou seus acionistas controladores, (a) terem contra si uma decisão judicial  transitada em julgado envolvendo (1) crimes contra a propriedade, (2) crimes de falsificação, (3) crimes  contra o sistema financeiro nacional, (4) crimes contra o mercado de capitais, (5) crimes contra a  seguridade social, (6) crimes contra as relações de consumo e (7) crimes previstos na lei de falências;</a:t>
            </a:r>
          </a:p>
          <a:p>
            <a:r>
              <a:t> e/ou (b) violar as normas anticorrupção aplicáveis, especialmente a Lei nº 9.613, de 3 de março de 1998,  conforme alterada ou substituída de tempos em tempos, e qualquer outra a que estejam sujeitos, quer  contratual ou legalmente, desde que a violação mencionada seja considerada como, especialmente, mas  não limitada a (1) financiamento, crédito, patrocínio ou outra forma de subvenção à prática de atos  ilícitos previstos na legislação anticorrupção, de combate à lavagem de dinheiro, organizações  antissociais e/ou crime organizado; (2) promessa, oferta ou entrega, direta ou indiretamente, de  qualquer objeto de valor a um funcionário público ou terceiros para obter ou manter negócios ou para  obter qualquer vantagem indevida; (3) aceitação ou compromisso de aceitar, de quem quer que seja,  por si ou por outrem, qualquer pagamento, doação, compensação, vantagens financeiras ou não  financeiras ou benefícios de qualquer tipo, direta ou indiretamente relacionados com o objeto da Classe,  que constituam uma prática ilegal, que violem as boas condutas, a ética, a moral e constitua corrupção  nos termos das leis dos países da sede e onde existam filiais das partes envolvidas, das partes  contratantes; e</a:t>
            </a:r>
          </a:p>
          <a:p>
            <a:r>
              <a:t> (xiv) caso o cotista das Cotas Subordinadas deixe de ser titular das Cotas Subordinadas durante todo prazo  de duração da Classe;</a:t>
            </a:r>
          </a:p>
          <a:p>
            <a:r>
              <a:t> (xv) no caso de não serem realizados pagamentos de amortização e/ou resgate de Cotas Seniores, nos  termos, prazos e condições previstos no presente Regulamento e nos respectivos Apêndices e  Suplementos, não sanados em até 2 (dois) Dias Úteis contados do prazo final do respectivo evento;</a:t>
            </a:r>
          </a:p>
          <a:p>
            <a:r>
              <a:t> (xvi) no caso de pagamento de resgate e/ou amortização de Cotas Subordinadas em desacordo com os  termos, prazos e condições previstos no presente Regulamento e no respectivo Apêndice.</a:t>
            </a:r>
          </a:p>
          <a:p>
            <a:r>
              <a:t>CNPJ 63953620000165 · Substituição de prestadores · Condição: Documentos atuais selecionados no inventário por categoria/escopo; a data documental isolada não comprova vigência jurídica.</a:t>
            </a:r>
          </a:p>
          <a:p>
            <a:r>
              <a:t>CNPJ 63953620000165 · Substituição de prestadores · Motivo: Cláusula primária localizada e citada, mas sua lista/condições extensas não admitem uma síntese literal curta confirmada. O trecho integral permanece nas fontes.</a:t>
            </a:r>
          </a:p>
          <a:p>
            <a:r>
              <a:t>CNPJ 63953620000165 · Substituição de prestadores · Versão e prevalência: Documentos atuais selecionados no inventário por categoria/escopo; a data documental isolada não comprova vigência jurídica.</a:t>
            </a:r>
          </a:p>
          <a:p>
            <a:r>
              <a:t>CNPJ 54871427000194 · Rating por subclasse e downgrade · Regulamento · ID 670691 · 28/04/2024 · versão Regulamento — referência 28/04/2024 · p. 15 · Anexo I, 5.12 · https://fnet.bmfbovespa.com.br/fnet/publico/visualizarDocumento?id=670691</a:t>
            </a:r>
          </a:p>
          <a:p>
            <a:r>
              <a:t>CNPJ 54871427000194 · Rating por subclasse e downgrade · Excerto da fonte:</a:t>
            </a:r>
          </a:p>
          <a:p>
            <a:r>
              <a:t>5.12 As Cotas não serão classificadas por Agência Classificadora de Risco em funcionamento no País, uma vez que a Classe não será destinada ao público em geral. CAPÍTULO 6 – ATRIBUIÇÃO DE RESULTADO ÀS COTAS E CÁLCULO DO VALOR UNITÁRIO 6.1 As Cotas terão seu Valor Unitário calculado e divulgado pelo ADMINISTRADOR mensalmente, no último Dia Útil de cada mês, no fechamento dos mercados, a partir do mês seguinte à Data da 1ª Integralização e até a data de resgate das Cotas ou na data de liquidação da Classe Única, conforme o caso. 6.2 A partir da Data da 1ª Integralização de Cotas, o Valor Unitário das Cotas s erá calculado no fechamento do último Dia Útil de cada mês, equivalerá ao resultado da divisão do valor do Patrimônio Líquido apurado para o respectivo dia, pelo número de Cotas em circulação na respectiva data de cálculo . CAPÍTULO 7 – AMORTIZAÇÃO E RESGATE DAS COTAS 7.1 A distribuição de quaisquer ganhos e rendimentos d a Classe aos Cotistas será f eita exclusivamente mediante a Amortização e/ou o resgate de Cotas, observado o disposto neste Capítulo. 7.2 As amortizações de Cotas serão realizadas a qualquer tempo, a critério do GESTOR, observada a disponibilidade de recursos da Classe Única e a</a:t>
            </a:r>
          </a:p>
          <a:p>
            <a:r>
              <a:t>CNPJ 54871427000194 · Rating por subclasse e downgrade · Versão e prevalência: Leitura específica das cláusulas indicadas; condições e conflitos preservados. Seleção documental atual não comprova vigência jurídica por data isolada.</a:t>
            </a:r>
          </a:p>
          <a:p>
            <a:r>
              <a:t>CNPJ 54871427000194 · Rating por subclasse e downgrade · Resumo do histórico: {"count": 5, "dates": ["2024-12-31", "2025-01-01", "2025-12-31"], "document_count": 3, "sources": [{"document_id": "1151805", "title": "Demonstrações Financeiras", "reference_date": "2025-12-31", "version": "1", "page": 25, "url": "https://fnet.bmfbovespa.com.br/fnet/publico/visualizarDocumento?id=1151805", "sha256": "f1cea70b152968bf96ef9221b27225953cb20aeef487b2798db3c25e11b528d4"}, {"document_id": "869529", "title": "Demonstrações Financeiras", "reference_date": "2025-01-01", "version": "1", "page": 25, "url": "https://fnet.bmfbovespa.com.br/fnet/publico/visualizarDocumento?id=869529", "sha256": "9a93a9369ac8efdbc54ff8fcee3ccac3abf88edab4807b9323d3852450771b2a"}, {"document_id": "870070", "title": "Demonstrações Financeiras", "reference_date": "2024-12-31", "version": "1", "page": 25, "url": "https://fnet.bmfbovespa.com.br/fnet/publico/visualizarDocumento?id=870070", "sha256": "9a93a9369ac8efdbc54ff8fcee3ccac3abf88edab4807b9323d3852450771b2a"}], "reference": {"path": "history/54871427000194.json", "criterion_id": "rating", "total_count": 5, "preview_count": 3, "full_text_deferred": true, "sha256": "35d7cd99be50c7287c9fb675cf4f2e736002315295a225a9efa79c8d9186d874"}}</a:t>
            </a:r>
          </a:p>
          <a:p>
            <a:r>
              <a:t>CNPJ 60010416000112 · Rating por subclasse e downgrade · Demonstrações Financeiras - Fusão, cisão e incorporação · ID 1298690 · 2026-05-08 · versão 1 · p. 35 · https://fnet.bmfbovespa.com.br/fnet/publico/visualizarDocumento?id=1298690</a:t>
            </a:r>
          </a:p>
          <a:p>
            <a:r>
              <a:t>CNPJ 60010416000112 · Rating por subclasse e downgrade · Excerto da fonte:</a:t>
            </a:r>
          </a:p>
          <a:p>
            <a:r>
              <a:t>As Cotas Seniores poderão ser objeto de classificação de risco (rating) por Agência  Classificadora de Risco em funcionamento no país.</a:t>
            </a:r>
          </a:p>
          <a:p>
            <a:r>
              <a:t>CNPJ 60010416000112 · Rating por subclasse e downgrade · Condição: Documentos atuais selecionados no inventário por categoria/escopo; a data documental isolada não comprova vigência jurídica.</a:t>
            </a:r>
          </a:p>
          <a:p>
            <a:r>
              <a:t>CNPJ 60010416000112 · Rating por subclasse e downgrade · Versão e prevalência: Documentos atuais selecionados no inventário por categoria/escopo; a data documental isolada não comprova vigência jurídica.</a:t>
            </a:r>
          </a:p>
          <a:p>
            <a:r>
              <a:t>CNPJ 60010416000112 · Rating por subclasse e downgrade · Resumo do histórico: {"count": 5, "dates": ["2025-11-30", "2026-03-18", "2026-04-16"], "document_count": 3, "sources": [{"document_id": "1282181", "title": "Demonstrações Financeiras - Fusão, cisão e incorporação", "reference_date": "2026-04-16", "version": "1", "page": 38, "url": "https://fnet.bmfbovespa.com.br/fnet/publico/visualizarDocumento?id=1282181", "sha256": "b1c6566e43a00bcd00c8a7f30c77b7f86e351bd8e355bbea113f46d1dafda703"}, {"document_id": "1224477", "title": "Demonstrações Financeiras - Fusão, cisão e incorporação", "reference_date": "2026-03-18", "version": "1", "page": 37, "url": "https://fnet.bmfbovespa.com.br/fnet/publico/visualizarDocumento?id=1224477", "sha256": "0751bf0a75bc3b44c2748f5000226665c6ec6698a90c4dc6170b4e6c187759ae"}, {"document_id": "1126154", "title": "Demonstrações Financeiras", "reference_date": "2025-11-30", "version": "1", "page": 38, "url": "https://fnet.bmfbovespa.com.br/fnet/publico/visualizarDocumento?id=1126154", "sha256": "a01e7ccf88c548f12c95cba8526d7efbef6b585c112cd4668eca781c292090b0"}], "reference": {"path": "history/60010416000112.json", "criterion_id": "rating", "total_count": 5, "preview_count": 3, "full_text_deferred": true, "sha256": "8e2bd813f4c51cf01f6bfaad164bafe69d2bbb192f753eac92da3a01c2e63046"}}</a:t>
            </a:r>
          </a:p>
          <a:p>
            <a:r>
              <a:t>CNPJ 62696791000193 · Rating por subclasse e downgrade · Regulamento · ID 1143317 · 2026-03-20 · versão 1 · p. 3 · 2.1.2 · https://fnet.bmfbovespa.com.br/fnet/publico/visualizarDocumento?id=1143317</a:t>
            </a:r>
          </a:p>
          <a:p>
            <a:r>
              <a:t>CNPJ 62696791000193 · Rating por subclasse e downgrade · Excerto da fonte:</a:t>
            </a:r>
          </a:p>
          <a:p>
            <a:r>
              <a:t>2.1.2 Não obstante as atribuições previstas neste Regulamento e na regulamentação aplicável, cabe  ao Gestor praticar os atos necessários à gestão da carteira de ativos do Fundo, o que inclui,  mas não se limita, à contratação, em nome do Fundo ou da classe de cot as, dos seguintes  serviços: (a) intermediação de operações para carteira de ativos; (b) distribuição de cotas; (c)  consultoria de investimentos ou consultoria especializada; (d) classificação de risco por agência  de classificação de risco de crédito; (e) f ormador de mercado de classe f echada; (f ) cogestão  da carteira de ativos; (g) empresa especializada para administrar as locações ou arrendamentos  de imóveis rurais e a exploração do direito de superf ície, assim como para monitorar e</a:t>
            </a:r>
          </a:p>
          <a:p>
            <a:r>
              <a:t>CNPJ 62696791000193 · Rating por subclasse e downgrade · Regulamento · ID 1143317 · 2026-03-20 · versão 1 · p. 36 · 1.2 · https://fnet.bmfbovespa.com.br/fnet/publico/visualizarDocumento?id=1143317</a:t>
            </a:r>
          </a:p>
          <a:p>
            <a:r>
              <a:t>CNPJ 62696791000193 · Rating por subclasse e downgrade · Excerto da fonte:</a:t>
            </a:r>
          </a:p>
          <a:p>
            <a:r>
              <a:t>1.2. As Cotas Subordinadas Juniores serão subscritas e integralizadas por um único Cotista e/ou por Cotistas  vinculados por interesse único e indissociável, de forma que serão objeto de colocação privada, nos termos  do Compromisso de Investimento a ser f irmado pelo Cotista, dispensadas da classificação de risco e não  terão parâmetro de remuneração def inido.</a:t>
            </a:r>
          </a:p>
          <a:p>
            <a:r>
              <a:t>2. Emissão, Subscrição e Integralização das Cotas</a:t>
            </a:r>
          </a:p>
          <a:p>
            <a:r>
              <a:t>CNPJ 62696791000193 · Rating por subclasse e downgrade · Condição: Documentos atuais selecionados no inventário por categoria/escopo; a data documental isolada não comprova vigência jurídica.</a:t>
            </a:r>
          </a:p>
          <a:p>
            <a:r>
              <a:t>CNPJ 62696791000193 · Rating por subclasse e downgrade · Versão e prevalência: Documentos atuais selecionados no inventário por categoria/escopo; a data documental isolada não comprova vigência jurídica.</a:t>
            </a:r>
          </a:p>
          <a:p>
            <a:r>
              <a:t>CNPJ 55563624000109 · Rating por subclasse e downgrade · Regulamento · ID 1192614 · 30/04/2026 · versão Regulamento30/04/2026 · p. 44 · GlossárioTermo de Adesão · https://fnet.bmfbovespa.com.br/fnet/publico/visualizarDocumento?id=1192614</a:t>
            </a:r>
          </a:p>
          <a:p>
            <a:r>
              <a:t>CNPJ 55563624000109 · Rating por subclasse e downgrade · Excerto da fonte:</a:t>
            </a:r>
          </a:p>
          <a:p>
            <a:r>
              <a:t>Termo de Adesão”: documento elaborado nos termos do art. 29 da Resolução CVM 175, por meio do qual o Cotista adere a este Regulamento e que deve ser firmado quando de seu ingresso no FUNDO, declarando, inclusive, sem se limitar a, ter pleno conhecimento dos riscos envolvidos na operação, inclusive da possibilidade de perda total do capital investido, e da ausência de classificação de risco das Cotas subscritas; “Valor Unitário”: o valor individual das Cotas, equivalente a R$ 1.000,00 (um mil), na primeira Data de Emissão, calculado todo Dia Útil para efeito da definição de seu valor de integralização e</a:t>
            </a:r>
          </a:p>
          <a:p>
            <a:r>
              <a:t>CNPJ 55563624000109 · Rating por subclasse e downgrade · Versão e prevalência: Leitura específica das cláusulas indicadas; condições e conflitos preservados. Seleção documental atual não comprova vigência jurídica por data isolada.</a:t>
            </a:r>
          </a:p>
          <a:p>
            <a:r>
              <a:t>CNPJ 55563624000109 · Rating por subclasse e downgrade · Resumo do histórico: {"count": 2, "dates": ["2025-01-31", "2026-01-31"], "document_count": 2, "sources": [{"document_id": "1178840", "title": "Demonstrações Financeiras", "reference_date": "2026-01-31", "version": "1", "page": 22, "url": "https://fnet.bmfbovespa.com.br/fnet/publico/visualizarDocumento?id=1178840", "sha256": "c458e98664c5c907ddb5a05a94b120bed4e05295b2bfc420f5ba69af0a229abe"}, {"document_id": "891861", "title": "Demonstrações Financeiras", "reference_date": "2025-01-31", "version": "1", "page": 23, "url": "https://fnet.bmfbovespa.com.br/fnet/publico/visualizarDocumento?id=891861", "sha256": "e9cb9e6ddbe505fe068cfcac33605165a98313489de0d3ce6d4d238263c3f3e7"}], "reference": {"path": "history/55563624000109.json", "criterion_id": "rating", "total_count": 2, "preview_count": 2, "full_text_deferred": true, "sha256": "7835d573fb58a3c19adf5b8ecc2aee2bdbb9a88f7a0c0209b5f262b64c7522e3"}}</a:t>
            </a:r>
          </a:p>
          <a:p>
            <a:r>
              <a:t>CNPJ 62552447000120 · Rating por subclasse e downgrade · Regulamento · ID 1200623 · 21/05/2026 · versão Consolidado21/05/2026 aprovado pelo ato1200625 · p. 19 · AnexoI6.11 · https://fnet.bmfbovespa.com.br/fnet/publico/visualizarDocumento?id=1200623</a:t>
            </a:r>
          </a:p>
          <a:p>
            <a:r>
              <a:t>CNPJ 62552447000120 · Rating por subclasse e downgrade · Excerto da fonte:</a:t>
            </a:r>
          </a:p>
          <a:p>
            <a:r>
              <a:t>6.11 As Cotas não serão objeto de classif icação de risco . CAPÍTULO 7 – AMORTIZAÇÃO DAS COTAS 7.1 A distribuição de quaisquer ganhos e rendimentos d a Classe aos Cotistas será f eita exclusivamente mediante a Amortização, observado o disposto neste Capítulo. 7.2 As Cotas poderão ser amortizadas através de uma Amortização programada, se houver, conforme prevista nos Apêndices, caso aplicável (“Amortização Programada”), e por meio amortização extraordinária das Cotas, a ser realizada por (a) por decisão do Gestor, para: (i) reenquadramento da Carteira ao mínimo de Direitos Creditórios que deve ser detido pel</a:t>
            </a:r>
          </a:p>
          <a:p>
            <a:r>
              <a:t>CNPJ 62552447000120 · Rating por subclasse e downgrade · Versão e prevalência: Leitura específica das cláusulas indicadas; condições e conflitos preservados. Seleção documental atual não comprova vigência jurídica por data isolada.</a:t>
            </a:r>
          </a:p>
          <a:p>
            <a:r>
              <a:t>CNPJ 63953620000165 · Rating por subclasse e downgrade · Anexo ao Regulamento · ID 1222863 · 02/06/2026 · versão AnexoConsignadoPrivado02/06/2026 · p. 11 · 6.14 · https://fnet.bmfbovespa.com.br/fnet/publico/visualizarDocumento?id=1222863</a:t>
            </a:r>
          </a:p>
          <a:p>
            <a:r>
              <a:t>CNPJ 63953620000165 · Rating por subclasse e downgrade · Excerto da fonte:</a:t>
            </a:r>
          </a:p>
          <a:p>
            <a:r>
              <a:t>6.14 As Cotas poderão ser objeto de classificação de risco pela contratada pelo Gestor, desde que em comum acordo entre Gestor e Cotistas Subordinados em Assembleia Especial de Cotistas (“Agência Classificadora de Risco”). CAPÍTULO 7 – AMORTIZAÇÃO DAS COTAS 7.1 A distribuição de quaisquer ganhos e rendimentos da Classe aos Cotistas será feita exclusivamente mediante a Amortização de Cotas, observado o disposto neste Capítulo e nos Apêndices. 7.2 As Cotas poderão ser amortizadas através de uma Amortização por Regime de Caixa, se houver conforme prevista nos Apêndices; e por meio amortização extraordinária das Cotas, a ser realiz</a:t>
            </a:r>
          </a:p>
          <a:p>
            <a:r>
              <a:t>CNPJ 63953620000165 · Rating por subclasse e downgrade · Versão e prevalência: Leitura específica das cláusulas indicadas; condições e conflitos preservados. Seleção documental atual não comprova vigência jurídica por data isolada.</a:t>
            </a:r>
          </a:p>
          <a:p>
            <a:r>
              <a:t>CNPJ 63953620000165 · Rating por subclasse e downgrade · Resumo do histórico: {"count": 8, "dates": ["2026-04-28", "2026-05-08", "2026-05-15"], "document_count": 3, "sources": [{"document_id": "1327859", "title": "Demonstrações Financeiras - Fusão, cisão e incorporação", "reference_date": "2026-05-15", "version": "1", "page": 29, "url": "https://fnet.bmfbovespa.com.br/fnet/publico/visualizarDocumento?id=1327859", "sha256": "dca1c68babb97f887528c3e2e47596a9c30f507b067981a35655b2f2da9c8054"}, {"document_id": "1298691", "title": "Demonstrações Financeiras - Fusão, cisão e incorporação", "reference_date": "2026-05-08", "version": "1", "page": 30, "url": "https://fnet.bmfbovespa.com.br/fnet/publico/visualizarDocumento?id=1298691", "sha256": "58c570d9b8d4d265330d3db3ea81c435b8e44a6dab4002aa37790652a1ee9819"}, {"document_id": "1282180", "title": "Demonstrações Financeiras - Fusão, cisão e incorporação", "reference_date": "2026-04-28", "version": "1", "page": 30, "url": "https://fnet.bmfbovespa.com.br/fnet/publico/visualizarDocumento?id=1282180", "sha256": "afaaa0e6809be4385e5bdb6c911aac582032c5bdbac3d7750234bf9eaf00438a"}], "reference": {"path": "history/63953620000165.json", "criterion_id": "rating",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Emissões e custos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Remuneração por subclasse e série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Remuneração por subclasse e série · Resumo do histórico: {"count": 1, "dates": ["2024-04-28"], "document_count": 1, "sources": [{"document_id": "670691", "title": "Regulamento", "reference_date": "2024-04-28", "version": "1", "page": "14", "url": "https://fnet.bmfbovespa.com.br/fnet/publico/visualizarDocumento?id=670691", "sha256": "bf16dd7f1a62d5cdbf2e2d54fef81783783f7310fbc99c3a8f00459bdf9d037b"}], "reference": {"path": "history/54871427000194.json", "criterion_id": "remuneration", "total_count": 1, "preview_count": 1, "full_text_deferred": true, "sha256": "35d7cd99be50c7287c9fb675cf4f2e736002315295a225a9efa79c8d9186d874"}}</a:t>
            </a:r>
          </a:p>
          <a:p>
            <a:r>
              <a:t>CNPJ 60010416000112 · Remuneração por subclasse e série · Instrumento Particular de Constituição/Encerramento do Fundo · ID 993785 · 20/03/2025 · versão 1ªemissão20/03/2025 · p. 5 · Suplemento1ªsênior BenchmarkSênior · https://fnet.bmfbovespa.com.br/fnet/publico/visualizarDocumento?id=993785</a:t>
            </a:r>
          </a:p>
          <a:p>
            <a:r>
              <a:t>CNPJ 60010416000112 · Remuneração por subclasse e série · Excerto da fonte:</a:t>
            </a:r>
          </a:p>
          <a:p>
            <a:r>
              <a:t>4,80% (quatro inteiros e oitenta centésimos por cento)calculado por Dia Útil à base de 1/252 (um inteiro e duzentos e cinquenta e dois avos); e (ii) “Benchmark Sênior Adicional”: o parâmetro adicional de rentabilidade a ser buscado pela Classe para remunerar as Cotas Seniores, correspondente 15,00% (quinze por cento) do excesso de spread das Cotas Subordinadas com cap de remuneração total das Cotas Seniores pela variação do CDI acrescido de 6,00% (seis por cento</a:t>
            </a:r>
          </a:p>
          <a:p>
            <a:r>
              <a:t>CNPJ 60010416000112 · Remuneração por subclasse e série · Condição: Termo específico da primeira emissão de 20/03/2025, distinto de taxa deperformance e do suplemento modelo com campos não preenchidos do regulamento.</a:t>
            </a:r>
          </a:p>
          <a:p>
            <a:r>
              <a:t>CNPJ 60010416000112 · Remuneração por subclasse e série · Versão e prevalência: Leitura específica das cláusulas indicadas; condições e conflitos preservados. Seleção documental atual não comprova vigência jurídica por data isolada.</a:t>
            </a:r>
          </a:p>
          <a:p>
            <a:r>
              <a:t>CNPJ 60010416000112 · Remuneração por subclasse e série · Resumo do histórico: {"count": 3, "dates": ["2025-03-20", "2025-05-12"], "document_count": 2, "sources": [{"document_id": "1004656", "title": "AGE", "reference_date": "2025-05-12", "version": "1", "page": 5, "url": "https://fnet.bmfbovespa.com.br/fnet/publico/visualizarDocumento?id=1004656", "sha256": "f6c9c009f6170e2b29f074b98522accec73f0c40efbf11f9ec2c8d3f1402616b"}, {"document_id": "993785", "title": "Instrumento Particular de Constituição/Encerramento do Fundo", "reference_date": "2025-03-20", "version": "1", "page": "4-5", "url": "https://fnet.bmfbovespa.com.br/fnet/publico/visualizarDocumento?id=993785", "sha256": "0826e0eae2c51afabf59bbc49fc7647598d03da5ca6de0f9725850a8bd6af457"}, {"document_id": "993785", "title": "Instrumento Particular de Constituição/Encerramento do Fundo", "reference_date": "2025-03-20", "version": "1", "page": 5, "url": "https://fnet.bmfbovespa.com.br/fnet/publico/visualizarDocumento?id=993785", "sha256": "0826e0eae2c51afabf59bbc49fc7647598d03da5ca6de0f9725850a8bd6af457"}], "reference": {"path": "history/60010416000112.json", "criterion_id": "remuneration", "total_count": 3, "preview_count": 3, "full_text_deferred": true, "sha256": "8e2bd813f4c51cf01f6bfaad164bafe69d2bbb192f753eac92da3a01c2e63046"}}</a:t>
            </a:r>
          </a:p>
          <a:p>
            <a:r>
              <a:t>CNPJ 62696791000193 · Remuneração por subclasse e série · Regulamento · ID 1143317 · 20/03/2026 · versão Regulamento — referência 20/03/2026 · p. 33 · Apêndice Sênior, 1.2 e 1.4 · https://fnet.bmfbovespa.com.br/fnet/publico/visualizarDocumento?id=1143317</a:t>
            </a:r>
          </a:p>
          <a:p>
            <a:r>
              <a:t>CNPJ 62696791000193 · Remuneração por subclasse e série · Excerto da fonte:</a:t>
            </a:r>
          </a:p>
          <a:p>
            <a:r>
              <a:t>1.2. As Cotas Seniores poderão ser divididas em séries com valores e prazos diferenciados para amortização, resgate e remuneração, sendo que cada série terá as mesmas características e conf erirá a seus titulares iguais direitos e obrigações nos termos deste Reg ulamento e do Apêndice ref erente a cada emissão/série de Cotas Seniores. 1.2. Benchmark. A Classe buscará atingir, para as Cotas Seniores, o “Benchmark”, correspondente à 100% (cem por cento) da variação positiva do CDI acrescida de 4,5% (quatro inteiros e cinco décimos por cento) ao ano. 1.3. O Benchmark não representa e nem devem ser considerados uma promessa, garantia ou sugestão de rentabilidade aos Cotistas Seniores, por parte da Classe, do Administrador, do Gestor e/ou do Cedente. 1.4. Independentemente do valor do Patrimônio Líquido da Classe, os Cotistas detentores de Cotas Seniores não f arão jus a uma rentabilidade superior ao Benchmark, o qual representará o limite máximo de remuneração possível para as Cotas Seniores. 2. Emissão, Subscrição e Integralização das Cotas 2.1. A Classe poderá emitir múltiplas Séries de Cotas Seniores, ficando ressalvado, no entanto, que cada nova Série de Cotas Seniores a ser emitida pela Classe</a:t>
            </a:r>
          </a:p>
          <a:p>
            <a:r>
              <a:t>CNPJ 62696791000193 · Remuneração por subclasse e série · Regulamento · ID 1143317 · 20/03/2026 · versão Regulamento — referência 20/03/2026 · p. 34 · Apêndice Sênior, 6.2 · https://fnet.bmfbovespa.com.br/fnet/publico/visualizarDocumento?id=1143317</a:t>
            </a:r>
          </a:p>
          <a:p>
            <a:r>
              <a:t>CNPJ 62696791000193 · Remuneração por subclasse e série · Excerto da fonte:</a:t>
            </a:r>
          </a:p>
          <a:p>
            <a:r>
              <a:t>6.2. Em complemento às Amortizações Programadas de Cotas Seniores, os Cotistas Seniores f arão jus, sempre que o Patrimônio Líquido da Classe assim permita e desde que o Valor Unitário das Cotas Seniores esteja superior ao valor de integralização das Cotas Seniores em circulação, a 50% (cinquenta por cento) de qualquer valor que exceder a Amortização das Cotas Subordinadas, conforme prevista no Apêndice da Subclasse Subordinada, a ser paga na Data de Amortização Programada de Cotas Seniores (“Amortização Extraordinária de Cotas Seniores”). 6.3. Os pagamentos das parcelas de Amortização e/ou de resgate das Cotas Seniores serão ef etuados, em moeda corrente nacional, pelo Valor Unitário das Cotas Seniores no dia do pagamento, calculado na forma descrita neste Apêndice e no Anexo I, por meio de depósito em conta de titularidade dos Cotistas titulares BTG Pactual 2 SAC: 0800 772 28 27 - Ouvidoria: 0800 722 00 48 - btgpactual.com</a:t>
            </a:r>
          </a:p>
          <a:p>
            <a:r>
              <a:t>CNPJ 62696791000193 · Remuneração por subclasse e série · Regulamento · ID 1143317 · 20/03/2026 · versão Regulamento — referência 20/03/2026 · p. 37 · Apêndice Júnior, 4.1–4.2 · https://fnet.bmfbovespa.com.br/fnet/publico/visualizarDocumento?id=1143317</a:t>
            </a:r>
          </a:p>
          <a:p>
            <a:r>
              <a:t>CNPJ 62696791000193 · Remuneração por subclasse e série · Excerto da fonte:</a:t>
            </a:r>
          </a:p>
          <a:p>
            <a:r>
              <a:t>4.1. Caso o Patrimônio Líquido da Classe assim permita, as Cotas Subordinadas f arão jus à amortização semestral, no último Dia Útil dos meses de janeiro e julho de cada ano, de valor equivalente ao excedente do valor de integralização das Cotas Subordinadas em circulação, limitado ao percentual de 100% (cem por cento) da variação positiva do CDI acrescida de 4,50% (quatro inteiros e cinco décimos por cento) ao ano, considerando, para tanto a razão entre (i) o valor de integralização das Cotas Subordinadas Júnior em circulação e (ii) o valor de cada uma das Cotas Subordinadas, a ser paga na Data de Amortização Programada de Cotas Seniores (“Amortização das Cotas Subordinadas”). 4.2. Em complemento às Amortizações das Cotas Subordinadas, os Cotistas Subordinados farão jus, sempre que o Patrimônio Líquido da Classe assim permita e desde que o Valor Unitário das Cotas Subordinadas esteja superior ao valor de integralização das Cotas Subordinadas em circulação, a 50% (cinquenta por cento) de qualquer valor que exceder a Amortização das Cotas Subordinadas, a ser paga na Data de Amortização Programada de Cotas Seniores (“Amortização Extraordinária de Cotas Seniores”). 5. Excesso de Subordinação 5.1. Verif icado excesso de subordinação,</a:t>
            </a:r>
          </a:p>
          <a:p>
            <a:r>
              <a:t>CNPJ 62696791000193 · Remuneração por subclasse e série · Condição: Benchmark é regra de atribuição, condicionado ao PL/resultados, sem garantia de rentabilidade. A subclasse mezanino é autorizada, mas não há apêndice mezanino no PDF consolidado obtido.</a:t>
            </a:r>
          </a:p>
          <a:p>
            <a:r>
              <a:t>CNPJ 62696791000193 · Remuneração por subclasse e série · Versão e prevalência: Leitura específica das cláusulas indicadas; condições e conflitos preservados. Seleção documental atual não comprova vigência jurídica por data isolada.</a:t>
            </a:r>
          </a:p>
          <a:p>
            <a:r>
              <a:t>CNPJ 62696791000193 · Remuneração por subclasse e série · Resumo do histórico: {"count": 1, "dates": ["2026-03-27"], "document_count": 1, "sources": [{"document_id": "1148821", "title": "Instrumento Particular de Emissão de Cotas", "reference_date": "2026-03-27", "version": "1", "page": "1-2", "url": "https://fnet.bmfbovespa.com.br/fnet/publico/visualizarDocumento?id=1148821", "sha256": "86900e9dd498403696bfffbd4196443c83ec4d51ff21135e073c1966e1adf4c0"}], "reference": {"path": "history/62696791000193.json", "criterion_id": "remuneration", "total_count": 1, "preview_count": 1, "full_text_deferred": true, "sha256": "0e9ec199848320ec945708123ae0cb6075d76c05d94beed814d582031d353926"}}</a:t>
            </a:r>
          </a:p>
          <a:p>
            <a:r>
              <a:t>CNPJ 55563624000109 · Remuneração por subclasse e série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Remuneração por subclasse e série · Resumo do histórico: {"count": 1, "dates": ["2026-04-30"], "document_count": 1, "sources": [{"document_id": "1192614", "title": "Regulamento", "reference_date": "2026-04-30", "version": "1", "page": "16-17", "url": "https://fnet.bmfbovespa.com.br/fnet/publico/visualizarDocumento?id=1192614", "sha256": "f56e63ace0acde41d2f47fb48f1ac7f3f7df5e2d32de092d7c5e075a52516632"}], "reference": {"path": "history/55563624000109.json", "criterion_id": "remuneration", "total_count": 1, "preview_count": 1, "full_text_deferred": true, "sha256": "7835d573fb58a3c19adf5b8ecc2aee2bdbb9a88f7a0c0209b5f262b64c7522e3"}}</a:t>
            </a:r>
          </a:p>
          <a:p>
            <a:r>
              <a:t>CNPJ 62552447000120 · Remuneração por subclasse e série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Remuneração por subclasse e série · Resumo do histórico: {"count": 1, "dates": ["2025-09-03"], "document_count": 1, "sources": [{"document_id": "988020", "title": "Instrumento Particular de Emissão de Cotas", "reference_date": "2025-09-03", "version": "1", "page": "5-6", "url": "https://fnet.bmfbovespa.com.br/fnet/publico/visualizarDocumento?id=988020", "sha256": "8ecc8a771bb9713d64e5fc2052c489664cb0433801a9280db68e5187d35bf7a5"}], "reference": {"path": "history/62552447000120.json", "criterion_id": "remuneration", "total_count": 1, "preview_count": 1, "full_text_deferred": true, "sha256": "d95db8c0613d67ee84118c734588665265ea6b02f86a0318d6a844cbe1d0f82f"}}</a:t>
            </a:r>
          </a:p>
          <a:p>
            <a:r>
              <a:t>CNPJ 63953620000165 · Remuneração por subclasse e série · Anexo ao Regulamento · ID 1222863 · 2026-06-02 · versão 1 · p. 22 · 1.2 · https://fnet.bmfbovespa.com.br/fnet/publico/visualizarDocumento?id=1222863</a:t>
            </a:r>
          </a:p>
          <a:p>
            <a:r>
              <a:t>CNPJ 63953620000165 · Remuneração por subclasse e série · Excerto da fonte:</a:t>
            </a:r>
          </a:p>
          <a:p>
            <a:r>
              <a:t>1.2. Benchmark Sênior. A Classe buscará atingir, para as Cotas Seniores, o Benchmark Sênior, qual seja, (a) para a parcela  do Patrimônio Líquido alocado em Direitos Creditórios Consignado Privado e/ou Ativos de Liquidez MT, a variação  positiva do CDI acrescida de 1,50% (um inteiro e cinco décimos por cento) ao ano, (b) para a parcela do Patrimônio  Líquido alocado em Ativos de Liquidez e/ou Direitos Creditórios TVM, a variação positiva do CDI.</a:t>
            </a:r>
          </a:p>
          <a:p>
            <a:r>
              <a:t>CNPJ 63953620000165 · Remuneração por subclasse e série · Anexo ao Regulamento · ID 1222863 · 2026-06-02 · versão 1 · p. 22 · 1.5 · https://fnet.bmfbovespa.com.br/fnet/publico/visualizarDocumento?id=1222863</a:t>
            </a:r>
          </a:p>
          <a:p>
            <a:r>
              <a:t>CNPJ 63953620000165 · Remuneração por subclasse e série · Excerto da fonte:</a:t>
            </a:r>
          </a:p>
          <a:p>
            <a:r>
              <a:t>1.5. Rentabilidade Adicional Sênior. Adicionalmente ao Benchmark Sênior, as Cotas Seniores efetivamente integralizadas  farão jus a uma rentabilidade adicional equivalente a 0,38% (trinta e oito centésimos por cento) incidente sobre o  montante financeiro integralizado pelo respectivo Cotista das Cotas Seniores (“Rentabilidade Adicional Sênior”), a  ser paga a cada Cotista Sênior, em uma única parcela, em até 40 (quarenta) dias corridos após a integralização das  respectivas Cotas Seniores, sendo automaticamente ajustada em caso de alteração da alíquota ou da forma de  incidência do IOF, e deixando de ser devida na hipótese de sua extinção.</a:t>
            </a:r>
          </a:p>
          <a:p>
            <a:r>
              <a:t> 2. Emissão, Subscrição e Integralização das Cotas</a:t>
            </a:r>
          </a:p>
          <a:p>
            <a:r>
              <a:t>CNPJ 63953620000165 · Remuneração por subclasse e série · Condição: Documentos atuais selecionados no inventário por categoria/escopo; a data documental isolada não comprova vigência jurídica.</a:t>
            </a:r>
          </a:p>
          <a:p>
            <a:r>
              <a:t>CNPJ 63953620000165 · Remuneração por subclasse e série · Versão e prevalência: Documentos atuais selecionados no inventário por categoria/escopo; a data documental isolada não comprova vigência jurídica.</a:t>
            </a:r>
          </a:p>
          <a:p>
            <a:r>
              <a:t>CNPJ 54871427000194 · Volume, VNU e emissão · Anúncio de Encerramento · ID 798101 · 2024-12-10 · versão 1 · p. 1 · https://fnet.bmfbovespa.com.br/fnet/publico/visualizarDocumento?id=798101</a:t>
            </a:r>
          </a:p>
          <a:p>
            <a:r>
              <a:t>CNPJ 54871427000194 · Volume, VNU e emissão · Excerto da fonte:</a:t>
            </a:r>
          </a:p>
          <a:p>
            <a:r>
              <a:t>Informações da Oferta  Valor Bruto da 2ª Quantidade de Cotas  Preço de Emissão da Cota  Emissão emitidas  R$ 55.000.000,00 55.000 R$ 1.000,00</a:t>
            </a:r>
          </a:p>
          <a:p>
            <a:r>
              <a:t>CNPJ 54871427000194 · Volume, VNU e emissão · Condição: Trechos do documento específico identificado com data mais recente; vigência jurídica não inferida.</a:t>
            </a:r>
          </a:p>
          <a:p>
            <a:r>
              <a:t>CNPJ 54871427000194 · Volume, VNU e emissão · Versão e prevalência: Trechos do documento específico identificado com data mais recente; vigência jurídica não inferida.</a:t>
            </a:r>
          </a:p>
          <a:p>
            <a:r>
              <a:t>CNPJ 54871427000194 · Volume, VNU e emissão · Resumo do histórico: {"count": 5, "dates": ["2024-06-11", "2024-06-13", "2024-12-10"], "document_count": 3, "sources": [{"document_id": "798101", "title": "Anúncio de Encerramento", "reference_date": "2024-12-10", "version": "1", "page": "1-2", "url": "https://fnet.bmfbovespa.com.br/fnet/publico/visualizarDocumento?id=798101", "sha256": "71618c432ad86002484571d66922b873e4fa91ed3543a109134ddee0bd872f20"}, {"document_id": "683482", "title": "AGE", "reference_date": "2024-06-13", "version": "1", "page": 1, "clause": "4.1", "url": "https://fnet.bmfbovespa.com.br/fnet/publico/visualizarDocumento?id=683482", "sha256": "3afbe254027691929935eaf19ebbb8634fb2ccd8e2fbea2cb2d81a7818f8d648"}, {"document_id": "677544", "title": "Anúncio de Encerramento", "reference_date": "2024-06-11", "version": "1", "page": 1, "url": "https://fnet.bmfbovespa.com.br/fnet/publico/visualizarDocumento?id=677544", "sha256": "5735adc30829e0e91623167d4fd602de01adb236e3d3e758bddb0a375c7067b1"}], "reference": {"path": "history/54871427000194.json", "criterion_id": "issue_volume", "total_count": 5, "preview_count": 3, "full_text_deferred": true, "sha256": "35d7cd99be50c7287c9fb675cf4f2e736002315295a225a9efa79c8d9186d874"}}</a:t>
            </a:r>
          </a:p>
          <a:p>
            <a:r>
              <a:t>CNPJ 60010416000112 · Volume, VNU e emissão · AGE · ID 1049114 · 2025-11-26 · versão 1 · p. 2 · https://fnet.bmfbovespa.com.br/fnet/publico/visualizarDocumento?id=1049114</a:t>
            </a:r>
          </a:p>
          <a:p>
            <a:r>
              <a:t>CNPJ 60010416000112 · Volume, VNU e emissão · Excerto da fonte:</a:t>
            </a:r>
          </a:p>
          <a:p>
            <a:r>
              <a:t>Este instrumento constitui o suplemento nº 3 (“Suplemento”) referente à 1ª emissão de cotas da Série B  da Subclasse Sênior da CLASSE ÚNICA DO MT CONSIGNADO PRIVADO I FUNDO DE  INVESTIMENTO EM DIREITOS CREDITÓRIOS RESPONSABILIDADE LIMITADA (“Classe” e  “FUNDO”, respectivamente), administrado pela BTG Pactual Serviços Financeiros S.A. Distribuidora  de Títulos e Valores Mobiliários, instituição com sede no Município do Rio de Janeiro, Estado do Rio de  Janeiro, na Praia de Botafogo, nº 501, 5º andar – parte, inscrita no CNPJ sob o nº 59.281.253/0001-23,  autorizada a funcionar pelo Banco Central do Brasil e autorizada pela Comissão de Valores Mobiliários  (“CVM”) para a atividade de administração de carteiras de valores mobiliários, de acordo com o Ato  Declaratório nº 8.695, de 20 de março de 2006 (“ADMINISTRADOR”), emitidas nos termos do regulamento  do FUNDO, do anexo descritivo da Classe do respectivo apêndice, devidamente registrado perante a CVM  (“Regulamento”, “Anexo da Classe”, “Apêndice” e “Cotas Seniores” respectivamente), a qual terá as  seguintes características:</a:t>
            </a:r>
          </a:p>
          <a:p>
            <a:r>
              <a:t> Número de Emissão, Valor São emitidas no âmbito da 1ª emissão da 3ª Série de Cotas Seniores da  Total da Emissão e Forma Classe, de 2,000,000 (dois milhões) de Cotas da 3ª Série da Subclasse  de Distribuição Sênior da Classe, com valor nominal unitário de R$ 1.000,00 (mil reais)  cada, totalizando o montante de R$ 2.000.000.000,00 (dois bilhões de  reais), as quais serão objeto de colocação privada, destinada ao Público-  Alvo (conforme definido no Anexo da Classe) (“Colocação Privada”).</a:t>
            </a:r>
          </a:p>
          <a:p>
            <a:r>
              <a:t> Valor Unitário de Emissão As Cotas Seniores da 3ª Série terão um valor unitário de R$ 1.000,00 (mil  reais) na respectiva Data de Emissão.</a:t>
            </a:r>
          </a:p>
          <a:p>
            <a:r>
              <a:t> Data de Emissão Data da 1ª Integralização.</a:t>
            </a:r>
          </a:p>
          <a:p>
            <a:r>
              <a:t> Valor Unitário de As Cotas Seniores da 3ª Série serão subscritas pelo Valor Unitário de  Integralização Emissão, e serão integralizadas pelo respectivo Valor Unitário, nos  termos do Regulamento, do Apêndice e deste Suplemento, sendo certo  que, nas emissões de novas Cotas Seniores da 3ª Série que não difiram,  em sua respectiva Subclasse, das Cotas Seniores da 3ª Série então em  circulação, o Valor Unitário de Integralização corresponderá ao Valor  Unitário da Cota apurado no Dia Útil em que os recursos aportados pelo  Cotista tornem-se efetivamente disponíveis à Classe.</a:t>
            </a:r>
          </a:p>
          <a:p>
            <a:r>
              <a:t> Investimento Mínimo por Não há  Investidor  Forma de Subscrição e As Cotas Seniores da 3ª Série deverão ser integralizadas, à vista, em  Integralização moeda corrente nacional, pelo Valor Unitário de Integralização, no ato de  subscrição.</a:t>
            </a:r>
          </a:p>
          <a:p>
            <a:r>
              <a:t> Ao subscrever Cotas Seniores da 3ª Série, cada Investidor deverá  assinar o Termo de Adesão, no qual confirmará, dentre outros, ter  conhecimento de todos os termos e condições do Fundo e do</a:t>
            </a:r>
          </a:p>
          <a:p>
            <a:r>
              <a:t>CNPJ 60010416000112 · Volume, VNU e emissão · Condição: Trechos do documento específico identificado com data mais recente; vigência jurídica não inferida.</a:t>
            </a:r>
          </a:p>
          <a:p>
            <a:r>
              <a:t>CNPJ 60010416000112 · Volume, VNU e emissão · Motivo: Cláusula primária localizada e citada, mas sua lista/condições extensas não admitem uma síntese literal curta confirmada. O trecho integral permanece nas fontes. A resposta da revisão anterior foi preservada no histórico, sem confirmação pelo documento atual.</a:t>
            </a:r>
          </a:p>
          <a:p>
            <a:r>
              <a:t>CNPJ 60010416000112 · Volume, VNU e emissão · Versão e prevalência: Trechos do documento específico identificado com data mais recente; vigência jurídica não inferida.</a:t>
            </a:r>
          </a:p>
          <a:p>
            <a:r>
              <a:t>CNPJ 60010416000112 · Volume, VNU e emissão · Resumo do histórico: {"count": 3, "dates": ["2025-03-20", "2025-05-12"], "document_count": 2, "sources": [{"document_id": "1004656", "title": "AGE", "reference_date": "2025-05-12", "version": "1", "page": 4, "url": "https://fnet.bmfbovespa.com.br/fnet/publico/visualizarDocumento?id=1004656", "sha256": "f6c9c009f6170e2b29f074b98522accec73f0c40efbf11f9ec2c8d3f1402616b"}, {"document_id": "993785", "title": "Instrumento Particular de Constituição/Encerramento do Fundo", "reference_date": "2025-03-20", "version": "1", "page": "2", "url": "https://fnet.bmfbovespa.com.br/fnet/publico/visualizarDocumento?id=993785", "sha256": "0826e0eae2c51afabf59bbc49fc7647598d03da5ca6de0f9725850a8bd6af457"}, {"document_id": "993785", "title": "Instrumento Particular de Constituição/Encerramento do Fundo", "reference_date": "2025-03-20", "version": "1", "page": 2, "url": "https://fnet.bmfbovespa.com.br/fnet/publico/visualizarDocumento?id=993785", "sha256": "0826e0eae2c51afabf59bbc49fc7647598d03da5ca6de0f9725850a8bd6af457"}], "reference": {"path": "history/60010416000112.json", "criterion_id": "issue_volume", "total_count": 3, "preview_count": 3, "full_text_deferred": true, "sha256": "8e2bd813f4c51cf01f6bfaad164bafe69d2bbb192f753eac92da3a01c2e63046"}}</a:t>
            </a:r>
          </a:p>
          <a:p>
            <a:r>
              <a:t>CNPJ 62696791000193 · Volume, VNU e emissão · Instrumento Particular de Emissão de Cotas · ID 1148821 · 27/03/2026 · versão Instrumento Particular de Emissão de Cotas — referência 27/03/2026 · p. 1 · Deliberação Conjunta, item1 · https://fnet.bmfbovespa.com.br/fnet/publico/visualizarDocumento?id=1148821</a:t>
            </a:r>
          </a:p>
          <a:p>
            <a:r>
              <a:t>CNPJ 62696791000193 · Volume, VNU e emissão · Excerto da fonte:</a:t>
            </a:r>
          </a:p>
          <a:p>
            <a:r>
              <a:t>1. Aprovar a 2ª (segunda) emissão da Subclasse Subordinada Júnior da Classe, composta por até 20.000 (vinte mil) Cotas Subordinadas Júnior, com valor nominal unitário de R$ 1.000,00 (mil reais), perfazendo o montante total de R$ 20.000.000,00 (vinte milhões de reais), as quais serão objeto de colocação privada, de acordo com os termos e condições definidos no Apêndice da Subclasse Subordinada Júnior constante do Anexo I Regulamento e descritas abaixo (“2ª Emissão da Subclasse Subordinada Júnior”): a) Rito: as Cotas Subordinadas Júnior objeto da 2ª Emissão da Subclasse Subordinada Júnior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Subordinada Júnior na data de integralização, calculado na forma prevista no respectivo Apêndice; BTG Pactual 1 SAC: 0800 772 28 27 - Ouvidoria: 0800 722 00 48 - btgpactual.com</a:t>
            </a:r>
          </a:p>
          <a:p>
            <a:r>
              <a:t>CNPJ 62696791000193 · Volume, VNU e emissão · Instrumento Particular de Emissão de Cotas · ID 1148821 · 27/03/2026 · versão Instrumento Particular de Emissão de Cotas — referência 27/03/2026 · p. 2 · Deliberação Conjunta, item2 · https://fnet.bmfbovespa.com.br/fnet/publico/visualizarDocumento?id=1148821</a:t>
            </a:r>
          </a:p>
          <a:p>
            <a:r>
              <a:t>CNPJ 62696791000193 · Volume, VNU e emissão · Excerto da fonte:</a:t>
            </a:r>
          </a:p>
          <a:p>
            <a:r>
              <a:t>2. Aprovar a 2ª (segunda) emissão da Subclasse Sênior da Classe, composta por até 150.000 (cento e cinquenta mil) Cotas Seniores, com valor nominal unitário de R$ 1.000,00 (mil reais), perfazendo o montante total de R$ 150.000.000,00 (cento e cinquenta milhões de reais), as quais serão objeto de colocação privada, de acordo com os termos e condições descritos no Apêndice da Subclasse Sênior constante do Anexo I Regulamento e descritas abaixo (“2ª Emissão da Subclasse Sênior”): a) Rito: as Cotas Seniores objeto da 2ª Emissão da Subclasse Sênior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Sênior na data de integralização, calculado na forma prevista no respectivo Apêndice; d) Forma de Integralização: as Cotas Seniores serão integralizadas mediante chamadas de capital, junto ao seu respectivo agente de custódia e/ou da Administradora na qualidade de escriturador das cotas, nos termos d</a:t>
            </a:r>
          </a:p>
          <a:p>
            <a:r>
              <a:t>CNPJ 62696791000193 · Volume, VNU e emissão · Condição: Volumes autorizados de emissão não comprovam captação ou integralização observada.</a:t>
            </a:r>
          </a:p>
          <a:p>
            <a:r>
              <a:t>CNPJ 62696791000193 · Volume, VNU e emissão · Versão e prevalência: Leitura específica das cláusulas indicadas; condições e conflitos preservados. Seleção documental atual não comprova vigência jurídica por data isolada.</a:t>
            </a:r>
          </a:p>
          <a:p>
            <a:r>
              <a:t>CNPJ 62696791000193 · Volume, VNU e emissão · Resumo do histórico: {"count": 2, "dates": ["2026-03-20", "2026-03-27"], "document_count": 2, "sources": [{"document_id": "1148821", "title": "Instrumento Particular de Emissão de Cotas", "reference_date": "2026-03-27", "version": "1", "page": "1-2", "url": "https://fnet.bmfbovespa.com.br/fnet/publico/visualizarDocumento?id=1148821", "sha256": "86900e9dd498403696bfffbd4196443c83ec4d51ff21135e073c1966e1adf4c0"}, {"document_id": "1143317", "title": "Regulamento", "reference_date": "2026-03-20", "version": "1", "page": 23, "clause": "11.3", "url": "https://fnet.bmfbovespa.com.br/fnet/publico/visualizarDocumento?id=1143317", "sha256": "32f62818d51c3ebeaf9ec012d3d7867f15c1aed6d10f0867c157a290df1cea48"}], "reference": {"path": "history/62696791000193.json", "criterion_id": "issue_volume", "total_count": 2, "preview_count": 2, "full_text_deferred": true, "sha256": "0e9ec199848320ec945708123ae0cb6075d76c05d94beed814d582031d353926"}}</a:t>
            </a:r>
          </a:p>
          <a:p>
            <a:r>
              <a:t>CNPJ 55563624000109 · Volume, VNU e emissão · Regulamento · ID 1192614 · 2026-04-30 · versão 1 · p. 17 · 5.13.2 · https://fnet.bmfbovespa.com.br/fnet/publico/visualizarDocumento?id=1192614</a:t>
            </a:r>
          </a:p>
          <a:p>
            <a:r>
              <a:t>CNPJ 55563624000109 · Volume, VNU e emissão · Excerto da fonte:</a:t>
            </a:r>
          </a:p>
          <a:p>
            <a:r>
              <a:t>5.13.2 Caso um Cotista do Fundo pretenda transferir suas Cotas para terceiros (“Cotista Vendedor”), deverá  notificar previamente o GESTOR, via e-mail, manifestando sua proposta de alienação de Cotas, a qual  deve incluir o interessado na aquisição e a quantidade de Cotas a serem alienadas e o preço para tal  alienação (“Proposta de Venda”). O GESTOR deverá manifestar aprovação para alienação das Cotas  objeto da Proposta de Venda (“Cotas Objeto”) em até 5 (cinco) Dias Úteis, observado que a ausência de  aprovação deverá ser entendida como aprovação tácita à alienação das Cotas Objeto.</a:t>
            </a:r>
          </a:p>
          <a:p>
            <a:r>
              <a:t>CNPJ 55563624000109 · Volume, VNU e emissão · Regulamento · ID 1192614 · 2026-04-30 · versão 1 · p. 39 · https://fnet.bmfbovespa.com.br/fnet/publico/visualizarDocumento?id=1192614</a:t>
            </a:r>
          </a:p>
          <a:p>
            <a:r>
              <a:t>CNPJ 55563624000109 · Volume, VNU e emissão · Excerto da fonte:</a:t>
            </a:r>
          </a:p>
          <a:p>
            <a:r>
              <a:t>(xxi) Ausência de propriedade direta dos ativos. Os direitos dos Cotistas serão exercidos sobre  todos os ativos da Carteira de modo não individualizado, proporcionalmente à quantidade de Cotas  detidas por cada um. Portanto, os Cotistas não terão qualquer direito de propriedade direta sobre as  Cotas da Classe Investida e os Ativos Financeiros de Liquidez integrantes da Carteira, ou mesmo sobre  os direitos creditórios e os ativos financeiros de liquidez integrantes da carteira da Classe Investida.</a:t>
            </a:r>
          </a:p>
          <a:p>
            <a:r>
              <a:t>CNPJ 55563624000109 · Volume, VNU e emissão · Condição: Documentos atuais selecionados no inventário por categoria/escopo; a data documental isolada não comprova vigência jurídica.</a:t>
            </a:r>
          </a:p>
          <a:p>
            <a:r>
              <a:t>CNPJ 55563624000109 · Volume, VNU e emissão · Versão e prevalência: Documentos atuais selecionados no inventário por categoria/escopo; a data documental isolada não comprova vigência jurídica.</a:t>
            </a:r>
          </a:p>
          <a:p>
            <a:r>
              <a:t>CNPJ 55563624000109 · Volume, VNU e emissão · Resumo do histórico: {"count": 3, "dates": ["2024-12-30", "2025-01-31", "2026-01-31"], "document_count": 3, "sources": [{"document_id": "1178840", "title": "Demonstrações Financeiras", "reference_date": "2026-01-31", "version": "1", "page": 25, "url": "https://fnet.bmfbovespa.com.br/fnet/publico/visualizarDocumento?id=1178840", "sha256": "c458e98664c5c907ddb5a05a94b120bed4e05295b2bfc420f5ba69af0a229abe"}, {"document_id": "891861", "title": "Demonstrações Financeiras", "reference_date": "2025-01-31", "version": "1", "page": 26, "url": "https://fnet.bmfbovespa.com.br/fnet/publico/visualizarDocumento?id=891861", "sha256": "e9cb9e6ddbe505fe068cfcac33605165a98313489de0d3ce6d4d238263c3f3e7"}, {"document_id": "811323", "title": "Anúncio de Encerramento", "reference_date": "2024-12-30", "version": "1", "page": 1, "url": "https://fnet.bmfbovespa.com.br/fnet/publico/visualizarDocumento?id=811323", "sha256": "ebc6bc661be5189acffb3c3e352de2aea0a8ca8431011d1237e1ae19da4f9c79"}], "reference": {"path": "history/55563624000109.json", "criterion_id": "issue_volume", "total_count": 3, "preview_count": 3, "full_text_deferred": true, "sha256": "7835d573fb58a3c19adf5b8ecc2aee2bdbb9a88f7a0c0209b5f262b64c7522e3"}}</a:t>
            </a:r>
          </a:p>
          <a:p>
            <a:r>
              <a:t>CNPJ 62552447000120 · Volume, VNU e emissão · AGE · ID 1315103 · 2026-09-08 · versão 1 · p. 1 · https://fnet.bmfbovespa.com.br/fnet/publico/visualizarDocumento?id=1315103</a:t>
            </a:r>
          </a:p>
          <a:p>
            <a:r>
              <a:t>CNPJ 62552447000120 · Volume, VNU e emissão · Excerto da fonte:</a:t>
            </a:r>
          </a:p>
          <a:p>
            <a:r>
              <a:t>a) Rito: as cotas objeto da Segunda Emissão não estão sujeitas a regulamentação  de oferta de valores mobiliários, conforme facultado pelo Art. 8º, inciso II, da  Resolução CVM nº 160, de 13 de julho de 2022;</a:t>
            </a:r>
          </a:p>
          <a:p>
            <a:r>
              <a:t> b) Preço de Emissão: R$ 1.000,00 (mil reais);</a:t>
            </a:r>
          </a:p>
          <a:p>
            <a:r>
              <a:t> c) Quantidade de Cotas: 10.000 (dez mil) Cotas;</a:t>
            </a:r>
          </a:p>
          <a:p>
            <a:r>
              <a:t> d) Preço de Integralização: será o valor da Cota vigente na data de integralização,  nos termos do respectivo boletim de subscrição;</a:t>
            </a:r>
          </a:p>
          <a:p>
            <a:r>
              <a:t> e) Forma de Integralização: as Cotas serão integralizadas à vista, em moeda  corrente nacional, junto ao seu respectivo agente de custódia e/ou da  Administradora na qualidade de escriturador das cotas;</a:t>
            </a:r>
          </a:p>
          <a:p>
            <a:r>
              <a:t> f) Período de colocação: a subscrição das Cotas, objeto da Segunda Emissão,  deverão ser realizadas no prazo máximo de 180 (cento e oitenta) dias, contados  da data de efeitos do presente instrumento.</a:t>
            </a:r>
          </a:p>
          <a:p>
            <a:r>
              <a:t>CNPJ 62552447000120 · Volume, VNU e emissão · Condição: Trechos do documento específico identificado com data mais recente; vigência jurídica não inferida.</a:t>
            </a:r>
          </a:p>
          <a:p>
            <a:r>
              <a:t>CNPJ 62552447000120 · Volume, VNU e emissão · Versão e prevalência: Trechos do documento específico identificado com data mais recente; vigência jurídica não inferida.</a:t>
            </a:r>
          </a:p>
          <a:p>
            <a:r>
              <a:t>CNPJ 62552447000120 · Volume, VNU e emissão · Resumo do histórico: {"count": 2, "dates": ["2025-09-03"], "document_count": 1, "sources": [{"document_id": "988020", "title": "Instrumento Particular de Emissão de Cotas", "reference_date": "2025-09-03", "version": "1", "page": "5", "url": "https://fnet.bmfbovespa.com.br/fnet/publico/visualizarDocumento?id=988020", "sha256": "8ecc8a771bb9713d64e5fc2052c489664cb0433801a9280db68e5187d35bf7a5"}, {"document_id": "988020", "title": "Instrumento Particular de Emissão de Cotas", "reference_date": "2025-09-03", "version": "1", "page": 2, "url": "https://fnet.bmfbovespa.com.br/fnet/publico/visualizarDocumento?id=988020", "sha256": "8ecc8a771bb9713d64e5fc2052c489664cb0433801a9280db68e5187d35bf7a5"}], "reference": {"path": "history/62552447000120.json", "criterion_id": "issue_volume", "total_count": 2, "preview_count": 2, "full_text_deferred": true, "sha256": "d95db8c0613d67ee84118c734588665265ea6b02f86a0318d6a844cbe1d0f82f"}}</a:t>
            </a:r>
          </a:p>
          <a:p>
            <a:r>
              <a:t>CNPJ 63953620000165 · Volume, VNU e emissão · Demonstrações Financeiras - Fusão, cisão e incorporação · ID 1327859 · 2026-05-15 · versão 1 · p. 31 · 15.000.000 · https://fnet.bmfbovespa.com.br/fnet/publico/visualizarDocumento?id=1327859</a:t>
            </a:r>
          </a:p>
          <a:p>
            <a:r>
              <a:t>CNPJ 63953620000165 · Volume, VNU e emissão · Excerto da fonte:</a:t>
            </a:r>
          </a:p>
          <a:p>
            <a:r>
              <a:t>15.000.000 (quinze bilhões de reais), , a serem objeto de colocação privada, nos termos  do Regulamento, da Resolução CVM 175 e do respectivo boletim de subscrição nos  seguintes termos:</a:t>
            </a:r>
          </a:p>
          <a:p>
            <a:r>
              <a:t> a. Montante Total da Colocação Privada: R$ 15.000.000 (quinze bilhões de  reais)  b. Quantidade de Cotas: 15.000.000 (quinze milhões) de Cotas Seniores;</a:t>
            </a:r>
          </a:p>
          <a:p>
            <a:r>
              <a:t> c. Preço de Emissão (Valor Unitário): R$ 1 (mil reais);</a:t>
            </a:r>
          </a:p>
          <a:p>
            <a:r>
              <a:t> d. Forma e Preço de Integralização: as Cotas serão integralizadas na forma  prevista no Boletim de Subscrição;</a:t>
            </a:r>
          </a:p>
          <a:p>
            <a:r>
              <a:t> e. Prazo da Colocação Privada: as Cotas serão colocadas em até 180 (cento e  oitenta) dias da data deste IPA.</a:t>
            </a:r>
          </a:p>
          <a:p>
            <a:r>
              <a:t>CNPJ 63953620000165 · Volume, VNU e emissão · Demonstrações Financeiras - Fusão, cisão e incorporação · ID 1327859 · 2026-05-15 · versão 1 · p. 31 · https://fnet.bmfbovespa.com.br/fnet/publico/visualizarDocumento?id=1327859</a:t>
            </a:r>
          </a:p>
          <a:p>
            <a:r>
              <a:t>CNPJ 63953620000165 · Volume, VNU e emissão · Excerto da fonte:</a:t>
            </a:r>
          </a:p>
          <a:p>
            <a:r>
              <a:t>Em Instrumento Particular de Alteração do MT Global Fundo de Investimento em Direitos  Creditórios, realizada em 08 de janeiro de 2026, foram deliberadas as seguintes matérias:</a:t>
            </a:r>
          </a:p>
          <a:p>
            <a:r>
              <a:t>(i) Alterar regulamento vigente da classe em relação aos itens 4.17.1, 6.8 e o Capítulo 13,</a:t>
            </a:r>
          </a:p>
          <a:p>
            <a:r>
              <a:t> (b) incluir o item 3.1, 8.1.(ii), 8.2, 8.2.1, e 10.2.(xvii); e (c) excluir os itens 6.8.1, 6.8.2,</a:t>
            </a:r>
          </a:p>
          <a:p>
            <a:r>
              <a:t>(ii) Aprovar a 1ª (primeira) emissão de cotas seniores das Classes (“Cotas Seniores”), em  sistema de vasos comunicantes entre as Classes, de forma que a quantidade de Cotas  Seniores integralizadas em uma das Classes será deduzida da quantidade de Cotas  Seniores disponíveis para integralização nas demais Classes, no montante total de R$</a:t>
            </a:r>
          </a:p>
          <a:p>
            <a:r>
              <a:t>CNPJ 63953620000165 · Volume, VNU e emissão · Demonstrações Financeiras - Fusão, cisão e incorporação · ID 1327859 · 2026-05-15 · versão 1 · p. 32 · https://fnet.bmfbovespa.com.br/fnet/publico/visualizarDocumento?id=1327859</a:t>
            </a:r>
          </a:p>
          <a:p>
            <a:r>
              <a:t>CNPJ 63953620000165 · Volume, VNU e emissão · Excerto da fonte:</a:t>
            </a:r>
          </a:p>
          <a:p>
            <a:r>
              <a:t>f. Montante Total da Colocação Privada: R$ 7.000 (sete milhões de reais);</a:t>
            </a:r>
          </a:p>
          <a:p>
            <a:r>
              <a:t> g. Quantidade de Cotas: 7.000 (sete mil) de Cotas Subordinadas CP  h. Preço de Emissão (Valor Unitário): R$ 1 (mil reais);</a:t>
            </a:r>
          </a:p>
          <a:p>
            <a:r>
              <a:t> i. Forma e Preço de Integralização: as Cotas serão integralizadas na forma  prevista no Boletim de Subscrição;</a:t>
            </a:r>
          </a:p>
          <a:p>
            <a:r>
              <a:t> j. Prazo da Colocação Privada: as Cotas serão colocadas em até 180 (cento e  oitenta) dias da data deste IPA.</a:t>
            </a:r>
          </a:p>
          <a:p>
            <a:r>
              <a:t>CNPJ 63953620000165 · Volume, VNU e emissão · Condição: Trechos do documento específico identificado com data mais recente; vigência jurídica não inferida.</a:t>
            </a:r>
          </a:p>
          <a:p>
            <a:r>
              <a:t>CNPJ 63953620000165 · Volume, VNU e emissão · Versão e prevalência: Trechos do documento específico identificado com data mais recente; vigência jurídica não inferida.</a:t>
            </a:r>
          </a:p>
          <a:p>
            <a:r>
              <a:t>CNPJ 63953620000165 · Volume, VNU e emissão · Resumo do histórico: {"count": 8, "dates": ["2026-04-16", "2026-04-28", "2026-05-08"], "document_count": 3, "sources": [{"document_id": "1298691", "title": "Demonstrações Financeiras - Fusão, cisão e incorporação", "reference_date": "2026-05-08", "version": "1", "page": 32, "url": "https://fnet.bmfbovespa.com.br/fnet/publico/visualizarDocumento?id=1298691", "sha256": "58c570d9b8d4d265330d3db3ea81c435b8e44a6dab4002aa37790652a1ee9819"}, {"document_id": "1282180", "title": "Demonstrações Financeiras - Fusão, cisão e incorporação", "reference_date": "2026-04-28", "version": "1", "page": 32, "clause": "15.000.000", "url": "https://fnet.bmfbovespa.com.br/fnet/publico/visualizarDocumento?id=1282180", "sha256": "afaaa0e6809be4385e5bdb6c911aac582032c5bdbac3d7750234bf9eaf00438a"}, {"document_id": "1282179", "title": "Demonstrações Financeiras - Fusão, cisão e incorporação", "reference_date": "2026-04-16", "version": "1", "page": 32, "clause": "15.000.000", "url": "https://fnet.bmfbovespa.com.br/fnet/publico/visualizarDocumento?id=1282179", "sha256": "beb67afbcd64169019477673fd3b7c1edbfabbd9db07379388d8cdd5d3fc9395"}], "reference": {"path": "history/63953620000165.json", "criterion_id": "issue_volume", "total_count": 8, "preview_count": 3, "full_text_deferred": true, "sha256": "a7b89077f5e21098c2d601c303faabc3ff6b9729f89d8afecdc60fe1404720c1"}}</a:t>
            </a:r>
          </a:p>
          <a:p>
            <a:r>
              <a:t>CNPJ 54871427000194 · Administração: taxa, base e mínimo · Regulamento · ID 670691 · 28/04/2024 · versão Regulamento — referência 28/04/2024 · p. 25 · Anexo I, 13.1 · https://fnet.bmfbovespa.com.br/fnet/publico/visualizarDocumento?id=670691</a:t>
            </a:r>
          </a:p>
          <a:p>
            <a:r>
              <a:t>CNPJ 54871427000194 · Administração: taxa, base e mínimo · Excerto da fonte:</a:t>
            </a:r>
          </a:p>
          <a:p>
            <a:r>
              <a:t>13.1 Pelos serviços de administração, tesouraria, controladoria e escrituração, a Classe pagará a Taxa de Administração nos seguintes moldes: o valor correspondente a 0,10% (dez centésimos por cento) ao ano aplicado sobre o Patrimônio Líquido, observado o valor mínimo de R$ 10.000,00 (dez mil reais) mensais atualizado pela variação positiva do IGP-M a cada período de 12 (doze) meses, contados a partir do mês em que ocorrer a primeira integralização de Cotas (inclusive). 13.1.1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BTG Pactual SAC: 0800 772 28 27 - Ouvidoria: 0800 722 00 48 - btgpactual.com 19</a:t>
            </a:r>
          </a:p>
          <a:p>
            <a:r>
              <a:t>CNPJ 54871427000194 · Administração: taxa, base e mínimo · Regulamento · ID 670691 · 28/04/2024 · versão Regulamento — referência 28/04/2024 · p. 26 · Anexo I, 13.1.2–13.1.3 · https://fnet.bmfbovespa.com.br/fnet/publico/visualizarDocumento?id=670691</a:t>
            </a:r>
          </a:p>
          <a:p>
            <a:r>
              <a:t>CNPJ 54871427000194 · Administração: taxa, base e mínimo · Excerto da fonte:</a:t>
            </a:r>
          </a:p>
          <a:p>
            <a:r>
              <a:t>13.1.2 A Taxa de Administração será calculada e provisionada todo Dia Útil à razão de 1/252 (um inteiro e duzentos e cinquenta e dois avos) com base no valor do Patrimônio Líquido do Dia Útil anterior. 13.1.3 A Taxa de Administração será paga mensalmente ao ADMINISTRADOR, observado o disposto no item 13.2 abaixo, por período vencido, até o 5º (quinto) Dia Útil do mês subsequente à prestação dos serviços, a partir do mês em que ocorrer a primeira integralização de Cotas da Classe. 13.2 O ADMINISTRADOR poderá estabelecer que parcelas da Taxa de Administração sejam pagas diretamente pela Classe aos prestadores de serviços contratados, desde que o somatório dessas parcelas não exceda o montante total da Taxa de Administração. 13.3 Não serão cobradas da Classe ou dos Cotistas taxas de perf ormance, de ingresso ou de saída. Taxa de Gestão 13.4 Pelos serviços de gestão, a Classe pagará a Taxa de Gestão nos seguintes moldes: o valor correspondente a 0,20% (vinte centésimos por cento) ao ano aplicado sobre o Patrimônio Líquido, observado o valor mínimo de R$ 15.000,00 (quinze mil reais) mensais atualizado pela variação positiva do IGP-M a cada período de 12 (</a:t>
            </a:r>
          </a:p>
          <a:p>
            <a:r>
              <a:t>CNPJ 54871427000194 · Administração: taxa, base e mínimo · Versão e prevalência: Leitura específica das cláusulas indicadas; condições e conflitos preservados. Seleção documental atual não comprova vigência jurídica por data isolada.</a:t>
            </a:r>
          </a:p>
          <a:p>
            <a:r>
              <a:t>CNPJ 54871427000194 · Administração: taxa, base e mínimo · Resumo do histórico: {"count": 2, "dates": ["2024-04-19", "2024-04-28"], "document_count": 2, "sources": [{"document_id": "670691", "title": "Regulamento", "reference_date": "2024-04-28", "version": "1", "page": "25-26", "url": "https://fnet.bmfbovespa.com.br/fnet/publico/visualizarDocumento?id=670691", "sha256": "bf16dd7f1a62d5cdbf2e2d54fef81783783f7310fbc99c3a8f00459bdf9d037b"}, {"document_id": "670689", "title": "Regulamento", "reference_date": "2024-04-19", "version": "1", "page": 26, "clause": "13.1", "url": "https://fnet.bmfbovespa.com.br/fnet/publico/visualizarDocumento?id=670689", "sha256": "891bc9bc5d87bbc02ec139077a84d2702eb81ea02035fb71d24f5b8366b94a0b"}], "reference": {"path": "history/54871427000194.json", "criterion_id": "admin_fee", "total_count": 2, "preview_count": 2, "full_text_deferred": true, "sha256": "35d7cd99be50c7287c9fb675cf4f2e736002315295a225a9efa79c8d9186d874"}}</a:t>
            </a:r>
          </a:p>
          <a:p>
            <a:r>
              <a:t>CNPJ 60010416000112 · Administração: taxa, base e mínimo · Regulamento · ID 1051393 · 09/10/2025 · versão Regulamento09/10/2025 · p. 29 · AnexoI12.1–12.1.2 · https://fnet.bmfbovespa.com.br/fnet/publico/visualizarDocumento?id=1051393</a:t>
            </a:r>
          </a:p>
          <a:p>
            <a:r>
              <a:t>CNPJ 60010416000112 · Administração: taxa, base e mínimo · Excerto da fonte:</a:t>
            </a:r>
          </a:p>
          <a:p>
            <a:r>
              <a:t>12.1 Pelos serviços de administração, escrituração, controladoria de ativos e passivo, e gestão de carteira, o Administrador fará jus a uma Taxa de Administração equivalente a 0,40% (quarenta centésimos por cento) por ano sobre o Patrimônio Líquido da Classe, a ser pago mensalmente, por período vencido da data em que ocorrer a primeira integralização de Cotas da Classe A, até o 5º (quinto) Dia Útil do mês subsequente ao da prestação do serviço, assegurado um valor mínimo mensal de R$ 20.000,00 (vinte mil reais), sendo este valor atualizado pela variação positiva do IPCA sempre em janeiro de cada ano,</a:t>
            </a:r>
          </a:p>
          <a:p>
            <a:r>
              <a:t>CNPJ 60010416000112 · Administração: taxa, base e mínimo · Versão e prevalência: Leitura específica das cláusulas indicadas; condições e conflitos preservados. Seleção documental atual não comprova vigência jurídica por data isolada.</a:t>
            </a:r>
          </a:p>
          <a:p>
            <a:r>
              <a:t>CNPJ 60010416000112 · Administração: taxa, base e mínimo · Resumo do histórico: {"count": 2, "dates": ["2025-03-20", "2025-10-09"], "document_count": 2, "sources": [{"document_id": "1051393", "title": "Regulamento", "reference_date": "2025-10-09", "version": "1", "page": "29", "url": "https://fnet.bmfbovespa.com.br/fnet/publico/visualizarDocumento?id=1051393", "sha256": "8469d613078ffd5a6c1d217885d8a397a16342c0b937ae4aa24b106505f233ae"}, {"document_id": "993786", "title": "Regulamento", "reference_date": "2025-03-20", "version": "1", "page": 29, "clause": "12.1", "url": "https://fnet.bmfbovespa.com.br/fnet/publico/visualizarDocumento?id=993786", "sha256": "fd0fdd369a195510d81f81f505195a0b09e5f43522a990afa7d58c4f872921c8"}], "reference": {"path": "history/60010416000112.json", "criterion_id": "admin_fee", "total_count": 2, "preview_count": 2, "full_text_deferred": true, "sha256": "8e2bd813f4c51cf01f6bfaad164bafe69d2bbb192f753eac92da3a01c2e63046"}}</a:t>
            </a:r>
          </a:p>
          <a:p>
            <a:r>
              <a:t>CNPJ 62696791000193 · Administração: taxa, base e mínimo · Regulamento · ID 1143317 · 20/03/2026 · versão Regulamento — referência 20/03/2026 · p. 28 · Anexo I, 13.1, Taxa de Administração · https://fnet.bmfbovespa.com.br/fnet/publico/visualizarDocumento?id=1143317</a:t>
            </a:r>
          </a:p>
          <a:p>
            <a:r>
              <a:t>CNPJ 62696791000193 · Administração: taxa, base e mínimo · Excerto da fonte:</a:t>
            </a:r>
          </a:p>
          <a:p>
            <a:r>
              <a:t>Taxa de Administração 0,10% (um décimo por cento) ao ano com um mínimo mensal de R$ 10.000,00 (dez mil reais), pagos mensalmente até o 5º (quinto) Dia Útil do mês subsequente ao mês que se ref ere, a ser corrigida anualmente, em janeiro de cada ano, pela variação positiva do Índice Geral de Preços – Mercado, divulgado pela Fundação Getúlio Vargas (“Taxa de Administração” e “IGP-M”, respectivamente).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T</a:t>
            </a:r>
          </a:p>
          <a:p>
            <a:r>
              <a:t>CNPJ 62696791000193 · Administração: taxa, base e mínimo · Condição: A linha da tabela não explicita novamente a base de PL para administração; conservar essa limitação em vez de completar a frase por analogia.</a:t>
            </a:r>
          </a:p>
          <a:p>
            <a:r>
              <a:t>CNPJ 62696791000193 · Administração: taxa, base e mínimo · Motivo: Não localizada uma cláusula material para este critério nos textos identificados e processados. A ausência de resultado não comprova inexistência da regra.</a:t>
            </a:r>
          </a:p>
          <a:p>
            <a:r>
              <a:t>CNPJ 62696791000193 · Administração: taxa, base e mínimo · Versão e prevalência: Leitura específica das cláusulas indicadas; condições e conflitos preservados. Seleção documental atual não comprova vigência jurídica por data isolada.</a:t>
            </a:r>
          </a:p>
          <a:p>
            <a:r>
              <a:t>CNPJ 55563624000109 · Administração: taxa, base e mínimo · Regulamento · ID 1192614 · 30/04/2026 · versão Regulamento30/04/2026 · p. 28 · AnexoI13.1–13.2 · https://fnet.bmfbovespa.com.br/fnet/publico/visualizarDocumento?id=1192614</a:t>
            </a:r>
          </a:p>
          <a:p>
            <a:r>
              <a:t>CNPJ 55563624000109 · Administração: taxa, base e mínimo · Excerto da fonte:</a:t>
            </a:r>
          </a:p>
          <a:p>
            <a:r>
              <a:t>13.1 Sem prejuízo da Taxa Máxima de Administração, pelos serviços de administração do FUNDO e da Classe, tesouraria, controle e processamento dos ativos integrantes da Carteira, a Classe pagará, no mínimo, ao ADMINISTRADOR a Taxa Mínima de Administração nos seguintes moldes: o valor correspondente a R$ 10.000,00 (dez mil reais) mensais, atualizado pela variação positiva do IGP-M, no mês de janeiro de cada ano (“Taxa Mínima de Administração”). 13.1.1 Na hipótese de extinção do IGP-M, não divulgação ou impossibilidade de sua utilização, será utilizado o</a:t>
            </a:r>
          </a:p>
          <a:p>
            <a:r>
              <a:t>CNPJ 55563624000109 · Administração: taxa, base e mínimo · Condição: A base do adicional é PL do Mercado Crédito II; não é teto 0, 10% sobre PLGN e não substitui mínimo R$ 10 mil.</a:t>
            </a:r>
          </a:p>
          <a:p>
            <a:r>
              <a:t>CNPJ 55563624000109 · Administração: taxa, base e mínimo · Versão e prevalência: Leitura específica das cláusulas indicadas; condições e conflitos preservados. Seleção documental atual não comprova vigência jurídica por data isolada.</a:t>
            </a:r>
          </a:p>
          <a:p>
            <a:r>
              <a:t>CNPJ 55563624000109 · Administração: taxa, base e mínimo · Resumo do histórico: {"count": 3, "dates": ["2025-01-31", "2026-01-31", "2026-04-30"], "document_count": 3, "sources": [{"document_id": "1192614", "title": "Regulamento", "reference_date": "2026-04-30", "version": "1", "page": "28", "clause": "13.2", "url": "https://fnet.bmfbovespa.com.br/fnet/publico/visualizarDocumento?id=1192614", "sha256": "f56e63ace0acde41d2f47fb48f1ac7f3f7df5e2d32de092d7c5e075a52516632"}, {"document_id": "1178840", "title": "Demonstrações Financeiras", "reference_date": "2026-01-31", "version": "1", "page": 29, "url": "https://fnet.bmfbovespa.com.br/fnet/publico/visualizarDocumento?id=1178840", "sha256": "c458e98664c5c907ddb5a05a94b120bed4e05295b2bfc420f5ba69af0a229abe"}, {"document_id": "891861", "title": "Demonstrações Financeiras", "reference_date": "2025-01-31", "version": "1", "page": 30, "url": "https://fnet.bmfbovespa.com.br/fnet/publico/visualizarDocumento?id=891861", "sha256": "e9cb9e6ddbe505fe068cfcac33605165a98313489de0d3ce6d4d238263c3f3e7"}], "reference": {"path": "history/55563624000109.json", "criterion_id": "admin_fee", "total_count": 3, "preview_count": 3, "full_text_deferred": true, "sha256": "7835d573fb58a3c19adf5b8ecc2aee2bdbb9a88f7a0c0209b5f262b64c7522e3"}}</a:t>
            </a:r>
          </a:p>
          <a:p>
            <a:r>
              <a:t>CNPJ 62552447000120 · Administração: taxa, base e mínimo · Regulamento · ID 1200623 · 21/05/2026 · versão Consolidado21/05/2026 aprovado pelo ato1200625 · p. 30 · AnexoI13.1 TaxaGlobal · https://fnet.bmfbovespa.com.br/fnet/publico/visualizarDocumento?id=1200623</a:t>
            </a:r>
          </a:p>
          <a:p>
            <a:r>
              <a:t>CNPJ 62552447000120 · Administração: taxa, base e mínimo · Excerto da fonte:</a:t>
            </a:r>
          </a:p>
          <a:p>
            <a:r>
              <a:t>Taxa Global Pelos serviços de administração, gestão, custódia, tesouraria, controladoria, escrituração, a Classe pagará um valor equivalente a um percentual incidente sobre o Patrimônio Líquido da Classe, conf orme a f aixa de Patrimônio Líquido da Classe prevista na tabela abaixo, apropriada diariamente e paga mensalmente até o 5º (quinto) Dia Útil do mês subsequente ao mês que se ref ere, com</a:t>
            </a:r>
          </a:p>
          <a:p>
            <a:r>
              <a:t>CNPJ 62552447000120 · Administração: taxa, base e mínimo · Condição: Global remunera administração, gestão, custódia, tesouraria, controladoria e escrituração; percentual segregado não presumido.</a:t>
            </a:r>
          </a:p>
          <a:p>
            <a:r>
              <a:t>CNPJ 62552447000120 · Administração: taxa, base e mínimo · Motivo: Não localizada uma cláusula material para este critério nos textos identificados e processados. A ausência de resultado não comprova inexistência da regra.</a:t>
            </a:r>
          </a:p>
          <a:p>
            <a:r>
              <a:t>CNPJ 62552447000120 · Administração: taxa, base e mínimo · Versão e prevalência: Leitura específica das cláusulas indicadas; condições e conflitos preservados. Seleção documental atual não comprova vigência jurídica por data isolada.</a:t>
            </a:r>
          </a:p>
          <a:p>
            <a:r>
              <a:t>CNPJ 63953620000165 · Administração: taxa, base e mínimo · Anexo ao Regulamento · ID 1222863 · 02/06/2026 · versão AnexoConsignadoPrivado02/06/2026 · p. 19 · Capítulo13TaxadeAdministração · https://fnet.bmfbovespa.com.br/fnet/publico/visualizarDocumento?id=1222863</a:t>
            </a:r>
          </a:p>
          <a:p>
            <a:r>
              <a:t>CNPJ 63953620000165 · Administração: taxa, base e mínimo · Excerto da fonte:</a:t>
            </a:r>
          </a:p>
          <a:p>
            <a:r>
              <a:t>Taxa de Administração positiva do Índice Geral de Preços – Mercado, divulgado pela Fundação Getúlio Vargas (“Taxa de Administração” e “IGP-M”, respectivamente). Na hipótese de extinção do IGP-M, não divulgação ou impossibilidade de sua utilização, será utilizado o Índice Geral de Preços – Disponibilidade Interna, divulgado pela Fundação Getúlio Vargas, ou, na falta de ambos, pela variação do IPC – Índice de Preços ao Consumidor, divulgado pela</a:t>
            </a:r>
          </a:p>
          <a:p>
            <a:r>
              <a:t>CNPJ 63953620000165 · Administração: taxa, base e mínimo · Condição: Base é a parcela MT específica, não necessariamente todo o PL da classe.</a:t>
            </a:r>
          </a:p>
          <a:p>
            <a:r>
              <a:t>CNPJ 63953620000165 · Administração: taxa, base e mínimo · Versão e prevalência: Leitura específica das cláusulas indicadas; condições e conflitos preservados. Seleção documental atual não comprova vigência jurídica por data isolada.</a:t>
            </a:r>
          </a:p>
          <a:p>
            <a:r>
              <a:t>CNPJ 63953620000165 · Administração: taxa, base e mínimo · Resumo do histórico: {"count": 8, "dates": ["2026-04-28", "2026-05-08", "2026-05-15"], "document_count": 3, "sources": [{"document_id": "1327859", "title": "Demonstrações Financeiras - Fusão, cisão e incorporação", "reference_date": "2026-05-15", "version": "1", "page": 28, "url": "https://fnet.bmfbovespa.com.br/fnet/publico/visualizarDocumento?id=1327859", "sha256": "dca1c68babb97f887528c3e2e47596a9c30f507b067981a35655b2f2da9c8054"}, {"document_id": "1298691", "title": "Demonstrações Financeiras - Fusão, cisão e incorporação", "reference_date": "2026-05-08", "version": "1", "page": 28, "url": "https://fnet.bmfbovespa.com.br/fnet/publico/visualizarDocumento?id=1298691", "sha256": "58c570d9b8d4d265330d3db3ea81c435b8e44a6dab4002aa37790652a1ee9819"}, {"document_id": "1282180", "title": "Demonstrações Financeiras - Fusão, cisão e incorporação", "reference_date": "2026-04-28", "version": "1", "page": 29, "url": "https://fnet.bmfbovespa.com.br/fnet/publico/visualizarDocumento?id=1282180", "sha256": "afaaa0e6809be4385e5bdb6c911aac582032c5bdbac3d7750234bf9eaf00438a"}], "reference": {"path": "history/63953620000165.json", "criterion_id": "admin_fee", "total_count": 8, "preview_count": 3, "full_text_deferred": true, "sha256": "a7b89077f5e21098c2d601c303faabc3ff6b9729f89d8afecdc60fe1404720c1"}}</a:t>
            </a:r>
          </a:p>
          <a:p>
            <a:r>
              <a:t>CNPJ 54871427000194 · Gestão: taxa, base e mínimo · Regulamento · ID 670691 · 28/04/2024 · versão Regulamento — referência 28/04/2024 · p. 26 · Anexo I, 13.4–13.4.3 · https://fnet.bmfbovespa.com.br/fnet/publico/visualizarDocumento?id=670691</a:t>
            </a:r>
          </a:p>
          <a:p>
            <a:r>
              <a:t>CNPJ 54871427000194 · Gestão: taxa, base e mínimo · Excerto da fonte:</a:t>
            </a:r>
          </a:p>
          <a:p>
            <a:r>
              <a:t>13.4 Pelos serviços de gestão, a Classe pagará a Taxa de Gestão nos seguintes moldes: o valor correspondente a 0,20% (vinte centésimos por cento) ao ano aplicado sobre o Patrimônio Líquido, observado o valor mínimo de R$ 15.000,00 (quinze mil reais) mensais atualizado pela variação positiva do IGP-M a cada período de 12 (doze) meses, contados a partir do mês em que ocorrer a primeira integralização de Cotas (inclusive). 13.4.1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13.4.2 A Taxa de Gestão será calculada e provisionada todo Dia Útil à razão de 1/252 (um inteiro e duzentos e cinquenta e dois avos) com base no valor do Patrimônio Líquido do Dia Útil anterior. 13.4.3 A Taxa de Gestão será paga mensalmente ao GESTOR, observado o disposto no item 13.5 abaixo, por período vencido, até o 5º (quinto) Dia Útil do mês subsequente à prestação dos ser</a:t>
            </a:r>
          </a:p>
          <a:p>
            <a:r>
              <a:t>CNPJ 54871427000194 · Gestão: taxa, base e mínimo · Versão e prevalência: Leitura específica das cláusulas indicadas; condições e conflitos preservados. Seleção documental atual não comprova vigência jurídica por data isolada.</a:t>
            </a:r>
          </a:p>
          <a:p>
            <a:r>
              <a:t>CNPJ 54871427000194 · Gestão: taxa, base e mínimo · Resumo do histórico: {"count": 2, "dates": ["2024-04-19", "2024-04-28"], "document_count": 2, "sources": [{"document_id": "670691", "title": "Regulamento", "reference_date": "2024-04-28", "version": "1", "page": "26", "url": "https://fnet.bmfbovespa.com.br/fnet/publico/visualizarDocumento?id=670691", "sha256": "bf16dd7f1a62d5cdbf2e2d54fef81783783f7310fbc99c3a8f00459bdf9d037b"}, {"document_id": "670689", "title": "Regulamento", "reference_date": "2024-04-19", "version": "1", "page": 27, "clause": "13.3", "url": "https://fnet.bmfbovespa.com.br/fnet/publico/visualizarDocumento?id=670689", "sha256": "891bc9bc5d87bbc02ec139077a84d2702eb81ea02035fb71d24f5b8366b94a0b"}], "reference": {"path": "history/54871427000194.json", "criterion_id": "management_fee", "total_count": 2, "preview_count": 2, "full_text_deferred": true, "sha256": "35d7cd99be50c7287c9fb675cf4f2e736002315295a225a9efa79c8d9186d874"}}</a:t>
            </a:r>
          </a:p>
          <a:p>
            <a:r>
              <a:t>CNPJ 60010416000112 · Gestão: taxa, base e mínimo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Gestão: taxa, base e mínimo · Resumo do histórico: {"count": 1, "dates": ["2025-10-09"], "document_count": 1, "sources": [{"document_id": "1051393", "title": "Regulamento", "reference_date": "2025-10-09", "version": "1", "page": "29, 46", "url": "https://fnet.bmfbovespa.com.br/fnet/publico/visualizarDocumento?id=1051393", "sha256": "8469d613078ffd5a6c1d217885d8a397a16342c0b937ae4aa24b106505f233ae"}], "reference": {"path": "history/60010416000112.json", "criterion_id": "management_fee", "total_count": 1, "preview_count": 1, "full_text_deferred": true, "sha256": "8e2bd813f4c51cf01f6bfaad164bafe69d2bbb192f753eac92da3a01c2e63046"}}</a:t>
            </a:r>
          </a:p>
          <a:p>
            <a:r>
              <a:t>CNPJ 62696791000193 · Gestão: taxa, base e mínimo · Regulamento · ID 1143317 · 20/03/2026 · versão Regulamento — referência 20/03/2026 · p. 28 · Anexo I, 13.1, Taxa de Gestão · https://fnet.bmfbovespa.com.br/fnet/publico/visualizarDocumento?id=1143317</a:t>
            </a:r>
          </a:p>
          <a:p>
            <a:r>
              <a:t>CNPJ 62696791000193 · Gestão: taxa, base e mínimo · Excerto da fonte:</a:t>
            </a:r>
          </a:p>
          <a:p>
            <a:r>
              <a:t>Taxa de Gestão 0% (zero por cento) ao ano apropriada diariamente na base de 252 (duzentos e cinquenta e dois) Dias Úteis, e paga mensalmente, até o 5º (quinto) Dia Útil do mês subsequente ao mês que se ref ere, incidente sobre o Patrimônio Líquido da Classe (“Taxa de Gestão”). Taxa Máxima de Custódia 0,00% (zero por cento) ao ano, incidente sobre o Patrimônio Líquido da Classe (“Taxa Máxima de Custódia”). Taxa de Performance Não será devido pela Classe o pagamento de Taxa de Perf ormance. 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a:t>
            </a:r>
          </a:p>
          <a:p>
            <a:r>
              <a:t>CNPJ 62696791000193 · Gestão: taxa, base e mínimo · Motivo: Não localizada uma cláusula material para este critério nos textos identificados e processados. A ausência de resultado não comprova inexistência da regra.</a:t>
            </a:r>
          </a:p>
          <a:p>
            <a:r>
              <a:t>CNPJ 62696791000193 · Gestão: taxa, base e mínimo · Versão e prevalência: Leitura específica das cláusulas indicadas; condições e conflitos preservados. Seleção documental atual não comprova vigência jurídica por data isolada.</a:t>
            </a:r>
          </a:p>
          <a:p>
            <a:r>
              <a:t>CNPJ 55563624000109 · Gestão: taxa, base e mínimo · Regulamento · ID 1192614 · 30/04/2026 · versão Regulamento30/04/2026 · p. 29 · AnexoI13.4–13.7.1 · https://fnet.bmfbovespa.com.br/fnet/publico/visualizarDocumento?id=1192614</a:t>
            </a:r>
          </a:p>
          <a:p>
            <a:r>
              <a:t>CNPJ 55563624000109 · Gestão: taxa, base e mínimo · Excerto da fonte:</a:t>
            </a:r>
          </a:p>
          <a:p>
            <a:r>
              <a:t>13.4 Sem prejuízo da Taxa Máxima de Gestão, pelos serviços de gestão, a Classe pagará ao GESTOR: (i) a taxa de gestão ordinária correspondente a 0,50% (cinquenta centésimos por cento) ao ano, incidente sobre o Patrimônio Líquido da Classe, observado o montante mínimo de R$ 40.000,00 (quarenta mil reais) ao mês, corrigido anualmente pela variação positiva do Índice de Preços ao Consumidor Amplo, divulgado pelo Instituto Brasileiro de Geografia e Estatística – IBGE (“Taxa de Gestão”); e (ii) a taxa de gestão extraordinária apurada e paga no momento de cada</a:t>
            </a:r>
          </a:p>
          <a:p>
            <a:r>
              <a:t>CNPJ 55563624000109 · Gestão: taxa, base e mínimo · Condição: Adicional é por integralização, não taxa anual.</a:t>
            </a:r>
          </a:p>
          <a:p>
            <a:r>
              <a:t>CNPJ 55563624000109 · Gestão: taxa, base e mínimo · Versão e prevalência: Leitura específica das cláusulas indicadas; condições e conflitos preservados. Seleção documental atual não comprova vigência jurídica por data isolada.</a:t>
            </a:r>
          </a:p>
          <a:p>
            <a:r>
              <a:t>CNPJ 55563624000109 · Gestão: taxa, base e mínimo · Resumo do histórico: {"count": 3, "dates": ["2025-01-31", "2026-01-31", "2026-04-30"], "document_count": 3, "sources": [{"document_id": "1192614", "title": "Regulamento", "reference_date": "2026-04-30", "version": "1", "page": "29", "url": "https://fnet.bmfbovespa.com.br/fnet/publico/visualizarDocumento?id=1192614", "sha256": "f56e63ace0acde41d2f47fb48f1ac7f3f7df5e2d32de092d7c5e075a52516632"}, {"document_id": "1178840", "title": "Demonstrações Financeiras", "reference_date": "2026-01-31", "version": "1", "page": 29, "url": "https://fnet.bmfbovespa.com.br/fnet/publico/visualizarDocumento?id=1178840", "sha256": "c458e98664c5c907ddb5a05a94b120bed4e05295b2bfc420f5ba69af0a229abe"}, {"document_id": "891861", "title": "Demonstrações Financeiras", "reference_date": "2025-01-31", "version": "1", "page": 30, "url": "https://fnet.bmfbovespa.com.br/fnet/publico/visualizarDocumento?id=891861", "sha256": "e9cb9e6ddbe505fe068cfcac33605165a98313489de0d3ce6d4d238263c3f3e7"}], "reference": {"path": "history/55563624000109.json", "criterion_id": "management_fee", "total_count": 3, "preview_count": 3, "full_text_deferred": true, "sha256": "7835d573fb58a3c19adf5b8ecc2aee2bdbb9a88f7a0c0209b5f262b64c7522e3"}}</a:t>
            </a:r>
          </a:p>
          <a:p>
            <a:r>
              <a:t>CNPJ 62552447000120 · Gestão: taxa, base e mínimo · Motivo: Não localizada uma cláusula material para este critério nos textos identificados e processados. A ausência de resultado não comprova inexistência da regra.</a:t>
            </a:r>
          </a:p>
          <a:p>
            <a:r>
              <a:t>CNPJ 63953620000165 · Gestão: taxa, base e mínimo · Anexo ao Regulamento · ID 1222863 · 02/06/2026 · versão AnexoConsignadoPrivado02/06/2026 · p. 20 · Capítulo13TaxadeGestão · https://fnet.bmfbovespa.com.br/fnet/publico/visualizarDocumento?id=1222863</a:t>
            </a:r>
          </a:p>
          <a:p>
            <a:r>
              <a:t>CNPJ 63953620000165 · Gestão: taxa, base e mínimo · Excerto da fonte:</a:t>
            </a:r>
          </a:p>
          <a:p>
            <a:r>
              <a:t>0,05% (cinco centésimos por cento) ao ano, apropriada diariamente na base de 252 (duzentos e cinquenta e dois) Dias Úteis, e paga mensalmente, até o 5º (quinto) Dia Útil do mês subsequente ao mês que se refere, incidente sobre o Patrimônio Líquido da Classe alocado em Direitos Creditórios Consignado Privado e/ou Ativos de Liquidez MT, observada remuneração mínima mensal de R$ 2.500,00 (dois mil e quinhentos reais), a ser corrigida anualmente, em janeiro de cada ano, pela variação</a:t>
            </a:r>
          </a:p>
          <a:p>
            <a:r>
              <a:t>CNPJ 63953620000165 · Gestão: taxa, base e mínimo · Versão e prevalência: Leitura específica das cláusulas indicadas; condições e conflitos preservados. Seleção documental atual não comprova vigência jurídica por data isolada.</a:t>
            </a:r>
          </a:p>
          <a:p>
            <a:r>
              <a:t>CNPJ 63953620000165 · Gestão: taxa, base e mínimo · Resumo do histórico: {"count": 8, "dates": ["2026-04-28", "2026-05-08", "2026-05-15"], "document_count": 3, "sources": [{"document_id": "1327859", "title": "Demonstrações Financeiras - Fusão, cisão e incorporação", "reference_date": "2026-05-15", "version": "1", "page": 28, "url": "https://fnet.bmfbovespa.com.br/fnet/publico/visualizarDocumento?id=1327859", "sha256": "dca1c68babb97f887528c3e2e47596a9c30f507b067981a35655b2f2da9c8054"}, {"document_id": "1298691", "title": "Demonstrações Financeiras - Fusão, cisão e incorporação", "reference_date": "2026-05-08", "version": "1", "page": 28, "url": "https://fnet.bmfbovespa.com.br/fnet/publico/visualizarDocumento?id=1298691", "sha256": "58c570d9b8d4d265330d3db3ea81c435b8e44a6dab4002aa37790652a1ee9819"}, {"document_id": "1282180", "title": "Demonstrações Financeiras - Fusão, cisão e incorporação", "reference_date": "2026-04-28", "version": "1", "page": 29, "url": "https://fnet.bmfbovespa.com.br/fnet/publico/visualizarDocumento?id=1282180", "sha256": "afaaa0e6809be4385e5bdb6c911aac582032c5bdbac3d7750234bf9eaf00438a"}], "reference": {"path": "history/63953620000165.json", "criterion_id": "management_fee", "total_count": 8, "preview_count": 3, "full_text_deferred": true, "sha256": "a7b89077f5e21098c2d601c303faabc3ff6b9729f89d8afecdc60fe1404720c1"}}</a:t>
            </a:r>
          </a:p>
          <a:p>
            <a:r>
              <a:t>CNPJ 54871427000194 · Performance: benchmark e apuração · Regulamento · ID 670691 · 28/04/2024 · versão Regulamento — referência 28/04/2024 · p. 26 · Anexo I, 13.3 · https://fnet.bmfbovespa.com.br/fnet/publico/visualizarDocumento?id=670691</a:t>
            </a:r>
          </a:p>
          <a:p>
            <a:r>
              <a:t>CNPJ 54871427000194 · Performance: benchmark e apuração · Excerto da fonte:</a:t>
            </a:r>
          </a:p>
          <a:p>
            <a:r>
              <a:t>13.3 Não serão cobradas da Classe ou dos Cotistas taxas de perf ormance, de ingresso ou de saída. Taxa de Gestão 13.4 Pelos serviços de gestão, a Classe pagará a Taxa de Gestão nos seguintes moldes: o valor correspondente a 0,20% (vinte centésimos por cento) ao ano aplicado sobre o Patrimônio Líquido, observado o valor mínimo de R$ 15.000,00 (quinze mil reais) mensais atualizado pela variação positiva do IGP-M a cada período de 12 (doze) meses, contados a partir do mês em que ocorrer a primeira integralização de Cotas (inclusive). 13.4.1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13.4.2 A Taxa de Gestão será calculada e provisionada todo Dia Útil à razão de 1/252 (um inteiro e duzentos e cinquenta e dois avos) com base no valor do Patrimônio Líquido do Dia Útil anterior. 13.4.3 A Taxa de Gestão será paga mensalmente ao GESTOR, observado o disposto no item 13.5</a:t>
            </a:r>
          </a:p>
          <a:p>
            <a:r>
              <a:t>CNPJ 54871427000194 · Performance: benchmark e apuração · Motivo: Não localizada uma cláusula material para este critério nos textos identificados e processados. A ausência de resultado não comprova inexistência da regra.</a:t>
            </a:r>
          </a:p>
          <a:p>
            <a:r>
              <a:t>CNPJ 54871427000194 · Performance: benchmark e apuração · Versão e prevalência: Leitura específica das cláusulas indicadas; condições e conflitos preservados. Seleção documental atual não comprova vigência jurídica por data isolada.</a:t>
            </a:r>
          </a:p>
          <a:p>
            <a:r>
              <a:t>CNPJ 60010416000112 · Performance: benchmark e apuração · Regulamento · ID 1051393 · 09/10/2025 · versão Regulamento09/10/2025 · p. 29 · AnexoI12.2 · https://fnet.bmfbovespa.com.br/fnet/publico/visualizarDocumento?id=1051393</a:t>
            </a:r>
          </a:p>
          <a:p>
            <a:r>
              <a:t>CNPJ 60010416000112 · Performance: benchmark e apuração · Excerto da fonte:</a:t>
            </a:r>
          </a:p>
          <a:p>
            <a:r>
              <a:t>12.2 Não serão cobradas da Classe ou dos Cotistas taxas de perf ormance, de ingresso ou de saída. Taxa Máxima de Custódia 12.3 Pelos serviços de custódia qualificada dos Direitos Creditórios e dos Ativos Financeiros de Liquidez não será devida nenhuma remuneração ao Custodiante, de modo que taxa máxima de custódia a ser paga pela Classe ao Custodiante corresponde a 0% (zero por cento) ao ano. Remuneração do Agente de Retenção/Cobrança 12.4 Para a prestação de serviços à Classe, o Agente de Retenção/Cobrança f ará jus a uma remuneração a ser auf erida todo Dia Útil e paga mensalmente, a título de Encargo da Cla</a:t>
            </a:r>
          </a:p>
          <a:p>
            <a:r>
              <a:t>CNPJ 60010416000112 · Performance: benchmark e apuração · Motivo: Não localizada uma cláusula material para este critério nos textos identificados e processados. A ausência de resultado não comprova inexistência da regra.</a:t>
            </a:r>
          </a:p>
          <a:p>
            <a:r>
              <a:t>CNPJ 60010416000112 · Performance: benchmark e apuração · Versão e prevalência: Leitura específica das cláusulas indicadas; condições e conflitos preservados. Seleção documental atual não comprova vigência jurídica por data isolada.</a:t>
            </a:r>
          </a:p>
          <a:p>
            <a:r>
              <a:t>CNPJ 62696791000193 · Performance: benchmark e apuração · Regulamento · ID 1143317 · 20/03/2026 · versão Regulamento — referência 20/03/2026 · p. 28 · Anexo I, 13.1, Taxa de Performance · https://fnet.bmfbovespa.com.br/fnet/publico/visualizarDocumento?id=1143317</a:t>
            </a:r>
          </a:p>
          <a:p>
            <a:r>
              <a:t>CNPJ 62696791000193 · Performance: benchmark e apuração · Excerto da fonte:</a:t>
            </a:r>
          </a:p>
          <a:p>
            <a:r>
              <a:t>Taxa de Performance Não será devido pela Classe o pagamento de Taxa de Perf ormance. 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equivalente a 0,9% (nove décimos por cento) ao ano aplicado sobre o Patrimônio Anexo I ao Regulamento Líquido, observado o limite máximo de 4,5% (quatro inteiros e cinquenta centésimos por cento) do volume captado na respectiva oferta (“Taxa Máxima de Distribuição”).A Taxa Máxima de BTG Pactual SAC: 0800 772 2827 | Ouvidoria: 0800 722 0048 | btgpactual.co m 23</a:t>
            </a:r>
          </a:p>
          <a:p>
            <a:r>
              <a:t>CNPJ 62696791000193 · Performance: benchmark e apuração · Regulamento · ID 1143317 · 20/03/2026 · versão Regulamento — referência 20/03/2026 · p. 29 · Anexo I, 13.1, Taxa de Ingresso · https://fnet.bmfbovespa.com.br/fnet/publico/visualizarDocumento?id=1143317</a:t>
            </a:r>
          </a:p>
          <a:p>
            <a:r>
              <a:t>CNPJ 62696791000193 · Performance: benchmark e apuração · Excerto da fonte:</a:t>
            </a:r>
          </a:p>
          <a:p>
            <a:r>
              <a:t>Taxa de Ingresso Não será cobrada dos Cotistas Taxa de Ingresso. 14 TRIBUTAÇÃO 14.1 O disposto neste Capítulo f oi elaborado com base na legislação e regulamentação em vigor produzindo ef eitos, tem por objetivo descrever de f orma sumária o tratamento tributário aplicável em regra aos cotistas, ao Fundo e à Classe, não se aplicando aos cotistas sujeitos a regras de tributação específicas, na f orma da legislação e regulamentação em vigor. 14.2 Há exceções (inclusive relativas à natureza ou ao domicílio do investidor para fins fiscais) em relação ao tratamento tributário descrito abaixo e tributos adicionais que podem ser aplicados, motivo pelo qual os cotistas devem consultar seus assessores jurídicos com relação à tributação aplicável nos investimentos realizados na Classe. Tributação da Classe / Operações da carteira: Como regra geral, os rendimentos auferidos pela carteira da Classe não estão sujeitos à incidência do imposto de renda, exceto ganhos auferidos em aplicações financeiras de renda fixa ou variável, que se sujeitam à incidência do Imposto de Renda Retido na Fonte (“IRF”) de acordo com as mesmas regras de tributação aplic</a:t>
            </a:r>
          </a:p>
          <a:p>
            <a:r>
              <a:t>CNPJ 62696791000193 · Performance: benchmark e apuração · Motivo: Não localizada uma cláusula material para este critério nos textos identificados e processados. A ausência de resultado não comprova inexistência da regra.</a:t>
            </a:r>
          </a:p>
          <a:p>
            <a:r>
              <a:t>CNPJ 62696791000193 · Performance: benchmark e apuração · Versão e prevalência: Leitura específica das cláusulas indicadas; condições e conflitos preservados. Seleção documental atual não comprova vigência jurídica por data isolada.</a:t>
            </a:r>
          </a:p>
          <a:p>
            <a:r>
              <a:t>CNPJ 55563624000109 · Performance: benchmark e apuração · Regulamento · ID 1192614 · 30/04/2026 · versão Regulamento30/04/2026 · p. 29 · AnexoI13.10 · https://fnet.bmfbovespa.com.br/fnet/publico/visualizarDocumento?id=1192614</a:t>
            </a:r>
          </a:p>
          <a:p>
            <a:r>
              <a:t>CNPJ 55563624000109 · Performance: benchmark e apuração · Excerto da fonte:</a:t>
            </a:r>
          </a:p>
          <a:p>
            <a:r>
              <a:t>13.10 Não serão cobradas taxas de performance da Classe, e nem taxas de ingresso ou de saída dos Cotistas que integralizarem ou resgatarem suas Cotas. BTG Pactual SAC: 0800 772 28 27 - Ouvidoria: 0800 722 00 48 - btgpactual.com 22</a:t>
            </a:r>
          </a:p>
          <a:p>
            <a:r>
              <a:t>CNPJ 55563624000109 · Performance: benchmark e apuração · Motivo: Não localizada uma cláusula material para este critério nos textos identificados e processados. A ausência de resultado não comprova inexistência da regra.</a:t>
            </a:r>
          </a:p>
          <a:p>
            <a:r>
              <a:t>CNPJ 55563624000109 · Performance: benchmark e apuração · Versão e prevalência: Leitura específica das cláusulas indicadas; condições e conflitos preservados. Seleção documental atual não comprova vigência jurídica por data isolada.</a:t>
            </a:r>
          </a:p>
          <a:p>
            <a:r>
              <a:t>CNPJ 62552447000120 · Performance: benchmark e apuração · Regulamento · ID 1200623 · 21/05/2026 · versão Consolidado21/05/2026 aprovado pelo ato1200625 · p. 30 · AnexoI13.1 TaxadePerformance/Ingresso · https://fnet.bmfbovespa.com.br/fnet/publico/visualizarDocumento?id=1200623</a:t>
            </a:r>
          </a:p>
          <a:p>
            <a:r>
              <a:t>CNPJ 62552447000120 · Performance: benchmark e apuração · Excerto da fonte:</a:t>
            </a:r>
          </a:p>
          <a:p>
            <a:r>
              <a:t>Taxa de Performance Não será devido pela Classe o pagamento de Taxa de Perf ormance. Taxa de Ingresso Não será cobrada dos Cotistas Taxa de Ingresso . CAPÍTULO 14 – CUSTOS REFERENTES À DEFESA DOS INTERESSES DA CLASSE 14.1 Todos os custos e despesas ref eridos neste Capítulo, inclusive para salvaguarda de direitos e prerrogativas da Classe e/ou com a cobrança judicial e/ou extrajudicial de Direitos Creditórios Inadimplidos, serão de inteira responsabilidade da Classe, não est ando o Administrador, o Gestor, o Endossante, os Devedores, o Custodiante e quaisquer de suas respectivas pessoas contr</a:t>
            </a:r>
          </a:p>
          <a:p>
            <a:r>
              <a:t>CNPJ 62552447000120 · Performance: benchmark e apuração · Motivo: Não localizada uma cláusula material para este critério nos textos identificados e processados. A ausência de resultado não comprova inexistência da regra.</a:t>
            </a:r>
          </a:p>
          <a:p>
            <a:r>
              <a:t>CNPJ 62552447000120 · Performance: benchmark e apuração · Versão e prevalência: Leitura específica das cláusulas indicadas; condições e conflitos preservados. Seleção documental atual não comprova vigência jurídica por data isolada.</a:t>
            </a:r>
          </a:p>
          <a:p>
            <a:r>
              <a:t>CNPJ 63953620000165 · Performance: benchmark e apuração · Anexo ao Regulamento · ID 1222863 · 02/06/2026 · versão AnexoConsignadoPrivado02/06/2026 · p. 20 · Capítulo13 · https://fnet.bmfbovespa.com.br/fnet/publico/visualizarDocumento?id=1222863</a:t>
            </a:r>
          </a:p>
          <a:p>
            <a:r>
              <a:t>CNPJ 63953620000165 · Performance: benchmark e apuração · Excerto da fonte:</a:t>
            </a:r>
          </a:p>
          <a:p>
            <a:r>
              <a:t>Taxa de Performance Não será devido pelas Classes o pagamento de Taxa de Performance. 0,00% (zero por cento) ao ano, incidente sobre o Patrimônio Líquido da Classe Taxa Máxima de Custódia (“Taxa Máxima de Custódia”). Taxa Máxima de Distribuição Não será cobrada Taxa de Distribuição. Taxa de Ingresso Não será cobrada da Classe ou dos Cotistas taxa de ingresso. CAPÍTULO 14 – CUSTOS REFERENTES À DEFESA DOS INTERESSES DA CLASSE 14.1 Todos os custos e despesas referidos neste Capítulo, inclusive para salvaguarda de direitos e prerrogativas da</a:t>
            </a:r>
          </a:p>
          <a:p>
            <a:r>
              <a:t>CNPJ 63953620000165 · Performance: benchmark e apuração · Motivo: Cláusula primária localizada e citada, mas sua lista/condições extensas não admitem uma síntese literal curta confirmada. O trecho integral permanece nas fontes.</a:t>
            </a:r>
          </a:p>
          <a:p>
            <a:r>
              <a:t>CNPJ 63953620000165 · Performance: benchmark e apuração · Versão e prevalência: Leitura específica das cláusulas indicadas; condições e conflitos preservados. Seleção documental atual não comprova vigência jurídica por data isolada.</a:t>
            </a:r>
          </a:p>
          <a:p>
            <a:r>
              <a:t>CNPJ 54871427000194 · Custódia, escrituração e encargos · Regulamento · ID 670691 · 28/04/2024 · versão Regulamento — referência 28/04/2024 · p. 26 · Anexo I, 13.7–13.8 · https://fnet.bmfbovespa.com.br/fnet/publico/visualizarDocumento?id=670691</a:t>
            </a:r>
          </a:p>
          <a:p>
            <a:r>
              <a:t>CNPJ 54871427000194 · Custódia, escrituração e encargos · Excerto da fonte:</a:t>
            </a:r>
          </a:p>
          <a:p>
            <a:r>
              <a:t>13.7 Pelos serviços de retenção e cobrança, prestada nos termos deste Anexo e do Contrato de Retenção/Cobrança, será devida pela Classe ao Agente de Retenção/Cobrança a remuneração prevista no respectivo Contrato de Retenção/Cobrança. Taxa Máxima de Custódia 13.8 Pelos serviços de custódia qualificada dos Direitos Creditórios e dos Ativos Financeiros de Liquidez não será devida nenhuma remuneração ao CUSTODIANTE, de modo que taxa máxima de custódia a ser paga pela Classe ao CUSTODIANTE corresponde a 0% (zero por cento) ao ano. CAPÍTULO 14 – CUSTOS REFERENTES À DEFESA DOS INTERESSES DA CLASSE 14.1 Caso a Classe não possua recursos disponíveis, em moeda corrente nacional, suf icientes para a adoção e manutenção, direta ou indireta, dos procedimentos judiciais e extrajudiciais necessários à cobrança dos Direitos Creditórios e dos Ativos Financeiros de Liquidez de titularidade da Classe e à def esa dos direitos, interesses e prerrogativas da Classe, a maioria dos titulares das Cotas, reunidos em Assembleia Especial de Cotistas, poderá aprovar o aporte de recursos à Classe, por meio da integralização de novas Cotas, a ser realizada por todos os titulares das Cotas para assegurar, se for o caso, a</a:t>
            </a:r>
          </a:p>
          <a:p>
            <a:r>
              <a:t>CNPJ 54871427000194 · Custódia, escrituração e encargos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Custódia, escrituração e encargos · Versão e prevalência: Leitura específica das cláusulas indicadas; condições e conflitos preservados. Seleção documental atual não comprova vigência jurídica por data isolada.</a:t>
            </a:r>
          </a:p>
          <a:p>
            <a:r>
              <a:t>CNPJ 54871427000194 · Custódia, escrituração e encargos · Resumo do histórico: {"count": 1, "dates": ["2024-04-28"], "document_count": 1, "sources": [{"document_id": "670691", "title": "Regulamento", "reference_date": "2024-04-28", "version": "1", "page": "26", "url": "https://fnet.bmfbovespa.com.br/fnet/publico/visualizarDocumento?id=670691", "sha256": "bf16dd7f1a62d5cdbf2e2d54fef81783783f7310fbc99c3a8f00459bdf9d037b"}], "reference": {"path": "history/54871427000194.json", "criterion_id": "custody_fee", "total_count": 1, "preview_count": 1, "full_text_deferred": true, "sha256": "35d7cd99be50c7287c9fb675cf4f2e736002315295a225a9efa79c8d9186d874"}}</a:t>
            </a:r>
          </a:p>
          <a:p>
            <a:r>
              <a:t>CNPJ 60010416000112 · Custódia, escrituração e encargos · Regulamento · ID 1051393 · 09/10/2025 · versão Regulamento09/10/2025 · p. 29 · AnexoI12.3–12.4 · https://fnet.bmfbovespa.com.br/fnet/publico/visualizarDocumento?id=1051393</a:t>
            </a:r>
          </a:p>
          <a:p>
            <a:r>
              <a:t>CNPJ 60010416000112 · Custódia, escrituração e encargos · Excerto da fonte:</a:t>
            </a:r>
          </a:p>
          <a:p>
            <a:r>
              <a:t>12.3 Pelos serviços de custódia qualificada dos Direitos Creditórios e dos Ativos Financeiros de Liquidez não será devida nenhuma remuneração ao Custodiante, de modo que taxa máxima de custódia a ser paga pela Classe ao Custodiante corresponde a 0% (zero por cento) ao ano. Remuneração do Agente de Retenção/Cobrança 12.4 Para a prestação de serviços à Classe, o Agente de Retenção/Cobrança f ará jus a uma remuneração a ser auf erida todo Dia Útil e paga mensalmente, a título de Encargo da Classe, a qual será calculada com base na seguinte f órmula:</a:t>
            </a:r>
          </a:p>
          <a:p>
            <a:r>
              <a:t>CNPJ 60010416000112 · Custódia, escrituração e encargos · Regulamento · ID 1051393 · 09/10/2025 · versão Regulamento09/10/2025 · p. 30 · AnexoI12.4definições,12.5–12.5.1 · https://fnet.bmfbovespa.com.br/fnet/publico/visualizarDocumento?id=1051393</a:t>
            </a:r>
          </a:p>
          <a:p>
            <a:r>
              <a:t>CNPJ 60010416000112 · Custódia, escrituração e encargos · Excerto da fonte:</a:t>
            </a:r>
          </a:p>
          <a:p>
            <a:r>
              <a:t>RAC = Remuneração do Agente de Retenção e Cobrança,tendo como valor 4,00% (quatro por cento) ao ano. 12.5 A remuneração prevista no item 12.4 acima será calculada pelo Administrador e paga diretamente ao Agente de Retenção/Cobrança até o 5º (quinto) Dia Útil do mês subsequente ao da prestação dos serviços, conf orme estabelecido no Contrato de Serviços MT. 12.5.1. Independentemente do acima disposto, na hipótese de venda de qualquer parte dos Direitos Creditórios Elegíveis a terceiros, inclusive no caso de liquidação da Classe, o Agente de Retenção/Cobra</a:t>
            </a:r>
          </a:p>
          <a:p>
            <a:r>
              <a:t>CNPJ 60010416000112 · Custódia, escrituração e encargos · Condição: Fórmula do RAC tem composição base 252 DU/21 dias; não somar a 4% do PL como taxa administrativa.</a:t>
            </a:r>
          </a:p>
          <a:p>
            <a:r>
              <a:t>CNPJ 60010416000112 · Custódia, escrituração e encargos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Custódia, escrituração e encargos · Versão e prevalência: Leitura específica das cláusulas indicadas; condições e conflitos preservados. Seleção documental atual não comprova vigência jurídica por data isolada.</a:t>
            </a:r>
          </a:p>
          <a:p>
            <a:r>
              <a:t>CNPJ 60010416000112 · Custódia, escrituração e encargos · Resumo do histórico: {"count": 1, "dates": ["2025-10-09"], "document_count": 1, "sources": [{"document_id": "1051393", "title": "Regulamento", "reference_date": "2025-10-09", "version": "1", "page": "29-31", "url": "https://fnet.bmfbovespa.com.br/fnet/publico/visualizarDocumento?id=1051393", "sha256": "8469d613078ffd5a6c1d217885d8a397a16342c0b937ae4aa24b106505f233ae"}], "reference": {"path": "history/60010416000112.json", "criterion_id": "custody_fee", "total_count": 1, "preview_count": 1, "full_text_deferred": true, "sha256": "8e2bd813f4c51cf01f6bfaad164bafe69d2bbb192f753eac92da3a01c2e63046"}}</a:t>
            </a:r>
          </a:p>
          <a:p>
            <a:r>
              <a:t>CNPJ 62696791000193 · Custódia, escrituração e encargos · Regulamento · ID 1143317 · 20/03/2026 · versão Regulamento — referência 20/03/2026 · p. 28 · Anexo I, 13.1, Custódia e Distribuição · https://fnet.bmfbovespa.com.br/fnet/publico/visualizarDocumento?id=1143317</a:t>
            </a:r>
          </a:p>
          <a:p>
            <a:r>
              <a:t>CNPJ 62696791000193 · Custódia, escrituração e encargos · Excerto da fonte:</a:t>
            </a:r>
          </a:p>
          <a:p>
            <a:r>
              <a:t>Taxa Máxima de Custódia 0,00% (zero por cento) ao ano, incidente sobre o Patrimônio Líquido da Classe (“Taxa Máxima de Custódia”). Taxa de Performance Não será devido pela Classe o pagamento de Taxa de Perf ormance. 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equivalente a 0,9% (nove décimos por cento) ao ano aplicado sobre o Patrimônio Anexo I ao Regulamento Líquido, observado o limite máximo de 4,5% (quatro inteiros e cinquenta centésimos por cento) do volume captado na respectiva oferta (“Taxa Máxima de Distribuição”).A</a:t>
            </a:r>
          </a:p>
          <a:p>
            <a:r>
              <a:t>CNPJ 62696791000193 · Custódia, escrituração e encargos · Regulamento · ID 1143317 · 20/03/2026 · versão Regulamento — referência 20/03/2026 · p. 29 · Anexo I, 13.1, Distribuição · https://fnet.bmfbovespa.com.br/fnet/publico/visualizarDocumento?id=1143317</a:t>
            </a:r>
          </a:p>
          <a:p>
            <a:r>
              <a:t>CNPJ 62696791000193 · Custódia, escrituração e encargos · Excerto da fonte:</a:t>
            </a:r>
          </a:p>
          <a:p>
            <a:r>
              <a:t>Distribuição será calculada e provisionada todo Dia Útil à razão de 1/252 (um inteiro e duzentos e cinquenta e dois avos) com base no valor do Patrimônio Líquido do Dia Útil anterior. Nos termos da Resolução CVM 160, o coordenador líder poderá destinar parte ou a totalidade da sua remuneração, à vista ou a prazo, aos distribuidores contratados, conforme previsto no contrato de distribuição da oferta e/ou nos termos de adesão ao contrato de distribuição. A Taxa Máxima de Distribuição será paga mensalmente por período vencido, até o 10º (décimo) Dia Útil do mês subsequente à prestação dos serviços, a partir do mês em que ocorrer a primeira integralização de Cotas da Classe Taxa de Ingresso Não será cobrada dos Cotistas Taxa de Ingresso. 14 TRIBUTAÇÃO 14.1 O disposto neste Capítulo f oi elaborado co</a:t>
            </a:r>
          </a:p>
          <a:p>
            <a:r>
              <a:t>CNPJ 62696791000193 · Custódia, escrituração e encargos · Motivo: Não localizada uma cláusula material para este critério nos textos identificados e processados. A ausência de resultado não comprova inexistência da regra.</a:t>
            </a:r>
          </a:p>
          <a:p>
            <a:r>
              <a:t>CNPJ 62696791000193 · Custódia, escrituração e encargos · Versão e prevalência: Leitura específica das cláusulas indicadas; condições e conflitos preservados. Seleção documental atual não comprova vigência jurídica por data isolada.</a:t>
            </a:r>
          </a:p>
          <a:p>
            <a:r>
              <a:t>CNPJ 55563624000109 · Custódia, escrituração e encargos · Regulamento · ID 1192614 · 30/04/2026 · versão Regulamento30/04/2026 · p. 29 · AnexoI13.8–13.9 · https://fnet.bmfbovespa.com.br/fnet/publico/visualizarDocumento?id=1192614</a:t>
            </a:r>
          </a:p>
          <a:p>
            <a:r>
              <a:t>CNPJ 55563624000109 · Custódia, escrituração e encargos · Excerto da fonte:</a:t>
            </a:r>
          </a:p>
          <a:p>
            <a:r>
              <a:t>13.8 Pelos serviços de custódia qualificada das Cotas da Classe Investida e dos Ativos Financeiros de Liquidez não será devida nenhuma remuneração ao CUSTODIANTE, de modo que taxa de custódia a ser paga pela Classe ao CUSTODIANTE corresponde a 0% (zero por cento) ao ano. Taxas Máxima de Distribuição 13.9 Tendo em vista que não há distribuidores das Cotas que prestem serviços de forma contínua ao Fundo, o presente Regulamento e Anexo Descritivo não preveem uma taxa máxima de distribuição aplicável a todas as emissões, nos termos do Ofício-Circular-Conju</a:t>
            </a:r>
          </a:p>
          <a:p>
            <a:r>
              <a:t>CNPJ 55563624000109 · Custódia, escrituração e encargos · Versão e prevalência: Leitura específica das cláusulas indicadas; condições e conflitos preservados. Seleção documental atual não comprova vigência jurídica por data isolada.</a:t>
            </a:r>
          </a:p>
          <a:p>
            <a:r>
              <a:t>CNPJ 55563624000109 · Custódia, escrituração e encargos · Resumo do histórico: {"count": 1, "dates": ["2026-04-30"], "document_count": 1, "sources": [{"document_id": "1192614", "title": "Regulamento", "reference_date": "2026-04-30", "version": "1", "page": "29", "url": "https://fnet.bmfbovespa.com.br/fnet/publico/visualizarDocumento?id=1192614", "sha256": "f56e63ace0acde41d2f47fb48f1ac7f3f7df5e2d32de092d7c5e075a52516632"}], "reference": {"path": "history/55563624000109.json", "criterion_id": "custody_fee", "total_count": 1, "preview_count": 1, "full_text_deferred": true, "sha256": "7835d573fb58a3c19adf5b8ecc2aee2bdbb9a88f7a0c0209b5f262b64c7522e3"}}</a:t>
            </a:r>
          </a:p>
          <a:p>
            <a:r>
              <a:t>CNPJ 62552447000120 · Custódia, escrituração e encargos · Motivo: Não localizada uma cláusula material para este critério nos textos identificados e processados. A ausência de resultado não comprova inexistência da regra.</a:t>
            </a:r>
          </a:p>
          <a:p>
            <a:r>
              <a:t>CNPJ 63953620000165 · Custódia, escrituração e encargos · Motivo: Não localizada uma cláusula material para este critério nos textos identificados e processados. A ausência de resultado não comprova inexistência da regra.</a:t>
            </a:r>
          </a:p>
          <a:p>
            <a:r>
              <a:t>CNPJ 54871427000194 · Classes e séries de cotas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Classes e séries de cotas · Resumo do histórico: {"count": 1, "dates": ["2024-04-28"], "document_count": 1, "sources": [{"document_id": "670691", "title": "Regulamento", "reference_date": "2024-04-28", "version": "1", "page": "7, 14", "url": "https://fnet.bmfbovespa.com.br/fnet/publico/visualizarDocumento?id=670691", "sha256": "bf16dd7f1a62d5cdbf2e2d54fef81783783f7310fbc99c3a8f00459bdf9d037b"}], "reference": {"path": "history/54871427000194.json", "criterion_id": "quota_classes", "total_count": 1, "preview_count": 1, "full_text_deferred": true, "sha256": "35d7cd99be50c7287c9fb675cf4f2e736002315295a225a9efa79c8d9186d874"}}</a:t>
            </a:r>
          </a:p>
          <a:p>
            <a:r>
              <a:t>CNPJ 60010416000112 · Classes e séries de cotas · Demonstrações Financeiras - Fusão, cisão e incorporação · ID 1298690 · 2026-05-08 · versão 1 · p. 30 · https://fnet.bmfbovespa.com.br/fnet/publico/visualizarDocumento?id=1298690</a:t>
            </a:r>
          </a:p>
          <a:p>
            <a:r>
              <a:t>CNPJ 60010416000112 · Classes e séries de cotas · Excerto da fonte:</a:t>
            </a:r>
          </a:p>
          <a:p>
            <a:r>
              <a:t>Durante o período de investimento, a Administradora poderá deliberar por realizar novas  emissões de cotas subordinadas, sem a necessidade de aprovação em Assembleia Especial  de Cotistas ou alteração do Regulamento, limitadas ao montante máximo de R$ 50.000  (cinquenta milhões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subordinadas emitidas não sejam  superiores aos prazos de vencimento da primeira emissão.</a:t>
            </a:r>
          </a:p>
          <a:p>
            <a:r>
              <a:t>CNPJ 60010416000112 · Classes e séries de cotas · Demonstrações Financeiras - Fusão, cisão e incorporação · ID 1298690 · 2026-05-08 · versão 1 · p. 7 · https://fnet.bmfbovespa.com.br/fnet/publico/visualizarDocumento?id=1298690</a:t>
            </a:r>
          </a:p>
          <a:p>
            <a:r>
              <a:t>CNPJ 60010416000112 · Classes e séries de cotas · Excerto da fonte:</a:t>
            </a:r>
          </a:p>
          <a:p>
            <a:r>
              <a:t>01/12/2025 a  Nota  08/05/2026  Patrimônio líquido no início do período  Total de 493.487,7492 cotas sêniores a R$ 1.136,5211 560.859  Total de 2.329.794,7852 cotas sêniores 2 a R$ 1.141,3012 2.658.998  Total de 954,2302 cotas subordinadas a R$ 150.939,4087 144.031</a:t>
            </a:r>
          </a:p>
          <a:p>
            <a:r>
              <a:t>CNPJ 60010416000112 · Classes e séries de cotas · Demonstrações Financeiras - Fusão, cisão e incorporação · ID 1298690 · 2026-05-08 · versão 1 · p. 7 · https://fnet.bmfbovespa.com.br/fnet/publico/visualizarDocumento?id=1298690</a:t>
            </a:r>
          </a:p>
          <a:p>
            <a:r>
              <a:t>CNPJ 60010416000112 · Classes e séries de cotas · Excerto da fonte:</a:t>
            </a:r>
          </a:p>
          <a:p>
            <a:r>
              <a:t>Patrimônio líquido no final do período  Total de 2.865.592,8479 cotas a R$ 1.285,7151 3.672.765  Total de 493.487,7492 cotas sêniores a R$ 1.230,3042 607.141  Total de 2.362.150,8684 cotas sêniores 2 a R$ 1.236,9918 2.921.961  Total de 954,2302 cotas subordinadas a R$ 150.554,2733 143.663</a:t>
            </a:r>
          </a:p>
          <a:p>
            <a:r>
              <a:t>CNPJ 60010416000112 · Classes e séries de cotas · Condição: Documentos atuais selecionados no inventário por categoria/escopo; a data documental isolada não comprova vigência jurídica.</a:t>
            </a:r>
          </a:p>
          <a:p>
            <a:r>
              <a:t>CNPJ 60010416000112 · Classes e séries de cotas · Versão e prevalência: Documentos atuais selecionados no inventário por categoria/escopo; a data documental isolada não comprova vigência jurídica.</a:t>
            </a:r>
          </a:p>
          <a:p>
            <a:r>
              <a:t>CNPJ 60010416000112 · Classes e séries de cotas · Resumo do histórico: {"count": 9, "dates": ["2025-11-30", "2026-03-18", "2026-04-16"], "document_count": 3, "sources": [{"document_id": "1282181", "title": "Demonstrações Financeiras - Fusão, cisão e incorporação", "reference_date": "2026-04-16", "version": "1", "page": 7, "url": "https://fnet.bmfbovespa.com.br/fnet/publico/visualizarDocumento?id=1282181", "sha256": "b1c6566e43a00bcd00c8a7f30c77b7f86e351bd8e355bbea113f46d1dafda703"}, {"document_id": "1224477", "title": "Demonstrações Financeiras - Fusão, cisão e incorporação", "reference_date": "2026-03-18", "version": "1", "page": 7, "url": "https://fnet.bmfbovespa.com.br/fnet/publico/visualizarDocumento?id=1224477", "sha256": "0751bf0a75bc3b44c2748f5000226665c6ec6698a90c4dc6170b4e6c187759ae"}, {"document_id": "1126154", "title": "Demonstrações Financeiras", "reference_date": "2025-11-30", "version": "1", "page": 7, "url": "https://fnet.bmfbovespa.com.br/fnet/publico/visualizarDocumento?id=1126154", "sha256": "a01e7ccf88c548f12c95cba8526d7efbef6b585c112cd4668eca781c292090b0"}], "reference": {"path": "history/60010416000112.json", "criterion_id": "quota_classes", "total_count": 9, "preview_count": 3, "full_text_deferred": true, "sha256": "8e2bd813f4c51cf01f6bfaad164bafe69d2bbb192f753eac92da3a01c2e63046"}}</a:t>
            </a:r>
          </a:p>
          <a:p>
            <a:r>
              <a:t>CNPJ 62696791000193 · Classes e séries de cotas · Instrumento Particular de Emissão de Cotas · ID 1148821 · 2026-03-27 · versão 1 · p. 1 · 20.000 · https://fnet.bmfbovespa.com.br/fnet/publico/visualizarDocumento?id=1148821</a:t>
            </a:r>
          </a:p>
          <a:p>
            <a:r>
              <a:t>CNPJ 62696791000193 · Classes e séries de cotas · Excerto da fonte:</a:t>
            </a:r>
          </a:p>
          <a:p>
            <a:r>
              <a:t>20.000 (vinte mil) Cotas Subordinadas Júnior, com valor nominal unitário de R$ 1.000,00 (mil reais),  perfazendo o montante total de R$ 20.000.000,00 (vinte milhões de reais), as quais serão objeto de  colocação privada, de acordo com os termos e condições definidos no Apêndice da Subclasse  Subordinada Júnior constante do Anexo I Regulamento e descritas abaixo (“2ª Emissão da Subclasse  Subordinada Júnior”):</a:t>
            </a:r>
          </a:p>
          <a:p>
            <a:r>
              <a:t>CNPJ 62696791000193 · Classes e séries de cotas · Instrumento Particular de Emissão de Cotas · ID 1148821 · 2026-03-27 · versão 1 · p. 2 · https://fnet.bmfbovespa.com.br/fnet/publico/visualizarDocumento?id=1148821</a:t>
            </a:r>
          </a:p>
          <a:p>
            <a:r>
              <a:t>CNPJ 62696791000193 · Classes e séries de cotas · Excerto da fonte:</a:t>
            </a:r>
          </a:p>
          <a:p>
            <a:r>
              <a:t>2. Aprovar a 2ª (segunda) emissão da Subclasse Sênior da Classe, composta por até 150.000  (cento e cinquenta mil) Cotas Seniores, com valor nominal unitário de R$ 1.000,00 (mil reais),  perfazendo o montante total de R$ 150.000.000,00 (cento e cinquenta milhões de reais), as quais  serão objeto de colocação privada, de acordo com os termos e condições descritos no Apêndice da  Subclasse Sênior constante do Anexo I Regulamento e descritas abaixo (“2ª Emissão da Subclasse  Sênior”):</a:t>
            </a:r>
          </a:p>
          <a:p>
            <a:r>
              <a:t>CNPJ 62696791000193 · Classes e séries de cotas · Instrumento Particular de Emissão de Cotas · ID 1148821 · 2026-03-27 · versão 1 · p. 2 · https://fnet.bmfbovespa.com.br/fnet/publico/visualizarDocumento?id=1148821</a:t>
            </a:r>
          </a:p>
          <a:p>
            <a:r>
              <a:t>CNPJ 62696791000193 · Classes e séries de cotas · Excerto da fonte:</a:t>
            </a:r>
          </a:p>
          <a:p>
            <a:r>
              <a:t>d) Forma de Integralização: as Cotas Subordinadas Júnior serão integralizadas à vista, junto ao  seu respectivo agente de custódia e/ou da Administradora na qualidade de escriturador das  cotas; e</a:t>
            </a:r>
          </a:p>
          <a:p>
            <a:r>
              <a:t>CNPJ 62696791000193 · Classes e séries de cotas · Condição: Documentos atuais selecionados no inventário por categoria/escopo; a data documental isolada não comprova vigência jurídica.</a:t>
            </a:r>
          </a:p>
          <a:p>
            <a:r>
              <a:t>CNPJ 62696791000193 · Classes e séries de cotas · Versão e prevalência: Documentos atuais selecionados no inventário por categoria/escopo; a data documental isolada não comprova vigência jurídica.</a:t>
            </a:r>
          </a:p>
          <a:p>
            <a:r>
              <a:t>CNPJ 62696791000193 · Classes e séries de cotas · Resumo do histórico: {"count": 2, "dates": ["2026-03-20", "2026-03-27"], "document_count": 2, "sources": [{"document_id": "1148821", "title": "Instrumento Particular de Emissão de Cotas", "reference_date": "2026-03-27", "version": "1", "page": "1-2", "url": "https://fnet.bmfbovespa.com.br/fnet/publico/visualizarDocumento?id=1148821", "sha256": "86900e9dd498403696bfffbd4196443c83ec4d51ff21135e073c1966e1adf4c0"}, {"document_id": "1143317", "title": "Regulamento", "reference_date": "2026-03-20", "version": "1", "page": 16, "clause": "7.2", "url": "https://fnet.bmfbovespa.com.br/fnet/publico/visualizarDocumento?id=1143317", "sha256": "32f62818d51c3ebeaf9ec012d3d7867f15c1aed6d10f0867c157a290df1cea48"}], "reference": {"path": "history/62696791000193.json", "criterion_id": "quota_classes", "total_count": 2, "preview_count": 2, "full_text_deferred": true, "sha256": "0e9ec199848320ec945708123ae0cb6075d76c05d94beed814d582031d353926"}}</a:t>
            </a:r>
          </a:p>
          <a:p>
            <a:r>
              <a:t>CNPJ 55563624000109 · Classes e séries de cotas · Regulamento · ID 1192614 · 2026-04-30 · versão 1 · p. 40 · https://fnet.bmfbovespa.com.br/fnet/publico/visualizarDocumento?id=1192614</a:t>
            </a:r>
          </a:p>
          <a:p>
            <a:r>
              <a:t>CNPJ 55563624000109 · Classes e séries de cotas · Excerto da fonte:</a:t>
            </a:r>
          </a:p>
          <a:p>
            <a:r>
              <a:t>(xxiv) Subordinação de determinadas Cotas da Classe Investida a outras subclasses ou séries de  cotas das Classes Investidas aos quais pertencem. A Classe Investida adquirirá apenas cotas  subordinadas mezaninos da Classe Investida, as quais se subordinam às cotas seniores da Classe  Investida para efeitos de resgate. Os resgates de cotas subordinadas mezanino tipicamente têm sua  realização condicionada ainda à manutenção da razão de garantia e à existência de disponibilidades  da Classe Investida. O ADMINISTRADOR, o GESTOR e o CUSTODIANTE e suas respectivas partes  relacionadas, encontram-se impossibilitados de assegurar que a amortização e o resgate das cotas  subordinadas mezanino da Classe Investida que venham a ser adquiridas pela Classe ocorrerão nas  datas originalmente previstas, sendo que, caso tais amortizações e/ou resgates não ocorram, não será  devido pelo FUNDO ou qualquer pessoa, incluindo o ADMINISTRADOR, o GESTOR e o CUSTODIANTE,  do FUNDO ou da Classe Investida qualquer multa ou penalidade, de qualquer natureza. O não resgate  de cotas subordinadas mezanino da Classe Investida detidas pela Classe poderá impactar  negativamente no fluxo de pagamento de resgate da Classe e/ou no valor patrimonial das Cotas da  Classe.</a:t>
            </a:r>
          </a:p>
          <a:p>
            <a:r>
              <a:t>CNPJ 55563624000109 · Classes e séries de cotas · Regulamento · ID 1192614 · 2026-04-30 · versão 1 · p. 31 · 15.1.1 · https://fnet.bmfbovespa.com.br/fnet/publico/visualizarDocumento?id=1192614</a:t>
            </a:r>
          </a:p>
          <a:p>
            <a:r>
              <a:t>CNPJ 55563624000109 · Classes e séries de cotas · Excerto da fonte:</a:t>
            </a:r>
          </a:p>
          <a:p>
            <a:r>
              <a:t>15.1.1 Riscos de Crédito:</a:t>
            </a:r>
          </a:p>
          <a:p>
            <a:r>
              <a:t> (i) Risco de concentração na Classe Investida. Nos termos do presente Regulamento, a Classe  deverá manter alocado, no mínimo, 67% (sessenta e sete por cento) do Patrimônio Líquido nas Cotas  da Classe Investida. Alterações na condição econômico-financeira e na expectativa de desempenho ou  resultados da Classe Investida poderão, isolada ou cumulativamente, afetar negativamente o  rendimento do investimento nas Cotas, de forma mais severa do que se a Classe adotasse uma  estratégia de investimento de maior diversificação. O risco associado às aplicações de qualquer fundo  de investimento é diretamente proporcional à concentração da sua carteira, sendo que, quanto maior  essa concentração, maior será a sua vulnerabilidade.</a:t>
            </a:r>
          </a:p>
          <a:p>
            <a:r>
              <a:t> (ii) Risco relativo à Classe Investida. Nos termos deste Anexo, a Classe deverá manter alocado, no  mínimo, 67% (sessenta e sete por cento) do Patrimônio Líquido em Cotas da Classe Investida. Os  investimentos realizados pela Classe Investida poderão estar sujeitos a flutuações típicas do mercado,  risco de crédito, risco sistêmico, condições adversas de liquidez e negociação atípica nos mercados de  atuação, bem como outros riscos diversos. Este Anexo não contém a descrição de todas as  características, incluindo os riscos, da Classe Investida.</a:t>
            </a:r>
          </a:p>
          <a:p>
            <a:r>
              <a:t> (iii) Risco Relativo ao Pagamento de Encargos da Classe Investida. Tendo em vista a estrutura da  Classe Investida – que emitiu cotas sêniores, cotas subordinadas mezanino e cotas subordinadas júnior  – em situação ordinária os encargos da Classe Investida são arcados pelas cotas subordinadas júnior,  que se subordinam às cotas subordinadas mezanino e às cotas sêniores para fins de amortização,  resgate e distribuição de rendimentos, não impactando, portanto, as Cotas da Classe Investida. Não  obstante o funcionamento da Classe Investida em situação ordinária, em cenários extraordinários, na  eventualidade do valor das cotas subordinadas júnior ficar reduzido a zero ou a valor negativo, os  encargos da Classe Investida conforme previstos em seu regulamento, inclusive mas não se limitando  as remunerações dos prestadores de serviços essenciais, passarão a ser arcados pelas cotas  subordinadas mezanino (que são as Cotas da Classe Investida), impactando no valor do investimento  da Classe na Classe Investida, e consequentemente, o investimento dos Cotistas na Classe.</a:t>
            </a:r>
          </a:p>
          <a:p>
            <a:r>
              <a:t> (iv) Riscos referentes à carteira da Classe Investida. Na forma do Anexo Normativo II da Resolução  CVM 175, a Classe Investida investe, direta ou indiretamente, no mínimo, 67% (sessenta e sete por  cento) do seu patrimônio em direitos creditórios originados pela Mercado Pago. O investimento em tais  direitos creditórios está sujeito a fatores de risco específicos, conforme detalhados no regulamento da  Classe Investida, incluindo, mas não se limitando a:</a:t>
            </a:r>
          </a:p>
          <a:p>
            <a:r>
              <a:t> (a) Risco de liquidez dos direitos creditórios. O investimento da Classe Investida em direitos  creditórios apresenta peculiaridades em relação às aplicações usuais da maioria dos  fundos de investimento brasileiros, haja vista que não existe, no Brasil, mercado  secundário com liquidez para tais direitos creditórios. Caso a Classe Investida precise  vender os direitos creditórios adquiridos, poderá não haver mercado comprador para  tais créditos, bem como o preço de alienação de tais direitos creditórios poderá refletir  essa falta de liquidez, causando perda ao patrimônio da Classe Investida e,  consequentemente, à Classe.</a:t>
            </a:r>
          </a:p>
          <a:p>
            <a:r>
              <a:t>CNPJ 55563624000109 · Classes e séries de cotas · AGE · ID 1192603 · 2026-04-30 · versão 1 · p. 1 · 4.1 · https://fnet.bmfbovespa.com.br/fnet/publico/visualizarDocumento?id=1192603</a:t>
            </a:r>
          </a:p>
          <a:p>
            <a:r>
              <a:t>CNPJ 55563624000109 · Classes e séries de cotas · Excerto da fonte:</a:t>
            </a:r>
          </a:p>
          <a:p>
            <a:r>
              <a:t>4.1. Aprovar a alteração do Anexo I da Classe Única para a reorganização do passivo de sua subclasse  única em novas subclasses, quais sejam, subclasse A (“Subclasse A”), subclasse B (“Subclasse B”) e  subclasse C (“Subclasse C” e, quando em conjunto com a Subclasse A e a Subclasse B, as “Subclasses”),  considerando que serão mantidas as condições de investimento originalmente pactuadas com os cotistas,  como critérios de aplicação, resgate, amortização e política de investimento da Classe Única, diferindo-  se, exclusivamente, em relação ao prazo de duração cada Subclasse.</a:t>
            </a:r>
          </a:p>
          <a:p>
            <a:r>
              <a:t>CNPJ 55563624000109 · Classes e séries de cotas · Condição: Documentos atuais selecionados no inventário por categoria/escopo; a data documental isolada não comprova vigência jurídica.</a:t>
            </a:r>
          </a:p>
          <a:p>
            <a:r>
              <a:t>CNPJ 55563624000109 · Classes e séries de cotas · Versão e prevalência: Documentos atuais selecionados no inventário por categoria/escopo; a data documental isolada não comprova vigência jurídica.</a:t>
            </a:r>
          </a:p>
          <a:p>
            <a:r>
              <a:t>CNPJ 55563624000109 · Classes e séries de cotas · Resumo do histórico: {"count": 3, "dates": ["2025-01-31", "2026-01-31", "2026-04-30"], "document_count": 3, "sources": [{"document_id": "1192614", "title": "Regulamento", "reference_date": "2026-04-30", "version": "1", "page": "15", "url": "https://fnet.bmfbovespa.com.br/fnet/publico/visualizarDocumento?id=1192614", "sha256": "f56e63ace0acde41d2f47fb48f1ac7f3f7df5e2d32de092d7c5e075a52516632"}, {"document_id": "1178840", "title": "Demonstrações Financeiras", "reference_date": "2026-01-31", "version": "1", "page": 25, "url": "https://fnet.bmfbovespa.com.br/fnet/publico/visualizarDocumento?id=1178840", "sha256": "c458e98664c5c907ddb5a05a94b120bed4e05295b2bfc420f5ba69af0a229abe"}, {"document_id": "891861", "title": "Demonstrações Financeiras", "reference_date": "2025-01-31", "version": "1", "page": 26, "url": "https://fnet.bmfbovespa.com.br/fnet/publico/visualizarDocumento?id=891861", "sha256": "e9cb9e6ddbe505fe068cfcac33605165a98313489de0d3ce6d4d238263c3f3e7"}], "reference": {"path": "history/55563624000109.json", "criterion_id": "quota_classes", "total_count": 3, "preview_count": 3, "full_text_deferred": true, "sha256": "7835d573fb58a3c19adf5b8ecc2aee2bdbb9a88f7a0c0209b5f262b64c7522e3"}}</a:t>
            </a:r>
          </a:p>
          <a:p>
            <a:r>
              <a:t>CNPJ 62552447000120 · Classes e séries de cotas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Classes e séries de cotas · Resumo do histórico: {"count": 1, "dates": ["2025-09-03"], "document_count": 1, "sources": [{"document_id": "988020", "title": "Instrumento Particular de Emissão de Cotas", "reference_date": "2025-09-03", "version": "1", "page": "5", "url": "https://fnet.bmfbovespa.com.br/fnet/publico/visualizarDocumento?id=988020", "sha256": "8ecc8a771bb9713d64e5fc2052c489664cb0433801a9280db68e5187d35bf7a5"}], "reference": {"path": "history/62552447000120.json", "criterion_id": "quota_classes", "total_count": 1, "preview_count": 1, "full_text_deferred": true, "sha256": "d95db8c0613d67ee84118c734588665265ea6b02f86a0318d6a844cbe1d0f82f"}}</a:t>
            </a:r>
          </a:p>
          <a:p>
            <a:r>
              <a:t>CNPJ 63953620000165 · Classes e séries de cotas · AGE · ID 1313935 · 2026-08-31 · versão 1 · p. 1 · 4.1 · https://fnet.bmfbovespa.com.br/fnet/publico/visualizarDocumento?id=1313935</a:t>
            </a:r>
          </a:p>
          <a:p>
            <a:r>
              <a:t>CNPJ 63953620000165 · Classes e séries de cotas · Excerto da fonte:</a:t>
            </a:r>
          </a:p>
          <a:p>
            <a:r>
              <a:t>4.1. Aprovar a realização da incorporação das parcelas cindidas descritas no Anexo I à presente ata (“Parcelas  Cindidas”), com base no fechamento de 28 de agosto de 2026 (“Data Base”), condicionada à aprovação da cisão  da CLASSE ÚNICA DO MT CONSIGNADO PRIVADO I FUNDO DE INVESTIMENTO EM DIREITOS CREDITÓRIOS  RESPONSABILIDADE LIMITADA, inscrita no CNPJ sob o nº 60.010.416/0001-12 (“Classe Cindida”), com a  subsequente incorporação da respectiva Parcela Cindida, emitindo-se cotas seniores da Classe, a serem  atribuídas integralmente aos cotistas da Classe Cindida, no valor da respectiva Parcela Cindida, na Data-Base, de  acordo com o valor das cotas da Classe na mesma data. A partir da Data Base, todos os direitos e obrigações dos  ativos cindidos serão sucedidos à Classe;</a:t>
            </a:r>
          </a:p>
          <a:p>
            <a:r>
              <a:t>CNPJ 63953620000165 · Classes e séries de cotas · Condição: Documentos atuais selecionados no inventário por categoria/escopo; a data documental isolada não comprova vigência jurídica.</a:t>
            </a:r>
          </a:p>
          <a:p>
            <a:r>
              <a:t>CNPJ 63953620000165 · Classes e séries de cotas · Versão e prevalência: Documentos atuais selecionados no inventário por categoria/escopo; a data documental isolada não comprova vigência jurídica.</a:t>
            </a:r>
          </a:p>
          <a:p>
            <a:r>
              <a:t>CNPJ 63953620000165 · Classes e séries de cotas · Resumo do histórico: {"count": 11, "dates": ["2026-07-29", "2026-08-17", "2026-08-21"], "document_count": 3, "sources": [{"document_id": "1309436", "title": "AGE", "reference_date": "2026-08-21", "version": "1", "page": 1, "clause": "4.1", "url": "https://fnet.bmfbovespa.com.br/fnet/publico/visualizarDocumento?id=1309436", "sha256": "f679de1621039dce7c665e3a742f213fd4d5047e12b96163b31ea4ae86f56817"}, {"document_id": "1298232", "title": "AGE", "reference_date": "2026-08-17", "version": "1", "page": 1, "clause": "4.1", "url": "https://fnet.bmfbovespa.com.br/fnet/publico/visualizarDocumento?id=1298232", "sha256": "75322e306547f725e73a2c6687b598e14d628caa84bd46a23508337a606866f6"}, {"document_id": "1277543", "title": "AGE", "reference_date": "2026-07-29", "version": "1", "page": 1, "url": "https://fnet.bmfbovespa.com.br/fnet/publico/visualizarDocumento?id=1277543", "sha256": "c2fb499fd6e25251a221d4e9dbb5d1378fb5efde5a58eee091868faf52d326c0"}], "reference": {"path": "history/63953620000165.json", "criterion_id": "quota_classes", "total_count": 11, "preview_count": 3, "full_text_deferred": true, "sha256": "a7b89077f5e21098c2d601c303faabc3ff6b9729f89d8afecdc60fe1404720c1"}}</a:t>
            </a:r>
          </a:p>
          <a:p>
            <a:r>
              <a:t>CNPJ 54871427000194 · Ofertas e colocação · AGE · ID 1055482 · 2025-12-02 · versão 1 · p. 1 · 4.1 · https://fnet.bmfbovespa.com.br/fnet/publico/visualizarDocumento?id=1055482</a:t>
            </a:r>
          </a:p>
          <a:p>
            <a:r>
              <a:t>CNPJ 54871427000194 · Ofertas e colocação · Excerto da fonte:</a:t>
            </a:r>
          </a:p>
          <a:p>
            <a:r>
              <a:t>4.1. Aprovar a nova emissão de Cotas pela Classe, todas nominativas e escriturais, com preço unitário de emissão  correspondente ao valor das Cotas da Classe em circulação quando na data de aprovação da Nova Emissão,  perfazendo o montante total de emissão de até R$ 650.000.000 (seiscentos e cinquenta milhões de reais), conforme  as características constantes do Regulamento e do Anexo da Classe (“Novas Cotas” e “Nova Emissão”,  respectivamente), e descritas abaixo:</a:t>
            </a:r>
          </a:p>
          <a:p>
            <a:r>
              <a:t>(i) Rito: as Novas Cotas não serão objeto de oferta pública, conforme facultado pelo artigo 8º, inciso IV, da  Resolução CVM nº 160, uma vez que a Classe se enquadra nos requisitos do referido dispositivo;</a:t>
            </a:r>
          </a:p>
          <a:p>
            <a:r>
              <a:t>(ii) Preço de Emissão: o preço unitário de emissão corresponderá ao valor das Cotas da Classe em circulação  quando na data de aprovação da Nova Emissão (“Preço de Emissão”);</a:t>
            </a:r>
          </a:p>
          <a:p>
            <a:r>
              <a:t>(iii) Preço de Integralização: o Preço de Integralização corresponderá ao valor das Cotas da Classe em  circulação quando da transferência dos valores para liquidação financeira (“Preço de Integralização”);</a:t>
            </a:r>
          </a:p>
          <a:p>
            <a:r>
              <a:t>(iv) Forma de Integralização: as Cotas serão integralizadas à vista, em moeda corrente nacional, pelo Preço  de Integralização, junto ao seu respectivo agente de custódia e/ou da Administradora na qualidade de  escriturador das cotas; e</a:t>
            </a:r>
          </a:p>
          <a:p>
            <a:r>
              <a:t>(v) Período de colocação: a subscrição das Cotas, objeto da Nova Emissão, deverão ser realizadas no prazo  máximo de 180 (cento e oitenta) dias, contados da data de efeitos do presente instrumento.</a:t>
            </a:r>
          </a:p>
          <a:p>
            <a:r>
              <a:t>CNPJ 54871427000194 · Ofertas e colocação · Condição: Trechos do documento específico identificado com data mais recente; vigência jurídica não inferida.</a:t>
            </a:r>
          </a:p>
          <a:p>
            <a:r>
              <a:t>CNPJ 54871427000194 · Ofertas e colocação · Versão e prevalência: Trechos do documento específico identificado com data mais recente; vigência jurídica não inferida.</a:t>
            </a:r>
          </a:p>
          <a:p>
            <a:r>
              <a:t>CNPJ 54871427000194 · Ofertas e colocação · Resumo do histórico: {"count": 7, "dates": ["2024-06-13", "2024-12-10"], "document_count": 3, "sources": [{"document_id": "798101", "title": "Anúncio de Encerramento", "reference_date": "2024-12-10", "version": "1", "page": "1-2", "url": "https://fnet.bmfbovespa.com.br/fnet/publico/visualizarDocumento?id=798101", "sha256": "71618c432ad86002484571d66922b873e4fa91ed3543a109134ddee0bd872f20"}, {"document_id": "679614", "title": "Anúncio de Início", "reference_date": "2024-06-13", "version": "1", "page": 1, "url": "https://fnet.bmfbovespa.com.br/fnet/publico/visualizarDocumento?id=679614", "sha256": "aad43ed14bfa0576144a306c466aea031fce0d01d3cb3de6aebd120f11164bfa"}, {"document_id": "683482", "title": "AGE", "reference_date": "2024-06-13", "version": "1", "page": 2, "url": "https://fnet.bmfbovespa.com.br/fnet/publico/visualizarDocumento?id=683482", "sha256": "3afbe254027691929935eaf19ebbb8634fb2ccd8e2fbea2cb2d81a7818f8d648"}], "reference": {"path": "history/54871427000194.json", "criterion_id": "offers", "total_count": 7, "preview_count": 3, "full_text_deferred": true, "sha256": "35d7cd99be50c7287c9fb675cf4f2e736002315295a225a9efa79c8d9186d874"}}</a:t>
            </a:r>
          </a:p>
          <a:p>
            <a:r>
              <a:t>CNPJ 60010416000112 · Ofertas e colocação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Ofertas e colocação · Resumo do histórico: {"count": 1, "dates": ["2025-03-20"], "document_count": 1, "sources": [{"document_id": "993785", "title": "Instrumento Particular de Constituição/Encerramento do Fundo", "reference_date": "2025-03-20", "version": "1", "page": "1-2", "url": "https://fnet.bmfbovespa.com.br/fnet/publico/visualizarDocumento?id=993785", "sha256": "0826e0eae2c51afabf59bbc49fc7647598d03da5ca6de0f9725850a8bd6af457"}], "reference": {"path": "history/60010416000112.json", "criterion_id": "offers", "total_count": 1, "preview_count": 1, "full_text_deferred": true, "sha256": "8e2bd813f4c51cf01f6bfaad164bafe69d2bbb192f753eac92da3a01c2e63046"}}</a:t>
            </a:r>
          </a:p>
          <a:p>
            <a:r>
              <a:t>CNPJ 62696791000193 · Ofertas e colocação · Regulamento · ID 1143317 · 2026-03-20 · versão 1 · p. 39 · 2.6 · https://fnet.bmfbovespa.com.br/fnet/publico/visualizarDocumento?id=1143317</a:t>
            </a:r>
          </a:p>
          <a:p>
            <a:r>
              <a:t>CNPJ 62696791000193 · Ofertas e colocação · Excerto da fonte:</a:t>
            </a:r>
          </a:p>
          <a:p>
            <a:r>
              <a:t>2.6. O valor de mercado das Cotas de emissão da Classe poderá sofrer oscilações frequentes e  significativas, inclusive ao longo do dia. Como consequência, o valor de mercado das cotas de  emissão da Classe poderá não ref letir necessariamente seu valor patrimonial. Não será devida  pela Classe ou por qualquer pessoa, incluindo as instituições responsáveis pela distribuição  das cotas, os demais Cotistas da Classe, o Administrador e as instituições participantes da  of erta, qualquer multa ou penalidade de qualquer natureza, caso ocorra, por qualquer razão,</a:t>
            </a:r>
          </a:p>
          <a:p>
            <a:r>
              <a:t> (i) o alongamento do período de amortização das Cotas; (ii) a liquidação da Classe; ou, ainda,</a:t>
            </a:r>
          </a:p>
          <a:p>
            <a:r>
              <a:t> (iii) caso os Cotistas sof ram qualquer dano ou prejuízo resultante de tais eventos.</a:t>
            </a:r>
          </a:p>
          <a:p>
            <a:r>
              <a:t>3. Risco TributárioOs rendimentos e ganhos líquidos auf eridos pela Classe em aplicações f inanceiras de  renda f ixa ou de renda variável sujeitam-se à incidência do imposto de renda na f onte, observadas as  mesmas normas aplicáveis às pessoas jurídicas, podendo esse imposto ser compensado com o retido na  f onte pela Classe quando da distribuição de rendimentos e ganhos de capital aos Cotistas. Os rendimentos  auf eridos pela Classe, quando distribuídos aos Cotistas sujeitam-se à incidência do Imposto de Renda na  f onte à alíquota de 20% (vinte por cento). Os rendimentos e ganhos de capital auferidos pelos Cotistas na</a:t>
            </a:r>
          </a:p>
          <a:p>
            <a:r>
              <a:t>CNPJ 62696791000193 · Ofertas e colocação · Regulamento · ID 1143317 · 2026-03-20 · versão 1 · p. 28 · https://fnet.bmfbovespa.com.br/fnet/publico/visualizarDocumento?id=1143317</a:t>
            </a:r>
          </a:p>
          <a:p>
            <a:r>
              <a:t>CNPJ 62696791000193 · Ofertas e colocação · Excerto da fonte:</a:t>
            </a:r>
          </a:p>
          <a:p>
            <a:r>
              <a:t>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equivalente a 0,9% (nove décimos  por cento) ao ano aplicado sobre o Patrimônio Anexo I ao  Regulamento Líquido, observado o limite máximo de 4,5% (quatro  inteiros e cinquenta centésimos por cento) do volume captado na  respectiva oferta (“Taxa Máxima de Distribuição”).A Taxa Máxima de</a:t>
            </a:r>
          </a:p>
          <a:p>
            <a:r>
              <a:t>CNPJ 62696791000193 · Ofertas e colocação · Condição: Documentos atuais selecionados no inventário por categoria/escopo; a data documental isolada não comprova vigência jurídica.</a:t>
            </a:r>
          </a:p>
          <a:p>
            <a:r>
              <a:t>CNPJ 62696791000193 · Ofertas e colocação · Versão e prevalência: Documentos atuais selecionados no inventário por categoria/escopo; a data documental isolada não comprova vigência jurídica.</a:t>
            </a:r>
          </a:p>
          <a:p>
            <a:r>
              <a:t>CNPJ 62696791000193 · Ofertas e colocação · Resumo do histórico: {"count": 1, "dates": ["2026-03-27"], "document_count": 1, "sources": [{"document_id": "1148821", "title": "Instrumento Particular de Emissão de Cotas", "reference_date": "2026-03-27", "version": "1", "page": "1-3", "url": "https://fnet.bmfbovespa.com.br/fnet/publico/visualizarDocumento?id=1148821", "sha256": "86900e9dd498403696bfffbd4196443c83ec4d51ff21135e073c1966e1adf4c0"}], "reference": {"path": "history/62696791000193.json", "criterion_id": "offers", "total_count": 1, "preview_count": 1, "full_text_deferred": true, "sha256": "0e9ec199848320ec945708123ae0cb6075d76c05d94beed814d582031d353926"}}</a:t>
            </a:r>
          </a:p>
          <a:p>
            <a:r>
              <a:t>CNPJ 55563624000109 · Ofertas e colocação · Regulamento · ID 1192614 · 2026-04-30 · versão 1 · p. 25 · 12.9 · https://fnet.bmfbovespa.com.br/fnet/publico/visualizarDocumento?id=1192614</a:t>
            </a:r>
          </a:p>
          <a:p>
            <a:r>
              <a:t>CNPJ 55563624000109 · Ofertas e colocação · Excerto da fonte:</a:t>
            </a:r>
          </a:p>
          <a:p>
            <a:r>
              <a:t>12.9 Inclui-se entre as obrigações do GESTOR, contratar, em nome da Classe, se necessário, com terceiros  devidamente habilitados e autorizados, os serviços de distribuição das Cotas. A distribuição pública das Cotas  deverá ser realizada por distribuidores devidamente autorizados pela CVM, nos termos da regulamentação  aplicável.</a:t>
            </a:r>
          </a:p>
          <a:p>
            <a:r>
              <a:t>CNPJ 55563624000109 · Ofertas e colocação · Condição: Documentos atuais selecionados no inventário por categoria/escopo; a data documental isolada não comprova vigência jurídica.</a:t>
            </a:r>
          </a:p>
          <a:p>
            <a:r>
              <a:t>CNPJ 55563624000109 · Ofertas e colocação · Versão e prevalência: Documentos atuais selecionados no inventário por categoria/escopo; a data documental isolada não comprova vigência jurídica.</a:t>
            </a:r>
          </a:p>
          <a:p>
            <a:r>
              <a:t>CNPJ 55563624000109 · Ofertas e colocação · Resumo do histórico: {"count": 3, "dates": ["2024-07-03"], "document_count": 3, "sources": [{"document_id": "703295", "title": "Anúncio de Início", "reference_date": "2024-07-03", "version": "2", "page": 1, "url": "https://fnet.bmfbovespa.com.br/fnet/publico/visualizarDocumento?id=703295", "sha256": "12322b6dbf75e673723bd60910373db249451b72666792e18e0c7b6128f4608a"}, {"document_id": "702585", "title": "Anúncio de Início", "reference_date": "2024-07-03", "version": "1", "page": 1, "url": "https://fnet.bmfbovespa.com.br/fnet/publico/visualizarDocumento?id=702585", "sha256": "6708609ac7f0611118fb23ffd6d2cd6c7fd33275130407918ea42831baa712cd"}, {"document_id": "691674", "title": "Instrumento Particular de Emissão de Cotas", "reference_date": "2024-07-03", "version": "1", "page": 3, "url": "https://fnet.bmfbovespa.com.br/fnet/publico/visualizarDocumento?id=691674", "sha256": "78bf7b350f1785beae5f43bd209b5ed19e863cb9a2cff01542aac11dd63ca554"}], "reference": {"path": "history/55563624000109.json", "criterion_id": "offers", "total_count": 3, "preview_count": 3, "full_text_deferred": true, "sha256": "7835d573fb58a3c19adf5b8ecc2aee2bdbb9a88f7a0c0209b5f262b64c7522e3"}}</a:t>
            </a:r>
          </a:p>
          <a:p>
            <a:r>
              <a:t>CNPJ 62552447000120 · Ofertas e colocação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Ofertas e colocação · Resumo do histórico: {"count": 1, "dates": ["2025-09-03"], "document_count": 1, "sources": [{"document_id": "988020", "title": "Instrumento Particular de Emissão de Cotas", "reference_date": "2025-09-03", "version": "1", "page": "5-6", "url": "https://fnet.bmfbovespa.com.br/fnet/publico/visualizarDocumento?id=988020", "sha256": "8ecc8a771bb9713d64e5fc2052c489664cb0433801a9280db68e5187d35bf7a5"}], "reference": {"path": "history/62552447000120.json", "criterion_id": "offers", "total_count": 1, "preview_count": 1, "full_text_deferred": true, "sha256": "d95db8c0613d67ee84118c734588665265ea6b02f86a0318d6a844cbe1d0f82f"}}</a:t>
            </a:r>
          </a:p>
          <a:p>
            <a:r>
              <a:t>CNPJ 63953620000165 · Ofertas e colocação · Anexo ao Regulamento · ID 1222863 · 2026-06-02 · versão 1 · p. 10 · 6.9 · https://fnet.bmfbovespa.com.br/fnet/publico/visualizarDocumento?id=1222863</a:t>
            </a:r>
          </a:p>
          <a:p>
            <a:r>
              <a:t>CNPJ 63953620000165 · Ofertas e colocação · Excerto da fonte:</a:t>
            </a:r>
          </a:p>
          <a:p>
            <a:r>
              <a:t>6.9 As Cotas poderão ser objeto de oferta pública a ser realizada nos termos da Resolução CVM 160 (“Oferta”) e/ou  poderão ser colocadas de forma privada (“Colocação Privada”), bem como segundo outros ritos que venham a  ser previstos pela regulamentação. As Cotas deverão ser emitidas e subscritas dentro do prazo e nos termos e  condições da legislação aplicável, do presente Anexo e dos respectivos Boletins de Subscrição e/ou  Compromissos de Investimento.</a:t>
            </a:r>
          </a:p>
          <a:p>
            <a:r>
              <a:t>CNPJ 63953620000165 · Ofertas e colocação · Condição: Documentos atuais selecionados no inventário por categoria/escopo; a data documental isolada não comprova vigência jurídica.</a:t>
            </a:r>
          </a:p>
          <a:p>
            <a:r>
              <a:t>CNPJ 63953620000165 · Ofertas e colocação · Versão e prevalência: Documentos atuais selecionados no inventário por categoria/escopo; a data documental isolada não comprova vigência jurídica.</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Emissões e custos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Remuneração por subclasse e série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Remuneração por subclasse e série · Resumo do histórico: {"count": 1, "dates": ["2024-04-28"], "document_count": 1, "sources": [{"document_id": "670691", "title": "Regulamento", "reference_date": "2024-04-28", "version": "1", "page": "14", "url": "https://fnet.bmfbovespa.com.br/fnet/publico/visualizarDocumento?id=670691", "sha256": "bf16dd7f1a62d5cdbf2e2d54fef81783783f7310fbc99c3a8f00459bdf9d037b"}], "reference": {"path": "history/54871427000194.json", "criterion_id": "remuneration", "total_count": 1, "preview_count": 1, "full_text_deferred": true, "sha256": "35d7cd99be50c7287c9fb675cf4f2e736002315295a225a9efa79c8d9186d874"}}</a:t>
            </a:r>
          </a:p>
          <a:p>
            <a:r>
              <a:t>CNPJ 60010416000112 · Remuneração por subclasse e série · Instrumento Particular de Constituição/Encerramento do Fundo · ID 993785 · 20/03/2025 · versão 1ªemissão20/03/2025 · p. 5 · Suplemento1ªsênior BenchmarkSênior · https://fnet.bmfbovespa.com.br/fnet/publico/visualizarDocumento?id=993785</a:t>
            </a:r>
          </a:p>
          <a:p>
            <a:r>
              <a:t>CNPJ 60010416000112 · Remuneração por subclasse e série · Excerto da fonte:</a:t>
            </a:r>
          </a:p>
          <a:p>
            <a:r>
              <a:t>4,80% (quatro inteiros e oitenta centésimos por cento)calculado por Dia Útil à base de 1/252 (um inteiro e duzentos e cinquenta e dois avos); e (ii) “Benchmark Sênior Adicional”: o parâmetro adicional de rentabilidade a ser buscado pela Classe para remunerar as Cotas Seniores, correspondente 15,00% (quinze por cento) do excesso de spread das Cotas Subordinadas com cap de remuneração total das Cotas Seniores pela variação do CDI acrescido de 6,00% (seis por cento</a:t>
            </a:r>
          </a:p>
          <a:p>
            <a:r>
              <a:t>CNPJ 60010416000112 · Remuneração por subclasse e série · Condição: Termo específico da primeira emissão de 20/03/2025, distinto de taxa deperformance e do suplemento modelo com campos não preenchidos do regulamento.</a:t>
            </a:r>
          </a:p>
          <a:p>
            <a:r>
              <a:t>CNPJ 60010416000112 · Remuneração por subclasse e série · Versão e prevalência: Leitura específica das cláusulas indicadas; condições e conflitos preservados. Seleção documental atual não comprova vigência jurídica por data isolada.</a:t>
            </a:r>
          </a:p>
          <a:p>
            <a:r>
              <a:t>CNPJ 60010416000112 · Remuneração por subclasse e série · Resumo do histórico: {"count": 3, "dates": ["2025-03-20", "2025-05-12"], "document_count": 2, "sources": [{"document_id": "1004656", "title": "AGE", "reference_date": "2025-05-12", "version": "1", "page": 5, "url": "https://fnet.bmfbovespa.com.br/fnet/publico/visualizarDocumento?id=1004656", "sha256": "f6c9c009f6170e2b29f074b98522accec73f0c40efbf11f9ec2c8d3f1402616b"}, {"document_id": "993785", "title": "Instrumento Particular de Constituição/Encerramento do Fundo", "reference_date": "2025-03-20", "version": "1", "page": "4-5", "url": "https://fnet.bmfbovespa.com.br/fnet/publico/visualizarDocumento?id=993785", "sha256": "0826e0eae2c51afabf59bbc49fc7647598d03da5ca6de0f9725850a8bd6af457"}, {"document_id": "993785", "title": "Instrumento Particular de Constituição/Encerramento do Fundo", "reference_date": "2025-03-20", "version": "1", "page": 5, "url": "https://fnet.bmfbovespa.com.br/fnet/publico/visualizarDocumento?id=993785", "sha256": "0826e0eae2c51afabf59bbc49fc7647598d03da5ca6de0f9725850a8bd6af457"}], "reference": {"path": "history/60010416000112.json", "criterion_id": "remuneration", "total_count": 3, "preview_count": 3, "full_text_deferred": true, "sha256": "8e2bd813f4c51cf01f6bfaad164bafe69d2bbb192f753eac92da3a01c2e63046"}}</a:t>
            </a:r>
          </a:p>
          <a:p>
            <a:r>
              <a:t>CNPJ 62696791000193 · Remuneração por subclasse e série · Regulamento · ID 1143317 · 20/03/2026 · versão Regulamento — referência 20/03/2026 · p. 33 · Apêndice Sênior, 1.2 e 1.4 · https://fnet.bmfbovespa.com.br/fnet/publico/visualizarDocumento?id=1143317</a:t>
            </a:r>
          </a:p>
          <a:p>
            <a:r>
              <a:t>CNPJ 62696791000193 · Remuneração por subclasse e série · Excerto da fonte:</a:t>
            </a:r>
          </a:p>
          <a:p>
            <a:r>
              <a:t>1.2. As Cotas Seniores poderão ser divididas em séries com valores e prazos diferenciados para amortização, resgate e remuneração, sendo que cada série terá as mesmas características e conf erirá a seus titulares iguais direitos e obrigações nos termos deste Reg ulamento e do Apêndice ref erente a cada emissão/série de Cotas Seniores. 1.2. Benchmark. A Classe buscará atingir, para as Cotas Seniores, o “Benchmark”, correspondente à 100% (cem por cento) da variação positiva do CDI acrescida de 4,5% (quatro inteiros e cinco décimos por cento) ao ano. 1.3. O Benchmark não representa e nem devem ser considerados uma promessa, garantia ou sugestão de rentabilidade aos Cotistas Seniores, por parte da Classe, do Administrador, do Gestor e/ou do Cedente. 1.4. Independentemente do valor do Patrimônio Líquido da Classe, os Cotistas detentores de Cotas Seniores não f arão jus a uma rentabilidade superior ao Benchmark, o qual representará o limite máximo de remuneração possível para as Cotas Seniores. 2. Emissão, Subscrição e Integralização das Cotas 2.1. A Classe poderá emitir múltiplas Séries de Cotas Seniores, ficando ressalvado, no entanto, que cada nova Série de Cotas Seniores a ser emitida pela Classe</a:t>
            </a:r>
          </a:p>
          <a:p>
            <a:r>
              <a:t>CNPJ 62696791000193 · Remuneração por subclasse e série · Regulamento · ID 1143317 · 20/03/2026 · versão Regulamento — referência 20/03/2026 · p. 34 · Apêndice Sênior, 6.2 · https://fnet.bmfbovespa.com.br/fnet/publico/visualizarDocumento?id=1143317</a:t>
            </a:r>
          </a:p>
          <a:p>
            <a:r>
              <a:t>CNPJ 62696791000193 · Remuneração por subclasse e série · Excerto da fonte:</a:t>
            </a:r>
          </a:p>
          <a:p>
            <a:r>
              <a:t>6.2. Em complemento às Amortizações Programadas de Cotas Seniores, os Cotistas Seniores f arão jus, sempre que o Patrimônio Líquido da Classe assim permita e desde que o Valor Unitário das Cotas Seniores esteja superior ao valor de integralização das Cotas Seniores em circulação, a 50% (cinquenta por cento) de qualquer valor que exceder a Amortização das Cotas Subordinadas, conforme prevista no Apêndice da Subclasse Subordinada, a ser paga na Data de Amortização Programada de Cotas Seniores (“Amortização Extraordinária de Cotas Seniores”). 6.3. Os pagamentos das parcelas de Amortização e/ou de resgate das Cotas Seniores serão ef etuados, em moeda corrente nacional, pelo Valor Unitário das Cotas Seniores no dia do pagamento, calculado na forma descrita neste Apêndice e no Anexo I, por meio de depósito em conta de titularidade dos Cotistas titulares BTG Pactual 2 SAC: 0800 772 28 27 - Ouvidoria: 0800 722 00 48 - btgpactual.com</a:t>
            </a:r>
          </a:p>
          <a:p>
            <a:r>
              <a:t>CNPJ 62696791000193 · Remuneração por subclasse e série · Regulamento · ID 1143317 · 20/03/2026 · versão Regulamento — referência 20/03/2026 · p. 37 · Apêndice Júnior, 4.1–4.2 · https://fnet.bmfbovespa.com.br/fnet/publico/visualizarDocumento?id=1143317</a:t>
            </a:r>
          </a:p>
          <a:p>
            <a:r>
              <a:t>CNPJ 62696791000193 · Remuneração por subclasse e série · Excerto da fonte:</a:t>
            </a:r>
          </a:p>
          <a:p>
            <a:r>
              <a:t>4.1. Caso o Patrimônio Líquido da Classe assim permita, as Cotas Subordinadas f arão jus à amortização semestral, no último Dia Útil dos meses de janeiro e julho de cada ano, de valor equivalente ao excedente do valor de integralização das Cotas Subordinadas em circulação, limitado ao percentual de 100% (cem por cento) da variação positiva do CDI acrescida de 4,50% (quatro inteiros e cinco décimos por cento) ao ano, considerando, para tanto a razão entre (i) o valor de integralização das Cotas Subordinadas Júnior em circulação e (ii) o valor de cada uma das Cotas Subordinadas, a ser paga na Data de Amortização Programada de Cotas Seniores (“Amortização das Cotas Subordinadas”). 4.2. Em complemento às Amortizações das Cotas Subordinadas, os Cotistas Subordinados farão jus, sempre que o Patrimônio Líquido da Classe assim permita e desde que o Valor Unitário das Cotas Subordinadas esteja superior ao valor de integralização das Cotas Subordinadas em circulação, a 50% (cinquenta por cento) de qualquer valor que exceder a Amortização das Cotas Subordinadas, a ser paga na Data de Amortização Programada de Cotas Seniores (“Amortização Extraordinária de Cotas Seniores”). 5. Excesso de Subordinação 5.1. Verif icado excesso de subordinação,</a:t>
            </a:r>
          </a:p>
          <a:p>
            <a:r>
              <a:t>CNPJ 62696791000193 · Remuneração por subclasse e série · Condição: Benchmark é regra de atribuição, condicionado ao PL/resultados, sem garantia de rentabilidade. A subclasse mezanino é autorizada, mas não há apêndice mezanino no PDF consolidado obtido.</a:t>
            </a:r>
          </a:p>
          <a:p>
            <a:r>
              <a:t>CNPJ 62696791000193 · Remuneração por subclasse e série · Versão e prevalência: Leitura específica das cláusulas indicadas; condições e conflitos preservados. Seleção documental atual não comprova vigência jurídica por data isolada.</a:t>
            </a:r>
          </a:p>
          <a:p>
            <a:r>
              <a:t>CNPJ 62696791000193 · Remuneração por subclasse e série · Resumo do histórico: {"count": 1, "dates": ["2026-03-27"], "document_count": 1, "sources": [{"document_id": "1148821", "title": "Instrumento Particular de Emissão de Cotas", "reference_date": "2026-03-27", "version": "1", "page": "1-2", "url": "https://fnet.bmfbovespa.com.br/fnet/publico/visualizarDocumento?id=1148821", "sha256": "86900e9dd498403696bfffbd4196443c83ec4d51ff21135e073c1966e1adf4c0"}], "reference": {"path": "history/62696791000193.json", "criterion_id": "remuneration", "total_count": 1, "preview_count": 1, "full_text_deferred": true, "sha256": "0e9ec199848320ec945708123ae0cb6075d76c05d94beed814d582031d353926"}}</a:t>
            </a:r>
          </a:p>
          <a:p>
            <a:r>
              <a:t>CNPJ 55563624000109 · Remuneração por subclasse e série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Remuneração por subclasse e série · Resumo do histórico: {"count": 1, "dates": ["2026-04-30"], "document_count": 1, "sources": [{"document_id": "1192614", "title": "Regulamento", "reference_date": "2026-04-30", "version": "1", "page": "16-17", "url": "https://fnet.bmfbovespa.com.br/fnet/publico/visualizarDocumento?id=1192614", "sha256": "f56e63ace0acde41d2f47fb48f1ac7f3f7df5e2d32de092d7c5e075a52516632"}], "reference": {"path": "history/55563624000109.json", "criterion_id": "remuneration", "total_count": 1, "preview_count": 1, "full_text_deferred": true, "sha256": "7835d573fb58a3c19adf5b8ecc2aee2bdbb9a88f7a0c0209b5f262b64c7522e3"}}</a:t>
            </a:r>
          </a:p>
          <a:p>
            <a:r>
              <a:t>CNPJ 62552447000120 · Remuneração por subclasse e série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Remuneração por subclasse e série · Resumo do histórico: {"count": 1, "dates": ["2025-09-03"], "document_count": 1, "sources": [{"document_id": "988020", "title": "Instrumento Particular de Emissão de Cotas", "reference_date": "2025-09-03", "version": "1", "page": "5-6", "url": "https://fnet.bmfbovespa.com.br/fnet/publico/visualizarDocumento?id=988020", "sha256": "8ecc8a771bb9713d64e5fc2052c489664cb0433801a9280db68e5187d35bf7a5"}], "reference": {"path": "history/62552447000120.json", "criterion_id": "remuneration", "total_count": 1, "preview_count": 1, "full_text_deferred": true, "sha256": "d95db8c0613d67ee84118c734588665265ea6b02f86a0318d6a844cbe1d0f82f"}}</a:t>
            </a:r>
          </a:p>
          <a:p>
            <a:r>
              <a:t>CNPJ 63953620000165 · Remuneração por subclasse e série · Anexo ao Regulamento · ID 1222863 · 2026-06-02 · versão 1 · p. 22 · 1.2 · https://fnet.bmfbovespa.com.br/fnet/publico/visualizarDocumento?id=1222863</a:t>
            </a:r>
          </a:p>
          <a:p>
            <a:r>
              <a:t>CNPJ 63953620000165 · Remuneração por subclasse e série · Excerto da fonte:</a:t>
            </a:r>
          </a:p>
          <a:p>
            <a:r>
              <a:t>1.2. Benchmark Sênior. A Classe buscará atingir, para as Cotas Seniores, o Benchmark Sênior, qual seja, (a) para a parcela  do Patrimônio Líquido alocado em Direitos Creditórios Consignado Privado e/ou Ativos de Liquidez MT, a variação  positiva do CDI acrescida de 1,50% (um inteiro e cinco décimos por cento) ao ano, (b) para a parcela do Patrimônio  Líquido alocado em Ativos de Liquidez e/ou Direitos Creditórios TVM, a variação positiva do CDI.</a:t>
            </a:r>
          </a:p>
          <a:p>
            <a:r>
              <a:t>CNPJ 63953620000165 · Remuneração por subclasse e série · Anexo ao Regulamento · ID 1222863 · 2026-06-02 · versão 1 · p. 22 · 1.5 · https://fnet.bmfbovespa.com.br/fnet/publico/visualizarDocumento?id=1222863</a:t>
            </a:r>
          </a:p>
          <a:p>
            <a:r>
              <a:t>CNPJ 63953620000165 · Remuneração por subclasse e série · Excerto da fonte:</a:t>
            </a:r>
          </a:p>
          <a:p>
            <a:r>
              <a:t>1.5. Rentabilidade Adicional Sênior. Adicionalmente ao Benchmark Sênior, as Cotas Seniores efetivamente integralizadas  farão jus a uma rentabilidade adicional equivalente a 0,38% (trinta e oito centésimos por cento) incidente sobre o  montante financeiro integralizado pelo respectivo Cotista das Cotas Seniores (“Rentabilidade Adicional Sênior”), a  ser paga a cada Cotista Sênior, em uma única parcela, em até 40 (quarenta) dias corridos após a integralização das  respectivas Cotas Seniores, sendo automaticamente ajustada em caso de alteração da alíquota ou da forma de  incidência do IOF, e deixando de ser devida na hipótese de sua extinção.</a:t>
            </a:r>
          </a:p>
          <a:p>
            <a:r>
              <a:t> 2. Emissão, Subscrição e Integralização das Cotas</a:t>
            </a:r>
          </a:p>
          <a:p>
            <a:r>
              <a:t>CNPJ 63953620000165 · Remuneração por subclasse e série · Condição: Documentos atuais selecionados no inventário por categoria/escopo; a data documental isolada não comprova vigência jurídica.</a:t>
            </a:r>
          </a:p>
          <a:p>
            <a:r>
              <a:t>CNPJ 63953620000165 · Remuneração por subclasse e série · Versão e prevalência: Documentos atuais selecionados no inventário por categoria/escopo; a data documental isolada não comprova vigência jurídica.</a:t>
            </a:r>
          </a:p>
          <a:p>
            <a:r>
              <a:t>CNPJ 54871427000194 · Volume, VNU e emissão · Anúncio de Encerramento · ID 798101 · 2024-12-10 · versão 1 · p. 1 · https://fnet.bmfbovespa.com.br/fnet/publico/visualizarDocumento?id=798101</a:t>
            </a:r>
          </a:p>
          <a:p>
            <a:r>
              <a:t>CNPJ 54871427000194 · Volume, VNU e emissão · Excerto da fonte:</a:t>
            </a:r>
          </a:p>
          <a:p>
            <a:r>
              <a:t>Informações da Oferta  Valor Bruto da 2ª Quantidade de Cotas  Preço de Emissão da Cota  Emissão emitidas  R$ 55.000.000,00 55.000 R$ 1.000,00</a:t>
            </a:r>
          </a:p>
          <a:p>
            <a:r>
              <a:t>CNPJ 54871427000194 · Volume, VNU e emissão · Condição: Trechos do documento específico identificado com data mais recente; vigência jurídica não inferida.</a:t>
            </a:r>
          </a:p>
          <a:p>
            <a:r>
              <a:t>CNPJ 54871427000194 · Volume, VNU e emissão · Versão e prevalência: Trechos do documento específico identificado com data mais recente; vigência jurídica não inferida.</a:t>
            </a:r>
          </a:p>
          <a:p>
            <a:r>
              <a:t>CNPJ 54871427000194 · Volume, VNU e emissão · Resumo do histórico: {"count": 5, "dates": ["2024-06-11", "2024-06-13", "2024-12-10"], "document_count": 3, "sources": [{"document_id": "798101", "title": "Anúncio de Encerramento", "reference_date": "2024-12-10", "version": "1", "page": "1-2", "url": "https://fnet.bmfbovespa.com.br/fnet/publico/visualizarDocumento?id=798101", "sha256": "71618c432ad86002484571d66922b873e4fa91ed3543a109134ddee0bd872f20"}, {"document_id": "683482", "title": "AGE", "reference_date": "2024-06-13", "version": "1", "page": 1, "clause": "4.1", "url": "https://fnet.bmfbovespa.com.br/fnet/publico/visualizarDocumento?id=683482", "sha256": "3afbe254027691929935eaf19ebbb8634fb2ccd8e2fbea2cb2d81a7818f8d648"}, {"document_id": "677544", "title": "Anúncio de Encerramento", "reference_date": "2024-06-11", "version": "1", "page": 1, "url": "https://fnet.bmfbovespa.com.br/fnet/publico/visualizarDocumento?id=677544", "sha256": "5735adc30829e0e91623167d4fd602de01adb236e3d3e758bddb0a375c7067b1"}], "reference": {"path": "history/54871427000194.json", "criterion_id": "issue_volume", "total_count": 5, "preview_count": 3, "full_text_deferred": true, "sha256": "35d7cd99be50c7287c9fb675cf4f2e736002315295a225a9efa79c8d9186d874"}}</a:t>
            </a:r>
          </a:p>
          <a:p>
            <a:r>
              <a:t>CNPJ 60010416000112 · Volume, VNU e emissão · AGE · ID 1049114 · 2025-11-26 · versão 1 · p. 2 · https://fnet.bmfbovespa.com.br/fnet/publico/visualizarDocumento?id=1049114</a:t>
            </a:r>
          </a:p>
          <a:p>
            <a:r>
              <a:t>CNPJ 60010416000112 · Volume, VNU e emissão · Excerto da fonte:</a:t>
            </a:r>
          </a:p>
          <a:p>
            <a:r>
              <a:t>Este instrumento constitui o suplemento nº 3 (“Suplemento”) referente à 1ª emissão de cotas da Série B  da Subclasse Sênior da CLASSE ÚNICA DO MT CONSIGNADO PRIVADO I FUNDO DE  INVESTIMENTO EM DIREITOS CREDITÓRIOS RESPONSABILIDADE LIMITADA (“Classe” e  “FUNDO”, respectivamente), administrado pela BTG Pactual Serviços Financeiros S.A. Distribuidora  de Títulos e Valores Mobiliários, instituição com sede no Município do Rio de Janeiro, Estado do Rio de  Janeiro, na Praia de Botafogo, nº 501, 5º andar – parte, inscrita no CNPJ sob o nº 59.281.253/0001-23,  autorizada a funcionar pelo Banco Central do Brasil e autorizada pela Comissão de Valores Mobiliários  (“CVM”) para a atividade de administração de carteiras de valores mobiliários, de acordo com o Ato  Declaratório nº 8.695, de 20 de março de 2006 (“ADMINISTRADOR”), emitidas nos termos do regulamento  do FUNDO, do anexo descritivo da Classe do respectivo apêndice, devidamente registrado perante a CVM  (“Regulamento”, “Anexo da Classe”, “Apêndice” e “Cotas Seniores” respectivamente), a qual terá as  seguintes características:</a:t>
            </a:r>
          </a:p>
          <a:p>
            <a:r>
              <a:t> Número de Emissão, Valor São emitidas no âmbito da 1ª emissão da 3ª Série de Cotas Seniores da  Total da Emissão e Forma Classe, de 2,000,000 (dois milhões) de Cotas da 3ª Série da Subclasse  de Distribuição Sênior da Classe, com valor nominal unitário de R$ 1.000,00 (mil reais)  cada, totalizando o montante de R$ 2.000.000.000,00 (dois bilhões de  reais), as quais serão objeto de colocação privada, destinada ao Público-  Alvo (conforme definido no Anexo da Classe) (“Colocação Privada”).</a:t>
            </a:r>
          </a:p>
          <a:p>
            <a:r>
              <a:t> Valor Unitário de Emissão As Cotas Seniores da 3ª Série terão um valor unitário de R$ 1.000,00 (mil  reais) na respectiva Data de Emissão.</a:t>
            </a:r>
          </a:p>
          <a:p>
            <a:r>
              <a:t> Data de Emissão Data da 1ª Integralização.</a:t>
            </a:r>
          </a:p>
          <a:p>
            <a:r>
              <a:t> Valor Unitário de As Cotas Seniores da 3ª Série serão subscritas pelo Valor Unitário de  Integralização Emissão, e serão integralizadas pelo respectivo Valor Unitário, nos  termos do Regulamento, do Apêndice e deste Suplemento, sendo certo  que, nas emissões de novas Cotas Seniores da 3ª Série que não difiram,  em sua respectiva Subclasse, das Cotas Seniores da 3ª Série então em  circulação, o Valor Unitário de Integralização corresponderá ao Valor  Unitário da Cota apurado no Dia Útil em que os recursos aportados pelo  Cotista tornem-se efetivamente disponíveis à Classe.</a:t>
            </a:r>
          </a:p>
          <a:p>
            <a:r>
              <a:t> Investimento Mínimo por Não há  Investidor  Forma de Subscrição e As Cotas Seniores da 3ª Série deverão ser integralizadas, à vista, em  Integralização moeda corrente nacional, pelo Valor Unitário de Integralização, no ato de  subscrição.</a:t>
            </a:r>
          </a:p>
          <a:p>
            <a:r>
              <a:t> Ao subscrever Cotas Seniores da 3ª Série, cada Investidor deverá  assinar o Termo de Adesão, no qual confirmará, dentre outros, ter  conhecimento de todos os termos e condições do Fundo e do</a:t>
            </a:r>
          </a:p>
          <a:p>
            <a:r>
              <a:t>CNPJ 60010416000112 · Volume, VNU e emissão · Condição: Trechos do documento específico identificado com data mais recente; vigência jurídica não inferida.</a:t>
            </a:r>
          </a:p>
          <a:p>
            <a:r>
              <a:t>CNPJ 60010416000112 · Volume, VNU e emissão · Motivo: Cláusula primária localizada e citada, mas sua lista/condições extensas não admitem uma síntese literal curta confirmada. O trecho integral permanece nas fontes. A resposta da revisão anterior foi preservada no histórico, sem confirmação pelo documento atual.</a:t>
            </a:r>
          </a:p>
          <a:p>
            <a:r>
              <a:t>CNPJ 60010416000112 · Volume, VNU e emissão · Versão e prevalência: Trechos do documento específico identificado com data mais recente; vigência jurídica não inferida.</a:t>
            </a:r>
          </a:p>
          <a:p>
            <a:r>
              <a:t>CNPJ 60010416000112 · Volume, VNU e emissão · Resumo do histórico: {"count": 3, "dates": ["2025-03-20", "2025-05-12"], "document_count": 2, "sources": [{"document_id": "1004656", "title": "AGE", "reference_date": "2025-05-12", "version": "1", "page": 4, "url": "https://fnet.bmfbovespa.com.br/fnet/publico/visualizarDocumento?id=1004656", "sha256": "f6c9c009f6170e2b29f074b98522accec73f0c40efbf11f9ec2c8d3f1402616b"}, {"document_id": "993785", "title": "Instrumento Particular de Constituição/Encerramento do Fundo", "reference_date": "2025-03-20", "version": "1", "page": "2", "url": "https://fnet.bmfbovespa.com.br/fnet/publico/visualizarDocumento?id=993785", "sha256": "0826e0eae2c51afabf59bbc49fc7647598d03da5ca6de0f9725850a8bd6af457"}, {"document_id": "993785", "title": "Instrumento Particular de Constituição/Encerramento do Fundo", "reference_date": "2025-03-20", "version": "1", "page": 2, "url": "https://fnet.bmfbovespa.com.br/fnet/publico/visualizarDocumento?id=993785", "sha256": "0826e0eae2c51afabf59bbc49fc7647598d03da5ca6de0f9725850a8bd6af457"}], "reference": {"path": "history/60010416000112.json", "criterion_id": "issue_volume", "total_count": 3, "preview_count": 3, "full_text_deferred": true, "sha256": "8e2bd813f4c51cf01f6bfaad164bafe69d2bbb192f753eac92da3a01c2e63046"}}</a:t>
            </a:r>
          </a:p>
          <a:p>
            <a:r>
              <a:t>CNPJ 62696791000193 · Volume, VNU e emissão · Instrumento Particular de Emissão de Cotas · ID 1148821 · 27/03/2026 · versão Instrumento Particular de Emissão de Cotas — referência 27/03/2026 · p. 1 · Deliberação Conjunta, item1 · https://fnet.bmfbovespa.com.br/fnet/publico/visualizarDocumento?id=1148821</a:t>
            </a:r>
          </a:p>
          <a:p>
            <a:r>
              <a:t>CNPJ 62696791000193 · Volume, VNU e emissão · Excerto da fonte:</a:t>
            </a:r>
          </a:p>
          <a:p>
            <a:r>
              <a:t>1. Aprovar a 2ª (segunda) emissão da Subclasse Subordinada Júnior da Classe, composta por até 20.000 (vinte mil) Cotas Subordinadas Júnior, com valor nominal unitário de R$ 1.000,00 (mil reais), perfazendo o montante total de R$ 20.000.000,00 (vinte milhões de reais), as quais serão objeto de colocação privada, de acordo com os termos e condições definidos no Apêndice da Subclasse Subordinada Júnior constante do Anexo I Regulamento e descritas abaixo (“2ª Emissão da Subclasse Subordinada Júnior”): a) Rito: as Cotas Subordinadas Júnior objeto da 2ª Emissão da Subclasse Subordinada Júnior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Subordinada Júnior na data de integralização, calculado na forma prevista no respectivo Apêndice; BTG Pactual 1 SAC: 0800 772 28 27 - Ouvidoria: 0800 722 00 48 - btgpactual.com</a:t>
            </a:r>
          </a:p>
          <a:p>
            <a:r>
              <a:t>CNPJ 62696791000193 · Volume, VNU e emissão · Instrumento Particular de Emissão de Cotas · ID 1148821 · 27/03/2026 · versão Instrumento Particular de Emissão de Cotas — referência 27/03/2026 · p. 2 · Deliberação Conjunta, item2 · https://fnet.bmfbovespa.com.br/fnet/publico/visualizarDocumento?id=1148821</a:t>
            </a:r>
          </a:p>
          <a:p>
            <a:r>
              <a:t>CNPJ 62696791000193 · Volume, VNU e emissão · Excerto da fonte:</a:t>
            </a:r>
          </a:p>
          <a:p>
            <a:r>
              <a:t>2. Aprovar a 2ª (segunda) emissão da Subclasse Sênior da Classe, composta por até 150.000 (cento e cinquenta mil) Cotas Seniores, com valor nominal unitário de R$ 1.000,00 (mil reais), perfazendo o montante total de R$ 150.000.000,00 (cento e cinquenta milhões de reais), as quais serão objeto de colocação privada, de acordo com os termos e condições descritos no Apêndice da Subclasse Sênior constante do Anexo I Regulamento e descritas abaixo (“2ª Emissão da Subclasse Sênior”): a) Rito: as Cotas Seniores objeto da 2ª Emissão da Subclasse Sênior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Sênior na data de integralização, calculado na forma prevista no respectivo Apêndice; d) Forma de Integralização: as Cotas Seniores serão integralizadas mediante chamadas de capital, junto ao seu respectivo agente de custódia e/ou da Administradora na qualidade de escriturador das cotas, nos termos d</a:t>
            </a:r>
          </a:p>
          <a:p>
            <a:r>
              <a:t>CNPJ 62696791000193 · Volume, VNU e emissão · Condição: Volumes autorizados de emissão não comprovam captação ou integralização observada.</a:t>
            </a:r>
          </a:p>
          <a:p>
            <a:r>
              <a:t>CNPJ 62696791000193 · Volume, VNU e emissão · Versão e prevalência: Leitura específica das cláusulas indicadas; condições e conflitos preservados. Seleção documental atual não comprova vigência jurídica por data isolada.</a:t>
            </a:r>
          </a:p>
          <a:p>
            <a:r>
              <a:t>CNPJ 62696791000193 · Volume, VNU e emissão · Resumo do histórico: {"count": 2, "dates": ["2026-03-20", "2026-03-27"], "document_count": 2, "sources": [{"document_id": "1148821", "title": "Instrumento Particular de Emissão de Cotas", "reference_date": "2026-03-27", "version": "1", "page": "1-2", "url": "https://fnet.bmfbovespa.com.br/fnet/publico/visualizarDocumento?id=1148821", "sha256": "86900e9dd498403696bfffbd4196443c83ec4d51ff21135e073c1966e1adf4c0"}, {"document_id": "1143317", "title": "Regulamento", "reference_date": "2026-03-20", "version": "1", "page": 23, "clause": "11.3", "url": "https://fnet.bmfbovespa.com.br/fnet/publico/visualizarDocumento?id=1143317", "sha256": "32f62818d51c3ebeaf9ec012d3d7867f15c1aed6d10f0867c157a290df1cea48"}], "reference": {"path": "history/62696791000193.json", "criterion_id": "issue_volume", "total_count": 2, "preview_count": 2, "full_text_deferred": true, "sha256": "0e9ec199848320ec945708123ae0cb6075d76c05d94beed814d582031d353926"}}</a:t>
            </a:r>
          </a:p>
          <a:p>
            <a:r>
              <a:t>CNPJ 55563624000109 · Volume, VNU e emissão · Regulamento · ID 1192614 · 2026-04-30 · versão 1 · p. 17 · 5.13.2 · https://fnet.bmfbovespa.com.br/fnet/publico/visualizarDocumento?id=1192614</a:t>
            </a:r>
          </a:p>
          <a:p>
            <a:r>
              <a:t>CNPJ 55563624000109 · Volume, VNU e emissão · Excerto da fonte:</a:t>
            </a:r>
          </a:p>
          <a:p>
            <a:r>
              <a:t>5.13.2 Caso um Cotista do Fundo pretenda transferir suas Cotas para terceiros (“Cotista Vendedor”), deverá  notificar previamente o GESTOR, via e-mail, manifestando sua proposta de alienação de Cotas, a qual  deve incluir o interessado na aquisição e a quantidade de Cotas a serem alienadas e o preço para tal  alienação (“Proposta de Venda”). O GESTOR deverá manifestar aprovação para alienação das Cotas  objeto da Proposta de Venda (“Cotas Objeto”) em até 5 (cinco) Dias Úteis, observado que a ausência de  aprovação deverá ser entendida como aprovação tácita à alienação das Cotas Objeto.</a:t>
            </a:r>
          </a:p>
          <a:p>
            <a:r>
              <a:t>CNPJ 55563624000109 · Volume, VNU e emissão · Regulamento · ID 1192614 · 2026-04-30 · versão 1 · p. 39 · https://fnet.bmfbovespa.com.br/fnet/publico/visualizarDocumento?id=1192614</a:t>
            </a:r>
          </a:p>
          <a:p>
            <a:r>
              <a:t>CNPJ 55563624000109 · Volume, VNU e emissão · Excerto da fonte:</a:t>
            </a:r>
          </a:p>
          <a:p>
            <a:r>
              <a:t>(xxi) Ausência de propriedade direta dos ativos. Os direitos dos Cotistas serão exercidos sobre  todos os ativos da Carteira de modo não individualizado, proporcionalmente à quantidade de Cotas  detidas por cada um. Portanto, os Cotistas não terão qualquer direito de propriedade direta sobre as  Cotas da Classe Investida e os Ativos Financeiros de Liquidez integrantes da Carteira, ou mesmo sobre  os direitos creditórios e os ativos financeiros de liquidez integrantes da carteira da Classe Investida.</a:t>
            </a:r>
          </a:p>
          <a:p>
            <a:r>
              <a:t>CNPJ 55563624000109 · Volume, VNU e emissão · Condição: Documentos atuais selecionados no inventário por categoria/escopo; a data documental isolada não comprova vigência jurídica.</a:t>
            </a:r>
          </a:p>
          <a:p>
            <a:r>
              <a:t>CNPJ 55563624000109 · Volume, VNU e emissão · Versão e prevalência: Documentos atuais selecionados no inventário por categoria/escopo; a data documental isolada não comprova vigência jurídica.</a:t>
            </a:r>
          </a:p>
          <a:p>
            <a:r>
              <a:t>CNPJ 55563624000109 · Volume, VNU e emissão · Resumo do histórico: {"count": 3, "dates": ["2024-12-30", "2025-01-31", "2026-01-31"], "document_count": 3, "sources": [{"document_id": "1178840", "title": "Demonstrações Financeiras", "reference_date": "2026-01-31", "version": "1", "page": 25, "url": "https://fnet.bmfbovespa.com.br/fnet/publico/visualizarDocumento?id=1178840", "sha256": "c458e98664c5c907ddb5a05a94b120bed4e05295b2bfc420f5ba69af0a229abe"}, {"document_id": "891861", "title": "Demonstrações Financeiras", "reference_date": "2025-01-31", "version": "1", "page": 26, "url": "https://fnet.bmfbovespa.com.br/fnet/publico/visualizarDocumento?id=891861", "sha256": "e9cb9e6ddbe505fe068cfcac33605165a98313489de0d3ce6d4d238263c3f3e7"}, {"document_id": "811323", "title": "Anúncio de Encerramento", "reference_date": "2024-12-30", "version": "1", "page": 1, "url": "https://fnet.bmfbovespa.com.br/fnet/publico/visualizarDocumento?id=811323", "sha256": "ebc6bc661be5189acffb3c3e352de2aea0a8ca8431011d1237e1ae19da4f9c79"}], "reference": {"path": "history/55563624000109.json", "criterion_id": "issue_volume", "total_count": 3, "preview_count": 3, "full_text_deferred": true, "sha256": "7835d573fb58a3c19adf5b8ecc2aee2bdbb9a88f7a0c0209b5f262b64c7522e3"}}</a:t>
            </a:r>
          </a:p>
          <a:p>
            <a:r>
              <a:t>CNPJ 62552447000120 · Volume, VNU e emissão · AGE · ID 1315103 · 2026-09-08 · versão 1 · p. 1 · https://fnet.bmfbovespa.com.br/fnet/publico/visualizarDocumento?id=1315103</a:t>
            </a:r>
          </a:p>
          <a:p>
            <a:r>
              <a:t>CNPJ 62552447000120 · Volume, VNU e emissão · Excerto da fonte:</a:t>
            </a:r>
          </a:p>
          <a:p>
            <a:r>
              <a:t>a) Rito: as cotas objeto da Segunda Emissão não estão sujeitas a regulamentação  de oferta de valores mobiliários, conforme facultado pelo Art. 8º, inciso II, da  Resolução CVM nº 160, de 13 de julho de 2022;</a:t>
            </a:r>
          </a:p>
          <a:p>
            <a:r>
              <a:t> b) Preço de Emissão: R$ 1.000,00 (mil reais);</a:t>
            </a:r>
          </a:p>
          <a:p>
            <a:r>
              <a:t> c) Quantidade de Cotas: 10.000 (dez mil) Cotas;</a:t>
            </a:r>
          </a:p>
          <a:p>
            <a:r>
              <a:t> d) Preço de Integralização: será o valor da Cota vigente na data de integralização,  nos termos do respectivo boletim de subscrição;</a:t>
            </a:r>
          </a:p>
          <a:p>
            <a:r>
              <a:t> e) Forma de Integralização: as Cotas serão integralizadas à vista, em moeda  corrente nacional, junto ao seu respectivo agente de custódia e/ou da  Administradora na qualidade de escriturador das cotas;</a:t>
            </a:r>
          </a:p>
          <a:p>
            <a:r>
              <a:t> f) Período de colocação: a subscrição das Cotas, objeto da Segunda Emissão,  deverão ser realizadas no prazo máximo de 180 (cento e oitenta) dias, contados  da data de efeitos do presente instrumento.</a:t>
            </a:r>
          </a:p>
          <a:p>
            <a:r>
              <a:t>CNPJ 62552447000120 · Volume, VNU e emissão · Condição: Trechos do documento específico identificado com data mais recente; vigência jurídica não inferida.</a:t>
            </a:r>
          </a:p>
          <a:p>
            <a:r>
              <a:t>CNPJ 62552447000120 · Volume, VNU e emissão · Versão e prevalência: Trechos do documento específico identificado com data mais recente; vigência jurídica não inferida.</a:t>
            </a:r>
          </a:p>
          <a:p>
            <a:r>
              <a:t>CNPJ 62552447000120 · Volume, VNU e emissão · Resumo do histórico: {"count": 2, "dates": ["2025-09-03"], "document_count": 1, "sources": [{"document_id": "988020", "title": "Instrumento Particular de Emissão de Cotas", "reference_date": "2025-09-03", "version": "1", "page": "5", "url": "https://fnet.bmfbovespa.com.br/fnet/publico/visualizarDocumento?id=988020", "sha256": "8ecc8a771bb9713d64e5fc2052c489664cb0433801a9280db68e5187d35bf7a5"}, {"document_id": "988020", "title": "Instrumento Particular de Emissão de Cotas", "reference_date": "2025-09-03", "version": "1", "page": 2, "url": "https://fnet.bmfbovespa.com.br/fnet/publico/visualizarDocumento?id=988020", "sha256": "8ecc8a771bb9713d64e5fc2052c489664cb0433801a9280db68e5187d35bf7a5"}], "reference": {"path": "history/62552447000120.json", "criterion_id": "issue_volume", "total_count": 2, "preview_count": 2, "full_text_deferred": true, "sha256": "d95db8c0613d67ee84118c734588665265ea6b02f86a0318d6a844cbe1d0f82f"}}</a:t>
            </a:r>
          </a:p>
          <a:p>
            <a:r>
              <a:t>CNPJ 63953620000165 · Volume, VNU e emissão · Demonstrações Financeiras - Fusão, cisão e incorporação · ID 1327859 · 2026-05-15 · versão 1 · p. 31 · 15.000.000 · https://fnet.bmfbovespa.com.br/fnet/publico/visualizarDocumento?id=1327859</a:t>
            </a:r>
          </a:p>
          <a:p>
            <a:r>
              <a:t>CNPJ 63953620000165 · Volume, VNU e emissão · Excerto da fonte:</a:t>
            </a:r>
          </a:p>
          <a:p>
            <a:r>
              <a:t>15.000.000 (quinze bilhões de reais), , a serem objeto de colocação privada, nos termos  do Regulamento, da Resolução CVM 175 e do respectivo boletim de subscrição nos  seguintes termos:</a:t>
            </a:r>
          </a:p>
          <a:p>
            <a:r>
              <a:t> a. Montante Total da Colocação Privada: R$ 15.000.000 (quinze bilhões de  reais)  b. Quantidade de Cotas: 15.000.000 (quinze milhões) de Cotas Seniores;</a:t>
            </a:r>
          </a:p>
          <a:p>
            <a:r>
              <a:t> c. Preço de Emissão (Valor Unitário): R$ 1 (mil reais);</a:t>
            </a:r>
          </a:p>
          <a:p>
            <a:r>
              <a:t> d. Forma e Preço de Integralização: as Cotas serão integralizadas na forma  prevista no Boletim de Subscrição;</a:t>
            </a:r>
          </a:p>
          <a:p>
            <a:r>
              <a:t> e. Prazo da Colocação Privada: as Cotas serão colocadas em até 180 (cento e  oitenta) dias da data deste IPA.</a:t>
            </a:r>
          </a:p>
          <a:p>
            <a:r>
              <a:t>CNPJ 63953620000165 · Volume, VNU e emissão · Demonstrações Financeiras - Fusão, cisão e incorporação · ID 1327859 · 2026-05-15 · versão 1 · p. 31 · https://fnet.bmfbovespa.com.br/fnet/publico/visualizarDocumento?id=1327859</a:t>
            </a:r>
          </a:p>
          <a:p>
            <a:r>
              <a:t>CNPJ 63953620000165 · Volume, VNU e emissão · Excerto da fonte:</a:t>
            </a:r>
          </a:p>
          <a:p>
            <a:r>
              <a:t>Em Instrumento Particular de Alteração do MT Global Fundo de Investimento em Direitos  Creditórios, realizada em 08 de janeiro de 2026, foram deliberadas as seguintes matérias:</a:t>
            </a:r>
          </a:p>
          <a:p>
            <a:r>
              <a:t>(i) Alterar regulamento vigente da classe em relação aos itens 4.17.1, 6.8 e o Capítulo 13,</a:t>
            </a:r>
          </a:p>
          <a:p>
            <a:r>
              <a:t> (b) incluir o item 3.1, 8.1.(ii), 8.2, 8.2.1, e 10.2.(xvii); e (c) excluir os itens 6.8.1, 6.8.2,</a:t>
            </a:r>
          </a:p>
          <a:p>
            <a:r>
              <a:t>(ii) Aprovar a 1ª (primeira) emissão de cotas seniores das Classes (“Cotas Seniores”), em  sistema de vasos comunicantes entre as Classes, de forma que a quantidade de Cotas  Seniores integralizadas em uma das Classes será deduzida da quantidade de Cotas  Seniores disponíveis para integralização nas demais Classes, no montante total de R$</a:t>
            </a:r>
          </a:p>
          <a:p>
            <a:r>
              <a:t>CNPJ 63953620000165 · Volume, VNU e emissão · Demonstrações Financeiras - Fusão, cisão e incorporação · ID 1327859 · 2026-05-15 · versão 1 · p. 32 · https://fnet.bmfbovespa.com.br/fnet/publico/visualizarDocumento?id=1327859</a:t>
            </a:r>
          </a:p>
          <a:p>
            <a:r>
              <a:t>CNPJ 63953620000165 · Volume, VNU e emissão · Excerto da fonte:</a:t>
            </a:r>
          </a:p>
          <a:p>
            <a:r>
              <a:t>f. Montante Total da Colocação Privada: R$ 7.000 (sete milhões de reais);</a:t>
            </a:r>
          </a:p>
          <a:p>
            <a:r>
              <a:t> g. Quantidade de Cotas: 7.000 (sete mil) de Cotas Subordinadas CP  h. Preço de Emissão (Valor Unitário): R$ 1 (mil reais);</a:t>
            </a:r>
          </a:p>
          <a:p>
            <a:r>
              <a:t> i. Forma e Preço de Integralização: as Cotas serão integralizadas na forma  prevista no Boletim de Subscrição;</a:t>
            </a:r>
          </a:p>
          <a:p>
            <a:r>
              <a:t> j. Prazo da Colocação Privada: as Cotas serão colocadas em até 180 (cento e  oitenta) dias da data deste IPA.</a:t>
            </a:r>
          </a:p>
          <a:p>
            <a:r>
              <a:t>CNPJ 63953620000165 · Volume, VNU e emissão · Condição: Trechos do documento específico identificado com data mais recente; vigência jurídica não inferida.</a:t>
            </a:r>
          </a:p>
          <a:p>
            <a:r>
              <a:t>CNPJ 63953620000165 · Volume, VNU e emissão · Versão e prevalência: Trechos do documento específico identificado com data mais recente; vigência jurídica não inferida.</a:t>
            </a:r>
          </a:p>
          <a:p>
            <a:r>
              <a:t>CNPJ 63953620000165 · Volume, VNU e emissão · Resumo do histórico: {"count": 8, "dates": ["2026-04-16", "2026-04-28", "2026-05-08"], "document_count": 3, "sources": [{"document_id": "1298691", "title": "Demonstrações Financeiras - Fusão, cisão e incorporação", "reference_date": "2026-05-08", "version": "1", "page": 32, "url": "https://fnet.bmfbovespa.com.br/fnet/publico/visualizarDocumento?id=1298691", "sha256": "58c570d9b8d4d265330d3db3ea81c435b8e44a6dab4002aa37790652a1ee9819"}, {"document_id": "1282180", "title": "Demonstrações Financeiras - Fusão, cisão e incorporação", "reference_date": "2026-04-28", "version": "1", "page": 32, "clause": "15.000.000", "url": "https://fnet.bmfbovespa.com.br/fnet/publico/visualizarDocumento?id=1282180", "sha256": "afaaa0e6809be4385e5bdb6c911aac582032c5bdbac3d7750234bf9eaf00438a"}, {"document_id": "1282179", "title": "Demonstrações Financeiras - Fusão, cisão e incorporação", "reference_date": "2026-04-16", "version": "1", "page": 32, "clause": "15.000.000", "url": "https://fnet.bmfbovespa.com.br/fnet/publico/visualizarDocumento?id=1282179", "sha256": "beb67afbcd64169019477673fd3b7c1edbfabbd9db07379388d8cdd5d3fc9395"}], "reference": {"path": "history/63953620000165.json", "criterion_id": "issue_volume", "total_count": 8, "preview_count": 3, "full_text_deferred": true, "sha256": "a7b89077f5e21098c2d601c303faabc3ff6b9729f89d8afecdc60fe1404720c1"}}</a:t>
            </a:r>
          </a:p>
          <a:p>
            <a:r>
              <a:t>CNPJ 54871427000194 · Administração: taxa, base e mínimo · Regulamento · ID 670691 · 28/04/2024 · versão Regulamento — referência 28/04/2024 · p. 25 · Anexo I, 13.1 · https://fnet.bmfbovespa.com.br/fnet/publico/visualizarDocumento?id=670691</a:t>
            </a:r>
          </a:p>
          <a:p>
            <a:r>
              <a:t>CNPJ 54871427000194 · Administração: taxa, base e mínimo · Excerto da fonte:</a:t>
            </a:r>
          </a:p>
          <a:p>
            <a:r>
              <a:t>13.1 Pelos serviços de administração, tesouraria, controladoria e escrituração, a Classe pagará a Taxa de Administração nos seguintes moldes: o valor correspondente a 0,10% (dez centésimos por cento) ao ano aplicado sobre o Patrimônio Líquido, observado o valor mínimo de R$ 10.000,00 (dez mil reais) mensais atualizado pela variação positiva do IGP-M a cada período de 12 (doze) meses, contados a partir do mês em que ocorrer a primeira integralização de Cotas (inclusive). 13.1.1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BTG Pactual SAC: 0800 772 28 27 - Ouvidoria: 0800 722 00 48 - btgpactual.com 19</a:t>
            </a:r>
          </a:p>
          <a:p>
            <a:r>
              <a:t>CNPJ 54871427000194 · Administração: taxa, base e mínimo · Regulamento · ID 670691 · 28/04/2024 · versão Regulamento — referência 28/04/2024 · p. 26 · Anexo I, 13.1.2–13.1.3 · https://fnet.bmfbovespa.com.br/fnet/publico/visualizarDocumento?id=670691</a:t>
            </a:r>
          </a:p>
          <a:p>
            <a:r>
              <a:t>CNPJ 54871427000194 · Administração: taxa, base e mínimo · Excerto da fonte:</a:t>
            </a:r>
          </a:p>
          <a:p>
            <a:r>
              <a:t>13.1.2 A Taxa de Administração será calculada e provisionada todo Dia Útil à razão de 1/252 (um inteiro e duzentos e cinquenta e dois avos) com base no valor do Patrimônio Líquido do Dia Útil anterior. 13.1.3 A Taxa de Administração será paga mensalmente ao ADMINISTRADOR, observado o disposto no item 13.2 abaixo, por período vencido, até o 5º (quinto) Dia Útil do mês subsequente à prestação dos serviços, a partir do mês em que ocorrer a primeira integralização de Cotas da Classe. 13.2 O ADMINISTRADOR poderá estabelecer que parcelas da Taxa de Administração sejam pagas diretamente pela Classe aos prestadores de serviços contratados, desde que o somatório dessas parcelas não exceda o montante total da Taxa de Administração. 13.3 Não serão cobradas da Classe ou dos Cotistas taxas de perf ormance, de ingresso ou de saída. Taxa de Gestão 13.4 Pelos serviços de gestão, a Classe pagará a Taxa de Gestão nos seguintes moldes: o valor correspondente a 0,20% (vinte centésimos por cento) ao ano aplicado sobre o Patrimônio Líquido, observado o valor mínimo de R$ 15.000,00 (quinze mil reais) mensais atualizado pela variação positiva do IGP-M a cada período de 12 (</a:t>
            </a:r>
          </a:p>
          <a:p>
            <a:r>
              <a:t>CNPJ 54871427000194 · Administração: taxa, base e mínimo · Versão e prevalência: Leitura específica das cláusulas indicadas; condições e conflitos preservados. Seleção documental atual não comprova vigência jurídica por data isolada.</a:t>
            </a:r>
          </a:p>
          <a:p>
            <a:r>
              <a:t>CNPJ 54871427000194 · Administração: taxa, base e mínimo · Resumo do histórico: {"count": 2, "dates": ["2024-04-19", "2024-04-28"], "document_count": 2, "sources": [{"document_id": "670691", "title": "Regulamento", "reference_date": "2024-04-28", "version": "1", "page": "25-26", "url": "https://fnet.bmfbovespa.com.br/fnet/publico/visualizarDocumento?id=670691", "sha256": "bf16dd7f1a62d5cdbf2e2d54fef81783783f7310fbc99c3a8f00459bdf9d037b"}, {"document_id": "670689", "title": "Regulamento", "reference_date": "2024-04-19", "version": "1", "page": 26, "clause": "13.1", "url": "https://fnet.bmfbovespa.com.br/fnet/publico/visualizarDocumento?id=670689", "sha256": "891bc9bc5d87bbc02ec139077a84d2702eb81ea02035fb71d24f5b8366b94a0b"}], "reference": {"path": "history/54871427000194.json", "criterion_id": "admin_fee", "total_count": 2, "preview_count": 2, "full_text_deferred": true, "sha256": "35d7cd99be50c7287c9fb675cf4f2e736002315295a225a9efa79c8d9186d874"}}</a:t>
            </a:r>
          </a:p>
          <a:p>
            <a:r>
              <a:t>CNPJ 60010416000112 · Administração: taxa, base e mínimo · Regulamento · ID 1051393 · 09/10/2025 · versão Regulamento09/10/2025 · p. 29 · AnexoI12.1–12.1.2 · https://fnet.bmfbovespa.com.br/fnet/publico/visualizarDocumento?id=1051393</a:t>
            </a:r>
          </a:p>
          <a:p>
            <a:r>
              <a:t>CNPJ 60010416000112 · Administração: taxa, base e mínimo · Excerto da fonte:</a:t>
            </a:r>
          </a:p>
          <a:p>
            <a:r>
              <a:t>12.1 Pelos serviços de administração, escrituração, controladoria de ativos e passivo, e gestão de carteira, o Administrador fará jus a uma Taxa de Administração equivalente a 0,40% (quarenta centésimos por cento) por ano sobre o Patrimônio Líquido da Classe, a ser pago mensalmente, por período vencido da data em que ocorrer a primeira integralização de Cotas da Classe A, até o 5º (quinto) Dia Útil do mês subsequente ao da prestação do serviço, assegurado um valor mínimo mensal de R$ 20.000,00 (vinte mil reais), sendo este valor atualizado pela variação positiva do IPCA sempre em janeiro de cada ano,</a:t>
            </a:r>
          </a:p>
          <a:p>
            <a:r>
              <a:t>CNPJ 60010416000112 · Administração: taxa, base e mínimo · Versão e prevalência: Leitura específica das cláusulas indicadas; condições e conflitos preservados. Seleção documental atual não comprova vigência jurídica por data isolada.</a:t>
            </a:r>
          </a:p>
          <a:p>
            <a:r>
              <a:t>CNPJ 60010416000112 · Administração: taxa, base e mínimo · Resumo do histórico: {"count": 2, "dates": ["2025-03-20", "2025-10-09"], "document_count": 2, "sources": [{"document_id": "1051393", "title": "Regulamento", "reference_date": "2025-10-09", "version": "1", "page": "29", "url": "https://fnet.bmfbovespa.com.br/fnet/publico/visualizarDocumento?id=1051393", "sha256": "8469d613078ffd5a6c1d217885d8a397a16342c0b937ae4aa24b106505f233ae"}, {"document_id": "993786", "title": "Regulamento", "reference_date": "2025-03-20", "version": "1", "page": 29, "clause": "12.1", "url": "https://fnet.bmfbovespa.com.br/fnet/publico/visualizarDocumento?id=993786", "sha256": "fd0fdd369a195510d81f81f505195a0b09e5f43522a990afa7d58c4f872921c8"}], "reference": {"path": "history/60010416000112.json", "criterion_id": "admin_fee", "total_count": 2, "preview_count": 2, "full_text_deferred": true, "sha256": "8e2bd813f4c51cf01f6bfaad164bafe69d2bbb192f753eac92da3a01c2e63046"}}</a:t>
            </a:r>
          </a:p>
          <a:p>
            <a:r>
              <a:t>CNPJ 62696791000193 · Administração: taxa, base e mínimo · Regulamento · ID 1143317 · 20/03/2026 · versão Regulamento — referência 20/03/2026 · p. 28 · Anexo I, 13.1, Taxa de Administração · https://fnet.bmfbovespa.com.br/fnet/publico/visualizarDocumento?id=1143317</a:t>
            </a:r>
          </a:p>
          <a:p>
            <a:r>
              <a:t>CNPJ 62696791000193 · Administração: taxa, base e mínimo · Excerto da fonte:</a:t>
            </a:r>
          </a:p>
          <a:p>
            <a:r>
              <a:t>Taxa de Administração 0,10% (um décimo por cento) ao ano com um mínimo mensal de R$ 10.000,00 (dez mil reais), pagos mensalmente até o 5º (quinto) Dia Útil do mês subsequente ao mês que se ref ere, a ser corrigida anualmente, em janeiro de cada ano, pela variação positiva do Índice Geral de Preços – Mercado, divulgado pela Fundação Getúlio Vargas (“Taxa de Administração” e “IGP-M”, respectivamente).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T</a:t>
            </a:r>
          </a:p>
          <a:p>
            <a:r>
              <a:t>CNPJ 62696791000193 · Administração: taxa, base e mínimo · Condição: A linha da tabela não explicita novamente a base de PL para administração; conservar essa limitação em vez de completar a frase por analogia.</a:t>
            </a:r>
          </a:p>
          <a:p>
            <a:r>
              <a:t>CNPJ 62696791000193 · Administração: taxa, base e mínimo · Motivo: Não localizada uma cláusula material para este critério nos textos identificados e processados. A ausência de resultado não comprova inexistência da regra.</a:t>
            </a:r>
          </a:p>
          <a:p>
            <a:r>
              <a:t>CNPJ 62696791000193 · Administração: taxa, base e mínimo · Versão e prevalência: Leitura específica das cláusulas indicadas; condições e conflitos preservados. Seleção documental atual não comprova vigência jurídica por data isolada.</a:t>
            </a:r>
          </a:p>
          <a:p>
            <a:r>
              <a:t>CNPJ 55563624000109 · Administração: taxa, base e mínimo · Regulamento · ID 1192614 · 30/04/2026 · versão Regulamento30/04/2026 · p. 28 · AnexoI13.1–13.2 · https://fnet.bmfbovespa.com.br/fnet/publico/visualizarDocumento?id=1192614</a:t>
            </a:r>
          </a:p>
          <a:p>
            <a:r>
              <a:t>CNPJ 55563624000109 · Administração: taxa, base e mínimo · Excerto da fonte:</a:t>
            </a:r>
          </a:p>
          <a:p>
            <a:r>
              <a:t>13.1 Sem prejuízo da Taxa Máxima de Administração, pelos serviços de administração do FUNDO e da Classe, tesouraria, controle e processamento dos ativos integrantes da Carteira, a Classe pagará, no mínimo, ao ADMINISTRADOR a Taxa Mínima de Administração nos seguintes moldes: o valor correspondente a R$ 10.000,00 (dez mil reais) mensais, atualizado pela variação positiva do IGP-M, no mês de janeiro de cada ano (“Taxa Mínima de Administração”). 13.1.1 Na hipótese de extinção do IGP-M, não divulgação ou impossibilidade de sua utilização, será utilizado o</a:t>
            </a:r>
          </a:p>
          <a:p>
            <a:r>
              <a:t>CNPJ 55563624000109 · Administração: taxa, base e mínimo · Condição: A base do adicional é PL do Mercado Crédito II; não é teto 0, 10% sobre PLGN e não substitui mínimo R$ 10 mil.</a:t>
            </a:r>
          </a:p>
          <a:p>
            <a:r>
              <a:t>CNPJ 55563624000109 · Administração: taxa, base e mínimo · Versão e prevalência: Leitura específica das cláusulas indicadas; condições e conflitos preservados. Seleção documental atual não comprova vigência jurídica por data isolada.</a:t>
            </a:r>
          </a:p>
          <a:p>
            <a:r>
              <a:t>CNPJ 55563624000109 · Administração: taxa, base e mínimo · Resumo do histórico: {"count": 3, "dates": ["2025-01-31", "2026-01-31", "2026-04-30"], "document_count": 3, "sources": [{"document_id": "1192614", "title": "Regulamento", "reference_date": "2026-04-30", "version": "1", "page": "28", "clause": "13.2", "url": "https://fnet.bmfbovespa.com.br/fnet/publico/visualizarDocumento?id=1192614", "sha256": "f56e63ace0acde41d2f47fb48f1ac7f3f7df5e2d32de092d7c5e075a52516632"}, {"document_id": "1178840", "title": "Demonstrações Financeiras", "reference_date": "2026-01-31", "version": "1", "page": 29, "url": "https://fnet.bmfbovespa.com.br/fnet/publico/visualizarDocumento?id=1178840", "sha256": "c458e98664c5c907ddb5a05a94b120bed4e05295b2bfc420f5ba69af0a229abe"}, {"document_id": "891861", "title": "Demonstrações Financeiras", "reference_date": "2025-01-31", "version": "1", "page": 30, "url": "https://fnet.bmfbovespa.com.br/fnet/publico/visualizarDocumento?id=891861", "sha256": "e9cb9e6ddbe505fe068cfcac33605165a98313489de0d3ce6d4d238263c3f3e7"}], "reference": {"path": "history/55563624000109.json", "criterion_id": "admin_fee", "total_count": 3, "preview_count": 3, "full_text_deferred": true, "sha256": "7835d573fb58a3c19adf5b8ecc2aee2bdbb9a88f7a0c0209b5f262b64c7522e3"}}</a:t>
            </a:r>
          </a:p>
          <a:p>
            <a:r>
              <a:t>CNPJ 62552447000120 · Administração: taxa, base e mínimo · Regulamento · ID 1200623 · 21/05/2026 · versão Consolidado21/05/2026 aprovado pelo ato1200625 · p. 30 · AnexoI13.1 TaxaGlobal · https://fnet.bmfbovespa.com.br/fnet/publico/visualizarDocumento?id=1200623</a:t>
            </a:r>
          </a:p>
          <a:p>
            <a:r>
              <a:t>CNPJ 62552447000120 · Administração: taxa, base e mínimo · Excerto da fonte:</a:t>
            </a:r>
          </a:p>
          <a:p>
            <a:r>
              <a:t>Taxa Global Pelos serviços de administração, gestão, custódia, tesouraria, controladoria, escrituração, a Classe pagará um valor equivalente a um percentual incidente sobre o Patrimônio Líquido da Classe, conf orme a f aixa de Patrimônio Líquido da Classe prevista na tabela abaixo, apropriada diariamente e paga mensalmente até o 5º (quinto) Dia Útil do mês subsequente ao mês que se ref ere, com</a:t>
            </a:r>
          </a:p>
          <a:p>
            <a:r>
              <a:t>CNPJ 62552447000120 · Administração: taxa, base e mínimo · Condição: Global remunera administração, gestão, custódia, tesouraria, controladoria e escrituração; percentual segregado não presumido.</a:t>
            </a:r>
          </a:p>
          <a:p>
            <a:r>
              <a:t>CNPJ 62552447000120 · Administração: taxa, base e mínimo · Motivo: Não localizada uma cláusula material para este critério nos textos identificados e processados. A ausência de resultado não comprova inexistência da regra.</a:t>
            </a:r>
          </a:p>
          <a:p>
            <a:r>
              <a:t>CNPJ 62552447000120 · Administração: taxa, base e mínimo · Versão e prevalência: Leitura específica das cláusulas indicadas; condições e conflitos preservados. Seleção documental atual não comprova vigência jurídica por data isolada.</a:t>
            </a:r>
          </a:p>
          <a:p>
            <a:r>
              <a:t>CNPJ 63953620000165 · Administração: taxa, base e mínimo · Anexo ao Regulamento · ID 1222863 · 02/06/2026 · versão AnexoConsignadoPrivado02/06/2026 · p. 19 · Capítulo13TaxadeAdministração · https://fnet.bmfbovespa.com.br/fnet/publico/visualizarDocumento?id=1222863</a:t>
            </a:r>
          </a:p>
          <a:p>
            <a:r>
              <a:t>CNPJ 63953620000165 · Administração: taxa, base e mínimo · Excerto da fonte:</a:t>
            </a:r>
          </a:p>
          <a:p>
            <a:r>
              <a:t>Taxa de Administração positiva do Índice Geral de Preços – Mercado, divulgado pela Fundação Getúlio Vargas (“Taxa de Administração” e “IGP-M”, respectivamente). Na hipótese de extinção do IGP-M, não divulgação ou impossibilidade de sua utilização, será utilizado o Índice Geral de Preços – Disponibilidade Interna, divulgado pela Fundação Getúlio Vargas, ou, na falta de ambos, pela variação do IPC – Índice de Preços ao Consumidor, divulgado pela</a:t>
            </a:r>
          </a:p>
          <a:p>
            <a:r>
              <a:t>CNPJ 63953620000165 · Administração: taxa, base e mínimo · Condição: Base é a parcela MT específica, não necessariamente todo o PL da classe.</a:t>
            </a:r>
          </a:p>
          <a:p>
            <a:r>
              <a:t>CNPJ 63953620000165 · Administração: taxa, base e mínimo · Versão e prevalência: Leitura específica das cláusulas indicadas; condições e conflitos preservados. Seleção documental atual não comprova vigência jurídica por data isolada.</a:t>
            </a:r>
          </a:p>
          <a:p>
            <a:r>
              <a:t>CNPJ 63953620000165 · Administração: taxa, base e mínimo · Resumo do histórico: {"count": 8, "dates": ["2026-04-28", "2026-05-08", "2026-05-15"], "document_count": 3, "sources": [{"document_id": "1327859", "title": "Demonstrações Financeiras - Fusão, cisão e incorporação", "reference_date": "2026-05-15", "version": "1", "page": 28, "url": "https://fnet.bmfbovespa.com.br/fnet/publico/visualizarDocumento?id=1327859", "sha256": "dca1c68babb97f887528c3e2e47596a9c30f507b067981a35655b2f2da9c8054"}, {"document_id": "1298691", "title": "Demonstrações Financeiras - Fusão, cisão e incorporação", "reference_date": "2026-05-08", "version": "1", "page": 28, "url": "https://fnet.bmfbovespa.com.br/fnet/publico/visualizarDocumento?id=1298691", "sha256": "58c570d9b8d4d265330d3db3ea81c435b8e44a6dab4002aa37790652a1ee9819"}, {"document_id": "1282180", "title": "Demonstrações Financeiras - Fusão, cisão e incorporação", "reference_date": "2026-04-28", "version": "1", "page": 29, "url": "https://fnet.bmfbovespa.com.br/fnet/publico/visualizarDocumento?id=1282180", "sha256": "afaaa0e6809be4385e5bdb6c911aac582032c5bdbac3d7750234bf9eaf00438a"}], "reference": {"path": "history/63953620000165.json", "criterion_id": "admin_fee", "total_count": 8, "preview_count": 3, "full_text_deferred": true, "sha256": "a7b89077f5e21098c2d601c303faabc3ff6b9729f89d8afecdc60fe1404720c1"}}</a:t>
            </a:r>
          </a:p>
          <a:p>
            <a:r>
              <a:t>CNPJ 54871427000194 · Gestão: taxa, base e mínimo · Regulamento · ID 670691 · 28/04/2024 · versão Regulamento — referência 28/04/2024 · p. 26 · Anexo I, 13.4–13.4.3 · https://fnet.bmfbovespa.com.br/fnet/publico/visualizarDocumento?id=670691</a:t>
            </a:r>
          </a:p>
          <a:p>
            <a:r>
              <a:t>CNPJ 54871427000194 · Gestão: taxa, base e mínimo · Excerto da fonte:</a:t>
            </a:r>
          </a:p>
          <a:p>
            <a:r>
              <a:t>13.4 Pelos serviços de gestão, a Classe pagará a Taxa de Gestão nos seguintes moldes: o valor correspondente a 0,20% (vinte centésimos por cento) ao ano aplicado sobre o Patrimônio Líquido, observado o valor mínimo de R$ 15.000,00 (quinze mil reais) mensais atualizado pela variação positiva do IGP-M a cada período de 12 (doze) meses, contados a partir do mês em que ocorrer a primeira integralização de Cotas (inclusive). 13.4.1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13.4.2 A Taxa de Gestão será calculada e provisionada todo Dia Útil à razão de 1/252 (um inteiro e duzentos e cinquenta e dois avos) com base no valor do Patrimônio Líquido do Dia Útil anterior. 13.4.3 A Taxa de Gestão será paga mensalmente ao GESTOR, observado o disposto no item 13.5 abaixo, por período vencido, até o 5º (quinto) Dia Útil do mês subsequente à prestação dos ser</a:t>
            </a:r>
          </a:p>
          <a:p>
            <a:r>
              <a:t>CNPJ 54871427000194 · Gestão: taxa, base e mínimo · Versão e prevalência: Leitura específica das cláusulas indicadas; condições e conflitos preservados. Seleção documental atual não comprova vigência jurídica por data isolada.</a:t>
            </a:r>
          </a:p>
          <a:p>
            <a:r>
              <a:t>CNPJ 54871427000194 · Gestão: taxa, base e mínimo · Resumo do histórico: {"count": 2, "dates": ["2024-04-19", "2024-04-28"], "document_count": 2, "sources": [{"document_id": "670691", "title": "Regulamento", "reference_date": "2024-04-28", "version": "1", "page": "26", "url": "https://fnet.bmfbovespa.com.br/fnet/publico/visualizarDocumento?id=670691", "sha256": "bf16dd7f1a62d5cdbf2e2d54fef81783783f7310fbc99c3a8f00459bdf9d037b"}, {"document_id": "670689", "title": "Regulamento", "reference_date": "2024-04-19", "version": "1", "page": 27, "clause": "13.3", "url": "https://fnet.bmfbovespa.com.br/fnet/publico/visualizarDocumento?id=670689", "sha256": "891bc9bc5d87bbc02ec139077a84d2702eb81ea02035fb71d24f5b8366b94a0b"}], "reference": {"path": "history/54871427000194.json", "criterion_id": "management_fee", "total_count": 2, "preview_count": 2, "full_text_deferred": true, "sha256": "35d7cd99be50c7287c9fb675cf4f2e736002315295a225a9efa79c8d9186d874"}}</a:t>
            </a:r>
          </a:p>
          <a:p>
            <a:r>
              <a:t>CNPJ 60010416000112 · Gestão: taxa, base e mínimo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Gestão: taxa, base e mínimo · Resumo do histórico: {"count": 1, "dates": ["2025-10-09"], "document_count": 1, "sources": [{"document_id": "1051393", "title": "Regulamento", "reference_date": "2025-10-09", "version": "1", "page": "29, 46", "url": "https://fnet.bmfbovespa.com.br/fnet/publico/visualizarDocumento?id=1051393", "sha256": "8469d613078ffd5a6c1d217885d8a397a16342c0b937ae4aa24b106505f233ae"}], "reference": {"path": "history/60010416000112.json", "criterion_id": "management_fee", "total_count": 1, "preview_count": 1, "full_text_deferred": true, "sha256": "8e2bd813f4c51cf01f6bfaad164bafe69d2bbb192f753eac92da3a01c2e63046"}}</a:t>
            </a:r>
          </a:p>
          <a:p>
            <a:r>
              <a:t>CNPJ 62696791000193 · Gestão: taxa, base e mínimo · Regulamento · ID 1143317 · 20/03/2026 · versão Regulamento — referência 20/03/2026 · p. 28 · Anexo I, 13.1, Taxa de Gestão · https://fnet.bmfbovespa.com.br/fnet/publico/visualizarDocumento?id=1143317</a:t>
            </a:r>
          </a:p>
          <a:p>
            <a:r>
              <a:t>CNPJ 62696791000193 · Gestão: taxa, base e mínimo · Excerto da fonte:</a:t>
            </a:r>
          </a:p>
          <a:p>
            <a:r>
              <a:t>Taxa de Gestão 0% (zero por cento) ao ano apropriada diariamente na base de 252 (duzentos e cinquenta e dois) Dias Úteis, e paga mensalmente, até o 5º (quinto) Dia Útil do mês subsequente ao mês que se ref ere, incidente sobre o Patrimônio Líquido da Classe (“Taxa de Gestão”). Taxa Máxima de Custódia 0,00% (zero por cento) ao ano, incidente sobre o Patrimônio Líquido da Classe (“Taxa Máxima de Custódia”). Taxa de Performance Não será devido pela Classe o pagamento de Taxa de Perf ormance. 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a:t>
            </a:r>
          </a:p>
          <a:p>
            <a:r>
              <a:t>CNPJ 62696791000193 · Gestão: taxa, base e mínimo · Motivo: Não localizada uma cláusula material para este critério nos textos identificados e processados. A ausência de resultado não comprova inexistência da regra.</a:t>
            </a:r>
          </a:p>
          <a:p>
            <a:r>
              <a:t>CNPJ 62696791000193 · Gestão: taxa, base e mínimo · Versão e prevalência: Leitura específica das cláusulas indicadas; condições e conflitos preservados. Seleção documental atual não comprova vigência jurídica por data isolada.</a:t>
            </a:r>
          </a:p>
          <a:p>
            <a:r>
              <a:t>CNPJ 55563624000109 · Gestão: taxa, base e mínimo · Regulamento · ID 1192614 · 30/04/2026 · versão Regulamento30/04/2026 · p. 29 · AnexoI13.4–13.7.1 · https://fnet.bmfbovespa.com.br/fnet/publico/visualizarDocumento?id=1192614</a:t>
            </a:r>
          </a:p>
          <a:p>
            <a:r>
              <a:t>CNPJ 55563624000109 · Gestão: taxa, base e mínimo · Excerto da fonte:</a:t>
            </a:r>
          </a:p>
          <a:p>
            <a:r>
              <a:t>13.4 Sem prejuízo da Taxa Máxima de Gestão, pelos serviços de gestão, a Classe pagará ao GESTOR: (i) a taxa de gestão ordinária correspondente a 0,50% (cinquenta centésimos por cento) ao ano, incidente sobre o Patrimônio Líquido da Classe, observado o montante mínimo de R$ 40.000,00 (quarenta mil reais) ao mês, corrigido anualmente pela variação positiva do Índice de Preços ao Consumidor Amplo, divulgado pelo Instituto Brasileiro de Geografia e Estatística – IBGE (“Taxa de Gestão”); e (ii) a taxa de gestão extraordinária apurada e paga no momento de cada</a:t>
            </a:r>
          </a:p>
          <a:p>
            <a:r>
              <a:t>CNPJ 55563624000109 · Gestão: taxa, base e mínimo · Condição: Adicional é por integralização, não taxa anual.</a:t>
            </a:r>
          </a:p>
          <a:p>
            <a:r>
              <a:t>CNPJ 55563624000109 · Gestão: taxa, base e mínimo · Versão e prevalência: Leitura específica das cláusulas indicadas; condições e conflitos preservados. Seleção documental atual não comprova vigência jurídica por data isolada.</a:t>
            </a:r>
          </a:p>
          <a:p>
            <a:r>
              <a:t>CNPJ 55563624000109 · Gestão: taxa, base e mínimo · Resumo do histórico: {"count": 3, "dates": ["2025-01-31", "2026-01-31", "2026-04-30"], "document_count": 3, "sources": [{"document_id": "1192614", "title": "Regulamento", "reference_date": "2026-04-30", "version": "1", "page": "29", "url": "https://fnet.bmfbovespa.com.br/fnet/publico/visualizarDocumento?id=1192614", "sha256": "f56e63ace0acde41d2f47fb48f1ac7f3f7df5e2d32de092d7c5e075a52516632"}, {"document_id": "1178840", "title": "Demonstrações Financeiras", "reference_date": "2026-01-31", "version": "1", "page": 29, "url": "https://fnet.bmfbovespa.com.br/fnet/publico/visualizarDocumento?id=1178840", "sha256": "c458e98664c5c907ddb5a05a94b120bed4e05295b2bfc420f5ba69af0a229abe"}, {"document_id": "891861", "title": "Demonstrações Financeiras", "reference_date": "2025-01-31", "version": "1", "page": 30, "url": "https://fnet.bmfbovespa.com.br/fnet/publico/visualizarDocumento?id=891861", "sha256": "e9cb9e6ddbe505fe068cfcac33605165a98313489de0d3ce6d4d238263c3f3e7"}], "reference": {"path": "history/55563624000109.json", "criterion_id": "management_fee", "total_count": 3, "preview_count": 3, "full_text_deferred": true, "sha256": "7835d573fb58a3c19adf5b8ecc2aee2bdbb9a88f7a0c0209b5f262b64c7522e3"}}</a:t>
            </a:r>
          </a:p>
          <a:p>
            <a:r>
              <a:t>CNPJ 62552447000120 · Gestão: taxa, base e mínimo · Motivo: Não localizada uma cláusula material para este critério nos textos identificados e processados. A ausência de resultado não comprova inexistência da regra.</a:t>
            </a:r>
          </a:p>
          <a:p>
            <a:r>
              <a:t>CNPJ 63953620000165 · Gestão: taxa, base e mínimo · Anexo ao Regulamento · ID 1222863 · 02/06/2026 · versão AnexoConsignadoPrivado02/06/2026 · p. 20 · Capítulo13TaxadeGestão · https://fnet.bmfbovespa.com.br/fnet/publico/visualizarDocumento?id=1222863</a:t>
            </a:r>
          </a:p>
          <a:p>
            <a:r>
              <a:t>CNPJ 63953620000165 · Gestão: taxa, base e mínimo · Excerto da fonte:</a:t>
            </a:r>
          </a:p>
          <a:p>
            <a:r>
              <a:t>0,05% (cinco centésimos por cento) ao ano, apropriada diariamente na base de 252 (duzentos e cinquenta e dois) Dias Úteis, e paga mensalmente, até o 5º (quinto) Dia Útil do mês subsequente ao mês que se refere, incidente sobre o Patrimônio Líquido da Classe alocado em Direitos Creditórios Consignado Privado e/ou Ativos de Liquidez MT, observada remuneração mínima mensal de R$ 2.500,00 (dois mil e quinhentos reais), a ser corrigida anualmente, em janeiro de cada ano, pela variação</a:t>
            </a:r>
          </a:p>
          <a:p>
            <a:r>
              <a:t>CNPJ 63953620000165 · Gestão: taxa, base e mínimo · Versão e prevalência: Leitura específica das cláusulas indicadas; condições e conflitos preservados. Seleção documental atual não comprova vigência jurídica por data isolada.</a:t>
            </a:r>
          </a:p>
          <a:p>
            <a:r>
              <a:t>CNPJ 63953620000165 · Gestão: taxa, base e mínimo · Resumo do histórico: {"count": 8, "dates": ["2026-04-28", "2026-05-08", "2026-05-15"], "document_count": 3, "sources": [{"document_id": "1327859", "title": "Demonstrações Financeiras - Fusão, cisão e incorporação", "reference_date": "2026-05-15", "version": "1", "page": 28, "url": "https://fnet.bmfbovespa.com.br/fnet/publico/visualizarDocumento?id=1327859", "sha256": "dca1c68babb97f887528c3e2e47596a9c30f507b067981a35655b2f2da9c8054"}, {"document_id": "1298691", "title": "Demonstrações Financeiras - Fusão, cisão e incorporação", "reference_date": "2026-05-08", "version": "1", "page": 28, "url": "https://fnet.bmfbovespa.com.br/fnet/publico/visualizarDocumento?id=1298691", "sha256": "58c570d9b8d4d265330d3db3ea81c435b8e44a6dab4002aa37790652a1ee9819"}, {"document_id": "1282180", "title": "Demonstrações Financeiras - Fusão, cisão e incorporação", "reference_date": "2026-04-28", "version": "1", "page": 29, "url": "https://fnet.bmfbovespa.com.br/fnet/publico/visualizarDocumento?id=1282180", "sha256": "afaaa0e6809be4385e5bdb6c911aac582032c5bdbac3d7750234bf9eaf00438a"}], "reference": {"path": "history/63953620000165.json", "criterion_id": "management_fee", "total_count": 8, "preview_count": 3, "full_text_deferred": true, "sha256": "a7b89077f5e21098c2d601c303faabc3ff6b9729f89d8afecdc60fe1404720c1"}}</a:t>
            </a:r>
          </a:p>
          <a:p>
            <a:r>
              <a:t>CNPJ 54871427000194 · Performance: benchmark e apuração · Regulamento · ID 670691 · 28/04/2024 · versão Regulamento — referência 28/04/2024 · p. 26 · Anexo I, 13.3 · https://fnet.bmfbovespa.com.br/fnet/publico/visualizarDocumento?id=670691</a:t>
            </a:r>
          </a:p>
          <a:p>
            <a:r>
              <a:t>CNPJ 54871427000194 · Performance: benchmark e apuração · Excerto da fonte:</a:t>
            </a:r>
          </a:p>
          <a:p>
            <a:r>
              <a:t>13.3 Não serão cobradas da Classe ou dos Cotistas taxas de perf ormance, de ingresso ou de saída. Taxa de Gestão 13.4 Pelos serviços de gestão, a Classe pagará a Taxa de Gestão nos seguintes moldes: o valor correspondente a 0,20% (vinte centésimos por cento) ao ano aplicado sobre o Patrimônio Líquido, observado o valor mínimo de R$ 15.000,00 (quinze mil reais) mensais atualizado pela variação positiva do IGP-M a cada período de 12 (doze) meses, contados a partir do mês em que ocorrer a primeira integralização de Cotas (inclusive). 13.4.1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13.4.2 A Taxa de Gestão será calculada e provisionada todo Dia Útil à razão de 1/252 (um inteiro e duzentos e cinquenta e dois avos) com base no valor do Patrimônio Líquido do Dia Útil anterior. 13.4.3 A Taxa de Gestão será paga mensalmente ao GESTOR, observado o disposto no item 13.5</a:t>
            </a:r>
          </a:p>
          <a:p>
            <a:r>
              <a:t>CNPJ 54871427000194 · Performance: benchmark e apuração · Motivo: Não localizada uma cláusula material para este critério nos textos identificados e processados. A ausência de resultado não comprova inexistência da regra.</a:t>
            </a:r>
          </a:p>
          <a:p>
            <a:r>
              <a:t>CNPJ 54871427000194 · Performance: benchmark e apuração · Versão e prevalência: Leitura específica das cláusulas indicadas; condições e conflitos preservados. Seleção documental atual não comprova vigência jurídica por data isolada.</a:t>
            </a:r>
          </a:p>
          <a:p>
            <a:r>
              <a:t>CNPJ 60010416000112 · Performance: benchmark e apuração · Regulamento · ID 1051393 · 09/10/2025 · versão Regulamento09/10/2025 · p. 29 · AnexoI12.2 · https://fnet.bmfbovespa.com.br/fnet/publico/visualizarDocumento?id=1051393</a:t>
            </a:r>
          </a:p>
          <a:p>
            <a:r>
              <a:t>CNPJ 60010416000112 · Performance: benchmark e apuração · Excerto da fonte:</a:t>
            </a:r>
          </a:p>
          <a:p>
            <a:r>
              <a:t>12.2 Não serão cobradas da Classe ou dos Cotistas taxas de perf ormance, de ingresso ou de saída. Taxa Máxima de Custódia 12.3 Pelos serviços de custódia qualificada dos Direitos Creditórios e dos Ativos Financeiros de Liquidez não será devida nenhuma remuneração ao Custodiante, de modo que taxa máxima de custódia a ser paga pela Classe ao Custodiante corresponde a 0% (zero por cento) ao ano. Remuneração do Agente de Retenção/Cobrança 12.4 Para a prestação de serviços à Classe, o Agente de Retenção/Cobrança f ará jus a uma remuneração a ser auf erida todo Dia Útil e paga mensalmente, a título de Encargo da Cla</a:t>
            </a:r>
          </a:p>
          <a:p>
            <a:r>
              <a:t>CNPJ 60010416000112 · Performance: benchmark e apuração · Motivo: Não localizada uma cláusula material para este critério nos textos identificados e processados. A ausência de resultado não comprova inexistência da regra.</a:t>
            </a:r>
          </a:p>
          <a:p>
            <a:r>
              <a:t>CNPJ 60010416000112 · Performance: benchmark e apuração · Versão e prevalência: Leitura específica das cláusulas indicadas; condições e conflitos preservados. Seleção documental atual não comprova vigência jurídica por data isolada.</a:t>
            </a:r>
          </a:p>
          <a:p>
            <a:r>
              <a:t>CNPJ 62696791000193 · Performance: benchmark e apuração · Regulamento · ID 1143317 · 20/03/2026 · versão Regulamento — referência 20/03/2026 · p. 28 · Anexo I, 13.1, Taxa de Performance · https://fnet.bmfbovespa.com.br/fnet/publico/visualizarDocumento?id=1143317</a:t>
            </a:r>
          </a:p>
          <a:p>
            <a:r>
              <a:t>CNPJ 62696791000193 · Performance: benchmark e apuração · Excerto da fonte:</a:t>
            </a:r>
          </a:p>
          <a:p>
            <a:r>
              <a:t>Taxa de Performance Não será devido pela Classe o pagamento de Taxa de Perf ormance. 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equivalente a 0,9% (nove décimos por cento) ao ano aplicado sobre o Patrimônio Anexo I ao Regulamento Líquido, observado o limite máximo de 4,5% (quatro inteiros e cinquenta centésimos por cento) do volume captado na respectiva oferta (“Taxa Máxima de Distribuição”).A Taxa Máxima de BTG Pactual SAC: 0800 772 2827 | Ouvidoria: 0800 722 0048 | btgpactual.co m 23</a:t>
            </a:r>
          </a:p>
          <a:p>
            <a:r>
              <a:t>CNPJ 62696791000193 · Performance: benchmark e apuração · Regulamento · ID 1143317 · 20/03/2026 · versão Regulamento — referência 20/03/2026 · p. 29 · Anexo I, 13.1, Taxa de Ingresso · https://fnet.bmfbovespa.com.br/fnet/publico/visualizarDocumento?id=1143317</a:t>
            </a:r>
          </a:p>
          <a:p>
            <a:r>
              <a:t>CNPJ 62696791000193 · Performance: benchmark e apuração · Excerto da fonte:</a:t>
            </a:r>
          </a:p>
          <a:p>
            <a:r>
              <a:t>Taxa de Ingresso Não será cobrada dos Cotistas Taxa de Ingresso. 14 TRIBUTAÇÃO 14.1 O disposto neste Capítulo f oi elaborado com base na legislação e regulamentação em vigor produzindo ef eitos, tem por objetivo descrever de f orma sumária o tratamento tributário aplicável em regra aos cotistas, ao Fundo e à Classe, não se aplicando aos cotistas sujeitos a regras de tributação específicas, na f orma da legislação e regulamentação em vigor. 14.2 Há exceções (inclusive relativas à natureza ou ao domicílio do investidor para fins fiscais) em relação ao tratamento tributário descrito abaixo e tributos adicionais que podem ser aplicados, motivo pelo qual os cotistas devem consultar seus assessores jurídicos com relação à tributação aplicável nos investimentos realizados na Classe. Tributação da Classe / Operações da carteira: Como regra geral, os rendimentos auferidos pela carteira da Classe não estão sujeitos à incidência do imposto de renda, exceto ganhos auferidos em aplicações financeiras de renda fixa ou variável, que se sujeitam à incidência do Imposto de Renda Retido na Fonte (“IRF”) de acordo com as mesmas regras de tributação aplic</a:t>
            </a:r>
          </a:p>
          <a:p>
            <a:r>
              <a:t>CNPJ 62696791000193 · Performance: benchmark e apuração · Motivo: Não localizada uma cláusula material para este critério nos textos identificados e processados. A ausência de resultado não comprova inexistência da regra.</a:t>
            </a:r>
          </a:p>
          <a:p>
            <a:r>
              <a:t>CNPJ 62696791000193 · Performance: benchmark e apuração · Versão e prevalência: Leitura específica das cláusulas indicadas; condições e conflitos preservados. Seleção documental atual não comprova vigência jurídica por data isolada.</a:t>
            </a:r>
          </a:p>
          <a:p>
            <a:r>
              <a:t>CNPJ 55563624000109 · Performance: benchmark e apuração · Regulamento · ID 1192614 · 30/04/2026 · versão Regulamento30/04/2026 · p. 29 · AnexoI13.10 · https://fnet.bmfbovespa.com.br/fnet/publico/visualizarDocumento?id=1192614</a:t>
            </a:r>
          </a:p>
          <a:p>
            <a:r>
              <a:t>CNPJ 55563624000109 · Performance: benchmark e apuração · Excerto da fonte:</a:t>
            </a:r>
          </a:p>
          <a:p>
            <a:r>
              <a:t>13.10 Não serão cobradas taxas de performance da Classe, e nem taxas de ingresso ou de saída dos Cotistas que integralizarem ou resgatarem suas Cotas. BTG Pactual SAC: 0800 772 28 27 - Ouvidoria: 0800 722 00 48 - btgpactual.com 22</a:t>
            </a:r>
          </a:p>
          <a:p>
            <a:r>
              <a:t>CNPJ 55563624000109 · Performance: benchmark e apuração · Motivo: Não localizada uma cláusula material para este critério nos textos identificados e processados. A ausência de resultado não comprova inexistência da regra.</a:t>
            </a:r>
          </a:p>
          <a:p>
            <a:r>
              <a:t>CNPJ 55563624000109 · Performance: benchmark e apuração · Versão e prevalência: Leitura específica das cláusulas indicadas; condições e conflitos preservados. Seleção documental atual não comprova vigência jurídica por data isolada.</a:t>
            </a:r>
          </a:p>
          <a:p>
            <a:r>
              <a:t>CNPJ 62552447000120 · Performance: benchmark e apuração · Regulamento · ID 1200623 · 21/05/2026 · versão Consolidado21/05/2026 aprovado pelo ato1200625 · p. 30 · AnexoI13.1 TaxadePerformance/Ingresso · https://fnet.bmfbovespa.com.br/fnet/publico/visualizarDocumento?id=1200623</a:t>
            </a:r>
          </a:p>
          <a:p>
            <a:r>
              <a:t>CNPJ 62552447000120 · Performance: benchmark e apuração · Excerto da fonte:</a:t>
            </a:r>
          </a:p>
          <a:p>
            <a:r>
              <a:t>Taxa de Performance Não será devido pela Classe o pagamento de Taxa de Perf ormance. Taxa de Ingresso Não será cobrada dos Cotistas Taxa de Ingresso . CAPÍTULO 14 – CUSTOS REFERENTES À DEFESA DOS INTERESSES DA CLASSE 14.1 Todos os custos e despesas ref eridos neste Capítulo, inclusive para salvaguarda de direitos e prerrogativas da Classe e/ou com a cobrança judicial e/ou extrajudicial de Direitos Creditórios Inadimplidos, serão de inteira responsabilidade da Classe, não est ando o Administrador, o Gestor, o Endossante, os Devedores, o Custodiante e quaisquer de suas respectivas pessoas contr</a:t>
            </a:r>
          </a:p>
          <a:p>
            <a:r>
              <a:t>CNPJ 62552447000120 · Performance: benchmark e apuração · Motivo: Não localizada uma cláusula material para este critério nos textos identificados e processados. A ausência de resultado não comprova inexistência da regra.</a:t>
            </a:r>
          </a:p>
          <a:p>
            <a:r>
              <a:t>CNPJ 62552447000120 · Performance: benchmark e apuração · Versão e prevalência: Leitura específica das cláusulas indicadas; condições e conflitos preservados. Seleção documental atual não comprova vigência jurídica por data isolada.</a:t>
            </a:r>
          </a:p>
          <a:p>
            <a:r>
              <a:t>CNPJ 63953620000165 · Performance: benchmark e apuração · Anexo ao Regulamento · ID 1222863 · 02/06/2026 · versão AnexoConsignadoPrivado02/06/2026 · p. 20 · Capítulo13 · https://fnet.bmfbovespa.com.br/fnet/publico/visualizarDocumento?id=1222863</a:t>
            </a:r>
          </a:p>
          <a:p>
            <a:r>
              <a:t>CNPJ 63953620000165 · Performance: benchmark e apuração · Excerto da fonte:</a:t>
            </a:r>
          </a:p>
          <a:p>
            <a:r>
              <a:t>Taxa de Performance Não será devido pelas Classes o pagamento de Taxa de Performance. 0,00% (zero por cento) ao ano, incidente sobre o Patrimônio Líquido da Classe Taxa Máxima de Custódia (“Taxa Máxima de Custódia”). Taxa Máxima de Distribuição Não será cobrada Taxa de Distribuição. Taxa de Ingresso Não será cobrada da Classe ou dos Cotistas taxa de ingresso. CAPÍTULO 14 – CUSTOS REFERENTES À DEFESA DOS INTERESSES DA CLASSE 14.1 Todos os custos e despesas referidos neste Capítulo, inclusive para salvaguarda de direitos e prerrogativas da</a:t>
            </a:r>
          </a:p>
          <a:p>
            <a:r>
              <a:t>CNPJ 63953620000165 · Performance: benchmark e apuração · Motivo: Cláusula primária localizada e citada, mas sua lista/condições extensas não admitem uma síntese literal curta confirmada. O trecho integral permanece nas fontes.</a:t>
            </a:r>
          </a:p>
          <a:p>
            <a:r>
              <a:t>CNPJ 63953620000165 · Performance: benchmark e apuração · Versão e prevalência: Leitura específica das cláusulas indicadas; condições e conflitos preservados. Seleção documental atual não comprova vigência jurídica por data isolada.</a:t>
            </a:r>
          </a:p>
          <a:p>
            <a:r>
              <a:t>CNPJ 54871427000194 · Custódia, escrituração e encargos · Regulamento · ID 670691 · 28/04/2024 · versão Regulamento — referência 28/04/2024 · p. 26 · Anexo I, 13.7–13.8 · https://fnet.bmfbovespa.com.br/fnet/publico/visualizarDocumento?id=670691</a:t>
            </a:r>
          </a:p>
          <a:p>
            <a:r>
              <a:t>CNPJ 54871427000194 · Custódia, escrituração e encargos · Excerto da fonte:</a:t>
            </a:r>
          </a:p>
          <a:p>
            <a:r>
              <a:t>13.7 Pelos serviços de retenção e cobrança, prestada nos termos deste Anexo e do Contrato de Retenção/Cobrança, será devida pela Classe ao Agente de Retenção/Cobrança a remuneração prevista no respectivo Contrato de Retenção/Cobrança. Taxa Máxima de Custódia 13.8 Pelos serviços de custódia qualificada dos Direitos Creditórios e dos Ativos Financeiros de Liquidez não será devida nenhuma remuneração ao CUSTODIANTE, de modo que taxa máxima de custódia a ser paga pela Classe ao CUSTODIANTE corresponde a 0% (zero por cento) ao ano. CAPÍTULO 14 – CUSTOS REFERENTES À DEFESA DOS INTERESSES DA CLASSE 14.1 Caso a Classe não possua recursos disponíveis, em moeda corrente nacional, suf icientes para a adoção e manutenção, direta ou indireta, dos procedimentos judiciais e extrajudiciais necessários à cobrança dos Direitos Creditórios e dos Ativos Financeiros de Liquidez de titularidade da Classe e à def esa dos direitos, interesses e prerrogativas da Classe, a maioria dos titulares das Cotas, reunidos em Assembleia Especial de Cotistas, poderá aprovar o aporte de recursos à Classe, por meio da integralização de novas Cotas, a ser realizada por todos os titulares das Cotas para assegurar, se for o caso, a</a:t>
            </a:r>
          </a:p>
          <a:p>
            <a:r>
              <a:t>CNPJ 54871427000194 · Custódia, escrituração e encargos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Custódia, escrituração e encargos · Versão e prevalência: Leitura específica das cláusulas indicadas; condições e conflitos preservados. Seleção documental atual não comprova vigência jurídica por data isolada.</a:t>
            </a:r>
          </a:p>
          <a:p>
            <a:r>
              <a:t>CNPJ 54871427000194 · Custódia, escrituração e encargos · Resumo do histórico: {"count": 1, "dates": ["2024-04-28"], "document_count": 1, "sources": [{"document_id": "670691", "title": "Regulamento", "reference_date": "2024-04-28", "version": "1", "page": "26", "url": "https://fnet.bmfbovespa.com.br/fnet/publico/visualizarDocumento?id=670691", "sha256": "bf16dd7f1a62d5cdbf2e2d54fef81783783f7310fbc99c3a8f00459bdf9d037b"}], "reference": {"path": "history/54871427000194.json", "criterion_id": "custody_fee", "total_count": 1, "preview_count": 1, "full_text_deferred": true, "sha256": "35d7cd99be50c7287c9fb675cf4f2e736002315295a225a9efa79c8d9186d874"}}</a:t>
            </a:r>
          </a:p>
          <a:p>
            <a:r>
              <a:t>CNPJ 60010416000112 · Custódia, escrituração e encargos · Regulamento · ID 1051393 · 09/10/2025 · versão Regulamento09/10/2025 · p. 29 · AnexoI12.3–12.4 · https://fnet.bmfbovespa.com.br/fnet/publico/visualizarDocumento?id=1051393</a:t>
            </a:r>
          </a:p>
          <a:p>
            <a:r>
              <a:t>CNPJ 60010416000112 · Custódia, escrituração e encargos · Excerto da fonte:</a:t>
            </a:r>
          </a:p>
          <a:p>
            <a:r>
              <a:t>12.3 Pelos serviços de custódia qualificada dos Direitos Creditórios e dos Ativos Financeiros de Liquidez não será devida nenhuma remuneração ao Custodiante, de modo que taxa máxima de custódia a ser paga pela Classe ao Custodiante corresponde a 0% (zero por cento) ao ano. Remuneração do Agente de Retenção/Cobrança 12.4 Para a prestação de serviços à Classe, o Agente de Retenção/Cobrança f ará jus a uma remuneração a ser auf erida todo Dia Útil e paga mensalmente, a título de Encargo da Classe, a qual será calculada com base na seguinte f órmula:</a:t>
            </a:r>
          </a:p>
          <a:p>
            <a:r>
              <a:t>CNPJ 60010416000112 · Custódia, escrituração e encargos · Regulamento · ID 1051393 · 09/10/2025 · versão Regulamento09/10/2025 · p. 30 · AnexoI12.4definições,12.5–12.5.1 · https://fnet.bmfbovespa.com.br/fnet/publico/visualizarDocumento?id=1051393</a:t>
            </a:r>
          </a:p>
          <a:p>
            <a:r>
              <a:t>CNPJ 60010416000112 · Custódia, escrituração e encargos · Excerto da fonte:</a:t>
            </a:r>
          </a:p>
          <a:p>
            <a:r>
              <a:t>RAC = Remuneração do Agente de Retenção e Cobrança,tendo como valor 4,00% (quatro por cento) ao ano. 12.5 A remuneração prevista no item 12.4 acima será calculada pelo Administrador e paga diretamente ao Agente de Retenção/Cobrança até o 5º (quinto) Dia Útil do mês subsequente ao da prestação dos serviços, conf orme estabelecido no Contrato de Serviços MT. 12.5.1. Independentemente do acima disposto, na hipótese de venda de qualquer parte dos Direitos Creditórios Elegíveis a terceiros, inclusive no caso de liquidação da Classe, o Agente de Retenção/Cobra</a:t>
            </a:r>
          </a:p>
          <a:p>
            <a:r>
              <a:t>CNPJ 60010416000112 · Custódia, escrituração e encargos · Condição: Fórmula do RAC tem composição base 252 DU/21 dias; não somar a 4% do PL como taxa administrativa.</a:t>
            </a:r>
          </a:p>
          <a:p>
            <a:r>
              <a:t>CNPJ 60010416000112 · Custódia, escrituração e encargos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Custódia, escrituração e encargos · Versão e prevalência: Leitura específica das cláusulas indicadas; condições e conflitos preservados. Seleção documental atual não comprova vigência jurídica por data isolada.</a:t>
            </a:r>
          </a:p>
          <a:p>
            <a:r>
              <a:t>CNPJ 60010416000112 · Custódia, escrituração e encargos · Resumo do histórico: {"count": 1, "dates": ["2025-10-09"], "document_count": 1, "sources": [{"document_id": "1051393", "title": "Regulamento", "reference_date": "2025-10-09", "version": "1", "page": "29-31", "url": "https://fnet.bmfbovespa.com.br/fnet/publico/visualizarDocumento?id=1051393", "sha256": "8469d613078ffd5a6c1d217885d8a397a16342c0b937ae4aa24b106505f233ae"}], "reference": {"path": "history/60010416000112.json", "criterion_id": "custody_fee", "total_count": 1, "preview_count": 1, "full_text_deferred": true, "sha256": "8e2bd813f4c51cf01f6bfaad164bafe69d2bbb192f753eac92da3a01c2e63046"}}</a:t>
            </a:r>
          </a:p>
          <a:p>
            <a:r>
              <a:t>CNPJ 62696791000193 · Custódia, escrituração e encargos · Regulamento · ID 1143317 · 20/03/2026 · versão Regulamento — referência 20/03/2026 · p. 28 · Anexo I, 13.1, Custódia e Distribuição · https://fnet.bmfbovespa.com.br/fnet/publico/visualizarDocumento?id=1143317</a:t>
            </a:r>
          </a:p>
          <a:p>
            <a:r>
              <a:t>CNPJ 62696791000193 · Custódia, escrituração e encargos · Excerto da fonte:</a:t>
            </a:r>
          </a:p>
          <a:p>
            <a:r>
              <a:t>Taxa Máxima de Custódia 0,00% (zero por cento) ao ano, incidente sobre o Patrimônio Líquido da Classe (“Taxa Máxima de Custódia”). Taxa de Performance Não será devido pela Classe o pagamento de Taxa de Perf ormance. 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equivalente a 0,9% (nove décimos por cento) ao ano aplicado sobre o Patrimônio Anexo I ao Regulamento Líquido, observado o limite máximo de 4,5% (quatro inteiros e cinquenta centésimos por cento) do volume captado na respectiva oferta (“Taxa Máxima de Distribuição”).A</a:t>
            </a:r>
          </a:p>
          <a:p>
            <a:r>
              <a:t>CNPJ 62696791000193 · Custódia, escrituração e encargos · Regulamento · ID 1143317 · 20/03/2026 · versão Regulamento — referência 20/03/2026 · p. 29 · Anexo I, 13.1, Distribuição · https://fnet.bmfbovespa.com.br/fnet/publico/visualizarDocumento?id=1143317</a:t>
            </a:r>
          </a:p>
          <a:p>
            <a:r>
              <a:t>CNPJ 62696791000193 · Custódia, escrituração e encargos · Excerto da fonte:</a:t>
            </a:r>
          </a:p>
          <a:p>
            <a:r>
              <a:t>Distribuição será calculada e provisionada todo Dia Útil à razão de 1/252 (um inteiro e duzentos e cinquenta e dois avos) com base no valor do Patrimônio Líquido do Dia Útil anterior. Nos termos da Resolução CVM 160, o coordenador líder poderá destinar parte ou a totalidade da sua remuneração, à vista ou a prazo, aos distribuidores contratados, conforme previsto no contrato de distribuição da oferta e/ou nos termos de adesão ao contrato de distribuição. A Taxa Máxima de Distribuição será paga mensalmente por período vencido, até o 10º (décimo) Dia Útil do mês subsequente à prestação dos serviços, a partir do mês em que ocorrer a primeira integralização de Cotas da Classe Taxa de Ingresso Não será cobrada dos Cotistas Taxa de Ingresso. 14 TRIBUTAÇÃO 14.1 O disposto neste Capítulo f oi elaborado co</a:t>
            </a:r>
          </a:p>
          <a:p>
            <a:r>
              <a:t>CNPJ 62696791000193 · Custódia, escrituração e encargos · Motivo: Não localizada uma cláusula material para este critério nos textos identificados e processados. A ausência de resultado não comprova inexistência da regra.</a:t>
            </a:r>
          </a:p>
          <a:p>
            <a:r>
              <a:t>CNPJ 62696791000193 · Custódia, escrituração e encargos · Versão e prevalência: Leitura específica das cláusulas indicadas; condições e conflitos preservados. Seleção documental atual não comprova vigência jurídica por data isolada.</a:t>
            </a:r>
          </a:p>
          <a:p>
            <a:r>
              <a:t>CNPJ 55563624000109 · Custódia, escrituração e encargos · Regulamento · ID 1192614 · 30/04/2026 · versão Regulamento30/04/2026 · p. 29 · AnexoI13.8–13.9 · https://fnet.bmfbovespa.com.br/fnet/publico/visualizarDocumento?id=1192614</a:t>
            </a:r>
          </a:p>
          <a:p>
            <a:r>
              <a:t>CNPJ 55563624000109 · Custódia, escrituração e encargos · Excerto da fonte:</a:t>
            </a:r>
          </a:p>
          <a:p>
            <a:r>
              <a:t>13.8 Pelos serviços de custódia qualificada das Cotas da Classe Investida e dos Ativos Financeiros de Liquidez não será devida nenhuma remuneração ao CUSTODIANTE, de modo que taxa de custódia a ser paga pela Classe ao CUSTODIANTE corresponde a 0% (zero por cento) ao ano. Taxas Máxima de Distribuição 13.9 Tendo em vista que não há distribuidores das Cotas que prestem serviços de forma contínua ao Fundo, o presente Regulamento e Anexo Descritivo não preveem uma taxa máxima de distribuição aplicável a todas as emissões, nos termos do Ofício-Circular-Conju</a:t>
            </a:r>
          </a:p>
          <a:p>
            <a:r>
              <a:t>CNPJ 55563624000109 · Custódia, escrituração e encargos · Versão e prevalência: Leitura específica das cláusulas indicadas; condições e conflitos preservados. Seleção documental atual não comprova vigência jurídica por data isolada.</a:t>
            </a:r>
          </a:p>
          <a:p>
            <a:r>
              <a:t>CNPJ 55563624000109 · Custódia, escrituração e encargos · Resumo do histórico: {"count": 1, "dates": ["2026-04-30"], "document_count": 1, "sources": [{"document_id": "1192614", "title": "Regulamento", "reference_date": "2026-04-30", "version": "1", "page": "29", "url": "https://fnet.bmfbovespa.com.br/fnet/publico/visualizarDocumento?id=1192614", "sha256": "f56e63ace0acde41d2f47fb48f1ac7f3f7df5e2d32de092d7c5e075a52516632"}], "reference": {"path": "history/55563624000109.json", "criterion_id": "custody_fee", "total_count": 1, "preview_count": 1, "full_text_deferred": true, "sha256": "7835d573fb58a3c19adf5b8ecc2aee2bdbb9a88f7a0c0209b5f262b64c7522e3"}}</a:t>
            </a:r>
          </a:p>
          <a:p>
            <a:r>
              <a:t>CNPJ 62552447000120 · Custódia, escrituração e encargos · Motivo: Não localizada uma cláusula material para este critério nos textos identificados e processados. A ausência de resultado não comprova inexistência da regra.</a:t>
            </a:r>
          </a:p>
          <a:p>
            <a:r>
              <a:t>CNPJ 63953620000165 · Custódia, escrituração e encargos · Motivo: Não localizada uma cláusula material para este critério nos textos identificados e processados. A ausência de resultado não comprova inexistência da regra.</a:t>
            </a:r>
          </a:p>
          <a:p>
            <a:r>
              <a:t>CNPJ 54871427000194 · Classes e séries de cotas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Classes e séries de cotas · Resumo do histórico: {"count": 1, "dates": ["2024-04-28"], "document_count": 1, "sources": [{"document_id": "670691", "title": "Regulamento", "reference_date": "2024-04-28", "version": "1", "page": "7, 14", "url": "https://fnet.bmfbovespa.com.br/fnet/publico/visualizarDocumento?id=670691", "sha256": "bf16dd7f1a62d5cdbf2e2d54fef81783783f7310fbc99c3a8f00459bdf9d037b"}], "reference": {"path": "history/54871427000194.json", "criterion_id": "quota_classes", "total_count": 1, "preview_count": 1, "full_text_deferred": true, "sha256": "35d7cd99be50c7287c9fb675cf4f2e736002315295a225a9efa79c8d9186d874"}}</a:t>
            </a:r>
          </a:p>
          <a:p>
            <a:r>
              <a:t>CNPJ 60010416000112 · Classes e séries de cotas · Demonstrações Financeiras - Fusão, cisão e incorporação · ID 1298690 · 2026-05-08 · versão 1 · p. 30 · https://fnet.bmfbovespa.com.br/fnet/publico/visualizarDocumento?id=1298690</a:t>
            </a:r>
          </a:p>
          <a:p>
            <a:r>
              <a:t>CNPJ 60010416000112 · Classes e séries de cotas · Excerto da fonte:</a:t>
            </a:r>
          </a:p>
          <a:p>
            <a:r>
              <a:t>Durante o período de investimento, a Administradora poderá deliberar por realizar novas  emissões de cotas subordinadas, sem a necessidade de aprovação em Assembleia Especial  de Cotistas ou alteração do Regulamento, limitadas ao montante máximo de R$ 50.000  (cinquenta milhões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subordinadas emitidas não sejam  superiores aos prazos de vencimento da primeira emissão.</a:t>
            </a:r>
          </a:p>
          <a:p>
            <a:r>
              <a:t>CNPJ 60010416000112 · Classes e séries de cotas · Demonstrações Financeiras - Fusão, cisão e incorporação · ID 1298690 · 2026-05-08 · versão 1 · p. 7 · https://fnet.bmfbovespa.com.br/fnet/publico/visualizarDocumento?id=1298690</a:t>
            </a:r>
          </a:p>
          <a:p>
            <a:r>
              <a:t>CNPJ 60010416000112 · Classes e séries de cotas · Excerto da fonte:</a:t>
            </a:r>
          </a:p>
          <a:p>
            <a:r>
              <a:t>01/12/2025 a  Nota  08/05/2026  Patrimônio líquido no início do período  Total de 493.487,7492 cotas sêniores a R$ 1.136,5211 560.859  Total de 2.329.794,7852 cotas sêniores 2 a R$ 1.141,3012 2.658.998  Total de 954,2302 cotas subordinadas a R$ 150.939,4087 144.031</a:t>
            </a:r>
          </a:p>
          <a:p>
            <a:r>
              <a:t>CNPJ 60010416000112 · Classes e séries de cotas · Demonstrações Financeiras - Fusão, cisão e incorporação · ID 1298690 · 2026-05-08 · versão 1 · p. 7 · https://fnet.bmfbovespa.com.br/fnet/publico/visualizarDocumento?id=1298690</a:t>
            </a:r>
          </a:p>
          <a:p>
            <a:r>
              <a:t>CNPJ 60010416000112 · Classes e séries de cotas · Excerto da fonte:</a:t>
            </a:r>
          </a:p>
          <a:p>
            <a:r>
              <a:t>Patrimônio líquido no final do período  Total de 2.865.592,8479 cotas a R$ 1.285,7151 3.672.765  Total de 493.487,7492 cotas sêniores a R$ 1.230,3042 607.141  Total de 2.362.150,8684 cotas sêniores 2 a R$ 1.236,9918 2.921.961  Total de 954,2302 cotas subordinadas a R$ 150.554,2733 143.663</a:t>
            </a:r>
          </a:p>
          <a:p>
            <a:r>
              <a:t>CNPJ 60010416000112 · Classes e séries de cotas · Condição: Documentos atuais selecionados no inventário por categoria/escopo; a data documental isolada não comprova vigência jurídica.</a:t>
            </a:r>
          </a:p>
          <a:p>
            <a:r>
              <a:t>CNPJ 60010416000112 · Classes e séries de cotas · Versão e prevalência: Documentos atuais selecionados no inventário por categoria/escopo; a data documental isolada não comprova vigência jurídica.</a:t>
            </a:r>
          </a:p>
          <a:p>
            <a:r>
              <a:t>CNPJ 60010416000112 · Classes e séries de cotas · Resumo do histórico: {"count": 9, "dates": ["2025-11-30", "2026-03-18", "2026-04-16"], "document_count": 3, "sources": [{"document_id": "1282181", "title": "Demonstrações Financeiras - Fusão, cisão e incorporação", "reference_date": "2026-04-16", "version": "1", "page": 7, "url": "https://fnet.bmfbovespa.com.br/fnet/publico/visualizarDocumento?id=1282181", "sha256": "b1c6566e43a00bcd00c8a7f30c77b7f86e351bd8e355bbea113f46d1dafda703"}, {"document_id": "1224477", "title": "Demonstrações Financeiras - Fusão, cisão e incorporação", "reference_date": "2026-03-18", "version": "1", "page": 7, "url": "https://fnet.bmfbovespa.com.br/fnet/publico/visualizarDocumento?id=1224477", "sha256": "0751bf0a75bc3b44c2748f5000226665c6ec6698a90c4dc6170b4e6c187759ae"}, {"document_id": "1126154", "title": "Demonstrações Financeiras", "reference_date": "2025-11-30", "version": "1", "page": 7, "url": "https://fnet.bmfbovespa.com.br/fnet/publico/visualizarDocumento?id=1126154", "sha256": "a01e7ccf88c548f12c95cba8526d7efbef6b585c112cd4668eca781c292090b0"}], "reference": {"path": "history/60010416000112.json", "criterion_id": "quota_classes", "total_count": 9, "preview_count": 3, "full_text_deferred": true, "sha256": "8e2bd813f4c51cf01f6bfaad164bafe69d2bbb192f753eac92da3a01c2e63046"}}</a:t>
            </a:r>
          </a:p>
          <a:p>
            <a:r>
              <a:t>CNPJ 62696791000193 · Classes e séries de cotas · Instrumento Particular de Emissão de Cotas · ID 1148821 · 2026-03-27 · versão 1 · p. 1 · 20.000 · https://fnet.bmfbovespa.com.br/fnet/publico/visualizarDocumento?id=1148821</a:t>
            </a:r>
          </a:p>
          <a:p>
            <a:r>
              <a:t>CNPJ 62696791000193 · Classes e séries de cotas · Excerto da fonte:</a:t>
            </a:r>
          </a:p>
          <a:p>
            <a:r>
              <a:t>20.000 (vinte mil) Cotas Subordinadas Júnior, com valor nominal unitário de R$ 1.000,00 (mil reais),  perfazendo o montante total de R$ 20.000.000,00 (vinte milhões de reais), as quais serão objeto de  colocação privada, de acordo com os termos e condições definidos no Apêndice da Subclasse  Subordinada Júnior constante do Anexo I Regulamento e descritas abaixo (“2ª Emissão da Subclasse  Subordinada Júnior”):</a:t>
            </a:r>
          </a:p>
          <a:p>
            <a:r>
              <a:t>CNPJ 62696791000193 · Classes e séries de cotas · Instrumento Particular de Emissão de Cotas · ID 1148821 · 2026-03-27 · versão 1 · p. 2 · https://fnet.bmfbovespa.com.br/fnet/publico/visualizarDocumento?id=1148821</a:t>
            </a:r>
          </a:p>
          <a:p>
            <a:r>
              <a:t>CNPJ 62696791000193 · Classes e séries de cotas · Excerto da fonte:</a:t>
            </a:r>
          </a:p>
          <a:p>
            <a:r>
              <a:t>2. Aprovar a 2ª (segunda) emissão da Subclasse Sênior da Classe, composta por até 150.000  (cento e cinquenta mil) Cotas Seniores, com valor nominal unitário de R$ 1.000,00 (mil reais),  perfazendo o montante total de R$ 150.000.000,00 (cento e cinquenta milhões de reais), as quais  serão objeto de colocação privada, de acordo com os termos e condições descritos no Apêndice da  Subclasse Sênior constante do Anexo I Regulamento e descritas abaixo (“2ª Emissão da Subclasse  Sênior”):</a:t>
            </a:r>
          </a:p>
          <a:p>
            <a:r>
              <a:t>CNPJ 62696791000193 · Classes e séries de cotas · Instrumento Particular de Emissão de Cotas · ID 1148821 · 2026-03-27 · versão 1 · p. 2 · https://fnet.bmfbovespa.com.br/fnet/publico/visualizarDocumento?id=1148821</a:t>
            </a:r>
          </a:p>
          <a:p>
            <a:r>
              <a:t>CNPJ 62696791000193 · Classes e séries de cotas · Excerto da fonte:</a:t>
            </a:r>
          </a:p>
          <a:p>
            <a:r>
              <a:t>d) Forma de Integralização: as Cotas Subordinadas Júnior serão integralizadas à vista, junto ao  seu respectivo agente de custódia e/ou da Administradora na qualidade de escriturador das  cotas; e</a:t>
            </a:r>
          </a:p>
          <a:p>
            <a:r>
              <a:t>CNPJ 62696791000193 · Classes e séries de cotas · Condição: Documentos atuais selecionados no inventário por categoria/escopo; a data documental isolada não comprova vigência jurídica.</a:t>
            </a:r>
          </a:p>
          <a:p>
            <a:r>
              <a:t>CNPJ 62696791000193 · Classes e séries de cotas · Versão e prevalência: Documentos atuais selecionados no inventário por categoria/escopo; a data documental isolada não comprova vigência jurídica.</a:t>
            </a:r>
          </a:p>
          <a:p>
            <a:r>
              <a:t>CNPJ 62696791000193 · Classes e séries de cotas · Resumo do histórico: {"count": 2, "dates": ["2026-03-20", "2026-03-27"], "document_count": 2, "sources": [{"document_id": "1148821", "title": "Instrumento Particular de Emissão de Cotas", "reference_date": "2026-03-27", "version": "1", "page": "1-2", "url": "https://fnet.bmfbovespa.com.br/fnet/publico/visualizarDocumento?id=1148821", "sha256": "86900e9dd498403696bfffbd4196443c83ec4d51ff21135e073c1966e1adf4c0"}, {"document_id": "1143317", "title": "Regulamento", "reference_date": "2026-03-20", "version": "1", "page": 16, "clause": "7.2", "url": "https://fnet.bmfbovespa.com.br/fnet/publico/visualizarDocumento?id=1143317", "sha256": "32f62818d51c3ebeaf9ec012d3d7867f15c1aed6d10f0867c157a290df1cea48"}], "reference": {"path": "history/62696791000193.json", "criterion_id": "quota_classes", "total_count": 2, "preview_count": 2, "full_text_deferred": true, "sha256": "0e9ec199848320ec945708123ae0cb6075d76c05d94beed814d582031d353926"}}</a:t>
            </a:r>
          </a:p>
          <a:p>
            <a:r>
              <a:t>CNPJ 55563624000109 · Classes e séries de cotas · Regulamento · ID 1192614 · 2026-04-30 · versão 1 · p. 40 · https://fnet.bmfbovespa.com.br/fnet/publico/visualizarDocumento?id=1192614</a:t>
            </a:r>
          </a:p>
          <a:p>
            <a:r>
              <a:t>CNPJ 55563624000109 · Classes e séries de cotas · Excerto da fonte:</a:t>
            </a:r>
          </a:p>
          <a:p>
            <a:r>
              <a:t>(xxiv) Subordinação de determinadas Cotas da Classe Investida a outras subclasses ou séries de  cotas das Classes Investidas aos quais pertencem. A Classe Investida adquirirá apenas cotas  subordinadas mezaninos da Classe Investida, as quais se subordinam às cotas seniores da Classe  Investida para efeitos de resgate. Os resgates de cotas subordinadas mezanino tipicamente têm sua  realização condicionada ainda à manutenção da razão de garantia e à existência de disponibilidades  da Classe Investida. O ADMINISTRADOR, o GESTOR e o CUSTODIANTE e suas respectivas partes  relacionadas, encontram-se impossibilitados de assegurar que a amortização e o resgate das cotas  subordinadas mezanino da Classe Investida que venham a ser adquiridas pela Classe ocorrerão nas  datas originalmente previstas, sendo que, caso tais amortizações e/ou resgates não ocorram, não será  devido pelo FUNDO ou qualquer pessoa, incluindo o ADMINISTRADOR, o GESTOR e o CUSTODIANTE,  do FUNDO ou da Classe Investida qualquer multa ou penalidade, de qualquer natureza. O não resgate  de cotas subordinadas mezanino da Classe Investida detidas pela Classe poderá impactar  negativamente no fluxo de pagamento de resgate da Classe e/ou no valor patrimonial das Cotas da  Classe.</a:t>
            </a:r>
          </a:p>
          <a:p>
            <a:r>
              <a:t>CNPJ 55563624000109 · Classes e séries de cotas · Regulamento · ID 1192614 · 2026-04-30 · versão 1 · p. 31 · 15.1.1 · https://fnet.bmfbovespa.com.br/fnet/publico/visualizarDocumento?id=1192614</a:t>
            </a:r>
          </a:p>
          <a:p>
            <a:r>
              <a:t>CNPJ 55563624000109 · Classes e séries de cotas · Excerto da fonte:</a:t>
            </a:r>
          </a:p>
          <a:p>
            <a:r>
              <a:t>15.1.1 Riscos de Crédito:</a:t>
            </a:r>
          </a:p>
          <a:p>
            <a:r>
              <a:t> (i) Risco de concentração na Classe Investida. Nos termos do presente Regulamento, a Classe  deverá manter alocado, no mínimo, 67% (sessenta e sete por cento) do Patrimônio Líquido nas Cotas  da Classe Investida. Alterações na condição econômico-financeira e na expectativa de desempenho ou  resultados da Classe Investida poderão, isolada ou cumulativamente, afetar negativamente o  rendimento do investimento nas Cotas, de forma mais severa do que se a Classe adotasse uma  estratégia de investimento de maior diversificação. O risco associado às aplicações de qualquer fundo  de investimento é diretamente proporcional à concentração da sua carteira, sendo que, quanto maior  essa concentração, maior será a sua vulnerabilidade.</a:t>
            </a:r>
          </a:p>
          <a:p>
            <a:r>
              <a:t> (ii) Risco relativo à Classe Investida. Nos termos deste Anexo, a Classe deverá manter alocado, no  mínimo, 67% (sessenta e sete por cento) do Patrimônio Líquido em Cotas da Classe Investida. Os  investimentos realizados pela Classe Investida poderão estar sujeitos a flutuações típicas do mercado,  risco de crédito, risco sistêmico, condições adversas de liquidez e negociação atípica nos mercados de  atuação, bem como outros riscos diversos. Este Anexo não contém a descrição de todas as  características, incluindo os riscos, da Classe Investida.</a:t>
            </a:r>
          </a:p>
          <a:p>
            <a:r>
              <a:t> (iii) Risco Relativo ao Pagamento de Encargos da Classe Investida. Tendo em vista a estrutura da  Classe Investida – que emitiu cotas sêniores, cotas subordinadas mezanino e cotas subordinadas júnior  – em situação ordinária os encargos da Classe Investida são arcados pelas cotas subordinadas júnior,  que se subordinam às cotas subordinadas mezanino e às cotas sêniores para fins de amortização,  resgate e distribuição de rendimentos, não impactando, portanto, as Cotas da Classe Investida. Não  obstante o funcionamento da Classe Investida em situação ordinária, em cenários extraordinários, na  eventualidade do valor das cotas subordinadas júnior ficar reduzido a zero ou a valor negativo, os  encargos da Classe Investida conforme previstos em seu regulamento, inclusive mas não se limitando  as remunerações dos prestadores de serviços essenciais, passarão a ser arcados pelas cotas  subordinadas mezanino (que são as Cotas da Classe Investida), impactando no valor do investimento  da Classe na Classe Investida, e consequentemente, o investimento dos Cotistas na Classe.</a:t>
            </a:r>
          </a:p>
          <a:p>
            <a:r>
              <a:t> (iv) Riscos referentes à carteira da Classe Investida. Na forma do Anexo Normativo II da Resolução  CVM 175, a Classe Investida investe, direta ou indiretamente, no mínimo, 67% (sessenta e sete por  cento) do seu patrimônio em direitos creditórios originados pela Mercado Pago. O investimento em tais  direitos creditórios está sujeito a fatores de risco específicos, conforme detalhados no regulamento da  Classe Investida, incluindo, mas não se limitando a:</a:t>
            </a:r>
          </a:p>
          <a:p>
            <a:r>
              <a:t> (a) Risco de liquidez dos direitos creditórios. O investimento da Classe Investida em direitos  creditórios apresenta peculiaridades em relação às aplicações usuais da maioria dos  fundos de investimento brasileiros, haja vista que não existe, no Brasil, mercado  secundário com liquidez para tais direitos creditórios. Caso a Classe Investida precise  vender os direitos creditórios adquiridos, poderá não haver mercado comprador para  tais créditos, bem como o preço de alienação de tais direitos creditórios poderá refletir  essa falta de liquidez, causando perda ao patrimônio da Classe Investida e,  consequentemente, à Classe.</a:t>
            </a:r>
          </a:p>
          <a:p>
            <a:r>
              <a:t>CNPJ 55563624000109 · Classes e séries de cotas · AGE · ID 1192603 · 2026-04-30 · versão 1 · p. 1 · 4.1 · https://fnet.bmfbovespa.com.br/fnet/publico/visualizarDocumento?id=1192603</a:t>
            </a:r>
          </a:p>
          <a:p>
            <a:r>
              <a:t>CNPJ 55563624000109 · Classes e séries de cotas · Excerto da fonte:</a:t>
            </a:r>
          </a:p>
          <a:p>
            <a:r>
              <a:t>4.1. Aprovar a alteração do Anexo I da Classe Única para a reorganização do passivo de sua subclasse  única em novas subclasses, quais sejam, subclasse A (“Subclasse A”), subclasse B (“Subclasse B”) e  subclasse C (“Subclasse C” e, quando em conjunto com a Subclasse A e a Subclasse B, as “Subclasses”),  considerando que serão mantidas as condições de investimento originalmente pactuadas com os cotistas,  como critérios de aplicação, resgate, amortização e política de investimento da Classe Única, diferindo-  se, exclusivamente, em relação ao prazo de duração cada Subclasse.</a:t>
            </a:r>
          </a:p>
          <a:p>
            <a:r>
              <a:t>CNPJ 55563624000109 · Classes e séries de cotas · Condição: Documentos atuais selecionados no inventário por categoria/escopo; a data documental isolada não comprova vigência jurídica.</a:t>
            </a:r>
          </a:p>
          <a:p>
            <a:r>
              <a:t>CNPJ 55563624000109 · Classes e séries de cotas · Versão e prevalência: Documentos atuais selecionados no inventário por categoria/escopo; a data documental isolada não comprova vigência jurídica.</a:t>
            </a:r>
          </a:p>
          <a:p>
            <a:r>
              <a:t>CNPJ 55563624000109 · Classes e séries de cotas · Resumo do histórico: {"count": 3, "dates": ["2025-01-31", "2026-01-31", "2026-04-30"], "document_count": 3, "sources": [{"document_id": "1192614", "title": "Regulamento", "reference_date": "2026-04-30", "version": "1", "page": "15", "url": "https://fnet.bmfbovespa.com.br/fnet/publico/visualizarDocumento?id=1192614", "sha256": "f56e63ace0acde41d2f47fb48f1ac7f3f7df5e2d32de092d7c5e075a52516632"}, {"document_id": "1178840", "title": "Demonstrações Financeiras", "reference_date": "2026-01-31", "version": "1", "page": 25, "url": "https://fnet.bmfbovespa.com.br/fnet/publico/visualizarDocumento?id=1178840", "sha256": "c458e98664c5c907ddb5a05a94b120bed4e05295b2bfc420f5ba69af0a229abe"}, {"document_id": "891861", "title": "Demonstrações Financeiras", "reference_date": "2025-01-31", "version": "1", "page": 26, "url": "https://fnet.bmfbovespa.com.br/fnet/publico/visualizarDocumento?id=891861", "sha256": "e9cb9e6ddbe505fe068cfcac33605165a98313489de0d3ce6d4d238263c3f3e7"}], "reference": {"path": "history/55563624000109.json", "criterion_id": "quota_classes", "total_count": 3, "preview_count": 3, "full_text_deferred": true, "sha256": "7835d573fb58a3c19adf5b8ecc2aee2bdbb9a88f7a0c0209b5f262b64c7522e3"}}</a:t>
            </a:r>
          </a:p>
          <a:p>
            <a:r>
              <a:t>CNPJ 62552447000120 · Classes e séries de cotas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Classes e séries de cotas · Resumo do histórico: {"count": 1, "dates": ["2025-09-03"], "document_count": 1, "sources": [{"document_id": "988020", "title": "Instrumento Particular de Emissão de Cotas", "reference_date": "2025-09-03", "version": "1", "page": "5", "url": "https://fnet.bmfbovespa.com.br/fnet/publico/visualizarDocumento?id=988020", "sha256": "8ecc8a771bb9713d64e5fc2052c489664cb0433801a9280db68e5187d35bf7a5"}], "reference": {"path": "history/62552447000120.json", "criterion_id": "quota_classes", "total_count": 1, "preview_count": 1, "full_text_deferred": true, "sha256": "d95db8c0613d67ee84118c734588665265ea6b02f86a0318d6a844cbe1d0f82f"}}</a:t>
            </a:r>
          </a:p>
          <a:p>
            <a:r>
              <a:t>CNPJ 63953620000165 · Classes e séries de cotas · AGE · ID 1313935 · 2026-08-31 · versão 1 · p. 1 · 4.1 · https://fnet.bmfbovespa.com.br/fnet/publico/visualizarDocumento?id=1313935</a:t>
            </a:r>
          </a:p>
          <a:p>
            <a:r>
              <a:t>CNPJ 63953620000165 · Classes e séries de cotas · Excerto da fonte:</a:t>
            </a:r>
          </a:p>
          <a:p>
            <a:r>
              <a:t>4.1. Aprovar a realização da incorporação das parcelas cindidas descritas no Anexo I à presente ata (“Parcelas  Cindidas”), com base no fechamento de 28 de agosto de 2026 (“Data Base”), condicionada à aprovação da cisão  da CLASSE ÚNICA DO MT CONSIGNADO PRIVADO I FUNDO DE INVESTIMENTO EM DIREITOS CREDITÓRIOS  RESPONSABILIDADE LIMITADA, inscrita no CNPJ sob o nº 60.010.416/0001-12 (“Classe Cindida”), com a  subsequente incorporação da respectiva Parcela Cindida, emitindo-se cotas seniores da Classe, a serem  atribuídas integralmente aos cotistas da Classe Cindida, no valor da respectiva Parcela Cindida, na Data-Base, de  acordo com o valor das cotas da Classe na mesma data. A partir da Data Base, todos os direitos e obrigações dos  ativos cindidos serão sucedidos à Classe;</a:t>
            </a:r>
          </a:p>
          <a:p>
            <a:r>
              <a:t>CNPJ 63953620000165 · Classes e séries de cotas · Condição: Documentos atuais selecionados no inventário por categoria/escopo; a data documental isolada não comprova vigência jurídica.</a:t>
            </a:r>
          </a:p>
          <a:p>
            <a:r>
              <a:t>CNPJ 63953620000165 · Classes e séries de cotas · Versão e prevalência: Documentos atuais selecionados no inventário por categoria/escopo; a data documental isolada não comprova vigência jurídica.</a:t>
            </a:r>
          </a:p>
          <a:p>
            <a:r>
              <a:t>CNPJ 63953620000165 · Classes e séries de cotas · Resumo do histórico: {"count": 11, "dates": ["2026-07-29", "2026-08-17", "2026-08-21"], "document_count": 3, "sources": [{"document_id": "1309436", "title": "AGE", "reference_date": "2026-08-21", "version": "1", "page": 1, "clause": "4.1", "url": "https://fnet.bmfbovespa.com.br/fnet/publico/visualizarDocumento?id=1309436", "sha256": "f679de1621039dce7c665e3a742f213fd4d5047e12b96163b31ea4ae86f56817"}, {"document_id": "1298232", "title": "AGE", "reference_date": "2026-08-17", "version": "1", "page": 1, "clause": "4.1", "url": "https://fnet.bmfbovespa.com.br/fnet/publico/visualizarDocumento?id=1298232", "sha256": "75322e306547f725e73a2c6687b598e14d628caa84bd46a23508337a606866f6"}, {"document_id": "1277543", "title": "AGE", "reference_date": "2026-07-29", "version": "1", "page": 1, "url": "https://fnet.bmfbovespa.com.br/fnet/publico/visualizarDocumento?id=1277543", "sha256": "c2fb499fd6e25251a221d4e9dbb5d1378fb5efde5a58eee091868faf52d326c0"}], "reference": {"path": "history/63953620000165.json", "criterion_id": "quota_classes", "total_count": 11, "preview_count": 3, "full_text_deferred": true, "sha256": "a7b89077f5e21098c2d601c303faabc3ff6b9729f89d8afecdc60fe1404720c1"}}</a:t>
            </a:r>
          </a:p>
          <a:p>
            <a:r>
              <a:t>CNPJ 54871427000194 · Ofertas e colocação · AGE · ID 1055482 · 2025-12-02 · versão 1 · p. 1 · 4.1 · https://fnet.bmfbovespa.com.br/fnet/publico/visualizarDocumento?id=1055482</a:t>
            </a:r>
          </a:p>
          <a:p>
            <a:r>
              <a:t>CNPJ 54871427000194 · Ofertas e colocação · Excerto da fonte:</a:t>
            </a:r>
          </a:p>
          <a:p>
            <a:r>
              <a:t>4.1. Aprovar a nova emissão de Cotas pela Classe, todas nominativas e escriturais, com preço unitário de emissão  correspondente ao valor das Cotas da Classe em circulação quando na data de aprovação da Nova Emissão,  perfazendo o montante total de emissão de até R$ 650.000.000 (seiscentos e cinquenta milhões de reais), conforme  as características constantes do Regulamento e do Anexo da Classe (“Novas Cotas” e “Nova Emissão”,  respectivamente), e descritas abaixo:</a:t>
            </a:r>
          </a:p>
          <a:p>
            <a:r>
              <a:t>(i) Rito: as Novas Cotas não serão objeto de oferta pública, conforme facultado pelo artigo 8º, inciso IV, da  Resolução CVM nº 160, uma vez que a Classe se enquadra nos requisitos do referido dispositivo;</a:t>
            </a:r>
          </a:p>
          <a:p>
            <a:r>
              <a:t>(ii) Preço de Emissão: o preço unitário de emissão corresponderá ao valor das Cotas da Classe em circulação  quando na data de aprovação da Nova Emissão (“Preço de Emissão”);</a:t>
            </a:r>
          </a:p>
          <a:p>
            <a:r>
              <a:t>(iii) Preço de Integralização: o Preço de Integralização corresponderá ao valor das Cotas da Classe em  circulação quando da transferência dos valores para liquidação financeira (“Preço de Integralização”);</a:t>
            </a:r>
          </a:p>
          <a:p>
            <a:r>
              <a:t>(iv) Forma de Integralização: as Cotas serão integralizadas à vista, em moeda corrente nacional, pelo Preço  de Integralização, junto ao seu respectivo agente de custódia e/ou da Administradora na qualidade de  escriturador das cotas; e</a:t>
            </a:r>
          </a:p>
          <a:p>
            <a:r>
              <a:t>(v) Período de colocação: a subscrição das Cotas, objeto da Nova Emissão, deverão ser realizadas no prazo  máximo de 180 (cento e oitenta) dias, contados da data de efeitos do presente instrumento.</a:t>
            </a:r>
          </a:p>
          <a:p>
            <a:r>
              <a:t>CNPJ 54871427000194 · Ofertas e colocação · Condição: Trechos do documento específico identificado com data mais recente; vigência jurídica não inferida.</a:t>
            </a:r>
          </a:p>
          <a:p>
            <a:r>
              <a:t>CNPJ 54871427000194 · Ofertas e colocação · Versão e prevalência: Trechos do documento específico identificado com data mais recente; vigência jurídica não inferida.</a:t>
            </a:r>
          </a:p>
          <a:p>
            <a:r>
              <a:t>CNPJ 54871427000194 · Ofertas e colocação · Resumo do histórico: {"count": 7, "dates": ["2024-06-13", "2024-12-10"], "document_count": 3, "sources": [{"document_id": "798101", "title": "Anúncio de Encerramento", "reference_date": "2024-12-10", "version": "1", "page": "1-2", "url": "https://fnet.bmfbovespa.com.br/fnet/publico/visualizarDocumento?id=798101", "sha256": "71618c432ad86002484571d66922b873e4fa91ed3543a109134ddee0bd872f20"}, {"document_id": "679614", "title": "Anúncio de Início", "reference_date": "2024-06-13", "version": "1", "page": 1, "url": "https://fnet.bmfbovespa.com.br/fnet/publico/visualizarDocumento?id=679614", "sha256": "aad43ed14bfa0576144a306c466aea031fce0d01d3cb3de6aebd120f11164bfa"}, {"document_id": "683482", "title": "AGE", "reference_date": "2024-06-13", "version": "1", "page": 2, "url": "https://fnet.bmfbovespa.com.br/fnet/publico/visualizarDocumento?id=683482", "sha256": "3afbe254027691929935eaf19ebbb8634fb2ccd8e2fbea2cb2d81a7818f8d648"}], "reference": {"path": "history/54871427000194.json", "criterion_id": "offers", "total_count": 7, "preview_count": 3, "full_text_deferred": true, "sha256": "35d7cd99be50c7287c9fb675cf4f2e736002315295a225a9efa79c8d9186d874"}}</a:t>
            </a:r>
          </a:p>
          <a:p>
            <a:r>
              <a:t>CNPJ 60010416000112 · Ofertas e colocação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Ofertas e colocação · Resumo do histórico: {"count": 1, "dates": ["2025-03-20"], "document_count": 1, "sources": [{"document_id": "993785", "title": "Instrumento Particular de Constituição/Encerramento do Fundo", "reference_date": "2025-03-20", "version": "1", "page": "1-2", "url": "https://fnet.bmfbovespa.com.br/fnet/publico/visualizarDocumento?id=993785", "sha256": "0826e0eae2c51afabf59bbc49fc7647598d03da5ca6de0f9725850a8bd6af457"}], "reference": {"path": "history/60010416000112.json", "criterion_id": "offers", "total_count": 1, "preview_count": 1, "full_text_deferred": true, "sha256": "8e2bd813f4c51cf01f6bfaad164bafe69d2bbb192f753eac92da3a01c2e63046"}}</a:t>
            </a:r>
          </a:p>
          <a:p>
            <a:r>
              <a:t>CNPJ 62696791000193 · Ofertas e colocação · Regulamento · ID 1143317 · 2026-03-20 · versão 1 · p. 39 · 2.6 · https://fnet.bmfbovespa.com.br/fnet/publico/visualizarDocumento?id=1143317</a:t>
            </a:r>
          </a:p>
          <a:p>
            <a:r>
              <a:t>CNPJ 62696791000193 · Ofertas e colocação · Excerto da fonte:</a:t>
            </a:r>
          </a:p>
          <a:p>
            <a:r>
              <a:t>2.6. O valor de mercado das Cotas de emissão da Classe poderá sofrer oscilações frequentes e  significativas, inclusive ao longo do dia. Como consequência, o valor de mercado das cotas de  emissão da Classe poderá não ref letir necessariamente seu valor patrimonial. Não será devida  pela Classe ou por qualquer pessoa, incluindo as instituições responsáveis pela distribuição  das cotas, os demais Cotistas da Classe, o Administrador e as instituições participantes da  of erta, qualquer multa ou penalidade de qualquer natureza, caso ocorra, por qualquer razão,</a:t>
            </a:r>
          </a:p>
          <a:p>
            <a:r>
              <a:t> (i) o alongamento do período de amortização das Cotas; (ii) a liquidação da Classe; ou, ainda,</a:t>
            </a:r>
          </a:p>
          <a:p>
            <a:r>
              <a:t> (iii) caso os Cotistas sof ram qualquer dano ou prejuízo resultante de tais eventos.</a:t>
            </a:r>
          </a:p>
          <a:p>
            <a:r>
              <a:t>3. Risco TributárioOs rendimentos e ganhos líquidos auf eridos pela Classe em aplicações f inanceiras de  renda f ixa ou de renda variável sujeitam-se à incidência do imposto de renda na f onte, observadas as  mesmas normas aplicáveis às pessoas jurídicas, podendo esse imposto ser compensado com o retido na  f onte pela Classe quando da distribuição de rendimentos e ganhos de capital aos Cotistas. Os rendimentos  auf eridos pela Classe, quando distribuídos aos Cotistas sujeitam-se à incidência do Imposto de Renda na  f onte à alíquota de 20% (vinte por cento). Os rendimentos e ganhos de capital auferidos pelos Cotistas na</a:t>
            </a:r>
          </a:p>
          <a:p>
            <a:r>
              <a:t>CNPJ 62696791000193 · Ofertas e colocação · Regulamento · ID 1143317 · 2026-03-20 · versão 1 · p. 28 · https://fnet.bmfbovespa.com.br/fnet/publico/visualizarDocumento?id=1143317</a:t>
            </a:r>
          </a:p>
          <a:p>
            <a:r>
              <a:t>CNPJ 62696791000193 · Ofertas e colocação · Excerto da fonte:</a:t>
            </a:r>
          </a:p>
          <a:p>
            <a:r>
              <a:t>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equivalente a 0,9% (nove décimos  por cento) ao ano aplicado sobre o Patrimônio Anexo I ao  Regulamento Líquido, observado o limite máximo de 4,5% (quatro  inteiros e cinquenta centésimos por cento) do volume captado na  respectiva oferta (“Taxa Máxima de Distribuição”).A Taxa Máxima de</a:t>
            </a:r>
          </a:p>
          <a:p>
            <a:r>
              <a:t>CNPJ 62696791000193 · Ofertas e colocação · Condição: Documentos atuais selecionados no inventário por categoria/escopo; a data documental isolada não comprova vigência jurídica.</a:t>
            </a:r>
          </a:p>
          <a:p>
            <a:r>
              <a:t>CNPJ 62696791000193 · Ofertas e colocação · Versão e prevalência: Documentos atuais selecionados no inventário por categoria/escopo; a data documental isolada não comprova vigência jurídica.</a:t>
            </a:r>
          </a:p>
          <a:p>
            <a:r>
              <a:t>CNPJ 62696791000193 · Ofertas e colocação · Resumo do histórico: {"count": 1, "dates": ["2026-03-27"], "document_count": 1, "sources": [{"document_id": "1148821", "title": "Instrumento Particular de Emissão de Cotas", "reference_date": "2026-03-27", "version": "1", "page": "1-3", "url": "https://fnet.bmfbovespa.com.br/fnet/publico/visualizarDocumento?id=1148821", "sha256": "86900e9dd498403696bfffbd4196443c83ec4d51ff21135e073c1966e1adf4c0"}], "reference": {"path": "history/62696791000193.json", "criterion_id": "offers", "total_count": 1, "preview_count": 1, "full_text_deferred": true, "sha256": "0e9ec199848320ec945708123ae0cb6075d76c05d94beed814d582031d353926"}}</a:t>
            </a:r>
          </a:p>
          <a:p>
            <a:r>
              <a:t>CNPJ 55563624000109 · Ofertas e colocação · Regulamento · ID 1192614 · 2026-04-30 · versão 1 · p. 25 · 12.9 · https://fnet.bmfbovespa.com.br/fnet/publico/visualizarDocumento?id=1192614</a:t>
            </a:r>
          </a:p>
          <a:p>
            <a:r>
              <a:t>CNPJ 55563624000109 · Ofertas e colocação · Excerto da fonte:</a:t>
            </a:r>
          </a:p>
          <a:p>
            <a:r>
              <a:t>12.9 Inclui-se entre as obrigações do GESTOR, contratar, em nome da Classe, se necessário, com terceiros  devidamente habilitados e autorizados, os serviços de distribuição das Cotas. A distribuição pública das Cotas  deverá ser realizada por distribuidores devidamente autorizados pela CVM, nos termos da regulamentação  aplicável.</a:t>
            </a:r>
          </a:p>
          <a:p>
            <a:r>
              <a:t>CNPJ 55563624000109 · Ofertas e colocação · Condição: Documentos atuais selecionados no inventário por categoria/escopo; a data documental isolada não comprova vigência jurídica.</a:t>
            </a:r>
          </a:p>
          <a:p>
            <a:r>
              <a:t>CNPJ 55563624000109 · Ofertas e colocação · Versão e prevalência: Documentos atuais selecionados no inventário por categoria/escopo; a data documental isolada não comprova vigência jurídica.</a:t>
            </a:r>
          </a:p>
          <a:p>
            <a:r>
              <a:t>CNPJ 55563624000109 · Ofertas e colocação · Resumo do histórico: {"count": 3, "dates": ["2024-07-03"], "document_count": 3, "sources": [{"document_id": "703295", "title": "Anúncio de Início", "reference_date": "2024-07-03", "version": "2", "page": 1, "url": "https://fnet.bmfbovespa.com.br/fnet/publico/visualizarDocumento?id=703295", "sha256": "12322b6dbf75e673723bd60910373db249451b72666792e18e0c7b6128f4608a"}, {"document_id": "702585", "title": "Anúncio de Início", "reference_date": "2024-07-03", "version": "1", "page": 1, "url": "https://fnet.bmfbovespa.com.br/fnet/publico/visualizarDocumento?id=702585", "sha256": "6708609ac7f0611118fb23ffd6d2cd6c7fd33275130407918ea42831baa712cd"}, {"document_id": "691674", "title": "Instrumento Particular de Emissão de Cotas", "reference_date": "2024-07-03", "version": "1", "page": 3, "url": "https://fnet.bmfbovespa.com.br/fnet/publico/visualizarDocumento?id=691674", "sha256": "78bf7b350f1785beae5f43bd209b5ed19e863cb9a2cff01542aac11dd63ca554"}], "reference": {"path": "history/55563624000109.json", "criterion_id": "offers", "total_count": 3, "preview_count": 3, "full_text_deferred": true, "sha256": "7835d573fb58a3c19adf5b8ecc2aee2bdbb9a88f7a0c0209b5f262b64c7522e3"}}</a:t>
            </a:r>
          </a:p>
          <a:p>
            <a:r>
              <a:t>CNPJ 62552447000120 · Ofertas e colocação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Ofertas e colocação · Resumo do histórico: {"count": 1, "dates": ["2025-09-03"], "document_count": 1, "sources": [{"document_id": "988020", "title": "Instrumento Particular de Emissão de Cotas", "reference_date": "2025-09-03", "version": "1", "page": "5-6", "url": "https://fnet.bmfbovespa.com.br/fnet/publico/visualizarDocumento?id=988020", "sha256": "8ecc8a771bb9713d64e5fc2052c489664cb0433801a9280db68e5187d35bf7a5"}], "reference": {"path": "history/62552447000120.json", "criterion_id": "offers", "total_count": 1, "preview_count": 1, "full_text_deferred": true, "sha256": "d95db8c0613d67ee84118c734588665265ea6b02f86a0318d6a844cbe1d0f82f"}}</a:t>
            </a:r>
          </a:p>
          <a:p>
            <a:r>
              <a:t>CNPJ 63953620000165 · Ofertas e colocação · Anexo ao Regulamento · ID 1222863 · 2026-06-02 · versão 1 · p. 10 · 6.9 · https://fnet.bmfbovespa.com.br/fnet/publico/visualizarDocumento?id=1222863</a:t>
            </a:r>
          </a:p>
          <a:p>
            <a:r>
              <a:t>CNPJ 63953620000165 · Ofertas e colocação · Excerto da fonte:</a:t>
            </a:r>
          </a:p>
          <a:p>
            <a:r>
              <a:t>6.9 As Cotas poderão ser objeto de oferta pública a ser realizada nos termos da Resolução CVM 160 (“Oferta”) e/ou  poderão ser colocadas de forma privada (“Colocação Privada”), bem como segundo outros ritos que venham a  ser previstos pela regulamentação. As Cotas deverão ser emitidas e subscritas dentro do prazo e nos termos e  condições da legislação aplicável, do presente Anexo e dos respectivos Boletins de Subscrição e/ou  Compromissos de Investimento.</a:t>
            </a:r>
          </a:p>
          <a:p>
            <a:r>
              <a:t>CNPJ 63953620000165 · Ofertas e colocação · Condição: Documentos atuais selecionados no inventário por categoria/escopo; a data documental isolada não comprova vigência jurídica.</a:t>
            </a:r>
          </a:p>
          <a:p>
            <a:r>
              <a:t>CNPJ 63953620000165 · Ofertas e colocação · Versão e prevalência: Documentos atuais selecionados no inventário por categoria/escopo; a data documental isolada não comprova vigência jurídica.</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Emissões e custos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Remuneração por subclasse e série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Remuneração por subclasse e série · Resumo do histórico: {"count": 1, "dates": ["2024-04-28"], "document_count": 1, "sources": [{"document_id": "670691", "title": "Regulamento", "reference_date": "2024-04-28", "version": "1", "page": "14", "url": "https://fnet.bmfbovespa.com.br/fnet/publico/visualizarDocumento?id=670691", "sha256": "bf16dd7f1a62d5cdbf2e2d54fef81783783f7310fbc99c3a8f00459bdf9d037b"}], "reference": {"path": "history/54871427000194.json", "criterion_id": "remuneration", "total_count": 1, "preview_count": 1, "full_text_deferred": true, "sha256": "35d7cd99be50c7287c9fb675cf4f2e736002315295a225a9efa79c8d9186d874"}}</a:t>
            </a:r>
          </a:p>
          <a:p>
            <a:r>
              <a:t>CNPJ 60010416000112 · Remuneração por subclasse e série · Instrumento Particular de Constituição/Encerramento do Fundo · ID 993785 · 20/03/2025 · versão 1ªemissão20/03/2025 · p. 5 · Suplemento1ªsênior BenchmarkSênior · https://fnet.bmfbovespa.com.br/fnet/publico/visualizarDocumento?id=993785</a:t>
            </a:r>
          </a:p>
          <a:p>
            <a:r>
              <a:t>CNPJ 60010416000112 · Remuneração por subclasse e série · Excerto da fonte:</a:t>
            </a:r>
          </a:p>
          <a:p>
            <a:r>
              <a:t>4,80% (quatro inteiros e oitenta centésimos por cento)calculado por Dia Útil à base de 1/252 (um inteiro e duzentos e cinquenta e dois avos); e (ii) “Benchmark Sênior Adicional”: o parâmetro adicional de rentabilidade a ser buscado pela Classe para remunerar as Cotas Seniores, correspondente 15,00% (quinze por cento) do excesso de spread das Cotas Subordinadas com cap de remuneração total das Cotas Seniores pela variação do CDI acrescido de 6,00% (seis por cento</a:t>
            </a:r>
          </a:p>
          <a:p>
            <a:r>
              <a:t>CNPJ 60010416000112 · Remuneração por subclasse e série · Condição: Termo específico da primeira emissão de 20/03/2025, distinto de taxa deperformance e do suplemento modelo com campos não preenchidos do regulamento.</a:t>
            </a:r>
          </a:p>
          <a:p>
            <a:r>
              <a:t>CNPJ 60010416000112 · Remuneração por subclasse e série · Versão e prevalência: Leitura específica das cláusulas indicadas; condições e conflitos preservados. Seleção documental atual não comprova vigência jurídica por data isolada.</a:t>
            </a:r>
          </a:p>
          <a:p>
            <a:r>
              <a:t>CNPJ 60010416000112 · Remuneração por subclasse e série · Resumo do histórico: {"count": 3, "dates": ["2025-03-20", "2025-05-12"], "document_count": 2, "sources": [{"document_id": "1004656", "title": "AGE", "reference_date": "2025-05-12", "version": "1", "page": 5, "url": "https://fnet.bmfbovespa.com.br/fnet/publico/visualizarDocumento?id=1004656", "sha256": "f6c9c009f6170e2b29f074b98522accec73f0c40efbf11f9ec2c8d3f1402616b"}, {"document_id": "993785", "title": "Instrumento Particular de Constituição/Encerramento do Fundo", "reference_date": "2025-03-20", "version": "1", "page": "4-5", "url": "https://fnet.bmfbovespa.com.br/fnet/publico/visualizarDocumento?id=993785", "sha256": "0826e0eae2c51afabf59bbc49fc7647598d03da5ca6de0f9725850a8bd6af457"}, {"document_id": "993785", "title": "Instrumento Particular de Constituição/Encerramento do Fundo", "reference_date": "2025-03-20", "version": "1", "page": 5, "url": "https://fnet.bmfbovespa.com.br/fnet/publico/visualizarDocumento?id=993785", "sha256": "0826e0eae2c51afabf59bbc49fc7647598d03da5ca6de0f9725850a8bd6af457"}], "reference": {"path": "history/60010416000112.json", "criterion_id": "remuneration", "total_count": 3, "preview_count": 3, "full_text_deferred": true, "sha256": "8e2bd813f4c51cf01f6bfaad164bafe69d2bbb192f753eac92da3a01c2e63046"}}</a:t>
            </a:r>
          </a:p>
          <a:p>
            <a:r>
              <a:t>CNPJ 62696791000193 · Remuneração por subclasse e série · Regulamento · ID 1143317 · 20/03/2026 · versão Regulamento — referência 20/03/2026 · p. 33 · Apêndice Sênior, 1.2 e 1.4 · https://fnet.bmfbovespa.com.br/fnet/publico/visualizarDocumento?id=1143317</a:t>
            </a:r>
          </a:p>
          <a:p>
            <a:r>
              <a:t>CNPJ 62696791000193 · Remuneração por subclasse e série · Excerto da fonte:</a:t>
            </a:r>
          </a:p>
          <a:p>
            <a:r>
              <a:t>1.2. As Cotas Seniores poderão ser divididas em séries com valores e prazos diferenciados para amortização, resgate e remuneração, sendo que cada série terá as mesmas características e conf erirá a seus titulares iguais direitos e obrigações nos termos deste Reg ulamento e do Apêndice ref erente a cada emissão/série de Cotas Seniores. 1.2. Benchmark. A Classe buscará atingir, para as Cotas Seniores, o “Benchmark”, correspondente à 100% (cem por cento) da variação positiva do CDI acrescida de 4,5% (quatro inteiros e cinco décimos por cento) ao ano. 1.3. O Benchmark não representa e nem devem ser considerados uma promessa, garantia ou sugestão de rentabilidade aos Cotistas Seniores, por parte da Classe, do Administrador, do Gestor e/ou do Cedente. 1.4. Independentemente do valor do Patrimônio Líquido da Classe, os Cotistas detentores de Cotas Seniores não f arão jus a uma rentabilidade superior ao Benchmark, o qual representará o limite máximo de remuneração possível para as Cotas Seniores. 2. Emissão, Subscrição e Integralização das Cotas 2.1. A Classe poderá emitir múltiplas Séries de Cotas Seniores, ficando ressalvado, no entanto, que cada nova Série de Cotas Seniores a ser emitida pela Classe</a:t>
            </a:r>
          </a:p>
          <a:p>
            <a:r>
              <a:t>CNPJ 62696791000193 · Remuneração por subclasse e série · Regulamento · ID 1143317 · 20/03/2026 · versão Regulamento — referência 20/03/2026 · p. 34 · Apêndice Sênior, 6.2 · https://fnet.bmfbovespa.com.br/fnet/publico/visualizarDocumento?id=1143317</a:t>
            </a:r>
          </a:p>
          <a:p>
            <a:r>
              <a:t>CNPJ 62696791000193 · Remuneração por subclasse e série · Excerto da fonte:</a:t>
            </a:r>
          </a:p>
          <a:p>
            <a:r>
              <a:t>6.2. Em complemento às Amortizações Programadas de Cotas Seniores, os Cotistas Seniores f arão jus, sempre que o Patrimônio Líquido da Classe assim permita e desde que o Valor Unitário das Cotas Seniores esteja superior ao valor de integralização das Cotas Seniores em circulação, a 50% (cinquenta por cento) de qualquer valor que exceder a Amortização das Cotas Subordinadas, conforme prevista no Apêndice da Subclasse Subordinada, a ser paga na Data de Amortização Programada de Cotas Seniores (“Amortização Extraordinária de Cotas Seniores”). 6.3. Os pagamentos das parcelas de Amortização e/ou de resgate das Cotas Seniores serão ef etuados, em moeda corrente nacional, pelo Valor Unitário das Cotas Seniores no dia do pagamento, calculado na forma descrita neste Apêndice e no Anexo I, por meio de depósito em conta de titularidade dos Cotistas titulares BTG Pactual 2 SAC: 0800 772 28 27 - Ouvidoria: 0800 722 00 48 - btgpactual.com</a:t>
            </a:r>
          </a:p>
          <a:p>
            <a:r>
              <a:t>CNPJ 62696791000193 · Remuneração por subclasse e série · Regulamento · ID 1143317 · 20/03/2026 · versão Regulamento — referência 20/03/2026 · p. 37 · Apêndice Júnior, 4.1–4.2 · https://fnet.bmfbovespa.com.br/fnet/publico/visualizarDocumento?id=1143317</a:t>
            </a:r>
          </a:p>
          <a:p>
            <a:r>
              <a:t>CNPJ 62696791000193 · Remuneração por subclasse e série · Excerto da fonte:</a:t>
            </a:r>
          </a:p>
          <a:p>
            <a:r>
              <a:t>4.1. Caso o Patrimônio Líquido da Classe assim permita, as Cotas Subordinadas f arão jus à amortização semestral, no último Dia Útil dos meses de janeiro e julho de cada ano, de valor equivalente ao excedente do valor de integralização das Cotas Subordinadas em circulação, limitado ao percentual de 100% (cem por cento) da variação positiva do CDI acrescida de 4,50% (quatro inteiros e cinco décimos por cento) ao ano, considerando, para tanto a razão entre (i) o valor de integralização das Cotas Subordinadas Júnior em circulação e (ii) o valor de cada uma das Cotas Subordinadas, a ser paga na Data de Amortização Programada de Cotas Seniores (“Amortização das Cotas Subordinadas”). 4.2. Em complemento às Amortizações das Cotas Subordinadas, os Cotistas Subordinados farão jus, sempre que o Patrimônio Líquido da Classe assim permita e desde que o Valor Unitário das Cotas Subordinadas esteja superior ao valor de integralização das Cotas Subordinadas em circulação, a 50% (cinquenta por cento) de qualquer valor que exceder a Amortização das Cotas Subordinadas, a ser paga na Data de Amortização Programada de Cotas Seniores (“Amortização Extraordinária de Cotas Seniores”). 5. Excesso de Subordinação 5.1. Verif icado excesso de subordinação,</a:t>
            </a:r>
          </a:p>
          <a:p>
            <a:r>
              <a:t>CNPJ 62696791000193 · Remuneração por subclasse e série · Condição: Benchmark é regra de atribuição, condicionado ao PL/resultados, sem garantia de rentabilidade. A subclasse mezanino é autorizada, mas não há apêndice mezanino no PDF consolidado obtido.</a:t>
            </a:r>
          </a:p>
          <a:p>
            <a:r>
              <a:t>CNPJ 62696791000193 · Remuneração por subclasse e série · Versão e prevalência: Leitura específica das cláusulas indicadas; condições e conflitos preservados. Seleção documental atual não comprova vigência jurídica por data isolada.</a:t>
            </a:r>
          </a:p>
          <a:p>
            <a:r>
              <a:t>CNPJ 62696791000193 · Remuneração por subclasse e série · Resumo do histórico: {"count": 1, "dates": ["2026-03-27"], "document_count": 1, "sources": [{"document_id": "1148821", "title": "Instrumento Particular de Emissão de Cotas", "reference_date": "2026-03-27", "version": "1", "page": "1-2", "url": "https://fnet.bmfbovespa.com.br/fnet/publico/visualizarDocumento?id=1148821", "sha256": "86900e9dd498403696bfffbd4196443c83ec4d51ff21135e073c1966e1adf4c0"}], "reference": {"path": "history/62696791000193.json", "criterion_id": "remuneration", "total_count": 1, "preview_count": 1, "full_text_deferred": true, "sha256": "0e9ec199848320ec945708123ae0cb6075d76c05d94beed814d582031d353926"}}</a:t>
            </a:r>
          </a:p>
          <a:p>
            <a:r>
              <a:t>CNPJ 55563624000109 · Remuneração por subclasse e série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Remuneração por subclasse e série · Resumo do histórico: {"count": 1, "dates": ["2026-04-30"], "document_count": 1, "sources": [{"document_id": "1192614", "title": "Regulamento", "reference_date": "2026-04-30", "version": "1", "page": "16-17", "url": "https://fnet.bmfbovespa.com.br/fnet/publico/visualizarDocumento?id=1192614", "sha256": "f56e63ace0acde41d2f47fb48f1ac7f3f7df5e2d32de092d7c5e075a52516632"}], "reference": {"path": "history/55563624000109.json", "criterion_id": "remuneration", "total_count": 1, "preview_count": 1, "full_text_deferred": true, "sha256": "7835d573fb58a3c19adf5b8ecc2aee2bdbb9a88f7a0c0209b5f262b64c7522e3"}}</a:t>
            </a:r>
          </a:p>
          <a:p>
            <a:r>
              <a:t>CNPJ 62552447000120 · Remuneração por subclasse e série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Remuneração por subclasse e série · Resumo do histórico: {"count": 1, "dates": ["2025-09-03"], "document_count": 1, "sources": [{"document_id": "988020", "title": "Instrumento Particular de Emissão de Cotas", "reference_date": "2025-09-03", "version": "1", "page": "5-6", "url": "https://fnet.bmfbovespa.com.br/fnet/publico/visualizarDocumento?id=988020", "sha256": "8ecc8a771bb9713d64e5fc2052c489664cb0433801a9280db68e5187d35bf7a5"}], "reference": {"path": "history/62552447000120.json", "criterion_id": "remuneration", "total_count": 1, "preview_count": 1, "full_text_deferred": true, "sha256": "d95db8c0613d67ee84118c734588665265ea6b02f86a0318d6a844cbe1d0f82f"}}</a:t>
            </a:r>
          </a:p>
          <a:p>
            <a:r>
              <a:t>CNPJ 63953620000165 · Remuneração por subclasse e série · Anexo ao Regulamento · ID 1222863 · 2026-06-02 · versão 1 · p. 22 · 1.2 · https://fnet.bmfbovespa.com.br/fnet/publico/visualizarDocumento?id=1222863</a:t>
            </a:r>
          </a:p>
          <a:p>
            <a:r>
              <a:t>CNPJ 63953620000165 · Remuneração por subclasse e série · Excerto da fonte:</a:t>
            </a:r>
          </a:p>
          <a:p>
            <a:r>
              <a:t>1.2. Benchmark Sênior. A Classe buscará atingir, para as Cotas Seniores, o Benchmark Sênior, qual seja, (a) para a parcela  do Patrimônio Líquido alocado em Direitos Creditórios Consignado Privado e/ou Ativos de Liquidez MT, a variação  positiva do CDI acrescida de 1,50% (um inteiro e cinco décimos por cento) ao ano, (b) para a parcela do Patrimônio  Líquido alocado em Ativos de Liquidez e/ou Direitos Creditórios TVM, a variação positiva do CDI.</a:t>
            </a:r>
          </a:p>
          <a:p>
            <a:r>
              <a:t>CNPJ 63953620000165 · Remuneração por subclasse e série · Anexo ao Regulamento · ID 1222863 · 2026-06-02 · versão 1 · p. 22 · 1.5 · https://fnet.bmfbovespa.com.br/fnet/publico/visualizarDocumento?id=1222863</a:t>
            </a:r>
          </a:p>
          <a:p>
            <a:r>
              <a:t>CNPJ 63953620000165 · Remuneração por subclasse e série · Excerto da fonte:</a:t>
            </a:r>
          </a:p>
          <a:p>
            <a:r>
              <a:t>1.5. Rentabilidade Adicional Sênior. Adicionalmente ao Benchmark Sênior, as Cotas Seniores efetivamente integralizadas  farão jus a uma rentabilidade adicional equivalente a 0,38% (trinta e oito centésimos por cento) incidente sobre o  montante financeiro integralizado pelo respectivo Cotista das Cotas Seniores (“Rentabilidade Adicional Sênior”), a  ser paga a cada Cotista Sênior, em uma única parcela, em até 40 (quarenta) dias corridos após a integralização das  respectivas Cotas Seniores, sendo automaticamente ajustada em caso de alteração da alíquota ou da forma de  incidência do IOF, e deixando de ser devida na hipótese de sua extinção.</a:t>
            </a:r>
          </a:p>
          <a:p>
            <a:r>
              <a:t> 2. Emissão, Subscrição e Integralização das Cotas</a:t>
            </a:r>
          </a:p>
          <a:p>
            <a:r>
              <a:t>CNPJ 63953620000165 · Remuneração por subclasse e série · Condição: Documentos atuais selecionados no inventário por categoria/escopo; a data documental isolada não comprova vigência jurídica.</a:t>
            </a:r>
          </a:p>
          <a:p>
            <a:r>
              <a:t>CNPJ 63953620000165 · Remuneração por subclasse e série · Versão e prevalência: Documentos atuais selecionados no inventário por categoria/escopo; a data documental isolada não comprova vigência jurídica.</a:t>
            </a:r>
          </a:p>
          <a:p>
            <a:r>
              <a:t>CNPJ 54871427000194 · Volume, VNU e emissão · Anúncio de Encerramento · ID 798101 · 2024-12-10 · versão 1 · p. 1 · https://fnet.bmfbovespa.com.br/fnet/publico/visualizarDocumento?id=798101</a:t>
            </a:r>
          </a:p>
          <a:p>
            <a:r>
              <a:t>CNPJ 54871427000194 · Volume, VNU e emissão · Excerto da fonte:</a:t>
            </a:r>
          </a:p>
          <a:p>
            <a:r>
              <a:t>Informações da Oferta  Valor Bruto da 2ª Quantidade de Cotas  Preço de Emissão da Cota  Emissão emitidas  R$ 55.000.000,00 55.000 R$ 1.000,00</a:t>
            </a:r>
          </a:p>
          <a:p>
            <a:r>
              <a:t>CNPJ 54871427000194 · Volume, VNU e emissão · Condição: Trechos do documento específico identificado com data mais recente; vigência jurídica não inferida.</a:t>
            </a:r>
          </a:p>
          <a:p>
            <a:r>
              <a:t>CNPJ 54871427000194 · Volume, VNU e emissão · Versão e prevalência: Trechos do documento específico identificado com data mais recente; vigência jurídica não inferida.</a:t>
            </a:r>
          </a:p>
          <a:p>
            <a:r>
              <a:t>CNPJ 54871427000194 · Volume, VNU e emissão · Resumo do histórico: {"count": 5, "dates": ["2024-06-11", "2024-06-13", "2024-12-10"], "document_count": 3, "sources": [{"document_id": "798101", "title": "Anúncio de Encerramento", "reference_date": "2024-12-10", "version": "1", "page": "1-2", "url": "https://fnet.bmfbovespa.com.br/fnet/publico/visualizarDocumento?id=798101", "sha256": "71618c432ad86002484571d66922b873e4fa91ed3543a109134ddee0bd872f20"}, {"document_id": "683482", "title": "AGE", "reference_date": "2024-06-13", "version": "1", "page": 1, "clause": "4.1", "url": "https://fnet.bmfbovespa.com.br/fnet/publico/visualizarDocumento?id=683482", "sha256": "3afbe254027691929935eaf19ebbb8634fb2ccd8e2fbea2cb2d81a7818f8d648"}, {"document_id": "677544", "title": "Anúncio de Encerramento", "reference_date": "2024-06-11", "version": "1", "page": 1, "url": "https://fnet.bmfbovespa.com.br/fnet/publico/visualizarDocumento?id=677544", "sha256": "5735adc30829e0e91623167d4fd602de01adb236e3d3e758bddb0a375c7067b1"}], "reference": {"path": "history/54871427000194.json", "criterion_id": "issue_volume", "total_count": 5, "preview_count": 3, "full_text_deferred": true, "sha256": "35d7cd99be50c7287c9fb675cf4f2e736002315295a225a9efa79c8d9186d874"}}</a:t>
            </a:r>
          </a:p>
          <a:p>
            <a:r>
              <a:t>CNPJ 60010416000112 · Volume, VNU e emissão · AGE · ID 1049114 · 2025-11-26 · versão 1 · p. 2 · https://fnet.bmfbovespa.com.br/fnet/publico/visualizarDocumento?id=1049114</a:t>
            </a:r>
          </a:p>
          <a:p>
            <a:r>
              <a:t>CNPJ 60010416000112 · Volume, VNU e emissão · Excerto da fonte:</a:t>
            </a:r>
          </a:p>
          <a:p>
            <a:r>
              <a:t>Este instrumento constitui o suplemento nº 3 (“Suplemento”) referente à 1ª emissão de cotas da Série B  da Subclasse Sênior da CLASSE ÚNICA DO MT CONSIGNADO PRIVADO I FUNDO DE  INVESTIMENTO EM DIREITOS CREDITÓRIOS RESPONSABILIDADE LIMITADA (“Classe” e  “FUNDO”, respectivamente), administrado pela BTG Pactual Serviços Financeiros S.A. Distribuidora  de Títulos e Valores Mobiliários, instituição com sede no Município do Rio de Janeiro, Estado do Rio de  Janeiro, na Praia de Botafogo, nº 501, 5º andar – parte, inscrita no CNPJ sob o nº 59.281.253/0001-23,  autorizada a funcionar pelo Banco Central do Brasil e autorizada pela Comissão de Valores Mobiliários  (“CVM”) para a atividade de administração de carteiras de valores mobiliários, de acordo com o Ato  Declaratório nº 8.695, de 20 de março de 2006 (“ADMINISTRADOR”), emitidas nos termos do regulamento  do FUNDO, do anexo descritivo da Classe do respectivo apêndice, devidamente registrado perante a CVM  (“Regulamento”, “Anexo da Classe”, “Apêndice” e “Cotas Seniores” respectivamente), a qual terá as  seguintes características:</a:t>
            </a:r>
          </a:p>
          <a:p>
            <a:r>
              <a:t> Número de Emissão, Valor São emitidas no âmbito da 1ª emissão da 3ª Série de Cotas Seniores da  Total da Emissão e Forma Classe, de 2,000,000 (dois milhões) de Cotas da 3ª Série da Subclasse  de Distribuição Sênior da Classe, com valor nominal unitário de R$ 1.000,00 (mil reais)  cada, totalizando o montante de R$ 2.000.000.000,00 (dois bilhões de  reais), as quais serão objeto de colocação privada, destinada ao Público-  Alvo (conforme definido no Anexo da Classe) (“Colocação Privada”).</a:t>
            </a:r>
          </a:p>
          <a:p>
            <a:r>
              <a:t> Valor Unitário de Emissão As Cotas Seniores da 3ª Série terão um valor unitário de R$ 1.000,00 (mil  reais) na respectiva Data de Emissão.</a:t>
            </a:r>
          </a:p>
          <a:p>
            <a:r>
              <a:t> Data de Emissão Data da 1ª Integralização.</a:t>
            </a:r>
          </a:p>
          <a:p>
            <a:r>
              <a:t> Valor Unitário de As Cotas Seniores da 3ª Série serão subscritas pelo Valor Unitário de  Integralização Emissão, e serão integralizadas pelo respectivo Valor Unitário, nos  termos do Regulamento, do Apêndice e deste Suplemento, sendo certo  que, nas emissões de novas Cotas Seniores da 3ª Série que não difiram,  em sua respectiva Subclasse, das Cotas Seniores da 3ª Série então em  circulação, o Valor Unitário de Integralização corresponderá ao Valor  Unitário da Cota apurado no Dia Útil em que os recursos aportados pelo  Cotista tornem-se efetivamente disponíveis à Classe.</a:t>
            </a:r>
          </a:p>
          <a:p>
            <a:r>
              <a:t> Investimento Mínimo por Não há  Investidor  Forma de Subscrição e As Cotas Seniores da 3ª Série deverão ser integralizadas, à vista, em  Integralização moeda corrente nacional, pelo Valor Unitário de Integralização, no ato de  subscrição.</a:t>
            </a:r>
          </a:p>
          <a:p>
            <a:r>
              <a:t> Ao subscrever Cotas Seniores da 3ª Série, cada Investidor deverá  assinar o Termo de Adesão, no qual confirmará, dentre outros, ter  conhecimento de todos os termos e condições do Fundo e do</a:t>
            </a:r>
          </a:p>
          <a:p>
            <a:r>
              <a:t>CNPJ 60010416000112 · Volume, VNU e emissão · Condição: Trechos do documento específico identificado com data mais recente; vigência jurídica não inferida.</a:t>
            </a:r>
          </a:p>
          <a:p>
            <a:r>
              <a:t>CNPJ 60010416000112 · Volume, VNU e emissão · Motivo: Cláusula primária localizada e citada, mas sua lista/condições extensas não admitem uma síntese literal curta confirmada. O trecho integral permanece nas fontes. A resposta da revisão anterior foi preservada no histórico, sem confirmação pelo documento atual.</a:t>
            </a:r>
          </a:p>
          <a:p>
            <a:r>
              <a:t>CNPJ 60010416000112 · Volume, VNU e emissão · Versão e prevalência: Trechos do documento específico identificado com data mais recente; vigência jurídica não inferida.</a:t>
            </a:r>
          </a:p>
          <a:p>
            <a:r>
              <a:t>CNPJ 60010416000112 · Volume, VNU e emissão · Resumo do histórico: {"count": 3, "dates": ["2025-03-20", "2025-05-12"], "document_count": 2, "sources": [{"document_id": "1004656", "title": "AGE", "reference_date": "2025-05-12", "version": "1", "page": 4, "url": "https://fnet.bmfbovespa.com.br/fnet/publico/visualizarDocumento?id=1004656", "sha256": "f6c9c009f6170e2b29f074b98522accec73f0c40efbf11f9ec2c8d3f1402616b"}, {"document_id": "993785", "title": "Instrumento Particular de Constituição/Encerramento do Fundo", "reference_date": "2025-03-20", "version": "1", "page": "2", "url": "https://fnet.bmfbovespa.com.br/fnet/publico/visualizarDocumento?id=993785", "sha256": "0826e0eae2c51afabf59bbc49fc7647598d03da5ca6de0f9725850a8bd6af457"}, {"document_id": "993785", "title": "Instrumento Particular de Constituição/Encerramento do Fundo", "reference_date": "2025-03-20", "version": "1", "page": 2, "url": "https://fnet.bmfbovespa.com.br/fnet/publico/visualizarDocumento?id=993785", "sha256": "0826e0eae2c51afabf59bbc49fc7647598d03da5ca6de0f9725850a8bd6af457"}], "reference": {"path": "history/60010416000112.json", "criterion_id": "issue_volume", "total_count": 3, "preview_count": 3, "full_text_deferred": true, "sha256": "8e2bd813f4c51cf01f6bfaad164bafe69d2bbb192f753eac92da3a01c2e63046"}}</a:t>
            </a:r>
          </a:p>
          <a:p>
            <a:r>
              <a:t>CNPJ 62696791000193 · Volume, VNU e emissão · Instrumento Particular de Emissão de Cotas · ID 1148821 · 27/03/2026 · versão Instrumento Particular de Emissão de Cotas — referência 27/03/2026 · p. 1 · Deliberação Conjunta, item1 · https://fnet.bmfbovespa.com.br/fnet/publico/visualizarDocumento?id=1148821</a:t>
            </a:r>
          </a:p>
          <a:p>
            <a:r>
              <a:t>CNPJ 62696791000193 · Volume, VNU e emissão · Excerto da fonte:</a:t>
            </a:r>
          </a:p>
          <a:p>
            <a:r>
              <a:t>1. Aprovar a 2ª (segunda) emissão da Subclasse Subordinada Júnior da Classe, composta por até 20.000 (vinte mil) Cotas Subordinadas Júnior, com valor nominal unitário de R$ 1.000,00 (mil reais), perfazendo o montante total de R$ 20.000.000,00 (vinte milhões de reais), as quais serão objeto de colocação privada, de acordo com os termos e condições definidos no Apêndice da Subclasse Subordinada Júnior constante do Anexo I Regulamento e descritas abaixo (“2ª Emissão da Subclasse Subordinada Júnior”): a) Rito: as Cotas Subordinadas Júnior objeto da 2ª Emissão da Subclasse Subordinada Júnior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Subordinada Júnior na data de integralização, calculado na forma prevista no respectivo Apêndice; BTG Pactual 1 SAC: 0800 772 28 27 - Ouvidoria: 0800 722 00 48 - btgpactual.com</a:t>
            </a:r>
          </a:p>
          <a:p>
            <a:r>
              <a:t>CNPJ 62696791000193 · Volume, VNU e emissão · Instrumento Particular de Emissão de Cotas · ID 1148821 · 27/03/2026 · versão Instrumento Particular de Emissão de Cotas — referência 27/03/2026 · p. 2 · Deliberação Conjunta, item2 · https://fnet.bmfbovespa.com.br/fnet/publico/visualizarDocumento?id=1148821</a:t>
            </a:r>
          </a:p>
          <a:p>
            <a:r>
              <a:t>CNPJ 62696791000193 · Volume, VNU e emissão · Excerto da fonte:</a:t>
            </a:r>
          </a:p>
          <a:p>
            <a:r>
              <a:t>2. Aprovar a 2ª (segunda) emissão da Subclasse Sênior da Classe, composta por até 150.000 (cento e cinquenta mil) Cotas Seniores, com valor nominal unitário de R$ 1.000,00 (mil reais), perfazendo o montante total de R$ 150.000.000,00 (cento e cinquenta milhões de reais), as quais serão objeto de colocação privada, de acordo com os termos e condições descritos no Apêndice da Subclasse Sênior constante do Anexo I Regulamento e descritas abaixo (“2ª Emissão da Subclasse Sênior”): a) Rito: as Cotas Seniores objeto da 2ª Emissão da Subclasse Sênior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Sênior na data de integralização, calculado na forma prevista no respectivo Apêndice; d) Forma de Integralização: as Cotas Seniores serão integralizadas mediante chamadas de capital, junto ao seu respectivo agente de custódia e/ou da Administradora na qualidade de escriturador das cotas, nos termos d</a:t>
            </a:r>
          </a:p>
          <a:p>
            <a:r>
              <a:t>CNPJ 62696791000193 · Volume, VNU e emissão · Condição: Volumes autorizados de emissão não comprovam captação ou integralização observada.</a:t>
            </a:r>
          </a:p>
          <a:p>
            <a:r>
              <a:t>CNPJ 62696791000193 · Volume, VNU e emissão · Versão e prevalência: Leitura específica das cláusulas indicadas; condições e conflitos preservados. Seleção documental atual não comprova vigência jurídica por data isolada.</a:t>
            </a:r>
          </a:p>
          <a:p>
            <a:r>
              <a:t>CNPJ 62696791000193 · Volume, VNU e emissão · Resumo do histórico: {"count": 2, "dates": ["2026-03-20", "2026-03-27"], "document_count": 2, "sources": [{"document_id": "1148821", "title": "Instrumento Particular de Emissão de Cotas", "reference_date": "2026-03-27", "version": "1", "page": "1-2", "url": "https://fnet.bmfbovespa.com.br/fnet/publico/visualizarDocumento?id=1148821", "sha256": "86900e9dd498403696bfffbd4196443c83ec4d51ff21135e073c1966e1adf4c0"}, {"document_id": "1143317", "title": "Regulamento", "reference_date": "2026-03-20", "version": "1", "page": 23, "clause": "11.3", "url": "https://fnet.bmfbovespa.com.br/fnet/publico/visualizarDocumento?id=1143317", "sha256": "32f62818d51c3ebeaf9ec012d3d7867f15c1aed6d10f0867c157a290df1cea48"}], "reference": {"path": "history/62696791000193.json", "criterion_id": "issue_volume", "total_count": 2, "preview_count": 2, "full_text_deferred": true, "sha256": "0e9ec199848320ec945708123ae0cb6075d76c05d94beed814d582031d353926"}}</a:t>
            </a:r>
          </a:p>
          <a:p>
            <a:r>
              <a:t>CNPJ 55563624000109 · Volume, VNU e emissão · Regulamento · ID 1192614 · 2026-04-30 · versão 1 · p. 17 · 5.13.2 · https://fnet.bmfbovespa.com.br/fnet/publico/visualizarDocumento?id=1192614</a:t>
            </a:r>
          </a:p>
          <a:p>
            <a:r>
              <a:t>CNPJ 55563624000109 · Volume, VNU e emissão · Excerto da fonte:</a:t>
            </a:r>
          </a:p>
          <a:p>
            <a:r>
              <a:t>5.13.2 Caso um Cotista do Fundo pretenda transferir suas Cotas para terceiros (“Cotista Vendedor”), deverá  notificar previamente o GESTOR, via e-mail, manifestando sua proposta de alienação de Cotas, a qual  deve incluir o interessado na aquisição e a quantidade de Cotas a serem alienadas e o preço para tal  alienação (“Proposta de Venda”). O GESTOR deverá manifestar aprovação para alienação das Cotas  objeto da Proposta de Venda (“Cotas Objeto”) em até 5 (cinco) Dias Úteis, observado que a ausência de  aprovação deverá ser entendida como aprovação tácita à alienação das Cotas Objeto.</a:t>
            </a:r>
          </a:p>
          <a:p>
            <a:r>
              <a:t>CNPJ 55563624000109 · Volume, VNU e emissão · Regulamento · ID 1192614 · 2026-04-30 · versão 1 · p. 39 · https://fnet.bmfbovespa.com.br/fnet/publico/visualizarDocumento?id=1192614</a:t>
            </a:r>
          </a:p>
          <a:p>
            <a:r>
              <a:t>CNPJ 55563624000109 · Volume, VNU e emissão · Excerto da fonte:</a:t>
            </a:r>
          </a:p>
          <a:p>
            <a:r>
              <a:t>(xxi) Ausência de propriedade direta dos ativos. Os direitos dos Cotistas serão exercidos sobre  todos os ativos da Carteira de modo não individualizado, proporcionalmente à quantidade de Cotas  detidas por cada um. Portanto, os Cotistas não terão qualquer direito de propriedade direta sobre as  Cotas da Classe Investida e os Ativos Financeiros de Liquidez integrantes da Carteira, ou mesmo sobre  os direitos creditórios e os ativos financeiros de liquidez integrantes da carteira da Classe Investida.</a:t>
            </a:r>
          </a:p>
          <a:p>
            <a:r>
              <a:t>CNPJ 55563624000109 · Volume, VNU e emissão · Condição: Documentos atuais selecionados no inventário por categoria/escopo; a data documental isolada não comprova vigência jurídica.</a:t>
            </a:r>
          </a:p>
          <a:p>
            <a:r>
              <a:t>CNPJ 55563624000109 · Volume, VNU e emissão · Versão e prevalência: Documentos atuais selecionados no inventário por categoria/escopo; a data documental isolada não comprova vigência jurídica.</a:t>
            </a:r>
          </a:p>
          <a:p>
            <a:r>
              <a:t>CNPJ 55563624000109 · Volume, VNU e emissão · Resumo do histórico: {"count": 3, "dates": ["2024-12-30", "2025-01-31", "2026-01-31"], "document_count": 3, "sources": [{"document_id": "1178840", "title": "Demonstrações Financeiras", "reference_date": "2026-01-31", "version": "1", "page": 25, "url": "https://fnet.bmfbovespa.com.br/fnet/publico/visualizarDocumento?id=1178840", "sha256": "c458e98664c5c907ddb5a05a94b120bed4e05295b2bfc420f5ba69af0a229abe"}, {"document_id": "891861", "title": "Demonstrações Financeiras", "reference_date": "2025-01-31", "version": "1", "page": 26, "url": "https://fnet.bmfbovespa.com.br/fnet/publico/visualizarDocumento?id=891861", "sha256": "e9cb9e6ddbe505fe068cfcac33605165a98313489de0d3ce6d4d238263c3f3e7"}, {"document_id": "811323", "title": "Anúncio de Encerramento", "reference_date": "2024-12-30", "version": "1", "page": 1, "url": "https://fnet.bmfbovespa.com.br/fnet/publico/visualizarDocumento?id=811323", "sha256": "ebc6bc661be5189acffb3c3e352de2aea0a8ca8431011d1237e1ae19da4f9c79"}], "reference": {"path": "history/55563624000109.json", "criterion_id": "issue_volume", "total_count": 3, "preview_count": 3, "full_text_deferred": true, "sha256": "7835d573fb58a3c19adf5b8ecc2aee2bdbb9a88f7a0c0209b5f262b64c7522e3"}}</a:t>
            </a:r>
          </a:p>
          <a:p>
            <a:r>
              <a:t>CNPJ 62552447000120 · Volume, VNU e emissão · AGE · ID 1315103 · 2026-09-08 · versão 1 · p. 1 · https://fnet.bmfbovespa.com.br/fnet/publico/visualizarDocumento?id=1315103</a:t>
            </a:r>
          </a:p>
          <a:p>
            <a:r>
              <a:t>CNPJ 62552447000120 · Volume, VNU e emissão · Excerto da fonte:</a:t>
            </a:r>
          </a:p>
          <a:p>
            <a:r>
              <a:t>a) Rito: as cotas objeto da Segunda Emissão não estão sujeitas a regulamentação  de oferta de valores mobiliários, conforme facultado pelo Art. 8º, inciso II, da  Resolução CVM nº 160, de 13 de julho de 2022;</a:t>
            </a:r>
          </a:p>
          <a:p>
            <a:r>
              <a:t> b) Preço de Emissão: R$ 1.000,00 (mil reais);</a:t>
            </a:r>
          </a:p>
          <a:p>
            <a:r>
              <a:t> c) Quantidade de Cotas: 10.000 (dez mil) Cotas;</a:t>
            </a:r>
          </a:p>
          <a:p>
            <a:r>
              <a:t> d) Preço de Integralização: será o valor da Cota vigente na data de integralização,  nos termos do respectivo boletim de subscrição;</a:t>
            </a:r>
          </a:p>
          <a:p>
            <a:r>
              <a:t> e) Forma de Integralização: as Cotas serão integralizadas à vista, em moeda  corrente nacional, junto ao seu respectivo agente de custódia e/ou da  Administradora na qualidade de escriturador das cotas;</a:t>
            </a:r>
          </a:p>
          <a:p>
            <a:r>
              <a:t> f) Período de colocação: a subscrição das Cotas, objeto da Segunda Emissão,  deverão ser realizadas no prazo máximo de 180 (cento e oitenta) dias, contados  da data de efeitos do presente instrumento.</a:t>
            </a:r>
          </a:p>
          <a:p>
            <a:r>
              <a:t>CNPJ 62552447000120 · Volume, VNU e emissão · Condição: Trechos do documento específico identificado com data mais recente; vigência jurídica não inferida.</a:t>
            </a:r>
          </a:p>
          <a:p>
            <a:r>
              <a:t>CNPJ 62552447000120 · Volume, VNU e emissão · Versão e prevalência: Trechos do documento específico identificado com data mais recente; vigência jurídica não inferida.</a:t>
            </a:r>
          </a:p>
          <a:p>
            <a:r>
              <a:t>CNPJ 62552447000120 · Volume, VNU e emissão · Resumo do histórico: {"count": 2, "dates": ["2025-09-03"], "document_count": 1, "sources": [{"document_id": "988020", "title": "Instrumento Particular de Emissão de Cotas", "reference_date": "2025-09-03", "version": "1", "page": "5", "url": "https://fnet.bmfbovespa.com.br/fnet/publico/visualizarDocumento?id=988020", "sha256": "8ecc8a771bb9713d64e5fc2052c489664cb0433801a9280db68e5187d35bf7a5"}, {"document_id": "988020", "title": "Instrumento Particular de Emissão de Cotas", "reference_date": "2025-09-03", "version": "1", "page": 2, "url": "https://fnet.bmfbovespa.com.br/fnet/publico/visualizarDocumento?id=988020", "sha256": "8ecc8a771bb9713d64e5fc2052c489664cb0433801a9280db68e5187d35bf7a5"}], "reference": {"path": "history/62552447000120.json", "criterion_id": "issue_volume", "total_count": 2, "preview_count": 2, "full_text_deferred": true, "sha256": "d95db8c0613d67ee84118c734588665265ea6b02f86a0318d6a844cbe1d0f82f"}}</a:t>
            </a:r>
          </a:p>
          <a:p>
            <a:r>
              <a:t>CNPJ 63953620000165 · Volume, VNU e emissão · Demonstrações Financeiras - Fusão, cisão e incorporação · ID 1327859 · 2026-05-15 · versão 1 · p. 31 · 15.000.000 · https://fnet.bmfbovespa.com.br/fnet/publico/visualizarDocumento?id=1327859</a:t>
            </a:r>
          </a:p>
          <a:p>
            <a:r>
              <a:t>CNPJ 63953620000165 · Volume, VNU e emissão · Excerto da fonte:</a:t>
            </a:r>
          </a:p>
          <a:p>
            <a:r>
              <a:t>15.000.000 (quinze bilhões de reais), , a serem objeto de colocação privada, nos termos  do Regulamento, da Resolução CVM 175 e do respectivo boletim de subscrição nos  seguintes termos:</a:t>
            </a:r>
          </a:p>
          <a:p>
            <a:r>
              <a:t> a. Montante Total da Colocação Privada: R$ 15.000.000 (quinze bilhões de  reais)  b. Quantidade de Cotas: 15.000.000 (quinze milhões) de Cotas Seniores;</a:t>
            </a:r>
          </a:p>
          <a:p>
            <a:r>
              <a:t> c. Preço de Emissão (Valor Unitário): R$ 1 (mil reais);</a:t>
            </a:r>
          </a:p>
          <a:p>
            <a:r>
              <a:t> d. Forma e Preço de Integralização: as Cotas serão integralizadas na forma  prevista no Boletim de Subscrição;</a:t>
            </a:r>
          </a:p>
          <a:p>
            <a:r>
              <a:t> e. Prazo da Colocação Privada: as Cotas serão colocadas em até 180 (cento e  oitenta) dias da data deste IPA.</a:t>
            </a:r>
          </a:p>
          <a:p>
            <a:r>
              <a:t>CNPJ 63953620000165 · Volume, VNU e emissão · Demonstrações Financeiras - Fusão, cisão e incorporação · ID 1327859 · 2026-05-15 · versão 1 · p. 31 · https://fnet.bmfbovespa.com.br/fnet/publico/visualizarDocumento?id=1327859</a:t>
            </a:r>
          </a:p>
          <a:p>
            <a:r>
              <a:t>CNPJ 63953620000165 · Volume, VNU e emissão · Excerto da fonte:</a:t>
            </a:r>
          </a:p>
          <a:p>
            <a:r>
              <a:t>Em Instrumento Particular de Alteração do MT Global Fundo de Investimento em Direitos  Creditórios, realizada em 08 de janeiro de 2026, foram deliberadas as seguintes matérias:</a:t>
            </a:r>
          </a:p>
          <a:p>
            <a:r>
              <a:t>(i) Alterar regulamento vigente da classe em relação aos itens 4.17.1, 6.8 e o Capítulo 13,</a:t>
            </a:r>
          </a:p>
          <a:p>
            <a:r>
              <a:t> (b) incluir o item 3.1, 8.1.(ii), 8.2, 8.2.1, e 10.2.(xvii); e (c) excluir os itens 6.8.1, 6.8.2,</a:t>
            </a:r>
          </a:p>
          <a:p>
            <a:r>
              <a:t>(ii) Aprovar a 1ª (primeira) emissão de cotas seniores das Classes (“Cotas Seniores”), em  sistema de vasos comunicantes entre as Classes, de forma que a quantidade de Cotas  Seniores integralizadas em uma das Classes será deduzida da quantidade de Cotas  Seniores disponíveis para integralização nas demais Classes, no montante total de R$</a:t>
            </a:r>
          </a:p>
          <a:p>
            <a:r>
              <a:t>CNPJ 63953620000165 · Volume, VNU e emissão · Demonstrações Financeiras - Fusão, cisão e incorporação · ID 1327859 · 2026-05-15 · versão 1 · p. 32 · https://fnet.bmfbovespa.com.br/fnet/publico/visualizarDocumento?id=1327859</a:t>
            </a:r>
          </a:p>
          <a:p>
            <a:r>
              <a:t>CNPJ 63953620000165 · Volume, VNU e emissão · Excerto da fonte:</a:t>
            </a:r>
          </a:p>
          <a:p>
            <a:r>
              <a:t>f. Montante Total da Colocação Privada: R$ 7.000 (sete milhões de reais);</a:t>
            </a:r>
          </a:p>
          <a:p>
            <a:r>
              <a:t> g. Quantidade de Cotas: 7.000 (sete mil) de Cotas Subordinadas CP  h. Preço de Emissão (Valor Unitário): R$ 1 (mil reais);</a:t>
            </a:r>
          </a:p>
          <a:p>
            <a:r>
              <a:t> i. Forma e Preço de Integralização: as Cotas serão integralizadas na forma  prevista no Boletim de Subscrição;</a:t>
            </a:r>
          </a:p>
          <a:p>
            <a:r>
              <a:t> j. Prazo da Colocação Privada: as Cotas serão colocadas em até 180 (cento e  oitenta) dias da data deste IPA.</a:t>
            </a:r>
          </a:p>
          <a:p>
            <a:r>
              <a:t>CNPJ 63953620000165 · Volume, VNU e emissão · Condição: Trechos do documento específico identificado com data mais recente; vigência jurídica não inferida.</a:t>
            </a:r>
          </a:p>
          <a:p>
            <a:r>
              <a:t>CNPJ 63953620000165 · Volume, VNU e emissão · Versão e prevalência: Trechos do documento específico identificado com data mais recente; vigência jurídica não inferida.</a:t>
            </a:r>
          </a:p>
          <a:p>
            <a:r>
              <a:t>CNPJ 63953620000165 · Volume, VNU e emissão · Resumo do histórico: {"count": 8, "dates": ["2026-04-16", "2026-04-28", "2026-05-08"], "document_count": 3, "sources": [{"document_id": "1298691", "title": "Demonstrações Financeiras - Fusão, cisão e incorporação", "reference_date": "2026-05-08", "version": "1", "page": 32, "url": "https://fnet.bmfbovespa.com.br/fnet/publico/visualizarDocumento?id=1298691", "sha256": "58c570d9b8d4d265330d3db3ea81c435b8e44a6dab4002aa37790652a1ee9819"}, {"document_id": "1282180", "title": "Demonstrações Financeiras - Fusão, cisão e incorporação", "reference_date": "2026-04-28", "version": "1", "page": 32, "clause": "15.000.000", "url": "https://fnet.bmfbovespa.com.br/fnet/publico/visualizarDocumento?id=1282180", "sha256": "afaaa0e6809be4385e5bdb6c911aac582032c5bdbac3d7750234bf9eaf00438a"}, {"document_id": "1282179", "title": "Demonstrações Financeiras - Fusão, cisão e incorporação", "reference_date": "2026-04-16", "version": "1", "page": 32, "clause": "15.000.000", "url": "https://fnet.bmfbovespa.com.br/fnet/publico/visualizarDocumento?id=1282179", "sha256": "beb67afbcd64169019477673fd3b7c1edbfabbd9db07379388d8cdd5d3fc9395"}], "reference": {"path": "history/63953620000165.json", "criterion_id": "issue_volume", "total_count": 8, "preview_count": 3, "full_text_deferred": true, "sha256": "a7b89077f5e21098c2d601c303faabc3ff6b9729f89d8afecdc60fe1404720c1"}}</a:t>
            </a:r>
          </a:p>
          <a:p>
            <a:r>
              <a:t>CNPJ 54871427000194 · Administração: taxa, base e mínimo · Regulamento · ID 670691 · 28/04/2024 · versão Regulamento — referência 28/04/2024 · p. 25 · Anexo I, 13.1 · https://fnet.bmfbovespa.com.br/fnet/publico/visualizarDocumento?id=670691</a:t>
            </a:r>
          </a:p>
          <a:p>
            <a:r>
              <a:t>CNPJ 54871427000194 · Administração: taxa, base e mínimo · Excerto da fonte:</a:t>
            </a:r>
          </a:p>
          <a:p>
            <a:r>
              <a:t>13.1 Pelos serviços de administração, tesouraria, controladoria e escrituração, a Classe pagará a Taxa de Administração nos seguintes moldes: o valor correspondente a 0,10% (dez centésimos por cento) ao ano aplicado sobre o Patrimônio Líquido, observado o valor mínimo de R$ 10.000,00 (dez mil reais) mensais atualizado pela variação positiva do IGP-M a cada período de 12 (doze) meses, contados a partir do mês em que ocorrer a primeira integralização de Cotas (inclusive). 13.1.1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BTG Pactual SAC: 0800 772 28 27 - Ouvidoria: 0800 722 00 48 - btgpactual.com 19</a:t>
            </a:r>
          </a:p>
          <a:p>
            <a:r>
              <a:t>CNPJ 54871427000194 · Administração: taxa, base e mínimo · Regulamento · ID 670691 · 28/04/2024 · versão Regulamento — referência 28/04/2024 · p. 26 · Anexo I, 13.1.2–13.1.3 · https://fnet.bmfbovespa.com.br/fnet/publico/visualizarDocumento?id=670691</a:t>
            </a:r>
          </a:p>
          <a:p>
            <a:r>
              <a:t>CNPJ 54871427000194 · Administração: taxa, base e mínimo · Excerto da fonte:</a:t>
            </a:r>
          </a:p>
          <a:p>
            <a:r>
              <a:t>13.1.2 A Taxa de Administração será calculada e provisionada todo Dia Útil à razão de 1/252 (um inteiro e duzentos e cinquenta e dois avos) com base no valor do Patrimônio Líquido do Dia Útil anterior. 13.1.3 A Taxa de Administração será paga mensalmente ao ADMINISTRADOR, observado o disposto no item 13.2 abaixo, por período vencido, até o 5º (quinto) Dia Útil do mês subsequente à prestação dos serviços, a partir do mês em que ocorrer a primeira integralização de Cotas da Classe. 13.2 O ADMINISTRADOR poderá estabelecer que parcelas da Taxa de Administração sejam pagas diretamente pela Classe aos prestadores de serviços contratados, desde que o somatório dessas parcelas não exceda o montante total da Taxa de Administração. 13.3 Não serão cobradas da Classe ou dos Cotistas taxas de perf ormance, de ingresso ou de saída. Taxa de Gestão 13.4 Pelos serviços de gestão, a Classe pagará a Taxa de Gestão nos seguintes moldes: o valor correspondente a 0,20% (vinte centésimos por cento) ao ano aplicado sobre o Patrimônio Líquido, observado o valor mínimo de R$ 15.000,00 (quinze mil reais) mensais atualizado pela variação positiva do IGP-M a cada período de 12 (</a:t>
            </a:r>
          </a:p>
          <a:p>
            <a:r>
              <a:t>CNPJ 54871427000194 · Administração: taxa, base e mínimo · Versão e prevalência: Leitura específica das cláusulas indicadas; condições e conflitos preservados. Seleção documental atual não comprova vigência jurídica por data isolada.</a:t>
            </a:r>
          </a:p>
          <a:p>
            <a:r>
              <a:t>CNPJ 54871427000194 · Administração: taxa, base e mínimo · Resumo do histórico: {"count": 2, "dates": ["2024-04-19", "2024-04-28"], "document_count": 2, "sources": [{"document_id": "670691", "title": "Regulamento", "reference_date": "2024-04-28", "version": "1", "page": "25-26", "url": "https://fnet.bmfbovespa.com.br/fnet/publico/visualizarDocumento?id=670691", "sha256": "bf16dd7f1a62d5cdbf2e2d54fef81783783f7310fbc99c3a8f00459bdf9d037b"}, {"document_id": "670689", "title": "Regulamento", "reference_date": "2024-04-19", "version": "1", "page": 26, "clause": "13.1", "url": "https://fnet.bmfbovespa.com.br/fnet/publico/visualizarDocumento?id=670689", "sha256": "891bc9bc5d87bbc02ec139077a84d2702eb81ea02035fb71d24f5b8366b94a0b"}], "reference": {"path": "history/54871427000194.json", "criterion_id": "admin_fee", "total_count": 2, "preview_count": 2, "full_text_deferred": true, "sha256": "35d7cd99be50c7287c9fb675cf4f2e736002315295a225a9efa79c8d9186d874"}}</a:t>
            </a:r>
          </a:p>
          <a:p>
            <a:r>
              <a:t>CNPJ 60010416000112 · Administração: taxa, base e mínimo · Regulamento · ID 1051393 · 09/10/2025 · versão Regulamento09/10/2025 · p. 29 · AnexoI12.1–12.1.2 · https://fnet.bmfbovespa.com.br/fnet/publico/visualizarDocumento?id=1051393</a:t>
            </a:r>
          </a:p>
          <a:p>
            <a:r>
              <a:t>CNPJ 60010416000112 · Administração: taxa, base e mínimo · Excerto da fonte:</a:t>
            </a:r>
          </a:p>
          <a:p>
            <a:r>
              <a:t>12.1 Pelos serviços de administração, escrituração, controladoria de ativos e passivo, e gestão de carteira, o Administrador fará jus a uma Taxa de Administração equivalente a 0,40% (quarenta centésimos por cento) por ano sobre o Patrimônio Líquido da Classe, a ser pago mensalmente, por período vencido da data em que ocorrer a primeira integralização de Cotas da Classe A, até o 5º (quinto) Dia Útil do mês subsequente ao da prestação do serviço, assegurado um valor mínimo mensal de R$ 20.000,00 (vinte mil reais), sendo este valor atualizado pela variação positiva do IPCA sempre em janeiro de cada ano,</a:t>
            </a:r>
          </a:p>
          <a:p>
            <a:r>
              <a:t>CNPJ 60010416000112 · Administração: taxa, base e mínimo · Versão e prevalência: Leitura específica das cláusulas indicadas; condições e conflitos preservados. Seleção documental atual não comprova vigência jurídica por data isolada.</a:t>
            </a:r>
          </a:p>
          <a:p>
            <a:r>
              <a:t>CNPJ 60010416000112 · Administração: taxa, base e mínimo · Resumo do histórico: {"count": 2, "dates": ["2025-03-20", "2025-10-09"], "document_count": 2, "sources": [{"document_id": "1051393", "title": "Regulamento", "reference_date": "2025-10-09", "version": "1", "page": "29", "url": "https://fnet.bmfbovespa.com.br/fnet/publico/visualizarDocumento?id=1051393", "sha256": "8469d613078ffd5a6c1d217885d8a397a16342c0b937ae4aa24b106505f233ae"}, {"document_id": "993786", "title": "Regulamento", "reference_date": "2025-03-20", "version": "1", "page": 29, "clause": "12.1", "url": "https://fnet.bmfbovespa.com.br/fnet/publico/visualizarDocumento?id=993786", "sha256": "fd0fdd369a195510d81f81f505195a0b09e5f43522a990afa7d58c4f872921c8"}], "reference": {"path": "history/60010416000112.json", "criterion_id": "admin_fee", "total_count": 2, "preview_count": 2, "full_text_deferred": true, "sha256": "8e2bd813f4c51cf01f6bfaad164bafe69d2bbb192f753eac92da3a01c2e63046"}}</a:t>
            </a:r>
          </a:p>
          <a:p>
            <a:r>
              <a:t>CNPJ 62696791000193 · Administração: taxa, base e mínimo · Regulamento · ID 1143317 · 20/03/2026 · versão Regulamento — referência 20/03/2026 · p. 28 · Anexo I, 13.1, Taxa de Administração · https://fnet.bmfbovespa.com.br/fnet/publico/visualizarDocumento?id=1143317</a:t>
            </a:r>
          </a:p>
          <a:p>
            <a:r>
              <a:t>CNPJ 62696791000193 · Administração: taxa, base e mínimo · Excerto da fonte:</a:t>
            </a:r>
          </a:p>
          <a:p>
            <a:r>
              <a:t>Taxa de Administração 0,10% (um décimo por cento) ao ano com um mínimo mensal de R$ 10.000,00 (dez mil reais), pagos mensalmente até o 5º (quinto) Dia Útil do mês subsequente ao mês que se ref ere, a ser corrigida anualmente, em janeiro de cada ano, pela variação positiva do Índice Geral de Preços – Mercado, divulgado pela Fundação Getúlio Vargas (“Taxa de Administração” e “IGP-M”, respectivamente).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T</a:t>
            </a:r>
          </a:p>
          <a:p>
            <a:r>
              <a:t>CNPJ 62696791000193 · Administração: taxa, base e mínimo · Condição: A linha da tabela não explicita novamente a base de PL para administração; conservar essa limitação em vez de completar a frase por analogia.</a:t>
            </a:r>
          </a:p>
          <a:p>
            <a:r>
              <a:t>CNPJ 62696791000193 · Administração: taxa, base e mínimo · Motivo: Não localizada uma cláusula material para este critério nos textos identificados e processados. A ausência de resultado não comprova inexistência da regra.</a:t>
            </a:r>
          </a:p>
          <a:p>
            <a:r>
              <a:t>CNPJ 62696791000193 · Administração: taxa, base e mínimo · Versão e prevalência: Leitura específica das cláusulas indicadas; condições e conflitos preservados. Seleção documental atual não comprova vigência jurídica por data isolada.</a:t>
            </a:r>
          </a:p>
          <a:p>
            <a:r>
              <a:t>CNPJ 55563624000109 · Administração: taxa, base e mínimo · Regulamento · ID 1192614 · 30/04/2026 · versão Regulamento30/04/2026 · p. 28 · AnexoI13.1–13.2 · https://fnet.bmfbovespa.com.br/fnet/publico/visualizarDocumento?id=1192614</a:t>
            </a:r>
          </a:p>
          <a:p>
            <a:r>
              <a:t>CNPJ 55563624000109 · Administração: taxa, base e mínimo · Excerto da fonte:</a:t>
            </a:r>
          </a:p>
          <a:p>
            <a:r>
              <a:t>13.1 Sem prejuízo da Taxa Máxima de Administração, pelos serviços de administração do FUNDO e da Classe, tesouraria, controle e processamento dos ativos integrantes da Carteira, a Classe pagará, no mínimo, ao ADMINISTRADOR a Taxa Mínima de Administração nos seguintes moldes: o valor correspondente a R$ 10.000,00 (dez mil reais) mensais, atualizado pela variação positiva do IGP-M, no mês de janeiro de cada ano (“Taxa Mínima de Administração”). 13.1.1 Na hipótese de extinção do IGP-M, não divulgação ou impossibilidade de sua utilização, será utilizado o</a:t>
            </a:r>
          </a:p>
          <a:p>
            <a:r>
              <a:t>CNPJ 55563624000109 · Administração: taxa, base e mínimo · Condição: A base do adicional é PL do Mercado Crédito II; não é teto 0, 10% sobre PLGN e não substitui mínimo R$ 10 mil.</a:t>
            </a:r>
          </a:p>
          <a:p>
            <a:r>
              <a:t>CNPJ 55563624000109 · Administração: taxa, base e mínimo · Versão e prevalência: Leitura específica das cláusulas indicadas; condições e conflitos preservados. Seleção documental atual não comprova vigência jurídica por data isolada.</a:t>
            </a:r>
          </a:p>
          <a:p>
            <a:r>
              <a:t>CNPJ 55563624000109 · Administração: taxa, base e mínimo · Resumo do histórico: {"count": 3, "dates": ["2025-01-31", "2026-01-31", "2026-04-30"], "document_count": 3, "sources": [{"document_id": "1192614", "title": "Regulamento", "reference_date": "2026-04-30", "version": "1", "page": "28", "clause": "13.2", "url": "https://fnet.bmfbovespa.com.br/fnet/publico/visualizarDocumento?id=1192614", "sha256": "f56e63ace0acde41d2f47fb48f1ac7f3f7df5e2d32de092d7c5e075a52516632"}, {"document_id": "1178840", "title": "Demonstrações Financeiras", "reference_date": "2026-01-31", "version": "1", "page": 29, "url": "https://fnet.bmfbovespa.com.br/fnet/publico/visualizarDocumento?id=1178840", "sha256": "c458e98664c5c907ddb5a05a94b120bed4e05295b2bfc420f5ba69af0a229abe"}, {"document_id": "891861", "title": "Demonstrações Financeiras", "reference_date": "2025-01-31", "version": "1", "page": 30, "url": "https://fnet.bmfbovespa.com.br/fnet/publico/visualizarDocumento?id=891861", "sha256": "e9cb9e6ddbe505fe068cfcac33605165a98313489de0d3ce6d4d238263c3f3e7"}], "reference": {"path": "history/55563624000109.json", "criterion_id": "admin_fee", "total_count": 3, "preview_count": 3, "full_text_deferred": true, "sha256": "7835d573fb58a3c19adf5b8ecc2aee2bdbb9a88f7a0c0209b5f262b64c7522e3"}}</a:t>
            </a:r>
          </a:p>
          <a:p>
            <a:r>
              <a:t>CNPJ 62552447000120 · Administração: taxa, base e mínimo · Regulamento · ID 1200623 · 21/05/2026 · versão Consolidado21/05/2026 aprovado pelo ato1200625 · p. 30 · AnexoI13.1 TaxaGlobal · https://fnet.bmfbovespa.com.br/fnet/publico/visualizarDocumento?id=1200623</a:t>
            </a:r>
          </a:p>
          <a:p>
            <a:r>
              <a:t>CNPJ 62552447000120 · Administração: taxa, base e mínimo · Excerto da fonte:</a:t>
            </a:r>
          </a:p>
          <a:p>
            <a:r>
              <a:t>Taxa Global Pelos serviços de administração, gestão, custódia, tesouraria, controladoria, escrituração, a Classe pagará um valor equivalente a um percentual incidente sobre o Patrimônio Líquido da Classe, conf orme a f aixa de Patrimônio Líquido da Classe prevista na tabela abaixo, apropriada diariamente e paga mensalmente até o 5º (quinto) Dia Útil do mês subsequente ao mês que se ref ere, com</a:t>
            </a:r>
          </a:p>
          <a:p>
            <a:r>
              <a:t>CNPJ 62552447000120 · Administração: taxa, base e mínimo · Condição: Global remunera administração, gestão, custódia, tesouraria, controladoria e escrituração; percentual segregado não presumido.</a:t>
            </a:r>
          </a:p>
          <a:p>
            <a:r>
              <a:t>CNPJ 62552447000120 · Administração: taxa, base e mínimo · Motivo: Não localizada uma cláusula material para este critério nos textos identificados e processados. A ausência de resultado não comprova inexistência da regra.</a:t>
            </a:r>
          </a:p>
          <a:p>
            <a:r>
              <a:t>CNPJ 62552447000120 · Administração: taxa, base e mínimo · Versão e prevalência: Leitura específica das cláusulas indicadas; condições e conflitos preservados. Seleção documental atual não comprova vigência jurídica por data isolada.</a:t>
            </a:r>
          </a:p>
          <a:p>
            <a:r>
              <a:t>CNPJ 63953620000165 · Administração: taxa, base e mínimo · Anexo ao Regulamento · ID 1222863 · 02/06/2026 · versão AnexoConsignadoPrivado02/06/2026 · p. 19 · Capítulo13TaxadeAdministração · https://fnet.bmfbovespa.com.br/fnet/publico/visualizarDocumento?id=1222863</a:t>
            </a:r>
          </a:p>
          <a:p>
            <a:r>
              <a:t>CNPJ 63953620000165 · Administração: taxa, base e mínimo · Excerto da fonte:</a:t>
            </a:r>
          </a:p>
          <a:p>
            <a:r>
              <a:t>Taxa de Administração positiva do Índice Geral de Preços – Mercado, divulgado pela Fundação Getúlio Vargas (“Taxa de Administração” e “IGP-M”, respectivamente). Na hipótese de extinção do IGP-M, não divulgação ou impossibilidade de sua utilização, será utilizado o Índice Geral de Preços – Disponibilidade Interna, divulgado pela Fundação Getúlio Vargas, ou, na falta de ambos, pela variação do IPC – Índice de Preços ao Consumidor, divulgado pela</a:t>
            </a:r>
          </a:p>
          <a:p>
            <a:r>
              <a:t>CNPJ 63953620000165 · Administração: taxa, base e mínimo · Condição: Base é a parcela MT específica, não necessariamente todo o PL da classe.</a:t>
            </a:r>
          </a:p>
          <a:p>
            <a:r>
              <a:t>CNPJ 63953620000165 · Administração: taxa, base e mínimo · Versão e prevalência: Leitura específica das cláusulas indicadas; condições e conflitos preservados. Seleção documental atual não comprova vigência jurídica por data isolada.</a:t>
            </a:r>
          </a:p>
          <a:p>
            <a:r>
              <a:t>CNPJ 63953620000165 · Administração: taxa, base e mínimo · Resumo do histórico: {"count": 8, "dates": ["2026-04-28", "2026-05-08", "2026-05-15"], "document_count": 3, "sources": [{"document_id": "1327859", "title": "Demonstrações Financeiras - Fusão, cisão e incorporação", "reference_date": "2026-05-15", "version": "1", "page": 28, "url": "https://fnet.bmfbovespa.com.br/fnet/publico/visualizarDocumento?id=1327859", "sha256": "dca1c68babb97f887528c3e2e47596a9c30f507b067981a35655b2f2da9c8054"}, {"document_id": "1298691", "title": "Demonstrações Financeiras - Fusão, cisão e incorporação", "reference_date": "2026-05-08", "version": "1", "page": 28, "url": "https://fnet.bmfbovespa.com.br/fnet/publico/visualizarDocumento?id=1298691", "sha256": "58c570d9b8d4d265330d3db3ea81c435b8e44a6dab4002aa37790652a1ee9819"}, {"document_id": "1282180", "title": "Demonstrações Financeiras - Fusão, cisão e incorporação", "reference_date": "2026-04-28", "version": "1", "page": 29, "url": "https://fnet.bmfbovespa.com.br/fnet/publico/visualizarDocumento?id=1282180", "sha256": "afaaa0e6809be4385e5bdb6c911aac582032c5bdbac3d7750234bf9eaf00438a"}], "reference": {"path": "history/63953620000165.json", "criterion_id": "admin_fee", "total_count": 8, "preview_count": 3, "full_text_deferred": true, "sha256": "a7b89077f5e21098c2d601c303faabc3ff6b9729f89d8afecdc60fe1404720c1"}}</a:t>
            </a:r>
          </a:p>
          <a:p>
            <a:r>
              <a:t>CNPJ 54871427000194 · Gestão: taxa, base e mínimo · Regulamento · ID 670691 · 28/04/2024 · versão Regulamento — referência 28/04/2024 · p. 26 · Anexo I, 13.4–13.4.3 · https://fnet.bmfbovespa.com.br/fnet/publico/visualizarDocumento?id=670691</a:t>
            </a:r>
          </a:p>
          <a:p>
            <a:r>
              <a:t>CNPJ 54871427000194 · Gestão: taxa, base e mínimo · Excerto da fonte:</a:t>
            </a:r>
          </a:p>
          <a:p>
            <a:r>
              <a:t>13.4 Pelos serviços de gestão, a Classe pagará a Taxa de Gestão nos seguintes moldes: o valor correspondente a 0,20% (vinte centésimos por cento) ao ano aplicado sobre o Patrimônio Líquido, observado o valor mínimo de R$ 15.000,00 (quinze mil reais) mensais atualizado pela variação positiva do IGP-M a cada período de 12 (doze) meses, contados a partir do mês em que ocorrer a primeira integralização de Cotas (inclusive). 13.4.1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13.4.2 A Taxa de Gestão será calculada e provisionada todo Dia Útil à razão de 1/252 (um inteiro e duzentos e cinquenta e dois avos) com base no valor do Patrimônio Líquido do Dia Útil anterior. 13.4.3 A Taxa de Gestão será paga mensalmente ao GESTOR, observado o disposto no item 13.5 abaixo, por período vencido, até o 5º (quinto) Dia Útil do mês subsequente à prestação dos ser</a:t>
            </a:r>
          </a:p>
          <a:p>
            <a:r>
              <a:t>CNPJ 54871427000194 · Gestão: taxa, base e mínimo · Versão e prevalência: Leitura específica das cláusulas indicadas; condições e conflitos preservados. Seleção documental atual não comprova vigência jurídica por data isolada.</a:t>
            </a:r>
          </a:p>
          <a:p>
            <a:r>
              <a:t>CNPJ 54871427000194 · Gestão: taxa, base e mínimo · Resumo do histórico: {"count": 2, "dates": ["2024-04-19", "2024-04-28"], "document_count": 2, "sources": [{"document_id": "670691", "title": "Regulamento", "reference_date": "2024-04-28", "version": "1", "page": "26", "url": "https://fnet.bmfbovespa.com.br/fnet/publico/visualizarDocumento?id=670691", "sha256": "bf16dd7f1a62d5cdbf2e2d54fef81783783f7310fbc99c3a8f00459bdf9d037b"}, {"document_id": "670689", "title": "Regulamento", "reference_date": "2024-04-19", "version": "1", "page": 27, "clause": "13.3", "url": "https://fnet.bmfbovespa.com.br/fnet/publico/visualizarDocumento?id=670689", "sha256": "891bc9bc5d87bbc02ec139077a84d2702eb81ea02035fb71d24f5b8366b94a0b"}], "reference": {"path": "history/54871427000194.json", "criterion_id": "management_fee", "total_count": 2, "preview_count": 2, "full_text_deferred": true, "sha256": "35d7cd99be50c7287c9fb675cf4f2e736002315295a225a9efa79c8d9186d874"}}</a:t>
            </a:r>
          </a:p>
          <a:p>
            <a:r>
              <a:t>CNPJ 60010416000112 · Gestão: taxa, base e mínimo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Gestão: taxa, base e mínimo · Resumo do histórico: {"count": 1, "dates": ["2025-10-09"], "document_count": 1, "sources": [{"document_id": "1051393", "title": "Regulamento", "reference_date": "2025-10-09", "version": "1", "page": "29, 46", "url": "https://fnet.bmfbovespa.com.br/fnet/publico/visualizarDocumento?id=1051393", "sha256": "8469d613078ffd5a6c1d217885d8a397a16342c0b937ae4aa24b106505f233ae"}], "reference": {"path": "history/60010416000112.json", "criterion_id": "management_fee", "total_count": 1, "preview_count": 1, "full_text_deferred": true, "sha256": "8e2bd813f4c51cf01f6bfaad164bafe69d2bbb192f753eac92da3a01c2e63046"}}</a:t>
            </a:r>
          </a:p>
          <a:p>
            <a:r>
              <a:t>CNPJ 62696791000193 · Gestão: taxa, base e mínimo · Regulamento · ID 1143317 · 20/03/2026 · versão Regulamento — referência 20/03/2026 · p. 28 · Anexo I, 13.1, Taxa de Gestão · https://fnet.bmfbovespa.com.br/fnet/publico/visualizarDocumento?id=1143317</a:t>
            </a:r>
          </a:p>
          <a:p>
            <a:r>
              <a:t>CNPJ 62696791000193 · Gestão: taxa, base e mínimo · Excerto da fonte:</a:t>
            </a:r>
          </a:p>
          <a:p>
            <a:r>
              <a:t>Taxa de Gestão 0% (zero por cento) ao ano apropriada diariamente na base de 252 (duzentos e cinquenta e dois) Dias Úteis, e paga mensalmente, até o 5º (quinto) Dia Útil do mês subsequente ao mês que se ref ere, incidente sobre o Patrimônio Líquido da Classe (“Taxa de Gestão”). Taxa Máxima de Custódia 0,00% (zero por cento) ao ano, incidente sobre o Patrimônio Líquido da Classe (“Taxa Máxima de Custódia”). Taxa de Performance Não será devido pela Classe o pagamento de Taxa de Perf ormance. 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a:t>
            </a:r>
          </a:p>
          <a:p>
            <a:r>
              <a:t>CNPJ 62696791000193 · Gestão: taxa, base e mínimo · Motivo: Não localizada uma cláusula material para este critério nos textos identificados e processados. A ausência de resultado não comprova inexistência da regra.</a:t>
            </a:r>
          </a:p>
          <a:p>
            <a:r>
              <a:t>CNPJ 62696791000193 · Gestão: taxa, base e mínimo · Versão e prevalência: Leitura específica das cláusulas indicadas; condições e conflitos preservados. Seleção documental atual não comprova vigência jurídica por data isolada.</a:t>
            </a:r>
          </a:p>
          <a:p>
            <a:r>
              <a:t>CNPJ 55563624000109 · Gestão: taxa, base e mínimo · Regulamento · ID 1192614 · 30/04/2026 · versão Regulamento30/04/2026 · p. 29 · AnexoI13.4–13.7.1 · https://fnet.bmfbovespa.com.br/fnet/publico/visualizarDocumento?id=1192614</a:t>
            </a:r>
          </a:p>
          <a:p>
            <a:r>
              <a:t>CNPJ 55563624000109 · Gestão: taxa, base e mínimo · Excerto da fonte:</a:t>
            </a:r>
          </a:p>
          <a:p>
            <a:r>
              <a:t>13.4 Sem prejuízo da Taxa Máxima de Gestão, pelos serviços de gestão, a Classe pagará ao GESTOR: (i) a taxa de gestão ordinária correspondente a 0,50% (cinquenta centésimos por cento) ao ano, incidente sobre o Patrimônio Líquido da Classe, observado o montante mínimo de R$ 40.000,00 (quarenta mil reais) ao mês, corrigido anualmente pela variação positiva do Índice de Preços ao Consumidor Amplo, divulgado pelo Instituto Brasileiro de Geografia e Estatística – IBGE (“Taxa de Gestão”); e (ii) a taxa de gestão extraordinária apurada e paga no momento de cada</a:t>
            </a:r>
          </a:p>
          <a:p>
            <a:r>
              <a:t>CNPJ 55563624000109 · Gestão: taxa, base e mínimo · Condição: Adicional é por integralização, não taxa anual.</a:t>
            </a:r>
          </a:p>
          <a:p>
            <a:r>
              <a:t>CNPJ 55563624000109 · Gestão: taxa, base e mínimo · Versão e prevalência: Leitura específica das cláusulas indicadas; condições e conflitos preservados. Seleção documental atual não comprova vigência jurídica por data isolada.</a:t>
            </a:r>
          </a:p>
          <a:p>
            <a:r>
              <a:t>CNPJ 55563624000109 · Gestão: taxa, base e mínimo · Resumo do histórico: {"count": 3, "dates": ["2025-01-31", "2026-01-31", "2026-04-30"], "document_count": 3, "sources": [{"document_id": "1192614", "title": "Regulamento", "reference_date": "2026-04-30", "version": "1", "page": "29", "url": "https://fnet.bmfbovespa.com.br/fnet/publico/visualizarDocumento?id=1192614", "sha256": "f56e63ace0acde41d2f47fb48f1ac7f3f7df5e2d32de092d7c5e075a52516632"}, {"document_id": "1178840", "title": "Demonstrações Financeiras", "reference_date": "2026-01-31", "version": "1", "page": 29, "url": "https://fnet.bmfbovespa.com.br/fnet/publico/visualizarDocumento?id=1178840", "sha256": "c458e98664c5c907ddb5a05a94b120bed4e05295b2bfc420f5ba69af0a229abe"}, {"document_id": "891861", "title": "Demonstrações Financeiras", "reference_date": "2025-01-31", "version": "1", "page": 30, "url": "https://fnet.bmfbovespa.com.br/fnet/publico/visualizarDocumento?id=891861", "sha256": "e9cb9e6ddbe505fe068cfcac33605165a98313489de0d3ce6d4d238263c3f3e7"}], "reference": {"path": "history/55563624000109.json", "criterion_id": "management_fee", "total_count": 3, "preview_count": 3, "full_text_deferred": true, "sha256": "7835d573fb58a3c19adf5b8ecc2aee2bdbb9a88f7a0c0209b5f262b64c7522e3"}}</a:t>
            </a:r>
          </a:p>
          <a:p>
            <a:r>
              <a:t>CNPJ 62552447000120 · Gestão: taxa, base e mínimo · Motivo: Não localizada uma cláusula material para este critério nos textos identificados e processados. A ausência de resultado não comprova inexistência da regra.</a:t>
            </a:r>
          </a:p>
          <a:p>
            <a:r>
              <a:t>CNPJ 63953620000165 · Gestão: taxa, base e mínimo · Anexo ao Regulamento · ID 1222863 · 02/06/2026 · versão AnexoConsignadoPrivado02/06/2026 · p. 20 · Capítulo13TaxadeGestão · https://fnet.bmfbovespa.com.br/fnet/publico/visualizarDocumento?id=1222863</a:t>
            </a:r>
          </a:p>
          <a:p>
            <a:r>
              <a:t>CNPJ 63953620000165 · Gestão: taxa, base e mínimo · Excerto da fonte:</a:t>
            </a:r>
          </a:p>
          <a:p>
            <a:r>
              <a:t>0,05% (cinco centésimos por cento) ao ano, apropriada diariamente na base de 252 (duzentos e cinquenta e dois) Dias Úteis, e paga mensalmente, até o 5º (quinto) Dia Útil do mês subsequente ao mês que se refere, incidente sobre o Patrimônio Líquido da Classe alocado em Direitos Creditórios Consignado Privado e/ou Ativos de Liquidez MT, observada remuneração mínima mensal de R$ 2.500,00 (dois mil e quinhentos reais), a ser corrigida anualmente, em janeiro de cada ano, pela variação</a:t>
            </a:r>
          </a:p>
          <a:p>
            <a:r>
              <a:t>CNPJ 63953620000165 · Gestão: taxa, base e mínimo · Versão e prevalência: Leitura específica das cláusulas indicadas; condições e conflitos preservados. Seleção documental atual não comprova vigência jurídica por data isolada.</a:t>
            </a:r>
          </a:p>
          <a:p>
            <a:r>
              <a:t>CNPJ 63953620000165 · Gestão: taxa, base e mínimo · Resumo do histórico: {"count": 8, "dates": ["2026-04-28", "2026-05-08", "2026-05-15"], "document_count": 3, "sources": [{"document_id": "1327859", "title": "Demonstrações Financeiras - Fusão, cisão e incorporação", "reference_date": "2026-05-15", "version": "1", "page": 28, "url": "https://fnet.bmfbovespa.com.br/fnet/publico/visualizarDocumento?id=1327859", "sha256": "dca1c68babb97f887528c3e2e47596a9c30f507b067981a35655b2f2da9c8054"}, {"document_id": "1298691", "title": "Demonstrações Financeiras - Fusão, cisão e incorporação", "reference_date": "2026-05-08", "version": "1", "page": 28, "url": "https://fnet.bmfbovespa.com.br/fnet/publico/visualizarDocumento?id=1298691", "sha256": "58c570d9b8d4d265330d3db3ea81c435b8e44a6dab4002aa37790652a1ee9819"}, {"document_id": "1282180", "title": "Demonstrações Financeiras - Fusão, cisão e incorporação", "reference_date": "2026-04-28", "version": "1", "page": 29, "url": "https://fnet.bmfbovespa.com.br/fnet/publico/visualizarDocumento?id=1282180", "sha256": "afaaa0e6809be4385e5bdb6c911aac582032c5bdbac3d7750234bf9eaf00438a"}], "reference": {"path": "history/63953620000165.json", "criterion_id": "management_fee", "total_count": 8, "preview_count": 3, "full_text_deferred": true, "sha256": "a7b89077f5e21098c2d601c303faabc3ff6b9729f89d8afecdc60fe1404720c1"}}</a:t>
            </a:r>
          </a:p>
          <a:p>
            <a:r>
              <a:t>CNPJ 54871427000194 · Performance: benchmark e apuração · Regulamento · ID 670691 · 28/04/2024 · versão Regulamento — referência 28/04/2024 · p. 26 · Anexo I, 13.3 · https://fnet.bmfbovespa.com.br/fnet/publico/visualizarDocumento?id=670691</a:t>
            </a:r>
          </a:p>
          <a:p>
            <a:r>
              <a:t>CNPJ 54871427000194 · Performance: benchmark e apuração · Excerto da fonte:</a:t>
            </a:r>
          </a:p>
          <a:p>
            <a:r>
              <a:t>13.3 Não serão cobradas da Classe ou dos Cotistas taxas de perf ormance, de ingresso ou de saída. Taxa de Gestão 13.4 Pelos serviços de gestão, a Classe pagará a Taxa de Gestão nos seguintes moldes: o valor correspondente a 0,20% (vinte centésimos por cento) ao ano aplicado sobre o Patrimônio Líquido, observado o valor mínimo de R$ 15.000,00 (quinze mil reais) mensais atualizado pela variação positiva do IGP-M a cada período de 12 (doze) meses, contados a partir do mês em que ocorrer a primeira integralização de Cotas (inclusive). 13.4.1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13.4.2 A Taxa de Gestão será calculada e provisionada todo Dia Útil à razão de 1/252 (um inteiro e duzentos e cinquenta e dois avos) com base no valor do Patrimônio Líquido do Dia Útil anterior. 13.4.3 A Taxa de Gestão será paga mensalmente ao GESTOR, observado o disposto no item 13.5</a:t>
            </a:r>
          </a:p>
          <a:p>
            <a:r>
              <a:t>CNPJ 54871427000194 · Performance: benchmark e apuração · Motivo: Não localizada uma cláusula material para este critério nos textos identificados e processados. A ausência de resultado não comprova inexistência da regra.</a:t>
            </a:r>
          </a:p>
          <a:p>
            <a:r>
              <a:t>CNPJ 54871427000194 · Performance: benchmark e apuração · Versão e prevalência: Leitura específica das cláusulas indicadas; condições e conflitos preservados. Seleção documental atual não comprova vigência jurídica por data isolada.</a:t>
            </a:r>
          </a:p>
          <a:p>
            <a:r>
              <a:t>CNPJ 60010416000112 · Performance: benchmark e apuração · Regulamento · ID 1051393 · 09/10/2025 · versão Regulamento09/10/2025 · p. 29 · AnexoI12.2 · https://fnet.bmfbovespa.com.br/fnet/publico/visualizarDocumento?id=1051393</a:t>
            </a:r>
          </a:p>
          <a:p>
            <a:r>
              <a:t>CNPJ 60010416000112 · Performance: benchmark e apuração · Excerto da fonte:</a:t>
            </a:r>
          </a:p>
          <a:p>
            <a:r>
              <a:t>12.2 Não serão cobradas da Classe ou dos Cotistas taxas de perf ormance, de ingresso ou de saída. Taxa Máxima de Custódia 12.3 Pelos serviços de custódia qualificada dos Direitos Creditórios e dos Ativos Financeiros de Liquidez não será devida nenhuma remuneração ao Custodiante, de modo que taxa máxima de custódia a ser paga pela Classe ao Custodiante corresponde a 0% (zero por cento) ao ano. Remuneração do Agente de Retenção/Cobrança 12.4 Para a prestação de serviços à Classe, o Agente de Retenção/Cobrança f ará jus a uma remuneração a ser auf erida todo Dia Útil e paga mensalmente, a título de Encargo da Cla</a:t>
            </a:r>
          </a:p>
          <a:p>
            <a:r>
              <a:t>CNPJ 60010416000112 · Performance: benchmark e apuração · Motivo: Não localizada uma cláusula material para este critério nos textos identificados e processados. A ausência de resultado não comprova inexistência da regra.</a:t>
            </a:r>
          </a:p>
          <a:p>
            <a:r>
              <a:t>CNPJ 60010416000112 · Performance: benchmark e apuração · Versão e prevalência: Leitura específica das cláusulas indicadas; condições e conflitos preservados. Seleção documental atual não comprova vigência jurídica por data isolada.</a:t>
            </a:r>
          </a:p>
          <a:p>
            <a:r>
              <a:t>CNPJ 62696791000193 · Performance: benchmark e apuração · Regulamento · ID 1143317 · 20/03/2026 · versão Regulamento — referência 20/03/2026 · p. 28 · Anexo I, 13.1, Taxa de Performance · https://fnet.bmfbovespa.com.br/fnet/publico/visualizarDocumento?id=1143317</a:t>
            </a:r>
          </a:p>
          <a:p>
            <a:r>
              <a:t>CNPJ 62696791000193 · Performance: benchmark e apuração · Excerto da fonte:</a:t>
            </a:r>
          </a:p>
          <a:p>
            <a:r>
              <a:t>Taxa de Performance Não será devido pela Classe o pagamento de Taxa de Perf ormance. 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equivalente a 0,9% (nove décimos por cento) ao ano aplicado sobre o Patrimônio Anexo I ao Regulamento Líquido, observado o limite máximo de 4,5% (quatro inteiros e cinquenta centésimos por cento) do volume captado na respectiva oferta (“Taxa Máxima de Distribuição”).A Taxa Máxima de BTG Pactual SAC: 0800 772 2827 | Ouvidoria: 0800 722 0048 | btgpactual.co m 23</a:t>
            </a:r>
          </a:p>
          <a:p>
            <a:r>
              <a:t>CNPJ 62696791000193 · Performance: benchmark e apuração · Regulamento · ID 1143317 · 20/03/2026 · versão Regulamento — referência 20/03/2026 · p. 29 · Anexo I, 13.1, Taxa de Ingresso · https://fnet.bmfbovespa.com.br/fnet/publico/visualizarDocumento?id=1143317</a:t>
            </a:r>
          </a:p>
          <a:p>
            <a:r>
              <a:t>CNPJ 62696791000193 · Performance: benchmark e apuração · Excerto da fonte:</a:t>
            </a:r>
          </a:p>
          <a:p>
            <a:r>
              <a:t>Taxa de Ingresso Não será cobrada dos Cotistas Taxa de Ingresso. 14 TRIBUTAÇÃO 14.1 O disposto neste Capítulo f oi elaborado com base na legislação e regulamentação em vigor produzindo ef eitos, tem por objetivo descrever de f orma sumária o tratamento tributário aplicável em regra aos cotistas, ao Fundo e à Classe, não se aplicando aos cotistas sujeitos a regras de tributação específicas, na f orma da legislação e regulamentação em vigor. 14.2 Há exceções (inclusive relativas à natureza ou ao domicílio do investidor para fins fiscais) em relação ao tratamento tributário descrito abaixo e tributos adicionais que podem ser aplicados, motivo pelo qual os cotistas devem consultar seus assessores jurídicos com relação à tributação aplicável nos investimentos realizados na Classe. Tributação da Classe / Operações da carteira: Como regra geral, os rendimentos auferidos pela carteira da Classe não estão sujeitos à incidência do imposto de renda, exceto ganhos auferidos em aplicações financeiras de renda fixa ou variável, que se sujeitam à incidência do Imposto de Renda Retido na Fonte (“IRF”) de acordo com as mesmas regras de tributação aplic</a:t>
            </a:r>
          </a:p>
          <a:p>
            <a:r>
              <a:t>CNPJ 62696791000193 · Performance: benchmark e apuração · Motivo: Não localizada uma cláusula material para este critério nos textos identificados e processados. A ausência de resultado não comprova inexistência da regra.</a:t>
            </a:r>
          </a:p>
          <a:p>
            <a:r>
              <a:t>CNPJ 62696791000193 · Performance: benchmark e apuração · Versão e prevalência: Leitura específica das cláusulas indicadas; condições e conflitos preservados. Seleção documental atual não comprova vigência jurídica por data isolada.</a:t>
            </a:r>
          </a:p>
          <a:p>
            <a:r>
              <a:t>CNPJ 55563624000109 · Performance: benchmark e apuração · Regulamento · ID 1192614 · 30/04/2026 · versão Regulamento30/04/2026 · p. 29 · AnexoI13.10 · https://fnet.bmfbovespa.com.br/fnet/publico/visualizarDocumento?id=1192614</a:t>
            </a:r>
          </a:p>
          <a:p>
            <a:r>
              <a:t>CNPJ 55563624000109 · Performance: benchmark e apuração · Excerto da fonte:</a:t>
            </a:r>
          </a:p>
          <a:p>
            <a:r>
              <a:t>13.10 Não serão cobradas taxas de performance da Classe, e nem taxas de ingresso ou de saída dos Cotistas que integralizarem ou resgatarem suas Cotas. BTG Pactual SAC: 0800 772 28 27 - Ouvidoria: 0800 722 00 48 - btgpactual.com 22</a:t>
            </a:r>
          </a:p>
          <a:p>
            <a:r>
              <a:t>CNPJ 55563624000109 · Performance: benchmark e apuração · Motivo: Não localizada uma cláusula material para este critério nos textos identificados e processados. A ausência de resultado não comprova inexistência da regra.</a:t>
            </a:r>
          </a:p>
          <a:p>
            <a:r>
              <a:t>CNPJ 55563624000109 · Performance: benchmark e apuração · Versão e prevalência: Leitura específica das cláusulas indicadas; condições e conflitos preservados. Seleção documental atual não comprova vigência jurídica por data isolada.</a:t>
            </a:r>
          </a:p>
          <a:p>
            <a:r>
              <a:t>CNPJ 62552447000120 · Performance: benchmark e apuração · Regulamento · ID 1200623 · 21/05/2026 · versão Consolidado21/05/2026 aprovado pelo ato1200625 · p. 30 · AnexoI13.1 TaxadePerformance/Ingresso · https://fnet.bmfbovespa.com.br/fnet/publico/visualizarDocumento?id=1200623</a:t>
            </a:r>
          </a:p>
          <a:p>
            <a:r>
              <a:t>CNPJ 62552447000120 · Performance: benchmark e apuração · Excerto da fonte:</a:t>
            </a:r>
          </a:p>
          <a:p>
            <a:r>
              <a:t>Taxa de Performance Não será devido pela Classe o pagamento de Taxa de Perf ormance. Taxa de Ingresso Não será cobrada dos Cotistas Taxa de Ingresso . CAPÍTULO 14 – CUSTOS REFERENTES À DEFESA DOS INTERESSES DA CLASSE 14.1 Todos os custos e despesas ref eridos neste Capítulo, inclusive para salvaguarda de direitos e prerrogativas da Classe e/ou com a cobrança judicial e/ou extrajudicial de Direitos Creditórios Inadimplidos, serão de inteira responsabilidade da Classe, não est ando o Administrador, o Gestor, o Endossante, os Devedores, o Custodiante e quaisquer de suas respectivas pessoas contr</a:t>
            </a:r>
          </a:p>
          <a:p>
            <a:r>
              <a:t>CNPJ 62552447000120 · Performance: benchmark e apuração · Motivo: Não localizada uma cláusula material para este critério nos textos identificados e processados. A ausência de resultado não comprova inexistência da regra.</a:t>
            </a:r>
          </a:p>
          <a:p>
            <a:r>
              <a:t>CNPJ 62552447000120 · Performance: benchmark e apuração · Versão e prevalência: Leitura específica das cláusulas indicadas; condições e conflitos preservados. Seleção documental atual não comprova vigência jurídica por data isolada.</a:t>
            </a:r>
          </a:p>
          <a:p>
            <a:r>
              <a:t>CNPJ 63953620000165 · Performance: benchmark e apuração · Anexo ao Regulamento · ID 1222863 · 02/06/2026 · versão AnexoConsignadoPrivado02/06/2026 · p. 20 · Capítulo13 · https://fnet.bmfbovespa.com.br/fnet/publico/visualizarDocumento?id=1222863</a:t>
            </a:r>
          </a:p>
          <a:p>
            <a:r>
              <a:t>CNPJ 63953620000165 · Performance: benchmark e apuração · Excerto da fonte:</a:t>
            </a:r>
          </a:p>
          <a:p>
            <a:r>
              <a:t>Taxa de Performance Não será devido pelas Classes o pagamento de Taxa de Performance. 0,00% (zero por cento) ao ano, incidente sobre o Patrimônio Líquido da Classe Taxa Máxima de Custódia (“Taxa Máxima de Custódia”). Taxa Máxima de Distribuição Não será cobrada Taxa de Distribuição. Taxa de Ingresso Não será cobrada da Classe ou dos Cotistas taxa de ingresso. CAPÍTULO 14 – CUSTOS REFERENTES À DEFESA DOS INTERESSES DA CLASSE 14.1 Todos os custos e despesas referidos neste Capítulo, inclusive para salvaguarda de direitos e prerrogativas da</a:t>
            </a:r>
          </a:p>
          <a:p>
            <a:r>
              <a:t>CNPJ 63953620000165 · Performance: benchmark e apuração · Motivo: Cláusula primária localizada e citada, mas sua lista/condições extensas não admitem uma síntese literal curta confirmada. O trecho integral permanece nas fontes.</a:t>
            </a:r>
          </a:p>
          <a:p>
            <a:r>
              <a:t>CNPJ 63953620000165 · Performance: benchmark e apuração · Versão e prevalência: Leitura específica das cláusulas indicadas; condições e conflitos preservados. Seleção documental atual não comprova vigência jurídica por data isolada.</a:t>
            </a:r>
          </a:p>
          <a:p>
            <a:r>
              <a:t>CNPJ 54871427000194 · Custódia, escrituração e encargos · Regulamento · ID 670691 · 28/04/2024 · versão Regulamento — referência 28/04/2024 · p. 26 · Anexo I, 13.7–13.8 · https://fnet.bmfbovespa.com.br/fnet/publico/visualizarDocumento?id=670691</a:t>
            </a:r>
          </a:p>
          <a:p>
            <a:r>
              <a:t>CNPJ 54871427000194 · Custódia, escrituração e encargos · Excerto da fonte:</a:t>
            </a:r>
          </a:p>
          <a:p>
            <a:r>
              <a:t>13.7 Pelos serviços de retenção e cobrança, prestada nos termos deste Anexo e do Contrato de Retenção/Cobrança, será devida pela Classe ao Agente de Retenção/Cobrança a remuneração prevista no respectivo Contrato de Retenção/Cobrança. Taxa Máxima de Custódia 13.8 Pelos serviços de custódia qualificada dos Direitos Creditórios e dos Ativos Financeiros de Liquidez não será devida nenhuma remuneração ao CUSTODIANTE, de modo que taxa máxima de custódia a ser paga pela Classe ao CUSTODIANTE corresponde a 0% (zero por cento) ao ano. CAPÍTULO 14 – CUSTOS REFERENTES À DEFESA DOS INTERESSES DA CLASSE 14.1 Caso a Classe não possua recursos disponíveis, em moeda corrente nacional, suf icientes para a adoção e manutenção, direta ou indireta, dos procedimentos judiciais e extrajudiciais necessários à cobrança dos Direitos Creditórios e dos Ativos Financeiros de Liquidez de titularidade da Classe e à def esa dos direitos, interesses e prerrogativas da Classe, a maioria dos titulares das Cotas, reunidos em Assembleia Especial de Cotistas, poderá aprovar o aporte de recursos à Classe, por meio da integralização de novas Cotas, a ser realizada por todos os titulares das Cotas para assegurar, se for o caso, a</a:t>
            </a:r>
          </a:p>
          <a:p>
            <a:r>
              <a:t>CNPJ 54871427000194 · Custódia, escrituração e encargos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Custódia, escrituração e encargos · Versão e prevalência: Leitura específica das cláusulas indicadas; condições e conflitos preservados. Seleção documental atual não comprova vigência jurídica por data isolada.</a:t>
            </a:r>
          </a:p>
          <a:p>
            <a:r>
              <a:t>CNPJ 54871427000194 · Custódia, escrituração e encargos · Resumo do histórico: {"count": 1, "dates": ["2024-04-28"], "document_count": 1, "sources": [{"document_id": "670691", "title": "Regulamento", "reference_date": "2024-04-28", "version": "1", "page": "26", "url": "https://fnet.bmfbovespa.com.br/fnet/publico/visualizarDocumento?id=670691", "sha256": "bf16dd7f1a62d5cdbf2e2d54fef81783783f7310fbc99c3a8f00459bdf9d037b"}], "reference": {"path": "history/54871427000194.json", "criterion_id": "custody_fee", "total_count": 1, "preview_count": 1, "full_text_deferred": true, "sha256": "35d7cd99be50c7287c9fb675cf4f2e736002315295a225a9efa79c8d9186d874"}}</a:t>
            </a:r>
          </a:p>
          <a:p>
            <a:r>
              <a:t>CNPJ 60010416000112 · Custódia, escrituração e encargos · Regulamento · ID 1051393 · 09/10/2025 · versão Regulamento09/10/2025 · p. 29 · AnexoI12.3–12.4 · https://fnet.bmfbovespa.com.br/fnet/publico/visualizarDocumento?id=1051393</a:t>
            </a:r>
          </a:p>
          <a:p>
            <a:r>
              <a:t>CNPJ 60010416000112 · Custódia, escrituração e encargos · Excerto da fonte:</a:t>
            </a:r>
          </a:p>
          <a:p>
            <a:r>
              <a:t>12.3 Pelos serviços de custódia qualificada dos Direitos Creditórios e dos Ativos Financeiros de Liquidez não será devida nenhuma remuneração ao Custodiante, de modo que taxa máxima de custódia a ser paga pela Classe ao Custodiante corresponde a 0% (zero por cento) ao ano. Remuneração do Agente de Retenção/Cobrança 12.4 Para a prestação de serviços à Classe, o Agente de Retenção/Cobrança f ará jus a uma remuneração a ser auf erida todo Dia Útil e paga mensalmente, a título de Encargo da Classe, a qual será calculada com base na seguinte f órmula:</a:t>
            </a:r>
          </a:p>
          <a:p>
            <a:r>
              <a:t>CNPJ 60010416000112 · Custódia, escrituração e encargos · Regulamento · ID 1051393 · 09/10/2025 · versão Regulamento09/10/2025 · p. 30 · AnexoI12.4definições,12.5–12.5.1 · https://fnet.bmfbovespa.com.br/fnet/publico/visualizarDocumento?id=1051393</a:t>
            </a:r>
          </a:p>
          <a:p>
            <a:r>
              <a:t>CNPJ 60010416000112 · Custódia, escrituração e encargos · Excerto da fonte:</a:t>
            </a:r>
          </a:p>
          <a:p>
            <a:r>
              <a:t>RAC = Remuneração do Agente de Retenção e Cobrança,tendo como valor 4,00% (quatro por cento) ao ano. 12.5 A remuneração prevista no item 12.4 acima será calculada pelo Administrador e paga diretamente ao Agente de Retenção/Cobrança até o 5º (quinto) Dia Útil do mês subsequente ao da prestação dos serviços, conf orme estabelecido no Contrato de Serviços MT. 12.5.1. Independentemente do acima disposto, na hipótese de venda de qualquer parte dos Direitos Creditórios Elegíveis a terceiros, inclusive no caso de liquidação da Classe, o Agente de Retenção/Cobra</a:t>
            </a:r>
          </a:p>
          <a:p>
            <a:r>
              <a:t>CNPJ 60010416000112 · Custódia, escrituração e encargos · Condição: Fórmula do RAC tem composição base 252 DU/21 dias; não somar a 4% do PL como taxa administrativa.</a:t>
            </a:r>
          </a:p>
          <a:p>
            <a:r>
              <a:t>CNPJ 60010416000112 · Custódia, escrituração e encargos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Custódia, escrituração e encargos · Versão e prevalência: Leitura específica das cláusulas indicadas; condições e conflitos preservados. Seleção documental atual não comprova vigência jurídica por data isolada.</a:t>
            </a:r>
          </a:p>
          <a:p>
            <a:r>
              <a:t>CNPJ 60010416000112 · Custódia, escrituração e encargos · Resumo do histórico: {"count": 1, "dates": ["2025-10-09"], "document_count": 1, "sources": [{"document_id": "1051393", "title": "Regulamento", "reference_date": "2025-10-09", "version": "1", "page": "29-31", "url": "https://fnet.bmfbovespa.com.br/fnet/publico/visualizarDocumento?id=1051393", "sha256": "8469d613078ffd5a6c1d217885d8a397a16342c0b937ae4aa24b106505f233ae"}], "reference": {"path": "history/60010416000112.json", "criterion_id": "custody_fee", "total_count": 1, "preview_count": 1, "full_text_deferred": true, "sha256": "8e2bd813f4c51cf01f6bfaad164bafe69d2bbb192f753eac92da3a01c2e63046"}}</a:t>
            </a:r>
          </a:p>
          <a:p>
            <a:r>
              <a:t>CNPJ 62696791000193 · Custódia, escrituração e encargos · Regulamento · ID 1143317 · 20/03/2026 · versão Regulamento — referência 20/03/2026 · p. 28 · Anexo I, 13.1, Custódia e Distribuição · https://fnet.bmfbovespa.com.br/fnet/publico/visualizarDocumento?id=1143317</a:t>
            </a:r>
          </a:p>
          <a:p>
            <a:r>
              <a:t>CNPJ 62696791000193 · Custódia, escrituração e encargos · Excerto da fonte:</a:t>
            </a:r>
          </a:p>
          <a:p>
            <a:r>
              <a:t>Taxa Máxima de Custódia 0,00% (zero por cento) ao ano, incidente sobre o Patrimônio Líquido da Classe (“Taxa Máxima de Custódia”). Taxa de Performance Não será devido pela Classe o pagamento de Taxa de Perf ormance. 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equivalente a 0,9% (nove décimos por cento) ao ano aplicado sobre o Patrimônio Anexo I ao Regulamento Líquido, observado o limite máximo de 4,5% (quatro inteiros e cinquenta centésimos por cento) do volume captado na respectiva oferta (“Taxa Máxima de Distribuição”).A</a:t>
            </a:r>
          </a:p>
          <a:p>
            <a:r>
              <a:t>CNPJ 62696791000193 · Custódia, escrituração e encargos · Regulamento · ID 1143317 · 20/03/2026 · versão Regulamento — referência 20/03/2026 · p. 29 · Anexo I, 13.1, Distribuição · https://fnet.bmfbovespa.com.br/fnet/publico/visualizarDocumento?id=1143317</a:t>
            </a:r>
          </a:p>
          <a:p>
            <a:r>
              <a:t>CNPJ 62696791000193 · Custódia, escrituração e encargos · Excerto da fonte:</a:t>
            </a:r>
          </a:p>
          <a:p>
            <a:r>
              <a:t>Distribuição será calculada e provisionada todo Dia Útil à razão de 1/252 (um inteiro e duzentos e cinquenta e dois avos) com base no valor do Patrimônio Líquido do Dia Útil anterior. Nos termos da Resolução CVM 160, o coordenador líder poderá destinar parte ou a totalidade da sua remuneração, à vista ou a prazo, aos distribuidores contratados, conforme previsto no contrato de distribuição da oferta e/ou nos termos de adesão ao contrato de distribuição. A Taxa Máxima de Distribuição será paga mensalmente por período vencido, até o 10º (décimo) Dia Útil do mês subsequente à prestação dos serviços, a partir do mês em que ocorrer a primeira integralização de Cotas da Classe Taxa de Ingresso Não será cobrada dos Cotistas Taxa de Ingresso. 14 TRIBUTAÇÃO 14.1 O disposto neste Capítulo f oi elaborado co</a:t>
            </a:r>
          </a:p>
          <a:p>
            <a:r>
              <a:t>CNPJ 62696791000193 · Custódia, escrituração e encargos · Motivo: Não localizada uma cláusula material para este critério nos textos identificados e processados. A ausência de resultado não comprova inexistência da regra.</a:t>
            </a:r>
          </a:p>
          <a:p>
            <a:r>
              <a:t>CNPJ 62696791000193 · Custódia, escrituração e encargos · Versão e prevalência: Leitura específica das cláusulas indicadas; condições e conflitos preservados. Seleção documental atual não comprova vigência jurídica por data isolada.</a:t>
            </a:r>
          </a:p>
          <a:p>
            <a:r>
              <a:t>CNPJ 55563624000109 · Custódia, escrituração e encargos · Regulamento · ID 1192614 · 30/04/2026 · versão Regulamento30/04/2026 · p. 29 · AnexoI13.8–13.9 · https://fnet.bmfbovespa.com.br/fnet/publico/visualizarDocumento?id=1192614</a:t>
            </a:r>
          </a:p>
          <a:p>
            <a:r>
              <a:t>CNPJ 55563624000109 · Custódia, escrituração e encargos · Excerto da fonte:</a:t>
            </a:r>
          </a:p>
          <a:p>
            <a:r>
              <a:t>13.8 Pelos serviços de custódia qualificada das Cotas da Classe Investida e dos Ativos Financeiros de Liquidez não será devida nenhuma remuneração ao CUSTODIANTE, de modo que taxa de custódia a ser paga pela Classe ao CUSTODIANTE corresponde a 0% (zero por cento) ao ano. Taxas Máxima de Distribuição 13.9 Tendo em vista que não há distribuidores das Cotas que prestem serviços de forma contínua ao Fundo, o presente Regulamento e Anexo Descritivo não preveem uma taxa máxima de distribuição aplicável a todas as emissões, nos termos do Ofício-Circular-Conju</a:t>
            </a:r>
          </a:p>
          <a:p>
            <a:r>
              <a:t>CNPJ 55563624000109 · Custódia, escrituração e encargos · Versão e prevalência: Leitura específica das cláusulas indicadas; condições e conflitos preservados. Seleção documental atual não comprova vigência jurídica por data isolada.</a:t>
            </a:r>
          </a:p>
          <a:p>
            <a:r>
              <a:t>CNPJ 55563624000109 · Custódia, escrituração e encargos · Resumo do histórico: {"count": 1, "dates": ["2026-04-30"], "document_count": 1, "sources": [{"document_id": "1192614", "title": "Regulamento", "reference_date": "2026-04-30", "version": "1", "page": "29", "url": "https://fnet.bmfbovespa.com.br/fnet/publico/visualizarDocumento?id=1192614", "sha256": "f56e63ace0acde41d2f47fb48f1ac7f3f7df5e2d32de092d7c5e075a52516632"}], "reference": {"path": "history/55563624000109.json", "criterion_id": "custody_fee", "total_count": 1, "preview_count": 1, "full_text_deferred": true, "sha256": "7835d573fb58a3c19adf5b8ecc2aee2bdbb9a88f7a0c0209b5f262b64c7522e3"}}</a:t>
            </a:r>
          </a:p>
          <a:p>
            <a:r>
              <a:t>CNPJ 62552447000120 · Custódia, escrituração e encargos · Motivo: Não localizada uma cláusula material para este critério nos textos identificados e processados. A ausência de resultado não comprova inexistência da regra.</a:t>
            </a:r>
          </a:p>
          <a:p>
            <a:r>
              <a:t>CNPJ 63953620000165 · Custódia, escrituração e encargos · Motivo: Não localizada uma cláusula material para este critério nos textos identificados e processados. A ausência de resultado não comprova inexistência da regra.</a:t>
            </a:r>
          </a:p>
          <a:p>
            <a:r>
              <a:t>CNPJ 54871427000194 · Classes e séries de cotas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Classes e séries de cotas · Resumo do histórico: {"count": 1, "dates": ["2024-04-28"], "document_count": 1, "sources": [{"document_id": "670691", "title": "Regulamento", "reference_date": "2024-04-28", "version": "1", "page": "7, 14", "url": "https://fnet.bmfbovespa.com.br/fnet/publico/visualizarDocumento?id=670691", "sha256": "bf16dd7f1a62d5cdbf2e2d54fef81783783f7310fbc99c3a8f00459bdf9d037b"}], "reference": {"path": "history/54871427000194.json", "criterion_id": "quota_classes", "total_count": 1, "preview_count": 1, "full_text_deferred": true, "sha256": "35d7cd99be50c7287c9fb675cf4f2e736002315295a225a9efa79c8d9186d874"}}</a:t>
            </a:r>
          </a:p>
          <a:p>
            <a:r>
              <a:t>CNPJ 60010416000112 · Classes e séries de cotas · Demonstrações Financeiras - Fusão, cisão e incorporação · ID 1298690 · 2026-05-08 · versão 1 · p. 30 · https://fnet.bmfbovespa.com.br/fnet/publico/visualizarDocumento?id=1298690</a:t>
            </a:r>
          </a:p>
          <a:p>
            <a:r>
              <a:t>CNPJ 60010416000112 · Classes e séries de cotas · Excerto da fonte:</a:t>
            </a:r>
          </a:p>
          <a:p>
            <a:r>
              <a:t>Durante o período de investimento, a Administradora poderá deliberar por realizar novas  emissões de cotas subordinadas, sem a necessidade de aprovação em Assembleia Especial  de Cotistas ou alteração do Regulamento, limitadas ao montante máximo de R$ 50.000  (cinquenta milhões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subordinadas emitidas não sejam  superiores aos prazos de vencimento da primeira emissão.</a:t>
            </a:r>
          </a:p>
          <a:p>
            <a:r>
              <a:t>CNPJ 60010416000112 · Classes e séries de cotas · Demonstrações Financeiras - Fusão, cisão e incorporação · ID 1298690 · 2026-05-08 · versão 1 · p. 7 · https://fnet.bmfbovespa.com.br/fnet/publico/visualizarDocumento?id=1298690</a:t>
            </a:r>
          </a:p>
          <a:p>
            <a:r>
              <a:t>CNPJ 60010416000112 · Classes e séries de cotas · Excerto da fonte:</a:t>
            </a:r>
          </a:p>
          <a:p>
            <a:r>
              <a:t>01/12/2025 a  Nota  08/05/2026  Patrimônio líquido no início do período  Total de 493.487,7492 cotas sêniores a R$ 1.136,5211 560.859  Total de 2.329.794,7852 cotas sêniores 2 a R$ 1.141,3012 2.658.998  Total de 954,2302 cotas subordinadas a R$ 150.939,4087 144.031</a:t>
            </a:r>
          </a:p>
          <a:p>
            <a:r>
              <a:t>CNPJ 60010416000112 · Classes e séries de cotas · Demonstrações Financeiras - Fusão, cisão e incorporação · ID 1298690 · 2026-05-08 · versão 1 · p. 7 · https://fnet.bmfbovespa.com.br/fnet/publico/visualizarDocumento?id=1298690</a:t>
            </a:r>
          </a:p>
          <a:p>
            <a:r>
              <a:t>CNPJ 60010416000112 · Classes e séries de cotas · Excerto da fonte:</a:t>
            </a:r>
          </a:p>
          <a:p>
            <a:r>
              <a:t>Patrimônio líquido no final do período  Total de 2.865.592,8479 cotas a R$ 1.285,7151 3.672.765  Total de 493.487,7492 cotas sêniores a R$ 1.230,3042 607.141  Total de 2.362.150,8684 cotas sêniores 2 a R$ 1.236,9918 2.921.961  Total de 954,2302 cotas subordinadas a R$ 150.554,2733 143.663</a:t>
            </a:r>
          </a:p>
          <a:p>
            <a:r>
              <a:t>CNPJ 60010416000112 · Classes e séries de cotas · Condição: Documentos atuais selecionados no inventário por categoria/escopo; a data documental isolada não comprova vigência jurídica.</a:t>
            </a:r>
          </a:p>
          <a:p>
            <a:r>
              <a:t>CNPJ 60010416000112 · Classes e séries de cotas · Versão e prevalência: Documentos atuais selecionados no inventário por categoria/escopo; a data documental isolada não comprova vigência jurídica.</a:t>
            </a:r>
          </a:p>
          <a:p>
            <a:r>
              <a:t>CNPJ 60010416000112 · Classes e séries de cotas · Resumo do histórico: {"count": 9, "dates": ["2025-11-30", "2026-03-18", "2026-04-16"], "document_count": 3, "sources": [{"document_id": "1282181", "title": "Demonstrações Financeiras - Fusão, cisão e incorporação", "reference_date": "2026-04-16", "version": "1", "page": 7, "url": "https://fnet.bmfbovespa.com.br/fnet/publico/visualizarDocumento?id=1282181", "sha256": "b1c6566e43a00bcd00c8a7f30c77b7f86e351bd8e355bbea113f46d1dafda703"}, {"document_id": "1224477", "title": "Demonstrações Financeiras - Fusão, cisão e incorporação", "reference_date": "2026-03-18", "version": "1", "page": 7, "url": "https://fnet.bmfbovespa.com.br/fnet/publico/visualizarDocumento?id=1224477", "sha256": "0751bf0a75bc3b44c2748f5000226665c6ec6698a90c4dc6170b4e6c187759ae"}, {"document_id": "1126154", "title": "Demonstrações Financeiras", "reference_date": "2025-11-30", "version": "1", "page": 7, "url": "https://fnet.bmfbovespa.com.br/fnet/publico/visualizarDocumento?id=1126154", "sha256": "a01e7ccf88c548f12c95cba8526d7efbef6b585c112cd4668eca781c292090b0"}], "reference": {"path": "history/60010416000112.json", "criterion_id": "quota_classes", "total_count": 9, "preview_count": 3, "full_text_deferred": true, "sha256": "8e2bd813f4c51cf01f6bfaad164bafe69d2bbb192f753eac92da3a01c2e63046"}}</a:t>
            </a:r>
          </a:p>
          <a:p>
            <a:r>
              <a:t>CNPJ 62696791000193 · Classes e séries de cotas · Instrumento Particular de Emissão de Cotas · ID 1148821 · 2026-03-27 · versão 1 · p. 1 · 20.000 · https://fnet.bmfbovespa.com.br/fnet/publico/visualizarDocumento?id=1148821</a:t>
            </a:r>
          </a:p>
          <a:p>
            <a:r>
              <a:t>CNPJ 62696791000193 · Classes e séries de cotas · Excerto da fonte:</a:t>
            </a:r>
          </a:p>
          <a:p>
            <a:r>
              <a:t>20.000 (vinte mil) Cotas Subordinadas Júnior, com valor nominal unitário de R$ 1.000,00 (mil reais),  perfazendo o montante total de R$ 20.000.000,00 (vinte milhões de reais), as quais serão objeto de  colocação privada, de acordo com os termos e condições definidos no Apêndice da Subclasse  Subordinada Júnior constante do Anexo I Regulamento e descritas abaixo (“2ª Emissão da Subclasse  Subordinada Júnior”):</a:t>
            </a:r>
          </a:p>
          <a:p>
            <a:r>
              <a:t>CNPJ 62696791000193 · Classes e séries de cotas · Instrumento Particular de Emissão de Cotas · ID 1148821 · 2026-03-27 · versão 1 · p. 2 · https://fnet.bmfbovespa.com.br/fnet/publico/visualizarDocumento?id=1148821</a:t>
            </a:r>
          </a:p>
          <a:p>
            <a:r>
              <a:t>CNPJ 62696791000193 · Classes e séries de cotas · Excerto da fonte:</a:t>
            </a:r>
          </a:p>
          <a:p>
            <a:r>
              <a:t>2. Aprovar a 2ª (segunda) emissão da Subclasse Sênior da Classe, composta por até 150.000  (cento e cinquenta mil) Cotas Seniores, com valor nominal unitário de R$ 1.000,00 (mil reais),  perfazendo o montante total de R$ 150.000.000,00 (cento e cinquenta milhões de reais), as quais  serão objeto de colocação privada, de acordo com os termos e condições descritos no Apêndice da  Subclasse Sênior constante do Anexo I Regulamento e descritas abaixo (“2ª Emissão da Subclasse  Sênior”):</a:t>
            </a:r>
          </a:p>
          <a:p>
            <a:r>
              <a:t>CNPJ 62696791000193 · Classes e séries de cotas · Instrumento Particular de Emissão de Cotas · ID 1148821 · 2026-03-27 · versão 1 · p. 2 · https://fnet.bmfbovespa.com.br/fnet/publico/visualizarDocumento?id=1148821</a:t>
            </a:r>
          </a:p>
          <a:p>
            <a:r>
              <a:t>CNPJ 62696791000193 · Classes e séries de cotas · Excerto da fonte:</a:t>
            </a:r>
          </a:p>
          <a:p>
            <a:r>
              <a:t>d) Forma de Integralização: as Cotas Subordinadas Júnior serão integralizadas à vista, junto ao  seu respectivo agente de custódia e/ou da Administradora na qualidade de escriturador das  cotas; e</a:t>
            </a:r>
          </a:p>
          <a:p>
            <a:r>
              <a:t>CNPJ 62696791000193 · Classes e séries de cotas · Condição: Documentos atuais selecionados no inventário por categoria/escopo; a data documental isolada não comprova vigência jurídica.</a:t>
            </a:r>
          </a:p>
          <a:p>
            <a:r>
              <a:t>CNPJ 62696791000193 · Classes e séries de cotas · Versão e prevalência: Documentos atuais selecionados no inventário por categoria/escopo; a data documental isolada não comprova vigência jurídica.</a:t>
            </a:r>
          </a:p>
          <a:p>
            <a:r>
              <a:t>CNPJ 62696791000193 · Classes e séries de cotas · Resumo do histórico: {"count": 2, "dates": ["2026-03-20", "2026-03-27"], "document_count": 2, "sources": [{"document_id": "1148821", "title": "Instrumento Particular de Emissão de Cotas", "reference_date": "2026-03-27", "version": "1", "page": "1-2", "url": "https://fnet.bmfbovespa.com.br/fnet/publico/visualizarDocumento?id=1148821", "sha256": "86900e9dd498403696bfffbd4196443c83ec4d51ff21135e073c1966e1adf4c0"}, {"document_id": "1143317", "title": "Regulamento", "reference_date": "2026-03-20", "version": "1", "page": 16, "clause": "7.2", "url": "https://fnet.bmfbovespa.com.br/fnet/publico/visualizarDocumento?id=1143317", "sha256": "32f62818d51c3ebeaf9ec012d3d7867f15c1aed6d10f0867c157a290df1cea48"}], "reference": {"path": "history/62696791000193.json", "criterion_id": "quota_classes", "total_count": 2, "preview_count": 2, "full_text_deferred": true, "sha256": "0e9ec199848320ec945708123ae0cb6075d76c05d94beed814d582031d353926"}}</a:t>
            </a:r>
          </a:p>
          <a:p>
            <a:r>
              <a:t>CNPJ 55563624000109 · Classes e séries de cotas · Regulamento · ID 1192614 · 2026-04-30 · versão 1 · p. 40 · https://fnet.bmfbovespa.com.br/fnet/publico/visualizarDocumento?id=1192614</a:t>
            </a:r>
          </a:p>
          <a:p>
            <a:r>
              <a:t>CNPJ 55563624000109 · Classes e séries de cotas · Excerto da fonte:</a:t>
            </a:r>
          </a:p>
          <a:p>
            <a:r>
              <a:t>(xxiv) Subordinação de determinadas Cotas da Classe Investida a outras subclasses ou séries de  cotas das Classes Investidas aos quais pertencem. A Classe Investida adquirirá apenas cotas  subordinadas mezaninos da Classe Investida, as quais se subordinam às cotas seniores da Classe  Investida para efeitos de resgate. Os resgates de cotas subordinadas mezanino tipicamente têm sua  realização condicionada ainda à manutenção da razão de garantia e à existência de disponibilidades  da Classe Investida. O ADMINISTRADOR, o GESTOR e o CUSTODIANTE e suas respectivas partes  relacionadas, encontram-se impossibilitados de assegurar que a amortização e o resgate das cotas  subordinadas mezanino da Classe Investida que venham a ser adquiridas pela Classe ocorrerão nas  datas originalmente previstas, sendo que, caso tais amortizações e/ou resgates não ocorram, não será  devido pelo FUNDO ou qualquer pessoa, incluindo o ADMINISTRADOR, o GESTOR e o CUSTODIANTE,  do FUNDO ou da Classe Investida qualquer multa ou penalidade, de qualquer natureza. O não resgate  de cotas subordinadas mezanino da Classe Investida detidas pela Classe poderá impactar  negativamente no fluxo de pagamento de resgate da Classe e/ou no valor patrimonial das Cotas da  Classe.</a:t>
            </a:r>
          </a:p>
          <a:p>
            <a:r>
              <a:t>CNPJ 55563624000109 · Classes e séries de cotas · Regulamento · ID 1192614 · 2026-04-30 · versão 1 · p. 31 · 15.1.1 · https://fnet.bmfbovespa.com.br/fnet/publico/visualizarDocumento?id=1192614</a:t>
            </a:r>
          </a:p>
          <a:p>
            <a:r>
              <a:t>CNPJ 55563624000109 · Classes e séries de cotas · Excerto da fonte:</a:t>
            </a:r>
          </a:p>
          <a:p>
            <a:r>
              <a:t>15.1.1 Riscos de Crédito:</a:t>
            </a:r>
          </a:p>
          <a:p>
            <a:r>
              <a:t> (i) Risco de concentração na Classe Investida. Nos termos do presente Regulamento, a Classe  deverá manter alocado, no mínimo, 67% (sessenta e sete por cento) do Patrimônio Líquido nas Cotas  da Classe Investida. Alterações na condição econômico-financeira e na expectativa de desempenho ou  resultados da Classe Investida poderão, isolada ou cumulativamente, afetar negativamente o  rendimento do investimento nas Cotas, de forma mais severa do que se a Classe adotasse uma  estratégia de investimento de maior diversificação. O risco associado às aplicações de qualquer fundo  de investimento é diretamente proporcional à concentração da sua carteira, sendo que, quanto maior  essa concentração, maior será a sua vulnerabilidade.</a:t>
            </a:r>
          </a:p>
          <a:p>
            <a:r>
              <a:t> (ii) Risco relativo à Classe Investida. Nos termos deste Anexo, a Classe deverá manter alocado, no  mínimo, 67% (sessenta e sete por cento) do Patrimônio Líquido em Cotas da Classe Investida. Os  investimentos realizados pela Classe Investida poderão estar sujeitos a flutuações típicas do mercado,  risco de crédito, risco sistêmico, condições adversas de liquidez e negociação atípica nos mercados de  atuação, bem como outros riscos diversos. Este Anexo não contém a descrição de todas as  características, incluindo os riscos, da Classe Investida.</a:t>
            </a:r>
          </a:p>
          <a:p>
            <a:r>
              <a:t> (iii) Risco Relativo ao Pagamento de Encargos da Classe Investida. Tendo em vista a estrutura da  Classe Investida – que emitiu cotas sêniores, cotas subordinadas mezanino e cotas subordinadas júnior  – em situação ordinária os encargos da Classe Investida são arcados pelas cotas subordinadas júnior,  que se subordinam às cotas subordinadas mezanino e às cotas sêniores para fins de amortização,  resgate e distribuição de rendimentos, não impactando, portanto, as Cotas da Classe Investida. Não  obstante o funcionamento da Classe Investida em situação ordinária, em cenários extraordinários, na  eventualidade do valor das cotas subordinadas júnior ficar reduzido a zero ou a valor negativo, os  encargos da Classe Investida conforme previstos em seu regulamento, inclusive mas não se limitando  as remunerações dos prestadores de serviços essenciais, passarão a ser arcados pelas cotas  subordinadas mezanino (que são as Cotas da Classe Investida), impactando no valor do investimento  da Classe na Classe Investida, e consequentemente, o investimento dos Cotistas na Classe.</a:t>
            </a:r>
          </a:p>
          <a:p>
            <a:r>
              <a:t> (iv) Riscos referentes à carteira da Classe Investida. Na forma do Anexo Normativo II da Resolução  CVM 175, a Classe Investida investe, direta ou indiretamente, no mínimo, 67% (sessenta e sete por  cento) do seu patrimônio em direitos creditórios originados pela Mercado Pago. O investimento em tais  direitos creditórios está sujeito a fatores de risco específicos, conforme detalhados no regulamento da  Classe Investida, incluindo, mas não se limitando a:</a:t>
            </a:r>
          </a:p>
          <a:p>
            <a:r>
              <a:t> (a) Risco de liquidez dos direitos creditórios. O investimento da Classe Investida em direitos  creditórios apresenta peculiaridades em relação às aplicações usuais da maioria dos  fundos de investimento brasileiros, haja vista que não existe, no Brasil, mercado  secundário com liquidez para tais direitos creditórios. Caso a Classe Investida precise  vender os direitos creditórios adquiridos, poderá não haver mercado comprador para  tais créditos, bem como o preço de alienação de tais direitos creditórios poderá refletir  essa falta de liquidez, causando perda ao patrimônio da Classe Investida e,  consequentemente, à Classe.</a:t>
            </a:r>
          </a:p>
          <a:p>
            <a:r>
              <a:t>CNPJ 55563624000109 · Classes e séries de cotas · AGE · ID 1192603 · 2026-04-30 · versão 1 · p. 1 · 4.1 · https://fnet.bmfbovespa.com.br/fnet/publico/visualizarDocumento?id=1192603</a:t>
            </a:r>
          </a:p>
          <a:p>
            <a:r>
              <a:t>CNPJ 55563624000109 · Classes e séries de cotas · Excerto da fonte:</a:t>
            </a:r>
          </a:p>
          <a:p>
            <a:r>
              <a:t>4.1. Aprovar a alteração do Anexo I da Classe Única para a reorganização do passivo de sua subclasse  única em novas subclasses, quais sejam, subclasse A (“Subclasse A”), subclasse B (“Subclasse B”) e  subclasse C (“Subclasse C” e, quando em conjunto com a Subclasse A e a Subclasse B, as “Subclasses”),  considerando que serão mantidas as condições de investimento originalmente pactuadas com os cotistas,  como critérios de aplicação, resgate, amortização e política de investimento da Classe Única, diferindo-  se, exclusivamente, em relação ao prazo de duração cada Subclasse.</a:t>
            </a:r>
          </a:p>
          <a:p>
            <a:r>
              <a:t>CNPJ 55563624000109 · Classes e séries de cotas · Condição: Documentos atuais selecionados no inventário por categoria/escopo; a data documental isolada não comprova vigência jurídica.</a:t>
            </a:r>
          </a:p>
          <a:p>
            <a:r>
              <a:t>CNPJ 55563624000109 · Classes e séries de cotas · Versão e prevalência: Documentos atuais selecionados no inventário por categoria/escopo; a data documental isolada não comprova vigência jurídica.</a:t>
            </a:r>
          </a:p>
          <a:p>
            <a:r>
              <a:t>CNPJ 55563624000109 · Classes e séries de cotas · Resumo do histórico: {"count": 3, "dates": ["2025-01-31", "2026-01-31", "2026-04-30"], "document_count": 3, "sources": [{"document_id": "1192614", "title": "Regulamento", "reference_date": "2026-04-30", "version": "1", "page": "15", "url": "https://fnet.bmfbovespa.com.br/fnet/publico/visualizarDocumento?id=1192614", "sha256": "f56e63ace0acde41d2f47fb48f1ac7f3f7df5e2d32de092d7c5e075a52516632"}, {"document_id": "1178840", "title": "Demonstrações Financeiras", "reference_date": "2026-01-31", "version": "1", "page": 25, "url": "https://fnet.bmfbovespa.com.br/fnet/publico/visualizarDocumento?id=1178840", "sha256": "c458e98664c5c907ddb5a05a94b120bed4e05295b2bfc420f5ba69af0a229abe"}, {"document_id": "891861", "title": "Demonstrações Financeiras", "reference_date": "2025-01-31", "version": "1", "page": 26, "url": "https://fnet.bmfbovespa.com.br/fnet/publico/visualizarDocumento?id=891861", "sha256": "e9cb9e6ddbe505fe068cfcac33605165a98313489de0d3ce6d4d238263c3f3e7"}], "reference": {"path": "history/55563624000109.json", "criterion_id": "quota_classes", "total_count": 3, "preview_count": 3, "full_text_deferred": true, "sha256": "7835d573fb58a3c19adf5b8ecc2aee2bdbb9a88f7a0c0209b5f262b64c7522e3"}}</a:t>
            </a:r>
          </a:p>
          <a:p>
            <a:r>
              <a:t>CNPJ 62552447000120 · Classes e séries de cotas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Classes e séries de cotas · Resumo do histórico: {"count": 1, "dates": ["2025-09-03"], "document_count": 1, "sources": [{"document_id": "988020", "title": "Instrumento Particular de Emissão de Cotas", "reference_date": "2025-09-03", "version": "1", "page": "5", "url": "https://fnet.bmfbovespa.com.br/fnet/publico/visualizarDocumento?id=988020", "sha256": "8ecc8a771bb9713d64e5fc2052c489664cb0433801a9280db68e5187d35bf7a5"}], "reference": {"path": "history/62552447000120.json", "criterion_id": "quota_classes", "total_count": 1, "preview_count": 1, "full_text_deferred": true, "sha256": "d95db8c0613d67ee84118c734588665265ea6b02f86a0318d6a844cbe1d0f82f"}}</a:t>
            </a:r>
          </a:p>
          <a:p>
            <a:r>
              <a:t>CNPJ 63953620000165 · Classes e séries de cotas · AGE · ID 1313935 · 2026-08-31 · versão 1 · p. 1 · 4.1 · https://fnet.bmfbovespa.com.br/fnet/publico/visualizarDocumento?id=1313935</a:t>
            </a:r>
          </a:p>
          <a:p>
            <a:r>
              <a:t>CNPJ 63953620000165 · Classes e séries de cotas · Excerto da fonte:</a:t>
            </a:r>
          </a:p>
          <a:p>
            <a:r>
              <a:t>4.1. Aprovar a realização da incorporação das parcelas cindidas descritas no Anexo I à presente ata (“Parcelas  Cindidas”), com base no fechamento de 28 de agosto de 2026 (“Data Base”), condicionada à aprovação da cisão  da CLASSE ÚNICA DO MT CONSIGNADO PRIVADO I FUNDO DE INVESTIMENTO EM DIREITOS CREDITÓRIOS  RESPONSABILIDADE LIMITADA, inscrita no CNPJ sob o nº 60.010.416/0001-12 (“Classe Cindida”), com a  subsequente incorporação da respectiva Parcela Cindida, emitindo-se cotas seniores da Classe, a serem  atribuídas integralmente aos cotistas da Classe Cindida, no valor da respectiva Parcela Cindida, na Data-Base, de  acordo com o valor das cotas da Classe na mesma data. A partir da Data Base, todos os direitos e obrigações dos  ativos cindidos serão sucedidos à Classe;</a:t>
            </a:r>
          </a:p>
          <a:p>
            <a:r>
              <a:t>CNPJ 63953620000165 · Classes e séries de cotas · Condição: Documentos atuais selecionados no inventário por categoria/escopo; a data documental isolada não comprova vigência jurídica.</a:t>
            </a:r>
          </a:p>
          <a:p>
            <a:r>
              <a:t>CNPJ 63953620000165 · Classes e séries de cotas · Versão e prevalência: Documentos atuais selecionados no inventário por categoria/escopo; a data documental isolada não comprova vigência jurídica.</a:t>
            </a:r>
          </a:p>
          <a:p>
            <a:r>
              <a:t>CNPJ 63953620000165 · Classes e séries de cotas · Resumo do histórico: {"count": 11, "dates": ["2026-07-29", "2026-08-17", "2026-08-21"], "document_count": 3, "sources": [{"document_id": "1309436", "title": "AGE", "reference_date": "2026-08-21", "version": "1", "page": 1, "clause": "4.1", "url": "https://fnet.bmfbovespa.com.br/fnet/publico/visualizarDocumento?id=1309436", "sha256": "f679de1621039dce7c665e3a742f213fd4d5047e12b96163b31ea4ae86f56817"}, {"document_id": "1298232", "title": "AGE", "reference_date": "2026-08-17", "version": "1", "page": 1, "clause": "4.1", "url": "https://fnet.bmfbovespa.com.br/fnet/publico/visualizarDocumento?id=1298232", "sha256": "75322e306547f725e73a2c6687b598e14d628caa84bd46a23508337a606866f6"}, {"document_id": "1277543", "title": "AGE", "reference_date": "2026-07-29", "version": "1", "page": 1, "url": "https://fnet.bmfbovespa.com.br/fnet/publico/visualizarDocumento?id=1277543", "sha256": "c2fb499fd6e25251a221d4e9dbb5d1378fb5efde5a58eee091868faf52d326c0"}], "reference": {"path": "history/63953620000165.json", "criterion_id": "quota_classes", "total_count": 11, "preview_count": 3, "full_text_deferred": true, "sha256": "a7b89077f5e21098c2d601c303faabc3ff6b9729f89d8afecdc60fe1404720c1"}}</a:t>
            </a:r>
          </a:p>
          <a:p>
            <a:r>
              <a:t>CNPJ 54871427000194 · Ofertas e colocação · AGE · ID 1055482 · 2025-12-02 · versão 1 · p. 1 · 4.1 · https://fnet.bmfbovespa.com.br/fnet/publico/visualizarDocumento?id=1055482</a:t>
            </a:r>
          </a:p>
          <a:p>
            <a:r>
              <a:t>CNPJ 54871427000194 · Ofertas e colocação · Excerto da fonte:</a:t>
            </a:r>
          </a:p>
          <a:p>
            <a:r>
              <a:t>4.1. Aprovar a nova emissão de Cotas pela Classe, todas nominativas e escriturais, com preço unitário de emissão  correspondente ao valor das Cotas da Classe em circulação quando na data de aprovação da Nova Emissão,  perfazendo o montante total de emissão de até R$ 650.000.000 (seiscentos e cinquenta milhões de reais), conforme  as características constantes do Regulamento e do Anexo da Classe (“Novas Cotas” e “Nova Emissão”,  respectivamente), e descritas abaixo:</a:t>
            </a:r>
          </a:p>
          <a:p>
            <a:r>
              <a:t>(i) Rito: as Novas Cotas não serão objeto de oferta pública, conforme facultado pelo artigo 8º, inciso IV, da  Resolução CVM nº 160, uma vez que a Classe se enquadra nos requisitos do referido dispositivo;</a:t>
            </a:r>
          </a:p>
          <a:p>
            <a:r>
              <a:t>(ii) Preço de Emissão: o preço unitário de emissão corresponderá ao valor das Cotas da Classe em circulação  quando na data de aprovação da Nova Emissão (“Preço de Emissão”);</a:t>
            </a:r>
          </a:p>
          <a:p>
            <a:r>
              <a:t>(iii) Preço de Integralização: o Preço de Integralização corresponderá ao valor das Cotas da Classe em  circulação quando da transferência dos valores para liquidação financeira (“Preço de Integralização”);</a:t>
            </a:r>
          </a:p>
          <a:p>
            <a:r>
              <a:t>(iv) Forma de Integralização: as Cotas serão integralizadas à vista, em moeda corrente nacional, pelo Preço  de Integralização, junto ao seu respectivo agente de custódia e/ou da Administradora na qualidade de  escriturador das cotas; e</a:t>
            </a:r>
          </a:p>
          <a:p>
            <a:r>
              <a:t>(v) Período de colocação: a subscrição das Cotas, objeto da Nova Emissão, deverão ser realizadas no prazo  máximo de 180 (cento e oitenta) dias, contados da data de efeitos do presente instrumento.</a:t>
            </a:r>
          </a:p>
          <a:p>
            <a:r>
              <a:t>CNPJ 54871427000194 · Ofertas e colocação · Condição: Trechos do documento específico identificado com data mais recente; vigência jurídica não inferida.</a:t>
            </a:r>
          </a:p>
          <a:p>
            <a:r>
              <a:t>CNPJ 54871427000194 · Ofertas e colocação · Versão e prevalência: Trechos do documento específico identificado com data mais recente; vigência jurídica não inferida.</a:t>
            </a:r>
          </a:p>
          <a:p>
            <a:r>
              <a:t>CNPJ 54871427000194 · Ofertas e colocação · Resumo do histórico: {"count": 7, "dates": ["2024-06-13", "2024-12-10"], "document_count": 3, "sources": [{"document_id": "798101", "title": "Anúncio de Encerramento", "reference_date": "2024-12-10", "version": "1", "page": "1-2", "url": "https://fnet.bmfbovespa.com.br/fnet/publico/visualizarDocumento?id=798101", "sha256": "71618c432ad86002484571d66922b873e4fa91ed3543a109134ddee0bd872f20"}, {"document_id": "679614", "title": "Anúncio de Início", "reference_date": "2024-06-13", "version": "1", "page": 1, "url": "https://fnet.bmfbovespa.com.br/fnet/publico/visualizarDocumento?id=679614", "sha256": "aad43ed14bfa0576144a306c466aea031fce0d01d3cb3de6aebd120f11164bfa"}, {"document_id": "683482", "title": "AGE", "reference_date": "2024-06-13", "version": "1", "page": 2, "url": "https://fnet.bmfbovespa.com.br/fnet/publico/visualizarDocumento?id=683482", "sha256": "3afbe254027691929935eaf19ebbb8634fb2ccd8e2fbea2cb2d81a7818f8d648"}], "reference": {"path": "history/54871427000194.json", "criterion_id": "offers", "total_count": 7, "preview_count": 3, "full_text_deferred": true, "sha256": "35d7cd99be50c7287c9fb675cf4f2e736002315295a225a9efa79c8d9186d874"}}</a:t>
            </a:r>
          </a:p>
          <a:p>
            <a:r>
              <a:t>CNPJ 60010416000112 · Ofertas e colocação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Ofertas e colocação · Resumo do histórico: {"count": 1, "dates": ["2025-03-20"], "document_count": 1, "sources": [{"document_id": "993785", "title": "Instrumento Particular de Constituição/Encerramento do Fundo", "reference_date": "2025-03-20", "version": "1", "page": "1-2", "url": "https://fnet.bmfbovespa.com.br/fnet/publico/visualizarDocumento?id=993785", "sha256": "0826e0eae2c51afabf59bbc49fc7647598d03da5ca6de0f9725850a8bd6af457"}], "reference": {"path": "history/60010416000112.json", "criterion_id": "offers", "total_count": 1, "preview_count": 1, "full_text_deferred": true, "sha256": "8e2bd813f4c51cf01f6bfaad164bafe69d2bbb192f753eac92da3a01c2e63046"}}</a:t>
            </a:r>
          </a:p>
          <a:p>
            <a:r>
              <a:t>CNPJ 62696791000193 · Ofertas e colocação · Regulamento · ID 1143317 · 2026-03-20 · versão 1 · p. 39 · 2.6 · https://fnet.bmfbovespa.com.br/fnet/publico/visualizarDocumento?id=1143317</a:t>
            </a:r>
          </a:p>
          <a:p>
            <a:r>
              <a:t>CNPJ 62696791000193 · Ofertas e colocação · Excerto da fonte:</a:t>
            </a:r>
          </a:p>
          <a:p>
            <a:r>
              <a:t>2.6. O valor de mercado das Cotas de emissão da Classe poderá sofrer oscilações frequentes e  significativas, inclusive ao longo do dia. Como consequência, o valor de mercado das cotas de  emissão da Classe poderá não ref letir necessariamente seu valor patrimonial. Não será devida  pela Classe ou por qualquer pessoa, incluindo as instituições responsáveis pela distribuição  das cotas, os demais Cotistas da Classe, o Administrador e as instituições participantes da  of erta, qualquer multa ou penalidade de qualquer natureza, caso ocorra, por qualquer razão,</a:t>
            </a:r>
          </a:p>
          <a:p>
            <a:r>
              <a:t> (i) o alongamento do período de amortização das Cotas; (ii) a liquidação da Classe; ou, ainda,</a:t>
            </a:r>
          </a:p>
          <a:p>
            <a:r>
              <a:t> (iii) caso os Cotistas sof ram qualquer dano ou prejuízo resultante de tais eventos.</a:t>
            </a:r>
          </a:p>
          <a:p>
            <a:r>
              <a:t>3. Risco TributárioOs rendimentos e ganhos líquidos auf eridos pela Classe em aplicações f inanceiras de  renda f ixa ou de renda variável sujeitam-se à incidência do imposto de renda na f onte, observadas as  mesmas normas aplicáveis às pessoas jurídicas, podendo esse imposto ser compensado com o retido na  f onte pela Classe quando da distribuição de rendimentos e ganhos de capital aos Cotistas. Os rendimentos  auf eridos pela Classe, quando distribuídos aos Cotistas sujeitam-se à incidência do Imposto de Renda na  f onte à alíquota de 20% (vinte por cento). Os rendimentos e ganhos de capital auferidos pelos Cotistas na</a:t>
            </a:r>
          </a:p>
          <a:p>
            <a:r>
              <a:t>CNPJ 62696791000193 · Ofertas e colocação · Regulamento · ID 1143317 · 2026-03-20 · versão 1 · p. 28 · https://fnet.bmfbovespa.com.br/fnet/publico/visualizarDocumento?id=1143317</a:t>
            </a:r>
          </a:p>
          <a:p>
            <a:r>
              <a:t>CNPJ 62696791000193 · Ofertas e colocação · Excerto da fonte:</a:t>
            </a:r>
          </a:p>
          <a:p>
            <a:r>
              <a:t>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equivalente a 0,9% (nove décimos  por cento) ao ano aplicado sobre o Patrimônio Anexo I ao  Regulamento Líquido, observado o limite máximo de 4,5% (quatro  inteiros e cinquenta centésimos por cento) do volume captado na  respectiva oferta (“Taxa Máxima de Distribuição”).A Taxa Máxima de</a:t>
            </a:r>
          </a:p>
          <a:p>
            <a:r>
              <a:t>CNPJ 62696791000193 · Ofertas e colocação · Condição: Documentos atuais selecionados no inventário por categoria/escopo; a data documental isolada não comprova vigência jurídica.</a:t>
            </a:r>
          </a:p>
          <a:p>
            <a:r>
              <a:t>CNPJ 62696791000193 · Ofertas e colocação · Versão e prevalência: Documentos atuais selecionados no inventário por categoria/escopo; a data documental isolada não comprova vigência jurídica.</a:t>
            </a:r>
          </a:p>
          <a:p>
            <a:r>
              <a:t>CNPJ 62696791000193 · Ofertas e colocação · Resumo do histórico: {"count": 1, "dates": ["2026-03-27"], "document_count": 1, "sources": [{"document_id": "1148821", "title": "Instrumento Particular de Emissão de Cotas", "reference_date": "2026-03-27", "version": "1", "page": "1-3", "url": "https://fnet.bmfbovespa.com.br/fnet/publico/visualizarDocumento?id=1148821", "sha256": "86900e9dd498403696bfffbd4196443c83ec4d51ff21135e073c1966e1adf4c0"}], "reference": {"path": "history/62696791000193.json", "criterion_id": "offers", "total_count": 1, "preview_count": 1, "full_text_deferred": true, "sha256": "0e9ec199848320ec945708123ae0cb6075d76c05d94beed814d582031d353926"}}</a:t>
            </a:r>
          </a:p>
          <a:p>
            <a:r>
              <a:t>CNPJ 55563624000109 · Ofertas e colocação · Regulamento · ID 1192614 · 2026-04-30 · versão 1 · p. 25 · 12.9 · https://fnet.bmfbovespa.com.br/fnet/publico/visualizarDocumento?id=1192614</a:t>
            </a:r>
          </a:p>
          <a:p>
            <a:r>
              <a:t>CNPJ 55563624000109 · Ofertas e colocação · Excerto da fonte:</a:t>
            </a:r>
          </a:p>
          <a:p>
            <a:r>
              <a:t>12.9 Inclui-se entre as obrigações do GESTOR, contratar, em nome da Classe, se necessário, com terceiros  devidamente habilitados e autorizados, os serviços de distribuição das Cotas. A distribuição pública das Cotas  deverá ser realizada por distribuidores devidamente autorizados pela CVM, nos termos da regulamentação  aplicável.</a:t>
            </a:r>
          </a:p>
          <a:p>
            <a:r>
              <a:t>CNPJ 55563624000109 · Ofertas e colocação · Condição: Documentos atuais selecionados no inventário por categoria/escopo; a data documental isolada não comprova vigência jurídica.</a:t>
            </a:r>
          </a:p>
          <a:p>
            <a:r>
              <a:t>CNPJ 55563624000109 · Ofertas e colocação · Versão e prevalência: Documentos atuais selecionados no inventário por categoria/escopo; a data documental isolada não comprova vigência jurídica.</a:t>
            </a:r>
          </a:p>
          <a:p>
            <a:r>
              <a:t>CNPJ 55563624000109 · Ofertas e colocação · Resumo do histórico: {"count": 3, "dates": ["2024-07-03"], "document_count": 3, "sources": [{"document_id": "703295", "title": "Anúncio de Início", "reference_date": "2024-07-03", "version": "2", "page": 1, "url": "https://fnet.bmfbovespa.com.br/fnet/publico/visualizarDocumento?id=703295", "sha256": "12322b6dbf75e673723bd60910373db249451b72666792e18e0c7b6128f4608a"}, {"document_id": "702585", "title": "Anúncio de Início", "reference_date": "2024-07-03", "version": "1", "page": 1, "url": "https://fnet.bmfbovespa.com.br/fnet/publico/visualizarDocumento?id=702585", "sha256": "6708609ac7f0611118fb23ffd6d2cd6c7fd33275130407918ea42831baa712cd"}, {"document_id": "691674", "title": "Instrumento Particular de Emissão de Cotas", "reference_date": "2024-07-03", "version": "1", "page": 3, "url": "https://fnet.bmfbovespa.com.br/fnet/publico/visualizarDocumento?id=691674", "sha256": "78bf7b350f1785beae5f43bd209b5ed19e863cb9a2cff01542aac11dd63ca554"}], "reference": {"path": "history/55563624000109.json", "criterion_id": "offers", "total_count": 3, "preview_count": 3, "full_text_deferred": true, "sha256": "7835d573fb58a3c19adf5b8ecc2aee2bdbb9a88f7a0c0209b5f262b64c7522e3"}}</a:t>
            </a:r>
          </a:p>
          <a:p>
            <a:r>
              <a:t>CNPJ 62552447000120 · Ofertas e colocação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Ofertas e colocação · Resumo do histórico: {"count": 1, "dates": ["2025-09-03"], "document_count": 1, "sources": [{"document_id": "988020", "title": "Instrumento Particular de Emissão de Cotas", "reference_date": "2025-09-03", "version": "1", "page": "5-6", "url": "https://fnet.bmfbovespa.com.br/fnet/publico/visualizarDocumento?id=988020", "sha256": "8ecc8a771bb9713d64e5fc2052c489664cb0433801a9280db68e5187d35bf7a5"}], "reference": {"path": "history/62552447000120.json", "criterion_id": "offers", "total_count": 1, "preview_count": 1, "full_text_deferred": true, "sha256": "d95db8c0613d67ee84118c734588665265ea6b02f86a0318d6a844cbe1d0f82f"}}</a:t>
            </a:r>
          </a:p>
          <a:p>
            <a:r>
              <a:t>CNPJ 63953620000165 · Ofertas e colocação · Anexo ao Regulamento · ID 1222863 · 2026-06-02 · versão 1 · p. 10 · 6.9 · https://fnet.bmfbovespa.com.br/fnet/publico/visualizarDocumento?id=1222863</a:t>
            </a:r>
          </a:p>
          <a:p>
            <a:r>
              <a:t>CNPJ 63953620000165 · Ofertas e colocação · Excerto da fonte:</a:t>
            </a:r>
          </a:p>
          <a:p>
            <a:r>
              <a:t>6.9 As Cotas poderão ser objeto de oferta pública a ser realizada nos termos da Resolução CVM 160 (“Oferta”) e/ou  poderão ser colocadas de forma privada (“Colocação Privada”), bem como segundo outros ritos que venham a  ser previstos pela regulamentação. As Cotas deverão ser emitidas e subscritas dentro do prazo e nos termos e  condições da legislação aplicável, do presente Anexo e dos respectivos Boletins de Subscrição e/ou  Compromissos de Investimento.</a:t>
            </a:r>
          </a:p>
          <a:p>
            <a:r>
              <a:t>CNPJ 63953620000165 · Ofertas e colocação · Condição: Documentos atuais selecionados no inventário por categoria/escopo; a data documental isolada não comprova vigência jurídica.</a:t>
            </a:r>
          </a:p>
          <a:p>
            <a:r>
              <a:t>CNPJ 63953620000165 · Ofertas e colocação · Versão e prevalência: Documentos atuais selecionados no inventário por categoria/escopo; a data documental isolada não comprova vigência jurídica.</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Emissões e custos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Remuneração por subclasse e série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Remuneração por subclasse e série · Resumo do histórico: {"count": 1, "dates": ["2024-04-28"], "document_count": 1, "sources": [{"document_id": "670691", "title": "Regulamento", "reference_date": "2024-04-28", "version": "1", "page": "14", "url": "https://fnet.bmfbovespa.com.br/fnet/publico/visualizarDocumento?id=670691", "sha256": "bf16dd7f1a62d5cdbf2e2d54fef81783783f7310fbc99c3a8f00459bdf9d037b"}], "reference": {"path": "history/54871427000194.json", "criterion_id": "remuneration", "total_count": 1, "preview_count": 1, "full_text_deferred": true, "sha256": "35d7cd99be50c7287c9fb675cf4f2e736002315295a225a9efa79c8d9186d874"}}</a:t>
            </a:r>
          </a:p>
          <a:p>
            <a:r>
              <a:t>CNPJ 60010416000112 · Remuneração por subclasse e série · Instrumento Particular de Constituição/Encerramento do Fundo · ID 993785 · 20/03/2025 · versão 1ªemissão20/03/2025 · p. 5 · Suplemento1ªsênior BenchmarkSênior · https://fnet.bmfbovespa.com.br/fnet/publico/visualizarDocumento?id=993785</a:t>
            </a:r>
          </a:p>
          <a:p>
            <a:r>
              <a:t>CNPJ 60010416000112 · Remuneração por subclasse e série · Excerto da fonte:</a:t>
            </a:r>
          </a:p>
          <a:p>
            <a:r>
              <a:t>4,80% (quatro inteiros e oitenta centésimos por cento)calculado por Dia Útil à base de 1/252 (um inteiro e duzentos e cinquenta e dois avos); e (ii) “Benchmark Sênior Adicional”: o parâmetro adicional de rentabilidade a ser buscado pela Classe para remunerar as Cotas Seniores, correspondente 15,00% (quinze por cento) do excesso de spread das Cotas Subordinadas com cap de remuneração total das Cotas Seniores pela variação do CDI acrescido de 6,00% (seis por cento</a:t>
            </a:r>
          </a:p>
          <a:p>
            <a:r>
              <a:t>CNPJ 60010416000112 · Remuneração por subclasse e série · Condição: Termo específico da primeira emissão de 20/03/2025, distinto de taxa deperformance e do suplemento modelo com campos não preenchidos do regulamento.</a:t>
            </a:r>
          </a:p>
          <a:p>
            <a:r>
              <a:t>CNPJ 60010416000112 · Remuneração por subclasse e série · Versão e prevalência: Leitura específica das cláusulas indicadas; condições e conflitos preservados. Seleção documental atual não comprova vigência jurídica por data isolada.</a:t>
            </a:r>
          </a:p>
          <a:p>
            <a:r>
              <a:t>CNPJ 60010416000112 · Remuneração por subclasse e série · Resumo do histórico: {"count": 3, "dates": ["2025-03-20", "2025-05-12"], "document_count": 2, "sources": [{"document_id": "1004656", "title": "AGE", "reference_date": "2025-05-12", "version": "1", "page": 5, "url": "https://fnet.bmfbovespa.com.br/fnet/publico/visualizarDocumento?id=1004656", "sha256": "f6c9c009f6170e2b29f074b98522accec73f0c40efbf11f9ec2c8d3f1402616b"}, {"document_id": "993785", "title": "Instrumento Particular de Constituição/Encerramento do Fundo", "reference_date": "2025-03-20", "version": "1", "page": "4-5", "url": "https://fnet.bmfbovespa.com.br/fnet/publico/visualizarDocumento?id=993785", "sha256": "0826e0eae2c51afabf59bbc49fc7647598d03da5ca6de0f9725850a8bd6af457"}, {"document_id": "993785", "title": "Instrumento Particular de Constituição/Encerramento do Fundo", "reference_date": "2025-03-20", "version": "1", "page": 5, "url": "https://fnet.bmfbovespa.com.br/fnet/publico/visualizarDocumento?id=993785", "sha256": "0826e0eae2c51afabf59bbc49fc7647598d03da5ca6de0f9725850a8bd6af457"}], "reference": {"path": "history/60010416000112.json", "criterion_id": "remuneration", "total_count": 3, "preview_count": 3, "full_text_deferred": true, "sha256": "8e2bd813f4c51cf01f6bfaad164bafe69d2bbb192f753eac92da3a01c2e63046"}}</a:t>
            </a:r>
          </a:p>
          <a:p>
            <a:r>
              <a:t>CNPJ 62696791000193 · Remuneração por subclasse e série · Regulamento · ID 1143317 · 20/03/2026 · versão Regulamento — referência 20/03/2026 · p. 33 · Apêndice Sênior, 1.2 e 1.4 · https://fnet.bmfbovespa.com.br/fnet/publico/visualizarDocumento?id=1143317</a:t>
            </a:r>
          </a:p>
          <a:p>
            <a:r>
              <a:t>CNPJ 62696791000193 · Remuneração por subclasse e série · Excerto da fonte:</a:t>
            </a:r>
          </a:p>
          <a:p>
            <a:r>
              <a:t>1.2. As Cotas Seniores poderão ser divididas em séries com valores e prazos diferenciados para amortização, resgate e remuneração, sendo que cada série terá as mesmas características e conf erirá a seus titulares iguais direitos e obrigações nos termos deste Reg ulamento e do Apêndice ref erente a cada emissão/série de Cotas Seniores. 1.2. Benchmark. A Classe buscará atingir, para as Cotas Seniores, o “Benchmark”, correspondente à 100% (cem por cento) da variação positiva do CDI acrescida de 4,5% (quatro inteiros e cinco décimos por cento) ao ano. 1.3. O Benchmark não representa e nem devem ser considerados uma promessa, garantia ou sugestão de rentabilidade aos Cotistas Seniores, por parte da Classe, do Administrador, do Gestor e/ou do Cedente. 1.4. Independentemente do valor do Patrimônio Líquido da Classe, os Cotistas detentores de Cotas Seniores não f arão jus a uma rentabilidade superior ao Benchmark, o qual representará o limite máximo de remuneração possível para as Cotas Seniores. 2. Emissão, Subscrição e Integralização das Cotas 2.1. A Classe poderá emitir múltiplas Séries de Cotas Seniores, ficando ressalvado, no entanto, que cada nova Série de Cotas Seniores a ser emitida pela Classe</a:t>
            </a:r>
          </a:p>
          <a:p>
            <a:r>
              <a:t>CNPJ 62696791000193 · Remuneração por subclasse e série · Regulamento · ID 1143317 · 20/03/2026 · versão Regulamento — referência 20/03/2026 · p. 34 · Apêndice Sênior, 6.2 · https://fnet.bmfbovespa.com.br/fnet/publico/visualizarDocumento?id=1143317</a:t>
            </a:r>
          </a:p>
          <a:p>
            <a:r>
              <a:t>CNPJ 62696791000193 · Remuneração por subclasse e série · Excerto da fonte:</a:t>
            </a:r>
          </a:p>
          <a:p>
            <a:r>
              <a:t>6.2. Em complemento às Amortizações Programadas de Cotas Seniores, os Cotistas Seniores f arão jus, sempre que o Patrimônio Líquido da Classe assim permita e desde que o Valor Unitário das Cotas Seniores esteja superior ao valor de integralização das Cotas Seniores em circulação, a 50% (cinquenta por cento) de qualquer valor que exceder a Amortização das Cotas Subordinadas, conforme prevista no Apêndice da Subclasse Subordinada, a ser paga na Data de Amortização Programada de Cotas Seniores (“Amortização Extraordinária de Cotas Seniores”). 6.3. Os pagamentos das parcelas de Amortização e/ou de resgate das Cotas Seniores serão ef etuados, em moeda corrente nacional, pelo Valor Unitário das Cotas Seniores no dia do pagamento, calculado na forma descrita neste Apêndice e no Anexo I, por meio de depósito em conta de titularidade dos Cotistas titulares BTG Pactual 2 SAC: 0800 772 28 27 - Ouvidoria: 0800 722 00 48 - btgpactual.com</a:t>
            </a:r>
          </a:p>
          <a:p>
            <a:r>
              <a:t>CNPJ 62696791000193 · Remuneração por subclasse e série · Regulamento · ID 1143317 · 20/03/2026 · versão Regulamento — referência 20/03/2026 · p. 37 · Apêndice Júnior, 4.1–4.2 · https://fnet.bmfbovespa.com.br/fnet/publico/visualizarDocumento?id=1143317</a:t>
            </a:r>
          </a:p>
          <a:p>
            <a:r>
              <a:t>CNPJ 62696791000193 · Remuneração por subclasse e série · Excerto da fonte:</a:t>
            </a:r>
          </a:p>
          <a:p>
            <a:r>
              <a:t>4.1. Caso o Patrimônio Líquido da Classe assim permita, as Cotas Subordinadas f arão jus à amortização semestral, no último Dia Útil dos meses de janeiro e julho de cada ano, de valor equivalente ao excedente do valor de integralização das Cotas Subordinadas em circulação, limitado ao percentual de 100% (cem por cento) da variação positiva do CDI acrescida de 4,50% (quatro inteiros e cinco décimos por cento) ao ano, considerando, para tanto a razão entre (i) o valor de integralização das Cotas Subordinadas Júnior em circulação e (ii) o valor de cada uma das Cotas Subordinadas, a ser paga na Data de Amortização Programada de Cotas Seniores (“Amortização das Cotas Subordinadas”). 4.2. Em complemento às Amortizações das Cotas Subordinadas, os Cotistas Subordinados farão jus, sempre que o Patrimônio Líquido da Classe assim permita e desde que o Valor Unitário das Cotas Subordinadas esteja superior ao valor de integralização das Cotas Subordinadas em circulação, a 50% (cinquenta por cento) de qualquer valor que exceder a Amortização das Cotas Subordinadas, a ser paga na Data de Amortização Programada de Cotas Seniores (“Amortização Extraordinária de Cotas Seniores”). 5. Excesso de Subordinação 5.1. Verif icado excesso de subordinação,</a:t>
            </a:r>
          </a:p>
          <a:p>
            <a:r>
              <a:t>CNPJ 62696791000193 · Remuneração por subclasse e série · Condição: Benchmark é regra de atribuição, condicionado ao PL/resultados, sem garantia de rentabilidade. A subclasse mezanino é autorizada, mas não há apêndice mezanino no PDF consolidado obtido.</a:t>
            </a:r>
          </a:p>
          <a:p>
            <a:r>
              <a:t>CNPJ 62696791000193 · Remuneração por subclasse e série · Versão e prevalência: Leitura específica das cláusulas indicadas; condições e conflitos preservados. Seleção documental atual não comprova vigência jurídica por data isolada.</a:t>
            </a:r>
          </a:p>
          <a:p>
            <a:r>
              <a:t>CNPJ 62696791000193 · Remuneração por subclasse e série · Resumo do histórico: {"count": 1, "dates": ["2026-03-27"], "document_count": 1, "sources": [{"document_id": "1148821", "title": "Instrumento Particular de Emissão de Cotas", "reference_date": "2026-03-27", "version": "1", "page": "1-2", "url": "https://fnet.bmfbovespa.com.br/fnet/publico/visualizarDocumento?id=1148821", "sha256": "86900e9dd498403696bfffbd4196443c83ec4d51ff21135e073c1966e1adf4c0"}], "reference": {"path": "history/62696791000193.json", "criterion_id": "remuneration", "total_count": 1, "preview_count": 1, "full_text_deferred": true, "sha256": "0e9ec199848320ec945708123ae0cb6075d76c05d94beed814d582031d353926"}}</a:t>
            </a:r>
          </a:p>
          <a:p>
            <a:r>
              <a:t>CNPJ 55563624000109 · Remuneração por subclasse e série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Remuneração por subclasse e série · Resumo do histórico: {"count": 1, "dates": ["2026-04-30"], "document_count": 1, "sources": [{"document_id": "1192614", "title": "Regulamento", "reference_date": "2026-04-30", "version": "1", "page": "16-17", "url": "https://fnet.bmfbovespa.com.br/fnet/publico/visualizarDocumento?id=1192614", "sha256": "f56e63ace0acde41d2f47fb48f1ac7f3f7df5e2d32de092d7c5e075a52516632"}], "reference": {"path": "history/55563624000109.json", "criterion_id": "remuneration", "total_count": 1, "preview_count": 1, "full_text_deferred": true, "sha256": "7835d573fb58a3c19adf5b8ecc2aee2bdbb9a88f7a0c0209b5f262b64c7522e3"}}</a:t>
            </a:r>
          </a:p>
          <a:p>
            <a:r>
              <a:t>CNPJ 62552447000120 · Remuneração por subclasse e série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Remuneração por subclasse e série · Resumo do histórico: {"count": 1, "dates": ["2025-09-03"], "document_count": 1, "sources": [{"document_id": "988020", "title": "Instrumento Particular de Emissão de Cotas", "reference_date": "2025-09-03", "version": "1", "page": "5-6", "url": "https://fnet.bmfbovespa.com.br/fnet/publico/visualizarDocumento?id=988020", "sha256": "8ecc8a771bb9713d64e5fc2052c489664cb0433801a9280db68e5187d35bf7a5"}], "reference": {"path": "history/62552447000120.json", "criterion_id": "remuneration", "total_count": 1, "preview_count": 1, "full_text_deferred": true, "sha256": "d95db8c0613d67ee84118c734588665265ea6b02f86a0318d6a844cbe1d0f82f"}}</a:t>
            </a:r>
          </a:p>
          <a:p>
            <a:r>
              <a:t>CNPJ 63953620000165 · Remuneração por subclasse e série · Anexo ao Regulamento · ID 1222863 · 2026-06-02 · versão 1 · p. 22 · 1.2 · https://fnet.bmfbovespa.com.br/fnet/publico/visualizarDocumento?id=1222863</a:t>
            </a:r>
          </a:p>
          <a:p>
            <a:r>
              <a:t>CNPJ 63953620000165 · Remuneração por subclasse e série · Excerto da fonte:</a:t>
            </a:r>
          </a:p>
          <a:p>
            <a:r>
              <a:t>1.2. Benchmark Sênior. A Classe buscará atingir, para as Cotas Seniores, o Benchmark Sênior, qual seja, (a) para a parcela  do Patrimônio Líquido alocado em Direitos Creditórios Consignado Privado e/ou Ativos de Liquidez MT, a variação  positiva do CDI acrescida de 1,50% (um inteiro e cinco décimos por cento) ao ano, (b) para a parcela do Patrimônio  Líquido alocado em Ativos de Liquidez e/ou Direitos Creditórios TVM, a variação positiva do CDI.</a:t>
            </a:r>
          </a:p>
          <a:p>
            <a:r>
              <a:t>CNPJ 63953620000165 · Remuneração por subclasse e série · Anexo ao Regulamento · ID 1222863 · 2026-06-02 · versão 1 · p. 22 · 1.5 · https://fnet.bmfbovespa.com.br/fnet/publico/visualizarDocumento?id=1222863</a:t>
            </a:r>
          </a:p>
          <a:p>
            <a:r>
              <a:t>CNPJ 63953620000165 · Remuneração por subclasse e série · Excerto da fonte:</a:t>
            </a:r>
          </a:p>
          <a:p>
            <a:r>
              <a:t>1.5. Rentabilidade Adicional Sênior. Adicionalmente ao Benchmark Sênior, as Cotas Seniores efetivamente integralizadas  farão jus a uma rentabilidade adicional equivalente a 0,38% (trinta e oito centésimos por cento) incidente sobre o  montante financeiro integralizado pelo respectivo Cotista das Cotas Seniores (“Rentabilidade Adicional Sênior”), a  ser paga a cada Cotista Sênior, em uma única parcela, em até 40 (quarenta) dias corridos após a integralização das  respectivas Cotas Seniores, sendo automaticamente ajustada em caso de alteração da alíquota ou da forma de  incidência do IOF, e deixando de ser devida na hipótese de sua extinção.</a:t>
            </a:r>
          </a:p>
          <a:p>
            <a:r>
              <a:t> 2. Emissão, Subscrição e Integralização das Cotas</a:t>
            </a:r>
          </a:p>
          <a:p>
            <a:r>
              <a:t>CNPJ 63953620000165 · Remuneração por subclasse e série · Condição: Documentos atuais selecionados no inventário por categoria/escopo; a data documental isolada não comprova vigência jurídica.</a:t>
            </a:r>
          </a:p>
          <a:p>
            <a:r>
              <a:t>CNPJ 63953620000165 · Remuneração por subclasse e série · Versão e prevalência: Documentos atuais selecionados no inventário por categoria/escopo; a data documental isolada não comprova vigência jurídica.</a:t>
            </a:r>
          </a:p>
          <a:p>
            <a:r>
              <a:t>CNPJ 54871427000194 · Volume, VNU e emissão · Anúncio de Encerramento · ID 798101 · 2024-12-10 · versão 1 · p. 1 · https://fnet.bmfbovespa.com.br/fnet/publico/visualizarDocumento?id=798101</a:t>
            </a:r>
          </a:p>
          <a:p>
            <a:r>
              <a:t>CNPJ 54871427000194 · Volume, VNU e emissão · Excerto da fonte:</a:t>
            </a:r>
          </a:p>
          <a:p>
            <a:r>
              <a:t>Informações da Oferta  Valor Bruto da 2ª Quantidade de Cotas  Preço de Emissão da Cota  Emissão emitidas  R$ 55.000.000,00 55.000 R$ 1.000,00</a:t>
            </a:r>
          </a:p>
          <a:p>
            <a:r>
              <a:t>CNPJ 54871427000194 · Volume, VNU e emissão · Condição: Trechos do documento específico identificado com data mais recente; vigência jurídica não inferida.</a:t>
            </a:r>
          </a:p>
          <a:p>
            <a:r>
              <a:t>CNPJ 54871427000194 · Volume, VNU e emissão · Versão e prevalência: Trechos do documento específico identificado com data mais recente; vigência jurídica não inferida.</a:t>
            </a:r>
          </a:p>
          <a:p>
            <a:r>
              <a:t>CNPJ 54871427000194 · Volume, VNU e emissão · Resumo do histórico: {"count": 5, "dates": ["2024-06-11", "2024-06-13", "2024-12-10"], "document_count": 3, "sources": [{"document_id": "798101", "title": "Anúncio de Encerramento", "reference_date": "2024-12-10", "version": "1", "page": "1-2", "url": "https://fnet.bmfbovespa.com.br/fnet/publico/visualizarDocumento?id=798101", "sha256": "71618c432ad86002484571d66922b873e4fa91ed3543a109134ddee0bd872f20"}, {"document_id": "683482", "title": "AGE", "reference_date": "2024-06-13", "version": "1", "page": 1, "clause": "4.1", "url": "https://fnet.bmfbovespa.com.br/fnet/publico/visualizarDocumento?id=683482", "sha256": "3afbe254027691929935eaf19ebbb8634fb2ccd8e2fbea2cb2d81a7818f8d648"}, {"document_id": "677544", "title": "Anúncio de Encerramento", "reference_date": "2024-06-11", "version": "1", "page": 1, "url": "https://fnet.bmfbovespa.com.br/fnet/publico/visualizarDocumento?id=677544", "sha256": "5735adc30829e0e91623167d4fd602de01adb236e3d3e758bddb0a375c7067b1"}], "reference": {"path": "history/54871427000194.json", "criterion_id": "issue_volume", "total_count": 5, "preview_count": 3, "full_text_deferred": true, "sha256": "35d7cd99be50c7287c9fb675cf4f2e736002315295a225a9efa79c8d9186d874"}}</a:t>
            </a:r>
          </a:p>
          <a:p>
            <a:r>
              <a:t>CNPJ 60010416000112 · Volume, VNU e emissão · AGE · ID 1049114 · 2025-11-26 · versão 1 · p. 2 · https://fnet.bmfbovespa.com.br/fnet/publico/visualizarDocumento?id=1049114</a:t>
            </a:r>
          </a:p>
          <a:p>
            <a:r>
              <a:t>CNPJ 60010416000112 · Volume, VNU e emissão · Excerto da fonte:</a:t>
            </a:r>
          </a:p>
          <a:p>
            <a:r>
              <a:t>Este instrumento constitui o suplemento nº 3 (“Suplemento”) referente à 1ª emissão de cotas da Série B  da Subclasse Sênior da CLASSE ÚNICA DO MT CONSIGNADO PRIVADO I FUNDO DE  INVESTIMENTO EM DIREITOS CREDITÓRIOS RESPONSABILIDADE LIMITADA (“Classe” e  “FUNDO”, respectivamente), administrado pela BTG Pactual Serviços Financeiros S.A. Distribuidora  de Títulos e Valores Mobiliários, instituição com sede no Município do Rio de Janeiro, Estado do Rio de  Janeiro, na Praia de Botafogo, nº 501, 5º andar – parte, inscrita no CNPJ sob o nº 59.281.253/0001-23,  autorizada a funcionar pelo Banco Central do Brasil e autorizada pela Comissão de Valores Mobiliários  (“CVM”) para a atividade de administração de carteiras de valores mobiliários, de acordo com o Ato  Declaratório nº 8.695, de 20 de março de 2006 (“ADMINISTRADOR”), emitidas nos termos do regulamento  do FUNDO, do anexo descritivo da Classe do respectivo apêndice, devidamente registrado perante a CVM  (“Regulamento”, “Anexo da Classe”, “Apêndice” e “Cotas Seniores” respectivamente), a qual terá as  seguintes características:</a:t>
            </a:r>
          </a:p>
          <a:p>
            <a:r>
              <a:t> Número de Emissão, Valor São emitidas no âmbito da 1ª emissão da 3ª Série de Cotas Seniores da  Total da Emissão e Forma Classe, de 2,000,000 (dois milhões) de Cotas da 3ª Série da Subclasse  de Distribuição Sênior da Classe, com valor nominal unitário de R$ 1.000,00 (mil reais)  cada, totalizando o montante de R$ 2.000.000.000,00 (dois bilhões de  reais), as quais serão objeto de colocação privada, destinada ao Público-  Alvo (conforme definido no Anexo da Classe) (“Colocação Privada”).</a:t>
            </a:r>
          </a:p>
          <a:p>
            <a:r>
              <a:t> Valor Unitário de Emissão As Cotas Seniores da 3ª Série terão um valor unitário de R$ 1.000,00 (mil  reais) na respectiva Data de Emissão.</a:t>
            </a:r>
          </a:p>
          <a:p>
            <a:r>
              <a:t> Data de Emissão Data da 1ª Integralização.</a:t>
            </a:r>
          </a:p>
          <a:p>
            <a:r>
              <a:t> Valor Unitário de As Cotas Seniores da 3ª Série serão subscritas pelo Valor Unitário de  Integralização Emissão, e serão integralizadas pelo respectivo Valor Unitário, nos  termos do Regulamento, do Apêndice e deste Suplemento, sendo certo  que, nas emissões de novas Cotas Seniores da 3ª Série que não difiram,  em sua respectiva Subclasse, das Cotas Seniores da 3ª Série então em  circulação, o Valor Unitário de Integralização corresponderá ao Valor  Unitário da Cota apurado no Dia Útil em que os recursos aportados pelo  Cotista tornem-se efetivamente disponíveis à Classe.</a:t>
            </a:r>
          </a:p>
          <a:p>
            <a:r>
              <a:t> Investimento Mínimo por Não há  Investidor  Forma de Subscrição e As Cotas Seniores da 3ª Série deverão ser integralizadas, à vista, em  Integralização moeda corrente nacional, pelo Valor Unitário de Integralização, no ato de  subscrição.</a:t>
            </a:r>
          </a:p>
          <a:p>
            <a:r>
              <a:t> Ao subscrever Cotas Seniores da 3ª Série, cada Investidor deverá  assinar o Termo de Adesão, no qual confirmará, dentre outros, ter  conhecimento de todos os termos e condições do Fundo e do</a:t>
            </a:r>
          </a:p>
          <a:p>
            <a:r>
              <a:t>CNPJ 60010416000112 · Volume, VNU e emissão · Condição: Trechos do documento específico identificado com data mais recente; vigência jurídica não inferida.</a:t>
            </a:r>
          </a:p>
          <a:p>
            <a:r>
              <a:t>CNPJ 60010416000112 · Volume, VNU e emissão · Motivo: Cláusula primária localizada e citada, mas sua lista/condições extensas não admitem uma síntese literal curta confirmada. O trecho integral permanece nas fontes. A resposta da revisão anterior foi preservada no histórico, sem confirmação pelo documento atual.</a:t>
            </a:r>
          </a:p>
          <a:p>
            <a:r>
              <a:t>CNPJ 60010416000112 · Volume, VNU e emissão · Versão e prevalência: Trechos do documento específico identificado com data mais recente; vigência jurídica não inferida.</a:t>
            </a:r>
          </a:p>
          <a:p>
            <a:r>
              <a:t>CNPJ 60010416000112 · Volume, VNU e emissão · Resumo do histórico: {"count": 3, "dates": ["2025-03-20", "2025-05-12"], "document_count": 2, "sources": [{"document_id": "1004656", "title": "AGE", "reference_date": "2025-05-12", "version": "1", "page": 4, "url": "https://fnet.bmfbovespa.com.br/fnet/publico/visualizarDocumento?id=1004656", "sha256": "f6c9c009f6170e2b29f074b98522accec73f0c40efbf11f9ec2c8d3f1402616b"}, {"document_id": "993785", "title": "Instrumento Particular de Constituição/Encerramento do Fundo", "reference_date": "2025-03-20", "version": "1", "page": "2", "url": "https://fnet.bmfbovespa.com.br/fnet/publico/visualizarDocumento?id=993785", "sha256": "0826e0eae2c51afabf59bbc49fc7647598d03da5ca6de0f9725850a8bd6af457"}, {"document_id": "993785", "title": "Instrumento Particular de Constituição/Encerramento do Fundo", "reference_date": "2025-03-20", "version": "1", "page": 2, "url": "https://fnet.bmfbovespa.com.br/fnet/publico/visualizarDocumento?id=993785", "sha256": "0826e0eae2c51afabf59bbc49fc7647598d03da5ca6de0f9725850a8bd6af457"}], "reference": {"path": "history/60010416000112.json", "criterion_id": "issue_volume", "total_count": 3, "preview_count": 3, "full_text_deferred": true, "sha256": "8e2bd813f4c51cf01f6bfaad164bafe69d2bbb192f753eac92da3a01c2e63046"}}</a:t>
            </a:r>
          </a:p>
          <a:p>
            <a:r>
              <a:t>CNPJ 62696791000193 · Volume, VNU e emissão · Instrumento Particular de Emissão de Cotas · ID 1148821 · 27/03/2026 · versão Instrumento Particular de Emissão de Cotas — referência 27/03/2026 · p. 1 · Deliberação Conjunta, item1 · https://fnet.bmfbovespa.com.br/fnet/publico/visualizarDocumento?id=1148821</a:t>
            </a:r>
          </a:p>
          <a:p>
            <a:r>
              <a:t>CNPJ 62696791000193 · Volume, VNU e emissão · Excerto da fonte:</a:t>
            </a:r>
          </a:p>
          <a:p>
            <a:r>
              <a:t>1. Aprovar a 2ª (segunda) emissão da Subclasse Subordinada Júnior da Classe, composta por até 20.000 (vinte mil) Cotas Subordinadas Júnior, com valor nominal unitário de R$ 1.000,00 (mil reais), perfazendo o montante total de R$ 20.000.000,00 (vinte milhões de reais), as quais serão objeto de colocação privada, de acordo com os termos e condições definidos no Apêndice da Subclasse Subordinada Júnior constante do Anexo I Regulamento e descritas abaixo (“2ª Emissão da Subclasse Subordinada Júnior”): a) Rito: as Cotas Subordinadas Júnior objeto da 2ª Emissão da Subclasse Subordinada Júnior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Subordinada Júnior na data de integralização, calculado na forma prevista no respectivo Apêndice; BTG Pactual 1 SAC: 0800 772 28 27 - Ouvidoria: 0800 722 00 48 - btgpactual.com</a:t>
            </a:r>
          </a:p>
          <a:p>
            <a:r>
              <a:t>CNPJ 62696791000193 · Volume, VNU e emissão · Instrumento Particular de Emissão de Cotas · ID 1148821 · 27/03/2026 · versão Instrumento Particular de Emissão de Cotas — referência 27/03/2026 · p. 2 · Deliberação Conjunta, item2 · https://fnet.bmfbovespa.com.br/fnet/publico/visualizarDocumento?id=1148821</a:t>
            </a:r>
          </a:p>
          <a:p>
            <a:r>
              <a:t>CNPJ 62696791000193 · Volume, VNU e emissão · Excerto da fonte:</a:t>
            </a:r>
          </a:p>
          <a:p>
            <a:r>
              <a:t>2. Aprovar a 2ª (segunda) emissão da Subclasse Sênior da Classe, composta por até 150.000 (cento e cinquenta mil) Cotas Seniores, com valor nominal unitário de R$ 1.000,00 (mil reais), perfazendo o montante total de R$ 150.000.000,00 (cento e cinquenta milhões de reais), as quais serão objeto de colocação privada, de acordo com os termos e condições descritos no Apêndice da Subclasse Sênior constante do Anexo I Regulamento e descritas abaixo (“2ª Emissão da Subclasse Sênior”): a) Rito: as Cotas Seniores objeto da 2ª Emissão da Subclasse Sênior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Sênior na data de integralização, calculado na forma prevista no respectivo Apêndice; d) Forma de Integralização: as Cotas Seniores serão integralizadas mediante chamadas de capital, junto ao seu respectivo agente de custódia e/ou da Administradora na qualidade de escriturador das cotas, nos termos d</a:t>
            </a:r>
          </a:p>
          <a:p>
            <a:r>
              <a:t>CNPJ 62696791000193 · Volume, VNU e emissão · Condição: Volumes autorizados de emissão não comprovam captação ou integralização observada.</a:t>
            </a:r>
          </a:p>
          <a:p>
            <a:r>
              <a:t>CNPJ 62696791000193 · Volume, VNU e emissão · Versão e prevalência: Leitura específica das cláusulas indicadas; condições e conflitos preservados. Seleção documental atual não comprova vigência jurídica por data isolada.</a:t>
            </a:r>
          </a:p>
          <a:p>
            <a:r>
              <a:t>CNPJ 62696791000193 · Volume, VNU e emissão · Resumo do histórico: {"count": 2, "dates": ["2026-03-20", "2026-03-27"], "document_count": 2, "sources": [{"document_id": "1148821", "title": "Instrumento Particular de Emissão de Cotas", "reference_date": "2026-03-27", "version": "1", "page": "1-2", "url": "https://fnet.bmfbovespa.com.br/fnet/publico/visualizarDocumento?id=1148821", "sha256": "86900e9dd498403696bfffbd4196443c83ec4d51ff21135e073c1966e1adf4c0"}, {"document_id": "1143317", "title": "Regulamento", "reference_date": "2026-03-20", "version": "1", "page": 23, "clause": "11.3", "url": "https://fnet.bmfbovespa.com.br/fnet/publico/visualizarDocumento?id=1143317", "sha256": "32f62818d51c3ebeaf9ec012d3d7867f15c1aed6d10f0867c157a290df1cea48"}], "reference": {"path": "history/62696791000193.json", "criterion_id": "issue_volume", "total_count": 2, "preview_count": 2, "full_text_deferred": true, "sha256": "0e9ec199848320ec945708123ae0cb6075d76c05d94beed814d582031d353926"}}</a:t>
            </a:r>
          </a:p>
          <a:p>
            <a:r>
              <a:t>CNPJ 55563624000109 · Volume, VNU e emissão · Regulamento · ID 1192614 · 2026-04-30 · versão 1 · p. 17 · 5.13.2 · https://fnet.bmfbovespa.com.br/fnet/publico/visualizarDocumento?id=1192614</a:t>
            </a:r>
          </a:p>
          <a:p>
            <a:r>
              <a:t>CNPJ 55563624000109 · Volume, VNU e emissão · Excerto da fonte:</a:t>
            </a:r>
          </a:p>
          <a:p>
            <a:r>
              <a:t>5.13.2 Caso um Cotista do Fundo pretenda transferir suas Cotas para terceiros (“Cotista Vendedor”), deverá  notificar previamente o GESTOR, via e-mail, manifestando sua proposta de alienação de Cotas, a qual  deve incluir o interessado na aquisição e a quantidade de Cotas a serem alienadas e o preço para tal  alienação (“Proposta de Venda”). O GESTOR deverá manifestar aprovação para alienação das Cotas  objeto da Proposta de Venda (“Cotas Objeto”) em até 5 (cinco) Dias Úteis, observado que a ausência de  aprovação deverá ser entendida como aprovação tácita à alienação das Cotas Objeto.</a:t>
            </a:r>
          </a:p>
          <a:p>
            <a:r>
              <a:t>CNPJ 55563624000109 · Volume, VNU e emissão · Regulamento · ID 1192614 · 2026-04-30 · versão 1 · p. 39 · https://fnet.bmfbovespa.com.br/fnet/publico/visualizarDocumento?id=1192614</a:t>
            </a:r>
          </a:p>
          <a:p>
            <a:r>
              <a:t>CNPJ 55563624000109 · Volume, VNU e emissão · Excerto da fonte:</a:t>
            </a:r>
          </a:p>
          <a:p>
            <a:r>
              <a:t>(xxi) Ausência de propriedade direta dos ativos. Os direitos dos Cotistas serão exercidos sobre  todos os ativos da Carteira de modo não individualizado, proporcionalmente à quantidade de Cotas  detidas por cada um. Portanto, os Cotistas não terão qualquer direito de propriedade direta sobre as  Cotas da Classe Investida e os Ativos Financeiros de Liquidez integrantes da Carteira, ou mesmo sobre  os direitos creditórios e os ativos financeiros de liquidez integrantes da carteira da Classe Investida.</a:t>
            </a:r>
          </a:p>
          <a:p>
            <a:r>
              <a:t>CNPJ 55563624000109 · Volume, VNU e emissão · Condição: Documentos atuais selecionados no inventário por categoria/escopo; a data documental isolada não comprova vigência jurídica.</a:t>
            </a:r>
          </a:p>
          <a:p>
            <a:r>
              <a:t>CNPJ 55563624000109 · Volume, VNU e emissão · Versão e prevalência: Documentos atuais selecionados no inventário por categoria/escopo; a data documental isolada não comprova vigência jurídica.</a:t>
            </a:r>
          </a:p>
          <a:p>
            <a:r>
              <a:t>CNPJ 55563624000109 · Volume, VNU e emissão · Resumo do histórico: {"count": 3, "dates": ["2024-12-30", "2025-01-31", "2026-01-31"], "document_count": 3, "sources": [{"document_id": "1178840", "title": "Demonstrações Financeiras", "reference_date": "2026-01-31", "version": "1", "page": 25, "url": "https://fnet.bmfbovespa.com.br/fnet/publico/visualizarDocumento?id=1178840", "sha256": "c458e98664c5c907ddb5a05a94b120bed4e05295b2bfc420f5ba69af0a229abe"}, {"document_id": "891861", "title": "Demonstrações Financeiras", "reference_date": "2025-01-31", "version": "1", "page": 26, "url": "https://fnet.bmfbovespa.com.br/fnet/publico/visualizarDocumento?id=891861", "sha256": "e9cb9e6ddbe505fe068cfcac33605165a98313489de0d3ce6d4d238263c3f3e7"}, {"document_id": "811323", "title": "Anúncio de Encerramento", "reference_date": "2024-12-30", "version": "1", "page": 1, "url": "https://fnet.bmfbovespa.com.br/fnet/publico/visualizarDocumento?id=811323", "sha256": "ebc6bc661be5189acffb3c3e352de2aea0a8ca8431011d1237e1ae19da4f9c79"}], "reference": {"path": "history/55563624000109.json", "criterion_id": "issue_volume", "total_count": 3, "preview_count": 3, "full_text_deferred": true, "sha256": "7835d573fb58a3c19adf5b8ecc2aee2bdbb9a88f7a0c0209b5f262b64c7522e3"}}</a:t>
            </a:r>
          </a:p>
          <a:p>
            <a:r>
              <a:t>CNPJ 62552447000120 · Volume, VNU e emissão · AGE · ID 1315103 · 2026-09-08 · versão 1 · p. 1 · https://fnet.bmfbovespa.com.br/fnet/publico/visualizarDocumento?id=1315103</a:t>
            </a:r>
          </a:p>
          <a:p>
            <a:r>
              <a:t>CNPJ 62552447000120 · Volume, VNU e emissão · Excerto da fonte:</a:t>
            </a:r>
          </a:p>
          <a:p>
            <a:r>
              <a:t>a) Rito: as cotas objeto da Segunda Emissão não estão sujeitas a regulamentação  de oferta de valores mobiliários, conforme facultado pelo Art. 8º, inciso II, da  Resolução CVM nº 160, de 13 de julho de 2022;</a:t>
            </a:r>
          </a:p>
          <a:p>
            <a:r>
              <a:t> b) Preço de Emissão: R$ 1.000,00 (mil reais);</a:t>
            </a:r>
          </a:p>
          <a:p>
            <a:r>
              <a:t> c) Quantidade de Cotas: 10.000 (dez mil) Cotas;</a:t>
            </a:r>
          </a:p>
          <a:p>
            <a:r>
              <a:t> d) Preço de Integralização: será o valor da Cota vigente na data de integralização,  nos termos do respectivo boletim de subscrição;</a:t>
            </a:r>
          </a:p>
          <a:p>
            <a:r>
              <a:t> e) Forma de Integralização: as Cotas serão integralizadas à vista, em moeda  corrente nacional, junto ao seu respectivo agente de custódia e/ou da  Administradora na qualidade de escriturador das cotas;</a:t>
            </a:r>
          </a:p>
          <a:p>
            <a:r>
              <a:t> f) Período de colocação: a subscrição das Cotas, objeto da Segunda Emissão,  deverão ser realizadas no prazo máximo de 180 (cento e oitenta) dias, contados  da data de efeitos do presente instrumento.</a:t>
            </a:r>
          </a:p>
          <a:p>
            <a:r>
              <a:t>CNPJ 62552447000120 · Volume, VNU e emissão · Condição: Trechos do documento específico identificado com data mais recente; vigência jurídica não inferida.</a:t>
            </a:r>
          </a:p>
          <a:p>
            <a:r>
              <a:t>CNPJ 62552447000120 · Volume, VNU e emissão · Versão e prevalência: Trechos do documento específico identificado com data mais recente; vigência jurídica não inferida.</a:t>
            </a:r>
          </a:p>
          <a:p>
            <a:r>
              <a:t>CNPJ 62552447000120 · Volume, VNU e emissão · Resumo do histórico: {"count": 2, "dates": ["2025-09-03"], "document_count": 1, "sources": [{"document_id": "988020", "title": "Instrumento Particular de Emissão de Cotas", "reference_date": "2025-09-03", "version": "1", "page": "5", "url": "https://fnet.bmfbovespa.com.br/fnet/publico/visualizarDocumento?id=988020", "sha256": "8ecc8a771bb9713d64e5fc2052c489664cb0433801a9280db68e5187d35bf7a5"}, {"document_id": "988020", "title": "Instrumento Particular de Emissão de Cotas", "reference_date": "2025-09-03", "version": "1", "page": 2, "url": "https://fnet.bmfbovespa.com.br/fnet/publico/visualizarDocumento?id=988020", "sha256": "8ecc8a771bb9713d64e5fc2052c489664cb0433801a9280db68e5187d35bf7a5"}], "reference": {"path": "history/62552447000120.json", "criterion_id": "issue_volume", "total_count": 2, "preview_count": 2, "full_text_deferred": true, "sha256": "d95db8c0613d67ee84118c734588665265ea6b02f86a0318d6a844cbe1d0f82f"}}</a:t>
            </a:r>
          </a:p>
          <a:p>
            <a:r>
              <a:t>CNPJ 63953620000165 · Volume, VNU e emissão · Demonstrações Financeiras - Fusão, cisão e incorporação · ID 1327859 · 2026-05-15 · versão 1 · p. 31 · 15.000.000 · https://fnet.bmfbovespa.com.br/fnet/publico/visualizarDocumento?id=1327859</a:t>
            </a:r>
          </a:p>
          <a:p>
            <a:r>
              <a:t>CNPJ 63953620000165 · Volume, VNU e emissão · Excerto da fonte:</a:t>
            </a:r>
          </a:p>
          <a:p>
            <a:r>
              <a:t>15.000.000 (quinze bilhões de reais), , a serem objeto de colocação privada, nos termos  do Regulamento, da Resolução CVM 175 e do respectivo boletim de subscrição nos  seguintes termos:</a:t>
            </a:r>
          </a:p>
          <a:p>
            <a:r>
              <a:t> a. Montante Total da Colocação Privada: R$ 15.000.000 (quinze bilhões de  reais)  b. Quantidade de Cotas: 15.000.000 (quinze milhões) de Cotas Seniores;</a:t>
            </a:r>
          </a:p>
          <a:p>
            <a:r>
              <a:t> c. Preço de Emissão (Valor Unitário): R$ 1 (mil reais);</a:t>
            </a:r>
          </a:p>
          <a:p>
            <a:r>
              <a:t> d. Forma e Preço de Integralização: as Cotas serão integralizadas na forma  prevista no Boletim de Subscrição;</a:t>
            </a:r>
          </a:p>
          <a:p>
            <a:r>
              <a:t> e. Prazo da Colocação Privada: as Cotas serão colocadas em até 180 (cento e  oitenta) dias da data deste IPA.</a:t>
            </a:r>
          </a:p>
          <a:p>
            <a:r>
              <a:t>CNPJ 63953620000165 · Volume, VNU e emissão · Demonstrações Financeiras - Fusão, cisão e incorporação · ID 1327859 · 2026-05-15 · versão 1 · p. 31 · https://fnet.bmfbovespa.com.br/fnet/publico/visualizarDocumento?id=1327859</a:t>
            </a:r>
          </a:p>
          <a:p>
            <a:r>
              <a:t>CNPJ 63953620000165 · Volume, VNU e emissão · Excerto da fonte:</a:t>
            </a:r>
          </a:p>
          <a:p>
            <a:r>
              <a:t>Em Instrumento Particular de Alteração do MT Global Fundo de Investimento em Direitos  Creditórios, realizada em 08 de janeiro de 2026, foram deliberadas as seguintes matérias:</a:t>
            </a:r>
          </a:p>
          <a:p>
            <a:r>
              <a:t>(i) Alterar regulamento vigente da classe em relação aos itens 4.17.1, 6.8 e o Capítulo 13,</a:t>
            </a:r>
          </a:p>
          <a:p>
            <a:r>
              <a:t> (b) incluir o item 3.1, 8.1.(ii), 8.2, 8.2.1, e 10.2.(xvii); e (c) excluir os itens 6.8.1, 6.8.2,</a:t>
            </a:r>
          </a:p>
          <a:p>
            <a:r>
              <a:t>(ii) Aprovar a 1ª (primeira) emissão de cotas seniores das Classes (“Cotas Seniores”), em  sistema de vasos comunicantes entre as Classes, de forma que a quantidade de Cotas  Seniores integralizadas em uma das Classes será deduzida da quantidade de Cotas  Seniores disponíveis para integralização nas demais Classes, no montante total de R$</a:t>
            </a:r>
          </a:p>
          <a:p>
            <a:r>
              <a:t>CNPJ 63953620000165 · Volume, VNU e emissão · Demonstrações Financeiras - Fusão, cisão e incorporação · ID 1327859 · 2026-05-15 · versão 1 · p. 32 · https://fnet.bmfbovespa.com.br/fnet/publico/visualizarDocumento?id=1327859</a:t>
            </a:r>
          </a:p>
          <a:p>
            <a:r>
              <a:t>CNPJ 63953620000165 · Volume, VNU e emissão · Excerto da fonte:</a:t>
            </a:r>
          </a:p>
          <a:p>
            <a:r>
              <a:t>f. Montante Total da Colocação Privada: R$ 7.000 (sete milhões de reais);</a:t>
            </a:r>
          </a:p>
          <a:p>
            <a:r>
              <a:t> g. Quantidade de Cotas: 7.000 (sete mil) de Cotas Subordinadas CP  h. Preço de Emissão (Valor Unitário): R$ 1 (mil reais);</a:t>
            </a:r>
          </a:p>
          <a:p>
            <a:r>
              <a:t> i. Forma e Preço de Integralização: as Cotas serão integralizadas na forma  prevista no Boletim de Subscrição;</a:t>
            </a:r>
          </a:p>
          <a:p>
            <a:r>
              <a:t> j. Prazo da Colocação Privada: as Cotas serão colocadas em até 180 (cento e  oitenta) dias da data deste IPA.</a:t>
            </a:r>
          </a:p>
          <a:p>
            <a:r>
              <a:t>CNPJ 63953620000165 · Volume, VNU e emissão · Condição: Trechos do documento específico identificado com data mais recente; vigência jurídica não inferida.</a:t>
            </a:r>
          </a:p>
          <a:p>
            <a:r>
              <a:t>CNPJ 63953620000165 · Volume, VNU e emissão · Versão e prevalência: Trechos do documento específico identificado com data mais recente; vigência jurídica não inferida.</a:t>
            </a:r>
          </a:p>
          <a:p>
            <a:r>
              <a:t>CNPJ 63953620000165 · Volume, VNU e emissão · Resumo do histórico: {"count": 8, "dates": ["2026-04-16", "2026-04-28", "2026-05-08"], "document_count": 3, "sources": [{"document_id": "1298691", "title": "Demonstrações Financeiras - Fusão, cisão e incorporação", "reference_date": "2026-05-08", "version": "1", "page": 32, "url": "https://fnet.bmfbovespa.com.br/fnet/publico/visualizarDocumento?id=1298691", "sha256": "58c570d9b8d4d265330d3db3ea81c435b8e44a6dab4002aa37790652a1ee9819"}, {"document_id": "1282180", "title": "Demonstrações Financeiras - Fusão, cisão e incorporação", "reference_date": "2026-04-28", "version": "1", "page": 32, "clause": "15.000.000", "url": "https://fnet.bmfbovespa.com.br/fnet/publico/visualizarDocumento?id=1282180", "sha256": "afaaa0e6809be4385e5bdb6c911aac582032c5bdbac3d7750234bf9eaf00438a"}, {"document_id": "1282179", "title": "Demonstrações Financeiras - Fusão, cisão e incorporação", "reference_date": "2026-04-16", "version": "1", "page": 32, "clause": "15.000.000", "url": "https://fnet.bmfbovespa.com.br/fnet/publico/visualizarDocumento?id=1282179", "sha256": "beb67afbcd64169019477673fd3b7c1edbfabbd9db07379388d8cdd5d3fc9395"}], "reference": {"path": "history/63953620000165.json", "criterion_id": "issue_volume", "total_count": 8, "preview_count": 3, "full_text_deferred": true, "sha256": "a7b89077f5e21098c2d601c303faabc3ff6b9729f89d8afecdc60fe1404720c1"}}</a:t>
            </a:r>
          </a:p>
          <a:p>
            <a:r>
              <a:t>CNPJ 54871427000194 · Administração: taxa, base e mínimo · Regulamento · ID 670691 · 28/04/2024 · versão Regulamento — referência 28/04/2024 · p. 25 · Anexo I, 13.1 · https://fnet.bmfbovespa.com.br/fnet/publico/visualizarDocumento?id=670691</a:t>
            </a:r>
          </a:p>
          <a:p>
            <a:r>
              <a:t>CNPJ 54871427000194 · Administração: taxa, base e mínimo · Excerto da fonte:</a:t>
            </a:r>
          </a:p>
          <a:p>
            <a:r>
              <a:t>13.1 Pelos serviços de administração, tesouraria, controladoria e escrituração, a Classe pagará a Taxa de Administração nos seguintes moldes: o valor correspondente a 0,10% (dez centésimos por cento) ao ano aplicado sobre o Patrimônio Líquido, observado o valor mínimo de R$ 10.000,00 (dez mil reais) mensais atualizado pela variação positiva do IGP-M a cada período de 12 (doze) meses, contados a partir do mês em que ocorrer a primeira integralização de Cotas (inclusive). 13.1.1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BTG Pactual SAC: 0800 772 28 27 - Ouvidoria: 0800 722 00 48 - btgpactual.com 19</a:t>
            </a:r>
          </a:p>
          <a:p>
            <a:r>
              <a:t>CNPJ 54871427000194 · Administração: taxa, base e mínimo · Regulamento · ID 670691 · 28/04/2024 · versão Regulamento — referência 28/04/2024 · p. 26 · Anexo I, 13.1.2–13.1.3 · https://fnet.bmfbovespa.com.br/fnet/publico/visualizarDocumento?id=670691</a:t>
            </a:r>
          </a:p>
          <a:p>
            <a:r>
              <a:t>CNPJ 54871427000194 · Administração: taxa, base e mínimo · Excerto da fonte:</a:t>
            </a:r>
          </a:p>
          <a:p>
            <a:r>
              <a:t>13.1.2 A Taxa de Administração será calculada e provisionada todo Dia Útil à razão de 1/252 (um inteiro e duzentos e cinquenta e dois avos) com base no valor do Patrimônio Líquido do Dia Útil anterior. 13.1.3 A Taxa de Administração será paga mensalmente ao ADMINISTRADOR, observado o disposto no item 13.2 abaixo, por período vencido, até o 5º (quinto) Dia Útil do mês subsequente à prestação dos serviços, a partir do mês em que ocorrer a primeira integralização de Cotas da Classe. 13.2 O ADMINISTRADOR poderá estabelecer que parcelas da Taxa de Administração sejam pagas diretamente pela Classe aos prestadores de serviços contratados, desde que o somatório dessas parcelas não exceda o montante total da Taxa de Administração. 13.3 Não serão cobradas da Classe ou dos Cotistas taxas de perf ormance, de ingresso ou de saída. Taxa de Gestão 13.4 Pelos serviços de gestão, a Classe pagará a Taxa de Gestão nos seguintes moldes: o valor correspondente a 0,20% (vinte centésimos por cento) ao ano aplicado sobre o Patrimônio Líquido, observado o valor mínimo de R$ 15.000,00 (quinze mil reais) mensais atualizado pela variação positiva do IGP-M a cada período de 12 (</a:t>
            </a:r>
          </a:p>
          <a:p>
            <a:r>
              <a:t>CNPJ 54871427000194 · Administração: taxa, base e mínimo · Versão e prevalência: Leitura específica das cláusulas indicadas; condições e conflitos preservados. Seleção documental atual não comprova vigência jurídica por data isolada.</a:t>
            </a:r>
          </a:p>
          <a:p>
            <a:r>
              <a:t>CNPJ 54871427000194 · Administração: taxa, base e mínimo · Resumo do histórico: {"count": 2, "dates": ["2024-04-19", "2024-04-28"], "document_count": 2, "sources": [{"document_id": "670691", "title": "Regulamento", "reference_date": "2024-04-28", "version": "1", "page": "25-26", "url": "https://fnet.bmfbovespa.com.br/fnet/publico/visualizarDocumento?id=670691", "sha256": "bf16dd7f1a62d5cdbf2e2d54fef81783783f7310fbc99c3a8f00459bdf9d037b"}, {"document_id": "670689", "title": "Regulamento", "reference_date": "2024-04-19", "version": "1", "page": 26, "clause": "13.1", "url": "https://fnet.bmfbovespa.com.br/fnet/publico/visualizarDocumento?id=670689", "sha256": "891bc9bc5d87bbc02ec139077a84d2702eb81ea02035fb71d24f5b8366b94a0b"}], "reference": {"path": "history/54871427000194.json", "criterion_id": "admin_fee", "total_count": 2, "preview_count": 2, "full_text_deferred": true, "sha256": "35d7cd99be50c7287c9fb675cf4f2e736002315295a225a9efa79c8d9186d874"}}</a:t>
            </a:r>
          </a:p>
          <a:p>
            <a:r>
              <a:t>CNPJ 60010416000112 · Administração: taxa, base e mínimo · Regulamento · ID 1051393 · 09/10/2025 · versão Regulamento09/10/2025 · p. 29 · AnexoI12.1–12.1.2 · https://fnet.bmfbovespa.com.br/fnet/publico/visualizarDocumento?id=1051393</a:t>
            </a:r>
          </a:p>
          <a:p>
            <a:r>
              <a:t>CNPJ 60010416000112 · Administração: taxa, base e mínimo · Excerto da fonte:</a:t>
            </a:r>
          </a:p>
          <a:p>
            <a:r>
              <a:t>12.1 Pelos serviços de administração, escrituração, controladoria de ativos e passivo, e gestão de carteira, o Administrador fará jus a uma Taxa de Administração equivalente a 0,40% (quarenta centésimos por cento) por ano sobre o Patrimônio Líquido da Classe, a ser pago mensalmente, por período vencido da data em que ocorrer a primeira integralização de Cotas da Classe A, até o 5º (quinto) Dia Útil do mês subsequente ao da prestação do serviço, assegurado um valor mínimo mensal de R$ 20.000,00 (vinte mil reais), sendo este valor atualizado pela variação positiva do IPCA sempre em janeiro de cada ano,</a:t>
            </a:r>
          </a:p>
          <a:p>
            <a:r>
              <a:t>CNPJ 60010416000112 · Administração: taxa, base e mínimo · Versão e prevalência: Leitura específica das cláusulas indicadas; condições e conflitos preservados. Seleção documental atual não comprova vigência jurídica por data isolada.</a:t>
            </a:r>
          </a:p>
          <a:p>
            <a:r>
              <a:t>CNPJ 60010416000112 · Administração: taxa, base e mínimo · Resumo do histórico: {"count": 2, "dates": ["2025-03-20", "2025-10-09"], "document_count": 2, "sources": [{"document_id": "1051393", "title": "Regulamento", "reference_date": "2025-10-09", "version": "1", "page": "29", "url": "https://fnet.bmfbovespa.com.br/fnet/publico/visualizarDocumento?id=1051393", "sha256": "8469d613078ffd5a6c1d217885d8a397a16342c0b937ae4aa24b106505f233ae"}, {"document_id": "993786", "title": "Regulamento", "reference_date": "2025-03-20", "version": "1", "page": 29, "clause": "12.1", "url": "https://fnet.bmfbovespa.com.br/fnet/publico/visualizarDocumento?id=993786", "sha256": "fd0fdd369a195510d81f81f505195a0b09e5f43522a990afa7d58c4f872921c8"}], "reference": {"path": "history/60010416000112.json", "criterion_id": "admin_fee", "total_count": 2, "preview_count": 2, "full_text_deferred": true, "sha256": "8e2bd813f4c51cf01f6bfaad164bafe69d2bbb192f753eac92da3a01c2e63046"}}</a:t>
            </a:r>
          </a:p>
          <a:p>
            <a:r>
              <a:t>CNPJ 62696791000193 · Administração: taxa, base e mínimo · Regulamento · ID 1143317 · 20/03/2026 · versão Regulamento — referência 20/03/2026 · p. 28 · Anexo I, 13.1, Taxa de Administração · https://fnet.bmfbovespa.com.br/fnet/publico/visualizarDocumento?id=1143317</a:t>
            </a:r>
          </a:p>
          <a:p>
            <a:r>
              <a:t>CNPJ 62696791000193 · Administração: taxa, base e mínimo · Excerto da fonte:</a:t>
            </a:r>
          </a:p>
          <a:p>
            <a:r>
              <a:t>Taxa de Administração 0,10% (um décimo por cento) ao ano com um mínimo mensal de R$ 10.000,00 (dez mil reais), pagos mensalmente até o 5º (quinto) Dia Útil do mês subsequente ao mês que se ref ere, a ser corrigida anualmente, em janeiro de cada ano, pela variação positiva do Índice Geral de Preços – Mercado, divulgado pela Fundação Getúlio Vargas (“Taxa de Administração” e “IGP-M”, respectivamente).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T</a:t>
            </a:r>
          </a:p>
          <a:p>
            <a:r>
              <a:t>CNPJ 62696791000193 · Administração: taxa, base e mínimo · Condição: A linha da tabela não explicita novamente a base de PL para administração; conservar essa limitação em vez de completar a frase por analogia.</a:t>
            </a:r>
          </a:p>
          <a:p>
            <a:r>
              <a:t>CNPJ 62696791000193 · Administração: taxa, base e mínimo · Motivo: Não localizada uma cláusula material para este critério nos textos identificados e processados. A ausência de resultado não comprova inexistência da regra.</a:t>
            </a:r>
          </a:p>
          <a:p>
            <a:r>
              <a:t>CNPJ 62696791000193 · Administração: taxa, base e mínimo · Versão e prevalência: Leitura específica das cláusulas indicadas; condições e conflitos preservados. Seleção documental atual não comprova vigência jurídica por data isolada.</a:t>
            </a:r>
          </a:p>
          <a:p>
            <a:r>
              <a:t>CNPJ 55563624000109 · Administração: taxa, base e mínimo · Regulamento · ID 1192614 · 30/04/2026 · versão Regulamento30/04/2026 · p. 28 · AnexoI13.1–13.2 · https://fnet.bmfbovespa.com.br/fnet/publico/visualizarDocumento?id=1192614</a:t>
            </a:r>
          </a:p>
          <a:p>
            <a:r>
              <a:t>CNPJ 55563624000109 · Administração: taxa, base e mínimo · Excerto da fonte:</a:t>
            </a:r>
          </a:p>
          <a:p>
            <a:r>
              <a:t>13.1 Sem prejuízo da Taxa Máxima de Administração, pelos serviços de administração do FUNDO e da Classe, tesouraria, controle e processamento dos ativos integrantes da Carteira, a Classe pagará, no mínimo, ao ADMINISTRADOR a Taxa Mínima de Administração nos seguintes moldes: o valor correspondente a R$ 10.000,00 (dez mil reais) mensais, atualizado pela variação positiva do IGP-M, no mês de janeiro de cada ano (“Taxa Mínima de Administração”). 13.1.1 Na hipótese de extinção do IGP-M, não divulgação ou impossibilidade de sua utilização, será utilizado o</a:t>
            </a:r>
          </a:p>
          <a:p>
            <a:r>
              <a:t>CNPJ 55563624000109 · Administração: taxa, base e mínimo · Condição: A base do adicional é PL do Mercado Crédito II; não é teto 0, 10% sobre PLGN e não substitui mínimo R$ 10 mil.</a:t>
            </a:r>
          </a:p>
          <a:p>
            <a:r>
              <a:t>CNPJ 55563624000109 · Administração: taxa, base e mínimo · Versão e prevalência: Leitura específica das cláusulas indicadas; condições e conflitos preservados. Seleção documental atual não comprova vigência jurídica por data isolada.</a:t>
            </a:r>
          </a:p>
          <a:p>
            <a:r>
              <a:t>CNPJ 55563624000109 · Administração: taxa, base e mínimo · Resumo do histórico: {"count": 3, "dates": ["2025-01-31", "2026-01-31", "2026-04-30"], "document_count": 3, "sources": [{"document_id": "1192614", "title": "Regulamento", "reference_date": "2026-04-30", "version": "1", "page": "28", "clause": "13.2", "url": "https://fnet.bmfbovespa.com.br/fnet/publico/visualizarDocumento?id=1192614", "sha256": "f56e63ace0acde41d2f47fb48f1ac7f3f7df5e2d32de092d7c5e075a52516632"}, {"document_id": "1178840", "title": "Demonstrações Financeiras", "reference_date": "2026-01-31", "version": "1", "page": 29, "url": "https://fnet.bmfbovespa.com.br/fnet/publico/visualizarDocumento?id=1178840", "sha256": "c458e98664c5c907ddb5a05a94b120bed4e05295b2bfc420f5ba69af0a229abe"}, {"document_id": "891861", "title": "Demonstrações Financeiras", "reference_date": "2025-01-31", "version": "1", "page": 30, "url": "https://fnet.bmfbovespa.com.br/fnet/publico/visualizarDocumento?id=891861", "sha256": "e9cb9e6ddbe505fe068cfcac33605165a98313489de0d3ce6d4d238263c3f3e7"}], "reference": {"path": "history/55563624000109.json", "criterion_id": "admin_fee", "total_count": 3, "preview_count": 3, "full_text_deferred": true, "sha256": "7835d573fb58a3c19adf5b8ecc2aee2bdbb9a88f7a0c0209b5f262b64c7522e3"}}</a:t>
            </a:r>
          </a:p>
          <a:p>
            <a:r>
              <a:t>CNPJ 62552447000120 · Administração: taxa, base e mínimo · Regulamento · ID 1200623 · 21/05/2026 · versão Consolidado21/05/2026 aprovado pelo ato1200625 · p. 30 · AnexoI13.1 TaxaGlobal · https://fnet.bmfbovespa.com.br/fnet/publico/visualizarDocumento?id=1200623</a:t>
            </a:r>
          </a:p>
          <a:p>
            <a:r>
              <a:t>CNPJ 62552447000120 · Administração: taxa, base e mínimo · Excerto da fonte:</a:t>
            </a:r>
          </a:p>
          <a:p>
            <a:r>
              <a:t>Taxa Global Pelos serviços de administração, gestão, custódia, tesouraria, controladoria, escrituração, a Classe pagará um valor equivalente a um percentual incidente sobre o Patrimônio Líquido da Classe, conf orme a f aixa de Patrimônio Líquido da Classe prevista na tabela abaixo, apropriada diariamente e paga mensalmente até o 5º (quinto) Dia Útil do mês subsequente ao mês que se ref ere, com</a:t>
            </a:r>
          </a:p>
          <a:p>
            <a:r>
              <a:t>CNPJ 62552447000120 · Administração: taxa, base e mínimo · Condição: Global remunera administração, gestão, custódia, tesouraria, controladoria e escrituração; percentual segregado não presumido.</a:t>
            </a:r>
          </a:p>
          <a:p>
            <a:r>
              <a:t>CNPJ 62552447000120 · Administração: taxa, base e mínimo · Motivo: Não localizada uma cláusula material para este critério nos textos identificados e processados. A ausência de resultado não comprova inexistência da regra.</a:t>
            </a:r>
          </a:p>
          <a:p>
            <a:r>
              <a:t>CNPJ 62552447000120 · Administração: taxa, base e mínimo · Versão e prevalência: Leitura específica das cláusulas indicadas; condições e conflitos preservados. Seleção documental atual não comprova vigência jurídica por data isolada.</a:t>
            </a:r>
          </a:p>
          <a:p>
            <a:r>
              <a:t>CNPJ 63953620000165 · Administração: taxa, base e mínimo · Anexo ao Regulamento · ID 1222863 · 02/06/2026 · versão AnexoConsignadoPrivado02/06/2026 · p. 19 · Capítulo13TaxadeAdministração · https://fnet.bmfbovespa.com.br/fnet/publico/visualizarDocumento?id=1222863</a:t>
            </a:r>
          </a:p>
          <a:p>
            <a:r>
              <a:t>CNPJ 63953620000165 · Administração: taxa, base e mínimo · Excerto da fonte:</a:t>
            </a:r>
          </a:p>
          <a:p>
            <a:r>
              <a:t>Taxa de Administração positiva do Índice Geral de Preços – Mercado, divulgado pela Fundação Getúlio Vargas (“Taxa de Administração” e “IGP-M”, respectivamente). Na hipótese de extinção do IGP-M, não divulgação ou impossibilidade de sua utilização, será utilizado o Índice Geral de Preços – Disponibilidade Interna, divulgado pela Fundação Getúlio Vargas, ou, na falta de ambos, pela variação do IPC – Índice de Preços ao Consumidor, divulgado pela</a:t>
            </a:r>
          </a:p>
          <a:p>
            <a:r>
              <a:t>CNPJ 63953620000165 · Administração: taxa, base e mínimo · Condição: Base é a parcela MT específica, não necessariamente todo o PL da classe.</a:t>
            </a:r>
          </a:p>
          <a:p>
            <a:r>
              <a:t>CNPJ 63953620000165 · Administração: taxa, base e mínimo · Versão e prevalência: Leitura específica das cláusulas indicadas; condições e conflitos preservados. Seleção documental atual não comprova vigência jurídica por data isolada.</a:t>
            </a:r>
          </a:p>
          <a:p>
            <a:r>
              <a:t>CNPJ 63953620000165 · Administração: taxa, base e mínimo · Resumo do histórico: {"count": 8, "dates": ["2026-04-28", "2026-05-08", "2026-05-15"], "document_count": 3, "sources": [{"document_id": "1327859", "title": "Demonstrações Financeiras - Fusão, cisão e incorporação", "reference_date": "2026-05-15", "version": "1", "page": 28, "url": "https://fnet.bmfbovespa.com.br/fnet/publico/visualizarDocumento?id=1327859", "sha256": "dca1c68babb97f887528c3e2e47596a9c30f507b067981a35655b2f2da9c8054"}, {"document_id": "1298691", "title": "Demonstrações Financeiras - Fusão, cisão e incorporação", "reference_date": "2026-05-08", "version": "1", "page": 28, "url": "https://fnet.bmfbovespa.com.br/fnet/publico/visualizarDocumento?id=1298691", "sha256": "58c570d9b8d4d265330d3db3ea81c435b8e44a6dab4002aa37790652a1ee9819"}, {"document_id": "1282180", "title": "Demonstrações Financeiras - Fusão, cisão e incorporação", "reference_date": "2026-04-28", "version": "1", "page": 29, "url": "https://fnet.bmfbovespa.com.br/fnet/publico/visualizarDocumento?id=1282180", "sha256": "afaaa0e6809be4385e5bdb6c911aac582032c5bdbac3d7750234bf9eaf00438a"}], "reference": {"path": "history/63953620000165.json", "criterion_id": "admin_fee", "total_count": 8, "preview_count": 3, "full_text_deferred": true, "sha256": "a7b89077f5e21098c2d601c303faabc3ff6b9729f89d8afecdc60fe1404720c1"}}</a:t>
            </a:r>
          </a:p>
          <a:p>
            <a:r>
              <a:t>CNPJ 54871427000194 · Gestão: taxa, base e mínimo · Regulamento · ID 670691 · 28/04/2024 · versão Regulamento — referência 28/04/2024 · p. 26 · Anexo I, 13.4–13.4.3 · https://fnet.bmfbovespa.com.br/fnet/publico/visualizarDocumento?id=670691</a:t>
            </a:r>
          </a:p>
          <a:p>
            <a:r>
              <a:t>CNPJ 54871427000194 · Gestão: taxa, base e mínimo · Excerto da fonte:</a:t>
            </a:r>
          </a:p>
          <a:p>
            <a:r>
              <a:t>13.4 Pelos serviços de gestão, a Classe pagará a Taxa de Gestão nos seguintes moldes: o valor correspondente a 0,20% (vinte centésimos por cento) ao ano aplicado sobre o Patrimônio Líquido, observado o valor mínimo de R$ 15.000,00 (quinze mil reais) mensais atualizado pela variação positiva do IGP-M a cada período de 12 (doze) meses, contados a partir do mês em que ocorrer a primeira integralização de Cotas (inclusive). 13.4.1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13.4.2 A Taxa de Gestão será calculada e provisionada todo Dia Útil à razão de 1/252 (um inteiro e duzentos e cinquenta e dois avos) com base no valor do Patrimônio Líquido do Dia Útil anterior. 13.4.3 A Taxa de Gestão será paga mensalmente ao GESTOR, observado o disposto no item 13.5 abaixo, por período vencido, até o 5º (quinto) Dia Útil do mês subsequente à prestação dos ser</a:t>
            </a:r>
          </a:p>
          <a:p>
            <a:r>
              <a:t>CNPJ 54871427000194 · Gestão: taxa, base e mínimo · Versão e prevalência: Leitura específica das cláusulas indicadas; condições e conflitos preservados. Seleção documental atual não comprova vigência jurídica por data isolada.</a:t>
            </a:r>
          </a:p>
          <a:p>
            <a:r>
              <a:t>CNPJ 54871427000194 · Gestão: taxa, base e mínimo · Resumo do histórico: {"count": 2, "dates": ["2024-04-19", "2024-04-28"], "document_count": 2, "sources": [{"document_id": "670691", "title": "Regulamento", "reference_date": "2024-04-28", "version": "1", "page": "26", "url": "https://fnet.bmfbovespa.com.br/fnet/publico/visualizarDocumento?id=670691", "sha256": "bf16dd7f1a62d5cdbf2e2d54fef81783783f7310fbc99c3a8f00459bdf9d037b"}, {"document_id": "670689", "title": "Regulamento", "reference_date": "2024-04-19", "version": "1", "page": 27, "clause": "13.3", "url": "https://fnet.bmfbovespa.com.br/fnet/publico/visualizarDocumento?id=670689", "sha256": "891bc9bc5d87bbc02ec139077a84d2702eb81ea02035fb71d24f5b8366b94a0b"}], "reference": {"path": "history/54871427000194.json", "criterion_id": "management_fee", "total_count": 2, "preview_count": 2, "full_text_deferred": true, "sha256": "35d7cd99be50c7287c9fb675cf4f2e736002315295a225a9efa79c8d9186d874"}}</a:t>
            </a:r>
          </a:p>
          <a:p>
            <a:r>
              <a:t>CNPJ 60010416000112 · Gestão: taxa, base e mínimo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Gestão: taxa, base e mínimo · Resumo do histórico: {"count": 1, "dates": ["2025-10-09"], "document_count": 1, "sources": [{"document_id": "1051393", "title": "Regulamento", "reference_date": "2025-10-09", "version": "1", "page": "29, 46", "url": "https://fnet.bmfbovespa.com.br/fnet/publico/visualizarDocumento?id=1051393", "sha256": "8469d613078ffd5a6c1d217885d8a397a16342c0b937ae4aa24b106505f233ae"}], "reference": {"path": "history/60010416000112.json", "criterion_id": "management_fee", "total_count": 1, "preview_count": 1, "full_text_deferred": true, "sha256": "8e2bd813f4c51cf01f6bfaad164bafe69d2bbb192f753eac92da3a01c2e63046"}}</a:t>
            </a:r>
          </a:p>
          <a:p>
            <a:r>
              <a:t>CNPJ 62696791000193 · Gestão: taxa, base e mínimo · Regulamento · ID 1143317 · 20/03/2026 · versão Regulamento — referência 20/03/2026 · p. 28 · Anexo I, 13.1, Taxa de Gestão · https://fnet.bmfbovespa.com.br/fnet/publico/visualizarDocumento?id=1143317</a:t>
            </a:r>
          </a:p>
          <a:p>
            <a:r>
              <a:t>CNPJ 62696791000193 · Gestão: taxa, base e mínimo · Excerto da fonte:</a:t>
            </a:r>
          </a:p>
          <a:p>
            <a:r>
              <a:t>Taxa de Gestão 0% (zero por cento) ao ano apropriada diariamente na base de 252 (duzentos e cinquenta e dois) Dias Úteis, e paga mensalmente, até o 5º (quinto) Dia Útil do mês subsequente ao mês que se ref ere, incidente sobre o Patrimônio Líquido da Classe (“Taxa de Gestão”). Taxa Máxima de Custódia 0,00% (zero por cento) ao ano, incidente sobre o Patrimônio Líquido da Classe (“Taxa Máxima de Custódia”). Taxa de Performance Não será devido pela Classe o pagamento de Taxa de Perf ormance. 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a:t>
            </a:r>
          </a:p>
          <a:p>
            <a:r>
              <a:t>CNPJ 62696791000193 · Gestão: taxa, base e mínimo · Motivo: Não localizada uma cláusula material para este critério nos textos identificados e processados. A ausência de resultado não comprova inexistência da regra.</a:t>
            </a:r>
          </a:p>
          <a:p>
            <a:r>
              <a:t>CNPJ 62696791000193 · Gestão: taxa, base e mínimo · Versão e prevalência: Leitura específica das cláusulas indicadas; condições e conflitos preservados. Seleção documental atual não comprova vigência jurídica por data isolada.</a:t>
            </a:r>
          </a:p>
          <a:p>
            <a:r>
              <a:t>CNPJ 55563624000109 · Gestão: taxa, base e mínimo · Regulamento · ID 1192614 · 30/04/2026 · versão Regulamento30/04/2026 · p. 29 · AnexoI13.4–13.7.1 · https://fnet.bmfbovespa.com.br/fnet/publico/visualizarDocumento?id=1192614</a:t>
            </a:r>
          </a:p>
          <a:p>
            <a:r>
              <a:t>CNPJ 55563624000109 · Gestão: taxa, base e mínimo · Excerto da fonte:</a:t>
            </a:r>
          </a:p>
          <a:p>
            <a:r>
              <a:t>13.4 Sem prejuízo da Taxa Máxima de Gestão, pelos serviços de gestão, a Classe pagará ao GESTOR: (i) a taxa de gestão ordinária correspondente a 0,50% (cinquenta centésimos por cento) ao ano, incidente sobre o Patrimônio Líquido da Classe, observado o montante mínimo de R$ 40.000,00 (quarenta mil reais) ao mês, corrigido anualmente pela variação positiva do Índice de Preços ao Consumidor Amplo, divulgado pelo Instituto Brasileiro de Geografia e Estatística – IBGE (“Taxa de Gestão”); e (ii) a taxa de gestão extraordinária apurada e paga no momento de cada</a:t>
            </a:r>
          </a:p>
          <a:p>
            <a:r>
              <a:t>CNPJ 55563624000109 · Gestão: taxa, base e mínimo · Condição: Adicional é por integralização, não taxa anual.</a:t>
            </a:r>
          </a:p>
          <a:p>
            <a:r>
              <a:t>CNPJ 55563624000109 · Gestão: taxa, base e mínimo · Versão e prevalência: Leitura específica das cláusulas indicadas; condições e conflitos preservados. Seleção documental atual não comprova vigência jurídica por data isolada.</a:t>
            </a:r>
          </a:p>
          <a:p>
            <a:r>
              <a:t>CNPJ 55563624000109 · Gestão: taxa, base e mínimo · Resumo do histórico: {"count": 3, "dates": ["2025-01-31", "2026-01-31", "2026-04-30"], "document_count": 3, "sources": [{"document_id": "1192614", "title": "Regulamento", "reference_date": "2026-04-30", "version": "1", "page": "29", "url": "https://fnet.bmfbovespa.com.br/fnet/publico/visualizarDocumento?id=1192614", "sha256": "f56e63ace0acde41d2f47fb48f1ac7f3f7df5e2d32de092d7c5e075a52516632"}, {"document_id": "1178840", "title": "Demonstrações Financeiras", "reference_date": "2026-01-31", "version": "1", "page": 29, "url": "https://fnet.bmfbovespa.com.br/fnet/publico/visualizarDocumento?id=1178840", "sha256": "c458e98664c5c907ddb5a05a94b120bed4e05295b2bfc420f5ba69af0a229abe"}, {"document_id": "891861", "title": "Demonstrações Financeiras", "reference_date": "2025-01-31", "version": "1", "page": 30, "url": "https://fnet.bmfbovespa.com.br/fnet/publico/visualizarDocumento?id=891861", "sha256": "e9cb9e6ddbe505fe068cfcac33605165a98313489de0d3ce6d4d238263c3f3e7"}], "reference": {"path": "history/55563624000109.json", "criterion_id": "management_fee", "total_count": 3, "preview_count": 3, "full_text_deferred": true, "sha256": "7835d573fb58a3c19adf5b8ecc2aee2bdbb9a88f7a0c0209b5f262b64c7522e3"}}</a:t>
            </a:r>
          </a:p>
          <a:p>
            <a:r>
              <a:t>CNPJ 62552447000120 · Gestão: taxa, base e mínimo · Motivo: Não localizada uma cláusula material para este critério nos textos identificados e processados. A ausência de resultado não comprova inexistência da regra.</a:t>
            </a:r>
          </a:p>
          <a:p>
            <a:r>
              <a:t>CNPJ 63953620000165 · Gestão: taxa, base e mínimo · Anexo ao Regulamento · ID 1222863 · 02/06/2026 · versão AnexoConsignadoPrivado02/06/2026 · p. 20 · Capítulo13TaxadeGestão · https://fnet.bmfbovespa.com.br/fnet/publico/visualizarDocumento?id=1222863</a:t>
            </a:r>
          </a:p>
          <a:p>
            <a:r>
              <a:t>CNPJ 63953620000165 · Gestão: taxa, base e mínimo · Excerto da fonte:</a:t>
            </a:r>
          </a:p>
          <a:p>
            <a:r>
              <a:t>0,05% (cinco centésimos por cento) ao ano, apropriada diariamente na base de 252 (duzentos e cinquenta e dois) Dias Úteis, e paga mensalmente, até o 5º (quinto) Dia Útil do mês subsequente ao mês que se refere, incidente sobre o Patrimônio Líquido da Classe alocado em Direitos Creditórios Consignado Privado e/ou Ativos de Liquidez MT, observada remuneração mínima mensal de R$ 2.500,00 (dois mil e quinhentos reais), a ser corrigida anualmente, em janeiro de cada ano, pela variação</a:t>
            </a:r>
          </a:p>
          <a:p>
            <a:r>
              <a:t>CNPJ 63953620000165 · Gestão: taxa, base e mínimo · Versão e prevalência: Leitura específica das cláusulas indicadas; condições e conflitos preservados. Seleção documental atual não comprova vigência jurídica por data isolada.</a:t>
            </a:r>
          </a:p>
          <a:p>
            <a:r>
              <a:t>CNPJ 63953620000165 · Gestão: taxa, base e mínimo · Resumo do histórico: {"count": 8, "dates": ["2026-04-28", "2026-05-08", "2026-05-15"], "document_count": 3, "sources": [{"document_id": "1327859", "title": "Demonstrações Financeiras - Fusão, cisão e incorporação", "reference_date": "2026-05-15", "version": "1", "page": 28, "url": "https://fnet.bmfbovespa.com.br/fnet/publico/visualizarDocumento?id=1327859", "sha256": "dca1c68babb97f887528c3e2e47596a9c30f507b067981a35655b2f2da9c8054"}, {"document_id": "1298691", "title": "Demonstrações Financeiras - Fusão, cisão e incorporação", "reference_date": "2026-05-08", "version": "1", "page": 28, "url": "https://fnet.bmfbovespa.com.br/fnet/publico/visualizarDocumento?id=1298691", "sha256": "58c570d9b8d4d265330d3db3ea81c435b8e44a6dab4002aa37790652a1ee9819"}, {"document_id": "1282180", "title": "Demonstrações Financeiras - Fusão, cisão e incorporação", "reference_date": "2026-04-28", "version": "1", "page": 29, "url": "https://fnet.bmfbovespa.com.br/fnet/publico/visualizarDocumento?id=1282180", "sha256": "afaaa0e6809be4385e5bdb6c911aac582032c5bdbac3d7750234bf9eaf00438a"}], "reference": {"path": "history/63953620000165.json", "criterion_id": "management_fee", "total_count": 8, "preview_count": 3, "full_text_deferred": true, "sha256": "a7b89077f5e21098c2d601c303faabc3ff6b9729f89d8afecdc60fe1404720c1"}}</a:t>
            </a:r>
          </a:p>
          <a:p>
            <a:r>
              <a:t>CNPJ 54871427000194 · Performance: benchmark e apuração · Regulamento · ID 670691 · 28/04/2024 · versão Regulamento — referência 28/04/2024 · p. 26 · Anexo I, 13.3 · https://fnet.bmfbovespa.com.br/fnet/publico/visualizarDocumento?id=670691</a:t>
            </a:r>
          </a:p>
          <a:p>
            <a:r>
              <a:t>CNPJ 54871427000194 · Performance: benchmark e apuração · Excerto da fonte:</a:t>
            </a:r>
          </a:p>
          <a:p>
            <a:r>
              <a:t>13.3 Não serão cobradas da Classe ou dos Cotistas taxas de perf ormance, de ingresso ou de saída. Taxa de Gestão 13.4 Pelos serviços de gestão, a Classe pagará a Taxa de Gestão nos seguintes moldes: o valor correspondente a 0,20% (vinte centésimos por cento) ao ano aplicado sobre o Patrimônio Líquido, observado o valor mínimo de R$ 15.000,00 (quinze mil reais) mensais atualizado pela variação positiva do IGP-M a cada período de 12 (doze) meses, contados a partir do mês em que ocorrer a primeira integralização de Cotas (inclusive). 13.4.1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13.4.2 A Taxa de Gestão será calculada e provisionada todo Dia Útil à razão de 1/252 (um inteiro e duzentos e cinquenta e dois avos) com base no valor do Patrimônio Líquido do Dia Útil anterior. 13.4.3 A Taxa de Gestão será paga mensalmente ao GESTOR, observado o disposto no item 13.5</a:t>
            </a:r>
          </a:p>
          <a:p>
            <a:r>
              <a:t>CNPJ 54871427000194 · Performance: benchmark e apuração · Motivo: Não localizada uma cláusula material para este critério nos textos identificados e processados. A ausência de resultado não comprova inexistência da regra.</a:t>
            </a:r>
          </a:p>
          <a:p>
            <a:r>
              <a:t>CNPJ 54871427000194 · Performance: benchmark e apuração · Versão e prevalência: Leitura específica das cláusulas indicadas; condições e conflitos preservados. Seleção documental atual não comprova vigência jurídica por data isolada.</a:t>
            </a:r>
          </a:p>
          <a:p>
            <a:r>
              <a:t>CNPJ 60010416000112 · Performance: benchmark e apuração · Regulamento · ID 1051393 · 09/10/2025 · versão Regulamento09/10/2025 · p. 29 · AnexoI12.2 · https://fnet.bmfbovespa.com.br/fnet/publico/visualizarDocumento?id=1051393</a:t>
            </a:r>
          </a:p>
          <a:p>
            <a:r>
              <a:t>CNPJ 60010416000112 · Performance: benchmark e apuração · Excerto da fonte:</a:t>
            </a:r>
          </a:p>
          <a:p>
            <a:r>
              <a:t>12.2 Não serão cobradas da Classe ou dos Cotistas taxas de perf ormance, de ingresso ou de saída. Taxa Máxima de Custódia 12.3 Pelos serviços de custódia qualificada dos Direitos Creditórios e dos Ativos Financeiros de Liquidez não será devida nenhuma remuneração ao Custodiante, de modo que taxa máxima de custódia a ser paga pela Classe ao Custodiante corresponde a 0% (zero por cento) ao ano. Remuneração do Agente de Retenção/Cobrança 12.4 Para a prestação de serviços à Classe, o Agente de Retenção/Cobrança f ará jus a uma remuneração a ser auf erida todo Dia Útil e paga mensalmente, a título de Encargo da Cla</a:t>
            </a:r>
          </a:p>
          <a:p>
            <a:r>
              <a:t>CNPJ 60010416000112 · Performance: benchmark e apuração · Motivo: Não localizada uma cláusula material para este critério nos textos identificados e processados. A ausência de resultado não comprova inexistência da regra.</a:t>
            </a:r>
          </a:p>
          <a:p>
            <a:r>
              <a:t>CNPJ 60010416000112 · Performance: benchmark e apuração · Versão e prevalência: Leitura específica das cláusulas indicadas; condições e conflitos preservados. Seleção documental atual não comprova vigência jurídica por data isolada.</a:t>
            </a:r>
          </a:p>
          <a:p>
            <a:r>
              <a:t>CNPJ 62696791000193 · Performance: benchmark e apuração · Regulamento · ID 1143317 · 20/03/2026 · versão Regulamento — referência 20/03/2026 · p. 28 · Anexo I, 13.1, Taxa de Performance · https://fnet.bmfbovespa.com.br/fnet/publico/visualizarDocumento?id=1143317</a:t>
            </a:r>
          </a:p>
          <a:p>
            <a:r>
              <a:t>CNPJ 62696791000193 · Performance: benchmark e apuração · Excerto da fonte:</a:t>
            </a:r>
          </a:p>
          <a:p>
            <a:r>
              <a:t>Taxa de Performance Não será devido pela Classe o pagamento de Taxa de Perf ormance. 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equivalente a 0,9% (nove décimos por cento) ao ano aplicado sobre o Patrimônio Anexo I ao Regulamento Líquido, observado o limite máximo de 4,5% (quatro inteiros e cinquenta centésimos por cento) do volume captado na respectiva oferta (“Taxa Máxima de Distribuição”).A Taxa Máxima de BTG Pactual SAC: 0800 772 2827 | Ouvidoria: 0800 722 0048 | btgpactual.co m 23</a:t>
            </a:r>
          </a:p>
          <a:p>
            <a:r>
              <a:t>CNPJ 62696791000193 · Performance: benchmark e apuração · Regulamento · ID 1143317 · 20/03/2026 · versão Regulamento — referência 20/03/2026 · p. 29 · Anexo I, 13.1, Taxa de Ingresso · https://fnet.bmfbovespa.com.br/fnet/publico/visualizarDocumento?id=1143317</a:t>
            </a:r>
          </a:p>
          <a:p>
            <a:r>
              <a:t>CNPJ 62696791000193 · Performance: benchmark e apuração · Excerto da fonte:</a:t>
            </a:r>
          </a:p>
          <a:p>
            <a:r>
              <a:t>Taxa de Ingresso Não será cobrada dos Cotistas Taxa de Ingresso. 14 TRIBUTAÇÃO 14.1 O disposto neste Capítulo f oi elaborado com base na legislação e regulamentação em vigor produzindo ef eitos, tem por objetivo descrever de f orma sumária o tratamento tributário aplicável em regra aos cotistas, ao Fundo e à Classe, não se aplicando aos cotistas sujeitos a regras de tributação específicas, na f orma da legislação e regulamentação em vigor. 14.2 Há exceções (inclusive relativas à natureza ou ao domicílio do investidor para fins fiscais) em relação ao tratamento tributário descrito abaixo e tributos adicionais que podem ser aplicados, motivo pelo qual os cotistas devem consultar seus assessores jurídicos com relação à tributação aplicável nos investimentos realizados na Classe. Tributação da Classe / Operações da carteira: Como regra geral, os rendimentos auferidos pela carteira da Classe não estão sujeitos à incidência do imposto de renda, exceto ganhos auferidos em aplicações financeiras de renda fixa ou variável, que se sujeitam à incidência do Imposto de Renda Retido na Fonte (“IRF”) de acordo com as mesmas regras de tributação aplic</a:t>
            </a:r>
          </a:p>
          <a:p>
            <a:r>
              <a:t>CNPJ 62696791000193 · Performance: benchmark e apuração · Motivo: Não localizada uma cláusula material para este critério nos textos identificados e processados. A ausência de resultado não comprova inexistência da regra.</a:t>
            </a:r>
          </a:p>
          <a:p>
            <a:r>
              <a:t>CNPJ 62696791000193 · Performance: benchmark e apuração · Versão e prevalência: Leitura específica das cláusulas indicadas; condições e conflitos preservados. Seleção documental atual não comprova vigência jurídica por data isolada.</a:t>
            </a:r>
          </a:p>
          <a:p>
            <a:r>
              <a:t>CNPJ 55563624000109 · Performance: benchmark e apuração · Regulamento · ID 1192614 · 30/04/2026 · versão Regulamento30/04/2026 · p. 29 · AnexoI13.10 · https://fnet.bmfbovespa.com.br/fnet/publico/visualizarDocumento?id=1192614</a:t>
            </a:r>
          </a:p>
          <a:p>
            <a:r>
              <a:t>CNPJ 55563624000109 · Performance: benchmark e apuração · Excerto da fonte:</a:t>
            </a:r>
          </a:p>
          <a:p>
            <a:r>
              <a:t>13.10 Não serão cobradas taxas de performance da Classe, e nem taxas de ingresso ou de saída dos Cotistas que integralizarem ou resgatarem suas Cotas. BTG Pactual SAC: 0800 772 28 27 - Ouvidoria: 0800 722 00 48 - btgpactual.com 22</a:t>
            </a:r>
          </a:p>
          <a:p>
            <a:r>
              <a:t>CNPJ 55563624000109 · Performance: benchmark e apuração · Motivo: Não localizada uma cláusula material para este critério nos textos identificados e processados. A ausência de resultado não comprova inexistência da regra.</a:t>
            </a:r>
          </a:p>
          <a:p>
            <a:r>
              <a:t>CNPJ 55563624000109 · Performance: benchmark e apuração · Versão e prevalência: Leitura específica das cláusulas indicadas; condições e conflitos preservados. Seleção documental atual não comprova vigência jurídica por data isolada.</a:t>
            </a:r>
          </a:p>
          <a:p>
            <a:r>
              <a:t>CNPJ 62552447000120 · Performance: benchmark e apuração · Regulamento · ID 1200623 · 21/05/2026 · versão Consolidado21/05/2026 aprovado pelo ato1200625 · p. 30 · AnexoI13.1 TaxadePerformance/Ingresso · https://fnet.bmfbovespa.com.br/fnet/publico/visualizarDocumento?id=1200623</a:t>
            </a:r>
          </a:p>
          <a:p>
            <a:r>
              <a:t>CNPJ 62552447000120 · Performance: benchmark e apuração · Excerto da fonte:</a:t>
            </a:r>
          </a:p>
          <a:p>
            <a:r>
              <a:t>Taxa de Performance Não será devido pela Classe o pagamento de Taxa de Perf ormance. Taxa de Ingresso Não será cobrada dos Cotistas Taxa de Ingresso . CAPÍTULO 14 – CUSTOS REFERENTES À DEFESA DOS INTERESSES DA CLASSE 14.1 Todos os custos e despesas ref eridos neste Capítulo, inclusive para salvaguarda de direitos e prerrogativas da Classe e/ou com a cobrança judicial e/ou extrajudicial de Direitos Creditórios Inadimplidos, serão de inteira responsabilidade da Classe, não est ando o Administrador, o Gestor, o Endossante, os Devedores, o Custodiante e quaisquer de suas respectivas pessoas contr</a:t>
            </a:r>
          </a:p>
          <a:p>
            <a:r>
              <a:t>CNPJ 62552447000120 · Performance: benchmark e apuração · Motivo: Não localizada uma cláusula material para este critério nos textos identificados e processados. A ausência de resultado não comprova inexistência da regra.</a:t>
            </a:r>
          </a:p>
          <a:p>
            <a:r>
              <a:t>CNPJ 62552447000120 · Performance: benchmark e apuração · Versão e prevalência: Leitura específica das cláusulas indicadas; condições e conflitos preservados. Seleção documental atual não comprova vigência jurídica por data isolada.</a:t>
            </a:r>
          </a:p>
          <a:p>
            <a:r>
              <a:t>CNPJ 63953620000165 · Performance: benchmark e apuração · Anexo ao Regulamento · ID 1222863 · 02/06/2026 · versão AnexoConsignadoPrivado02/06/2026 · p. 20 · Capítulo13 · https://fnet.bmfbovespa.com.br/fnet/publico/visualizarDocumento?id=1222863</a:t>
            </a:r>
          </a:p>
          <a:p>
            <a:r>
              <a:t>CNPJ 63953620000165 · Performance: benchmark e apuração · Excerto da fonte:</a:t>
            </a:r>
          </a:p>
          <a:p>
            <a:r>
              <a:t>Taxa de Performance Não será devido pelas Classes o pagamento de Taxa de Performance. 0,00% (zero por cento) ao ano, incidente sobre o Patrimônio Líquido da Classe Taxa Máxima de Custódia (“Taxa Máxima de Custódia”). Taxa Máxima de Distribuição Não será cobrada Taxa de Distribuição. Taxa de Ingresso Não será cobrada da Classe ou dos Cotistas taxa de ingresso. CAPÍTULO 14 – CUSTOS REFERENTES À DEFESA DOS INTERESSES DA CLASSE 14.1 Todos os custos e despesas referidos neste Capítulo, inclusive para salvaguarda de direitos e prerrogativas da</a:t>
            </a:r>
          </a:p>
          <a:p>
            <a:r>
              <a:t>CNPJ 63953620000165 · Performance: benchmark e apuração · Motivo: Cláusula primária localizada e citada, mas sua lista/condições extensas não admitem uma síntese literal curta confirmada. O trecho integral permanece nas fontes.</a:t>
            </a:r>
          </a:p>
          <a:p>
            <a:r>
              <a:t>CNPJ 63953620000165 · Performance: benchmark e apuração · Versão e prevalência: Leitura específica das cláusulas indicadas; condições e conflitos preservados. Seleção documental atual não comprova vigência jurídica por data isolada.</a:t>
            </a:r>
          </a:p>
          <a:p>
            <a:r>
              <a:t>CNPJ 54871427000194 · Custódia, escrituração e encargos · Regulamento · ID 670691 · 28/04/2024 · versão Regulamento — referência 28/04/2024 · p. 26 · Anexo I, 13.7–13.8 · https://fnet.bmfbovespa.com.br/fnet/publico/visualizarDocumento?id=670691</a:t>
            </a:r>
          </a:p>
          <a:p>
            <a:r>
              <a:t>CNPJ 54871427000194 · Custódia, escrituração e encargos · Excerto da fonte:</a:t>
            </a:r>
          </a:p>
          <a:p>
            <a:r>
              <a:t>13.7 Pelos serviços de retenção e cobrança, prestada nos termos deste Anexo e do Contrato de Retenção/Cobrança, será devida pela Classe ao Agente de Retenção/Cobrança a remuneração prevista no respectivo Contrato de Retenção/Cobrança. Taxa Máxima de Custódia 13.8 Pelos serviços de custódia qualificada dos Direitos Creditórios e dos Ativos Financeiros de Liquidez não será devida nenhuma remuneração ao CUSTODIANTE, de modo que taxa máxima de custódia a ser paga pela Classe ao CUSTODIANTE corresponde a 0% (zero por cento) ao ano. CAPÍTULO 14 – CUSTOS REFERENTES À DEFESA DOS INTERESSES DA CLASSE 14.1 Caso a Classe não possua recursos disponíveis, em moeda corrente nacional, suf icientes para a adoção e manutenção, direta ou indireta, dos procedimentos judiciais e extrajudiciais necessários à cobrança dos Direitos Creditórios e dos Ativos Financeiros de Liquidez de titularidade da Classe e à def esa dos direitos, interesses e prerrogativas da Classe, a maioria dos titulares das Cotas, reunidos em Assembleia Especial de Cotistas, poderá aprovar o aporte de recursos à Classe, por meio da integralização de novas Cotas, a ser realizada por todos os titulares das Cotas para assegurar, se for o caso, a</a:t>
            </a:r>
          </a:p>
          <a:p>
            <a:r>
              <a:t>CNPJ 54871427000194 · Custódia, escrituração e encargos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Custódia, escrituração e encargos · Versão e prevalência: Leitura específica das cláusulas indicadas; condições e conflitos preservados. Seleção documental atual não comprova vigência jurídica por data isolada.</a:t>
            </a:r>
          </a:p>
          <a:p>
            <a:r>
              <a:t>CNPJ 54871427000194 · Custódia, escrituração e encargos · Resumo do histórico: {"count": 1, "dates": ["2024-04-28"], "document_count": 1, "sources": [{"document_id": "670691", "title": "Regulamento", "reference_date": "2024-04-28", "version": "1", "page": "26", "url": "https://fnet.bmfbovespa.com.br/fnet/publico/visualizarDocumento?id=670691", "sha256": "bf16dd7f1a62d5cdbf2e2d54fef81783783f7310fbc99c3a8f00459bdf9d037b"}], "reference": {"path": "history/54871427000194.json", "criterion_id": "custody_fee", "total_count": 1, "preview_count": 1, "full_text_deferred": true, "sha256": "35d7cd99be50c7287c9fb675cf4f2e736002315295a225a9efa79c8d9186d874"}}</a:t>
            </a:r>
          </a:p>
          <a:p>
            <a:r>
              <a:t>CNPJ 60010416000112 · Custódia, escrituração e encargos · Regulamento · ID 1051393 · 09/10/2025 · versão Regulamento09/10/2025 · p. 29 · AnexoI12.3–12.4 · https://fnet.bmfbovespa.com.br/fnet/publico/visualizarDocumento?id=1051393</a:t>
            </a:r>
          </a:p>
          <a:p>
            <a:r>
              <a:t>CNPJ 60010416000112 · Custódia, escrituração e encargos · Excerto da fonte:</a:t>
            </a:r>
          </a:p>
          <a:p>
            <a:r>
              <a:t>12.3 Pelos serviços de custódia qualificada dos Direitos Creditórios e dos Ativos Financeiros de Liquidez não será devida nenhuma remuneração ao Custodiante, de modo que taxa máxima de custódia a ser paga pela Classe ao Custodiante corresponde a 0% (zero por cento) ao ano. Remuneração do Agente de Retenção/Cobrança 12.4 Para a prestação de serviços à Classe, o Agente de Retenção/Cobrança f ará jus a uma remuneração a ser auf erida todo Dia Útil e paga mensalmente, a título de Encargo da Classe, a qual será calculada com base na seguinte f órmula:</a:t>
            </a:r>
          </a:p>
          <a:p>
            <a:r>
              <a:t>CNPJ 60010416000112 · Custódia, escrituração e encargos · Regulamento · ID 1051393 · 09/10/2025 · versão Regulamento09/10/2025 · p. 30 · AnexoI12.4definições,12.5–12.5.1 · https://fnet.bmfbovespa.com.br/fnet/publico/visualizarDocumento?id=1051393</a:t>
            </a:r>
          </a:p>
          <a:p>
            <a:r>
              <a:t>CNPJ 60010416000112 · Custódia, escrituração e encargos · Excerto da fonte:</a:t>
            </a:r>
          </a:p>
          <a:p>
            <a:r>
              <a:t>RAC = Remuneração do Agente de Retenção e Cobrança,tendo como valor 4,00% (quatro por cento) ao ano. 12.5 A remuneração prevista no item 12.4 acima será calculada pelo Administrador e paga diretamente ao Agente de Retenção/Cobrança até o 5º (quinto) Dia Útil do mês subsequente ao da prestação dos serviços, conf orme estabelecido no Contrato de Serviços MT. 12.5.1. Independentemente do acima disposto, na hipótese de venda de qualquer parte dos Direitos Creditórios Elegíveis a terceiros, inclusive no caso de liquidação da Classe, o Agente de Retenção/Cobra</a:t>
            </a:r>
          </a:p>
          <a:p>
            <a:r>
              <a:t>CNPJ 60010416000112 · Custódia, escrituração e encargos · Condição: Fórmula do RAC tem composição base 252 DU/21 dias; não somar a 4% do PL como taxa administrativa.</a:t>
            </a:r>
          </a:p>
          <a:p>
            <a:r>
              <a:t>CNPJ 60010416000112 · Custódia, escrituração e encargos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Custódia, escrituração e encargos · Versão e prevalência: Leitura específica das cláusulas indicadas; condições e conflitos preservados. Seleção documental atual não comprova vigência jurídica por data isolada.</a:t>
            </a:r>
          </a:p>
          <a:p>
            <a:r>
              <a:t>CNPJ 60010416000112 · Custódia, escrituração e encargos · Resumo do histórico: {"count": 1, "dates": ["2025-10-09"], "document_count": 1, "sources": [{"document_id": "1051393", "title": "Regulamento", "reference_date": "2025-10-09", "version": "1", "page": "29-31", "url": "https://fnet.bmfbovespa.com.br/fnet/publico/visualizarDocumento?id=1051393", "sha256": "8469d613078ffd5a6c1d217885d8a397a16342c0b937ae4aa24b106505f233ae"}], "reference": {"path": "history/60010416000112.json", "criterion_id": "custody_fee", "total_count": 1, "preview_count": 1, "full_text_deferred": true, "sha256": "8e2bd813f4c51cf01f6bfaad164bafe69d2bbb192f753eac92da3a01c2e63046"}}</a:t>
            </a:r>
          </a:p>
          <a:p>
            <a:r>
              <a:t>CNPJ 62696791000193 · Custódia, escrituração e encargos · Regulamento · ID 1143317 · 20/03/2026 · versão Regulamento — referência 20/03/2026 · p. 28 · Anexo I, 13.1, Custódia e Distribuição · https://fnet.bmfbovespa.com.br/fnet/publico/visualizarDocumento?id=1143317</a:t>
            </a:r>
          </a:p>
          <a:p>
            <a:r>
              <a:t>CNPJ 62696791000193 · Custódia, escrituração e encargos · Excerto da fonte:</a:t>
            </a:r>
          </a:p>
          <a:p>
            <a:r>
              <a:t>Taxa Máxima de Custódia 0,00% (zero por cento) ao ano, incidente sobre o Patrimônio Líquido da Classe (“Taxa Máxima de Custódia”). Taxa de Performance Não será devido pela Classe o pagamento de Taxa de Perf ormance. 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equivalente a 0,9% (nove décimos por cento) ao ano aplicado sobre o Patrimônio Anexo I ao Regulamento Líquido, observado o limite máximo de 4,5% (quatro inteiros e cinquenta centésimos por cento) do volume captado na respectiva oferta (“Taxa Máxima de Distribuição”).A</a:t>
            </a:r>
          </a:p>
          <a:p>
            <a:r>
              <a:t>CNPJ 62696791000193 · Custódia, escrituração e encargos · Regulamento · ID 1143317 · 20/03/2026 · versão Regulamento — referência 20/03/2026 · p. 29 · Anexo I, 13.1, Distribuição · https://fnet.bmfbovespa.com.br/fnet/publico/visualizarDocumento?id=1143317</a:t>
            </a:r>
          </a:p>
          <a:p>
            <a:r>
              <a:t>CNPJ 62696791000193 · Custódia, escrituração e encargos · Excerto da fonte:</a:t>
            </a:r>
          </a:p>
          <a:p>
            <a:r>
              <a:t>Distribuição será calculada e provisionada todo Dia Útil à razão de 1/252 (um inteiro e duzentos e cinquenta e dois avos) com base no valor do Patrimônio Líquido do Dia Útil anterior. Nos termos da Resolução CVM 160, o coordenador líder poderá destinar parte ou a totalidade da sua remuneração, à vista ou a prazo, aos distribuidores contratados, conforme previsto no contrato de distribuição da oferta e/ou nos termos de adesão ao contrato de distribuição. A Taxa Máxima de Distribuição será paga mensalmente por período vencido, até o 10º (décimo) Dia Útil do mês subsequente à prestação dos serviços, a partir do mês em que ocorrer a primeira integralização de Cotas da Classe Taxa de Ingresso Não será cobrada dos Cotistas Taxa de Ingresso. 14 TRIBUTAÇÃO 14.1 O disposto neste Capítulo f oi elaborado co</a:t>
            </a:r>
          </a:p>
          <a:p>
            <a:r>
              <a:t>CNPJ 62696791000193 · Custódia, escrituração e encargos · Motivo: Não localizada uma cláusula material para este critério nos textos identificados e processados. A ausência de resultado não comprova inexistência da regra.</a:t>
            </a:r>
          </a:p>
          <a:p>
            <a:r>
              <a:t>CNPJ 62696791000193 · Custódia, escrituração e encargos · Versão e prevalência: Leitura específica das cláusulas indicadas; condições e conflitos preservados. Seleção documental atual não comprova vigência jurídica por data isolada.</a:t>
            </a:r>
          </a:p>
          <a:p>
            <a:r>
              <a:t>CNPJ 55563624000109 · Custódia, escrituração e encargos · Regulamento · ID 1192614 · 30/04/2026 · versão Regulamento30/04/2026 · p. 29 · AnexoI13.8–13.9 · https://fnet.bmfbovespa.com.br/fnet/publico/visualizarDocumento?id=1192614</a:t>
            </a:r>
          </a:p>
          <a:p>
            <a:r>
              <a:t>CNPJ 55563624000109 · Custódia, escrituração e encargos · Excerto da fonte:</a:t>
            </a:r>
          </a:p>
          <a:p>
            <a:r>
              <a:t>13.8 Pelos serviços de custódia qualificada das Cotas da Classe Investida e dos Ativos Financeiros de Liquidez não será devida nenhuma remuneração ao CUSTODIANTE, de modo que taxa de custódia a ser paga pela Classe ao CUSTODIANTE corresponde a 0% (zero por cento) ao ano. Taxas Máxima de Distribuição 13.9 Tendo em vista que não há distribuidores das Cotas que prestem serviços de forma contínua ao Fundo, o presente Regulamento e Anexo Descritivo não preveem uma taxa máxima de distribuição aplicável a todas as emissões, nos termos do Ofício-Circular-Conju</a:t>
            </a:r>
          </a:p>
          <a:p>
            <a:r>
              <a:t>CNPJ 55563624000109 · Custódia, escrituração e encargos · Versão e prevalência: Leitura específica das cláusulas indicadas; condições e conflitos preservados. Seleção documental atual não comprova vigência jurídica por data isolada.</a:t>
            </a:r>
          </a:p>
          <a:p>
            <a:r>
              <a:t>CNPJ 55563624000109 · Custódia, escrituração e encargos · Resumo do histórico: {"count": 1, "dates": ["2026-04-30"], "document_count": 1, "sources": [{"document_id": "1192614", "title": "Regulamento", "reference_date": "2026-04-30", "version": "1", "page": "29", "url": "https://fnet.bmfbovespa.com.br/fnet/publico/visualizarDocumento?id=1192614", "sha256": "f56e63ace0acde41d2f47fb48f1ac7f3f7df5e2d32de092d7c5e075a52516632"}], "reference": {"path": "history/55563624000109.json", "criterion_id": "custody_fee", "total_count": 1, "preview_count": 1, "full_text_deferred": true, "sha256": "7835d573fb58a3c19adf5b8ecc2aee2bdbb9a88f7a0c0209b5f262b64c7522e3"}}</a:t>
            </a:r>
          </a:p>
          <a:p>
            <a:r>
              <a:t>CNPJ 62552447000120 · Custódia, escrituração e encargos · Motivo: Não localizada uma cláusula material para este critério nos textos identificados e processados. A ausência de resultado não comprova inexistência da regra.</a:t>
            </a:r>
          </a:p>
          <a:p>
            <a:r>
              <a:t>CNPJ 63953620000165 · Custódia, escrituração e encargos · Motivo: Não localizada uma cláusula material para este critério nos textos identificados e processados. A ausência de resultado não comprova inexistência da regra.</a:t>
            </a:r>
          </a:p>
          <a:p>
            <a:r>
              <a:t>CNPJ 54871427000194 · Classes e séries de cotas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Classes e séries de cotas · Resumo do histórico: {"count": 1, "dates": ["2024-04-28"], "document_count": 1, "sources": [{"document_id": "670691", "title": "Regulamento", "reference_date": "2024-04-28", "version": "1", "page": "7, 14", "url": "https://fnet.bmfbovespa.com.br/fnet/publico/visualizarDocumento?id=670691", "sha256": "bf16dd7f1a62d5cdbf2e2d54fef81783783f7310fbc99c3a8f00459bdf9d037b"}], "reference": {"path": "history/54871427000194.json", "criterion_id": "quota_classes", "total_count": 1, "preview_count": 1, "full_text_deferred": true, "sha256": "35d7cd99be50c7287c9fb675cf4f2e736002315295a225a9efa79c8d9186d874"}}</a:t>
            </a:r>
          </a:p>
          <a:p>
            <a:r>
              <a:t>CNPJ 60010416000112 · Classes e séries de cotas · Demonstrações Financeiras - Fusão, cisão e incorporação · ID 1298690 · 2026-05-08 · versão 1 · p. 30 · https://fnet.bmfbovespa.com.br/fnet/publico/visualizarDocumento?id=1298690</a:t>
            </a:r>
          </a:p>
          <a:p>
            <a:r>
              <a:t>CNPJ 60010416000112 · Classes e séries de cotas · Excerto da fonte:</a:t>
            </a:r>
          </a:p>
          <a:p>
            <a:r>
              <a:t>Durante o período de investimento, a Administradora poderá deliberar por realizar novas  emissões de cotas subordinadas, sem a necessidade de aprovação em Assembleia Especial  de Cotistas ou alteração do Regulamento, limitadas ao montante máximo de R$ 50.000  (cinquenta milhões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subordinadas emitidas não sejam  superiores aos prazos de vencimento da primeira emissão.</a:t>
            </a:r>
          </a:p>
          <a:p>
            <a:r>
              <a:t>CNPJ 60010416000112 · Classes e séries de cotas · Demonstrações Financeiras - Fusão, cisão e incorporação · ID 1298690 · 2026-05-08 · versão 1 · p. 7 · https://fnet.bmfbovespa.com.br/fnet/publico/visualizarDocumento?id=1298690</a:t>
            </a:r>
          </a:p>
          <a:p>
            <a:r>
              <a:t>CNPJ 60010416000112 · Classes e séries de cotas · Excerto da fonte:</a:t>
            </a:r>
          </a:p>
          <a:p>
            <a:r>
              <a:t>01/12/2025 a  Nota  08/05/2026  Patrimônio líquido no início do período  Total de 493.487,7492 cotas sêniores a R$ 1.136,5211 560.859  Total de 2.329.794,7852 cotas sêniores 2 a R$ 1.141,3012 2.658.998  Total de 954,2302 cotas subordinadas a R$ 150.939,4087 144.031</a:t>
            </a:r>
          </a:p>
          <a:p>
            <a:r>
              <a:t>CNPJ 60010416000112 · Classes e séries de cotas · Demonstrações Financeiras - Fusão, cisão e incorporação · ID 1298690 · 2026-05-08 · versão 1 · p. 7 · https://fnet.bmfbovespa.com.br/fnet/publico/visualizarDocumento?id=1298690</a:t>
            </a:r>
          </a:p>
          <a:p>
            <a:r>
              <a:t>CNPJ 60010416000112 · Classes e séries de cotas · Excerto da fonte:</a:t>
            </a:r>
          </a:p>
          <a:p>
            <a:r>
              <a:t>Patrimônio líquido no final do período  Total de 2.865.592,8479 cotas a R$ 1.285,7151 3.672.765  Total de 493.487,7492 cotas sêniores a R$ 1.230,3042 607.141  Total de 2.362.150,8684 cotas sêniores 2 a R$ 1.236,9918 2.921.961  Total de 954,2302 cotas subordinadas a R$ 150.554,2733 143.663</a:t>
            </a:r>
          </a:p>
          <a:p>
            <a:r>
              <a:t>CNPJ 60010416000112 · Classes e séries de cotas · Condição: Documentos atuais selecionados no inventário por categoria/escopo; a data documental isolada não comprova vigência jurídica.</a:t>
            </a:r>
          </a:p>
          <a:p>
            <a:r>
              <a:t>CNPJ 60010416000112 · Classes e séries de cotas · Versão e prevalência: Documentos atuais selecionados no inventário por categoria/escopo; a data documental isolada não comprova vigência jurídica.</a:t>
            </a:r>
          </a:p>
          <a:p>
            <a:r>
              <a:t>CNPJ 60010416000112 · Classes e séries de cotas · Resumo do histórico: {"count": 9, "dates": ["2025-11-30", "2026-03-18", "2026-04-16"], "document_count": 3, "sources": [{"document_id": "1282181", "title": "Demonstrações Financeiras - Fusão, cisão e incorporação", "reference_date": "2026-04-16", "version": "1", "page": 7, "url": "https://fnet.bmfbovespa.com.br/fnet/publico/visualizarDocumento?id=1282181", "sha256": "b1c6566e43a00bcd00c8a7f30c77b7f86e351bd8e355bbea113f46d1dafda703"}, {"document_id": "1224477", "title": "Demonstrações Financeiras - Fusão, cisão e incorporação", "reference_date": "2026-03-18", "version": "1", "page": 7, "url": "https://fnet.bmfbovespa.com.br/fnet/publico/visualizarDocumento?id=1224477", "sha256": "0751bf0a75bc3b44c2748f5000226665c6ec6698a90c4dc6170b4e6c187759ae"}, {"document_id": "1126154", "title": "Demonstrações Financeiras", "reference_date": "2025-11-30", "version": "1", "page": 7, "url": "https://fnet.bmfbovespa.com.br/fnet/publico/visualizarDocumento?id=1126154", "sha256": "a01e7ccf88c548f12c95cba8526d7efbef6b585c112cd4668eca781c292090b0"}], "reference": {"path": "history/60010416000112.json", "criterion_id": "quota_classes", "total_count": 9, "preview_count": 3, "full_text_deferred": true, "sha256": "8e2bd813f4c51cf01f6bfaad164bafe69d2bbb192f753eac92da3a01c2e63046"}}</a:t>
            </a:r>
          </a:p>
          <a:p>
            <a:r>
              <a:t>CNPJ 62696791000193 · Classes e séries de cotas · Instrumento Particular de Emissão de Cotas · ID 1148821 · 2026-03-27 · versão 1 · p. 1 · 20.000 · https://fnet.bmfbovespa.com.br/fnet/publico/visualizarDocumento?id=1148821</a:t>
            </a:r>
          </a:p>
          <a:p>
            <a:r>
              <a:t>CNPJ 62696791000193 · Classes e séries de cotas · Excerto da fonte:</a:t>
            </a:r>
          </a:p>
          <a:p>
            <a:r>
              <a:t>20.000 (vinte mil) Cotas Subordinadas Júnior, com valor nominal unitário de R$ 1.000,00 (mil reais),  perfazendo o montante total de R$ 20.000.000,00 (vinte milhões de reais), as quais serão objeto de  colocação privada, de acordo com os termos e condições definidos no Apêndice da Subclasse  Subordinada Júnior constante do Anexo I Regulamento e descritas abaixo (“2ª Emissão da Subclasse  Subordinada Júnior”):</a:t>
            </a:r>
          </a:p>
          <a:p>
            <a:r>
              <a:t>CNPJ 62696791000193 · Classes e séries de cotas · Instrumento Particular de Emissão de Cotas · ID 1148821 · 2026-03-27 · versão 1 · p. 2 · https://fnet.bmfbovespa.com.br/fnet/publico/visualizarDocumento?id=1148821</a:t>
            </a:r>
          </a:p>
          <a:p>
            <a:r>
              <a:t>CNPJ 62696791000193 · Classes e séries de cotas · Excerto da fonte:</a:t>
            </a:r>
          </a:p>
          <a:p>
            <a:r>
              <a:t>2. Aprovar a 2ª (segunda) emissão da Subclasse Sênior da Classe, composta por até 150.000  (cento e cinquenta mil) Cotas Seniores, com valor nominal unitário de R$ 1.000,00 (mil reais),  perfazendo o montante total de R$ 150.000.000,00 (cento e cinquenta milhões de reais), as quais  serão objeto de colocação privada, de acordo com os termos e condições descritos no Apêndice da  Subclasse Sênior constante do Anexo I Regulamento e descritas abaixo (“2ª Emissão da Subclasse  Sênior”):</a:t>
            </a:r>
          </a:p>
          <a:p>
            <a:r>
              <a:t>CNPJ 62696791000193 · Classes e séries de cotas · Instrumento Particular de Emissão de Cotas · ID 1148821 · 2026-03-27 · versão 1 · p. 2 · https://fnet.bmfbovespa.com.br/fnet/publico/visualizarDocumento?id=1148821</a:t>
            </a:r>
          </a:p>
          <a:p>
            <a:r>
              <a:t>CNPJ 62696791000193 · Classes e séries de cotas · Excerto da fonte:</a:t>
            </a:r>
          </a:p>
          <a:p>
            <a:r>
              <a:t>d) Forma de Integralização: as Cotas Subordinadas Júnior serão integralizadas à vista, junto ao  seu respectivo agente de custódia e/ou da Administradora na qualidade de escriturador das  cotas; e</a:t>
            </a:r>
          </a:p>
          <a:p>
            <a:r>
              <a:t>CNPJ 62696791000193 · Classes e séries de cotas · Condição: Documentos atuais selecionados no inventário por categoria/escopo; a data documental isolada não comprova vigência jurídica.</a:t>
            </a:r>
          </a:p>
          <a:p>
            <a:r>
              <a:t>CNPJ 62696791000193 · Classes e séries de cotas · Versão e prevalência: Documentos atuais selecionados no inventário por categoria/escopo; a data documental isolada não comprova vigência jurídica.</a:t>
            </a:r>
          </a:p>
          <a:p>
            <a:r>
              <a:t>CNPJ 62696791000193 · Classes e séries de cotas · Resumo do histórico: {"count": 2, "dates": ["2026-03-20", "2026-03-27"], "document_count": 2, "sources": [{"document_id": "1148821", "title": "Instrumento Particular de Emissão de Cotas", "reference_date": "2026-03-27", "version": "1", "page": "1-2", "url": "https://fnet.bmfbovespa.com.br/fnet/publico/visualizarDocumento?id=1148821", "sha256": "86900e9dd498403696bfffbd4196443c83ec4d51ff21135e073c1966e1adf4c0"}, {"document_id": "1143317", "title": "Regulamento", "reference_date": "2026-03-20", "version": "1", "page": 16, "clause": "7.2", "url": "https://fnet.bmfbovespa.com.br/fnet/publico/visualizarDocumento?id=1143317", "sha256": "32f62818d51c3ebeaf9ec012d3d7867f15c1aed6d10f0867c157a290df1cea48"}], "reference": {"path": "history/62696791000193.json", "criterion_id": "quota_classes", "total_count": 2, "preview_count": 2, "full_text_deferred": true, "sha256": "0e9ec199848320ec945708123ae0cb6075d76c05d94beed814d582031d353926"}}</a:t>
            </a:r>
          </a:p>
          <a:p>
            <a:r>
              <a:t>CNPJ 55563624000109 · Classes e séries de cotas · Regulamento · ID 1192614 · 2026-04-30 · versão 1 · p. 40 · https://fnet.bmfbovespa.com.br/fnet/publico/visualizarDocumento?id=1192614</a:t>
            </a:r>
          </a:p>
          <a:p>
            <a:r>
              <a:t>CNPJ 55563624000109 · Classes e séries de cotas · Excerto da fonte:</a:t>
            </a:r>
          </a:p>
          <a:p>
            <a:r>
              <a:t>(xxiv) Subordinação de determinadas Cotas da Classe Investida a outras subclasses ou séries de  cotas das Classes Investidas aos quais pertencem. A Classe Investida adquirirá apenas cotas  subordinadas mezaninos da Classe Investida, as quais se subordinam às cotas seniores da Classe  Investida para efeitos de resgate. Os resgates de cotas subordinadas mezanino tipicamente têm sua  realização condicionada ainda à manutenção da razão de garantia e à existência de disponibilidades  da Classe Investida. O ADMINISTRADOR, o GESTOR e o CUSTODIANTE e suas respectivas partes  relacionadas, encontram-se impossibilitados de assegurar que a amortização e o resgate das cotas  subordinadas mezanino da Classe Investida que venham a ser adquiridas pela Classe ocorrerão nas  datas originalmente previstas, sendo que, caso tais amortizações e/ou resgates não ocorram, não será  devido pelo FUNDO ou qualquer pessoa, incluindo o ADMINISTRADOR, o GESTOR e o CUSTODIANTE,  do FUNDO ou da Classe Investida qualquer multa ou penalidade, de qualquer natureza. O não resgate  de cotas subordinadas mezanino da Classe Investida detidas pela Classe poderá impactar  negativamente no fluxo de pagamento de resgate da Classe e/ou no valor patrimonial das Cotas da  Classe.</a:t>
            </a:r>
          </a:p>
          <a:p>
            <a:r>
              <a:t>CNPJ 55563624000109 · Classes e séries de cotas · Regulamento · ID 1192614 · 2026-04-30 · versão 1 · p. 31 · 15.1.1 · https://fnet.bmfbovespa.com.br/fnet/publico/visualizarDocumento?id=1192614</a:t>
            </a:r>
          </a:p>
          <a:p>
            <a:r>
              <a:t>CNPJ 55563624000109 · Classes e séries de cotas · Excerto da fonte:</a:t>
            </a:r>
          </a:p>
          <a:p>
            <a:r>
              <a:t>15.1.1 Riscos de Crédito:</a:t>
            </a:r>
          </a:p>
          <a:p>
            <a:r>
              <a:t> (i) Risco de concentração na Classe Investida. Nos termos do presente Regulamento, a Classe  deverá manter alocado, no mínimo, 67% (sessenta e sete por cento) do Patrimônio Líquido nas Cotas  da Classe Investida. Alterações na condição econômico-financeira e na expectativa de desempenho ou  resultados da Classe Investida poderão, isolada ou cumulativamente, afetar negativamente o  rendimento do investimento nas Cotas, de forma mais severa do que se a Classe adotasse uma  estratégia de investimento de maior diversificação. O risco associado às aplicações de qualquer fundo  de investimento é diretamente proporcional à concentração da sua carteira, sendo que, quanto maior  essa concentração, maior será a sua vulnerabilidade.</a:t>
            </a:r>
          </a:p>
          <a:p>
            <a:r>
              <a:t> (ii) Risco relativo à Classe Investida. Nos termos deste Anexo, a Classe deverá manter alocado, no  mínimo, 67% (sessenta e sete por cento) do Patrimônio Líquido em Cotas da Classe Investida. Os  investimentos realizados pela Classe Investida poderão estar sujeitos a flutuações típicas do mercado,  risco de crédito, risco sistêmico, condições adversas de liquidez e negociação atípica nos mercados de  atuação, bem como outros riscos diversos. Este Anexo não contém a descrição de todas as  características, incluindo os riscos, da Classe Investida.</a:t>
            </a:r>
          </a:p>
          <a:p>
            <a:r>
              <a:t> (iii) Risco Relativo ao Pagamento de Encargos da Classe Investida. Tendo em vista a estrutura da  Classe Investida – que emitiu cotas sêniores, cotas subordinadas mezanino e cotas subordinadas júnior  – em situação ordinária os encargos da Classe Investida são arcados pelas cotas subordinadas júnior,  que se subordinam às cotas subordinadas mezanino e às cotas sêniores para fins de amortização,  resgate e distribuição de rendimentos, não impactando, portanto, as Cotas da Classe Investida. Não  obstante o funcionamento da Classe Investida em situação ordinária, em cenários extraordinários, na  eventualidade do valor das cotas subordinadas júnior ficar reduzido a zero ou a valor negativo, os  encargos da Classe Investida conforme previstos em seu regulamento, inclusive mas não se limitando  as remunerações dos prestadores de serviços essenciais, passarão a ser arcados pelas cotas  subordinadas mezanino (que são as Cotas da Classe Investida), impactando no valor do investimento  da Classe na Classe Investida, e consequentemente, o investimento dos Cotistas na Classe.</a:t>
            </a:r>
          </a:p>
          <a:p>
            <a:r>
              <a:t> (iv) Riscos referentes à carteira da Classe Investida. Na forma do Anexo Normativo II da Resolução  CVM 175, a Classe Investida investe, direta ou indiretamente, no mínimo, 67% (sessenta e sete por  cento) do seu patrimônio em direitos creditórios originados pela Mercado Pago. O investimento em tais  direitos creditórios está sujeito a fatores de risco específicos, conforme detalhados no regulamento da  Classe Investida, incluindo, mas não se limitando a:</a:t>
            </a:r>
          </a:p>
          <a:p>
            <a:r>
              <a:t> (a) Risco de liquidez dos direitos creditórios. O investimento da Classe Investida em direitos  creditórios apresenta peculiaridades em relação às aplicações usuais da maioria dos  fundos de investimento brasileiros, haja vista que não existe, no Brasil, mercado  secundário com liquidez para tais direitos creditórios. Caso a Classe Investida precise  vender os direitos creditórios adquiridos, poderá não haver mercado comprador para  tais créditos, bem como o preço de alienação de tais direitos creditórios poderá refletir  essa falta de liquidez, causando perda ao patrimônio da Classe Investida e,  consequentemente, à Classe.</a:t>
            </a:r>
          </a:p>
          <a:p>
            <a:r>
              <a:t>CNPJ 55563624000109 · Classes e séries de cotas · AGE · ID 1192603 · 2026-04-30 · versão 1 · p. 1 · 4.1 · https://fnet.bmfbovespa.com.br/fnet/publico/visualizarDocumento?id=1192603</a:t>
            </a:r>
          </a:p>
          <a:p>
            <a:r>
              <a:t>CNPJ 55563624000109 · Classes e séries de cotas · Excerto da fonte:</a:t>
            </a:r>
          </a:p>
          <a:p>
            <a:r>
              <a:t>4.1. Aprovar a alteração do Anexo I da Classe Única para a reorganização do passivo de sua subclasse  única em novas subclasses, quais sejam, subclasse A (“Subclasse A”), subclasse B (“Subclasse B”) e  subclasse C (“Subclasse C” e, quando em conjunto com a Subclasse A e a Subclasse B, as “Subclasses”),  considerando que serão mantidas as condições de investimento originalmente pactuadas com os cotistas,  como critérios de aplicação, resgate, amortização e política de investimento da Classe Única, diferindo-  se, exclusivamente, em relação ao prazo de duração cada Subclasse.</a:t>
            </a:r>
          </a:p>
          <a:p>
            <a:r>
              <a:t>CNPJ 55563624000109 · Classes e séries de cotas · Condição: Documentos atuais selecionados no inventário por categoria/escopo; a data documental isolada não comprova vigência jurídica.</a:t>
            </a:r>
          </a:p>
          <a:p>
            <a:r>
              <a:t>CNPJ 55563624000109 · Classes e séries de cotas · Versão e prevalência: Documentos atuais selecionados no inventário por categoria/escopo; a data documental isolada não comprova vigência jurídica.</a:t>
            </a:r>
          </a:p>
          <a:p>
            <a:r>
              <a:t>CNPJ 55563624000109 · Classes e séries de cotas · Resumo do histórico: {"count": 3, "dates": ["2025-01-31", "2026-01-31", "2026-04-30"], "document_count": 3, "sources": [{"document_id": "1192614", "title": "Regulamento", "reference_date": "2026-04-30", "version": "1", "page": "15", "url": "https://fnet.bmfbovespa.com.br/fnet/publico/visualizarDocumento?id=1192614", "sha256": "f56e63ace0acde41d2f47fb48f1ac7f3f7df5e2d32de092d7c5e075a52516632"}, {"document_id": "1178840", "title": "Demonstrações Financeiras", "reference_date": "2026-01-31", "version": "1", "page": 25, "url": "https://fnet.bmfbovespa.com.br/fnet/publico/visualizarDocumento?id=1178840", "sha256": "c458e98664c5c907ddb5a05a94b120bed4e05295b2bfc420f5ba69af0a229abe"}, {"document_id": "891861", "title": "Demonstrações Financeiras", "reference_date": "2025-01-31", "version": "1", "page": 26, "url": "https://fnet.bmfbovespa.com.br/fnet/publico/visualizarDocumento?id=891861", "sha256": "e9cb9e6ddbe505fe068cfcac33605165a98313489de0d3ce6d4d238263c3f3e7"}], "reference": {"path": "history/55563624000109.json", "criterion_id": "quota_classes", "total_count": 3, "preview_count": 3, "full_text_deferred": true, "sha256": "7835d573fb58a3c19adf5b8ecc2aee2bdbb9a88f7a0c0209b5f262b64c7522e3"}}</a:t>
            </a:r>
          </a:p>
          <a:p>
            <a:r>
              <a:t>CNPJ 62552447000120 · Classes e séries de cotas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Classes e séries de cotas · Resumo do histórico: {"count": 1, "dates": ["2025-09-03"], "document_count": 1, "sources": [{"document_id": "988020", "title": "Instrumento Particular de Emissão de Cotas", "reference_date": "2025-09-03", "version": "1", "page": "5", "url": "https://fnet.bmfbovespa.com.br/fnet/publico/visualizarDocumento?id=988020", "sha256": "8ecc8a771bb9713d64e5fc2052c489664cb0433801a9280db68e5187d35bf7a5"}], "reference": {"path": "history/62552447000120.json", "criterion_id": "quota_classes", "total_count": 1, "preview_count": 1, "full_text_deferred": true, "sha256": "d95db8c0613d67ee84118c734588665265ea6b02f86a0318d6a844cbe1d0f82f"}}</a:t>
            </a:r>
          </a:p>
          <a:p>
            <a:r>
              <a:t>CNPJ 63953620000165 · Classes e séries de cotas · AGE · ID 1313935 · 2026-08-31 · versão 1 · p. 1 · 4.1 · https://fnet.bmfbovespa.com.br/fnet/publico/visualizarDocumento?id=1313935</a:t>
            </a:r>
          </a:p>
          <a:p>
            <a:r>
              <a:t>CNPJ 63953620000165 · Classes e séries de cotas · Excerto da fonte:</a:t>
            </a:r>
          </a:p>
          <a:p>
            <a:r>
              <a:t>4.1. Aprovar a realização da incorporação das parcelas cindidas descritas no Anexo I à presente ata (“Parcelas  Cindidas”), com base no fechamento de 28 de agosto de 2026 (“Data Base”), condicionada à aprovação da cisão  da CLASSE ÚNICA DO MT CONSIGNADO PRIVADO I FUNDO DE INVESTIMENTO EM DIREITOS CREDITÓRIOS  RESPONSABILIDADE LIMITADA, inscrita no CNPJ sob o nº 60.010.416/0001-12 (“Classe Cindida”), com a  subsequente incorporação da respectiva Parcela Cindida, emitindo-se cotas seniores da Classe, a serem  atribuídas integralmente aos cotistas da Classe Cindida, no valor da respectiva Parcela Cindida, na Data-Base, de  acordo com o valor das cotas da Classe na mesma data. A partir da Data Base, todos os direitos e obrigações dos  ativos cindidos serão sucedidos à Classe;</a:t>
            </a:r>
          </a:p>
          <a:p>
            <a:r>
              <a:t>CNPJ 63953620000165 · Classes e séries de cotas · Condição: Documentos atuais selecionados no inventário por categoria/escopo; a data documental isolada não comprova vigência jurídica.</a:t>
            </a:r>
          </a:p>
          <a:p>
            <a:r>
              <a:t>CNPJ 63953620000165 · Classes e séries de cotas · Versão e prevalência: Documentos atuais selecionados no inventário por categoria/escopo; a data documental isolada não comprova vigência jurídica.</a:t>
            </a:r>
          </a:p>
          <a:p>
            <a:r>
              <a:t>CNPJ 63953620000165 · Classes e séries de cotas · Resumo do histórico: {"count": 11, "dates": ["2026-07-29", "2026-08-17", "2026-08-21"], "document_count": 3, "sources": [{"document_id": "1309436", "title": "AGE", "reference_date": "2026-08-21", "version": "1", "page": 1, "clause": "4.1", "url": "https://fnet.bmfbovespa.com.br/fnet/publico/visualizarDocumento?id=1309436", "sha256": "f679de1621039dce7c665e3a742f213fd4d5047e12b96163b31ea4ae86f56817"}, {"document_id": "1298232", "title": "AGE", "reference_date": "2026-08-17", "version": "1", "page": 1, "clause": "4.1", "url": "https://fnet.bmfbovespa.com.br/fnet/publico/visualizarDocumento?id=1298232", "sha256": "75322e306547f725e73a2c6687b598e14d628caa84bd46a23508337a606866f6"}, {"document_id": "1277543", "title": "AGE", "reference_date": "2026-07-29", "version": "1", "page": 1, "url": "https://fnet.bmfbovespa.com.br/fnet/publico/visualizarDocumento?id=1277543", "sha256": "c2fb499fd6e25251a221d4e9dbb5d1378fb5efde5a58eee091868faf52d326c0"}], "reference": {"path": "history/63953620000165.json", "criterion_id": "quota_classes", "total_count": 11, "preview_count": 3, "full_text_deferred": true, "sha256": "a7b89077f5e21098c2d601c303faabc3ff6b9729f89d8afecdc60fe1404720c1"}}</a:t>
            </a:r>
          </a:p>
          <a:p>
            <a:r>
              <a:t>CNPJ 54871427000194 · Ofertas e colocação · AGE · ID 1055482 · 2025-12-02 · versão 1 · p. 1 · 4.1 · https://fnet.bmfbovespa.com.br/fnet/publico/visualizarDocumento?id=1055482</a:t>
            </a:r>
          </a:p>
          <a:p>
            <a:r>
              <a:t>CNPJ 54871427000194 · Ofertas e colocação · Excerto da fonte:</a:t>
            </a:r>
          </a:p>
          <a:p>
            <a:r>
              <a:t>4.1. Aprovar a nova emissão de Cotas pela Classe, todas nominativas e escriturais, com preço unitário de emissão  correspondente ao valor das Cotas da Classe em circulação quando na data de aprovação da Nova Emissão,  perfazendo o montante total de emissão de até R$ 650.000.000 (seiscentos e cinquenta milhões de reais), conforme  as características constantes do Regulamento e do Anexo da Classe (“Novas Cotas” e “Nova Emissão”,  respectivamente), e descritas abaixo:</a:t>
            </a:r>
          </a:p>
          <a:p>
            <a:r>
              <a:t>(i) Rito: as Novas Cotas não serão objeto de oferta pública, conforme facultado pelo artigo 8º, inciso IV, da  Resolução CVM nº 160, uma vez que a Classe se enquadra nos requisitos do referido dispositivo;</a:t>
            </a:r>
          </a:p>
          <a:p>
            <a:r>
              <a:t>(ii) Preço de Emissão: o preço unitário de emissão corresponderá ao valor das Cotas da Classe em circulação  quando na data de aprovação da Nova Emissão (“Preço de Emissão”);</a:t>
            </a:r>
          </a:p>
          <a:p>
            <a:r>
              <a:t>(iii) Preço de Integralização: o Preço de Integralização corresponderá ao valor das Cotas da Classe em  circulação quando da transferência dos valores para liquidação financeira (“Preço de Integralização”);</a:t>
            </a:r>
          </a:p>
          <a:p>
            <a:r>
              <a:t>(iv) Forma de Integralização: as Cotas serão integralizadas à vista, em moeda corrente nacional, pelo Preço  de Integralização, junto ao seu respectivo agente de custódia e/ou da Administradora na qualidade de  escriturador das cotas; e</a:t>
            </a:r>
          </a:p>
          <a:p>
            <a:r>
              <a:t>(v) Período de colocação: a subscrição das Cotas, objeto da Nova Emissão, deverão ser realizadas no prazo  máximo de 180 (cento e oitenta) dias, contados da data de efeitos do presente instrumento.</a:t>
            </a:r>
          </a:p>
          <a:p>
            <a:r>
              <a:t>CNPJ 54871427000194 · Ofertas e colocação · Condição: Trechos do documento específico identificado com data mais recente; vigência jurídica não inferida.</a:t>
            </a:r>
          </a:p>
          <a:p>
            <a:r>
              <a:t>CNPJ 54871427000194 · Ofertas e colocação · Versão e prevalência: Trechos do documento específico identificado com data mais recente; vigência jurídica não inferida.</a:t>
            </a:r>
          </a:p>
          <a:p>
            <a:r>
              <a:t>CNPJ 54871427000194 · Ofertas e colocação · Resumo do histórico: {"count": 7, "dates": ["2024-06-13", "2024-12-10"], "document_count": 3, "sources": [{"document_id": "798101", "title": "Anúncio de Encerramento", "reference_date": "2024-12-10", "version": "1", "page": "1-2", "url": "https://fnet.bmfbovespa.com.br/fnet/publico/visualizarDocumento?id=798101", "sha256": "71618c432ad86002484571d66922b873e4fa91ed3543a109134ddee0bd872f20"}, {"document_id": "679614", "title": "Anúncio de Início", "reference_date": "2024-06-13", "version": "1", "page": 1, "url": "https://fnet.bmfbovespa.com.br/fnet/publico/visualizarDocumento?id=679614", "sha256": "aad43ed14bfa0576144a306c466aea031fce0d01d3cb3de6aebd120f11164bfa"}, {"document_id": "683482", "title": "AGE", "reference_date": "2024-06-13", "version": "1", "page": 2, "url": "https://fnet.bmfbovespa.com.br/fnet/publico/visualizarDocumento?id=683482", "sha256": "3afbe254027691929935eaf19ebbb8634fb2ccd8e2fbea2cb2d81a7818f8d648"}], "reference": {"path": "history/54871427000194.json", "criterion_id": "offers", "total_count": 7, "preview_count": 3, "full_text_deferred": true, "sha256": "35d7cd99be50c7287c9fb675cf4f2e736002315295a225a9efa79c8d9186d874"}}</a:t>
            </a:r>
          </a:p>
          <a:p>
            <a:r>
              <a:t>CNPJ 60010416000112 · Ofertas e colocação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Ofertas e colocação · Resumo do histórico: {"count": 1, "dates": ["2025-03-20"], "document_count": 1, "sources": [{"document_id": "993785", "title": "Instrumento Particular de Constituição/Encerramento do Fundo", "reference_date": "2025-03-20", "version": "1", "page": "1-2", "url": "https://fnet.bmfbovespa.com.br/fnet/publico/visualizarDocumento?id=993785", "sha256": "0826e0eae2c51afabf59bbc49fc7647598d03da5ca6de0f9725850a8bd6af457"}], "reference": {"path": "history/60010416000112.json", "criterion_id": "offers", "total_count": 1, "preview_count": 1, "full_text_deferred": true, "sha256": "8e2bd813f4c51cf01f6bfaad164bafe69d2bbb192f753eac92da3a01c2e63046"}}</a:t>
            </a:r>
          </a:p>
          <a:p>
            <a:r>
              <a:t>CNPJ 62696791000193 · Ofertas e colocação · Regulamento · ID 1143317 · 2026-03-20 · versão 1 · p. 39 · 2.6 · https://fnet.bmfbovespa.com.br/fnet/publico/visualizarDocumento?id=1143317</a:t>
            </a:r>
          </a:p>
          <a:p>
            <a:r>
              <a:t>CNPJ 62696791000193 · Ofertas e colocação · Excerto da fonte:</a:t>
            </a:r>
          </a:p>
          <a:p>
            <a:r>
              <a:t>2.6. O valor de mercado das Cotas de emissão da Classe poderá sofrer oscilações frequentes e  significativas, inclusive ao longo do dia. Como consequência, o valor de mercado das cotas de  emissão da Classe poderá não ref letir necessariamente seu valor patrimonial. Não será devida  pela Classe ou por qualquer pessoa, incluindo as instituições responsáveis pela distribuição  das cotas, os demais Cotistas da Classe, o Administrador e as instituições participantes da  of erta, qualquer multa ou penalidade de qualquer natureza, caso ocorra, por qualquer razão,</a:t>
            </a:r>
          </a:p>
          <a:p>
            <a:r>
              <a:t> (i) o alongamento do período de amortização das Cotas; (ii) a liquidação da Classe; ou, ainda,</a:t>
            </a:r>
          </a:p>
          <a:p>
            <a:r>
              <a:t> (iii) caso os Cotistas sof ram qualquer dano ou prejuízo resultante de tais eventos.</a:t>
            </a:r>
          </a:p>
          <a:p>
            <a:r>
              <a:t>3. Risco TributárioOs rendimentos e ganhos líquidos auf eridos pela Classe em aplicações f inanceiras de  renda f ixa ou de renda variável sujeitam-se à incidência do imposto de renda na f onte, observadas as  mesmas normas aplicáveis às pessoas jurídicas, podendo esse imposto ser compensado com o retido na  f onte pela Classe quando da distribuição de rendimentos e ganhos de capital aos Cotistas. Os rendimentos  auf eridos pela Classe, quando distribuídos aos Cotistas sujeitam-se à incidência do Imposto de Renda na  f onte à alíquota de 20% (vinte por cento). Os rendimentos e ganhos de capital auferidos pelos Cotistas na</a:t>
            </a:r>
          </a:p>
          <a:p>
            <a:r>
              <a:t>CNPJ 62696791000193 · Ofertas e colocação · Regulamento · ID 1143317 · 2026-03-20 · versão 1 · p. 28 · https://fnet.bmfbovespa.com.br/fnet/publico/visualizarDocumento?id=1143317</a:t>
            </a:r>
          </a:p>
          <a:p>
            <a:r>
              <a:t>CNPJ 62696791000193 · Ofertas e colocação · Excerto da fonte:</a:t>
            </a:r>
          </a:p>
          <a:p>
            <a:r>
              <a:t>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equivalente a 0,9% (nove décimos  por cento) ao ano aplicado sobre o Patrimônio Anexo I ao  Regulamento Líquido, observado o limite máximo de 4,5% (quatro  inteiros e cinquenta centésimos por cento) do volume captado na  respectiva oferta (“Taxa Máxima de Distribuição”).A Taxa Máxima de</a:t>
            </a:r>
          </a:p>
          <a:p>
            <a:r>
              <a:t>CNPJ 62696791000193 · Ofertas e colocação · Condição: Documentos atuais selecionados no inventário por categoria/escopo; a data documental isolada não comprova vigência jurídica.</a:t>
            </a:r>
          </a:p>
          <a:p>
            <a:r>
              <a:t>CNPJ 62696791000193 · Ofertas e colocação · Versão e prevalência: Documentos atuais selecionados no inventário por categoria/escopo; a data documental isolada não comprova vigência jurídica.</a:t>
            </a:r>
          </a:p>
          <a:p>
            <a:r>
              <a:t>CNPJ 62696791000193 · Ofertas e colocação · Resumo do histórico: {"count": 1, "dates": ["2026-03-27"], "document_count": 1, "sources": [{"document_id": "1148821", "title": "Instrumento Particular de Emissão de Cotas", "reference_date": "2026-03-27", "version": "1", "page": "1-3", "url": "https://fnet.bmfbovespa.com.br/fnet/publico/visualizarDocumento?id=1148821", "sha256": "86900e9dd498403696bfffbd4196443c83ec4d51ff21135e073c1966e1adf4c0"}], "reference": {"path": "history/62696791000193.json", "criterion_id": "offers", "total_count": 1, "preview_count": 1, "full_text_deferred": true, "sha256": "0e9ec199848320ec945708123ae0cb6075d76c05d94beed814d582031d353926"}}</a:t>
            </a:r>
          </a:p>
          <a:p>
            <a:r>
              <a:t>CNPJ 55563624000109 · Ofertas e colocação · Regulamento · ID 1192614 · 2026-04-30 · versão 1 · p. 25 · 12.9 · https://fnet.bmfbovespa.com.br/fnet/publico/visualizarDocumento?id=1192614</a:t>
            </a:r>
          </a:p>
          <a:p>
            <a:r>
              <a:t>CNPJ 55563624000109 · Ofertas e colocação · Excerto da fonte:</a:t>
            </a:r>
          </a:p>
          <a:p>
            <a:r>
              <a:t>12.9 Inclui-se entre as obrigações do GESTOR, contratar, em nome da Classe, se necessário, com terceiros  devidamente habilitados e autorizados, os serviços de distribuição das Cotas. A distribuição pública das Cotas  deverá ser realizada por distribuidores devidamente autorizados pela CVM, nos termos da regulamentação  aplicável.</a:t>
            </a:r>
          </a:p>
          <a:p>
            <a:r>
              <a:t>CNPJ 55563624000109 · Ofertas e colocação · Condição: Documentos atuais selecionados no inventário por categoria/escopo; a data documental isolada não comprova vigência jurídica.</a:t>
            </a:r>
          </a:p>
          <a:p>
            <a:r>
              <a:t>CNPJ 55563624000109 · Ofertas e colocação · Versão e prevalência: Documentos atuais selecionados no inventário por categoria/escopo; a data documental isolada não comprova vigência jurídica.</a:t>
            </a:r>
          </a:p>
          <a:p>
            <a:r>
              <a:t>CNPJ 55563624000109 · Ofertas e colocação · Resumo do histórico: {"count": 3, "dates": ["2024-07-03"], "document_count": 3, "sources": [{"document_id": "703295", "title": "Anúncio de Início", "reference_date": "2024-07-03", "version": "2", "page": 1, "url": "https://fnet.bmfbovespa.com.br/fnet/publico/visualizarDocumento?id=703295", "sha256": "12322b6dbf75e673723bd60910373db249451b72666792e18e0c7b6128f4608a"}, {"document_id": "702585", "title": "Anúncio de Início", "reference_date": "2024-07-03", "version": "1", "page": 1, "url": "https://fnet.bmfbovespa.com.br/fnet/publico/visualizarDocumento?id=702585", "sha256": "6708609ac7f0611118fb23ffd6d2cd6c7fd33275130407918ea42831baa712cd"}, {"document_id": "691674", "title": "Instrumento Particular de Emissão de Cotas", "reference_date": "2024-07-03", "version": "1", "page": 3, "url": "https://fnet.bmfbovespa.com.br/fnet/publico/visualizarDocumento?id=691674", "sha256": "78bf7b350f1785beae5f43bd209b5ed19e863cb9a2cff01542aac11dd63ca554"}], "reference": {"path": "history/55563624000109.json", "criterion_id": "offers", "total_count": 3, "preview_count": 3, "full_text_deferred": true, "sha256": "7835d573fb58a3c19adf5b8ecc2aee2bdbb9a88f7a0c0209b5f262b64c7522e3"}}</a:t>
            </a:r>
          </a:p>
          <a:p>
            <a:r>
              <a:t>CNPJ 62552447000120 · Ofertas e colocação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Ofertas e colocação · Resumo do histórico: {"count": 1, "dates": ["2025-09-03"], "document_count": 1, "sources": [{"document_id": "988020", "title": "Instrumento Particular de Emissão de Cotas", "reference_date": "2025-09-03", "version": "1", "page": "5-6", "url": "https://fnet.bmfbovespa.com.br/fnet/publico/visualizarDocumento?id=988020", "sha256": "8ecc8a771bb9713d64e5fc2052c489664cb0433801a9280db68e5187d35bf7a5"}], "reference": {"path": "history/62552447000120.json", "criterion_id": "offers", "total_count": 1, "preview_count": 1, "full_text_deferred": true, "sha256": "d95db8c0613d67ee84118c734588665265ea6b02f86a0318d6a844cbe1d0f82f"}}</a:t>
            </a:r>
          </a:p>
          <a:p>
            <a:r>
              <a:t>CNPJ 63953620000165 · Ofertas e colocação · Anexo ao Regulamento · ID 1222863 · 2026-06-02 · versão 1 · p. 10 · 6.9 · https://fnet.bmfbovespa.com.br/fnet/publico/visualizarDocumento?id=1222863</a:t>
            </a:r>
          </a:p>
          <a:p>
            <a:r>
              <a:t>CNPJ 63953620000165 · Ofertas e colocação · Excerto da fonte:</a:t>
            </a:r>
          </a:p>
          <a:p>
            <a:r>
              <a:t>6.9 As Cotas poderão ser objeto de oferta pública a ser realizada nos termos da Resolução CVM 160 (“Oferta”) e/ou  poderão ser colocadas de forma privada (“Colocação Privada”), bem como segundo outros ritos que venham a  ser previstos pela regulamentação. As Cotas deverão ser emitidas e subscritas dentro do prazo e nos termos e  condições da legislação aplicável, do presente Anexo e dos respectivos Boletins de Subscrição e/ou  Compromissos de Investimento.</a:t>
            </a:r>
          </a:p>
          <a:p>
            <a:r>
              <a:t>CNPJ 63953620000165 · Ofertas e colocação · Condição: Documentos atuais selecionados no inventário por categoria/escopo; a data documental isolada não comprova vigência jurídica.</a:t>
            </a:r>
          </a:p>
          <a:p>
            <a:r>
              <a:t>CNPJ 63953620000165 · Ofertas e colocação · Versão e prevalência: Documentos atuais selecionados no inventário por categoria/escopo; a data documental isolada não comprova vigência jurídica.</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Emissões e custos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Remuneração por subclasse e série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Remuneração por subclasse e série · Resumo do histórico: {"count": 1, "dates": ["2024-04-28"], "document_count": 1, "sources": [{"document_id": "670691", "title": "Regulamento", "reference_date": "2024-04-28", "version": "1", "page": "14", "url": "https://fnet.bmfbovespa.com.br/fnet/publico/visualizarDocumento?id=670691", "sha256": "bf16dd7f1a62d5cdbf2e2d54fef81783783f7310fbc99c3a8f00459bdf9d037b"}], "reference": {"path": "history/54871427000194.json", "criterion_id": "remuneration", "total_count": 1, "preview_count": 1, "full_text_deferred": true, "sha256": "35d7cd99be50c7287c9fb675cf4f2e736002315295a225a9efa79c8d9186d874"}}</a:t>
            </a:r>
          </a:p>
          <a:p>
            <a:r>
              <a:t>CNPJ 60010416000112 · Remuneração por subclasse e série · Instrumento Particular de Constituição/Encerramento do Fundo · ID 993785 · 20/03/2025 · versão 1ªemissão20/03/2025 · p. 5 · Suplemento1ªsênior BenchmarkSênior · https://fnet.bmfbovespa.com.br/fnet/publico/visualizarDocumento?id=993785</a:t>
            </a:r>
          </a:p>
          <a:p>
            <a:r>
              <a:t>CNPJ 60010416000112 · Remuneração por subclasse e série · Excerto da fonte:</a:t>
            </a:r>
          </a:p>
          <a:p>
            <a:r>
              <a:t>4,80% (quatro inteiros e oitenta centésimos por cento)calculado por Dia Útil à base de 1/252 (um inteiro e duzentos e cinquenta e dois avos); e (ii) “Benchmark Sênior Adicional”: o parâmetro adicional de rentabilidade a ser buscado pela Classe para remunerar as Cotas Seniores, correspondente 15,00% (quinze por cento) do excesso de spread das Cotas Subordinadas com cap de remuneração total das Cotas Seniores pela variação do CDI acrescido de 6,00% (seis por cento</a:t>
            </a:r>
          </a:p>
          <a:p>
            <a:r>
              <a:t>CNPJ 60010416000112 · Remuneração por subclasse e série · Condição: Termo específico da primeira emissão de 20/03/2025, distinto de taxa deperformance e do suplemento modelo com campos não preenchidos do regulamento.</a:t>
            </a:r>
          </a:p>
          <a:p>
            <a:r>
              <a:t>CNPJ 60010416000112 · Remuneração por subclasse e série · Versão e prevalência: Leitura específica das cláusulas indicadas; condições e conflitos preservados. Seleção documental atual não comprova vigência jurídica por data isolada.</a:t>
            </a:r>
          </a:p>
          <a:p>
            <a:r>
              <a:t>CNPJ 60010416000112 · Remuneração por subclasse e série · Resumo do histórico: {"count": 3, "dates": ["2025-03-20", "2025-05-12"], "document_count": 2, "sources": [{"document_id": "1004656", "title": "AGE", "reference_date": "2025-05-12", "version": "1", "page": 5, "url": "https://fnet.bmfbovespa.com.br/fnet/publico/visualizarDocumento?id=1004656", "sha256": "f6c9c009f6170e2b29f074b98522accec73f0c40efbf11f9ec2c8d3f1402616b"}, {"document_id": "993785", "title": "Instrumento Particular de Constituição/Encerramento do Fundo", "reference_date": "2025-03-20", "version": "1", "page": "4-5", "url": "https://fnet.bmfbovespa.com.br/fnet/publico/visualizarDocumento?id=993785", "sha256": "0826e0eae2c51afabf59bbc49fc7647598d03da5ca6de0f9725850a8bd6af457"}, {"document_id": "993785", "title": "Instrumento Particular de Constituição/Encerramento do Fundo", "reference_date": "2025-03-20", "version": "1", "page": 5, "url": "https://fnet.bmfbovespa.com.br/fnet/publico/visualizarDocumento?id=993785", "sha256": "0826e0eae2c51afabf59bbc49fc7647598d03da5ca6de0f9725850a8bd6af457"}], "reference": {"path": "history/60010416000112.json", "criterion_id": "remuneration", "total_count": 3, "preview_count": 3, "full_text_deferred": true, "sha256": "8e2bd813f4c51cf01f6bfaad164bafe69d2bbb192f753eac92da3a01c2e63046"}}</a:t>
            </a:r>
          </a:p>
          <a:p>
            <a:r>
              <a:t>CNPJ 62696791000193 · Remuneração por subclasse e série · Regulamento · ID 1143317 · 20/03/2026 · versão Regulamento — referência 20/03/2026 · p. 33 · Apêndice Sênior, 1.2 e 1.4 · https://fnet.bmfbovespa.com.br/fnet/publico/visualizarDocumento?id=1143317</a:t>
            </a:r>
          </a:p>
          <a:p>
            <a:r>
              <a:t>CNPJ 62696791000193 · Remuneração por subclasse e série · Excerto da fonte:</a:t>
            </a:r>
          </a:p>
          <a:p>
            <a:r>
              <a:t>1.2. As Cotas Seniores poderão ser divididas em séries com valores e prazos diferenciados para amortização, resgate e remuneração, sendo que cada série terá as mesmas características e conf erirá a seus titulares iguais direitos e obrigações nos termos deste Reg ulamento e do Apêndice ref erente a cada emissão/série de Cotas Seniores. 1.2. Benchmark. A Classe buscará atingir, para as Cotas Seniores, o “Benchmark”, correspondente à 100% (cem por cento) da variação positiva do CDI acrescida de 4,5% (quatro inteiros e cinco décimos por cento) ao ano. 1.3. O Benchmark não representa e nem devem ser considerados uma promessa, garantia ou sugestão de rentabilidade aos Cotistas Seniores, por parte da Classe, do Administrador, do Gestor e/ou do Cedente. 1.4. Independentemente do valor do Patrimônio Líquido da Classe, os Cotistas detentores de Cotas Seniores não f arão jus a uma rentabilidade superior ao Benchmark, o qual representará o limite máximo de remuneração possível para as Cotas Seniores. 2. Emissão, Subscrição e Integralização das Cotas 2.1. A Classe poderá emitir múltiplas Séries de Cotas Seniores, ficando ressalvado, no entanto, que cada nova Série de Cotas Seniores a ser emitida pela Classe</a:t>
            </a:r>
          </a:p>
          <a:p>
            <a:r>
              <a:t>CNPJ 62696791000193 · Remuneração por subclasse e série · Regulamento · ID 1143317 · 20/03/2026 · versão Regulamento — referência 20/03/2026 · p. 34 · Apêndice Sênior, 6.2 · https://fnet.bmfbovespa.com.br/fnet/publico/visualizarDocumento?id=1143317</a:t>
            </a:r>
          </a:p>
          <a:p>
            <a:r>
              <a:t>CNPJ 62696791000193 · Remuneração por subclasse e série · Excerto da fonte:</a:t>
            </a:r>
          </a:p>
          <a:p>
            <a:r>
              <a:t>6.2. Em complemento às Amortizações Programadas de Cotas Seniores, os Cotistas Seniores f arão jus, sempre que o Patrimônio Líquido da Classe assim permita e desde que o Valor Unitário das Cotas Seniores esteja superior ao valor de integralização das Cotas Seniores em circulação, a 50% (cinquenta por cento) de qualquer valor que exceder a Amortização das Cotas Subordinadas, conforme prevista no Apêndice da Subclasse Subordinada, a ser paga na Data de Amortização Programada de Cotas Seniores (“Amortização Extraordinária de Cotas Seniores”). 6.3. Os pagamentos das parcelas de Amortização e/ou de resgate das Cotas Seniores serão ef etuados, em moeda corrente nacional, pelo Valor Unitário das Cotas Seniores no dia do pagamento, calculado na forma descrita neste Apêndice e no Anexo I, por meio de depósito em conta de titularidade dos Cotistas titulares BTG Pactual 2 SAC: 0800 772 28 27 - Ouvidoria: 0800 722 00 48 - btgpactual.com</a:t>
            </a:r>
          </a:p>
          <a:p>
            <a:r>
              <a:t>CNPJ 62696791000193 · Remuneração por subclasse e série · Regulamento · ID 1143317 · 20/03/2026 · versão Regulamento — referência 20/03/2026 · p. 37 · Apêndice Júnior, 4.1–4.2 · https://fnet.bmfbovespa.com.br/fnet/publico/visualizarDocumento?id=1143317</a:t>
            </a:r>
          </a:p>
          <a:p>
            <a:r>
              <a:t>CNPJ 62696791000193 · Remuneração por subclasse e série · Excerto da fonte:</a:t>
            </a:r>
          </a:p>
          <a:p>
            <a:r>
              <a:t>4.1. Caso o Patrimônio Líquido da Classe assim permita, as Cotas Subordinadas f arão jus à amortização semestral, no último Dia Útil dos meses de janeiro e julho de cada ano, de valor equivalente ao excedente do valor de integralização das Cotas Subordinadas em circulação, limitado ao percentual de 100% (cem por cento) da variação positiva do CDI acrescida de 4,50% (quatro inteiros e cinco décimos por cento) ao ano, considerando, para tanto a razão entre (i) o valor de integralização das Cotas Subordinadas Júnior em circulação e (ii) o valor de cada uma das Cotas Subordinadas, a ser paga na Data de Amortização Programada de Cotas Seniores (“Amortização das Cotas Subordinadas”). 4.2. Em complemento às Amortizações das Cotas Subordinadas, os Cotistas Subordinados farão jus, sempre que o Patrimônio Líquido da Classe assim permita e desde que o Valor Unitário das Cotas Subordinadas esteja superior ao valor de integralização das Cotas Subordinadas em circulação, a 50% (cinquenta por cento) de qualquer valor que exceder a Amortização das Cotas Subordinadas, a ser paga na Data de Amortização Programada de Cotas Seniores (“Amortização Extraordinária de Cotas Seniores”). 5. Excesso de Subordinação 5.1. Verif icado excesso de subordinação,</a:t>
            </a:r>
          </a:p>
          <a:p>
            <a:r>
              <a:t>CNPJ 62696791000193 · Remuneração por subclasse e série · Condição: Benchmark é regra de atribuição, condicionado ao PL/resultados, sem garantia de rentabilidade. A subclasse mezanino é autorizada, mas não há apêndice mezanino no PDF consolidado obtido.</a:t>
            </a:r>
          </a:p>
          <a:p>
            <a:r>
              <a:t>CNPJ 62696791000193 · Remuneração por subclasse e série · Versão e prevalência: Leitura específica das cláusulas indicadas; condições e conflitos preservados. Seleção documental atual não comprova vigência jurídica por data isolada.</a:t>
            </a:r>
          </a:p>
          <a:p>
            <a:r>
              <a:t>CNPJ 62696791000193 · Remuneração por subclasse e série · Resumo do histórico: {"count": 1, "dates": ["2026-03-27"], "document_count": 1, "sources": [{"document_id": "1148821", "title": "Instrumento Particular de Emissão de Cotas", "reference_date": "2026-03-27", "version": "1", "page": "1-2", "url": "https://fnet.bmfbovespa.com.br/fnet/publico/visualizarDocumento?id=1148821", "sha256": "86900e9dd498403696bfffbd4196443c83ec4d51ff21135e073c1966e1adf4c0"}], "reference": {"path": "history/62696791000193.json", "criterion_id": "remuneration", "total_count": 1, "preview_count": 1, "full_text_deferred": true, "sha256": "0e9ec199848320ec945708123ae0cb6075d76c05d94beed814d582031d353926"}}</a:t>
            </a:r>
          </a:p>
          <a:p>
            <a:r>
              <a:t>CNPJ 55563624000109 · Remuneração por subclasse e série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Remuneração por subclasse e série · Resumo do histórico: {"count": 1, "dates": ["2026-04-30"], "document_count": 1, "sources": [{"document_id": "1192614", "title": "Regulamento", "reference_date": "2026-04-30", "version": "1", "page": "16-17", "url": "https://fnet.bmfbovespa.com.br/fnet/publico/visualizarDocumento?id=1192614", "sha256": "f56e63ace0acde41d2f47fb48f1ac7f3f7df5e2d32de092d7c5e075a52516632"}], "reference": {"path": "history/55563624000109.json", "criterion_id": "remuneration", "total_count": 1, "preview_count": 1, "full_text_deferred": true, "sha256": "7835d573fb58a3c19adf5b8ecc2aee2bdbb9a88f7a0c0209b5f262b64c7522e3"}}</a:t>
            </a:r>
          </a:p>
          <a:p>
            <a:r>
              <a:t>CNPJ 62552447000120 · Remuneração por subclasse e série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Remuneração por subclasse e série · Resumo do histórico: {"count": 1, "dates": ["2025-09-03"], "document_count": 1, "sources": [{"document_id": "988020", "title": "Instrumento Particular de Emissão de Cotas", "reference_date": "2025-09-03", "version": "1", "page": "5-6", "url": "https://fnet.bmfbovespa.com.br/fnet/publico/visualizarDocumento?id=988020", "sha256": "8ecc8a771bb9713d64e5fc2052c489664cb0433801a9280db68e5187d35bf7a5"}], "reference": {"path": "history/62552447000120.json", "criterion_id": "remuneration", "total_count": 1, "preview_count": 1, "full_text_deferred": true, "sha256": "d95db8c0613d67ee84118c734588665265ea6b02f86a0318d6a844cbe1d0f82f"}}</a:t>
            </a:r>
          </a:p>
          <a:p>
            <a:r>
              <a:t>CNPJ 63953620000165 · Remuneração por subclasse e série · Anexo ao Regulamento · ID 1222863 · 2026-06-02 · versão 1 · p. 22 · 1.2 · https://fnet.bmfbovespa.com.br/fnet/publico/visualizarDocumento?id=1222863</a:t>
            </a:r>
          </a:p>
          <a:p>
            <a:r>
              <a:t>CNPJ 63953620000165 · Remuneração por subclasse e série · Excerto da fonte:</a:t>
            </a:r>
          </a:p>
          <a:p>
            <a:r>
              <a:t>1.2. Benchmark Sênior. A Classe buscará atingir, para as Cotas Seniores, o Benchmark Sênior, qual seja, (a) para a parcela  do Patrimônio Líquido alocado em Direitos Creditórios Consignado Privado e/ou Ativos de Liquidez MT, a variação  positiva do CDI acrescida de 1,50% (um inteiro e cinco décimos por cento) ao ano, (b) para a parcela do Patrimônio  Líquido alocado em Ativos de Liquidez e/ou Direitos Creditórios TVM, a variação positiva do CDI.</a:t>
            </a:r>
          </a:p>
          <a:p>
            <a:r>
              <a:t>CNPJ 63953620000165 · Remuneração por subclasse e série · Anexo ao Regulamento · ID 1222863 · 2026-06-02 · versão 1 · p. 22 · 1.5 · https://fnet.bmfbovespa.com.br/fnet/publico/visualizarDocumento?id=1222863</a:t>
            </a:r>
          </a:p>
          <a:p>
            <a:r>
              <a:t>CNPJ 63953620000165 · Remuneração por subclasse e série · Excerto da fonte:</a:t>
            </a:r>
          </a:p>
          <a:p>
            <a:r>
              <a:t>1.5. Rentabilidade Adicional Sênior. Adicionalmente ao Benchmark Sênior, as Cotas Seniores efetivamente integralizadas  farão jus a uma rentabilidade adicional equivalente a 0,38% (trinta e oito centésimos por cento) incidente sobre o  montante financeiro integralizado pelo respectivo Cotista das Cotas Seniores (“Rentabilidade Adicional Sênior”), a  ser paga a cada Cotista Sênior, em uma única parcela, em até 40 (quarenta) dias corridos após a integralização das  respectivas Cotas Seniores, sendo automaticamente ajustada em caso de alteração da alíquota ou da forma de  incidência do IOF, e deixando de ser devida na hipótese de sua extinção.</a:t>
            </a:r>
          </a:p>
          <a:p>
            <a:r>
              <a:t> 2. Emissão, Subscrição e Integralização das Cotas</a:t>
            </a:r>
          </a:p>
          <a:p>
            <a:r>
              <a:t>CNPJ 63953620000165 · Remuneração por subclasse e série · Condição: Documentos atuais selecionados no inventário por categoria/escopo; a data documental isolada não comprova vigência jurídica.</a:t>
            </a:r>
          </a:p>
          <a:p>
            <a:r>
              <a:t>CNPJ 63953620000165 · Remuneração por subclasse e série · Versão e prevalência: Documentos atuais selecionados no inventário por categoria/escopo; a data documental isolada não comprova vigência jurídica.</a:t>
            </a:r>
          </a:p>
          <a:p>
            <a:r>
              <a:t>CNPJ 54871427000194 · Volume, VNU e emissão · Anúncio de Encerramento · ID 798101 · 2024-12-10 · versão 1 · p. 1 · https://fnet.bmfbovespa.com.br/fnet/publico/visualizarDocumento?id=798101</a:t>
            </a:r>
          </a:p>
          <a:p>
            <a:r>
              <a:t>CNPJ 54871427000194 · Volume, VNU e emissão · Excerto da fonte:</a:t>
            </a:r>
          </a:p>
          <a:p>
            <a:r>
              <a:t>Informações da Oferta  Valor Bruto da 2ª Quantidade de Cotas  Preço de Emissão da Cota  Emissão emitidas  R$ 55.000.000,00 55.000 R$ 1.000,00</a:t>
            </a:r>
          </a:p>
          <a:p>
            <a:r>
              <a:t>CNPJ 54871427000194 · Volume, VNU e emissão · Condição: Trechos do documento específico identificado com data mais recente; vigência jurídica não inferida.</a:t>
            </a:r>
          </a:p>
          <a:p>
            <a:r>
              <a:t>CNPJ 54871427000194 · Volume, VNU e emissão · Versão e prevalência: Trechos do documento específico identificado com data mais recente; vigência jurídica não inferida.</a:t>
            </a:r>
          </a:p>
          <a:p>
            <a:r>
              <a:t>CNPJ 54871427000194 · Volume, VNU e emissão · Resumo do histórico: {"count": 5, "dates": ["2024-06-11", "2024-06-13", "2024-12-10"], "document_count": 3, "sources": [{"document_id": "798101", "title": "Anúncio de Encerramento", "reference_date": "2024-12-10", "version": "1", "page": "1-2", "url": "https://fnet.bmfbovespa.com.br/fnet/publico/visualizarDocumento?id=798101", "sha256": "71618c432ad86002484571d66922b873e4fa91ed3543a109134ddee0bd872f20"}, {"document_id": "683482", "title": "AGE", "reference_date": "2024-06-13", "version": "1", "page": 1, "clause": "4.1", "url": "https://fnet.bmfbovespa.com.br/fnet/publico/visualizarDocumento?id=683482", "sha256": "3afbe254027691929935eaf19ebbb8634fb2ccd8e2fbea2cb2d81a7818f8d648"}, {"document_id": "677544", "title": "Anúncio de Encerramento", "reference_date": "2024-06-11", "version": "1", "page": 1, "url": "https://fnet.bmfbovespa.com.br/fnet/publico/visualizarDocumento?id=677544", "sha256": "5735adc30829e0e91623167d4fd602de01adb236e3d3e758bddb0a375c7067b1"}], "reference": {"path": "history/54871427000194.json", "criterion_id": "issue_volume", "total_count": 5, "preview_count": 3, "full_text_deferred": true, "sha256": "35d7cd99be50c7287c9fb675cf4f2e736002315295a225a9efa79c8d9186d874"}}</a:t>
            </a:r>
          </a:p>
          <a:p>
            <a:r>
              <a:t>CNPJ 60010416000112 · Volume, VNU e emissão · AGE · ID 1049114 · 2025-11-26 · versão 1 · p. 2 · https://fnet.bmfbovespa.com.br/fnet/publico/visualizarDocumento?id=1049114</a:t>
            </a:r>
          </a:p>
          <a:p>
            <a:r>
              <a:t>CNPJ 60010416000112 · Volume, VNU e emissão · Excerto da fonte:</a:t>
            </a:r>
          </a:p>
          <a:p>
            <a:r>
              <a:t>Este instrumento constitui o suplemento nº 3 (“Suplemento”) referente à 1ª emissão de cotas da Série B  da Subclasse Sênior da CLASSE ÚNICA DO MT CONSIGNADO PRIVADO I FUNDO DE  INVESTIMENTO EM DIREITOS CREDITÓRIOS RESPONSABILIDADE LIMITADA (“Classe” e  “FUNDO”, respectivamente), administrado pela BTG Pactual Serviços Financeiros S.A. Distribuidora  de Títulos e Valores Mobiliários, instituição com sede no Município do Rio de Janeiro, Estado do Rio de  Janeiro, na Praia de Botafogo, nº 501, 5º andar – parte, inscrita no CNPJ sob o nº 59.281.253/0001-23,  autorizada a funcionar pelo Banco Central do Brasil e autorizada pela Comissão de Valores Mobiliários  (“CVM”) para a atividade de administração de carteiras de valores mobiliários, de acordo com o Ato  Declaratório nº 8.695, de 20 de março de 2006 (“ADMINISTRADOR”), emitidas nos termos do regulamento  do FUNDO, do anexo descritivo da Classe do respectivo apêndice, devidamente registrado perante a CVM  (“Regulamento”, “Anexo da Classe”, “Apêndice” e “Cotas Seniores” respectivamente), a qual terá as  seguintes características:</a:t>
            </a:r>
          </a:p>
          <a:p>
            <a:r>
              <a:t> Número de Emissão, Valor São emitidas no âmbito da 1ª emissão da 3ª Série de Cotas Seniores da  Total da Emissão e Forma Classe, de 2,000,000 (dois milhões) de Cotas da 3ª Série da Subclasse  de Distribuição Sênior da Classe, com valor nominal unitário de R$ 1.000,00 (mil reais)  cada, totalizando o montante de R$ 2.000.000.000,00 (dois bilhões de  reais), as quais serão objeto de colocação privada, destinada ao Público-  Alvo (conforme definido no Anexo da Classe) (“Colocação Privada”).</a:t>
            </a:r>
          </a:p>
          <a:p>
            <a:r>
              <a:t> Valor Unitário de Emissão As Cotas Seniores da 3ª Série terão um valor unitário de R$ 1.000,00 (mil  reais) na respectiva Data de Emissão.</a:t>
            </a:r>
          </a:p>
          <a:p>
            <a:r>
              <a:t> Data de Emissão Data da 1ª Integralização.</a:t>
            </a:r>
          </a:p>
          <a:p>
            <a:r>
              <a:t> Valor Unitário de As Cotas Seniores da 3ª Série serão subscritas pelo Valor Unitário de  Integralização Emissão, e serão integralizadas pelo respectivo Valor Unitário, nos  termos do Regulamento, do Apêndice e deste Suplemento, sendo certo  que, nas emissões de novas Cotas Seniores da 3ª Série que não difiram,  em sua respectiva Subclasse, das Cotas Seniores da 3ª Série então em  circulação, o Valor Unitário de Integralização corresponderá ao Valor  Unitário da Cota apurado no Dia Útil em que os recursos aportados pelo  Cotista tornem-se efetivamente disponíveis à Classe.</a:t>
            </a:r>
          </a:p>
          <a:p>
            <a:r>
              <a:t> Investimento Mínimo por Não há  Investidor  Forma de Subscrição e As Cotas Seniores da 3ª Série deverão ser integralizadas, à vista, em  Integralização moeda corrente nacional, pelo Valor Unitário de Integralização, no ato de  subscrição.</a:t>
            </a:r>
          </a:p>
          <a:p>
            <a:r>
              <a:t> Ao subscrever Cotas Seniores da 3ª Série, cada Investidor deverá  assinar o Termo de Adesão, no qual confirmará, dentre outros, ter  conhecimento de todos os termos e condições do Fundo e do</a:t>
            </a:r>
          </a:p>
          <a:p>
            <a:r>
              <a:t>CNPJ 60010416000112 · Volume, VNU e emissão · Condição: Trechos do documento específico identificado com data mais recente; vigência jurídica não inferida.</a:t>
            </a:r>
          </a:p>
          <a:p>
            <a:r>
              <a:t>CNPJ 60010416000112 · Volume, VNU e emissão · Motivo: Cláusula primária localizada e citada, mas sua lista/condições extensas não admitem uma síntese literal curta confirmada. O trecho integral permanece nas fontes. A resposta da revisão anterior foi preservada no histórico, sem confirmação pelo documento atual.</a:t>
            </a:r>
          </a:p>
          <a:p>
            <a:r>
              <a:t>CNPJ 60010416000112 · Volume, VNU e emissão · Versão e prevalência: Trechos do documento específico identificado com data mais recente; vigência jurídica não inferida.</a:t>
            </a:r>
          </a:p>
          <a:p>
            <a:r>
              <a:t>CNPJ 60010416000112 · Volume, VNU e emissão · Resumo do histórico: {"count": 3, "dates": ["2025-03-20", "2025-05-12"], "document_count": 2, "sources": [{"document_id": "1004656", "title": "AGE", "reference_date": "2025-05-12", "version": "1", "page": 4, "url": "https://fnet.bmfbovespa.com.br/fnet/publico/visualizarDocumento?id=1004656", "sha256": "f6c9c009f6170e2b29f074b98522accec73f0c40efbf11f9ec2c8d3f1402616b"}, {"document_id": "993785", "title": "Instrumento Particular de Constituição/Encerramento do Fundo", "reference_date": "2025-03-20", "version": "1", "page": "2", "url": "https://fnet.bmfbovespa.com.br/fnet/publico/visualizarDocumento?id=993785", "sha256": "0826e0eae2c51afabf59bbc49fc7647598d03da5ca6de0f9725850a8bd6af457"}, {"document_id": "993785", "title": "Instrumento Particular de Constituição/Encerramento do Fundo", "reference_date": "2025-03-20", "version": "1", "page": 2, "url": "https://fnet.bmfbovespa.com.br/fnet/publico/visualizarDocumento?id=993785", "sha256": "0826e0eae2c51afabf59bbc49fc7647598d03da5ca6de0f9725850a8bd6af457"}], "reference": {"path": "history/60010416000112.json", "criterion_id": "issue_volume", "total_count": 3, "preview_count": 3, "full_text_deferred": true, "sha256": "8e2bd813f4c51cf01f6bfaad164bafe69d2bbb192f753eac92da3a01c2e63046"}}</a:t>
            </a:r>
          </a:p>
          <a:p>
            <a:r>
              <a:t>CNPJ 62696791000193 · Volume, VNU e emissão · Instrumento Particular de Emissão de Cotas · ID 1148821 · 27/03/2026 · versão Instrumento Particular de Emissão de Cotas — referência 27/03/2026 · p. 1 · Deliberação Conjunta, item1 · https://fnet.bmfbovespa.com.br/fnet/publico/visualizarDocumento?id=1148821</a:t>
            </a:r>
          </a:p>
          <a:p>
            <a:r>
              <a:t>CNPJ 62696791000193 · Volume, VNU e emissão · Excerto da fonte:</a:t>
            </a:r>
          </a:p>
          <a:p>
            <a:r>
              <a:t>1. Aprovar a 2ª (segunda) emissão da Subclasse Subordinada Júnior da Classe, composta por até 20.000 (vinte mil) Cotas Subordinadas Júnior, com valor nominal unitário de R$ 1.000,00 (mil reais), perfazendo o montante total de R$ 20.000.000,00 (vinte milhões de reais), as quais serão objeto de colocação privada, de acordo com os termos e condições definidos no Apêndice da Subclasse Subordinada Júnior constante do Anexo I Regulamento e descritas abaixo (“2ª Emissão da Subclasse Subordinada Júnior”): a) Rito: as Cotas Subordinadas Júnior objeto da 2ª Emissão da Subclasse Subordinada Júnior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Subordinada Júnior na data de integralização, calculado na forma prevista no respectivo Apêndice; BTG Pactual 1 SAC: 0800 772 28 27 - Ouvidoria: 0800 722 00 48 - btgpactual.com</a:t>
            </a:r>
          </a:p>
          <a:p>
            <a:r>
              <a:t>CNPJ 62696791000193 · Volume, VNU e emissão · Instrumento Particular de Emissão de Cotas · ID 1148821 · 27/03/2026 · versão Instrumento Particular de Emissão de Cotas — referência 27/03/2026 · p. 2 · Deliberação Conjunta, item2 · https://fnet.bmfbovespa.com.br/fnet/publico/visualizarDocumento?id=1148821</a:t>
            </a:r>
          </a:p>
          <a:p>
            <a:r>
              <a:t>CNPJ 62696791000193 · Volume, VNU e emissão · Excerto da fonte:</a:t>
            </a:r>
          </a:p>
          <a:p>
            <a:r>
              <a:t>2. Aprovar a 2ª (segunda) emissão da Subclasse Sênior da Classe, composta por até 150.000 (cento e cinquenta mil) Cotas Seniores, com valor nominal unitário de R$ 1.000,00 (mil reais), perfazendo o montante total de R$ 150.000.000,00 (cento e cinquenta milhões de reais), as quais serão objeto de colocação privada, de acordo com os termos e condições descritos no Apêndice da Subclasse Sênior constante do Anexo I Regulamento e descritas abaixo (“2ª Emissão da Subclasse Sênior”): a) Rito: as Cotas Seniores objeto da 2ª Emissão da Subclasse Sênior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Sênior na data de integralização, calculado na forma prevista no respectivo Apêndice; d) Forma de Integralização: as Cotas Seniores serão integralizadas mediante chamadas de capital, junto ao seu respectivo agente de custódia e/ou da Administradora na qualidade de escriturador das cotas, nos termos d</a:t>
            </a:r>
          </a:p>
          <a:p>
            <a:r>
              <a:t>CNPJ 62696791000193 · Volume, VNU e emissão · Condição: Volumes autorizados de emissão não comprovam captação ou integralização observada.</a:t>
            </a:r>
          </a:p>
          <a:p>
            <a:r>
              <a:t>CNPJ 62696791000193 · Volume, VNU e emissão · Versão e prevalência: Leitura específica das cláusulas indicadas; condições e conflitos preservados. Seleção documental atual não comprova vigência jurídica por data isolada.</a:t>
            </a:r>
          </a:p>
          <a:p>
            <a:r>
              <a:t>CNPJ 62696791000193 · Volume, VNU e emissão · Resumo do histórico: {"count": 2, "dates": ["2026-03-20", "2026-03-27"], "document_count": 2, "sources": [{"document_id": "1148821", "title": "Instrumento Particular de Emissão de Cotas", "reference_date": "2026-03-27", "version": "1", "page": "1-2", "url": "https://fnet.bmfbovespa.com.br/fnet/publico/visualizarDocumento?id=1148821", "sha256": "86900e9dd498403696bfffbd4196443c83ec4d51ff21135e073c1966e1adf4c0"}, {"document_id": "1143317", "title": "Regulamento", "reference_date": "2026-03-20", "version": "1", "page": 23, "clause": "11.3", "url": "https://fnet.bmfbovespa.com.br/fnet/publico/visualizarDocumento?id=1143317", "sha256": "32f62818d51c3ebeaf9ec012d3d7867f15c1aed6d10f0867c157a290df1cea48"}], "reference": {"path": "history/62696791000193.json", "criterion_id": "issue_volume", "total_count": 2, "preview_count": 2, "full_text_deferred": true, "sha256": "0e9ec199848320ec945708123ae0cb6075d76c05d94beed814d582031d353926"}}</a:t>
            </a:r>
          </a:p>
          <a:p>
            <a:r>
              <a:t>CNPJ 55563624000109 · Volume, VNU e emissão · Regulamento · ID 1192614 · 2026-04-30 · versão 1 · p. 17 · 5.13.2 · https://fnet.bmfbovespa.com.br/fnet/publico/visualizarDocumento?id=1192614</a:t>
            </a:r>
          </a:p>
          <a:p>
            <a:r>
              <a:t>CNPJ 55563624000109 · Volume, VNU e emissão · Excerto da fonte:</a:t>
            </a:r>
          </a:p>
          <a:p>
            <a:r>
              <a:t>5.13.2 Caso um Cotista do Fundo pretenda transferir suas Cotas para terceiros (“Cotista Vendedor”), deverá  notificar previamente o GESTOR, via e-mail, manifestando sua proposta de alienação de Cotas, a qual  deve incluir o interessado na aquisição e a quantidade de Cotas a serem alienadas e o preço para tal  alienação (“Proposta de Venda”). O GESTOR deverá manifestar aprovação para alienação das Cotas  objeto da Proposta de Venda (“Cotas Objeto”) em até 5 (cinco) Dias Úteis, observado que a ausência de  aprovação deverá ser entendida como aprovação tácita à alienação das Cotas Objeto.</a:t>
            </a:r>
          </a:p>
          <a:p>
            <a:r>
              <a:t>CNPJ 55563624000109 · Volume, VNU e emissão · Regulamento · ID 1192614 · 2026-04-30 · versão 1 · p. 39 · https://fnet.bmfbovespa.com.br/fnet/publico/visualizarDocumento?id=1192614</a:t>
            </a:r>
          </a:p>
          <a:p>
            <a:r>
              <a:t>CNPJ 55563624000109 · Volume, VNU e emissão · Excerto da fonte:</a:t>
            </a:r>
          </a:p>
          <a:p>
            <a:r>
              <a:t>(xxi) Ausência de propriedade direta dos ativos. Os direitos dos Cotistas serão exercidos sobre  todos os ativos da Carteira de modo não individualizado, proporcionalmente à quantidade de Cotas  detidas por cada um. Portanto, os Cotistas não terão qualquer direito de propriedade direta sobre as  Cotas da Classe Investida e os Ativos Financeiros de Liquidez integrantes da Carteira, ou mesmo sobre  os direitos creditórios e os ativos financeiros de liquidez integrantes da carteira da Classe Investida.</a:t>
            </a:r>
          </a:p>
          <a:p>
            <a:r>
              <a:t>CNPJ 55563624000109 · Volume, VNU e emissão · Condição: Documentos atuais selecionados no inventário por categoria/escopo; a data documental isolada não comprova vigência jurídica.</a:t>
            </a:r>
          </a:p>
          <a:p>
            <a:r>
              <a:t>CNPJ 55563624000109 · Volume, VNU e emissão · Versão e prevalência: Documentos atuais selecionados no inventário por categoria/escopo; a data documental isolada não comprova vigência jurídica.</a:t>
            </a:r>
          </a:p>
          <a:p>
            <a:r>
              <a:t>CNPJ 55563624000109 · Volume, VNU e emissão · Resumo do histórico: {"count": 3, "dates": ["2024-12-30", "2025-01-31", "2026-01-31"], "document_count": 3, "sources": [{"document_id": "1178840", "title": "Demonstrações Financeiras", "reference_date": "2026-01-31", "version": "1", "page": 25, "url": "https://fnet.bmfbovespa.com.br/fnet/publico/visualizarDocumento?id=1178840", "sha256": "c458e98664c5c907ddb5a05a94b120bed4e05295b2bfc420f5ba69af0a229abe"}, {"document_id": "891861", "title": "Demonstrações Financeiras", "reference_date": "2025-01-31", "version": "1", "page": 26, "url": "https://fnet.bmfbovespa.com.br/fnet/publico/visualizarDocumento?id=891861", "sha256": "e9cb9e6ddbe505fe068cfcac33605165a98313489de0d3ce6d4d238263c3f3e7"}, {"document_id": "811323", "title": "Anúncio de Encerramento", "reference_date": "2024-12-30", "version": "1", "page": 1, "url": "https://fnet.bmfbovespa.com.br/fnet/publico/visualizarDocumento?id=811323", "sha256": "ebc6bc661be5189acffb3c3e352de2aea0a8ca8431011d1237e1ae19da4f9c79"}], "reference": {"path": "history/55563624000109.json", "criterion_id": "issue_volume", "total_count": 3, "preview_count": 3, "full_text_deferred": true, "sha256": "7835d573fb58a3c19adf5b8ecc2aee2bdbb9a88f7a0c0209b5f262b64c7522e3"}}</a:t>
            </a:r>
          </a:p>
          <a:p>
            <a:r>
              <a:t>CNPJ 62552447000120 · Volume, VNU e emissão · AGE · ID 1315103 · 2026-09-08 · versão 1 · p. 1 · https://fnet.bmfbovespa.com.br/fnet/publico/visualizarDocumento?id=1315103</a:t>
            </a:r>
          </a:p>
          <a:p>
            <a:r>
              <a:t>CNPJ 62552447000120 · Volume, VNU e emissão · Excerto da fonte:</a:t>
            </a:r>
          </a:p>
          <a:p>
            <a:r>
              <a:t>a) Rito: as cotas objeto da Segunda Emissão não estão sujeitas a regulamentação  de oferta de valores mobiliários, conforme facultado pelo Art. 8º, inciso II, da  Resolução CVM nº 160, de 13 de julho de 2022;</a:t>
            </a:r>
          </a:p>
          <a:p>
            <a:r>
              <a:t> b) Preço de Emissão: R$ 1.000,00 (mil reais);</a:t>
            </a:r>
          </a:p>
          <a:p>
            <a:r>
              <a:t> c) Quantidade de Cotas: 10.000 (dez mil) Cotas;</a:t>
            </a:r>
          </a:p>
          <a:p>
            <a:r>
              <a:t> d) Preço de Integralização: será o valor da Cota vigente na data de integralização,  nos termos do respectivo boletim de subscrição;</a:t>
            </a:r>
          </a:p>
          <a:p>
            <a:r>
              <a:t> e) Forma de Integralização: as Cotas serão integralizadas à vista, em moeda  corrente nacional, junto ao seu respectivo agente de custódia e/ou da  Administradora na qualidade de escriturador das cotas;</a:t>
            </a:r>
          </a:p>
          <a:p>
            <a:r>
              <a:t> f) Período de colocação: a subscrição das Cotas, objeto da Segunda Emissão,  deverão ser realizadas no prazo máximo de 180 (cento e oitenta) dias, contados  da data de efeitos do presente instrumento.</a:t>
            </a:r>
          </a:p>
          <a:p>
            <a:r>
              <a:t>CNPJ 62552447000120 · Volume, VNU e emissão · Condição: Trechos do documento específico identificado com data mais recente; vigência jurídica não inferida.</a:t>
            </a:r>
          </a:p>
          <a:p>
            <a:r>
              <a:t>CNPJ 62552447000120 · Volume, VNU e emissão · Versão e prevalência: Trechos do documento específico identificado com data mais recente; vigência jurídica não inferida.</a:t>
            </a:r>
          </a:p>
          <a:p>
            <a:r>
              <a:t>CNPJ 62552447000120 · Volume, VNU e emissão · Resumo do histórico: {"count": 2, "dates": ["2025-09-03"], "document_count": 1, "sources": [{"document_id": "988020", "title": "Instrumento Particular de Emissão de Cotas", "reference_date": "2025-09-03", "version": "1", "page": "5", "url": "https://fnet.bmfbovespa.com.br/fnet/publico/visualizarDocumento?id=988020", "sha256": "8ecc8a771bb9713d64e5fc2052c489664cb0433801a9280db68e5187d35bf7a5"}, {"document_id": "988020", "title": "Instrumento Particular de Emissão de Cotas", "reference_date": "2025-09-03", "version": "1", "page": 2, "url": "https://fnet.bmfbovespa.com.br/fnet/publico/visualizarDocumento?id=988020", "sha256": "8ecc8a771bb9713d64e5fc2052c489664cb0433801a9280db68e5187d35bf7a5"}], "reference": {"path": "history/62552447000120.json", "criterion_id": "issue_volume", "total_count": 2, "preview_count": 2, "full_text_deferred": true, "sha256": "d95db8c0613d67ee84118c734588665265ea6b02f86a0318d6a844cbe1d0f82f"}}</a:t>
            </a:r>
          </a:p>
          <a:p>
            <a:r>
              <a:t>CNPJ 63953620000165 · Volume, VNU e emissão · Demonstrações Financeiras - Fusão, cisão e incorporação · ID 1327859 · 2026-05-15 · versão 1 · p. 31 · 15.000.000 · https://fnet.bmfbovespa.com.br/fnet/publico/visualizarDocumento?id=1327859</a:t>
            </a:r>
          </a:p>
          <a:p>
            <a:r>
              <a:t>CNPJ 63953620000165 · Volume, VNU e emissão · Excerto da fonte:</a:t>
            </a:r>
          </a:p>
          <a:p>
            <a:r>
              <a:t>15.000.000 (quinze bilhões de reais), , a serem objeto de colocação privada, nos termos  do Regulamento, da Resolução CVM 175 e do respectivo boletim de subscrição nos  seguintes termos:</a:t>
            </a:r>
          </a:p>
          <a:p>
            <a:r>
              <a:t> a. Montante Total da Colocação Privada: R$ 15.000.000 (quinze bilhões de  reais)  b. Quantidade de Cotas: 15.000.000 (quinze milhões) de Cotas Seniores;</a:t>
            </a:r>
          </a:p>
          <a:p>
            <a:r>
              <a:t> c. Preço de Emissão (Valor Unitário): R$ 1 (mil reais);</a:t>
            </a:r>
          </a:p>
          <a:p>
            <a:r>
              <a:t> d. Forma e Preço de Integralização: as Cotas serão integralizadas na forma  prevista no Boletim de Subscrição;</a:t>
            </a:r>
          </a:p>
          <a:p>
            <a:r>
              <a:t> e. Prazo da Colocação Privada: as Cotas serão colocadas em até 180 (cento e  oitenta) dias da data deste IPA.</a:t>
            </a:r>
          </a:p>
          <a:p>
            <a:r>
              <a:t>CNPJ 63953620000165 · Volume, VNU e emissão · Demonstrações Financeiras - Fusão, cisão e incorporação · ID 1327859 · 2026-05-15 · versão 1 · p. 31 · https://fnet.bmfbovespa.com.br/fnet/publico/visualizarDocumento?id=1327859</a:t>
            </a:r>
          </a:p>
          <a:p>
            <a:r>
              <a:t>CNPJ 63953620000165 · Volume, VNU e emissão · Excerto da fonte:</a:t>
            </a:r>
          </a:p>
          <a:p>
            <a:r>
              <a:t>Em Instrumento Particular de Alteração do MT Global Fundo de Investimento em Direitos  Creditórios, realizada em 08 de janeiro de 2026, foram deliberadas as seguintes matérias:</a:t>
            </a:r>
          </a:p>
          <a:p>
            <a:r>
              <a:t>(i) Alterar regulamento vigente da classe em relação aos itens 4.17.1, 6.8 e o Capítulo 13,</a:t>
            </a:r>
          </a:p>
          <a:p>
            <a:r>
              <a:t> (b) incluir o item 3.1, 8.1.(ii), 8.2, 8.2.1, e 10.2.(xvii); e (c) excluir os itens 6.8.1, 6.8.2,</a:t>
            </a:r>
          </a:p>
          <a:p>
            <a:r>
              <a:t>(ii) Aprovar a 1ª (primeira) emissão de cotas seniores das Classes (“Cotas Seniores”), em  sistema de vasos comunicantes entre as Classes, de forma que a quantidade de Cotas  Seniores integralizadas em uma das Classes será deduzida da quantidade de Cotas  Seniores disponíveis para integralização nas demais Classes, no montante total de R$</a:t>
            </a:r>
          </a:p>
          <a:p>
            <a:r>
              <a:t>CNPJ 63953620000165 · Volume, VNU e emissão · Demonstrações Financeiras - Fusão, cisão e incorporação · ID 1327859 · 2026-05-15 · versão 1 · p. 32 · https://fnet.bmfbovespa.com.br/fnet/publico/visualizarDocumento?id=1327859</a:t>
            </a:r>
          </a:p>
          <a:p>
            <a:r>
              <a:t>CNPJ 63953620000165 · Volume, VNU e emissão · Excerto da fonte:</a:t>
            </a:r>
          </a:p>
          <a:p>
            <a:r>
              <a:t>f. Montante Total da Colocação Privada: R$ 7.000 (sete milhões de reais);</a:t>
            </a:r>
          </a:p>
          <a:p>
            <a:r>
              <a:t> g. Quantidade de Cotas: 7.000 (sete mil) de Cotas Subordinadas CP  h. Preço de Emissão (Valor Unitário): R$ 1 (mil reais);</a:t>
            </a:r>
          </a:p>
          <a:p>
            <a:r>
              <a:t> i. Forma e Preço de Integralização: as Cotas serão integralizadas na forma  prevista no Boletim de Subscrição;</a:t>
            </a:r>
          </a:p>
          <a:p>
            <a:r>
              <a:t> j. Prazo da Colocação Privada: as Cotas serão colocadas em até 180 (cento e  oitenta) dias da data deste IPA.</a:t>
            </a:r>
          </a:p>
          <a:p>
            <a:r>
              <a:t>CNPJ 63953620000165 · Volume, VNU e emissão · Condição: Trechos do documento específico identificado com data mais recente; vigência jurídica não inferida.</a:t>
            </a:r>
          </a:p>
          <a:p>
            <a:r>
              <a:t>CNPJ 63953620000165 · Volume, VNU e emissão · Versão e prevalência: Trechos do documento específico identificado com data mais recente; vigência jurídica não inferida.</a:t>
            </a:r>
          </a:p>
          <a:p>
            <a:r>
              <a:t>CNPJ 63953620000165 · Volume, VNU e emissão · Resumo do histórico: {"count": 8, "dates": ["2026-04-16", "2026-04-28", "2026-05-08"], "document_count": 3, "sources": [{"document_id": "1298691", "title": "Demonstrações Financeiras - Fusão, cisão e incorporação", "reference_date": "2026-05-08", "version": "1", "page": 32, "url": "https://fnet.bmfbovespa.com.br/fnet/publico/visualizarDocumento?id=1298691", "sha256": "58c570d9b8d4d265330d3db3ea81c435b8e44a6dab4002aa37790652a1ee9819"}, {"document_id": "1282180", "title": "Demonstrações Financeiras - Fusão, cisão e incorporação", "reference_date": "2026-04-28", "version": "1", "page": 32, "clause": "15.000.000", "url": "https://fnet.bmfbovespa.com.br/fnet/publico/visualizarDocumento?id=1282180", "sha256": "afaaa0e6809be4385e5bdb6c911aac582032c5bdbac3d7750234bf9eaf00438a"}, {"document_id": "1282179", "title": "Demonstrações Financeiras - Fusão, cisão e incorporação", "reference_date": "2026-04-16", "version": "1", "page": 32, "clause": "15.000.000", "url": "https://fnet.bmfbovespa.com.br/fnet/publico/visualizarDocumento?id=1282179", "sha256": "beb67afbcd64169019477673fd3b7c1edbfabbd9db07379388d8cdd5d3fc9395"}], "reference": {"path": "history/63953620000165.json", "criterion_id": "issue_volume", "total_count": 8, "preview_count": 3, "full_text_deferred": true, "sha256": "a7b89077f5e21098c2d601c303faabc3ff6b9729f89d8afecdc60fe1404720c1"}}</a:t>
            </a:r>
          </a:p>
          <a:p>
            <a:r>
              <a:t>CNPJ 54871427000194 · Administração: taxa, base e mínimo · Regulamento · ID 670691 · 28/04/2024 · versão Regulamento — referência 28/04/2024 · p. 25 · Anexo I, 13.1 · https://fnet.bmfbovespa.com.br/fnet/publico/visualizarDocumento?id=670691</a:t>
            </a:r>
          </a:p>
          <a:p>
            <a:r>
              <a:t>CNPJ 54871427000194 · Administração: taxa, base e mínimo · Excerto da fonte:</a:t>
            </a:r>
          </a:p>
          <a:p>
            <a:r>
              <a:t>13.1 Pelos serviços de administração, tesouraria, controladoria e escrituração, a Classe pagará a Taxa de Administração nos seguintes moldes: o valor correspondente a 0,10% (dez centésimos por cento) ao ano aplicado sobre o Patrimônio Líquido, observado o valor mínimo de R$ 10.000,00 (dez mil reais) mensais atualizado pela variação positiva do IGP-M a cada período de 12 (doze) meses, contados a partir do mês em que ocorrer a primeira integralização de Cotas (inclusive). 13.1.1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BTG Pactual SAC: 0800 772 28 27 - Ouvidoria: 0800 722 00 48 - btgpactual.com 19</a:t>
            </a:r>
          </a:p>
          <a:p>
            <a:r>
              <a:t>CNPJ 54871427000194 · Administração: taxa, base e mínimo · Regulamento · ID 670691 · 28/04/2024 · versão Regulamento — referência 28/04/2024 · p. 26 · Anexo I, 13.1.2–13.1.3 · https://fnet.bmfbovespa.com.br/fnet/publico/visualizarDocumento?id=670691</a:t>
            </a:r>
          </a:p>
          <a:p>
            <a:r>
              <a:t>CNPJ 54871427000194 · Administração: taxa, base e mínimo · Excerto da fonte:</a:t>
            </a:r>
          </a:p>
          <a:p>
            <a:r>
              <a:t>13.1.2 A Taxa de Administração será calculada e provisionada todo Dia Útil à razão de 1/252 (um inteiro e duzentos e cinquenta e dois avos) com base no valor do Patrimônio Líquido do Dia Útil anterior. 13.1.3 A Taxa de Administração será paga mensalmente ao ADMINISTRADOR, observado o disposto no item 13.2 abaixo, por período vencido, até o 5º (quinto) Dia Útil do mês subsequente à prestação dos serviços, a partir do mês em que ocorrer a primeira integralização de Cotas da Classe. 13.2 O ADMINISTRADOR poderá estabelecer que parcelas da Taxa de Administração sejam pagas diretamente pela Classe aos prestadores de serviços contratados, desde que o somatório dessas parcelas não exceda o montante total da Taxa de Administração. 13.3 Não serão cobradas da Classe ou dos Cotistas taxas de perf ormance, de ingresso ou de saída. Taxa de Gestão 13.4 Pelos serviços de gestão, a Classe pagará a Taxa de Gestão nos seguintes moldes: o valor correspondente a 0,20% (vinte centésimos por cento) ao ano aplicado sobre o Patrimônio Líquido, observado o valor mínimo de R$ 15.000,00 (quinze mil reais) mensais atualizado pela variação positiva do IGP-M a cada período de 12 (</a:t>
            </a:r>
          </a:p>
          <a:p>
            <a:r>
              <a:t>CNPJ 54871427000194 · Administração: taxa, base e mínimo · Versão e prevalência: Leitura específica das cláusulas indicadas; condições e conflitos preservados. Seleção documental atual não comprova vigência jurídica por data isolada.</a:t>
            </a:r>
          </a:p>
          <a:p>
            <a:r>
              <a:t>CNPJ 54871427000194 · Administração: taxa, base e mínimo · Resumo do histórico: {"count": 2, "dates": ["2024-04-19", "2024-04-28"], "document_count": 2, "sources": [{"document_id": "670691", "title": "Regulamento", "reference_date": "2024-04-28", "version": "1", "page": "25-26", "url": "https://fnet.bmfbovespa.com.br/fnet/publico/visualizarDocumento?id=670691", "sha256": "bf16dd7f1a62d5cdbf2e2d54fef81783783f7310fbc99c3a8f00459bdf9d037b"}, {"document_id": "670689", "title": "Regulamento", "reference_date": "2024-04-19", "version": "1", "page": 26, "clause": "13.1", "url": "https://fnet.bmfbovespa.com.br/fnet/publico/visualizarDocumento?id=670689", "sha256": "891bc9bc5d87bbc02ec139077a84d2702eb81ea02035fb71d24f5b8366b94a0b"}], "reference": {"path": "history/54871427000194.json", "criterion_id": "admin_fee", "total_count": 2, "preview_count": 2, "full_text_deferred": true, "sha256": "35d7cd99be50c7287c9fb675cf4f2e736002315295a225a9efa79c8d9186d874"}}</a:t>
            </a:r>
          </a:p>
          <a:p>
            <a:r>
              <a:t>CNPJ 60010416000112 · Administração: taxa, base e mínimo · Regulamento · ID 1051393 · 09/10/2025 · versão Regulamento09/10/2025 · p. 29 · AnexoI12.1–12.1.2 · https://fnet.bmfbovespa.com.br/fnet/publico/visualizarDocumento?id=1051393</a:t>
            </a:r>
          </a:p>
          <a:p>
            <a:r>
              <a:t>CNPJ 60010416000112 · Administração: taxa, base e mínimo · Excerto da fonte:</a:t>
            </a:r>
          </a:p>
          <a:p>
            <a:r>
              <a:t>12.1 Pelos serviços de administração, escrituração, controladoria de ativos e passivo, e gestão de carteira, o Administrador fará jus a uma Taxa de Administração equivalente a 0,40% (quarenta centésimos por cento) por ano sobre o Patrimônio Líquido da Classe, a ser pago mensalmente, por período vencido da data em que ocorrer a primeira integralização de Cotas da Classe A, até o 5º (quinto) Dia Útil do mês subsequente ao da prestação do serviço, assegurado um valor mínimo mensal de R$ 20.000,00 (vinte mil reais), sendo este valor atualizado pela variação positiva do IPCA sempre em janeiro de cada ano,</a:t>
            </a:r>
          </a:p>
          <a:p>
            <a:r>
              <a:t>CNPJ 60010416000112 · Administração: taxa, base e mínimo · Versão e prevalência: Leitura específica das cláusulas indicadas; condições e conflitos preservados. Seleção documental atual não comprova vigência jurídica por data isolada.</a:t>
            </a:r>
          </a:p>
          <a:p>
            <a:r>
              <a:t>CNPJ 60010416000112 · Administração: taxa, base e mínimo · Resumo do histórico: {"count": 2, "dates": ["2025-03-20", "2025-10-09"], "document_count": 2, "sources": [{"document_id": "1051393", "title": "Regulamento", "reference_date": "2025-10-09", "version": "1", "page": "29", "url": "https://fnet.bmfbovespa.com.br/fnet/publico/visualizarDocumento?id=1051393", "sha256": "8469d613078ffd5a6c1d217885d8a397a16342c0b937ae4aa24b106505f233ae"}, {"document_id": "993786", "title": "Regulamento", "reference_date": "2025-03-20", "version": "1", "page": 29, "clause": "12.1", "url": "https://fnet.bmfbovespa.com.br/fnet/publico/visualizarDocumento?id=993786", "sha256": "fd0fdd369a195510d81f81f505195a0b09e5f43522a990afa7d58c4f872921c8"}], "reference": {"path": "history/60010416000112.json", "criterion_id": "admin_fee", "total_count": 2, "preview_count": 2, "full_text_deferred": true, "sha256": "8e2bd813f4c51cf01f6bfaad164bafe69d2bbb192f753eac92da3a01c2e63046"}}</a:t>
            </a:r>
          </a:p>
          <a:p>
            <a:r>
              <a:t>CNPJ 62696791000193 · Administração: taxa, base e mínimo · Regulamento · ID 1143317 · 20/03/2026 · versão Regulamento — referência 20/03/2026 · p. 28 · Anexo I, 13.1, Taxa de Administração · https://fnet.bmfbovespa.com.br/fnet/publico/visualizarDocumento?id=1143317</a:t>
            </a:r>
          </a:p>
          <a:p>
            <a:r>
              <a:t>CNPJ 62696791000193 · Administração: taxa, base e mínimo · Excerto da fonte:</a:t>
            </a:r>
          </a:p>
          <a:p>
            <a:r>
              <a:t>Taxa de Administração 0,10% (um décimo por cento) ao ano com um mínimo mensal de R$ 10.000,00 (dez mil reais), pagos mensalmente até o 5º (quinto) Dia Útil do mês subsequente ao mês que se ref ere, a ser corrigida anualmente, em janeiro de cada ano, pela variação positiva do Índice Geral de Preços – Mercado, divulgado pela Fundação Getúlio Vargas (“Taxa de Administração” e “IGP-M”, respectivamente).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T</a:t>
            </a:r>
          </a:p>
          <a:p>
            <a:r>
              <a:t>CNPJ 62696791000193 · Administração: taxa, base e mínimo · Condição: A linha da tabela não explicita novamente a base de PL para administração; conservar essa limitação em vez de completar a frase por analogia.</a:t>
            </a:r>
          </a:p>
          <a:p>
            <a:r>
              <a:t>CNPJ 62696791000193 · Administração: taxa, base e mínimo · Motivo: Não localizada uma cláusula material para este critério nos textos identificados e processados. A ausência de resultado não comprova inexistência da regra.</a:t>
            </a:r>
          </a:p>
          <a:p>
            <a:r>
              <a:t>CNPJ 62696791000193 · Administração: taxa, base e mínimo · Versão e prevalência: Leitura específica das cláusulas indicadas; condições e conflitos preservados. Seleção documental atual não comprova vigência jurídica por data isolada.</a:t>
            </a:r>
          </a:p>
          <a:p>
            <a:r>
              <a:t>CNPJ 55563624000109 · Administração: taxa, base e mínimo · Regulamento · ID 1192614 · 30/04/2026 · versão Regulamento30/04/2026 · p. 28 · AnexoI13.1–13.2 · https://fnet.bmfbovespa.com.br/fnet/publico/visualizarDocumento?id=1192614</a:t>
            </a:r>
          </a:p>
          <a:p>
            <a:r>
              <a:t>CNPJ 55563624000109 · Administração: taxa, base e mínimo · Excerto da fonte:</a:t>
            </a:r>
          </a:p>
          <a:p>
            <a:r>
              <a:t>13.1 Sem prejuízo da Taxa Máxima de Administração, pelos serviços de administração do FUNDO e da Classe, tesouraria, controle e processamento dos ativos integrantes da Carteira, a Classe pagará, no mínimo, ao ADMINISTRADOR a Taxa Mínima de Administração nos seguintes moldes: o valor correspondente a R$ 10.000,00 (dez mil reais) mensais, atualizado pela variação positiva do IGP-M, no mês de janeiro de cada ano (“Taxa Mínima de Administração”). 13.1.1 Na hipótese de extinção do IGP-M, não divulgação ou impossibilidade de sua utilização, será utilizado o</a:t>
            </a:r>
          </a:p>
          <a:p>
            <a:r>
              <a:t>CNPJ 55563624000109 · Administração: taxa, base e mínimo · Condição: A base do adicional é PL do Mercado Crédito II; não é teto 0, 10% sobre PLGN e não substitui mínimo R$ 10 mil.</a:t>
            </a:r>
          </a:p>
          <a:p>
            <a:r>
              <a:t>CNPJ 55563624000109 · Administração: taxa, base e mínimo · Versão e prevalência: Leitura específica das cláusulas indicadas; condições e conflitos preservados. Seleção documental atual não comprova vigência jurídica por data isolada.</a:t>
            </a:r>
          </a:p>
          <a:p>
            <a:r>
              <a:t>CNPJ 55563624000109 · Administração: taxa, base e mínimo · Resumo do histórico: {"count": 3, "dates": ["2025-01-31", "2026-01-31", "2026-04-30"], "document_count": 3, "sources": [{"document_id": "1192614", "title": "Regulamento", "reference_date": "2026-04-30", "version": "1", "page": "28", "clause": "13.2", "url": "https://fnet.bmfbovespa.com.br/fnet/publico/visualizarDocumento?id=1192614", "sha256": "f56e63ace0acde41d2f47fb48f1ac7f3f7df5e2d32de092d7c5e075a52516632"}, {"document_id": "1178840", "title": "Demonstrações Financeiras", "reference_date": "2026-01-31", "version": "1", "page": 29, "url": "https://fnet.bmfbovespa.com.br/fnet/publico/visualizarDocumento?id=1178840", "sha256": "c458e98664c5c907ddb5a05a94b120bed4e05295b2bfc420f5ba69af0a229abe"}, {"document_id": "891861", "title": "Demonstrações Financeiras", "reference_date": "2025-01-31", "version": "1", "page": 30, "url": "https://fnet.bmfbovespa.com.br/fnet/publico/visualizarDocumento?id=891861", "sha256": "e9cb9e6ddbe505fe068cfcac33605165a98313489de0d3ce6d4d238263c3f3e7"}], "reference": {"path": "history/55563624000109.json", "criterion_id": "admin_fee", "total_count": 3, "preview_count": 3, "full_text_deferred": true, "sha256": "7835d573fb58a3c19adf5b8ecc2aee2bdbb9a88f7a0c0209b5f262b64c7522e3"}}</a:t>
            </a:r>
          </a:p>
          <a:p>
            <a:r>
              <a:t>CNPJ 62552447000120 · Administração: taxa, base e mínimo · Regulamento · ID 1200623 · 21/05/2026 · versão Consolidado21/05/2026 aprovado pelo ato1200625 · p. 30 · AnexoI13.1 TaxaGlobal · https://fnet.bmfbovespa.com.br/fnet/publico/visualizarDocumento?id=1200623</a:t>
            </a:r>
          </a:p>
          <a:p>
            <a:r>
              <a:t>CNPJ 62552447000120 · Administração: taxa, base e mínimo · Excerto da fonte:</a:t>
            </a:r>
          </a:p>
          <a:p>
            <a:r>
              <a:t>Taxa Global Pelos serviços de administração, gestão, custódia, tesouraria, controladoria, escrituração, a Classe pagará um valor equivalente a um percentual incidente sobre o Patrimônio Líquido da Classe, conf orme a f aixa de Patrimônio Líquido da Classe prevista na tabela abaixo, apropriada diariamente e paga mensalmente até o 5º (quinto) Dia Útil do mês subsequente ao mês que se ref ere, com</a:t>
            </a:r>
          </a:p>
          <a:p>
            <a:r>
              <a:t>CNPJ 62552447000120 · Administração: taxa, base e mínimo · Condição: Global remunera administração, gestão, custódia, tesouraria, controladoria e escrituração; percentual segregado não presumido.</a:t>
            </a:r>
          </a:p>
          <a:p>
            <a:r>
              <a:t>CNPJ 62552447000120 · Administração: taxa, base e mínimo · Motivo: Não localizada uma cláusula material para este critério nos textos identificados e processados. A ausência de resultado não comprova inexistência da regra.</a:t>
            </a:r>
          </a:p>
          <a:p>
            <a:r>
              <a:t>CNPJ 62552447000120 · Administração: taxa, base e mínimo · Versão e prevalência: Leitura específica das cláusulas indicadas; condições e conflitos preservados. Seleção documental atual não comprova vigência jurídica por data isolada.</a:t>
            </a:r>
          </a:p>
          <a:p>
            <a:r>
              <a:t>CNPJ 63953620000165 · Administração: taxa, base e mínimo · Anexo ao Regulamento · ID 1222863 · 02/06/2026 · versão AnexoConsignadoPrivado02/06/2026 · p. 19 · Capítulo13TaxadeAdministração · https://fnet.bmfbovespa.com.br/fnet/publico/visualizarDocumento?id=1222863</a:t>
            </a:r>
          </a:p>
          <a:p>
            <a:r>
              <a:t>CNPJ 63953620000165 · Administração: taxa, base e mínimo · Excerto da fonte:</a:t>
            </a:r>
          </a:p>
          <a:p>
            <a:r>
              <a:t>Taxa de Administração positiva do Índice Geral de Preços – Mercado, divulgado pela Fundação Getúlio Vargas (“Taxa de Administração” e “IGP-M”, respectivamente). Na hipótese de extinção do IGP-M, não divulgação ou impossibilidade de sua utilização, será utilizado o Índice Geral de Preços – Disponibilidade Interna, divulgado pela Fundação Getúlio Vargas, ou, na falta de ambos, pela variação do IPC – Índice de Preços ao Consumidor, divulgado pela</a:t>
            </a:r>
          </a:p>
          <a:p>
            <a:r>
              <a:t>CNPJ 63953620000165 · Administração: taxa, base e mínimo · Condição: Base é a parcela MT específica, não necessariamente todo o PL da classe.</a:t>
            </a:r>
          </a:p>
          <a:p>
            <a:r>
              <a:t>CNPJ 63953620000165 · Administração: taxa, base e mínimo · Versão e prevalência: Leitura específica das cláusulas indicadas; condições e conflitos preservados. Seleção documental atual não comprova vigência jurídica por data isolada.</a:t>
            </a:r>
          </a:p>
          <a:p>
            <a:r>
              <a:t>CNPJ 63953620000165 · Administração: taxa, base e mínimo · Resumo do histórico: {"count": 8, "dates": ["2026-04-28", "2026-05-08", "2026-05-15"], "document_count": 3, "sources": [{"document_id": "1327859", "title": "Demonstrações Financeiras - Fusão, cisão e incorporação", "reference_date": "2026-05-15", "version": "1", "page": 28, "url": "https://fnet.bmfbovespa.com.br/fnet/publico/visualizarDocumento?id=1327859", "sha256": "dca1c68babb97f887528c3e2e47596a9c30f507b067981a35655b2f2da9c8054"}, {"document_id": "1298691", "title": "Demonstrações Financeiras - Fusão, cisão e incorporação", "reference_date": "2026-05-08", "version": "1", "page": 28, "url": "https://fnet.bmfbovespa.com.br/fnet/publico/visualizarDocumento?id=1298691", "sha256": "58c570d9b8d4d265330d3db3ea81c435b8e44a6dab4002aa37790652a1ee9819"}, {"document_id": "1282180", "title": "Demonstrações Financeiras - Fusão, cisão e incorporação", "reference_date": "2026-04-28", "version": "1", "page": 29, "url": "https://fnet.bmfbovespa.com.br/fnet/publico/visualizarDocumento?id=1282180", "sha256": "afaaa0e6809be4385e5bdb6c911aac582032c5bdbac3d7750234bf9eaf00438a"}], "reference": {"path": "history/63953620000165.json", "criterion_id": "admin_fee", "total_count": 8, "preview_count": 3, "full_text_deferred": true, "sha256": "a7b89077f5e21098c2d601c303faabc3ff6b9729f89d8afecdc60fe1404720c1"}}</a:t>
            </a:r>
          </a:p>
          <a:p>
            <a:r>
              <a:t>CNPJ 54871427000194 · Gestão: taxa, base e mínimo · Regulamento · ID 670691 · 28/04/2024 · versão Regulamento — referência 28/04/2024 · p. 26 · Anexo I, 13.4–13.4.3 · https://fnet.bmfbovespa.com.br/fnet/publico/visualizarDocumento?id=670691</a:t>
            </a:r>
          </a:p>
          <a:p>
            <a:r>
              <a:t>CNPJ 54871427000194 · Gestão: taxa, base e mínimo · Excerto da fonte:</a:t>
            </a:r>
          </a:p>
          <a:p>
            <a:r>
              <a:t>13.4 Pelos serviços de gestão, a Classe pagará a Taxa de Gestão nos seguintes moldes: o valor correspondente a 0,20% (vinte centésimos por cento) ao ano aplicado sobre o Patrimônio Líquido, observado o valor mínimo de R$ 15.000,00 (quinze mil reais) mensais atualizado pela variação positiva do IGP-M a cada período de 12 (doze) meses, contados a partir do mês em que ocorrer a primeira integralização de Cotas (inclusive). 13.4.1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13.4.2 A Taxa de Gestão será calculada e provisionada todo Dia Útil à razão de 1/252 (um inteiro e duzentos e cinquenta e dois avos) com base no valor do Patrimônio Líquido do Dia Útil anterior. 13.4.3 A Taxa de Gestão será paga mensalmente ao GESTOR, observado o disposto no item 13.5 abaixo, por período vencido, até o 5º (quinto) Dia Útil do mês subsequente à prestação dos ser</a:t>
            </a:r>
          </a:p>
          <a:p>
            <a:r>
              <a:t>CNPJ 54871427000194 · Gestão: taxa, base e mínimo · Versão e prevalência: Leitura específica das cláusulas indicadas; condições e conflitos preservados. Seleção documental atual não comprova vigência jurídica por data isolada.</a:t>
            </a:r>
          </a:p>
          <a:p>
            <a:r>
              <a:t>CNPJ 54871427000194 · Gestão: taxa, base e mínimo · Resumo do histórico: {"count": 2, "dates": ["2024-04-19", "2024-04-28"], "document_count": 2, "sources": [{"document_id": "670691", "title": "Regulamento", "reference_date": "2024-04-28", "version": "1", "page": "26", "url": "https://fnet.bmfbovespa.com.br/fnet/publico/visualizarDocumento?id=670691", "sha256": "bf16dd7f1a62d5cdbf2e2d54fef81783783f7310fbc99c3a8f00459bdf9d037b"}, {"document_id": "670689", "title": "Regulamento", "reference_date": "2024-04-19", "version": "1", "page": 27, "clause": "13.3", "url": "https://fnet.bmfbovespa.com.br/fnet/publico/visualizarDocumento?id=670689", "sha256": "891bc9bc5d87bbc02ec139077a84d2702eb81ea02035fb71d24f5b8366b94a0b"}], "reference": {"path": "history/54871427000194.json", "criterion_id": "management_fee", "total_count": 2, "preview_count": 2, "full_text_deferred": true, "sha256": "35d7cd99be50c7287c9fb675cf4f2e736002315295a225a9efa79c8d9186d874"}}</a:t>
            </a:r>
          </a:p>
          <a:p>
            <a:r>
              <a:t>CNPJ 60010416000112 · Gestão: taxa, base e mínimo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Gestão: taxa, base e mínimo · Resumo do histórico: {"count": 1, "dates": ["2025-10-09"], "document_count": 1, "sources": [{"document_id": "1051393", "title": "Regulamento", "reference_date": "2025-10-09", "version": "1", "page": "29, 46", "url": "https://fnet.bmfbovespa.com.br/fnet/publico/visualizarDocumento?id=1051393", "sha256": "8469d613078ffd5a6c1d217885d8a397a16342c0b937ae4aa24b106505f233ae"}], "reference": {"path": "history/60010416000112.json", "criterion_id": "management_fee", "total_count": 1, "preview_count": 1, "full_text_deferred": true, "sha256": "8e2bd813f4c51cf01f6bfaad164bafe69d2bbb192f753eac92da3a01c2e63046"}}</a:t>
            </a:r>
          </a:p>
          <a:p>
            <a:r>
              <a:t>CNPJ 62696791000193 · Gestão: taxa, base e mínimo · Regulamento · ID 1143317 · 20/03/2026 · versão Regulamento — referência 20/03/2026 · p. 28 · Anexo I, 13.1, Taxa de Gestão · https://fnet.bmfbovespa.com.br/fnet/publico/visualizarDocumento?id=1143317</a:t>
            </a:r>
          </a:p>
          <a:p>
            <a:r>
              <a:t>CNPJ 62696791000193 · Gestão: taxa, base e mínimo · Excerto da fonte:</a:t>
            </a:r>
          </a:p>
          <a:p>
            <a:r>
              <a:t>Taxa de Gestão 0% (zero por cento) ao ano apropriada diariamente na base de 252 (duzentos e cinquenta e dois) Dias Úteis, e paga mensalmente, até o 5º (quinto) Dia Útil do mês subsequente ao mês que se ref ere, incidente sobre o Patrimônio Líquido da Classe (“Taxa de Gestão”). Taxa Máxima de Custódia 0,00% (zero por cento) ao ano, incidente sobre o Patrimônio Líquido da Classe (“Taxa Máxima de Custódia”). Taxa de Performance Não será devido pela Classe o pagamento de Taxa de Perf ormance. 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a:t>
            </a:r>
          </a:p>
          <a:p>
            <a:r>
              <a:t>CNPJ 62696791000193 · Gestão: taxa, base e mínimo · Motivo: Não localizada uma cláusula material para este critério nos textos identificados e processados. A ausência de resultado não comprova inexistência da regra.</a:t>
            </a:r>
          </a:p>
          <a:p>
            <a:r>
              <a:t>CNPJ 62696791000193 · Gestão: taxa, base e mínimo · Versão e prevalência: Leitura específica das cláusulas indicadas; condições e conflitos preservados. Seleção documental atual não comprova vigência jurídica por data isolada.</a:t>
            </a:r>
          </a:p>
          <a:p>
            <a:r>
              <a:t>CNPJ 55563624000109 · Gestão: taxa, base e mínimo · Regulamento · ID 1192614 · 30/04/2026 · versão Regulamento30/04/2026 · p. 29 · AnexoI13.4–13.7.1 · https://fnet.bmfbovespa.com.br/fnet/publico/visualizarDocumento?id=1192614</a:t>
            </a:r>
          </a:p>
          <a:p>
            <a:r>
              <a:t>CNPJ 55563624000109 · Gestão: taxa, base e mínimo · Excerto da fonte:</a:t>
            </a:r>
          </a:p>
          <a:p>
            <a:r>
              <a:t>13.4 Sem prejuízo da Taxa Máxima de Gestão, pelos serviços de gestão, a Classe pagará ao GESTOR: (i) a taxa de gestão ordinária correspondente a 0,50% (cinquenta centésimos por cento) ao ano, incidente sobre o Patrimônio Líquido da Classe, observado o montante mínimo de R$ 40.000,00 (quarenta mil reais) ao mês, corrigido anualmente pela variação positiva do Índice de Preços ao Consumidor Amplo, divulgado pelo Instituto Brasileiro de Geografia e Estatística – IBGE (“Taxa de Gestão”); e (ii) a taxa de gestão extraordinária apurada e paga no momento de cada</a:t>
            </a:r>
          </a:p>
          <a:p>
            <a:r>
              <a:t>CNPJ 55563624000109 · Gestão: taxa, base e mínimo · Condição: Adicional é por integralização, não taxa anual.</a:t>
            </a:r>
          </a:p>
          <a:p>
            <a:r>
              <a:t>CNPJ 55563624000109 · Gestão: taxa, base e mínimo · Versão e prevalência: Leitura específica das cláusulas indicadas; condições e conflitos preservados. Seleção documental atual não comprova vigência jurídica por data isolada.</a:t>
            </a:r>
          </a:p>
          <a:p>
            <a:r>
              <a:t>CNPJ 55563624000109 · Gestão: taxa, base e mínimo · Resumo do histórico: {"count": 3, "dates": ["2025-01-31", "2026-01-31", "2026-04-30"], "document_count": 3, "sources": [{"document_id": "1192614", "title": "Regulamento", "reference_date": "2026-04-30", "version": "1", "page": "29", "url": "https://fnet.bmfbovespa.com.br/fnet/publico/visualizarDocumento?id=1192614", "sha256": "f56e63ace0acde41d2f47fb48f1ac7f3f7df5e2d32de092d7c5e075a52516632"}, {"document_id": "1178840", "title": "Demonstrações Financeiras", "reference_date": "2026-01-31", "version": "1", "page": 29, "url": "https://fnet.bmfbovespa.com.br/fnet/publico/visualizarDocumento?id=1178840", "sha256": "c458e98664c5c907ddb5a05a94b120bed4e05295b2bfc420f5ba69af0a229abe"}, {"document_id": "891861", "title": "Demonstrações Financeiras", "reference_date": "2025-01-31", "version": "1", "page": 30, "url": "https://fnet.bmfbovespa.com.br/fnet/publico/visualizarDocumento?id=891861", "sha256": "e9cb9e6ddbe505fe068cfcac33605165a98313489de0d3ce6d4d238263c3f3e7"}], "reference": {"path": "history/55563624000109.json", "criterion_id": "management_fee", "total_count": 3, "preview_count": 3, "full_text_deferred": true, "sha256": "7835d573fb58a3c19adf5b8ecc2aee2bdbb9a88f7a0c0209b5f262b64c7522e3"}}</a:t>
            </a:r>
          </a:p>
          <a:p>
            <a:r>
              <a:t>CNPJ 62552447000120 · Gestão: taxa, base e mínimo · Motivo: Não localizada uma cláusula material para este critério nos textos identificados e processados. A ausência de resultado não comprova inexistência da regra.</a:t>
            </a:r>
          </a:p>
          <a:p>
            <a:r>
              <a:t>CNPJ 63953620000165 · Gestão: taxa, base e mínimo · Anexo ao Regulamento · ID 1222863 · 02/06/2026 · versão AnexoConsignadoPrivado02/06/2026 · p. 20 · Capítulo13TaxadeGestão · https://fnet.bmfbovespa.com.br/fnet/publico/visualizarDocumento?id=1222863</a:t>
            </a:r>
          </a:p>
          <a:p>
            <a:r>
              <a:t>CNPJ 63953620000165 · Gestão: taxa, base e mínimo · Excerto da fonte:</a:t>
            </a:r>
          </a:p>
          <a:p>
            <a:r>
              <a:t>0,05% (cinco centésimos por cento) ao ano, apropriada diariamente na base de 252 (duzentos e cinquenta e dois) Dias Úteis, e paga mensalmente, até o 5º (quinto) Dia Útil do mês subsequente ao mês que se refere, incidente sobre o Patrimônio Líquido da Classe alocado em Direitos Creditórios Consignado Privado e/ou Ativos de Liquidez MT, observada remuneração mínima mensal de R$ 2.500,00 (dois mil e quinhentos reais), a ser corrigida anualmente, em janeiro de cada ano, pela variação</a:t>
            </a:r>
          </a:p>
          <a:p>
            <a:r>
              <a:t>CNPJ 63953620000165 · Gestão: taxa, base e mínimo · Versão e prevalência: Leitura específica das cláusulas indicadas; condições e conflitos preservados. Seleção documental atual não comprova vigência jurídica por data isolada.</a:t>
            </a:r>
          </a:p>
          <a:p>
            <a:r>
              <a:t>CNPJ 63953620000165 · Gestão: taxa, base e mínimo · Resumo do histórico: {"count": 8, "dates": ["2026-04-28", "2026-05-08", "2026-05-15"], "document_count": 3, "sources": [{"document_id": "1327859", "title": "Demonstrações Financeiras - Fusão, cisão e incorporação", "reference_date": "2026-05-15", "version": "1", "page": 28, "url": "https://fnet.bmfbovespa.com.br/fnet/publico/visualizarDocumento?id=1327859", "sha256": "dca1c68babb97f887528c3e2e47596a9c30f507b067981a35655b2f2da9c8054"}, {"document_id": "1298691", "title": "Demonstrações Financeiras - Fusão, cisão e incorporação", "reference_date": "2026-05-08", "version": "1", "page": 28, "url": "https://fnet.bmfbovespa.com.br/fnet/publico/visualizarDocumento?id=1298691", "sha256": "58c570d9b8d4d265330d3db3ea81c435b8e44a6dab4002aa37790652a1ee9819"}, {"document_id": "1282180", "title": "Demonstrações Financeiras - Fusão, cisão e incorporação", "reference_date": "2026-04-28", "version": "1", "page": 29, "url": "https://fnet.bmfbovespa.com.br/fnet/publico/visualizarDocumento?id=1282180", "sha256": "afaaa0e6809be4385e5bdb6c911aac582032c5bdbac3d7750234bf9eaf00438a"}], "reference": {"path": "history/63953620000165.json", "criterion_id": "management_fee", "total_count": 8, "preview_count": 3, "full_text_deferred": true, "sha256": "a7b89077f5e21098c2d601c303faabc3ff6b9729f89d8afecdc60fe1404720c1"}}</a:t>
            </a:r>
          </a:p>
          <a:p>
            <a:r>
              <a:t>CNPJ 54871427000194 · Performance: benchmark e apuração · Regulamento · ID 670691 · 28/04/2024 · versão Regulamento — referência 28/04/2024 · p. 26 · Anexo I, 13.3 · https://fnet.bmfbovespa.com.br/fnet/publico/visualizarDocumento?id=670691</a:t>
            </a:r>
          </a:p>
          <a:p>
            <a:r>
              <a:t>CNPJ 54871427000194 · Performance: benchmark e apuração · Excerto da fonte:</a:t>
            </a:r>
          </a:p>
          <a:p>
            <a:r>
              <a:t>13.3 Não serão cobradas da Classe ou dos Cotistas taxas de perf ormance, de ingresso ou de saída. Taxa de Gestão 13.4 Pelos serviços de gestão, a Classe pagará a Taxa de Gestão nos seguintes moldes: o valor correspondente a 0,20% (vinte centésimos por cento) ao ano aplicado sobre o Patrimônio Líquido, observado o valor mínimo de R$ 15.000,00 (quinze mil reais) mensais atualizado pela variação positiva do IGP-M a cada período de 12 (doze) meses, contados a partir do mês em que ocorrer a primeira integralização de Cotas (inclusive). 13.4.1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13.4.2 A Taxa de Gestão será calculada e provisionada todo Dia Útil à razão de 1/252 (um inteiro e duzentos e cinquenta e dois avos) com base no valor do Patrimônio Líquido do Dia Útil anterior. 13.4.3 A Taxa de Gestão será paga mensalmente ao GESTOR, observado o disposto no item 13.5</a:t>
            </a:r>
          </a:p>
          <a:p>
            <a:r>
              <a:t>CNPJ 54871427000194 · Performance: benchmark e apuração · Motivo: Não localizada uma cláusula material para este critério nos textos identificados e processados. A ausência de resultado não comprova inexistência da regra.</a:t>
            </a:r>
          </a:p>
          <a:p>
            <a:r>
              <a:t>CNPJ 54871427000194 · Performance: benchmark e apuração · Versão e prevalência: Leitura específica das cláusulas indicadas; condições e conflitos preservados. Seleção documental atual não comprova vigência jurídica por data isolada.</a:t>
            </a:r>
          </a:p>
          <a:p>
            <a:r>
              <a:t>CNPJ 60010416000112 · Performance: benchmark e apuração · Regulamento · ID 1051393 · 09/10/2025 · versão Regulamento09/10/2025 · p. 29 · AnexoI12.2 · https://fnet.bmfbovespa.com.br/fnet/publico/visualizarDocumento?id=1051393</a:t>
            </a:r>
          </a:p>
          <a:p>
            <a:r>
              <a:t>CNPJ 60010416000112 · Performance: benchmark e apuração · Excerto da fonte:</a:t>
            </a:r>
          </a:p>
          <a:p>
            <a:r>
              <a:t>12.2 Não serão cobradas da Classe ou dos Cotistas taxas de perf ormance, de ingresso ou de saída. Taxa Máxima de Custódia 12.3 Pelos serviços de custódia qualificada dos Direitos Creditórios e dos Ativos Financeiros de Liquidez não será devida nenhuma remuneração ao Custodiante, de modo que taxa máxima de custódia a ser paga pela Classe ao Custodiante corresponde a 0% (zero por cento) ao ano. Remuneração do Agente de Retenção/Cobrança 12.4 Para a prestação de serviços à Classe, o Agente de Retenção/Cobrança f ará jus a uma remuneração a ser auf erida todo Dia Útil e paga mensalmente, a título de Encargo da Cla</a:t>
            </a:r>
          </a:p>
          <a:p>
            <a:r>
              <a:t>CNPJ 60010416000112 · Performance: benchmark e apuração · Motivo: Não localizada uma cláusula material para este critério nos textos identificados e processados. A ausência de resultado não comprova inexistência da regra.</a:t>
            </a:r>
          </a:p>
          <a:p>
            <a:r>
              <a:t>CNPJ 60010416000112 · Performance: benchmark e apuração · Versão e prevalência: Leitura específica das cláusulas indicadas; condições e conflitos preservados. Seleção documental atual não comprova vigência jurídica por data isolada.</a:t>
            </a:r>
          </a:p>
          <a:p>
            <a:r>
              <a:t>CNPJ 62696791000193 · Performance: benchmark e apuração · Regulamento · ID 1143317 · 20/03/2026 · versão Regulamento — referência 20/03/2026 · p. 28 · Anexo I, 13.1, Taxa de Performance · https://fnet.bmfbovespa.com.br/fnet/publico/visualizarDocumento?id=1143317</a:t>
            </a:r>
          </a:p>
          <a:p>
            <a:r>
              <a:t>CNPJ 62696791000193 · Performance: benchmark e apuração · Excerto da fonte:</a:t>
            </a:r>
          </a:p>
          <a:p>
            <a:r>
              <a:t>Taxa de Performance Não será devido pela Classe o pagamento de Taxa de Perf ormance. 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equivalente a 0,9% (nove décimos por cento) ao ano aplicado sobre o Patrimônio Anexo I ao Regulamento Líquido, observado o limite máximo de 4,5% (quatro inteiros e cinquenta centésimos por cento) do volume captado na respectiva oferta (“Taxa Máxima de Distribuição”).A Taxa Máxima de BTG Pactual SAC: 0800 772 2827 | Ouvidoria: 0800 722 0048 | btgpactual.co m 23</a:t>
            </a:r>
          </a:p>
          <a:p>
            <a:r>
              <a:t>CNPJ 62696791000193 · Performance: benchmark e apuração · Regulamento · ID 1143317 · 20/03/2026 · versão Regulamento — referência 20/03/2026 · p. 29 · Anexo I, 13.1, Taxa de Ingresso · https://fnet.bmfbovespa.com.br/fnet/publico/visualizarDocumento?id=1143317</a:t>
            </a:r>
          </a:p>
          <a:p>
            <a:r>
              <a:t>CNPJ 62696791000193 · Performance: benchmark e apuração · Excerto da fonte:</a:t>
            </a:r>
          </a:p>
          <a:p>
            <a:r>
              <a:t>Taxa de Ingresso Não será cobrada dos Cotistas Taxa de Ingresso. 14 TRIBUTAÇÃO 14.1 O disposto neste Capítulo f oi elaborado com base na legislação e regulamentação em vigor produzindo ef eitos, tem por objetivo descrever de f orma sumária o tratamento tributário aplicável em regra aos cotistas, ao Fundo e à Classe, não se aplicando aos cotistas sujeitos a regras de tributação específicas, na f orma da legislação e regulamentação em vigor. 14.2 Há exceções (inclusive relativas à natureza ou ao domicílio do investidor para fins fiscais) em relação ao tratamento tributário descrito abaixo e tributos adicionais que podem ser aplicados, motivo pelo qual os cotistas devem consultar seus assessores jurídicos com relação à tributação aplicável nos investimentos realizados na Classe. Tributação da Classe / Operações da carteira: Como regra geral, os rendimentos auferidos pela carteira da Classe não estão sujeitos à incidência do imposto de renda, exceto ganhos auferidos em aplicações financeiras de renda fixa ou variável, que se sujeitam à incidência do Imposto de Renda Retido na Fonte (“IRF”) de acordo com as mesmas regras de tributação aplic</a:t>
            </a:r>
          </a:p>
          <a:p>
            <a:r>
              <a:t>CNPJ 62696791000193 · Performance: benchmark e apuração · Motivo: Não localizada uma cláusula material para este critério nos textos identificados e processados. A ausência de resultado não comprova inexistência da regra.</a:t>
            </a:r>
          </a:p>
          <a:p>
            <a:r>
              <a:t>CNPJ 62696791000193 · Performance: benchmark e apuração · Versão e prevalência: Leitura específica das cláusulas indicadas; condições e conflitos preservados. Seleção documental atual não comprova vigência jurídica por data isolada.</a:t>
            </a:r>
          </a:p>
          <a:p>
            <a:r>
              <a:t>CNPJ 55563624000109 · Performance: benchmark e apuração · Regulamento · ID 1192614 · 30/04/2026 · versão Regulamento30/04/2026 · p. 29 · AnexoI13.10 · https://fnet.bmfbovespa.com.br/fnet/publico/visualizarDocumento?id=1192614</a:t>
            </a:r>
          </a:p>
          <a:p>
            <a:r>
              <a:t>CNPJ 55563624000109 · Performance: benchmark e apuração · Excerto da fonte:</a:t>
            </a:r>
          </a:p>
          <a:p>
            <a:r>
              <a:t>13.10 Não serão cobradas taxas de performance da Classe, e nem taxas de ingresso ou de saída dos Cotistas que integralizarem ou resgatarem suas Cotas. BTG Pactual SAC: 0800 772 28 27 - Ouvidoria: 0800 722 00 48 - btgpactual.com 22</a:t>
            </a:r>
          </a:p>
          <a:p>
            <a:r>
              <a:t>CNPJ 55563624000109 · Performance: benchmark e apuração · Motivo: Não localizada uma cláusula material para este critério nos textos identificados e processados. A ausência de resultado não comprova inexistência da regra.</a:t>
            </a:r>
          </a:p>
          <a:p>
            <a:r>
              <a:t>CNPJ 55563624000109 · Performance: benchmark e apuração · Versão e prevalência: Leitura específica das cláusulas indicadas; condições e conflitos preservados. Seleção documental atual não comprova vigência jurídica por data isolada.</a:t>
            </a:r>
          </a:p>
          <a:p>
            <a:r>
              <a:t>CNPJ 62552447000120 · Performance: benchmark e apuração · Regulamento · ID 1200623 · 21/05/2026 · versão Consolidado21/05/2026 aprovado pelo ato1200625 · p. 30 · AnexoI13.1 TaxadePerformance/Ingresso · https://fnet.bmfbovespa.com.br/fnet/publico/visualizarDocumento?id=1200623</a:t>
            </a:r>
          </a:p>
          <a:p>
            <a:r>
              <a:t>CNPJ 62552447000120 · Performance: benchmark e apuração · Excerto da fonte:</a:t>
            </a:r>
          </a:p>
          <a:p>
            <a:r>
              <a:t>Taxa de Performance Não será devido pela Classe o pagamento de Taxa de Perf ormance. Taxa de Ingresso Não será cobrada dos Cotistas Taxa de Ingresso . CAPÍTULO 14 – CUSTOS REFERENTES À DEFESA DOS INTERESSES DA CLASSE 14.1 Todos os custos e despesas ref eridos neste Capítulo, inclusive para salvaguarda de direitos e prerrogativas da Classe e/ou com a cobrança judicial e/ou extrajudicial de Direitos Creditórios Inadimplidos, serão de inteira responsabilidade da Classe, não est ando o Administrador, o Gestor, o Endossante, os Devedores, o Custodiante e quaisquer de suas respectivas pessoas contr</a:t>
            </a:r>
          </a:p>
          <a:p>
            <a:r>
              <a:t>CNPJ 62552447000120 · Performance: benchmark e apuração · Motivo: Não localizada uma cláusula material para este critério nos textos identificados e processados. A ausência de resultado não comprova inexistência da regra.</a:t>
            </a:r>
          </a:p>
          <a:p>
            <a:r>
              <a:t>CNPJ 62552447000120 · Performance: benchmark e apuração · Versão e prevalência: Leitura específica das cláusulas indicadas; condições e conflitos preservados. Seleção documental atual não comprova vigência jurídica por data isolada.</a:t>
            </a:r>
          </a:p>
          <a:p>
            <a:r>
              <a:t>CNPJ 63953620000165 · Performance: benchmark e apuração · Anexo ao Regulamento · ID 1222863 · 02/06/2026 · versão AnexoConsignadoPrivado02/06/2026 · p. 20 · Capítulo13 · https://fnet.bmfbovespa.com.br/fnet/publico/visualizarDocumento?id=1222863</a:t>
            </a:r>
          </a:p>
          <a:p>
            <a:r>
              <a:t>CNPJ 63953620000165 · Performance: benchmark e apuração · Excerto da fonte:</a:t>
            </a:r>
          </a:p>
          <a:p>
            <a:r>
              <a:t>Taxa de Performance Não será devido pelas Classes o pagamento de Taxa de Performance. 0,00% (zero por cento) ao ano, incidente sobre o Patrimônio Líquido da Classe Taxa Máxima de Custódia (“Taxa Máxima de Custódia”). Taxa Máxima de Distribuição Não será cobrada Taxa de Distribuição. Taxa de Ingresso Não será cobrada da Classe ou dos Cotistas taxa de ingresso. CAPÍTULO 14 – CUSTOS REFERENTES À DEFESA DOS INTERESSES DA CLASSE 14.1 Todos os custos e despesas referidos neste Capítulo, inclusive para salvaguarda de direitos e prerrogativas da</a:t>
            </a:r>
          </a:p>
          <a:p>
            <a:r>
              <a:t>CNPJ 63953620000165 · Performance: benchmark e apuração · Motivo: Cláusula primária localizada e citada, mas sua lista/condições extensas não admitem uma síntese literal curta confirmada. O trecho integral permanece nas fontes.</a:t>
            </a:r>
          </a:p>
          <a:p>
            <a:r>
              <a:t>CNPJ 63953620000165 · Performance: benchmark e apuração · Versão e prevalência: Leitura específica das cláusulas indicadas; condições e conflitos preservados. Seleção documental atual não comprova vigência jurídica por data isolada.</a:t>
            </a:r>
          </a:p>
          <a:p>
            <a:r>
              <a:t>CNPJ 54871427000194 · Custódia, escrituração e encargos · Regulamento · ID 670691 · 28/04/2024 · versão Regulamento — referência 28/04/2024 · p. 26 · Anexo I, 13.7–13.8 · https://fnet.bmfbovespa.com.br/fnet/publico/visualizarDocumento?id=670691</a:t>
            </a:r>
          </a:p>
          <a:p>
            <a:r>
              <a:t>CNPJ 54871427000194 · Custódia, escrituração e encargos · Excerto da fonte:</a:t>
            </a:r>
          </a:p>
          <a:p>
            <a:r>
              <a:t>13.7 Pelos serviços de retenção e cobrança, prestada nos termos deste Anexo e do Contrato de Retenção/Cobrança, será devida pela Classe ao Agente de Retenção/Cobrança a remuneração prevista no respectivo Contrato de Retenção/Cobrança. Taxa Máxima de Custódia 13.8 Pelos serviços de custódia qualificada dos Direitos Creditórios e dos Ativos Financeiros de Liquidez não será devida nenhuma remuneração ao CUSTODIANTE, de modo que taxa máxima de custódia a ser paga pela Classe ao CUSTODIANTE corresponde a 0% (zero por cento) ao ano. CAPÍTULO 14 – CUSTOS REFERENTES À DEFESA DOS INTERESSES DA CLASSE 14.1 Caso a Classe não possua recursos disponíveis, em moeda corrente nacional, suf icientes para a adoção e manutenção, direta ou indireta, dos procedimentos judiciais e extrajudiciais necessários à cobrança dos Direitos Creditórios e dos Ativos Financeiros de Liquidez de titularidade da Classe e à def esa dos direitos, interesses e prerrogativas da Classe, a maioria dos titulares das Cotas, reunidos em Assembleia Especial de Cotistas, poderá aprovar o aporte de recursos à Classe, por meio da integralização de novas Cotas, a ser realizada por todos os titulares das Cotas para assegurar, se for o caso, a</a:t>
            </a:r>
          </a:p>
          <a:p>
            <a:r>
              <a:t>CNPJ 54871427000194 · Custódia, escrituração e encargos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Custódia, escrituração e encargos · Versão e prevalência: Leitura específica das cláusulas indicadas; condições e conflitos preservados. Seleção documental atual não comprova vigência jurídica por data isolada.</a:t>
            </a:r>
          </a:p>
          <a:p>
            <a:r>
              <a:t>CNPJ 54871427000194 · Custódia, escrituração e encargos · Resumo do histórico: {"count": 1, "dates": ["2024-04-28"], "document_count": 1, "sources": [{"document_id": "670691", "title": "Regulamento", "reference_date": "2024-04-28", "version": "1", "page": "26", "url": "https://fnet.bmfbovespa.com.br/fnet/publico/visualizarDocumento?id=670691", "sha256": "bf16dd7f1a62d5cdbf2e2d54fef81783783f7310fbc99c3a8f00459bdf9d037b"}], "reference": {"path": "history/54871427000194.json", "criterion_id": "custody_fee", "total_count": 1, "preview_count": 1, "full_text_deferred": true, "sha256": "35d7cd99be50c7287c9fb675cf4f2e736002315295a225a9efa79c8d9186d874"}}</a:t>
            </a:r>
          </a:p>
          <a:p>
            <a:r>
              <a:t>CNPJ 60010416000112 · Custódia, escrituração e encargos · Regulamento · ID 1051393 · 09/10/2025 · versão Regulamento09/10/2025 · p. 29 · AnexoI12.3–12.4 · https://fnet.bmfbovespa.com.br/fnet/publico/visualizarDocumento?id=1051393</a:t>
            </a:r>
          </a:p>
          <a:p>
            <a:r>
              <a:t>CNPJ 60010416000112 · Custódia, escrituração e encargos · Excerto da fonte:</a:t>
            </a:r>
          </a:p>
          <a:p>
            <a:r>
              <a:t>12.3 Pelos serviços de custódia qualificada dos Direitos Creditórios e dos Ativos Financeiros de Liquidez não será devida nenhuma remuneração ao Custodiante, de modo que taxa máxima de custódia a ser paga pela Classe ao Custodiante corresponde a 0% (zero por cento) ao ano. Remuneração do Agente de Retenção/Cobrança 12.4 Para a prestação de serviços à Classe, o Agente de Retenção/Cobrança f ará jus a uma remuneração a ser auf erida todo Dia Útil e paga mensalmente, a título de Encargo da Classe, a qual será calculada com base na seguinte f órmula:</a:t>
            </a:r>
          </a:p>
          <a:p>
            <a:r>
              <a:t>CNPJ 60010416000112 · Custódia, escrituração e encargos · Regulamento · ID 1051393 · 09/10/2025 · versão Regulamento09/10/2025 · p. 30 · AnexoI12.4definições,12.5–12.5.1 · https://fnet.bmfbovespa.com.br/fnet/publico/visualizarDocumento?id=1051393</a:t>
            </a:r>
          </a:p>
          <a:p>
            <a:r>
              <a:t>CNPJ 60010416000112 · Custódia, escrituração e encargos · Excerto da fonte:</a:t>
            </a:r>
          </a:p>
          <a:p>
            <a:r>
              <a:t>RAC = Remuneração do Agente de Retenção e Cobrança,tendo como valor 4,00% (quatro por cento) ao ano. 12.5 A remuneração prevista no item 12.4 acima será calculada pelo Administrador e paga diretamente ao Agente de Retenção/Cobrança até o 5º (quinto) Dia Útil do mês subsequente ao da prestação dos serviços, conf orme estabelecido no Contrato de Serviços MT. 12.5.1. Independentemente do acima disposto, na hipótese de venda de qualquer parte dos Direitos Creditórios Elegíveis a terceiros, inclusive no caso de liquidação da Classe, o Agente de Retenção/Cobra</a:t>
            </a:r>
          </a:p>
          <a:p>
            <a:r>
              <a:t>CNPJ 60010416000112 · Custódia, escrituração e encargos · Condição: Fórmula do RAC tem composição base 252 DU/21 dias; não somar a 4% do PL como taxa administrativa.</a:t>
            </a:r>
          </a:p>
          <a:p>
            <a:r>
              <a:t>CNPJ 60010416000112 · Custódia, escrituração e encargos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Custódia, escrituração e encargos · Versão e prevalência: Leitura específica das cláusulas indicadas; condições e conflitos preservados. Seleção documental atual não comprova vigência jurídica por data isolada.</a:t>
            </a:r>
          </a:p>
          <a:p>
            <a:r>
              <a:t>CNPJ 60010416000112 · Custódia, escrituração e encargos · Resumo do histórico: {"count": 1, "dates": ["2025-10-09"], "document_count": 1, "sources": [{"document_id": "1051393", "title": "Regulamento", "reference_date": "2025-10-09", "version": "1", "page": "29-31", "url": "https://fnet.bmfbovespa.com.br/fnet/publico/visualizarDocumento?id=1051393", "sha256": "8469d613078ffd5a6c1d217885d8a397a16342c0b937ae4aa24b106505f233ae"}], "reference": {"path": "history/60010416000112.json", "criterion_id": "custody_fee", "total_count": 1, "preview_count": 1, "full_text_deferred": true, "sha256": "8e2bd813f4c51cf01f6bfaad164bafe69d2bbb192f753eac92da3a01c2e63046"}}</a:t>
            </a:r>
          </a:p>
          <a:p>
            <a:r>
              <a:t>CNPJ 62696791000193 · Custódia, escrituração e encargos · Regulamento · ID 1143317 · 20/03/2026 · versão Regulamento — referência 20/03/2026 · p. 28 · Anexo I, 13.1, Custódia e Distribuição · https://fnet.bmfbovespa.com.br/fnet/publico/visualizarDocumento?id=1143317</a:t>
            </a:r>
          </a:p>
          <a:p>
            <a:r>
              <a:t>CNPJ 62696791000193 · Custódia, escrituração e encargos · Excerto da fonte:</a:t>
            </a:r>
          </a:p>
          <a:p>
            <a:r>
              <a:t>Taxa Máxima de Custódia 0,00% (zero por cento) ao ano, incidente sobre o Patrimônio Líquido da Classe (“Taxa Máxima de Custódia”). Taxa de Performance Não será devido pela Classe o pagamento de Taxa de Perf ormance. 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equivalente a 0,9% (nove décimos por cento) ao ano aplicado sobre o Patrimônio Anexo I ao Regulamento Líquido, observado o limite máximo de 4,5% (quatro inteiros e cinquenta centésimos por cento) do volume captado na respectiva oferta (“Taxa Máxima de Distribuição”).A</a:t>
            </a:r>
          </a:p>
          <a:p>
            <a:r>
              <a:t>CNPJ 62696791000193 · Custódia, escrituração e encargos · Regulamento · ID 1143317 · 20/03/2026 · versão Regulamento — referência 20/03/2026 · p. 29 · Anexo I, 13.1, Distribuição · https://fnet.bmfbovespa.com.br/fnet/publico/visualizarDocumento?id=1143317</a:t>
            </a:r>
          </a:p>
          <a:p>
            <a:r>
              <a:t>CNPJ 62696791000193 · Custódia, escrituração e encargos · Excerto da fonte:</a:t>
            </a:r>
          </a:p>
          <a:p>
            <a:r>
              <a:t>Distribuição será calculada e provisionada todo Dia Útil à razão de 1/252 (um inteiro e duzentos e cinquenta e dois avos) com base no valor do Patrimônio Líquido do Dia Útil anterior. Nos termos da Resolução CVM 160, o coordenador líder poderá destinar parte ou a totalidade da sua remuneração, à vista ou a prazo, aos distribuidores contratados, conforme previsto no contrato de distribuição da oferta e/ou nos termos de adesão ao contrato de distribuição. A Taxa Máxima de Distribuição será paga mensalmente por período vencido, até o 10º (décimo) Dia Útil do mês subsequente à prestação dos serviços, a partir do mês em que ocorrer a primeira integralização de Cotas da Classe Taxa de Ingresso Não será cobrada dos Cotistas Taxa de Ingresso. 14 TRIBUTAÇÃO 14.1 O disposto neste Capítulo f oi elaborado co</a:t>
            </a:r>
          </a:p>
          <a:p>
            <a:r>
              <a:t>CNPJ 62696791000193 · Custódia, escrituração e encargos · Motivo: Não localizada uma cláusula material para este critério nos textos identificados e processados. A ausência de resultado não comprova inexistência da regra.</a:t>
            </a:r>
          </a:p>
          <a:p>
            <a:r>
              <a:t>CNPJ 62696791000193 · Custódia, escrituração e encargos · Versão e prevalência: Leitura específica das cláusulas indicadas; condições e conflitos preservados. Seleção documental atual não comprova vigência jurídica por data isolada.</a:t>
            </a:r>
          </a:p>
          <a:p>
            <a:r>
              <a:t>CNPJ 55563624000109 · Custódia, escrituração e encargos · Regulamento · ID 1192614 · 30/04/2026 · versão Regulamento30/04/2026 · p. 29 · AnexoI13.8–13.9 · https://fnet.bmfbovespa.com.br/fnet/publico/visualizarDocumento?id=1192614</a:t>
            </a:r>
          </a:p>
          <a:p>
            <a:r>
              <a:t>CNPJ 55563624000109 · Custódia, escrituração e encargos · Excerto da fonte:</a:t>
            </a:r>
          </a:p>
          <a:p>
            <a:r>
              <a:t>13.8 Pelos serviços de custódia qualificada das Cotas da Classe Investida e dos Ativos Financeiros de Liquidez não será devida nenhuma remuneração ao CUSTODIANTE, de modo que taxa de custódia a ser paga pela Classe ao CUSTODIANTE corresponde a 0% (zero por cento) ao ano. Taxas Máxima de Distribuição 13.9 Tendo em vista que não há distribuidores das Cotas que prestem serviços de forma contínua ao Fundo, o presente Regulamento e Anexo Descritivo não preveem uma taxa máxima de distribuição aplicável a todas as emissões, nos termos do Ofício-Circular-Conju</a:t>
            </a:r>
          </a:p>
          <a:p>
            <a:r>
              <a:t>CNPJ 55563624000109 · Custódia, escrituração e encargos · Versão e prevalência: Leitura específica das cláusulas indicadas; condições e conflitos preservados. Seleção documental atual não comprova vigência jurídica por data isolada.</a:t>
            </a:r>
          </a:p>
          <a:p>
            <a:r>
              <a:t>CNPJ 55563624000109 · Custódia, escrituração e encargos · Resumo do histórico: {"count": 1, "dates": ["2026-04-30"], "document_count": 1, "sources": [{"document_id": "1192614", "title": "Regulamento", "reference_date": "2026-04-30", "version": "1", "page": "29", "url": "https://fnet.bmfbovespa.com.br/fnet/publico/visualizarDocumento?id=1192614", "sha256": "f56e63ace0acde41d2f47fb48f1ac7f3f7df5e2d32de092d7c5e075a52516632"}], "reference": {"path": "history/55563624000109.json", "criterion_id": "custody_fee", "total_count": 1, "preview_count": 1, "full_text_deferred": true, "sha256": "7835d573fb58a3c19adf5b8ecc2aee2bdbb9a88f7a0c0209b5f262b64c7522e3"}}</a:t>
            </a:r>
          </a:p>
          <a:p>
            <a:r>
              <a:t>CNPJ 62552447000120 · Custódia, escrituração e encargos · Motivo: Não localizada uma cláusula material para este critério nos textos identificados e processados. A ausência de resultado não comprova inexistência da regra.</a:t>
            </a:r>
          </a:p>
          <a:p>
            <a:r>
              <a:t>CNPJ 63953620000165 · Custódia, escrituração e encargos · Motivo: Não localizada uma cláusula material para este critério nos textos identificados e processados. A ausência de resultado não comprova inexistência da regra.</a:t>
            </a:r>
          </a:p>
          <a:p>
            <a:r>
              <a:t>CNPJ 54871427000194 · Classes e séries de cotas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Classes e séries de cotas · Resumo do histórico: {"count": 1, "dates": ["2024-04-28"], "document_count": 1, "sources": [{"document_id": "670691", "title": "Regulamento", "reference_date": "2024-04-28", "version": "1", "page": "7, 14", "url": "https://fnet.bmfbovespa.com.br/fnet/publico/visualizarDocumento?id=670691", "sha256": "bf16dd7f1a62d5cdbf2e2d54fef81783783f7310fbc99c3a8f00459bdf9d037b"}], "reference": {"path": "history/54871427000194.json", "criterion_id": "quota_classes", "total_count": 1, "preview_count": 1, "full_text_deferred": true, "sha256": "35d7cd99be50c7287c9fb675cf4f2e736002315295a225a9efa79c8d9186d874"}}</a:t>
            </a:r>
          </a:p>
          <a:p>
            <a:r>
              <a:t>CNPJ 60010416000112 · Classes e séries de cotas · Demonstrações Financeiras - Fusão, cisão e incorporação · ID 1298690 · 2026-05-08 · versão 1 · p. 30 · https://fnet.bmfbovespa.com.br/fnet/publico/visualizarDocumento?id=1298690</a:t>
            </a:r>
          </a:p>
          <a:p>
            <a:r>
              <a:t>CNPJ 60010416000112 · Classes e séries de cotas · Excerto da fonte:</a:t>
            </a:r>
          </a:p>
          <a:p>
            <a:r>
              <a:t>Durante o período de investimento, a Administradora poderá deliberar por realizar novas  emissões de cotas subordinadas, sem a necessidade de aprovação em Assembleia Especial  de Cotistas ou alteração do Regulamento, limitadas ao montante máximo de R$ 50.000  (cinquenta milhões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subordinadas emitidas não sejam  superiores aos prazos de vencimento da primeira emissão.</a:t>
            </a:r>
          </a:p>
          <a:p>
            <a:r>
              <a:t>CNPJ 60010416000112 · Classes e séries de cotas · Demonstrações Financeiras - Fusão, cisão e incorporação · ID 1298690 · 2026-05-08 · versão 1 · p. 7 · https://fnet.bmfbovespa.com.br/fnet/publico/visualizarDocumento?id=1298690</a:t>
            </a:r>
          </a:p>
          <a:p>
            <a:r>
              <a:t>CNPJ 60010416000112 · Classes e séries de cotas · Excerto da fonte:</a:t>
            </a:r>
          </a:p>
          <a:p>
            <a:r>
              <a:t>01/12/2025 a  Nota  08/05/2026  Patrimônio líquido no início do período  Total de 493.487,7492 cotas sêniores a R$ 1.136,5211 560.859  Total de 2.329.794,7852 cotas sêniores 2 a R$ 1.141,3012 2.658.998  Total de 954,2302 cotas subordinadas a R$ 150.939,4087 144.031</a:t>
            </a:r>
          </a:p>
          <a:p>
            <a:r>
              <a:t>CNPJ 60010416000112 · Classes e séries de cotas · Demonstrações Financeiras - Fusão, cisão e incorporação · ID 1298690 · 2026-05-08 · versão 1 · p. 7 · https://fnet.bmfbovespa.com.br/fnet/publico/visualizarDocumento?id=1298690</a:t>
            </a:r>
          </a:p>
          <a:p>
            <a:r>
              <a:t>CNPJ 60010416000112 · Classes e séries de cotas · Excerto da fonte:</a:t>
            </a:r>
          </a:p>
          <a:p>
            <a:r>
              <a:t>Patrimônio líquido no final do período  Total de 2.865.592,8479 cotas a R$ 1.285,7151 3.672.765  Total de 493.487,7492 cotas sêniores a R$ 1.230,3042 607.141  Total de 2.362.150,8684 cotas sêniores 2 a R$ 1.236,9918 2.921.961  Total de 954,2302 cotas subordinadas a R$ 150.554,2733 143.663</a:t>
            </a:r>
          </a:p>
          <a:p>
            <a:r>
              <a:t>CNPJ 60010416000112 · Classes e séries de cotas · Condição: Documentos atuais selecionados no inventário por categoria/escopo; a data documental isolada não comprova vigência jurídica.</a:t>
            </a:r>
          </a:p>
          <a:p>
            <a:r>
              <a:t>CNPJ 60010416000112 · Classes e séries de cotas · Versão e prevalência: Documentos atuais selecionados no inventário por categoria/escopo; a data documental isolada não comprova vigência jurídica.</a:t>
            </a:r>
          </a:p>
          <a:p>
            <a:r>
              <a:t>CNPJ 60010416000112 · Classes e séries de cotas · Resumo do histórico: {"count": 9, "dates": ["2025-11-30", "2026-03-18", "2026-04-16"], "document_count": 3, "sources": [{"document_id": "1282181", "title": "Demonstrações Financeiras - Fusão, cisão e incorporação", "reference_date": "2026-04-16", "version": "1", "page": 7, "url": "https://fnet.bmfbovespa.com.br/fnet/publico/visualizarDocumento?id=1282181", "sha256": "b1c6566e43a00bcd00c8a7f30c77b7f86e351bd8e355bbea113f46d1dafda703"}, {"document_id": "1224477", "title": "Demonstrações Financeiras - Fusão, cisão e incorporação", "reference_date": "2026-03-18", "version": "1", "page": 7, "url": "https://fnet.bmfbovespa.com.br/fnet/publico/visualizarDocumento?id=1224477", "sha256": "0751bf0a75bc3b44c2748f5000226665c6ec6698a90c4dc6170b4e6c187759ae"}, {"document_id": "1126154", "title": "Demonstrações Financeiras", "reference_date": "2025-11-30", "version": "1", "page": 7, "url": "https://fnet.bmfbovespa.com.br/fnet/publico/visualizarDocumento?id=1126154", "sha256": "a01e7ccf88c548f12c95cba8526d7efbef6b585c112cd4668eca781c292090b0"}], "reference": {"path": "history/60010416000112.json", "criterion_id": "quota_classes", "total_count": 9, "preview_count": 3, "full_text_deferred": true, "sha256": "8e2bd813f4c51cf01f6bfaad164bafe69d2bbb192f753eac92da3a01c2e63046"}}</a:t>
            </a:r>
          </a:p>
          <a:p>
            <a:r>
              <a:t>CNPJ 62696791000193 · Classes e séries de cotas · Instrumento Particular de Emissão de Cotas · ID 1148821 · 2026-03-27 · versão 1 · p. 1 · 20.000 · https://fnet.bmfbovespa.com.br/fnet/publico/visualizarDocumento?id=1148821</a:t>
            </a:r>
          </a:p>
          <a:p>
            <a:r>
              <a:t>CNPJ 62696791000193 · Classes e séries de cotas · Excerto da fonte:</a:t>
            </a:r>
          </a:p>
          <a:p>
            <a:r>
              <a:t>20.000 (vinte mil) Cotas Subordinadas Júnior, com valor nominal unitário de R$ 1.000,00 (mil reais),  perfazendo o montante total de R$ 20.000.000,00 (vinte milhões de reais), as quais serão objeto de  colocação privada, de acordo com os termos e condições definidos no Apêndice da Subclasse  Subordinada Júnior constante do Anexo I Regulamento e descritas abaixo (“2ª Emissão da Subclasse  Subordinada Júnior”):</a:t>
            </a:r>
          </a:p>
          <a:p>
            <a:r>
              <a:t>CNPJ 62696791000193 · Classes e séries de cotas · Instrumento Particular de Emissão de Cotas · ID 1148821 · 2026-03-27 · versão 1 · p. 2 · https://fnet.bmfbovespa.com.br/fnet/publico/visualizarDocumento?id=1148821</a:t>
            </a:r>
          </a:p>
          <a:p>
            <a:r>
              <a:t>CNPJ 62696791000193 · Classes e séries de cotas · Excerto da fonte:</a:t>
            </a:r>
          </a:p>
          <a:p>
            <a:r>
              <a:t>2. Aprovar a 2ª (segunda) emissão da Subclasse Sênior da Classe, composta por até 150.000  (cento e cinquenta mil) Cotas Seniores, com valor nominal unitário de R$ 1.000,00 (mil reais),  perfazendo o montante total de R$ 150.000.000,00 (cento e cinquenta milhões de reais), as quais  serão objeto de colocação privada, de acordo com os termos e condições descritos no Apêndice da  Subclasse Sênior constante do Anexo I Regulamento e descritas abaixo (“2ª Emissão da Subclasse  Sênior”):</a:t>
            </a:r>
          </a:p>
          <a:p>
            <a:r>
              <a:t>CNPJ 62696791000193 · Classes e séries de cotas · Instrumento Particular de Emissão de Cotas · ID 1148821 · 2026-03-27 · versão 1 · p. 2 · https://fnet.bmfbovespa.com.br/fnet/publico/visualizarDocumento?id=1148821</a:t>
            </a:r>
          </a:p>
          <a:p>
            <a:r>
              <a:t>CNPJ 62696791000193 · Classes e séries de cotas · Excerto da fonte:</a:t>
            </a:r>
          </a:p>
          <a:p>
            <a:r>
              <a:t>d) Forma de Integralização: as Cotas Subordinadas Júnior serão integralizadas à vista, junto ao  seu respectivo agente de custódia e/ou da Administradora na qualidade de escriturador das  cotas; e</a:t>
            </a:r>
          </a:p>
          <a:p>
            <a:r>
              <a:t>CNPJ 62696791000193 · Classes e séries de cotas · Condição: Documentos atuais selecionados no inventário por categoria/escopo; a data documental isolada não comprova vigência jurídica.</a:t>
            </a:r>
          </a:p>
          <a:p>
            <a:r>
              <a:t>CNPJ 62696791000193 · Classes e séries de cotas · Versão e prevalência: Documentos atuais selecionados no inventário por categoria/escopo; a data documental isolada não comprova vigência jurídica.</a:t>
            </a:r>
          </a:p>
          <a:p>
            <a:r>
              <a:t>CNPJ 62696791000193 · Classes e séries de cotas · Resumo do histórico: {"count": 2, "dates": ["2026-03-20", "2026-03-27"], "document_count": 2, "sources": [{"document_id": "1148821", "title": "Instrumento Particular de Emissão de Cotas", "reference_date": "2026-03-27", "version": "1", "page": "1-2", "url": "https://fnet.bmfbovespa.com.br/fnet/publico/visualizarDocumento?id=1148821", "sha256": "86900e9dd498403696bfffbd4196443c83ec4d51ff21135e073c1966e1adf4c0"}, {"document_id": "1143317", "title": "Regulamento", "reference_date": "2026-03-20", "version": "1", "page": 16, "clause": "7.2", "url": "https://fnet.bmfbovespa.com.br/fnet/publico/visualizarDocumento?id=1143317", "sha256": "32f62818d51c3ebeaf9ec012d3d7867f15c1aed6d10f0867c157a290df1cea48"}], "reference": {"path": "history/62696791000193.json", "criterion_id": "quota_classes", "total_count": 2, "preview_count": 2, "full_text_deferred": true, "sha256": "0e9ec199848320ec945708123ae0cb6075d76c05d94beed814d582031d353926"}}</a:t>
            </a:r>
          </a:p>
          <a:p>
            <a:r>
              <a:t>CNPJ 55563624000109 · Classes e séries de cotas · Regulamento · ID 1192614 · 2026-04-30 · versão 1 · p. 40 · https://fnet.bmfbovespa.com.br/fnet/publico/visualizarDocumento?id=1192614</a:t>
            </a:r>
          </a:p>
          <a:p>
            <a:r>
              <a:t>CNPJ 55563624000109 · Classes e séries de cotas · Excerto da fonte:</a:t>
            </a:r>
          </a:p>
          <a:p>
            <a:r>
              <a:t>(xxiv) Subordinação de determinadas Cotas da Classe Investida a outras subclasses ou séries de  cotas das Classes Investidas aos quais pertencem. A Classe Investida adquirirá apenas cotas  subordinadas mezaninos da Classe Investida, as quais se subordinam às cotas seniores da Classe  Investida para efeitos de resgate. Os resgates de cotas subordinadas mezanino tipicamente têm sua  realização condicionada ainda à manutenção da razão de garantia e à existência de disponibilidades  da Classe Investida. O ADMINISTRADOR, o GESTOR e o CUSTODIANTE e suas respectivas partes  relacionadas, encontram-se impossibilitados de assegurar que a amortização e o resgate das cotas  subordinadas mezanino da Classe Investida que venham a ser adquiridas pela Classe ocorrerão nas  datas originalmente previstas, sendo que, caso tais amortizações e/ou resgates não ocorram, não será  devido pelo FUNDO ou qualquer pessoa, incluindo o ADMINISTRADOR, o GESTOR e o CUSTODIANTE,  do FUNDO ou da Classe Investida qualquer multa ou penalidade, de qualquer natureza. O não resgate  de cotas subordinadas mezanino da Classe Investida detidas pela Classe poderá impactar  negativamente no fluxo de pagamento de resgate da Classe e/ou no valor patrimonial das Cotas da  Classe.</a:t>
            </a:r>
          </a:p>
          <a:p>
            <a:r>
              <a:t>CNPJ 55563624000109 · Classes e séries de cotas · Regulamento · ID 1192614 · 2026-04-30 · versão 1 · p. 31 · 15.1.1 · https://fnet.bmfbovespa.com.br/fnet/publico/visualizarDocumento?id=1192614</a:t>
            </a:r>
          </a:p>
          <a:p>
            <a:r>
              <a:t>CNPJ 55563624000109 · Classes e séries de cotas · Excerto da fonte:</a:t>
            </a:r>
          </a:p>
          <a:p>
            <a:r>
              <a:t>15.1.1 Riscos de Crédito:</a:t>
            </a:r>
          </a:p>
          <a:p>
            <a:r>
              <a:t> (i) Risco de concentração na Classe Investida. Nos termos do presente Regulamento, a Classe  deverá manter alocado, no mínimo, 67% (sessenta e sete por cento) do Patrimônio Líquido nas Cotas  da Classe Investida. Alterações na condição econômico-financeira e na expectativa de desempenho ou  resultados da Classe Investida poderão, isolada ou cumulativamente, afetar negativamente o  rendimento do investimento nas Cotas, de forma mais severa do que se a Classe adotasse uma  estratégia de investimento de maior diversificação. O risco associado às aplicações de qualquer fundo  de investimento é diretamente proporcional à concentração da sua carteira, sendo que, quanto maior  essa concentração, maior será a sua vulnerabilidade.</a:t>
            </a:r>
          </a:p>
          <a:p>
            <a:r>
              <a:t> (ii) Risco relativo à Classe Investida. Nos termos deste Anexo, a Classe deverá manter alocado, no  mínimo, 67% (sessenta e sete por cento) do Patrimônio Líquido em Cotas da Classe Investida. Os  investimentos realizados pela Classe Investida poderão estar sujeitos a flutuações típicas do mercado,  risco de crédito, risco sistêmico, condições adversas de liquidez e negociação atípica nos mercados de  atuação, bem como outros riscos diversos. Este Anexo não contém a descrição de todas as  características, incluindo os riscos, da Classe Investida.</a:t>
            </a:r>
          </a:p>
          <a:p>
            <a:r>
              <a:t> (iii) Risco Relativo ao Pagamento de Encargos da Classe Investida. Tendo em vista a estrutura da  Classe Investida – que emitiu cotas sêniores, cotas subordinadas mezanino e cotas subordinadas júnior  – em situação ordinária os encargos da Classe Investida são arcados pelas cotas subordinadas júnior,  que se subordinam às cotas subordinadas mezanino e às cotas sêniores para fins de amortização,  resgate e distribuição de rendimentos, não impactando, portanto, as Cotas da Classe Investida. Não  obstante o funcionamento da Classe Investida em situação ordinária, em cenários extraordinários, na  eventualidade do valor das cotas subordinadas júnior ficar reduzido a zero ou a valor negativo, os  encargos da Classe Investida conforme previstos em seu regulamento, inclusive mas não se limitando  as remunerações dos prestadores de serviços essenciais, passarão a ser arcados pelas cotas  subordinadas mezanino (que são as Cotas da Classe Investida), impactando no valor do investimento  da Classe na Classe Investida, e consequentemente, o investimento dos Cotistas na Classe.</a:t>
            </a:r>
          </a:p>
          <a:p>
            <a:r>
              <a:t> (iv) Riscos referentes à carteira da Classe Investida. Na forma do Anexo Normativo II da Resolução  CVM 175, a Classe Investida investe, direta ou indiretamente, no mínimo, 67% (sessenta e sete por  cento) do seu patrimônio em direitos creditórios originados pela Mercado Pago. O investimento em tais  direitos creditórios está sujeito a fatores de risco específicos, conforme detalhados no regulamento da  Classe Investida, incluindo, mas não se limitando a:</a:t>
            </a:r>
          </a:p>
          <a:p>
            <a:r>
              <a:t> (a) Risco de liquidez dos direitos creditórios. O investimento da Classe Investida em direitos  creditórios apresenta peculiaridades em relação às aplicações usuais da maioria dos  fundos de investimento brasileiros, haja vista que não existe, no Brasil, mercado  secundário com liquidez para tais direitos creditórios. Caso a Classe Investida precise  vender os direitos creditórios adquiridos, poderá não haver mercado comprador para  tais créditos, bem como o preço de alienação de tais direitos creditórios poderá refletir  essa falta de liquidez, causando perda ao patrimônio da Classe Investida e,  consequentemente, à Classe.</a:t>
            </a:r>
          </a:p>
          <a:p>
            <a:r>
              <a:t>CNPJ 55563624000109 · Classes e séries de cotas · AGE · ID 1192603 · 2026-04-30 · versão 1 · p. 1 · 4.1 · https://fnet.bmfbovespa.com.br/fnet/publico/visualizarDocumento?id=1192603</a:t>
            </a:r>
          </a:p>
          <a:p>
            <a:r>
              <a:t>CNPJ 55563624000109 · Classes e séries de cotas · Excerto da fonte:</a:t>
            </a:r>
          </a:p>
          <a:p>
            <a:r>
              <a:t>4.1. Aprovar a alteração do Anexo I da Classe Única para a reorganização do passivo de sua subclasse  única em novas subclasses, quais sejam, subclasse A (“Subclasse A”), subclasse B (“Subclasse B”) e  subclasse C (“Subclasse C” e, quando em conjunto com a Subclasse A e a Subclasse B, as “Subclasses”),  considerando que serão mantidas as condições de investimento originalmente pactuadas com os cotistas,  como critérios de aplicação, resgate, amortização e política de investimento da Classe Única, diferindo-  se, exclusivamente, em relação ao prazo de duração cada Subclasse.</a:t>
            </a:r>
          </a:p>
          <a:p>
            <a:r>
              <a:t>CNPJ 55563624000109 · Classes e séries de cotas · Condição: Documentos atuais selecionados no inventário por categoria/escopo; a data documental isolada não comprova vigência jurídica.</a:t>
            </a:r>
          </a:p>
          <a:p>
            <a:r>
              <a:t>CNPJ 55563624000109 · Classes e séries de cotas · Versão e prevalência: Documentos atuais selecionados no inventário por categoria/escopo; a data documental isolada não comprova vigência jurídica.</a:t>
            </a:r>
          </a:p>
          <a:p>
            <a:r>
              <a:t>CNPJ 55563624000109 · Classes e séries de cotas · Resumo do histórico: {"count": 3, "dates": ["2025-01-31", "2026-01-31", "2026-04-30"], "document_count": 3, "sources": [{"document_id": "1192614", "title": "Regulamento", "reference_date": "2026-04-30", "version": "1", "page": "15", "url": "https://fnet.bmfbovespa.com.br/fnet/publico/visualizarDocumento?id=1192614", "sha256": "f56e63ace0acde41d2f47fb48f1ac7f3f7df5e2d32de092d7c5e075a52516632"}, {"document_id": "1178840", "title": "Demonstrações Financeiras", "reference_date": "2026-01-31", "version": "1", "page": 25, "url": "https://fnet.bmfbovespa.com.br/fnet/publico/visualizarDocumento?id=1178840", "sha256": "c458e98664c5c907ddb5a05a94b120bed4e05295b2bfc420f5ba69af0a229abe"}, {"document_id": "891861", "title": "Demonstrações Financeiras", "reference_date": "2025-01-31", "version": "1", "page": 26, "url": "https://fnet.bmfbovespa.com.br/fnet/publico/visualizarDocumento?id=891861", "sha256": "e9cb9e6ddbe505fe068cfcac33605165a98313489de0d3ce6d4d238263c3f3e7"}], "reference": {"path": "history/55563624000109.json", "criterion_id": "quota_classes", "total_count": 3, "preview_count": 3, "full_text_deferred": true, "sha256": "7835d573fb58a3c19adf5b8ecc2aee2bdbb9a88f7a0c0209b5f262b64c7522e3"}}</a:t>
            </a:r>
          </a:p>
          <a:p>
            <a:r>
              <a:t>CNPJ 62552447000120 · Classes e séries de cotas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Classes e séries de cotas · Resumo do histórico: {"count": 1, "dates": ["2025-09-03"], "document_count": 1, "sources": [{"document_id": "988020", "title": "Instrumento Particular de Emissão de Cotas", "reference_date": "2025-09-03", "version": "1", "page": "5", "url": "https://fnet.bmfbovespa.com.br/fnet/publico/visualizarDocumento?id=988020", "sha256": "8ecc8a771bb9713d64e5fc2052c489664cb0433801a9280db68e5187d35bf7a5"}], "reference": {"path": "history/62552447000120.json", "criterion_id": "quota_classes", "total_count": 1, "preview_count": 1, "full_text_deferred": true, "sha256": "d95db8c0613d67ee84118c734588665265ea6b02f86a0318d6a844cbe1d0f82f"}}</a:t>
            </a:r>
          </a:p>
          <a:p>
            <a:r>
              <a:t>CNPJ 63953620000165 · Classes e séries de cotas · AGE · ID 1313935 · 2026-08-31 · versão 1 · p. 1 · 4.1 · https://fnet.bmfbovespa.com.br/fnet/publico/visualizarDocumento?id=1313935</a:t>
            </a:r>
          </a:p>
          <a:p>
            <a:r>
              <a:t>CNPJ 63953620000165 · Classes e séries de cotas · Excerto da fonte:</a:t>
            </a:r>
          </a:p>
          <a:p>
            <a:r>
              <a:t>4.1. Aprovar a realização da incorporação das parcelas cindidas descritas no Anexo I à presente ata (“Parcelas  Cindidas”), com base no fechamento de 28 de agosto de 2026 (“Data Base”), condicionada à aprovação da cisão  da CLASSE ÚNICA DO MT CONSIGNADO PRIVADO I FUNDO DE INVESTIMENTO EM DIREITOS CREDITÓRIOS  RESPONSABILIDADE LIMITADA, inscrita no CNPJ sob o nº 60.010.416/0001-12 (“Classe Cindida”), com a  subsequente incorporação da respectiva Parcela Cindida, emitindo-se cotas seniores da Classe, a serem  atribuídas integralmente aos cotistas da Classe Cindida, no valor da respectiva Parcela Cindida, na Data-Base, de  acordo com o valor das cotas da Classe na mesma data. A partir da Data Base, todos os direitos e obrigações dos  ativos cindidos serão sucedidos à Classe;</a:t>
            </a:r>
          </a:p>
          <a:p>
            <a:r>
              <a:t>CNPJ 63953620000165 · Classes e séries de cotas · Condição: Documentos atuais selecionados no inventário por categoria/escopo; a data documental isolada não comprova vigência jurídica.</a:t>
            </a:r>
          </a:p>
          <a:p>
            <a:r>
              <a:t>CNPJ 63953620000165 · Classes e séries de cotas · Versão e prevalência: Documentos atuais selecionados no inventário por categoria/escopo; a data documental isolada não comprova vigência jurídica.</a:t>
            </a:r>
          </a:p>
          <a:p>
            <a:r>
              <a:t>CNPJ 63953620000165 · Classes e séries de cotas · Resumo do histórico: {"count": 11, "dates": ["2026-07-29", "2026-08-17", "2026-08-21"], "document_count": 3, "sources": [{"document_id": "1309436", "title": "AGE", "reference_date": "2026-08-21", "version": "1", "page": 1, "clause": "4.1", "url": "https://fnet.bmfbovespa.com.br/fnet/publico/visualizarDocumento?id=1309436", "sha256": "f679de1621039dce7c665e3a742f213fd4d5047e12b96163b31ea4ae86f56817"}, {"document_id": "1298232", "title": "AGE", "reference_date": "2026-08-17", "version": "1", "page": 1, "clause": "4.1", "url": "https://fnet.bmfbovespa.com.br/fnet/publico/visualizarDocumento?id=1298232", "sha256": "75322e306547f725e73a2c6687b598e14d628caa84bd46a23508337a606866f6"}, {"document_id": "1277543", "title": "AGE", "reference_date": "2026-07-29", "version": "1", "page": 1, "url": "https://fnet.bmfbovespa.com.br/fnet/publico/visualizarDocumento?id=1277543", "sha256": "c2fb499fd6e25251a221d4e9dbb5d1378fb5efde5a58eee091868faf52d326c0"}], "reference": {"path": "history/63953620000165.json", "criterion_id": "quota_classes", "total_count": 11, "preview_count": 3, "full_text_deferred": true, "sha256": "a7b89077f5e21098c2d601c303faabc3ff6b9729f89d8afecdc60fe1404720c1"}}</a:t>
            </a:r>
          </a:p>
          <a:p>
            <a:r>
              <a:t>CNPJ 54871427000194 · Ofertas e colocação · AGE · ID 1055482 · 2025-12-02 · versão 1 · p. 1 · 4.1 · https://fnet.bmfbovespa.com.br/fnet/publico/visualizarDocumento?id=1055482</a:t>
            </a:r>
          </a:p>
          <a:p>
            <a:r>
              <a:t>CNPJ 54871427000194 · Ofertas e colocação · Excerto da fonte:</a:t>
            </a:r>
          </a:p>
          <a:p>
            <a:r>
              <a:t>4.1. Aprovar a nova emissão de Cotas pela Classe, todas nominativas e escriturais, com preço unitário de emissão  correspondente ao valor das Cotas da Classe em circulação quando na data de aprovação da Nova Emissão,  perfazendo o montante total de emissão de até R$ 650.000.000 (seiscentos e cinquenta milhões de reais), conforme  as características constantes do Regulamento e do Anexo da Classe (“Novas Cotas” e “Nova Emissão”,  respectivamente), e descritas abaixo:</a:t>
            </a:r>
          </a:p>
          <a:p>
            <a:r>
              <a:t>(i) Rito: as Novas Cotas não serão objeto de oferta pública, conforme facultado pelo artigo 8º, inciso IV, da  Resolução CVM nº 160, uma vez que a Classe se enquadra nos requisitos do referido dispositivo;</a:t>
            </a:r>
          </a:p>
          <a:p>
            <a:r>
              <a:t>(ii) Preço de Emissão: o preço unitário de emissão corresponderá ao valor das Cotas da Classe em circulação  quando na data de aprovação da Nova Emissão (“Preço de Emissão”);</a:t>
            </a:r>
          </a:p>
          <a:p>
            <a:r>
              <a:t>(iii) Preço de Integralização: o Preço de Integralização corresponderá ao valor das Cotas da Classe em  circulação quando da transferência dos valores para liquidação financeira (“Preço de Integralização”);</a:t>
            </a:r>
          </a:p>
          <a:p>
            <a:r>
              <a:t>(iv) Forma de Integralização: as Cotas serão integralizadas à vista, em moeda corrente nacional, pelo Preço  de Integralização, junto ao seu respectivo agente de custódia e/ou da Administradora na qualidade de  escriturador das cotas; e</a:t>
            </a:r>
          </a:p>
          <a:p>
            <a:r>
              <a:t>(v) Período de colocação: a subscrição das Cotas, objeto da Nova Emissão, deverão ser realizadas no prazo  máximo de 180 (cento e oitenta) dias, contados da data de efeitos do presente instrumento.</a:t>
            </a:r>
          </a:p>
          <a:p>
            <a:r>
              <a:t>CNPJ 54871427000194 · Ofertas e colocação · Condição: Trechos do documento específico identificado com data mais recente; vigência jurídica não inferida.</a:t>
            </a:r>
          </a:p>
          <a:p>
            <a:r>
              <a:t>CNPJ 54871427000194 · Ofertas e colocação · Versão e prevalência: Trechos do documento específico identificado com data mais recente; vigência jurídica não inferida.</a:t>
            </a:r>
          </a:p>
          <a:p>
            <a:r>
              <a:t>CNPJ 54871427000194 · Ofertas e colocação · Resumo do histórico: {"count": 7, "dates": ["2024-06-13", "2024-12-10"], "document_count": 3, "sources": [{"document_id": "798101", "title": "Anúncio de Encerramento", "reference_date": "2024-12-10", "version": "1", "page": "1-2", "url": "https://fnet.bmfbovespa.com.br/fnet/publico/visualizarDocumento?id=798101", "sha256": "71618c432ad86002484571d66922b873e4fa91ed3543a109134ddee0bd872f20"}, {"document_id": "679614", "title": "Anúncio de Início", "reference_date": "2024-06-13", "version": "1", "page": 1, "url": "https://fnet.bmfbovespa.com.br/fnet/publico/visualizarDocumento?id=679614", "sha256": "aad43ed14bfa0576144a306c466aea031fce0d01d3cb3de6aebd120f11164bfa"}, {"document_id": "683482", "title": "AGE", "reference_date": "2024-06-13", "version": "1", "page": 2, "url": "https://fnet.bmfbovespa.com.br/fnet/publico/visualizarDocumento?id=683482", "sha256": "3afbe254027691929935eaf19ebbb8634fb2ccd8e2fbea2cb2d81a7818f8d648"}], "reference": {"path": "history/54871427000194.json", "criterion_id": "offers", "total_count": 7, "preview_count": 3, "full_text_deferred": true, "sha256": "35d7cd99be50c7287c9fb675cf4f2e736002315295a225a9efa79c8d9186d874"}}</a:t>
            </a:r>
          </a:p>
          <a:p>
            <a:r>
              <a:t>CNPJ 60010416000112 · Ofertas e colocação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Ofertas e colocação · Resumo do histórico: {"count": 1, "dates": ["2025-03-20"], "document_count": 1, "sources": [{"document_id": "993785", "title": "Instrumento Particular de Constituição/Encerramento do Fundo", "reference_date": "2025-03-20", "version": "1", "page": "1-2", "url": "https://fnet.bmfbovespa.com.br/fnet/publico/visualizarDocumento?id=993785", "sha256": "0826e0eae2c51afabf59bbc49fc7647598d03da5ca6de0f9725850a8bd6af457"}], "reference": {"path": "history/60010416000112.json", "criterion_id": "offers", "total_count": 1, "preview_count": 1, "full_text_deferred": true, "sha256": "8e2bd813f4c51cf01f6bfaad164bafe69d2bbb192f753eac92da3a01c2e63046"}}</a:t>
            </a:r>
          </a:p>
          <a:p>
            <a:r>
              <a:t>CNPJ 62696791000193 · Ofertas e colocação · Regulamento · ID 1143317 · 2026-03-20 · versão 1 · p. 39 · 2.6 · https://fnet.bmfbovespa.com.br/fnet/publico/visualizarDocumento?id=1143317</a:t>
            </a:r>
          </a:p>
          <a:p>
            <a:r>
              <a:t>CNPJ 62696791000193 · Ofertas e colocação · Excerto da fonte:</a:t>
            </a:r>
          </a:p>
          <a:p>
            <a:r>
              <a:t>2.6. O valor de mercado das Cotas de emissão da Classe poderá sofrer oscilações frequentes e  significativas, inclusive ao longo do dia. Como consequência, o valor de mercado das cotas de  emissão da Classe poderá não ref letir necessariamente seu valor patrimonial. Não será devida  pela Classe ou por qualquer pessoa, incluindo as instituições responsáveis pela distribuição  das cotas, os demais Cotistas da Classe, o Administrador e as instituições participantes da  of erta, qualquer multa ou penalidade de qualquer natureza, caso ocorra, por qualquer razão,</a:t>
            </a:r>
          </a:p>
          <a:p>
            <a:r>
              <a:t> (i) o alongamento do período de amortização das Cotas; (ii) a liquidação da Classe; ou, ainda,</a:t>
            </a:r>
          </a:p>
          <a:p>
            <a:r>
              <a:t> (iii) caso os Cotistas sof ram qualquer dano ou prejuízo resultante de tais eventos.</a:t>
            </a:r>
          </a:p>
          <a:p>
            <a:r>
              <a:t>3. Risco TributárioOs rendimentos e ganhos líquidos auf eridos pela Classe em aplicações f inanceiras de  renda f ixa ou de renda variável sujeitam-se à incidência do imposto de renda na f onte, observadas as  mesmas normas aplicáveis às pessoas jurídicas, podendo esse imposto ser compensado com o retido na  f onte pela Classe quando da distribuição de rendimentos e ganhos de capital aos Cotistas. Os rendimentos  auf eridos pela Classe, quando distribuídos aos Cotistas sujeitam-se à incidência do Imposto de Renda na  f onte à alíquota de 20% (vinte por cento). Os rendimentos e ganhos de capital auferidos pelos Cotistas na</a:t>
            </a:r>
          </a:p>
          <a:p>
            <a:r>
              <a:t>CNPJ 62696791000193 · Ofertas e colocação · Regulamento · ID 1143317 · 2026-03-20 · versão 1 · p. 28 · https://fnet.bmfbovespa.com.br/fnet/publico/visualizarDocumento?id=1143317</a:t>
            </a:r>
          </a:p>
          <a:p>
            <a:r>
              <a:t>CNPJ 62696791000193 · Ofertas e colocação · Excerto da fonte:</a:t>
            </a:r>
          </a:p>
          <a:p>
            <a:r>
              <a:t>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equivalente a 0,9% (nove décimos  por cento) ao ano aplicado sobre o Patrimônio Anexo I ao  Regulamento Líquido, observado o limite máximo de 4,5% (quatro  inteiros e cinquenta centésimos por cento) do volume captado na  respectiva oferta (“Taxa Máxima de Distribuição”).A Taxa Máxima de</a:t>
            </a:r>
          </a:p>
          <a:p>
            <a:r>
              <a:t>CNPJ 62696791000193 · Ofertas e colocação · Condição: Documentos atuais selecionados no inventário por categoria/escopo; a data documental isolada não comprova vigência jurídica.</a:t>
            </a:r>
          </a:p>
          <a:p>
            <a:r>
              <a:t>CNPJ 62696791000193 · Ofertas e colocação · Versão e prevalência: Documentos atuais selecionados no inventário por categoria/escopo; a data documental isolada não comprova vigência jurídica.</a:t>
            </a:r>
          </a:p>
          <a:p>
            <a:r>
              <a:t>CNPJ 62696791000193 · Ofertas e colocação · Resumo do histórico: {"count": 1, "dates": ["2026-03-27"], "document_count": 1, "sources": [{"document_id": "1148821", "title": "Instrumento Particular de Emissão de Cotas", "reference_date": "2026-03-27", "version": "1", "page": "1-3", "url": "https://fnet.bmfbovespa.com.br/fnet/publico/visualizarDocumento?id=1148821", "sha256": "86900e9dd498403696bfffbd4196443c83ec4d51ff21135e073c1966e1adf4c0"}], "reference": {"path": "history/62696791000193.json", "criterion_id": "offers", "total_count": 1, "preview_count": 1, "full_text_deferred": true, "sha256": "0e9ec199848320ec945708123ae0cb6075d76c05d94beed814d582031d353926"}}</a:t>
            </a:r>
          </a:p>
          <a:p>
            <a:r>
              <a:t>CNPJ 55563624000109 · Ofertas e colocação · Regulamento · ID 1192614 · 2026-04-30 · versão 1 · p. 25 · 12.9 · https://fnet.bmfbovespa.com.br/fnet/publico/visualizarDocumento?id=1192614</a:t>
            </a:r>
          </a:p>
          <a:p>
            <a:r>
              <a:t>CNPJ 55563624000109 · Ofertas e colocação · Excerto da fonte:</a:t>
            </a:r>
          </a:p>
          <a:p>
            <a:r>
              <a:t>12.9 Inclui-se entre as obrigações do GESTOR, contratar, em nome da Classe, se necessário, com terceiros  devidamente habilitados e autorizados, os serviços de distribuição das Cotas. A distribuição pública das Cotas  deverá ser realizada por distribuidores devidamente autorizados pela CVM, nos termos da regulamentação  aplicável.</a:t>
            </a:r>
          </a:p>
          <a:p>
            <a:r>
              <a:t>CNPJ 55563624000109 · Ofertas e colocação · Condição: Documentos atuais selecionados no inventário por categoria/escopo; a data documental isolada não comprova vigência jurídica.</a:t>
            </a:r>
          </a:p>
          <a:p>
            <a:r>
              <a:t>CNPJ 55563624000109 · Ofertas e colocação · Versão e prevalência: Documentos atuais selecionados no inventário por categoria/escopo; a data documental isolada não comprova vigência jurídica.</a:t>
            </a:r>
          </a:p>
          <a:p>
            <a:r>
              <a:t>CNPJ 55563624000109 · Ofertas e colocação · Resumo do histórico: {"count": 3, "dates": ["2024-07-03"], "document_count": 3, "sources": [{"document_id": "703295", "title": "Anúncio de Início", "reference_date": "2024-07-03", "version": "2", "page": 1, "url": "https://fnet.bmfbovespa.com.br/fnet/publico/visualizarDocumento?id=703295", "sha256": "12322b6dbf75e673723bd60910373db249451b72666792e18e0c7b6128f4608a"}, {"document_id": "702585", "title": "Anúncio de Início", "reference_date": "2024-07-03", "version": "1", "page": 1, "url": "https://fnet.bmfbovespa.com.br/fnet/publico/visualizarDocumento?id=702585", "sha256": "6708609ac7f0611118fb23ffd6d2cd6c7fd33275130407918ea42831baa712cd"}, {"document_id": "691674", "title": "Instrumento Particular de Emissão de Cotas", "reference_date": "2024-07-03", "version": "1", "page": 3, "url": "https://fnet.bmfbovespa.com.br/fnet/publico/visualizarDocumento?id=691674", "sha256": "78bf7b350f1785beae5f43bd209b5ed19e863cb9a2cff01542aac11dd63ca554"}], "reference": {"path": "history/55563624000109.json", "criterion_id": "offers", "total_count": 3, "preview_count": 3, "full_text_deferred": true, "sha256": "7835d573fb58a3c19adf5b8ecc2aee2bdbb9a88f7a0c0209b5f262b64c7522e3"}}</a:t>
            </a:r>
          </a:p>
          <a:p>
            <a:r>
              <a:t>CNPJ 62552447000120 · Ofertas e colocação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Ofertas e colocação · Resumo do histórico: {"count": 1, "dates": ["2025-09-03"], "document_count": 1, "sources": [{"document_id": "988020", "title": "Instrumento Particular de Emissão de Cotas", "reference_date": "2025-09-03", "version": "1", "page": "5-6", "url": "https://fnet.bmfbovespa.com.br/fnet/publico/visualizarDocumento?id=988020", "sha256": "8ecc8a771bb9713d64e5fc2052c489664cb0433801a9280db68e5187d35bf7a5"}], "reference": {"path": "history/62552447000120.json", "criterion_id": "offers", "total_count": 1, "preview_count": 1, "full_text_deferred": true, "sha256": "d95db8c0613d67ee84118c734588665265ea6b02f86a0318d6a844cbe1d0f82f"}}</a:t>
            </a:r>
          </a:p>
          <a:p>
            <a:r>
              <a:t>CNPJ 63953620000165 · Ofertas e colocação · Anexo ao Regulamento · ID 1222863 · 2026-06-02 · versão 1 · p. 10 · 6.9 · https://fnet.bmfbovespa.com.br/fnet/publico/visualizarDocumento?id=1222863</a:t>
            </a:r>
          </a:p>
          <a:p>
            <a:r>
              <a:t>CNPJ 63953620000165 · Ofertas e colocação · Excerto da fonte:</a:t>
            </a:r>
          </a:p>
          <a:p>
            <a:r>
              <a:t>6.9 As Cotas poderão ser objeto de oferta pública a ser realizada nos termos da Resolução CVM 160 (“Oferta”) e/ou  poderão ser colocadas de forma privada (“Colocação Privada”), bem como segundo outros ritos que venham a  ser previstos pela regulamentação. As Cotas deverão ser emitidas e subscritas dentro do prazo e nos termos e  condições da legislação aplicável, do presente Anexo e dos respectivos Boletins de Subscrição e/ou  Compromissos de Investimento.</a:t>
            </a:r>
          </a:p>
          <a:p>
            <a:r>
              <a:t>CNPJ 63953620000165 · Ofertas e colocação · Condição: Documentos atuais selecionados no inventário por categoria/escopo; a data documental isolada não comprova vigência jurídica.</a:t>
            </a:r>
          </a:p>
          <a:p>
            <a:r>
              <a:t>CNPJ 63953620000165 · Ofertas e colocação · Versão e prevalência: Documentos atuais selecionados no inventário por categoria/escopo; a data documental isolada não comprova vigência jurídica.</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Emissões e custos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Remuneração por subclasse e série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Remuneração por subclasse e série · Resumo do histórico: {"count": 1, "dates": ["2024-04-28"], "document_count": 1, "sources": [{"document_id": "670691", "title": "Regulamento", "reference_date": "2024-04-28", "version": "1", "page": "14", "url": "https://fnet.bmfbovespa.com.br/fnet/publico/visualizarDocumento?id=670691", "sha256": "bf16dd7f1a62d5cdbf2e2d54fef81783783f7310fbc99c3a8f00459bdf9d037b"}], "reference": {"path": "history/54871427000194.json", "criterion_id": "remuneration", "total_count": 1, "preview_count": 1, "full_text_deferred": true, "sha256": "35d7cd99be50c7287c9fb675cf4f2e736002315295a225a9efa79c8d9186d874"}}</a:t>
            </a:r>
          </a:p>
          <a:p>
            <a:r>
              <a:t>CNPJ 60010416000112 · Remuneração por subclasse e série · Instrumento Particular de Constituição/Encerramento do Fundo · ID 993785 · 20/03/2025 · versão 1ªemissão20/03/2025 · p. 5 · Suplemento1ªsênior BenchmarkSênior · https://fnet.bmfbovespa.com.br/fnet/publico/visualizarDocumento?id=993785</a:t>
            </a:r>
          </a:p>
          <a:p>
            <a:r>
              <a:t>CNPJ 60010416000112 · Remuneração por subclasse e série · Excerto da fonte:</a:t>
            </a:r>
          </a:p>
          <a:p>
            <a:r>
              <a:t>4,80% (quatro inteiros e oitenta centésimos por cento)calculado por Dia Útil à base de 1/252 (um inteiro e duzentos e cinquenta e dois avos); e (ii) “Benchmark Sênior Adicional”: o parâmetro adicional de rentabilidade a ser buscado pela Classe para remunerar as Cotas Seniores, correspondente 15,00% (quinze por cento) do excesso de spread das Cotas Subordinadas com cap de remuneração total das Cotas Seniores pela variação do CDI acrescido de 6,00% (seis por cento</a:t>
            </a:r>
          </a:p>
          <a:p>
            <a:r>
              <a:t>CNPJ 60010416000112 · Remuneração por subclasse e série · Condição: Termo específico da primeira emissão de 20/03/2025, distinto de taxa deperformance e do suplemento modelo com campos não preenchidos do regulamento.</a:t>
            </a:r>
          </a:p>
          <a:p>
            <a:r>
              <a:t>CNPJ 60010416000112 · Remuneração por subclasse e série · Versão e prevalência: Leitura específica das cláusulas indicadas; condições e conflitos preservados. Seleção documental atual não comprova vigência jurídica por data isolada.</a:t>
            </a:r>
          </a:p>
          <a:p>
            <a:r>
              <a:t>CNPJ 60010416000112 · Remuneração por subclasse e série · Resumo do histórico: {"count": 3, "dates": ["2025-03-20", "2025-05-12"], "document_count": 2, "sources": [{"document_id": "1004656", "title": "AGE", "reference_date": "2025-05-12", "version": "1", "page": 5, "url": "https://fnet.bmfbovespa.com.br/fnet/publico/visualizarDocumento?id=1004656", "sha256": "f6c9c009f6170e2b29f074b98522accec73f0c40efbf11f9ec2c8d3f1402616b"}, {"document_id": "993785", "title": "Instrumento Particular de Constituição/Encerramento do Fundo", "reference_date": "2025-03-20", "version": "1", "page": "4-5", "url": "https://fnet.bmfbovespa.com.br/fnet/publico/visualizarDocumento?id=993785", "sha256": "0826e0eae2c51afabf59bbc49fc7647598d03da5ca6de0f9725850a8bd6af457"}, {"document_id": "993785", "title": "Instrumento Particular de Constituição/Encerramento do Fundo", "reference_date": "2025-03-20", "version": "1", "page": 5, "url": "https://fnet.bmfbovespa.com.br/fnet/publico/visualizarDocumento?id=993785", "sha256": "0826e0eae2c51afabf59bbc49fc7647598d03da5ca6de0f9725850a8bd6af457"}], "reference": {"path": "history/60010416000112.json", "criterion_id": "remuneration", "total_count": 3, "preview_count": 3, "full_text_deferred": true, "sha256": "8e2bd813f4c51cf01f6bfaad164bafe69d2bbb192f753eac92da3a01c2e63046"}}</a:t>
            </a:r>
          </a:p>
          <a:p>
            <a:r>
              <a:t>CNPJ 62696791000193 · Remuneração por subclasse e série · Regulamento · ID 1143317 · 20/03/2026 · versão Regulamento — referência 20/03/2026 · p. 33 · Apêndice Sênior, 1.2 e 1.4 · https://fnet.bmfbovespa.com.br/fnet/publico/visualizarDocumento?id=1143317</a:t>
            </a:r>
          </a:p>
          <a:p>
            <a:r>
              <a:t>CNPJ 62696791000193 · Remuneração por subclasse e série · Excerto da fonte:</a:t>
            </a:r>
          </a:p>
          <a:p>
            <a:r>
              <a:t>1.2. As Cotas Seniores poderão ser divididas em séries com valores e prazos diferenciados para amortização, resgate e remuneração, sendo que cada série terá as mesmas características e conf erirá a seus titulares iguais direitos e obrigações nos termos deste Reg ulamento e do Apêndice ref erente a cada emissão/série de Cotas Seniores. 1.2. Benchmark. A Classe buscará atingir, para as Cotas Seniores, o “Benchmark”, correspondente à 100% (cem por cento) da variação positiva do CDI acrescida de 4,5% (quatro inteiros e cinco décimos por cento) ao ano. 1.3. O Benchmark não representa e nem devem ser considerados uma promessa, garantia ou sugestão de rentabilidade aos Cotistas Seniores, por parte da Classe, do Administrador, do Gestor e/ou do Cedente. 1.4. Independentemente do valor do Patrimônio Líquido da Classe, os Cotistas detentores de Cotas Seniores não f arão jus a uma rentabilidade superior ao Benchmark, o qual representará o limite máximo de remuneração possível para as Cotas Seniores. 2. Emissão, Subscrição e Integralização das Cotas 2.1. A Classe poderá emitir múltiplas Séries de Cotas Seniores, ficando ressalvado, no entanto, que cada nova Série de Cotas Seniores a ser emitida pela Classe</a:t>
            </a:r>
          </a:p>
          <a:p>
            <a:r>
              <a:t>CNPJ 62696791000193 · Remuneração por subclasse e série · Regulamento · ID 1143317 · 20/03/2026 · versão Regulamento — referência 20/03/2026 · p. 34 · Apêndice Sênior, 6.2 · https://fnet.bmfbovespa.com.br/fnet/publico/visualizarDocumento?id=1143317</a:t>
            </a:r>
          </a:p>
          <a:p>
            <a:r>
              <a:t>CNPJ 62696791000193 · Remuneração por subclasse e série · Excerto da fonte:</a:t>
            </a:r>
          </a:p>
          <a:p>
            <a:r>
              <a:t>6.2. Em complemento às Amortizações Programadas de Cotas Seniores, os Cotistas Seniores f arão jus, sempre que o Patrimônio Líquido da Classe assim permita e desde que o Valor Unitário das Cotas Seniores esteja superior ao valor de integralização das Cotas Seniores em circulação, a 50% (cinquenta por cento) de qualquer valor que exceder a Amortização das Cotas Subordinadas, conforme prevista no Apêndice da Subclasse Subordinada, a ser paga na Data de Amortização Programada de Cotas Seniores (“Amortização Extraordinária de Cotas Seniores”). 6.3. Os pagamentos das parcelas de Amortização e/ou de resgate das Cotas Seniores serão ef etuados, em moeda corrente nacional, pelo Valor Unitário das Cotas Seniores no dia do pagamento, calculado na forma descrita neste Apêndice e no Anexo I, por meio de depósito em conta de titularidade dos Cotistas titulares BTG Pactual 2 SAC: 0800 772 28 27 - Ouvidoria: 0800 722 00 48 - btgpactual.com</a:t>
            </a:r>
          </a:p>
          <a:p>
            <a:r>
              <a:t>CNPJ 62696791000193 · Remuneração por subclasse e série · Regulamento · ID 1143317 · 20/03/2026 · versão Regulamento — referência 20/03/2026 · p. 37 · Apêndice Júnior, 4.1–4.2 · https://fnet.bmfbovespa.com.br/fnet/publico/visualizarDocumento?id=1143317</a:t>
            </a:r>
          </a:p>
          <a:p>
            <a:r>
              <a:t>CNPJ 62696791000193 · Remuneração por subclasse e série · Excerto da fonte:</a:t>
            </a:r>
          </a:p>
          <a:p>
            <a:r>
              <a:t>4.1. Caso o Patrimônio Líquido da Classe assim permita, as Cotas Subordinadas f arão jus à amortização semestral, no último Dia Útil dos meses de janeiro e julho de cada ano, de valor equivalente ao excedente do valor de integralização das Cotas Subordinadas em circulação, limitado ao percentual de 100% (cem por cento) da variação positiva do CDI acrescida de 4,50% (quatro inteiros e cinco décimos por cento) ao ano, considerando, para tanto a razão entre (i) o valor de integralização das Cotas Subordinadas Júnior em circulação e (ii) o valor de cada uma das Cotas Subordinadas, a ser paga na Data de Amortização Programada de Cotas Seniores (“Amortização das Cotas Subordinadas”). 4.2. Em complemento às Amortizações das Cotas Subordinadas, os Cotistas Subordinados farão jus, sempre que o Patrimônio Líquido da Classe assim permita e desde que o Valor Unitário das Cotas Subordinadas esteja superior ao valor de integralização das Cotas Subordinadas em circulação, a 50% (cinquenta por cento) de qualquer valor que exceder a Amortização das Cotas Subordinadas, a ser paga na Data de Amortização Programada de Cotas Seniores (“Amortização Extraordinária de Cotas Seniores”). 5. Excesso de Subordinação 5.1. Verif icado excesso de subordinação,</a:t>
            </a:r>
          </a:p>
          <a:p>
            <a:r>
              <a:t>CNPJ 62696791000193 · Remuneração por subclasse e série · Condição: Benchmark é regra de atribuição, condicionado ao PL/resultados, sem garantia de rentabilidade. A subclasse mezanino é autorizada, mas não há apêndice mezanino no PDF consolidado obtido.</a:t>
            </a:r>
          </a:p>
          <a:p>
            <a:r>
              <a:t>CNPJ 62696791000193 · Remuneração por subclasse e série · Versão e prevalência: Leitura específica das cláusulas indicadas; condições e conflitos preservados. Seleção documental atual não comprova vigência jurídica por data isolada.</a:t>
            </a:r>
          </a:p>
          <a:p>
            <a:r>
              <a:t>CNPJ 62696791000193 · Remuneração por subclasse e série · Resumo do histórico: {"count": 1, "dates": ["2026-03-27"], "document_count": 1, "sources": [{"document_id": "1148821", "title": "Instrumento Particular de Emissão de Cotas", "reference_date": "2026-03-27", "version": "1", "page": "1-2", "url": "https://fnet.bmfbovespa.com.br/fnet/publico/visualizarDocumento?id=1148821", "sha256": "86900e9dd498403696bfffbd4196443c83ec4d51ff21135e073c1966e1adf4c0"}], "reference": {"path": "history/62696791000193.json", "criterion_id": "remuneration", "total_count": 1, "preview_count": 1, "full_text_deferred": true, "sha256": "0e9ec199848320ec945708123ae0cb6075d76c05d94beed814d582031d353926"}}</a:t>
            </a:r>
          </a:p>
          <a:p>
            <a:r>
              <a:t>CNPJ 55563624000109 · Remuneração por subclasse e série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Remuneração por subclasse e série · Resumo do histórico: {"count": 1, "dates": ["2026-04-30"], "document_count": 1, "sources": [{"document_id": "1192614", "title": "Regulamento", "reference_date": "2026-04-30", "version": "1", "page": "16-17", "url": "https://fnet.bmfbovespa.com.br/fnet/publico/visualizarDocumento?id=1192614", "sha256": "f56e63ace0acde41d2f47fb48f1ac7f3f7df5e2d32de092d7c5e075a52516632"}], "reference": {"path": "history/55563624000109.json", "criterion_id": "remuneration", "total_count": 1, "preview_count": 1, "full_text_deferred": true, "sha256": "7835d573fb58a3c19adf5b8ecc2aee2bdbb9a88f7a0c0209b5f262b64c7522e3"}}</a:t>
            </a:r>
          </a:p>
          <a:p>
            <a:r>
              <a:t>CNPJ 62552447000120 · Remuneração por subclasse e série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Remuneração por subclasse e série · Resumo do histórico: {"count": 1, "dates": ["2025-09-03"], "document_count": 1, "sources": [{"document_id": "988020", "title": "Instrumento Particular de Emissão de Cotas", "reference_date": "2025-09-03", "version": "1", "page": "5-6", "url": "https://fnet.bmfbovespa.com.br/fnet/publico/visualizarDocumento?id=988020", "sha256": "8ecc8a771bb9713d64e5fc2052c489664cb0433801a9280db68e5187d35bf7a5"}], "reference": {"path": "history/62552447000120.json", "criterion_id": "remuneration", "total_count": 1, "preview_count": 1, "full_text_deferred": true, "sha256": "d95db8c0613d67ee84118c734588665265ea6b02f86a0318d6a844cbe1d0f82f"}}</a:t>
            </a:r>
          </a:p>
          <a:p>
            <a:r>
              <a:t>CNPJ 63953620000165 · Remuneração por subclasse e série · Anexo ao Regulamento · ID 1222863 · 2026-06-02 · versão 1 · p. 22 · 1.2 · https://fnet.bmfbovespa.com.br/fnet/publico/visualizarDocumento?id=1222863</a:t>
            </a:r>
          </a:p>
          <a:p>
            <a:r>
              <a:t>CNPJ 63953620000165 · Remuneração por subclasse e série · Excerto da fonte:</a:t>
            </a:r>
          </a:p>
          <a:p>
            <a:r>
              <a:t>1.2. Benchmark Sênior. A Classe buscará atingir, para as Cotas Seniores, o Benchmark Sênior, qual seja, (a) para a parcela  do Patrimônio Líquido alocado em Direitos Creditórios Consignado Privado e/ou Ativos de Liquidez MT, a variação  positiva do CDI acrescida de 1,50% (um inteiro e cinco décimos por cento) ao ano, (b) para a parcela do Patrimônio  Líquido alocado em Ativos de Liquidez e/ou Direitos Creditórios TVM, a variação positiva do CDI.</a:t>
            </a:r>
          </a:p>
          <a:p>
            <a:r>
              <a:t>CNPJ 63953620000165 · Remuneração por subclasse e série · Anexo ao Regulamento · ID 1222863 · 2026-06-02 · versão 1 · p. 22 · 1.5 · https://fnet.bmfbovespa.com.br/fnet/publico/visualizarDocumento?id=1222863</a:t>
            </a:r>
          </a:p>
          <a:p>
            <a:r>
              <a:t>CNPJ 63953620000165 · Remuneração por subclasse e série · Excerto da fonte:</a:t>
            </a:r>
          </a:p>
          <a:p>
            <a:r>
              <a:t>1.5. Rentabilidade Adicional Sênior. Adicionalmente ao Benchmark Sênior, as Cotas Seniores efetivamente integralizadas  farão jus a uma rentabilidade adicional equivalente a 0,38% (trinta e oito centésimos por cento) incidente sobre o  montante financeiro integralizado pelo respectivo Cotista das Cotas Seniores (“Rentabilidade Adicional Sênior”), a  ser paga a cada Cotista Sênior, em uma única parcela, em até 40 (quarenta) dias corridos após a integralização das  respectivas Cotas Seniores, sendo automaticamente ajustada em caso de alteração da alíquota ou da forma de  incidência do IOF, e deixando de ser devida na hipótese de sua extinção.</a:t>
            </a:r>
          </a:p>
          <a:p>
            <a:r>
              <a:t> 2. Emissão, Subscrição e Integralização das Cotas</a:t>
            </a:r>
          </a:p>
          <a:p>
            <a:r>
              <a:t>CNPJ 63953620000165 · Remuneração por subclasse e série · Condição: Documentos atuais selecionados no inventário por categoria/escopo; a data documental isolada não comprova vigência jurídica.</a:t>
            </a:r>
          </a:p>
          <a:p>
            <a:r>
              <a:t>CNPJ 63953620000165 · Remuneração por subclasse e série · Versão e prevalência: Documentos atuais selecionados no inventário por categoria/escopo; a data documental isolada não comprova vigência jurídica.</a:t>
            </a:r>
          </a:p>
          <a:p>
            <a:r>
              <a:t>CNPJ 54871427000194 · Volume, VNU e emissão · Anúncio de Encerramento · ID 798101 · 2024-12-10 · versão 1 · p. 1 · https://fnet.bmfbovespa.com.br/fnet/publico/visualizarDocumento?id=798101</a:t>
            </a:r>
          </a:p>
          <a:p>
            <a:r>
              <a:t>CNPJ 54871427000194 · Volume, VNU e emissão · Excerto da fonte:</a:t>
            </a:r>
          </a:p>
          <a:p>
            <a:r>
              <a:t>Informações da Oferta  Valor Bruto da 2ª Quantidade de Cotas  Preço de Emissão da Cota  Emissão emitidas  R$ 55.000.000,00 55.000 R$ 1.000,00</a:t>
            </a:r>
          </a:p>
          <a:p>
            <a:r>
              <a:t>CNPJ 54871427000194 · Volume, VNU e emissão · Condição: Trechos do documento específico identificado com data mais recente; vigência jurídica não inferida.</a:t>
            </a:r>
          </a:p>
          <a:p>
            <a:r>
              <a:t>CNPJ 54871427000194 · Volume, VNU e emissão · Versão e prevalência: Trechos do documento específico identificado com data mais recente; vigência jurídica não inferida.</a:t>
            </a:r>
          </a:p>
          <a:p>
            <a:r>
              <a:t>CNPJ 54871427000194 · Volume, VNU e emissão · Resumo do histórico: {"count": 5, "dates": ["2024-06-11", "2024-06-13", "2024-12-10"], "document_count": 3, "sources": [{"document_id": "798101", "title": "Anúncio de Encerramento", "reference_date": "2024-12-10", "version": "1", "page": "1-2", "url": "https://fnet.bmfbovespa.com.br/fnet/publico/visualizarDocumento?id=798101", "sha256": "71618c432ad86002484571d66922b873e4fa91ed3543a109134ddee0bd872f20"}, {"document_id": "683482", "title": "AGE", "reference_date": "2024-06-13", "version": "1", "page": 1, "clause": "4.1", "url": "https://fnet.bmfbovespa.com.br/fnet/publico/visualizarDocumento?id=683482", "sha256": "3afbe254027691929935eaf19ebbb8634fb2ccd8e2fbea2cb2d81a7818f8d648"}, {"document_id": "677544", "title": "Anúncio de Encerramento", "reference_date": "2024-06-11", "version": "1", "page": 1, "url": "https://fnet.bmfbovespa.com.br/fnet/publico/visualizarDocumento?id=677544", "sha256": "5735adc30829e0e91623167d4fd602de01adb236e3d3e758bddb0a375c7067b1"}], "reference": {"path": "history/54871427000194.json", "criterion_id": "issue_volume", "total_count": 5, "preview_count": 3, "full_text_deferred": true, "sha256": "35d7cd99be50c7287c9fb675cf4f2e736002315295a225a9efa79c8d9186d874"}}</a:t>
            </a:r>
          </a:p>
          <a:p>
            <a:r>
              <a:t>CNPJ 60010416000112 · Volume, VNU e emissão · AGE · ID 1049114 · 2025-11-26 · versão 1 · p. 2 · https://fnet.bmfbovespa.com.br/fnet/publico/visualizarDocumento?id=1049114</a:t>
            </a:r>
          </a:p>
          <a:p>
            <a:r>
              <a:t>CNPJ 60010416000112 · Volume, VNU e emissão · Excerto da fonte:</a:t>
            </a:r>
          </a:p>
          <a:p>
            <a:r>
              <a:t>Este instrumento constitui o suplemento nº 3 (“Suplemento”) referente à 1ª emissão de cotas da Série B  da Subclasse Sênior da CLASSE ÚNICA DO MT CONSIGNADO PRIVADO I FUNDO DE  INVESTIMENTO EM DIREITOS CREDITÓRIOS RESPONSABILIDADE LIMITADA (“Classe” e  “FUNDO”, respectivamente), administrado pela BTG Pactual Serviços Financeiros S.A. Distribuidora  de Títulos e Valores Mobiliários, instituição com sede no Município do Rio de Janeiro, Estado do Rio de  Janeiro, na Praia de Botafogo, nº 501, 5º andar – parte, inscrita no CNPJ sob o nº 59.281.253/0001-23,  autorizada a funcionar pelo Banco Central do Brasil e autorizada pela Comissão de Valores Mobiliários  (“CVM”) para a atividade de administração de carteiras de valores mobiliários, de acordo com o Ato  Declaratório nº 8.695, de 20 de março de 2006 (“ADMINISTRADOR”), emitidas nos termos do regulamento  do FUNDO, do anexo descritivo da Classe do respectivo apêndice, devidamente registrado perante a CVM  (“Regulamento”, “Anexo da Classe”, “Apêndice” e “Cotas Seniores” respectivamente), a qual terá as  seguintes características:</a:t>
            </a:r>
          </a:p>
          <a:p>
            <a:r>
              <a:t> Número de Emissão, Valor São emitidas no âmbito da 1ª emissão da 3ª Série de Cotas Seniores da  Total da Emissão e Forma Classe, de 2,000,000 (dois milhões) de Cotas da 3ª Série da Subclasse  de Distribuição Sênior da Classe, com valor nominal unitário de R$ 1.000,00 (mil reais)  cada, totalizando o montante de R$ 2.000.000.000,00 (dois bilhões de  reais), as quais serão objeto de colocação privada, destinada ao Público-  Alvo (conforme definido no Anexo da Classe) (“Colocação Privada”).</a:t>
            </a:r>
          </a:p>
          <a:p>
            <a:r>
              <a:t> Valor Unitário de Emissão As Cotas Seniores da 3ª Série terão um valor unitário de R$ 1.000,00 (mil  reais) na respectiva Data de Emissão.</a:t>
            </a:r>
          </a:p>
          <a:p>
            <a:r>
              <a:t> Data de Emissão Data da 1ª Integralização.</a:t>
            </a:r>
          </a:p>
          <a:p>
            <a:r>
              <a:t> Valor Unitário de As Cotas Seniores da 3ª Série serão subscritas pelo Valor Unitário de  Integralização Emissão, e serão integralizadas pelo respectivo Valor Unitário, nos  termos do Regulamento, do Apêndice e deste Suplemento, sendo certo  que, nas emissões de novas Cotas Seniores da 3ª Série que não difiram,  em sua respectiva Subclasse, das Cotas Seniores da 3ª Série então em  circulação, o Valor Unitário de Integralização corresponderá ao Valor  Unitário da Cota apurado no Dia Útil em que os recursos aportados pelo  Cotista tornem-se efetivamente disponíveis à Classe.</a:t>
            </a:r>
          </a:p>
          <a:p>
            <a:r>
              <a:t> Investimento Mínimo por Não há  Investidor  Forma de Subscrição e As Cotas Seniores da 3ª Série deverão ser integralizadas, à vista, em  Integralização moeda corrente nacional, pelo Valor Unitário de Integralização, no ato de  subscrição.</a:t>
            </a:r>
          </a:p>
          <a:p>
            <a:r>
              <a:t> Ao subscrever Cotas Seniores da 3ª Série, cada Investidor deverá  assinar o Termo de Adesão, no qual confirmará, dentre outros, ter  conhecimento de todos os termos e condições do Fundo e do</a:t>
            </a:r>
          </a:p>
          <a:p>
            <a:r>
              <a:t>CNPJ 60010416000112 · Volume, VNU e emissão · Condição: Trechos do documento específico identificado com data mais recente; vigência jurídica não inferida.</a:t>
            </a:r>
          </a:p>
          <a:p>
            <a:r>
              <a:t>CNPJ 60010416000112 · Volume, VNU e emissão · Motivo: Cláusula primária localizada e citada, mas sua lista/condições extensas não admitem uma síntese literal curta confirmada. O trecho integral permanece nas fontes. A resposta da revisão anterior foi preservada no histórico, sem confirmação pelo documento atual.</a:t>
            </a:r>
          </a:p>
          <a:p>
            <a:r>
              <a:t>CNPJ 60010416000112 · Volume, VNU e emissão · Versão e prevalência: Trechos do documento específico identificado com data mais recente; vigência jurídica não inferida.</a:t>
            </a:r>
          </a:p>
          <a:p>
            <a:r>
              <a:t>CNPJ 60010416000112 · Volume, VNU e emissão · Resumo do histórico: {"count": 3, "dates": ["2025-03-20", "2025-05-12"], "document_count": 2, "sources": [{"document_id": "1004656", "title": "AGE", "reference_date": "2025-05-12", "version": "1", "page": 4, "url": "https://fnet.bmfbovespa.com.br/fnet/publico/visualizarDocumento?id=1004656", "sha256": "f6c9c009f6170e2b29f074b98522accec73f0c40efbf11f9ec2c8d3f1402616b"}, {"document_id": "993785", "title": "Instrumento Particular de Constituição/Encerramento do Fundo", "reference_date": "2025-03-20", "version": "1", "page": "2", "url": "https://fnet.bmfbovespa.com.br/fnet/publico/visualizarDocumento?id=993785", "sha256": "0826e0eae2c51afabf59bbc49fc7647598d03da5ca6de0f9725850a8bd6af457"}, {"document_id": "993785", "title": "Instrumento Particular de Constituição/Encerramento do Fundo", "reference_date": "2025-03-20", "version": "1", "page": 2, "url": "https://fnet.bmfbovespa.com.br/fnet/publico/visualizarDocumento?id=993785", "sha256": "0826e0eae2c51afabf59bbc49fc7647598d03da5ca6de0f9725850a8bd6af457"}], "reference": {"path": "history/60010416000112.json", "criterion_id": "issue_volume", "total_count": 3, "preview_count": 3, "full_text_deferred": true, "sha256": "8e2bd813f4c51cf01f6bfaad164bafe69d2bbb192f753eac92da3a01c2e63046"}}</a:t>
            </a:r>
          </a:p>
          <a:p>
            <a:r>
              <a:t>CNPJ 62696791000193 · Volume, VNU e emissão · Instrumento Particular de Emissão de Cotas · ID 1148821 · 27/03/2026 · versão Instrumento Particular de Emissão de Cotas — referência 27/03/2026 · p. 1 · Deliberação Conjunta, item1 · https://fnet.bmfbovespa.com.br/fnet/publico/visualizarDocumento?id=1148821</a:t>
            </a:r>
          </a:p>
          <a:p>
            <a:r>
              <a:t>CNPJ 62696791000193 · Volume, VNU e emissão · Excerto da fonte:</a:t>
            </a:r>
          </a:p>
          <a:p>
            <a:r>
              <a:t>1. Aprovar a 2ª (segunda) emissão da Subclasse Subordinada Júnior da Classe, composta por até 20.000 (vinte mil) Cotas Subordinadas Júnior, com valor nominal unitário de R$ 1.000,00 (mil reais), perfazendo o montante total de R$ 20.000.000,00 (vinte milhões de reais), as quais serão objeto de colocação privada, de acordo com os termos e condições definidos no Apêndice da Subclasse Subordinada Júnior constante do Anexo I Regulamento e descritas abaixo (“2ª Emissão da Subclasse Subordinada Júnior”): a) Rito: as Cotas Subordinadas Júnior objeto da 2ª Emissão da Subclasse Subordinada Júnior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Subordinada Júnior na data de integralização, calculado na forma prevista no respectivo Apêndice; BTG Pactual 1 SAC: 0800 772 28 27 - Ouvidoria: 0800 722 00 48 - btgpactual.com</a:t>
            </a:r>
          </a:p>
          <a:p>
            <a:r>
              <a:t>CNPJ 62696791000193 · Volume, VNU e emissão · Instrumento Particular de Emissão de Cotas · ID 1148821 · 27/03/2026 · versão Instrumento Particular de Emissão de Cotas — referência 27/03/2026 · p. 2 · Deliberação Conjunta, item2 · https://fnet.bmfbovespa.com.br/fnet/publico/visualizarDocumento?id=1148821</a:t>
            </a:r>
          </a:p>
          <a:p>
            <a:r>
              <a:t>CNPJ 62696791000193 · Volume, VNU e emissão · Excerto da fonte:</a:t>
            </a:r>
          </a:p>
          <a:p>
            <a:r>
              <a:t>2. Aprovar a 2ª (segunda) emissão da Subclasse Sênior da Classe, composta por até 150.000 (cento e cinquenta mil) Cotas Seniores, com valor nominal unitário de R$ 1.000,00 (mil reais), perfazendo o montante total de R$ 150.000.000,00 (cento e cinquenta milhões de reais), as quais serão objeto de colocação privada, de acordo com os termos e condições descritos no Apêndice da Subclasse Sênior constante do Anexo I Regulamento e descritas abaixo (“2ª Emissão da Subclasse Sênior”): a) Rito: as Cotas Seniores objeto da 2ª Emissão da Subclasse Sênior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Sênior na data de integralização, calculado na forma prevista no respectivo Apêndice; d) Forma de Integralização: as Cotas Seniores serão integralizadas mediante chamadas de capital, junto ao seu respectivo agente de custódia e/ou da Administradora na qualidade de escriturador das cotas, nos termos d</a:t>
            </a:r>
          </a:p>
          <a:p>
            <a:r>
              <a:t>CNPJ 62696791000193 · Volume, VNU e emissão · Condição: Volumes autorizados de emissão não comprovam captação ou integralização observada.</a:t>
            </a:r>
          </a:p>
          <a:p>
            <a:r>
              <a:t>CNPJ 62696791000193 · Volume, VNU e emissão · Versão e prevalência: Leitura específica das cláusulas indicadas; condições e conflitos preservados. Seleção documental atual não comprova vigência jurídica por data isolada.</a:t>
            </a:r>
          </a:p>
          <a:p>
            <a:r>
              <a:t>CNPJ 62696791000193 · Volume, VNU e emissão · Resumo do histórico: {"count": 2, "dates": ["2026-03-20", "2026-03-27"], "document_count": 2, "sources": [{"document_id": "1148821", "title": "Instrumento Particular de Emissão de Cotas", "reference_date": "2026-03-27", "version": "1", "page": "1-2", "url": "https://fnet.bmfbovespa.com.br/fnet/publico/visualizarDocumento?id=1148821", "sha256": "86900e9dd498403696bfffbd4196443c83ec4d51ff21135e073c1966e1adf4c0"}, {"document_id": "1143317", "title": "Regulamento", "reference_date": "2026-03-20", "version": "1", "page": 23, "clause": "11.3", "url": "https://fnet.bmfbovespa.com.br/fnet/publico/visualizarDocumento?id=1143317", "sha256": "32f62818d51c3ebeaf9ec012d3d7867f15c1aed6d10f0867c157a290df1cea48"}], "reference": {"path": "history/62696791000193.json", "criterion_id": "issue_volume", "total_count": 2, "preview_count": 2, "full_text_deferred": true, "sha256": "0e9ec199848320ec945708123ae0cb6075d76c05d94beed814d582031d353926"}}</a:t>
            </a:r>
          </a:p>
          <a:p>
            <a:r>
              <a:t>CNPJ 55563624000109 · Volume, VNU e emissão · Regulamento · ID 1192614 · 2026-04-30 · versão 1 · p. 17 · 5.13.2 · https://fnet.bmfbovespa.com.br/fnet/publico/visualizarDocumento?id=1192614</a:t>
            </a:r>
          </a:p>
          <a:p>
            <a:r>
              <a:t>CNPJ 55563624000109 · Volume, VNU e emissão · Excerto da fonte:</a:t>
            </a:r>
          </a:p>
          <a:p>
            <a:r>
              <a:t>5.13.2 Caso um Cotista do Fundo pretenda transferir suas Cotas para terceiros (“Cotista Vendedor”), deverá  notificar previamente o GESTOR, via e-mail, manifestando sua proposta de alienação de Cotas, a qual  deve incluir o interessado na aquisição e a quantidade de Cotas a serem alienadas e o preço para tal  alienação (“Proposta de Venda”). O GESTOR deverá manifestar aprovação para alienação das Cotas  objeto da Proposta de Venda (“Cotas Objeto”) em até 5 (cinco) Dias Úteis, observado que a ausência de  aprovação deverá ser entendida como aprovação tácita à alienação das Cotas Objeto.</a:t>
            </a:r>
          </a:p>
          <a:p>
            <a:r>
              <a:t>CNPJ 55563624000109 · Volume, VNU e emissão · Regulamento · ID 1192614 · 2026-04-30 · versão 1 · p. 39 · https://fnet.bmfbovespa.com.br/fnet/publico/visualizarDocumento?id=1192614</a:t>
            </a:r>
          </a:p>
          <a:p>
            <a:r>
              <a:t>CNPJ 55563624000109 · Volume, VNU e emissão · Excerto da fonte:</a:t>
            </a:r>
          </a:p>
          <a:p>
            <a:r>
              <a:t>(xxi) Ausência de propriedade direta dos ativos. Os direitos dos Cotistas serão exercidos sobre  todos os ativos da Carteira de modo não individualizado, proporcionalmente à quantidade de Cotas  detidas por cada um. Portanto, os Cotistas não terão qualquer direito de propriedade direta sobre as  Cotas da Classe Investida e os Ativos Financeiros de Liquidez integrantes da Carteira, ou mesmo sobre  os direitos creditórios e os ativos financeiros de liquidez integrantes da carteira da Classe Investida.</a:t>
            </a:r>
          </a:p>
          <a:p>
            <a:r>
              <a:t>CNPJ 55563624000109 · Volume, VNU e emissão · Condição: Documentos atuais selecionados no inventário por categoria/escopo; a data documental isolada não comprova vigência jurídica.</a:t>
            </a:r>
          </a:p>
          <a:p>
            <a:r>
              <a:t>CNPJ 55563624000109 · Volume, VNU e emissão · Versão e prevalência: Documentos atuais selecionados no inventário por categoria/escopo; a data documental isolada não comprova vigência jurídica.</a:t>
            </a:r>
          </a:p>
          <a:p>
            <a:r>
              <a:t>CNPJ 55563624000109 · Volume, VNU e emissão · Resumo do histórico: {"count": 3, "dates": ["2024-12-30", "2025-01-31", "2026-01-31"], "document_count": 3, "sources": [{"document_id": "1178840", "title": "Demonstrações Financeiras", "reference_date": "2026-01-31", "version": "1", "page": 25, "url": "https://fnet.bmfbovespa.com.br/fnet/publico/visualizarDocumento?id=1178840", "sha256": "c458e98664c5c907ddb5a05a94b120bed4e05295b2bfc420f5ba69af0a229abe"}, {"document_id": "891861", "title": "Demonstrações Financeiras", "reference_date": "2025-01-31", "version": "1", "page": 26, "url": "https://fnet.bmfbovespa.com.br/fnet/publico/visualizarDocumento?id=891861", "sha256": "e9cb9e6ddbe505fe068cfcac33605165a98313489de0d3ce6d4d238263c3f3e7"}, {"document_id": "811323", "title": "Anúncio de Encerramento", "reference_date": "2024-12-30", "version": "1", "page": 1, "url": "https://fnet.bmfbovespa.com.br/fnet/publico/visualizarDocumento?id=811323", "sha256": "ebc6bc661be5189acffb3c3e352de2aea0a8ca8431011d1237e1ae19da4f9c79"}], "reference": {"path": "history/55563624000109.json", "criterion_id": "issue_volume", "total_count": 3, "preview_count": 3, "full_text_deferred": true, "sha256": "7835d573fb58a3c19adf5b8ecc2aee2bdbb9a88f7a0c0209b5f262b64c7522e3"}}</a:t>
            </a:r>
          </a:p>
          <a:p>
            <a:r>
              <a:t>CNPJ 62552447000120 · Volume, VNU e emissão · AGE · ID 1315103 · 2026-09-08 · versão 1 · p. 1 · https://fnet.bmfbovespa.com.br/fnet/publico/visualizarDocumento?id=1315103</a:t>
            </a:r>
          </a:p>
          <a:p>
            <a:r>
              <a:t>CNPJ 62552447000120 · Volume, VNU e emissão · Excerto da fonte:</a:t>
            </a:r>
          </a:p>
          <a:p>
            <a:r>
              <a:t>a) Rito: as cotas objeto da Segunda Emissão não estão sujeitas a regulamentação  de oferta de valores mobiliários, conforme facultado pelo Art. 8º, inciso II, da  Resolução CVM nº 160, de 13 de julho de 2022;</a:t>
            </a:r>
          </a:p>
          <a:p>
            <a:r>
              <a:t> b) Preço de Emissão: R$ 1.000,00 (mil reais);</a:t>
            </a:r>
          </a:p>
          <a:p>
            <a:r>
              <a:t> c) Quantidade de Cotas: 10.000 (dez mil) Cotas;</a:t>
            </a:r>
          </a:p>
          <a:p>
            <a:r>
              <a:t> d) Preço de Integralização: será o valor da Cota vigente na data de integralização,  nos termos do respectivo boletim de subscrição;</a:t>
            </a:r>
          </a:p>
          <a:p>
            <a:r>
              <a:t> e) Forma de Integralização: as Cotas serão integralizadas à vista, em moeda  corrente nacional, junto ao seu respectivo agente de custódia e/ou da  Administradora na qualidade de escriturador das cotas;</a:t>
            </a:r>
          </a:p>
          <a:p>
            <a:r>
              <a:t> f) Período de colocação: a subscrição das Cotas, objeto da Segunda Emissão,  deverão ser realizadas no prazo máximo de 180 (cento e oitenta) dias, contados  da data de efeitos do presente instrumento.</a:t>
            </a:r>
          </a:p>
          <a:p>
            <a:r>
              <a:t>CNPJ 62552447000120 · Volume, VNU e emissão · Condição: Trechos do documento específico identificado com data mais recente; vigência jurídica não inferida.</a:t>
            </a:r>
          </a:p>
          <a:p>
            <a:r>
              <a:t>CNPJ 62552447000120 · Volume, VNU e emissão · Versão e prevalência: Trechos do documento específico identificado com data mais recente; vigência jurídica não inferida.</a:t>
            </a:r>
          </a:p>
          <a:p>
            <a:r>
              <a:t>CNPJ 62552447000120 · Volume, VNU e emissão · Resumo do histórico: {"count": 2, "dates": ["2025-09-03"], "document_count": 1, "sources": [{"document_id": "988020", "title": "Instrumento Particular de Emissão de Cotas", "reference_date": "2025-09-03", "version": "1", "page": "5", "url": "https://fnet.bmfbovespa.com.br/fnet/publico/visualizarDocumento?id=988020", "sha256": "8ecc8a771bb9713d64e5fc2052c489664cb0433801a9280db68e5187d35bf7a5"}, {"document_id": "988020", "title": "Instrumento Particular de Emissão de Cotas", "reference_date": "2025-09-03", "version": "1", "page": 2, "url": "https://fnet.bmfbovespa.com.br/fnet/publico/visualizarDocumento?id=988020", "sha256": "8ecc8a771bb9713d64e5fc2052c489664cb0433801a9280db68e5187d35bf7a5"}], "reference": {"path": "history/62552447000120.json", "criterion_id": "issue_volume", "total_count": 2, "preview_count": 2, "full_text_deferred": true, "sha256": "d95db8c0613d67ee84118c734588665265ea6b02f86a0318d6a844cbe1d0f82f"}}</a:t>
            </a:r>
          </a:p>
          <a:p>
            <a:r>
              <a:t>CNPJ 63953620000165 · Volume, VNU e emissão · Demonstrações Financeiras - Fusão, cisão e incorporação · ID 1327859 · 2026-05-15 · versão 1 · p. 31 · 15.000.000 · https://fnet.bmfbovespa.com.br/fnet/publico/visualizarDocumento?id=1327859</a:t>
            </a:r>
          </a:p>
          <a:p>
            <a:r>
              <a:t>CNPJ 63953620000165 · Volume, VNU e emissão · Excerto da fonte:</a:t>
            </a:r>
          </a:p>
          <a:p>
            <a:r>
              <a:t>15.000.000 (quinze bilhões de reais), , a serem objeto de colocação privada, nos termos  do Regulamento, da Resolução CVM 175 e do respectivo boletim de subscrição nos  seguintes termos:</a:t>
            </a:r>
          </a:p>
          <a:p>
            <a:r>
              <a:t> a. Montante Total da Colocação Privada: R$ 15.000.000 (quinze bilhões de  reais)  b. Quantidade de Cotas: 15.000.000 (quinze milhões) de Cotas Seniores;</a:t>
            </a:r>
          </a:p>
          <a:p>
            <a:r>
              <a:t> c. Preço de Emissão (Valor Unitário): R$ 1 (mil reais);</a:t>
            </a:r>
          </a:p>
          <a:p>
            <a:r>
              <a:t> d. Forma e Preço de Integralização: as Cotas serão integralizadas na forma  prevista no Boletim de Subscrição;</a:t>
            </a:r>
          </a:p>
          <a:p>
            <a:r>
              <a:t> e. Prazo da Colocação Privada: as Cotas serão colocadas em até 180 (cento e  oitenta) dias da data deste IPA.</a:t>
            </a:r>
          </a:p>
          <a:p>
            <a:r>
              <a:t>CNPJ 63953620000165 · Volume, VNU e emissão · Demonstrações Financeiras - Fusão, cisão e incorporação · ID 1327859 · 2026-05-15 · versão 1 · p. 31 · https://fnet.bmfbovespa.com.br/fnet/publico/visualizarDocumento?id=1327859</a:t>
            </a:r>
          </a:p>
          <a:p>
            <a:r>
              <a:t>CNPJ 63953620000165 · Volume, VNU e emissão · Excerto da fonte:</a:t>
            </a:r>
          </a:p>
          <a:p>
            <a:r>
              <a:t>Em Instrumento Particular de Alteração do MT Global Fundo de Investimento em Direitos  Creditórios, realizada em 08 de janeiro de 2026, foram deliberadas as seguintes matérias:</a:t>
            </a:r>
          </a:p>
          <a:p>
            <a:r>
              <a:t>(i) Alterar regulamento vigente da classe em relação aos itens 4.17.1, 6.8 e o Capítulo 13,</a:t>
            </a:r>
          </a:p>
          <a:p>
            <a:r>
              <a:t> (b) incluir o item 3.1, 8.1.(ii), 8.2, 8.2.1, e 10.2.(xvii); e (c) excluir os itens 6.8.1, 6.8.2,</a:t>
            </a:r>
          </a:p>
          <a:p>
            <a:r>
              <a:t>(ii) Aprovar a 1ª (primeira) emissão de cotas seniores das Classes (“Cotas Seniores”), em  sistema de vasos comunicantes entre as Classes, de forma que a quantidade de Cotas  Seniores integralizadas em uma das Classes será deduzida da quantidade de Cotas  Seniores disponíveis para integralização nas demais Classes, no montante total de R$</a:t>
            </a:r>
          </a:p>
          <a:p>
            <a:r>
              <a:t>CNPJ 63953620000165 · Volume, VNU e emissão · Demonstrações Financeiras - Fusão, cisão e incorporação · ID 1327859 · 2026-05-15 · versão 1 · p. 32 · https://fnet.bmfbovespa.com.br/fnet/publico/visualizarDocumento?id=1327859</a:t>
            </a:r>
          </a:p>
          <a:p>
            <a:r>
              <a:t>CNPJ 63953620000165 · Volume, VNU e emissão · Excerto da fonte:</a:t>
            </a:r>
          </a:p>
          <a:p>
            <a:r>
              <a:t>f. Montante Total da Colocação Privada: R$ 7.000 (sete milhões de reais);</a:t>
            </a:r>
          </a:p>
          <a:p>
            <a:r>
              <a:t> g. Quantidade de Cotas: 7.000 (sete mil) de Cotas Subordinadas CP  h. Preço de Emissão (Valor Unitário): R$ 1 (mil reais);</a:t>
            </a:r>
          </a:p>
          <a:p>
            <a:r>
              <a:t> i. Forma e Preço de Integralização: as Cotas serão integralizadas na forma  prevista no Boletim de Subscrição;</a:t>
            </a:r>
          </a:p>
          <a:p>
            <a:r>
              <a:t> j. Prazo da Colocação Privada: as Cotas serão colocadas em até 180 (cento e  oitenta) dias da data deste IPA.</a:t>
            </a:r>
          </a:p>
          <a:p>
            <a:r>
              <a:t>CNPJ 63953620000165 · Volume, VNU e emissão · Condição: Trechos do documento específico identificado com data mais recente; vigência jurídica não inferida.</a:t>
            </a:r>
          </a:p>
          <a:p>
            <a:r>
              <a:t>CNPJ 63953620000165 · Volume, VNU e emissão · Versão e prevalência: Trechos do documento específico identificado com data mais recente; vigência jurídica não inferida.</a:t>
            </a:r>
          </a:p>
          <a:p>
            <a:r>
              <a:t>CNPJ 63953620000165 · Volume, VNU e emissão · Resumo do histórico: {"count": 8, "dates": ["2026-04-16", "2026-04-28", "2026-05-08"], "document_count": 3, "sources": [{"document_id": "1298691", "title": "Demonstrações Financeiras - Fusão, cisão e incorporação", "reference_date": "2026-05-08", "version": "1", "page": 32, "url": "https://fnet.bmfbovespa.com.br/fnet/publico/visualizarDocumento?id=1298691", "sha256": "58c570d9b8d4d265330d3db3ea81c435b8e44a6dab4002aa37790652a1ee9819"}, {"document_id": "1282180", "title": "Demonstrações Financeiras - Fusão, cisão e incorporação", "reference_date": "2026-04-28", "version": "1", "page": 32, "clause": "15.000.000", "url": "https://fnet.bmfbovespa.com.br/fnet/publico/visualizarDocumento?id=1282180", "sha256": "afaaa0e6809be4385e5bdb6c911aac582032c5bdbac3d7750234bf9eaf00438a"}, {"document_id": "1282179", "title": "Demonstrações Financeiras - Fusão, cisão e incorporação", "reference_date": "2026-04-16", "version": "1", "page": 32, "clause": "15.000.000", "url": "https://fnet.bmfbovespa.com.br/fnet/publico/visualizarDocumento?id=1282179", "sha256": "beb67afbcd64169019477673fd3b7c1edbfabbd9db07379388d8cdd5d3fc9395"}], "reference": {"path": "history/63953620000165.json", "criterion_id": "issue_volume", "total_count": 8, "preview_count": 3, "full_text_deferred": true, "sha256": "a7b89077f5e21098c2d601c303faabc3ff6b9729f89d8afecdc60fe1404720c1"}}</a:t>
            </a:r>
          </a:p>
          <a:p>
            <a:r>
              <a:t>CNPJ 54871427000194 · Administração: taxa, base e mínimo · Regulamento · ID 670691 · 28/04/2024 · versão Regulamento — referência 28/04/2024 · p. 25 · Anexo I, 13.1 · https://fnet.bmfbovespa.com.br/fnet/publico/visualizarDocumento?id=670691</a:t>
            </a:r>
          </a:p>
          <a:p>
            <a:r>
              <a:t>CNPJ 54871427000194 · Administração: taxa, base e mínimo · Excerto da fonte:</a:t>
            </a:r>
          </a:p>
          <a:p>
            <a:r>
              <a:t>13.1 Pelos serviços de administração, tesouraria, controladoria e escrituração, a Classe pagará a Taxa de Administração nos seguintes moldes: o valor correspondente a 0,10% (dez centésimos por cento) ao ano aplicado sobre o Patrimônio Líquido, observado o valor mínimo de R$ 10.000,00 (dez mil reais) mensais atualizado pela variação positiva do IGP-M a cada período de 12 (doze) meses, contados a partir do mês em que ocorrer a primeira integralização de Cotas (inclusive). 13.1.1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BTG Pactual SAC: 0800 772 28 27 - Ouvidoria: 0800 722 00 48 - btgpactual.com 19</a:t>
            </a:r>
          </a:p>
          <a:p>
            <a:r>
              <a:t>CNPJ 54871427000194 · Administração: taxa, base e mínimo · Regulamento · ID 670691 · 28/04/2024 · versão Regulamento — referência 28/04/2024 · p. 26 · Anexo I, 13.1.2–13.1.3 · https://fnet.bmfbovespa.com.br/fnet/publico/visualizarDocumento?id=670691</a:t>
            </a:r>
          </a:p>
          <a:p>
            <a:r>
              <a:t>CNPJ 54871427000194 · Administração: taxa, base e mínimo · Excerto da fonte:</a:t>
            </a:r>
          </a:p>
          <a:p>
            <a:r>
              <a:t>13.1.2 A Taxa de Administração será calculada e provisionada todo Dia Útil à razão de 1/252 (um inteiro e duzentos e cinquenta e dois avos) com base no valor do Patrimônio Líquido do Dia Útil anterior. 13.1.3 A Taxa de Administração será paga mensalmente ao ADMINISTRADOR, observado o disposto no item 13.2 abaixo, por período vencido, até o 5º (quinto) Dia Útil do mês subsequente à prestação dos serviços, a partir do mês em que ocorrer a primeira integralização de Cotas da Classe. 13.2 O ADMINISTRADOR poderá estabelecer que parcelas da Taxa de Administração sejam pagas diretamente pela Classe aos prestadores de serviços contratados, desde que o somatório dessas parcelas não exceda o montante total da Taxa de Administração. 13.3 Não serão cobradas da Classe ou dos Cotistas taxas de perf ormance, de ingresso ou de saída. Taxa de Gestão 13.4 Pelos serviços de gestão, a Classe pagará a Taxa de Gestão nos seguintes moldes: o valor correspondente a 0,20% (vinte centésimos por cento) ao ano aplicado sobre o Patrimônio Líquido, observado o valor mínimo de R$ 15.000,00 (quinze mil reais) mensais atualizado pela variação positiva do IGP-M a cada período de 12 (</a:t>
            </a:r>
          </a:p>
          <a:p>
            <a:r>
              <a:t>CNPJ 54871427000194 · Administração: taxa, base e mínimo · Versão e prevalência: Leitura específica das cláusulas indicadas; condições e conflitos preservados. Seleção documental atual não comprova vigência jurídica por data isolada.</a:t>
            </a:r>
          </a:p>
          <a:p>
            <a:r>
              <a:t>CNPJ 54871427000194 · Administração: taxa, base e mínimo · Resumo do histórico: {"count": 2, "dates": ["2024-04-19", "2024-04-28"], "document_count": 2, "sources": [{"document_id": "670691", "title": "Regulamento", "reference_date": "2024-04-28", "version": "1", "page": "25-26", "url": "https://fnet.bmfbovespa.com.br/fnet/publico/visualizarDocumento?id=670691", "sha256": "bf16dd7f1a62d5cdbf2e2d54fef81783783f7310fbc99c3a8f00459bdf9d037b"}, {"document_id": "670689", "title": "Regulamento", "reference_date": "2024-04-19", "version": "1", "page": 26, "clause": "13.1", "url": "https://fnet.bmfbovespa.com.br/fnet/publico/visualizarDocumento?id=670689", "sha256": "891bc9bc5d87bbc02ec139077a84d2702eb81ea02035fb71d24f5b8366b94a0b"}], "reference": {"path": "history/54871427000194.json", "criterion_id": "admin_fee", "total_count": 2, "preview_count": 2, "full_text_deferred": true, "sha256": "35d7cd99be50c7287c9fb675cf4f2e736002315295a225a9efa79c8d9186d874"}}</a:t>
            </a:r>
          </a:p>
          <a:p>
            <a:r>
              <a:t>CNPJ 60010416000112 · Administração: taxa, base e mínimo · Regulamento · ID 1051393 · 09/10/2025 · versão Regulamento09/10/2025 · p. 29 · AnexoI12.1–12.1.2 · https://fnet.bmfbovespa.com.br/fnet/publico/visualizarDocumento?id=1051393</a:t>
            </a:r>
          </a:p>
          <a:p>
            <a:r>
              <a:t>CNPJ 60010416000112 · Administração: taxa, base e mínimo · Excerto da fonte:</a:t>
            </a:r>
          </a:p>
          <a:p>
            <a:r>
              <a:t>12.1 Pelos serviços de administração, escrituração, controladoria de ativos e passivo, e gestão de carteira, o Administrador fará jus a uma Taxa de Administração equivalente a 0,40% (quarenta centésimos por cento) por ano sobre o Patrimônio Líquido da Classe, a ser pago mensalmente, por período vencido da data em que ocorrer a primeira integralização de Cotas da Classe A, até o 5º (quinto) Dia Útil do mês subsequente ao da prestação do serviço, assegurado um valor mínimo mensal de R$ 20.000,00 (vinte mil reais), sendo este valor atualizado pela variação positiva do IPCA sempre em janeiro de cada ano,</a:t>
            </a:r>
          </a:p>
          <a:p>
            <a:r>
              <a:t>CNPJ 60010416000112 · Administração: taxa, base e mínimo · Versão e prevalência: Leitura específica das cláusulas indicadas; condições e conflitos preservados. Seleção documental atual não comprova vigência jurídica por data isolada.</a:t>
            </a:r>
          </a:p>
          <a:p>
            <a:r>
              <a:t>CNPJ 60010416000112 · Administração: taxa, base e mínimo · Resumo do histórico: {"count": 2, "dates": ["2025-03-20", "2025-10-09"], "document_count": 2, "sources": [{"document_id": "1051393", "title": "Regulamento", "reference_date": "2025-10-09", "version": "1", "page": "29", "url": "https://fnet.bmfbovespa.com.br/fnet/publico/visualizarDocumento?id=1051393", "sha256": "8469d613078ffd5a6c1d217885d8a397a16342c0b937ae4aa24b106505f233ae"}, {"document_id": "993786", "title": "Regulamento", "reference_date": "2025-03-20", "version": "1", "page": 29, "clause": "12.1", "url": "https://fnet.bmfbovespa.com.br/fnet/publico/visualizarDocumento?id=993786", "sha256": "fd0fdd369a195510d81f81f505195a0b09e5f43522a990afa7d58c4f872921c8"}], "reference": {"path": "history/60010416000112.json", "criterion_id": "admin_fee", "total_count": 2, "preview_count": 2, "full_text_deferred": true, "sha256": "8e2bd813f4c51cf01f6bfaad164bafe69d2bbb192f753eac92da3a01c2e63046"}}</a:t>
            </a:r>
          </a:p>
          <a:p>
            <a:r>
              <a:t>CNPJ 62696791000193 · Administração: taxa, base e mínimo · Regulamento · ID 1143317 · 20/03/2026 · versão Regulamento — referência 20/03/2026 · p. 28 · Anexo I, 13.1, Taxa de Administração · https://fnet.bmfbovespa.com.br/fnet/publico/visualizarDocumento?id=1143317</a:t>
            </a:r>
          </a:p>
          <a:p>
            <a:r>
              <a:t>CNPJ 62696791000193 · Administração: taxa, base e mínimo · Excerto da fonte:</a:t>
            </a:r>
          </a:p>
          <a:p>
            <a:r>
              <a:t>Taxa de Administração 0,10% (um décimo por cento) ao ano com um mínimo mensal de R$ 10.000,00 (dez mil reais), pagos mensalmente até o 5º (quinto) Dia Útil do mês subsequente ao mês que se ref ere, a ser corrigida anualmente, em janeiro de cada ano, pela variação positiva do Índice Geral de Preços – Mercado, divulgado pela Fundação Getúlio Vargas (“Taxa de Administração” e “IGP-M”, respectivamente).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T</a:t>
            </a:r>
          </a:p>
          <a:p>
            <a:r>
              <a:t>CNPJ 62696791000193 · Administração: taxa, base e mínimo · Condição: A linha da tabela não explicita novamente a base de PL para administração; conservar essa limitação em vez de completar a frase por analogia.</a:t>
            </a:r>
          </a:p>
          <a:p>
            <a:r>
              <a:t>CNPJ 62696791000193 · Administração: taxa, base e mínimo · Motivo: Não localizada uma cláusula material para este critério nos textos identificados e processados. A ausência de resultado não comprova inexistência da regra.</a:t>
            </a:r>
          </a:p>
          <a:p>
            <a:r>
              <a:t>CNPJ 62696791000193 · Administração: taxa, base e mínimo · Versão e prevalência: Leitura específica das cláusulas indicadas; condições e conflitos preservados. Seleção documental atual não comprova vigência jurídica por data isolada.</a:t>
            </a:r>
          </a:p>
          <a:p>
            <a:r>
              <a:t>CNPJ 55563624000109 · Administração: taxa, base e mínimo · Regulamento · ID 1192614 · 30/04/2026 · versão Regulamento30/04/2026 · p. 28 · AnexoI13.1–13.2 · https://fnet.bmfbovespa.com.br/fnet/publico/visualizarDocumento?id=1192614</a:t>
            </a:r>
          </a:p>
          <a:p>
            <a:r>
              <a:t>CNPJ 55563624000109 · Administração: taxa, base e mínimo · Excerto da fonte:</a:t>
            </a:r>
          </a:p>
          <a:p>
            <a:r>
              <a:t>13.1 Sem prejuízo da Taxa Máxima de Administração, pelos serviços de administração do FUNDO e da Classe, tesouraria, controle e processamento dos ativos integrantes da Carteira, a Classe pagará, no mínimo, ao ADMINISTRADOR a Taxa Mínima de Administração nos seguintes moldes: o valor correspondente a R$ 10.000,00 (dez mil reais) mensais, atualizado pela variação positiva do IGP-M, no mês de janeiro de cada ano (“Taxa Mínima de Administração”). 13.1.1 Na hipótese de extinção do IGP-M, não divulgação ou impossibilidade de sua utilização, será utilizado o</a:t>
            </a:r>
          </a:p>
          <a:p>
            <a:r>
              <a:t>CNPJ 55563624000109 · Administração: taxa, base e mínimo · Condição: A base do adicional é PL do Mercado Crédito II; não é teto 0, 10% sobre PLGN e não substitui mínimo R$ 10 mil.</a:t>
            </a:r>
          </a:p>
          <a:p>
            <a:r>
              <a:t>CNPJ 55563624000109 · Administração: taxa, base e mínimo · Versão e prevalência: Leitura específica das cláusulas indicadas; condições e conflitos preservados. Seleção documental atual não comprova vigência jurídica por data isolada.</a:t>
            </a:r>
          </a:p>
          <a:p>
            <a:r>
              <a:t>CNPJ 55563624000109 · Administração: taxa, base e mínimo · Resumo do histórico: {"count": 3, "dates": ["2025-01-31", "2026-01-31", "2026-04-30"], "document_count": 3, "sources": [{"document_id": "1192614", "title": "Regulamento", "reference_date": "2026-04-30", "version": "1", "page": "28", "clause": "13.2", "url": "https://fnet.bmfbovespa.com.br/fnet/publico/visualizarDocumento?id=1192614", "sha256": "f56e63ace0acde41d2f47fb48f1ac7f3f7df5e2d32de092d7c5e075a52516632"}, {"document_id": "1178840", "title": "Demonstrações Financeiras", "reference_date": "2026-01-31", "version": "1", "page": 29, "url": "https://fnet.bmfbovespa.com.br/fnet/publico/visualizarDocumento?id=1178840", "sha256": "c458e98664c5c907ddb5a05a94b120bed4e05295b2bfc420f5ba69af0a229abe"}, {"document_id": "891861", "title": "Demonstrações Financeiras", "reference_date": "2025-01-31", "version": "1", "page": 30, "url": "https://fnet.bmfbovespa.com.br/fnet/publico/visualizarDocumento?id=891861", "sha256": "e9cb9e6ddbe505fe068cfcac33605165a98313489de0d3ce6d4d238263c3f3e7"}], "reference": {"path": "history/55563624000109.json", "criterion_id": "admin_fee", "total_count": 3, "preview_count": 3, "full_text_deferred": true, "sha256": "7835d573fb58a3c19adf5b8ecc2aee2bdbb9a88f7a0c0209b5f262b64c7522e3"}}</a:t>
            </a:r>
          </a:p>
          <a:p>
            <a:r>
              <a:t>CNPJ 62552447000120 · Administração: taxa, base e mínimo · Regulamento · ID 1200623 · 21/05/2026 · versão Consolidado21/05/2026 aprovado pelo ato1200625 · p. 30 · AnexoI13.1 TaxaGlobal · https://fnet.bmfbovespa.com.br/fnet/publico/visualizarDocumento?id=1200623</a:t>
            </a:r>
          </a:p>
          <a:p>
            <a:r>
              <a:t>CNPJ 62552447000120 · Administração: taxa, base e mínimo · Excerto da fonte:</a:t>
            </a:r>
          </a:p>
          <a:p>
            <a:r>
              <a:t>Taxa Global Pelos serviços de administração, gestão, custódia, tesouraria, controladoria, escrituração, a Classe pagará um valor equivalente a um percentual incidente sobre o Patrimônio Líquido da Classe, conf orme a f aixa de Patrimônio Líquido da Classe prevista na tabela abaixo, apropriada diariamente e paga mensalmente até o 5º (quinto) Dia Útil do mês subsequente ao mês que se ref ere, com</a:t>
            </a:r>
          </a:p>
          <a:p>
            <a:r>
              <a:t>CNPJ 62552447000120 · Administração: taxa, base e mínimo · Condição: Global remunera administração, gestão, custódia, tesouraria, controladoria e escrituração; percentual segregado não presumido.</a:t>
            </a:r>
          </a:p>
          <a:p>
            <a:r>
              <a:t>CNPJ 62552447000120 · Administração: taxa, base e mínimo · Motivo: Não localizada uma cláusula material para este critério nos textos identificados e processados. A ausência de resultado não comprova inexistência da regra.</a:t>
            </a:r>
          </a:p>
          <a:p>
            <a:r>
              <a:t>CNPJ 62552447000120 · Administração: taxa, base e mínimo · Versão e prevalência: Leitura específica das cláusulas indicadas; condições e conflitos preservados. Seleção documental atual não comprova vigência jurídica por data isolada.</a:t>
            </a:r>
          </a:p>
          <a:p>
            <a:r>
              <a:t>CNPJ 63953620000165 · Administração: taxa, base e mínimo · Anexo ao Regulamento · ID 1222863 · 02/06/2026 · versão AnexoConsignadoPrivado02/06/2026 · p. 19 · Capítulo13TaxadeAdministração · https://fnet.bmfbovespa.com.br/fnet/publico/visualizarDocumento?id=1222863</a:t>
            </a:r>
          </a:p>
          <a:p>
            <a:r>
              <a:t>CNPJ 63953620000165 · Administração: taxa, base e mínimo · Excerto da fonte:</a:t>
            </a:r>
          </a:p>
          <a:p>
            <a:r>
              <a:t>Taxa de Administração positiva do Índice Geral de Preços – Mercado, divulgado pela Fundação Getúlio Vargas (“Taxa de Administração” e “IGP-M”, respectivamente). Na hipótese de extinção do IGP-M, não divulgação ou impossibilidade de sua utilização, será utilizado o Índice Geral de Preços – Disponibilidade Interna, divulgado pela Fundação Getúlio Vargas, ou, na falta de ambos, pela variação do IPC – Índice de Preços ao Consumidor, divulgado pela</a:t>
            </a:r>
          </a:p>
          <a:p>
            <a:r>
              <a:t>CNPJ 63953620000165 · Administração: taxa, base e mínimo · Condição: Base é a parcela MT específica, não necessariamente todo o PL da classe.</a:t>
            </a:r>
          </a:p>
          <a:p>
            <a:r>
              <a:t>CNPJ 63953620000165 · Administração: taxa, base e mínimo · Versão e prevalência: Leitura específica das cláusulas indicadas; condições e conflitos preservados. Seleção documental atual não comprova vigência jurídica por data isolada.</a:t>
            </a:r>
          </a:p>
          <a:p>
            <a:r>
              <a:t>CNPJ 63953620000165 · Administração: taxa, base e mínimo · Resumo do histórico: {"count": 8, "dates": ["2026-04-28", "2026-05-08", "2026-05-15"], "document_count": 3, "sources": [{"document_id": "1327859", "title": "Demonstrações Financeiras - Fusão, cisão e incorporação", "reference_date": "2026-05-15", "version": "1", "page": 28, "url": "https://fnet.bmfbovespa.com.br/fnet/publico/visualizarDocumento?id=1327859", "sha256": "dca1c68babb97f887528c3e2e47596a9c30f507b067981a35655b2f2da9c8054"}, {"document_id": "1298691", "title": "Demonstrações Financeiras - Fusão, cisão e incorporação", "reference_date": "2026-05-08", "version": "1", "page": 28, "url": "https://fnet.bmfbovespa.com.br/fnet/publico/visualizarDocumento?id=1298691", "sha256": "58c570d9b8d4d265330d3db3ea81c435b8e44a6dab4002aa37790652a1ee9819"}, {"document_id": "1282180", "title": "Demonstrações Financeiras - Fusão, cisão e incorporação", "reference_date": "2026-04-28", "version": "1", "page": 29, "url": "https://fnet.bmfbovespa.com.br/fnet/publico/visualizarDocumento?id=1282180", "sha256": "afaaa0e6809be4385e5bdb6c911aac582032c5bdbac3d7750234bf9eaf00438a"}], "reference": {"path": "history/63953620000165.json", "criterion_id": "admin_fee", "total_count": 8, "preview_count": 3, "full_text_deferred": true, "sha256": "a7b89077f5e21098c2d601c303faabc3ff6b9729f89d8afecdc60fe1404720c1"}}</a:t>
            </a:r>
          </a:p>
          <a:p>
            <a:r>
              <a:t>CNPJ 54871427000194 · Gestão: taxa, base e mínimo · Regulamento · ID 670691 · 28/04/2024 · versão Regulamento — referência 28/04/2024 · p. 26 · Anexo I, 13.4–13.4.3 · https://fnet.bmfbovespa.com.br/fnet/publico/visualizarDocumento?id=670691</a:t>
            </a:r>
          </a:p>
          <a:p>
            <a:r>
              <a:t>CNPJ 54871427000194 · Gestão: taxa, base e mínimo · Excerto da fonte:</a:t>
            </a:r>
          </a:p>
          <a:p>
            <a:r>
              <a:t>13.4 Pelos serviços de gestão, a Classe pagará a Taxa de Gestão nos seguintes moldes: o valor correspondente a 0,20% (vinte centésimos por cento) ao ano aplicado sobre o Patrimônio Líquido, observado o valor mínimo de R$ 15.000,00 (quinze mil reais) mensais atualizado pela variação positiva do IGP-M a cada período de 12 (doze) meses, contados a partir do mês em que ocorrer a primeira integralização de Cotas (inclusive). 13.4.1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13.4.2 A Taxa de Gestão será calculada e provisionada todo Dia Útil à razão de 1/252 (um inteiro e duzentos e cinquenta e dois avos) com base no valor do Patrimônio Líquido do Dia Útil anterior. 13.4.3 A Taxa de Gestão será paga mensalmente ao GESTOR, observado o disposto no item 13.5 abaixo, por período vencido, até o 5º (quinto) Dia Útil do mês subsequente à prestação dos ser</a:t>
            </a:r>
          </a:p>
          <a:p>
            <a:r>
              <a:t>CNPJ 54871427000194 · Gestão: taxa, base e mínimo · Versão e prevalência: Leitura específica das cláusulas indicadas; condições e conflitos preservados. Seleção documental atual não comprova vigência jurídica por data isolada.</a:t>
            </a:r>
          </a:p>
          <a:p>
            <a:r>
              <a:t>CNPJ 54871427000194 · Gestão: taxa, base e mínimo · Resumo do histórico: {"count": 2, "dates": ["2024-04-19", "2024-04-28"], "document_count": 2, "sources": [{"document_id": "670691", "title": "Regulamento", "reference_date": "2024-04-28", "version": "1", "page": "26", "url": "https://fnet.bmfbovespa.com.br/fnet/publico/visualizarDocumento?id=670691", "sha256": "bf16dd7f1a62d5cdbf2e2d54fef81783783f7310fbc99c3a8f00459bdf9d037b"}, {"document_id": "670689", "title": "Regulamento", "reference_date": "2024-04-19", "version": "1", "page": 27, "clause": "13.3", "url": "https://fnet.bmfbovespa.com.br/fnet/publico/visualizarDocumento?id=670689", "sha256": "891bc9bc5d87bbc02ec139077a84d2702eb81ea02035fb71d24f5b8366b94a0b"}], "reference": {"path": "history/54871427000194.json", "criterion_id": "management_fee", "total_count": 2, "preview_count": 2, "full_text_deferred": true, "sha256": "35d7cd99be50c7287c9fb675cf4f2e736002315295a225a9efa79c8d9186d874"}}</a:t>
            </a:r>
          </a:p>
          <a:p>
            <a:r>
              <a:t>CNPJ 60010416000112 · Gestão: taxa, base e mínimo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Gestão: taxa, base e mínimo · Resumo do histórico: {"count": 1, "dates": ["2025-10-09"], "document_count": 1, "sources": [{"document_id": "1051393", "title": "Regulamento", "reference_date": "2025-10-09", "version": "1", "page": "29, 46", "url": "https://fnet.bmfbovespa.com.br/fnet/publico/visualizarDocumento?id=1051393", "sha256": "8469d613078ffd5a6c1d217885d8a397a16342c0b937ae4aa24b106505f233ae"}], "reference": {"path": "history/60010416000112.json", "criterion_id": "management_fee", "total_count": 1, "preview_count": 1, "full_text_deferred": true, "sha256": "8e2bd813f4c51cf01f6bfaad164bafe69d2bbb192f753eac92da3a01c2e63046"}}</a:t>
            </a:r>
          </a:p>
          <a:p>
            <a:r>
              <a:t>CNPJ 62696791000193 · Gestão: taxa, base e mínimo · Regulamento · ID 1143317 · 20/03/2026 · versão Regulamento — referência 20/03/2026 · p. 28 · Anexo I, 13.1, Taxa de Gestão · https://fnet.bmfbovespa.com.br/fnet/publico/visualizarDocumento?id=1143317</a:t>
            </a:r>
          </a:p>
          <a:p>
            <a:r>
              <a:t>CNPJ 62696791000193 · Gestão: taxa, base e mínimo · Excerto da fonte:</a:t>
            </a:r>
          </a:p>
          <a:p>
            <a:r>
              <a:t>Taxa de Gestão 0% (zero por cento) ao ano apropriada diariamente na base de 252 (duzentos e cinquenta e dois) Dias Úteis, e paga mensalmente, até o 5º (quinto) Dia Útil do mês subsequente ao mês que se ref ere, incidente sobre o Patrimônio Líquido da Classe (“Taxa de Gestão”). Taxa Máxima de Custódia 0,00% (zero por cento) ao ano, incidente sobre o Patrimônio Líquido da Classe (“Taxa Máxima de Custódia”). Taxa de Performance Não será devido pela Classe o pagamento de Taxa de Perf ormance. 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a:t>
            </a:r>
          </a:p>
          <a:p>
            <a:r>
              <a:t>CNPJ 62696791000193 · Gestão: taxa, base e mínimo · Motivo: Não localizada uma cláusula material para este critério nos textos identificados e processados. A ausência de resultado não comprova inexistência da regra.</a:t>
            </a:r>
          </a:p>
          <a:p>
            <a:r>
              <a:t>CNPJ 62696791000193 · Gestão: taxa, base e mínimo · Versão e prevalência: Leitura específica das cláusulas indicadas; condições e conflitos preservados. Seleção documental atual não comprova vigência jurídica por data isolada.</a:t>
            </a:r>
          </a:p>
          <a:p>
            <a:r>
              <a:t>CNPJ 55563624000109 · Gestão: taxa, base e mínimo · Regulamento · ID 1192614 · 30/04/2026 · versão Regulamento30/04/2026 · p. 29 · AnexoI13.4–13.7.1 · https://fnet.bmfbovespa.com.br/fnet/publico/visualizarDocumento?id=1192614</a:t>
            </a:r>
          </a:p>
          <a:p>
            <a:r>
              <a:t>CNPJ 55563624000109 · Gestão: taxa, base e mínimo · Excerto da fonte:</a:t>
            </a:r>
          </a:p>
          <a:p>
            <a:r>
              <a:t>13.4 Sem prejuízo da Taxa Máxima de Gestão, pelos serviços de gestão, a Classe pagará ao GESTOR: (i) a taxa de gestão ordinária correspondente a 0,50% (cinquenta centésimos por cento) ao ano, incidente sobre o Patrimônio Líquido da Classe, observado o montante mínimo de R$ 40.000,00 (quarenta mil reais) ao mês, corrigido anualmente pela variação positiva do Índice de Preços ao Consumidor Amplo, divulgado pelo Instituto Brasileiro de Geografia e Estatística – IBGE (“Taxa de Gestão”); e (ii) a taxa de gestão extraordinária apurada e paga no momento de cada</a:t>
            </a:r>
          </a:p>
          <a:p>
            <a:r>
              <a:t>CNPJ 55563624000109 · Gestão: taxa, base e mínimo · Condição: Adicional é por integralização, não taxa anual.</a:t>
            </a:r>
          </a:p>
          <a:p>
            <a:r>
              <a:t>CNPJ 55563624000109 · Gestão: taxa, base e mínimo · Versão e prevalência: Leitura específica das cláusulas indicadas; condições e conflitos preservados. Seleção documental atual não comprova vigência jurídica por data isolada.</a:t>
            </a:r>
          </a:p>
          <a:p>
            <a:r>
              <a:t>CNPJ 55563624000109 · Gestão: taxa, base e mínimo · Resumo do histórico: {"count": 3, "dates": ["2025-01-31", "2026-01-31", "2026-04-30"], "document_count": 3, "sources": [{"document_id": "1192614", "title": "Regulamento", "reference_date": "2026-04-30", "version": "1", "page": "29", "url": "https://fnet.bmfbovespa.com.br/fnet/publico/visualizarDocumento?id=1192614", "sha256": "f56e63ace0acde41d2f47fb48f1ac7f3f7df5e2d32de092d7c5e075a52516632"}, {"document_id": "1178840", "title": "Demonstrações Financeiras", "reference_date": "2026-01-31", "version": "1", "page": 29, "url": "https://fnet.bmfbovespa.com.br/fnet/publico/visualizarDocumento?id=1178840", "sha256": "c458e98664c5c907ddb5a05a94b120bed4e05295b2bfc420f5ba69af0a229abe"}, {"document_id": "891861", "title": "Demonstrações Financeiras", "reference_date": "2025-01-31", "version": "1", "page": 30, "url": "https://fnet.bmfbovespa.com.br/fnet/publico/visualizarDocumento?id=891861", "sha256": "e9cb9e6ddbe505fe068cfcac33605165a98313489de0d3ce6d4d238263c3f3e7"}], "reference": {"path": "history/55563624000109.json", "criterion_id": "management_fee", "total_count": 3, "preview_count": 3, "full_text_deferred": true, "sha256": "7835d573fb58a3c19adf5b8ecc2aee2bdbb9a88f7a0c0209b5f262b64c7522e3"}}</a:t>
            </a:r>
          </a:p>
          <a:p>
            <a:r>
              <a:t>CNPJ 62552447000120 · Gestão: taxa, base e mínimo · Motivo: Não localizada uma cláusula material para este critério nos textos identificados e processados. A ausência de resultado não comprova inexistência da regra.</a:t>
            </a:r>
          </a:p>
          <a:p>
            <a:r>
              <a:t>CNPJ 63953620000165 · Gestão: taxa, base e mínimo · Anexo ao Regulamento · ID 1222863 · 02/06/2026 · versão AnexoConsignadoPrivado02/06/2026 · p. 20 · Capítulo13TaxadeGestão · https://fnet.bmfbovespa.com.br/fnet/publico/visualizarDocumento?id=1222863</a:t>
            </a:r>
          </a:p>
          <a:p>
            <a:r>
              <a:t>CNPJ 63953620000165 · Gestão: taxa, base e mínimo · Excerto da fonte:</a:t>
            </a:r>
          </a:p>
          <a:p>
            <a:r>
              <a:t>0,05% (cinco centésimos por cento) ao ano, apropriada diariamente na base de 252 (duzentos e cinquenta e dois) Dias Úteis, e paga mensalmente, até o 5º (quinto) Dia Útil do mês subsequente ao mês que se refere, incidente sobre o Patrimônio Líquido da Classe alocado em Direitos Creditórios Consignado Privado e/ou Ativos de Liquidez MT, observada remuneração mínima mensal de R$ 2.500,00 (dois mil e quinhentos reais), a ser corrigida anualmente, em janeiro de cada ano, pela variação</a:t>
            </a:r>
          </a:p>
          <a:p>
            <a:r>
              <a:t>CNPJ 63953620000165 · Gestão: taxa, base e mínimo · Versão e prevalência: Leitura específica das cláusulas indicadas; condições e conflitos preservados. Seleção documental atual não comprova vigência jurídica por data isolada.</a:t>
            </a:r>
          </a:p>
          <a:p>
            <a:r>
              <a:t>CNPJ 63953620000165 · Gestão: taxa, base e mínimo · Resumo do histórico: {"count": 8, "dates": ["2026-04-28", "2026-05-08", "2026-05-15"], "document_count": 3, "sources": [{"document_id": "1327859", "title": "Demonstrações Financeiras - Fusão, cisão e incorporação", "reference_date": "2026-05-15", "version": "1", "page": 28, "url": "https://fnet.bmfbovespa.com.br/fnet/publico/visualizarDocumento?id=1327859", "sha256": "dca1c68babb97f887528c3e2e47596a9c30f507b067981a35655b2f2da9c8054"}, {"document_id": "1298691", "title": "Demonstrações Financeiras - Fusão, cisão e incorporação", "reference_date": "2026-05-08", "version": "1", "page": 28, "url": "https://fnet.bmfbovespa.com.br/fnet/publico/visualizarDocumento?id=1298691", "sha256": "58c570d9b8d4d265330d3db3ea81c435b8e44a6dab4002aa37790652a1ee9819"}, {"document_id": "1282180", "title": "Demonstrações Financeiras - Fusão, cisão e incorporação", "reference_date": "2026-04-28", "version": "1", "page": 29, "url": "https://fnet.bmfbovespa.com.br/fnet/publico/visualizarDocumento?id=1282180", "sha256": "afaaa0e6809be4385e5bdb6c911aac582032c5bdbac3d7750234bf9eaf00438a"}], "reference": {"path": "history/63953620000165.json", "criterion_id": "management_fee", "total_count": 8, "preview_count": 3, "full_text_deferred": true, "sha256": "a7b89077f5e21098c2d601c303faabc3ff6b9729f89d8afecdc60fe1404720c1"}}</a:t>
            </a:r>
          </a:p>
          <a:p>
            <a:r>
              <a:t>CNPJ 54871427000194 · Performance: benchmark e apuração · Regulamento · ID 670691 · 28/04/2024 · versão Regulamento — referência 28/04/2024 · p. 26 · Anexo I, 13.3 · https://fnet.bmfbovespa.com.br/fnet/publico/visualizarDocumento?id=670691</a:t>
            </a:r>
          </a:p>
          <a:p>
            <a:r>
              <a:t>CNPJ 54871427000194 · Performance: benchmark e apuração · Excerto da fonte:</a:t>
            </a:r>
          </a:p>
          <a:p>
            <a:r>
              <a:t>13.3 Não serão cobradas da Classe ou dos Cotistas taxas de perf ormance, de ingresso ou de saída. Taxa de Gestão 13.4 Pelos serviços de gestão, a Classe pagará a Taxa de Gestão nos seguintes moldes: o valor correspondente a 0,20% (vinte centésimos por cento) ao ano aplicado sobre o Patrimônio Líquido, observado o valor mínimo de R$ 15.000,00 (quinze mil reais) mensais atualizado pela variação positiva do IGP-M a cada período de 12 (doze) meses, contados a partir do mês em que ocorrer a primeira integralização de Cotas (inclusive). 13.4.1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13.4.2 A Taxa de Gestão será calculada e provisionada todo Dia Útil à razão de 1/252 (um inteiro e duzentos e cinquenta e dois avos) com base no valor do Patrimônio Líquido do Dia Útil anterior. 13.4.3 A Taxa de Gestão será paga mensalmente ao GESTOR, observado o disposto no item 13.5</a:t>
            </a:r>
          </a:p>
          <a:p>
            <a:r>
              <a:t>CNPJ 54871427000194 · Performance: benchmark e apuração · Motivo: Não localizada uma cláusula material para este critério nos textos identificados e processados. A ausência de resultado não comprova inexistência da regra.</a:t>
            </a:r>
          </a:p>
          <a:p>
            <a:r>
              <a:t>CNPJ 54871427000194 · Performance: benchmark e apuração · Versão e prevalência: Leitura específica das cláusulas indicadas; condições e conflitos preservados. Seleção documental atual não comprova vigência jurídica por data isolada.</a:t>
            </a:r>
          </a:p>
          <a:p>
            <a:r>
              <a:t>CNPJ 60010416000112 · Performance: benchmark e apuração · Regulamento · ID 1051393 · 09/10/2025 · versão Regulamento09/10/2025 · p. 29 · AnexoI12.2 · https://fnet.bmfbovespa.com.br/fnet/publico/visualizarDocumento?id=1051393</a:t>
            </a:r>
          </a:p>
          <a:p>
            <a:r>
              <a:t>CNPJ 60010416000112 · Performance: benchmark e apuração · Excerto da fonte:</a:t>
            </a:r>
          </a:p>
          <a:p>
            <a:r>
              <a:t>12.2 Não serão cobradas da Classe ou dos Cotistas taxas de perf ormance, de ingresso ou de saída. Taxa Máxima de Custódia 12.3 Pelos serviços de custódia qualificada dos Direitos Creditórios e dos Ativos Financeiros de Liquidez não será devida nenhuma remuneração ao Custodiante, de modo que taxa máxima de custódia a ser paga pela Classe ao Custodiante corresponde a 0% (zero por cento) ao ano. Remuneração do Agente de Retenção/Cobrança 12.4 Para a prestação de serviços à Classe, o Agente de Retenção/Cobrança f ará jus a uma remuneração a ser auf erida todo Dia Útil e paga mensalmente, a título de Encargo da Cla</a:t>
            </a:r>
          </a:p>
          <a:p>
            <a:r>
              <a:t>CNPJ 60010416000112 · Performance: benchmark e apuração · Motivo: Não localizada uma cláusula material para este critério nos textos identificados e processados. A ausência de resultado não comprova inexistência da regra.</a:t>
            </a:r>
          </a:p>
          <a:p>
            <a:r>
              <a:t>CNPJ 60010416000112 · Performance: benchmark e apuração · Versão e prevalência: Leitura específica das cláusulas indicadas; condições e conflitos preservados. Seleção documental atual não comprova vigência jurídica por data isolada.</a:t>
            </a:r>
          </a:p>
          <a:p>
            <a:r>
              <a:t>CNPJ 62696791000193 · Performance: benchmark e apuração · Regulamento · ID 1143317 · 20/03/2026 · versão Regulamento — referência 20/03/2026 · p. 28 · Anexo I, 13.1, Taxa de Performance · https://fnet.bmfbovespa.com.br/fnet/publico/visualizarDocumento?id=1143317</a:t>
            </a:r>
          </a:p>
          <a:p>
            <a:r>
              <a:t>CNPJ 62696791000193 · Performance: benchmark e apuração · Excerto da fonte:</a:t>
            </a:r>
          </a:p>
          <a:p>
            <a:r>
              <a:t>Taxa de Performance Não será devido pela Classe o pagamento de Taxa de Perf ormance. 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equivalente a 0,9% (nove décimos por cento) ao ano aplicado sobre o Patrimônio Anexo I ao Regulamento Líquido, observado o limite máximo de 4,5% (quatro inteiros e cinquenta centésimos por cento) do volume captado na respectiva oferta (“Taxa Máxima de Distribuição”).A Taxa Máxima de BTG Pactual SAC: 0800 772 2827 | Ouvidoria: 0800 722 0048 | btgpactual.co m 23</a:t>
            </a:r>
          </a:p>
          <a:p>
            <a:r>
              <a:t>CNPJ 62696791000193 · Performance: benchmark e apuração · Regulamento · ID 1143317 · 20/03/2026 · versão Regulamento — referência 20/03/2026 · p. 29 · Anexo I, 13.1, Taxa de Ingresso · https://fnet.bmfbovespa.com.br/fnet/publico/visualizarDocumento?id=1143317</a:t>
            </a:r>
          </a:p>
          <a:p>
            <a:r>
              <a:t>CNPJ 62696791000193 · Performance: benchmark e apuração · Excerto da fonte:</a:t>
            </a:r>
          </a:p>
          <a:p>
            <a:r>
              <a:t>Taxa de Ingresso Não será cobrada dos Cotistas Taxa de Ingresso. 14 TRIBUTAÇÃO 14.1 O disposto neste Capítulo f oi elaborado com base na legislação e regulamentação em vigor produzindo ef eitos, tem por objetivo descrever de f orma sumária o tratamento tributário aplicável em regra aos cotistas, ao Fundo e à Classe, não se aplicando aos cotistas sujeitos a regras de tributação específicas, na f orma da legislação e regulamentação em vigor. 14.2 Há exceções (inclusive relativas à natureza ou ao domicílio do investidor para fins fiscais) em relação ao tratamento tributário descrito abaixo e tributos adicionais que podem ser aplicados, motivo pelo qual os cotistas devem consultar seus assessores jurídicos com relação à tributação aplicável nos investimentos realizados na Classe. Tributação da Classe / Operações da carteira: Como regra geral, os rendimentos auferidos pela carteira da Classe não estão sujeitos à incidência do imposto de renda, exceto ganhos auferidos em aplicações financeiras de renda fixa ou variável, que se sujeitam à incidência do Imposto de Renda Retido na Fonte (“IRF”) de acordo com as mesmas regras de tributação aplic</a:t>
            </a:r>
          </a:p>
          <a:p>
            <a:r>
              <a:t>CNPJ 62696791000193 · Performance: benchmark e apuração · Motivo: Não localizada uma cláusula material para este critério nos textos identificados e processados. A ausência de resultado não comprova inexistência da regra.</a:t>
            </a:r>
          </a:p>
          <a:p>
            <a:r>
              <a:t>CNPJ 62696791000193 · Performance: benchmark e apuração · Versão e prevalência: Leitura específica das cláusulas indicadas; condições e conflitos preservados. Seleção documental atual não comprova vigência jurídica por data isolada.</a:t>
            </a:r>
          </a:p>
          <a:p>
            <a:r>
              <a:t>CNPJ 55563624000109 · Performance: benchmark e apuração · Regulamento · ID 1192614 · 30/04/2026 · versão Regulamento30/04/2026 · p. 29 · AnexoI13.10 · https://fnet.bmfbovespa.com.br/fnet/publico/visualizarDocumento?id=1192614</a:t>
            </a:r>
          </a:p>
          <a:p>
            <a:r>
              <a:t>CNPJ 55563624000109 · Performance: benchmark e apuração · Excerto da fonte:</a:t>
            </a:r>
          </a:p>
          <a:p>
            <a:r>
              <a:t>13.10 Não serão cobradas taxas de performance da Classe, e nem taxas de ingresso ou de saída dos Cotistas que integralizarem ou resgatarem suas Cotas. BTG Pactual SAC: 0800 772 28 27 - Ouvidoria: 0800 722 00 48 - btgpactual.com 22</a:t>
            </a:r>
          </a:p>
          <a:p>
            <a:r>
              <a:t>CNPJ 55563624000109 · Performance: benchmark e apuração · Motivo: Não localizada uma cláusula material para este critério nos textos identificados e processados. A ausência de resultado não comprova inexistência da regra.</a:t>
            </a:r>
          </a:p>
          <a:p>
            <a:r>
              <a:t>CNPJ 55563624000109 · Performance: benchmark e apuração · Versão e prevalência: Leitura específica das cláusulas indicadas; condições e conflitos preservados. Seleção documental atual não comprova vigência jurídica por data isolada.</a:t>
            </a:r>
          </a:p>
          <a:p>
            <a:r>
              <a:t>CNPJ 62552447000120 · Performance: benchmark e apuração · Regulamento · ID 1200623 · 21/05/2026 · versão Consolidado21/05/2026 aprovado pelo ato1200625 · p. 30 · AnexoI13.1 TaxadePerformance/Ingresso · https://fnet.bmfbovespa.com.br/fnet/publico/visualizarDocumento?id=1200623</a:t>
            </a:r>
          </a:p>
          <a:p>
            <a:r>
              <a:t>CNPJ 62552447000120 · Performance: benchmark e apuração · Excerto da fonte:</a:t>
            </a:r>
          </a:p>
          <a:p>
            <a:r>
              <a:t>Taxa de Performance Não será devido pela Classe o pagamento de Taxa de Perf ormance. Taxa de Ingresso Não será cobrada dos Cotistas Taxa de Ingresso . CAPÍTULO 14 – CUSTOS REFERENTES À DEFESA DOS INTERESSES DA CLASSE 14.1 Todos os custos e despesas ref eridos neste Capítulo, inclusive para salvaguarda de direitos e prerrogativas da Classe e/ou com a cobrança judicial e/ou extrajudicial de Direitos Creditórios Inadimplidos, serão de inteira responsabilidade da Classe, não est ando o Administrador, o Gestor, o Endossante, os Devedores, o Custodiante e quaisquer de suas respectivas pessoas contr</a:t>
            </a:r>
          </a:p>
          <a:p>
            <a:r>
              <a:t>CNPJ 62552447000120 · Performance: benchmark e apuração · Motivo: Não localizada uma cláusula material para este critério nos textos identificados e processados. A ausência de resultado não comprova inexistência da regra.</a:t>
            </a:r>
          </a:p>
          <a:p>
            <a:r>
              <a:t>CNPJ 62552447000120 · Performance: benchmark e apuração · Versão e prevalência: Leitura específica das cláusulas indicadas; condições e conflitos preservados. Seleção documental atual não comprova vigência jurídica por data isolada.</a:t>
            </a:r>
          </a:p>
          <a:p>
            <a:r>
              <a:t>CNPJ 63953620000165 · Performance: benchmark e apuração · Anexo ao Regulamento · ID 1222863 · 02/06/2026 · versão AnexoConsignadoPrivado02/06/2026 · p. 20 · Capítulo13 · https://fnet.bmfbovespa.com.br/fnet/publico/visualizarDocumento?id=1222863</a:t>
            </a:r>
          </a:p>
          <a:p>
            <a:r>
              <a:t>CNPJ 63953620000165 · Performance: benchmark e apuração · Excerto da fonte:</a:t>
            </a:r>
          </a:p>
          <a:p>
            <a:r>
              <a:t>Taxa de Performance Não será devido pelas Classes o pagamento de Taxa de Performance. 0,00% (zero por cento) ao ano, incidente sobre o Patrimônio Líquido da Classe Taxa Máxima de Custódia (“Taxa Máxima de Custódia”). Taxa Máxima de Distribuição Não será cobrada Taxa de Distribuição. Taxa de Ingresso Não será cobrada da Classe ou dos Cotistas taxa de ingresso. CAPÍTULO 14 – CUSTOS REFERENTES À DEFESA DOS INTERESSES DA CLASSE 14.1 Todos os custos e despesas referidos neste Capítulo, inclusive para salvaguarda de direitos e prerrogativas da</a:t>
            </a:r>
          </a:p>
          <a:p>
            <a:r>
              <a:t>CNPJ 63953620000165 · Performance: benchmark e apuração · Motivo: Cláusula primária localizada e citada, mas sua lista/condições extensas não admitem uma síntese literal curta confirmada. O trecho integral permanece nas fontes.</a:t>
            </a:r>
          </a:p>
          <a:p>
            <a:r>
              <a:t>CNPJ 63953620000165 · Performance: benchmark e apuração · Versão e prevalência: Leitura específica das cláusulas indicadas; condições e conflitos preservados. Seleção documental atual não comprova vigência jurídica por data isolada.</a:t>
            </a:r>
          </a:p>
          <a:p>
            <a:r>
              <a:t>CNPJ 54871427000194 · Custódia, escrituração e encargos · Regulamento · ID 670691 · 28/04/2024 · versão Regulamento — referência 28/04/2024 · p. 26 · Anexo I, 13.7–13.8 · https://fnet.bmfbovespa.com.br/fnet/publico/visualizarDocumento?id=670691</a:t>
            </a:r>
          </a:p>
          <a:p>
            <a:r>
              <a:t>CNPJ 54871427000194 · Custódia, escrituração e encargos · Excerto da fonte:</a:t>
            </a:r>
          </a:p>
          <a:p>
            <a:r>
              <a:t>13.7 Pelos serviços de retenção e cobrança, prestada nos termos deste Anexo e do Contrato de Retenção/Cobrança, será devida pela Classe ao Agente de Retenção/Cobrança a remuneração prevista no respectivo Contrato de Retenção/Cobrança. Taxa Máxima de Custódia 13.8 Pelos serviços de custódia qualificada dos Direitos Creditórios e dos Ativos Financeiros de Liquidez não será devida nenhuma remuneração ao CUSTODIANTE, de modo que taxa máxima de custódia a ser paga pela Classe ao CUSTODIANTE corresponde a 0% (zero por cento) ao ano. CAPÍTULO 14 – CUSTOS REFERENTES À DEFESA DOS INTERESSES DA CLASSE 14.1 Caso a Classe não possua recursos disponíveis, em moeda corrente nacional, suf icientes para a adoção e manutenção, direta ou indireta, dos procedimentos judiciais e extrajudiciais necessários à cobrança dos Direitos Creditórios e dos Ativos Financeiros de Liquidez de titularidade da Classe e à def esa dos direitos, interesses e prerrogativas da Classe, a maioria dos titulares das Cotas, reunidos em Assembleia Especial de Cotistas, poderá aprovar o aporte de recursos à Classe, por meio da integralização de novas Cotas, a ser realizada por todos os titulares das Cotas para assegurar, se for o caso, a</a:t>
            </a:r>
          </a:p>
          <a:p>
            <a:r>
              <a:t>CNPJ 54871427000194 · Custódia, escrituração e encargos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Custódia, escrituração e encargos · Versão e prevalência: Leitura específica das cláusulas indicadas; condições e conflitos preservados. Seleção documental atual não comprova vigência jurídica por data isolada.</a:t>
            </a:r>
          </a:p>
          <a:p>
            <a:r>
              <a:t>CNPJ 54871427000194 · Custódia, escrituração e encargos · Resumo do histórico: {"count": 1, "dates": ["2024-04-28"], "document_count": 1, "sources": [{"document_id": "670691", "title": "Regulamento", "reference_date": "2024-04-28", "version": "1", "page": "26", "url": "https://fnet.bmfbovespa.com.br/fnet/publico/visualizarDocumento?id=670691", "sha256": "bf16dd7f1a62d5cdbf2e2d54fef81783783f7310fbc99c3a8f00459bdf9d037b"}], "reference": {"path": "history/54871427000194.json", "criterion_id": "custody_fee", "total_count": 1, "preview_count": 1, "full_text_deferred": true, "sha256": "35d7cd99be50c7287c9fb675cf4f2e736002315295a225a9efa79c8d9186d874"}}</a:t>
            </a:r>
          </a:p>
          <a:p>
            <a:r>
              <a:t>CNPJ 60010416000112 · Custódia, escrituração e encargos · Regulamento · ID 1051393 · 09/10/2025 · versão Regulamento09/10/2025 · p. 29 · AnexoI12.3–12.4 · https://fnet.bmfbovespa.com.br/fnet/publico/visualizarDocumento?id=1051393</a:t>
            </a:r>
          </a:p>
          <a:p>
            <a:r>
              <a:t>CNPJ 60010416000112 · Custódia, escrituração e encargos · Excerto da fonte:</a:t>
            </a:r>
          </a:p>
          <a:p>
            <a:r>
              <a:t>12.3 Pelos serviços de custódia qualificada dos Direitos Creditórios e dos Ativos Financeiros de Liquidez não será devida nenhuma remuneração ao Custodiante, de modo que taxa máxima de custódia a ser paga pela Classe ao Custodiante corresponde a 0% (zero por cento) ao ano. Remuneração do Agente de Retenção/Cobrança 12.4 Para a prestação de serviços à Classe, o Agente de Retenção/Cobrança f ará jus a uma remuneração a ser auf erida todo Dia Útil e paga mensalmente, a título de Encargo da Classe, a qual será calculada com base na seguinte f órmula:</a:t>
            </a:r>
          </a:p>
          <a:p>
            <a:r>
              <a:t>CNPJ 60010416000112 · Custódia, escrituração e encargos · Regulamento · ID 1051393 · 09/10/2025 · versão Regulamento09/10/2025 · p. 30 · AnexoI12.4definições,12.5–12.5.1 · https://fnet.bmfbovespa.com.br/fnet/publico/visualizarDocumento?id=1051393</a:t>
            </a:r>
          </a:p>
          <a:p>
            <a:r>
              <a:t>CNPJ 60010416000112 · Custódia, escrituração e encargos · Excerto da fonte:</a:t>
            </a:r>
          </a:p>
          <a:p>
            <a:r>
              <a:t>RAC = Remuneração do Agente de Retenção e Cobrança,tendo como valor 4,00% (quatro por cento) ao ano. 12.5 A remuneração prevista no item 12.4 acima será calculada pelo Administrador e paga diretamente ao Agente de Retenção/Cobrança até o 5º (quinto) Dia Útil do mês subsequente ao da prestação dos serviços, conf orme estabelecido no Contrato de Serviços MT. 12.5.1. Independentemente do acima disposto, na hipótese de venda de qualquer parte dos Direitos Creditórios Elegíveis a terceiros, inclusive no caso de liquidação da Classe, o Agente de Retenção/Cobra</a:t>
            </a:r>
          </a:p>
          <a:p>
            <a:r>
              <a:t>CNPJ 60010416000112 · Custódia, escrituração e encargos · Condição: Fórmula do RAC tem composição base 252 DU/21 dias; não somar a 4% do PL como taxa administrativa.</a:t>
            </a:r>
          </a:p>
          <a:p>
            <a:r>
              <a:t>CNPJ 60010416000112 · Custódia, escrituração e encargos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Custódia, escrituração e encargos · Versão e prevalência: Leitura específica das cláusulas indicadas; condições e conflitos preservados. Seleção documental atual não comprova vigência jurídica por data isolada.</a:t>
            </a:r>
          </a:p>
          <a:p>
            <a:r>
              <a:t>CNPJ 60010416000112 · Custódia, escrituração e encargos · Resumo do histórico: {"count": 1, "dates": ["2025-10-09"], "document_count": 1, "sources": [{"document_id": "1051393", "title": "Regulamento", "reference_date": "2025-10-09", "version": "1", "page": "29-31", "url": "https://fnet.bmfbovespa.com.br/fnet/publico/visualizarDocumento?id=1051393", "sha256": "8469d613078ffd5a6c1d217885d8a397a16342c0b937ae4aa24b106505f233ae"}], "reference": {"path": "history/60010416000112.json", "criterion_id": "custody_fee", "total_count": 1, "preview_count": 1, "full_text_deferred": true, "sha256": "8e2bd813f4c51cf01f6bfaad164bafe69d2bbb192f753eac92da3a01c2e63046"}}</a:t>
            </a:r>
          </a:p>
          <a:p>
            <a:r>
              <a:t>CNPJ 62696791000193 · Custódia, escrituração e encargos · Regulamento · ID 1143317 · 20/03/2026 · versão Regulamento — referência 20/03/2026 · p. 28 · Anexo I, 13.1, Custódia e Distribuição · https://fnet.bmfbovespa.com.br/fnet/publico/visualizarDocumento?id=1143317</a:t>
            </a:r>
          </a:p>
          <a:p>
            <a:r>
              <a:t>CNPJ 62696791000193 · Custódia, escrituração e encargos · Excerto da fonte:</a:t>
            </a:r>
          </a:p>
          <a:p>
            <a:r>
              <a:t>Taxa Máxima de Custódia 0,00% (zero por cento) ao ano, incidente sobre o Patrimônio Líquido da Classe (“Taxa Máxima de Custódia”). Taxa de Performance Não será devido pela Classe o pagamento de Taxa de Perf ormance. 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equivalente a 0,9% (nove décimos por cento) ao ano aplicado sobre o Patrimônio Anexo I ao Regulamento Líquido, observado o limite máximo de 4,5% (quatro inteiros e cinquenta centésimos por cento) do volume captado na respectiva oferta (“Taxa Máxima de Distribuição”).A</a:t>
            </a:r>
          </a:p>
          <a:p>
            <a:r>
              <a:t>CNPJ 62696791000193 · Custódia, escrituração e encargos · Regulamento · ID 1143317 · 20/03/2026 · versão Regulamento — referência 20/03/2026 · p. 29 · Anexo I, 13.1, Distribuição · https://fnet.bmfbovespa.com.br/fnet/publico/visualizarDocumento?id=1143317</a:t>
            </a:r>
          </a:p>
          <a:p>
            <a:r>
              <a:t>CNPJ 62696791000193 · Custódia, escrituração e encargos · Excerto da fonte:</a:t>
            </a:r>
          </a:p>
          <a:p>
            <a:r>
              <a:t>Distribuição será calculada e provisionada todo Dia Útil à razão de 1/252 (um inteiro e duzentos e cinquenta e dois avos) com base no valor do Patrimônio Líquido do Dia Útil anterior. Nos termos da Resolução CVM 160, o coordenador líder poderá destinar parte ou a totalidade da sua remuneração, à vista ou a prazo, aos distribuidores contratados, conforme previsto no contrato de distribuição da oferta e/ou nos termos de adesão ao contrato de distribuição. A Taxa Máxima de Distribuição será paga mensalmente por período vencido, até o 10º (décimo) Dia Útil do mês subsequente à prestação dos serviços, a partir do mês em que ocorrer a primeira integralização de Cotas da Classe Taxa de Ingresso Não será cobrada dos Cotistas Taxa de Ingresso. 14 TRIBUTAÇÃO 14.1 O disposto neste Capítulo f oi elaborado co</a:t>
            </a:r>
          </a:p>
          <a:p>
            <a:r>
              <a:t>CNPJ 62696791000193 · Custódia, escrituração e encargos · Motivo: Não localizada uma cláusula material para este critério nos textos identificados e processados. A ausência de resultado não comprova inexistência da regra.</a:t>
            </a:r>
          </a:p>
          <a:p>
            <a:r>
              <a:t>CNPJ 62696791000193 · Custódia, escrituração e encargos · Versão e prevalência: Leitura específica das cláusulas indicadas; condições e conflitos preservados. Seleção documental atual não comprova vigência jurídica por data isolada.</a:t>
            </a:r>
          </a:p>
          <a:p>
            <a:r>
              <a:t>CNPJ 55563624000109 · Custódia, escrituração e encargos · Regulamento · ID 1192614 · 30/04/2026 · versão Regulamento30/04/2026 · p. 29 · AnexoI13.8–13.9 · https://fnet.bmfbovespa.com.br/fnet/publico/visualizarDocumento?id=1192614</a:t>
            </a:r>
          </a:p>
          <a:p>
            <a:r>
              <a:t>CNPJ 55563624000109 · Custódia, escrituração e encargos · Excerto da fonte:</a:t>
            </a:r>
          </a:p>
          <a:p>
            <a:r>
              <a:t>13.8 Pelos serviços de custódia qualificada das Cotas da Classe Investida e dos Ativos Financeiros de Liquidez não será devida nenhuma remuneração ao CUSTODIANTE, de modo que taxa de custódia a ser paga pela Classe ao CUSTODIANTE corresponde a 0% (zero por cento) ao ano. Taxas Máxima de Distribuição 13.9 Tendo em vista que não há distribuidores das Cotas que prestem serviços de forma contínua ao Fundo, o presente Regulamento e Anexo Descritivo não preveem uma taxa máxima de distribuição aplicável a todas as emissões, nos termos do Ofício-Circular-Conju</a:t>
            </a:r>
          </a:p>
          <a:p>
            <a:r>
              <a:t>CNPJ 55563624000109 · Custódia, escrituração e encargos · Versão e prevalência: Leitura específica das cláusulas indicadas; condições e conflitos preservados. Seleção documental atual não comprova vigência jurídica por data isolada.</a:t>
            </a:r>
          </a:p>
          <a:p>
            <a:r>
              <a:t>CNPJ 55563624000109 · Custódia, escrituração e encargos · Resumo do histórico: {"count": 1, "dates": ["2026-04-30"], "document_count": 1, "sources": [{"document_id": "1192614", "title": "Regulamento", "reference_date": "2026-04-30", "version": "1", "page": "29", "url": "https://fnet.bmfbovespa.com.br/fnet/publico/visualizarDocumento?id=1192614", "sha256": "f56e63ace0acde41d2f47fb48f1ac7f3f7df5e2d32de092d7c5e075a52516632"}], "reference": {"path": "history/55563624000109.json", "criterion_id": "custody_fee", "total_count": 1, "preview_count": 1, "full_text_deferred": true, "sha256": "7835d573fb58a3c19adf5b8ecc2aee2bdbb9a88f7a0c0209b5f262b64c7522e3"}}</a:t>
            </a:r>
          </a:p>
          <a:p>
            <a:r>
              <a:t>CNPJ 62552447000120 · Custódia, escrituração e encargos · Motivo: Não localizada uma cláusula material para este critério nos textos identificados e processados. A ausência de resultado não comprova inexistência da regra.</a:t>
            </a:r>
          </a:p>
          <a:p>
            <a:r>
              <a:t>CNPJ 63953620000165 · Custódia, escrituração e encargos · Motivo: Não localizada uma cláusula material para este critério nos textos identificados e processados. A ausência de resultado não comprova inexistência da regra.</a:t>
            </a:r>
          </a:p>
          <a:p>
            <a:r>
              <a:t>CNPJ 54871427000194 · Classes e séries de cotas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Classes e séries de cotas · Resumo do histórico: {"count": 1, "dates": ["2024-04-28"], "document_count": 1, "sources": [{"document_id": "670691", "title": "Regulamento", "reference_date": "2024-04-28", "version": "1", "page": "7, 14", "url": "https://fnet.bmfbovespa.com.br/fnet/publico/visualizarDocumento?id=670691", "sha256": "bf16dd7f1a62d5cdbf2e2d54fef81783783f7310fbc99c3a8f00459bdf9d037b"}], "reference": {"path": "history/54871427000194.json", "criterion_id": "quota_classes", "total_count": 1, "preview_count": 1, "full_text_deferred": true, "sha256": "35d7cd99be50c7287c9fb675cf4f2e736002315295a225a9efa79c8d9186d874"}}</a:t>
            </a:r>
          </a:p>
          <a:p>
            <a:r>
              <a:t>CNPJ 60010416000112 · Classes e séries de cotas · Demonstrações Financeiras - Fusão, cisão e incorporação · ID 1298690 · 2026-05-08 · versão 1 · p. 30 · https://fnet.bmfbovespa.com.br/fnet/publico/visualizarDocumento?id=1298690</a:t>
            </a:r>
          </a:p>
          <a:p>
            <a:r>
              <a:t>CNPJ 60010416000112 · Classes e séries de cotas · Excerto da fonte:</a:t>
            </a:r>
          </a:p>
          <a:p>
            <a:r>
              <a:t>Durante o período de investimento, a Administradora poderá deliberar por realizar novas  emissões de cotas subordinadas, sem a necessidade de aprovação em Assembleia Especial  de Cotistas ou alteração do Regulamento, limitadas ao montante máximo de R$ 50.000  (cinquenta milhões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subordinadas emitidas não sejam  superiores aos prazos de vencimento da primeira emissão.</a:t>
            </a:r>
          </a:p>
          <a:p>
            <a:r>
              <a:t>CNPJ 60010416000112 · Classes e séries de cotas · Demonstrações Financeiras - Fusão, cisão e incorporação · ID 1298690 · 2026-05-08 · versão 1 · p. 7 · https://fnet.bmfbovespa.com.br/fnet/publico/visualizarDocumento?id=1298690</a:t>
            </a:r>
          </a:p>
          <a:p>
            <a:r>
              <a:t>CNPJ 60010416000112 · Classes e séries de cotas · Excerto da fonte:</a:t>
            </a:r>
          </a:p>
          <a:p>
            <a:r>
              <a:t>01/12/2025 a  Nota  08/05/2026  Patrimônio líquido no início do período  Total de 493.487,7492 cotas sêniores a R$ 1.136,5211 560.859  Total de 2.329.794,7852 cotas sêniores 2 a R$ 1.141,3012 2.658.998  Total de 954,2302 cotas subordinadas a R$ 150.939,4087 144.031</a:t>
            </a:r>
          </a:p>
          <a:p>
            <a:r>
              <a:t>CNPJ 60010416000112 · Classes e séries de cotas · Demonstrações Financeiras - Fusão, cisão e incorporação · ID 1298690 · 2026-05-08 · versão 1 · p. 7 · https://fnet.bmfbovespa.com.br/fnet/publico/visualizarDocumento?id=1298690</a:t>
            </a:r>
          </a:p>
          <a:p>
            <a:r>
              <a:t>CNPJ 60010416000112 · Classes e séries de cotas · Excerto da fonte:</a:t>
            </a:r>
          </a:p>
          <a:p>
            <a:r>
              <a:t>Patrimônio líquido no final do período  Total de 2.865.592,8479 cotas a R$ 1.285,7151 3.672.765  Total de 493.487,7492 cotas sêniores a R$ 1.230,3042 607.141  Total de 2.362.150,8684 cotas sêniores 2 a R$ 1.236,9918 2.921.961  Total de 954,2302 cotas subordinadas a R$ 150.554,2733 143.663</a:t>
            </a:r>
          </a:p>
          <a:p>
            <a:r>
              <a:t>CNPJ 60010416000112 · Classes e séries de cotas · Condição: Documentos atuais selecionados no inventário por categoria/escopo; a data documental isolada não comprova vigência jurídica.</a:t>
            </a:r>
          </a:p>
          <a:p>
            <a:r>
              <a:t>CNPJ 60010416000112 · Classes e séries de cotas · Versão e prevalência: Documentos atuais selecionados no inventário por categoria/escopo; a data documental isolada não comprova vigência jurídica.</a:t>
            </a:r>
          </a:p>
          <a:p>
            <a:r>
              <a:t>CNPJ 60010416000112 · Classes e séries de cotas · Resumo do histórico: {"count": 9, "dates": ["2025-11-30", "2026-03-18", "2026-04-16"], "document_count": 3, "sources": [{"document_id": "1282181", "title": "Demonstrações Financeiras - Fusão, cisão e incorporação", "reference_date": "2026-04-16", "version": "1", "page": 7, "url": "https://fnet.bmfbovespa.com.br/fnet/publico/visualizarDocumento?id=1282181", "sha256": "b1c6566e43a00bcd00c8a7f30c77b7f86e351bd8e355bbea113f46d1dafda703"}, {"document_id": "1224477", "title": "Demonstrações Financeiras - Fusão, cisão e incorporação", "reference_date": "2026-03-18", "version": "1", "page": 7, "url": "https://fnet.bmfbovespa.com.br/fnet/publico/visualizarDocumento?id=1224477", "sha256": "0751bf0a75bc3b44c2748f5000226665c6ec6698a90c4dc6170b4e6c187759ae"}, {"document_id": "1126154", "title": "Demonstrações Financeiras", "reference_date": "2025-11-30", "version": "1", "page": 7, "url": "https://fnet.bmfbovespa.com.br/fnet/publico/visualizarDocumento?id=1126154", "sha256": "a01e7ccf88c548f12c95cba8526d7efbef6b585c112cd4668eca781c292090b0"}], "reference": {"path": "history/60010416000112.json", "criterion_id": "quota_classes", "total_count": 9, "preview_count": 3, "full_text_deferred": true, "sha256": "8e2bd813f4c51cf01f6bfaad164bafe69d2bbb192f753eac92da3a01c2e63046"}}</a:t>
            </a:r>
          </a:p>
          <a:p>
            <a:r>
              <a:t>CNPJ 62696791000193 · Classes e séries de cotas · Instrumento Particular de Emissão de Cotas · ID 1148821 · 2026-03-27 · versão 1 · p. 1 · 20.000 · https://fnet.bmfbovespa.com.br/fnet/publico/visualizarDocumento?id=1148821</a:t>
            </a:r>
          </a:p>
          <a:p>
            <a:r>
              <a:t>CNPJ 62696791000193 · Classes e séries de cotas · Excerto da fonte:</a:t>
            </a:r>
          </a:p>
          <a:p>
            <a:r>
              <a:t>20.000 (vinte mil) Cotas Subordinadas Júnior, com valor nominal unitário de R$ 1.000,00 (mil reais),  perfazendo o montante total de R$ 20.000.000,00 (vinte milhões de reais), as quais serão objeto de  colocação privada, de acordo com os termos e condições definidos no Apêndice da Subclasse  Subordinada Júnior constante do Anexo I Regulamento e descritas abaixo (“2ª Emissão da Subclasse  Subordinada Júnior”):</a:t>
            </a:r>
          </a:p>
          <a:p>
            <a:r>
              <a:t>CNPJ 62696791000193 · Classes e séries de cotas · Instrumento Particular de Emissão de Cotas · ID 1148821 · 2026-03-27 · versão 1 · p. 2 · https://fnet.bmfbovespa.com.br/fnet/publico/visualizarDocumento?id=1148821</a:t>
            </a:r>
          </a:p>
          <a:p>
            <a:r>
              <a:t>CNPJ 62696791000193 · Classes e séries de cotas · Excerto da fonte:</a:t>
            </a:r>
          </a:p>
          <a:p>
            <a:r>
              <a:t>2. Aprovar a 2ª (segunda) emissão da Subclasse Sênior da Classe, composta por até 150.000  (cento e cinquenta mil) Cotas Seniores, com valor nominal unitário de R$ 1.000,00 (mil reais),  perfazendo o montante total de R$ 150.000.000,00 (cento e cinquenta milhões de reais), as quais  serão objeto de colocação privada, de acordo com os termos e condições descritos no Apêndice da  Subclasse Sênior constante do Anexo I Regulamento e descritas abaixo (“2ª Emissão da Subclasse  Sênior”):</a:t>
            </a:r>
          </a:p>
          <a:p>
            <a:r>
              <a:t>CNPJ 62696791000193 · Classes e séries de cotas · Instrumento Particular de Emissão de Cotas · ID 1148821 · 2026-03-27 · versão 1 · p. 2 · https://fnet.bmfbovespa.com.br/fnet/publico/visualizarDocumento?id=1148821</a:t>
            </a:r>
          </a:p>
          <a:p>
            <a:r>
              <a:t>CNPJ 62696791000193 · Classes e séries de cotas · Excerto da fonte:</a:t>
            </a:r>
          </a:p>
          <a:p>
            <a:r>
              <a:t>d) Forma de Integralização: as Cotas Subordinadas Júnior serão integralizadas à vista, junto ao  seu respectivo agente de custódia e/ou da Administradora na qualidade de escriturador das  cotas; e</a:t>
            </a:r>
          </a:p>
          <a:p>
            <a:r>
              <a:t>CNPJ 62696791000193 · Classes e séries de cotas · Condição: Documentos atuais selecionados no inventário por categoria/escopo; a data documental isolada não comprova vigência jurídica.</a:t>
            </a:r>
          </a:p>
          <a:p>
            <a:r>
              <a:t>CNPJ 62696791000193 · Classes e séries de cotas · Versão e prevalência: Documentos atuais selecionados no inventário por categoria/escopo; a data documental isolada não comprova vigência jurídica.</a:t>
            </a:r>
          </a:p>
          <a:p>
            <a:r>
              <a:t>CNPJ 62696791000193 · Classes e séries de cotas · Resumo do histórico: {"count": 2, "dates": ["2026-03-20", "2026-03-27"], "document_count": 2, "sources": [{"document_id": "1148821", "title": "Instrumento Particular de Emissão de Cotas", "reference_date": "2026-03-27", "version": "1", "page": "1-2", "url": "https://fnet.bmfbovespa.com.br/fnet/publico/visualizarDocumento?id=1148821", "sha256": "86900e9dd498403696bfffbd4196443c83ec4d51ff21135e073c1966e1adf4c0"}, {"document_id": "1143317", "title": "Regulamento", "reference_date": "2026-03-20", "version": "1", "page": 16, "clause": "7.2", "url": "https://fnet.bmfbovespa.com.br/fnet/publico/visualizarDocumento?id=1143317", "sha256": "32f62818d51c3ebeaf9ec012d3d7867f15c1aed6d10f0867c157a290df1cea48"}], "reference": {"path": "history/62696791000193.json", "criterion_id": "quota_classes", "total_count": 2, "preview_count": 2, "full_text_deferred": true, "sha256": "0e9ec199848320ec945708123ae0cb6075d76c05d94beed814d582031d353926"}}</a:t>
            </a:r>
          </a:p>
          <a:p>
            <a:r>
              <a:t>CNPJ 55563624000109 · Classes e séries de cotas · Regulamento · ID 1192614 · 2026-04-30 · versão 1 · p. 40 · https://fnet.bmfbovespa.com.br/fnet/publico/visualizarDocumento?id=1192614</a:t>
            </a:r>
          </a:p>
          <a:p>
            <a:r>
              <a:t>CNPJ 55563624000109 · Classes e séries de cotas · Excerto da fonte:</a:t>
            </a:r>
          </a:p>
          <a:p>
            <a:r>
              <a:t>(xxiv) Subordinação de determinadas Cotas da Classe Investida a outras subclasses ou séries de  cotas das Classes Investidas aos quais pertencem. A Classe Investida adquirirá apenas cotas  subordinadas mezaninos da Classe Investida, as quais se subordinam às cotas seniores da Classe  Investida para efeitos de resgate. Os resgates de cotas subordinadas mezanino tipicamente têm sua  realização condicionada ainda à manutenção da razão de garantia e à existência de disponibilidades  da Classe Investida. O ADMINISTRADOR, o GESTOR e o CUSTODIANTE e suas respectivas partes  relacionadas, encontram-se impossibilitados de assegurar que a amortização e o resgate das cotas  subordinadas mezanino da Classe Investida que venham a ser adquiridas pela Classe ocorrerão nas  datas originalmente previstas, sendo que, caso tais amortizações e/ou resgates não ocorram, não será  devido pelo FUNDO ou qualquer pessoa, incluindo o ADMINISTRADOR, o GESTOR e o CUSTODIANTE,  do FUNDO ou da Classe Investida qualquer multa ou penalidade, de qualquer natureza. O não resgate  de cotas subordinadas mezanino da Classe Investida detidas pela Classe poderá impactar  negativamente no fluxo de pagamento de resgate da Classe e/ou no valor patrimonial das Cotas da  Classe.</a:t>
            </a:r>
          </a:p>
          <a:p>
            <a:r>
              <a:t>CNPJ 55563624000109 · Classes e séries de cotas · Regulamento · ID 1192614 · 2026-04-30 · versão 1 · p. 31 · 15.1.1 · https://fnet.bmfbovespa.com.br/fnet/publico/visualizarDocumento?id=1192614</a:t>
            </a:r>
          </a:p>
          <a:p>
            <a:r>
              <a:t>CNPJ 55563624000109 · Classes e séries de cotas · Excerto da fonte:</a:t>
            </a:r>
          </a:p>
          <a:p>
            <a:r>
              <a:t>15.1.1 Riscos de Crédito:</a:t>
            </a:r>
          </a:p>
          <a:p>
            <a:r>
              <a:t> (i) Risco de concentração na Classe Investida. Nos termos do presente Regulamento, a Classe  deverá manter alocado, no mínimo, 67% (sessenta e sete por cento) do Patrimônio Líquido nas Cotas  da Classe Investida. Alterações na condição econômico-financeira e na expectativa de desempenho ou  resultados da Classe Investida poderão, isolada ou cumulativamente, afetar negativamente o  rendimento do investimento nas Cotas, de forma mais severa do que se a Classe adotasse uma  estratégia de investimento de maior diversificação. O risco associado às aplicações de qualquer fundo  de investimento é diretamente proporcional à concentração da sua carteira, sendo que, quanto maior  essa concentração, maior será a sua vulnerabilidade.</a:t>
            </a:r>
          </a:p>
          <a:p>
            <a:r>
              <a:t> (ii) Risco relativo à Classe Investida. Nos termos deste Anexo, a Classe deverá manter alocado, no  mínimo, 67% (sessenta e sete por cento) do Patrimônio Líquido em Cotas da Classe Investida. Os  investimentos realizados pela Classe Investida poderão estar sujeitos a flutuações típicas do mercado,  risco de crédito, risco sistêmico, condições adversas de liquidez e negociação atípica nos mercados de  atuação, bem como outros riscos diversos. Este Anexo não contém a descrição de todas as  características, incluindo os riscos, da Classe Investida.</a:t>
            </a:r>
          </a:p>
          <a:p>
            <a:r>
              <a:t> (iii) Risco Relativo ao Pagamento de Encargos da Classe Investida. Tendo em vista a estrutura da  Classe Investida – que emitiu cotas sêniores, cotas subordinadas mezanino e cotas subordinadas júnior  – em situação ordinária os encargos da Classe Investida são arcados pelas cotas subordinadas júnior,  que se subordinam às cotas subordinadas mezanino e às cotas sêniores para fins de amortização,  resgate e distribuição de rendimentos, não impactando, portanto, as Cotas da Classe Investida. Não  obstante o funcionamento da Classe Investida em situação ordinária, em cenários extraordinários, na  eventualidade do valor das cotas subordinadas júnior ficar reduzido a zero ou a valor negativo, os  encargos da Classe Investida conforme previstos em seu regulamento, inclusive mas não se limitando  as remunerações dos prestadores de serviços essenciais, passarão a ser arcados pelas cotas  subordinadas mezanino (que são as Cotas da Classe Investida), impactando no valor do investimento  da Classe na Classe Investida, e consequentemente, o investimento dos Cotistas na Classe.</a:t>
            </a:r>
          </a:p>
          <a:p>
            <a:r>
              <a:t> (iv) Riscos referentes à carteira da Classe Investida. Na forma do Anexo Normativo II da Resolução  CVM 175, a Classe Investida investe, direta ou indiretamente, no mínimo, 67% (sessenta e sete por  cento) do seu patrimônio em direitos creditórios originados pela Mercado Pago. O investimento em tais  direitos creditórios está sujeito a fatores de risco específicos, conforme detalhados no regulamento da  Classe Investida, incluindo, mas não se limitando a:</a:t>
            </a:r>
          </a:p>
          <a:p>
            <a:r>
              <a:t> (a) Risco de liquidez dos direitos creditórios. O investimento da Classe Investida em direitos  creditórios apresenta peculiaridades em relação às aplicações usuais da maioria dos  fundos de investimento brasileiros, haja vista que não existe, no Brasil, mercado  secundário com liquidez para tais direitos creditórios. Caso a Classe Investida precise  vender os direitos creditórios adquiridos, poderá não haver mercado comprador para  tais créditos, bem como o preço de alienação de tais direitos creditórios poderá refletir  essa falta de liquidez, causando perda ao patrimônio da Classe Investida e,  consequentemente, à Classe.</a:t>
            </a:r>
          </a:p>
          <a:p>
            <a:r>
              <a:t>CNPJ 55563624000109 · Classes e séries de cotas · AGE · ID 1192603 · 2026-04-30 · versão 1 · p. 1 · 4.1 · https://fnet.bmfbovespa.com.br/fnet/publico/visualizarDocumento?id=1192603</a:t>
            </a:r>
          </a:p>
          <a:p>
            <a:r>
              <a:t>CNPJ 55563624000109 · Classes e séries de cotas · Excerto da fonte:</a:t>
            </a:r>
          </a:p>
          <a:p>
            <a:r>
              <a:t>4.1. Aprovar a alteração do Anexo I da Classe Única para a reorganização do passivo de sua subclasse  única em novas subclasses, quais sejam, subclasse A (“Subclasse A”), subclasse B (“Subclasse B”) e  subclasse C (“Subclasse C” e, quando em conjunto com a Subclasse A e a Subclasse B, as “Subclasses”),  considerando que serão mantidas as condições de investimento originalmente pactuadas com os cotistas,  como critérios de aplicação, resgate, amortização e política de investimento da Classe Única, diferindo-  se, exclusivamente, em relação ao prazo de duração cada Subclasse.</a:t>
            </a:r>
          </a:p>
          <a:p>
            <a:r>
              <a:t>CNPJ 55563624000109 · Classes e séries de cotas · Condição: Documentos atuais selecionados no inventário por categoria/escopo; a data documental isolada não comprova vigência jurídica.</a:t>
            </a:r>
          </a:p>
          <a:p>
            <a:r>
              <a:t>CNPJ 55563624000109 · Classes e séries de cotas · Versão e prevalência: Documentos atuais selecionados no inventário por categoria/escopo; a data documental isolada não comprova vigência jurídica.</a:t>
            </a:r>
          </a:p>
          <a:p>
            <a:r>
              <a:t>CNPJ 55563624000109 · Classes e séries de cotas · Resumo do histórico: {"count": 3, "dates": ["2025-01-31", "2026-01-31", "2026-04-30"], "document_count": 3, "sources": [{"document_id": "1192614", "title": "Regulamento", "reference_date": "2026-04-30", "version": "1", "page": "15", "url": "https://fnet.bmfbovespa.com.br/fnet/publico/visualizarDocumento?id=1192614", "sha256": "f56e63ace0acde41d2f47fb48f1ac7f3f7df5e2d32de092d7c5e075a52516632"}, {"document_id": "1178840", "title": "Demonstrações Financeiras", "reference_date": "2026-01-31", "version": "1", "page": 25, "url": "https://fnet.bmfbovespa.com.br/fnet/publico/visualizarDocumento?id=1178840", "sha256": "c458e98664c5c907ddb5a05a94b120bed4e05295b2bfc420f5ba69af0a229abe"}, {"document_id": "891861", "title": "Demonstrações Financeiras", "reference_date": "2025-01-31", "version": "1", "page": 26, "url": "https://fnet.bmfbovespa.com.br/fnet/publico/visualizarDocumento?id=891861", "sha256": "e9cb9e6ddbe505fe068cfcac33605165a98313489de0d3ce6d4d238263c3f3e7"}], "reference": {"path": "history/55563624000109.json", "criterion_id": "quota_classes", "total_count": 3, "preview_count": 3, "full_text_deferred": true, "sha256": "7835d573fb58a3c19adf5b8ecc2aee2bdbb9a88f7a0c0209b5f262b64c7522e3"}}</a:t>
            </a:r>
          </a:p>
          <a:p>
            <a:r>
              <a:t>CNPJ 62552447000120 · Classes e séries de cotas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Classes e séries de cotas · Resumo do histórico: {"count": 1, "dates": ["2025-09-03"], "document_count": 1, "sources": [{"document_id": "988020", "title": "Instrumento Particular de Emissão de Cotas", "reference_date": "2025-09-03", "version": "1", "page": "5", "url": "https://fnet.bmfbovespa.com.br/fnet/publico/visualizarDocumento?id=988020", "sha256": "8ecc8a771bb9713d64e5fc2052c489664cb0433801a9280db68e5187d35bf7a5"}], "reference": {"path": "history/62552447000120.json", "criterion_id": "quota_classes", "total_count": 1, "preview_count": 1, "full_text_deferred": true, "sha256": "d95db8c0613d67ee84118c734588665265ea6b02f86a0318d6a844cbe1d0f82f"}}</a:t>
            </a:r>
          </a:p>
          <a:p>
            <a:r>
              <a:t>CNPJ 63953620000165 · Classes e séries de cotas · AGE · ID 1313935 · 2026-08-31 · versão 1 · p. 1 · 4.1 · https://fnet.bmfbovespa.com.br/fnet/publico/visualizarDocumento?id=1313935</a:t>
            </a:r>
          </a:p>
          <a:p>
            <a:r>
              <a:t>CNPJ 63953620000165 · Classes e séries de cotas · Excerto da fonte:</a:t>
            </a:r>
          </a:p>
          <a:p>
            <a:r>
              <a:t>4.1. Aprovar a realização da incorporação das parcelas cindidas descritas no Anexo I à presente ata (“Parcelas  Cindidas”), com base no fechamento de 28 de agosto de 2026 (“Data Base”), condicionada à aprovação da cisão  da CLASSE ÚNICA DO MT CONSIGNADO PRIVADO I FUNDO DE INVESTIMENTO EM DIREITOS CREDITÓRIOS  RESPONSABILIDADE LIMITADA, inscrita no CNPJ sob o nº 60.010.416/0001-12 (“Classe Cindida”), com a  subsequente incorporação da respectiva Parcela Cindida, emitindo-se cotas seniores da Classe, a serem  atribuídas integralmente aos cotistas da Classe Cindida, no valor da respectiva Parcela Cindida, na Data-Base, de  acordo com o valor das cotas da Classe na mesma data. A partir da Data Base, todos os direitos e obrigações dos  ativos cindidos serão sucedidos à Classe;</a:t>
            </a:r>
          </a:p>
          <a:p>
            <a:r>
              <a:t>CNPJ 63953620000165 · Classes e séries de cotas · Condição: Documentos atuais selecionados no inventário por categoria/escopo; a data documental isolada não comprova vigência jurídica.</a:t>
            </a:r>
          </a:p>
          <a:p>
            <a:r>
              <a:t>CNPJ 63953620000165 · Classes e séries de cotas · Versão e prevalência: Documentos atuais selecionados no inventário por categoria/escopo; a data documental isolada não comprova vigência jurídica.</a:t>
            </a:r>
          </a:p>
          <a:p>
            <a:r>
              <a:t>CNPJ 63953620000165 · Classes e séries de cotas · Resumo do histórico: {"count": 11, "dates": ["2026-07-29", "2026-08-17", "2026-08-21"], "document_count": 3, "sources": [{"document_id": "1309436", "title": "AGE", "reference_date": "2026-08-21", "version": "1", "page": 1, "clause": "4.1", "url": "https://fnet.bmfbovespa.com.br/fnet/publico/visualizarDocumento?id=1309436", "sha256": "f679de1621039dce7c665e3a742f213fd4d5047e12b96163b31ea4ae86f56817"}, {"document_id": "1298232", "title": "AGE", "reference_date": "2026-08-17", "version": "1", "page": 1, "clause": "4.1", "url": "https://fnet.bmfbovespa.com.br/fnet/publico/visualizarDocumento?id=1298232", "sha256": "75322e306547f725e73a2c6687b598e14d628caa84bd46a23508337a606866f6"}, {"document_id": "1277543", "title": "AGE", "reference_date": "2026-07-29", "version": "1", "page": 1, "url": "https://fnet.bmfbovespa.com.br/fnet/publico/visualizarDocumento?id=1277543", "sha256": "c2fb499fd6e25251a221d4e9dbb5d1378fb5efde5a58eee091868faf52d326c0"}], "reference": {"path": "history/63953620000165.json", "criterion_id": "quota_classes", "total_count": 11, "preview_count": 3, "full_text_deferred": true, "sha256": "a7b89077f5e21098c2d601c303faabc3ff6b9729f89d8afecdc60fe1404720c1"}}</a:t>
            </a:r>
          </a:p>
          <a:p>
            <a:r>
              <a:t>CNPJ 54871427000194 · Ofertas e colocação · AGE · ID 1055482 · 2025-12-02 · versão 1 · p. 1 · 4.1 · https://fnet.bmfbovespa.com.br/fnet/publico/visualizarDocumento?id=1055482</a:t>
            </a:r>
          </a:p>
          <a:p>
            <a:r>
              <a:t>CNPJ 54871427000194 · Ofertas e colocação · Excerto da fonte:</a:t>
            </a:r>
          </a:p>
          <a:p>
            <a:r>
              <a:t>4.1. Aprovar a nova emissão de Cotas pela Classe, todas nominativas e escriturais, com preço unitário de emissão  correspondente ao valor das Cotas da Classe em circulação quando na data de aprovação da Nova Emissão,  perfazendo o montante total de emissão de até R$ 650.000.000 (seiscentos e cinquenta milhões de reais), conforme  as características constantes do Regulamento e do Anexo da Classe (“Novas Cotas” e “Nova Emissão”,  respectivamente), e descritas abaixo:</a:t>
            </a:r>
          </a:p>
          <a:p>
            <a:r>
              <a:t>(i) Rito: as Novas Cotas não serão objeto de oferta pública, conforme facultado pelo artigo 8º, inciso IV, da  Resolução CVM nº 160, uma vez que a Classe se enquadra nos requisitos do referido dispositivo;</a:t>
            </a:r>
          </a:p>
          <a:p>
            <a:r>
              <a:t>(ii) Preço de Emissão: o preço unitário de emissão corresponderá ao valor das Cotas da Classe em circulação  quando na data de aprovação da Nova Emissão (“Preço de Emissão”);</a:t>
            </a:r>
          </a:p>
          <a:p>
            <a:r>
              <a:t>(iii) Preço de Integralização: o Preço de Integralização corresponderá ao valor das Cotas da Classe em  circulação quando da transferência dos valores para liquidação financeira (“Preço de Integralização”);</a:t>
            </a:r>
          </a:p>
          <a:p>
            <a:r>
              <a:t>(iv) Forma de Integralização: as Cotas serão integralizadas à vista, em moeda corrente nacional, pelo Preço  de Integralização, junto ao seu respectivo agente de custódia e/ou da Administradora na qualidade de  escriturador das cotas; e</a:t>
            </a:r>
          </a:p>
          <a:p>
            <a:r>
              <a:t>(v) Período de colocação: a subscrição das Cotas, objeto da Nova Emissão, deverão ser realizadas no prazo  máximo de 180 (cento e oitenta) dias, contados da data de efeitos do presente instrumento.</a:t>
            </a:r>
          </a:p>
          <a:p>
            <a:r>
              <a:t>CNPJ 54871427000194 · Ofertas e colocação · Condição: Trechos do documento específico identificado com data mais recente; vigência jurídica não inferida.</a:t>
            </a:r>
          </a:p>
          <a:p>
            <a:r>
              <a:t>CNPJ 54871427000194 · Ofertas e colocação · Versão e prevalência: Trechos do documento específico identificado com data mais recente; vigência jurídica não inferida.</a:t>
            </a:r>
          </a:p>
          <a:p>
            <a:r>
              <a:t>CNPJ 54871427000194 · Ofertas e colocação · Resumo do histórico: {"count": 7, "dates": ["2024-06-13", "2024-12-10"], "document_count": 3, "sources": [{"document_id": "798101", "title": "Anúncio de Encerramento", "reference_date": "2024-12-10", "version": "1", "page": "1-2", "url": "https://fnet.bmfbovespa.com.br/fnet/publico/visualizarDocumento?id=798101", "sha256": "71618c432ad86002484571d66922b873e4fa91ed3543a109134ddee0bd872f20"}, {"document_id": "679614", "title": "Anúncio de Início", "reference_date": "2024-06-13", "version": "1", "page": 1, "url": "https://fnet.bmfbovespa.com.br/fnet/publico/visualizarDocumento?id=679614", "sha256": "aad43ed14bfa0576144a306c466aea031fce0d01d3cb3de6aebd120f11164bfa"}, {"document_id": "683482", "title": "AGE", "reference_date": "2024-06-13", "version": "1", "page": 2, "url": "https://fnet.bmfbovespa.com.br/fnet/publico/visualizarDocumento?id=683482", "sha256": "3afbe254027691929935eaf19ebbb8634fb2ccd8e2fbea2cb2d81a7818f8d648"}], "reference": {"path": "history/54871427000194.json", "criterion_id": "offers", "total_count": 7, "preview_count": 3, "full_text_deferred": true, "sha256": "35d7cd99be50c7287c9fb675cf4f2e736002315295a225a9efa79c8d9186d874"}}</a:t>
            </a:r>
          </a:p>
          <a:p>
            <a:r>
              <a:t>CNPJ 60010416000112 · Ofertas e colocação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Ofertas e colocação · Resumo do histórico: {"count": 1, "dates": ["2025-03-20"], "document_count": 1, "sources": [{"document_id": "993785", "title": "Instrumento Particular de Constituição/Encerramento do Fundo", "reference_date": "2025-03-20", "version": "1", "page": "1-2", "url": "https://fnet.bmfbovespa.com.br/fnet/publico/visualizarDocumento?id=993785", "sha256": "0826e0eae2c51afabf59bbc49fc7647598d03da5ca6de0f9725850a8bd6af457"}], "reference": {"path": "history/60010416000112.json", "criterion_id": "offers", "total_count": 1, "preview_count": 1, "full_text_deferred": true, "sha256": "8e2bd813f4c51cf01f6bfaad164bafe69d2bbb192f753eac92da3a01c2e63046"}}</a:t>
            </a:r>
          </a:p>
          <a:p>
            <a:r>
              <a:t>CNPJ 62696791000193 · Ofertas e colocação · Regulamento · ID 1143317 · 2026-03-20 · versão 1 · p. 39 · 2.6 · https://fnet.bmfbovespa.com.br/fnet/publico/visualizarDocumento?id=1143317</a:t>
            </a:r>
          </a:p>
          <a:p>
            <a:r>
              <a:t>CNPJ 62696791000193 · Ofertas e colocação · Excerto da fonte:</a:t>
            </a:r>
          </a:p>
          <a:p>
            <a:r>
              <a:t>2.6. O valor de mercado das Cotas de emissão da Classe poderá sofrer oscilações frequentes e  significativas, inclusive ao longo do dia. Como consequência, o valor de mercado das cotas de  emissão da Classe poderá não ref letir necessariamente seu valor patrimonial. Não será devida  pela Classe ou por qualquer pessoa, incluindo as instituições responsáveis pela distribuição  das cotas, os demais Cotistas da Classe, o Administrador e as instituições participantes da  of erta, qualquer multa ou penalidade de qualquer natureza, caso ocorra, por qualquer razão,</a:t>
            </a:r>
          </a:p>
          <a:p>
            <a:r>
              <a:t> (i) o alongamento do período de amortização das Cotas; (ii) a liquidação da Classe; ou, ainda,</a:t>
            </a:r>
          </a:p>
          <a:p>
            <a:r>
              <a:t> (iii) caso os Cotistas sof ram qualquer dano ou prejuízo resultante de tais eventos.</a:t>
            </a:r>
          </a:p>
          <a:p>
            <a:r>
              <a:t>3. Risco TributárioOs rendimentos e ganhos líquidos auf eridos pela Classe em aplicações f inanceiras de  renda f ixa ou de renda variável sujeitam-se à incidência do imposto de renda na f onte, observadas as  mesmas normas aplicáveis às pessoas jurídicas, podendo esse imposto ser compensado com o retido na  f onte pela Classe quando da distribuição de rendimentos e ganhos de capital aos Cotistas. Os rendimentos  auf eridos pela Classe, quando distribuídos aos Cotistas sujeitam-se à incidência do Imposto de Renda na  f onte à alíquota de 20% (vinte por cento). Os rendimentos e ganhos de capital auferidos pelos Cotistas na</a:t>
            </a:r>
          </a:p>
          <a:p>
            <a:r>
              <a:t>CNPJ 62696791000193 · Ofertas e colocação · Regulamento · ID 1143317 · 2026-03-20 · versão 1 · p. 28 · https://fnet.bmfbovespa.com.br/fnet/publico/visualizarDocumento?id=1143317</a:t>
            </a:r>
          </a:p>
          <a:p>
            <a:r>
              <a:t>CNPJ 62696791000193 · Ofertas e colocação · Excerto da fonte:</a:t>
            </a:r>
          </a:p>
          <a:p>
            <a:r>
              <a:t>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equivalente a 0,9% (nove décimos  por cento) ao ano aplicado sobre o Patrimônio Anexo I ao  Regulamento Líquido, observado o limite máximo de 4,5% (quatro  inteiros e cinquenta centésimos por cento) do volume captado na  respectiva oferta (“Taxa Máxima de Distribuição”).A Taxa Máxima de</a:t>
            </a:r>
          </a:p>
          <a:p>
            <a:r>
              <a:t>CNPJ 62696791000193 · Ofertas e colocação · Condição: Documentos atuais selecionados no inventário por categoria/escopo; a data documental isolada não comprova vigência jurídica.</a:t>
            </a:r>
          </a:p>
          <a:p>
            <a:r>
              <a:t>CNPJ 62696791000193 · Ofertas e colocação · Versão e prevalência: Documentos atuais selecionados no inventário por categoria/escopo; a data documental isolada não comprova vigência jurídica.</a:t>
            </a:r>
          </a:p>
          <a:p>
            <a:r>
              <a:t>CNPJ 62696791000193 · Ofertas e colocação · Resumo do histórico: {"count": 1, "dates": ["2026-03-27"], "document_count": 1, "sources": [{"document_id": "1148821", "title": "Instrumento Particular de Emissão de Cotas", "reference_date": "2026-03-27", "version": "1", "page": "1-3", "url": "https://fnet.bmfbovespa.com.br/fnet/publico/visualizarDocumento?id=1148821", "sha256": "86900e9dd498403696bfffbd4196443c83ec4d51ff21135e073c1966e1adf4c0"}], "reference": {"path": "history/62696791000193.json", "criterion_id": "offers", "total_count": 1, "preview_count": 1, "full_text_deferred": true, "sha256": "0e9ec199848320ec945708123ae0cb6075d76c05d94beed814d582031d353926"}}</a:t>
            </a:r>
          </a:p>
          <a:p>
            <a:r>
              <a:t>CNPJ 55563624000109 · Ofertas e colocação · Regulamento · ID 1192614 · 2026-04-30 · versão 1 · p. 25 · 12.9 · https://fnet.bmfbovespa.com.br/fnet/publico/visualizarDocumento?id=1192614</a:t>
            </a:r>
          </a:p>
          <a:p>
            <a:r>
              <a:t>CNPJ 55563624000109 · Ofertas e colocação · Excerto da fonte:</a:t>
            </a:r>
          </a:p>
          <a:p>
            <a:r>
              <a:t>12.9 Inclui-se entre as obrigações do GESTOR, contratar, em nome da Classe, se necessário, com terceiros  devidamente habilitados e autorizados, os serviços de distribuição das Cotas. A distribuição pública das Cotas  deverá ser realizada por distribuidores devidamente autorizados pela CVM, nos termos da regulamentação  aplicável.</a:t>
            </a:r>
          </a:p>
          <a:p>
            <a:r>
              <a:t>CNPJ 55563624000109 · Ofertas e colocação · Condição: Documentos atuais selecionados no inventário por categoria/escopo; a data documental isolada não comprova vigência jurídica.</a:t>
            </a:r>
          </a:p>
          <a:p>
            <a:r>
              <a:t>CNPJ 55563624000109 · Ofertas e colocação · Versão e prevalência: Documentos atuais selecionados no inventário por categoria/escopo; a data documental isolada não comprova vigência jurídica.</a:t>
            </a:r>
          </a:p>
          <a:p>
            <a:r>
              <a:t>CNPJ 55563624000109 · Ofertas e colocação · Resumo do histórico: {"count": 3, "dates": ["2024-07-03"], "document_count": 3, "sources": [{"document_id": "703295", "title": "Anúncio de Início", "reference_date": "2024-07-03", "version": "2", "page": 1, "url": "https://fnet.bmfbovespa.com.br/fnet/publico/visualizarDocumento?id=703295", "sha256": "12322b6dbf75e673723bd60910373db249451b72666792e18e0c7b6128f4608a"}, {"document_id": "702585", "title": "Anúncio de Início", "reference_date": "2024-07-03", "version": "1", "page": 1, "url": "https://fnet.bmfbovespa.com.br/fnet/publico/visualizarDocumento?id=702585", "sha256": "6708609ac7f0611118fb23ffd6d2cd6c7fd33275130407918ea42831baa712cd"}, {"document_id": "691674", "title": "Instrumento Particular de Emissão de Cotas", "reference_date": "2024-07-03", "version": "1", "page": 3, "url": "https://fnet.bmfbovespa.com.br/fnet/publico/visualizarDocumento?id=691674", "sha256": "78bf7b350f1785beae5f43bd209b5ed19e863cb9a2cff01542aac11dd63ca554"}], "reference": {"path": "history/55563624000109.json", "criterion_id": "offers", "total_count": 3, "preview_count": 3, "full_text_deferred": true, "sha256": "7835d573fb58a3c19adf5b8ecc2aee2bdbb9a88f7a0c0209b5f262b64c7522e3"}}</a:t>
            </a:r>
          </a:p>
          <a:p>
            <a:r>
              <a:t>CNPJ 62552447000120 · Ofertas e colocação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Ofertas e colocação · Resumo do histórico: {"count": 1, "dates": ["2025-09-03"], "document_count": 1, "sources": [{"document_id": "988020", "title": "Instrumento Particular de Emissão de Cotas", "reference_date": "2025-09-03", "version": "1", "page": "5-6", "url": "https://fnet.bmfbovespa.com.br/fnet/publico/visualizarDocumento?id=988020", "sha256": "8ecc8a771bb9713d64e5fc2052c489664cb0433801a9280db68e5187d35bf7a5"}], "reference": {"path": "history/62552447000120.json", "criterion_id": "offers", "total_count": 1, "preview_count": 1, "full_text_deferred": true, "sha256": "d95db8c0613d67ee84118c734588665265ea6b02f86a0318d6a844cbe1d0f82f"}}</a:t>
            </a:r>
          </a:p>
          <a:p>
            <a:r>
              <a:t>CNPJ 63953620000165 · Ofertas e colocação · Anexo ao Regulamento · ID 1222863 · 2026-06-02 · versão 1 · p. 10 · 6.9 · https://fnet.bmfbovespa.com.br/fnet/publico/visualizarDocumento?id=1222863</a:t>
            </a:r>
          </a:p>
          <a:p>
            <a:r>
              <a:t>CNPJ 63953620000165 · Ofertas e colocação · Excerto da fonte:</a:t>
            </a:r>
          </a:p>
          <a:p>
            <a:r>
              <a:t>6.9 As Cotas poderão ser objeto de oferta pública a ser realizada nos termos da Resolução CVM 160 (“Oferta”) e/ou  poderão ser colocadas de forma privada (“Colocação Privada”), bem como segundo outros ritos que venham a  ser previstos pela regulamentação. As Cotas deverão ser emitidas e subscritas dentro do prazo e nos termos e  condições da legislação aplicável, do presente Anexo e dos respectivos Boletins de Subscrição e/ou  Compromissos de Investimento.</a:t>
            </a:r>
          </a:p>
          <a:p>
            <a:r>
              <a:t>CNPJ 63953620000165 · Ofertas e colocação · Condição: Documentos atuais selecionados no inventário por categoria/escopo; a data documental isolada não comprova vigência jurídica.</a:t>
            </a:r>
          </a:p>
          <a:p>
            <a:r>
              <a:t>CNPJ 63953620000165 · Ofertas e colocação · Versão e prevalência: Documentos atuais selecionados no inventário por categoria/escopo; a data documental isolada não comprova vigência jurídica.</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Emissões e custos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Remuneração por subclasse e série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Remuneração por subclasse e série · Resumo do histórico: {"count": 1, "dates": ["2024-04-28"], "document_count": 1, "sources": [{"document_id": "670691", "title": "Regulamento", "reference_date": "2024-04-28", "version": "1", "page": "14", "url": "https://fnet.bmfbovespa.com.br/fnet/publico/visualizarDocumento?id=670691", "sha256": "bf16dd7f1a62d5cdbf2e2d54fef81783783f7310fbc99c3a8f00459bdf9d037b"}], "reference": {"path": "history/54871427000194.json", "criterion_id": "remuneration", "total_count": 1, "preview_count": 1, "full_text_deferred": true, "sha256": "35d7cd99be50c7287c9fb675cf4f2e736002315295a225a9efa79c8d9186d874"}}</a:t>
            </a:r>
          </a:p>
          <a:p>
            <a:r>
              <a:t>CNPJ 60010416000112 · Remuneração por subclasse e série · Instrumento Particular de Constituição/Encerramento do Fundo · ID 993785 · 20/03/2025 · versão 1ªemissão20/03/2025 · p. 5 · Suplemento1ªsênior BenchmarkSênior · https://fnet.bmfbovespa.com.br/fnet/publico/visualizarDocumento?id=993785</a:t>
            </a:r>
          </a:p>
          <a:p>
            <a:r>
              <a:t>CNPJ 60010416000112 · Remuneração por subclasse e série · Excerto da fonte:</a:t>
            </a:r>
          </a:p>
          <a:p>
            <a:r>
              <a:t>4,80% (quatro inteiros e oitenta centésimos por cento)calculado por Dia Útil à base de 1/252 (um inteiro e duzentos e cinquenta e dois avos); e (ii) “Benchmark Sênior Adicional”: o parâmetro adicional de rentabilidade a ser buscado pela Classe para remunerar as Cotas Seniores, correspondente 15,00% (quinze por cento) do excesso de spread das Cotas Subordinadas com cap de remuneração total das Cotas Seniores pela variação do CDI acrescido de 6,00% (seis por cento</a:t>
            </a:r>
          </a:p>
          <a:p>
            <a:r>
              <a:t>CNPJ 60010416000112 · Remuneração por subclasse e série · Condição: Termo específico da primeira emissão de 20/03/2025, distinto de taxa deperformance e do suplemento modelo com campos não preenchidos do regulamento.</a:t>
            </a:r>
          </a:p>
          <a:p>
            <a:r>
              <a:t>CNPJ 60010416000112 · Remuneração por subclasse e série · Versão e prevalência: Leitura específica das cláusulas indicadas; condições e conflitos preservados. Seleção documental atual não comprova vigência jurídica por data isolada.</a:t>
            </a:r>
          </a:p>
          <a:p>
            <a:r>
              <a:t>CNPJ 60010416000112 · Remuneração por subclasse e série · Resumo do histórico: {"count": 3, "dates": ["2025-03-20", "2025-05-12"], "document_count": 2, "sources": [{"document_id": "1004656", "title": "AGE", "reference_date": "2025-05-12", "version": "1", "page": 5, "url": "https://fnet.bmfbovespa.com.br/fnet/publico/visualizarDocumento?id=1004656", "sha256": "f6c9c009f6170e2b29f074b98522accec73f0c40efbf11f9ec2c8d3f1402616b"}, {"document_id": "993785", "title": "Instrumento Particular de Constituição/Encerramento do Fundo", "reference_date": "2025-03-20", "version": "1", "page": "4-5", "url": "https://fnet.bmfbovespa.com.br/fnet/publico/visualizarDocumento?id=993785", "sha256": "0826e0eae2c51afabf59bbc49fc7647598d03da5ca6de0f9725850a8bd6af457"}, {"document_id": "993785", "title": "Instrumento Particular de Constituição/Encerramento do Fundo", "reference_date": "2025-03-20", "version": "1", "page": 5, "url": "https://fnet.bmfbovespa.com.br/fnet/publico/visualizarDocumento?id=993785", "sha256": "0826e0eae2c51afabf59bbc49fc7647598d03da5ca6de0f9725850a8bd6af457"}], "reference": {"path": "history/60010416000112.json", "criterion_id": "remuneration", "total_count": 3, "preview_count": 3, "full_text_deferred": true, "sha256": "8e2bd813f4c51cf01f6bfaad164bafe69d2bbb192f753eac92da3a01c2e63046"}}</a:t>
            </a:r>
          </a:p>
          <a:p>
            <a:r>
              <a:t>CNPJ 62696791000193 · Remuneração por subclasse e série · Regulamento · ID 1143317 · 20/03/2026 · versão Regulamento — referência 20/03/2026 · p. 33 · Apêndice Sênior, 1.2 e 1.4 · https://fnet.bmfbovespa.com.br/fnet/publico/visualizarDocumento?id=1143317</a:t>
            </a:r>
          </a:p>
          <a:p>
            <a:r>
              <a:t>CNPJ 62696791000193 · Remuneração por subclasse e série · Excerto da fonte:</a:t>
            </a:r>
          </a:p>
          <a:p>
            <a:r>
              <a:t>1.2. As Cotas Seniores poderão ser divididas em séries com valores e prazos diferenciados para amortização, resgate e remuneração, sendo que cada série terá as mesmas características e conf erirá a seus titulares iguais direitos e obrigações nos termos deste Reg ulamento e do Apêndice ref erente a cada emissão/série de Cotas Seniores. 1.2. Benchmark. A Classe buscará atingir, para as Cotas Seniores, o “Benchmark”, correspondente à 100% (cem por cento) da variação positiva do CDI acrescida de 4,5% (quatro inteiros e cinco décimos por cento) ao ano. 1.3. O Benchmark não representa e nem devem ser considerados uma promessa, garantia ou sugestão de rentabilidade aos Cotistas Seniores, por parte da Classe, do Administrador, do Gestor e/ou do Cedente. 1.4. Independentemente do valor do Patrimônio Líquido da Classe, os Cotistas detentores de Cotas Seniores não f arão jus a uma rentabilidade superior ao Benchmark, o qual representará o limite máximo de remuneração possível para as Cotas Seniores. 2. Emissão, Subscrição e Integralização das Cotas 2.1. A Classe poderá emitir múltiplas Séries de Cotas Seniores, ficando ressalvado, no entanto, que cada nova Série de Cotas Seniores a ser emitida pela Classe</a:t>
            </a:r>
          </a:p>
          <a:p>
            <a:r>
              <a:t>CNPJ 62696791000193 · Remuneração por subclasse e série · Regulamento · ID 1143317 · 20/03/2026 · versão Regulamento — referência 20/03/2026 · p. 34 · Apêndice Sênior, 6.2 · https://fnet.bmfbovespa.com.br/fnet/publico/visualizarDocumento?id=1143317</a:t>
            </a:r>
          </a:p>
          <a:p>
            <a:r>
              <a:t>CNPJ 62696791000193 · Remuneração por subclasse e série · Excerto da fonte:</a:t>
            </a:r>
          </a:p>
          <a:p>
            <a:r>
              <a:t>6.2. Em complemento às Amortizações Programadas de Cotas Seniores, os Cotistas Seniores f arão jus, sempre que o Patrimônio Líquido da Classe assim permita e desde que o Valor Unitário das Cotas Seniores esteja superior ao valor de integralização das Cotas Seniores em circulação, a 50% (cinquenta por cento) de qualquer valor que exceder a Amortização das Cotas Subordinadas, conforme prevista no Apêndice da Subclasse Subordinada, a ser paga na Data de Amortização Programada de Cotas Seniores (“Amortização Extraordinária de Cotas Seniores”). 6.3. Os pagamentos das parcelas de Amortização e/ou de resgate das Cotas Seniores serão ef etuados, em moeda corrente nacional, pelo Valor Unitário das Cotas Seniores no dia do pagamento, calculado na forma descrita neste Apêndice e no Anexo I, por meio de depósito em conta de titularidade dos Cotistas titulares BTG Pactual 2 SAC: 0800 772 28 27 - Ouvidoria: 0800 722 00 48 - btgpactual.com</a:t>
            </a:r>
          </a:p>
          <a:p>
            <a:r>
              <a:t>CNPJ 62696791000193 · Remuneração por subclasse e série · Regulamento · ID 1143317 · 20/03/2026 · versão Regulamento — referência 20/03/2026 · p. 37 · Apêndice Júnior, 4.1–4.2 · https://fnet.bmfbovespa.com.br/fnet/publico/visualizarDocumento?id=1143317</a:t>
            </a:r>
          </a:p>
          <a:p>
            <a:r>
              <a:t>CNPJ 62696791000193 · Remuneração por subclasse e série · Excerto da fonte:</a:t>
            </a:r>
          </a:p>
          <a:p>
            <a:r>
              <a:t>4.1. Caso o Patrimônio Líquido da Classe assim permita, as Cotas Subordinadas f arão jus à amortização semestral, no último Dia Útil dos meses de janeiro e julho de cada ano, de valor equivalente ao excedente do valor de integralização das Cotas Subordinadas em circulação, limitado ao percentual de 100% (cem por cento) da variação positiva do CDI acrescida de 4,50% (quatro inteiros e cinco décimos por cento) ao ano, considerando, para tanto a razão entre (i) o valor de integralização das Cotas Subordinadas Júnior em circulação e (ii) o valor de cada uma das Cotas Subordinadas, a ser paga na Data de Amortização Programada de Cotas Seniores (“Amortização das Cotas Subordinadas”). 4.2. Em complemento às Amortizações das Cotas Subordinadas, os Cotistas Subordinados farão jus, sempre que o Patrimônio Líquido da Classe assim permita e desde que o Valor Unitário das Cotas Subordinadas esteja superior ao valor de integralização das Cotas Subordinadas em circulação, a 50% (cinquenta por cento) de qualquer valor que exceder a Amortização das Cotas Subordinadas, a ser paga na Data de Amortização Programada de Cotas Seniores (“Amortização Extraordinária de Cotas Seniores”). 5. Excesso de Subordinação 5.1. Verif icado excesso de subordinação,</a:t>
            </a:r>
          </a:p>
          <a:p>
            <a:r>
              <a:t>CNPJ 62696791000193 · Remuneração por subclasse e série · Condição: Benchmark é regra de atribuição, condicionado ao PL/resultados, sem garantia de rentabilidade. A subclasse mezanino é autorizada, mas não há apêndice mezanino no PDF consolidado obtido.</a:t>
            </a:r>
          </a:p>
          <a:p>
            <a:r>
              <a:t>CNPJ 62696791000193 · Remuneração por subclasse e série · Versão e prevalência: Leitura específica das cláusulas indicadas; condições e conflitos preservados. Seleção documental atual não comprova vigência jurídica por data isolada.</a:t>
            </a:r>
          </a:p>
          <a:p>
            <a:r>
              <a:t>CNPJ 62696791000193 · Remuneração por subclasse e série · Resumo do histórico: {"count": 1, "dates": ["2026-03-27"], "document_count": 1, "sources": [{"document_id": "1148821", "title": "Instrumento Particular de Emissão de Cotas", "reference_date": "2026-03-27", "version": "1", "page": "1-2", "url": "https://fnet.bmfbovespa.com.br/fnet/publico/visualizarDocumento?id=1148821", "sha256": "86900e9dd498403696bfffbd4196443c83ec4d51ff21135e073c1966e1adf4c0"}], "reference": {"path": "history/62696791000193.json", "criterion_id": "remuneration", "total_count": 1, "preview_count": 1, "full_text_deferred": true, "sha256": "0e9ec199848320ec945708123ae0cb6075d76c05d94beed814d582031d353926"}}</a:t>
            </a:r>
          </a:p>
          <a:p>
            <a:r>
              <a:t>CNPJ 55563624000109 · Remuneração por subclasse e série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Remuneração por subclasse e série · Resumo do histórico: {"count": 1, "dates": ["2026-04-30"], "document_count": 1, "sources": [{"document_id": "1192614", "title": "Regulamento", "reference_date": "2026-04-30", "version": "1", "page": "16-17", "url": "https://fnet.bmfbovespa.com.br/fnet/publico/visualizarDocumento?id=1192614", "sha256": "f56e63ace0acde41d2f47fb48f1ac7f3f7df5e2d32de092d7c5e075a52516632"}], "reference": {"path": "history/55563624000109.json", "criterion_id": "remuneration", "total_count": 1, "preview_count": 1, "full_text_deferred": true, "sha256": "7835d573fb58a3c19adf5b8ecc2aee2bdbb9a88f7a0c0209b5f262b64c7522e3"}}</a:t>
            </a:r>
          </a:p>
          <a:p>
            <a:r>
              <a:t>CNPJ 62552447000120 · Remuneração por subclasse e série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Remuneração por subclasse e série · Resumo do histórico: {"count": 1, "dates": ["2025-09-03"], "document_count": 1, "sources": [{"document_id": "988020", "title": "Instrumento Particular de Emissão de Cotas", "reference_date": "2025-09-03", "version": "1", "page": "5-6", "url": "https://fnet.bmfbovespa.com.br/fnet/publico/visualizarDocumento?id=988020", "sha256": "8ecc8a771bb9713d64e5fc2052c489664cb0433801a9280db68e5187d35bf7a5"}], "reference": {"path": "history/62552447000120.json", "criterion_id": "remuneration", "total_count": 1, "preview_count": 1, "full_text_deferred": true, "sha256": "d95db8c0613d67ee84118c734588665265ea6b02f86a0318d6a844cbe1d0f82f"}}</a:t>
            </a:r>
          </a:p>
          <a:p>
            <a:r>
              <a:t>CNPJ 63953620000165 · Remuneração por subclasse e série · Anexo ao Regulamento · ID 1222863 · 2026-06-02 · versão 1 · p. 22 · 1.2 · https://fnet.bmfbovespa.com.br/fnet/publico/visualizarDocumento?id=1222863</a:t>
            </a:r>
          </a:p>
          <a:p>
            <a:r>
              <a:t>CNPJ 63953620000165 · Remuneração por subclasse e série · Excerto da fonte:</a:t>
            </a:r>
          </a:p>
          <a:p>
            <a:r>
              <a:t>1.2. Benchmark Sênior. A Classe buscará atingir, para as Cotas Seniores, o Benchmark Sênior, qual seja, (a) para a parcela  do Patrimônio Líquido alocado em Direitos Creditórios Consignado Privado e/ou Ativos de Liquidez MT, a variação  positiva do CDI acrescida de 1,50% (um inteiro e cinco décimos por cento) ao ano, (b) para a parcela do Patrimônio  Líquido alocado em Ativos de Liquidez e/ou Direitos Creditórios TVM, a variação positiva do CDI.</a:t>
            </a:r>
          </a:p>
          <a:p>
            <a:r>
              <a:t>CNPJ 63953620000165 · Remuneração por subclasse e série · Anexo ao Regulamento · ID 1222863 · 2026-06-02 · versão 1 · p. 22 · 1.5 · https://fnet.bmfbovespa.com.br/fnet/publico/visualizarDocumento?id=1222863</a:t>
            </a:r>
          </a:p>
          <a:p>
            <a:r>
              <a:t>CNPJ 63953620000165 · Remuneração por subclasse e série · Excerto da fonte:</a:t>
            </a:r>
          </a:p>
          <a:p>
            <a:r>
              <a:t>1.5. Rentabilidade Adicional Sênior. Adicionalmente ao Benchmark Sênior, as Cotas Seniores efetivamente integralizadas  farão jus a uma rentabilidade adicional equivalente a 0,38% (trinta e oito centésimos por cento) incidente sobre o  montante financeiro integralizado pelo respectivo Cotista das Cotas Seniores (“Rentabilidade Adicional Sênior”), a  ser paga a cada Cotista Sênior, em uma única parcela, em até 40 (quarenta) dias corridos após a integralização das  respectivas Cotas Seniores, sendo automaticamente ajustada em caso de alteração da alíquota ou da forma de  incidência do IOF, e deixando de ser devida na hipótese de sua extinção.</a:t>
            </a:r>
          </a:p>
          <a:p>
            <a:r>
              <a:t> 2. Emissão, Subscrição e Integralização das Cotas</a:t>
            </a:r>
          </a:p>
          <a:p>
            <a:r>
              <a:t>CNPJ 63953620000165 · Remuneração por subclasse e série · Condição: Documentos atuais selecionados no inventário por categoria/escopo; a data documental isolada não comprova vigência jurídica.</a:t>
            </a:r>
          </a:p>
          <a:p>
            <a:r>
              <a:t>CNPJ 63953620000165 · Remuneração por subclasse e série · Versão e prevalência: Documentos atuais selecionados no inventário por categoria/escopo; a data documental isolada não comprova vigência jurídica.</a:t>
            </a:r>
          </a:p>
          <a:p>
            <a:r>
              <a:t>CNPJ 54871427000194 · Volume, VNU e emissão · Anúncio de Encerramento · ID 798101 · 2024-12-10 · versão 1 · p. 1 · https://fnet.bmfbovespa.com.br/fnet/publico/visualizarDocumento?id=798101</a:t>
            </a:r>
          </a:p>
          <a:p>
            <a:r>
              <a:t>CNPJ 54871427000194 · Volume, VNU e emissão · Excerto da fonte:</a:t>
            </a:r>
          </a:p>
          <a:p>
            <a:r>
              <a:t>Informações da Oferta  Valor Bruto da 2ª Quantidade de Cotas  Preço de Emissão da Cota  Emissão emitidas  R$ 55.000.000,00 55.000 R$ 1.000,00</a:t>
            </a:r>
          </a:p>
          <a:p>
            <a:r>
              <a:t>CNPJ 54871427000194 · Volume, VNU e emissão · Condição: Trechos do documento específico identificado com data mais recente; vigência jurídica não inferida.</a:t>
            </a:r>
          </a:p>
          <a:p>
            <a:r>
              <a:t>CNPJ 54871427000194 · Volume, VNU e emissão · Versão e prevalência: Trechos do documento específico identificado com data mais recente; vigência jurídica não inferida.</a:t>
            </a:r>
          </a:p>
          <a:p>
            <a:r>
              <a:t>CNPJ 54871427000194 · Volume, VNU e emissão · Resumo do histórico: {"count": 5, "dates": ["2024-06-11", "2024-06-13", "2024-12-10"], "document_count": 3, "sources": [{"document_id": "798101", "title": "Anúncio de Encerramento", "reference_date": "2024-12-10", "version": "1", "page": "1-2", "url": "https://fnet.bmfbovespa.com.br/fnet/publico/visualizarDocumento?id=798101", "sha256": "71618c432ad86002484571d66922b873e4fa91ed3543a109134ddee0bd872f20"}, {"document_id": "683482", "title": "AGE", "reference_date": "2024-06-13", "version": "1", "page": 1, "clause": "4.1", "url": "https://fnet.bmfbovespa.com.br/fnet/publico/visualizarDocumento?id=683482", "sha256": "3afbe254027691929935eaf19ebbb8634fb2ccd8e2fbea2cb2d81a7818f8d648"}, {"document_id": "677544", "title": "Anúncio de Encerramento", "reference_date": "2024-06-11", "version": "1", "page": 1, "url": "https://fnet.bmfbovespa.com.br/fnet/publico/visualizarDocumento?id=677544", "sha256": "5735adc30829e0e91623167d4fd602de01adb236e3d3e758bddb0a375c7067b1"}], "reference": {"path": "history/54871427000194.json", "criterion_id": "issue_volume", "total_count": 5, "preview_count": 3, "full_text_deferred": true, "sha256": "35d7cd99be50c7287c9fb675cf4f2e736002315295a225a9efa79c8d9186d874"}}</a:t>
            </a:r>
          </a:p>
          <a:p>
            <a:r>
              <a:t>CNPJ 60010416000112 · Volume, VNU e emissão · AGE · ID 1049114 · 2025-11-26 · versão 1 · p. 2 · https://fnet.bmfbovespa.com.br/fnet/publico/visualizarDocumento?id=1049114</a:t>
            </a:r>
          </a:p>
          <a:p>
            <a:r>
              <a:t>CNPJ 60010416000112 · Volume, VNU e emissão · Excerto da fonte:</a:t>
            </a:r>
          </a:p>
          <a:p>
            <a:r>
              <a:t>Este instrumento constitui o suplemento nº 3 (“Suplemento”) referente à 1ª emissão de cotas da Série B  da Subclasse Sênior da CLASSE ÚNICA DO MT CONSIGNADO PRIVADO I FUNDO DE  INVESTIMENTO EM DIREITOS CREDITÓRIOS RESPONSABILIDADE LIMITADA (“Classe” e  “FUNDO”, respectivamente), administrado pela BTG Pactual Serviços Financeiros S.A. Distribuidora  de Títulos e Valores Mobiliários, instituição com sede no Município do Rio de Janeiro, Estado do Rio de  Janeiro, na Praia de Botafogo, nº 501, 5º andar – parte, inscrita no CNPJ sob o nº 59.281.253/0001-23,  autorizada a funcionar pelo Banco Central do Brasil e autorizada pela Comissão de Valores Mobiliários  (“CVM”) para a atividade de administração de carteiras de valores mobiliários, de acordo com o Ato  Declaratório nº 8.695, de 20 de março de 2006 (“ADMINISTRADOR”), emitidas nos termos do regulamento  do FUNDO, do anexo descritivo da Classe do respectivo apêndice, devidamente registrado perante a CVM  (“Regulamento”, “Anexo da Classe”, “Apêndice” e “Cotas Seniores” respectivamente), a qual terá as  seguintes características:</a:t>
            </a:r>
          </a:p>
          <a:p>
            <a:r>
              <a:t> Número de Emissão, Valor São emitidas no âmbito da 1ª emissão da 3ª Série de Cotas Seniores da  Total da Emissão e Forma Classe, de 2,000,000 (dois milhões) de Cotas da 3ª Série da Subclasse  de Distribuição Sênior da Classe, com valor nominal unitário de R$ 1.000,00 (mil reais)  cada, totalizando o montante de R$ 2.000.000.000,00 (dois bilhões de  reais), as quais serão objeto de colocação privada, destinada ao Público-  Alvo (conforme definido no Anexo da Classe) (“Colocação Privada”).</a:t>
            </a:r>
          </a:p>
          <a:p>
            <a:r>
              <a:t> Valor Unitário de Emissão As Cotas Seniores da 3ª Série terão um valor unitário de R$ 1.000,00 (mil  reais) na respectiva Data de Emissão.</a:t>
            </a:r>
          </a:p>
          <a:p>
            <a:r>
              <a:t> Data de Emissão Data da 1ª Integralização.</a:t>
            </a:r>
          </a:p>
          <a:p>
            <a:r>
              <a:t> Valor Unitário de As Cotas Seniores da 3ª Série serão subscritas pelo Valor Unitário de  Integralização Emissão, e serão integralizadas pelo respectivo Valor Unitário, nos  termos do Regulamento, do Apêndice e deste Suplemento, sendo certo  que, nas emissões de novas Cotas Seniores da 3ª Série que não difiram,  em sua respectiva Subclasse, das Cotas Seniores da 3ª Série então em  circulação, o Valor Unitário de Integralização corresponderá ao Valor  Unitário da Cota apurado no Dia Útil em que os recursos aportados pelo  Cotista tornem-se efetivamente disponíveis à Classe.</a:t>
            </a:r>
          </a:p>
          <a:p>
            <a:r>
              <a:t> Investimento Mínimo por Não há  Investidor  Forma de Subscrição e As Cotas Seniores da 3ª Série deverão ser integralizadas, à vista, em  Integralização moeda corrente nacional, pelo Valor Unitário de Integralização, no ato de  subscrição.</a:t>
            </a:r>
          </a:p>
          <a:p>
            <a:r>
              <a:t> Ao subscrever Cotas Seniores da 3ª Série, cada Investidor deverá  assinar o Termo de Adesão, no qual confirmará, dentre outros, ter  conhecimento de todos os termos e condições do Fundo e do</a:t>
            </a:r>
          </a:p>
          <a:p>
            <a:r>
              <a:t>CNPJ 60010416000112 · Volume, VNU e emissão · Condição: Trechos do documento específico identificado com data mais recente; vigência jurídica não inferida.</a:t>
            </a:r>
          </a:p>
          <a:p>
            <a:r>
              <a:t>CNPJ 60010416000112 · Volume, VNU e emissão · Motivo: Cláusula primária localizada e citada, mas sua lista/condições extensas não admitem uma síntese literal curta confirmada. O trecho integral permanece nas fontes. A resposta da revisão anterior foi preservada no histórico, sem confirmação pelo documento atual.</a:t>
            </a:r>
          </a:p>
          <a:p>
            <a:r>
              <a:t>CNPJ 60010416000112 · Volume, VNU e emissão · Versão e prevalência: Trechos do documento específico identificado com data mais recente; vigência jurídica não inferida.</a:t>
            </a:r>
          </a:p>
          <a:p>
            <a:r>
              <a:t>CNPJ 60010416000112 · Volume, VNU e emissão · Resumo do histórico: {"count": 3, "dates": ["2025-03-20", "2025-05-12"], "document_count": 2, "sources": [{"document_id": "1004656", "title": "AGE", "reference_date": "2025-05-12", "version": "1", "page": 4, "url": "https://fnet.bmfbovespa.com.br/fnet/publico/visualizarDocumento?id=1004656", "sha256": "f6c9c009f6170e2b29f074b98522accec73f0c40efbf11f9ec2c8d3f1402616b"}, {"document_id": "993785", "title": "Instrumento Particular de Constituição/Encerramento do Fundo", "reference_date": "2025-03-20", "version": "1", "page": "2", "url": "https://fnet.bmfbovespa.com.br/fnet/publico/visualizarDocumento?id=993785", "sha256": "0826e0eae2c51afabf59bbc49fc7647598d03da5ca6de0f9725850a8bd6af457"}, {"document_id": "993785", "title": "Instrumento Particular de Constituição/Encerramento do Fundo", "reference_date": "2025-03-20", "version": "1", "page": 2, "url": "https://fnet.bmfbovespa.com.br/fnet/publico/visualizarDocumento?id=993785", "sha256": "0826e0eae2c51afabf59bbc49fc7647598d03da5ca6de0f9725850a8bd6af457"}], "reference": {"path": "history/60010416000112.json", "criterion_id": "issue_volume", "total_count": 3, "preview_count": 3, "full_text_deferred": true, "sha256": "8e2bd813f4c51cf01f6bfaad164bafe69d2bbb192f753eac92da3a01c2e63046"}}</a:t>
            </a:r>
          </a:p>
          <a:p>
            <a:r>
              <a:t>CNPJ 62696791000193 · Volume, VNU e emissão · Instrumento Particular de Emissão de Cotas · ID 1148821 · 27/03/2026 · versão Instrumento Particular de Emissão de Cotas — referência 27/03/2026 · p. 1 · Deliberação Conjunta, item1 · https://fnet.bmfbovespa.com.br/fnet/publico/visualizarDocumento?id=1148821</a:t>
            </a:r>
          </a:p>
          <a:p>
            <a:r>
              <a:t>CNPJ 62696791000193 · Volume, VNU e emissão · Excerto da fonte:</a:t>
            </a:r>
          </a:p>
          <a:p>
            <a:r>
              <a:t>1. Aprovar a 2ª (segunda) emissão da Subclasse Subordinada Júnior da Classe, composta por até 20.000 (vinte mil) Cotas Subordinadas Júnior, com valor nominal unitário de R$ 1.000,00 (mil reais), perfazendo o montante total de R$ 20.000.000,00 (vinte milhões de reais), as quais serão objeto de colocação privada, de acordo com os termos e condições definidos no Apêndice da Subclasse Subordinada Júnior constante do Anexo I Regulamento e descritas abaixo (“2ª Emissão da Subclasse Subordinada Júnior”): a) Rito: as Cotas Subordinadas Júnior objeto da 2ª Emissão da Subclasse Subordinada Júnior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Subordinada Júnior na data de integralização, calculado na forma prevista no respectivo Apêndice; BTG Pactual 1 SAC: 0800 772 28 27 - Ouvidoria: 0800 722 00 48 - btgpactual.com</a:t>
            </a:r>
          </a:p>
          <a:p>
            <a:r>
              <a:t>CNPJ 62696791000193 · Volume, VNU e emissão · Instrumento Particular de Emissão de Cotas · ID 1148821 · 27/03/2026 · versão Instrumento Particular de Emissão de Cotas — referência 27/03/2026 · p. 2 · Deliberação Conjunta, item2 · https://fnet.bmfbovespa.com.br/fnet/publico/visualizarDocumento?id=1148821</a:t>
            </a:r>
          </a:p>
          <a:p>
            <a:r>
              <a:t>CNPJ 62696791000193 · Volume, VNU e emissão · Excerto da fonte:</a:t>
            </a:r>
          </a:p>
          <a:p>
            <a:r>
              <a:t>2. Aprovar a 2ª (segunda) emissão da Subclasse Sênior da Classe, composta por até 150.000 (cento e cinquenta mil) Cotas Seniores, com valor nominal unitário de R$ 1.000,00 (mil reais), perfazendo o montante total de R$ 150.000.000,00 (cento e cinquenta milhões de reais), as quais serão objeto de colocação privada, de acordo com os termos e condições descritos no Apêndice da Subclasse Sênior constante do Anexo I Regulamento e descritas abaixo (“2ª Emissão da Subclasse Sênior”): a) Rito: as Cotas Seniores objeto da 2ª Emissão da Subclasse Sênior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Sênior na data de integralização, calculado na forma prevista no respectivo Apêndice; d) Forma de Integralização: as Cotas Seniores serão integralizadas mediante chamadas de capital, junto ao seu respectivo agente de custódia e/ou da Administradora na qualidade de escriturador das cotas, nos termos d</a:t>
            </a:r>
          </a:p>
          <a:p>
            <a:r>
              <a:t>CNPJ 62696791000193 · Volume, VNU e emissão · Condição: Volumes autorizados de emissão não comprovam captação ou integralização observada.</a:t>
            </a:r>
          </a:p>
          <a:p>
            <a:r>
              <a:t>CNPJ 62696791000193 · Volume, VNU e emissão · Versão e prevalência: Leitura específica das cláusulas indicadas; condições e conflitos preservados. Seleção documental atual não comprova vigência jurídica por data isolada.</a:t>
            </a:r>
          </a:p>
          <a:p>
            <a:r>
              <a:t>CNPJ 62696791000193 · Volume, VNU e emissão · Resumo do histórico: {"count": 2, "dates": ["2026-03-20", "2026-03-27"], "document_count": 2, "sources": [{"document_id": "1148821", "title": "Instrumento Particular de Emissão de Cotas", "reference_date": "2026-03-27", "version": "1", "page": "1-2", "url": "https://fnet.bmfbovespa.com.br/fnet/publico/visualizarDocumento?id=1148821", "sha256": "86900e9dd498403696bfffbd4196443c83ec4d51ff21135e073c1966e1adf4c0"}, {"document_id": "1143317", "title": "Regulamento", "reference_date": "2026-03-20", "version": "1", "page": 23, "clause": "11.3", "url": "https://fnet.bmfbovespa.com.br/fnet/publico/visualizarDocumento?id=1143317", "sha256": "32f62818d51c3ebeaf9ec012d3d7867f15c1aed6d10f0867c157a290df1cea48"}], "reference": {"path": "history/62696791000193.json", "criterion_id": "issue_volume", "total_count": 2, "preview_count": 2, "full_text_deferred": true, "sha256": "0e9ec199848320ec945708123ae0cb6075d76c05d94beed814d582031d353926"}}</a:t>
            </a:r>
          </a:p>
          <a:p>
            <a:r>
              <a:t>CNPJ 55563624000109 · Volume, VNU e emissão · Regulamento · ID 1192614 · 2026-04-30 · versão 1 · p. 17 · 5.13.2 · https://fnet.bmfbovespa.com.br/fnet/publico/visualizarDocumento?id=1192614</a:t>
            </a:r>
          </a:p>
          <a:p>
            <a:r>
              <a:t>CNPJ 55563624000109 · Volume, VNU e emissão · Excerto da fonte:</a:t>
            </a:r>
          </a:p>
          <a:p>
            <a:r>
              <a:t>5.13.2 Caso um Cotista do Fundo pretenda transferir suas Cotas para terceiros (“Cotista Vendedor”), deverá  notificar previamente o GESTOR, via e-mail, manifestando sua proposta de alienação de Cotas, a qual  deve incluir o interessado na aquisição e a quantidade de Cotas a serem alienadas e o preço para tal  alienação (“Proposta de Venda”). O GESTOR deverá manifestar aprovação para alienação das Cotas  objeto da Proposta de Venda (“Cotas Objeto”) em até 5 (cinco) Dias Úteis, observado que a ausência de  aprovação deverá ser entendida como aprovação tácita à alienação das Cotas Objeto.</a:t>
            </a:r>
          </a:p>
          <a:p>
            <a:r>
              <a:t>CNPJ 55563624000109 · Volume, VNU e emissão · Regulamento · ID 1192614 · 2026-04-30 · versão 1 · p. 39 · https://fnet.bmfbovespa.com.br/fnet/publico/visualizarDocumento?id=1192614</a:t>
            </a:r>
          </a:p>
          <a:p>
            <a:r>
              <a:t>CNPJ 55563624000109 · Volume, VNU e emissão · Excerto da fonte:</a:t>
            </a:r>
          </a:p>
          <a:p>
            <a:r>
              <a:t>(xxi) Ausência de propriedade direta dos ativos. Os direitos dos Cotistas serão exercidos sobre  todos os ativos da Carteira de modo não individualizado, proporcionalmente à quantidade de Cotas  detidas por cada um. Portanto, os Cotistas não terão qualquer direito de propriedade direta sobre as  Cotas da Classe Investida e os Ativos Financeiros de Liquidez integrantes da Carteira, ou mesmo sobre  os direitos creditórios e os ativos financeiros de liquidez integrantes da carteira da Classe Investida.</a:t>
            </a:r>
          </a:p>
          <a:p>
            <a:r>
              <a:t>CNPJ 55563624000109 · Volume, VNU e emissão · Condição: Documentos atuais selecionados no inventário por categoria/escopo; a data documental isolada não comprova vigência jurídica.</a:t>
            </a:r>
          </a:p>
          <a:p>
            <a:r>
              <a:t>CNPJ 55563624000109 · Volume, VNU e emissão · Versão e prevalência: Documentos atuais selecionados no inventário por categoria/escopo; a data documental isolada não comprova vigência jurídica.</a:t>
            </a:r>
          </a:p>
          <a:p>
            <a:r>
              <a:t>CNPJ 55563624000109 · Volume, VNU e emissão · Resumo do histórico: {"count": 3, "dates": ["2024-12-30", "2025-01-31", "2026-01-31"], "document_count": 3, "sources": [{"document_id": "1178840", "title": "Demonstrações Financeiras", "reference_date": "2026-01-31", "version": "1", "page": 25, "url": "https://fnet.bmfbovespa.com.br/fnet/publico/visualizarDocumento?id=1178840", "sha256": "c458e98664c5c907ddb5a05a94b120bed4e05295b2bfc420f5ba69af0a229abe"}, {"document_id": "891861", "title": "Demonstrações Financeiras", "reference_date": "2025-01-31", "version": "1", "page": 26, "url": "https://fnet.bmfbovespa.com.br/fnet/publico/visualizarDocumento?id=891861", "sha256": "e9cb9e6ddbe505fe068cfcac33605165a98313489de0d3ce6d4d238263c3f3e7"}, {"document_id": "811323", "title": "Anúncio de Encerramento", "reference_date": "2024-12-30", "version": "1", "page": 1, "url": "https://fnet.bmfbovespa.com.br/fnet/publico/visualizarDocumento?id=811323", "sha256": "ebc6bc661be5189acffb3c3e352de2aea0a8ca8431011d1237e1ae19da4f9c79"}], "reference": {"path": "history/55563624000109.json", "criterion_id": "issue_volume", "total_count": 3, "preview_count": 3, "full_text_deferred": true, "sha256": "7835d573fb58a3c19adf5b8ecc2aee2bdbb9a88f7a0c0209b5f262b64c7522e3"}}</a:t>
            </a:r>
          </a:p>
          <a:p>
            <a:r>
              <a:t>CNPJ 62552447000120 · Volume, VNU e emissão · AGE · ID 1315103 · 2026-09-08 · versão 1 · p. 1 · https://fnet.bmfbovespa.com.br/fnet/publico/visualizarDocumento?id=1315103</a:t>
            </a:r>
          </a:p>
          <a:p>
            <a:r>
              <a:t>CNPJ 62552447000120 · Volume, VNU e emissão · Excerto da fonte:</a:t>
            </a:r>
          </a:p>
          <a:p>
            <a:r>
              <a:t>a) Rito: as cotas objeto da Segunda Emissão não estão sujeitas a regulamentação  de oferta de valores mobiliários, conforme facultado pelo Art. 8º, inciso II, da  Resolução CVM nº 160, de 13 de julho de 2022;</a:t>
            </a:r>
          </a:p>
          <a:p>
            <a:r>
              <a:t> b) Preço de Emissão: R$ 1.000,00 (mil reais);</a:t>
            </a:r>
          </a:p>
          <a:p>
            <a:r>
              <a:t> c) Quantidade de Cotas: 10.000 (dez mil) Cotas;</a:t>
            </a:r>
          </a:p>
          <a:p>
            <a:r>
              <a:t> d) Preço de Integralização: será o valor da Cota vigente na data de integralização,  nos termos do respectivo boletim de subscrição;</a:t>
            </a:r>
          </a:p>
          <a:p>
            <a:r>
              <a:t> e) Forma de Integralização: as Cotas serão integralizadas à vista, em moeda  corrente nacional, junto ao seu respectivo agente de custódia e/ou da  Administradora na qualidade de escriturador das cotas;</a:t>
            </a:r>
          </a:p>
          <a:p>
            <a:r>
              <a:t> f) Período de colocação: a subscrição das Cotas, objeto da Segunda Emissão,  deverão ser realizadas no prazo máximo de 180 (cento e oitenta) dias, contados  da data de efeitos do presente instrumento.</a:t>
            </a:r>
          </a:p>
          <a:p>
            <a:r>
              <a:t>CNPJ 62552447000120 · Volume, VNU e emissão · Condição: Trechos do documento específico identificado com data mais recente; vigência jurídica não inferida.</a:t>
            </a:r>
          </a:p>
          <a:p>
            <a:r>
              <a:t>CNPJ 62552447000120 · Volume, VNU e emissão · Versão e prevalência: Trechos do documento específico identificado com data mais recente; vigência jurídica não inferida.</a:t>
            </a:r>
          </a:p>
          <a:p>
            <a:r>
              <a:t>CNPJ 62552447000120 · Volume, VNU e emissão · Resumo do histórico: {"count": 2, "dates": ["2025-09-03"], "document_count": 1, "sources": [{"document_id": "988020", "title": "Instrumento Particular de Emissão de Cotas", "reference_date": "2025-09-03", "version": "1", "page": "5", "url": "https://fnet.bmfbovespa.com.br/fnet/publico/visualizarDocumento?id=988020", "sha256": "8ecc8a771bb9713d64e5fc2052c489664cb0433801a9280db68e5187d35bf7a5"}, {"document_id": "988020", "title": "Instrumento Particular de Emissão de Cotas", "reference_date": "2025-09-03", "version": "1", "page": 2, "url": "https://fnet.bmfbovespa.com.br/fnet/publico/visualizarDocumento?id=988020", "sha256": "8ecc8a771bb9713d64e5fc2052c489664cb0433801a9280db68e5187d35bf7a5"}], "reference": {"path": "history/62552447000120.json", "criterion_id": "issue_volume", "total_count": 2, "preview_count": 2, "full_text_deferred": true, "sha256": "d95db8c0613d67ee84118c734588665265ea6b02f86a0318d6a844cbe1d0f82f"}}</a:t>
            </a:r>
          </a:p>
          <a:p>
            <a:r>
              <a:t>CNPJ 63953620000165 · Volume, VNU e emissão · Demonstrações Financeiras - Fusão, cisão e incorporação · ID 1327859 · 2026-05-15 · versão 1 · p. 31 · 15.000.000 · https://fnet.bmfbovespa.com.br/fnet/publico/visualizarDocumento?id=1327859</a:t>
            </a:r>
          </a:p>
          <a:p>
            <a:r>
              <a:t>CNPJ 63953620000165 · Volume, VNU e emissão · Excerto da fonte:</a:t>
            </a:r>
          </a:p>
          <a:p>
            <a:r>
              <a:t>15.000.000 (quinze bilhões de reais), , a serem objeto de colocação privada, nos termos  do Regulamento, da Resolução CVM 175 e do respectivo boletim de subscrição nos  seguintes termos:</a:t>
            </a:r>
          </a:p>
          <a:p>
            <a:r>
              <a:t> a. Montante Total da Colocação Privada: R$ 15.000.000 (quinze bilhões de  reais)  b. Quantidade de Cotas: 15.000.000 (quinze milhões) de Cotas Seniores;</a:t>
            </a:r>
          </a:p>
          <a:p>
            <a:r>
              <a:t> c. Preço de Emissão (Valor Unitário): R$ 1 (mil reais);</a:t>
            </a:r>
          </a:p>
          <a:p>
            <a:r>
              <a:t> d. Forma e Preço de Integralização: as Cotas serão integralizadas na forma  prevista no Boletim de Subscrição;</a:t>
            </a:r>
          </a:p>
          <a:p>
            <a:r>
              <a:t> e. Prazo da Colocação Privada: as Cotas serão colocadas em até 180 (cento e  oitenta) dias da data deste IPA.</a:t>
            </a:r>
          </a:p>
          <a:p>
            <a:r>
              <a:t>CNPJ 63953620000165 · Volume, VNU e emissão · Demonstrações Financeiras - Fusão, cisão e incorporação · ID 1327859 · 2026-05-15 · versão 1 · p. 31 · https://fnet.bmfbovespa.com.br/fnet/publico/visualizarDocumento?id=1327859</a:t>
            </a:r>
          </a:p>
          <a:p>
            <a:r>
              <a:t>CNPJ 63953620000165 · Volume, VNU e emissão · Excerto da fonte:</a:t>
            </a:r>
          </a:p>
          <a:p>
            <a:r>
              <a:t>Em Instrumento Particular de Alteração do MT Global Fundo de Investimento em Direitos  Creditórios, realizada em 08 de janeiro de 2026, foram deliberadas as seguintes matérias:</a:t>
            </a:r>
          </a:p>
          <a:p>
            <a:r>
              <a:t>(i) Alterar regulamento vigente da classe em relação aos itens 4.17.1, 6.8 e o Capítulo 13,</a:t>
            </a:r>
          </a:p>
          <a:p>
            <a:r>
              <a:t> (b) incluir o item 3.1, 8.1.(ii), 8.2, 8.2.1, e 10.2.(xvii); e (c) excluir os itens 6.8.1, 6.8.2,</a:t>
            </a:r>
          </a:p>
          <a:p>
            <a:r>
              <a:t>(ii) Aprovar a 1ª (primeira) emissão de cotas seniores das Classes (“Cotas Seniores”), em  sistema de vasos comunicantes entre as Classes, de forma que a quantidade de Cotas  Seniores integralizadas em uma das Classes será deduzida da quantidade de Cotas  Seniores disponíveis para integralização nas demais Classes, no montante total de R$</a:t>
            </a:r>
          </a:p>
          <a:p>
            <a:r>
              <a:t>CNPJ 63953620000165 · Volume, VNU e emissão · Demonstrações Financeiras - Fusão, cisão e incorporação · ID 1327859 · 2026-05-15 · versão 1 · p. 32 · https://fnet.bmfbovespa.com.br/fnet/publico/visualizarDocumento?id=1327859</a:t>
            </a:r>
          </a:p>
          <a:p>
            <a:r>
              <a:t>CNPJ 63953620000165 · Volume, VNU e emissão · Excerto da fonte:</a:t>
            </a:r>
          </a:p>
          <a:p>
            <a:r>
              <a:t>f. Montante Total da Colocação Privada: R$ 7.000 (sete milhões de reais);</a:t>
            </a:r>
          </a:p>
          <a:p>
            <a:r>
              <a:t> g. Quantidade de Cotas: 7.000 (sete mil) de Cotas Subordinadas CP  h. Preço de Emissão (Valor Unitário): R$ 1 (mil reais);</a:t>
            </a:r>
          </a:p>
          <a:p>
            <a:r>
              <a:t> i. Forma e Preço de Integralização: as Cotas serão integralizadas na forma  prevista no Boletim de Subscrição;</a:t>
            </a:r>
          </a:p>
          <a:p>
            <a:r>
              <a:t> j. Prazo da Colocação Privada: as Cotas serão colocadas em até 180 (cento e  oitenta) dias da data deste IPA.</a:t>
            </a:r>
          </a:p>
          <a:p>
            <a:r>
              <a:t>CNPJ 63953620000165 · Volume, VNU e emissão · Condição: Trechos do documento específico identificado com data mais recente; vigência jurídica não inferida.</a:t>
            </a:r>
          </a:p>
          <a:p>
            <a:r>
              <a:t>CNPJ 63953620000165 · Volume, VNU e emissão · Versão e prevalência: Trechos do documento específico identificado com data mais recente; vigência jurídica não inferida.</a:t>
            </a:r>
          </a:p>
          <a:p>
            <a:r>
              <a:t>CNPJ 63953620000165 · Volume, VNU e emissão · Resumo do histórico: {"count": 8, "dates": ["2026-04-16", "2026-04-28", "2026-05-08"], "document_count": 3, "sources": [{"document_id": "1298691", "title": "Demonstrações Financeiras - Fusão, cisão e incorporação", "reference_date": "2026-05-08", "version": "1", "page": 32, "url": "https://fnet.bmfbovespa.com.br/fnet/publico/visualizarDocumento?id=1298691", "sha256": "58c570d9b8d4d265330d3db3ea81c435b8e44a6dab4002aa37790652a1ee9819"}, {"document_id": "1282180", "title": "Demonstrações Financeiras - Fusão, cisão e incorporação", "reference_date": "2026-04-28", "version": "1", "page": 32, "clause": "15.000.000", "url": "https://fnet.bmfbovespa.com.br/fnet/publico/visualizarDocumento?id=1282180", "sha256": "afaaa0e6809be4385e5bdb6c911aac582032c5bdbac3d7750234bf9eaf00438a"}, {"document_id": "1282179", "title": "Demonstrações Financeiras - Fusão, cisão e incorporação", "reference_date": "2026-04-16", "version": "1", "page": 32, "clause": "15.000.000", "url": "https://fnet.bmfbovespa.com.br/fnet/publico/visualizarDocumento?id=1282179", "sha256": "beb67afbcd64169019477673fd3b7c1edbfabbd9db07379388d8cdd5d3fc9395"}], "reference": {"path": "history/63953620000165.json", "criterion_id": "issue_volume", "total_count": 8, "preview_count": 3, "full_text_deferred": true, "sha256": "a7b89077f5e21098c2d601c303faabc3ff6b9729f89d8afecdc60fe1404720c1"}}</a:t>
            </a:r>
          </a:p>
          <a:p>
            <a:r>
              <a:t>CNPJ 54871427000194 · Administração: taxa, base e mínimo · Regulamento · ID 670691 · 28/04/2024 · versão Regulamento — referência 28/04/2024 · p. 25 · Anexo I, 13.1 · https://fnet.bmfbovespa.com.br/fnet/publico/visualizarDocumento?id=670691</a:t>
            </a:r>
          </a:p>
          <a:p>
            <a:r>
              <a:t>CNPJ 54871427000194 · Administração: taxa, base e mínimo · Excerto da fonte:</a:t>
            </a:r>
          </a:p>
          <a:p>
            <a:r>
              <a:t>13.1 Pelos serviços de administração, tesouraria, controladoria e escrituração, a Classe pagará a Taxa de Administração nos seguintes moldes: o valor correspondente a 0,10% (dez centésimos por cento) ao ano aplicado sobre o Patrimônio Líquido, observado o valor mínimo de R$ 10.000,00 (dez mil reais) mensais atualizado pela variação positiva do IGP-M a cada período de 12 (doze) meses, contados a partir do mês em que ocorrer a primeira integralização de Cotas (inclusive). 13.1.1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BTG Pactual SAC: 0800 772 28 27 - Ouvidoria: 0800 722 00 48 - btgpactual.com 19</a:t>
            </a:r>
          </a:p>
          <a:p>
            <a:r>
              <a:t>CNPJ 54871427000194 · Administração: taxa, base e mínimo · Regulamento · ID 670691 · 28/04/2024 · versão Regulamento — referência 28/04/2024 · p. 26 · Anexo I, 13.1.2–13.1.3 · https://fnet.bmfbovespa.com.br/fnet/publico/visualizarDocumento?id=670691</a:t>
            </a:r>
          </a:p>
          <a:p>
            <a:r>
              <a:t>CNPJ 54871427000194 · Administração: taxa, base e mínimo · Excerto da fonte:</a:t>
            </a:r>
          </a:p>
          <a:p>
            <a:r>
              <a:t>13.1.2 A Taxa de Administração será calculada e provisionada todo Dia Útil à razão de 1/252 (um inteiro e duzentos e cinquenta e dois avos) com base no valor do Patrimônio Líquido do Dia Útil anterior. 13.1.3 A Taxa de Administração será paga mensalmente ao ADMINISTRADOR, observado o disposto no item 13.2 abaixo, por período vencido, até o 5º (quinto) Dia Útil do mês subsequente à prestação dos serviços, a partir do mês em que ocorrer a primeira integralização de Cotas da Classe. 13.2 O ADMINISTRADOR poderá estabelecer que parcelas da Taxa de Administração sejam pagas diretamente pela Classe aos prestadores de serviços contratados, desde que o somatório dessas parcelas não exceda o montante total da Taxa de Administração. 13.3 Não serão cobradas da Classe ou dos Cotistas taxas de perf ormance, de ingresso ou de saída. Taxa de Gestão 13.4 Pelos serviços de gestão, a Classe pagará a Taxa de Gestão nos seguintes moldes: o valor correspondente a 0,20% (vinte centésimos por cento) ao ano aplicado sobre o Patrimônio Líquido, observado o valor mínimo de R$ 15.000,00 (quinze mil reais) mensais atualizado pela variação positiva do IGP-M a cada período de 12 (</a:t>
            </a:r>
          </a:p>
          <a:p>
            <a:r>
              <a:t>CNPJ 54871427000194 · Administração: taxa, base e mínimo · Versão e prevalência: Leitura específica das cláusulas indicadas; condições e conflitos preservados. Seleção documental atual não comprova vigência jurídica por data isolada.</a:t>
            </a:r>
          </a:p>
          <a:p>
            <a:r>
              <a:t>CNPJ 54871427000194 · Administração: taxa, base e mínimo · Resumo do histórico: {"count": 2, "dates": ["2024-04-19", "2024-04-28"], "document_count": 2, "sources": [{"document_id": "670691", "title": "Regulamento", "reference_date": "2024-04-28", "version": "1", "page": "25-26", "url": "https://fnet.bmfbovespa.com.br/fnet/publico/visualizarDocumento?id=670691", "sha256": "bf16dd7f1a62d5cdbf2e2d54fef81783783f7310fbc99c3a8f00459bdf9d037b"}, {"document_id": "670689", "title": "Regulamento", "reference_date": "2024-04-19", "version": "1", "page": 26, "clause": "13.1", "url": "https://fnet.bmfbovespa.com.br/fnet/publico/visualizarDocumento?id=670689", "sha256": "891bc9bc5d87bbc02ec139077a84d2702eb81ea02035fb71d24f5b8366b94a0b"}], "reference": {"path": "history/54871427000194.json", "criterion_id": "admin_fee", "total_count": 2, "preview_count": 2, "full_text_deferred": true, "sha256": "35d7cd99be50c7287c9fb675cf4f2e736002315295a225a9efa79c8d9186d874"}}</a:t>
            </a:r>
          </a:p>
          <a:p>
            <a:r>
              <a:t>CNPJ 60010416000112 · Administração: taxa, base e mínimo · Regulamento · ID 1051393 · 09/10/2025 · versão Regulamento09/10/2025 · p. 29 · AnexoI12.1–12.1.2 · https://fnet.bmfbovespa.com.br/fnet/publico/visualizarDocumento?id=1051393</a:t>
            </a:r>
          </a:p>
          <a:p>
            <a:r>
              <a:t>CNPJ 60010416000112 · Administração: taxa, base e mínimo · Excerto da fonte:</a:t>
            </a:r>
          </a:p>
          <a:p>
            <a:r>
              <a:t>12.1 Pelos serviços de administração, escrituração, controladoria de ativos e passivo, e gestão de carteira, o Administrador fará jus a uma Taxa de Administração equivalente a 0,40% (quarenta centésimos por cento) por ano sobre o Patrimônio Líquido da Classe, a ser pago mensalmente, por período vencido da data em que ocorrer a primeira integralização de Cotas da Classe A, até o 5º (quinto) Dia Útil do mês subsequente ao da prestação do serviço, assegurado um valor mínimo mensal de R$ 20.000,00 (vinte mil reais), sendo este valor atualizado pela variação positiva do IPCA sempre em janeiro de cada ano,</a:t>
            </a:r>
          </a:p>
          <a:p>
            <a:r>
              <a:t>CNPJ 60010416000112 · Administração: taxa, base e mínimo · Versão e prevalência: Leitura específica das cláusulas indicadas; condições e conflitos preservados. Seleção documental atual não comprova vigência jurídica por data isolada.</a:t>
            </a:r>
          </a:p>
          <a:p>
            <a:r>
              <a:t>CNPJ 60010416000112 · Administração: taxa, base e mínimo · Resumo do histórico: {"count": 2, "dates": ["2025-03-20", "2025-10-09"], "document_count": 2, "sources": [{"document_id": "1051393", "title": "Regulamento", "reference_date": "2025-10-09", "version": "1", "page": "29", "url": "https://fnet.bmfbovespa.com.br/fnet/publico/visualizarDocumento?id=1051393", "sha256": "8469d613078ffd5a6c1d217885d8a397a16342c0b937ae4aa24b106505f233ae"}, {"document_id": "993786", "title": "Regulamento", "reference_date": "2025-03-20", "version": "1", "page": 29, "clause": "12.1", "url": "https://fnet.bmfbovespa.com.br/fnet/publico/visualizarDocumento?id=993786", "sha256": "fd0fdd369a195510d81f81f505195a0b09e5f43522a990afa7d58c4f872921c8"}], "reference": {"path": "history/60010416000112.json", "criterion_id": "admin_fee", "total_count": 2, "preview_count": 2, "full_text_deferred": true, "sha256": "8e2bd813f4c51cf01f6bfaad164bafe69d2bbb192f753eac92da3a01c2e63046"}}</a:t>
            </a:r>
          </a:p>
          <a:p>
            <a:r>
              <a:t>CNPJ 62696791000193 · Administração: taxa, base e mínimo · Regulamento · ID 1143317 · 20/03/2026 · versão Regulamento — referência 20/03/2026 · p. 28 · Anexo I, 13.1, Taxa de Administração · https://fnet.bmfbovespa.com.br/fnet/publico/visualizarDocumento?id=1143317</a:t>
            </a:r>
          </a:p>
          <a:p>
            <a:r>
              <a:t>CNPJ 62696791000193 · Administração: taxa, base e mínimo · Excerto da fonte:</a:t>
            </a:r>
          </a:p>
          <a:p>
            <a:r>
              <a:t>Taxa de Administração 0,10% (um décimo por cento) ao ano com um mínimo mensal de R$ 10.000,00 (dez mil reais), pagos mensalmente até o 5º (quinto) Dia Útil do mês subsequente ao mês que se ref ere, a ser corrigida anualmente, em janeiro de cada ano, pela variação positiva do Índice Geral de Preços – Mercado, divulgado pela Fundação Getúlio Vargas (“Taxa de Administração” e “IGP-M”, respectivamente).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T</a:t>
            </a:r>
          </a:p>
          <a:p>
            <a:r>
              <a:t>CNPJ 62696791000193 · Administração: taxa, base e mínimo · Condição: A linha da tabela não explicita novamente a base de PL para administração; conservar essa limitação em vez de completar a frase por analogia.</a:t>
            </a:r>
          </a:p>
          <a:p>
            <a:r>
              <a:t>CNPJ 62696791000193 · Administração: taxa, base e mínimo · Motivo: Não localizada uma cláusula material para este critério nos textos identificados e processados. A ausência de resultado não comprova inexistência da regra.</a:t>
            </a:r>
          </a:p>
          <a:p>
            <a:r>
              <a:t>CNPJ 62696791000193 · Administração: taxa, base e mínimo · Versão e prevalência: Leitura específica das cláusulas indicadas; condições e conflitos preservados. Seleção documental atual não comprova vigência jurídica por data isolada.</a:t>
            </a:r>
          </a:p>
          <a:p>
            <a:r>
              <a:t>CNPJ 55563624000109 · Administração: taxa, base e mínimo · Regulamento · ID 1192614 · 30/04/2026 · versão Regulamento30/04/2026 · p. 28 · AnexoI13.1–13.2 · https://fnet.bmfbovespa.com.br/fnet/publico/visualizarDocumento?id=1192614</a:t>
            </a:r>
          </a:p>
          <a:p>
            <a:r>
              <a:t>CNPJ 55563624000109 · Administração: taxa, base e mínimo · Excerto da fonte:</a:t>
            </a:r>
          </a:p>
          <a:p>
            <a:r>
              <a:t>13.1 Sem prejuízo da Taxa Máxima de Administração, pelos serviços de administração do FUNDO e da Classe, tesouraria, controle e processamento dos ativos integrantes da Carteira, a Classe pagará, no mínimo, ao ADMINISTRADOR a Taxa Mínima de Administração nos seguintes moldes: o valor correspondente a R$ 10.000,00 (dez mil reais) mensais, atualizado pela variação positiva do IGP-M, no mês de janeiro de cada ano (“Taxa Mínima de Administração”). 13.1.1 Na hipótese de extinção do IGP-M, não divulgação ou impossibilidade de sua utilização, será utilizado o</a:t>
            </a:r>
          </a:p>
          <a:p>
            <a:r>
              <a:t>CNPJ 55563624000109 · Administração: taxa, base e mínimo · Condição: A base do adicional é PL do Mercado Crédito II; não é teto 0, 10% sobre PLGN e não substitui mínimo R$ 10 mil.</a:t>
            </a:r>
          </a:p>
          <a:p>
            <a:r>
              <a:t>CNPJ 55563624000109 · Administração: taxa, base e mínimo · Versão e prevalência: Leitura específica das cláusulas indicadas; condições e conflitos preservados. Seleção documental atual não comprova vigência jurídica por data isolada.</a:t>
            </a:r>
          </a:p>
          <a:p>
            <a:r>
              <a:t>CNPJ 55563624000109 · Administração: taxa, base e mínimo · Resumo do histórico: {"count": 3, "dates": ["2025-01-31", "2026-01-31", "2026-04-30"], "document_count": 3, "sources": [{"document_id": "1192614", "title": "Regulamento", "reference_date": "2026-04-30", "version": "1", "page": "28", "clause": "13.2", "url": "https://fnet.bmfbovespa.com.br/fnet/publico/visualizarDocumento?id=1192614", "sha256": "f56e63ace0acde41d2f47fb48f1ac7f3f7df5e2d32de092d7c5e075a52516632"}, {"document_id": "1178840", "title": "Demonstrações Financeiras", "reference_date": "2026-01-31", "version": "1", "page": 29, "url": "https://fnet.bmfbovespa.com.br/fnet/publico/visualizarDocumento?id=1178840", "sha256": "c458e98664c5c907ddb5a05a94b120bed4e05295b2bfc420f5ba69af0a229abe"}, {"document_id": "891861", "title": "Demonstrações Financeiras", "reference_date": "2025-01-31", "version": "1", "page": 30, "url": "https://fnet.bmfbovespa.com.br/fnet/publico/visualizarDocumento?id=891861", "sha256": "e9cb9e6ddbe505fe068cfcac33605165a98313489de0d3ce6d4d238263c3f3e7"}], "reference": {"path": "history/55563624000109.json", "criterion_id": "admin_fee", "total_count": 3, "preview_count": 3, "full_text_deferred": true, "sha256": "7835d573fb58a3c19adf5b8ecc2aee2bdbb9a88f7a0c0209b5f262b64c7522e3"}}</a:t>
            </a:r>
          </a:p>
          <a:p>
            <a:r>
              <a:t>CNPJ 62552447000120 · Administração: taxa, base e mínimo · Regulamento · ID 1200623 · 21/05/2026 · versão Consolidado21/05/2026 aprovado pelo ato1200625 · p. 30 · AnexoI13.1 TaxaGlobal · https://fnet.bmfbovespa.com.br/fnet/publico/visualizarDocumento?id=1200623</a:t>
            </a:r>
          </a:p>
          <a:p>
            <a:r>
              <a:t>CNPJ 62552447000120 · Administração: taxa, base e mínimo · Excerto da fonte:</a:t>
            </a:r>
          </a:p>
          <a:p>
            <a:r>
              <a:t>Taxa Global Pelos serviços de administração, gestão, custódia, tesouraria, controladoria, escrituração, a Classe pagará um valor equivalente a um percentual incidente sobre o Patrimônio Líquido da Classe, conf orme a f aixa de Patrimônio Líquido da Classe prevista na tabela abaixo, apropriada diariamente e paga mensalmente até o 5º (quinto) Dia Útil do mês subsequente ao mês que se ref ere, com</a:t>
            </a:r>
          </a:p>
          <a:p>
            <a:r>
              <a:t>CNPJ 62552447000120 · Administração: taxa, base e mínimo · Condição: Global remunera administração, gestão, custódia, tesouraria, controladoria e escrituração; percentual segregado não presumido.</a:t>
            </a:r>
          </a:p>
          <a:p>
            <a:r>
              <a:t>CNPJ 62552447000120 · Administração: taxa, base e mínimo · Motivo: Não localizada uma cláusula material para este critério nos textos identificados e processados. A ausência de resultado não comprova inexistência da regra.</a:t>
            </a:r>
          </a:p>
          <a:p>
            <a:r>
              <a:t>CNPJ 62552447000120 · Administração: taxa, base e mínimo · Versão e prevalência: Leitura específica das cláusulas indicadas; condições e conflitos preservados. Seleção documental atual não comprova vigência jurídica por data isolada.</a:t>
            </a:r>
          </a:p>
          <a:p>
            <a:r>
              <a:t>CNPJ 63953620000165 · Administração: taxa, base e mínimo · Anexo ao Regulamento · ID 1222863 · 02/06/2026 · versão AnexoConsignadoPrivado02/06/2026 · p. 19 · Capítulo13TaxadeAdministração · https://fnet.bmfbovespa.com.br/fnet/publico/visualizarDocumento?id=1222863</a:t>
            </a:r>
          </a:p>
          <a:p>
            <a:r>
              <a:t>CNPJ 63953620000165 · Administração: taxa, base e mínimo · Excerto da fonte:</a:t>
            </a:r>
          </a:p>
          <a:p>
            <a:r>
              <a:t>Taxa de Administração positiva do Índice Geral de Preços – Mercado, divulgado pela Fundação Getúlio Vargas (“Taxa de Administração” e “IGP-M”, respectivamente). Na hipótese de extinção do IGP-M, não divulgação ou impossibilidade de sua utilização, será utilizado o Índice Geral de Preços – Disponibilidade Interna, divulgado pela Fundação Getúlio Vargas, ou, na falta de ambos, pela variação do IPC – Índice de Preços ao Consumidor, divulgado pela</a:t>
            </a:r>
          </a:p>
          <a:p>
            <a:r>
              <a:t>CNPJ 63953620000165 · Administração: taxa, base e mínimo · Condição: Base é a parcela MT específica, não necessariamente todo o PL da classe.</a:t>
            </a:r>
          </a:p>
          <a:p>
            <a:r>
              <a:t>CNPJ 63953620000165 · Administração: taxa, base e mínimo · Versão e prevalência: Leitura específica das cláusulas indicadas; condições e conflitos preservados. Seleção documental atual não comprova vigência jurídica por data isolada.</a:t>
            </a:r>
          </a:p>
          <a:p>
            <a:r>
              <a:t>CNPJ 63953620000165 · Administração: taxa, base e mínimo · Resumo do histórico: {"count": 8, "dates": ["2026-04-28", "2026-05-08", "2026-05-15"], "document_count": 3, "sources": [{"document_id": "1327859", "title": "Demonstrações Financeiras - Fusão, cisão e incorporação", "reference_date": "2026-05-15", "version": "1", "page": 28, "url": "https://fnet.bmfbovespa.com.br/fnet/publico/visualizarDocumento?id=1327859", "sha256": "dca1c68babb97f887528c3e2e47596a9c30f507b067981a35655b2f2da9c8054"}, {"document_id": "1298691", "title": "Demonstrações Financeiras - Fusão, cisão e incorporação", "reference_date": "2026-05-08", "version": "1", "page": 28, "url": "https://fnet.bmfbovespa.com.br/fnet/publico/visualizarDocumento?id=1298691", "sha256": "58c570d9b8d4d265330d3db3ea81c435b8e44a6dab4002aa37790652a1ee9819"}, {"document_id": "1282180", "title": "Demonstrações Financeiras - Fusão, cisão e incorporação", "reference_date": "2026-04-28", "version": "1", "page": 29, "url": "https://fnet.bmfbovespa.com.br/fnet/publico/visualizarDocumento?id=1282180", "sha256": "afaaa0e6809be4385e5bdb6c911aac582032c5bdbac3d7750234bf9eaf00438a"}], "reference": {"path": "history/63953620000165.json", "criterion_id": "admin_fee", "total_count": 8, "preview_count": 3, "full_text_deferred": true, "sha256": "a7b89077f5e21098c2d601c303faabc3ff6b9729f89d8afecdc60fe1404720c1"}}</a:t>
            </a:r>
          </a:p>
          <a:p>
            <a:r>
              <a:t>CNPJ 54871427000194 · Gestão: taxa, base e mínimo · Regulamento · ID 670691 · 28/04/2024 · versão Regulamento — referência 28/04/2024 · p. 26 · Anexo I, 13.4–13.4.3 · https://fnet.bmfbovespa.com.br/fnet/publico/visualizarDocumento?id=670691</a:t>
            </a:r>
          </a:p>
          <a:p>
            <a:r>
              <a:t>CNPJ 54871427000194 · Gestão: taxa, base e mínimo · Excerto da fonte:</a:t>
            </a:r>
          </a:p>
          <a:p>
            <a:r>
              <a:t>13.4 Pelos serviços de gestão, a Classe pagará a Taxa de Gestão nos seguintes moldes: o valor correspondente a 0,20% (vinte centésimos por cento) ao ano aplicado sobre o Patrimônio Líquido, observado o valor mínimo de R$ 15.000,00 (quinze mil reais) mensais atualizado pela variação positiva do IGP-M a cada período de 12 (doze) meses, contados a partir do mês em que ocorrer a primeira integralização de Cotas (inclusive). 13.4.1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13.4.2 A Taxa de Gestão será calculada e provisionada todo Dia Útil à razão de 1/252 (um inteiro e duzentos e cinquenta e dois avos) com base no valor do Patrimônio Líquido do Dia Útil anterior. 13.4.3 A Taxa de Gestão será paga mensalmente ao GESTOR, observado o disposto no item 13.5 abaixo, por período vencido, até o 5º (quinto) Dia Útil do mês subsequente à prestação dos ser</a:t>
            </a:r>
          </a:p>
          <a:p>
            <a:r>
              <a:t>CNPJ 54871427000194 · Gestão: taxa, base e mínimo · Versão e prevalência: Leitura específica das cláusulas indicadas; condições e conflitos preservados. Seleção documental atual não comprova vigência jurídica por data isolada.</a:t>
            </a:r>
          </a:p>
          <a:p>
            <a:r>
              <a:t>CNPJ 54871427000194 · Gestão: taxa, base e mínimo · Resumo do histórico: {"count": 2, "dates": ["2024-04-19", "2024-04-28"], "document_count": 2, "sources": [{"document_id": "670691", "title": "Regulamento", "reference_date": "2024-04-28", "version": "1", "page": "26", "url": "https://fnet.bmfbovespa.com.br/fnet/publico/visualizarDocumento?id=670691", "sha256": "bf16dd7f1a62d5cdbf2e2d54fef81783783f7310fbc99c3a8f00459bdf9d037b"}, {"document_id": "670689", "title": "Regulamento", "reference_date": "2024-04-19", "version": "1", "page": 27, "clause": "13.3", "url": "https://fnet.bmfbovespa.com.br/fnet/publico/visualizarDocumento?id=670689", "sha256": "891bc9bc5d87bbc02ec139077a84d2702eb81ea02035fb71d24f5b8366b94a0b"}], "reference": {"path": "history/54871427000194.json", "criterion_id": "management_fee", "total_count": 2, "preview_count": 2, "full_text_deferred": true, "sha256": "35d7cd99be50c7287c9fb675cf4f2e736002315295a225a9efa79c8d9186d874"}}</a:t>
            </a:r>
          </a:p>
          <a:p>
            <a:r>
              <a:t>CNPJ 60010416000112 · Gestão: taxa, base e mínimo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Gestão: taxa, base e mínimo · Resumo do histórico: {"count": 1, "dates": ["2025-10-09"], "document_count": 1, "sources": [{"document_id": "1051393", "title": "Regulamento", "reference_date": "2025-10-09", "version": "1", "page": "29, 46", "url": "https://fnet.bmfbovespa.com.br/fnet/publico/visualizarDocumento?id=1051393", "sha256": "8469d613078ffd5a6c1d217885d8a397a16342c0b937ae4aa24b106505f233ae"}], "reference": {"path": "history/60010416000112.json", "criterion_id": "management_fee", "total_count": 1, "preview_count": 1, "full_text_deferred": true, "sha256": "8e2bd813f4c51cf01f6bfaad164bafe69d2bbb192f753eac92da3a01c2e63046"}}</a:t>
            </a:r>
          </a:p>
          <a:p>
            <a:r>
              <a:t>CNPJ 62696791000193 · Gestão: taxa, base e mínimo · Regulamento · ID 1143317 · 20/03/2026 · versão Regulamento — referência 20/03/2026 · p. 28 · Anexo I, 13.1, Taxa de Gestão · https://fnet.bmfbovespa.com.br/fnet/publico/visualizarDocumento?id=1143317</a:t>
            </a:r>
          </a:p>
          <a:p>
            <a:r>
              <a:t>CNPJ 62696791000193 · Gestão: taxa, base e mínimo · Excerto da fonte:</a:t>
            </a:r>
          </a:p>
          <a:p>
            <a:r>
              <a:t>Taxa de Gestão 0% (zero por cento) ao ano apropriada diariamente na base de 252 (duzentos e cinquenta e dois) Dias Úteis, e paga mensalmente, até o 5º (quinto) Dia Útil do mês subsequente ao mês que se ref ere, incidente sobre o Patrimônio Líquido da Classe (“Taxa de Gestão”). Taxa Máxima de Custódia 0,00% (zero por cento) ao ano, incidente sobre o Patrimônio Líquido da Classe (“Taxa Máxima de Custódia”). Taxa de Performance Não será devido pela Classe o pagamento de Taxa de Perf ormance. 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a:t>
            </a:r>
          </a:p>
          <a:p>
            <a:r>
              <a:t>CNPJ 62696791000193 · Gestão: taxa, base e mínimo · Motivo: Não localizada uma cláusula material para este critério nos textos identificados e processados. A ausência de resultado não comprova inexistência da regra.</a:t>
            </a:r>
          </a:p>
          <a:p>
            <a:r>
              <a:t>CNPJ 62696791000193 · Gestão: taxa, base e mínimo · Versão e prevalência: Leitura específica das cláusulas indicadas; condições e conflitos preservados. Seleção documental atual não comprova vigência jurídica por data isolada.</a:t>
            </a:r>
          </a:p>
          <a:p>
            <a:r>
              <a:t>CNPJ 55563624000109 · Gestão: taxa, base e mínimo · Regulamento · ID 1192614 · 30/04/2026 · versão Regulamento30/04/2026 · p. 29 · AnexoI13.4–13.7.1 · https://fnet.bmfbovespa.com.br/fnet/publico/visualizarDocumento?id=1192614</a:t>
            </a:r>
          </a:p>
          <a:p>
            <a:r>
              <a:t>CNPJ 55563624000109 · Gestão: taxa, base e mínimo · Excerto da fonte:</a:t>
            </a:r>
          </a:p>
          <a:p>
            <a:r>
              <a:t>13.4 Sem prejuízo da Taxa Máxima de Gestão, pelos serviços de gestão, a Classe pagará ao GESTOR: (i) a taxa de gestão ordinária correspondente a 0,50% (cinquenta centésimos por cento) ao ano, incidente sobre o Patrimônio Líquido da Classe, observado o montante mínimo de R$ 40.000,00 (quarenta mil reais) ao mês, corrigido anualmente pela variação positiva do Índice de Preços ao Consumidor Amplo, divulgado pelo Instituto Brasileiro de Geografia e Estatística – IBGE (“Taxa de Gestão”); e (ii) a taxa de gestão extraordinária apurada e paga no momento de cada</a:t>
            </a:r>
          </a:p>
          <a:p>
            <a:r>
              <a:t>CNPJ 55563624000109 · Gestão: taxa, base e mínimo · Condição: Adicional é por integralização, não taxa anual.</a:t>
            </a:r>
          </a:p>
          <a:p>
            <a:r>
              <a:t>CNPJ 55563624000109 · Gestão: taxa, base e mínimo · Versão e prevalência: Leitura específica das cláusulas indicadas; condições e conflitos preservados. Seleção documental atual não comprova vigência jurídica por data isolada.</a:t>
            </a:r>
          </a:p>
          <a:p>
            <a:r>
              <a:t>CNPJ 55563624000109 · Gestão: taxa, base e mínimo · Resumo do histórico: {"count": 3, "dates": ["2025-01-31", "2026-01-31", "2026-04-30"], "document_count": 3, "sources": [{"document_id": "1192614", "title": "Regulamento", "reference_date": "2026-04-30", "version": "1", "page": "29", "url": "https://fnet.bmfbovespa.com.br/fnet/publico/visualizarDocumento?id=1192614", "sha256": "f56e63ace0acde41d2f47fb48f1ac7f3f7df5e2d32de092d7c5e075a52516632"}, {"document_id": "1178840", "title": "Demonstrações Financeiras", "reference_date": "2026-01-31", "version": "1", "page": 29, "url": "https://fnet.bmfbovespa.com.br/fnet/publico/visualizarDocumento?id=1178840", "sha256": "c458e98664c5c907ddb5a05a94b120bed4e05295b2bfc420f5ba69af0a229abe"}, {"document_id": "891861", "title": "Demonstrações Financeiras", "reference_date": "2025-01-31", "version": "1", "page": 30, "url": "https://fnet.bmfbovespa.com.br/fnet/publico/visualizarDocumento?id=891861", "sha256": "e9cb9e6ddbe505fe068cfcac33605165a98313489de0d3ce6d4d238263c3f3e7"}], "reference": {"path": "history/55563624000109.json", "criterion_id": "management_fee", "total_count": 3, "preview_count": 3, "full_text_deferred": true, "sha256": "7835d573fb58a3c19adf5b8ecc2aee2bdbb9a88f7a0c0209b5f262b64c7522e3"}}</a:t>
            </a:r>
          </a:p>
          <a:p>
            <a:r>
              <a:t>CNPJ 62552447000120 · Gestão: taxa, base e mínimo · Motivo: Não localizada uma cláusula material para este critério nos textos identificados e processados. A ausência de resultado não comprova inexistência da regra.</a:t>
            </a:r>
          </a:p>
          <a:p>
            <a:r>
              <a:t>CNPJ 63953620000165 · Gestão: taxa, base e mínimo · Anexo ao Regulamento · ID 1222863 · 02/06/2026 · versão AnexoConsignadoPrivado02/06/2026 · p. 20 · Capítulo13TaxadeGestão · https://fnet.bmfbovespa.com.br/fnet/publico/visualizarDocumento?id=1222863</a:t>
            </a:r>
          </a:p>
          <a:p>
            <a:r>
              <a:t>CNPJ 63953620000165 · Gestão: taxa, base e mínimo · Excerto da fonte:</a:t>
            </a:r>
          </a:p>
          <a:p>
            <a:r>
              <a:t>0,05% (cinco centésimos por cento) ao ano, apropriada diariamente na base de 252 (duzentos e cinquenta e dois) Dias Úteis, e paga mensalmente, até o 5º (quinto) Dia Útil do mês subsequente ao mês que se refere, incidente sobre o Patrimônio Líquido da Classe alocado em Direitos Creditórios Consignado Privado e/ou Ativos de Liquidez MT, observada remuneração mínima mensal de R$ 2.500,00 (dois mil e quinhentos reais), a ser corrigida anualmente, em janeiro de cada ano, pela variação</a:t>
            </a:r>
          </a:p>
          <a:p>
            <a:r>
              <a:t>CNPJ 63953620000165 · Gestão: taxa, base e mínimo · Versão e prevalência: Leitura específica das cláusulas indicadas; condições e conflitos preservados. Seleção documental atual não comprova vigência jurídica por data isolada.</a:t>
            </a:r>
          </a:p>
          <a:p>
            <a:r>
              <a:t>CNPJ 63953620000165 · Gestão: taxa, base e mínimo · Resumo do histórico: {"count": 8, "dates": ["2026-04-28", "2026-05-08", "2026-05-15"], "document_count": 3, "sources": [{"document_id": "1327859", "title": "Demonstrações Financeiras - Fusão, cisão e incorporação", "reference_date": "2026-05-15", "version": "1", "page": 28, "url": "https://fnet.bmfbovespa.com.br/fnet/publico/visualizarDocumento?id=1327859", "sha256": "dca1c68babb97f887528c3e2e47596a9c30f507b067981a35655b2f2da9c8054"}, {"document_id": "1298691", "title": "Demonstrações Financeiras - Fusão, cisão e incorporação", "reference_date": "2026-05-08", "version": "1", "page": 28, "url": "https://fnet.bmfbovespa.com.br/fnet/publico/visualizarDocumento?id=1298691", "sha256": "58c570d9b8d4d265330d3db3ea81c435b8e44a6dab4002aa37790652a1ee9819"}, {"document_id": "1282180", "title": "Demonstrações Financeiras - Fusão, cisão e incorporação", "reference_date": "2026-04-28", "version": "1", "page": 29, "url": "https://fnet.bmfbovespa.com.br/fnet/publico/visualizarDocumento?id=1282180", "sha256": "afaaa0e6809be4385e5bdb6c911aac582032c5bdbac3d7750234bf9eaf00438a"}], "reference": {"path": "history/63953620000165.json", "criterion_id": "management_fee", "total_count": 8, "preview_count": 3, "full_text_deferred": true, "sha256": "a7b89077f5e21098c2d601c303faabc3ff6b9729f89d8afecdc60fe1404720c1"}}</a:t>
            </a:r>
          </a:p>
          <a:p>
            <a:r>
              <a:t>CNPJ 54871427000194 · Performance: benchmark e apuração · Regulamento · ID 670691 · 28/04/2024 · versão Regulamento — referência 28/04/2024 · p. 26 · Anexo I, 13.3 · https://fnet.bmfbovespa.com.br/fnet/publico/visualizarDocumento?id=670691</a:t>
            </a:r>
          </a:p>
          <a:p>
            <a:r>
              <a:t>CNPJ 54871427000194 · Performance: benchmark e apuração · Excerto da fonte:</a:t>
            </a:r>
          </a:p>
          <a:p>
            <a:r>
              <a:t>13.3 Não serão cobradas da Classe ou dos Cotistas taxas de perf ormance, de ingresso ou de saída. Taxa de Gestão 13.4 Pelos serviços de gestão, a Classe pagará a Taxa de Gestão nos seguintes moldes: o valor correspondente a 0,20% (vinte centésimos por cento) ao ano aplicado sobre o Patrimônio Líquido, observado o valor mínimo de R$ 15.000,00 (quinze mil reais) mensais atualizado pela variação positiva do IGP-M a cada período de 12 (doze) meses, contados a partir do mês em que ocorrer a primeira integralização de Cotas (inclusive). 13.4.1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13.4.2 A Taxa de Gestão será calculada e provisionada todo Dia Útil à razão de 1/252 (um inteiro e duzentos e cinquenta e dois avos) com base no valor do Patrimônio Líquido do Dia Útil anterior. 13.4.3 A Taxa de Gestão será paga mensalmente ao GESTOR, observado o disposto no item 13.5</a:t>
            </a:r>
          </a:p>
          <a:p>
            <a:r>
              <a:t>CNPJ 54871427000194 · Performance: benchmark e apuração · Motivo: Não localizada uma cláusula material para este critério nos textos identificados e processados. A ausência de resultado não comprova inexistência da regra.</a:t>
            </a:r>
          </a:p>
          <a:p>
            <a:r>
              <a:t>CNPJ 54871427000194 · Performance: benchmark e apuração · Versão e prevalência: Leitura específica das cláusulas indicadas; condições e conflitos preservados. Seleção documental atual não comprova vigência jurídica por data isolada.</a:t>
            </a:r>
          </a:p>
          <a:p>
            <a:r>
              <a:t>CNPJ 60010416000112 · Performance: benchmark e apuração · Regulamento · ID 1051393 · 09/10/2025 · versão Regulamento09/10/2025 · p. 29 · AnexoI12.2 · https://fnet.bmfbovespa.com.br/fnet/publico/visualizarDocumento?id=1051393</a:t>
            </a:r>
          </a:p>
          <a:p>
            <a:r>
              <a:t>CNPJ 60010416000112 · Performance: benchmark e apuração · Excerto da fonte:</a:t>
            </a:r>
          </a:p>
          <a:p>
            <a:r>
              <a:t>12.2 Não serão cobradas da Classe ou dos Cotistas taxas de perf ormance, de ingresso ou de saída. Taxa Máxima de Custódia 12.3 Pelos serviços de custódia qualificada dos Direitos Creditórios e dos Ativos Financeiros de Liquidez não será devida nenhuma remuneração ao Custodiante, de modo que taxa máxima de custódia a ser paga pela Classe ao Custodiante corresponde a 0% (zero por cento) ao ano. Remuneração do Agente de Retenção/Cobrança 12.4 Para a prestação de serviços à Classe, o Agente de Retenção/Cobrança f ará jus a uma remuneração a ser auf erida todo Dia Útil e paga mensalmente, a título de Encargo da Cla</a:t>
            </a:r>
          </a:p>
          <a:p>
            <a:r>
              <a:t>CNPJ 60010416000112 · Performance: benchmark e apuração · Motivo: Não localizada uma cláusula material para este critério nos textos identificados e processados. A ausência de resultado não comprova inexistência da regra.</a:t>
            </a:r>
          </a:p>
          <a:p>
            <a:r>
              <a:t>CNPJ 60010416000112 · Performance: benchmark e apuração · Versão e prevalência: Leitura específica das cláusulas indicadas; condições e conflitos preservados. Seleção documental atual não comprova vigência jurídica por data isolada.</a:t>
            </a:r>
          </a:p>
          <a:p>
            <a:r>
              <a:t>CNPJ 62696791000193 · Performance: benchmark e apuração · Regulamento · ID 1143317 · 20/03/2026 · versão Regulamento — referência 20/03/2026 · p. 28 · Anexo I, 13.1, Taxa de Performance · https://fnet.bmfbovespa.com.br/fnet/publico/visualizarDocumento?id=1143317</a:t>
            </a:r>
          </a:p>
          <a:p>
            <a:r>
              <a:t>CNPJ 62696791000193 · Performance: benchmark e apuração · Excerto da fonte:</a:t>
            </a:r>
          </a:p>
          <a:p>
            <a:r>
              <a:t>Taxa de Performance Não será devido pela Classe o pagamento de Taxa de Perf ormance. 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equivalente a 0,9% (nove décimos por cento) ao ano aplicado sobre o Patrimônio Anexo I ao Regulamento Líquido, observado o limite máximo de 4,5% (quatro inteiros e cinquenta centésimos por cento) do volume captado na respectiva oferta (“Taxa Máxima de Distribuição”).A Taxa Máxima de BTG Pactual SAC: 0800 772 2827 | Ouvidoria: 0800 722 0048 | btgpactual.co m 23</a:t>
            </a:r>
          </a:p>
          <a:p>
            <a:r>
              <a:t>CNPJ 62696791000193 · Performance: benchmark e apuração · Regulamento · ID 1143317 · 20/03/2026 · versão Regulamento — referência 20/03/2026 · p. 29 · Anexo I, 13.1, Taxa de Ingresso · https://fnet.bmfbovespa.com.br/fnet/publico/visualizarDocumento?id=1143317</a:t>
            </a:r>
          </a:p>
          <a:p>
            <a:r>
              <a:t>CNPJ 62696791000193 · Performance: benchmark e apuração · Excerto da fonte:</a:t>
            </a:r>
          </a:p>
          <a:p>
            <a:r>
              <a:t>Taxa de Ingresso Não será cobrada dos Cotistas Taxa de Ingresso. 14 TRIBUTAÇÃO 14.1 O disposto neste Capítulo f oi elaborado com base na legislação e regulamentação em vigor produzindo ef eitos, tem por objetivo descrever de f orma sumária o tratamento tributário aplicável em regra aos cotistas, ao Fundo e à Classe, não se aplicando aos cotistas sujeitos a regras de tributação específicas, na f orma da legislação e regulamentação em vigor. 14.2 Há exceções (inclusive relativas à natureza ou ao domicílio do investidor para fins fiscais) em relação ao tratamento tributário descrito abaixo e tributos adicionais que podem ser aplicados, motivo pelo qual os cotistas devem consultar seus assessores jurídicos com relação à tributação aplicável nos investimentos realizados na Classe. Tributação da Classe / Operações da carteira: Como regra geral, os rendimentos auferidos pela carteira da Classe não estão sujeitos à incidência do imposto de renda, exceto ganhos auferidos em aplicações financeiras de renda fixa ou variável, que se sujeitam à incidência do Imposto de Renda Retido na Fonte (“IRF”) de acordo com as mesmas regras de tributação aplic</a:t>
            </a:r>
          </a:p>
          <a:p>
            <a:r>
              <a:t>CNPJ 62696791000193 · Performance: benchmark e apuração · Motivo: Não localizada uma cláusula material para este critério nos textos identificados e processados. A ausência de resultado não comprova inexistência da regra.</a:t>
            </a:r>
          </a:p>
          <a:p>
            <a:r>
              <a:t>CNPJ 62696791000193 · Performance: benchmark e apuração · Versão e prevalência: Leitura específica das cláusulas indicadas; condições e conflitos preservados. Seleção documental atual não comprova vigência jurídica por data isolada.</a:t>
            </a:r>
          </a:p>
          <a:p>
            <a:r>
              <a:t>CNPJ 55563624000109 · Performance: benchmark e apuração · Regulamento · ID 1192614 · 30/04/2026 · versão Regulamento30/04/2026 · p. 29 · AnexoI13.10 · https://fnet.bmfbovespa.com.br/fnet/publico/visualizarDocumento?id=1192614</a:t>
            </a:r>
          </a:p>
          <a:p>
            <a:r>
              <a:t>CNPJ 55563624000109 · Performance: benchmark e apuração · Excerto da fonte:</a:t>
            </a:r>
          </a:p>
          <a:p>
            <a:r>
              <a:t>13.10 Não serão cobradas taxas de performance da Classe, e nem taxas de ingresso ou de saída dos Cotistas que integralizarem ou resgatarem suas Cotas. BTG Pactual SAC: 0800 772 28 27 - Ouvidoria: 0800 722 00 48 - btgpactual.com 22</a:t>
            </a:r>
          </a:p>
          <a:p>
            <a:r>
              <a:t>CNPJ 55563624000109 · Performance: benchmark e apuração · Motivo: Não localizada uma cláusula material para este critério nos textos identificados e processados. A ausência de resultado não comprova inexistência da regra.</a:t>
            </a:r>
          </a:p>
          <a:p>
            <a:r>
              <a:t>CNPJ 55563624000109 · Performance: benchmark e apuração · Versão e prevalência: Leitura específica das cláusulas indicadas; condições e conflitos preservados. Seleção documental atual não comprova vigência jurídica por data isolada.</a:t>
            </a:r>
          </a:p>
          <a:p>
            <a:r>
              <a:t>CNPJ 62552447000120 · Performance: benchmark e apuração · Regulamento · ID 1200623 · 21/05/2026 · versão Consolidado21/05/2026 aprovado pelo ato1200625 · p. 30 · AnexoI13.1 TaxadePerformance/Ingresso · https://fnet.bmfbovespa.com.br/fnet/publico/visualizarDocumento?id=1200623</a:t>
            </a:r>
          </a:p>
          <a:p>
            <a:r>
              <a:t>CNPJ 62552447000120 · Performance: benchmark e apuração · Excerto da fonte:</a:t>
            </a:r>
          </a:p>
          <a:p>
            <a:r>
              <a:t>Taxa de Performance Não será devido pela Classe o pagamento de Taxa de Perf ormance. Taxa de Ingresso Não será cobrada dos Cotistas Taxa de Ingresso . CAPÍTULO 14 – CUSTOS REFERENTES À DEFESA DOS INTERESSES DA CLASSE 14.1 Todos os custos e despesas ref eridos neste Capítulo, inclusive para salvaguarda de direitos e prerrogativas da Classe e/ou com a cobrança judicial e/ou extrajudicial de Direitos Creditórios Inadimplidos, serão de inteira responsabilidade da Classe, não est ando o Administrador, o Gestor, o Endossante, os Devedores, o Custodiante e quaisquer de suas respectivas pessoas contr</a:t>
            </a:r>
          </a:p>
          <a:p>
            <a:r>
              <a:t>CNPJ 62552447000120 · Performance: benchmark e apuração · Motivo: Não localizada uma cláusula material para este critério nos textos identificados e processados. A ausência de resultado não comprova inexistência da regra.</a:t>
            </a:r>
          </a:p>
          <a:p>
            <a:r>
              <a:t>CNPJ 62552447000120 · Performance: benchmark e apuração · Versão e prevalência: Leitura específica das cláusulas indicadas; condições e conflitos preservados. Seleção documental atual não comprova vigência jurídica por data isolada.</a:t>
            </a:r>
          </a:p>
          <a:p>
            <a:r>
              <a:t>CNPJ 63953620000165 · Performance: benchmark e apuração · Anexo ao Regulamento · ID 1222863 · 02/06/2026 · versão AnexoConsignadoPrivado02/06/2026 · p. 20 · Capítulo13 · https://fnet.bmfbovespa.com.br/fnet/publico/visualizarDocumento?id=1222863</a:t>
            </a:r>
          </a:p>
          <a:p>
            <a:r>
              <a:t>CNPJ 63953620000165 · Performance: benchmark e apuração · Excerto da fonte:</a:t>
            </a:r>
          </a:p>
          <a:p>
            <a:r>
              <a:t>Taxa de Performance Não será devido pelas Classes o pagamento de Taxa de Performance. 0,00% (zero por cento) ao ano, incidente sobre o Patrimônio Líquido da Classe Taxa Máxima de Custódia (“Taxa Máxima de Custódia”). Taxa Máxima de Distribuição Não será cobrada Taxa de Distribuição. Taxa de Ingresso Não será cobrada da Classe ou dos Cotistas taxa de ingresso. CAPÍTULO 14 – CUSTOS REFERENTES À DEFESA DOS INTERESSES DA CLASSE 14.1 Todos os custos e despesas referidos neste Capítulo, inclusive para salvaguarda de direitos e prerrogativas da</a:t>
            </a:r>
          </a:p>
          <a:p>
            <a:r>
              <a:t>CNPJ 63953620000165 · Performance: benchmark e apuração · Motivo: Cláusula primária localizada e citada, mas sua lista/condições extensas não admitem uma síntese literal curta confirmada. O trecho integral permanece nas fontes.</a:t>
            </a:r>
          </a:p>
          <a:p>
            <a:r>
              <a:t>CNPJ 63953620000165 · Performance: benchmark e apuração · Versão e prevalência: Leitura específica das cláusulas indicadas; condições e conflitos preservados. Seleção documental atual não comprova vigência jurídica por data isolada.</a:t>
            </a:r>
          </a:p>
          <a:p>
            <a:r>
              <a:t>CNPJ 54871427000194 · Custódia, escrituração e encargos · Regulamento · ID 670691 · 28/04/2024 · versão Regulamento — referência 28/04/2024 · p. 26 · Anexo I, 13.7–13.8 · https://fnet.bmfbovespa.com.br/fnet/publico/visualizarDocumento?id=670691</a:t>
            </a:r>
          </a:p>
          <a:p>
            <a:r>
              <a:t>CNPJ 54871427000194 · Custódia, escrituração e encargos · Excerto da fonte:</a:t>
            </a:r>
          </a:p>
          <a:p>
            <a:r>
              <a:t>13.7 Pelos serviços de retenção e cobrança, prestada nos termos deste Anexo e do Contrato de Retenção/Cobrança, será devida pela Classe ao Agente de Retenção/Cobrança a remuneração prevista no respectivo Contrato de Retenção/Cobrança. Taxa Máxima de Custódia 13.8 Pelos serviços de custódia qualificada dos Direitos Creditórios e dos Ativos Financeiros de Liquidez não será devida nenhuma remuneração ao CUSTODIANTE, de modo que taxa máxima de custódia a ser paga pela Classe ao CUSTODIANTE corresponde a 0% (zero por cento) ao ano. CAPÍTULO 14 – CUSTOS REFERENTES À DEFESA DOS INTERESSES DA CLASSE 14.1 Caso a Classe não possua recursos disponíveis, em moeda corrente nacional, suf icientes para a adoção e manutenção, direta ou indireta, dos procedimentos judiciais e extrajudiciais necessários à cobrança dos Direitos Creditórios e dos Ativos Financeiros de Liquidez de titularidade da Classe e à def esa dos direitos, interesses e prerrogativas da Classe, a maioria dos titulares das Cotas, reunidos em Assembleia Especial de Cotistas, poderá aprovar o aporte de recursos à Classe, por meio da integralização de novas Cotas, a ser realizada por todos os titulares das Cotas para assegurar, se for o caso, a</a:t>
            </a:r>
          </a:p>
          <a:p>
            <a:r>
              <a:t>CNPJ 54871427000194 · Custódia, escrituração e encargos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Custódia, escrituração e encargos · Versão e prevalência: Leitura específica das cláusulas indicadas; condições e conflitos preservados. Seleção documental atual não comprova vigência jurídica por data isolada.</a:t>
            </a:r>
          </a:p>
          <a:p>
            <a:r>
              <a:t>CNPJ 54871427000194 · Custódia, escrituração e encargos · Resumo do histórico: {"count": 1, "dates": ["2024-04-28"], "document_count": 1, "sources": [{"document_id": "670691", "title": "Regulamento", "reference_date": "2024-04-28", "version": "1", "page": "26", "url": "https://fnet.bmfbovespa.com.br/fnet/publico/visualizarDocumento?id=670691", "sha256": "bf16dd7f1a62d5cdbf2e2d54fef81783783f7310fbc99c3a8f00459bdf9d037b"}], "reference": {"path": "history/54871427000194.json", "criterion_id": "custody_fee", "total_count": 1, "preview_count": 1, "full_text_deferred": true, "sha256": "35d7cd99be50c7287c9fb675cf4f2e736002315295a225a9efa79c8d9186d874"}}</a:t>
            </a:r>
          </a:p>
          <a:p>
            <a:r>
              <a:t>CNPJ 60010416000112 · Custódia, escrituração e encargos · Regulamento · ID 1051393 · 09/10/2025 · versão Regulamento09/10/2025 · p. 29 · AnexoI12.3–12.4 · https://fnet.bmfbovespa.com.br/fnet/publico/visualizarDocumento?id=1051393</a:t>
            </a:r>
          </a:p>
          <a:p>
            <a:r>
              <a:t>CNPJ 60010416000112 · Custódia, escrituração e encargos · Excerto da fonte:</a:t>
            </a:r>
          </a:p>
          <a:p>
            <a:r>
              <a:t>12.3 Pelos serviços de custódia qualificada dos Direitos Creditórios e dos Ativos Financeiros de Liquidez não será devida nenhuma remuneração ao Custodiante, de modo que taxa máxima de custódia a ser paga pela Classe ao Custodiante corresponde a 0% (zero por cento) ao ano. Remuneração do Agente de Retenção/Cobrança 12.4 Para a prestação de serviços à Classe, o Agente de Retenção/Cobrança f ará jus a uma remuneração a ser auf erida todo Dia Útil e paga mensalmente, a título de Encargo da Classe, a qual será calculada com base na seguinte f órmula:</a:t>
            </a:r>
          </a:p>
          <a:p>
            <a:r>
              <a:t>CNPJ 60010416000112 · Custódia, escrituração e encargos · Regulamento · ID 1051393 · 09/10/2025 · versão Regulamento09/10/2025 · p. 30 · AnexoI12.4definições,12.5–12.5.1 · https://fnet.bmfbovespa.com.br/fnet/publico/visualizarDocumento?id=1051393</a:t>
            </a:r>
          </a:p>
          <a:p>
            <a:r>
              <a:t>CNPJ 60010416000112 · Custódia, escrituração e encargos · Excerto da fonte:</a:t>
            </a:r>
          </a:p>
          <a:p>
            <a:r>
              <a:t>RAC = Remuneração do Agente de Retenção e Cobrança,tendo como valor 4,00% (quatro por cento) ao ano. 12.5 A remuneração prevista no item 12.4 acima será calculada pelo Administrador e paga diretamente ao Agente de Retenção/Cobrança até o 5º (quinto) Dia Útil do mês subsequente ao da prestação dos serviços, conf orme estabelecido no Contrato de Serviços MT. 12.5.1. Independentemente do acima disposto, na hipótese de venda de qualquer parte dos Direitos Creditórios Elegíveis a terceiros, inclusive no caso de liquidação da Classe, o Agente de Retenção/Cobra</a:t>
            </a:r>
          </a:p>
          <a:p>
            <a:r>
              <a:t>CNPJ 60010416000112 · Custódia, escrituração e encargos · Condição: Fórmula do RAC tem composição base 252 DU/21 dias; não somar a 4% do PL como taxa administrativa.</a:t>
            </a:r>
          </a:p>
          <a:p>
            <a:r>
              <a:t>CNPJ 60010416000112 · Custódia, escrituração e encargos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Custódia, escrituração e encargos · Versão e prevalência: Leitura específica das cláusulas indicadas; condições e conflitos preservados. Seleção documental atual não comprova vigência jurídica por data isolada.</a:t>
            </a:r>
          </a:p>
          <a:p>
            <a:r>
              <a:t>CNPJ 60010416000112 · Custódia, escrituração e encargos · Resumo do histórico: {"count": 1, "dates": ["2025-10-09"], "document_count": 1, "sources": [{"document_id": "1051393", "title": "Regulamento", "reference_date": "2025-10-09", "version": "1", "page": "29-31", "url": "https://fnet.bmfbovespa.com.br/fnet/publico/visualizarDocumento?id=1051393", "sha256": "8469d613078ffd5a6c1d217885d8a397a16342c0b937ae4aa24b106505f233ae"}], "reference": {"path": "history/60010416000112.json", "criterion_id": "custody_fee", "total_count": 1, "preview_count": 1, "full_text_deferred": true, "sha256": "8e2bd813f4c51cf01f6bfaad164bafe69d2bbb192f753eac92da3a01c2e63046"}}</a:t>
            </a:r>
          </a:p>
          <a:p>
            <a:r>
              <a:t>CNPJ 62696791000193 · Custódia, escrituração e encargos · Regulamento · ID 1143317 · 20/03/2026 · versão Regulamento — referência 20/03/2026 · p. 28 · Anexo I, 13.1, Custódia e Distribuição · https://fnet.bmfbovespa.com.br/fnet/publico/visualizarDocumento?id=1143317</a:t>
            </a:r>
          </a:p>
          <a:p>
            <a:r>
              <a:t>CNPJ 62696791000193 · Custódia, escrituração e encargos · Excerto da fonte:</a:t>
            </a:r>
          </a:p>
          <a:p>
            <a:r>
              <a:t>Taxa Máxima de Custódia 0,00% (zero por cento) ao ano, incidente sobre o Patrimônio Líquido da Classe (“Taxa Máxima de Custódia”). Taxa de Performance Não será devido pela Classe o pagamento de Taxa de Perf ormance. 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equivalente a 0,9% (nove décimos por cento) ao ano aplicado sobre o Patrimônio Anexo I ao Regulamento Líquido, observado o limite máximo de 4,5% (quatro inteiros e cinquenta centésimos por cento) do volume captado na respectiva oferta (“Taxa Máxima de Distribuição”).A</a:t>
            </a:r>
          </a:p>
          <a:p>
            <a:r>
              <a:t>CNPJ 62696791000193 · Custódia, escrituração e encargos · Regulamento · ID 1143317 · 20/03/2026 · versão Regulamento — referência 20/03/2026 · p. 29 · Anexo I, 13.1, Distribuição · https://fnet.bmfbovespa.com.br/fnet/publico/visualizarDocumento?id=1143317</a:t>
            </a:r>
          </a:p>
          <a:p>
            <a:r>
              <a:t>CNPJ 62696791000193 · Custódia, escrituração e encargos · Excerto da fonte:</a:t>
            </a:r>
          </a:p>
          <a:p>
            <a:r>
              <a:t>Distribuição será calculada e provisionada todo Dia Útil à razão de 1/252 (um inteiro e duzentos e cinquenta e dois avos) com base no valor do Patrimônio Líquido do Dia Útil anterior. Nos termos da Resolução CVM 160, o coordenador líder poderá destinar parte ou a totalidade da sua remuneração, à vista ou a prazo, aos distribuidores contratados, conforme previsto no contrato de distribuição da oferta e/ou nos termos de adesão ao contrato de distribuição. A Taxa Máxima de Distribuição será paga mensalmente por período vencido, até o 10º (décimo) Dia Útil do mês subsequente à prestação dos serviços, a partir do mês em que ocorrer a primeira integralização de Cotas da Classe Taxa de Ingresso Não será cobrada dos Cotistas Taxa de Ingresso. 14 TRIBUTAÇÃO 14.1 O disposto neste Capítulo f oi elaborado co</a:t>
            </a:r>
          </a:p>
          <a:p>
            <a:r>
              <a:t>CNPJ 62696791000193 · Custódia, escrituração e encargos · Motivo: Não localizada uma cláusula material para este critério nos textos identificados e processados. A ausência de resultado não comprova inexistência da regra.</a:t>
            </a:r>
          </a:p>
          <a:p>
            <a:r>
              <a:t>CNPJ 62696791000193 · Custódia, escrituração e encargos · Versão e prevalência: Leitura específica das cláusulas indicadas; condições e conflitos preservados. Seleção documental atual não comprova vigência jurídica por data isolada.</a:t>
            </a:r>
          </a:p>
          <a:p>
            <a:r>
              <a:t>CNPJ 55563624000109 · Custódia, escrituração e encargos · Regulamento · ID 1192614 · 30/04/2026 · versão Regulamento30/04/2026 · p. 29 · AnexoI13.8–13.9 · https://fnet.bmfbovespa.com.br/fnet/publico/visualizarDocumento?id=1192614</a:t>
            </a:r>
          </a:p>
          <a:p>
            <a:r>
              <a:t>CNPJ 55563624000109 · Custódia, escrituração e encargos · Excerto da fonte:</a:t>
            </a:r>
          </a:p>
          <a:p>
            <a:r>
              <a:t>13.8 Pelos serviços de custódia qualificada das Cotas da Classe Investida e dos Ativos Financeiros de Liquidez não será devida nenhuma remuneração ao CUSTODIANTE, de modo que taxa de custódia a ser paga pela Classe ao CUSTODIANTE corresponde a 0% (zero por cento) ao ano. Taxas Máxima de Distribuição 13.9 Tendo em vista que não há distribuidores das Cotas que prestem serviços de forma contínua ao Fundo, o presente Regulamento e Anexo Descritivo não preveem uma taxa máxima de distribuição aplicável a todas as emissões, nos termos do Ofício-Circular-Conju</a:t>
            </a:r>
          </a:p>
          <a:p>
            <a:r>
              <a:t>CNPJ 55563624000109 · Custódia, escrituração e encargos · Versão e prevalência: Leitura específica das cláusulas indicadas; condições e conflitos preservados. Seleção documental atual não comprova vigência jurídica por data isolada.</a:t>
            </a:r>
          </a:p>
          <a:p>
            <a:r>
              <a:t>CNPJ 55563624000109 · Custódia, escrituração e encargos · Resumo do histórico: {"count": 1, "dates": ["2026-04-30"], "document_count": 1, "sources": [{"document_id": "1192614", "title": "Regulamento", "reference_date": "2026-04-30", "version": "1", "page": "29", "url": "https://fnet.bmfbovespa.com.br/fnet/publico/visualizarDocumento?id=1192614", "sha256": "f56e63ace0acde41d2f47fb48f1ac7f3f7df5e2d32de092d7c5e075a52516632"}], "reference": {"path": "history/55563624000109.json", "criterion_id": "custody_fee", "total_count": 1, "preview_count": 1, "full_text_deferred": true, "sha256": "7835d573fb58a3c19adf5b8ecc2aee2bdbb9a88f7a0c0209b5f262b64c7522e3"}}</a:t>
            </a:r>
          </a:p>
          <a:p>
            <a:r>
              <a:t>CNPJ 62552447000120 · Custódia, escrituração e encargos · Motivo: Não localizada uma cláusula material para este critério nos textos identificados e processados. A ausência de resultado não comprova inexistência da regra.</a:t>
            </a:r>
          </a:p>
          <a:p>
            <a:r>
              <a:t>CNPJ 63953620000165 · Custódia, escrituração e encargos · Motivo: Não localizada uma cláusula material para este critério nos textos identificados e processados. A ausência de resultado não comprova inexistência da regra.</a:t>
            </a:r>
          </a:p>
          <a:p>
            <a:r>
              <a:t>CNPJ 54871427000194 · Classes e séries de cotas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Classes e séries de cotas · Resumo do histórico: {"count": 1, "dates": ["2024-04-28"], "document_count": 1, "sources": [{"document_id": "670691", "title": "Regulamento", "reference_date": "2024-04-28", "version": "1", "page": "7, 14", "url": "https://fnet.bmfbovespa.com.br/fnet/publico/visualizarDocumento?id=670691", "sha256": "bf16dd7f1a62d5cdbf2e2d54fef81783783f7310fbc99c3a8f00459bdf9d037b"}], "reference": {"path": "history/54871427000194.json", "criterion_id": "quota_classes", "total_count": 1, "preview_count": 1, "full_text_deferred": true, "sha256": "35d7cd99be50c7287c9fb675cf4f2e736002315295a225a9efa79c8d9186d874"}}</a:t>
            </a:r>
          </a:p>
          <a:p>
            <a:r>
              <a:t>CNPJ 60010416000112 · Classes e séries de cotas · Demonstrações Financeiras - Fusão, cisão e incorporação · ID 1298690 · 2026-05-08 · versão 1 · p. 30 · https://fnet.bmfbovespa.com.br/fnet/publico/visualizarDocumento?id=1298690</a:t>
            </a:r>
          </a:p>
          <a:p>
            <a:r>
              <a:t>CNPJ 60010416000112 · Classes e séries de cotas · Excerto da fonte:</a:t>
            </a:r>
          </a:p>
          <a:p>
            <a:r>
              <a:t>Durante o período de investimento, a Administradora poderá deliberar por realizar novas  emissões de cotas subordinadas, sem a necessidade de aprovação em Assembleia Especial  de Cotistas ou alteração do Regulamento, limitadas ao montante máximo de R$ 50.000  (cinquenta milhões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subordinadas emitidas não sejam  superiores aos prazos de vencimento da primeira emissão.</a:t>
            </a:r>
          </a:p>
          <a:p>
            <a:r>
              <a:t>CNPJ 60010416000112 · Classes e séries de cotas · Demonstrações Financeiras - Fusão, cisão e incorporação · ID 1298690 · 2026-05-08 · versão 1 · p. 7 · https://fnet.bmfbovespa.com.br/fnet/publico/visualizarDocumento?id=1298690</a:t>
            </a:r>
          </a:p>
          <a:p>
            <a:r>
              <a:t>CNPJ 60010416000112 · Classes e séries de cotas · Excerto da fonte:</a:t>
            </a:r>
          </a:p>
          <a:p>
            <a:r>
              <a:t>01/12/2025 a  Nota  08/05/2026  Patrimônio líquido no início do período  Total de 493.487,7492 cotas sêniores a R$ 1.136,5211 560.859  Total de 2.329.794,7852 cotas sêniores 2 a R$ 1.141,3012 2.658.998  Total de 954,2302 cotas subordinadas a R$ 150.939,4087 144.031</a:t>
            </a:r>
          </a:p>
          <a:p>
            <a:r>
              <a:t>CNPJ 60010416000112 · Classes e séries de cotas · Demonstrações Financeiras - Fusão, cisão e incorporação · ID 1298690 · 2026-05-08 · versão 1 · p. 7 · https://fnet.bmfbovespa.com.br/fnet/publico/visualizarDocumento?id=1298690</a:t>
            </a:r>
          </a:p>
          <a:p>
            <a:r>
              <a:t>CNPJ 60010416000112 · Classes e séries de cotas · Excerto da fonte:</a:t>
            </a:r>
          </a:p>
          <a:p>
            <a:r>
              <a:t>Patrimônio líquido no final do período  Total de 2.865.592,8479 cotas a R$ 1.285,7151 3.672.765  Total de 493.487,7492 cotas sêniores a R$ 1.230,3042 607.141  Total de 2.362.150,8684 cotas sêniores 2 a R$ 1.236,9918 2.921.961  Total de 954,2302 cotas subordinadas a R$ 150.554,2733 143.663</a:t>
            </a:r>
          </a:p>
          <a:p>
            <a:r>
              <a:t>CNPJ 60010416000112 · Classes e séries de cotas · Condição: Documentos atuais selecionados no inventário por categoria/escopo; a data documental isolada não comprova vigência jurídica.</a:t>
            </a:r>
          </a:p>
          <a:p>
            <a:r>
              <a:t>CNPJ 60010416000112 · Classes e séries de cotas · Versão e prevalência: Documentos atuais selecionados no inventário por categoria/escopo; a data documental isolada não comprova vigência jurídica.</a:t>
            </a:r>
          </a:p>
          <a:p>
            <a:r>
              <a:t>CNPJ 60010416000112 · Classes e séries de cotas · Resumo do histórico: {"count": 9, "dates": ["2025-11-30", "2026-03-18", "2026-04-16"], "document_count": 3, "sources": [{"document_id": "1282181", "title": "Demonstrações Financeiras - Fusão, cisão e incorporação", "reference_date": "2026-04-16", "version": "1", "page": 7, "url": "https://fnet.bmfbovespa.com.br/fnet/publico/visualizarDocumento?id=1282181", "sha256": "b1c6566e43a00bcd00c8a7f30c77b7f86e351bd8e355bbea113f46d1dafda703"}, {"document_id": "1224477", "title": "Demonstrações Financeiras - Fusão, cisão e incorporação", "reference_date": "2026-03-18", "version": "1", "page": 7, "url": "https://fnet.bmfbovespa.com.br/fnet/publico/visualizarDocumento?id=1224477", "sha256": "0751bf0a75bc3b44c2748f5000226665c6ec6698a90c4dc6170b4e6c187759ae"}, {"document_id": "1126154", "title": "Demonstrações Financeiras", "reference_date": "2025-11-30", "version": "1", "page": 7, "url": "https://fnet.bmfbovespa.com.br/fnet/publico/visualizarDocumento?id=1126154", "sha256": "a01e7ccf88c548f12c95cba8526d7efbef6b585c112cd4668eca781c292090b0"}], "reference": {"path": "history/60010416000112.json", "criterion_id": "quota_classes", "total_count": 9, "preview_count": 3, "full_text_deferred": true, "sha256": "8e2bd813f4c51cf01f6bfaad164bafe69d2bbb192f753eac92da3a01c2e63046"}}</a:t>
            </a:r>
          </a:p>
          <a:p>
            <a:r>
              <a:t>CNPJ 62696791000193 · Classes e séries de cotas · Instrumento Particular de Emissão de Cotas · ID 1148821 · 2026-03-27 · versão 1 · p. 1 · 20.000 · https://fnet.bmfbovespa.com.br/fnet/publico/visualizarDocumento?id=1148821</a:t>
            </a:r>
          </a:p>
          <a:p>
            <a:r>
              <a:t>CNPJ 62696791000193 · Classes e séries de cotas · Excerto da fonte:</a:t>
            </a:r>
          </a:p>
          <a:p>
            <a:r>
              <a:t>20.000 (vinte mil) Cotas Subordinadas Júnior, com valor nominal unitário de R$ 1.000,00 (mil reais),  perfazendo o montante total de R$ 20.000.000,00 (vinte milhões de reais), as quais serão objeto de  colocação privada, de acordo com os termos e condições definidos no Apêndice da Subclasse  Subordinada Júnior constante do Anexo I Regulamento e descritas abaixo (“2ª Emissão da Subclasse  Subordinada Júnior”):</a:t>
            </a:r>
          </a:p>
          <a:p>
            <a:r>
              <a:t>CNPJ 62696791000193 · Classes e séries de cotas · Instrumento Particular de Emissão de Cotas · ID 1148821 · 2026-03-27 · versão 1 · p. 2 · https://fnet.bmfbovespa.com.br/fnet/publico/visualizarDocumento?id=1148821</a:t>
            </a:r>
          </a:p>
          <a:p>
            <a:r>
              <a:t>CNPJ 62696791000193 · Classes e séries de cotas · Excerto da fonte:</a:t>
            </a:r>
          </a:p>
          <a:p>
            <a:r>
              <a:t>2. Aprovar a 2ª (segunda) emissão da Subclasse Sênior da Classe, composta por até 150.000  (cento e cinquenta mil) Cotas Seniores, com valor nominal unitário de R$ 1.000,00 (mil reais),  perfazendo o montante total de R$ 150.000.000,00 (cento e cinquenta milhões de reais), as quais  serão objeto de colocação privada, de acordo com os termos e condições descritos no Apêndice da  Subclasse Sênior constante do Anexo I Regulamento e descritas abaixo (“2ª Emissão da Subclasse  Sênior”):</a:t>
            </a:r>
          </a:p>
          <a:p>
            <a:r>
              <a:t>CNPJ 62696791000193 · Classes e séries de cotas · Instrumento Particular de Emissão de Cotas · ID 1148821 · 2026-03-27 · versão 1 · p. 2 · https://fnet.bmfbovespa.com.br/fnet/publico/visualizarDocumento?id=1148821</a:t>
            </a:r>
          </a:p>
          <a:p>
            <a:r>
              <a:t>CNPJ 62696791000193 · Classes e séries de cotas · Excerto da fonte:</a:t>
            </a:r>
          </a:p>
          <a:p>
            <a:r>
              <a:t>d) Forma de Integralização: as Cotas Subordinadas Júnior serão integralizadas à vista, junto ao  seu respectivo agente de custódia e/ou da Administradora na qualidade de escriturador das  cotas; e</a:t>
            </a:r>
          </a:p>
          <a:p>
            <a:r>
              <a:t>CNPJ 62696791000193 · Classes e séries de cotas · Condição: Documentos atuais selecionados no inventário por categoria/escopo; a data documental isolada não comprova vigência jurídica.</a:t>
            </a:r>
          </a:p>
          <a:p>
            <a:r>
              <a:t>CNPJ 62696791000193 · Classes e séries de cotas · Versão e prevalência: Documentos atuais selecionados no inventário por categoria/escopo; a data documental isolada não comprova vigência jurídica.</a:t>
            </a:r>
          </a:p>
          <a:p>
            <a:r>
              <a:t>CNPJ 62696791000193 · Classes e séries de cotas · Resumo do histórico: {"count": 2, "dates": ["2026-03-20", "2026-03-27"], "document_count": 2, "sources": [{"document_id": "1148821", "title": "Instrumento Particular de Emissão de Cotas", "reference_date": "2026-03-27", "version": "1", "page": "1-2", "url": "https://fnet.bmfbovespa.com.br/fnet/publico/visualizarDocumento?id=1148821", "sha256": "86900e9dd498403696bfffbd4196443c83ec4d51ff21135e073c1966e1adf4c0"}, {"document_id": "1143317", "title": "Regulamento", "reference_date": "2026-03-20", "version": "1", "page": 16, "clause": "7.2", "url": "https://fnet.bmfbovespa.com.br/fnet/publico/visualizarDocumento?id=1143317", "sha256": "32f62818d51c3ebeaf9ec012d3d7867f15c1aed6d10f0867c157a290df1cea48"}], "reference": {"path": "history/62696791000193.json", "criterion_id": "quota_classes", "total_count": 2, "preview_count": 2, "full_text_deferred": true, "sha256": "0e9ec199848320ec945708123ae0cb6075d76c05d94beed814d582031d353926"}}</a:t>
            </a:r>
          </a:p>
          <a:p>
            <a:r>
              <a:t>CNPJ 55563624000109 · Classes e séries de cotas · Regulamento · ID 1192614 · 2026-04-30 · versão 1 · p. 40 · https://fnet.bmfbovespa.com.br/fnet/publico/visualizarDocumento?id=1192614</a:t>
            </a:r>
          </a:p>
          <a:p>
            <a:r>
              <a:t>CNPJ 55563624000109 · Classes e séries de cotas · Excerto da fonte:</a:t>
            </a:r>
          </a:p>
          <a:p>
            <a:r>
              <a:t>(xxiv) Subordinação de determinadas Cotas da Classe Investida a outras subclasses ou séries de  cotas das Classes Investidas aos quais pertencem. A Classe Investida adquirirá apenas cotas  subordinadas mezaninos da Classe Investida, as quais se subordinam às cotas seniores da Classe  Investida para efeitos de resgate. Os resgates de cotas subordinadas mezanino tipicamente têm sua  realização condicionada ainda à manutenção da razão de garantia e à existência de disponibilidades  da Classe Investida. O ADMINISTRADOR, o GESTOR e o CUSTODIANTE e suas respectivas partes  relacionadas, encontram-se impossibilitados de assegurar que a amortização e o resgate das cotas  subordinadas mezanino da Classe Investida que venham a ser adquiridas pela Classe ocorrerão nas  datas originalmente previstas, sendo que, caso tais amortizações e/ou resgates não ocorram, não será  devido pelo FUNDO ou qualquer pessoa, incluindo o ADMINISTRADOR, o GESTOR e o CUSTODIANTE,  do FUNDO ou da Classe Investida qualquer multa ou penalidade, de qualquer natureza. O não resgate  de cotas subordinadas mezanino da Classe Investida detidas pela Classe poderá impactar  negativamente no fluxo de pagamento de resgate da Classe e/ou no valor patrimonial das Cotas da  Classe.</a:t>
            </a:r>
          </a:p>
          <a:p>
            <a:r>
              <a:t>CNPJ 55563624000109 · Classes e séries de cotas · Regulamento · ID 1192614 · 2026-04-30 · versão 1 · p. 31 · 15.1.1 · https://fnet.bmfbovespa.com.br/fnet/publico/visualizarDocumento?id=1192614</a:t>
            </a:r>
          </a:p>
          <a:p>
            <a:r>
              <a:t>CNPJ 55563624000109 · Classes e séries de cotas · Excerto da fonte:</a:t>
            </a:r>
          </a:p>
          <a:p>
            <a:r>
              <a:t>15.1.1 Riscos de Crédito:</a:t>
            </a:r>
          </a:p>
          <a:p>
            <a:r>
              <a:t> (i) Risco de concentração na Classe Investida. Nos termos do presente Regulamento, a Classe  deverá manter alocado, no mínimo, 67% (sessenta e sete por cento) do Patrimônio Líquido nas Cotas  da Classe Investida. Alterações na condição econômico-financeira e na expectativa de desempenho ou  resultados da Classe Investida poderão, isolada ou cumulativamente, afetar negativamente o  rendimento do investimento nas Cotas, de forma mais severa do que se a Classe adotasse uma  estratégia de investimento de maior diversificação. O risco associado às aplicações de qualquer fundo  de investimento é diretamente proporcional à concentração da sua carteira, sendo que, quanto maior  essa concentração, maior será a sua vulnerabilidade.</a:t>
            </a:r>
          </a:p>
          <a:p>
            <a:r>
              <a:t> (ii) Risco relativo à Classe Investida. Nos termos deste Anexo, a Classe deverá manter alocado, no  mínimo, 67% (sessenta e sete por cento) do Patrimônio Líquido em Cotas da Classe Investida. Os  investimentos realizados pela Classe Investida poderão estar sujeitos a flutuações típicas do mercado,  risco de crédito, risco sistêmico, condições adversas de liquidez e negociação atípica nos mercados de  atuação, bem como outros riscos diversos. Este Anexo não contém a descrição de todas as  características, incluindo os riscos, da Classe Investida.</a:t>
            </a:r>
          </a:p>
          <a:p>
            <a:r>
              <a:t> (iii) Risco Relativo ao Pagamento de Encargos da Classe Investida. Tendo em vista a estrutura da  Classe Investida – que emitiu cotas sêniores, cotas subordinadas mezanino e cotas subordinadas júnior  – em situação ordinária os encargos da Classe Investida são arcados pelas cotas subordinadas júnior,  que se subordinam às cotas subordinadas mezanino e às cotas sêniores para fins de amortização,  resgate e distribuição de rendimentos, não impactando, portanto, as Cotas da Classe Investida. Não  obstante o funcionamento da Classe Investida em situação ordinária, em cenários extraordinários, na  eventualidade do valor das cotas subordinadas júnior ficar reduzido a zero ou a valor negativo, os  encargos da Classe Investida conforme previstos em seu regulamento, inclusive mas não se limitando  as remunerações dos prestadores de serviços essenciais, passarão a ser arcados pelas cotas  subordinadas mezanino (que são as Cotas da Classe Investida), impactando no valor do investimento  da Classe na Classe Investida, e consequentemente, o investimento dos Cotistas na Classe.</a:t>
            </a:r>
          </a:p>
          <a:p>
            <a:r>
              <a:t> (iv) Riscos referentes à carteira da Classe Investida. Na forma do Anexo Normativo II da Resolução  CVM 175, a Classe Investida investe, direta ou indiretamente, no mínimo, 67% (sessenta e sete por  cento) do seu patrimônio em direitos creditórios originados pela Mercado Pago. O investimento em tais  direitos creditórios está sujeito a fatores de risco específicos, conforme detalhados no regulamento da  Classe Investida, incluindo, mas não se limitando a:</a:t>
            </a:r>
          </a:p>
          <a:p>
            <a:r>
              <a:t> (a) Risco de liquidez dos direitos creditórios. O investimento da Classe Investida em direitos  creditórios apresenta peculiaridades em relação às aplicações usuais da maioria dos  fundos de investimento brasileiros, haja vista que não existe, no Brasil, mercado  secundário com liquidez para tais direitos creditórios. Caso a Classe Investida precise  vender os direitos creditórios adquiridos, poderá não haver mercado comprador para  tais créditos, bem como o preço de alienação de tais direitos creditórios poderá refletir  essa falta de liquidez, causando perda ao patrimônio da Classe Investida e,  consequentemente, à Classe.</a:t>
            </a:r>
          </a:p>
          <a:p>
            <a:r>
              <a:t>CNPJ 55563624000109 · Classes e séries de cotas · AGE · ID 1192603 · 2026-04-30 · versão 1 · p. 1 · 4.1 · https://fnet.bmfbovespa.com.br/fnet/publico/visualizarDocumento?id=1192603</a:t>
            </a:r>
          </a:p>
          <a:p>
            <a:r>
              <a:t>CNPJ 55563624000109 · Classes e séries de cotas · Excerto da fonte:</a:t>
            </a:r>
          </a:p>
          <a:p>
            <a:r>
              <a:t>4.1. Aprovar a alteração do Anexo I da Classe Única para a reorganização do passivo de sua subclasse  única em novas subclasses, quais sejam, subclasse A (“Subclasse A”), subclasse B (“Subclasse B”) e  subclasse C (“Subclasse C” e, quando em conjunto com a Subclasse A e a Subclasse B, as “Subclasses”),  considerando que serão mantidas as condições de investimento originalmente pactuadas com os cotistas,  como critérios de aplicação, resgate, amortização e política de investimento da Classe Única, diferindo-  se, exclusivamente, em relação ao prazo de duração cada Subclasse.</a:t>
            </a:r>
          </a:p>
          <a:p>
            <a:r>
              <a:t>CNPJ 55563624000109 · Classes e séries de cotas · Condição: Documentos atuais selecionados no inventário por categoria/escopo; a data documental isolada não comprova vigência jurídica.</a:t>
            </a:r>
          </a:p>
          <a:p>
            <a:r>
              <a:t>CNPJ 55563624000109 · Classes e séries de cotas · Versão e prevalência: Documentos atuais selecionados no inventário por categoria/escopo; a data documental isolada não comprova vigência jurídica.</a:t>
            </a:r>
          </a:p>
          <a:p>
            <a:r>
              <a:t>CNPJ 55563624000109 · Classes e séries de cotas · Resumo do histórico: {"count": 3, "dates": ["2025-01-31", "2026-01-31", "2026-04-30"], "document_count": 3, "sources": [{"document_id": "1192614", "title": "Regulamento", "reference_date": "2026-04-30", "version": "1", "page": "15", "url": "https://fnet.bmfbovespa.com.br/fnet/publico/visualizarDocumento?id=1192614", "sha256": "f56e63ace0acde41d2f47fb48f1ac7f3f7df5e2d32de092d7c5e075a52516632"}, {"document_id": "1178840", "title": "Demonstrações Financeiras", "reference_date": "2026-01-31", "version": "1", "page": 25, "url": "https://fnet.bmfbovespa.com.br/fnet/publico/visualizarDocumento?id=1178840", "sha256": "c458e98664c5c907ddb5a05a94b120bed4e05295b2bfc420f5ba69af0a229abe"}, {"document_id": "891861", "title": "Demonstrações Financeiras", "reference_date": "2025-01-31", "version": "1", "page": 26, "url": "https://fnet.bmfbovespa.com.br/fnet/publico/visualizarDocumento?id=891861", "sha256": "e9cb9e6ddbe505fe068cfcac33605165a98313489de0d3ce6d4d238263c3f3e7"}], "reference": {"path": "history/55563624000109.json", "criterion_id": "quota_classes", "total_count": 3, "preview_count": 3, "full_text_deferred": true, "sha256": "7835d573fb58a3c19adf5b8ecc2aee2bdbb9a88f7a0c0209b5f262b64c7522e3"}}</a:t>
            </a:r>
          </a:p>
          <a:p>
            <a:r>
              <a:t>CNPJ 62552447000120 · Classes e séries de cotas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Classes e séries de cotas · Resumo do histórico: {"count": 1, "dates": ["2025-09-03"], "document_count": 1, "sources": [{"document_id": "988020", "title": "Instrumento Particular de Emissão de Cotas", "reference_date": "2025-09-03", "version": "1", "page": "5", "url": "https://fnet.bmfbovespa.com.br/fnet/publico/visualizarDocumento?id=988020", "sha256": "8ecc8a771bb9713d64e5fc2052c489664cb0433801a9280db68e5187d35bf7a5"}], "reference": {"path": "history/62552447000120.json", "criterion_id": "quota_classes", "total_count": 1, "preview_count": 1, "full_text_deferred": true, "sha256": "d95db8c0613d67ee84118c734588665265ea6b02f86a0318d6a844cbe1d0f82f"}}</a:t>
            </a:r>
          </a:p>
          <a:p>
            <a:r>
              <a:t>CNPJ 63953620000165 · Classes e séries de cotas · AGE · ID 1313935 · 2026-08-31 · versão 1 · p. 1 · 4.1 · https://fnet.bmfbovespa.com.br/fnet/publico/visualizarDocumento?id=1313935</a:t>
            </a:r>
          </a:p>
          <a:p>
            <a:r>
              <a:t>CNPJ 63953620000165 · Classes e séries de cotas · Excerto da fonte:</a:t>
            </a:r>
          </a:p>
          <a:p>
            <a:r>
              <a:t>4.1. Aprovar a realização da incorporação das parcelas cindidas descritas no Anexo I à presente ata (“Parcelas  Cindidas”), com base no fechamento de 28 de agosto de 2026 (“Data Base”), condicionada à aprovação da cisão  da CLASSE ÚNICA DO MT CONSIGNADO PRIVADO I FUNDO DE INVESTIMENTO EM DIREITOS CREDITÓRIOS  RESPONSABILIDADE LIMITADA, inscrita no CNPJ sob o nº 60.010.416/0001-12 (“Classe Cindida”), com a  subsequente incorporação da respectiva Parcela Cindida, emitindo-se cotas seniores da Classe, a serem  atribuídas integralmente aos cotistas da Classe Cindida, no valor da respectiva Parcela Cindida, na Data-Base, de  acordo com o valor das cotas da Classe na mesma data. A partir da Data Base, todos os direitos e obrigações dos  ativos cindidos serão sucedidos à Classe;</a:t>
            </a:r>
          </a:p>
          <a:p>
            <a:r>
              <a:t>CNPJ 63953620000165 · Classes e séries de cotas · Condição: Documentos atuais selecionados no inventário por categoria/escopo; a data documental isolada não comprova vigência jurídica.</a:t>
            </a:r>
          </a:p>
          <a:p>
            <a:r>
              <a:t>CNPJ 63953620000165 · Classes e séries de cotas · Versão e prevalência: Documentos atuais selecionados no inventário por categoria/escopo; a data documental isolada não comprova vigência jurídica.</a:t>
            </a:r>
          </a:p>
          <a:p>
            <a:r>
              <a:t>CNPJ 63953620000165 · Classes e séries de cotas · Resumo do histórico: {"count": 11, "dates": ["2026-07-29", "2026-08-17", "2026-08-21"], "document_count": 3, "sources": [{"document_id": "1309436", "title": "AGE", "reference_date": "2026-08-21", "version": "1", "page": 1, "clause": "4.1", "url": "https://fnet.bmfbovespa.com.br/fnet/publico/visualizarDocumento?id=1309436", "sha256": "f679de1621039dce7c665e3a742f213fd4d5047e12b96163b31ea4ae86f56817"}, {"document_id": "1298232", "title": "AGE", "reference_date": "2026-08-17", "version": "1", "page": 1, "clause": "4.1", "url": "https://fnet.bmfbovespa.com.br/fnet/publico/visualizarDocumento?id=1298232", "sha256": "75322e306547f725e73a2c6687b598e14d628caa84bd46a23508337a606866f6"}, {"document_id": "1277543", "title": "AGE", "reference_date": "2026-07-29", "version": "1", "page": 1, "url": "https://fnet.bmfbovespa.com.br/fnet/publico/visualizarDocumento?id=1277543", "sha256": "c2fb499fd6e25251a221d4e9dbb5d1378fb5efde5a58eee091868faf52d326c0"}], "reference": {"path": "history/63953620000165.json", "criterion_id": "quota_classes", "total_count": 11, "preview_count": 3, "full_text_deferred": true, "sha256": "a7b89077f5e21098c2d601c303faabc3ff6b9729f89d8afecdc60fe1404720c1"}}</a:t>
            </a:r>
          </a:p>
          <a:p>
            <a:r>
              <a:t>CNPJ 54871427000194 · Ofertas e colocação · AGE · ID 1055482 · 2025-12-02 · versão 1 · p. 1 · 4.1 · https://fnet.bmfbovespa.com.br/fnet/publico/visualizarDocumento?id=1055482</a:t>
            </a:r>
          </a:p>
          <a:p>
            <a:r>
              <a:t>CNPJ 54871427000194 · Ofertas e colocação · Excerto da fonte:</a:t>
            </a:r>
          </a:p>
          <a:p>
            <a:r>
              <a:t>4.1. Aprovar a nova emissão de Cotas pela Classe, todas nominativas e escriturais, com preço unitário de emissão  correspondente ao valor das Cotas da Classe em circulação quando na data de aprovação da Nova Emissão,  perfazendo o montante total de emissão de até R$ 650.000.000 (seiscentos e cinquenta milhões de reais), conforme  as características constantes do Regulamento e do Anexo da Classe (“Novas Cotas” e “Nova Emissão”,  respectivamente), e descritas abaixo:</a:t>
            </a:r>
          </a:p>
          <a:p>
            <a:r>
              <a:t>(i) Rito: as Novas Cotas não serão objeto de oferta pública, conforme facultado pelo artigo 8º, inciso IV, da  Resolução CVM nº 160, uma vez que a Classe se enquadra nos requisitos do referido dispositivo;</a:t>
            </a:r>
          </a:p>
          <a:p>
            <a:r>
              <a:t>(ii) Preço de Emissão: o preço unitário de emissão corresponderá ao valor das Cotas da Classe em circulação  quando na data de aprovação da Nova Emissão (“Preço de Emissão”);</a:t>
            </a:r>
          </a:p>
          <a:p>
            <a:r>
              <a:t>(iii) Preço de Integralização: o Preço de Integralização corresponderá ao valor das Cotas da Classe em  circulação quando da transferência dos valores para liquidação financeira (“Preço de Integralização”);</a:t>
            </a:r>
          </a:p>
          <a:p>
            <a:r>
              <a:t>(iv) Forma de Integralização: as Cotas serão integralizadas à vista, em moeda corrente nacional, pelo Preço  de Integralização, junto ao seu respectivo agente de custódia e/ou da Administradora na qualidade de  escriturador das cotas; e</a:t>
            </a:r>
          </a:p>
          <a:p>
            <a:r>
              <a:t>(v) Período de colocação: a subscrição das Cotas, objeto da Nova Emissão, deverão ser realizadas no prazo  máximo de 180 (cento e oitenta) dias, contados da data de efeitos do presente instrumento.</a:t>
            </a:r>
          </a:p>
          <a:p>
            <a:r>
              <a:t>CNPJ 54871427000194 · Ofertas e colocação · Condição: Trechos do documento específico identificado com data mais recente; vigência jurídica não inferida.</a:t>
            </a:r>
          </a:p>
          <a:p>
            <a:r>
              <a:t>CNPJ 54871427000194 · Ofertas e colocação · Versão e prevalência: Trechos do documento específico identificado com data mais recente; vigência jurídica não inferida.</a:t>
            </a:r>
          </a:p>
          <a:p>
            <a:r>
              <a:t>CNPJ 54871427000194 · Ofertas e colocação · Resumo do histórico: {"count": 7, "dates": ["2024-06-13", "2024-12-10"], "document_count": 3, "sources": [{"document_id": "798101", "title": "Anúncio de Encerramento", "reference_date": "2024-12-10", "version": "1", "page": "1-2", "url": "https://fnet.bmfbovespa.com.br/fnet/publico/visualizarDocumento?id=798101", "sha256": "71618c432ad86002484571d66922b873e4fa91ed3543a109134ddee0bd872f20"}, {"document_id": "679614", "title": "Anúncio de Início", "reference_date": "2024-06-13", "version": "1", "page": 1, "url": "https://fnet.bmfbovespa.com.br/fnet/publico/visualizarDocumento?id=679614", "sha256": "aad43ed14bfa0576144a306c466aea031fce0d01d3cb3de6aebd120f11164bfa"}, {"document_id": "683482", "title": "AGE", "reference_date": "2024-06-13", "version": "1", "page": 2, "url": "https://fnet.bmfbovespa.com.br/fnet/publico/visualizarDocumento?id=683482", "sha256": "3afbe254027691929935eaf19ebbb8634fb2ccd8e2fbea2cb2d81a7818f8d648"}], "reference": {"path": "history/54871427000194.json", "criterion_id": "offers", "total_count": 7, "preview_count": 3, "full_text_deferred": true, "sha256": "35d7cd99be50c7287c9fb675cf4f2e736002315295a225a9efa79c8d9186d874"}}</a:t>
            </a:r>
          </a:p>
          <a:p>
            <a:r>
              <a:t>CNPJ 60010416000112 · Ofertas e colocação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Ofertas e colocação · Resumo do histórico: {"count": 1, "dates": ["2025-03-20"], "document_count": 1, "sources": [{"document_id": "993785", "title": "Instrumento Particular de Constituição/Encerramento do Fundo", "reference_date": "2025-03-20", "version": "1", "page": "1-2", "url": "https://fnet.bmfbovespa.com.br/fnet/publico/visualizarDocumento?id=993785", "sha256": "0826e0eae2c51afabf59bbc49fc7647598d03da5ca6de0f9725850a8bd6af457"}], "reference": {"path": "history/60010416000112.json", "criterion_id": "offers", "total_count": 1, "preview_count": 1, "full_text_deferred": true, "sha256": "8e2bd813f4c51cf01f6bfaad164bafe69d2bbb192f753eac92da3a01c2e63046"}}</a:t>
            </a:r>
          </a:p>
          <a:p>
            <a:r>
              <a:t>CNPJ 62696791000193 · Ofertas e colocação · Regulamento · ID 1143317 · 2026-03-20 · versão 1 · p. 39 · 2.6 · https://fnet.bmfbovespa.com.br/fnet/publico/visualizarDocumento?id=1143317</a:t>
            </a:r>
          </a:p>
          <a:p>
            <a:r>
              <a:t>CNPJ 62696791000193 · Ofertas e colocação · Excerto da fonte:</a:t>
            </a:r>
          </a:p>
          <a:p>
            <a:r>
              <a:t>2.6. O valor de mercado das Cotas de emissão da Classe poderá sofrer oscilações frequentes e  significativas, inclusive ao longo do dia. Como consequência, o valor de mercado das cotas de  emissão da Classe poderá não ref letir necessariamente seu valor patrimonial. Não será devida  pela Classe ou por qualquer pessoa, incluindo as instituições responsáveis pela distribuição  das cotas, os demais Cotistas da Classe, o Administrador e as instituições participantes da  of erta, qualquer multa ou penalidade de qualquer natureza, caso ocorra, por qualquer razão,</a:t>
            </a:r>
          </a:p>
          <a:p>
            <a:r>
              <a:t> (i) o alongamento do período de amortização das Cotas; (ii) a liquidação da Classe; ou, ainda,</a:t>
            </a:r>
          </a:p>
          <a:p>
            <a:r>
              <a:t> (iii) caso os Cotistas sof ram qualquer dano ou prejuízo resultante de tais eventos.</a:t>
            </a:r>
          </a:p>
          <a:p>
            <a:r>
              <a:t>3. Risco TributárioOs rendimentos e ganhos líquidos auf eridos pela Classe em aplicações f inanceiras de  renda f ixa ou de renda variável sujeitam-se à incidência do imposto de renda na f onte, observadas as  mesmas normas aplicáveis às pessoas jurídicas, podendo esse imposto ser compensado com o retido na  f onte pela Classe quando da distribuição de rendimentos e ganhos de capital aos Cotistas. Os rendimentos  auf eridos pela Classe, quando distribuídos aos Cotistas sujeitam-se à incidência do Imposto de Renda na  f onte à alíquota de 20% (vinte por cento). Os rendimentos e ganhos de capital auferidos pelos Cotistas na</a:t>
            </a:r>
          </a:p>
          <a:p>
            <a:r>
              <a:t>CNPJ 62696791000193 · Ofertas e colocação · Regulamento · ID 1143317 · 2026-03-20 · versão 1 · p. 28 · https://fnet.bmfbovespa.com.br/fnet/publico/visualizarDocumento?id=1143317</a:t>
            </a:r>
          </a:p>
          <a:p>
            <a:r>
              <a:t>CNPJ 62696791000193 · Ofertas e colocação · Excerto da fonte:</a:t>
            </a:r>
          </a:p>
          <a:p>
            <a:r>
              <a:t>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equivalente a 0,9% (nove décimos  por cento) ao ano aplicado sobre o Patrimônio Anexo I ao  Regulamento Líquido, observado o limite máximo de 4,5% (quatro  inteiros e cinquenta centésimos por cento) do volume captado na  respectiva oferta (“Taxa Máxima de Distribuição”).A Taxa Máxima de</a:t>
            </a:r>
          </a:p>
          <a:p>
            <a:r>
              <a:t>CNPJ 62696791000193 · Ofertas e colocação · Condição: Documentos atuais selecionados no inventário por categoria/escopo; a data documental isolada não comprova vigência jurídica.</a:t>
            </a:r>
          </a:p>
          <a:p>
            <a:r>
              <a:t>CNPJ 62696791000193 · Ofertas e colocação · Versão e prevalência: Documentos atuais selecionados no inventário por categoria/escopo; a data documental isolada não comprova vigência jurídica.</a:t>
            </a:r>
          </a:p>
          <a:p>
            <a:r>
              <a:t>CNPJ 62696791000193 · Ofertas e colocação · Resumo do histórico: {"count": 1, "dates": ["2026-03-27"], "document_count": 1, "sources": [{"document_id": "1148821", "title": "Instrumento Particular de Emissão de Cotas", "reference_date": "2026-03-27", "version": "1", "page": "1-3", "url": "https://fnet.bmfbovespa.com.br/fnet/publico/visualizarDocumento?id=1148821", "sha256": "86900e9dd498403696bfffbd4196443c83ec4d51ff21135e073c1966e1adf4c0"}], "reference": {"path": "history/62696791000193.json", "criterion_id": "offers", "total_count": 1, "preview_count": 1, "full_text_deferred": true, "sha256": "0e9ec199848320ec945708123ae0cb6075d76c05d94beed814d582031d353926"}}</a:t>
            </a:r>
          </a:p>
          <a:p>
            <a:r>
              <a:t>CNPJ 55563624000109 · Ofertas e colocação · Regulamento · ID 1192614 · 2026-04-30 · versão 1 · p. 25 · 12.9 · https://fnet.bmfbovespa.com.br/fnet/publico/visualizarDocumento?id=1192614</a:t>
            </a:r>
          </a:p>
          <a:p>
            <a:r>
              <a:t>CNPJ 55563624000109 · Ofertas e colocação · Excerto da fonte:</a:t>
            </a:r>
          </a:p>
          <a:p>
            <a:r>
              <a:t>12.9 Inclui-se entre as obrigações do GESTOR, contratar, em nome da Classe, se necessário, com terceiros  devidamente habilitados e autorizados, os serviços de distribuição das Cotas. A distribuição pública das Cotas  deverá ser realizada por distribuidores devidamente autorizados pela CVM, nos termos da regulamentação  aplicável.</a:t>
            </a:r>
          </a:p>
          <a:p>
            <a:r>
              <a:t>CNPJ 55563624000109 · Ofertas e colocação · Condição: Documentos atuais selecionados no inventário por categoria/escopo; a data documental isolada não comprova vigência jurídica.</a:t>
            </a:r>
          </a:p>
          <a:p>
            <a:r>
              <a:t>CNPJ 55563624000109 · Ofertas e colocação · Versão e prevalência: Documentos atuais selecionados no inventário por categoria/escopo; a data documental isolada não comprova vigência jurídica.</a:t>
            </a:r>
          </a:p>
          <a:p>
            <a:r>
              <a:t>CNPJ 55563624000109 · Ofertas e colocação · Resumo do histórico: {"count": 3, "dates": ["2024-07-03"], "document_count": 3, "sources": [{"document_id": "703295", "title": "Anúncio de Início", "reference_date": "2024-07-03", "version": "2", "page": 1, "url": "https://fnet.bmfbovespa.com.br/fnet/publico/visualizarDocumento?id=703295", "sha256": "12322b6dbf75e673723bd60910373db249451b72666792e18e0c7b6128f4608a"}, {"document_id": "702585", "title": "Anúncio de Início", "reference_date": "2024-07-03", "version": "1", "page": 1, "url": "https://fnet.bmfbovespa.com.br/fnet/publico/visualizarDocumento?id=702585", "sha256": "6708609ac7f0611118fb23ffd6d2cd6c7fd33275130407918ea42831baa712cd"}, {"document_id": "691674", "title": "Instrumento Particular de Emissão de Cotas", "reference_date": "2024-07-03", "version": "1", "page": 3, "url": "https://fnet.bmfbovespa.com.br/fnet/publico/visualizarDocumento?id=691674", "sha256": "78bf7b350f1785beae5f43bd209b5ed19e863cb9a2cff01542aac11dd63ca554"}], "reference": {"path": "history/55563624000109.json", "criterion_id": "offers", "total_count": 3, "preview_count": 3, "full_text_deferred": true, "sha256": "7835d573fb58a3c19adf5b8ecc2aee2bdbb9a88f7a0c0209b5f262b64c7522e3"}}</a:t>
            </a:r>
          </a:p>
          <a:p>
            <a:r>
              <a:t>CNPJ 62552447000120 · Ofertas e colocação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Ofertas e colocação · Resumo do histórico: {"count": 1, "dates": ["2025-09-03"], "document_count": 1, "sources": [{"document_id": "988020", "title": "Instrumento Particular de Emissão de Cotas", "reference_date": "2025-09-03", "version": "1", "page": "5-6", "url": "https://fnet.bmfbovespa.com.br/fnet/publico/visualizarDocumento?id=988020", "sha256": "8ecc8a771bb9713d64e5fc2052c489664cb0433801a9280db68e5187d35bf7a5"}], "reference": {"path": "history/62552447000120.json", "criterion_id": "offers", "total_count": 1, "preview_count": 1, "full_text_deferred": true, "sha256": "d95db8c0613d67ee84118c734588665265ea6b02f86a0318d6a844cbe1d0f82f"}}</a:t>
            </a:r>
          </a:p>
          <a:p>
            <a:r>
              <a:t>CNPJ 63953620000165 · Ofertas e colocação · Anexo ao Regulamento · ID 1222863 · 2026-06-02 · versão 1 · p. 10 · 6.9 · https://fnet.bmfbovespa.com.br/fnet/publico/visualizarDocumento?id=1222863</a:t>
            </a:r>
          </a:p>
          <a:p>
            <a:r>
              <a:t>CNPJ 63953620000165 · Ofertas e colocação · Excerto da fonte:</a:t>
            </a:r>
          </a:p>
          <a:p>
            <a:r>
              <a:t>6.9 As Cotas poderão ser objeto de oferta pública a ser realizada nos termos da Resolução CVM 160 (“Oferta”) e/ou  poderão ser colocadas de forma privada (“Colocação Privada”), bem como segundo outros ritos que venham a  ser previstos pela regulamentação. As Cotas deverão ser emitidas e subscritas dentro do prazo e nos termos e  condições da legislação aplicável, do presente Anexo e dos respectivos Boletins de Subscrição e/ou  Compromissos de Investimento.</a:t>
            </a:r>
          </a:p>
          <a:p>
            <a:r>
              <a:t>CNPJ 63953620000165 · Ofertas e colocação · Condição: Documentos atuais selecionados no inventário por categoria/escopo; a data documental isolada não comprova vigência jurídica.</a:t>
            </a:r>
          </a:p>
          <a:p>
            <a:r>
              <a:t>CNPJ 63953620000165 · Ofertas e colocação · Versão e prevalência: Documentos atuais selecionados no inventário por categoria/escopo; a data documental isolada não comprova vigência jurídica.</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Emissões e custos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Remuneração por subclasse e série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Remuneração por subclasse e série · Resumo do histórico: {"count": 1, "dates": ["2024-04-28"], "document_count": 1, "sources": [{"document_id": "670691", "title": "Regulamento", "reference_date": "2024-04-28", "version": "1", "page": "14", "url": "https://fnet.bmfbovespa.com.br/fnet/publico/visualizarDocumento?id=670691", "sha256": "bf16dd7f1a62d5cdbf2e2d54fef81783783f7310fbc99c3a8f00459bdf9d037b"}], "reference": {"path": "history/54871427000194.json", "criterion_id": "remuneration", "total_count": 1, "preview_count": 1, "full_text_deferred": true, "sha256": "35d7cd99be50c7287c9fb675cf4f2e736002315295a225a9efa79c8d9186d874"}}</a:t>
            </a:r>
          </a:p>
          <a:p>
            <a:r>
              <a:t>CNPJ 60010416000112 · Remuneração por subclasse e série · Instrumento Particular de Constituição/Encerramento do Fundo · ID 993785 · 20/03/2025 · versão 1ªemissão20/03/2025 · p. 5 · Suplemento1ªsênior BenchmarkSênior · https://fnet.bmfbovespa.com.br/fnet/publico/visualizarDocumento?id=993785</a:t>
            </a:r>
          </a:p>
          <a:p>
            <a:r>
              <a:t>CNPJ 60010416000112 · Remuneração por subclasse e série · Excerto da fonte:</a:t>
            </a:r>
          </a:p>
          <a:p>
            <a:r>
              <a:t>4,80% (quatro inteiros e oitenta centésimos por cento)calculado por Dia Útil à base de 1/252 (um inteiro e duzentos e cinquenta e dois avos); e (ii) “Benchmark Sênior Adicional”: o parâmetro adicional de rentabilidade a ser buscado pela Classe para remunerar as Cotas Seniores, correspondente 15,00% (quinze por cento) do excesso de spread das Cotas Subordinadas com cap de remuneração total das Cotas Seniores pela variação do CDI acrescido de 6,00% (seis por cento</a:t>
            </a:r>
          </a:p>
          <a:p>
            <a:r>
              <a:t>CNPJ 60010416000112 · Remuneração por subclasse e série · Condição: Termo específico da primeira emissão de 20/03/2025, distinto de taxa deperformance e do suplemento modelo com campos não preenchidos do regulamento.</a:t>
            </a:r>
          </a:p>
          <a:p>
            <a:r>
              <a:t>CNPJ 60010416000112 · Remuneração por subclasse e série · Versão e prevalência: Leitura específica das cláusulas indicadas; condições e conflitos preservados. Seleção documental atual não comprova vigência jurídica por data isolada.</a:t>
            </a:r>
          </a:p>
          <a:p>
            <a:r>
              <a:t>CNPJ 60010416000112 · Remuneração por subclasse e série · Resumo do histórico: {"count": 3, "dates": ["2025-03-20", "2025-05-12"], "document_count": 2, "sources": [{"document_id": "1004656", "title": "AGE", "reference_date": "2025-05-12", "version": "1", "page": 5, "url": "https://fnet.bmfbovespa.com.br/fnet/publico/visualizarDocumento?id=1004656", "sha256": "f6c9c009f6170e2b29f074b98522accec73f0c40efbf11f9ec2c8d3f1402616b"}, {"document_id": "993785", "title": "Instrumento Particular de Constituição/Encerramento do Fundo", "reference_date": "2025-03-20", "version": "1", "page": "4-5", "url": "https://fnet.bmfbovespa.com.br/fnet/publico/visualizarDocumento?id=993785", "sha256": "0826e0eae2c51afabf59bbc49fc7647598d03da5ca6de0f9725850a8bd6af457"}, {"document_id": "993785", "title": "Instrumento Particular de Constituição/Encerramento do Fundo", "reference_date": "2025-03-20", "version": "1", "page": 5, "url": "https://fnet.bmfbovespa.com.br/fnet/publico/visualizarDocumento?id=993785", "sha256": "0826e0eae2c51afabf59bbc49fc7647598d03da5ca6de0f9725850a8bd6af457"}], "reference": {"path": "history/60010416000112.json", "criterion_id": "remuneration", "total_count": 3, "preview_count": 3, "full_text_deferred": true, "sha256": "8e2bd813f4c51cf01f6bfaad164bafe69d2bbb192f753eac92da3a01c2e63046"}}</a:t>
            </a:r>
          </a:p>
          <a:p>
            <a:r>
              <a:t>CNPJ 62696791000193 · Remuneração por subclasse e série · Regulamento · ID 1143317 · 20/03/2026 · versão Regulamento — referência 20/03/2026 · p. 33 · Apêndice Sênior, 1.2 e 1.4 · https://fnet.bmfbovespa.com.br/fnet/publico/visualizarDocumento?id=1143317</a:t>
            </a:r>
          </a:p>
          <a:p>
            <a:r>
              <a:t>CNPJ 62696791000193 · Remuneração por subclasse e série · Excerto da fonte:</a:t>
            </a:r>
          </a:p>
          <a:p>
            <a:r>
              <a:t>1.2. As Cotas Seniores poderão ser divididas em séries com valores e prazos diferenciados para amortização, resgate e remuneração, sendo que cada série terá as mesmas características e conf erirá a seus titulares iguais direitos e obrigações nos termos deste Reg ulamento e do Apêndice ref erente a cada emissão/série de Cotas Seniores. 1.2. Benchmark. A Classe buscará atingir, para as Cotas Seniores, o “Benchmark”, correspondente à 100% (cem por cento) da variação positiva do CDI acrescida de 4,5% (quatro inteiros e cinco décimos por cento) ao ano. 1.3. O Benchmark não representa e nem devem ser considerados uma promessa, garantia ou sugestão de rentabilidade aos Cotistas Seniores, por parte da Classe, do Administrador, do Gestor e/ou do Cedente. 1.4. Independentemente do valor do Patrimônio Líquido da Classe, os Cotistas detentores de Cotas Seniores não f arão jus a uma rentabilidade superior ao Benchmark, o qual representará o limite máximo de remuneração possível para as Cotas Seniores. 2. Emissão, Subscrição e Integralização das Cotas 2.1. A Classe poderá emitir múltiplas Séries de Cotas Seniores, ficando ressalvado, no entanto, que cada nova Série de Cotas Seniores a ser emitida pela Classe</a:t>
            </a:r>
          </a:p>
          <a:p>
            <a:r>
              <a:t>CNPJ 62696791000193 · Remuneração por subclasse e série · Regulamento · ID 1143317 · 20/03/2026 · versão Regulamento — referência 20/03/2026 · p. 34 · Apêndice Sênior, 6.2 · https://fnet.bmfbovespa.com.br/fnet/publico/visualizarDocumento?id=1143317</a:t>
            </a:r>
          </a:p>
          <a:p>
            <a:r>
              <a:t>CNPJ 62696791000193 · Remuneração por subclasse e série · Excerto da fonte:</a:t>
            </a:r>
          </a:p>
          <a:p>
            <a:r>
              <a:t>6.2. Em complemento às Amortizações Programadas de Cotas Seniores, os Cotistas Seniores f arão jus, sempre que o Patrimônio Líquido da Classe assim permita e desde que o Valor Unitário das Cotas Seniores esteja superior ao valor de integralização das Cotas Seniores em circulação, a 50% (cinquenta por cento) de qualquer valor que exceder a Amortização das Cotas Subordinadas, conforme prevista no Apêndice da Subclasse Subordinada, a ser paga na Data de Amortização Programada de Cotas Seniores (“Amortização Extraordinária de Cotas Seniores”). 6.3. Os pagamentos das parcelas de Amortização e/ou de resgate das Cotas Seniores serão ef etuados, em moeda corrente nacional, pelo Valor Unitário das Cotas Seniores no dia do pagamento, calculado na forma descrita neste Apêndice e no Anexo I, por meio de depósito em conta de titularidade dos Cotistas titulares BTG Pactual 2 SAC: 0800 772 28 27 - Ouvidoria: 0800 722 00 48 - btgpactual.com</a:t>
            </a:r>
          </a:p>
          <a:p>
            <a:r>
              <a:t>CNPJ 62696791000193 · Remuneração por subclasse e série · Regulamento · ID 1143317 · 20/03/2026 · versão Regulamento — referência 20/03/2026 · p. 37 · Apêndice Júnior, 4.1–4.2 · https://fnet.bmfbovespa.com.br/fnet/publico/visualizarDocumento?id=1143317</a:t>
            </a:r>
          </a:p>
          <a:p>
            <a:r>
              <a:t>CNPJ 62696791000193 · Remuneração por subclasse e série · Excerto da fonte:</a:t>
            </a:r>
          </a:p>
          <a:p>
            <a:r>
              <a:t>4.1. Caso o Patrimônio Líquido da Classe assim permita, as Cotas Subordinadas f arão jus à amortização semestral, no último Dia Útil dos meses de janeiro e julho de cada ano, de valor equivalente ao excedente do valor de integralização das Cotas Subordinadas em circulação, limitado ao percentual de 100% (cem por cento) da variação positiva do CDI acrescida de 4,50% (quatro inteiros e cinco décimos por cento) ao ano, considerando, para tanto a razão entre (i) o valor de integralização das Cotas Subordinadas Júnior em circulação e (ii) o valor de cada uma das Cotas Subordinadas, a ser paga na Data de Amortização Programada de Cotas Seniores (“Amortização das Cotas Subordinadas”). 4.2. Em complemento às Amortizações das Cotas Subordinadas, os Cotistas Subordinados farão jus, sempre que o Patrimônio Líquido da Classe assim permita e desde que o Valor Unitário das Cotas Subordinadas esteja superior ao valor de integralização das Cotas Subordinadas em circulação, a 50% (cinquenta por cento) de qualquer valor que exceder a Amortização das Cotas Subordinadas, a ser paga na Data de Amortização Programada de Cotas Seniores (“Amortização Extraordinária de Cotas Seniores”). 5. Excesso de Subordinação 5.1. Verif icado excesso de subordinação,</a:t>
            </a:r>
          </a:p>
          <a:p>
            <a:r>
              <a:t>CNPJ 62696791000193 · Remuneração por subclasse e série · Condição: Benchmark é regra de atribuição, condicionado ao PL/resultados, sem garantia de rentabilidade. A subclasse mezanino é autorizada, mas não há apêndice mezanino no PDF consolidado obtido.</a:t>
            </a:r>
          </a:p>
          <a:p>
            <a:r>
              <a:t>CNPJ 62696791000193 · Remuneração por subclasse e série · Versão e prevalência: Leitura específica das cláusulas indicadas; condições e conflitos preservados. Seleção documental atual não comprova vigência jurídica por data isolada.</a:t>
            </a:r>
          </a:p>
          <a:p>
            <a:r>
              <a:t>CNPJ 62696791000193 · Remuneração por subclasse e série · Resumo do histórico: {"count": 1, "dates": ["2026-03-27"], "document_count": 1, "sources": [{"document_id": "1148821", "title": "Instrumento Particular de Emissão de Cotas", "reference_date": "2026-03-27", "version": "1", "page": "1-2", "url": "https://fnet.bmfbovespa.com.br/fnet/publico/visualizarDocumento?id=1148821", "sha256": "86900e9dd498403696bfffbd4196443c83ec4d51ff21135e073c1966e1adf4c0"}], "reference": {"path": "history/62696791000193.json", "criterion_id": "remuneration", "total_count": 1, "preview_count": 1, "full_text_deferred": true, "sha256": "0e9ec199848320ec945708123ae0cb6075d76c05d94beed814d582031d353926"}}</a:t>
            </a:r>
          </a:p>
          <a:p>
            <a:r>
              <a:t>CNPJ 55563624000109 · Remuneração por subclasse e série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Remuneração por subclasse e série · Resumo do histórico: {"count": 1, "dates": ["2026-04-30"], "document_count": 1, "sources": [{"document_id": "1192614", "title": "Regulamento", "reference_date": "2026-04-30", "version": "1", "page": "16-17", "url": "https://fnet.bmfbovespa.com.br/fnet/publico/visualizarDocumento?id=1192614", "sha256": "f56e63ace0acde41d2f47fb48f1ac7f3f7df5e2d32de092d7c5e075a52516632"}], "reference": {"path": "history/55563624000109.json", "criterion_id": "remuneration", "total_count": 1, "preview_count": 1, "full_text_deferred": true, "sha256": "7835d573fb58a3c19adf5b8ecc2aee2bdbb9a88f7a0c0209b5f262b64c7522e3"}}</a:t>
            </a:r>
          </a:p>
          <a:p>
            <a:r>
              <a:t>CNPJ 62552447000120 · Remuneração por subclasse e série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Remuneração por subclasse e série · Resumo do histórico: {"count": 1, "dates": ["2025-09-03"], "document_count": 1, "sources": [{"document_id": "988020", "title": "Instrumento Particular de Emissão de Cotas", "reference_date": "2025-09-03", "version": "1", "page": "5-6", "url": "https://fnet.bmfbovespa.com.br/fnet/publico/visualizarDocumento?id=988020", "sha256": "8ecc8a771bb9713d64e5fc2052c489664cb0433801a9280db68e5187d35bf7a5"}], "reference": {"path": "history/62552447000120.json", "criterion_id": "remuneration", "total_count": 1, "preview_count": 1, "full_text_deferred": true, "sha256": "d95db8c0613d67ee84118c734588665265ea6b02f86a0318d6a844cbe1d0f82f"}}</a:t>
            </a:r>
          </a:p>
          <a:p>
            <a:r>
              <a:t>CNPJ 63953620000165 · Remuneração por subclasse e série · Anexo ao Regulamento · ID 1222863 · 2026-06-02 · versão 1 · p. 22 · 1.2 · https://fnet.bmfbovespa.com.br/fnet/publico/visualizarDocumento?id=1222863</a:t>
            </a:r>
          </a:p>
          <a:p>
            <a:r>
              <a:t>CNPJ 63953620000165 · Remuneração por subclasse e série · Excerto da fonte:</a:t>
            </a:r>
          </a:p>
          <a:p>
            <a:r>
              <a:t>1.2. Benchmark Sênior. A Classe buscará atingir, para as Cotas Seniores, o Benchmark Sênior, qual seja, (a) para a parcela  do Patrimônio Líquido alocado em Direitos Creditórios Consignado Privado e/ou Ativos de Liquidez MT, a variação  positiva do CDI acrescida de 1,50% (um inteiro e cinco décimos por cento) ao ano, (b) para a parcela do Patrimônio  Líquido alocado em Ativos de Liquidez e/ou Direitos Creditórios TVM, a variação positiva do CDI.</a:t>
            </a:r>
          </a:p>
          <a:p>
            <a:r>
              <a:t>CNPJ 63953620000165 · Remuneração por subclasse e série · Anexo ao Regulamento · ID 1222863 · 2026-06-02 · versão 1 · p. 22 · 1.5 · https://fnet.bmfbovespa.com.br/fnet/publico/visualizarDocumento?id=1222863</a:t>
            </a:r>
          </a:p>
          <a:p>
            <a:r>
              <a:t>CNPJ 63953620000165 · Remuneração por subclasse e série · Excerto da fonte:</a:t>
            </a:r>
          </a:p>
          <a:p>
            <a:r>
              <a:t>1.5. Rentabilidade Adicional Sênior. Adicionalmente ao Benchmark Sênior, as Cotas Seniores efetivamente integralizadas  farão jus a uma rentabilidade adicional equivalente a 0,38% (trinta e oito centésimos por cento) incidente sobre o  montante financeiro integralizado pelo respectivo Cotista das Cotas Seniores (“Rentabilidade Adicional Sênior”), a  ser paga a cada Cotista Sênior, em uma única parcela, em até 40 (quarenta) dias corridos após a integralização das  respectivas Cotas Seniores, sendo automaticamente ajustada em caso de alteração da alíquota ou da forma de  incidência do IOF, e deixando de ser devida na hipótese de sua extinção.</a:t>
            </a:r>
          </a:p>
          <a:p>
            <a:r>
              <a:t> 2. Emissão, Subscrição e Integralização das Cotas</a:t>
            </a:r>
          </a:p>
          <a:p>
            <a:r>
              <a:t>CNPJ 63953620000165 · Remuneração por subclasse e série · Condição: Documentos atuais selecionados no inventário por categoria/escopo; a data documental isolada não comprova vigência jurídica.</a:t>
            </a:r>
          </a:p>
          <a:p>
            <a:r>
              <a:t>CNPJ 63953620000165 · Remuneração por subclasse e série · Versão e prevalência: Documentos atuais selecionados no inventário por categoria/escopo; a data documental isolada não comprova vigência jurídica.</a:t>
            </a:r>
          </a:p>
          <a:p>
            <a:r>
              <a:t>CNPJ 54871427000194 · Volume, VNU e emissão · Anúncio de Encerramento · ID 798101 · 2024-12-10 · versão 1 · p. 1 · https://fnet.bmfbovespa.com.br/fnet/publico/visualizarDocumento?id=798101</a:t>
            </a:r>
          </a:p>
          <a:p>
            <a:r>
              <a:t>CNPJ 54871427000194 · Volume, VNU e emissão · Excerto da fonte:</a:t>
            </a:r>
          </a:p>
          <a:p>
            <a:r>
              <a:t>Informações da Oferta  Valor Bruto da 2ª Quantidade de Cotas  Preço de Emissão da Cota  Emissão emitidas  R$ 55.000.000,00 55.000 R$ 1.000,00</a:t>
            </a:r>
          </a:p>
          <a:p>
            <a:r>
              <a:t>CNPJ 54871427000194 · Volume, VNU e emissão · Condição: Trechos do documento específico identificado com data mais recente; vigência jurídica não inferida.</a:t>
            </a:r>
          </a:p>
          <a:p>
            <a:r>
              <a:t>CNPJ 54871427000194 · Volume, VNU e emissão · Versão e prevalência: Trechos do documento específico identificado com data mais recente; vigência jurídica não inferida.</a:t>
            </a:r>
          </a:p>
          <a:p>
            <a:r>
              <a:t>CNPJ 54871427000194 · Volume, VNU e emissão · Resumo do histórico: {"count": 5, "dates": ["2024-06-11", "2024-06-13", "2024-12-10"], "document_count": 3, "sources": [{"document_id": "798101", "title": "Anúncio de Encerramento", "reference_date": "2024-12-10", "version": "1", "page": "1-2", "url": "https://fnet.bmfbovespa.com.br/fnet/publico/visualizarDocumento?id=798101", "sha256": "71618c432ad86002484571d66922b873e4fa91ed3543a109134ddee0bd872f20"}, {"document_id": "683482", "title": "AGE", "reference_date": "2024-06-13", "version": "1", "page": 1, "clause": "4.1", "url": "https://fnet.bmfbovespa.com.br/fnet/publico/visualizarDocumento?id=683482", "sha256": "3afbe254027691929935eaf19ebbb8634fb2ccd8e2fbea2cb2d81a7818f8d648"}, {"document_id": "677544", "title": "Anúncio de Encerramento", "reference_date": "2024-06-11", "version": "1", "page": 1, "url": "https://fnet.bmfbovespa.com.br/fnet/publico/visualizarDocumento?id=677544", "sha256": "5735adc30829e0e91623167d4fd602de01adb236e3d3e758bddb0a375c7067b1"}], "reference": {"path": "history/54871427000194.json", "criterion_id": "issue_volume", "total_count": 5, "preview_count": 3, "full_text_deferred": true, "sha256": "35d7cd99be50c7287c9fb675cf4f2e736002315295a225a9efa79c8d9186d874"}}</a:t>
            </a:r>
          </a:p>
          <a:p>
            <a:r>
              <a:t>CNPJ 60010416000112 · Volume, VNU e emissão · AGE · ID 1049114 · 2025-11-26 · versão 1 · p. 2 · https://fnet.bmfbovespa.com.br/fnet/publico/visualizarDocumento?id=1049114</a:t>
            </a:r>
          </a:p>
          <a:p>
            <a:r>
              <a:t>CNPJ 60010416000112 · Volume, VNU e emissão · Excerto da fonte:</a:t>
            </a:r>
          </a:p>
          <a:p>
            <a:r>
              <a:t>Este instrumento constitui o suplemento nº 3 (“Suplemento”) referente à 1ª emissão de cotas da Série B  da Subclasse Sênior da CLASSE ÚNICA DO MT CONSIGNADO PRIVADO I FUNDO DE  INVESTIMENTO EM DIREITOS CREDITÓRIOS RESPONSABILIDADE LIMITADA (“Classe” e  “FUNDO”, respectivamente), administrado pela BTG Pactual Serviços Financeiros S.A. Distribuidora  de Títulos e Valores Mobiliários, instituição com sede no Município do Rio de Janeiro, Estado do Rio de  Janeiro, na Praia de Botafogo, nº 501, 5º andar – parte, inscrita no CNPJ sob o nº 59.281.253/0001-23,  autorizada a funcionar pelo Banco Central do Brasil e autorizada pela Comissão de Valores Mobiliários  (“CVM”) para a atividade de administração de carteiras de valores mobiliários, de acordo com o Ato  Declaratório nº 8.695, de 20 de março de 2006 (“ADMINISTRADOR”), emitidas nos termos do regulamento  do FUNDO, do anexo descritivo da Classe do respectivo apêndice, devidamente registrado perante a CVM  (“Regulamento”, “Anexo da Classe”, “Apêndice” e “Cotas Seniores” respectivamente), a qual terá as  seguintes características:</a:t>
            </a:r>
          </a:p>
          <a:p>
            <a:r>
              <a:t> Número de Emissão, Valor São emitidas no âmbito da 1ª emissão da 3ª Série de Cotas Seniores da  Total da Emissão e Forma Classe, de 2,000,000 (dois milhões) de Cotas da 3ª Série da Subclasse  de Distribuição Sênior da Classe, com valor nominal unitário de R$ 1.000,00 (mil reais)  cada, totalizando o montante de R$ 2.000.000.000,00 (dois bilhões de  reais), as quais serão objeto de colocação privada, destinada ao Público-  Alvo (conforme definido no Anexo da Classe) (“Colocação Privada”).</a:t>
            </a:r>
          </a:p>
          <a:p>
            <a:r>
              <a:t> Valor Unitário de Emissão As Cotas Seniores da 3ª Série terão um valor unitário de R$ 1.000,00 (mil  reais) na respectiva Data de Emissão.</a:t>
            </a:r>
          </a:p>
          <a:p>
            <a:r>
              <a:t> Data de Emissão Data da 1ª Integralização.</a:t>
            </a:r>
          </a:p>
          <a:p>
            <a:r>
              <a:t> Valor Unitário de As Cotas Seniores da 3ª Série serão subscritas pelo Valor Unitário de  Integralização Emissão, e serão integralizadas pelo respectivo Valor Unitário, nos  termos do Regulamento, do Apêndice e deste Suplemento, sendo certo  que, nas emissões de novas Cotas Seniores da 3ª Série que não difiram,  em sua respectiva Subclasse, das Cotas Seniores da 3ª Série então em  circulação, o Valor Unitário de Integralização corresponderá ao Valor  Unitário da Cota apurado no Dia Útil em que os recursos aportados pelo  Cotista tornem-se efetivamente disponíveis à Classe.</a:t>
            </a:r>
          </a:p>
          <a:p>
            <a:r>
              <a:t> Investimento Mínimo por Não há  Investidor  Forma de Subscrição e As Cotas Seniores da 3ª Série deverão ser integralizadas, à vista, em  Integralização moeda corrente nacional, pelo Valor Unitário de Integralização, no ato de  subscrição.</a:t>
            </a:r>
          </a:p>
          <a:p>
            <a:r>
              <a:t> Ao subscrever Cotas Seniores da 3ª Série, cada Investidor deverá  assinar o Termo de Adesão, no qual confirmará, dentre outros, ter  conhecimento de todos os termos e condições do Fundo e do</a:t>
            </a:r>
          </a:p>
          <a:p>
            <a:r>
              <a:t>CNPJ 60010416000112 · Volume, VNU e emissão · Condição: Trechos do documento específico identificado com data mais recente; vigência jurídica não inferida.</a:t>
            </a:r>
          </a:p>
          <a:p>
            <a:r>
              <a:t>CNPJ 60010416000112 · Volume, VNU e emissão · Motivo: Cláusula primária localizada e citada, mas sua lista/condições extensas não admitem uma síntese literal curta confirmada. O trecho integral permanece nas fontes. A resposta da revisão anterior foi preservada no histórico, sem confirmação pelo documento atual.</a:t>
            </a:r>
          </a:p>
          <a:p>
            <a:r>
              <a:t>CNPJ 60010416000112 · Volume, VNU e emissão · Versão e prevalência: Trechos do documento específico identificado com data mais recente; vigência jurídica não inferida.</a:t>
            </a:r>
          </a:p>
          <a:p>
            <a:r>
              <a:t>CNPJ 60010416000112 · Volume, VNU e emissão · Resumo do histórico: {"count": 3, "dates": ["2025-03-20", "2025-05-12"], "document_count": 2, "sources": [{"document_id": "1004656", "title": "AGE", "reference_date": "2025-05-12", "version": "1", "page": 4, "url": "https://fnet.bmfbovespa.com.br/fnet/publico/visualizarDocumento?id=1004656", "sha256": "f6c9c009f6170e2b29f074b98522accec73f0c40efbf11f9ec2c8d3f1402616b"}, {"document_id": "993785", "title": "Instrumento Particular de Constituição/Encerramento do Fundo", "reference_date": "2025-03-20", "version": "1", "page": "2", "url": "https://fnet.bmfbovespa.com.br/fnet/publico/visualizarDocumento?id=993785", "sha256": "0826e0eae2c51afabf59bbc49fc7647598d03da5ca6de0f9725850a8bd6af457"}, {"document_id": "993785", "title": "Instrumento Particular de Constituição/Encerramento do Fundo", "reference_date": "2025-03-20", "version": "1", "page": 2, "url": "https://fnet.bmfbovespa.com.br/fnet/publico/visualizarDocumento?id=993785", "sha256": "0826e0eae2c51afabf59bbc49fc7647598d03da5ca6de0f9725850a8bd6af457"}], "reference": {"path": "history/60010416000112.json", "criterion_id": "issue_volume", "total_count": 3, "preview_count": 3, "full_text_deferred": true, "sha256": "8e2bd813f4c51cf01f6bfaad164bafe69d2bbb192f753eac92da3a01c2e63046"}}</a:t>
            </a:r>
          </a:p>
          <a:p>
            <a:r>
              <a:t>CNPJ 62696791000193 · Volume, VNU e emissão · Instrumento Particular de Emissão de Cotas · ID 1148821 · 27/03/2026 · versão Instrumento Particular de Emissão de Cotas — referência 27/03/2026 · p. 1 · Deliberação Conjunta, item1 · https://fnet.bmfbovespa.com.br/fnet/publico/visualizarDocumento?id=1148821</a:t>
            </a:r>
          </a:p>
          <a:p>
            <a:r>
              <a:t>CNPJ 62696791000193 · Volume, VNU e emissão · Excerto da fonte:</a:t>
            </a:r>
          </a:p>
          <a:p>
            <a:r>
              <a:t>1. Aprovar a 2ª (segunda) emissão da Subclasse Subordinada Júnior da Classe, composta por até 20.000 (vinte mil) Cotas Subordinadas Júnior, com valor nominal unitário de R$ 1.000,00 (mil reais), perfazendo o montante total de R$ 20.000.000,00 (vinte milhões de reais), as quais serão objeto de colocação privada, de acordo com os termos e condições definidos no Apêndice da Subclasse Subordinada Júnior constante do Anexo I Regulamento e descritas abaixo (“2ª Emissão da Subclasse Subordinada Júnior”): a) Rito: as Cotas Subordinadas Júnior objeto da 2ª Emissão da Subclasse Subordinada Júnior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Subordinada Júnior na data de integralização, calculado na forma prevista no respectivo Apêndice; BTG Pactual 1 SAC: 0800 772 28 27 - Ouvidoria: 0800 722 00 48 - btgpactual.com</a:t>
            </a:r>
          </a:p>
          <a:p>
            <a:r>
              <a:t>CNPJ 62696791000193 · Volume, VNU e emissão · Instrumento Particular de Emissão de Cotas · ID 1148821 · 27/03/2026 · versão Instrumento Particular de Emissão de Cotas — referência 27/03/2026 · p. 2 · Deliberação Conjunta, item2 · https://fnet.bmfbovespa.com.br/fnet/publico/visualizarDocumento?id=1148821</a:t>
            </a:r>
          </a:p>
          <a:p>
            <a:r>
              <a:t>CNPJ 62696791000193 · Volume, VNU e emissão · Excerto da fonte:</a:t>
            </a:r>
          </a:p>
          <a:p>
            <a:r>
              <a:t>2. Aprovar a 2ª (segunda) emissão da Subclasse Sênior da Classe, composta por até 150.000 (cento e cinquenta mil) Cotas Seniores, com valor nominal unitário de R$ 1.000,00 (mil reais), perfazendo o montante total de R$ 150.000.000,00 (cento e cinquenta milhões de reais), as quais serão objeto de colocação privada, de acordo com os termos e condições descritos no Apêndice da Subclasse Sênior constante do Anexo I Regulamento e descritas abaixo (“2ª Emissão da Subclasse Sênior”): a) Rito: as Cotas Seniores objeto da 2ª Emissão da Subclasse Sênior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Sênior na data de integralização, calculado na forma prevista no respectivo Apêndice; d) Forma de Integralização: as Cotas Seniores serão integralizadas mediante chamadas de capital, junto ao seu respectivo agente de custódia e/ou da Administradora na qualidade de escriturador das cotas, nos termos d</a:t>
            </a:r>
          </a:p>
          <a:p>
            <a:r>
              <a:t>CNPJ 62696791000193 · Volume, VNU e emissão · Condição: Volumes autorizados de emissão não comprovam captação ou integralização observada.</a:t>
            </a:r>
          </a:p>
          <a:p>
            <a:r>
              <a:t>CNPJ 62696791000193 · Volume, VNU e emissão · Versão e prevalência: Leitura específica das cláusulas indicadas; condições e conflitos preservados. Seleção documental atual não comprova vigência jurídica por data isolada.</a:t>
            </a:r>
          </a:p>
          <a:p>
            <a:r>
              <a:t>CNPJ 62696791000193 · Volume, VNU e emissão · Resumo do histórico: {"count": 2, "dates": ["2026-03-20", "2026-03-27"], "document_count": 2, "sources": [{"document_id": "1148821", "title": "Instrumento Particular de Emissão de Cotas", "reference_date": "2026-03-27", "version": "1", "page": "1-2", "url": "https://fnet.bmfbovespa.com.br/fnet/publico/visualizarDocumento?id=1148821", "sha256": "86900e9dd498403696bfffbd4196443c83ec4d51ff21135e073c1966e1adf4c0"}, {"document_id": "1143317", "title": "Regulamento", "reference_date": "2026-03-20", "version": "1", "page": 23, "clause": "11.3", "url": "https://fnet.bmfbovespa.com.br/fnet/publico/visualizarDocumento?id=1143317", "sha256": "32f62818d51c3ebeaf9ec012d3d7867f15c1aed6d10f0867c157a290df1cea48"}], "reference": {"path": "history/62696791000193.json", "criterion_id": "issue_volume", "total_count": 2, "preview_count": 2, "full_text_deferred": true, "sha256": "0e9ec199848320ec945708123ae0cb6075d76c05d94beed814d582031d353926"}}</a:t>
            </a:r>
          </a:p>
          <a:p>
            <a:r>
              <a:t>CNPJ 55563624000109 · Volume, VNU e emissão · Regulamento · ID 1192614 · 2026-04-30 · versão 1 · p. 17 · 5.13.2 · https://fnet.bmfbovespa.com.br/fnet/publico/visualizarDocumento?id=1192614</a:t>
            </a:r>
          </a:p>
          <a:p>
            <a:r>
              <a:t>CNPJ 55563624000109 · Volume, VNU e emissão · Excerto da fonte:</a:t>
            </a:r>
          </a:p>
          <a:p>
            <a:r>
              <a:t>5.13.2 Caso um Cotista do Fundo pretenda transferir suas Cotas para terceiros (“Cotista Vendedor”), deverá  notificar previamente o GESTOR, via e-mail, manifestando sua proposta de alienação de Cotas, a qual  deve incluir o interessado na aquisição e a quantidade de Cotas a serem alienadas e o preço para tal  alienação (“Proposta de Venda”). O GESTOR deverá manifestar aprovação para alienação das Cotas  objeto da Proposta de Venda (“Cotas Objeto”) em até 5 (cinco) Dias Úteis, observado que a ausência de  aprovação deverá ser entendida como aprovação tácita à alienação das Cotas Objeto.</a:t>
            </a:r>
          </a:p>
          <a:p>
            <a:r>
              <a:t>CNPJ 55563624000109 · Volume, VNU e emissão · Regulamento · ID 1192614 · 2026-04-30 · versão 1 · p. 39 · https://fnet.bmfbovespa.com.br/fnet/publico/visualizarDocumento?id=1192614</a:t>
            </a:r>
          </a:p>
          <a:p>
            <a:r>
              <a:t>CNPJ 55563624000109 · Volume, VNU e emissão · Excerto da fonte:</a:t>
            </a:r>
          </a:p>
          <a:p>
            <a:r>
              <a:t>(xxi) Ausência de propriedade direta dos ativos. Os direitos dos Cotistas serão exercidos sobre  todos os ativos da Carteira de modo não individualizado, proporcionalmente à quantidade de Cotas  detidas por cada um. Portanto, os Cotistas não terão qualquer direito de propriedade direta sobre as  Cotas da Classe Investida e os Ativos Financeiros de Liquidez integrantes da Carteira, ou mesmo sobre  os direitos creditórios e os ativos financeiros de liquidez integrantes da carteira da Classe Investida.</a:t>
            </a:r>
          </a:p>
          <a:p>
            <a:r>
              <a:t>CNPJ 55563624000109 · Volume, VNU e emissão · Condição: Documentos atuais selecionados no inventário por categoria/escopo; a data documental isolada não comprova vigência jurídica.</a:t>
            </a:r>
          </a:p>
          <a:p>
            <a:r>
              <a:t>CNPJ 55563624000109 · Volume, VNU e emissão · Versão e prevalência: Documentos atuais selecionados no inventário por categoria/escopo; a data documental isolada não comprova vigência jurídica.</a:t>
            </a:r>
          </a:p>
          <a:p>
            <a:r>
              <a:t>CNPJ 55563624000109 · Volume, VNU e emissão · Resumo do histórico: {"count": 3, "dates": ["2024-12-30", "2025-01-31", "2026-01-31"], "document_count": 3, "sources": [{"document_id": "1178840", "title": "Demonstrações Financeiras", "reference_date": "2026-01-31", "version": "1", "page": 25, "url": "https://fnet.bmfbovespa.com.br/fnet/publico/visualizarDocumento?id=1178840", "sha256": "c458e98664c5c907ddb5a05a94b120bed4e05295b2bfc420f5ba69af0a229abe"}, {"document_id": "891861", "title": "Demonstrações Financeiras", "reference_date": "2025-01-31", "version": "1", "page": 26, "url": "https://fnet.bmfbovespa.com.br/fnet/publico/visualizarDocumento?id=891861", "sha256": "e9cb9e6ddbe505fe068cfcac33605165a98313489de0d3ce6d4d238263c3f3e7"}, {"document_id": "811323", "title": "Anúncio de Encerramento", "reference_date": "2024-12-30", "version": "1", "page": 1, "url": "https://fnet.bmfbovespa.com.br/fnet/publico/visualizarDocumento?id=811323", "sha256": "ebc6bc661be5189acffb3c3e352de2aea0a8ca8431011d1237e1ae19da4f9c79"}], "reference": {"path": "history/55563624000109.json", "criterion_id": "issue_volume", "total_count": 3, "preview_count": 3, "full_text_deferred": true, "sha256": "7835d573fb58a3c19adf5b8ecc2aee2bdbb9a88f7a0c0209b5f262b64c7522e3"}}</a:t>
            </a:r>
          </a:p>
          <a:p>
            <a:r>
              <a:t>CNPJ 62552447000120 · Volume, VNU e emissão · AGE · ID 1315103 · 2026-09-08 · versão 1 · p. 1 · https://fnet.bmfbovespa.com.br/fnet/publico/visualizarDocumento?id=1315103</a:t>
            </a:r>
          </a:p>
          <a:p>
            <a:r>
              <a:t>CNPJ 62552447000120 · Volume, VNU e emissão · Excerto da fonte:</a:t>
            </a:r>
          </a:p>
          <a:p>
            <a:r>
              <a:t>a) Rito: as cotas objeto da Segunda Emissão não estão sujeitas a regulamentação  de oferta de valores mobiliários, conforme facultado pelo Art. 8º, inciso II, da  Resolução CVM nº 160, de 13 de julho de 2022;</a:t>
            </a:r>
          </a:p>
          <a:p>
            <a:r>
              <a:t> b) Preço de Emissão: R$ 1.000,00 (mil reais);</a:t>
            </a:r>
          </a:p>
          <a:p>
            <a:r>
              <a:t> c) Quantidade de Cotas: 10.000 (dez mil) Cotas;</a:t>
            </a:r>
          </a:p>
          <a:p>
            <a:r>
              <a:t> d) Preço de Integralização: será o valor da Cota vigente na data de integralização,  nos termos do respectivo boletim de subscrição;</a:t>
            </a:r>
          </a:p>
          <a:p>
            <a:r>
              <a:t> e) Forma de Integralização: as Cotas serão integralizadas à vista, em moeda  corrente nacional, junto ao seu respectivo agente de custódia e/ou da  Administradora na qualidade de escriturador das cotas;</a:t>
            </a:r>
          </a:p>
          <a:p>
            <a:r>
              <a:t> f) Período de colocação: a subscrição das Cotas, objeto da Segunda Emissão,  deverão ser realizadas no prazo máximo de 180 (cento e oitenta) dias, contados  da data de efeitos do presente instrumento.</a:t>
            </a:r>
          </a:p>
          <a:p>
            <a:r>
              <a:t>CNPJ 62552447000120 · Volume, VNU e emissão · Condição: Trechos do documento específico identificado com data mais recente; vigência jurídica não inferida.</a:t>
            </a:r>
          </a:p>
          <a:p>
            <a:r>
              <a:t>CNPJ 62552447000120 · Volume, VNU e emissão · Versão e prevalência: Trechos do documento específico identificado com data mais recente; vigência jurídica não inferida.</a:t>
            </a:r>
          </a:p>
          <a:p>
            <a:r>
              <a:t>CNPJ 62552447000120 · Volume, VNU e emissão · Resumo do histórico: {"count": 2, "dates": ["2025-09-03"], "document_count": 1, "sources": [{"document_id": "988020", "title": "Instrumento Particular de Emissão de Cotas", "reference_date": "2025-09-03", "version": "1", "page": "5", "url": "https://fnet.bmfbovespa.com.br/fnet/publico/visualizarDocumento?id=988020", "sha256": "8ecc8a771bb9713d64e5fc2052c489664cb0433801a9280db68e5187d35bf7a5"}, {"document_id": "988020", "title": "Instrumento Particular de Emissão de Cotas", "reference_date": "2025-09-03", "version": "1", "page": 2, "url": "https://fnet.bmfbovespa.com.br/fnet/publico/visualizarDocumento?id=988020", "sha256": "8ecc8a771bb9713d64e5fc2052c489664cb0433801a9280db68e5187d35bf7a5"}], "reference": {"path": "history/62552447000120.json", "criterion_id": "issue_volume", "total_count": 2, "preview_count": 2, "full_text_deferred": true, "sha256": "d95db8c0613d67ee84118c734588665265ea6b02f86a0318d6a844cbe1d0f82f"}}</a:t>
            </a:r>
          </a:p>
          <a:p>
            <a:r>
              <a:t>CNPJ 63953620000165 · Volume, VNU e emissão · Demonstrações Financeiras - Fusão, cisão e incorporação · ID 1327859 · 2026-05-15 · versão 1 · p. 31 · 15.000.000 · https://fnet.bmfbovespa.com.br/fnet/publico/visualizarDocumento?id=1327859</a:t>
            </a:r>
          </a:p>
          <a:p>
            <a:r>
              <a:t>CNPJ 63953620000165 · Volume, VNU e emissão · Excerto da fonte:</a:t>
            </a:r>
          </a:p>
          <a:p>
            <a:r>
              <a:t>15.000.000 (quinze bilhões de reais), , a serem objeto de colocação privada, nos termos  do Regulamento, da Resolução CVM 175 e do respectivo boletim de subscrição nos  seguintes termos:</a:t>
            </a:r>
          </a:p>
          <a:p>
            <a:r>
              <a:t> a. Montante Total da Colocação Privada: R$ 15.000.000 (quinze bilhões de  reais)  b. Quantidade de Cotas: 15.000.000 (quinze milhões) de Cotas Seniores;</a:t>
            </a:r>
          </a:p>
          <a:p>
            <a:r>
              <a:t> c. Preço de Emissão (Valor Unitário): R$ 1 (mil reais);</a:t>
            </a:r>
          </a:p>
          <a:p>
            <a:r>
              <a:t> d. Forma e Preço de Integralização: as Cotas serão integralizadas na forma  prevista no Boletim de Subscrição;</a:t>
            </a:r>
          </a:p>
          <a:p>
            <a:r>
              <a:t> e. Prazo da Colocação Privada: as Cotas serão colocadas em até 180 (cento e  oitenta) dias da data deste IPA.</a:t>
            </a:r>
          </a:p>
          <a:p>
            <a:r>
              <a:t>CNPJ 63953620000165 · Volume, VNU e emissão · Demonstrações Financeiras - Fusão, cisão e incorporação · ID 1327859 · 2026-05-15 · versão 1 · p. 31 · https://fnet.bmfbovespa.com.br/fnet/publico/visualizarDocumento?id=1327859</a:t>
            </a:r>
          </a:p>
          <a:p>
            <a:r>
              <a:t>CNPJ 63953620000165 · Volume, VNU e emissão · Excerto da fonte:</a:t>
            </a:r>
          </a:p>
          <a:p>
            <a:r>
              <a:t>Em Instrumento Particular de Alteração do MT Global Fundo de Investimento em Direitos  Creditórios, realizada em 08 de janeiro de 2026, foram deliberadas as seguintes matérias:</a:t>
            </a:r>
          </a:p>
          <a:p>
            <a:r>
              <a:t>(i) Alterar regulamento vigente da classe em relação aos itens 4.17.1, 6.8 e o Capítulo 13,</a:t>
            </a:r>
          </a:p>
          <a:p>
            <a:r>
              <a:t> (b) incluir o item 3.1, 8.1.(ii), 8.2, 8.2.1, e 10.2.(xvii); e (c) excluir os itens 6.8.1, 6.8.2,</a:t>
            </a:r>
          </a:p>
          <a:p>
            <a:r>
              <a:t>(ii) Aprovar a 1ª (primeira) emissão de cotas seniores das Classes (“Cotas Seniores”), em  sistema de vasos comunicantes entre as Classes, de forma que a quantidade de Cotas  Seniores integralizadas em uma das Classes será deduzida da quantidade de Cotas  Seniores disponíveis para integralização nas demais Classes, no montante total de R$</a:t>
            </a:r>
          </a:p>
          <a:p>
            <a:r>
              <a:t>CNPJ 63953620000165 · Volume, VNU e emissão · Demonstrações Financeiras - Fusão, cisão e incorporação · ID 1327859 · 2026-05-15 · versão 1 · p. 32 · https://fnet.bmfbovespa.com.br/fnet/publico/visualizarDocumento?id=1327859</a:t>
            </a:r>
          </a:p>
          <a:p>
            <a:r>
              <a:t>CNPJ 63953620000165 · Volume, VNU e emissão · Excerto da fonte:</a:t>
            </a:r>
          </a:p>
          <a:p>
            <a:r>
              <a:t>f. Montante Total da Colocação Privada: R$ 7.000 (sete milhões de reais);</a:t>
            </a:r>
          </a:p>
          <a:p>
            <a:r>
              <a:t> g. Quantidade de Cotas: 7.000 (sete mil) de Cotas Subordinadas CP  h. Preço de Emissão (Valor Unitário): R$ 1 (mil reais);</a:t>
            </a:r>
          </a:p>
          <a:p>
            <a:r>
              <a:t> i. Forma e Preço de Integralização: as Cotas serão integralizadas na forma  prevista no Boletim de Subscrição;</a:t>
            </a:r>
          </a:p>
          <a:p>
            <a:r>
              <a:t> j. Prazo da Colocação Privada: as Cotas serão colocadas em até 180 (cento e  oitenta) dias da data deste IPA.</a:t>
            </a:r>
          </a:p>
          <a:p>
            <a:r>
              <a:t>CNPJ 63953620000165 · Volume, VNU e emissão · Condição: Trechos do documento específico identificado com data mais recente; vigência jurídica não inferida.</a:t>
            </a:r>
          </a:p>
          <a:p>
            <a:r>
              <a:t>CNPJ 63953620000165 · Volume, VNU e emissão · Versão e prevalência: Trechos do documento específico identificado com data mais recente; vigência jurídica não inferida.</a:t>
            </a:r>
          </a:p>
          <a:p>
            <a:r>
              <a:t>CNPJ 63953620000165 · Volume, VNU e emissão · Resumo do histórico: {"count": 8, "dates": ["2026-04-16", "2026-04-28", "2026-05-08"], "document_count": 3, "sources": [{"document_id": "1298691", "title": "Demonstrações Financeiras - Fusão, cisão e incorporação", "reference_date": "2026-05-08", "version": "1", "page": 32, "url": "https://fnet.bmfbovespa.com.br/fnet/publico/visualizarDocumento?id=1298691", "sha256": "58c570d9b8d4d265330d3db3ea81c435b8e44a6dab4002aa37790652a1ee9819"}, {"document_id": "1282180", "title": "Demonstrações Financeiras - Fusão, cisão e incorporação", "reference_date": "2026-04-28", "version": "1", "page": 32, "clause": "15.000.000", "url": "https://fnet.bmfbovespa.com.br/fnet/publico/visualizarDocumento?id=1282180", "sha256": "afaaa0e6809be4385e5bdb6c911aac582032c5bdbac3d7750234bf9eaf00438a"}, {"document_id": "1282179", "title": "Demonstrações Financeiras - Fusão, cisão e incorporação", "reference_date": "2026-04-16", "version": "1", "page": 32, "clause": "15.000.000", "url": "https://fnet.bmfbovespa.com.br/fnet/publico/visualizarDocumento?id=1282179", "sha256": "beb67afbcd64169019477673fd3b7c1edbfabbd9db07379388d8cdd5d3fc9395"}], "reference": {"path": "history/63953620000165.json", "criterion_id": "issue_volume", "total_count": 8, "preview_count": 3, "full_text_deferred": true, "sha256": "a7b89077f5e21098c2d601c303faabc3ff6b9729f89d8afecdc60fe1404720c1"}}</a:t>
            </a:r>
          </a:p>
          <a:p>
            <a:r>
              <a:t>CNPJ 54871427000194 · Administração: taxa, base e mínimo · Regulamento · ID 670691 · 28/04/2024 · versão Regulamento — referência 28/04/2024 · p. 25 · Anexo I, 13.1 · https://fnet.bmfbovespa.com.br/fnet/publico/visualizarDocumento?id=670691</a:t>
            </a:r>
          </a:p>
          <a:p>
            <a:r>
              <a:t>CNPJ 54871427000194 · Administração: taxa, base e mínimo · Excerto da fonte:</a:t>
            </a:r>
          </a:p>
          <a:p>
            <a:r>
              <a:t>13.1 Pelos serviços de administração, tesouraria, controladoria e escrituração, a Classe pagará a Taxa de Administração nos seguintes moldes: o valor correspondente a 0,10% (dez centésimos por cento) ao ano aplicado sobre o Patrimônio Líquido, observado o valor mínimo de R$ 10.000,00 (dez mil reais) mensais atualizado pela variação positiva do IGP-M a cada período de 12 (doze) meses, contados a partir do mês em que ocorrer a primeira integralização de Cotas (inclusive). 13.1.1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BTG Pactual SAC: 0800 772 28 27 - Ouvidoria: 0800 722 00 48 - btgpactual.com 19</a:t>
            </a:r>
          </a:p>
          <a:p>
            <a:r>
              <a:t>CNPJ 54871427000194 · Administração: taxa, base e mínimo · Regulamento · ID 670691 · 28/04/2024 · versão Regulamento — referência 28/04/2024 · p. 26 · Anexo I, 13.1.2–13.1.3 · https://fnet.bmfbovespa.com.br/fnet/publico/visualizarDocumento?id=670691</a:t>
            </a:r>
          </a:p>
          <a:p>
            <a:r>
              <a:t>CNPJ 54871427000194 · Administração: taxa, base e mínimo · Excerto da fonte:</a:t>
            </a:r>
          </a:p>
          <a:p>
            <a:r>
              <a:t>13.1.2 A Taxa de Administração será calculada e provisionada todo Dia Útil à razão de 1/252 (um inteiro e duzentos e cinquenta e dois avos) com base no valor do Patrimônio Líquido do Dia Útil anterior. 13.1.3 A Taxa de Administração será paga mensalmente ao ADMINISTRADOR, observado o disposto no item 13.2 abaixo, por período vencido, até o 5º (quinto) Dia Útil do mês subsequente à prestação dos serviços, a partir do mês em que ocorrer a primeira integralização de Cotas da Classe. 13.2 O ADMINISTRADOR poderá estabelecer que parcelas da Taxa de Administração sejam pagas diretamente pela Classe aos prestadores de serviços contratados, desde que o somatório dessas parcelas não exceda o montante total da Taxa de Administração. 13.3 Não serão cobradas da Classe ou dos Cotistas taxas de perf ormance, de ingresso ou de saída. Taxa de Gestão 13.4 Pelos serviços de gestão, a Classe pagará a Taxa de Gestão nos seguintes moldes: o valor correspondente a 0,20% (vinte centésimos por cento) ao ano aplicado sobre o Patrimônio Líquido, observado o valor mínimo de R$ 15.000,00 (quinze mil reais) mensais atualizado pela variação positiva do IGP-M a cada período de 12 (</a:t>
            </a:r>
          </a:p>
          <a:p>
            <a:r>
              <a:t>CNPJ 54871427000194 · Administração: taxa, base e mínimo · Versão e prevalência: Leitura específica das cláusulas indicadas; condições e conflitos preservados. Seleção documental atual não comprova vigência jurídica por data isolada.</a:t>
            </a:r>
          </a:p>
          <a:p>
            <a:r>
              <a:t>CNPJ 54871427000194 · Administração: taxa, base e mínimo · Resumo do histórico: {"count": 2, "dates": ["2024-04-19", "2024-04-28"], "document_count": 2, "sources": [{"document_id": "670691", "title": "Regulamento", "reference_date": "2024-04-28", "version": "1", "page": "25-26", "url": "https://fnet.bmfbovespa.com.br/fnet/publico/visualizarDocumento?id=670691", "sha256": "bf16dd7f1a62d5cdbf2e2d54fef81783783f7310fbc99c3a8f00459bdf9d037b"}, {"document_id": "670689", "title": "Regulamento", "reference_date": "2024-04-19", "version": "1", "page": 26, "clause": "13.1", "url": "https://fnet.bmfbovespa.com.br/fnet/publico/visualizarDocumento?id=670689", "sha256": "891bc9bc5d87bbc02ec139077a84d2702eb81ea02035fb71d24f5b8366b94a0b"}], "reference": {"path": "history/54871427000194.json", "criterion_id": "admin_fee", "total_count": 2, "preview_count": 2, "full_text_deferred": true, "sha256": "35d7cd99be50c7287c9fb675cf4f2e736002315295a225a9efa79c8d9186d874"}}</a:t>
            </a:r>
          </a:p>
          <a:p>
            <a:r>
              <a:t>CNPJ 60010416000112 · Administração: taxa, base e mínimo · Regulamento · ID 1051393 · 09/10/2025 · versão Regulamento09/10/2025 · p. 29 · AnexoI12.1–12.1.2 · https://fnet.bmfbovespa.com.br/fnet/publico/visualizarDocumento?id=1051393</a:t>
            </a:r>
          </a:p>
          <a:p>
            <a:r>
              <a:t>CNPJ 60010416000112 · Administração: taxa, base e mínimo · Excerto da fonte:</a:t>
            </a:r>
          </a:p>
          <a:p>
            <a:r>
              <a:t>12.1 Pelos serviços de administração, escrituração, controladoria de ativos e passivo, e gestão de carteira, o Administrador fará jus a uma Taxa de Administração equivalente a 0,40% (quarenta centésimos por cento) por ano sobre o Patrimônio Líquido da Classe, a ser pago mensalmente, por período vencido da data em que ocorrer a primeira integralização de Cotas da Classe A, até o 5º (quinto) Dia Útil do mês subsequente ao da prestação do serviço, assegurado um valor mínimo mensal de R$ 20.000,00 (vinte mil reais), sendo este valor atualizado pela variação positiva do IPCA sempre em janeiro de cada ano,</a:t>
            </a:r>
          </a:p>
          <a:p>
            <a:r>
              <a:t>CNPJ 60010416000112 · Administração: taxa, base e mínimo · Versão e prevalência: Leitura específica das cláusulas indicadas; condições e conflitos preservados. Seleção documental atual não comprova vigência jurídica por data isolada.</a:t>
            </a:r>
          </a:p>
          <a:p>
            <a:r>
              <a:t>CNPJ 60010416000112 · Administração: taxa, base e mínimo · Resumo do histórico: {"count": 2, "dates": ["2025-03-20", "2025-10-09"], "document_count": 2, "sources": [{"document_id": "1051393", "title": "Regulamento", "reference_date": "2025-10-09", "version": "1", "page": "29", "url": "https://fnet.bmfbovespa.com.br/fnet/publico/visualizarDocumento?id=1051393", "sha256": "8469d613078ffd5a6c1d217885d8a397a16342c0b937ae4aa24b106505f233ae"}, {"document_id": "993786", "title": "Regulamento", "reference_date": "2025-03-20", "version": "1", "page": 29, "clause": "12.1", "url": "https://fnet.bmfbovespa.com.br/fnet/publico/visualizarDocumento?id=993786", "sha256": "fd0fdd369a195510d81f81f505195a0b09e5f43522a990afa7d58c4f872921c8"}], "reference": {"path": "history/60010416000112.json", "criterion_id": "admin_fee", "total_count": 2, "preview_count": 2, "full_text_deferred": true, "sha256": "8e2bd813f4c51cf01f6bfaad164bafe69d2bbb192f753eac92da3a01c2e63046"}}</a:t>
            </a:r>
          </a:p>
          <a:p>
            <a:r>
              <a:t>CNPJ 62696791000193 · Administração: taxa, base e mínimo · Regulamento · ID 1143317 · 20/03/2026 · versão Regulamento — referência 20/03/2026 · p. 28 · Anexo I, 13.1, Taxa de Administração · https://fnet.bmfbovespa.com.br/fnet/publico/visualizarDocumento?id=1143317</a:t>
            </a:r>
          </a:p>
          <a:p>
            <a:r>
              <a:t>CNPJ 62696791000193 · Administração: taxa, base e mínimo · Excerto da fonte:</a:t>
            </a:r>
          </a:p>
          <a:p>
            <a:r>
              <a:t>Taxa de Administração 0,10% (um décimo por cento) ao ano com um mínimo mensal de R$ 10.000,00 (dez mil reais), pagos mensalmente até o 5º (quinto) Dia Útil do mês subsequente ao mês que se ref ere, a ser corrigida anualmente, em janeiro de cada ano, pela variação positiva do Índice Geral de Preços – Mercado, divulgado pela Fundação Getúlio Vargas (“Taxa de Administração” e “IGP-M”, respectivamente).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T</a:t>
            </a:r>
          </a:p>
          <a:p>
            <a:r>
              <a:t>CNPJ 62696791000193 · Administração: taxa, base e mínimo · Condição: A linha da tabela não explicita novamente a base de PL para administração; conservar essa limitação em vez de completar a frase por analogia.</a:t>
            </a:r>
          </a:p>
          <a:p>
            <a:r>
              <a:t>CNPJ 62696791000193 · Administração: taxa, base e mínimo · Motivo: Não localizada uma cláusula material para este critério nos textos identificados e processados. A ausência de resultado não comprova inexistência da regra.</a:t>
            </a:r>
          </a:p>
          <a:p>
            <a:r>
              <a:t>CNPJ 62696791000193 · Administração: taxa, base e mínimo · Versão e prevalência: Leitura específica das cláusulas indicadas; condições e conflitos preservados. Seleção documental atual não comprova vigência jurídica por data isolada.</a:t>
            </a:r>
          </a:p>
          <a:p>
            <a:r>
              <a:t>CNPJ 55563624000109 · Administração: taxa, base e mínimo · Regulamento · ID 1192614 · 30/04/2026 · versão Regulamento30/04/2026 · p. 28 · AnexoI13.1–13.2 · https://fnet.bmfbovespa.com.br/fnet/publico/visualizarDocumento?id=1192614</a:t>
            </a:r>
          </a:p>
          <a:p>
            <a:r>
              <a:t>CNPJ 55563624000109 · Administração: taxa, base e mínimo · Excerto da fonte:</a:t>
            </a:r>
          </a:p>
          <a:p>
            <a:r>
              <a:t>13.1 Sem prejuízo da Taxa Máxima de Administração, pelos serviços de administração do FUNDO e da Classe, tesouraria, controle e processamento dos ativos integrantes da Carteira, a Classe pagará, no mínimo, ao ADMINISTRADOR a Taxa Mínima de Administração nos seguintes moldes: o valor correspondente a R$ 10.000,00 (dez mil reais) mensais, atualizado pela variação positiva do IGP-M, no mês de janeiro de cada ano (“Taxa Mínima de Administração”). 13.1.1 Na hipótese de extinção do IGP-M, não divulgação ou impossibilidade de sua utilização, será utilizado o</a:t>
            </a:r>
          </a:p>
          <a:p>
            <a:r>
              <a:t>CNPJ 55563624000109 · Administração: taxa, base e mínimo · Condição: A base do adicional é PL do Mercado Crédito II; não é teto 0, 10% sobre PLGN e não substitui mínimo R$ 10 mil.</a:t>
            </a:r>
          </a:p>
          <a:p>
            <a:r>
              <a:t>CNPJ 55563624000109 · Administração: taxa, base e mínimo · Versão e prevalência: Leitura específica das cláusulas indicadas; condições e conflitos preservados. Seleção documental atual não comprova vigência jurídica por data isolada.</a:t>
            </a:r>
          </a:p>
          <a:p>
            <a:r>
              <a:t>CNPJ 55563624000109 · Administração: taxa, base e mínimo · Resumo do histórico: {"count": 3, "dates": ["2025-01-31", "2026-01-31", "2026-04-30"], "document_count": 3, "sources": [{"document_id": "1192614", "title": "Regulamento", "reference_date": "2026-04-30", "version": "1", "page": "28", "clause": "13.2", "url": "https://fnet.bmfbovespa.com.br/fnet/publico/visualizarDocumento?id=1192614", "sha256": "f56e63ace0acde41d2f47fb48f1ac7f3f7df5e2d32de092d7c5e075a52516632"}, {"document_id": "1178840", "title": "Demonstrações Financeiras", "reference_date": "2026-01-31", "version": "1", "page": 29, "url": "https://fnet.bmfbovespa.com.br/fnet/publico/visualizarDocumento?id=1178840", "sha256": "c458e98664c5c907ddb5a05a94b120bed4e05295b2bfc420f5ba69af0a229abe"}, {"document_id": "891861", "title": "Demonstrações Financeiras", "reference_date": "2025-01-31", "version": "1", "page": 30, "url": "https://fnet.bmfbovespa.com.br/fnet/publico/visualizarDocumento?id=891861", "sha256": "e9cb9e6ddbe505fe068cfcac33605165a98313489de0d3ce6d4d238263c3f3e7"}], "reference": {"path": "history/55563624000109.json", "criterion_id": "admin_fee", "total_count": 3, "preview_count": 3, "full_text_deferred": true, "sha256": "7835d573fb58a3c19adf5b8ecc2aee2bdbb9a88f7a0c0209b5f262b64c7522e3"}}</a:t>
            </a:r>
          </a:p>
          <a:p>
            <a:r>
              <a:t>CNPJ 62552447000120 · Administração: taxa, base e mínimo · Regulamento · ID 1200623 · 21/05/2026 · versão Consolidado21/05/2026 aprovado pelo ato1200625 · p. 30 · AnexoI13.1 TaxaGlobal · https://fnet.bmfbovespa.com.br/fnet/publico/visualizarDocumento?id=1200623</a:t>
            </a:r>
          </a:p>
          <a:p>
            <a:r>
              <a:t>CNPJ 62552447000120 · Administração: taxa, base e mínimo · Excerto da fonte:</a:t>
            </a:r>
          </a:p>
          <a:p>
            <a:r>
              <a:t>Taxa Global Pelos serviços de administração, gestão, custódia, tesouraria, controladoria, escrituração, a Classe pagará um valor equivalente a um percentual incidente sobre o Patrimônio Líquido da Classe, conf orme a f aixa de Patrimônio Líquido da Classe prevista na tabela abaixo, apropriada diariamente e paga mensalmente até o 5º (quinto) Dia Útil do mês subsequente ao mês que se ref ere, com</a:t>
            </a:r>
          </a:p>
          <a:p>
            <a:r>
              <a:t>CNPJ 62552447000120 · Administração: taxa, base e mínimo · Condição: Global remunera administração, gestão, custódia, tesouraria, controladoria e escrituração; percentual segregado não presumido.</a:t>
            </a:r>
          </a:p>
          <a:p>
            <a:r>
              <a:t>CNPJ 62552447000120 · Administração: taxa, base e mínimo · Motivo: Não localizada uma cláusula material para este critério nos textos identificados e processados. A ausência de resultado não comprova inexistência da regra.</a:t>
            </a:r>
          </a:p>
          <a:p>
            <a:r>
              <a:t>CNPJ 62552447000120 · Administração: taxa, base e mínimo · Versão e prevalência: Leitura específica das cláusulas indicadas; condições e conflitos preservados. Seleção documental atual não comprova vigência jurídica por data isolada.</a:t>
            </a:r>
          </a:p>
          <a:p>
            <a:r>
              <a:t>CNPJ 63953620000165 · Administração: taxa, base e mínimo · Anexo ao Regulamento · ID 1222863 · 02/06/2026 · versão AnexoConsignadoPrivado02/06/2026 · p. 19 · Capítulo13TaxadeAdministração · https://fnet.bmfbovespa.com.br/fnet/publico/visualizarDocumento?id=1222863</a:t>
            </a:r>
          </a:p>
          <a:p>
            <a:r>
              <a:t>CNPJ 63953620000165 · Administração: taxa, base e mínimo · Excerto da fonte:</a:t>
            </a:r>
          </a:p>
          <a:p>
            <a:r>
              <a:t>Taxa de Administração positiva do Índice Geral de Preços – Mercado, divulgado pela Fundação Getúlio Vargas (“Taxa de Administração” e “IGP-M”, respectivamente). Na hipótese de extinção do IGP-M, não divulgação ou impossibilidade de sua utilização, será utilizado o Índice Geral de Preços – Disponibilidade Interna, divulgado pela Fundação Getúlio Vargas, ou, na falta de ambos, pela variação do IPC – Índice de Preços ao Consumidor, divulgado pela</a:t>
            </a:r>
          </a:p>
          <a:p>
            <a:r>
              <a:t>CNPJ 63953620000165 · Administração: taxa, base e mínimo · Condição: Base é a parcela MT específica, não necessariamente todo o PL da classe.</a:t>
            </a:r>
          </a:p>
          <a:p>
            <a:r>
              <a:t>CNPJ 63953620000165 · Administração: taxa, base e mínimo · Versão e prevalência: Leitura específica das cláusulas indicadas; condições e conflitos preservados. Seleção documental atual não comprova vigência jurídica por data isolada.</a:t>
            </a:r>
          </a:p>
          <a:p>
            <a:r>
              <a:t>CNPJ 63953620000165 · Administração: taxa, base e mínimo · Resumo do histórico: {"count": 8, "dates": ["2026-04-28", "2026-05-08", "2026-05-15"], "document_count": 3, "sources": [{"document_id": "1327859", "title": "Demonstrações Financeiras - Fusão, cisão e incorporação", "reference_date": "2026-05-15", "version": "1", "page": 28, "url": "https://fnet.bmfbovespa.com.br/fnet/publico/visualizarDocumento?id=1327859", "sha256": "dca1c68babb97f887528c3e2e47596a9c30f507b067981a35655b2f2da9c8054"}, {"document_id": "1298691", "title": "Demonstrações Financeiras - Fusão, cisão e incorporação", "reference_date": "2026-05-08", "version": "1", "page": 28, "url": "https://fnet.bmfbovespa.com.br/fnet/publico/visualizarDocumento?id=1298691", "sha256": "58c570d9b8d4d265330d3db3ea81c435b8e44a6dab4002aa37790652a1ee9819"}, {"document_id": "1282180", "title": "Demonstrações Financeiras - Fusão, cisão e incorporação", "reference_date": "2026-04-28", "version": "1", "page": 29, "url": "https://fnet.bmfbovespa.com.br/fnet/publico/visualizarDocumento?id=1282180", "sha256": "afaaa0e6809be4385e5bdb6c911aac582032c5bdbac3d7750234bf9eaf00438a"}], "reference": {"path": "history/63953620000165.json", "criterion_id": "admin_fee", "total_count": 8, "preview_count": 3, "full_text_deferred": true, "sha256": "a7b89077f5e21098c2d601c303faabc3ff6b9729f89d8afecdc60fe1404720c1"}}</a:t>
            </a:r>
          </a:p>
          <a:p>
            <a:r>
              <a:t>CNPJ 54871427000194 · Gestão: taxa, base e mínimo · Regulamento · ID 670691 · 28/04/2024 · versão Regulamento — referência 28/04/2024 · p. 26 · Anexo I, 13.4–13.4.3 · https://fnet.bmfbovespa.com.br/fnet/publico/visualizarDocumento?id=670691</a:t>
            </a:r>
          </a:p>
          <a:p>
            <a:r>
              <a:t>CNPJ 54871427000194 · Gestão: taxa, base e mínimo · Excerto da fonte:</a:t>
            </a:r>
          </a:p>
          <a:p>
            <a:r>
              <a:t>13.4 Pelos serviços de gestão, a Classe pagará a Taxa de Gestão nos seguintes moldes: o valor correspondente a 0,20% (vinte centésimos por cento) ao ano aplicado sobre o Patrimônio Líquido, observado o valor mínimo de R$ 15.000,00 (quinze mil reais) mensais atualizado pela variação positiva do IGP-M a cada período de 12 (doze) meses, contados a partir do mês em que ocorrer a primeira integralização de Cotas (inclusive). 13.4.1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13.4.2 A Taxa de Gestão será calculada e provisionada todo Dia Útil à razão de 1/252 (um inteiro e duzentos e cinquenta e dois avos) com base no valor do Patrimônio Líquido do Dia Útil anterior. 13.4.3 A Taxa de Gestão será paga mensalmente ao GESTOR, observado o disposto no item 13.5 abaixo, por período vencido, até o 5º (quinto) Dia Útil do mês subsequente à prestação dos ser</a:t>
            </a:r>
          </a:p>
          <a:p>
            <a:r>
              <a:t>CNPJ 54871427000194 · Gestão: taxa, base e mínimo · Versão e prevalência: Leitura específica das cláusulas indicadas; condições e conflitos preservados. Seleção documental atual não comprova vigência jurídica por data isolada.</a:t>
            </a:r>
          </a:p>
          <a:p>
            <a:r>
              <a:t>CNPJ 54871427000194 · Gestão: taxa, base e mínimo · Resumo do histórico: {"count": 2, "dates": ["2024-04-19", "2024-04-28"], "document_count": 2, "sources": [{"document_id": "670691", "title": "Regulamento", "reference_date": "2024-04-28", "version": "1", "page": "26", "url": "https://fnet.bmfbovespa.com.br/fnet/publico/visualizarDocumento?id=670691", "sha256": "bf16dd7f1a62d5cdbf2e2d54fef81783783f7310fbc99c3a8f00459bdf9d037b"}, {"document_id": "670689", "title": "Regulamento", "reference_date": "2024-04-19", "version": "1", "page": 27, "clause": "13.3", "url": "https://fnet.bmfbovespa.com.br/fnet/publico/visualizarDocumento?id=670689", "sha256": "891bc9bc5d87bbc02ec139077a84d2702eb81ea02035fb71d24f5b8366b94a0b"}], "reference": {"path": "history/54871427000194.json", "criterion_id": "management_fee", "total_count": 2, "preview_count": 2, "full_text_deferred": true, "sha256": "35d7cd99be50c7287c9fb675cf4f2e736002315295a225a9efa79c8d9186d874"}}</a:t>
            </a:r>
          </a:p>
          <a:p>
            <a:r>
              <a:t>CNPJ 60010416000112 · Gestão: taxa, base e mínimo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Gestão: taxa, base e mínimo · Resumo do histórico: {"count": 1, "dates": ["2025-10-09"], "document_count": 1, "sources": [{"document_id": "1051393", "title": "Regulamento", "reference_date": "2025-10-09", "version": "1", "page": "29, 46", "url": "https://fnet.bmfbovespa.com.br/fnet/publico/visualizarDocumento?id=1051393", "sha256": "8469d613078ffd5a6c1d217885d8a397a16342c0b937ae4aa24b106505f233ae"}], "reference": {"path": "history/60010416000112.json", "criterion_id": "management_fee", "total_count": 1, "preview_count": 1, "full_text_deferred": true, "sha256": "8e2bd813f4c51cf01f6bfaad164bafe69d2bbb192f753eac92da3a01c2e63046"}}</a:t>
            </a:r>
          </a:p>
          <a:p>
            <a:r>
              <a:t>CNPJ 62696791000193 · Gestão: taxa, base e mínimo · Regulamento · ID 1143317 · 20/03/2026 · versão Regulamento — referência 20/03/2026 · p. 28 · Anexo I, 13.1, Taxa de Gestão · https://fnet.bmfbovespa.com.br/fnet/publico/visualizarDocumento?id=1143317</a:t>
            </a:r>
          </a:p>
          <a:p>
            <a:r>
              <a:t>CNPJ 62696791000193 · Gestão: taxa, base e mínimo · Excerto da fonte:</a:t>
            </a:r>
          </a:p>
          <a:p>
            <a:r>
              <a:t>Taxa de Gestão 0% (zero por cento) ao ano apropriada diariamente na base de 252 (duzentos e cinquenta e dois) Dias Úteis, e paga mensalmente, até o 5º (quinto) Dia Útil do mês subsequente ao mês que se ref ere, incidente sobre o Patrimônio Líquido da Classe (“Taxa de Gestão”). Taxa Máxima de Custódia 0,00% (zero por cento) ao ano, incidente sobre o Patrimônio Líquido da Classe (“Taxa Máxima de Custódia”). Taxa de Performance Não será devido pela Classe o pagamento de Taxa de Perf ormance. 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a:t>
            </a:r>
          </a:p>
          <a:p>
            <a:r>
              <a:t>CNPJ 62696791000193 · Gestão: taxa, base e mínimo · Motivo: Não localizada uma cláusula material para este critério nos textos identificados e processados. A ausência de resultado não comprova inexistência da regra.</a:t>
            </a:r>
          </a:p>
          <a:p>
            <a:r>
              <a:t>CNPJ 62696791000193 · Gestão: taxa, base e mínimo · Versão e prevalência: Leitura específica das cláusulas indicadas; condições e conflitos preservados. Seleção documental atual não comprova vigência jurídica por data isolada.</a:t>
            </a:r>
          </a:p>
          <a:p>
            <a:r>
              <a:t>CNPJ 55563624000109 · Gestão: taxa, base e mínimo · Regulamento · ID 1192614 · 30/04/2026 · versão Regulamento30/04/2026 · p. 29 · AnexoI13.4–13.7.1 · https://fnet.bmfbovespa.com.br/fnet/publico/visualizarDocumento?id=1192614</a:t>
            </a:r>
          </a:p>
          <a:p>
            <a:r>
              <a:t>CNPJ 55563624000109 · Gestão: taxa, base e mínimo · Excerto da fonte:</a:t>
            </a:r>
          </a:p>
          <a:p>
            <a:r>
              <a:t>13.4 Sem prejuízo da Taxa Máxima de Gestão, pelos serviços de gestão, a Classe pagará ao GESTOR: (i) a taxa de gestão ordinária correspondente a 0,50% (cinquenta centésimos por cento) ao ano, incidente sobre o Patrimônio Líquido da Classe, observado o montante mínimo de R$ 40.000,00 (quarenta mil reais) ao mês, corrigido anualmente pela variação positiva do Índice de Preços ao Consumidor Amplo, divulgado pelo Instituto Brasileiro de Geografia e Estatística – IBGE (“Taxa de Gestão”); e (ii) a taxa de gestão extraordinária apurada e paga no momento de cada</a:t>
            </a:r>
          </a:p>
          <a:p>
            <a:r>
              <a:t>CNPJ 55563624000109 · Gestão: taxa, base e mínimo · Condição: Adicional é por integralização, não taxa anual.</a:t>
            </a:r>
          </a:p>
          <a:p>
            <a:r>
              <a:t>CNPJ 55563624000109 · Gestão: taxa, base e mínimo · Versão e prevalência: Leitura específica das cláusulas indicadas; condições e conflitos preservados. Seleção documental atual não comprova vigência jurídica por data isolada.</a:t>
            </a:r>
          </a:p>
          <a:p>
            <a:r>
              <a:t>CNPJ 55563624000109 · Gestão: taxa, base e mínimo · Resumo do histórico: {"count": 3, "dates": ["2025-01-31", "2026-01-31", "2026-04-30"], "document_count": 3, "sources": [{"document_id": "1192614", "title": "Regulamento", "reference_date": "2026-04-30", "version": "1", "page": "29", "url": "https://fnet.bmfbovespa.com.br/fnet/publico/visualizarDocumento?id=1192614", "sha256": "f56e63ace0acde41d2f47fb48f1ac7f3f7df5e2d32de092d7c5e075a52516632"}, {"document_id": "1178840", "title": "Demonstrações Financeiras", "reference_date": "2026-01-31", "version": "1", "page": 29, "url": "https://fnet.bmfbovespa.com.br/fnet/publico/visualizarDocumento?id=1178840", "sha256": "c458e98664c5c907ddb5a05a94b120bed4e05295b2bfc420f5ba69af0a229abe"}, {"document_id": "891861", "title": "Demonstrações Financeiras", "reference_date": "2025-01-31", "version": "1", "page": 30, "url": "https://fnet.bmfbovespa.com.br/fnet/publico/visualizarDocumento?id=891861", "sha256": "e9cb9e6ddbe505fe068cfcac33605165a98313489de0d3ce6d4d238263c3f3e7"}], "reference": {"path": "history/55563624000109.json", "criterion_id": "management_fee", "total_count": 3, "preview_count": 3, "full_text_deferred": true, "sha256": "7835d573fb58a3c19adf5b8ecc2aee2bdbb9a88f7a0c0209b5f262b64c7522e3"}}</a:t>
            </a:r>
          </a:p>
          <a:p>
            <a:r>
              <a:t>CNPJ 62552447000120 · Gestão: taxa, base e mínimo · Motivo: Não localizada uma cláusula material para este critério nos textos identificados e processados. A ausência de resultado não comprova inexistência da regra.</a:t>
            </a:r>
          </a:p>
          <a:p>
            <a:r>
              <a:t>CNPJ 63953620000165 · Gestão: taxa, base e mínimo · Anexo ao Regulamento · ID 1222863 · 02/06/2026 · versão AnexoConsignadoPrivado02/06/2026 · p. 20 · Capítulo13TaxadeGestão · https://fnet.bmfbovespa.com.br/fnet/publico/visualizarDocumento?id=1222863</a:t>
            </a:r>
          </a:p>
          <a:p>
            <a:r>
              <a:t>CNPJ 63953620000165 · Gestão: taxa, base e mínimo · Excerto da fonte:</a:t>
            </a:r>
          </a:p>
          <a:p>
            <a:r>
              <a:t>0,05% (cinco centésimos por cento) ao ano, apropriada diariamente na base de 252 (duzentos e cinquenta e dois) Dias Úteis, e paga mensalmente, até o 5º (quinto) Dia Útil do mês subsequente ao mês que se refere, incidente sobre o Patrimônio Líquido da Classe alocado em Direitos Creditórios Consignado Privado e/ou Ativos de Liquidez MT, observada remuneração mínima mensal de R$ 2.500,00 (dois mil e quinhentos reais), a ser corrigida anualmente, em janeiro de cada ano, pela variação</a:t>
            </a:r>
          </a:p>
          <a:p>
            <a:r>
              <a:t>CNPJ 63953620000165 · Gestão: taxa, base e mínimo · Versão e prevalência: Leitura específica das cláusulas indicadas; condições e conflitos preservados. Seleção documental atual não comprova vigência jurídica por data isolada.</a:t>
            </a:r>
          </a:p>
          <a:p>
            <a:r>
              <a:t>CNPJ 63953620000165 · Gestão: taxa, base e mínimo · Resumo do histórico: {"count": 8, "dates": ["2026-04-28", "2026-05-08", "2026-05-15"], "document_count": 3, "sources": [{"document_id": "1327859", "title": "Demonstrações Financeiras - Fusão, cisão e incorporação", "reference_date": "2026-05-15", "version": "1", "page": 28, "url": "https://fnet.bmfbovespa.com.br/fnet/publico/visualizarDocumento?id=1327859", "sha256": "dca1c68babb97f887528c3e2e47596a9c30f507b067981a35655b2f2da9c8054"}, {"document_id": "1298691", "title": "Demonstrações Financeiras - Fusão, cisão e incorporação", "reference_date": "2026-05-08", "version": "1", "page": 28, "url": "https://fnet.bmfbovespa.com.br/fnet/publico/visualizarDocumento?id=1298691", "sha256": "58c570d9b8d4d265330d3db3ea81c435b8e44a6dab4002aa37790652a1ee9819"}, {"document_id": "1282180", "title": "Demonstrações Financeiras - Fusão, cisão e incorporação", "reference_date": "2026-04-28", "version": "1", "page": 29, "url": "https://fnet.bmfbovespa.com.br/fnet/publico/visualizarDocumento?id=1282180", "sha256": "afaaa0e6809be4385e5bdb6c911aac582032c5bdbac3d7750234bf9eaf00438a"}], "reference": {"path": "history/63953620000165.json", "criterion_id": "management_fee", "total_count": 8, "preview_count": 3, "full_text_deferred": true, "sha256": "a7b89077f5e21098c2d601c303faabc3ff6b9729f89d8afecdc60fe1404720c1"}}</a:t>
            </a:r>
          </a:p>
          <a:p>
            <a:r>
              <a:t>CNPJ 54871427000194 · Performance: benchmark e apuração · Regulamento · ID 670691 · 28/04/2024 · versão Regulamento — referência 28/04/2024 · p. 26 · Anexo I, 13.3 · https://fnet.bmfbovespa.com.br/fnet/publico/visualizarDocumento?id=670691</a:t>
            </a:r>
          </a:p>
          <a:p>
            <a:r>
              <a:t>CNPJ 54871427000194 · Performance: benchmark e apuração · Excerto da fonte:</a:t>
            </a:r>
          </a:p>
          <a:p>
            <a:r>
              <a:t>13.3 Não serão cobradas da Classe ou dos Cotistas taxas de perf ormance, de ingresso ou de saída. Taxa de Gestão 13.4 Pelos serviços de gestão, a Classe pagará a Taxa de Gestão nos seguintes moldes: o valor correspondente a 0,20% (vinte centésimos por cento) ao ano aplicado sobre o Patrimônio Líquido, observado o valor mínimo de R$ 15.000,00 (quinze mil reais) mensais atualizado pela variação positiva do IGP-M a cada período de 12 (doze) meses, contados a partir do mês em que ocorrer a primeira integralização de Cotas (inclusive). 13.4.1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13.4.2 A Taxa de Gestão será calculada e provisionada todo Dia Útil à razão de 1/252 (um inteiro e duzentos e cinquenta e dois avos) com base no valor do Patrimônio Líquido do Dia Útil anterior. 13.4.3 A Taxa de Gestão será paga mensalmente ao GESTOR, observado o disposto no item 13.5</a:t>
            </a:r>
          </a:p>
          <a:p>
            <a:r>
              <a:t>CNPJ 54871427000194 · Performance: benchmark e apuração · Motivo: Não localizada uma cláusula material para este critério nos textos identificados e processados. A ausência de resultado não comprova inexistência da regra.</a:t>
            </a:r>
          </a:p>
          <a:p>
            <a:r>
              <a:t>CNPJ 54871427000194 · Performance: benchmark e apuração · Versão e prevalência: Leitura específica das cláusulas indicadas; condições e conflitos preservados. Seleção documental atual não comprova vigência jurídica por data isolada.</a:t>
            </a:r>
          </a:p>
          <a:p>
            <a:r>
              <a:t>CNPJ 60010416000112 · Performance: benchmark e apuração · Regulamento · ID 1051393 · 09/10/2025 · versão Regulamento09/10/2025 · p. 29 · AnexoI12.2 · https://fnet.bmfbovespa.com.br/fnet/publico/visualizarDocumento?id=1051393</a:t>
            </a:r>
          </a:p>
          <a:p>
            <a:r>
              <a:t>CNPJ 60010416000112 · Performance: benchmark e apuração · Excerto da fonte:</a:t>
            </a:r>
          </a:p>
          <a:p>
            <a:r>
              <a:t>12.2 Não serão cobradas da Classe ou dos Cotistas taxas de perf ormance, de ingresso ou de saída. Taxa Máxima de Custódia 12.3 Pelos serviços de custódia qualificada dos Direitos Creditórios e dos Ativos Financeiros de Liquidez não será devida nenhuma remuneração ao Custodiante, de modo que taxa máxima de custódia a ser paga pela Classe ao Custodiante corresponde a 0% (zero por cento) ao ano. Remuneração do Agente de Retenção/Cobrança 12.4 Para a prestação de serviços à Classe, o Agente de Retenção/Cobrança f ará jus a uma remuneração a ser auf erida todo Dia Útil e paga mensalmente, a título de Encargo da Cla</a:t>
            </a:r>
          </a:p>
          <a:p>
            <a:r>
              <a:t>CNPJ 60010416000112 · Performance: benchmark e apuração · Motivo: Não localizada uma cláusula material para este critério nos textos identificados e processados. A ausência de resultado não comprova inexistência da regra.</a:t>
            </a:r>
          </a:p>
          <a:p>
            <a:r>
              <a:t>CNPJ 60010416000112 · Performance: benchmark e apuração · Versão e prevalência: Leitura específica das cláusulas indicadas; condições e conflitos preservados. Seleção documental atual não comprova vigência jurídica por data isolada.</a:t>
            </a:r>
          </a:p>
          <a:p>
            <a:r>
              <a:t>CNPJ 62696791000193 · Performance: benchmark e apuração · Regulamento · ID 1143317 · 20/03/2026 · versão Regulamento — referência 20/03/2026 · p. 28 · Anexo I, 13.1, Taxa de Performance · https://fnet.bmfbovespa.com.br/fnet/publico/visualizarDocumento?id=1143317</a:t>
            </a:r>
          </a:p>
          <a:p>
            <a:r>
              <a:t>CNPJ 62696791000193 · Performance: benchmark e apuração · Excerto da fonte:</a:t>
            </a:r>
          </a:p>
          <a:p>
            <a:r>
              <a:t>Taxa de Performance Não será devido pela Classe o pagamento de Taxa de Perf ormance. 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equivalente a 0,9% (nove décimos por cento) ao ano aplicado sobre o Patrimônio Anexo I ao Regulamento Líquido, observado o limite máximo de 4,5% (quatro inteiros e cinquenta centésimos por cento) do volume captado na respectiva oferta (“Taxa Máxima de Distribuição”).A Taxa Máxima de BTG Pactual SAC: 0800 772 2827 | Ouvidoria: 0800 722 0048 | btgpactual.co m 23</a:t>
            </a:r>
          </a:p>
          <a:p>
            <a:r>
              <a:t>CNPJ 62696791000193 · Performance: benchmark e apuração · Regulamento · ID 1143317 · 20/03/2026 · versão Regulamento — referência 20/03/2026 · p. 29 · Anexo I, 13.1, Taxa de Ingresso · https://fnet.bmfbovespa.com.br/fnet/publico/visualizarDocumento?id=1143317</a:t>
            </a:r>
          </a:p>
          <a:p>
            <a:r>
              <a:t>CNPJ 62696791000193 · Performance: benchmark e apuração · Excerto da fonte:</a:t>
            </a:r>
          </a:p>
          <a:p>
            <a:r>
              <a:t>Taxa de Ingresso Não será cobrada dos Cotistas Taxa de Ingresso. 14 TRIBUTAÇÃO 14.1 O disposto neste Capítulo f oi elaborado com base na legislação e regulamentação em vigor produzindo ef eitos, tem por objetivo descrever de f orma sumária o tratamento tributário aplicável em regra aos cotistas, ao Fundo e à Classe, não se aplicando aos cotistas sujeitos a regras de tributação específicas, na f orma da legislação e regulamentação em vigor. 14.2 Há exceções (inclusive relativas à natureza ou ao domicílio do investidor para fins fiscais) em relação ao tratamento tributário descrito abaixo e tributos adicionais que podem ser aplicados, motivo pelo qual os cotistas devem consultar seus assessores jurídicos com relação à tributação aplicável nos investimentos realizados na Classe. Tributação da Classe / Operações da carteira: Como regra geral, os rendimentos auferidos pela carteira da Classe não estão sujeitos à incidência do imposto de renda, exceto ganhos auferidos em aplicações financeiras de renda fixa ou variável, que se sujeitam à incidência do Imposto de Renda Retido na Fonte (“IRF”) de acordo com as mesmas regras de tributação aplic</a:t>
            </a:r>
          </a:p>
          <a:p>
            <a:r>
              <a:t>CNPJ 62696791000193 · Performance: benchmark e apuração · Motivo: Não localizada uma cláusula material para este critério nos textos identificados e processados. A ausência de resultado não comprova inexistência da regra.</a:t>
            </a:r>
          </a:p>
          <a:p>
            <a:r>
              <a:t>CNPJ 62696791000193 · Performance: benchmark e apuração · Versão e prevalência: Leitura específica das cláusulas indicadas; condições e conflitos preservados. Seleção documental atual não comprova vigência jurídica por data isolada.</a:t>
            </a:r>
          </a:p>
          <a:p>
            <a:r>
              <a:t>CNPJ 55563624000109 · Performance: benchmark e apuração · Regulamento · ID 1192614 · 30/04/2026 · versão Regulamento30/04/2026 · p. 29 · AnexoI13.10 · https://fnet.bmfbovespa.com.br/fnet/publico/visualizarDocumento?id=1192614</a:t>
            </a:r>
          </a:p>
          <a:p>
            <a:r>
              <a:t>CNPJ 55563624000109 · Performance: benchmark e apuração · Excerto da fonte:</a:t>
            </a:r>
          </a:p>
          <a:p>
            <a:r>
              <a:t>13.10 Não serão cobradas taxas de performance da Classe, e nem taxas de ingresso ou de saída dos Cotistas que integralizarem ou resgatarem suas Cotas. BTG Pactual SAC: 0800 772 28 27 - Ouvidoria: 0800 722 00 48 - btgpactual.com 22</a:t>
            </a:r>
          </a:p>
          <a:p>
            <a:r>
              <a:t>CNPJ 55563624000109 · Performance: benchmark e apuração · Motivo: Não localizada uma cláusula material para este critério nos textos identificados e processados. A ausência de resultado não comprova inexistência da regra.</a:t>
            </a:r>
          </a:p>
          <a:p>
            <a:r>
              <a:t>CNPJ 55563624000109 · Performance: benchmark e apuração · Versão e prevalência: Leitura específica das cláusulas indicadas; condições e conflitos preservados. Seleção documental atual não comprova vigência jurídica por data isolada.</a:t>
            </a:r>
          </a:p>
          <a:p>
            <a:r>
              <a:t>CNPJ 62552447000120 · Performance: benchmark e apuração · Regulamento · ID 1200623 · 21/05/2026 · versão Consolidado21/05/2026 aprovado pelo ato1200625 · p. 30 · AnexoI13.1 TaxadePerformance/Ingresso · https://fnet.bmfbovespa.com.br/fnet/publico/visualizarDocumento?id=1200623</a:t>
            </a:r>
          </a:p>
          <a:p>
            <a:r>
              <a:t>CNPJ 62552447000120 · Performance: benchmark e apuração · Excerto da fonte:</a:t>
            </a:r>
          </a:p>
          <a:p>
            <a:r>
              <a:t>Taxa de Performance Não será devido pela Classe o pagamento de Taxa de Perf ormance. Taxa de Ingresso Não será cobrada dos Cotistas Taxa de Ingresso . CAPÍTULO 14 – CUSTOS REFERENTES À DEFESA DOS INTERESSES DA CLASSE 14.1 Todos os custos e despesas ref eridos neste Capítulo, inclusive para salvaguarda de direitos e prerrogativas da Classe e/ou com a cobrança judicial e/ou extrajudicial de Direitos Creditórios Inadimplidos, serão de inteira responsabilidade da Classe, não est ando o Administrador, o Gestor, o Endossante, os Devedores, o Custodiante e quaisquer de suas respectivas pessoas contr</a:t>
            </a:r>
          </a:p>
          <a:p>
            <a:r>
              <a:t>CNPJ 62552447000120 · Performance: benchmark e apuração · Motivo: Não localizada uma cláusula material para este critério nos textos identificados e processados. A ausência de resultado não comprova inexistência da regra.</a:t>
            </a:r>
          </a:p>
          <a:p>
            <a:r>
              <a:t>CNPJ 62552447000120 · Performance: benchmark e apuração · Versão e prevalência: Leitura específica das cláusulas indicadas; condições e conflitos preservados. Seleção documental atual não comprova vigência jurídica por data isolada.</a:t>
            </a:r>
          </a:p>
          <a:p>
            <a:r>
              <a:t>CNPJ 63953620000165 · Performance: benchmark e apuração · Anexo ao Regulamento · ID 1222863 · 02/06/2026 · versão AnexoConsignadoPrivado02/06/2026 · p. 20 · Capítulo13 · https://fnet.bmfbovespa.com.br/fnet/publico/visualizarDocumento?id=1222863</a:t>
            </a:r>
          </a:p>
          <a:p>
            <a:r>
              <a:t>CNPJ 63953620000165 · Performance: benchmark e apuração · Excerto da fonte:</a:t>
            </a:r>
          </a:p>
          <a:p>
            <a:r>
              <a:t>Taxa de Performance Não será devido pelas Classes o pagamento de Taxa de Performance. 0,00% (zero por cento) ao ano, incidente sobre o Patrimônio Líquido da Classe Taxa Máxima de Custódia (“Taxa Máxima de Custódia”). Taxa Máxima de Distribuição Não será cobrada Taxa de Distribuição. Taxa de Ingresso Não será cobrada da Classe ou dos Cotistas taxa de ingresso. CAPÍTULO 14 – CUSTOS REFERENTES À DEFESA DOS INTERESSES DA CLASSE 14.1 Todos os custos e despesas referidos neste Capítulo, inclusive para salvaguarda de direitos e prerrogativas da</a:t>
            </a:r>
          </a:p>
          <a:p>
            <a:r>
              <a:t>CNPJ 63953620000165 · Performance: benchmark e apuração · Motivo: Cláusula primária localizada e citada, mas sua lista/condições extensas não admitem uma síntese literal curta confirmada. O trecho integral permanece nas fontes.</a:t>
            </a:r>
          </a:p>
          <a:p>
            <a:r>
              <a:t>CNPJ 63953620000165 · Performance: benchmark e apuração · Versão e prevalência: Leitura específica das cláusulas indicadas; condições e conflitos preservados. Seleção documental atual não comprova vigência jurídica por data isolada.</a:t>
            </a:r>
          </a:p>
          <a:p>
            <a:r>
              <a:t>CNPJ 54871427000194 · Custódia, escrituração e encargos · Regulamento · ID 670691 · 28/04/2024 · versão Regulamento — referência 28/04/2024 · p. 26 · Anexo I, 13.7–13.8 · https://fnet.bmfbovespa.com.br/fnet/publico/visualizarDocumento?id=670691</a:t>
            </a:r>
          </a:p>
          <a:p>
            <a:r>
              <a:t>CNPJ 54871427000194 · Custódia, escrituração e encargos · Excerto da fonte:</a:t>
            </a:r>
          </a:p>
          <a:p>
            <a:r>
              <a:t>13.7 Pelos serviços de retenção e cobrança, prestada nos termos deste Anexo e do Contrato de Retenção/Cobrança, será devida pela Classe ao Agente de Retenção/Cobrança a remuneração prevista no respectivo Contrato de Retenção/Cobrança. Taxa Máxima de Custódia 13.8 Pelos serviços de custódia qualificada dos Direitos Creditórios e dos Ativos Financeiros de Liquidez não será devida nenhuma remuneração ao CUSTODIANTE, de modo que taxa máxima de custódia a ser paga pela Classe ao CUSTODIANTE corresponde a 0% (zero por cento) ao ano. CAPÍTULO 14 – CUSTOS REFERENTES À DEFESA DOS INTERESSES DA CLASSE 14.1 Caso a Classe não possua recursos disponíveis, em moeda corrente nacional, suf icientes para a adoção e manutenção, direta ou indireta, dos procedimentos judiciais e extrajudiciais necessários à cobrança dos Direitos Creditórios e dos Ativos Financeiros de Liquidez de titularidade da Classe e à def esa dos direitos, interesses e prerrogativas da Classe, a maioria dos titulares das Cotas, reunidos em Assembleia Especial de Cotistas, poderá aprovar o aporte de recursos à Classe, por meio da integralização de novas Cotas, a ser realizada por todos os titulares das Cotas para assegurar, se for o caso, a</a:t>
            </a:r>
          </a:p>
          <a:p>
            <a:r>
              <a:t>CNPJ 54871427000194 · Custódia, escrituração e encargos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Custódia, escrituração e encargos · Versão e prevalência: Leitura específica das cláusulas indicadas; condições e conflitos preservados. Seleção documental atual não comprova vigência jurídica por data isolada.</a:t>
            </a:r>
          </a:p>
          <a:p>
            <a:r>
              <a:t>CNPJ 54871427000194 · Custódia, escrituração e encargos · Resumo do histórico: {"count": 1, "dates": ["2024-04-28"], "document_count": 1, "sources": [{"document_id": "670691", "title": "Regulamento", "reference_date": "2024-04-28", "version": "1", "page": "26", "url": "https://fnet.bmfbovespa.com.br/fnet/publico/visualizarDocumento?id=670691", "sha256": "bf16dd7f1a62d5cdbf2e2d54fef81783783f7310fbc99c3a8f00459bdf9d037b"}], "reference": {"path": "history/54871427000194.json", "criterion_id": "custody_fee", "total_count": 1, "preview_count": 1, "full_text_deferred": true, "sha256": "35d7cd99be50c7287c9fb675cf4f2e736002315295a225a9efa79c8d9186d874"}}</a:t>
            </a:r>
          </a:p>
          <a:p>
            <a:r>
              <a:t>CNPJ 60010416000112 · Custódia, escrituração e encargos · Regulamento · ID 1051393 · 09/10/2025 · versão Regulamento09/10/2025 · p. 29 · AnexoI12.3–12.4 · https://fnet.bmfbovespa.com.br/fnet/publico/visualizarDocumento?id=1051393</a:t>
            </a:r>
          </a:p>
          <a:p>
            <a:r>
              <a:t>CNPJ 60010416000112 · Custódia, escrituração e encargos · Excerto da fonte:</a:t>
            </a:r>
          </a:p>
          <a:p>
            <a:r>
              <a:t>12.3 Pelos serviços de custódia qualificada dos Direitos Creditórios e dos Ativos Financeiros de Liquidez não será devida nenhuma remuneração ao Custodiante, de modo que taxa máxima de custódia a ser paga pela Classe ao Custodiante corresponde a 0% (zero por cento) ao ano. Remuneração do Agente de Retenção/Cobrança 12.4 Para a prestação de serviços à Classe, o Agente de Retenção/Cobrança f ará jus a uma remuneração a ser auf erida todo Dia Útil e paga mensalmente, a título de Encargo da Classe, a qual será calculada com base na seguinte f órmula:</a:t>
            </a:r>
          </a:p>
          <a:p>
            <a:r>
              <a:t>CNPJ 60010416000112 · Custódia, escrituração e encargos · Regulamento · ID 1051393 · 09/10/2025 · versão Regulamento09/10/2025 · p. 30 · AnexoI12.4definições,12.5–12.5.1 · https://fnet.bmfbovespa.com.br/fnet/publico/visualizarDocumento?id=1051393</a:t>
            </a:r>
          </a:p>
          <a:p>
            <a:r>
              <a:t>CNPJ 60010416000112 · Custódia, escrituração e encargos · Excerto da fonte:</a:t>
            </a:r>
          </a:p>
          <a:p>
            <a:r>
              <a:t>RAC = Remuneração do Agente de Retenção e Cobrança,tendo como valor 4,00% (quatro por cento) ao ano. 12.5 A remuneração prevista no item 12.4 acima será calculada pelo Administrador e paga diretamente ao Agente de Retenção/Cobrança até o 5º (quinto) Dia Útil do mês subsequente ao da prestação dos serviços, conf orme estabelecido no Contrato de Serviços MT. 12.5.1. Independentemente do acima disposto, na hipótese de venda de qualquer parte dos Direitos Creditórios Elegíveis a terceiros, inclusive no caso de liquidação da Classe, o Agente de Retenção/Cobra</a:t>
            </a:r>
          </a:p>
          <a:p>
            <a:r>
              <a:t>CNPJ 60010416000112 · Custódia, escrituração e encargos · Condição: Fórmula do RAC tem composição base 252 DU/21 dias; não somar a 4% do PL como taxa administrativa.</a:t>
            </a:r>
          </a:p>
          <a:p>
            <a:r>
              <a:t>CNPJ 60010416000112 · Custódia, escrituração e encargos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Custódia, escrituração e encargos · Versão e prevalência: Leitura específica das cláusulas indicadas; condições e conflitos preservados. Seleção documental atual não comprova vigência jurídica por data isolada.</a:t>
            </a:r>
          </a:p>
          <a:p>
            <a:r>
              <a:t>CNPJ 60010416000112 · Custódia, escrituração e encargos · Resumo do histórico: {"count": 1, "dates": ["2025-10-09"], "document_count": 1, "sources": [{"document_id": "1051393", "title": "Regulamento", "reference_date": "2025-10-09", "version": "1", "page": "29-31", "url": "https://fnet.bmfbovespa.com.br/fnet/publico/visualizarDocumento?id=1051393", "sha256": "8469d613078ffd5a6c1d217885d8a397a16342c0b937ae4aa24b106505f233ae"}], "reference": {"path": "history/60010416000112.json", "criterion_id": "custody_fee", "total_count": 1, "preview_count": 1, "full_text_deferred": true, "sha256": "8e2bd813f4c51cf01f6bfaad164bafe69d2bbb192f753eac92da3a01c2e63046"}}</a:t>
            </a:r>
          </a:p>
          <a:p>
            <a:r>
              <a:t>CNPJ 62696791000193 · Custódia, escrituração e encargos · Regulamento · ID 1143317 · 20/03/2026 · versão Regulamento — referência 20/03/2026 · p. 28 · Anexo I, 13.1, Custódia e Distribuição · https://fnet.bmfbovespa.com.br/fnet/publico/visualizarDocumento?id=1143317</a:t>
            </a:r>
          </a:p>
          <a:p>
            <a:r>
              <a:t>CNPJ 62696791000193 · Custódia, escrituração e encargos · Excerto da fonte:</a:t>
            </a:r>
          </a:p>
          <a:p>
            <a:r>
              <a:t>Taxa Máxima de Custódia 0,00% (zero por cento) ao ano, incidente sobre o Patrimônio Líquido da Classe (“Taxa Máxima de Custódia”). Taxa de Performance Não será devido pela Classe o pagamento de Taxa de Perf ormance. 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equivalente a 0,9% (nove décimos por cento) ao ano aplicado sobre o Patrimônio Anexo I ao Regulamento Líquido, observado o limite máximo de 4,5% (quatro inteiros e cinquenta centésimos por cento) do volume captado na respectiva oferta (“Taxa Máxima de Distribuição”).A</a:t>
            </a:r>
          </a:p>
          <a:p>
            <a:r>
              <a:t>CNPJ 62696791000193 · Custódia, escrituração e encargos · Regulamento · ID 1143317 · 20/03/2026 · versão Regulamento — referência 20/03/2026 · p. 29 · Anexo I, 13.1, Distribuição · https://fnet.bmfbovespa.com.br/fnet/publico/visualizarDocumento?id=1143317</a:t>
            </a:r>
          </a:p>
          <a:p>
            <a:r>
              <a:t>CNPJ 62696791000193 · Custódia, escrituração e encargos · Excerto da fonte:</a:t>
            </a:r>
          </a:p>
          <a:p>
            <a:r>
              <a:t>Distribuição será calculada e provisionada todo Dia Útil à razão de 1/252 (um inteiro e duzentos e cinquenta e dois avos) com base no valor do Patrimônio Líquido do Dia Útil anterior. Nos termos da Resolução CVM 160, o coordenador líder poderá destinar parte ou a totalidade da sua remuneração, à vista ou a prazo, aos distribuidores contratados, conforme previsto no contrato de distribuição da oferta e/ou nos termos de adesão ao contrato de distribuição. A Taxa Máxima de Distribuição será paga mensalmente por período vencido, até o 10º (décimo) Dia Útil do mês subsequente à prestação dos serviços, a partir do mês em que ocorrer a primeira integralização de Cotas da Classe Taxa de Ingresso Não será cobrada dos Cotistas Taxa de Ingresso. 14 TRIBUTAÇÃO 14.1 O disposto neste Capítulo f oi elaborado co</a:t>
            </a:r>
          </a:p>
          <a:p>
            <a:r>
              <a:t>CNPJ 62696791000193 · Custódia, escrituração e encargos · Motivo: Não localizada uma cláusula material para este critério nos textos identificados e processados. A ausência de resultado não comprova inexistência da regra.</a:t>
            </a:r>
          </a:p>
          <a:p>
            <a:r>
              <a:t>CNPJ 62696791000193 · Custódia, escrituração e encargos · Versão e prevalência: Leitura específica das cláusulas indicadas; condições e conflitos preservados. Seleção documental atual não comprova vigência jurídica por data isolada.</a:t>
            </a:r>
          </a:p>
          <a:p>
            <a:r>
              <a:t>CNPJ 55563624000109 · Custódia, escrituração e encargos · Regulamento · ID 1192614 · 30/04/2026 · versão Regulamento30/04/2026 · p. 29 · AnexoI13.8–13.9 · https://fnet.bmfbovespa.com.br/fnet/publico/visualizarDocumento?id=1192614</a:t>
            </a:r>
          </a:p>
          <a:p>
            <a:r>
              <a:t>CNPJ 55563624000109 · Custódia, escrituração e encargos · Excerto da fonte:</a:t>
            </a:r>
          </a:p>
          <a:p>
            <a:r>
              <a:t>13.8 Pelos serviços de custódia qualificada das Cotas da Classe Investida e dos Ativos Financeiros de Liquidez não será devida nenhuma remuneração ao CUSTODIANTE, de modo que taxa de custódia a ser paga pela Classe ao CUSTODIANTE corresponde a 0% (zero por cento) ao ano. Taxas Máxima de Distribuição 13.9 Tendo em vista que não há distribuidores das Cotas que prestem serviços de forma contínua ao Fundo, o presente Regulamento e Anexo Descritivo não preveem uma taxa máxima de distribuição aplicável a todas as emissões, nos termos do Ofício-Circular-Conju</a:t>
            </a:r>
          </a:p>
          <a:p>
            <a:r>
              <a:t>CNPJ 55563624000109 · Custódia, escrituração e encargos · Versão e prevalência: Leitura específica das cláusulas indicadas; condições e conflitos preservados. Seleção documental atual não comprova vigência jurídica por data isolada.</a:t>
            </a:r>
          </a:p>
          <a:p>
            <a:r>
              <a:t>CNPJ 55563624000109 · Custódia, escrituração e encargos · Resumo do histórico: {"count": 1, "dates": ["2026-04-30"], "document_count": 1, "sources": [{"document_id": "1192614", "title": "Regulamento", "reference_date": "2026-04-30", "version": "1", "page": "29", "url": "https://fnet.bmfbovespa.com.br/fnet/publico/visualizarDocumento?id=1192614", "sha256": "f56e63ace0acde41d2f47fb48f1ac7f3f7df5e2d32de092d7c5e075a52516632"}], "reference": {"path": "history/55563624000109.json", "criterion_id": "custody_fee", "total_count": 1, "preview_count": 1, "full_text_deferred": true, "sha256": "7835d573fb58a3c19adf5b8ecc2aee2bdbb9a88f7a0c0209b5f262b64c7522e3"}}</a:t>
            </a:r>
          </a:p>
          <a:p>
            <a:r>
              <a:t>CNPJ 62552447000120 · Custódia, escrituração e encargos · Motivo: Não localizada uma cláusula material para este critério nos textos identificados e processados. A ausência de resultado não comprova inexistência da regra.</a:t>
            </a:r>
          </a:p>
          <a:p>
            <a:r>
              <a:t>CNPJ 63953620000165 · Custódia, escrituração e encargos · Motivo: Não localizada uma cláusula material para este critério nos textos identificados e processados. A ausência de resultado não comprova inexistência da regra.</a:t>
            </a:r>
          </a:p>
          <a:p>
            <a:r>
              <a:t>CNPJ 54871427000194 · Classes e séries de cotas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Classes e séries de cotas · Resumo do histórico: {"count": 1, "dates": ["2024-04-28"], "document_count": 1, "sources": [{"document_id": "670691", "title": "Regulamento", "reference_date": "2024-04-28", "version": "1", "page": "7, 14", "url": "https://fnet.bmfbovespa.com.br/fnet/publico/visualizarDocumento?id=670691", "sha256": "bf16dd7f1a62d5cdbf2e2d54fef81783783f7310fbc99c3a8f00459bdf9d037b"}], "reference": {"path": "history/54871427000194.json", "criterion_id": "quota_classes", "total_count": 1, "preview_count": 1, "full_text_deferred": true, "sha256": "35d7cd99be50c7287c9fb675cf4f2e736002315295a225a9efa79c8d9186d874"}}</a:t>
            </a:r>
          </a:p>
          <a:p>
            <a:r>
              <a:t>CNPJ 60010416000112 · Classes e séries de cotas · Demonstrações Financeiras - Fusão, cisão e incorporação · ID 1298690 · 2026-05-08 · versão 1 · p. 30 · https://fnet.bmfbovespa.com.br/fnet/publico/visualizarDocumento?id=1298690</a:t>
            </a:r>
          </a:p>
          <a:p>
            <a:r>
              <a:t>CNPJ 60010416000112 · Classes e séries de cotas · Excerto da fonte:</a:t>
            </a:r>
          </a:p>
          <a:p>
            <a:r>
              <a:t>Durante o período de investimento, a Administradora poderá deliberar por realizar novas  emissões de cotas subordinadas, sem a necessidade de aprovação em Assembleia Especial  de Cotistas ou alteração do Regulamento, limitadas ao montante máximo de R$ 50.000  (cinquenta milhões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subordinadas emitidas não sejam  superiores aos prazos de vencimento da primeira emissão.</a:t>
            </a:r>
          </a:p>
          <a:p>
            <a:r>
              <a:t>CNPJ 60010416000112 · Classes e séries de cotas · Demonstrações Financeiras - Fusão, cisão e incorporação · ID 1298690 · 2026-05-08 · versão 1 · p. 7 · https://fnet.bmfbovespa.com.br/fnet/publico/visualizarDocumento?id=1298690</a:t>
            </a:r>
          </a:p>
          <a:p>
            <a:r>
              <a:t>CNPJ 60010416000112 · Classes e séries de cotas · Excerto da fonte:</a:t>
            </a:r>
          </a:p>
          <a:p>
            <a:r>
              <a:t>01/12/2025 a  Nota  08/05/2026  Patrimônio líquido no início do período  Total de 493.487,7492 cotas sêniores a R$ 1.136,5211 560.859  Total de 2.329.794,7852 cotas sêniores 2 a R$ 1.141,3012 2.658.998  Total de 954,2302 cotas subordinadas a R$ 150.939,4087 144.031</a:t>
            </a:r>
          </a:p>
          <a:p>
            <a:r>
              <a:t>CNPJ 60010416000112 · Classes e séries de cotas · Demonstrações Financeiras - Fusão, cisão e incorporação · ID 1298690 · 2026-05-08 · versão 1 · p. 7 · https://fnet.bmfbovespa.com.br/fnet/publico/visualizarDocumento?id=1298690</a:t>
            </a:r>
          </a:p>
          <a:p>
            <a:r>
              <a:t>CNPJ 60010416000112 · Classes e séries de cotas · Excerto da fonte:</a:t>
            </a:r>
          </a:p>
          <a:p>
            <a:r>
              <a:t>Patrimônio líquido no final do período  Total de 2.865.592,8479 cotas a R$ 1.285,7151 3.672.765  Total de 493.487,7492 cotas sêniores a R$ 1.230,3042 607.141  Total de 2.362.150,8684 cotas sêniores 2 a R$ 1.236,9918 2.921.961  Total de 954,2302 cotas subordinadas a R$ 150.554,2733 143.663</a:t>
            </a:r>
          </a:p>
          <a:p>
            <a:r>
              <a:t>CNPJ 60010416000112 · Classes e séries de cotas · Condição: Documentos atuais selecionados no inventário por categoria/escopo; a data documental isolada não comprova vigência jurídica.</a:t>
            </a:r>
          </a:p>
          <a:p>
            <a:r>
              <a:t>CNPJ 60010416000112 · Classes e séries de cotas · Versão e prevalência: Documentos atuais selecionados no inventário por categoria/escopo; a data documental isolada não comprova vigência jurídica.</a:t>
            </a:r>
          </a:p>
          <a:p>
            <a:r>
              <a:t>CNPJ 60010416000112 · Classes e séries de cotas · Resumo do histórico: {"count": 9, "dates": ["2025-11-30", "2026-03-18", "2026-04-16"], "document_count": 3, "sources": [{"document_id": "1282181", "title": "Demonstrações Financeiras - Fusão, cisão e incorporação", "reference_date": "2026-04-16", "version": "1", "page": 7, "url": "https://fnet.bmfbovespa.com.br/fnet/publico/visualizarDocumento?id=1282181", "sha256": "b1c6566e43a00bcd00c8a7f30c77b7f86e351bd8e355bbea113f46d1dafda703"}, {"document_id": "1224477", "title": "Demonstrações Financeiras - Fusão, cisão e incorporação", "reference_date": "2026-03-18", "version": "1", "page": 7, "url": "https://fnet.bmfbovespa.com.br/fnet/publico/visualizarDocumento?id=1224477", "sha256": "0751bf0a75bc3b44c2748f5000226665c6ec6698a90c4dc6170b4e6c187759ae"}, {"document_id": "1126154", "title": "Demonstrações Financeiras", "reference_date": "2025-11-30", "version": "1", "page": 7, "url": "https://fnet.bmfbovespa.com.br/fnet/publico/visualizarDocumento?id=1126154", "sha256": "a01e7ccf88c548f12c95cba8526d7efbef6b585c112cd4668eca781c292090b0"}], "reference": {"path": "history/60010416000112.json", "criterion_id": "quota_classes", "total_count": 9, "preview_count": 3, "full_text_deferred": true, "sha256": "8e2bd813f4c51cf01f6bfaad164bafe69d2bbb192f753eac92da3a01c2e63046"}}</a:t>
            </a:r>
          </a:p>
          <a:p>
            <a:r>
              <a:t>CNPJ 62696791000193 · Classes e séries de cotas · Instrumento Particular de Emissão de Cotas · ID 1148821 · 2026-03-27 · versão 1 · p. 1 · 20.000 · https://fnet.bmfbovespa.com.br/fnet/publico/visualizarDocumento?id=1148821</a:t>
            </a:r>
          </a:p>
          <a:p>
            <a:r>
              <a:t>CNPJ 62696791000193 · Classes e séries de cotas · Excerto da fonte:</a:t>
            </a:r>
          </a:p>
          <a:p>
            <a:r>
              <a:t>20.000 (vinte mil) Cotas Subordinadas Júnior, com valor nominal unitário de R$ 1.000,00 (mil reais),  perfazendo o montante total de R$ 20.000.000,00 (vinte milhões de reais), as quais serão objeto de  colocação privada, de acordo com os termos e condições definidos no Apêndice da Subclasse  Subordinada Júnior constante do Anexo I Regulamento e descritas abaixo (“2ª Emissão da Subclasse  Subordinada Júnior”):</a:t>
            </a:r>
          </a:p>
          <a:p>
            <a:r>
              <a:t>CNPJ 62696791000193 · Classes e séries de cotas · Instrumento Particular de Emissão de Cotas · ID 1148821 · 2026-03-27 · versão 1 · p. 2 · https://fnet.bmfbovespa.com.br/fnet/publico/visualizarDocumento?id=1148821</a:t>
            </a:r>
          </a:p>
          <a:p>
            <a:r>
              <a:t>CNPJ 62696791000193 · Classes e séries de cotas · Excerto da fonte:</a:t>
            </a:r>
          </a:p>
          <a:p>
            <a:r>
              <a:t>2. Aprovar a 2ª (segunda) emissão da Subclasse Sênior da Classe, composta por até 150.000  (cento e cinquenta mil) Cotas Seniores, com valor nominal unitário de R$ 1.000,00 (mil reais),  perfazendo o montante total de R$ 150.000.000,00 (cento e cinquenta milhões de reais), as quais  serão objeto de colocação privada, de acordo com os termos e condições descritos no Apêndice da  Subclasse Sênior constante do Anexo I Regulamento e descritas abaixo (“2ª Emissão da Subclasse  Sênior”):</a:t>
            </a:r>
          </a:p>
          <a:p>
            <a:r>
              <a:t>CNPJ 62696791000193 · Classes e séries de cotas · Instrumento Particular de Emissão de Cotas · ID 1148821 · 2026-03-27 · versão 1 · p. 2 · https://fnet.bmfbovespa.com.br/fnet/publico/visualizarDocumento?id=1148821</a:t>
            </a:r>
          </a:p>
          <a:p>
            <a:r>
              <a:t>CNPJ 62696791000193 · Classes e séries de cotas · Excerto da fonte:</a:t>
            </a:r>
          </a:p>
          <a:p>
            <a:r>
              <a:t>d) Forma de Integralização: as Cotas Subordinadas Júnior serão integralizadas à vista, junto ao  seu respectivo agente de custódia e/ou da Administradora na qualidade de escriturador das  cotas; e</a:t>
            </a:r>
          </a:p>
          <a:p>
            <a:r>
              <a:t>CNPJ 62696791000193 · Classes e séries de cotas · Condição: Documentos atuais selecionados no inventário por categoria/escopo; a data documental isolada não comprova vigência jurídica.</a:t>
            </a:r>
          </a:p>
          <a:p>
            <a:r>
              <a:t>CNPJ 62696791000193 · Classes e séries de cotas · Versão e prevalência: Documentos atuais selecionados no inventário por categoria/escopo; a data documental isolada não comprova vigência jurídica.</a:t>
            </a:r>
          </a:p>
          <a:p>
            <a:r>
              <a:t>CNPJ 62696791000193 · Classes e séries de cotas · Resumo do histórico: {"count": 2, "dates": ["2026-03-20", "2026-03-27"], "document_count": 2, "sources": [{"document_id": "1148821", "title": "Instrumento Particular de Emissão de Cotas", "reference_date": "2026-03-27", "version": "1", "page": "1-2", "url": "https://fnet.bmfbovespa.com.br/fnet/publico/visualizarDocumento?id=1148821", "sha256": "86900e9dd498403696bfffbd4196443c83ec4d51ff21135e073c1966e1adf4c0"}, {"document_id": "1143317", "title": "Regulamento", "reference_date": "2026-03-20", "version": "1", "page": 16, "clause": "7.2", "url": "https://fnet.bmfbovespa.com.br/fnet/publico/visualizarDocumento?id=1143317", "sha256": "32f62818d51c3ebeaf9ec012d3d7867f15c1aed6d10f0867c157a290df1cea48"}], "reference": {"path": "history/62696791000193.json", "criterion_id": "quota_classes", "total_count": 2, "preview_count": 2, "full_text_deferred": true, "sha256": "0e9ec199848320ec945708123ae0cb6075d76c05d94beed814d582031d353926"}}</a:t>
            </a:r>
          </a:p>
          <a:p>
            <a:r>
              <a:t>CNPJ 55563624000109 · Classes e séries de cotas · Regulamento · ID 1192614 · 2026-04-30 · versão 1 · p. 40 · https://fnet.bmfbovespa.com.br/fnet/publico/visualizarDocumento?id=1192614</a:t>
            </a:r>
          </a:p>
          <a:p>
            <a:r>
              <a:t>CNPJ 55563624000109 · Classes e séries de cotas · Excerto da fonte:</a:t>
            </a:r>
          </a:p>
          <a:p>
            <a:r>
              <a:t>(xxiv) Subordinação de determinadas Cotas da Classe Investida a outras subclasses ou séries de  cotas das Classes Investidas aos quais pertencem. A Classe Investida adquirirá apenas cotas  subordinadas mezaninos da Classe Investida, as quais se subordinam às cotas seniores da Classe  Investida para efeitos de resgate. Os resgates de cotas subordinadas mezanino tipicamente têm sua  realização condicionada ainda à manutenção da razão de garantia e à existência de disponibilidades  da Classe Investida. O ADMINISTRADOR, o GESTOR e o CUSTODIANTE e suas respectivas partes  relacionadas, encontram-se impossibilitados de assegurar que a amortização e o resgate das cotas  subordinadas mezanino da Classe Investida que venham a ser adquiridas pela Classe ocorrerão nas  datas originalmente previstas, sendo que, caso tais amortizações e/ou resgates não ocorram, não será  devido pelo FUNDO ou qualquer pessoa, incluindo o ADMINISTRADOR, o GESTOR e o CUSTODIANTE,  do FUNDO ou da Classe Investida qualquer multa ou penalidade, de qualquer natureza. O não resgate  de cotas subordinadas mezanino da Classe Investida detidas pela Classe poderá impactar  negativamente no fluxo de pagamento de resgate da Classe e/ou no valor patrimonial das Cotas da  Classe.</a:t>
            </a:r>
          </a:p>
          <a:p>
            <a:r>
              <a:t>CNPJ 55563624000109 · Classes e séries de cotas · Regulamento · ID 1192614 · 2026-04-30 · versão 1 · p. 31 · 15.1.1 · https://fnet.bmfbovespa.com.br/fnet/publico/visualizarDocumento?id=1192614</a:t>
            </a:r>
          </a:p>
          <a:p>
            <a:r>
              <a:t>CNPJ 55563624000109 · Classes e séries de cotas · Excerto da fonte:</a:t>
            </a:r>
          </a:p>
          <a:p>
            <a:r>
              <a:t>15.1.1 Riscos de Crédito:</a:t>
            </a:r>
          </a:p>
          <a:p>
            <a:r>
              <a:t> (i) Risco de concentração na Classe Investida. Nos termos do presente Regulamento, a Classe  deverá manter alocado, no mínimo, 67% (sessenta e sete por cento) do Patrimônio Líquido nas Cotas  da Classe Investida. Alterações na condição econômico-financeira e na expectativa de desempenho ou  resultados da Classe Investida poderão, isolada ou cumulativamente, afetar negativamente o  rendimento do investimento nas Cotas, de forma mais severa do que se a Classe adotasse uma  estratégia de investimento de maior diversificação. O risco associado às aplicações de qualquer fundo  de investimento é diretamente proporcional à concentração da sua carteira, sendo que, quanto maior  essa concentração, maior será a sua vulnerabilidade.</a:t>
            </a:r>
          </a:p>
          <a:p>
            <a:r>
              <a:t> (ii) Risco relativo à Classe Investida. Nos termos deste Anexo, a Classe deverá manter alocado, no  mínimo, 67% (sessenta e sete por cento) do Patrimônio Líquido em Cotas da Classe Investida. Os  investimentos realizados pela Classe Investida poderão estar sujeitos a flutuações típicas do mercado,  risco de crédito, risco sistêmico, condições adversas de liquidez e negociação atípica nos mercados de  atuação, bem como outros riscos diversos. Este Anexo não contém a descrição de todas as  características, incluindo os riscos, da Classe Investida.</a:t>
            </a:r>
          </a:p>
          <a:p>
            <a:r>
              <a:t> (iii) Risco Relativo ao Pagamento de Encargos da Classe Investida. Tendo em vista a estrutura da  Classe Investida – que emitiu cotas sêniores, cotas subordinadas mezanino e cotas subordinadas júnior  – em situação ordinária os encargos da Classe Investida são arcados pelas cotas subordinadas júnior,  que se subordinam às cotas subordinadas mezanino e às cotas sêniores para fins de amortização,  resgate e distribuição de rendimentos, não impactando, portanto, as Cotas da Classe Investida. Não  obstante o funcionamento da Classe Investida em situação ordinária, em cenários extraordinários, na  eventualidade do valor das cotas subordinadas júnior ficar reduzido a zero ou a valor negativo, os  encargos da Classe Investida conforme previstos em seu regulamento, inclusive mas não se limitando  as remunerações dos prestadores de serviços essenciais, passarão a ser arcados pelas cotas  subordinadas mezanino (que são as Cotas da Classe Investida), impactando no valor do investimento  da Classe na Classe Investida, e consequentemente, o investimento dos Cotistas na Classe.</a:t>
            </a:r>
          </a:p>
          <a:p>
            <a:r>
              <a:t> (iv) Riscos referentes à carteira da Classe Investida. Na forma do Anexo Normativo II da Resolução  CVM 175, a Classe Investida investe, direta ou indiretamente, no mínimo, 67% (sessenta e sete por  cento) do seu patrimônio em direitos creditórios originados pela Mercado Pago. O investimento em tais  direitos creditórios está sujeito a fatores de risco específicos, conforme detalhados no regulamento da  Classe Investida, incluindo, mas não se limitando a:</a:t>
            </a:r>
          </a:p>
          <a:p>
            <a:r>
              <a:t> (a) Risco de liquidez dos direitos creditórios. O investimento da Classe Investida em direitos  creditórios apresenta peculiaridades em relação às aplicações usuais da maioria dos  fundos de investimento brasileiros, haja vista que não existe, no Brasil, mercado  secundário com liquidez para tais direitos creditórios. Caso a Classe Investida precise  vender os direitos creditórios adquiridos, poderá não haver mercado comprador para  tais créditos, bem como o preço de alienação de tais direitos creditórios poderá refletir  essa falta de liquidez, causando perda ao patrimônio da Classe Investida e,  consequentemente, à Classe.</a:t>
            </a:r>
          </a:p>
          <a:p>
            <a:r>
              <a:t>CNPJ 55563624000109 · Classes e séries de cotas · AGE · ID 1192603 · 2026-04-30 · versão 1 · p. 1 · 4.1 · https://fnet.bmfbovespa.com.br/fnet/publico/visualizarDocumento?id=1192603</a:t>
            </a:r>
          </a:p>
          <a:p>
            <a:r>
              <a:t>CNPJ 55563624000109 · Classes e séries de cotas · Excerto da fonte:</a:t>
            </a:r>
          </a:p>
          <a:p>
            <a:r>
              <a:t>4.1. Aprovar a alteração do Anexo I da Classe Única para a reorganização do passivo de sua subclasse  única em novas subclasses, quais sejam, subclasse A (“Subclasse A”), subclasse B (“Subclasse B”) e  subclasse C (“Subclasse C” e, quando em conjunto com a Subclasse A e a Subclasse B, as “Subclasses”),  considerando que serão mantidas as condições de investimento originalmente pactuadas com os cotistas,  como critérios de aplicação, resgate, amortização e política de investimento da Classe Única, diferindo-  se, exclusivamente, em relação ao prazo de duração cada Subclasse.</a:t>
            </a:r>
          </a:p>
          <a:p>
            <a:r>
              <a:t>CNPJ 55563624000109 · Classes e séries de cotas · Condição: Documentos atuais selecionados no inventário por categoria/escopo; a data documental isolada não comprova vigência jurídica.</a:t>
            </a:r>
          </a:p>
          <a:p>
            <a:r>
              <a:t>CNPJ 55563624000109 · Classes e séries de cotas · Versão e prevalência: Documentos atuais selecionados no inventário por categoria/escopo; a data documental isolada não comprova vigência jurídica.</a:t>
            </a:r>
          </a:p>
          <a:p>
            <a:r>
              <a:t>CNPJ 55563624000109 · Classes e séries de cotas · Resumo do histórico: {"count": 3, "dates": ["2025-01-31", "2026-01-31", "2026-04-30"], "document_count": 3, "sources": [{"document_id": "1192614", "title": "Regulamento", "reference_date": "2026-04-30", "version": "1", "page": "15", "url": "https://fnet.bmfbovespa.com.br/fnet/publico/visualizarDocumento?id=1192614", "sha256": "f56e63ace0acde41d2f47fb48f1ac7f3f7df5e2d32de092d7c5e075a52516632"}, {"document_id": "1178840", "title": "Demonstrações Financeiras", "reference_date": "2026-01-31", "version": "1", "page": 25, "url": "https://fnet.bmfbovespa.com.br/fnet/publico/visualizarDocumento?id=1178840", "sha256": "c458e98664c5c907ddb5a05a94b120bed4e05295b2bfc420f5ba69af0a229abe"}, {"document_id": "891861", "title": "Demonstrações Financeiras", "reference_date": "2025-01-31", "version": "1", "page": 26, "url": "https://fnet.bmfbovespa.com.br/fnet/publico/visualizarDocumento?id=891861", "sha256": "e9cb9e6ddbe505fe068cfcac33605165a98313489de0d3ce6d4d238263c3f3e7"}], "reference": {"path": "history/55563624000109.json", "criterion_id": "quota_classes", "total_count": 3, "preview_count": 3, "full_text_deferred": true, "sha256": "7835d573fb58a3c19adf5b8ecc2aee2bdbb9a88f7a0c0209b5f262b64c7522e3"}}</a:t>
            </a:r>
          </a:p>
          <a:p>
            <a:r>
              <a:t>CNPJ 62552447000120 · Classes e séries de cotas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Classes e séries de cotas · Resumo do histórico: {"count": 1, "dates": ["2025-09-03"], "document_count": 1, "sources": [{"document_id": "988020", "title": "Instrumento Particular de Emissão de Cotas", "reference_date": "2025-09-03", "version": "1", "page": "5", "url": "https://fnet.bmfbovespa.com.br/fnet/publico/visualizarDocumento?id=988020", "sha256": "8ecc8a771bb9713d64e5fc2052c489664cb0433801a9280db68e5187d35bf7a5"}], "reference": {"path": "history/62552447000120.json", "criterion_id": "quota_classes", "total_count": 1, "preview_count": 1, "full_text_deferred": true, "sha256": "d95db8c0613d67ee84118c734588665265ea6b02f86a0318d6a844cbe1d0f82f"}}</a:t>
            </a:r>
          </a:p>
          <a:p>
            <a:r>
              <a:t>CNPJ 63953620000165 · Classes e séries de cotas · AGE · ID 1313935 · 2026-08-31 · versão 1 · p. 1 · 4.1 · https://fnet.bmfbovespa.com.br/fnet/publico/visualizarDocumento?id=1313935</a:t>
            </a:r>
          </a:p>
          <a:p>
            <a:r>
              <a:t>CNPJ 63953620000165 · Classes e séries de cotas · Excerto da fonte:</a:t>
            </a:r>
          </a:p>
          <a:p>
            <a:r>
              <a:t>4.1. Aprovar a realização da incorporação das parcelas cindidas descritas no Anexo I à presente ata (“Parcelas  Cindidas”), com base no fechamento de 28 de agosto de 2026 (“Data Base”), condicionada à aprovação da cisão  da CLASSE ÚNICA DO MT CONSIGNADO PRIVADO I FUNDO DE INVESTIMENTO EM DIREITOS CREDITÓRIOS  RESPONSABILIDADE LIMITADA, inscrita no CNPJ sob o nº 60.010.416/0001-12 (“Classe Cindida”), com a  subsequente incorporação da respectiva Parcela Cindida, emitindo-se cotas seniores da Classe, a serem  atribuídas integralmente aos cotistas da Classe Cindida, no valor da respectiva Parcela Cindida, na Data-Base, de  acordo com o valor das cotas da Classe na mesma data. A partir da Data Base, todos os direitos e obrigações dos  ativos cindidos serão sucedidos à Classe;</a:t>
            </a:r>
          </a:p>
          <a:p>
            <a:r>
              <a:t>CNPJ 63953620000165 · Classes e séries de cotas · Condição: Documentos atuais selecionados no inventário por categoria/escopo; a data documental isolada não comprova vigência jurídica.</a:t>
            </a:r>
          </a:p>
          <a:p>
            <a:r>
              <a:t>CNPJ 63953620000165 · Classes e séries de cotas · Versão e prevalência: Documentos atuais selecionados no inventário por categoria/escopo; a data documental isolada não comprova vigência jurídica.</a:t>
            </a:r>
          </a:p>
          <a:p>
            <a:r>
              <a:t>CNPJ 63953620000165 · Classes e séries de cotas · Resumo do histórico: {"count": 11, "dates": ["2026-07-29", "2026-08-17", "2026-08-21"], "document_count": 3, "sources": [{"document_id": "1309436", "title": "AGE", "reference_date": "2026-08-21", "version": "1", "page": 1, "clause": "4.1", "url": "https://fnet.bmfbovespa.com.br/fnet/publico/visualizarDocumento?id=1309436", "sha256": "f679de1621039dce7c665e3a742f213fd4d5047e12b96163b31ea4ae86f56817"}, {"document_id": "1298232", "title": "AGE", "reference_date": "2026-08-17", "version": "1", "page": 1, "clause": "4.1", "url": "https://fnet.bmfbovespa.com.br/fnet/publico/visualizarDocumento?id=1298232", "sha256": "75322e306547f725e73a2c6687b598e14d628caa84bd46a23508337a606866f6"}, {"document_id": "1277543", "title": "AGE", "reference_date": "2026-07-29", "version": "1", "page": 1, "url": "https://fnet.bmfbovespa.com.br/fnet/publico/visualizarDocumento?id=1277543", "sha256": "c2fb499fd6e25251a221d4e9dbb5d1378fb5efde5a58eee091868faf52d326c0"}], "reference": {"path": "history/63953620000165.json", "criterion_id": "quota_classes", "total_count": 11, "preview_count": 3, "full_text_deferred": true, "sha256": "a7b89077f5e21098c2d601c303faabc3ff6b9729f89d8afecdc60fe1404720c1"}}</a:t>
            </a:r>
          </a:p>
          <a:p>
            <a:r>
              <a:t>CNPJ 54871427000194 · Ofertas e colocação · AGE · ID 1055482 · 2025-12-02 · versão 1 · p. 1 · 4.1 · https://fnet.bmfbovespa.com.br/fnet/publico/visualizarDocumento?id=1055482</a:t>
            </a:r>
          </a:p>
          <a:p>
            <a:r>
              <a:t>CNPJ 54871427000194 · Ofertas e colocação · Excerto da fonte:</a:t>
            </a:r>
          </a:p>
          <a:p>
            <a:r>
              <a:t>4.1. Aprovar a nova emissão de Cotas pela Classe, todas nominativas e escriturais, com preço unitário de emissão  correspondente ao valor das Cotas da Classe em circulação quando na data de aprovação da Nova Emissão,  perfazendo o montante total de emissão de até R$ 650.000.000 (seiscentos e cinquenta milhões de reais), conforme  as características constantes do Regulamento e do Anexo da Classe (“Novas Cotas” e “Nova Emissão”,  respectivamente), e descritas abaixo:</a:t>
            </a:r>
          </a:p>
          <a:p>
            <a:r>
              <a:t>(i) Rito: as Novas Cotas não serão objeto de oferta pública, conforme facultado pelo artigo 8º, inciso IV, da  Resolução CVM nº 160, uma vez que a Classe se enquadra nos requisitos do referido dispositivo;</a:t>
            </a:r>
          </a:p>
          <a:p>
            <a:r>
              <a:t>(ii) Preço de Emissão: o preço unitário de emissão corresponderá ao valor das Cotas da Classe em circulação  quando na data de aprovação da Nova Emissão (“Preço de Emissão”);</a:t>
            </a:r>
          </a:p>
          <a:p>
            <a:r>
              <a:t>(iii) Preço de Integralização: o Preço de Integralização corresponderá ao valor das Cotas da Classe em  circulação quando da transferência dos valores para liquidação financeira (“Preço de Integralização”);</a:t>
            </a:r>
          </a:p>
          <a:p>
            <a:r>
              <a:t>(iv) Forma de Integralização: as Cotas serão integralizadas à vista, em moeda corrente nacional, pelo Preço  de Integralização, junto ao seu respectivo agente de custódia e/ou da Administradora na qualidade de  escriturador das cotas; e</a:t>
            </a:r>
          </a:p>
          <a:p>
            <a:r>
              <a:t>(v) Período de colocação: a subscrição das Cotas, objeto da Nova Emissão, deverão ser realizadas no prazo  máximo de 180 (cento e oitenta) dias, contados da data de efeitos do presente instrumento.</a:t>
            </a:r>
          </a:p>
          <a:p>
            <a:r>
              <a:t>CNPJ 54871427000194 · Ofertas e colocação · Condição: Trechos do documento específico identificado com data mais recente; vigência jurídica não inferida.</a:t>
            </a:r>
          </a:p>
          <a:p>
            <a:r>
              <a:t>CNPJ 54871427000194 · Ofertas e colocação · Versão e prevalência: Trechos do documento específico identificado com data mais recente; vigência jurídica não inferida.</a:t>
            </a:r>
          </a:p>
          <a:p>
            <a:r>
              <a:t>CNPJ 54871427000194 · Ofertas e colocação · Resumo do histórico: {"count": 7, "dates": ["2024-06-13", "2024-12-10"], "document_count": 3, "sources": [{"document_id": "798101", "title": "Anúncio de Encerramento", "reference_date": "2024-12-10", "version": "1", "page": "1-2", "url": "https://fnet.bmfbovespa.com.br/fnet/publico/visualizarDocumento?id=798101", "sha256": "71618c432ad86002484571d66922b873e4fa91ed3543a109134ddee0bd872f20"}, {"document_id": "679614", "title": "Anúncio de Início", "reference_date": "2024-06-13", "version": "1", "page": 1, "url": "https://fnet.bmfbovespa.com.br/fnet/publico/visualizarDocumento?id=679614", "sha256": "aad43ed14bfa0576144a306c466aea031fce0d01d3cb3de6aebd120f11164bfa"}, {"document_id": "683482", "title": "AGE", "reference_date": "2024-06-13", "version": "1", "page": 2, "url": "https://fnet.bmfbovespa.com.br/fnet/publico/visualizarDocumento?id=683482", "sha256": "3afbe254027691929935eaf19ebbb8634fb2ccd8e2fbea2cb2d81a7818f8d648"}], "reference": {"path": "history/54871427000194.json", "criterion_id": "offers", "total_count": 7, "preview_count": 3, "full_text_deferred": true, "sha256": "35d7cd99be50c7287c9fb675cf4f2e736002315295a225a9efa79c8d9186d874"}}</a:t>
            </a:r>
          </a:p>
          <a:p>
            <a:r>
              <a:t>CNPJ 60010416000112 · Ofertas e colocação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Ofertas e colocação · Resumo do histórico: {"count": 1, "dates": ["2025-03-20"], "document_count": 1, "sources": [{"document_id": "993785", "title": "Instrumento Particular de Constituição/Encerramento do Fundo", "reference_date": "2025-03-20", "version": "1", "page": "1-2", "url": "https://fnet.bmfbovespa.com.br/fnet/publico/visualizarDocumento?id=993785", "sha256": "0826e0eae2c51afabf59bbc49fc7647598d03da5ca6de0f9725850a8bd6af457"}], "reference": {"path": "history/60010416000112.json", "criterion_id": "offers", "total_count": 1, "preview_count": 1, "full_text_deferred": true, "sha256": "8e2bd813f4c51cf01f6bfaad164bafe69d2bbb192f753eac92da3a01c2e63046"}}</a:t>
            </a:r>
          </a:p>
          <a:p>
            <a:r>
              <a:t>CNPJ 62696791000193 · Ofertas e colocação · Regulamento · ID 1143317 · 2026-03-20 · versão 1 · p. 39 · 2.6 · https://fnet.bmfbovespa.com.br/fnet/publico/visualizarDocumento?id=1143317</a:t>
            </a:r>
          </a:p>
          <a:p>
            <a:r>
              <a:t>CNPJ 62696791000193 · Ofertas e colocação · Excerto da fonte:</a:t>
            </a:r>
          </a:p>
          <a:p>
            <a:r>
              <a:t>2.6. O valor de mercado das Cotas de emissão da Classe poderá sofrer oscilações frequentes e  significativas, inclusive ao longo do dia. Como consequência, o valor de mercado das cotas de  emissão da Classe poderá não ref letir necessariamente seu valor patrimonial. Não será devida  pela Classe ou por qualquer pessoa, incluindo as instituições responsáveis pela distribuição  das cotas, os demais Cotistas da Classe, o Administrador e as instituições participantes da  of erta, qualquer multa ou penalidade de qualquer natureza, caso ocorra, por qualquer razão,</a:t>
            </a:r>
          </a:p>
          <a:p>
            <a:r>
              <a:t> (i) o alongamento do período de amortização das Cotas; (ii) a liquidação da Classe; ou, ainda,</a:t>
            </a:r>
          </a:p>
          <a:p>
            <a:r>
              <a:t> (iii) caso os Cotistas sof ram qualquer dano ou prejuízo resultante de tais eventos.</a:t>
            </a:r>
          </a:p>
          <a:p>
            <a:r>
              <a:t>3. Risco TributárioOs rendimentos e ganhos líquidos auf eridos pela Classe em aplicações f inanceiras de  renda f ixa ou de renda variável sujeitam-se à incidência do imposto de renda na f onte, observadas as  mesmas normas aplicáveis às pessoas jurídicas, podendo esse imposto ser compensado com o retido na  f onte pela Classe quando da distribuição de rendimentos e ganhos de capital aos Cotistas. Os rendimentos  auf eridos pela Classe, quando distribuídos aos Cotistas sujeitam-se à incidência do Imposto de Renda na  f onte à alíquota de 20% (vinte por cento). Os rendimentos e ganhos de capital auferidos pelos Cotistas na</a:t>
            </a:r>
          </a:p>
          <a:p>
            <a:r>
              <a:t>CNPJ 62696791000193 · Ofertas e colocação · Regulamento · ID 1143317 · 2026-03-20 · versão 1 · p. 28 · https://fnet.bmfbovespa.com.br/fnet/publico/visualizarDocumento?id=1143317</a:t>
            </a:r>
          </a:p>
          <a:p>
            <a:r>
              <a:t>CNPJ 62696791000193 · Ofertas e colocação · Excerto da fonte:</a:t>
            </a:r>
          </a:p>
          <a:p>
            <a:r>
              <a:t>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equivalente a 0,9% (nove décimos  por cento) ao ano aplicado sobre o Patrimônio Anexo I ao  Regulamento Líquido, observado o limite máximo de 4,5% (quatro  inteiros e cinquenta centésimos por cento) do volume captado na  respectiva oferta (“Taxa Máxima de Distribuição”).A Taxa Máxima de</a:t>
            </a:r>
          </a:p>
          <a:p>
            <a:r>
              <a:t>CNPJ 62696791000193 · Ofertas e colocação · Condição: Documentos atuais selecionados no inventário por categoria/escopo; a data documental isolada não comprova vigência jurídica.</a:t>
            </a:r>
          </a:p>
          <a:p>
            <a:r>
              <a:t>CNPJ 62696791000193 · Ofertas e colocação · Versão e prevalência: Documentos atuais selecionados no inventário por categoria/escopo; a data documental isolada não comprova vigência jurídica.</a:t>
            </a:r>
          </a:p>
          <a:p>
            <a:r>
              <a:t>CNPJ 62696791000193 · Ofertas e colocação · Resumo do histórico: {"count": 1, "dates": ["2026-03-27"], "document_count": 1, "sources": [{"document_id": "1148821", "title": "Instrumento Particular de Emissão de Cotas", "reference_date": "2026-03-27", "version": "1", "page": "1-3", "url": "https://fnet.bmfbovespa.com.br/fnet/publico/visualizarDocumento?id=1148821", "sha256": "86900e9dd498403696bfffbd4196443c83ec4d51ff21135e073c1966e1adf4c0"}], "reference": {"path": "history/62696791000193.json", "criterion_id": "offers", "total_count": 1, "preview_count": 1, "full_text_deferred": true, "sha256": "0e9ec199848320ec945708123ae0cb6075d76c05d94beed814d582031d353926"}}</a:t>
            </a:r>
          </a:p>
          <a:p>
            <a:r>
              <a:t>CNPJ 55563624000109 · Ofertas e colocação · Regulamento · ID 1192614 · 2026-04-30 · versão 1 · p. 25 · 12.9 · https://fnet.bmfbovespa.com.br/fnet/publico/visualizarDocumento?id=1192614</a:t>
            </a:r>
          </a:p>
          <a:p>
            <a:r>
              <a:t>CNPJ 55563624000109 · Ofertas e colocação · Excerto da fonte:</a:t>
            </a:r>
          </a:p>
          <a:p>
            <a:r>
              <a:t>12.9 Inclui-se entre as obrigações do GESTOR, contratar, em nome da Classe, se necessário, com terceiros  devidamente habilitados e autorizados, os serviços de distribuição das Cotas. A distribuição pública das Cotas  deverá ser realizada por distribuidores devidamente autorizados pela CVM, nos termos da regulamentação  aplicável.</a:t>
            </a:r>
          </a:p>
          <a:p>
            <a:r>
              <a:t>CNPJ 55563624000109 · Ofertas e colocação · Condição: Documentos atuais selecionados no inventário por categoria/escopo; a data documental isolada não comprova vigência jurídica.</a:t>
            </a:r>
          </a:p>
          <a:p>
            <a:r>
              <a:t>CNPJ 55563624000109 · Ofertas e colocação · Versão e prevalência: Documentos atuais selecionados no inventário por categoria/escopo; a data documental isolada não comprova vigência jurídica.</a:t>
            </a:r>
          </a:p>
          <a:p>
            <a:r>
              <a:t>CNPJ 55563624000109 · Ofertas e colocação · Resumo do histórico: {"count": 3, "dates": ["2024-07-03"], "document_count": 3, "sources": [{"document_id": "703295", "title": "Anúncio de Início", "reference_date": "2024-07-03", "version": "2", "page": 1, "url": "https://fnet.bmfbovespa.com.br/fnet/publico/visualizarDocumento?id=703295", "sha256": "12322b6dbf75e673723bd60910373db249451b72666792e18e0c7b6128f4608a"}, {"document_id": "702585", "title": "Anúncio de Início", "reference_date": "2024-07-03", "version": "1", "page": 1, "url": "https://fnet.bmfbovespa.com.br/fnet/publico/visualizarDocumento?id=702585", "sha256": "6708609ac7f0611118fb23ffd6d2cd6c7fd33275130407918ea42831baa712cd"}, {"document_id": "691674", "title": "Instrumento Particular de Emissão de Cotas", "reference_date": "2024-07-03", "version": "1", "page": 3, "url": "https://fnet.bmfbovespa.com.br/fnet/publico/visualizarDocumento?id=691674", "sha256": "78bf7b350f1785beae5f43bd209b5ed19e863cb9a2cff01542aac11dd63ca554"}], "reference": {"path": "history/55563624000109.json", "criterion_id": "offers", "total_count": 3, "preview_count": 3, "full_text_deferred": true, "sha256": "7835d573fb58a3c19adf5b8ecc2aee2bdbb9a88f7a0c0209b5f262b64c7522e3"}}</a:t>
            </a:r>
          </a:p>
          <a:p>
            <a:r>
              <a:t>CNPJ 62552447000120 · Ofertas e colocação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Ofertas e colocação · Resumo do histórico: {"count": 1, "dates": ["2025-09-03"], "document_count": 1, "sources": [{"document_id": "988020", "title": "Instrumento Particular de Emissão de Cotas", "reference_date": "2025-09-03", "version": "1", "page": "5-6", "url": "https://fnet.bmfbovespa.com.br/fnet/publico/visualizarDocumento?id=988020", "sha256": "8ecc8a771bb9713d64e5fc2052c489664cb0433801a9280db68e5187d35bf7a5"}], "reference": {"path": "history/62552447000120.json", "criterion_id": "offers", "total_count": 1, "preview_count": 1, "full_text_deferred": true, "sha256": "d95db8c0613d67ee84118c734588665265ea6b02f86a0318d6a844cbe1d0f82f"}}</a:t>
            </a:r>
          </a:p>
          <a:p>
            <a:r>
              <a:t>CNPJ 63953620000165 · Ofertas e colocação · Anexo ao Regulamento · ID 1222863 · 2026-06-02 · versão 1 · p. 10 · 6.9 · https://fnet.bmfbovespa.com.br/fnet/publico/visualizarDocumento?id=1222863</a:t>
            </a:r>
          </a:p>
          <a:p>
            <a:r>
              <a:t>CNPJ 63953620000165 · Ofertas e colocação · Excerto da fonte:</a:t>
            </a:r>
          </a:p>
          <a:p>
            <a:r>
              <a:t>6.9 As Cotas poderão ser objeto de oferta pública a ser realizada nos termos da Resolução CVM 160 (“Oferta”) e/ou  poderão ser colocadas de forma privada (“Colocação Privada”), bem como segundo outros ritos que venham a  ser previstos pela regulamentação. As Cotas deverão ser emitidas e subscritas dentro do prazo e nos termos e  condições da legislação aplicável, do presente Anexo e dos respectivos Boletins de Subscrição e/ou  Compromissos de Investimento.</a:t>
            </a:r>
          </a:p>
          <a:p>
            <a:r>
              <a:t>CNPJ 63953620000165 · Ofertas e colocação · Condição: Documentos atuais selecionados no inventário por categoria/escopo; a data documental isolada não comprova vigência jurídica.</a:t>
            </a:r>
          </a:p>
          <a:p>
            <a:r>
              <a:t>CNPJ 63953620000165 · Ofertas e colocação · Versão e prevalência: Documentos atuais selecionados no inventário por categoria/escopo; a data documental isolada não comprova vigência jurídica.</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Emissões e custos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Remuneração por subclasse e série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Remuneração por subclasse e série · Resumo do histórico: {"count": 1, "dates": ["2024-04-28"], "document_count": 1, "sources": [{"document_id": "670691", "title": "Regulamento", "reference_date": "2024-04-28", "version": "1", "page": "14", "url": "https://fnet.bmfbovespa.com.br/fnet/publico/visualizarDocumento?id=670691", "sha256": "bf16dd7f1a62d5cdbf2e2d54fef81783783f7310fbc99c3a8f00459bdf9d037b"}], "reference": {"path": "history/54871427000194.json", "criterion_id": "remuneration", "total_count": 1, "preview_count": 1, "full_text_deferred": true, "sha256": "35d7cd99be50c7287c9fb675cf4f2e736002315295a225a9efa79c8d9186d874"}}</a:t>
            </a:r>
          </a:p>
          <a:p>
            <a:r>
              <a:t>CNPJ 60010416000112 · Remuneração por subclasse e série · Instrumento Particular de Constituição/Encerramento do Fundo · ID 993785 · 20/03/2025 · versão 1ªemissão20/03/2025 · p. 5 · Suplemento1ªsênior BenchmarkSênior · https://fnet.bmfbovespa.com.br/fnet/publico/visualizarDocumento?id=993785</a:t>
            </a:r>
          </a:p>
          <a:p>
            <a:r>
              <a:t>CNPJ 60010416000112 · Remuneração por subclasse e série · Excerto da fonte:</a:t>
            </a:r>
          </a:p>
          <a:p>
            <a:r>
              <a:t>4,80% (quatro inteiros e oitenta centésimos por cento)calculado por Dia Útil à base de 1/252 (um inteiro e duzentos e cinquenta e dois avos); e (ii) “Benchmark Sênior Adicional”: o parâmetro adicional de rentabilidade a ser buscado pela Classe para remunerar as Cotas Seniores, correspondente 15,00% (quinze por cento) do excesso de spread das Cotas Subordinadas com cap de remuneração total das Cotas Seniores pela variação do CDI acrescido de 6,00% (seis por cento</a:t>
            </a:r>
          </a:p>
          <a:p>
            <a:r>
              <a:t>CNPJ 60010416000112 · Remuneração por subclasse e série · Condição: Termo específico da primeira emissão de 20/03/2025, distinto de taxa deperformance e do suplemento modelo com campos não preenchidos do regulamento.</a:t>
            </a:r>
          </a:p>
          <a:p>
            <a:r>
              <a:t>CNPJ 60010416000112 · Remuneração por subclasse e série · Versão e prevalência: Leitura específica das cláusulas indicadas; condições e conflitos preservados. Seleção documental atual não comprova vigência jurídica por data isolada.</a:t>
            </a:r>
          </a:p>
          <a:p>
            <a:r>
              <a:t>CNPJ 60010416000112 · Remuneração por subclasse e série · Resumo do histórico: {"count": 3, "dates": ["2025-03-20", "2025-05-12"], "document_count": 2, "sources": [{"document_id": "1004656", "title": "AGE", "reference_date": "2025-05-12", "version": "1", "page": 5, "url": "https://fnet.bmfbovespa.com.br/fnet/publico/visualizarDocumento?id=1004656", "sha256": "f6c9c009f6170e2b29f074b98522accec73f0c40efbf11f9ec2c8d3f1402616b"}, {"document_id": "993785", "title": "Instrumento Particular de Constituição/Encerramento do Fundo", "reference_date": "2025-03-20", "version": "1", "page": "4-5", "url": "https://fnet.bmfbovespa.com.br/fnet/publico/visualizarDocumento?id=993785", "sha256": "0826e0eae2c51afabf59bbc49fc7647598d03da5ca6de0f9725850a8bd6af457"}, {"document_id": "993785", "title": "Instrumento Particular de Constituição/Encerramento do Fundo", "reference_date": "2025-03-20", "version": "1", "page": 5, "url": "https://fnet.bmfbovespa.com.br/fnet/publico/visualizarDocumento?id=993785", "sha256": "0826e0eae2c51afabf59bbc49fc7647598d03da5ca6de0f9725850a8bd6af457"}], "reference": {"path": "history/60010416000112.json", "criterion_id": "remuneration", "total_count": 3, "preview_count": 3, "full_text_deferred": true, "sha256": "8e2bd813f4c51cf01f6bfaad164bafe69d2bbb192f753eac92da3a01c2e63046"}}</a:t>
            </a:r>
          </a:p>
          <a:p>
            <a:r>
              <a:t>CNPJ 62696791000193 · Remuneração por subclasse e série · Regulamento · ID 1143317 · 20/03/2026 · versão Regulamento — referência 20/03/2026 · p. 33 · Apêndice Sênior, 1.2 e 1.4 · https://fnet.bmfbovespa.com.br/fnet/publico/visualizarDocumento?id=1143317</a:t>
            </a:r>
          </a:p>
          <a:p>
            <a:r>
              <a:t>CNPJ 62696791000193 · Remuneração por subclasse e série · Excerto da fonte:</a:t>
            </a:r>
          </a:p>
          <a:p>
            <a:r>
              <a:t>1.2. As Cotas Seniores poderão ser divididas em séries com valores e prazos diferenciados para amortização, resgate e remuneração, sendo que cada série terá as mesmas características e conf erirá a seus titulares iguais direitos e obrigações nos termos deste Reg ulamento e do Apêndice ref erente a cada emissão/série de Cotas Seniores. 1.2. Benchmark. A Classe buscará atingir, para as Cotas Seniores, o “Benchmark”, correspondente à 100% (cem por cento) da variação positiva do CDI acrescida de 4,5% (quatro inteiros e cinco décimos por cento) ao ano. 1.3. O Benchmark não representa e nem devem ser considerados uma promessa, garantia ou sugestão de rentabilidade aos Cotistas Seniores, por parte da Classe, do Administrador, do Gestor e/ou do Cedente. 1.4. Independentemente do valor do Patrimônio Líquido da Classe, os Cotistas detentores de Cotas Seniores não f arão jus a uma rentabilidade superior ao Benchmark, o qual representará o limite máximo de remuneração possível para as Cotas Seniores. 2. Emissão, Subscrição e Integralização das Cotas 2.1. A Classe poderá emitir múltiplas Séries de Cotas Seniores, ficando ressalvado, no entanto, que cada nova Série de Cotas Seniores a ser emitida pela Classe</a:t>
            </a:r>
          </a:p>
          <a:p>
            <a:r>
              <a:t>CNPJ 62696791000193 · Remuneração por subclasse e série · Regulamento · ID 1143317 · 20/03/2026 · versão Regulamento — referência 20/03/2026 · p. 34 · Apêndice Sênior, 6.2 · https://fnet.bmfbovespa.com.br/fnet/publico/visualizarDocumento?id=1143317</a:t>
            </a:r>
          </a:p>
          <a:p>
            <a:r>
              <a:t>CNPJ 62696791000193 · Remuneração por subclasse e série · Excerto da fonte:</a:t>
            </a:r>
          </a:p>
          <a:p>
            <a:r>
              <a:t>6.2. Em complemento às Amortizações Programadas de Cotas Seniores, os Cotistas Seniores f arão jus, sempre que o Patrimônio Líquido da Classe assim permita e desde que o Valor Unitário das Cotas Seniores esteja superior ao valor de integralização das Cotas Seniores em circulação, a 50% (cinquenta por cento) de qualquer valor que exceder a Amortização das Cotas Subordinadas, conforme prevista no Apêndice da Subclasse Subordinada, a ser paga na Data de Amortização Programada de Cotas Seniores (“Amortização Extraordinária de Cotas Seniores”). 6.3. Os pagamentos das parcelas de Amortização e/ou de resgate das Cotas Seniores serão ef etuados, em moeda corrente nacional, pelo Valor Unitário das Cotas Seniores no dia do pagamento, calculado na forma descrita neste Apêndice e no Anexo I, por meio de depósito em conta de titularidade dos Cotistas titulares BTG Pactual 2 SAC: 0800 772 28 27 - Ouvidoria: 0800 722 00 48 - btgpactual.com</a:t>
            </a:r>
          </a:p>
          <a:p>
            <a:r>
              <a:t>CNPJ 62696791000193 · Remuneração por subclasse e série · Regulamento · ID 1143317 · 20/03/2026 · versão Regulamento — referência 20/03/2026 · p. 37 · Apêndice Júnior, 4.1–4.2 · https://fnet.bmfbovespa.com.br/fnet/publico/visualizarDocumento?id=1143317</a:t>
            </a:r>
          </a:p>
          <a:p>
            <a:r>
              <a:t>CNPJ 62696791000193 · Remuneração por subclasse e série · Excerto da fonte:</a:t>
            </a:r>
          </a:p>
          <a:p>
            <a:r>
              <a:t>4.1. Caso o Patrimônio Líquido da Classe assim permita, as Cotas Subordinadas f arão jus à amortização semestral, no último Dia Útil dos meses de janeiro e julho de cada ano, de valor equivalente ao excedente do valor de integralização das Cotas Subordinadas em circulação, limitado ao percentual de 100% (cem por cento) da variação positiva do CDI acrescida de 4,50% (quatro inteiros e cinco décimos por cento) ao ano, considerando, para tanto a razão entre (i) o valor de integralização das Cotas Subordinadas Júnior em circulação e (ii) o valor de cada uma das Cotas Subordinadas, a ser paga na Data de Amortização Programada de Cotas Seniores (“Amortização das Cotas Subordinadas”). 4.2. Em complemento às Amortizações das Cotas Subordinadas, os Cotistas Subordinados farão jus, sempre que o Patrimônio Líquido da Classe assim permita e desde que o Valor Unitário das Cotas Subordinadas esteja superior ao valor de integralização das Cotas Subordinadas em circulação, a 50% (cinquenta por cento) de qualquer valor que exceder a Amortização das Cotas Subordinadas, a ser paga na Data de Amortização Programada de Cotas Seniores (“Amortização Extraordinária de Cotas Seniores”). 5. Excesso de Subordinação 5.1. Verif icado excesso de subordinação,</a:t>
            </a:r>
          </a:p>
          <a:p>
            <a:r>
              <a:t>CNPJ 62696791000193 · Remuneração por subclasse e série · Condição: Benchmark é regra de atribuição, condicionado ao PL/resultados, sem garantia de rentabilidade. A subclasse mezanino é autorizada, mas não há apêndice mezanino no PDF consolidado obtido.</a:t>
            </a:r>
          </a:p>
          <a:p>
            <a:r>
              <a:t>CNPJ 62696791000193 · Remuneração por subclasse e série · Versão e prevalência: Leitura específica das cláusulas indicadas; condições e conflitos preservados. Seleção documental atual não comprova vigência jurídica por data isolada.</a:t>
            </a:r>
          </a:p>
          <a:p>
            <a:r>
              <a:t>CNPJ 62696791000193 · Remuneração por subclasse e série · Resumo do histórico: {"count": 1, "dates": ["2026-03-27"], "document_count": 1, "sources": [{"document_id": "1148821", "title": "Instrumento Particular de Emissão de Cotas", "reference_date": "2026-03-27", "version": "1", "page": "1-2", "url": "https://fnet.bmfbovespa.com.br/fnet/publico/visualizarDocumento?id=1148821", "sha256": "86900e9dd498403696bfffbd4196443c83ec4d51ff21135e073c1966e1adf4c0"}], "reference": {"path": "history/62696791000193.json", "criterion_id": "remuneration", "total_count": 1, "preview_count": 1, "full_text_deferred": true, "sha256": "0e9ec199848320ec945708123ae0cb6075d76c05d94beed814d582031d353926"}}</a:t>
            </a:r>
          </a:p>
          <a:p>
            <a:r>
              <a:t>CNPJ 55563624000109 · Remuneração por subclasse e série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Remuneração por subclasse e série · Resumo do histórico: {"count": 1, "dates": ["2026-04-30"], "document_count": 1, "sources": [{"document_id": "1192614", "title": "Regulamento", "reference_date": "2026-04-30", "version": "1", "page": "16-17", "url": "https://fnet.bmfbovespa.com.br/fnet/publico/visualizarDocumento?id=1192614", "sha256": "f56e63ace0acde41d2f47fb48f1ac7f3f7df5e2d32de092d7c5e075a52516632"}], "reference": {"path": "history/55563624000109.json", "criterion_id": "remuneration", "total_count": 1, "preview_count": 1, "full_text_deferred": true, "sha256": "7835d573fb58a3c19adf5b8ecc2aee2bdbb9a88f7a0c0209b5f262b64c7522e3"}}</a:t>
            </a:r>
          </a:p>
          <a:p>
            <a:r>
              <a:t>CNPJ 62552447000120 · Remuneração por subclasse e série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Remuneração por subclasse e série · Resumo do histórico: {"count": 1, "dates": ["2025-09-03"], "document_count": 1, "sources": [{"document_id": "988020", "title": "Instrumento Particular de Emissão de Cotas", "reference_date": "2025-09-03", "version": "1", "page": "5-6", "url": "https://fnet.bmfbovespa.com.br/fnet/publico/visualizarDocumento?id=988020", "sha256": "8ecc8a771bb9713d64e5fc2052c489664cb0433801a9280db68e5187d35bf7a5"}], "reference": {"path": "history/62552447000120.json", "criterion_id": "remuneration", "total_count": 1, "preview_count": 1, "full_text_deferred": true, "sha256": "d95db8c0613d67ee84118c734588665265ea6b02f86a0318d6a844cbe1d0f82f"}}</a:t>
            </a:r>
          </a:p>
          <a:p>
            <a:r>
              <a:t>CNPJ 63953620000165 · Remuneração por subclasse e série · Anexo ao Regulamento · ID 1222863 · 2026-06-02 · versão 1 · p. 22 · 1.2 · https://fnet.bmfbovespa.com.br/fnet/publico/visualizarDocumento?id=1222863</a:t>
            </a:r>
          </a:p>
          <a:p>
            <a:r>
              <a:t>CNPJ 63953620000165 · Remuneração por subclasse e série · Excerto da fonte:</a:t>
            </a:r>
          </a:p>
          <a:p>
            <a:r>
              <a:t>1.2. Benchmark Sênior. A Classe buscará atingir, para as Cotas Seniores, o Benchmark Sênior, qual seja, (a) para a parcela  do Patrimônio Líquido alocado em Direitos Creditórios Consignado Privado e/ou Ativos de Liquidez MT, a variação  positiva do CDI acrescida de 1,50% (um inteiro e cinco décimos por cento) ao ano, (b) para a parcela do Patrimônio  Líquido alocado em Ativos de Liquidez e/ou Direitos Creditórios TVM, a variação positiva do CDI.</a:t>
            </a:r>
          </a:p>
          <a:p>
            <a:r>
              <a:t>CNPJ 63953620000165 · Remuneração por subclasse e série · Anexo ao Regulamento · ID 1222863 · 2026-06-02 · versão 1 · p. 22 · 1.5 · https://fnet.bmfbovespa.com.br/fnet/publico/visualizarDocumento?id=1222863</a:t>
            </a:r>
          </a:p>
          <a:p>
            <a:r>
              <a:t>CNPJ 63953620000165 · Remuneração por subclasse e série · Excerto da fonte:</a:t>
            </a:r>
          </a:p>
          <a:p>
            <a:r>
              <a:t>1.5. Rentabilidade Adicional Sênior. Adicionalmente ao Benchmark Sênior, as Cotas Seniores efetivamente integralizadas  farão jus a uma rentabilidade adicional equivalente a 0,38% (trinta e oito centésimos por cento) incidente sobre o  montante financeiro integralizado pelo respectivo Cotista das Cotas Seniores (“Rentabilidade Adicional Sênior”), a  ser paga a cada Cotista Sênior, em uma única parcela, em até 40 (quarenta) dias corridos após a integralização das  respectivas Cotas Seniores, sendo automaticamente ajustada em caso de alteração da alíquota ou da forma de  incidência do IOF, e deixando de ser devida na hipótese de sua extinção.</a:t>
            </a:r>
          </a:p>
          <a:p>
            <a:r>
              <a:t> 2. Emissão, Subscrição e Integralização das Cotas</a:t>
            </a:r>
          </a:p>
          <a:p>
            <a:r>
              <a:t>CNPJ 63953620000165 · Remuneração por subclasse e série · Condição: Documentos atuais selecionados no inventário por categoria/escopo; a data documental isolada não comprova vigência jurídica.</a:t>
            </a:r>
          </a:p>
          <a:p>
            <a:r>
              <a:t>CNPJ 63953620000165 · Remuneração por subclasse e série · Versão e prevalência: Documentos atuais selecionados no inventário por categoria/escopo; a data documental isolada não comprova vigência jurídica.</a:t>
            </a:r>
          </a:p>
          <a:p>
            <a:r>
              <a:t>CNPJ 54871427000194 · Volume, VNU e emissão · Anúncio de Encerramento · ID 798101 · 2024-12-10 · versão 1 · p. 1 · https://fnet.bmfbovespa.com.br/fnet/publico/visualizarDocumento?id=798101</a:t>
            </a:r>
          </a:p>
          <a:p>
            <a:r>
              <a:t>CNPJ 54871427000194 · Volume, VNU e emissão · Excerto da fonte:</a:t>
            </a:r>
          </a:p>
          <a:p>
            <a:r>
              <a:t>Informações da Oferta  Valor Bruto da 2ª Quantidade de Cotas  Preço de Emissão da Cota  Emissão emitidas  R$ 55.000.000,00 55.000 R$ 1.000,00</a:t>
            </a:r>
          </a:p>
          <a:p>
            <a:r>
              <a:t>CNPJ 54871427000194 · Volume, VNU e emissão · Condição: Trechos do documento específico identificado com data mais recente; vigência jurídica não inferida.</a:t>
            </a:r>
          </a:p>
          <a:p>
            <a:r>
              <a:t>CNPJ 54871427000194 · Volume, VNU e emissão · Versão e prevalência: Trechos do documento específico identificado com data mais recente; vigência jurídica não inferida.</a:t>
            </a:r>
          </a:p>
          <a:p>
            <a:r>
              <a:t>CNPJ 54871427000194 · Volume, VNU e emissão · Resumo do histórico: {"count": 5, "dates": ["2024-06-11", "2024-06-13", "2024-12-10"], "document_count": 3, "sources": [{"document_id": "798101", "title": "Anúncio de Encerramento", "reference_date": "2024-12-10", "version": "1", "page": "1-2", "url": "https://fnet.bmfbovespa.com.br/fnet/publico/visualizarDocumento?id=798101", "sha256": "71618c432ad86002484571d66922b873e4fa91ed3543a109134ddee0bd872f20"}, {"document_id": "683482", "title": "AGE", "reference_date": "2024-06-13", "version": "1", "page": 1, "clause": "4.1", "url": "https://fnet.bmfbovespa.com.br/fnet/publico/visualizarDocumento?id=683482", "sha256": "3afbe254027691929935eaf19ebbb8634fb2ccd8e2fbea2cb2d81a7818f8d648"}, {"document_id": "677544", "title": "Anúncio de Encerramento", "reference_date": "2024-06-11", "version": "1", "page": 1, "url": "https://fnet.bmfbovespa.com.br/fnet/publico/visualizarDocumento?id=677544", "sha256": "5735adc30829e0e91623167d4fd602de01adb236e3d3e758bddb0a375c7067b1"}], "reference": {"path": "history/54871427000194.json", "criterion_id": "issue_volume", "total_count": 5, "preview_count": 3, "full_text_deferred": true, "sha256": "35d7cd99be50c7287c9fb675cf4f2e736002315295a225a9efa79c8d9186d874"}}</a:t>
            </a:r>
          </a:p>
          <a:p>
            <a:r>
              <a:t>CNPJ 60010416000112 · Volume, VNU e emissão · AGE · ID 1049114 · 2025-11-26 · versão 1 · p. 2 · https://fnet.bmfbovespa.com.br/fnet/publico/visualizarDocumento?id=1049114</a:t>
            </a:r>
          </a:p>
          <a:p>
            <a:r>
              <a:t>CNPJ 60010416000112 · Volume, VNU e emissão · Excerto da fonte:</a:t>
            </a:r>
          </a:p>
          <a:p>
            <a:r>
              <a:t>Este instrumento constitui o suplemento nº 3 (“Suplemento”) referente à 1ª emissão de cotas da Série B  da Subclasse Sênior da CLASSE ÚNICA DO MT CONSIGNADO PRIVADO I FUNDO DE  INVESTIMENTO EM DIREITOS CREDITÓRIOS RESPONSABILIDADE LIMITADA (“Classe” e  “FUNDO”, respectivamente), administrado pela BTG Pactual Serviços Financeiros S.A. Distribuidora  de Títulos e Valores Mobiliários, instituição com sede no Município do Rio de Janeiro, Estado do Rio de  Janeiro, na Praia de Botafogo, nº 501, 5º andar – parte, inscrita no CNPJ sob o nº 59.281.253/0001-23,  autorizada a funcionar pelo Banco Central do Brasil e autorizada pela Comissão de Valores Mobiliários  (“CVM”) para a atividade de administração de carteiras de valores mobiliários, de acordo com o Ato  Declaratório nº 8.695, de 20 de março de 2006 (“ADMINISTRADOR”), emitidas nos termos do regulamento  do FUNDO, do anexo descritivo da Classe do respectivo apêndice, devidamente registrado perante a CVM  (“Regulamento”, “Anexo da Classe”, “Apêndice” e “Cotas Seniores” respectivamente), a qual terá as  seguintes características:</a:t>
            </a:r>
          </a:p>
          <a:p>
            <a:r>
              <a:t> Número de Emissão, Valor São emitidas no âmbito da 1ª emissão da 3ª Série de Cotas Seniores da  Total da Emissão e Forma Classe, de 2,000,000 (dois milhões) de Cotas da 3ª Série da Subclasse  de Distribuição Sênior da Classe, com valor nominal unitário de R$ 1.000,00 (mil reais)  cada, totalizando o montante de R$ 2.000.000.000,00 (dois bilhões de  reais), as quais serão objeto de colocação privada, destinada ao Público-  Alvo (conforme definido no Anexo da Classe) (“Colocação Privada”).</a:t>
            </a:r>
          </a:p>
          <a:p>
            <a:r>
              <a:t> Valor Unitário de Emissão As Cotas Seniores da 3ª Série terão um valor unitário de R$ 1.000,00 (mil  reais) na respectiva Data de Emissão.</a:t>
            </a:r>
          </a:p>
          <a:p>
            <a:r>
              <a:t> Data de Emissão Data da 1ª Integralização.</a:t>
            </a:r>
          </a:p>
          <a:p>
            <a:r>
              <a:t> Valor Unitário de As Cotas Seniores da 3ª Série serão subscritas pelo Valor Unitário de  Integralização Emissão, e serão integralizadas pelo respectivo Valor Unitário, nos  termos do Regulamento, do Apêndice e deste Suplemento, sendo certo  que, nas emissões de novas Cotas Seniores da 3ª Série que não difiram,  em sua respectiva Subclasse, das Cotas Seniores da 3ª Série então em  circulação, o Valor Unitário de Integralização corresponderá ao Valor  Unitário da Cota apurado no Dia Útil em que os recursos aportados pelo  Cotista tornem-se efetivamente disponíveis à Classe.</a:t>
            </a:r>
          </a:p>
          <a:p>
            <a:r>
              <a:t> Investimento Mínimo por Não há  Investidor  Forma de Subscrição e As Cotas Seniores da 3ª Série deverão ser integralizadas, à vista, em  Integralização moeda corrente nacional, pelo Valor Unitário de Integralização, no ato de  subscrição.</a:t>
            </a:r>
          </a:p>
          <a:p>
            <a:r>
              <a:t> Ao subscrever Cotas Seniores da 3ª Série, cada Investidor deverá  assinar o Termo de Adesão, no qual confirmará, dentre outros, ter  conhecimento de todos os termos e condições do Fundo e do</a:t>
            </a:r>
          </a:p>
          <a:p>
            <a:r>
              <a:t>CNPJ 60010416000112 · Volume, VNU e emissão · Condição: Trechos do documento específico identificado com data mais recente; vigência jurídica não inferida.</a:t>
            </a:r>
          </a:p>
          <a:p>
            <a:r>
              <a:t>CNPJ 60010416000112 · Volume, VNU e emissão · Motivo: Cláusula primária localizada e citada, mas sua lista/condições extensas não admitem uma síntese literal curta confirmada. O trecho integral permanece nas fontes. A resposta da revisão anterior foi preservada no histórico, sem confirmação pelo documento atual.</a:t>
            </a:r>
          </a:p>
          <a:p>
            <a:r>
              <a:t>CNPJ 60010416000112 · Volume, VNU e emissão · Versão e prevalência: Trechos do documento específico identificado com data mais recente; vigência jurídica não inferida.</a:t>
            </a:r>
          </a:p>
          <a:p>
            <a:r>
              <a:t>CNPJ 60010416000112 · Volume, VNU e emissão · Resumo do histórico: {"count": 3, "dates": ["2025-03-20", "2025-05-12"], "document_count": 2, "sources": [{"document_id": "1004656", "title": "AGE", "reference_date": "2025-05-12", "version": "1", "page": 4, "url": "https://fnet.bmfbovespa.com.br/fnet/publico/visualizarDocumento?id=1004656", "sha256": "f6c9c009f6170e2b29f074b98522accec73f0c40efbf11f9ec2c8d3f1402616b"}, {"document_id": "993785", "title": "Instrumento Particular de Constituição/Encerramento do Fundo", "reference_date": "2025-03-20", "version": "1", "page": "2", "url": "https://fnet.bmfbovespa.com.br/fnet/publico/visualizarDocumento?id=993785", "sha256": "0826e0eae2c51afabf59bbc49fc7647598d03da5ca6de0f9725850a8bd6af457"}, {"document_id": "993785", "title": "Instrumento Particular de Constituição/Encerramento do Fundo", "reference_date": "2025-03-20", "version": "1", "page": 2, "url": "https://fnet.bmfbovespa.com.br/fnet/publico/visualizarDocumento?id=993785", "sha256": "0826e0eae2c51afabf59bbc49fc7647598d03da5ca6de0f9725850a8bd6af457"}], "reference": {"path": "history/60010416000112.json", "criterion_id": "issue_volume", "total_count": 3, "preview_count": 3, "full_text_deferred": true, "sha256": "8e2bd813f4c51cf01f6bfaad164bafe69d2bbb192f753eac92da3a01c2e63046"}}</a:t>
            </a:r>
          </a:p>
          <a:p>
            <a:r>
              <a:t>CNPJ 62696791000193 · Volume, VNU e emissão · Instrumento Particular de Emissão de Cotas · ID 1148821 · 27/03/2026 · versão Instrumento Particular de Emissão de Cotas — referência 27/03/2026 · p. 1 · Deliberação Conjunta, item1 · https://fnet.bmfbovespa.com.br/fnet/publico/visualizarDocumento?id=1148821</a:t>
            </a:r>
          </a:p>
          <a:p>
            <a:r>
              <a:t>CNPJ 62696791000193 · Volume, VNU e emissão · Excerto da fonte:</a:t>
            </a:r>
          </a:p>
          <a:p>
            <a:r>
              <a:t>1. Aprovar a 2ª (segunda) emissão da Subclasse Subordinada Júnior da Classe, composta por até 20.000 (vinte mil) Cotas Subordinadas Júnior, com valor nominal unitário de R$ 1.000,00 (mil reais), perfazendo o montante total de R$ 20.000.000,00 (vinte milhões de reais), as quais serão objeto de colocação privada, de acordo com os termos e condições definidos no Apêndice da Subclasse Subordinada Júnior constante do Anexo I Regulamento e descritas abaixo (“2ª Emissão da Subclasse Subordinada Júnior”): a) Rito: as Cotas Subordinadas Júnior objeto da 2ª Emissão da Subclasse Subordinada Júnior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Subordinada Júnior na data de integralização, calculado na forma prevista no respectivo Apêndice; BTG Pactual 1 SAC: 0800 772 28 27 - Ouvidoria: 0800 722 00 48 - btgpactual.com</a:t>
            </a:r>
          </a:p>
          <a:p>
            <a:r>
              <a:t>CNPJ 62696791000193 · Volume, VNU e emissão · Instrumento Particular de Emissão de Cotas · ID 1148821 · 27/03/2026 · versão Instrumento Particular de Emissão de Cotas — referência 27/03/2026 · p. 2 · Deliberação Conjunta, item2 · https://fnet.bmfbovespa.com.br/fnet/publico/visualizarDocumento?id=1148821</a:t>
            </a:r>
          </a:p>
          <a:p>
            <a:r>
              <a:t>CNPJ 62696791000193 · Volume, VNU e emissão · Excerto da fonte:</a:t>
            </a:r>
          </a:p>
          <a:p>
            <a:r>
              <a:t>2. Aprovar a 2ª (segunda) emissão da Subclasse Sênior da Classe, composta por até 150.000 (cento e cinquenta mil) Cotas Seniores, com valor nominal unitário de R$ 1.000,00 (mil reais), perfazendo o montante total de R$ 150.000.000,00 (cento e cinquenta milhões de reais), as quais serão objeto de colocação privada, de acordo com os termos e condições descritos no Apêndice da Subclasse Sênior constante do Anexo I Regulamento e descritas abaixo (“2ª Emissão da Subclasse Sênior”): a) Rito: as Cotas Seniores objeto da 2ª Emissão da Subclasse Sênior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Sênior na data de integralização, calculado na forma prevista no respectivo Apêndice; d) Forma de Integralização: as Cotas Seniores serão integralizadas mediante chamadas de capital, junto ao seu respectivo agente de custódia e/ou da Administradora na qualidade de escriturador das cotas, nos termos d</a:t>
            </a:r>
          </a:p>
          <a:p>
            <a:r>
              <a:t>CNPJ 62696791000193 · Volume, VNU e emissão · Condição: Volumes autorizados de emissão não comprovam captação ou integralização observada.</a:t>
            </a:r>
          </a:p>
          <a:p>
            <a:r>
              <a:t>CNPJ 62696791000193 · Volume, VNU e emissão · Versão e prevalência: Leitura específica das cláusulas indicadas; condições e conflitos preservados. Seleção documental atual não comprova vigência jurídica por data isolada.</a:t>
            </a:r>
          </a:p>
          <a:p>
            <a:r>
              <a:t>CNPJ 62696791000193 · Volume, VNU e emissão · Resumo do histórico: {"count": 2, "dates": ["2026-03-20", "2026-03-27"], "document_count": 2, "sources": [{"document_id": "1148821", "title": "Instrumento Particular de Emissão de Cotas", "reference_date": "2026-03-27", "version": "1", "page": "1-2", "url": "https://fnet.bmfbovespa.com.br/fnet/publico/visualizarDocumento?id=1148821", "sha256": "86900e9dd498403696bfffbd4196443c83ec4d51ff21135e073c1966e1adf4c0"}, {"document_id": "1143317", "title": "Regulamento", "reference_date": "2026-03-20", "version": "1", "page": 23, "clause": "11.3", "url": "https://fnet.bmfbovespa.com.br/fnet/publico/visualizarDocumento?id=1143317", "sha256": "32f62818d51c3ebeaf9ec012d3d7867f15c1aed6d10f0867c157a290df1cea48"}], "reference": {"path": "history/62696791000193.json", "criterion_id": "issue_volume", "total_count": 2, "preview_count": 2, "full_text_deferred": true, "sha256": "0e9ec199848320ec945708123ae0cb6075d76c05d94beed814d582031d353926"}}</a:t>
            </a:r>
          </a:p>
          <a:p>
            <a:r>
              <a:t>CNPJ 55563624000109 · Volume, VNU e emissão · Regulamento · ID 1192614 · 2026-04-30 · versão 1 · p. 17 · 5.13.2 · https://fnet.bmfbovespa.com.br/fnet/publico/visualizarDocumento?id=1192614</a:t>
            </a:r>
          </a:p>
          <a:p>
            <a:r>
              <a:t>CNPJ 55563624000109 · Volume, VNU e emissão · Excerto da fonte:</a:t>
            </a:r>
          </a:p>
          <a:p>
            <a:r>
              <a:t>5.13.2 Caso um Cotista do Fundo pretenda transferir suas Cotas para terceiros (“Cotista Vendedor”), deverá  notificar previamente o GESTOR, via e-mail, manifestando sua proposta de alienação de Cotas, a qual  deve incluir o interessado na aquisição e a quantidade de Cotas a serem alienadas e o preço para tal  alienação (“Proposta de Venda”). O GESTOR deverá manifestar aprovação para alienação das Cotas  objeto da Proposta de Venda (“Cotas Objeto”) em até 5 (cinco) Dias Úteis, observado que a ausência de  aprovação deverá ser entendida como aprovação tácita à alienação das Cotas Objeto.</a:t>
            </a:r>
          </a:p>
          <a:p>
            <a:r>
              <a:t>CNPJ 55563624000109 · Volume, VNU e emissão · Regulamento · ID 1192614 · 2026-04-30 · versão 1 · p. 39 · https://fnet.bmfbovespa.com.br/fnet/publico/visualizarDocumento?id=1192614</a:t>
            </a:r>
          </a:p>
          <a:p>
            <a:r>
              <a:t>CNPJ 55563624000109 · Volume, VNU e emissão · Excerto da fonte:</a:t>
            </a:r>
          </a:p>
          <a:p>
            <a:r>
              <a:t>(xxi) Ausência de propriedade direta dos ativos. Os direitos dos Cotistas serão exercidos sobre  todos os ativos da Carteira de modo não individualizado, proporcionalmente à quantidade de Cotas  detidas por cada um. Portanto, os Cotistas não terão qualquer direito de propriedade direta sobre as  Cotas da Classe Investida e os Ativos Financeiros de Liquidez integrantes da Carteira, ou mesmo sobre  os direitos creditórios e os ativos financeiros de liquidez integrantes da carteira da Classe Investida.</a:t>
            </a:r>
          </a:p>
          <a:p>
            <a:r>
              <a:t>CNPJ 55563624000109 · Volume, VNU e emissão · Condição: Documentos atuais selecionados no inventário por categoria/escopo; a data documental isolada não comprova vigência jurídica.</a:t>
            </a:r>
          </a:p>
          <a:p>
            <a:r>
              <a:t>CNPJ 55563624000109 · Volume, VNU e emissão · Versão e prevalência: Documentos atuais selecionados no inventário por categoria/escopo; a data documental isolada não comprova vigência jurídica.</a:t>
            </a:r>
          </a:p>
          <a:p>
            <a:r>
              <a:t>CNPJ 55563624000109 · Volume, VNU e emissão · Resumo do histórico: {"count": 3, "dates": ["2024-12-30", "2025-01-31", "2026-01-31"], "document_count": 3, "sources": [{"document_id": "1178840", "title": "Demonstrações Financeiras", "reference_date": "2026-01-31", "version": "1", "page": 25, "url": "https://fnet.bmfbovespa.com.br/fnet/publico/visualizarDocumento?id=1178840", "sha256": "c458e98664c5c907ddb5a05a94b120bed4e05295b2bfc420f5ba69af0a229abe"}, {"document_id": "891861", "title": "Demonstrações Financeiras", "reference_date": "2025-01-31", "version": "1", "page": 26, "url": "https://fnet.bmfbovespa.com.br/fnet/publico/visualizarDocumento?id=891861", "sha256": "e9cb9e6ddbe505fe068cfcac33605165a98313489de0d3ce6d4d238263c3f3e7"}, {"document_id": "811323", "title": "Anúncio de Encerramento", "reference_date": "2024-12-30", "version": "1", "page": 1, "url": "https://fnet.bmfbovespa.com.br/fnet/publico/visualizarDocumento?id=811323", "sha256": "ebc6bc661be5189acffb3c3e352de2aea0a8ca8431011d1237e1ae19da4f9c79"}], "reference": {"path": "history/55563624000109.json", "criterion_id": "issue_volume", "total_count": 3, "preview_count": 3, "full_text_deferred": true, "sha256": "7835d573fb58a3c19adf5b8ecc2aee2bdbb9a88f7a0c0209b5f262b64c7522e3"}}</a:t>
            </a:r>
          </a:p>
          <a:p>
            <a:r>
              <a:t>CNPJ 62552447000120 · Volume, VNU e emissão · AGE · ID 1315103 · 2026-09-08 · versão 1 · p. 1 · https://fnet.bmfbovespa.com.br/fnet/publico/visualizarDocumento?id=1315103</a:t>
            </a:r>
          </a:p>
          <a:p>
            <a:r>
              <a:t>CNPJ 62552447000120 · Volume, VNU e emissão · Excerto da fonte:</a:t>
            </a:r>
          </a:p>
          <a:p>
            <a:r>
              <a:t>a) Rito: as cotas objeto da Segunda Emissão não estão sujeitas a regulamentação  de oferta de valores mobiliários, conforme facultado pelo Art. 8º, inciso II, da  Resolução CVM nº 160, de 13 de julho de 2022;</a:t>
            </a:r>
          </a:p>
          <a:p>
            <a:r>
              <a:t> b) Preço de Emissão: R$ 1.000,00 (mil reais);</a:t>
            </a:r>
          </a:p>
          <a:p>
            <a:r>
              <a:t> c) Quantidade de Cotas: 10.000 (dez mil) Cotas;</a:t>
            </a:r>
          </a:p>
          <a:p>
            <a:r>
              <a:t> d) Preço de Integralização: será o valor da Cota vigente na data de integralização,  nos termos do respectivo boletim de subscrição;</a:t>
            </a:r>
          </a:p>
          <a:p>
            <a:r>
              <a:t> e) Forma de Integralização: as Cotas serão integralizadas à vista, em moeda  corrente nacional, junto ao seu respectivo agente de custódia e/ou da  Administradora na qualidade de escriturador das cotas;</a:t>
            </a:r>
          </a:p>
          <a:p>
            <a:r>
              <a:t> f) Período de colocação: a subscrição das Cotas, objeto da Segunda Emissão,  deverão ser realizadas no prazo máximo de 180 (cento e oitenta) dias, contados  da data de efeitos do presente instrumento.</a:t>
            </a:r>
          </a:p>
          <a:p>
            <a:r>
              <a:t>CNPJ 62552447000120 · Volume, VNU e emissão · Condição: Trechos do documento específico identificado com data mais recente; vigência jurídica não inferida.</a:t>
            </a:r>
          </a:p>
          <a:p>
            <a:r>
              <a:t>CNPJ 62552447000120 · Volume, VNU e emissão · Versão e prevalência: Trechos do documento específico identificado com data mais recente; vigência jurídica não inferida.</a:t>
            </a:r>
          </a:p>
          <a:p>
            <a:r>
              <a:t>CNPJ 62552447000120 · Volume, VNU e emissão · Resumo do histórico: {"count": 2, "dates": ["2025-09-03"], "document_count": 1, "sources": [{"document_id": "988020", "title": "Instrumento Particular de Emissão de Cotas", "reference_date": "2025-09-03", "version": "1", "page": "5", "url": "https://fnet.bmfbovespa.com.br/fnet/publico/visualizarDocumento?id=988020", "sha256": "8ecc8a771bb9713d64e5fc2052c489664cb0433801a9280db68e5187d35bf7a5"}, {"document_id": "988020", "title": "Instrumento Particular de Emissão de Cotas", "reference_date": "2025-09-03", "version": "1", "page": 2, "url": "https://fnet.bmfbovespa.com.br/fnet/publico/visualizarDocumento?id=988020", "sha256": "8ecc8a771bb9713d64e5fc2052c489664cb0433801a9280db68e5187d35bf7a5"}], "reference": {"path": "history/62552447000120.json", "criterion_id": "issue_volume", "total_count": 2, "preview_count": 2, "full_text_deferred": true, "sha256": "d95db8c0613d67ee84118c734588665265ea6b02f86a0318d6a844cbe1d0f82f"}}</a:t>
            </a:r>
          </a:p>
          <a:p>
            <a:r>
              <a:t>CNPJ 63953620000165 · Volume, VNU e emissão · Demonstrações Financeiras - Fusão, cisão e incorporação · ID 1327859 · 2026-05-15 · versão 1 · p. 31 · 15.000.000 · https://fnet.bmfbovespa.com.br/fnet/publico/visualizarDocumento?id=1327859</a:t>
            </a:r>
          </a:p>
          <a:p>
            <a:r>
              <a:t>CNPJ 63953620000165 · Volume, VNU e emissão · Excerto da fonte:</a:t>
            </a:r>
          </a:p>
          <a:p>
            <a:r>
              <a:t>15.000.000 (quinze bilhões de reais), , a serem objeto de colocação privada, nos termos  do Regulamento, da Resolução CVM 175 e do respectivo boletim de subscrição nos  seguintes termos:</a:t>
            </a:r>
          </a:p>
          <a:p>
            <a:r>
              <a:t> a. Montante Total da Colocação Privada: R$ 15.000.000 (quinze bilhões de  reais)  b. Quantidade de Cotas: 15.000.000 (quinze milhões) de Cotas Seniores;</a:t>
            </a:r>
          </a:p>
          <a:p>
            <a:r>
              <a:t> c. Preço de Emissão (Valor Unitário): R$ 1 (mil reais);</a:t>
            </a:r>
          </a:p>
          <a:p>
            <a:r>
              <a:t> d. Forma e Preço de Integralização: as Cotas serão integralizadas na forma  prevista no Boletim de Subscrição;</a:t>
            </a:r>
          </a:p>
          <a:p>
            <a:r>
              <a:t> e. Prazo da Colocação Privada: as Cotas serão colocadas em até 180 (cento e  oitenta) dias da data deste IPA.</a:t>
            </a:r>
          </a:p>
          <a:p>
            <a:r>
              <a:t>CNPJ 63953620000165 · Volume, VNU e emissão · Demonstrações Financeiras - Fusão, cisão e incorporação · ID 1327859 · 2026-05-15 · versão 1 · p. 31 · https://fnet.bmfbovespa.com.br/fnet/publico/visualizarDocumento?id=1327859</a:t>
            </a:r>
          </a:p>
          <a:p>
            <a:r>
              <a:t>CNPJ 63953620000165 · Volume, VNU e emissão · Excerto da fonte:</a:t>
            </a:r>
          </a:p>
          <a:p>
            <a:r>
              <a:t>Em Instrumento Particular de Alteração do MT Global Fundo de Investimento em Direitos  Creditórios, realizada em 08 de janeiro de 2026, foram deliberadas as seguintes matérias:</a:t>
            </a:r>
          </a:p>
          <a:p>
            <a:r>
              <a:t>(i) Alterar regulamento vigente da classe em relação aos itens 4.17.1, 6.8 e o Capítulo 13,</a:t>
            </a:r>
          </a:p>
          <a:p>
            <a:r>
              <a:t> (b) incluir o item 3.1, 8.1.(ii), 8.2, 8.2.1, e 10.2.(xvii); e (c) excluir os itens 6.8.1, 6.8.2,</a:t>
            </a:r>
          </a:p>
          <a:p>
            <a:r>
              <a:t>(ii) Aprovar a 1ª (primeira) emissão de cotas seniores das Classes (“Cotas Seniores”), em  sistema de vasos comunicantes entre as Classes, de forma que a quantidade de Cotas  Seniores integralizadas em uma das Classes será deduzida da quantidade de Cotas  Seniores disponíveis para integralização nas demais Classes, no montante total de R$</a:t>
            </a:r>
          </a:p>
          <a:p>
            <a:r>
              <a:t>CNPJ 63953620000165 · Volume, VNU e emissão · Demonstrações Financeiras - Fusão, cisão e incorporação · ID 1327859 · 2026-05-15 · versão 1 · p. 32 · https://fnet.bmfbovespa.com.br/fnet/publico/visualizarDocumento?id=1327859</a:t>
            </a:r>
          </a:p>
          <a:p>
            <a:r>
              <a:t>CNPJ 63953620000165 · Volume, VNU e emissão · Excerto da fonte:</a:t>
            </a:r>
          </a:p>
          <a:p>
            <a:r>
              <a:t>f. Montante Total da Colocação Privada: R$ 7.000 (sete milhões de reais);</a:t>
            </a:r>
          </a:p>
          <a:p>
            <a:r>
              <a:t> g. Quantidade de Cotas: 7.000 (sete mil) de Cotas Subordinadas CP  h. Preço de Emissão (Valor Unitário): R$ 1 (mil reais);</a:t>
            </a:r>
          </a:p>
          <a:p>
            <a:r>
              <a:t> i. Forma e Preço de Integralização: as Cotas serão integralizadas na forma  prevista no Boletim de Subscrição;</a:t>
            </a:r>
          </a:p>
          <a:p>
            <a:r>
              <a:t> j. Prazo da Colocação Privada: as Cotas serão colocadas em até 180 (cento e  oitenta) dias da data deste IPA.</a:t>
            </a:r>
          </a:p>
          <a:p>
            <a:r>
              <a:t>CNPJ 63953620000165 · Volume, VNU e emissão · Condição: Trechos do documento específico identificado com data mais recente; vigência jurídica não inferida.</a:t>
            </a:r>
          </a:p>
          <a:p>
            <a:r>
              <a:t>CNPJ 63953620000165 · Volume, VNU e emissão · Versão e prevalência: Trechos do documento específico identificado com data mais recente; vigência jurídica não inferida.</a:t>
            </a:r>
          </a:p>
          <a:p>
            <a:r>
              <a:t>CNPJ 63953620000165 · Volume, VNU e emissão · Resumo do histórico: {"count": 8, "dates": ["2026-04-16", "2026-04-28", "2026-05-08"], "document_count": 3, "sources": [{"document_id": "1298691", "title": "Demonstrações Financeiras - Fusão, cisão e incorporação", "reference_date": "2026-05-08", "version": "1", "page": 32, "url": "https://fnet.bmfbovespa.com.br/fnet/publico/visualizarDocumento?id=1298691", "sha256": "58c570d9b8d4d265330d3db3ea81c435b8e44a6dab4002aa37790652a1ee9819"}, {"document_id": "1282180", "title": "Demonstrações Financeiras - Fusão, cisão e incorporação", "reference_date": "2026-04-28", "version": "1", "page": 32, "clause": "15.000.000", "url": "https://fnet.bmfbovespa.com.br/fnet/publico/visualizarDocumento?id=1282180", "sha256": "afaaa0e6809be4385e5bdb6c911aac582032c5bdbac3d7750234bf9eaf00438a"}, {"document_id": "1282179", "title": "Demonstrações Financeiras - Fusão, cisão e incorporação", "reference_date": "2026-04-16", "version": "1", "page": 32, "clause": "15.000.000", "url": "https://fnet.bmfbovespa.com.br/fnet/publico/visualizarDocumento?id=1282179", "sha256": "beb67afbcd64169019477673fd3b7c1edbfabbd9db07379388d8cdd5d3fc9395"}], "reference": {"path": "history/63953620000165.json", "criterion_id": "issue_volume", "total_count": 8, "preview_count": 3, "full_text_deferred": true, "sha256": "a7b89077f5e21098c2d601c303faabc3ff6b9729f89d8afecdc60fe1404720c1"}}</a:t>
            </a:r>
          </a:p>
          <a:p>
            <a:r>
              <a:t>CNPJ 54871427000194 · Administração: taxa, base e mínimo · Regulamento · ID 670691 · 28/04/2024 · versão Regulamento — referência 28/04/2024 · p. 25 · Anexo I, 13.1 · https://fnet.bmfbovespa.com.br/fnet/publico/visualizarDocumento?id=670691</a:t>
            </a:r>
          </a:p>
          <a:p>
            <a:r>
              <a:t>CNPJ 54871427000194 · Administração: taxa, base e mínimo · Excerto da fonte:</a:t>
            </a:r>
          </a:p>
          <a:p>
            <a:r>
              <a:t>13.1 Pelos serviços de administração, tesouraria, controladoria e escrituração, a Classe pagará a Taxa de Administração nos seguintes moldes: o valor correspondente a 0,10% (dez centésimos por cento) ao ano aplicado sobre o Patrimônio Líquido, observado o valor mínimo de R$ 10.000,00 (dez mil reais) mensais atualizado pela variação positiva do IGP-M a cada período de 12 (doze) meses, contados a partir do mês em que ocorrer a primeira integralização de Cotas (inclusive). 13.1.1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BTG Pactual SAC: 0800 772 28 27 - Ouvidoria: 0800 722 00 48 - btgpactual.com 19</a:t>
            </a:r>
          </a:p>
          <a:p>
            <a:r>
              <a:t>CNPJ 54871427000194 · Administração: taxa, base e mínimo · Regulamento · ID 670691 · 28/04/2024 · versão Regulamento — referência 28/04/2024 · p. 26 · Anexo I, 13.1.2–13.1.3 · https://fnet.bmfbovespa.com.br/fnet/publico/visualizarDocumento?id=670691</a:t>
            </a:r>
          </a:p>
          <a:p>
            <a:r>
              <a:t>CNPJ 54871427000194 · Administração: taxa, base e mínimo · Excerto da fonte:</a:t>
            </a:r>
          </a:p>
          <a:p>
            <a:r>
              <a:t>13.1.2 A Taxa de Administração será calculada e provisionada todo Dia Útil à razão de 1/252 (um inteiro e duzentos e cinquenta e dois avos) com base no valor do Patrimônio Líquido do Dia Útil anterior. 13.1.3 A Taxa de Administração será paga mensalmente ao ADMINISTRADOR, observado o disposto no item 13.2 abaixo, por período vencido, até o 5º (quinto) Dia Útil do mês subsequente à prestação dos serviços, a partir do mês em que ocorrer a primeira integralização de Cotas da Classe. 13.2 O ADMINISTRADOR poderá estabelecer que parcelas da Taxa de Administração sejam pagas diretamente pela Classe aos prestadores de serviços contratados, desde que o somatório dessas parcelas não exceda o montante total da Taxa de Administração. 13.3 Não serão cobradas da Classe ou dos Cotistas taxas de perf ormance, de ingresso ou de saída. Taxa de Gestão 13.4 Pelos serviços de gestão, a Classe pagará a Taxa de Gestão nos seguintes moldes: o valor correspondente a 0,20% (vinte centésimos por cento) ao ano aplicado sobre o Patrimônio Líquido, observado o valor mínimo de R$ 15.000,00 (quinze mil reais) mensais atualizado pela variação positiva do IGP-M a cada período de 12 (</a:t>
            </a:r>
          </a:p>
          <a:p>
            <a:r>
              <a:t>CNPJ 54871427000194 · Administração: taxa, base e mínimo · Versão e prevalência: Leitura específica das cláusulas indicadas; condições e conflitos preservados. Seleção documental atual não comprova vigência jurídica por data isolada.</a:t>
            </a:r>
          </a:p>
          <a:p>
            <a:r>
              <a:t>CNPJ 54871427000194 · Administração: taxa, base e mínimo · Resumo do histórico: {"count": 2, "dates": ["2024-04-19", "2024-04-28"], "document_count": 2, "sources": [{"document_id": "670691", "title": "Regulamento", "reference_date": "2024-04-28", "version": "1", "page": "25-26", "url": "https://fnet.bmfbovespa.com.br/fnet/publico/visualizarDocumento?id=670691", "sha256": "bf16dd7f1a62d5cdbf2e2d54fef81783783f7310fbc99c3a8f00459bdf9d037b"}, {"document_id": "670689", "title": "Regulamento", "reference_date": "2024-04-19", "version": "1", "page": 26, "clause": "13.1", "url": "https://fnet.bmfbovespa.com.br/fnet/publico/visualizarDocumento?id=670689", "sha256": "891bc9bc5d87bbc02ec139077a84d2702eb81ea02035fb71d24f5b8366b94a0b"}], "reference": {"path": "history/54871427000194.json", "criterion_id": "admin_fee", "total_count": 2, "preview_count": 2, "full_text_deferred": true, "sha256": "35d7cd99be50c7287c9fb675cf4f2e736002315295a225a9efa79c8d9186d874"}}</a:t>
            </a:r>
          </a:p>
          <a:p>
            <a:r>
              <a:t>CNPJ 60010416000112 · Administração: taxa, base e mínimo · Regulamento · ID 1051393 · 09/10/2025 · versão Regulamento09/10/2025 · p. 29 · AnexoI12.1–12.1.2 · https://fnet.bmfbovespa.com.br/fnet/publico/visualizarDocumento?id=1051393</a:t>
            </a:r>
          </a:p>
          <a:p>
            <a:r>
              <a:t>CNPJ 60010416000112 · Administração: taxa, base e mínimo · Excerto da fonte:</a:t>
            </a:r>
          </a:p>
          <a:p>
            <a:r>
              <a:t>12.1 Pelos serviços de administração, escrituração, controladoria de ativos e passivo, e gestão de carteira, o Administrador fará jus a uma Taxa de Administração equivalente a 0,40% (quarenta centésimos por cento) por ano sobre o Patrimônio Líquido da Classe, a ser pago mensalmente, por período vencido da data em que ocorrer a primeira integralização de Cotas da Classe A, até o 5º (quinto) Dia Útil do mês subsequente ao da prestação do serviço, assegurado um valor mínimo mensal de R$ 20.000,00 (vinte mil reais), sendo este valor atualizado pela variação positiva do IPCA sempre em janeiro de cada ano,</a:t>
            </a:r>
          </a:p>
          <a:p>
            <a:r>
              <a:t>CNPJ 60010416000112 · Administração: taxa, base e mínimo · Versão e prevalência: Leitura específica das cláusulas indicadas; condições e conflitos preservados. Seleção documental atual não comprova vigência jurídica por data isolada.</a:t>
            </a:r>
          </a:p>
          <a:p>
            <a:r>
              <a:t>CNPJ 60010416000112 · Administração: taxa, base e mínimo · Resumo do histórico: {"count": 2, "dates": ["2025-03-20", "2025-10-09"], "document_count": 2, "sources": [{"document_id": "1051393", "title": "Regulamento", "reference_date": "2025-10-09", "version": "1", "page": "29", "url": "https://fnet.bmfbovespa.com.br/fnet/publico/visualizarDocumento?id=1051393", "sha256": "8469d613078ffd5a6c1d217885d8a397a16342c0b937ae4aa24b106505f233ae"}, {"document_id": "993786", "title": "Regulamento", "reference_date": "2025-03-20", "version": "1", "page": 29, "clause": "12.1", "url": "https://fnet.bmfbovespa.com.br/fnet/publico/visualizarDocumento?id=993786", "sha256": "fd0fdd369a195510d81f81f505195a0b09e5f43522a990afa7d58c4f872921c8"}], "reference": {"path": "history/60010416000112.json", "criterion_id": "admin_fee", "total_count": 2, "preview_count": 2, "full_text_deferred": true, "sha256": "8e2bd813f4c51cf01f6bfaad164bafe69d2bbb192f753eac92da3a01c2e63046"}}</a:t>
            </a:r>
          </a:p>
          <a:p>
            <a:r>
              <a:t>CNPJ 62696791000193 · Administração: taxa, base e mínimo · Regulamento · ID 1143317 · 20/03/2026 · versão Regulamento — referência 20/03/2026 · p. 28 · Anexo I, 13.1, Taxa de Administração · https://fnet.bmfbovespa.com.br/fnet/publico/visualizarDocumento?id=1143317</a:t>
            </a:r>
          </a:p>
          <a:p>
            <a:r>
              <a:t>CNPJ 62696791000193 · Administração: taxa, base e mínimo · Excerto da fonte:</a:t>
            </a:r>
          </a:p>
          <a:p>
            <a:r>
              <a:t>Taxa de Administração 0,10% (um décimo por cento) ao ano com um mínimo mensal de R$ 10.000,00 (dez mil reais), pagos mensalmente até o 5º (quinto) Dia Útil do mês subsequente ao mês que se ref ere, a ser corrigida anualmente, em janeiro de cada ano, pela variação positiva do Índice Geral de Preços – Mercado, divulgado pela Fundação Getúlio Vargas (“Taxa de Administração” e “IGP-M”, respectivamente).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T</a:t>
            </a:r>
          </a:p>
          <a:p>
            <a:r>
              <a:t>CNPJ 62696791000193 · Administração: taxa, base e mínimo · Condição: A linha da tabela não explicita novamente a base de PL para administração; conservar essa limitação em vez de completar a frase por analogia.</a:t>
            </a:r>
          </a:p>
          <a:p>
            <a:r>
              <a:t>CNPJ 62696791000193 · Administração: taxa, base e mínimo · Motivo: Não localizada uma cláusula material para este critério nos textos identificados e processados. A ausência de resultado não comprova inexistência da regra.</a:t>
            </a:r>
          </a:p>
          <a:p>
            <a:r>
              <a:t>CNPJ 62696791000193 · Administração: taxa, base e mínimo · Versão e prevalência: Leitura específica das cláusulas indicadas; condições e conflitos preservados. Seleção documental atual não comprova vigência jurídica por data isolada.</a:t>
            </a:r>
          </a:p>
          <a:p>
            <a:r>
              <a:t>CNPJ 55563624000109 · Administração: taxa, base e mínimo · Regulamento · ID 1192614 · 30/04/2026 · versão Regulamento30/04/2026 · p. 28 · AnexoI13.1–13.2 · https://fnet.bmfbovespa.com.br/fnet/publico/visualizarDocumento?id=1192614</a:t>
            </a:r>
          </a:p>
          <a:p>
            <a:r>
              <a:t>CNPJ 55563624000109 · Administração: taxa, base e mínimo · Excerto da fonte:</a:t>
            </a:r>
          </a:p>
          <a:p>
            <a:r>
              <a:t>13.1 Sem prejuízo da Taxa Máxima de Administração, pelos serviços de administração do FUNDO e da Classe, tesouraria, controle e processamento dos ativos integrantes da Carteira, a Classe pagará, no mínimo, ao ADMINISTRADOR a Taxa Mínima de Administração nos seguintes moldes: o valor correspondente a R$ 10.000,00 (dez mil reais) mensais, atualizado pela variação positiva do IGP-M, no mês de janeiro de cada ano (“Taxa Mínima de Administração”). 13.1.1 Na hipótese de extinção do IGP-M, não divulgação ou impossibilidade de sua utilização, será utilizado o</a:t>
            </a:r>
          </a:p>
          <a:p>
            <a:r>
              <a:t>CNPJ 55563624000109 · Administração: taxa, base e mínimo · Condição: A base do adicional é PL do Mercado Crédito II; não é teto 0, 10% sobre PLGN e não substitui mínimo R$ 10 mil.</a:t>
            </a:r>
          </a:p>
          <a:p>
            <a:r>
              <a:t>CNPJ 55563624000109 · Administração: taxa, base e mínimo · Versão e prevalência: Leitura específica das cláusulas indicadas; condições e conflitos preservados. Seleção documental atual não comprova vigência jurídica por data isolada.</a:t>
            </a:r>
          </a:p>
          <a:p>
            <a:r>
              <a:t>CNPJ 55563624000109 · Administração: taxa, base e mínimo · Resumo do histórico: {"count": 3, "dates": ["2025-01-31", "2026-01-31", "2026-04-30"], "document_count": 3, "sources": [{"document_id": "1192614", "title": "Regulamento", "reference_date": "2026-04-30", "version": "1", "page": "28", "clause": "13.2", "url": "https://fnet.bmfbovespa.com.br/fnet/publico/visualizarDocumento?id=1192614", "sha256": "f56e63ace0acde41d2f47fb48f1ac7f3f7df5e2d32de092d7c5e075a52516632"}, {"document_id": "1178840", "title": "Demonstrações Financeiras", "reference_date": "2026-01-31", "version": "1", "page": 29, "url": "https://fnet.bmfbovespa.com.br/fnet/publico/visualizarDocumento?id=1178840", "sha256": "c458e98664c5c907ddb5a05a94b120bed4e05295b2bfc420f5ba69af0a229abe"}, {"document_id": "891861", "title": "Demonstrações Financeiras", "reference_date": "2025-01-31", "version": "1", "page": 30, "url": "https://fnet.bmfbovespa.com.br/fnet/publico/visualizarDocumento?id=891861", "sha256": "e9cb9e6ddbe505fe068cfcac33605165a98313489de0d3ce6d4d238263c3f3e7"}], "reference": {"path": "history/55563624000109.json", "criterion_id": "admin_fee", "total_count": 3, "preview_count": 3, "full_text_deferred": true, "sha256": "7835d573fb58a3c19adf5b8ecc2aee2bdbb9a88f7a0c0209b5f262b64c7522e3"}}</a:t>
            </a:r>
          </a:p>
          <a:p>
            <a:r>
              <a:t>CNPJ 62552447000120 · Administração: taxa, base e mínimo · Regulamento · ID 1200623 · 21/05/2026 · versão Consolidado21/05/2026 aprovado pelo ato1200625 · p. 30 · AnexoI13.1 TaxaGlobal · https://fnet.bmfbovespa.com.br/fnet/publico/visualizarDocumento?id=1200623</a:t>
            </a:r>
          </a:p>
          <a:p>
            <a:r>
              <a:t>CNPJ 62552447000120 · Administração: taxa, base e mínimo · Excerto da fonte:</a:t>
            </a:r>
          </a:p>
          <a:p>
            <a:r>
              <a:t>Taxa Global Pelos serviços de administração, gestão, custódia, tesouraria, controladoria, escrituração, a Classe pagará um valor equivalente a um percentual incidente sobre o Patrimônio Líquido da Classe, conf orme a f aixa de Patrimônio Líquido da Classe prevista na tabela abaixo, apropriada diariamente e paga mensalmente até o 5º (quinto) Dia Útil do mês subsequente ao mês que se ref ere, com</a:t>
            </a:r>
          </a:p>
          <a:p>
            <a:r>
              <a:t>CNPJ 62552447000120 · Administração: taxa, base e mínimo · Condição: Global remunera administração, gestão, custódia, tesouraria, controladoria e escrituração; percentual segregado não presumido.</a:t>
            </a:r>
          </a:p>
          <a:p>
            <a:r>
              <a:t>CNPJ 62552447000120 · Administração: taxa, base e mínimo · Motivo: Não localizada uma cláusula material para este critério nos textos identificados e processados. A ausência de resultado não comprova inexistência da regra.</a:t>
            </a:r>
          </a:p>
          <a:p>
            <a:r>
              <a:t>CNPJ 62552447000120 · Administração: taxa, base e mínimo · Versão e prevalência: Leitura específica das cláusulas indicadas; condições e conflitos preservados. Seleção documental atual não comprova vigência jurídica por data isolada.</a:t>
            </a:r>
          </a:p>
          <a:p>
            <a:r>
              <a:t>CNPJ 63953620000165 · Administração: taxa, base e mínimo · Anexo ao Regulamento · ID 1222863 · 02/06/2026 · versão AnexoConsignadoPrivado02/06/2026 · p. 19 · Capítulo13TaxadeAdministração · https://fnet.bmfbovespa.com.br/fnet/publico/visualizarDocumento?id=1222863</a:t>
            </a:r>
          </a:p>
          <a:p>
            <a:r>
              <a:t>CNPJ 63953620000165 · Administração: taxa, base e mínimo · Excerto da fonte:</a:t>
            </a:r>
          </a:p>
          <a:p>
            <a:r>
              <a:t>Taxa de Administração positiva do Índice Geral de Preços – Mercado, divulgado pela Fundação Getúlio Vargas (“Taxa de Administração” e “IGP-M”, respectivamente). Na hipótese de extinção do IGP-M, não divulgação ou impossibilidade de sua utilização, será utilizado o Índice Geral de Preços – Disponibilidade Interna, divulgado pela Fundação Getúlio Vargas, ou, na falta de ambos, pela variação do IPC – Índice de Preços ao Consumidor, divulgado pela</a:t>
            </a:r>
          </a:p>
          <a:p>
            <a:r>
              <a:t>CNPJ 63953620000165 · Administração: taxa, base e mínimo · Condição: Base é a parcela MT específica, não necessariamente todo o PL da classe.</a:t>
            </a:r>
          </a:p>
          <a:p>
            <a:r>
              <a:t>CNPJ 63953620000165 · Administração: taxa, base e mínimo · Versão e prevalência: Leitura específica das cláusulas indicadas; condições e conflitos preservados. Seleção documental atual não comprova vigência jurídica por data isolada.</a:t>
            </a:r>
          </a:p>
          <a:p>
            <a:r>
              <a:t>CNPJ 63953620000165 · Administração: taxa, base e mínimo · Resumo do histórico: {"count": 8, "dates": ["2026-04-28", "2026-05-08", "2026-05-15"], "document_count": 3, "sources": [{"document_id": "1327859", "title": "Demonstrações Financeiras - Fusão, cisão e incorporação", "reference_date": "2026-05-15", "version": "1", "page": 28, "url": "https://fnet.bmfbovespa.com.br/fnet/publico/visualizarDocumento?id=1327859", "sha256": "dca1c68babb97f887528c3e2e47596a9c30f507b067981a35655b2f2da9c8054"}, {"document_id": "1298691", "title": "Demonstrações Financeiras - Fusão, cisão e incorporação", "reference_date": "2026-05-08", "version": "1", "page": 28, "url": "https://fnet.bmfbovespa.com.br/fnet/publico/visualizarDocumento?id=1298691", "sha256": "58c570d9b8d4d265330d3db3ea81c435b8e44a6dab4002aa37790652a1ee9819"}, {"document_id": "1282180", "title": "Demonstrações Financeiras - Fusão, cisão e incorporação", "reference_date": "2026-04-28", "version": "1", "page": 29, "url": "https://fnet.bmfbovespa.com.br/fnet/publico/visualizarDocumento?id=1282180", "sha256": "afaaa0e6809be4385e5bdb6c911aac582032c5bdbac3d7750234bf9eaf00438a"}], "reference": {"path": "history/63953620000165.json", "criterion_id": "admin_fee", "total_count": 8, "preview_count": 3, "full_text_deferred": true, "sha256": "a7b89077f5e21098c2d601c303faabc3ff6b9729f89d8afecdc60fe1404720c1"}}</a:t>
            </a:r>
          </a:p>
          <a:p>
            <a:r>
              <a:t>CNPJ 54871427000194 · Gestão: taxa, base e mínimo · Regulamento · ID 670691 · 28/04/2024 · versão Regulamento — referência 28/04/2024 · p. 26 · Anexo I, 13.4–13.4.3 · https://fnet.bmfbovespa.com.br/fnet/publico/visualizarDocumento?id=670691</a:t>
            </a:r>
          </a:p>
          <a:p>
            <a:r>
              <a:t>CNPJ 54871427000194 · Gestão: taxa, base e mínimo · Excerto da fonte:</a:t>
            </a:r>
          </a:p>
          <a:p>
            <a:r>
              <a:t>13.4 Pelos serviços de gestão, a Classe pagará a Taxa de Gestão nos seguintes moldes: o valor correspondente a 0,20% (vinte centésimos por cento) ao ano aplicado sobre o Patrimônio Líquido, observado o valor mínimo de R$ 15.000,00 (quinze mil reais) mensais atualizado pela variação positiva do IGP-M a cada período de 12 (doze) meses, contados a partir do mês em que ocorrer a primeira integralização de Cotas (inclusive). 13.4.1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13.4.2 A Taxa de Gestão será calculada e provisionada todo Dia Útil à razão de 1/252 (um inteiro e duzentos e cinquenta e dois avos) com base no valor do Patrimônio Líquido do Dia Útil anterior. 13.4.3 A Taxa de Gestão será paga mensalmente ao GESTOR, observado o disposto no item 13.5 abaixo, por período vencido, até o 5º (quinto) Dia Útil do mês subsequente à prestação dos ser</a:t>
            </a:r>
          </a:p>
          <a:p>
            <a:r>
              <a:t>CNPJ 54871427000194 · Gestão: taxa, base e mínimo · Versão e prevalência: Leitura específica das cláusulas indicadas; condições e conflitos preservados. Seleção documental atual não comprova vigência jurídica por data isolada.</a:t>
            </a:r>
          </a:p>
          <a:p>
            <a:r>
              <a:t>CNPJ 54871427000194 · Gestão: taxa, base e mínimo · Resumo do histórico: {"count": 2, "dates": ["2024-04-19", "2024-04-28"], "document_count": 2, "sources": [{"document_id": "670691", "title": "Regulamento", "reference_date": "2024-04-28", "version": "1", "page": "26", "url": "https://fnet.bmfbovespa.com.br/fnet/publico/visualizarDocumento?id=670691", "sha256": "bf16dd7f1a62d5cdbf2e2d54fef81783783f7310fbc99c3a8f00459bdf9d037b"}, {"document_id": "670689", "title": "Regulamento", "reference_date": "2024-04-19", "version": "1", "page": 27, "clause": "13.3", "url": "https://fnet.bmfbovespa.com.br/fnet/publico/visualizarDocumento?id=670689", "sha256": "891bc9bc5d87bbc02ec139077a84d2702eb81ea02035fb71d24f5b8366b94a0b"}], "reference": {"path": "history/54871427000194.json", "criterion_id": "management_fee", "total_count": 2, "preview_count": 2, "full_text_deferred": true, "sha256": "35d7cd99be50c7287c9fb675cf4f2e736002315295a225a9efa79c8d9186d874"}}</a:t>
            </a:r>
          </a:p>
          <a:p>
            <a:r>
              <a:t>CNPJ 60010416000112 · Gestão: taxa, base e mínimo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Gestão: taxa, base e mínimo · Resumo do histórico: {"count": 1, "dates": ["2025-10-09"], "document_count": 1, "sources": [{"document_id": "1051393", "title": "Regulamento", "reference_date": "2025-10-09", "version": "1", "page": "29, 46", "url": "https://fnet.bmfbovespa.com.br/fnet/publico/visualizarDocumento?id=1051393", "sha256": "8469d613078ffd5a6c1d217885d8a397a16342c0b937ae4aa24b106505f233ae"}], "reference": {"path": "history/60010416000112.json", "criterion_id": "management_fee", "total_count": 1, "preview_count": 1, "full_text_deferred": true, "sha256": "8e2bd813f4c51cf01f6bfaad164bafe69d2bbb192f753eac92da3a01c2e63046"}}</a:t>
            </a:r>
          </a:p>
          <a:p>
            <a:r>
              <a:t>CNPJ 62696791000193 · Gestão: taxa, base e mínimo · Regulamento · ID 1143317 · 20/03/2026 · versão Regulamento — referência 20/03/2026 · p. 28 · Anexo I, 13.1, Taxa de Gestão · https://fnet.bmfbovespa.com.br/fnet/publico/visualizarDocumento?id=1143317</a:t>
            </a:r>
          </a:p>
          <a:p>
            <a:r>
              <a:t>CNPJ 62696791000193 · Gestão: taxa, base e mínimo · Excerto da fonte:</a:t>
            </a:r>
          </a:p>
          <a:p>
            <a:r>
              <a:t>Taxa de Gestão 0% (zero por cento) ao ano apropriada diariamente na base de 252 (duzentos e cinquenta e dois) Dias Úteis, e paga mensalmente, até o 5º (quinto) Dia Útil do mês subsequente ao mês que se ref ere, incidente sobre o Patrimônio Líquido da Classe (“Taxa de Gestão”). Taxa Máxima de Custódia 0,00% (zero por cento) ao ano, incidente sobre o Patrimônio Líquido da Classe (“Taxa Máxima de Custódia”). Taxa de Performance Não será devido pela Classe o pagamento de Taxa de Perf ormance. 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a:t>
            </a:r>
          </a:p>
          <a:p>
            <a:r>
              <a:t>CNPJ 62696791000193 · Gestão: taxa, base e mínimo · Motivo: Não localizada uma cláusula material para este critério nos textos identificados e processados. A ausência de resultado não comprova inexistência da regra.</a:t>
            </a:r>
          </a:p>
          <a:p>
            <a:r>
              <a:t>CNPJ 62696791000193 · Gestão: taxa, base e mínimo · Versão e prevalência: Leitura específica das cláusulas indicadas; condições e conflitos preservados. Seleção documental atual não comprova vigência jurídica por data isolada.</a:t>
            </a:r>
          </a:p>
          <a:p>
            <a:r>
              <a:t>CNPJ 55563624000109 · Gestão: taxa, base e mínimo · Regulamento · ID 1192614 · 30/04/2026 · versão Regulamento30/04/2026 · p. 29 · AnexoI13.4–13.7.1 · https://fnet.bmfbovespa.com.br/fnet/publico/visualizarDocumento?id=1192614</a:t>
            </a:r>
          </a:p>
          <a:p>
            <a:r>
              <a:t>CNPJ 55563624000109 · Gestão: taxa, base e mínimo · Excerto da fonte:</a:t>
            </a:r>
          </a:p>
          <a:p>
            <a:r>
              <a:t>13.4 Sem prejuízo da Taxa Máxima de Gestão, pelos serviços de gestão, a Classe pagará ao GESTOR: (i) a taxa de gestão ordinária correspondente a 0,50% (cinquenta centésimos por cento) ao ano, incidente sobre o Patrimônio Líquido da Classe, observado o montante mínimo de R$ 40.000,00 (quarenta mil reais) ao mês, corrigido anualmente pela variação positiva do Índice de Preços ao Consumidor Amplo, divulgado pelo Instituto Brasileiro de Geografia e Estatística – IBGE (“Taxa de Gestão”); e (ii) a taxa de gestão extraordinária apurada e paga no momento de cada</a:t>
            </a:r>
          </a:p>
          <a:p>
            <a:r>
              <a:t>CNPJ 55563624000109 · Gestão: taxa, base e mínimo · Condição: Adicional é por integralização, não taxa anual.</a:t>
            </a:r>
          </a:p>
          <a:p>
            <a:r>
              <a:t>CNPJ 55563624000109 · Gestão: taxa, base e mínimo · Versão e prevalência: Leitura específica das cláusulas indicadas; condições e conflitos preservados. Seleção documental atual não comprova vigência jurídica por data isolada.</a:t>
            </a:r>
          </a:p>
          <a:p>
            <a:r>
              <a:t>CNPJ 55563624000109 · Gestão: taxa, base e mínimo · Resumo do histórico: {"count": 3, "dates": ["2025-01-31", "2026-01-31", "2026-04-30"], "document_count": 3, "sources": [{"document_id": "1192614", "title": "Regulamento", "reference_date": "2026-04-30", "version": "1", "page": "29", "url": "https://fnet.bmfbovespa.com.br/fnet/publico/visualizarDocumento?id=1192614", "sha256": "f56e63ace0acde41d2f47fb48f1ac7f3f7df5e2d32de092d7c5e075a52516632"}, {"document_id": "1178840", "title": "Demonstrações Financeiras", "reference_date": "2026-01-31", "version": "1", "page": 29, "url": "https://fnet.bmfbovespa.com.br/fnet/publico/visualizarDocumento?id=1178840", "sha256": "c458e98664c5c907ddb5a05a94b120bed4e05295b2bfc420f5ba69af0a229abe"}, {"document_id": "891861", "title": "Demonstrações Financeiras", "reference_date": "2025-01-31", "version": "1", "page": 30, "url": "https://fnet.bmfbovespa.com.br/fnet/publico/visualizarDocumento?id=891861", "sha256": "e9cb9e6ddbe505fe068cfcac33605165a98313489de0d3ce6d4d238263c3f3e7"}], "reference": {"path": "history/55563624000109.json", "criterion_id": "management_fee", "total_count": 3, "preview_count": 3, "full_text_deferred": true, "sha256": "7835d573fb58a3c19adf5b8ecc2aee2bdbb9a88f7a0c0209b5f262b64c7522e3"}}</a:t>
            </a:r>
          </a:p>
          <a:p>
            <a:r>
              <a:t>CNPJ 62552447000120 · Gestão: taxa, base e mínimo · Motivo: Não localizada uma cláusula material para este critério nos textos identificados e processados. A ausência de resultado não comprova inexistência da regra.</a:t>
            </a:r>
          </a:p>
          <a:p>
            <a:r>
              <a:t>CNPJ 63953620000165 · Gestão: taxa, base e mínimo · Anexo ao Regulamento · ID 1222863 · 02/06/2026 · versão AnexoConsignadoPrivado02/06/2026 · p. 20 · Capítulo13TaxadeGestão · https://fnet.bmfbovespa.com.br/fnet/publico/visualizarDocumento?id=1222863</a:t>
            </a:r>
          </a:p>
          <a:p>
            <a:r>
              <a:t>CNPJ 63953620000165 · Gestão: taxa, base e mínimo · Excerto da fonte:</a:t>
            </a:r>
          </a:p>
          <a:p>
            <a:r>
              <a:t>0,05% (cinco centésimos por cento) ao ano, apropriada diariamente na base de 252 (duzentos e cinquenta e dois) Dias Úteis, e paga mensalmente, até o 5º (quinto) Dia Útil do mês subsequente ao mês que se refere, incidente sobre o Patrimônio Líquido da Classe alocado em Direitos Creditórios Consignado Privado e/ou Ativos de Liquidez MT, observada remuneração mínima mensal de R$ 2.500,00 (dois mil e quinhentos reais), a ser corrigida anualmente, em janeiro de cada ano, pela variação</a:t>
            </a:r>
          </a:p>
          <a:p>
            <a:r>
              <a:t>CNPJ 63953620000165 · Gestão: taxa, base e mínimo · Versão e prevalência: Leitura específica das cláusulas indicadas; condições e conflitos preservados. Seleção documental atual não comprova vigência jurídica por data isolada.</a:t>
            </a:r>
          </a:p>
          <a:p>
            <a:r>
              <a:t>CNPJ 63953620000165 · Gestão: taxa, base e mínimo · Resumo do histórico: {"count": 8, "dates": ["2026-04-28", "2026-05-08", "2026-05-15"], "document_count": 3, "sources": [{"document_id": "1327859", "title": "Demonstrações Financeiras - Fusão, cisão e incorporação", "reference_date": "2026-05-15", "version": "1", "page": 28, "url": "https://fnet.bmfbovespa.com.br/fnet/publico/visualizarDocumento?id=1327859", "sha256": "dca1c68babb97f887528c3e2e47596a9c30f507b067981a35655b2f2da9c8054"}, {"document_id": "1298691", "title": "Demonstrações Financeiras - Fusão, cisão e incorporação", "reference_date": "2026-05-08", "version": "1", "page": 28, "url": "https://fnet.bmfbovespa.com.br/fnet/publico/visualizarDocumento?id=1298691", "sha256": "58c570d9b8d4d265330d3db3ea81c435b8e44a6dab4002aa37790652a1ee9819"}, {"document_id": "1282180", "title": "Demonstrações Financeiras - Fusão, cisão e incorporação", "reference_date": "2026-04-28", "version": "1", "page": 29, "url": "https://fnet.bmfbovespa.com.br/fnet/publico/visualizarDocumento?id=1282180", "sha256": "afaaa0e6809be4385e5bdb6c911aac582032c5bdbac3d7750234bf9eaf00438a"}], "reference": {"path": "history/63953620000165.json", "criterion_id": "management_fee", "total_count": 8, "preview_count": 3, "full_text_deferred": true, "sha256": "a7b89077f5e21098c2d601c303faabc3ff6b9729f89d8afecdc60fe1404720c1"}}</a:t>
            </a:r>
          </a:p>
          <a:p>
            <a:r>
              <a:t>CNPJ 54871427000194 · Performance: benchmark e apuração · Regulamento · ID 670691 · 28/04/2024 · versão Regulamento — referência 28/04/2024 · p. 26 · Anexo I, 13.3 · https://fnet.bmfbovespa.com.br/fnet/publico/visualizarDocumento?id=670691</a:t>
            </a:r>
          </a:p>
          <a:p>
            <a:r>
              <a:t>CNPJ 54871427000194 · Performance: benchmark e apuração · Excerto da fonte:</a:t>
            </a:r>
          </a:p>
          <a:p>
            <a:r>
              <a:t>13.3 Não serão cobradas da Classe ou dos Cotistas taxas de perf ormance, de ingresso ou de saída. Taxa de Gestão 13.4 Pelos serviços de gestão, a Classe pagará a Taxa de Gestão nos seguintes moldes: o valor correspondente a 0,20% (vinte centésimos por cento) ao ano aplicado sobre o Patrimônio Líquido, observado o valor mínimo de R$ 15.000,00 (quinze mil reais) mensais atualizado pela variação positiva do IGP-M a cada período de 12 (doze) meses, contados a partir do mês em que ocorrer a primeira integralização de Cotas (inclusive). 13.4.1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13.4.2 A Taxa de Gestão será calculada e provisionada todo Dia Útil à razão de 1/252 (um inteiro e duzentos e cinquenta e dois avos) com base no valor do Patrimônio Líquido do Dia Útil anterior. 13.4.3 A Taxa de Gestão será paga mensalmente ao GESTOR, observado o disposto no item 13.5</a:t>
            </a:r>
          </a:p>
          <a:p>
            <a:r>
              <a:t>CNPJ 54871427000194 · Performance: benchmark e apuração · Motivo: Não localizada uma cláusula material para este critério nos textos identificados e processados. A ausência de resultado não comprova inexistência da regra.</a:t>
            </a:r>
          </a:p>
          <a:p>
            <a:r>
              <a:t>CNPJ 54871427000194 · Performance: benchmark e apuração · Versão e prevalência: Leitura específica das cláusulas indicadas; condições e conflitos preservados. Seleção documental atual não comprova vigência jurídica por data isolada.</a:t>
            </a:r>
          </a:p>
          <a:p>
            <a:r>
              <a:t>CNPJ 60010416000112 · Performance: benchmark e apuração · Regulamento · ID 1051393 · 09/10/2025 · versão Regulamento09/10/2025 · p. 29 · AnexoI12.2 · https://fnet.bmfbovespa.com.br/fnet/publico/visualizarDocumento?id=1051393</a:t>
            </a:r>
          </a:p>
          <a:p>
            <a:r>
              <a:t>CNPJ 60010416000112 · Performance: benchmark e apuração · Excerto da fonte:</a:t>
            </a:r>
          </a:p>
          <a:p>
            <a:r>
              <a:t>12.2 Não serão cobradas da Classe ou dos Cotistas taxas de perf ormance, de ingresso ou de saída. Taxa Máxima de Custódia 12.3 Pelos serviços de custódia qualificada dos Direitos Creditórios e dos Ativos Financeiros de Liquidez não será devida nenhuma remuneração ao Custodiante, de modo que taxa máxima de custódia a ser paga pela Classe ao Custodiante corresponde a 0% (zero por cento) ao ano. Remuneração do Agente de Retenção/Cobrança 12.4 Para a prestação de serviços à Classe, o Agente de Retenção/Cobrança f ará jus a uma remuneração a ser auf erida todo Dia Útil e paga mensalmente, a título de Encargo da Cla</a:t>
            </a:r>
          </a:p>
          <a:p>
            <a:r>
              <a:t>CNPJ 60010416000112 · Performance: benchmark e apuração · Motivo: Não localizada uma cláusula material para este critério nos textos identificados e processados. A ausência de resultado não comprova inexistência da regra.</a:t>
            </a:r>
          </a:p>
          <a:p>
            <a:r>
              <a:t>CNPJ 60010416000112 · Performance: benchmark e apuração · Versão e prevalência: Leitura específica das cláusulas indicadas; condições e conflitos preservados. Seleção documental atual não comprova vigência jurídica por data isolada.</a:t>
            </a:r>
          </a:p>
          <a:p>
            <a:r>
              <a:t>CNPJ 62696791000193 · Performance: benchmark e apuração · Regulamento · ID 1143317 · 20/03/2026 · versão Regulamento — referência 20/03/2026 · p. 28 · Anexo I, 13.1, Taxa de Performance · https://fnet.bmfbovespa.com.br/fnet/publico/visualizarDocumento?id=1143317</a:t>
            </a:r>
          </a:p>
          <a:p>
            <a:r>
              <a:t>CNPJ 62696791000193 · Performance: benchmark e apuração · Excerto da fonte:</a:t>
            </a:r>
          </a:p>
          <a:p>
            <a:r>
              <a:t>Taxa de Performance Não será devido pela Classe o pagamento de Taxa de Perf ormance. 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equivalente a 0,9% (nove décimos por cento) ao ano aplicado sobre o Patrimônio Anexo I ao Regulamento Líquido, observado o limite máximo de 4,5% (quatro inteiros e cinquenta centésimos por cento) do volume captado na respectiva oferta (“Taxa Máxima de Distribuição”).A Taxa Máxima de BTG Pactual SAC: 0800 772 2827 | Ouvidoria: 0800 722 0048 | btgpactual.co m 23</a:t>
            </a:r>
          </a:p>
          <a:p>
            <a:r>
              <a:t>CNPJ 62696791000193 · Performance: benchmark e apuração · Regulamento · ID 1143317 · 20/03/2026 · versão Regulamento — referência 20/03/2026 · p. 29 · Anexo I, 13.1, Taxa de Ingresso · https://fnet.bmfbovespa.com.br/fnet/publico/visualizarDocumento?id=1143317</a:t>
            </a:r>
          </a:p>
          <a:p>
            <a:r>
              <a:t>CNPJ 62696791000193 · Performance: benchmark e apuração · Excerto da fonte:</a:t>
            </a:r>
          </a:p>
          <a:p>
            <a:r>
              <a:t>Taxa de Ingresso Não será cobrada dos Cotistas Taxa de Ingresso. 14 TRIBUTAÇÃO 14.1 O disposto neste Capítulo f oi elaborado com base na legislação e regulamentação em vigor produzindo ef eitos, tem por objetivo descrever de f orma sumária o tratamento tributário aplicável em regra aos cotistas, ao Fundo e à Classe, não se aplicando aos cotistas sujeitos a regras de tributação específicas, na f orma da legislação e regulamentação em vigor. 14.2 Há exceções (inclusive relativas à natureza ou ao domicílio do investidor para fins fiscais) em relação ao tratamento tributário descrito abaixo e tributos adicionais que podem ser aplicados, motivo pelo qual os cotistas devem consultar seus assessores jurídicos com relação à tributação aplicável nos investimentos realizados na Classe. Tributação da Classe / Operações da carteira: Como regra geral, os rendimentos auferidos pela carteira da Classe não estão sujeitos à incidência do imposto de renda, exceto ganhos auferidos em aplicações financeiras de renda fixa ou variável, que se sujeitam à incidência do Imposto de Renda Retido na Fonte (“IRF”) de acordo com as mesmas regras de tributação aplic</a:t>
            </a:r>
          </a:p>
          <a:p>
            <a:r>
              <a:t>CNPJ 62696791000193 · Performance: benchmark e apuração · Motivo: Não localizada uma cláusula material para este critério nos textos identificados e processados. A ausência de resultado não comprova inexistência da regra.</a:t>
            </a:r>
          </a:p>
          <a:p>
            <a:r>
              <a:t>CNPJ 62696791000193 · Performance: benchmark e apuração · Versão e prevalência: Leitura específica das cláusulas indicadas; condições e conflitos preservados. Seleção documental atual não comprova vigência jurídica por data isolada.</a:t>
            </a:r>
          </a:p>
          <a:p>
            <a:r>
              <a:t>CNPJ 55563624000109 · Performance: benchmark e apuração · Regulamento · ID 1192614 · 30/04/2026 · versão Regulamento30/04/2026 · p. 29 · AnexoI13.10 · https://fnet.bmfbovespa.com.br/fnet/publico/visualizarDocumento?id=1192614</a:t>
            </a:r>
          </a:p>
          <a:p>
            <a:r>
              <a:t>CNPJ 55563624000109 · Performance: benchmark e apuração · Excerto da fonte:</a:t>
            </a:r>
          </a:p>
          <a:p>
            <a:r>
              <a:t>13.10 Não serão cobradas taxas de performance da Classe, e nem taxas de ingresso ou de saída dos Cotistas que integralizarem ou resgatarem suas Cotas. BTG Pactual SAC: 0800 772 28 27 - Ouvidoria: 0800 722 00 48 - btgpactual.com 22</a:t>
            </a:r>
          </a:p>
          <a:p>
            <a:r>
              <a:t>CNPJ 55563624000109 · Performance: benchmark e apuração · Motivo: Não localizada uma cláusula material para este critério nos textos identificados e processados. A ausência de resultado não comprova inexistência da regra.</a:t>
            </a:r>
          </a:p>
          <a:p>
            <a:r>
              <a:t>CNPJ 55563624000109 · Performance: benchmark e apuração · Versão e prevalência: Leitura específica das cláusulas indicadas; condições e conflitos preservados. Seleção documental atual não comprova vigência jurídica por data isolada.</a:t>
            </a:r>
          </a:p>
          <a:p>
            <a:r>
              <a:t>CNPJ 62552447000120 · Performance: benchmark e apuração · Regulamento · ID 1200623 · 21/05/2026 · versão Consolidado21/05/2026 aprovado pelo ato1200625 · p. 30 · AnexoI13.1 TaxadePerformance/Ingresso · https://fnet.bmfbovespa.com.br/fnet/publico/visualizarDocumento?id=1200623</a:t>
            </a:r>
          </a:p>
          <a:p>
            <a:r>
              <a:t>CNPJ 62552447000120 · Performance: benchmark e apuração · Excerto da fonte:</a:t>
            </a:r>
          </a:p>
          <a:p>
            <a:r>
              <a:t>Taxa de Performance Não será devido pela Classe o pagamento de Taxa de Perf ormance. Taxa de Ingresso Não será cobrada dos Cotistas Taxa de Ingresso . CAPÍTULO 14 – CUSTOS REFERENTES À DEFESA DOS INTERESSES DA CLASSE 14.1 Todos os custos e despesas ref eridos neste Capítulo, inclusive para salvaguarda de direitos e prerrogativas da Classe e/ou com a cobrança judicial e/ou extrajudicial de Direitos Creditórios Inadimplidos, serão de inteira responsabilidade da Classe, não est ando o Administrador, o Gestor, o Endossante, os Devedores, o Custodiante e quaisquer de suas respectivas pessoas contr</a:t>
            </a:r>
          </a:p>
          <a:p>
            <a:r>
              <a:t>CNPJ 62552447000120 · Performance: benchmark e apuração · Motivo: Não localizada uma cláusula material para este critério nos textos identificados e processados. A ausência de resultado não comprova inexistência da regra.</a:t>
            </a:r>
          </a:p>
          <a:p>
            <a:r>
              <a:t>CNPJ 62552447000120 · Performance: benchmark e apuração · Versão e prevalência: Leitura específica das cláusulas indicadas; condições e conflitos preservados. Seleção documental atual não comprova vigência jurídica por data isolada.</a:t>
            </a:r>
          </a:p>
          <a:p>
            <a:r>
              <a:t>CNPJ 63953620000165 · Performance: benchmark e apuração · Anexo ao Regulamento · ID 1222863 · 02/06/2026 · versão AnexoConsignadoPrivado02/06/2026 · p. 20 · Capítulo13 · https://fnet.bmfbovespa.com.br/fnet/publico/visualizarDocumento?id=1222863</a:t>
            </a:r>
          </a:p>
          <a:p>
            <a:r>
              <a:t>CNPJ 63953620000165 · Performance: benchmark e apuração · Excerto da fonte:</a:t>
            </a:r>
          </a:p>
          <a:p>
            <a:r>
              <a:t>Taxa de Performance Não será devido pelas Classes o pagamento de Taxa de Performance. 0,00% (zero por cento) ao ano, incidente sobre o Patrimônio Líquido da Classe Taxa Máxima de Custódia (“Taxa Máxima de Custódia”). Taxa Máxima de Distribuição Não será cobrada Taxa de Distribuição. Taxa de Ingresso Não será cobrada da Classe ou dos Cotistas taxa de ingresso. CAPÍTULO 14 – CUSTOS REFERENTES À DEFESA DOS INTERESSES DA CLASSE 14.1 Todos os custos e despesas referidos neste Capítulo, inclusive para salvaguarda de direitos e prerrogativas da</a:t>
            </a:r>
          </a:p>
          <a:p>
            <a:r>
              <a:t>CNPJ 63953620000165 · Performance: benchmark e apuração · Motivo: Cláusula primária localizada e citada, mas sua lista/condições extensas não admitem uma síntese literal curta confirmada. O trecho integral permanece nas fontes.</a:t>
            </a:r>
          </a:p>
          <a:p>
            <a:r>
              <a:t>CNPJ 63953620000165 · Performance: benchmark e apuração · Versão e prevalência: Leitura específica das cláusulas indicadas; condições e conflitos preservados. Seleção documental atual não comprova vigência jurídica por data isolada.</a:t>
            </a:r>
          </a:p>
          <a:p>
            <a:r>
              <a:t>CNPJ 54871427000194 · Custódia, escrituração e encargos · Regulamento · ID 670691 · 28/04/2024 · versão Regulamento — referência 28/04/2024 · p. 26 · Anexo I, 13.7–13.8 · https://fnet.bmfbovespa.com.br/fnet/publico/visualizarDocumento?id=670691</a:t>
            </a:r>
          </a:p>
          <a:p>
            <a:r>
              <a:t>CNPJ 54871427000194 · Custódia, escrituração e encargos · Excerto da fonte:</a:t>
            </a:r>
          </a:p>
          <a:p>
            <a:r>
              <a:t>13.7 Pelos serviços de retenção e cobrança, prestada nos termos deste Anexo e do Contrato de Retenção/Cobrança, será devida pela Classe ao Agente de Retenção/Cobrança a remuneração prevista no respectivo Contrato de Retenção/Cobrança. Taxa Máxima de Custódia 13.8 Pelos serviços de custódia qualificada dos Direitos Creditórios e dos Ativos Financeiros de Liquidez não será devida nenhuma remuneração ao CUSTODIANTE, de modo que taxa máxima de custódia a ser paga pela Classe ao CUSTODIANTE corresponde a 0% (zero por cento) ao ano. CAPÍTULO 14 – CUSTOS REFERENTES À DEFESA DOS INTERESSES DA CLASSE 14.1 Caso a Classe não possua recursos disponíveis, em moeda corrente nacional, suf icientes para a adoção e manutenção, direta ou indireta, dos procedimentos judiciais e extrajudiciais necessários à cobrança dos Direitos Creditórios e dos Ativos Financeiros de Liquidez de titularidade da Classe e à def esa dos direitos, interesses e prerrogativas da Classe, a maioria dos titulares das Cotas, reunidos em Assembleia Especial de Cotistas, poderá aprovar o aporte de recursos à Classe, por meio da integralização de novas Cotas, a ser realizada por todos os titulares das Cotas para assegurar, se for o caso, a</a:t>
            </a:r>
          </a:p>
          <a:p>
            <a:r>
              <a:t>CNPJ 54871427000194 · Custódia, escrituração e encargos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Custódia, escrituração e encargos · Versão e prevalência: Leitura específica das cláusulas indicadas; condições e conflitos preservados. Seleção documental atual não comprova vigência jurídica por data isolada.</a:t>
            </a:r>
          </a:p>
          <a:p>
            <a:r>
              <a:t>CNPJ 54871427000194 · Custódia, escrituração e encargos · Resumo do histórico: {"count": 1, "dates": ["2024-04-28"], "document_count": 1, "sources": [{"document_id": "670691", "title": "Regulamento", "reference_date": "2024-04-28", "version": "1", "page": "26", "url": "https://fnet.bmfbovespa.com.br/fnet/publico/visualizarDocumento?id=670691", "sha256": "bf16dd7f1a62d5cdbf2e2d54fef81783783f7310fbc99c3a8f00459bdf9d037b"}], "reference": {"path": "history/54871427000194.json", "criterion_id": "custody_fee", "total_count": 1, "preview_count": 1, "full_text_deferred": true, "sha256": "35d7cd99be50c7287c9fb675cf4f2e736002315295a225a9efa79c8d9186d874"}}</a:t>
            </a:r>
          </a:p>
          <a:p>
            <a:r>
              <a:t>CNPJ 60010416000112 · Custódia, escrituração e encargos · Regulamento · ID 1051393 · 09/10/2025 · versão Regulamento09/10/2025 · p. 29 · AnexoI12.3–12.4 · https://fnet.bmfbovespa.com.br/fnet/publico/visualizarDocumento?id=1051393</a:t>
            </a:r>
          </a:p>
          <a:p>
            <a:r>
              <a:t>CNPJ 60010416000112 · Custódia, escrituração e encargos · Excerto da fonte:</a:t>
            </a:r>
          </a:p>
          <a:p>
            <a:r>
              <a:t>12.3 Pelos serviços de custódia qualificada dos Direitos Creditórios e dos Ativos Financeiros de Liquidez não será devida nenhuma remuneração ao Custodiante, de modo que taxa máxima de custódia a ser paga pela Classe ao Custodiante corresponde a 0% (zero por cento) ao ano. Remuneração do Agente de Retenção/Cobrança 12.4 Para a prestação de serviços à Classe, o Agente de Retenção/Cobrança f ará jus a uma remuneração a ser auf erida todo Dia Útil e paga mensalmente, a título de Encargo da Classe, a qual será calculada com base na seguinte f órmula:</a:t>
            </a:r>
          </a:p>
          <a:p>
            <a:r>
              <a:t>CNPJ 60010416000112 · Custódia, escrituração e encargos · Regulamento · ID 1051393 · 09/10/2025 · versão Regulamento09/10/2025 · p. 30 · AnexoI12.4definições,12.5–12.5.1 · https://fnet.bmfbovespa.com.br/fnet/publico/visualizarDocumento?id=1051393</a:t>
            </a:r>
          </a:p>
          <a:p>
            <a:r>
              <a:t>CNPJ 60010416000112 · Custódia, escrituração e encargos · Excerto da fonte:</a:t>
            </a:r>
          </a:p>
          <a:p>
            <a:r>
              <a:t>RAC = Remuneração do Agente de Retenção e Cobrança,tendo como valor 4,00% (quatro por cento) ao ano. 12.5 A remuneração prevista no item 12.4 acima será calculada pelo Administrador e paga diretamente ao Agente de Retenção/Cobrança até o 5º (quinto) Dia Útil do mês subsequente ao da prestação dos serviços, conf orme estabelecido no Contrato de Serviços MT. 12.5.1. Independentemente do acima disposto, na hipótese de venda de qualquer parte dos Direitos Creditórios Elegíveis a terceiros, inclusive no caso de liquidação da Classe, o Agente de Retenção/Cobra</a:t>
            </a:r>
          </a:p>
          <a:p>
            <a:r>
              <a:t>CNPJ 60010416000112 · Custódia, escrituração e encargos · Condição: Fórmula do RAC tem composição base 252 DU/21 dias; não somar a 4% do PL como taxa administrativa.</a:t>
            </a:r>
          </a:p>
          <a:p>
            <a:r>
              <a:t>CNPJ 60010416000112 · Custódia, escrituração e encargos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Custódia, escrituração e encargos · Versão e prevalência: Leitura específica das cláusulas indicadas; condições e conflitos preservados. Seleção documental atual não comprova vigência jurídica por data isolada.</a:t>
            </a:r>
          </a:p>
          <a:p>
            <a:r>
              <a:t>CNPJ 60010416000112 · Custódia, escrituração e encargos · Resumo do histórico: {"count": 1, "dates": ["2025-10-09"], "document_count": 1, "sources": [{"document_id": "1051393", "title": "Regulamento", "reference_date": "2025-10-09", "version": "1", "page": "29-31", "url": "https://fnet.bmfbovespa.com.br/fnet/publico/visualizarDocumento?id=1051393", "sha256": "8469d613078ffd5a6c1d217885d8a397a16342c0b937ae4aa24b106505f233ae"}], "reference": {"path": "history/60010416000112.json", "criterion_id": "custody_fee", "total_count": 1, "preview_count": 1, "full_text_deferred": true, "sha256": "8e2bd813f4c51cf01f6bfaad164bafe69d2bbb192f753eac92da3a01c2e63046"}}</a:t>
            </a:r>
          </a:p>
          <a:p>
            <a:r>
              <a:t>CNPJ 62696791000193 · Custódia, escrituração e encargos · Regulamento · ID 1143317 · 20/03/2026 · versão Regulamento — referência 20/03/2026 · p. 28 · Anexo I, 13.1, Custódia e Distribuição · https://fnet.bmfbovespa.com.br/fnet/publico/visualizarDocumento?id=1143317</a:t>
            </a:r>
          </a:p>
          <a:p>
            <a:r>
              <a:t>CNPJ 62696791000193 · Custódia, escrituração e encargos · Excerto da fonte:</a:t>
            </a:r>
          </a:p>
          <a:p>
            <a:r>
              <a:t>Taxa Máxima de Custódia 0,00% (zero por cento) ao ano, incidente sobre o Patrimônio Líquido da Classe (“Taxa Máxima de Custódia”). Taxa de Performance Não será devido pela Classe o pagamento de Taxa de Perf ormance. 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equivalente a 0,9% (nove décimos por cento) ao ano aplicado sobre o Patrimônio Anexo I ao Regulamento Líquido, observado o limite máximo de 4,5% (quatro inteiros e cinquenta centésimos por cento) do volume captado na respectiva oferta (“Taxa Máxima de Distribuição”).A</a:t>
            </a:r>
          </a:p>
          <a:p>
            <a:r>
              <a:t>CNPJ 62696791000193 · Custódia, escrituração e encargos · Regulamento · ID 1143317 · 20/03/2026 · versão Regulamento — referência 20/03/2026 · p. 29 · Anexo I, 13.1, Distribuição · https://fnet.bmfbovespa.com.br/fnet/publico/visualizarDocumento?id=1143317</a:t>
            </a:r>
          </a:p>
          <a:p>
            <a:r>
              <a:t>CNPJ 62696791000193 · Custódia, escrituração e encargos · Excerto da fonte:</a:t>
            </a:r>
          </a:p>
          <a:p>
            <a:r>
              <a:t>Distribuição será calculada e provisionada todo Dia Útil à razão de 1/252 (um inteiro e duzentos e cinquenta e dois avos) com base no valor do Patrimônio Líquido do Dia Útil anterior. Nos termos da Resolução CVM 160, o coordenador líder poderá destinar parte ou a totalidade da sua remuneração, à vista ou a prazo, aos distribuidores contratados, conforme previsto no contrato de distribuição da oferta e/ou nos termos de adesão ao contrato de distribuição. A Taxa Máxima de Distribuição será paga mensalmente por período vencido, até o 10º (décimo) Dia Útil do mês subsequente à prestação dos serviços, a partir do mês em que ocorrer a primeira integralização de Cotas da Classe Taxa de Ingresso Não será cobrada dos Cotistas Taxa de Ingresso. 14 TRIBUTAÇÃO 14.1 O disposto neste Capítulo f oi elaborado co</a:t>
            </a:r>
          </a:p>
          <a:p>
            <a:r>
              <a:t>CNPJ 62696791000193 · Custódia, escrituração e encargos · Motivo: Não localizada uma cláusula material para este critério nos textos identificados e processados. A ausência de resultado não comprova inexistência da regra.</a:t>
            </a:r>
          </a:p>
          <a:p>
            <a:r>
              <a:t>CNPJ 62696791000193 · Custódia, escrituração e encargos · Versão e prevalência: Leitura específica das cláusulas indicadas; condições e conflitos preservados. Seleção documental atual não comprova vigência jurídica por data isolada.</a:t>
            </a:r>
          </a:p>
          <a:p>
            <a:r>
              <a:t>CNPJ 55563624000109 · Custódia, escrituração e encargos · Regulamento · ID 1192614 · 30/04/2026 · versão Regulamento30/04/2026 · p. 29 · AnexoI13.8–13.9 · https://fnet.bmfbovespa.com.br/fnet/publico/visualizarDocumento?id=1192614</a:t>
            </a:r>
          </a:p>
          <a:p>
            <a:r>
              <a:t>CNPJ 55563624000109 · Custódia, escrituração e encargos · Excerto da fonte:</a:t>
            </a:r>
          </a:p>
          <a:p>
            <a:r>
              <a:t>13.8 Pelos serviços de custódia qualificada das Cotas da Classe Investida e dos Ativos Financeiros de Liquidez não será devida nenhuma remuneração ao CUSTODIANTE, de modo que taxa de custódia a ser paga pela Classe ao CUSTODIANTE corresponde a 0% (zero por cento) ao ano. Taxas Máxima de Distribuição 13.9 Tendo em vista que não há distribuidores das Cotas que prestem serviços de forma contínua ao Fundo, o presente Regulamento e Anexo Descritivo não preveem uma taxa máxima de distribuição aplicável a todas as emissões, nos termos do Ofício-Circular-Conju</a:t>
            </a:r>
          </a:p>
          <a:p>
            <a:r>
              <a:t>CNPJ 55563624000109 · Custódia, escrituração e encargos · Versão e prevalência: Leitura específica das cláusulas indicadas; condições e conflitos preservados. Seleção documental atual não comprova vigência jurídica por data isolada.</a:t>
            </a:r>
          </a:p>
          <a:p>
            <a:r>
              <a:t>CNPJ 55563624000109 · Custódia, escrituração e encargos · Resumo do histórico: {"count": 1, "dates": ["2026-04-30"], "document_count": 1, "sources": [{"document_id": "1192614", "title": "Regulamento", "reference_date": "2026-04-30", "version": "1", "page": "29", "url": "https://fnet.bmfbovespa.com.br/fnet/publico/visualizarDocumento?id=1192614", "sha256": "f56e63ace0acde41d2f47fb48f1ac7f3f7df5e2d32de092d7c5e075a52516632"}], "reference": {"path": "history/55563624000109.json", "criterion_id": "custody_fee", "total_count": 1, "preview_count": 1, "full_text_deferred": true, "sha256": "7835d573fb58a3c19adf5b8ecc2aee2bdbb9a88f7a0c0209b5f262b64c7522e3"}}</a:t>
            </a:r>
          </a:p>
          <a:p>
            <a:r>
              <a:t>CNPJ 62552447000120 · Custódia, escrituração e encargos · Motivo: Não localizada uma cláusula material para este critério nos textos identificados e processados. A ausência de resultado não comprova inexistência da regra.</a:t>
            </a:r>
          </a:p>
          <a:p>
            <a:r>
              <a:t>CNPJ 63953620000165 · Custódia, escrituração e encargos · Motivo: Não localizada uma cláusula material para este critério nos textos identificados e processados. A ausência de resultado não comprova inexistência da regra.</a:t>
            </a:r>
          </a:p>
          <a:p>
            <a:r>
              <a:t>CNPJ 54871427000194 · Classes e séries de cotas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Classes e séries de cotas · Resumo do histórico: {"count": 1, "dates": ["2024-04-28"], "document_count": 1, "sources": [{"document_id": "670691", "title": "Regulamento", "reference_date": "2024-04-28", "version": "1", "page": "7, 14", "url": "https://fnet.bmfbovespa.com.br/fnet/publico/visualizarDocumento?id=670691", "sha256": "bf16dd7f1a62d5cdbf2e2d54fef81783783f7310fbc99c3a8f00459bdf9d037b"}], "reference": {"path": "history/54871427000194.json", "criterion_id": "quota_classes", "total_count": 1, "preview_count": 1, "full_text_deferred": true, "sha256": "35d7cd99be50c7287c9fb675cf4f2e736002315295a225a9efa79c8d9186d874"}}</a:t>
            </a:r>
          </a:p>
          <a:p>
            <a:r>
              <a:t>CNPJ 60010416000112 · Classes e séries de cotas · Demonstrações Financeiras - Fusão, cisão e incorporação · ID 1298690 · 2026-05-08 · versão 1 · p. 30 · https://fnet.bmfbovespa.com.br/fnet/publico/visualizarDocumento?id=1298690</a:t>
            </a:r>
          </a:p>
          <a:p>
            <a:r>
              <a:t>CNPJ 60010416000112 · Classes e séries de cotas · Excerto da fonte:</a:t>
            </a:r>
          </a:p>
          <a:p>
            <a:r>
              <a:t>Durante o período de investimento, a Administradora poderá deliberar por realizar novas  emissões de cotas subordinadas, sem a necessidade de aprovação em Assembleia Especial  de Cotistas ou alteração do Regulamento, limitadas ao montante máximo de R$ 50.000  (cinquenta milhões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subordinadas emitidas não sejam  superiores aos prazos de vencimento da primeira emissão.</a:t>
            </a:r>
          </a:p>
          <a:p>
            <a:r>
              <a:t>CNPJ 60010416000112 · Classes e séries de cotas · Demonstrações Financeiras - Fusão, cisão e incorporação · ID 1298690 · 2026-05-08 · versão 1 · p. 7 · https://fnet.bmfbovespa.com.br/fnet/publico/visualizarDocumento?id=1298690</a:t>
            </a:r>
          </a:p>
          <a:p>
            <a:r>
              <a:t>CNPJ 60010416000112 · Classes e séries de cotas · Excerto da fonte:</a:t>
            </a:r>
          </a:p>
          <a:p>
            <a:r>
              <a:t>01/12/2025 a  Nota  08/05/2026  Patrimônio líquido no início do período  Total de 493.487,7492 cotas sêniores a R$ 1.136,5211 560.859  Total de 2.329.794,7852 cotas sêniores 2 a R$ 1.141,3012 2.658.998  Total de 954,2302 cotas subordinadas a R$ 150.939,4087 144.031</a:t>
            </a:r>
          </a:p>
          <a:p>
            <a:r>
              <a:t>CNPJ 60010416000112 · Classes e séries de cotas · Demonstrações Financeiras - Fusão, cisão e incorporação · ID 1298690 · 2026-05-08 · versão 1 · p. 7 · https://fnet.bmfbovespa.com.br/fnet/publico/visualizarDocumento?id=1298690</a:t>
            </a:r>
          </a:p>
          <a:p>
            <a:r>
              <a:t>CNPJ 60010416000112 · Classes e séries de cotas · Excerto da fonte:</a:t>
            </a:r>
          </a:p>
          <a:p>
            <a:r>
              <a:t>Patrimônio líquido no final do período  Total de 2.865.592,8479 cotas a R$ 1.285,7151 3.672.765  Total de 493.487,7492 cotas sêniores a R$ 1.230,3042 607.141  Total de 2.362.150,8684 cotas sêniores 2 a R$ 1.236,9918 2.921.961  Total de 954,2302 cotas subordinadas a R$ 150.554,2733 143.663</a:t>
            </a:r>
          </a:p>
          <a:p>
            <a:r>
              <a:t>CNPJ 60010416000112 · Classes e séries de cotas · Condição: Documentos atuais selecionados no inventário por categoria/escopo; a data documental isolada não comprova vigência jurídica.</a:t>
            </a:r>
          </a:p>
          <a:p>
            <a:r>
              <a:t>CNPJ 60010416000112 · Classes e séries de cotas · Versão e prevalência: Documentos atuais selecionados no inventário por categoria/escopo; a data documental isolada não comprova vigência jurídica.</a:t>
            </a:r>
          </a:p>
          <a:p>
            <a:r>
              <a:t>CNPJ 60010416000112 · Classes e séries de cotas · Resumo do histórico: {"count": 9, "dates": ["2025-11-30", "2026-03-18", "2026-04-16"], "document_count": 3, "sources": [{"document_id": "1282181", "title": "Demonstrações Financeiras - Fusão, cisão e incorporação", "reference_date": "2026-04-16", "version": "1", "page": 7, "url": "https://fnet.bmfbovespa.com.br/fnet/publico/visualizarDocumento?id=1282181", "sha256": "b1c6566e43a00bcd00c8a7f30c77b7f86e351bd8e355bbea113f46d1dafda703"}, {"document_id": "1224477", "title": "Demonstrações Financeiras - Fusão, cisão e incorporação", "reference_date": "2026-03-18", "version": "1", "page": 7, "url": "https://fnet.bmfbovespa.com.br/fnet/publico/visualizarDocumento?id=1224477", "sha256": "0751bf0a75bc3b44c2748f5000226665c6ec6698a90c4dc6170b4e6c187759ae"}, {"document_id": "1126154", "title": "Demonstrações Financeiras", "reference_date": "2025-11-30", "version": "1", "page": 7, "url": "https://fnet.bmfbovespa.com.br/fnet/publico/visualizarDocumento?id=1126154", "sha256": "a01e7ccf88c548f12c95cba8526d7efbef6b585c112cd4668eca781c292090b0"}], "reference": {"path": "history/60010416000112.json", "criterion_id": "quota_classes", "total_count": 9, "preview_count": 3, "full_text_deferred": true, "sha256": "8e2bd813f4c51cf01f6bfaad164bafe69d2bbb192f753eac92da3a01c2e63046"}}</a:t>
            </a:r>
          </a:p>
          <a:p>
            <a:r>
              <a:t>CNPJ 62696791000193 · Classes e séries de cotas · Instrumento Particular de Emissão de Cotas · ID 1148821 · 2026-03-27 · versão 1 · p. 1 · 20.000 · https://fnet.bmfbovespa.com.br/fnet/publico/visualizarDocumento?id=1148821</a:t>
            </a:r>
          </a:p>
          <a:p>
            <a:r>
              <a:t>CNPJ 62696791000193 · Classes e séries de cotas · Excerto da fonte:</a:t>
            </a:r>
          </a:p>
          <a:p>
            <a:r>
              <a:t>20.000 (vinte mil) Cotas Subordinadas Júnior, com valor nominal unitário de R$ 1.000,00 (mil reais),  perfazendo o montante total de R$ 20.000.000,00 (vinte milhões de reais), as quais serão objeto de  colocação privada, de acordo com os termos e condições definidos no Apêndice da Subclasse  Subordinada Júnior constante do Anexo I Regulamento e descritas abaixo (“2ª Emissão da Subclasse  Subordinada Júnior”):</a:t>
            </a:r>
          </a:p>
          <a:p>
            <a:r>
              <a:t>CNPJ 62696791000193 · Classes e séries de cotas · Instrumento Particular de Emissão de Cotas · ID 1148821 · 2026-03-27 · versão 1 · p. 2 · https://fnet.bmfbovespa.com.br/fnet/publico/visualizarDocumento?id=1148821</a:t>
            </a:r>
          </a:p>
          <a:p>
            <a:r>
              <a:t>CNPJ 62696791000193 · Classes e séries de cotas · Excerto da fonte:</a:t>
            </a:r>
          </a:p>
          <a:p>
            <a:r>
              <a:t>2. Aprovar a 2ª (segunda) emissão da Subclasse Sênior da Classe, composta por até 150.000  (cento e cinquenta mil) Cotas Seniores, com valor nominal unitário de R$ 1.000,00 (mil reais),  perfazendo o montante total de R$ 150.000.000,00 (cento e cinquenta milhões de reais), as quais  serão objeto de colocação privada, de acordo com os termos e condições descritos no Apêndice da  Subclasse Sênior constante do Anexo I Regulamento e descritas abaixo (“2ª Emissão da Subclasse  Sênior”):</a:t>
            </a:r>
          </a:p>
          <a:p>
            <a:r>
              <a:t>CNPJ 62696791000193 · Classes e séries de cotas · Instrumento Particular de Emissão de Cotas · ID 1148821 · 2026-03-27 · versão 1 · p. 2 · https://fnet.bmfbovespa.com.br/fnet/publico/visualizarDocumento?id=1148821</a:t>
            </a:r>
          </a:p>
          <a:p>
            <a:r>
              <a:t>CNPJ 62696791000193 · Classes e séries de cotas · Excerto da fonte:</a:t>
            </a:r>
          </a:p>
          <a:p>
            <a:r>
              <a:t>d) Forma de Integralização: as Cotas Subordinadas Júnior serão integralizadas à vista, junto ao  seu respectivo agente de custódia e/ou da Administradora na qualidade de escriturador das  cotas; e</a:t>
            </a:r>
          </a:p>
          <a:p>
            <a:r>
              <a:t>CNPJ 62696791000193 · Classes e séries de cotas · Condição: Documentos atuais selecionados no inventário por categoria/escopo; a data documental isolada não comprova vigência jurídica.</a:t>
            </a:r>
          </a:p>
          <a:p>
            <a:r>
              <a:t>CNPJ 62696791000193 · Classes e séries de cotas · Versão e prevalência: Documentos atuais selecionados no inventário por categoria/escopo; a data documental isolada não comprova vigência jurídica.</a:t>
            </a:r>
          </a:p>
          <a:p>
            <a:r>
              <a:t>CNPJ 62696791000193 · Classes e séries de cotas · Resumo do histórico: {"count": 2, "dates": ["2026-03-20", "2026-03-27"], "document_count": 2, "sources": [{"document_id": "1148821", "title": "Instrumento Particular de Emissão de Cotas", "reference_date": "2026-03-27", "version": "1", "page": "1-2", "url": "https://fnet.bmfbovespa.com.br/fnet/publico/visualizarDocumento?id=1148821", "sha256": "86900e9dd498403696bfffbd4196443c83ec4d51ff21135e073c1966e1adf4c0"}, {"document_id": "1143317", "title": "Regulamento", "reference_date": "2026-03-20", "version": "1", "page": 16, "clause": "7.2", "url": "https://fnet.bmfbovespa.com.br/fnet/publico/visualizarDocumento?id=1143317", "sha256": "32f62818d51c3ebeaf9ec012d3d7867f15c1aed6d10f0867c157a290df1cea48"}], "reference": {"path": "history/62696791000193.json", "criterion_id": "quota_classes", "total_count": 2, "preview_count": 2, "full_text_deferred": true, "sha256": "0e9ec199848320ec945708123ae0cb6075d76c05d94beed814d582031d353926"}}</a:t>
            </a:r>
          </a:p>
          <a:p>
            <a:r>
              <a:t>CNPJ 55563624000109 · Classes e séries de cotas · Regulamento · ID 1192614 · 2026-04-30 · versão 1 · p. 40 · https://fnet.bmfbovespa.com.br/fnet/publico/visualizarDocumento?id=1192614</a:t>
            </a:r>
          </a:p>
          <a:p>
            <a:r>
              <a:t>CNPJ 55563624000109 · Classes e séries de cotas · Excerto da fonte:</a:t>
            </a:r>
          </a:p>
          <a:p>
            <a:r>
              <a:t>(xxiv) Subordinação de determinadas Cotas da Classe Investida a outras subclasses ou séries de  cotas das Classes Investidas aos quais pertencem. A Classe Investida adquirirá apenas cotas  subordinadas mezaninos da Classe Investida, as quais se subordinam às cotas seniores da Classe  Investida para efeitos de resgate. Os resgates de cotas subordinadas mezanino tipicamente têm sua  realização condicionada ainda à manutenção da razão de garantia e à existência de disponibilidades  da Classe Investida. O ADMINISTRADOR, o GESTOR e o CUSTODIANTE e suas respectivas partes  relacionadas, encontram-se impossibilitados de assegurar que a amortização e o resgate das cotas  subordinadas mezanino da Classe Investida que venham a ser adquiridas pela Classe ocorrerão nas  datas originalmente previstas, sendo que, caso tais amortizações e/ou resgates não ocorram, não será  devido pelo FUNDO ou qualquer pessoa, incluindo o ADMINISTRADOR, o GESTOR e o CUSTODIANTE,  do FUNDO ou da Classe Investida qualquer multa ou penalidade, de qualquer natureza. O não resgate  de cotas subordinadas mezanino da Classe Investida detidas pela Classe poderá impactar  negativamente no fluxo de pagamento de resgate da Classe e/ou no valor patrimonial das Cotas da  Classe.</a:t>
            </a:r>
          </a:p>
          <a:p>
            <a:r>
              <a:t>CNPJ 55563624000109 · Classes e séries de cotas · Regulamento · ID 1192614 · 2026-04-30 · versão 1 · p. 31 · 15.1.1 · https://fnet.bmfbovespa.com.br/fnet/publico/visualizarDocumento?id=1192614</a:t>
            </a:r>
          </a:p>
          <a:p>
            <a:r>
              <a:t>CNPJ 55563624000109 · Classes e séries de cotas · Excerto da fonte:</a:t>
            </a:r>
          </a:p>
          <a:p>
            <a:r>
              <a:t>15.1.1 Riscos de Crédito:</a:t>
            </a:r>
          </a:p>
          <a:p>
            <a:r>
              <a:t> (i) Risco de concentração na Classe Investida. Nos termos do presente Regulamento, a Classe  deverá manter alocado, no mínimo, 67% (sessenta e sete por cento) do Patrimônio Líquido nas Cotas  da Classe Investida. Alterações na condição econômico-financeira e na expectativa de desempenho ou  resultados da Classe Investida poderão, isolada ou cumulativamente, afetar negativamente o  rendimento do investimento nas Cotas, de forma mais severa do que se a Classe adotasse uma  estratégia de investimento de maior diversificação. O risco associado às aplicações de qualquer fundo  de investimento é diretamente proporcional à concentração da sua carteira, sendo que, quanto maior  essa concentração, maior será a sua vulnerabilidade.</a:t>
            </a:r>
          </a:p>
          <a:p>
            <a:r>
              <a:t> (ii) Risco relativo à Classe Investida. Nos termos deste Anexo, a Classe deverá manter alocado, no  mínimo, 67% (sessenta e sete por cento) do Patrimônio Líquido em Cotas da Classe Investida. Os  investimentos realizados pela Classe Investida poderão estar sujeitos a flutuações típicas do mercado,  risco de crédito, risco sistêmico, condições adversas de liquidez e negociação atípica nos mercados de  atuação, bem como outros riscos diversos. Este Anexo não contém a descrição de todas as  características, incluindo os riscos, da Classe Investida.</a:t>
            </a:r>
          </a:p>
          <a:p>
            <a:r>
              <a:t> (iii) Risco Relativo ao Pagamento de Encargos da Classe Investida. Tendo em vista a estrutura da  Classe Investida – que emitiu cotas sêniores, cotas subordinadas mezanino e cotas subordinadas júnior  – em situação ordinária os encargos da Classe Investida são arcados pelas cotas subordinadas júnior,  que se subordinam às cotas subordinadas mezanino e às cotas sêniores para fins de amortização,  resgate e distribuição de rendimentos, não impactando, portanto, as Cotas da Classe Investida. Não  obstante o funcionamento da Classe Investida em situação ordinária, em cenários extraordinários, na  eventualidade do valor das cotas subordinadas júnior ficar reduzido a zero ou a valor negativo, os  encargos da Classe Investida conforme previstos em seu regulamento, inclusive mas não se limitando  as remunerações dos prestadores de serviços essenciais, passarão a ser arcados pelas cotas  subordinadas mezanino (que são as Cotas da Classe Investida), impactando no valor do investimento  da Classe na Classe Investida, e consequentemente, o investimento dos Cotistas na Classe.</a:t>
            </a:r>
          </a:p>
          <a:p>
            <a:r>
              <a:t> (iv) Riscos referentes à carteira da Classe Investida. Na forma do Anexo Normativo II da Resolução  CVM 175, a Classe Investida investe, direta ou indiretamente, no mínimo, 67% (sessenta e sete por  cento) do seu patrimônio em direitos creditórios originados pela Mercado Pago. O investimento em tais  direitos creditórios está sujeito a fatores de risco específicos, conforme detalhados no regulamento da  Classe Investida, incluindo, mas não se limitando a:</a:t>
            </a:r>
          </a:p>
          <a:p>
            <a:r>
              <a:t> (a) Risco de liquidez dos direitos creditórios. O investimento da Classe Investida em direitos  creditórios apresenta peculiaridades em relação às aplicações usuais da maioria dos  fundos de investimento brasileiros, haja vista que não existe, no Brasil, mercado  secundário com liquidez para tais direitos creditórios. Caso a Classe Investida precise  vender os direitos creditórios adquiridos, poderá não haver mercado comprador para  tais créditos, bem como o preço de alienação de tais direitos creditórios poderá refletir  essa falta de liquidez, causando perda ao patrimônio da Classe Investida e,  consequentemente, à Classe.</a:t>
            </a:r>
          </a:p>
          <a:p>
            <a:r>
              <a:t>CNPJ 55563624000109 · Classes e séries de cotas · AGE · ID 1192603 · 2026-04-30 · versão 1 · p. 1 · 4.1 · https://fnet.bmfbovespa.com.br/fnet/publico/visualizarDocumento?id=1192603</a:t>
            </a:r>
          </a:p>
          <a:p>
            <a:r>
              <a:t>CNPJ 55563624000109 · Classes e séries de cotas · Excerto da fonte:</a:t>
            </a:r>
          </a:p>
          <a:p>
            <a:r>
              <a:t>4.1. Aprovar a alteração do Anexo I da Classe Única para a reorganização do passivo de sua subclasse  única em novas subclasses, quais sejam, subclasse A (“Subclasse A”), subclasse B (“Subclasse B”) e  subclasse C (“Subclasse C” e, quando em conjunto com a Subclasse A e a Subclasse B, as “Subclasses”),  considerando que serão mantidas as condições de investimento originalmente pactuadas com os cotistas,  como critérios de aplicação, resgate, amortização e política de investimento da Classe Única, diferindo-  se, exclusivamente, em relação ao prazo de duração cada Subclasse.</a:t>
            </a:r>
          </a:p>
          <a:p>
            <a:r>
              <a:t>CNPJ 55563624000109 · Classes e séries de cotas · Condição: Documentos atuais selecionados no inventário por categoria/escopo; a data documental isolada não comprova vigência jurídica.</a:t>
            </a:r>
          </a:p>
          <a:p>
            <a:r>
              <a:t>CNPJ 55563624000109 · Classes e séries de cotas · Versão e prevalência: Documentos atuais selecionados no inventário por categoria/escopo; a data documental isolada não comprova vigência jurídica.</a:t>
            </a:r>
          </a:p>
          <a:p>
            <a:r>
              <a:t>CNPJ 55563624000109 · Classes e séries de cotas · Resumo do histórico: {"count": 3, "dates": ["2025-01-31", "2026-01-31", "2026-04-30"], "document_count": 3, "sources": [{"document_id": "1192614", "title": "Regulamento", "reference_date": "2026-04-30", "version": "1", "page": "15", "url": "https://fnet.bmfbovespa.com.br/fnet/publico/visualizarDocumento?id=1192614", "sha256": "f56e63ace0acde41d2f47fb48f1ac7f3f7df5e2d32de092d7c5e075a52516632"}, {"document_id": "1178840", "title": "Demonstrações Financeiras", "reference_date": "2026-01-31", "version": "1", "page": 25, "url": "https://fnet.bmfbovespa.com.br/fnet/publico/visualizarDocumento?id=1178840", "sha256": "c458e98664c5c907ddb5a05a94b120bed4e05295b2bfc420f5ba69af0a229abe"}, {"document_id": "891861", "title": "Demonstrações Financeiras", "reference_date": "2025-01-31", "version": "1", "page": 26, "url": "https://fnet.bmfbovespa.com.br/fnet/publico/visualizarDocumento?id=891861", "sha256": "e9cb9e6ddbe505fe068cfcac33605165a98313489de0d3ce6d4d238263c3f3e7"}], "reference": {"path": "history/55563624000109.json", "criterion_id": "quota_classes", "total_count": 3, "preview_count": 3, "full_text_deferred": true, "sha256": "7835d573fb58a3c19adf5b8ecc2aee2bdbb9a88f7a0c0209b5f262b64c7522e3"}}</a:t>
            </a:r>
          </a:p>
          <a:p>
            <a:r>
              <a:t>CNPJ 62552447000120 · Classes e séries de cotas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Classes e séries de cotas · Resumo do histórico: {"count": 1, "dates": ["2025-09-03"], "document_count": 1, "sources": [{"document_id": "988020", "title": "Instrumento Particular de Emissão de Cotas", "reference_date": "2025-09-03", "version": "1", "page": "5", "url": "https://fnet.bmfbovespa.com.br/fnet/publico/visualizarDocumento?id=988020", "sha256": "8ecc8a771bb9713d64e5fc2052c489664cb0433801a9280db68e5187d35bf7a5"}], "reference": {"path": "history/62552447000120.json", "criterion_id": "quota_classes", "total_count": 1, "preview_count": 1, "full_text_deferred": true, "sha256": "d95db8c0613d67ee84118c734588665265ea6b02f86a0318d6a844cbe1d0f82f"}}</a:t>
            </a:r>
          </a:p>
          <a:p>
            <a:r>
              <a:t>CNPJ 63953620000165 · Classes e séries de cotas · AGE · ID 1313935 · 2026-08-31 · versão 1 · p. 1 · 4.1 · https://fnet.bmfbovespa.com.br/fnet/publico/visualizarDocumento?id=1313935</a:t>
            </a:r>
          </a:p>
          <a:p>
            <a:r>
              <a:t>CNPJ 63953620000165 · Classes e séries de cotas · Excerto da fonte:</a:t>
            </a:r>
          </a:p>
          <a:p>
            <a:r>
              <a:t>4.1. Aprovar a realização da incorporação das parcelas cindidas descritas no Anexo I à presente ata (“Parcelas  Cindidas”), com base no fechamento de 28 de agosto de 2026 (“Data Base”), condicionada à aprovação da cisão  da CLASSE ÚNICA DO MT CONSIGNADO PRIVADO I FUNDO DE INVESTIMENTO EM DIREITOS CREDITÓRIOS  RESPONSABILIDADE LIMITADA, inscrita no CNPJ sob o nº 60.010.416/0001-12 (“Classe Cindida”), com a  subsequente incorporação da respectiva Parcela Cindida, emitindo-se cotas seniores da Classe, a serem  atribuídas integralmente aos cotistas da Classe Cindida, no valor da respectiva Parcela Cindida, na Data-Base, de  acordo com o valor das cotas da Classe na mesma data. A partir da Data Base, todos os direitos e obrigações dos  ativos cindidos serão sucedidos à Classe;</a:t>
            </a:r>
          </a:p>
          <a:p>
            <a:r>
              <a:t>CNPJ 63953620000165 · Classes e séries de cotas · Condição: Documentos atuais selecionados no inventário por categoria/escopo; a data documental isolada não comprova vigência jurídica.</a:t>
            </a:r>
          </a:p>
          <a:p>
            <a:r>
              <a:t>CNPJ 63953620000165 · Classes e séries de cotas · Versão e prevalência: Documentos atuais selecionados no inventário por categoria/escopo; a data documental isolada não comprova vigência jurídica.</a:t>
            </a:r>
          </a:p>
          <a:p>
            <a:r>
              <a:t>CNPJ 63953620000165 · Classes e séries de cotas · Resumo do histórico: {"count": 11, "dates": ["2026-07-29", "2026-08-17", "2026-08-21"], "document_count": 3, "sources": [{"document_id": "1309436", "title": "AGE", "reference_date": "2026-08-21", "version": "1", "page": 1, "clause": "4.1", "url": "https://fnet.bmfbovespa.com.br/fnet/publico/visualizarDocumento?id=1309436", "sha256": "f679de1621039dce7c665e3a742f213fd4d5047e12b96163b31ea4ae86f56817"}, {"document_id": "1298232", "title": "AGE", "reference_date": "2026-08-17", "version": "1", "page": 1, "clause": "4.1", "url": "https://fnet.bmfbovespa.com.br/fnet/publico/visualizarDocumento?id=1298232", "sha256": "75322e306547f725e73a2c6687b598e14d628caa84bd46a23508337a606866f6"}, {"document_id": "1277543", "title": "AGE", "reference_date": "2026-07-29", "version": "1", "page": 1, "url": "https://fnet.bmfbovespa.com.br/fnet/publico/visualizarDocumento?id=1277543", "sha256": "c2fb499fd6e25251a221d4e9dbb5d1378fb5efde5a58eee091868faf52d326c0"}], "reference": {"path": "history/63953620000165.json", "criterion_id": "quota_classes", "total_count": 11, "preview_count": 3, "full_text_deferred": true, "sha256": "a7b89077f5e21098c2d601c303faabc3ff6b9729f89d8afecdc60fe1404720c1"}}</a:t>
            </a:r>
          </a:p>
          <a:p>
            <a:r>
              <a:t>CNPJ 54871427000194 · Ofertas e colocação · AGE · ID 1055482 · 2025-12-02 · versão 1 · p. 1 · 4.1 · https://fnet.bmfbovespa.com.br/fnet/publico/visualizarDocumento?id=1055482</a:t>
            </a:r>
          </a:p>
          <a:p>
            <a:r>
              <a:t>CNPJ 54871427000194 · Ofertas e colocação · Excerto da fonte:</a:t>
            </a:r>
          </a:p>
          <a:p>
            <a:r>
              <a:t>4.1. Aprovar a nova emissão de Cotas pela Classe, todas nominativas e escriturais, com preço unitário de emissão  correspondente ao valor das Cotas da Classe em circulação quando na data de aprovação da Nova Emissão,  perfazendo o montante total de emissão de até R$ 650.000.000 (seiscentos e cinquenta milhões de reais), conforme  as características constantes do Regulamento e do Anexo da Classe (“Novas Cotas” e “Nova Emissão”,  respectivamente), e descritas abaixo:</a:t>
            </a:r>
          </a:p>
          <a:p>
            <a:r>
              <a:t>(i) Rito: as Novas Cotas não serão objeto de oferta pública, conforme facultado pelo artigo 8º, inciso IV, da  Resolução CVM nº 160, uma vez que a Classe se enquadra nos requisitos do referido dispositivo;</a:t>
            </a:r>
          </a:p>
          <a:p>
            <a:r>
              <a:t>(ii) Preço de Emissão: o preço unitário de emissão corresponderá ao valor das Cotas da Classe em circulação  quando na data de aprovação da Nova Emissão (“Preço de Emissão”);</a:t>
            </a:r>
          </a:p>
          <a:p>
            <a:r>
              <a:t>(iii) Preço de Integralização: o Preço de Integralização corresponderá ao valor das Cotas da Classe em  circulação quando da transferência dos valores para liquidação financeira (“Preço de Integralização”);</a:t>
            </a:r>
          </a:p>
          <a:p>
            <a:r>
              <a:t>(iv) Forma de Integralização: as Cotas serão integralizadas à vista, em moeda corrente nacional, pelo Preço  de Integralização, junto ao seu respectivo agente de custódia e/ou da Administradora na qualidade de  escriturador das cotas; e</a:t>
            </a:r>
          </a:p>
          <a:p>
            <a:r>
              <a:t>(v) Período de colocação: a subscrição das Cotas, objeto da Nova Emissão, deverão ser realizadas no prazo  máximo de 180 (cento e oitenta) dias, contados da data de efeitos do presente instrumento.</a:t>
            </a:r>
          </a:p>
          <a:p>
            <a:r>
              <a:t>CNPJ 54871427000194 · Ofertas e colocação · Condição: Trechos do documento específico identificado com data mais recente; vigência jurídica não inferida.</a:t>
            </a:r>
          </a:p>
          <a:p>
            <a:r>
              <a:t>CNPJ 54871427000194 · Ofertas e colocação · Versão e prevalência: Trechos do documento específico identificado com data mais recente; vigência jurídica não inferida.</a:t>
            </a:r>
          </a:p>
          <a:p>
            <a:r>
              <a:t>CNPJ 54871427000194 · Ofertas e colocação · Resumo do histórico: {"count": 7, "dates": ["2024-06-13", "2024-12-10"], "document_count": 3, "sources": [{"document_id": "798101", "title": "Anúncio de Encerramento", "reference_date": "2024-12-10", "version": "1", "page": "1-2", "url": "https://fnet.bmfbovespa.com.br/fnet/publico/visualizarDocumento?id=798101", "sha256": "71618c432ad86002484571d66922b873e4fa91ed3543a109134ddee0bd872f20"}, {"document_id": "679614", "title": "Anúncio de Início", "reference_date": "2024-06-13", "version": "1", "page": 1, "url": "https://fnet.bmfbovespa.com.br/fnet/publico/visualizarDocumento?id=679614", "sha256": "aad43ed14bfa0576144a306c466aea031fce0d01d3cb3de6aebd120f11164bfa"}, {"document_id": "683482", "title": "AGE", "reference_date": "2024-06-13", "version": "1", "page": 2, "url": "https://fnet.bmfbovespa.com.br/fnet/publico/visualizarDocumento?id=683482", "sha256": "3afbe254027691929935eaf19ebbb8634fb2ccd8e2fbea2cb2d81a7818f8d648"}], "reference": {"path": "history/54871427000194.json", "criterion_id": "offers", "total_count": 7, "preview_count": 3, "full_text_deferred": true, "sha256": "35d7cd99be50c7287c9fb675cf4f2e736002315295a225a9efa79c8d9186d874"}}</a:t>
            </a:r>
          </a:p>
          <a:p>
            <a:r>
              <a:t>CNPJ 60010416000112 · Ofertas e colocação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Ofertas e colocação · Resumo do histórico: {"count": 1, "dates": ["2025-03-20"], "document_count": 1, "sources": [{"document_id": "993785", "title": "Instrumento Particular de Constituição/Encerramento do Fundo", "reference_date": "2025-03-20", "version": "1", "page": "1-2", "url": "https://fnet.bmfbovespa.com.br/fnet/publico/visualizarDocumento?id=993785", "sha256": "0826e0eae2c51afabf59bbc49fc7647598d03da5ca6de0f9725850a8bd6af457"}], "reference": {"path": "history/60010416000112.json", "criterion_id": "offers", "total_count": 1, "preview_count": 1, "full_text_deferred": true, "sha256": "8e2bd813f4c51cf01f6bfaad164bafe69d2bbb192f753eac92da3a01c2e63046"}}</a:t>
            </a:r>
          </a:p>
          <a:p>
            <a:r>
              <a:t>CNPJ 62696791000193 · Ofertas e colocação · Regulamento · ID 1143317 · 2026-03-20 · versão 1 · p. 39 · 2.6 · https://fnet.bmfbovespa.com.br/fnet/publico/visualizarDocumento?id=1143317</a:t>
            </a:r>
          </a:p>
          <a:p>
            <a:r>
              <a:t>CNPJ 62696791000193 · Ofertas e colocação · Excerto da fonte:</a:t>
            </a:r>
          </a:p>
          <a:p>
            <a:r>
              <a:t>2.6. O valor de mercado das Cotas de emissão da Classe poderá sofrer oscilações frequentes e  significativas, inclusive ao longo do dia. Como consequência, o valor de mercado das cotas de  emissão da Classe poderá não ref letir necessariamente seu valor patrimonial. Não será devida  pela Classe ou por qualquer pessoa, incluindo as instituições responsáveis pela distribuição  das cotas, os demais Cotistas da Classe, o Administrador e as instituições participantes da  of erta, qualquer multa ou penalidade de qualquer natureza, caso ocorra, por qualquer razão,</a:t>
            </a:r>
          </a:p>
          <a:p>
            <a:r>
              <a:t> (i) o alongamento do período de amortização das Cotas; (ii) a liquidação da Classe; ou, ainda,</a:t>
            </a:r>
          </a:p>
          <a:p>
            <a:r>
              <a:t> (iii) caso os Cotistas sof ram qualquer dano ou prejuízo resultante de tais eventos.</a:t>
            </a:r>
          </a:p>
          <a:p>
            <a:r>
              <a:t>3. Risco TributárioOs rendimentos e ganhos líquidos auf eridos pela Classe em aplicações f inanceiras de  renda f ixa ou de renda variável sujeitam-se à incidência do imposto de renda na f onte, observadas as  mesmas normas aplicáveis às pessoas jurídicas, podendo esse imposto ser compensado com o retido na  f onte pela Classe quando da distribuição de rendimentos e ganhos de capital aos Cotistas. Os rendimentos  auf eridos pela Classe, quando distribuídos aos Cotistas sujeitam-se à incidência do Imposto de Renda na  f onte à alíquota de 20% (vinte por cento). Os rendimentos e ganhos de capital auferidos pelos Cotistas na</a:t>
            </a:r>
          </a:p>
          <a:p>
            <a:r>
              <a:t>CNPJ 62696791000193 · Ofertas e colocação · Regulamento · ID 1143317 · 2026-03-20 · versão 1 · p. 28 · https://fnet.bmfbovespa.com.br/fnet/publico/visualizarDocumento?id=1143317</a:t>
            </a:r>
          </a:p>
          <a:p>
            <a:r>
              <a:t>CNPJ 62696791000193 · Ofertas e colocação · Excerto da fonte:</a:t>
            </a:r>
          </a:p>
          <a:p>
            <a:r>
              <a:t>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equivalente a 0,9% (nove décimos  por cento) ao ano aplicado sobre o Patrimônio Anexo I ao  Regulamento Líquido, observado o limite máximo de 4,5% (quatro  inteiros e cinquenta centésimos por cento) do volume captado na  respectiva oferta (“Taxa Máxima de Distribuição”).A Taxa Máxima de</a:t>
            </a:r>
          </a:p>
          <a:p>
            <a:r>
              <a:t>CNPJ 62696791000193 · Ofertas e colocação · Condição: Documentos atuais selecionados no inventário por categoria/escopo; a data documental isolada não comprova vigência jurídica.</a:t>
            </a:r>
          </a:p>
          <a:p>
            <a:r>
              <a:t>CNPJ 62696791000193 · Ofertas e colocação · Versão e prevalência: Documentos atuais selecionados no inventário por categoria/escopo; a data documental isolada não comprova vigência jurídica.</a:t>
            </a:r>
          </a:p>
          <a:p>
            <a:r>
              <a:t>CNPJ 62696791000193 · Ofertas e colocação · Resumo do histórico: {"count": 1, "dates": ["2026-03-27"], "document_count": 1, "sources": [{"document_id": "1148821", "title": "Instrumento Particular de Emissão de Cotas", "reference_date": "2026-03-27", "version": "1", "page": "1-3", "url": "https://fnet.bmfbovespa.com.br/fnet/publico/visualizarDocumento?id=1148821", "sha256": "86900e9dd498403696bfffbd4196443c83ec4d51ff21135e073c1966e1adf4c0"}], "reference": {"path": "history/62696791000193.json", "criterion_id": "offers", "total_count": 1, "preview_count": 1, "full_text_deferred": true, "sha256": "0e9ec199848320ec945708123ae0cb6075d76c05d94beed814d582031d353926"}}</a:t>
            </a:r>
          </a:p>
          <a:p>
            <a:r>
              <a:t>CNPJ 55563624000109 · Ofertas e colocação · Regulamento · ID 1192614 · 2026-04-30 · versão 1 · p. 25 · 12.9 · https://fnet.bmfbovespa.com.br/fnet/publico/visualizarDocumento?id=1192614</a:t>
            </a:r>
          </a:p>
          <a:p>
            <a:r>
              <a:t>CNPJ 55563624000109 · Ofertas e colocação · Excerto da fonte:</a:t>
            </a:r>
          </a:p>
          <a:p>
            <a:r>
              <a:t>12.9 Inclui-se entre as obrigações do GESTOR, contratar, em nome da Classe, se necessário, com terceiros  devidamente habilitados e autorizados, os serviços de distribuição das Cotas. A distribuição pública das Cotas  deverá ser realizada por distribuidores devidamente autorizados pela CVM, nos termos da regulamentação  aplicável.</a:t>
            </a:r>
          </a:p>
          <a:p>
            <a:r>
              <a:t>CNPJ 55563624000109 · Ofertas e colocação · Condição: Documentos atuais selecionados no inventário por categoria/escopo; a data documental isolada não comprova vigência jurídica.</a:t>
            </a:r>
          </a:p>
          <a:p>
            <a:r>
              <a:t>CNPJ 55563624000109 · Ofertas e colocação · Versão e prevalência: Documentos atuais selecionados no inventário por categoria/escopo; a data documental isolada não comprova vigência jurídica.</a:t>
            </a:r>
          </a:p>
          <a:p>
            <a:r>
              <a:t>CNPJ 55563624000109 · Ofertas e colocação · Resumo do histórico: {"count": 3, "dates": ["2024-07-03"], "document_count": 3, "sources": [{"document_id": "703295", "title": "Anúncio de Início", "reference_date": "2024-07-03", "version": "2", "page": 1, "url": "https://fnet.bmfbovespa.com.br/fnet/publico/visualizarDocumento?id=703295", "sha256": "12322b6dbf75e673723bd60910373db249451b72666792e18e0c7b6128f4608a"}, {"document_id": "702585", "title": "Anúncio de Início", "reference_date": "2024-07-03", "version": "1", "page": 1, "url": "https://fnet.bmfbovespa.com.br/fnet/publico/visualizarDocumento?id=702585", "sha256": "6708609ac7f0611118fb23ffd6d2cd6c7fd33275130407918ea42831baa712cd"}, {"document_id": "691674", "title": "Instrumento Particular de Emissão de Cotas", "reference_date": "2024-07-03", "version": "1", "page": 3, "url": "https://fnet.bmfbovespa.com.br/fnet/publico/visualizarDocumento?id=691674", "sha256": "78bf7b350f1785beae5f43bd209b5ed19e863cb9a2cff01542aac11dd63ca554"}], "reference": {"path": "history/55563624000109.json", "criterion_id": "offers", "total_count": 3, "preview_count": 3, "full_text_deferred": true, "sha256": "7835d573fb58a3c19adf5b8ecc2aee2bdbb9a88f7a0c0209b5f262b64c7522e3"}}</a:t>
            </a:r>
          </a:p>
          <a:p>
            <a:r>
              <a:t>CNPJ 62552447000120 · Ofertas e colocação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Ofertas e colocação · Resumo do histórico: {"count": 1, "dates": ["2025-09-03"], "document_count": 1, "sources": [{"document_id": "988020", "title": "Instrumento Particular de Emissão de Cotas", "reference_date": "2025-09-03", "version": "1", "page": "5-6", "url": "https://fnet.bmfbovespa.com.br/fnet/publico/visualizarDocumento?id=988020", "sha256": "8ecc8a771bb9713d64e5fc2052c489664cb0433801a9280db68e5187d35bf7a5"}], "reference": {"path": "history/62552447000120.json", "criterion_id": "offers", "total_count": 1, "preview_count": 1, "full_text_deferred": true, "sha256": "d95db8c0613d67ee84118c734588665265ea6b02f86a0318d6a844cbe1d0f82f"}}</a:t>
            </a:r>
          </a:p>
          <a:p>
            <a:r>
              <a:t>CNPJ 63953620000165 · Ofertas e colocação · Anexo ao Regulamento · ID 1222863 · 2026-06-02 · versão 1 · p. 10 · 6.9 · https://fnet.bmfbovespa.com.br/fnet/publico/visualizarDocumento?id=1222863</a:t>
            </a:r>
          </a:p>
          <a:p>
            <a:r>
              <a:t>CNPJ 63953620000165 · Ofertas e colocação · Excerto da fonte:</a:t>
            </a:r>
          </a:p>
          <a:p>
            <a:r>
              <a:t>6.9 As Cotas poderão ser objeto de oferta pública a ser realizada nos termos da Resolução CVM 160 (“Oferta”) e/ou  poderão ser colocadas de forma privada (“Colocação Privada”), bem como segundo outros ritos que venham a  ser previstos pela regulamentação. As Cotas deverão ser emitidas e subscritas dentro do prazo e nos termos e  condições da legislação aplicável, do presente Anexo e dos respectivos Boletins de Subscrição e/ou  Compromissos de Investimento.</a:t>
            </a:r>
          </a:p>
          <a:p>
            <a:r>
              <a:t>CNPJ 63953620000165 · Ofertas e colocação · Condição: Documentos atuais selecionados no inventário por categoria/escopo; a data documental isolada não comprova vigência jurídica.</a:t>
            </a:r>
          </a:p>
          <a:p>
            <a:r>
              <a:t>CNPJ 63953620000165 · Ofertas e colocação · Versão e prevalência: Documentos atuais selecionados no inventário por categoria/escopo; a data documental isolada não comprova vigência jurídica.</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Emissões e custos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Remuneração por subclasse e série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Remuneração por subclasse e série · Resumo do histórico: {"count": 1, "dates": ["2024-04-28"], "document_count": 1, "sources": [{"document_id": "670691", "title": "Regulamento", "reference_date": "2024-04-28", "version": "1", "page": "14", "url": "https://fnet.bmfbovespa.com.br/fnet/publico/visualizarDocumento?id=670691", "sha256": "bf16dd7f1a62d5cdbf2e2d54fef81783783f7310fbc99c3a8f00459bdf9d037b"}], "reference": {"path": "history/54871427000194.json", "criterion_id": "remuneration", "total_count": 1, "preview_count": 1, "full_text_deferred": true, "sha256": "35d7cd99be50c7287c9fb675cf4f2e736002315295a225a9efa79c8d9186d874"}}</a:t>
            </a:r>
          </a:p>
          <a:p>
            <a:r>
              <a:t>CNPJ 60010416000112 · Remuneração por subclasse e série · Instrumento Particular de Constituição/Encerramento do Fundo · ID 993785 · 20/03/2025 · versão 1ªemissão20/03/2025 · p. 5 · Suplemento1ªsênior BenchmarkSênior · https://fnet.bmfbovespa.com.br/fnet/publico/visualizarDocumento?id=993785</a:t>
            </a:r>
          </a:p>
          <a:p>
            <a:r>
              <a:t>CNPJ 60010416000112 · Remuneração por subclasse e série · Excerto da fonte:</a:t>
            </a:r>
          </a:p>
          <a:p>
            <a:r>
              <a:t>4,80% (quatro inteiros e oitenta centésimos por cento)calculado por Dia Útil à base de 1/252 (um inteiro e duzentos e cinquenta e dois avos); e (ii) “Benchmark Sênior Adicional”: o parâmetro adicional de rentabilidade a ser buscado pela Classe para remunerar as Cotas Seniores, correspondente 15,00% (quinze por cento) do excesso de spread das Cotas Subordinadas com cap de remuneração total das Cotas Seniores pela variação do CDI acrescido de 6,00% (seis por cento</a:t>
            </a:r>
          </a:p>
          <a:p>
            <a:r>
              <a:t>CNPJ 60010416000112 · Remuneração por subclasse e série · Condição: Termo específico da primeira emissão de 20/03/2025, distinto de taxa deperformance e do suplemento modelo com campos não preenchidos do regulamento.</a:t>
            </a:r>
          </a:p>
          <a:p>
            <a:r>
              <a:t>CNPJ 60010416000112 · Remuneração por subclasse e série · Versão e prevalência: Leitura específica das cláusulas indicadas; condições e conflitos preservados. Seleção documental atual não comprova vigência jurídica por data isolada.</a:t>
            </a:r>
          </a:p>
          <a:p>
            <a:r>
              <a:t>CNPJ 60010416000112 · Remuneração por subclasse e série · Resumo do histórico: {"count": 3, "dates": ["2025-03-20", "2025-05-12"], "document_count": 2, "sources": [{"document_id": "1004656", "title": "AGE", "reference_date": "2025-05-12", "version": "1", "page": 5, "url": "https://fnet.bmfbovespa.com.br/fnet/publico/visualizarDocumento?id=1004656", "sha256": "f6c9c009f6170e2b29f074b98522accec73f0c40efbf11f9ec2c8d3f1402616b"}, {"document_id": "993785", "title": "Instrumento Particular de Constituição/Encerramento do Fundo", "reference_date": "2025-03-20", "version": "1", "page": "4-5", "url": "https://fnet.bmfbovespa.com.br/fnet/publico/visualizarDocumento?id=993785", "sha256": "0826e0eae2c51afabf59bbc49fc7647598d03da5ca6de0f9725850a8bd6af457"}, {"document_id": "993785", "title": "Instrumento Particular de Constituição/Encerramento do Fundo", "reference_date": "2025-03-20", "version": "1", "page": 5, "url": "https://fnet.bmfbovespa.com.br/fnet/publico/visualizarDocumento?id=993785", "sha256": "0826e0eae2c51afabf59bbc49fc7647598d03da5ca6de0f9725850a8bd6af457"}], "reference": {"path": "history/60010416000112.json", "criterion_id": "remuneration", "total_count": 3, "preview_count": 3, "full_text_deferred": true, "sha256": "8e2bd813f4c51cf01f6bfaad164bafe69d2bbb192f753eac92da3a01c2e63046"}}</a:t>
            </a:r>
          </a:p>
          <a:p>
            <a:r>
              <a:t>CNPJ 62696791000193 · Remuneração por subclasse e série · Regulamento · ID 1143317 · 20/03/2026 · versão Regulamento — referência 20/03/2026 · p. 33 · Apêndice Sênior, 1.2 e 1.4 · https://fnet.bmfbovespa.com.br/fnet/publico/visualizarDocumento?id=1143317</a:t>
            </a:r>
          </a:p>
          <a:p>
            <a:r>
              <a:t>CNPJ 62696791000193 · Remuneração por subclasse e série · Excerto da fonte:</a:t>
            </a:r>
          </a:p>
          <a:p>
            <a:r>
              <a:t>1.2. As Cotas Seniores poderão ser divididas em séries com valores e prazos diferenciados para amortização, resgate e remuneração, sendo que cada série terá as mesmas características e conf erirá a seus titulares iguais direitos e obrigações nos termos deste Reg ulamento e do Apêndice ref erente a cada emissão/série de Cotas Seniores. 1.2. Benchmark. A Classe buscará atingir, para as Cotas Seniores, o “Benchmark”, correspondente à 100% (cem por cento) da variação positiva do CDI acrescida de 4,5% (quatro inteiros e cinco décimos por cento) ao ano. 1.3. O Benchmark não representa e nem devem ser considerados uma promessa, garantia ou sugestão de rentabilidade aos Cotistas Seniores, por parte da Classe, do Administrador, do Gestor e/ou do Cedente. 1.4. Independentemente do valor do Patrimônio Líquido da Classe, os Cotistas detentores de Cotas Seniores não f arão jus a uma rentabilidade superior ao Benchmark, o qual representará o limite máximo de remuneração possível para as Cotas Seniores. 2. Emissão, Subscrição e Integralização das Cotas 2.1. A Classe poderá emitir múltiplas Séries de Cotas Seniores, ficando ressalvado, no entanto, que cada nova Série de Cotas Seniores a ser emitida pela Classe</a:t>
            </a:r>
          </a:p>
          <a:p>
            <a:r>
              <a:t>CNPJ 62696791000193 · Remuneração por subclasse e série · Regulamento · ID 1143317 · 20/03/2026 · versão Regulamento — referência 20/03/2026 · p. 34 · Apêndice Sênior, 6.2 · https://fnet.bmfbovespa.com.br/fnet/publico/visualizarDocumento?id=1143317</a:t>
            </a:r>
          </a:p>
          <a:p>
            <a:r>
              <a:t>CNPJ 62696791000193 · Remuneração por subclasse e série · Excerto da fonte:</a:t>
            </a:r>
          </a:p>
          <a:p>
            <a:r>
              <a:t>6.2. Em complemento às Amortizações Programadas de Cotas Seniores, os Cotistas Seniores f arão jus, sempre que o Patrimônio Líquido da Classe assim permita e desde que o Valor Unitário das Cotas Seniores esteja superior ao valor de integralização das Cotas Seniores em circulação, a 50% (cinquenta por cento) de qualquer valor que exceder a Amortização das Cotas Subordinadas, conforme prevista no Apêndice da Subclasse Subordinada, a ser paga na Data de Amortização Programada de Cotas Seniores (“Amortização Extraordinária de Cotas Seniores”). 6.3. Os pagamentos das parcelas de Amortização e/ou de resgate das Cotas Seniores serão ef etuados, em moeda corrente nacional, pelo Valor Unitário das Cotas Seniores no dia do pagamento, calculado na forma descrita neste Apêndice e no Anexo I, por meio de depósito em conta de titularidade dos Cotistas titulares BTG Pactual 2 SAC: 0800 772 28 27 - Ouvidoria: 0800 722 00 48 - btgpactual.com</a:t>
            </a:r>
          </a:p>
          <a:p>
            <a:r>
              <a:t>CNPJ 62696791000193 · Remuneração por subclasse e série · Regulamento · ID 1143317 · 20/03/2026 · versão Regulamento — referência 20/03/2026 · p. 37 · Apêndice Júnior, 4.1–4.2 · https://fnet.bmfbovespa.com.br/fnet/publico/visualizarDocumento?id=1143317</a:t>
            </a:r>
          </a:p>
          <a:p>
            <a:r>
              <a:t>CNPJ 62696791000193 · Remuneração por subclasse e série · Excerto da fonte:</a:t>
            </a:r>
          </a:p>
          <a:p>
            <a:r>
              <a:t>4.1. Caso o Patrimônio Líquido da Classe assim permita, as Cotas Subordinadas f arão jus à amortização semestral, no último Dia Útil dos meses de janeiro e julho de cada ano, de valor equivalente ao excedente do valor de integralização das Cotas Subordinadas em circulação, limitado ao percentual de 100% (cem por cento) da variação positiva do CDI acrescida de 4,50% (quatro inteiros e cinco décimos por cento) ao ano, considerando, para tanto a razão entre (i) o valor de integralização das Cotas Subordinadas Júnior em circulação e (ii) o valor de cada uma das Cotas Subordinadas, a ser paga na Data de Amortização Programada de Cotas Seniores (“Amortização das Cotas Subordinadas”). 4.2. Em complemento às Amortizações das Cotas Subordinadas, os Cotistas Subordinados farão jus, sempre que o Patrimônio Líquido da Classe assim permita e desde que o Valor Unitário das Cotas Subordinadas esteja superior ao valor de integralização das Cotas Subordinadas em circulação, a 50% (cinquenta por cento) de qualquer valor que exceder a Amortização das Cotas Subordinadas, a ser paga na Data de Amortização Programada de Cotas Seniores (“Amortização Extraordinária de Cotas Seniores”). 5. Excesso de Subordinação 5.1. Verif icado excesso de subordinação,</a:t>
            </a:r>
          </a:p>
          <a:p>
            <a:r>
              <a:t>CNPJ 62696791000193 · Remuneração por subclasse e série · Condição: Benchmark é regra de atribuição, condicionado ao PL/resultados, sem garantia de rentabilidade. A subclasse mezanino é autorizada, mas não há apêndice mezanino no PDF consolidado obtido.</a:t>
            </a:r>
          </a:p>
          <a:p>
            <a:r>
              <a:t>CNPJ 62696791000193 · Remuneração por subclasse e série · Versão e prevalência: Leitura específica das cláusulas indicadas; condições e conflitos preservados. Seleção documental atual não comprova vigência jurídica por data isolada.</a:t>
            </a:r>
          </a:p>
          <a:p>
            <a:r>
              <a:t>CNPJ 62696791000193 · Remuneração por subclasse e série · Resumo do histórico: {"count": 1, "dates": ["2026-03-27"], "document_count": 1, "sources": [{"document_id": "1148821", "title": "Instrumento Particular de Emissão de Cotas", "reference_date": "2026-03-27", "version": "1", "page": "1-2", "url": "https://fnet.bmfbovespa.com.br/fnet/publico/visualizarDocumento?id=1148821", "sha256": "86900e9dd498403696bfffbd4196443c83ec4d51ff21135e073c1966e1adf4c0"}], "reference": {"path": "history/62696791000193.json", "criterion_id": "remuneration", "total_count": 1, "preview_count": 1, "full_text_deferred": true, "sha256": "0e9ec199848320ec945708123ae0cb6075d76c05d94beed814d582031d353926"}}</a:t>
            </a:r>
          </a:p>
          <a:p>
            <a:r>
              <a:t>CNPJ 55563624000109 · Remuneração por subclasse e série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Remuneração por subclasse e série · Resumo do histórico: {"count": 1, "dates": ["2026-04-30"], "document_count": 1, "sources": [{"document_id": "1192614", "title": "Regulamento", "reference_date": "2026-04-30", "version": "1", "page": "16-17", "url": "https://fnet.bmfbovespa.com.br/fnet/publico/visualizarDocumento?id=1192614", "sha256": "f56e63ace0acde41d2f47fb48f1ac7f3f7df5e2d32de092d7c5e075a52516632"}], "reference": {"path": "history/55563624000109.json", "criterion_id": "remuneration", "total_count": 1, "preview_count": 1, "full_text_deferred": true, "sha256": "7835d573fb58a3c19adf5b8ecc2aee2bdbb9a88f7a0c0209b5f262b64c7522e3"}}</a:t>
            </a:r>
          </a:p>
          <a:p>
            <a:r>
              <a:t>CNPJ 62552447000120 · Remuneração por subclasse e série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Remuneração por subclasse e série · Resumo do histórico: {"count": 1, "dates": ["2025-09-03"], "document_count": 1, "sources": [{"document_id": "988020", "title": "Instrumento Particular de Emissão de Cotas", "reference_date": "2025-09-03", "version": "1", "page": "5-6", "url": "https://fnet.bmfbovespa.com.br/fnet/publico/visualizarDocumento?id=988020", "sha256": "8ecc8a771bb9713d64e5fc2052c489664cb0433801a9280db68e5187d35bf7a5"}], "reference": {"path": "history/62552447000120.json", "criterion_id": "remuneration", "total_count": 1, "preview_count": 1, "full_text_deferred": true, "sha256": "d95db8c0613d67ee84118c734588665265ea6b02f86a0318d6a844cbe1d0f82f"}}</a:t>
            </a:r>
          </a:p>
          <a:p>
            <a:r>
              <a:t>CNPJ 63953620000165 · Remuneração por subclasse e série · Anexo ao Regulamento · ID 1222863 · 2026-06-02 · versão 1 · p. 22 · 1.2 · https://fnet.bmfbovespa.com.br/fnet/publico/visualizarDocumento?id=1222863</a:t>
            </a:r>
          </a:p>
          <a:p>
            <a:r>
              <a:t>CNPJ 63953620000165 · Remuneração por subclasse e série · Excerto da fonte:</a:t>
            </a:r>
          </a:p>
          <a:p>
            <a:r>
              <a:t>1.2. Benchmark Sênior. A Classe buscará atingir, para as Cotas Seniores, o Benchmark Sênior, qual seja, (a) para a parcela  do Patrimônio Líquido alocado em Direitos Creditórios Consignado Privado e/ou Ativos de Liquidez MT, a variação  positiva do CDI acrescida de 1,50% (um inteiro e cinco décimos por cento) ao ano, (b) para a parcela do Patrimônio  Líquido alocado em Ativos de Liquidez e/ou Direitos Creditórios TVM, a variação positiva do CDI.</a:t>
            </a:r>
          </a:p>
          <a:p>
            <a:r>
              <a:t>CNPJ 63953620000165 · Remuneração por subclasse e série · Anexo ao Regulamento · ID 1222863 · 2026-06-02 · versão 1 · p. 22 · 1.5 · https://fnet.bmfbovespa.com.br/fnet/publico/visualizarDocumento?id=1222863</a:t>
            </a:r>
          </a:p>
          <a:p>
            <a:r>
              <a:t>CNPJ 63953620000165 · Remuneração por subclasse e série · Excerto da fonte:</a:t>
            </a:r>
          </a:p>
          <a:p>
            <a:r>
              <a:t>1.5. Rentabilidade Adicional Sênior. Adicionalmente ao Benchmark Sênior, as Cotas Seniores efetivamente integralizadas  farão jus a uma rentabilidade adicional equivalente a 0,38% (trinta e oito centésimos por cento) incidente sobre o  montante financeiro integralizado pelo respectivo Cotista das Cotas Seniores (“Rentabilidade Adicional Sênior”), a  ser paga a cada Cotista Sênior, em uma única parcela, em até 40 (quarenta) dias corridos após a integralização das  respectivas Cotas Seniores, sendo automaticamente ajustada em caso de alteração da alíquota ou da forma de  incidência do IOF, e deixando de ser devida na hipótese de sua extinção.</a:t>
            </a:r>
          </a:p>
          <a:p>
            <a:r>
              <a:t> 2. Emissão, Subscrição e Integralização das Cotas</a:t>
            </a:r>
          </a:p>
          <a:p>
            <a:r>
              <a:t>CNPJ 63953620000165 · Remuneração por subclasse e série · Condição: Documentos atuais selecionados no inventário por categoria/escopo; a data documental isolada não comprova vigência jurídica.</a:t>
            </a:r>
          </a:p>
          <a:p>
            <a:r>
              <a:t>CNPJ 63953620000165 · Remuneração por subclasse e série · Versão e prevalência: Documentos atuais selecionados no inventário por categoria/escopo; a data documental isolada não comprova vigência jurídica.</a:t>
            </a:r>
          </a:p>
          <a:p>
            <a:r>
              <a:t>CNPJ 54871427000194 · Volume, VNU e emissão · Anúncio de Encerramento · ID 798101 · 2024-12-10 · versão 1 · p. 1 · https://fnet.bmfbovespa.com.br/fnet/publico/visualizarDocumento?id=798101</a:t>
            </a:r>
          </a:p>
          <a:p>
            <a:r>
              <a:t>CNPJ 54871427000194 · Volume, VNU e emissão · Excerto da fonte:</a:t>
            </a:r>
          </a:p>
          <a:p>
            <a:r>
              <a:t>Informações da Oferta  Valor Bruto da 2ª Quantidade de Cotas  Preço de Emissão da Cota  Emissão emitidas  R$ 55.000.000,00 55.000 R$ 1.000,00</a:t>
            </a:r>
          </a:p>
          <a:p>
            <a:r>
              <a:t>CNPJ 54871427000194 · Volume, VNU e emissão · Condição: Trechos do documento específico identificado com data mais recente; vigência jurídica não inferida.</a:t>
            </a:r>
          </a:p>
          <a:p>
            <a:r>
              <a:t>CNPJ 54871427000194 · Volume, VNU e emissão · Versão e prevalência: Trechos do documento específico identificado com data mais recente; vigência jurídica não inferida.</a:t>
            </a:r>
          </a:p>
          <a:p>
            <a:r>
              <a:t>CNPJ 54871427000194 · Volume, VNU e emissão · Resumo do histórico: {"count": 5, "dates": ["2024-06-11", "2024-06-13", "2024-12-10"], "document_count": 3, "sources": [{"document_id": "798101", "title": "Anúncio de Encerramento", "reference_date": "2024-12-10", "version": "1", "page": "1-2", "url": "https://fnet.bmfbovespa.com.br/fnet/publico/visualizarDocumento?id=798101", "sha256": "71618c432ad86002484571d66922b873e4fa91ed3543a109134ddee0bd872f20"}, {"document_id": "683482", "title": "AGE", "reference_date": "2024-06-13", "version": "1", "page": 1, "clause": "4.1", "url": "https://fnet.bmfbovespa.com.br/fnet/publico/visualizarDocumento?id=683482", "sha256": "3afbe254027691929935eaf19ebbb8634fb2ccd8e2fbea2cb2d81a7818f8d648"}, {"document_id": "677544", "title": "Anúncio de Encerramento", "reference_date": "2024-06-11", "version": "1", "page": 1, "url": "https://fnet.bmfbovespa.com.br/fnet/publico/visualizarDocumento?id=677544", "sha256": "5735adc30829e0e91623167d4fd602de01adb236e3d3e758bddb0a375c7067b1"}], "reference": {"path": "history/54871427000194.json", "criterion_id": "issue_volume", "total_count": 5, "preview_count": 3, "full_text_deferred": true, "sha256": "35d7cd99be50c7287c9fb675cf4f2e736002315295a225a9efa79c8d9186d874"}}</a:t>
            </a:r>
          </a:p>
          <a:p>
            <a:r>
              <a:t>CNPJ 60010416000112 · Volume, VNU e emissão · AGE · ID 1049114 · 2025-11-26 · versão 1 · p. 2 · https://fnet.bmfbovespa.com.br/fnet/publico/visualizarDocumento?id=1049114</a:t>
            </a:r>
          </a:p>
          <a:p>
            <a:r>
              <a:t>CNPJ 60010416000112 · Volume, VNU e emissão · Excerto da fonte:</a:t>
            </a:r>
          </a:p>
          <a:p>
            <a:r>
              <a:t>Este instrumento constitui o suplemento nº 3 (“Suplemento”) referente à 1ª emissão de cotas da Série B  da Subclasse Sênior da CLASSE ÚNICA DO MT CONSIGNADO PRIVADO I FUNDO DE  INVESTIMENTO EM DIREITOS CREDITÓRIOS RESPONSABILIDADE LIMITADA (“Classe” e  “FUNDO”, respectivamente), administrado pela BTG Pactual Serviços Financeiros S.A. Distribuidora  de Títulos e Valores Mobiliários, instituição com sede no Município do Rio de Janeiro, Estado do Rio de  Janeiro, na Praia de Botafogo, nº 501, 5º andar – parte, inscrita no CNPJ sob o nº 59.281.253/0001-23,  autorizada a funcionar pelo Banco Central do Brasil e autorizada pela Comissão de Valores Mobiliários  (“CVM”) para a atividade de administração de carteiras de valores mobiliários, de acordo com o Ato  Declaratório nº 8.695, de 20 de março de 2006 (“ADMINISTRADOR”), emitidas nos termos do regulamento  do FUNDO, do anexo descritivo da Classe do respectivo apêndice, devidamente registrado perante a CVM  (“Regulamento”, “Anexo da Classe”, “Apêndice” e “Cotas Seniores” respectivamente), a qual terá as  seguintes características:</a:t>
            </a:r>
          </a:p>
          <a:p>
            <a:r>
              <a:t> Número de Emissão, Valor São emitidas no âmbito da 1ª emissão da 3ª Série de Cotas Seniores da  Total da Emissão e Forma Classe, de 2,000,000 (dois milhões) de Cotas da 3ª Série da Subclasse  de Distribuição Sênior da Classe, com valor nominal unitário de R$ 1.000,00 (mil reais)  cada, totalizando o montante de R$ 2.000.000.000,00 (dois bilhões de  reais), as quais serão objeto de colocação privada, destinada ao Público-  Alvo (conforme definido no Anexo da Classe) (“Colocação Privada”).</a:t>
            </a:r>
          </a:p>
          <a:p>
            <a:r>
              <a:t> Valor Unitário de Emissão As Cotas Seniores da 3ª Série terão um valor unitário de R$ 1.000,00 (mil  reais) na respectiva Data de Emissão.</a:t>
            </a:r>
          </a:p>
          <a:p>
            <a:r>
              <a:t> Data de Emissão Data da 1ª Integralização.</a:t>
            </a:r>
          </a:p>
          <a:p>
            <a:r>
              <a:t> Valor Unitário de As Cotas Seniores da 3ª Série serão subscritas pelo Valor Unitário de  Integralização Emissão, e serão integralizadas pelo respectivo Valor Unitário, nos  termos do Regulamento, do Apêndice e deste Suplemento, sendo certo  que, nas emissões de novas Cotas Seniores da 3ª Série que não difiram,  em sua respectiva Subclasse, das Cotas Seniores da 3ª Série então em  circulação, o Valor Unitário de Integralização corresponderá ao Valor  Unitário da Cota apurado no Dia Útil em que os recursos aportados pelo  Cotista tornem-se efetivamente disponíveis à Classe.</a:t>
            </a:r>
          </a:p>
          <a:p>
            <a:r>
              <a:t> Investimento Mínimo por Não há  Investidor  Forma de Subscrição e As Cotas Seniores da 3ª Série deverão ser integralizadas, à vista, em  Integralização moeda corrente nacional, pelo Valor Unitário de Integralização, no ato de  subscrição.</a:t>
            </a:r>
          </a:p>
          <a:p>
            <a:r>
              <a:t> Ao subscrever Cotas Seniores da 3ª Série, cada Investidor deverá  assinar o Termo de Adesão, no qual confirmará, dentre outros, ter  conhecimento de todos os termos e condições do Fundo e do</a:t>
            </a:r>
          </a:p>
          <a:p>
            <a:r>
              <a:t>CNPJ 60010416000112 · Volume, VNU e emissão · Condição: Trechos do documento específico identificado com data mais recente; vigência jurídica não inferida.</a:t>
            </a:r>
          </a:p>
          <a:p>
            <a:r>
              <a:t>CNPJ 60010416000112 · Volume, VNU e emissão · Motivo: Cláusula primária localizada e citada, mas sua lista/condições extensas não admitem uma síntese literal curta confirmada. O trecho integral permanece nas fontes. A resposta da revisão anterior foi preservada no histórico, sem confirmação pelo documento atual.</a:t>
            </a:r>
          </a:p>
          <a:p>
            <a:r>
              <a:t>CNPJ 60010416000112 · Volume, VNU e emissão · Versão e prevalência: Trechos do documento específico identificado com data mais recente; vigência jurídica não inferida.</a:t>
            </a:r>
          </a:p>
          <a:p>
            <a:r>
              <a:t>CNPJ 60010416000112 · Volume, VNU e emissão · Resumo do histórico: {"count": 3, "dates": ["2025-03-20", "2025-05-12"], "document_count": 2, "sources": [{"document_id": "1004656", "title": "AGE", "reference_date": "2025-05-12", "version": "1", "page": 4, "url": "https://fnet.bmfbovespa.com.br/fnet/publico/visualizarDocumento?id=1004656", "sha256": "f6c9c009f6170e2b29f074b98522accec73f0c40efbf11f9ec2c8d3f1402616b"}, {"document_id": "993785", "title": "Instrumento Particular de Constituição/Encerramento do Fundo", "reference_date": "2025-03-20", "version": "1", "page": "2", "url": "https://fnet.bmfbovespa.com.br/fnet/publico/visualizarDocumento?id=993785", "sha256": "0826e0eae2c51afabf59bbc49fc7647598d03da5ca6de0f9725850a8bd6af457"}, {"document_id": "993785", "title": "Instrumento Particular de Constituição/Encerramento do Fundo", "reference_date": "2025-03-20", "version": "1", "page": 2, "url": "https://fnet.bmfbovespa.com.br/fnet/publico/visualizarDocumento?id=993785", "sha256": "0826e0eae2c51afabf59bbc49fc7647598d03da5ca6de0f9725850a8bd6af457"}], "reference": {"path": "history/60010416000112.json", "criterion_id": "issue_volume", "total_count": 3, "preview_count": 3, "full_text_deferred": true, "sha256": "8e2bd813f4c51cf01f6bfaad164bafe69d2bbb192f753eac92da3a01c2e63046"}}</a:t>
            </a:r>
          </a:p>
          <a:p>
            <a:r>
              <a:t>CNPJ 62696791000193 · Volume, VNU e emissão · Instrumento Particular de Emissão de Cotas · ID 1148821 · 27/03/2026 · versão Instrumento Particular de Emissão de Cotas — referência 27/03/2026 · p. 1 · Deliberação Conjunta, item1 · https://fnet.bmfbovespa.com.br/fnet/publico/visualizarDocumento?id=1148821</a:t>
            </a:r>
          </a:p>
          <a:p>
            <a:r>
              <a:t>CNPJ 62696791000193 · Volume, VNU e emissão · Excerto da fonte:</a:t>
            </a:r>
          </a:p>
          <a:p>
            <a:r>
              <a:t>1. Aprovar a 2ª (segunda) emissão da Subclasse Subordinada Júnior da Classe, composta por até 20.000 (vinte mil) Cotas Subordinadas Júnior, com valor nominal unitário de R$ 1.000,00 (mil reais), perfazendo o montante total de R$ 20.000.000,00 (vinte milhões de reais), as quais serão objeto de colocação privada, de acordo com os termos e condições definidos no Apêndice da Subclasse Subordinada Júnior constante do Anexo I Regulamento e descritas abaixo (“2ª Emissão da Subclasse Subordinada Júnior”): a) Rito: as Cotas Subordinadas Júnior objeto da 2ª Emissão da Subclasse Subordinada Júnior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Subordinada Júnior na data de integralização, calculado na forma prevista no respectivo Apêndice; BTG Pactual 1 SAC: 0800 772 28 27 - Ouvidoria: 0800 722 00 48 - btgpactual.com</a:t>
            </a:r>
          </a:p>
          <a:p>
            <a:r>
              <a:t>CNPJ 62696791000193 · Volume, VNU e emissão · Instrumento Particular de Emissão de Cotas · ID 1148821 · 27/03/2026 · versão Instrumento Particular de Emissão de Cotas — referência 27/03/2026 · p. 2 · Deliberação Conjunta, item2 · https://fnet.bmfbovespa.com.br/fnet/publico/visualizarDocumento?id=1148821</a:t>
            </a:r>
          </a:p>
          <a:p>
            <a:r>
              <a:t>CNPJ 62696791000193 · Volume, VNU e emissão · Excerto da fonte:</a:t>
            </a:r>
          </a:p>
          <a:p>
            <a:r>
              <a:t>2. Aprovar a 2ª (segunda) emissão da Subclasse Sênior da Classe, composta por até 150.000 (cento e cinquenta mil) Cotas Seniores, com valor nominal unitário de R$ 1.000,00 (mil reais), perfazendo o montante total de R$ 150.000.000,00 (cento e cinquenta milhões de reais), as quais serão objeto de colocação privada, de acordo com os termos e condições descritos no Apêndice da Subclasse Sênior constante do Anexo I Regulamento e descritas abaixo (“2ª Emissão da Subclasse Sênior”): a) Rito: as Cotas Seniores objeto da 2ª Emissão da Subclasse Sênior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Sênior na data de integralização, calculado na forma prevista no respectivo Apêndice; d) Forma de Integralização: as Cotas Seniores serão integralizadas mediante chamadas de capital, junto ao seu respectivo agente de custódia e/ou da Administradora na qualidade de escriturador das cotas, nos termos d</a:t>
            </a:r>
          </a:p>
          <a:p>
            <a:r>
              <a:t>CNPJ 62696791000193 · Volume, VNU e emissão · Condição: Volumes autorizados de emissão não comprovam captação ou integralização observada.</a:t>
            </a:r>
          </a:p>
          <a:p>
            <a:r>
              <a:t>CNPJ 62696791000193 · Volume, VNU e emissão · Versão e prevalência: Leitura específica das cláusulas indicadas; condições e conflitos preservados. Seleção documental atual não comprova vigência jurídica por data isolada.</a:t>
            </a:r>
          </a:p>
          <a:p>
            <a:r>
              <a:t>CNPJ 62696791000193 · Volume, VNU e emissão · Resumo do histórico: {"count": 2, "dates": ["2026-03-20", "2026-03-27"], "document_count": 2, "sources": [{"document_id": "1148821", "title": "Instrumento Particular de Emissão de Cotas", "reference_date": "2026-03-27", "version": "1", "page": "1-2", "url": "https://fnet.bmfbovespa.com.br/fnet/publico/visualizarDocumento?id=1148821", "sha256": "86900e9dd498403696bfffbd4196443c83ec4d51ff21135e073c1966e1adf4c0"}, {"document_id": "1143317", "title": "Regulamento", "reference_date": "2026-03-20", "version": "1", "page": 23, "clause": "11.3", "url": "https://fnet.bmfbovespa.com.br/fnet/publico/visualizarDocumento?id=1143317", "sha256": "32f62818d51c3ebeaf9ec012d3d7867f15c1aed6d10f0867c157a290df1cea48"}], "reference": {"path": "history/62696791000193.json", "criterion_id": "issue_volume", "total_count": 2, "preview_count": 2, "full_text_deferred": true, "sha256": "0e9ec199848320ec945708123ae0cb6075d76c05d94beed814d582031d353926"}}</a:t>
            </a:r>
          </a:p>
          <a:p>
            <a:r>
              <a:t>CNPJ 55563624000109 · Volume, VNU e emissão · Regulamento · ID 1192614 · 2026-04-30 · versão 1 · p. 17 · 5.13.2 · https://fnet.bmfbovespa.com.br/fnet/publico/visualizarDocumento?id=1192614</a:t>
            </a:r>
          </a:p>
          <a:p>
            <a:r>
              <a:t>CNPJ 55563624000109 · Volume, VNU e emissão · Excerto da fonte:</a:t>
            </a:r>
          </a:p>
          <a:p>
            <a:r>
              <a:t>5.13.2 Caso um Cotista do Fundo pretenda transferir suas Cotas para terceiros (“Cotista Vendedor”), deverá  notificar previamente o GESTOR, via e-mail, manifestando sua proposta de alienação de Cotas, a qual  deve incluir o interessado na aquisição e a quantidade de Cotas a serem alienadas e o preço para tal  alienação (“Proposta de Venda”). O GESTOR deverá manifestar aprovação para alienação das Cotas  objeto da Proposta de Venda (“Cotas Objeto”) em até 5 (cinco) Dias Úteis, observado que a ausência de  aprovação deverá ser entendida como aprovação tácita à alienação das Cotas Objeto.</a:t>
            </a:r>
          </a:p>
          <a:p>
            <a:r>
              <a:t>CNPJ 55563624000109 · Volume, VNU e emissão · Regulamento · ID 1192614 · 2026-04-30 · versão 1 · p. 39 · https://fnet.bmfbovespa.com.br/fnet/publico/visualizarDocumento?id=1192614</a:t>
            </a:r>
          </a:p>
          <a:p>
            <a:r>
              <a:t>CNPJ 55563624000109 · Volume, VNU e emissão · Excerto da fonte:</a:t>
            </a:r>
          </a:p>
          <a:p>
            <a:r>
              <a:t>(xxi) Ausência de propriedade direta dos ativos. Os direitos dos Cotistas serão exercidos sobre  todos os ativos da Carteira de modo não individualizado, proporcionalmente à quantidade de Cotas  detidas por cada um. Portanto, os Cotistas não terão qualquer direito de propriedade direta sobre as  Cotas da Classe Investida e os Ativos Financeiros de Liquidez integrantes da Carteira, ou mesmo sobre  os direitos creditórios e os ativos financeiros de liquidez integrantes da carteira da Classe Investida.</a:t>
            </a:r>
          </a:p>
          <a:p>
            <a:r>
              <a:t>CNPJ 55563624000109 · Volume, VNU e emissão · Condição: Documentos atuais selecionados no inventário por categoria/escopo; a data documental isolada não comprova vigência jurídica.</a:t>
            </a:r>
          </a:p>
          <a:p>
            <a:r>
              <a:t>CNPJ 55563624000109 · Volume, VNU e emissão · Versão e prevalência: Documentos atuais selecionados no inventário por categoria/escopo; a data documental isolada não comprova vigência jurídica.</a:t>
            </a:r>
          </a:p>
          <a:p>
            <a:r>
              <a:t>CNPJ 55563624000109 · Volume, VNU e emissão · Resumo do histórico: {"count": 3, "dates": ["2024-12-30", "2025-01-31", "2026-01-31"], "document_count": 3, "sources": [{"document_id": "1178840", "title": "Demonstrações Financeiras", "reference_date": "2026-01-31", "version": "1", "page": 25, "url": "https://fnet.bmfbovespa.com.br/fnet/publico/visualizarDocumento?id=1178840", "sha256": "c458e98664c5c907ddb5a05a94b120bed4e05295b2bfc420f5ba69af0a229abe"}, {"document_id": "891861", "title": "Demonstrações Financeiras", "reference_date": "2025-01-31", "version": "1", "page": 26, "url": "https://fnet.bmfbovespa.com.br/fnet/publico/visualizarDocumento?id=891861", "sha256": "e9cb9e6ddbe505fe068cfcac33605165a98313489de0d3ce6d4d238263c3f3e7"}, {"document_id": "811323", "title": "Anúncio de Encerramento", "reference_date": "2024-12-30", "version": "1", "page": 1, "url": "https://fnet.bmfbovespa.com.br/fnet/publico/visualizarDocumento?id=811323", "sha256": "ebc6bc661be5189acffb3c3e352de2aea0a8ca8431011d1237e1ae19da4f9c79"}], "reference": {"path": "history/55563624000109.json", "criterion_id": "issue_volume", "total_count": 3, "preview_count": 3, "full_text_deferred": true, "sha256": "7835d573fb58a3c19adf5b8ecc2aee2bdbb9a88f7a0c0209b5f262b64c7522e3"}}</a:t>
            </a:r>
          </a:p>
          <a:p>
            <a:r>
              <a:t>CNPJ 62552447000120 · Volume, VNU e emissão · AGE · ID 1315103 · 2026-09-08 · versão 1 · p. 1 · https://fnet.bmfbovespa.com.br/fnet/publico/visualizarDocumento?id=1315103</a:t>
            </a:r>
          </a:p>
          <a:p>
            <a:r>
              <a:t>CNPJ 62552447000120 · Volume, VNU e emissão · Excerto da fonte:</a:t>
            </a:r>
          </a:p>
          <a:p>
            <a:r>
              <a:t>a) Rito: as cotas objeto da Segunda Emissão não estão sujeitas a regulamentação  de oferta de valores mobiliários, conforme facultado pelo Art. 8º, inciso II, da  Resolução CVM nº 160, de 13 de julho de 2022;</a:t>
            </a:r>
          </a:p>
          <a:p>
            <a:r>
              <a:t> b) Preço de Emissão: R$ 1.000,00 (mil reais);</a:t>
            </a:r>
          </a:p>
          <a:p>
            <a:r>
              <a:t> c) Quantidade de Cotas: 10.000 (dez mil) Cotas;</a:t>
            </a:r>
          </a:p>
          <a:p>
            <a:r>
              <a:t> d) Preço de Integralização: será o valor da Cota vigente na data de integralização,  nos termos do respectivo boletim de subscrição;</a:t>
            </a:r>
          </a:p>
          <a:p>
            <a:r>
              <a:t> e) Forma de Integralização: as Cotas serão integralizadas à vista, em moeda  corrente nacional, junto ao seu respectivo agente de custódia e/ou da  Administradora na qualidade de escriturador das cotas;</a:t>
            </a:r>
          </a:p>
          <a:p>
            <a:r>
              <a:t> f) Período de colocação: a subscrição das Cotas, objeto da Segunda Emissão,  deverão ser realizadas no prazo máximo de 180 (cento e oitenta) dias, contados  da data de efeitos do presente instrumento.</a:t>
            </a:r>
          </a:p>
          <a:p>
            <a:r>
              <a:t>CNPJ 62552447000120 · Volume, VNU e emissão · Condição: Trechos do documento específico identificado com data mais recente; vigência jurídica não inferida.</a:t>
            </a:r>
          </a:p>
          <a:p>
            <a:r>
              <a:t>CNPJ 62552447000120 · Volume, VNU e emissão · Versão e prevalência: Trechos do documento específico identificado com data mais recente; vigência jurídica não inferida.</a:t>
            </a:r>
          </a:p>
          <a:p>
            <a:r>
              <a:t>CNPJ 62552447000120 · Volume, VNU e emissão · Resumo do histórico: {"count": 2, "dates": ["2025-09-03"], "document_count": 1, "sources": [{"document_id": "988020", "title": "Instrumento Particular de Emissão de Cotas", "reference_date": "2025-09-03", "version": "1", "page": "5", "url": "https://fnet.bmfbovespa.com.br/fnet/publico/visualizarDocumento?id=988020", "sha256": "8ecc8a771bb9713d64e5fc2052c489664cb0433801a9280db68e5187d35bf7a5"}, {"document_id": "988020", "title": "Instrumento Particular de Emissão de Cotas", "reference_date": "2025-09-03", "version": "1", "page": 2, "url": "https://fnet.bmfbovespa.com.br/fnet/publico/visualizarDocumento?id=988020", "sha256": "8ecc8a771bb9713d64e5fc2052c489664cb0433801a9280db68e5187d35bf7a5"}], "reference": {"path": "history/62552447000120.json", "criterion_id": "issue_volume", "total_count": 2, "preview_count": 2, "full_text_deferred": true, "sha256": "d95db8c0613d67ee84118c734588665265ea6b02f86a0318d6a844cbe1d0f82f"}}</a:t>
            </a:r>
          </a:p>
          <a:p>
            <a:r>
              <a:t>CNPJ 63953620000165 · Volume, VNU e emissão · Demonstrações Financeiras - Fusão, cisão e incorporação · ID 1327859 · 2026-05-15 · versão 1 · p. 31 · 15.000.000 · https://fnet.bmfbovespa.com.br/fnet/publico/visualizarDocumento?id=1327859</a:t>
            </a:r>
          </a:p>
          <a:p>
            <a:r>
              <a:t>CNPJ 63953620000165 · Volume, VNU e emissão · Excerto da fonte:</a:t>
            </a:r>
          </a:p>
          <a:p>
            <a:r>
              <a:t>15.000.000 (quinze bilhões de reais), , a serem objeto de colocação privada, nos termos  do Regulamento, da Resolução CVM 175 e do respectivo boletim de subscrição nos  seguintes termos:</a:t>
            </a:r>
          </a:p>
          <a:p>
            <a:r>
              <a:t> a. Montante Total da Colocação Privada: R$ 15.000.000 (quinze bilhões de  reais)  b. Quantidade de Cotas: 15.000.000 (quinze milhões) de Cotas Seniores;</a:t>
            </a:r>
          </a:p>
          <a:p>
            <a:r>
              <a:t> c. Preço de Emissão (Valor Unitário): R$ 1 (mil reais);</a:t>
            </a:r>
          </a:p>
          <a:p>
            <a:r>
              <a:t> d. Forma e Preço de Integralização: as Cotas serão integralizadas na forma  prevista no Boletim de Subscrição;</a:t>
            </a:r>
          </a:p>
          <a:p>
            <a:r>
              <a:t> e. Prazo da Colocação Privada: as Cotas serão colocadas em até 180 (cento e  oitenta) dias da data deste IPA.</a:t>
            </a:r>
          </a:p>
          <a:p>
            <a:r>
              <a:t>CNPJ 63953620000165 · Volume, VNU e emissão · Demonstrações Financeiras - Fusão, cisão e incorporação · ID 1327859 · 2026-05-15 · versão 1 · p. 31 · https://fnet.bmfbovespa.com.br/fnet/publico/visualizarDocumento?id=1327859</a:t>
            </a:r>
          </a:p>
          <a:p>
            <a:r>
              <a:t>CNPJ 63953620000165 · Volume, VNU e emissão · Excerto da fonte:</a:t>
            </a:r>
          </a:p>
          <a:p>
            <a:r>
              <a:t>Em Instrumento Particular de Alteração do MT Global Fundo de Investimento em Direitos  Creditórios, realizada em 08 de janeiro de 2026, foram deliberadas as seguintes matérias:</a:t>
            </a:r>
          </a:p>
          <a:p>
            <a:r>
              <a:t>(i) Alterar regulamento vigente da classe em relação aos itens 4.17.1, 6.8 e o Capítulo 13,</a:t>
            </a:r>
          </a:p>
          <a:p>
            <a:r>
              <a:t> (b) incluir o item 3.1, 8.1.(ii), 8.2, 8.2.1, e 10.2.(xvii); e (c) excluir os itens 6.8.1, 6.8.2,</a:t>
            </a:r>
          </a:p>
          <a:p>
            <a:r>
              <a:t>(ii) Aprovar a 1ª (primeira) emissão de cotas seniores das Classes (“Cotas Seniores”), em  sistema de vasos comunicantes entre as Classes, de forma que a quantidade de Cotas  Seniores integralizadas em uma das Classes será deduzida da quantidade de Cotas  Seniores disponíveis para integralização nas demais Classes, no montante total de R$</a:t>
            </a:r>
          </a:p>
          <a:p>
            <a:r>
              <a:t>CNPJ 63953620000165 · Volume, VNU e emissão · Demonstrações Financeiras - Fusão, cisão e incorporação · ID 1327859 · 2026-05-15 · versão 1 · p. 32 · https://fnet.bmfbovespa.com.br/fnet/publico/visualizarDocumento?id=1327859</a:t>
            </a:r>
          </a:p>
          <a:p>
            <a:r>
              <a:t>CNPJ 63953620000165 · Volume, VNU e emissão · Excerto da fonte:</a:t>
            </a:r>
          </a:p>
          <a:p>
            <a:r>
              <a:t>f. Montante Total da Colocação Privada: R$ 7.000 (sete milhões de reais);</a:t>
            </a:r>
          </a:p>
          <a:p>
            <a:r>
              <a:t> g. Quantidade de Cotas: 7.000 (sete mil) de Cotas Subordinadas CP  h. Preço de Emissão (Valor Unitário): R$ 1 (mil reais);</a:t>
            </a:r>
          </a:p>
          <a:p>
            <a:r>
              <a:t> i. Forma e Preço de Integralização: as Cotas serão integralizadas na forma  prevista no Boletim de Subscrição;</a:t>
            </a:r>
          </a:p>
          <a:p>
            <a:r>
              <a:t> j. Prazo da Colocação Privada: as Cotas serão colocadas em até 180 (cento e  oitenta) dias da data deste IPA.</a:t>
            </a:r>
          </a:p>
          <a:p>
            <a:r>
              <a:t>CNPJ 63953620000165 · Volume, VNU e emissão · Condição: Trechos do documento específico identificado com data mais recente; vigência jurídica não inferida.</a:t>
            </a:r>
          </a:p>
          <a:p>
            <a:r>
              <a:t>CNPJ 63953620000165 · Volume, VNU e emissão · Versão e prevalência: Trechos do documento específico identificado com data mais recente; vigência jurídica não inferida.</a:t>
            </a:r>
          </a:p>
          <a:p>
            <a:r>
              <a:t>CNPJ 63953620000165 · Volume, VNU e emissão · Resumo do histórico: {"count": 8, "dates": ["2026-04-16", "2026-04-28", "2026-05-08"], "document_count": 3, "sources": [{"document_id": "1298691", "title": "Demonstrações Financeiras - Fusão, cisão e incorporação", "reference_date": "2026-05-08", "version": "1", "page": 32, "url": "https://fnet.bmfbovespa.com.br/fnet/publico/visualizarDocumento?id=1298691", "sha256": "58c570d9b8d4d265330d3db3ea81c435b8e44a6dab4002aa37790652a1ee9819"}, {"document_id": "1282180", "title": "Demonstrações Financeiras - Fusão, cisão e incorporação", "reference_date": "2026-04-28", "version": "1", "page": 32, "clause": "15.000.000", "url": "https://fnet.bmfbovespa.com.br/fnet/publico/visualizarDocumento?id=1282180", "sha256": "afaaa0e6809be4385e5bdb6c911aac582032c5bdbac3d7750234bf9eaf00438a"}, {"document_id": "1282179", "title": "Demonstrações Financeiras - Fusão, cisão e incorporação", "reference_date": "2026-04-16", "version": "1", "page": 32, "clause": "15.000.000", "url": "https://fnet.bmfbovespa.com.br/fnet/publico/visualizarDocumento?id=1282179", "sha256": "beb67afbcd64169019477673fd3b7c1edbfabbd9db07379388d8cdd5d3fc9395"}], "reference": {"path": "history/63953620000165.json", "criterion_id": "issue_volume", "total_count": 8, "preview_count": 3, "full_text_deferred": true, "sha256": "a7b89077f5e21098c2d601c303faabc3ff6b9729f89d8afecdc60fe1404720c1"}}</a:t>
            </a:r>
          </a:p>
          <a:p>
            <a:r>
              <a:t>CNPJ 54871427000194 · Administração: taxa, base e mínimo · Regulamento · ID 670691 · 28/04/2024 · versão Regulamento — referência 28/04/2024 · p. 25 · Anexo I, 13.1 · https://fnet.bmfbovespa.com.br/fnet/publico/visualizarDocumento?id=670691</a:t>
            </a:r>
          </a:p>
          <a:p>
            <a:r>
              <a:t>CNPJ 54871427000194 · Administração: taxa, base e mínimo · Excerto da fonte:</a:t>
            </a:r>
          </a:p>
          <a:p>
            <a:r>
              <a:t>13.1 Pelos serviços de administração, tesouraria, controladoria e escrituração, a Classe pagará a Taxa de Administração nos seguintes moldes: o valor correspondente a 0,10% (dez centésimos por cento) ao ano aplicado sobre o Patrimônio Líquido, observado o valor mínimo de R$ 10.000,00 (dez mil reais) mensais atualizado pela variação positiva do IGP-M a cada período de 12 (doze) meses, contados a partir do mês em que ocorrer a primeira integralização de Cotas (inclusive). 13.1.1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BTG Pactual SAC: 0800 772 28 27 - Ouvidoria: 0800 722 00 48 - btgpactual.com 19</a:t>
            </a:r>
          </a:p>
          <a:p>
            <a:r>
              <a:t>CNPJ 54871427000194 · Administração: taxa, base e mínimo · Regulamento · ID 670691 · 28/04/2024 · versão Regulamento — referência 28/04/2024 · p. 26 · Anexo I, 13.1.2–13.1.3 · https://fnet.bmfbovespa.com.br/fnet/publico/visualizarDocumento?id=670691</a:t>
            </a:r>
          </a:p>
          <a:p>
            <a:r>
              <a:t>CNPJ 54871427000194 · Administração: taxa, base e mínimo · Excerto da fonte:</a:t>
            </a:r>
          </a:p>
          <a:p>
            <a:r>
              <a:t>13.1.2 A Taxa de Administração será calculada e provisionada todo Dia Útil à razão de 1/252 (um inteiro e duzentos e cinquenta e dois avos) com base no valor do Patrimônio Líquido do Dia Útil anterior. 13.1.3 A Taxa de Administração será paga mensalmente ao ADMINISTRADOR, observado o disposto no item 13.2 abaixo, por período vencido, até o 5º (quinto) Dia Útil do mês subsequente à prestação dos serviços, a partir do mês em que ocorrer a primeira integralização de Cotas da Classe. 13.2 O ADMINISTRADOR poderá estabelecer que parcelas da Taxa de Administração sejam pagas diretamente pela Classe aos prestadores de serviços contratados, desde que o somatório dessas parcelas não exceda o montante total da Taxa de Administração. 13.3 Não serão cobradas da Classe ou dos Cotistas taxas de perf ormance, de ingresso ou de saída. Taxa de Gestão 13.4 Pelos serviços de gestão, a Classe pagará a Taxa de Gestão nos seguintes moldes: o valor correspondente a 0,20% (vinte centésimos por cento) ao ano aplicado sobre o Patrimônio Líquido, observado o valor mínimo de R$ 15.000,00 (quinze mil reais) mensais atualizado pela variação positiva do IGP-M a cada período de 12 (</a:t>
            </a:r>
          </a:p>
          <a:p>
            <a:r>
              <a:t>CNPJ 54871427000194 · Administração: taxa, base e mínimo · Versão e prevalência: Leitura específica das cláusulas indicadas; condições e conflitos preservados. Seleção documental atual não comprova vigência jurídica por data isolada.</a:t>
            </a:r>
          </a:p>
          <a:p>
            <a:r>
              <a:t>CNPJ 54871427000194 · Administração: taxa, base e mínimo · Resumo do histórico: {"count": 2, "dates": ["2024-04-19", "2024-04-28"], "document_count": 2, "sources": [{"document_id": "670691", "title": "Regulamento", "reference_date": "2024-04-28", "version": "1", "page": "25-26", "url": "https://fnet.bmfbovespa.com.br/fnet/publico/visualizarDocumento?id=670691", "sha256": "bf16dd7f1a62d5cdbf2e2d54fef81783783f7310fbc99c3a8f00459bdf9d037b"}, {"document_id": "670689", "title": "Regulamento", "reference_date": "2024-04-19", "version": "1", "page": 26, "clause": "13.1", "url": "https://fnet.bmfbovespa.com.br/fnet/publico/visualizarDocumento?id=670689", "sha256": "891bc9bc5d87bbc02ec139077a84d2702eb81ea02035fb71d24f5b8366b94a0b"}], "reference": {"path": "history/54871427000194.json", "criterion_id": "admin_fee", "total_count": 2, "preview_count": 2, "full_text_deferred": true, "sha256": "35d7cd99be50c7287c9fb675cf4f2e736002315295a225a9efa79c8d9186d874"}}</a:t>
            </a:r>
          </a:p>
          <a:p>
            <a:r>
              <a:t>CNPJ 60010416000112 · Administração: taxa, base e mínimo · Regulamento · ID 1051393 · 09/10/2025 · versão Regulamento09/10/2025 · p. 29 · AnexoI12.1–12.1.2 · https://fnet.bmfbovespa.com.br/fnet/publico/visualizarDocumento?id=1051393</a:t>
            </a:r>
          </a:p>
          <a:p>
            <a:r>
              <a:t>CNPJ 60010416000112 · Administração: taxa, base e mínimo · Excerto da fonte:</a:t>
            </a:r>
          </a:p>
          <a:p>
            <a:r>
              <a:t>12.1 Pelos serviços de administração, escrituração, controladoria de ativos e passivo, e gestão de carteira, o Administrador fará jus a uma Taxa de Administração equivalente a 0,40% (quarenta centésimos por cento) por ano sobre o Patrimônio Líquido da Classe, a ser pago mensalmente, por período vencido da data em que ocorrer a primeira integralização de Cotas da Classe A, até o 5º (quinto) Dia Útil do mês subsequente ao da prestação do serviço, assegurado um valor mínimo mensal de R$ 20.000,00 (vinte mil reais), sendo este valor atualizado pela variação positiva do IPCA sempre em janeiro de cada ano,</a:t>
            </a:r>
          </a:p>
          <a:p>
            <a:r>
              <a:t>CNPJ 60010416000112 · Administração: taxa, base e mínimo · Versão e prevalência: Leitura específica das cláusulas indicadas; condições e conflitos preservados. Seleção documental atual não comprova vigência jurídica por data isolada.</a:t>
            </a:r>
          </a:p>
          <a:p>
            <a:r>
              <a:t>CNPJ 60010416000112 · Administração: taxa, base e mínimo · Resumo do histórico: {"count": 2, "dates": ["2025-03-20", "2025-10-09"], "document_count": 2, "sources": [{"document_id": "1051393", "title": "Regulamento", "reference_date": "2025-10-09", "version": "1", "page": "29", "url": "https://fnet.bmfbovespa.com.br/fnet/publico/visualizarDocumento?id=1051393", "sha256": "8469d613078ffd5a6c1d217885d8a397a16342c0b937ae4aa24b106505f233ae"}, {"document_id": "993786", "title": "Regulamento", "reference_date": "2025-03-20", "version": "1", "page": 29, "clause": "12.1", "url": "https://fnet.bmfbovespa.com.br/fnet/publico/visualizarDocumento?id=993786", "sha256": "fd0fdd369a195510d81f81f505195a0b09e5f43522a990afa7d58c4f872921c8"}], "reference": {"path": "history/60010416000112.json", "criterion_id": "admin_fee", "total_count": 2, "preview_count": 2, "full_text_deferred": true, "sha256": "8e2bd813f4c51cf01f6bfaad164bafe69d2bbb192f753eac92da3a01c2e63046"}}</a:t>
            </a:r>
          </a:p>
          <a:p>
            <a:r>
              <a:t>CNPJ 62696791000193 · Administração: taxa, base e mínimo · Regulamento · ID 1143317 · 20/03/2026 · versão Regulamento — referência 20/03/2026 · p. 28 · Anexo I, 13.1, Taxa de Administração · https://fnet.bmfbovespa.com.br/fnet/publico/visualizarDocumento?id=1143317</a:t>
            </a:r>
          </a:p>
          <a:p>
            <a:r>
              <a:t>CNPJ 62696791000193 · Administração: taxa, base e mínimo · Excerto da fonte:</a:t>
            </a:r>
          </a:p>
          <a:p>
            <a:r>
              <a:t>Taxa de Administração 0,10% (um décimo por cento) ao ano com um mínimo mensal de R$ 10.000,00 (dez mil reais), pagos mensalmente até o 5º (quinto) Dia Útil do mês subsequente ao mês que se ref ere, a ser corrigida anualmente, em janeiro de cada ano, pela variação positiva do Índice Geral de Preços – Mercado, divulgado pela Fundação Getúlio Vargas (“Taxa de Administração” e “IGP-M”, respectivamente).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T</a:t>
            </a:r>
          </a:p>
          <a:p>
            <a:r>
              <a:t>CNPJ 62696791000193 · Administração: taxa, base e mínimo · Condição: A linha da tabela não explicita novamente a base de PL para administração; conservar essa limitação em vez de completar a frase por analogia.</a:t>
            </a:r>
          </a:p>
          <a:p>
            <a:r>
              <a:t>CNPJ 62696791000193 · Administração: taxa, base e mínimo · Motivo: Não localizada uma cláusula material para este critério nos textos identificados e processados. A ausência de resultado não comprova inexistência da regra.</a:t>
            </a:r>
          </a:p>
          <a:p>
            <a:r>
              <a:t>CNPJ 62696791000193 · Administração: taxa, base e mínimo · Versão e prevalência: Leitura específica das cláusulas indicadas; condições e conflitos preservados. Seleção documental atual não comprova vigência jurídica por data isolada.</a:t>
            </a:r>
          </a:p>
          <a:p>
            <a:r>
              <a:t>CNPJ 55563624000109 · Administração: taxa, base e mínimo · Regulamento · ID 1192614 · 30/04/2026 · versão Regulamento30/04/2026 · p. 28 · AnexoI13.1–13.2 · https://fnet.bmfbovespa.com.br/fnet/publico/visualizarDocumento?id=1192614</a:t>
            </a:r>
          </a:p>
          <a:p>
            <a:r>
              <a:t>CNPJ 55563624000109 · Administração: taxa, base e mínimo · Excerto da fonte:</a:t>
            </a:r>
          </a:p>
          <a:p>
            <a:r>
              <a:t>13.1 Sem prejuízo da Taxa Máxima de Administração, pelos serviços de administração do FUNDO e da Classe, tesouraria, controle e processamento dos ativos integrantes da Carteira, a Classe pagará, no mínimo, ao ADMINISTRADOR a Taxa Mínima de Administração nos seguintes moldes: o valor correspondente a R$ 10.000,00 (dez mil reais) mensais, atualizado pela variação positiva do IGP-M, no mês de janeiro de cada ano (“Taxa Mínima de Administração”). 13.1.1 Na hipótese de extinção do IGP-M, não divulgação ou impossibilidade de sua utilização, será utilizado o</a:t>
            </a:r>
          </a:p>
          <a:p>
            <a:r>
              <a:t>CNPJ 55563624000109 · Administração: taxa, base e mínimo · Condição: A base do adicional é PL do Mercado Crédito II; não é teto 0, 10% sobre PLGN e não substitui mínimo R$ 10 mil.</a:t>
            </a:r>
          </a:p>
          <a:p>
            <a:r>
              <a:t>CNPJ 55563624000109 · Administração: taxa, base e mínimo · Versão e prevalência: Leitura específica das cláusulas indicadas; condições e conflitos preservados. Seleção documental atual não comprova vigência jurídica por data isolada.</a:t>
            </a:r>
          </a:p>
          <a:p>
            <a:r>
              <a:t>CNPJ 55563624000109 · Administração: taxa, base e mínimo · Resumo do histórico: {"count": 3, "dates": ["2025-01-31", "2026-01-31", "2026-04-30"], "document_count": 3, "sources": [{"document_id": "1192614", "title": "Regulamento", "reference_date": "2026-04-30", "version": "1", "page": "28", "clause": "13.2", "url": "https://fnet.bmfbovespa.com.br/fnet/publico/visualizarDocumento?id=1192614", "sha256": "f56e63ace0acde41d2f47fb48f1ac7f3f7df5e2d32de092d7c5e075a52516632"}, {"document_id": "1178840", "title": "Demonstrações Financeiras", "reference_date": "2026-01-31", "version": "1", "page": 29, "url": "https://fnet.bmfbovespa.com.br/fnet/publico/visualizarDocumento?id=1178840", "sha256": "c458e98664c5c907ddb5a05a94b120bed4e05295b2bfc420f5ba69af0a229abe"}, {"document_id": "891861", "title": "Demonstrações Financeiras", "reference_date": "2025-01-31", "version": "1", "page": 30, "url": "https://fnet.bmfbovespa.com.br/fnet/publico/visualizarDocumento?id=891861", "sha256": "e9cb9e6ddbe505fe068cfcac33605165a98313489de0d3ce6d4d238263c3f3e7"}], "reference": {"path": "history/55563624000109.json", "criterion_id": "admin_fee", "total_count": 3, "preview_count": 3, "full_text_deferred": true, "sha256": "7835d573fb58a3c19adf5b8ecc2aee2bdbb9a88f7a0c0209b5f262b64c7522e3"}}</a:t>
            </a:r>
          </a:p>
          <a:p>
            <a:r>
              <a:t>CNPJ 62552447000120 · Administração: taxa, base e mínimo · Regulamento · ID 1200623 · 21/05/2026 · versão Consolidado21/05/2026 aprovado pelo ato1200625 · p. 30 · AnexoI13.1 TaxaGlobal · https://fnet.bmfbovespa.com.br/fnet/publico/visualizarDocumento?id=1200623</a:t>
            </a:r>
          </a:p>
          <a:p>
            <a:r>
              <a:t>CNPJ 62552447000120 · Administração: taxa, base e mínimo · Excerto da fonte:</a:t>
            </a:r>
          </a:p>
          <a:p>
            <a:r>
              <a:t>Taxa Global Pelos serviços de administração, gestão, custódia, tesouraria, controladoria, escrituração, a Classe pagará um valor equivalente a um percentual incidente sobre o Patrimônio Líquido da Classe, conf orme a f aixa de Patrimônio Líquido da Classe prevista na tabela abaixo, apropriada diariamente e paga mensalmente até o 5º (quinto) Dia Útil do mês subsequente ao mês que se ref ere, com</a:t>
            </a:r>
          </a:p>
          <a:p>
            <a:r>
              <a:t>CNPJ 62552447000120 · Administração: taxa, base e mínimo · Condição: Global remunera administração, gestão, custódia, tesouraria, controladoria e escrituração; percentual segregado não presumido.</a:t>
            </a:r>
          </a:p>
          <a:p>
            <a:r>
              <a:t>CNPJ 62552447000120 · Administração: taxa, base e mínimo · Motivo: Não localizada uma cláusula material para este critério nos textos identificados e processados. A ausência de resultado não comprova inexistência da regra.</a:t>
            </a:r>
          </a:p>
          <a:p>
            <a:r>
              <a:t>CNPJ 62552447000120 · Administração: taxa, base e mínimo · Versão e prevalência: Leitura específica das cláusulas indicadas; condições e conflitos preservados. Seleção documental atual não comprova vigência jurídica por data isolada.</a:t>
            </a:r>
          </a:p>
          <a:p>
            <a:r>
              <a:t>CNPJ 63953620000165 · Administração: taxa, base e mínimo · Anexo ao Regulamento · ID 1222863 · 02/06/2026 · versão AnexoConsignadoPrivado02/06/2026 · p. 19 · Capítulo13TaxadeAdministração · https://fnet.bmfbovespa.com.br/fnet/publico/visualizarDocumento?id=1222863</a:t>
            </a:r>
          </a:p>
          <a:p>
            <a:r>
              <a:t>CNPJ 63953620000165 · Administração: taxa, base e mínimo · Excerto da fonte:</a:t>
            </a:r>
          </a:p>
          <a:p>
            <a:r>
              <a:t>Taxa de Administração positiva do Índice Geral de Preços – Mercado, divulgado pela Fundação Getúlio Vargas (“Taxa de Administração” e “IGP-M”, respectivamente). Na hipótese de extinção do IGP-M, não divulgação ou impossibilidade de sua utilização, será utilizado o Índice Geral de Preços – Disponibilidade Interna, divulgado pela Fundação Getúlio Vargas, ou, na falta de ambos, pela variação do IPC – Índice de Preços ao Consumidor, divulgado pela</a:t>
            </a:r>
          </a:p>
          <a:p>
            <a:r>
              <a:t>CNPJ 63953620000165 · Administração: taxa, base e mínimo · Condição: Base é a parcela MT específica, não necessariamente todo o PL da classe.</a:t>
            </a:r>
          </a:p>
          <a:p>
            <a:r>
              <a:t>CNPJ 63953620000165 · Administração: taxa, base e mínimo · Versão e prevalência: Leitura específica das cláusulas indicadas; condições e conflitos preservados. Seleção documental atual não comprova vigência jurídica por data isolada.</a:t>
            </a:r>
          </a:p>
          <a:p>
            <a:r>
              <a:t>CNPJ 63953620000165 · Administração: taxa, base e mínimo · Resumo do histórico: {"count": 8, "dates": ["2026-04-28", "2026-05-08", "2026-05-15"], "document_count": 3, "sources": [{"document_id": "1327859", "title": "Demonstrações Financeiras - Fusão, cisão e incorporação", "reference_date": "2026-05-15", "version": "1", "page": 28, "url": "https://fnet.bmfbovespa.com.br/fnet/publico/visualizarDocumento?id=1327859", "sha256": "dca1c68babb97f887528c3e2e47596a9c30f507b067981a35655b2f2da9c8054"}, {"document_id": "1298691", "title": "Demonstrações Financeiras - Fusão, cisão e incorporação", "reference_date": "2026-05-08", "version": "1", "page": 28, "url": "https://fnet.bmfbovespa.com.br/fnet/publico/visualizarDocumento?id=1298691", "sha256": "58c570d9b8d4d265330d3db3ea81c435b8e44a6dab4002aa37790652a1ee9819"}, {"document_id": "1282180", "title": "Demonstrações Financeiras - Fusão, cisão e incorporação", "reference_date": "2026-04-28", "version": "1", "page": 29, "url": "https://fnet.bmfbovespa.com.br/fnet/publico/visualizarDocumento?id=1282180", "sha256": "afaaa0e6809be4385e5bdb6c911aac582032c5bdbac3d7750234bf9eaf00438a"}], "reference": {"path": "history/63953620000165.json", "criterion_id": "admin_fee", "total_count": 8, "preview_count": 3, "full_text_deferred": true, "sha256": "a7b89077f5e21098c2d601c303faabc3ff6b9729f89d8afecdc60fe1404720c1"}}</a:t>
            </a:r>
          </a:p>
          <a:p>
            <a:r>
              <a:t>CNPJ 54871427000194 · Gestão: taxa, base e mínimo · Regulamento · ID 670691 · 28/04/2024 · versão Regulamento — referência 28/04/2024 · p. 26 · Anexo I, 13.4–13.4.3 · https://fnet.bmfbovespa.com.br/fnet/publico/visualizarDocumento?id=670691</a:t>
            </a:r>
          </a:p>
          <a:p>
            <a:r>
              <a:t>CNPJ 54871427000194 · Gestão: taxa, base e mínimo · Excerto da fonte:</a:t>
            </a:r>
          </a:p>
          <a:p>
            <a:r>
              <a:t>13.4 Pelos serviços de gestão, a Classe pagará a Taxa de Gestão nos seguintes moldes: o valor correspondente a 0,20% (vinte centésimos por cento) ao ano aplicado sobre o Patrimônio Líquido, observado o valor mínimo de R$ 15.000,00 (quinze mil reais) mensais atualizado pela variação positiva do IGP-M a cada período de 12 (doze) meses, contados a partir do mês em que ocorrer a primeira integralização de Cotas (inclusive). 13.4.1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13.4.2 A Taxa de Gestão será calculada e provisionada todo Dia Útil à razão de 1/252 (um inteiro e duzentos e cinquenta e dois avos) com base no valor do Patrimônio Líquido do Dia Útil anterior. 13.4.3 A Taxa de Gestão será paga mensalmente ao GESTOR, observado o disposto no item 13.5 abaixo, por período vencido, até o 5º (quinto) Dia Útil do mês subsequente à prestação dos ser</a:t>
            </a:r>
          </a:p>
          <a:p>
            <a:r>
              <a:t>CNPJ 54871427000194 · Gestão: taxa, base e mínimo · Versão e prevalência: Leitura específica das cláusulas indicadas; condições e conflitos preservados. Seleção documental atual não comprova vigência jurídica por data isolada.</a:t>
            </a:r>
          </a:p>
          <a:p>
            <a:r>
              <a:t>CNPJ 54871427000194 · Gestão: taxa, base e mínimo · Resumo do histórico: {"count": 2, "dates": ["2024-04-19", "2024-04-28"], "document_count": 2, "sources": [{"document_id": "670691", "title": "Regulamento", "reference_date": "2024-04-28", "version": "1", "page": "26", "url": "https://fnet.bmfbovespa.com.br/fnet/publico/visualizarDocumento?id=670691", "sha256": "bf16dd7f1a62d5cdbf2e2d54fef81783783f7310fbc99c3a8f00459bdf9d037b"}, {"document_id": "670689", "title": "Regulamento", "reference_date": "2024-04-19", "version": "1", "page": 27, "clause": "13.3", "url": "https://fnet.bmfbovespa.com.br/fnet/publico/visualizarDocumento?id=670689", "sha256": "891bc9bc5d87bbc02ec139077a84d2702eb81ea02035fb71d24f5b8366b94a0b"}], "reference": {"path": "history/54871427000194.json", "criterion_id": "management_fee", "total_count": 2, "preview_count": 2, "full_text_deferred": true, "sha256": "35d7cd99be50c7287c9fb675cf4f2e736002315295a225a9efa79c8d9186d874"}}</a:t>
            </a:r>
          </a:p>
          <a:p>
            <a:r>
              <a:t>CNPJ 60010416000112 · Gestão: taxa, base e mínimo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Gestão: taxa, base e mínimo · Resumo do histórico: {"count": 1, "dates": ["2025-10-09"], "document_count": 1, "sources": [{"document_id": "1051393", "title": "Regulamento", "reference_date": "2025-10-09", "version": "1", "page": "29, 46", "url": "https://fnet.bmfbovespa.com.br/fnet/publico/visualizarDocumento?id=1051393", "sha256": "8469d613078ffd5a6c1d217885d8a397a16342c0b937ae4aa24b106505f233ae"}], "reference": {"path": "history/60010416000112.json", "criterion_id": "management_fee", "total_count": 1, "preview_count": 1, "full_text_deferred": true, "sha256": "8e2bd813f4c51cf01f6bfaad164bafe69d2bbb192f753eac92da3a01c2e63046"}}</a:t>
            </a:r>
          </a:p>
          <a:p>
            <a:r>
              <a:t>CNPJ 62696791000193 · Gestão: taxa, base e mínimo · Regulamento · ID 1143317 · 20/03/2026 · versão Regulamento — referência 20/03/2026 · p. 28 · Anexo I, 13.1, Taxa de Gestão · https://fnet.bmfbovespa.com.br/fnet/publico/visualizarDocumento?id=1143317</a:t>
            </a:r>
          </a:p>
          <a:p>
            <a:r>
              <a:t>CNPJ 62696791000193 · Gestão: taxa, base e mínimo · Excerto da fonte:</a:t>
            </a:r>
          </a:p>
          <a:p>
            <a:r>
              <a:t>Taxa de Gestão 0% (zero por cento) ao ano apropriada diariamente na base de 252 (duzentos e cinquenta e dois) Dias Úteis, e paga mensalmente, até o 5º (quinto) Dia Útil do mês subsequente ao mês que se ref ere, incidente sobre o Patrimônio Líquido da Classe (“Taxa de Gestão”). Taxa Máxima de Custódia 0,00% (zero por cento) ao ano, incidente sobre o Patrimônio Líquido da Classe (“Taxa Máxima de Custódia”). Taxa de Performance Não será devido pela Classe o pagamento de Taxa de Perf ormance. 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a:t>
            </a:r>
          </a:p>
          <a:p>
            <a:r>
              <a:t>CNPJ 62696791000193 · Gestão: taxa, base e mínimo · Motivo: Não localizada uma cláusula material para este critério nos textos identificados e processados. A ausência de resultado não comprova inexistência da regra.</a:t>
            </a:r>
          </a:p>
          <a:p>
            <a:r>
              <a:t>CNPJ 62696791000193 · Gestão: taxa, base e mínimo · Versão e prevalência: Leitura específica das cláusulas indicadas; condições e conflitos preservados. Seleção documental atual não comprova vigência jurídica por data isolada.</a:t>
            </a:r>
          </a:p>
          <a:p>
            <a:r>
              <a:t>CNPJ 55563624000109 · Gestão: taxa, base e mínimo · Regulamento · ID 1192614 · 30/04/2026 · versão Regulamento30/04/2026 · p. 29 · AnexoI13.4–13.7.1 · https://fnet.bmfbovespa.com.br/fnet/publico/visualizarDocumento?id=1192614</a:t>
            </a:r>
          </a:p>
          <a:p>
            <a:r>
              <a:t>CNPJ 55563624000109 · Gestão: taxa, base e mínimo · Excerto da fonte:</a:t>
            </a:r>
          </a:p>
          <a:p>
            <a:r>
              <a:t>13.4 Sem prejuízo da Taxa Máxima de Gestão, pelos serviços de gestão, a Classe pagará ao GESTOR: (i) a taxa de gestão ordinária correspondente a 0,50% (cinquenta centésimos por cento) ao ano, incidente sobre o Patrimônio Líquido da Classe, observado o montante mínimo de R$ 40.000,00 (quarenta mil reais) ao mês, corrigido anualmente pela variação positiva do Índice de Preços ao Consumidor Amplo, divulgado pelo Instituto Brasileiro de Geografia e Estatística – IBGE (“Taxa de Gestão”); e (ii) a taxa de gestão extraordinária apurada e paga no momento de cada</a:t>
            </a:r>
          </a:p>
          <a:p>
            <a:r>
              <a:t>CNPJ 55563624000109 · Gestão: taxa, base e mínimo · Condição: Adicional é por integralização, não taxa anual.</a:t>
            </a:r>
          </a:p>
          <a:p>
            <a:r>
              <a:t>CNPJ 55563624000109 · Gestão: taxa, base e mínimo · Versão e prevalência: Leitura específica das cláusulas indicadas; condições e conflitos preservados. Seleção documental atual não comprova vigência jurídica por data isolada.</a:t>
            </a:r>
          </a:p>
          <a:p>
            <a:r>
              <a:t>CNPJ 55563624000109 · Gestão: taxa, base e mínimo · Resumo do histórico: {"count": 3, "dates": ["2025-01-31", "2026-01-31", "2026-04-30"], "document_count": 3, "sources": [{"document_id": "1192614", "title": "Regulamento", "reference_date": "2026-04-30", "version": "1", "page": "29", "url": "https://fnet.bmfbovespa.com.br/fnet/publico/visualizarDocumento?id=1192614", "sha256": "f56e63ace0acde41d2f47fb48f1ac7f3f7df5e2d32de092d7c5e075a52516632"}, {"document_id": "1178840", "title": "Demonstrações Financeiras", "reference_date": "2026-01-31", "version": "1", "page": 29, "url": "https://fnet.bmfbovespa.com.br/fnet/publico/visualizarDocumento?id=1178840", "sha256": "c458e98664c5c907ddb5a05a94b120bed4e05295b2bfc420f5ba69af0a229abe"}, {"document_id": "891861", "title": "Demonstrações Financeiras", "reference_date": "2025-01-31", "version": "1", "page": 30, "url": "https://fnet.bmfbovespa.com.br/fnet/publico/visualizarDocumento?id=891861", "sha256": "e9cb9e6ddbe505fe068cfcac33605165a98313489de0d3ce6d4d238263c3f3e7"}], "reference": {"path": "history/55563624000109.json", "criterion_id": "management_fee", "total_count": 3, "preview_count": 3, "full_text_deferred": true, "sha256": "7835d573fb58a3c19adf5b8ecc2aee2bdbb9a88f7a0c0209b5f262b64c7522e3"}}</a:t>
            </a:r>
          </a:p>
          <a:p>
            <a:r>
              <a:t>CNPJ 62552447000120 · Gestão: taxa, base e mínimo · Motivo: Não localizada uma cláusula material para este critério nos textos identificados e processados. A ausência de resultado não comprova inexistência da regra.</a:t>
            </a:r>
          </a:p>
          <a:p>
            <a:r>
              <a:t>CNPJ 63953620000165 · Gestão: taxa, base e mínimo · Anexo ao Regulamento · ID 1222863 · 02/06/2026 · versão AnexoConsignadoPrivado02/06/2026 · p. 20 · Capítulo13TaxadeGestão · https://fnet.bmfbovespa.com.br/fnet/publico/visualizarDocumento?id=1222863</a:t>
            </a:r>
          </a:p>
          <a:p>
            <a:r>
              <a:t>CNPJ 63953620000165 · Gestão: taxa, base e mínimo · Excerto da fonte:</a:t>
            </a:r>
          </a:p>
          <a:p>
            <a:r>
              <a:t>0,05% (cinco centésimos por cento) ao ano, apropriada diariamente na base de 252 (duzentos e cinquenta e dois) Dias Úteis, e paga mensalmente, até o 5º (quinto) Dia Útil do mês subsequente ao mês que se refere, incidente sobre o Patrimônio Líquido da Classe alocado em Direitos Creditórios Consignado Privado e/ou Ativos de Liquidez MT, observada remuneração mínima mensal de R$ 2.500,00 (dois mil e quinhentos reais), a ser corrigida anualmente, em janeiro de cada ano, pela variação</a:t>
            </a:r>
          </a:p>
          <a:p>
            <a:r>
              <a:t>CNPJ 63953620000165 · Gestão: taxa, base e mínimo · Versão e prevalência: Leitura específica das cláusulas indicadas; condições e conflitos preservados. Seleção documental atual não comprova vigência jurídica por data isolada.</a:t>
            </a:r>
          </a:p>
          <a:p>
            <a:r>
              <a:t>CNPJ 63953620000165 · Gestão: taxa, base e mínimo · Resumo do histórico: {"count": 8, "dates": ["2026-04-28", "2026-05-08", "2026-05-15"], "document_count": 3, "sources": [{"document_id": "1327859", "title": "Demonstrações Financeiras - Fusão, cisão e incorporação", "reference_date": "2026-05-15", "version": "1", "page": 28, "url": "https://fnet.bmfbovespa.com.br/fnet/publico/visualizarDocumento?id=1327859", "sha256": "dca1c68babb97f887528c3e2e47596a9c30f507b067981a35655b2f2da9c8054"}, {"document_id": "1298691", "title": "Demonstrações Financeiras - Fusão, cisão e incorporação", "reference_date": "2026-05-08", "version": "1", "page": 28, "url": "https://fnet.bmfbovespa.com.br/fnet/publico/visualizarDocumento?id=1298691", "sha256": "58c570d9b8d4d265330d3db3ea81c435b8e44a6dab4002aa37790652a1ee9819"}, {"document_id": "1282180", "title": "Demonstrações Financeiras - Fusão, cisão e incorporação", "reference_date": "2026-04-28", "version": "1", "page": 29, "url": "https://fnet.bmfbovespa.com.br/fnet/publico/visualizarDocumento?id=1282180", "sha256": "afaaa0e6809be4385e5bdb6c911aac582032c5bdbac3d7750234bf9eaf00438a"}], "reference": {"path": "history/63953620000165.json", "criterion_id": "management_fee", "total_count": 8, "preview_count": 3, "full_text_deferred": true, "sha256": "a7b89077f5e21098c2d601c303faabc3ff6b9729f89d8afecdc60fe1404720c1"}}</a:t>
            </a:r>
          </a:p>
          <a:p>
            <a:r>
              <a:t>CNPJ 54871427000194 · Performance: benchmark e apuração · Regulamento · ID 670691 · 28/04/2024 · versão Regulamento — referência 28/04/2024 · p. 26 · Anexo I, 13.3 · https://fnet.bmfbovespa.com.br/fnet/publico/visualizarDocumento?id=670691</a:t>
            </a:r>
          </a:p>
          <a:p>
            <a:r>
              <a:t>CNPJ 54871427000194 · Performance: benchmark e apuração · Excerto da fonte:</a:t>
            </a:r>
          </a:p>
          <a:p>
            <a:r>
              <a:t>13.3 Não serão cobradas da Classe ou dos Cotistas taxas de perf ormance, de ingresso ou de saída. Taxa de Gestão 13.4 Pelos serviços de gestão, a Classe pagará a Taxa de Gestão nos seguintes moldes: o valor correspondente a 0,20% (vinte centésimos por cento) ao ano aplicado sobre o Patrimônio Líquido, observado o valor mínimo de R$ 15.000,00 (quinze mil reais) mensais atualizado pela variação positiva do IGP-M a cada período de 12 (doze) meses, contados a partir do mês em que ocorrer a primeira integralização de Cotas (inclusive). 13.4.1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13.4.2 A Taxa de Gestão será calculada e provisionada todo Dia Útil à razão de 1/252 (um inteiro e duzentos e cinquenta e dois avos) com base no valor do Patrimônio Líquido do Dia Útil anterior. 13.4.3 A Taxa de Gestão será paga mensalmente ao GESTOR, observado o disposto no item 13.5</a:t>
            </a:r>
          </a:p>
          <a:p>
            <a:r>
              <a:t>CNPJ 54871427000194 · Performance: benchmark e apuração · Motivo: Não localizada uma cláusula material para este critério nos textos identificados e processados. A ausência de resultado não comprova inexistência da regra.</a:t>
            </a:r>
          </a:p>
          <a:p>
            <a:r>
              <a:t>CNPJ 54871427000194 · Performance: benchmark e apuração · Versão e prevalência: Leitura específica das cláusulas indicadas; condições e conflitos preservados. Seleção documental atual não comprova vigência jurídica por data isolada.</a:t>
            </a:r>
          </a:p>
          <a:p>
            <a:r>
              <a:t>CNPJ 60010416000112 · Performance: benchmark e apuração · Regulamento · ID 1051393 · 09/10/2025 · versão Regulamento09/10/2025 · p. 29 · AnexoI12.2 · https://fnet.bmfbovespa.com.br/fnet/publico/visualizarDocumento?id=1051393</a:t>
            </a:r>
          </a:p>
          <a:p>
            <a:r>
              <a:t>CNPJ 60010416000112 · Performance: benchmark e apuração · Excerto da fonte:</a:t>
            </a:r>
          </a:p>
          <a:p>
            <a:r>
              <a:t>12.2 Não serão cobradas da Classe ou dos Cotistas taxas de perf ormance, de ingresso ou de saída. Taxa Máxima de Custódia 12.3 Pelos serviços de custódia qualificada dos Direitos Creditórios e dos Ativos Financeiros de Liquidez não será devida nenhuma remuneração ao Custodiante, de modo que taxa máxima de custódia a ser paga pela Classe ao Custodiante corresponde a 0% (zero por cento) ao ano. Remuneração do Agente de Retenção/Cobrança 12.4 Para a prestação de serviços à Classe, o Agente de Retenção/Cobrança f ará jus a uma remuneração a ser auf erida todo Dia Útil e paga mensalmente, a título de Encargo da Cla</a:t>
            </a:r>
          </a:p>
          <a:p>
            <a:r>
              <a:t>CNPJ 60010416000112 · Performance: benchmark e apuração · Motivo: Não localizada uma cláusula material para este critério nos textos identificados e processados. A ausência de resultado não comprova inexistência da regra.</a:t>
            </a:r>
          </a:p>
          <a:p>
            <a:r>
              <a:t>CNPJ 60010416000112 · Performance: benchmark e apuração · Versão e prevalência: Leitura específica das cláusulas indicadas; condições e conflitos preservados. Seleção documental atual não comprova vigência jurídica por data isolada.</a:t>
            </a:r>
          </a:p>
          <a:p>
            <a:r>
              <a:t>CNPJ 62696791000193 · Performance: benchmark e apuração · Regulamento · ID 1143317 · 20/03/2026 · versão Regulamento — referência 20/03/2026 · p. 28 · Anexo I, 13.1, Taxa de Performance · https://fnet.bmfbovespa.com.br/fnet/publico/visualizarDocumento?id=1143317</a:t>
            </a:r>
          </a:p>
          <a:p>
            <a:r>
              <a:t>CNPJ 62696791000193 · Performance: benchmark e apuração · Excerto da fonte:</a:t>
            </a:r>
          </a:p>
          <a:p>
            <a:r>
              <a:t>Taxa de Performance Não será devido pela Classe o pagamento de Taxa de Perf ormance. 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equivalente a 0,9% (nove décimos por cento) ao ano aplicado sobre o Patrimônio Anexo I ao Regulamento Líquido, observado o limite máximo de 4,5% (quatro inteiros e cinquenta centésimos por cento) do volume captado na respectiva oferta (“Taxa Máxima de Distribuição”).A Taxa Máxima de BTG Pactual SAC: 0800 772 2827 | Ouvidoria: 0800 722 0048 | btgpactual.co m 23</a:t>
            </a:r>
          </a:p>
          <a:p>
            <a:r>
              <a:t>CNPJ 62696791000193 · Performance: benchmark e apuração · Regulamento · ID 1143317 · 20/03/2026 · versão Regulamento — referência 20/03/2026 · p. 29 · Anexo I, 13.1, Taxa de Ingresso · https://fnet.bmfbovespa.com.br/fnet/publico/visualizarDocumento?id=1143317</a:t>
            </a:r>
          </a:p>
          <a:p>
            <a:r>
              <a:t>CNPJ 62696791000193 · Performance: benchmark e apuração · Excerto da fonte:</a:t>
            </a:r>
          </a:p>
          <a:p>
            <a:r>
              <a:t>Taxa de Ingresso Não será cobrada dos Cotistas Taxa de Ingresso. 14 TRIBUTAÇÃO 14.1 O disposto neste Capítulo f oi elaborado com base na legislação e regulamentação em vigor produzindo ef eitos, tem por objetivo descrever de f orma sumária o tratamento tributário aplicável em regra aos cotistas, ao Fundo e à Classe, não se aplicando aos cotistas sujeitos a regras de tributação específicas, na f orma da legislação e regulamentação em vigor. 14.2 Há exceções (inclusive relativas à natureza ou ao domicílio do investidor para fins fiscais) em relação ao tratamento tributário descrito abaixo e tributos adicionais que podem ser aplicados, motivo pelo qual os cotistas devem consultar seus assessores jurídicos com relação à tributação aplicável nos investimentos realizados na Classe. Tributação da Classe / Operações da carteira: Como regra geral, os rendimentos auferidos pela carteira da Classe não estão sujeitos à incidência do imposto de renda, exceto ganhos auferidos em aplicações financeiras de renda fixa ou variável, que se sujeitam à incidência do Imposto de Renda Retido na Fonte (“IRF”) de acordo com as mesmas regras de tributação aplic</a:t>
            </a:r>
          </a:p>
          <a:p>
            <a:r>
              <a:t>CNPJ 62696791000193 · Performance: benchmark e apuração · Motivo: Não localizada uma cláusula material para este critério nos textos identificados e processados. A ausência de resultado não comprova inexistência da regra.</a:t>
            </a:r>
          </a:p>
          <a:p>
            <a:r>
              <a:t>CNPJ 62696791000193 · Performance: benchmark e apuração · Versão e prevalência: Leitura específica das cláusulas indicadas; condições e conflitos preservados. Seleção documental atual não comprova vigência jurídica por data isolada.</a:t>
            </a:r>
          </a:p>
          <a:p>
            <a:r>
              <a:t>CNPJ 55563624000109 · Performance: benchmark e apuração · Regulamento · ID 1192614 · 30/04/2026 · versão Regulamento30/04/2026 · p. 29 · AnexoI13.10 · https://fnet.bmfbovespa.com.br/fnet/publico/visualizarDocumento?id=1192614</a:t>
            </a:r>
          </a:p>
          <a:p>
            <a:r>
              <a:t>CNPJ 55563624000109 · Performance: benchmark e apuração · Excerto da fonte:</a:t>
            </a:r>
          </a:p>
          <a:p>
            <a:r>
              <a:t>13.10 Não serão cobradas taxas de performance da Classe, e nem taxas de ingresso ou de saída dos Cotistas que integralizarem ou resgatarem suas Cotas. BTG Pactual SAC: 0800 772 28 27 - Ouvidoria: 0800 722 00 48 - btgpactual.com 22</a:t>
            </a:r>
          </a:p>
          <a:p>
            <a:r>
              <a:t>CNPJ 55563624000109 · Performance: benchmark e apuração · Motivo: Não localizada uma cláusula material para este critério nos textos identificados e processados. A ausência de resultado não comprova inexistência da regra.</a:t>
            </a:r>
          </a:p>
          <a:p>
            <a:r>
              <a:t>CNPJ 55563624000109 · Performance: benchmark e apuração · Versão e prevalência: Leitura específica das cláusulas indicadas; condições e conflitos preservados. Seleção documental atual não comprova vigência jurídica por data isolada.</a:t>
            </a:r>
          </a:p>
          <a:p>
            <a:r>
              <a:t>CNPJ 62552447000120 · Performance: benchmark e apuração · Regulamento · ID 1200623 · 21/05/2026 · versão Consolidado21/05/2026 aprovado pelo ato1200625 · p. 30 · AnexoI13.1 TaxadePerformance/Ingresso · https://fnet.bmfbovespa.com.br/fnet/publico/visualizarDocumento?id=1200623</a:t>
            </a:r>
          </a:p>
          <a:p>
            <a:r>
              <a:t>CNPJ 62552447000120 · Performance: benchmark e apuração · Excerto da fonte:</a:t>
            </a:r>
          </a:p>
          <a:p>
            <a:r>
              <a:t>Taxa de Performance Não será devido pela Classe o pagamento de Taxa de Perf ormance. Taxa de Ingresso Não será cobrada dos Cotistas Taxa de Ingresso . CAPÍTULO 14 – CUSTOS REFERENTES À DEFESA DOS INTERESSES DA CLASSE 14.1 Todos os custos e despesas ref eridos neste Capítulo, inclusive para salvaguarda de direitos e prerrogativas da Classe e/ou com a cobrança judicial e/ou extrajudicial de Direitos Creditórios Inadimplidos, serão de inteira responsabilidade da Classe, não est ando o Administrador, o Gestor, o Endossante, os Devedores, o Custodiante e quaisquer de suas respectivas pessoas contr</a:t>
            </a:r>
          </a:p>
          <a:p>
            <a:r>
              <a:t>CNPJ 62552447000120 · Performance: benchmark e apuração · Motivo: Não localizada uma cláusula material para este critério nos textos identificados e processados. A ausência de resultado não comprova inexistência da regra.</a:t>
            </a:r>
          </a:p>
          <a:p>
            <a:r>
              <a:t>CNPJ 62552447000120 · Performance: benchmark e apuração · Versão e prevalência: Leitura específica das cláusulas indicadas; condições e conflitos preservados. Seleção documental atual não comprova vigência jurídica por data isolada.</a:t>
            </a:r>
          </a:p>
          <a:p>
            <a:r>
              <a:t>CNPJ 63953620000165 · Performance: benchmark e apuração · Anexo ao Regulamento · ID 1222863 · 02/06/2026 · versão AnexoConsignadoPrivado02/06/2026 · p. 20 · Capítulo13 · https://fnet.bmfbovespa.com.br/fnet/publico/visualizarDocumento?id=1222863</a:t>
            </a:r>
          </a:p>
          <a:p>
            <a:r>
              <a:t>CNPJ 63953620000165 · Performance: benchmark e apuração · Excerto da fonte:</a:t>
            </a:r>
          </a:p>
          <a:p>
            <a:r>
              <a:t>Taxa de Performance Não será devido pelas Classes o pagamento de Taxa de Performance. 0,00% (zero por cento) ao ano, incidente sobre o Patrimônio Líquido da Classe Taxa Máxima de Custódia (“Taxa Máxima de Custódia”). Taxa Máxima de Distribuição Não será cobrada Taxa de Distribuição. Taxa de Ingresso Não será cobrada da Classe ou dos Cotistas taxa de ingresso. CAPÍTULO 14 – CUSTOS REFERENTES À DEFESA DOS INTERESSES DA CLASSE 14.1 Todos os custos e despesas referidos neste Capítulo, inclusive para salvaguarda de direitos e prerrogativas da</a:t>
            </a:r>
          </a:p>
          <a:p>
            <a:r>
              <a:t>CNPJ 63953620000165 · Performance: benchmark e apuração · Motivo: Cláusula primária localizada e citada, mas sua lista/condições extensas não admitem uma síntese literal curta confirmada. O trecho integral permanece nas fontes.</a:t>
            </a:r>
          </a:p>
          <a:p>
            <a:r>
              <a:t>CNPJ 63953620000165 · Performance: benchmark e apuração · Versão e prevalência: Leitura específica das cláusulas indicadas; condições e conflitos preservados. Seleção documental atual não comprova vigência jurídica por data isolada.</a:t>
            </a:r>
          </a:p>
          <a:p>
            <a:r>
              <a:t>CNPJ 54871427000194 · Custódia, escrituração e encargos · Regulamento · ID 670691 · 28/04/2024 · versão Regulamento — referência 28/04/2024 · p. 26 · Anexo I, 13.7–13.8 · https://fnet.bmfbovespa.com.br/fnet/publico/visualizarDocumento?id=670691</a:t>
            </a:r>
          </a:p>
          <a:p>
            <a:r>
              <a:t>CNPJ 54871427000194 · Custódia, escrituração e encargos · Excerto da fonte:</a:t>
            </a:r>
          </a:p>
          <a:p>
            <a:r>
              <a:t>13.7 Pelos serviços de retenção e cobrança, prestada nos termos deste Anexo e do Contrato de Retenção/Cobrança, será devida pela Classe ao Agente de Retenção/Cobrança a remuneração prevista no respectivo Contrato de Retenção/Cobrança. Taxa Máxima de Custódia 13.8 Pelos serviços de custódia qualificada dos Direitos Creditórios e dos Ativos Financeiros de Liquidez não será devida nenhuma remuneração ao CUSTODIANTE, de modo que taxa máxima de custódia a ser paga pela Classe ao CUSTODIANTE corresponde a 0% (zero por cento) ao ano. CAPÍTULO 14 – CUSTOS REFERENTES À DEFESA DOS INTERESSES DA CLASSE 14.1 Caso a Classe não possua recursos disponíveis, em moeda corrente nacional, suf icientes para a adoção e manutenção, direta ou indireta, dos procedimentos judiciais e extrajudiciais necessários à cobrança dos Direitos Creditórios e dos Ativos Financeiros de Liquidez de titularidade da Classe e à def esa dos direitos, interesses e prerrogativas da Classe, a maioria dos titulares das Cotas, reunidos em Assembleia Especial de Cotistas, poderá aprovar o aporte de recursos à Classe, por meio da integralização de novas Cotas, a ser realizada por todos os titulares das Cotas para assegurar, se for o caso, a</a:t>
            </a:r>
          </a:p>
          <a:p>
            <a:r>
              <a:t>CNPJ 54871427000194 · Custódia, escrituração e encargos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Custódia, escrituração e encargos · Versão e prevalência: Leitura específica das cláusulas indicadas; condições e conflitos preservados. Seleção documental atual não comprova vigência jurídica por data isolada.</a:t>
            </a:r>
          </a:p>
          <a:p>
            <a:r>
              <a:t>CNPJ 54871427000194 · Custódia, escrituração e encargos · Resumo do histórico: {"count": 1, "dates": ["2024-04-28"], "document_count": 1, "sources": [{"document_id": "670691", "title": "Regulamento", "reference_date": "2024-04-28", "version": "1", "page": "26", "url": "https://fnet.bmfbovespa.com.br/fnet/publico/visualizarDocumento?id=670691", "sha256": "bf16dd7f1a62d5cdbf2e2d54fef81783783f7310fbc99c3a8f00459bdf9d037b"}], "reference": {"path": "history/54871427000194.json", "criterion_id": "custody_fee", "total_count": 1, "preview_count": 1, "full_text_deferred": true, "sha256": "35d7cd99be50c7287c9fb675cf4f2e736002315295a225a9efa79c8d9186d874"}}</a:t>
            </a:r>
          </a:p>
          <a:p>
            <a:r>
              <a:t>CNPJ 60010416000112 · Custódia, escrituração e encargos · Regulamento · ID 1051393 · 09/10/2025 · versão Regulamento09/10/2025 · p. 29 · AnexoI12.3–12.4 · https://fnet.bmfbovespa.com.br/fnet/publico/visualizarDocumento?id=1051393</a:t>
            </a:r>
          </a:p>
          <a:p>
            <a:r>
              <a:t>CNPJ 60010416000112 · Custódia, escrituração e encargos · Excerto da fonte:</a:t>
            </a:r>
          </a:p>
          <a:p>
            <a:r>
              <a:t>12.3 Pelos serviços de custódia qualificada dos Direitos Creditórios e dos Ativos Financeiros de Liquidez não será devida nenhuma remuneração ao Custodiante, de modo que taxa máxima de custódia a ser paga pela Classe ao Custodiante corresponde a 0% (zero por cento) ao ano. Remuneração do Agente de Retenção/Cobrança 12.4 Para a prestação de serviços à Classe, o Agente de Retenção/Cobrança f ará jus a uma remuneração a ser auf erida todo Dia Útil e paga mensalmente, a título de Encargo da Classe, a qual será calculada com base na seguinte f órmula:</a:t>
            </a:r>
          </a:p>
          <a:p>
            <a:r>
              <a:t>CNPJ 60010416000112 · Custódia, escrituração e encargos · Regulamento · ID 1051393 · 09/10/2025 · versão Regulamento09/10/2025 · p. 30 · AnexoI12.4definições,12.5–12.5.1 · https://fnet.bmfbovespa.com.br/fnet/publico/visualizarDocumento?id=1051393</a:t>
            </a:r>
          </a:p>
          <a:p>
            <a:r>
              <a:t>CNPJ 60010416000112 · Custódia, escrituração e encargos · Excerto da fonte:</a:t>
            </a:r>
          </a:p>
          <a:p>
            <a:r>
              <a:t>RAC = Remuneração do Agente de Retenção e Cobrança,tendo como valor 4,00% (quatro por cento) ao ano. 12.5 A remuneração prevista no item 12.4 acima será calculada pelo Administrador e paga diretamente ao Agente de Retenção/Cobrança até o 5º (quinto) Dia Útil do mês subsequente ao da prestação dos serviços, conf orme estabelecido no Contrato de Serviços MT. 12.5.1. Independentemente do acima disposto, na hipótese de venda de qualquer parte dos Direitos Creditórios Elegíveis a terceiros, inclusive no caso de liquidação da Classe, o Agente de Retenção/Cobra</a:t>
            </a:r>
          </a:p>
          <a:p>
            <a:r>
              <a:t>CNPJ 60010416000112 · Custódia, escrituração e encargos · Condição: Fórmula do RAC tem composição base 252 DU/21 dias; não somar a 4% do PL como taxa administrativa.</a:t>
            </a:r>
          </a:p>
          <a:p>
            <a:r>
              <a:t>CNPJ 60010416000112 · Custódia, escrituração e encargos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Custódia, escrituração e encargos · Versão e prevalência: Leitura específica das cláusulas indicadas; condições e conflitos preservados. Seleção documental atual não comprova vigência jurídica por data isolada.</a:t>
            </a:r>
          </a:p>
          <a:p>
            <a:r>
              <a:t>CNPJ 60010416000112 · Custódia, escrituração e encargos · Resumo do histórico: {"count": 1, "dates": ["2025-10-09"], "document_count": 1, "sources": [{"document_id": "1051393", "title": "Regulamento", "reference_date": "2025-10-09", "version": "1", "page": "29-31", "url": "https://fnet.bmfbovespa.com.br/fnet/publico/visualizarDocumento?id=1051393", "sha256": "8469d613078ffd5a6c1d217885d8a397a16342c0b937ae4aa24b106505f233ae"}], "reference": {"path": "history/60010416000112.json", "criterion_id": "custody_fee", "total_count": 1, "preview_count": 1, "full_text_deferred": true, "sha256": "8e2bd813f4c51cf01f6bfaad164bafe69d2bbb192f753eac92da3a01c2e63046"}}</a:t>
            </a:r>
          </a:p>
          <a:p>
            <a:r>
              <a:t>CNPJ 62696791000193 · Custódia, escrituração e encargos · Regulamento · ID 1143317 · 20/03/2026 · versão Regulamento — referência 20/03/2026 · p. 28 · Anexo I, 13.1, Custódia e Distribuição · https://fnet.bmfbovespa.com.br/fnet/publico/visualizarDocumento?id=1143317</a:t>
            </a:r>
          </a:p>
          <a:p>
            <a:r>
              <a:t>CNPJ 62696791000193 · Custódia, escrituração e encargos · Excerto da fonte:</a:t>
            </a:r>
          </a:p>
          <a:p>
            <a:r>
              <a:t>Taxa Máxima de Custódia 0,00% (zero por cento) ao ano, incidente sobre o Patrimônio Líquido da Classe (“Taxa Máxima de Custódia”). Taxa de Performance Não será devido pela Classe o pagamento de Taxa de Perf ormance. 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equivalente a 0,9% (nove décimos por cento) ao ano aplicado sobre o Patrimônio Anexo I ao Regulamento Líquido, observado o limite máximo de 4,5% (quatro inteiros e cinquenta centésimos por cento) do volume captado na respectiva oferta (“Taxa Máxima de Distribuição”).A</a:t>
            </a:r>
          </a:p>
          <a:p>
            <a:r>
              <a:t>CNPJ 62696791000193 · Custódia, escrituração e encargos · Regulamento · ID 1143317 · 20/03/2026 · versão Regulamento — referência 20/03/2026 · p. 29 · Anexo I, 13.1, Distribuição · https://fnet.bmfbovespa.com.br/fnet/publico/visualizarDocumento?id=1143317</a:t>
            </a:r>
          </a:p>
          <a:p>
            <a:r>
              <a:t>CNPJ 62696791000193 · Custódia, escrituração e encargos · Excerto da fonte:</a:t>
            </a:r>
          </a:p>
          <a:p>
            <a:r>
              <a:t>Distribuição será calculada e provisionada todo Dia Útil à razão de 1/252 (um inteiro e duzentos e cinquenta e dois avos) com base no valor do Patrimônio Líquido do Dia Útil anterior. Nos termos da Resolução CVM 160, o coordenador líder poderá destinar parte ou a totalidade da sua remuneração, à vista ou a prazo, aos distribuidores contratados, conforme previsto no contrato de distribuição da oferta e/ou nos termos de adesão ao contrato de distribuição. A Taxa Máxima de Distribuição será paga mensalmente por período vencido, até o 10º (décimo) Dia Útil do mês subsequente à prestação dos serviços, a partir do mês em que ocorrer a primeira integralização de Cotas da Classe Taxa de Ingresso Não será cobrada dos Cotistas Taxa de Ingresso. 14 TRIBUTAÇÃO 14.1 O disposto neste Capítulo f oi elaborado co</a:t>
            </a:r>
          </a:p>
          <a:p>
            <a:r>
              <a:t>CNPJ 62696791000193 · Custódia, escrituração e encargos · Motivo: Não localizada uma cláusula material para este critério nos textos identificados e processados. A ausência de resultado não comprova inexistência da regra.</a:t>
            </a:r>
          </a:p>
          <a:p>
            <a:r>
              <a:t>CNPJ 62696791000193 · Custódia, escrituração e encargos · Versão e prevalência: Leitura específica das cláusulas indicadas; condições e conflitos preservados. Seleção documental atual não comprova vigência jurídica por data isolada.</a:t>
            </a:r>
          </a:p>
          <a:p>
            <a:r>
              <a:t>CNPJ 55563624000109 · Custódia, escrituração e encargos · Regulamento · ID 1192614 · 30/04/2026 · versão Regulamento30/04/2026 · p. 29 · AnexoI13.8–13.9 · https://fnet.bmfbovespa.com.br/fnet/publico/visualizarDocumento?id=1192614</a:t>
            </a:r>
          </a:p>
          <a:p>
            <a:r>
              <a:t>CNPJ 55563624000109 · Custódia, escrituração e encargos · Excerto da fonte:</a:t>
            </a:r>
          </a:p>
          <a:p>
            <a:r>
              <a:t>13.8 Pelos serviços de custódia qualificada das Cotas da Classe Investida e dos Ativos Financeiros de Liquidez não será devida nenhuma remuneração ao CUSTODIANTE, de modo que taxa de custódia a ser paga pela Classe ao CUSTODIANTE corresponde a 0% (zero por cento) ao ano. Taxas Máxima de Distribuição 13.9 Tendo em vista que não há distribuidores das Cotas que prestem serviços de forma contínua ao Fundo, o presente Regulamento e Anexo Descritivo não preveem uma taxa máxima de distribuição aplicável a todas as emissões, nos termos do Ofício-Circular-Conju</a:t>
            </a:r>
          </a:p>
          <a:p>
            <a:r>
              <a:t>CNPJ 55563624000109 · Custódia, escrituração e encargos · Versão e prevalência: Leitura específica das cláusulas indicadas; condições e conflitos preservados. Seleção documental atual não comprova vigência jurídica por data isolada.</a:t>
            </a:r>
          </a:p>
          <a:p>
            <a:r>
              <a:t>CNPJ 55563624000109 · Custódia, escrituração e encargos · Resumo do histórico: {"count": 1, "dates": ["2026-04-30"], "document_count": 1, "sources": [{"document_id": "1192614", "title": "Regulamento", "reference_date": "2026-04-30", "version": "1", "page": "29", "url": "https://fnet.bmfbovespa.com.br/fnet/publico/visualizarDocumento?id=1192614", "sha256": "f56e63ace0acde41d2f47fb48f1ac7f3f7df5e2d32de092d7c5e075a52516632"}], "reference": {"path": "history/55563624000109.json", "criterion_id": "custody_fee", "total_count": 1, "preview_count": 1, "full_text_deferred": true, "sha256": "7835d573fb58a3c19adf5b8ecc2aee2bdbb9a88f7a0c0209b5f262b64c7522e3"}}</a:t>
            </a:r>
          </a:p>
          <a:p>
            <a:r>
              <a:t>CNPJ 62552447000120 · Custódia, escrituração e encargos · Motivo: Não localizada uma cláusula material para este critério nos textos identificados e processados. A ausência de resultado não comprova inexistência da regra.</a:t>
            </a:r>
          </a:p>
          <a:p>
            <a:r>
              <a:t>CNPJ 63953620000165 · Custódia, escrituração e encargos · Motivo: Não localizada uma cláusula material para este critério nos textos identificados e processados. A ausência de resultado não comprova inexistência da regra.</a:t>
            </a:r>
          </a:p>
          <a:p>
            <a:r>
              <a:t>CNPJ 54871427000194 · Classes e séries de cotas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Classes e séries de cotas · Resumo do histórico: {"count": 1, "dates": ["2024-04-28"], "document_count": 1, "sources": [{"document_id": "670691", "title": "Regulamento", "reference_date": "2024-04-28", "version": "1", "page": "7, 14", "url": "https://fnet.bmfbovespa.com.br/fnet/publico/visualizarDocumento?id=670691", "sha256": "bf16dd7f1a62d5cdbf2e2d54fef81783783f7310fbc99c3a8f00459bdf9d037b"}], "reference": {"path": "history/54871427000194.json", "criterion_id": "quota_classes", "total_count": 1, "preview_count": 1, "full_text_deferred": true, "sha256": "35d7cd99be50c7287c9fb675cf4f2e736002315295a225a9efa79c8d9186d874"}}</a:t>
            </a:r>
          </a:p>
          <a:p>
            <a:r>
              <a:t>CNPJ 60010416000112 · Classes e séries de cotas · Demonstrações Financeiras - Fusão, cisão e incorporação · ID 1298690 · 2026-05-08 · versão 1 · p. 30 · https://fnet.bmfbovespa.com.br/fnet/publico/visualizarDocumento?id=1298690</a:t>
            </a:r>
          </a:p>
          <a:p>
            <a:r>
              <a:t>CNPJ 60010416000112 · Classes e séries de cotas · Excerto da fonte:</a:t>
            </a:r>
          </a:p>
          <a:p>
            <a:r>
              <a:t>Durante o período de investimento, a Administradora poderá deliberar por realizar novas  emissões de cotas subordinadas, sem a necessidade de aprovação em Assembleia Especial  de Cotistas ou alteração do Regulamento, limitadas ao montante máximo de R$ 50.000  (cinquenta milhões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subordinadas emitidas não sejam  superiores aos prazos de vencimento da primeira emissão.</a:t>
            </a:r>
          </a:p>
          <a:p>
            <a:r>
              <a:t>CNPJ 60010416000112 · Classes e séries de cotas · Demonstrações Financeiras - Fusão, cisão e incorporação · ID 1298690 · 2026-05-08 · versão 1 · p. 7 · https://fnet.bmfbovespa.com.br/fnet/publico/visualizarDocumento?id=1298690</a:t>
            </a:r>
          </a:p>
          <a:p>
            <a:r>
              <a:t>CNPJ 60010416000112 · Classes e séries de cotas · Excerto da fonte:</a:t>
            </a:r>
          </a:p>
          <a:p>
            <a:r>
              <a:t>01/12/2025 a  Nota  08/05/2026  Patrimônio líquido no início do período  Total de 493.487,7492 cotas sêniores a R$ 1.136,5211 560.859  Total de 2.329.794,7852 cotas sêniores 2 a R$ 1.141,3012 2.658.998  Total de 954,2302 cotas subordinadas a R$ 150.939,4087 144.031</a:t>
            </a:r>
          </a:p>
          <a:p>
            <a:r>
              <a:t>CNPJ 60010416000112 · Classes e séries de cotas · Demonstrações Financeiras - Fusão, cisão e incorporação · ID 1298690 · 2026-05-08 · versão 1 · p. 7 · https://fnet.bmfbovespa.com.br/fnet/publico/visualizarDocumento?id=1298690</a:t>
            </a:r>
          </a:p>
          <a:p>
            <a:r>
              <a:t>CNPJ 60010416000112 · Classes e séries de cotas · Excerto da fonte:</a:t>
            </a:r>
          </a:p>
          <a:p>
            <a:r>
              <a:t>Patrimônio líquido no final do período  Total de 2.865.592,8479 cotas a R$ 1.285,7151 3.672.765  Total de 493.487,7492 cotas sêniores a R$ 1.230,3042 607.141  Total de 2.362.150,8684 cotas sêniores 2 a R$ 1.236,9918 2.921.961  Total de 954,2302 cotas subordinadas a R$ 150.554,2733 143.663</a:t>
            </a:r>
          </a:p>
          <a:p>
            <a:r>
              <a:t>CNPJ 60010416000112 · Classes e séries de cotas · Condição: Documentos atuais selecionados no inventário por categoria/escopo; a data documental isolada não comprova vigência jurídica.</a:t>
            </a:r>
          </a:p>
          <a:p>
            <a:r>
              <a:t>CNPJ 60010416000112 · Classes e séries de cotas · Versão e prevalência: Documentos atuais selecionados no inventário por categoria/escopo; a data documental isolada não comprova vigência jurídica.</a:t>
            </a:r>
          </a:p>
          <a:p>
            <a:r>
              <a:t>CNPJ 60010416000112 · Classes e séries de cotas · Resumo do histórico: {"count": 9, "dates": ["2025-11-30", "2026-03-18", "2026-04-16"], "document_count": 3, "sources": [{"document_id": "1282181", "title": "Demonstrações Financeiras - Fusão, cisão e incorporação", "reference_date": "2026-04-16", "version": "1", "page": 7, "url": "https://fnet.bmfbovespa.com.br/fnet/publico/visualizarDocumento?id=1282181", "sha256": "b1c6566e43a00bcd00c8a7f30c77b7f86e351bd8e355bbea113f46d1dafda703"}, {"document_id": "1224477", "title": "Demonstrações Financeiras - Fusão, cisão e incorporação", "reference_date": "2026-03-18", "version": "1", "page": 7, "url": "https://fnet.bmfbovespa.com.br/fnet/publico/visualizarDocumento?id=1224477", "sha256": "0751bf0a75bc3b44c2748f5000226665c6ec6698a90c4dc6170b4e6c187759ae"}, {"document_id": "1126154", "title": "Demonstrações Financeiras", "reference_date": "2025-11-30", "version": "1", "page": 7, "url": "https://fnet.bmfbovespa.com.br/fnet/publico/visualizarDocumento?id=1126154", "sha256": "a01e7ccf88c548f12c95cba8526d7efbef6b585c112cd4668eca781c292090b0"}], "reference": {"path": "history/60010416000112.json", "criterion_id": "quota_classes", "total_count": 9, "preview_count": 3, "full_text_deferred": true, "sha256": "8e2bd813f4c51cf01f6bfaad164bafe69d2bbb192f753eac92da3a01c2e63046"}}</a:t>
            </a:r>
          </a:p>
          <a:p>
            <a:r>
              <a:t>CNPJ 62696791000193 · Classes e séries de cotas · Instrumento Particular de Emissão de Cotas · ID 1148821 · 2026-03-27 · versão 1 · p. 1 · 20.000 · https://fnet.bmfbovespa.com.br/fnet/publico/visualizarDocumento?id=1148821</a:t>
            </a:r>
          </a:p>
          <a:p>
            <a:r>
              <a:t>CNPJ 62696791000193 · Classes e séries de cotas · Excerto da fonte:</a:t>
            </a:r>
          </a:p>
          <a:p>
            <a:r>
              <a:t>20.000 (vinte mil) Cotas Subordinadas Júnior, com valor nominal unitário de R$ 1.000,00 (mil reais),  perfazendo o montante total de R$ 20.000.000,00 (vinte milhões de reais), as quais serão objeto de  colocação privada, de acordo com os termos e condições definidos no Apêndice da Subclasse  Subordinada Júnior constante do Anexo I Regulamento e descritas abaixo (“2ª Emissão da Subclasse  Subordinada Júnior”):</a:t>
            </a:r>
          </a:p>
          <a:p>
            <a:r>
              <a:t>CNPJ 62696791000193 · Classes e séries de cotas · Instrumento Particular de Emissão de Cotas · ID 1148821 · 2026-03-27 · versão 1 · p. 2 · https://fnet.bmfbovespa.com.br/fnet/publico/visualizarDocumento?id=1148821</a:t>
            </a:r>
          </a:p>
          <a:p>
            <a:r>
              <a:t>CNPJ 62696791000193 · Classes e séries de cotas · Excerto da fonte:</a:t>
            </a:r>
          </a:p>
          <a:p>
            <a:r>
              <a:t>2. Aprovar a 2ª (segunda) emissão da Subclasse Sênior da Classe, composta por até 150.000  (cento e cinquenta mil) Cotas Seniores, com valor nominal unitário de R$ 1.000,00 (mil reais),  perfazendo o montante total de R$ 150.000.000,00 (cento e cinquenta milhões de reais), as quais  serão objeto de colocação privada, de acordo com os termos e condições descritos no Apêndice da  Subclasse Sênior constante do Anexo I Regulamento e descritas abaixo (“2ª Emissão da Subclasse  Sênior”):</a:t>
            </a:r>
          </a:p>
          <a:p>
            <a:r>
              <a:t>CNPJ 62696791000193 · Classes e séries de cotas · Instrumento Particular de Emissão de Cotas · ID 1148821 · 2026-03-27 · versão 1 · p. 2 · https://fnet.bmfbovespa.com.br/fnet/publico/visualizarDocumento?id=1148821</a:t>
            </a:r>
          </a:p>
          <a:p>
            <a:r>
              <a:t>CNPJ 62696791000193 · Classes e séries de cotas · Excerto da fonte:</a:t>
            </a:r>
          </a:p>
          <a:p>
            <a:r>
              <a:t>d) Forma de Integralização: as Cotas Subordinadas Júnior serão integralizadas à vista, junto ao  seu respectivo agente de custódia e/ou da Administradora na qualidade de escriturador das  cotas; e</a:t>
            </a:r>
          </a:p>
          <a:p>
            <a:r>
              <a:t>CNPJ 62696791000193 · Classes e séries de cotas · Condição: Documentos atuais selecionados no inventário por categoria/escopo; a data documental isolada não comprova vigência jurídica.</a:t>
            </a:r>
          </a:p>
          <a:p>
            <a:r>
              <a:t>CNPJ 62696791000193 · Classes e séries de cotas · Versão e prevalência: Documentos atuais selecionados no inventário por categoria/escopo; a data documental isolada não comprova vigência jurídica.</a:t>
            </a:r>
          </a:p>
          <a:p>
            <a:r>
              <a:t>CNPJ 62696791000193 · Classes e séries de cotas · Resumo do histórico: {"count": 2, "dates": ["2026-03-20", "2026-03-27"], "document_count": 2, "sources": [{"document_id": "1148821", "title": "Instrumento Particular de Emissão de Cotas", "reference_date": "2026-03-27", "version": "1", "page": "1-2", "url": "https://fnet.bmfbovespa.com.br/fnet/publico/visualizarDocumento?id=1148821", "sha256": "86900e9dd498403696bfffbd4196443c83ec4d51ff21135e073c1966e1adf4c0"}, {"document_id": "1143317", "title": "Regulamento", "reference_date": "2026-03-20", "version": "1", "page": 16, "clause": "7.2", "url": "https://fnet.bmfbovespa.com.br/fnet/publico/visualizarDocumento?id=1143317", "sha256": "32f62818d51c3ebeaf9ec012d3d7867f15c1aed6d10f0867c157a290df1cea48"}], "reference": {"path": "history/62696791000193.json", "criterion_id": "quota_classes", "total_count": 2, "preview_count": 2, "full_text_deferred": true, "sha256": "0e9ec199848320ec945708123ae0cb6075d76c05d94beed814d582031d353926"}}</a:t>
            </a:r>
          </a:p>
          <a:p>
            <a:r>
              <a:t>CNPJ 55563624000109 · Classes e séries de cotas · Regulamento · ID 1192614 · 2026-04-30 · versão 1 · p. 40 · https://fnet.bmfbovespa.com.br/fnet/publico/visualizarDocumento?id=1192614</a:t>
            </a:r>
          </a:p>
          <a:p>
            <a:r>
              <a:t>CNPJ 55563624000109 · Classes e séries de cotas · Excerto da fonte:</a:t>
            </a:r>
          </a:p>
          <a:p>
            <a:r>
              <a:t>(xxiv) Subordinação de determinadas Cotas da Classe Investida a outras subclasses ou séries de  cotas das Classes Investidas aos quais pertencem. A Classe Investida adquirirá apenas cotas  subordinadas mezaninos da Classe Investida, as quais se subordinam às cotas seniores da Classe  Investida para efeitos de resgate. Os resgates de cotas subordinadas mezanino tipicamente têm sua  realização condicionada ainda à manutenção da razão de garantia e à existência de disponibilidades  da Classe Investida. O ADMINISTRADOR, o GESTOR e o CUSTODIANTE e suas respectivas partes  relacionadas, encontram-se impossibilitados de assegurar que a amortização e o resgate das cotas  subordinadas mezanino da Classe Investida que venham a ser adquiridas pela Classe ocorrerão nas  datas originalmente previstas, sendo que, caso tais amortizações e/ou resgates não ocorram, não será  devido pelo FUNDO ou qualquer pessoa, incluindo o ADMINISTRADOR, o GESTOR e o CUSTODIANTE,  do FUNDO ou da Classe Investida qualquer multa ou penalidade, de qualquer natureza. O não resgate  de cotas subordinadas mezanino da Classe Investida detidas pela Classe poderá impactar  negativamente no fluxo de pagamento de resgate da Classe e/ou no valor patrimonial das Cotas da  Classe.</a:t>
            </a:r>
          </a:p>
          <a:p>
            <a:r>
              <a:t>CNPJ 55563624000109 · Classes e séries de cotas · Regulamento · ID 1192614 · 2026-04-30 · versão 1 · p. 31 · 15.1.1 · https://fnet.bmfbovespa.com.br/fnet/publico/visualizarDocumento?id=1192614</a:t>
            </a:r>
          </a:p>
          <a:p>
            <a:r>
              <a:t>CNPJ 55563624000109 · Classes e séries de cotas · Excerto da fonte:</a:t>
            </a:r>
          </a:p>
          <a:p>
            <a:r>
              <a:t>15.1.1 Riscos de Crédito:</a:t>
            </a:r>
          </a:p>
          <a:p>
            <a:r>
              <a:t> (i) Risco de concentração na Classe Investida. Nos termos do presente Regulamento, a Classe  deverá manter alocado, no mínimo, 67% (sessenta e sete por cento) do Patrimônio Líquido nas Cotas  da Classe Investida. Alterações na condição econômico-financeira e na expectativa de desempenho ou  resultados da Classe Investida poderão, isolada ou cumulativamente, afetar negativamente o  rendimento do investimento nas Cotas, de forma mais severa do que se a Classe adotasse uma  estratégia de investimento de maior diversificação. O risco associado às aplicações de qualquer fundo  de investimento é diretamente proporcional à concentração da sua carteira, sendo que, quanto maior  essa concentração, maior será a sua vulnerabilidade.</a:t>
            </a:r>
          </a:p>
          <a:p>
            <a:r>
              <a:t> (ii) Risco relativo à Classe Investida. Nos termos deste Anexo, a Classe deverá manter alocado, no  mínimo, 67% (sessenta e sete por cento) do Patrimônio Líquido em Cotas da Classe Investida. Os  investimentos realizados pela Classe Investida poderão estar sujeitos a flutuações típicas do mercado,  risco de crédito, risco sistêmico, condições adversas de liquidez e negociação atípica nos mercados de  atuação, bem como outros riscos diversos. Este Anexo não contém a descrição de todas as  características, incluindo os riscos, da Classe Investida.</a:t>
            </a:r>
          </a:p>
          <a:p>
            <a:r>
              <a:t> (iii) Risco Relativo ao Pagamento de Encargos da Classe Investida. Tendo em vista a estrutura da  Classe Investida – que emitiu cotas sêniores, cotas subordinadas mezanino e cotas subordinadas júnior  – em situação ordinária os encargos da Classe Investida são arcados pelas cotas subordinadas júnior,  que se subordinam às cotas subordinadas mezanino e às cotas sêniores para fins de amortização,  resgate e distribuição de rendimentos, não impactando, portanto, as Cotas da Classe Investida. Não  obstante o funcionamento da Classe Investida em situação ordinária, em cenários extraordinários, na  eventualidade do valor das cotas subordinadas júnior ficar reduzido a zero ou a valor negativo, os  encargos da Classe Investida conforme previstos em seu regulamento, inclusive mas não se limitando  as remunerações dos prestadores de serviços essenciais, passarão a ser arcados pelas cotas  subordinadas mezanino (que são as Cotas da Classe Investida), impactando no valor do investimento  da Classe na Classe Investida, e consequentemente, o investimento dos Cotistas na Classe.</a:t>
            </a:r>
          </a:p>
          <a:p>
            <a:r>
              <a:t> (iv) Riscos referentes à carteira da Classe Investida. Na forma do Anexo Normativo II da Resolução  CVM 175, a Classe Investida investe, direta ou indiretamente, no mínimo, 67% (sessenta e sete por  cento) do seu patrimônio em direitos creditórios originados pela Mercado Pago. O investimento em tais  direitos creditórios está sujeito a fatores de risco específicos, conforme detalhados no regulamento da  Classe Investida, incluindo, mas não se limitando a:</a:t>
            </a:r>
          </a:p>
          <a:p>
            <a:r>
              <a:t> (a) Risco de liquidez dos direitos creditórios. O investimento da Classe Investida em direitos  creditórios apresenta peculiaridades em relação às aplicações usuais da maioria dos  fundos de investimento brasileiros, haja vista que não existe, no Brasil, mercado  secundário com liquidez para tais direitos creditórios. Caso a Classe Investida precise  vender os direitos creditórios adquiridos, poderá não haver mercado comprador para  tais créditos, bem como o preço de alienação de tais direitos creditórios poderá refletir  essa falta de liquidez, causando perda ao patrimônio da Classe Investida e,  consequentemente, à Classe.</a:t>
            </a:r>
          </a:p>
          <a:p>
            <a:r>
              <a:t>CNPJ 55563624000109 · Classes e séries de cotas · AGE · ID 1192603 · 2026-04-30 · versão 1 · p. 1 · 4.1 · https://fnet.bmfbovespa.com.br/fnet/publico/visualizarDocumento?id=1192603</a:t>
            </a:r>
          </a:p>
          <a:p>
            <a:r>
              <a:t>CNPJ 55563624000109 · Classes e séries de cotas · Excerto da fonte:</a:t>
            </a:r>
          </a:p>
          <a:p>
            <a:r>
              <a:t>4.1. Aprovar a alteração do Anexo I da Classe Única para a reorganização do passivo de sua subclasse  única em novas subclasses, quais sejam, subclasse A (“Subclasse A”), subclasse B (“Subclasse B”) e  subclasse C (“Subclasse C” e, quando em conjunto com a Subclasse A e a Subclasse B, as “Subclasses”),  considerando que serão mantidas as condições de investimento originalmente pactuadas com os cotistas,  como critérios de aplicação, resgate, amortização e política de investimento da Classe Única, diferindo-  se, exclusivamente, em relação ao prazo de duração cada Subclasse.</a:t>
            </a:r>
          </a:p>
          <a:p>
            <a:r>
              <a:t>CNPJ 55563624000109 · Classes e séries de cotas · Condição: Documentos atuais selecionados no inventário por categoria/escopo; a data documental isolada não comprova vigência jurídica.</a:t>
            </a:r>
          </a:p>
          <a:p>
            <a:r>
              <a:t>CNPJ 55563624000109 · Classes e séries de cotas · Versão e prevalência: Documentos atuais selecionados no inventário por categoria/escopo; a data documental isolada não comprova vigência jurídica.</a:t>
            </a:r>
          </a:p>
          <a:p>
            <a:r>
              <a:t>CNPJ 55563624000109 · Classes e séries de cotas · Resumo do histórico: {"count": 3, "dates": ["2025-01-31", "2026-01-31", "2026-04-30"], "document_count": 3, "sources": [{"document_id": "1192614", "title": "Regulamento", "reference_date": "2026-04-30", "version": "1", "page": "15", "url": "https://fnet.bmfbovespa.com.br/fnet/publico/visualizarDocumento?id=1192614", "sha256": "f56e63ace0acde41d2f47fb48f1ac7f3f7df5e2d32de092d7c5e075a52516632"}, {"document_id": "1178840", "title": "Demonstrações Financeiras", "reference_date": "2026-01-31", "version": "1", "page": 25, "url": "https://fnet.bmfbovespa.com.br/fnet/publico/visualizarDocumento?id=1178840", "sha256": "c458e98664c5c907ddb5a05a94b120bed4e05295b2bfc420f5ba69af0a229abe"}, {"document_id": "891861", "title": "Demonstrações Financeiras", "reference_date": "2025-01-31", "version": "1", "page": 26, "url": "https://fnet.bmfbovespa.com.br/fnet/publico/visualizarDocumento?id=891861", "sha256": "e9cb9e6ddbe505fe068cfcac33605165a98313489de0d3ce6d4d238263c3f3e7"}], "reference": {"path": "history/55563624000109.json", "criterion_id": "quota_classes", "total_count": 3, "preview_count": 3, "full_text_deferred": true, "sha256": "7835d573fb58a3c19adf5b8ecc2aee2bdbb9a88f7a0c0209b5f262b64c7522e3"}}</a:t>
            </a:r>
          </a:p>
          <a:p>
            <a:r>
              <a:t>CNPJ 62552447000120 · Classes e séries de cotas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Classes e séries de cotas · Resumo do histórico: {"count": 1, "dates": ["2025-09-03"], "document_count": 1, "sources": [{"document_id": "988020", "title": "Instrumento Particular de Emissão de Cotas", "reference_date": "2025-09-03", "version": "1", "page": "5", "url": "https://fnet.bmfbovespa.com.br/fnet/publico/visualizarDocumento?id=988020", "sha256": "8ecc8a771bb9713d64e5fc2052c489664cb0433801a9280db68e5187d35bf7a5"}], "reference": {"path": "history/62552447000120.json", "criterion_id": "quota_classes", "total_count": 1, "preview_count": 1, "full_text_deferred": true, "sha256": "d95db8c0613d67ee84118c734588665265ea6b02f86a0318d6a844cbe1d0f82f"}}</a:t>
            </a:r>
          </a:p>
          <a:p>
            <a:r>
              <a:t>CNPJ 63953620000165 · Classes e séries de cotas · AGE · ID 1313935 · 2026-08-31 · versão 1 · p. 1 · 4.1 · https://fnet.bmfbovespa.com.br/fnet/publico/visualizarDocumento?id=1313935</a:t>
            </a:r>
          </a:p>
          <a:p>
            <a:r>
              <a:t>CNPJ 63953620000165 · Classes e séries de cotas · Excerto da fonte:</a:t>
            </a:r>
          </a:p>
          <a:p>
            <a:r>
              <a:t>4.1. Aprovar a realização da incorporação das parcelas cindidas descritas no Anexo I à presente ata (“Parcelas  Cindidas”), com base no fechamento de 28 de agosto de 2026 (“Data Base”), condicionada à aprovação da cisão  da CLASSE ÚNICA DO MT CONSIGNADO PRIVADO I FUNDO DE INVESTIMENTO EM DIREITOS CREDITÓRIOS  RESPONSABILIDADE LIMITADA, inscrita no CNPJ sob o nº 60.010.416/0001-12 (“Classe Cindida”), com a  subsequente incorporação da respectiva Parcela Cindida, emitindo-se cotas seniores da Classe, a serem  atribuídas integralmente aos cotistas da Classe Cindida, no valor da respectiva Parcela Cindida, na Data-Base, de  acordo com o valor das cotas da Classe na mesma data. A partir da Data Base, todos os direitos e obrigações dos  ativos cindidos serão sucedidos à Classe;</a:t>
            </a:r>
          </a:p>
          <a:p>
            <a:r>
              <a:t>CNPJ 63953620000165 · Classes e séries de cotas · Condição: Documentos atuais selecionados no inventário por categoria/escopo; a data documental isolada não comprova vigência jurídica.</a:t>
            </a:r>
          </a:p>
          <a:p>
            <a:r>
              <a:t>CNPJ 63953620000165 · Classes e séries de cotas · Versão e prevalência: Documentos atuais selecionados no inventário por categoria/escopo; a data documental isolada não comprova vigência jurídica.</a:t>
            </a:r>
          </a:p>
          <a:p>
            <a:r>
              <a:t>CNPJ 63953620000165 · Classes e séries de cotas · Resumo do histórico: {"count": 11, "dates": ["2026-07-29", "2026-08-17", "2026-08-21"], "document_count": 3, "sources": [{"document_id": "1309436", "title": "AGE", "reference_date": "2026-08-21", "version": "1", "page": 1, "clause": "4.1", "url": "https://fnet.bmfbovespa.com.br/fnet/publico/visualizarDocumento?id=1309436", "sha256": "f679de1621039dce7c665e3a742f213fd4d5047e12b96163b31ea4ae86f56817"}, {"document_id": "1298232", "title": "AGE", "reference_date": "2026-08-17", "version": "1", "page": 1, "clause": "4.1", "url": "https://fnet.bmfbovespa.com.br/fnet/publico/visualizarDocumento?id=1298232", "sha256": "75322e306547f725e73a2c6687b598e14d628caa84bd46a23508337a606866f6"}, {"document_id": "1277543", "title": "AGE", "reference_date": "2026-07-29", "version": "1", "page": 1, "url": "https://fnet.bmfbovespa.com.br/fnet/publico/visualizarDocumento?id=1277543", "sha256": "c2fb499fd6e25251a221d4e9dbb5d1378fb5efde5a58eee091868faf52d326c0"}], "reference": {"path": "history/63953620000165.json", "criterion_id": "quota_classes", "total_count": 11, "preview_count": 3, "full_text_deferred": true, "sha256": "a7b89077f5e21098c2d601c303faabc3ff6b9729f89d8afecdc60fe1404720c1"}}</a:t>
            </a:r>
          </a:p>
          <a:p>
            <a:r>
              <a:t>CNPJ 54871427000194 · Ofertas e colocação · AGE · ID 1055482 · 2025-12-02 · versão 1 · p. 1 · 4.1 · https://fnet.bmfbovespa.com.br/fnet/publico/visualizarDocumento?id=1055482</a:t>
            </a:r>
          </a:p>
          <a:p>
            <a:r>
              <a:t>CNPJ 54871427000194 · Ofertas e colocação · Excerto da fonte:</a:t>
            </a:r>
          </a:p>
          <a:p>
            <a:r>
              <a:t>4.1. Aprovar a nova emissão de Cotas pela Classe, todas nominativas e escriturais, com preço unitário de emissão  correspondente ao valor das Cotas da Classe em circulação quando na data de aprovação da Nova Emissão,  perfazendo o montante total de emissão de até R$ 650.000.000 (seiscentos e cinquenta milhões de reais), conforme  as características constantes do Regulamento e do Anexo da Classe (“Novas Cotas” e “Nova Emissão”,  respectivamente), e descritas abaixo:</a:t>
            </a:r>
          </a:p>
          <a:p>
            <a:r>
              <a:t>(i) Rito: as Novas Cotas não serão objeto de oferta pública, conforme facultado pelo artigo 8º, inciso IV, da  Resolução CVM nº 160, uma vez que a Classe se enquadra nos requisitos do referido dispositivo;</a:t>
            </a:r>
          </a:p>
          <a:p>
            <a:r>
              <a:t>(ii) Preço de Emissão: o preço unitário de emissão corresponderá ao valor das Cotas da Classe em circulação  quando na data de aprovação da Nova Emissão (“Preço de Emissão”);</a:t>
            </a:r>
          </a:p>
          <a:p>
            <a:r>
              <a:t>(iii) Preço de Integralização: o Preço de Integralização corresponderá ao valor das Cotas da Classe em  circulação quando da transferência dos valores para liquidação financeira (“Preço de Integralização”);</a:t>
            </a:r>
          </a:p>
          <a:p>
            <a:r>
              <a:t>(iv) Forma de Integralização: as Cotas serão integralizadas à vista, em moeda corrente nacional, pelo Preço  de Integralização, junto ao seu respectivo agente de custódia e/ou da Administradora na qualidade de  escriturador das cotas; e</a:t>
            </a:r>
          </a:p>
          <a:p>
            <a:r>
              <a:t>(v) Período de colocação: a subscrição das Cotas, objeto da Nova Emissão, deverão ser realizadas no prazo  máximo de 180 (cento e oitenta) dias, contados da data de efeitos do presente instrumento.</a:t>
            </a:r>
          </a:p>
          <a:p>
            <a:r>
              <a:t>CNPJ 54871427000194 · Ofertas e colocação · Condição: Trechos do documento específico identificado com data mais recente; vigência jurídica não inferida.</a:t>
            </a:r>
          </a:p>
          <a:p>
            <a:r>
              <a:t>CNPJ 54871427000194 · Ofertas e colocação · Versão e prevalência: Trechos do documento específico identificado com data mais recente; vigência jurídica não inferida.</a:t>
            </a:r>
          </a:p>
          <a:p>
            <a:r>
              <a:t>CNPJ 54871427000194 · Ofertas e colocação · Resumo do histórico: {"count": 7, "dates": ["2024-06-13", "2024-12-10"], "document_count": 3, "sources": [{"document_id": "798101", "title": "Anúncio de Encerramento", "reference_date": "2024-12-10", "version": "1", "page": "1-2", "url": "https://fnet.bmfbovespa.com.br/fnet/publico/visualizarDocumento?id=798101", "sha256": "71618c432ad86002484571d66922b873e4fa91ed3543a109134ddee0bd872f20"}, {"document_id": "679614", "title": "Anúncio de Início", "reference_date": "2024-06-13", "version": "1", "page": 1, "url": "https://fnet.bmfbovespa.com.br/fnet/publico/visualizarDocumento?id=679614", "sha256": "aad43ed14bfa0576144a306c466aea031fce0d01d3cb3de6aebd120f11164bfa"}, {"document_id": "683482", "title": "AGE", "reference_date": "2024-06-13", "version": "1", "page": 2, "url": "https://fnet.bmfbovespa.com.br/fnet/publico/visualizarDocumento?id=683482", "sha256": "3afbe254027691929935eaf19ebbb8634fb2ccd8e2fbea2cb2d81a7818f8d648"}], "reference": {"path": "history/54871427000194.json", "criterion_id": "offers", "total_count": 7, "preview_count": 3, "full_text_deferred": true, "sha256": "35d7cd99be50c7287c9fb675cf4f2e736002315295a225a9efa79c8d9186d874"}}</a:t>
            </a:r>
          </a:p>
          <a:p>
            <a:r>
              <a:t>CNPJ 60010416000112 · Ofertas e colocação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Ofertas e colocação · Resumo do histórico: {"count": 1, "dates": ["2025-03-20"], "document_count": 1, "sources": [{"document_id": "993785", "title": "Instrumento Particular de Constituição/Encerramento do Fundo", "reference_date": "2025-03-20", "version": "1", "page": "1-2", "url": "https://fnet.bmfbovespa.com.br/fnet/publico/visualizarDocumento?id=993785", "sha256": "0826e0eae2c51afabf59bbc49fc7647598d03da5ca6de0f9725850a8bd6af457"}], "reference": {"path": "history/60010416000112.json", "criterion_id": "offers", "total_count": 1, "preview_count": 1, "full_text_deferred": true, "sha256": "8e2bd813f4c51cf01f6bfaad164bafe69d2bbb192f753eac92da3a01c2e63046"}}</a:t>
            </a:r>
          </a:p>
          <a:p>
            <a:r>
              <a:t>CNPJ 62696791000193 · Ofertas e colocação · Regulamento · ID 1143317 · 2026-03-20 · versão 1 · p. 39 · 2.6 · https://fnet.bmfbovespa.com.br/fnet/publico/visualizarDocumento?id=1143317</a:t>
            </a:r>
          </a:p>
          <a:p>
            <a:r>
              <a:t>CNPJ 62696791000193 · Ofertas e colocação · Excerto da fonte:</a:t>
            </a:r>
          </a:p>
          <a:p>
            <a:r>
              <a:t>2.6. O valor de mercado das Cotas de emissão da Classe poderá sofrer oscilações frequentes e  significativas, inclusive ao longo do dia. Como consequência, o valor de mercado das cotas de  emissão da Classe poderá não ref letir necessariamente seu valor patrimonial. Não será devida  pela Classe ou por qualquer pessoa, incluindo as instituições responsáveis pela distribuição  das cotas, os demais Cotistas da Classe, o Administrador e as instituições participantes da  of erta, qualquer multa ou penalidade de qualquer natureza, caso ocorra, por qualquer razão,</a:t>
            </a:r>
          </a:p>
          <a:p>
            <a:r>
              <a:t> (i) o alongamento do período de amortização das Cotas; (ii) a liquidação da Classe; ou, ainda,</a:t>
            </a:r>
          </a:p>
          <a:p>
            <a:r>
              <a:t> (iii) caso os Cotistas sof ram qualquer dano ou prejuízo resultante de tais eventos.</a:t>
            </a:r>
          </a:p>
          <a:p>
            <a:r>
              <a:t>3. Risco TributárioOs rendimentos e ganhos líquidos auf eridos pela Classe em aplicações f inanceiras de  renda f ixa ou de renda variável sujeitam-se à incidência do imposto de renda na f onte, observadas as  mesmas normas aplicáveis às pessoas jurídicas, podendo esse imposto ser compensado com o retido na  f onte pela Classe quando da distribuição de rendimentos e ganhos de capital aos Cotistas. Os rendimentos  auf eridos pela Classe, quando distribuídos aos Cotistas sujeitam-se à incidência do Imposto de Renda na  f onte à alíquota de 20% (vinte por cento). Os rendimentos e ganhos de capital auferidos pelos Cotistas na</a:t>
            </a:r>
          </a:p>
          <a:p>
            <a:r>
              <a:t>CNPJ 62696791000193 · Ofertas e colocação · Regulamento · ID 1143317 · 2026-03-20 · versão 1 · p. 28 · https://fnet.bmfbovespa.com.br/fnet/publico/visualizarDocumento?id=1143317</a:t>
            </a:r>
          </a:p>
          <a:p>
            <a:r>
              <a:t>CNPJ 62696791000193 · Ofertas e colocação · Excerto da fonte:</a:t>
            </a:r>
          </a:p>
          <a:p>
            <a:r>
              <a:t>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equivalente a 0,9% (nove décimos  por cento) ao ano aplicado sobre o Patrimônio Anexo I ao  Regulamento Líquido, observado o limite máximo de 4,5% (quatro  inteiros e cinquenta centésimos por cento) do volume captado na  respectiva oferta (“Taxa Máxima de Distribuição”).A Taxa Máxima de</a:t>
            </a:r>
          </a:p>
          <a:p>
            <a:r>
              <a:t>CNPJ 62696791000193 · Ofertas e colocação · Condição: Documentos atuais selecionados no inventário por categoria/escopo; a data documental isolada não comprova vigência jurídica.</a:t>
            </a:r>
          </a:p>
          <a:p>
            <a:r>
              <a:t>CNPJ 62696791000193 · Ofertas e colocação · Versão e prevalência: Documentos atuais selecionados no inventário por categoria/escopo; a data documental isolada não comprova vigência jurídica.</a:t>
            </a:r>
          </a:p>
          <a:p>
            <a:r>
              <a:t>CNPJ 62696791000193 · Ofertas e colocação · Resumo do histórico: {"count": 1, "dates": ["2026-03-27"], "document_count": 1, "sources": [{"document_id": "1148821", "title": "Instrumento Particular de Emissão de Cotas", "reference_date": "2026-03-27", "version": "1", "page": "1-3", "url": "https://fnet.bmfbovespa.com.br/fnet/publico/visualizarDocumento?id=1148821", "sha256": "86900e9dd498403696bfffbd4196443c83ec4d51ff21135e073c1966e1adf4c0"}], "reference": {"path": "history/62696791000193.json", "criterion_id": "offers", "total_count": 1, "preview_count": 1, "full_text_deferred": true, "sha256": "0e9ec199848320ec945708123ae0cb6075d76c05d94beed814d582031d353926"}}</a:t>
            </a:r>
          </a:p>
          <a:p>
            <a:r>
              <a:t>CNPJ 55563624000109 · Ofertas e colocação · Regulamento · ID 1192614 · 2026-04-30 · versão 1 · p. 25 · 12.9 · https://fnet.bmfbovespa.com.br/fnet/publico/visualizarDocumento?id=1192614</a:t>
            </a:r>
          </a:p>
          <a:p>
            <a:r>
              <a:t>CNPJ 55563624000109 · Ofertas e colocação · Excerto da fonte:</a:t>
            </a:r>
          </a:p>
          <a:p>
            <a:r>
              <a:t>12.9 Inclui-se entre as obrigações do GESTOR, contratar, em nome da Classe, se necessário, com terceiros  devidamente habilitados e autorizados, os serviços de distribuição das Cotas. A distribuição pública das Cotas  deverá ser realizada por distribuidores devidamente autorizados pela CVM, nos termos da regulamentação  aplicável.</a:t>
            </a:r>
          </a:p>
          <a:p>
            <a:r>
              <a:t>CNPJ 55563624000109 · Ofertas e colocação · Condição: Documentos atuais selecionados no inventário por categoria/escopo; a data documental isolada não comprova vigência jurídica.</a:t>
            </a:r>
          </a:p>
          <a:p>
            <a:r>
              <a:t>CNPJ 55563624000109 · Ofertas e colocação · Versão e prevalência: Documentos atuais selecionados no inventário por categoria/escopo; a data documental isolada não comprova vigência jurídica.</a:t>
            </a:r>
          </a:p>
          <a:p>
            <a:r>
              <a:t>CNPJ 55563624000109 · Ofertas e colocação · Resumo do histórico: {"count": 3, "dates": ["2024-07-03"], "document_count": 3, "sources": [{"document_id": "703295", "title": "Anúncio de Início", "reference_date": "2024-07-03", "version": "2", "page": 1, "url": "https://fnet.bmfbovespa.com.br/fnet/publico/visualizarDocumento?id=703295", "sha256": "12322b6dbf75e673723bd60910373db249451b72666792e18e0c7b6128f4608a"}, {"document_id": "702585", "title": "Anúncio de Início", "reference_date": "2024-07-03", "version": "1", "page": 1, "url": "https://fnet.bmfbovespa.com.br/fnet/publico/visualizarDocumento?id=702585", "sha256": "6708609ac7f0611118fb23ffd6d2cd6c7fd33275130407918ea42831baa712cd"}, {"document_id": "691674", "title": "Instrumento Particular de Emissão de Cotas", "reference_date": "2024-07-03", "version": "1", "page": 3, "url": "https://fnet.bmfbovespa.com.br/fnet/publico/visualizarDocumento?id=691674", "sha256": "78bf7b350f1785beae5f43bd209b5ed19e863cb9a2cff01542aac11dd63ca554"}], "reference": {"path": "history/55563624000109.json", "criterion_id": "offers", "total_count": 3, "preview_count": 3, "full_text_deferred": true, "sha256": "7835d573fb58a3c19adf5b8ecc2aee2bdbb9a88f7a0c0209b5f262b64c7522e3"}}</a:t>
            </a:r>
          </a:p>
          <a:p>
            <a:r>
              <a:t>CNPJ 62552447000120 · Ofertas e colocação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Ofertas e colocação · Resumo do histórico: {"count": 1, "dates": ["2025-09-03"], "document_count": 1, "sources": [{"document_id": "988020", "title": "Instrumento Particular de Emissão de Cotas", "reference_date": "2025-09-03", "version": "1", "page": "5-6", "url": "https://fnet.bmfbovespa.com.br/fnet/publico/visualizarDocumento?id=988020", "sha256": "8ecc8a771bb9713d64e5fc2052c489664cb0433801a9280db68e5187d35bf7a5"}], "reference": {"path": "history/62552447000120.json", "criterion_id": "offers", "total_count": 1, "preview_count": 1, "full_text_deferred": true, "sha256": "d95db8c0613d67ee84118c734588665265ea6b02f86a0318d6a844cbe1d0f82f"}}</a:t>
            </a:r>
          </a:p>
          <a:p>
            <a:r>
              <a:t>CNPJ 63953620000165 · Ofertas e colocação · Anexo ao Regulamento · ID 1222863 · 2026-06-02 · versão 1 · p. 10 · 6.9 · https://fnet.bmfbovespa.com.br/fnet/publico/visualizarDocumento?id=1222863</a:t>
            </a:r>
          </a:p>
          <a:p>
            <a:r>
              <a:t>CNPJ 63953620000165 · Ofertas e colocação · Excerto da fonte:</a:t>
            </a:r>
          </a:p>
          <a:p>
            <a:r>
              <a:t>6.9 As Cotas poderão ser objeto de oferta pública a ser realizada nos termos da Resolução CVM 160 (“Oferta”) e/ou  poderão ser colocadas de forma privada (“Colocação Privada”), bem como segundo outros ritos que venham a  ser previstos pela regulamentação. As Cotas deverão ser emitidas e subscritas dentro do prazo e nos termos e  condições da legislação aplicável, do presente Anexo e dos respectivos Boletins de Subscrição e/ou  Compromissos de Investimento.</a:t>
            </a:r>
          </a:p>
          <a:p>
            <a:r>
              <a:t>CNPJ 63953620000165 · Ofertas e colocação · Condição: Documentos atuais selecionados no inventário por categoria/escopo; a data documental isolada não comprova vigência jurídica.</a:t>
            </a:r>
          </a:p>
          <a:p>
            <a:r>
              <a:t>CNPJ 63953620000165 · Ofertas e colocação · Versão e prevalência: Documentos atuais selecionados no inventário por categoria/escopo; a data documental isolada não comprova vigência jurídica.</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Emissões e custos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Remuneração por subclasse e série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Remuneração por subclasse e série · Resumo do histórico: {"count": 1, "dates": ["2024-04-28"], "document_count": 1, "sources": [{"document_id": "670691", "title": "Regulamento", "reference_date": "2024-04-28", "version": "1", "page": "14", "url": "https://fnet.bmfbovespa.com.br/fnet/publico/visualizarDocumento?id=670691", "sha256": "bf16dd7f1a62d5cdbf2e2d54fef81783783f7310fbc99c3a8f00459bdf9d037b"}], "reference": {"path": "history/54871427000194.json", "criterion_id": "remuneration", "total_count": 1, "preview_count": 1, "full_text_deferred": true, "sha256": "35d7cd99be50c7287c9fb675cf4f2e736002315295a225a9efa79c8d9186d874"}}</a:t>
            </a:r>
          </a:p>
          <a:p>
            <a:r>
              <a:t>CNPJ 60010416000112 · Remuneração por subclasse e série · Instrumento Particular de Constituição/Encerramento do Fundo · ID 993785 · 20/03/2025 · versão 1ªemissão20/03/2025 · p. 5 · Suplemento1ªsênior BenchmarkSênior · https://fnet.bmfbovespa.com.br/fnet/publico/visualizarDocumento?id=993785</a:t>
            </a:r>
          </a:p>
          <a:p>
            <a:r>
              <a:t>CNPJ 60010416000112 · Remuneração por subclasse e série · Excerto da fonte:</a:t>
            </a:r>
          </a:p>
          <a:p>
            <a:r>
              <a:t>4,80% (quatro inteiros e oitenta centésimos por cento)calculado por Dia Útil à base de 1/252 (um inteiro e duzentos e cinquenta e dois avos); e (ii) “Benchmark Sênior Adicional”: o parâmetro adicional de rentabilidade a ser buscado pela Classe para remunerar as Cotas Seniores, correspondente 15,00% (quinze por cento) do excesso de spread das Cotas Subordinadas com cap de remuneração total das Cotas Seniores pela variação do CDI acrescido de 6,00% (seis por cento</a:t>
            </a:r>
          </a:p>
          <a:p>
            <a:r>
              <a:t>CNPJ 60010416000112 · Remuneração por subclasse e série · Condição: Termo específico da primeira emissão de 20/03/2025, distinto de taxa deperformance e do suplemento modelo com campos não preenchidos do regulamento.</a:t>
            </a:r>
          </a:p>
          <a:p>
            <a:r>
              <a:t>CNPJ 60010416000112 · Remuneração por subclasse e série · Versão e prevalência: Leitura específica das cláusulas indicadas; condições e conflitos preservados. Seleção documental atual não comprova vigência jurídica por data isolada.</a:t>
            </a:r>
          </a:p>
          <a:p>
            <a:r>
              <a:t>CNPJ 60010416000112 · Remuneração por subclasse e série · Resumo do histórico: {"count": 3, "dates": ["2025-03-20", "2025-05-12"], "document_count": 2, "sources": [{"document_id": "1004656", "title": "AGE", "reference_date": "2025-05-12", "version": "1", "page": 5, "url": "https://fnet.bmfbovespa.com.br/fnet/publico/visualizarDocumento?id=1004656", "sha256": "f6c9c009f6170e2b29f074b98522accec73f0c40efbf11f9ec2c8d3f1402616b"}, {"document_id": "993785", "title": "Instrumento Particular de Constituição/Encerramento do Fundo", "reference_date": "2025-03-20", "version": "1", "page": "4-5", "url": "https://fnet.bmfbovespa.com.br/fnet/publico/visualizarDocumento?id=993785", "sha256": "0826e0eae2c51afabf59bbc49fc7647598d03da5ca6de0f9725850a8bd6af457"}, {"document_id": "993785", "title": "Instrumento Particular de Constituição/Encerramento do Fundo", "reference_date": "2025-03-20", "version": "1", "page": 5, "url": "https://fnet.bmfbovespa.com.br/fnet/publico/visualizarDocumento?id=993785", "sha256": "0826e0eae2c51afabf59bbc49fc7647598d03da5ca6de0f9725850a8bd6af457"}], "reference": {"path": "history/60010416000112.json", "criterion_id": "remuneration", "total_count": 3, "preview_count": 3, "full_text_deferred": true, "sha256": "8e2bd813f4c51cf01f6bfaad164bafe69d2bbb192f753eac92da3a01c2e63046"}}</a:t>
            </a:r>
          </a:p>
          <a:p>
            <a:r>
              <a:t>CNPJ 62696791000193 · Remuneração por subclasse e série · Regulamento · ID 1143317 · 20/03/2026 · versão Regulamento — referência 20/03/2026 · p. 33 · Apêndice Sênior, 1.2 e 1.4 · https://fnet.bmfbovespa.com.br/fnet/publico/visualizarDocumento?id=1143317</a:t>
            </a:r>
          </a:p>
          <a:p>
            <a:r>
              <a:t>CNPJ 62696791000193 · Remuneração por subclasse e série · Excerto da fonte:</a:t>
            </a:r>
          </a:p>
          <a:p>
            <a:r>
              <a:t>1.2. As Cotas Seniores poderão ser divididas em séries com valores e prazos diferenciados para amortização, resgate e remuneração, sendo que cada série terá as mesmas características e conf erirá a seus titulares iguais direitos e obrigações nos termos deste Reg ulamento e do Apêndice ref erente a cada emissão/série de Cotas Seniores. 1.2. Benchmark. A Classe buscará atingir, para as Cotas Seniores, o “Benchmark”, correspondente à 100% (cem por cento) da variação positiva do CDI acrescida de 4,5% (quatro inteiros e cinco décimos por cento) ao ano. 1.3. O Benchmark não representa e nem devem ser considerados uma promessa, garantia ou sugestão de rentabilidade aos Cotistas Seniores, por parte da Classe, do Administrador, do Gestor e/ou do Cedente. 1.4. Independentemente do valor do Patrimônio Líquido da Classe, os Cotistas detentores de Cotas Seniores não f arão jus a uma rentabilidade superior ao Benchmark, o qual representará o limite máximo de remuneração possível para as Cotas Seniores. 2. Emissão, Subscrição e Integralização das Cotas 2.1. A Classe poderá emitir múltiplas Séries de Cotas Seniores, ficando ressalvado, no entanto, que cada nova Série de Cotas Seniores a ser emitida pela Classe</a:t>
            </a:r>
          </a:p>
          <a:p>
            <a:r>
              <a:t>CNPJ 62696791000193 · Remuneração por subclasse e série · Regulamento · ID 1143317 · 20/03/2026 · versão Regulamento — referência 20/03/2026 · p. 34 · Apêndice Sênior, 6.2 · https://fnet.bmfbovespa.com.br/fnet/publico/visualizarDocumento?id=1143317</a:t>
            </a:r>
          </a:p>
          <a:p>
            <a:r>
              <a:t>CNPJ 62696791000193 · Remuneração por subclasse e série · Excerto da fonte:</a:t>
            </a:r>
          </a:p>
          <a:p>
            <a:r>
              <a:t>6.2. Em complemento às Amortizações Programadas de Cotas Seniores, os Cotistas Seniores f arão jus, sempre que o Patrimônio Líquido da Classe assim permita e desde que o Valor Unitário das Cotas Seniores esteja superior ao valor de integralização das Cotas Seniores em circulação, a 50% (cinquenta por cento) de qualquer valor que exceder a Amortização das Cotas Subordinadas, conforme prevista no Apêndice da Subclasse Subordinada, a ser paga na Data de Amortização Programada de Cotas Seniores (“Amortização Extraordinária de Cotas Seniores”). 6.3. Os pagamentos das parcelas de Amortização e/ou de resgate das Cotas Seniores serão ef etuados, em moeda corrente nacional, pelo Valor Unitário das Cotas Seniores no dia do pagamento, calculado na forma descrita neste Apêndice e no Anexo I, por meio de depósito em conta de titularidade dos Cotistas titulares BTG Pactual 2 SAC: 0800 772 28 27 - Ouvidoria: 0800 722 00 48 - btgpactual.com</a:t>
            </a:r>
          </a:p>
          <a:p>
            <a:r>
              <a:t>CNPJ 62696791000193 · Remuneração por subclasse e série · Regulamento · ID 1143317 · 20/03/2026 · versão Regulamento — referência 20/03/2026 · p. 37 · Apêndice Júnior, 4.1–4.2 · https://fnet.bmfbovespa.com.br/fnet/publico/visualizarDocumento?id=1143317</a:t>
            </a:r>
          </a:p>
          <a:p>
            <a:r>
              <a:t>CNPJ 62696791000193 · Remuneração por subclasse e série · Excerto da fonte:</a:t>
            </a:r>
          </a:p>
          <a:p>
            <a:r>
              <a:t>4.1. Caso o Patrimônio Líquido da Classe assim permita, as Cotas Subordinadas f arão jus à amortização semestral, no último Dia Útil dos meses de janeiro e julho de cada ano, de valor equivalente ao excedente do valor de integralização das Cotas Subordinadas em circulação, limitado ao percentual de 100% (cem por cento) da variação positiva do CDI acrescida de 4,50% (quatro inteiros e cinco décimos por cento) ao ano, considerando, para tanto a razão entre (i) o valor de integralização das Cotas Subordinadas Júnior em circulação e (ii) o valor de cada uma das Cotas Subordinadas, a ser paga na Data de Amortização Programada de Cotas Seniores (“Amortização das Cotas Subordinadas”). 4.2. Em complemento às Amortizações das Cotas Subordinadas, os Cotistas Subordinados farão jus, sempre que o Patrimônio Líquido da Classe assim permita e desde que o Valor Unitário das Cotas Subordinadas esteja superior ao valor de integralização das Cotas Subordinadas em circulação, a 50% (cinquenta por cento) de qualquer valor que exceder a Amortização das Cotas Subordinadas, a ser paga na Data de Amortização Programada de Cotas Seniores (“Amortização Extraordinária de Cotas Seniores”). 5. Excesso de Subordinação 5.1. Verif icado excesso de subordinação,</a:t>
            </a:r>
          </a:p>
          <a:p>
            <a:r>
              <a:t>CNPJ 62696791000193 · Remuneração por subclasse e série · Condição: Benchmark é regra de atribuição, condicionado ao PL/resultados, sem garantia de rentabilidade. A subclasse mezanino é autorizada, mas não há apêndice mezanino no PDF consolidado obtido.</a:t>
            </a:r>
          </a:p>
          <a:p>
            <a:r>
              <a:t>CNPJ 62696791000193 · Remuneração por subclasse e série · Versão e prevalência: Leitura específica das cláusulas indicadas; condições e conflitos preservados. Seleção documental atual não comprova vigência jurídica por data isolada.</a:t>
            </a:r>
          </a:p>
          <a:p>
            <a:r>
              <a:t>CNPJ 62696791000193 · Remuneração por subclasse e série · Resumo do histórico: {"count": 1, "dates": ["2026-03-27"], "document_count": 1, "sources": [{"document_id": "1148821", "title": "Instrumento Particular de Emissão de Cotas", "reference_date": "2026-03-27", "version": "1", "page": "1-2", "url": "https://fnet.bmfbovespa.com.br/fnet/publico/visualizarDocumento?id=1148821", "sha256": "86900e9dd498403696bfffbd4196443c83ec4d51ff21135e073c1966e1adf4c0"}], "reference": {"path": "history/62696791000193.json", "criterion_id": "remuneration", "total_count": 1, "preview_count": 1, "full_text_deferred": true, "sha256": "0e9ec199848320ec945708123ae0cb6075d76c05d94beed814d582031d353926"}}</a:t>
            </a:r>
          </a:p>
          <a:p>
            <a:r>
              <a:t>CNPJ 55563624000109 · Remuneração por subclasse e série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Remuneração por subclasse e série · Resumo do histórico: {"count": 1, "dates": ["2026-04-30"], "document_count": 1, "sources": [{"document_id": "1192614", "title": "Regulamento", "reference_date": "2026-04-30", "version": "1", "page": "16-17", "url": "https://fnet.bmfbovespa.com.br/fnet/publico/visualizarDocumento?id=1192614", "sha256": "f56e63ace0acde41d2f47fb48f1ac7f3f7df5e2d32de092d7c5e075a52516632"}], "reference": {"path": "history/55563624000109.json", "criterion_id": "remuneration", "total_count": 1, "preview_count": 1, "full_text_deferred": true, "sha256": "7835d573fb58a3c19adf5b8ecc2aee2bdbb9a88f7a0c0209b5f262b64c7522e3"}}</a:t>
            </a:r>
          </a:p>
          <a:p>
            <a:r>
              <a:t>CNPJ 62552447000120 · Remuneração por subclasse e série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Remuneração por subclasse e série · Resumo do histórico: {"count": 1, "dates": ["2025-09-03"], "document_count": 1, "sources": [{"document_id": "988020", "title": "Instrumento Particular de Emissão de Cotas", "reference_date": "2025-09-03", "version": "1", "page": "5-6", "url": "https://fnet.bmfbovespa.com.br/fnet/publico/visualizarDocumento?id=988020", "sha256": "8ecc8a771bb9713d64e5fc2052c489664cb0433801a9280db68e5187d35bf7a5"}], "reference": {"path": "history/62552447000120.json", "criterion_id": "remuneration", "total_count": 1, "preview_count": 1, "full_text_deferred": true, "sha256": "d95db8c0613d67ee84118c734588665265ea6b02f86a0318d6a844cbe1d0f82f"}}</a:t>
            </a:r>
          </a:p>
          <a:p>
            <a:r>
              <a:t>CNPJ 63953620000165 · Remuneração por subclasse e série · Anexo ao Regulamento · ID 1222863 · 2026-06-02 · versão 1 · p. 22 · 1.2 · https://fnet.bmfbovespa.com.br/fnet/publico/visualizarDocumento?id=1222863</a:t>
            </a:r>
          </a:p>
          <a:p>
            <a:r>
              <a:t>CNPJ 63953620000165 · Remuneração por subclasse e série · Excerto da fonte:</a:t>
            </a:r>
          </a:p>
          <a:p>
            <a:r>
              <a:t>1.2. Benchmark Sênior. A Classe buscará atingir, para as Cotas Seniores, o Benchmark Sênior, qual seja, (a) para a parcela  do Patrimônio Líquido alocado em Direitos Creditórios Consignado Privado e/ou Ativos de Liquidez MT, a variação  positiva do CDI acrescida de 1,50% (um inteiro e cinco décimos por cento) ao ano, (b) para a parcela do Patrimônio  Líquido alocado em Ativos de Liquidez e/ou Direitos Creditórios TVM, a variação positiva do CDI.</a:t>
            </a:r>
          </a:p>
          <a:p>
            <a:r>
              <a:t>CNPJ 63953620000165 · Remuneração por subclasse e série · Anexo ao Regulamento · ID 1222863 · 2026-06-02 · versão 1 · p. 22 · 1.5 · https://fnet.bmfbovespa.com.br/fnet/publico/visualizarDocumento?id=1222863</a:t>
            </a:r>
          </a:p>
          <a:p>
            <a:r>
              <a:t>CNPJ 63953620000165 · Remuneração por subclasse e série · Excerto da fonte:</a:t>
            </a:r>
          </a:p>
          <a:p>
            <a:r>
              <a:t>1.5. Rentabilidade Adicional Sênior. Adicionalmente ao Benchmark Sênior, as Cotas Seniores efetivamente integralizadas  farão jus a uma rentabilidade adicional equivalente a 0,38% (trinta e oito centésimos por cento) incidente sobre o  montante financeiro integralizado pelo respectivo Cotista das Cotas Seniores (“Rentabilidade Adicional Sênior”), a  ser paga a cada Cotista Sênior, em uma única parcela, em até 40 (quarenta) dias corridos após a integralização das  respectivas Cotas Seniores, sendo automaticamente ajustada em caso de alteração da alíquota ou da forma de  incidência do IOF, e deixando de ser devida na hipótese de sua extinção.</a:t>
            </a:r>
          </a:p>
          <a:p>
            <a:r>
              <a:t> 2. Emissão, Subscrição e Integralização das Cotas</a:t>
            </a:r>
          </a:p>
          <a:p>
            <a:r>
              <a:t>CNPJ 63953620000165 · Remuneração por subclasse e série · Condição: Documentos atuais selecionados no inventário por categoria/escopo; a data documental isolada não comprova vigência jurídica.</a:t>
            </a:r>
          </a:p>
          <a:p>
            <a:r>
              <a:t>CNPJ 63953620000165 · Remuneração por subclasse e série · Versão e prevalência: Documentos atuais selecionados no inventário por categoria/escopo; a data documental isolada não comprova vigência jurídica.</a:t>
            </a:r>
          </a:p>
          <a:p>
            <a:r>
              <a:t>CNPJ 54871427000194 · Volume, VNU e emissão · Anúncio de Encerramento · ID 798101 · 2024-12-10 · versão 1 · p. 1 · https://fnet.bmfbovespa.com.br/fnet/publico/visualizarDocumento?id=798101</a:t>
            </a:r>
          </a:p>
          <a:p>
            <a:r>
              <a:t>CNPJ 54871427000194 · Volume, VNU e emissão · Excerto da fonte:</a:t>
            </a:r>
          </a:p>
          <a:p>
            <a:r>
              <a:t>Informações da Oferta  Valor Bruto da 2ª Quantidade de Cotas  Preço de Emissão da Cota  Emissão emitidas  R$ 55.000.000,00 55.000 R$ 1.000,00</a:t>
            </a:r>
          </a:p>
          <a:p>
            <a:r>
              <a:t>CNPJ 54871427000194 · Volume, VNU e emissão · Condição: Trechos do documento específico identificado com data mais recente; vigência jurídica não inferida.</a:t>
            </a:r>
          </a:p>
          <a:p>
            <a:r>
              <a:t>CNPJ 54871427000194 · Volume, VNU e emissão · Versão e prevalência: Trechos do documento específico identificado com data mais recente; vigência jurídica não inferida.</a:t>
            </a:r>
          </a:p>
          <a:p>
            <a:r>
              <a:t>CNPJ 54871427000194 · Volume, VNU e emissão · Resumo do histórico: {"count": 5, "dates": ["2024-06-11", "2024-06-13", "2024-12-10"], "document_count": 3, "sources": [{"document_id": "798101", "title": "Anúncio de Encerramento", "reference_date": "2024-12-10", "version": "1", "page": "1-2", "url": "https://fnet.bmfbovespa.com.br/fnet/publico/visualizarDocumento?id=798101", "sha256": "71618c432ad86002484571d66922b873e4fa91ed3543a109134ddee0bd872f20"}, {"document_id": "683482", "title": "AGE", "reference_date": "2024-06-13", "version": "1", "page": 1, "clause": "4.1", "url": "https://fnet.bmfbovespa.com.br/fnet/publico/visualizarDocumento?id=683482", "sha256": "3afbe254027691929935eaf19ebbb8634fb2ccd8e2fbea2cb2d81a7818f8d648"}, {"document_id": "677544", "title": "Anúncio de Encerramento", "reference_date": "2024-06-11", "version": "1", "page": 1, "url": "https://fnet.bmfbovespa.com.br/fnet/publico/visualizarDocumento?id=677544", "sha256": "5735adc30829e0e91623167d4fd602de01adb236e3d3e758bddb0a375c7067b1"}], "reference": {"path": "history/54871427000194.json", "criterion_id": "issue_volume", "total_count": 5, "preview_count": 3, "full_text_deferred": true, "sha256": "35d7cd99be50c7287c9fb675cf4f2e736002315295a225a9efa79c8d9186d874"}}</a:t>
            </a:r>
          </a:p>
          <a:p>
            <a:r>
              <a:t>CNPJ 60010416000112 · Volume, VNU e emissão · AGE · ID 1049114 · 2025-11-26 · versão 1 · p. 2 · https://fnet.bmfbovespa.com.br/fnet/publico/visualizarDocumento?id=1049114</a:t>
            </a:r>
          </a:p>
          <a:p>
            <a:r>
              <a:t>CNPJ 60010416000112 · Volume, VNU e emissão · Excerto da fonte:</a:t>
            </a:r>
          </a:p>
          <a:p>
            <a:r>
              <a:t>Este instrumento constitui o suplemento nº 3 (“Suplemento”) referente à 1ª emissão de cotas da Série B  da Subclasse Sênior da CLASSE ÚNICA DO MT CONSIGNADO PRIVADO I FUNDO DE  INVESTIMENTO EM DIREITOS CREDITÓRIOS RESPONSABILIDADE LIMITADA (“Classe” e  “FUNDO”, respectivamente), administrado pela BTG Pactual Serviços Financeiros S.A. Distribuidora  de Títulos e Valores Mobiliários, instituição com sede no Município do Rio de Janeiro, Estado do Rio de  Janeiro, na Praia de Botafogo, nº 501, 5º andar – parte, inscrita no CNPJ sob o nº 59.281.253/0001-23,  autorizada a funcionar pelo Banco Central do Brasil e autorizada pela Comissão de Valores Mobiliários  (“CVM”) para a atividade de administração de carteiras de valores mobiliários, de acordo com o Ato  Declaratório nº 8.695, de 20 de março de 2006 (“ADMINISTRADOR”), emitidas nos termos do regulamento  do FUNDO, do anexo descritivo da Classe do respectivo apêndice, devidamente registrado perante a CVM  (“Regulamento”, “Anexo da Classe”, “Apêndice” e “Cotas Seniores” respectivamente), a qual terá as  seguintes características:</a:t>
            </a:r>
          </a:p>
          <a:p>
            <a:r>
              <a:t> Número de Emissão, Valor São emitidas no âmbito da 1ª emissão da 3ª Série de Cotas Seniores da  Total da Emissão e Forma Classe, de 2,000,000 (dois milhões) de Cotas da 3ª Série da Subclasse  de Distribuição Sênior da Classe, com valor nominal unitário de R$ 1.000,00 (mil reais)  cada, totalizando o montante de R$ 2.000.000.000,00 (dois bilhões de  reais), as quais serão objeto de colocação privada, destinada ao Público-  Alvo (conforme definido no Anexo da Classe) (“Colocação Privada”).</a:t>
            </a:r>
          </a:p>
          <a:p>
            <a:r>
              <a:t> Valor Unitário de Emissão As Cotas Seniores da 3ª Série terão um valor unitário de R$ 1.000,00 (mil  reais) na respectiva Data de Emissão.</a:t>
            </a:r>
          </a:p>
          <a:p>
            <a:r>
              <a:t> Data de Emissão Data da 1ª Integralização.</a:t>
            </a:r>
          </a:p>
          <a:p>
            <a:r>
              <a:t> Valor Unitário de As Cotas Seniores da 3ª Série serão subscritas pelo Valor Unitário de  Integralização Emissão, e serão integralizadas pelo respectivo Valor Unitário, nos  termos do Regulamento, do Apêndice e deste Suplemento, sendo certo  que, nas emissões de novas Cotas Seniores da 3ª Série que não difiram,  em sua respectiva Subclasse, das Cotas Seniores da 3ª Série então em  circulação, o Valor Unitário de Integralização corresponderá ao Valor  Unitário da Cota apurado no Dia Útil em que os recursos aportados pelo  Cotista tornem-se efetivamente disponíveis à Classe.</a:t>
            </a:r>
          </a:p>
          <a:p>
            <a:r>
              <a:t> Investimento Mínimo por Não há  Investidor  Forma de Subscrição e As Cotas Seniores da 3ª Série deverão ser integralizadas, à vista, em  Integralização moeda corrente nacional, pelo Valor Unitário de Integralização, no ato de  subscrição.</a:t>
            </a:r>
          </a:p>
          <a:p>
            <a:r>
              <a:t> Ao subscrever Cotas Seniores da 3ª Série, cada Investidor deverá  assinar o Termo de Adesão, no qual confirmará, dentre outros, ter  conhecimento de todos os termos e condições do Fundo e do</a:t>
            </a:r>
          </a:p>
          <a:p>
            <a:r>
              <a:t>CNPJ 60010416000112 · Volume, VNU e emissão · Condição: Trechos do documento específico identificado com data mais recente; vigência jurídica não inferida.</a:t>
            </a:r>
          </a:p>
          <a:p>
            <a:r>
              <a:t>CNPJ 60010416000112 · Volume, VNU e emissão · Motivo: Cláusula primária localizada e citada, mas sua lista/condições extensas não admitem uma síntese literal curta confirmada. O trecho integral permanece nas fontes. A resposta da revisão anterior foi preservada no histórico, sem confirmação pelo documento atual.</a:t>
            </a:r>
          </a:p>
          <a:p>
            <a:r>
              <a:t>CNPJ 60010416000112 · Volume, VNU e emissão · Versão e prevalência: Trechos do documento específico identificado com data mais recente; vigência jurídica não inferida.</a:t>
            </a:r>
          </a:p>
          <a:p>
            <a:r>
              <a:t>CNPJ 60010416000112 · Volume, VNU e emissão · Resumo do histórico: {"count": 3, "dates": ["2025-03-20", "2025-05-12"], "document_count": 2, "sources": [{"document_id": "1004656", "title": "AGE", "reference_date": "2025-05-12", "version": "1", "page": 4, "url": "https://fnet.bmfbovespa.com.br/fnet/publico/visualizarDocumento?id=1004656", "sha256": "f6c9c009f6170e2b29f074b98522accec73f0c40efbf11f9ec2c8d3f1402616b"}, {"document_id": "993785", "title": "Instrumento Particular de Constituição/Encerramento do Fundo", "reference_date": "2025-03-20", "version": "1", "page": "2", "url": "https://fnet.bmfbovespa.com.br/fnet/publico/visualizarDocumento?id=993785", "sha256": "0826e0eae2c51afabf59bbc49fc7647598d03da5ca6de0f9725850a8bd6af457"}, {"document_id": "993785", "title": "Instrumento Particular de Constituição/Encerramento do Fundo", "reference_date": "2025-03-20", "version": "1", "page": 2, "url": "https://fnet.bmfbovespa.com.br/fnet/publico/visualizarDocumento?id=993785", "sha256": "0826e0eae2c51afabf59bbc49fc7647598d03da5ca6de0f9725850a8bd6af457"}], "reference": {"path": "history/60010416000112.json", "criterion_id": "issue_volume", "total_count": 3, "preview_count": 3, "full_text_deferred": true, "sha256": "8e2bd813f4c51cf01f6bfaad164bafe69d2bbb192f753eac92da3a01c2e63046"}}</a:t>
            </a:r>
          </a:p>
          <a:p>
            <a:r>
              <a:t>CNPJ 62696791000193 · Volume, VNU e emissão · Instrumento Particular de Emissão de Cotas · ID 1148821 · 27/03/2026 · versão Instrumento Particular de Emissão de Cotas — referência 27/03/2026 · p. 1 · Deliberação Conjunta, item1 · https://fnet.bmfbovespa.com.br/fnet/publico/visualizarDocumento?id=1148821</a:t>
            </a:r>
          </a:p>
          <a:p>
            <a:r>
              <a:t>CNPJ 62696791000193 · Volume, VNU e emissão · Excerto da fonte:</a:t>
            </a:r>
          </a:p>
          <a:p>
            <a:r>
              <a:t>1. Aprovar a 2ª (segunda) emissão da Subclasse Subordinada Júnior da Classe, composta por até 20.000 (vinte mil) Cotas Subordinadas Júnior, com valor nominal unitário de R$ 1.000,00 (mil reais), perfazendo o montante total de R$ 20.000.000,00 (vinte milhões de reais), as quais serão objeto de colocação privada, de acordo com os termos e condições definidos no Apêndice da Subclasse Subordinada Júnior constante do Anexo I Regulamento e descritas abaixo (“2ª Emissão da Subclasse Subordinada Júnior”): a) Rito: as Cotas Subordinadas Júnior objeto da 2ª Emissão da Subclasse Subordinada Júnior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Subordinada Júnior na data de integralização, calculado na forma prevista no respectivo Apêndice; BTG Pactual 1 SAC: 0800 772 28 27 - Ouvidoria: 0800 722 00 48 - btgpactual.com</a:t>
            </a:r>
          </a:p>
          <a:p>
            <a:r>
              <a:t>CNPJ 62696791000193 · Volume, VNU e emissão · Instrumento Particular de Emissão de Cotas · ID 1148821 · 27/03/2026 · versão Instrumento Particular de Emissão de Cotas — referência 27/03/2026 · p. 2 · Deliberação Conjunta, item2 · https://fnet.bmfbovespa.com.br/fnet/publico/visualizarDocumento?id=1148821</a:t>
            </a:r>
          </a:p>
          <a:p>
            <a:r>
              <a:t>CNPJ 62696791000193 · Volume, VNU e emissão · Excerto da fonte:</a:t>
            </a:r>
          </a:p>
          <a:p>
            <a:r>
              <a:t>2. Aprovar a 2ª (segunda) emissão da Subclasse Sênior da Classe, composta por até 150.000 (cento e cinquenta mil) Cotas Seniores, com valor nominal unitário de R$ 1.000,00 (mil reais), perfazendo o montante total de R$ 150.000.000,00 (cento e cinquenta milhões de reais), as quais serão objeto de colocação privada, de acordo com os termos e condições descritos no Apêndice da Subclasse Sênior constante do Anexo I Regulamento e descritas abaixo (“2ª Emissão da Subclasse Sênior”): a) Rito: as Cotas Seniores objeto da 2ª Emissão da Subclasse Sênior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Sênior na data de integralização, calculado na forma prevista no respectivo Apêndice; d) Forma de Integralização: as Cotas Seniores serão integralizadas mediante chamadas de capital, junto ao seu respectivo agente de custódia e/ou da Administradora na qualidade de escriturador das cotas, nos termos d</a:t>
            </a:r>
          </a:p>
          <a:p>
            <a:r>
              <a:t>CNPJ 62696791000193 · Volume, VNU e emissão · Condição: Volumes autorizados de emissão não comprovam captação ou integralização observada.</a:t>
            </a:r>
          </a:p>
          <a:p>
            <a:r>
              <a:t>CNPJ 62696791000193 · Volume, VNU e emissão · Versão e prevalência: Leitura específica das cláusulas indicadas; condições e conflitos preservados. Seleção documental atual não comprova vigência jurídica por data isolada.</a:t>
            </a:r>
          </a:p>
          <a:p>
            <a:r>
              <a:t>CNPJ 62696791000193 · Volume, VNU e emissão · Resumo do histórico: {"count": 2, "dates": ["2026-03-20", "2026-03-27"], "document_count": 2, "sources": [{"document_id": "1148821", "title": "Instrumento Particular de Emissão de Cotas", "reference_date": "2026-03-27", "version": "1", "page": "1-2", "url": "https://fnet.bmfbovespa.com.br/fnet/publico/visualizarDocumento?id=1148821", "sha256": "86900e9dd498403696bfffbd4196443c83ec4d51ff21135e073c1966e1adf4c0"}, {"document_id": "1143317", "title": "Regulamento", "reference_date": "2026-03-20", "version": "1", "page": 23, "clause": "11.3", "url": "https://fnet.bmfbovespa.com.br/fnet/publico/visualizarDocumento?id=1143317", "sha256": "32f62818d51c3ebeaf9ec012d3d7867f15c1aed6d10f0867c157a290df1cea48"}], "reference": {"path": "history/62696791000193.json", "criterion_id": "issue_volume", "total_count": 2, "preview_count": 2, "full_text_deferred": true, "sha256": "0e9ec199848320ec945708123ae0cb6075d76c05d94beed814d582031d353926"}}</a:t>
            </a:r>
          </a:p>
          <a:p>
            <a:r>
              <a:t>CNPJ 55563624000109 · Volume, VNU e emissão · Regulamento · ID 1192614 · 2026-04-30 · versão 1 · p. 17 · 5.13.2 · https://fnet.bmfbovespa.com.br/fnet/publico/visualizarDocumento?id=1192614</a:t>
            </a:r>
          </a:p>
          <a:p>
            <a:r>
              <a:t>CNPJ 55563624000109 · Volume, VNU e emissão · Excerto da fonte:</a:t>
            </a:r>
          </a:p>
          <a:p>
            <a:r>
              <a:t>5.13.2 Caso um Cotista do Fundo pretenda transferir suas Cotas para terceiros (“Cotista Vendedor”), deverá  notificar previamente o GESTOR, via e-mail, manifestando sua proposta de alienação de Cotas, a qual  deve incluir o interessado na aquisição e a quantidade de Cotas a serem alienadas e o preço para tal  alienação (“Proposta de Venda”). O GESTOR deverá manifestar aprovação para alienação das Cotas  objeto da Proposta de Venda (“Cotas Objeto”) em até 5 (cinco) Dias Úteis, observado que a ausência de  aprovação deverá ser entendida como aprovação tácita à alienação das Cotas Objeto.</a:t>
            </a:r>
          </a:p>
          <a:p>
            <a:r>
              <a:t>CNPJ 55563624000109 · Volume, VNU e emissão · Regulamento · ID 1192614 · 2026-04-30 · versão 1 · p. 39 · https://fnet.bmfbovespa.com.br/fnet/publico/visualizarDocumento?id=1192614</a:t>
            </a:r>
          </a:p>
          <a:p>
            <a:r>
              <a:t>CNPJ 55563624000109 · Volume, VNU e emissão · Excerto da fonte:</a:t>
            </a:r>
          </a:p>
          <a:p>
            <a:r>
              <a:t>(xxi) Ausência de propriedade direta dos ativos. Os direitos dos Cotistas serão exercidos sobre  todos os ativos da Carteira de modo não individualizado, proporcionalmente à quantidade de Cotas  detidas por cada um. Portanto, os Cotistas não terão qualquer direito de propriedade direta sobre as  Cotas da Classe Investida e os Ativos Financeiros de Liquidez integrantes da Carteira, ou mesmo sobre  os direitos creditórios e os ativos financeiros de liquidez integrantes da carteira da Classe Investida.</a:t>
            </a:r>
          </a:p>
          <a:p>
            <a:r>
              <a:t>CNPJ 55563624000109 · Volume, VNU e emissão · Condição: Documentos atuais selecionados no inventário por categoria/escopo; a data documental isolada não comprova vigência jurídica.</a:t>
            </a:r>
          </a:p>
          <a:p>
            <a:r>
              <a:t>CNPJ 55563624000109 · Volume, VNU e emissão · Versão e prevalência: Documentos atuais selecionados no inventário por categoria/escopo; a data documental isolada não comprova vigência jurídica.</a:t>
            </a:r>
          </a:p>
          <a:p>
            <a:r>
              <a:t>CNPJ 55563624000109 · Volume, VNU e emissão · Resumo do histórico: {"count": 3, "dates": ["2024-12-30", "2025-01-31", "2026-01-31"], "document_count": 3, "sources": [{"document_id": "1178840", "title": "Demonstrações Financeiras", "reference_date": "2026-01-31", "version": "1", "page": 25, "url": "https://fnet.bmfbovespa.com.br/fnet/publico/visualizarDocumento?id=1178840", "sha256": "c458e98664c5c907ddb5a05a94b120bed4e05295b2bfc420f5ba69af0a229abe"}, {"document_id": "891861", "title": "Demonstrações Financeiras", "reference_date": "2025-01-31", "version": "1", "page": 26, "url": "https://fnet.bmfbovespa.com.br/fnet/publico/visualizarDocumento?id=891861", "sha256": "e9cb9e6ddbe505fe068cfcac33605165a98313489de0d3ce6d4d238263c3f3e7"}, {"document_id": "811323", "title": "Anúncio de Encerramento", "reference_date": "2024-12-30", "version": "1", "page": 1, "url": "https://fnet.bmfbovespa.com.br/fnet/publico/visualizarDocumento?id=811323", "sha256": "ebc6bc661be5189acffb3c3e352de2aea0a8ca8431011d1237e1ae19da4f9c79"}], "reference": {"path": "history/55563624000109.json", "criterion_id": "issue_volume", "total_count": 3, "preview_count": 3, "full_text_deferred": true, "sha256": "7835d573fb58a3c19adf5b8ecc2aee2bdbb9a88f7a0c0209b5f262b64c7522e3"}}</a:t>
            </a:r>
          </a:p>
          <a:p>
            <a:r>
              <a:t>CNPJ 62552447000120 · Volume, VNU e emissão · AGE · ID 1315103 · 2026-09-08 · versão 1 · p. 1 · https://fnet.bmfbovespa.com.br/fnet/publico/visualizarDocumento?id=1315103</a:t>
            </a:r>
          </a:p>
          <a:p>
            <a:r>
              <a:t>CNPJ 62552447000120 · Volume, VNU e emissão · Excerto da fonte:</a:t>
            </a:r>
          </a:p>
          <a:p>
            <a:r>
              <a:t>a) Rito: as cotas objeto da Segunda Emissão não estão sujeitas a regulamentação  de oferta de valores mobiliários, conforme facultado pelo Art. 8º, inciso II, da  Resolução CVM nº 160, de 13 de julho de 2022;</a:t>
            </a:r>
          </a:p>
          <a:p>
            <a:r>
              <a:t> b) Preço de Emissão: R$ 1.000,00 (mil reais);</a:t>
            </a:r>
          </a:p>
          <a:p>
            <a:r>
              <a:t> c) Quantidade de Cotas: 10.000 (dez mil) Cotas;</a:t>
            </a:r>
          </a:p>
          <a:p>
            <a:r>
              <a:t> d) Preço de Integralização: será o valor da Cota vigente na data de integralização,  nos termos do respectivo boletim de subscrição;</a:t>
            </a:r>
          </a:p>
          <a:p>
            <a:r>
              <a:t> e) Forma de Integralização: as Cotas serão integralizadas à vista, em moeda  corrente nacional, junto ao seu respectivo agente de custódia e/ou da  Administradora na qualidade de escriturador das cotas;</a:t>
            </a:r>
          </a:p>
          <a:p>
            <a:r>
              <a:t> f) Período de colocação: a subscrição das Cotas, objeto da Segunda Emissão,  deverão ser realizadas no prazo máximo de 180 (cento e oitenta) dias, contados  da data de efeitos do presente instrumento.</a:t>
            </a:r>
          </a:p>
          <a:p>
            <a:r>
              <a:t>CNPJ 62552447000120 · Volume, VNU e emissão · Condição: Trechos do documento específico identificado com data mais recente; vigência jurídica não inferida.</a:t>
            </a:r>
          </a:p>
          <a:p>
            <a:r>
              <a:t>CNPJ 62552447000120 · Volume, VNU e emissão · Versão e prevalência: Trechos do documento específico identificado com data mais recente; vigência jurídica não inferida.</a:t>
            </a:r>
          </a:p>
          <a:p>
            <a:r>
              <a:t>CNPJ 62552447000120 · Volume, VNU e emissão · Resumo do histórico: {"count": 2, "dates": ["2025-09-03"], "document_count": 1, "sources": [{"document_id": "988020", "title": "Instrumento Particular de Emissão de Cotas", "reference_date": "2025-09-03", "version": "1", "page": "5", "url": "https://fnet.bmfbovespa.com.br/fnet/publico/visualizarDocumento?id=988020", "sha256": "8ecc8a771bb9713d64e5fc2052c489664cb0433801a9280db68e5187d35bf7a5"}, {"document_id": "988020", "title": "Instrumento Particular de Emissão de Cotas", "reference_date": "2025-09-03", "version": "1", "page": 2, "url": "https://fnet.bmfbovespa.com.br/fnet/publico/visualizarDocumento?id=988020", "sha256": "8ecc8a771bb9713d64e5fc2052c489664cb0433801a9280db68e5187d35bf7a5"}], "reference": {"path": "history/62552447000120.json", "criterion_id": "issue_volume", "total_count": 2, "preview_count": 2, "full_text_deferred": true, "sha256": "d95db8c0613d67ee84118c734588665265ea6b02f86a0318d6a844cbe1d0f82f"}}</a:t>
            </a:r>
          </a:p>
          <a:p>
            <a:r>
              <a:t>CNPJ 63953620000165 · Volume, VNU e emissão · Demonstrações Financeiras - Fusão, cisão e incorporação · ID 1327859 · 2026-05-15 · versão 1 · p. 31 · 15.000.000 · https://fnet.bmfbovespa.com.br/fnet/publico/visualizarDocumento?id=1327859</a:t>
            </a:r>
          </a:p>
          <a:p>
            <a:r>
              <a:t>CNPJ 63953620000165 · Volume, VNU e emissão · Excerto da fonte:</a:t>
            </a:r>
          </a:p>
          <a:p>
            <a:r>
              <a:t>15.000.000 (quinze bilhões de reais), , a serem objeto de colocação privada, nos termos  do Regulamento, da Resolução CVM 175 e do respectivo boletim de subscrição nos  seguintes termos:</a:t>
            </a:r>
          </a:p>
          <a:p>
            <a:r>
              <a:t> a. Montante Total da Colocação Privada: R$ 15.000.000 (quinze bilhões de  reais)  b. Quantidade de Cotas: 15.000.000 (quinze milhões) de Cotas Seniores;</a:t>
            </a:r>
          </a:p>
          <a:p>
            <a:r>
              <a:t> c. Preço de Emissão (Valor Unitário): R$ 1 (mil reais);</a:t>
            </a:r>
          </a:p>
          <a:p>
            <a:r>
              <a:t> d. Forma e Preço de Integralização: as Cotas serão integralizadas na forma  prevista no Boletim de Subscrição;</a:t>
            </a:r>
          </a:p>
          <a:p>
            <a:r>
              <a:t> e. Prazo da Colocação Privada: as Cotas serão colocadas em até 180 (cento e  oitenta) dias da data deste IPA.</a:t>
            </a:r>
          </a:p>
          <a:p>
            <a:r>
              <a:t>CNPJ 63953620000165 · Volume, VNU e emissão · Demonstrações Financeiras - Fusão, cisão e incorporação · ID 1327859 · 2026-05-15 · versão 1 · p. 31 · https://fnet.bmfbovespa.com.br/fnet/publico/visualizarDocumento?id=1327859</a:t>
            </a:r>
          </a:p>
          <a:p>
            <a:r>
              <a:t>CNPJ 63953620000165 · Volume, VNU e emissão · Excerto da fonte:</a:t>
            </a:r>
          </a:p>
          <a:p>
            <a:r>
              <a:t>Em Instrumento Particular de Alteração do MT Global Fundo de Investimento em Direitos  Creditórios, realizada em 08 de janeiro de 2026, foram deliberadas as seguintes matérias:</a:t>
            </a:r>
          </a:p>
          <a:p>
            <a:r>
              <a:t>(i) Alterar regulamento vigente da classe em relação aos itens 4.17.1, 6.8 e o Capítulo 13,</a:t>
            </a:r>
          </a:p>
          <a:p>
            <a:r>
              <a:t> (b) incluir o item 3.1, 8.1.(ii), 8.2, 8.2.1, e 10.2.(xvii); e (c) excluir os itens 6.8.1, 6.8.2,</a:t>
            </a:r>
          </a:p>
          <a:p>
            <a:r>
              <a:t>(ii) Aprovar a 1ª (primeira) emissão de cotas seniores das Classes (“Cotas Seniores”), em  sistema de vasos comunicantes entre as Classes, de forma que a quantidade de Cotas  Seniores integralizadas em uma das Classes será deduzida da quantidade de Cotas  Seniores disponíveis para integralização nas demais Classes, no montante total de R$</a:t>
            </a:r>
          </a:p>
          <a:p>
            <a:r>
              <a:t>CNPJ 63953620000165 · Volume, VNU e emissão · Demonstrações Financeiras - Fusão, cisão e incorporação · ID 1327859 · 2026-05-15 · versão 1 · p. 32 · https://fnet.bmfbovespa.com.br/fnet/publico/visualizarDocumento?id=1327859</a:t>
            </a:r>
          </a:p>
          <a:p>
            <a:r>
              <a:t>CNPJ 63953620000165 · Volume, VNU e emissão · Excerto da fonte:</a:t>
            </a:r>
          </a:p>
          <a:p>
            <a:r>
              <a:t>f. Montante Total da Colocação Privada: R$ 7.000 (sete milhões de reais);</a:t>
            </a:r>
          </a:p>
          <a:p>
            <a:r>
              <a:t> g. Quantidade de Cotas: 7.000 (sete mil) de Cotas Subordinadas CP  h. Preço de Emissão (Valor Unitário): R$ 1 (mil reais);</a:t>
            </a:r>
          </a:p>
          <a:p>
            <a:r>
              <a:t> i. Forma e Preço de Integralização: as Cotas serão integralizadas na forma  prevista no Boletim de Subscrição;</a:t>
            </a:r>
          </a:p>
          <a:p>
            <a:r>
              <a:t> j. Prazo da Colocação Privada: as Cotas serão colocadas em até 180 (cento e  oitenta) dias da data deste IPA.</a:t>
            </a:r>
          </a:p>
          <a:p>
            <a:r>
              <a:t>CNPJ 63953620000165 · Volume, VNU e emissão · Condição: Trechos do documento específico identificado com data mais recente; vigência jurídica não inferida.</a:t>
            </a:r>
          </a:p>
          <a:p>
            <a:r>
              <a:t>CNPJ 63953620000165 · Volume, VNU e emissão · Versão e prevalência: Trechos do documento específico identificado com data mais recente; vigência jurídica não inferida.</a:t>
            </a:r>
          </a:p>
          <a:p>
            <a:r>
              <a:t>CNPJ 63953620000165 · Volume, VNU e emissão · Resumo do histórico: {"count": 8, "dates": ["2026-04-16", "2026-04-28", "2026-05-08"], "document_count": 3, "sources": [{"document_id": "1298691", "title": "Demonstrações Financeiras - Fusão, cisão e incorporação", "reference_date": "2026-05-08", "version": "1", "page": 32, "url": "https://fnet.bmfbovespa.com.br/fnet/publico/visualizarDocumento?id=1298691", "sha256": "58c570d9b8d4d265330d3db3ea81c435b8e44a6dab4002aa37790652a1ee9819"}, {"document_id": "1282180", "title": "Demonstrações Financeiras - Fusão, cisão e incorporação", "reference_date": "2026-04-28", "version": "1", "page": 32, "clause": "15.000.000", "url": "https://fnet.bmfbovespa.com.br/fnet/publico/visualizarDocumento?id=1282180", "sha256": "afaaa0e6809be4385e5bdb6c911aac582032c5bdbac3d7750234bf9eaf00438a"}, {"document_id": "1282179", "title": "Demonstrações Financeiras - Fusão, cisão e incorporação", "reference_date": "2026-04-16", "version": "1", "page": 32, "clause": "15.000.000", "url": "https://fnet.bmfbovespa.com.br/fnet/publico/visualizarDocumento?id=1282179", "sha256": "beb67afbcd64169019477673fd3b7c1edbfabbd9db07379388d8cdd5d3fc9395"}], "reference": {"path": "history/63953620000165.json", "criterion_id": "issue_volume", "total_count": 8, "preview_count": 3, "full_text_deferred": true, "sha256": "a7b89077f5e21098c2d601c303faabc3ff6b9729f89d8afecdc60fe1404720c1"}}</a:t>
            </a:r>
          </a:p>
          <a:p>
            <a:r>
              <a:t>CNPJ 54871427000194 · Administração: taxa, base e mínimo · Regulamento · ID 670691 · 28/04/2024 · versão Regulamento — referência 28/04/2024 · p. 25 · Anexo I, 13.1 · https://fnet.bmfbovespa.com.br/fnet/publico/visualizarDocumento?id=670691</a:t>
            </a:r>
          </a:p>
          <a:p>
            <a:r>
              <a:t>CNPJ 54871427000194 · Administração: taxa, base e mínimo · Excerto da fonte:</a:t>
            </a:r>
          </a:p>
          <a:p>
            <a:r>
              <a:t>13.1 Pelos serviços de administração, tesouraria, controladoria e escrituração, a Classe pagará a Taxa de Administração nos seguintes moldes: o valor correspondente a 0,10% (dez centésimos por cento) ao ano aplicado sobre o Patrimônio Líquido, observado o valor mínimo de R$ 10.000,00 (dez mil reais) mensais atualizado pela variação positiva do IGP-M a cada período de 12 (doze) meses, contados a partir do mês em que ocorrer a primeira integralização de Cotas (inclusive). 13.1.1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BTG Pactual SAC: 0800 772 28 27 - Ouvidoria: 0800 722 00 48 - btgpactual.com 19</a:t>
            </a:r>
          </a:p>
          <a:p>
            <a:r>
              <a:t>CNPJ 54871427000194 · Administração: taxa, base e mínimo · Regulamento · ID 670691 · 28/04/2024 · versão Regulamento — referência 28/04/2024 · p. 26 · Anexo I, 13.1.2–13.1.3 · https://fnet.bmfbovespa.com.br/fnet/publico/visualizarDocumento?id=670691</a:t>
            </a:r>
          </a:p>
          <a:p>
            <a:r>
              <a:t>CNPJ 54871427000194 · Administração: taxa, base e mínimo · Excerto da fonte:</a:t>
            </a:r>
          </a:p>
          <a:p>
            <a:r>
              <a:t>13.1.2 A Taxa de Administração será calculada e provisionada todo Dia Útil à razão de 1/252 (um inteiro e duzentos e cinquenta e dois avos) com base no valor do Patrimônio Líquido do Dia Útil anterior. 13.1.3 A Taxa de Administração será paga mensalmente ao ADMINISTRADOR, observado o disposto no item 13.2 abaixo, por período vencido, até o 5º (quinto) Dia Útil do mês subsequente à prestação dos serviços, a partir do mês em que ocorrer a primeira integralização de Cotas da Classe. 13.2 O ADMINISTRADOR poderá estabelecer que parcelas da Taxa de Administração sejam pagas diretamente pela Classe aos prestadores de serviços contratados, desde que o somatório dessas parcelas não exceda o montante total da Taxa de Administração. 13.3 Não serão cobradas da Classe ou dos Cotistas taxas de perf ormance, de ingresso ou de saída. Taxa de Gestão 13.4 Pelos serviços de gestão, a Classe pagará a Taxa de Gestão nos seguintes moldes: o valor correspondente a 0,20% (vinte centésimos por cento) ao ano aplicado sobre o Patrimônio Líquido, observado o valor mínimo de R$ 15.000,00 (quinze mil reais) mensais atualizado pela variação positiva do IGP-M a cada período de 12 (</a:t>
            </a:r>
          </a:p>
          <a:p>
            <a:r>
              <a:t>CNPJ 54871427000194 · Administração: taxa, base e mínimo · Versão e prevalência: Leitura específica das cláusulas indicadas; condições e conflitos preservados. Seleção documental atual não comprova vigência jurídica por data isolada.</a:t>
            </a:r>
          </a:p>
          <a:p>
            <a:r>
              <a:t>CNPJ 54871427000194 · Administração: taxa, base e mínimo · Resumo do histórico: {"count": 2, "dates": ["2024-04-19", "2024-04-28"], "document_count": 2, "sources": [{"document_id": "670691", "title": "Regulamento", "reference_date": "2024-04-28", "version": "1", "page": "25-26", "url": "https://fnet.bmfbovespa.com.br/fnet/publico/visualizarDocumento?id=670691", "sha256": "bf16dd7f1a62d5cdbf2e2d54fef81783783f7310fbc99c3a8f00459bdf9d037b"}, {"document_id": "670689", "title": "Regulamento", "reference_date": "2024-04-19", "version": "1", "page": 26, "clause": "13.1", "url": "https://fnet.bmfbovespa.com.br/fnet/publico/visualizarDocumento?id=670689", "sha256": "891bc9bc5d87bbc02ec139077a84d2702eb81ea02035fb71d24f5b8366b94a0b"}], "reference": {"path": "history/54871427000194.json", "criterion_id": "admin_fee", "total_count": 2, "preview_count": 2, "full_text_deferred": true, "sha256": "35d7cd99be50c7287c9fb675cf4f2e736002315295a225a9efa79c8d9186d874"}}</a:t>
            </a:r>
          </a:p>
          <a:p>
            <a:r>
              <a:t>CNPJ 60010416000112 · Administração: taxa, base e mínimo · Regulamento · ID 1051393 · 09/10/2025 · versão Regulamento09/10/2025 · p. 29 · AnexoI12.1–12.1.2 · https://fnet.bmfbovespa.com.br/fnet/publico/visualizarDocumento?id=1051393</a:t>
            </a:r>
          </a:p>
          <a:p>
            <a:r>
              <a:t>CNPJ 60010416000112 · Administração: taxa, base e mínimo · Excerto da fonte:</a:t>
            </a:r>
          </a:p>
          <a:p>
            <a:r>
              <a:t>12.1 Pelos serviços de administração, escrituração, controladoria de ativos e passivo, e gestão de carteira, o Administrador fará jus a uma Taxa de Administração equivalente a 0,40% (quarenta centésimos por cento) por ano sobre o Patrimônio Líquido da Classe, a ser pago mensalmente, por período vencido da data em que ocorrer a primeira integralização de Cotas da Classe A, até o 5º (quinto) Dia Útil do mês subsequente ao da prestação do serviço, assegurado um valor mínimo mensal de R$ 20.000,00 (vinte mil reais), sendo este valor atualizado pela variação positiva do IPCA sempre em janeiro de cada ano,</a:t>
            </a:r>
          </a:p>
          <a:p>
            <a:r>
              <a:t>CNPJ 60010416000112 · Administração: taxa, base e mínimo · Versão e prevalência: Leitura específica das cláusulas indicadas; condições e conflitos preservados. Seleção documental atual não comprova vigência jurídica por data isolada.</a:t>
            </a:r>
          </a:p>
          <a:p>
            <a:r>
              <a:t>CNPJ 60010416000112 · Administração: taxa, base e mínimo · Resumo do histórico: {"count": 2, "dates": ["2025-03-20", "2025-10-09"], "document_count": 2, "sources": [{"document_id": "1051393", "title": "Regulamento", "reference_date": "2025-10-09", "version": "1", "page": "29", "url": "https://fnet.bmfbovespa.com.br/fnet/publico/visualizarDocumento?id=1051393", "sha256": "8469d613078ffd5a6c1d217885d8a397a16342c0b937ae4aa24b106505f233ae"}, {"document_id": "993786", "title": "Regulamento", "reference_date": "2025-03-20", "version": "1", "page": 29, "clause": "12.1", "url": "https://fnet.bmfbovespa.com.br/fnet/publico/visualizarDocumento?id=993786", "sha256": "fd0fdd369a195510d81f81f505195a0b09e5f43522a990afa7d58c4f872921c8"}], "reference": {"path": "history/60010416000112.json", "criterion_id": "admin_fee", "total_count": 2, "preview_count": 2, "full_text_deferred": true, "sha256": "8e2bd813f4c51cf01f6bfaad164bafe69d2bbb192f753eac92da3a01c2e63046"}}</a:t>
            </a:r>
          </a:p>
          <a:p>
            <a:r>
              <a:t>CNPJ 62696791000193 · Administração: taxa, base e mínimo · Regulamento · ID 1143317 · 20/03/2026 · versão Regulamento — referência 20/03/2026 · p. 28 · Anexo I, 13.1, Taxa de Administração · https://fnet.bmfbovespa.com.br/fnet/publico/visualizarDocumento?id=1143317</a:t>
            </a:r>
          </a:p>
          <a:p>
            <a:r>
              <a:t>CNPJ 62696791000193 · Administração: taxa, base e mínimo · Excerto da fonte:</a:t>
            </a:r>
          </a:p>
          <a:p>
            <a:r>
              <a:t>Taxa de Administração 0,10% (um décimo por cento) ao ano com um mínimo mensal de R$ 10.000,00 (dez mil reais), pagos mensalmente até o 5º (quinto) Dia Útil do mês subsequente ao mês que se ref ere, a ser corrigida anualmente, em janeiro de cada ano, pela variação positiva do Índice Geral de Preços – Mercado, divulgado pela Fundação Getúlio Vargas (“Taxa de Administração” e “IGP-M”, respectivamente).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T</a:t>
            </a:r>
          </a:p>
          <a:p>
            <a:r>
              <a:t>CNPJ 62696791000193 · Administração: taxa, base e mínimo · Condição: A linha da tabela não explicita novamente a base de PL para administração; conservar essa limitação em vez de completar a frase por analogia.</a:t>
            </a:r>
          </a:p>
          <a:p>
            <a:r>
              <a:t>CNPJ 62696791000193 · Administração: taxa, base e mínimo · Motivo: Não localizada uma cláusula material para este critério nos textos identificados e processados. A ausência de resultado não comprova inexistência da regra.</a:t>
            </a:r>
          </a:p>
          <a:p>
            <a:r>
              <a:t>CNPJ 62696791000193 · Administração: taxa, base e mínimo · Versão e prevalência: Leitura específica das cláusulas indicadas; condições e conflitos preservados. Seleção documental atual não comprova vigência jurídica por data isolada.</a:t>
            </a:r>
          </a:p>
          <a:p>
            <a:r>
              <a:t>CNPJ 55563624000109 · Administração: taxa, base e mínimo · Regulamento · ID 1192614 · 30/04/2026 · versão Regulamento30/04/2026 · p. 28 · AnexoI13.1–13.2 · https://fnet.bmfbovespa.com.br/fnet/publico/visualizarDocumento?id=1192614</a:t>
            </a:r>
          </a:p>
          <a:p>
            <a:r>
              <a:t>CNPJ 55563624000109 · Administração: taxa, base e mínimo · Excerto da fonte:</a:t>
            </a:r>
          </a:p>
          <a:p>
            <a:r>
              <a:t>13.1 Sem prejuízo da Taxa Máxima de Administração, pelos serviços de administração do FUNDO e da Classe, tesouraria, controle e processamento dos ativos integrantes da Carteira, a Classe pagará, no mínimo, ao ADMINISTRADOR a Taxa Mínima de Administração nos seguintes moldes: o valor correspondente a R$ 10.000,00 (dez mil reais) mensais, atualizado pela variação positiva do IGP-M, no mês de janeiro de cada ano (“Taxa Mínima de Administração”). 13.1.1 Na hipótese de extinção do IGP-M, não divulgação ou impossibilidade de sua utilização, será utilizado o</a:t>
            </a:r>
          </a:p>
          <a:p>
            <a:r>
              <a:t>CNPJ 55563624000109 · Administração: taxa, base e mínimo · Condição: A base do adicional é PL do Mercado Crédito II; não é teto 0, 10% sobre PLGN e não substitui mínimo R$ 10 mil.</a:t>
            </a:r>
          </a:p>
          <a:p>
            <a:r>
              <a:t>CNPJ 55563624000109 · Administração: taxa, base e mínimo · Versão e prevalência: Leitura específica das cláusulas indicadas; condições e conflitos preservados. Seleção documental atual não comprova vigência jurídica por data isolada.</a:t>
            </a:r>
          </a:p>
          <a:p>
            <a:r>
              <a:t>CNPJ 55563624000109 · Administração: taxa, base e mínimo · Resumo do histórico: {"count": 3, "dates": ["2025-01-31", "2026-01-31", "2026-04-30"], "document_count": 3, "sources": [{"document_id": "1192614", "title": "Regulamento", "reference_date": "2026-04-30", "version": "1", "page": "28", "clause": "13.2", "url": "https://fnet.bmfbovespa.com.br/fnet/publico/visualizarDocumento?id=1192614", "sha256": "f56e63ace0acde41d2f47fb48f1ac7f3f7df5e2d32de092d7c5e075a52516632"}, {"document_id": "1178840", "title": "Demonstrações Financeiras", "reference_date": "2026-01-31", "version": "1", "page": 29, "url": "https://fnet.bmfbovespa.com.br/fnet/publico/visualizarDocumento?id=1178840", "sha256": "c458e98664c5c907ddb5a05a94b120bed4e05295b2bfc420f5ba69af0a229abe"}, {"document_id": "891861", "title": "Demonstrações Financeiras", "reference_date": "2025-01-31", "version": "1", "page": 30, "url": "https://fnet.bmfbovespa.com.br/fnet/publico/visualizarDocumento?id=891861", "sha256": "e9cb9e6ddbe505fe068cfcac33605165a98313489de0d3ce6d4d238263c3f3e7"}], "reference": {"path": "history/55563624000109.json", "criterion_id": "admin_fee", "total_count": 3, "preview_count": 3, "full_text_deferred": true, "sha256": "7835d573fb58a3c19adf5b8ecc2aee2bdbb9a88f7a0c0209b5f262b64c7522e3"}}</a:t>
            </a:r>
          </a:p>
          <a:p>
            <a:r>
              <a:t>CNPJ 62552447000120 · Administração: taxa, base e mínimo · Regulamento · ID 1200623 · 21/05/2026 · versão Consolidado21/05/2026 aprovado pelo ato1200625 · p. 30 · AnexoI13.1 TaxaGlobal · https://fnet.bmfbovespa.com.br/fnet/publico/visualizarDocumento?id=1200623</a:t>
            </a:r>
          </a:p>
          <a:p>
            <a:r>
              <a:t>CNPJ 62552447000120 · Administração: taxa, base e mínimo · Excerto da fonte:</a:t>
            </a:r>
          </a:p>
          <a:p>
            <a:r>
              <a:t>Taxa Global Pelos serviços de administração, gestão, custódia, tesouraria, controladoria, escrituração, a Classe pagará um valor equivalente a um percentual incidente sobre o Patrimônio Líquido da Classe, conf orme a f aixa de Patrimônio Líquido da Classe prevista na tabela abaixo, apropriada diariamente e paga mensalmente até o 5º (quinto) Dia Útil do mês subsequente ao mês que se ref ere, com</a:t>
            </a:r>
          </a:p>
          <a:p>
            <a:r>
              <a:t>CNPJ 62552447000120 · Administração: taxa, base e mínimo · Condição: Global remunera administração, gestão, custódia, tesouraria, controladoria e escrituração; percentual segregado não presumido.</a:t>
            </a:r>
          </a:p>
          <a:p>
            <a:r>
              <a:t>CNPJ 62552447000120 · Administração: taxa, base e mínimo · Motivo: Não localizada uma cláusula material para este critério nos textos identificados e processados. A ausência de resultado não comprova inexistência da regra.</a:t>
            </a:r>
          </a:p>
          <a:p>
            <a:r>
              <a:t>CNPJ 62552447000120 · Administração: taxa, base e mínimo · Versão e prevalência: Leitura específica das cláusulas indicadas; condições e conflitos preservados. Seleção documental atual não comprova vigência jurídica por data isolada.</a:t>
            </a:r>
          </a:p>
          <a:p>
            <a:r>
              <a:t>CNPJ 63953620000165 · Administração: taxa, base e mínimo · Anexo ao Regulamento · ID 1222863 · 02/06/2026 · versão AnexoConsignadoPrivado02/06/2026 · p. 19 · Capítulo13TaxadeAdministração · https://fnet.bmfbovespa.com.br/fnet/publico/visualizarDocumento?id=1222863</a:t>
            </a:r>
          </a:p>
          <a:p>
            <a:r>
              <a:t>CNPJ 63953620000165 · Administração: taxa, base e mínimo · Excerto da fonte:</a:t>
            </a:r>
          </a:p>
          <a:p>
            <a:r>
              <a:t>Taxa de Administração positiva do Índice Geral de Preços – Mercado, divulgado pela Fundação Getúlio Vargas (“Taxa de Administração” e “IGP-M”, respectivamente). Na hipótese de extinção do IGP-M, não divulgação ou impossibilidade de sua utilização, será utilizado o Índice Geral de Preços – Disponibilidade Interna, divulgado pela Fundação Getúlio Vargas, ou, na falta de ambos, pela variação do IPC – Índice de Preços ao Consumidor, divulgado pela</a:t>
            </a:r>
          </a:p>
          <a:p>
            <a:r>
              <a:t>CNPJ 63953620000165 · Administração: taxa, base e mínimo · Condição: Base é a parcela MT específica, não necessariamente todo o PL da classe.</a:t>
            </a:r>
          </a:p>
          <a:p>
            <a:r>
              <a:t>CNPJ 63953620000165 · Administração: taxa, base e mínimo · Versão e prevalência: Leitura específica das cláusulas indicadas; condições e conflitos preservados. Seleção documental atual não comprova vigência jurídica por data isolada.</a:t>
            </a:r>
          </a:p>
          <a:p>
            <a:r>
              <a:t>CNPJ 63953620000165 · Administração: taxa, base e mínimo · Resumo do histórico: {"count": 8, "dates": ["2026-04-28", "2026-05-08", "2026-05-15"], "document_count": 3, "sources": [{"document_id": "1327859", "title": "Demonstrações Financeiras - Fusão, cisão e incorporação", "reference_date": "2026-05-15", "version": "1", "page": 28, "url": "https://fnet.bmfbovespa.com.br/fnet/publico/visualizarDocumento?id=1327859", "sha256": "dca1c68babb97f887528c3e2e47596a9c30f507b067981a35655b2f2da9c8054"}, {"document_id": "1298691", "title": "Demonstrações Financeiras - Fusão, cisão e incorporação", "reference_date": "2026-05-08", "version": "1", "page": 28, "url": "https://fnet.bmfbovespa.com.br/fnet/publico/visualizarDocumento?id=1298691", "sha256": "58c570d9b8d4d265330d3db3ea81c435b8e44a6dab4002aa37790652a1ee9819"}, {"document_id": "1282180", "title": "Demonstrações Financeiras - Fusão, cisão e incorporação", "reference_date": "2026-04-28", "version": "1", "page": 29, "url": "https://fnet.bmfbovespa.com.br/fnet/publico/visualizarDocumento?id=1282180", "sha256": "afaaa0e6809be4385e5bdb6c911aac582032c5bdbac3d7750234bf9eaf00438a"}], "reference": {"path": "history/63953620000165.json", "criterion_id": "admin_fee", "total_count": 8, "preview_count": 3, "full_text_deferred": true, "sha256": "a7b89077f5e21098c2d601c303faabc3ff6b9729f89d8afecdc60fe1404720c1"}}</a:t>
            </a:r>
          </a:p>
          <a:p>
            <a:r>
              <a:t>CNPJ 54871427000194 · Gestão: taxa, base e mínimo · Regulamento · ID 670691 · 28/04/2024 · versão Regulamento — referência 28/04/2024 · p. 26 · Anexo I, 13.4–13.4.3 · https://fnet.bmfbovespa.com.br/fnet/publico/visualizarDocumento?id=670691</a:t>
            </a:r>
          </a:p>
          <a:p>
            <a:r>
              <a:t>CNPJ 54871427000194 · Gestão: taxa, base e mínimo · Excerto da fonte:</a:t>
            </a:r>
          </a:p>
          <a:p>
            <a:r>
              <a:t>13.4 Pelos serviços de gestão, a Classe pagará a Taxa de Gestão nos seguintes moldes: o valor correspondente a 0,20% (vinte centésimos por cento) ao ano aplicado sobre o Patrimônio Líquido, observado o valor mínimo de R$ 15.000,00 (quinze mil reais) mensais atualizado pela variação positiva do IGP-M a cada período de 12 (doze) meses, contados a partir do mês em que ocorrer a primeira integralização de Cotas (inclusive). 13.4.1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13.4.2 A Taxa de Gestão será calculada e provisionada todo Dia Útil à razão de 1/252 (um inteiro e duzentos e cinquenta e dois avos) com base no valor do Patrimônio Líquido do Dia Útil anterior. 13.4.3 A Taxa de Gestão será paga mensalmente ao GESTOR, observado o disposto no item 13.5 abaixo, por período vencido, até o 5º (quinto) Dia Útil do mês subsequente à prestação dos ser</a:t>
            </a:r>
          </a:p>
          <a:p>
            <a:r>
              <a:t>CNPJ 54871427000194 · Gestão: taxa, base e mínimo · Versão e prevalência: Leitura específica das cláusulas indicadas; condições e conflitos preservados. Seleção documental atual não comprova vigência jurídica por data isolada.</a:t>
            </a:r>
          </a:p>
          <a:p>
            <a:r>
              <a:t>CNPJ 54871427000194 · Gestão: taxa, base e mínimo · Resumo do histórico: {"count": 2, "dates": ["2024-04-19", "2024-04-28"], "document_count": 2, "sources": [{"document_id": "670691", "title": "Regulamento", "reference_date": "2024-04-28", "version": "1", "page": "26", "url": "https://fnet.bmfbovespa.com.br/fnet/publico/visualizarDocumento?id=670691", "sha256": "bf16dd7f1a62d5cdbf2e2d54fef81783783f7310fbc99c3a8f00459bdf9d037b"}, {"document_id": "670689", "title": "Regulamento", "reference_date": "2024-04-19", "version": "1", "page": 27, "clause": "13.3", "url": "https://fnet.bmfbovespa.com.br/fnet/publico/visualizarDocumento?id=670689", "sha256": "891bc9bc5d87bbc02ec139077a84d2702eb81ea02035fb71d24f5b8366b94a0b"}], "reference": {"path": "history/54871427000194.json", "criterion_id": "management_fee", "total_count": 2, "preview_count": 2, "full_text_deferred": true, "sha256": "35d7cd99be50c7287c9fb675cf4f2e736002315295a225a9efa79c8d9186d874"}}</a:t>
            </a:r>
          </a:p>
          <a:p>
            <a:r>
              <a:t>CNPJ 60010416000112 · Gestão: taxa, base e mínimo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Gestão: taxa, base e mínimo · Resumo do histórico: {"count": 1, "dates": ["2025-10-09"], "document_count": 1, "sources": [{"document_id": "1051393", "title": "Regulamento", "reference_date": "2025-10-09", "version": "1", "page": "29, 46", "url": "https://fnet.bmfbovespa.com.br/fnet/publico/visualizarDocumento?id=1051393", "sha256": "8469d613078ffd5a6c1d217885d8a397a16342c0b937ae4aa24b106505f233ae"}], "reference": {"path": "history/60010416000112.json", "criterion_id": "management_fee", "total_count": 1, "preview_count": 1, "full_text_deferred": true, "sha256": "8e2bd813f4c51cf01f6bfaad164bafe69d2bbb192f753eac92da3a01c2e63046"}}</a:t>
            </a:r>
          </a:p>
          <a:p>
            <a:r>
              <a:t>CNPJ 62696791000193 · Gestão: taxa, base e mínimo · Regulamento · ID 1143317 · 20/03/2026 · versão Regulamento — referência 20/03/2026 · p. 28 · Anexo I, 13.1, Taxa de Gestão · https://fnet.bmfbovespa.com.br/fnet/publico/visualizarDocumento?id=1143317</a:t>
            </a:r>
          </a:p>
          <a:p>
            <a:r>
              <a:t>CNPJ 62696791000193 · Gestão: taxa, base e mínimo · Excerto da fonte:</a:t>
            </a:r>
          </a:p>
          <a:p>
            <a:r>
              <a:t>Taxa de Gestão 0% (zero por cento) ao ano apropriada diariamente na base de 252 (duzentos e cinquenta e dois) Dias Úteis, e paga mensalmente, até o 5º (quinto) Dia Útil do mês subsequente ao mês que se ref ere, incidente sobre o Patrimônio Líquido da Classe (“Taxa de Gestão”). Taxa Máxima de Custódia 0,00% (zero por cento) ao ano, incidente sobre o Patrimônio Líquido da Classe (“Taxa Máxima de Custódia”). Taxa de Performance Não será devido pela Classe o pagamento de Taxa de Perf ormance. 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a:t>
            </a:r>
          </a:p>
          <a:p>
            <a:r>
              <a:t>CNPJ 62696791000193 · Gestão: taxa, base e mínimo · Motivo: Não localizada uma cláusula material para este critério nos textos identificados e processados. A ausência de resultado não comprova inexistência da regra.</a:t>
            </a:r>
          </a:p>
          <a:p>
            <a:r>
              <a:t>CNPJ 62696791000193 · Gestão: taxa, base e mínimo · Versão e prevalência: Leitura específica das cláusulas indicadas; condições e conflitos preservados. Seleção documental atual não comprova vigência jurídica por data isolada.</a:t>
            </a:r>
          </a:p>
          <a:p>
            <a:r>
              <a:t>CNPJ 55563624000109 · Gestão: taxa, base e mínimo · Regulamento · ID 1192614 · 30/04/2026 · versão Regulamento30/04/2026 · p. 29 · AnexoI13.4–13.7.1 · https://fnet.bmfbovespa.com.br/fnet/publico/visualizarDocumento?id=1192614</a:t>
            </a:r>
          </a:p>
          <a:p>
            <a:r>
              <a:t>CNPJ 55563624000109 · Gestão: taxa, base e mínimo · Excerto da fonte:</a:t>
            </a:r>
          </a:p>
          <a:p>
            <a:r>
              <a:t>13.4 Sem prejuízo da Taxa Máxima de Gestão, pelos serviços de gestão, a Classe pagará ao GESTOR: (i) a taxa de gestão ordinária correspondente a 0,50% (cinquenta centésimos por cento) ao ano, incidente sobre o Patrimônio Líquido da Classe, observado o montante mínimo de R$ 40.000,00 (quarenta mil reais) ao mês, corrigido anualmente pela variação positiva do Índice de Preços ao Consumidor Amplo, divulgado pelo Instituto Brasileiro de Geografia e Estatística – IBGE (“Taxa de Gestão”); e (ii) a taxa de gestão extraordinária apurada e paga no momento de cada</a:t>
            </a:r>
          </a:p>
          <a:p>
            <a:r>
              <a:t>CNPJ 55563624000109 · Gestão: taxa, base e mínimo · Condição: Adicional é por integralização, não taxa anual.</a:t>
            </a:r>
          </a:p>
          <a:p>
            <a:r>
              <a:t>CNPJ 55563624000109 · Gestão: taxa, base e mínimo · Versão e prevalência: Leitura específica das cláusulas indicadas; condições e conflitos preservados. Seleção documental atual não comprova vigência jurídica por data isolada.</a:t>
            </a:r>
          </a:p>
          <a:p>
            <a:r>
              <a:t>CNPJ 55563624000109 · Gestão: taxa, base e mínimo · Resumo do histórico: {"count": 3, "dates": ["2025-01-31", "2026-01-31", "2026-04-30"], "document_count": 3, "sources": [{"document_id": "1192614", "title": "Regulamento", "reference_date": "2026-04-30", "version": "1", "page": "29", "url": "https://fnet.bmfbovespa.com.br/fnet/publico/visualizarDocumento?id=1192614", "sha256": "f56e63ace0acde41d2f47fb48f1ac7f3f7df5e2d32de092d7c5e075a52516632"}, {"document_id": "1178840", "title": "Demonstrações Financeiras", "reference_date": "2026-01-31", "version": "1", "page": 29, "url": "https://fnet.bmfbovespa.com.br/fnet/publico/visualizarDocumento?id=1178840", "sha256": "c458e98664c5c907ddb5a05a94b120bed4e05295b2bfc420f5ba69af0a229abe"}, {"document_id": "891861", "title": "Demonstrações Financeiras", "reference_date": "2025-01-31", "version": "1", "page": 30, "url": "https://fnet.bmfbovespa.com.br/fnet/publico/visualizarDocumento?id=891861", "sha256": "e9cb9e6ddbe505fe068cfcac33605165a98313489de0d3ce6d4d238263c3f3e7"}], "reference": {"path": "history/55563624000109.json", "criterion_id": "management_fee", "total_count": 3, "preview_count": 3, "full_text_deferred": true, "sha256": "7835d573fb58a3c19adf5b8ecc2aee2bdbb9a88f7a0c0209b5f262b64c7522e3"}}</a:t>
            </a:r>
          </a:p>
          <a:p>
            <a:r>
              <a:t>CNPJ 62552447000120 · Gestão: taxa, base e mínimo · Motivo: Não localizada uma cláusula material para este critério nos textos identificados e processados. A ausência de resultado não comprova inexistência da regra.</a:t>
            </a:r>
          </a:p>
          <a:p>
            <a:r>
              <a:t>CNPJ 63953620000165 · Gestão: taxa, base e mínimo · Anexo ao Regulamento · ID 1222863 · 02/06/2026 · versão AnexoConsignadoPrivado02/06/2026 · p. 20 · Capítulo13TaxadeGestão · https://fnet.bmfbovespa.com.br/fnet/publico/visualizarDocumento?id=1222863</a:t>
            </a:r>
          </a:p>
          <a:p>
            <a:r>
              <a:t>CNPJ 63953620000165 · Gestão: taxa, base e mínimo · Excerto da fonte:</a:t>
            </a:r>
          </a:p>
          <a:p>
            <a:r>
              <a:t>0,05% (cinco centésimos por cento) ao ano, apropriada diariamente na base de 252 (duzentos e cinquenta e dois) Dias Úteis, e paga mensalmente, até o 5º (quinto) Dia Útil do mês subsequente ao mês que se refere, incidente sobre o Patrimônio Líquido da Classe alocado em Direitos Creditórios Consignado Privado e/ou Ativos de Liquidez MT, observada remuneração mínima mensal de R$ 2.500,00 (dois mil e quinhentos reais), a ser corrigida anualmente, em janeiro de cada ano, pela variação</a:t>
            </a:r>
          </a:p>
          <a:p>
            <a:r>
              <a:t>CNPJ 63953620000165 · Gestão: taxa, base e mínimo · Versão e prevalência: Leitura específica das cláusulas indicadas; condições e conflitos preservados. Seleção documental atual não comprova vigência jurídica por data isolada.</a:t>
            </a:r>
          </a:p>
          <a:p>
            <a:r>
              <a:t>CNPJ 63953620000165 · Gestão: taxa, base e mínimo · Resumo do histórico: {"count": 8, "dates": ["2026-04-28", "2026-05-08", "2026-05-15"], "document_count": 3, "sources": [{"document_id": "1327859", "title": "Demonstrações Financeiras - Fusão, cisão e incorporação", "reference_date": "2026-05-15", "version": "1", "page": 28, "url": "https://fnet.bmfbovespa.com.br/fnet/publico/visualizarDocumento?id=1327859", "sha256": "dca1c68babb97f887528c3e2e47596a9c30f507b067981a35655b2f2da9c8054"}, {"document_id": "1298691", "title": "Demonstrações Financeiras - Fusão, cisão e incorporação", "reference_date": "2026-05-08", "version": "1", "page": 28, "url": "https://fnet.bmfbovespa.com.br/fnet/publico/visualizarDocumento?id=1298691", "sha256": "58c570d9b8d4d265330d3db3ea81c435b8e44a6dab4002aa37790652a1ee9819"}, {"document_id": "1282180", "title": "Demonstrações Financeiras - Fusão, cisão e incorporação", "reference_date": "2026-04-28", "version": "1", "page": 29, "url": "https://fnet.bmfbovespa.com.br/fnet/publico/visualizarDocumento?id=1282180", "sha256": "afaaa0e6809be4385e5bdb6c911aac582032c5bdbac3d7750234bf9eaf00438a"}], "reference": {"path": "history/63953620000165.json", "criterion_id": "management_fee", "total_count": 8, "preview_count": 3, "full_text_deferred": true, "sha256": "a7b89077f5e21098c2d601c303faabc3ff6b9729f89d8afecdc60fe1404720c1"}}</a:t>
            </a:r>
          </a:p>
          <a:p>
            <a:r>
              <a:t>CNPJ 54871427000194 · Performance: benchmark e apuração · Regulamento · ID 670691 · 28/04/2024 · versão Regulamento — referência 28/04/2024 · p. 26 · Anexo I, 13.3 · https://fnet.bmfbovespa.com.br/fnet/publico/visualizarDocumento?id=670691</a:t>
            </a:r>
          </a:p>
          <a:p>
            <a:r>
              <a:t>CNPJ 54871427000194 · Performance: benchmark e apuração · Excerto da fonte:</a:t>
            </a:r>
          </a:p>
          <a:p>
            <a:r>
              <a:t>13.3 Não serão cobradas da Classe ou dos Cotistas taxas de perf ormance, de ingresso ou de saída. Taxa de Gestão 13.4 Pelos serviços de gestão, a Classe pagará a Taxa de Gestão nos seguintes moldes: o valor correspondente a 0,20% (vinte centésimos por cento) ao ano aplicado sobre o Patrimônio Líquido, observado o valor mínimo de R$ 15.000,00 (quinze mil reais) mensais atualizado pela variação positiva do IGP-M a cada período de 12 (doze) meses, contados a partir do mês em que ocorrer a primeira integralização de Cotas (inclusive). 13.4.1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13.4.2 A Taxa de Gestão será calculada e provisionada todo Dia Útil à razão de 1/252 (um inteiro e duzentos e cinquenta e dois avos) com base no valor do Patrimônio Líquido do Dia Útil anterior. 13.4.3 A Taxa de Gestão será paga mensalmente ao GESTOR, observado o disposto no item 13.5</a:t>
            </a:r>
          </a:p>
          <a:p>
            <a:r>
              <a:t>CNPJ 54871427000194 · Performance: benchmark e apuração · Motivo: Não localizada uma cláusula material para este critério nos textos identificados e processados. A ausência de resultado não comprova inexistência da regra.</a:t>
            </a:r>
          </a:p>
          <a:p>
            <a:r>
              <a:t>CNPJ 54871427000194 · Performance: benchmark e apuração · Versão e prevalência: Leitura específica das cláusulas indicadas; condições e conflitos preservados. Seleção documental atual não comprova vigência jurídica por data isolada.</a:t>
            </a:r>
          </a:p>
          <a:p>
            <a:r>
              <a:t>CNPJ 60010416000112 · Performance: benchmark e apuração · Regulamento · ID 1051393 · 09/10/2025 · versão Regulamento09/10/2025 · p. 29 · AnexoI12.2 · https://fnet.bmfbovespa.com.br/fnet/publico/visualizarDocumento?id=1051393</a:t>
            </a:r>
          </a:p>
          <a:p>
            <a:r>
              <a:t>CNPJ 60010416000112 · Performance: benchmark e apuração · Excerto da fonte:</a:t>
            </a:r>
          </a:p>
          <a:p>
            <a:r>
              <a:t>12.2 Não serão cobradas da Classe ou dos Cotistas taxas de perf ormance, de ingresso ou de saída. Taxa Máxima de Custódia 12.3 Pelos serviços de custódia qualificada dos Direitos Creditórios e dos Ativos Financeiros de Liquidez não será devida nenhuma remuneração ao Custodiante, de modo que taxa máxima de custódia a ser paga pela Classe ao Custodiante corresponde a 0% (zero por cento) ao ano. Remuneração do Agente de Retenção/Cobrança 12.4 Para a prestação de serviços à Classe, o Agente de Retenção/Cobrança f ará jus a uma remuneração a ser auf erida todo Dia Útil e paga mensalmente, a título de Encargo da Cla</a:t>
            </a:r>
          </a:p>
          <a:p>
            <a:r>
              <a:t>CNPJ 60010416000112 · Performance: benchmark e apuração · Motivo: Não localizada uma cláusula material para este critério nos textos identificados e processados. A ausência de resultado não comprova inexistência da regra.</a:t>
            </a:r>
          </a:p>
          <a:p>
            <a:r>
              <a:t>CNPJ 60010416000112 · Performance: benchmark e apuração · Versão e prevalência: Leitura específica das cláusulas indicadas; condições e conflitos preservados. Seleção documental atual não comprova vigência jurídica por data isolada.</a:t>
            </a:r>
          </a:p>
          <a:p>
            <a:r>
              <a:t>CNPJ 62696791000193 · Performance: benchmark e apuração · Regulamento · ID 1143317 · 20/03/2026 · versão Regulamento — referência 20/03/2026 · p. 28 · Anexo I, 13.1, Taxa de Performance · https://fnet.bmfbovespa.com.br/fnet/publico/visualizarDocumento?id=1143317</a:t>
            </a:r>
          </a:p>
          <a:p>
            <a:r>
              <a:t>CNPJ 62696791000193 · Performance: benchmark e apuração · Excerto da fonte:</a:t>
            </a:r>
          </a:p>
          <a:p>
            <a:r>
              <a:t>Taxa de Performance Não será devido pela Classe o pagamento de Taxa de Perf ormance. 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equivalente a 0,9% (nove décimos por cento) ao ano aplicado sobre o Patrimônio Anexo I ao Regulamento Líquido, observado o limite máximo de 4,5% (quatro inteiros e cinquenta centésimos por cento) do volume captado na respectiva oferta (“Taxa Máxima de Distribuição”).A Taxa Máxima de BTG Pactual SAC: 0800 772 2827 | Ouvidoria: 0800 722 0048 | btgpactual.co m 23</a:t>
            </a:r>
          </a:p>
          <a:p>
            <a:r>
              <a:t>CNPJ 62696791000193 · Performance: benchmark e apuração · Regulamento · ID 1143317 · 20/03/2026 · versão Regulamento — referência 20/03/2026 · p. 29 · Anexo I, 13.1, Taxa de Ingresso · https://fnet.bmfbovespa.com.br/fnet/publico/visualizarDocumento?id=1143317</a:t>
            </a:r>
          </a:p>
          <a:p>
            <a:r>
              <a:t>CNPJ 62696791000193 · Performance: benchmark e apuração · Excerto da fonte:</a:t>
            </a:r>
          </a:p>
          <a:p>
            <a:r>
              <a:t>Taxa de Ingresso Não será cobrada dos Cotistas Taxa de Ingresso. 14 TRIBUTAÇÃO 14.1 O disposto neste Capítulo f oi elaborado com base na legislação e regulamentação em vigor produzindo ef eitos, tem por objetivo descrever de f orma sumária o tratamento tributário aplicável em regra aos cotistas, ao Fundo e à Classe, não se aplicando aos cotistas sujeitos a regras de tributação específicas, na f orma da legislação e regulamentação em vigor. 14.2 Há exceções (inclusive relativas à natureza ou ao domicílio do investidor para fins fiscais) em relação ao tratamento tributário descrito abaixo e tributos adicionais que podem ser aplicados, motivo pelo qual os cotistas devem consultar seus assessores jurídicos com relação à tributação aplicável nos investimentos realizados na Classe. Tributação da Classe / Operações da carteira: Como regra geral, os rendimentos auferidos pela carteira da Classe não estão sujeitos à incidência do imposto de renda, exceto ganhos auferidos em aplicações financeiras de renda fixa ou variável, que se sujeitam à incidência do Imposto de Renda Retido na Fonte (“IRF”) de acordo com as mesmas regras de tributação aplic</a:t>
            </a:r>
          </a:p>
          <a:p>
            <a:r>
              <a:t>CNPJ 62696791000193 · Performance: benchmark e apuração · Motivo: Não localizada uma cláusula material para este critério nos textos identificados e processados. A ausência de resultado não comprova inexistência da regra.</a:t>
            </a:r>
          </a:p>
          <a:p>
            <a:r>
              <a:t>CNPJ 62696791000193 · Performance: benchmark e apuração · Versão e prevalência: Leitura específica das cláusulas indicadas; condições e conflitos preservados. Seleção documental atual não comprova vigência jurídica por data isolada.</a:t>
            </a:r>
          </a:p>
          <a:p>
            <a:r>
              <a:t>CNPJ 55563624000109 · Performance: benchmark e apuração · Regulamento · ID 1192614 · 30/04/2026 · versão Regulamento30/04/2026 · p. 29 · AnexoI13.10 · https://fnet.bmfbovespa.com.br/fnet/publico/visualizarDocumento?id=1192614</a:t>
            </a:r>
          </a:p>
          <a:p>
            <a:r>
              <a:t>CNPJ 55563624000109 · Performance: benchmark e apuração · Excerto da fonte:</a:t>
            </a:r>
          </a:p>
          <a:p>
            <a:r>
              <a:t>13.10 Não serão cobradas taxas de performance da Classe, e nem taxas de ingresso ou de saída dos Cotistas que integralizarem ou resgatarem suas Cotas. BTG Pactual SAC: 0800 772 28 27 - Ouvidoria: 0800 722 00 48 - btgpactual.com 22</a:t>
            </a:r>
          </a:p>
          <a:p>
            <a:r>
              <a:t>CNPJ 55563624000109 · Performance: benchmark e apuração · Motivo: Não localizada uma cláusula material para este critério nos textos identificados e processados. A ausência de resultado não comprova inexistência da regra.</a:t>
            </a:r>
          </a:p>
          <a:p>
            <a:r>
              <a:t>CNPJ 55563624000109 · Performance: benchmark e apuração · Versão e prevalência: Leitura específica das cláusulas indicadas; condições e conflitos preservados. Seleção documental atual não comprova vigência jurídica por data isolada.</a:t>
            </a:r>
          </a:p>
          <a:p>
            <a:r>
              <a:t>CNPJ 62552447000120 · Performance: benchmark e apuração · Regulamento · ID 1200623 · 21/05/2026 · versão Consolidado21/05/2026 aprovado pelo ato1200625 · p. 30 · AnexoI13.1 TaxadePerformance/Ingresso · https://fnet.bmfbovespa.com.br/fnet/publico/visualizarDocumento?id=1200623</a:t>
            </a:r>
          </a:p>
          <a:p>
            <a:r>
              <a:t>CNPJ 62552447000120 · Performance: benchmark e apuração · Excerto da fonte:</a:t>
            </a:r>
          </a:p>
          <a:p>
            <a:r>
              <a:t>Taxa de Performance Não será devido pela Classe o pagamento de Taxa de Perf ormance. Taxa de Ingresso Não será cobrada dos Cotistas Taxa de Ingresso . CAPÍTULO 14 – CUSTOS REFERENTES À DEFESA DOS INTERESSES DA CLASSE 14.1 Todos os custos e despesas ref eridos neste Capítulo, inclusive para salvaguarda de direitos e prerrogativas da Classe e/ou com a cobrança judicial e/ou extrajudicial de Direitos Creditórios Inadimplidos, serão de inteira responsabilidade da Classe, não est ando o Administrador, o Gestor, o Endossante, os Devedores, o Custodiante e quaisquer de suas respectivas pessoas contr</a:t>
            </a:r>
          </a:p>
          <a:p>
            <a:r>
              <a:t>CNPJ 62552447000120 · Performance: benchmark e apuração · Motivo: Não localizada uma cláusula material para este critério nos textos identificados e processados. A ausência de resultado não comprova inexistência da regra.</a:t>
            </a:r>
          </a:p>
          <a:p>
            <a:r>
              <a:t>CNPJ 62552447000120 · Performance: benchmark e apuração · Versão e prevalência: Leitura específica das cláusulas indicadas; condições e conflitos preservados. Seleção documental atual não comprova vigência jurídica por data isolada.</a:t>
            </a:r>
          </a:p>
          <a:p>
            <a:r>
              <a:t>CNPJ 63953620000165 · Performance: benchmark e apuração · Anexo ao Regulamento · ID 1222863 · 02/06/2026 · versão AnexoConsignadoPrivado02/06/2026 · p. 20 · Capítulo13 · https://fnet.bmfbovespa.com.br/fnet/publico/visualizarDocumento?id=1222863</a:t>
            </a:r>
          </a:p>
          <a:p>
            <a:r>
              <a:t>CNPJ 63953620000165 · Performance: benchmark e apuração · Excerto da fonte:</a:t>
            </a:r>
          </a:p>
          <a:p>
            <a:r>
              <a:t>Taxa de Performance Não será devido pelas Classes o pagamento de Taxa de Performance. 0,00% (zero por cento) ao ano, incidente sobre o Patrimônio Líquido da Classe Taxa Máxima de Custódia (“Taxa Máxima de Custódia”). Taxa Máxima de Distribuição Não será cobrada Taxa de Distribuição. Taxa de Ingresso Não será cobrada da Classe ou dos Cotistas taxa de ingresso. CAPÍTULO 14 – CUSTOS REFERENTES À DEFESA DOS INTERESSES DA CLASSE 14.1 Todos os custos e despesas referidos neste Capítulo, inclusive para salvaguarda de direitos e prerrogativas da</a:t>
            </a:r>
          </a:p>
          <a:p>
            <a:r>
              <a:t>CNPJ 63953620000165 · Performance: benchmark e apuração · Motivo: Cláusula primária localizada e citada, mas sua lista/condições extensas não admitem uma síntese literal curta confirmada. O trecho integral permanece nas fontes.</a:t>
            </a:r>
          </a:p>
          <a:p>
            <a:r>
              <a:t>CNPJ 63953620000165 · Performance: benchmark e apuração · Versão e prevalência: Leitura específica das cláusulas indicadas; condições e conflitos preservados. Seleção documental atual não comprova vigência jurídica por data isolada.</a:t>
            </a:r>
          </a:p>
          <a:p>
            <a:r>
              <a:t>CNPJ 54871427000194 · Custódia, escrituração e encargos · Regulamento · ID 670691 · 28/04/2024 · versão Regulamento — referência 28/04/2024 · p. 26 · Anexo I, 13.7–13.8 · https://fnet.bmfbovespa.com.br/fnet/publico/visualizarDocumento?id=670691</a:t>
            </a:r>
          </a:p>
          <a:p>
            <a:r>
              <a:t>CNPJ 54871427000194 · Custódia, escrituração e encargos · Excerto da fonte:</a:t>
            </a:r>
          </a:p>
          <a:p>
            <a:r>
              <a:t>13.7 Pelos serviços de retenção e cobrança, prestada nos termos deste Anexo e do Contrato de Retenção/Cobrança, será devida pela Classe ao Agente de Retenção/Cobrança a remuneração prevista no respectivo Contrato de Retenção/Cobrança. Taxa Máxima de Custódia 13.8 Pelos serviços de custódia qualificada dos Direitos Creditórios e dos Ativos Financeiros de Liquidez não será devida nenhuma remuneração ao CUSTODIANTE, de modo que taxa máxima de custódia a ser paga pela Classe ao CUSTODIANTE corresponde a 0% (zero por cento) ao ano. CAPÍTULO 14 – CUSTOS REFERENTES À DEFESA DOS INTERESSES DA CLASSE 14.1 Caso a Classe não possua recursos disponíveis, em moeda corrente nacional, suf icientes para a adoção e manutenção, direta ou indireta, dos procedimentos judiciais e extrajudiciais necessários à cobrança dos Direitos Creditórios e dos Ativos Financeiros de Liquidez de titularidade da Classe e à def esa dos direitos, interesses e prerrogativas da Classe, a maioria dos titulares das Cotas, reunidos em Assembleia Especial de Cotistas, poderá aprovar o aporte de recursos à Classe, por meio da integralização de novas Cotas, a ser realizada por todos os titulares das Cotas para assegurar, se for o caso, a</a:t>
            </a:r>
          </a:p>
          <a:p>
            <a:r>
              <a:t>CNPJ 54871427000194 · Custódia, escrituração e encargos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Custódia, escrituração e encargos · Versão e prevalência: Leitura específica das cláusulas indicadas; condições e conflitos preservados. Seleção documental atual não comprova vigência jurídica por data isolada.</a:t>
            </a:r>
          </a:p>
          <a:p>
            <a:r>
              <a:t>CNPJ 54871427000194 · Custódia, escrituração e encargos · Resumo do histórico: {"count": 1, "dates": ["2024-04-28"], "document_count": 1, "sources": [{"document_id": "670691", "title": "Regulamento", "reference_date": "2024-04-28", "version": "1", "page": "26", "url": "https://fnet.bmfbovespa.com.br/fnet/publico/visualizarDocumento?id=670691", "sha256": "bf16dd7f1a62d5cdbf2e2d54fef81783783f7310fbc99c3a8f00459bdf9d037b"}], "reference": {"path": "history/54871427000194.json", "criterion_id": "custody_fee", "total_count": 1, "preview_count": 1, "full_text_deferred": true, "sha256": "35d7cd99be50c7287c9fb675cf4f2e736002315295a225a9efa79c8d9186d874"}}</a:t>
            </a:r>
          </a:p>
          <a:p>
            <a:r>
              <a:t>CNPJ 60010416000112 · Custódia, escrituração e encargos · Regulamento · ID 1051393 · 09/10/2025 · versão Regulamento09/10/2025 · p. 29 · AnexoI12.3–12.4 · https://fnet.bmfbovespa.com.br/fnet/publico/visualizarDocumento?id=1051393</a:t>
            </a:r>
          </a:p>
          <a:p>
            <a:r>
              <a:t>CNPJ 60010416000112 · Custódia, escrituração e encargos · Excerto da fonte:</a:t>
            </a:r>
          </a:p>
          <a:p>
            <a:r>
              <a:t>12.3 Pelos serviços de custódia qualificada dos Direitos Creditórios e dos Ativos Financeiros de Liquidez não será devida nenhuma remuneração ao Custodiante, de modo que taxa máxima de custódia a ser paga pela Classe ao Custodiante corresponde a 0% (zero por cento) ao ano. Remuneração do Agente de Retenção/Cobrança 12.4 Para a prestação de serviços à Classe, o Agente de Retenção/Cobrança f ará jus a uma remuneração a ser auf erida todo Dia Útil e paga mensalmente, a título de Encargo da Classe, a qual será calculada com base na seguinte f órmula:</a:t>
            </a:r>
          </a:p>
          <a:p>
            <a:r>
              <a:t>CNPJ 60010416000112 · Custódia, escrituração e encargos · Regulamento · ID 1051393 · 09/10/2025 · versão Regulamento09/10/2025 · p. 30 · AnexoI12.4definições,12.5–12.5.1 · https://fnet.bmfbovespa.com.br/fnet/publico/visualizarDocumento?id=1051393</a:t>
            </a:r>
          </a:p>
          <a:p>
            <a:r>
              <a:t>CNPJ 60010416000112 · Custódia, escrituração e encargos · Excerto da fonte:</a:t>
            </a:r>
          </a:p>
          <a:p>
            <a:r>
              <a:t>RAC = Remuneração do Agente de Retenção e Cobrança,tendo como valor 4,00% (quatro por cento) ao ano. 12.5 A remuneração prevista no item 12.4 acima será calculada pelo Administrador e paga diretamente ao Agente de Retenção/Cobrança até o 5º (quinto) Dia Útil do mês subsequente ao da prestação dos serviços, conf orme estabelecido no Contrato de Serviços MT. 12.5.1. Independentemente do acima disposto, na hipótese de venda de qualquer parte dos Direitos Creditórios Elegíveis a terceiros, inclusive no caso de liquidação da Classe, o Agente de Retenção/Cobra</a:t>
            </a:r>
          </a:p>
          <a:p>
            <a:r>
              <a:t>CNPJ 60010416000112 · Custódia, escrituração e encargos · Condição: Fórmula do RAC tem composição base 252 DU/21 dias; não somar a 4% do PL como taxa administrativa.</a:t>
            </a:r>
          </a:p>
          <a:p>
            <a:r>
              <a:t>CNPJ 60010416000112 · Custódia, escrituração e encargos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Custódia, escrituração e encargos · Versão e prevalência: Leitura específica das cláusulas indicadas; condições e conflitos preservados. Seleção documental atual não comprova vigência jurídica por data isolada.</a:t>
            </a:r>
          </a:p>
          <a:p>
            <a:r>
              <a:t>CNPJ 60010416000112 · Custódia, escrituração e encargos · Resumo do histórico: {"count": 1, "dates": ["2025-10-09"], "document_count": 1, "sources": [{"document_id": "1051393", "title": "Regulamento", "reference_date": "2025-10-09", "version": "1", "page": "29-31", "url": "https://fnet.bmfbovespa.com.br/fnet/publico/visualizarDocumento?id=1051393", "sha256": "8469d613078ffd5a6c1d217885d8a397a16342c0b937ae4aa24b106505f233ae"}], "reference": {"path": "history/60010416000112.json", "criterion_id": "custody_fee", "total_count": 1, "preview_count": 1, "full_text_deferred": true, "sha256": "8e2bd813f4c51cf01f6bfaad164bafe69d2bbb192f753eac92da3a01c2e63046"}}</a:t>
            </a:r>
          </a:p>
          <a:p>
            <a:r>
              <a:t>CNPJ 62696791000193 · Custódia, escrituração e encargos · Regulamento · ID 1143317 · 20/03/2026 · versão Regulamento — referência 20/03/2026 · p. 28 · Anexo I, 13.1, Custódia e Distribuição · https://fnet.bmfbovespa.com.br/fnet/publico/visualizarDocumento?id=1143317</a:t>
            </a:r>
          </a:p>
          <a:p>
            <a:r>
              <a:t>CNPJ 62696791000193 · Custódia, escrituração e encargos · Excerto da fonte:</a:t>
            </a:r>
          </a:p>
          <a:p>
            <a:r>
              <a:t>Taxa Máxima de Custódia 0,00% (zero por cento) ao ano, incidente sobre o Patrimônio Líquido da Classe (“Taxa Máxima de Custódia”). Taxa de Performance Não será devido pela Classe o pagamento de Taxa de Perf ormance. 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equivalente a 0,9% (nove décimos por cento) ao ano aplicado sobre o Patrimônio Anexo I ao Regulamento Líquido, observado o limite máximo de 4,5% (quatro inteiros e cinquenta centésimos por cento) do volume captado na respectiva oferta (“Taxa Máxima de Distribuição”).A</a:t>
            </a:r>
          </a:p>
          <a:p>
            <a:r>
              <a:t>CNPJ 62696791000193 · Custódia, escrituração e encargos · Regulamento · ID 1143317 · 20/03/2026 · versão Regulamento — referência 20/03/2026 · p. 29 · Anexo I, 13.1, Distribuição · https://fnet.bmfbovespa.com.br/fnet/publico/visualizarDocumento?id=1143317</a:t>
            </a:r>
          </a:p>
          <a:p>
            <a:r>
              <a:t>CNPJ 62696791000193 · Custódia, escrituração e encargos · Excerto da fonte:</a:t>
            </a:r>
          </a:p>
          <a:p>
            <a:r>
              <a:t>Distribuição será calculada e provisionada todo Dia Útil à razão de 1/252 (um inteiro e duzentos e cinquenta e dois avos) com base no valor do Patrimônio Líquido do Dia Útil anterior. Nos termos da Resolução CVM 160, o coordenador líder poderá destinar parte ou a totalidade da sua remuneração, à vista ou a prazo, aos distribuidores contratados, conforme previsto no contrato de distribuição da oferta e/ou nos termos de adesão ao contrato de distribuição. A Taxa Máxima de Distribuição será paga mensalmente por período vencido, até o 10º (décimo) Dia Útil do mês subsequente à prestação dos serviços, a partir do mês em que ocorrer a primeira integralização de Cotas da Classe Taxa de Ingresso Não será cobrada dos Cotistas Taxa de Ingresso. 14 TRIBUTAÇÃO 14.1 O disposto neste Capítulo f oi elaborado co</a:t>
            </a:r>
          </a:p>
          <a:p>
            <a:r>
              <a:t>CNPJ 62696791000193 · Custódia, escrituração e encargos · Motivo: Não localizada uma cláusula material para este critério nos textos identificados e processados. A ausência de resultado não comprova inexistência da regra.</a:t>
            </a:r>
          </a:p>
          <a:p>
            <a:r>
              <a:t>CNPJ 62696791000193 · Custódia, escrituração e encargos · Versão e prevalência: Leitura específica das cláusulas indicadas; condições e conflitos preservados. Seleção documental atual não comprova vigência jurídica por data isolada.</a:t>
            </a:r>
          </a:p>
          <a:p>
            <a:r>
              <a:t>CNPJ 55563624000109 · Custódia, escrituração e encargos · Regulamento · ID 1192614 · 30/04/2026 · versão Regulamento30/04/2026 · p. 29 · AnexoI13.8–13.9 · https://fnet.bmfbovespa.com.br/fnet/publico/visualizarDocumento?id=1192614</a:t>
            </a:r>
          </a:p>
          <a:p>
            <a:r>
              <a:t>CNPJ 55563624000109 · Custódia, escrituração e encargos · Excerto da fonte:</a:t>
            </a:r>
          </a:p>
          <a:p>
            <a:r>
              <a:t>13.8 Pelos serviços de custódia qualificada das Cotas da Classe Investida e dos Ativos Financeiros de Liquidez não será devida nenhuma remuneração ao CUSTODIANTE, de modo que taxa de custódia a ser paga pela Classe ao CUSTODIANTE corresponde a 0% (zero por cento) ao ano. Taxas Máxima de Distribuição 13.9 Tendo em vista que não há distribuidores das Cotas que prestem serviços de forma contínua ao Fundo, o presente Regulamento e Anexo Descritivo não preveem uma taxa máxima de distribuição aplicável a todas as emissões, nos termos do Ofício-Circular-Conju</a:t>
            </a:r>
          </a:p>
          <a:p>
            <a:r>
              <a:t>CNPJ 55563624000109 · Custódia, escrituração e encargos · Versão e prevalência: Leitura específica das cláusulas indicadas; condições e conflitos preservados. Seleção documental atual não comprova vigência jurídica por data isolada.</a:t>
            </a:r>
          </a:p>
          <a:p>
            <a:r>
              <a:t>CNPJ 55563624000109 · Custódia, escrituração e encargos · Resumo do histórico: {"count": 1, "dates": ["2026-04-30"], "document_count": 1, "sources": [{"document_id": "1192614", "title": "Regulamento", "reference_date": "2026-04-30", "version": "1", "page": "29", "url": "https://fnet.bmfbovespa.com.br/fnet/publico/visualizarDocumento?id=1192614", "sha256": "f56e63ace0acde41d2f47fb48f1ac7f3f7df5e2d32de092d7c5e075a52516632"}], "reference": {"path": "history/55563624000109.json", "criterion_id": "custody_fee", "total_count": 1, "preview_count": 1, "full_text_deferred": true, "sha256": "7835d573fb58a3c19adf5b8ecc2aee2bdbb9a88f7a0c0209b5f262b64c7522e3"}}</a:t>
            </a:r>
          </a:p>
          <a:p>
            <a:r>
              <a:t>CNPJ 62552447000120 · Custódia, escrituração e encargos · Motivo: Não localizada uma cláusula material para este critério nos textos identificados e processados. A ausência de resultado não comprova inexistência da regra.</a:t>
            </a:r>
          </a:p>
          <a:p>
            <a:r>
              <a:t>CNPJ 63953620000165 · Custódia, escrituração e encargos · Motivo: Não localizada uma cláusula material para este critério nos textos identificados e processados. A ausência de resultado não comprova inexistência da regra.</a:t>
            </a:r>
          </a:p>
          <a:p>
            <a:r>
              <a:t>CNPJ 54871427000194 · Classes e séries de cotas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Classes e séries de cotas · Resumo do histórico: {"count": 1, "dates": ["2024-04-28"], "document_count": 1, "sources": [{"document_id": "670691", "title": "Regulamento", "reference_date": "2024-04-28", "version": "1", "page": "7, 14", "url": "https://fnet.bmfbovespa.com.br/fnet/publico/visualizarDocumento?id=670691", "sha256": "bf16dd7f1a62d5cdbf2e2d54fef81783783f7310fbc99c3a8f00459bdf9d037b"}], "reference": {"path": "history/54871427000194.json", "criterion_id": "quota_classes", "total_count": 1, "preview_count": 1, "full_text_deferred": true, "sha256": "35d7cd99be50c7287c9fb675cf4f2e736002315295a225a9efa79c8d9186d874"}}</a:t>
            </a:r>
          </a:p>
          <a:p>
            <a:r>
              <a:t>CNPJ 60010416000112 · Classes e séries de cotas · Demonstrações Financeiras - Fusão, cisão e incorporação · ID 1298690 · 2026-05-08 · versão 1 · p. 30 · https://fnet.bmfbovespa.com.br/fnet/publico/visualizarDocumento?id=1298690</a:t>
            </a:r>
          </a:p>
          <a:p>
            <a:r>
              <a:t>CNPJ 60010416000112 · Classes e séries de cotas · Excerto da fonte:</a:t>
            </a:r>
          </a:p>
          <a:p>
            <a:r>
              <a:t>Durante o período de investimento, a Administradora poderá deliberar por realizar novas  emissões de cotas subordinadas, sem a necessidade de aprovação em Assembleia Especial  de Cotistas ou alteração do Regulamento, limitadas ao montante máximo de R$ 50.000  (cinquenta milhões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subordinadas emitidas não sejam  superiores aos prazos de vencimento da primeira emissão.</a:t>
            </a:r>
          </a:p>
          <a:p>
            <a:r>
              <a:t>CNPJ 60010416000112 · Classes e séries de cotas · Demonstrações Financeiras - Fusão, cisão e incorporação · ID 1298690 · 2026-05-08 · versão 1 · p. 7 · https://fnet.bmfbovespa.com.br/fnet/publico/visualizarDocumento?id=1298690</a:t>
            </a:r>
          </a:p>
          <a:p>
            <a:r>
              <a:t>CNPJ 60010416000112 · Classes e séries de cotas · Excerto da fonte:</a:t>
            </a:r>
          </a:p>
          <a:p>
            <a:r>
              <a:t>01/12/2025 a  Nota  08/05/2026  Patrimônio líquido no início do período  Total de 493.487,7492 cotas sêniores a R$ 1.136,5211 560.859  Total de 2.329.794,7852 cotas sêniores 2 a R$ 1.141,3012 2.658.998  Total de 954,2302 cotas subordinadas a R$ 150.939,4087 144.031</a:t>
            </a:r>
          </a:p>
          <a:p>
            <a:r>
              <a:t>CNPJ 60010416000112 · Classes e séries de cotas · Demonstrações Financeiras - Fusão, cisão e incorporação · ID 1298690 · 2026-05-08 · versão 1 · p. 7 · https://fnet.bmfbovespa.com.br/fnet/publico/visualizarDocumento?id=1298690</a:t>
            </a:r>
          </a:p>
          <a:p>
            <a:r>
              <a:t>CNPJ 60010416000112 · Classes e séries de cotas · Excerto da fonte:</a:t>
            </a:r>
          </a:p>
          <a:p>
            <a:r>
              <a:t>Patrimônio líquido no final do período  Total de 2.865.592,8479 cotas a R$ 1.285,7151 3.672.765  Total de 493.487,7492 cotas sêniores a R$ 1.230,3042 607.141  Total de 2.362.150,8684 cotas sêniores 2 a R$ 1.236,9918 2.921.961  Total de 954,2302 cotas subordinadas a R$ 150.554,2733 143.663</a:t>
            </a:r>
          </a:p>
          <a:p>
            <a:r>
              <a:t>CNPJ 60010416000112 · Classes e séries de cotas · Condição: Documentos atuais selecionados no inventário por categoria/escopo; a data documental isolada não comprova vigência jurídica.</a:t>
            </a:r>
          </a:p>
          <a:p>
            <a:r>
              <a:t>CNPJ 60010416000112 · Classes e séries de cotas · Versão e prevalência: Documentos atuais selecionados no inventário por categoria/escopo; a data documental isolada não comprova vigência jurídica.</a:t>
            </a:r>
          </a:p>
          <a:p>
            <a:r>
              <a:t>CNPJ 60010416000112 · Classes e séries de cotas · Resumo do histórico: {"count": 9, "dates": ["2025-11-30", "2026-03-18", "2026-04-16"], "document_count": 3, "sources": [{"document_id": "1282181", "title": "Demonstrações Financeiras - Fusão, cisão e incorporação", "reference_date": "2026-04-16", "version": "1", "page": 7, "url": "https://fnet.bmfbovespa.com.br/fnet/publico/visualizarDocumento?id=1282181", "sha256": "b1c6566e43a00bcd00c8a7f30c77b7f86e351bd8e355bbea113f46d1dafda703"}, {"document_id": "1224477", "title": "Demonstrações Financeiras - Fusão, cisão e incorporação", "reference_date": "2026-03-18", "version": "1", "page": 7, "url": "https://fnet.bmfbovespa.com.br/fnet/publico/visualizarDocumento?id=1224477", "sha256": "0751bf0a75bc3b44c2748f5000226665c6ec6698a90c4dc6170b4e6c187759ae"}, {"document_id": "1126154", "title": "Demonstrações Financeiras", "reference_date": "2025-11-30", "version": "1", "page": 7, "url": "https://fnet.bmfbovespa.com.br/fnet/publico/visualizarDocumento?id=1126154", "sha256": "a01e7ccf88c548f12c95cba8526d7efbef6b585c112cd4668eca781c292090b0"}], "reference": {"path": "history/60010416000112.json", "criterion_id": "quota_classes", "total_count": 9, "preview_count": 3, "full_text_deferred": true, "sha256": "8e2bd813f4c51cf01f6bfaad164bafe69d2bbb192f753eac92da3a01c2e63046"}}</a:t>
            </a:r>
          </a:p>
          <a:p>
            <a:r>
              <a:t>CNPJ 62696791000193 · Classes e séries de cotas · Instrumento Particular de Emissão de Cotas · ID 1148821 · 2026-03-27 · versão 1 · p. 1 · 20.000 · https://fnet.bmfbovespa.com.br/fnet/publico/visualizarDocumento?id=1148821</a:t>
            </a:r>
          </a:p>
          <a:p>
            <a:r>
              <a:t>CNPJ 62696791000193 · Classes e séries de cotas · Excerto da fonte:</a:t>
            </a:r>
          </a:p>
          <a:p>
            <a:r>
              <a:t>20.000 (vinte mil) Cotas Subordinadas Júnior, com valor nominal unitário de R$ 1.000,00 (mil reais),  perfazendo o montante total de R$ 20.000.000,00 (vinte milhões de reais), as quais serão objeto de  colocação privada, de acordo com os termos e condições definidos no Apêndice da Subclasse  Subordinada Júnior constante do Anexo I Regulamento e descritas abaixo (“2ª Emissão da Subclasse  Subordinada Júnior”):</a:t>
            </a:r>
          </a:p>
          <a:p>
            <a:r>
              <a:t>CNPJ 62696791000193 · Classes e séries de cotas · Instrumento Particular de Emissão de Cotas · ID 1148821 · 2026-03-27 · versão 1 · p. 2 · https://fnet.bmfbovespa.com.br/fnet/publico/visualizarDocumento?id=1148821</a:t>
            </a:r>
          </a:p>
          <a:p>
            <a:r>
              <a:t>CNPJ 62696791000193 · Classes e séries de cotas · Excerto da fonte:</a:t>
            </a:r>
          </a:p>
          <a:p>
            <a:r>
              <a:t>2. Aprovar a 2ª (segunda) emissão da Subclasse Sênior da Classe, composta por até 150.000  (cento e cinquenta mil) Cotas Seniores, com valor nominal unitário de R$ 1.000,00 (mil reais),  perfazendo o montante total de R$ 150.000.000,00 (cento e cinquenta milhões de reais), as quais  serão objeto de colocação privada, de acordo com os termos e condições descritos no Apêndice da  Subclasse Sênior constante do Anexo I Regulamento e descritas abaixo (“2ª Emissão da Subclasse  Sênior”):</a:t>
            </a:r>
          </a:p>
          <a:p>
            <a:r>
              <a:t>CNPJ 62696791000193 · Classes e séries de cotas · Instrumento Particular de Emissão de Cotas · ID 1148821 · 2026-03-27 · versão 1 · p. 2 · https://fnet.bmfbovespa.com.br/fnet/publico/visualizarDocumento?id=1148821</a:t>
            </a:r>
          </a:p>
          <a:p>
            <a:r>
              <a:t>CNPJ 62696791000193 · Classes e séries de cotas · Excerto da fonte:</a:t>
            </a:r>
          </a:p>
          <a:p>
            <a:r>
              <a:t>d) Forma de Integralização: as Cotas Subordinadas Júnior serão integralizadas à vista, junto ao  seu respectivo agente de custódia e/ou da Administradora na qualidade de escriturador das  cotas; e</a:t>
            </a:r>
          </a:p>
          <a:p>
            <a:r>
              <a:t>CNPJ 62696791000193 · Classes e séries de cotas · Condição: Documentos atuais selecionados no inventário por categoria/escopo; a data documental isolada não comprova vigência jurídica.</a:t>
            </a:r>
          </a:p>
          <a:p>
            <a:r>
              <a:t>CNPJ 62696791000193 · Classes e séries de cotas · Versão e prevalência: Documentos atuais selecionados no inventário por categoria/escopo; a data documental isolada não comprova vigência jurídica.</a:t>
            </a:r>
          </a:p>
          <a:p>
            <a:r>
              <a:t>CNPJ 62696791000193 · Classes e séries de cotas · Resumo do histórico: {"count": 2, "dates": ["2026-03-20", "2026-03-27"], "document_count": 2, "sources": [{"document_id": "1148821", "title": "Instrumento Particular de Emissão de Cotas", "reference_date": "2026-03-27", "version": "1", "page": "1-2", "url": "https://fnet.bmfbovespa.com.br/fnet/publico/visualizarDocumento?id=1148821", "sha256": "86900e9dd498403696bfffbd4196443c83ec4d51ff21135e073c1966e1adf4c0"}, {"document_id": "1143317", "title": "Regulamento", "reference_date": "2026-03-20", "version": "1", "page": 16, "clause": "7.2", "url": "https://fnet.bmfbovespa.com.br/fnet/publico/visualizarDocumento?id=1143317", "sha256": "32f62818d51c3ebeaf9ec012d3d7867f15c1aed6d10f0867c157a290df1cea48"}], "reference": {"path": "history/62696791000193.json", "criterion_id": "quota_classes", "total_count": 2, "preview_count": 2, "full_text_deferred": true, "sha256": "0e9ec199848320ec945708123ae0cb6075d76c05d94beed814d582031d353926"}}</a:t>
            </a:r>
          </a:p>
          <a:p>
            <a:r>
              <a:t>CNPJ 55563624000109 · Classes e séries de cotas · Regulamento · ID 1192614 · 2026-04-30 · versão 1 · p. 40 · https://fnet.bmfbovespa.com.br/fnet/publico/visualizarDocumento?id=1192614</a:t>
            </a:r>
          </a:p>
          <a:p>
            <a:r>
              <a:t>CNPJ 55563624000109 · Classes e séries de cotas · Excerto da fonte:</a:t>
            </a:r>
          </a:p>
          <a:p>
            <a:r>
              <a:t>(xxiv) Subordinação de determinadas Cotas da Classe Investida a outras subclasses ou séries de  cotas das Classes Investidas aos quais pertencem. A Classe Investida adquirirá apenas cotas  subordinadas mezaninos da Classe Investida, as quais se subordinam às cotas seniores da Classe  Investida para efeitos de resgate. Os resgates de cotas subordinadas mezanino tipicamente têm sua  realização condicionada ainda à manutenção da razão de garantia e à existência de disponibilidades  da Classe Investida. O ADMINISTRADOR, o GESTOR e o CUSTODIANTE e suas respectivas partes  relacionadas, encontram-se impossibilitados de assegurar que a amortização e o resgate das cotas  subordinadas mezanino da Classe Investida que venham a ser adquiridas pela Classe ocorrerão nas  datas originalmente previstas, sendo que, caso tais amortizações e/ou resgates não ocorram, não será  devido pelo FUNDO ou qualquer pessoa, incluindo o ADMINISTRADOR, o GESTOR e o CUSTODIANTE,  do FUNDO ou da Classe Investida qualquer multa ou penalidade, de qualquer natureza. O não resgate  de cotas subordinadas mezanino da Classe Investida detidas pela Classe poderá impactar  negativamente no fluxo de pagamento de resgate da Classe e/ou no valor patrimonial das Cotas da  Classe.</a:t>
            </a:r>
          </a:p>
          <a:p>
            <a:r>
              <a:t>CNPJ 55563624000109 · Classes e séries de cotas · Regulamento · ID 1192614 · 2026-04-30 · versão 1 · p. 31 · 15.1.1 · https://fnet.bmfbovespa.com.br/fnet/publico/visualizarDocumento?id=1192614</a:t>
            </a:r>
          </a:p>
          <a:p>
            <a:r>
              <a:t>CNPJ 55563624000109 · Classes e séries de cotas · Excerto da fonte:</a:t>
            </a:r>
          </a:p>
          <a:p>
            <a:r>
              <a:t>15.1.1 Riscos de Crédito:</a:t>
            </a:r>
          </a:p>
          <a:p>
            <a:r>
              <a:t> (i) Risco de concentração na Classe Investida. Nos termos do presente Regulamento, a Classe  deverá manter alocado, no mínimo, 67% (sessenta e sete por cento) do Patrimônio Líquido nas Cotas  da Classe Investida. Alterações na condição econômico-financeira e na expectativa de desempenho ou  resultados da Classe Investida poderão, isolada ou cumulativamente, afetar negativamente o  rendimento do investimento nas Cotas, de forma mais severa do que se a Classe adotasse uma  estratégia de investimento de maior diversificação. O risco associado às aplicações de qualquer fundo  de investimento é diretamente proporcional à concentração da sua carteira, sendo que, quanto maior  essa concentração, maior será a sua vulnerabilidade.</a:t>
            </a:r>
          </a:p>
          <a:p>
            <a:r>
              <a:t> (ii) Risco relativo à Classe Investida. Nos termos deste Anexo, a Classe deverá manter alocado, no  mínimo, 67% (sessenta e sete por cento) do Patrimônio Líquido em Cotas da Classe Investida. Os  investimentos realizados pela Classe Investida poderão estar sujeitos a flutuações típicas do mercado,  risco de crédito, risco sistêmico, condições adversas de liquidez e negociação atípica nos mercados de  atuação, bem como outros riscos diversos. Este Anexo não contém a descrição de todas as  características, incluindo os riscos, da Classe Investida.</a:t>
            </a:r>
          </a:p>
          <a:p>
            <a:r>
              <a:t> (iii) Risco Relativo ao Pagamento de Encargos da Classe Investida. Tendo em vista a estrutura da  Classe Investida – que emitiu cotas sêniores, cotas subordinadas mezanino e cotas subordinadas júnior  – em situação ordinária os encargos da Classe Investida são arcados pelas cotas subordinadas júnior,  que se subordinam às cotas subordinadas mezanino e às cotas sêniores para fins de amortização,  resgate e distribuição de rendimentos, não impactando, portanto, as Cotas da Classe Investida. Não  obstante o funcionamento da Classe Investida em situação ordinária, em cenários extraordinários, na  eventualidade do valor das cotas subordinadas júnior ficar reduzido a zero ou a valor negativo, os  encargos da Classe Investida conforme previstos em seu regulamento, inclusive mas não se limitando  as remunerações dos prestadores de serviços essenciais, passarão a ser arcados pelas cotas  subordinadas mezanino (que são as Cotas da Classe Investida), impactando no valor do investimento  da Classe na Classe Investida, e consequentemente, o investimento dos Cotistas na Classe.</a:t>
            </a:r>
          </a:p>
          <a:p>
            <a:r>
              <a:t> (iv) Riscos referentes à carteira da Classe Investida. Na forma do Anexo Normativo II da Resolução  CVM 175, a Classe Investida investe, direta ou indiretamente, no mínimo, 67% (sessenta e sete por  cento) do seu patrimônio em direitos creditórios originados pela Mercado Pago. O investimento em tais  direitos creditórios está sujeito a fatores de risco específicos, conforme detalhados no regulamento da  Classe Investida, incluindo, mas não se limitando a:</a:t>
            </a:r>
          </a:p>
          <a:p>
            <a:r>
              <a:t> (a) Risco de liquidez dos direitos creditórios. O investimento da Classe Investida em direitos  creditórios apresenta peculiaridades em relação às aplicações usuais da maioria dos  fundos de investimento brasileiros, haja vista que não existe, no Brasil, mercado  secundário com liquidez para tais direitos creditórios. Caso a Classe Investida precise  vender os direitos creditórios adquiridos, poderá não haver mercado comprador para  tais créditos, bem como o preço de alienação de tais direitos creditórios poderá refletir  essa falta de liquidez, causando perda ao patrimônio da Classe Investida e,  consequentemente, à Classe.</a:t>
            </a:r>
          </a:p>
          <a:p>
            <a:r>
              <a:t>CNPJ 55563624000109 · Classes e séries de cotas · AGE · ID 1192603 · 2026-04-30 · versão 1 · p. 1 · 4.1 · https://fnet.bmfbovespa.com.br/fnet/publico/visualizarDocumento?id=1192603</a:t>
            </a:r>
          </a:p>
          <a:p>
            <a:r>
              <a:t>CNPJ 55563624000109 · Classes e séries de cotas · Excerto da fonte:</a:t>
            </a:r>
          </a:p>
          <a:p>
            <a:r>
              <a:t>4.1. Aprovar a alteração do Anexo I da Classe Única para a reorganização do passivo de sua subclasse  única em novas subclasses, quais sejam, subclasse A (“Subclasse A”), subclasse B (“Subclasse B”) e  subclasse C (“Subclasse C” e, quando em conjunto com a Subclasse A e a Subclasse B, as “Subclasses”),  considerando que serão mantidas as condições de investimento originalmente pactuadas com os cotistas,  como critérios de aplicação, resgate, amortização e política de investimento da Classe Única, diferindo-  se, exclusivamente, em relação ao prazo de duração cada Subclasse.</a:t>
            </a:r>
          </a:p>
          <a:p>
            <a:r>
              <a:t>CNPJ 55563624000109 · Classes e séries de cotas · Condição: Documentos atuais selecionados no inventário por categoria/escopo; a data documental isolada não comprova vigência jurídica.</a:t>
            </a:r>
          </a:p>
          <a:p>
            <a:r>
              <a:t>CNPJ 55563624000109 · Classes e séries de cotas · Versão e prevalência: Documentos atuais selecionados no inventário por categoria/escopo; a data documental isolada não comprova vigência jurídica.</a:t>
            </a:r>
          </a:p>
          <a:p>
            <a:r>
              <a:t>CNPJ 55563624000109 · Classes e séries de cotas · Resumo do histórico: {"count": 3, "dates": ["2025-01-31", "2026-01-31", "2026-04-30"], "document_count": 3, "sources": [{"document_id": "1192614", "title": "Regulamento", "reference_date": "2026-04-30", "version": "1", "page": "15", "url": "https://fnet.bmfbovespa.com.br/fnet/publico/visualizarDocumento?id=1192614", "sha256": "f56e63ace0acde41d2f47fb48f1ac7f3f7df5e2d32de092d7c5e075a52516632"}, {"document_id": "1178840", "title": "Demonstrações Financeiras", "reference_date": "2026-01-31", "version": "1", "page": 25, "url": "https://fnet.bmfbovespa.com.br/fnet/publico/visualizarDocumento?id=1178840", "sha256": "c458e98664c5c907ddb5a05a94b120bed4e05295b2bfc420f5ba69af0a229abe"}, {"document_id": "891861", "title": "Demonstrações Financeiras", "reference_date": "2025-01-31", "version": "1", "page": 26, "url": "https://fnet.bmfbovespa.com.br/fnet/publico/visualizarDocumento?id=891861", "sha256": "e9cb9e6ddbe505fe068cfcac33605165a98313489de0d3ce6d4d238263c3f3e7"}], "reference": {"path": "history/55563624000109.json", "criterion_id": "quota_classes", "total_count": 3, "preview_count": 3, "full_text_deferred": true, "sha256": "7835d573fb58a3c19adf5b8ecc2aee2bdbb9a88f7a0c0209b5f262b64c7522e3"}}</a:t>
            </a:r>
          </a:p>
          <a:p>
            <a:r>
              <a:t>CNPJ 62552447000120 · Classes e séries de cotas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Classes e séries de cotas · Resumo do histórico: {"count": 1, "dates": ["2025-09-03"], "document_count": 1, "sources": [{"document_id": "988020", "title": "Instrumento Particular de Emissão de Cotas", "reference_date": "2025-09-03", "version": "1", "page": "5", "url": "https://fnet.bmfbovespa.com.br/fnet/publico/visualizarDocumento?id=988020", "sha256": "8ecc8a771bb9713d64e5fc2052c489664cb0433801a9280db68e5187d35bf7a5"}], "reference": {"path": "history/62552447000120.json", "criterion_id": "quota_classes", "total_count": 1, "preview_count": 1, "full_text_deferred": true, "sha256": "d95db8c0613d67ee84118c734588665265ea6b02f86a0318d6a844cbe1d0f82f"}}</a:t>
            </a:r>
          </a:p>
          <a:p>
            <a:r>
              <a:t>CNPJ 63953620000165 · Classes e séries de cotas · AGE · ID 1313935 · 2026-08-31 · versão 1 · p. 1 · 4.1 · https://fnet.bmfbovespa.com.br/fnet/publico/visualizarDocumento?id=1313935</a:t>
            </a:r>
          </a:p>
          <a:p>
            <a:r>
              <a:t>CNPJ 63953620000165 · Classes e séries de cotas · Excerto da fonte:</a:t>
            </a:r>
          </a:p>
          <a:p>
            <a:r>
              <a:t>4.1. Aprovar a realização da incorporação das parcelas cindidas descritas no Anexo I à presente ata (“Parcelas  Cindidas”), com base no fechamento de 28 de agosto de 2026 (“Data Base”), condicionada à aprovação da cisão  da CLASSE ÚNICA DO MT CONSIGNADO PRIVADO I FUNDO DE INVESTIMENTO EM DIREITOS CREDITÓRIOS  RESPONSABILIDADE LIMITADA, inscrita no CNPJ sob o nº 60.010.416/0001-12 (“Classe Cindida”), com a  subsequente incorporação da respectiva Parcela Cindida, emitindo-se cotas seniores da Classe, a serem  atribuídas integralmente aos cotistas da Classe Cindida, no valor da respectiva Parcela Cindida, na Data-Base, de  acordo com o valor das cotas da Classe na mesma data. A partir da Data Base, todos os direitos e obrigações dos  ativos cindidos serão sucedidos à Classe;</a:t>
            </a:r>
          </a:p>
          <a:p>
            <a:r>
              <a:t>CNPJ 63953620000165 · Classes e séries de cotas · Condição: Documentos atuais selecionados no inventário por categoria/escopo; a data documental isolada não comprova vigência jurídica.</a:t>
            </a:r>
          </a:p>
          <a:p>
            <a:r>
              <a:t>CNPJ 63953620000165 · Classes e séries de cotas · Versão e prevalência: Documentos atuais selecionados no inventário por categoria/escopo; a data documental isolada não comprova vigência jurídica.</a:t>
            </a:r>
          </a:p>
          <a:p>
            <a:r>
              <a:t>CNPJ 63953620000165 · Classes e séries de cotas · Resumo do histórico: {"count": 11, "dates": ["2026-07-29", "2026-08-17", "2026-08-21"], "document_count": 3, "sources": [{"document_id": "1309436", "title": "AGE", "reference_date": "2026-08-21", "version": "1", "page": 1, "clause": "4.1", "url": "https://fnet.bmfbovespa.com.br/fnet/publico/visualizarDocumento?id=1309436", "sha256": "f679de1621039dce7c665e3a742f213fd4d5047e12b96163b31ea4ae86f56817"}, {"document_id": "1298232", "title": "AGE", "reference_date": "2026-08-17", "version": "1", "page": 1, "clause": "4.1", "url": "https://fnet.bmfbovespa.com.br/fnet/publico/visualizarDocumento?id=1298232", "sha256": "75322e306547f725e73a2c6687b598e14d628caa84bd46a23508337a606866f6"}, {"document_id": "1277543", "title": "AGE", "reference_date": "2026-07-29", "version": "1", "page": 1, "url": "https://fnet.bmfbovespa.com.br/fnet/publico/visualizarDocumento?id=1277543", "sha256": "c2fb499fd6e25251a221d4e9dbb5d1378fb5efde5a58eee091868faf52d326c0"}], "reference": {"path": "history/63953620000165.json", "criterion_id": "quota_classes", "total_count": 11, "preview_count": 3, "full_text_deferred": true, "sha256": "a7b89077f5e21098c2d601c303faabc3ff6b9729f89d8afecdc60fe1404720c1"}}</a:t>
            </a:r>
          </a:p>
          <a:p>
            <a:r>
              <a:t>CNPJ 54871427000194 · Ofertas e colocação · AGE · ID 1055482 · 2025-12-02 · versão 1 · p. 1 · 4.1 · https://fnet.bmfbovespa.com.br/fnet/publico/visualizarDocumento?id=1055482</a:t>
            </a:r>
          </a:p>
          <a:p>
            <a:r>
              <a:t>CNPJ 54871427000194 · Ofertas e colocação · Excerto da fonte:</a:t>
            </a:r>
          </a:p>
          <a:p>
            <a:r>
              <a:t>4.1. Aprovar a nova emissão de Cotas pela Classe, todas nominativas e escriturais, com preço unitário de emissão  correspondente ao valor das Cotas da Classe em circulação quando na data de aprovação da Nova Emissão,  perfazendo o montante total de emissão de até R$ 650.000.000 (seiscentos e cinquenta milhões de reais), conforme  as características constantes do Regulamento e do Anexo da Classe (“Novas Cotas” e “Nova Emissão”,  respectivamente), e descritas abaixo:</a:t>
            </a:r>
          </a:p>
          <a:p>
            <a:r>
              <a:t>(i) Rito: as Novas Cotas não serão objeto de oferta pública, conforme facultado pelo artigo 8º, inciso IV, da  Resolução CVM nº 160, uma vez que a Classe se enquadra nos requisitos do referido dispositivo;</a:t>
            </a:r>
          </a:p>
          <a:p>
            <a:r>
              <a:t>(ii) Preço de Emissão: o preço unitário de emissão corresponderá ao valor das Cotas da Classe em circulação  quando na data de aprovação da Nova Emissão (“Preço de Emissão”);</a:t>
            </a:r>
          </a:p>
          <a:p>
            <a:r>
              <a:t>(iii) Preço de Integralização: o Preço de Integralização corresponderá ao valor das Cotas da Classe em  circulação quando da transferência dos valores para liquidação financeira (“Preço de Integralização”);</a:t>
            </a:r>
          </a:p>
          <a:p>
            <a:r>
              <a:t>(iv) Forma de Integralização: as Cotas serão integralizadas à vista, em moeda corrente nacional, pelo Preço  de Integralização, junto ao seu respectivo agente de custódia e/ou da Administradora na qualidade de  escriturador das cotas; e</a:t>
            </a:r>
          </a:p>
          <a:p>
            <a:r>
              <a:t>(v) Período de colocação: a subscrição das Cotas, objeto da Nova Emissão, deverão ser realizadas no prazo  máximo de 180 (cento e oitenta) dias, contados da data de efeitos do presente instrumento.</a:t>
            </a:r>
          </a:p>
          <a:p>
            <a:r>
              <a:t>CNPJ 54871427000194 · Ofertas e colocação · Condição: Trechos do documento específico identificado com data mais recente; vigência jurídica não inferida.</a:t>
            </a:r>
          </a:p>
          <a:p>
            <a:r>
              <a:t>CNPJ 54871427000194 · Ofertas e colocação · Versão e prevalência: Trechos do documento específico identificado com data mais recente; vigência jurídica não inferida.</a:t>
            </a:r>
          </a:p>
          <a:p>
            <a:r>
              <a:t>CNPJ 54871427000194 · Ofertas e colocação · Resumo do histórico: {"count": 7, "dates": ["2024-06-13", "2024-12-10"], "document_count": 3, "sources": [{"document_id": "798101", "title": "Anúncio de Encerramento", "reference_date": "2024-12-10", "version": "1", "page": "1-2", "url": "https://fnet.bmfbovespa.com.br/fnet/publico/visualizarDocumento?id=798101", "sha256": "71618c432ad86002484571d66922b873e4fa91ed3543a109134ddee0bd872f20"}, {"document_id": "679614", "title": "Anúncio de Início", "reference_date": "2024-06-13", "version": "1", "page": 1, "url": "https://fnet.bmfbovespa.com.br/fnet/publico/visualizarDocumento?id=679614", "sha256": "aad43ed14bfa0576144a306c466aea031fce0d01d3cb3de6aebd120f11164bfa"}, {"document_id": "683482", "title": "AGE", "reference_date": "2024-06-13", "version": "1", "page": 2, "url": "https://fnet.bmfbovespa.com.br/fnet/publico/visualizarDocumento?id=683482", "sha256": "3afbe254027691929935eaf19ebbb8634fb2ccd8e2fbea2cb2d81a7818f8d648"}], "reference": {"path": "history/54871427000194.json", "criterion_id": "offers", "total_count": 7, "preview_count": 3, "full_text_deferred": true, "sha256": "35d7cd99be50c7287c9fb675cf4f2e736002315295a225a9efa79c8d9186d874"}}</a:t>
            </a:r>
          </a:p>
          <a:p>
            <a:r>
              <a:t>CNPJ 60010416000112 · Ofertas e colocação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Ofertas e colocação · Resumo do histórico: {"count": 1, "dates": ["2025-03-20"], "document_count": 1, "sources": [{"document_id": "993785", "title": "Instrumento Particular de Constituição/Encerramento do Fundo", "reference_date": "2025-03-20", "version": "1", "page": "1-2", "url": "https://fnet.bmfbovespa.com.br/fnet/publico/visualizarDocumento?id=993785", "sha256": "0826e0eae2c51afabf59bbc49fc7647598d03da5ca6de0f9725850a8bd6af457"}], "reference": {"path": "history/60010416000112.json", "criterion_id": "offers", "total_count": 1, "preview_count": 1, "full_text_deferred": true, "sha256": "8e2bd813f4c51cf01f6bfaad164bafe69d2bbb192f753eac92da3a01c2e63046"}}</a:t>
            </a:r>
          </a:p>
          <a:p>
            <a:r>
              <a:t>CNPJ 62696791000193 · Ofertas e colocação · Regulamento · ID 1143317 · 2026-03-20 · versão 1 · p. 39 · 2.6 · https://fnet.bmfbovespa.com.br/fnet/publico/visualizarDocumento?id=1143317</a:t>
            </a:r>
          </a:p>
          <a:p>
            <a:r>
              <a:t>CNPJ 62696791000193 · Ofertas e colocação · Excerto da fonte:</a:t>
            </a:r>
          </a:p>
          <a:p>
            <a:r>
              <a:t>2.6. O valor de mercado das Cotas de emissão da Classe poderá sofrer oscilações frequentes e  significativas, inclusive ao longo do dia. Como consequência, o valor de mercado das cotas de  emissão da Classe poderá não ref letir necessariamente seu valor patrimonial. Não será devida  pela Classe ou por qualquer pessoa, incluindo as instituições responsáveis pela distribuição  das cotas, os demais Cotistas da Classe, o Administrador e as instituições participantes da  of erta, qualquer multa ou penalidade de qualquer natureza, caso ocorra, por qualquer razão,</a:t>
            </a:r>
          </a:p>
          <a:p>
            <a:r>
              <a:t> (i) o alongamento do período de amortização das Cotas; (ii) a liquidação da Classe; ou, ainda,</a:t>
            </a:r>
          </a:p>
          <a:p>
            <a:r>
              <a:t> (iii) caso os Cotistas sof ram qualquer dano ou prejuízo resultante de tais eventos.</a:t>
            </a:r>
          </a:p>
          <a:p>
            <a:r>
              <a:t>3. Risco TributárioOs rendimentos e ganhos líquidos auf eridos pela Classe em aplicações f inanceiras de  renda f ixa ou de renda variável sujeitam-se à incidência do imposto de renda na f onte, observadas as  mesmas normas aplicáveis às pessoas jurídicas, podendo esse imposto ser compensado com o retido na  f onte pela Classe quando da distribuição de rendimentos e ganhos de capital aos Cotistas. Os rendimentos  auf eridos pela Classe, quando distribuídos aos Cotistas sujeitam-se à incidência do Imposto de Renda na  f onte à alíquota de 20% (vinte por cento). Os rendimentos e ganhos de capital auferidos pelos Cotistas na</a:t>
            </a:r>
          </a:p>
          <a:p>
            <a:r>
              <a:t>CNPJ 62696791000193 · Ofertas e colocação · Regulamento · ID 1143317 · 2026-03-20 · versão 1 · p. 28 · https://fnet.bmfbovespa.com.br/fnet/publico/visualizarDocumento?id=1143317</a:t>
            </a:r>
          </a:p>
          <a:p>
            <a:r>
              <a:t>CNPJ 62696791000193 · Ofertas e colocação · Excerto da fonte:</a:t>
            </a:r>
          </a:p>
          <a:p>
            <a:r>
              <a:t>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equivalente a 0,9% (nove décimos  por cento) ao ano aplicado sobre o Patrimônio Anexo I ao  Regulamento Líquido, observado o limite máximo de 4,5% (quatro  inteiros e cinquenta centésimos por cento) do volume captado na  respectiva oferta (“Taxa Máxima de Distribuição”).A Taxa Máxima de</a:t>
            </a:r>
          </a:p>
          <a:p>
            <a:r>
              <a:t>CNPJ 62696791000193 · Ofertas e colocação · Condição: Documentos atuais selecionados no inventário por categoria/escopo; a data documental isolada não comprova vigência jurídica.</a:t>
            </a:r>
          </a:p>
          <a:p>
            <a:r>
              <a:t>CNPJ 62696791000193 · Ofertas e colocação · Versão e prevalência: Documentos atuais selecionados no inventário por categoria/escopo; a data documental isolada não comprova vigência jurídica.</a:t>
            </a:r>
          </a:p>
          <a:p>
            <a:r>
              <a:t>CNPJ 62696791000193 · Ofertas e colocação · Resumo do histórico: {"count": 1, "dates": ["2026-03-27"], "document_count": 1, "sources": [{"document_id": "1148821", "title": "Instrumento Particular de Emissão de Cotas", "reference_date": "2026-03-27", "version": "1", "page": "1-3", "url": "https://fnet.bmfbovespa.com.br/fnet/publico/visualizarDocumento?id=1148821", "sha256": "86900e9dd498403696bfffbd4196443c83ec4d51ff21135e073c1966e1adf4c0"}], "reference": {"path": "history/62696791000193.json", "criterion_id": "offers", "total_count": 1, "preview_count": 1, "full_text_deferred": true, "sha256": "0e9ec199848320ec945708123ae0cb6075d76c05d94beed814d582031d353926"}}</a:t>
            </a:r>
          </a:p>
          <a:p>
            <a:r>
              <a:t>CNPJ 55563624000109 · Ofertas e colocação · Regulamento · ID 1192614 · 2026-04-30 · versão 1 · p. 25 · 12.9 · https://fnet.bmfbovespa.com.br/fnet/publico/visualizarDocumento?id=1192614</a:t>
            </a:r>
          </a:p>
          <a:p>
            <a:r>
              <a:t>CNPJ 55563624000109 · Ofertas e colocação · Excerto da fonte:</a:t>
            </a:r>
          </a:p>
          <a:p>
            <a:r>
              <a:t>12.9 Inclui-se entre as obrigações do GESTOR, contratar, em nome da Classe, se necessário, com terceiros  devidamente habilitados e autorizados, os serviços de distribuição das Cotas. A distribuição pública das Cotas  deverá ser realizada por distribuidores devidamente autorizados pela CVM, nos termos da regulamentação  aplicável.</a:t>
            </a:r>
          </a:p>
          <a:p>
            <a:r>
              <a:t>CNPJ 55563624000109 · Ofertas e colocação · Condição: Documentos atuais selecionados no inventário por categoria/escopo; a data documental isolada não comprova vigência jurídica.</a:t>
            </a:r>
          </a:p>
          <a:p>
            <a:r>
              <a:t>CNPJ 55563624000109 · Ofertas e colocação · Versão e prevalência: Documentos atuais selecionados no inventário por categoria/escopo; a data documental isolada não comprova vigência jurídica.</a:t>
            </a:r>
          </a:p>
          <a:p>
            <a:r>
              <a:t>CNPJ 55563624000109 · Ofertas e colocação · Resumo do histórico: {"count": 3, "dates": ["2024-07-03"], "document_count": 3, "sources": [{"document_id": "703295", "title": "Anúncio de Início", "reference_date": "2024-07-03", "version": "2", "page": 1, "url": "https://fnet.bmfbovespa.com.br/fnet/publico/visualizarDocumento?id=703295", "sha256": "12322b6dbf75e673723bd60910373db249451b72666792e18e0c7b6128f4608a"}, {"document_id": "702585", "title": "Anúncio de Início", "reference_date": "2024-07-03", "version": "1", "page": 1, "url": "https://fnet.bmfbovespa.com.br/fnet/publico/visualizarDocumento?id=702585", "sha256": "6708609ac7f0611118fb23ffd6d2cd6c7fd33275130407918ea42831baa712cd"}, {"document_id": "691674", "title": "Instrumento Particular de Emissão de Cotas", "reference_date": "2024-07-03", "version": "1", "page": 3, "url": "https://fnet.bmfbovespa.com.br/fnet/publico/visualizarDocumento?id=691674", "sha256": "78bf7b350f1785beae5f43bd209b5ed19e863cb9a2cff01542aac11dd63ca554"}], "reference": {"path": "history/55563624000109.json", "criterion_id": "offers", "total_count": 3, "preview_count": 3, "full_text_deferred": true, "sha256": "7835d573fb58a3c19adf5b8ecc2aee2bdbb9a88f7a0c0209b5f262b64c7522e3"}}</a:t>
            </a:r>
          </a:p>
          <a:p>
            <a:r>
              <a:t>CNPJ 62552447000120 · Ofertas e colocação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Ofertas e colocação · Resumo do histórico: {"count": 1, "dates": ["2025-09-03"], "document_count": 1, "sources": [{"document_id": "988020", "title": "Instrumento Particular de Emissão de Cotas", "reference_date": "2025-09-03", "version": "1", "page": "5-6", "url": "https://fnet.bmfbovespa.com.br/fnet/publico/visualizarDocumento?id=988020", "sha256": "8ecc8a771bb9713d64e5fc2052c489664cb0433801a9280db68e5187d35bf7a5"}], "reference": {"path": "history/62552447000120.json", "criterion_id": "offers", "total_count": 1, "preview_count": 1, "full_text_deferred": true, "sha256": "d95db8c0613d67ee84118c734588665265ea6b02f86a0318d6a844cbe1d0f82f"}}</a:t>
            </a:r>
          </a:p>
          <a:p>
            <a:r>
              <a:t>CNPJ 63953620000165 · Ofertas e colocação · Anexo ao Regulamento · ID 1222863 · 2026-06-02 · versão 1 · p. 10 · 6.9 · https://fnet.bmfbovespa.com.br/fnet/publico/visualizarDocumento?id=1222863</a:t>
            </a:r>
          </a:p>
          <a:p>
            <a:r>
              <a:t>CNPJ 63953620000165 · Ofertas e colocação · Excerto da fonte:</a:t>
            </a:r>
          </a:p>
          <a:p>
            <a:r>
              <a:t>6.9 As Cotas poderão ser objeto de oferta pública a ser realizada nos termos da Resolução CVM 160 (“Oferta”) e/ou  poderão ser colocadas de forma privada (“Colocação Privada”), bem como segundo outros ritos que venham a  ser previstos pela regulamentação. As Cotas deverão ser emitidas e subscritas dentro do prazo e nos termos e  condições da legislação aplicável, do presente Anexo e dos respectivos Boletins de Subscrição e/ou  Compromissos de Investimento.</a:t>
            </a:r>
          </a:p>
          <a:p>
            <a:r>
              <a:t>CNPJ 63953620000165 · Ofertas e colocação · Condição: Documentos atuais selecionados no inventário por categoria/escopo; a data documental isolada não comprova vigência jurídica.</a:t>
            </a:r>
          </a:p>
          <a:p>
            <a:r>
              <a:t>CNPJ 63953620000165 · Ofertas e colocação · Versão e prevalência: Documentos atuais selecionados no inventário por categoria/escopo; a data documental isolada não comprova vigência jurídica.</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Emissões e custos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Remuneração por subclasse e série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Remuneração por subclasse e série · Resumo do histórico: {"count": 1, "dates": ["2024-04-28"], "document_count": 1, "sources": [{"document_id": "670691", "title": "Regulamento", "reference_date": "2024-04-28", "version": "1", "page": "14", "url": "https://fnet.bmfbovespa.com.br/fnet/publico/visualizarDocumento?id=670691", "sha256": "bf16dd7f1a62d5cdbf2e2d54fef81783783f7310fbc99c3a8f00459bdf9d037b"}], "reference": {"path": "history/54871427000194.json", "criterion_id": "remuneration", "total_count": 1, "preview_count": 1, "full_text_deferred": true, "sha256": "35d7cd99be50c7287c9fb675cf4f2e736002315295a225a9efa79c8d9186d874"}}</a:t>
            </a:r>
          </a:p>
          <a:p>
            <a:r>
              <a:t>CNPJ 60010416000112 · Remuneração por subclasse e série · Instrumento Particular de Constituição/Encerramento do Fundo · ID 993785 · 20/03/2025 · versão 1ªemissão20/03/2025 · p. 5 · Suplemento1ªsênior BenchmarkSênior · https://fnet.bmfbovespa.com.br/fnet/publico/visualizarDocumento?id=993785</a:t>
            </a:r>
          </a:p>
          <a:p>
            <a:r>
              <a:t>CNPJ 60010416000112 · Remuneração por subclasse e série · Excerto da fonte:</a:t>
            </a:r>
          </a:p>
          <a:p>
            <a:r>
              <a:t>4,80% (quatro inteiros e oitenta centésimos por cento)calculado por Dia Útil à base de 1/252 (um inteiro e duzentos e cinquenta e dois avos); e (ii) “Benchmark Sênior Adicional”: o parâmetro adicional de rentabilidade a ser buscado pela Classe para remunerar as Cotas Seniores, correspondente 15,00% (quinze por cento) do excesso de spread das Cotas Subordinadas com cap de remuneração total das Cotas Seniores pela variação do CDI acrescido de 6,00% (seis por cento</a:t>
            </a:r>
          </a:p>
          <a:p>
            <a:r>
              <a:t>CNPJ 60010416000112 · Remuneração por subclasse e série · Condição: Termo específico da primeira emissão de 20/03/2025, distinto de taxa deperformance e do suplemento modelo com campos não preenchidos do regulamento.</a:t>
            </a:r>
          </a:p>
          <a:p>
            <a:r>
              <a:t>CNPJ 60010416000112 · Remuneração por subclasse e série · Versão e prevalência: Leitura específica das cláusulas indicadas; condições e conflitos preservados. Seleção documental atual não comprova vigência jurídica por data isolada.</a:t>
            </a:r>
          </a:p>
          <a:p>
            <a:r>
              <a:t>CNPJ 60010416000112 · Remuneração por subclasse e série · Resumo do histórico: {"count": 3, "dates": ["2025-03-20", "2025-05-12"], "document_count": 2, "sources": [{"document_id": "1004656", "title": "AGE", "reference_date": "2025-05-12", "version": "1", "page": 5, "url": "https://fnet.bmfbovespa.com.br/fnet/publico/visualizarDocumento?id=1004656", "sha256": "f6c9c009f6170e2b29f074b98522accec73f0c40efbf11f9ec2c8d3f1402616b"}, {"document_id": "993785", "title": "Instrumento Particular de Constituição/Encerramento do Fundo", "reference_date": "2025-03-20", "version": "1", "page": "4-5", "url": "https://fnet.bmfbovespa.com.br/fnet/publico/visualizarDocumento?id=993785", "sha256": "0826e0eae2c51afabf59bbc49fc7647598d03da5ca6de0f9725850a8bd6af457"}, {"document_id": "993785", "title": "Instrumento Particular de Constituição/Encerramento do Fundo", "reference_date": "2025-03-20", "version": "1", "page": 5, "url": "https://fnet.bmfbovespa.com.br/fnet/publico/visualizarDocumento?id=993785", "sha256": "0826e0eae2c51afabf59bbc49fc7647598d03da5ca6de0f9725850a8bd6af457"}], "reference": {"path": "history/60010416000112.json", "criterion_id": "remuneration", "total_count": 3, "preview_count": 3, "full_text_deferred": true, "sha256": "8e2bd813f4c51cf01f6bfaad164bafe69d2bbb192f753eac92da3a01c2e63046"}}</a:t>
            </a:r>
          </a:p>
          <a:p>
            <a:r>
              <a:t>CNPJ 62696791000193 · Remuneração por subclasse e série · Regulamento · ID 1143317 · 20/03/2026 · versão Regulamento — referência 20/03/2026 · p. 33 · Apêndice Sênior, 1.2 e 1.4 · https://fnet.bmfbovespa.com.br/fnet/publico/visualizarDocumento?id=1143317</a:t>
            </a:r>
          </a:p>
          <a:p>
            <a:r>
              <a:t>CNPJ 62696791000193 · Remuneração por subclasse e série · Excerto da fonte:</a:t>
            </a:r>
          </a:p>
          <a:p>
            <a:r>
              <a:t>1.2. As Cotas Seniores poderão ser divididas em séries com valores e prazos diferenciados para amortização, resgate e remuneração, sendo que cada série terá as mesmas características e conf erirá a seus titulares iguais direitos e obrigações nos termos deste Reg ulamento e do Apêndice ref erente a cada emissão/série de Cotas Seniores. 1.2. Benchmark. A Classe buscará atingir, para as Cotas Seniores, o “Benchmark”, correspondente à 100% (cem por cento) da variação positiva do CDI acrescida de 4,5% (quatro inteiros e cinco décimos por cento) ao ano. 1.3. O Benchmark não representa e nem devem ser considerados uma promessa, garantia ou sugestão de rentabilidade aos Cotistas Seniores, por parte da Classe, do Administrador, do Gestor e/ou do Cedente. 1.4. Independentemente do valor do Patrimônio Líquido da Classe, os Cotistas detentores de Cotas Seniores não f arão jus a uma rentabilidade superior ao Benchmark, o qual representará o limite máximo de remuneração possível para as Cotas Seniores. 2. Emissão, Subscrição e Integralização das Cotas 2.1. A Classe poderá emitir múltiplas Séries de Cotas Seniores, ficando ressalvado, no entanto, que cada nova Série de Cotas Seniores a ser emitida pela Classe</a:t>
            </a:r>
          </a:p>
          <a:p>
            <a:r>
              <a:t>CNPJ 62696791000193 · Remuneração por subclasse e série · Regulamento · ID 1143317 · 20/03/2026 · versão Regulamento — referência 20/03/2026 · p. 34 · Apêndice Sênior, 6.2 · https://fnet.bmfbovespa.com.br/fnet/publico/visualizarDocumento?id=1143317</a:t>
            </a:r>
          </a:p>
          <a:p>
            <a:r>
              <a:t>CNPJ 62696791000193 · Remuneração por subclasse e série · Excerto da fonte:</a:t>
            </a:r>
          </a:p>
          <a:p>
            <a:r>
              <a:t>6.2. Em complemento às Amortizações Programadas de Cotas Seniores, os Cotistas Seniores f arão jus, sempre que o Patrimônio Líquido da Classe assim permita e desde que o Valor Unitário das Cotas Seniores esteja superior ao valor de integralização das Cotas Seniores em circulação, a 50% (cinquenta por cento) de qualquer valor que exceder a Amortização das Cotas Subordinadas, conforme prevista no Apêndice da Subclasse Subordinada, a ser paga na Data de Amortização Programada de Cotas Seniores (“Amortização Extraordinária de Cotas Seniores”). 6.3. Os pagamentos das parcelas de Amortização e/ou de resgate das Cotas Seniores serão ef etuados, em moeda corrente nacional, pelo Valor Unitário das Cotas Seniores no dia do pagamento, calculado na forma descrita neste Apêndice e no Anexo I, por meio de depósito em conta de titularidade dos Cotistas titulares BTG Pactual 2 SAC: 0800 772 28 27 - Ouvidoria: 0800 722 00 48 - btgpactual.com</a:t>
            </a:r>
          </a:p>
          <a:p>
            <a:r>
              <a:t>CNPJ 62696791000193 · Remuneração por subclasse e série · Regulamento · ID 1143317 · 20/03/2026 · versão Regulamento — referência 20/03/2026 · p. 37 · Apêndice Júnior, 4.1–4.2 · https://fnet.bmfbovespa.com.br/fnet/publico/visualizarDocumento?id=1143317</a:t>
            </a:r>
          </a:p>
          <a:p>
            <a:r>
              <a:t>CNPJ 62696791000193 · Remuneração por subclasse e série · Excerto da fonte:</a:t>
            </a:r>
          </a:p>
          <a:p>
            <a:r>
              <a:t>4.1. Caso o Patrimônio Líquido da Classe assim permita, as Cotas Subordinadas f arão jus à amortização semestral, no último Dia Útil dos meses de janeiro e julho de cada ano, de valor equivalente ao excedente do valor de integralização das Cotas Subordinadas em circulação, limitado ao percentual de 100% (cem por cento) da variação positiva do CDI acrescida de 4,50% (quatro inteiros e cinco décimos por cento) ao ano, considerando, para tanto a razão entre (i) o valor de integralização das Cotas Subordinadas Júnior em circulação e (ii) o valor de cada uma das Cotas Subordinadas, a ser paga na Data de Amortização Programada de Cotas Seniores (“Amortização das Cotas Subordinadas”). 4.2. Em complemento às Amortizações das Cotas Subordinadas, os Cotistas Subordinados farão jus, sempre que o Patrimônio Líquido da Classe assim permita e desde que o Valor Unitário das Cotas Subordinadas esteja superior ao valor de integralização das Cotas Subordinadas em circulação, a 50% (cinquenta por cento) de qualquer valor que exceder a Amortização das Cotas Subordinadas, a ser paga na Data de Amortização Programada de Cotas Seniores (“Amortização Extraordinária de Cotas Seniores”). 5. Excesso de Subordinação 5.1. Verif icado excesso de subordinação,</a:t>
            </a:r>
          </a:p>
          <a:p>
            <a:r>
              <a:t>CNPJ 62696791000193 · Remuneração por subclasse e série · Condição: Benchmark é regra de atribuição, condicionado ao PL/resultados, sem garantia de rentabilidade. A subclasse mezanino é autorizada, mas não há apêndice mezanino no PDF consolidado obtido.</a:t>
            </a:r>
          </a:p>
          <a:p>
            <a:r>
              <a:t>CNPJ 62696791000193 · Remuneração por subclasse e série · Versão e prevalência: Leitura específica das cláusulas indicadas; condições e conflitos preservados. Seleção documental atual não comprova vigência jurídica por data isolada.</a:t>
            </a:r>
          </a:p>
          <a:p>
            <a:r>
              <a:t>CNPJ 62696791000193 · Remuneração por subclasse e série · Resumo do histórico: {"count": 1, "dates": ["2026-03-27"], "document_count": 1, "sources": [{"document_id": "1148821", "title": "Instrumento Particular de Emissão de Cotas", "reference_date": "2026-03-27", "version": "1", "page": "1-2", "url": "https://fnet.bmfbovespa.com.br/fnet/publico/visualizarDocumento?id=1148821", "sha256": "86900e9dd498403696bfffbd4196443c83ec4d51ff21135e073c1966e1adf4c0"}], "reference": {"path": "history/62696791000193.json", "criterion_id": "remuneration", "total_count": 1, "preview_count": 1, "full_text_deferred": true, "sha256": "0e9ec199848320ec945708123ae0cb6075d76c05d94beed814d582031d353926"}}</a:t>
            </a:r>
          </a:p>
          <a:p>
            <a:r>
              <a:t>CNPJ 55563624000109 · Remuneração por subclasse e série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Remuneração por subclasse e série · Resumo do histórico: {"count": 1, "dates": ["2026-04-30"], "document_count": 1, "sources": [{"document_id": "1192614", "title": "Regulamento", "reference_date": "2026-04-30", "version": "1", "page": "16-17", "url": "https://fnet.bmfbovespa.com.br/fnet/publico/visualizarDocumento?id=1192614", "sha256": "f56e63ace0acde41d2f47fb48f1ac7f3f7df5e2d32de092d7c5e075a52516632"}], "reference": {"path": "history/55563624000109.json", "criterion_id": "remuneration", "total_count": 1, "preview_count": 1, "full_text_deferred": true, "sha256": "7835d573fb58a3c19adf5b8ecc2aee2bdbb9a88f7a0c0209b5f262b64c7522e3"}}</a:t>
            </a:r>
          </a:p>
          <a:p>
            <a:r>
              <a:t>CNPJ 62552447000120 · Remuneração por subclasse e série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Remuneração por subclasse e série · Resumo do histórico: {"count": 1, "dates": ["2025-09-03"], "document_count": 1, "sources": [{"document_id": "988020", "title": "Instrumento Particular de Emissão de Cotas", "reference_date": "2025-09-03", "version": "1", "page": "5-6", "url": "https://fnet.bmfbovespa.com.br/fnet/publico/visualizarDocumento?id=988020", "sha256": "8ecc8a771bb9713d64e5fc2052c489664cb0433801a9280db68e5187d35bf7a5"}], "reference": {"path": "history/62552447000120.json", "criterion_id": "remuneration", "total_count": 1, "preview_count": 1, "full_text_deferred": true, "sha256": "d95db8c0613d67ee84118c734588665265ea6b02f86a0318d6a844cbe1d0f82f"}}</a:t>
            </a:r>
          </a:p>
          <a:p>
            <a:r>
              <a:t>CNPJ 63953620000165 · Remuneração por subclasse e série · Anexo ao Regulamento · ID 1222863 · 2026-06-02 · versão 1 · p. 22 · 1.2 · https://fnet.bmfbovespa.com.br/fnet/publico/visualizarDocumento?id=1222863</a:t>
            </a:r>
          </a:p>
          <a:p>
            <a:r>
              <a:t>CNPJ 63953620000165 · Remuneração por subclasse e série · Excerto da fonte:</a:t>
            </a:r>
          </a:p>
          <a:p>
            <a:r>
              <a:t>1.2. Benchmark Sênior. A Classe buscará atingir, para as Cotas Seniores, o Benchmark Sênior, qual seja, (a) para a parcela  do Patrimônio Líquido alocado em Direitos Creditórios Consignado Privado e/ou Ativos de Liquidez MT, a variação  positiva do CDI acrescida de 1,50% (um inteiro e cinco décimos por cento) ao ano, (b) para a parcela do Patrimônio  Líquido alocado em Ativos de Liquidez e/ou Direitos Creditórios TVM, a variação positiva do CDI.</a:t>
            </a:r>
          </a:p>
          <a:p>
            <a:r>
              <a:t>CNPJ 63953620000165 · Remuneração por subclasse e série · Anexo ao Regulamento · ID 1222863 · 2026-06-02 · versão 1 · p. 22 · 1.5 · https://fnet.bmfbovespa.com.br/fnet/publico/visualizarDocumento?id=1222863</a:t>
            </a:r>
          </a:p>
          <a:p>
            <a:r>
              <a:t>CNPJ 63953620000165 · Remuneração por subclasse e série · Excerto da fonte:</a:t>
            </a:r>
          </a:p>
          <a:p>
            <a:r>
              <a:t>1.5. Rentabilidade Adicional Sênior. Adicionalmente ao Benchmark Sênior, as Cotas Seniores efetivamente integralizadas  farão jus a uma rentabilidade adicional equivalente a 0,38% (trinta e oito centésimos por cento) incidente sobre o  montante financeiro integralizado pelo respectivo Cotista das Cotas Seniores (“Rentabilidade Adicional Sênior”), a  ser paga a cada Cotista Sênior, em uma única parcela, em até 40 (quarenta) dias corridos após a integralização das  respectivas Cotas Seniores, sendo automaticamente ajustada em caso de alteração da alíquota ou da forma de  incidência do IOF, e deixando de ser devida na hipótese de sua extinção.</a:t>
            </a:r>
          </a:p>
          <a:p>
            <a:r>
              <a:t> 2. Emissão, Subscrição e Integralização das Cotas</a:t>
            </a:r>
          </a:p>
          <a:p>
            <a:r>
              <a:t>CNPJ 63953620000165 · Remuneração por subclasse e série · Condição: Documentos atuais selecionados no inventário por categoria/escopo; a data documental isolada não comprova vigência jurídica.</a:t>
            </a:r>
          </a:p>
          <a:p>
            <a:r>
              <a:t>CNPJ 63953620000165 · Remuneração por subclasse e série · Versão e prevalência: Documentos atuais selecionados no inventário por categoria/escopo; a data documental isolada não comprova vigência jurídica.</a:t>
            </a:r>
          </a:p>
          <a:p>
            <a:r>
              <a:t>CNPJ 54871427000194 · Volume, VNU e emissão · Anúncio de Encerramento · ID 798101 · 2024-12-10 · versão 1 · p. 1 · https://fnet.bmfbovespa.com.br/fnet/publico/visualizarDocumento?id=798101</a:t>
            </a:r>
          </a:p>
          <a:p>
            <a:r>
              <a:t>CNPJ 54871427000194 · Volume, VNU e emissão · Excerto da fonte:</a:t>
            </a:r>
          </a:p>
          <a:p>
            <a:r>
              <a:t>Informações da Oferta  Valor Bruto da 2ª Quantidade de Cotas  Preço de Emissão da Cota  Emissão emitidas  R$ 55.000.000,00 55.000 R$ 1.000,00</a:t>
            </a:r>
          </a:p>
          <a:p>
            <a:r>
              <a:t>CNPJ 54871427000194 · Volume, VNU e emissão · Condição: Trechos do documento específico identificado com data mais recente; vigência jurídica não inferida.</a:t>
            </a:r>
          </a:p>
          <a:p>
            <a:r>
              <a:t>CNPJ 54871427000194 · Volume, VNU e emissão · Versão e prevalência: Trechos do documento específico identificado com data mais recente; vigência jurídica não inferida.</a:t>
            </a:r>
          </a:p>
          <a:p>
            <a:r>
              <a:t>CNPJ 54871427000194 · Volume, VNU e emissão · Resumo do histórico: {"count": 5, "dates": ["2024-06-11", "2024-06-13", "2024-12-10"], "document_count": 3, "sources": [{"document_id": "798101", "title": "Anúncio de Encerramento", "reference_date": "2024-12-10", "version": "1", "page": "1-2", "url": "https://fnet.bmfbovespa.com.br/fnet/publico/visualizarDocumento?id=798101", "sha256": "71618c432ad86002484571d66922b873e4fa91ed3543a109134ddee0bd872f20"}, {"document_id": "683482", "title": "AGE", "reference_date": "2024-06-13", "version": "1", "page": 1, "clause": "4.1", "url": "https://fnet.bmfbovespa.com.br/fnet/publico/visualizarDocumento?id=683482", "sha256": "3afbe254027691929935eaf19ebbb8634fb2ccd8e2fbea2cb2d81a7818f8d648"}, {"document_id": "677544", "title": "Anúncio de Encerramento", "reference_date": "2024-06-11", "version": "1", "page": 1, "url": "https://fnet.bmfbovespa.com.br/fnet/publico/visualizarDocumento?id=677544", "sha256": "5735adc30829e0e91623167d4fd602de01adb236e3d3e758bddb0a375c7067b1"}], "reference": {"path": "history/54871427000194.json", "criterion_id": "issue_volume", "total_count": 5, "preview_count": 3, "full_text_deferred": true, "sha256": "35d7cd99be50c7287c9fb675cf4f2e736002315295a225a9efa79c8d9186d874"}}</a:t>
            </a:r>
          </a:p>
          <a:p>
            <a:r>
              <a:t>CNPJ 60010416000112 · Volume, VNU e emissão · AGE · ID 1049114 · 2025-11-26 · versão 1 · p. 2 · https://fnet.bmfbovespa.com.br/fnet/publico/visualizarDocumento?id=1049114</a:t>
            </a:r>
          </a:p>
          <a:p>
            <a:r>
              <a:t>CNPJ 60010416000112 · Volume, VNU e emissão · Excerto da fonte:</a:t>
            </a:r>
          </a:p>
          <a:p>
            <a:r>
              <a:t>Este instrumento constitui o suplemento nº 3 (“Suplemento”) referente à 1ª emissão de cotas da Série B  da Subclasse Sênior da CLASSE ÚNICA DO MT CONSIGNADO PRIVADO I FUNDO DE  INVESTIMENTO EM DIREITOS CREDITÓRIOS RESPONSABILIDADE LIMITADA (“Classe” e  “FUNDO”, respectivamente), administrado pela BTG Pactual Serviços Financeiros S.A. Distribuidora  de Títulos e Valores Mobiliários, instituição com sede no Município do Rio de Janeiro, Estado do Rio de  Janeiro, na Praia de Botafogo, nº 501, 5º andar – parte, inscrita no CNPJ sob o nº 59.281.253/0001-23,  autorizada a funcionar pelo Banco Central do Brasil e autorizada pela Comissão de Valores Mobiliários  (“CVM”) para a atividade de administração de carteiras de valores mobiliários, de acordo com o Ato  Declaratório nº 8.695, de 20 de março de 2006 (“ADMINISTRADOR”), emitidas nos termos do regulamento  do FUNDO, do anexo descritivo da Classe do respectivo apêndice, devidamente registrado perante a CVM  (“Regulamento”, “Anexo da Classe”, “Apêndice” e “Cotas Seniores” respectivamente), a qual terá as  seguintes características:</a:t>
            </a:r>
          </a:p>
          <a:p>
            <a:r>
              <a:t> Número de Emissão, Valor São emitidas no âmbito da 1ª emissão da 3ª Série de Cotas Seniores da  Total da Emissão e Forma Classe, de 2,000,000 (dois milhões) de Cotas da 3ª Série da Subclasse  de Distribuição Sênior da Classe, com valor nominal unitário de R$ 1.000,00 (mil reais)  cada, totalizando o montante de R$ 2.000.000.000,00 (dois bilhões de  reais), as quais serão objeto de colocação privada, destinada ao Público-  Alvo (conforme definido no Anexo da Classe) (“Colocação Privada”).</a:t>
            </a:r>
          </a:p>
          <a:p>
            <a:r>
              <a:t> Valor Unitário de Emissão As Cotas Seniores da 3ª Série terão um valor unitário de R$ 1.000,00 (mil  reais) na respectiva Data de Emissão.</a:t>
            </a:r>
          </a:p>
          <a:p>
            <a:r>
              <a:t> Data de Emissão Data da 1ª Integralização.</a:t>
            </a:r>
          </a:p>
          <a:p>
            <a:r>
              <a:t> Valor Unitário de As Cotas Seniores da 3ª Série serão subscritas pelo Valor Unitário de  Integralização Emissão, e serão integralizadas pelo respectivo Valor Unitário, nos  termos do Regulamento, do Apêndice e deste Suplemento, sendo certo  que, nas emissões de novas Cotas Seniores da 3ª Série que não difiram,  em sua respectiva Subclasse, das Cotas Seniores da 3ª Série então em  circulação, o Valor Unitário de Integralização corresponderá ao Valor  Unitário da Cota apurado no Dia Útil em que os recursos aportados pelo  Cotista tornem-se efetivamente disponíveis à Classe.</a:t>
            </a:r>
          </a:p>
          <a:p>
            <a:r>
              <a:t> Investimento Mínimo por Não há  Investidor  Forma de Subscrição e As Cotas Seniores da 3ª Série deverão ser integralizadas, à vista, em  Integralização moeda corrente nacional, pelo Valor Unitário de Integralização, no ato de  subscrição.</a:t>
            </a:r>
          </a:p>
          <a:p>
            <a:r>
              <a:t> Ao subscrever Cotas Seniores da 3ª Série, cada Investidor deverá  assinar o Termo de Adesão, no qual confirmará, dentre outros, ter  conhecimento de todos os termos e condições do Fundo e do</a:t>
            </a:r>
          </a:p>
          <a:p>
            <a:r>
              <a:t>CNPJ 60010416000112 · Volume, VNU e emissão · Condição: Trechos do documento específico identificado com data mais recente; vigência jurídica não inferida.</a:t>
            </a:r>
          </a:p>
          <a:p>
            <a:r>
              <a:t>CNPJ 60010416000112 · Volume, VNU e emissão · Motivo: Cláusula primária localizada e citada, mas sua lista/condições extensas não admitem uma síntese literal curta confirmada. O trecho integral permanece nas fontes. A resposta da revisão anterior foi preservada no histórico, sem confirmação pelo documento atual.</a:t>
            </a:r>
          </a:p>
          <a:p>
            <a:r>
              <a:t>CNPJ 60010416000112 · Volume, VNU e emissão · Versão e prevalência: Trechos do documento específico identificado com data mais recente; vigência jurídica não inferida.</a:t>
            </a:r>
          </a:p>
          <a:p>
            <a:r>
              <a:t>CNPJ 60010416000112 · Volume, VNU e emissão · Resumo do histórico: {"count": 3, "dates": ["2025-03-20", "2025-05-12"], "document_count": 2, "sources": [{"document_id": "1004656", "title": "AGE", "reference_date": "2025-05-12", "version": "1", "page": 4, "url": "https://fnet.bmfbovespa.com.br/fnet/publico/visualizarDocumento?id=1004656", "sha256": "f6c9c009f6170e2b29f074b98522accec73f0c40efbf11f9ec2c8d3f1402616b"}, {"document_id": "993785", "title": "Instrumento Particular de Constituição/Encerramento do Fundo", "reference_date": "2025-03-20", "version": "1", "page": "2", "url": "https://fnet.bmfbovespa.com.br/fnet/publico/visualizarDocumento?id=993785", "sha256": "0826e0eae2c51afabf59bbc49fc7647598d03da5ca6de0f9725850a8bd6af457"}, {"document_id": "993785", "title": "Instrumento Particular de Constituição/Encerramento do Fundo", "reference_date": "2025-03-20", "version": "1", "page": 2, "url": "https://fnet.bmfbovespa.com.br/fnet/publico/visualizarDocumento?id=993785", "sha256": "0826e0eae2c51afabf59bbc49fc7647598d03da5ca6de0f9725850a8bd6af457"}], "reference": {"path": "history/60010416000112.json", "criterion_id": "issue_volume", "total_count": 3, "preview_count": 3, "full_text_deferred": true, "sha256": "8e2bd813f4c51cf01f6bfaad164bafe69d2bbb192f753eac92da3a01c2e63046"}}</a:t>
            </a:r>
          </a:p>
          <a:p>
            <a:r>
              <a:t>CNPJ 62696791000193 · Volume, VNU e emissão · Instrumento Particular de Emissão de Cotas · ID 1148821 · 27/03/2026 · versão Instrumento Particular de Emissão de Cotas — referência 27/03/2026 · p. 1 · Deliberação Conjunta, item1 · https://fnet.bmfbovespa.com.br/fnet/publico/visualizarDocumento?id=1148821</a:t>
            </a:r>
          </a:p>
          <a:p>
            <a:r>
              <a:t>CNPJ 62696791000193 · Volume, VNU e emissão · Excerto da fonte:</a:t>
            </a:r>
          </a:p>
          <a:p>
            <a:r>
              <a:t>1. Aprovar a 2ª (segunda) emissão da Subclasse Subordinada Júnior da Classe, composta por até 20.000 (vinte mil) Cotas Subordinadas Júnior, com valor nominal unitário de R$ 1.000,00 (mil reais), perfazendo o montante total de R$ 20.000.000,00 (vinte milhões de reais), as quais serão objeto de colocação privada, de acordo com os termos e condições definidos no Apêndice da Subclasse Subordinada Júnior constante do Anexo I Regulamento e descritas abaixo (“2ª Emissão da Subclasse Subordinada Júnior”): a) Rito: as Cotas Subordinadas Júnior objeto da 2ª Emissão da Subclasse Subordinada Júnior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Subordinada Júnior na data de integralização, calculado na forma prevista no respectivo Apêndice; BTG Pactual 1 SAC: 0800 772 28 27 - Ouvidoria: 0800 722 00 48 - btgpactual.com</a:t>
            </a:r>
          </a:p>
          <a:p>
            <a:r>
              <a:t>CNPJ 62696791000193 · Volume, VNU e emissão · Instrumento Particular de Emissão de Cotas · ID 1148821 · 27/03/2026 · versão Instrumento Particular de Emissão de Cotas — referência 27/03/2026 · p. 2 · Deliberação Conjunta, item2 · https://fnet.bmfbovespa.com.br/fnet/publico/visualizarDocumento?id=1148821</a:t>
            </a:r>
          </a:p>
          <a:p>
            <a:r>
              <a:t>CNPJ 62696791000193 · Volume, VNU e emissão · Excerto da fonte:</a:t>
            </a:r>
          </a:p>
          <a:p>
            <a:r>
              <a:t>2. Aprovar a 2ª (segunda) emissão da Subclasse Sênior da Classe, composta por até 150.000 (cento e cinquenta mil) Cotas Seniores, com valor nominal unitário de R$ 1.000,00 (mil reais), perfazendo o montante total de R$ 150.000.000,00 (cento e cinquenta milhões de reais), as quais serão objeto de colocação privada, de acordo com os termos e condições descritos no Apêndice da Subclasse Sênior constante do Anexo I Regulamento e descritas abaixo (“2ª Emissão da Subclasse Sênior”): a) Rito: as Cotas Seniores objeto da 2ª Emissão da Subclasse Sênior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Sênior na data de integralização, calculado na forma prevista no respectivo Apêndice; d) Forma de Integralização: as Cotas Seniores serão integralizadas mediante chamadas de capital, junto ao seu respectivo agente de custódia e/ou da Administradora na qualidade de escriturador das cotas, nos termos d</a:t>
            </a:r>
          </a:p>
          <a:p>
            <a:r>
              <a:t>CNPJ 62696791000193 · Volume, VNU e emissão · Condição: Volumes autorizados de emissão não comprovam captação ou integralização observada.</a:t>
            </a:r>
          </a:p>
          <a:p>
            <a:r>
              <a:t>CNPJ 62696791000193 · Volume, VNU e emissão · Versão e prevalência: Leitura específica das cláusulas indicadas; condições e conflitos preservados. Seleção documental atual não comprova vigência jurídica por data isolada.</a:t>
            </a:r>
          </a:p>
          <a:p>
            <a:r>
              <a:t>CNPJ 62696791000193 · Volume, VNU e emissão · Resumo do histórico: {"count": 2, "dates": ["2026-03-20", "2026-03-27"], "document_count": 2, "sources": [{"document_id": "1148821", "title": "Instrumento Particular de Emissão de Cotas", "reference_date": "2026-03-27", "version": "1", "page": "1-2", "url": "https://fnet.bmfbovespa.com.br/fnet/publico/visualizarDocumento?id=1148821", "sha256": "86900e9dd498403696bfffbd4196443c83ec4d51ff21135e073c1966e1adf4c0"}, {"document_id": "1143317", "title": "Regulamento", "reference_date": "2026-03-20", "version": "1", "page": 23, "clause": "11.3", "url": "https://fnet.bmfbovespa.com.br/fnet/publico/visualizarDocumento?id=1143317", "sha256": "32f62818d51c3ebeaf9ec012d3d7867f15c1aed6d10f0867c157a290df1cea48"}], "reference": {"path": "history/62696791000193.json", "criterion_id": "issue_volume", "total_count": 2, "preview_count": 2, "full_text_deferred": true, "sha256": "0e9ec199848320ec945708123ae0cb6075d76c05d94beed814d582031d353926"}}</a:t>
            </a:r>
          </a:p>
          <a:p>
            <a:r>
              <a:t>CNPJ 55563624000109 · Volume, VNU e emissão · Regulamento · ID 1192614 · 2026-04-30 · versão 1 · p. 17 · 5.13.2 · https://fnet.bmfbovespa.com.br/fnet/publico/visualizarDocumento?id=1192614</a:t>
            </a:r>
          </a:p>
          <a:p>
            <a:r>
              <a:t>CNPJ 55563624000109 · Volume, VNU e emissão · Excerto da fonte:</a:t>
            </a:r>
          </a:p>
          <a:p>
            <a:r>
              <a:t>5.13.2 Caso um Cotista do Fundo pretenda transferir suas Cotas para terceiros (“Cotista Vendedor”), deverá  notificar previamente o GESTOR, via e-mail, manifestando sua proposta de alienação de Cotas, a qual  deve incluir o interessado na aquisição e a quantidade de Cotas a serem alienadas e o preço para tal  alienação (“Proposta de Venda”). O GESTOR deverá manifestar aprovação para alienação das Cotas  objeto da Proposta de Venda (“Cotas Objeto”) em até 5 (cinco) Dias Úteis, observado que a ausência de  aprovação deverá ser entendida como aprovação tácita à alienação das Cotas Objeto.</a:t>
            </a:r>
          </a:p>
          <a:p>
            <a:r>
              <a:t>CNPJ 55563624000109 · Volume, VNU e emissão · Regulamento · ID 1192614 · 2026-04-30 · versão 1 · p. 39 · https://fnet.bmfbovespa.com.br/fnet/publico/visualizarDocumento?id=1192614</a:t>
            </a:r>
          </a:p>
          <a:p>
            <a:r>
              <a:t>CNPJ 55563624000109 · Volume, VNU e emissão · Excerto da fonte:</a:t>
            </a:r>
          </a:p>
          <a:p>
            <a:r>
              <a:t>(xxi) Ausência de propriedade direta dos ativos. Os direitos dos Cotistas serão exercidos sobre  todos os ativos da Carteira de modo não individualizado, proporcionalmente à quantidade de Cotas  detidas por cada um. Portanto, os Cotistas não terão qualquer direito de propriedade direta sobre as  Cotas da Classe Investida e os Ativos Financeiros de Liquidez integrantes da Carteira, ou mesmo sobre  os direitos creditórios e os ativos financeiros de liquidez integrantes da carteira da Classe Investida.</a:t>
            </a:r>
          </a:p>
          <a:p>
            <a:r>
              <a:t>CNPJ 55563624000109 · Volume, VNU e emissão · Condição: Documentos atuais selecionados no inventário por categoria/escopo; a data documental isolada não comprova vigência jurídica.</a:t>
            </a:r>
          </a:p>
          <a:p>
            <a:r>
              <a:t>CNPJ 55563624000109 · Volume, VNU e emissão · Versão e prevalência: Documentos atuais selecionados no inventário por categoria/escopo; a data documental isolada não comprova vigência jurídica.</a:t>
            </a:r>
          </a:p>
          <a:p>
            <a:r>
              <a:t>CNPJ 55563624000109 · Volume, VNU e emissão · Resumo do histórico: {"count": 3, "dates": ["2024-12-30", "2025-01-31", "2026-01-31"], "document_count": 3, "sources": [{"document_id": "1178840", "title": "Demonstrações Financeiras", "reference_date": "2026-01-31", "version": "1", "page": 25, "url": "https://fnet.bmfbovespa.com.br/fnet/publico/visualizarDocumento?id=1178840", "sha256": "c458e98664c5c907ddb5a05a94b120bed4e05295b2bfc420f5ba69af0a229abe"}, {"document_id": "891861", "title": "Demonstrações Financeiras", "reference_date": "2025-01-31", "version": "1", "page": 26, "url": "https://fnet.bmfbovespa.com.br/fnet/publico/visualizarDocumento?id=891861", "sha256": "e9cb9e6ddbe505fe068cfcac33605165a98313489de0d3ce6d4d238263c3f3e7"}, {"document_id": "811323", "title": "Anúncio de Encerramento", "reference_date": "2024-12-30", "version": "1", "page": 1, "url": "https://fnet.bmfbovespa.com.br/fnet/publico/visualizarDocumento?id=811323", "sha256": "ebc6bc661be5189acffb3c3e352de2aea0a8ca8431011d1237e1ae19da4f9c79"}], "reference": {"path": "history/55563624000109.json", "criterion_id": "issue_volume", "total_count": 3, "preview_count": 3, "full_text_deferred": true, "sha256": "7835d573fb58a3c19adf5b8ecc2aee2bdbb9a88f7a0c0209b5f262b64c7522e3"}}</a:t>
            </a:r>
          </a:p>
          <a:p>
            <a:r>
              <a:t>CNPJ 62552447000120 · Volume, VNU e emissão · AGE · ID 1315103 · 2026-09-08 · versão 1 · p. 1 · https://fnet.bmfbovespa.com.br/fnet/publico/visualizarDocumento?id=1315103</a:t>
            </a:r>
          </a:p>
          <a:p>
            <a:r>
              <a:t>CNPJ 62552447000120 · Volume, VNU e emissão · Excerto da fonte:</a:t>
            </a:r>
          </a:p>
          <a:p>
            <a:r>
              <a:t>a) Rito: as cotas objeto da Segunda Emissão não estão sujeitas a regulamentação  de oferta de valores mobiliários, conforme facultado pelo Art. 8º, inciso II, da  Resolução CVM nº 160, de 13 de julho de 2022;</a:t>
            </a:r>
          </a:p>
          <a:p>
            <a:r>
              <a:t> b) Preço de Emissão: R$ 1.000,00 (mil reais);</a:t>
            </a:r>
          </a:p>
          <a:p>
            <a:r>
              <a:t> c) Quantidade de Cotas: 10.000 (dez mil) Cotas;</a:t>
            </a:r>
          </a:p>
          <a:p>
            <a:r>
              <a:t> d) Preço de Integralização: será o valor da Cota vigente na data de integralização,  nos termos do respectivo boletim de subscrição;</a:t>
            </a:r>
          </a:p>
          <a:p>
            <a:r>
              <a:t> e) Forma de Integralização: as Cotas serão integralizadas à vista, em moeda  corrente nacional, junto ao seu respectivo agente de custódia e/ou da  Administradora na qualidade de escriturador das cotas;</a:t>
            </a:r>
          </a:p>
          <a:p>
            <a:r>
              <a:t> f) Período de colocação: a subscrição das Cotas, objeto da Segunda Emissão,  deverão ser realizadas no prazo máximo de 180 (cento e oitenta) dias, contados  da data de efeitos do presente instrumento.</a:t>
            </a:r>
          </a:p>
          <a:p>
            <a:r>
              <a:t>CNPJ 62552447000120 · Volume, VNU e emissão · Condição: Trechos do documento específico identificado com data mais recente; vigência jurídica não inferida.</a:t>
            </a:r>
          </a:p>
          <a:p>
            <a:r>
              <a:t>CNPJ 62552447000120 · Volume, VNU e emissão · Versão e prevalência: Trechos do documento específico identificado com data mais recente; vigência jurídica não inferida.</a:t>
            </a:r>
          </a:p>
          <a:p>
            <a:r>
              <a:t>CNPJ 62552447000120 · Volume, VNU e emissão · Resumo do histórico: {"count": 2, "dates": ["2025-09-03"], "document_count": 1, "sources": [{"document_id": "988020", "title": "Instrumento Particular de Emissão de Cotas", "reference_date": "2025-09-03", "version": "1", "page": "5", "url": "https://fnet.bmfbovespa.com.br/fnet/publico/visualizarDocumento?id=988020", "sha256": "8ecc8a771bb9713d64e5fc2052c489664cb0433801a9280db68e5187d35bf7a5"}, {"document_id": "988020", "title": "Instrumento Particular de Emissão de Cotas", "reference_date": "2025-09-03", "version": "1", "page": 2, "url": "https://fnet.bmfbovespa.com.br/fnet/publico/visualizarDocumento?id=988020", "sha256": "8ecc8a771bb9713d64e5fc2052c489664cb0433801a9280db68e5187d35bf7a5"}], "reference": {"path": "history/62552447000120.json", "criterion_id": "issue_volume", "total_count": 2, "preview_count": 2, "full_text_deferred": true, "sha256": "d95db8c0613d67ee84118c734588665265ea6b02f86a0318d6a844cbe1d0f82f"}}</a:t>
            </a:r>
          </a:p>
          <a:p>
            <a:r>
              <a:t>CNPJ 63953620000165 · Volume, VNU e emissão · Demonstrações Financeiras - Fusão, cisão e incorporação · ID 1327859 · 2026-05-15 · versão 1 · p. 31 · 15.000.000 · https://fnet.bmfbovespa.com.br/fnet/publico/visualizarDocumento?id=1327859</a:t>
            </a:r>
          </a:p>
          <a:p>
            <a:r>
              <a:t>CNPJ 63953620000165 · Volume, VNU e emissão · Excerto da fonte:</a:t>
            </a:r>
          </a:p>
          <a:p>
            <a:r>
              <a:t>15.000.000 (quinze bilhões de reais), , a serem objeto de colocação privada, nos termos  do Regulamento, da Resolução CVM 175 e do respectivo boletim de subscrição nos  seguintes termos:</a:t>
            </a:r>
          </a:p>
          <a:p>
            <a:r>
              <a:t> a. Montante Total da Colocação Privada: R$ 15.000.000 (quinze bilhões de  reais)  b. Quantidade de Cotas: 15.000.000 (quinze milhões) de Cotas Seniores;</a:t>
            </a:r>
          </a:p>
          <a:p>
            <a:r>
              <a:t> c. Preço de Emissão (Valor Unitário): R$ 1 (mil reais);</a:t>
            </a:r>
          </a:p>
          <a:p>
            <a:r>
              <a:t> d. Forma e Preço de Integralização: as Cotas serão integralizadas na forma  prevista no Boletim de Subscrição;</a:t>
            </a:r>
          </a:p>
          <a:p>
            <a:r>
              <a:t> e. Prazo da Colocação Privada: as Cotas serão colocadas em até 180 (cento e  oitenta) dias da data deste IPA.</a:t>
            </a:r>
          </a:p>
          <a:p>
            <a:r>
              <a:t>CNPJ 63953620000165 · Volume, VNU e emissão · Demonstrações Financeiras - Fusão, cisão e incorporação · ID 1327859 · 2026-05-15 · versão 1 · p. 31 · https://fnet.bmfbovespa.com.br/fnet/publico/visualizarDocumento?id=1327859</a:t>
            </a:r>
          </a:p>
          <a:p>
            <a:r>
              <a:t>CNPJ 63953620000165 · Volume, VNU e emissão · Excerto da fonte:</a:t>
            </a:r>
          </a:p>
          <a:p>
            <a:r>
              <a:t>Em Instrumento Particular de Alteração do MT Global Fundo de Investimento em Direitos  Creditórios, realizada em 08 de janeiro de 2026, foram deliberadas as seguintes matérias:</a:t>
            </a:r>
          </a:p>
          <a:p>
            <a:r>
              <a:t>(i) Alterar regulamento vigente da classe em relação aos itens 4.17.1, 6.8 e o Capítulo 13,</a:t>
            </a:r>
          </a:p>
          <a:p>
            <a:r>
              <a:t> (b) incluir o item 3.1, 8.1.(ii), 8.2, 8.2.1, e 10.2.(xvii); e (c) excluir os itens 6.8.1, 6.8.2,</a:t>
            </a:r>
          </a:p>
          <a:p>
            <a:r>
              <a:t>(ii) Aprovar a 1ª (primeira) emissão de cotas seniores das Classes (“Cotas Seniores”), em  sistema de vasos comunicantes entre as Classes, de forma que a quantidade de Cotas  Seniores integralizadas em uma das Classes será deduzida da quantidade de Cotas  Seniores disponíveis para integralização nas demais Classes, no montante total de R$</a:t>
            </a:r>
          </a:p>
          <a:p>
            <a:r>
              <a:t>CNPJ 63953620000165 · Volume, VNU e emissão · Demonstrações Financeiras - Fusão, cisão e incorporação · ID 1327859 · 2026-05-15 · versão 1 · p. 32 · https://fnet.bmfbovespa.com.br/fnet/publico/visualizarDocumento?id=1327859</a:t>
            </a:r>
          </a:p>
          <a:p>
            <a:r>
              <a:t>CNPJ 63953620000165 · Volume, VNU e emissão · Excerto da fonte:</a:t>
            </a:r>
          </a:p>
          <a:p>
            <a:r>
              <a:t>f. Montante Total da Colocação Privada: R$ 7.000 (sete milhões de reais);</a:t>
            </a:r>
          </a:p>
          <a:p>
            <a:r>
              <a:t> g. Quantidade de Cotas: 7.000 (sete mil) de Cotas Subordinadas CP  h. Preço de Emissão (Valor Unitário): R$ 1 (mil reais);</a:t>
            </a:r>
          </a:p>
          <a:p>
            <a:r>
              <a:t> i. Forma e Preço de Integralização: as Cotas serão integralizadas na forma  prevista no Boletim de Subscrição;</a:t>
            </a:r>
          </a:p>
          <a:p>
            <a:r>
              <a:t> j. Prazo da Colocação Privada: as Cotas serão colocadas em até 180 (cento e  oitenta) dias da data deste IPA.</a:t>
            </a:r>
          </a:p>
          <a:p>
            <a:r>
              <a:t>CNPJ 63953620000165 · Volume, VNU e emissão · Condição: Trechos do documento específico identificado com data mais recente; vigência jurídica não inferida.</a:t>
            </a:r>
          </a:p>
          <a:p>
            <a:r>
              <a:t>CNPJ 63953620000165 · Volume, VNU e emissão · Versão e prevalência: Trechos do documento específico identificado com data mais recente; vigência jurídica não inferida.</a:t>
            </a:r>
          </a:p>
          <a:p>
            <a:r>
              <a:t>CNPJ 63953620000165 · Volume, VNU e emissão · Resumo do histórico: {"count": 8, "dates": ["2026-04-16", "2026-04-28", "2026-05-08"], "document_count": 3, "sources": [{"document_id": "1298691", "title": "Demonstrações Financeiras - Fusão, cisão e incorporação", "reference_date": "2026-05-08", "version": "1", "page": 32, "url": "https://fnet.bmfbovespa.com.br/fnet/publico/visualizarDocumento?id=1298691", "sha256": "58c570d9b8d4d265330d3db3ea81c435b8e44a6dab4002aa37790652a1ee9819"}, {"document_id": "1282180", "title": "Demonstrações Financeiras - Fusão, cisão e incorporação", "reference_date": "2026-04-28", "version": "1", "page": 32, "clause": "15.000.000", "url": "https://fnet.bmfbovespa.com.br/fnet/publico/visualizarDocumento?id=1282180", "sha256": "afaaa0e6809be4385e5bdb6c911aac582032c5bdbac3d7750234bf9eaf00438a"}, {"document_id": "1282179", "title": "Demonstrações Financeiras - Fusão, cisão e incorporação", "reference_date": "2026-04-16", "version": "1", "page": 32, "clause": "15.000.000", "url": "https://fnet.bmfbovespa.com.br/fnet/publico/visualizarDocumento?id=1282179", "sha256": "beb67afbcd64169019477673fd3b7c1edbfabbd9db07379388d8cdd5d3fc9395"}], "reference": {"path": "history/63953620000165.json", "criterion_id": "issue_volume", "total_count": 8, "preview_count": 3, "full_text_deferred": true, "sha256": "a7b89077f5e21098c2d601c303faabc3ff6b9729f89d8afecdc60fe1404720c1"}}</a:t>
            </a:r>
          </a:p>
          <a:p>
            <a:r>
              <a:t>CNPJ 54871427000194 · Administração: taxa, base e mínimo · Regulamento · ID 670691 · 28/04/2024 · versão Regulamento — referência 28/04/2024 · p. 25 · Anexo I, 13.1 · https://fnet.bmfbovespa.com.br/fnet/publico/visualizarDocumento?id=670691</a:t>
            </a:r>
          </a:p>
          <a:p>
            <a:r>
              <a:t>CNPJ 54871427000194 · Administração: taxa, base e mínimo · Excerto da fonte:</a:t>
            </a:r>
          </a:p>
          <a:p>
            <a:r>
              <a:t>13.1 Pelos serviços de administração, tesouraria, controladoria e escrituração, a Classe pagará a Taxa de Administração nos seguintes moldes: o valor correspondente a 0,10% (dez centésimos por cento) ao ano aplicado sobre o Patrimônio Líquido, observado o valor mínimo de R$ 10.000,00 (dez mil reais) mensais atualizado pela variação positiva do IGP-M a cada período de 12 (doze) meses, contados a partir do mês em que ocorrer a primeira integralização de Cotas (inclusive). 13.1.1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BTG Pactual SAC: 0800 772 28 27 - Ouvidoria: 0800 722 00 48 - btgpactual.com 19</a:t>
            </a:r>
          </a:p>
          <a:p>
            <a:r>
              <a:t>CNPJ 54871427000194 · Administração: taxa, base e mínimo · Regulamento · ID 670691 · 28/04/2024 · versão Regulamento — referência 28/04/2024 · p. 26 · Anexo I, 13.1.2–13.1.3 · https://fnet.bmfbovespa.com.br/fnet/publico/visualizarDocumento?id=670691</a:t>
            </a:r>
          </a:p>
          <a:p>
            <a:r>
              <a:t>CNPJ 54871427000194 · Administração: taxa, base e mínimo · Excerto da fonte:</a:t>
            </a:r>
          </a:p>
          <a:p>
            <a:r>
              <a:t>13.1.2 A Taxa de Administração será calculada e provisionada todo Dia Útil à razão de 1/252 (um inteiro e duzentos e cinquenta e dois avos) com base no valor do Patrimônio Líquido do Dia Útil anterior. 13.1.3 A Taxa de Administração será paga mensalmente ao ADMINISTRADOR, observado o disposto no item 13.2 abaixo, por período vencido, até o 5º (quinto) Dia Útil do mês subsequente à prestação dos serviços, a partir do mês em que ocorrer a primeira integralização de Cotas da Classe. 13.2 O ADMINISTRADOR poderá estabelecer que parcelas da Taxa de Administração sejam pagas diretamente pela Classe aos prestadores de serviços contratados, desde que o somatório dessas parcelas não exceda o montante total da Taxa de Administração. 13.3 Não serão cobradas da Classe ou dos Cotistas taxas de perf ormance, de ingresso ou de saída. Taxa de Gestão 13.4 Pelos serviços de gestão, a Classe pagará a Taxa de Gestão nos seguintes moldes: o valor correspondente a 0,20% (vinte centésimos por cento) ao ano aplicado sobre o Patrimônio Líquido, observado o valor mínimo de R$ 15.000,00 (quinze mil reais) mensais atualizado pela variação positiva do IGP-M a cada período de 12 (</a:t>
            </a:r>
          </a:p>
          <a:p>
            <a:r>
              <a:t>CNPJ 54871427000194 · Administração: taxa, base e mínimo · Versão e prevalência: Leitura específica das cláusulas indicadas; condições e conflitos preservados. Seleção documental atual não comprova vigência jurídica por data isolada.</a:t>
            </a:r>
          </a:p>
          <a:p>
            <a:r>
              <a:t>CNPJ 54871427000194 · Administração: taxa, base e mínimo · Resumo do histórico: {"count": 2, "dates": ["2024-04-19", "2024-04-28"], "document_count": 2, "sources": [{"document_id": "670691", "title": "Regulamento", "reference_date": "2024-04-28", "version": "1", "page": "25-26", "url": "https://fnet.bmfbovespa.com.br/fnet/publico/visualizarDocumento?id=670691", "sha256": "bf16dd7f1a62d5cdbf2e2d54fef81783783f7310fbc99c3a8f00459bdf9d037b"}, {"document_id": "670689", "title": "Regulamento", "reference_date": "2024-04-19", "version": "1", "page": 26, "clause": "13.1", "url": "https://fnet.bmfbovespa.com.br/fnet/publico/visualizarDocumento?id=670689", "sha256": "891bc9bc5d87bbc02ec139077a84d2702eb81ea02035fb71d24f5b8366b94a0b"}], "reference": {"path": "history/54871427000194.json", "criterion_id": "admin_fee", "total_count": 2, "preview_count": 2, "full_text_deferred": true, "sha256": "35d7cd99be50c7287c9fb675cf4f2e736002315295a225a9efa79c8d9186d874"}}</a:t>
            </a:r>
          </a:p>
          <a:p>
            <a:r>
              <a:t>CNPJ 60010416000112 · Administração: taxa, base e mínimo · Regulamento · ID 1051393 · 09/10/2025 · versão Regulamento09/10/2025 · p. 29 · AnexoI12.1–12.1.2 · https://fnet.bmfbovespa.com.br/fnet/publico/visualizarDocumento?id=1051393</a:t>
            </a:r>
          </a:p>
          <a:p>
            <a:r>
              <a:t>CNPJ 60010416000112 · Administração: taxa, base e mínimo · Excerto da fonte:</a:t>
            </a:r>
          </a:p>
          <a:p>
            <a:r>
              <a:t>12.1 Pelos serviços de administração, escrituração, controladoria de ativos e passivo, e gestão de carteira, o Administrador fará jus a uma Taxa de Administração equivalente a 0,40% (quarenta centésimos por cento) por ano sobre o Patrimônio Líquido da Classe, a ser pago mensalmente, por período vencido da data em que ocorrer a primeira integralização de Cotas da Classe A, até o 5º (quinto) Dia Útil do mês subsequente ao da prestação do serviço, assegurado um valor mínimo mensal de R$ 20.000,00 (vinte mil reais), sendo este valor atualizado pela variação positiva do IPCA sempre em janeiro de cada ano,</a:t>
            </a:r>
          </a:p>
          <a:p>
            <a:r>
              <a:t>CNPJ 60010416000112 · Administração: taxa, base e mínimo · Versão e prevalência: Leitura específica das cláusulas indicadas; condições e conflitos preservados. Seleção documental atual não comprova vigência jurídica por data isolada.</a:t>
            </a:r>
          </a:p>
          <a:p>
            <a:r>
              <a:t>CNPJ 60010416000112 · Administração: taxa, base e mínimo · Resumo do histórico: {"count": 2, "dates": ["2025-03-20", "2025-10-09"], "document_count": 2, "sources": [{"document_id": "1051393", "title": "Regulamento", "reference_date": "2025-10-09", "version": "1", "page": "29", "url": "https://fnet.bmfbovespa.com.br/fnet/publico/visualizarDocumento?id=1051393", "sha256": "8469d613078ffd5a6c1d217885d8a397a16342c0b937ae4aa24b106505f233ae"}, {"document_id": "993786", "title": "Regulamento", "reference_date": "2025-03-20", "version": "1", "page": 29, "clause": "12.1", "url": "https://fnet.bmfbovespa.com.br/fnet/publico/visualizarDocumento?id=993786", "sha256": "fd0fdd369a195510d81f81f505195a0b09e5f43522a990afa7d58c4f872921c8"}], "reference": {"path": "history/60010416000112.json", "criterion_id": "admin_fee", "total_count": 2, "preview_count": 2, "full_text_deferred": true, "sha256": "8e2bd813f4c51cf01f6bfaad164bafe69d2bbb192f753eac92da3a01c2e63046"}}</a:t>
            </a:r>
          </a:p>
          <a:p>
            <a:r>
              <a:t>CNPJ 62696791000193 · Administração: taxa, base e mínimo · Regulamento · ID 1143317 · 20/03/2026 · versão Regulamento — referência 20/03/2026 · p. 28 · Anexo I, 13.1, Taxa de Administração · https://fnet.bmfbovespa.com.br/fnet/publico/visualizarDocumento?id=1143317</a:t>
            </a:r>
          </a:p>
          <a:p>
            <a:r>
              <a:t>CNPJ 62696791000193 · Administração: taxa, base e mínimo · Excerto da fonte:</a:t>
            </a:r>
          </a:p>
          <a:p>
            <a:r>
              <a:t>Taxa de Administração 0,10% (um décimo por cento) ao ano com um mínimo mensal de R$ 10.000,00 (dez mil reais), pagos mensalmente até o 5º (quinto) Dia Útil do mês subsequente ao mês que se ref ere, a ser corrigida anualmente, em janeiro de cada ano, pela variação positiva do Índice Geral de Preços – Mercado, divulgado pela Fundação Getúlio Vargas (“Taxa de Administração” e “IGP-M”, respectivamente).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T</a:t>
            </a:r>
          </a:p>
          <a:p>
            <a:r>
              <a:t>CNPJ 62696791000193 · Administração: taxa, base e mínimo · Condição: A linha da tabela não explicita novamente a base de PL para administração; conservar essa limitação em vez de completar a frase por analogia.</a:t>
            </a:r>
          </a:p>
          <a:p>
            <a:r>
              <a:t>CNPJ 62696791000193 · Administração: taxa, base e mínimo · Motivo: Não localizada uma cláusula material para este critério nos textos identificados e processados. A ausência de resultado não comprova inexistência da regra.</a:t>
            </a:r>
          </a:p>
          <a:p>
            <a:r>
              <a:t>CNPJ 62696791000193 · Administração: taxa, base e mínimo · Versão e prevalência: Leitura específica das cláusulas indicadas; condições e conflitos preservados. Seleção documental atual não comprova vigência jurídica por data isolada.</a:t>
            </a:r>
          </a:p>
          <a:p>
            <a:r>
              <a:t>CNPJ 55563624000109 · Administração: taxa, base e mínimo · Regulamento · ID 1192614 · 30/04/2026 · versão Regulamento30/04/2026 · p. 28 · AnexoI13.1–13.2 · https://fnet.bmfbovespa.com.br/fnet/publico/visualizarDocumento?id=1192614</a:t>
            </a:r>
          </a:p>
          <a:p>
            <a:r>
              <a:t>CNPJ 55563624000109 · Administração: taxa, base e mínimo · Excerto da fonte:</a:t>
            </a:r>
          </a:p>
          <a:p>
            <a:r>
              <a:t>13.1 Sem prejuízo da Taxa Máxima de Administração, pelos serviços de administração do FUNDO e da Classe, tesouraria, controle e processamento dos ativos integrantes da Carteira, a Classe pagará, no mínimo, ao ADMINISTRADOR a Taxa Mínima de Administração nos seguintes moldes: o valor correspondente a R$ 10.000,00 (dez mil reais) mensais, atualizado pela variação positiva do IGP-M, no mês de janeiro de cada ano (“Taxa Mínima de Administração”). 13.1.1 Na hipótese de extinção do IGP-M, não divulgação ou impossibilidade de sua utilização, será utilizado o</a:t>
            </a:r>
          </a:p>
          <a:p>
            <a:r>
              <a:t>CNPJ 55563624000109 · Administração: taxa, base e mínimo · Condição: A base do adicional é PL do Mercado Crédito II; não é teto 0, 10% sobre PLGN e não substitui mínimo R$ 10 mil.</a:t>
            </a:r>
          </a:p>
          <a:p>
            <a:r>
              <a:t>CNPJ 55563624000109 · Administração: taxa, base e mínimo · Versão e prevalência: Leitura específica das cláusulas indicadas; condições e conflitos preservados. Seleção documental atual não comprova vigência jurídica por data isolada.</a:t>
            </a:r>
          </a:p>
          <a:p>
            <a:r>
              <a:t>CNPJ 55563624000109 · Administração: taxa, base e mínimo · Resumo do histórico: {"count": 3, "dates": ["2025-01-31", "2026-01-31", "2026-04-30"], "document_count": 3, "sources": [{"document_id": "1192614", "title": "Regulamento", "reference_date": "2026-04-30", "version": "1", "page": "28", "clause": "13.2", "url": "https://fnet.bmfbovespa.com.br/fnet/publico/visualizarDocumento?id=1192614", "sha256": "f56e63ace0acde41d2f47fb48f1ac7f3f7df5e2d32de092d7c5e075a52516632"}, {"document_id": "1178840", "title": "Demonstrações Financeiras", "reference_date": "2026-01-31", "version": "1", "page": 29, "url": "https://fnet.bmfbovespa.com.br/fnet/publico/visualizarDocumento?id=1178840", "sha256": "c458e98664c5c907ddb5a05a94b120bed4e05295b2bfc420f5ba69af0a229abe"}, {"document_id": "891861", "title": "Demonstrações Financeiras", "reference_date": "2025-01-31", "version": "1", "page": 30, "url": "https://fnet.bmfbovespa.com.br/fnet/publico/visualizarDocumento?id=891861", "sha256": "e9cb9e6ddbe505fe068cfcac33605165a98313489de0d3ce6d4d238263c3f3e7"}], "reference": {"path": "history/55563624000109.json", "criterion_id": "admin_fee", "total_count": 3, "preview_count": 3, "full_text_deferred": true, "sha256": "7835d573fb58a3c19adf5b8ecc2aee2bdbb9a88f7a0c0209b5f262b64c7522e3"}}</a:t>
            </a:r>
          </a:p>
          <a:p>
            <a:r>
              <a:t>CNPJ 62552447000120 · Administração: taxa, base e mínimo · Regulamento · ID 1200623 · 21/05/2026 · versão Consolidado21/05/2026 aprovado pelo ato1200625 · p. 30 · AnexoI13.1 TaxaGlobal · https://fnet.bmfbovespa.com.br/fnet/publico/visualizarDocumento?id=1200623</a:t>
            </a:r>
          </a:p>
          <a:p>
            <a:r>
              <a:t>CNPJ 62552447000120 · Administração: taxa, base e mínimo · Excerto da fonte:</a:t>
            </a:r>
          </a:p>
          <a:p>
            <a:r>
              <a:t>Taxa Global Pelos serviços de administração, gestão, custódia, tesouraria, controladoria, escrituração, a Classe pagará um valor equivalente a um percentual incidente sobre o Patrimônio Líquido da Classe, conf orme a f aixa de Patrimônio Líquido da Classe prevista na tabela abaixo, apropriada diariamente e paga mensalmente até o 5º (quinto) Dia Útil do mês subsequente ao mês que se ref ere, com</a:t>
            </a:r>
          </a:p>
          <a:p>
            <a:r>
              <a:t>CNPJ 62552447000120 · Administração: taxa, base e mínimo · Condição: Global remunera administração, gestão, custódia, tesouraria, controladoria e escrituração; percentual segregado não presumido.</a:t>
            </a:r>
          </a:p>
          <a:p>
            <a:r>
              <a:t>CNPJ 62552447000120 · Administração: taxa, base e mínimo · Motivo: Não localizada uma cláusula material para este critério nos textos identificados e processados. A ausência de resultado não comprova inexistência da regra.</a:t>
            </a:r>
          </a:p>
          <a:p>
            <a:r>
              <a:t>CNPJ 62552447000120 · Administração: taxa, base e mínimo · Versão e prevalência: Leitura específica das cláusulas indicadas; condições e conflitos preservados. Seleção documental atual não comprova vigência jurídica por data isolada.</a:t>
            </a:r>
          </a:p>
          <a:p>
            <a:r>
              <a:t>CNPJ 63953620000165 · Administração: taxa, base e mínimo · Anexo ao Regulamento · ID 1222863 · 02/06/2026 · versão AnexoConsignadoPrivado02/06/2026 · p. 19 · Capítulo13TaxadeAdministração · https://fnet.bmfbovespa.com.br/fnet/publico/visualizarDocumento?id=1222863</a:t>
            </a:r>
          </a:p>
          <a:p>
            <a:r>
              <a:t>CNPJ 63953620000165 · Administração: taxa, base e mínimo · Excerto da fonte:</a:t>
            </a:r>
          </a:p>
          <a:p>
            <a:r>
              <a:t>Taxa de Administração positiva do Índice Geral de Preços – Mercado, divulgado pela Fundação Getúlio Vargas (“Taxa de Administração” e “IGP-M”, respectivamente). Na hipótese de extinção do IGP-M, não divulgação ou impossibilidade de sua utilização, será utilizado o Índice Geral de Preços – Disponibilidade Interna, divulgado pela Fundação Getúlio Vargas, ou, na falta de ambos, pela variação do IPC – Índice de Preços ao Consumidor, divulgado pela</a:t>
            </a:r>
          </a:p>
          <a:p>
            <a:r>
              <a:t>CNPJ 63953620000165 · Administração: taxa, base e mínimo · Condição: Base é a parcela MT específica, não necessariamente todo o PL da classe.</a:t>
            </a:r>
          </a:p>
          <a:p>
            <a:r>
              <a:t>CNPJ 63953620000165 · Administração: taxa, base e mínimo · Versão e prevalência: Leitura específica das cláusulas indicadas; condições e conflitos preservados. Seleção documental atual não comprova vigência jurídica por data isolada.</a:t>
            </a:r>
          </a:p>
          <a:p>
            <a:r>
              <a:t>CNPJ 63953620000165 · Administração: taxa, base e mínimo · Resumo do histórico: {"count": 8, "dates": ["2026-04-28", "2026-05-08", "2026-05-15"], "document_count": 3, "sources": [{"document_id": "1327859", "title": "Demonstrações Financeiras - Fusão, cisão e incorporação", "reference_date": "2026-05-15", "version": "1", "page": 28, "url": "https://fnet.bmfbovespa.com.br/fnet/publico/visualizarDocumento?id=1327859", "sha256": "dca1c68babb97f887528c3e2e47596a9c30f507b067981a35655b2f2da9c8054"}, {"document_id": "1298691", "title": "Demonstrações Financeiras - Fusão, cisão e incorporação", "reference_date": "2026-05-08", "version": "1", "page": 28, "url": "https://fnet.bmfbovespa.com.br/fnet/publico/visualizarDocumento?id=1298691", "sha256": "58c570d9b8d4d265330d3db3ea81c435b8e44a6dab4002aa37790652a1ee9819"}, {"document_id": "1282180", "title": "Demonstrações Financeiras - Fusão, cisão e incorporação", "reference_date": "2026-04-28", "version": "1", "page": 29, "url": "https://fnet.bmfbovespa.com.br/fnet/publico/visualizarDocumento?id=1282180", "sha256": "afaaa0e6809be4385e5bdb6c911aac582032c5bdbac3d7750234bf9eaf00438a"}], "reference": {"path": "history/63953620000165.json", "criterion_id": "admin_fee", "total_count": 8, "preview_count": 3, "full_text_deferred": true, "sha256": "a7b89077f5e21098c2d601c303faabc3ff6b9729f89d8afecdc60fe1404720c1"}}</a:t>
            </a:r>
          </a:p>
          <a:p>
            <a:r>
              <a:t>CNPJ 54871427000194 · Gestão: taxa, base e mínimo · Regulamento · ID 670691 · 28/04/2024 · versão Regulamento — referência 28/04/2024 · p. 26 · Anexo I, 13.4–13.4.3 · https://fnet.bmfbovespa.com.br/fnet/publico/visualizarDocumento?id=670691</a:t>
            </a:r>
          </a:p>
          <a:p>
            <a:r>
              <a:t>CNPJ 54871427000194 · Gestão: taxa, base e mínimo · Excerto da fonte:</a:t>
            </a:r>
          </a:p>
          <a:p>
            <a:r>
              <a:t>13.4 Pelos serviços de gestão, a Classe pagará a Taxa de Gestão nos seguintes moldes: o valor correspondente a 0,20% (vinte centésimos por cento) ao ano aplicado sobre o Patrimônio Líquido, observado o valor mínimo de R$ 15.000,00 (quinze mil reais) mensais atualizado pela variação positiva do IGP-M a cada período de 12 (doze) meses, contados a partir do mês em que ocorrer a primeira integralização de Cotas (inclusive). 13.4.1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13.4.2 A Taxa de Gestão será calculada e provisionada todo Dia Útil à razão de 1/252 (um inteiro e duzentos e cinquenta e dois avos) com base no valor do Patrimônio Líquido do Dia Útil anterior. 13.4.3 A Taxa de Gestão será paga mensalmente ao GESTOR, observado o disposto no item 13.5 abaixo, por período vencido, até o 5º (quinto) Dia Útil do mês subsequente à prestação dos ser</a:t>
            </a:r>
          </a:p>
          <a:p>
            <a:r>
              <a:t>CNPJ 54871427000194 · Gestão: taxa, base e mínimo · Versão e prevalência: Leitura específica das cláusulas indicadas; condições e conflitos preservados. Seleção documental atual não comprova vigência jurídica por data isolada.</a:t>
            </a:r>
          </a:p>
          <a:p>
            <a:r>
              <a:t>CNPJ 54871427000194 · Gestão: taxa, base e mínimo · Resumo do histórico: {"count": 2, "dates": ["2024-04-19", "2024-04-28"], "document_count": 2, "sources": [{"document_id": "670691", "title": "Regulamento", "reference_date": "2024-04-28", "version": "1", "page": "26", "url": "https://fnet.bmfbovespa.com.br/fnet/publico/visualizarDocumento?id=670691", "sha256": "bf16dd7f1a62d5cdbf2e2d54fef81783783f7310fbc99c3a8f00459bdf9d037b"}, {"document_id": "670689", "title": "Regulamento", "reference_date": "2024-04-19", "version": "1", "page": 27, "clause": "13.3", "url": "https://fnet.bmfbovespa.com.br/fnet/publico/visualizarDocumento?id=670689", "sha256": "891bc9bc5d87bbc02ec139077a84d2702eb81ea02035fb71d24f5b8366b94a0b"}], "reference": {"path": "history/54871427000194.json", "criterion_id": "management_fee", "total_count": 2, "preview_count": 2, "full_text_deferred": true, "sha256": "35d7cd99be50c7287c9fb675cf4f2e736002315295a225a9efa79c8d9186d874"}}</a:t>
            </a:r>
          </a:p>
          <a:p>
            <a:r>
              <a:t>CNPJ 60010416000112 · Gestão: taxa, base e mínimo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Gestão: taxa, base e mínimo · Resumo do histórico: {"count": 1, "dates": ["2025-10-09"], "document_count": 1, "sources": [{"document_id": "1051393", "title": "Regulamento", "reference_date": "2025-10-09", "version": "1", "page": "29, 46", "url": "https://fnet.bmfbovespa.com.br/fnet/publico/visualizarDocumento?id=1051393", "sha256": "8469d613078ffd5a6c1d217885d8a397a16342c0b937ae4aa24b106505f233ae"}], "reference": {"path": "history/60010416000112.json", "criterion_id": "management_fee", "total_count": 1, "preview_count": 1, "full_text_deferred": true, "sha256": "8e2bd813f4c51cf01f6bfaad164bafe69d2bbb192f753eac92da3a01c2e63046"}}</a:t>
            </a:r>
          </a:p>
          <a:p>
            <a:r>
              <a:t>CNPJ 62696791000193 · Gestão: taxa, base e mínimo · Regulamento · ID 1143317 · 20/03/2026 · versão Regulamento — referência 20/03/2026 · p. 28 · Anexo I, 13.1, Taxa de Gestão · https://fnet.bmfbovespa.com.br/fnet/publico/visualizarDocumento?id=1143317</a:t>
            </a:r>
          </a:p>
          <a:p>
            <a:r>
              <a:t>CNPJ 62696791000193 · Gestão: taxa, base e mínimo · Excerto da fonte:</a:t>
            </a:r>
          </a:p>
          <a:p>
            <a:r>
              <a:t>Taxa de Gestão 0% (zero por cento) ao ano apropriada diariamente na base de 252 (duzentos e cinquenta e dois) Dias Úteis, e paga mensalmente, até o 5º (quinto) Dia Útil do mês subsequente ao mês que se ref ere, incidente sobre o Patrimônio Líquido da Classe (“Taxa de Gestão”). Taxa Máxima de Custódia 0,00% (zero por cento) ao ano, incidente sobre o Patrimônio Líquido da Classe (“Taxa Máxima de Custódia”). Taxa de Performance Não será devido pela Classe o pagamento de Taxa de Perf ormance. 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a:t>
            </a:r>
          </a:p>
          <a:p>
            <a:r>
              <a:t>CNPJ 62696791000193 · Gestão: taxa, base e mínimo · Motivo: Não localizada uma cláusula material para este critério nos textos identificados e processados. A ausência de resultado não comprova inexistência da regra.</a:t>
            </a:r>
          </a:p>
          <a:p>
            <a:r>
              <a:t>CNPJ 62696791000193 · Gestão: taxa, base e mínimo · Versão e prevalência: Leitura específica das cláusulas indicadas; condições e conflitos preservados. Seleção documental atual não comprova vigência jurídica por data isolada.</a:t>
            </a:r>
          </a:p>
          <a:p>
            <a:r>
              <a:t>CNPJ 55563624000109 · Gestão: taxa, base e mínimo · Regulamento · ID 1192614 · 30/04/2026 · versão Regulamento30/04/2026 · p. 29 · AnexoI13.4–13.7.1 · https://fnet.bmfbovespa.com.br/fnet/publico/visualizarDocumento?id=1192614</a:t>
            </a:r>
          </a:p>
          <a:p>
            <a:r>
              <a:t>CNPJ 55563624000109 · Gestão: taxa, base e mínimo · Excerto da fonte:</a:t>
            </a:r>
          </a:p>
          <a:p>
            <a:r>
              <a:t>13.4 Sem prejuízo da Taxa Máxima de Gestão, pelos serviços de gestão, a Classe pagará ao GESTOR: (i) a taxa de gestão ordinária correspondente a 0,50% (cinquenta centésimos por cento) ao ano, incidente sobre o Patrimônio Líquido da Classe, observado o montante mínimo de R$ 40.000,00 (quarenta mil reais) ao mês, corrigido anualmente pela variação positiva do Índice de Preços ao Consumidor Amplo, divulgado pelo Instituto Brasileiro de Geografia e Estatística – IBGE (“Taxa de Gestão”); e (ii) a taxa de gestão extraordinária apurada e paga no momento de cada</a:t>
            </a:r>
          </a:p>
          <a:p>
            <a:r>
              <a:t>CNPJ 55563624000109 · Gestão: taxa, base e mínimo · Condição: Adicional é por integralização, não taxa anual.</a:t>
            </a:r>
          </a:p>
          <a:p>
            <a:r>
              <a:t>CNPJ 55563624000109 · Gestão: taxa, base e mínimo · Versão e prevalência: Leitura específica das cláusulas indicadas; condições e conflitos preservados. Seleção documental atual não comprova vigência jurídica por data isolada.</a:t>
            </a:r>
          </a:p>
          <a:p>
            <a:r>
              <a:t>CNPJ 55563624000109 · Gestão: taxa, base e mínimo · Resumo do histórico: {"count": 3, "dates": ["2025-01-31", "2026-01-31", "2026-04-30"], "document_count": 3, "sources": [{"document_id": "1192614", "title": "Regulamento", "reference_date": "2026-04-30", "version": "1", "page": "29", "url": "https://fnet.bmfbovespa.com.br/fnet/publico/visualizarDocumento?id=1192614", "sha256": "f56e63ace0acde41d2f47fb48f1ac7f3f7df5e2d32de092d7c5e075a52516632"}, {"document_id": "1178840", "title": "Demonstrações Financeiras", "reference_date": "2026-01-31", "version": "1", "page": 29, "url": "https://fnet.bmfbovespa.com.br/fnet/publico/visualizarDocumento?id=1178840", "sha256": "c458e98664c5c907ddb5a05a94b120bed4e05295b2bfc420f5ba69af0a229abe"}, {"document_id": "891861", "title": "Demonstrações Financeiras", "reference_date": "2025-01-31", "version": "1", "page": 30, "url": "https://fnet.bmfbovespa.com.br/fnet/publico/visualizarDocumento?id=891861", "sha256": "e9cb9e6ddbe505fe068cfcac33605165a98313489de0d3ce6d4d238263c3f3e7"}], "reference": {"path": "history/55563624000109.json", "criterion_id": "management_fee", "total_count": 3, "preview_count": 3, "full_text_deferred": true, "sha256": "7835d573fb58a3c19adf5b8ecc2aee2bdbb9a88f7a0c0209b5f262b64c7522e3"}}</a:t>
            </a:r>
          </a:p>
          <a:p>
            <a:r>
              <a:t>CNPJ 62552447000120 · Gestão: taxa, base e mínimo · Motivo: Não localizada uma cláusula material para este critério nos textos identificados e processados. A ausência de resultado não comprova inexistência da regra.</a:t>
            </a:r>
          </a:p>
          <a:p>
            <a:r>
              <a:t>CNPJ 63953620000165 · Gestão: taxa, base e mínimo · Anexo ao Regulamento · ID 1222863 · 02/06/2026 · versão AnexoConsignadoPrivado02/06/2026 · p. 20 · Capítulo13TaxadeGestão · https://fnet.bmfbovespa.com.br/fnet/publico/visualizarDocumento?id=1222863</a:t>
            </a:r>
          </a:p>
          <a:p>
            <a:r>
              <a:t>CNPJ 63953620000165 · Gestão: taxa, base e mínimo · Excerto da fonte:</a:t>
            </a:r>
          </a:p>
          <a:p>
            <a:r>
              <a:t>0,05% (cinco centésimos por cento) ao ano, apropriada diariamente na base de 252 (duzentos e cinquenta e dois) Dias Úteis, e paga mensalmente, até o 5º (quinto) Dia Útil do mês subsequente ao mês que se refere, incidente sobre o Patrimônio Líquido da Classe alocado em Direitos Creditórios Consignado Privado e/ou Ativos de Liquidez MT, observada remuneração mínima mensal de R$ 2.500,00 (dois mil e quinhentos reais), a ser corrigida anualmente, em janeiro de cada ano, pela variação</a:t>
            </a:r>
          </a:p>
          <a:p>
            <a:r>
              <a:t>CNPJ 63953620000165 · Gestão: taxa, base e mínimo · Versão e prevalência: Leitura específica das cláusulas indicadas; condições e conflitos preservados. Seleção documental atual não comprova vigência jurídica por data isolada.</a:t>
            </a:r>
          </a:p>
          <a:p>
            <a:r>
              <a:t>CNPJ 63953620000165 · Gestão: taxa, base e mínimo · Resumo do histórico: {"count": 8, "dates": ["2026-04-28", "2026-05-08", "2026-05-15"], "document_count": 3, "sources": [{"document_id": "1327859", "title": "Demonstrações Financeiras - Fusão, cisão e incorporação", "reference_date": "2026-05-15", "version": "1", "page": 28, "url": "https://fnet.bmfbovespa.com.br/fnet/publico/visualizarDocumento?id=1327859", "sha256": "dca1c68babb97f887528c3e2e47596a9c30f507b067981a35655b2f2da9c8054"}, {"document_id": "1298691", "title": "Demonstrações Financeiras - Fusão, cisão e incorporação", "reference_date": "2026-05-08", "version": "1", "page": 28, "url": "https://fnet.bmfbovespa.com.br/fnet/publico/visualizarDocumento?id=1298691", "sha256": "58c570d9b8d4d265330d3db3ea81c435b8e44a6dab4002aa37790652a1ee9819"}, {"document_id": "1282180", "title": "Demonstrações Financeiras - Fusão, cisão e incorporação", "reference_date": "2026-04-28", "version": "1", "page": 29, "url": "https://fnet.bmfbovespa.com.br/fnet/publico/visualizarDocumento?id=1282180", "sha256": "afaaa0e6809be4385e5bdb6c911aac582032c5bdbac3d7750234bf9eaf00438a"}], "reference": {"path": "history/63953620000165.json", "criterion_id": "management_fee", "total_count": 8, "preview_count": 3, "full_text_deferred": true, "sha256": "a7b89077f5e21098c2d601c303faabc3ff6b9729f89d8afecdc60fe1404720c1"}}</a:t>
            </a:r>
          </a:p>
          <a:p>
            <a:r>
              <a:t>CNPJ 54871427000194 · Performance: benchmark e apuração · Regulamento · ID 670691 · 28/04/2024 · versão Regulamento — referência 28/04/2024 · p. 26 · Anexo I, 13.3 · https://fnet.bmfbovespa.com.br/fnet/publico/visualizarDocumento?id=670691</a:t>
            </a:r>
          </a:p>
          <a:p>
            <a:r>
              <a:t>CNPJ 54871427000194 · Performance: benchmark e apuração · Excerto da fonte:</a:t>
            </a:r>
          </a:p>
          <a:p>
            <a:r>
              <a:t>13.3 Não serão cobradas da Classe ou dos Cotistas taxas de perf ormance, de ingresso ou de saída. Taxa de Gestão 13.4 Pelos serviços de gestão, a Classe pagará a Taxa de Gestão nos seguintes moldes: o valor correspondente a 0,20% (vinte centésimos por cento) ao ano aplicado sobre o Patrimônio Líquido, observado o valor mínimo de R$ 15.000,00 (quinze mil reais) mensais atualizado pela variação positiva do IGP-M a cada período de 12 (doze) meses, contados a partir do mês em que ocorrer a primeira integralização de Cotas (inclusive). 13.4.1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13.4.2 A Taxa de Gestão será calculada e provisionada todo Dia Útil à razão de 1/252 (um inteiro e duzentos e cinquenta e dois avos) com base no valor do Patrimônio Líquido do Dia Útil anterior. 13.4.3 A Taxa de Gestão será paga mensalmente ao GESTOR, observado o disposto no item 13.5</a:t>
            </a:r>
          </a:p>
          <a:p>
            <a:r>
              <a:t>CNPJ 54871427000194 · Performance: benchmark e apuração · Motivo: Não localizada uma cláusula material para este critério nos textos identificados e processados. A ausência de resultado não comprova inexistência da regra.</a:t>
            </a:r>
          </a:p>
          <a:p>
            <a:r>
              <a:t>CNPJ 54871427000194 · Performance: benchmark e apuração · Versão e prevalência: Leitura específica das cláusulas indicadas; condições e conflitos preservados. Seleção documental atual não comprova vigência jurídica por data isolada.</a:t>
            </a:r>
          </a:p>
          <a:p>
            <a:r>
              <a:t>CNPJ 60010416000112 · Performance: benchmark e apuração · Regulamento · ID 1051393 · 09/10/2025 · versão Regulamento09/10/2025 · p. 29 · AnexoI12.2 · https://fnet.bmfbovespa.com.br/fnet/publico/visualizarDocumento?id=1051393</a:t>
            </a:r>
          </a:p>
          <a:p>
            <a:r>
              <a:t>CNPJ 60010416000112 · Performance: benchmark e apuração · Excerto da fonte:</a:t>
            </a:r>
          </a:p>
          <a:p>
            <a:r>
              <a:t>12.2 Não serão cobradas da Classe ou dos Cotistas taxas de perf ormance, de ingresso ou de saída. Taxa Máxima de Custódia 12.3 Pelos serviços de custódia qualificada dos Direitos Creditórios e dos Ativos Financeiros de Liquidez não será devida nenhuma remuneração ao Custodiante, de modo que taxa máxima de custódia a ser paga pela Classe ao Custodiante corresponde a 0% (zero por cento) ao ano. Remuneração do Agente de Retenção/Cobrança 12.4 Para a prestação de serviços à Classe, o Agente de Retenção/Cobrança f ará jus a uma remuneração a ser auf erida todo Dia Útil e paga mensalmente, a título de Encargo da Cla</a:t>
            </a:r>
          </a:p>
          <a:p>
            <a:r>
              <a:t>CNPJ 60010416000112 · Performance: benchmark e apuração · Motivo: Não localizada uma cláusula material para este critério nos textos identificados e processados. A ausência de resultado não comprova inexistência da regra.</a:t>
            </a:r>
          </a:p>
          <a:p>
            <a:r>
              <a:t>CNPJ 60010416000112 · Performance: benchmark e apuração · Versão e prevalência: Leitura específica das cláusulas indicadas; condições e conflitos preservados. Seleção documental atual não comprova vigência jurídica por data isolada.</a:t>
            </a:r>
          </a:p>
          <a:p>
            <a:r>
              <a:t>CNPJ 62696791000193 · Performance: benchmark e apuração · Regulamento · ID 1143317 · 20/03/2026 · versão Regulamento — referência 20/03/2026 · p. 28 · Anexo I, 13.1, Taxa de Performance · https://fnet.bmfbovespa.com.br/fnet/publico/visualizarDocumento?id=1143317</a:t>
            </a:r>
          </a:p>
          <a:p>
            <a:r>
              <a:t>CNPJ 62696791000193 · Performance: benchmark e apuração · Excerto da fonte:</a:t>
            </a:r>
          </a:p>
          <a:p>
            <a:r>
              <a:t>Taxa de Performance Não será devido pela Classe o pagamento de Taxa de Perf ormance. 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equivalente a 0,9% (nove décimos por cento) ao ano aplicado sobre o Patrimônio Anexo I ao Regulamento Líquido, observado o limite máximo de 4,5% (quatro inteiros e cinquenta centésimos por cento) do volume captado na respectiva oferta (“Taxa Máxima de Distribuição”).A Taxa Máxima de BTG Pactual SAC: 0800 772 2827 | Ouvidoria: 0800 722 0048 | btgpactual.co m 23</a:t>
            </a:r>
          </a:p>
          <a:p>
            <a:r>
              <a:t>CNPJ 62696791000193 · Performance: benchmark e apuração · Regulamento · ID 1143317 · 20/03/2026 · versão Regulamento — referência 20/03/2026 · p. 29 · Anexo I, 13.1, Taxa de Ingresso · https://fnet.bmfbovespa.com.br/fnet/publico/visualizarDocumento?id=1143317</a:t>
            </a:r>
          </a:p>
          <a:p>
            <a:r>
              <a:t>CNPJ 62696791000193 · Performance: benchmark e apuração · Excerto da fonte:</a:t>
            </a:r>
          </a:p>
          <a:p>
            <a:r>
              <a:t>Taxa de Ingresso Não será cobrada dos Cotistas Taxa de Ingresso. 14 TRIBUTAÇÃO 14.1 O disposto neste Capítulo f oi elaborado com base na legislação e regulamentação em vigor produzindo ef eitos, tem por objetivo descrever de f orma sumária o tratamento tributário aplicável em regra aos cotistas, ao Fundo e à Classe, não se aplicando aos cotistas sujeitos a regras de tributação específicas, na f orma da legislação e regulamentação em vigor. 14.2 Há exceções (inclusive relativas à natureza ou ao domicílio do investidor para fins fiscais) em relação ao tratamento tributário descrito abaixo e tributos adicionais que podem ser aplicados, motivo pelo qual os cotistas devem consultar seus assessores jurídicos com relação à tributação aplicável nos investimentos realizados na Classe. Tributação da Classe / Operações da carteira: Como regra geral, os rendimentos auferidos pela carteira da Classe não estão sujeitos à incidência do imposto de renda, exceto ganhos auferidos em aplicações financeiras de renda fixa ou variável, que se sujeitam à incidência do Imposto de Renda Retido na Fonte (“IRF”) de acordo com as mesmas regras de tributação aplic</a:t>
            </a:r>
          </a:p>
          <a:p>
            <a:r>
              <a:t>CNPJ 62696791000193 · Performance: benchmark e apuração · Motivo: Não localizada uma cláusula material para este critério nos textos identificados e processados. A ausência de resultado não comprova inexistência da regra.</a:t>
            </a:r>
          </a:p>
          <a:p>
            <a:r>
              <a:t>CNPJ 62696791000193 · Performance: benchmark e apuração · Versão e prevalência: Leitura específica das cláusulas indicadas; condições e conflitos preservados. Seleção documental atual não comprova vigência jurídica por data isolada.</a:t>
            </a:r>
          </a:p>
          <a:p>
            <a:r>
              <a:t>CNPJ 55563624000109 · Performance: benchmark e apuração · Regulamento · ID 1192614 · 30/04/2026 · versão Regulamento30/04/2026 · p. 29 · AnexoI13.10 · https://fnet.bmfbovespa.com.br/fnet/publico/visualizarDocumento?id=1192614</a:t>
            </a:r>
          </a:p>
          <a:p>
            <a:r>
              <a:t>CNPJ 55563624000109 · Performance: benchmark e apuração · Excerto da fonte:</a:t>
            </a:r>
          </a:p>
          <a:p>
            <a:r>
              <a:t>13.10 Não serão cobradas taxas de performance da Classe, e nem taxas de ingresso ou de saída dos Cotistas que integralizarem ou resgatarem suas Cotas. BTG Pactual SAC: 0800 772 28 27 - Ouvidoria: 0800 722 00 48 - btgpactual.com 22</a:t>
            </a:r>
          </a:p>
          <a:p>
            <a:r>
              <a:t>CNPJ 55563624000109 · Performance: benchmark e apuração · Motivo: Não localizada uma cláusula material para este critério nos textos identificados e processados. A ausência de resultado não comprova inexistência da regra.</a:t>
            </a:r>
          </a:p>
          <a:p>
            <a:r>
              <a:t>CNPJ 55563624000109 · Performance: benchmark e apuração · Versão e prevalência: Leitura específica das cláusulas indicadas; condições e conflitos preservados. Seleção documental atual não comprova vigência jurídica por data isolada.</a:t>
            </a:r>
          </a:p>
          <a:p>
            <a:r>
              <a:t>CNPJ 62552447000120 · Performance: benchmark e apuração · Regulamento · ID 1200623 · 21/05/2026 · versão Consolidado21/05/2026 aprovado pelo ato1200625 · p. 30 · AnexoI13.1 TaxadePerformance/Ingresso · https://fnet.bmfbovespa.com.br/fnet/publico/visualizarDocumento?id=1200623</a:t>
            </a:r>
          </a:p>
          <a:p>
            <a:r>
              <a:t>CNPJ 62552447000120 · Performance: benchmark e apuração · Excerto da fonte:</a:t>
            </a:r>
          </a:p>
          <a:p>
            <a:r>
              <a:t>Taxa de Performance Não será devido pela Classe o pagamento de Taxa de Perf ormance. Taxa de Ingresso Não será cobrada dos Cotistas Taxa de Ingresso . CAPÍTULO 14 – CUSTOS REFERENTES À DEFESA DOS INTERESSES DA CLASSE 14.1 Todos os custos e despesas ref eridos neste Capítulo, inclusive para salvaguarda de direitos e prerrogativas da Classe e/ou com a cobrança judicial e/ou extrajudicial de Direitos Creditórios Inadimplidos, serão de inteira responsabilidade da Classe, não est ando o Administrador, o Gestor, o Endossante, os Devedores, o Custodiante e quaisquer de suas respectivas pessoas contr</a:t>
            </a:r>
          </a:p>
          <a:p>
            <a:r>
              <a:t>CNPJ 62552447000120 · Performance: benchmark e apuração · Motivo: Não localizada uma cláusula material para este critério nos textos identificados e processados. A ausência de resultado não comprova inexistência da regra.</a:t>
            </a:r>
          </a:p>
          <a:p>
            <a:r>
              <a:t>CNPJ 62552447000120 · Performance: benchmark e apuração · Versão e prevalência: Leitura específica das cláusulas indicadas; condições e conflitos preservados. Seleção documental atual não comprova vigência jurídica por data isolada.</a:t>
            </a:r>
          </a:p>
          <a:p>
            <a:r>
              <a:t>CNPJ 63953620000165 · Performance: benchmark e apuração · Anexo ao Regulamento · ID 1222863 · 02/06/2026 · versão AnexoConsignadoPrivado02/06/2026 · p. 20 · Capítulo13 · https://fnet.bmfbovespa.com.br/fnet/publico/visualizarDocumento?id=1222863</a:t>
            </a:r>
          </a:p>
          <a:p>
            <a:r>
              <a:t>CNPJ 63953620000165 · Performance: benchmark e apuração · Excerto da fonte:</a:t>
            </a:r>
          </a:p>
          <a:p>
            <a:r>
              <a:t>Taxa de Performance Não será devido pelas Classes o pagamento de Taxa de Performance. 0,00% (zero por cento) ao ano, incidente sobre o Patrimônio Líquido da Classe Taxa Máxima de Custódia (“Taxa Máxima de Custódia”). Taxa Máxima de Distribuição Não será cobrada Taxa de Distribuição. Taxa de Ingresso Não será cobrada da Classe ou dos Cotistas taxa de ingresso. CAPÍTULO 14 – CUSTOS REFERENTES À DEFESA DOS INTERESSES DA CLASSE 14.1 Todos os custos e despesas referidos neste Capítulo, inclusive para salvaguarda de direitos e prerrogativas da</a:t>
            </a:r>
          </a:p>
          <a:p>
            <a:r>
              <a:t>CNPJ 63953620000165 · Performance: benchmark e apuração · Motivo: Cláusula primária localizada e citada, mas sua lista/condições extensas não admitem uma síntese literal curta confirmada. O trecho integral permanece nas fontes.</a:t>
            </a:r>
          </a:p>
          <a:p>
            <a:r>
              <a:t>CNPJ 63953620000165 · Performance: benchmark e apuração · Versão e prevalência: Leitura específica das cláusulas indicadas; condições e conflitos preservados. Seleção documental atual não comprova vigência jurídica por data isolada.</a:t>
            </a:r>
          </a:p>
          <a:p>
            <a:r>
              <a:t>CNPJ 54871427000194 · Custódia, escrituração e encargos · Regulamento · ID 670691 · 28/04/2024 · versão Regulamento — referência 28/04/2024 · p. 26 · Anexo I, 13.7–13.8 · https://fnet.bmfbovespa.com.br/fnet/publico/visualizarDocumento?id=670691</a:t>
            </a:r>
          </a:p>
          <a:p>
            <a:r>
              <a:t>CNPJ 54871427000194 · Custódia, escrituração e encargos · Excerto da fonte:</a:t>
            </a:r>
          </a:p>
          <a:p>
            <a:r>
              <a:t>13.7 Pelos serviços de retenção e cobrança, prestada nos termos deste Anexo e do Contrato de Retenção/Cobrança, será devida pela Classe ao Agente de Retenção/Cobrança a remuneração prevista no respectivo Contrato de Retenção/Cobrança. Taxa Máxima de Custódia 13.8 Pelos serviços de custódia qualificada dos Direitos Creditórios e dos Ativos Financeiros de Liquidez não será devida nenhuma remuneração ao CUSTODIANTE, de modo que taxa máxima de custódia a ser paga pela Classe ao CUSTODIANTE corresponde a 0% (zero por cento) ao ano. CAPÍTULO 14 – CUSTOS REFERENTES À DEFESA DOS INTERESSES DA CLASSE 14.1 Caso a Classe não possua recursos disponíveis, em moeda corrente nacional, suf icientes para a adoção e manutenção, direta ou indireta, dos procedimentos judiciais e extrajudiciais necessários à cobrança dos Direitos Creditórios e dos Ativos Financeiros de Liquidez de titularidade da Classe e à def esa dos direitos, interesses e prerrogativas da Classe, a maioria dos titulares das Cotas, reunidos em Assembleia Especial de Cotistas, poderá aprovar o aporte de recursos à Classe, por meio da integralização de novas Cotas, a ser realizada por todos os titulares das Cotas para assegurar, se for o caso, a</a:t>
            </a:r>
          </a:p>
          <a:p>
            <a:r>
              <a:t>CNPJ 54871427000194 · Custódia, escrituração e encargos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Custódia, escrituração e encargos · Versão e prevalência: Leitura específica das cláusulas indicadas; condições e conflitos preservados. Seleção documental atual não comprova vigência jurídica por data isolada.</a:t>
            </a:r>
          </a:p>
          <a:p>
            <a:r>
              <a:t>CNPJ 54871427000194 · Custódia, escrituração e encargos · Resumo do histórico: {"count": 1, "dates": ["2024-04-28"], "document_count": 1, "sources": [{"document_id": "670691", "title": "Regulamento", "reference_date": "2024-04-28", "version": "1", "page": "26", "url": "https://fnet.bmfbovespa.com.br/fnet/publico/visualizarDocumento?id=670691", "sha256": "bf16dd7f1a62d5cdbf2e2d54fef81783783f7310fbc99c3a8f00459bdf9d037b"}], "reference": {"path": "history/54871427000194.json", "criterion_id": "custody_fee", "total_count": 1, "preview_count": 1, "full_text_deferred": true, "sha256": "35d7cd99be50c7287c9fb675cf4f2e736002315295a225a9efa79c8d9186d874"}}</a:t>
            </a:r>
          </a:p>
          <a:p>
            <a:r>
              <a:t>CNPJ 60010416000112 · Custódia, escrituração e encargos · Regulamento · ID 1051393 · 09/10/2025 · versão Regulamento09/10/2025 · p. 29 · AnexoI12.3–12.4 · https://fnet.bmfbovespa.com.br/fnet/publico/visualizarDocumento?id=1051393</a:t>
            </a:r>
          </a:p>
          <a:p>
            <a:r>
              <a:t>CNPJ 60010416000112 · Custódia, escrituração e encargos · Excerto da fonte:</a:t>
            </a:r>
          </a:p>
          <a:p>
            <a:r>
              <a:t>12.3 Pelos serviços de custódia qualificada dos Direitos Creditórios e dos Ativos Financeiros de Liquidez não será devida nenhuma remuneração ao Custodiante, de modo que taxa máxima de custódia a ser paga pela Classe ao Custodiante corresponde a 0% (zero por cento) ao ano. Remuneração do Agente de Retenção/Cobrança 12.4 Para a prestação de serviços à Classe, o Agente de Retenção/Cobrança f ará jus a uma remuneração a ser auf erida todo Dia Útil e paga mensalmente, a título de Encargo da Classe, a qual será calculada com base na seguinte f órmula:</a:t>
            </a:r>
          </a:p>
          <a:p>
            <a:r>
              <a:t>CNPJ 60010416000112 · Custódia, escrituração e encargos · Regulamento · ID 1051393 · 09/10/2025 · versão Regulamento09/10/2025 · p. 30 · AnexoI12.4definições,12.5–12.5.1 · https://fnet.bmfbovespa.com.br/fnet/publico/visualizarDocumento?id=1051393</a:t>
            </a:r>
          </a:p>
          <a:p>
            <a:r>
              <a:t>CNPJ 60010416000112 · Custódia, escrituração e encargos · Excerto da fonte:</a:t>
            </a:r>
          </a:p>
          <a:p>
            <a:r>
              <a:t>RAC = Remuneração do Agente de Retenção e Cobrança,tendo como valor 4,00% (quatro por cento) ao ano. 12.5 A remuneração prevista no item 12.4 acima será calculada pelo Administrador e paga diretamente ao Agente de Retenção/Cobrança até o 5º (quinto) Dia Útil do mês subsequente ao da prestação dos serviços, conf orme estabelecido no Contrato de Serviços MT. 12.5.1. Independentemente do acima disposto, na hipótese de venda de qualquer parte dos Direitos Creditórios Elegíveis a terceiros, inclusive no caso de liquidação da Classe, o Agente de Retenção/Cobra</a:t>
            </a:r>
          </a:p>
          <a:p>
            <a:r>
              <a:t>CNPJ 60010416000112 · Custódia, escrituração e encargos · Condição: Fórmula do RAC tem composição base 252 DU/21 dias; não somar a 4% do PL como taxa administrativa.</a:t>
            </a:r>
          </a:p>
          <a:p>
            <a:r>
              <a:t>CNPJ 60010416000112 · Custódia, escrituração e encargos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Custódia, escrituração e encargos · Versão e prevalência: Leitura específica das cláusulas indicadas; condições e conflitos preservados. Seleção documental atual não comprova vigência jurídica por data isolada.</a:t>
            </a:r>
          </a:p>
          <a:p>
            <a:r>
              <a:t>CNPJ 60010416000112 · Custódia, escrituração e encargos · Resumo do histórico: {"count": 1, "dates": ["2025-10-09"], "document_count": 1, "sources": [{"document_id": "1051393", "title": "Regulamento", "reference_date": "2025-10-09", "version": "1", "page": "29-31", "url": "https://fnet.bmfbovespa.com.br/fnet/publico/visualizarDocumento?id=1051393", "sha256": "8469d613078ffd5a6c1d217885d8a397a16342c0b937ae4aa24b106505f233ae"}], "reference": {"path": "history/60010416000112.json", "criterion_id": "custody_fee", "total_count": 1, "preview_count": 1, "full_text_deferred": true, "sha256": "8e2bd813f4c51cf01f6bfaad164bafe69d2bbb192f753eac92da3a01c2e63046"}}</a:t>
            </a:r>
          </a:p>
          <a:p>
            <a:r>
              <a:t>CNPJ 62696791000193 · Custódia, escrituração e encargos · Regulamento · ID 1143317 · 20/03/2026 · versão Regulamento — referência 20/03/2026 · p. 28 · Anexo I, 13.1, Custódia e Distribuição · https://fnet.bmfbovespa.com.br/fnet/publico/visualizarDocumento?id=1143317</a:t>
            </a:r>
          </a:p>
          <a:p>
            <a:r>
              <a:t>CNPJ 62696791000193 · Custódia, escrituração e encargos · Excerto da fonte:</a:t>
            </a:r>
          </a:p>
          <a:p>
            <a:r>
              <a:t>Taxa Máxima de Custódia 0,00% (zero por cento) ao ano, incidente sobre o Patrimônio Líquido da Classe (“Taxa Máxima de Custódia”). Taxa de Performance Não será devido pela Classe o pagamento de Taxa de Perf ormance. 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equivalente a 0,9% (nove décimos por cento) ao ano aplicado sobre o Patrimônio Anexo I ao Regulamento Líquido, observado o limite máximo de 4,5% (quatro inteiros e cinquenta centésimos por cento) do volume captado na respectiva oferta (“Taxa Máxima de Distribuição”).A</a:t>
            </a:r>
          </a:p>
          <a:p>
            <a:r>
              <a:t>CNPJ 62696791000193 · Custódia, escrituração e encargos · Regulamento · ID 1143317 · 20/03/2026 · versão Regulamento — referência 20/03/2026 · p. 29 · Anexo I, 13.1, Distribuição · https://fnet.bmfbovespa.com.br/fnet/publico/visualizarDocumento?id=1143317</a:t>
            </a:r>
          </a:p>
          <a:p>
            <a:r>
              <a:t>CNPJ 62696791000193 · Custódia, escrituração e encargos · Excerto da fonte:</a:t>
            </a:r>
          </a:p>
          <a:p>
            <a:r>
              <a:t>Distribuição será calculada e provisionada todo Dia Útil à razão de 1/252 (um inteiro e duzentos e cinquenta e dois avos) com base no valor do Patrimônio Líquido do Dia Útil anterior. Nos termos da Resolução CVM 160, o coordenador líder poderá destinar parte ou a totalidade da sua remuneração, à vista ou a prazo, aos distribuidores contratados, conforme previsto no contrato de distribuição da oferta e/ou nos termos de adesão ao contrato de distribuição. A Taxa Máxima de Distribuição será paga mensalmente por período vencido, até o 10º (décimo) Dia Útil do mês subsequente à prestação dos serviços, a partir do mês em que ocorrer a primeira integralização de Cotas da Classe Taxa de Ingresso Não será cobrada dos Cotistas Taxa de Ingresso. 14 TRIBUTAÇÃO 14.1 O disposto neste Capítulo f oi elaborado co</a:t>
            </a:r>
          </a:p>
          <a:p>
            <a:r>
              <a:t>CNPJ 62696791000193 · Custódia, escrituração e encargos · Motivo: Não localizada uma cláusula material para este critério nos textos identificados e processados. A ausência de resultado não comprova inexistência da regra.</a:t>
            </a:r>
          </a:p>
          <a:p>
            <a:r>
              <a:t>CNPJ 62696791000193 · Custódia, escrituração e encargos · Versão e prevalência: Leitura específica das cláusulas indicadas; condições e conflitos preservados. Seleção documental atual não comprova vigência jurídica por data isolada.</a:t>
            </a:r>
          </a:p>
          <a:p>
            <a:r>
              <a:t>CNPJ 55563624000109 · Custódia, escrituração e encargos · Regulamento · ID 1192614 · 30/04/2026 · versão Regulamento30/04/2026 · p. 29 · AnexoI13.8–13.9 · https://fnet.bmfbovespa.com.br/fnet/publico/visualizarDocumento?id=1192614</a:t>
            </a:r>
          </a:p>
          <a:p>
            <a:r>
              <a:t>CNPJ 55563624000109 · Custódia, escrituração e encargos · Excerto da fonte:</a:t>
            </a:r>
          </a:p>
          <a:p>
            <a:r>
              <a:t>13.8 Pelos serviços de custódia qualificada das Cotas da Classe Investida e dos Ativos Financeiros de Liquidez não será devida nenhuma remuneração ao CUSTODIANTE, de modo que taxa de custódia a ser paga pela Classe ao CUSTODIANTE corresponde a 0% (zero por cento) ao ano. Taxas Máxima de Distribuição 13.9 Tendo em vista que não há distribuidores das Cotas que prestem serviços de forma contínua ao Fundo, o presente Regulamento e Anexo Descritivo não preveem uma taxa máxima de distribuição aplicável a todas as emissões, nos termos do Ofício-Circular-Conju</a:t>
            </a:r>
          </a:p>
          <a:p>
            <a:r>
              <a:t>CNPJ 55563624000109 · Custódia, escrituração e encargos · Versão e prevalência: Leitura específica das cláusulas indicadas; condições e conflitos preservados. Seleção documental atual não comprova vigência jurídica por data isolada.</a:t>
            </a:r>
          </a:p>
          <a:p>
            <a:r>
              <a:t>CNPJ 55563624000109 · Custódia, escrituração e encargos · Resumo do histórico: {"count": 1, "dates": ["2026-04-30"], "document_count": 1, "sources": [{"document_id": "1192614", "title": "Regulamento", "reference_date": "2026-04-30", "version": "1", "page": "29", "url": "https://fnet.bmfbovespa.com.br/fnet/publico/visualizarDocumento?id=1192614", "sha256": "f56e63ace0acde41d2f47fb48f1ac7f3f7df5e2d32de092d7c5e075a52516632"}], "reference": {"path": "history/55563624000109.json", "criterion_id": "custody_fee", "total_count": 1, "preview_count": 1, "full_text_deferred": true, "sha256": "7835d573fb58a3c19adf5b8ecc2aee2bdbb9a88f7a0c0209b5f262b64c7522e3"}}</a:t>
            </a:r>
          </a:p>
          <a:p>
            <a:r>
              <a:t>CNPJ 62552447000120 · Custódia, escrituração e encargos · Motivo: Não localizada uma cláusula material para este critério nos textos identificados e processados. A ausência de resultado não comprova inexistência da regra.</a:t>
            </a:r>
          </a:p>
          <a:p>
            <a:r>
              <a:t>CNPJ 63953620000165 · Custódia, escrituração e encargos · Motivo: Não localizada uma cláusula material para este critério nos textos identificados e processados. A ausência de resultado não comprova inexistência da regra.</a:t>
            </a:r>
          </a:p>
          <a:p>
            <a:r>
              <a:t>CNPJ 54871427000194 · Classes e séries de cotas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Classes e séries de cotas · Resumo do histórico: {"count": 1, "dates": ["2024-04-28"], "document_count": 1, "sources": [{"document_id": "670691", "title": "Regulamento", "reference_date": "2024-04-28", "version": "1", "page": "7, 14", "url": "https://fnet.bmfbovespa.com.br/fnet/publico/visualizarDocumento?id=670691", "sha256": "bf16dd7f1a62d5cdbf2e2d54fef81783783f7310fbc99c3a8f00459bdf9d037b"}], "reference": {"path": "history/54871427000194.json", "criterion_id": "quota_classes", "total_count": 1, "preview_count": 1, "full_text_deferred": true, "sha256": "35d7cd99be50c7287c9fb675cf4f2e736002315295a225a9efa79c8d9186d874"}}</a:t>
            </a:r>
          </a:p>
          <a:p>
            <a:r>
              <a:t>CNPJ 60010416000112 · Classes e séries de cotas · Demonstrações Financeiras - Fusão, cisão e incorporação · ID 1298690 · 2026-05-08 · versão 1 · p. 30 · https://fnet.bmfbovespa.com.br/fnet/publico/visualizarDocumento?id=1298690</a:t>
            </a:r>
          </a:p>
          <a:p>
            <a:r>
              <a:t>CNPJ 60010416000112 · Classes e séries de cotas · Excerto da fonte:</a:t>
            </a:r>
          </a:p>
          <a:p>
            <a:r>
              <a:t>Durante o período de investimento, a Administradora poderá deliberar por realizar novas  emissões de cotas subordinadas, sem a necessidade de aprovação em Assembleia Especial  de Cotistas ou alteração do Regulamento, limitadas ao montante máximo de R$ 50.000  (cinquenta milhões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subordinadas emitidas não sejam  superiores aos prazos de vencimento da primeira emissão.</a:t>
            </a:r>
          </a:p>
          <a:p>
            <a:r>
              <a:t>CNPJ 60010416000112 · Classes e séries de cotas · Demonstrações Financeiras - Fusão, cisão e incorporação · ID 1298690 · 2026-05-08 · versão 1 · p. 7 · https://fnet.bmfbovespa.com.br/fnet/publico/visualizarDocumento?id=1298690</a:t>
            </a:r>
          </a:p>
          <a:p>
            <a:r>
              <a:t>CNPJ 60010416000112 · Classes e séries de cotas · Excerto da fonte:</a:t>
            </a:r>
          </a:p>
          <a:p>
            <a:r>
              <a:t>01/12/2025 a  Nota  08/05/2026  Patrimônio líquido no início do período  Total de 493.487,7492 cotas sêniores a R$ 1.136,5211 560.859  Total de 2.329.794,7852 cotas sêniores 2 a R$ 1.141,3012 2.658.998  Total de 954,2302 cotas subordinadas a R$ 150.939,4087 144.031</a:t>
            </a:r>
          </a:p>
          <a:p>
            <a:r>
              <a:t>CNPJ 60010416000112 · Classes e séries de cotas · Demonstrações Financeiras - Fusão, cisão e incorporação · ID 1298690 · 2026-05-08 · versão 1 · p. 7 · https://fnet.bmfbovespa.com.br/fnet/publico/visualizarDocumento?id=1298690</a:t>
            </a:r>
          </a:p>
          <a:p>
            <a:r>
              <a:t>CNPJ 60010416000112 · Classes e séries de cotas · Excerto da fonte:</a:t>
            </a:r>
          </a:p>
          <a:p>
            <a:r>
              <a:t>Patrimônio líquido no final do período  Total de 2.865.592,8479 cotas a R$ 1.285,7151 3.672.765  Total de 493.487,7492 cotas sêniores a R$ 1.230,3042 607.141  Total de 2.362.150,8684 cotas sêniores 2 a R$ 1.236,9918 2.921.961  Total de 954,2302 cotas subordinadas a R$ 150.554,2733 143.663</a:t>
            </a:r>
          </a:p>
          <a:p>
            <a:r>
              <a:t>CNPJ 60010416000112 · Classes e séries de cotas · Condição: Documentos atuais selecionados no inventário por categoria/escopo; a data documental isolada não comprova vigência jurídica.</a:t>
            </a:r>
          </a:p>
          <a:p>
            <a:r>
              <a:t>CNPJ 60010416000112 · Classes e séries de cotas · Versão e prevalência: Documentos atuais selecionados no inventário por categoria/escopo; a data documental isolada não comprova vigência jurídica.</a:t>
            </a:r>
          </a:p>
          <a:p>
            <a:r>
              <a:t>CNPJ 60010416000112 · Classes e séries de cotas · Resumo do histórico: {"count": 9, "dates": ["2025-11-30", "2026-03-18", "2026-04-16"], "document_count": 3, "sources": [{"document_id": "1282181", "title": "Demonstrações Financeiras - Fusão, cisão e incorporação", "reference_date": "2026-04-16", "version": "1", "page": 7, "url": "https://fnet.bmfbovespa.com.br/fnet/publico/visualizarDocumento?id=1282181", "sha256": "b1c6566e43a00bcd00c8a7f30c77b7f86e351bd8e355bbea113f46d1dafda703"}, {"document_id": "1224477", "title": "Demonstrações Financeiras - Fusão, cisão e incorporação", "reference_date": "2026-03-18", "version": "1", "page": 7, "url": "https://fnet.bmfbovespa.com.br/fnet/publico/visualizarDocumento?id=1224477", "sha256": "0751bf0a75bc3b44c2748f5000226665c6ec6698a90c4dc6170b4e6c187759ae"}, {"document_id": "1126154", "title": "Demonstrações Financeiras", "reference_date": "2025-11-30", "version": "1", "page": 7, "url": "https://fnet.bmfbovespa.com.br/fnet/publico/visualizarDocumento?id=1126154", "sha256": "a01e7ccf88c548f12c95cba8526d7efbef6b585c112cd4668eca781c292090b0"}], "reference": {"path": "history/60010416000112.json", "criterion_id": "quota_classes", "total_count": 9, "preview_count": 3, "full_text_deferred": true, "sha256": "8e2bd813f4c51cf01f6bfaad164bafe69d2bbb192f753eac92da3a01c2e63046"}}</a:t>
            </a:r>
          </a:p>
          <a:p>
            <a:r>
              <a:t>CNPJ 62696791000193 · Classes e séries de cotas · Instrumento Particular de Emissão de Cotas · ID 1148821 · 2026-03-27 · versão 1 · p. 1 · 20.000 · https://fnet.bmfbovespa.com.br/fnet/publico/visualizarDocumento?id=1148821</a:t>
            </a:r>
          </a:p>
          <a:p>
            <a:r>
              <a:t>CNPJ 62696791000193 · Classes e séries de cotas · Excerto da fonte:</a:t>
            </a:r>
          </a:p>
          <a:p>
            <a:r>
              <a:t>20.000 (vinte mil) Cotas Subordinadas Júnior, com valor nominal unitário de R$ 1.000,00 (mil reais),  perfazendo o montante total de R$ 20.000.000,00 (vinte milhões de reais), as quais serão objeto de  colocação privada, de acordo com os termos e condições definidos no Apêndice da Subclasse  Subordinada Júnior constante do Anexo I Regulamento e descritas abaixo (“2ª Emissão da Subclasse  Subordinada Júnior”):</a:t>
            </a:r>
          </a:p>
          <a:p>
            <a:r>
              <a:t>CNPJ 62696791000193 · Classes e séries de cotas · Instrumento Particular de Emissão de Cotas · ID 1148821 · 2026-03-27 · versão 1 · p. 2 · https://fnet.bmfbovespa.com.br/fnet/publico/visualizarDocumento?id=1148821</a:t>
            </a:r>
          </a:p>
          <a:p>
            <a:r>
              <a:t>CNPJ 62696791000193 · Classes e séries de cotas · Excerto da fonte:</a:t>
            </a:r>
          </a:p>
          <a:p>
            <a:r>
              <a:t>2. Aprovar a 2ª (segunda) emissão da Subclasse Sênior da Classe, composta por até 150.000  (cento e cinquenta mil) Cotas Seniores, com valor nominal unitário de R$ 1.000,00 (mil reais),  perfazendo o montante total de R$ 150.000.000,00 (cento e cinquenta milhões de reais), as quais  serão objeto de colocação privada, de acordo com os termos e condições descritos no Apêndice da  Subclasse Sênior constante do Anexo I Regulamento e descritas abaixo (“2ª Emissão da Subclasse  Sênior”):</a:t>
            </a:r>
          </a:p>
          <a:p>
            <a:r>
              <a:t>CNPJ 62696791000193 · Classes e séries de cotas · Instrumento Particular de Emissão de Cotas · ID 1148821 · 2026-03-27 · versão 1 · p. 2 · https://fnet.bmfbovespa.com.br/fnet/publico/visualizarDocumento?id=1148821</a:t>
            </a:r>
          </a:p>
          <a:p>
            <a:r>
              <a:t>CNPJ 62696791000193 · Classes e séries de cotas · Excerto da fonte:</a:t>
            </a:r>
          </a:p>
          <a:p>
            <a:r>
              <a:t>d) Forma de Integralização: as Cotas Subordinadas Júnior serão integralizadas à vista, junto ao  seu respectivo agente de custódia e/ou da Administradora na qualidade de escriturador das  cotas; e</a:t>
            </a:r>
          </a:p>
          <a:p>
            <a:r>
              <a:t>CNPJ 62696791000193 · Classes e séries de cotas · Condição: Documentos atuais selecionados no inventário por categoria/escopo; a data documental isolada não comprova vigência jurídica.</a:t>
            </a:r>
          </a:p>
          <a:p>
            <a:r>
              <a:t>CNPJ 62696791000193 · Classes e séries de cotas · Versão e prevalência: Documentos atuais selecionados no inventário por categoria/escopo; a data documental isolada não comprova vigência jurídica.</a:t>
            </a:r>
          </a:p>
          <a:p>
            <a:r>
              <a:t>CNPJ 62696791000193 · Classes e séries de cotas · Resumo do histórico: {"count": 2, "dates": ["2026-03-20", "2026-03-27"], "document_count": 2, "sources": [{"document_id": "1148821", "title": "Instrumento Particular de Emissão de Cotas", "reference_date": "2026-03-27", "version": "1", "page": "1-2", "url": "https://fnet.bmfbovespa.com.br/fnet/publico/visualizarDocumento?id=1148821", "sha256": "86900e9dd498403696bfffbd4196443c83ec4d51ff21135e073c1966e1adf4c0"}, {"document_id": "1143317", "title": "Regulamento", "reference_date": "2026-03-20", "version": "1", "page": 16, "clause": "7.2", "url": "https://fnet.bmfbovespa.com.br/fnet/publico/visualizarDocumento?id=1143317", "sha256": "32f62818d51c3ebeaf9ec012d3d7867f15c1aed6d10f0867c157a290df1cea48"}], "reference": {"path": "history/62696791000193.json", "criterion_id": "quota_classes", "total_count": 2, "preview_count": 2, "full_text_deferred": true, "sha256": "0e9ec199848320ec945708123ae0cb6075d76c05d94beed814d582031d353926"}}</a:t>
            </a:r>
          </a:p>
          <a:p>
            <a:r>
              <a:t>CNPJ 55563624000109 · Classes e séries de cotas · Regulamento · ID 1192614 · 2026-04-30 · versão 1 · p. 40 · https://fnet.bmfbovespa.com.br/fnet/publico/visualizarDocumento?id=1192614</a:t>
            </a:r>
          </a:p>
          <a:p>
            <a:r>
              <a:t>CNPJ 55563624000109 · Classes e séries de cotas · Excerto da fonte:</a:t>
            </a:r>
          </a:p>
          <a:p>
            <a:r>
              <a:t>(xxiv) Subordinação de determinadas Cotas da Classe Investida a outras subclasses ou séries de  cotas das Classes Investidas aos quais pertencem. A Classe Investida adquirirá apenas cotas  subordinadas mezaninos da Classe Investida, as quais se subordinam às cotas seniores da Classe  Investida para efeitos de resgate. Os resgates de cotas subordinadas mezanino tipicamente têm sua  realização condicionada ainda à manutenção da razão de garantia e à existência de disponibilidades  da Classe Investida. O ADMINISTRADOR, o GESTOR e o CUSTODIANTE e suas respectivas partes  relacionadas, encontram-se impossibilitados de assegurar que a amortização e o resgate das cotas  subordinadas mezanino da Classe Investida que venham a ser adquiridas pela Classe ocorrerão nas  datas originalmente previstas, sendo que, caso tais amortizações e/ou resgates não ocorram, não será  devido pelo FUNDO ou qualquer pessoa, incluindo o ADMINISTRADOR, o GESTOR e o CUSTODIANTE,  do FUNDO ou da Classe Investida qualquer multa ou penalidade, de qualquer natureza. O não resgate  de cotas subordinadas mezanino da Classe Investida detidas pela Classe poderá impactar  negativamente no fluxo de pagamento de resgate da Classe e/ou no valor patrimonial das Cotas da  Classe.</a:t>
            </a:r>
          </a:p>
          <a:p>
            <a:r>
              <a:t>CNPJ 55563624000109 · Classes e séries de cotas · Regulamento · ID 1192614 · 2026-04-30 · versão 1 · p. 31 · 15.1.1 · https://fnet.bmfbovespa.com.br/fnet/publico/visualizarDocumento?id=1192614</a:t>
            </a:r>
          </a:p>
          <a:p>
            <a:r>
              <a:t>CNPJ 55563624000109 · Classes e séries de cotas · Excerto da fonte:</a:t>
            </a:r>
          </a:p>
          <a:p>
            <a:r>
              <a:t>15.1.1 Riscos de Crédito:</a:t>
            </a:r>
          </a:p>
          <a:p>
            <a:r>
              <a:t> (i) Risco de concentração na Classe Investida. Nos termos do presente Regulamento, a Classe  deverá manter alocado, no mínimo, 67% (sessenta e sete por cento) do Patrimônio Líquido nas Cotas  da Classe Investida. Alterações na condição econômico-financeira e na expectativa de desempenho ou  resultados da Classe Investida poderão, isolada ou cumulativamente, afetar negativamente o  rendimento do investimento nas Cotas, de forma mais severa do que se a Classe adotasse uma  estratégia de investimento de maior diversificação. O risco associado às aplicações de qualquer fundo  de investimento é diretamente proporcional à concentração da sua carteira, sendo que, quanto maior  essa concentração, maior será a sua vulnerabilidade.</a:t>
            </a:r>
          </a:p>
          <a:p>
            <a:r>
              <a:t> (ii) Risco relativo à Classe Investida. Nos termos deste Anexo, a Classe deverá manter alocado, no  mínimo, 67% (sessenta e sete por cento) do Patrimônio Líquido em Cotas da Classe Investida. Os  investimentos realizados pela Classe Investida poderão estar sujeitos a flutuações típicas do mercado,  risco de crédito, risco sistêmico, condições adversas de liquidez e negociação atípica nos mercados de  atuação, bem como outros riscos diversos. Este Anexo não contém a descrição de todas as  características, incluindo os riscos, da Classe Investida.</a:t>
            </a:r>
          </a:p>
          <a:p>
            <a:r>
              <a:t> (iii) Risco Relativo ao Pagamento de Encargos da Classe Investida. Tendo em vista a estrutura da  Classe Investida – que emitiu cotas sêniores, cotas subordinadas mezanino e cotas subordinadas júnior  – em situação ordinária os encargos da Classe Investida são arcados pelas cotas subordinadas júnior,  que se subordinam às cotas subordinadas mezanino e às cotas sêniores para fins de amortização,  resgate e distribuição de rendimentos, não impactando, portanto, as Cotas da Classe Investida. Não  obstante o funcionamento da Classe Investida em situação ordinária, em cenários extraordinários, na  eventualidade do valor das cotas subordinadas júnior ficar reduzido a zero ou a valor negativo, os  encargos da Classe Investida conforme previstos em seu regulamento, inclusive mas não se limitando  as remunerações dos prestadores de serviços essenciais, passarão a ser arcados pelas cotas  subordinadas mezanino (que são as Cotas da Classe Investida), impactando no valor do investimento  da Classe na Classe Investida, e consequentemente, o investimento dos Cotistas na Classe.</a:t>
            </a:r>
          </a:p>
          <a:p>
            <a:r>
              <a:t> (iv) Riscos referentes à carteira da Classe Investida. Na forma do Anexo Normativo II da Resolução  CVM 175, a Classe Investida investe, direta ou indiretamente, no mínimo, 67% (sessenta e sete por  cento) do seu patrimônio em direitos creditórios originados pela Mercado Pago. O investimento em tais  direitos creditórios está sujeito a fatores de risco específicos, conforme detalhados no regulamento da  Classe Investida, incluindo, mas não se limitando a:</a:t>
            </a:r>
          </a:p>
          <a:p>
            <a:r>
              <a:t> (a) Risco de liquidez dos direitos creditórios. O investimento da Classe Investida em direitos  creditórios apresenta peculiaridades em relação às aplicações usuais da maioria dos  fundos de investimento brasileiros, haja vista que não existe, no Brasil, mercado  secundário com liquidez para tais direitos creditórios. Caso a Classe Investida precise  vender os direitos creditórios adquiridos, poderá não haver mercado comprador para  tais créditos, bem como o preço de alienação de tais direitos creditórios poderá refletir  essa falta de liquidez, causando perda ao patrimônio da Classe Investida e,  consequentemente, à Classe.</a:t>
            </a:r>
          </a:p>
          <a:p>
            <a:r>
              <a:t>CNPJ 55563624000109 · Classes e séries de cotas · AGE · ID 1192603 · 2026-04-30 · versão 1 · p. 1 · 4.1 · https://fnet.bmfbovespa.com.br/fnet/publico/visualizarDocumento?id=1192603</a:t>
            </a:r>
          </a:p>
          <a:p>
            <a:r>
              <a:t>CNPJ 55563624000109 · Classes e séries de cotas · Excerto da fonte:</a:t>
            </a:r>
          </a:p>
          <a:p>
            <a:r>
              <a:t>4.1. Aprovar a alteração do Anexo I da Classe Única para a reorganização do passivo de sua subclasse  única em novas subclasses, quais sejam, subclasse A (“Subclasse A”), subclasse B (“Subclasse B”) e  subclasse C (“Subclasse C” e, quando em conjunto com a Subclasse A e a Subclasse B, as “Subclasses”),  considerando que serão mantidas as condições de investimento originalmente pactuadas com os cotistas,  como critérios de aplicação, resgate, amortização e política de investimento da Classe Única, diferindo-  se, exclusivamente, em relação ao prazo de duração cada Subclasse.</a:t>
            </a:r>
          </a:p>
          <a:p>
            <a:r>
              <a:t>CNPJ 55563624000109 · Classes e séries de cotas · Condição: Documentos atuais selecionados no inventário por categoria/escopo; a data documental isolada não comprova vigência jurídica.</a:t>
            </a:r>
          </a:p>
          <a:p>
            <a:r>
              <a:t>CNPJ 55563624000109 · Classes e séries de cotas · Versão e prevalência: Documentos atuais selecionados no inventário por categoria/escopo; a data documental isolada não comprova vigência jurídica.</a:t>
            </a:r>
          </a:p>
          <a:p>
            <a:r>
              <a:t>CNPJ 55563624000109 · Classes e séries de cotas · Resumo do histórico: {"count": 3, "dates": ["2025-01-31", "2026-01-31", "2026-04-30"], "document_count": 3, "sources": [{"document_id": "1192614", "title": "Regulamento", "reference_date": "2026-04-30", "version": "1", "page": "15", "url": "https://fnet.bmfbovespa.com.br/fnet/publico/visualizarDocumento?id=1192614", "sha256": "f56e63ace0acde41d2f47fb48f1ac7f3f7df5e2d32de092d7c5e075a52516632"}, {"document_id": "1178840", "title": "Demonstrações Financeiras", "reference_date": "2026-01-31", "version": "1", "page": 25, "url": "https://fnet.bmfbovespa.com.br/fnet/publico/visualizarDocumento?id=1178840", "sha256": "c458e98664c5c907ddb5a05a94b120bed4e05295b2bfc420f5ba69af0a229abe"}, {"document_id": "891861", "title": "Demonstrações Financeiras", "reference_date": "2025-01-31", "version": "1", "page": 26, "url": "https://fnet.bmfbovespa.com.br/fnet/publico/visualizarDocumento?id=891861", "sha256": "e9cb9e6ddbe505fe068cfcac33605165a98313489de0d3ce6d4d238263c3f3e7"}], "reference": {"path": "history/55563624000109.json", "criterion_id": "quota_classes", "total_count": 3, "preview_count": 3, "full_text_deferred": true, "sha256": "7835d573fb58a3c19adf5b8ecc2aee2bdbb9a88f7a0c0209b5f262b64c7522e3"}}</a:t>
            </a:r>
          </a:p>
          <a:p>
            <a:r>
              <a:t>CNPJ 62552447000120 · Classes e séries de cotas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Classes e séries de cotas · Resumo do histórico: {"count": 1, "dates": ["2025-09-03"], "document_count": 1, "sources": [{"document_id": "988020", "title": "Instrumento Particular de Emissão de Cotas", "reference_date": "2025-09-03", "version": "1", "page": "5", "url": "https://fnet.bmfbovespa.com.br/fnet/publico/visualizarDocumento?id=988020", "sha256": "8ecc8a771bb9713d64e5fc2052c489664cb0433801a9280db68e5187d35bf7a5"}], "reference": {"path": "history/62552447000120.json", "criterion_id": "quota_classes", "total_count": 1, "preview_count": 1, "full_text_deferred": true, "sha256": "d95db8c0613d67ee84118c734588665265ea6b02f86a0318d6a844cbe1d0f82f"}}</a:t>
            </a:r>
          </a:p>
          <a:p>
            <a:r>
              <a:t>CNPJ 63953620000165 · Classes e séries de cotas · AGE · ID 1313935 · 2026-08-31 · versão 1 · p. 1 · 4.1 · https://fnet.bmfbovespa.com.br/fnet/publico/visualizarDocumento?id=1313935</a:t>
            </a:r>
          </a:p>
          <a:p>
            <a:r>
              <a:t>CNPJ 63953620000165 · Classes e séries de cotas · Excerto da fonte:</a:t>
            </a:r>
          </a:p>
          <a:p>
            <a:r>
              <a:t>4.1. Aprovar a realização da incorporação das parcelas cindidas descritas no Anexo I à presente ata (“Parcelas  Cindidas”), com base no fechamento de 28 de agosto de 2026 (“Data Base”), condicionada à aprovação da cisão  da CLASSE ÚNICA DO MT CONSIGNADO PRIVADO I FUNDO DE INVESTIMENTO EM DIREITOS CREDITÓRIOS  RESPONSABILIDADE LIMITADA, inscrita no CNPJ sob o nº 60.010.416/0001-12 (“Classe Cindida”), com a  subsequente incorporação da respectiva Parcela Cindida, emitindo-se cotas seniores da Classe, a serem  atribuídas integralmente aos cotistas da Classe Cindida, no valor da respectiva Parcela Cindida, na Data-Base, de  acordo com o valor das cotas da Classe na mesma data. A partir da Data Base, todos os direitos e obrigações dos  ativos cindidos serão sucedidos à Classe;</a:t>
            </a:r>
          </a:p>
          <a:p>
            <a:r>
              <a:t>CNPJ 63953620000165 · Classes e séries de cotas · Condição: Documentos atuais selecionados no inventário por categoria/escopo; a data documental isolada não comprova vigência jurídica.</a:t>
            </a:r>
          </a:p>
          <a:p>
            <a:r>
              <a:t>CNPJ 63953620000165 · Classes e séries de cotas · Versão e prevalência: Documentos atuais selecionados no inventário por categoria/escopo; a data documental isolada não comprova vigência jurídica.</a:t>
            </a:r>
          </a:p>
          <a:p>
            <a:r>
              <a:t>CNPJ 63953620000165 · Classes e séries de cotas · Resumo do histórico: {"count": 11, "dates": ["2026-07-29", "2026-08-17", "2026-08-21"], "document_count": 3, "sources": [{"document_id": "1309436", "title": "AGE", "reference_date": "2026-08-21", "version": "1", "page": 1, "clause": "4.1", "url": "https://fnet.bmfbovespa.com.br/fnet/publico/visualizarDocumento?id=1309436", "sha256": "f679de1621039dce7c665e3a742f213fd4d5047e12b96163b31ea4ae86f56817"}, {"document_id": "1298232", "title": "AGE", "reference_date": "2026-08-17", "version": "1", "page": 1, "clause": "4.1", "url": "https://fnet.bmfbovespa.com.br/fnet/publico/visualizarDocumento?id=1298232", "sha256": "75322e306547f725e73a2c6687b598e14d628caa84bd46a23508337a606866f6"}, {"document_id": "1277543", "title": "AGE", "reference_date": "2026-07-29", "version": "1", "page": 1, "url": "https://fnet.bmfbovespa.com.br/fnet/publico/visualizarDocumento?id=1277543", "sha256": "c2fb499fd6e25251a221d4e9dbb5d1378fb5efde5a58eee091868faf52d326c0"}], "reference": {"path": "history/63953620000165.json", "criterion_id": "quota_classes", "total_count": 11, "preview_count": 3, "full_text_deferred": true, "sha256": "a7b89077f5e21098c2d601c303faabc3ff6b9729f89d8afecdc60fe1404720c1"}}</a:t>
            </a:r>
          </a:p>
          <a:p>
            <a:r>
              <a:t>CNPJ 54871427000194 · Ofertas e colocação · AGE · ID 1055482 · 2025-12-02 · versão 1 · p. 1 · 4.1 · https://fnet.bmfbovespa.com.br/fnet/publico/visualizarDocumento?id=1055482</a:t>
            </a:r>
          </a:p>
          <a:p>
            <a:r>
              <a:t>CNPJ 54871427000194 · Ofertas e colocação · Excerto da fonte:</a:t>
            </a:r>
          </a:p>
          <a:p>
            <a:r>
              <a:t>4.1. Aprovar a nova emissão de Cotas pela Classe, todas nominativas e escriturais, com preço unitário de emissão  correspondente ao valor das Cotas da Classe em circulação quando na data de aprovação da Nova Emissão,  perfazendo o montante total de emissão de até R$ 650.000.000 (seiscentos e cinquenta milhões de reais), conforme  as características constantes do Regulamento e do Anexo da Classe (“Novas Cotas” e “Nova Emissão”,  respectivamente), e descritas abaixo:</a:t>
            </a:r>
          </a:p>
          <a:p>
            <a:r>
              <a:t>(i) Rito: as Novas Cotas não serão objeto de oferta pública, conforme facultado pelo artigo 8º, inciso IV, da  Resolução CVM nº 160, uma vez que a Classe se enquadra nos requisitos do referido dispositivo;</a:t>
            </a:r>
          </a:p>
          <a:p>
            <a:r>
              <a:t>(ii) Preço de Emissão: o preço unitário de emissão corresponderá ao valor das Cotas da Classe em circulação  quando na data de aprovação da Nova Emissão (“Preço de Emissão”);</a:t>
            </a:r>
          </a:p>
          <a:p>
            <a:r>
              <a:t>(iii) Preço de Integralização: o Preço de Integralização corresponderá ao valor das Cotas da Classe em  circulação quando da transferência dos valores para liquidação financeira (“Preço de Integralização”);</a:t>
            </a:r>
          </a:p>
          <a:p>
            <a:r>
              <a:t>(iv) Forma de Integralização: as Cotas serão integralizadas à vista, em moeda corrente nacional, pelo Preço  de Integralização, junto ao seu respectivo agente de custódia e/ou da Administradora na qualidade de  escriturador das cotas; e</a:t>
            </a:r>
          </a:p>
          <a:p>
            <a:r>
              <a:t>(v) Período de colocação: a subscrição das Cotas, objeto da Nova Emissão, deverão ser realizadas no prazo  máximo de 180 (cento e oitenta) dias, contados da data de efeitos do presente instrumento.</a:t>
            </a:r>
          </a:p>
          <a:p>
            <a:r>
              <a:t>CNPJ 54871427000194 · Ofertas e colocação · Condição: Trechos do documento específico identificado com data mais recente; vigência jurídica não inferida.</a:t>
            </a:r>
          </a:p>
          <a:p>
            <a:r>
              <a:t>CNPJ 54871427000194 · Ofertas e colocação · Versão e prevalência: Trechos do documento específico identificado com data mais recente; vigência jurídica não inferida.</a:t>
            </a:r>
          </a:p>
          <a:p>
            <a:r>
              <a:t>CNPJ 54871427000194 · Ofertas e colocação · Resumo do histórico: {"count": 7, "dates": ["2024-06-13", "2024-12-10"], "document_count": 3, "sources": [{"document_id": "798101", "title": "Anúncio de Encerramento", "reference_date": "2024-12-10", "version": "1", "page": "1-2", "url": "https://fnet.bmfbovespa.com.br/fnet/publico/visualizarDocumento?id=798101", "sha256": "71618c432ad86002484571d66922b873e4fa91ed3543a109134ddee0bd872f20"}, {"document_id": "679614", "title": "Anúncio de Início", "reference_date": "2024-06-13", "version": "1", "page": 1, "url": "https://fnet.bmfbovespa.com.br/fnet/publico/visualizarDocumento?id=679614", "sha256": "aad43ed14bfa0576144a306c466aea031fce0d01d3cb3de6aebd120f11164bfa"}, {"document_id": "683482", "title": "AGE", "reference_date": "2024-06-13", "version": "1", "page": 2, "url": "https://fnet.bmfbovespa.com.br/fnet/publico/visualizarDocumento?id=683482", "sha256": "3afbe254027691929935eaf19ebbb8634fb2ccd8e2fbea2cb2d81a7818f8d648"}], "reference": {"path": "history/54871427000194.json", "criterion_id": "offers", "total_count": 7, "preview_count": 3, "full_text_deferred": true, "sha256": "35d7cd99be50c7287c9fb675cf4f2e736002315295a225a9efa79c8d9186d874"}}</a:t>
            </a:r>
          </a:p>
          <a:p>
            <a:r>
              <a:t>CNPJ 60010416000112 · Ofertas e colocação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Ofertas e colocação · Resumo do histórico: {"count": 1, "dates": ["2025-03-20"], "document_count": 1, "sources": [{"document_id": "993785", "title": "Instrumento Particular de Constituição/Encerramento do Fundo", "reference_date": "2025-03-20", "version": "1", "page": "1-2", "url": "https://fnet.bmfbovespa.com.br/fnet/publico/visualizarDocumento?id=993785", "sha256": "0826e0eae2c51afabf59bbc49fc7647598d03da5ca6de0f9725850a8bd6af457"}], "reference": {"path": "history/60010416000112.json", "criterion_id": "offers", "total_count": 1, "preview_count": 1, "full_text_deferred": true, "sha256": "8e2bd813f4c51cf01f6bfaad164bafe69d2bbb192f753eac92da3a01c2e63046"}}</a:t>
            </a:r>
          </a:p>
          <a:p>
            <a:r>
              <a:t>CNPJ 62696791000193 · Ofertas e colocação · Regulamento · ID 1143317 · 2026-03-20 · versão 1 · p. 39 · 2.6 · https://fnet.bmfbovespa.com.br/fnet/publico/visualizarDocumento?id=1143317</a:t>
            </a:r>
          </a:p>
          <a:p>
            <a:r>
              <a:t>CNPJ 62696791000193 · Ofertas e colocação · Excerto da fonte:</a:t>
            </a:r>
          </a:p>
          <a:p>
            <a:r>
              <a:t>2.6. O valor de mercado das Cotas de emissão da Classe poderá sofrer oscilações frequentes e  significativas, inclusive ao longo do dia. Como consequência, o valor de mercado das cotas de  emissão da Classe poderá não ref letir necessariamente seu valor patrimonial. Não será devida  pela Classe ou por qualquer pessoa, incluindo as instituições responsáveis pela distribuição  das cotas, os demais Cotistas da Classe, o Administrador e as instituições participantes da  of erta, qualquer multa ou penalidade de qualquer natureza, caso ocorra, por qualquer razão,</a:t>
            </a:r>
          </a:p>
          <a:p>
            <a:r>
              <a:t> (i) o alongamento do período de amortização das Cotas; (ii) a liquidação da Classe; ou, ainda,</a:t>
            </a:r>
          </a:p>
          <a:p>
            <a:r>
              <a:t> (iii) caso os Cotistas sof ram qualquer dano ou prejuízo resultante de tais eventos.</a:t>
            </a:r>
          </a:p>
          <a:p>
            <a:r>
              <a:t>3. Risco TributárioOs rendimentos e ganhos líquidos auf eridos pela Classe em aplicações f inanceiras de  renda f ixa ou de renda variável sujeitam-se à incidência do imposto de renda na f onte, observadas as  mesmas normas aplicáveis às pessoas jurídicas, podendo esse imposto ser compensado com o retido na  f onte pela Classe quando da distribuição de rendimentos e ganhos de capital aos Cotistas. Os rendimentos  auf eridos pela Classe, quando distribuídos aos Cotistas sujeitam-se à incidência do Imposto de Renda na  f onte à alíquota de 20% (vinte por cento). Os rendimentos e ganhos de capital auferidos pelos Cotistas na</a:t>
            </a:r>
          </a:p>
          <a:p>
            <a:r>
              <a:t>CNPJ 62696791000193 · Ofertas e colocação · Regulamento · ID 1143317 · 2026-03-20 · versão 1 · p. 28 · https://fnet.bmfbovespa.com.br/fnet/publico/visualizarDocumento?id=1143317</a:t>
            </a:r>
          </a:p>
          <a:p>
            <a:r>
              <a:t>CNPJ 62696791000193 · Ofertas e colocação · Excerto da fonte:</a:t>
            </a:r>
          </a:p>
          <a:p>
            <a:r>
              <a:t>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equivalente a 0,9% (nove décimos  por cento) ao ano aplicado sobre o Patrimônio Anexo I ao  Regulamento Líquido, observado o limite máximo de 4,5% (quatro  inteiros e cinquenta centésimos por cento) do volume captado na  respectiva oferta (“Taxa Máxima de Distribuição”).A Taxa Máxima de</a:t>
            </a:r>
          </a:p>
          <a:p>
            <a:r>
              <a:t>CNPJ 62696791000193 · Ofertas e colocação · Condição: Documentos atuais selecionados no inventário por categoria/escopo; a data documental isolada não comprova vigência jurídica.</a:t>
            </a:r>
          </a:p>
          <a:p>
            <a:r>
              <a:t>CNPJ 62696791000193 · Ofertas e colocação · Versão e prevalência: Documentos atuais selecionados no inventário por categoria/escopo; a data documental isolada não comprova vigência jurídica.</a:t>
            </a:r>
          </a:p>
          <a:p>
            <a:r>
              <a:t>CNPJ 62696791000193 · Ofertas e colocação · Resumo do histórico: {"count": 1, "dates": ["2026-03-27"], "document_count": 1, "sources": [{"document_id": "1148821", "title": "Instrumento Particular de Emissão de Cotas", "reference_date": "2026-03-27", "version": "1", "page": "1-3", "url": "https://fnet.bmfbovespa.com.br/fnet/publico/visualizarDocumento?id=1148821", "sha256": "86900e9dd498403696bfffbd4196443c83ec4d51ff21135e073c1966e1adf4c0"}], "reference": {"path": "history/62696791000193.json", "criterion_id": "offers", "total_count": 1, "preview_count": 1, "full_text_deferred": true, "sha256": "0e9ec199848320ec945708123ae0cb6075d76c05d94beed814d582031d353926"}}</a:t>
            </a:r>
          </a:p>
          <a:p>
            <a:r>
              <a:t>CNPJ 55563624000109 · Ofertas e colocação · Regulamento · ID 1192614 · 2026-04-30 · versão 1 · p. 25 · 12.9 · https://fnet.bmfbovespa.com.br/fnet/publico/visualizarDocumento?id=1192614</a:t>
            </a:r>
          </a:p>
          <a:p>
            <a:r>
              <a:t>CNPJ 55563624000109 · Ofertas e colocação · Excerto da fonte:</a:t>
            </a:r>
          </a:p>
          <a:p>
            <a:r>
              <a:t>12.9 Inclui-se entre as obrigações do GESTOR, contratar, em nome da Classe, se necessário, com terceiros  devidamente habilitados e autorizados, os serviços de distribuição das Cotas. A distribuição pública das Cotas  deverá ser realizada por distribuidores devidamente autorizados pela CVM, nos termos da regulamentação  aplicável.</a:t>
            </a:r>
          </a:p>
          <a:p>
            <a:r>
              <a:t>CNPJ 55563624000109 · Ofertas e colocação · Condição: Documentos atuais selecionados no inventário por categoria/escopo; a data documental isolada não comprova vigência jurídica.</a:t>
            </a:r>
          </a:p>
          <a:p>
            <a:r>
              <a:t>CNPJ 55563624000109 · Ofertas e colocação · Versão e prevalência: Documentos atuais selecionados no inventário por categoria/escopo; a data documental isolada não comprova vigência jurídica.</a:t>
            </a:r>
          </a:p>
          <a:p>
            <a:r>
              <a:t>CNPJ 55563624000109 · Ofertas e colocação · Resumo do histórico: {"count": 3, "dates": ["2024-07-03"], "document_count": 3, "sources": [{"document_id": "703295", "title": "Anúncio de Início", "reference_date": "2024-07-03", "version": "2", "page": 1, "url": "https://fnet.bmfbovespa.com.br/fnet/publico/visualizarDocumento?id=703295", "sha256": "12322b6dbf75e673723bd60910373db249451b72666792e18e0c7b6128f4608a"}, {"document_id": "702585", "title": "Anúncio de Início", "reference_date": "2024-07-03", "version": "1", "page": 1, "url": "https://fnet.bmfbovespa.com.br/fnet/publico/visualizarDocumento?id=702585", "sha256": "6708609ac7f0611118fb23ffd6d2cd6c7fd33275130407918ea42831baa712cd"}, {"document_id": "691674", "title": "Instrumento Particular de Emissão de Cotas", "reference_date": "2024-07-03", "version": "1", "page": 3, "url": "https://fnet.bmfbovespa.com.br/fnet/publico/visualizarDocumento?id=691674", "sha256": "78bf7b350f1785beae5f43bd209b5ed19e863cb9a2cff01542aac11dd63ca554"}], "reference": {"path": "history/55563624000109.json", "criterion_id": "offers", "total_count": 3, "preview_count": 3, "full_text_deferred": true, "sha256": "7835d573fb58a3c19adf5b8ecc2aee2bdbb9a88f7a0c0209b5f262b64c7522e3"}}</a:t>
            </a:r>
          </a:p>
          <a:p>
            <a:r>
              <a:t>CNPJ 62552447000120 · Ofertas e colocação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Ofertas e colocação · Resumo do histórico: {"count": 1, "dates": ["2025-09-03"], "document_count": 1, "sources": [{"document_id": "988020", "title": "Instrumento Particular de Emissão de Cotas", "reference_date": "2025-09-03", "version": "1", "page": "5-6", "url": "https://fnet.bmfbovespa.com.br/fnet/publico/visualizarDocumento?id=988020", "sha256": "8ecc8a771bb9713d64e5fc2052c489664cb0433801a9280db68e5187d35bf7a5"}], "reference": {"path": "history/62552447000120.json", "criterion_id": "offers", "total_count": 1, "preview_count": 1, "full_text_deferred": true, "sha256": "d95db8c0613d67ee84118c734588665265ea6b02f86a0318d6a844cbe1d0f82f"}}</a:t>
            </a:r>
          </a:p>
          <a:p>
            <a:r>
              <a:t>CNPJ 63953620000165 · Ofertas e colocação · Anexo ao Regulamento · ID 1222863 · 2026-06-02 · versão 1 · p. 10 · 6.9 · https://fnet.bmfbovespa.com.br/fnet/publico/visualizarDocumento?id=1222863</a:t>
            </a:r>
          </a:p>
          <a:p>
            <a:r>
              <a:t>CNPJ 63953620000165 · Ofertas e colocação · Excerto da fonte:</a:t>
            </a:r>
          </a:p>
          <a:p>
            <a:r>
              <a:t>6.9 As Cotas poderão ser objeto de oferta pública a ser realizada nos termos da Resolução CVM 160 (“Oferta”) e/ou  poderão ser colocadas de forma privada (“Colocação Privada”), bem como segundo outros ritos que venham a  ser previstos pela regulamentação. As Cotas deverão ser emitidas e subscritas dentro do prazo e nos termos e  condições da legislação aplicável, do presente Anexo e dos respectivos Boletins de Subscrição e/ou  Compromissos de Investimento.</a:t>
            </a:r>
          </a:p>
          <a:p>
            <a:r>
              <a:t>CNPJ 63953620000165 · Ofertas e colocação · Condição: Documentos atuais selecionados no inventário por categoria/escopo; a data documental isolada não comprova vigência jurídica.</a:t>
            </a:r>
          </a:p>
          <a:p>
            <a:r>
              <a:t>CNPJ 63953620000165 · Ofertas e colocação · Versão e prevalência: Documentos atuais selecionados no inventário por categoria/escopo; a data documental isolada não comprova vigência jurídica.</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Emissões e custos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Remuneração por subclasse e série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Remuneração por subclasse e série · Resumo do histórico: {"count": 1, "dates": ["2024-04-28"], "document_count": 1, "sources": [{"document_id": "670691", "title": "Regulamento", "reference_date": "2024-04-28", "version": "1", "page": "14", "url": "https://fnet.bmfbovespa.com.br/fnet/publico/visualizarDocumento?id=670691", "sha256": "bf16dd7f1a62d5cdbf2e2d54fef81783783f7310fbc99c3a8f00459bdf9d037b"}], "reference": {"path": "history/54871427000194.json", "criterion_id": "remuneration", "total_count": 1, "preview_count": 1, "full_text_deferred": true, "sha256": "35d7cd99be50c7287c9fb675cf4f2e736002315295a225a9efa79c8d9186d874"}}</a:t>
            </a:r>
          </a:p>
          <a:p>
            <a:r>
              <a:t>CNPJ 60010416000112 · Remuneração por subclasse e série · Instrumento Particular de Constituição/Encerramento do Fundo · ID 993785 · 20/03/2025 · versão 1ªemissão20/03/2025 · p. 5 · Suplemento1ªsênior BenchmarkSênior · https://fnet.bmfbovespa.com.br/fnet/publico/visualizarDocumento?id=993785</a:t>
            </a:r>
          </a:p>
          <a:p>
            <a:r>
              <a:t>CNPJ 60010416000112 · Remuneração por subclasse e série · Excerto da fonte:</a:t>
            </a:r>
          </a:p>
          <a:p>
            <a:r>
              <a:t>4,80% (quatro inteiros e oitenta centésimos por cento)calculado por Dia Útil à base de 1/252 (um inteiro e duzentos e cinquenta e dois avos); e (ii) “Benchmark Sênior Adicional”: o parâmetro adicional de rentabilidade a ser buscado pela Classe para remunerar as Cotas Seniores, correspondente 15,00% (quinze por cento) do excesso de spread das Cotas Subordinadas com cap de remuneração total das Cotas Seniores pela variação do CDI acrescido de 6,00% (seis por cento</a:t>
            </a:r>
          </a:p>
          <a:p>
            <a:r>
              <a:t>CNPJ 60010416000112 · Remuneração por subclasse e série · Condição: Termo específico da primeira emissão de 20/03/2025, distinto de taxa deperformance e do suplemento modelo com campos não preenchidos do regulamento.</a:t>
            </a:r>
          </a:p>
          <a:p>
            <a:r>
              <a:t>CNPJ 60010416000112 · Remuneração por subclasse e série · Versão e prevalência: Leitura específica das cláusulas indicadas; condições e conflitos preservados. Seleção documental atual não comprova vigência jurídica por data isolada.</a:t>
            </a:r>
          </a:p>
          <a:p>
            <a:r>
              <a:t>CNPJ 60010416000112 · Remuneração por subclasse e série · Resumo do histórico: {"count": 3, "dates": ["2025-03-20", "2025-05-12"], "document_count": 2, "sources": [{"document_id": "1004656", "title": "AGE", "reference_date": "2025-05-12", "version": "1", "page": 5, "url": "https://fnet.bmfbovespa.com.br/fnet/publico/visualizarDocumento?id=1004656", "sha256": "f6c9c009f6170e2b29f074b98522accec73f0c40efbf11f9ec2c8d3f1402616b"}, {"document_id": "993785", "title": "Instrumento Particular de Constituição/Encerramento do Fundo", "reference_date": "2025-03-20", "version": "1", "page": "4-5", "url": "https://fnet.bmfbovespa.com.br/fnet/publico/visualizarDocumento?id=993785", "sha256": "0826e0eae2c51afabf59bbc49fc7647598d03da5ca6de0f9725850a8bd6af457"}, {"document_id": "993785", "title": "Instrumento Particular de Constituição/Encerramento do Fundo", "reference_date": "2025-03-20", "version": "1", "page": 5, "url": "https://fnet.bmfbovespa.com.br/fnet/publico/visualizarDocumento?id=993785", "sha256": "0826e0eae2c51afabf59bbc49fc7647598d03da5ca6de0f9725850a8bd6af457"}], "reference": {"path": "history/60010416000112.json", "criterion_id": "remuneration", "total_count": 3, "preview_count": 3, "full_text_deferred": true, "sha256": "8e2bd813f4c51cf01f6bfaad164bafe69d2bbb192f753eac92da3a01c2e63046"}}</a:t>
            </a:r>
          </a:p>
          <a:p>
            <a:r>
              <a:t>CNPJ 62696791000193 · Remuneração por subclasse e série · Regulamento · ID 1143317 · 20/03/2026 · versão Regulamento — referência 20/03/2026 · p. 33 · Apêndice Sênior, 1.2 e 1.4 · https://fnet.bmfbovespa.com.br/fnet/publico/visualizarDocumento?id=1143317</a:t>
            </a:r>
          </a:p>
          <a:p>
            <a:r>
              <a:t>CNPJ 62696791000193 · Remuneração por subclasse e série · Excerto da fonte:</a:t>
            </a:r>
          </a:p>
          <a:p>
            <a:r>
              <a:t>1.2. As Cotas Seniores poderão ser divididas em séries com valores e prazos diferenciados para amortização, resgate e remuneração, sendo que cada série terá as mesmas características e conf erirá a seus titulares iguais direitos e obrigações nos termos deste Reg ulamento e do Apêndice ref erente a cada emissão/série de Cotas Seniores. 1.2. Benchmark. A Classe buscará atingir, para as Cotas Seniores, o “Benchmark”, correspondente à 100% (cem por cento) da variação positiva do CDI acrescida de 4,5% (quatro inteiros e cinco décimos por cento) ao ano. 1.3. O Benchmark não representa e nem devem ser considerados uma promessa, garantia ou sugestão de rentabilidade aos Cotistas Seniores, por parte da Classe, do Administrador, do Gestor e/ou do Cedente. 1.4. Independentemente do valor do Patrimônio Líquido da Classe, os Cotistas detentores de Cotas Seniores não f arão jus a uma rentabilidade superior ao Benchmark, o qual representará o limite máximo de remuneração possível para as Cotas Seniores. 2. Emissão, Subscrição e Integralização das Cotas 2.1. A Classe poderá emitir múltiplas Séries de Cotas Seniores, ficando ressalvado, no entanto, que cada nova Série de Cotas Seniores a ser emitida pela Classe</a:t>
            </a:r>
          </a:p>
          <a:p>
            <a:r>
              <a:t>CNPJ 62696791000193 · Remuneração por subclasse e série · Regulamento · ID 1143317 · 20/03/2026 · versão Regulamento — referência 20/03/2026 · p. 34 · Apêndice Sênior, 6.2 · https://fnet.bmfbovespa.com.br/fnet/publico/visualizarDocumento?id=1143317</a:t>
            </a:r>
          </a:p>
          <a:p>
            <a:r>
              <a:t>CNPJ 62696791000193 · Remuneração por subclasse e série · Excerto da fonte:</a:t>
            </a:r>
          </a:p>
          <a:p>
            <a:r>
              <a:t>6.2. Em complemento às Amortizações Programadas de Cotas Seniores, os Cotistas Seniores f arão jus, sempre que o Patrimônio Líquido da Classe assim permita e desde que o Valor Unitário das Cotas Seniores esteja superior ao valor de integralização das Cotas Seniores em circulação, a 50% (cinquenta por cento) de qualquer valor que exceder a Amortização das Cotas Subordinadas, conforme prevista no Apêndice da Subclasse Subordinada, a ser paga na Data de Amortização Programada de Cotas Seniores (“Amortização Extraordinária de Cotas Seniores”). 6.3. Os pagamentos das parcelas de Amortização e/ou de resgate das Cotas Seniores serão ef etuados, em moeda corrente nacional, pelo Valor Unitário das Cotas Seniores no dia do pagamento, calculado na forma descrita neste Apêndice e no Anexo I, por meio de depósito em conta de titularidade dos Cotistas titulares BTG Pactual 2 SAC: 0800 772 28 27 - Ouvidoria: 0800 722 00 48 - btgpactual.com</a:t>
            </a:r>
          </a:p>
          <a:p>
            <a:r>
              <a:t>CNPJ 62696791000193 · Remuneração por subclasse e série · Regulamento · ID 1143317 · 20/03/2026 · versão Regulamento — referência 20/03/2026 · p. 37 · Apêndice Júnior, 4.1–4.2 · https://fnet.bmfbovespa.com.br/fnet/publico/visualizarDocumento?id=1143317</a:t>
            </a:r>
          </a:p>
          <a:p>
            <a:r>
              <a:t>CNPJ 62696791000193 · Remuneração por subclasse e série · Excerto da fonte:</a:t>
            </a:r>
          </a:p>
          <a:p>
            <a:r>
              <a:t>4.1. Caso o Patrimônio Líquido da Classe assim permita, as Cotas Subordinadas f arão jus à amortização semestral, no último Dia Útil dos meses de janeiro e julho de cada ano, de valor equivalente ao excedente do valor de integralização das Cotas Subordinadas em circulação, limitado ao percentual de 100% (cem por cento) da variação positiva do CDI acrescida de 4,50% (quatro inteiros e cinco décimos por cento) ao ano, considerando, para tanto a razão entre (i) o valor de integralização das Cotas Subordinadas Júnior em circulação e (ii) o valor de cada uma das Cotas Subordinadas, a ser paga na Data de Amortização Programada de Cotas Seniores (“Amortização das Cotas Subordinadas”). 4.2. Em complemento às Amortizações das Cotas Subordinadas, os Cotistas Subordinados farão jus, sempre que o Patrimônio Líquido da Classe assim permita e desde que o Valor Unitário das Cotas Subordinadas esteja superior ao valor de integralização das Cotas Subordinadas em circulação, a 50% (cinquenta por cento) de qualquer valor que exceder a Amortização das Cotas Subordinadas, a ser paga na Data de Amortização Programada de Cotas Seniores (“Amortização Extraordinária de Cotas Seniores”). 5. Excesso de Subordinação 5.1. Verif icado excesso de subordinação,</a:t>
            </a:r>
          </a:p>
          <a:p>
            <a:r>
              <a:t>CNPJ 62696791000193 · Remuneração por subclasse e série · Condição: Benchmark é regra de atribuição, condicionado ao PL/resultados, sem garantia de rentabilidade. A subclasse mezanino é autorizada, mas não há apêndice mezanino no PDF consolidado obtido.</a:t>
            </a:r>
          </a:p>
          <a:p>
            <a:r>
              <a:t>CNPJ 62696791000193 · Remuneração por subclasse e série · Versão e prevalência: Leitura específica das cláusulas indicadas; condições e conflitos preservados. Seleção documental atual não comprova vigência jurídica por data isolada.</a:t>
            </a:r>
          </a:p>
          <a:p>
            <a:r>
              <a:t>CNPJ 62696791000193 · Remuneração por subclasse e série · Resumo do histórico: {"count": 1, "dates": ["2026-03-27"], "document_count": 1, "sources": [{"document_id": "1148821", "title": "Instrumento Particular de Emissão de Cotas", "reference_date": "2026-03-27", "version": "1", "page": "1-2", "url": "https://fnet.bmfbovespa.com.br/fnet/publico/visualizarDocumento?id=1148821", "sha256": "86900e9dd498403696bfffbd4196443c83ec4d51ff21135e073c1966e1adf4c0"}], "reference": {"path": "history/62696791000193.json", "criterion_id": "remuneration", "total_count": 1, "preview_count": 1, "full_text_deferred": true, "sha256": "0e9ec199848320ec945708123ae0cb6075d76c05d94beed814d582031d353926"}}</a:t>
            </a:r>
          </a:p>
          <a:p>
            <a:r>
              <a:t>CNPJ 55563624000109 · Remuneração por subclasse e série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Remuneração por subclasse e série · Resumo do histórico: {"count": 1, "dates": ["2026-04-30"], "document_count": 1, "sources": [{"document_id": "1192614", "title": "Regulamento", "reference_date": "2026-04-30", "version": "1", "page": "16-17", "url": "https://fnet.bmfbovespa.com.br/fnet/publico/visualizarDocumento?id=1192614", "sha256": "f56e63ace0acde41d2f47fb48f1ac7f3f7df5e2d32de092d7c5e075a52516632"}], "reference": {"path": "history/55563624000109.json", "criterion_id": "remuneration", "total_count": 1, "preview_count": 1, "full_text_deferred": true, "sha256": "7835d573fb58a3c19adf5b8ecc2aee2bdbb9a88f7a0c0209b5f262b64c7522e3"}}</a:t>
            </a:r>
          </a:p>
          <a:p>
            <a:r>
              <a:t>CNPJ 62552447000120 · Remuneração por subclasse e série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Remuneração por subclasse e série · Resumo do histórico: {"count": 1, "dates": ["2025-09-03"], "document_count": 1, "sources": [{"document_id": "988020", "title": "Instrumento Particular de Emissão de Cotas", "reference_date": "2025-09-03", "version": "1", "page": "5-6", "url": "https://fnet.bmfbovespa.com.br/fnet/publico/visualizarDocumento?id=988020", "sha256": "8ecc8a771bb9713d64e5fc2052c489664cb0433801a9280db68e5187d35bf7a5"}], "reference": {"path": "history/62552447000120.json", "criterion_id": "remuneration", "total_count": 1, "preview_count": 1, "full_text_deferred": true, "sha256": "d95db8c0613d67ee84118c734588665265ea6b02f86a0318d6a844cbe1d0f82f"}}</a:t>
            </a:r>
          </a:p>
          <a:p>
            <a:r>
              <a:t>CNPJ 63953620000165 · Remuneração por subclasse e série · Anexo ao Regulamento · ID 1222863 · 2026-06-02 · versão 1 · p. 22 · 1.2 · https://fnet.bmfbovespa.com.br/fnet/publico/visualizarDocumento?id=1222863</a:t>
            </a:r>
          </a:p>
          <a:p>
            <a:r>
              <a:t>CNPJ 63953620000165 · Remuneração por subclasse e série · Excerto da fonte:</a:t>
            </a:r>
          </a:p>
          <a:p>
            <a:r>
              <a:t>1.2. Benchmark Sênior. A Classe buscará atingir, para as Cotas Seniores, o Benchmark Sênior, qual seja, (a) para a parcela  do Patrimônio Líquido alocado em Direitos Creditórios Consignado Privado e/ou Ativos de Liquidez MT, a variação  positiva do CDI acrescida de 1,50% (um inteiro e cinco décimos por cento) ao ano, (b) para a parcela do Patrimônio  Líquido alocado em Ativos de Liquidez e/ou Direitos Creditórios TVM, a variação positiva do CDI.</a:t>
            </a:r>
          </a:p>
          <a:p>
            <a:r>
              <a:t>CNPJ 63953620000165 · Remuneração por subclasse e série · Anexo ao Regulamento · ID 1222863 · 2026-06-02 · versão 1 · p. 22 · 1.5 · https://fnet.bmfbovespa.com.br/fnet/publico/visualizarDocumento?id=1222863</a:t>
            </a:r>
          </a:p>
          <a:p>
            <a:r>
              <a:t>CNPJ 63953620000165 · Remuneração por subclasse e série · Excerto da fonte:</a:t>
            </a:r>
          </a:p>
          <a:p>
            <a:r>
              <a:t>1.5. Rentabilidade Adicional Sênior. Adicionalmente ao Benchmark Sênior, as Cotas Seniores efetivamente integralizadas  farão jus a uma rentabilidade adicional equivalente a 0,38% (trinta e oito centésimos por cento) incidente sobre o  montante financeiro integralizado pelo respectivo Cotista das Cotas Seniores (“Rentabilidade Adicional Sênior”), a  ser paga a cada Cotista Sênior, em uma única parcela, em até 40 (quarenta) dias corridos após a integralização das  respectivas Cotas Seniores, sendo automaticamente ajustada em caso de alteração da alíquota ou da forma de  incidência do IOF, e deixando de ser devida na hipótese de sua extinção.</a:t>
            </a:r>
          </a:p>
          <a:p>
            <a:r>
              <a:t> 2. Emissão, Subscrição e Integralização das Cotas</a:t>
            </a:r>
          </a:p>
          <a:p>
            <a:r>
              <a:t>CNPJ 63953620000165 · Remuneração por subclasse e série · Condição: Documentos atuais selecionados no inventário por categoria/escopo; a data documental isolada não comprova vigência jurídica.</a:t>
            </a:r>
          </a:p>
          <a:p>
            <a:r>
              <a:t>CNPJ 63953620000165 · Remuneração por subclasse e série · Versão e prevalência: Documentos atuais selecionados no inventário por categoria/escopo; a data documental isolada não comprova vigência jurídica.</a:t>
            </a:r>
          </a:p>
          <a:p>
            <a:r>
              <a:t>CNPJ 54871427000194 · Volume, VNU e emissão · Anúncio de Encerramento · ID 798101 · 2024-12-10 · versão 1 · p. 1 · https://fnet.bmfbovespa.com.br/fnet/publico/visualizarDocumento?id=798101</a:t>
            </a:r>
          </a:p>
          <a:p>
            <a:r>
              <a:t>CNPJ 54871427000194 · Volume, VNU e emissão · Excerto da fonte:</a:t>
            </a:r>
          </a:p>
          <a:p>
            <a:r>
              <a:t>Informações da Oferta  Valor Bruto da 2ª Quantidade de Cotas  Preço de Emissão da Cota  Emissão emitidas  R$ 55.000.000,00 55.000 R$ 1.000,00</a:t>
            </a:r>
          </a:p>
          <a:p>
            <a:r>
              <a:t>CNPJ 54871427000194 · Volume, VNU e emissão · Condição: Trechos do documento específico identificado com data mais recente; vigência jurídica não inferida.</a:t>
            </a:r>
          </a:p>
          <a:p>
            <a:r>
              <a:t>CNPJ 54871427000194 · Volume, VNU e emissão · Versão e prevalência: Trechos do documento específico identificado com data mais recente; vigência jurídica não inferida.</a:t>
            </a:r>
          </a:p>
          <a:p>
            <a:r>
              <a:t>CNPJ 54871427000194 · Volume, VNU e emissão · Resumo do histórico: {"count": 5, "dates": ["2024-06-11", "2024-06-13", "2024-12-10"], "document_count": 3, "sources": [{"document_id": "798101", "title": "Anúncio de Encerramento", "reference_date": "2024-12-10", "version": "1", "page": "1-2", "url": "https://fnet.bmfbovespa.com.br/fnet/publico/visualizarDocumento?id=798101", "sha256": "71618c432ad86002484571d66922b873e4fa91ed3543a109134ddee0bd872f20"}, {"document_id": "683482", "title": "AGE", "reference_date": "2024-06-13", "version": "1", "page": 1, "clause": "4.1", "url": "https://fnet.bmfbovespa.com.br/fnet/publico/visualizarDocumento?id=683482", "sha256": "3afbe254027691929935eaf19ebbb8634fb2ccd8e2fbea2cb2d81a7818f8d648"}, {"document_id": "677544", "title": "Anúncio de Encerramento", "reference_date": "2024-06-11", "version": "1", "page": 1, "url": "https://fnet.bmfbovespa.com.br/fnet/publico/visualizarDocumento?id=677544", "sha256": "5735adc30829e0e91623167d4fd602de01adb236e3d3e758bddb0a375c7067b1"}], "reference": {"path": "history/54871427000194.json", "criterion_id": "issue_volume", "total_count": 5, "preview_count": 3, "full_text_deferred": true, "sha256": "35d7cd99be50c7287c9fb675cf4f2e736002315295a225a9efa79c8d9186d874"}}</a:t>
            </a:r>
          </a:p>
          <a:p>
            <a:r>
              <a:t>CNPJ 60010416000112 · Volume, VNU e emissão · AGE · ID 1049114 · 2025-11-26 · versão 1 · p. 2 · https://fnet.bmfbovespa.com.br/fnet/publico/visualizarDocumento?id=1049114</a:t>
            </a:r>
          </a:p>
          <a:p>
            <a:r>
              <a:t>CNPJ 60010416000112 · Volume, VNU e emissão · Excerto da fonte:</a:t>
            </a:r>
          </a:p>
          <a:p>
            <a:r>
              <a:t>Este instrumento constitui o suplemento nº 3 (“Suplemento”) referente à 1ª emissão de cotas da Série B  da Subclasse Sênior da CLASSE ÚNICA DO MT CONSIGNADO PRIVADO I FUNDO DE  INVESTIMENTO EM DIREITOS CREDITÓRIOS RESPONSABILIDADE LIMITADA (“Classe” e  “FUNDO”, respectivamente), administrado pela BTG Pactual Serviços Financeiros S.A. Distribuidora  de Títulos e Valores Mobiliários, instituição com sede no Município do Rio de Janeiro, Estado do Rio de  Janeiro, na Praia de Botafogo, nº 501, 5º andar – parte, inscrita no CNPJ sob o nº 59.281.253/0001-23,  autorizada a funcionar pelo Banco Central do Brasil e autorizada pela Comissão de Valores Mobiliários  (“CVM”) para a atividade de administração de carteiras de valores mobiliários, de acordo com o Ato  Declaratório nº 8.695, de 20 de março de 2006 (“ADMINISTRADOR”), emitidas nos termos do regulamento  do FUNDO, do anexo descritivo da Classe do respectivo apêndice, devidamente registrado perante a CVM  (“Regulamento”, “Anexo da Classe”, “Apêndice” e “Cotas Seniores” respectivamente), a qual terá as  seguintes características:</a:t>
            </a:r>
          </a:p>
          <a:p>
            <a:r>
              <a:t> Número de Emissão, Valor São emitidas no âmbito da 1ª emissão da 3ª Série de Cotas Seniores da  Total da Emissão e Forma Classe, de 2,000,000 (dois milhões) de Cotas da 3ª Série da Subclasse  de Distribuição Sênior da Classe, com valor nominal unitário de R$ 1.000,00 (mil reais)  cada, totalizando o montante de R$ 2.000.000.000,00 (dois bilhões de  reais), as quais serão objeto de colocação privada, destinada ao Público-  Alvo (conforme definido no Anexo da Classe) (“Colocação Privada”).</a:t>
            </a:r>
          </a:p>
          <a:p>
            <a:r>
              <a:t> Valor Unitário de Emissão As Cotas Seniores da 3ª Série terão um valor unitário de R$ 1.000,00 (mil  reais) na respectiva Data de Emissão.</a:t>
            </a:r>
          </a:p>
          <a:p>
            <a:r>
              <a:t> Data de Emissão Data da 1ª Integralização.</a:t>
            </a:r>
          </a:p>
          <a:p>
            <a:r>
              <a:t> Valor Unitário de As Cotas Seniores da 3ª Série serão subscritas pelo Valor Unitário de  Integralização Emissão, e serão integralizadas pelo respectivo Valor Unitário, nos  termos do Regulamento, do Apêndice e deste Suplemento, sendo certo  que, nas emissões de novas Cotas Seniores da 3ª Série que não difiram,  em sua respectiva Subclasse, das Cotas Seniores da 3ª Série então em  circulação, o Valor Unitário de Integralização corresponderá ao Valor  Unitário da Cota apurado no Dia Útil em que os recursos aportados pelo  Cotista tornem-se efetivamente disponíveis à Classe.</a:t>
            </a:r>
          </a:p>
          <a:p>
            <a:r>
              <a:t> Investimento Mínimo por Não há  Investidor  Forma de Subscrição e As Cotas Seniores da 3ª Série deverão ser integralizadas, à vista, em  Integralização moeda corrente nacional, pelo Valor Unitário de Integralização, no ato de  subscrição.</a:t>
            </a:r>
          </a:p>
          <a:p>
            <a:r>
              <a:t> Ao subscrever Cotas Seniores da 3ª Série, cada Investidor deverá  assinar o Termo de Adesão, no qual confirmará, dentre outros, ter  conhecimento de todos os termos e condições do Fundo e do</a:t>
            </a:r>
          </a:p>
          <a:p>
            <a:r>
              <a:t>CNPJ 60010416000112 · Volume, VNU e emissão · Condição: Trechos do documento específico identificado com data mais recente; vigência jurídica não inferida.</a:t>
            </a:r>
          </a:p>
          <a:p>
            <a:r>
              <a:t>CNPJ 60010416000112 · Volume, VNU e emissão · Motivo: Cláusula primária localizada e citada, mas sua lista/condições extensas não admitem uma síntese literal curta confirmada. O trecho integral permanece nas fontes. A resposta da revisão anterior foi preservada no histórico, sem confirmação pelo documento atual.</a:t>
            </a:r>
          </a:p>
          <a:p>
            <a:r>
              <a:t>CNPJ 60010416000112 · Volume, VNU e emissão · Versão e prevalência: Trechos do documento específico identificado com data mais recente; vigência jurídica não inferida.</a:t>
            </a:r>
          </a:p>
          <a:p>
            <a:r>
              <a:t>CNPJ 60010416000112 · Volume, VNU e emissão · Resumo do histórico: {"count": 3, "dates": ["2025-03-20", "2025-05-12"], "document_count": 2, "sources": [{"document_id": "1004656", "title": "AGE", "reference_date": "2025-05-12", "version": "1", "page": 4, "url": "https://fnet.bmfbovespa.com.br/fnet/publico/visualizarDocumento?id=1004656", "sha256": "f6c9c009f6170e2b29f074b98522accec73f0c40efbf11f9ec2c8d3f1402616b"}, {"document_id": "993785", "title": "Instrumento Particular de Constituição/Encerramento do Fundo", "reference_date": "2025-03-20", "version": "1", "page": "2", "url": "https://fnet.bmfbovespa.com.br/fnet/publico/visualizarDocumento?id=993785", "sha256": "0826e0eae2c51afabf59bbc49fc7647598d03da5ca6de0f9725850a8bd6af457"}, {"document_id": "993785", "title": "Instrumento Particular de Constituição/Encerramento do Fundo", "reference_date": "2025-03-20", "version": "1", "page": 2, "url": "https://fnet.bmfbovespa.com.br/fnet/publico/visualizarDocumento?id=993785", "sha256": "0826e0eae2c51afabf59bbc49fc7647598d03da5ca6de0f9725850a8bd6af457"}], "reference": {"path": "history/60010416000112.json", "criterion_id": "issue_volume", "total_count": 3, "preview_count": 3, "full_text_deferred": true, "sha256": "8e2bd813f4c51cf01f6bfaad164bafe69d2bbb192f753eac92da3a01c2e63046"}}</a:t>
            </a:r>
          </a:p>
          <a:p>
            <a:r>
              <a:t>CNPJ 62696791000193 · Volume, VNU e emissão · Instrumento Particular de Emissão de Cotas · ID 1148821 · 27/03/2026 · versão Instrumento Particular de Emissão de Cotas — referência 27/03/2026 · p. 1 · Deliberação Conjunta, item1 · https://fnet.bmfbovespa.com.br/fnet/publico/visualizarDocumento?id=1148821</a:t>
            </a:r>
          </a:p>
          <a:p>
            <a:r>
              <a:t>CNPJ 62696791000193 · Volume, VNU e emissão · Excerto da fonte:</a:t>
            </a:r>
          </a:p>
          <a:p>
            <a:r>
              <a:t>1. Aprovar a 2ª (segunda) emissão da Subclasse Subordinada Júnior da Classe, composta por até 20.000 (vinte mil) Cotas Subordinadas Júnior, com valor nominal unitário de R$ 1.000,00 (mil reais), perfazendo o montante total de R$ 20.000.000,00 (vinte milhões de reais), as quais serão objeto de colocação privada, de acordo com os termos e condições definidos no Apêndice da Subclasse Subordinada Júnior constante do Anexo I Regulamento e descritas abaixo (“2ª Emissão da Subclasse Subordinada Júnior”): a) Rito: as Cotas Subordinadas Júnior objeto da 2ª Emissão da Subclasse Subordinada Júnior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Subordinada Júnior na data de integralização, calculado na forma prevista no respectivo Apêndice; BTG Pactual 1 SAC: 0800 772 28 27 - Ouvidoria: 0800 722 00 48 - btgpactual.com</a:t>
            </a:r>
          </a:p>
          <a:p>
            <a:r>
              <a:t>CNPJ 62696791000193 · Volume, VNU e emissão · Instrumento Particular de Emissão de Cotas · ID 1148821 · 27/03/2026 · versão Instrumento Particular de Emissão de Cotas — referência 27/03/2026 · p. 2 · Deliberação Conjunta, item2 · https://fnet.bmfbovespa.com.br/fnet/publico/visualizarDocumento?id=1148821</a:t>
            </a:r>
          </a:p>
          <a:p>
            <a:r>
              <a:t>CNPJ 62696791000193 · Volume, VNU e emissão · Excerto da fonte:</a:t>
            </a:r>
          </a:p>
          <a:p>
            <a:r>
              <a:t>2. Aprovar a 2ª (segunda) emissão da Subclasse Sênior da Classe, composta por até 150.000 (cento e cinquenta mil) Cotas Seniores, com valor nominal unitário de R$ 1.000,00 (mil reais), perfazendo o montante total de R$ 150.000.000,00 (cento e cinquenta milhões de reais), as quais serão objeto de colocação privada, de acordo com os termos e condições descritos no Apêndice da Subclasse Sênior constante do Anexo I Regulamento e descritas abaixo (“2ª Emissão da Subclasse Sênior”): a) Rito: as Cotas Seniores objeto da 2ª Emissão da Subclasse Sênior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Sênior na data de integralização, calculado na forma prevista no respectivo Apêndice; d) Forma de Integralização: as Cotas Seniores serão integralizadas mediante chamadas de capital, junto ao seu respectivo agente de custódia e/ou da Administradora na qualidade de escriturador das cotas, nos termos d</a:t>
            </a:r>
          </a:p>
          <a:p>
            <a:r>
              <a:t>CNPJ 62696791000193 · Volume, VNU e emissão · Condição: Volumes autorizados de emissão não comprovam captação ou integralização observada.</a:t>
            </a:r>
          </a:p>
          <a:p>
            <a:r>
              <a:t>CNPJ 62696791000193 · Volume, VNU e emissão · Versão e prevalência: Leitura específica das cláusulas indicadas; condições e conflitos preservados. Seleção documental atual não comprova vigência jurídica por data isolada.</a:t>
            </a:r>
          </a:p>
          <a:p>
            <a:r>
              <a:t>CNPJ 62696791000193 · Volume, VNU e emissão · Resumo do histórico: {"count": 2, "dates": ["2026-03-20", "2026-03-27"], "document_count": 2, "sources": [{"document_id": "1148821", "title": "Instrumento Particular de Emissão de Cotas", "reference_date": "2026-03-27", "version": "1", "page": "1-2", "url": "https://fnet.bmfbovespa.com.br/fnet/publico/visualizarDocumento?id=1148821", "sha256": "86900e9dd498403696bfffbd4196443c83ec4d51ff21135e073c1966e1adf4c0"}, {"document_id": "1143317", "title": "Regulamento", "reference_date": "2026-03-20", "version": "1", "page": 23, "clause": "11.3", "url": "https://fnet.bmfbovespa.com.br/fnet/publico/visualizarDocumento?id=1143317", "sha256": "32f62818d51c3ebeaf9ec012d3d7867f15c1aed6d10f0867c157a290df1cea48"}], "reference": {"path": "history/62696791000193.json", "criterion_id": "issue_volume", "total_count": 2, "preview_count": 2, "full_text_deferred": true, "sha256": "0e9ec199848320ec945708123ae0cb6075d76c05d94beed814d582031d353926"}}</a:t>
            </a:r>
          </a:p>
          <a:p>
            <a:r>
              <a:t>CNPJ 55563624000109 · Volume, VNU e emissão · Regulamento · ID 1192614 · 2026-04-30 · versão 1 · p. 17 · 5.13.2 · https://fnet.bmfbovespa.com.br/fnet/publico/visualizarDocumento?id=1192614</a:t>
            </a:r>
          </a:p>
          <a:p>
            <a:r>
              <a:t>CNPJ 55563624000109 · Volume, VNU e emissão · Excerto da fonte:</a:t>
            </a:r>
          </a:p>
          <a:p>
            <a:r>
              <a:t>5.13.2 Caso um Cotista do Fundo pretenda transferir suas Cotas para terceiros (“Cotista Vendedor”), deverá  notificar previamente o GESTOR, via e-mail, manifestando sua proposta de alienação de Cotas, a qual  deve incluir o interessado na aquisição e a quantidade de Cotas a serem alienadas e o preço para tal  alienação (“Proposta de Venda”). O GESTOR deverá manifestar aprovação para alienação das Cotas  objeto da Proposta de Venda (“Cotas Objeto”) em até 5 (cinco) Dias Úteis, observado que a ausência de  aprovação deverá ser entendida como aprovação tácita à alienação das Cotas Objeto.</a:t>
            </a:r>
          </a:p>
          <a:p>
            <a:r>
              <a:t>CNPJ 55563624000109 · Volume, VNU e emissão · Regulamento · ID 1192614 · 2026-04-30 · versão 1 · p. 39 · https://fnet.bmfbovespa.com.br/fnet/publico/visualizarDocumento?id=1192614</a:t>
            </a:r>
          </a:p>
          <a:p>
            <a:r>
              <a:t>CNPJ 55563624000109 · Volume, VNU e emissão · Excerto da fonte:</a:t>
            </a:r>
          </a:p>
          <a:p>
            <a:r>
              <a:t>(xxi) Ausência de propriedade direta dos ativos. Os direitos dos Cotistas serão exercidos sobre  todos os ativos da Carteira de modo não individualizado, proporcionalmente à quantidade de Cotas  detidas por cada um. Portanto, os Cotistas não terão qualquer direito de propriedade direta sobre as  Cotas da Classe Investida e os Ativos Financeiros de Liquidez integrantes da Carteira, ou mesmo sobre  os direitos creditórios e os ativos financeiros de liquidez integrantes da carteira da Classe Investida.</a:t>
            </a:r>
          </a:p>
          <a:p>
            <a:r>
              <a:t>CNPJ 55563624000109 · Volume, VNU e emissão · Condição: Documentos atuais selecionados no inventário por categoria/escopo; a data documental isolada não comprova vigência jurídica.</a:t>
            </a:r>
          </a:p>
          <a:p>
            <a:r>
              <a:t>CNPJ 55563624000109 · Volume, VNU e emissão · Versão e prevalência: Documentos atuais selecionados no inventário por categoria/escopo; a data documental isolada não comprova vigência jurídica.</a:t>
            </a:r>
          </a:p>
          <a:p>
            <a:r>
              <a:t>CNPJ 55563624000109 · Volume, VNU e emissão · Resumo do histórico: {"count": 3, "dates": ["2024-12-30", "2025-01-31", "2026-01-31"], "document_count": 3, "sources": [{"document_id": "1178840", "title": "Demonstrações Financeiras", "reference_date": "2026-01-31", "version": "1", "page": 25, "url": "https://fnet.bmfbovespa.com.br/fnet/publico/visualizarDocumento?id=1178840", "sha256": "c458e98664c5c907ddb5a05a94b120bed4e05295b2bfc420f5ba69af0a229abe"}, {"document_id": "891861", "title": "Demonstrações Financeiras", "reference_date": "2025-01-31", "version": "1", "page": 26, "url": "https://fnet.bmfbovespa.com.br/fnet/publico/visualizarDocumento?id=891861", "sha256": "e9cb9e6ddbe505fe068cfcac33605165a98313489de0d3ce6d4d238263c3f3e7"}, {"document_id": "811323", "title": "Anúncio de Encerramento", "reference_date": "2024-12-30", "version": "1", "page": 1, "url": "https://fnet.bmfbovespa.com.br/fnet/publico/visualizarDocumento?id=811323", "sha256": "ebc6bc661be5189acffb3c3e352de2aea0a8ca8431011d1237e1ae19da4f9c79"}], "reference": {"path": "history/55563624000109.json", "criterion_id": "issue_volume", "total_count": 3, "preview_count": 3, "full_text_deferred": true, "sha256": "7835d573fb58a3c19adf5b8ecc2aee2bdbb9a88f7a0c0209b5f262b64c7522e3"}}</a:t>
            </a:r>
          </a:p>
          <a:p>
            <a:r>
              <a:t>CNPJ 62552447000120 · Volume, VNU e emissão · AGE · ID 1315103 · 2026-09-08 · versão 1 · p. 1 · https://fnet.bmfbovespa.com.br/fnet/publico/visualizarDocumento?id=1315103</a:t>
            </a:r>
          </a:p>
          <a:p>
            <a:r>
              <a:t>CNPJ 62552447000120 · Volume, VNU e emissão · Excerto da fonte:</a:t>
            </a:r>
          </a:p>
          <a:p>
            <a:r>
              <a:t>a) Rito: as cotas objeto da Segunda Emissão não estão sujeitas a regulamentação  de oferta de valores mobiliários, conforme facultado pelo Art. 8º, inciso II, da  Resolução CVM nº 160, de 13 de julho de 2022;</a:t>
            </a:r>
          </a:p>
          <a:p>
            <a:r>
              <a:t> b) Preço de Emissão: R$ 1.000,00 (mil reais);</a:t>
            </a:r>
          </a:p>
          <a:p>
            <a:r>
              <a:t> c) Quantidade de Cotas: 10.000 (dez mil) Cotas;</a:t>
            </a:r>
          </a:p>
          <a:p>
            <a:r>
              <a:t> d) Preço de Integralização: será o valor da Cota vigente na data de integralização,  nos termos do respectivo boletim de subscrição;</a:t>
            </a:r>
          </a:p>
          <a:p>
            <a:r>
              <a:t> e) Forma de Integralização: as Cotas serão integralizadas à vista, em moeda  corrente nacional, junto ao seu respectivo agente de custódia e/ou da  Administradora na qualidade de escriturador das cotas;</a:t>
            </a:r>
          </a:p>
          <a:p>
            <a:r>
              <a:t> f) Período de colocação: a subscrição das Cotas, objeto da Segunda Emissão,  deverão ser realizadas no prazo máximo de 180 (cento e oitenta) dias, contados  da data de efeitos do presente instrumento.</a:t>
            </a:r>
          </a:p>
          <a:p>
            <a:r>
              <a:t>CNPJ 62552447000120 · Volume, VNU e emissão · Condição: Trechos do documento específico identificado com data mais recente; vigência jurídica não inferida.</a:t>
            </a:r>
          </a:p>
          <a:p>
            <a:r>
              <a:t>CNPJ 62552447000120 · Volume, VNU e emissão · Versão e prevalência: Trechos do documento específico identificado com data mais recente; vigência jurídica não inferida.</a:t>
            </a:r>
          </a:p>
          <a:p>
            <a:r>
              <a:t>CNPJ 62552447000120 · Volume, VNU e emissão · Resumo do histórico: {"count": 2, "dates": ["2025-09-03"], "document_count": 1, "sources": [{"document_id": "988020", "title": "Instrumento Particular de Emissão de Cotas", "reference_date": "2025-09-03", "version": "1", "page": "5", "url": "https://fnet.bmfbovespa.com.br/fnet/publico/visualizarDocumento?id=988020", "sha256": "8ecc8a771bb9713d64e5fc2052c489664cb0433801a9280db68e5187d35bf7a5"}, {"document_id": "988020", "title": "Instrumento Particular de Emissão de Cotas", "reference_date": "2025-09-03", "version": "1", "page": 2, "url": "https://fnet.bmfbovespa.com.br/fnet/publico/visualizarDocumento?id=988020", "sha256": "8ecc8a771bb9713d64e5fc2052c489664cb0433801a9280db68e5187d35bf7a5"}], "reference": {"path": "history/62552447000120.json", "criterion_id": "issue_volume", "total_count": 2, "preview_count": 2, "full_text_deferred": true, "sha256": "d95db8c0613d67ee84118c734588665265ea6b02f86a0318d6a844cbe1d0f82f"}}</a:t>
            </a:r>
          </a:p>
          <a:p>
            <a:r>
              <a:t>CNPJ 63953620000165 · Volume, VNU e emissão · Demonstrações Financeiras - Fusão, cisão e incorporação · ID 1327859 · 2026-05-15 · versão 1 · p. 31 · 15.000.000 · https://fnet.bmfbovespa.com.br/fnet/publico/visualizarDocumento?id=1327859</a:t>
            </a:r>
          </a:p>
          <a:p>
            <a:r>
              <a:t>CNPJ 63953620000165 · Volume, VNU e emissão · Excerto da fonte:</a:t>
            </a:r>
          </a:p>
          <a:p>
            <a:r>
              <a:t>15.000.000 (quinze bilhões de reais), , a serem objeto de colocação privada, nos termos  do Regulamento, da Resolução CVM 175 e do respectivo boletim de subscrição nos  seguintes termos:</a:t>
            </a:r>
          </a:p>
          <a:p>
            <a:r>
              <a:t> a. Montante Total da Colocação Privada: R$ 15.000.000 (quinze bilhões de  reais)  b. Quantidade de Cotas: 15.000.000 (quinze milhões) de Cotas Seniores;</a:t>
            </a:r>
          </a:p>
          <a:p>
            <a:r>
              <a:t> c. Preço de Emissão (Valor Unitário): R$ 1 (mil reais);</a:t>
            </a:r>
          </a:p>
          <a:p>
            <a:r>
              <a:t> d. Forma e Preço de Integralização: as Cotas serão integralizadas na forma  prevista no Boletim de Subscrição;</a:t>
            </a:r>
          </a:p>
          <a:p>
            <a:r>
              <a:t> e. Prazo da Colocação Privada: as Cotas serão colocadas em até 180 (cento e  oitenta) dias da data deste IPA.</a:t>
            </a:r>
          </a:p>
          <a:p>
            <a:r>
              <a:t>CNPJ 63953620000165 · Volume, VNU e emissão · Demonstrações Financeiras - Fusão, cisão e incorporação · ID 1327859 · 2026-05-15 · versão 1 · p. 31 · https://fnet.bmfbovespa.com.br/fnet/publico/visualizarDocumento?id=1327859</a:t>
            </a:r>
          </a:p>
          <a:p>
            <a:r>
              <a:t>CNPJ 63953620000165 · Volume, VNU e emissão · Excerto da fonte:</a:t>
            </a:r>
          </a:p>
          <a:p>
            <a:r>
              <a:t>Em Instrumento Particular de Alteração do MT Global Fundo de Investimento em Direitos  Creditórios, realizada em 08 de janeiro de 2026, foram deliberadas as seguintes matérias:</a:t>
            </a:r>
          </a:p>
          <a:p>
            <a:r>
              <a:t>(i) Alterar regulamento vigente da classe em relação aos itens 4.17.1, 6.8 e o Capítulo 13,</a:t>
            </a:r>
          </a:p>
          <a:p>
            <a:r>
              <a:t> (b) incluir o item 3.1, 8.1.(ii), 8.2, 8.2.1, e 10.2.(xvii); e (c) excluir os itens 6.8.1, 6.8.2,</a:t>
            </a:r>
          </a:p>
          <a:p>
            <a:r>
              <a:t>(ii) Aprovar a 1ª (primeira) emissão de cotas seniores das Classes (“Cotas Seniores”), em  sistema de vasos comunicantes entre as Classes, de forma que a quantidade de Cotas  Seniores integralizadas em uma das Classes será deduzida da quantidade de Cotas  Seniores disponíveis para integralização nas demais Classes, no montante total de R$</a:t>
            </a:r>
          </a:p>
          <a:p>
            <a:r>
              <a:t>CNPJ 63953620000165 · Volume, VNU e emissão · Demonstrações Financeiras - Fusão, cisão e incorporação · ID 1327859 · 2026-05-15 · versão 1 · p. 32 · https://fnet.bmfbovespa.com.br/fnet/publico/visualizarDocumento?id=1327859</a:t>
            </a:r>
          </a:p>
          <a:p>
            <a:r>
              <a:t>CNPJ 63953620000165 · Volume, VNU e emissão · Excerto da fonte:</a:t>
            </a:r>
          </a:p>
          <a:p>
            <a:r>
              <a:t>f. Montante Total da Colocação Privada: R$ 7.000 (sete milhões de reais);</a:t>
            </a:r>
          </a:p>
          <a:p>
            <a:r>
              <a:t> g. Quantidade de Cotas: 7.000 (sete mil) de Cotas Subordinadas CP  h. Preço de Emissão (Valor Unitário): R$ 1 (mil reais);</a:t>
            </a:r>
          </a:p>
          <a:p>
            <a:r>
              <a:t> i. Forma e Preço de Integralização: as Cotas serão integralizadas na forma  prevista no Boletim de Subscrição;</a:t>
            </a:r>
          </a:p>
          <a:p>
            <a:r>
              <a:t> j. Prazo da Colocação Privada: as Cotas serão colocadas em até 180 (cento e  oitenta) dias da data deste IPA.</a:t>
            </a:r>
          </a:p>
          <a:p>
            <a:r>
              <a:t>CNPJ 63953620000165 · Volume, VNU e emissão · Condição: Trechos do documento específico identificado com data mais recente; vigência jurídica não inferida.</a:t>
            </a:r>
          </a:p>
          <a:p>
            <a:r>
              <a:t>CNPJ 63953620000165 · Volume, VNU e emissão · Versão e prevalência: Trechos do documento específico identificado com data mais recente; vigência jurídica não inferida.</a:t>
            </a:r>
          </a:p>
          <a:p>
            <a:r>
              <a:t>CNPJ 63953620000165 · Volume, VNU e emissão · Resumo do histórico: {"count": 8, "dates": ["2026-04-16", "2026-04-28", "2026-05-08"], "document_count": 3, "sources": [{"document_id": "1298691", "title": "Demonstrações Financeiras - Fusão, cisão e incorporação", "reference_date": "2026-05-08", "version": "1", "page": 32, "url": "https://fnet.bmfbovespa.com.br/fnet/publico/visualizarDocumento?id=1298691", "sha256": "58c570d9b8d4d265330d3db3ea81c435b8e44a6dab4002aa37790652a1ee9819"}, {"document_id": "1282180", "title": "Demonstrações Financeiras - Fusão, cisão e incorporação", "reference_date": "2026-04-28", "version": "1", "page": 32, "clause": "15.000.000", "url": "https://fnet.bmfbovespa.com.br/fnet/publico/visualizarDocumento?id=1282180", "sha256": "afaaa0e6809be4385e5bdb6c911aac582032c5bdbac3d7750234bf9eaf00438a"}, {"document_id": "1282179", "title": "Demonstrações Financeiras - Fusão, cisão e incorporação", "reference_date": "2026-04-16", "version": "1", "page": 32, "clause": "15.000.000", "url": "https://fnet.bmfbovespa.com.br/fnet/publico/visualizarDocumento?id=1282179", "sha256": "beb67afbcd64169019477673fd3b7c1edbfabbd9db07379388d8cdd5d3fc9395"}], "reference": {"path": "history/63953620000165.json", "criterion_id": "issue_volume", "total_count": 8, "preview_count": 3, "full_text_deferred": true, "sha256": "a7b89077f5e21098c2d601c303faabc3ff6b9729f89d8afecdc60fe1404720c1"}}</a:t>
            </a:r>
          </a:p>
          <a:p>
            <a:r>
              <a:t>CNPJ 54871427000194 · Administração: taxa, base e mínimo · Regulamento · ID 670691 · 28/04/2024 · versão Regulamento — referência 28/04/2024 · p. 25 · Anexo I, 13.1 · https://fnet.bmfbovespa.com.br/fnet/publico/visualizarDocumento?id=670691</a:t>
            </a:r>
          </a:p>
          <a:p>
            <a:r>
              <a:t>CNPJ 54871427000194 · Administração: taxa, base e mínimo · Excerto da fonte:</a:t>
            </a:r>
          </a:p>
          <a:p>
            <a:r>
              <a:t>13.1 Pelos serviços de administração, tesouraria, controladoria e escrituração, a Classe pagará a Taxa de Administração nos seguintes moldes: o valor correspondente a 0,10% (dez centésimos por cento) ao ano aplicado sobre o Patrimônio Líquido, observado o valor mínimo de R$ 10.000,00 (dez mil reais) mensais atualizado pela variação positiva do IGP-M a cada período de 12 (doze) meses, contados a partir do mês em que ocorrer a primeira integralização de Cotas (inclusive). 13.1.1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BTG Pactual SAC: 0800 772 28 27 - Ouvidoria: 0800 722 00 48 - btgpactual.com 19</a:t>
            </a:r>
          </a:p>
          <a:p>
            <a:r>
              <a:t>CNPJ 54871427000194 · Administração: taxa, base e mínimo · Regulamento · ID 670691 · 28/04/2024 · versão Regulamento — referência 28/04/2024 · p. 26 · Anexo I, 13.1.2–13.1.3 · https://fnet.bmfbovespa.com.br/fnet/publico/visualizarDocumento?id=670691</a:t>
            </a:r>
          </a:p>
          <a:p>
            <a:r>
              <a:t>CNPJ 54871427000194 · Administração: taxa, base e mínimo · Excerto da fonte:</a:t>
            </a:r>
          </a:p>
          <a:p>
            <a:r>
              <a:t>13.1.2 A Taxa de Administração será calculada e provisionada todo Dia Útil à razão de 1/252 (um inteiro e duzentos e cinquenta e dois avos) com base no valor do Patrimônio Líquido do Dia Útil anterior. 13.1.3 A Taxa de Administração será paga mensalmente ao ADMINISTRADOR, observado o disposto no item 13.2 abaixo, por período vencido, até o 5º (quinto) Dia Útil do mês subsequente à prestação dos serviços, a partir do mês em que ocorrer a primeira integralização de Cotas da Classe. 13.2 O ADMINISTRADOR poderá estabelecer que parcelas da Taxa de Administração sejam pagas diretamente pela Classe aos prestadores de serviços contratados, desde que o somatório dessas parcelas não exceda o montante total da Taxa de Administração. 13.3 Não serão cobradas da Classe ou dos Cotistas taxas de perf ormance, de ingresso ou de saída. Taxa de Gestão 13.4 Pelos serviços de gestão, a Classe pagará a Taxa de Gestão nos seguintes moldes: o valor correspondente a 0,20% (vinte centésimos por cento) ao ano aplicado sobre o Patrimônio Líquido, observado o valor mínimo de R$ 15.000,00 (quinze mil reais) mensais atualizado pela variação positiva do IGP-M a cada período de 12 (</a:t>
            </a:r>
          </a:p>
          <a:p>
            <a:r>
              <a:t>CNPJ 54871427000194 · Administração: taxa, base e mínimo · Versão e prevalência: Leitura específica das cláusulas indicadas; condições e conflitos preservados. Seleção documental atual não comprova vigência jurídica por data isolada.</a:t>
            </a:r>
          </a:p>
          <a:p>
            <a:r>
              <a:t>CNPJ 54871427000194 · Administração: taxa, base e mínimo · Resumo do histórico: {"count": 2, "dates": ["2024-04-19", "2024-04-28"], "document_count": 2, "sources": [{"document_id": "670691", "title": "Regulamento", "reference_date": "2024-04-28", "version": "1", "page": "25-26", "url": "https://fnet.bmfbovespa.com.br/fnet/publico/visualizarDocumento?id=670691", "sha256": "bf16dd7f1a62d5cdbf2e2d54fef81783783f7310fbc99c3a8f00459bdf9d037b"}, {"document_id": "670689", "title": "Regulamento", "reference_date": "2024-04-19", "version": "1", "page": 26, "clause": "13.1", "url": "https://fnet.bmfbovespa.com.br/fnet/publico/visualizarDocumento?id=670689", "sha256": "891bc9bc5d87bbc02ec139077a84d2702eb81ea02035fb71d24f5b8366b94a0b"}], "reference": {"path": "history/54871427000194.json", "criterion_id": "admin_fee", "total_count": 2, "preview_count": 2, "full_text_deferred": true, "sha256": "35d7cd99be50c7287c9fb675cf4f2e736002315295a225a9efa79c8d9186d874"}}</a:t>
            </a:r>
          </a:p>
          <a:p>
            <a:r>
              <a:t>CNPJ 60010416000112 · Administração: taxa, base e mínimo · Regulamento · ID 1051393 · 09/10/2025 · versão Regulamento09/10/2025 · p. 29 · AnexoI12.1–12.1.2 · https://fnet.bmfbovespa.com.br/fnet/publico/visualizarDocumento?id=1051393</a:t>
            </a:r>
          </a:p>
          <a:p>
            <a:r>
              <a:t>CNPJ 60010416000112 · Administração: taxa, base e mínimo · Excerto da fonte:</a:t>
            </a:r>
          </a:p>
          <a:p>
            <a:r>
              <a:t>12.1 Pelos serviços de administração, escrituração, controladoria de ativos e passivo, e gestão de carteira, o Administrador fará jus a uma Taxa de Administração equivalente a 0,40% (quarenta centésimos por cento) por ano sobre o Patrimônio Líquido da Classe, a ser pago mensalmente, por período vencido da data em que ocorrer a primeira integralização de Cotas da Classe A, até o 5º (quinto) Dia Útil do mês subsequente ao da prestação do serviço, assegurado um valor mínimo mensal de R$ 20.000,00 (vinte mil reais), sendo este valor atualizado pela variação positiva do IPCA sempre em janeiro de cada ano,</a:t>
            </a:r>
          </a:p>
          <a:p>
            <a:r>
              <a:t>CNPJ 60010416000112 · Administração: taxa, base e mínimo · Versão e prevalência: Leitura específica das cláusulas indicadas; condições e conflitos preservados. Seleção documental atual não comprova vigência jurídica por data isolada.</a:t>
            </a:r>
          </a:p>
          <a:p>
            <a:r>
              <a:t>CNPJ 60010416000112 · Administração: taxa, base e mínimo · Resumo do histórico: {"count": 2, "dates": ["2025-03-20", "2025-10-09"], "document_count": 2, "sources": [{"document_id": "1051393", "title": "Regulamento", "reference_date": "2025-10-09", "version": "1", "page": "29", "url": "https://fnet.bmfbovespa.com.br/fnet/publico/visualizarDocumento?id=1051393", "sha256": "8469d613078ffd5a6c1d217885d8a397a16342c0b937ae4aa24b106505f233ae"}, {"document_id": "993786", "title": "Regulamento", "reference_date": "2025-03-20", "version": "1", "page": 29, "clause": "12.1", "url": "https://fnet.bmfbovespa.com.br/fnet/publico/visualizarDocumento?id=993786", "sha256": "fd0fdd369a195510d81f81f505195a0b09e5f43522a990afa7d58c4f872921c8"}], "reference": {"path": "history/60010416000112.json", "criterion_id": "admin_fee", "total_count": 2, "preview_count": 2, "full_text_deferred": true, "sha256": "8e2bd813f4c51cf01f6bfaad164bafe69d2bbb192f753eac92da3a01c2e63046"}}</a:t>
            </a:r>
          </a:p>
          <a:p>
            <a:r>
              <a:t>CNPJ 62696791000193 · Administração: taxa, base e mínimo · Regulamento · ID 1143317 · 20/03/2026 · versão Regulamento — referência 20/03/2026 · p. 28 · Anexo I, 13.1, Taxa de Administração · https://fnet.bmfbovespa.com.br/fnet/publico/visualizarDocumento?id=1143317</a:t>
            </a:r>
          </a:p>
          <a:p>
            <a:r>
              <a:t>CNPJ 62696791000193 · Administração: taxa, base e mínimo · Excerto da fonte:</a:t>
            </a:r>
          </a:p>
          <a:p>
            <a:r>
              <a:t>Taxa de Administração 0,10% (um décimo por cento) ao ano com um mínimo mensal de R$ 10.000,00 (dez mil reais), pagos mensalmente até o 5º (quinto) Dia Útil do mês subsequente ao mês que se ref ere, a ser corrigida anualmente, em janeiro de cada ano, pela variação positiva do Índice Geral de Preços – Mercado, divulgado pela Fundação Getúlio Vargas (“Taxa de Administração” e “IGP-M”, respectivamente).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T</a:t>
            </a:r>
          </a:p>
          <a:p>
            <a:r>
              <a:t>CNPJ 62696791000193 · Administração: taxa, base e mínimo · Condição: A linha da tabela não explicita novamente a base de PL para administração; conservar essa limitação em vez de completar a frase por analogia.</a:t>
            </a:r>
          </a:p>
          <a:p>
            <a:r>
              <a:t>CNPJ 62696791000193 · Administração: taxa, base e mínimo · Motivo: Não localizada uma cláusula material para este critério nos textos identificados e processados. A ausência de resultado não comprova inexistência da regra.</a:t>
            </a:r>
          </a:p>
          <a:p>
            <a:r>
              <a:t>CNPJ 62696791000193 · Administração: taxa, base e mínimo · Versão e prevalência: Leitura específica das cláusulas indicadas; condições e conflitos preservados. Seleção documental atual não comprova vigência jurídica por data isolada.</a:t>
            </a:r>
          </a:p>
          <a:p>
            <a:r>
              <a:t>CNPJ 55563624000109 · Administração: taxa, base e mínimo · Regulamento · ID 1192614 · 30/04/2026 · versão Regulamento30/04/2026 · p. 28 · AnexoI13.1–13.2 · https://fnet.bmfbovespa.com.br/fnet/publico/visualizarDocumento?id=1192614</a:t>
            </a:r>
          </a:p>
          <a:p>
            <a:r>
              <a:t>CNPJ 55563624000109 · Administração: taxa, base e mínimo · Excerto da fonte:</a:t>
            </a:r>
          </a:p>
          <a:p>
            <a:r>
              <a:t>13.1 Sem prejuízo da Taxa Máxima de Administração, pelos serviços de administração do FUNDO e da Classe, tesouraria, controle e processamento dos ativos integrantes da Carteira, a Classe pagará, no mínimo, ao ADMINISTRADOR a Taxa Mínima de Administração nos seguintes moldes: o valor correspondente a R$ 10.000,00 (dez mil reais) mensais, atualizado pela variação positiva do IGP-M, no mês de janeiro de cada ano (“Taxa Mínima de Administração”). 13.1.1 Na hipótese de extinção do IGP-M, não divulgação ou impossibilidade de sua utilização, será utilizado o</a:t>
            </a:r>
          </a:p>
          <a:p>
            <a:r>
              <a:t>CNPJ 55563624000109 · Administração: taxa, base e mínimo · Condição: A base do adicional é PL do Mercado Crédito II; não é teto 0, 10% sobre PLGN e não substitui mínimo R$ 10 mil.</a:t>
            </a:r>
          </a:p>
          <a:p>
            <a:r>
              <a:t>CNPJ 55563624000109 · Administração: taxa, base e mínimo · Versão e prevalência: Leitura específica das cláusulas indicadas; condições e conflitos preservados. Seleção documental atual não comprova vigência jurídica por data isolada.</a:t>
            </a:r>
          </a:p>
          <a:p>
            <a:r>
              <a:t>CNPJ 55563624000109 · Administração: taxa, base e mínimo · Resumo do histórico: {"count": 3, "dates": ["2025-01-31", "2026-01-31", "2026-04-30"], "document_count": 3, "sources": [{"document_id": "1192614", "title": "Regulamento", "reference_date": "2026-04-30", "version": "1", "page": "28", "clause": "13.2", "url": "https://fnet.bmfbovespa.com.br/fnet/publico/visualizarDocumento?id=1192614", "sha256": "f56e63ace0acde41d2f47fb48f1ac7f3f7df5e2d32de092d7c5e075a52516632"}, {"document_id": "1178840", "title": "Demonstrações Financeiras", "reference_date": "2026-01-31", "version": "1", "page": 29, "url": "https://fnet.bmfbovespa.com.br/fnet/publico/visualizarDocumento?id=1178840", "sha256": "c458e98664c5c907ddb5a05a94b120bed4e05295b2bfc420f5ba69af0a229abe"}, {"document_id": "891861", "title": "Demonstrações Financeiras", "reference_date": "2025-01-31", "version": "1", "page": 30, "url": "https://fnet.bmfbovespa.com.br/fnet/publico/visualizarDocumento?id=891861", "sha256": "e9cb9e6ddbe505fe068cfcac33605165a98313489de0d3ce6d4d238263c3f3e7"}], "reference": {"path": "history/55563624000109.json", "criterion_id": "admin_fee", "total_count": 3, "preview_count": 3, "full_text_deferred": true, "sha256": "7835d573fb58a3c19adf5b8ecc2aee2bdbb9a88f7a0c0209b5f262b64c7522e3"}}</a:t>
            </a:r>
          </a:p>
          <a:p>
            <a:r>
              <a:t>CNPJ 62552447000120 · Administração: taxa, base e mínimo · Regulamento · ID 1200623 · 21/05/2026 · versão Consolidado21/05/2026 aprovado pelo ato1200625 · p. 30 · AnexoI13.1 TaxaGlobal · https://fnet.bmfbovespa.com.br/fnet/publico/visualizarDocumento?id=1200623</a:t>
            </a:r>
          </a:p>
          <a:p>
            <a:r>
              <a:t>CNPJ 62552447000120 · Administração: taxa, base e mínimo · Excerto da fonte:</a:t>
            </a:r>
          </a:p>
          <a:p>
            <a:r>
              <a:t>Taxa Global Pelos serviços de administração, gestão, custódia, tesouraria, controladoria, escrituração, a Classe pagará um valor equivalente a um percentual incidente sobre o Patrimônio Líquido da Classe, conf orme a f aixa de Patrimônio Líquido da Classe prevista na tabela abaixo, apropriada diariamente e paga mensalmente até o 5º (quinto) Dia Útil do mês subsequente ao mês que se ref ere, com</a:t>
            </a:r>
          </a:p>
          <a:p>
            <a:r>
              <a:t>CNPJ 62552447000120 · Administração: taxa, base e mínimo · Condição: Global remunera administração, gestão, custódia, tesouraria, controladoria e escrituração; percentual segregado não presumido.</a:t>
            </a:r>
          </a:p>
          <a:p>
            <a:r>
              <a:t>CNPJ 62552447000120 · Administração: taxa, base e mínimo · Motivo: Não localizada uma cláusula material para este critério nos textos identificados e processados. A ausência de resultado não comprova inexistência da regra.</a:t>
            </a:r>
          </a:p>
          <a:p>
            <a:r>
              <a:t>CNPJ 62552447000120 · Administração: taxa, base e mínimo · Versão e prevalência: Leitura específica das cláusulas indicadas; condições e conflitos preservados. Seleção documental atual não comprova vigência jurídica por data isolada.</a:t>
            </a:r>
          </a:p>
          <a:p>
            <a:r>
              <a:t>CNPJ 63953620000165 · Administração: taxa, base e mínimo · Anexo ao Regulamento · ID 1222863 · 02/06/2026 · versão AnexoConsignadoPrivado02/06/2026 · p. 19 · Capítulo13TaxadeAdministração · https://fnet.bmfbovespa.com.br/fnet/publico/visualizarDocumento?id=1222863</a:t>
            </a:r>
          </a:p>
          <a:p>
            <a:r>
              <a:t>CNPJ 63953620000165 · Administração: taxa, base e mínimo · Excerto da fonte:</a:t>
            </a:r>
          </a:p>
          <a:p>
            <a:r>
              <a:t>Taxa de Administração positiva do Índice Geral de Preços – Mercado, divulgado pela Fundação Getúlio Vargas (“Taxa de Administração” e “IGP-M”, respectivamente). Na hipótese de extinção do IGP-M, não divulgação ou impossibilidade de sua utilização, será utilizado o Índice Geral de Preços – Disponibilidade Interna, divulgado pela Fundação Getúlio Vargas, ou, na falta de ambos, pela variação do IPC – Índice de Preços ao Consumidor, divulgado pela</a:t>
            </a:r>
          </a:p>
          <a:p>
            <a:r>
              <a:t>CNPJ 63953620000165 · Administração: taxa, base e mínimo · Condição: Base é a parcela MT específica, não necessariamente todo o PL da classe.</a:t>
            </a:r>
          </a:p>
          <a:p>
            <a:r>
              <a:t>CNPJ 63953620000165 · Administração: taxa, base e mínimo · Versão e prevalência: Leitura específica das cláusulas indicadas; condições e conflitos preservados. Seleção documental atual não comprova vigência jurídica por data isolada.</a:t>
            </a:r>
          </a:p>
          <a:p>
            <a:r>
              <a:t>CNPJ 63953620000165 · Administração: taxa, base e mínimo · Resumo do histórico: {"count": 8, "dates": ["2026-04-28", "2026-05-08", "2026-05-15"], "document_count": 3, "sources": [{"document_id": "1327859", "title": "Demonstrações Financeiras - Fusão, cisão e incorporação", "reference_date": "2026-05-15", "version": "1", "page": 28, "url": "https://fnet.bmfbovespa.com.br/fnet/publico/visualizarDocumento?id=1327859", "sha256": "dca1c68babb97f887528c3e2e47596a9c30f507b067981a35655b2f2da9c8054"}, {"document_id": "1298691", "title": "Demonstrações Financeiras - Fusão, cisão e incorporação", "reference_date": "2026-05-08", "version": "1", "page": 28, "url": "https://fnet.bmfbovespa.com.br/fnet/publico/visualizarDocumento?id=1298691", "sha256": "58c570d9b8d4d265330d3db3ea81c435b8e44a6dab4002aa37790652a1ee9819"}, {"document_id": "1282180", "title": "Demonstrações Financeiras - Fusão, cisão e incorporação", "reference_date": "2026-04-28", "version": "1", "page": 29, "url": "https://fnet.bmfbovespa.com.br/fnet/publico/visualizarDocumento?id=1282180", "sha256": "afaaa0e6809be4385e5bdb6c911aac582032c5bdbac3d7750234bf9eaf00438a"}], "reference": {"path": "history/63953620000165.json", "criterion_id": "admin_fee", "total_count": 8, "preview_count": 3, "full_text_deferred": true, "sha256": "a7b89077f5e21098c2d601c303faabc3ff6b9729f89d8afecdc60fe1404720c1"}}</a:t>
            </a:r>
          </a:p>
          <a:p>
            <a:r>
              <a:t>CNPJ 54871427000194 · Gestão: taxa, base e mínimo · Regulamento · ID 670691 · 28/04/2024 · versão Regulamento — referência 28/04/2024 · p. 26 · Anexo I, 13.4–13.4.3 · https://fnet.bmfbovespa.com.br/fnet/publico/visualizarDocumento?id=670691</a:t>
            </a:r>
          </a:p>
          <a:p>
            <a:r>
              <a:t>CNPJ 54871427000194 · Gestão: taxa, base e mínimo · Excerto da fonte:</a:t>
            </a:r>
          </a:p>
          <a:p>
            <a:r>
              <a:t>13.4 Pelos serviços de gestão, a Classe pagará a Taxa de Gestão nos seguintes moldes: o valor correspondente a 0,20% (vinte centésimos por cento) ao ano aplicado sobre o Patrimônio Líquido, observado o valor mínimo de R$ 15.000,00 (quinze mil reais) mensais atualizado pela variação positiva do IGP-M a cada período de 12 (doze) meses, contados a partir do mês em que ocorrer a primeira integralização de Cotas (inclusive). 13.4.1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13.4.2 A Taxa de Gestão será calculada e provisionada todo Dia Útil à razão de 1/252 (um inteiro e duzentos e cinquenta e dois avos) com base no valor do Patrimônio Líquido do Dia Útil anterior. 13.4.3 A Taxa de Gestão será paga mensalmente ao GESTOR, observado o disposto no item 13.5 abaixo, por período vencido, até o 5º (quinto) Dia Útil do mês subsequente à prestação dos ser</a:t>
            </a:r>
          </a:p>
          <a:p>
            <a:r>
              <a:t>CNPJ 54871427000194 · Gestão: taxa, base e mínimo · Versão e prevalência: Leitura específica das cláusulas indicadas; condições e conflitos preservados. Seleção documental atual não comprova vigência jurídica por data isolada.</a:t>
            </a:r>
          </a:p>
          <a:p>
            <a:r>
              <a:t>CNPJ 54871427000194 · Gestão: taxa, base e mínimo · Resumo do histórico: {"count": 2, "dates": ["2024-04-19", "2024-04-28"], "document_count": 2, "sources": [{"document_id": "670691", "title": "Regulamento", "reference_date": "2024-04-28", "version": "1", "page": "26", "url": "https://fnet.bmfbovespa.com.br/fnet/publico/visualizarDocumento?id=670691", "sha256": "bf16dd7f1a62d5cdbf2e2d54fef81783783f7310fbc99c3a8f00459bdf9d037b"}, {"document_id": "670689", "title": "Regulamento", "reference_date": "2024-04-19", "version": "1", "page": 27, "clause": "13.3", "url": "https://fnet.bmfbovespa.com.br/fnet/publico/visualizarDocumento?id=670689", "sha256": "891bc9bc5d87bbc02ec139077a84d2702eb81ea02035fb71d24f5b8366b94a0b"}], "reference": {"path": "history/54871427000194.json", "criterion_id": "management_fee", "total_count": 2, "preview_count": 2, "full_text_deferred": true, "sha256": "35d7cd99be50c7287c9fb675cf4f2e736002315295a225a9efa79c8d9186d874"}}</a:t>
            </a:r>
          </a:p>
          <a:p>
            <a:r>
              <a:t>CNPJ 60010416000112 · Gestão: taxa, base e mínimo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Gestão: taxa, base e mínimo · Resumo do histórico: {"count": 1, "dates": ["2025-10-09"], "document_count": 1, "sources": [{"document_id": "1051393", "title": "Regulamento", "reference_date": "2025-10-09", "version": "1", "page": "29, 46", "url": "https://fnet.bmfbovespa.com.br/fnet/publico/visualizarDocumento?id=1051393", "sha256": "8469d613078ffd5a6c1d217885d8a397a16342c0b937ae4aa24b106505f233ae"}], "reference": {"path": "history/60010416000112.json", "criterion_id": "management_fee", "total_count": 1, "preview_count": 1, "full_text_deferred": true, "sha256": "8e2bd813f4c51cf01f6bfaad164bafe69d2bbb192f753eac92da3a01c2e63046"}}</a:t>
            </a:r>
          </a:p>
          <a:p>
            <a:r>
              <a:t>CNPJ 62696791000193 · Gestão: taxa, base e mínimo · Regulamento · ID 1143317 · 20/03/2026 · versão Regulamento — referência 20/03/2026 · p. 28 · Anexo I, 13.1, Taxa de Gestão · https://fnet.bmfbovespa.com.br/fnet/publico/visualizarDocumento?id=1143317</a:t>
            </a:r>
          </a:p>
          <a:p>
            <a:r>
              <a:t>CNPJ 62696791000193 · Gestão: taxa, base e mínimo · Excerto da fonte:</a:t>
            </a:r>
          </a:p>
          <a:p>
            <a:r>
              <a:t>Taxa de Gestão 0% (zero por cento) ao ano apropriada diariamente na base de 252 (duzentos e cinquenta e dois) Dias Úteis, e paga mensalmente, até o 5º (quinto) Dia Útil do mês subsequente ao mês que se ref ere, incidente sobre o Patrimônio Líquido da Classe (“Taxa de Gestão”). Taxa Máxima de Custódia 0,00% (zero por cento) ao ano, incidente sobre o Patrimônio Líquido da Classe (“Taxa Máxima de Custódia”). Taxa de Performance Não será devido pela Classe o pagamento de Taxa de Perf ormance. 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a:t>
            </a:r>
          </a:p>
          <a:p>
            <a:r>
              <a:t>CNPJ 62696791000193 · Gestão: taxa, base e mínimo · Motivo: Não localizada uma cláusula material para este critério nos textos identificados e processados. A ausência de resultado não comprova inexistência da regra.</a:t>
            </a:r>
          </a:p>
          <a:p>
            <a:r>
              <a:t>CNPJ 62696791000193 · Gestão: taxa, base e mínimo · Versão e prevalência: Leitura específica das cláusulas indicadas; condições e conflitos preservados. Seleção documental atual não comprova vigência jurídica por data isolada.</a:t>
            </a:r>
          </a:p>
          <a:p>
            <a:r>
              <a:t>CNPJ 55563624000109 · Gestão: taxa, base e mínimo · Regulamento · ID 1192614 · 30/04/2026 · versão Regulamento30/04/2026 · p. 29 · AnexoI13.4–13.7.1 · https://fnet.bmfbovespa.com.br/fnet/publico/visualizarDocumento?id=1192614</a:t>
            </a:r>
          </a:p>
          <a:p>
            <a:r>
              <a:t>CNPJ 55563624000109 · Gestão: taxa, base e mínimo · Excerto da fonte:</a:t>
            </a:r>
          </a:p>
          <a:p>
            <a:r>
              <a:t>13.4 Sem prejuízo da Taxa Máxima de Gestão, pelos serviços de gestão, a Classe pagará ao GESTOR: (i) a taxa de gestão ordinária correspondente a 0,50% (cinquenta centésimos por cento) ao ano, incidente sobre o Patrimônio Líquido da Classe, observado o montante mínimo de R$ 40.000,00 (quarenta mil reais) ao mês, corrigido anualmente pela variação positiva do Índice de Preços ao Consumidor Amplo, divulgado pelo Instituto Brasileiro de Geografia e Estatística – IBGE (“Taxa de Gestão”); e (ii) a taxa de gestão extraordinária apurada e paga no momento de cada</a:t>
            </a:r>
          </a:p>
          <a:p>
            <a:r>
              <a:t>CNPJ 55563624000109 · Gestão: taxa, base e mínimo · Condição: Adicional é por integralização, não taxa anual.</a:t>
            </a:r>
          </a:p>
          <a:p>
            <a:r>
              <a:t>CNPJ 55563624000109 · Gestão: taxa, base e mínimo · Versão e prevalência: Leitura específica das cláusulas indicadas; condições e conflitos preservados. Seleção documental atual não comprova vigência jurídica por data isolada.</a:t>
            </a:r>
          </a:p>
          <a:p>
            <a:r>
              <a:t>CNPJ 55563624000109 · Gestão: taxa, base e mínimo · Resumo do histórico: {"count": 3, "dates": ["2025-01-31", "2026-01-31", "2026-04-30"], "document_count": 3, "sources": [{"document_id": "1192614", "title": "Regulamento", "reference_date": "2026-04-30", "version": "1", "page": "29", "url": "https://fnet.bmfbovespa.com.br/fnet/publico/visualizarDocumento?id=1192614", "sha256": "f56e63ace0acde41d2f47fb48f1ac7f3f7df5e2d32de092d7c5e075a52516632"}, {"document_id": "1178840", "title": "Demonstrações Financeiras", "reference_date": "2026-01-31", "version": "1", "page": 29, "url": "https://fnet.bmfbovespa.com.br/fnet/publico/visualizarDocumento?id=1178840", "sha256": "c458e98664c5c907ddb5a05a94b120bed4e05295b2bfc420f5ba69af0a229abe"}, {"document_id": "891861", "title": "Demonstrações Financeiras", "reference_date": "2025-01-31", "version": "1", "page": 30, "url": "https://fnet.bmfbovespa.com.br/fnet/publico/visualizarDocumento?id=891861", "sha256": "e9cb9e6ddbe505fe068cfcac33605165a98313489de0d3ce6d4d238263c3f3e7"}], "reference": {"path": "history/55563624000109.json", "criterion_id": "management_fee", "total_count": 3, "preview_count": 3, "full_text_deferred": true, "sha256": "7835d573fb58a3c19adf5b8ecc2aee2bdbb9a88f7a0c0209b5f262b64c7522e3"}}</a:t>
            </a:r>
          </a:p>
          <a:p>
            <a:r>
              <a:t>CNPJ 62552447000120 · Gestão: taxa, base e mínimo · Motivo: Não localizada uma cláusula material para este critério nos textos identificados e processados. A ausência de resultado não comprova inexistência da regra.</a:t>
            </a:r>
          </a:p>
          <a:p>
            <a:r>
              <a:t>CNPJ 63953620000165 · Gestão: taxa, base e mínimo · Anexo ao Regulamento · ID 1222863 · 02/06/2026 · versão AnexoConsignadoPrivado02/06/2026 · p. 20 · Capítulo13TaxadeGestão · https://fnet.bmfbovespa.com.br/fnet/publico/visualizarDocumento?id=1222863</a:t>
            </a:r>
          </a:p>
          <a:p>
            <a:r>
              <a:t>CNPJ 63953620000165 · Gestão: taxa, base e mínimo · Excerto da fonte:</a:t>
            </a:r>
          </a:p>
          <a:p>
            <a:r>
              <a:t>0,05% (cinco centésimos por cento) ao ano, apropriada diariamente na base de 252 (duzentos e cinquenta e dois) Dias Úteis, e paga mensalmente, até o 5º (quinto) Dia Útil do mês subsequente ao mês que se refere, incidente sobre o Patrimônio Líquido da Classe alocado em Direitos Creditórios Consignado Privado e/ou Ativos de Liquidez MT, observada remuneração mínima mensal de R$ 2.500,00 (dois mil e quinhentos reais), a ser corrigida anualmente, em janeiro de cada ano, pela variação</a:t>
            </a:r>
          </a:p>
          <a:p>
            <a:r>
              <a:t>CNPJ 63953620000165 · Gestão: taxa, base e mínimo · Versão e prevalência: Leitura específica das cláusulas indicadas; condições e conflitos preservados. Seleção documental atual não comprova vigência jurídica por data isolada.</a:t>
            </a:r>
          </a:p>
          <a:p>
            <a:r>
              <a:t>CNPJ 63953620000165 · Gestão: taxa, base e mínimo · Resumo do histórico: {"count": 8, "dates": ["2026-04-28", "2026-05-08", "2026-05-15"], "document_count": 3, "sources": [{"document_id": "1327859", "title": "Demonstrações Financeiras - Fusão, cisão e incorporação", "reference_date": "2026-05-15", "version": "1", "page": 28, "url": "https://fnet.bmfbovespa.com.br/fnet/publico/visualizarDocumento?id=1327859", "sha256": "dca1c68babb97f887528c3e2e47596a9c30f507b067981a35655b2f2da9c8054"}, {"document_id": "1298691", "title": "Demonstrações Financeiras - Fusão, cisão e incorporação", "reference_date": "2026-05-08", "version": "1", "page": 28, "url": "https://fnet.bmfbovespa.com.br/fnet/publico/visualizarDocumento?id=1298691", "sha256": "58c570d9b8d4d265330d3db3ea81c435b8e44a6dab4002aa37790652a1ee9819"}, {"document_id": "1282180", "title": "Demonstrações Financeiras - Fusão, cisão e incorporação", "reference_date": "2026-04-28", "version": "1", "page": 29, "url": "https://fnet.bmfbovespa.com.br/fnet/publico/visualizarDocumento?id=1282180", "sha256": "afaaa0e6809be4385e5bdb6c911aac582032c5bdbac3d7750234bf9eaf00438a"}], "reference": {"path": "history/63953620000165.json", "criterion_id": "management_fee", "total_count": 8, "preview_count": 3, "full_text_deferred": true, "sha256": "a7b89077f5e21098c2d601c303faabc3ff6b9729f89d8afecdc60fe1404720c1"}}</a:t>
            </a:r>
          </a:p>
          <a:p>
            <a:r>
              <a:t>CNPJ 54871427000194 · Performance: benchmark e apuração · Regulamento · ID 670691 · 28/04/2024 · versão Regulamento — referência 28/04/2024 · p. 26 · Anexo I, 13.3 · https://fnet.bmfbovespa.com.br/fnet/publico/visualizarDocumento?id=670691</a:t>
            </a:r>
          </a:p>
          <a:p>
            <a:r>
              <a:t>CNPJ 54871427000194 · Performance: benchmark e apuração · Excerto da fonte:</a:t>
            </a:r>
          </a:p>
          <a:p>
            <a:r>
              <a:t>13.3 Não serão cobradas da Classe ou dos Cotistas taxas de perf ormance, de ingresso ou de saída. Taxa de Gestão 13.4 Pelos serviços de gestão, a Classe pagará a Taxa de Gestão nos seguintes moldes: o valor correspondente a 0,20% (vinte centésimos por cento) ao ano aplicado sobre o Patrimônio Líquido, observado o valor mínimo de R$ 15.000,00 (quinze mil reais) mensais atualizado pela variação positiva do IGP-M a cada período de 12 (doze) meses, contados a partir do mês em que ocorrer a primeira integralização de Cotas (inclusive). 13.4.1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13.4.2 A Taxa de Gestão será calculada e provisionada todo Dia Útil à razão de 1/252 (um inteiro e duzentos e cinquenta e dois avos) com base no valor do Patrimônio Líquido do Dia Útil anterior. 13.4.3 A Taxa de Gestão será paga mensalmente ao GESTOR, observado o disposto no item 13.5</a:t>
            </a:r>
          </a:p>
          <a:p>
            <a:r>
              <a:t>CNPJ 54871427000194 · Performance: benchmark e apuração · Motivo: Não localizada uma cláusula material para este critério nos textos identificados e processados. A ausência de resultado não comprova inexistência da regra.</a:t>
            </a:r>
          </a:p>
          <a:p>
            <a:r>
              <a:t>CNPJ 54871427000194 · Performance: benchmark e apuração · Versão e prevalência: Leitura específica das cláusulas indicadas; condições e conflitos preservados. Seleção documental atual não comprova vigência jurídica por data isolada.</a:t>
            </a:r>
          </a:p>
          <a:p>
            <a:r>
              <a:t>CNPJ 60010416000112 · Performance: benchmark e apuração · Regulamento · ID 1051393 · 09/10/2025 · versão Regulamento09/10/2025 · p. 29 · AnexoI12.2 · https://fnet.bmfbovespa.com.br/fnet/publico/visualizarDocumento?id=1051393</a:t>
            </a:r>
          </a:p>
          <a:p>
            <a:r>
              <a:t>CNPJ 60010416000112 · Performance: benchmark e apuração · Excerto da fonte:</a:t>
            </a:r>
          </a:p>
          <a:p>
            <a:r>
              <a:t>12.2 Não serão cobradas da Classe ou dos Cotistas taxas de perf ormance, de ingresso ou de saída. Taxa Máxima de Custódia 12.3 Pelos serviços de custódia qualificada dos Direitos Creditórios e dos Ativos Financeiros de Liquidez não será devida nenhuma remuneração ao Custodiante, de modo que taxa máxima de custódia a ser paga pela Classe ao Custodiante corresponde a 0% (zero por cento) ao ano. Remuneração do Agente de Retenção/Cobrança 12.4 Para a prestação de serviços à Classe, o Agente de Retenção/Cobrança f ará jus a uma remuneração a ser auf erida todo Dia Útil e paga mensalmente, a título de Encargo da Cla</a:t>
            </a:r>
          </a:p>
          <a:p>
            <a:r>
              <a:t>CNPJ 60010416000112 · Performance: benchmark e apuração · Motivo: Não localizada uma cláusula material para este critério nos textos identificados e processados. A ausência de resultado não comprova inexistência da regra.</a:t>
            </a:r>
          </a:p>
          <a:p>
            <a:r>
              <a:t>CNPJ 60010416000112 · Performance: benchmark e apuração · Versão e prevalência: Leitura específica das cláusulas indicadas; condições e conflitos preservados. Seleção documental atual não comprova vigência jurídica por data isolada.</a:t>
            </a:r>
          </a:p>
          <a:p>
            <a:r>
              <a:t>CNPJ 62696791000193 · Performance: benchmark e apuração · Regulamento · ID 1143317 · 20/03/2026 · versão Regulamento — referência 20/03/2026 · p. 28 · Anexo I, 13.1, Taxa de Performance · https://fnet.bmfbovespa.com.br/fnet/publico/visualizarDocumento?id=1143317</a:t>
            </a:r>
          </a:p>
          <a:p>
            <a:r>
              <a:t>CNPJ 62696791000193 · Performance: benchmark e apuração · Excerto da fonte:</a:t>
            </a:r>
          </a:p>
          <a:p>
            <a:r>
              <a:t>Taxa de Performance Não será devido pela Classe o pagamento de Taxa de Perf ormance. 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equivalente a 0,9% (nove décimos por cento) ao ano aplicado sobre o Patrimônio Anexo I ao Regulamento Líquido, observado o limite máximo de 4,5% (quatro inteiros e cinquenta centésimos por cento) do volume captado na respectiva oferta (“Taxa Máxima de Distribuição”).A Taxa Máxima de BTG Pactual SAC: 0800 772 2827 | Ouvidoria: 0800 722 0048 | btgpactual.co m 23</a:t>
            </a:r>
          </a:p>
          <a:p>
            <a:r>
              <a:t>CNPJ 62696791000193 · Performance: benchmark e apuração · Regulamento · ID 1143317 · 20/03/2026 · versão Regulamento — referência 20/03/2026 · p. 29 · Anexo I, 13.1, Taxa de Ingresso · https://fnet.bmfbovespa.com.br/fnet/publico/visualizarDocumento?id=1143317</a:t>
            </a:r>
          </a:p>
          <a:p>
            <a:r>
              <a:t>CNPJ 62696791000193 · Performance: benchmark e apuração · Excerto da fonte:</a:t>
            </a:r>
          </a:p>
          <a:p>
            <a:r>
              <a:t>Taxa de Ingresso Não será cobrada dos Cotistas Taxa de Ingresso. 14 TRIBUTAÇÃO 14.1 O disposto neste Capítulo f oi elaborado com base na legislação e regulamentação em vigor produzindo ef eitos, tem por objetivo descrever de f orma sumária o tratamento tributário aplicável em regra aos cotistas, ao Fundo e à Classe, não se aplicando aos cotistas sujeitos a regras de tributação específicas, na f orma da legislação e regulamentação em vigor. 14.2 Há exceções (inclusive relativas à natureza ou ao domicílio do investidor para fins fiscais) em relação ao tratamento tributário descrito abaixo e tributos adicionais que podem ser aplicados, motivo pelo qual os cotistas devem consultar seus assessores jurídicos com relação à tributação aplicável nos investimentos realizados na Classe. Tributação da Classe / Operações da carteira: Como regra geral, os rendimentos auferidos pela carteira da Classe não estão sujeitos à incidência do imposto de renda, exceto ganhos auferidos em aplicações financeiras de renda fixa ou variável, que se sujeitam à incidência do Imposto de Renda Retido na Fonte (“IRF”) de acordo com as mesmas regras de tributação aplic</a:t>
            </a:r>
          </a:p>
          <a:p>
            <a:r>
              <a:t>CNPJ 62696791000193 · Performance: benchmark e apuração · Motivo: Não localizada uma cláusula material para este critério nos textos identificados e processados. A ausência de resultado não comprova inexistência da regra.</a:t>
            </a:r>
          </a:p>
          <a:p>
            <a:r>
              <a:t>CNPJ 62696791000193 · Performance: benchmark e apuração · Versão e prevalência: Leitura específica das cláusulas indicadas; condições e conflitos preservados. Seleção documental atual não comprova vigência jurídica por data isolada.</a:t>
            </a:r>
          </a:p>
          <a:p>
            <a:r>
              <a:t>CNPJ 55563624000109 · Performance: benchmark e apuração · Regulamento · ID 1192614 · 30/04/2026 · versão Regulamento30/04/2026 · p. 29 · AnexoI13.10 · https://fnet.bmfbovespa.com.br/fnet/publico/visualizarDocumento?id=1192614</a:t>
            </a:r>
          </a:p>
          <a:p>
            <a:r>
              <a:t>CNPJ 55563624000109 · Performance: benchmark e apuração · Excerto da fonte:</a:t>
            </a:r>
          </a:p>
          <a:p>
            <a:r>
              <a:t>13.10 Não serão cobradas taxas de performance da Classe, e nem taxas de ingresso ou de saída dos Cotistas que integralizarem ou resgatarem suas Cotas. BTG Pactual SAC: 0800 772 28 27 - Ouvidoria: 0800 722 00 48 - btgpactual.com 22</a:t>
            </a:r>
          </a:p>
          <a:p>
            <a:r>
              <a:t>CNPJ 55563624000109 · Performance: benchmark e apuração · Motivo: Não localizada uma cláusula material para este critério nos textos identificados e processados. A ausência de resultado não comprova inexistência da regra.</a:t>
            </a:r>
          </a:p>
          <a:p>
            <a:r>
              <a:t>CNPJ 55563624000109 · Performance: benchmark e apuração · Versão e prevalência: Leitura específica das cláusulas indicadas; condições e conflitos preservados. Seleção documental atual não comprova vigência jurídica por data isolada.</a:t>
            </a:r>
          </a:p>
          <a:p>
            <a:r>
              <a:t>CNPJ 62552447000120 · Performance: benchmark e apuração · Regulamento · ID 1200623 · 21/05/2026 · versão Consolidado21/05/2026 aprovado pelo ato1200625 · p. 30 · AnexoI13.1 TaxadePerformance/Ingresso · https://fnet.bmfbovespa.com.br/fnet/publico/visualizarDocumento?id=1200623</a:t>
            </a:r>
          </a:p>
          <a:p>
            <a:r>
              <a:t>CNPJ 62552447000120 · Performance: benchmark e apuração · Excerto da fonte:</a:t>
            </a:r>
          </a:p>
          <a:p>
            <a:r>
              <a:t>Taxa de Performance Não será devido pela Classe o pagamento de Taxa de Perf ormance. Taxa de Ingresso Não será cobrada dos Cotistas Taxa de Ingresso . CAPÍTULO 14 – CUSTOS REFERENTES À DEFESA DOS INTERESSES DA CLASSE 14.1 Todos os custos e despesas ref eridos neste Capítulo, inclusive para salvaguarda de direitos e prerrogativas da Classe e/ou com a cobrança judicial e/ou extrajudicial de Direitos Creditórios Inadimplidos, serão de inteira responsabilidade da Classe, não est ando o Administrador, o Gestor, o Endossante, os Devedores, o Custodiante e quaisquer de suas respectivas pessoas contr</a:t>
            </a:r>
          </a:p>
          <a:p>
            <a:r>
              <a:t>CNPJ 62552447000120 · Performance: benchmark e apuração · Motivo: Não localizada uma cláusula material para este critério nos textos identificados e processados. A ausência de resultado não comprova inexistência da regra.</a:t>
            </a:r>
          </a:p>
          <a:p>
            <a:r>
              <a:t>CNPJ 62552447000120 · Performance: benchmark e apuração · Versão e prevalência: Leitura específica das cláusulas indicadas; condições e conflitos preservados. Seleção documental atual não comprova vigência jurídica por data isolada.</a:t>
            </a:r>
          </a:p>
          <a:p>
            <a:r>
              <a:t>CNPJ 63953620000165 · Performance: benchmark e apuração · Anexo ao Regulamento · ID 1222863 · 02/06/2026 · versão AnexoConsignadoPrivado02/06/2026 · p. 20 · Capítulo13 · https://fnet.bmfbovespa.com.br/fnet/publico/visualizarDocumento?id=1222863</a:t>
            </a:r>
          </a:p>
          <a:p>
            <a:r>
              <a:t>CNPJ 63953620000165 · Performance: benchmark e apuração · Excerto da fonte:</a:t>
            </a:r>
          </a:p>
          <a:p>
            <a:r>
              <a:t>Taxa de Performance Não será devido pelas Classes o pagamento de Taxa de Performance. 0,00% (zero por cento) ao ano, incidente sobre o Patrimônio Líquido da Classe Taxa Máxima de Custódia (“Taxa Máxima de Custódia”). Taxa Máxima de Distribuição Não será cobrada Taxa de Distribuição. Taxa de Ingresso Não será cobrada da Classe ou dos Cotistas taxa de ingresso. CAPÍTULO 14 – CUSTOS REFERENTES À DEFESA DOS INTERESSES DA CLASSE 14.1 Todos os custos e despesas referidos neste Capítulo, inclusive para salvaguarda de direitos e prerrogativas da</a:t>
            </a:r>
          </a:p>
          <a:p>
            <a:r>
              <a:t>CNPJ 63953620000165 · Performance: benchmark e apuração · Motivo: Cláusula primária localizada e citada, mas sua lista/condições extensas não admitem uma síntese literal curta confirmada. O trecho integral permanece nas fontes.</a:t>
            </a:r>
          </a:p>
          <a:p>
            <a:r>
              <a:t>CNPJ 63953620000165 · Performance: benchmark e apuração · Versão e prevalência: Leitura específica das cláusulas indicadas; condições e conflitos preservados. Seleção documental atual não comprova vigência jurídica por data isolada.</a:t>
            </a:r>
          </a:p>
          <a:p>
            <a:r>
              <a:t>CNPJ 54871427000194 · Custódia, escrituração e encargos · Regulamento · ID 670691 · 28/04/2024 · versão Regulamento — referência 28/04/2024 · p. 26 · Anexo I, 13.7–13.8 · https://fnet.bmfbovespa.com.br/fnet/publico/visualizarDocumento?id=670691</a:t>
            </a:r>
          </a:p>
          <a:p>
            <a:r>
              <a:t>CNPJ 54871427000194 · Custódia, escrituração e encargos · Excerto da fonte:</a:t>
            </a:r>
          </a:p>
          <a:p>
            <a:r>
              <a:t>13.7 Pelos serviços de retenção e cobrança, prestada nos termos deste Anexo e do Contrato de Retenção/Cobrança, será devida pela Classe ao Agente de Retenção/Cobrança a remuneração prevista no respectivo Contrato de Retenção/Cobrança. Taxa Máxima de Custódia 13.8 Pelos serviços de custódia qualificada dos Direitos Creditórios e dos Ativos Financeiros de Liquidez não será devida nenhuma remuneração ao CUSTODIANTE, de modo que taxa máxima de custódia a ser paga pela Classe ao CUSTODIANTE corresponde a 0% (zero por cento) ao ano. CAPÍTULO 14 – CUSTOS REFERENTES À DEFESA DOS INTERESSES DA CLASSE 14.1 Caso a Classe não possua recursos disponíveis, em moeda corrente nacional, suf icientes para a adoção e manutenção, direta ou indireta, dos procedimentos judiciais e extrajudiciais necessários à cobrança dos Direitos Creditórios e dos Ativos Financeiros de Liquidez de titularidade da Classe e à def esa dos direitos, interesses e prerrogativas da Classe, a maioria dos titulares das Cotas, reunidos em Assembleia Especial de Cotistas, poderá aprovar o aporte de recursos à Classe, por meio da integralização de novas Cotas, a ser realizada por todos os titulares das Cotas para assegurar, se for o caso, a</a:t>
            </a:r>
          </a:p>
          <a:p>
            <a:r>
              <a:t>CNPJ 54871427000194 · Custódia, escrituração e encargos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Custódia, escrituração e encargos · Versão e prevalência: Leitura específica das cláusulas indicadas; condições e conflitos preservados. Seleção documental atual não comprova vigência jurídica por data isolada.</a:t>
            </a:r>
          </a:p>
          <a:p>
            <a:r>
              <a:t>CNPJ 54871427000194 · Custódia, escrituração e encargos · Resumo do histórico: {"count": 1, "dates": ["2024-04-28"], "document_count": 1, "sources": [{"document_id": "670691", "title": "Regulamento", "reference_date": "2024-04-28", "version": "1", "page": "26", "url": "https://fnet.bmfbovespa.com.br/fnet/publico/visualizarDocumento?id=670691", "sha256": "bf16dd7f1a62d5cdbf2e2d54fef81783783f7310fbc99c3a8f00459bdf9d037b"}], "reference": {"path": "history/54871427000194.json", "criterion_id": "custody_fee", "total_count": 1, "preview_count": 1, "full_text_deferred": true, "sha256": "35d7cd99be50c7287c9fb675cf4f2e736002315295a225a9efa79c8d9186d874"}}</a:t>
            </a:r>
          </a:p>
          <a:p>
            <a:r>
              <a:t>CNPJ 60010416000112 · Custódia, escrituração e encargos · Regulamento · ID 1051393 · 09/10/2025 · versão Regulamento09/10/2025 · p. 29 · AnexoI12.3–12.4 · https://fnet.bmfbovespa.com.br/fnet/publico/visualizarDocumento?id=1051393</a:t>
            </a:r>
          </a:p>
          <a:p>
            <a:r>
              <a:t>CNPJ 60010416000112 · Custódia, escrituração e encargos · Excerto da fonte:</a:t>
            </a:r>
          </a:p>
          <a:p>
            <a:r>
              <a:t>12.3 Pelos serviços de custódia qualificada dos Direitos Creditórios e dos Ativos Financeiros de Liquidez não será devida nenhuma remuneração ao Custodiante, de modo que taxa máxima de custódia a ser paga pela Classe ao Custodiante corresponde a 0% (zero por cento) ao ano. Remuneração do Agente de Retenção/Cobrança 12.4 Para a prestação de serviços à Classe, o Agente de Retenção/Cobrança f ará jus a uma remuneração a ser auf erida todo Dia Útil e paga mensalmente, a título de Encargo da Classe, a qual será calculada com base na seguinte f órmula:</a:t>
            </a:r>
          </a:p>
          <a:p>
            <a:r>
              <a:t>CNPJ 60010416000112 · Custódia, escrituração e encargos · Regulamento · ID 1051393 · 09/10/2025 · versão Regulamento09/10/2025 · p. 30 · AnexoI12.4definições,12.5–12.5.1 · https://fnet.bmfbovespa.com.br/fnet/publico/visualizarDocumento?id=1051393</a:t>
            </a:r>
          </a:p>
          <a:p>
            <a:r>
              <a:t>CNPJ 60010416000112 · Custódia, escrituração e encargos · Excerto da fonte:</a:t>
            </a:r>
          </a:p>
          <a:p>
            <a:r>
              <a:t>RAC = Remuneração do Agente de Retenção e Cobrança,tendo como valor 4,00% (quatro por cento) ao ano. 12.5 A remuneração prevista no item 12.4 acima será calculada pelo Administrador e paga diretamente ao Agente de Retenção/Cobrança até o 5º (quinto) Dia Útil do mês subsequente ao da prestação dos serviços, conf orme estabelecido no Contrato de Serviços MT. 12.5.1. Independentemente do acima disposto, na hipótese de venda de qualquer parte dos Direitos Creditórios Elegíveis a terceiros, inclusive no caso de liquidação da Classe, o Agente de Retenção/Cobra</a:t>
            </a:r>
          </a:p>
          <a:p>
            <a:r>
              <a:t>CNPJ 60010416000112 · Custódia, escrituração e encargos · Condição: Fórmula do RAC tem composição base 252 DU/21 dias; não somar a 4% do PL como taxa administrativa.</a:t>
            </a:r>
          </a:p>
          <a:p>
            <a:r>
              <a:t>CNPJ 60010416000112 · Custódia, escrituração e encargos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Custódia, escrituração e encargos · Versão e prevalência: Leitura específica das cláusulas indicadas; condições e conflitos preservados. Seleção documental atual não comprova vigência jurídica por data isolada.</a:t>
            </a:r>
          </a:p>
          <a:p>
            <a:r>
              <a:t>CNPJ 60010416000112 · Custódia, escrituração e encargos · Resumo do histórico: {"count": 1, "dates": ["2025-10-09"], "document_count": 1, "sources": [{"document_id": "1051393", "title": "Regulamento", "reference_date": "2025-10-09", "version": "1", "page": "29-31", "url": "https://fnet.bmfbovespa.com.br/fnet/publico/visualizarDocumento?id=1051393", "sha256": "8469d613078ffd5a6c1d217885d8a397a16342c0b937ae4aa24b106505f233ae"}], "reference": {"path": "history/60010416000112.json", "criterion_id": "custody_fee", "total_count": 1, "preview_count": 1, "full_text_deferred": true, "sha256": "8e2bd813f4c51cf01f6bfaad164bafe69d2bbb192f753eac92da3a01c2e63046"}}</a:t>
            </a:r>
          </a:p>
          <a:p>
            <a:r>
              <a:t>CNPJ 62696791000193 · Custódia, escrituração e encargos · Regulamento · ID 1143317 · 20/03/2026 · versão Regulamento — referência 20/03/2026 · p. 28 · Anexo I, 13.1, Custódia e Distribuição · https://fnet.bmfbovespa.com.br/fnet/publico/visualizarDocumento?id=1143317</a:t>
            </a:r>
          </a:p>
          <a:p>
            <a:r>
              <a:t>CNPJ 62696791000193 · Custódia, escrituração e encargos · Excerto da fonte:</a:t>
            </a:r>
          </a:p>
          <a:p>
            <a:r>
              <a:t>Taxa Máxima de Custódia 0,00% (zero por cento) ao ano, incidente sobre o Patrimônio Líquido da Classe (“Taxa Máxima de Custódia”). Taxa de Performance Não será devido pela Classe o pagamento de Taxa de Perf ormance. 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equivalente a 0,9% (nove décimos por cento) ao ano aplicado sobre o Patrimônio Anexo I ao Regulamento Líquido, observado o limite máximo de 4,5% (quatro inteiros e cinquenta centésimos por cento) do volume captado na respectiva oferta (“Taxa Máxima de Distribuição”).A</a:t>
            </a:r>
          </a:p>
          <a:p>
            <a:r>
              <a:t>CNPJ 62696791000193 · Custódia, escrituração e encargos · Regulamento · ID 1143317 · 20/03/2026 · versão Regulamento — referência 20/03/2026 · p. 29 · Anexo I, 13.1, Distribuição · https://fnet.bmfbovespa.com.br/fnet/publico/visualizarDocumento?id=1143317</a:t>
            </a:r>
          </a:p>
          <a:p>
            <a:r>
              <a:t>CNPJ 62696791000193 · Custódia, escrituração e encargos · Excerto da fonte:</a:t>
            </a:r>
          </a:p>
          <a:p>
            <a:r>
              <a:t>Distribuição será calculada e provisionada todo Dia Útil à razão de 1/252 (um inteiro e duzentos e cinquenta e dois avos) com base no valor do Patrimônio Líquido do Dia Útil anterior. Nos termos da Resolução CVM 160, o coordenador líder poderá destinar parte ou a totalidade da sua remuneração, à vista ou a prazo, aos distribuidores contratados, conforme previsto no contrato de distribuição da oferta e/ou nos termos de adesão ao contrato de distribuição. A Taxa Máxima de Distribuição será paga mensalmente por período vencido, até o 10º (décimo) Dia Útil do mês subsequente à prestação dos serviços, a partir do mês em que ocorrer a primeira integralização de Cotas da Classe Taxa de Ingresso Não será cobrada dos Cotistas Taxa de Ingresso. 14 TRIBUTAÇÃO 14.1 O disposto neste Capítulo f oi elaborado co</a:t>
            </a:r>
          </a:p>
          <a:p>
            <a:r>
              <a:t>CNPJ 62696791000193 · Custódia, escrituração e encargos · Motivo: Não localizada uma cláusula material para este critério nos textos identificados e processados. A ausência de resultado não comprova inexistência da regra.</a:t>
            </a:r>
          </a:p>
          <a:p>
            <a:r>
              <a:t>CNPJ 62696791000193 · Custódia, escrituração e encargos · Versão e prevalência: Leitura específica das cláusulas indicadas; condições e conflitos preservados. Seleção documental atual não comprova vigência jurídica por data isolada.</a:t>
            </a:r>
          </a:p>
          <a:p>
            <a:r>
              <a:t>CNPJ 55563624000109 · Custódia, escrituração e encargos · Regulamento · ID 1192614 · 30/04/2026 · versão Regulamento30/04/2026 · p. 29 · AnexoI13.8–13.9 · https://fnet.bmfbovespa.com.br/fnet/publico/visualizarDocumento?id=1192614</a:t>
            </a:r>
          </a:p>
          <a:p>
            <a:r>
              <a:t>CNPJ 55563624000109 · Custódia, escrituração e encargos · Excerto da fonte:</a:t>
            </a:r>
          </a:p>
          <a:p>
            <a:r>
              <a:t>13.8 Pelos serviços de custódia qualificada das Cotas da Classe Investida e dos Ativos Financeiros de Liquidez não será devida nenhuma remuneração ao CUSTODIANTE, de modo que taxa de custódia a ser paga pela Classe ao CUSTODIANTE corresponde a 0% (zero por cento) ao ano. Taxas Máxima de Distribuição 13.9 Tendo em vista que não há distribuidores das Cotas que prestem serviços de forma contínua ao Fundo, o presente Regulamento e Anexo Descritivo não preveem uma taxa máxima de distribuição aplicável a todas as emissões, nos termos do Ofício-Circular-Conju</a:t>
            </a:r>
          </a:p>
          <a:p>
            <a:r>
              <a:t>CNPJ 55563624000109 · Custódia, escrituração e encargos · Versão e prevalência: Leitura específica das cláusulas indicadas; condições e conflitos preservados. Seleção documental atual não comprova vigência jurídica por data isolada.</a:t>
            </a:r>
          </a:p>
          <a:p>
            <a:r>
              <a:t>CNPJ 55563624000109 · Custódia, escrituração e encargos · Resumo do histórico: {"count": 1, "dates": ["2026-04-30"], "document_count": 1, "sources": [{"document_id": "1192614", "title": "Regulamento", "reference_date": "2026-04-30", "version": "1", "page": "29", "url": "https://fnet.bmfbovespa.com.br/fnet/publico/visualizarDocumento?id=1192614", "sha256": "f56e63ace0acde41d2f47fb48f1ac7f3f7df5e2d32de092d7c5e075a52516632"}], "reference": {"path": "history/55563624000109.json", "criterion_id": "custody_fee", "total_count": 1, "preview_count": 1, "full_text_deferred": true, "sha256": "7835d573fb58a3c19adf5b8ecc2aee2bdbb9a88f7a0c0209b5f262b64c7522e3"}}</a:t>
            </a:r>
          </a:p>
          <a:p>
            <a:r>
              <a:t>CNPJ 62552447000120 · Custódia, escrituração e encargos · Motivo: Não localizada uma cláusula material para este critério nos textos identificados e processados. A ausência de resultado não comprova inexistência da regra.</a:t>
            </a:r>
          </a:p>
          <a:p>
            <a:r>
              <a:t>CNPJ 63953620000165 · Custódia, escrituração e encargos · Motivo: Não localizada uma cláusula material para este critério nos textos identificados e processados. A ausência de resultado não comprova inexistência da regra.</a:t>
            </a:r>
          </a:p>
          <a:p>
            <a:r>
              <a:t>CNPJ 54871427000194 · Classes e séries de cotas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Classes e séries de cotas · Resumo do histórico: {"count": 1, "dates": ["2024-04-28"], "document_count": 1, "sources": [{"document_id": "670691", "title": "Regulamento", "reference_date": "2024-04-28", "version": "1", "page": "7, 14", "url": "https://fnet.bmfbovespa.com.br/fnet/publico/visualizarDocumento?id=670691", "sha256": "bf16dd7f1a62d5cdbf2e2d54fef81783783f7310fbc99c3a8f00459bdf9d037b"}], "reference": {"path": "history/54871427000194.json", "criterion_id": "quota_classes", "total_count": 1, "preview_count": 1, "full_text_deferred": true, "sha256": "35d7cd99be50c7287c9fb675cf4f2e736002315295a225a9efa79c8d9186d874"}}</a:t>
            </a:r>
          </a:p>
          <a:p>
            <a:r>
              <a:t>CNPJ 60010416000112 · Classes e séries de cotas · Demonstrações Financeiras - Fusão, cisão e incorporação · ID 1298690 · 2026-05-08 · versão 1 · p. 30 · https://fnet.bmfbovespa.com.br/fnet/publico/visualizarDocumento?id=1298690</a:t>
            </a:r>
          </a:p>
          <a:p>
            <a:r>
              <a:t>CNPJ 60010416000112 · Classes e séries de cotas · Excerto da fonte:</a:t>
            </a:r>
          </a:p>
          <a:p>
            <a:r>
              <a:t>Durante o período de investimento, a Administradora poderá deliberar por realizar novas  emissões de cotas subordinadas, sem a necessidade de aprovação em Assembleia Especial  de Cotistas ou alteração do Regulamento, limitadas ao montante máximo de R$ 50.000  (cinquenta milhões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subordinadas emitidas não sejam  superiores aos prazos de vencimento da primeira emissão.</a:t>
            </a:r>
          </a:p>
          <a:p>
            <a:r>
              <a:t>CNPJ 60010416000112 · Classes e séries de cotas · Demonstrações Financeiras - Fusão, cisão e incorporação · ID 1298690 · 2026-05-08 · versão 1 · p. 7 · https://fnet.bmfbovespa.com.br/fnet/publico/visualizarDocumento?id=1298690</a:t>
            </a:r>
          </a:p>
          <a:p>
            <a:r>
              <a:t>CNPJ 60010416000112 · Classes e séries de cotas · Excerto da fonte:</a:t>
            </a:r>
          </a:p>
          <a:p>
            <a:r>
              <a:t>01/12/2025 a  Nota  08/05/2026  Patrimônio líquido no início do período  Total de 493.487,7492 cotas sêniores a R$ 1.136,5211 560.859  Total de 2.329.794,7852 cotas sêniores 2 a R$ 1.141,3012 2.658.998  Total de 954,2302 cotas subordinadas a R$ 150.939,4087 144.031</a:t>
            </a:r>
          </a:p>
          <a:p>
            <a:r>
              <a:t>CNPJ 60010416000112 · Classes e séries de cotas · Demonstrações Financeiras - Fusão, cisão e incorporação · ID 1298690 · 2026-05-08 · versão 1 · p. 7 · https://fnet.bmfbovespa.com.br/fnet/publico/visualizarDocumento?id=1298690</a:t>
            </a:r>
          </a:p>
          <a:p>
            <a:r>
              <a:t>CNPJ 60010416000112 · Classes e séries de cotas · Excerto da fonte:</a:t>
            </a:r>
          </a:p>
          <a:p>
            <a:r>
              <a:t>Patrimônio líquido no final do período  Total de 2.865.592,8479 cotas a R$ 1.285,7151 3.672.765  Total de 493.487,7492 cotas sêniores a R$ 1.230,3042 607.141  Total de 2.362.150,8684 cotas sêniores 2 a R$ 1.236,9918 2.921.961  Total de 954,2302 cotas subordinadas a R$ 150.554,2733 143.663</a:t>
            </a:r>
          </a:p>
          <a:p>
            <a:r>
              <a:t>CNPJ 60010416000112 · Classes e séries de cotas · Condição: Documentos atuais selecionados no inventário por categoria/escopo; a data documental isolada não comprova vigência jurídica.</a:t>
            </a:r>
          </a:p>
          <a:p>
            <a:r>
              <a:t>CNPJ 60010416000112 · Classes e séries de cotas · Versão e prevalência: Documentos atuais selecionados no inventário por categoria/escopo; a data documental isolada não comprova vigência jurídica.</a:t>
            </a:r>
          </a:p>
          <a:p>
            <a:r>
              <a:t>CNPJ 60010416000112 · Classes e séries de cotas · Resumo do histórico: {"count": 9, "dates": ["2025-11-30", "2026-03-18", "2026-04-16"], "document_count": 3, "sources": [{"document_id": "1282181", "title": "Demonstrações Financeiras - Fusão, cisão e incorporação", "reference_date": "2026-04-16", "version": "1", "page": 7, "url": "https://fnet.bmfbovespa.com.br/fnet/publico/visualizarDocumento?id=1282181", "sha256": "b1c6566e43a00bcd00c8a7f30c77b7f86e351bd8e355bbea113f46d1dafda703"}, {"document_id": "1224477", "title": "Demonstrações Financeiras - Fusão, cisão e incorporação", "reference_date": "2026-03-18", "version": "1", "page": 7, "url": "https://fnet.bmfbovespa.com.br/fnet/publico/visualizarDocumento?id=1224477", "sha256": "0751bf0a75bc3b44c2748f5000226665c6ec6698a90c4dc6170b4e6c187759ae"}, {"document_id": "1126154", "title": "Demonstrações Financeiras", "reference_date": "2025-11-30", "version": "1", "page": 7, "url": "https://fnet.bmfbovespa.com.br/fnet/publico/visualizarDocumento?id=1126154", "sha256": "a01e7ccf88c548f12c95cba8526d7efbef6b585c112cd4668eca781c292090b0"}], "reference": {"path": "history/60010416000112.json", "criterion_id": "quota_classes", "total_count": 9, "preview_count": 3, "full_text_deferred": true, "sha256": "8e2bd813f4c51cf01f6bfaad164bafe69d2bbb192f753eac92da3a01c2e63046"}}</a:t>
            </a:r>
          </a:p>
          <a:p>
            <a:r>
              <a:t>CNPJ 62696791000193 · Classes e séries de cotas · Instrumento Particular de Emissão de Cotas · ID 1148821 · 2026-03-27 · versão 1 · p. 1 · 20.000 · https://fnet.bmfbovespa.com.br/fnet/publico/visualizarDocumento?id=1148821</a:t>
            </a:r>
          </a:p>
          <a:p>
            <a:r>
              <a:t>CNPJ 62696791000193 · Classes e séries de cotas · Excerto da fonte:</a:t>
            </a:r>
          </a:p>
          <a:p>
            <a:r>
              <a:t>20.000 (vinte mil) Cotas Subordinadas Júnior, com valor nominal unitário de R$ 1.000,00 (mil reais),  perfazendo o montante total de R$ 20.000.000,00 (vinte milhões de reais), as quais serão objeto de  colocação privada, de acordo com os termos e condições definidos no Apêndice da Subclasse  Subordinada Júnior constante do Anexo I Regulamento e descritas abaixo (“2ª Emissão da Subclasse  Subordinada Júnior”):</a:t>
            </a:r>
          </a:p>
          <a:p>
            <a:r>
              <a:t>CNPJ 62696791000193 · Classes e séries de cotas · Instrumento Particular de Emissão de Cotas · ID 1148821 · 2026-03-27 · versão 1 · p. 2 · https://fnet.bmfbovespa.com.br/fnet/publico/visualizarDocumento?id=1148821</a:t>
            </a:r>
          </a:p>
          <a:p>
            <a:r>
              <a:t>CNPJ 62696791000193 · Classes e séries de cotas · Excerto da fonte:</a:t>
            </a:r>
          </a:p>
          <a:p>
            <a:r>
              <a:t>2. Aprovar a 2ª (segunda) emissão da Subclasse Sênior da Classe, composta por até 150.000  (cento e cinquenta mil) Cotas Seniores, com valor nominal unitário de R$ 1.000,00 (mil reais),  perfazendo o montante total de R$ 150.000.000,00 (cento e cinquenta milhões de reais), as quais  serão objeto de colocação privada, de acordo com os termos e condições descritos no Apêndice da  Subclasse Sênior constante do Anexo I Regulamento e descritas abaixo (“2ª Emissão da Subclasse  Sênior”):</a:t>
            </a:r>
          </a:p>
          <a:p>
            <a:r>
              <a:t>CNPJ 62696791000193 · Classes e séries de cotas · Instrumento Particular de Emissão de Cotas · ID 1148821 · 2026-03-27 · versão 1 · p. 2 · https://fnet.bmfbovespa.com.br/fnet/publico/visualizarDocumento?id=1148821</a:t>
            </a:r>
          </a:p>
          <a:p>
            <a:r>
              <a:t>CNPJ 62696791000193 · Classes e séries de cotas · Excerto da fonte:</a:t>
            </a:r>
          </a:p>
          <a:p>
            <a:r>
              <a:t>d) Forma de Integralização: as Cotas Subordinadas Júnior serão integralizadas à vista, junto ao  seu respectivo agente de custódia e/ou da Administradora na qualidade de escriturador das  cotas; e</a:t>
            </a:r>
          </a:p>
          <a:p>
            <a:r>
              <a:t>CNPJ 62696791000193 · Classes e séries de cotas · Condição: Documentos atuais selecionados no inventário por categoria/escopo; a data documental isolada não comprova vigência jurídica.</a:t>
            </a:r>
          </a:p>
          <a:p>
            <a:r>
              <a:t>CNPJ 62696791000193 · Classes e séries de cotas · Versão e prevalência: Documentos atuais selecionados no inventário por categoria/escopo; a data documental isolada não comprova vigência jurídica.</a:t>
            </a:r>
          </a:p>
          <a:p>
            <a:r>
              <a:t>CNPJ 62696791000193 · Classes e séries de cotas · Resumo do histórico: {"count": 2, "dates": ["2026-03-20", "2026-03-27"], "document_count": 2, "sources": [{"document_id": "1148821", "title": "Instrumento Particular de Emissão de Cotas", "reference_date": "2026-03-27", "version": "1", "page": "1-2", "url": "https://fnet.bmfbovespa.com.br/fnet/publico/visualizarDocumento?id=1148821", "sha256": "86900e9dd498403696bfffbd4196443c83ec4d51ff21135e073c1966e1adf4c0"}, {"document_id": "1143317", "title": "Regulamento", "reference_date": "2026-03-20", "version": "1", "page": 16, "clause": "7.2", "url": "https://fnet.bmfbovespa.com.br/fnet/publico/visualizarDocumento?id=1143317", "sha256": "32f62818d51c3ebeaf9ec012d3d7867f15c1aed6d10f0867c157a290df1cea48"}], "reference": {"path": "history/62696791000193.json", "criterion_id": "quota_classes", "total_count": 2, "preview_count": 2, "full_text_deferred": true, "sha256": "0e9ec199848320ec945708123ae0cb6075d76c05d94beed814d582031d353926"}}</a:t>
            </a:r>
          </a:p>
          <a:p>
            <a:r>
              <a:t>CNPJ 55563624000109 · Classes e séries de cotas · Regulamento · ID 1192614 · 2026-04-30 · versão 1 · p. 40 · https://fnet.bmfbovespa.com.br/fnet/publico/visualizarDocumento?id=1192614</a:t>
            </a:r>
          </a:p>
          <a:p>
            <a:r>
              <a:t>CNPJ 55563624000109 · Classes e séries de cotas · Excerto da fonte:</a:t>
            </a:r>
          </a:p>
          <a:p>
            <a:r>
              <a:t>(xxiv) Subordinação de determinadas Cotas da Classe Investida a outras subclasses ou séries de  cotas das Classes Investidas aos quais pertencem. A Classe Investida adquirirá apenas cotas  subordinadas mezaninos da Classe Investida, as quais se subordinam às cotas seniores da Classe  Investida para efeitos de resgate. Os resgates de cotas subordinadas mezanino tipicamente têm sua  realização condicionada ainda à manutenção da razão de garantia e à existência de disponibilidades  da Classe Investida. O ADMINISTRADOR, o GESTOR e o CUSTODIANTE e suas respectivas partes  relacionadas, encontram-se impossibilitados de assegurar que a amortização e o resgate das cotas  subordinadas mezanino da Classe Investida que venham a ser adquiridas pela Classe ocorrerão nas  datas originalmente previstas, sendo que, caso tais amortizações e/ou resgates não ocorram, não será  devido pelo FUNDO ou qualquer pessoa, incluindo o ADMINISTRADOR, o GESTOR e o CUSTODIANTE,  do FUNDO ou da Classe Investida qualquer multa ou penalidade, de qualquer natureza. O não resgate  de cotas subordinadas mezanino da Classe Investida detidas pela Classe poderá impactar  negativamente no fluxo de pagamento de resgate da Classe e/ou no valor patrimonial das Cotas da  Classe.</a:t>
            </a:r>
          </a:p>
          <a:p>
            <a:r>
              <a:t>CNPJ 55563624000109 · Classes e séries de cotas · Regulamento · ID 1192614 · 2026-04-30 · versão 1 · p. 31 · 15.1.1 · https://fnet.bmfbovespa.com.br/fnet/publico/visualizarDocumento?id=1192614</a:t>
            </a:r>
          </a:p>
          <a:p>
            <a:r>
              <a:t>CNPJ 55563624000109 · Classes e séries de cotas · Excerto da fonte:</a:t>
            </a:r>
          </a:p>
          <a:p>
            <a:r>
              <a:t>15.1.1 Riscos de Crédito:</a:t>
            </a:r>
          </a:p>
          <a:p>
            <a:r>
              <a:t> (i) Risco de concentração na Classe Investida. Nos termos do presente Regulamento, a Classe  deverá manter alocado, no mínimo, 67% (sessenta e sete por cento) do Patrimônio Líquido nas Cotas  da Classe Investida. Alterações na condição econômico-financeira e na expectativa de desempenho ou  resultados da Classe Investida poderão, isolada ou cumulativamente, afetar negativamente o  rendimento do investimento nas Cotas, de forma mais severa do que se a Classe adotasse uma  estratégia de investimento de maior diversificação. O risco associado às aplicações de qualquer fundo  de investimento é diretamente proporcional à concentração da sua carteira, sendo que, quanto maior  essa concentração, maior será a sua vulnerabilidade.</a:t>
            </a:r>
          </a:p>
          <a:p>
            <a:r>
              <a:t> (ii) Risco relativo à Classe Investida. Nos termos deste Anexo, a Classe deverá manter alocado, no  mínimo, 67% (sessenta e sete por cento) do Patrimônio Líquido em Cotas da Classe Investida. Os  investimentos realizados pela Classe Investida poderão estar sujeitos a flutuações típicas do mercado,  risco de crédito, risco sistêmico, condições adversas de liquidez e negociação atípica nos mercados de  atuação, bem como outros riscos diversos. Este Anexo não contém a descrição de todas as  características, incluindo os riscos, da Classe Investida.</a:t>
            </a:r>
          </a:p>
          <a:p>
            <a:r>
              <a:t> (iii) Risco Relativo ao Pagamento de Encargos da Classe Investida. Tendo em vista a estrutura da  Classe Investida – que emitiu cotas sêniores, cotas subordinadas mezanino e cotas subordinadas júnior  – em situação ordinária os encargos da Classe Investida são arcados pelas cotas subordinadas júnior,  que se subordinam às cotas subordinadas mezanino e às cotas sêniores para fins de amortização,  resgate e distribuição de rendimentos, não impactando, portanto, as Cotas da Classe Investida. Não  obstante o funcionamento da Classe Investida em situação ordinária, em cenários extraordinários, na  eventualidade do valor das cotas subordinadas júnior ficar reduzido a zero ou a valor negativo, os  encargos da Classe Investida conforme previstos em seu regulamento, inclusive mas não se limitando  as remunerações dos prestadores de serviços essenciais, passarão a ser arcados pelas cotas  subordinadas mezanino (que são as Cotas da Classe Investida), impactando no valor do investimento  da Classe na Classe Investida, e consequentemente, o investimento dos Cotistas na Classe.</a:t>
            </a:r>
          </a:p>
          <a:p>
            <a:r>
              <a:t> (iv) Riscos referentes à carteira da Classe Investida. Na forma do Anexo Normativo II da Resolução  CVM 175, a Classe Investida investe, direta ou indiretamente, no mínimo, 67% (sessenta e sete por  cento) do seu patrimônio em direitos creditórios originados pela Mercado Pago. O investimento em tais  direitos creditórios está sujeito a fatores de risco específicos, conforme detalhados no regulamento da  Classe Investida, incluindo, mas não se limitando a:</a:t>
            </a:r>
          </a:p>
          <a:p>
            <a:r>
              <a:t> (a) Risco de liquidez dos direitos creditórios. O investimento da Classe Investida em direitos  creditórios apresenta peculiaridades em relação às aplicações usuais da maioria dos  fundos de investimento brasileiros, haja vista que não existe, no Brasil, mercado  secundário com liquidez para tais direitos creditórios. Caso a Classe Investida precise  vender os direitos creditórios adquiridos, poderá não haver mercado comprador para  tais créditos, bem como o preço de alienação de tais direitos creditórios poderá refletir  essa falta de liquidez, causando perda ao patrimônio da Classe Investida e,  consequentemente, à Classe.</a:t>
            </a:r>
          </a:p>
          <a:p>
            <a:r>
              <a:t>CNPJ 55563624000109 · Classes e séries de cotas · AGE · ID 1192603 · 2026-04-30 · versão 1 · p. 1 · 4.1 · https://fnet.bmfbovespa.com.br/fnet/publico/visualizarDocumento?id=1192603</a:t>
            </a:r>
          </a:p>
          <a:p>
            <a:r>
              <a:t>CNPJ 55563624000109 · Classes e séries de cotas · Excerto da fonte:</a:t>
            </a:r>
          </a:p>
          <a:p>
            <a:r>
              <a:t>4.1. Aprovar a alteração do Anexo I da Classe Única para a reorganização do passivo de sua subclasse  única em novas subclasses, quais sejam, subclasse A (“Subclasse A”), subclasse B (“Subclasse B”) e  subclasse C (“Subclasse C” e, quando em conjunto com a Subclasse A e a Subclasse B, as “Subclasses”),  considerando que serão mantidas as condições de investimento originalmente pactuadas com os cotistas,  como critérios de aplicação, resgate, amortização e política de investimento da Classe Única, diferindo-  se, exclusivamente, em relação ao prazo de duração cada Subclasse.</a:t>
            </a:r>
          </a:p>
          <a:p>
            <a:r>
              <a:t>CNPJ 55563624000109 · Classes e séries de cotas · Condição: Documentos atuais selecionados no inventário por categoria/escopo; a data documental isolada não comprova vigência jurídica.</a:t>
            </a:r>
          </a:p>
          <a:p>
            <a:r>
              <a:t>CNPJ 55563624000109 · Classes e séries de cotas · Versão e prevalência: Documentos atuais selecionados no inventário por categoria/escopo; a data documental isolada não comprova vigência jurídica.</a:t>
            </a:r>
          </a:p>
          <a:p>
            <a:r>
              <a:t>CNPJ 55563624000109 · Classes e séries de cotas · Resumo do histórico: {"count": 3, "dates": ["2025-01-31", "2026-01-31", "2026-04-30"], "document_count": 3, "sources": [{"document_id": "1192614", "title": "Regulamento", "reference_date": "2026-04-30", "version": "1", "page": "15", "url": "https://fnet.bmfbovespa.com.br/fnet/publico/visualizarDocumento?id=1192614", "sha256": "f56e63ace0acde41d2f47fb48f1ac7f3f7df5e2d32de092d7c5e075a52516632"}, {"document_id": "1178840", "title": "Demonstrações Financeiras", "reference_date": "2026-01-31", "version": "1", "page": 25, "url": "https://fnet.bmfbovespa.com.br/fnet/publico/visualizarDocumento?id=1178840", "sha256": "c458e98664c5c907ddb5a05a94b120bed4e05295b2bfc420f5ba69af0a229abe"}, {"document_id": "891861", "title": "Demonstrações Financeiras", "reference_date": "2025-01-31", "version": "1", "page": 26, "url": "https://fnet.bmfbovespa.com.br/fnet/publico/visualizarDocumento?id=891861", "sha256": "e9cb9e6ddbe505fe068cfcac33605165a98313489de0d3ce6d4d238263c3f3e7"}], "reference": {"path": "history/55563624000109.json", "criterion_id": "quota_classes", "total_count": 3, "preview_count": 3, "full_text_deferred": true, "sha256": "7835d573fb58a3c19adf5b8ecc2aee2bdbb9a88f7a0c0209b5f262b64c7522e3"}}</a:t>
            </a:r>
          </a:p>
          <a:p>
            <a:r>
              <a:t>CNPJ 62552447000120 · Classes e séries de cotas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Classes e séries de cotas · Resumo do histórico: {"count": 1, "dates": ["2025-09-03"], "document_count": 1, "sources": [{"document_id": "988020", "title": "Instrumento Particular de Emissão de Cotas", "reference_date": "2025-09-03", "version": "1", "page": "5", "url": "https://fnet.bmfbovespa.com.br/fnet/publico/visualizarDocumento?id=988020", "sha256": "8ecc8a771bb9713d64e5fc2052c489664cb0433801a9280db68e5187d35bf7a5"}], "reference": {"path": "history/62552447000120.json", "criterion_id": "quota_classes", "total_count": 1, "preview_count": 1, "full_text_deferred": true, "sha256": "d95db8c0613d67ee84118c734588665265ea6b02f86a0318d6a844cbe1d0f82f"}}</a:t>
            </a:r>
          </a:p>
          <a:p>
            <a:r>
              <a:t>CNPJ 63953620000165 · Classes e séries de cotas · AGE · ID 1313935 · 2026-08-31 · versão 1 · p. 1 · 4.1 · https://fnet.bmfbovespa.com.br/fnet/publico/visualizarDocumento?id=1313935</a:t>
            </a:r>
          </a:p>
          <a:p>
            <a:r>
              <a:t>CNPJ 63953620000165 · Classes e séries de cotas · Excerto da fonte:</a:t>
            </a:r>
          </a:p>
          <a:p>
            <a:r>
              <a:t>4.1. Aprovar a realização da incorporação das parcelas cindidas descritas no Anexo I à presente ata (“Parcelas  Cindidas”), com base no fechamento de 28 de agosto de 2026 (“Data Base”), condicionada à aprovação da cisão  da CLASSE ÚNICA DO MT CONSIGNADO PRIVADO I FUNDO DE INVESTIMENTO EM DIREITOS CREDITÓRIOS  RESPONSABILIDADE LIMITADA, inscrita no CNPJ sob o nº 60.010.416/0001-12 (“Classe Cindida”), com a  subsequente incorporação da respectiva Parcela Cindida, emitindo-se cotas seniores da Classe, a serem  atribuídas integralmente aos cotistas da Classe Cindida, no valor da respectiva Parcela Cindida, na Data-Base, de  acordo com o valor das cotas da Classe na mesma data. A partir da Data Base, todos os direitos e obrigações dos  ativos cindidos serão sucedidos à Classe;</a:t>
            </a:r>
          </a:p>
          <a:p>
            <a:r>
              <a:t>CNPJ 63953620000165 · Classes e séries de cotas · Condição: Documentos atuais selecionados no inventário por categoria/escopo; a data documental isolada não comprova vigência jurídica.</a:t>
            </a:r>
          </a:p>
          <a:p>
            <a:r>
              <a:t>CNPJ 63953620000165 · Classes e séries de cotas · Versão e prevalência: Documentos atuais selecionados no inventário por categoria/escopo; a data documental isolada não comprova vigência jurídica.</a:t>
            </a:r>
          </a:p>
          <a:p>
            <a:r>
              <a:t>CNPJ 63953620000165 · Classes e séries de cotas · Resumo do histórico: {"count": 11, "dates": ["2026-07-29", "2026-08-17", "2026-08-21"], "document_count": 3, "sources": [{"document_id": "1309436", "title": "AGE", "reference_date": "2026-08-21", "version": "1", "page": 1, "clause": "4.1", "url": "https://fnet.bmfbovespa.com.br/fnet/publico/visualizarDocumento?id=1309436", "sha256": "f679de1621039dce7c665e3a742f213fd4d5047e12b96163b31ea4ae86f56817"}, {"document_id": "1298232", "title": "AGE", "reference_date": "2026-08-17", "version": "1", "page": 1, "clause": "4.1", "url": "https://fnet.bmfbovespa.com.br/fnet/publico/visualizarDocumento?id=1298232", "sha256": "75322e306547f725e73a2c6687b598e14d628caa84bd46a23508337a606866f6"}, {"document_id": "1277543", "title": "AGE", "reference_date": "2026-07-29", "version": "1", "page": 1, "url": "https://fnet.bmfbovespa.com.br/fnet/publico/visualizarDocumento?id=1277543", "sha256": "c2fb499fd6e25251a221d4e9dbb5d1378fb5efde5a58eee091868faf52d326c0"}], "reference": {"path": "history/63953620000165.json", "criterion_id": "quota_classes", "total_count": 11, "preview_count": 3, "full_text_deferred": true, "sha256": "a7b89077f5e21098c2d601c303faabc3ff6b9729f89d8afecdc60fe1404720c1"}}</a:t>
            </a:r>
          </a:p>
          <a:p>
            <a:r>
              <a:t>CNPJ 54871427000194 · Ofertas e colocação · AGE · ID 1055482 · 2025-12-02 · versão 1 · p. 1 · 4.1 · https://fnet.bmfbovespa.com.br/fnet/publico/visualizarDocumento?id=1055482</a:t>
            </a:r>
          </a:p>
          <a:p>
            <a:r>
              <a:t>CNPJ 54871427000194 · Ofertas e colocação · Excerto da fonte:</a:t>
            </a:r>
          </a:p>
          <a:p>
            <a:r>
              <a:t>4.1. Aprovar a nova emissão de Cotas pela Classe, todas nominativas e escriturais, com preço unitário de emissão  correspondente ao valor das Cotas da Classe em circulação quando na data de aprovação da Nova Emissão,  perfazendo o montante total de emissão de até R$ 650.000.000 (seiscentos e cinquenta milhões de reais), conforme  as características constantes do Regulamento e do Anexo da Classe (“Novas Cotas” e “Nova Emissão”,  respectivamente), e descritas abaixo:</a:t>
            </a:r>
          </a:p>
          <a:p>
            <a:r>
              <a:t>(i) Rito: as Novas Cotas não serão objeto de oferta pública, conforme facultado pelo artigo 8º, inciso IV, da  Resolução CVM nº 160, uma vez que a Classe se enquadra nos requisitos do referido dispositivo;</a:t>
            </a:r>
          </a:p>
          <a:p>
            <a:r>
              <a:t>(ii) Preço de Emissão: o preço unitário de emissão corresponderá ao valor das Cotas da Classe em circulação  quando na data de aprovação da Nova Emissão (“Preço de Emissão”);</a:t>
            </a:r>
          </a:p>
          <a:p>
            <a:r>
              <a:t>(iii) Preço de Integralização: o Preço de Integralização corresponderá ao valor das Cotas da Classe em  circulação quando da transferência dos valores para liquidação financeira (“Preço de Integralização”);</a:t>
            </a:r>
          </a:p>
          <a:p>
            <a:r>
              <a:t>(iv) Forma de Integralização: as Cotas serão integralizadas à vista, em moeda corrente nacional, pelo Preço  de Integralização, junto ao seu respectivo agente de custódia e/ou da Administradora na qualidade de  escriturador das cotas; e</a:t>
            </a:r>
          </a:p>
          <a:p>
            <a:r>
              <a:t>(v) Período de colocação: a subscrição das Cotas, objeto da Nova Emissão, deverão ser realizadas no prazo  máximo de 180 (cento e oitenta) dias, contados da data de efeitos do presente instrumento.</a:t>
            </a:r>
          </a:p>
          <a:p>
            <a:r>
              <a:t>CNPJ 54871427000194 · Ofertas e colocação · Condição: Trechos do documento específico identificado com data mais recente; vigência jurídica não inferida.</a:t>
            </a:r>
          </a:p>
          <a:p>
            <a:r>
              <a:t>CNPJ 54871427000194 · Ofertas e colocação · Versão e prevalência: Trechos do documento específico identificado com data mais recente; vigência jurídica não inferida.</a:t>
            </a:r>
          </a:p>
          <a:p>
            <a:r>
              <a:t>CNPJ 54871427000194 · Ofertas e colocação · Resumo do histórico: {"count": 7, "dates": ["2024-06-13", "2024-12-10"], "document_count": 3, "sources": [{"document_id": "798101", "title": "Anúncio de Encerramento", "reference_date": "2024-12-10", "version": "1", "page": "1-2", "url": "https://fnet.bmfbovespa.com.br/fnet/publico/visualizarDocumento?id=798101", "sha256": "71618c432ad86002484571d66922b873e4fa91ed3543a109134ddee0bd872f20"}, {"document_id": "679614", "title": "Anúncio de Início", "reference_date": "2024-06-13", "version": "1", "page": 1, "url": "https://fnet.bmfbovespa.com.br/fnet/publico/visualizarDocumento?id=679614", "sha256": "aad43ed14bfa0576144a306c466aea031fce0d01d3cb3de6aebd120f11164bfa"}, {"document_id": "683482", "title": "AGE", "reference_date": "2024-06-13", "version": "1", "page": 2, "url": "https://fnet.bmfbovespa.com.br/fnet/publico/visualizarDocumento?id=683482", "sha256": "3afbe254027691929935eaf19ebbb8634fb2ccd8e2fbea2cb2d81a7818f8d648"}], "reference": {"path": "history/54871427000194.json", "criterion_id": "offers", "total_count": 7, "preview_count": 3, "full_text_deferred": true, "sha256": "35d7cd99be50c7287c9fb675cf4f2e736002315295a225a9efa79c8d9186d874"}}</a:t>
            </a:r>
          </a:p>
          <a:p>
            <a:r>
              <a:t>CNPJ 60010416000112 · Ofertas e colocação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Ofertas e colocação · Resumo do histórico: {"count": 1, "dates": ["2025-03-20"], "document_count": 1, "sources": [{"document_id": "993785", "title": "Instrumento Particular de Constituição/Encerramento do Fundo", "reference_date": "2025-03-20", "version": "1", "page": "1-2", "url": "https://fnet.bmfbovespa.com.br/fnet/publico/visualizarDocumento?id=993785", "sha256": "0826e0eae2c51afabf59bbc49fc7647598d03da5ca6de0f9725850a8bd6af457"}], "reference": {"path": "history/60010416000112.json", "criterion_id": "offers", "total_count": 1, "preview_count": 1, "full_text_deferred": true, "sha256": "8e2bd813f4c51cf01f6bfaad164bafe69d2bbb192f753eac92da3a01c2e63046"}}</a:t>
            </a:r>
          </a:p>
          <a:p>
            <a:r>
              <a:t>CNPJ 62696791000193 · Ofertas e colocação · Regulamento · ID 1143317 · 2026-03-20 · versão 1 · p. 39 · 2.6 · https://fnet.bmfbovespa.com.br/fnet/publico/visualizarDocumento?id=1143317</a:t>
            </a:r>
          </a:p>
          <a:p>
            <a:r>
              <a:t>CNPJ 62696791000193 · Ofertas e colocação · Excerto da fonte:</a:t>
            </a:r>
          </a:p>
          <a:p>
            <a:r>
              <a:t>2.6. O valor de mercado das Cotas de emissão da Classe poderá sofrer oscilações frequentes e  significativas, inclusive ao longo do dia. Como consequência, o valor de mercado das cotas de  emissão da Classe poderá não ref letir necessariamente seu valor patrimonial. Não será devida  pela Classe ou por qualquer pessoa, incluindo as instituições responsáveis pela distribuição  das cotas, os demais Cotistas da Classe, o Administrador e as instituições participantes da  of erta, qualquer multa ou penalidade de qualquer natureza, caso ocorra, por qualquer razão,</a:t>
            </a:r>
          </a:p>
          <a:p>
            <a:r>
              <a:t> (i) o alongamento do período de amortização das Cotas; (ii) a liquidação da Classe; ou, ainda,</a:t>
            </a:r>
          </a:p>
          <a:p>
            <a:r>
              <a:t> (iii) caso os Cotistas sof ram qualquer dano ou prejuízo resultante de tais eventos.</a:t>
            </a:r>
          </a:p>
          <a:p>
            <a:r>
              <a:t>3. Risco TributárioOs rendimentos e ganhos líquidos auf eridos pela Classe em aplicações f inanceiras de  renda f ixa ou de renda variável sujeitam-se à incidência do imposto de renda na f onte, observadas as  mesmas normas aplicáveis às pessoas jurídicas, podendo esse imposto ser compensado com o retido na  f onte pela Classe quando da distribuição de rendimentos e ganhos de capital aos Cotistas. Os rendimentos  auf eridos pela Classe, quando distribuídos aos Cotistas sujeitam-se à incidência do Imposto de Renda na  f onte à alíquota de 20% (vinte por cento). Os rendimentos e ganhos de capital auferidos pelos Cotistas na</a:t>
            </a:r>
          </a:p>
          <a:p>
            <a:r>
              <a:t>CNPJ 62696791000193 · Ofertas e colocação · Regulamento · ID 1143317 · 2026-03-20 · versão 1 · p. 28 · https://fnet.bmfbovespa.com.br/fnet/publico/visualizarDocumento?id=1143317</a:t>
            </a:r>
          </a:p>
          <a:p>
            <a:r>
              <a:t>CNPJ 62696791000193 · Ofertas e colocação · Excerto da fonte:</a:t>
            </a:r>
          </a:p>
          <a:p>
            <a:r>
              <a:t>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equivalente a 0,9% (nove décimos  por cento) ao ano aplicado sobre o Patrimônio Anexo I ao  Regulamento Líquido, observado o limite máximo de 4,5% (quatro  inteiros e cinquenta centésimos por cento) do volume captado na  respectiva oferta (“Taxa Máxima de Distribuição”).A Taxa Máxima de</a:t>
            </a:r>
          </a:p>
          <a:p>
            <a:r>
              <a:t>CNPJ 62696791000193 · Ofertas e colocação · Condição: Documentos atuais selecionados no inventário por categoria/escopo; a data documental isolada não comprova vigência jurídica.</a:t>
            </a:r>
          </a:p>
          <a:p>
            <a:r>
              <a:t>CNPJ 62696791000193 · Ofertas e colocação · Versão e prevalência: Documentos atuais selecionados no inventário por categoria/escopo; a data documental isolada não comprova vigência jurídica.</a:t>
            </a:r>
          </a:p>
          <a:p>
            <a:r>
              <a:t>CNPJ 62696791000193 · Ofertas e colocação · Resumo do histórico: {"count": 1, "dates": ["2026-03-27"], "document_count": 1, "sources": [{"document_id": "1148821", "title": "Instrumento Particular de Emissão de Cotas", "reference_date": "2026-03-27", "version": "1", "page": "1-3", "url": "https://fnet.bmfbovespa.com.br/fnet/publico/visualizarDocumento?id=1148821", "sha256": "86900e9dd498403696bfffbd4196443c83ec4d51ff21135e073c1966e1adf4c0"}], "reference": {"path": "history/62696791000193.json", "criterion_id": "offers", "total_count": 1, "preview_count": 1, "full_text_deferred": true, "sha256": "0e9ec199848320ec945708123ae0cb6075d76c05d94beed814d582031d353926"}}</a:t>
            </a:r>
          </a:p>
          <a:p>
            <a:r>
              <a:t>CNPJ 55563624000109 · Ofertas e colocação · Regulamento · ID 1192614 · 2026-04-30 · versão 1 · p. 25 · 12.9 · https://fnet.bmfbovespa.com.br/fnet/publico/visualizarDocumento?id=1192614</a:t>
            </a:r>
          </a:p>
          <a:p>
            <a:r>
              <a:t>CNPJ 55563624000109 · Ofertas e colocação · Excerto da fonte:</a:t>
            </a:r>
          </a:p>
          <a:p>
            <a:r>
              <a:t>12.9 Inclui-se entre as obrigações do GESTOR, contratar, em nome da Classe, se necessário, com terceiros  devidamente habilitados e autorizados, os serviços de distribuição das Cotas. A distribuição pública das Cotas  deverá ser realizada por distribuidores devidamente autorizados pela CVM, nos termos da regulamentação  aplicável.</a:t>
            </a:r>
          </a:p>
          <a:p>
            <a:r>
              <a:t>CNPJ 55563624000109 · Ofertas e colocação · Condição: Documentos atuais selecionados no inventário por categoria/escopo; a data documental isolada não comprova vigência jurídica.</a:t>
            </a:r>
          </a:p>
          <a:p>
            <a:r>
              <a:t>CNPJ 55563624000109 · Ofertas e colocação · Versão e prevalência: Documentos atuais selecionados no inventário por categoria/escopo; a data documental isolada não comprova vigência jurídica.</a:t>
            </a:r>
          </a:p>
          <a:p>
            <a:r>
              <a:t>CNPJ 55563624000109 · Ofertas e colocação · Resumo do histórico: {"count": 3, "dates": ["2024-07-03"], "document_count": 3, "sources": [{"document_id": "703295", "title": "Anúncio de Início", "reference_date": "2024-07-03", "version": "2", "page": 1, "url": "https://fnet.bmfbovespa.com.br/fnet/publico/visualizarDocumento?id=703295", "sha256": "12322b6dbf75e673723bd60910373db249451b72666792e18e0c7b6128f4608a"}, {"document_id": "702585", "title": "Anúncio de Início", "reference_date": "2024-07-03", "version": "1", "page": 1, "url": "https://fnet.bmfbovespa.com.br/fnet/publico/visualizarDocumento?id=702585", "sha256": "6708609ac7f0611118fb23ffd6d2cd6c7fd33275130407918ea42831baa712cd"}, {"document_id": "691674", "title": "Instrumento Particular de Emissão de Cotas", "reference_date": "2024-07-03", "version": "1", "page": 3, "url": "https://fnet.bmfbovespa.com.br/fnet/publico/visualizarDocumento?id=691674", "sha256": "78bf7b350f1785beae5f43bd209b5ed19e863cb9a2cff01542aac11dd63ca554"}], "reference": {"path": "history/55563624000109.json", "criterion_id": "offers", "total_count": 3, "preview_count": 3, "full_text_deferred": true, "sha256": "7835d573fb58a3c19adf5b8ecc2aee2bdbb9a88f7a0c0209b5f262b64c7522e3"}}</a:t>
            </a:r>
          </a:p>
          <a:p>
            <a:r>
              <a:t>CNPJ 62552447000120 · Ofertas e colocação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Ofertas e colocação · Resumo do histórico: {"count": 1, "dates": ["2025-09-03"], "document_count": 1, "sources": [{"document_id": "988020", "title": "Instrumento Particular de Emissão de Cotas", "reference_date": "2025-09-03", "version": "1", "page": "5-6", "url": "https://fnet.bmfbovespa.com.br/fnet/publico/visualizarDocumento?id=988020", "sha256": "8ecc8a771bb9713d64e5fc2052c489664cb0433801a9280db68e5187d35bf7a5"}], "reference": {"path": "history/62552447000120.json", "criterion_id": "offers", "total_count": 1, "preview_count": 1, "full_text_deferred": true, "sha256": "d95db8c0613d67ee84118c734588665265ea6b02f86a0318d6a844cbe1d0f82f"}}</a:t>
            </a:r>
          </a:p>
          <a:p>
            <a:r>
              <a:t>CNPJ 63953620000165 · Ofertas e colocação · Anexo ao Regulamento · ID 1222863 · 2026-06-02 · versão 1 · p. 10 · 6.9 · https://fnet.bmfbovespa.com.br/fnet/publico/visualizarDocumento?id=1222863</a:t>
            </a:r>
          </a:p>
          <a:p>
            <a:r>
              <a:t>CNPJ 63953620000165 · Ofertas e colocação · Excerto da fonte:</a:t>
            </a:r>
          </a:p>
          <a:p>
            <a:r>
              <a:t>6.9 As Cotas poderão ser objeto de oferta pública a ser realizada nos termos da Resolução CVM 160 (“Oferta”) e/ou  poderão ser colocadas de forma privada (“Colocação Privada”), bem como segundo outros ritos que venham a  ser previstos pela regulamentação. As Cotas deverão ser emitidas e subscritas dentro do prazo e nos termos e  condições da legislação aplicável, do presente Anexo e dos respectivos Boletins de Subscrição e/ou  Compromissos de Investimento.</a:t>
            </a:r>
          </a:p>
          <a:p>
            <a:r>
              <a:t>CNPJ 63953620000165 · Ofertas e colocação · Condição: Documentos atuais selecionados no inventário por categoria/escopo; a data documental isolada não comprova vigência jurídica.</a:t>
            </a:r>
          </a:p>
          <a:p>
            <a:r>
              <a:t>CNPJ 63953620000165 · Ofertas e colocação · Versão e prevalência: Documentos atuais selecionados no inventário por categoria/escopo; a data documental isolada não comprova vigência jurídica.</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Emissões e custos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Remuneração por subclasse e série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Remuneração por subclasse e série · Resumo do histórico: {"count": 1, "dates": ["2024-04-28"], "document_count": 1, "sources": [{"document_id": "670691", "title": "Regulamento", "reference_date": "2024-04-28", "version": "1", "page": "14", "url": "https://fnet.bmfbovespa.com.br/fnet/publico/visualizarDocumento?id=670691", "sha256": "bf16dd7f1a62d5cdbf2e2d54fef81783783f7310fbc99c3a8f00459bdf9d037b"}], "reference": {"path": "history/54871427000194.json", "criterion_id": "remuneration", "total_count": 1, "preview_count": 1, "full_text_deferred": true, "sha256": "35d7cd99be50c7287c9fb675cf4f2e736002315295a225a9efa79c8d9186d874"}}</a:t>
            </a:r>
          </a:p>
          <a:p>
            <a:r>
              <a:t>CNPJ 60010416000112 · Remuneração por subclasse e série · Instrumento Particular de Constituição/Encerramento do Fundo · ID 993785 · 20/03/2025 · versão 1ªemissão20/03/2025 · p. 5 · Suplemento1ªsênior BenchmarkSênior · https://fnet.bmfbovespa.com.br/fnet/publico/visualizarDocumento?id=993785</a:t>
            </a:r>
          </a:p>
          <a:p>
            <a:r>
              <a:t>CNPJ 60010416000112 · Remuneração por subclasse e série · Excerto da fonte:</a:t>
            </a:r>
          </a:p>
          <a:p>
            <a:r>
              <a:t>4,80% (quatro inteiros e oitenta centésimos por cento)calculado por Dia Útil à base de 1/252 (um inteiro e duzentos e cinquenta e dois avos); e (ii) “Benchmark Sênior Adicional”: o parâmetro adicional de rentabilidade a ser buscado pela Classe para remunerar as Cotas Seniores, correspondente 15,00% (quinze por cento) do excesso de spread das Cotas Subordinadas com cap de remuneração total das Cotas Seniores pela variação do CDI acrescido de 6,00% (seis por cento</a:t>
            </a:r>
          </a:p>
          <a:p>
            <a:r>
              <a:t>CNPJ 60010416000112 · Remuneração por subclasse e série · Condição: Termo específico da primeira emissão de 20/03/2025, distinto de taxa deperformance e do suplemento modelo com campos não preenchidos do regulamento.</a:t>
            </a:r>
          </a:p>
          <a:p>
            <a:r>
              <a:t>CNPJ 60010416000112 · Remuneração por subclasse e série · Versão e prevalência: Leitura específica das cláusulas indicadas; condições e conflitos preservados. Seleção documental atual não comprova vigência jurídica por data isolada.</a:t>
            </a:r>
          </a:p>
          <a:p>
            <a:r>
              <a:t>CNPJ 60010416000112 · Remuneração por subclasse e série · Resumo do histórico: {"count": 3, "dates": ["2025-03-20", "2025-05-12"], "document_count": 2, "sources": [{"document_id": "1004656", "title": "AGE", "reference_date": "2025-05-12", "version": "1", "page": 5, "url": "https://fnet.bmfbovespa.com.br/fnet/publico/visualizarDocumento?id=1004656", "sha256": "f6c9c009f6170e2b29f074b98522accec73f0c40efbf11f9ec2c8d3f1402616b"}, {"document_id": "993785", "title": "Instrumento Particular de Constituição/Encerramento do Fundo", "reference_date": "2025-03-20", "version": "1", "page": "4-5", "url": "https://fnet.bmfbovespa.com.br/fnet/publico/visualizarDocumento?id=993785", "sha256": "0826e0eae2c51afabf59bbc49fc7647598d03da5ca6de0f9725850a8bd6af457"}, {"document_id": "993785", "title": "Instrumento Particular de Constituição/Encerramento do Fundo", "reference_date": "2025-03-20", "version": "1", "page": 5, "url": "https://fnet.bmfbovespa.com.br/fnet/publico/visualizarDocumento?id=993785", "sha256": "0826e0eae2c51afabf59bbc49fc7647598d03da5ca6de0f9725850a8bd6af457"}], "reference": {"path": "history/60010416000112.json", "criterion_id": "remuneration", "total_count": 3, "preview_count": 3, "full_text_deferred": true, "sha256": "8e2bd813f4c51cf01f6bfaad164bafe69d2bbb192f753eac92da3a01c2e63046"}}</a:t>
            </a:r>
          </a:p>
          <a:p>
            <a:r>
              <a:t>CNPJ 62696791000193 · Remuneração por subclasse e série · Regulamento · ID 1143317 · 20/03/2026 · versão Regulamento — referência 20/03/2026 · p. 33 · Apêndice Sênior, 1.2 e 1.4 · https://fnet.bmfbovespa.com.br/fnet/publico/visualizarDocumento?id=1143317</a:t>
            </a:r>
          </a:p>
          <a:p>
            <a:r>
              <a:t>CNPJ 62696791000193 · Remuneração por subclasse e série · Excerto da fonte:</a:t>
            </a:r>
          </a:p>
          <a:p>
            <a:r>
              <a:t>1.2. As Cotas Seniores poderão ser divididas em séries com valores e prazos diferenciados para amortização, resgate e remuneração, sendo que cada série terá as mesmas características e conf erirá a seus titulares iguais direitos e obrigações nos termos deste Reg ulamento e do Apêndice ref erente a cada emissão/série de Cotas Seniores. 1.2. Benchmark. A Classe buscará atingir, para as Cotas Seniores, o “Benchmark”, correspondente à 100% (cem por cento) da variação positiva do CDI acrescida de 4,5% (quatro inteiros e cinco décimos por cento) ao ano. 1.3. O Benchmark não representa e nem devem ser considerados uma promessa, garantia ou sugestão de rentabilidade aos Cotistas Seniores, por parte da Classe, do Administrador, do Gestor e/ou do Cedente. 1.4. Independentemente do valor do Patrimônio Líquido da Classe, os Cotistas detentores de Cotas Seniores não f arão jus a uma rentabilidade superior ao Benchmark, o qual representará o limite máximo de remuneração possível para as Cotas Seniores. 2. Emissão, Subscrição e Integralização das Cotas 2.1. A Classe poderá emitir múltiplas Séries de Cotas Seniores, ficando ressalvado, no entanto, que cada nova Série de Cotas Seniores a ser emitida pela Classe</a:t>
            </a:r>
          </a:p>
          <a:p>
            <a:r>
              <a:t>CNPJ 62696791000193 · Remuneração por subclasse e série · Regulamento · ID 1143317 · 20/03/2026 · versão Regulamento — referência 20/03/2026 · p. 34 · Apêndice Sênior, 6.2 · https://fnet.bmfbovespa.com.br/fnet/publico/visualizarDocumento?id=1143317</a:t>
            </a:r>
          </a:p>
          <a:p>
            <a:r>
              <a:t>CNPJ 62696791000193 · Remuneração por subclasse e série · Excerto da fonte:</a:t>
            </a:r>
          </a:p>
          <a:p>
            <a:r>
              <a:t>6.2. Em complemento às Amortizações Programadas de Cotas Seniores, os Cotistas Seniores f arão jus, sempre que o Patrimônio Líquido da Classe assim permita e desde que o Valor Unitário das Cotas Seniores esteja superior ao valor de integralização das Cotas Seniores em circulação, a 50% (cinquenta por cento) de qualquer valor que exceder a Amortização das Cotas Subordinadas, conforme prevista no Apêndice da Subclasse Subordinada, a ser paga na Data de Amortização Programada de Cotas Seniores (“Amortização Extraordinária de Cotas Seniores”). 6.3. Os pagamentos das parcelas de Amortização e/ou de resgate das Cotas Seniores serão ef etuados, em moeda corrente nacional, pelo Valor Unitário das Cotas Seniores no dia do pagamento, calculado na forma descrita neste Apêndice e no Anexo I, por meio de depósito em conta de titularidade dos Cotistas titulares BTG Pactual 2 SAC: 0800 772 28 27 - Ouvidoria: 0800 722 00 48 - btgpactual.com</a:t>
            </a:r>
          </a:p>
          <a:p>
            <a:r>
              <a:t>CNPJ 62696791000193 · Remuneração por subclasse e série · Regulamento · ID 1143317 · 20/03/2026 · versão Regulamento — referência 20/03/2026 · p. 37 · Apêndice Júnior, 4.1–4.2 · https://fnet.bmfbovespa.com.br/fnet/publico/visualizarDocumento?id=1143317</a:t>
            </a:r>
          </a:p>
          <a:p>
            <a:r>
              <a:t>CNPJ 62696791000193 · Remuneração por subclasse e série · Excerto da fonte:</a:t>
            </a:r>
          </a:p>
          <a:p>
            <a:r>
              <a:t>4.1. Caso o Patrimônio Líquido da Classe assim permita, as Cotas Subordinadas f arão jus à amortização semestral, no último Dia Útil dos meses de janeiro e julho de cada ano, de valor equivalente ao excedente do valor de integralização das Cotas Subordinadas em circulação, limitado ao percentual de 100% (cem por cento) da variação positiva do CDI acrescida de 4,50% (quatro inteiros e cinco décimos por cento) ao ano, considerando, para tanto a razão entre (i) o valor de integralização das Cotas Subordinadas Júnior em circulação e (ii) o valor de cada uma das Cotas Subordinadas, a ser paga na Data de Amortização Programada de Cotas Seniores (“Amortização das Cotas Subordinadas”). 4.2. Em complemento às Amortizações das Cotas Subordinadas, os Cotistas Subordinados farão jus, sempre que o Patrimônio Líquido da Classe assim permita e desde que o Valor Unitário das Cotas Subordinadas esteja superior ao valor de integralização das Cotas Subordinadas em circulação, a 50% (cinquenta por cento) de qualquer valor que exceder a Amortização das Cotas Subordinadas, a ser paga na Data de Amortização Programada de Cotas Seniores (“Amortização Extraordinária de Cotas Seniores”). 5. Excesso de Subordinação 5.1. Verif icado excesso de subordinação,</a:t>
            </a:r>
          </a:p>
          <a:p>
            <a:r>
              <a:t>CNPJ 62696791000193 · Remuneração por subclasse e série · Condição: Benchmark é regra de atribuição, condicionado ao PL/resultados, sem garantia de rentabilidade. A subclasse mezanino é autorizada, mas não há apêndice mezanino no PDF consolidado obtido.</a:t>
            </a:r>
          </a:p>
          <a:p>
            <a:r>
              <a:t>CNPJ 62696791000193 · Remuneração por subclasse e série · Versão e prevalência: Leitura específica das cláusulas indicadas; condições e conflitos preservados. Seleção documental atual não comprova vigência jurídica por data isolada.</a:t>
            </a:r>
          </a:p>
          <a:p>
            <a:r>
              <a:t>CNPJ 62696791000193 · Remuneração por subclasse e série · Resumo do histórico: {"count": 1, "dates": ["2026-03-27"], "document_count": 1, "sources": [{"document_id": "1148821", "title": "Instrumento Particular de Emissão de Cotas", "reference_date": "2026-03-27", "version": "1", "page": "1-2", "url": "https://fnet.bmfbovespa.com.br/fnet/publico/visualizarDocumento?id=1148821", "sha256": "86900e9dd498403696bfffbd4196443c83ec4d51ff21135e073c1966e1adf4c0"}], "reference": {"path": "history/62696791000193.json", "criterion_id": "remuneration", "total_count": 1, "preview_count": 1, "full_text_deferred": true, "sha256": "0e9ec199848320ec945708123ae0cb6075d76c05d94beed814d582031d353926"}}</a:t>
            </a:r>
          </a:p>
          <a:p>
            <a:r>
              <a:t>CNPJ 55563624000109 · Remuneração por subclasse e série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Remuneração por subclasse e série · Resumo do histórico: {"count": 1, "dates": ["2026-04-30"], "document_count": 1, "sources": [{"document_id": "1192614", "title": "Regulamento", "reference_date": "2026-04-30", "version": "1", "page": "16-17", "url": "https://fnet.bmfbovespa.com.br/fnet/publico/visualizarDocumento?id=1192614", "sha256": "f56e63ace0acde41d2f47fb48f1ac7f3f7df5e2d32de092d7c5e075a52516632"}], "reference": {"path": "history/55563624000109.json", "criterion_id": "remuneration", "total_count": 1, "preview_count": 1, "full_text_deferred": true, "sha256": "7835d573fb58a3c19adf5b8ecc2aee2bdbb9a88f7a0c0209b5f262b64c7522e3"}}</a:t>
            </a:r>
          </a:p>
          <a:p>
            <a:r>
              <a:t>CNPJ 62552447000120 · Remuneração por subclasse e série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Remuneração por subclasse e série · Resumo do histórico: {"count": 1, "dates": ["2025-09-03"], "document_count": 1, "sources": [{"document_id": "988020", "title": "Instrumento Particular de Emissão de Cotas", "reference_date": "2025-09-03", "version": "1", "page": "5-6", "url": "https://fnet.bmfbovespa.com.br/fnet/publico/visualizarDocumento?id=988020", "sha256": "8ecc8a771bb9713d64e5fc2052c489664cb0433801a9280db68e5187d35bf7a5"}], "reference": {"path": "history/62552447000120.json", "criterion_id": "remuneration", "total_count": 1, "preview_count": 1, "full_text_deferred": true, "sha256": "d95db8c0613d67ee84118c734588665265ea6b02f86a0318d6a844cbe1d0f82f"}}</a:t>
            </a:r>
          </a:p>
          <a:p>
            <a:r>
              <a:t>CNPJ 63953620000165 · Remuneração por subclasse e série · Anexo ao Regulamento · ID 1222863 · 2026-06-02 · versão 1 · p. 22 · 1.2 · https://fnet.bmfbovespa.com.br/fnet/publico/visualizarDocumento?id=1222863</a:t>
            </a:r>
          </a:p>
          <a:p>
            <a:r>
              <a:t>CNPJ 63953620000165 · Remuneração por subclasse e série · Excerto da fonte:</a:t>
            </a:r>
          </a:p>
          <a:p>
            <a:r>
              <a:t>1.2. Benchmark Sênior. A Classe buscará atingir, para as Cotas Seniores, o Benchmark Sênior, qual seja, (a) para a parcela  do Patrimônio Líquido alocado em Direitos Creditórios Consignado Privado e/ou Ativos de Liquidez MT, a variação  positiva do CDI acrescida de 1,50% (um inteiro e cinco décimos por cento) ao ano, (b) para a parcela do Patrimônio  Líquido alocado em Ativos de Liquidez e/ou Direitos Creditórios TVM, a variação positiva do CDI.</a:t>
            </a:r>
          </a:p>
          <a:p>
            <a:r>
              <a:t>CNPJ 63953620000165 · Remuneração por subclasse e série · Anexo ao Regulamento · ID 1222863 · 2026-06-02 · versão 1 · p. 22 · 1.5 · https://fnet.bmfbovespa.com.br/fnet/publico/visualizarDocumento?id=1222863</a:t>
            </a:r>
          </a:p>
          <a:p>
            <a:r>
              <a:t>CNPJ 63953620000165 · Remuneração por subclasse e série · Excerto da fonte:</a:t>
            </a:r>
          </a:p>
          <a:p>
            <a:r>
              <a:t>1.5. Rentabilidade Adicional Sênior. Adicionalmente ao Benchmark Sênior, as Cotas Seniores efetivamente integralizadas  farão jus a uma rentabilidade adicional equivalente a 0,38% (trinta e oito centésimos por cento) incidente sobre o  montante financeiro integralizado pelo respectivo Cotista das Cotas Seniores (“Rentabilidade Adicional Sênior”), a  ser paga a cada Cotista Sênior, em uma única parcela, em até 40 (quarenta) dias corridos após a integralização das  respectivas Cotas Seniores, sendo automaticamente ajustada em caso de alteração da alíquota ou da forma de  incidência do IOF, e deixando de ser devida na hipótese de sua extinção.</a:t>
            </a:r>
          </a:p>
          <a:p>
            <a:r>
              <a:t> 2. Emissão, Subscrição e Integralização das Cotas</a:t>
            </a:r>
          </a:p>
          <a:p>
            <a:r>
              <a:t>CNPJ 63953620000165 · Remuneração por subclasse e série · Condição: Documentos atuais selecionados no inventário por categoria/escopo; a data documental isolada não comprova vigência jurídica.</a:t>
            </a:r>
          </a:p>
          <a:p>
            <a:r>
              <a:t>CNPJ 63953620000165 · Remuneração por subclasse e série · Versão e prevalência: Documentos atuais selecionados no inventário por categoria/escopo; a data documental isolada não comprova vigência jurídica.</a:t>
            </a:r>
          </a:p>
          <a:p>
            <a:r>
              <a:t>CNPJ 54871427000194 · Volume, VNU e emissão · Anúncio de Encerramento · ID 798101 · 2024-12-10 · versão 1 · p. 1 · https://fnet.bmfbovespa.com.br/fnet/publico/visualizarDocumento?id=798101</a:t>
            </a:r>
          </a:p>
          <a:p>
            <a:r>
              <a:t>CNPJ 54871427000194 · Volume, VNU e emissão · Excerto da fonte:</a:t>
            </a:r>
          </a:p>
          <a:p>
            <a:r>
              <a:t>Informações da Oferta  Valor Bruto da 2ª Quantidade de Cotas  Preço de Emissão da Cota  Emissão emitidas  R$ 55.000.000,00 55.000 R$ 1.000,00</a:t>
            </a:r>
          </a:p>
          <a:p>
            <a:r>
              <a:t>CNPJ 54871427000194 · Volume, VNU e emissão · Condição: Trechos do documento específico identificado com data mais recente; vigência jurídica não inferida.</a:t>
            </a:r>
          </a:p>
          <a:p>
            <a:r>
              <a:t>CNPJ 54871427000194 · Volume, VNU e emissão · Versão e prevalência: Trechos do documento específico identificado com data mais recente; vigência jurídica não inferida.</a:t>
            </a:r>
          </a:p>
          <a:p>
            <a:r>
              <a:t>CNPJ 54871427000194 · Volume, VNU e emissão · Resumo do histórico: {"count": 5, "dates": ["2024-06-11", "2024-06-13", "2024-12-10"], "document_count": 3, "sources": [{"document_id": "798101", "title": "Anúncio de Encerramento", "reference_date": "2024-12-10", "version": "1", "page": "1-2", "url": "https://fnet.bmfbovespa.com.br/fnet/publico/visualizarDocumento?id=798101", "sha256": "71618c432ad86002484571d66922b873e4fa91ed3543a109134ddee0bd872f20"}, {"document_id": "683482", "title": "AGE", "reference_date": "2024-06-13", "version": "1", "page": 1, "clause": "4.1", "url": "https://fnet.bmfbovespa.com.br/fnet/publico/visualizarDocumento?id=683482", "sha256": "3afbe254027691929935eaf19ebbb8634fb2ccd8e2fbea2cb2d81a7818f8d648"}, {"document_id": "677544", "title": "Anúncio de Encerramento", "reference_date": "2024-06-11", "version": "1", "page": 1, "url": "https://fnet.bmfbovespa.com.br/fnet/publico/visualizarDocumento?id=677544", "sha256": "5735adc30829e0e91623167d4fd602de01adb236e3d3e758bddb0a375c7067b1"}], "reference": {"path": "history/54871427000194.json", "criterion_id": "issue_volume", "total_count": 5, "preview_count": 3, "full_text_deferred": true, "sha256": "35d7cd99be50c7287c9fb675cf4f2e736002315295a225a9efa79c8d9186d874"}}</a:t>
            </a:r>
          </a:p>
          <a:p>
            <a:r>
              <a:t>CNPJ 60010416000112 · Volume, VNU e emissão · AGE · ID 1049114 · 2025-11-26 · versão 1 · p. 2 · https://fnet.bmfbovespa.com.br/fnet/publico/visualizarDocumento?id=1049114</a:t>
            </a:r>
          </a:p>
          <a:p>
            <a:r>
              <a:t>CNPJ 60010416000112 · Volume, VNU e emissão · Excerto da fonte:</a:t>
            </a:r>
          </a:p>
          <a:p>
            <a:r>
              <a:t>Este instrumento constitui o suplemento nº 3 (“Suplemento”) referente à 1ª emissão de cotas da Série B  da Subclasse Sênior da CLASSE ÚNICA DO MT CONSIGNADO PRIVADO I FUNDO DE  INVESTIMENTO EM DIREITOS CREDITÓRIOS RESPONSABILIDADE LIMITADA (“Classe” e  “FUNDO”, respectivamente), administrado pela BTG Pactual Serviços Financeiros S.A. Distribuidora  de Títulos e Valores Mobiliários, instituição com sede no Município do Rio de Janeiro, Estado do Rio de  Janeiro, na Praia de Botafogo, nº 501, 5º andar – parte, inscrita no CNPJ sob o nº 59.281.253/0001-23,  autorizada a funcionar pelo Banco Central do Brasil e autorizada pela Comissão de Valores Mobiliários  (“CVM”) para a atividade de administração de carteiras de valores mobiliários, de acordo com o Ato  Declaratório nº 8.695, de 20 de março de 2006 (“ADMINISTRADOR”), emitidas nos termos do regulamento  do FUNDO, do anexo descritivo da Classe do respectivo apêndice, devidamente registrado perante a CVM  (“Regulamento”, “Anexo da Classe”, “Apêndice” e “Cotas Seniores” respectivamente), a qual terá as  seguintes características:</a:t>
            </a:r>
          </a:p>
          <a:p>
            <a:r>
              <a:t> Número de Emissão, Valor São emitidas no âmbito da 1ª emissão da 3ª Série de Cotas Seniores da  Total da Emissão e Forma Classe, de 2,000,000 (dois milhões) de Cotas da 3ª Série da Subclasse  de Distribuição Sênior da Classe, com valor nominal unitário de R$ 1.000,00 (mil reais)  cada, totalizando o montante de R$ 2.000.000.000,00 (dois bilhões de  reais), as quais serão objeto de colocação privada, destinada ao Público-  Alvo (conforme definido no Anexo da Classe) (“Colocação Privada”).</a:t>
            </a:r>
          </a:p>
          <a:p>
            <a:r>
              <a:t> Valor Unitário de Emissão As Cotas Seniores da 3ª Série terão um valor unitário de R$ 1.000,00 (mil  reais) na respectiva Data de Emissão.</a:t>
            </a:r>
          </a:p>
          <a:p>
            <a:r>
              <a:t> Data de Emissão Data da 1ª Integralização.</a:t>
            </a:r>
          </a:p>
          <a:p>
            <a:r>
              <a:t> Valor Unitário de As Cotas Seniores da 3ª Série serão subscritas pelo Valor Unitário de  Integralização Emissão, e serão integralizadas pelo respectivo Valor Unitário, nos  termos do Regulamento, do Apêndice e deste Suplemento, sendo certo  que, nas emissões de novas Cotas Seniores da 3ª Série que não difiram,  em sua respectiva Subclasse, das Cotas Seniores da 3ª Série então em  circulação, o Valor Unitário de Integralização corresponderá ao Valor  Unitário da Cota apurado no Dia Útil em que os recursos aportados pelo  Cotista tornem-se efetivamente disponíveis à Classe.</a:t>
            </a:r>
          </a:p>
          <a:p>
            <a:r>
              <a:t> Investimento Mínimo por Não há  Investidor  Forma de Subscrição e As Cotas Seniores da 3ª Série deverão ser integralizadas, à vista, em  Integralização moeda corrente nacional, pelo Valor Unitário de Integralização, no ato de  subscrição.</a:t>
            </a:r>
          </a:p>
          <a:p>
            <a:r>
              <a:t> Ao subscrever Cotas Seniores da 3ª Série, cada Investidor deverá  assinar o Termo de Adesão, no qual confirmará, dentre outros, ter  conhecimento de todos os termos e condições do Fundo e do</a:t>
            </a:r>
          </a:p>
          <a:p>
            <a:r>
              <a:t>CNPJ 60010416000112 · Volume, VNU e emissão · Condição: Trechos do documento específico identificado com data mais recente; vigência jurídica não inferida.</a:t>
            </a:r>
          </a:p>
          <a:p>
            <a:r>
              <a:t>CNPJ 60010416000112 · Volume, VNU e emissão · Motivo: Cláusula primária localizada e citada, mas sua lista/condições extensas não admitem uma síntese literal curta confirmada. O trecho integral permanece nas fontes. A resposta da revisão anterior foi preservada no histórico, sem confirmação pelo documento atual.</a:t>
            </a:r>
          </a:p>
          <a:p>
            <a:r>
              <a:t>CNPJ 60010416000112 · Volume, VNU e emissão · Versão e prevalência: Trechos do documento específico identificado com data mais recente; vigência jurídica não inferida.</a:t>
            </a:r>
          </a:p>
          <a:p>
            <a:r>
              <a:t>CNPJ 60010416000112 · Volume, VNU e emissão · Resumo do histórico: {"count": 3, "dates": ["2025-03-20", "2025-05-12"], "document_count": 2, "sources": [{"document_id": "1004656", "title": "AGE", "reference_date": "2025-05-12", "version": "1", "page": 4, "url": "https://fnet.bmfbovespa.com.br/fnet/publico/visualizarDocumento?id=1004656", "sha256": "f6c9c009f6170e2b29f074b98522accec73f0c40efbf11f9ec2c8d3f1402616b"}, {"document_id": "993785", "title": "Instrumento Particular de Constituição/Encerramento do Fundo", "reference_date": "2025-03-20", "version": "1", "page": "2", "url": "https://fnet.bmfbovespa.com.br/fnet/publico/visualizarDocumento?id=993785", "sha256": "0826e0eae2c51afabf59bbc49fc7647598d03da5ca6de0f9725850a8bd6af457"}, {"document_id": "993785", "title": "Instrumento Particular de Constituição/Encerramento do Fundo", "reference_date": "2025-03-20", "version": "1", "page": 2, "url": "https://fnet.bmfbovespa.com.br/fnet/publico/visualizarDocumento?id=993785", "sha256": "0826e0eae2c51afabf59bbc49fc7647598d03da5ca6de0f9725850a8bd6af457"}], "reference": {"path": "history/60010416000112.json", "criterion_id": "issue_volume", "total_count": 3, "preview_count": 3, "full_text_deferred": true, "sha256": "8e2bd813f4c51cf01f6bfaad164bafe69d2bbb192f753eac92da3a01c2e63046"}}</a:t>
            </a:r>
          </a:p>
          <a:p>
            <a:r>
              <a:t>CNPJ 62696791000193 · Volume, VNU e emissão · Instrumento Particular de Emissão de Cotas · ID 1148821 · 27/03/2026 · versão Instrumento Particular de Emissão de Cotas — referência 27/03/2026 · p. 1 · Deliberação Conjunta, item1 · https://fnet.bmfbovespa.com.br/fnet/publico/visualizarDocumento?id=1148821</a:t>
            </a:r>
          </a:p>
          <a:p>
            <a:r>
              <a:t>CNPJ 62696791000193 · Volume, VNU e emissão · Excerto da fonte:</a:t>
            </a:r>
          </a:p>
          <a:p>
            <a:r>
              <a:t>1. Aprovar a 2ª (segunda) emissão da Subclasse Subordinada Júnior da Classe, composta por até 20.000 (vinte mil) Cotas Subordinadas Júnior, com valor nominal unitário de R$ 1.000,00 (mil reais), perfazendo o montante total de R$ 20.000.000,00 (vinte milhões de reais), as quais serão objeto de colocação privada, de acordo com os termos e condições definidos no Apêndice da Subclasse Subordinada Júnior constante do Anexo I Regulamento e descritas abaixo (“2ª Emissão da Subclasse Subordinada Júnior”): a) Rito: as Cotas Subordinadas Júnior objeto da 2ª Emissão da Subclasse Subordinada Júnior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Subordinada Júnior na data de integralização, calculado na forma prevista no respectivo Apêndice; BTG Pactual 1 SAC: 0800 772 28 27 - Ouvidoria: 0800 722 00 48 - btgpactual.com</a:t>
            </a:r>
          </a:p>
          <a:p>
            <a:r>
              <a:t>CNPJ 62696791000193 · Volume, VNU e emissão · Instrumento Particular de Emissão de Cotas · ID 1148821 · 27/03/2026 · versão Instrumento Particular de Emissão de Cotas — referência 27/03/2026 · p. 2 · Deliberação Conjunta, item2 · https://fnet.bmfbovespa.com.br/fnet/publico/visualizarDocumento?id=1148821</a:t>
            </a:r>
          </a:p>
          <a:p>
            <a:r>
              <a:t>CNPJ 62696791000193 · Volume, VNU e emissão · Excerto da fonte:</a:t>
            </a:r>
          </a:p>
          <a:p>
            <a:r>
              <a:t>2. Aprovar a 2ª (segunda) emissão da Subclasse Sênior da Classe, composta por até 150.000 (cento e cinquenta mil) Cotas Seniores, com valor nominal unitário de R$ 1.000,00 (mil reais), perfazendo o montante total de R$ 150.000.000,00 (cento e cinquenta milhões de reais), as quais serão objeto de colocação privada, de acordo com os termos e condições descritos no Apêndice da Subclasse Sênior constante do Anexo I Regulamento e descritas abaixo (“2ª Emissão da Subclasse Sênior”): a) Rito: as Cotas Seniores objeto da 2ª Emissão da Subclasse Sênior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Sênior na data de integralização, calculado na forma prevista no respectivo Apêndice; d) Forma de Integralização: as Cotas Seniores serão integralizadas mediante chamadas de capital, junto ao seu respectivo agente de custódia e/ou da Administradora na qualidade de escriturador das cotas, nos termos d</a:t>
            </a:r>
          </a:p>
          <a:p>
            <a:r>
              <a:t>CNPJ 62696791000193 · Volume, VNU e emissão · Condição: Volumes autorizados de emissão não comprovam captação ou integralização observada.</a:t>
            </a:r>
          </a:p>
          <a:p>
            <a:r>
              <a:t>CNPJ 62696791000193 · Volume, VNU e emissão · Versão e prevalência: Leitura específica das cláusulas indicadas; condições e conflitos preservados. Seleção documental atual não comprova vigência jurídica por data isolada.</a:t>
            </a:r>
          </a:p>
          <a:p>
            <a:r>
              <a:t>CNPJ 62696791000193 · Volume, VNU e emissão · Resumo do histórico: {"count": 2, "dates": ["2026-03-20", "2026-03-27"], "document_count": 2, "sources": [{"document_id": "1148821", "title": "Instrumento Particular de Emissão de Cotas", "reference_date": "2026-03-27", "version": "1", "page": "1-2", "url": "https://fnet.bmfbovespa.com.br/fnet/publico/visualizarDocumento?id=1148821", "sha256": "86900e9dd498403696bfffbd4196443c83ec4d51ff21135e073c1966e1adf4c0"}, {"document_id": "1143317", "title": "Regulamento", "reference_date": "2026-03-20", "version": "1", "page": 23, "clause": "11.3", "url": "https://fnet.bmfbovespa.com.br/fnet/publico/visualizarDocumento?id=1143317", "sha256": "32f62818d51c3ebeaf9ec012d3d7867f15c1aed6d10f0867c157a290df1cea48"}], "reference": {"path": "history/62696791000193.json", "criterion_id": "issue_volume", "total_count": 2, "preview_count": 2, "full_text_deferred": true, "sha256": "0e9ec199848320ec945708123ae0cb6075d76c05d94beed814d582031d353926"}}</a:t>
            </a:r>
          </a:p>
          <a:p>
            <a:r>
              <a:t>CNPJ 55563624000109 · Volume, VNU e emissão · Regulamento · ID 1192614 · 2026-04-30 · versão 1 · p. 17 · 5.13.2 · https://fnet.bmfbovespa.com.br/fnet/publico/visualizarDocumento?id=1192614</a:t>
            </a:r>
          </a:p>
          <a:p>
            <a:r>
              <a:t>CNPJ 55563624000109 · Volume, VNU e emissão · Excerto da fonte:</a:t>
            </a:r>
          </a:p>
          <a:p>
            <a:r>
              <a:t>5.13.2 Caso um Cotista do Fundo pretenda transferir suas Cotas para terceiros (“Cotista Vendedor”), deverá  notificar previamente o GESTOR, via e-mail, manifestando sua proposta de alienação de Cotas, a qual  deve incluir o interessado na aquisição e a quantidade de Cotas a serem alienadas e o preço para tal  alienação (“Proposta de Venda”). O GESTOR deverá manifestar aprovação para alienação das Cotas  objeto da Proposta de Venda (“Cotas Objeto”) em até 5 (cinco) Dias Úteis, observado que a ausência de  aprovação deverá ser entendida como aprovação tácita à alienação das Cotas Objeto.</a:t>
            </a:r>
          </a:p>
          <a:p>
            <a:r>
              <a:t>CNPJ 55563624000109 · Volume, VNU e emissão · Regulamento · ID 1192614 · 2026-04-30 · versão 1 · p. 39 · https://fnet.bmfbovespa.com.br/fnet/publico/visualizarDocumento?id=1192614</a:t>
            </a:r>
          </a:p>
          <a:p>
            <a:r>
              <a:t>CNPJ 55563624000109 · Volume, VNU e emissão · Excerto da fonte:</a:t>
            </a:r>
          </a:p>
          <a:p>
            <a:r>
              <a:t>(xxi) Ausência de propriedade direta dos ativos. Os direitos dos Cotistas serão exercidos sobre  todos os ativos da Carteira de modo não individualizado, proporcionalmente à quantidade de Cotas  detidas por cada um. Portanto, os Cotistas não terão qualquer direito de propriedade direta sobre as  Cotas da Classe Investida e os Ativos Financeiros de Liquidez integrantes da Carteira, ou mesmo sobre  os direitos creditórios e os ativos financeiros de liquidez integrantes da carteira da Classe Investida.</a:t>
            </a:r>
          </a:p>
          <a:p>
            <a:r>
              <a:t>CNPJ 55563624000109 · Volume, VNU e emissão · Condição: Documentos atuais selecionados no inventário por categoria/escopo; a data documental isolada não comprova vigência jurídica.</a:t>
            </a:r>
          </a:p>
          <a:p>
            <a:r>
              <a:t>CNPJ 55563624000109 · Volume, VNU e emissão · Versão e prevalência: Documentos atuais selecionados no inventário por categoria/escopo; a data documental isolada não comprova vigência jurídica.</a:t>
            </a:r>
          </a:p>
          <a:p>
            <a:r>
              <a:t>CNPJ 55563624000109 · Volume, VNU e emissão · Resumo do histórico: {"count": 3, "dates": ["2024-12-30", "2025-01-31", "2026-01-31"], "document_count": 3, "sources": [{"document_id": "1178840", "title": "Demonstrações Financeiras", "reference_date": "2026-01-31", "version": "1", "page": 25, "url": "https://fnet.bmfbovespa.com.br/fnet/publico/visualizarDocumento?id=1178840", "sha256": "c458e98664c5c907ddb5a05a94b120bed4e05295b2bfc420f5ba69af0a229abe"}, {"document_id": "891861", "title": "Demonstrações Financeiras", "reference_date": "2025-01-31", "version": "1", "page": 26, "url": "https://fnet.bmfbovespa.com.br/fnet/publico/visualizarDocumento?id=891861", "sha256": "e9cb9e6ddbe505fe068cfcac33605165a98313489de0d3ce6d4d238263c3f3e7"}, {"document_id": "811323", "title": "Anúncio de Encerramento", "reference_date": "2024-12-30", "version": "1", "page": 1, "url": "https://fnet.bmfbovespa.com.br/fnet/publico/visualizarDocumento?id=811323", "sha256": "ebc6bc661be5189acffb3c3e352de2aea0a8ca8431011d1237e1ae19da4f9c79"}], "reference": {"path": "history/55563624000109.json", "criterion_id": "issue_volume", "total_count": 3, "preview_count": 3, "full_text_deferred": true, "sha256": "7835d573fb58a3c19adf5b8ecc2aee2bdbb9a88f7a0c0209b5f262b64c7522e3"}}</a:t>
            </a:r>
          </a:p>
          <a:p>
            <a:r>
              <a:t>CNPJ 62552447000120 · Volume, VNU e emissão · AGE · ID 1315103 · 2026-09-08 · versão 1 · p. 1 · https://fnet.bmfbovespa.com.br/fnet/publico/visualizarDocumento?id=1315103</a:t>
            </a:r>
          </a:p>
          <a:p>
            <a:r>
              <a:t>CNPJ 62552447000120 · Volume, VNU e emissão · Excerto da fonte:</a:t>
            </a:r>
          </a:p>
          <a:p>
            <a:r>
              <a:t>a) Rito: as cotas objeto da Segunda Emissão não estão sujeitas a regulamentação  de oferta de valores mobiliários, conforme facultado pelo Art. 8º, inciso II, da  Resolução CVM nº 160, de 13 de julho de 2022;</a:t>
            </a:r>
          </a:p>
          <a:p>
            <a:r>
              <a:t> b) Preço de Emissão: R$ 1.000,00 (mil reais);</a:t>
            </a:r>
          </a:p>
          <a:p>
            <a:r>
              <a:t> c) Quantidade de Cotas: 10.000 (dez mil) Cotas;</a:t>
            </a:r>
          </a:p>
          <a:p>
            <a:r>
              <a:t> d) Preço de Integralização: será o valor da Cota vigente na data de integralização,  nos termos do respectivo boletim de subscrição;</a:t>
            </a:r>
          </a:p>
          <a:p>
            <a:r>
              <a:t> e) Forma de Integralização: as Cotas serão integralizadas à vista, em moeda  corrente nacional, junto ao seu respectivo agente de custódia e/ou da  Administradora na qualidade de escriturador das cotas;</a:t>
            </a:r>
          </a:p>
          <a:p>
            <a:r>
              <a:t> f) Período de colocação: a subscrição das Cotas, objeto da Segunda Emissão,  deverão ser realizadas no prazo máximo de 180 (cento e oitenta) dias, contados  da data de efeitos do presente instrumento.</a:t>
            </a:r>
          </a:p>
          <a:p>
            <a:r>
              <a:t>CNPJ 62552447000120 · Volume, VNU e emissão · Condição: Trechos do documento específico identificado com data mais recente; vigência jurídica não inferida.</a:t>
            </a:r>
          </a:p>
          <a:p>
            <a:r>
              <a:t>CNPJ 62552447000120 · Volume, VNU e emissão · Versão e prevalência: Trechos do documento específico identificado com data mais recente; vigência jurídica não inferida.</a:t>
            </a:r>
          </a:p>
          <a:p>
            <a:r>
              <a:t>CNPJ 62552447000120 · Volume, VNU e emissão · Resumo do histórico: {"count": 2, "dates": ["2025-09-03"], "document_count": 1, "sources": [{"document_id": "988020", "title": "Instrumento Particular de Emissão de Cotas", "reference_date": "2025-09-03", "version": "1", "page": "5", "url": "https://fnet.bmfbovespa.com.br/fnet/publico/visualizarDocumento?id=988020", "sha256": "8ecc8a771bb9713d64e5fc2052c489664cb0433801a9280db68e5187d35bf7a5"}, {"document_id": "988020", "title": "Instrumento Particular de Emissão de Cotas", "reference_date": "2025-09-03", "version": "1", "page": 2, "url": "https://fnet.bmfbovespa.com.br/fnet/publico/visualizarDocumento?id=988020", "sha256": "8ecc8a771bb9713d64e5fc2052c489664cb0433801a9280db68e5187d35bf7a5"}], "reference": {"path": "history/62552447000120.json", "criterion_id": "issue_volume", "total_count": 2, "preview_count": 2, "full_text_deferred": true, "sha256": "d95db8c0613d67ee84118c734588665265ea6b02f86a0318d6a844cbe1d0f82f"}}</a:t>
            </a:r>
          </a:p>
          <a:p>
            <a:r>
              <a:t>CNPJ 63953620000165 · Volume, VNU e emissão · Demonstrações Financeiras - Fusão, cisão e incorporação · ID 1327859 · 2026-05-15 · versão 1 · p. 31 · 15.000.000 · https://fnet.bmfbovespa.com.br/fnet/publico/visualizarDocumento?id=1327859</a:t>
            </a:r>
          </a:p>
          <a:p>
            <a:r>
              <a:t>CNPJ 63953620000165 · Volume, VNU e emissão · Excerto da fonte:</a:t>
            </a:r>
          </a:p>
          <a:p>
            <a:r>
              <a:t>15.000.000 (quinze bilhões de reais), , a serem objeto de colocação privada, nos termos  do Regulamento, da Resolução CVM 175 e do respectivo boletim de subscrição nos  seguintes termos:</a:t>
            </a:r>
          </a:p>
          <a:p>
            <a:r>
              <a:t> a. Montante Total da Colocação Privada: R$ 15.000.000 (quinze bilhões de  reais)  b. Quantidade de Cotas: 15.000.000 (quinze milhões) de Cotas Seniores;</a:t>
            </a:r>
          </a:p>
          <a:p>
            <a:r>
              <a:t> c. Preço de Emissão (Valor Unitário): R$ 1 (mil reais);</a:t>
            </a:r>
          </a:p>
          <a:p>
            <a:r>
              <a:t> d. Forma e Preço de Integralização: as Cotas serão integralizadas na forma  prevista no Boletim de Subscrição;</a:t>
            </a:r>
          </a:p>
          <a:p>
            <a:r>
              <a:t> e. Prazo da Colocação Privada: as Cotas serão colocadas em até 180 (cento e  oitenta) dias da data deste IPA.</a:t>
            </a:r>
          </a:p>
          <a:p>
            <a:r>
              <a:t>CNPJ 63953620000165 · Volume, VNU e emissão · Demonstrações Financeiras - Fusão, cisão e incorporação · ID 1327859 · 2026-05-15 · versão 1 · p. 31 · https://fnet.bmfbovespa.com.br/fnet/publico/visualizarDocumento?id=1327859</a:t>
            </a:r>
          </a:p>
          <a:p>
            <a:r>
              <a:t>CNPJ 63953620000165 · Volume, VNU e emissão · Excerto da fonte:</a:t>
            </a:r>
          </a:p>
          <a:p>
            <a:r>
              <a:t>Em Instrumento Particular de Alteração do MT Global Fundo de Investimento em Direitos  Creditórios, realizada em 08 de janeiro de 2026, foram deliberadas as seguintes matérias:</a:t>
            </a:r>
          </a:p>
          <a:p>
            <a:r>
              <a:t>(i) Alterar regulamento vigente da classe em relação aos itens 4.17.1, 6.8 e o Capítulo 13,</a:t>
            </a:r>
          </a:p>
          <a:p>
            <a:r>
              <a:t> (b) incluir o item 3.1, 8.1.(ii), 8.2, 8.2.1, e 10.2.(xvii); e (c) excluir os itens 6.8.1, 6.8.2,</a:t>
            </a:r>
          </a:p>
          <a:p>
            <a:r>
              <a:t>(ii) Aprovar a 1ª (primeira) emissão de cotas seniores das Classes (“Cotas Seniores”), em  sistema de vasos comunicantes entre as Classes, de forma que a quantidade de Cotas  Seniores integralizadas em uma das Classes será deduzida da quantidade de Cotas  Seniores disponíveis para integralização nas demais Classes, no montante total de R$</a:t>
            </a:r>
          </a:p>
          <a:p>
            <a:r>
              <a:t>CNPJ 63953620000165 · Volume, VNU e emissão · Demonstrações Financeiras - Fusão, cisão e incorporação · ID 1327859 · 2026-05-15 · versão 1 · p. 32 · https://fnet.bmfbovespa.com.br/fnet/publico/visualizarDocumento?id=1327859</a:t>
            </a:r>
          </a:p>
          <a:p>
            <a:r>
              <a:t>CNPJ 63953620000165 · Volume, VNU e emissão · Excerto da fonte:</a:t>
            </a:r>
          </a:p>
          <a:p>
            <a:r>
              <a:t>f. Montante Total da Colocação Privada: R$ 7.000 (sete milhões de reais);</a:t>
            </a:r>
          </a:p>
          <a:p>
            <a:r>
              <a:t> g. Quantidade de Cotas: 7.000 (sete mil) de Cotas Subordinadas CP  h. Preço de Emissão (Valor Unitário): R$ 1 (mil reais);</a:t>
            </a:r>
          </a:p>
          <a:p>
            <a:r>
              <a:t> i. Forma e Preço de Integralização: as Cotas serão integralizadas na forma  prevista no Boletim de Subscrição;</a:t>
            </a:r>
          </a:p>
          <a:p>
            <a:r>
              <a:t> j. Prazo da Colocação Privada: as Cotas serão colocadas em até 180 (cento e  oitenta) dias da data deste IPA.</a:t>
            </a:r>
          </a:p>
          <a:p>
            <a:r>
              <a:t>CNPJ 63953620000165 · Volume, VNU e emissão · Condição: Trechos do documento específico identificado com data mais recente; vigência jurídica não inferida.</a:t>
            </a:r>
          </a:p>
          <a:p>
            <a:r>
              <a:t>CNPJ 63953620000165 · Volume, VNU e emissão · Versão e prevalência: Trechos do documento específico identificado com data mais recente; vigência jurídica não inferida.</a:t>
            </a:r>
          </a:p>
          <a:p>
            <a:r>
              <a:t>CNPJ 63953620000165 · Volume, VNU e emissão · Resumo do histórico: {"count": 8, "dates": ["2026-04-16", "2026-04-28", "2026-05-08"], "document_count": 3, "sources": [{"document_id": "1298691", "title": "Demonstrações Financeiras - Fusão, cisão e incorporação", "reference_date": "2026-05-08", "version": "1", "page": 32, "url": "https://fnet.bmfbovespa.com.br/fnet/publico/visualizarDocumento?id=1298691", "sha256": "58c570d9b8d4d265330d3db3ea81c435b8e44a6dab4002aa37790652a1ee9819"}, {"document_id": "1282180", "title": "Demonstrações Financeiras - Fusão, cisão e incorporação", "reference_date": "2026-04-28", "version": "1", "page": 32, "clause": "15.000.000", "url": "https://fnet.bmfbovespa.com.br/fnet/publico/visualizarDocumento?id=1282180", "sha256": "afaaa0e6809be4385e5bdb6c911aac582032c5bdbac3d7750234bf9eaf00438a"}, {"document_id": "1282179", "title": "Demonstrações Financeiras - Fusão, cisão e incorporação", "reference_date": "2026-04-16", "version": "1", "page": 32, "clause": "15.000.000", "url": "https://fnet.bmfbovespa.com.br/fnet/publico/visualizarDocumento?id=1282179", "sha256": "beb67afbcd64169019477673fd3b7c1edbfabbd9db07379388d8cdd5d3fc9395"}], "reference": {"path": "history/63953620000165.json", "criterion_id": "issue_volume", "total_count": 8, "preview_count": 3, "full_text_deferred": true, "sha256": "a7b89077f5e21098c2d601c303faabc3ff6b9729f89d8afecdc60fe1404720c1"}}</a:t>
            </a:r>
          </a:p>
          <a:p>
            <a:r>
              <a:t>CNPJ 54871427000194 · Administração: taxa, base e mínimo · Regulamento · ID 670691 · 28/04/2024 · versão Regulamento — referência 28/04/2024 · p. 25 · Anexo I, 13.1 · https://fnet.bmfbovespa.com.br/fnet/publico/visualizarDocumento?id=670691</a:t>
            </a:r>
          </a:p>
          <a:p>
            <a:r>
              <a:t>CNPJ 54871427000194 · Administração: taxa, base e mínimo · Excerto da fonte:</a:t>
            </a:r>
          </a:p>
          <a:p>
            <a:r>
              <a:t>13.1 Pelos serviços de administração, tesouraria, controladoria e escrituração, a Classe pagará a Taxa de Administração nos seguintes moldes: o valor correspondente a 0,10% (dez centésimos por cento) ao ano aplicado sobre o Patrimônio Líquido, observado o valor mínimo de R$ 10.000,00 (dez mil reais) mensais atualizado pela variação positiva do IGP-M a cada período de 12 (doze) meses, contados a partir do mês em que ocorrer a primeira integralização de Cotas (inclusive). 13.1.1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BTG Pactual SAC: 0800 772 28 27 - Ouvidoria: 0800 722 00 48 - btgpactual.com 19</a:t>
            </a:r>
          </a:p>
          <a:p>
            <a:r>
              <a:t>CNPJ 54871427000194 · Administração: taxa, base e mínimo · Regulamento · ID 670691 · 28/04/2024 · versão Regulamento — referência 28/04/2024 · p. 26 · Anexo I, 13.1.2–13.1.3 · https://fnet.bmfbovespa.com.br/fnet/publico/visualizarDocumento?id=670691</a:t>
            </a:r>
          </a:p>
          <a:p>
            <a:r>
              <a:t>CNPJ 54871427000194 · Administração: taxa, base e mínimo · Excerto da fonte:</a:t>
            </a:r>
          </a:p>
          <a:p>
            <a:r>
              <a:t>13.1.2 A Taxa de Administração será calculada e provisionada todo Dia Útil à razão de 1/252 (um inteiro e duzentos e cinquenta e dois avos) com base no valor do Patrimônio Líquido do Dia Útil anterior. 13.1.3 A Taxa de Administração será paga mensalmente ao ADMINISTRADOR, observado o disposto no item 13.2 abaixo, por período vencido, até o 5º (quinto) Dia Útil do mês subsequente à prestação dos serviços, a partir do mês em que ocorrer a primeira integralização de Cotas da Classe. 13.2 O ADMINISTRADOR poderá estabelecer que parcelas da Taxa de Administração sejam pagas diretamente pela Classe aos prestadores de serviços contratados, desde que o somatório dessas parcelas não exceda o montante total da Taxa de Administração. 13.3 Não serão cobradas da Classe ou dos Cotistas taxas de perf ormance, de ingresso ou de saída. Taxa de Gestão 13.4 Pelos serviços de gestão, a Classe pagará a Taxa de Gestão nos seguintes moldes: o valor correspondente a 0,20% (vinte centésimos por cento) ao ano aplicado sobre o Patrimônio Líquido, observado o valor mínimo de R$ 15.000,00 (quinze mil reais) mensais atualizado pela variação positiva do IGP-M a cada período de 12 (</a:t>
            </a:r>
          </a:p>
          <a:p>
            <a:r>
              <a:t>CNPJ 54871427000194 · Administração: taxa, base e mínimo · Versão e prevalência: Leitura específica das cláusulas indicadas; condições e conflitos preservados. Seleção documental atual não comprova vigência jurídica por data isolada.</a:t>
            </a:r>
          </a:p>
          <a:p>
            <a:r>
              <a:t>CNPJ 54871427000194 · Administração: taxa, base e mínimo · Resumo do histórico: {"count": 2, "dates": ["2024-04-19", "2024-04-28"], "document_count": 2, "sources": [{"document_id": "670691", "title": "Regulamento", "reference_date": "2024-04-28", "version": "1", "page": "25-26", "url": "https://fnet.bmfbovespa.com.br/fnet/publico/visualizarDocumento?id=670691", "sha256": "bf16dd7f1a62d5cdbf2e2d54fef81783783f7310fbc99c3a8f00459bdf9d037b"}, {"document_id": "670689", "title": "Regulamento", "reference_date": "2024-04-19", "version": "1", "page": 26, "clause": "13.1", "url": "https://fnet.bmfbovespa.com.br/fnet/publico/visualizarDocumento?id=670689", "sha256": "891bc9bc5d87bbc02ec139077a84d2702eb81ea02035fb71d24f5b8366b94a0b"}], "reference": {"path": "history/54871427000194.json", "criterion_id": "admin_fee", "total_count": 2, "preview_count": 2, "full_text_deferred": true, "sha256": "35d7cd99be50c7287c9fb675cf4f2e736002315295a225a9efa79c8d9186d874"}}</a:t>
            </a:r>
          </a:p>
          <a:p>
            <a:r>
              <a:t>CNPJ 60010416000112 · Administração: taxa, base e mínimo · Regulamento · ID 1051393 · 09/10/2025 · versão Regulamento09/10/2025 · p. 29 · AnexoI12.1–12.1.2 · https://fnet.bmfbovespa.com.br/fnet/publico/visualizarDocumento?id=1051393</a:t>
            </a:r>
          </a:p>
          <a:p>
            <a:r>
              <a:t>CNPJ 60010416000112 · Administração: taxa, base e mínimo · Excerto da fonte:</a:t>
            </a:r>
          </a:p>
          <a:p>
            <a:r>
              <a:t>12.1 Pelos serviços de administração, escrituração, controladoria de ativos e passivo, e gestão de carteira, o Administrador fará jus a uma Taxa de Administração equivalente a 0,40% (quarenta centésimos por cento) por ano sobre o Patrimônio Líquido da Classe, a ser pago mensalmente, por período vencido da data em que ocorrer a primeira integralização de Cotas da Classe A, até o 5º (quinto) Dia Útil do mês subsequente ao da prestação do serviço, assegurado um valor mínimo mensal de R$ 20.000,00 (vinte mil reais), sendo este valor atualizado pela variação positiva do IPCA sempre em janeiro de cada ano,</a:t>
            </a:r>
          </a:p>
          <a:p>
            <a:r>
              <a:t>CNPJ 60010416000112 · Administração: taxa, base e mínimo · Versão e prevalência: Leitura específica das cláusulas indicadas; condições e conflitos preservados. Seleção documental atual não comprova vigência jurídica por data isolada.</a:t>
            </a:r>
          </a:p>
          <a:p>
            <a:r>
              <a:t>CNPJ 60010416000112 · Administração: taxa, base e mínimo · Resumo do histórico: {"count": 2, "dates": ["2025-03-20", "2025-10-09"], "document_count": 2, "sources": [{"document_id": "1051393", "title": "Regulamento", "reference_date": "2025-10-09", "version": "1", "page": "29", "url": "https://fnet.bmfbovespa.com.br/fnet/publico/visualizarDocumento?id=1051393", "sha256": "8469d613078ffd5a6c1d217885d8a397a16342c0b937ae4aa24b106505f233ae"}, {"document_id": "993786", "title": "Regulamento", "reference_date": "2025-03-20", "version": "1", "page": 29, "clause": "12.1", "url": "https://fnet.bmfbovespa.com.br/fnet/publico/visualizarDocumento?id=993786", "sha256": "fd0fdd369a195510d81f81f505195a0b09e5f43522a990afa7d58c4f872921c8"}], "reference": {"path": "history/60010416000112.json", "criterion_id": "admin_fee", "total_count": 2, "preview_count": 2, "full_text_deferred": true, "sha256": "8e2bd813f4c51cf01f6bfaad164bafe69d2bbb192f753eac92da3a01c2e63046"}}</a:t>
            </a:r>
          </a:p>
          <a:p>
            <a:r>
              <a:t>CNPJ 62696791000193 · Administração: taxa, base e mínimo · Regulamento · ID 1143317 · 20/03/2026 · versão Regulamento — referência 20/03/2026 · p. 28 · Anexo I, 13.1, Taxa de Administração · https://fnet.bmfbovespa.com.br/fnet/publico/visualizarDocumento?id=1143317</a:t>
            </a:r>
          </a:p>
          <a:p>
            <a:r>
              <a:t>CNPJ 62696791000193 · Administração: taxa, base e mínimo · Excerto da fonte:</a:t>
            </a:r>
          </a:p>
          <a:p>
            <a:r>
              <a:t>Taxa de Administração 0,10% (um décimo por cento) ao ano com um mínimo mensal de R$ 10.000,00 (dez mil reais), pagos mensalmente até o 5º (quinto) Dia Útil do mês subsequente ao mês que se ref ere, a ser corrigida anualmente, em janeiro de cada ano, pela variação positiva do Índice Geral de Preços – Mercado, divulgado pela Fundação Getúlio Vargas (“Taxa de Administração” e “IGP-M”, respectivamente).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T</a:t>
            </a:r>
          </a:p>
          <a:p>
            <a:r>
              <a:t>CNPJ 62696791000193 · Administração: taxa, base e mínimo · Condição: A linha da tabela não explicita novamente a base de PL para administração; conservar essa limitação em vez de completar a frase por analogia.</a:t>
            </a:r>
          </a:p>
          <a:p>
            <a:r>
              <a:t>CNPJ 62696791000193 · Administração: taxa, base e mínimo · Motivo: Não localizada uma cláusula material para este critério nos textos identificados e processados. A ausência de resultado não comprova inexistência da regra.</a:t>
            </a:r>
          </a:p>
          <a:p>
            <a:r>
              <a:t>CNPJ 62696791000193 · Administração: taxa, base e mínimo · Versão e prevalência: Leitura específica das cláusulas indicadas; condições e conflitos preservados. Seleção documental atual não comprova vigência jurídica por data isolada.</a:t>
            </a:r>
          </a:p>
          <a:p>
            <a:r>
              <a:t>CNPJ 55563624000109 · Administração: taxa, base e mínimo · Regulamento · ID 1192614 · 30/04/2026 · versão Regulamento30/04/2026 · p. 28 · AnexoI13.1–13.2 · https://fnet.bmfbovespa.com.br/fnet/publico/visualizarDocumento?id=1192614</a:t>
            </a:r>
          </a:p>
          <a:p>
            <a:r>
              <a:t>CNPJ 55563624000109 · Administração: taxa, base e mínimo · Excerto da fonte:</a:t>
            </a:r>
          </a:p>
          <a:p>
            <a:r>
              <a:t>13.1 Sem prejuízo da Taxa Máxima de Administração, pelos serviços de administração do FUNDO e da Classe, tesouraria, controle e processamento dos ativos integrantes da Carteira, a Classe pagará, no mínimo, ao ADMINISTRADOR a Taxa Mínima de Administração nos seguintes moldes: o valor correspondente a R$ 10.000,00 (dez mil reais) mensais, atualizado pela variação positiva do IGP-M, no mês de janeiro de cada ano (“Taxa Mínima de Administração”). 13.1.1 Na hipótese de extinção do IGP-M, não divulgação ou impossibilidade de sua utilização, será utilizado o</a:t>
            </a:r>
          </a:p>
          <a:p>
            <a:r>
              <a:t>CNPJ 55563624000109 · Administração: taxa, base e mínimo · Condição: A base do adicional é PL do Mercado Crédito II; não é teto 0, 10% sobre PLGN e não substitui mínimo R$ 10 mil.</a:t>
            </a:r>
          </a:p>
          <a:p>
            <a:r>
              <a:t>CNPJ 55563624000109 · Administração: taxa, base e mínimo · Versão e prevalência: Leitura específica das cláusulas indicadas; condições e conflitos preservados. Seleção documental atual não comprova vigência jurídica por data isolada.</a:t>
            </a:r>
          </a:p>
          <a:p>
            <a:r>
              <a:t>CNPJ 55563624000109 · Administração: taxa, base e mínimo · Resumo do histórico: {"count": 3, "dates": ["2025-01-31", "2026-01-31", "2026-04-30"], "document_count": 3, "sources": [{"document_id": "1192614", "title": "Regulamento", "reference_date": "2026-04-30", "version": "1", "page": "28", "clause": "13.2", "url": "https://fnet.bmfbovespa.com.br/fnet/publico/visualizarDocumento?id=1192614", "sha256": "f56e63ace0acde41d2f47fb48f1ac7f3f7df5e2d32de092d7c5e075a52516632"}, {"document_id": "1178840", "title": "Demonstrações Financeiras", "reference_date": "2026-01-31", "version": "1", "page": 29, "url": "https://fnet.bmfbovespa.com.br/fnet/publico/visualizarDocumento?id=1178840", "sha256": "c458e98664c5c907ddb5a05a94b120bed4e05295b2bfc420f5ba69af0a229abe"}, {"document_id": "891861", "title": "Demonstrações Financeiras", "reference_date": "2025-01-31", "version": "1", "page": 30, "url": "https://fnet.bmfbovespa.com.br/fnet/publico/visualizarDocumento?id=891861", "sha256": "e9cb9e6ddbe505fe068cfcac33605165a98313489de0d3ce6d4d238263c3f3e7"}], "reference": {"path": "history/55563624000109.json", "criterion_id": "admin_fee", "total_count": 3, "preview_count": 3, "full_text_deferred": true, "sha256": "7835d573fb58a3c19adf5b8ecc2aee2bdbb9a88f7a0c0209b5f262b64c7522e3"}}</a:t>
            </a:r>
          </a:p>
          <a:p>
            <a:r>
              <a:t>CNPJ 62552447000120 · Administração: taxa, base e mínimo · Regulamento · ID 1200623 · 21/05/2026 · versão Consolidado21/05/2026 aprovado pelo ato1200625 · p. 30 · AnexoI13.1 TaxaGlobal · https://fnet.bmfbovespa.com.br/fnet/publico/visualizarDocumento?id=1200623</a:t>
            </a:r>
          </a:p>
          <a:p>
            <a:r>
              <a:t>CNPJ 62552447000120 · Administração: taxa, base e mínimo · Excerto da fonte:</a:t>
            </a:r>
          </a:p>
          <a:p>
            <a:r>
              <a:t>Taxa Global Pelos serviços de administração, gestão, custódia, tesouraria, controladoria, escrituração, a Classe pagará um valor equivalente a um percentual incidente sobre o Patrimônio Líquido da Classe, conf orme a f aixa de Patrimônio Líquido da Classe prevista na tabela abaixo, apropriada diariamente e paga mensalmente até o 5º (quinto) Dia Útil do mês subsequente ao mês que se ref ere, com</a:t>
            </a:r>
          </a:p>
          <a:p>
            <a:r>
              <a:t>CNPJ 62552447000120 · Administração: taxa, base e mínimo · Condição: Global remunera administração, gestão, custódia, tesouraria, controladoria e escrituração; percentual segregado não presumido.</a:t>
            </a:r>
          </a:p>
          <a:p>
            <a:r>
              <a:t>CNPJ 62552447000120 · Administração: taxa, base e mínimo · Motivo: Não localizada uma cláusula material para este critério nos textos identificados e processados. A ausência de resultado não comprova inexistência da regra.</a:t>
            </a:r>
          </a:p>
          <a:p>
            <a:r>
              <a:t>CNPJ 62552447000120 · Administração: taxa, base e mínimo · Versão e prevalência: Leitura específica das cláusulas indicadas; condições e conflitos preservados. Seleção documental atual não comprova vigência jurídica por data isolada.</a:t>
            </a:r>
          </a:p>
          <a:p>
            <a:r>
              <a:t>CNPJ 63953620000165 · Administração: taxa, base e mínimo · Anexo ao Regulamento · ID 1222863 · 02/06/2026 · versão AnexoConsignadoPrivado02/06/2026 · p. 19 · Capítulo13TaxadeAdministração · https://fnet.bmfbovespa.com.br/fnet/publico/visualizarDocumento?id=1222863</a:t>
            </a:r>
          </a:p>
          <a:p>
            <a:r>
              <a:t>CNPJ 63953620000165 · Administração: taxa, base e mínimo · Excerto da fonte:</a:t>
            </a:r>
          </a:p>
          <a:p>
            <a:r>
              <a:t>Taxa de Administração positiva do Índice Geral de Preços – Mercado, divulgado pela Fundação Getúlio Vargas (“Taxa de Administração” e “IGP-M”, respectivamente). Na hipótese de extinção do IGP-M, não divulgação ou impossibilidade de sua utilização, será utilizado o Índice Geral de Preços – Disponibilidade Interna, divulgado pela Fundação Getúlio Vargas, ou, na falta de ambos, pela variação do IPC – Índice de Preços ao Consumidor, divulgado pela</a:t>
            </a:r>
          </a:p>
          <a:p>
            <a:r>
              <a:t>CNPJ 63953620000165 · Administração: taxa, base e mínimo · Condição: Base é a parcela MT específica, não necessariamente todo o PL da classe.</a:t>
            </a:r>
          </a:p>
          <a:p>
            <a:r>
              <a:t>CNPJ 63953620000165 · Administração: taxa, base e mínimo · Versão e prevalência: Leitura específica das cláusulas indicadas; condições e conflitos preservados. Seleção documental atual não comprova vigência jurídica por data isolada.</a:t>
            </a:r>
          </a:p>
          <a:p>
            <a:r>
              <a:t>CNPJ 63953620000165 · Administração: taxa, base e mínimo · Resumo do histórico: {"count": 8, "dates": ["2026-04-28", "2026-05-08", "2026-05-15"], "document_count": 3, "sources": [{"document_id": "1327859", "title": "Demonstrações Financeiras - Fusão, cisão e incorporação", "reference_date": "2026-05-15", "version": "1", "page": 28, "url": "https://fnet.bmfbovespa.com.br/fnet/publico/visualizarDocumento?id=1327859", "sha256": "dca1c68babb97f887528c3e2e47596a9c30f507b067981a35655b2f2da9c8054"}, {"document_id": "1298691", "title": "Demonstrações Financeiras - Fusão, cisão e incorporação", "reference_date": "2026-05-08", "version": "1", "page": 28, "url": "https://fnet.bmfbovespa.com.br/fnet/publico/visualizarDocumento?id=1298691", "sha256": "58c570d9b8d4d265330d3db3ea81c435b8e44a6dab4002aa37790652a1ee9819"}, {"document_id": "1282180", "title": "Demonstrações Financeiras - Fusão, cisão e incorporação", "reference_date": "2026-04-28", "version": "1", "page": 29, "url": "https://fnet.bmfbovespa.com.br/fnet/publico/visualizarDocumento?id=1282180", "sha256": "afaaa0e6809be4385e5bdb6c911aac582032c5bdbac3d7750234bf9eaf00438a"}], "reference": {"path": "history/63953620000165.json", "criterion_id": "admin_fee", "total_count": 8, "preview_count": 3, "full_text_deferred": true, "sha256": "a7b89077f5e21098c2d601c303faabc3ff6b9729f89d8afecdc60fe1404720c1"}}</a:t>
            </a:r>
          </a:p>
          <a:p>
            <a:r>
              <a:t>CNPJ 54871427000194 · Gestão: taxa, base e mínimo · Regulamento · ID 670691 · 28/04/2024 · versão Regulamento — referência 28/04/2024 · p. 26 · Anexo I, 13.4–13.4.3 · https://fnet.bmfbovespa.com.br/fnet/publico/visualizarDocumento?id=670691</a:t>
            </a:r>
          </a:p>
          <a:p>
            <a:r>
              <a:t>CNPJ 54871427000194 · Gestão: taxa, base e mínimo · Excerto da fonte:</a:t>
            </a:r>
          </a:p>
          <a:p>
            <a:r>
              <a:t>13.4 Pelos serviços de gestão, a Classe pagará a Taxa de Gestão nos seguintes moldes: o valor correspondente a 0,20% (vinte centésimos por cento) ao ano aplicado sobre o Patrimônio Líquido, observado o valor mínimo de R$ 15.000,00 (quinze mil reais) mensais atualizado pela variação positiva do IGP-M a cada período de 12 (doze) meses, contados a partir do mês em que ocorrer a primeira integralização de Cotas (inclusive). 13.4.1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13.4.2 A Taxa de Gestão será calculada e provisionada todo Dia Útil à razão de 1/252 (um inteiro e duzentos e cinquenta e dois avos) com base no valor do Patrimônio Líquido do Dia Útil anterior. 13.4.3 A Taxa de Gestão será paga mensalmente ao GESTOR, observado o disposto no item 13.5 abaixo, por período vencido, até o 5º (quinto) Dia Útil do mês subsequente à prestação dos ser</a:t>
            </a:r>
          </a:p>
          <a:p>
            <a:r>
              <a:t>CNPJ 54871427000194 · Gestão: taxa, base e mínimo · Versão e prevalência: Leitura específica das cláusulas indicadas; condições e conflitos preservados. Seleção documental atual não comprova vigência jurídica por data isolada.</a:t>
            </a:r>
          </a:p>
          <a:p>
            <a:r>
              <a:t>CNPJ 54871427000194 · Gestão: taxa, base e mínimo · Resumo do histórico: {"count": 2, "dates": ["2024-04-19", "2024-04-28"], "document_count": 2, "sources": [{"document_id": "670691", "title": "Regulamento", "reference_date": "2024-04-28", "version": "1", "page": "26", "url": "https://fnet.bmfbovespa.com.br/fnet/publico/visualizarDocumento?id=670691", "sha256": "bf16dd7f1a62d5cdbf2e2d54fef81783783f7310fbc99c3a8f00459bdf9d037b"}, {"document_id": "670689", "title": "Regulamento", "reference_date": "2024-04-19", "version": "1", "page": 27, "clause": "13.3", "url": "https://fnet.bmfbovespa.com.br/fnet/publico/visualizarDocumento?id=670689", "sha256": "891bc9bc5d87bbc02ec139077a84d2702eb81ea02035fb71d24f5b8366b94a0b"}], "reference": {"path": "history/54871427000194.json", "criterion_id": "management_fee", "total_count": 2, "preview_count": 2, "full_text_deferred": true, "sha256": "35d7cd99be50c7287c9fb675cf4f2e736002315295a225a9efa79c8d9186d874"}}</a:t>
            </a:r>
          </a:p>
          <a:p>
            <a:r>
              <a:t>CNPJ 60010416000112 · Gestão: taxa, base e mínimo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Gestão: taxa, base e mínimo · Resumo do histórico: {"count": 1, "dates": ["2025-10-09"], "document_count": 1, "sources": [{"document_id": "1051393", "title": "Regulamento", "reference_date": "2025-10-09", "version": "1", "page": "29, 46", "url": "https://fnet.bmfbovespa.com.br/fnet/publico/visualizarDocumento?id=1051393", "sha256": "8469d613078ffd5a6c1d217885d8a397a16342c0b937ae4aa24b106505f233ae"}], "reference": {"path": "history/60010416000112.json", "criterion_id": "management_fee", "total_count": 1, "preview_count": 1, "full_text_deferred": true, "sha256": "8e2bd813f4c51cf01f6bfaad164bafe69d2bbb192f753eac92da3a01c2e63046"}}</a:t>
            </a:r>
          </a:p>
          <a:p>
            <a:r>
              <a:t>CNPJ 62696791000193 · Gestão: taxa, base e mínimo · Regulamento · ID 1143317 · 20/03/2026 · versão Regulamento — referência 20/03/2026 · p. 28 · Anexo I, 13.1, Taxa de Gestão · https://fnet.bmfbovespa.com.br/fnet/publico/visualizarDocumento?id=1143317</a:t>
            </a:r>
          </a:p>
          <a:p>
            <a:r>
              <a:t>CNPJ 62696791000193 · Gestão: taxa, base e mínimo · Excerto da fonte:</a:t>
            </a:r>
          </a:p>
          <a:p>
            <a:r>
              <a:t>Taxa de Gestão 0% (zero por cento) ao ano apropriada diariamente na base de 252 (duzentos e cinquenta e dois) Dias Úteis, e paga mensalmente, até o 5º (quinto) Dia Útil do mês subsequente ao mês que se ref ere, incidente sobre o Patrimônio Líquido da Classe (“Taxa de Gestão”). Taxa Máxima de Custódia 0,00% (zero por cento) ao ano, incidente sobre o Patrimônio Líquido da Classe (“Taxa Máxima de Custódia”). Taxa de Performance Não será devido pela Classe o pagamento de Taxa de Perf ormance. 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a:t>
            </a:r>
          </a:p>
          <a:p>
            <a:r>
              <a:t>CNPJ 62696791000193 · Gestão: taxa, base e mínimo · Motivo: Não localizada uma cláusula material para este critério nos textos identificados e processados. A ausência de resultado não comprova inexistência da regra.</a:t>
            </a:r>
          </a:p>
          <a:p>
            <a:r>
              <a:t>CNPJ 62696791000193 · Gestão: taxa, base e mínimo · Versão e prevalência: Leitura específica das cláusulas indicadas; condições e conflitos preservados. Seleção documental atual não comprova vigência jurídica por data isolada.</a:t>
            </a:r>
          </a:p>
          <a:p>
            <a:r>
              <a:t>CNPJ 55563624000109 · Gestão: taxa, base e mínimo · Regulamento · ID 1192614 · 30/04/2026 · versão Regulamento30/04/2026 · p. 29 · AnexoI13.4–13.7.1 · https://fnet.bmfbovespa.com.br/fnet/publico/visualizarDocumento?id=1192614</a:t>
            </a:r>
          </a:p>
          <a:p>
            <a:r>
              <a:t>CNPJ 55563624000109 · Gestão: taxa, base e mínimo · Excerto da fonte:</a:t>
            </a:r>
          </a:p>
          <a:p>
            <a:r>
              <a:t>13.4 Sem prejuízo da Taxa Máxima de Gestão, pelos serviços de gestão, a Classe pagará ao GESTOR: (i) a taxa de gestão ordinária correspondente a 0,50% (cinquenta centésimos por cento) ao ano, incidente sobre o Patrimônio Líquido da Classe, observado o montante mínimo de R$ 40.000,00 (quarenta mil reais) ao mês, corrigido anualmente pela variação positiva do Índice de Preços ao Consumidor Amplo, divulgado pelo Instituto Brasileiro de Geografia e Estatística – IBGE (“Taxa de Gestão”); e (ii) a taxa de gestão extraordinária apurada e paga no momento de cada</a:t>
            </a:r>
          </a:p>
          <a:p>
            <a:r>
              <a:t>CNPJ 55563624000109 · Gestão: taxa, base e mínimo · Condição: Adicional é por integralização, não taxa anual.</a:t>
            </a:r>
          </a:p>
          <a:p>
            <a:r>
              <a:t>CNPJ 55563624000109 · Gestão: taxa, base e mínimo · Versão e prevalência: Leitura específica das cláusulas indicadas; condições e conflitos preservados. Seleção documental atual não comprova vigência jurídica por data isolada.</a:t>
            </a:r>
          </a:p>
          <a:p>
            <a:r>
              <a:t>CNPJ 55563624000109 · Gestão: taxa, base e mínimo · Resumo do histórico: {"count": 3, "dates": ["2025-01-31", "2026-01-31", "2026-04-30"], "document_count": 3, "sources": [{"document_id": "1192614", "title": "Regulamento", "reference_date": "2026-04-30", "version": "1", "page": "29", "url": "https://fnet.bmfbovespa.com.br/fnet/publico/visualizarDocumento?id=1192614", "sha256": "f56e63ace0acde41d2f47fb48f1ac7f3f7df5e2d32de092d7c5e075a52516632"}, {"document_id": "1178840", "title": "Demonstrações Financeiras", "reference_date": "2026-01-31", "version": "1", "page": 29, "url": "https://fnet.bmfbovespa.com.br/fnet/publico/visualizarDocumento?id=1178840", "sha256": "c458e98664c5c907ddb5a05a94b120bed4e05295b2bfc420f5ba69af0a229abe"}, {"document_id": "891861", "title": "Demonstrações Financeiras", "reference_date": "2025-01-31", "version": "1", "page": 30, "url": "https://fnet.bmfbovespa.com.br/fnet/publico/visualizarDocumento?id=891861", "sha256": "e9cb9e6ddbe505fe068cfcac33605165a98313489de0d3ce6d4d238263c3f3e7"}], "reference": {"path": "history/55563624000109.json", "criterion_id": "management_fee", "total_count": 3, "preview_count": 3, "full_text_deferred": true, "sha256": "7835d573fb58a3c19adf5b8ecc2aee2bdbb9a88f7a0c0209b5f262b64c7522e3"}}</a:t>
            </a:r>
          </a:p>
          <a:p>
            <a:r>
              <a:t>CNPJ 62552447000120 · Gestão: taxa, base e mínimo · Motivo: Não localizada uma cláusula material para este critério nos textos identificados e processados. A ausência de resultado não comprova inexistência da regra.</a:t>
            </a:r>
          </a:p>
          <a:p>
            <a:r>
              <a:t>CNPJ 63953620000165 · Gestão: taxa, base e mínimo · Anexo ao Regulamento · ID 1222863 · 02/06/2026 · versão AnexoConsignadoPrivado02/06/2026 · p. 20 · Capítulo13TaxadeGestão · https://fnet.bmfbovespa.com.br/fnet/publico/visualizarDocumento?id=1222863</a:t>
            </a:r>
          </a:p>
          <a:p>
            <a:r>
              <a:t>CNPJ 63953620000165 · Gestão: taxa, base e mínimo · Excerto da fonte:</a:t>
            </a:r>
          </a:p>
          <a:p>
            <a:r>
              <a:t>0,05% (cinco centésimos por cento) ao ano, apropriada diariamente na base de 252 (duzentos e cinquenta e dois) Dias Úteis, e paga mensalmente, até o 5º (quinto) Dia Útil do mês subsequente ao mês que se refere, incidente sobre o Patrimônio Líquido da Classe alocado em Direitos Creditórios Consignado Privado e/ou Ativos de Liquidez MT, observada remuneração mínima mensal de R$ 2.500,00 (dois mil e quinhentos reais), a ser corrigida anualmente, em janeiro de cada ano, pela variação</a:t>
            </a:r>
          </a:p>
          <a:p>
            <a:r>
              <a:t>CNPJ 63953620000165 · Gestão: taxa, base e mínimo · Versão e prevalência: Leitura específica das cláusulas indicadas; condições e conflitos preservados. Seleção documental atual não comprova vigência jurídica por data isolada.</a:t>
            </a:r>
          </a:p>
          <a:p>
            <a:r>
              <a:t>CNPJ 63953620000165 · Gestão: taxa, base e mínimo · Resumo do histórico: {"count": 8, "dates": ["2026-04-28", "2026-05-08", "2026-05-15"], "document_count": 3, "sources": [{"document_id": "1327859", "title": "Demonstrações Financeiras - Fusão, cisão e incorporação", "reference_date": "2026-05-15", "version": "1", "page": 28, "url": "https://fnet.bmfbovespa.com.br/fnet/publico/visualizarDocumento?id=1327859", "sha256": "dca1c68babb97f887528c3e2e47596a9c30f507b067981a35655b2f2da9c8054"}, {"document_id": "1298691", "title": "Demonstrações Financeiras - Fusão, cisão e incorporação", "reference_date": "2026-05-08", "version": "1", "page": 28, "url": "https://fnet.bmfbovespa.com.br/fnet/publico/visualizarDocumento?id=1298691", "sha256": "58c570d9b8d4d265330d3db3ea81c435b8e44a6dab4002aa37790652a1ee9819"}, {"document_id": "1282180", "title": "Demonstrações Financeiras - Fusão, cisão e incorporação", "reference_date": "2026-04-28", "version": "1", "page": 29, "url": "https://fnet.bmfbovespa.com.br/fnet/publico/visualizarDocumento?id=1282180", "sha256": "afaaa0e6809be4385e5bdb6c911aac582032c5bdbac3d7750234bf9eaf00438a"}], "reference": {"path": "history/63953620000165.json", "criterion_id": "management_fee", "total_count": 8, "preview_count": 3, "full_text_deferred": true, "sha256": "a7b89077f5e21098c2d601c303faabc3ff6b9729f89d8afecdc60fe1404720c1"}}</a:t>
            </a:r>
          </a:p>
          <a:p>
            <a:r>
              <a:t>CNPJ 54871427000194 · Performance: benchmark e apuração · Regulamento · ID 670691 · 28/04/2024 · versão Regulamento — referência 28/04/2024 · p. 26 · Anexo I, 13.3 · https://fnet.bmfbovespa.com.br/fnet/publico/visualizarDocumento?id=670691</a:t>
            </a:r>
          </a:p>
          <a:p>
            <a:r>
              <a:t>CNPJ 54871427000194 · Performance: benchmark e apuração · Excerto da fonte:</a:t>
            </a:r>
          </a:p>
          <a:p>
            <a:r>
              <a:t>13.3 Não serão cobradas da Classe ou dos Cotistas taxas de perf ormance, de ingresso ou de saída. Taxa de Gestão 13.4 Pelos serviços de gestão, a Classe pagará a Taxa de Gestão nos seguintes moldes: o valor correspondente a 0,20% (vinte centésimos por cento) ao ano aplicado sobre o Patrimônio Líquido, observado o valor mínimo de R$ 15.000,00 (quinze mil reais) mensais atualizado pela variação positiva do IGP-M a cada período de 12 (doze) meses, contados a partir do mês em que ocorrer a primeira integralização de Cotas (inclusive). 13.4.1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13.4.2 A Taxa de Gestão será calculada e provisionada todo Dia Útil à razão de 1/252 (um inteiro e duzentos e cinquenta e dois avos) com base no valor do Patrimônio Líquido do Dia Útil anterior. 13.4.3 A Taxa de Gestão será paga mensalmente ao GESTOR, observado o disposto no item 13.5</a:t>
            </a:r>
          </a:p>
          <a:p>
            <a:r>
              <a:t>CNPJ 54871427000194 · Performance: benchmark e apuração · Motivo: Não localizada uma cláusula material para este critério nos textos identificados e processados. A ausência de resultado não comprova inexistência da regra.</a:t>
            </a:r>
          </a:p>
          <a:p>
            <a:r>
              <a:t>CNPJ 54871427000194 · Performance: benchmark e apuração · Versão e prevalência: Leitura específica das cláusulas indicadas; condições e conflitos preservados. Seleção documental atual não comprova vigência jurídica por data isolada.</a:t>
            </a:r>
          </a:p>
          <a:p>
            <a:r>
              <a:t>CNPJ 60010416000112 · Performance: benchmark e apuração · Regulamento · ID 1051393 · 09/10/2025 · versão Regulamento09/10/2025 · p. 29 · AnexoI12.2 · https://fnet.bmfbovespa.com.br/fnet/publico/visualizarDocumento?id=1051393</a:t>
            </a:r>
          </a:p>
          <a:p>
            <a:r>
              <a:t>CNPJ 60010416000112 · Performance: benchmark e apuração · Excerto da fonte:</a:t>
            </a:r>
          </a:p>
          <a:p>
            <a:r>
              <a:t>12.2 Não serão cobradas da Classe ou dos Cotistas taxas de perf ormance, de ingresso ou de saída. Taxa Máxima de Custódia 12.3 Pelos serviços de custódia qualificada dos Direitos Creditórios e dos Ativos Financeiros de Liquidez não será devida nenhuma remuneração ao Custodiante, de modo que taxa máxima de custódia a ser paga pela Classe ao Custodiante corresponde a 0% (zero por cento) ao ano. Remuneração do Agente de Retenção/Cobrança 12.4 Para a prestação de serviços à Classe, o Agente de Retenção/Cobrança f ará jus a uma remuneração a ser auf erida todo Dia Útil e paga mensalmente, a título de Encargo da Cla</a:t>
            </a:r>
          </a:p>
          <a:p>
            <a:r>
              <a:t>CNPJ 60010416000112 · Performance: benchmark e apuração · Motivo: Não localizada uma cláusula material para este critério nos textos identificados e processados. A ausência de resultado não comprova inexistência da regra.</a:t>
            </a:r>
          </a:p>
          <a:p>
            <a:r>
              <a:t>CNPJ 60010416000112 · Performance: benchmark e apuração · Versão e prevalência: Leitura específica das cláusulas indicadas; condições e conflitos preservados. Seleção documental atual não comprova vigência jurídica por data isolada.</a:t>
            </a:r>
          </a:p>
          <a:p>
            <a:r>
              <a:t>CNPJ 62696791000193 · Performance: benchmark e apuração · Regulamento · ID 1143317 · 20/03/2026 · versão Regulamento — referência 20/03/2026 · p. 28 · Anexo I, 13.1, Taxa de Performance · https://fnet.bmfbovespa.com.br/fnet/publico/visualizarDocumento?id=1143317</a:t>
            </a:r>
          </a:p>
          <a:p>
            <a:r>
              <a:t>CNPJ 62696791000193 · Performance: benchmark e apuração · Excerto da fonte:</a:t>
            </a:r>
          </a:p>
          <a:p>
            <a:r>
              <a:t>Taxa de Performance Não será devido pela Classe o pagamento de Taxa de Perf ormance. 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equivalente a 0,9% (nove décimos por cento) ao ano aplicado sobre o Patrimônio Anexo I ao Regulamento Líquido, observado o limite máximo de 4,5% (quatro inteiros e cinquenta centésimos por cento) do volume captado na respectiva oferta (“Taxa Máxima de Distribuição”).A Taxa Máxima de BTG Pactual SAC: 0800 772 2827 | Ouvidoria: 0800 722 0048 | btgpactual.co m 23</a:t>
            </a:r>
          </a:p>
          <a:p>
            <a:r>
              <a:t>CNPJ 62696791000193 · Performance: benchmark e apuração · Regulamento · ID 1143317 · 20/03/2026 · versão Regulamento — referência 20/03/2026 · p. 29 · Anexo I, 13.1, Taxa de Ingresso · https://fnet.bmfbovespa.com.br/fnet/publico/visualizarDocumento?id=1143317</a:t>
            </a:r>
          </a:p>
          <a:p>
            <a:r>
              <a:t>CNPJ 62696791000193 · Performance: benchmark e apuração · Excerto da fonte:</a:t>
            </a:r>
          </a:p>
          <a:p>
            <a:r>
              <a:t>Taxa de Ingresso Não será cobrada dos Cotistas Taxa de Ingresso. 14 TRIBUTAÇÃO 14.1 O disposto neste Capítulo f oi elaborado com base na legislação e regulamentação em vigor produzindo ef eitos, tem por objetivo descrever de f orma sumária o tratamento tributário aplicável em regra aos cotistas, ao Fundo e à Classe, não se aplicando aos cotistas sujeitos a regras de tributação específicas, na f orma da legislação e regulamentação em vigor. 14.2 Há exceções (inclusive relativas à natureza ou ao domicílio do investidor para fins fiscais) em relação ao tratamento tributário descrito abaixo e tributos adicionais que podem ser aplicados, motivo pelo qual os cotistas devem consultar seus assessores jurídicos com relação à tributação aplicável nos investimentos realizados na Classe. Tributação da Classe / Operações da carteira: Como regra geral, os rendimentos auferidos pela carteira da Classe não estão sujeitos à incidência do imposto de renda, exceto ganhos auferidos em aplicações financeiras de renda fixa ou variável, que se sujeitam à incidência do Imposto de Renda Retido na Fonte (“IRF”) de acordo com as mesmas regras de tributação aplic</a:t>
            </a:r>
          </a:p>
          <a:p>
            <a:r>
              <a:t>CNPJ 62696791000193 · Performance: benchmark e apuração · Motivo: Não localizada uma cláusula material para este critério nos textos identificados e processados. A ausência de resultado não comprova inexistência da regra.</a:t>
            </a:r>
          </a:p>
          <a:p>
            <a:r>
              <a:t>CNPJ 62696791000193 · Performance: benchmark e apuração · Versão e prevalência: Leitura específica das cláusulas indicadas; condições e conflitos preservados. Seleção documental atual não comprova vigência jurídica por data isolada.</a:t>
            </a:r>
          </a:p>
          <a:p>
            <a:r>
              <a:t>CNPJ 55563624000109 · Performance: benchmark e apuração · Regulamento · ID 1192614 · 30/04/2026 · versão Regulamento30/04/2026 · p. 29 · AnexoI13.10 · https://fnet.bmfbovespa.com.br/fnet/publico/visualizarDocumento?id=1192614</a:t>
            </a:r>
          </a:p>
          <a:p>
            <a:r>
              <a:t>CNPJ 55563624000109 · Performance: benchmark e apuração · Excerto da fonte:</a:t>
            </a:r>
          </a:p>
          <a:p>
            <a:r>
              <a:t>13.10 Não serão cobradas taxas de performance da Classe, e nem taxas de ingresso ou de saída dos Cotistas que integralizarem ou resgatarem suas Cotas. BTG Pactual SAC: 0800 772 28 27 - Ouvidoria: 0800 722 00 48 - btgpactual.com 22</a:t>
            </a:r>
          </a:p>
          <a:p>
            <a:r>
              <a:t>CNPJ 55563624000109 · Performance: benchmark e apuração · Motivo: Não localizada uma cláusula material para este critério nos textos identificados e processados. A ausência de resultado não comprova inexistência da regra.</a:t>
            </a:r>
          </a:p>
          <a:p>
            <a:r>
              <a:t>CNPJ 55563624000109 · Performance: benchmark e apuração · Versão e prevalência: Leitura específica das cláusulas indicadas; condições e conflitos preservados. Seleção documental atual não comprova vigência jurídica por data isolada.</a:t>
            </a:r>
          </a:p>
          <a:p>
            <a:r>
              <a:t>CNPJ 62552447000120 · Performance: benchmark e apuração · Regulamento · ID 1200623 · 21/05/2026 · versão Consolidado21/05/2026 aprovado pelo ato1200625 · p. 30 · AnexoI13.1 TaxadePerformance/Ingresso · https://fnet.bmfbovespa.com.br/fnet/publico/visualizarDocumento?id=1200623</a:t>
            </a:r>
          </a:p>
          <a:p>
            <a:r>
              <a:t>CNPJ 62552447000120 · Performance: benchmark e apuração · Excerto da fonte:</a:t>
            </a:r>
          </a:p>
          <a:p>
            <a:r>
              <a:t>Taxa de Performance Não será devido pela Classe o pagamento de Taxa de Perf ormance. Taxa de Ingresso Não será cobrada dos Cotistas Taxa de Ingresso . CAPÍTULO 14 – CUSTOS REFERENTES À DEFESA DOS INTERESSES DA CLASSE 14.1 Todos os custos e despesas ref eridos neste Capítulo, inclusive para salvaguarda de direitos e prerrogativas da Classe e/ou com a cobrança judicial e/ou extrajudicial de Direitos Creditórios Inadimplidos, serão de inteira responsabilidade da Classe, não est ando o Administrador, o Gestor, o Endossante, os Devedores, o Custodiante e quaisquer de suas respectivas pessoas contr</a:t>
            </a:r>
          </a:p>
          <a:p>
            <a:r>
              <a:t>CNPJ 62552447000120 · Performance: benchmark e apuração · Motivo: Não localizada uma cláusula material para este critério nos textos identificados e processados. A ausência de resultado não comprova inexistência da regra.</a:t>
            </a:r>
          </a:p>
          <a:p>
            <a:r>
              <a:t>CNPJ 62552447000120 · Performance: benchmark e apuração · Versão e prevalência: Leitura específica das cláusulas indicadas; condições e conflitos preservados. Seleção documental atual não comprova vigência jurídica por data isolada.</a:t>
            </a:r>
          </a:p>
          <a:p>
            <a:r>
              <a:t>CNPJ 63953620000165 · Performance: benchmark e apuração · Anexo ao Regulamento · ID 1222863 · 02/06/2026 · versão AnexoConsignadoPrivado02/06/2026 · p. 20 · Capítulo13 · https://fnet.bmfbovespa.com.br/fnet/publico/visualizarDocumento?id=1222863</a:t>
            </a:r>
          </a:p>
          <a:p>
            <a:r>
              <a:t>CNPJ 63953620000165 · Performance: benchmark e apuração · Excerto da fonte:</a:t>
            </a:r>
          </a:p>
          <a:p>
            <a:r>
              <a:t>Taxa de Performance Não será devido pelas Classes o pagamento de Taxa de Performance. 0,00% (zero por cento) ao ano, incidente sobre o Patrimônio Líquido da Classe Taxa Máxima de Custódia (“Taxa Máxima de Custódia”). Taxa Máxima de Distribuição Não será cobrada Taxa de Distribuição. Taxa de Ingresso Não será cobrada da Classe ou dos Cotistas taxa de ingresso. CAPÍTULO 14 – CUSTOS REFERENTES À DEFESA DOS INTERESSES DA CLASSE 14.1 Todos os custos e despesas referidos neste Capítulo, inclusive para salvaguarda de direitos e prerrogativas da</a:t>
            </a:r>
          </a:p>
          <a:p>
            <a:r>
              <a:t>CNPJ 63953620000165 · Performance: benchmark e apuração · Motivo: Cláusula primária localizada e citada, mas sua lista/condições extensas não admitem uma síntese literal curta confirmada. O trecho integral permanece nas fontes.</a:t>
            </a:r>
          </a:p>
          <a:p>
            <a:r>
              <a:t>CNPJ 63953620000165 · Performance: benchmark e apuração · Versão e prevalência: Leitura específica das cláusulas indicadas; condições e conflitos preservados. Seleção documental atual não comprova vigência jurídica por data isolada.</a:t>
            </a:r>
          </a:p>
          <a:p>
            <a:r>
              <a:t>CNPJ 54871427000194 · Custódia, escrituração e encargos · Regulamento · ID 670691 · 28/04/2024 · versão Regulamento — referência 28/04/2024 · p. 26 · Anexo I, 13.7–13.8 · https://fnet.bmfbovespa.com.br/fnet/publico/visualizarDocumento?id=670691</a:t>
            </a:r>
          </a:p>
          <a:p>
            <a:r>
              <a:t>CNPJ 54871427000194 · Custódia, escrituração e encargos · Excerto da fonte:</a:t>
            </a:r>
          </a:p>
          <a:p>
            <a:r>
              <a:t>13.7 Pelos serviços de retenção e cobrança, prestada nos termos deste Anexo e do Contrato de Retenção/Cobrança, será devida pela Classe ao Agente de Retenção/Cobrança a remuneração prevista no respectivo Contrato de Retenção/Cobrança. Taxa Máxima de Custódia 13.8 Pelos serviços de custódia qualificada dos Direitos Creditórios e dos Ativos Financeiros de Liquidez não será devida nenhuma remuneração ao CUSTODIANTE, de modo que taxa máxima de custódia a ser paga pela Classe ao CUSTODIANTE corresponde a 0% (zero por cento) ao ano. CAPÍTULO 14 – CUSTOS REFERENTES À DEFESA DOS INTERESSES DA CLASSE 14.1 Caso a Classe não possua recursos disponíveis, em moeda corrente nacional, suf icientes para a adoção e manutenção, direta ou indireta, dos procedimentos judiciais e extrajudiciais necessários à cobrança dos Direitos Creditórios e dos Ativos Financeiros de Liquidez de titularidade da Classe e à def esa dos direitos, interesses e prerrogativas da Classe, a maioria dos titulares das Cotas, reunidos em Assembleia Especial de Cotistas, poderá aprovar o aporte de recursos à Classe, por meio da integralização de novas Cotas, a ser realizada por todos os titulares das Cotas para assegurar, se for o caso, a</a:t>
            </a:r>
          </a:p>
          <a:p>
            <a:r>
              <a:t>CNPJ 54871427000194 · Custódia, escrituração e encargos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Custódia, escrituração e encargos · Versão e prevalência: Leitura específica das cláusulas indicadas; condições e conflitos preservados. Seleção documental atual não comprova vigência jurídica por data isolada.</a:t>
            </a:r>
          </a:p>
          <a:p>
            <a:r>
              <a:t>CNPJ 54871427000194 · Custódia, escrituração e encargos · Resumo do histórico: {"count": 1, "dates": ["2024-04-28"], "document_count": 1, "sources": [{"document_id": "670691", "title": "Regulamento", "reference_date": "2024-04-28", "version": "1", "page": "26", "url": "https://fnet.bmfbovespa.com.br/fnet/publico/visualizarDocumento?id=670691", "sha256": "bf16dd7f1a62d5cdbf2e2d54fef81783783f7310fbc99c3a8f00459bdf9d037b"}], "reference": {"path": "history/54871427000194.json", "criterion_id": "custody_fee", "total_count": 1, "preview_count": 1, "full_text_deferred": true, "sha256": "35d7cd99be50c7287c9fb675cf4f2e736002315295a225a9efa79c8d9186d874"}}</a:t>
            </a:r>
          </a:p>
          <a:p>
            <a:r>
              <a:t>CNPJ 60010416000112 · Custódia, escrituração e encargos · Regulamento · ID 1051393 · 09/10/2025 · versão Regulamento09/10/2025 · p. 29 · AnexoI12.3–12.4 · https://fnet.bmfbovespa.com.br/fnet/publico/visualizarDocumento?id=1051393</a:t>
            </a:r>
          </a:p>
          <a:p>
            <a:r>
              <a:t>CNPJ 60010416000112 · Custódia, escrituração e encargos · Excerto da fonte:</a:t>
            </a:r>
          </a:p>
          <a:p>
            <a:r>
              <a:t>12.3 Pelos serviços de custódia qualificada dos Direitos Creditórios e dos Ativos Financeiros de Liquidez não será devida nenhuma remuneração ao Custodiante, de modo que taxa máxima de custódia a ser paga pela Classe ao Custodiante corresponde a 0% (zero por cento) ao ano. Remuneração do Agente de Retenção/Cobrança 12.4 Para a prestação de serviços à Classe, o Agente de Retenção/Cobrança f ará jus a uma remuneração a ser auf erida todo Dia Útil e paga mensalmente, a título de Encargo da Classe, a qual será calculada com base na seguinte f órmula:</a:t>
            </a:r>
          </a:p>
          <a:p>
            <a:r>
              <a:t>CNPJ 60010416000112 · Custódia, escrituração e encargos · Regulamento · ID 1051393 · 09/10/2025 · versão Regulamento09/10/2025 · p. 30 · AnexoI12.4definições,12.5–12.5.1 · https://fnet.bmfbovespa.com.br/fnet/publico/visualizarDocumento?id=1051393</a:t>
            </a:r>
          </a:p>
          <a:p>
            <a:r>
              <a:t>CNPJ 60010416000112 · Custódia, escrituração e encargos · Excerto da fonte:</a:t>
            </a:r>
          </a:p>
          <a:p>
            <a:r>
              <a:t>RAC = Remuneração do Agente de Retenção e Cobrança,tendo como valor 4,00% (quatro por cento) ao ano. 12.5 A remuneração prevista no item 12.4 acima será calculada pelo Administrador e paga diretamente ao Agente de Retenção/Cobrança até o 5º (quinto) Dia Útil do mês subsequente ao da prestação dos serviços, conf orme estabelecido no Contrato de Serviços MT. 12.5.1. Independentemente do acima disposto, na hipótese de venda de qualquer parte dos Direitos Creditórios Elegíveis a terceiros, inclusive no caso de liquidação da Classe, o Agente de Retenção/Cobra</a:t>
            </a:r>
          </a:p>
          <a:p>
            <a:r>
              <a:t>CNPJ 60010416000112 · Custódia, escrituração e encargos · Condição: Fórmula do RAC tem composição base 252 DU/21 dias; não somar a 4% do PL como taxa administrativa.</a:t>
            </a:r>
          </a:p>
          <a:p>
            <a:r>
              <a:t>CNPJ 60010416000112 · Custódia, escrituração e encargos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Custódia, escrituração e encargos · Versão e prevalência: Leitura específica das cláusulas indicadas; condições e conflitos preservados. Seleção documental atual não comprova vigência jurídica por data isolada.</a:t>
            </a:r>
          </a:p>
          <a:p>
            <a:r>
              <a:t>CNPJ 60010416000112 · Custódia, escrituração e encargos · Resumo do histórico: {"count": 1, "dates": ["2025-10-09"], "document_count": 1, "sources": [{"document_id": "1051393", "title": "Regulamento", "reference_date": "2025-10-09", "version": "1", "page": "29-31", "url": "https://fnet.bmfbovespa.com.br/fnet/publico/visualizarDocumento?id=1051393", "sha256": "8469d613078ffd5a6c1d217885d8a397a16342c0b937ae4aa24b106505f233ae"}], "reference": {"path": "history/60010416000112.json", "criterion_id": "custody_fee", "total_count": 1, "preview_count": 1, "full_text_deferred": true, "sha256": "8e2bd813f4c51cf01f6bfaad164bafe69d2bbb192f753eac92da3a01c2e63046"}}</a:t>
            </a:r>
          </a:p>
          <a:p>
            <a:r>
              <a:t>CNPJ 62696791000193 · Custódia, escrituração e encargos · Regulamento · ID 1143317 · 20/03/2026 · versão Regulamento — referência 20/03/2026 · p. 28 · Anexo I, 13.1, Custódia e Distribuição · https://fnet.bmfbovespa.com.br/fnet/publico/visualizarDocumento?id=1143317</a:t>
            </a:r>
          </a:p>
          <a:p>
            <a:r>
              <a:t>CNPJ 62696791000193 · Custódia, escrituração e encargos · Excerto da fonte:</a:t>
            </a:r>
          </a:p>
          <a:p>
            <a:r>
              <a:t>Taxa Máxima de Custódia 0,00% (zero por cento) ao ano, incidente sobre o Patrimônio Líquido da Classe (“Taxa Máxima de Custódia”). Taxa de Performance Não será devido pela Classe o pagamento de Taxa de Perf ormance. 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equivalente a 0,9% (nove décimos por cento) ao ano aplicado sobre o Patrimônio Anexo I ao Regulamento Líquido, observado o limite máximo de 4,5% (quatro inteiros e cinquenta centésimos por cento) do volume captado na respectiva oferta (“Taxa Máxima de Distribuição”).A</a:t>
            </a:r>
          </a:p>
          <a:p>
            <a:r>
              <a:t>CNPJ 62696791000193 · Custódia, escrituração e encargos · Regulamento · ID 1143317 · 20/03/2026 · versão Regulamento — referência 20/03/2026 · p. 29 · Anexo I, 13.1, Distribuição · https://fnet.bmfbovespa.com.br/fnet/publico/visualizarDocumento?id=1143317</a:t>
            </a:r>
          </a:p>
          <a:p>
            <a:r>
              <a:t>CNPJ 62696791000193 · Custódia, escrituração e encargos · Excerto da fonte:</a:t>
            </a:r>
          </a:p>
          <a:p>
            <a:r>
              <a:t>Distribuição será calculada e provisionada todo Dia Útil à razão de 1/252 (um inteiro e duzentos e cinquenta e dois avos) com base no valor do Patrimônio Líquido do Dia Útil anterior. Nos termos da Resolução CVM 160, o coordenador líder poderá destinar parte ou a totalidade da sua remuneração, à vista ou a prazo, aos distribuidores contratados, conforme previsto no contrato de distribuição da oferta e/ou nos termos de adesão ao contrato de distribuição. A Taxa Máxima de Distribuição será paga mensalmente por período vencido, até o 10º (décimo) Dia Útil do mês subsequente à prestação dos serviços, a partir do mês em que ocorrer a primeira integralização de Cotas da Classe Taxa de Ingresso Não será cobrada dos Cotistas Taxa de Ingresso. 14 TRIBUTAÇÃO 14.1 O disposto neste Capítulo f oi elaborado co</a:t>
            </a:r>
          </a:p>
          <a:p>
            <a:r>
              <a:t>CNPJ 62696791000193 · Custódia, escrituração e encargos · Motivo: Não localizada uma cláusula material para este critério nos textos identificados e processados. A ausência de resultado não comprova inexistência da regra.</a:t>
            </a:r>
          </a:p>
          <a:p>
            <a:r>
              <a:t>CNPJ 62696791000193 · Custódia, escrituração e encargos · Versão e prevalência: Leitura específica das cláusulas indicadas; condições e conflitos preservados. Seleção documental atual não comprova vigência jurídica por data isolada.</a:t>
            </a:r>
          </a:p>
          <a:p>
            <a:r>
              <a:t>CNPJ 55563624000109 · Custódia, escrituração e encargos · Regulamento · ID 1192614 · 30/04/2026 · versão Regulamento30/04/2026 · p. 29 · AnexoI13.8–13.9 · https://fnet.bmfbovespa.com.br/fnet/publico/visualizarDocumento?id=1192614</a:t>
            </a:r>
          </a:p>
          <a:p>
            <a:r>
              <a:t>CNPJ 55563624000109 · Custódia, escrituração e encargos · Excerto da fonte:</a:t>
            </a:r>
          </a:p>
          <a:p>
            <a:r>
              <a:t>13.8 Pelos serviços de custódia qualificada das Cotas da Classe Investida e dos Ativos Financeiros de Liquidez não será devida nenhuma remuneração ao CUSTODIANTE, de modo que taxa de custódia a ser paga pela Classe ao CUSTODIANTE corresponde a 0% (zero por cento) ao ano. Taxas Máxima de Distribuição 13.9 Tendo em vista que não há distribuidores das Cotas que prestem serviços de forma contínua ao Fundo, o presente Regulamento e Anexo Descritivo não preveem uma taxa máxima de distribuição aplicável a todas as emissões, nos termos do Ofício-Circular-Conju</a:t>
            </a:r>
          </a:p>
          <a:p>
            <a:r>
              <a:t>CNPJ 55563624000109 · Custódia, escrituração e encargos · Versão e prevalência: Leitura específica das cláusulas indicadas; condições e conflitos preservados. Seleção documental atual não comprova vigência jurídica por data isolada.</a:t>
            </a:r>
          </a:p>
          <a:p>
            <a:r>
              <a:t>CNPJ 55563624000109 · Custódia, escrituração e encargos · Resumo do histórico: {"count": 1, "dates": ["2026-04-30"], "document_count": 1, "sources": [{"document_id": "1192614", "title": "Regulamento", "reference_date": "2026-04-30", "version": "1", "page": "29", "url": "https://fnet.bmfbovespa.com.br/fnet/publico/visualizarDocumento?id=1192614", "sha256": "f56e63ace0acde41d2f47fb48f1ac7f3f7df5e2d32de092d7c5e075a52516632"}], "reference": {"path": "history/55563624000109.json", "criterion_id": "custody_fee", "total_count": 1, "preview_count": 1, "full_text_deferred": true, "sha256": "7835d573fb58a3c19adf5b8ecc2aee2bdbb9a88f7a0c0209b5f262b64c7522e3"}}</a:t>
            </a:r>
          </a:p>
          <a:p>
            <a:r>
              <a:t>CNPJ 62552447000120 · Custódia, escrituração e encargos · Motivo: Não localizada uma cláusula material para este critério nos textos identificados e processados. A ausência de resultado não comprova inexistência da regra.</a:t>
            </a:r>
          </a:p>
          <a:p>
            <a:r>
              <a:t>CNPJ 63953620000165 · Custódia, escrituração e encargos · Motivo: Não localizada uma cláusula material para este critério nos textos identificados e processados. A ausência de resultado não comprova inexistência da regra.</a:t>
            </a:r>
          </a:p>
          <a:p>
            <a:r>
              <a:t>CNPJ 54871427000194 · Classes e séries de cotas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Classes e séries de cotas · Resumo do histórico: {"count": 1, "dates": ["2024-04-28"], "document_count": 1, "sources": [{"document_id": "670691", "title": "Regulamento", "reference_date": "2024-04-28", "version": "1", "page": "7, 14", "url": "https://fnet.bmfbovespa.com.br/fnet/publico/visualizarDocumento?id=670691", "sha256": "bf16dd7f1a62d5cdbf2e2d54fef81783783f7310fbc99c3a8f00459bdf9d037b"}], "reference": {"path": "history/54871427000194.json", "criterion_id": "quota_classes", "total_count": 1, "preview_count": 1, "full_text_deferred": true, "sha256": "35d7cd99be50c7287c9fb675cf4f2e736002315295a225a9efa79c8d9186d874"}}</a:t>
            </a:r>
          </a:p>
          <a:p>
            <a:r>
              <a:t>CNPJ 60010416000112 · Classes e séries de cotas · Demonstrações Financeiras - Fusão, cisão e incorporação · ID 1298690 · 2026-05-08 · versão 1 · p. 30 · https://fnet.bmfbovespa.com.br/fnet/publico/visualizarDocumento?id=1298690</a:t>
            </a:r>
          </a:p>
          <a:p>
            <a:r>
              <a:t>CNPJ 60010416000112 · Classes e séries de cotas · Excerto da fonte:</a:t>
            </a:r>
          </a:p>
          <a:p>
            <a:r>
              <a:t>Durante o período de investimento, a Administradora poderá deliberar por realizar novas  emissões de cotas subordinadas, sem a necessidade de aprovação em Assembleia Especial  de Cotistas ou alteração do Regulamento, limitadas ao montante máximo de R$ 50.000  (cinquenta milhões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subordinadas emitidas não sejam  superiores aos prazos de vencimento da primeira emissão.</a:t>
            </a:r>
          </a:p>
          <a:p>
            <a:r>
              <a:t>CNPJ 60010416000112 · Classes e séries de cotas · Demonstrações Financeiras - Fusão, cisão e incorporação · ID 1298690 · 2026-05-08 · versão 1 · p. 7 · https://fnet.bmfbovespa.com.br/fnet/publico/visualizarDocumento?id=1298690</a:t>
            </a:r>
          </a:p>
          <a:p>
            <a:r>
              <a:t>CNPJ 60010416000112 · Classes e séries de cotas · Excerto da fonte:</a:t>
            </a:r>
          </a:p>
          <a:p>
            <a:r>
              <a:t>01/12/2025 a  Nota  08/05/2026  Patrimônio líquido no início do período  Total de 493.487,7492 cotas sêniores a R$ 1.136,5211 560.859  Total de 2.329.794,7852 cotas sêniores 2 a R$ 1.141,3012 2.658.998  Total de 954,2302 cotas subordinadas a R$ 150.939,4087 144.031</a:t>
            </a:r>
          </a:p>
          <a:p>
            <a:r>
              <a:t>CNPJ 60010416000112 · Classes e séries de cotas · Demonstrações Financeiras - Fusão, cisão e incorporação · ID 1298690 · 2026-05-08 · versão 1 · p. 7 · https://fnet.bmfbovespa.com.br/fnet/publico/visualizarDocumento?id=1298690</a:t>
            </a:r>
          </a:p>
          <a:p>
            <a:r>
              <a:t>CNPJ 60010416000112 · Classes e séries de cotas · Excerto da fonte:</a:t>
            </a:r>
          </a:p>
          <a:p>
            <a:r>
              <a:t>Patrimônio líquido no final do período  Total de 2.865.592,8479 cotas a R$ 1.285,7151 3.672.765  Total de 493.487,7492 cotas sêniores a R$ 1.230,3042 607.141  Total de 2.362.150,8684 cotas sêniores 2 a R$ 1.236,9918 2.921.961  Total de 954,2302 cotas subordinadas a R$ 150.554,2733 143.663</a:t>
            </a:r>
          </a:p>
          <a:p>
            <a:r>
              <a:t>CNPJ 60010416000112 · Classes e séries de cotas · Condição: Documentos atuais selecionados no inventário por categoria/escopo; a data documental isolada não comprova vigência jurídica.</a:t>
            </a:r>
          </a:p>
          <a:p>
            <a:r>
              <a:t>CNPJ 60010416000112 · Classes e séries de cotas · Versão e prevalência: Documentos atuais selecionados no inventário por categoria/escopo; a data documental isolada não comprova vigência jurídica.</a:t>
            </a:r>
          </a:p>
          <a:p>
            <a:r>
              <a:t>CNPJ 60010416000112 · Classes e séries de cotas · Resumo do histórico: {"count": 9, "dates": ["2025-11-30", "2026-03-18", "2026-04-16"], "document_count": 3, "sources": [{"document_id": "1282181", "title": "Demonstrações Financeiras - Fusão, cisão e incorporação", "reference_date": "2026-04-16", "version": "1", "page": 7, "url": "https://fnet.bmfbovespa.com.br/fnet/publico/visualizarDocumento?id=1282181", "sha256": "b1c6566e43a00bcd00c8a7f30c77b7f86e351bd8e355bbea113f46d1dafda703"}, {"document_id": "1224477", "title": "Demonstrações Financeiras - Fusão, cisão e incorporação", "reference_date": "2026-03-18", "version": "1", "page": 7, "url": "https://fnet.bmfbovespa.com.br/fnet/publico/visualizarDocumento?id=1224477", "sha256": "0751bf0a75bc3b44c2748f5000226665c6ec6698a90c4dc6170b4e6c187759ae"}, {"document_id": "1126154", "title": "Demonstrações Financeiras", "reference_date": "2025-11-30", "version": "1", "page": 7, "url": "https://fnet.bmfbovespa.com.br/fnet/publico/visualizarDocumento?id=1126154", "sha256": "a01e7ccf88c548f12c95cba8526d7efbef6b585c112cd4668eca781c292090b0"}], "reference": {"path": "history/60010416000112.json", "criterion_id": "quota_classes", "total_count": 9, "preview_count": 3, "full_text_deferred": true, "sha256": "8e2bd813f4c51cf01f6bfaad164bafe69d2bbb192f753eac92da3a01c2e63046"}}</a:t>
            </a:r>
          </a:p>
          <a:p>
            <a:r>
              <a:t>CNPJ 62696791000193 · Classes e séries de cotas · Instrumento Particular de Emissão de Cotas · ID 1148821 · 2026-03-27 · versão 1 · p. 1 · 20.000 · https://fnet.bmfbovespa.com.br/fnet/publico/visualizarDocumento?id=1148821</a:t>
            </a:r>
          </a:p>
          <a:p>
            <a:r>
              <a:t>CNPJ 62696791000193 · Classes e séries de cotas · Excerto da fonte:</a:t>
            </a:r>
          </a:p>
          <a:p>
            <a:r>
              <a:t>20.000 (vinte mil) Cotas Subordinadas Júnior, com valor nominal unitário de R$ 1.000,00 (mil reais),  perfazendo o montante total de R$ 20.000.000,00 (vinte milhões de reais), as quais serão objeto de  colocação privada, de acordo com os termos e condições definidos no Apêndice da Subclasse  Subordinada Júnior constante do Anexo I Regulamento e descritas abaixo (“2ª Emissão da Subclasse  Subordinada Júnior”):</a:t>
            </a:r>
          </a:p>
          <a:p>
            <a:r>
              <a:t>CNPJ 62696791000193 · Classes e séries de cotas · Instrumento Particular de Emissão de Cotas · ID 1148821 · 2026-03-27 · versão 1 · p. 2 · https://fnet.bmfbovespa.com.br/fnet/publico/visualizarDocumento?id=1148821</a:t>
            </a:r>
          </a:p>
          <a:p>
            <a:r>
              <a:t>CNPJ 62696791000193 · Classes e séries de cotas · Excerto da fonte:</a:t>
            </a:r>
          </a:p>
          <a:p>
            <a:r>
              <a:t>2. Aprovar a 2ª (segunda) emissão da Subclasse Sênior da Classe, composta por até 150.000  (cento e cinquenta mil) Cotas Seniores, com valor nominal unitário de R$ 1.000,00 (mil reais),  perfazendo o montante total de R$ 150.000.000,00 (cento e cinquenta milhões de reais), as quais  serão objeto de colocação privada, de acordo com os termos e condições descritos no Apêndice da  Subclasse Sênior constante do Anexo I Regulamento e descritas abaixo (“2ª Emissão da Subclasse  Sênior”):</a:t>
            </a:r>
          </a:p>
          <a:p>
            <a:r>
              <a:t>CNPJ 62696791000193 · Classes e séries de cotas · Instrumento Particular de Emissão de Cotas · ID 1148821 · 2026-03-27 · versão 1 · p. 2 · https://fnet.bmfbovespa.com.br/fnet/publico/visualizarDocumento?id=1148821</a:t>
            </a:r>
          </a:p>
          <a:p>
            <a:r>
              <a:t>CNPJ 62696791000193 · Classes e séries de cotas · Excerto da fonte:</a:t>
            </a:r>
          </a:p>
          <a:p>
            <a:r>
              <a:t>d) Forma de Integralização: as Cotas Subordinadas Júnior serão integralizadas à vista, junto ao  seu respectivo agente de custódia e/ou da Administradora na qualidade de escriturador das  cotas; e</a:t>
            </a:r>
          </a:p>
          <a:p>
            <a:r>
              <a:t>CNPJ 62696791000193 · Classes e séries de cotas · Condição: Documentos atuais selecionados no inventário por categoria/escopo; a data documental isolada não comprova vigência jurídica.</a:t>
            </a:r>
          </a:p>
          <a:p>
            <a:r>
              <a:t>CNPJ 62696791000193 · Classes e séries de cotas · Versão e prevalência: Documentos atuais selecionados no inventário por categoria/escopo; a data documental isolada não comprova vigência jurídica.</a:t>
            </a:r>
          </a:p>
          <a:p>
            <a:r>
              <a:t>CNPJ 62696791000193 · Classes e séries de cotas · Resumo do histórico: {"count": 2, "dates": ["2026-03-20", "2026-03-27"], "document_count": 2, "sources": [{"document_id": "1148821", "title": "Instrumento Particular de Emissão de Cotas", "reference_date": "2026-03-27", "version": "1", "page": "1-2", "url": "https://fnet.bmfbovespa.com.br/fnet/publico/visualizarDocumento?id=1148821", "sha256": "86900e9dd498403696bfffbd4196443c83ec4d51ff21135e073c1966e1adf4c0"}, {"document_id": "1143317", "title": "Regulamento", "reference_date": "2026-03-20", "version": "1", "page": 16, "clause": "7.2", "url": "https://fnet.bmfbovespa.com.br/fnet/publico/visualizarDocumento?id=1143317", "sha256": "32f62818d51c3ebeaf9ec012d3d7867f15c1aed6d10f0867c157a290df1cea48"}], "reference": {"path": "history/62696791000193.json", "criterion_id": "quota_classes", "total_count": 2, "preview_count": 2, "full_text_deferred": true, "sha256": "0e9ec199848320ec945708123ae0cb6075d76c05d94beed814d582031d353926"}}</a:t>
            </a:r>
          </a:p>
          <a:p>
            <a:r>
              <a:t>CNPJ 55563624000109 · Classes e séries de cotas · Regulamento · ID 1192614 · 2026-04-30 · versão 1 · p. 40 · https://fnet.bmfbovespa.com.br/fnet/publico/visualizarDocumento?id=1192614</a:t>
            </a:r>
          </a:p>
          <a:p>
            <a:r>
              <a:t>CNPJ 55563624000109 · Classes e séries de cotas · Excerto da fonte:</a:t>
            </a:r>
          </a:p>
          <a:p>
            <a:r>
              <a:t>(xxiv) Subordinação de determinadas Cotas da Classe Investida a outras subclasses ou séries de  cotas das Classes Investidas aos quais pertencem. A Classe Investida adquirirá apenas cotas  subordinadas mezaninos da Classe Investida, as quais se subordinam às cotas seniores da Classe  Investida para efeitos de resgate. Os resgates de cotas subordinadas mezanino tipicamente têm sua  realização condicionada ainda à manutenção da razão de garantia e à existência de disponibilidades  da Classe Investida. O ADMINISTRADOR, o GESTOR e o CUSTODIANTE e suas respectivas partes  relacionadas, encontram-se impossibilitados de assegurar que a amortização e o resgate das cotas  subordinadas mezanino da Classe Investida que venham a ser adquiridas pela Classe ocorrerão nas  datas originalmente previstas, sendo que, caso tais amortizações e/ou resgates não ocorram, não será  devido pelo FUNDO ou qualquer pessoa, incluindo o ADMINISTRADOR, o GESTOR e o CUSTODIANTE,  do FUNDO ou da Classe Investida qualquer multa ou penalidade, de qualquer natureza. O não resgate  de cotas subordinadas mezanino da Classe Investida detidas pela Classe poderá impactar  negativamente no fluxo de pagamento de resgate da Classe e/ou no valor patrimonial das Cotas da  Classe.</a:t>
            </a:r>
          </a:p>
          <a:p>
            <a:r>
              <a:t>CNPJ 55563624000109 · Classes e séries de cotas · Regulamento · ID 1192614 · 2026-04-30 · versão 1 · p. 31 · 15.1.1 · https://fnet.bmfbovespa.com.br/fnet/publico/visualizarDocumento?id=1192614</a:t>
            </a:r>
          </a:p>
          <a:p>
            <a:r>
              <a:t>CNPJ 55563624000109 · Classes e séries de cotas · Excerto da fonte:</a:t>
            </a:r>
          </a:p>
          <a:p>
            <a:r>
              <a:t>15.1.1 Riscos de Crédito:</a:t>
            </a:r>
          </a:p>
          <a:p>
            <a:r>
              <a:t> (i) Risco de concentração na Classe Investida. Nos termos do presente Regulamento, a Classe  deverá manter alocado, no mínimo, 67% (sessenta e sete por cento) do Patrimônio Líquido nas Cotas  da Classe Investida. Alterações na condição econômico-financeira e na expectativa de desempenho ou  resultados da Classe Investida poderão, isolada ou cumulativamente, afetar negativamente o  rendimento do investimento nas Cotas, de forma mais severa do que se a Classe adotasse uma  estratégia de investimento de maior diversificação. O risco associado às aplicações de qualquer fundo  de investimento é diretamente proporcional à concentração da sua carteira, sendo que, quanto maior  essa concentração, maior será a sua vulnerabilidade.</a:t>
            </a:r>
          </a:p>
          <a:p>
            <a:r>
              <a:t> (ii) Risco relativo à Classe Investida. Nos termos deste Anexo, a Classe deverá manter alocado, no  mínimo, 67% (sessenta e sete por cento) do Patrimônio Líquido em Cotas da Classe Investida. Os  investimentos realizados pela Classe Investida poderão estar sujeitos a flutuações típicas do mercado,  risco de crédito, risco sistêmico, condições adversas de liquidez e negociação atípica nos mercados de  atuação, bem como outros riscos diversos. Este Anexo não contém a descrição de todas as  características, incluindo os riscos, da Classe Investida.</a:t>
            </a:r>
          </a:p>
          <a:p>
            <a:r>
              <a:t> (iii) Risco Relativo ao Pagamento de Encargos da Classe Investida. Tendo em vista a estrutura da  Classe Investida – que emitiu cotas sêniores, cotas subordinadas mezanino e cotas subordinadas júnior  – em situação ordinária os encargos da Classe Investida são arcados pelas cotas subordinadas júnior,  que se subordinam às cotas subordinadas mezanino e às cotas sêniores para fins de amortização,  resgate e distribuição de rendimentos, não impactando, portanto, as Cotas da Classe Investida. Não  obstante o funcionamento da Classe Investida em situação ordinária, em cenários extraordinários, na  eventualidade do valor das cotas subordinadas júnior ficar reduzido a zero ou a valor negativo, os  encargos da Classe Investida conforme previstos em seu regulamento, inclusive mas não se limitando  as remunerações dos prestadores de serviços essenciais, passarão a ser arcados pelas cotas  subordinadas mezanino (que são as Cotas da Classe Investida), impactando no valor do investimento  da Classe na Classe Investida, e consequentemente, o investimento dos Cotistas na Classe.</a:t>
            </a:r>
          </a:p>
          <a:p>
            <a:r>
              <a:t> (iv) Riscos referentes à carteira da Classe Investida. Na forma do Anexo Normativo II da Resolução  CVM 175, a Classe Investida investe, direta ou indiretamente, no mínimo, 67% (sessenta e sete por  cento) do seu patrimônio em direitos creditórios originados pela Mercado Pago. O investimento em tais  direitos creditórios está sujeito a fatores de risco específicos, conforme detalhados no regulamento da  Classe Investida, incluindo, mas não se limitando a:</a:t>
            </a:r>
          </a:p>
          <a:p>
            <a:r>
              <a:t> (a) Risco de liquidez dos direitos creditórios. O investimento da Classe Investida em direitos  creditórios apresenta peculiaridades em relação às aplicações usuais da maioria dos  fundos de investimento brasileiros, haja vista que não existe, no Brasil, mercado  secundário com liquidez para tais direitos creditórios. Caso a Classe Investida precise  vender os direitos creditórios adquiridos, poderá não haver mercado comprador para  tais créditos, bem como o preço de alienação de tais direitos creditórios poderá refletir  essa falta de liquidez, causando perda ao patrimônio da Classe Investida e,  consequentemente, à Classe.</a:t>
            </a:r>
          </a:p>
          <a:p>
            <a:r>
              <a:t>CNPJ 55563624000109 · Classes e séries de cotas · AGE · ID 1192603 · 2026-04-30 · versão 1 · p. 1 · 4.1 · https://fnet.bmfbovespa.com.br/fnet/publico/visualizarDocumento?id=1192603</a:t>
            </a:r>
          </a:p>
          <a:p>
            <a:r>
              <a:t>CNPJ 55563624000109 · Classes e séries de cotas · Excerto da fonte:</a:t>
            </a:r>
          </a:p>
          <a:p>
            <a:r>
              <a:t>4.1. Aprovar a alteração do Anexo I da Classe Única para a reorganização do passivo de sua subclasse  única em novas subclasses, quais sejam, subclasse A (“Subclasse A”), subclasse B (“Subclasse B”) e  subclasse C (“Subclasse C” e, quando em conjunto com a Subclasse A e a Subclasse B, as “Subclasses”),  considerando que serão mantidas as condições de investimento originalmente pactuadas com os cotistas,  como critérios de aplicação, resgate, amortização e política de investimento da Classe Única, diferindo-  se, exclusivamente, em relação ao prazo de duração cada Subclasse.</a:t>
            </a:r>
          </a:p>
          <a:p>
            <a:r>
              <a:t>CNPJ 55563624000109 · Classes e séries de cotas · Condição: Documentos atuais selecionados no inventário por categoria/escopo; a data documental isolada não comprova vigência jurídica.</a:t>
            </a:r>
          </a:p>
          <a:p>
            <a:r>
              <a:t>CNPJ 55563624000109 · Classes e séries de cotas · Versão e prevalência: Documentos atuais selecionados no inventário por categoria/escopo; a data documental isolada não comprova vigência jurídica.</a:t>
            </a:r>
          </a:p>
          <a:p>
            <a:r>
              <a:t>CNPJ 55563624000109 · Classes e séries de cotas · Resumo do histórico: {"count": 3, "dates": ["2025-01-31", "2026-01-31", "2026-04-30"], "document_count": 3, "sources": [{"document_id": "1192614", "title": "Regulamento", "reference_date": "2026-04-30", "version": "1", "page": "15", "url": "https://fnet.bmfbovespa.com.br/fnet/publico/visualizarDocumento?id=1192614", "sha256": "f56e63ace0acde41d2f47fb48f1ac7f3f7df5e2d32de092d7c5e075a52516632"}, {"document_id": "1178840", "title": "Demonstrações Financeiras", "reference_date": "2026-01-31", "version": "1", "page": 25, "url": "https://fnet.bmfbovespa.com.br/fnet/publico/visualizarDocumento?id=1178840", "sha256": "c458e98664c5c907ddb5a05a94b120bed4e05295b2bfc420f5ba69af0a229abe"}, {"document_id": "891861", "title": "Demonstrações Financeiras", "reference_date": "2025-01-31", "version": "1", "page": 26, "url": "https://fnet.bmfbovespa.com.br/fnet/publico/visualizarDocumento?id=891861", "sha256": "e9cb9e6ddbe505fe068cfcac33605165a98313489de0d3ce6d4d238263c3f3e7"}], "reference": {"path": "history/55563624000109.json", "criterion_id": "quota_classes", "total_count": 3, "preview_count": 3, "full_text_deferred": true, "sha256": "7835d573fb58a3c19adf5b8ecc2aee2bdbb9a88f7a0c0209b5f262b64c7522e3"}}</a:t>
            </a:r>
          </a:p>
          <a:p>
            <a:r>
              <a:t>CNPJ 62552447000120 · Classes e séries de cotas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Classes e séries de cotas · Resumo do histórico: {"count": 1, "dates": ["2025-09-03"], "document_count": 1, "sources": [{"document_id": "988020", "title": "Instrumento Particular de Emissão de Cotas", "reference_date": "2025-09-03", "version": "1", "page": "5", "url": "https://fnet.bmfbovespa.com.br/fnet/publico/visualizarDocumento?id=988020", "sha256": "8ecc8a771bb9713d64e5fc2052c489664cb0433801a9280db68e5187d35bf7a5"}], "reference": {"path": "history/62552447000120.json", "criterion_id": "quota_classes", "total_count": 1, "preview_count": 1, "full_text_deferred": true, "sha256": "d95db8c0613d67ee84118c734588665265ea6b02f86a0318d6a844cbe1d0f82f"}}</a:t>
            </a:r>
          </a:p>
          <a:p>
            <a:r>
              <a:t>CNPJ 63953620000165 · Classes e séries de cotas · AGE · ID 1313935 · 2026-08-31 · versão 1 · p. 1 · 4.1 · https://fnet.bmfbovespa.com.br/fnet/publico/visualizarDocumento?id=1313935</a:t>
            </a:r>
          </a:p>
          <a:p>
            <a:r>
              <a:t>CNPJ 63953620000165 · Classes e séries de cotas · Excerto da fonte:</a:t>
            </a:r>
          </a:p>
          <a:p>
            <a:r>
              <a:t>4.1. Aprovar a realização da incorporação das parcelas cindidas descritas no Anexo I à presente ata (“Parcelas  Cindidas”), com base no fechamento de 28 de agosto de 2026 (“Data Base”), condicionada à aprovação da cisão  da CLASSE ÚNICA DO MT CONSIGNADO PRIVADO I FUNDO DE INVESTIMENTO EM DIREITOS CREDITÓRIOS  RESPONSABILIDADE LIMITADA, inscrita no CNPJ sob o nº 60.010.416/0001-12 (“Classe Cindida”), com a  subsequente incorporação da respectiva Parcela Cindida, emitindo-se cotas seniores da Classe, a serem  atribuídas integralmente aos cotistas da Classe Cindida, no valor da respectiva Parcela Cindida, na Data-Base, de  acordo com o valor das cotas da Classe na mesma data. A partir da Data Base, todos os direitos e obrigações dos  ativos cindidos serão sucedidos à Classe;</a:t>
            </a:r>
          </a:p>
          <a:p>
            <a:r>
              <a:t>CNPJ 63953620000165 · Classes e séries de cotas · Condição: Documentos atuais selecionados no inventário por categoria/escopo; a data documental isolada não comprova vigência jurídica.</a:t>
            </a:r>
          </a:p>
          <a:p>
            <a:r>
              <a:t>CNPJ 63953620000165 · Classes e séries de cotas · Versão e prevalência: Documentos atuais selecionados no inventário por categoria/escopo; a data documental isolada não comprova vigência jurídica.</a:t>
            </a:r>
          </a:p>
          <a:p>
            <a:r>
              <a:t>CNPJ 63953620000165 · Classes e séries de cotas · Resumo do histórico: {"count": 11, "dates": ["2026-07-29", "2026-08-17", "2026-08-21"], "document_count": 3, "sources": [{"document_id": "1309436", "title": "AGE", "reference_date": "2026-08-21", "version": "1", "page": 1, "clause": "4.1", "url": "https://fnet.bmfbovespa.com.br/fnet/publico/visualizarDocumento?id=1309436", "sha256": "f679de1621039dce7c665e3a742f213fd4d5047e12b96163b31ea4ae86f56817"}, {"document_id": "1298232", "title": "AGE", "reference_date": "2026-08-17", "version": "1", "page": 1, "clause": "4.1", "url": "https://fnet.bmfbovespa.com.br/fnet/publico/visualizarDocumento?id=1298232", "sha256": "75322e306547f725e73a2c6687b598e14d628caa84bd46a23508337a606866f6"}, {"document_id": "1277543", "title": "AGE", "reference_date": "2026-07-29", "version": "1", "page": 1, "url": "https://fnet.bmfbovespa.com.br/fnet/publico/visualizarDocumento?id=1277543", "sha256": "c2fb499fd6e25251a221d4e9dbb5d1378fb5efde5a58eee091868faf52d326c0"}], "reference": {"path": "history/63953620000165.json", "criterion_id": "quota_classes", "total_count": 11, "preview_count": 3, "full_text_deferred": true, "sha256": "a7b89077f5e21098c2d601c303faabc3ff6b9729f89d8afecdc60fe1404720c1"}}</a:t>
            </a:r>
          </a:p>
          <a:p>
            <a:r>
              <a:t>CNPJ 54871427000194 · Ofertas e colocação · AGE · ID 1055482 · 2025-12-02 · versão 1 · p. 1 · 4.1 · https://fnet.bmfbovespa.com.br/fnet/publico/visualizarDocumento?id=1055482</a:t>
            </a:r>
          </a:p>
          <a:p>
            <a:r>
              <a:t>CNPJ 54871427000194 · Ofertas e colocação · Excerto da fonte:</a:t>
            </a:r>
          </a:p>
          <a:p>
            <a:r>
              <a:t>4.1. Aprovar a nova emissão de Cotas pela Classe, todas nominativas e escriturais, com preço unitário de emissão  correspondente ao valor das Cotas da Classe em circulação quando na data de aprovação da Nova Emissão,  perfazendo o montante total de emissão de até R$ 650.000.000 (seiscentos e cinquenta milhões de reais), conforme  as características constantes do Regulamento e do Anexo da Classe (“Novas Cotas” e “Nova Emissão”,  respectivamente), e descritas abaixo:</a:t>
            </a:r>
          </a:p>
          <a:p>
            <a:r>
              <a:t>(i) Rito: as Novas Cotas não serão objeto de oferta pública, conforme facultado pelo artigo 8º, inciso IV, da  Resolução CVM nº 160, uma vez que a Classe se enquadra nos requisitos do referido dispositivo;</a:t>
            </a:r>
          </a:p>
          <a:p>
            <a:r>
              <a:t>(ii) Preço de Emissão: o preço unitário de emissão corresponderá ao valor das Cotas da Classe em circulação  quando na data de aprovação da Nova Emissão (“Preço de Emissão”);</a:t>
            </a:r>
          </a:p>
          <a:p>
            <a:r>
              <a:t>(iii) Preço de Integralização: o Preço de Integralização corresponderá ao valor das Cotas da Classe em  circulação quando da transferência dos valores para liquidação financeira (“Preço de Integralização”);</a:t>
            </a:r>
          </a:p>
          <a:p>
            <a:r>
              <a:t>(iv) Forma de Integralização: as Cotas serão integralizadas à vista, em moeda corrente nacional, pelo Preço  de Integralização, junto ao seu respectivo agente de custódia e/ou da Administradora na qualidade de  escriturador das cotas; e</a:t>
            </a:r>
          </a:p>
          <a:p>
            <a:r>
              <a:t>(v) Período de colocação: a subscrição das Cotas, objeto da Nova Emissão, deverão ser realizadas no prazo  máximo de 180 (cento e oitenta) dias, contados da data de efeitos do presente instrumento.</a:t>
            </a:r>
          </a:p>
          <a:p>
            <a:r>
              <a:t>CNPJ 54871427000194 · Ofertas e colocação · Condição: Trechos do documento específico identificado com data mais recente; vigência jurídica não inferida.</a:t>
            </a:r>
          </a:p>
          <a:p>
            <a:r>
              <a:t>CNPJ 54871427000194 · Ofertas e colocação · Versão e prevalência: Trechos do documento específico identificado com data mais recente; vigência jurídica não inferida.</a:t>
            </a:r>
          </a:p>
          <a:p>
            <a:r>
              <a:t>CNPJ 54871427000194 · Ofertas e colocação · Resumo do histórico: {"count": 7, "dates": ["2024-06-13", "2024-12-10"], "document_count": 3, "sources": [{"document_id": "798101", "title": "Anúncio de Encerramento", "reference_date": "2024-12-10", "version": "1", "page": "1-2", "url": "https://fnet.bmfbovespa.com.br/fnet/publico/visualizarDocumento?id=798101", "sha256": "71618c432ad86002484571d66922b873e4fa91ed3543a109134ddee0bd872f20"}, {"document_id": "679614", "title": "Anúncio de Início", "reference_date": "2024-06-13", "version": "1", "page": 1, "url": "https://fnet.bmfbovespa.com.br/fnet/publico/visualizarDocumento?id=679614", "sha256": "aad43ed14bfa0576144a306c466aea031fce0d01d3cb3de6aebd120f11164bfa"}, {"document_id": "683482", "title": "AGE", "reference_date": "2024-06-13", "version": "1", "page": 2, "url": "https://fnet.bmfbovespa.com.br/fnet/publico/visualizarDocumento?id=683482", "sha256": "3afbe254027691929935eaf19ebbb8634fb2ccd8e2fbea2cb2d81a7818f8d648"}], "reference": {"path": "history/54871427000194.json", "criterion_id": "offers", "total_count": 7, "preview_count": 3, "full_text_deferred": true, "sha256": "35d7cd99be50c7287c9fb675cf4f2e736002315295a225a9efa79c8d9186d874"}}</a:t>
            </a:r>
          </a:p>
          <a:p>
            <a:r>
              <a:t>CNPJ 60010416000112 · Ofertas e colocação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Ofertas e colocação · Resumo do histórico: {"count": 1, "dates": ["2025-03-20"], "document_count": 1, "sources": [{"document_id": "993785", "title": "Instrumento Particular de Constituição/Encerramento do Fundo", "reference_date": "2025-03-20", "version": "1", "page": "1-2", "url": "https://fnet.bmfbovespa.com.br/fnet/publico/visualizarDocumento?id=993785", "sha256": "0826e0eae2c51afabf59bbc49fc7647598d03da5ca6de0f9725850a8bd6af457"}], "reference": {"path": "history/60010416000112.json", "criterion_id": "offers", "total_count": 1, "preview_count": 1, "full_text_deferred": true, "sha256": "8e2bd813f4c51cf01f6bfaad164bafe69d2bbb192f753eac92da3a01c2e63046"}}</a:t>
            </a:r>
          </a:p>
          <a:p>
            <a:r>
              <a:t>CNPJ 62696791000193 · Ofertas e colocação · Regulamento · ID 1143317 · 2026-03-20 · versão 1 · p. 39 · 2.6 · https://fnet.bmfbovespa.com.br/fnet/publico/visualizarDocumento?id=1143317</a:t>
            </a:r>
          </a:p>
          <a:p>
            <a:r>
              <a:t>CNPJ 62696791000193 · Ofertas e colocação · Excerto da fonte:</a:t>
            </a:r>
          </a:p>
          <a:p>
            <a:r>
              <a:t>2.6. O valor de mercado das Cotas de emissão da Classe poderá sofrer oscilações frequentes e  significativas, inclusive ao longo do dia. Como consequência, o valor de mercado das cotas de  emissão da Classe poderá não ref letir necessariamente seu valor patrimonial. Não será devida  pela Classe ou por qualquer pessoa, incluindo as instituições responsáveis pela distribuição  das cotas, os demais Cotistas da Classe, o Administrador e as instituições participantes da  of erta, qualquer multa ou penalidade de qualquer natureza, caso ocorra, por qualquer razão,</a:t>
            </a:r>
          </a:p>
          <a:p>
            <a:r>
              <a:t> (i) o alongamento do período de amortização das Cotas; (ii) a liquidação da Classe; ou, ainda,</a:t>
            </a:r>
          </a:p>
          <a:p>
            <a:r>
              <a:t> (iii) caso os Cotistas sof ram qualquer dano ou prejuízo resultante de tais eventos.</a:t>
            </a:r>
          </a:p>
          <a:p>
            <a:r>
              <a:t>3. Risco TributárioOs rendimentos e ganhos líquidos auf eridos pela Classe em aplicações f inanceiras de  renda f ixa ou de renda variável sujeitam-se à incidência do imposto de renda na f onte, observadas as  mesmas normas aplicáveis às pessoas jurídicas, podendo esse imposto ser compensado com o retido na  f onte pela Classe quando da distribuição de rendimentos e ganhos de capital aos Cotistas. Os rendimentos  auf eridos pela Classe, quando distribuídos aos Cotistas sujeitam-se à incidência do Imposto de Renda na  f onte à alíquota de 20% (vinte por cento). Os rendimentos e ganhos de capital auferidos pelos Cotistas na</a:t>
            </a:r>
          </a:p>
          <a:p>
            <a:r>
              <a:t>CNPJ 62696791000193 · Ofertas e colocação · Regulamento · ID 1143317 · 2026-03-20 · versão 1 · p. 28 · https://fnet.bmfbovespa.com.br/fnet/publico/visualizarDocumento?id=1143317</a:t>
            </a:r>
          </a:p>
          <a:p>
            <a:r>
              <a:t>CNPJ 62696791000193 · Ofertas e colocação · Excerto da fonte:</a:t>
            </a:r>
          </a:p>
          <a:p>
            <a:r>
              <a:t>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equivalente a 0,9% (nove décimos  por cento) ao ano aplicado sobre o Patrimônio Anexo I ao  Regulamento Líquido, observado o limite máximo de 4,5% (quatro  inteiros e cinquenta centésimos por cento) do volume captado na  respectiva oferta (“Taxa Máxima de Distribuição”).A Taxa Máxima de</a:t>
            </a:r>
          </a:p>
          <a:p>
            <a:r>
              <a:t>CNPJ 62696791000193 · Ofertas e colocação · Condição: Documentos atuais selecionados no inventário por categoria/escopo; a data documental isolada não comprova vigência jurídica.</a:t>
            </a:r>
          </a:p>
          <a:p>
            <a:r>
              <a:t>CNPJ 62696791000193 · Ofertas e colocação · Versão e prevalência: Documentos atuais selecionados no inventário por categoria/escopo; a data documental isolada não comprova vigência jurídica.</a:t>
            </a:r>
          </a:p>
          <a:p>
            <a:r>
              <a:t>CNPJ 62696791000193 · Ofertas e colocação · Resumo do histórico: {"count": 1, "dates": ["2026-03-27"], "document_count": 1, "sources": [{"document_id": "1148821", "title": "Instrumento Particular de Emissão de Cotas", "reference_date": "2026-03-27", "version": "1", "page": "1-3", "url": "https://fnet.bmfbovespa.com.br/fnet/publico/visualizarDocumento?id=1148821", "sha256": "86900e9dd498403696bfffbd4196443c83ec4d51ff21135e073c1966e1adf4c0"}], "reference": {"path": "history/62696791000193.json", "criterion_id": "offers", "total_count": 1, "preview_count": 1, "full_text_deferred": true, "sha256": "0e9ec199848320ec945708123ae0cb6075d76c05d94beed814d582031d353926"}}</a:t>
            </a:r>
          </a:p>
          <a:p>
            <a:r>
              <a:t>CNPJ 55563624000109 · Ofertas e colocação · Regulamento · ID 1192614 · 2026-04-30 · versão 1 · p. 25 · 12.9 · https://fnet.bmfbovespa.com.br/fnet/publico/visualizarDocumento?id=1192614</a:t>
            </a:r>
          </a:p>
          <a:p>
            <a:r>
              <a:t>CNPJ 55563624000109 · Ofertas e colocação · Excerto da fonte:</a:t>
            </a:r>
          </a:p>
          <a:p>
            <a:r>
              <a:t>12.9 Inclui-se entre as obrigações do GESTOR, contratar, em nome da Classe, se necessário, com terceiros  devidamente habilitados e autorizados, os serviços de distribuição das Cotas. A distribuição pública das Cotas  deverá ser realizada por distribuidores devidamente autorizados pela CVM, nos termos da regulamentação  aplicável.</a:t>
            </a:r>
          </a:p>
          <a:p>
            <a:r>
              <a:t>CNPJ 55563624000109 · Ofertas e colocação · Condição: Documentos atuais selecionados no inventário por categoria/escopo; a data documental isolada não comprova vigência jurídica.</a:t>
            </a:r>
          </a:p>
          <a:p>
            <a:r>
              <a:t>CNPJ 55563624000109 · Ofertas e colocação · Versão e prevalência: Documentos atuais selecionados no inventário por categoria/escopo; a data documental isolada não comprova vigência jurídica.</a:t>
            </a:r>
          </a:p>
          <a:p>
            <a:r>
              <a:t>CNPJ 55563624000109 · Ofertas e colocação · Resumo do histórico: {"count": 3, "dates": ["2024-07-03"], "document_count": 3, "sources": [{"document_id": "703295", "title": "Anúncio de Início", "reference_date": "2024-07-03", "version": "2", "page": 1, "url": "https://fnet.bmfbovespa.com.br/fnet/publico/visualizarDocumento?id=703295", "sha256": "12322b6dbf75e673723bd60910373db249451b72666792e18e0c7b6128f4608a"}, {"document_id": "702585", "title": "Anúncio de Início", "reference_date": "2024-07-03", "version": "1", "page": 1, "url": "https://fnet.bmfbovespa.com.br/fnet/publico/visualizarDocumento?id=702585", "sha256": "6708609ac7f0611118fb23ffd6d2cd6c7fd33275130407918ea42831baa712cd"}, {"document_id": "691674", "title": "Instrumento Particular de Emissão de Cotas", "reference_date": "2024-07-03", "version": "1", "page": 3, "url": "https://fnet.bmfbovespa.com.br/fnet/publico/visualizarDocumento?id=691674", "sha256": "78bf7b350f1785beae5f43bd209b5ed19e863cb9a2cff01542aac11dd63ca554"}], "reference": {"path": "history/55563624000109.json", "criterion_id": "offers", "total_count": 3, "preview_count": 3, "full_text_deferred": true, "sha256": "7835d573fb58a3c19adf5b8ecc2aee2bdbb9a88f7a0c0209b5f262b64c7522e3"}}</a:t>
            </a:r>
          </a:p>
          <a:p>
            <a:r>
              <a:t>CNPJ 62552447000120 · Ofertas e colocação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Ofertas e colocação · Resumo do histórico: {"count": 1, "dates": ["2025-09-03"], "document_count": 1, "sources": [{"document_id": "988020", "title": "Instrumento Particular de Emissão de Cotas", "reference_date": "2025-09-03", "version": "1", "page": "5-6", "url": "https://fnet.bmfbovespa.com.br/fnet/publico/visualizarDocumento?id=988020", "sha256": "8ecc8a771bb9713d64e5fc2052c489664cb0433801a9280db68e5187d35bf7a5"}], "reference": {"path": "history/62552447000120.json", "criterion_id": "offers", "total_count": 1, "preview_count": 1, "full_text_deferred": true, "sha256": "d95db8c0613d67ee84118c734588665265ea6b02f86a0318d6a844cbe1d0f82f"}}</a:t>
            </a:r>
          </a:p>
          <a:p>
            <a:r>
              <a:t>CNPJ 63953620000165 · Ofertas e colocação · Anexo ao Regulamento · ID 1222863 · 2026-06-02 · versão 1 · p. 10 · 6.9 · https://fnet.bmfbovespa.com.br/fnet/publico/visualizarDocumento?id=1222863</a:t>
            </a:r>
          </a:p>
          <a:p>
            <a:r>
              <a:t>CNPJ 63953620000165 · Ofertas e colocação · Excerto da fonte:</a:t>
            </a:r>
          </a:p>
          <a:p>
            <a:r>
              <a:t>6.9 As Cotas poderão ser objeto de oferta pública a ser realizada nos termos da Resolução CVM 160 (“Oferta”) e/ou  poderão ser colocadas de forma privada (“Colocação Privada”), bem como segundo outros ritos que venham a  ser previstos pela regulamentação. As Cotas deverão ser emitidas e subscritas dentro do prazo e nos termos e  condições da legislação aplicável, do presente Anexo e dos respectivos Boletins de Subscrição e/ou  Compromissos de Investimento.</a:t>
            </a:r>
          </a:p>
          <a:p>
            <a:r>
              <a:t>CNPJ 63953620000165 · Ofertas e colocação · Condição: Documentos atuais selecionados no inventário por categoria/escopo; a data documental isolada não comprova vigência jurídica.</a:t>
            </a:r>
          </a:p>
          <a:p>
            <a:r>
              <a:t>CNPJ 63953620000165 · Ofertas e colocação · Versão e prevalência: Documentos atuais selecionados no inventário por categoria/escopo; a data documental isolada não comprova vigência jurídica.</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Emissões e custos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Remuneração por subclasse e série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Remuneração por subclasse e série · Resumo do histórico: {"count": 1, "dates": ["2024-04-28"], "document_count": 1, "sources": [{"document_id": "670691", "title": "Regulamento", "reference_date": "2024-04-28", "version": "1", "page": "14", "url": "https://fnet.bmfbovespa.com.br/fnet/publico/visualizarDocumento?id=670691", "sha256": "bf16dd7f1a62d5cdbf2e2d54fef81783783f7310fbc99c3a8f00459bdf9d037b"}], "reference": {"path": "history/54871427000194.json", "criterion_id": "remuneration", "total_count": 1, "preview_count": 1, "full_text_deferred": true, "sha256": "35d7cd99be50c7287c9fb675cf4f2e736002315295a225a9efa79c8d9186d874"}}</a:t>
            </a:r>
          </a:p>
          <a:p>
            <a:r>
              <a:t>CNPJ 60010416000112 · Remuneração por subclasse e série · Instrumento Particular de Constituição/Encerramento do Fundo · ID 993785 · 20/03/2025 · versão 1ªemissão20/03/2025 · p. 5 · Suplemento1ªsênior BenchmarkSênior · https://fnet.bmfbovespa.com.br/fnet/publico/visualizarDocumento?id=993785</a:t>
            </a:r>
          </a:p>
          <a:p>
            <a:r>
              <a:t>CNPJ 60010416000112 · Remuneração por subclasse e série · Excerto da fonte:</a:t>
            </a:r>
          </a:p>
          <a:p>
            <a:r>
              <a:t>4,80% (quatro inteiros e oitenta centésimos por cento)calculado por Dia Útil à base de 1/252 (um inteiro e duzentos e cinquenta e dois avos); e (ii) “Benchmark Sênior Adicional”: o parâmetro adicional de rentabilidade a ser buscado pela Classe para remunerar as Cotas Seniores, correspondente 15,00% (quinze por cento) do excesso de spread das Cotas Subordinadas com cap de remuneração total das Cotas Seniores pela variação do CDI acrescido de 6,00% (seis por cento</a:t>
            </a:r>
          </a:p>
          <a:p>
            <a:r>
              <a:t>CNPJ 60010416000112 · Remuneração por subclasse e série · Condição: Termo específico da primeira emissão de 20/03/2025, distinto de taxa deperformance e do suplemento modelo com campos não preenchidos do regulamento.</a:t>
            </a:r>
          </a:p>
          <a:p>
            <a:r>
              <a:t>CNPJ 60010416000112 · Remuneração por subclasse e série · Versão e prevalência: Leitura específica das cláusulas indicadas; condições e conflitos preservados. Seleção documental atual não comprova vigência jurídica por data isolada.</a:t>
            </a:r>
          </a:p>
          <a:p>
            <a:r>
              <a:t>CNPJ 60010416000112 · Remuneração por subclasse e série · Resumo do histórico: {"count": 3, "dates": ["2025-03-20", "2025-05-12"], "document_count": 2, "sources": [{"document_id": "1004656", "title": "AGE", "reference_date": "2025-05-12", "version": "1", "page": 5, "url": "https://fnet.bmfbovespa.com.br/fnet/publico/visualizarDocumento?id=1004656", "sha256": "f6c9c009f6170e2b29f074b98522accec73f0c40efbf11f9ec2c8d3f1402616b"}, {"document_id": "993785", "title": "Instrumento Particular de Constituição/Encerramento do Fundo", "reference_date": "2025-03-20", "version": "1", "page": "4-5", "url": "https://fnet.bmfbovespa.com.br/fnet/publico/visualizarDocumento?id=993785", "sha256": "0826e0eae2c51afabf59bbc49fc7647598d03da5ca6de0f9725850a8bd6af457"}, {"document_id": "993785", "title": "Instrumento Particular de Constituição/Encerramento do Fundo", "reference_date": "2025-03-20", "version": "1", "page": 5, "url": "https://fnet.bmfbovespa.com.br/fnet/publico/visualizarDocumento?id=993785", "sha256": "0826e0eae2c51afabf59bbc49fc7647598d03da5ca6de0f9725850a8bd6af457"}], "reference": {"path": "history/60010416000112.json", "criterion_id": "remuneration", "total_count": 3, "preview_count": 3, "full_text_deferred": true, "sha256": "8e2bd813f4c51cf01f6bfaad164bafe69d2bbb192f753eac92da3a01c2e63046"}}</a:t>
            </a:r>
          </a:p>
          <a:p>
            <a:r>
              <a:t>CNPJ 62696791000193 · Remuneração por subclasse e série · Regulamento · ID 1143317 · 20/03/2026 · versão Regulamento — referência 20/03/2026 · p. 33 · Apêndice Sênior, 1.2 e 1.4 · https://fnet.bmfbovespa.com.br/fnet/publico/visualizarDocumento?id=1143317</a:t>
            </a:r>
          </a:p>
          <a:p>
            <a:r>
              <a:t>CNPJ 62696791000193 · Remuneração por subclasse e série · Excerto da fonte:</a:t>
            </a:r>
          </a:p>
          <a:p>
            <a:r>
              <a:t>1.2. As Cotas Seniores poderão ser divididas em séries com valores e prazos diferenciados para amortização, resgate e remuneração, sendo que cada série terá as mesmas características e conf erirá a seus titulares iguais direitos e obrigações nos termos deste Reg ulamento e do Apêndice ref erente a cada emissão/série de Cotas Seniores. 1.2. Benchmark. A Classe buscará atingir, para as Cotas Seniores, o “Benchmark”, correspondente à 100% (cem por cento) da variação positiva do CDI acrescida de 4,5% (quatro inteiros e cinco décimos por cento) ao ano. 1.3. O Benchmark não representa e nem devem ser considerados uma promessa, garantia ou sugestão de rentabilidade aos Cotistas Seniores, por parte da Classe, do Administrador, do Gestor e/ou do Cedente. 1.4. Independentemente do valor do Patrimônio Líquido da Classe, os Cotistas detentores de Cotas Seniores não f arão jus a uma rentabilidade superior ao Benchmark, o qual representará o limite máximo de remuneração possível para as Cotas Seniores. 2. Emissão, Subscrição e Integralização das Cotas 2.1. A Classe poderá emitir múltiplas Séries de Cotas Seniores, ficando ressalvado, no entanto, que cada nova Série de Cotas Seniores a ser emitida pela Classe</a:t>
            </a:r>
          </a:p>
          <a:p>
            <a:r>
              <a:t>CNPJ 62696791000193 · Remuneração por subclasse e série · Regulamento · ID 1143317 · 20/03/2026 · versão Regulamento — referência 20/03/2026 · p. 34 · Apêndice Sênior, 6.2 · https://fnet.bmfbovespa.com.br/fnet/publico/visualizarDocumento?id=1143317</a:t>
            </a:r>
          </a:p>
          <a:p>
            <a:r>
              <a:t>CNPJ 62696791000193 · Remuneração por subclasse e série · Excerto da fonte:</a:t>
            </a:r>
          </a:p>
          <a:p>
            <a:r>
              <a:t>6.2. Em complemento às Amortizações Programadas de Cotas Seniores, os Cotistas Seniores f arão jus, sempre que o Patrimônio Líquido da Classe assim permita e desde que o Valor Unitário das Cotas Seniores esteja superior ao valor de integralização das Cotas Seniores em circulação, a 50% (cinquenta por cento) de qualquer valor que exceder a Amortização das Cotas Subordinadas, conforme prevista no Apêndice da Subclasse Subordinada, a ser paga na Data de Amortização Programada de Cotas Seniores (“Amortização Extraordinária de Cotas Seniores”). 6.3. Os pagamentos das parcelas de Amortização e/ou de resgate das Cotas Seniores serão ef etuados, em moeda corrente nacional, pelo Valor Unitário das Cotas Seniores no dia do pagamento, calculado na forma descrita neste Apêndice e no Anexo I, por meio de depósito em conta de titularidade dos Cotistas titulares BTG Pactual 2 SAC: 0800 772 28 27 - Ouvidoria: 0800 722 00 48 - btgpactual.com</a:t>
            </a:r>
          </a:p>
          <a:p>
            <a:r>
              <a:t>CNPJ 62696791000193 · Remuneração por subclasse e série · Regulamento · ID 1143317 · 20/03/2026 · versão Regulamento — referência 20/03/2026 · p. 37 · Apêndice Júnior, 4.1–4.2 · https://fnet.bmfbovespa.com.br/fnet/publico/visualizarDocumento?id=1143317</a:t>
            </a:r>
          </a:p>
          <a:p>
            <a:r>
              <a:t>CNPJ 62696791000193 · Remuneração por subclasse e série · Excerto da fonte:</a:t>
            </a:r>
          </a:p>
          <a:p>
            <a:r>
              <a:t>4.1. Caso o Patrimônio Líquido da Classe assim permita, as Cotas Subordinadas f arão jus à amortização semestral, no último Dia Útil dos meses de janeiro e julho de cada ano, de valor equivalente ao excedente do valor de integralização das Cotas Subordinadas em circulação, limitado ao percentual de 100% (cem por cento) da variação positiva do CDI acrescida de 4,50% (quatro inteiros e cinco décimos por cento) ao ano, considerando, para tanto a razão entre (i) o valor de integralização das Cotas Subordinadas Júnior em circulação e (ii) o valor de cada uma das Cotas Subordinadas, a ser paga na Data de Amortização Programada de Cotas Seniores (“Amortização das Cotas Subordinadas”). 4.2. Em complemento às Amortizações das Cotas Subordinadas, os Cotistas Subordinados farão jus, sempre que o Patrimônio Líquido da Classe assim permita e desde que o Valor Unitário das Cotas Subordinadas esteja superior ao valor de integralização das Cotas Subordinadas em circulação, a 50% (cinquenta por cento) de qualquer valor que exceder a Amortização das Cotas Subordinadas, a ser paga na Data de Amortização Programada de Cotas Seniores (“Amortização Extraordinária de Cotas Seniores”). 5. Excesso de Subordinação 5.1. Verif icado excesso de subordinação,</a:t>
            </a:r>
          </a:p>
          <a:p>
            <a:r>
              <a:t>CNPJ 62696791000193 · Remuneração por subclasse e série · Condição: Benchmark é regra de atribuição, condicionado ao PL/resultados, sem garantia de rentabilidade. A subclasse mezanino é autorizada, mas não há apêndice mezanino no PDF consolidado obtido.</a:t>
            </a:r>
          </a:p>
          <a:p>
            <a:r>
              <a:t>CNPJ 62696791000193 · Remuneração por subclasse e série · Versão e prevalência: Leitura específica das cláusulas indicadas; condições e conflitos preservados. Seleção documental atual não comprova vigência jurídica por data isolada.</a:t>
            </a:r>
          </a:p>
          <a:p>
            <a:r>
              <a:t>CNPJ 62696791000193 · Remuneração por subclasse e série · Resumo do histórico: {"count": 1, "dates": ["2026-03-27"], "document_count": 1, "sources": [{"document_id": "1148821", "title": "Instrumento Particular de Emissão de Cotas", "reference_date": "2026-03-27", "version": "1", "page": "1-2", "url": "https://fnet.bmfbovespa.com.br/fnet/publico/visualizarDocumento?id=1148821", "sha256": "86900e9dd498403696bfffbd4196443c83ec4d51ff21135e073c1966e1adf4c0"}], "reference": {"path": "history/62696791000193.json", "criterion_id": "remuneration", "total_count": 1, "preview_count": 1, "full_text_deferred": true, "sha256": "0e9ec199848320ec945708123ae0cb6075d76c05d94beed814d582031d353926"}}</a:t>
            </a:r>
          </a:p>
          <a:p>
            <a:r>
              <a:t>CNPJ 55563624000109 · Remuneração por subclasse e série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Remuneração por subclasse e série · Resumo do histórico: {"count": 1, "dates": ["2026-04-30"], "document_count": 1, "sources": [{"document_id": "1192614", "title": "Regulamento", "reference_date": "2026-04-30", "version": "1", "page": "16-17", "url": "https://fnet.bmfbovespa.com.br/fnet/publico/visualizarDocumento?id=1192614", "sha256": "f56e63ace0acde41d2f47fb48f1ac7f3f7df5e2d32de092d7c5e075a52516632"}], "reference": {"path": "history/55563624000109.json", "criterion_id": "remuneration", "total_count": 1, "preview_count": 1, "full_text_deferred": true, "sha256": "7835d573fb58a3c19adf5b8ecc2aee2bdbb9a88f7a0c0209b5f262b64c7522e3"}}</a:t>
            </a:r>
          </a:p>
          <a:p>
            <a:r>
              <a:t>CNPJ 62552447000120 · Remuneração por subclasse e série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Remuneração por subclasse e série · Resumo do histórico: {"count": 1, "dates": ["2025-09-03"], "document_count": 1, "sources": [{"document_id": "988020", "title": "Instrumento Particular de Emissão de Cotas", "reference_date": "2025-09-03", "version": "1", "page": "5-6", "url": "https://fnet.bmfbovespa.com.br/fnet/publico/visualizarDocumento?id=988020", "sha256": "8ecc8a771bb9713d64e5fc2052c489664cb0433801a9280db68e5187d35bf7a5"}], "reference": {"path": "history/62552447000120.json", "criterion_id": "remuneration", "total_count": 1, "preview_count": 1, "full_text_deferred": true, "sha256": "d95db8c0613d67ee84118c734588665265ea6b02f86a0318d6a844cbe1d0f82f"}}</a:t>
            </a:r>
          </a:p>
          <a:p>
            <a:r>
              <a:t>CNPJ 63953620000165 · Remuneração por subclasse e série · Anexo ao Regulamento · ID 1222863 · 2026-06-02 · versão 1 · p. 22 · 1.2 · https://fnet.bmfbovespa.com.br/fnet/publico/visualizarDocumento?id=1222863</a:t>
            </a:r>
          </a:p>
          <a:p>
            <a:r>
              <a:t>CNPJ 63953620000165 · Remuneração por subclasse e série · Excerto da fonte:</a:t>
            </a:r>
          </a:p>
          <a:p>
            <a:r>
              <a:t>1.2. Benchmark Sênior. A Classe buscará atingir, para as Cotas Seniores, o Benchmark Sênior, qual seja, (a) para a parcela  do Patrimônio Líquido alocado em Direitos Creditórios Consignado Privado e/ou Ativos de Liquidez MT, a variação  positiva do CDI acrescida de 1,50% (um inteiro e cinco décimos por cento) ao ano, (b) para a parcela do Patrimônio  Líquido alocado em Ativos de Liquidez e/ou Direitos Creditórios TVM, a variação positiva do CDI.</a:t>
            </a:r>
          </a:p>
          <a:p>
            <a:r>
              <a:t>CNPJ 63953620000165 · Remuneração por subclasse e série · Anexo ao Regulamento · ID 1222863 · 2026-06-02 · versão 1 · p. 22 · 1.5 · https://fnet.bmfbovespa.com.br/fnet/publico/visualizarDocumento?id=1222863</a:t>
            </a:r>
          </a:p>
          <a:p>
            <a:r>
              <a:t>CNPJ 63953620000165 · Remuneração por subclasse e série · Excerto da fonte:</a:t>
            </a:r>
          </a:p>
          <a:p>
            <a:r>
              <a:t>1.5. Rentabilidade Adicional Sênior. Adicionalmente ao Benchmark Sênior, as Cotas Seniores efetivamente integralizadas  farão jus a uma rentabilidade adicional equivalente a 0,38% (trinta e oito centésimos por cento) incidente sobre o  montante financeiro integralizado pelo respectivo Cotista das Cotas Seniores (“Rentabilidade Adicional Sênior”), a  ser paga a cada Cotista Sênior, em uma única parcela, em até 40 (quarenta) dias corridos após a integralização das  respectivas Cotas Seniores, sendo automaticamente ajustada em caso de alteração da alíquota ou da forma de  incidência do IOF, e deixando de ser devida na hipótese de sua extinção.</a:t>
            </a:r>
          </a:p>
          <a:p>
            <a:r>
              <a:t> 2. Emissão, Subscrição e Integralização das Cotas</a:t>
            </a:r>
          </a:p>
          <a:p>
            <a:r>
              <a:t>CNPJ 63953620000165 · Remuneração por subclasse e série · Condição: Documentos atuais selecionados no inventário por categoria/escopo; a data documental isolada não comprova vigência jurídica.</a:t>
            </a:r>
          </a:p>
          <a:p>
            <a:r>
              <a:t>CNPJ 63953620000165 · Remuneração por subclasse e série · Versão e prevalência: Documentos atuais selecionados no inventário por categoria/escopo; a data documental isolada não comprova vigência jurídica.</a:t>
            </a:r>
          </a:p>
          <a:p>
            <a:r>
              <a:t>CNPJ 54871427000194 · Volume, VNU e emissão · Anúncio de Encerramento · ID 798101 · 2024-12-10 · versão 1 · p. 1 · https://fnet.bmfbovespa.com.br/fnet/publico/visualizarDocumento?id=798101</a:t>
            </a:r>
          </a:p>
          <a:p>
            <a:r>
              <a:t>CNPJ 54871427000194 · Volume, VNU e emissão · Excerto da fonte:</a:t>
            </a:r>
          </a:p>
          <a:p>
            <a:r>
              <a:t>Informações da Oferta  Valor Bruto da 2ª Quantidade de Cotas  Preço de Emissão da Cota  Emissão emitidas  R$ 55.000.000,00 55.000 R$ 1.000,00</a:t>
            </a:r>
          </a:p>
          <a:p>
            <a:r>
              <a:t>CNPJ 54871427000194 · Volume, VNU e emissão · Condição: Trechos do documento específico identificado com data mais recente; vigência jurídica não inferida.</a:t>
            </a:r>
          </a:p>
          <a:p>
            <a:r>
              <a:t>CNPJ 54871427000194 · Volume, VNU e emissão · Versão e prevalência: Trechos do documento específico identificado com data mais recente; vigência jurídica não inferida.</a:t>
            </a:r>
          </a:p>
          <a:p>
            <a:r>
              <a:t>CNPJ 54871427000194 · Volume, VNU e emissão · Resumo do histórico: {"count": 5, "dates": ["2024-06-11", "2024-06-13", "2024-12-10"], "document_count": 3, "sources": [{"document_id": "798101", "title": "Anúncio de Encerramento", "reference_date": "2024-12-10", "version": "1", "page": "1-2", "url": "https://fnet.bmfbovespa.com.br/fnet/publico/visualizarDocumento?id=798101", "sha256": "71618c432ad86002484571d66922b873e4fa91ed3543a109134ddee0bd872f20"}, {"document_id": "683482", "title": "AGE", "reference_date": "2024-06-13", "version": "1", "page": 1, "clause": "4.1", "url": "https://fnet.bmfbovespa.com.br/fnet/publico/visualizarDocumento?id=683482", "sha256": "3afbe254027691929935eaf19ebbb8634fb2ccd8e2fbea2cb2d81a7818f8d648"}, {"document_id": "677544", "title": "Anúncio de Encerramento", "reference_date": "2024-06-11", "version": "1", "page": 1, "url": "https://fnet.bmfbovespa.com.br/fnet/publico/visualizarDocumento?id=677544", "sha256": "5735adc30829e0e91623167d4fd602de01adb236e3d3e758bddb0a375c7067b1"}], "reference": {"path": "history/54871427000194.json", "criterion_id": "issue_volume", "total_count": 5, "preview_count": 3, "full_text_deferred": true, "sha256": "35d7cd99be50c7287c9fb675cf4f2e736002315295a225a9efa79c8d9186d874"}}</a:t>
            </a:r>
          </a:p>
          <a:p>
            <a:r>
              <a:t>CNPJ 60010416000112 · Volume, VNU e emissão · AGE · ID 1049114 · 2025-11-26 · versão 1 · p. 2 · https://fnet.bmfbovespa.com.br/fnet/publico/visualizarDocumento?id=1049114</a:t>
            </a:r>
          </a:p>
          <a:p>
            <a:r>
              <a:t>CNPJ 60010416000112 · Volume, VNU e emissão · Excerto da fonte:</a:t>
            </a:r>
          </a:p>
          <a:p>
            <a:r>
              <a:t>Este instrumento constitui o suplemento nº 3 (“Suplemento”) referente à 1ª emissão de cotas da Série B  da Subclasse Sênior da CLASSE ÚNICA DO MT CONSIGNADO PRIVADO I FUNDO DE  INVESTIMENTO EM DIREITOS CREDITÓRIOS RESPONSABILIDADE LIMITADA (“Classe” e  “FUNDO”, respectivamente), administrado pela BTG Pactual Serviços Financeiros S.A. Distribuidora  de Títulos e Valores Mobiliários, instituição com sede no Município do Rio de Janeiro, Estado do Rio de  Janeiro, na Praia de Botafogo, nº 501, 5º andar – parte, inscrita no CNPJ sob o nº 59.281.253/0001-23,  autorizada a funcionar pelo Banco Central do Brasil e autorizada pela Comissão de Valores Mobiliários  (“CVM”) para a atividade de administração de carteiras de valores mobiliários, de acordo com o Ato  Declaratório nº 8.695, de 20 de março de 2006 (“ADMINISTRADOR”), emitidas nos termos do regulamento  do FUNDO, do anexo descritivo da Classe do respectivo apêndice, devidamente registrado perante a CVM  (“Regulamento”, “Anexo da Classe”, “Apêndice” e “Cotas Seniores” respectivamente), a qual terá as  seguintes características:</a:t>
            </a:r>
          </a:p>
          <a:p>
            <a:r>
              <a:t> Número de Emissão, Valor São emitidas no âmbito da 1ª emissão da 3ª Série de Cotas Seniores da  Total da Emissão e Forma Classe, de 2,000,000 (dois milhões) de Cotas da 3ª Série da Subclasse  de Distribuição Sênior da Classe, com valor nominal unitário de R$ 1.000,00 (mil reais)  cada, totalizando o montante de R$ 2.000.000.000,00 (dois bilhões de  reais), as quais serão objeto de colocação privada, destinada ao Público-  Alvo (conforme definido no Anexo da Classe) (“Colocação Privada”).</a:t>
            </a:r>
          </a:p>
          <a:p>
            <a:r>
              <a:t> Valor Unitário de Emissão As Cotas Seniores da 3ª Série terão um valor unitário de R$ 1.000,00 (mil  reais) na respectiva Data de Emissão.</a:t>
            </a:r>
          </a:p>
          <a:p>
            <a:r>
              <a:t> Data de Emissão Data da 1ª Integralização.</a:t>
            </a:r>
          </a:p>
          <a:p>
            <a:r>
              <a:t> Valor Unitário de As Cotas Seniores da 3ª Série serão subscritas pelo Valor Unitário de  Integralização Emissão, e serão integralizadas pelo respectivo Valor Unitário, nos  termos do Regulamento, do Apêndice e deste Suplemento, sendo certo  que, nas emissões de novas Cotas Seniores da 3ª Série que não difiram,  em sua respectiva Subclasse, das Cotas Seniores da 3ª Série então em  circulação, o Valor Unitário de Integralização corresponderá ao Valor  Unitário da Cota apurado no Dia Útil em que os recursos aportados pelo  Cotista tornem-se efetivamente disponíveis à Classe.</a:t>
            </a:r>
          </a:p>
          <a:p>
            <a:r>
              <a:t> Investimento Mínimo por Não há  Investidor  Forma de Subscrição e As Cotas Seniores da 3ª Série deverão ser integralizadas, à vista, em  Integralização moeda corrente nacional, pelo Valor Unitário de Integralização, no ato de  subscrição.</a:t>
            </a:r>
          </a:p>
          <a:p>
            <a:r>
              <a:t> Ao subscrever Cotas Seniores da 3ª Série, cada Investidor deverá  assinar o Termo de Adesão, no qual confirmará, dentre outros, ter  conhecimento de todos os termos e condições do Fundo e do</a:t>
            </a:r>
          </a:p>
          <a:p>
            <a:r>
              <a:t>CNPJ 60010416000112 · Volume, VNU e emissão · Condição: Trechos do documento específico identificado com data mais recente; vigência jurídica não inferida.</a:t>
            </a:r>
          </a:p>
          <a:p>
            <a:r>
              <a:t>CNPJ 60010416000112 · Volume, VNU e emissão · Motivo: Cláusula primária localizada e citada, mas sua lista/condições extensas não admitem uma síntese literal curta confirmada. O trecho integral permanece nas fontes. A resposta da revisão anterior foi preservada no histórico, sem confirmação pelo documento atual.</a:t>
            </a:r>
          </a:p>
          <a:p>
            <a:r>
              <a:t>CNPJ 60010416000112 · Volume, VNU e emissão · Versão e prevalência: Trechos do documento específico identificado com data mais recente; vigência jurídica não inferida.</a:t>
            </a:r>
          </a:p>
          <a:p>
            <a:r>
              <a:t>CNPJ 60010416000112 · Volume, VNU e emissão · Resumo do histórico: {"count": 3, "dates": ["2025-03-20", "2025-05-12"], "document_count": 2, "sources": [{"document_id": "1004656", "title": "AGE", "reference_date": "2025-05-12", "version": "1", "page": 4, "url": "https://fnet.bmfbovespa.com.br/fnet/publico/visualizarDocumento?id=1004656", "sha256": "f6c9c009f6170e2b29f074b98522accec73f0c40efbf11f9ec2c8d3f1402616b"}, {"document_id": "993785", "title": "Instrumento Particular de Constituição/Encerramento do Fundo", "reference_date": "2025-03-20", "version": "1", "page": "2", "url": "https://fnet.bmfbovespa.com.br/fnet/publico/visualizarDocumento?id=993785", "sha256": "0826e0eae2c51afabf59bbc49fc7647598d03da5ca6de0f9725850a8bd6af457"}, {"document_id": "993785", "title": "Instrumento Particular de Constituição/Encerramento do Fundo", "reference_date": "2025-03-20", "version": "1", "page": 2, "url": "https://fnet.bmfbovespa.com.br/fnet/publico/visualizarDocumento?id=993785", "sha256": "0826e0eae2c51afabf59bbc49fc7647598d03da5ca6de0f9725850a8bd6af457"}], "reference": {"path": "history/60010416000112.json", "criterion_id": "issue_volume", "total_count": 3, "preview_count": 3, "full_text_deferred": true, "sha256": "8e2bd813f4c51cf01f6bfaad164bafe69d2bbb192f753eac92da3a01c2e63046"}}</a:t>
            </a:r>
          </a:p>
          <a:p>
            <a:r>
              <a:t>CNPJ 62696791000193 · Volume, VNU e emissão · Instrumento Particular de Emissão de Cotas · ID 1148821 · 27/03/2026 · versão Instrumento Particular de Emissão de Cotas — referência 27/03/2026 · p. 1 · Deliberação Conjunta, item1 · https://fnet.bmfbovespa.com.br/fnet/publico/visualizarDocumento?id=1148821</a:t>
            </a:r>
          </a:p>
          <a:p>
            <a:r>
              <a:t>CNPJ 62696791000193 · Volume, VNU e emissão · Excerto da fonte:</a:t>
            </a:r>
          </a:p>
          <a:p>
            <a:r>
              <a:t>1. Aprovar a 2ª (segunda) emissão da Subclasse Subordinada Júnior da Classe, composta por até 20.000 (vinte mil) Cotas Subordinadas Júnior, com valor nominal unitário de R$ 1.000,00 (mil reais), perfazendo o montante total de R$ 20.000.000,00 (vinte milhões de reais), as quais serão objeto de colocação privada, de acordo com os termos e condições definidos no Apêndice da Subclasse Subordinada Júnior constante do Anexo I Regulamento e descritas abaixo (“2ª Emissão da Subclasse Subordinada Júnior”): a) Rito: as Cotas Subordinadas Júnior objeto da 2ª Emissão da Subclasse Subordinada Júnior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Subordinada Júnior na data de integralização, calculado na forma prevista no respectivo Apêndice; BTG Pactual 1 SAC: 0800 772 28 27 - Ouvidoria: 0800 722 00 48 - btgpactual.com</a:t>
            </a:r>
          </a:p>
          <a:p>
            <a:r>
              <a:t>CNPJ 62696791000193 · Volume, VNU e emissão · Instrumento Particular de Emissão de Cotas · ID 1148821 · 27/03/2026 · versão Instrumento Particular de Emissão de Cotas — referência 27/03/2026 · p. 2 · Deliberação Conjunta, item2 · https://fnet.bmfbovespa.com.br/fnet/publico/visualizarDocumento?id=1148821</a:t>
            </a:r>
          </a:p>
          <a:p>
            <a:r>
              <a:t>CNPJ 62696791000193 · Volume, VNU e emissão · Excerto da fonte:</a:t>
            </a:r>
          </a:p>
          <a:p>
            <a:r>
              <a:t>2. Aprovar a 2ª (segunda) emissão da Subclasse Sênior da Classe, composta por até 150.000 (cento e cinquenta mil) Cotas Seniores, com valor nominal unitário de R$ 1.000,00 (mil reais), perfazendo o montante total de R$ 150.000.000,00 (cento e cinquenta milhões de reais), as quais serão objeto de colocação privada, de acordo com os termos e condições descritos no Apêndice da Subclasse Sênior constante do Anexo I Regulamento e descritas abaixo (“2ª Emissão da Subclasse Sênior”): a) Rito: as Cotas Seniores objeto da 2ª Emissão da Subclasse Sênior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Sênior na data de integralização, calculado na forma prevista no respectivo Apêndice; d) Forma de Integralização: as Cotas Seniores serão integralizadas mediante chamadas de capital, junto ao seu respectivo agente de custódia e/ou da Administradora na qualidade de escriturador das cotas, nos termos d</a:t>
            </a:r>
          </a:p>
          <a:p>
            <a:r>
              <a:t>CNPJ 62696791000193 · Volume, VNU e emissão · Condição: Volumes autorizados de emissão não comprovam captação ou integralização observada.</a:t>
            </a:r>
          </a:p>
          <a:p>
            <a:r>
              <a:t>CNPJ 62696791000193 · Volume, VNU e emissão · Versão e prevalência: Leitura específica das cláusulas indicadas; condições e conflitos preservados. Seleção documental atual não comprova vigência jurídica por data isolada.</a:t>
            </a:r>
          </a:p>
          <a:p>
            <a:r>
              <a:t>CNPJ 62696791000193 · Volume, VNU e emissão · Resumo do histórico: {"count": 2, "dates": ["2026-03-20", "2026-03-27"], "document_count": 2, "sources": [{"document_id": "1148821", "title": "Instrumento Particular de Emissão de Cotas", "reference_date": "2026-03-27", "version": "1", "page": "1-2", "url": "https://fnet.bmfbovespa.com.br/fnet/publico/visualizarDocumento?id=1148821", "sha256": "86900e9dd498403696bfffbd4196443c83ec4d51ff21135e073c1966e1adf4c0"}, {"document_id": "1143317", "title": "Regulamento", "reference_date": "2026-03-20", "version": "1", "page": 23, "clause": "11.3", "url": "https://fnet.bmfbovespa.com.br/fnet/publico/visualizarDocumento?id=1143317", "sha256": "32f62818d51c3ebeaf9ec012d3d7867f15c1aed6d10f0867c157a290df1cea48"}], "reference": {"path": "history/62696791000193.json", "criterion_id": "issue_volume", "total_count": 2, "preview_count": 2, "full_text_deferred": true, "sha256": "0e9ec199848320ec945708123ae0cb6075d76c05d94beed814d582031d353926"}}</a:t>
            </a:r>
          </a:p>
          <a:p>
            <a:r>
              <a:t>CNPJ 55563624000109 · Volume, VNU e emissão · Regulamento · ID 1192614 · 2026-04-30 · versão 1 · p. 17 · 5.13.2 · https://fnet.bmfbovespa.com.br/fnet/publico/visualizarDocumento?id=1192614</a:t>
            </a:r>
          </a:p>
          <a:p>
            <a:r>
              <a:t>CNPJ 55563624000109 · Volume, VNU e emissão · Excerto da fonte:</a:t>
            </a:r>
          </a:p>
          <a:p>
            <a:r>
              <a:t>5.13.2 Caso um Cotista do Fundo pretenda transferir suas Cotas para terceiros (“Cotista Vendedor”), deverá  notificar previamente o GESTOR, via e-mail, manifestando sua proposta de alienação de Cotas, a qual  deve incluir o interessado na aquisição e a quantidade de Cotas a serem alienadas e o preço para tal  alienação (“Proposta de Venda”). O GESTOR deverá manifestar aprovação para alienação das Cotas  objeto da Proposta de Venda (“Cotas Objeto”) em até 5 (cinco) Dias Úteis, observado que a ausência de  aprovação deverá ser entendida como aprovação tácita à alienação das Cotas Objeto.</a:t>
            </a:r>
          </a:p>
          <a:p>
            <a:r>
              <a:t>CNPJ 55563624000109 · Volume, VNU e emissão · Regulamento · ID 1192614 · 2026-04-30 · versão 1 · p. 39 · https://fnet.bmfbovespa.com.br/fnet/publico/visualizarDocumento?id=1192614</a:t>
            </a:r>
          </a:p>
          <a:p>
            <a:r>
              <a:t>CNPJ 55563624000109 · Volume, VNU e emissão · Excerto da fonte:</a:t>
            </a:r>
          </a:p>
          <a:p>
            <a:r>
              <a:t>(xxi) Ausência de propriedade direta dos ativos. Os direitos dos Cotistas serão exercidos sobre  todos os ativos da Carteira de modo não individualizado, proporcionalmente à quantidade de Cotas  detidas por cada um. Portanto, os Cotistas não terão qualquer direito de propriedade direta sobre as  Cotas da Classe Investida e os Ativos Financeiros de Liquidez integrantes da Carteira, ou mesmo sobre  os direitos creditórios e os ativos financeiros de liquidez integrantes da carteira da Classe Investida.</a:t>
            </a:r>
          </a:p>
          <a:p>
            <a:r>
              <a:t>CNPJ 55563624000109 · Volume, VNU e emissão · Condição: Documentos atuais selecionados no inventário por categoria/escopo; a data documental isolada não comprova vigência jurídica.</a:t>
            </a:r>
          </a:p>
          <a:p>
            <a:r>
              <a:t>CNPJ 55563624000109 · Volume, VNU e emissão · Versão e prevalência: Documentos atuais selecionados no inventário por categoria/escopo; a data documental isolada não comprova vigência jurídica.</a:t>
            </a:r>
          </a:p>
          <a:p>
            <a:r>
              <a:t>CNPJ 55563624000109 · Volume, VNU e emissão · Resumo do histórico: {"count": 3, "dates": ["2024-12-30", "2025-01-31", "2026-01-31"], "document_count": 3, "sources": [{"document_id": "1178840", "title": "Demonstrações Financeiras", "reference_date": "2026-01-31", "version": "1", "page": 25, "url": "https://fnet.bmfbovespa.com.br/fnet/publico/visualizarDocumento?id=1178840", "sha256": "c458e98664c5c907ddb5a05a94b120bed4e05295b2bfc420f5ba69af0a229abe"}, {"document_id": "891861", "title": "Demonstrações Financeiras", "reference_date": "2025-01-31", "version": "1", "page": 26, "url": "https://fnet.bmfbovespa.com.br/fnet/publico/visualizarDocumento?id=891861", "sha256": "e9cb9e6ddbe505fe068cfcac33605165a98313489de0d3ce6d4d238263c3f3e7"}, {"document_id": "811323", "title": "Anúncio de Encerramento", "reference_date": "2024-12-30", "version": "1", "page": 1, "url": "https://fnet.bmfbovespa.com.br/fnet/publico/visualizarDocumento?id=811323", "sha256": "ebc6bc661be5189acffb3c3e352de2aea0a8ca8431011d1237e1ae19da4f9c79"}], "reference": {"path": "history/55563624000109.json", "criterion_id": "issue_volume", "total_count": 3, "preview_count": 3, "full_text_deferred": true, "sha256": "7835d573fb58a3c19adf5b8ecc2aee2bdbb9a88f7a0c0209b5f262b64c7522e3"}}</a:t>
            </a:r>
          </a:p>
          <a:p>
            <a:r>
              <a:t>CNPJ 62552447000120 · Volume, VNU e emissão · AGE · ID 1315103 · 2026-09-08 · versão 1 · p. 1 · https://fnet.bmfbovespa.com.br/fnet/publico/visualizarDocumento?id=1315103</a:t>
            </a:r>
          </a:p>
          <a:p>
            <a:r>
              <a:t>CNPJ 62552447000120 · Volume, VNU e emissão · Excerto da fonte:</a:t>
            </a:r>
          </a:p>
          <a:p>
            <a:r>
              <a:t>a) Rito: as cotas objeto da Segunda Emissão não estão sujeitas a regulamentação  de oferta de valores mobiliários, conforme facultado pelo Art. 8º, inciso II, da  Resolução CVM nº 160, de 13 de julho de 2022;</a:t>
            </a:r>
          </a:p>
          <a:p>
            <a:r>
              <a:t> b) Preço de Emissão: R$ 1.000,00 (mil reais);</a:t>
            </a:r>
          </a:p>
          <a:p>
            <a:r>
              <a:t> c) Quantidade de Cotas: 10.000 (dez mil) Cotas;</a:t>
            </a:r>
          </a:p>
          <a:p>
            <a:r>
              <a:t> d) Preço de Integralização: será o valor da Cota vigente na data de integralização,  nos termos do respectivo boletim de subscrição;</a:t>
            </a:r>
          </a:p>
          <a:p>
            <a:r>
              <a:t> e) Forma de Integralização: as Cotas serão integralizadas à vista, em moeda  corrente nacional, junto ao seu respectivo agente de custódia e/ou da  Administradora na qualidade de escriturador das cotas;</a:t>
            </a:r>
          </a:p>
          <a:p>
            <a:r>
              <a:t> f) Período de colocação: a subscrição das Cotas, objeto da Segunda Emissão,  deverão ser realizadas no prazo máximo de 180 (cento e oitenta) dias, contados  da data de efeitos do presente instrumento.</a:t>
            </a:r>
          </a:p>
          <a:p>
            <a:r>
              <a:t>CNPJ 62552447000120 · Volume, VNU e emissão · Condição: Trechos do documento específico identificado com data mais recente; vigência jurídica não inferida.</a:t>
            </a:r>
          </a:p>
          <a:p>
            <a:r>
              <a:t>CNPJ 62552447000120 · Volume, VNU e emissão · Versão e prevalência: Trechos do documento específico identificado com data mais recente; vigência jurídica não inferida.</a:t>
            </a:r>
          </a:p>
          <a:p>
            <a:r>
              <a:t>CNPJ 62552447000120 · Volume, VNU e emissão · Resumo do histórico: {"count": 2, "dates": ["2025-09-03"], "document_count": 1, "sources": [{"document_id": "988020", "title": "Instrumento Particular de Emissão de Cotas", "reference_date": "2025-09-03", "version": "1", "page": "5", "url": "https://fnet.bmfbovespa.com.br/fnet/publico/visualizarDocumento?id=988020", "sha256": "8ecc8a771bb9713d64e5fc2052c489664cb0433801a9280db68e5187d35bf7a5"}, {"document_id": "988020", "title": "Instrumento Particular de Emissão de Cotas", "reference_date": "2025-09-03", "version": "1", "page": 2, "url": "https://fnet.bmfbovespa.com.br/fnet/publico/visualizarDocumento?id=988020", "sha256": "8ecc8a771bb9713d64e5fc2052c489664cb0433801a9280db68e5187d35bf7a5"}], "reference": {"path": "history/62552447000120.json", "criterion_id": "issue_volume", "total_count": 2, "preview_count": 2, "full_text_deferred": true, "sha256": "d95db8c0613d67ee84118c734588665265ea6b02f86a0318d6a844cbe1d0f82f"}}</a:t>
            </a:r>
          </a:p>
          <a:p>
            <a:r>
              <a:t>CNPJ 63953620000165 · Volume, VNU e emissão · Demonstrações Financeiras - Fusão, cisão e incorporação · ID 1327859 · 2026-05-15 · versão 1 · p. 31 · 15.000.000 · https://fnet.bmfbovespa.com.br/fnet/publico/visualizarDocumento?id=1327859</a:t>
            </a:r>
          </a:p>
          <a:p>
            <a:r>
              <a:t>CNPJ 63953620000165 · Volume, VNU e emissão · Excerto da fonte:</a:t>
            </a:r>
          </a:p>
          <a:p>
            <a:r>
              <a:t>15.000.000 (quinze bilhões de reais), , a serem objeto de colocação privada, nos termos  do Regulamento, da Resolução CVM 175 e do respectivo boletim de subscrição nos  seguintes termos:</a:t>
            </a:r>
          </a:p>
          <a:p>
            <a:r>
              <a:t> a. Montante Total da Colocação Privada: R$ 15.000.000 (quinze bilhões de  reais)  b. Quantidade de Cotas: 15.000.000 (quinze milhões) de Cotas Seniores;</a:t>
            </a:r>
          </a:p>
          <a:p>
            <a:r>
              <a:t> c. Preço de Emissão (Valor Unitário): R$ 1 (mil reais);</a:t>
            </a:r>
          </a:p>
          <a:p>
            <a:r>
              <a:t> d. Forma e Preço de Integralização: as Cotas serão integralizadas na forma  prevista no Boletim de Subscrição;</a:t>
            </a:r>
          </a:p>
          <a:p>
            <a:r>
              <a:t> e. Prazo da Colocação Privada: as Cotas serão colocadas em até 180 (cento e  oitenta) dias da data deste IPA.</a:t>
            </a:r>
          </a:p>
          <a:p>
            <a:r>
              <a:t>CNPJ 63953620000165 · Volume, VNU e emissão · Demonstrações Financeiras - Fusão, cisão e incorporação · ID 1327859 · 2026-05-15 · versão 1 · p. 31 · https://fnet.bmfbovespa.com.br/fnet/publico/visualizarDocumento?id=1327859</a:t>
            </a:r>
          </a:p>
          <a:p>
            <a:r>
              <a:t>CNPJ 63953620000165 · Volume, VNU e emissão · Excerto da fonte:</a:t>
            </a:r>
          </a:p>
          <a:p>
            <a:r>
              <a:t>Em Instrumento Particular de Alteração do MT Global Fundo de Investimento em Direitos  Creditórios, realizada em 08 de janeiro de 2026, foram deliberadas as seguintes matérias:</a:t>
            </a:r>
          </a:p>
          <a:p>
            <a:r>
              <a:t>(i) Alterar regulamento vigente da classe em relação aos itens 4.17.1, 6.8 e o Capítulo 13,</a:t>
            </a:r>
          </a:p>
          <a:p>
            <a:r>
              <a:t> (b) incluir o item 3.1, 8.1.(ii), 8.2, 8.2.1, e 10.2.(xvii); e (c) excluir os itens 6.8.1, 6.8.2,</a:t>
            </a:r>
          </a:p>
          <a:p>
            <a:r>
              <a:t>(ii) Aprovar a 1ª (primeira) emissão de cotas seniores das Classes (“Cotas Seniores”), em  sistema de vasos comunicantes entre as Classes, de forma que a quantidade de Cotas  Seniores integralizadas em uma das Classes será deduzida da quantidade de Cotas  Seniores disponíveis para integralização nas demais Classes, no montante total de R$</a:t>
            </a:r>
          </a:p>
          <a:p>
            <a:r>
              <a:t>CNPJ 63953620000165 · Volume, VNU e emissão · Demonstrações Financeiras - Fusão, cisão e incorporação · ID 1327859 · 2026-05-15 · versão 1 · p. 32 · https://fnet.bmfbovespa.com.br/fnet/publico/visualizarDocumento?id=1327859</a:t>
            </a:r>
          </a:p>
          <a:p>
            <a:r>
              <a:t>CNPJ 63953620000165 · Volume, VNU e emissão · Excerto da fonte:</a:t>
            </a:r>
          </a:p>
          <a:p>
            <a:r>
              <a:t>f. Montante Total da Colocação Privada: R$ 7.000 (sete milhões de reais);</a:t>
            </a:r>
          </a:p>
          <a:p>
            <a:r>
              <a:t> g. Quantidade de Cotas: 7.000 (sete mil) de Cotas Subordinadas CP  h. Preço de Emissão (Valor Unitário): R$ 1 (mil reais);</a:t>
            </a:r>
          </a:p>
          <a:p>
            <a:r>
              <a:t> i. Forma e Preço de Integralização: as Cotas serão integralizadas na forma  prevista no Boletim de Subscrição;</a:t>
            </a:r>
          </a:p>
          <a:p>
            <a:r>
              <a:t> j. Prazo da Colocação Privada: as Cotas serão colocadas em até 180 (cento e  oitenta) dias da data deste IPA.</a:t>
            </a:r>
          </a:p>
          <a:p>
            <a:r>
              <a:t>CNPJ 63953620000165 · Volume, VNU e emissão · Condição: Trechos do documento específico identificado com data mais recente; vigência jurídica não inferida.</a:t>
            </a:r>
          </a:p>
          <a:p>
            <a:r>
              <a:t>CNPJ 63953620000165 · Volume, VNU e emissão · Versão e prevalência: Trechos do documento específico identificado com data mais recente; vigência jurídica não inferida.</a:t>
            </a:r>
          </a:p>
          <a:p>
            <a:r>
              <a:t>CNPJ 63953620000165 · Volume, VNU e emissão · Resumo do histórico: {"count": 8, "dates": ["2026-04-16", "2026-04-28", "2026-05-08"], "document_count": 3, "sources": [{"document_id": "1298691", "title": "Demonstrações Financeiras - Fusão, cisão e incorporação", "reference_date": "2026-05-08", "version": "1", "page": 32, "url": "https://fnet.bmfbovespa.com.br/fnet/publico/visualizarDocumento?id=1298691", "sha256": "58c570d9b8d4d265330d3db3ea81c435b8e44a6dab4002aa37790652a1ee9819"}, {"document_id": "1282180", "title": "Demonstrações Financeiras - Fusão, cisão e incorporação", "reference_date": "2026-04-28", "version": "1", "page": 32, "clause": "15.000.000", "url": "https://fnet.bmfbovespa.com.br/fnet/publico/visualizarDocumento?id=1282180", "sha256": "afaaa0e6809be4385e5bdb6c911aac582032c5bdbac3d7750234bf9eaf00438a"}, {"document_id": "1282179", "title": "Demonstrações Financeiras - Fusão, cisão e incorporação", "reference_date": "2026-04-16", "version": "1", "page": 32, "clause": "15.000.000", "url": "https://fnet.bmfbovespa.com.br/fnet/publico/visualizarDocumento?id=1282179", "sha256": "beb67afbcd64169019477673fd3b7c1edbfabbd9db07379388d8cdd5d3fc9395"}], "reference": {"path": "history/63953620000165.json", "criterion_id": "issue_volume", "total_count": 8, "preview_count": 3, "full_text_deferred": true, "sha256": "a7b89077f5e21098c2d601c303faabc3ff6b9729f89d8afecdc60fe1404720c1"}}</a:t>
            </a:r>
          </a:p>
          <a:p>
            <a:r>
              <a:t>CNPJ 54871427000194 · Administração: taxa, base e mínimo · Regulamento · ID 670691 · 28/04/2024 · versão Regulamento — referência 28/04/2024 · p. 25 · Anexo I, 13.1 · https://fnet.bmfbovespa.com.br/fnet/publico/visualizarDocumento?id=670691</a:t>
            </a:r>
          </a:p>
          <a:p>
            <a:r>
              <a:t>CNPJ 54871427000194 · Administração: taxa, base e mínimo · Excerto da fonte:</a:t>
            </a:r>
          </a:p>
          <a:p>
            <a:r>
              <a:t>13.1 Pelos serviços de administração, tesouraria, controladoria e escrituração, a Classe pagará a Taxa de Administração nos seguintes moldes: o valor correspondente a 0,10% (dez centésimos por cento) ao ano aplicado sobre o Patrimônio Líquido, observado o valor mínimo de R$ 10.000,00 (dez mil reais) mensais atualizado pela variação positiva do IGP-M a cada período de 12 (doze) meses, contados a partir do mês em que ocorrer a primeira integralização de Cotas (inclusive). 13.1.1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BTG Pactual SAC: 0800 772 28 27 - Ouvidoria: 0800 722 00 48 - btgpactual.com 19</a:t>
            </a:r>
          </a:p>
          <a:p>
            <a:r>
              <a:t>CNPJ 54871427000194 · Administração: taxa, base e mínimo · Regulamento · ID 670691 · 28/04/2024 · versão Regulamento — referência 28/04/2024 · p. 26 · Anexo I, 13.1.2–13.1.3 · https://fnet.bmfbovespa.com.br/fnet/publico/visualizarDocumento?id=670691</a:t>
            </a:r>
          </a:p>
          <a:p>
            <a:r>
              <a:t>CNPJ 54871427000194 · Administração: taxa, base e mínimo · Excerto da fonte:</a:t>
            </a:r>
          </a:p>
          <a:p>
            <a:r>
              <a:t>13.1.2 A Taxa de Administração será calculada e provisionada todo Dia Útil à razão de 1/252 (um inteiro e duzentos e cinquenta e dois avos) com base no valor do Patrimônio Líquido do Dia Útil anterior. 13.1.3 A Taxa de Administração será paga mensalmente ao ADMINISTRADOR, observado o disposto no item 13.2 abaixo, por período vencido, até o 5º (quinto) Dia Útil do mês subsequente à prestação dos serviços, a partir do mês em que ocorrer a primeira integralização de Cotas da Classe. 13.2 O ADMINISTRADOR poderá estabelecer que parcelas da Taxa de Administração sejam pagas diretamente pela Classe aos prestadores de serviços contratados, desde que o somatório dessas parcelas não exceda o montante total da Taxa de Administração. 13.3 Não serão cobradas da Classe ou dos Cotistas taxas de perf ormance, de ingresso ou de saída. Taxa de Gestão 13.4 Pelos serviços de gestão, a Classe pagará a Taxa de Gestão nos seguintes moldes: o valor correspondente a 0,20% (vinte centésimos por cento) ao ano aplicado sobre o Patrimônio Líquido, observado o valor mínimo de R$ 15.000,00 (quinze mil reais) mensais atualizado pela variação positiva do IGP-M a cada período de 12 (</a:t>
            </a:r>
          </a:p>
          <a:p>
            <a:r>
              <a:t>CNPJ 54871427000194 · Administração: taxa, base e mínimo · Versão e prevalência: Leitura específica das cláusulas indicadas; condições e conflitos preservados. Seleção documental atual não comprova vigência jurídica por data isolada.</a:t>
            </a:r>
          </a:p>
          <a:p>
            <a:r>
              <a:t>CNPJ 54871427000194 · Administração: taxa, base e mínimo · Resumo do histórico: {"count": 2, "dates": ["2024-04-19", "2024-04-28"], "document_count": 2, "sources": [{"document_id": "670691", "title": "Regulamento", "reference_date": "2024-04-28", "version": "1", "page": "25-26", "url": "https://fnet.bmfbovespa.com.br/fnet/publico/visualizarDocumento?id=670691", "sha256": "bf16dd7f1a62d5cdbf2e2d54fef81783783f7310fbc99c3a8f00459bdf9d037b"}, {"document_id": "670689", "title": "Regulamento", "reference_date": "2024-04-19", "version": "1", "page": 26, "clause": "13.1", "url": "https://fnet.bmfbovespa.com.br/fnet/publico/visualizarDocumento?id=670689", "sha256": "891bc9bc5d87bbc02ec139077a84d2702eb81ea02035fb71d24f5b8366b94a0b"}], "reference": {"path": "history/54871427000194.json", "criterion_id": "admin_fee", "total_count": 2, "preview_count": 2, "full_text_deferred": true, "sha256": "35d7cd99be50c7287c9fb675cf4f2e736002315295a225a9efa79c8d9186d874"}}</a:t>
            </a:r>
          </a:p>
          <a:p>
            <a:r>
              <a:t>CNPJ 60010416000112 · Administração: taxa, base e mínimo · Regulamento · ID 1051393 · 09/10/2025 · versão Regulamento09/10/2025 · p. 29 · AnexoI12.1–12.1.2 · https://fnet.bmfbovespa.com.br/fnet/publico/visualizarDocumento?id=1051393</a:t>
            </a:r>
          </a:p>
          <a:p>
            <a:r>
              <a:t>CNPJ 60010416000112 · Administração: taxa, base e mínimo · Excerto da fonte:</a:t>
            </a:r>
          </a:p>
          <a:p>
            <a:r>
              <a:t>12.1 Pelos serviços de administração, escrituração, controladoria de ativos e passivo, e gestão de carteira, o Administrador fará jus a uma Taxa de Administração equivalente a 0,40% (quarenta centésimos por cento) por ano sobre o Patrimônio Líquido da Classe, a ser pago mensalmente, por período vencido da data em que ocorrer a primeira integralização de Cotas da Classe A, até o 5º (quinto) Dia Útil do mês subsequente ao da prestação do serviço, assegurado um valor mínimo mensal de R$ 20.000,00 (vinte mil reais), sendo este valor atualizado pela variação positiva do IPCA sempre em janeiro de cada ano,</a:t>
            </a:r>
          </a:p>
          <a:p>
            <a:r>
              <a:t>CNPJ 60010416000112 · Administração: taxa, base e mínimo · Versão e prevalência: Leitura específica das cláusulas indicadas; condições e conflitos preservados. Seleção documental atual não comprova vigência jurídica por data isolada.</a:t>
            </a:r>
          </a:p>
          <a:p>
            <a:r>
              <a:t>CNPJ 60010416000112 · Administração: taxa, base e mínimo · Resumo do histórico: {"count": 2, "dates": ["2025-03-20", "2025-10-09"], "document_count": 2, "sources": [{"document_id": "1051393", "title": "Regulamento", "reference_date": "2025-10-09", "version": "1", "page": "29", "url": "https://fnet.bmfbovespa.com.br/fnet/publico/visualizarDocumento?id=1051393", "sha256": "8469d613078ffd5a6c1d217885d8a397a16342c0b937ae4aa24b106505f233ae"}, {"document_id": "993786", "title": "Regulamento", "reference_date": "2025-03-20", "version": "1", "page": 29, "clause": "12.1", "url": "https://fnet.bmfbovespa.com.br/fnet/publico/visualizarDocumento?id=993786", "sha256": "fd0fdd369a195510d81f81f505195a0b09e5f43522a990afa7d58c4f872921c8"}], "reference": {"path": "history/60010416000112.json", "criterion_id": "admin_fee", "total_count": 2, "preview_count": 2, "full_text_deferred": true, "sha256": "8e2bd813f4c51cf01f6bfaad164bafe69d2bbb192f753eac92da3a01c2e63046"}}</a:t>
            </a:r>
          </a:p>
          <a:p>
            <a:r>
              <a:t>CNPJ 62696791000193 · Administração: taxa, base e mínimo · Regulamento · ID 1143317 · 20/03/2026 · versão Regulamento — referência 20/03/2026 · p. 28 · Anexo I, 13.1, Taxa de Administração · https://fnet.bmfbovespa.com.br/fnet/publico/visualizarDocumento?id=1143317</a:t>
            </a:r>
          </a:p>
          <a:p>
            <a:r>
              <a:t>CNPJ 62696791000193 · Administração: taxa, base e mínimo · Excerto da fonte:</a:t>
            </a:r>
          </a:p>
          <a:p>
            <a:r>
              <a:t>Taxa de Administração 0,10% (um décimo por cento) ao ano com um mínimo mensal de R$ 10.000,00 (dez mil reais), pagos mensalmente até o 5º (quinto) Dia Útil do mês subsequente ao mês que se ref ere, a ser corrigida anualmente, em janeiro de cada ano, pela variação positiva do Índice Geral de Preços – Mercado, divulgado pela Fundação Getúlio Vargas (“Taxa de Administração” e “IGP-M”, respectivamente).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T</a:t>
            </a:r>
          </a:p>
          <a:p>
            <a:r>
              <a:t>CNPJ 62696791000193 · Administração: taxa, base e mínimo · Condição: A linha da tabela não explicita novamente a base de PL para administração; conservar essa limitação em vez de completar a frase por analogia.</a:t>
            </a:r>
          </a:p>
          <a:p>
            <a:r>
              <a:t>CNPJ 62696791000193 · Administração: taxa, base e mínimo · Motivo: Não localizada uma cláusula material para este critério nos textos identificados e processados. A ausência de resultado não comprova inexistência da regra.</a:t>
            </a:r>
          </a:p>
          <a:p>
            <a:r>
              <a:t>CNPJ 62696791000193 · Administração: taxa, base e mínimo · Versão e prevalência: Leitura específica das cláusulas indicadas; condições e conflitos preservados. Seleção documental atual não comprova vigência jurídica por data isolada.</a:t>
            </a:r>
          </a:p>
          <a:p>
            <a:r>
              <a:t>CNPJ 55563624000109 · Administração: taxa, base e mínimo · Regulamento · ID 1192614 · 30/04/2026 · versão Regulamento30/04/2026 · p. 28 · AnexoI13.1–13.2 · https://fnet.bmfbovespa.com.br/fnet/publico/visualizarDocumento?id=1192614</a:t>
            </a:r>
          </a:p>
          <a:p>
            <a:r>
              <a:t>CNPJ 55563624000109 · Administração: taxa, base e mínimo · Excerto da fonte:</a:t>
            </a:r>
          </a:p>
          <a:p>
            <a:r>
              <a:t>13.1 Sem prejuízo da Taxa Máxima de Administração, pelos serviços de administração do FUNDO e da Classe, tesouraria, controle e processamento dos ativos integrantes da Carteira, a Classe pagará, no mínimo, ao ADMINISTRADOR a Taxa Mínima de Administração nos seguintes moldes: o valor correspondente a R$ 10.000,00 (dez mil reais) mensais, atualizado pela variação positiva do IGP-M, no mês de janeiro de cada ano (“Taxa Mínima de Administração”). 13.1.1 Na hipótese de extinção do IGP-M, não divulgação ou impossibilidade de sua utilização, será utilizado o</a:t>
            </a:r>
          </a:p>
          <a:p>
            <a:r>
              <a:t>CNPJ 55563624000109 · Administração: taxa, base e mínimo · Condição: A base do adicional é PL do Mercado Crédito II; não é teto 0, 10% sobre PLGN e não substitui mínimo R$ 10 mil.</a:t>
            </a:r>
          </a:p>
          <a:p>
            <a:r>
              <a:t>CNPJ 55563624000109 · Administração: taxa, base e mínimo · Versão e prevalência: Leitura específica das cláusulas indicadas; condições e conflitos preservados. Seleção documental atual não comprova vigência jurídica por data isolada.</a:t>
            </a:r>
          </a:p>
          <a:p>
            <a:r>
              <a:t>CNPJ 55563624000109 · Administração: taxa, base e mínimo · Resumo do histórico: {"count": 3, "dates": ["2025-01-31", "2026-01-31", "2026-04-30"], "document_count": 3, "sources": [{"document_id": "1192614", "title": "Regulamento", "reference_date": "2026-04-30", "version": "1", "page": "28", "clause": "13.2", "url": "https://fnet.bmfbovespa.com.br/fnet/publico/visualizarDocumento?id=1192614", "sha256": "f56e63ace0acde41d2f47fb48f1ac7f3f7df5e2d32de092d7c5e075a52516632"}, {"document_id": "1178840", "title": "Demonstrações Financeiras", "reference_date": "2026-01-31", "version": "1", "page": 29, "url": "https://fnet.bmfbovespa.com.br/fnet/publico/visualizarDocumento?id=1178840", "sha256": "c458e98664c5c907ddb5a05a94b120bed4e05295b2bfc420f5ba69af0a229abe"}, {"document_id": "891861", "title": "Demonstrações Financeiras", "reference_date": "2025-01-31", "version": "1", "page": 30, "url": "https://fnet.bmfbovespa.com.br/fnet/publico/visualizarDocumento?id=891861", "sha256": "e9cb9e6ddbe505fe068cfcac33605165a98313489de0d3ce6d4d238263c3f3e7"}], "reference": {"path": "history/55563624000109.json", "criterion_id": "admin_fee", "total_count": 3, "preview_count": 3, "full_text_deferred": true, "sha256": "7835d573fb58a3c19adf5b8ecc2aee2bdbb9a88f7a0c0209b5f262b64c7522e3"}}</a:t>
            </a:r>
          </a:p>
          <a:p>
            <a:r>
              <a:t>CNPJ 62552447000120 · Administração: taxa, base e mínimo · Regulamento · ID 1200623 · 21/05/2026 · versão Consolidado21/05/2026 aprovado pelo ato1200625 · p. 30 · AnexoI13.1 TaxaGlobal · https://fnet.bmfbovespa.com.br/fnet/publico/visualizarDocumento?id=1200623</a:t>
            </a:r>
          </a:p>
          <a:p>
            <a:r>
              <a:t>CNPJ 62552447000120 · Administração: taxa, base e mínimo · Excerto da fonte:</a:t>
            </a:r>
          </a:p>
          <a:p>
            <a:r>
              <a:t>Taxa Global Pelos serviços de administração, gestão, custódia, tesouraria, controladoria, escrituração, a Classe pagará um valor equivalente a um percentual incidente sobre o Patrimônio Líquido da Classe, conf orme a f aixa de Patrimônio Líquido da Classe prevista na tabela abaixo, apropriada diariamente e paga mensalmente até o 5º (quinto) Dia Útil do mês subsequente ao mês que se ref ere, com</a:t>
            </a:r>
          </a:p>
          <a:p>
            <a:r>
              <a:t>CNPJ 62552447000120 · Administração: taxa, base e mínimo · Condição: Global remunera administração, gestão, custódia, tesouraria, controladoria e escrituração; percentual segregado não presumido.</a:t>
            </a:r>
          </a:p>
          <a:p>
            <a:r>
              <a:t>CNPJ 62552447000120 · Administração: taxa, base e mínimo · Motivo: Não localizada uma cláusula material para este critério nos textos identificados e processados. A ausência de resultado não comprova inexistência da regra.</a:t>
            </a:r>
          </a:p>
          <a:p>
            <a:r>
              <a:t>CNPJ 62552447000120 · Administração: taxa, base e mínimo · Versão e prevalência: Leitura específica das cláusulas indicadas; condições e conflitos preservados. Seleção documental atual não comprova vigência jurídica por data isolada.</a:t>
            </a:r>
          </a:p>
          <a:p>
            <a:r>
              <a:t>CNPJ 63953620000165 · Administração: taxa, base e mínimo · Anexo ao Regulamento · ID 1222863 · 02/06/2026 · versão AnexoConsignadoPrivado02/06/2026 · p. 19 · Capítulo13TaxadeAdministração · https://fnet.bmfbovespa.com.br/fnet/publico/visualizarDocumento?id=1222863</a:t>
            </a:r>
          </a:p>
          <a:p>
            <a:r>
              <a:t>CNPJ 63953620000165 · Administração: taxa, base e mínimo · Excerto da fonte:</a:t>
            </a:r>
          </a:p>
          <a:p>
            <a:r>
              <a:t>Taxa de Administração positiva do Índice Geral de Preços – Mercado, divulgado pela Fundação Getúlio Vargas (“Taxa de Administração” e “IGP-M”, respectivamente). Na hipótese de extinção do IGP-M, não divulgação ou impossibilidade de sua utilização, será utilizado o Índice Geral de Preços – Disponibilidade Interna, divulgado pela Fundação Getúlio Vargas, ou, na falta de ambos, pela variação do IPC – Índice de Preços ao Consumidor, divulgado pela</a:t>
            </a:r>
          </a:p>
          <a:p>
            <a:r>
              <a:t>CNPJ 63953620000165 · Administração: taxa, base e mínimo · Condição: Base é a parcela MT específica, não necessariamente todo o PL da classe.</a:t>
            </a:r>
          </a:p>
          <a:p>
            <a:r>
              <a:t>CNPJ 63953620000165 · Administração: taxa, base e mínimo · Versão e prevalência: Leitura específica das cláusulas indicadas; condições e conflitos preservados. Seleção documental atual não comprova vigência jurídica por data isolada.</a:t>
            </a:r>
          </a:p>
          <a:p>
            <a:r>
              <a:t>CNPJ 63953620000165 · Administração: taxa, base e mínimo · Resumo do histórico: {"count": 8, "dates": ["2026-04-28", "2026-05-08", "2026-05-15"], "document_count": 3, "sources": [{"document_id": "1327859", "title": "Demonstrações Financeiras - Fusão, cisão e incorporação", "reference_date": "2026-05-15", "version": "1", "page": 28, "url": "https://fnet.bmfbovespa.com.br/fnet/publico/visualizarDocumento?id=1327859", "sha256": "dca1c68babb97f887528c3e2e47596a9c30f507b067981a35655b2f2da9c8054"}, {"document_id": "1298691", "title": "Demonstrações Financeiras - Fusão, cisão e incorporação", "reference_date": "2026-05-08", "version": "1", "page": 28, "url": "https://fnet.bmfbovespa.com.br/fnet/publico/visualizarDocumento?id=1298691", "sha256": "58c570d9b8d4d265330d3db3ea81c435b8e44a6dab4002aa37790652a1ee9819"}, {"document_id": "1282180", "title": "Demonstrações Financeiras - Fusão, cisão e incorporação", "reference_date": "2026-04-28", "version": "1", "page": 29, "url": "https://fnet.bmfbovespa.com.br/fnet/publico/visualizarDocumento?id=1282180", "sha256": "afaaa0e6809be4385e5bdb6c911aac582032c5bdbac3d7750234bf9eaf00438a"}], "reference": {"path": "history/63953620000165.json", "criterion_id": "admin_fee", "total_count": 8, "preview_count": 3, "full_text_deferred": true, "sha256": "a7b89077f5e21098c2d601c303faabc3ff6b9729f89d8afecdc60fe1404720c1"}}</a:t>
            </a:r>
          </a:p>
          <a:p>
            <a:r>
              <a:t>CNPJ 54871427000194 · Gestão: taxa, base e mínimo · Regulamento · ID 670691 · 28/04/2024 · versão Regulamento — referência 28/04/2024 · p. 26 · Anexo I, 13.4–13.4.3 · https://fnet.bmfbovespa.com.br/fnet/publico/visualizarDocumento?id=670691</a:t>
            </a:r>
          </a:p>
          <a:p>
            <a:r>
              <a:t>CNPJ 54871427000194 · Gestão: taxa, base e mínimo · Excerto da fonte:</a:t>
            </a:r>
          </a:p>
          <a:p>
            <a:r>
              <a:t>13.4 Pelos serviços de gestão, a Classe pagará a Taxa de Gestão nos seguintes moldes: o valor correspondente a 0,20% (vinte centésimos por cento) ao ano aplicado sobre o Patrimônio Líquido, observado o valor mínimo de R$ 15.000,00 (quinze mil reais) mensais atualizado pela variação positiva do IGP-M a cada período de 12 (doze) meses, contados a partir do mês em que ocorrer a primeira integralização de Cotas (inclusive). 13.4.1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13.4.2 A Taxa de Gestão será calculada e provisionada todo Dia Útil à razão de 1/252 (um inteiro e duzentos e cinquenta e dois avos) com base no valor do Patrimônio Líquido do Dia Útil anterior. 13.4.3 A Taxa de Gestão será paga mensalmente ao GESTOR, observado o disposto no item 13.5 abaixo, por período vencido, até o 5º (quinto) Dia Útil do mês subsequente à prestação dos ser</a:t>
            </a:r>
          </a:p>
          <a:p>
            <a:r>
              <a:t>CNPJ 54871427000194 · Gestão: taxa, base e mínimo · Versão e prevalência: Leitura específica das cláusulas indicadas; condições e conflitos preservados. Seleção documental atual não comprova vigência jurídica por data isolada.</a:t>
            </a:r>
          </a:p>
          <a:p>
            <a:r>
              <a:t>CNPJ 54871427000194 · Gestão: taxa, base e mínimo · Resumo do histórico: {"count": 2, "dates": ["2024-04-19", "2024-04-28"], "document_count": 2, "sources": [{"document_id": "670691", "title": "Regulamento", "reference_date": "2024-04-28", "version": "1", "page": "26", "url": "https://fnet.bmfbovespa.com.br/fnet/publico/visualizarDocumento?id=670691", "sha256": "bf16dd7f1a62d5cdbf2e2d54fef81783783f7310fbc99c3a8f00459bdf9d037b"}, {"document_id": "670689", "title": "Regulamento", "reference_date": "2024-04-19", "version": "1", "page": 27, "clause": "13.3", "url": "https://fnet.bmfbovespa.com.br/fnet/publico/visualizarDocumento?id=670689", "sha256": "891bc9bc5d87bbc02ec139077a84d2702eb81ea02035fb71d24f5b8366b94a0b"}], "reference": {"path": "history/54871427000194.json", "criterion_id": "management_fee", "total_count": 2, "preview_count": 2, "full_text_deferred": true, "sha256": "35d7cd99be50c7287c9fb675cf4f2e736002315295a225a9efa79c8d9186d874"}}</a:t>
            </a:r>
          </a:p>
          <a:p>
            <a:r>
              <a:t>CNPJ 60010416000112 · Gestão: taxa, base e mínimo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Gestão: taxa, base e mínimo · Resumo do histórico: {"count": 1, "dates": ["2025-10-09"], "document_count": 1, "sources": [{"document_id": "1051393", "title": "Regulamento", "reference_date": "2025-10-09", "version": "1", "page": "29, 46", "url": "https://fnet.bmfbovespa.com.br/fnet/publico/visualizarDocumento?id=1051393", "sha256": "8469d613078ffd5a6c1d217885d8a397a16342c0b937ae4aa24b106505f233ae"}], "reference": {"path": "history/60010416000112.json", "criterion_id": "management_fee", "total_count": 1, "preview_count": 1, "full_text_deferred": true, "sha256": "8e2bd813f4c51cf01f6bfaad164bafe69d2bbb192f753eac92da3a01c2e63046"}}</a:t>
            </a:r>
          </a:p>
          <a:p>
            <a:r>
              <a:t>CNPJ 62696791000193 · Gestão: taxa, base e mínimo · Regulamento · ID 1143317 · 20/03/2026 · versão Regulamento — referência 20/03/2026 · p. 28 · Anexo I, 13.1, Taxa de Gestão · https://fnet.bmfbovespa.com.br/fnet/publico/visualizarDocumento?id=1143317</a:t>
            </a:r>
          </a:p>
          <a:p>
            <a:r>
              <a:t>CNPJ 62696791000193 · Gestão: taxa, base e mínimo · Excerto da fonte:</a:t>
            </a:r>
          </a:p>
          <a:p>
            <a:r>
              <a:t>Taxa de Gestão 0% (zero por cento) ao ano apropriada diariamente na base de 252 (duzentos e cinquenta e dois) Dias Úteis, e paga mensalmente, até o 5º (quinto) Dia Útil do mês subsequente ao mês que se ref ere, incidente sobre o Patrimônio Líquido da Classe (“Taxa de Gestão”). Taxa Máxima de Custódia 0,00% (zero por cento) ao ano, incidente sobre o Patrimônio Líquido da Classe (“Taxa Máxima de Custódia”). Taxa de Performance Não será devido pela Classe o pagamento de Taxa de Perf ormance. 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a:t>
            </a:r>
          </a:p>
          <a:p>
            <a:r>
              <a:t>CNPJ 62696791000193 · Gestão: taxa, base e mínimo · Motivo: Não localizada uma cláusula material para este critério nos textos identificados e processados. A ausência de resultado não comprova inexistência da regra.</a:t>
            </a:r>
          </a:p>
          <a:p>
            <a:r>
              <a:t>CNPJ 62696791000193 · Gestão: taxa, base e mínimo · Versão e prevalência: Leitura específica das cláusulas indicadas; condições e conflitos preservados. Seleção documental atual não comprova vigência jurídica por data isolada.</a:t>
            </a:r>
          </a:p>
          <a:p>
            <a:r>
              <a:t>CNPJ 55563624000109 · Gestão: taxa, base e mínimo · Regulamento · ID 1192614 · 30/04/2026 · versão Regulamento30/04/2026 · p. 29 · AnexoI13.4–13.7.1 · https://fnet.bmfbovespa.com.br/fnet/publico/visualizarDocumento?id=1192614</a:t>
            </a:r>
          </a:p>
          <a:p>
            <a:r>
              <a:t>CNPJ 55563624000109 · Gestão: taxa, base e mínimo · Excerto da fonte:</a:t>
            </a:r>
          </a:p>
          <a:p>
            <a:r>
              <a:t>13.4 Sem prejuízo da Taxa Máxima de Gestão, pelos serviços de gestão, a Classe pagará ao GESTOR: (i) a taxa de gestão ordinária correspondente a 0,50% (cinquenta centésimos por cento) ao ano, incidente sobre o Patrimônio Líquido da Classe, observado o montante mínimo de R$ 40.000,00 (quarenta mil reais) ao mês, corrigido anualmente pela variação positiva do Índice de Preços ao Consumidor Amplo, divulgado pelo Instituto Brasileiro de Geografia e Estatística – IBGE (“Taxa de Gestão”); e (ii) a taxa de gestão extraordinária apurada e paga no momento de cada</a:t>
            </a:r>
          </a:p>
          <a:p>
            <a:r>
              <a:t>CNPJ 55563624000109 · Gestão: taxa, base e mínimo · Condição: Adicional é por integralização, não taxa anual.</a:t>
            </a:r>
          </a:p>
          <a:p>
            <a:r>
              <a:t>CNPJ 55563624000109 · Gestão: taxa, base e mínimo · Versão e prevalência: Leitura específica das cláusulas indicadas; condições e conflitos preservados. Seleção documental atual não comprova vigência jurídica por data isolada.</a:t>
            </a:r>
          </a:p>
          <a:p>
            <a:r>
              <a:t>CNPJ 55563624000109 · Gestão: taxa, base e mínimo · Resumo do histórico: {"count": 3, "dates": ["2025-01-31", "2026-01-31", "2026-04-30"], "document_count": 3, "sources": [{"document_id": "1192614", "title": "Regulamento", "reference_date": "2026-04-30", "version": "1", "page": "29", "url": "https://fnet.bmfbovespa.com.br/fnet/publico/visualizarDocumento?id=1192614", "sha256": "f56e63ace0acde41d2f47fb48f1ac7f3f7df5e2d32de092d7c5e075a52516632"}, {"document_id": "1178840", "title": "Demonstrações Financeiras", "reference_date": "2026-01-31", "version": "1", "page": 29, "url": "https://fnet.bmfbovespa.com.br/fnet/publico/visualizarDocumento?id=1178840", "sha256": "c458e98664c5c907ddb5a05a94b120bed4e05295b2bfc420f5ba69af0a229abe"}, {"document_id": "891861", "title": "Demonstrações Financeiras", "reference_date": "2025-01-31", "version": "1", "page": 30, "url": "https://fnet.bmfbovespa.com.br/fnet/publico/visualizarDocumento?id=891861", "sha256": "e9cb9e6ddbe505fe068cfcac33605165a98313489de0d3ce6d4d238263c3f3e7"}], "reference": {"path": "history/55563624000109.json", "criterion_id": "management_fee", "total_count": 3, "preview_count": 3, "full_text_deferred": true, "sha256": "7835d573fb58a3c19adf5b8ecc2aee2bdbb9a88f7a0c0209b5f262b64c7522e3"}}</a:t>
            </a:r>
          </a:p>
          <a:p>
            <a:r>
              <a:t>CNPJ 62552447000120 · Gestão: taxa, base e mínimo · Motivo: Não localizada uma cláusula material para este critério nos textos identificados e processados. A ausência de resultado não comprova inexistência da regra.</a:t>
            </a:r>
          </a:p>
          <a:p>
            <a:r>
              <a:t>CNPJ 63953620000165 · Gestão: taxa, base e mínimo · Anexo ao Regulamento · ID 1222863 · 02/06/2026 · versão AnexoConsignadoPrivado02/06/2026 · p. 20 · Capítulo13TaxadeGestão · https://fnet.bmfbovespa.com.br/fnet/publico/visualizarDocumento?id=1222863</a:t>
            </a:r>
          </a:p>
          <a:p>
            <a:r>
              <a:t>CNPJ 63953620000165 · Gestão: taxa, base e mínimo · Excerto da fonte:</a:t>
            </a:r>
          </a:p>
          <a:p>
            <a:r>
              <a:t>0,05% (cinco centésimos por cento) ao ano, apropriada diariamente na base de 252 (duzentos e cinquenta e dois) Dias Úteis, e paga mensalmente, até o 5º (quinto) Dia Útil do mês subsequente ao mês que se refere, incidente sobre o Patrimônio Líquido da Classe alocado em Direitos Creditórios Consignado Privado e/ou Ativos de Liquidez MT, observada remuneração mínima mensal de R$ 2.500,00 (dois mil e quinhentos reais), a ser corrigida anualmente, em janeiro de cada ano, pela variação</a:t>
            </a:r>
          </a:p>
          <a:p>
            <a:r>
              <a:t>CNPJ 63953620000165 · Gestão: taxa, base e mínimo · Versão e prevalência: Leitura específica das cláusulas indicadas; condições e conflitos preservados. Seleção documental atual não comprova vigência jurídica por data isolada.</a:t>
            </a:r>
          </a:p>
          <a:p>
            <a:r>
              <a:t>CNPJ 63953620000165 · Gestão: taxa, base e mínimo · Resumo do histórico: {"count": 8, "dates": ["2026-04-28", "2026-05-08", "2026-05-15"], "document_count": 3, "sources": [{"document_id": "1327859", "title": "Demonstrações Financeiras - Fusão, cisão e incorporação", "reference_date": "2026-05-15", "version": "1", "page": 28, "url": "https://fnet.bmfbovespa.com.br/fnet/publico/visualizarDocumento?id=1327859", "sha256": "dca1c68babb97f887528c3e2e47596a9c30f507b067981a35655b2f2da9c8054"}, {"document_id": "1298691", "title": "Demonstrações Financeiras - Fusão, cisão e incorporação", "reference_date": "2026-05-08", "version": "1", "page": 28, "url": "https://fnet.bmfbovespa.com.br/fnet/publico/visualizarDocumento?id=1298691", "sha256": "58c570d9b8d4d265330d3db3ea81c435b8e44a6dab4002aa37790652a1ee9819"}, {"document_id": "1282180", "title": "Demonstrações Financeiras - Fusão, cisão e incorporação", "reference_date": "2026-04-28", "version": "1", "page": 29, "url": "https://fnet.bmfbovespa.com.br/fnet/publico/visualizarDocumento?id=1282180", "sha256": "afaaa0e6809be4385e5bdb6c911aac582032c5bdbac3d7750234bf9eaf00438a"}], "reference": {"path": "history/63953620000165.json", "criterion_id": "management_fee", "total_count": 8, "preview_count": 3, "full_text_deferred": true, "sha256": "a7b89077f5e21098c2d601c303faabc3ff6b9729f89d8afecdc60fe1404720c1"}}</a:t>
            </a:r>
          </a:p>
          <a:p>
            <a:r>
              <a:t>CNPJ 54871427000194 · Performance: benchmark e apuração · Regulamento · ID 670691 · 28/04/2024 · versão Regulamento — referência 28/04/2024 · p. 26 · Anexo I, 13.3 · https://fnet.bmfbovespa.com.br/fnet/publico/visualizarDocumento?id=670691</a:t>
            </a:r>
          </a:p>
          <a:p>
            <a:r>
              <a:t>CNPJ 54871427000194 · Performance: benchmark e apuração · Excerto da fonte:</a:t>
            </a:r>
          </a:p>
          <a:p>
            <a:r>
              <a:t>13.3 Não serão cobradas da Classe ou dos Cotistas taxas de perf ormance, de ingresso ou de saída. Taxa de Gestão 13.4 Pelos serviços de gestão, a Classe pagará a Taxa de Gestão nos seguintes moldes: o valor correspondente a 0,20% (vinte centésimos por cento) ao ano aplicado sobre o Patrimônio Líquido, observado o valor mínimo de R$ 15.000,00 (quinze mil reais) mensais atualizado pela variação positiva do IGP-M a cada período de 12 (doze) meses, contados a partir do mês em que ocorrer a primeira integralização de Cotas (inclusive). 13.4.1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13.4.2 A Taxa de Gestão será calculada e provisionada todo Dia Útil à razão de 1/252 (um inteiro e duzentos e cinquenta e dois avos) com base no valor do Patrimônio Líquido do Dia Útil anterior. 13.4.3 A Taxa de Gestão será paga mensalmente ao GESTOR, observado o disposto no item 13.5</a:t>
            </a:r>
          </a:p>
          <a:p>
            <a:r>
              <a:t>CNPJ 54871427000194 · Performance: benchmark e apuração · Motivo: Não localizada uma cláusula material para este critério nos textos identificados e processados. A ausência de resultado não comprova inexistência da regra.</a:t>
            </a:r>
          </a:p>
          <a:p>
            <a:r>
              <a:t>CNPJ 54871427000194 · Performance: benchmark e apuração · Versão e prevalência: Leitura específica das cláusulas indicadas; condições e conflitos preservados. Seleção documental atual não comprova vigência jurídica por data isolada.</a:t>
            </a:r>
          </a:p>
          <a:p>
            <a:r>
              <a:t>CNPJ 60010416000112 · Performance: benchmark e apuração · Regulamento · ID 1051393 · 09/10/2025 · versão Regulamento09/10/2025 · p. 29 · AnexoI12.2 · https://fnet.bmfbovespa.com.br/fnet/publico/visualizarDocumento?id=1051393</a:t>
            </a:r>
          </a:p>
          <a:p>
            <a:r>
              <a:t>CNPJ 60010416000112 · Performance: benchmark e apuração · Excerto da fonte:</a:t>
            </a:r>
          </a:p>
          <a:p>
            <a:r>
              <a:t>12.2 Não serão cobradas da Classe ou dos Cotistas taxas de perf ormance, de ingresso ou de saída. Taxa Máxima de Custódia 12.3 Pelos serviços de custódia qualificada dos Direitos Creditórios e dos Ativos Financeiros de Liquidez não será devida nenhuma remuneração ao Custodiante, de modo que taxa máxima de custódia a ser paga pela Classe ao Custodiante corresponde a 0% (zero por cento) ao ano. Remuneração do Agente de Retenção/Cobrança 12.4 Para a prestação de serviços à Classe, o Agente de Retenção/Cobrança f ará jus a uma remuneração a ser auf erida todo Dia Útil e paga mensalmente, a título de Encargo da Cla</a:t>
            </a:r>
          </a:p>
          <a:p>
            <a:r>
              <a:t>CNPJ 60010416000112 · Performance: benchmark e apuração · Motivo: Não localizada uma cláusula material para este critério nos textos identificados e processados. A ausência de resultado não comprova inexistência da regra.</a:t>
            </a:r>
          </a:p>
          <a:p>
            <a:r>
              <a:t>CNPJ 60010416000112 · Performance: benchmark e apuração · Versão e prevalência: Leitura específica das cláusulas indicadas; condições e conflitos preservados. Seleção documental atual não comprova vigência jurídica por data isolada.</a:t>
            </a:r>
          </a:p>
          <a:p>
            <a:r>
              <a:t>CNPJ 62696791000193 · Performance: benchmark e apuração · Regulamento · ID 1143317 · 20/03/2026 · versão Regulamento — referência 20/03/2026 · p. 28 · Anexo I, 13.1, Taxa de Performance · https://fnet.bmfbovespa.com.br/fnet/publico/visualizarDocumento?id=1143317</a:t>
            </a:r>
          </a:p>
          <a:p>
            <a:r>
              <a:t>CNPJ 62696791000193 · Performance: benchmark e apuração · Excerto da fonte:</a:t>
            </a:r>
          </a:p>
          <a:p>
            <a:r>
              <a:t>Taxa de Performance Não será devido pela Classe o pagamento de Taxa de Perf ormance. 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equivalente a 0,9% (nove décimos por cento) ao ano aplicado sobre o Patrimônio Anexo I ao Regulamento Líquido, observado o limite máximo de 4,5% (quatro inteiros e cinquenta centésimos por cento) do volume captado na respectiva oferta (“Taxa Máxima de Distribuição”).A Taxa Máxima de BTG Pactual SAC: 0800 772 2827 | Ouvidoria: 0800 722 0048 | btgpactual.co m 23</a:t>
            </a:r>
          </a:p>
          <a:p>
            <a:r>
              <a:t>CNPJ 62696791000193 · Performance: benchmark e apuração · Regulamento · ID 1143317 · 20/03/2026 · versão Regulamento — referência 20/03/2026 · p. 29 · Anexo I, 13.1, Taxa de Ingresso · https://fnet.bmfbovespa.com.br/fnet/publico/visualizarDocumento?id=1143317</a:t>
            </a:r>
          </a:p>
          <a:p>
            <a:r>
              <a:t>CNPJ 62696791000193 · Performance: benchmark e apuração · Excerto da fonte:</a:t>
            </a:r>
          </a:p>
          <a:p>
            <a:r>
              <a:t>Taxa de Ingresso Não será cobrada dos Cotistas Taxa de Ingresso. 14 TRIBUTAÇÃO 14.1 O disposto neste Capítulo f oi elaborado com base na legislação e regulamentação em vigor produzindo ef eitos, tem por objetivo descrever de f orma sumária o tratamento tributário aplicável em regra aos cotistas, ao Fundo e à Classe, não se aplicando aos cotistas sujeitos a regras de tributação específicas, na f orma da legislação e regulamentação em vigor. 14.2 Há exceções (inclusive relativas à natureza ou ao domicílio do investidor para fins fiscais) em relação ao tratamento tributário descrito abaixo e tributos adicionais que podem ser aplicados, motivo pelo qual os cotistas devem consultar seus assessores jurídicos com relação à tributação aplicável nos investimentos realizados na Classe. Tributação da Classe / Operações da carteira: Como regra geral, os rendimentos auferidos pela carteira da Classe não estão sujeitos à incidência do imposto de renda, exceto ganhos auferidos em aplicações financeiras de renda fixa ou variável, que se sujeitam à incidência do Imposto de Renda Retido na Fonte (“IRF”) de acordo com as mesmas regras de tributação aplic</a:t>
            </a:r>
          </a:p>
          <a:p>
            <a:r>
              <a:t>CNPJ 62696791000193 · Performance: benchmark e apuração · Motivo: Não localizada uma cláusula material para este critério nos textos identificados e processados. A ausência de resultado não comprova inexistência da regra.</a:t>
            </a:r>
          </a:p>
          <a:p>
            <a:r>
              <a:t>CNPJ 62696791000193 · Performance: benchmark e apuração · Versão e prevalência: Leitura específica das cláusulas indicadas; condições e conflitos preservados. Seleção documental atual não comprova vigência jurídica por data isolada.</a:t>
            </a:r>
          </a:p>
          <a:p>
            <a:r>
              <a:t>CNPJ 55563624000109 · Performance: benchmark e apuração · Regulamento · ID 1192614 · 30/04/2026 · versão Regulamento30/04/2026 · p. 29 · AnexoI13.10 · https://fnet.bmfbovespa.com.br/fnet/publico/visualizarDocumento?id=1192614</a:t>
            </a:r>
          </a:p>
          <a:p>
            <a:r>
              <a:t>CNPJ 55563624000109 · Performance: benchmark e apuração · Excerto da fonte:</a:t>
            </a:r>
          </a:p>
          <a:p>
            <a:r>
              <a:t>13.10 Não serão cobradas taxas de performance da Classe, e nem taxas de ingresso ou de saída dos Cotistas que integralizarem ou resgatarem suas Cotas. BTG Pactual SAC: 0800 772 28 27 - Ouvidoria: 0800 722 00 48 - btgpactual.com 22</a:t>
            </a:r>
          </a:p>
          <a:p>
            <a:r>
              <a:t>CNPJ 55563624000109 · Performance: benchmark e apuração · Motivo: Não localizada uma cláusula material para este critério nos textos identificados e processados. A ausência de resultado não comprova inexistência da regra.</a:t>
            </a:r>
          </a:p>
          <a:p>
            <a:r>
              <a:t>CNPJ 55563624000109 · Performance: benchmark e apuração · Versão e prevalência: Leitura específica das cláusulas indicadas; condições e conflitos preservados. Seleção documental atual não comprova vigência jurídica por data isolada.</a:t>
            </a:r>
          </a:p>
          <a:p>
            <a:r>
              <a:t>CNPJ 62552447000120 · Performance: benchmark e apuração · Regulamento · ID 1200623 · 21/05/2026 · versão Consolidado21/05/2026 aprovado pelo ato1200625 · p. 30 · AnexoI13.1 TaxadePerformance/Ingresso · https://fnet.bmfbovespa.com.br/fnet/publico/visualizarDocumento?id=1200623</a:t>
            </a:r>
          </a:p>
          <a:p>
            <a:r>
              <a:t>CNPJ 62552447000120 · Performance: benchmark e apuração · Excerto da fonte:</a:t>
            </a:r>
          </a:p>
          <a:p>
            <a:r>
              <a:t>Taxa de Performance Não será devido pela Classe o pagamento de Taxa de Perf ormance. Taxa de Ingresso Não será cobrada dos Cotistas Taxa de Ingresso . CAPÍTULO 14 – CUSTOS REFERENTES À DEFESA DOS INTERESSES DA CLASSE 14.1 Todos os custos e despesas ref eridos neste Capítulo, inclusive para salvaguarda de direitos e prerrogativas da Classe e/ou com a cobrança judicial e/ou extrajudicial de Direitos Creditórios Inadimplidos, serão de inteira responsabilidade da Classe, não est ando o Administrador, o Gestor, o Endossante, os Devedores, o Custodiante e quaisquer de suas respectivas pessoas contr</a:t>
            </a:r>
          </a:p>
          <a:p>
            <a:r>
              <a:t>CNPJ 62552447000120 · Performance: benchmark e apuração · Motivo: Não localizada uma cláusula material para este critério nos textos identificados e processados. A ausência de resultado não comprova inexistência da regra.</a:t>
            </a:r>
          </a:p>
          <a:p>
            <a:r>
              <a:t>CNPJ 62552447000120 · Performance: benchmark e apuração · Versão e prevalência: Leitura específica das cláusulas indicadas; condições e conflitos preservados. Seleção documental atual não comprova vigência jurídica por data isolada.</a:t>
            </a:r>
          </a:p>
          <a:p>
            <a:r>
              <a:t>CNPJ 63953620000165 · Performance: benchmark e apuração · Anexo ao Regulamento · ID 1222863 · 02/06/2026 · versão AnexoConsignadoPrivado02/06/2026 · p. 20 · Capítulo13 · https://fnet.bmfbovespa.com.br/fnet/publico/visualizarDocumento?id=1222863</a:t>
            </a:r>
          </a:p>
          <a:p>
            <a:r>
              <a:t>CNPJ 63953620000165 · Performance: benchmark e apuração · Excerto da fonte:</a:t>
            </a:r>
          </a:p>
          <a:p>
            <a:r>
              <a:t>Taxa de Performance Não será devido pelas Classes o pagamento de Taxa de Performance. 0,00% (zero por cento) ao ano, incidente sobre o Patrimônio Líquido da Classe Taxa Máxima de Custódia (“Taxa Máxima de Custódia”). Taxa Máxima de Distribuição Não será cobrada Taxa de Distribuição. Taxa de Ingresso Não será cobrada da Classe ou dos Cotistas taxa de ingresso. CAPÍTULO 14 – CUSTOS REFERENTES À DEFESA DOS INTERESSES DA CLASSE 14.1 Todos os custos e despesas referidos neste Capítulo, inclusive para salvaguarda de direitos e prerrogativas da</a:t>
            </a:r>
          </a:p>
          <a:p>
            <a:r>
              <a:t>CNPJ 63953620000165 · Performance: benchmark e apuração · Motivo: Cláusula primária localizada e citada, mas sua lista/condições extensas não admitem uma síntese literal curta confirmada. O trecho integral permanece nas fontes.</a:t>
            </a:r>
          </a:p>
          <a:p>
            <a:r>
              <a:t>CNPJ 63953620000165 · Performance: benchmark e apuração · Versão e prevalência: Leitura específica das cláusulas indicadas; condições e conflitos preservados. Seleção documental atual não comprova vigência jurídica por data isolada.</a:t>
            </a:r>
          </a:p>
          <a:p>
            <a:r>
              <a:t>CNPJ 54871427000194 · Custódia, escrituração e encargos · Regulamento · ID 670691 · 28/04/2024 · versão Regulamento — referência 28/04/2024 · p. 26 · Anexo I, 13.7–13.8 · https://fnet.bmfbovespa.com.br/fnet/publico/visualizarDocumento?id=670691</a:t>
            </a:r>
          </a:p>
          <a:p>
            <a:r>
              <a:t>CNPJ 54871427000194 · Custódia, escrituração e encargos · Excerto da fonte:</a:t>
            </a:r>
          </a:p>
          <a:p>
            <a:r>
              <a:t>13.7 Pelos serviços de retenção e cobrança, prestada nos termos deste Anexo e do Contrato de Retenção/Cobrança, será devida pela Classe ao Agente de Retenção/Cobrança a remuneração prevista no respectivo Contrato de Retenção/Cobrança. Taxa Máxima de Custódia 13.8 Pelos serviços de custódia qualificada dos Direitos Creditórios e dos Ativos Financeiros de Liquidez não será devida nenhuma remuneração ao CUSTODIANTE, de modo que taxa máxima de custódia a ser paga pela Classe ao CUSTODIANTE corresponde a 0% (zero por cento) ao ano. CAPÍTULO 14 – CUSTOS REFERENTES À DEFESA DOS INTERESSES DA CLASSE 14.1 Caso a Classe não possua recursos disponíveis, em moeda corrente nacional, suf icientes para a adoção e manutenção, direta ou indireta, dos procedimentos judiciais e extrajudiciais necessários à cobrança dos Direitos Creditórios e dos Ativos Financeiros de Liquidez de titularidade da Classe e à def esa dos direitos, interesses e prerrogativas da Classe, a maioria dos titulares das Cotas, reunidos em Assembleia Especial de Cotistas, poderá aprovar o aporte de recursos à Classe, por meio da integralização de novas Cotas, a ser realizada por todos os titulares das Cotas para assegurar, se for o caso, a</a:t>
            </a:r>
          </a:p>
          <a:p>
            <a:r>
              <a:t>CNPJ 54871427000194 · Custódia, escrituração e encargos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Custódia, escrituração e encargos · Versão e prevalência: Leitura específica das cláusulas indicadas; condições e conflitos preservados. Seleção documental atual não comprova vigência jurídica por data isolada.</a:t>
            </a:r>
          </a:p>
          <a:p>
            <a:r>
              <a:t>CNPJ 54871427000194 · Custódia, escrituração e encargos · Resumo do histórico: {"count": 1, "dates": ["2024-04-28"], "document_count": 1, "sources": [{"document_id": "670691", "title": "Regulamento", "reference_date": "2024-04-28", "version": "1", "page": "26", "url": "https://fnet.bmfbovespa.com.br/fnet/publico/visualizarDocumento?id=670691", "sha256": "bf16dd7f1a62d5cdbf2e2d54fef81783783f7310fbc99c3a8f00459bdf9d037b"}], "reference": {"path": "history/54871427000194.json", "criterion_id": "custody_fee", "total_count": 1, "preview_count": 1, "full_text_deferred": true, "sha256": "35d7cd99be50c7287c9fb675cf4f2e736002315295a225a9efa79c8d9186d874"}}</a:t>
            </a:r>
          </a:p>
          <a:p>
            <a:r>
              <a:t>CNPJ 60010416000112 · Custódia, escrituração e encargos · Regulamento · ID 1051393 · 09/10/2025 · versão Regulamento09/10/2025 · p. 29 · AnexoI12.3–12.4 · https://fnet.bmfbovespa.com.br/fnet/publico/visualizarDocumento?id=1051393</a:t>
            </a:r>
          </a:p>
          <a:p>
            <a:r>
              <a:t>CNPJ 60010416000112 · Custódia, escrituração e encargos · Excerto da fonte:</a:t>
            </a:r>
          </a:p>
          <a:p>
            <a:r>
              <a:t>12.3 Pelos serviços de custódia qualificada dos Direitos Creditórios e dos Ativos Financeiros de Liquidez não será devida nenhuma remuneração ao Custodiante, de modo que taxa máxima de custódia a ser paga pela Classe ao Custodiante corresponde a 0% (zero por cento) ao ano. Remuneração do Agente de Retenção/Cobrança 12.4 Para a prestação de serviços à Classe, o Agente de Retenção/Cobrança f ará jus a uma remuneração a ser auf erida todo Dia Útil e paga mensalmente, a título de Encargo da Classe, a qual será calculada com base na seguinte f órmula:</a:t>
            </a:r>
          </a:p>
          <a:p>
            <a:r>
              <a:t>CNPJ 60010416000112 · Custódia, escrituração e encargos · Regulamento · ID 1051393 · 09/10/2025 · versão Regulamento09/10/2025 · p. 30 · AnexoI12.4definições,12.5–12.5.1 · https://fnet.bmfbovespa.com.br/fnet/publico/visualizarDocumento?id=1051393</a:t>
            </a:r>
          </a:p>
          <a:p>
            <a:r>
              <a:t>CNPJ 60010416000112 · Custódia, escrituração e encargos · Excerto da fonte:</a:t>
            </a:r>
          </a:p>
          <a:p>
            <a:r>
              <a:t>RAC = Remuneração do Agente de Retenção e Cobrança,tendo como valor 4,00% (quatro por cento) ao ano. 12.5 A remuneração prevista no item 12.4 acima será calculada pelo Administrador e paga diretamente ao Agente de Retenção/Cobrança até o 5º (quinto) Dia Útil do mês subsequente ao da prestação dos serviços, conf orme estabelecido no Contrato de Serviços MT. 12.5.1. Independentemente do acima disposto, na hipótese de venda de qualquer parte dos Direitos Creditórios Elegíveis a terceiros, inclusive no caso de liquidação da Classe, o Agente de Retenção/Cobra</a:t>
            </a:r>
          </a:p>
          <a:p>
            <a:r>
              <a:t>CNPJ 60010416000112 · Custódia, escrituração e encargos · Condição: Fórmula do RAC tem composição base 252 DU/21 dias; não somar a 4% do PL como taxa administrativa.</a:t>
            </a:r>
          </a:p>
          <a:p>
            <a:r>
              <a:t>CNPJ 60010416000112 · Custódia, escrituração e encargos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Custódia, escrituração e encargos · Versão e prevalência: Leitura específica das cláusulas indicadas; condições e conflitos preservados. Seleção documental atual não comprova vigência jurídica por data isolada.</a:t>
            </a:r>
          </a:p>
          <a:p>
            <a:r>
              <a:t>CNPJ 60010416000112 · Custódia, escrituração e encargos · Resumo do histórico: {"count": 1, "dates": ["2025-10-09"], "document_count": 1, "sources": [{"document_id": "1051393", "title": "Regulamento", "reference_date": "2025-10-09", "version": "1", "page": "29-31", "url": "https://fnet.bmfbovespa.com.br/fnet/publico/visualizarDocumento?id=1051393", "sha256": "8469d613078ffd5a6c1d217885d8a397a16342c0b937ae4aa24b106505f233ae"}], "reference": {"path": "history/60010416000112.json", "criterion_id": "custody_fee", "total_count": 1, "preview_count": 1, "full_text_deferred": true, "sha256": "8e2bd813f4c51cf01f6bfaad164bafe69d2bbb192f753eac92da3a01c2e63046"}}</a:t>
            </a:r>
          </a:p>
          <a:p>
            <a:r>
              <a:t>CNPJ 62696791000193 · Custódia, escrituração e encargos · Regulamento · ID 1143317 · 20/03/2026 · versão Regulamento — referência 20/03/2026 · p. 28 · Anexo I, 13.1, Custódia e Distribuição · https://fnet.bmfbovespa.com.br/fnet/publico/visualizarDocumento?id=1143317</a:t>
            </a:r>
          </a:p>
          <a:p>
            <a:r>
              <a:t>CNPJ 62696791000193 · Custódia, escrituração e encargos · Excerto da fonte:</a:t>
            </a:r>
          </a:p>
          <a:p>
            <a:r>
              <a:t>Taxa Máxima de Custódia 0,00% (zero por cento) ao ano, incidente sobre o Patrimônio Líquido da Classe (“Taxa Máxima de Custódia”). Taxa de Performance Não será devido pela Classe o pagamento de Taxa de Perf ormance. 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equivalente a 0,9% (nove décimos por cento) ao ano aplicado sobre o Patrimônio Anexo I ao Regulamento Líquido, observado o limite máximo de 4,5% (quatro inteiros e cinquenta centésimos por cento) do volume captado na respectiva oferta (“Taxa Máxima de Distribuição”).A</a:t>
            </a:r>
          </a:p>
          <a:p>
            <a:r>
              <a:t>CNPJ 62696791000193 · Custódia, escrituração e encargos · Regulamento · ID 1143317 · 20/03/2026 · versão Regulamento — referência 20/03/2026 · p. 29 · Anexo I, 13.1, Distribuição · https://fnet.bmfbovespa.com.br/fnet/publico/visualizarDocumento?id=1143317</a:t>
            </a:r>
          </a:p>
          <a:p>
            <a:r>
              <a:t>CNPJ 62696791000193 · Custódia, escrituração e encargos · Excerto da fonte:</a:t>
            </a:r>
          </a:p>
          <a:p>
            <a:r>
              <a:t>Distribuição será calculada e provisionada todo Dia Útil à razão de 1/252 (um inteiro e duzentos e cinquenta e dois avos) com base no valor do Patrimônio Líquido do Dia Útil anterior. Nos termos da Resolução CVM 160, o coordenador líder poderá destinar parte ou a totalidade da sua remuneração, à vista ou a prazo, aos distribuidores contratados, conforme previsto no contrato de distribuição da oferta e/ou nos termos de adesão ao contrato de distribuição. A Taxa Máxima de Distribuição será paga mensalmente por período vencido, até o 10º (décimo) Dia Útil do mês subsequente à prestação dos serviços, a partir do mês em que ocorrer a primeira integralização de Cotas da Classe Taxa de Ingresso Não será cobrada dos Cotistas Taxa de Ingresso. 14 TRIBUTAÇÃO 14.1 O disposto neste Capítulo f oi elaborado co</a:t>
            </a:r>
          </a:p>
          <a:p>
            <a:r>
              <a:t>CNPJ 62696791000193 · Custódia, escrituração e encargos · Motivo: Não localizada uma cláusula material para este critério nos textos identificados e processados. A ausência de resultado não comprova inexistência da regra.</a:t>
            </a:r>
          </a:p>
          <a:p>
            <a:r>
              <a:t>CNPJ 62696791000193 · Custódia, escrituração e encargos · Versão e prevalência: Leitura específica das cláusulas indicadas; condições e conflitos preservados. Seleção documental atual não comprova vigência jurídica por data isolada.</a:t>
            </a:r>
          </a:p>
          <a:p>
            <a:r>
              <a:t>CNPJ 55563624000109 · Custódia, escrituração e encargos · Regulamento · ID 1192614 · 30/04/2026 · versão Regulamento30/04/2026 · p. 29 · AnexoI13.8–13.9 · https://fnet.bmfbovespa.com.br/fnet/publico/visualizarDocumento?id=1192614</a:t>
            </a:r>
          </a:p>
          <a:p>
            <a:r>
              <a:t>CNPJ 55563624000109 · Custódia, escrituração e encargos · Excerto da fonte:</a:t>
            </a:r>
          </a:p>
          <a:p>
            <a:r>
              <a:t>13.8 Pelos serviços de custódia qualificada das Cotas da Classe Investida e dos Ativos Financeiros de Liquidez não será devida nenhuma remuneração ao CUSTODIANTE, de modo que taxa de custódia a ser paga pela Classe ao CUSTODIANTE corresponde a 0% (zero por cento) ao ano. Taxas Máxima de Distribuição 13.9 Tendo em vista que não há distribuidores das Cotas que prestem serviços de forma contínua ao Fundo, o presente Regulamento e Anexo Descritivo não preveem uma taxa máxima de distribuição aplicável a todas as emissões, nos termos do Ofício-Circular-Conju</a:t>
            </a:r>
          </a:p>
          <a:p>
            <a:r>
              <a:t>CNPJ 55563624000109 · Custódia, escrituração e encargos · Versão e prevalência: Leitura específica das cláusulas indicadas; condições e conflitos preservados. Seleção documental atual não comprova vigência jurídica por data isolada.</a:t>
            </a:r>
          </a:p>
          <a:p>
            <a:r>
              <a:t>CNPJ 55563624000109 · Custódia, escrituração e encargos · Resumo do histórico: {"count": 1, "dates": ["2026-04-30"], "document_count": 1, "sources": [{"document_id": "1192614", "title": "Regulamento", "reference_date": "2026-04-30", "version": "1", "page": "29", "url": "https://fnet.bmfbovespa.com.br/fnet/publico/visualizarDocumento?id=1192614", "sha256": "f56e63ace0acde41d2f47fb48f1ac7f3f7df5e2d32de092d7c5e075a52516632"}], "reference": {"path": "history/55563624000109.json", "criterion_id": "custody_fee", "total_count": 1, "preview_count": 1, "full_text_deferred": true, "sha256": "7835d573fb58a3c19adf5b8ecc2aee2bdbb9a88f7a0c0209b5f262b64c7522e3"}}</a:t>
            </a:r>
          </a:p>
          <a:p>
            <a:r>
              <a:t>CNPJ 62552447000120 · Custódia, escrituração e encargos · Motivo: Não localizada uma cláusula material para este critério nos textos identificados e processados. A ausência de resultado não comprova inexistência da regra.</a:t>
            </a:r>
          </a:p>
          <a:p>
            <a:r>
              <a:t>CNPJ 63953620000165 · Custódia, escrituração e encargos · Motivo: Não localizada uma cláusula material para este critério nos textos identificados e processados. A ausência de resultado não comprova inexistência da regra.</a:t>
            </a:r>
          </a:p>
          <a:p>
            <a:r>
              <a:t>CNPJ 54871427000194 · Classes e séries de cotas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Classes e séries de cotas · Resumo do histórico: {"count": 1, "dates": ["2024-04-28"], "document_count": 1, "sources": [{"document_id": "670691", "title": "Regulamento", "reference_date": "2024-04-28", "version": "1", "page": "7, 14", "url": "https://fnet.bmfbovespa.com.br/fnet/publico/visualizarDocumento?id=670691", "sha256": "bf16dd7f1a62d5cdbf2e2d54fef81783783f7310fbc99c3a8f00459bdf9d037b"}], "reference": {"path": "history/54871427000194.json", "criterion_id": "quota_classes", "total_count": 1, "preview_count": 1, "full_text_deferred": true, "sha256": "35d7cd99be50c7287c9fb675cf4f2e736002315295a225a9efa79c8d9186d874"}}</a:t>
            </a:r>
          </a:p>
          <a:p>
            <a:r>
              <a:t>CNPJ 60010416000112 · Classes e séries de cotas · Demonstrações Financeiras - Fusão, cisão e incorporação · ID 1298690 · 2026-05-08 · versão 1 · p. 30 · https://fnet.bmfbovespa.com.br/fnet/publico/visualizarDocumento?id=1298690</a:t>
            </a:r>
          </a:p>
          <a:p>
            <a:r>
              <a:t>CNPJ 60010416000112 · Classes e séries de cotas · Excerto da fonte:</a:t>
            </a:r>
          </a:p>
          <a:p>
            <a:r>
              <a:t>Durante o período de investimento, a Administradora poderá deliberar por realizar novas  emissões de cotas subordinadas, sem a necessidade de aprovação em Assembleia Especial  de Cotistas ou alteração do Regulamento, limitadas ao montante máximo de R$ 50.000  (cinquenta milhões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subordinadas emitidas não sejam  superiores aos prazos de vencimento da primeira emissão.</a:t>
            </a:r>
          </a:p>
          <a:p>
            <a:r>
              <a:t>CNPJ 60010416000112 · Classes e séries de cotas · Demonstrações Financeiras - Fusão, cisão e incorporação · ID 1298690 · 2026-05-08 · versão 1 · p. 7 · https://fnet.bmfbovespa.com.br/fnet/publico/visualizarDocumento?id=1298690</a:t>
            </a:r>
          </a:p>
          <a:p>
            <a:r>
              <a:t>CNPJ 60010416000112 · Classes e séries de cotas · Excerto da fonte:</a:t>
            </a:r>
          </a:p>
          <a:p>
            <a:r>
              <a:t>01/12/2025 a  Nota  08/05/2026  Patrimônio líquido no início do período  Total de 493.487,7492 cotas sêniores a R$ 1.136,5211 560.859  Total de 2.329.794,7852 cotas sêniores 2 a R$ 1.141,3012 2.658.998  Total de 954,2302 cotas subordinadas a R$ 150.939,4087 144.031</a:t>
            </a:r>
          </a:p>
          <a:p>
            <a:r>
              <a:t>CNPJ 60010416000112 · Classes e séries de cotas · Demonstrações Financeiras - Fusão, cisão e incorporação · ID 1298690 · 2026-05-08 · versão 1 · p. 7 · https://fnet.bmfbovespa.com.br/fnet/publico/visualizarDocumento?id=1298690</a:t>
            </a:r>
          </a:p>
          <a:p>
            <a:r>
              <a:t>CNPJ 60010416000112 · Classes e séries de cotas · Excerto da fonte:</a:t>
            </a:r>
          </a:p>
          <a:p>
            <a:r>
              <a:t>Patrimônio líquido no final do período  Total de 2.865.592,8479 cotas a R$ 1.285,7151 3.672.765  Total de 493.487,7492 cotas sêniores a R$ 1.230,3042 607.141  Total de 2.362.150,8684 cotas sêniores 2 a R$ 1.236,9918 2.921.961  Total de 954,2302 cotas subordinadas a R$ 150.554,2733 143.663</a:t>
            </a:r>
          </a:p>
          <a:p>
            <a:r>
              <a:t>CNPJ 60010416000112 · Classes e séries de cotas · Condição: Documentos atuais selecionados no inventário por categoria/escopo; a data documental isolada não comprova vigência jurídica.</a:t>
            </a:r>
          </a:p>
          <a:p>
            <a:r>
              <a:t>CNPJ 60010416000112 · Classes e séries de cotas · Versão e prevalência: Documentos atuais selecionados no inventário por categoria/escopo; a data documental isolada não comprova vigência jurídica.</a:t>
            </a:r>
          </a:p>
          <a:p>
            <a:r>
              <a:t>CNPJ 60010416000112 · Classes e séries de cotas · Resumo do histórico: {"count": 9, "dates": ["2025-11-30", "2026-03-18", "2026-04-16"], "document_count": 3, "sources": [{"document_id": "1282181", "title": "Demonstrações Financeiras - Fusão, cisão e incorporação", "reference_date": "2026-04-16", "version": "1", "page": 7, "url": "https://fnet.bmfbovespa.com.br/fnet/publico/visualizarDocumento?id=1282181", "sha256": "b1c6566e43a00bcd00c8a7f30c77b7f86e351bd8e355bbea113f46d1dafda703"}, {"document_id": "1224477", "title": "Demonstrações Financeiras - Fusão, cisão e incorporação", "reference_date": "2026-03-18", "version": "1", "page": 7, "url": "https://fnet.bmfbovespa.com.br/fnet/publico/visualizarDocumento?id=1224477", "sha256": "0751bf0a75bc3b44c2748f5000226665c6ec6698a90c4dc6170b4e6c187759ae"}, {"document_id": "1126154", "title": "Demonstrações Financeiras", "reference_date": "2025-11-30", "version": "1", "page": 7, "url": "https://fnet.bmfbovespa.com.br/fnet/publico/visualizarDocumento?id=1126154", "sha256": "a01e7ccf88c548f12c95cba8526d7efbef6b585c112cd4668eca781c292090b0"}], "reference": {"path": "history/60010416000112.json", "criterion_id": "quota_classes", "total_count": 9, "preview_count": 3, "full_text_deferred": true, "sha256": "8e2bd813f4c51cf01f6bfaad164bafe69d2bbb192f753eac92da3a01c2e63046"}}</a:t>
            </a:r>
          </a:p>
          <a:p>
            <a:r>
              <a:t>CNPJ 62696791000193 · Classes e séries de cotas · Instrumento Particular de Emissão de Cotas · ID 1148821 · 2026-03-27 · versão 1 · p. 1 · 20.000 · https://fnet.bmfbovespa.com.br/fnet/publico/visualizarDocumento?id=1148821</a:t>
            </a:r>
          </a:p>
          <a:p>
            <a:r>
              <a:t>CNPJ 62696791000193 · Classes e séries de cotas · Excerto da fonte:</a:t>
            </a:r>
          </a:p>
          <a:p>
            <a:r>
              <a:t>20.000 (vinte mil) Cotas Subordinadas Júnior, com valor nominal unitário de R$ 1.000,00 (mil reais),  perfazendo o montante total de R$ 20.000.000,00 (vinte milhões de reais), as quais serão objeto de  colocação privada, de acordo com os termos e condições definidos no Apêndice da Subclasse  Subordinada Júnior constante do Anexo I Regulamento e descritas abaixo (“2ª Emissão da Subclasse  Subordinada Júnior”):</a:t>
            </a:r>
          </a:p>
          <a:p>
            <a:r>
              <a:t>CNPJ 62696791000193 · Classes e séries de cotas · Instrumento Particular de Emissão de Cotas · ID 1148821 · 2026-03-27 · versão 1 · p. 2 · https://fnet.bmfbovespa.com.br/fnet/publico/visualizarDocumento?id=1148821</a:t>
            </a:r>
          </a:p>
          <a:p>
            <a:r>
              <a:t>CNPJ 62696791000193 · Classes e séries de cotas · Excerto da fonte:</a:t>
            </a:r>
          </a:p>
          <a:p>
            <a:r>
              <a:t>2. Aprovar a 2ª (segunda) emissão da Subclasse Sênior da Classe, composta por até 150.000  (cento e cinquenta mil) Cotas Seniores, com valor nominal unitário de R$ 1.000,00 (mil reais),  perfazendo o montante total de R$ 150.000.000,00 (cento e cinquenta milhões de reais), as quais  serão objeto de colocação privada, de acordo com os termos e condições descritos no Apêndice da  Subclasse Sênior constante do Anexo I Regulamento e descritas abaixo (“2ª Emissão da Subclasse  Sênior”):</a:t>
            </a:r>
          </a:p>
          <a:p>
            <a:r>
              <a:t>CNPJ 62696791000193 · Classes e séries de cotas · Instrumento Particular de Emissão de Cotas · ID 1148821 · 2026-03-27 · versão 1 · p. 2 · https://fnet.bmfbovespa.com.br/fnet/publico/visualizarDocumento?id=1148821</a:t>
            </a:r>
          </a:p>
          <a:p>
            <a:r>
              <a:t>CNPJ 62696791000193 · Classes e séries de cotas · Excerto da fonte:</a:t>
            </a:r>
          </a:p>
          <a:p>
            <a:r>
              <a:t>d) Forma de Integralização: as Cotas Subordinadas Júnior serão integralizadas à vista, junto ao  seu respectivo agente de custódia e/ou da Administradora na qualidade de escriturador das  cotas; e</a:t>
            </a:r>
          </a:p>
          <a:p>
            <a:r>
              <a:t>CNPJ 62696791000193 · Classes e séries de cotas · Condição: Documentos atuais selecionados no inventário por categoria/escopo; a data documental isolada não comprova vigência jurídica.</a:t>
            </a:r>
          </a:p>
          <a:p>
            <a:r>
              <a:t>CNPJ 62696791000193 · Classes e séries de cotas · Versão e prevalência: Documentos atuais selecionados no inventário por categoria/escopo; a data documental isolada não comprova vigência jurídica.</a:t>
            </a:r>
          </a:p>
          <a:p>
            <a:r>
              <a:t>CNPJ 62696791000193 · Classes e séries de cotas · Resumo do histórico: {"count": 2, "dates": ["2026-03-20", "2026-03-27"], "document_count": 2, "sources": [{"document_id": "1148821", "title": "Instrumento Particular de Emissão de Cotas", "reference_date": "2026-03-27", "version": "1", "page": "1-2", "url": "https://fnet.bmfbovespa.com.br/fnet/publico/visualizarDocumento?id=1148821", "sha256": "86900e9dd498403696bfffbd4196443c83ec4d51ff21135e073c1966e1adf4c0"}, {"document_id": "1143317", "title": "Regulamento", "reference_date": "2026-03-20", "version": "1", "page": 16, "clause": "7.2", "url": "https://fnet.bmfbovespa.com.br/fnet/publico/visualizarDocumento?id=1143317", "sha256": "32f62818d51c3ebeaf9ec012d3d7867f15c1aed6d10f0867c157a290df1cea48"}], "reference": {"path": "history/62696791000193.json", "criterion_id": "quota_classes", "total_count": 2, "preview_count": 2, "full_text_deferred": true, "sha256": "0e9ec199848320ec945708123ae0cb6075d76c05d94beed814d582031d353926"}}</a:t>
            </a:r>
          </a:p>
          <a:p>
            <a:r>
              <a:t>CNPJ 55563624000109 · Classes e séries de cotas · Regulamento · ID 1192614 · 2026-04-30 · versão 1 · p. 40 · https://fnet.bmfbovespa.com.br/fnet/publico/visualizarDocumento?id=1192614</a:t>
            </a:r>
          </a:p>
          <a:p>
            <a:r>
              <a:t>CNPJ 55563624000109 · Classes e séries de cotas · Excerto da fonte:</a:t>
            </a:r>
          </a:p>
          <a:p>
            <a:r>
              <a:t>(xxiv) Subordinação de determinadas Cotas da Classe Investida a outras subclasses ou séries de  cotas das Classes Investidas aos quais pertencem. A Classe Investida adquirirá apenas cotas  subordinadas mezaninos da Classe Investida, as quais se subordinam às cotas seniores da Classe  Investida para efeitos de resgate. Os resgates de cotas subordinadas mezanino tipicamente têm sua  realização condicionada ainda à manutenção da razão de garantia e à existência de disponibilidades  da Classe Investida. O ADMINISTRADOR, o GESTOR e o CUSTODIANTE e suas respectivas partes  relacionadas, encontram-se impossibilitados de assegurar que a amortização e o resgate das cotas  subordinadas mezanino da Classe Investida que venham a ser adquiridas pela Classe ocorrerão nas  datas originalmente previstas, sendo que, caso tais amortizações e/ou resgates não ocorram, não será  devido pelo FUNDO ou qualquer pessoa, incluindo o ADMINISTRADOR, o GESTOR e o CUSTODIANTE,  do FUNDO ou da Classe Investida qualquer multa ou penalidade, de qualquer natureza. O não resgate  de cotas subordinadas mezanino da Classe Investida detidas pela Classe poderá impactar  negativamente no fluxo de pagamento de resgate da Classe e/ou no valor patrimonial das Cotas da  Classe.</a:t>
            </a:r>
          </a:p>
          <a:p>
            <a:r>
              <a:t>CNPJ 55563624000109 · Classes e séries de cotas · Regulamento · ID 1192614 · 2026-04-30 · versão 1 · p. 31 · 15.1.1 · https://fnet.bmfbovespa.com.br/fnet/publico/visualizarDocumento?id=1192614</a:t>
            </a:r>
          </a:p>
          <a:p>
            <a:r>
              <a:t>CNPJ 55563624000109 · Classes e séries de cotas · Excerto da fonte:</a:t>
            </a:r>
          </a:p>
          <a:p>
            <a:r>
              <a:t>15.1.1 Riscos de Crédito:</a:t>
            </a:r>
          </a:p>
          <a:p>
            <a:r>
              <a:t> (i) Risco de concentração na Classe Investida. Nos termos do presente Regulamento, a Classe  deverá manter alocado, no mínimo, 67% (sessenta e sete por cento) do Patrimônio Líquido nas Cotas  da Classe Investida. Alterações na condição econômico-financeira e na expectativa de desempenho ou  resultados da Classe Investida poderão, isolada ou cumulativamente, afetar negativamente o  rendimento do investimento nas Cotas, de forma mais severa do que se a Classe adotasse uma  estratégia de investimento de maior diversificação. O risco associado às aplicações de qualquer fundo  de investimento é diretamente proporcional à concentração da sua carteira, sendo que, quanto maior  essa concentração, maior será a sua vulnerabilidade.</a:t>
            </a:r>
          </a:p>
          <a:p>
            <a:r>
              <a:t> (ii) Risco relativo à Classe Investida. Nos termos deste Anexo, a Classe deverá manter alocado, no  mínimo, 67% (sessenta e sete por cento) do Patrimônio Líquido em Cotas da Classe Investida. Os  investimentos realizados pela Classe Investida poderão estar sujeitos a flutuações típicas do mercado,  risco de crédito, risco sistêmico, condições adversas de liquidez e negociação atípica nos mercados de  atuação, bem como outros riscos diversos. Este Anexo não contém a descrição de todas as  características, incluindo os riscos, da Classe Investida.</a:t>
            </a:r>
          </a:p>
          <a:p>
            <a:r>
              <a:t> (iii) Risco Relativo ao Pagamento de Encargos da Classe Investida. Tendo em vista a estrutura da  Classe Investida – que emitiu cotas sêniores, cotas subordinadas mezanino e cotas subordinadas júnior  – em situação ordinária os encargos da Classe Investida são arcados pelas cotas subordinadas júnior,  que se subordinam às cotas subordinadas mezanino e às cotas sêniores para fins de amortização,  resgate e distribuição de rendimentos, não impactando, portanto, as Cotas da Classe Investida. Não  obstante o funcionamento da Classe Investida em situação ordinária, em cenários extraordinários, na  eventualidade do valor das cotas subordinadas júnior ficar reduzido a zero ou a valor negativo, os  encargos da Classe Investida conforme previstos em seu regulamento, inclusive mas não se limitando  as remunerações dos prestadores de serviços essenciais, passarão a ser arcados pelas cotas  subordinadas mezanino (que são as Cotas da Classe Investida), impactando no valor do investimento  da Classe na Classe Investida, e consequentemente, o investimento dos Cotistas na Classe.</a:t>
            </a:r>
          </a:p>
          <a:p>
            <a:r>
              <a:t> (iv) Riscos referentes à carteira da Classe Investida. Na forma do Anexo Normativo II da Resolução  CVM 175, a Classe Investida investe, direta ou indiretamente, no mínimo, 67% (sessenta e sete por  cento) do seu patrimônio em direitos creditórios originados pela Mercado Pago. O investimento em tais  direitos creditórios está sujeito a fatores de risco específicos, conforme detalhados no regulamento da  Classe Investida, incluindo, mas não se limitando a:</a:t>
            </a:r>
          </a:p>
          <a:p>
            <a:r>
              <a:t> (a) Risco de liquidez dos direitos creditórios. O investimento da Classe Investida em direitos  creditórios apresenta peculiaridades em relação às aplicações usuais da maioria dos  fundos de investimento brasileiros, haja vista que não existe, no Brasil, mercado  secundário com liquidez para tais direitos creditórios. Caso a Classe Investida precise  vender os direitos creditórios adquiridos, poderá não haver mercado comprador para  tais créditos, bem como o preço de alienação de tais direitos creditórios poderá refletir  essa falta de liquidez, causando perda ao patrimônio da Classe Investida e,  consequentemente, à Classe.</a:t>
            </a:r>
          </a:p>
          <a:p>
            <a:r>
              <a:t>CNPJ 55563624000109 · Classes e séries de cotas · AGE · ID 1192603 · 2026-04-30 · versão 1 · p. 1 · 4.1 · https://fnet.bmfbovespa.com.br/fnet/publico/visualizarDocumento?id=1192603</a:t>
            </a:r>
          </a:p>
          <a:p>
            <a:r>
              <a:t>CNPJ 55563624000109 · Classes e séries de cotas · Excerto da fonte:</a:t>
            </a:r>
          </a:p>
          <a:p>
            <a:r>
              <a:t>4.1. Aprovar a alteração do Anexo I da Classe Única para a reorganização do passivo de sua subclasse  única em novas subclasses, quais sejam, subclasse A (“Subclasse A”), subclasse B (“Subclasse B”) e  subclasse C (“Subclasse C” e, quando em conjunto com a Subclasse A e a Subclasse B, as “Subclasses”),  considerando que serão mantidas as condições de investimento originalmente pactuadas com os cotistas,  como critérios de aplicação, resgate, amortização e política de investimento da Classe Única, diferindo-  se, exclusivamente, em relação ao prazo de duração cada Subclasse.</a:t>
            </a:r>
          </a:p>
          <a:p>
            <a:r>
              <a:t>CNPJ 55563624000109 · Classes e séries de cotas · Condição: Documentos atuais selecionados no inventário por categoria/escopo; a data documental isolada não comprova vigência jurídica.</a:t>
            </a:r>
          </a:p>
          <a:p>
            <a:r>
              <a:t>CNPJ 55563624000109 · Classes e séries de cotas · Versão e prevalência: Documentos atuais selecionados no inventário por categoria/escopo; a data documental isolada não comprova vigência jurídica.</a:t>
            </a:r>
          </a:p>
          <a:p>
            <a:r>
              <a:t>CNPJ 55563624000109 · Classes e séries de cotas · Resumo do histórico: {"count": 3, "dates": ["2025-01-31", "2026-01-31", "2026-04-30"], "document_count": 3, "sources": [{"document_id": "1192614", "title": "Regulamento", "reference_date": "2026-04-30", "version": "1", "page": "15", "url": "https://fnet.bmfbovespa.com.br/fnet/publico/visualizarDocumento?id=1192614", "sha256": "f56e63ace0acde41d2f47fb48f1ac7f3f7df5e2d32de092d7c5e075a52516632"}, {"document_id": "1178840", "title": "Demonstrações Financeiras", "reference_date": "2026-01-31", "version": "1", "page": 25, "url": "https://fnet.bmfbovespa.com.br/fnet/publico/visualizarDocumento?id=1178840", "sha256": "c458e98664c5c907ddb5a05a94b120bed4e05295b2bfc420f5ba69af0a229abe"}, {"document_id": "891861", "title": "Demonstrações Financeiras", "reference_date": "2025-01-31", "version": "1", "page": 26, "url": "https://fnet.bmfbovespa.com.br/fnet/publico/visualizarDocumento?id=891861", "sha256": "e9cb9e6ddbe505fe068cfcac33605165a98313489de0d3ce6d4d238263c3f3e7"}], "reference": {"path": "history/55563624000109.json", "criterion_id": "quota_classes", "total_count": 3, "preview_count": 3, "full_text_deferred": true, "sha256": "7835d573fb58a3c19adf5b8ecc2aee2bdbb9a88f7a0c0209b5f262b64c7522e3"}}</a:t>
            </a:r>
          </a:p>
          <a:p>
            <a:r>
              <a:t>CNPJ 62552447000120 · Classes e séries de cotas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Classes e séries de cotas · Resumo do histórico: {"count": 1, "dates": ["2025-09-03"], "document_count": 1, "sources": [{"document_id": "988020", "title": "Instrumento Particular de Emissão de Cotas", "reference_date": "2025-09-03", "version": "1", "page": "5", "url": "https://fnet.bmfbovespa.com.br/fnet/publico/visualizarDocumento?id=988020", "sha256": "8ecc8a771bb9713d64e5fc2052c489664cb0433801a9280db68e5187d35bf7a5"}], "reference": {"path": "history/62552447000120.json", "criterion_id": "quota_classes", "total_count": 1, "preview_count": 1, "full_text_deferred": true, "sha256": "d95db8c0613d67ee84118c734588665265ea6b02f86a0318d6a844cbe1d0f82f"}}</a:t>
            </a:r>
          </a:p>
          <a:p>
            <a:r>
              <a:t>CNPJ 63953620000165 · Classes e séries de cotas · AGE · ID 1313935 · 2026-08-31 · versão 1 · p. 1 · 4.1 · https://fnet.bmfbovespa.com.br/fnet/publico/visualizarDocumento?id=1313935</a:t>
            </a:r>
          </a:p>
          <a:p>
            <a:r>
              <a:t>CNPJ 63953620000165 · Classes e séries de cotas · Excerto da fonte:</a:t>
            </a:r>
          </a:p>
          <a:p>
            <a:r>
              <a:t>4.1. Aprovar a realização da incorporação das parcelas cindidas descritas no Anexo I à presente ata (“Parcelas  Cindidas”), com base no fechamento de 28 de agosto de 2026 (“Data Base”), condicionada à aprovação da cisão  da CLASSE ÚNICA DO MT CONSIGNADO PRIVADO I FUNDO DE INVESTIMENTO EM DIREITOS CREDITÓRIOS  RESPONSABILIDADE LIMITADA, inscrita no CNPJ sob o nº 60.010.416/0001-12 (“Classe Cindida”), com a  subsequente incorporação da respectiva Parcela Cindida, emitindo-se cotas seniores da Classe, a serem  atribuídas integralmente aos cotistas da Classe Cindida, no valor da respectiva Parcela Cindida, na Data-Base, de  acordo com o valor das cotas da Classe na mesma data. A partir da Data Base, todos os direitos e obrigações dos  ativos cindidos serão sucedidos à Classe;</a:t>
            </a:r>
          </a:p>
          <a:p>
            <a:r>
              <a:t>CNPJ 63953620000165 · Classes e séries de cotas · Condição: Documentos atuais selecionados no inventário por categoria/escopo; a data documental isolada não comprova vigência jurídica.</a:t>
            </a:r>
          </a:p>
          <a:p>
            <a:r>
              <a:t>CNPJ 63953620000165 · Classes e séries de cotas · Versão e prevalência: Documentos atuais selecionados no inventário por categoria/escopo; a data documental isolada não comprova vigência jurídica.</a:t>
            </a:r>
          </a:p>
          <a:p>
            <a:r>
              <a:t>CNPJ 63953620000165 · Classes e séries de cotas · Resumo do histórico: {"count": 11, "dates": ["2026-07-29", "2026-08-17", "2026-08-21"], "document_count": 3, "sources": [{"document_id": "1309436", "title": "AGE", "reference_date": "2026-08-21", "version": "1", "page": 1, "clause": "4.1", "url": "https://fnet.bmfbovespa.com.br/fnet/publico/visualizarDocumento?id=1309436", "sha256": "f679de1621039dce7c665e3a742f213fd4d5047e12b96163b31ea4ae86f56817"}, {"document_id": "1298232", "title": "AGE", "reference_date": "2026-08-17", "version": "1", "page": 1, "clause": "4.1", "url": "https://fnet.bmfbovespa.com.br/fnet/publico/visualizarDocumento?id=1298232", "sha256": "75322e306547f725e73a2c6687b598e14d628caa84bd46a23508337a606866f6"}, {"document_id": "1277543", "title": "AGE", "reference_date": "2026-07-29", "version": "1", "page": 1, "url": "https://fnet.bmfbovespa.com.br/fnet/publico/visualizarDocumento?id=1277543", "sha256": "c2fb499fd6e25251a221d4e9dbb5d1378fb5efde5a58eee091868faf52d326c0"}], "reference": {"path": "history/63953620000165.json", "criterion_id": "quota_classes", "total_count": 11, "preview_count": 3, "full_text_deferred": true, "sha256": "a7b89077f5e21098c2d601c303faabc3ff6b9729f89d8afecdc60fe1404720c1"}}</a:t>
            </a:r>
          </a:p>
          <a:p>
            <a:r>
              <a:t>CNPJ 54871427000194 · Ofertas e colocação · AGE · ID 1055482 · 2025-12-02 · versão 1 · p. 1 · 4.1 · https://fnet.bmfbovespa.com.br/fnet/publico/visualizarDocumento?id=1055482</a:t>
            </a:r>
          </a:p>
          <a:p>
            <a:r>
              <a:t>CNPJ 54871427000194 · Ofertas e colocação · Excerto da fonte:</a:t>
            </a:r>
          </a:p>
          <a:p>
            <a:r>
              <a:t>4.1. Aprovar a nova emissão de Cotas pela Classe, todas nominativas e escriturais, com preço unitário de emissão  correspondente ao valor das Cotas da Classe em circulação quando na data de aprovação da Nova Emissão,  perfazendo o montante total de emissão de até R$ 650.000.000 (seiscentos e cinquenta milhões de reais), conforme  as características constantes do Regulamento e do Anexo da Classe (“Novas Cotas” e “Nova Emissão”,  respectivamente), e descritas abaixo:</a:t>
            </a:r>
          </a:p>
          <a:p>
            <a:r>
              <a:t>(i) Rito: as Novas Cotas não serão objeto de oferta pública, conforme facultado pelo artigo 8º, inciso IV, da  Resolução CVM nº 160, uma vez que a Classe se enquadra nos requisitos do referido dispositivo;</a:t>
            </a:r>
          </a:p>
          <a:p>
            <a:r>
              <a:t>(ii) Preço de Emissão: o preço unitário de emissão corresponderá ao valor das Cotas da Classe em circulação  quando na data de aprovação da Nova Emissão (“Preço de Emissão”);</a:t>
            </a:r>
          </a:p>
          <a:p>
            <a:r>
              <a:t>(iii) Preço de Integralização: o Preço de Integralização corresponderá ao valor das Cotas da Classe em  circulação quando da transferência dos valores para liquidação financeira (“Preço de Integralização”);</a:t>
            </a:r>
          </a:p>
          <a:p>
            <a:r>
              <a:t>(iv) Forma de Integralização: as Cotas serão integralizadas à vista, em moeda corrente nacional, pelo Preço  de Integralização, junto ao seu respectivo agente de custódia e/ou da Administradora na qualidade de  escriturador das cotas; e</a:t>
            </a:r>
          </a:p>
          <a:p>
            <a:r>
              <a:t>(v) Período de colocação: a subscrição das Cotas, objeto da Nova Emissão, deverão ser realizadas no prazo  máximo de 180 (cento e oitenta) dias, contados da data de efeitos do presente instrumento.</a:t>
            </a:r>
          </a:p>
          <a:p>
            <a:r>
              <a:t>CNPJ 54871427000194 · Ofertas e colocação · Condição: Trechos do documento específico identificado com data mais recente; vigência jurídica não inferida.</a:t>
            </a:r>
          </a:p>
          <a:p>
            <a:r>
              <a:t>CNPJ 54871427000194 · Ofertas e colocação · Versão e prevalência: Trechos do documento específico identificado com data mais recente; vigência jurídica não inferida.</a:t>
            </a:r>
          </a:p>
          <a:p>
            <a:r>
              <a:t>CNPJ 54871427000194 · Ofertas e colocação · Resumo do histórico: {"count": 7, "dates": ["2024-06-13", "2024-12-10"], "document_count": 3, "sources": [{"document_id": "798101", "title": "Anúncio de Encerramento", "reference_date": "2024-12-10", "version": "1", "page": "1-2", "url": "https://fnet.bmfbovespa.com.br/fnet/publico/visualizarDocumento?id=798101", "sha256": "71618c432ad86002484571d66922b873e4fa91ed3543a109134ddee0bd872f20"}, {"document_id": "679614", "title": "Anúncio de Início", "reference_date": "2024-06-13", "version": "1", "page": 1, "url": "https://fnet.bmfbovespa.com.br/fnet/publico/visualizarDocumento?id=679614", "sha256": "aad43ed14bfa0576144a306c466aea031fce0d01d3cb3de6aebd120f11164bfa"}, {"document_id": "683482", "title": "AGE", "reference_date": "2024-06-13", "version": "1", "page": 2, "url": "https://fnet.bmfbovespa.com.br/fnet/publico/visualizarDocumento?id=683482", "sha256": "3afbe254027691929935eaf19ebbb8634fb2ccd8e2fbea2cb2d81a7818f8d648"}], "reference": {"path": "history/54871427000194.json", "criterion_id": "offers", "total_count": 7, "preview_count": 3, "full_text_deferred": true, "sha256": "35d7cd99be50c7287c9fb675cf4f2e736002315295a225a9efa79c8d9186d874"}}</a:t>
            </a:r>
          </a:p>
          <a:p>
            <a:r>
              <a:t>CNPJ 60010416000112 · Ofertas e colocação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Ofertas e colocação · Resumo do histórico: {"count": 1, "dates": ["2025-03-20"], "document_count": 1, "sources": [{"document_id": "993785", "title": "Instrumento Particular de Constituição/Encerramento do Fundo", "reference_date": "2025-03-20", "version": "1", "page": "1-2", "url": "https://fnet.bmfbovespa.com.br/fnet/publico/visualizarDocumento?id=993785", "sha256": "0826e0eae2c51afabf59bbc49fc7647598d03da5ca6de0f9725850a8bd6af457"}], "reference": {"path": "history/60010416000112.json", "criterion_id": "offers", "total_count": 1, "preview_count": 1, "full_text_deferred": true, "sha256": "8e2bd813f4c51cf01f6bfaad164bafe69d2bbb192f753eac92da3a01c2e63046"}}</a:t>
            </a:r>
          </a:p>
          <a:p>
            <a:r>
              <a:t>CNPJ 62696791000193 · Ofertas e colocação · Regulamento · ID 1143317 · 2026-03-20 · versão 1 · p. 39 · 2.6 · https://fnet.bmfbovespa.com.br/fnet/publico/visualizarDocumento?id=1143317</a:t>
            </a:r>
          </a:p>
          <a:p>
            <a:r>
              <a:t>CNPJ 62696791000193 · Ofertas e colocação · Excerto da fonte:</a:t>
            </a:r>
          </a:p>
          <a:p>
            <a:r>
              <a:t>2.6. O valor de mercado das Cotas de emissão da Classe poderá sofrer oscilações frequentes e  significativas, inclusive ao longo do dia. Como consequência, o valor de mercado das cotas de  emissão da Classe poderá não ref letir necessariamente seu valor patrimonial. Não será devida  pela Classe ou por qualquer pessoa, incluindo as instituições responsáveis pela distribuição  das cotas, os demais Cotistas da Classe, o Administrador e as instituições participantes da  of erta, qualquer multa ou penalidade de qualquer natureza, caso ocorra, por qualquer razão,</a:t>
            </a:r>
          </a:p>
          <a:p>
            <a:r>
              <a:t> (i) o alongamento do período de amortização das Cotas; (ii) a liquidação da Classe; ou, ainda,</a:t>
            </a:r>
          </a:p>
          <a:p>
            <a:r>
              <a:t> (iii) caso os Cotistas sof ram qualquer dano ou prejuízo resultante de tais eventos.</a:t>
            </a:r>
          </a:p>
          <a:p>
            <a:r>
              <a:t>3. Risco TributárioOs rendimentos e ganhos líquidos auf eridos pela Classe em aplicações f inanceiras de  renda f ixa ou de renda variável sujeitam-se à incidência do imposto de renda na f onte, observadas as  mesmas normas aplicáveis às pessoas jurídicas, podendo esse imposto ser compensado com o retido na  f onte pela Classe quando da distribuição de rendimentos e ganhos de capital aos Cotistas. Os rendimentos  auf eridos pela Classe, quando distribuídos aos Cotistas sujeitam-se à incidência do Imposto de Renda na  f onte à alíquota de 20% (vinte por cento). Os rendimentos e ganhos de capital auferidos pelos Cotistas na</a:t>
            </a:r>
          </a:p>
          <a:p>
            <a:r>
              <a:t>CNPJ 62696791000193 · Ofertas e colocação · Regulamento · ID 1143317 · 2026-03-20 · versão 1 · p. 28 · https://fnet.bmfbovespa.com.br/fnet/publico/visualizarDocumento?id=1143317</a:t>
            </a:r>
          </a:p>
          <a:p>
            <a:r>
              <a:t>CNPJ 62696791000193 · Ofertas e colocação · Excerto da fonte:</a:t>
            </a:r>
          </a:p>
          <a:p>
            <a:r>
              <a:t>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equivalente a 0,9% (nove décimos  por cento) ao ano aplicado sobre o Patrimônio Anexo I ao  Regulamento Líquido, observado o limite máximo de 4,5% (quatro  inteiros e cinquenta centésimos por cento) do volume captado na  respectiva oferta (“Taxa Máxima de Distribuição”).A Taxa Máxima de</a:t>
            </a:r>
          </a:p>
          <a:p>
            <a:r>
              <a:t>CNPJ 62696791000193 · Ofertas e colocação · Condição: Documentos atuais selecionados no inventário por categoria/escopo; a data documental isolada não comprova vigência jurídica.</a:t>
            </a:r>
          </a:p>
          <a:p>
            <a:r>
              <a:t>CNPJ 62696791000193 · Ofertas e colocação · Versão e prevalência: Documentos atuais selecionados no inventário por categoria/escopo; a data documental isolada não comprova vigência jurídica.</a:t>
            </a:r>
          </a:p>
          <a:p>
            <a:r>
              <a:t>CNPJ 62696791000193 · Ofertas e colocação · Resumo do histórico: {"count": 1, "dates": ["2026-03-27"], "document_count": 1, "sources": [{"document_id": "1148821", "title": "Instrumento Particular de Emissão de Cotas", "reference_date": "2026-03-27", "version": "1", "page": "1-3", "url": "https://fnet.bmfbovespa.com.br/fnet/publico/visualizarDocumento?id=1148821", "sha256": "86900e9dd498403696bfffbd4196443c83ec4d51ff21135e073c1966e1adf4c0"}], "reference": {"path": "history/62696791000193.json", "criterion_id": "offers", "total_count": 1, "preview_count": 1, "full_text_deferred": true, "sha256": "0e9ec199848320ec945708123ae0cb6075d76c05d94beed814d582031d353926"}}</a:t>
            </a:r>
          </a:p>
          <a:p>
            <a:r>
              <a:t>CNPJ 55563624000109 · Ofertas e colocação · Regulamento · ID 1192614 · 2026-04-30 · versão 1 · p. 25 · 12.9 · https://fnet.bmfbovespa.com.br/fnet/publico/visualizarDocumento?id=1192614</a:t>
            </a:r>
          </a:p>
          <a:p>
            <a:r>
              <a:t>CNPJ 55563624000109 · Ofertas e colocação · Excerto da fonte:</a:t>
            </a:r>
          </a:p>
          <a:p>
            <a:r>
              <a:t>12.9 Inclui-se entre as obrigações do GESTOR, contratar, em nome da Classe, se necessário, com terceiros  devidamente habilitados e autorizados, os serviços de distribuição das Cotas. A distribuição pública das Cotas  deverá ser realizada por distribuidores devidamente autorizados pela CVM, nos termos da regulamentação  aplicável.</a:t>
            </a:r>
          </a:p>
          <a:p>
            <a:r>
              <a:t>CNPJ 55563624000109 · Ofertas e colocação · Condição: Documentos atuais selecionados no inventário por categoria/escopo; a data documental isolada não comprova vigência jurídica.</a:t>
            </a:r>
          </a:p>
          <a:p>
            <a:r>
              <a:t>CNPJ 55563624000109 · Ofertas e colocação · Versão e prevalência: Documentos atuais selecionados no inventário por categoria/escopo; a data documental isolada não comprova vigência jurídica.</a:t>
            </a:r>
          </a:p>
          <a:p>
            <a:r>
              <a:t>CNPJ 55563624000109 · Ofertas e colocação · Resumo do histórico: {"count": 3, "dates": ["2024-07-03"], "document_count": 3, "sources": [{"document_id": "703295", "title": "Anúncio de Início", "reference_date": "2024-07-03", "version": "2", "page": 1, "url": "https://fnet.bmfbovespa.com.br/fnet/publico/visualizarDocumento?id=703295", "sha256": "12322b6dbf75e673723bd60910373db249451b72666792e18e0c7b6128f4608a"}, {"document_id": "702585", "title": "Anúncio de Início", "reference_date": "2024-07-03", "version": "1", "page": 1, "url": "https://fnet.bmfbovespa.com.br/fnet/publico/visualizarDocumento?id=702585", "sha256": "6708609ac7f0611118fb23ffd6d2cd6c7fd33275130407918ea42831baa712cd"}, {"document_id": "691674", "title": "Instrumento Particular de Emissão de Cotas", "reference_date": "2024-07-03", "version": "1", "page": 3, "url": "https://fnet.bmfbovespa.com.br/fnet/publico/visualizarDocumento?id=691674", "sha256": "78bf7b350f1785beae5f43bd209b5ed19e863cb9a2cff01542aac11dd63ca554"}], "reference": {"path": "history/55563624000109.json", "criterion_id": "offers", "total_count": 3, "preview_count": 3, "full_text_deferred": true, "sha256": "7835d573fb58a3c19adf5b8ecc2aee2bdbb9a88f7a0c0209b5f262b64c7522e3"}}</a:t>
            </a:r>
          </a:p>
          <a:p>
            <a:r>
              <a:t>CNPJ 62552447000120 · Ofertas e colocação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Ofertas e colocação · Resumo do histórico: {"count": 1, "dates": ["2025-09-03"], "document_count": 1, "sources": [{"document_id": "988020", "title": "Instrumento Particular de Emissão de Cotas", "reference_date": "2025-09-03", "version": "1", "page": "5-6", "url": "https://fnet.bmfbovespa.com.br/fnet/publico/visualizarDocumento?id=988020", "sha256": "8ecc8a771bb9713d64e5fc2052c489664cb0433801a9280db68e5187d35bf7a5"}], "reference": {"path": "history/62552447000120.json", "criterion_id": "offers", "total_count": 1, "preview_count": 1, "full_text_deferred": true, "sha256": "d95db8c0613d67ee84118c734588665265ea6b02f86a0318d6a844cbe1d0f82f"}}</a:t>
            </a:r>
          </a:p>
          <a:p>
            <a:r>
              <a:t>CNPJ 63953620000165 · Ofertas e colocação · Anexo ao Regulamento · ID 1222863 · 2026-06-02 · versão 1 · p. 10 · 6.9 · https://fnet.bmfbovespa.com.br/fnet/publico/visualizarDocumento?id=1222863</a:t>
            </a:r>
          </a:p>
          <a:p>
            <a:r>
              <a:t>CNPJ 63953620000165 · Ofertas e colocação · Excerto da fonte:</a:t>
            </a:r>
          </a:p>
          <a:p>
            <a:r>
              <a:t>6.9 As Cotas poderão ser objeto de oferta pública a ser realizada nos termos da Resolução CVM 160 (“Oferta”) e/ou  poderão ser colocadas de forma privada (“Colocação Privada”), bem como segundo outros ritos que venham a  ser previstos pela regulamentação. As Cotas deverão ser emitidas e subscritas dentro do prazo e nos termos e  condições da legislação aplicável, do presente Anexo e dos respectivos Boletins de Subscrição e/ou  Compromissos de Investimento.</a:t>
            </a:r>
          </a:p>
          <a:p>
            <a:r>
              <a:t>CNPJ 63953620000165 · Ofertas e colocação · Condição: Documentos atuais selecionados no inventário por categoria/escopo; a data documental isolada não comprova vigência jurídica.</a:t>
            </a:r>
          </a:p>
          <a:p>
            <a:r>
              <a:t>CNPJ 63953620000165 · Ofertas e colocação · Versão e prevalência: Documentos atuais selecionados no inventário por categoria/escopo; a data documental isolada não comprova vigência jurídica.</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Emissões e custos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Remuneração por subclasse e série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Remuneração por subclasse e série · Resumo do histórico: {"count": 1, "dates": ["2024-04-28"], "document_count": 1, "sources": [{"document_id": "670691", "title": "Regulamento", "reference_date": "2024-04-28", "version": "1", "page": "14", "url": "https://fnet.bmfbovespa.com.br/fnet/publico/visualizarDocumento?id=670691", "sha256": "bf16dd7f1a62d5cdbf2e2d54fef81783783f7310fbc99c3a8f00459bdf9d037b"}], "reference": {"path": "history/54871427000194.json", "criterion_id": "remuneration", "total_count": 1, "preview_count": 1, "full_text_deferred": true, "sha256": "35d7cd99be50c7287c9fb675cf4f2e736002315295a225a9efa79c8d9186d874"}}</a:t>
            </a:r>
          </a:p>
          <a:p>
            <a:r>
              <a:t>CNPJ 60010416000112 · Remuneração por subclasse e série · Instrumento Particular de Constituição/Encerramento do Fundo · ID 993785 · 20/03/2025 · versão 1ªemissão20/03/2025 · p. 5 · Suplemento1ªsênior BenchmarkSênior · https://fnet.bmfbovespa.com.br/fnet/publico/visualizarDocumento?id=993785</a:t>
            </a:r>
          </a:p>
          <a:p>
            <a:r>
              <a:t>CNPJ 60010416000112 · Remuneração por subclasse e série · Excerto da fonte:</a:t>
            </a:r>
          </a:p>
          <a:p>
            <a:r>
              <a:t>4,80% (quatro inteiros e oitenta centésimos por cento)calculado por Dia Útil à base de 1/252 (um inteiro e duzentos e cinquenta e dois avos); e (ii) “Benchmark Sênior Adicional”: o parâmetro adicional de rentabilidade a ser buscado pela Classe para remunerar as Cotas Seniores, correspondente 15,00% (quinze por cento) do excesso de spread das Cotas Subordinadas com cap de remuneração total das Cotas Seniores pela variação do CDI acrescido de 6,00% (seis por cento</a:t>
            </a:r>
          </a:p>
          <a:p>
            <a:r>
              <a:t>CNPJ 60010416000112 · Remuneração por subclasse e série · Condição: Termo específico da primeira emissão de 20/03/2025, distinto de taxa deperformance e do suplemento modelo com campos não preenchidos do regulamento.</a:t>
            </a:r>
          </a:p>
          <a:p>
            <a:r>
              <a:t>CNPJ 60010416000112 · Remuneração por subclasse e série · Versão e prevalência: Leitura específica das cláusulas indicadas; condições e conflitos preservados. Seleção documental atual não comprova vigência jurídica por data isolada.</a:t>
            </a:r>
          </a:p>
          <a:p>
            <a:r>
              <a:t>CNPJ 60010416000112 · Remuneração por subclasse e série · Resumo do histórico: {"count": 3, "dates": ["2025-03-20", "2025-05-12"], "document_count": 2, "sources": [{"document_id": "1004656", "title": "AGE", "reference_date": "2025-05-12", "version": "1", "page": 5, "url": "https://fnet.bmfbovespa.com.br/fnet/publico/visualizarDocumento?id=1004656", "sha256": "f6c9c009f6170e2b29f074b98522accec73f0c40efbf11f9ec2c8d3f1402616b"}, {"document_id": "993785", "title": "Instrumento Particular de Constituição/Encerramento do Fundo", "reference_date": "2025-03-20", "version": "1", "page": "4-5", "url": "https://fnet.bmfbovespa.com.br/fnet/publico/visualizarDocumento?id=993785", "sha256": "0826e0eae2c51afabf59bbc49fc7647598d03da5ca6de0f9725850a8bd6af457"}, {"document_id": "993785", "title": "Instrumento Particular de Constituição/Encerramento do Fundo", "reference_date": "2025-03-20", "version": "1", "page": 5, "url": "https://fnet.bmfbovespa.com.br/fnet/publico/visualizarDocumento?id=993785", "sha256": "0826e0eae2c51afabf59bbc49fc7647598d03da5ca6de0f9725850a8bd6af457"}], "reference": {"path": "history/60010416000112.json", "criterion_id": "remuneration", "total_count": 3, "preview_count": 3, "full_text_deferred": true, "sha256": "8e2bd813f4c51cf01f6bfaad164bafe69d2bbb192f753eac92da3a01c2e63046"}}</a:t>
            </a:r>
          </a:p>
          <a:p>
            <a:r>
              <a:t>CNPJ 62696791000193 · Remuneração por subclasse e série · Regulamento · ID 1143317 · 20/03/2026 · versão Regulamento — referência 20/03/2026 · p. 33 · Apêndice Sênior, 1.2 e 1.4 · https://fnet.bmfbovespa.com.br/fnet/publico/visualizarDocumento?id=1143317</a:t>
            </a:r>
          </a:p>
          <a:p>
            <a:r>
              <a:t>CNPJ 62696791000193 · Remuneração por subclasse e série · Excerto da fonte:</a:t>
            </a:r>
          </a:p>
          <a:p>
            <a:r>
              <a:t>1.2. As Cotas Seniores poderão ser divididas em séries com valores e prazos diferenciados para amortização, resgate e remuneração, sendo que cada série terá as mesmas características e conf erirá a seus titulares iguais direitos e obrigações nos termos deste Reg ulamento e do Apêndice ref erente a cada emissão/série de Cotas Seniores. 1.2. Benchmark. A Classe buscará atingir, para as Cotas Seniores, o “Benchmark”, correspondente à 100% (cem por cento) da variação positiva do CDI acrescida de 4,5% (quatro inteiros e cinco décimos por cento) ao ano. 1.3. O Benchmark não representa e nem devem ser considerados uma promessa, garantia ou sugestão de rentabilidade aos Cotistas Seniores, por parte da Classe, do Administrador, do Gestor e/ou do Cedente. 1.4. Independentemente do valor do Patrimônio Líquido da Classe, os Cotistas detentores de Cotas Seniores não f arão jus a uma rentabilidade superior ao Benchmark, o qual representará o limite máximo de remuneração possível para as Cotas Seniores. 2. Emissão, Subscrição e Integralização das Cotas 2.1. A Classe poderá emitir múltiplas Séries de Cotas Seniores, ficando ressalvado, no entanto, que cada nova Série de Cotas Seniores a ser emitida pela Classe</a:t>
            </a:r>
          </a:p>
          <a:p>
            <a:r>
              <a:t>CNPJ 62696791000193 · Remuneração por subclasse e série · Regulamento · ID 1143317 · 20/03/2026 · versão Regulamento — referência 20/03/2026 · p. 34 · Apêndice Sênior, 6.2 · https://fnet.bmfbovespa.com.br/fnet/publico/visualizarDocumento?id=1143317</a:t>
            </a:r>
          </a:p>
          <a:p>
            <a:r>
              <a:t>CNPJ 62696791000193 · Remuneração por subclasse e série · Excerto da fonte:</a:t>
            </a:r>
          </a:p>
          <a:p>
            <a:r>
              <a:t>6.2. Em complemento às Amortizações Programadas de Cotas Seniores, os Cotistas Seniores f arão jus, sempre que o Patrimônio Líquido da Classe assim permita e desde que o Valor Unitário das Cotas Seniores esteja superior ao valor de integralização das Cotas Seniores em circulação, a 50% (cinquenta por cento) de qualquer valor que exceder a Amortização das Cotas Subordinadas, conforme prevista no Apêndice da Subclasse Subordinada, a ser paga na Data de Amortização Programada de Cotas Seniores (“Amortização Extraordinária de Cotas Seniores”). 6.3. Os pagamentos das parcelas de Amortização e/ou de resgate das Cotas Seniores serão ef etuados, em moeda corrente nacional, pelo Valor Unitário das Cotas Seniores no dia do pagamento, calculado na forma descrita neste Apêndice e no Anexo I, por meio de depósito em conta de titularidade dos Cotistas titulares BTG Pactual 2 SAC: 0800 772 28 27 - Ouvidoria: 0800 722 00 48 - btgpactual.com</a:t>
            </a:r>
          </a:p>
          <a:p>
            <a:r>
              <a:t>CNPJ 62696791000193 · Remuneração por subclasse e série · Regulamento · ID 1143317 · 20/03/2026 · versão Regulamento — referência 20/03/2026 · p. 37 · Apêndice Júnior, 4.1–4.2 · https://fnet.bmfbovespa.com.br/fnet/publico/visualizarDocumento?id=1143317</a:t>
            </a:r>
          </a:p>
          <a:p>
            <a:r>
              <a:t>CNPJ 62696791000193 · Remuneração por subclasse e série · Excerto da fonte:</a:t>
            </a:r>
          </a:p>
          <a:p>
            <a:r>
              <a:t>4.1. Caso o Patrimônio Líquido da Classe assim permita, as Cotas Subordinadas f arão jus à amortização semestral, no último Dia Útil dos meses de janeiro e julho de cada ano, de valor equivalente ao excedente do valor de integralização das Cotas Subordinadas em circulação, limitado ao percentual de 100% (cem por cento) da variação positiva do CDI acrescida de 4,50% (quatro inteiros e cinco décimos por cento) ao ano, considerando, para tanto a razão entre (i) o valor de integralização das Cotas Subordinadas Júnior em circulação e (ii) o valor de cada uma das Cotas Subordinadas, a ser paga na Data de Amortização Programada de Cotas Seniores (“Amortização das Cotas Subordinadas”). 4.2. Em complemento às Amortizações das Cotas Subordinadas, os Cotistas Subordinados farão jus, sempre que o Patrimônio Líquido da Classe assim permita e desde que o Valor Unitário das Cotas Subordinadas esteja superior ao valor de integralização das Cotas Subordinadas em circulação, a 50% (cinquenta por cento) de qualquer valor que exceder a Amortização das Cotas Subordinadas, a ser paga na Data de Amortização Programada de Cotas Seniores (“Amortização Extraordinária de Cotas Seniores”). 5. Excesso de Subordinação 5.1. Verif icado excesso de subordinação,</a:t>
            </a:r>
          </a:p>
          <a:p>
            <a:r>
              <a:t>CNPJ 62696791000193 · Remuneração por subclasse e série · Condição: Benchmark é regra de atribuição, condicionado ao PL/resultados, sem garantia de rentabilidade. A subclasse mezanino é autorizada, mas não há apêndice mezanino no PDF consolidado obtido.</a:t>
            </a:r>
          </a:p>
          <a:p>
            <a:r>
              <a:t>CNPJ 62696791000193 · Remuneração por subclasse e série · Versão e prevalência: Leitura específica das cláusulas indicadas; condições e conflitos preservados. Seleção documental atual não comprova vigência jurídica por data isolada.</a:t>
            </a:r>
          </a:p>
          <a:p>
            <a:r>
              <a:t>CNPJ 62696791000193 · Remuneração por subclasse e série · Resumo do histórico: {"count": 1, "dates": ["2026-03-27"], "document_count": 1, "sources": [{"document_id": "1148821", "title": "Instrumento Particular de Emissão de Cotas", "reference_date": "2026-03-27", "version": "1", "page": "1-2", "url": "https://fnet.bmfbovespa.com.br/fnet/publico/visualizarDocumento?id=1148821", "sha256": "86900e9dd498403696bfffbd4196443c83ec4d51ff21135e073c1966e1adf4c0"}], "reference": {"path": "history/62696791000193.json", "criterion_id": "remuneration", "total_count": 1, "preview_count": 1, "full_text_deferred": true, "sha256": "0e9ec199848320ec945708123ae0cb6075d76c05d94beed814d582031d353926"}}</a:t>
            </a:r>
          </a:p>
          <a:p>
            <a:r>
              <a:t>CNPJ 55563624000109 · Remuneração por subclasse e série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Remuneração por subclasse e série · Resumo do histórico: {"count": 1, "dates": ["2026-04-30"], "document_count": 1, "sources": [{"document_id": "1192614", "title": "Regulamento", "reference_date": "2026-04-30", "version": "1", "page": "16-17", "url": "https://fnet.bmfbovespa.com.br/fnet/publico/visualizarDocumento?id=1192614", "sha256": "f56e63ace0acde41d2f47fb48f1ac7f3f7df5e2d32de092d7c5e075a52516632"}], "reference": {"path": "history/55563624000109.json", "criterion_id": "remuneration", "total_count": 1, "preview_count": 1, "full_text_deferred": true, "sha256": "7835d573fb58a3c19adf5b8ecc2aee2bdbb9a88f7a0c0209b5f262b64c7522e3"}}</a:t>
            </a:r>
          </a:p>
          <a:p>
            <a:r>
              <a:t>CNPJ 62552447000120 · Remuneração por subclasse e série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Remuneração por subclasse e série · Resumo do histórico: {"count": 1, "dates": ["2025-09-03"], "document_count": 1, "sources": [{"document_id": "988020", "title": "Instrumento Particular de Emissão de Cotas", "reference_date": "2025-09-03", "version": "1", "page": "5-6", "url": "https://fnet.bmfbovespa.com.br/fnet/publico/visualizarDocumento?id=988020", "sha256": "8ecc8a771bb9713d64e5fc2052c489664cb0433801a9280db68e5187d35bf7a5"}], "reference": {"path": "history/62552447000120.json", "criterion_id": "remuneration", "total_count": 1, "preview_count": 1, "full_text_deferred": true, "sha256": "d95db8c0613d67ee84118c734588665265ea6b02f86a0318d6a844cbe1d0f82f"}}</a:t>
            </a:r>
          </a:p>
          <a:p>
            <a:r>
              <a:t>CNPJ 63953620000165 · Remuneração por subclasse e série · Anexo ao Regulamento · ID 1222863 · 2026-06-02 · versão 1 · p. 22 · 1.2 · https://fnet.bmfbovespa.com.br/fnet/publico/visualizarDocumento?id=1222863</a:t>
            </a:r>
          </a:p>
          <a:p>
            <a:r>
              <a:t>CNPJ 63953620000165 · Remuneração por subclasse e série · Excerto da fonte:</a:t>
            </a:r>
          </a:p>
          <a:p>
            <a:r>
              <a:t>1.2. Benchmark Sênior. A Classe buscará atingir, para as Cotas Seniores, o Benchmark Sênior, qual seja, (a) para a parcela  do Patrimônio Líquido alocado em Direitos Creditórios Consignado Privado e/ou Ativos de Liquidez MT, a variação  positiva do CDI acrescida de 1,50% (um inteiro e cinco décimos por cento) ao ano, (b) para a parcela do Patrimônio  Líquido alocado em Ativos de Liquidez e/ou Direitos Creditórios TVM, a variação positiva do CDI.</a:t>
            </a:r>
          </a:p>
          <a:p>
            <a:r>
              <a:t>CNPJ 63953620000165 · Remuneração por subclasse e série · Anexo ao Regulamento · ID 1222863 · 2026-06-02 · versão 1 · p. 22 · 1.5 · https://fnet.bmfbovespa.com.br/fnet/publico/visualizarDocumento?id=1222863</a:t>
            </a:r>
          </a:p>
          <a:p>
            <a:r>
              <a:t>CNPJ 63953620000165 · Remuneração por subclasse e série · Excerto da fonte:</a:t>
            </a:r>
          </a:p>
          <a:p>
            <a:r>
              <a:t>1.5. Rentabilidade Adicional Sênior. Adicionalmente ao Benchmark Sênior, as Cotas Seniores efetivamente integralizadas  farão jus a uma rentabilidade adicional equivalente a 0,38% (trinta e oito centésimos por cento) incidente sobre o  montante financeiro integralizado pelo respectivo Cotista das Cotas Seniores (“Rentabilidade Adicional Sênior”), a  ser paga a cada Cotista Sênior, em uma única parcela, em até 40 (quarenta) dias corridos após a integralização das  respectivas Cotas Seniores, sendo automaticamente ajustada em caso de alteração da alíquota ou da forma de  incidência do IOF, e deixando de ser devida na hipótese de sua extinção.</a:t>
            </a:r>
          </a:p>
          <a:p>
            <a:r>
              <a:t> 2. Emissão, Subscrição e Integralização das Cotas</a:t>
            </a:r>
          </a:p>
          <a:p>
            <a:r>
              <a:t>CNPJ 63953620000165 · Remuneração por subclasse e série · Condição: Documentos atuais selecionados no inventário por categoria/escopo; a data documental isolada não comprova vigência jurídica.</a:t>
            </a:r>
          </a:p>
          <a:p>
            <a:r>
              <a:t>CNPJ 63953620000165 · Remuneração por subclasse e série · Versão e prevalência: Documentos atuais selecionados no inventário por categoria/escopo; a data documental isolada não comprova vigência jurídica.</a:t>
            </a:r>
          </a:p>
          <a:p>
            <a:r>
              <a:t>CNPJ 54871427000194 · Volume, VNU e emissão · Anúncio de Encerramento · ID 798101 · 2024-12-10 · versão 1 · p. 1 · https://fnet.bmfbovespa.com.br/fnet/publico/visualizarDocumento?id=798101</a:t>
            </a:r>
          </a:p>
          <a:p>
            <a:r>
              <a:t>CNPJ 54871427000194 · Volume, VNU e emissão · Excerto da fonte:</a:t>
            </a:r>
          </a:p>
          <a:p>
            <a:r>
              <a:t>Informações da Oferta  Valor Bruto da 2ª Quantidade de Cotas  Preço de Emissão da Cota  Emissão emitidas  R$ 55.000.000,00 55.000 R$ 1.000,00</a:t>
            </a:r>
          </a:p>
          <a:p>
            <a:r>
              <a:t>CNPJ 54871427000194 · Volume, VNU e emissão · Condição: Trechos do documento específico identificado com data mais recente; vigência jurídica não inferida.</a:t>
            </a:r>
          </a:p>
          <a:p>
            <a:r>
              <a:t>CNPJ 54871427000194 · Volume, VNU e emissão · Versão e prevalência: Trechos do documento específico identificado com data mais recente; vigência jurídica não inferida.</a:t>
            </a:r>
          </a:p>
          <a:p>
            <a:r>
              <a:t>CNPJ 54871427000194 · Volume, VNU e emissão · Resumo do histórico: {"count": 5, "dates": ["2024-06-11", "2024-06-13", "2024-12-10"], "document_count": 3, "sources": [{"document_id": "798101", "title": "Anúncio de Encerramento", "reference_date": "2024-12-10", "version": "1", "page": "1-2", "url": "https://fnet.bmfbovespa.com.br/fnet/publico/visualizarDocumento?id=798101", "sha256": "71618c432ad86002484571d66922b873e4fa91ed3543a109134ddee0bd872f20"}, {"document_id": "683482", "title": "AGE", "reference_date": "2024-06-13", "version": "1", "page": 1, "clause": "4.1", "url": "https://fnet.bmfbovespa.com.br/fnet/publico/visualizarDocumento?id=683482", "sha256": "3afbe254027691929935eaf19ebbb8634fb2ccd8e2fbea2cb2d81a7818f8d648"}, {"document_id": "677544", "title": "Anúncio de Encerramento", "reference_date": "2024-06-11", "version": "1", "page": 1, "url": "https://fnet.bmfbovespa.com.br/fnet/publico/visualizarDocumento?id=677544", "sha256": "5735adc30829e0e91623167d4fd602de01adb236e3d3e758bddb0a375c7067b1"}], "reference": {"path": "history/54871427000194.json", "criterion_id": "issue_volume", "total_count": 5, "preview_count": 3, "full_text_deferred": true, "sha256": "35d7cd99be50c7287c9fb675cf4f2e736002315295a225a9efa79c8d9186d874"}}</a:t>
            </a:r>
          </a:p>
          <a:p>
            <a:r>
              <a:t>CNPJ 60010416000112 · Volume, VNU e emissão · AGE · ID 1049114 · 2025-11-26 · versão 1 · p. 2 · https://fnet.bmfbovespa.com.br/fnet/publico/visualizarDocumento?id=1049114</a:t>
            </a:r>
          </a:p>
          <a:p>
            <a:r>
              <a:t>CNPJ 60010416000112 · Volume, VNU e emissão · Excerto da fonte:</a:t>
            </a:r>
          </a:p>
          <a:p>
            <a:r>
              <a:t>Este instrumento constitui o suplemento nº 3 (“Suplemento”) referente à 1ª emissão de cotas da Série B  da Subclasse Sênior da CLASSE ÚNICA DO MT CONSIGNADO PRIVADO I FUNDO DE  INVESTIMENTO EM DIREITOS CREDITÓRIOS RESPONSABILIDADE LIMITADA (“Classe” e  “FUNDO”, respectivamente), administrado pela BTG Pactual Serviços Financeiros S.A. Distribuidora  de Títulos e Valores Mobiliários, instituição com sede no Município do Rio de Janeiro, Estado do Rio de  Janeiro, na Praia de Botafogo, nº 501, 5º andar – parte, inscrita no CNPJ sob o nº 59.281.253/0001-23,  autorizada a funcionar pelo Banco Central do Brasil e autorizada pela Comissão de Valores Mobiliários  (“CVM”) para a atividade de administração de carteiras de valores mobiliários, de acordo com o Ato  Declaratório nº 8.695, de 20 de março de 2006 (“ADMINISTRADOR”), emitidas nos termos do regulamento  do FUNDO, do anexo descritivo da Classe do respectivo apêndice, devidamente registrado perante a CVM  (“Regulamento”, “Anexo da Classe”, “Apêndice” e “Cotas Seniores” respectivamente), a qual terá as  seguintes características:</a:t>
            </a:r>
          </a:p>
          <a:p>
            <a:r>
              <a:t> Número de Emissão, Valor São emitidas no âmbito da 1ª emissão da 3ª Série de Cotas Seniores da  Total da Emissão e Forma Classe, de 2,000,000 (dois milhões) de Cotas da 3ª Série da Subclasse  de Distribuição Sênior da Classe, com valor nominal unitário de R$ 1.000,00 (mil reais)  cada, totalizando o montante de R$ 2.000.000.000,00 (dois bilhões de  reais), as quais serão objeto de colocação privada, destinada ao Público-  Alvo (conforme definido no Anexo da Classe) (“Colocação Privada”).</a:t>
            </a:r>
          </a:p>
          <a:p>
            <a:r>
              <a:t> Valor Unitário de Emissão As Cotas Seniores da 3ª Série terão um valor unitário de R$ 1.000,00 (mil  reais) na respectiva Data de Emissão.</a:t>
            </a:r>
          </a:p>
          <a:p>
            <a:r>
              <a:t> Data de Emissão Data da 1ª Integralização.</a:t>
            </a:r>
          </a:p>
          <a:p>
            <a:r>
              <a:t> Valor Unitário de As Cotas Seniores da 3ª Série serão subscritas pelo Valor Unitário de  Integralização Emissão, e serão integralizadas pelo respectivo Valor Unitário, nos  termos do Regulamento, do Apêndice e deste Suplemento, sendo certo  que, nas emissões de novas Cotas Seniores da 3ª Série que não difiram,  em sua respectiva Subclasse, das Cotas Seniores da 3ª Série então em  circulação, o Valor Unitário de Integralização corresponderá ao Valor  Unitário da Cota apurado no Dia Útil em que os recursos aportados pelo  Cotista tornem-se efetivamente disponíveis à Classe.</a:t>
            </a:r>
          </a:p>
          <a:p>
            <a:r>
              <a:t> Investimento Mínimo por Não há  Investidor  Forma de Subscrição e As Cotas Seniores da 3ª Série deverão ser integralizadas, à vista, em  Integralização moeda corrente nacional, pelo Valor Unitário de Integralização, no ato de  subscrição.</a:t>
            </a:r>
          </a:p>
          <a:p>
            <a:r>
              <a:t> Ao subscrever Cotas Seniores da 3ª Série, cada Investidor deverá  assinar o Termo de Adesão, no qual confirmará, dentre outros, ter  conhecimento de todos os termos e condições do Fundo e do</a:t>
            </a:r>
          </a:p>
          <a:p>
            <a:r>
              <a:t>CNPJ 60010416000112 · Volume, VNU e emissão · Condição: Trechos do documento específico identificado com data mais recente; vigência jurídica não inferida.</a:t>
            </a:r>
          </a:p>
          <a:p>
            <a:r>
              <a:t>CNPJ 60010416000112 · Volume, VNU e emissão · Motivo: Cláusula primária localizada e citada, mas sua lista/condições extensas não admitem uma síntese literal curta confirmada. O trecho integral permanece nas fontes. A resposta da revisão anterior foi preservada no histórico, sem confirmação pelo documento atual.</a:t>
            </a:r>
          </a:p>
          <a:p>
            <a:r>
              <a:t>CNPJ 60010416000112 · Volume, VNU e emissão · Versão e prevalência: Trechos do documento específico identificado com data mais recente; vigência jurídica não inferida.</a:t>
            </a:r>
          </a:p>
          <a:p>
            <a:r>
              <a:t>CNPJ 60010416000112 · Volume, VNU e emissão · Resumo do histórico: {"count": 3, "dates": ["2025-03-20", "2025-05-12"], "document_count": 2, "sources": [{"document_id": "1004656", "title": "AGE", "reference_date": "2025-05-12", "version": "1", "page": 4, "url": "https://fnet.bmfbovespa.com.br/fnet/publico/visualizarDocumento?id=1004656", "sha256": "f6c9c009f6170e2b29f074b98522accec73f0c40efbf11f9ec2c8d3f1402616b"}, {"document_id": "993785", "title": "Instrumento Particular de Constituição/Encerramento do Fundo", "reference_date": "2025-03-20", "version": "1", "page": "2", "url": "https://fnet.bmfbovespa.com.br/fnet/publico/visualizarDocumento?id=993785", "sha256": "0826e0eae2c51afabf59bbc49fc7647598d03da5ca6de0f9725850a8bd6af457"}, {"document_id": "993785", "title": "Instrumento Particular de Constituição/Encerramento do Fundo", "reference_date": "2025-03-20", "version": "1", "page": 2, "url": "https://fnet.bmfbovespa.com.br/fnet/publico/visualizarDocumento?id=993785", "sha256": "0826e0eae2c51afabf59bbc49fc7647598d03da5ca6de0f9725850a8bd6af457"}], "reference": {"path": "history/60010416000112.json", "criterion_id": "issue_volume", "total_count": 3, "preview_count": 3, "full_text_deferred": true, "sha256": "8e2bd813f4c51cf01f6bfaad164bafe69d2bbb192f753eac92da3a01c2e63046"}}</a:t>
            </a:r>
          </a:p>
          <a:p>
            <a:r>
              <a:t>CNPJ 62696791000193 · Volume, VNU e emissão · Instrumento Particular de Emissão de Cotas · ID 1148821 · 27/03/2026 · versão Instrumento Particular de Emissão de Cotas — referência 27/03/2026 · p. 1 · Deliberação Conjunta, item1 · https://fnet.bmfbovespa.com.br/fnet/publico/visualizarDocumento?id=1148821</a:t>
            </a:r>
          </a:p>
          <a:p>
            <a:r>
              <a:t>CNPJ 62696791000193 · Volume, VNU e emissão · Excerto da fonte:</a:t>
            </a:r>
          </a:p>
          <a:p>
            <a:r>
              <a:t>1. Aprovar a 2ª (segunda) emissão da Subclasse Subordinada Júnior da Classe, composta por até 20.000 (vinte mil) Cotas Subordinadas Júnior, com valor nominal unitário de R$ 1.000,00 (mil reais), perfazendo o montante total de R$ 20.000.000,00 (vinte milhões de reais), as quais serão objeto de colocação privada, de acordo com os termos e condições definidos no Apêndice da Subclasse Subordinada Júnior constante do Anexo I Regulamento e descritas abaixo (“2ª Emissão da Subclasse Subordinada Júnior”): a) Rito: as Cotas Subordinadas Júnior objeto da 2ª Emissão da Subclasse Subordinada Júnior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Subordinada Júnior na data de integralização, calculado na forma prevista no respectivo Apêndice; BTG Pactual 1 SAC: 0800 772 28 27 - Ouvidoria: 0800 722 00 48 - btgpactual.com</a:t>
            </a:r>
          </a:p>
          <a:p>
            <a:r>
              <a:t>CNPJ 62696791000193 · Volume, VNU e emissão · Instrumento Particular de Emissão de Cotas · ID 1148821 · 27/03/2026 · versão Instrumento Particular de Emissão de Cotas — referência 27/03/2026 · p. 2 · Deliberação Conjunta, item2 · https://fnet.bmfbovespa.com.br/fnet/publico/visualizarDocumento?id=1148821</a:t>
            </a:r>
          </a:p>
          <a:p>
            <a:r>
              <a:t>CNPJ 62696791000193 · Volume, VNU e emissão · Excerto da fonte:</a:t>
            </a:r>
          </a:p>
          <a:p>
            <a:r>
              <a:t>2. Aprovar a 2ª (segunda) emissão da Subclasse Sênior da Classe, composta por até 150.000 (cento e cinquenta mil) Cotas Seniores, com valor nominal unitário de R$ 1.000,00 (mil reais), perfazendo o montante total de R$ 150.000.000,00 (cento e cinquenta milhões de reais), as quais serão objeto de colocação privada, de acordo com os termos e condições descritos no Apêndice da Subclasse Sênior constante do Anexo I Regulamento e descritas abaixo (“2ª Emissão da Subclasse Sênior”): a) Rito: as Cotas Seniores objeto da 2ª Emissão da Subclasse Sênior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Sênior na data de integralização, calculado na forma prevista no respectivo Apêndice; d) Forma de Integralização: as Cotas Seniores serão integralizadas mediante chamadas de capital, junto ao seu respectivo agente de custódia e/ou da Administradora na qualidade de escriturador das cotas, nos termos d</a:t>
            </a:r>
          </a:p>
          <a:p>
            <a:r>
              <a:t>CNPJ 62696791000193 · Volume, VNU e emissão · Condição: Volumes autorizados de emissão não comprovam captação ou integralização observada.</a:t>
            </a:r>
          </a:p>
          <a:p>
            <a:r>
              <a:t>CNPJ 62696791000193 · Volume, VNU e emissão · Versão e prevalência: Leitura específica das cláusulas indicadas; condições e conflitos preservados. Seleção documental atual não comprova vigência jurídica por data isolada.</a:t>
            </a:r>
          </a:p>
          <a:p>
            <a:r>
              <a:t>CNPJ 62696791000193 · Volume, VNU e emissão · Resumo do histórico: {"count": 2, "dates": ["2026-03-20", "2026-03-27"], "document_count": 2, "sources": [{"document_id": "1148821", "title": "Instrumento Particular de Emissão de Cotas", "reference_date": "2026-03-27", "version": "1", "page": "1-2", "url": "https://fnet.bmfbovespa.com.br/fnet/publico/visualizarDocumento?id=1148821", "sha256": "86900e9dd498403696bfffbd4196443c83ec4d51ff21135e073c1966e1adf4c0"}, {"document_id": "1143317", "title": "Regulamento", "reference_date": "2026-03-20", "version": "1", "page": 23, "clause": "11.3", "url": "https://fnet.bmfbovespa.com.br/fnet/publico/visualizarDocumento?id=1143317", "sha256": "32f62818d51c3ebeaf9ec012d3d7867f15c1aed6d10f0867c157a290df1cea48"}], "reference": {"path": "history/62696791000193.json", "criterion_id": "issue_volume", "total_count": 2, "preview_count": 2, "full_text_deferred": true, "sha256": "0e9ec199848320ec945708123ae0cb6075d76c05d94beed814d582031d353926"}}</a:t>
            </a:r>
          </a:p>
          <a:p>
            <a:r>
              <a:t>CNPJ 55563624000109 · Volume, VNU e emissão · Regulamento · ID 1192614 · 2026-04-30 · versão 1 · p. 17 · 5.13.2 · https://fnet.bmfbovespa.com.br/fnet/publico/visualizarDocumento?id=1192614</a:t>
            </a:r>
          </a:p>
          <a:p>
            <a:r>
              <a:t>CNPJ 55563624000109 · Volume, VNU e emissão · Excerto da fonte:</a:t>
            </a:r>
          </a:p>
          <a:p>
            <a:r>
              <a:t>5.13.2 Caso um Cotista do Fundo pretenda transferir suas Cotas para terceiros (“Cotista Vendedor”), deverá  notificar previamente o GESTOR, via e-mail, manifestando sua proposta de alienação de Cotas, a qual  deve incluir o interessado na aquisição e a quantidade de Cotas a serem alienadas e o preço para tal  alienação (“Proposta de Venda”). O GESTOR deverá manifestar aprovação para alienação das Cotas  objeto da Proposta de Venda (“Cotas Objeto”) em até 5 (cinco) Dias Úteis, observado que a ausência de  aprovação deverá ser entendida como aprovação tácita à alienação das Cotas Objeto.</a:t>
            </a:r>
          </a:p>
          <a:p>
            <a:r>
              <a:t>CNPJ 55563624000109 · Volume, VNU e emissão · Regulamento · ID 1192614 · 2026-04-30 · versão 1 · p. 39 · https://fnet.bmfbovespa.com.br/fnet/publico/visualizarDocumento?id=1192614</a:t>
            </a:r>
          </a:p>
          <a:p>
            <a:r>
              <a:t>CNPJ 55563624000109 · Volume, VNU e emissão · Excerto da fonte:</a:t>
            </a:r>
          </a:p>
          <a:p>
            <a:r>
              <a:t>(xxi) Ausência de propriedade direta dos ativos. Os direitos dos Cotistas serão exercidos sobre  todos os ativos da Carteira de modo não individualizado, proporcionalmente à quantidade de Cotas  detidas por cada um. Portanto, os Cotistas não terão qualquer direito de propriedade direta sobre as  Cotas da Classe Investida e os Ativos Financeiros de Liquidez integrantes da Carteira, ou mesmo sobre  os direitos creditórios e os ativos financeiros de liquidez integrantes da carteira da Classe Investida.</a:t>
            </a:r>
          </a:p>
          <a:p>
            <a:r>
              <a:t>CNPJ 55563624000109 · Volume, VNU e emissão · Condição: Documentos atuais selecionados no inventário por categoria/escopo; a data documental isolada não comprova vigência jurídica.</a:t>
            </a:r>
          </a:p>
          <a:p>
            <a:r>
              <a:t>CNPJ 55563624000109 · Volume, VNU e emissão · Versão e prevalência: Documentos atuais selecionados no inventário por categoria/escopo; a data documental isolada não comprova vigência jurídica.</a:t>
            </a:r>
          </a:p>
          <a:p>
            <a:r>
              <a:t>CNPJ 55563624000109 · Volume, VNU e emissão · Resumo do histórico: {"count": 3, "dates": ["2024-12-30", "2025-01-31", "2026-01-31"], "document_count": 3, "sources": [{"document_id": "1178840", "title": "Demonstrações Financeiras", "reference_date": "2026-01-31", "version": "1", "page": 25, "url": "https://fnet.bmfbovespa.com.br/fnet/publico/visualizarDocumento?id=1178840", "sha256": "c458e98664c5c907ddb5a05a94b120bed4e05295b2bfc420f5ba69af0a229abe"}, {"document_id": "891861", "title": "Demonstrações Financeiras", "reference_date": "2025-01-31", "version": "1", "page": 26, "url": "https://fnet.bmfbovespa.com.br/fnet/publico/visualizarDocumento?id=891861", "sha256": "e9cb9e6ddbe505fe068cfcac33605165a98313489de0d3ce6d4d238263c3f3e7"}, {"document_id": "811323", "title": "Anúncio de Encerramento", "reference_date": "2024-12-30", "version": "1", "page": 1, "url": "https://fnet.bmfbovespa.com.br/fnet/publico/visualizarDocumento?id=811323", "sha256": "ebc6bc661be5189acffb3c3e352de2aea0a8ca8431011d1237e1ae19da4f9c79"}], "reference": {"path": "history/55563624000109.json", "criterion_id": "issue_volume", "total_count": 3, "preview_count": 3, "full_text_deferred": true, "sha256": "7835d573fb58a3c19adf5b8ecc2aee2bdbb9a88f7a0c0209b5f262b64c7522e3"}}</a:t>
            </a:r>
          </a:p>
          <a:p>
            <a:r>
              <a:t>CNPJ 62552447000120 · Volume, VNU e emissão · AGE · ID 1315103 · 2026-09-08 · versão 1 · p. 1 · https://fnet.bmfbovespa.com.br/fnet/publico/visualizarDocumento?id=1315103</a:t>
            </a:r>
          </a:p>
          <a:p>
            <a:r>
              <a:t>CNPJ 62552447000120 · Volume, VNU e emissão · Excerto da fonte:</a:t>
            </a:r>
          </a:p>
          <a:p>
            <a:r>
              <a:t>a) Rito: as cotas objeto da Segunda Emissão não estão sujeitas a regulamentação  de oferta de valores mobiliários, conforme facultado pelo Art. 8º, inciso II, da  Resolução CVM nº 160, de 13 de julho de 2022;</a:t>
            </a:r>
          </a:p>
          <a:p>
            <a:r>
              <a:t> b) Preço de Emissão: R$ 1.000,00 (mil reais);</a:t>
            </a:r>
          </a:p>
          <a:p>
            <a:r>
              <a:t> c) Quantidade de Cotas: 10.000 (dez mil) Cotas;</a:t>
            </a:r>
          </a:p>
          <a:p>
            <a:r>
              <a:t> d) Preço de Integralização: será o valor da Cota vigente na data de integralização,  nos termos do respectivo boletim de subscrição;</a:t>
            </a:r>
          </a:p>
          <a:p>
            <a:r>
              <a:t> e) Forma de Integralização: as Cotas serão integralizadas à vista, em moeda  corrente nacional, junto ao seu respectivo agente de custódia e/ou da  Administradora na qualidade de escriturador das cotas;</a:t>
            </a:r>
          </a:p>
          <a:p>
            <a:r>
              <a:t> f) Período de colocação: a subscrição das Cotas, objeto da Segunda Emissão,  deverão ser realizadas no prazo máximo de 180 (cento e oitenta) dias, contados  da data de efeitos do presente instrumento.</a:t>
            </a:r>
          </a:p>
          <a:p>
            <a:r>
              <a:t>CNPJ 62552447000120 · Volume, VNU e emissão · Condição: Trechos do documento específico identificado com data mais recente; vigência jurídica não inferida.</a:t>
            </a:r>
          </a:p>
          <a:p>
            <a:r>
              <a:t>CNPJ 62552447000120 · Volume, VNU e emissão · Versão e prevalência: Trechos do documento específico identificado com data mais recente; vigência jurídica não inferida.</a:t>
            </a:r>
          </a:p>
          <a:p>
            <a:r>
              <a:t>CNPJ 62552447000120 · Volume, VNU e emissão · Resumo do histórico: {"count": 2, "dates": ["2025-09-03"], "document_count": 1, "sources": [{"document_id": "988020", "title": "Instrumento Particular de Emissão de Cotas", "reference_date": "2025-09-03", "version": "1", "page": "5", "url": "https://fnet.bmfbovespa.com.br/fnet/publico/visualizarDocumento?id=988020", "sha256": "8ecc8a771bb9713d64e5fc2052c489664cb0433801a9280db68e5187d35bf7a5"}, {"document_id": "988020", "title": "Instrumento Particular de Emissão de Cotas", "reference_date": "2025-09-03", "version": "1", "page": 2, "url": "https://fnet.bmfbovespa.com.br/fnet/publico/visualizarDocumento?id=988020", "sha256": "8ecc8a771bb9713d64e5fc2052c489664cb0433801a9280db68e5187d35bf7a5"}], "reference": {"path": "history/62552447000120.json", "criterion_id": "issue_volume", "total_count": 2, "preview_count": 2, "full_text_deferred": true, "sha256": "d95db8c0613d67ee84118c734588665265ea6b02f86a0318d6a844cbe1d0f82f"}}</a:t>
            </a:r>
          </a:p>
          <a:p>
            <a:r>
              <a:t>CNPJ 63953620000165 · Volume, VNU e emissão · Demonstrações Financeiras - Fusão, cisão e incorporação · ID 1327859 · 2026-05-15 · versão 1 · p. 31 · 15.000.000 · https://fnet.bmfbovespa.com.br/fnet/publico/visualizarDocumento?id=1327859</a:t>
            </a:r>
          </a:p>
          <a:p>
            <a:r>
              <a:t>CNPJ 63953620000165 · Volume, VNU e emissão · Excerto da fonte:</a:t>
            </a:r>
          </a:p>
          <a:p>
            <a:r>
              <a:t>15.000.000 (quinze bilhões de reais), , a serem objeto de colocação privada, nos termos  do Regulamento, da Resolução CVM 175 e do respectivo boletim de subscrição nos  seguintes termos:</a:t>
            </a:r>
          </a:p>
          <a:p>
            <a:r>
              <a:t> a. Montante Total da Colocação Privada: R$ 15.000.000 (quinze bilhões de  reais)  b. Quantidade de Cotas: 15.000.000 (quinze milhões) de Cotas Seniores;</a:t>
            </a:r>
          </a:p>
          <a:p>
            <a:r>
              <a:t> c. Preço de Emissão (Valor Unitário): R$ 1 (mil reais);</a:t>
            </a:r>
          </a:p>
          <a:p>
            <a:r>
              <a:t> d. Forma e Preço de Integralização: as Cotas serão integralizadas na forma  prevista no Boletim de Subscrição;</a:t>
            </a:r>
          </a:p>
          <a:p>
            <a:r>
              <a:t> e. Prazo da Colocação Privada: as Cotas serão colocadas em até 180 (cento e  oitenta) dias da data deste IPA.</a:t>
            </a:r>
          </a:p>
          <a:p>
            <a:r>
              <a:t>CNPJ 63953620000165 · Volume, VNU e emissão · Demonstrações Financeiras - Fusão, cisão e incorporação · ID 1327859 · 2026-05-15 · versão 1 · p. 31 · https://fnet.bmfbovespa.com.br/fnet/publico/visualizarDocumento?id=1327859</a:t>
            </a:r>
          </a:p>
          <a:p>
            <a:r>
              <a:t>CNPJ 63953620000165 · Volume, VNU e emissão · Excerto da fonte:</a:t>
            </a:r>
          </a:p>
          <a:p>
            <a:r>
              <a:t>Em Instrumento Particular de Alteração do MT Global Fundo de Investimento em Direitos  Creditórios, realizada em 08 de janeiro de 2026, foram deliberadas as seguintes matérias:</a:t>
            </a:r>
          </a:p>
          <a:p>
            <a:r>
              <a:t>(i) Alterar regulamento vigente da classe em relação aos itens 4.17.1, 6.8 e o Capítulo 13,</a:t>
            </a:r>
          </a:p>
          <a:p>
            <a:r>
              <a:t> (b) incluir o item 3.1, 8.1.(ii), 8.2, 8.2.1, e 10.2.(xvii); e (c) excluir os itens 6.8.1, 6.8.2,</a:t>
            </a:r>
          </a:p>
          <a:p>
            <a:r>
              <a:t>(ii) Aprovar a 1ª (primeira) emissão de cotas seniores das Classes (“Cotas Seniores”), em  sistema de vasos comunicantes entre as Classes, de forma que a quantidade de Cotas  Seniores integralizadas em uma das Classes será deduzida da quantidade de Cotas  Seniores disponíveis para integralização nas demais Classes, no montante total de R$</a:t>
            </a:r>
          </a:p>
          <a:p>
            <a:r>
              <a:t>CNPJ 63953620000165 · Volume, VNU e emissão · Demonstrações Financeiras - Fusão, cisão e incorporação · ID 1327859 · 2026-05-15 · versão 1 · p. 32 · https://fnet.bmfbovespa.com.br/fnet/publico/visualizarDocumento?id=1327859</a:t>
            </a:r>
          </a:p>
          <a:p>
            <a:r>
              <a:t>CNPJ 63953620000165 · Volume, VNU e emissão · Excerto da fonte:</a:t>
            </a:r>
          </a:p>
          <a:p>
            <a:r>
              <a:t>f. Montante Total da Colocação Privada: R$ 7.000 (sete milhões de reais);</a:t>
            </a:r>
          </a:p>
          <a:p>
            <a:r>
              <a:t> g. Quantidade de Cotas: 7.000 (sete mil) de Cotas Subordinadas CP  h. Preço de Emissão (Valor Unitário): R$ 1 (mil reais);</a:t>
            </a:r>
          </a:p>
          <a:p>
            <a:r>
              <a:t> i. Forma e Preço de Integralização: as Cotas serão integralizadas na forma  prevista no Boletim de Subscrição;</a:t>
            </a:r>
          </a:p>
          <a:p>
            <a:r>
              <a:t> j. Prazo da Colocação Privada: as Cotas serão colocadas em até 180 (cento e  oitenta) dias da data deste IPA.</a:t>
            </a:r>
          </a:p>
          <a:p>
            <a:r>
              <a:t>CNPJ 63953620000165 · Volume, VNU e emissão · Condição: Trechos do documento específico identificado com data mais recente; vigência jurídica não inferida.</a:t>
            </a:r>
          </a:p>
          <a:p>
            <a:r>
              <a:t>CNPJ 63953620000165 · Volume, VNU e emissão · Versão e prevalência: Trechos do documento específico identificado com data mais recente; vigência jurídica não inferida.</a:t>
            </a:r>
          </a:p>
          <a:p>
            <a:r>
              <a:t>CNPJ 63953620000165 · Volume, VNU e emissão · Resumo do histórico: {"count": 8, "dates": ["2026-04-16", "2026-04-28", "2026-05-08"], "document_count": 3, "sources": [{"document_id": "1298691", "title": "Demonstrações Financeiras - Fusão, cisão e incorporação", "reference_date": "2026-05-08", "version": "1", "page": 32, "url": "https://fnet.bmfbovespa.com.br/fnet/publico/visualizarDocumento?id=1298691", "sha256": "58c570d9b8d4d265330d3db3ea81c435b8e44a6dab4002aa37790652a1ee9819"}, {"document_id": "1282180", "title": "Demonstrações Financeiras - Fusão, cisão e incorporação", "reference_date": "2026-04-28", "version": "1", "page": 32, "clause": "15.000.000", "url": "https://fnet.bmfbovespa.com.br/fnet/publico/visualizarDocumento?id=1282180", "sha256": "afaaa0e6809be4385e5bdb6c911aac582032c5bdbac3d7750234bf9eaf00438a"}, {"document_id": "1282179", "title": "Demonstrações Financeiras - Fusão, cisão e incorporação", "reference_date": "2026-04-16", "version": "1", "page": 32, "clause": "15.000.000", "url": "https://fnet.bmfbovespa.com.br/fnet/publico/visualizarDocumento?id=1282179", "sha256": "beb67afbcd64169019477673fd3b7c1edbfabbd9db07379388d8cdd5d3fc9395"}], "reference": {"path": "history/63953620000165.json", "criterion_id": "issue_volume", "total_count": 8, "preview_count": 3, "full_text_deferred": true, "sha256": "a7b89077f5e21098c2d601c303faabc3ff6b9729f89d8afecdc60fe1404720c1"}}</a:t>
            </a:r>
          </a:p>
          <a:p>
            <a:r>
              <a:t>CNPJ 54871427000194 · Administração: taxa, base e mínimo · Regulamento · ID 670691 · 28/04/2024 · versão Regulamento — referência 28/04/2024 · p. 25 · Anexo I, 13.1 · https://fnet.bmfbovespa.com.br/fnet/publico/visualizarDocumento?id=670691</a:t>
            </a:r>
          </a:p>
          <a:p>
            <a:r>
              <a:t>CNPJ 54871427000194 · Administração: taxa, base e mínimo · Excerto da fonte:</a:t>
            </a:r>
          </a:p>
          <a:p>
            <a:r>
              <a:t>13.1 Pelos serviços de administração, tesouraria, controladoria e escrituração, a Classe pagará a Taxa de Administração nos seguintes moldes: o valor correspondente a 0,10% (dez centésimos por cento) ao ano aplicado sobre o Patrimônio Líquido, observado o valor mínimo de R$ 10.000,00 (dez mil reais) mensais atualizado pela variação positiva do IGP-M a cada período de 12 (doze) meses, contados a partir do mês em que ocorrer a primeira integralização de Cotas (inclusive). 13.1.1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BTG Pactual SAC: 0800 772 28 27 - Ouvidoria: 0800 722 00 48 - btgpactual.com 19</a:t>
            </a:r>
          </a:p>
          <a:p>
            <a:r>
              <a:t>CNPJ 54871427000194 · Administração: taxa, base e mínimo · Regulamento · ID 670691 · 28/04/2024 · versão Regulamento — referência 28/04/2024 · p. 26 · Anexo I, 13.1.2–13.1.3 · https://fnet.bmfbovespa.com.br/fnet/publico/visualizarDocumento?id=670691</a:t>
            </a:r>
          </a:p>
          <a:p>
            <a:r>
              <a:t>CNPJ 54871427000194 · Administração: taxa, base e mínimo · Excerto da fonte:</a:t>
            </a:r>
          </a:p>
          <a:p>
            <a:r>
              <a:t>13.1.2 A Taxa de Administração será calculada e provisionada todo Dia Útil à razão de 1/252 (um inteiro e duzentos e cinquenta e dois avos) com base no valor do Patrimônio Líquido do Dia Útil anterior. 13.1.3 A Taxa de Administração será paga mensalmente ao ADMINISTRADOR, observado o disposto no item 13.2 abaixo, por período vencido, até o 5º (quinto) Dia Útil do mês subsequente à prestação dos serviços, a partir do mês em que ocorrer a primeira integralização de Cotas da Classe. 13.2 O ADMINISTRADOR poderá estabelecer que parcelas da Taxa de Administração sejam pagas diretamente pela Classe aos prestadores de serviços contratados, desde que o somatório dessas parcelas não exceda o montante total da Taxa de Administração. 13.3 Não serão cobradas da Classe ou dos Cotistas taxas de perf ormance, de ingresso ou de saída. Taxa de Gestão 13.4 Pelos serviços de gestão, a Classe pagará a Taxa de Gestão nos seguintes moldes: o valor correspondente a 0,20% (vinte centésimos por cento) ao ano aplicado sobre o Patrimônio Líquido, observado o valor mínimo de R$ 15.000,00 (quinze mil reais) mensais atualizado pela variação positiva do IGP-M a cada período de 12 (</a:t>
            </a:r>
          </a:p>
          <a:p>
            <a:r>
              <a:t>CNPJ 54871427000194 · Administração: taxa, base e mínimo · Versão e prevalência: Leitura específica das cláusulas indicadas; condições e conflitos preservados. Seleção documental atual não comprova vigência jurídica por data isolada.</a:t>
            </a:r>
          </a:p>
          <a:p>
            <a:r>
              <a:t>CNPJ 54871427000194 · Administração: taxa, base e mínimo · Resumo do histórico: {"count": 2, "dates": ["2024-04-19", "2024-04-28"], "document_count": 2, "sources": [{"document_id": "670691", "title": "Regulamento", "reference_date": "2024-04-28", "version": "1", "page": "25-26", "url": "https://fnet.bmfbovespa.com.br/fnet/publico/visualizarDocumento?id=670691", "sha256": "bf16dd7f1a62d5cdbf2e2d54fef81783783f7310fbc99c3a8f00459bdf9d037b"}, {"document_id": "670689", "title": "Regulamento", "reference_date": "2024-04-19", "version": "1", "page": 26, "clause": "13.1", "url": "https://fnet.bmfbovespa.com.br/fnet/publico/visualizarDocumento?id=670689", "sha256": "891bc9bc5d87bbc02ec139077a84d2702eb81ea02035fb71d24f5b8366b94a0b"}], "reference": {"path": "history/54871427000194.json", "criterion_id": "admin_fee", "total_count": 2, "preview_count": 2, "full_text_deferred": true, "sha256": "35d7cd99be50c7287c9fb675cf4f2e736002315295a225a9efa79c8d9186d874"}}</a:t>
            </a:r>
          </a:p>
          <a:p>
            <a:r>
              <a:t>CNPJ 60010416000112 · Administração: taxa, base e mínimo · Regulamento · ID 1051393 · 09/10/2025 · versão Regulamento09/10/2025 · p. 29 · AnexoI12.1–12.1.2 · https://fnet.bmfbovespa.com.br/fnet/publico/visualizarDocumento?id=1051393</a:t>
            </a:r>
          </a:p>
          <a:p>
            <a:r>
              <a:t>CNPJ 60010416000112 · Administração: taxa, base e mínimo · Excerto da fonte:</a:t>
            </a:r>
          </a:p>
          <a:p>
            <a:r>
              <a:t>12.1 Pelos serviços de administração, escrituração, controladoria de ativos e passivo, e gestão de carteira, o Administrador fará jus a uma Taxa de Administração equivalente a 0,40% (quarenta centésimos por cento) por ano sobre o Patrimônio Líquido da Classe, a ser pago mensalmente, por período vencido da data em que ocorrer a primeira integralização de Cotas da Classe A, até o 5º (quinto) Dia Útil do mês subsequente ao da prestação do serviço, assegurado um valor mínimo mensal de R$ 20.000,00 (vinte mil reais), sendo este valor atualizado pela variação positiva do IPCA sempre em janeiro de cada ano,</a:t>
            </a:r>
          </a:p>
          <a:p>
            <a:r>
              <a:t>CNPJ 60010416000112 · Administração: taxa, base e mínimo · Versão e prevalência: Leitura específica das cláusulas indicadas; condições e conflitos preservados. Seleção documental atual não comprova vigência jurídica por data isolada.</a:t>
            </a:r>
          </a:p>
          <a:p>
            <a:r>
              <a:t>CNPJ 60010416000112 · Administração: taxa, base e mínimo · Resumo do histórico: {"count": 2, "dates": ["2025-03-20", "2025-10-09"], "document_count": 2, "sources": [{"document_id": "1051393", "title": "Regulamento", "reference_date": "2025-10-09", "version": "1", "page": "29", "url": "https://fnet.bmfbovespa.com.br/fnet/publico/visualizarDocumento?id=1051393", "sha256": "8469d613078ffd5a6c1d217885d8a397a16342c0b937ae4aa24b106505f233ae"}, {"document_id": "993786", "title": "Regulamento", "reference_date": "2025-03-20", "version": "1", "page": 29, "clause": "12.1", "url": "https://fnet.bmfbovespa.com.br/fnet/publico/visualizarDocumento?id=993786", "sha256": "fd0fdd369a195510d81f81f505195a0b09e5f43522a990afa7d58c4f872921c8"}], "reference": {"path": "history/60010416000112.json", "criterion_id": "admin_fee", "total_count": 2, "preview_count": 2, "full_text_deferred": true, "sha256": "8e2bd813f4c51cf01f6bfaad164bafe69d2bbb192f753eac92da3a01c2e63046"}}</a:t>
            </a:r>
          </a:p>
          <a:p>
            <a:r>
              <a:t>CNPJ 62696791000193 · Administração: taxa, base e mínimo · Regulamento · ID 1143317 · 20/03/2026 · versão Regulamento — referência 20/03/2026 · p. 28 · Anexo I, 13.1, Taxa de Administração · https://fnet.bmfbovespa.com.br/fnet/publico/visualizarDocumento?id=1143317</a:t>
            </a:r>
          </a:p>
          <a:p>
            <a:r>
              <a:t>CNPJ 62696791000193 · Administração: taxa, base e mínimo · Excerto da fonte:</a:t>
            </a:r>
          </a:p>
          <a:p>
            <a:r>
              <a:t>Taxa de Administração 0,10% (um décimo por cento) ao ano com um mínimo mensal de R$ 10.000,00 (dez mil reais), pagos mensalmente até o 5º (quinto) Dia Útil do mês subsequente ao mês que se ref ere, a ser corrigida anualmente, em janeiro de cada ano, pela variação positiva do Índice Geral de Preços – Mercado, divulgado pela Fundação Getúlio Vargas (“Taxa de Administração” e “IGP-M”, respectivamente).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T</a:t>
            </a:r>
          </a:p>
          <a:p>
            <a:r>
              <a:t>CNPJ 62696791000193 · Administração: taxa, base e mínimo · Condição: A linha da tabela não explicita novamente a base de PL para administração; conservar essa limitação em vez de completar a frase por analogia.</a:t>
            </a:r>
          </a:p>
          <a:p>
            <a:r>
              <a:t>CNPJ 62696791000193 · Administração: taxa, base e mínimo · Motivo: Não localizada uma cláusula material para este critério nos textos identificados e processados. A ausência de resultado não comprova inexistência da regra.</a:t>
            </a:r>
          </a:p>
          <a:p>
            <a:r>
              <a:t>CNPJ 62696791000193 · Administração: taxa, base e mínimo · Versão e prevalência: Leitura específica das cláusulas indicadas; condições e conflitos preservados. Seleção documental atual não comprova vigência jurídica por data isolada.</a:t>
            </a:r>
          </a:p>
          <a:p>
            <a:r>
              <a:t>CNPJ 55563624000109 · Administração: taxa, base e mínimo · Regulamento · ID 1192614 · 30/04/2026 · versão Regulamento30/04/2026 · p. 28 · AnexoI13.1–13.2 · https://fnet.bmfbovespa.com.br/fnet/publico/visualizarDocumento?id=1192614</a:t>
            </a:r>
          </a:p>
          <a:p>
            <a:r>
              <a:t>CNPJ 55563624000109 · Administração: taxa, base e mínimo · Excerto da fonte:</a:t>
            </a:r>
          </a:p>
          <a:p>
            <a:r>
              <a:t>13.1 Sem prejuízo da Taxa Máxima de Administração, pelos serviços de administração do FUNDO e da Classe, tesouraria, controle e processamento dos ativos integrantes da Carteira, a Classe pagará, no mínimo, ao ADMINISTRADOR a Taxa Mínima de Administração nos seguintes moldes: o valor correspondente a R$ 10.000,00 (dez mil reais) mensais, atualizado pela variação positiva do IGP-M, no mês de janeiro de cada ano (“Taxa Mínima de Administração”). 13.1.1 Na hipótese de extinção do IGP-M, não divulgação ou impossibilidade de sua utilização, será utilizado o</a:t>
            </a:r>
          </a:p>
          <a:p>
            <a:r>
              <a:t>CNPJ 55563624000109 · Administração: taxa, base e mínimo · Condição: A base do adicional é PL do Mercado Crédito II; não é teto 0, 10% sobre PLGN e não substitui mínimo R$ 10 mil.</a:t>
            </a:r>
          </a:p>
          <a:p>
            <a:r>
              <a:t>CNPJ 55563624000109 · Administração: taxa, base e mínimo · Versão e prevalência: Leitura específica das cláusulas indicadas; condições e conflitos preservados. Seleção documental atual não comprova vigência jurídica por data isolada.</a:t>
            </a:r>
          </a:p>
          <a:p>
            <a:r>
              <a:t>CNPJ 55563624000109 · Administração: taxa, base e mínimo · Resumo do histórico: {"count": 3, "dates": ["2025-01-31", "2026-01-31", "2026-04-30"], "document_count": 3, "sources": [{"document_id": "1192614", "title": "Regulamento", "reference_date": "2026-04-30", "version": "1", "page": "28", "clause": "13.2", "url": "https://fnet.bmfbovespa.com.br/fnet/publico/visualizarDocumento?id=1192614", "sha256": "f56e63ace0acde41d2f47fb48f1ac7f3f7df5e2d32de092d7c5e075a52516632"}, {"document_id": "1178840", "title": "Demonstrações Financeiras", "reference_date": "2026-01-31", "version": "1", "page": 29, "url": "https://fnet.bmfbovespa.com.br/fnet/publico/visualizarDocumento?id=1178840", "sha256": "c458e98664c5c907ddb5a05a94b120bed4e05295b2bfc420f5ba69af0a229abe"}, {"document_id": "891861", "title": "Demonstrações Financeiras", "reference_date": "2025-01-31", "version": "1", "page": 30, "url": "https://fnet.bmfbovespa.com.br/fnet/publico/visualizarDocumento?id=891861", "sha256": "e9cb9e6ddbe505fe068cfcac33605165a98313489de0d3ce6d4d238263c3f3e7"}], "reference": {"path": "history/55563624000109.json", "criterion_id": "admin_fee", "total_count": 3, "preview_count": 3, "full_text_deferred": true, "sha256": "7835d573fb58a3c19adf5b8ecc2aee2bdbb9a88f7a0c0209b5f262b64c7522e3"}}</a:t>
            </a:r>
          </a:p>
          <a:p>
            <a:r>
              <a:t>CNPJ 62552447000120 · Administração: taxa, base e mínimo · Regulamento · ID 1200623 · 21/05/2026 · versão Consolidado21/05/2026 aprovado pelo ato1200625 · p. 30 · AnexoI13.1 TaxaGlobal · https://fnet.bmfbovespa.com.br/fnet/publico/visualizarDocumento?id=1200623</a:t>
            </a:r>
          </a:p>
          <a:p>
            <a:r>
              <a:t>CNPJ 62552447000120 · Administração: taxa, base e mínimo · Excerto da fonte:</a:t>
            </a:r>
          </a:p>
          <a:p>
            <a:r>
              <a:t>Taxa Global Pelos serviços de administração, gestão, custódia, tesouraria, controladoria, escrituração, a Classe pagará um valor equivalente a um percentual incidente sobre o Patrimônio Líquido da Classe, conf orme a f aixa de Patrimônio Líquido da Classe prevista na tabela abaixo, apropriada diariamente e paga mensalmente até o 5º (quinto) Dia Útil do mês subsequente ao mês que se ref ere, com</a:t>
            </a:r>
          </a:p>
          <a:p>
            <a:r>
              <a:t>CNPJ 62552447000120 · Administração: taxa, base e mínimo · Condição: Global remunera administração, gestão, custódia, tesouraria, controladoria e escrituração; percentual segregado não presumido.</a:t>
            </a:r>
          </a:p>
          <a:p>
            <a:r>
              <a:t>CNPJ 62552447000120 · Administração: taxa, base e mínimo · Motivo: Não localizada uma cláusula material para este critério nos textos identificados e processados. A ausência de resultado não comprova inexistência da regra.</a:t>
            </a:r>
          </a:p>
          <a:p>
            <a:r>
              <a:t>CNPJ 62552447000120 · Administração: taxa, base e mínimo · Versão e prevalência: Leitura específica das cláusulas indicadas; condições e conflitos preservados. Seleção documental atual não comprova vigência jurídica por data isolada.</a:t>
            </a:r>
          </a:p>
          <a:p>
            <a:r>
              <a:t>CNPJ 63953620000165 · Administração: taxa, base e mínimo · Anexo ao Regulamento · ID 1222863 · 02/06/2026 · versão AnexoConsignadoPrivado02/06/2026 · p. 19 · Capítulo13TaxadeAdministração · https://fnet.bmfbovespa.com.br/fnet/publico/visualizarDocumento?id=1222863</a:t>
            </a:r>
          </a:p>
          <a:p>
            <a:r>
              <a:t>CNPJ 63953620000165 · Administração: taxa, base e mínimo · Excerto da fonte:</a:t>
            </a:r>
          </a:p>
          <a:p>
            <a:r>
              <a:t>Taxa de Administração positiva do Índice Geral de Preços – Mercado, divulgado pela Fundação Getúlio Vargas (“Taxa de Administração” e “IGP-M”, respectivamente). Na hipótese de extinção do IGP-M, não divulgação ou impossibilidade de sua utilização, será utilizado o Índice Geral de Preços – Disponibilidade Interna, divulgado pela Fundação Getúlio Vargas, ou, na falta de ambos, pela variação do IPC – Índice de Preços ao Consumidor, divulgado pela</a:t>
            </a:r>
          </a:p>
          <a:p>
            <a:r>
              <a:t>CNPJ 63953620000165 · Administração: taxa, base e mínimo · Condição: Base é a parcela MT específica, não necessariamente todo o PL da classe.</a:t>
            </a:r>
          </a:p>
          <a:p>
            <a:r>
              <a:t>CNPJ 63953620000165 · Administração: taxa, base e mínimo · Versão e prevalência: Leitura específica das cláusulas indicadas; condições e conflitos preservados. Seleção documental atual não comprova vigência jurídica por data isolada.</a:t>
            </a:r>
          </a:p>
          <a:p>
            <a:r>
              <a:t>CNPJ 63953620000165 · Administração: taxa, base e mínimo · Resumo do histórico: {"count": 8, "dates": ["2026-04-28", "2026-05-08", "2026-05-15"], "document_count": 3, "sources": [{"document_id": "1327859", "title": "Demonstrações Financeiras - Fusão, cisão e incorporação", "reference_date": "2026-05-15", "version": "1", "page": 28, "url": "https://fnet.bmfbovespa.com.br/fnet/publico/visualizarDocumento?id=1327859", "sha256": "dca1c68babb97f887528c3e2e47596a9c30f507b067981a35655b2f2da9c8054"}, {"document_id": "1298691", "title": "Demonstrações Financeiras - Fusão, cisão e incorporação", "reference_date": "2026-05-08", "version": "1", "page": 28, "url": "https://fnet.bmfbovespa.com.br/fnet/publico/visualizarDocumento?id=1298691", "sha256": "58c570d9b8d4d265330d3db3ea81c435b8e44a6dab4002aa37790652a1ee9819"}, {"document_id": "1282180", "title": "Demonstrações Financeiras - Fusão, cisão e incorporação", "reference_date": "2026-04-28", "version": "1", "page": 29, "url": "https://fnet.bmfbovespa.com.br/fnet/publico/visualizarDocumento?id=1282180", "sha256": "afaaa0e6809be4385e5bdb6c911aac582032c5bdbac3d7750234bf9eaf00438a"}], "reference": {"path": "history/63953620000165.json", "criterion_id": "admin_fee", "total_count": 8, "preview_count": 3, "full_text_deferred": true, "sha256": "a7b89077f5e21098c2d601c303faabc3ff6b9729f89d8afecdc60fe1404720c1"}}</a:t>
            </a:r>
          </a:p>
          <a:p>
            <a:r>
              <a:t>CNPJ 54871427000194 · Gestão: taxa, base e mínimo · Regulamento · ID 670691 · 28/04/2024 · versão Regulamento — referência 28/04/2024 · p. 26 · Anexo I, 13.4–13.4.3 · https://fnet.bmfbovespa.com.br/fnet/publico/visualizarDocumento?id=670691</a:t>
            </a:r>
          </a:p>
          <a:p>
            <a:r>
              <a:t>CNPJ 54871427000194 · Gestão: taxa, base e mínimo · Excerto da fonte:</a:t>
            </a:r>
          </a:p>
          <a:p>
            <a:r>
              <a:t>13.4 Pelos serviços de gestão, a Classe pagará a Taxa de Gestão nos seguintes moldes: o valor correspondente a 0,20% (vinte centésimos por cento) ao ano aplicado sobre o Patrimônio Líquido, observado o valor mínimo de R$ 15.000,00 (quinze mil reais) mensais atualizado pela variação positiva do IGP-M a cada período de 12 (doze) meses, contados a partir do mês em que ocorrer a primeira integralização de Cotas (inclusive). 13.4.1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13.4.2 A Taxa de Gestão será calculada e provisionada todo Dia Útil à razão de 1/252 (um inteiro e duzentos e cinquenta e dois avos) com base no valor do Patrimônio Líquido do Dia Útil anterior. 13.4.3 A Taxa de Gestão será paga mensalmente ao GESTOR, observado o disposto no item 13.5 abaixo, por período vencido, até o 5º (quinto) Dia Útil do mês subsequente à prestação dos ser</a:t>
            </a:r>
          </a:p>
          <a:p>
            <a:r>
              <a:t>CNPJ 54871427000194 · Gestão: taxa, base e mínimo · Versão e prevalência: Leitura específica das cláusulas indicadas; condições e conflitos preservados. Seleção documental atual não comprova vigência jurídica por data isolada.</a:t>
            </a:r>
          </a:p>
          <a:p>
            <a:r>
              <a:t>CNPJ 54871427000194 · Gestão: taxa, base e mínimo · Resumo do histórico: {"count": 2, "dates": ["2024-04-19", "2024-04-28"], "document_count": 2, "sources": [{"document_id": "670691", "title": "Regulamento", "reference_date": "2024-04-28", "version": "1", "page": "26", "url": "https://fnet.bmfbovespa.com.br/fnet/publico/visualizarDocumento?id=670691", "sha256": "bf16dd7f1a62d5cdbf2e2d54fef81783783f7310fbc99c3a8f00459bdf9d037b"}, {"document_id": "670689", "title": "Regulamento", "reference_date": "2024-04-19", "version": "1", "page": 27, "clause": "13.3", "url": "https://fnet.bmfbovespa.com.br/fnet/publico/visualizarDocumento?id=670689", "sha256": "891bc9bc5d87bbc02ec139077a84d2702eb81ea02035fb71d24f5b8366b94a0b"}], "reference": {"path": "history/54871427000194.json", "criterion_id": "management_fee", "total_count": 2, "preview_count": 2, "full_text_deferred": true, "sha256": "35d7cd99be50c7287c9fb675cf4f2e736002315295a225a9efa79c8d9186d874"}}</a:t>
            </a:r>
          </a:p>
          <a:p>
            <a:r>
              <a:t>CNPJ 60010416000112 · Gestão: taxa, base e mínimo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Gestão: taxa, base e mínimo · Resumo do histórico: {"count": 1, "dates": ["2025-10-09"], "document_count": 1, "sources": [{"document_id": "1051393", "title": "Regulamento", "reference_date": "2025-10-09", "version": "1", "page": "29, 46", "url": "https://fnet.bmfbovespa.com.br/fnet/publico/visualizarDocumento?id=1051393", "sha256": "8469d613078ffd5a6c1d217885d8a397a16342c0b937ae4aa24b106505f233ae"}], "reference": {"path": "history/60010416000112.json", "criterion_id": "management_fee", "total_count": 1, "preview_count": 1, "full_text_deferred": true, "sha256": "8e2bd813f4c51cf01f6bfaad164bafe69d2bbb192f753eac92da3a01c2e63046"}}</a:t>
            </a:r>
          </a:p>
          <a:p>
            <a:r>
              <a:t>CNPJ 62696791000193 · Gestão: taxa, base e mínimo · Regulamento · ID 1143317 · 20/03/2026 · versão Regulamento — referência 20/03/2026 · p. 28 · Anexo I, 13.1, Taxa de Gestão · https://fnet.bmfbovespa.com.br/fnet/publico/visualizarDocumento?id=1143317</a:t>
            </a:r>
          </a:p>
          <a:p>
            <a:r>
              <a:t>CNPJ 62696791000193 · Gestão: taxa, base e mínimo · Excerto da fonte:</a:t>
            </a:r>
          </a:p>
          <a:p>
            <a:r>
              <a:t>Taxa de Gestão 0% (zero por cento) ao ano apropriada diariamente na base de 252 (duzentos e cinquenta e dois) Dias Úteis, e paga mensalmente, até o 5º (quinto) Dia Útil do mês subsequente ao mês que se ref ere, incidente sobre o Patrimônio Líquido da Classe (“Taxa de Gestão”). Taxa Máxima de Custódia 0,00% (zero por cento) ao ano, incidente sobre o Patrimônio Líquido da Classe (“Taxa Máxima de Custódia”). Taxa de Performance Não será devido pela Classe o pagamento de Taxa de Perf ormance. 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a:t>
            </a:r>
          </a:p>
          <a:p>
            <a:r>
              <a:t>CNPJ 62696791000193 · Gestão: taxa, base e mínimo · Motivo: Não localizada uma cláusula material para este critério nos textos identificados e processados. A ausência de resultado não comprova inexistência da regra.</a:t>
            </a:r>
          </a:p>
          <a:p>
            <a:r>
              <a:t>CNPJ 62696791000193 · Gestão: taxa, base e mínimo · Versão e prevalência: Leitura específica das cláusulas indicadas; condições e conflitos preservados. Seleção documental atual não comprova vigência jurídica por data isolada.</a:t>
            </a:r>
          </a:p>
          <a:p>
            <a:r>
              <a:t>CNPJ 55563624000109 · Gestão: taxa, base e mínimo · Regulamento · ID 1192614 · 30/04/2026 · versão Regulamento30/04/2026 · p. 29 · AnexoI13.4–13.7.1 · https://fnet.bmfbovespa.com.br/fnet/publico/visualizarDocumento?id=1192614</a:t>
            </a:r>
          </a:p>
          <a:p>
            <a:r>
              <a:t>CNPJ 55563624000109 · Gestão: taxa, base e mínimo · Excerto da fonte:</a:t>
            </a:r>
          </a:p>
          <a:p>
            <a:r>
              <a:t>13.4 Sem prejuízo da Taxa Máxima de Gestão, pelos serviços de gestão, a Classe pagará ao GESTOR: (i) a taxa de gestão ordinária correspondente a 0,50% (cinquenta centésimos por cento) ao ano, incidente sobre o Patrimônio Líquido da Classe, observado o montante mínimo de R$ 40.000,00 (quarenta mil reais) ao mês, corrigido anualmente pela variação positiva do Índice de Preços ao Consumidor Amplo, divulgado pelo Instituto Brasileiro de Geografia e Estatística – IBGE (“Taxa de Gestão”); e (ii) a taxa de gestão extraordinária apurada e paga no momento de cada</a:t>
            </a:r>
          </a:p>
          <a:p>
            <a:r>
              <a:t>CNPJ 55563624000109 · Gestão: taxa, base e mínimo · Condição: Adicional é por integralização, não taxa anual.</a:t>
            </a:r>
          </a:p>
          <a:p>
            <a:r>
              <a:t>CNPJ 55563624000109 · Gestão: taxa, base e mínimo · Versão e prevalência: Leitura específica das cláusulas indicadas; condições e conflitos preservados. Seleção documental atual não comprova vigência jurídica por data isolada.</a:t>
            </a:r>
          </a:p>
          <a:p>
            <a:r>
              <a:t>CNPJ 55563624000109 · Gestão: taxa, base e mínimo · Resumo do histórico: {"count": 3, "dates": ["2025-01-31", "2026-01-31", "2026-04-30"], "document_count": 3, "sources": [{"document_id": "1192614", "title": "Regulamento", "reference_date": "2026-04-30", "version": "1", "page": "29", "url": "https://fnet.bmfbovespa.com.br/fnet/publico/visualizarDocumento?id=1192614", "sha256": "f56e63ace0acde41d2f47fb48f1ac7f3f7df5e2d32de092d7c5e075a52516632"}, {"document_id": "1178840", "title": "Demonstrações Financeiras", "reference_date": "2026-01-31", "version": "1", "page": 29, "url": "https://fnet.bmfbovespa.com.br/fnet/publico/visualizarDocumento?id=1178840", "sha256": "c458e98664c5c907ddb5a05a94b120bed4e05295b2bfc420f5ba69af0a229abe"}, {"document_id": "891861", "title": "Demonstrações Financeiras", "reference_date": "2025-01-31", "version": "1", "page": 30, "url": "https://fnet.bmfbovespa.com.br/fnet/publico/visualizarDocumento?id=891861", "sha256": "e9cb9e6ddbe505fe068cfcac33605165a98313489de0d3ce6d4d238263c3f3e7"}], "reference": {"path": "history/55563624000109.json", "criterion_id": "management_fee", "total_count": 3, "preview_count": 3, "full_text_deferred": true, "sha256": "7835d573fb58a3c19adf5b8ecc2aee2bdbb9a88f7a0c0209b5f262b64c7522e3"}}</a:t>
            </a:r>
          </a:p>
          <a:p>
            <a:r>
              <a:t>CNPJ 62552447000120 · Gestão: taxa, base e mínimo · Motivo: Não localizada uma cláusula material para este critério nos textos identificados e processados. A ausência de resultado não comprova inexistência da regra.</a:t>
            </a:r>
          </a:p>
          <a:p>
            <a:r>
              <a:t>CNPJ 63953620000165 · Gestão: taxa, base e mínimo · Anexo ao Regulamento · ID 1222863 · 02/06/2026 · versão AnexoConsignadoPrivado02/06/2026 · p. 20 · Capítulo13TaxadeGestão · https://fnet.bmfbovespa.com.br/fnet/publico/visualizarDocumento?id=1222863</a:t>
            </a:r>
          </a:p>
          <a:p>
            <a:r>
              <a:t>CNPJ 63953620000165 · Gestão: taxa, base e mínimo · Excerto da fonte:</a:t>
            </a:r>
          </a:p>
          <a:p>
            <a:r>
              <a:t>0,05% (cinco centésimos por cento) ao ano, apropriada diariamente na base de 252 (duzentos e cinquenta e dois) Dias Úteis, e paga mensalmente, até o 5º (quinto) Dia Útil do mês subsequente ao mês que se refere, incidente sobre o Patrimônio Líquido da Classe alocado em Direitos Creditórios Consignado Privado e/ou Ativos de Liquidez MT, observada remuneração mínima mensal de R$ 2.500,00 (dois mil e quinhentos reais), a ser corrigida anualmente, em janeiro de cada ano, pela variação</a:t>
            </a:r>
          </a:p>
          <a:p>
            <a:r>
              <a:t>CNPJ 63953620000165 · Gestão: taxa, base e mínimo · Versão e prevalência: Leitura específica das cláusulas indicadas; condições e conflitos preservados. Seleção documental atual não comprova vigência jurídica por data isolada.</a:t>
            </a:r>
          </a:p>
          <a:p>
            <a:r>
              <a:t>CNPJ 63953620000165 · Gestão: taxa, base e mínimo · Resumo do histórico: {"count": 8, "dates": ["2026-04-28", "2026-05-08", "2026-05-15"], "document_count": 3, "sources": [{"document_id": "1327859", "title": "Demonstrações Financeiras - Fusão, cisão e incorporação", "reference_date": "2026-05-15", "version": "1", "page": 28, "url": "https://fnet.bmfbovespa.com.br/fnet/publico/visualizarDocumento?id=1327859", "sha256": "dca1c68babb97f887528c3e2e47596a9c30f507b067981a35655b2f2da9c8054"}, {"document_id": "1298691", "title": "Demonstrações Financeiras - Fusão, cisão e incorporação", "reference_date": "2026-05-08", "version": "1", "page": 28, "url": "https://fnet.bmfbovespa.com.br/fnet/publico/visualizarDocumento?id=1298691", "sha256": "58c570d9b8d4d265330d3db3ea81c435b8e44a6dab4002aa37790652a1ee9819"}, {"document_id": "1282180", "title": "Demonstrações Financeiras - Fusão, cisão e incorporação", "reference_date": "2026-04-28", "version": "1", "page": 29, "url": "https://fnet.bmfbovespa.com.br/fnet/publico/visualizarDocumento?id=1282180", "sha256": "afaaa0e6809be4385e5bdb6c911aac582032c5bdbac3d7750234bf9eaf00438a"}], "reference": {"path": "history/63953620000165.json", "criterion_id": "management_fee", "total_count": 8, "preview_count": 3, "full_text_deferred": true, "sha256": "a7b89077f5e21098c2d601c303faabc3ff6b9729f89d8afecdc60fe1404720c1"}}</a:t>
            </a:r>
          </a:p>
          <a:p>
            <a:r>
              <a:t>CNPJ 54871427000194 · Performance: benchmark e apuração · Regulamento · ID 670691 · 28/04/2024 · versão Regulamento — referência 28/04/2024 · p. 26 · Anexo I, 13.3 · https://fnet.bmfbovespa.com.br/fnet/publico/visualizarDocumento?id=670691</a:t>
            </a:r>
          </a:p>
          <a:p>
            <a:r>
              <a:t>CNPJ 54871427000194 · Performance: benchmark e apuração · Excerto da fonte:</a:t>
            </a:r>
          </a:p>
          <a:p>
            <a:r>
              <a:t>13.3 Não serão cobradas da Classe ou dos Cotistas taxas de perf ormance, de ingresso ou de saída. Taxa de Gestão 13.4 Pelos serviços de gestão, a Classe pagará a Taxa de Gestão nos seguintes moldes: o valor correspondente a 0,20% (vinte centésimos por cento) ao ano aplicado sobre o Patrimônio Líquido, observado o valor mínimo de R$ 15.000,00 (quinze mil reais) mensais atualizado pela variação positiva do IGP-M a cada período de 12 (doze) meses, contados a partir do mês em que ocorrer a primeira integralização de Cotas (inclusive). 13.4.1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13.4.2 A Taxa de Gestão será calculada e provisionada todo Dia Útil à razão de 1/252 (um inteiro e duzentos e cinquenta e dois avos) com base no valor do Patrimônio Líquido do Dia Útil anterior. 13.4.3 A Taxa de Gestão será paga mensalmente ao GESTOR, observado o disposto no item 13.5</a:t>
            </a:r>
          </a:p>
          <a:p>
            <a:r>
              <a:t>CNPJ 54871427000194 · Performance: benchmark e apuração · Motivo: Não localizada uma cláusula material para este critério nos textos identificados e processados. A ausência de resultado não comprova inexistência da regra.</a:t>
            </a:r>
          </a:p>
          <a:p>
            <a:r>
              <a:t>CNPJ 54871427000194 · Performance: benchmark e apuração · Versão e prevalência: Leitura específica das cláusulas indicadas; condições e conflitos preservados. Seleção documental atual não comprova vigência jurídica por data isolada.</a:t>
            </a:r>
          </a:p>
          <a:p>
            <a:r>
              <a:t>CNPJ 60010416000112 · Performance: benchmark e apuração · Regulamento · ID 1051393 · 09/10/2025 · versão Regulamento09/10/2025 · p. 29 · AnexoI12.2 · https://fnet.bmfbovespa.com.br/fnet/publico/visualizarDocumento?id=1051393</a:t>
            </a:r>
          </a:p>
          <a:p>
            <a:r>
              <a:t>CNPJ 60010416000112 · Performance: benchmark e apuração · Excerto da fonte:</a:t>
            </a:r>
          </a:p>
          <a:p>
            <a:r>
              <a:t>12.2 Não serão cobradas da Classe ou dos Cotistas taxas de perf ormance, de ingresso ou de saída. Taxa Máxima de Custódia 12.3 Pelos serviços de custódia qualificada dos Direitos Creditórios e dos Ativos Financeiros de Liquidez não será devida nenhuma remuneração ao Custodiante, de modo que taxa máxima de custódia a ser paga pela Classe ao Custodiante corresponde a 0% (zero por cento) ao ano. Remuneração do Agente de Retenção/Cobrança 12.4 Para a prestação de serviços à Classe, o Agente de Retenção/Cobrança f ará jus a uma remuneração a ser auf erida todo Dia Útil e paga mensalmente, a título de Encargo da Cla</a:t>
            </a:r>
          </a:p>
          <a:p>
            <a:r>
              <a:t>CNPJ 60010416000112 · Performance: benchmark e apuração · Motivo: Não localizada uma cláusula material para este critério nos textos identificados e processados. A ausência de resultado não comprova inexistência da regra.</a:t>
            </a:r>
          </a:p>
          <a:p>
            <a:r>
              <a:t>CNPJ 60010416000112 · Performance: benchmark e apuração · Versão e prevalência: Leitura específica das cláusulas indicadas; condições e conflitos preservados. Seleção documental atual não comprova vigência jurídica por data isolada.</a:t>
            </a:r>
          </a:p>
          <a:p>
            <a:r>
              <a:t>CNPJ 62696791000193 · Performance: benchmark e apuração · Regulamento · ID 1143317 · 20/03/2026 · versão Regulamento — referência 20/03/2026 · p. 28 · Anexo I, 13.1, Taxa de Performance · https://fnet.bmfbovespa.com.br/fnet/publico/visualizarDocumento?id=1143317</a:t>
            </a:r>
          </a:p>
          <a:p>
            <a:r>
              <a:t>CNPJ 62696791000193 · Performance: benchmark e apuração · Excerto da fonte:</a:t>
            </a:r>
          </a:p>
          <a:p>
            <a:r>
              <a:t>Taxa de Performance Não será devido pela Classe o pagamento de Taxa de Perf ormance. 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equivalente a 0,9% (nove décimos por cento) ao ano aplicado sobre o Patrimônio Anexo I ao Regulamento Líquido, observado o limite máximo de 4,5% (quatro inteiros e cinquenta centésimos por cento) do volume captado na respectiva oferta (“Taxa Máxima de Distribuição”).A Taxa Máxima de BTG Pactual SAC: 0800 772 2827 | Ouvidoria: 0800 722 0048 | btgpactual.co m 23</a:t>
            </a:r>
          </a:p>
          <a:p>
            <a:r>
              <a:t>CNPJ 62696791000193 · Performance: benchmark e apuração · Regulamento · ID 1143317 · 20/03/2026 · versão Regulamento — referência 20/03/2026 · p. 29 · Anexo I, 13.1, Taxa de Ingresso · https://fnet.bmfbovespa.com.br/fnet/publico/visualizarDocumento?id=1143317</a:t>
            </a:r>
          </a:p>
          <a:p>
            <a:r>
              <a:t>CNPJ 62696791000193 · Performance: benchmark e apuração · Excerto da fonte:</a:t>
            </a:r>
          </a:p>
          <a:p>
            <a:r>
              <a:t>Taxa de Ingresso Não será cobrada dos Cotistas Taxa de Ingresso. 14 TRIBUTAÇÃO 14.1 O disposto neste Capítulo f oi elaborado com base na legislação e regulamentação em vigor produzindo ef eitos, tem por objetivo descrever de f orma sumária o tratamento tributário aplicável em regra aos cotistas, ao Fundo e à Classe, não se aplicando aos cotistas sujeitos a regras de tributação específicas, na f orma da legislação e regulamentação em vigor. 14.2 Há exceções (inclusive relativas à natureza ou ao domicílio do investidor para fins fiscais) em relação ao tratamento tributário descrito abaixo e tributos adicionais que podem ser aplicados, motivo pelo qual os cotistas devem consultar seus assessores jurídicos com relação à tributação aplicável nos investimentos realizados na Classe. Tributação da Classe / Operações da carteira: Como regra geral, os rendimentos auferidos pela carteira da Classe não estão sujeitos à incidência do imposto de renda, exceto ganhos auferidos em aplicações financeiras de renda fixa ou variável, que se sujeitam à incidência do Imposto de Renda Retido na Fonte (“IRF”) de acordo com as mesmas regras de tributação aplic</a:t>
            </a:r>
          </a:p>
          <a:p>
            <a:r>
              <a:t>CNPJ 62696791000193 · Performance: benchmark e apuração · Motivo: Não localizada uma cláusula material para este critério nos textos identificados e processados. A ausência de resultado não comprova inexistência da regra.</a:t>
            </a:r>
          </a:p>
          <a:p>
            <a:r>
              <a:t>CNPJ 62696791000193 · Performance: benchmark e apuração · Versão e prevalência: Leitura específica das cláusulas indicadas; condições e conflitos preservados. Seleção documental atual não comprova vigência jurídica por data isolada.</a:t>
            </a:r>
          </a:p>
          <a:p>
            <a:r>
              <a:t>CNPJ 55563624000109 · Performance: benchmark e apuração · Regulamento · ID 1192614 · 30/04/2026 · versão Regulamento30/04/2026 · p. 29 · AnexoI13.10 · https://fnet.bmfbovespa.com.br/fnet/publico/visualizarDocumento?id=1192614</a:t>
            </a:r>
          </a:p>
          <a:p>
            <a:r>
              <a:t>CNPJ 55563624000109 · Performance: benchmark e apuração · Excerto da fonte:</a:t>
            </a:r>
          </a:p>
          <a:p>
            <a:r>
              <a:t>13.10 Não serão cobradas taxas de performance da Classe, e nem taxas de ingresso ou de saída dos Cotistas que integralizarem ou resgatarem suas Cotas. BTG Pactual SAC: 0800 772 28 27 - Ouvidoria: 0800 722 00 48 - btgpactual.com 22</a:t>
            </a:r>
          </a:p>
          <a:p>
            <a:r>
              <a:t>CNPJ 55563624000109 · Performance: benchmark e apuração · Motivo: Não localizada uma cláusula material para este critério nos textos identificados e processados. A ausência de resultado não comprova inexistência da regra.</a:t>
            </a:r>
          </a:p>
          <a:p>
            <a:r>
              <a:t>CNPJ 55563624000109 · Performance: benchmark e apuração · Versão e prevalência: Leitura específica das cláusulas indicadas; condições e conflitos preservados. Seleção documental atual não comprova vigência jurídica por data isolada.</a:t>
            </a:r>
          </a:p>
          <a:p>
            <a:r>
              <a:t>CNPJ 62552447000120 · Performance: benchmark e apuração · Regulamento · ID 1200623 · 21/05/2026 · versão Consolidado21/05/2026 aprovado pelo ato1200625 · p. 30 · AnexoI13.1 TaxadePerformance/Ingresso · https://fnet.bmfbovespa.com.br/fnet/publico/visualizarDocumento?id=1200623</a:t>
            </a:r>
          </a:p>
          <a:p>
            <a:r>
              <a:t>CNPJ 62552447000120 · Performance: benchmark e apuração · Excerto da fonte:</a:t>
            </a:r>
          </a:p>
          <a:p>
            <a:r>
              <a:t>Taxa de Performance Não será devido pela Classe o pagamento de Taxa de Perf ormance. Taxa de Ingresso Não será cobrada dos Cotistas Taxa de Ingresso . CAPÍTULO 14 – CUSTOS REFERENTES À DEFESA DOS INTERESSES DA CLASSE 14.1 Todos os custos e despesas ref eridos neste Capítulo, inclusive para salvaguarda de direitos e prerrogativas da Classe e/ou com a cobrança judicial e/ou extrajudicial de Direitos Creditórios Inadimplidos, serão de inteira responsabilidade da Classe, não est ando o Administrador, o Gestor, o Endossante, os Devedores, o Custodiante e quaisquer de suas respectivas pessoas contr</a:t>
            </a:r>
          </a:p>
          <a:p>
            <a:r>
              <a:t>CNPJ 62552447000120 · Performance: benchmark e apuração · Motivo: Não localizada uma cláusula material para este critério nos textos identificados e processados. A ausência de resultado não comprova inexistência da regra.</a:t>
            </a:r>
          </a:p>
          <a:p>
            <a:r>
              <a:t>CNPJ 62552447000120 · Performance: benchmark e apuração · Versão e prevalência: Leitura específica das cláusulas indicadas; condições e conflitos preservados. Seleção documental atual não comprova vigência jurídica por data isolada.</a:t>
            </a:r>
          </a:p>
          <a:p>
            <a:r>
              <a:t>CNPJ 63953620000165 · Performance: benchmark e apuração · Anexo ao Regulamento · ID 1222863 · 02/06/2026 · versão AnexoConsignadoPrivado02/06/2026 · p. 20 · Capítulo13 · https://fnet.bmfbovespa.com.br/fnet/publico/visualizarDocumento?id=1222863</a:t>
            </a:r>
          </a:p>
          <a:p>
            <a:r>
              <a:t>CNPJ 63953620000165 · Performance: benchmark e apuração · Excerto da fonte:</a:t>
            </a:r>
          </a:p>
          <a:p>
            <a:r>
              <a:t>Taxa de Performance Não será devido pelas Classes o pagamento de Taxa de Performance. 0,00% (zero por cento) ao ano, incidente sobre o Patrimônio Líquido da Classe Taxa Máxima de Custódia (“Taxa Máxima de Custódia”). Taxa Máxima de Distribuição Não será cobrada Taxa de Distribuição. Taxa de Ingresso Não será cobrada da Classe ou dos Cotistas taxa de ingresso. CAPÍTULO 14 – CUSTOS REFERENTES À DEFESA DOS INTERESSES DA CLASSE 14.1 Todos os custos e despesas referidos neste Capítulo, inclusive para salvaguarda de direitos e prerrogativas da</a:t>
            </a:r>
          </a:p>
          <a:p>
            <a:r>
              <a:t>CNPJ 63953620000165 · Performance: benchmark e apuração · Motivo: Cláusula primária localizada e citada, mas sua lista/condições extensas não admitem uma síntese literal curta confirmada. O trecho integral permanece nas fontes.</a:t>
            </a:r>
          </a:p>
          <a:p>
            <a:r>
              <a:t>CNPJ 63953620000165 · Performance: benchmark e apuração · Versão e prevalência: Leitura específica das cláusulas indicadas; condições e conflitos preservados. Seleção documental atual não comprova vigência jurídica por data isolada.</a:t>
            </a:r>
          </a:p>
          <a:p>
            <a:r>
              <a:t>CNPJ 54871427000194 · Custódia, escrituração e encargos · Regulamento · ID 670691 · 28/04/2024 · versão Regulamento — referência 28/04/2024 · p. 26 · Anexo I, 13.7–13.8 · https://fnet.bmfbovespa.com.br/fnet/publico/visualizarDocumento?id=670691</a:t>
            </a:r>
          </a:p>
          <a:p>
            <a:r>
              <a:t>CNPJ 54871427000194 · Custódia, escrituração e encargos · Excerto da fonte:</a:t>
            </a:r>
          </a:p>
          <a:p>
            <a:r>
              <a:t>13.7 Pelos serviços de retenção e cobrança, prestada nos termos deste Anexo e do Contrato de Retenção/Cobrança, será devida pela Classe ao Agente de Retenção/Cobrança a remuneração prevista no respectivo Contrato de Retenção/Cobrança. Taxa Máxima de Custódia 13.8 Pelos serviços de custódia qualificada dos Direitos Creditórios e dos Ativos Financeiros de Liquidez não será devida nenhuma remuneração ao CUSTODIANTE, de modo que taxa máxima de custódia a ser paga pela Classe ao CUSTODIANTE corresponde a 0% (zero por cento) ao ano. CAPÍTULO 14 – CUSTOS REFERENTES À DEFESA DOS INTERESSES DA CLASSE 14.1 Caso a Classe não possua recursos disponíveis, em moeda corrente nacional, suf icientes para a adoção e manutenção, direta ou indireta, dos procedimentos judiciais e extrajudiciais necessários à cobrança dos Direitos Creditórios e dos Ativos Financeiros de Liquidez de titularidade da Classe e à def esa dos direitos, interesses e prerrogativas da Classe, a maioria dos titulares das Cotas, reunidos em Assembleia Especial de Cotistas, poderá aprovar o aporte de recursos à Classe, por meio da integralização de novas Cotas, a ser realizada por todos os titulares das Cotas para assegurar, se for o caso, a</a:t>
            </a:r>
          </a:p>
          <a:p>
            <a:r>
              <a:t>CNPJ 54871427000194 · Custódia, escrituração e encargos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Custódia, escrituração e encargos · Versão e prevalência: Leitura específica das cláusulas indicadas; condições e conflitos preservados. Seleção documental atual não comprova vigência jurídica por data isolada.</a:t>
            </a:r>
          </a:p>
          <a:p>
            <a:r>
              <a:t>CNPJ 54871427000194 · Custódia, escrituração e encargos · Resumo do histórico: {"count": 1, "dates": ["2024-04-28"], "document_count": 1, "sources": [{"document_id": "670691", "title": "Regulamento", "reference_date": "2024-04-28", "version": "1", "page": "26", "url": "https://fnet.bmfbovespa.com.br/fnet/publico/visualizarDocumento?id=670691", "sha256": "bf16dd7f1a62d5cdbf2e2d54fef81783783f7310fbc99c3a8f00459bdf9d037b"}], "reference": {"path": "history/54871427000194.json", "criterion_id": "custody_fee", "total_count": 1, "preview_count": 1, "full_text_deferred": true, "sha256": "35d7cd99be50c7287c9fb675cf4f2e736002315295a225a9efa79c8d9186d874"}}</a:t>
            </a:r>
          </a:p>
          <a:p>
            <a:r>
              <a:t>CNPJ 60010416000112 · Custódia, escrituração e encargos · Regulamento · ID 1051393 · 09/10/2025 · versão Regulamento09/10/2025 · p. 29 · AnexoI12.3–12.4 · https://fnet.bmfbovespa.com.br/fnet/publico/visualizarDocumento?id=1051393</a:t>
            </a:r>
          </a:p>
          <a:p>
            <a:r>
              <a:t>CNPJ 60010416000112 · Custódia, escrituração e encargos · Excerto da fonte:</a:t>
            </a:r>
          </a:p>
          <a:p>
            <a:r>
              <a:t>12.3 Pelos serviços de custódia qualificada dos Direitos Creditórios e dos Ativos Financeiros de Liquidez não será devida nenhuma remuneração ao Custodiante, de modo que taxa máxima de custódia a ser paga pela Classe ao Custodiante corresponde a 0% (zero por cento) ao ano. Remuneração do Agente de Retenção/Cobrança 12.4 Para a prestação de serviços à Classe, o Agente de Retenção/Cobrança f ará jus a uma remuneração a ser auf erida todo Dia Útil e paga mensalmente, a título de Encargo da Classe, a qual será calculada com base na seguinte f órmula:</a:t>
            </a:r>
          </a:p>
          <a:p>
            <a:r>
              <a:t>CNPJ 60010416000112 · Custódia, escrituração e encargos · Regulamento · ID 1051393 · 09/10/2025 · versão Regulamento09/10/2025 · p. 30 · AnexoI12.4definições,12.5–12.5.1 · https://fnet.bmfbovespa.com.br/fnet/publico/visualizarDocumento?id=1051393</a:t>
            </a:r>
          </a:p>
          <a:p>
            <a:r>
              <a:t>CNPJ 60010416000112 · Custódia, escrituração e encargos · Excerto da fonte:</a:t>
            </a:r>
          </a:p>
          <a:p>
            <a:r>
              <a:t>RAC = Remuneração do Agente de Retenção e Cobrança,tendo como valor 4,00% (quatro por cento) ao ano. 12.5 A remuneração prevista no item 12.4 acima será calculada pelo Administrador e paga diretamente ao Agente de Retenção/Cobrança até o 5º (quinto) Dia Útil do mês subsequente ao da prestação dos serviços, conf orme estabelecido no Contrato de Serviços MT. 12.5.1. Independentemente do acima disposto, na hipótese de venda de qualquer parte dos Direitos Creditórios Elegíveis a terceiros, inclusive no caso de liquidação da Classe, o Agente de Retenção/Cobra</a:t>
            </a:r>
          </a:p>
          <a:p>
            <a:r>
              <a:t>CNPJ 60010416000112 · Custódia, escrituração e encargos · Condição: Fórmula do RAC tem composição base 252 DU/21 dias; não somar a 4% do PL como taxa administrativa.</a:t>
            </a:r>
          </a:p>
          <a:p>
            <a:r>
              <a:t>CNPJ 60010416000112 · Custódia, escrituração e encargos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Custódia, escrituração e encargos · Versão e prevalência: Leitura específica das cláusulas indicadas; condições e conflitos preservados. Seleção documental atual não comprova vigência jurídica por data isolada.</a:t>
            </a:r>
          </a:p>
          <a:p>
            <a:r>
              <a:t>CNPJ 60010416000112 · Custódia, escrituração e encargos · Resumo do histórico: {"count": 1, "dates": ["2025-10-09"], "document_count": 1, "sources": [{"document_id": "1051393", "title": "Regulamento", "reference_date": "2025-10-09", "version": "1", "page": "29-31", "url": "https://fnet.bmfbovespa.com.br/fnet/publico/visualizarDocumento?id=1051393", "sha256": "8469d613078ffd5a6c1d217885d8a397a16342c0b937ae4aa24b106505f233ae"}], "reference": {"path": "history/60010416000112.json", "criterion_id": "custody_fee", "total_count": 1, "preview_count": 1, "full_text_deferred": true, "sha256": "8e2bd813f4c51cf01f6bfaad164bafe69d2bbb192f753eac92da3a01c2e63046"}}</a:t>
            </a:r>
          </a:p>
          <a:p>
            <a:r>
              <a:t>CNPJ 62696791000193 · Custódia, escrituração e encargos · Regulamento · ID 1143317 · 20/03/2026 · versão Regulamento — referência 20/03/2026 · p. 28 · Anexo I, 13.1, Custódia e Distribuição · https://fnet.bmfbovespa.com.br/fnet/publico/visualizarDocumento?id=1143317</a:t>
            </a:r>
          </a:p>
          <a:p>
            <a:r>
              <a:t>CNPJ 62696791000193 · Custódia, escrituração e encargos · Excerto da fonte:</a:t>
            </a:r>
          </a:p>
          <a:p>
            <a:r>
              <a:t>Taxa Máxima de Custódia 0,00% (zero por cento) ao ano, incidente sobre o Patrimônio Líquido da Classe (“Taxa Máxima de Custódia”). Taxa de Performance Não será devido pela Classe o pagamento de Taxa de Perf ormance. 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equivalente a 0,9% (nove décimos por cento) ao ano aplicado sobre o Patrimônio Anexo I ao Regulamento Líquido, observado o limite máximo de 4,5% (quatro inteiros e cinquenta centésimos por cento) do volume captado na respectiva oferta (“Taxa Máxima de Distribuição”).A</a:t>
            </a:r>
          </a:p>
          <a:p>
            <a:r>
              <a:t>CNPJ 62696791000193 · Custódia, escrituração e encargos · Regulamento · ID 1143317 · 20/03/2026 · versão Regulamento — referência 20/03/2026 · p. 29 · Anexo I, 13.1, Distribuição · https://fnet.bmfbovespa.com.br/fnet/publico/visualizarDocumento?id=1143317</a:t>
            </a:r>
          </a:p>
          <a:p>
            <a:r>
              <a:t>CNPJ 62696791000193 · Custódia, escrituração e encargos · Excerto da fonte:</a:t>
            </a:r>
          </a:p>
          <a:p>
            <a:r>
              <a:t>Distribuição será calculada e provisionada todo Dia Útil à razão de 1/252 (um inteiro e duzentos e cinquenta e dois avos) com base no valor do Patrimônio Líquido do Dia Útil anterior. Nos termos da Resolução CVM 160, o coordenador líder poderá destinar parte ou a totalidade da sua remuneração, à vista ou a prazo, aos distribuidores contratados, conforme previsto no contrato de distribuição da oferta e/ou nos termos de adesão ao contrato de distribuição. A Taxa Máxima de Distribuição será paga mensalmente por período vencido, até o 10º (décimo) Dia Útil do mês subsequente à prestação dos serviços, a partir do mês em que ocorrer a primeira integralização de Cotas da Classe Taxa de Ingresso Não será cobrada dos Cotistas Taxa de Ingresso. 14 TRIBUTAÇÃO 14.1 O disposto neste Capítulo f oi elaborado co</a:t>
            </a:r>
          </a:p>
          <a:p>
            <a:r>
              <a:t>CNPJ 62696791000193 · Custódia, escrituração e encargos · Motivo: Não localizada uma cláusula material para este critério nos textos identificados e processados. A ausência de resultado não comprova inexistência da regra.</a:t>
            </a:r>
          </a:p>
          <a:p>
            <a:r>
              <a:t>CNPJ 62696791000193 · Custódia, escrituração e encargos · Versão e prevalência: Leitura específica das cláusulas indicadas; condições e conflitos preservados. Seleção documental atual não comprova vigência jurídica por data isolada.</a:t>
            </a:r>
          </a:p>
          <a:p>
            <a:r>
              <a:t>CNPJ 55563624000109 · Custódia, escrituração e encargos · Regulamento · ID 1192614 · 30/04/2026 · versão Regulamento30/04/2026 · p. 29 · AnexoI13.8–13.9 · https://fnet.bmfbovespa.com.br/fnet/publico/visualizarDocumento?id=1192614</a:t>
            </a:r>
          </a:p>
          <a:p>
            <a:r>
              <a:t>CNPJ 55563624000109 · Custódia, escrituração e encargos · Excerto da fonte:</a:t>
            </a:r>
          </a:p>
          <a:p>
            <a:r>
              <a:t>13.8 Pelos serviços de custódia qualificada das Cotas da Classe Investida e dos Ativos Financeiros de Liquidez não será devida nenhuma remuneração ao CUSTODIANTE, de modo que taxa de custódia a ser paga pela Classe ao CUSTODIANTE corresponde a 0% (zero por cento) ao ano. Taxas Máxima de Distribuição 13.9 Tendo em vista que não há distribuidores das Cotas que prestem serviços de forma contínua ao Fundo, o presente Regulamento e Anexo Descritivo não preveem uma taxa máxima de distribuição aplicável a todas as emissões, nos termos do Ofício-Circular-Conju</a:t>
            </a:r>
          </a:p>
          <a:p>
            <a:r>
              <a:t>CNPJ 55563624000109 · Custódia, escrituração e encargos · Versão e prevalência: Leitura específica das cláusulas indicadas; condições e conflitos preservados. Seleção documental atual não comprova vigência jurídica por data isolada.</a:t>
            </a:r>
          </a:p>
          <a:p>
            <a:r>
              <a:t>CNPJ 55563624000109 · Custódia, escrituração e encargos · Resumo do histórico: {"count": 1, "dates": ["2026-04-30"], "document_count": 1, "sources": [{"document_id": "1192614", "title": "Regulamento", "reference_date": "2026-04-30", "version": "1", "page": "29", "url": "https://fnet.bmfbovespa.com.br/fnet/publico/visualizarDocumento?id=1192614", "sha256": "f56e63ace0acde41d2f47fb48f1ac7f3f7df5e2d32de092d7c5e075a52516632"}], "reference": {"path": "history/55563624000109.json", "criterion_id": "custody_fee", "total_count": 1, "preview_count": 1, "full_text_deferred": true, "sha256": "7835d573fb58a3c19adf5b8ecc2aee2bdbb9a88f7a0c0209b5f262b64c7522e3"}}</a:t>
            </a:r>
          </a:p>
          <a:p>
            <a:r>
              <a:t>CNPJ 62552447000120 · Custódia, escrituração e encargos · Motivo: Não localizada uma cláusula material para este critério nos textos identificados e processados. A ausência de resultado não comprova inexistência da regra.</a:t>
            </a:r>
          </a:p>
          <a:p>
            <a:r>
              <a:t>CNPJ 63953620000165 · Custódia, escrituração e encargos · Motivo: Não localizada uma cláusula material para este critério nos textos identificados e processados. A ausência de resultado não comprova inexistência da regra.</a:t>
            </a:r>
          </a:p>
          <a:p>
            <a:r>
              <a:t>CNPJ 54871427000194 · Classes e séries de cotas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Classes e séries de cotas · Resumo do histórico: {"count": 1, "dates": ["2024-04-28"], "document_count": 1, "sources": [{"document_id": "670691", "title": "Regulamento", "reference_date": "2024-04-28", "version": "1", "page": "7, 14", "url": "https://fnet.bmfbovespa.com.br/fnet/publico/visualizarDocumento?id=670691", "sha256": "bf16dd7f1a62d5cdbf2e2d54fef81783783f7310fbc99c3a8f00459bdf9d037b"}], "reference": {"path": "history/54871427000194.json", "criterion_id": "quota_classes", "total_count": 1, "preview_count": 1, "full_text_deferred": true, "sha256": "35d7cd99be50c7287c9fb675cf4f2e736002315295a225a9efa79c8d9186d874"}}</a:t>
            </a:r>
          </a:p>
          <a:p>
            <a:r>
              <a:t>CNPJ 60010416000112 · Classes e séries de cotas · Demonstrações Financeiras - Fusão, cisão e incorporação · ID 1298690 · 2026-05-08 · versão 1 · p. 30 · https://fnet.bmfbovespa.com.br/fnet/publico/visualizarDocumento?id=1298690</a:t>
            </a:r>
          </a:p>
          <a:p>
            <a:r>
              <a:t>CNPJ 60010416000112 · Classes e séries de cotas · Excerto da fonte:</a:t>
            </a:r>
          </a:p>
          <a:p>
            <a:r>
              <a:t>Durante o período de investimento, a Administradora poderá deliberar por realizar novas  emissões de cotas subordinadas, sem a necessidade de aprovação em Assembleia Especial  de Cotistas ou alteração do Regulamento, limitadas ao montante máximo de R$ 50.000  (cinquenta milhões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subordinadas emitidas não sejam  superiores aos prazos de vencimento da primeira emissão.</a:t>
            </a:r>
          </a:p>
          <a:p>
            <a:r>
              <a:t>CNPJ 60010416000112 · Classes e séries de cotas · Demonstrações Financeiras - Fusão, cisão e incorporação · ID 1298690 · 2026-05-08 · versão 1 · p. 7 · https://fnet.bmfbovespa.com.br/fnet/publico/visualizarDocumento?id=1298690</a:t>
            </a:r>
          </a:p>
          <a:p>
            <a:r>
              <a:t>CNPJ 60010416000112 · Classes e séries de cotas · Excerto da fonte:</a:t>
            </a:r>
          </a:p>
          <a:p>
            <a:r>
              <a:t>01/12/2025 a  Nota  08/05/2026  Patrimônio líquido no início do período  Total de 493.487,7492 cotas sêniores a R$ 1.136,5211 560.859  Total de 2.329.794,7852 cotas sêniores 2 a R$ 1.141,3012 2.658.998  Total de 954,2302 cotas subordinadas a R$ 150.939,4087 144.031</a:t>
            </a:r>
          </a:p>
          <a:p>
            <a:r>
              <a:t>CNPJ 60010416000112 · Classes e séries de cotas · Demonstrações Financeiras - Fusão, cisão e incorporação · ID 1298690 · 2026-05-08 · versão 1 · p. 7 · https://fnet.bmfbovespa.com.br/fnet/publico/visualizarDocumento?id=1298690</a:t>
            </a:r>
          </a:p>
          <a:p>
            <a:r>
              <a:t>CNPJ 60010416000112 · Classes e séries de cotas · Excerto da fonte:</a:t>
            </a:r>
          </a:p>
          <a:p>
            <a:r>
              <a:t>Patrimônio líquido no final do período  Total de 2.865.592,8479 cotas a R$ 1.285,7151 3.672.765  Total de 493.487,7492 cotas sêniores a R$ 1.230,3042 607.141  Total de 2.362.150,8684 cotas sêniores 2 a R$ 1.236,9918 2.921.961  Total de 954,2302 cotas subordinadas a R$ 150.554,2733 143.663</a:t>
            </a:r>
          </a:p>
          <a:p>
            <a:r>
              <a:t>CNPJ 60010416000112 · Classes e séries de cotas · Condição: Documentos atuais selecionados no inventário por categoria/escopo; a data documental isolada não comprova vigência jurídica.</a:t>
            </a:r>
          </a:p>
          <a:p>
            <a:r>
              <a:t>CNPJ 60010416000112 · Classes e séries de cotas · Versão e prevalência: Documentos atuais selecionados no inventário por categoria/escopo; a data documental isolada não comprova vigência jurídica.</a:t>
            </a:r>
          </a:p>
          <a:p>
            <a:r>
              <a:t>CNPJ 60010416000112 · Classes e séries de cotas · Resumo do histórico: {"count": 9, "dates": ["2025-11-30", "2026-03-18", "2026-04-16"], "document_count": 3, "sources": [{"document_id": "1282181", "title": "Demonstrações Financeiras - Fusão, cisão e incorporação", "reference_date": "2026-04-16", "version": "1", "page": 7, "url": "https://fnet.bmfbovespa.com.br/fnet/publico/visualizarDocumento?id=1282181", "sha256": "b1c6566e43a00bcd00c8a7f30c77b7f86e351bd8e355bbea113f46d1dafda703"}, {"document_id": "1224477", "title": "Demonstrações Financeiras - Fusão, cisão e incorporação", "reference_date": "2026-03-18", "version": "1", "page": 7, "url": "https://fnet.bmfbovespa.com.br/fnet/publico/visualizarDocumento?id=1224477", "sha256": "0751bf0a75bc3b44c2748f5000226665c6ec6698a90c4dc6170b4e6c187759ae"}, {"document_id": "1126154", "title": "Demonstrações Financeiras", "reference_date": "2025-11-30", "version": "1", "page": 7, "url": "https://fnet.bmfbovespa.com.br/fnet/publico/visualizarDocumento?id=1126154", "sha256": "a01e7ccf88c548f12c95cba8526d7efbef6b585c112cd4668eca781c292090b0"}], "reference": {"path": "history/60010416000112.json", "criterion_id": "quota_classes", "total_count": 9, "preview_count": 3, "full_text_deferred": true, "sha256": "8e2bd813f4c51cf01f6bfaad164bafe69d2bbb192f753eac92da3a01c2e63046"}}</a:t>
            </a:r>
          </a:p>
          <a:p>
            <a:r>
              <a:t>CNPJ 62696791000193 · Classes e séries de cotas · Instrumento Particular de Emissão de Cotas · ID 1148821 · 2026-03-27 · versão 1 · p. 1 · 20.000 · https://fnet.bmfbovespa.com.br/fnet/publico/visualizarDocumento?id=1148821</a:t>
            </a:r>
          </a:p>
          <a:p>
            <a:r>
              <a:t>CNPJ 62696791000193 · Classes e séries de cotas · Excerto da fonte:</a:t>
            </a:r>
          </a:p>
          <a:p>
            <a:r>
              <a:t>20.000 (vinte mil) Cotas Subordinadas Júnior, com valor nominal unitário de R$ 1.000,00 (mil reais),  perfazendo o montante total de R$ 20.000.000,00 (vinte milhões de reais), as quais serão objeto de  colocação privada, de acordo com os termos e condições definidos no Apêndice da Subclasse  Subordinada Júnior constante do Anexo I Regulamento e descritas abaixo (“2ª Emissão da Subclasse  Subordinada Júnior”):</a:t>
            </a:r>
          </a:p>
          <a:p>
            <a:r>
              <a:t>CNPJ 62696791000193 · Classes e séries de cotas · Instrumento Particular de Emissão de Cotas · ID 1148821 · 2026-03-27 · versão 1 · p. 2 · https://fnet.bmfbovespa.com.br/fnet/publico/visualizarDocumento?id=1148821</a:t>
            </a:r>
          </a:p>
          <a:p>
            <a:r>
              <a:t>CNPJ 62696791000193 · Classes e séries de cotas · Excerto da fonte:</a:t>
            </a:r>
          </a:p>
          <a:p>
            <a:r>
              <a:t>2. Aprovar a 2ª (segunda) emissão da Subclasse Sênior da Classe, composta por até 150.000  (cento e cinquenta mil) Cotas Seniores, com valor nominal unitário de R$ 1.000,00 (mil reais),  perfazendo o montante total de R$ 150.000.000,00 (cento e cinquenta milhões de reais), as quais  serão objeto de colocação privada, de acordo com os termos e condições descritos no Apêndice da  Subclasse Sênior constante do Anexo I Regulamento e descritas abaixo (“2ª Emissão da Subclasse  Sênior”):</a:t>
            </a:r>
          </a:p>
          <a:p>
            <a:r>
              <a:t>CNPJ 62696791000193 · Classes e séries de cotas · Instrumento Particular de Emissão de Cotas · ID 1148821 · 2026-03-27 · versão 1 · p. 2 · https://fnet.bmfbovespa.com.br/fnet/publico/visualizarDocumento?id=1148821</a:t>
            </a:r>
          </a:p>
          <a:p>
            <a:r>
              <a:t>CNPJ 62696791000193 · Classes e séries de cotas · Excerto da fonte:</a:t>
            </a:r>
          </a:p>
          <a:p>
            <a:r>
              <a:t>d) Forma de Integralização: as Cotas Subordinadas Júnior serão integralizadas à vista, junto ao  seu respectivo agente de custódia e/ou da Administradora na qualidade de escriturador das  cotas; e</a:t>
            </a:r>
          </a:p>
          <a:p>
            <a:r>
              <a:t>CNPJ 62696791000193 · Classes e séries de cotas · Condição: Documentos atuais selecionados no inventário por categoria/escopo; a data documental isolada não comprova vigência jurídica.</a:t>
            </a:r>
          </a:p>
          <a:p>
            <a:r>
              <a:t>CNPJ 62696791000193 · Classes e séries de cotas · Versão e prevalência: Documentos atuais selecionados no inventário por categoria/escopo; a data documental isolada não comprova vigência jurídica.</a:t>
            </a:r>
          </a:p>
          <a:p>
            <a:r>
              <a:t>CNPJ 62696791000193 · Classes e séries de cotas · Resumo do histórico: {"count": 2, "dates": ["2026-03-20", "2026-03-27"], "document_count": 2, "sources": [{"document_id": "1148821", "title": "Instrumento Particular de Emissão de Cotas", "reference_date": "2026-03-27", "version": "1", "page": "1-2", "url": "https://fnet.bmfbovespa.com.br/fnet/publico/visualizarDocumento?id=1148821", "sha256": "86900e9dd498403696bfffbd4196443c83ec4d51ff21135e073c1966e1adf4c0"}, {"document_id": "1143317", "title": "Regulamento", "reference_date": "2026-03-20", "version": "1", "page": 16, "clause": "7.2", "url": "https://fnet.bmfbovespa.com.br/fnet/publico/visualizarDocumento?id=1143317", "sha256": "32f62818d51c3ebeaf9ec012d3d7867f15c1aed6d10f0867c157a290df1cea48"}], "reference": {"path": "history/62696791000193.json", "criterion_id": "quota_classes", "total_count": 2, "preview_count": 2, "full_text_deferred": true, "sha256": "0e9ec199848320ec945708123ae0cb6075d76c05d94beed814d582031d353926"}}</a:t>
            </a:r>
          </a:p>
          <a:p>
            <a:r>
              <a:t>CNPJ 55563624000109 · Classes e séries de cotas · Regulamento · ID 1192614 · 2026-04-30 · versão 1 · p. 40 · https://fnet.bmfbovespa.com.br/fnet/publico/visualizarDocumento?id=1192614</a:t>
            </a:r>
          </a:p>
          <a:p>
            <a:r>
              <a:t>CNPJ 55563624000109 · Classes e séries de cotas · Excerto da fonte:</a:t>
            </a:r>
          </a:p>
          <a:p>
            <a:r>
              <a:t>(xxiv) Subordinação de determinadas Cotas da Classe Investida a outras subclasses ou séries de  cotas das Classes Investidas aos quais pertencem. A Classe Investida adquirirá apenas cotas  subordinadas mezaninos da Classe Investida, as quais se subordinam às cotas seniores da Classe  Investida para efeitos de resgate. Os resgates de cotas subordinadas mezanino tipicamente têm sua  realização condicionada ainda à manutenção da razão de garantia e à existência de disponibilidades  da Classe Investida. O ADMINISTRADOR, o GESTOR e o CUSTODIANTE e suas respectivas partes  relacionadas, encontram-se impossibilitados de assegurar que a amortização e o resgate das cotas  subordinadas mezanino da Classe Investida que venham a ser adquiridas pela Classe ocorrerão nas  datas originalmente previstas, sendo que, caso tais amortizações e/ou resgates não ocorram, não será  devido pelo FUNDO ou qualquer pessoa, incluindo o ADMINISTRADOR, o GESTOR e o CUSTODIANTE,  do FUNDO ou da Classe Investida qualquer multa ou penalidade, de qualquer natureza. O não resgate  de cotas subordinadas mezanino da Classe Investida detidas pela Classe poderá impactar  negativamente no fluxo de pagamento de resgate da Classe e/ou no valor patrimonial das Cotas da  Classe.</a:t>
            </a:r>
          </a:p>
          <a:p>
            <a:r>
              <a:t>CNPJ 55563624000109 · Classes e séries de cotas · Regulamento · ID 1192614 · 2026-04-30 · versão 1 · p. 31 · 15.1.1 · https://fnet.bmfbovespa.com.br/fnet/publico/visualizarDocumento?id=1192614</a:t>
            </a:r>
          </a:p>
          <a:p>
            <a:r>
              <a:t>CNPJ 55563624000109 · Classes e séries de cotas · Excerto da fonte:</a:t>
            </a:r>
          </a:p>
          <a:p>
            <a:r>
              <a:t>15.1.1 Riscos de Crédito:</a:t>
            </a:r>
          </a:p>
          <a:p>
            <a:r>
              <a:t> (i) Risco de concentração na Classe Investida. Nos termos do presente Regulamento, a Classe  deverá manter alocado, no mínimo, 67% (sessenta e sete por cento) do Patrimônio Líquido nas Cotas  da Classe Investida. Alterações na condição econômico-financeira e na expectativa de desempenho ou  resultados da Classe Investida poderão, isolada ou cumulativamente, afetar negativamente o  rendimento do investimento nas Cotas, de forma mais severa do que se a Classe adotasse uma  estratégia de investimento de maior diversificação. O risco associado às aplicações de qualquer fundo  de investimento é diretamente proporcional à concentração da sua carteira, sendo que, quanto maior  essa concentração, maior será a sua vulnerabilidade.</a:t>
            </a:r>
          </a:p>
          <a:p>
            <a:r>
              <a:t> (ii) Risco relativo à Classe Investida. Nos termos deste Anexo, a Classe deverá manter alocado, no  mínimo, 67% (sessenta e sete por cento) do Patrimônio Líquido em Cotas da Classe Investida. Os  investimentos realizados pela Classe Investida poderão estar sujeitos a flutuações típicas do mercado,  risco de crédito, risco sistêmico, condições adversas de liquidez e negociação atípica nos mercados de  atuação, bem como outros riscos diversos. Este Anexo não contém a descrição de todas as  características, incluindo os riscos, da Classe Investida.</a:t>
            </a:r>
          </a:p>
          <a:p>
            <a:r>
              <a:t> (iii) Risco Relativo ao Pagamento de Encargos da Classe Investida. Tendo em vista a estrutura da  Classe Investida – que emitiu cotas sêniores, cotas subordinadas mezanino e cotas subordinadas júnior  – em situação ordinária os encargos da Classe Investida são arcados pelas cotas subordinadas júnior,  que se subordinam às cotas subordinadas mezanino e às cotas sêniores para fins de amortização,  resgate e distribuição de rendimentos, não impactando, portanto, as Cotas da Classe Investida. Não  obstante o funcionamento da Classe Investida em situação ordinária, em cenários extraordinários, na  eventualidade do valor das cotas subordinadas júnior ficar reduzido a zero ou a valor negativo, os  encargos da Classe Investida conforme previstos em seu regulamento, inclusive mas não se limitando  as remunerações dos prestadores de serviços essenciais, passarão a ser arcados pelas cotas  subordinadas mezanino (que são as Cotas da Classe Investida), impactando no valor do investimento  da Classe na Classe Investida, e consequentemente, o investimento dos Cotistas na Classe.</a:t>
            </a:r>
          </a:p>
          <a:p>
            <a:r>
              <a:t> (iv) Riscos referentes à carteira da Classe Investida. Na forma do Anexo Normativo II da Resolução  CVM 175, a Classe Investida investe, direta ou indiretamente, no mínimo, 67% (sessenta e sete por  cento) do seu patrimônio em direitos creditórios originados pela Mercado Pago. O investimento em tais  direitos creditórios está sujeito a fatores de risco específicos, conforme detalhados no regulamento da  Classe Investida, incluindo, mas não se limitando a:</a:t>
            </a:r>
          </a:p>
          <a:p>
            <a:r>
              <a:t> (a) Risco de liquidez dos direitos creditórios. O investimento da Classe Investida em direitos  creditórios apresenta peculiaridades em relação às aplicações usuais da maioria dos  fundos de investimento brasileiros, haja vista que não existe, no Brasil, mercado  secundário com liquidez para tais direitos creditórios. Caso a Classe Investida precise  vender os direitos creditórios adquiridos, poderá não haver mercado comprador para  tais créditos, bem como o preço de alienação de tais direitos creditórios poderá refletir  essa falta de liquidez, causando perda ao patrimônio da Classe Investida e,  consequentemente, à Classe.</a:t>
            </a:r>
          </a:p>
          <a:p>
            <a:r>
              <a:t>CNPJ 55563624000109 · Classes e séries de cotas · AGE · ID 1192603 · 2026-04-30 · versão 1 · p. 1 · 4.1 · https://fnet.bmfbovespa.com.br/fnet/publico/visualizarDocumento?id=1192603</a:t>
            </a:r>
          </a:p>
          <a:p>
            <a:r>
              <a:t>CNPJ 55563624000109 · Classes e séries de cotas · Excerto da fonte:</a:t>
            </a:r>
          </a:p>
          <a:p>
            <a:r>
              <a:t>4.1. Aprovar a alteração do Anexo I da Classe Única para a reorganização do passivo de sua subclasse  única em novas subclasses, quais sejam, subclasse A (“Subclasse A”), subclasse B (“Subclasse B”) e  subclasse C (“Subclasse C” e, quando em conjunto com a Subclasse A e a Subclasse B, as “Subclasses”),  considerando que serão mantidas as condições de investimento originalmente pactuadas com os cotistas,  como critérios de aplicação, resgate, amortização e política de investimento da Classe Única, diferindo-  se, exclusivamente, em relação ao prazo de duração cada Subclasse.</a:t>
            </a:r>
          </a:p>
          <a:p>
            <a:r>
              <a:t>CNPJ 55563624000109 · Classes e séries de cotas · Condição: Documentos atuais selecionados no inventário por categoria/escopo; a data documental isolada não comprova vigência jurídica.</a:t>
            </a:r>
          </a:p>
          <a:p>
            <a:r>
              <a:t>CNPJ 55563624000109 · Classes e séries de cotas · Versão e prevalência: Documentos atuais selecionados no inventário por categoria/escopo; a data documental isolada não comprova vigência jurídica.</a:t>
            </a:r>
          </a:p>
          <a:p>
            <a:r>
              <a:t>CNPJ 55563624000109 · Classes e séries de cotas · Resumo do histórico: {"count": 3, "dates": ["2025-01-31", "2026-01-31", "2026-04-30"], "document_count": 3, "sources": [{"document_id": "1192614", "title": "Regulamento", "reference_date": "2026-04-30", "version": "1", "page": "15", "url": "https://fnet.bmfbovespa.com.br/fnet/publico/visualizarDocumento?id=1192614", "sha256": "f56e63ace0acde41d2f47fb48f1ac7f3f7df5e2d32de092d7c5e075a52516632"}, {"document_id": "1178840", "title": "Demonstrações Financeiras", "reference_date": "2026-01-31", "version": "1", "page": 25, "url": "https://fnet.bmfbovespa.com.br/fnet/publico/visualizarDocumento?id=1178840", "sha256": "c458e98664c5c907ddb5a05a94b120bed4e05295b2bfc420f5ba69af0a229abe"}, {"document_id": "891861", "title": "Demonstrações Financeiras", "reference_date": "2025-01-31", "version": "1", "page": 26, "url": "https://fnet.bmfbovespa.com.br/fnet/publico/visualizarDocumento?id=891861", "sha256": "e9cb9e6ddbe505fe068cfcac33605165a98313489de0d3ce6d4d238263c3f3e7"}], "reference": {"path": "history/55563624000109.json", "criterion_id": "quota_classes", "total_count": 3, "preview_count": 3, "full_text_deferred": true, "sha256": "7835d573fb58a3c19adf5b8ecc2aee2bdbb9a88f7a0c0209b5f262b64c7522e3"}}</a:t>
            </a:r>
          </a:p>
          <a:p>
            <a:r>
              <a:t>CNPJ 62552447000120 · Classes e séries de cotas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Classes e séries de cotas · Resumo do histórico: {"count": 1, "dates": ["2025-09-03"], "document_count": 1, "sources": [{"document_id": "988020", "title": "Instrumento Particular de Emissão de Cotas", "reference_date": "2025-09-03", "version": "1", "page": "5", "url": "https://fnet.bmfbovespa.com.br/fnet/publico/visualizarDocumento?id=988020", "sha256": "8ecc8a771bb9713d64e5fc2052c489664cb0433801a9280db68e5187d35bf7a5"}], "reference": {"path": "history/62552447000120.json", "criterion_id": "quota_classes", "total_count": 1, "preview_count": 1, "full_text_deferred": true, "sha256": "d95db8c0613d67ee84118c734588665265ea6b02f86a0318d6a844cbe1d0f82f"}}</a:t>
            </a:r>
          </a:p>
          <a:p>
            <a:r>
              <a:t>CNPJ 63953620000165 · Classes e séries de cotas · AGE · ID 1313935 · 2026-08-31 · versão 1 · p. 1 · 4.1 · https://fnet.bmfbovespa.com.br/fnet/publico/visualizarDocumento?id=1313935</a:t>
            </a:r>
          </a:p>
          <a:p>
            <a:r>
              <a:t>CNPJ 63953620000165 · Classes e séries de cotas · Excerto da fonte:</a:t>
            </a:r>
          </a:p>
          <a:p>
            <a:r>
              <a:t>4.1. Aprovar a realização da incorporação das parcelas cindidas descritas no Anexo I à presente ata (“Parcelas  Cindidas”), com base no fechamento de 28 de agosto de 2026 (“Data Base”), condicionada à aprovação da cisão  da CLASSE ÚNICA DO MT CONSIGNADO PRIVADO I FUNDO DE INVESTIMENTO EM DIREITOS CREDITÓRIOS  RESPONSABILIDADE LIMITADA, inscrita no CNPJ sob o nº 60.010.416/0001-12 (“Classe Cindida”), com a  subsequente incorporação da respectiva Parcela Cindida, emitindo-se cotas seniores da Classe, a serem  atribuídas integralmente aos cotistas da Classe Cindida, no valor da respectiva Parcela Cindida, na Data-Base, de  acordo com o valor das cotas da Classe na mesma data. A partir da Data Base, todos os direitos e obrigações dos  ativos cindidos serão sucedidos à Classe;</a:t>
            </a:r>
          </a:p>
          <a:p>
            <a:r>
              <a:t>CNPJ 63953620000165 · Classes e séries de cotas · Condição: Documentos atuais selecionados no inventário por categoria/escopo; a data documental isolada não comprova vigência jurídica.</a:t>
            </a:r>
          </a:p>
          <a:p>
            <a:r>
              <a:t>CNPJ 63953620000165 · Classes e séries de cotas · Versão e prevalência: Documentos atuais selecionados no inventário por categoria/escopo; a data documental isolada não comprova vigência jurídica.</a:t>
            </a:r>
          </a:p>
          <a:p>
            <a:r>
              <a:t>CNPJ 63953620000165 · Classes e séries de cotas · Resumo do histórico: {"count": 11, "dates": ["2026-07-29", "2026-08-17", "2026-08-21"], "document_count": 3, "sources": [{"document_id": "1309436", "title": "AGE", "reference_date": "2026-08-21", "version": "1", "page": 1, "clause": "4.1", "url": "https://fnet.bmfbovespa.com.br/fnet/publico/visualizarDocumento?id=1309436", "sha256": "f679de1621039dce7c665e3a742f213fd4d5047e12b96163b31ea4ae86f56817"}, {"document_id": "1298232", "title": "AGE", "reference_date": "2026-08-17", "version": "1", "page": 1, "clause": "4.1", "url": "https://fnet.bmfbovespa.com.br/fnet/publico/visualizarDocumento?id=1298232", "sha256": "75322e306547f725e73a2c6687b598e14d628caa84bd46a23508337a606866f6"}, {"document_id": "1277543", "title": "AGE", "reference_date": "2026-07-29", "version": "1", "page": 1, "url": "https://fnet.bmfbovespa.com.br/fnet/publico/visualizarDocumento?id=1277543", "sha256": "c2fb499fd6e25251a221d4e9dbb5d1378fb5efde5a58eee091868faf52d326c0"}], "reference": {"path": "history/63953620000165.json", "criterion_id": "quota_classes", "total_count": 11, "preview_count": 3, "full_text_deferred": true, "sha256": "a7b89077f5e21098c2d601c303faabc3ff6b9729f89d8afecdc60fe1404720c1"}}</a:t>
            </a:r>
          </a:p>
          <a:p>
            <a:r>
              <a:t>CNPJ 54871427000194 · Ofertas e colocação · AGE · ID 1055482 · 2025-12-02 · versão 1 · p. 1 · 4.1 · https://fnet.bmfbovespa.com.br/fnet/publico/visualizarDocumento?id=1055482</a:t>
            </a:r>
          </a:p>
          <a:p>
            <a:r>
              <a:t>CNPJ 54871427000194 · Ofertas e colocação · Excerto da fonte:</a:t>
            </a:r>
          </a:p>
          <a:p>
            <a:r>
              <a:t>4.1. Aprovar a nova emissão de Cotas pela Classe, todas nominativas e escriturais, com preço unitário de emissão  correspondente ao valor das Cotas da Classe em circulação quando na data de aprovação da Nova Emissão,  perfazendo o montante total de emissão de até R$ 650.000.000 (seiscentos e cinquenta milhões de reais), conforme  as características constantes do Regulamento e do Anexo da Classe (“Novas Cotas” e “Nova Emissão”,  respectivamente), e descritas abaixo:</a:t>
            </a:r>
          </a:p>
          <a:p>
            <a:r>
              <a:t>(i) Rito: as Novas Cotas não serão objeto de oferta pública, conforme facultado pelo artigo 8º, inciso IV, da  Resolução CVM nº 160, uma vez que a Classe se enquadra nos requisitos do referido dispositivo;</a:t>
            </a:r>
          </a:p>
          <a:p>
            <a:r>
              <a:t>(ii) Preço de Emissão: o preço unitário de emissão corresponderá ao valor das Cotas da Classe em circulação  quando na data de aprovação da Nova Emissão (“Preço de Emissão”);</a:t>
            </a:r>
          </a:p>
          <a:p>
            <a:r>
              <a:t>(iii) Preço de Integralização: o Preço de Integralização corresponderá ao valor das Cotas da Classe em  circulação quando da transferência dos valores para liquidação financeira (“Preço de Integralização”);</a:t>
            </a:r>
          </a:p>
          <a:p>
            <a:r>
              <a:t>(iv) Forma de Integralização: as Cotas serão integralizadas à vista, em moeda corrente nacional, pelo Preço  de Integralização, junto ao seu respectivo agente de custódia e/ou da Administradora na qualidade de  escriturador das cotas; e</a:t>
            </a:r>
          </a:p>
          <a:p>
            <a:r>
              <a:t>(v) Período de colocação: a subscrição das Cotas, objeto da Nova Emissão, deverão ser realizadas no prazo  máximo de 180 (cento e oitenta) dias, contados da data de efeitos do presente instrumento.</a:t>
            </a:r>
          </a:p>
          <a:p>
            <a:r>
              <a:t>CNPJ 54871427000194 · Ofertas e colocação · Condição: Trechos do documento específico identificado com data mais recente; vigência jurídica não inferida.</a:t>
            </a:r>
          </a:p>
          <a:p>
            <a:r>
              <a:t>CNPJ 54871427000194 · Ofertas e colocação · Versão e prevalência: Trechos do documento específico identificado com data mais recente; vigência jurídica não inferida.</a:t>
            </a:r>
          </a:p>
          <a:p>
            <a:r>
              <a:t>CNPJ 54871427000194 · Ofertas e colocação · Resumo do histórico: {"count": 7, "dates": ["2024-06-13", "2024-12-10"], "document_count": 3, "sources": [{"document_id": "798101", "title": "Anúncio de Encerramento", "reference_date": "2024-12-10", "version": "1", "page": "1-2", "url": "https://fnet.bmfbovespa.com.br/fnet/publico/visualizarDocumento?id=798101", "sha256": "71618c432ad86002484571d66922b873e4fa91ed3543a109134ddee0bd872f20"}, {"document_id": "679614", "title": "Anúncio de Início", "reference_date": "2024-06-13", "version": "1", "page": 1, "url": "https://fnet.bmfbovespa.com.br/fnet/publico/visualizarDocumento?id=679614", "sha256": "aad43ed14bfa0576144a306c466aea031fce0d01d3cb3de6aebd120f11164bfa"}, {"document_id": "683482", "title": "AGE", "reference_date": "2024-06-13", "version": "1", "page": 2, "url": "https://fnet.bmfbovespa.com.br/fnet/publico/visualizarDocumento?id=683482", "sha256": "3afbe254027691929935eaf19ebbb8634fb2ccd8e2fbea2cb2d81a7818f8d648"}], "reference": {"path": "history/54871427000194.json", "criterion_id": "offers", "total_count": 7, "preview_count": 3, "full_text_deferred": true, "sha256": "35d7cd99be50c7287c9fb675cf4f2e736002315295a225a9efa79c8d9186d874"}}</a:t>
            </a:r>
          </a:p>
          <a:p>
            <a:r>
              <a:t>CNPJ 60010416000112 · Ofertas e colocação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Ofertas e colocação · Resumo do histórico: {"count": 1, "dates": ["2025-03-20"], "document_count": 1, "sources": [{"document_id": "993785", "title": "Instrumento Particular de Constituição/Encerramento do Fundo", "reference_date": "2025-03-20", "version": "1", "page": "1-2", "url": "https://fnet.bmfbovespa.com.br/fnet/publico/visualizarDocumento?id=993785", "sha256": "0826e0eae2c51afabf59bbc49fc7647598d03da5ca6de0f9725850a8bd6af457"}], "reference": {"path": "history/60010416000112.json", "criterion_id": "offers", "total_count": 1, "preview_count": 1, "full_text_deferred": true, "sha256": "8e2bd813f4c51cf01f6bfaad164bafe69d2bbb192f753eac92da3a01c2e63046"}}</a:t>
            </a:r>
          </a:p>
          <a:p>
            <a:r>
              <a:t>CNPJ 62696791000193 · Ofertas e colocação · Regulamento · ID 1143317 · 2026-03-20 · versão 1 · p. 39 · 2.6 · https://fnet.bmfbovespa.com.br/fnet/publico/visualizarDocumento?id=1143317</a:t>
            </a:r>
          </a:p>
          <a:p>
            <a:r>
              <a:t>CNPJ 62696791000193 · Ofertas e colocação · Excerto da fonte:</a:t>
            </a:r>
          </a:p>
          <a:p>
            <a:r>
              <a:t>2.6. O valor de mercado das Cotas de emissão da Classe poderá sofrer oscilações frequentes e  significativas, inclusive ao longo do dia. Como consequência, o valor de mercado das cotas de  emissão da Classe poderá não ref letir necessariamente seu valor patrimonial. Não será devida  pela Classe ou por qualquer pessoa, incluindo as instituições responsáveis pela distribuição  das cotas, os demais Cotistas da Classe, o Administrador e as instituições participantes da  of erta, qualquer multa ou penalidade de qualquer natureza, caso ocorra, por qualquer razão,</a:t>
            </a:r>
          </a:p>
          <a:p>
            <a:r>
              <a:t> (i) o alongamento do período de amortização das Cotas; (ii) a liquidação da Classe; ou, ainda,</a:t>
            </a:r>
          </a:p>
          <a:p>
            <a:r>
              <a:t> (iii) caso os Cotistas sof ram qualquer dano ou prejuízo resultante de tais eventos.</a:t>
            </a:r>
          </a:p>
          <a:p>
            <a:r>
              <a:t>3. Risco TributárioOs rendimentos e ganhos líquidos auf eridos pela Classe em aplicações f inanceiras de  renda f ixa ou de renda variável sujeitam-se à incidência do imposto de renda na f onte, observadas as  mesmas normas aplicáveis às pessoas jurídicas, podendo esse imposto ser compensado com o retido na  f onte pela Classe quando da distribuição de rendimentos e ganhos de capital aos Cotistas. Os rendimentos  auf eridos pela Classe, quando distribuídos aos Cotistas sujeitam-se à incidência do Imposto de Renda na  f onte à alíquota de 20% (vinte por cento). Os rendimentos e ganhos de capital auferidos pelos Cotistas na</a:t>
            </a:r>
          </a:p>
          <a:p>
            <a:r>
              <a:t>CNPJ 62696791000193 · Ofertas e colocação · Regulamento · ID 1143317 · 2026-03-20 · versão 1 · p. 28 · https://fnet.bmfbovespa.com.br/fnet/publico/visualizarDocumento?id=1143317</a:t>
            </a:r>
          </a:p>
          <a:p>
            <a:r>
              <a:t>CNPJ 62696791000193 · Ofertas e colocação · Excerto da fonte:</a:t>
            </a:r>
          </a:p>
          <a:p>
            <a:r>
              <a:t>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equivalente a 0,9% (nove décimos  por cento) ao ano aplicado sobre o Patrimônio Anexo I ao  Regulamento Líquido, observado o limite máximo de 4,5% (quatro  inteiros e cinquenta centésimos por cento) do volume captado na  respectiva oferta (“Taxa Máxima de Distribuição”).A Taxa Máxima de</a:t>
            </a:r>
          </a:p>
          <a:p>
            <a:r>
              <a:t>CNPJ 62696791000193 · Ofertas e colocação · Condição: Documentos atuais selecionados no inventário por categoria/escopo; a data documental isolada não comprova vigência jurídica.</a:t>
            </a:r>
          </a:p>
          <a:p>
            <a:r>
              <a:t>CNPJ 62696791000193 · Ofertas e colocação · Versão e prevalência: Documentos atuais selecionados no inventário por categoria/escopo; a data documental isolada não comprova vigência jurídica.</a:t>
            </a:r>
          </a:p>
          <a:p>
            <a:r>
              <a:t>CNPJ 62696791000193 · Ofertas e colocação · Resumo do histórico: {"count": 1, "dates": ["2026-03-27"], "document_count": 1, "sources": [{"document_id": "1148821", "title": "Instrumento Particular de Emissão de Cotas", "reference_date": "2026-03-27", "version": "1", "page": "1-3", "url": "https://fnet.bmfbovespa.com.br/fnet/publico/visualizarDocumento?id=1148821", "sha256": "86900e9dd498403696bfffbd4196443c83ec4d51ff21135e073c1966e1adf4c0"}], "reference": {"path": "history/62696791000193.json", "criterion_id": "offers", "total_count": 1, "preview_count": 1, "full_text_deferred": true, "sha256": "0e9ec199848320ec945708123ae0cb6075d76c05d94beed814d582031d353926"}}</a:t>
            </a:r>
          </a:p>
          <a:p>
            <a:r>
              <a:t>CNPJ 55563624000109 · Ofertas e colocação · Regulamento · ID 1192614 · 2026-04-30 · versão 1 · p. 25 · 12.9 · https://fnet.bmfbovespa.com.br/fnet/publico/visualizarDocumento?id=1192614</a:t>
            </a:r>
          </a:p>
          <a:p>
            <a:r>
              <a:t>CNPJ 55563624000109 · Ofertas e colocação · Excerto da fonte:</a:t>
            </a:r>
          </a:p>
          <a:p>
            <a:r>
              <a:t>12.9 Inclui-se entre as obrigações do GESTOR, contratar, em nome da Classe, se necessário, com terceiros  devidamente habilitados e autorizados, os serviços de distribuição das Cotas. A distribuição pública das Cotas  deverá ser realizada por distribuidores devidamente autorizados pela CVM, nos termos da regulamentação  aplicável.</a:t>
            </a:r>
          </a:p>
          <a:p>
            <a:r>
              <a:t>CNPJ 55563624000109 · Ofertas e colocação · Condição: Documentos atuais selecionados no inventário por categoria/escopo; a data documental isolada não comprova vigência jurídica.</a:t>
            </a:r>
          </a:p>
          <a:p>
            <a:r>
              <a:t>CNPJ 55563624000109 · Ofertas e colocação · Versão e prevalência: Documentos atuais selecionados no inventário por categoria/escopo; a data documental isolada não comprova vigência jurídica.</a:t>
            </a:r>
          </a:p>
          <a:p>
            <a:r>
              <a:t>CNPJ 55563624000109 · Ofertas e colocação · Resumo do histórico: {"count": 3, "dates": ["2024-07-03"], "document_count": 3, "sources": [{"document_id": "703295", "title": "Anúncio de Início", "reference_date": "2024-07-03", "version": "2", "page": 1, "url": "https://fnet.bmfbovespa.com.br/fnet/publico/visualizarDocumento?id=703295", "sha256": "12322b6dbf75e673723bd60910373db249451b72666792e18e0c7b6128f4608a"}, {"document_id": "702585", "title": "Anúncio de Início", "reference_date": "2024-07-03", "version": "1", "page": 1, "url": "https://fnet.bmfbovespa.com.br/fnet/publico/visualizarDocumento?id=702585", "sha256": "6708609ac7f0611118fb23ffd6d2cd6c7fd33275130407918ea42831baa712cd"}, {"document_id": "691674", "title": "Instrumento Particular de Emissão de Cotas", "reference_date": "2024-07-03", "version": "1", "page": 3, "url": "https://fnet.bmfbovespa.com.br/fnet/publico/visualizarDocumento?id=691674", "sha256": "78bf7b350f1785beae5f43bd209b5ed19e863cb9a2cff01542aac11dd63ca554"}], "reference": {"path": "history/55563624000109.json", "criterion_id": "offers", "total_count": 3, "preview_count": 3, "full_text_deferred": true, "sha256": "7835d573fb58a3c19adf5b8ecc2aee2bdbb9a88f7a0c0209b5f262b64c7522e3"}}</a:t>
            </a:r>
          </a:p>
          <a:p>
            <a:r>
              <a:t>CNPJ 62552447000120 · Ofertas e colocação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Ofertas e colocação · Resumo do histórico: {"count": 1, "dates": ["2025-09-03"], "document_count": 1, "sources": [{"document_id": "988020", "title": "Instrumento Particular de Emissão de Cotas", "reference_date": "2025-09-03", "version": "1", "page": "5-6", "url": "https://fnet.bmfbovespa.com.br/fnet/publico/visualizarDocumento?id=988020", "sha256": "8ecc8a771bb9713d64e5fc2052c489664cb0433801a9280db68e5187d35bf7a5"}], "reference": {"path": "history/62552447000120.json", "criterion_id": "offers", "total_count": 1, "preview_count": 1, "full_text_deferred": true, "sha256": "d95db8c0613d67ee84118c734588665265ea6b02f86a0318d6a844cbe1d0f82f"}}</a:t>
            </a:r>
          </a:p>
          <a:p>
            <a:r>
              <a:t>CNPJ 63953620000165 · Ofertas e colocação · Anexo ao Regulamento · ID 1222863 · 2026-06-02 · versão 1 · p. 10 · 6.9 · https://fnet.bmfbovespa.com.br/fnet/publico/visualizarDocumento?id=1222863</a:t>
            </a:r>
          </a:p>
          <a:p>
            <a:r>
              <a:t>CNPJ 63953620000165 · Ofertas e colocação · Excerto da fonte:</a:t>
            </a:r>
          </a:p>
          <a:p>
            <a:r>
              <a:t>6.9 As Cotas poderão ser objeto de oferta pública a ser realizada nos termos da Resolução CVM 160 (“Oferta”) e/ou  poderão ser colocadas de forma privada (“Colocação Privada”), bem como segundo outros ritos que venham a  ser previstos pela regulamentação. As Cotas deverão ser emitidas e subscritas dentro do prazo e nos termos e  condições da legislação aplicável, do presente Anexo e dos respectivos Boletins de Subscrição e/ou  Compromissos de Investimento.</a:t>
            </a:r>
          </a:p>
          <a:p>
            <a:r>
              <a:t>CNPJ 63953620000165 · Ofertas e colocação · Condição: Documentos atuais selecionados no inventário por categoria/escopo; a data documental isolada não comprova vigência jurídica.</a:t>
            </a:r>
          </a:p>
          <a:p>
            <a:r>
              <a:t>CNPJ 63953620000165 · Ofertas e colocação · Versão e prevalência: Documentos atuais selecionados no inventário por categoria/escopo; a data documental isolada não comprova vigência jurídica.</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Emissões e custos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Remuneração por subclasse e série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Remuneração por subclasse e série · Resumo do histórico: {"count": 1, "dates": ["2024-04-28"], "document_count": 1, "sources": [{"document_id": "670691", "title": "Regulamento", "reference_date": "2024-04-28", "version": "1", "page": "14", "url": "https://fnet.bmfbovespa.com.br/fnet/publico/visualizarDocumento?id=670691", "sha256": "bf16dd7f1a62d5cdbf2e2d54fef81783783f7310fbc99c3a8f00459bdf9d037b"}], "reference": {"path": "history/54871427000194.json", "criterion_id": "remuneration", "total_count": 1, "preview_count": 1, "full_text_deferred": true, "sha256": "35d7cd99be50c7287c9fb675cf4f2e736002315295a225a9efa79c8d9186d874"}}</a:t>
            </a:r>
          </a:p>
          <a:p>
            <a:r>
              <a:t>CNPJ 60010416000112 · Remuneração por subclasse e série · Instrumento Particular de Constituição/Encerramento do Fundo · ID 993785 · 20/03/2025 · versão 1ªemissão20/03/2025 · p. 5 · Suplemento1ªsênior BenchmarkSênior · https://fnet.bmfbovespa.com.br/fnet/publico/visualizarDocumento?id=993785</a:t>
            </a:r>
          </a:p>
          <a:p>
            <a:r>
              <a:t>CNPJ 60010416000112 · Remuneração por subclasse e série · Excerto da fonte:</a:t>
            </a:r>
          </a:p>
          <a:p>
            <a:r>
              <a:t>4,80% (quatro inteiros e oitenta centésimos por cento)calculado por Dia Útil à base de 1/252 (um inteiro e duzentos e cinquenta e dois avos); e (ii) “Benchmark Sênior Adicional”: o parâmetro adicional de rentabilidade a ser buscado pela Classe para remunerar as Cotas Seniores, correspondente 15,00% (quinze por cento) do excesso de spread das Cotas Subordinadas com cap de remuneração total das Cotas Seniores pela variação do CDI acrescido de 6,00% (seis por cento</a:t>
            </a:r>
          </a:p>
          <a:p>
            <a:r>
              <a:t>CNPJ 60010416000112 · Remuneração por subclasse e série · Condição: Termo específico da primeira emissão de 20/03/2025, distinto de taxa deperformance e do suplemento modelo com campos não preenchidos do regulamento.</a:t>
            </a:r>
          </a:p>
          <a:p>
            <a:r>
              <a:t>CNPJ 60010416000112 · Remuneração por subclasse e série · Versão e prevalência: Leitura específica das cláusulas indicadas; condições e conflitos preservados. Seleção documental atual não comprova vigência jurídica por data isolada.</a:t>
            </a:r>
          </a:p>
          <a:p>
            <a:r>
              <a:t>CNPJ 60010416000112 · Remuneração por subclasse e série · Resumo do histórico: {"count": 3, "dates": ["2025-03-20", "2025-05-12"], "document_count": 2, "sources": [{"document_id": "1004656", "title": "AGE", "reference_date": "2025-05-12", "version": "1", "page": 5, "url": "https://fnet.bmfbovespa.com.br/fnet/publico/visualizarDocumento?id=1004656", "sha256": "f6c9c009f6170e2b29f074b98522accec73f0c40efbf11f9ec2c8d3f1402616b"}, {"document_id": "993785", "title": "Instrumento Particular de Constituição/Encerramento do Fundo", "reference_date": "2025-03-20", "version": "1", "page": "4-5", "url": "https://fnet.bmfbovespa.com.br/fnet/publico/visualizarDocumento?id=993785", "sha256": "0826e0eae2c51afabf59bbc49fc7647598d03da5ca6de0f9725850a8bd6af457"}, {"document_id": "993785", "title": "Instrumento Particular de Constituição/Encerramento do Fundo", "reference_date": "2025-03-20", "version": "1", "page": 5, "url": "https://fnet.bmfbovespa.com.br/fnet/publico/visualizarDocumento?id=993785", "sha256": "0826e0eae2c51afabf59bbc49fc7647598d03da5ca6de0f9725850a8bd6af457"}], "reference": {"path": "history/60010416000112.json", "criterion_id": "remuneration", "total_count": 3, "preview_count": 3, "full_text_deferred": true, "sha256": "8e2bd813f4c51cf01f6bfaad164bafe69d2bbb192f753eac92da3a01c2e63046"}}</a:t>
            </a:r>
          </a:p>
          <a:p>
            <a:r>
              <a:t>CNPJ 62696791000193 · Remuneração por subclasse e série · Regulamento · ID 1143317 · 20/03/2026 · versão Regulamento — referência 20/03/2026 · p. 33 · Apêndice Sênior, 1.2 e 1.4 · https://fnet.bmfbovespa.com.br/fnet/publico/visualizarDocumento?id=1143317</a:t>
            </a:r>
          </a:p>
          <a:p>
            <a:r>
              <a:t>CNPJ 62696791000193 · Remuneração por subclasse e série · Excerto da fonte:</a:t>
            </a:r>
          </a:p>
          <a:p>
            <a:r>
              <a:t>1.2. As Cotas Seniores poderão ser divididas em séries com valores e prazos diferenciados para amortização, resgate e remuneração, sendo que cada série terá as mesmas características e conf erirá a seus titulares iguais direitos e obrigações nos termos deste Reg ulamento e do Apêndice ref erente a cada emissão/série de Cotas Seniores. 1.2. Benchmark. A Classe buscará atingir, para as Cotas Seniores, o “Benchmark”, correspondente à 100% (cem por cento) da variação positiva do CDI acrescida de 4,5% (quatro inteiros e cinco décimos por cento) ao ano. 1.3. O Benchmark não representa e nem devem ser considerados uma promessa, garantia ou sugestão de rentabilidade aos Cotistas Seniores, por parte da Classe, do Administrador, do Gestor e/ou do Cedente. 1.4. Independentemente do valor do Patrimônio Líquido da Classe, os Cotistas detentores de Cotas Seniores não f arão jus a uma rentabilidade superior ao Benchmark, o qual representará o limite máximo de remuneração possível para as Cotas Seniores. 2. Emissão, Subscrição e Integralização das Cotas 2.1. A Classe poderá emitir múltiplas Séries de Cotas Seniores, ficando ressalvado, no entanto, que cada nova Série de Cotas Seniores a ser emitida pela Classe</a:t>
            </a:r>
          </a:p>
          <a:p>
            <a:r>
              <a:t>CNPJ 62696791000193 · Remuneração por subclasse e série · Regulamento · ID 1143317 · 20/03/2026 · versão Regulamento — referência 20/03/2026 · p. 34 · Apêndice Sênior, 6.2 · https://fnet.bmfbovespa.com.br/fnet/publico/visualizarDocumento?id=1143317</a:t>
            </a:r>
          </a:p>
          <a:p>
            <a:r>
              <a:t>CNPJ 62696791000193 · Remuneração por subclasse e série · Excerto da fonte:</a:t>
            </a:r>
          </a:p>
          <a:p>
            <a:r>
              <a:t>6.2. Em complemento às Amortizações Programadas de Cotas Seniores, os Cotistas Seniores f arão jus, sempre que o Patrimônio Líquido da Classe assim permita e desde que o Valor Unitário das Cotas Seniores esteja superior ao valor de integralização das Cotas Seniores em circulação, a 50% (cinquenta por cento) de qualquer valor que exceder a Amortização das Cotas Subordinadas, conforme prevista no Apêndice da Subclasse Subordinada, a ser paga na Data de Amortização Programada de Cotas Seniores (“Amortização Extraordinária de Cotas Seniores”). 6.3. Os pagamentos das parcelas de Amortização e/ou de resgate das Cotas Seniores serão ef etuados, em moeda corrente nacional, pelo Valor Unitário das Cotas Seniores no dia do pagamento, calculado na forma descrita neste Apêndice e no Anexo I, por meio de depósito em conta de titularidade dos Cotistas titulares BTG Pactual 2 SAC: 0800 772 28 27 - Ouvidoria: 0800 722 00 48 - btgpactual.com</a:t>
            </a:r>
          </a:p>
          <a:p>
            <a:r>
              <a:t>CNPJ 62696791000193 · Remuneração por subclasse e série · Regulamento · ID 1143317 · 20/03/2026 · versão Regulamento — referência 20/03/2026 · p. 37 · Apêndice Júnior, 4.1–4.2 · https://fnet.bmfbovespa.com.br/fnet/publico/visualizarDocumento?id=1143317</a:t>
            </a:r>
          </a:p>
          <a:p>
            <a:r>
              <a:t>CNPJ 62696791000193 · Remuneração por subclasse e série · Excerto da fonte:</a:t>
            </a:r>
          </a:p>
          <a:p>
            <a:r>
              <a:t>4.1. Caso o Patrimônio Líquido da Classe assim permita, as Cotas Subordinadas f arão jus à amortização semestral, no último Dia Útil dos meses de janeiro e julho de cada ano, de valor equivalente ao excedente do valor de integralização das Cotas Subordinadas em circulação, limitado ao percentual de 100% (cem por cento) da variação positiva do CDI acrescida de 4,50% (quatro inteiros e cinco décimos por cento) ao ano, considerando, para tanto a razão entre (i) o valor de integralização das Cotas Subordinadas Júnior em circulação e (ii) o valor de cada uma das Cotas Subordinadas, a ser paga na Data de Amortização Programada de Cotas Seniores (“Amortização das Cotas Subordinadas”). 4.2. Em complemento às Amortizações das Cotas Subordinadas, os Cotistas Subordinados farão jus, sempre que o Patrimônio Líquido da Classe assim permita e desde que o Valor Unitário das Cotas Subordinadas esteja superior ao valor de integralização das Cotas Subordinadas em circulação, a 50% (cinquenta por cento) de qualquer valor que exceder a Amortização das Cotas Subordinadas, a ser paga na Data de Amortização Programada de Cotas Seniores (“Amortização Extraordinária de Cotas Seniores”). 5. Excesso de Subordinação 5.1. Verif icado excesso de subordinação,</a:t>
            </a:r>
          </a:p>
          <a:p>
            <a:r>
              <a:t>CNPJ 62696791000193 · Remuneração por subclasse e série · Condição: Benchmark é regra de atribuição, condicionado ao PL/resultados, sem garantia de rentabilidade. A subclasse mezanino é autorizada, mas não há apêndice mezanino no PDF consolidado obtido.</a:t>
            </a:r>
          </a:p>
          <a:p>
            <a:r>
              <a:t>CNPJ 62696791000193 · Remuneração por subclasse e série · Versão e prevalência: Leitura específica das cláusulas indicadas; condições e conflitos preservados. Seleção documental atual não comprova vigência jurídica por data isolada.</a:t>
            </a:r>
          </a:p>
          <a:p>
            <a:r>
              <a:t>CNPJ 62696791000193 · Remuneração por subclasse e série · Resumo do histórico: {"count": 1, "dates": ["2026-03-27"], "document_count": 1, "sources": [{"document_id": "1148821", "title": "Instrumento Particular de Emissão de Cotas", "reference_date": "2026-03-27", "version": "1", "page": "1-2", "url": "https://fnet.bmfbovespa.com.br/fnet/publico/visualizarDocumento?id=1148821", "sha256": "86900e9dd498403696bfffbd4196443c83ec4d51ff21135e073c1966e1adf4c0"}], "reference": {"path": "history/62696791000193.json", "criterion_id": "remuneration", "total_count": 1, "preview_count": 1, "full_text_deferred": true, "sha256": "0e9ec199848320ec945708123ae0cb6075d76c05d94beed814d582031d353926"}}</a:t>
            </a:r>
          </a:p>
          <a:p>
            <a:r>
              <a:t>CNPJ 55563624000109 · Remuneração por subclasse e série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55563624000109 · Remuneração por subclasse e série · Resumo do histórico: {"count": 1, "dates": ["2026-04-30"], "document_count": 1, "sources": [{"document_id": "1192614", "title": "Regulamento", "reference_date": "2026-04-30", "version": "1", "page": "16-17", "url": "https://fnet.bmfbovespa.com.br/fnet/publico/visualizarDocumento?id=1192614", "sha256": "f56e63ace0acde41d2f47fb48f1ac7f3f7df5e2d32de092d7c5e075a52516632"}], "reference": {"path": "history/55563624000109.json", "criterion_id": "remuneration", "total_count": 1, "preview_count": 1, "full_text_deferred": true, "sha256": "7835d573fb58a3c19adf5b8ecc2aee2bdbb9a88f7a0c0209b5f262b64c7522e3"}}</a:t>
            </a:r>
          </a:p>
          <a:p>
            <a:r>
              <a:t>CNPJ 62552447000120 · Remuneração por subclasse e série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Remuneração por subclasse e série · Resumo do histórico: {"count": 1, "dates": ["2025-09-03"], "document_count": 1, "sources": [{"document_id": "988020", "title": "Instrumento Particular de Emissão de Cotas", "reference_date": "2025-09-03", "version": "1", "page": "5-6", "url": "https://fnet.bmfbovespa.com.br/fnet/publico/visualizarDocumento?id=988020", "sha256": "8ecc8a771bb9713d64e5fc2052c489664cb0433801a9280db68e5187d35bf7a5"}], "reference": {"path": "history/62552447000120.json", "criterion_id": "remuneration", "total_count": 1, "preview_count": 1, "full_text_deferred": true, "sha256": "d95db8c0613d67ee84118c734588665265ea6b02f86a0318d6a844cbe1d0f82f"}}</a:t>
            </a:r>
          </a:p>
          <a:p>
            <a:r>
              <a:t>CNPJ 63953620000165 · Remuneração por subclasse e série · Anexo ao Regulamento · ID 1222863 · 2026-06-02 · versão 1 · p. 22 · 1.2 · https://fnet.bmfbovespa.com.br/fnet/publico/visualizarDocumento?id=1222863</a:t>
            </a:r>
          </a:p>
          <a:p>
            <a:r>
              <a:t>CNPJ 63953620000165 · Remuneração por subclasse e série · Excerto da fonte:</a:t>
            </a:r>
          </a:p>
          <a:p>
            <a:r>
              <a:t>1.2. Benchmark Sênior. A Classe buscará atingir, para as Cotas Seniores, o Benchmark Sênior, qual seja, (a) para a parcela  do Patrimônio Líquido alocado em Direitos Creditórios Consignado Privado e/ou Ativos de Liquidez MT, a variação  positiva do CDI acrescida de 1,50% (um inteiro e cinco décimos por cento) ao ano, (b) para a parcela do Patrimônio  Líquido alocado em Ativos de Liquidez e/ou Direitos Creditórios TVM, a variação positiva do CDI.</a:t>
            </a:r>
          </a:p>
          <a:p>
            <a:r>
              <a:t>CNPJ 63953620000165 · Remuneração por subclasse e série · Anexo ao Regulamento · ID 1222863 · 2026-06-02 · versão 1 · p. 22 · 1.5 · https://fnet.bmfbovespa.com.br/fnet/publico/visualizarDocumento?id=1222863</a:t>
            </a:r>
          </a:p>
          <a:p>
            <a:r>
              <a:t>CNPJ 63953620000165 · Remuneração por subclasse e série · Excerto da fonte:</a:t>
            </a:r>
          </a:p>
          <a:p>
            <a:r>
              <a:t>1.5. Rentabilidade Adicional Sênior. Adicionalmente ao Benchmark Sênior, as Cotas Seniores efetivamente integralizadas  farão jus a uma rentabilidade adicional equivalente a 0,38% (trinta e oito centésimos por cento) incidente sobre o  montante financeiro integralizado pelo respectivo Cotista das Cotas Seniores (“Rentabilidade Adicional Sênior”), a  ser paga a cada Cotista Sênior, em uma única parcela, em até 40 (quarenta) dias corridos após a integralização das  respectivas Cotas Seniores, sendo automaticamente ajustada em caso de alteração da alíquota ou da forma de  incidência do IOF, e deixando de ser devida na hipótese de sua extinção.</a:t>
            </a:r>
          </a:p>
          <a:p>
            <a:r>
              <a:t> 2. Emissão, Subscrição e Integralização das Cotas</a:t>
            </a:r>
          </a:p>
          <a:p>
            <a:r>
              <a:t>CNPJ 63953620000165 · Remuneração por subclasse e série · Condição: Documentos atuais selecionados no inventário por categoria/escopo; a data documental isolada não comprova vigência jurídica.</a:t>
            </a:r>
          </a:p>
          <a:p>
            <a:r>
              <a:t>CNPJ 63953620000165 · Remuneração por subclasse e série · Versão e prevalência: Documentos atuais selecionados no inventário por categoria/escopo; a data documental isolada não comprova vigência jurídica.</a:t>
            </a:r>
          </a:p>
          <a:p>
            <a:r>
              <a:t>CNPJ 54871427000194 · Volume, VNU e emissão · Anúncio de Encerramento · ID 798101 · 2024-12-10 · versão 1 · p. 1 · https://fnet.bmfbovespa.com.br/fnet/publico/visualizarDocumento?id=798101</a:t>
            </a:r>
          </a:p>
          <a:p>
            <a:r>
              <a:t>CNPJ 54871427000194 · Volume, VNU e emissão · Excerto da fonte:</a:t>
            </a:r>
          </a:p>
          <a:p>
            <a:r>
              <a:t>Informações da Oferta  Valor Bruto da 2ª Quantidade de Cotas  Preço de Emissão da Cota  Emissão emitidas  R$ 55.000.000,00 55.000 R$ 1.000,00</a:t>
            </a:r>
          </a:p>
          <a:p>
            <a:r>
              <a:t>CNPJ 54871427000194 · Volume, VNU e emissão · Condição: Trechos do documento específico identificado com data mais recente; vigência jurídica não inferida.</a:t>
            </a:r>
          </a:p>
          <a:p>
            <a:r>
              <a:t>CNPJ 54871427000194 · Volume, VNU e emissão · Versão e prevalência: Trechos do documento específico identificado com data mais recente; vigência jurídica não inferida.</a:t>
            </a:r>
          </a:p>
          <a:p>
            <a:r>
              <a:t>CNPJ 54871427000194 · Volume, VNU e emissão · Resumo do histórico: {"count": 5, "dates": ["2024-06-11", "2024-06-13", "2024-12-10"], "document_count": 3, "sources": [{"document_id": "798101", "title": "Anúncio de Encerramento", "reference_date": "2024-12-10", "version": "1", "page": "1-2", "url": "https://fnet.bmfbovespa.com.br/fnet/publico/visualizarDocumento?id=798101", "sha256": "71618c432ad86002484571d66922b873e4fa91ed3543a109134ddee0bd872f20"}, {"document_id": "683482", "title": "AGE", "reference_date": "2024-06-13", "version": "1", "page": 1, "clause": "4.1", "url": "https://fnet.bmfbovespa.com.br/fnet/publico/visualizarDocumento?id=683482", "sha256": "3afbe254027691929935eaf19ebbb8634fb2ccd8e2fbea2cb2d81a7818f8d648"}, {"document_id": "677544", "title": "Anúncio de Encerramento", "reference_date": "2024-06-11", "version": "1", "page": 1, "url": "https://fnet.bmfbovespa.com.br/fnet/publico/visualizarDocumento?id=677544", "sha256": "5735adc30829e0e91623167d4fd602de01adb236e3d3e758bddb0a375c7067b1"}], "reference": {"path": "history/54871427000194.json", "criterion_id": "issue_volume", "total_count": 5, "preview_count": 3, "full_text_deferred": true, "sha256": "35d7cd99be50c7287c9fb675cf4f2e736002315295a225a9efa79c8d9186d874"}}</a:t>
            </a:r>
          </a:p>
          <a:p>
            <a:r>
              <a:t>CNPJ 60010416000112 · Volume, VNU e emissão · AGE · ID 1049114 · 2025-11-26 · versão 1 · p. 2 · https://fnet.bmfbovespa.com.br/fnet/publico/visualizarDocumento?id=1049114</a:t>
            </a:r>
          </a:p>
          <a:p>
            <a:r>
              <a:t>CNPJ 60010416000112 · Volume, VNU e emissão · Excerto da fonte:</a:t>
            </a:r>
          </a:p>
          <a:p>
            <a:r>
              <a:t>Este instrumento constitui o suplemento nº 3 (“Suplemento”) referente à 1ª emissão de cotas da Série B  da Subclasse Sênior da CLASSE ÚNICA DO MT CONSIGNADO PRIVADO I FUNDO DE  INVESTIMENTO EM DIREITOS CREDITÓRIOS RESPONSABILIDADE LIMITADA (“Classe” e  “FUNDO”, respectivamente), administrado pela BTG Pactual Serviços Financeiros S.A. Distribuidora  de Títulos e Valores Mobiliários, instituição com sede no Município do Rio de Janeiro, Estado do Rio de  Janeiro, na Praia de Botafogo, nº 501, 5º andar – parte, inscrita no CNPJ sob o nº 59.281.253/0001-23,  autorizada a funcionar pelo Banco Central do Brasil e autorizada pela Comissão de Valores Mobiliários  (“CVM”) para a atividade de administração de carteiras de valores mobiliários, de acordo com o Ato  Declaratório nº 8.695, de 20 de março de 2006 (“ADMINISTRADOR”), emitidas nos termos do regulamento  do FUNDO, do anexo descritivo da Classe do respectivo apêndice, devidamente registrado perante a CVM  (“Regulamento”, “Anexo da Classe”, “Apêndice” e “Cotas Seniores” respectivamente), a qual terá as  seguintes características:</a:t>
            </a:r>
          </a:p>
          <a:p>
            <a:r>
              <a:t> Número de Emissão, Valor São emitidas no âmbito da 1ª emissão da 3ª Série de Cotas Seniores da  Total da Emissão e Forma Classe, de 2,000,000 (dois milhões) de Cotas da 3ª Série da Subclasse  de Distribuição Sênior da Classe, com valor nominal unitário de R$ 1.000,00 (mil reais)  cada, totalizando o montante de R$ 2.000.000.000,00 (dois bilhões de  reais), as quais serão objeto de colocação privada, destinada ao Público-  Alvo (conforme definido no Anexo da Classe) (“Colocação Privada”).</a:t>
            </a:r>
          </a:p>
          <a:p>
            <a:r>
              <a:t> Valor Unitário de Emissão As Cotas Seniores da 3ª Série terão um valor unitário de R$ 1.000,00 (mil  reais) na respectiva Data de Emissão.</a:t>
            </a:r>
          </a:p>
          <a:p>
            <a:r>
              <a:t> Data de Emissão Data da 1ª Integralização.</a:t>
            </a:r>
          </a:p>
          <a:p>
            <a:r>
              <a:t> Valor Unitário de As Cotas Seniores da 3ª Série serão subscritas pelo Valor Unitário de  Integralização Emissão, e serão integralizadas pelo respectivo Valor Unitário, nos  termos do Regulamento, do Apêndice e deste Suplemento, sendo certo  que, nas emissões de novas Cotas Seniores da 3ª Série que não difiram,  em sua respectiva Subclasse, das Cotas Seniores da 3ª Série então em  circulação, o Valor Unitário de Integralização corresponderá ao Valor  Unitário da Cota apurado no Dia Útil em que os recursos aportados pelo  Cotista tornem-se efetivamente disponíveis à Classe.</a:t>
            </a:r>
          </a:p>
          <a:p>
            <a:r>
              <a:t> Investimento Mínimo por Não há  Investidor  Forma de Subscrição e As Cotas Seniores da 3ª Série deverão ser integralizadas, à vista, em  Integralização moeda corrente nacional, pelo Valor Unitário de Integralização, no ato de  subscrição.</a:t>
            </a:r>
          </a:p>
          <a:p>
            <a:r>
              <a:t> Ao subscrever Cotas Seniores da 3ª Série, cada Investidor deverá  assinar o Termo de Adesão, no qual confirmará, dentre outros, ter  conhecimento de todos os termos e condições do Fundo e do</a:t>
            </a:r>
          </a:p>
          <a:p>
            <a:r>
              <a:t>CNPJ 60010416000112 · Volume, VNU e emissão · Condição: Trechos do documento específico identificado com data mais recente; vigência jurídica não inferida.</a:t>
            </a:r>
          </a:p>
          <a:p>
            <a:r>
              <a:t>CNPJ 60010416000112 · Volume, VNU e emissão · Motivo: Cláusula primária localizada e citada, mas sua lista/condições extensas não admitem uma síntese literal curta confirmada. O trecho integral permanece nas fontes. A resposta da revisão anterior foi preservada no histórico, sem confirmação pelo documento atual.</a:t>
            </a:r>
          </a:p>
          <a:p>
            <a:r>
              <a:t>CNPJ 60010416000112 · Volume, VNU e emissão · Versão e prevalência: Trechos do documento específico identificado com data mais recente; vigência jurídica não inferida.</a:t>
            </a:r>
          </a:p>
          <a:p>
            <a:r>
              <a:t>CNPJ 60010416000112 · Volume, VNU e emissão · Resumo do histórico: {"count": 3, "dates": ["2025-03-20", "2025-05-12"], "document_count": 2, "sources": [{"document_id": "1004656", "title": "AGE", "reference_date": "2025-05-12", "version": "1", "page": 4, "url": "https://fnet.bmfbovespa.com.br/fnet/publico/visualizarDocumento?id=1004656", "sha256": "f6c9c009f6170e2b29f074b98522accec73f0c40efbf11f9ec2c8d3f1402616b"}, {"document_id": "993785", "title": "Instrumento Particular de Constituição/Encerramento do Fundo", "reference_date": "2025-03-20", "version": "1", "page": "2", "url": "https://fnet.bmfbovespa.com.br/fnet/publico/visualizarDocumento?id=993785", "sha256": "0826e0eae2c51afabf59bbc49fc7647598d03da5ca6de0f9725850a8bd6af457"}, {"document_id": "993785", "title": "Instrumento Particular de Constituição/Encerramento do Fundo", "reference_date": "2025-03-20", "version": "1", "page": 2, "url": "https://fnet.bmfbovespa.com.br/fnet/publico/visualizarDocumento?id=993785", "sha256": "0826e0eae2c51afabf59bbc49fc7647598d03da5ca6de0f9725850a8bd6af457"}], "reference": {"path": "history/60010416000112.json", "criterion_id": "issue_volume", "total_count": 3, "preview_count": 3, "full_text_deferred": true, "sha256": "8e2bd813f4c51cf01f6bfaad164bafe69d2bbb192f753eac92da3a01c2e63046"}}</a:t>
            </a:r>
          </a:p>
          <a:p>
            <a:r>
              <a:t>CNPJ 62696791000193 · Volume, VNU e emissão · Instrumento Particular de Emissão de Cotas · ID 1148821 · 27/03/2026 · versão Instrumento Particular de Emissão de Cotas — referência 27/03/2026 · p. 1 · Deliberação Conjunta, item1 · https://fnet.bmfbovespa.com.br/fnet/publico/visualizarDocumento?id=1148821</a:t>
            </a:r>
          </a:p>
          <a:p>
            <a:r>
              <a:t>CNPJ 62696791000193 · Volume, VNU e emissão · Excerto da fonte:</a:t>
            </a:r>
          </a:p>
          <a:p>
            <a:r>
              <a:t>1. Aprovar a 2ª (segunda) emissão da Subclasse Subordinada Júnior da Classe, composta por até 20.000 (vinte mil) Cotas Subordinadas Júnior, com valor nominal unitário de R$ 1.000,00 (mil reais), perfazendo o montante total de R$ 20.000.000,00 (vinte milhões de reais), as quais serão objeto de colocação privada, de acordo com os termos e condições definidos no Apêndice da Subclasse Subordinada Júnior constante do Anexo I Regulamento e descritas abaixo (“2ª Emissão da Subclasse Subordinada Júnior”): a) Rito: as Cotas Subordinadas Júnior objeto da 2ª Emissão da Subclasse Subordinada Júnior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Subordinada Júnior na data de integralização, calculado na forma prevista no respectivo Apêndice; BTG Pactual 1 SAC: 0800 772 28 27 - Ouvidoria: 0800 722 00 48 - btgpactual.com</a:t>
            </a:r>
          </a:p>
          <a:p>
            <a:r>
              <a:t>CNPJ 62696791000193 · Volume, VNU e emissão · Instrumento Particular de Emissão de Cotas · ID 1148821 · 27/03/2026 · versão Instrumento Particular de Emissão de Cotas — referência 27/03/2026 · p. 2 · Deliberação Conjunta, item2 · https://fnet.bmfbovespa.com.br/fnet/publico/visualizarDocumento?id=1148821</a:t>
            </a:r>
          </a:p>
          <a:p>
            <a:r>
              <a:t>CNPJ 62696791000193 · Volume, VNU e emissão · Excerto da fonte:</a:t>
            </a:r>
          </a:p>
          <a:p>
            <a:r>
              <a:t>2. Aprovar a 2ª (segunda) emissão da Subclasse Sênior da Classe, composta por até 150.000 (cento e cinquenta mil) Cotas Seniores, com valor nominal unitário de R$ 1.000,00 (mil reais), perfazendo o montante total de R$ 150.000.000,00 (cento e cinquenta milhões de reais), as quais serão objeto de colocação privada, de acordo com os termos e condições descritos no Apêndice da Subclasse Sênior constante do Anexo I Regulamento e descritas abaixo (“2ª Emissão da Subclasse Sênior”): a) Rito: as Cotas Seniores objeto da 2ª Emissão da Subclasse Sênior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Sênior na data de integralização, calculado na forma prevista no respectivo Apêndice; d) Forma de Integralização: as Cotas Seniores serão integralizadas mediante chamadas de capital, junto ao seu respectivo agente de custódia e/ou da Administradora na qualidade de escriturador das cotas, nos termos d</a:t>
            </a:r>
          </a:p>
          <a:p>
            <a:r>
              <a:t>CNPJ 62696791000193 · Volume, VNU e emissão · Condição: Volumes autorizados de emissão não comprovam captação ou integralização observada.</a:t>
            </a:r>
          </a:p>
          <a:p>
            <a:r>
              <a:t>CNPJ 62696791000193 · Volume, VNU e emissão · Versão e prevalência: Leitura específica das cláusulas indicadas; condições e conflitos preservados. Seleção documental atual não comprova vigência jurídica por data isolada.</a:t>
            </a:r>
          </a:p>
          <a:p>
            <a:r>
              <a:t>CNPJ 62696791000193 · Volume, VNU e emissão · Resumo do histórico: {"count": 2, "dates": ["2026-03-20", "2026-03-27"], "document_count": 2, "sources": [{"document_id": "1148821", "title": "Instrumento Particular de Emissão de Cotas", "reference_date": "2026-03-27", "version": "1", "page": "1-2", "url": "https://fnet.bmfbovespa.com.br/fnet/publico/visualizarDocumento?id=1148821", "sha256": "86900e9dd498403696bfffbd4196443c83ec4d51ff21135e073c1966e1adf4c0"}, {"document_id": "1143317", "title": "Regulamento", "reference_date": "2026-03-20", "version": "1", "page": 23, "clause": "11.3", "url": "https://fnet.bmfbovespa.com.br/fnet/publico/visualizarDocumento?id=1143317", "sha256": "32f62818d51c3ebeaf9ec012d3d7867f15c1aed6d10f0867c157a290df1cea48"}], "reference": {"path": "history/62696791000193.json", "criterion_id": "issue_volume", "total_count": 2, "preview_count": 2, "full_text_deferred": true, "sha256": "0e9ec199848320ec945708123ae0cb6075d76c05d94beed814d582031d353926"}}</a:t>
            </a:r>
          </a:p>
          <a:p>
            <a:r>
              <a:t>CNPJ 55563624000109 · Volume, VNU e emissão · Regulamento · ID 1192614 · 2026-04-30 · versão 1 · p. 17 · 5.13.2 · https://fnet.bmfbovespa.com.br/fnet/publico/visualizarDocumento?id=1192614</a:t>
            </a:r>
          </a:p>
          <a:p>
            <a:r>
              <a:t>CNPJ 55563624000109 · Volume, VNU e emissão · Excerto da fonte:</a:t>
            </a:r>
          </a:p>
          <a:p>
            <a:r>
              <a:t>5.13.2 Caso um Cotista do Fundo pretenda transferir suas Cotas para terceiros (“Cotista Vendedor”), deverá  notificar previamente o GESTOR, via e-mail, manifestando sua proposta de alienação de Cotas, a qual  deve incluir o interessado na aquisição e a quantidade de Cotas a serem alienadas e o preço para tal  alienação (“Proposta de Venda”). O GESTOR deverá manifestar aprovação para alienação das Cotas  objeto da Proposta de Venda (“Cotas Objeto”) em até 5 (cinco) Dias Úteis, observado que a ausência de  aprovação deverá ser entendida como aprovação tácita à alienação das Cotas Objeto.</a:t>
            </a:r>
          </a:p>
          <a:p>
            <a:r>
              <a:t>CNPJ 55563624000109 · Volume, VNU e emissão · Regulamento · ID 1192614 · 2026-04-30 · versão 1 · p. 39 · https://fnet.bmfbovespa.com.br/fnet/publico/visualizarDocumento?id=1192614</a:t>
            </a:r>
          </a:p>
          <a:p>
            <a:r>
              <a:t>CNPJ 55563624000109 · Volume, VNU e emissão · Excerto da fonte:</a:t>
            </a:r>
          </a:p>
          <a:p>
            <a:r>
              <a:t>(xxi) Ausência de propriedade direta dos ativos. Os direitos dos Cotistas serão exercidos sobre  todos os ativos da Carteira de modo não individualizado, proporcionalmente à quantidade de Cotas  detidas por cada um. Portanto, os Cotistas não terão qualquer direito de propriedade direta sobre as  Cotas da Classe Investida e os Ativos Financeiros de Liquidez integrantes da Carteira, ou mesmo sobre  os direitos creditórios e os ativos financeiros de liquidez integrantes da carteira da Classe Investida.</a:t>
            </a:r>
          </a:p>
          <a:p>
            <a:r>
              <a:t>CNPJ 55563624000109 · Volume, VNU e emissão · Condição: Documentos atuais selecionados no inventário por categoria/escopo; a data documental isolada não comprova vigência jurídica.</a:t>
            </a:r>
          </a:p>
          <a:p>
            <a:r>
              <a:t>CNPJ 55563624000109 · Volume, VNU e emissão · Versão e prevalência: Documentos atuais selecionados no inventário por categoria/escopo; a data documental isolada não comprova vigência jurídica.</a:t>
            </a:r>
          </a:p>
          <a:p>
            <a:r>
              <a:t>CNPJ 55563624000109 · Volume, VNU e emissão · Resumo do histórico: {"count": 3, "dates": ["2024-12-30", "2025-01-31", "2026-01-31"], "document_count": 3, "sources": [{"document_id": "1178840", "title": "Demonstrações Financeiras", "reference_date": "2026-01-31", "version": "1", "page": 25, "url": "https://fnet.bmfbovespa.com.br/fnet/publico/visualizarDocumento?id=1178840", "sha256": "c458e98664c5c907ddb5a05a94b120bed4e05295b2bfc420f5ba69af0a229abe"}, {"document_id": "891861", "title": "Demonstrações Financeiras", "reference_date": "2025-01-31", "version": "1", "page": 26, "url": "https://fnet.bmfbovespa.com.br/fnet/publico/visualizarDocumento?id=891861", "sha256": "e9cb9e6ddbe505fe068cfcac33605165a98313489de0d3ce6d4d238263c3f3e7"}, {"document_id": "811323", "title": "Anúncio de Encerramento", "reference_date": "2024-12-30", "version": "1", "page": 1, "url": "https://fnet.bmfbovespa.com.br/fnet/publico/visualizarDocumento?id=811323", "sha256": "ebc6bc661be5189acffb3c3e352de2aea0a8ca8431011d1237e1ae19da4f9c79"}], "reference": {"path": "history/55563624000109.json", "criterion_id": "issue_volume", "total_count": 3, "preview_count": 3, "full_text_deferred": true, "sha256": "7835d573fb58a3c19adf5b8ecc2aee2bdbb9a88f7a0c0209b5f262b64c7522e3"}}</a:t>
            </a:r>
          </a:p>
          <a:p>
            <a:r>
              <a:t>CNPJ 62552447000120 · Volume, VNU e emissão · AGE · ID 1315103 · 2026-09-08 · versão 1 · p. 1 · https://fnet.bmfbovespa.com.br/fnet/publico/visualizarDocumento?id=1315103</a:t>
            </a:r>
          </a:p>
          <a:p>
            <a:r>
              <a:t>CNPJ 62552447000120 · Volume, VNU e emissão · Excerto da fonte:</a:t>
            </a:r>
          </a:p>
          <a:p>
            <a:r>
              <a:t>a) Rito: as cotas objeto da Segunda Emissão não estão sujeitas a regulamentação  de oferta de valores mobiliários, conforme facultado pelo Art. 8º, inciso II, da  Resolução CVM nº 160, de 13 de julho de 2022;</a:t>
            </a:r>
          </a:p>
          <a:p>
            <a:r>
              <a:t> b) Preço de Emissão: R$ 1.000,00 (mil reais);</a:t>
            </a:r>
          </a:p>
          <a:p>
            <a:r>
              <a:t> c) Quantidade de Cotas: 10.000 (dez mil) Cotas;</a:t>
            </a:r>
          </a:p>
          <a:p>
            <a:r>
              <a:t> d) Preço de Integralização: será o valor da Cota vigente na data de integralização,  nos termos do respectivo boletim de subscrição;</a:t>
            </a:r>
          </a:p>
          <a:p>
            <a:r>
              <a:t> e) Forma de Integralização: as Cotas serão integralizadas à vista, em moeda  corrente nacional, junto ao seu respectivo agente de custódia e/ou da  Administradora na qualidade de escriturador das cotas;</a:t>
            </a:r>
          </a:p>
          <a:p>
            <a:r>
              <a:t> f) Período de colocação: a subscrição das Cotas, objeto da Segunda Emissão,  deverão ser realizadas no prazo máximo de 180 (cento e oitenta) dias, contados  da data de efeitos do presente instrumento.</a:t>
            </a:r>
          </a:p>
          <a:p>
            <a:r>
              <a:t>CNPJ 62552447000120 · Volume, VNU e emissão · Condição: Trechos do documento específico identificado com data mais recente; vigência jurídica não inferida.</a:t>
            </a:r>
          </a:p>
          <a:p>
            <a:r>
              <a:t>CNPJ 62552447000120 · Volume, VNU e emissão · Versão e prevalência: Trechos do documento específico identificado com data mais recente; vigência jurídica não inferida.</a:t>
            </a:r>
          </a:p>
          <a:p>
            <a:r>
              <a:t>CNPJ 62552447000120 · Volume, VNU e emissão · Resumo do histórico: {"count": 2, "dates": ["2025-09-03"], "document_count": 1, "sources": [{"document_id": "988020", "title": "Instrumento Particular de Emissão de Cotas", "reference_date": "2025-09-03", "version": "1", "page": "5", "url": "https://fnet.bmfbovespa.com.br/fnet/publico/visualizarDocumento?id=988020", "sha256": "8ecc8a771bb9713d64e5fc2052c489664cb0433801a9280db68e5187d35bf7a5"}, {"document_id": "988020", "title": "Instrumento Particular de Emissão de Cotas", "reference_date": "2025-09-03", "version": "1", "page": 2, "url": "https://fnet.bmfbovespa.com.br/fnet/publico/visualizarDocumento?id=988020", "sha256": "8ecc8a771bb9713d64e5fc2052c489664cb0433801a9280db68e5187d35bf7a5"}], "reference": {"path": "history/62552447000120.json", "criterion_id": "issue_volume", "total_count": 2, "preview_count": 2, "full_text_deferred": true, "sha256": "d95db8c0613d67ee84118c734588665265ea6b02f86a0318d6a844cbe1d0f82f"}}</a:t>
            </a:r>
          </a:p>
          <a:p>
            <a:r>
              <a:t>CNPJ 63953620000165 · Volume, VNU e emissão · Demonstrações Financeiras - Fusão, cisão e incorporação · ID 1327859 · 2026-05-15 · versão 1 · p. 31 · 15.000.000 · https://fnet.bmfbovespa.com.br/fnet/publico/visualizarDocumento?id=1327859</a:t>
            </a:r>
          </a:p>
          <a:p>
            <a:r>
              <a:t>CNPJ 63953620000165 · Volume, VNU e emissão · Excerto da fonte:</a:t>
            </a:r>
          </a:p>
          <a:p>
            <a:r>
              <a:t>15.000.000 (quinze bilhões de reais), , a serem objeto de colocação privada, nos termos  do Regulamento, da Resolução CVM 175 e do respectivo boletim de subscrição nos  seguintes termos:</a:t>
            </a:r>
          </a:p>
          <a:p>
            <a:r>
              <a:t> a. Montante Total da Colocação Privada: R$ 15.000.000 (quinze bilhões de  reais)  b. Quantidade de Cotas: 15.000.000 (quinze milhões) de Cotas Seniores;</a:t>
            </a:r>
          </a:p>
          <a:p>
            <a:r>
              <a:t> c. Preço de Emissão (Valor Unitário): R$ 1 (mil reais);</a:t>
            </a:r>
          </a:p>
          <a:p>
            <a:r>
              <a:t> d. Forma e Preço de Integralização: as Cotas serão integralizadas na forma  prevista no Boletim de Subscrição;</a:t>
            </a:r>
          </a:p>
          <a:p>
            <a:r>
              <a:t> e. Prazo da Colocação Privada: as Cotas serão colocadas em até 180 (cento e  oitenta) dias da data deste IPA.</a:t>
            </a:r>
          </a:p>
          <a:p>
            <a:r>
              <a:t>CNPJ 63953620000165 · Volume, VNU e emissão · Demonstrações Financeiras - Fusão, cisão e incorporação · ID 1327859 · 2026-05-15 · versão 1 · p. 31 · https://fnet.bmfbovespa.com.br/fnet/publico/visualizarDocumento?id=1327859</a:t>
            </a:r>
          </a:p>
          <a:p>
            <a:r>
              <a:t>CNPJ 63953620000165 · Volume, VNU e emissão · Excerto da fonte:</a:t>
            </a:r>
          </a:p>
          <a:p>
            <a:r>
              <a:t>Em Instrumento Particular de Alteração do MT Global Fundo de Investimento em Direitos  Creditórios, realizada em 08 de janeiro de 2026, foram deliberadas as seguintes matérias:</a:t>
            </a:r>
          </a:p>
          <a:p>
            <a:r>
              <a:t>(i) Alterar regulamento vigente da classe em relação aos itens 4.17.1, 6.8 e o Capítulo 13,</a:t>
            </a:r>
          </a:p>
          <a:p>
            <a:r>
              <a:t> (b) incluir o item 3.1, 8.1.(ii), 8.2, 8.2.1, e 10.2.(xvii); e (c) excluir os itens 6.8.1, 6.8.2,</a:t>
            </a:r>
          </a:p>
          <a:p>
            <a:r>
              <a:t>(ii) Aprovar a 1ª (primeira) emissão de cotas seniores das Classes (“Cotas Seniores”), em  sistema de vasos comunicantes entre as Classes, de forma que a quantidade de Cotas  Seniores integralizadas em uma das Classes será deduzida da quantidade de Cotas  Seniores disponíveis para integralização nas demais Classes, no montante total de R$</a:t>
            </a:r>
          </a:p>
          <a:p>
            <a:r>
              <a:t>CNPJ 63953620000165 · Volume, VNU e emissão · Demonstrações Financeiras - Fusão, cisão e incorporação · ID 1327859 · 2026-05-15 · versão 1 · p. 32 · https://fnet.bmfbovespa.com.br/fnet/publico/visualizarDocumento?id=1327859</a:t>
            </a:r>
          </a:p>
          <a:p>
            <a:r>
              <a:t>CNPJ 63953620000165 · Volume, VNU e emissão · Excerto da fonte:</a:t>
            </a:r>
          </a:p>
          <a:p>
            <a:r>
              <a:t>f. Montante Total da Colocação Privada: R$ 7.000 (sete milhões de reais);</a:t>
            </a:r>
          </a:p>
          <a:p>
            <a:r>
              <a:t> g. Quantidade de Cotas: 7.000 (sete mil) de Cotas Subordinadas CP  h. Preço de Emissão (Valor Unitário): R$ 1 (mil reais);</a:t>
            </a:r>
          </a:p>
          <a:p>
            <a:r>
              <a:t> i. Forma e Preço de Integralização: as Cotas serão integralizadas na forma  prevista no Boletim de Subscrição;</a:t>
            </a:r>
          </a:p>
          <a:p>
            <a:r>
              <a:t> j. Prazo da Colocação Privada: as Cotas serão colocadas em até 180 (cento e  oitenta) dias da data deste IPA.</a:t>
            </a:r>
          </a:p>
          <a:p>
            <a:r>
              <a:t>CNPJ 63953620000165 · Volume, VNU e emissão · Condição: Trechos do documento específico identificado com data mais recente; vigência jurídica não inferida.</a:t>
            </a:r>
          </a:p>
          <a:p>
            <a:r>
              <a:t>CNPJ 63953620000165 · Volume, VNU e emissão · Versão e prevalência: Trechos do documento específico identificado com data mais recente; vigência jurídica não inferida.</a:t>
            </a:r>
          </a:p>
          <a:p>
            <a:r>
              <a:t>CNPJ 63953620000165 · Volume, VNU e emissão · Resumo do histórico: {"count": 8, "dates": ["2026-04-16", "2026-04-28", "2026-05-08"], "document_count": 3, "sources": [{"document_id": "1298691", "title": "Demonstrações Financeiras - Fusão, cisão e incorporação", "reference_date": "2026-05-08", "version": "1", "page": 32, "url": "https://fnet.bmfbovespa.com.br/fnet/publico/visualizarDocumento?id=1298691", "sha256": "58c570d9b8d4d265330d3db3ea81c435b8e44a6dab4002aa37790652a1ee9819"}, {"document_id": "1282180", "title": "Demonstrações Financeiras - Fusão, cisão e incorporação", "reference_date": "2026-04-28", "version": "1", "page": 32, "clause": "15.000.000", "url": "https://fnet.bmfbovespa.com.br/fnet/publico/visualizarDocumento?id=1282180", "sha256": "afaaa0e6809be4385e5bdb6c911aac582032c5bdbac3d7750234bf9eaf00438a"}, {"document_id": "1282179", "title": "Demonstrações Financeiras - Fusão, cisão e incorporação", "reference_date": "2026-04-16", "version": "1", "page": 32, "clause": "15.000.000", "url": "https://fnet.bmfbovespa.com.br/fnet/publico/visualizarDocumento?id=1282179", "sha256": "beb67afbcd64169019477673fd3b7c1edbfabbd9db07379388d8cdd5d3fc9395"}], "reference": {"path": "history/63953620000165.json", "criterion_id": "issue_volume", "total_count": 8, "preview_count": 3, "full_text_deferred": true, "sha256": "a7b89077f5e21098c2d601c303faabc3ff6b9729f89d8afecdc60fe1404720c1"}}</a:t>
            </a:r>
          </a:p>
          <a:p>
            <a:r>
              <a:t>CNPJ 54871427000194 · Administração: taxa, base e mínimo · Regulamento · ID 670691 · 28/04/2024 · versão Regulamento — referência 28/04/2024 · p. 25 · Anexo I, 13.1 · https://fnet.bmfbovespa.com.br/fnet/publico/visualizarDocumento?id=670691</a:t>
            </a:r>
          </a:p>
          <a:p>
            <a:r>
              <a:t>CNPJ 54871427000194 · Administração: taxa, base e mínimo · Excerto da fonte:</a:t>
            </a:r>
          </a:p>
          <a:p>
            <a:r>
              <a:t>13.1 Pelos serviços de administração, tesouraria, controladoria e escrituração, a Classe pagará a Taxa de Administração nos seguintes moldes: o valor correspondente a 0,10% (dez centésimos por cento) ao ano aplicado sobre o Patrimônio Líquido, observado o valor mínimo de R$ 10.000,00 (dez mil reais) mensais atualizado pela variação positiva do IGP-M a cada período de 12 (doze) meses, contados a partir do mês em que ocorrer a primeira integralização de Cotas (inclusive). 13.1.1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BTG Pactual SAC: 0800 772 28 27 - Ouvidoria: 0800 722 00 48 - btgpactual.com 19</a:t>
            </a:r>
          </a:p>
          <a:p>
            <a:r>
              <a:t>CNPJ 54871427000194 · Administração: taxa, base e mínimo · Regulamento · ID 670691 · 28/04/2024 · versão Regulamento — referência 28/04/2024 · p. 26 · Anexo I, 13.1.2–13.1.3 · https://fnet.bmfbovespa.com.br/fnet/publico/visualizarDocumento?id=670691</a:t>
            </a:r>
          </a:p>
          <a:p>
            <a:r>
              <a:t>CNPJ 54871427000194 · Administração: taxa, base e mínimo · Excerto da fonte:</a:t>
            </a:r>
          </a:p>
          <a:p>
            <a:r>
              <a:t>13.1.2 A Taxa de Administração será calculada e provisionada todo Dia Útil à razão de 1/252 (um inteiro e duzentos e cinquenta e dois avos) com base no valor do Patrimônio Líquido do Dia Útil anterior. 13.1.3 A Taxa de Administração será paga mensalmente ao ADMINISTRADOR, observado o disposto no item 13.2 abaixo, por período vencido, até o 5º (quinto) Dia Útil do mês subsequente à prestação dos serviços, a partir do mês em que ocorrer a primeira integralização de Cotas da Classe. 13.2 O ADMINISTRADOR poderá estabelecer que parcelas da Taxa de Administração sejam pagas diretamente pela Classe aos prestadores de serviços contratados, desde que o somatório dessas parcelas não exceda o montante total da Taxa de Administração. 13.3 Não serão cobradas da Classe ou dos Cotistas taxas de perf ormance, de ingresso ou de saída. Taxa de Gestão 13.4 Pelos serviços de gestão, a Classe pagará a Taxa de Gestão nos seguintes moldes: o valor correspondente a 0,20% (vinte centésimos por cento) ao ano aplicado sobre o Patrimônio Líquido, observado o valor mínimo de R$ 15.000,00 (quinze mil reais) mensais atualizado pela variação positiva do IGP-M a cada período de 12 (</a:t>
            </a:r>
          </a:p>
          <a:p>
            <a:r>
              <a:t>CNPJ 54871427000194 · Administração: taxa, base e mínimo · Versão e prevalência: Leitura específica das cláusulas indicadas; condições e conflitos preservados. Seleção documental atual não comprova vigência jurídica por data isolada.</a:t>
            </a:r>
          </a:p>
          <a:p>
            <a:r>
              <a:t>CNPJ 54871427000194 · Administração: taxa, base e mínimo · Resumo do histórico: {"count": 2, "dates": ["2024-04-19", "2024-04-28"], "document_count": 2, "sources": [{"document_id": "670691", "title": "Regulamento", "reference_date": "2024-04-28", "version": "1", "page": "25-26", "url": "https://fnet.bmfbovespa.com.br/fnet/publico/visualizarDocumento?id=670691", "sha256": "bf16dd7f1a62d5cdbf2e2d54fef81783783f7310fbc99c3a8f00459bdf9d037b"}, {"document_id": "670689", "title": "Regulamento", "reference_date": "2024-04-19", "version": "1", "page": 26, "clause": "13.1", "url": "https://fnet.bmfbovespa.com.br/fnet/publico/visualizarDocumento?id=670689", "sha256": "891bc9bc5d87bbc02ec139077a84d2702eb81ea02035fb71d24f5b8366b94a0b"}], "reference": {"path": "history/54871427000194.json", "criterion_id": "admin_fee", "total_count": 2, "preview_count": 2, "full_text_deferred": true, "sha256": "35d7cd99be50c7287c9fb675cf4f2e736002315295a225a9efa79c8d9186d874"}}</a:t>
            </a:r>
          </a:p>
          <a:p>
            <a:r>
              <a:t>CNPJ 60010416000112 · Administração: taxa, base e mínimo · Regulamento · ID 1051393 · 09/10/2025 · versão Regulamento09/10/2025 · p. 29 · AnexoI12.1–12.1.2 · https://fnet.bmfbovespa.com.br/fnet/publico/visualizarDocumento?id=1051393</a:t>
            </a:r>
          </a:p>
          <a:p>
            <a:r>
              <a:t>CNPJ 60010416000112 · Administração: taxa, base e mínimo · Excerto da fonte:</a:t>
            </a:r>
          </a:p>
          <a:p>
            <a:r>
              <a:t>12.1 Pelos serviços de administração, escrituração, controladoria de ativos e passivo, e gestão de carteira, o Administrador fará jus a uma Taxa de Administração equivalente a 0,40% (quarenta centésimos por cento) por ano sobre o Patrimônio Líquido da Classe, a ser pago mensalmente, por período vencido da data em que ocorrer a primeira integralização de Cotas da Classe A, até o 5º (quinto) Dia Útil do mês subsequente ao da prestação do serviço, assegurado um valor mínimo mensal de R$ 20.000,00 (vinte mil reais), sendo este valor atualizado pela variação positiva do IPCA sempre em janeiro de cada ano,</a:t>
            </a:r>
          </a:p>
          <a:p>
            <a:r>
              <a:t>CNPJ 60010416000112 · Administração: taxa, base e mínimo · Versão e prevalência: Leitura específica das cláusulas indicadas; condições e conflitos preservados. Seleção documental atual não comprova vigência jurídica por data isolada.</a:t>
            </a:r>
          </a:p>
          <a:p>
            <a:r>
              <a:t>CNPJ 60010416000112 · Administração: taxa, base e mínimo · Resumo do histórico: {"count": 2, "dates": ["2025-03-20", "2025-10-09"], "document_count": 2, "sources": [{"document_id": "1051393", "title": "Regulamento", "reference_date": "2025-10-09", "version": "1", "page": "29", "url": "https://fnet.bmfbovespa.com.br/fnet/publico/visualizarDocumento?id=1051393", "sha256": "8469d613078ffd5a6c1d217885d8a397a16342c0b937ae4aa24b106505f233ae"}, {"document_id": "993786", "title": "Regulamento", "reference_date": "2025-03-20", "version": "1", "page": 29, "clause": "12.1", "url": "https://fnet.bmfbovespa.com.br/fnet/publico/visualizarDocumento?id=993786", "sha256": "fd0fdd369a195510d81f81f505195a0b09e5f43522a990afa7d58c4f872921c8"}], "reference": {"path": "history/60010416000112.json", "criterion_id": "admin_fee", "total_count": 2, "preview_count": 2, "full_text_deferred": true, "sha256": "8e2bd813f4c51cf01f6bfaad164bafe69d2bbb192f753eac92da3a01c2e63046"}}</a:t>
            </a:r>
          </a:p>
          <a:p>
            <a:r>
              <a:t>CNPJ 62696791000193 · Administração: taxa, base e mínimo · Regulamento · ID 1143317 · 20/03/2026 · versão Regulamento — referência 20/03/2026 · p. 28 · Anexo I, 13.1, Taxa de Administração · https://fnet.bmfbovespa.com.br/fnet/publico/visualizarDocumento?id=1143317</a:t>
            </a:r>
          </a:p>
          <a:p>
            <a:r>
              <a:t>CNPJ 62696791000193 · Administração: taxa, base e mínimo · Excerto da fonte:</a:t>
            </a:r>
          </a:p>
          <a:p>
            <a:r>
              <a:t>Taxa de Administração 0,10% (um décimo por cento) ao ano com um mínimo mensal de R$ 10.000,00 (dez mil reais), pagos mensalmente até o 5º (quinto) Dia Útil do mês subsequente ao mês que se ref ere, a ser corrigida anualmente, em janeiro de cada ano, pela variação positiva do Índice Geral de Preços – Mercado, divulgado pela Fundação Getúlio Vargas (“Taxa de Administração” e “IGP-M”, respectivamente).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T</a:t>
            </a:r>
          </a:p>
          <a:p>
            <a:r>
              <a:t>CNPJ 62696791000193 · Administração: taxa, base e mínimo · Condição: A linha da tabela não explicita novamente a base de PL para administração; conservar essa limitação em vez de completar a frase por analogia.</a:t>
            </a:r>
          </a:p>
          <a:p>
            <a:r>
              <a:t>CNPJ 62696791000193 · Administração: taxa, base e mínimo · Motivo: Não localizada uma cláusula material para este critério nos textos identificados e processados. A ausência de resultado não comprova inexistência da regra.</a:t>
            </a:r>
          </a:p>
          <a:p>
            <a:r>
              <a:t>CNPJ 62696791000193 · Administração: taxa, base e mínimo · Versão e prevalência: Leitura específica das cláusulas indicadas; condições e conflitos preservados. Seleção documental atual não comprova vigência jurídica por data isolada.</a:t>
            </a:r>
          </a:p>
          <a:p>
            <a:r>
              <a:t>CNPJ 55563624000109 · Administração: taxa, base e mínimo · Regulamento · ID 1192614 · 30/04/2026 · versão Regulamento30/04/2026 · p. 28 · AnexoI13.1–13.2 · https://fnet.bmfbovespa.com.br/fnet/publico/visualizarDocumento?id=1192614</a:t>
            </a:r>
          </a:p>
          <a:p>
            <a:r>
              <a:t>CNPJ 55563624000109 · Administração: taxa, base e mínimo · Excerto da fonte:</a:t>
            </a:r>
          </a:p>
          <a:p>
            <a:r>
              <a:t>13.1 Sem prejuízo da Taxa Máxima de Administração, pelos serviços de administração do FUNDO e da Classe, tesouraria, controle e processamento dos ativos integrantes da Carteira, a Classe pagará, no mínimo, ao ADMINISTRADOR a Taxa Mínima de Administração nos seguintes moldes: o valor correspondente a R$ 10.000,00 (dez mil reais) mensais, atualizado pela variação positiva do IGP-M, no mês de janeiro de cada ano (“Taxa Mínima de Administração”). 13.1.1 Na hipótese de extinção do IGP-M, não divulgação ou impossibilidade de sua utilização, será utilizado o</a:t>
            </a:r>
          </a:p>
          <a:p>
            <a:r>
              <a:t>CNPJ 55563624000109 · Administração: taxa, base e mínimo · Condição: A base do adicional é PL do Mercado Crédito II; não é teto 0, 10% sobre PLGN e não substitui mínimo R$ 10 mil.</a:t>
            </a:r>
          </a:p>
          <a:p>
            <a:r>
              <a:t>CNPJ 55563624000109 · Administração: taxa, base e mínimo · Versão e prevalência: Leitura específica das cláusulas indicadas; condições e conflitos preservados. Seleção documental atual não comprova vigência jurídica por data isolada.</a:t>
            </a:r>
          </a:p>
          <a:p>
            <a:r>
              <a:t>CNPJ 55563624000109 · Administração: taxa, base e mínimo · Resumo do histórico: {"count": 3, "dates": ["2025-01-31", "2026-01-31", "2026-04-30"], "document_count": 3, "sources": [{"document_id": "1192614", "title": "Regulamento", "reference_date": "2026-04-30", "version": "1", "page": "28", "clause": "13.2", "url": "https://fnet.bmfbovespa.com.br/fnet/publico/visualizarDocumento?id=1192614", "sha256": "f56e63ace0acde41d2f47fb48f1ac7f3f7df5e2d32de092d7c5e075a52516632"}, {"document_id": "1178840", "title": "Demonstrações Financeiras", "reference_date": "2026-01-31", "version": "1", "page": 29, "url": "https://fnet.bmfbovespa.com.br/fnet/publico/visualizarDocumento?id=1178840", "sha256": "c458e98664c5c907ddb5a05a94b120bed4e05295b2bfc420f5ba69af0a229abe"}, {"document_id": "891861", "title": "Demonstrações Financeiras", "reference_date": "2025-01-31", "version": "1", "page": 30, "url": "https://fnet.bmfbovespa.com.br/fnet/publico/visualizarDocumento?id=891861", "sha256": "e9cb9e6ddbe505fe068cfcac33605165a98313489de0d3ce6d4d238263c3f3e7"}], "reference": {"path": "history/55563624000109.json", "criterion_id": "admin_fee", "total_count": 3, "preview_count": 3, "full_text_deferred": true, "sha256": "7835d573fb58a3c19adf5b8ecc2aee2bdbb9a88f7a0c0209b5f262b64c7522e3"}}</a:t>
            </a:r>
          </a:p>
          <a:p>
            <a:r>
              <a:t>CNPJ 62552447000120 · Administração: taxa, base e mínimo · Regulamento · ID 1200623 · 21/05/2026 · versão Consolidado21/05/2026 aprovado pelo ato1200625 · p. 30 · AnexoI13.1 TaxaGlobal · https://fnet.bmfbovespa.com.br/fnet/publico/visualizarDocumento?id=1200623</a:t>
            </a:r>
          </a:p>
          <a:p>
            <a:r>
              <a:t>CNPJ 62552447000120 · Administração: taxa, base e mínimo · Excerto da fonte:</a:t>
            </a:r>
          </a:p>
          <a:p>
            <a:r>
              <a:t>Taxa Global Pelos serviços de administração, gestão, custódia, tesouraria, controladoria, escrituração, a Classe pagará um valor equivalente a um percentual incidente sobre o Patrimônio Líquido da Classe, conf orme a f aixa de Patrimônio Líquido da Classe prevista na tabela abaixo, apropriada diariamente e paga mensalmente até o 5º (quinto) Dia Útil do mês subsequente ao mês que se ref ere, com</a:t>
            </a:r>
          </a:p>
          <a:p>
            <a:r>
              <a:t>CNPJ 62552447000120 · Administração: taxa, base e mínimo · Condição: Global remunera administração, gestão, custódia, tesouraria, controladoria e escrituração; percentual segregado não presumido.</a:t>
            </a:r>
          </a:p>
          <a:p>
            <a:r>
              <a:t>CNPJ 62552447000120 · Administração: taxa, base e mínimo · Motivo: Não localizada uma cláusula material para este critério nos textos identificados e processados. A ausência de resultado não comprova inexistência da regra.</a:t>
            </a:r>
          </a:p>
          <a:p>
            <a:r>
              <a:t>CNPJ 62552447000120 · Administração: taxa, base e mínimo · Versão e prevalência: Leitura específica das cláusulas indicadas; condições e conflitos preservados. Seleção documental atual não comprova vigência jurídica por data isolada.</a:t>
            </a:r>
          </a:p>
          <a:p>
            <a:r>
              <a:t>CNPJ 63953620000165 · Administração: taxa, base e mínimo · Anexo ao Regulamento · ID 1222863 · 02/06/2026 · versão AnexoConsignadoPrivado02/06/2026 · p. 19 · Capítulo13TaxadeAdministração · https://fnet.bmfbovespa.com.br/fnet/publico/visualizarDocumento?id=1222863</a:t>
            </a:r>
          </a:p>
          <a:p>
            <a:r>
              <a:t>CNPJ 63953620000165 · Administração: taxa, base e mínimo · Excerto da fonte:</a:t>
            </a:r>
          </a:p>
          <a:p>
            <a:r>
              <a:t>Taxa de Administração positiva do Índice Geral de Preços – Mercado, divulgado pela Fundação Getúlio Vargas (“Taxa de Administração” e “IGP-M”, respectivamente). Na hipótese de extinção do IGP-M, não divulgação ou impossibilidade de sua utilização, será utilizado o Índice Geral de Preços – Disponibilidade Interna, divulgado pela Fundação Getúlio Vargas, ou, na falta de ambos, pela variação do IPC – Índice de Preços ao Consumidor, divulgado pela</a:t>
            </a:r>
          </a:p>
          <a:p>
            <a:r>
              <a:t>CNPJ 63953620000165 · Administração: taxa, base e mínimo · Condição: Base é a parcela MT específica, não necessariamente todo o PL da classe.</a:t>
            </a:r>
          </a:p>
          <a:p>
            <a:r>
              <a:t>CNPJ 63953620000165 · Administração: taxa, base e mínimo · Versão e prevalência: Leitura específica das cláusulas indicadas; condições e conflitos preservados. Seleção documental atual não comprova vigência jurídica por data isolada.</a:t>
            </a:r>
          </a:p>
          <a:p>
            <a:r>
              <a:t>CNPJ 63953620000165 · Administração: taxa, base e mínimo · Resumo do histórico: {"count": 8, "dates": ["2026-04-28", "2026-05-08", "2026-05-15"], "document_count": 3, "sources": [{"document_id": "1327859", "title": "Demonstrações Financeiras - Fusão, cisão e incorporação", "reference_date": "2026-05-15", "version": "1", "page": 28, "url": "https://fnet.bmfbovespa.com.br/fnet/publico/visualizarDocumento?id=1327859", "sha256": "dca1c68babb97f887528c3e2e47596a9c30f507b067981a35655b2f2da9c8054"}, {"document_id": "1298691", "title": "Demonstrações Financeiras - Fusão, cisão e incorporação", "reference_date": "2026-05-08", "version": "1", "page": 28, "url": "https://fnet.bmfbovespa.com.br/fnet/publico/visualizarDocumento?id=1298691", "sha256": "58c570d9b8d4d265330d3db3ea81c435b8e44a6dab4002aa37790652a1ee9819"}, {"document_id": "1282180", "title": "Demonstrações Financeiras - Fusão, cisão e incorporação", "reference_date": "2026-04-28", "version": "1", "page": 29, "url": "https://fnet.bmfbovespa.com.br/fnet/publico/visualizarDocumento?id=1282180", "sha256": "afaaa0e6809be4385e5bdb6c911aac582032c5bdbac3d7750234bf9eaf00438a"}], "reference": {"path": "history/63953620000165.json", "criterion_id": "admin_fee", "total_count": 8, "preview_count": 3, "full_text_deferred": true, "sha256": "a7b89077f5e21098c2d601c303faabc3ff6b9729f89d8afecdc60fe1404720c1"}}</a:t>
            </a:r>
          </a:p>
          <a:p>
            <a:r>
              <a:t>CNPJ 54871427000194 · Gestão: taxa, base e mínimo · Regulamento · ID 670691 · 28/04/2024 · versão Regulamento — referência 28/04/2024 · p. 26 · Anexo I, 13.4–13.4.3 · https://fnet.bmfbovespa.com.br/fnet/publico/visualizarDocumento?id=670691</a:t>
            </a:r>
          </a:p>
          <a:p>
            <a:r>
              <a:t>CNPJ 54871427000194 · Gestão: taxa, base e mínimo · Excerto da fonte:</a:t>
            </a:r>
          </a:p>
          <a:p>
            <a:r>
              <a:t>13.4 Pelos serviços de gestão, a Classe pagará a Taxa de Gestão nos seguintes moldes: o valor correspondente a 0,20% (vinte centésimos por cento) ao ano aplicado sobre o Patrimônio Líquido, observado o valor mínimo de R$ 15.000,00 (quinze mil reais) mensais atualizado pela variação positiva do IGP-M a cada período de 12 (doze) meses, contados a partir do mês em que ocorrer a primeira integralização de Cotas (inclusive). 13.4.1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13.4.2 A Taxa de Gestão será calculada e provisionada todo Dia Útil à razão de 1/252 (um inteiro e duzentos e cinquenta e dois avos) com base no valor do Patrimônio Líquido do Dia Útil anterior. 13.4.3 A Taxa de Gestão será paga mensalmente ao GESTOR, observado o disposto no item 13.5 abaixo, por período vencido, até o 5º (quinto) Dia Útil do mês subsequente à prestação dos ser</a:t>
            </a:r>
          </a:p>
          <a:p>
            <a:r>
              <a:t>CNPJ 54871427000194 · Gestão: taxa, base e mínimo · Versão e prevalência: Leitura específica das cláusulas indicadas; condições e conflitos preservados. Seleção documental atual não comprova vigência jurídica por data isolada.</a:t>
            </a:r>
          </a:p>
          <a:p>
            <a:r>
              <a:t>CNPJ 54871427000194 · Gestão: taxa, base e mínimo · Resumo do histórico: {"count": 2, "dates": ["2024-04-19", "2024-04-28"], "document_count": 2, "sources": [{"document_id": "670691", "title": "Regulamento", "reference_date": "2024-04-28", "version": "1", "page": "26", "url": "https://fnet.bmfbovespa.com.br/fnet/publico/visualizarDocumento?id=670691", "sha256": "bf16dd7f1a62d5cdbf2e2d54fef81783783f7310fbc99c3a8f00459bdf9d037b"}, {"document_id": "670689", "title": "Regulamento", "reference_date": "2024-04-19", "version": "1", "page": 27, "clause": "13.3", "url": "https://fnet.bmfbovespa.com.br/fnet/publico/visualizarDocumento?id=670689", "sha256": "891bc9bc5d87bbc02ec139077a84d2702eb81ea02035fb71d24f5b8366b94a0b"}], "reference": {"path": "history/54871427000194.json", "criterion_id": "management_fee", "total_count": 2, "preview_count": 2, "full_text_deferred": true, "sha256": "35d7cd99be50c7287c9fb675cf4f2e736002315295a225a9efa79c8d9186d874"}}</a:t>
            </a:r>
          </a:p>
          <a:p>
            <a:r>
              <a:t>CNPJ 60010416000112 · Gestão: taxa, base e mínimo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Gestão: taxa, base e mínimo · Resumo do histórico: {"count": 1, "dates": ["2025-10-09"], "document_count": 1, "sources": [{"document_id": "1051393", "title": "Regulamento", "reference_date": "2025-10-09", "version": "1", "page": "29, 46", "url": "https://fnet.bmfbovespa.com.br/fnet/publico/visualizarDocumento?id=1051393", "sha256": "8469d613078ffd5a6c1d217885d8a397a16342c0b937ae4aa24b106505f233ae"}], "reference": {"path": "history/60010416000112.json", "criterion_id": "management_fee", "total_count": 1, "preview_count": 1, "full_text_deferred": true, "sha256": "8e2bd813f4c51cf01f6bfaad164bafe69d2bbb192f753eac92da3a01c2e63046"}}</a:t>
            </a:r>
          </a:p>
          <a:p>
            <a:r>
              <a:t>CNPJ 62696791000193 · Gestão: taxa, base e mínimo · Regulamento · ID 1143317 · 20/03/2026 · versão Regulamento — referência 20/03/2026 · p. 28 · Anexo I, 13.1, Taxa de Gestão · https://fnet.bmfbovespa.com.br/fnet/publico/visualizarDocumento?id=1143317</a:t>
            </a:r>
          </a:p>
          <a:p>
            <a:r>
              <a:t>CNPJ 62696791000193 · Gestão: taxa, base e mínimo · Excerto da fonte:</a:t>
            </a:r>
          </a:p>
          <a:p>
            <a:r>
              <a:t>Taxa de Gestão 0% (zero por cento) ao ano apropriada diariamente na base de 252 (duzentos e cinquenta e dois) Dias Úteis, e paga mensalmente, até o 5º (quinto) Dia Útil do mês subsequente ao mês que se ref ere, incidente sobre o Patrimônio Líquido da Classe (“Taxa de Gestão”). Taxa Máxima de Custódia 0,00% (zero por cento) ao ano, incidente sobre o Patrimônio Líquido da Classe (“Taxa Máxima de Custódia”). Taxa de Performance Não será devido pela Classe o pagamento de Taxa de Perf ormance. 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a:t>
            </a:r>
          </a:p>
          <a:p>
            <a:r>
              <a:t>CNPJ 62696791000193 · Gestão: taxa, base e mínimo · Motivo: Não localizada uma cláusula material para este critério nos textos identificados e processados. A ausência de resultado não comprova inexistência da regra.</a:t>
            </a:r>
          </a:p>
          <a:p>
            <a:r>
              <a:t>CNPJ 62696791000193 · Gestão: taxa, base e mínimo · Versão e prevalência: Leitura específica das cláusulas indicadas; condições e conflitos preservados. Seleção documental atual não comprova vigência jurídica por data isolada.</a:t>
            </a:r>
          </a:p>
          <a:p>
            <a:r>
              <a:t>CNPJ 55563624000109 · Gestão: taxa, base e mínimo · Regulamento · ID 1192614 · 30/04/2026 · versão Regulamento30/04/2026 · p. 29 · AnexoI13.4–13.7.1 · https://fnet.bmfbovespa.com.br/fnet/publico/visualizarDocumento?id=1192614</a:t>
            </a:r>
          </a:p>
          <a:p>
            <a:r>
              <a:t>CNPJ 55563624000109 · Gestão: taxa, base e mínimo · Excerto da fonte:</a:t>
            </a:r>
          </a:p>
          <a:p>
            <a:r>
              <a:t>13.4 Sem prejuízo da Taxa Máxima de Gestão, pelos serviços de gestão, a Classe pagará ao GESTOR: (i) a taxa de gestão ordinária correspondente a 0,50% (cinquenta centésimos por cento) ao ano, incidente sobre o Patrimônio Líquido da Classe, observado o montante mínimo de R$ 40.000,00 (quarenta mil reais) ao mês, corrigido anualmente pela variação positiva do Índice de Preços ao Consumidor Amplo, divulgado pelo Instituto Brasileiro de Geografia e Estatística – IBGE (“Taxa de Gestão”); e (ii) a taxa de gestão extraordinária apurada e paga no momento de cada</a:t>
            </a:r>
          </a:p>
          <a:p>
            <a:r>
              <a:t>CNPJ 55563624000109 · Gestão: taxa, base e mínimo · Condição: Adicional é por integralização, não taxa anual.</a:t>
            </a:r>
          </a:p>
          <a:p>
            <a:r>
              <a:t>CNPJ 55563624000109 · Gestão: taxa, base e mínimo · Versão e prevalência: Leitura específica das cláusulas indicadas; condições e conflitos preservados. Seleção documental atual não comprova vigência jurídica por data isolada.</a:t>
            </a:r>
          </a:p>
          <a:p>
            <a:r>
              <a:t>CNPJ 55563624000109 · Gestão: taxa, base e mínimo · Resumo do histórico: {"count": 3, "dates": ["2025-01-31", "2026-01-31", "2026-04-30"], "document_count": 3, "sources": [{"document_id": "1192614", "title": "Regulamento", "reference_date": "2026-04-30", "version": "1", "page": "29", "url": "https://fnet.bmfbovespa.com.br/fnet/publico/visualizarDocumento?id=1192614", "sha256": "f56e63ace0acde41d2f47fb48f1ac7f3f7df5e2d32de092d7c5e075a52516632"}, {"document_id": "1178840", "title": "Demonstrações Financeiras", "reference_date": "2026-01-31", "version": "1", "page": 29, "url": "https://fnet.bmfbovespa.com.br/fnet/publico/visualizarDocumento?id=1178840", "sha256": "c458e98664c5c907ddb5a05a94b120bed4e05295b2bfc420f5ba69af0a229abe"}, {"document_id": "891861", "title": "Demonstrações Financeiras", "reference_date": "2025-01-31", "version": "1", "page": 30, "url": "https://fnet.bmfbovespa.com.br/fnet/publico/visualizarDocumento?id=891861", "sha256": "e9cb9e6ddbe505fe068cfcac33605165a98313489de0d3ce6d4d238263c3f3e7"}], "reference": {"path": "history/55563624000109.json", "criterion_id": "management_fee", "total_count": 3, "preview_count": 3, "full_text_deferred": true, "sha256": "7835d573fb58a3c19adf5b8ecc2aee2bdbb9a88f7a0c0209b5f262b64c7522e3"}}</a:t>
            </a:r>
          </a:p>
          <a:p>
            <a:r>
              <a:t>CNPJ 62552447000120 · Gestão: taxa, base e mínimo · Motivo: Não localizada uma cláusula material para este critério nos textos identificados e processados. A ausência de resultado não comprova inexistência da regra.</a:t>
            </a:r>
          </a:p>
          <a:p>
            <a:r>
              <a:t>CNPJ 63953620000165 · Gestão: taxa, base e mínimo · Anexo ao Regulamento · ID 1222863 · 02/06/2026 · versão AnexoConsignadoPrivado02/06/2026 · p. 20 · Capítulo13TaxadeGestão · https://fnet.bmfbovespa.com.br/fnet/publico/visualizarDocumento?id=1222863</a:t>
            </a:r>
          </a:p>
          <a:p>
            <a:r>
              <a:t>CNPJ 63953620000165 · Gestão: taxa, base e mínimo · Excerto da fonte:</a:t>
            </a:r>
          </a:p>
          <a:p>
            <a:r>
              <a:t>0,05% (cinco centésimos por cento) ao ano, apropriada diariamente na base de 252 (duzentos e cinquenta e dois) Dias Úteis, e paga mensalmente, até o 5º (quinto) Dia Útil do mês subsequente ao mês que se refere, incidente sobre o Patrimônio Líquido da Classe alocado em Direitos Creditórios Consignado Privado e/ou Ativos de Liquidez MT, observada remuneração mínima mensal de R$ 2.500,00 (dois mil e quinhentos reais), a ser corrigida anualmente, em janeiro de cada ano, pela variação</a:t>
            </a:r>
          </a:p>
          <a:p>
            <a:r>
              <a:t>CNPJ 63953620000165 · Gestão: taxa, base e mínimo · Versão e prevalência: Leitura específica das cláusulas indicadas; condições e conflitos preservados. Seleção documental atual não comprova vigência jurídica por data isolada.</a:t>
            </a:r>
          </a:p>
          <a:p>
            <a:r>
              <a:t>CNPJ 63953620000165 · Gestão: taxa, base e mínimo · Resumo do histórico: {"count": 8, "dates": ["2026-04-28", "2026-05-08", "2026-05-15"], "document_count": 3, "sources": [{"document_id": "1327859", "title": "Demonstrações Financeiras - Fusão, cisão e incorporação", "reference_date": "2026-05-15", "version": "1", "page": 28, "url": "https://fnet.bmfbovespa.com.br/fnet/publico/visualizarDocumento?id=1327859", "sha256": "dca1c68babb97f887528c3e2e47596a9c30f507b067981a35655b2f2da9c8054"}, {"document_id": "1298691", "title": "Demonstrações Financeiras - Fusão, cisão e incorporação", "reference_date": "2026-05-08", "version": "1", "page": 28, "url": "https://fnet.bmfbovespa.com.br/fnet/publico/visualizarDocumento?id=1298691", "sha256": "58c570d9b8d4d265330d3db3ea81c435b8e44a6dab4002aa37790652a1ee9819"}, {"document_id": "1282180", "title": "Demonstrações Financeiras - Fusão, cisão e incorporação", "reference_date": "2026-04-28", "version": "1", "page": 29, "url": "https://fnet.bmfbovespa.com.br/fnet/publico/visualizarDocumento?id=1282180", "sha256": "afaaa0e6809be4385e5bdb6c911aac582032c5bdbac3d7750234bf9eaf00438a"}], "reference": {"path": "history/63953620000165.json", "criterion_id": "management_fee", "total_count": 8, "preview_count": 3, "full_text_deferred": true, "sha256": "a7b89077f5e21098c2d601c303faabc3ff6b9729f89d8afecdc60fe1404720c1"}}</a:t>
            </a:r>
          </a:p>
          <a:p>
            <a:r>
              <a:t>CNPJ 54871427000194 · Performance: benchmark e apuração · Regulamento · ID 670691 · 28/04/2024 · versão Regulamento — referência 28/04/2024 · p. 26 · Anexo I, 13.3 · https://fnet.bmfbovespa.com.br/fnet/publico/visualizarDocumento?id=670691</a:t>
            </a:r>
          </a:p>
          <a:p>
            <a:r>
              <a:t>CNPJ 54871427000194 · Performance: benchmark e apuração · Excerto da fonte:</a:t>
            </a:r>
          </a:p>
          <a:p>
            <a:r>
              <a:t>13.3 Não serão cobradas da Classe ou dos Cotistas taxas de perf ormance, de ingresso ou de saída. Taxa de Gestão 13.4 Pelos serviços de gestão, a Classe pagará a Taxa de Gestão nos seguintes moldes: o valor correspondente a 0,20% (vinte centésimos por cento) ao ano aplicado sobre o Patrimônio Líquido, observado o valor mínimo de R$ 15.000,00 (quinze mil reais) mensais atualizado pela variação positiva do IGP-M a cada período de 12 (doze) meses, contados a partir do mês em que ocorrer a primeira integralização de Cotas (inclusive). 13.4.1 Na hipótese de extinção do IGP-M, não divulgação ou impossibilidade de sua utilização, será utilizado o Índice Geral de Preços – Disponibilidade Interna, divulgado pela Fundação Getúlio Vargas, ou, na f alta de ambos, pela variação do IPC – Índice de Preços ao Consumidor, divulgado pela Fundação Instituto de Pesquisas Econômicas – FIPE. 13.4.2 A Taxa de Gestão será calculada e provisionada todo Dia Útil à razão de 1/252 (um inteiro e duzentos e cinquenta e dois avos) com base no valor do Patrimônio Líquido do Dia Útil anterior. 13.4.3 A Taxa de Gestão será paga mensalmente ao GESTOR, observado o disposto no item 13.5</a:t>
            </a:r>
          </a:p>
          <a:p>
            <a:r>
              <a:t>CNPJ 54871427000194 · Performance: benchmark e apuração · Motivo: Não localizada uma cláusula material para este critério nos textos identificados e processados. A ausência de resultado não comprova inexistência da regra.</a:t>
            </a:r>
          </a:p>
          <a:p>
            <a:r>
              <a:t>CNPJ 54871427000194 · Performance: benchmark e apuração · Versão e prevalência: Leitura específica das cláusulas indicadas; condições e conflitos preservados. Seleção documental atual não comprova vigência jurídica por data isolada.</a:t>
            </a:r>
          </a:p>
          <a:p>
            <a:r>
              <a:t>CNPJ 60010416000112 · Performance: benchmark e apuração · Regulamento · ID 1051393 · 09/10/2025 · versão Regulamento09/10/2025 · p. 29 · AnexoI12.2 · https://fnet.bmfbovespa.com.br/fnet/publico/visualizarDocumento?id=1051393</a:t>
            </a:r>
          </a:p>
          <a:p>
            <a:r>
              <a:t>CNPJ 60010416000112 · Performance: benchmark e apuração · Excerto da fonte:</a:t>
            </a:r>
          </a:p>
          <a:p>
            <a:r>
              <a:t>12.2 Não serão cobradas da Classe ou dos Cotistas taxas de perf ormance, de ingresso ou de saída. Taxa Máxima de Custódia 12.3 Pelos serviços de custódia qualificada dos Direitos Creditórios e dos Ativos Financeiros de Liquidez não será devida nenhuma remuneração ao Custodiante, de modo que taxa máxima de custódia a ser paga pela Classe ao Custodiante corresponde a 0% (zero por cento) ao ano. Remuneração do Agente de Retenção/Cobrança 12.4 Para a prestação de serviços à Classe, o Agente de Retenção/Cobrança f ará jus a uma remuneração a ser auf erida todo Dia Útil e paga mensalmente, a título de Encargo da Cla</a:t>
            </a:r>
          </a:p>
          <a:p>
            <a:r>
              <a:t>CNPJ 60010416000112 · Performance: benchmark e apuração · Motivo: Não localizada uma cláusula material para este critério nos textos identificados e processados. A ausência de resultado não comprova inexistência da regra.</a:t>
            </a:r>
          </a:p>
          <a:p>
            <a:r>
              <a:t>CNPJ 60010416000112 · Performance: benchmark e apuração · Versão e prevalência: Leitura específica das cláusulas indicadas; condições e conflitos preservados. Seleção documental atual não comprova vigência jurídica por data isolada.</a:t>
            </a:r>
          </a:p>
          <a:p>
            <a:r>
              <a:t>CNPJ 62696791000193 · Performance: benchmark e apuração · Regulamento · ID 1143317 · 20/03/2026 · versão Regulamento — referência 20/03/2026 · p. 28 · Anexo I, 13.1, Taxa de Performance · https://fnet.bmfbovespa.com.br/fnet/publico/visualizarDocumento?id=1143317</a:t>
            </a:r>
          </a:p>
          <a:p>
            <a:r>
              <a:t>CNPJ 62696791000193 · Performance: benchmark e apuração · Excerto da fonte:</a:t>
            </a:r>
          </a:p>
          <a:p>
            <a:r>
              <a:t>Taxa de Performance Não será devido pela Classe o pagamento de Taxa de Perf ormance. 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equivalente a 0,9% (nove décimos por cento) ao ano aplicado sobre o Patrimônio Anexo I ao Regulamento Líquido, observado o limite máximo de 4,5% (quatro inteiros e cinquenta centésimos por cento) do volume captado na respectiva oferta (“Taxa Máxima de Distribuição”).A Taxa Máxima de BTG Pactual SAC: 0800 772 2827 | Ouvidoria: 0800 722 0048 | btgpactual.co m 23</a:t>
            </a:r>
          </a:p>
          <a:p>
            <a:r>
              <a:t>CNPJ 62696791000193 · Performance: benchmark e apuração · Regulamento · ID 1143317 · 20/03/2026 · versão Regulamento — referência 20/03/2026 · p. 29 · Anexo I, 13.1, Taxa de Ingresso · https://fnet.bmfbovespa.com.br/fnet/publico/visualizarDocumento?id=1143317</a:t>
            </a:r>
          </a:p>
          <a:p>
            <a:r>
              <a:t>CNPJ 62696791000193 · Performance: benchmark e apuração · Excerto da fonte:</a:t>
            </a:r>
          </a:p>
          <a:p>
            <a:r>
              <a:t>Taxa de Ingresso Não será cobrada dos Cotistas Taxa de Ingresso. 14 TRIBUTAÇÃO 14.1 O disposto neste Capítulo f oi elaborado com base na legislação e regulamentação em vigor produzindo ef eitos, tem por objetivo descrever de f orma sumária o tratamento tributário aplicável em regra aos cotistas, ao Fundo e à Classe, não se aplicando aos cotistas sujeitos a regras de tributação específicas, na f orma da legislação e regulamentação em vigor. 14.2 Há exceções (inclusive relativas à natureza ou ao domicílio do investidor para fins fiscais) em relação ao tratamento tributário descrito abaixo e tributos adicionais que podem ser aplicados, motivo pelo qual os cotistas devem consultar seus assessores jurídicos com relação à tributação aplicável nos investimentos realizados na Classe. Tributação da Classe / Operações da carteira: Como regra geral, os rendimentos auferidos pela carteira da Classe não estão sujeitos à incidência do imposto de renda, exceto ganhos auferidos em aplicações financeiras de renda fixa ou variável, que se sujeitam à incidência do Imposto de Renda Retido na Fonte (“IRF”) de acordo com as mesmas regras de tributação aplic</a:t>
            </a:r>
          </a:p>
          <a:p>
            <a:r>
              <a:t>CNPJ 62696791000193 · Performance: benchmark e apuração · Motivo: Não localizada uma cláusula material para este critério nos textos identificados e processados. A ausência de resultado não comprova inexistência da regra.</a:t>
            </a:r>
          </a:p>
          <a:p>
            <a:r>
              <a:t>CNPJ 62696791000193 · Performance: benchmark e apuração · Versão e prevalência: Leitura específica das cláusulas indicadas; condições e conflitos preservados. Seleção documental atual não comprova vigência jurídica por data isolada.</a:t>
            </a:r>
          </a:p>
          <a:p>
            <a:r>
              <a:t>CNPJ 55563624000109 · Performance: benchmark e apuração · Regulamento · ID 1192614 · 30/04/2026 · versão Regulamento30/04/2026 · p. 29 · AnexoI13.10 · https://fnet.bmfbovespa.com.br/fnet/publico/visualizarDocumento?id=1192614</a:t>
            </a:r>
          </a:p>
          <a:p>
            <a:r>
              <a:t>CNPJ 55563624000109 · Performance: benchmark e apuração · Excerto da fonte:</a:t>
            </a:r>
          </a:p>
          <a:p>
            <a:r>
              <a:t>13.10 Não serão cobradas taxas de performance da Classe, e nem taxas de ingresso ou de saída dos Cotistas que integralizarem ou resgatarem suas Cotas. BTG Pactual SAC: 0800 772 28 27 - Ouvidoria: 0800 722 00 48 - btgpactual.com 22</a:t>
            </a:r>
          </a:p>
          <a:p>
            <a:r>
              <a:t>CNPJ 55563624000109 · Performance: benchmark e apuração · Motivo: Não localizada uma cláusula material para este critério nos textos identificados e processados. A ausência de resultado não comprova inexistência da regra.</a:t>
            </a:r>
          </a:p>
          <a:p>
            <a:r>
              <a:t>CNPJ 55563624000109 · Performance: benchmark e apuração · Versão e prevalência: Leitura específica das cláusulas indicadas; condições e conflitos preservados. Seleção documental atual não comprova vigência jurídica por data isolada.</a:t>
            </a:r>
          </a:p>
          <a:p>
            <a:r>
              <a:t>CNPJ 62552447000120 · Performance: benchmark e apuração · Regulamento · ID 1200623 · 21/05/2026 · versão Consolidado21/05/2026 aprovado pelo ato1200625 · p. 30 · AnexoI13.1 TaxadePerformance/Ingresso · https://fnet.bmfbovespa.com.br/fnet/publico/visualizarDocumento?id=1200623</a:t>
            </a:r>
          </a:p>
          <a:p>
            <a:r>
              <a:t>CNPJ 62552447000120 · Performance: benchmark e apuração · Excerto da fonte:</a:t>
            </a:r>
          </a:p>
          <a:p>
            <a:r>
              <a:t>Taxa de Performance Não será devido pela Classe o pagamento de Taxa de Perf ormance. Taxa de Ingresso Não será cobrada dos Cotistas Taxa de Ingresso . CAPÍTULO 14 – CUSTOS REFERENTES À DEFESA DOS INTERESSES DA CLASSE 14.1 Todos os custos e despesas ref eridos neste Capítulo, inclusive para salvaguarda de direitos e prerrogativas da Classe e/ou com a cobrança judicial e/ou extrajudicial de Direitos Creditórios Inadimplidos, serão de inteira responsabilidade da Classe, não est ando o Administrador, o Gestor, o Endossante, os Devedores, o Custodiante e quaisquer de suas respectivas pessoas contr</a:t>
            </a:r>
          </a:p>
          <a:p>
            <a:r>
              <a:t>CNPJ 62552447000120 · Performance: benchmark e apuração · Motivo: Não localizada uma cláusula material para este critério nos textos identificados e processados. A ausência de resultado não comprova inexistência da regra.</a:t>
            </a:r>
          </a:p>
          <a:p>
            <a:r>
              <a:t>CNPJ 62552447000120 · Performance: benchmark e apuração · Versão e prevalência: Leitura específica das cláusulas indicadas; condições e conflitos preservados. Seleção documental atual não comprova vigência jurídica por data isolada.</a:t>
            </a:r>
          </a:p>
          <a:p>
            <a:r>
              <a:t>CNPJ 63953620000165 · Performance: benchmark e apuração · Anexo ao Regulamento · ID 1222863 · 02/06/2026 · versão AnexoConsignadoPrivado02/06/2026 · p. 20 · Capítulo13 · https://fnet.bmfbovespa.com.br/fnet/publico/visualizarDocumento?id=1222863</a:t>
            </a:r>
          </a:p>
          <a:p>
            <a:r>
              <a:t>CNPJ 63953620000165 · Performance: benchmark e apuração · Excerto da fonte:</a:t>
            </a:r>
          </a:p>
          <a:p>
            <a:r>
              <a:t>Taxa de Performance Não será devido pelas Classes o pagamento de Taxa de Performance. 0,00% (zero por cento) ao ano, incidente sobre o Patrimônio Líquido da Classe Taxa Máxima de Custódia (“Taxa Máxima de Custódia”). Taxa Máxima de Distribuição Não será cobrada Taxa de Distribuição. Taxa de Ingresso Não será cobrada da Classe ou dos Cotistas taxa de ingresso. CAPÍTULO 14 – CUSTOS REFERENTES À DEFESA DOS INTERESSES DA CLASSE 14.1 Todos os custos e despesas referidos neste Capítulo, inclusive para salvaguarda de direitos e prerrogativas da</a:t>
            </a:r>
          </a:p>
          <a:p>
            <a:r>
              <a:t>CNPJ 63953620000165 · Performance: benchmark e apuração · Motivo: Cláusula primária localizada e citada, mas sua lista/condições extensas não admitem uma síntese literal curta confirmada. O trecho integral permanece nas fontes.</a:t>
            </a:r>
          </a:p>
          <a:p>
            <a:r>
              <a:t>CNPJ 63953620000165 · Performance: benchmark e apuração · Versão e prevalência: Leitura específica das cláusulas indicadas; condições e conflitos preservados. Seleção documental atual não comprova vigência jurídica por data isolada.</a:t>
            </a:r>
          </a:p>
          <a:p>
            <a:r>
              <a:t>CNPJ 54871427000194 · Custódia, escrituração e encargos · Regulamento · ID 670691 · 28/04/2024 · versão Regulamento — referência 28/04/2024 · p. 26 · Anexo I, 13.7–13.8 · https://fnet.bmfbovespa.com.br/fnet/publico/visualizarDocumento?id=670691</a:t>
            </a:r>
          </a:p>
          <a:p>
            <a:r>
              <a:t>CNPJ 54871427000194 · Custódia, escrituração e encargos · Excerto da fonte:</a:t>
            </a:r>
          </a:p>
          <a:p>
            <a:r>
              <a:t>13.7 Pelos serviços de retenção e cobrança, prestada nos termos deste Anexo e do Contrato de Retenção/Cobrança, será devida pela Classe ao Agente de Retenção/Cobrança a remuneração prevista no respectivo Contrato de Retenção/Cobrança. Taxa Máxima de Custódia 13.8 Pelos serviços de custódia qualificada dos Direitos Creditórios e dos Ativos Financeiros de Liquidez não será devida nenhuma remuneração ao CUSTODIANTE, de modo que taxa máxima de custódia a ser paga pela Classe ao CUSTODIANTE corresponde a 0% (zero por cento) ao ano. CAPÍTULO 14 – CUSTOS REFERENTES À DEFESA DOS INTERESSES DA CLASSE 14.1 Caso a Classe não possua recursos disponíveis, em moeda corrente nacional, suf icientes para a adoção e manutenção, direta ou indireta, dos procedimentos judiciais e extrajudiciais necessários à cobrança dos Direitos Creditórios e dos Ativos Financeiros de Liquidez de titularidade da Classe e à def esa dos direitos, interesses e prerrogativas da Classe, a maioria dos titulares das Cotas, reunidos em Assembleia Especial de Cotistas, poderá aprovar o aporte de recursos à Classe, por meio da integralização de novas Cotas, a ser realizada por todos os titulares das Cotas para assegurar, se for o caso, a</a:t>
            </a:r>
          </a:p>
          <a:p>
            <a:r>
              <a:t>CNPJ 54871427000194 · Custódia, escrituração e encargos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Custódia, escrituração e encargos · Versão e prevalência: Leitura específica das cláusulas indicadas; condições e conflitos preservados. Seleção documental atual não comprova vigência jurídica por data isolada.</a:t>
            </a:r>
          </a:p>
          <a:p>
            <a:r>
              <a:t>CNPJ 54871427000194 · Custódia, escrituração e encargos · Resumo do histórico: {"count": 1, "dates": ["2024-04-28"], "document_count": 1, "sources": [{"document_id": "670691", "title": "Regulamento", "reference_date": "2024-04-28", "version": "1", "page": "26", "url": "https://fnet.bmfbovespa.com.br/fnet/publico/visualizarDocumento?id=670691", "sha256": "bf16dd7f1a62d5cdbf2e2d54fef81783783f7310fbc99c3a8f00459bdf9d037b"}], "reference": {"path": "history/54871427000194.json", "criterion_id": "custody_fee", "total_count": 1, "preview_count": 1, "full_text_deferred": true, "sha256": "35d7cd99be50c7287c9fb675cf4f2e736002315295a225a9efa79c8d9186d874"}}</a:t>
            </a:r>
          </a:p>
          <a:p>
            <a:r>
              <a:t>CNPJ 60010416000112 · Custódia, escrituração e encargos · Regulamento · ID 1051393 · 09/10/2025 · versão Regulamento09/10/2025 · p. 29 · AnexoI12.3–12.4 · https://fnet.bmfbovespa.com.br/fnet/publico/visualizarDocumento?id=1051393</a:t>
            </a:r>
          </a:p>
          <a:p>
            <a:r>
              <a:t>CNPJ 60010416000112 · Custódia, escrituração e encargos · Excerto da fonte:</a:t>
            </a:r>
          </a:p>
          <a:p>
            <a:r>
              <a:t>12.3 Pelos serviços de custódia qualificada dos Direitos Creditórios e dos Ativos Financeiros de Liquidez não será devida nenhuma remuneração ao Custodiante, de modo que taxa máxima de custódia a ser paga pela Classe ao Custodiante corresponde a 0% (zero por cento) ao ano. Remuneração do Agente de Retenção/Cobrança 12.4 Para a prestação de serviços à Classe, o Agente de Retenção/Cobrança f ará jus a uma remuneração a ser auf erida todo Dia Útil e paga mensalmente, a título de Encargo da Classe, a qual será calculada com base na seguinte f órmula:</a:t>
            </a:r>
          </a:p>
          <a:p>
            <a:r>
              <a:t>CNPJ 60010416000112 · Custódia, escrituração e encargos · Regulamento · ID 1051393 · 09/10/2025 · versão Regulamento09/10/2025 · p. 30 · AnexoI12.4definições,12.5–12.5.1 · https://fnet.bmfbovespa.com.br/fnet/publico/visualizarDocumento?id=1051393</a:t>
            </a:r>
          </a:p>
          <a:p>
            <a:r>
              <a:t>CNPJ 60010416000112 · Custódia, escrituração e encargos · Excerto da fonte:</a:t>
            </a:r>
          </a:p>
          <a:p>
            <a:r>
              <a:t>RAC = Remuneração do Agente de Retenção e Cobrança,tendo como valor 4,00% (quatro por cento) ao ano. 12.5 A remuneração prevista no item 12.4 acima será calculada pelo Administrador e paga diretamente ao Agente de Retenção/Cobrança até o 5º (quinto) Dia Útil do mês subsequente ao da prestação dos serviços, conf orme estabelecido no Contrato de Serviços MT. 12.5.1. Independentemente do acima disposto, na hipótese de venda de qualquer parte dos Direitos Creditórios Elegíveis a terceiros, inclusive no caso de liquidação da Classe, o Agente de Retenção/Cobra</a:t>
            </a:r>
          </a:p>
          <a:p>
            <a:r>
              <a:t>CNPJ 60010416000112 · Custódia, escrituração e encargos · Condição: Fórmula do RAC tem composição base 252 DU/21 dias; não somar a 4% do PL como taxa administrativa.</a:t>
            </a:r>
          </a:p>
          <a:p>
            <a:r>
              <a:t>CNPJ 60010416000112 · Custódia, escrituração e encargos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Custódia, escrituração e encargos · Versão e prevalência: Leitura específica das cláusulas indicadas; condições e conflitos preservados. Seleção documental atual não comprova vigência jurídica por data isolada.</a:t>
            </a:r>
          </a:p>
          <a:p>
            <a:r>
              <a:t>CNPJ 60010416000112 · Custódia, escrituração e encargos · Resumo do histórico: {"count": 1, "dates": ["2025-10-09"], "document_count": 1, "sources": [{"document_id": "1051393", "title": "Regulamento", "reference_date": "2025-10-09", "version": "1", "page": "29-31", "url": "https://fnet.bmfbovespa.com.br/fnet/publico/visualizarDocumento?id=1051393", "sha256": "8469d613078ffd5a6c1d217885d8a397a16342c0b937ae4aa24b106505f233ae"}], "reference": {"path": "history/60010416000112.json", "criterion_id": "custody_fee", "total_count": 1, "preview_count": 1, "full_text_deferred": true, "sha256": "8e2bd813f4c51cf01f6bfaad164bafe69d2bbb192f753eac92da3a01c2e63046"}}</a:t>
            </a:r>
          </a:p>
          <a:p>
            <a:r>
              <a:t>CNPJ 62696791000193 · Custódia, escrituração e encargos · Regulamento · ID 1143317 · 20/03/2026 · versão Regulamento — referência 20/03/2026 · p. 28 · Anexo I, 13.1, Custódia e Distribuição · https://fnet.bmfbovespa.com.br/fnet/publico/visualizarDocumento?id=1143317</a:t>
            </a:r>
          </a:p>
          <a:p>
            <a:r>
              <a:t>CNPJ 62696791000193 · Custódia, escrituração e encargos · Excerto da fonte:</a:t>
            </a:r>
          </a:p>
          <a:p>
            <a:r>
              <a:t>Taxa Máxima de Custódia 0,00% (zero por cento) ao ano, incidente sobre o Patrimônio Líquido da Classe (“Taxa Máxima de Custódia”). Taxa de Performance Não será devido pela Classe o pagamento de Taxa de Perf ormance. 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equivalente a 0,9% (nove décimos por cento) ao ano aplicado sobre o Patrimônio Anexo I ao Regulamento Líquido, observado o limite máximo de 4,5% (quatro inteiros e cinquenta centésimos por cento) do volume captado na respectiva oferta (“Taxa Máxima de Distribuição”).A</a:t>
            </a:r>
          </a:p>
          <a:p>
            <a:r>
              <a:t>CNPJ 62696791000193 · Custódia, escrituração e encargos · Regulamento · ID 1143317 · 20/03/2026 · versão Regulamento — referência 20/03/2026 · p. 29 · Anexo I, 13.1, Distribuição · https://fnet.bmfbovespa.com.br/fnet/publico/visualizarDocumento?id=1143317</a:t>
            </a:r>
          </a:p>
          <a:p>
            <a:r>
              <a:t>CNPJ 62696791000193 · Custódia, escrituração e encargos · Excerto da fonte:</a:t>
            </a:r>
          </a:p>
          <a:p>
            <a:r>
              <a:t>Distribuição será calculada e provisionada todo Dia Útil à razão de 1/252 (um inteiro e duzentos e cinquenta e dois avos) com base no valor do Patrimônio Líquido do Dia Útil anterior. Nos termos da Resolução CVM 160, o coordenador líder poderá destinar parte ou a totalidade da sua remuneração, à vista ou a prazo, aos distribuidores contratados, conforme previsto no contrato de distribuição da oferta e/ou nos termos de adesão ao contrato de distribuição. A Taxa Máxima de Distribuição será paga mensalmente por período vencido, até o 10º (décimo) Dia Útil do mês subsequente à prestação dos serviços, a partir do mês em que ocorrer a primeira integralização de Cotas da Classe Taxa de Ingresso Não será cobrada dos Cotistas Taxa de Ingresso. 14 TRIBUTAÇÃO 14.1 O disposto neste Capítulo f oi elaborado co</a:t>
            </a:r>
          </a:p>
          <a:p>
            <a:r>
              <a:t>CNPJ 62696791000193 · Custódia, escrituração e encargos · Motivo: Não localizada uma cláusula material para este critério nos textos identificados e processados. A ausência de resultado não comprova inexistência da regra.</a:t>
            </a:r>
          </a:p>
          <a:p>
            <a:r>
              <a:t>CNPJ 62696791000193 · Custódia, escrituração e encargos · Versão e prevalência: Leitura específica das cláusulas indicadas; condições e conflitos preservados. Seleção documental atual não comprova vigência jurídica por data isolada.</a:t>
            </a:r>
          </a:p>
          <a:p>
            <a:r>
              <a:t>CNPJ 55563624000109 · Custódia, escrituração e encargos · Regulamento · ID 1192614 · 30/04/2026 · versão Regulamento30/04/2026 · p. 29 · AnexoI13.8–13.9 · https://fnet.bmfbovespa.com.br/fnet/publico/visualizarDocumento?id=1192614</a:t>
            </a:r>
          </a:p>
          <a:p>
            <a:r>
              <a:t>CNPJ 55563624000109 · Custódia, escrituração e encargos · Excerto da fonte:</a:t>
            </a:r>
          </a:p>
          <a:p>
            <a:r>
              <a:t>13.8 Pelos serviços de custódia qualificada das Cotas da Classe Investida e dos Ativos Financeiros de Liquidez não será devida nenhuma remuneração ao CUSTODIANTE, de modo que taxa de custódia a ser paga pela Classe ao CUSTODIANTE corresponde a 0% (zero por cento) ao ano. Taxas Máxima de Distribuição 13.9 Tendo em vista que não há distribuidores das Cotas que prestem serviços de forma contínua ao Fundo, o presente Regulamento e Anexo Descritivo não preveem uma taxa máxima de distribuição aplicável a todas as emissões, nos termos do Ofício-Circular-Conju</a:t>
            </a:r>
          </a:p>
          <a:p>
            <a:r>
              <a:t>CNPJ 55563624000109 · Custódia, escrituração e encargos · Versão e prevalência: Leitura específica das cláusulas indicadas; condições e conflitos preservados. Seleção documental atual não comprova vigência jurídica por data isolada.</a:t>
            </a:r>
          </a:p>
          <a:p>
            <a:r>
              <a:t>CNPJ 55563624000109 · Custódia, escrituração e encargos · Resumo do histórico: {"count": 1, "dates": ["2026-04-30"], "document_count": 1, "sources": [{"document_id": "1192614", "title": "Regulamento", "reference_date": "2026-04-30", "version": "1", "page": "29", "url": "https://fnet.bmfbovespa.com.br/fnet/publico/visualizarDocumento?id=1192614", "sha256": "f56e63ace0acde41d2f47fb48f1ac7f3f7df5e2d32de092d7c5e075a52516632"}], "reference": {"path": "history/55563624000109.json", "criterion_id": "custody_fee", "total_count": 1, "preview_count": 1, "full_text_deferred": true, "sha256": "7835d573fb58a3c19adf5b8ecc2aee2bdbb9a88f7a0c0209b5f262b64c7522e3"}}</a:t>
            </a:r>
          </a:p>
          <a:p>
            <a:r>
              <a:t>CNPJ 62552447000120 · Custódia, escrituração e encargos · Motivo: Não localizada uma cláusula material para este critério nos textos identificados e processados. A ausência de resultado não comprova inexistência da regra.</a:t>
            </a:r>
          </a:p>
          <a:p>
            <a:r>
              <a:t>CNPJ 63953620000165 · Custódia, escrituração e encargos · Motivo: Não localizada uma cláusula material para este critério nos textos identificados e processados. A ausência de resultado não comprova inexistência da regra.</a:t>
            </a:r>
          </a:p>
          <a:p>
            <a:r>
              <a:t>CNPJ 54871427000194 · Classes e séries de cotas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54871427000194 · Classes e séries de cotas · Resumo do histórico: {"count": 1, "dates": ["2024-04-28"], "document_count": 1, "sources": [{"document_id": "670691", "title": "Regulamento", "reference_date": "2024-04-28", "version": "1", "page": "7, 14", "url": "https://fnet.bmfbovespa.com.br/fnet/publico/visualizarDocumento?id=670691", "sha256": "bf16dd7f1a62d5cdbf2e2d54fef81783783f7310fbc99c3a8f00459bdf9d037b"}], "reference": {"path": "history/54871427000194.json", "criterion_id": "quota_classes", "total_count": 1, "preview_count": 1, "full_text_deferred": true, "sha256": "35d7cd99be50c7287c9fb675cf4f2e736002315295a225a9efa79c8d9186d874"}}</a:t>
            </a:r>
          </a:p>
          <a:p>
            <a:r>
              <a:t>CNPJ 60010416000112 · Classes e séries de cotas · Demonstrações Financeiras - Fusão, cisão e incorporação · ID 1298690 · 2026-05-08 · versão 1 · p. 30 · https://fnet.bmfbovespa.com.br/fnet/publico/visualizarDocumento?id=1298690</a:t>
            </a:r>
          </a:p>
          <a:p>
            <a:r>
              <a:t>CNPJ 60010416000112 · Classes e séries de cotas · Excerto da fonte:</a:t>
            </a:r>
          </a:p>
          <a:p>
            <a:r>
              <a:t>Durante o período de investimento, a Administradora poderá deliberar por realizar novas  emissões de cotas subordinadas, sem a necessidade de aprovação em Assembleia Especial  de Cotistas ou alteração do Regulamento, limitadas ao montante máximo de R$ 50.000  (cinquenta milhões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subordinadas emitidas não sejam  superiores aos prazos de vencimento da primeira emissão.</a:t>
            </a:r>
          </a:p>
          <a:p>
            <a:r>
              <a:t>CNPJ 60010416000112 · Classes e séries de cotas · Demonstrações Financeiras - Fusão, cisão e incorporação · ID 1298690 · 2026-05-08 · versão 1 · p. 7 · https://fnet.bmfbovespa.com.br/fnet/publico/visualizarDocumento?id=1298690</a:t>
            </a:r>
          </a:p>
          <a:p>
            <a:r>
              <a:t>CNPJ 60010416000112 · Classes e séries de cotas · Excerto da fonte:</a:t>
            </a:r>
          </a:p>
          <a:p>
            <a:r>
              <a:t>01/12/2025 a  Nota  08/05/2026  Patrimônio líquido no início do período  Total de 493.487,7492 cotas sêniores a R$ 1.136,5211 560.859  Total de 2.329.794,7852 cotas sêniores 2 a R$ 1.141,3012 2.658.998  Total de 954,2302 cotas subordinadas a R$ 150.939,4087 144.031</a:t>
            </a:r>
          </a:p>
          <a:p>
            <a:r>
              <a:t>CNPJ 60010416000112 · Classes e séries de cotas · Demonstrações Financeiras - Fusão, cisão e incorporação · ID 1298690 · 2026-05-08 · versão 1 · p. 7 · https://fnet.bmfbovespa.com.br/fnet/publico/visualizarDocumento?id=1298690</a:t>
            </a:r>
          </a:p>
          <a:p>
            <a:r>
              <a:t>CNPJ 60010416000112 · Classes e séries de cotas · Excerto da fonte:</a:t>
            </a:r>
          </a:p>
          <a:p>
            <a:r>
              <a:t>Patrimônio líquido no final do período  Total de 2.865.592,8479 cotas a R$ 1.285,7151 3.672.765  Total de 493.487,7492 cotas sêniores a R$ 1.230,3042 607.141  Total de 2.362.150,8684 cotas sêniores 2 a R$ 1.236,9918 2.921.961  Total de 954,2302 cotas subordinadas a R$ 150.554,2733 143.663</a:t>
            </a:r>
          </a:p>
          <a:p>
            <a:r>
              <a:t>CNPJ 60010416000112 · Classes e séries de cotas · Condição: Documentos atuais selecionados no inventário por categoria/escopo; a data documental isolada não comprova vigência jurídica.</a:t>
            </a:r>
          </a:p>
          <a:p>
            <a:r>
              <a:t>CNPJ 60010416000112 · Classes e séries de cotas · Versão e prevalência: Documentos atuais selecionados no inventário por categoria/escopo; a data documental isolada não comprova vigência jurídica.</a:t>
            </a:r>
          </a:p>
          <a:p>
            <a:r>
              <a:t>CNPJ 60010416000112 · Classes e séries de cotas · Resumo do histórico: {"count": 9, "dates": ["2025-11-30", "2026-03-18", "2026-04-16"], "document_count": 3, "sources": [{"document_id": "1282181", "title": "Demonstrações Financeiras - Fusão, cisão e incorporação", "reference_date": "2026-04-16", "version": "1", "page": 7, "url": "https://fnet.bmfbovespa.com.br/fnet/publico/visualizarDocumento?id=1282181", "sha256": "b1c6566e43a00bcd00c8a7f30c77b7f86e351bd8e355bbea113f46d1dafda703"}, {"document_id": "1224477", "title": "Demonstrações Financeiras - Fusão, cisão e incorporação", "reference_date": "2026-03-18", "version": "1", "page": 7, "url": "https://fnet.bmfbovespa.com.br/fnet/publico/visualizarDocumento?id=1224477", "sha256": "0751bf0a75bc3b44c2748f5000226665c6ec6698a90c4dc6170b4e6c187759ae"}, {"document_id": "1126154", "title": "Demonstrações Financeiras", "reference_date": "2025-11-30", "version": "1", "page": 7, "url": "https://fnet.bmfbovespa.com.br/fnet/publico/visualizarDocumento?id=1126154", "sha256": "a01e7ccf88c548f12c95cba8526d7efbef6b585c112cd4668eca781c292090b0"}], "reference": {"path": "history/60010416000112.json", "criterion_id": "quota_classes", "total_count": 9, "preview_count": 3, "full_text_deferred": true, "sha256": "8e2bd813f4c51cf01f6bfaad164bafe69d2bbb192f753eac92da3a01c2e63046"}}</a:t>
            </a:r>
          </a:p>
          <a:p>
            <a:r>
              <a:t>CNPJ 62696791000193 · Classes e séries de cotas · Instrumento Particular de Emissão de Cotas · ID 1148821 · 2026-03-27 · versão 1 · p. 1 · 20.000 · https://fnet.bmfbovespa.com.br/fnet/publico/visualizarDocumento?id=1148821</a:t>
            </a:r>
          </a:p>
          <a:p>
            <a:r>
              <a:t>CNPJ 62696791000193 · Classes e séries de cotas · Excerto da fonte:</a:t>
            </a:r>
          </a:p>
          <a:p>
            <a:r>
              <a:t>20.000 (vinte mil) Cotas Subordinadas Júnior, com valor nominal unitário de R$ 1.000,00 (mil reais),  perfazendo o montante total de R$ 20.000.000,00 (vinte milhões de reais), as quais serão objeto de  colocação privada, de acordo com os termos e condições definidos no Apêndice da Subclasse  Subordinada Júnior constante do Anexo I Regulamento e descritas abaixo (“2ª Emissão da Subclasse  Subordinada Júnior”):</a:t>
            </a:r>
          </a:p>
          <a:p>
            <a:r>
              <a:t>CNPJ 62696791000193 · Classes e séries de cotas · Instrumento Particular de Emissão de Cotas · ID 1148821 · 2026-03-27 · versão 1 · p. 2 · https://fnet.bmfbovespa.com.br/fnet/publico/visualizarDocumento?id=1148821</a:t>
            </a:r>
          </a:p>
          <a:p>
            <a:r>
              <a:t>CNPJ 62696791000193 · Classes e séries de cotas · Excerto da fonte:</a:t>
            </a:r>
          </a:p>
          <a:p>
            <a:r>
              <a:t>2. Aprovar a 2ª (segunda) emissão da Subclasse Sênior da Classe, composta por até 150.000  (cento e cinquenta mil) Cotas Seniores, com valor nominal unitário de R$ 1.000,00 (mil reais),  perfazendo o montante total de R$ 150.000.000,00 (cento e cinquenta milhões de reais), as quais  serão objeto de colocação privada, de acordo com os termos e condições descritos no Apêndice da  Subclasse Sênior constante do Anexo I Regulamento e descritas abaixo (“2ª Emissão da Subclasse  Sênior”):</a:t>
            </a:r>
          </a:p>
          <a:p>
            <a:r>
              <a:t>CNPJ 62696791000193 · Classes e séries de cotas · Instrumento Particular de Emissão de Cotas · ID 1148821 · 2026-03-27 · versão 1 · p. 2 · https://fnet.bmfbovespa.com.br/fnet/publico/visualizarDocumento?id=1148821</a:t>
            </a:r>
          </a:p>
          <a:p>
            <a:r>
              <a:t>CNPJ 62696791000193 · Classes e séries de cotas · Excerto da fonte:</a:t>
            </a:r>
          </a:p>
          <a:p>
            <a:r>
              <a:t>d) Forma de Integralização: as Cotas Subordinadas Júnior serão integralizadas à vista, junto ao  seu respectivo agente de custódia e/ou da Administradora na qualidade de escriturador das  cotas; e</a:t>
            </a:r>
          </a:p>
          <a:p>
            <a:r>
              <a:t>CNPJ 62696791000193 · Classes e séries de cotas · Condição: Documentos atuais selecionados no inventário por categoria/escopo; a data documental isolada não comprova vigência jurídica.</a:t>
            </a:r>
          </a:p>
          <a:p>
            <a:r>
              <a:t>CNPJ 62696791000193 · Classes e séries de cotas · Versão e prevalência: Documentos atuais selecionados no inventário por categoria/escopo; a data documental isolada não comprova vigência jurídica.</a:t>
            </a:r>
          </a:p>
          <a:p>
            <a:r>
              <a:t>CNPJ 62696791000193 · Classes e séries de cotas · Resumo do histórico: {"count": 2, "dates": ["2026-03-20", "2026-03-27"], "document_count": 2, "sources": [{"document_id": "1148821", "title": "Instrumento Particular de Emissão de Cotas", "reference_date": "2026-03-27", "version": "1", "page": "1-2", "url": "https://fnet.bmfbovespa.com.br/fnet/publico/visualizarDocumento?id=1148821", "sha256": "86900e9dd498403696bfffbd4196443c83ec4d51ff21135e073c1966e1adf4c0"}, {"document_id": "1143317", "title": "Regulamento", "reference_date": "2026-03-20", "version": "1", "page": 16, "clause": "7.2", "url": "https://fnet.bmfbovespa.com.br/fnet/publico/visualizarDocumento?id=1143317", "sha256": "32f62818d51c3ebeaf9ec012d3d7867f15c1aed6d10f0867c157a290df1cea48"}], "reference": {"path": "history/62696791000193.json", "criterion_id": "quota_classes", "total_count": 2, "preview_count": 2, "full_text_deferred": true, "sha256": "0e9ec199848320ec945708123ae0cb6075d76c05d94beed814d582031d353926"}}</a:t>
            </a:r>
          </a:p>
          <a:p>
            <a:r>
              <a:t>CNPJ 55563624000109 · Classes e séries de cotas · Regulamento · ID 1192614 · 2026-04-30 · versão 1 · p. 40 · https://fnet.bmfbovespa.com.br/fnet/publico/visualizarDocumento?id=1192614</a:t>
            </a:r>
          </a:p>
          <a:p>
            <a:r>
              <a:t>CNPJ 55563624000109 · Classes e séries de cotas · Excerto da fonte:</a:t>
            </a:r>
          </a:p>
          <a:p>
            <a:r>
              <a:t>(xxiv) Subordinação de determinadas Cotas da Classe Investida a outras subclasses ou séries de  cotas das Classes Investidas aos quais pertencem. A Classe Investida adquirirá apenas cotas  subordinadas mezaninos da Classe Investida, as quais se subordinam às cotas seniores da Classe  Investida para efeitos de resgate. Os resgates de cotas subordinadas mezanino tipicamente têm sua  realização condicionada ainda à manutenção da razão de garantia e à existência de disponibilidades  da Classe Investida. O ADMINISTRADOR, o GESTOR e o CUSTODIANTE e suas respectivas partes  relacionadas, encontram-se impossibilitados de assegurar que a amortização e o resgate das cotas  subordinadas mezanino da Classe Investida que venham a ser adquiridas pela Classe ocorrerão nas  datas originalmente previstas, sendo que, caso tais amortizações e/ou resgates não ocorram, não será  devido pelo FUNDO ou qualquer pessoa, incluindo o ADMINISTRADOR, o GESTOR e o CUSTODIANTE,  do FUNDO ou da Classe Investida qualquer multa ou penalidade, de qualquer natureza. O não resgate  de cotas subordinadas mezanino da Classe Investida detidas pela Classe poderá impactar  negativamente no fluxo de pagamento de resgate da Classe e/ou no valor patrimonial das Cotas da  Classe.</a:t>
            </a:r>
          </a:p>
          <a:p>
            <a:r>
              <a:t>CNPJ 55563624000109 · Classes e séries de cotas · Regulamento · ID 1192614 · 2026-04-30 · versão 1 · p. 31 · 15.1.1 · https://fnet.bmfbovespa.com.br/fnet/publico/visualizarDocumento?id=1192614</a:t>
            </a:r>
          </a:p>
          <a:p>
            <a:r>
              <a:t>CNPJ 55563624000109 · Classes e séries de cotas · Excerto da fonte:</a:t>
            </a:r>
          </a:p>
          <a:p>
            <a:r>
              <a:t>15.1.1 Riscos de Crédito:</a:t>
            </a:r>
          </a:p>
          <a:p>
            <a:r>
              <a:t> (i) Risco de concentração na Classe Investida. Nos termos do presente Regulamento, a Classe  deverá manter alocado, no mínimo, 67% (sessenta e sete por cento) do Patrimônio Líquido nas Cotas  da Classe Investida. Alterações na condição econômico-financeira e na expectativa de desempenho ou  resultados da Classe Investida poderão, isolada ou cumulativamente, afetar negativamente o  rendimento do investimento nas Cotas, de forma mais severa do que se a Classe adotasse uma  estratégia de investimento de maior diversificação. O risco associado às aplicações de qualquer fundo  de investimento é diretamente proporcional à concentração da sua carteira, sendo que, quanto maior  essa concentração, maior será a sua vulnerabilidade.</a:t>
            </a:r>
          </a:p>
          <a:p>
            <a:r>
              <a:t> (ii) Risco relativo à Classe Investida. Nos termos deste Anexo, a Classe deverá manter alocado, no  mínimo, 67% (sessenta e sete por cento) do Patrimônio Líquido em Cotas da Classe Investida. Os  investimentos realizados pela Classe Investida poderão estar sujeitos a flutuações típicas do mercado,  risco de crédito, risco sistêmico, condições adversas de liquidez e negociação atípica nos mercados de  atuação, bem como outros riscos diversos. Este Anexo não contém a descrição de todas as  características, incluindo os riscos, da Classe Investida.</a:t>
            </a:r>
          </a:p>
          <a:p>
            <a:r>
              <a:t> (iii) Risco Relativo ao Pagamento de Encargos da Classe Investida. Tendo em vista a estrutura da  Classe Investida – que emitiu cotas sêniores, cotas subordinadas mezanino e cotas subordinadas júnior  – em situação ordinária os encargos da Classe Investida são arcados pelas cotas subordinadas júnior,  que se subordinam às cotas subordinadas mezanino e às cotas sêniores para fins de amortização,  resgate e distribuição de rendimentos, não impactando, portanto, as Cotas da Classe Investida. Não  obstante o funcionamento da Classe Investida em situação ordinária, em cenários extraordinários, na  eventualidade do valor das cotas subordinadas júnior ficar reduzido a zero ou a valor negativo, os  encargos da Classe Investida conforme previstos em seu regulamento, inclusive mas não se limitando  as remunerações dos prestadores de serviços essenciais, passarão a ser arcados pelas cotas  subordinadas mezanino (que são as Cotas da Classe Investida), impactando no valor do investimento  da Classe na Classe Investida, e consequentemente, o investimento dos Cotistas na Classe.</a:t>
            </a:r>
          </a:p>
          <a:p>
            <a:r>
              <a:t> (iv) Riscos referentes à carteira da Classe Investida. Na forma do Anexo Normativo II da Resolução  CVM 175, a Classe Investida investe, direta ou indiretamente, no mínimo, 67% (sessenta e sete por  cento) do seu patrimônio em direitos creditórios originados pela Mercado Pago. O investimento em tais  direitos creditórios está sujeito a fatores de risco específicos, conforme detalhados no regulamento da  Classe Investida, incluindo, mas não se limitando a:</a:t>
            </a:r>
          </a:p>
          <a:p>
            <a:r>
              <a:t> (a) Risco de liquidez dos direitos creditórios. O investimento da Classe Investida em direitos  creditórios apresenta peculiaridades em relação às aplicações usuais da maioria dos  fundos de investimento brasileiros, haja vista que não existe, no Brasil, mercado  secundário com liquidez para tais direitos creditórios. Caso a Classe Investida precise  vender os direitos creditórios adquiridos, poderá não haver mercado comprador para  tais créditos, bem como o preço de alienação de tais direitos creditórios poderá refletir  essa falta de liquidez, causando perda ao patrimônio da Classe Investida e,  consequentemente, à Classe.</a:t>
            </a:r>
          </a:p>
          <a:p>
            <a:r>
              <a:t>CNPJ 55563624000109 · Classes e séries de cotas · AGE · ID 1192603 · 2026-04-30 · versão 1 · p. 1 · 4.1 · https://fnet.bmfbovespa.com.br/fnet/publico/visualizarDocumento?id=1192603</a:t>
            </a:r>
          </a:p>
          <a:p>
            <a:r>
              <a:t>CNPJ 55563624000109 · Classes e séries de cotas · Excerto da fonte:</a:t>
            </a:r>
          </a:p>
          <a:p>
            <a:r>
              <a:t>4.1. Aprovar a alteração do Anexo I da Classe Única para a reorganização do passivo de sua subclasse  única em novas subclasses, quais sejam, subclasse A (“Subclasse A”), subclasse B (“Subclasse B”) e  subclasse C (“Subclasse C” e, quando em conjunto com a Subclasse A e a Subclasse B, as “Subclasses”),  considerando que serão mantidas as condições de investimento originalmente pactuadas com os cotistas,  como critérios de aplicação, resgate, amortização e política de investimento da Classe Única, diferindo-  se, exclusivamente, em relação ao prazo de duração cada Subclasse.</a:t>
            </a:r>
          </a:p>
          <a:p>
            <a:r>
              <a:t>CNPJ 55563624000109 · Classes e séries de cotas · Condição: Documentos atuais selecionados no inventário por categoria/escopo; a data documental isolada não comprova vigência jurídica.</a:t>
            </a:r>
          </a:p>
          <a:p>
            <a:r>
              <a:t>CNPJ 55563624000109 · Classes e séries de cotas · Versão e prevalência: Documentos atuais selecionados no inventário por categoria/escopo; a data documental isolada não comprova vigência jurídica.</a:t>
            </a:r>
          </a:p>
          <a:p>
            <a:r>
              <a:t>CNPJ 55563624000109 · Classes e séries de cotas · Resumo do histórico: {"count": 3, "dates": ["2025-01-31", "2026-01-31", "2026-04-30"], "document_count": 3, "sources": [{"document_id": "1192614", "title": "Regulamento", "reference_date": "2026-04-30", "version": "1", "page": "15", "url": "https://fnet.bmfbovespa.com.br/fnet/publico/visualizarDocumento?id=1192614", "sha256": "f56e63ace0acde41d2f47fb48f1ac7f3f7df5e2d32de092d7c5e075a52516632"}, {"document_id": "1178840", "title": "Demonstrações Financeiras", "reference_date": "2026-01-31", "version": "1", "page": 25, "url": "https://fnet.bmfbovespa.com.br/fnet/publico/visualizarDocumento?id=1178840", "sha256": "c458e98664c5c907ddb5a05a94b120bed4e05295b2bfc420f5ba69af0a229abe"}, {"document_id": "891861", "title": "Demonstrações Financeiras", "reference_date": "2025-01-31", "version": "1", "page": 26, "url": "https://fnet.bmfbovespa.com.br/fnet/publico/visualizarDocumento?id=891861", "sha256": "e9cb9e6ddbe505fe068cfcac33605165a98313489de0d3ce6d4d238263c3f3e7"}], "reference": {"path": "history/55563624000109.json", "criterion_id": "quota_classes", "total_count": 3, "preview_count": 3, "full_text_deferred": true, "sha256": "7835d573fb58a3c19adf5b8ecc2aee2bdbb9a88f7a0c0209b5f262b64c7522e3"}}</a:t>
            </a:r>
          </a:p>
          <a:p>
            <a:r>
              <a:t>CNPJ 62552447000120 · Classes e séries de cotas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Classes e séries de cotas · Resumo do histórico: {"count": 1, "dates": ["2025-09-03"], "document_count": 1, "sources": [{"document_id": "988020", "title": "Instrumento Particular de Emissão de Cotas", "reference_date": "2025-09-03", "version": "1", "page": "5", "url": "https://fnet.bmfbovespa.com.br/fnet/publico/visualizarDocumento?id=988020", "sha256": "8ecc8a771bb9713d64e5fc2052c489664cb0433801a9280db68e5187d35bf7a5"}], "reference": {"path": "history/62552447000120.json", "criterion_id": "quota_classes", "total_count": 1, "preview_count": 1, "full_text_deferred": true, "sha256": "d95db8c0613d67ee84118c734588665265ea6b02f86a0318d6a844cbe1d0f82f"}}</a:t>
            </a:r>
          </a:p>
          <a:p>
            <a:r>
              <a:t>CNPJ 63953620000165 · Classes e séries de cotas · AGE · ID 1313935 · 2026-08-31 · versão 1 · p. 1 · 4.1 · https://fnet.bmfbovespa.com.br/fnet/publico/visualizarDocumento?id=1313935</a:t>
            </a:r>
          </a:p>
          <a:p>
            <a:r>
              <a:t>CNPJ 63953620000165 · Classes e séries de cotas · Excerto da fonte:</a:t>
            </a:r>
          </a:p>
          <a:p>
            <a:r>
              <a:t>4.1. Aprovar a realização da incorporação das parcelas cindidas descritas no Anexo I à presente ata (“Parcelas  Cindidas”), com base no fechamento de 28 de agosto de 2026 (“Data Base”), condicionada à aprovação da cisão  da CLASSE ÚNICA DO MT CONSIGNADO PRIVADO I FUNDO DE INVESTIMENTO EM DIREITOS CREDITÓRIOS  RESPONSABILIDADE LIMITADA, inscrita no CNPJ sob o nº 60.010.416/0001-12 (“Classe Cindida”), com a  subsequente incorporação da respectiva Parcela Cindida, emitindo-se cotas seniores da Classe, a serem  atribuídas integralmente aos cotistas da Classe Cindida, no valor da respectiva Parcela Cindida, na Data-Base, de  acordo com o valor das cotas da Classe na mesma data. A partir da Data Base, todos os direitos e obrigações dos  ativos cindidos serão sucedidos à Classe;</a:t>
            </a:r>
          </a:p>
          <a:p>
            <a:r>
              <a:t>CNPJ 63953620000165 · Classes e séries de cotas · Condição: Documentos atuais selecionados no inventário por categoria/escopo; a data documental isolada não comprova vigência jurídica.</a:t>
            </a:r>
          </a:p>
          <a:p>
            <a:r>
              <a:t>CNPJ 63953620000165 · Classes e séries de cotas · Versão e prevalência: Documentos atuais selecionados no inventário por categoria/escopo; a data documental isolada não comprova vigência jurídica.</a:t>
            </a:r>
          </a:p>
          <a:p>
            <a:r>
              <a:t>CNPJ 63953620000165 · Classes e séries de cotas · Resumo do histórico: {"count": 11, "dates": ["2026-07-29", "2026-08-17", "2026-08-21"], "document_count": 3, "sources": [{"document_id": "1309436", "title": "AGE", "reference_date": "2026-08-21", "version": "1", "page": 1, "clause": "4.1", "url": "https://fnet.bmfbovespa.com.br/fnet/publico/visualizarDocumento?id=1309436", "sha256": "f679de1621039dce7c665e3a742f213fd4d5047e12b96163b31ea4ae86f56817"}, {"document_id": "1298232", "title": "AGE", "reference_date": "2026-08-17", "version": "1", "page": 1, "clause": "4.1", "url": "https://fnet.bmfbovespa.com.br/fnet/publico/visualizarDocumento?id=1298232", "sha256": "75322e306547f725e73a2c6687b598e14d628caa84bd46a23508337a606866f6"}, {"document_id": "1277543", "title": "AGE", "reference_date": "2026-07-29", "version": "1", "page": 1, "url": "https://fnet.bmfbovespa.com.br/fnet/publico/visualizarDocumento?id=1277543", "sha256": "c2fb499fd6e25251a221d4e9dbb5d1378fb5efde5a58eee091868faf52d326c0"}], "reference": {"path": "history/63953620000165.json", "criterion_id": "quota_classes", "total_count": 11, "preview_count": 3, "full_text_deferred": true, "sha256": "a7b89077f5e21098c2d601c303faabc3ff6b9729f89d8afecdc60fe1404720c1"}}</a:t>
            </a:r>
          </a:p>
          <a:p>
            <a:r>
              <a:t>CNPJ 54871427000194 · Ofertas e colocação · AGE · ID 1055482 · 2025-12-02 · versão 1 · p. 1 · 4.1 · https://fnet.bmfbovespa.com.br/fnet/publico/visualizarDocumento?id=1055482</a:t>
            </a:r>
          </a:p>
          <a:p>
            <a:r>
              <a:t>CNPJ 54871427000194 · Ofertas e colocação · Excerto da fonte:</a:t>
            </a:r>
          </a:p>
          <a:p>
            <a:r>
              <a:t>4.1. Aprovar a nova emissão de Cotas pela Classe, todas nominativas e escriturais, com preço unitário de emissão  correspondente ao valor das Cotas da Classe em circulação quando na data de aprovação da Nova Emissão,  perfazendo o montante total de emissão de até R$ 650.000.000 (seiscentos e cinquenta milhões de reais), conforme  as características constantes do Regulamento e do Anexo da Classe (“Novas Cotas” e “Nova Emissão”,  respectivamente), e descritas abaixo:</a:t>
            </a:r>
          </a:p>
          <a:p>
            <a:r>
              <a:t>(i) Rito: as Novas Cotas não serão objeto de oferta pública, conforme facultado pelo artigo 8º, inciso IV, da  Resolução CVM nº 160, uma vez que a Classe se enquadra nos requisitos do referido dispositivo;</a:t>
            </a:r>
          </a:p>
          <a:p>
            <a:r>
              <a:t>(ii) Preço de Emissão: o preço unitário de emissão corresponderá ao valor das Cotas da Classe em circulação  quando na data de aprovação da Nova Emissão (“Preço de Emissão”);</a:t>
            </a:r>
          </a:p>
          <a:p>
            <a:r>
              <a:t>(iii) Preço de Integralização: o Preço de Integralização corresponderá ao valor das Cotas da Classe em  circulação quando da transferência dos valores para liquidação financeira (“Preço de Integralização”);</a:t>
            </a:r>
          </a:p>
          <a:p>
            <a:r>
              <a:t>(iv) Forma de Integralização: as Cotas serão integralizadas à vista, em moeda corrente nacional, pelo Preço  de Integralização, junto ao seu respectivo agente de custódia e/ou da Administradora na qualidade de  escriturador das cotas; e</a:t>
            </a:r>
          </a:p>
          <a:p>
            <a:r>
              <a:t>(v) Período de colocação: a subscrição das Cotas, objeto da Nova Emissão, deverão ser realizadas no prazo  máximo de 180 (cento e oitenta) dias, contados da data de efeitos do presente instrumento.</a:t>
            </a:r>
          </a:p>
          <a:p>
            <a:r>
              <a:t>CNPJ 54871427000194 · Ofertas e colocação · Condição: Trechos do documento específico identificado com data mais recente; vigência jurídica não inferida.</a:t>
            </a:r>
          </a:p>
          <a:p>
            <a:r>
              <a:t>CNPJ 54871427000194 · Ofertas e colocação · Versão e prevalência: Trechos do documento específico identificado com data mais recente; vigência jurídica não inferida.</a:t>
            </a:r>
          </a:p>
          <a:p>
            <a:r>
              <a:t>CNPJ 54871427000194 · Ofertas e colocação · Resumo do histórico: {"count": 7, "dates": ["2024-06-13", "2024-12-10"], "document_count": 3, "sources": [{"document_id": "798101", "title": "Anúncio de Encerramento", "reference_date": "2024-12-10", "version": "1", "page": "1-2", "url": "https://fnet.bmfbovespa.com.br/fnet/publico/visualizarDocumento?id=798101", "sha256": "71618c432ad86002484571d66922b873e4fa91ed3543a109134ddee0bd872f20"}, {"document_id": "679614", "title": "Anúncio de Início", "reference_date": "2024-06-13", "version": "1", "page": 1, "url": "https://fnet.bmfbovespa.com.br/fnet/publico/visualizarDocumento?id=679614", "sha256": "aad43ed14bfa0576144a306c466aea031fce0d01d3cb3de6aebd120f11164bfa"}, {"document_id": "683482", "title": "AGE", "reference_date": "2024-06-13", "version": "1", "page": 2, "url": "https://fnet.bmfbovespa.com.br/fnet/publico/visualizarDocumento?id=683482", "sha256": "3afbe254027691929935eaf19ebbb8634fb2ccd8e2fbea2cb2d81a7818f8d648"}], "reference": {"path": "history/54871427000194.json", "criterion_id": "offers", "total_count": 7, "preview_count": 3, "full_text_deferred": true, "sha256": "35d7cd99be50c7287c9fb675cf4f2e736002315295a225a9efa79c8d9186d874"}}</a:t>
            </a:r>
          </a:p>
          <a:p>
            <a:r>
              <a:t>CNPJ 60010416000112 · Ofertas e colocação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60010416000112 · Ofertas e colocação · Resumo do histórico: {"count": 1, "dates": ["2025-03-20"], "document_count": 1, "sources": [{"document_id": "993785", "title": "Instrumento Particular de Constituição/Encerramento do Fundo", "reference_date": "2025-03-20", "version": "1", "page": "1-2", "url": "https://fnet.bmfbovespa.com.br/fnet/publico/visualizarDocumento?id=993785", "sha256": "0826e0eae2c51afabf59bbc49fc7647598d03da5ca6de0f9725850a8bd6af457"}], "reference": {"path": "history/60010416000112.json", "criterion_id": "offers", "total_count": 1, "preview_count": 1, "full_text_deferred": true, "sha256": "8e2bd813f4c51cf01f6bfaad164bafe69d2bbb192f753eac92da3a01c2e63046"}}</a:t>
            </a:r>
          </a:p>
          <a:p>
            <a:r>
              <a:t>CNPJ 62696791000193 · Ofertas e colocação · Regulamento · ID 1143317 · 2026-03-20 · versão 1 · p. 39 · 2.6 · https://fnet.bmfbovespa.com.br/fnet/publico/visualizarDocumento?id=1143317</a:t>
            </a:r>
          </a:p>
          <a:p>
            <a:r>
              <a:t>CNPJ 62696791000193 · Ofertas e colocação · Excerto da fonte:</a:t>
            </a:r>
          </a:p>
          <a:p>
            <a:r>
              <a:t>2.6. O valor de mercado das Cotas de emissão da Classe poderá sofrer oscilações frequentes e  significativas, inclusive ao longo do dia. Como consequência, o valor de mercado das cotas de  emissão da Classe poderá não ref letir necessariamente seu valor patrimonial. Não será devida  pela Classe ou por qualquer pessoa, incluindo as instituições responsáveis pela distribuição  das cotas, os demais Cotistas da Classe, o Administrador e as instituições participantes da  of erta, qualquer multa ou penalidade de qualquer natureza, caso ocorra, por qualquer razão,</a:t>
            </a:r>
          </a:p>
          <a:p>
            <a:r>
              <a:t> (i) o alongamento do período de amortização das Cotas; (ii) a liquidação da Classe; ou, ainda,</a:t>
            </a:r>
          </a:p>
          <a:p>
            <a:r>
              <a:t> (iii) caso os Cotistas sof ram qualquer dano ou prejuízo resultante de tais eventos.</a:t>
            </a:r>
          </a:p>
          <a:p>
            <a:r>
              <a:t>3. Risco TributárioOs rendimentos e ganhos líquidos auf eridos pela Classe em aplicações f inanceiras de  renda f ixa ou de renda variável sujeitam-se à incidência do imposto de renda na f onte, observadas as  mesmas normas aplicáveis às pessoas jurídicas, podendo esse imposto ser compensado com o retido na  f onte pela Classe quando da distribuição de rendimentos e ganhos de capital aos Cotistas. Os rendimentos  auf eridos pela Classe, quando distribuídos aos Cotistas sujeitam-se à incidência do Imposto de Renda na  f onte à alíquota de 20% (vinte por cento). Os rendimentos e ganhos de capital auferidos pelos Cotistas na</a:t>
            </a:r>
          </a:p>
          <a:p>
            <a:r>
              <a:t>CNPJ 62696791000193 · Ofertas e colocação · Regulamento · ID 1143317 · 2026-03-20 · versão 1 · p. 28 · https://fnet.bmfbovespa.com.br/fnet/publico/visualizarDocumento?id=1143317</a:t>
            </a:r>
          </a:p>
          <a:p>
            <a:r>
              <a:t>CNPJ 62696791000193 · Ofertas e colocação · Excerto da fonte:</a:t>
            </a:r>
          </a:p>
          <a:p>
            <a:r>
              <a:t>Taxa Máxima de Distribuição A remuneração da instituição intermediária líder e de eventuais  distribuidores contratados para os serviços de distribuição das Cotas  da Classe será prevista nos documentos da respectiva of erta,  conforme estabelecido na Resolução CVM 160 e deverá observar  uma taxa máxima de distribuição equivalente a 0,9% (nove décimos  por cento) ao ano aplicado sobre o Patrimônio Anexo I ao  Regulamento Líquido, observado o limite máximo de 4,5% (quatro  inteiros e cinquenta centésimos por cento) do volume captado na  respectiva oferta (“Taxa Máxima de Distribuição”).A Taxa Máxima de</a:t>
            </a:r>
          </a:p>
          <a:p>
            <a:r>
              <a:t>CNPJ 62696791000193 · Ofertas e colocação · Condição: Documentos atuais selecionados no inventário por categoria/escopo; a data documental isolada não comprova vigência jurídica.</a:t>
            </a:r>
          </a:p>
          <a:p>
            <a:r>
              <a:t>CNPJ 62696791000193 · Ofertas e colocação · Versão e prevalência: Documentos atuais selecionados no inventário por categoria/escopo; a data documental isolada não comprova vigência jurídica.</a:t>
            </a:r>
          </a:p>
          <a:p>
            <a:r>
              <a:t>CNPJ 62696791000193 · Ofertas e colocação · Resumo do histórico: {"count": 1, "dates": ["2026-03-27"], "document_count": 1, "sources": [{"document_id": "1148821", "title": "Instrumento Particular de Emissão de Cotas", "reference_date": "2026-03-27", "version": "1", "page": "1-3", "url": "https://fnet.bmfbovespa.com.br/fnet/publico/visualizarDocumento?id=1148821", "sha256": "86900e9dd498403696bfffbd4196443c83ec4d51ff21135e073c1966e1adf4c0"}], "reference": {"path": "history/62696791000193.json", "criterion_id": "offers", "total_count": 1, "preview_count": 1, "full_text_deferred": true, "sha256": "0e9ec199848320ec945708123ae0cb6075d76c05d94beed814d582031d353926"}}</a:t>
            </a:r>
          </a:p>
          <a:p>
            <a:r>
              <a:t>CNPJ 55563624000109 · Ofertas e colocação · Regulamento · ID 1192614 · 2026-04-30 · versão 1 · p. 25 · 12.9 · https://fnet.bmfbovespa.com.br/fnet/publico/visualizarDocumento?id=1192614</a:t>
            </a:r>
          </a:p>
          <a:p>
            <a:r>
              <a:t>CNPJ 55563624000109 · Ofertas e colocação · Excerto da fonte:</a:t>
            </a:r>
          </a:p>
          <a:p>
            <a:r>
              <a:t>12.9 Inclui-se entre as obrigações do GESTOR, contratar, em nome da Classe, se necessário, com terceiros  devidamente habilitados e autorizados, os serviços de distribuição das Cotas. A distribuição pública das Cotas  deverá ser realizada por distribuidores devidamente autorizados pela CVM, nos termos da regulamentação  aplicável.</a:t>
            </a:r>
          </a:p>
          <a:p>
            <a:r>
              <a:t>CNPJ 55563624000109 · Ofertas e colocação · Condição: Documentos atuais selecionados no inventário por categoria/escopo; a data documental isolada não comprova vigência jurídica.</a:t>
            </a:r>
          </a:p>
          <a:p>
            <a:r>
              <a:t>CNPJ 55563624000109 · Ofertas e colocação · Versão e prevalência: Documentos atuais selecionados no inventário por categoria/escopo; a data documental isolada não comprova vigência jurídica.</a:t>
            </a:r>
          </a:p>
          <a:p>
            <a:r>
              <a:t>CNPJ 55563624000109 · Ofertas e colocação · Resumo do histórico: {"count": 3, "dates": ["2024-07-03"], "document_count": 3, "sources": [{"document_id": "703295", "title": "Anúncio de Início", "reference_date": "2024-07-03", "version": "2", "page": 1, "url": "https://fnet.bmfbovespa.com.br/fnet/publico/visualizarDocumento?id=703295", "sha256": "12322b6dbf75e673723bd60910373db249451b72666792e18e0c7b6128f4608a"}, {"document_id": "702585", "title": "Anúncio de Início", "reference_date": "2024-07-03", "version": "1", "page": 1, "url": "https://fnet.bmfbovespa.com.br/fnet/publico/visualizarDocumento?id=702585", "sha256": "6708609ac7f0611118fb23ffd6d2cd6c7fd33275130407918ea42831baa712cd"}, {"document_id": "691674", "title": "Instrumento Particular de Emissão de Cotas", "reference_date": "2024-07-03", "version": "1", "page": 3, "url": "https://fnet.bmfbovespa.com.br/fnet/publico/visualizarDocumento?id=691674", "sha256": "78bf7b350f1785beae5f43bd209b5ed19e863cb9a2cff01542aac11dd63ca554"}], "reference": {"path": "history/55563624000109.json", "criterion_id": "offers", "total_count": 3, "preview_count": 3, "full_text_deferred": true, "sha256": "7835d573fb58a3c19adf5b8ecc2aee2bdbb9a88f7a0c0209b5f262b64c7522e3"}}</a:t>
            </a:r>
          </a:p>
          <a:p>
            <a:r>
              <a:t>CNPJ 62552447000120 · Ofertas e colocação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62552447000120 · Ofertas e colocação · Resumo do histórico: {"count": 1, "dates": ["2025-09-03"], "document_count": 1, "sources": [{"document_id": "988020", "title": "Instrumento Particular de Emissão de Cotas", "reference_date": "2025-09-03", "version": "1", "page": "5-6", "url": "https://fnet.bmfbovespa.com.br/fnet/publico/visualizarDocumento?id=988020", "sha256": "8ecc8a771bb9713d64e5fc2052c489664cb0433801a9280db68e5187d35bf7a5"}], "reference": {"path": "history/62552447000120.json", "criterion_id": "offers", "total_count": 1, "preview_count": 1, "full_text_deferred": true, "sha256": "d95db8c0613d67ee84118c734588665265ea6b02f86a0318d6a844cbe1d0f82f"}}</a:t>
            </a:r>
          </a:p>
          <a:p>
            <a:r>
              <a:t>CNPJ 63953620000165 · Ofertas e colocação · Anexo ao Regulamento · ID 1222863 · 2026-06-02 · versão 1 · p. 10 · 6.9 · https://fnet.bmfbovespa.com.br/fnet/publico/visualizarDocumento?id=1222863</a:t>
            </a:r>
          </a:p>
          <a:p>
            <a:r>
              <a:t>CNPJ 63953620000165 · Ofertas e colocação · Excerto da fonte:</a:t>
            </a:r>
          </a:p>
          <a:p>
            <a:r>
              <a:t>6.9 As Cotas poderão ser objeto de oferta pública a ser realizada nos termos da Resolução CVM 160 (“Oferta”) e/ou  poderão ser colocadas de forma privada (“Colocação Privada”), bem como segundo outros ritos que venham a  ser previstos pela regulamentação. As Cotas deverão ser emitidas e subscritas dentro do prazo e nos termos e  condições da legislação aplicável, do presente Anexo e dos respectivos Boletins de Subscrição e/ou  Compromissos de Investimento.</a:t>
            </a:r>
          </a:p>
          <a:p>
            <a:r>
              <a:t>CNPJ 63953620000165 · Ofertas e colocação · Condição: Documentos atuais selecionados no inventário por categoria/escopo; a data documental isolada não comprova vigência jurídica.</a:t>
            </a:r>
          </a:p>
          <a:p>
            <a:r>
              <a:t>CNPJ 63953620000165 · Ofertas e colocação · Versão e prevalência: Documentos atuais selecionados no inventário por categoria/escopo; a data documental isolada não comprova vigência jurídica.</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Governança e alterações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Quóruns e matérias reservadas · Regulamento · ID 670691 · 28/04/2024 · versão Regulamento — referência 28/04/2024 · p. 4 · Parte Geral, 4.4–4.4.1 · https://fnet.bmfbovespa.com.br/fnet/publico/visualizarDocumento?id=670691</a:t>
            </a:r>
          </a:p>
          <a:p>
            <a:r>
              <a:t>CNPJ 54871427000194 · Quóruns e matérias reservadas · Excerto da fonte:</a:t>
            </a:r>
          </a:p>
          <a:p>
            <a:r>
              <a:t>4.4 Ressalvadas as exceções descritas neste Regulamento, toda e qualquer matéria submetida à deliberação dos cotistas deverá ser aprovada por maioria dos votos dos presentes. 4.4.1 As deliberações relativas às matérias elencadas nos incisos abaixo serão tomadas, em primeira convocação ou em segunda convocação, pelos votos dos titulares da maioria das cotas em circulação, em sede assembleia geral de cotistas ou de assembleia especial de cotistas, conf orme o caso: (i) aprovação das demonstrações contábeis do FUNDO; (ii) alteração da Parte Geral deste Regulamento; (iii) substituição ou remoção do Prestador de Serviços Essenciais do FUNDO, ressalvada a possibilidade prevista no Art. 70, §1º, da Parte Geral da Resolução CVM 175; (iv) alterações nos quóruns de deliberação def inidos neste Regulamento; (v) cobrança de taxas e encargos pelo ADMINISTRADOR, de qualquer natureza, que não estejam expressamente previstos neste Regulamento; (vi) liquidação do FUNDO. (vii) plano de resolu</a:t>
            </a:r>
          </a:p>
          <a:p>
            <a:r>
              <a:t>CNPJ 54871427000194 · Quóruns e matérias reservadas · Regulamento · ID 670691 · 28/04/2024 · versão Regulamento — referência 28/04/2024 · p. 17 · Anexo I, 10.1 · https://fnet.bmfbovespa.com.br/fnet/publico/visualizarDocumento?id=670691</a:t>
            </a:r>
          </a:p>
          <a:p>
            <a:r>
              <a:t>CNPJ 54871427000194 · Quóruns e matérias reservadas · Excerto da fonte:</a:t>
            </a:r>
          </a:p>
          <a:p>
            <a:r>
              <a:t>10.1 Sem prejuízo de outros requisitos e inf ormações previstos na regulamentação vigente, são aplicáveis à Assembleia Especial de Cotistas as mesmas disposições procedimentais da Assembleia Geral de Cotistas. 10.2 A Assembleia Especial de Cotistas é responsável por deliberar sobre as matérias específicas da Classe de Cotas, sem prejuízo das demais disposições previstas na regulamentação aplicável, incluindo, mas não se limitando a: (i) deliberar sobre as demonstrações contábeis da Classe; (ii) deliberar sobre substituição de Prestadores de Serviços Essenciais, observado o disposto no art. 70, §1º da parte geral da Resolução CVM 175; (iii) deliberar sobre elevação da Taxa de Administração, inclusive na hipótese de restabelecimento de taxa que tenha sido objeto de redução; (iv) deliberar sobre incorporação, f usão, cisão total ou parcial, a transf ormação ou liquidação da Classe; (v) alterações das características, vantagens, direitos e obrigações das Cotas; (vi) alterar critérios e procedimentos para Amortização e/ou resgate de Cotas mediante dação em pagamento de Direitos Creditórios; (vii) a</a:t>
            </a:r>
          </a:p>
          <a:p>
            <a:r>
              <a:t>CNPJ 54871427000194 · Quóruns e matérias reservadas · Versão e prevalência: Leitura específica das cláusulas indicadas; condições e conflitos preservados. Seleção documental atual não comprova vigência jurídica por data isolada.</a:t>
            </a:r>
          </a:p>
          <a:p>
            <a:r>
              <a:t>CNPJ 54871427000194 · Quóruns e matérias reservadas · Resumo do histórico: {"count": 1, "dates": ["2024-04-19"], "document_count": 1, "sources": [{"document_id": "670689", "title": "Regulamento", "reference_date": "2024-04-19", "version": "1", "page": 20, "clause": "11.6", "url": "https://fnet.bmfbovespa.com.br/fnet/publico/visualizarDocumento?id=670689", "sha256": "891bc9bc5d87bbc02ec139077a84d2702eb81ea02035fb71d24f5b8366b94a0b"}], "reference": {"path": "history/54871427000194.json", "criterion_id": "quorum", "total_count": 1, "preview_count": 1, "full_text_deferred": true, "sha256": "35d7cd99be50c7287c9fb675cf4f2e736002315295a225a9efa79c8d9186d874"}}</a:t>
            </a:r>
          </a:p>
          <a:p>
            <a:r>
              <a:t>CNPJ 60010416000112 · Quóruns e matérias reservadas · Regulamento · ID 1051393 · 09/10/2025 · versão Regulamento09/10/2025 · p. 18 · AnexoI9.2(ii)–(xvii) · https://fnet.bmfbovespa.com.br/fnet/publico/visualizarDocumento?id=1051393</a:t>
            </a:r>
          </a:p>
          <a:p>
            <a:r>
              <a:t>CNPJ 60010416000112 · Quóruns e matérias reservadas · Excerto da fonte:</a:t>
            </a:r>
          </a:p>
          <a:p>
            <a:r>
              <a:t>(ii) alterar este Anexo I e seus complementos, incluindo mas não se limitando aos Apêndices de cada uma das subclasses; (iii) deliberar sobre substituição de Prestadores de Serviços Essenciais, observado o disposto no Art. 70, §1º da parte geral da Resolução CVM 175, quando aplicável, ou do Custodiante; (iv) deliberar sobre elevação da Taxa de Administração, inclusive na hipótese de restabelecimento de taxa que tenha sido objeto de redução; (v) deliberar sobre incorporação, fusão, cisão total ou parcial, a transformação ou liquidação da Classe; (vi) alter</a:t>
            </a:r>
          </a:p>
          <a:p>
            <a:r>
              <a:t>CNPJ 60010416000112 · Quóruns e matérias reservadas · Regulamento · ID 1051393 · 09/10/2025 · versão Regulamento09/10/2025 · p. 19 · AnexoI9.8–9.9 · https://fnet.bmfbovespa.com.br/fnet/publico/visualizarDocumento?id=1051393</a:t>
            </a:r>
          </a:p>
          <a:p>
            <a:r>
              <a:t>CNPJ 60010416000112 · Quóruns e matérias reservadas · Excerto da fonte:</a:t>
            </a:r>
          </a:p>
          <a:p>
            <a:r>
              <a:t>9.8 As deliberações constantes dos incisos (ii), (iii), (iv), (v), (vi), (vii), (x), (xi), (xii), (xiii) e (xvii) acima, apenas serão aprovadas, seja em primeira ou em segunda convocação, por unanimidade dos votos dos titulares das Cotas em circulação. 9.9 As deliberações relativas aos demais incisos do item 9.2 acima apenas serão aprovadas, seja em primeira ou em segunda convocação, mediante o voto favorável dos Cotistas que representem a maioria das Cotas emitidas pela Classe. 9.10 Somente os Cotistas, seus representantes legais ou procuradores legalmente nomeados há menos de 1 (um) ano ter</a:t>
            </a:r>
          </a:p>
          <a:p>
            <a:r>
              <a:t>CNPJ 60010416000112 · Quóruns e matérias reservadas · Versão e prevalência: Leitura específica das cláusulas indicadas; condições e conflitos preservados. Seleção documental atual não comprova vigência jurídica por data isolada.</a:t>
            </a:r>
          </a:p>
          <a:p>
            <a:r>
              <a:t>CNPJ 60010416000112 · Quóruns e matérias reservadas · Resumo do histórico: {"count": 3, "dates": ["2025-03-20", "2025-05-09", "2025-05-12"], "document_count": 3, "sources": [{"document_id": "1004656", "title": "AGE", "reference_date": "2025-05-12", "version": "1", "page": 1, "url": "https://fnet.bmfbovespa.com.br/fnet/publico/visualizarDocumento?id=1004656", "sha256": "f6c9c009f6170e2b29f074b98522accec73f0c40efbf11f9ec2c8d3f1402616b"}, {"document_id": "911262", "title": "AGE", "reference_date": "2025-05-09", "version": "1", "page": 1, "url": "https://fnet.bmfbovespa.com.br/fnet/publico/visualizarDocumento?id=911262", "sha256": "675de4ffe8c5ee95957fb29810625ce850d1a0b69b5231747442266f0cbf32a3"}, {"document_id": "993786", "title": "Regulamento", "reference_date": "2025-03-20", "version": "1", "page": 22, "clause": "10.6", "url": "https://fnet.bmfbovespa.com.br/fnet/publico/visualizarDocumento?id=993786", "sha256": "fd0fdd369a195510d81f81f505195a0b09e5f43522a990afa7d58c4f872921c8"}], "reference": {"path": "history/60010416000112.json", "criterion_id": "quorum", "total_count": 3, "preview_count": 3, "full_text_deferred": true, "sha256": "8e2bd813f4c51cf01f6bfaad164bafe69d2bbb192f753eac92da3a01c2e63046"}}</a:t>
            </a:r>
          </a:p>
          <a:p>
            <a:r>
              <a:t>CNPJ 62696791000193 · Quóruns e matérias reservadas · Regulamento · ID 1143317 · 20/03/2026 · versão Regulamento — referência 20/03/2026 · p. 20 · Anexo I, 10.2, tabela · https://fnet.bmfbovespa.com.br/fnet/publico/visualizarDocumento?id=1143317</a:t>
            </a:r>
          </a:p>
          <a:p>
            <a:r>
              <a:t>CNPJ 62696791000193 · Quóruns e matérias reservadas · Excerto da fonte:</a:t>
            </a:r>
          </a:p>
          <a:p>
            <a:r>
              <a:t>10.2 Os seguintes quóruns deverão ser observados pela Assembleia Especial de Cotistas ao deliberar as matérias abaixo: Matéria Quórum I – alterar o presente Anexo; Maioria das Cotas Subscritas (“Quórum Qualificado”), observada BTG Pactual SAC: 0800 772 2827 | Ouvidoria: 0800 722 0048 | btgpactual.co m 15</a:t>
            </a:r>
          </a:p>
          <a:p>
            <a:r>
              <a:t>CNPJ 62696791000193 · Quóruns e matérias reservadas · Regulamento · ID 1143317 · 20/03/2026 · versão Regulamento — referência 20/03/2026 · p. 21 · Anexo I, 10.2, tabela · https://fnet.bmfbovespa.com.br/fnet/publico/visualizarDocumento?id=1143317</a:t>
            </a:r>
          </a:p>
          <a:p>
            <a:r>
              <a:t>CNPJ 62696791000193 · Quóruns e matérias reservadas · Excerto da fonte:</a:t>
            </a:r>
          </a:p>
          <a:p>
            <a:r>
              <a:t>Matéria Quórum a necessidade de voto afirmativo da Maioria das Cotas Seniores subscritas da Classe Quórum Qualif icado observada a necessidade de voto af irmativo da II – substituição do Administrador, do Gestor e da Cogestora; Maioria das Cotas Seniores subscritas da Classe Maioria Simples, observada a III – Emissão e distribuição de novas Cotas em quantidade necessidade de voto af irmativo da superior ao Capital Autorizado da Classe ; Maioria das Cotas Seniores subscritas da Classe</a:t>
            </a:r>
          </a:p>
          <a:p>
            <a:r>
              <a:t>CNPJ 62696791000193 · Quóruns e matérias reservadas · Regulamento · ID 1143317 · 20/03/2026 · versão Regulamento — referência 20/03/2026 · p. 22 · Anexo I, 10.2(XI) e 10.5–10.7 · https://fnet.bmfbovespa.com.br/fnet/publico/visualizarDocumento?id=1143317</a:t>
            </a:r>
          </a:p>
          <a:p>
            <a:r>
              <a:t>CNPJ 62696791000193 · Quóruns e matérias reservadas · Excerto da fonte:</a:t>
            </a:r>
          </a:p>
          <a:p>
            <a:r>
              <a:t>10.5 As deliberações que tenham por objeto alterações de Benchmark apenas serão aprovadas se assim deliberado: (i) pelos votos dos titulares da maioria das Cotas em circulação da Série ou Subclasse cujo Benchmark é alterado; e (ii) pelos votos dos titulares da maioria das Cotas Mezanino que se subordinem a ela e/ou das Cotas Subordinadas em circulação. 10.6 As deliberações que tenham por objeto o aumento do Índice de Subordinação estão sujeitas à aprovação da maioria simples dos votos dos titulares das Cotas Mezanino que se subordinem a ela e/ou das Cotas Subordinadas em circulação. 10.7 As deliberações que tenham por objeto a diminuição do Índice de Subordinação apenas serão aprovadas se assim deliberado: (i) pelos votos dos titulares da maioria das Cotas em circulação de cada uma das Séries de Cotas Seniores e/ou dos titulares das Cotas Mezanino que tenham o Benchmark alterado; e (ii) pelo voto dos titulares da maioria das Cotas Mezanino que se subordinem a ela e/ou Cotas Subordinadas Júnior em circulação . Representante de Cotistas 10.8 A Assembleia de Cotistas pode, a qualquer momento, eleger até 3 (três) representantes de cotistas, a serem eleitos e nomeados pela assembleia especial,</a:t>
            </a:r>
          </a:p>
          <a:p>
            <a:r>
              <a:t>CNPJ 62696791000193 · Quóruns e matérias reservadas · Versão e prevalência: Leitura específica das cláusulas indicadas; condições e conflitos preservados. Seleção documental atual não comprova vigência jurídica por data isolada.</a:t>
            </a:r>
          </a:p>
          <a:p>
            <a:r>
              <a:t>CNPJ 55563624000109 · Quóruns e matérias reservadas · Regulamento · ID 1192614 · 30/04/2026 · versão Regulamento30/04/2026 · p. 19 · AnexoI10.2(i)–(v) · https://fnet.bmfbovespa.com.br/fnet/publico/visualizarDocumento?id=1192614</a:t>
            </a:r>
          </a:p>
          <a:p>
            <a:r>
              <a:t>CNPJ 55563624000109 · Quóruns e matérias reservadas · Excerto da fonte:</a:t>
            </a:r>
          </a:p>
          <a:p>
            <a:r>
              <a:t>10.2 A Assembleia Especial de Cotistas é responsável por deliberar, observados os quóruns abaixo, sobre as matérias específicas da Classe, sem prejuízo das demais disposições previstas na regulamentação aplicável, incluindo, mas não se limitando a: MATÉRIA SUJEITA À APROVAÇÃO QUÓRUM DE DELIBERAÇÃO (i) deliberar sobre as demonstrações contábeis da Classe; Maioria do total das Cotas emitidas (ii) deliberar sobre a substituição de Prestadores de Serviços 90% (noventa por cento) do total das Cotas</a:t>
            </a:r>
          </a:p>
          <a:p>
            <a:r>
              <a:t>CNPJ 55563624000109 · Quóruns e matérias reservadas · Regulamento · ID 1192614 · 30/04/2026 · versão Regulamento30/04/2026 · p. 20 · AnexoI10.2(vi)–(xiii) · https://fnet.bmfbovespa.com.br/fnet/publico/visualizarDocumento?id=1192614</a:t>
            </a:r>
          </a:p>
          <a:p>
            <a:r>
              <a:t>CNPJ 55563624000109 · Quóruns e matérias reservadas · Excerto da fonte:</a:t>
            </a:r>
          </a:p>
          <a:p>
            <a:r>
              <a:t>(vi) alterar as características, vantagens, direitos e obrigações 90% (noventa por cento) do total das Cotas das Cotas; emitidas (vii) alterar critérios e procedimentos para resgate de Cotas mediante dação em pagamento de Cotas da Classe Maioria do total das Cotas emitidas Investida; (viii) aprovar a emissão de novas Cotas fora do Capital Maioria do total das Cotas emitidas</a:t>
            </a:r>
          </a:p>
          <a:p>
            <a:r>
              <a:t>CNPJ 55563624000109 · Quóruns e matérias reservadas · Versão e prevalência: Leitura específica das cláusulas indicadas; condições e conflitos preservados. Seleção documental atual não comprova vigência jurídica por data isolada.</a:t>
            </a:r>
          </a:p>
          <a:p>
            <a:r>
              <a:t>CNPJ 55563624000109 · Quóruns e matérias reservadas · Resumo do histórico: {"count": 2, "dates": ["2025-01-31", "2026-01-31"], "document_count": 2, "sources": [{"document_id": "1178840", "title": "Demonstrações Financeiras", "reference_date": "2026-01-31", "version": "1", "page": 24, "url": "https://fnet.bmfbovespa.com.br/fnet/publico/visualizarDocumento?id=1178840", "sha256": "c458e98664c5c907ddb5a05a94b120bed4e05295b2bfc420f5ba69af0a229abe"}, {"document_id": "891861", "title": "Demonstrações Financeiras", "reference_date": "2025-01-31", "version": "1", "page": 25, "url": "https://fnet.bmfbovespa.com.br/fnet/publico/visualizarDocumento?id=891861", "sha256": "e9cb9e6ddbe505fe068cfcac33605165a98313489de0d3ce6d4d238263c3f3e7"}], "reference": {"path": "history/55563624000109.json", "criterion_id": "quorum", "total_count": 2, "preview_count": 2, "full_text_deferred": true, "sha256": "7835d573fb58a3c19adf5b8ecc2aee2bdbb9a88f7a0c0209b5f262b64c7522e3"}}</a:t>
            </a:r>
          </a:p>
          <a:p>
            <a:r>
              <a:t>CNPJ 62552447000120 · Quóruns e matérias reservadas · Regulamento · ID 1200623 · 21/05/2026 · versão Consolidado21/05/2026 aprovado pelo ato1200625 · p. 21 · AnexoI10.2(i)–(x) · https://fnet.bmfbovespa.com.br/fnet/publico/visualizarDocumento?id=1200623</a:t>
            </a:r>
          </a:p>
          <a:p>
            <a:r>
              <a:t>CNPJ 62552447000120 · Quóruns e matérias reservadas · Excerto da fonte:</a:t>
            </a:r>
          </a:p>
          <a:p>
            <a:r>
              <a:t>10.2 Os seguintes quóruns deverão ser observados pela Assembleia Especial ao deliberar as matérias abaixo: Matéria Quórum (i) deliberar sobre substituição de Prestadores de Serviços Unanimidade dos Cotistas Essenciais, observado o disposto no art. 70, §1º da Parte Geral da Resolução CVM 175, quando aplicável; (ii) deliberar sobre elevação da Taxa Global, inclusive na Unanimidade dos Cotistas hipótese de restabelecimento de taxa que tenha sido objeto de redução; (iii) delibera</a:t>
            </a:r>
          </a:p>
          <a:p>
            <a:r>
              <a:t>CNPJ 62552447000120 · Quóruns e matérias reservadas · Versão e prevalência: Leitura específica das cláusulas indicadas; condições e conflitos preservados. Seleção documental atual não comprova vigência jurídica por data isolada.</a:t>
            </a:r>
          </a:p>
          <a:p>
            <a:r>
              <a:t>CNPJ 63953620000165 · Quóruns e matérias reservadas · Anexo ao Regulamento · ID 1222863 · 02/06/2026 · versão AnexoConsignadoPrivado02/06/2026 · p. 13 · 10.2(ii)–(xvii) · https://fnet.bmfbovespa.com.br/fnet/publico/visualizarDocumento?id=1222863</a:t>
            </a:r>
          </a:p>
          <a:p>
            <a:r>
              <a:t>CNPJ 63953620000165 · Quóruns e matérias reservadas · Excerto da fonte:</a:t>
            </a:r>
          </a:p>
          <a:p>
            <a:r>
              <a:t>10.2 Os seguintes quóruns deverão ser observados pela Assembleia Especial de Cotistas ao deliberar as matérias abaixo: Matéria Quórum (i) deliberar sobre as demonstrações contábeis da Classe; Maioria das Cotas presentes (ii) alterar o presente Anexo; Maioria das Cotas de cada Subclasse (iii) deliberar sobre substituição de Prestadores de Serviços Maioria das Cotas da Classe Essenciais, observado o disposto no Artigo 70, §1º da parte geral da R</a:t>
            </a:r>
          </a:p>
          <a:p>
            <a:r>
              <a:t>CNPJ 63953620000165 · Quóruns e matérias reservadas · Anexo ao Regulamento · ID 1222863 · 02/06/2026 · versão AnexoConsignadoPrivado02/06/2026 · p. 14 · 10.5–10.8 · https://fnet.bmfbovespa.com.br/fnet/publico/visualizarDocumento?id=1222863</a:t>
            </a:r>
          </a:p>
          <a:p>
            <a:r>
              <a:t>CNPJ 63953620000165 · Quóruns e matérias reservadas · Excerto da fonte:</a:t>
            </a:r>
          </a:p>
          <a:p>
            <a:r>
              <a:t>10.5 Caso a matéria em deliberação resulte ou possa resultar em uma redução do Índice de Subordinação de uma determinada Subclasse, somente podem votar os titulares de Subclasses de Cotas Seniores. 10.6 As deliberações que tenham por objeto alterações de Benchmark apenas serão aprovadas se assim deliberado: (i) pelos votos dos titulares da maioria das Cotas Seniores cujo Benchmark é alterado; e (ii) pelos votos dos titulares da maioria das Cotas Subordinadas em circulação. 10.7 As deliberações que tenham por objeto o aumento do Índice de Subordinação Sênior estão sujeitas à aprovação da maioria simples dos votos dos titu</a:t>
            </a:r>
          </a:p>
          <a:p>
            <a:r>
              <a:t>CNPJ 63953620000165 · Quóruns e matérias reservadas · Condição: 10.7/10.8 repetem aumento do índice com quóruns distintos; interpretar regra específica demandará resolver conflito, sem presumir uma aprovação.</a:t>
            </a:r>
          </a:p>
          <a:p>
            <a:r>
              <a:t>CNPJ 63953620000165 · Quóruns e matérias reservadas · Versão e prevalência: Leitura específica das cláusulas indicadas; condições e conflitos preservados. Seleção documental atual não comprova vigência jurídica por data isolada.</a:t>
            </a:r>
          </a:p>
          <a:p>
            <a:r>
              <a:t>CNPJ 63953620000165 · Quóruns e matérias reservadas · Resumo do histórico: {"count": 7, "dates": ["2026-04-28", "2026-05-08", "2026-05-15"], "document_count": 3, "sources": [{"document_id": "1327859", "title": "Demonstrações Financeiras - Fusão, cisão e incorporação", "reference_date": "2026-05-15", "version": "1", "page": 10, "url": "https://fnet.bmfbovespa.com.br/fnet/publico/visualizarDocumento?id=1327859", "sha256": "dca1c68babb97f887528c3e2e47596a9c30f507b067981a35655b2f2da9c8054"}, {"document_id": "1298691", "title": "Demonstrações Financeiras - Fusão, cisão e incorporação", "reference_date": "2026-05-08", "version": "1", "page": 10, "url": "https://fnet.bmfbovespa.com.br/fnet/publico/visualizarDocumento?id=1298691", "sha256": "58c570d9b8d4d265330d3db3ea81c435b8e44a6dab4002aa37790652a1ee9819"}, {"document_id": "1205431", "title": "AGE", "reference_date": "2026-04-28", "version": "1", "page": 1, "url": "https://fnet.bmfbovespa.com.br/fnet/publico/visualizarDocumento?id=1205431", "sha256": "e0b59c701c5d0dbf60de698ea7664d442240863b7043bacdb334ce484188b2ac"}], "reference": {"path": "history/63953620000165.json", "criterion_id": "quorum", "total_count": 7, "preview_count": 3, "full_text_deferred": true, "sha256": "a7b89077f5e21098c2d601c303faabc3ff6b9729f89d8afecdc60fe1404720c1"}}</a:t>
            </a:r>
          </a:p>
          <a:p>
            <a:r>
              <a:t>CNPJ 54871427000194 · Partes relacionadas e conflitos · Regulamento · ID 670691 · 2024-04-28 · versão 1 · p. 11 · 4.10 · https://fnet.bmfbovespa.com.br/fnet/publico/visualizarDocumento?id=670691</a:t>
            </a:r>
          </a:p>
          <a:p>
            <a:r>
              <a:t>CNPJ 54871427000194 · Partes relacionadas e conflitos · Excerto da fonte:</a:t>
            </a:r>
          </a:p>
          <a:p>
            <a:r>
              <a:t>4.10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54871427000194 · Partes relacionadas e conflitos · Regulamento · ID 670691 · 2024-04-28 · versão 1 · p. 11 · 4.11 · https://fnet.bmfbovespa.com.br/fnet/publico/visualizarDocumento?id=670691</a:t>
            </a:r>
          </a:p>
          <a:p>
            <a:r>
              <a:t>CNPJ 54871427000194 · Partes relacionadas e conflitos · Excerto da fonte:</a:t>
            </a:r>
          </a:p>
          <a:p>
            <a:r>
              <a:t>4.11 A Classe poderá, direta ou indiretamente e, nos termos da legislação aplicável: (i) adquirir Direitos  Creditórios que sejam cedidos e/ou originados pelo ADMINISTRADOR e/ou pelo GESTOR, ou partes  a eles relacionadas, tal como definidas pelas regras contábeis que tratam desse assunto; e (ii) ceder  Direitos Creditórios a qualquer das pessoas, fundos de investimento ou entidades referidas no item (i)  acima, desde que (i) o ADMINISTRADOR, GESTOR, a entidade registradora e o CUSTODIANTE de  Direitos Creditórios não sejam partes relacionadas entre si; e (ii) a entidade registradora e o  CUSTODIANTE dos Direitos Creditórios não sejam partes relacionadas ao originador ou Cedente.</a:t>
            </a:r>
          </a:p>
          <a:p>
            <a:r>
              <a:t>CNPJ 54871427000194 · Partes relacionadas e conflitos · Regulamento · ID 670691 · 2024-04-28 · versão 1 · p. 25 · 12.21 · https://fnet.bmfbovespa.com.br/fnet/publico/visualizarDocumento?id=670691</a:t>
            </a:r>
          </a:p>
          <a:p>
            <a:r>
              <a:t>CNPJ 54871427000194 · Partes relacionadas e conflitos · Excerto da fonte:</a:t>
            </a:r>
          </a:p>
          <a:p>
            <a:r>
              <a:t>12.21 O GESTOR, em nome da Classe, poderá contratar um ou mais terceiros para a prestação de serviços  de Agente de Cobrança de Direitos Creditórios Inadimplidos, os quais poderão ser partes relacionadas  ou integrar o grupo do ADMINISTRADOR ou dos demais prestadores de serviços da Classe. ] Serão  atribuições do Agente de Cobrança, observado o disposto neste Regulamento e na regulamentação  aplicável:</a:t>
            </a:r>
          </a:p>
          <a:p>
            <a:r>
              <a:t>(i) sempre que necessário, notificar os Devedores sobre a cessão dos Direitos Creditórios à  Classe, nos termos do Art. 290 do Código Civil;</a:t>
            </a:r>
          </a:p>
          <a:p>
            <a:r>
              <a:t>(ii) sempre que solicitado pelo ADMINISTRADOR e/ou pelo GESTOR, reportar ao  ADMINISTRADOR e ao GESTOR as ações tomadas e/ou eventos relevantes ocorridos no  âmbito da cobrança, seja judicial ou extrajudicial, dos Direitos Creditórios Inadimplidos, bem  como o estado de ref erida cobrança;</a:t>
            </a:r>
          </a:p>
          <a:p>
            <a:r>
              <a:t>(iii) comparecer à Assembleia Especial de Cotistas quando assim requerido pelo  ADMINISTRADOR;</a:t>
            </a:r>
          </a:p>
          <a:p>
            <a:r>
              <a:t>(iv) conf irmar o recebimento dos boletos bancários de cobrança enviados aos Devedores, se  aplicável;</a:t>
            </a:r>
          </a:p>
          <a:p>
            <a:r>
              <a:t>(v) controlar, coordenar, gerir e f iscalizar as ações de cobrança de Direitos Creditórios  Inadimplidos;</a:t>
            </a:r>
          </a:p>
          <a:p>
            <a:r>
              <a:t>(vi) adotar, em nome e por conta da Classe, todos os procedimentos de cobrança dos Direitos  Creditórios Inadimplidos de titularidade da Classe;</a:t>
            </a:r>
          </a:p>
          <a:p>
            <a:r>
              <a:t>(vii) conf orme o caso, ef etuar a inclusão ou exclusão do nome de quaisquer Devedores dos  Direitos Creditórios Inadimplidos no registro negativo de órgãos e/ou sistemas de informação  e proteção ao crédito; e</a:t>
            </a:r>
          </a:p>
          <a:p>
            <a:r>
              <a:t>(viii) conduzir, por si ou por meio dos assessores legais contratados para esse f im, processo  administrativo, judicial e/ou arbitral contra os Devedores, incluindo, ainda, a excussão de  eventuais garantias acessórias aos Direitos Creditórios.</a:t>
            </a:r>
          </a:p>
          <a:p>
            <a:r>
              <a:t>CNPJ 54871427000194 · Partes relacionadas e conflitos · Condição: Documentos atuais selecionados no inventário por categoria/escopo; a data documental isolada não comprova vigência jurídica.</a:t>
            </a:r>
          </a:p>
          <a:p>
            <a:r>
              <a:t>CNPJ 54871427000194 · Partes relacionadas e conflitos · Versão e prevalência: Documentos atuais selecionados no inventário por categoria/escopo; a data documental isolada não comprova vigência jurídica.</a:t>
            </a:r>
          </a:p>
          <a:p>
            <a:r>
              <a:t>CNPJ 54871427000194 · Partes relacionadas e conflitos · Resumo do histórico: {"count": 1, "dates": ["2024-04-19"], "document_count": 1, "sources": [{"document_id": "670689", "title": "Regulamento", "reference_date": "2024-04-19", "version": "1", "page": 11, "clause": "4.10", "url": "https://fnet.bmfbovespa.com.br/fnet/publico/visualizarDocumento?id=670689", "sha256": "891bc9bc5d87bbc02ec139077a84d2702eb81ea02035fb71d24f5b8366b94a0b"}], "reference": {"path": "history/54871427000194.json", "criterion_id": "related_parties", "total_count": 1, "preview_count": 1, "full_text_deferred": true, "sha256": "35d7cd99be50c7287c9fb675cf4f2e736002315295a225a9efa79c8d9186d874"}}</a:t>
            </a:r>
          </a:p>
          <a:p>
            <a:r>
              <a:t>CNPJ 60010416000112 · Partes relacionadas e conflitos · Regulamento · ID 1051393 · 2025-10-09 · versão 1 · p. 12 · 4.8 · https://fnet.bmfbovespa.com.br/fnet/publico/visualizarDocumento?id=1051393</a:t>
            </a:r>
          </a:p>
          <a:p>
            <a:r>
              <a:t>CNPJ 60010416000112 · Partes relacionadas e conflitos · Excerto da fonte:</a:t>
            </a:r>
          </a:p>
          <a:p>
            <a:r>
              <a:t>4.8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60010416000112 · Partes relacionadas e conflitos · Regulamento · ID 1051393 · 2025-10-09 · versão 1 · p. 12 · 4.9 · https://fnet.bmfbovespa.com.br/fnet/publico/visualizarDocumento?id=1051393</a:t>
            </a:r>
          </a:p>
          <a:p>
            <a:r>
              <a:t>CNPJ 60010416000112 · Partes relacionadas e conflitos · Excerto da fonte:</a:t>
            </a:r>
          </a:p>
          <a:p>
            <a:r>
              <a:t>4.9 Sem prejuízo de limites mais restritivos definidos neste Regulamento, o Gestor deverá observar, ainda, os  seguintes limites de concentração para a composição da Carteira:</a:t>
            </a:r>
          </a:p>
          <a:p>
            <a:r>
              <a:t> (i ) Até 100% (cem por cento) da parcela do Patrimônio Líquido investida em Ativos  Financeiros de Liquidez poderá ser alocada em Ativos Financeiros de Liquidez de  emissão ou que envolvam retenção de risco por parte do Administrador, Gestor, e/ou  suas partes relacionadas; e</a:t>
            </a:r>
          </a:p>
          <a:p>
            <a:r>
              <a:t> (ii) Até 100% (cem por cento) da parcela do Patrimônio Líquido investida em operações  com derivativos poderá ser alocada em derivativos nos quais, inexistindo contraparte  central, se tenha como contraparte o Gestor e/ou suas partes relacionadas.</a:t>
            </a:r>
          </a:p>
          <a:p>
            <a:r>
              <a:t>CNPJ 60010416000112 · Partes relacionadas e conflitos · Regulamento · ID 1051393 · 2025-10-09 · versão 1 · p. 12 · 4.12.1 · https://fnet.bmfbovespa.com.br/fnet/publico/visualizarDocumento?id=1051393</a:t>
            </a:r>
          </a:p>
          <a:p>
            <a:r>
              <a:t>CNPJ 60010416000112 · Partes relacionadas e conflitos · Excerto da fonte:</a:t>
            </a:r>
          </a:p>
          <a:p>
            <a:r>
              <a:t>4.12.1. Após o término do Período de Investimento, a Classe utilizará os recursos provenientes do  pagamento dos Direitos Creditórios e demais aplicações para amortização das Cotas, observada  a ordem de alocação de recursos def inida no Capítulo 7 abaixo.</a:t>
            </a:r>
          </a:p>
          <a:p>
            <a:r>
              <a:t>Regras, procedimentos e limites para efetuar cessão de direitos creditórios para o cedente e suas partes relacionadas</a:t>
            </a:r>
          </a:p>
          <a:p>
            <a:r>
              <a:t>CNPJ 60010416000112 · Partes relacionadas e conflitos · Condição: Documentos atuais selecionados no inventário por categoria/escopo; a data documental isolada não comprova vigência jurídica.</a:t>
            </a:r>
          </a:p>
          <a:p>
            <a:r>
              <a:t>CNPJ 60010416000112 · Partes relacionadas e conflitos · Versão e prevalência: Documentos atuais selecionados no inventário por categoria/escopo; a data documental isolada não comprova vigência jurídica.</a:t>
            </a:r>
          </a:p>
          <a:p>
            <a:r>
              <a:t>CNPJ 60010416000112 · Partes relacionadas e conflitos · Resumo do histórico: {"count": 1, "dates": ["2025-03-20"], "document_count": 1, "sources": [{"document_id": "993786", "title": "Regulamento", "reference_date": "2025-03-20", "version": "1", "page": 12, "clause": "4.8", "url": "https://fnet.bmfbovespa.com.br/fnet/publico/visualizarDocumento?id=993786", "sha256": "fd0fdd369a195510d81f81f505195a0b09e5f43522a990afa7d58c4f872921c8"}], "reference": {"path": "history/60010416000112.json", "criterion_id": "related_parties", "total_count": 1, "preview_count": 1, "full_text_deferred": true, "sha256": "8e2bd813f4c51cf01f6bfaad164bafe69d2bbb192f753eac92da3a01c2e63046"}}</a:t>
            </a:r>
          </a:p>
          <a:p>
            <a:r>
              <a:t>CNPJ 62696791000193 · Partes relacionadas e conflitos · Regulamento · ID 1143317 · 2026-03-20 · versão 1 · p. 12 · 4.10 · https://fnet.bmfbovespa.com.br/fnet/publico/visualizarDocumento?id=1143317</a:t>
            </a:r>
          </a:p>
          <a:p>
            <a:r>
              <a:t>CNPJ 62696791000193 · Partes relacionadas e conflitos · Excerto da fonte:</a:t>
            </a:r>
          </a:p>
          <a:p>
            <a:r>
              <a:t>4.10 Sem prejuízo de limites mais restritivos definidos neste Anexo, o Gestor deverá observar, ainda, os  seguintes limites de concentração:</a:t>
            </a:r>
          </a:p>
          <a:p>
            <a:r>
              <a:t> (i) A Classe poderá, direta ou indiretamente, ter até 100% (cem por cento) do Patrimônio  Líquido representado por Direitos Creditórios do Agronegócio originados ou cedidos  pelo Administrador, Gestor e/ou suas partes relacionadas, tal como definidas pelas  regras contábeis que tratam desse assunto, desde que (a) o Gest or, a entidade  registradora e o Custodiante dos Direitos Creditórios do Agronegócio não sejam partes  relacionadas entre si; e (b) a entidade registradora e o Custodiante dos Direitos  Creditórios do Agronegócio não sejam partes relacionadas ao originador ou Cedente.</a:t>
            </a:r>
          </a:p>
          <a:p>
            <a:r>
              <a:t> (ii) No máximo, 100% (cem por cento) do Patrimônio Líquido investido em Ativos  Financeiros de Liquidez de emissão ou que envolvam retenção de risco por parte do  Administrador, Gestor, e/ou suas partes relacionadas, observado ainda o disposto no  item Error! Reference source not found.;</a:t>
            </a:r>
          </a:p>
          <a:p>
            <a:r>
              <a:t> (iii) No máximo, 100% (cem por cento) do Patrimônio Líquido investido em operações com  derivativos nos quais, inexistindo contraparte central, se tenha como contraparte o  Gestor, e/ou suas partes relacionadas, observado ainda o disposto no item Error!  Reference source not found.;</a:t>
            </a:r>
          </a:p>
          <a:p>
            <a:r>
              <a:t> (iv) No máximo, 100% (cem por cento) do Patrimônio Líquido em cotas de uma mesma  classe;</a:t>
            </a:r>
          </a:p>
          <a:p>
            <a:r>
              <a:t> (v) É vedada a aquisição de precatórios f ederais.</a:t>
            </a:r>
          </a:p>
          <a:p>
            <a:r>
              <a:t> (vi) No máximo, 49% (quarenta e nove por cento) do Patrimônio Líquido em Ativos  Imobiliários do Agronegócio;</a:t>
            </a:r>
          </a:p>
          <a:p>
            <a:r>
              <a:t> (vii) No máximo, 49% (quarenta e nove por cento) do Patrimônio Líquido em Participações  do Agronegócio;</a:t>
            </a:r>
          </a:p>
          <a:p>
            <a:r>
              <a:t> (viii) No máximo, 49% (quarenta e nove por cento) do Patrimônio Líquido em Ativos  Financeiros do Agronegócio; e</a:t>
            </a:r>
          </a:p>
          <a:p>
            <a:r>
              <a:t> (ix) No máximo, 49% (quarenta e nove por cento) do Patrimônio Líquido em Ativos em Geral  do Agronegócio;</a:t>
            </a:r>
          </a:p>
          <a:p>
            <a:r>
              <a:t> Ativos Recuperados</a:t>
            </a:r>
          </a:p>
          <a:p>
            <a:r>
              <a:t>CNPJ 62696791000193 · Partes relacionadas e conflitos · Regulamento · ID 1143317 · 2026-03-20 · versão 1 · p. 11 · 4.8 · https://fnet.bmfbovespa.com.br/fnet/publico/visualizarDocumento?id=1143317</a:t>
            </a:r>
          </a:p>
          <a:p>
            <a:r>
              <a:t>CNPJ 62696791000193 · Partes relacionadas e conflitos · Excerto da fonte:</a:t>
            </a:r>
          </a:p>
          <a:p>
            <a:r>
              <a:t>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relacionadas ao Gestor.</a:t>
            </a:r>
          </a:p>
          <a:p>
            <a:r>
              <a:t>CNPJ 62696791000193 · Partes relacionadas e conflitos · Regulamento · ID 1143317 · 2026-03-20 · versão 1 · p. 14 · 4.21.1 · https://fnet.bmfbovespa.com.br/fnet/publico/visualizarDocumento?id=1143317</a:t>
            </a:r>
          </a:p>
          <a:p>
            <a:r>
              <a:t>CNPJ 62696791000193 · Partes relacionadas e conflitos · Excerto da fonte:</a:t>
            </a:r>
          </a:p>
          <a:p>
            <a:r>
              <a:t>4.21.1 Sem prejuízo do disposto acima, poderá ser contratado terceiro especializado para o  gerenciamento das obras, para controle dos desembolsos, conforme medições durante a etapa  de desenvolvimento e construção dos Ativos Imobiliários do Agronegócio, sendo certo que,  caso haja a contratação de terceiros em situação de conflito de interesses, deverá ser aprovado  em assembleia de Cotistas.</a:t>
            </a:r>
          </a:p>
          <a:p>
            <a:r>
              <a:t>CNPJ 62696791000193 · Partes relacionadas e conflitos · Condição: Documentos atuais selecionados no inventário por categoria/escopo; a data documental isolada não comprova vigência jurídica.</a:t>
            </a:r>
          </a:p>
          <a:p>
            <a:r>
              <a:t>CNPJ 62696791000193 · Partes relacionadas e conflitos · Versão e prevalência: Documentos atuais selecionados no inventário por categoria/escopo; a data documental isolada não comprova vigência jurídica.</a:t>
            </a:r>
          </a:p>
          <a:p>
            <a:r>
              <a:t>CNPJ 55563624000109 · Partes relacionadas e conflitos · Regulamento · ID 1192614 · 2026-04-30 · versão 1 · p. 13 · 4.12.1 · https://fnet.bmfbovespa.com.br/fnet/publico/visualizarDocumento?id=1192614</a:t>
            </a:r>
          </a:p>
          <a:p>
            <a:r>
              <a:t>CNPJ 55563624000109 · Partes relacionadas e conflitos · Excerto da fonte:</a:t>
            </a:r>
          </a:p>
          <a:p>
            <a:r>
              <a:t>4.12.1 A Classe poderá ter até 100% (cem por cento) do Patrimônio Líquido representado por Cotas da Classe  Investida administrados pelo ADMINISTRADOR, e geridos ou cogeridos pelo GESTOR e/ou suas partes  relacionadas.</a:t>
            </a:r>
          </a:p>
          <a:p>
            <a:r>
              <a:t> Revolvência da Carteira</a:t>
            </a:r>
          </a:p>
          <a:p>
            <a:r>
              <a:t>CNPJ 55563624000109 · Partes relacionadas e conflitos · Regulamento · ID 1192614 · 2026-04-30 · versão 1 · p. 28 · 13.2 · https://fnet.bmfbovespa.com.br/fnet/publico/visualizarDocumento?id=1192614</a:t>
            </a:r>
          </a:p>
          <a:p>
            <a:r>
              <a:t>CNPJ 55563624000109 · Partes relacionadas e conflitos · Excerto da fonte:</a:t>
            </a:r>
          </a:p>
          <a:p>
            <a:r>
              <a:t>13.2 Em condições ordinárias, as Cotas da Classe Investida não pagarão remuneração aos prestadores de serviços  essenciais da Classe Investida, nos termos de seu regulamento. Não obstante, em cenário extraordinário  conforme descrito no item 15.1.1 (iii), e para fins de atendimento ao artigo 98 da parte geral da Resolução CVM  175, a taxa máxima de administração corresponderá ao valor da Taxa Mínima de Administração acrescida de até  0,10% (dez centésimos por cento) ao ano incidente sobre o patrimônio líquido da Classe Investida,  compreendendo a taxa de administração da Classe Investida geridos por partes relacionadas ao GESTOR, cujas  cotas não estão admitidas à negociação em mercado organizado, conforme prevista no regulamento da Classe  Investida (“Taxa Máxima de Administração” e, quando referida em conjunto com a Taxa Mínima de  Administração, como “Taxa de Administração”). Caso a taxa de administração da Classe Investida não se  enquadre no disposto acima, estará disposta no regulamento da Classe Investida.</a:t>
            </a:r>
          </a:p>
          <a:p>
            <a:r>
              <a:t>CNPJ 55563624000109 · Partes relacionadas e conflitos · Regulamento · ID 1192614 · 2026-04-30 · versão 1 · p. 37 · https://fnet.bmfbovespa.com.br/fnet/publico/visualizarDocumento?id=1192614</a:t>
            </a:r>
          </a:p>
          <a:p>
            <a:r>
              <a:t>CNPJ 55563624000109 · Partes relacionadas e conflitos · Excerto da fonte:</a:t>
            </a:r>
          </a:p>
          <a:p>
            <a:r>
              <a:t>(ix) Possibilidade de conflito de interesses. As Cotas poderão ser adquiridas por investidores que  sejam partes relacionadas à Classe Investida ou aos prestadores de serviços da Classe Investida. Nessa  hipótese, poderá haver situações de conflito de interesses entre os interesses desses investidores e o  interesse dos demais Cotistas, podendo qualquer desses investidores, inclusive, aprovar deliberações  contrárias aos interesses dos demais Cotistas caso sejam titulares da maioria das Cotas presentes às  Assembleias de Cotistas.</a:t>
            </a:r>
          </a:p>
          <a:p>
            <a:r>
              <a:t>CNPJ 55563624000109 · Partes relacionadas e conflitos · Condição: Documentos atuais selecionados no inventário por categoria/escopo; a data documental isolada não comprova vigência jurídica.</a:t>
            </a:r>
          </a:p>
          <a:p>
            <a:r>
              <a:t>CNPJ 55563624000109 · Partes relacionadas e conflitos · Versão e prevalência: Documentos atuais selecionados no inventário por categoria/escopo; a data documental isolada não comprova vigência jurídica.</a:t>
            </a:r>
          </a:p>
          <a:p>
            <a:r>
              <a:t>CNPJ 55563624000109 · Partes relacionadas e conflitos · Resumo do histórico: {"count": 2, "dates": ["2025-01-31", "2026-01-31"], "document_count": 2, "sources": [{"document_id": "1178840", "title": "Demonstrações Financeiras", "reference_date": "2026-01-31", "version": "1", "page": 23, "url": "https://fnet.bmfbovespa.com.br/fnet/publico/visualizarDocumento?id=1178840", "sha256": "c458e98664c5c907ddb5a05a94b120bed4e05295b2bfc420f5ba69af0a229abe"}, {"document_id": "891861", "title": "Demonstrações Financeiras", "reference_date": "2025-01-31", "version": "1", "page": 23, "url": "https://fnet.bmfbovespa.com.br/fnet/publico/visualizarDocumento?id=891861", "sha256": "e9cb9e6ddbe505fe068cfcac33605165a98313489de0d3ce6d4d238263c3f3e7"}], "reference": {"path": "history/55563624000109.json", "criterion_id": "related_parties", "total_count": 2, "preview_count": 2, "full_text_deferred": true, "sha256": "7835d573fb58a3c19adf5b8ecc2aee2bdbb9a88f7a0c0209b5f262b64c7522e3"}}</a:t>
            </a:r>
          </a:p>
          <a:p>
            <a:r>
              <a:t>CNPJ 62552447000120 · Partes relacionadas e conflitos · Regulamento · ID 1200623 · 2026-05-21 · versão 1 · p. 14 · 4.10 · https://fnet.bmfbovespa.com.br/fnet/publico/visualizarDocumento?id=1200623</a:t>
            </a:r>
          </a:p>
          <a:p>
            <a:r>
              <a:t>CNPJ 62552447000120 · Partes relacionadas e conflitos · Excerto da fonte:</a:t>
            </a:r>
          </a:p>
          <a:p>
            <a:r>
              <a:t>4.10 Nos termos do art. 45, §7º, inciso II, do Anexo Normativo II, a Classe poderá ter até 100% (cem por  cento) de seu Patrimônio Líquido alocado em Direitos Creditórios, derivativos, observado o disposto  abaixo,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62552447000120 · Partes relacionadas e conflitos · Regulamento · ID 1200623 · 2026-05-21 · versão 1 · p. 14 · 4.11 · https://fnet.bmfbovespa.com.br/fnet/publico/visualizarDocumento?id=1200623</a:t>
            </a:r>
          </a:p>
          <a:p>
            <a:r>
              <a:t>CNPJ 62552447000120 · Partes relacionadas e conflitos · Excerto da fonte:</a:t>
            </a:r>
          </a:p>
          <a:p>
            <a:r>
              <a:t>4.11 Sem prejuízo de limites mais restritivos definidos neste Regulamento, o Gestor deverá observar, ainda,  os seguintes limites de concentração para a composição da Carteira:</a:t>
            </a:r>
          </a:p>
          <a:p>
            <a:r>
              <a:t> (i) Até 100% (cem por cento) da parcela do Patrimônio Líquido investida em Direitos  Creditórios poderão ser alocados em Direitos Creditórios originados ou cedidos pelo  Administrador, Gestor e/ou suas partes relacionadas, tal como definidas pelas regras  contábeis que tratam desse assunto . A Classe também poderá ceder Direitos  Creditórios a qualquer das pessoas, f undos de investimento ou entidades ref eridas  acima, desde que a entidade registradora e o Custodiante dos Direitos Creditórios não  sejam partes relacionadas ao Originador ou Endossante;</a:t>
            </a:r>
          </a:p>
          <a:p>
            <a:r>
              <a:t> (ii) Até 100% (cem por cento) da parcela do Patrimônio Líquido investida em Ativos  Financeiros poderão ser alocados em Ativos Financeiros de emissão ou que envolvam  retenção de risco por parte do Administrador, Gestor e/ou suas partes relacionadas; e</a:t>
            </a:r>
          </a:p>
          <a:p>
            <a:r>
              <a:t> (iii) Até 100% (cem por cento) da parcela do Patrimônio Líquido investida em operações  com derivativos poderão ser alocados em operações com derivativos nas quais,  inexistindo contraparte central, se tenha como contraparte o Gestor e/ou suas partes  relacionadas.</a:t>
            </a:r>
          </a:p>
          <a:p>
            <a:r>
              <a:t>CNPJ 62552447000120 · Partes relacionadas e conflitos · Regulamento · ID 1200623 · 2026-05-21 · versão 1 · p. 15 · 4.18 · https://fnet.bmfbovespa.com.br/fnet/publico/visualizarDocumento?id=1200623</a:t>
            </a:r>
          </a:p>
          <a:p>
            <a:r>
              <a:t>CNPJ 62552447000120 · Partes relacionadas e conflitos · Excerto da fonte:</a:t>
            </a:r>
          </a:p>
          <a:p>
            <a:r>
              <a:t>4.18 Ainda que integrem a Carteira, os Ativos Recuperados não serão, sob qualquer hipótese, adquiridos  como parte da Política de Investimento, de forma que serão de sua propriedade exclusivamente, não  devendo, portanto, ser contabilizados para f ins de enquadramento da Classe.</a:t>
            </a:r>
          </a:p>
          <a:p>
            <a:r>
              <a:t>Regras, procedimentos e limites para efetuar qualquer modalidade de transferência dos Direitos Creditórios, incluindo, sem limitação, endosso (“Transferência”) para o Endossante e suas partes relacionadas</a:t>
            </a:r>
          </a:p>
          <a:p>
            <a:r>
              <a:t>CNPJ 62552447000120 · Partes relacionadas e conflitos · Condição: Documentos atuais selecionados no inventário por categoria/escopo; a data documental isolada não comprova vigência jurídica.</a:t>
            </a:r>
          </a:p>
          <a:p>
            <a:r>
              <a:t>CNPJ 62552447000120 · Partes relacionadas e conflitos · Versão e prevalência: Documentos atuais selecionados no inventário por categoria/escopo; a data documental isolada não comprova vigência jurídica.</a:t>
            </a:r>
          </a:p>
          <a:p>
            <a:r>
              <a:t>CNPJ 63953620000165 · Partes relacionadas e conflitos · Anexo ao Regulamento · ID 1222863 · 2026-06-02 · versão 1 · p. 6 · 4.14 · https://fnet.bmfbovespa.com.br/fnet/publico/visualizarDocumento?id=1222863</a:t>
            </a:r>
          </a:p>
          <a:p>
            <a:r>
              <a:t>CNPJ 63953620000165 · Partes relacionadas e conflitos · Excerto da fonte:</a:t>
            </a:r>
          </a:p>
          <a:p>
            <a:r>
              <a:t>4.14 Nos termos do Art. 45, §7º, inciso II, do Anexo Normativo II da Resolução CVM 175, a Classe poderá ter até 100%  (cem por cento) de seu Patrimônio Líquido alocado em Direitos Creditórios, derivativos, observado o disposto  neste Anexo I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63953620000165 · Partes relacionadas e conflitos · Anexo ao Regulamento · ID 1222863 · 2026-06-02 · versão 1 · p. 8 · 4.21 · https://fnet.bmfbovespa.com.br/fnet/publico/visualizarDocumento?id=1222863</a:t>
            </a:r>
          </a:p>
          <a:p>
            <a:r>
              <a:t>CNPJ 63953620000165 · Partes relacionadas e conflitos · Excerto da fonte:</a:t>
            </a:r>
          </a:p>
          <a:p>
            <a:r>
              <a:t>4.21 Ainda que integrem a carteira da Classe, os Ativos Recuperados não serão, sob qualquer hipótese, adquiridos  como parte da Política de Investimento da Classe, de forma que serão de sua propriedade exclusivamente, não  devendo, portanto, ser contabilizados para fins de enquadramento da Classe.</a:t>
            </a:r>
          </a:p>
          <a:p>
            <a:r>
              <a:t> Regras, procedimentos e limites para efetuar o Endosso de Direitos Creditórios Crédito Consignado para o Endossante e  suas partes relacionadas</a:t>
            </a:r>
          </a:p>
          <a:p>
            <a:r>
              <a:t>CNPJ 63953620000165 · Partes relacionadas e conflitos · Anexo ao Regulamento · ID 1222863 · 2026-06-02 · versão 1 · p. 7 · https://fnet.bmfbovespa.com.br/fnet/publico/visualizarDocumento?id=1222863</a:t>
            </a:r>
          </a:p>
          <a:p>
            <a:r>
              <a:t>CNPJ 63953620000165 · Partes relacionadas e conflitos · Excerto da fonte:</a:t>
            </a:r>
          </a:p>
          <a:p>
            <a:r>
              <a:t>Anexo I ao Regulamento  CLASSE CONSIGNADO PRIVADO DO MT GLOBAL FUNDO DE INVESTIMENTO EM DIREITOS  CREDITÓRIOS RESPONSABILIDADE LIMITADA</a:t>
            </a:r>
          </a:p>
          <a:p>
            <a:r>
              <a:t> (i)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 (ii) No máximo, 50% (cinquenta por cento) do Patrimônio Líquido investido em Ativos Financeiros  de Liquidez de emissão ou que envolvam retenção de risco por parte do Administrador, Gestor,  e/ou suas partes relacionadas, observado ainda o disposto acima;</a:t>
            </a:r>
          </a:p>
          <a:p>
            <a:r>
              <a:t> (iii) No máximo, 100% (cem por cento) do Patrimônio Líquido investido em operações com  derivativos nos quais, inexistindo contraparte central, se tenha como contraparte o Gestor,  Consultora e/ou suas partes relacionadas, observado ainda o disposto acima;</a:t>
            </a:r>
          </a:p>
          <a:p>
            <a:r>
              <a:t> (iv) A Classe poderá investir até 100% (cem por cento) de seu Patrimônio Líquido em Direitos  Creditórios Não-Padronizados;</a:t>
            </a:r>
          </a:p>
          <a:p>
            <a:r>
              <a:t> (v) É vedada a aquisição de precatórios federais.</a:t>
            </a:r>
          </a:p>
          <a:p>
            <a:r>
              <a:t>CNPJ 63953620000165 · Partes relacionadas e conflitos · Condição: Documentos atuais selecionados no inventário por categoria/escopo; a data documental isolada não comprova vigência jurídica.</a:t>
            </a:r>
          </a:p>
          <a:p>
            <a:r>
              <a:t>CNPJ 63953620000165 · Partes relacionadas e conflitos · Versão e prevalência: Documentos atuais selecionados no inventário por categoria/escopo; a data documental isolada não comprova vigência jurídica.</a:t>
            </a:r>
          </a:p>
          <a:p>
            <a:r>
              <a:t>CNPJ 54871427000194 · Histórico de alterações materiais · Instrumento Particular de Alteração do Regulamento · ID 670690 · 28/05/2024 · versão Instrumento Particular de Alteração do Regulamento — referência 28/05/2024 · p. 1 · AGC, 4.1–4.2 · https://fnet.bmfbovespa.com.br/fnet/publico/visualizarDocumento?id=670690</a:t>
            </a:r>
          </a:p>
          <a:p>
            <a:r>
              <a:t>CNPJ 54871427000194 · Histórico de alterações materiais · Excerto da fonte:</a:t>
            </a:r>
          </a:p>
          <a:p>
            <a:r>
              <a:t>4.1. A alteração integral do anexo da Classe Única, que compõe o regulamento do Fundo (“Anexo da Classe Única” e “Regulamento”) e seus complementos, para de f orma a alterar a Política de Investimentos da Classe para aquisição de direitos creditórios representados por Certif icados de Cédulas de Crédito Bancário (“CCCBs” e “Direitos Creditórios”), bem como refletir os novos critérios de elegibilidade para aquisição dos Direitos Creditórios, os documentos comprobatórios do lastro e f atores de risco aplicáveis. 4.2. Tendo em vista a aprovação dos itens. acima, deliberaram por aprovar o novo Regulamento Consolidado, que vigorará na forma do Anexo I à presente Ata, o qual terá efeitos retroativos a abertura de 28 de maio de 2024. 4.3. Por f im, por aprovar a Administradora a adotar todas as medidas necessárias para implementação das deliberações acima. 5. ENCERRAMENTO Nada mais havendo a tratar, f oi a reunião encerrada. Rio de Janeiro, 28 de maio de 2024. Mesa: Diego Prado Tassiana Lima Presidente</a:t>
            </a:r>
          </a:p>
          <a:p>
            <a:r>
              <a:t>CNPJ 54871427000194 · Histórico de alterações materiais · Regulamento · ID 670691 · 28/04/2024 · versão Regulamento — referência 28/04/2024 · p. 9 · Regulamento 670691, Anexo I, 4.2 · https://fnet.bmfbovespa.com.br/fnet/publico/visualizarDocumento?id=670691</a:t>
            </a:r>
          </a:p>
          <a:p>
            <a:r>
              <a:t>CNPJ 54871427000194 · Histórico de alterações materiais · Excerto da fonte:</a:t>
            </a:r>
          </a:p>
          <a:p>
            <a:r>
              <a:t>4.2 Os Direitos Creditórios representados por Certif icados de Cédulas de Crédito Bancário (“CCCBs”), representativos de um agrupamento de determinadas CCBs, originadas no âmbito de operações de empréstimos pessoais concedidos por um Endossante a um Devedor, devidamente f ormalizadas por via eletrônica de acordo com a legislação aplicável, segundo os critérios de composição e diversificação estabelecidos pela regulamentação aplicável e neste Regulamento. 4.2.1 Cada Endossante deve ter celebrado convênio com órgão consignante, previamente à cessão de Direitos Creditórios à Classe, que contemplam a obrigação da manutenção da consignação/averbação junto ao novo órgão, de modo a possibilitar o pagamento dos Direitos Creditórios por meio de consignação em f olha de pagamento ou de benef ício . 4.3 Os pagamentos relativos aos Direitos Creditórios de titularidade da Classe serão realizados mediante consignação em folha, débito em conta de titularidade dos Devedores e pagamentos de sinistros, para pagamento dos valores correspondentes às parcelas das CCBs representadas pelos CCCBs de titularidade da Classe, os quais serão conciliados e repassados pelo Endossan</a:t>
            </a:r>
          </a:p>
          <a:p>
            <a:r>
              <a:t>CNPJ 54871427000194 · Histórico de alterações materiais · Condição: A classificação Fundos Net do documento 670690 é “regulamento”, mas seu conteúdo é uma AGC. A divergência de datas impede usar a referência do 670691 como prova autônoma de início de vigência.</a:t>
            </a:r>
          </a:p>
          <a:p>
            <a:r>
              <a:t>CNPJ 54871427000194 · Histórico de alterações materiais · Motivo: Não localizada uma cláusula material para este critério nos textos identificados e processados. A ausência de resultado não comprova inexistência da regra.</a:t>
            </a:r>
          </a:p>
          <a:p>
            <a:r>
              <a:t>CNPJ 54871427000194 · Histórico de alterações materiais · Versão e prevalência: Leitura específica das cláusulas indicadas; condições e conflitos preservados. Seleção documental atual não comprova vigência jurídica por data isolada.</a:t>
            </a:r>
          </a:p>
          <a:p>
            <a:r>
              <a:t>CNPJ 60010416000112 · Histórico de alterações materiais · Demonstrações Financeiras - Fusão, cisão e incorporação · ID 1298690 · 2026-05-08 · versão 1 · p. 30 · https://fnet.bmfbovespa.com.br/fnet/publico/visualizarDocumento?id=1298690</a:t>
            </a:r>
          </a:p>
          <a:p>
            <a:r>
              <a:t>CNPJ 60010416000112 · Histórico de alterações materiais · Excerto da fonte:</a:t>
            </a:r>
          </a:p>
          <a:p>
            <a:r>
              <a:t>Durante o período de investimento, a Administradora poderá deliberar por realizar novas  emissões de Cotas Seniores, sem a necessidade de aprovação em Assembleia Especial de  Cotistas ou alteração do Regulamento, limitadas ao montante máximo de R$ 1.000.000 (um  bilhão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seniores emitidas não sejam superiores aos  prazos de vencimento da primeira emissão.</a:t>
            </a:r>
          </a:p>
          <a:p>
            <a:r>
              <a:t>CNPJ 60010416000112 · Histórico de alterações materiais · Demonstrações Financeiras - Fusão, cisão e incorporação · ID 1298690 · 2026-05-08 · versão 1 · p. 30 · https://fnet.bmfbovespa.com.br/fnet/publico/visualizarDocumento?id=1298690</a:t>
            </a:r>
          </a:p>
          <a:p>
            <a:r>
              <a:t>CNPJ 60010416000112 · Histórico de alterações materiais · Excerto da fonte:</a:t>
            </a:r>
          </a:p>
          <a:p>
            <a:r>
              <a:t>Durante o período de investimento, a Administradora poderá deliberar por realizar novas  emissões de cotas subordinadas, sem a necessidade de aprovação em Assembleia Especial  de Cotistas ou alteração do Regulamento, limitadas ao montante máximo de R$ 50.000  (cinquenta milhões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subordinadas emitidas não sejam  superiores aos prazos de vencimento da primeira emissão.</a:t>
            </a:r>
          </a:p>
          <a:p>
            <a:r>
              <a:t>CNPJ 60010416000112 · Histórico de alterações materiais · Condição: Documentos atuais selecionados no inventário por categoria/escopo; a data documental isolada não comprova vigência jurídica.</a:t>
            </a:r>
          </a:p>
          <a:p>
            <a:r>
              <a:t>CNPJ 60010416000112 · Histórico de alterações materiais · Versão e prevalência: Documentos atuais selecionados no inventário por categoria/escopo; a data documental isolada não comprova vigência jurídica.</a:t>
            </a:r>
          </a:p>
          <a:p>
            <a:r>
              <a:t>CNPJ 60010416000112 · Histórico de alterações materiais · Resumo do histórico: {"count": 5, "dates": ["2025-11-30", "2026-03-18", "2026-04-16"], "document_count": 3, "sources": [{"document_id": "1282181", "title": "Demonstrações Financeiras - Fusão, cisão e incorporação", "reference_date": "2026-04-16", "version": "1", "page": 32, "url": "https://fnet.bmfbovespa.com.br/fnet/publico/visualizarDocumento?id=1282181", "sha256": "b1c6566e43a00bcd00c8a7f30c77b7f86e351bd8e355bbea113f46d1dafda703"}, {"document_id": "1224477", "title": "Demonstrações Financeiras - Fusão, cisão e incorporação", "reference_date": "2026-03-18", "version": "1", "page": 32, "url": "https://fnet.bmfbovespa.com.br/fnet/publico/visualizarDocumento?id=1224477", "sha256": "0751bf0a75bc3b44c2748f5000226665c6ec6698a90c4dc6170b4e6c187759ae"}, {"document_id": "1126154", "title": "Demonstrações Financeiras", "reference_date": "2025-11-30", "version": "1", "page": 32, "url": "https://fnet.bmfbovespa.com.br/fnet/publico/visualizarDocumento?id=1126154", "sha256": "a01e7ccf88c548f12c95cba8526d7efbef6b585c112cd4668eca781c292090b0"}], "reference": {"path": "history/60010416000112.json", "criterion_id": "changes", "total_count": 5, "preview_count": 3, "full_text_deferred": true, "sha256": "8e2bd813f4c51cf01f6bfaad164bafe69d2bbb192f753eac92da3a01c2e63046"}}</a:t>
            </a:r>
          </a:p>
          <a:p>
            <a:r>
              <a:t>CNPJ 62696791000193 · Histórico de alterações materiais · AGE · ID 1143319 · 20/03/2026 10:00 · versão AGE — referência 20/03/2026 10:00 · p. 1 · AGC, 4.1(a)–(c) · https://fnet.bmfbovespa.com.br/fnet/publico/visualizarDocumento?id=1143319</a:t>
            </a:r>
          </a:p>
          <a:p>
            <a:r>
              <a:t>CNPJ 62696791000193 · Histórico de alterações materiais · Excerto da fonte:</a:t>
            </a:r>
          </a:p>
          <a:p>
            <a:r>
              <a:t>4.1. Aprovar a transformação do Fundo, bem como de sua Classe única, em um fundo de investimento nas cadeias produtivas do agronegócio (“Transformação”), nos termos da parte geral e do Anexo Normativo VI da Resolução nº 175 da CVM, de 23 de dezembro de 2022, conforme alterada (“Resolução CVM 175”). a. Aprovar a alteração da denominação do Fundo, que passará a vigorar como BTG PACTUAL CERES CONFINA FUNDO DE INVESTIMENTO NAS CADEIAS PRODUTIVAS DO AGRONEGÓCIO RESPONSABILIDADE LIMITADA, e de sua Classe única, que passará a vigorar como CLASSE ÚNICA DO BTG PACTUAL CERES CONFINA FUNDO DE INVESTIMENTO NAS CADEIAS PRODUTIVAS DO AGRONEGÓCIO RESPONSABILIDADE LIMITADA (“Classe”); b. Aprovar a reforma integral do Regulamento do Fundo, bem como do Anexo descritivo da Classe, para realizar todos os ajustes necessários à implementação da Transformação, incluindo, mas não se limitando, a política de investimentos, o regime tributário e os fatores de risco aplicáveis, conforme itens abaixo; c. Aprovar a alteração do quadro de características gerais do Fundo, considerando a contratação do Cogestor pelo Gestor, nos termos do artigo 52, II, da parte geral da Resolução CVM 175 e no co</a:t>
            </a:r>
          </a:p>
          <a:p>
            <a:r>
              <a:t>CNPJ 62696791000193 · Histórico de alterações materiais · AGE · ID 1143319 · 20/03/2026 10:00 · versão AGE — referência 20/03/2026 10:00 · p. 3 · AGC, 4.1(j)–(k) · https://fnet.bmfbovespa.com.br/fnet/publico/visualizarDocumento?id=1143319</a:t>
            </a:r>
          </a:p>
          <a:p>
            <a:r>
              <a:t>CNPJ 62696791000193 · Histórico de alterações materiais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Histórico de alterações materiais · Instrumento Particular de Emissão de Cotas · ID 1148821 · 27/03/2026 · versão Instrumento Particular de Emissão de Cotas — referência 27/03/2026 · p. 1 · Deliberação Conjunta27/03/2026, item1 · https://fnet.bmfbovespa.com.br/fnet/publico/visualizarDocumento?id=1148821</a:t>
            </a:r>
          </a:p>
          <a:p>
            <a:r>
              <a:t>CNPJ 62696791000193 · Histórico de alterações materiais · Excerto da fonte:</a:t>
            </a:r>
          </a:p>
          <a:p>
            <a:r>
              <a:t>1. Aprovar a 2ª (segunda) emissão da Subclasse Subordinada Júnior da Classe, composta por até 20.000 (vinte mil) Cotas Subordinadas Júnior, com valor nominal unitário de R$ 1.000,00 (mil reais), perfazendo o montante total de R$ 20.000.000,00 (vinte milhões de reais), as quais serão objeto de colocação privada, de acordo com os termos e condições definidos no Apêndice da Subclasse Subordinada Júnior constante do Anexo I Regulamento e descritas abaixo (“2ª Emissão da Subclasse Subordinada Júnior”): a) Rito: as Cotas Subordinadas Júnior objeto da 2ª Emissão da Subclasse Subordinada Júnior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Subordinada Júnior na data de integralização, calculado na forma prevista no respectivo Apêndice; BTG Pactual 1 SAC: 0800 772 28 27 - Ouvidoria: 0800 722 00 48 - btgpactual.com</a:t>
            </a:r>
          </a:p>
          <a:p>
            <a:r>
              <a:t>CNPJ 62696791000193 · Histórico de alterações materiais · Instrumento Particular de Emissão de Cotas · ID 1148821 · 27/03/2026 · versão Instrumento Particular de Emissão de Cotas — referência 27/03/2026 · p. 2 · Deliberação Conjunta, itens2–3 · https://fnet.bmfbovespa.com.br/fnet/publico/visualizarDocumento?id=1148821</a:t>
            </a:r>
          </a:p>
          <a:p>
            <a:r>
              <a:t>CNPJ 62696791000193 · Histórico de alterações materiais · Excerto da fonte:</a:t>
            </a:r>
          </a:p>
          <a:p>
            <a:r>
              <a:t>2. Aprovar a 2ª (segunda) emissão da Subclasse Sênior da Classe, composta por até 150.000 (cento e cinquenta mil) Cotas Seniores, com valor nominal unitário de R$ 1.000,00 (mil reais), perfazendo o montante total de R$ 150.000.000,00 (cento e cinquenta milhões de reais), as quais serão objeto de colocação privada, de acordo com os termos e condições descritos no Apêndice da Subclasse Sênior constante do Anexo I Regulamento e descritas abaixo (“2ª Emissão da Subclasse Sênior”): a) Rito: as Cotas Seniores objeto da 2ª Emissão da Subclasse Sênior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Sênior na data de integralização, calculado na forma prevista no respectivo Apêndice; d) Forma de Integralização: as Cotas Seniores serão integralizadas mediante chamadas de capital, junto ao seu respectivo agente de custódia e/ou da Administradora na qualidade de escriturador das cotas, nos termos d</a:t>
            </a:r>
          </a:p>
          <a:p>
            <a:r>
              <a:t>CNPJ 62696791000193 · Histórico de alterações materiais · Versão e prevalência: Leitura específica das cláusulas indicadas; condições e conflitos preservados. Seleção documental atual não comprova vigência jurídica por data isolada.</a:t>
            </a:r>
          </a:p>
          <a:p>
            <a:r>
              <a:t>CNPJ 55563624000109 · Histórico de alterações materiais · Motivo: Não localizada uma cláusula material para este critério nos textos identificados e processados. A ausência de resultado não comprova inexistência da regra.</a:t>
            </a:r>
          </a:p>
          <a:p>
            <a:r>
              <a:t>CNPJ 62552447000120 · Histórico de alterações materiais · Ato do Administrador · ID 1200625 · 2026-05-21 · versão Ato21/05/2026 · p. 1 · itens1–2 · https://fnet.bmfbovespa.com.br/fnet/publico/visualizarDocumento?id=1200625</a:t>
            </a:r>
          </a:p>
          <a:p>
            <a:r>
              <a:t>CNPJ 62552447000120 · Histórico de alterações materiais · Excerto da fonte:</a:t>
            </a:r>
          </a:p>
          <a:p>
            <a:r>
              <a:t>Ressalta-se que não haverá qualquer alteração nos valores pagos pelos cotistas... Aprovar o novo Anexo I e Regulamento consolidados</a:t>
            </a:r>
          </a:p>
          <a:p>
            <a:r>
              <a:t>CNPJ 62552447000120 · Histórico de alterações materiais · Motivo: Não localizada uma cláusula material para este critério nos textos identificados e processados. A ausência de resultado não comprova inexistência da regra.</a:t>
            </a:r>
          </a:p>
          <a:p>
            <a:r>
              <a:t>CNPJ 62552447000120 · Histórico de alterações materiais · Versão e prevalência: Leitura específica das cláusulas indicadas; condições e conflitos preservados. Seleção documental atual não comprova vigência jurídica por data isolada.</a:t>
            </a:r>
          </a:p>
          <a:p>
            <a:r>
              <a:t>CNPJ 63953620000165 · Histórico de alterações materiais · Anexo ao Regulamento · ID 1222863 · 2026-06-02 · versão 1 · p. 19 · 12.6 · https://fnet.bmfbovespa.com.br/fnet/publico/visualizarDocumento?id=1222863</a:t>
            </a:r>
          </a:p>
          <a:p>
            <a:r>
              <a:t>CNPJ 63953620000165 · Histórico de alterações materiais · Excerto da fonte:</a:t>
            </a:r>
          </a:p>
          <a:p>
            <a:r>
              <a:t>12.6 A Classe contratou a Tudo Serviços S.A., sociedade anônima, com sede no município de Fortaleza, Estado do Ceará,  na Avenida Senador Virgulo Távora, nº 303, Lojas 02, 03, 04, 05, 06 e 19, Meireles, CEP 60.170-265, inscrita no CNPJ  sob o nº 27.852.506/0001-85, cujos deveres, sem prejuízo daqueles estabelecidos neste Regulamento, no  “Contrato de Serviços de Retenção e Cobrança e Outras Avenças”, celebrado entre o Agente de  Retenção/Cobrança e a Classe (“Contrato de Serviços MT”) e no Contrato de Endosso, consistirão no  monitoramento e cobrança dos Direitos Creditórios Inadimplidos, observado o disposto neste Anexo I e na  regulamentação aplicável (“Agente de Retenção/Cobrança”):</a:t>
            </a:r>
          </a:p>
          <a:p>
            <a:r>
              <a:t> (i) caso aplicável, atuar na retenção (defesa) de operações de empréstimo consignado cujos Direitos  Creditórios sejam de titularidade da Classe, em caso de tentativa de transferência de tais operações de  empréstimo consignado por instituições proponentes, nos termos da Resolução CMN nº 5.057, em razão de  ofertas de portabilidade feitas por tais instituições proponentes, conforme informado pelo Endossante ou pelo  Custodiante ao Agente de Retenção/Cobrança, diariamente, de acordo com o Contrato de Endosso; sendo  que tal serviço deverá incluir, entre outras atividades auxiliares a ele relacionadas, a avaliação das ofertas de  portabilidade feitas pelas instituições proponentes, buscando, se for o caso, esclarecer as vantagens de não  recorrer à portabilidade, retendo a respectiva operação de empréstimo consignado em seus termos atuais;</a:t>
            </a:r>
          </a:p>
          <a:p>
            <a:r>
              <a:t> (ii) mediante inadimplemento de um Direito Creditório devido à indisponibilidade da margem de crédito do  Devedor, auxiliar o Endossante com o Processo de Reinicialização (conforme detalhado no Contrato de  Endosso) em relação ao respectivo Direito Creditório;</a:t>
            </a:r>
          </a:p>
          <a:p>
            <a:r>
              <a:t> (iii) manter e operar um serviço de atendimento ao consumidor - SAC e uma ouvidoria em conformidade  com os regulamentos aplicáveis, monitorar e resolver reclamações e solicitações de Devedores com  relação às operações de empréstimo consignado que dão origem aos Direitos Creditórios, em  conformidade com o Acordo de Parceria;</a:t>
            </a:r>
          </a:p>
          <a:p>
            <a:r>
              <a:t> (iv) realizar a cobrança dos Direitos Creditórios Inadimplidos;</a:t>
            </a:r>
          </a:p>
          <a:p>
            <a:r>
              <a:t> (v) auxiliar o Endossante na correção de qualquer irregularidade relevante identificada com relação à  originação dos Direitos Creditórios;</a:t>
            </a:r>
          </a:p>
          <a:p>
            <a:r>
              <a:t> (vi) realizar a renegociação junto aos Devedores de Direitos Creditórios Inadimplidos e, caso aplicável, celebrar  aditamento à CCB para refletir os novos termos, decorrentes da renegociação  CAPÍTULO 13 – REMUNERAÇÃO DOS PRESTADORES DE SERVIÇOS  0,05% (cinco centésimos por cento) ao ano, apropriada diariamente na base de 252  (duzentos e cinquenta e dois) Dias Úteis, e paga mensalmente até o 5º (quinto) Dia  Útil do mês subsequente ao mês que se refere, incidente sobre o Patrimônio Líquido  da Classe alocado em Direitos Creditórios Consignado Privado e/ou Ativos de  Liquidez MT, observada remuneração mínima mensal de R$ 2.500,00 (dois mil e  quinhentos reais), a ser corrigida anualmente, em janeiro de cada ano, pela variação  Taxa de Administração  positiva do Índice Geral de Preços – Mercado, divulgado pela Fundação Getúlio  Vargas (“Taxa de Administração” e “IGP-M”, respectivamente).</a:t>
            </a:r>
          </a:p>
          <a:p>
            <a:r>
              <a:t> Na hipótese de extinção do IGP-M, não divulgação ou impossibilidade de sua  utilização, será utilizado o Índice Geral de Preços – Disponibilidade Interna,  divulgado pela Fundação Getúlio Vargas, ou, na falta de ambos, pela variação do IPC  – Índice de Preços ao Consumidor, divulgado pela Fundação Instituto de Pesquisas</a:t>
            </a:r>
          </a:p>
          <a:p>
            <a:r>
              <a:t>CNPJ 63953620000165 · Histórico de alterações materiais · Condição: Documentos atuais selecionados no inventário por categoria/escopo; a data documental isolada não comprova vigência jurídica.</a:t>
            </a:r>
          </a:p>
          <a:p>
            <a:r>
              <a:t>CNPJ 63953620000165 · Histórico de alterações materiais · Versão e prevalência: Documentos atuais selecionados no inventário por categoria/escopo; a data documental isolada não comprova vigência jurídica.</a:t>
            </a:r>
          </a:p>
          <a:p>
            <a:r>
              <a:t>CNPJ 54871427000194 · Auditor independente e DFs · Demonstrações Financeiras - Fusão, cisão e incorporação · ID 1219522 · 2026-02-02 · versão 1 · p. 23 · https://fnet.bmfbovespa.com.br/fnet/publico/visualizarDocumento?id=1219522</a:t>
            </a:r>
          </a:p>
          <a:p>
            <a:r>
              <a:t>CNPJ 54871427000194 · Auditor independente e DFs · Excerto da fonte:</a:t>
            </a:r>
          </a:p>
          <a:p>
            <a:r>
              <a:t>x) Possibilidade de aquisição de Direitos Creditórios cedidos por Endossante e/ou devidos por  Devedores cujas demonstrações financeiras não sejam auditadas. A Classe, desde que sejam  respeitados os limites de concentração previstos no Regulamento, poderá manter a qualquer  tempo em sua Carteira, Direitos Creditórios cedidos por Endossante e/ou devidos por Devedores  cujas demonstrações financeiras não sejam auditadas por Auditor Independente registrado na</a:t>
            </a:r>
          </a:p>
          <a:p>
            <a:r>
              <a:t>CNPJ 54871427000194 · Auditor independente e DFs · Demonstrações Financeiras - Fusão, cisão e incorporação · ID 1219522 · 2026-02-02 · versão 1 · p. 2 · https://fnet.bmfbovespa.com.br/fnet/publico/visualizarDocumento?id=1219522</a:t>
            </a:r>
          </a:p>
          <a:p>
            <a:r>
              <a:t>CNPJ 54871427000194 · Auditor independente e DFs · Excerto da fonte:</a:t>
            </a:r>
          </a:p>
          <a:p>
            <a:r>
              <a:t>Classe Única de Responsabilidade Limitada do Consignado Delta Receivables I Fundo de Investimento em  Direitos Creditórios  Demonstrações financeiras em  2 de fevereiro de 2026 (data da incorporação da Classe)</a:t>
            </a:r>
          </a:p>
          <a:p>
            <a:r>
              <a:t>CNPJ 54871427000194 · Auditor independente e DFs · Demonstrações Financeiras - Fusão, cisão e incorporação · ID 1219522 · 2026-02-02 · versão 1 · p. 3 · https://fnet.bmfbovespa.com.br/fnet/publico/visualizarDocumento?id=1219522</a:t>
            </a:r>
          </a:p>
          <a:p>
            <a:r>
              <a:t>CNPJ 54871427000194 · Auditor independente e DFs · Excerto da fonte:</a:t>
            </a:r>
          </a:p>
          <a:p>
            <a:r>
              <a:t>Examinamos as demonstrações financeiras da Classe Única de Responsabilidade Limitada do  Consignado Delta Receivables I Fundo de Investimento em Direitos Creditórios (“Classe”),  administrada pela BTG Pactual Serviços Financeiros S.A. Distribuidora de Títulos e Valores Mobiliários  (“Administradora”), que compreendem a demonstração da posição financeira em 2 de fevereiro de  2026 e as respectivas demonstrações do resultado e do resultado abrangente, das evoluções do  patrimônio líquido e dos fluxos de caixa para o período de 1° de janeiro de 2026 (data de início do  exercício social da Classe) a 2 de fevereiro de 2026 (data da incorporação da Classe), bem como as  correspondentes notas explicativas, incluindo as políticas contábeis materiais e outras informações  elucidativas.</a:t>
            </a:r>
          </a:p>
          <a:p>
            <a:r>
              <a:t> Em nossa opinião, as demonstrações financeiras acima referidas apresentam adequadamente, em  todos os aspectos relevantes, a posição patrimonial e financeira da Classe Única de Responsabilidade  Limitada do Consignado Delta Receivables I Fundo de Investimento em Direitos Creditórios em 2 de  fevereiro de 2026 e o desempenho de suas operações e os seus fluxos de caixa para o período de 1°  de janeiro de 2026 a 2 de fevereiro de 2026, de acordo com as práticas contábeis adotadas no Brasil  aplicáveis aos fundos de investimento em direitos creditórios.</a:t>
            </a:r>
          </a:p>
          <a:p>
            <a:r>
              <a:t>CNPJ 54871427000194 · Auditor independente e DFs · Condição: Documentos atuais selecionados no inventário por categoria/escopo; a data documental isolada não comprova vigência jurídica.</a:t>
            </a:r>
          </a:p>
          <a:p>
            <a:r>
              <a:t>CNPJ 54871427000194 · Auditor independente e DFs · Versão e prevalência: Documentos atuais selecionados no inventário por categoria/escopo; a data documental isolada não comprova vigência jurídica.</a:t>
            </a:r>
          </a:p>
          <a:p>
            <a:r>
              <a:t>CNPJ 54871427000194 · Auditor independente e DFs · Resumo do histórico: {"count": 6, "dates": ["2025-01-01", "2025-04-15", "2025-12-31"], "document_count": 3, "sources": [{"document_id": "1151805", "title": "Demonstrações Financeiras", "reference_date": "2025-12-31", "version": "1", "page": 23, "url": "https://fnet.bmfbovespa.com.br/fnet/publico/visualizarDocumento?id=1151805", "sha256": "f1cea70b152968bf96ef9221b27225953cb20aeef487b2798db3c25e11b528d4"}, {"document_id": "883217", "title": "AGO", "reference_date": "2025-04-15", "version": "1", "page": 1, "url": "https://fnet.bmfbovespa.com.br/fnet/publico/visualizarDocumento?id=883217", "sha256": "233467aa4aa6265d253b610668cde19344ec99af4adf4df934c6a1bd88b9a044"}, {"document_id": "869529", "title": "Demonstrações Financeiras", "reference_date": "2025-01-01", "version": "1", "page": 23, "url": "https://fnet.bmfbovespa.com.br/fnet/publico/visualizarDocumento?id=869529", "sha256": "9a93a9369ac8efdbc54ff8fcee3ccac3abf88edab4807b9323d3852450771b2a"}], "reference": {"path": "history/54871427000194.json", "criterion_id": "audit", "total_count": 6, "preview_count": 3, "full_text_deferred": true, "sha256": "35d7cd99be50c7287c9fb675cf4f2e736002315295a225a9efa79c8d9186d874"}}</a:t>
            </a:r>
          </a:p>
          <a:p>
            <a:r>
              <a:t>CNPJ 60010416000112 · Auditor independente e DFs · AGE · ID 1313936 · 2026-08-31 · versão 1 · p. 1 · https://fnet.bmfbovespa.com.br/fnet/publico/visualizarDocumento?id=1313936</a:t>
            </a:r>
          </a:p>
          <a:p>
            <a:r>
              <a:t>CNPJ 60010416000112 · Auditor independente e DFs · Excerto da fonte:</a:t>
            </a:r>
          </a:p>
          <a:p>
            <a:r>
              <a:t>(d) Fica a Administradora autorizada a levantar, na Data da Cisão, demonstrações contábeis da  Classe, as quais darão suporte à realização da Cisão ora deliberada. As demonstrações contábeis  deverão ser auditadas, em conformidade com o art. 120, da Parte Geral, da Resolução CVM 175;</a:t>
            </a:r>
          </a:p>
          <a:p>
            <a:r>
              <a:t>CNPJ 60010416000112 · Auditor independente e DFs · Condição: Documentos atuais selecionados no inventário por categoria/escopo; a data documental isolada não comprova vigência jurídica.</a:t>
            </a:r>
          </a:p>
          <a:p>
            <a:r>
              <a:t>CNPJ 60010416000112 · Auditor independente e DFs · Versão e prevalência: Documentos atuais selecionados no inventário por categoria/escopo; a data documental isolada não comprova vigência jurídica.</a:t>
            </a:r>
          </a:p>
          <a:p>
            <a:r>
              <a:t>CNPJ 60010416000112 · Auditor independente e DFs · Resumo do histórico: {"count": 11, "dates": ["2026-04-16", "2026-05-08", "2026-07-29"], "document_count": 3, "sources": [{"document_id": "1277540", "title": "AGE", "reference_date": "2026-07-29", "version": "1", "page": 1, "url": "https://fnet.bmfbovespa.com.br/fnet/publico/visualizarDocumento?id=1277540", "sha256": "7a9b65092af34917f99f22b62eb7d248d67149b9c91dd87b07b924b9601ee9b0"}, {"document_id": "1298690", "title": "Demonstrações Financeiras - Fusão, cisão e incorporação", "reference_date": "2026-05-08", "version": "1", "page": 1, "url": "https://fnet.bmfbovespa.com.br/fnet/publico/visualizarDocumento?id=1298690", "sha256": "d979f7f7cf866a68b7fbc65c46fd726b7bcc13f9d0b809190857a9b465be7be2"}, {"document_id": "1282181", "title": "Demonstrações Financeiras - Fusão, cisão e incorporação", "reference_date": "2026-04-16", "version": "1", "page": 1, "url": "https://fnet.bmfbovespa.com.br/fnet/publico/visualizarDocumento?id=1282181", "sha256": "b1c6566e43a00bcd00c8a7f30c77b7f86e351bd8e355bbea113f46d1dafda703"}], "reference": {"path": "history/60010416000112.json", "criterion_id": "audit", "total_count": 11, "preview_count": 3, "full_text_deferred": true, "sha256": "8e2bd813f4c51cf01f6bfaad164bafe69d2bbb192f753eac92da3a01c2e63046"}}</a:t>
            </a:r>
          </a:p>
          <a:p>
            <a:r>
              <a:t>CNPJ 62696791000193 · Auditor independente e DFs · Regulamento · ID 1143317 · 2026-03-20 · versão 1 · p. 5 · 4.1.7 · https://fnet.bmfbovespa.com.br/fnet/publico/visualizarDocumento?id=1143317</a:t>
            </a:r>
          </a:p>
          <a:p>
            <a:r>
              <a:t>CNPJ 62696791000193 · Auditor independente e DFs · Excerto da fonte:</a:t>
            </a:r>
          </a:p>
          <a:p>
            <a:r>
              <a:t>4.1.7 As demonstrações contábeis cujo relatório de auditoria não contiver opinião modificada podem  ser consideradas automaticamente aprovadas caso a assembleia correspondente não seja  instalada em virtude do não comparecimento de quaisquer Cotistas.</a:t>
            </a:r>
          </a:p>
          <a:p>
            <a:r>
              <a:t>CNPJ 62696791000193 · Auditor independente e DFs · Regulamento · ID 1143317 · 2026-03-20 · versão 1 · p. 23 · 10.12 · https://fnet.bmfbovespa.com.br/fnet/publico/visualizarDocumento?id=1143317</a:t>
            </a:r>
          </a:p>
          <a:p>
            <a:r>
              <a:t>CNPJ 62696791000193 · Auditor independente e DFs · Excerto da fonte:</a:t>
            </a:r>
          </a:p>
          <a:p>
            <a:r>
              <a:t>10.12 O representante dos Cotistas será eleito com prazo de mandato a se encerrar na próxima Assembleia  de Cotistas que deliberar sobre a aprovação de demonstrações contábeis do Fundo, sendo permitida  a reeleição.</a:t>
            </a:r>
          </a:p>
          <a:p>
            <a:r>
              <a:t>CNPJ 62696791000193 · Auditor independente e DFs · Condição: Documentos atuais selecionados no inventário por categoria/escopo; a data documental isolada não comprova vigência jurídica.</a:t>
            </a:r>
          </a:p>
          <a:p>
            <a:r>
              <a:t>CNPJ 62696791000193 · Auditor independente e DFs · Versão e prevalência: Documentos atuais selecionados no inventário por categoria/escopo; a data documental isolada não comprova vigência jurídica.</a:t>
            </a:r>
          </a:p>
          <a:p>
            <a:r>
              <a:t>CNPJ 55563624000109 · Auditor independente e DFs · Regulamento · ID 1192614 · 2026-04-30 · versão 1 · p. 24 · 12.3 · https://fnet.bmfbovespa.com.br/fnet/publico/visualizarDocumento?id=1192614</a:t>
            </a:r>
          </a:p>
          <a:p>
            <a:r>
              <a:t>CNPJ 55563624000109 · Auditor independente e DFs · Excerto da fonte:</a:t>
            </a:r>
          </a:p>
          <a:p>
            <a:r>
              <a:t>12.3 Incluem-se entre as obrigações do ADMINISTRADOR, sem prejuízo de outras previstas na regulamentação:</a:t>
            </a:r>
          </a:p>
          <a:p>
            <a:r>
              <a:t> (i) sem prejuízo da observância dos procedimentos relativos às demonstrações contábeis, manter,  separadamente, registros com informações completas sobre toda e qualquer modalidade de negociação  realizada entre o ADMINISTRADOR, GESTOR, CUSTODIANTE, e/ou suas respectivas partes relacionadas,  tais como definidas pelas regras contábeis que tratam desse assunto, de um lado; e a Classe, de outro;</a:t>
            </a:r>
          </a:p>
          <a:p>
            <a:r>
              <a:t> (ii) diligenciar para que sejam mantidos, às suas expensas, atualizados e em perfeita ordem:</a:t>
            </a:r>
          </a:p>
          <a:p>
            <a:r>
              <a:t> (a) o registro de Cotistas;</a:t>
            </a:r>
          </a:p>
          <a:p>
            <a:r>
              <a:t> (b) o livro de atas das Assembleias de Cotistas;</a:t>
            </a:r>
          </a:p>
          <a:p>
            <a:r>
              <a:t> (c) o livro ou lista de presença de Cotistas;</a:t>
            </a:r>
          </a:p>
          <a:p>
            <a:r>
              <a:t> (d) os pareceres do Auditor Independente; e</a:t>
            </a:r>
          </a:p>
          <a:p>
            <a:r>
              <a:t> (e) os registros contábeis referentes às operações e ao patrimônio da Classe;</a:t>
            </a:r>
          </a:p>
          <a:p>
            <a:r>
              <a:t> (iii) pagar a multa cominatória às suas expensas, nos termos da legislação vigente, por cada dia de atraso no  cumprimento dos prazos previstos na regulamentação aplicável;</a:t>
            </a:r>
          </a:p>
          <a:p>
            <a:r>
              <a:t> (iv) elaborar e divulgar as informações periódicas e eventuais da Classe, nos termos deste Anexo e da  regulamentação e da autorregulação em vigor;</a:t>
            </a:r>
          </a:p>
          <a:p>
            <a:r>
              <a:t> (v) manter atualizada junto à CVM a lista de todos os prestadores de serviços contratados pela Classe,  inclusive os Prestadores de Serviços Essenciais, bem como as demais informações cadastrais da Classe e  suas Subclasses;</a:t>
            </a:r>
          </a:p>
          <a:p>
            <a:r>
              <a:t> (vi) manter serviço de atendimento aos Cotistas, responsável pelo esclarecimento de dúvidas e pelo  recebimento de reclamações;</a:t>
            </a:r>
          </a:p>
          <a:p>
            <a:r>
              <a:t> (vii) receber e processar os pedidos de resgate;</a:t>
            </a:r>
          </a:p>
          <a:p>
            <a:r>
              <a:t> (viii) monitorar os Eventos de Verificação do Patrimônio;</a:t>
            </a:r>
          </a:p>
          <a:p>
            <a:r>
              <a:t> (ix) monitorar os Eventos de Avaliação e Eventos de Liquidação;</a:t>
            </a:r>
          </a:p>
          <a:p>
            <a:r>
              <a:t> (x) observar as disposições constantes do Regulamento;</a:t>
            </a:r>
          </a:p>
          <a:p>
            <a:r>
              <a:t> (xi) cumprir as deliberações da Assembleia de Cotistas; e</a:t>
            </a:r>
          </a:p>
          <a:p>
            <a:r>
              <a:t> (xii) observar as disposições do Código ANBIMA e das Regras e Procedimentos ANBIMA</a:t>
            </a:r>
          </a:p>
          <a:p>
            <a:r>
              <a:t>CNPJ 55563624000109 · Auditor independente e DFs · Regulamento · ID 1192614 · 2026-04-30 · versão 1 · p. 4 · 4.6.1 · https://fnet.bmfbovespa.com.br/fnet/publico/visualizarDocumento?id=1192614</a:t>
            </a:r>
          </a:p>
          <a:p>
            <a:r>
              <a:t>CNPJ 55563624000109 · Auditor independente e DFs · Excerto da fonte:</a:t>
            </a:r>
          </a:p>
          <a:p>
            <a:r>
              <a:t>4.6.1 As deliberações relativas às matérias elencadas nos incisos abaixo serão tomadas, em primeira  convocação ou em segunda convocação, conforme os quóruns dispostos abaixo, em sede assembleia  geral de cotistas ou de assembleia especial de cotistas, conforme o caso:</a:t>
            </a:r>
          </a:p>
          <a:p>
            <a:r>
              <a:t> MATÉRIA SUJEITA À APROVAÇÃO QUÓRUM DE DELIBERAÇÃO</a:t>
            </a:r>
          </a:p>
          <a:p>
            <a:r>
              <a:t> (i) aprovação das demonstrações contábeis do FUNDO; Maioria do total das Cotas emitidas</a:t>
            </a:r>
          </a:p>
          <a:p>
            <a:r>
              <a:t>CNPJ 55563624000109 · Auditor independente e DFs · Regulamento · ID 1192614 · 2026-04-30 · versão 1 · p. 10 · 3.1 · https://fnet.bmfbovespa.com.br/fnet/publico/visualizarDocumento?id=1192614</a:t>
            </a:r>
          </a:p>
          <a:p>
            <a:r>
              <a:t>CNPJ 55563624000109 · Auditor independente e DFs · Excerto da fonte:</a:t>
            </a:r>
          </a:p>
          <a:p>
            <a:r>
              <a:t>3.1 A Classe terá Encargos que lhe poderão ser debitados diretamente, nos termos da Resolução CVM 175, e  quaisquer despesas que não constituam Encargos correm por conta do Prestador de Serviço Essencial que a tiver  contratado, incluindo, sem se limitar a:</a:t>
            </a:r>
          </a:p>
          <a:p>
            <a:r>
              <a:t> (i) Taxa de performance, se houver;</a:t>
            </a:r>
          </a:p>
          <a:p>
            <a:r>
              <a:t> (ii) Taxas, impostos ou contribuições federais, estaduais, municipais ou autárquicas, que recaiam ou  venham a recair sobre os bens, direitos e obrigações da Classe;</a:t>
            </a:r>
          </a:p>
          <a:p>
            <a:r>
              <a:t> (iii) Despesas com o registro de documentos, impressão, expedição e publicação de relatórios e informações  periódicas previstas na Resolução CVM 175;</a:t>
            </a:r>
          </a:p>
          <a:p>
            <a:r>
              <a:t> (iv) Despesas com correspondências de interesse do FUNDO ou da Classe, inclusive comunicações aos  Cotistas;</a:t>
            </a:r>
          </a:p>
          <a:p>
            <a:r>
              <a:t> (v) Honorários e despesas do Auditor Independente;</a:t>
            </a:r>
          </a:p>
          <a:p>
            <a:r>
              <a:t> BTG Pactual  SAC: 0800 772 28 27 - Ouvidoria: 0800 722 00 48 - btgpactual.com  3</a:t>
            </a:r>
          </a:p>
          <a:p>
            <a:r>
              <a:t>CNPJ 55563624000109 · Auditor independente e DFs · Condição: Documentos atuais selecionados no inventário por categoria/escopo; a data documental isolada não comprova vigência jurídica.</a:t>
            </a:r>
          </a:p>
          <a:p>
            <a:r>
              <a:t>CNPJ 55563624000109 · Auditor independente e DFs · Versão e prevalência: Documentos atuais selecionados no inventário por categoria/escopo; a data documental isolada não comprova vigência jurídica.</a:t>
            </a:r>
          </a:p>
          <a:p>
            <a:r>
              <a:t>CNPJ 55563624000109 · Auditor independente e DFs · Resumo do histórico: {"count": 2, "dates": ["2025-01-31", "2026-01-31"], "document_count": 2, "sources": [{"document_id": "1178840", "title": "Demonstrações Financeiras", "reference_date": "2026-01-31", "version": "1", "page": 4, "url": "https://fnet.bmfbovespa.com.br/fnet/publico/visualizarDocumento?id=1178840", "sha256": "c458e98664c5c907ddb5a05a94b120bed4e05295b2bfc420f5ba69af0a229abe"}, {"document_id": "891861", "title": "Demonstrações Financeiras", "reference_date": "2025-01-31", "version": "1", "page": 2, "url": "https://fnet.bmfbovespa.com.br/fnet/publico/visualizarDocumento?id=891861", "sha256": "e9cb9e6ddbe505fe068cfcac33605165a98313489de0d3ce6d4d238263c3f3e7"}], "reference": {"path": "history/55563624000109.json", "criterion_id": "audit", "total_count": 2, "preview_count": 2, "full_text_deferred": true, "sha256": "7835d573fb58a3c19adf5b8ecc2aee2bdbb9a88f7a0c0209b5f262b64c7522e3"}}</a:t>
            </a:r>
          </a:p>
          <a:p>
            <a:r>
              <a:t>CNPJ 62552447000120 · Auditor independente e DFs · Regulamento · ID 1200623 · 2026-05-21 · versão 1 · p. 4 · 4.1.6 · https://fnet.bmfbovespa.com.br/fnet/publico/visualizarDocumento?id=1200623</a:t>
            </a:r>
          </a:p>
          <a:p>
            <a:r>
              <a:t>CNPJ 62552447000120 · Auditor independente e DFs · Excerto da fonte:</a:t>
            </a:r>
          </a:p>
          <a:p>
            <a:r>
              <a:t>4.1.6 As demonstrações contábeis cujo relatório de auditoria não contiver opinião modificada podem  ser consideradas automaticamente aprovadas caso a Assembleia Geral correspondente não  seja instalada em virtude do não comparecimento de quaisquer Cotistas.</a:t>
            </a:r>
          </a:p>
          <a:p>
            <a:r>
              <a:t>CNPJ 62552447000120 · Auditor independente e DFs · Regulamento · ID 1200623 · 2026-05-21 · versão 1 · p. 29 · 12.16 · https://fnet.bmfbovespa.com.br/fnet/publico/visualizarDocumento?id=1200623</a:t>
            </a:r>
          </a:p>
          <a:p>
            <a:r>
              <a:t>CNPJ 62552447000120 · Auditor independente e DFs · Excerto da fonte:</a:t>
            </a:r>
          </a:p>
          <a:p>
            <a:r>
              <a:t>12.16 Os serviços de auditoria das demonstrações f inanceiras e demais contas da Classe serão prestados  por Auditor Independente contratado pelo Administrador. Pelos serviços prestados, o Auditor  Independente f ará jus ao recebimento de remuneração a ser def inida em contrato específico, a qual  será paga pela Classe.</a:t>
            </a:r>
          </a:p>
          <a:p>
            <a:r>
              <a:t>CAPÍTULO 13 – TAXA GLOBAL</a:t>
            </a:r>
          </a:p>
          <a:p>
            <a:r>
              <a:t>CNPJ 62552447000120 · Auditor independente e DFs · Condição: Documentos atuais selecionados no inventário por categoria/escopo; a data documental isolada não comprova vigência jurídica.</a:t>
            </a:r>
          </a:p>
          <a:p>
            <a:r>
              <a:t>CNPJ 62552447000120 · Auditor independente e DFs · Versão e prevalência: Documentos atuais selecionados no inventário por categoria/escopo; a data documental isolada não comprova vigência jurídica.</a:t>
            </a:r>
          </a:p>
          <a:p>
            <a:r>
              <a:t>CNPJ 63953620000165 · Auditor independente e DFs · Anexo ao Regulamento · ID 1222863 · 2026-06-02 · versão 1 · p. 4 · 3.4 · https://fnet.bmfbovespa.com.br/fnet/publico/visualizarDocumento?id=1222863</a:t>
            </a:r>
          </a:p>
          <a:p>
            <a:r>
              <a:t>CNPJ 63953620000165 · Auditor independente e DFs · Excerto da fonte:</a:t>
            </a:r>
          </a:p>
          <a:p>
            <a:r>
              <a:t>3.4 Adicionalmente aos Encargos, as seguintes despesas serão debitadas diretamente da Classe, nos termos do art.</a:t>
            </a:r>
          </a:p>
          <a:p>
            <a:r>
              <a:t> 51 do Anexo Normativo II da Resolução CVM 175 (“Despesas Adicionais”):</a:t>
            </a:r>
          </a:p>
          <a:p>
            <a:r>
              <a:t> (i) Despesas com registro de Direitos Creditórios;</a:t>
            </a:r>
          </a:p>
          <a:p>
            <a:r>
              <a:t> (ii) Despesas com serviços de originação, cobranças ordinária e/ou extraordinária dos Direitos Creditórios,  e/ou verificação de lastro dos Direitos Creditórios, conforme aplicável;</a:t>
            </a:r>
          </a:p>
          <a:p>
            <a:r>
              <a:t> (iii) Despesas com a contratação de atividades relacionadas à verificação de lastro;</a:t>
            </a:r>
          </a:p>
          <a:p>
            <a:r>
              <a:t> (iv) Despesas com a contratação de Agente de Retenção/Cobrança; Despesas com a contratação de  consultoria especializada, conforme o caso;</a:t>
            </a:r>
          </a:p>
          <a:p>
            <a:r>
              <a:t> (v) Remuneração do Custodiante;</a:t>
            </a:r>
          </a:p>
          <a:p>
            <a:r>
              <a:t> (vi) Despesas com honorários advocatícios para quaisquer assuntos de interesse da Classe, seja na esfera  judicial ou extrajudicial, inclusive consultivo;</a:t>
            </a:r>
          </a:p>
          <a:p>
            <a:r>
              <a:t> (vii) Despesas com a assinatura e registro dos Termos de Endosso, conforme aplicável, junto aos  competentes cartórios de Registro de Títulos e Documentos;</a:t>
            </a:r>
          </a:p>
          <a:p>
            <a:r>
              <a:t> (viii) Despesas inerentes à distribuição primária de Cotas, inclusive a contratação e remuneração do  distribuidor das Cotas para cada oferta de Cotas da Classe, nos termos de cada contrato de distribuição  e honorários devidos ao(s) assessor(es) legal(is) de cada oferta, assim como despesas com o registro das  Cotas na CVM, ANBIMA e/ou na entidade de mercado organizado em que as cotas sejam registradas,  conforme aplicável;</a:t>
            </a:r>
          </a:p>
          <a:p>
            <a:r>
              <a:t> (ix) Taxas de fiscalização da CVM e/ou ANBIMA, conforme aplicável; e</a:t>
            </a:r>
          </a:p>
          <a:p>
            <a:r>
              <a:t> (x) Despesas com contratação e remuneração do Auditor Independente e da Agência Classificadora de  Risco.</a:t>
            </a:r>
          </a:p>
          <a:p>
            <a:r>
              <a:t>CNPJ 63953620000165 · Auditor independente e DFs · Condição: Documentos atuais selecionados no inventário por categoria/escopo; a data documental isolada não comprova vigência jurídica.</a:t>
            </a:r>
          </a:p>
          <a:p>
            <a:r>
              <a:t>CNPJ 63953620000165 · Auditor independente e DFs · Motivo: Cláusula primária localizada e citada, mas sua lista/condições extensas não admitem uma síntese literal curta confirmada. O trecho integral permanece nas fontes.</a:t>
            </a:r>
          </a:p>
          <a:p>
            <a:r>
              <a:t>CNPJ 63953620000165 · Auditor independente e DFs · Versão e prevalência: Documentos atuais selecionados no inventário por categoria/escopo; a data documental isolada não comprova vigência jurídica.</a:t>
            </a:r>
          </a:p>
          <a:p>
            <a:r>
              <a:t>CNPJ 63953620000165 · Auditor independente e DFs · Resumo do histórico: {"count": 8, "dates": ["2026-04-28", "2026-05-08", "2026-05-15"], "document_count": 3, "sources": [{"document_id": "1327859", "title": "Demonstrações Financeiras - Fusão, cisão e incorporação", "reference_date": "2026-05-15", "version": "1", "page": 1, "url": "https://fnet.bmfbovespa.com.br/fnet/publico/visualizarDocumento?id=1327859", "sha256": "dca1c68babb97f887528c3e2e47596a9c30f507b067981a35655b2f2da9c8054"}, {"document_id": "1298691", "title": "Demonstrações Financeiras - Fusão, cisão e incorporação", "reference_date": "2026-05-08", "version": "1", "page": 1, "url": "https://fnet.bmfbovespa.com.br/fnet/publico/visualizarDocumento?id=1298691", "sha256": "58c570d9b8d4d265330d3db3ea81c435b8e44a6dab4002aa37790652a1ee9819"}, {"document_id": "1282180", "title": "Demonstrações Financeiras - Fusão, cisão e incorporação", "reference_date": "2026-04-28", "version": "1", "page": 1, "url": "https://fnet.bmfbovespa.com.br/fnet/publico/visualizarDocumento?id=1282180", "sha256": "afaaa0e6809be4385e5bdb6c911aac582032c5bdbac3d7750234bf9eaf00438a"}], "reference": {"path": "history/63953620000165.json", "criterion_id": "audit",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Governança e alterações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Quóruns e matérias reservadas · Regulamento · ID 670691 · 28/04/2024 · versão Regulamento — referência 28/04/2024 · p. 4 · Parte Geral, 4.4–4.4.1 · https://fnet.bmfbovespa.com.br/fnet/publico/visualizarDocumento?id=670691</a:t>
            </a:r>
          </a:p>
          <a:p>
            <a:r>
              <a:t>CNPJ 54871427000194 · Quóruns e matérias reservadas · Excerto da fonte:</a:t>
            </a:r>
          </a:p>
          <a:p>
            <a:r>
              <a:t>4.4 Ressalvadas as exceções descritas neste Regulamento, toda e qualquer matéria submetida à deliberação dos cotistas deverá ser aprovada por maioria dos votos dos presentes. 4.4.1 As deliberações relativas às matérias elencadas nos incisos abaixo serão tomadas, em primeira convocação ou em segunda convocação, pelos votos dos titulares da maioria das cotas em circulação, em sede assembleia geral de cotistas ou de assembleia especial de cotistas, conf orme o caso: (i) aprovação das demonstrações contábeis do FUNDO; (ii) alteração da Parte Geral deste Regulamento; (iii) substituição ou remoção do Prestador de Serviços Essenciais do FUNDO, ressalvada a possibilidade prevista no Art. 70, §1º, da Parte Geral da Resolução CVM 175; (iv) alterações nos quóruns de deliberação def inidos neste Regulamento; (v) cobrança de taxas e encargos pelo ADMINISTRADOR, de qualquer natureza, que não estejam expressamente previstos neste Regulamento; (vi) liquidação do FUNDO. (vii) plano de resolu</a:t>
            </a:r>
          </a:p>
          <a:p>
            <a:r>
              <a:t>CNPJ 54871427000194 · Quóruns e matérias reservadas · Regulamento · ID 670691 · 28/04/2024 · versão Regulamento — referência 28/04/2024 · p. 17 · Anexo I, 10.1 · https://fnet.bmfbovespa.com.br/fnet/publico/visualizarDocumento?id=670691</a:t>
            </a:r>
          </a:p>
          <a:p>
            <a:r>
              <a:t>CNPJ 54871427000194 · Quóruns e matérias reservadas · Excerto da fonte:</a:t>
            </a:r>
          </a:p>
          <a:p>
            <a:r>
              <a:t>10.1 Sem prejuízo de outros requisitos e inf ormações previstos na regulamentação vigente, são aplicáveis à Assembleia Especial de Cotistas as mesmas disposições procedimentais da Assembleia Geral de Cotistas. 10.2 A Assembleia Especial de Cotistas é responsável por deliberar sobre as matérias específicas da Classe de Cotas, sem prejuízo das demais disposições previstas na regulamentação aplicável, incluindo, mas não se limitando a: (i) deliberar sobre as demonstrações contábeis da Classe; (ii) deliberar sobre substituição de Prestadores de Serviços Essenciais, observado o disposto no art. 70, §1º da parte geral da Resolução CVM 175; (iii) deliberar sobre elevação da Taxa de Administração, inclusive na hipótese de restabelecimento de taxa que tenha sido objeto de redução; (iv) deliberar sobre incorporação, f usão, cisão total ou parcial, a transf ormação ou liquidação da Classe; (v) alterações das características, vantagens, direitos e obrigações das Cotas; (vi) alterar critérios e procedimentos para Amortização e/ou resgate de Cotas mediante dação em pagamento de Direitos Creditórios; (vii) a</a:t>
            </a:r>
          </a:p>
          <a:p>
            <a:r>
              <a:t>CNPJ 54871427000194 · Quóruns e matérias reservadas · Versão e prevalência: Leitura específica das cláusulas indicadas; condições e conflitos preservados. Seleção documental atual não comprova vigência jurídica por data isolada.</a:t>
            </a:r>
          </a:p>
          <a:p>
            <a:r>
              <a:t>CNPJ 54871427000194 · Quóruns e matérias reservadas · Resumo do histórico: {"count": 1, "dates": ["2024-04-19"], "document_count": 1, "sources": [{"document_id": "670689", "title": "Regulamento", "reference_date": "2024-04-19", "version": "1", "page": 20, "clause": "11.6", "url": "https://fnet.bmfbovespa.com.br/fnet/publico/visualizarDocumento?id=670689", "sha256": "891bc9bc5d87bbc02ec139077a84d2702eb81ea02035fb71d24f5b8366b94a0b"}], "reference": {"path": "history/54871427000194.json", "criterion_id": "quorum", "total_count": 1, "preview_count": 1, "full_text_deferred": true, "sha256": "35d7cd99be50c7287c9fb675cf4f2e736002315295a225a9efa79c8d9186d874"}}</a:t>
            </a:r>
          </a:p>
          <a:p>
            <a:r>
              <a:t>CNPJ 60010416000112 · Quóruns e matérias reservadas · Regulamento · ID 1051393 · 09/10/2025 · versão Regulamento09/10/2025 · p. 18 · AnexoI9.2(ii)–(xvii) · https://fnet.bmfbovespa.com.br/fnet/publico/visualizarDocumento?id=1051393</a:t>
            </a:r>
          </a:p>
          <a:p>
            <a:r>
              <a:t>CNPJ 60010416000112 · Quóruns e matérias reservadas · Excerto da fonte:</a:t>
            </a:r>
          </a:p>
          <a:p>
            <a:r>
              <a:t>(ii) alterar este Anexo I e seus complementos, incluindo mas não se limitando aos Apêndices de cada uma das subclasses; (iii) deliberar sobre substituição de Prestadores de Serviços Essenciais, observado o disposto no Art. 70, §1º da parte geral da Resolução CVM 175, quando aplicável, ou do Custodiante; (iv) deliberar sobre elevação da Taxa de Administração, inclusive na hipótese de restabelecimento de taxa que tenha sido objeto de redução; (v) deliberar sobre incorporação, fusão, cisão total ou parcial, a transformação ou liquidação da Classe; (vi) alter</a:t>
            </a:r>
          </a:p>
          <a:p>
            <a:r>
              <a:t>CNPJ 60010416000112 · Quóruns e matérias reservadas · Regulamento · ID 1051393 · 09/10/2025 · versão Regulamento09/10/2025 · p. 19 · AnexoI9.8–9.9 · https://fnet.bmfbovespa.com.br/fnet/publico/visualizarDocumento?id=1051393</a:t>
            </a:r>
          </a:p>
          <a:p>
            <a:r>
              <a:t>CNPJ 60010416000112 · Quóruns e matérias reservadas · Excerto da fonte:</a:t>
            </a:r>
          </a:p>
          <a:p>
            <a:r>
              <a:t>9.8 As deliberações constantes dos incisos (ii), (iii), (iv), (v), (vi), (vii), (x), (xi), (xii), (xiii) e (xvii) acima, apenas serão aprovadas, seja em primeira ou em segunda convocação, por unanimidade dos votos dos titulares das Cotas em circulação. 9.9 As deliberações relativas aos demais incisos do item 9.2 acima apenas serão aprovadas, seja em primeira ou em segunda convocação, mediante o voto favorável dos Cotistas que representem a maioria das Cotas emitidas pela Classe. 9.10 Somente os Cotistas, seus representantes legais ou procuradores legalmente nomeados há menos de 1 (um) ano ter</a:t>
            </a:r>
          </a:p>
          <a:p>
            <a:r>
              <a:t>CNPJ 60010416000112 · Quóruns e matérias reservadas · Versão e prevalência: Leitura específica das cláusulas indicadas; condições e conflitos preservados. Seleção documental atual não comprova vigência jurídica por data isolada.</a:t>
            </a:r>
          </a:p>
          <a:p>
            <a:r>
              <a:t>CNPJ 60010416000112 · Quóruns e matérias reservadas · Resumo do histórico: {"count": 3, "dates": ["2025-03-20", "2025-05-09", "2025-05-12"], "document_count": 3, "sources": [{"document_id": "1004656", "title": "AGE", "reference_date": "2025-05-12", "version": "1", "page": 1, "url": "https://fnet.bmfbovespa.com.br/fnet/publico/visualizarDocumento?id=1004656", "sha256": "f6c9c009f6170e2b29f074b98522accec73f0c40efbf11f9ec2c8d3f1402616b"}, {"document_id": "911262", "title": "AGE", "reference_date": "2025-05-09", "version": "1", "page": 1, "url": "https://fnet.bmfbovespa.com.br/fnet/publico/visualizarDocumento?id=911262", "sha256": "675de4ffe8c5ee95957fb29810625ce850d1a0b69b5231747442266f0cbf32a3"}, {"document_id": "993786", "title": "Regulamento", "reference_date": "2025-03-20", "version": "1", "page": 22, "clause": "10.6", "url": "https://fnet.bmfbovespa.com.br/fnet/publico/visualizarDocumento?id=993786", "sha256": "fd0fdd369a195510d81f81f505195a0b09e5f43522a990afa7d58c4f872921c8"}], "reference": {"path": "history/60010416000112.json", "criterion_id": "quorum", "total_count": 3, "preview_count": 3, "full_text_deferred": true, "sha256": "8e2bd813f4c51cf01f6bfaad164bafe69d2bbb192f753eac92da3a01c2e63046"}}</a:t>
            </a:r>
          </a:p>
          <a:p>
            <a:r>
              <a:t>CNPJ 62696791000193 · Quóruns e matérias reservadas · Regulamento · ID 1143317 · 20/03/2026 · versão Regulamento — referência 20/03/2026 · p. 20 · Anexo I, 10.2, tabela · https://fnet.bmfbovespa.com.br/fnet/publico/visualizarDocumento?id=1143317</a:t>
            </a:r>
          </a:p>
          <a:p>
            <a:r>
              <a:t>CNPJ 62696791000193 · Quóruns e matérias reservadas · Excerto da fonte:</a:t>
            </a:r>
          </a:p>
          <a:p>
            <a:r>
              <a:t>10.2 Os seguintes quóruns deverão ser observados pela Assembleia Especial de Cotistas ao deliberar as matérias abaixo: Matéria Quórum I – alterar o presente Anexo; Maioria das Cotas Subscritas (“Quórum Qualificado”), observada BTG Pactual SAC: 0800 772 2827 | Ouvidoria: 0800 722 0048 | btgpactual.co m 15</a:t>
            </a:r>
          </a:p>
          <a:p>
            <a:r>
              <a:t>CNPJ 62696791000193 · Quóruns e matérias reservadas · Regulamento · ID 1143317 · 20/03/2026 · versão Regulamento — referência 20/03/2026 · p. 21 · Anexo I, 10.2, tabela · https://fnet.bmfbovespa.com.br/fnet/publico/visualizarDocumento?id=1143317</a:t>
            </a:r>
          </a:p>
          <a:p>
            <a:r>
              <a:t>CNPJ 62696791000193 · Quóruns e matérias reservadas · Excerto da fonte:</a:t>
            </a:r>
          </a:p>
          <a:p>
            <a:r>
              <a:t>Matéria Quórum a necessidade de voto afirmativo da Maioria das Cotas Seniores subscritas da Classe Quórum Qualif icado observada a necessidade de voto af irmativo da II – substituição do Administrador, do Gestor e da Cogestora; Maioria das Cotas Seniores subscritas da Classe Maioria Simples, observada a III – Emissão e distribuição de novas Cotas em quantidade necessidade de voto af irmativo da superior ao Capital Autorizado da Classe ; Maioria das Cotas Seniores subscritas da Classe</a:t>
            </a:r>
          </a:p>
          <a:p>
            <a:r>
              <a:t>CNPJ 62696791000193 · Quóruns e matérias reservadas · Regulamento · ID 1143317 · 20/03/2026 · versão Regulamento — referência 20/03/2026 · p. 22 · Anexo I, 10.2(XI) e 10.5–10.7 · https://fnet.bmfbovespa.com.br/fnet/publico/visualizarDocumento?id=1143317</a:t>
            </a:r>
          </a:p>
          <a:p>
            <a:r>
              <a:t>CNPJ 62696791000193 · Quóruns e matérias reservadas · Excerto da fonte:</a:t>
            </a:r>
          </a:p>
          <a:p>
            <a:r>
              <a:t>10.5 As deliberações que tenham por objeto alterações de Benchmark apenas serão aprovadas se assim deliberado: (i) pelos votos dos titulares da maioria das Cotas em circulação da Série ou Subclasse cujo Benchmark é alterado; e (ii) pelos votos dos titulares da maioria das Cotas Mezanino que se subordinem a ela e/ou das Cotas Subordinadas em circulação. 10.6 As deliberações que tenham por objeto o aumento do Índice de Subordinação estão sujeitas à aprovação da maioria simples dos votos dos titulares das Cotas Mezanino que se subordinem a ela e/ou das Cotas Subordinadas em circulação. 10.7 As deliberações que tenham por objeto a diminuição do Índice de Subordinação apenas serão aprovadas se assim deliberado: (i) pelos votos dos titulares da maioria das Cotas em circulação de cada uma das Séries de Cotas Seniores e/ou dos titulares das Cotas Mezanino que tenham o Benchmark alterado; e (ii) pelo voto dos titulares da maioria das Cotas Mezanino que se subordinem a ela e/ou Cotas Subordinadas Júnior em circulação . Representante de Cotistas 10.8 A Assembleia de Cotistas pode, a qualquer momento, eleger até 3 (três) representantes de cotistas, a serem eleitos e nomeados pela assembleia especial,</a:t>
            </a:r>
          </a:p>
          <a:p>
            <a:r>
              <a:t>CNPJ 62696791000193 · Quóruns e matérias reservadas · Versão e prevalência: Leitura específica das cláusulas indicadas; condições e conflitos preservados. Seleção documental atual não comprova vigência jurídica por data isolada.</a:t>
            </a:r>
          </a:p>
          <a:p>
            <a:r>
              <a:t>CNPJ 55563624000109 · Quóruns e matérias reservadas · Regulamento · ID 1192614 · 30/04/2026 · versão Regulamento30/04/2026 · p. 19 · AnexoI10.2(i)–(v) · https://fnet.bmfbovespa.com.br/fnet/publico/visualizarDocumento?id=1192614</a:t>
            </a:r>
          </a:p>
          <a:p>
            <a:r>
              <a:t>CNPJ 55563624000109 · Quóruns e matérias reservadas · Excerto da fonte:</a:t>
            </a:r>
          </a:p>
          <a:p>
            <a:r>
              <a:t>10.2 A Assembleia Especial de Cotistas é responsável por deliberar, observados os quóruns abaixo, sobre as matérias específicas da Classe, sem prejuízo das demais disposições previstas na regulamentação aplicável, incluindo, mas não se limitando a: MATÉRIA SUJEITA À APROVAÇÃO QUÓRUM DE DELIBERAÇÃO (i) deliberar sobre as demonstrações contábeis da Classe; Maioria do total das Cotas emitidas (ii) deliberar sobre a substituição de Prestadores de Serviços 90% (noventa por cento) do total das Cotas</a:t>
            </a:r>
          </a:p>
          <a:p>
            <a:r>
              <a:t>CNPJ 55563624000109 · Quóruns e matérias reservadas · Regulamento · ID 1192614 · 30/04/2026 · versão Regulamento30/04/2026 · p. 20 · AnexoI10.2(vi)–(xiii) · https://fnet.bmfbovespa.com.br/fnet/publico/visualizarDocumento?id=1192614</a:t>
            </a:r>
          </a:p>
          <a:p>
            <a:r>
              <a:t>CNPJ 55563624000109 · Quóruns e matérias reservadas · Excerto da fonte:</a:t>
            </a:r>
          </a:p>
          <a:p>
            <a:r>
              <a:t>(vi) alterar as características, vantagens, direitos e obrigações 90% (noventa por cento) do total das Cotas das Cotas; emitidas (vii) alterar critérios e procedimentos para resgate de Cotas mediante dação em pagamento de Cotas da Classe Maioria do total das Cotas emitidas Investida; (viii) aprovar a emissão de novas Cotas fora do Capital Maioria do total das Cotas emitidas</a:t>
            </a:r>
          </a:p>
          <a:p>
            <a:r>
              <a:t>CNPJ 55563624000109 · Quóruns e matérias reservadas · Versão e prevalência: Leitura específica das cláusulas indicadas; condições e conflitos preservados. Seleção documental atual não comprova vigência jurídica por data isolada.</a:t>
            </a:r>
          </a:p>
          <a:p>
            <a:r>
              <a:t>CNPJ 55563624000109 · Quóruns e matérias reservadas · Resumo do histórico: {"count": 2, "dates": ["2025-01-31", "2026-01-31"], "document_count": 2, "sources": [{"document_id": "1178840", "title": "Demonstrações Financeiras", "reference_date": "2026-01-31", "version": "1", "page": 24, "url": "https://fnet.bmfbovespa.com.br/fnet/publico/visualizarDocumento?id=1178840", "sha256": "c458e98664c5c907ddb5a05a94b120bed4e05295b2bfc420f5ba69af0a229abe"}, {"document_id": "891861", "title": "Demonstrações Financeiras", "reference_date": "2025-01-31", "version": "1", "page": 25, "url": "https://fnet.bmfbovespa.com.br/fnet/publico/visualizarDocumento?id=891861", "sha256": "e9cb9e6ddbe505fe068cfcac33605165a98313489de0d3ce6d4d238263c3f3e7"}], "reference": {"path": "history/55563624000109.json", "criterion_id": "quorum", "total_count": 2, "preview_count": 2, "full_text_deferred": true, "sha256": "7835d573fb58a3c19adf5b8ecc2aee2bdbb9a88f7a0c0209b5f262b64c7522e3"}}</a:t>
            </a:r>
          </a:p>
          <a:p>
            <a:r>
              <a:t>CNPJ 62552447000120 · Quóruns e matérias reservadas · Regulamento · ID 1200623 · 21/05/2026 · versão Consolidado21/05/2026 aprovado pelo ato1200625 · p. 21 · AnexoI10.2(i)–(x) · https://fnet.bmfbovespa.com.br/fnet/publico/visualizarDocumento?id=1200623</a:t>
            </a:r>
          </a:p>
          <a:p>
            <a:r>
              <a:t>CNPJ 62552447000120 · Quóruns e matérias reservadas · Excerto da fonte:</a:t>
            </a:r>
          </a:p>
          <a:p>
            <a:r>
              <a:t>10.2 Os seguintes quóruns deverão ser observados pela Assembleia Especial ao deliberar as matérias abaixo: Matéria Quórum (i) deliberar sobre substituição de Prestadores de Serviços Unanimidade dos Cotistas Essenciais, observado o disposto no art. 70, §1º da Parte Geral da Resolução CVM 175, quando aplicável; (ii) deliberar sobre elevação da Taxa Global, inclusive na Unanimidade dos Cotistas hipótese de restabelecimento de taxa que tenha sido objeto de redução; (iii) delibera</a:t>
            </a:r>
          </a:p>
          <a:p>
            <a:r>
              <a:t>CNPJ 62552447000120 · Quóruns e matérias reservadas · Versão e prevalência: Leitura específica das cláusulas indicadas; condições e conflitos preservados. Seleção documental atual não comprova vigência jurídica por data isolada.</a:t>
            </a:r>
          </a:p>
          <a:p>
            <a:r>
              <a:t>CNPJ 63953620000165 · Quóruns e matérias reservadas · Anexo ao Regulamento · ID 1222863 · 02/06/2026 · versão AnexoConsignadoPrivado02/06/2026 · p. 13 · 10.2(ii)–(xvii) · https://fnet.bmfbovespa.com.br/fnet/publico/visualizarDocumento?id=1222863</a:t>
            </a:r>
          </a:p>
          <a:p>
            <a:r>
              <a:t>CNPJ 63953620000165 · Quóruns e matérias reservadas · Excerto da fonte:</a:t>
            </a:r>
          </a:p>
          <a:p>
            <a:r>
              <a:t>10.2 Os seguintes quóruns deverão ser observados pela Assembleia Especial de Cotistas ao deliberar as matérias abaixo: Matéria Quórum (i) deliberar sobre as demonstrações contábeis da Classe; Maioria das Cotas presentes (ii) alterar o presente Anexo; Maioria das Cotas de cada Subclasse (iii) deliberar sobre substituição de Prestadores de Serviços Maioria das Cotas da Classe Essenciais, observado o disposto no Artigo 70, §1º da parte geral da R</a:t>
            </a:r>
          </a:p>
          <a:p>
            <a:r>
              <a:t>CNPJ 63953620000165 · Quóruns e matérias reservadas · Anexo ao Regulamento · ID 1222863 · 02/06/2026 · versão AnexoConsignadoPrivado02/06/2026 · p. 14 · 10.5–10.8 · https://fnet.bmfbovespa.com.br/fnet/publico/visualizarDocumento?id=1222863</a:t>
            </a:r>
          </a:p>
          <a:p>
            <a:r>
              <a:t>CNPJ 63953620000165 · Quóruns e matérias reservadas · Excerto da fonte:</a:t>
            </a:r>
          </a:p>
          <a:p>
            <a:r>
              <a:t>10.5 Caso a matéria em deliberação resulte ou possa resultar em uma redução do Índice de Subordinação de uma determinada Subclasse, somente podem votar os titulares de Subclasses de Cotas Seniores. 10.6 As deliberações que tenham por objeto alterações de Benchmark apenas serão aprovadas se assim deliberado: (i) pelos votos dos titulares da maioria das Cotas Seniores cujo Benchmark é alterado; e (ii) pelos votos dos titulares da maioria das Cotas Subordinadas em circulação. 10.7 As deliberações que tenham por objeto o aumento do Índice de Subordinação Sênior estão sujeitas à aprovação da maioria simples dos votos dos titu</a:t>
            </a:r>
          </a:p>
          <a:p>
            <a:r>
              <a:t>CNPJ 63953620000165 · Quóruns e matérias reservadas · Condição: 10.7/10.8 repetem aumento do índice com quóruns distintos; interpretar regra específica demandará resolver conflito, sem presumir uma aprovação.</a:t>
            </a:r>
          </a:p>
          <a:p>
            <a:r>
              <a:t>CNPJ 63953620000165 · Quóruns e matérias reservadas · Versão e prevalência: Leitura específica das cláusulas indicadas; condições e conflitos preservados. Seleção documental atual não comprova vigência jurídica por data isolada.</a:t>
            </a:r>
          </a:p>
          <a:p>
            <a:r>
              <a:t>CNPJ 63953620000165 · Quóruns e matérias reservadas · Resumo do histórico: {"count": 7, "dates": ["2026-04-28", "2026-05-08", "2026-05-15"], "document_count": 3, "sources": [{"document_id": "1327859", "title": "Demonstrações Financeiras - Fusão, cisão e incorporação", "reference_date": "2026-05-15", "version": "1", "page": 10, "url": "https://fnet.bmfbovespa.com.br/fnet/publico/visualizarDocumento?id=1327859", "sha256": "dca1c68babb97f887528c3e2e47596a9c30f507b067981a35655b2f2da9c8054"}, {"document_id": "1298691", "title": "Demonstrações Financeiras - Fusão, cisão e incorporação", "reference_date": "2026-05-08", "version": "1", "page": 10, "url": "https://fnet.bmfbovespa.com.br/fnet/publico/visualizarDocumento?id=1298691", "sha256": "58c570d9b8d4d265330d3db3ea81c435b8e44a6dab4002aa37790652a1ee9819"}, {"document_id": "1205431", "title": "AGE", "reference_date": "2026-04-28", "version": "1", "page": 1, "url": "https://fnet.bmfbovespa.com.br/fnet/publico/visualizarDocumento?id=1205431", "sha256": "e0b59c701c5d0dbf60de698ea7664d442240863b7043bacdb334ce484188b2ac"}], "reference": {"path": "history/63953620000165.json", "criterion_id": "quorum", "total_count": 7, "preview_count": 3, "full_text_deferred": true, "sha256": "a7b89077f5e21098c2d601c303faabc3ff6b9729f89d8afecdc60fe1404720c1"}}</a:t>
            </a:r>
          </a:p>
          <a:p>
            <a:r>
              <a:t>CNPJ 54871427000194 · Partes relacionadas e conflitos · Regulamento · ID 670691 · 2024-04-28 · versão 1 · p. 11 · 4.10 · https://fnet.bmfbovespa.com.br/fnet/publico/visualizarDocumento?id=670691</a:t>
            </a:r>
          </a:p>
          <a:p>
            <a:r>
              <a:t>CNPJ 54871427000194 · Partes relacionadas e conflitos · Excerto da fonte:</a:t>
            </a:r>
          </a:p>
          <a:p>
            <a:r>
              <a:t>4.10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54871427000194 · Partes relacionadas e conflitos · Regulamento · ID 670691 · 2024-04-28 · versão 1 · p. 11 · 4.11 · https://fnet.bmfbovespa.com.br/fnet/publico/visualizarDocumento?id=670691</a:t>
            </a:r>
          </a:p>
          <a:p>
            <a:r>
              <a:t>CNPJ 54871427000194 · Partes relacionadas e conflitos · Excerto da fonte:</a:t>
            </a:r>
          </a:p>
          <a:p>
            <a:r>
              <a:t>4.11 A Classe poderá, direta ou indiretamente e, nos termos da legislação aplicável: (i) adquirir Direitos  Creditórios que sejam cedidos e/ou originados pelo ADMINISTRADOR e/ou pelo GESTOR, ou partes  a eles relacionadas, tal como definidas pelas regras contábeis que tratam desse assunto; e (ii) ceder  Direitos Creditórios a qualquer das pessoas, fundos de investimento ou entidades referidas no item (i)  acima, desde que (i) o ADMINISTRADOR, GESTOR, a entidade registradora e o CUSTODIANTE de  Direitos Creditórios não sejam partes relacionadas entre si; e (ii) a entidade registradora e o  CUSTODIANTE dos Direitos Creditórios não sejam partes relacionadas ao originador ou Cedente.</a:t>
            </a:r>
          </a:p>
          <a:p>
            <a:r>
              <a:t>CNPJ 54871427000194 · Partes relacionadas e conflitos · Regulamento · ID 670691 · 2024-04-28 · versão 1 · p. 25 · 12.21 · https://fnet.bmfbovespa.com.br/fnet/publico/visualizarDocumento?id=670691</a:t>
            </a:r>
          </a:p>
          <a:p>
            <a:r>
              <a:t>CNPJ 54871427000194 · Partes relacionadas e conflitos · Excerto da fonte:</a:t>
            </a:r>
          </a:p>
          <a:p>
            <a:r>
              <a:t>12.21 O GESTOR, em nome da Classe, poderá contratar um ou mais terceiros para a prestação de serviços  de Agente de Cobrança de Direitos Creditórios Inadimplidos, os quais poderão ser partes relacionadas  ou integrar o grupo do ADMINISTRADOR ou dos demais prestadores de serviços da Classe. ] Serão  atribuições do Agente de Cobrança, observado o disposto neste Regulamento e na regulamentação  aplicável:</a:t>
            </a:r>
          </a:p>
          <a:p>
            <a:r>
              <a:t>(i) sempre que necessário, notificar os Devedores sobre a cessão dos Direitos Creditórios à  Classe, nos termos do Art. 290 do Código Civil;</a:t>
            </a:r>
          </a:p>
          <a:p>
            <a:r>
              <a:t>(ii) sempre que solicitado pelo ADMINISTRADOR e/ou pelo GESTOR, reportar ao  ADMINISTRADOR e ao GESTOR as ações tomadas e/ou eventos relevantes ocorridos no  âmbito da cobrança, seja judicial ou extrajudicial, dos Direitos Creditórios Inadimplidos, bem  como o estado de ref erida cobrança;</a:t>
            </a:r>
          </a:p>
          <a:p>
            <a:r>
              <a:t>(iii) comparecer à Assembleia Especial de Cotistas quando assim requerido pelo  ADMINISTRADOR;</a:t>
            </a:r>
          </a:p>
          <a:p>
            <a:r>
              <a:t>(iv) conf irmar o recebimento dos boletos bancários de cobrança enviados aos Devedores, se  aplicável;</a:t>
            </a:r>
          </a:p>
          <a:p>
            <a:r>
              <a:t>(v) controlar, coordenar, gerir e f iscalizar as ações de cobrança de Direitos Creditórios  Inadimplidos;</a:t>
            </a:r>
          </a:p>
          <a:p>
            <a:r>
              <a:t>(vi) adotar, em nome e por conta da Classe, todos os procedimentos de cobrança dos Direitos  Creditórios Inadimplidos de titularidade da Classe;</a:t>
            </a:r>
          </a:p>
          <a:p>
            <a:r>
              <a:t>(vii) conf orme o caso, ef etuar a inclusão ou exclusão do nome de quaisquer Devedores dos  Direitos Creditórios Inadimplidos no registro negativo de órgãos e/ou sistemas de informação  e proteção ao crédito; e</a:t>
            </a:r>
          </a:p>
          <a:p>
            <a:r>
              <a:t>(viii) conduzir, por si ou por meio dos assessores legais contratados para esse f im, processo  administrativo, judicial e/ou arbitral contra os Devedores, incluindo, ainda, a excussão de  eventuais garantias acessórias aos Direitos Creditórios.</a:t>
            </a:r>
          </a:p>
          <a:p>
            <a:r>
              <a:t>CNPJ 54871427000194 · Partes relacionadas e conflitos · Condição: Documentos atuais selecionados no inventário por categoria/escopo; a data documental isolada não comprova vigência jurídica.</a:t>
            </a:r>
          </a:p>
          <a:p>
            <a:r>
              <a:t>CNPJ 54871427000194 · Partes relacionadas e conflitos · Versão e prevalência: Documentos atuais selecionados no inventário por categoria/escopo; a data documental isolada não comprova vigência jurídica.</a:t>
            </a:r>
          </a:p>
          <a:p>
            <a:r>
              <a:t>CNPJ 54871427000194 · Partes relacionadas e conflitos · Resumo do histórico: {"count": 1, "dates": ["2024-04-19"], "document_count": 1, "sources": [{"document_id": "670689", "title": "Regulamento", "reference_date": "2024-04-19", "version": "1", "page": 11, "clause": "4.10", "url": "https://fnet.bmfbovespa.com.br/fnet/publico/visualizarDocumento?id=670689", "sha256": "891bc9bc5d87bbc02ec139077a84d2702eb81ea02035fb71d24f5b8366b94a0b"}], "reference": {"path": "history/54871427000194.json", "criterion_id": "related_parties", "total_count": 1, "preview_count": 1, "full_text_deferred": true, "sha256": "35d7cd99be50c7287c9fb675cf4f2e736002315295a225a9efa79c8d9186d874"}}</a:t>
            </a:r>
          </a:p>
          <a:p>
            <a:r>
              <a:t>CNPJ 60010416000112 · Partes relacionadas e conflitos · Regulamento · ID 1051393 · 2025-10-09 · versão 1 · p. 12 · 4.8 · https://fnet.bmfbovespa.com.br/fnet/publico/visualizarDocumento?id=1051393</a:t>
            </a:r>
          </a:p>
          <a:p>
            <a:r>
              <a:t>CNPJ 60010416000112 · Partes relacionadas e conflitos · Excerto da fonte:</a:t>
            </a:r>
          </a:p>
          <a:p>
            <a:r>
              <a:t>4.8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60010416000112 · Partes relacionadas e conflitos · Regulamento · ID 1051393 · 2025-10-09 · versão 1 · p. 12 · 4.9 · https://fnet.bmfbovespa.com.br/fnet/publico/visualizarDocumento?id=1051393</a:t>
            </a:r>
          </a:p>
          <a:p>
            <a:r>
              <a:t>CNPJ 60010416000112 · Partes relacionadas e conflitos · Excerto da fonte:</a:t>
            </a:r>
          </a:p>
          <a:p>
            <a:r>
              <a:t>4.9 Sem prejuízo de limites mais restritivos definidos neste Regulamento, o Gestor deverá observar, ainda, os  seguintes limites de concentração para a composição da Carteira:</a:t>
            </a:r>
          </a:p>
          <a:p>
            <a:r>
              <a:t> (i ) Até 100% (cem por cento) da parcela do Patrimônio Líquido investida em Ativos  Financeiros de Liquidez poderá ser alocada em Ativos Financeiros de Liquidez de  emissão ou que envolvam retenção de risco por parte do Administrador, Gestor, e/ou  suas partes relacionadas; e</a:t>
            </a:r>
          </a:p>
          <a:p>
            <a:r>
              <a:t> (ii) Até 100% (cem por cento) da parcela do Patrimônio Líquido investida em operações  com derivativos poderá ser alocada em derivativos nos quais, inexistindo contraparte  central, se tenha como contraparte o Gestor e/ou suas partes relacionadas.</a:t>
            </a:r>
          </a:p>
          <a:p>
            <a:r>
              <a:t>CNPJ 60010416000112 · Partes relacionadas e conflitos · Regulamento · ID 1051393 · 2025-10-09 · versão 1 · p. 12 · 4.12.1 · https://fnet.bmfbovespa.com.br/fnet/publico/visualizarDocumento?id=1051393</a:t>
            </a:r>
          </a:p>
          <a:p>
            <a:r>
              <a:t>CNPJ 60010416000112 · Partes relacionadas e conflitos · Excerto da fonte:</a:t>
            </a:r>
          </a:p>
          <a:p>
            <a:r>
              <a:t>4.12.1. Após o término do Período de Investimento, a Classe utilizará os recursos provenientes do  pagamento dos Direitos Creditórios e demais aplicações para amortização das Cotas, observada  a ordem de alocação de recursos def inida no Capítulo 7 abaixo.</a:t>
            </a:r>
          </a:p>
          <a:p>
            <a:r>
              <a:t>Regras, procedimentos e limites para efetuar cessão de direitos creditórios para o cedente e suas partes relacionadas</a:t>
            </a:r>
          </a:p>
          <a:p>
            <a:r>
              <a:t>CNPJ 60010416000112 · Partes relacionadas e conflitos · Condição: Documentos atuais selecionados no inventário por categoria/escopo; a data documental isolada não comprova vigência jurídica.</a:t>
            </a:r>
          </a:p>
          <a:p>
            <a:r>
              <a:t>CNPJ 60010416000112 · Partes relacionadas e conflitos · Versão e prevalência: Documentos atuais selecionados no inventário por categoria/escopo; a data documental isolada não comprova vigência jurídica.</a:t>
            </a:r>
          </a:p>
          <a:p>
            <a:r>
              <a:t>CNPJ 60010416000112 · Partes relacionadas e conflitos · Resumo do histórico: {"count": 1, "dates": ["2025-03-20"], "document_count": 1, "sources": [{"document_id": "993786", "title": "Regulamento", "reference_date": "2025-03-20", "version": "1", "page": 12, "clause": "4.8", "url": "https://fnet.bmfbovespa.com.br/fnet/publico/visualizarDocumento?id=993786", "sha256": "fd0fdd369a195510d81f81f505195a0b09e5f43522a990afa7d58c4f872921c8"}], "reference": {"path": "history/60010416000112.json", "criterion_id": "related_parties", "total_count": 1, "preview_count": 1, "full_text_deferred": true, "sha256": "8e2bd813f4c51cf01f6bfaad164bafe69d2bbb192f753eac92da3a01c2e63046"}}</a:t>
            </a:r>
          </a:p>
          <a:p>
            <a:r>
              <a:t>CNPJ 62696791000193 · Partes relacionadas e conflitos · Regulamento · ID 1143317 · 2026-03-20 · versão 1 · p. 12 · 4.10 · https://fnet.bmfbovespa.com.br/fnet/publico/visualizarDocumento?id=1143317</a:t>
            </a:r>
          </a:p>
          <a:p>
            <a:r>
              <a:t>CNPJ 62696791000193 · Partes relacionadas e conflitos · Excerto da fonte:</a:t>
            </a:r>
          </a:p>
          <a:p>
            <a:r>
              <a:t>4.10 Sem prejuízo de limites mais restritivos definidos neste Anexo, o Gestor deverá observar, ainda, os  seguintes limites de concentração:</a:t>
            </a:r>
          </a:p>
          <a:p>
            <a:r>
              <a:t> (i) A Classe poderá, direta ou indiretamente, ter até 100% (cem por cento) do Patrimônio  Líquido representado por Direitos Creditórios do Agronegócio originados ou cedidos  pelo Administrador, Gestor e/ou suas partes relacionadas, tal como definidas pelas  regras contábeis que tratam desse assunto, desde que (a) o Gest or, a entidade  registradora e o Custodiante dos Direitos Creditórios do Agronegócio não sejam partes  relacionadas entre si; e (b) a entidade registradora e o Custodiante dos Direitos  Creditórios do Agronegócio não sejam partes relacionadas ao originador ou Cedente.</a:t>
            </a:r>
          </a:p>
          <a:p>
            <a:r>
              <a:t> (ii) No máximo, 100% (cem por cento) do Patrimônio Líquido investido em Ativos  Financeiros de Liquidez de emissão ou que envolvam retenção de risco por parte do  Administrador, Gestor, e/ou suas partes relacionadas, observado ainda o disposto no  item Error! Reference source not found.;</a:t>
            </a:r>
          </a:p>
          <a:p>
            <a:r>
              <a:t> (iii) No máximo, 100% (cem por cento) do Patrimônio Líquido investido em operações com  derivativos nos quais, inexistindo contraparte central, se tenha como contraparte o  Gestor, e/ou suas partes relacionadas, observado ainda o disposto no item Error!  Reference source not found.;</a:t>
            </a:r>
          </a:p>
          <a:p>
            <a:r>
              <a:t> (iv) No máximo, 100% (cem por cento) do Patrimônio Líquido em cotas de uma mesma  classe;</a:t>
            </a:r>
          </a:p>
          <a:p>
            <a:r>
              <a:t> (v) É vedada a aquisição de precatórios f ederais.</a:t>
            </a:r>
          </a:p>
          <a:p>
            <a:r>
              <a:t> (vi) No máximo, 49% (quarenta e nove por cento) do Patrimônio Líquido em Ativos  Imobiliários do Agronegócio;</a:t>
            </a:r>
          </a:p>
          <a:p>
            <a:r>
              <a:t> (vii) No máximo, 49% (quarenta e nove por cento) do Patrimônio Líquido em Participações  do Agronegócio;</a:t>
            </a:r>
          </a:p>
          <a:p>
            <a:r>
              <a:t> (viii) No máximo, 49% (quarenta e nove por cento) do Patrimônio Líquido em Ativos  Financeiros do Agronegócio; e</a:t>
            </a:r>
          </a:p>
          <a:p>
            <a:r>
              <a:t> (ix) No máximo, 49% (quarenta e nove por cento) do Patrimônio Líquido em Ativos em Geral  do Agronegócio;</a:t>
            </a:r>
          </a:p>
          <a:p>
            <a:r>
              <a:t> Ativos Recuperados</a:t>
            </a:r>
          </a:p>
          <a:p>
            <a:r>
              <a:t>CNPJ 62696791000193 · Partes relacionadas e conflitos · Regulamento · ID 1143317 · 2026-03-20 · versão 1 · p. 11 · 4.8 · https://fnet.bmfbovespa.com.br/fnet/publico/visualizarDocumento?id=1143317</a:t>
            </a:r>
          </a:p>
          <a:p>
            <a:r>
              <a:t>CNPJ 62696791000193 · Partes relacionadas e conflitos · Excerto da fonte:</a:t>
            </a:r>
          </a:p>
          <a:p>
            <a:r>
              <a:t>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relacionadas ao Gestor.</a:t>
            </a:r>
          </a:p>
          <a:p>
            <a:r>
              <a:t>CNPJ 62696791000193 · Partes relacionadas e conflitos · Regulamento · ID 1143317 · 2026-03-20 · versão 1 · p. 14 · 4.21.1 · https://fnet.bmfbovespa.com.br/fnet/publico/visualizarDocumento?id=1143317</a:t>
            </a:r>
          </a:p>
          <a:p>
            <a:r>
              <a:t>CNPJ 62696791000193 · Partes relacionadas e conflitos · Excerto da fonte:</a:t>
            </a:r>
          </a:p>
          <a:p>
            <a:r>
              <a:t>4.21.1 Sem prejuízo do disposto acima, poderá ser contratado terceiro especializado para o  gerenciamento das obras, para controle dos desembolsos, conforme medições durante a etapa  de desenvolvimento e construção dos Ativos Imobiliários do Agronegócio, sendo certo que,  caso haja a contratação de terceiros em situação de conflito de interesses, deverá ser aprovado  em assembleia de Cotistas.</a:t>
            </a:r>
          </a:p>
          <a:p>
            <a:r>
              <a:t>CNPJ 62696791000193 · Partes relacionadas e conflitos · Condição: Documentos atuais selecionados no inventário por categoria/escopo; a data documental isolada não comprova vigência jurídica.</a:t>
            </a:r>
          </a:p>
          <a:p>
            <a:r>
              <a:t>CNPJ 62696791000193 · Partes relacionadas e conflitos · Versão e prevalência: Documentos atuais selecionados no inventário por categoria/escopo; a data documental isolada não comprova vigência jurídica.</a:t>
            </a:r>
          </a:p>
          <a:p>
            <a:r>
              <a:t>CNPJ 55563624000109 · Partes relacionadas e conflitos · Regulamento · ID 1192614 · 2026-04-30 · versão 1 · p. 13 · 4.12.1 · https://fnet.bmfbovespa.com.br/fnet/publico/visualizarDocumento?id=1192614</a:t>
            </a:r>
          </a:p>
          <a:p>
            <a:r>
              <a:t>CNPJ 55563624000109 · Partes relacionadas e conflitos · Excerto da fonte:</a:t>
            </a:r>
          </a:p>
          <a:p>
            <a:r>
              <a:t>4.12.1 A Classe poderá ter até 100% (cem por cento) do Patrimônio Líquido representado por Cotas da Classe  Investida administrados pelo ADMINISTRADOR, e geridos ou cogeridos pelo GESTOR e/ou suas partes  relacionadas.</a:t>
            </a:r>
          </a:p>
          <a:p>
            <a:r>
              <a:t> Revolvência da Carteira</a:t>
            </a:r>
          </a:p>
          <a:p>
            <a:r>
              <a:t>CNPJ 55563624000109 · Partes relacionadas e conflitos · Regulamento · ID 1192614 · 2026-04-30 · versão 1 · p. 28 · 13.2 · https://fnet.bmfbovespa.com.br/fnet/publico/visualizarDocumento?id=1192614</a:t>
            </a:r>
          </a:p>
          <a:p>
            <a:r>
              <a:t>CNPJ 55563624000109 · Partes relacionadas e conflitos · Excerto da fonte:</a:t>
            </a:r>
          </a:p>
          <a:p>
            <a:r>
              <a:t>13.2 Em condições ordinárias, as Cotas da Classe Investida não pagarão remuneração aos prestadores de serviços  essenciais da Classe Investida, nos termos de seu regulamento. Não obstante, em cenário extraordinário  conforme descrito no item 15.1.1 (iii), e para fins de atendimento ao artigo 98 da parte geral da Resolução CVM  175, a taxa máxima de administração corresponderá ao valor da Taxa Mínima de Administração acrescida de até  0,10% (dez centésimos por cento) ao ano incidente sobre o patrimônio líquido da Classe Investida,  compreendendo a taxa de administração da Classe Investida geridos por partes relacionadas ao GESTOR, cujas  cotas não estão admitidas à negociação em mercado organizado, conforme prevista no regulamento da Classe  Investida (“Taxa Máxima de Administração” e, quando referida em conjunto com a Taxa Mínima de  Administração, como “Taxa de Administração”). Caso a taxa de administração da Classe Investida não se  enquadre no disposto acima, estará disposta no regulamento da Classe Investida.</a:t>
            </a:r>
          </a:p>
          <a:p>
            <a:r>
              <a:t>CNPJ 55563624000109 · Partes relacionadas e conflitos · Regulamento · ID 1192614 · 2026-04-30 · versão 1 · p. 37 · https://fnet.bmfbovespa.com.br/fnet/publico/visualizarDocumento?id=1192614</a:t>
            </a:r>
          </a:p>
          <a:p>
            <a:r>
              <a:t>CNPJ 55563624000109 · Partes relacionadas e conflitos · Excerto da fonte:</a:t>
            </a:r>
          </a:p>
          <a:p>
            <a:r>
              <a:t>(ix) Possibilidade de conflito de interesses. As Cotas poderão ser adquiridas por investidores que  sejam partes relacionadas à Classe Investida ou aos prestadores de serviços da Classe Investida. Nessa  hipótese, poderá haver situações de conflito de interesses entre os interesses desses investidores e o  interesse dos demais Cotistas, podendo qualquer desses investidores, inclusive, aprovar deliberações  contrárias aos interesses dos demais Cotistas caso sejam titulares da maioria das Cotas presentes às  Assembleias de Cotistas.</a:t>
            </a:r>
          </a:p>
          <a:p>
            <a:r>
              <a:t>CNPJ 55563624000109 · Partes relacionadas e conflitos · Condição: Documentos atuais selecionados no inventário por categoria/escopo; a data documental isolada não comprova vigência jurídica.</a:t>
            </a:r>
          </a:p>
          <a:p>
            <a:r>
              <a:t>CNPJ 55563624000109 · Partes relacionadas e conflitos · Versão e prevalência: Documentos atuais selecionados no inventário por categoria/escopo; a data documental isolada não comprova vigência jurídica.</a:t>
            </a:r>
          </a:p>
          <a:p>
            <a:r>
              <a:t>CNPJ 55563624000109 · Partes relacionadas e conflitos · Resumo do histórico: {"count": 2, "dates": ["2025-01-31", "2026-01-31"], "document_count": 2, "sources": [{"document_id": "1178840", "title": "Demonstrações Financeiras", "reference_date": "2026-01-31", "version": "1", "page": 23, "url": "https://fnet.bmfbovespa.com.br/fnet/publico/visualizarDocumento?id=1178840", "sha256": "c458e98664c5c907ddb5a05a94b120bed4e05295b2bfc420f5ba69af0a229abe"}, {"document_id": "891861", "title": "Demonstrações Financeiras", "reference_date": "2025-01-31", "version": "1", "page": 23, "url": "https://fnet.bmfbovespa.com.br/fnet/publico/visualizarDocumento?id=891861", "sha256": "e9cb9e6ddbe505fe068cfcac33605165a98313489de0d3ce6d4d238263c3f3e7"}], "reference": {"path": "history/55563624000109.json", "criterion_id": "related_parties", "total_count": 2, "preview_count": 2, "full_text_deferred": true, "sha256": "7835d573fb58a3c19adf5b8ecc2aee2bdbb9a88f7a0c0209b5f262b64c7522e3"}}</a:t>
            </a:r>
          </a:p>
          <a:p>
            <a:r>
              <a:t>CNPJ 62552447000120 · Partes relacionadas e conflitos · Regulamento · ID 1200623 · 2026-05-21 · versão 1 · p. 14 · 4.10 · https://fnet.bmfbovespa.com.br/fnet/publico/visualizarDocumento?id=1200623</a:t>
            </a:r>
          </a:p>
          <a:p>
            <a:r>
              <a:t>CNPJ 62552447000120 · Partes relacionadas e conflitos · Excerto da fonte:</a:t>
            </a:r>
          </a:p>
          <a:p>
            <a:r>
              <a:t>4.10 Nos termos do art. 45, §7º, inciso II, do Anexo Normativo II, a Classe poderá ter até 100% (cem por  cento) de seu Patrimônio Líquido alocado em Direitos Creditórios, derivativos, observado o disposto  abaixo,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62552447000120 · Partes relacionadas e conflitos · Regulamento · ID 1200623 · 2026-05-21 · versão 1 · p. 14 · 4.11 · https://fnet.bmfbovespa.com.br/fnet/publico/visualizarDocumento?id=1200623</a:t>
            </a:r>
          </a:p>
          <a:p>
            <a:r>
              <a:t>CNPJ 62552447000120 · Partes relacionadas e conflitos · Excerto da fonte:</a:t>
            </a:r>
          </a:p>
          <a:p>
            <a:r>
              <a:t>4.11 Sem prejuízo de limites mais restritivos definidos neste Regulamento, o Gestor deverá observar, ainda,  os seguintes limites de concentração para a composição da Carteira:</a:t>
            </a:r>
          </a:p>
          <a:p>
            <a:r>
              <a:t> (i) Até 100% (cem por cento) da parcela do Patrimônio Líquido investida em Direitos  Creditórios poderão ser alocados em Direitos Creditórios originados ou cedidos pelo  Administrador, Gestor e/ou suas partes relacionadas, tal como definidas pelas regras  contábeis que tratam desse assunto . A Classe também poderá ceder Direitos  Creditórios a qualquer das pessoas, f undos de investimento ou entidades ref eridas  acima, desde que a entidade registradora e o Custodiante dos Direitos Creditórios não  sejam partes relacionadas ao Originador ou Endossante;</a:t>
            </a:r>
          </a:p>
          <a:p>
            <a:r>
              <a:t> (ii) Até 100% (cem por cento) da parcela do Patrimônio Líquido investida em Ativos  Financeiros poderão ser alocados em Ativos Financeiros de emissão ou que envolvam  retenção de risco por parte do Administrador, Gestor e/ou suas partes relacionadas; e</a:t>
            </a:r>
          </a:p>
          <a:p>
            <a:r>
              <a:t> (iii) Até 100% (cem por cento) da parcela do Patrimônio Líquido investida em operações  com derivativos poderão ser alocados em operações com derivativos nas quais,  inexistindo contraparte central, se tenha como contraparte o Gestor e/ou suas partes  relacionadas.</a:t>
            </a:r>
          </a:p>
          <a:p>
            <a:r>
              <a:t>CNPJ 62552447000120 · Partes relacionadas e conflitos · Regulamento · ID 1200623 · 2026-05-21 · versão 1 · p. 15 · 4.18 · https://fnet.bmfbovespa.com.br/fnet/publico/visualizarDocumento?id=1200623</a:t>
            </a:r>
          </a:p>
          <a:p>
            <a:r>
              <a:t>CNPJ 62552447000120 · Partes relacionadas e conflitos · Excerto da fonte:</a:t>
            </a:r>
          </a:p>
          <a:p>
            <a:r>
              <a:t>4.18 Ainda que integrem a Carteira, os Ativos Recuperados não serão, sob qualquer hipótese, adquiridos  como parte da Política de Investimento, de forma que serão de sua propriedade exclusivamente, não  devendo, portanto, ser contabilizados para f ins de enquadramento da Classe.</a:t>
            </a:r>
          </a:p>
          <a:p>
            <a:r>
              <a:t>Regras, procedimentos e limites para efetuar qualquer modalidade de transferência dos Direitos Creditórios, incluindo, sem limitação, endosso (“Transferência”) para o Endossante e suas partes relacionadas</a:t>
            </a:r>
          </a:p>
          <a:p>
            <a:r>
              <a:t>CNPJ 62552447000120 · Partes relacionadas e conflitos · Condição: Documentos atuais selecionados no inventário por categoria/escopo; a data documental isolada não comprova vigência jurídica.</a:t>
            </a:r>
          </a:p>
          <a:p>
            <a:r>
              <a:t>CNPJ 62552447000120 · Partes relacionadas e conflitos · Versão e prevalência: Documentos atuais selecionados no inventário por categoria/escopo; a data documental isolada não comprova vigência jurídica.</a:t>
            </a:r>
          </a:p>
          <a:p>
            <a:r>
              <a:t>CNPJ 63953620000165 · Partes relacionadas e conflitos · Anexo ao Regulamento · ID 1222863 · 2026-06-02 · versão 1 · p. 6 · 4.14 · https://fnet.bmfbovespa.com.br/fnet/publico/visualizarDocumento?id=1222863</a:t>
            </a:r>
          </a:p>
          <a:p>
            <a:r>
              <a:t>CNPJ 63953620000165 · Partes relacionadas e conflitos · Excerto da fonte:</a:t>
            </a:r>
          </a:p>
          <a:p>
            <a:r>
              <a:t>4.14 Nos termos do Art. 45, §7º, inciso II, do Anexo Normativo II da Resolução CVM 175, a Classe poderá ter até 100%  (cem por cento) de seu Patrimônio Líquido alocado em Direitos Creditórios, derivativos, observado o disposto  neste Anexo I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63953620000165 · Partes relacionadas e conflitos · Anexo ao Regulamento · ID 1222863 · 2026-06-02 · versão 1 · p. 8 · 4.21 · https://fnet.bmfbovespa.com.br/fnet/publico/visualizarDocumento?id=1222863</a:t>
            </a:r>
          </a:p>
          <a:p>
            <a:r>
              <a:t>CNPJ 63953620000165 · Partes relacionadas e conflitos · Excerto da fonte:</a:t>
            </a:r>
          </a:p>
          <a:p>
            <a:r>
              <a:t>4.21 Ainda que integrem a carteira da Classe, os Ativos Recuperados não serão, sob qualquer hipótese, adquiridos  como parte da Política de Investimento da Classe, de forma que serão de sua propriedade exclusivamente, não  devendo, portanto, ser contabilizados para fins de enquadramento da Classe.</a:t>
            </a:r>
          </a:p>
          <a:p>
            <a:r>
              <a:t> Regras, procedimentos e limites para efetuar o Endosso de Direitos Creditórios Crédito Consignado para o Endossante e  suas partes relacionadas</a:t>
            </a:r>
          </a:p>
          <a:p>
            <a:r>
              <a:t>CNPJ 63953620000165 · Partes relacionadas e conflitos · Anexo ao Regulamento · ID 1222863 · 2026-06-02 · versão 1 · p. 7 · https://fnet.bmfbovespa.com.br/fnet/publico/visualizarDocumento?id=1222863</a:t>
            </a:r>
          </a:p>
          <a:p>
            <a:r>
              <a:t>CNPJ 63953620000165 · Partes relacionadas e conflitos · Excerto da fonte:</a:t>
            </a:r>
          </a:p>
          <a:p>
            <a:r>
              <a:t>Anexo I ao Regulamento  CLASSE CONSIGNADO PRIVADO DO MT GLOBAL FUNDO DE INVESTIMENTO EM DIREITOS  CREDITÓRIOS RESPONSABILIDADE LIMITADA</a:t>
            </a:r>
          </a:p>
          <a:p>
            <a:r>
              <a:t> (i)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 (ii) No máximo, 50% (cinquenta por cento) do Patrimônio Líquido investido em Ativos Financeiros  de Liquidez de emissão ou que envolvam retenção de risco por parte do Administrador, Gestor,  e/ou suas partes relacionadas, observado ainda o disposto acima;</a:t>
            </a:r>
          </a:p>
          <a:p>
            <a:r>
              <a:t> (iii) No máximo, 100% (cem por cento) do Patrimônio Líquido investido em operações com  derivativos nos quais, inexistindo contraparte central, se tenha como contraparte o Gestor,  Consultora e/ou suas partes relacionadas, observado ainda o disposto acima;</a:t>
            </a:r>
          </a:p>
          <a:p>
            <a:r>
              <a:t> (iv) A Classe poderá investir até 100% (cem por cento) de seu Patrimônio Líquido em Direitos  Creditórios Não-Padronizados;</a:t>
            </a:r>
          </a:p>
          <a:p>
            <a:r>
              <a:t> (v) É vedada a aquisição de precatórios federais.</a:t>
            </a:r>
          </a:p>
          <a:p>
            <a:r>
              <a:t>CNPJ 63953620000165 · Partes relacionadas e conflitos · Condição: Documentos atuais selecionados no inventário por categoria/escopo; a data documental isolada não comprova vigência jurídica.</a:t>
            </a:r>
          </a:p>
          <a:p>
            <a:r>
              <a:t>CNPJ 63953620000165 · Partes relacionadas e conflitos · Versão e prevalência: Documentos atuais selecionados no inventário por categoria/escopo; a data documental isolada não comprova vigência jurídica.</a:t>
            </a:r>
          </a:p>
          <a:p>
            <a:r>
              <a:t>CNPJ 54871427000194 · Histórico de alterações materiais · Instrumento Particular de Alteração do Regulamento · ID 670690 · 28/05/2024 · versão Instrumento Particular de Alteração do Regulamento — referência 28/05/2024 · p. 1 · AGC, 4.1–4.2 · https://fnet.bmfbovespa.com.br/fnet/publico/visualizarDocumento?id=670690</a:t>
            </a:r>
          </a:p>
          <a:p>
            <a:r>
              <a:t>CNPJ 54871427000194 · Histórico de alterações materiais · Excerto da fonte:</a:t>
            </a:r>
          </a:p>
          <a:p>
            <a:r>
              <a:t>4.1. A alteração integral do anexo da Classe Única, que compõe o regulamento do Fundo (“Anexo da Classe Única” e “Regulamento”) e seus complementos, para de f orma a alterar a Política de Investimentos da Classe para aquisição de direitos creditórios representados por Certif icados de Cédulas de Crédito Bancário (“CCCBs” e “Direitos Creditórios”), bem como refletir os novos critérios de elegibilidade para aquisição dos Direitos Creditórios, os documentos comprobatórios do lastro e f atores de risco aplicáveis. 4.2. Tendo em vista a aprovação dos itens. acima, deliberaram por aprovar o novo Regulamento Consolidado, que vigorará na forma do Anexo I à presente Ata, o qual terá efeitos retroativos a abertura de 28 de maio de 2024. 4.3. Por f im, por aprovar a Administradora a adotar todas as medidas necessárias para implementação das deliberações acima. 5. ENCERRAMENTO Nada mais havendo a tratar, f oi a reunião encerrada. Rio de Janeiro, 28 de maio de 2024. Mesa: Diego Prado Tassiana Lima Presidente</a:t>
            </a:r>
          </a:p>
          <a:p>
            <a:r>
              <a:t>CNPJ 54871427000194 · Histórico de alterações materiais · Regulamento · ID 670691 · 28/04/2024 · versão Regulamento — referência 28/04/2024 · p. 9 · Regulamento 670691, Anexo I, 4.2 · https://fnet.bmfbovespa.com.br/fnet/publico/visualizarDocumento?id=670691</a:t>
            </a:r>
          </a:p>
          <a:p>
            <a:r>
              <a:t>CNPJ 54871427000194 · Histórico de alterações materiais · Excerto da fonte:</a:t>
            </a:r>
          </a:p>
          <a:p>
            <a:r>
              <a:t>4.2 Os Direitos Creditórios representados por Certif icados de Cédulas de Crédito Bancário (“CCCBs”), representativos de um agrupamento de determinadas CCBs, originadas no âmbito de operações de empréstimos pessoais concedidos por um Endossante a um Devedor, devidamente f ormalizadas por via eletrônica de acordo com a legislação aplicável, segundo os critérios de composição e diversificação estabelecidos pela regulamentação aplicável e neste Regulamento. 4.2.1 Cada Endossante deve ter celebrado convênio com órgão consignante, previamente à cessão de Direitos Creditórios à Classe, que contemplam a obrigação da manutenção da consignação/averbação junto ao novo órgão, de modo a possibilitar o pagamento dos Direitos Creditórios por meio de consignação em f olha de pagamento ou de benef ício . 4.3 Os pagamentos relativos aos Direitos Creditórios de titularidade da Classe serão realizados mediante consignação em folha, débito em conta de titularidade dos Devedores e pagamentos de sinistros, para pagamento dos valores correspondentes às parcelas das CCBs representadas pelos CCCBs de titularidade da Classe, os quais serão conciliados e repassados pelo Endossan</a:t>
            </a:r>
          </a:p>
          <a:p>
            <a:r>
              <a:t>CNPJ 54871427000194 · Histórico de alterações materiais · Condição: A classificação Fundos Net do documento 670690 é “regulamento”, mas seu conteúdo é uma AGC. A divergência de datas impede usar a referência do 670691 como prova autônoma de início de vigência.</a:t>
            </a:r>
          </a:p>
          <a:p>
            <a:r>
              <a:t>CNPJ 54871427000194 · Histórico de alterações materiais · Motivo: Não localizada uma cláusula material para este critério nos textos identificados e processados. A ausência de resultado não comprova inexistência da regra.</a:t>
            </a:r>
          </a:p>
          <a:p>
            <a:r>
              <a:t>CNPJ 54871427000194 · Histórico de alterações materiais · Versão e prevalência: Leitura específica das cláusulas indicadas; condições e conflitos preservados. Seleção documental atual não comprova vigência jurídica por data isolada.</a:t>
            </a:r>
          </a:p>
          <a:p>
            <a:r>
              <a:t>CNPJ 60010416000112 · Histórico de alterações materiais · Demonstrações Financeiras - Fusão, cisão e incorporação · ID 1298690 · 2026-05-08 · versão 1 · p. 30 · https://fnet.bmfbovespa.com.br/fnet/publico/visualizarDocumento?id=1298690</a:t>
            </a:r>
          </a:p>
          <a:p>
            <a:r>
              <a:t>CNPJ 60010416000112 · Histórico de alterações materiais · Excerto da fonte:</a:t>
            </a:r>
          </a:p>
          <a:p>
            <a:r>
              <a:t>Durante o período de investimento, a Administradora poderá deliberar por realizar novas  emissões de Cotas Seniores, sem a necessidade de aprovação em Assembleia Especial de  Cotistas ou alteração do Regulamento, limitadas ao montante máximo de R$ 1.000.000 (um  bilhão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seniores emitidas não sejam superiores aos  prazos de vencimento da primeira emissão.</a:t>
            </a:r>
          </a:p>
          <a:p>
            <a:r>
              <a:t>CNPJ 60010416000112 · Histórico de alterações materiais · Demonstrações Financeiras - Fusão, cisão e incorporação · ID 1298690 · 2026-05-08 · versão 1 · p. 30 · https://fnet.bmfbovespa.com.br/fnet/publico/visualizarDocumento?id=1298690</a:t>
            </a:r>
          </a:p>
          <a:p>
            <a:r>
              <a:t>CNPJ 60010416000112 · Histórico de alterações materiais · Excerto da fonte:</a:t>
            </a:r>
          </a:p>
          <a:p>
            <a:r>
              <a:t>Durante o período de investimento, a Administradora poderá deliberar por realizar novas  emissões de cotas subordinadas, sem a necessidade de aprovação em Assembleia Especial  de Cotistas ou alteração do Regulamento, limitadas ao montante máximo de R$ 50.000  (cinquenta milhões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subordinadas emitidas não sejam  superiores aos prazos de vencimento da primeira emissão.</a:t>
            </a:r>
          </a:p>
          <a:p>
            <a:r>
              <a:t>CNPJ 60010416000112 · Histórico de alterações materiais · Condição: Documentos atuais selecionados no inventário por categoria/escopo; a data documental isolada não comprova vigência jurídica.</a:t>
            </a:r>
          </a:p>
          <a:p>
            <a:r>
              <a:t>CNPJ 60010416000112 · Histórico de alterações materiais · Versão e prevalência: Documentos atuais selecionados no inventário por categoria/escopo; a data documental isolada não comprova vigência jurídica.</a:t>
            </a:r>
          </a:p>
          <a:p>
            <a:r>
              <a:t>CNPJ 60010416000112 · Histórico de alterações materiais · Resumo do histórico: {"count": 5, "dates": ["2025-11-30", "2026-03-18", "2026-04-16"], "document_count": 3, "sources": [{"document_id": "1282181", "title": "Demonstrações Financeiras - Fusão, cisão e incorporação", "reference_date": "2026-04-16", "version": "1", "page": 32, "url": "https://fnet.bmfbovespa.com.br/fnet/publico/visualizarDocumento?id=1282181", "sha256": "b1c6566e43a00bcd00c8a7f30c77b7f86e351bd8e355bbea113f46d1dafda703"}, {"document_id": "1224477", "title": "Demonstrações Financeiras - Fusão, cisão e incorporação", "reference_date": "2026-03-18", "version": "1", "page": 32, "url": "https://fnet.bmfbovespa.com.br/fnet/publico/visualizarDocumento?id=1224477", "sha256": "0751bf0a75bc3b44c2748f5000226665c6ec6698a90c4dc6170b4e6c187759ae"}, {"document_id": "1126154", "title": "Demonstrações Financeiras", "reference_date": "2025-11-30", "version": "1", "page": 32, "url": "https://fnet.bmfbovespa.com.br/fnet/publico/visualizarDocumento?id=1126154", "sha256": "a01e7ccf88c548f12c95cba8526d7efbef6b585c112cd4668eca781c292090b0"}], "reference": {"path": "history/60010416000112.json", "criterion_id": "changes", "total_count": 5, "preview_count": 3, "full_text_deferred": true, "sha256": "8e2bd813f4c51cf01f6bfaad164bafe69d2bbb192f753eac92da3a01c2e63046"}}</a:t>
            </a:r>
          </a:p>
          <a:p>
            <a:r>
              <a:t>CNPJ 62696791000193 · Histórico de alterações materiais · AGE · ID 1143319 · 20/03/2026 10:00 · versão AGE — referência 20/03/2026 10:00 · p. 1 · AGC, 4.1(a)–(c) · https://fnet.bmfbovespa.com.br/fnet/publico/visualizarDocumento?id=1143319</a:t>
            </a:r>
          </a:p>
          <a:p>
            <a:r>
              <a:t>CNPJ 62696791000193 · Histórico de alterações materiais · Excerto da fonte:</a:t>
            </a:r>
          </a:p>
          <a:p>
            <a:r>
              <a:t>4.1. Aprovar a transformação do Fundo, bem como de sua Classe única, em um fundo de investimento nas cadeias produtivas do agronegócio (“Transformação”), nos termos da parte geral e do Anexo Normativo VI da Resolução nº 175 da CVM, de 23 de dezembro de 2022, conforme alterada (“Resolução CVM 175”). a. Aprovar a alteração da denominação do Fundo, que passará a vigorar como BTG PACTUAL CERES CONFINA FUNDO DE INVESTIMENTO NAS CADEIAS PRODUTIVAS DO AGRONEGÓCIO RESPONSABILIDADE LIMITADA, e de sua Classe única, que passará a vigorar como CLASSE ÚNICA DO BTG PACTUAL CERES CONFINA FUNDO DE INVESTIMENTO NAS CADEIAS PRODUTIVAS DO AGRONEGÓCIO RESPONSABILIDADE LIMITADA (“Classe”); b. Aprovar a reforma integral do Regulamento do Fundo, bem como do Anexo descritivo da Classe, para realizar todos os ajustes necessários à implementação da Transformação, incluindo, mas não se limitando, a política de investimentos, o regime tributário e os fatores de risco aplicáveis, conforme itens abaixo; c. Aprovar a alteração do quadro de características gerais do Fundo, considerando a contratação do Cogestor pelo Gestor, nos termos do artigo 52, II, da parte geral da Resolução CVM 175 e no co</a:t>
            </a:r>
          </a:p>
          <a:p>
            <a:r>
              <a:t>CNPJ 62696791000193 · Histórico de alterações materiais · AGE · ID 1143319 · 20/03/2026 10:00 · versão AGE — referência 20/03/2026 10:00 · p. 3 · AGC, 4.1(j)–(k) · https://fnet.bmfbovespa.com.br/fnet/publico/visualizarDocumento?id=1143319</a:t>
            </a:r>
          </a:p>
          <a:p>
            <a:r>
              <a:t>CNPJ 62696791000193 · Histórico de alterações materiais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Histórico de alterações materiais · Instrumento Particular de Emissão de Cotas · ID 1148821 · 27/03/2026 · versão Instrumento Particular de Emissão de Cotas — referência 27/03/2026 · p. 1 · Deliberação Conjunta27/03/2026, item1 · https://fnet.bmfbovespa.com.br/fnet/publico/visualizarDocumento?id=1148821</a:t>
            </a:r>
          </a:p>
          <a:p>
            <a:r>
              <a:t>CNPJ 62696791000193 · Histórico de alterações materiais · Excerto da fonte:</a:t>
            </a:r>
          </a:p>
          <a:p>
            <a:r>
              <a:t>1. Aprovar a 2ª (segunda) emissão da Subclasse Subordinada Júnior da Classe, composta por até 20.000 (vinte mil) Cotas Subordinadas Júnior, com valor nominal unitário de R$ 1.000,00 (mil reais), perfazendo o montante total de R$ 20.000.000,00 (vinte milhões de reais), as quais serão objeto de colocação privada, de acordo com os termos e condições definidos no Apêndice da Subclasse Subordinada Júnior constante do Anexo I Regulamento e descritas abaixo (“2ª Emissão da Subclasse Subordinada Júnior”): a) Rito: as Cotas Subordinadas Júnior objeto da 2ª Emissão da Subclasse Subordinada Júnior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Subordinada Júnior na data de integralização, calculado na forma prevista no respectivo Apêndice; BTG Pactual 1 SAC: 0800 772 28 27 - Ouvidoria: 0800 722 00 48 - btgpactual.com</a:t>
            </a:r>
          </a:p>
          <a:p>
            <a:r>
              <a:t>CNPJ 62696791000193 · Histórico de alterações materiais · Instrumento Particular de Emissão de Cotas · ID 1148821 · 27/03/2026 · versão Instrumento Particular de Emissão de Cotas — referência 27/03/2026 · p. 2 · Deliberação Conjunta, itens2–3 · https://fnet.bmfbovespa.com.br/fnet/publico/visualizarDocumento?id=1148821</a:t>
            </a:r>
          </a:p>
          <a:p>
            <a:r>
              <a:t>CNPJ 62696791000193 · Histórico de alterações materiais · Excerto da fonte:</a:t>
            </a:r>
          </a:p>
          <a:p>
            <a:r>
              <a:t>2. Aprovar a 2ª (segunda) emissão da Subclasse Sênior da Classe, composta por até 150.000 (cento e cinquenta mil) Cotas Seniores, com valor nominal unitário de R$ 1.000,00 (mil reais), perfazendo o montante total de R$ 150.000.000,00 (cento e cinquenta milhões de reais), as quais serão objeto de colocação privada, de acordo com os termos e condições descritos no Apêndice da Subclasse Sênior constante do Anexo I Regulamento e descritas abaixo (“2ª Emissão da Subclasse Sênior”): a) Rito: as Cotas Seniores objeto da 2ª Emissão da Subclasse Sênior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Sênior na data de integralização, calculado na forma prevista no respectivo Apêndice; d) Forma de Integralização: as Cotas Seniores serão integralizadas mediante chamadas de capital, junto ao seu respectivo agente de custódia e/ou da Administradora na qualidade de escriturador das cotas, nos termos d</a:t>
            </a:r>
          </a:p>
          <a:p>
            <a:r>
              <a:t>CNPJ 62696791000193 · Histórico de alterações materiais · Versão e prevalência: Leitura específica das cláusulas indicadas; condições e conflitos preservados. Seleção documental atual não comprova vigência jurídica por data isolada.</a:t>
            </a:r>
          </a:p>
          <a:p>
            <a:r>
              <a:t>CNPJ 55563624000109 · Histórico de alterações materiais · Motivo: Não localizada uma cláusula material para este critério nos textos identificados e processados. A ausência de resultado não comprova inexistência da regra.</a:t>
            </a:r>
          </a:p>
          <a:p>
            <a:r>
              <a:t>CNPJ 62552447000120 · Histórico de alterações materiais · Ato do Administrador · ID 1200625 · 2026-05-21 · versão Ato21/05/2026 · p. 1 · itens1–2 · https://fnet.bmfbovespa.com.br/fnet/publico/visualizarDocumento?id=1200625</a:t>
            </a:r>
          </a:p>
          <a:p>
            <a:r>
              <a:t>CNPJ 62552447000120 · Histórico de alterações materiais · Excerto da fonte:</a:t>
            </a:r>
          </a:p>
          <a:p>
            <a:r>
              <a:t>Ressalta-se que não haverá qualquer alteração nos valores pagos pelos cotistas... Aprovar o novo Anexo I e Regulamento consolidados</a:t>
            </a:r>
          </a:p>
          <a:p>
            <a:r>
              <a:t>CNPJ 62552447000120 · Histórico de alterações materiais · Motivo: Não localizada uma cláusula material para este critério nos textos identificados e processados. A ausência de resultado não comprova inexistência da regra.</a:t>
            </a:r>
          </a:p>
          <a:p>
            <a:r>
              <a:t>CNPJ 62552447000120 · Histórico de alterações materiais · Versão e prevalência: Leitura específica das cláusulas indicadas; condições e conflitos preservados. Seleção documental atual não comprova vigência jurídica por data isolada.</a:t>
            </a:r>
          </a:p>
          <a:p>
            <a:r>
              <a:t>CNPJ 63953620000165 · Histórico de alterações materiais · Anexo ao Regulamento · ID 1222863 · 2026-06-02 · versão 1 · p. 19 · 12.6 · https://fnet.bmfbovespa.com.br/fnet/publico/visualizarDocumento?id=1222863</a:t>
            </a:r>
          </a:p>
          <a:p>
            <a:r>
              <a:t>CNPJ 63953620000165 · Histórico de alterações materiais · Excerto da fonte:</a:t>
            </a:r>
          </a:p>
          <a:p>
            <a:r>
              <a:t>12.6 A Classe contratou a Tudo Serviços S.A., sociedade anônima, com sede no município de Fortaleza, Estado do Ceará,  na Avenida Senador Virgulo Távora, nº 303, Lojas 02, 03, 04, 05, 06 e 19, Meireles, CEP 60.170-265, inscrita no CNPJ  sob o nº 27.852.506/0001-85, cujos deveres, sem prejuízo daqueles estabelecidos neste Regulamento, no  “Contrato de Serviços de Retenção e Cobrança e Outras Avenças”, celebrado entre o Agente de  Retenção/Cobrança e a Classe (“Contrato de Serviços MT”) e no Contrato de Endosso, consistirão no  monitoramento e cobrança dos Direitos Creditórios Inadimplidos, observado o disposto neste Anexo I e na  regulamentação aplicável (“Agente de Retenção/Cobrança”):</a:t>
            </a:r>
          </a:p>
          <a:p>
            <a:r>
              <a:t> (i) caso aplicável, atuar na retenção (defesa) de operações de empréstimo consignado cujos Direitos  Creditórios sejam de titularidade da Classe, em caso de tentativa de transferência de tais operações de  empréstimo consignado por instituições proponentes, nos termos da Resolução CMN nº 5.057, em razão de  ofertas de portabilidade feitas por tais instituições proponentes, conforme informado pelo Endossante ou pelo  Custodiante ao Agente de Retenção/Cobrança, diariamente, de acordo com o Contrato de Endosso; sendo  que tal serviço deverá incluir, entre outras atividades auxiliares a ele relacionadas, a avaliação das ofertas de  portabilidade feitas pelas instituições proponentes, buscando, se for o caso, esclarecer as vantagens de não  recorrer à portabilidade, retendo a respectiva operação de empréstimo consignado em seus termos atuais;</a:t>
            </a:r>
          </a:p>
          <a:p>
            <a:r>
              <a:t> (ii) mediante inadimplemento de um Direito Creditório devido à indisponibilidade da margem de crédito do  Devedor, auxiliar o Endossante com o Processo de Reinicialização (conforme detalhado no Contrato de  Endosso) em relação ao respectivo Direito Creditório;</a:t>
            </a:r>
          </a:p>
          <a:p>
            <a:r>
              <a:t> (iii) manter e operar um serviço de atendimento ao consumidor - SAC e uma ouvidoria em conformidade  com os regulamentos aplicáveis, monitorar e resolver reclamações e solicitações de Devedores com  relação às operações de empréstimo consignado que dão origem aos Direitos Creditórios, em  conformidade com o Acordo de Parceria;</a:t>
            </a:r>
          </a:p>
          <a:p>
            <a:r>
              <a:t> (iv) realizar a cobrança dos Direitos Creditórios Inadimplidos;</a:t>
            </a:r>
          </a:p>
          <a:p>
            <a:r>
              <a:t> (v) auxiliar o Endossante na correção de qualquer irregularidade relevante identificada com relação à  originação dos Direitos Creditórios;</a:t>
            </a:r>
          </a:p>
          <a:p>
            <a:r>
              <a:t> (vi) realizar a renegociação junto aos Devedores de Direitos Creditórios Inadimplidos e, caso aplicável, celebrar  aditamento à CCB para refletir os novos termos, decorrentes da renegociação  CAPÍTULO 13 – REMUNERAÇÃO DOS PRESTADORES DE SERVIÇOS  0,05% (cinco centésimos por cento) ao ano, apropriada diariamente na base de 252  (duzentos e cinquenta e dois) Dias Úteis, e paga mensalmente até o 5º (quinto) Dia  Útil do mês subsequente ao mês que se refere, incidente sobre o Patrimônio Líquido  da Classe alocado em Direitos Creditórios Consignado Privado e/ou Ativos de  Liquidez MT, observada remuneração mínima mensal de R$ 2.500,00 (dois mil e  quinhentos reais), a ser corrigida anualmente, em janeiro de cada ano, pela variação  Taxa de Administração  positiva do Índice Geral de Preços – Mercado, divulgado pela Fundação Getúlio  Vargas (“Taxa de Administração” e “IGP-M”, respectivamente).</a:t>
            </a:r>
          </a:p>
          <a:p>
            <a:r>
              <a:t> Na hipótese de extinção do IGP-M, não divulgação ou impossibilidade de sua  utilização, será utilizado o Índice Geral de Preços – Disponibilidade Interna,  divulgado pela Fundação Getúlio Vargas, ou, na falta de ambos, pela variação do IPC  – Índice de Preços ao Consumidor, divulgado pela Fundação Instituto de Pesquisas</a:t>
            </a:r>
          </a:p>
          <a:p>
            <a:r>
              <a:t>CNPJ 63953620000165 · Histórico de alterações materiais · Condição: Documentos atuais selecionados no inventário por categoria/escopo; a data documental isolada não comprova vigência jurídica.</a:t>
            </a:r>
          </a:p>
          <a:p>
            <a:r>
              <a:t>CNPJ 63953620000165 · Histórico de alterações materiais · Versão e prevalência: Documentos atuais selecionados no inventário por categoria/escopo; a data documental isolada não comprova vigência jurídica.</a:t>
            </a:r>
          </a:p>
          <a:p>
            <a:r>
              <a:t>CNPJ 54871427000194 · Auditor independente e DFs · Demonstrações Financeiras - Fusão, cisão e incorporação · ID 1219522 · 2026-02-02 · versão 1 · p. 23 · https://fnet.bmfbovespa.com.br/fnet/publico/visualizarDocumento?id=1219522</a:t>
            </a:r>
          </a:p>
          <a:p>
            <a:r>
              <a:t>CNPJ 54871427000194 · Auditor independente e DFs · Excerto da fonte:</a:t>
            </a:r>
          </a:p>
          <a:p>
            <a:r>
              <a:t>x) Possibilidade de aquisição de Direitos Creditórios cedidos por Endossante e/ou devidos por  Devedores cujas demonstrações financeiras não sejam auditadas. A Classe, desde que sejam  respeitados os limites de concentração previstos no Regulamento, poderá manter a qualquer  tempo em sua Carteira, Direitos Creditórios cedidos por Endossante e/ou devidos por Devedores  cujas demonstrações financeiras não sejam auditadas por Auditor Independente registrado na</a:t>
            </a:r>
          </a:p>
          <a:p>
            <a:r>
              <a:t>CNPJ 54871427000194 · Auditor independente e DFs · Demonstrações Financeiras - Fusão, cisão e incorporação · ID 1219522 · 2026-02-02 · versão 1 · p. 2 · https://fnet.bmfbovespa.com.br/fnet/publico/visualizarDocumento?id=1219522</a:t>
            </a:r>
          </a:p>
          <a:p>
            <a:r>
              <a:t>CNPJ 54871427000194 · Auditor independente e DFs · Excerto da fonte:</a:t>
            </a:r>
          </a:p>
          <a:p>
            <a:r>
              <a:t>Classe Única de Responsabilidade Limitada do Consignado Delta Receivables I Fundo de Investimento em  Direitos Creditórios  Demonstrações financeiras em  2 de fevereiro de 2026 (data da incorporação da Classe)</a:t>
            </a:r>
          </a:p>
          <a:p>
            <a:r>
              <a:t>CNPJ 54871427000194 · Auditor independente e DFs · Demonstrações Financeiras - Fusão, cisão e incorporação · ID 1219522 · 2026-02-02 · versão 1 · p. 3 · https://fnet.bmfbovespa.com.br/fnet/publico/visualizarDocumento?id=1219522</a:t>
            </a:r>
          </a:p>
          <a:p>
            <a:r>
              <a:t>CNPJ 54871427000194 · Auditor independente e DFs · Excerto da fonte:</a:t>
            </a:r>
          </a:p>
          <a:p>
            <a:r>
              <a:t>Examinamos as demonstrações financeiras da Classe Única de Responsabilidade Limitada do  Consignado Delta Receivables I Fundo de Investimento em Direitos Creditórios (“Classe”),  administrada pela BTG Pactual Serviços Financeiros S.A. Distribuidora de Títulos e Valores Mobiliários  (“Administradora”), que compreendem a demonstração da posição financeira em 2 de fevereiro de  2026 e as respectivas demonstrações do resultado e do resultado abrangente, das evoluções do  patrimônio líquido e dos fluxos de caixa para o período de 1° de janeiro de 2026 (data de início do  exercício social da Classe) a 2 de fevereiro de 2026 (data da incorporação da Classe), bem como as  correspondentes notas explicativas, incluindo as políticas contábeis materiais e outras informações  elucidativas.</a:t>
            </a:r>
          </a:p>
          <a:p>
            <a:r>
              <a:t> Em nossa opinião, as demonstrações financeiras acima referidas apresentam adequadamente, em  todos os aspectos relevantes, a posição patrimonial e financeira da Classe Única de Responsabilidade  Limitada do Consignado Delta Receivables I Fundo de Investimento em Direitos Creditórios em 2 de  fevereiro de 2026 e o desempenho de suas operações e os seus fluxos de caixa para o período de 1°  de janeiro de 2026 a 2 de fevereiro de 2026, de acordo com as práticas contábeis adotadas no Brasil  aplicáveis aos fundos de investimento em direitos creditórios.</a:t>
            </a:r>
          </a:p>
          <a:p>
            <a:r>
              <a:t>CNPJ 54871427000194 · Auditor independente e DFs · Condição: Documentos atuais selecionados no inventário por categoria/escopo; a data documental isolada não comprova vigência jurídica.</a:t>
            </a:r>
          </a:p>
          <a:p>
            <a:r>
              <a:t>CNPJ 54871427000194 · Auditor independente e DFs · Versão e prevalência: Documentos atuais selecionados no inventário por categoria/escopo; a data documental isolada não comprova vigência jurídica.</a:t>
            </a:r>
          </a:p>
          <a:p>
            <a:r>
              <a:t>CNPJ 54871427000194 · Auditor independente e DFs · Resumo do histórico: {"count": 6, "dates": ["2025-01-01", "2025-04-15", "2025-12-31"], "document_count": 3, "sources": [{"document_id": "1151805", "title": "Demonstrações Financeiras", "reference_date": "2025-12-31", "version": "1", "page": 23, "url": "https://fnet.bmfbovespa.com.br/fnet/publico/visualizarDocumento?id=1151805", "sha256": "f1cea70b152968bf96ef9221b27225953cb20aeef487b2798db3c25e11b528d4"}, {"document_id": "883217", "title": "AGO", "reference_date": "2025-04-15", "version": "1", "page": 1, "url": "https://fnet.bmfbovespa.com.br/fnet/publico/visualizarDocumento?id=883217", "sha256": "233467aa4aa6265d253b610668cde19344ec99af4adf4df934c6a1bd88b9a044"}, {"document_id": "869529", "title": "Demonstrações Financeiras", "reference_date": "2025-01-01", "version": "1", "page": 23, "url": "https://fnet.bmfbovespa.com.br/fnet/publico/visualizarDocumento?id=869529", "sha256": "9a93a9369ac8efdbc54ff8fcee3ccac3abf88edab4807b9323d3852450771b2a"}], "reference": {"path": "history/54871427000194.json", "criterion_id": "audit", "total_count": 6, "preview_count": 3, "full_text_deferred": true, "sha256": "35d7cd99be50c7287c9fb675cf4f2e736002315295a225a9efa79c8d9186d874"}}</a:t>
            </a:r>
          </a:p>
          <a:p>
            <a:r>
              <a:t>CNPJ 60010416000112 · Auditor independente e DFs · AGE · ID 1313936 · 2026-08-31 · versão 1 · p. 1 · https://fnet.bmfbovespa.com.br/fnet/publico/visualizarDocumento?id=1313936</a:t>
            </a:r>
          </a:p>
          <a:p>
            <a:r>
              <a:t>CNPJ 60010416000112 · Auditor independente e DFs · Excerto da fonte:</a:t>
            </a:r>
          </a:p>
          <a:p>
            <a:r>
              <a:t>(d) Fica a Administradora autorizada a levantar, na Data da Cisão, demonstrações contábeis da  Classe, as quais darão suporte à realização da Cisão ora deliberada. As demonstrações contábeis  deverão ser auditadas, em conformidade com o art. 120, da Parte Geral, da Resolução CVM 175;</a:t>
            </a:r>
          </a:p>
          <a:p>
            <a:r>
              <a:t>CNPJ 60010416000112 · Auditor independente e DFs · Condição: Documentos atuais selecionados no inventário por categoria/escopo; a data documental isolada não comprova vigência jurídica.</a:t>
            </a:r>
          </a:p>
          <a:p>
            <a:r>
              <a:t>CNPJ 60010416000112 · Auditor independente e DFs · Versão e prevalência: Documentos atuais selecionados no inventário por categoria/escopo; a data documental isolada não comprova vigência jurídica.</a:t>
            </a:r>
          </a:p>
          <a:p>
            <a:r>
              <a:t>CNPJ 60010416000112 · Auditor independente e DFs · Resumo do histórico: {"count": 11, "dates": ["2026-04-16", "2026-05-08", "2026-07-29"], "document_count": 3, "sources": [{"document_id": "1277540", "title": "AGE", "reference_date": "2026-07-29", "version": "1", "page": 1, "url": "https://fnet.bmfbovespa.com.br/fnet/publico/visualizarDocumento?id=1277540", "sha256": "7a9b65092af34917f99f22b62eb7d248d67149b9c91dd87b07b924b9601ee9b0"}, {"document_id": "1298690", "title": "Demonstrações Financeiras - Fusão, cisão e incorporação", "reference_date": "2026-05-08", "version": "1", "page": 1, "url": "https://fnet.bmfbovespa.com.br/fnet/publico/visualizarDocumento?id=1298690", "sha256": "d979f7f7cf866a68b7fbc65c46fd726b7bcc13f9d0b809190857a9b465be7be2"}, {"document_id": "1282181", "title": "Demonstrações Financeiras - Fusão, cisão e incorporação", "reference_date": "2026-04-16", "version": "1", "page": 1, "url": "https://fnet.bmfbovespa.com.br/fnet/publico/visualizarDocumento?id=1282181", "sha256": "b1c6566e43a00bcd00c8a7f30c77b7f86e351bd8e355bbea113f46d1dafda703"}], "reference": {"path": "history/60010416000112.json", "criterion_id": "audit", "total_count": 11, "preview_count": 3, "full_text_deferred": true, "sha256": "8e2bd813f4c51cf01f6bfaad164bafe69d2bbb192f753eac92da3a01c2e63046"}}</a:t>
            </a:r>
          </a:p>
          <a:p>
            <a:r>
              <a:t>CNPJ 62696791000193 · Auditor independente e DFs · Regulamento · ID 1143317 · 2026-03-20 · versão 1 · p. 5 · 4.1.7 · https://fnet.bmfbovespa.com.br/fnet/publico/visualizarDocumento?id=1143317</a:t>
            </a:r>
          </a:p>
          <a:p>
            <a:r>
              <a:t>CNPJ 62696791000193 · Auditor independente e DFs · Excerto da fonte:</a:t>
            </a:r>
          </a:p>
          <a:p>
            <a:r>
              <a:t>4.1.7 As demonstrações contábeis cujo relatório de auditoria não contiver opinião modificada podem  ser consideradas automaticamente aprovadas caso a assembleia correspondente não seja  instalada em virtude do não comparecimento de quaisquer Cotistas.</a:t>
            </a:r>
          </a:p>
          <a:p>
            <a:r>
              <a:t>CNPJ 62696791000193 · Auditor independente e DFs · Regulamento · ID 1143317 · 2026-03-20 · versão 1 · p. 23 · 10.12 · https://fnet.bmfbovespa.com.br/fnet/publico/visualizarDocumento?id=1143317</a:t>
            </a:r>
          </a:p>
          <a:p>
            <a:r>
              <a:t>CNPJ 62696791000193 · Auditor independente e DFs · Excerto da fonte:</a:t>
            </a:r>
          </a:p>
          <a:p>
            <a:r>
              <a:t>10.12 O representante dos Cotistas será eleito com prazo de mandato a se encerrar na próxima Assembleia  de Cotistas que deliberar sobre a aprovação de demonstrações contábeis do Fundo, sendo permitida  a reeleição.</a:t>
            </a:r>
          </a:p>
          <a:p>
            <a:r>
              <a:t>CNPJ 62696791000193 · Auditor independente e DFs · Condição: Documentos atuais selecionados no inventário por categoria/escopo; a data documental isolada não comprova vigência jurídica.</a:t>
            </a:r>
          </a:p>
          <a:p>
            <a:r>
              <a:t>CNPJ 62696791000193 · Auditor independente e DFs · Versão e prevalência: Documentos atuais selecionados no inventário por categoria/escopo; a data documental isolada não comprova vigência jurídica.</a:t>
            </a:r>
          </a:p>
          <a:p>
            <a:r>
              <a:t>CNPJ 55563624000109 · Auditor independente e DFs · Regulamento · ID 1192614 · 2026-04-30 · versão 1 · p. 24 · 12.3 · https://fnet.bmfbovespa.com.br/fnet/publico/visualizarDocumento?id=1192614</a:t>
            </a:r>
          </a:p>
          <a:p>
            <a:r>
              <a:t>CNPJ 55563624000109 · Auditor independente e DFs · Excerto da fonte:</a:t>
            </a:r>
          </a:p>
          <a:p>
            <a:r>
              <a:t>12.3 Incluem-se entre as obrigações do ADMINISTRADOR, sem prejuízo de outras previstas na regulamentação:</a:t>
            </a:r>
          </a:p>
          <a:p>
            <a:r>
              <a:t> (i) sem prejuízo da observância dos procedimentos relativos às demonstrações contábeis, manter,  separadamente, registros com informações completas sobre toda e qualquer modalidade de negociação  realizada entre o ADMINISTRADOR, GESTOR, CUSTODIANTE, e/ou suas respectivas partes relacionadas,  tais como definidas pelas regras contábeis que tratam desse assunto, de um lado; e a Classe, de outro;</a:t>
            </a:r>
          </a:p>
          <a:p>
            <a:r>
              <a:t> (ii) diligenciar para que sejam mantidos, às suas expensas, atualizados e em perfeita ordem:</a:t>
            </a:r>
          </a:p>
          <a:p>
            <a:r>
              <a:t> (a) o registro de Cotistas;</a:t>
            </a:r>
          </a:p>
          <a:p>
            <a:r>
              <a:t> (b) o livro de atas das Assembleias de Cotistas;</a:t>
            </a:r>
          </a:p>
          <a:p>
            <a:r>
              <a:t> (c) o livro ou lista de presença de Cotistas;</a:t>
            </a:r>
          </a:p>
          <a:p>
            <a:r>
              <a:t> (d) os pareceres do Auditor Independente; e</a:t>
            </a:r>
          </a:p>
          <a:p>
            <a:r>
              <a:t> (e) os registros contábeis referentes às operações e ao patrimônio da Classe;</a:t>
            </a:r>
          </a:p>
          <a:p>
            <a:r>
              <a:t> (iii) pagar a multa cominatória às suas expensas, nos termos da legislação vigente, por cada dia de atraso no  cumprimento dos prazos previstos na regulamentação aplicável;</a:t>
            </a:r>
          </a:p>
          <a:p>
            <a:r>
              <a:t> (iv) elaborar e divulgar as informações periódicas e eventuais da Classe, nos termos deste Anexo e da  regulamentação e da autorregulação em vigor;</a:t>
            </a:r>
          </a:p>
          <a:p>
            <a:r>
              <a:t> (v) manter atualizada junto à CVM a lista de todos os prestadores de serviços contratados pela Classe,  inclusive os Prestadores de Serviços Essenciais, bem como as demais informações cadastrais da Classe e  suas Subclasses;</a:t>
            </a:r>
          </a:p>
          <a:p>
            <a:r>
              <a:t> (vi) manter serviço de atendimento aos Cotistas, responsável pelo esclarecimento de dúvidas e pelo  recebimento de reclamações;</a:t>
            </a:r>
          </a:p>
          <a:p>
            <a:r>
              <a:t> (vii) receber e processar os pedidos de resgate;</a:t>
            </a:r>
          </a:p>
          <a:p>
            <a:r>
              <a:t> (viii) monitorar os Eventos de Verificação do Patrimônio;</a:t>
            </a:r>
          </a:p>
          <a:p>
            <a:r>
              <a:t> (ix) monitorar os Eventos de Avaliação e Eventos de Liquidação;</a:t>
            </a:r>
          </a:p>
          <a:p>
            <a:r>
              <a:t> (x) observar as disposições constantes do Regulamento;</a:t>
            </a:r>
          </a:p>
          <a:p>
            <a:r>
              <a:t> (xi) cumprir as deliberações da Assembleia de Cotistas; e</a:t>
            </a:r>
          </a:p>
          <a:p>
            <a:r>
              <a:t> (xii) observar as disposições do Código ANBIMA e das Regras e Procedimentos ANBIMA</a:t>
            </a:r>
          </a:p>
          <a:p>
            <a:r>
              <a:t>CNPJ 55563624000109 · Auditor independente e DFs · Regulamento · ID 1192614 · 2026-04-30 · versão 1 · p. 4 · 4.6.1 · https://fnet.bmfbovespa.com.br/fnet/publico/visualizarDocumento?id=1192614</a:t>
            </a:r>
          </a:p>
          <a:p>
            <a:r>
              <a:t>CNPJ 55563624000109 · Auditor independente e DFs · Excerto da fonte:</a:t>
            </a:r>
          </a:p>
          <a:p>
            <a:r>
              <a:t>4.6.1 As deliberações relativas às matérias elencadas nos incisos abaixo serão tomadas, em primeira  convocação ou em segunda convocação, conforme os quóruns dispostos abaixo, em sede assembleia  geral de cotistas ou de assembleia especial de cotistas, conforme o caso:</a:t>
            </a:r>
          </a:p>
          <a:p>
            <a:r>
              <a:t> MATÉRIA SUJEITA À APROVAÇÃO QUÓRUM DE DELIBERAÇÃO</a:t>
            </a:r>
          </a:p>
          <a:p>
            <a:r>
              <a:t> (i) aprovação das demonstrações contábeis do FUNDO; Maioria do total das Cotas emitidas</a:t>
            </a:r>
          </a:p>
          <a:p>
            <a:r>
              <a:t>CNPJ 55563624000109 · Auditor independente e DFs · Regulamento · ID 1192614 · 2026-04-30 · versão 1 · p. 10 · 3.1 · https://fnet.bmfbovespa.com.br/fnet/publico/visualizarDocumento?id=1192614</a:t>
            </a:r>
          </a:p>
          <a:p>
            <a:r>
              <a:t>CNPJ 55563624000109 · Auditor independente e DFs · Excerto da fonte:</a:t>
            </a:r>
          </a:p>
          <a:p>
            <a:r>
              <a:t>3.1 A Classe terá Encargos que lhe poderão ser debitados diretamente, nos termos da Resolução CVM 175, e  quaisquer despesas que não constituam Encargos correm por conta do Prestador de Serviço Essencial que a tiver  contratado, incluindo, sem se limitar a:</a:t>
            </a:r>
          </a:p>
          <a:p>
            <a:r>
              <a:t> (i) Taxa de performance, se houver;</a:t>
            </a:r>
          </a:p>
          <a:p>
            <a:r>
              <a:t> (ii) Taxas, impostos ou contribuições federais, estaduais, municipais ou autárquicas, que recaiam ou  venham a recair sobre os bens, direitos e obrigações da Classe;</a:t>
            </a:r>
          </a:p>
          <a:p>
            <a:r>
              <a:t> (iii) Despesas com o registro de documentos, impressão, expedição e publicação de relatórios e informações  periódicas previstas na Resolução CVM 175;</a:t>
            </a:r>
          </a:p>
          <a:p>
            <a:r>
              <a:t> (iv) Despesas com correspondências de interesse do FUNDO ou da Classe, inclusive comunicações aos  Cotistas;</a:t>
            </a:r>
          </a:p>
          <a:p>
            <a:r>
              <a:t> (v) Honorários e despesas do Auditor Independente;</a:t>
            </a:r>
          </a:p>
          <a:p>
            <a:r>
              <a:t> BTG Pactual  SAC: 0800 772 28 27 - Ouvidoria: 0800 722 00 48 - btgpactual.com  3</a:t>
            </a:r>
          </a:p>
          <a:p>
            <a:r>
              <a:t>CNPJ 55563624000109 · Auditor independente e DFs · Condição: Documentos atuais selecionados no inventário por categoria/escopo; a data documental isolada não comprova vigência jurídica.</a:t>
            </a:r>
          </a:p>
          <a:p>
            <a:r>
              <a:t>CNPJ 55563624000109 · Auditor independente e DFs · Versão e prevalência: Documentos atuais selecionados no inventário por categoria/escopo; a data documental isolada não comprova vigência jurídica.</a:t>
            </a:r>
          </a:p>
          <a:p>
            <a:r>
              <a:t>CNPJ 55563624000109 · Auditor independente e DFs · Resumo do histórico: {"count": 2, "dates": ["2025-01-31", "2026-01-31"], "document_count": 2, "sources": [{"document_id": "1178840", "title": "Demonstrações Financeiras", "reference_date": "2026-01-31", "version": "1", "page": 4, "url": "https://fnet.bmfbovespa.com.br/fnet/publico/visualizarDocumento?id=1178840", "sha256": "c458e98664c5c907ddb5a05a94b120bed4e05295b2bfc420f5ba69af0a229abe"}, {"document_id": "891861", "title": "Demonstrações Financeiras", "reference_date": "2025-01-31", "version": "1", "page": 2, "url": "https://fnet.bmfbovespa.com.br/fnet/publico/visualizarDocumento?id=891861", "sha256": "e9cb9e6ddbe505fe068cfcac33605165a98313489de0d3ce6d4d238263c3f3e7"}], "reference": {"path": "history/55563624000109.json", "criterion_id": "audit", "total_count": 2, "preview_count": 2, "full_text_deferred": true, "sha256": "7835d573fb58a3c19adf5b8ecc2aee2bdbb9a88f7a0c0209b5f262b64c7522e3"}}</a:t>
            </a:r>
          </a:p>
          <a:p>
            <a:r>
              <a:t>CNPJ 62552447000120 · Auditor independente e DFs · Regulamento · ID 1200623 · 2026-05-21 · versão 1 · p. 4 · 4.1.6 · https://fnet.bmfbovespa.com.br/fnet/publico/visualizarDocumento?id=1200623</a:t>
            </a:r>
          </a:p>
          <a:p>
            <a:r>
              <a:t>CNPJ 62552447000120 · Auditor independente e DFs · Excerto da fonte:</a:t>
            </a:r>
          </a:p>
          <a:p>
            <a:r>
              <a:t>4.1.6 As demonstrações contábeis cujo relatório de auditoria não contiver opinião modificada podem  ser consideradas automaticamente aprovadas caso a Assembleia Geral correspondente não  seja instalada em virtude do não comparecimento de quaisquer Cotistas.</a:t>
            </a:r>
          </a:p>
          <a:p>
            <a:r>
              <a:t>CNPJ 62552447000120 · Auditor independente e DFs · Regulamento · ID 1200623 · 2026-05-21 · versão 1 · p. 29 · 12.16 · https://fnet.bmfbovespa.com.br/fnet/publico/visualizarDocumento?id=1200623</a:t>
            </a:r>
          </a:p>
          <a:p>
            <a:r>
              <a:t>CNPJ 62552447000120 · Auditor independente e DFs · Excerto da fonte:</a:t>
            </a:r>
          </a:p>
          <a:p>
            <a:r>
              <a:t>12.16 Os serviços de auditoria das demonstrações f inanceiras e demais contas da Classe serão prestados  por Auditor Independente contratado pelo Administrador. Pelos serviços prestados, o Auditor  Independente f ará jus ao recebimento de remuneração a ser def inida em contrato específico, a qual  será paga pela Classe.</a:t>
            </a:r>
          </a:p>
          <a:p>
            <a:r>
              <a:t>CAPÍTULO 13 – TAXA GLOBAL</a:t>
            </a:r>
          </a:p>
          <a:p>
            <a:r>
              <a:t>CNPJ 62552447000120 · Auditor independente e DFs · Condição: Documentos atuais selecionados no inventário por categoria/escopo; a data documental isolada não comprova vigência jurídica.</a:t>
            </a:r>
          </a:p>
          <a:p>
            <a:r>
              <a:t>CNPJ 62552447000120 · Auditor independente e DFs · Versão e prevalência: Documentos atuais selecionados no inventário por categoria/escopo; a data documental isolada não comprova vigência jurídica.</a:t>
            </a:r>
          </a:p>
          <a:p>
            <a:r>
              <a:t>CNPJ 63953620000165 · Auditor independente e DFs · Anexo ao Regulamento · ID 1222863 · 2026-06-02 · versão 1 · p. 4 · 3.4 · https://fnet.bmfbovespa.com.br/fnet/publico/visualizarDocumento?id=1222863</a:t>
            </a:r>
          </a:p>
          <a:p>
            <a:r>
              <a:t>CNPJ 63953620000165 · Auditor independente e DFs · Excerto da fonte:</a:t>
            </a:r>
          </a:p>
          <a:p>
            <a:r>
              <a:t>3.4 Adicionalmente aos Encargos, as seguintes despesas serão debitadas diretamente da Classe, nos termos do art.</a:t>
            </a:r>
          </a:p>
          <a:p>
            <a:r>
              <a:t> 51 do Anexo Normativo II da Resolução CVM 175 (“Despesas Adicionais”):</a:t>
            </a:r>
          </a:p>
          <a:p>
            <a:r>
              <a:t> (i) Despesas com registro de Direitos Creditórios;</a:t>
            </a:r>
          </a:p>
          <a:p>
            <a:r>
              <a:t> (ii) Despesas com serviços de originação, cobranças ordinária e/ou extraordinária dos Direitos Creditórios,  e/ou verificação de lastro dos Direitos Creditórios, conforme aplicável;</a:t>
            </a:r>
          </a:p>
          <a:p>
            <a:r>
              <a:t> (iii) Despesas com a contratação de atividades relacionadas à verificação de lastro;</a:t>
            </a:r>
          </a:p>
          <a:p>
            <a:r>
              <a:t> (iv) Despesas com a contratação de Agente de Retenção/Cobrança; Despesas com a contratação de  consultoria especializada, conforme o caso;</a:t>
            </a:r>
          </a:p>
          <a:p>
            <a:r>
              <a:t> (v) Remuneração do Custodiante;</a:t>
            </a:r>
          </a:p>
          <a:p>
            <a:r>
              <a:t> (vi) Despesas com honorários advocatícios para quaisquer assuntos de interesse da Classe, seja na esfera  judicial ou extrajudicial, inclusive consultivo;</a:t>
            </a:r>
          </a:p>
          <a:p>
            <a:r>
              <a:t> (vii) Despesas com a assinatura e registro dos Termos de Endosso, conforme aplicável, junto aos  competentes cartórios de Registro de Títulos e Documentos;</a:t>
            </a:r>
          </a:p>
          <a:p>
            <a:r>
              <a:t> (viii) Despesas inerentes à distribuição primária de Cotas, inclusive a contratação e remuneração do  distribuidor das Cotas para cada oferta de Cotas da Classe, nos termos de cada contrato de distribuição  e honorários devidos ao(s) assessor(es) legal(is) de cada oferta, assim como despesas com o registro das  Cotas na CVM, ANBIMA e/ou na entidade de mercado organizado em que as cotas sejam registradas,  conforme aplicável;</a:t>
            </a:r>
          </a:p>
          <a:p>
            <a:r>
              <a:t> (ix) Taxas de fiscalização da CVM e/ou ANBIMA, conforme aplicável; e</a:t>
            </a:r>
          </a:p>
          <a:p>
            <a:r>
              <a:t> (x) Despesas com contratação e remuneração do Auditor Independente e da Agência Classificadora de  Risco.</a:t>
            </a:r>
          </a:p>
          <a:p>
            <a:r>
              <a:t>CNPJ 63953620000165 · Auditor independente e DFs · Condição: Documentos atuais selecionados no inventário por categoria/escopo; a data documental isolada não comprova vigência jurídica.</a:t>
            </a:r>
          </a:p>
          <a:p>
            <a:r>
              <a:t>CNPJ 63953620000165 · Auditor independente e DFs · Motivo: Cláusula primária localizada e citada, mas sua lista/condições extensas não admitem uma síntese literal curta confirmada. O trecho integral permanece nas fontes.</a:t>
            </a:r>
          </a:p>
          <a:p>
            <a:r>
              <a:t>CNPJ 63953620000165 · Auditor independente e DFs · Versão e prevalência: Documentos atuais selecionados no inventário por categoria/escopo; a data documental isolada não comprova vigência jurídica.</a:t>
            </a:r>
          </a:p>
          <a:p>
            <a:r>
              <a:t>CNPJ 63953620000165 · Auditor independente e DFs · Resumo do histórico: {"count": 8, "dates": ["2026-04-28", "2026-05-08", "2026-05-15"], "document_count": 3, "sources": [{"document_id": "1327859", "title": "Demonstrações Financeiras - Fusão, cisão e incorporação", "reference_date": "2026-05-15", "version": "1", "page": 1, "url": "https://fnet.bmfbovespa.com.br/fnet/publico/visualizarDocumento?id=1327859", "sha256": "dca1c68babb97f887528c3e2e47596a9c30f507b067981a35655b2f2da9c8054"}, {"document_id": "1298691", "title": "Demonstrações Financeiras - Fusão, cisão e incorporação", "reference_date": "2026-05-08", "version": "1", "page": 1, "url": "https://fnet.bmfbovespa.com.br/fnet/publico/visualizarDocumento?id=1298691", "sha256": "58c570d9b8d4d265330d3db3ea81c435b8e44a6dab4002aa37790652a1ee9819"}, {"document_id": "1282180", "title": "Demonstrações Financeiras - Fusão, cisão e incorporação", "reference_date": "2026-04-28", "version": "1", "page": 1, "url": "https://fnet.bmfbovespa.com.br/fnet/publico/visualizarDocumento?id=1282180", "sha256": "afaaa0e6809be4385e5bdb6c911aac582032c5bdbac3d7750234bf9eaf00438a"}], "reference": {"path": "history/63953620000165.json", "criterion_id": "audit",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Governança e alterações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Quóruns e matérias reservadas · Regulamento · ID 670691 · 28/04/2024 · versão Regulamento — referência 28/04/2024 · p. 4 · Parte Geral, 4.4–4.4.1 · https://fnet.bmfbovespa.com.br/fnet/publico/visualizarDocumento?id=670691</a:t>
            </a:r>
          </a:p>
          <a:p>
            <a:r>
              <a:t>CNPJ 54871427000194 · Quóruns e matérias reservadas · Excerto da fonte:</a:t>
            </a:r>
          </a:p>
          <a:p>
            <a:r>
              <a:t>4.4 Ressalvadas as exceções descritas neste Regulamento, toda e qualquer matéria submetida à deliberação dos cotistas deverá ser aprovada por maioria dos votos dos presentes. 4.4.1 As deliberações relativas às matérias elencadas nos incisos abaixo serão tomadas, em primeira convocação ou em segunda convocação, pelos votos dos titulares da maioria das cotas em circulação, em sede assembleia geral de cotistas ou de assembleia especial de cotistas, conf orme o caso: (i) aprovação das demonstrações contábeis do FUNDO; (ii) alteração da Parte Geral deste Regulamento; (iii) substituição ou remoção do Prestador de Serviços Essenciais do FUNDO, ressalvada a possibilidade prevista no Art. 70, §1º, da Parte Geral da Resolução CVM 175; (iv) alterações nos quóruns de deliberação def inidos neste Regulamento; (v) cobrança de taxas e encargos pelo ADMINISTRADOR, de qualquer natureza, que não estejam expressamente previstos neste Regulamento; (vi) liquidação do FUNDO. (vii) plano de resolu</a:t>
            </a:r>
          </a:p>
          <a:p>
            <a:r>
              <a:t>CNPJ 54871427000194 · Quóruns e matérias reservadas · Regulamento · ID 670691 · 28/04/2024 · versão Regulamento — referência 28/04/2024 · p. 17 · Anexo I, 10.1 · https://fnet.bmfbovespa.com.br/fnet/publico/visualizarDocumento?id=670691</a:t>
            </a:r>
          </a:p>
          <a:p>
            <a:r>
              <a:t>CNPJ 54871427000194 · Quóruns e matérias reservadas · Excerto da fonte:</a:t>
            </a:r>
          </a:p>
          <a:p>
            <a:r>
              <a:t>10.1 Sem prejuízo de outros requisitos e inf ormações previstos na regulamentação vigente, são aplicáveis à Assembleia Especial de Cotistas as mesmas disposições procedimentais da Assembleia Geral de Cotistas. 10.2 A Assembleia Especial de Cotistas é responsável por deliberar sobre as matérias específicas da Classe de Cotas, sem prejuízo das demais disposições previstas na regulamentação aplicável, incluindo, mas não se limitando a: (i) deliberar sobre as demonstrações contábeis da Classe; (ii) deliberar sobre substituição de Prestadores de Serviços Essenciais, observado o disposto no art. 70, §1º da parte geral da Resolução CVM 175; (iii) deliberar sobre elevação da Taxa de Administração, inclusive na hipótese de restabelecimento de taxa que tenha sido objeto de redução; (iv) deliberar sobre incorporação, f usão, cisão total ou parcial, a transf ormação ou liquidação da Classe; (v) alterações das características, vantagens, direitos e obrigações das Cotas; (vi) alterar critérios e procedimentos para Amortização e/ou resgate de Cotas mediante dação em pagamento de Direitos Creditórios; (vii) a</a:t>
            </a:r>
          </a:p>
          <a:p>
            <a:r>
              <a:t>CNPJ 54871427000194 · Quóruns e matérias reservadas · Versão e prevalência: Leitura específica das cláusulas indicadas; condições e conflitos preservados. Seleção documental atual não comprova vigência jurídica por data isolada.</a:t>
            </a:r>
          </a:p>
          <a:p>
            <a:r>
              <a:t>CNPJ 54871427000194 · Quóruns e matérias reservadas · Resumo do histórico: {"count": 1, "dates": ["2024-04-19"], "document_count": 1, "sources": [{"document_id": "670689", "title": "Regulamento", "reference_date": "2024-04-19", "version": "1", "page": 20, "clause": "11.6", "url": "https://fnet.bmfbovespa.com.br/fnet/publico/visualizarDocumento?id=670689", "sha256": "891bc9bc5d87bbc02ec139077a84d2702eb81ea02035fb71d24f5b8366b94a0b"}], "reference": {"path": "history/54871427000194.json", "criterion_id": "quorum", "total_count": 1, "preview_count": 1, "full_text_deferred": true, "sha256": "35d7cd99be50c7287c9fb675cf4f2e736002315295a225a9efa79c8d9186d874"}}</a:t>
            </a:r>
          </a:p>
          <a:p>
            <a:r>
              <a:t>CNPJ 60010416000112 · Quóruns e matérias reservadas · Regulamento · ID 1051393 · 09/10/2025 · versão Regulamento09/10/2025 · p. 18 · AnexoI9.2(ii)–(xvii) · https://fnet.bmfbovespa.com.br/fnet/publico/visualizarDocumento?id=1051393</a:t>
            </a:r>
          </a:p>
          <a:p>
            <a:r>
              <a:t>CNPJ 60010416000112 · Quóruns e matérias reservadas · Excerto da fonte:</a:t>
            </a:r>
          </a:p>
          <a:p>
            <a:r>
              <a:t>(ii) alterar este Anexo I e seus complementos, incluindo mas não se limitando aos Apêndices de cada uma das subclasses; (iii) deliberar sobre substituição de Prestadores de Serviços Essenciais, observado o disposto no Art. 70, §1º da parte geral da Resolução CVM 175, quando aplicável, ou do Custodiante; (iv) deliberar sobre elevação da Taxa de Administração, inclusive na hipótese de restabelecimento de taxa que tenha sido objeto de redução; (v) deliberar sobre incorporação, fusão, cisão total ou parcial, a transformação ou liquidação da Classe; (vi) alter</a:t>
            </a:r>
          </a:p>
          <a:p>
            <a:r>
              <a:t>CNPJ 60010416000112 · Quóruns e matérias reservadas · Regulamento · ID 1051393 · 09/10/2025 · versão Regulamento09/10/2025 · p. 19 · AnexoI9.8–9.9 · https://fnet.bmfbovespa.com.br/fnet/publico/visualizarDocumento?id=1051393</a:t>
            </a:r>
          </a:p>
          <a:p>
            <a:r>
              <a:t>CNPJ 60010416000112 · Quóruns e matérias reservadas · Excerto da fonte:</a:t>
            </a:r>
          </a:p>
          <a:p>
            <a:r>
              <a:t>9.8 As deliberações constantes dos incisos (ii), (iii), (iv), (v), (vi), (vii), (x), (xi), (xii), (xiii) e (xvii) acima, apenas serão aprovadas, seja em primeira ou em segunda convocação, por unanimidade dos votos dos titulares das Cotas em circulação. 9.9 As deliberações relativas aos demais incisos do item 9.2 acima apenas serão aprovadas, seja em primeira ou em segunda convocação, mediante o voto favorável dos Cotistas que representem a maioria das Cotas emitidas pela Classe. 9.10 Somente os Cotistas, seus representantes legais ou procuradores legalmente nomeados há menos de 1 (um) ano ter</a:t>
            </a:r>
          </a:p>
          <a:p>
            <a:r>
              <a:t>CNPJ 60010416000112 · Quóruns e matérias reservadas · Versão e prevalência: Leitura específica das cláusulas indicadas; condições e conflitos preservados. Seleção documental atual não comprova vigência jurídica por data isolada.</a:t>
            </a:r>
          </a:p>
          <a:p>
            <a:r>
              <a:t>CNPJ 60010416000112 · Quóruns e matérias reservadas · Resumo do histórico: {"count": 3, "dates": ["2025-03-20", "2025-05-09", "2025-05-12"], "document_count": 3, "sources": [{"document_id": "1004656", "title": "AGE", "reference_date": "2025-05-12", "version": "1", "page": 1, "url": "https://fnet.bmfbovespa.com.br/fnet/publico/visualizarDocumento?id=1004656", "sha256": "f6c9c009f6170e2b29f074b98522accec73f0c40efbf11f9ec2c8d3f1402616b"}, {"document_id": "911262", "title": "AGE", "reference_date": "2025-05-09", "version": "1", "page": 1, "url": "https://fnet.bmfbovespa.com.br/fnet/publico/visualizarDocumento?id=911262", "sha256": "675de4ffe8c5ee95957fb29810625ce850d1a0b69b5231747442266f0cbf32a3"}, {"document_id": "993786", "title": "Regulamento", "reference_date": "2025-03-20", "version": "1", "page": 22, "clause": "10.6", "url": "https://fnet.bmfbovespa.com.br/fnet/publico/visualizarDocumento?id=993786", "sha256": "fd0fdd369a195510d81f81f505195a0b09e5f43522a990afa7d58c4f872921c8"}], "reference": {"path": "history/60010416000112.json", "criterion_id": "quorum", "total_count": 3, "preview_count": 3, "full_text_deferred": true, "sha256": "8e2bd813f4c51cf01f6bfaad164bafe69d2bbb192f753eac92da3a01c2e63046"}}</a:t>
            </a:r>
          </a:p>
          <a:p>
            <a:r>
              <a:t>CNPJ 62696791000193 · Quóruns e matérias reservadas · Regulamento · ID 1143317 · 20/03/2026 · versão Regulamento — referência 20/03/2026 · p. 20 · Anexo I, 10.2, tabela · https://fnet.bmfbovespa.com.br/fnet/publico/visualizarDocumento?id=1143317</a:t>
            </a:r>
          </a:p>
          <a:p>
            <a:r>
              <a:t>CNPJ 62696791000193 · Quóruns e matérias reservadas · Excerto da fonte:</a:t>
            </a:r>
          </a:p>
          <a:p>
            <a:r>
              <a:t>10.2 Os seguintes quóruns deverão ser observados pela Assembleia Especial de Cotistas ao deliberar as matérias abaixo: Matéria Quórum I – alterar o presente Anexo; Maioria das Cotas Subscritas (“Quórum Qualificado”), observada BTG Pactual SAC: 0800 772 2827 | Ouvidoria: 0800 722 0048 | btgpactual.co m 15</a:t>
            </a:r>
          </a:p>
          <a:p>
            <a:r>
              <a:t>CNPJ 62696791000193 · Quóruns e matérias reservadas · Regulamento · ID 1143317 · 20/03/2026 · versão Regulamento — referência 20/03/2026 · p. 21 · Anexo I, 10.2, tabela · https://fnet.bmfbovespa.com.br/fnet/publico/visualizarDocumento?id=1143317</a:t>
            </a:r>
          </a:p>
          <a:p>
            <a:r>
              <a:t>CNPJ 62696791000193 · Quóruns e matérias reservadas · Excerto da fonte:</a:t>
            </a:r>
          </a:p>
          <a:p>
            <a:r>
              <a:t>Matéria Quórum a necessidade de voto afirmativo da Maioria das Cotas Seniores subscritas da Classe Quórum Qualif icado observada a necessidade de voto af irmativo da II – substituição do Administrador, do Gestor e da Cogestora; Maioria das Cotas Seniores subscritas da Classe Maioria Simples, observada a III – Emissão e distribuição de novas Cotas em quantidade necessidade de voto af irmativo da superior ao Capital Autorizado da Classe ; Maioria das Cotas Seniores subscritas da Classe</a:t>
            </a:r>
          </a:p>
          <a:p>
            <a:r>
              <a:t>CNPJ 62696791000193 · Quóruns e matérias reservadas · Regulamento · ID 1143317 · 20/03/2026 · versão Regulamento — referência 20/03/2026 · p. 22 · Anexo I, 10.2(XI) e 10.5–10.7 · https://fnet.bmfbovespa.com.br/fnet/publico/visualizarDocumento?id=1143317</a:t>
            </a:r>
          </a:p>
          <a:p>
            <a:r>
              <a:t>CNPJ 62696791000193 · Quóruns e matérias reservadas · Excerto da fonte:</a:t>
            </a:r>
          </a:p>
          <a:p>
            <a:r>
              <a:t>10.5 As deliberações que tenham por objeto alterações de Benchmark apenas serão aprovadas se assim deliberado: (i) pelos votos dos titulares da maioria das Cotas em circulação da Série ou Subclasse cujo Benchmark é alterado; e (ii) pelos votos dos titulares da maioria das Cotas Mezanino que se subordinem a ela e/ou das Cotas Subordinadas em circulação. 10.6 As deliberações que tenham por objeto o aumento do Índice de Subordinação estão sujeitas à aprovação da maioria simples dos votos dos titulares das Cotas Mezanino que se subordinem a ela e/ou das Cotas Subordinadas em circulação. 10.7 As deliberações que tenham por objeto a diminuição do Índice de Subordinação apenas serão aprovadas se assim deliberado: (i) pelos votos dos titulares da maioria das Cotas em circulação de cada uma das Séries de Cotas Seniores e/ou dos titulares das Cotas Mezanino que tenham o Benchmark alterado; e (ii) pelo voto dos titulares da maioria das Cotas Mezanino que se subordinem a ela e/ou Cotas Subordinadas Júnior em circulação . Representante de Cotistas 10.8 A Assembleia de Cotistas pode, a qualquer momento, eleger até 3 (três) representantes de cotistas, a serem eleitos e nomeados pela assembleia especial,</a:t>
            </a:r>
          </a:p>
          <a:p>
            <a:r>
              <a:t>CNPJ 62696791000193 · Quóruns e matérias reservadas · Versão e prevalência: Leitura específica das cláusulas indicadas; condições e conflitos preservados. Seleção documental atual não comprova vigência jurídica por data isolada.</a:t>
            </a:r>
          </a:p>
          <a:p>
            <a:r>
              <a:t>CNPJ 55563624000109 · Quóruns e matérias reservadas · Regulamento · ID 1192614 · 30/04/2026 · versão Regulamento30/04/2026 · p. 19 · AnexoI10.2(i)–(v) · https://fnet.bmfbovespa.com.br/fnet/publico/visualizarDocumento?id=1192614</a:t>
            </a:r>
          </a:p>
          <a:p>
            <a:r>
              <a:t>CNPJ 55563624000109 · Quóruns e matérias reservadas · Excerto da fonte:</a:t>
            </a:r>
          </a:p>
          <a:p>
            <a:r>
              <a:t>10.2 A Assembleia Especial de Cotistas é responsável por deliberar, observados os quóruns abaixo, sobre as matérias específicas da Classe, sem prejuízo das demais disposições previstas na regulamentação aplicável, incluindo, mas não se limitando a: MATÉRIA SUJEITA À APROVAÇÃO QUÓRUM DE DELIBERAÇÃO (i) deliberar sobre as demonstrações contábeis da Classe; Maioria do total das Cotas emitidas (ii) deliberar sobre a substituição de Prestadores de Serviços 90% (noventa por cento) do total das Cotas</a:t>
            </a:r>
          </a:p>
          <a:p>
            <a:r>
              <a:t>CNPJ 55563624000109 · Quóruns e matérias reservadas · Regulamento · ID 1192614 · 30/04/2026 · versão Regulamento30/04/2026 · p. 20 · AnexoI10.2(vi)–(xiii) · https://fnet.bmfbovespa.com.br/fnet/publico/visualizarDocumento?id=1192614</a:t>
            </a:r>
          </a:p>
          <a:p>
            <a:r>
              <a:t>CNPJ 55563624000109 · Quóruns e matérias reservadas · Excerto da fonte:</a:t>
            </a:r>
          </a:p>
          <a:p>
            <a:r>
              <a:t>(vi) alterar as características, vantagens, direitos e obrigações 90% (noventa por cento) do total das Cotas das Cotas; emitidas (vii) alterar critérios e procedimentos para resgate de Cotas mediante dação em pagamento de Cotas da Classe Maioria do total das Cotas emitidas Investida; (viii) aprovar a emissão de novas Cotas fora do Capital Maioria do total das Cotas emitidas</a:t>
            </a:r>
          </a:p>
          <a:p>
            <a:r>
              <a:t>CNPJ 55563624000109 · Quóruns e matérias reservadas · Versão e prevalência: Leitura específica das cláusulas indicadas; condições e conflitos preservados. Seleção documental atual não comprova vigência jurídica por data isolada.</a:t>
            </a:r>
          </a:p>
          <a:p>
            <a:r>
              <a:t>CNPJ 55563624000109 · Quóruns e matérias reservadas · Resumo do histórico: {"count": 2, "dates": ["2025-01-31", "2026-01-31"], "document_count": 2, "sources": [{"document_id": "1178840", "title": "Demonstrações Financeiras", "reference_date": "2026-01-31", "version": "1", "page": 24, "url": "https://fnet.bmfbovespa.com.br/fnet/publico/visualizarDocumento?id=1178840", "sha256": "c458e98664c5c907ddb5a05a94b120bed4e05295b2bfc420f5ba69af0a229abe"}, {"document_id": "891861", "title": "Demonstrações Financeiras", "reference_date": "2025-01-31", "version": "1", "page": 25, "url": "https://fnet.bmfbovespa.com.br/fnet/publico/visualizarDocumento?id=891861", "sha256": "e9cb9e6ddbe505fe068cfcac33605165a98313489de0d3ce6d4d238263c3f3e7"}], "reference": {"path": "history/55563624000109.json", "criterion_id": "quorum", "total_count": 2, "preview_count": 2, "full_text_deferred": true, "sha256": "7835d573fb58a3c19adf5b8ecc2aee2bdbb9a88f7a0c0209b5f262b64c7522e3"}}</a:t>
            </a:r>
          </a:p>
          <a:p>
            <a:r>
              <a:t>CNPJ 62552447000120 · Quóruns e matérias reservadas · Regulamento · ID 1200623 · 21/05/2026 · versão Consolidado21/05/2026 aprovado pelo ato1200625 · p. 21 · AnexoI10.2(i)–(x) · https://fnet.bmfbovespa.com.br/fnet/publico/visualizarDocumento?id=1200623</a:t>
            </a:r>
          </a:p>
          <a:p>
            <a:r>
              <a:t>CNPJ 62552447000120 · Quóruns e matérias reservadas · Excerto da fonte:</a:t>
            </a:r>
          </a:p>
          <a:p>
            <a:r>
              <a:t>10.2 Os seguintes quóruns deverão ser observados pela Assembleia Especial ao deliberar as matérias abaixo: Matéria Quórum (i) deliberar sobre substituição de Prestadores de Serviços Unanimidade dos Cotistas Essenciais, observado o disposto no art. 70, §1º da Parte Geral da Resolução CVM 175, quando aplicável; (ii) deliberar sobre elevação da Taxa Global, inclusive na Unanimidade dos Cotistas hipótese de restabelecimento de taxa que tenha sido objeto de redução; (iii) delibera</a:t>
            </a:r>
          </a:p>
          <a:p>
            <a:r>
              <a:t>CNPJ 62552447000120 · Quóruns e matérias reservadas · Versão e prevalência: Leitura específica das cláusulas indicadas; condições e conflitos preservados. Seleção documental atual não comprova vigência jurídica por data isolada.</a:t>
            </a:r>
          </a:p>
          <a:p>
            <a:r>
              <a:t>CNPJ 63953620000165 · Quóruns e matérias reservadas · Anexo ao Regulamento · ID 1222863 · 02/06/2026 · versão AnexoConsignadoPrivado02/06/2026 · p. 13 · 10.2(ii)–(xvii) · https://fnet.bmfbovespa.com.br/fnet/publico/visualizarDocumento?id=1222863</a:t>
            </a:r>
          </a:p>
          <a:p>
            <a:r>
              <a:t>CNPJ 63953620000165 · Quóruns e matérias reservadas · Excerto da fonte:</a:t>
            </a:r>
          </a:p>
          <a:p>
            <a:r>
              <a:t>10.2 Os seguintes quóruns deverão ser observados pela Assembleia Especial de Cotistas ao deliberar as matérias abaixo: Matéria Quórum (i) deliberar sobre as demonstrações contábeis da Classe; Maioria das Cotas presentes (ii) alterar o presente Anexo; Maioria das Cotas de cada Subclasse (iii) deliberar sobre substituição de Prestadores de Serviços Maioria das Cotas da Classe Essenciais, observado o disposto no Artigo 70, §1º da parte geral da R</a:t>
            </a:r>
          </a:p>
          <a:p>
            <a:r>
              <a:t>CNPJ 63953620000165 · Quóruns e matérias reservadas · Anexo ao Regulamento · ID 1222863 · 02/06/2026 · versão AnexoConsignadoPrivado02/06/2026 · p. 14 · 10.5–10.8 · https://fnet.bmfbovespa.com.br/fnet/publico/visualizarDocumento?id=1222863</a:t>
            </a:r>
          </a:p>
          <a:p>
            <a:r>
              <a:t>CNPJ 63953620000165 · Quóruns e matérias reservadas · Excerto da fonte:</a:t>
            </a:r>
          </a:p>
          <a:p>
            <a:r>
              <a:t>10.5 Caso a matéria em deliberação resulte ou possa resultar em uma redução do Índice de Subordinação de uma determinada Subclasse, somente podem votar os titulares de Subclasses de Cotas Seniores. 10.6 As deliberações que tenham por objeto alterações de Benchmark apenas serão aprovadas se assim deliberado: (i) pelos votos dos titulares da maioria das Cotas Seniores cujo Benchmark é alterado; e (ii) pelos votos dos titulares da maioria das Cotas Subordinadas em circulação. 10.7 As deliberações que tenham por objeto o aumento do Índice de Subordinação Sênior estão sujeitas à aprovação da maioria simples dos votos dos titu</a:t>
            </a:r>
          </a:p>
          <a:p>
            <a:r>
              <a:t>CNPJ 63953620000165 · Quóruns e matérias reservadas · Condição: 10.7/10.8 repetem aumento do índice com quóruns distintos; interpretar regra específica demandará resolver conflito, sem presumir uma aprovação.</a:t>
            </a:r>
          </a:p>
          <a:p>
            <a:r>
              <a:t>CNPJ 63953620000165 · Quóruns e matérias reservadas · Versão e prevalência: Leitura específica das cláusulas indicadas; condições e conflitos preservados. Seleção documental atual não comprova vigência jurídica por data isolada.</a:t>
            </a:r>
          </a:p>
          <a:p>
            <a:r>
              <a:t>CNPJ 63953620000165 · Quóruns e matérias reservadas · Resumo do histórico: {"count": 7, "dates": ["2026-04-28", "2026-05-08", "2026-05-15"], "document_count": 3, "sources": [{"document_id": "1327859", "title": "Demonstrações Financeiras - Fusão, cisão e incorporação", "reference_date": "2026-05-15", "version": "1", "page": 10, "url": "https://fnet.bmfbovespa.com.br/fnet/publico/visualizarDocumento?id=1327859", "sha256": "dca1c68babb97f887528c3e2e47596a9c30f507b067981a35655b2f2da9c8054"}, {"document_id": "1298691", "title": "Demonstrações Financeiras - Fusão, cisão e incorporação", "reference_date": "2026-05-08", "version": "1", "page": 10, "url": "https://fnet.bmfbovespa.com.br/fnet/publico/visualizarDocumento?id=1298691", "sha256": "58c570d9b8d4d265330d3db3ea81c435b8e44a6dab4002aa37790652a1ee9819"}, {"document_id": "1205431", "title": "AGE", "reference_date": "2026-04-28", "version": "1", "page": 1, "url": "https://fnet.bmfbovespa.com.br/fnet/publico/visualizarDocumento?id=1205431", "sha256": "e0b59c701c5d0dbf60de698ea7664d442240863b7043bacdb334ce484188b2ac"}], "reference": {"path": "history/63953620000165.json", "criterion_id": "quorum", "total_count": 7, "preview_count": 3, "full_text_deferred": true, "sha256": "a7b89077f5e21098c2d601c303faabc3ff6b9729f89d8afecdc60fe1404720c1"}}</a:t>
            </a:r>
          </a:p>
          <a:p>
            <a:r>
              <a:t>CNPJ 54871427000194 · Partes relacionadas e conflitos · Regulamento · ID 670691 · 2024-04-28 · versão 1 · p. 11 · 4.10 · https://fnet.bmfbovespa.com.br/fnet/publico/visualizarDocumento?id=670691</a:t>
            </a:r>
          </a:p>
          <a:p>
            <a:r>
              <a:t>CNPJ 54871427000194 · Partes relacionadas e conflitos · Excerto da fonte:</a:t>
            </a:r>
          </a:p>
          <a:p>
            <a:r>
              <a:t>4.10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54871427000194 · Partes relacionadas e conflitos · Regulamento · ID 670691 · 2024-04-28 · versão 1 · p. 11 · 4.11 · https://fnet.bmfbovespa.com.br/fnet/publico/visualizarDocumento?id=670691</a:t>
            </a:r>
          </a:p>
          <a:p>
            <a:r>
              <a:t>CNPJ 54871427000194 · Partes relacionadas e conflitos · Excerto da fonte:</a:t>
            </a:r>
          </a:p>
          <a:p>
            <a:r>
              <a:t>4.11 A Classe poderá, direta ou indiretamente e, nos termos da legislação aplicável: (i) adquirir Direitos  Creditórios que sejam cedidos e/ou originados pelo ADMINISTRADOR e/ou pelo GESTOR, ou partes  a eles relacionadas, tal como definidas pelas regras contábeis que tratam desse assunto; e (ii) ceder  Direitos Creditórios a qualquer das pessoas, fundos de investimento ou entidades referidas no item (i)  acima, desde que (i) o ADMINISTRADOR, GESTOR, a entidade registradora e o CUSTODIANTE de  Direitos Creditórios não sejam partes relacionadas entre si; e (ii) a entidade registradora e o  CUSTODIANTE dos Direitos Creditórios não sejam partes relacionadas ao originador ou Cedente.</a:t>
            </a:r>
          </a:p>
          <a:p>
            <a:r>
              <a:t>CNPJ 54871427000194 · Partes relacionadas e conflitos · Regulamento · ID 670691 · 2024-04-28 · versão 1 · p. 25 · 12.21 · https://fnet.bmfbovespa.com.br/fnet/publico/visualizarDocumento?id=670691</a:t>
            </a:r>
          </a:p>
          <a:p>
            <a:r>
              <a:t>CNPJ 54871427000194 · Partes relacionadas e conflitos · Excerto da fonte:</a:t>
            </a:r>
          </a:p>
          <a:p>
            <a:r>
              <a:t>12.21 O GESTOR, em nome da Classe, poderá contratar um ou mais terceiros para a prestação de serviços  de Agente de Cobrança de Direitos Creditórios Inadimplidos, os quais poderão ser partes relacionadas  ou integrar o grupo do ADMINISTRADOR ou dos demais prestadores de serviços da Classe. ] Serão  atribuições do Agente de Cobrança, observado o disposto neste Regulamento e na regulamentação  aplicável:</a:t>
            </a:r>
          </a:p>
          <a:p>
            <a:r>
              <a:t>(i) sempre que necessário, notificar os Devedores sobre a cessão dos Direitos Creditórios à  Classe, nos termos do Art. 290 do Código Civil;</a:t>
            </a:r>
          </a:p>
          <a:p>
            <a:r>
              <a:t>(ii) sempre que solicitado pelo ADMINISTRADOR e/ou pelo GESTOR, reportar ao  ADMINISTRADOR e ao GESTOR as ações tomadas e/ou eventos relevantes ocorridos no  âmbito da cobrança, seja judicial ou extrajudicial, dos Direitos Creditórios Inadimplidos, bem  como o estado de ref erida cobrança;</a:t>
            </a:r>
          </a:p>
          <a:p>
            <a:r>
              <a:t>(iii) comparecer à Assembleia Especial de Cotistas quando assim requerido pelo  ADMINISTRADOR;</a:t>
            </a:r>
          </a:p>
          <a:p>
            <a:r>
              <a:t>(iv) conf irmar o recebimento dos boletos bancários de cobrança enviados aos Devedores, se  aplicável;</a:t>
            </a:r>
          </a:p>
          <a:p>
            <a:r>
              <a:t>(v) controlar, coordenar, gerir e f iscalizar as ações de cobrança de Direitos Creditórios  Inadimplidos;</a:t>
            </a:r>
          </a:p>
          <a:p>
            <a:r>
              <a:t>(vi) adotar, em nome e por conta da Classe, todos os procedimentos de cobrança dos Direitos  Creditórios Inadimplidos de titularidade da Classe;</a:t>
            </a:r>
          </a:p>
          <a:p>
            <a:r>
              <a:t>(vii) conf orme o caso, ef etuar a inclusão ou exclusão do nome de quaisquer Devedores dos  Direitos Creditórios Inadimplidos no registro negativo de órgãos e/ou sistemas de informação  e proteção ao crédito; e</a:t>
            </a:r>
          </a:p>
          <a:p>
            <a:r>
              <a:t>(viii) conduzir, por si ou por meio dos assessores legais contratados para esse f im, processo  administrativo, judicial e/ou arbitral contra os Devedores, incluindo, ainda, a excussão de  eventuais garantias acessórias aos Direitos Creditórios.</a:t>
            </a:r>
          </a:p>
          <a:p>
            <a:r>
              <a:t>CNPJ 54871427000194 · Partes relacionadas e conflitos · Condição: Documentos atuais selecionados no inventário por categoria/escopo; a data documental isolada não comprova vigência jurídica.</a:t>
            </a:r>
          </a:p>
          <a:p>
            <a:r>
              <a:t>CNPJ 54871427000194 · Partes relacionadas e conflitos · Versão e prevalência: Documentos atuais selecionados no inventário por categoria/escopo; a data documental isolada não comprova vigência jurídica.</a:t>
            </a:r>
          </a:p>
          <a:p>
            <a:r>
              <a:t>CNPJ 54871427000194 · Partes relacionadas e conflitos · Resumo do histórico: {"count": 1, "dates": ["2024-04-19"], "document_count": 1, "sources": [{"document_id": "670689", "title": "Regulamento", "reference_date": "2024-04-19", "version": "1", "page": 11, "clause": "4.10", "url": "https://fnet.bmfbovespa.com.br/fnet/publico/visualizarDocumento?id=670689", "sha256": "891bc9bc5d87bbc02ec139077a84d2702eb81ea02035fb71d24f5b8366b94a0b"}], "reference": {"path": "history/54871427000194.json", "criterion_id": "related_parties", "total_count": 1, "preview_count": 1, "full_text_deferred": true, "sha256": "35d7cd99be50c7287c9fb675cf4f2e736002315295a225a9efa79c8d9186d874"}}</a:t>
            </a:r>
          </a:p>
          <a:p>
            <a:r>
              <a:t>CNPJ 60010416000112 · Partes relacionadas e conflitos · Regulamento · ID 1051393 · 2025-10-09 · versão 1 · p. 12 · 4.8 · https://fnet.bmfbovespa.com.br/fnet/publico/visualizarDocumento?id=1051393</a:t>
            </a:r>
          </a:p>
          <a:p>
            <a:r>
              <a:t>CNPJ 60010416000112 · Partes relacionadas e conflitos · Excerto da fonte:</a:t>
            </a:r>
          </a:p>
          <a:p>
            <a:r>
              <a:t>4.8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60010416000112 · Partes relacionadas e conflitos · Regulamento · ID 1051393 · 2025-10-09 · versão 1 · p. 12 · 4.9 · https://fnet.bmfbovespa.com.br/fnet/publico/visualizarDocumento?id=1051393</a:t>
            </a:r>
          </a:p>
          <a:p>
            <a:r>
              <a:t>CNPJ 60010416000112 · Partes relacionadas e conflitos · Excerto da fonte:</a:t>
            </a:r>
          </a:p>
          <a:p>
            <a:r>
              <a:t>4.9 Sem prejuízo de limites mais restritivos definidos neste Regulamento, o Gestor deverá observar, ainda, os  seguintes limites de concentração para a composição da Carteira:</a:t>
            </a:r>
          </a:p>
          <a:p>
            <a:r>
              <a:t> (i ) Até 100% (cem por cento) da parcela do Patrimônio Líquido investida em Ativos  Financeiros de Liquidez poderá ser alocada em Ativos Financeiros de Liquidez de  emissão ou que envolvam retenção de risco por parte do Administrador, Gestor, e/ou  suas partes relacionadas; e</a:t>
            </a:r>
          </a:p>
          <a:p>
            <a:r>
              <a:t> (ii) Até 100% (cem por cento) da parcela do Patrimônio Líquido investida em operações  com derivativos poderá ser alocada em derivativos nos quais, inexistindo contraparte  central, se tenha como contraparte o Gestor e/ou suas partes relacionadas.</a:t>
            </a:r>
          </a:p>
          <a:p>
            <a:r>
              <a:t>CNPJ 60010416000112 · Partes relacionadas e conflitos · Regulamento · ID 1051393 · 2025-10-09 · versão 1 · p. 12 · 4.12.1 · https://fnet.bmfbovespa.com.br/fnet/publico/visualizarDocumento?id=1051393</a:t>
            </a:r>
          </a:p>
          <a:p>
            <a:r>
              <a:t>CNPJ 60010416000112 · Partes relacionadas e conflitos · Excerto da fonte:</a:t>
            </a:r>
          </a:p>
          <a:p>
            <a:r>
              <a:t>4.12.1. Após o término do Período de Investimento, a Classe utilizará os recursos provenientes do  pagamento dos Direitos Creditórios e demais aplicações para amortização das Cotas, observada  a ordem de alocação de recursos def inida no Capítulo 7 abaixo.</a:t>
            </a:r>
          </a:p>
          <a:p>
            <a:r>
              <a:t>Regras, procedimentos e limites para efetuar cessão de direitos creditórios para o cedente e suas partes relacionadas</a:t>
            </a:r>
          </a:p>
          <a:p>
            <a:r>
              <a:t>CNPJ 60010416000112 · Partes relacionadas e conflitos · Condição: Documentos atuais selecionados no inventário por categoria/escopo; a data documental isolada não comprova vigência jurídica.</a:t>
            </a:r>
          </a:p>
          <a:p>
            <a:r>
              <a:t>CNPJ 60010416000112 · Partes relacionadas e conflitos · Versão e prevalência: Documentos atuais selecionados no inventário por categoria/escopo; a data documental isolada não comprova vigência jurídica.</a:t>
            </a:r>
          </a:p>
          <a:p>
            <a:r>
              <a:t>CNPJ 60010416000112 · Partes relacionadas e conflitos · Resumo do histórico: {"count": 1, "dates": ["2025-03-20"], "document_count": 1, "sources": [{"document_id": "993786", "title": "Regulamento", "reference_date": "2025-03-20", "version": "1", "page": 12, "clause": "4.8", "url": "https://fnet.bmfbovespa.com.br/fnet/publico/visualizarDocumento?id=993786", "sha256": "fd0fdd369a195510d81f81f505195a0b09e5f43522a990afa7d58c4f872921c8"}], "reference": {"path": "history/60010416000112.json", "criterion_id": "related_parties", "total_count": 1, "preview_count": 1, "full_text_deferred": true, "sha256": "8e2bd813f4c51cf01f6bfaad164bafe69d2bbb192f753eac92da3a01c2e63046"}}</a:t>
            </a:r>
          </a:p>
          <a:p>
            <a:r>
              <a:t>CNPJ 62696791000193 · Partes relacionadas e conflitos · Regulamento · ID 1143317 · 2026-03-20 · versão 1 · p. 12 · 4.10 · https://fnet.bmfbovespa.com.br/fnet/publico/visualizarDocumento?id=1143317</a:t>
            </a:r>
          </a:p>
          <a:p>
            <a:r>
              <a:t>CNPJ 62696791000193 · Partes relacionadas e conflitos · Excerto da fonte:</a:t>
            </a:r>
          </a:p>
          <a:p>
            <a:r>
              <a:t>4.10 Sem prejuízo de limites mais restritivos definidos neste Anexo, o Gestor deverá observar, ainda, os  seguintes limites de concentração:</a:t>
            </a:r>
          </a:p>
          <a:p>
            <a:r>
              <a:t> (i) A Classe poderá, direta ou indiretamente, ter até 100% (cem por cento) do Patrimônio  Líquido representado por Direitos Creditórios do Agronegócio originados ou cedidos  pelo Administrador, Gestor e/ou suas partes relacionadas, tal como definidas pelas  regras contábeis que tratam desse assunto, desde que (a) o Gest or, a entidade  registradora e o Custodiante dos Direitos Creditórios do Agronegócio não sejam partes  relacionadas entre si; e (b) a entidade registradora e o Custodiante dos Direitos  Creditórios do Agronegócio não sejam partes relacionadas ao originador ou Cedente.</a:t>
            </a:r>
          </a:p>
          <a:p>
            <a:r>
              <a:t> (ii) No máximo, 100% (cem por cento) do Patrimônio Líquido investido em Ativos  Financeiros de Liquidez de emissão ou que envolvam retenção de risco por parte do  Administrador, Gestor, e/ou suas partes relacionadas, observado ainda o disposto no  item Error! Reference source not found.;</a:t>
            </a:r>
          </a:p>
          <a:p>
            <a:r>
              <a:t> (iii) No máximo, 100% (cem por cento) do Patrimônio Líquido investido em operações com  derivativos nos quais, inexistindo contraparte central, se tenha como contraparte o  Gestor, e/ou suas partes relacionadas, observado ainda o disposto no item Error!  Reference source not found.;</a:t>
            </a:r>
          </a:p>
          <a:p>
            <a:r>
              <a:t> (iv) No máximo, 100% (cem por cento) do Patrimônio Líquido em cotas de uma mesma  classe;</a:t>
            </a:r>
          </a:p>
          <a:p>
            <a:r>
              <a:t> (v) É vedada a aquisição de precatórios f ederais.</a:t>
            </a:r>
          </a:p>
          <a:p>
            <a:r>
              <a:t> (vi) No máximo, 49% (quarenta e nove por cento) do Patrimônio Líquido em Ativos  Imobiliários do Agronegócio;</a:t>
            </a:r>
          </a:p>
          <a:p>
            <a:r>
              <a:t> (vii) No máximo, 49% (quarenta e nove por cento) do Patrimônio Líquido em Participações  do Agronegócio;</a:t>
            </a:r>
          </a:p>
          <a:p>
            <a:r>
              <a:t> (viii) No máximo, 49% (quarenta e nove por cento) do Patrimônio Líquido em Ativos  Financeiros do Agronegócio; e</a:t>
            </a:r>
          </a:p>
          <a:p>
            <a:r>
              <a:t> (ix) No máximo, 49% (quarenta e nove por cento) do Patrimônio Líquido em Ativos em Geral  do Agronegócio;</a:t>
            </a:r>
          </a:p>
          <a:p>
            <a:r>
              <a:t> Ativos Recuperados</a:t>
            </a:r>
          </a:p>
          <a:p>
            <a:r>
              <a:t>CNPJ 62696791000193 · Partes relacionadas e conflitos · Regulamento · ID 1143317 · 2026-03-20 · versão 1 · p. 11 · 4.8 · https://fnet.bmfbovespa.com.br/fnet/publico/visualizarDocumento?id=1143317</a:t>
            </a:r>
          </a:p>
          <a:p>
            <a:r>
              <a:t>CNPJ 62696791000193 · Partes relacionadas e conflitos · Excerto da fonte:</a:t>
            </a:r>
          </a:p>
          <a:p>
            <a:r>
              <a:t>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relacionadas ao Gestor.</a:t>
            </a:r>
          </a:p>
          <a:p>
            <a:r>
              <a:t>CNPJ 62696791000193 · Partes relacionadas e conflitos · Regulamento · ID 1143317 · 2026-03-20 · versão 1 · p. 14 · 4.21.1 · https://fnet.bmfbovespa.com.br/fnet/publico/visualizarDocumento?id=1143317</a:t>
            </a:r>
          </a:p>
          <a:p>
            <a:r>
              <a:t>CNPJ 62696791000193 · Partes relacionadas e conflitos · Excerto da fonte:</a:t>
            </a:r>
          </a:p>
          <a:p>
            <a:r>
              <a:t>4.21.1 Sem prejuízo do disposto acima, poderá ser contratado terceiro especializado para o  gerenciamento das obras, para controle dos desembolsos, conforme medições durante a etapa  de desenvolvimento e construção dos Ativos Imobiliários do Agronegócio, sendo certo que,  caso haja a contratação de terceiros em situação de conflito de interesses, deverá ser aprovado  em assembleia de Cotistas.</a:t>
            </a:r>
          </a:p>
          <a:p>
            <a:r>
              <a:t>CNPJ 62696791000193 · Partes relacionadas e conflitos · Condição: Documentos atuais selecionados no inventário por categoria/escopo; a data documental isolada não comprova vigência jurídica.</a:t>
            </a:r>
          </a:p>
          <a:p>
            <a:r>
              <a:t>CNPJ 62696791000193 · Partes relacionadas e conflitos · Versão e prevalência: Documentos atuais selecionados no inventário por categoria/escopo; a data documental isolada não comprova vigência jurídica.</a:t>
            </a:r>
          </a:p>
          <a:p>
            <a:r>
              <a:t>CNPJ 55563624000109 · Partes relacionadas e conflitos · Regulamento · ID 1192614 · 2026-04-30 · versão 1 · p. 13 · 4.12.1 · https://fnet.bmfbovespa.com.br/fnet/publico/visualizarDocumento?id=1192614</a:t>
            </a:r>
          </a:p>
          <a:p>
            <a:r>
              <a:t>CNPJ 55563624000109 · Partes relacionadas e conflitos · Excerto da fonte:</a:t>
            </a:r>
          </a:p>
          <a:p>
            <a:r>
              <a:t>4.12.1 A Classe poderá ter até 100% (cem por cento) do Patrimônio Líquido representado por Cotas da Classe  Investida administrados pelo ADMINISTRADOR, e geridos ou cogeridos pelo GESTOR e/ou suas partes  relacionadas.</a:t>
            </a:r>
          </a:p>
          <a:p>
            <a:r>
              <a:t> Revolvência da Carteira</a:t>
            </a:r>
          </a:p>
          <a:p>
            <a:r>
              <a:t>CNPJ 55563624000109 · Partes relacionadas e conflitos · Regulamento · ID 1192614 · 2026-04-30 · versão 1 · p. 28 · 13.2 · https://fnet.bmfbovespa.com.br/fnet/publico/visualizarDocumento?id=1192614</a:t>
            </a:r>
          </a:p>
          <a:p>
            <a:r>
              <a:t>CNPJ 55563624000109 · Partes relacionadas e conflitos · Excerto da fonte:</a:t>
            </a:r>
          </a:p>
          <a:p>
            <a:r>
              <a:t>13.2 Em condições ordinárias, as Cotas da Classe Investida não pagarão remuneração aos prestadores de serviços  essenciais da Classe Investida, nos termos de seu regulamento. Não obstante, em cenário extraordinário  conforme descrito no item 15.1.1 (iii), e para fins de atendimento ao artigo 98 da parte geral da Resolução CVM  175, a taxa máxima de administração corresponderá ao valor da Taxa Mínima de Administração acrescida de até  0,10% (dez centésimos por cento) ao ano incidente sobre o patrimônio líquido da Classe Investida,  compreendendo a taxa de administração da Classe Investida geridos por partes relacionadas ao GESTOR, cujas  cotas não estão admitidas à negociação em mercado organizado, conforme prevista no regulamento da Classe  Investida (“Taxa Máxima de Administração” e, quando referida em conjunto com a Taxa Mínima de  Administração, como “Taxa de Administração”). Caso a taxa de administração da Classe Investida não se  enquadre no disposto acima, estará disposta no regulamento da Classe Investida.</a:t>
            </a:r>
          </a:p>
          <a:p>
            <a:r>
              <a:t>CNPJ 55563624000109 · Partes relacionadas e conflitos · Regulamento · ID 1192614 · 2026-04-30 · versão 1 · p. 37 · https://fnet.bmfbovespa.com.br/fnet/publico/visualizarDocumento?id=1192614</a:t>
            </a:r>
          </a:p>
          <a:p>
            <a:r>
              <a:t>CNPJ 55563624000109 · Partes relacionadas e conflitos · Excerto da fonte:</a:t>
            </a:r>
          </a:p>
          <a:p>
            <a:r>
              <a:t>(ix) Possibilidade de conflito de interesses. As Cotas poderão ser adquiridas por investidores que  sejam partes relacionadas à Classe Investida ou aos prestadores de serviços da Classe Investida. Nessa  hipótese, poderá haver situações de conflito de interesses entre os interesses desses investidores e o  interesse dos demais Cotistas, podendo qualquer desses investidores, inclusive, aprovar deliberações  contrárias aos interesses dos demais Cotistas caso sejam titulares da maioria das Cotas presentes às  Assembleias de Cotistas.</a:t>
            </a:r>
          </a:p>
          <a:p>
            <a:r>
              <a:t>CNPJ 55563624000109 · Partes relacionadas e conflitos · Condição: Documentos atuais selecionados no inventário por categoria/escopo; a data documental isolada não comprova vigência jurídica.</a:t>
            </a:r>
          </a:p>
          <a:p>
            <a:r>
              <a:t>CNPJ 55563624000109 · Partes relacionadas e conflitos · Versão e prevalência: Documentos atuais selecionados no inventário por categoria/escopo; a data documental isolada não comprova vigência jurídica.</a:t>
            </a:r>
          </a:p>
          <a:p>
            <a:r>
              <a:t>CNPJ 55563624000109 · Partes relacionadas e conflitos · Resumo do histórico: {"count": 2, "dates": ["2025-01-31", "2026-01-31"], "document_count": 2, "sources": [{"document_id": "1178840", "title": "Demonstrações Financeiras", "reference_date": "2026-01-31", "version": "1", "page": 23, "url": "https://fnet.bmfbovespa.com.br/fnet/publico/visualizarDocumento?id=1178840", "sha256": "c458e98664c5c907ddb5a05a94b120bed4e05295b2bfc420f5ba69af0a229abe"}, {"document_id": "891861", "title": "Demonstrações Financeiras", "reference_date": "2025-01-31", "version": "1", "page": 23, "url": "https://fnet.bmfbovespa.com.br/fnet/publico/visualizarDocumento?id=891861", "sha256": "e9cb9e6ddbe505fe068cfcac33605165a98313489de0d3ce6d4d238263c3f3e7"}], "reference": {"path": "history/55563624000109.json", "criterion_id": "related_parties", "total_count": 2, "preview_count": 2, "full_text_deferred": true, "sha256": "7835d573fb58a3c19adf5b8ecc2aee2bdbb9a88f7a0c0209b5f262b64c7522e3"}}</a:t>
            </a:r>
          </a:p>
          <a:p>
            <a:r>
              <a:t>CNPJ 62552447000120 · Partes relacionadas e conflitos · Regulamento · ID 1200623 · 2026-05-21 · versão 1 · p. 14 · 4.10 · https://fnet.bmfbovespa.com.br/fnet/publico/visualizarDocumento?id=1200623</a:t>
            </a:r>
          </a:p>
          <a:p>
            <a:r>
              <a:t>CNPJ 62552447000120 · Partes relacionadas e conflitos · Excerto da fonte:</a:t>
            </a:r>
          </a:p>
          <a:p>
            <a:r>
              <a:t>4.10 Nos termos do art. 45, §7º, inciso II, do Anexo Normativo II, a Classe poderá ter até 100% (cem por  cento) de seu Patrimônio Líquido alocado em Direitos Creditórios, derivativos, observado o disposto  abaixo,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62552447000120 · Partes relacionadas e conflitos · Regulamento · ID 1200623 · 2026-05-21 · versão 1 · p. 14 · 4.11 · https://fnet.bmfbovespa.com.br/fnet/publico/visualizarDocumento?id=1200623</a:t>
            </a:r>
          </a:p>
          <a:p>
            <a:r>
              <a:t>CNPJ 62552447000120 · Partes relacionadas e conflitos · Excerto da fonte:</a:t>
            </a:r>
          </a:p>
          <a:p>
            <a:r>
              <a:t>4.11 Sem prejuízo de limites mais restritivos definidos neste Regulamento, o Gestor deverá observar, ainda,  os seguintes limites de concentração para a composição da Carteira:</a:t>
            </a:r>
          </a:p>
          <a:p>
            <a:r>
              <a:t> (i) Até 100% (cem por cento) da parcela do Patrimônio Líquido investida em Direitos  Creditórios poderão ser alocados em Direitos Creditórios originados ou cedidos pelo  Administrador, Gestor e/ou suas partes relacionadas, tal como definidas pelas regras  contábeis que tratam desse assunto . A Classe também poderá ceder Direitos  Creditórios a qualquer das pessoas, f undos de investimento ou entidades ref eridas  acima, desde que a entidade registradora e o Custodiante dos Direitos Creditórios não  sejam partes relacionadas ao Originador ou Endossante;</a:t>
            </a:r>
          </a:p>
          <a:p>
            <a:r>
              <a:t> (ii) Até 100% (cem por cento) da parcela do Patrimônio Líquido investida em Ativos  Financeiros poderão ser alocados em Ativos Financeiros de emissão ou que envolvam  retenção de risco por parte do Administrador, Gestor e/ou suas partes relacionadas; e</a:t>
            </a:r>
          </a:p>
          <a:p>
            <a:r>
              <a:t> (iii) Até 100% (cem por cento) da parcela do Patrimônio Líquido investida em operações  com derivativos poderão ser alocados em operações com derivativos nas quais,  inexistindo contraparte central, se tenha como contraparte o Gestor e/ou suas partes  relacionadas.</a:t>
            </a:r>
          </a:p>
          <a:p>
            <a:r>
              <a:t>CNPJ 62552447000120 · Partes relacionadas e conflitos · Regulamento · ID 1200623 · 2026-05-21 · versão 1 · p. 15 · 4.18 · https://fnet.bmfbovespa.com.br/fnet/publico/visualizarDocumento?id=1200623</a:t>
            </a:r>
          </a:p>
          <a:p>
            <a:r>
              <a:t>CNPJ 62552447000120 · Partes relacionadas e conflitos · Excerto da fonte:</a:t>
            </a:r>
          </a:p>
          <a:p>
            <a:r>
              <a:t>4.18 Ainda que integrem a Carteira, os Ativos Recuperados não serão, sob qualquer hipótese, adquiridos  como parte da Política de Investimento, de forma que serão de sua propriedade exclusivamente, não  devendo, portanto, ser contabilizados para f ins de enquadramento da Classe.</a:t>
            </a:r>
          </a:p>
          <a:p>
            <a:r>
              <a:t>Regras, procedimentos e limites para efetuar qualquer modalidade de transferência dos Direitos Creditórios, incluindo, sem limitação, endosso (“Transferência”) para o Endossante e suas partes relacionadas</a:t>
            </a:r>
          </a:p>
          <a:p>
            <a:r>
              <a:t>CNPJ 62552447000120 · Partes relacionadas e conflitos · Condição: Documentos atuais selecionados no inventário por categoria/escopo; a data documental isolada não comprova vigência jurídica.</a:t>
            </a:r>
          </a:p>
          <a:p>
            <a:r>
              <a:t>CNPJ 62552447000120 · Partes relacionadas e conflitos · Versão e prevalência: Documentos atuais selecionados no inventário por categoria/escopo; a data documental isolada não comprova vigência jurídica.</a:t>
            </a:r>
          </a:p>
          <a:p>
            <a:r>
              <a:t>CNPJ 63953620000165 · Partes relacionadas e conflitos · Anexo ao Regulamento · ID 1222863 · 2026-06-02 · versão 1 · p. 6 · 4.14 · https://fnet.bmfbovespa.com.br/fnet/publico/visualizarDocumento?id=1222863</a:t>
            </a:r>
          </a:p>
          <a:p>
            <a:r>
              <a:t>CNPJ 63953620000165 · Partes relacionadas e conflitos · Excerto da fonte:</a:t>
            </a:r>
          </a:p>
          <a:p>
            <a:r>
              <a:t>4.14 Nos termos do Art. 45, §7º, inciso II, do Anexo Normativo II da Resolução CVM 175, a Classe poderá ter até 100%  (cem por cento) de seu Patrimônio Líquido alocado em Direitos Creditórios, derivativos, observado o disposto  neste Anexo I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63953620000165 · Partes relacionadas e conflitos · Anexo ao Regulamento · ID 1222863 · 2026-06-02 · versão 1 · p. 8 · 4.21 · https://fnet.bmfbovespa.com.br/fnet/publico/visualizarDocumento?id=1222863</a:t>
            </a:r>
          </a:p>
          <a:p>
            <a:r>
              <a:t>CNPJ 63953620000165 · Partes relacionadas e conflitos · Excerto da fonte:</a:t>
            </a:r>
          </a:p>
          <a:p>
            <a:r>
              <a:t>4.21 Ainda que integrem a carteira da Classe, os Ativos Recuperados não serão, sob qualquer hipótese, adquiridos  como parte da Política de Investimento da Classe, de forma que serão de sua propriedade exclusivamente, não  devendo, portanto, ser contabilizados para fins de enquadramento da Classe.</a:t>
            </a:r>
          </a:p>
          <a:p>
            <a:r>
              <a:t> Regras, procedimentos e limites para efetuar o Endosso de Direitos Creditórios Crédito Consignado para o Endossante e  suas partes relacionadas</a:t>
            </a:r>
          </a:p>
          <a:p>
            <a:r>
              <a:t>CNPJ 63953620000165 · Partes relacionadas e conflitos · Anexo ao Regulamento · ID 1222863 · 2026-06-02 · versão 1 · p. 7 · https://fnet.bmfbovespa.com.br/fnet/publico/visualizarDocumento?id=1222863</a:t>
            </a:r>
          </a:p>
          <a:p>
            <a:r>
              <a:t>CNPJ 63953620000165 · Partes relacionadas e conflitos · Excerto da fonte:</a:t>
            </a:r>
          </a:p>
          <a:p>
            <a:r>
              <a:t>Anexo I ao Regulamento  CLASSE CONSIGNADO PRIVADO DO MT GLOBAL FUNDO DE INVESTIMENTO EM DIREITOS  CREDITÓRIOS RESPONSABILIDADE LIMITADA</a:t>
            </a:r>
          </a:p>
          <a:p>
            <a:r>
              <a:t> (i)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 (ii) No máximo, 50% (cinquenta por cento) do Patrimônio Líquido investido em Ativos Financeiros  de Liquidez de emissão ou que envolvam retenção de risco por parte do Administrador, Gestor,  e/ou suas partes relacionadas, observado ainda o disposto acima;</a:t>
            </a:r>
          </a:p>
          <a:p>
            <a:r>
              <a:t> (iii) No máximo, 100% (cem por cento) do Patrimônio Líquido investido em operações com  derivativos nos quais, inexistindo contraparte central, se tenha como contraparte o Gestor,  Consultora e/ou suas partes relacionadas, observado ainda o disposto acima;</a:t>
            </a:r>
          </a:p>
          <a:p>
            <a:r>
              <a:t> (iv) A Classe poderá investir até 100% (cem por cento) de seu Patrimônio Líquido em Direitos  Creditórios Não-Padronizados;</a:t>
            </a:r>
          </a:p>
          <a:p>
            <a:r>
              <a:t> (v) É vedada a aquisição de precatórios federais.</a:t>
            </a:r>
          </a:p>
          <a:p>
            <a:r>
              <a:t>CNPJ 63953620000165 · Partes relacionadas e conflitos · Condição: Documentos atuais selecionados no inventário por categoria/escopo; a data documental isolada não comprova vigência jurídica.</a:t>
            </a:r>
          </a:p>
          <a:p>
            <a:r>
              <a:t>CNPJ 63953620000165 · Partes relacionadas e conflitos · Versão e prevalência: Documentos atuais selecionados no inventário por categoria/escopo; a data documental isolada não comprova vigência jurídica.</a:t>
            </a:r>
          </a:p>
          <a:p>
            <a:r>
              <a:t>CNPJ 54871427000194 · Histórico de alterações materiais · Instrumento Particular de Alteração do Regulamento · ID 670690 · 28/05/2024 · versão Instrumento Particular de Alteração do Regulamento — referência 28/05/2024 · p. 1 · AGC, 4.1–4.2 · https://fnet.bmfbovespa.com.br/fnet/publico/visualizarDocumento?id=670690</a:t>
            </a:r>
          </a:p>
          <a:p>
            <a:r>
              <a:t>CNPJ 54871427000194 · Histórico de alterações materiais · Excerto da fonte:</a:t>
            </a:r>
          </a:p>
          <a:p>
            <a:r>
              <a:t>4.1. A alteração integral do anexo da Classe Única, que compõe o regulamento do Fundo (“Anexo da Classe Única” e “Regulamento”) e seus complementos, para de f orma a alterar a Política de Investimentos da Classe para aquisição de direitos creditórios representados por Certif icados de Cédulas de Crédito Bancário (“CCCBs” e “Direitos Creditórios”), bem como refletir os novos critérios de elegibilidade para aquisição dos Direitos Creditórios, os documentos comprobatórios do lastro e f atores de risco aplicáveis. 4.2. Tendo em vista a aprovação dos itens. acima, deliberaram por aprovar o novo Regulamento Consolidado, que vigorará na forma do Anexo I à presente Ata, o qual terá efeitos retroativos a abertura de 28 de maio de 2024. 4.3. Por f im, por aprovar a Administradora a adotar todas as medidas necessárias para implementação das deliberações acima. 5. ENCERRAMENTO Nada mais havendo a tratar, f oi a reunião encerrada. Rio de Janeiro, 28 de maio de 2024. Mesa: Diego Prado Tassiana Lima Presidente</a:t>
            </a:r>
          </a:p>
          <a:p>
            <a:r>
              <a:t>CNPJ 54871427000194 · Histórico de alterações materiais · Regulamento · ID 670691 · 28/04/2024 · versão Regulamento — referência 28/04/2024 · p. 9 · Regulamento 670691, Anexo I, 4.2 · https://fnet.bmfbovespa.com.br/fnet/publico/visualizarDocumento?id=670691</a:t>
            </a:r>
          </a:p>
          <a:p>
            <a:r>
              <a:t>CNPJ 54871427000194 · Histórico de alterações materiais · Excerto da fonte:</a:t>
            </a:r>
          </a:p>
          <a:p>
            <a:r>
              <a:t>4.2 Os Direitos Creditórios representados por Certif icados de Cédulas de Crédito Bancário (“CCCBs”), representativos de um agrupamento de determinadas CCBs, originadas no âmbito de operações de empréstimos pessoais concedidos por um Endossante a um Devedor, devidamente f ormalizadas por via eletrônica de acordo com a legislação aplicável, segundo os critérios de composição e diversificação estabelecidos pela regulamentação aplicável e neste Regulamento. 4.2.1 Cada Endossante deve ter celebrado convênio com órgão consignante, previamente à cessão de Direitos Creditórios à Classe, que contemplam a obrigação da manutenção da consignação/averbação junto ao novo órgão, de modo a possibilitar o pagamento dos Direitos Creditórios por meio de consignação em f olha de pagamento ou de benef ício . 4.3 Os pagamentos relativos aos Direitos Creditórios de titularidade da Classe serão realizados mediante consignação em folha, débito em conta de titularidade dos Devedores e pagamentos de sinistros, para pagamento dos valores correspondentes às parcelas das CCBs representadas pelos CCCBs de titularidade da Classe, os quais serão conciliados e repassados pelo Endossan</a:t>
            </a:r>
          </a:p>
          <a:p>
            <a:r>
              <a:t>CNPJ 54871427000194 · Histórico de alterações materiais · Condição: A classificação Fundos Net do documento 670690 é “regulamento”, mas seu conteúdo é uma AGC. A divergência de datas impede usar a referência do 670691 como prova autônoma de início de vigência.</a:t>
            </a:r>
          </a:p>
          <a:p>
            <a:r>
              <a:t>CNPJ 54871427000194 · Histórico de alterações materiais · Motivo: Não localizada uma cláusula material para este critério nos textos identificados e processados. A ausência de resultado não comprova inexistência da regra.</a:t>
            </a:r>
          </a:p>
          <a:p>
            <a:r>
              <a:t>CNPJ 54871427000194 · Histórico de alterações materiais · Versão e prevalência: Leitura específica das cláusulas indicadas; condições e conflitos preservados. Seleção documental atual não comprova vigência jurídica por data isolada.</a:t>
            </a:r>
          </a:p>
          <a:p>
            <a:r>
              <a:t>CNPJ 60010416000112 · Histórico de alterações materiais · Demonstrações Financeiras - Fusão, cisão e incorporação · ID 1298690 · 2026-05-08 · versão 1 · p. 30 · https://fnet.bmfbovespa.com.br/fnet/publico/visualizarDocumento?id=1298690</a:t>
            </a:r>
          </a:p>
          <a:p>
            <a:r>
              <a:t>CNPJ 60010416000112 · Histórico de alterações materiais · Excerto da fonte:</a:t>
            </a:r>
          </a:p>
          <a:p>
            <a:r>
              <a:t>Durante o período de investimento, a Administradora poderá deliberar por realizar novas  emissões de Cotas Seniores, sem a necessidade de aprovação em Assembleia Especial de  Cotistas ou alteração do Regulamento, limitadas ao montante máximo de R$ 1.000.000 (um  bilhão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seniores emitidas não sejam superiores aos  prazos de vencimento da primeira emissão.</a:t>
            </a:r>
          </a:p>
          <a:p>
            <a:r>
              <a:t>CNPJ 60010416000112 · Histórico de alterações materiais · Demonstrações Financeiras - Fusão, cisão e incorporação · ID 1298690 · 2026-05-08 · versão 1 · p. 30 · https://fnet.bmfbovespa.com.br/fnet/publico/visualizarDocumento?id=1298690</a:t>
            </a:r>
          </a:p>
          <a:p>
            <a:r>
              <a:t>CNPJ 60010416000112 · Histórico de alterações materiais · Excerto da fonte:</a:t>
            </a:r>
          </a:p>
          <a:p>
            <a:r>
              <a:t>Durante o período de investimento, a Administradora poderá deliberar por realizar novas  emissões de cotas subordinadas, sem a necessidade de aprovação em Assembleia Especial  de Cotistas ou alteração do Regulamento, limitadas ao montante máximo de R$ 50.000  (cinquenta milhões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subordinadas emitidas não sejam  superiores aos prazos de vencimento da primeira emissão.</a:t>
            </a:r>
          </a:p>
          <a:p>
            <a:r>
              <a:t>CNPJ 60010416000112 · Histórico de alterações materiais · Condição: Documentos atuais selecionados no inventário por categoria/escopo; a data documental isolada não comprova vigência jurídica.</a:t>
            </a:r>
          </a:p>
          <a:p>
            <a:r>
              <a:t>CNPJ 60010416000112 · Histórico de alterações materiais · Versão e prevalência: Documentos atuais selecionados no inventário por categoria/escopo; a data documental isolada não comprova vigência jurídica.</a:t>
            </a:r>
          </a:p>
          <a:p>
            <a:r>
              <a:t>CNPJ 60010416000112 · Histórico de alterações materiais · Resumo do histórico: {"count": 5, "dates": ["2025-11-30", "2026-03-18", "2026-04-16"], "document_count": 3, "sources": [{"document_id": "1282181", "title": "Demonstrações Financeiras - Fusão, cisão e incorporação", "reference_date": "2026-04-16", "version": "1", "page": 32, "url": "https://fnet.bmfbovespa.com.br/fnet/publico/visualizarDocumento?id=1282181", "sha256": "b1c6566e43a00bcd00c8a7f30c77b7f86e351bd8e355bbea113f46d1dafda703"}, {"document_id": "1224477", "title": "Demonstrações Financeiras - Fusão, cisão e incorporação", "reference_date": "2026-03-18", "version": "1", "page": 32, "url": "https://fnet.bmfbovespa.com.br/fnet/publico/visualizarDocumento?id=1224477", "sha256": "0751bf0a75bc3b44c2748f5000226665c6ec6698a90c4dc6170b4e6c187759ae"}, {"document_id": "1126154", "title": "Demonstrações Financeiras", "reference_date": "2025-11-30", "version": "1", "page": 32, "url": "https://fnet.bmfbovespa.com.br/fnet/publico/visualizarDocumento?id=1126154", "sha256": "a01e7ccf88c548f12c95cba8526d7efbef6b585c112cd4668eca781c292090b0"}], "reference": {"path": "history/60010416000112.json", "criterion_id": "changes", "total_count": 5, "preview_count": 3, "full_text_deferred": true, "sha256": "8e2bd813f4c51cf01f6bfaad164bafe69d2bbb192f753eac92da3a01c2e63046"}}</a:t>
            </a:r>
          </a:p>
          <a:p>
            <a:r>
              <a:t>CNPJ 62696791000193 · Histórico de alterações materiais · AGE · ID 1143319 · 20/03/2026 10:00 · versão AGE — referência 20/03/2026 10:00 · p. 1 · AGC, 4.1(a)–(c) · https://fnet.bmfbovespa.com.br/fnet/publico/visualizarDocumento?id=1143319</a:t>
            </a:r>
          </a:p>
          <a:p>
            <a:r>
              <a:t>CNPJ 62696791000193 · Histórico de alterações materiais · Excerto da fonte:</a:t>
            </a:r>
          </a:p>
          <a:p>
            <a:r>
              <a:t>4.1. Aprovar a transformação do Fundo, bem como de sua Classe única, em um fundo de investimento nas cadeias produtivas do agronegócio (“Transformação”), nos termos da parte geral e do Anexo Normativo VI da Resolução nº 175 da CVM, de 23 de dezembro de 2022, conforme alterada (“Resolução CVM 175”). a. Aprovar a alteração da denominação do Fundo, que passará a vigorar como BTG PACTUAL CERES CONFINA FUNDO DE INVESTIMENTO NAS CADEIAS PRODUTIVAS DO AGRONEGÓCIO RESPONSABILIDADE LIMITADA, e de sua Classe única, que passará a vigorar como CLASSE ÚNICA DO BTG PACTUAL CERES CONFINA FUNDO DE INVESTIMENTO NAS CADEIAS PRODUTIVAS DO AGRONEGÓCIO RESPONSABILIDADE LIMITADA (“Classe”); b. Aprovar a reforma integral do Regulamento do Fundo, bem como do Anexo descritivo da Classe, para realizar todos os ajustes necessários à implementação da Transformação, incluindo, mas não se limitando, a política de investimentos, o regime tributário e os fatores de risco aplicáveis, conforme itens abaixo; c. Aprovar a alteração do quadro de características gerais do Fundo, considerando a contratação do Cogestor pelo Gestor, nos termos do artigo 52, II, da parte geral da Resolução CVM 175 e no co</a:t>
            </a:r>
          </a:p>
          <a:p>
            <a:r>
              <a:t>CNPJ 62696791000193 · Histórico de alterações materiais · AGE · ID 1143319 · 20/03/2026 10:00 · versão AGE — referência 20/03/2026 10:00 · p. 3 · AGC, 4.1(j)–(k) · https://fnet.bmfbovespa.com.br/fnet/publico/visualizarDocumento?id=1143319</a:t>
            </a:r>
          </a:p>
          <a:p>
            <a:r>
              <a:t>CNPJ 62696791000193 · Histórico de alterações materiais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Histórico de alterações materiais · Instrumento Particular de Emissão de Cotas · ID 1148821 · 27/03/2026 · versão Instrumento Particular de Emissão de Cotas — referência 27/03/2026 · p. 1 · Deliberação Conjunta27/03/2026, item1 · https://fnet.bmfbovespa.com.br/fnet/publico/visualizarDocumento?id=1148821</a:t>
            </a:r>
          </a:p>
          <a:p>
            <a:r>
              <a:t>CNPJ 62696791000193 · Histórico de alterações materiais · Excerto da fonte:</a:t>
            </a:r>
          </a:p>
          <a:p>
            <a:r>
              <a:t>1. Aprovar a 2ª (segunda) emissão da Subclasse Subordinada Júnior da Classe, composta por até 20.000 (vinte mil) Cotas Subordinadas Júnior, com valor nominal unitário de R$ 1.000,00 (mil reais), perfazendo o montante total de R$ 20.000.000,00 (vinte milhões de reais), as quais serão objeto de colocação privada, de acordo com os termos e condições definidos no Apêndice da Subclasse Subordinada Júnior constante do Anexo I Regulamento e descritas abaixo (“2ª Emissão da Subclasse Subordinada Júnior”): a) Rito: as Cotas Subordinadas Júnior objeto da 2ª Emissão da Subclasse Subordinada Júnior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Subordinada Júnior na data de integralização, calculado na forma prevista no respectivo Apêndice; BTG Pactual 1 SAC: 0800 772 28 27 - Ouvidoria: 0800 722 00 48 - btgpactual.com</a:t>
            </a:r>
          </a:p>
          <a:p>
            <a:r>
              <a:t>CNPJ 62696791000193 · Histórico de alterações materiais · Instrumento Particular de Emissão de Cotas · ID 1148821 · 27/03/2026 · versão Instrumento Particular de Emissão de Cotas — referência 27/03/2026 · p. 2 · Deliberação Conjunta, itens2–3 · https://fnet.bmfbovespa.com.br/fnet/publico/visualizarDocumento?id=1148821</a:t>
            </a:r>
          </a:p>
          <a:p>
            <a:r>
              <a:t>CNPJ 62696791000193 · Histórico de alterações materiais · Excerto da fonte:</a:t>
            </a:r>
          </a:p>
          <a:p>
            <a:r>
              <a:t>2. Aprovar a 2ª (segunda) emissão da Subclasse Sênior da Classe, composta por até 150.000 (cento e cinquenta mil) Cotas Seniores, com valor nominal unitário de R$ 1.000,00 (mil reais), perfazendo o montante total de R$ 150.000.000,00 (cento e cinquenta milhões de reais), as quais serão objeto de colocação privada, de acordo com os termos e condições descritos no Apêndice da Subclasse Sênior constante do Anexo I Regulamento e descritas abaixo (“2ª Emissão da Subclasse Sênior”): a) Rito: as Cotas Seniores objeto da 2ª Emissão da Subclasse Sênior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Sênior na data de integralização, calculado na forma prevista no respectivo Apêndice; d) Forma de Integralização: as Cotas Seniores serão integralizadas mediante chamadas de capital, junto ao seu respectivo agente de custódia e/ou da Administradora na qualidade de escriturador das cotas, nos termos d</a:t>
            </a:r>
          </a:p>
          <a:p>
            <a:r>
              <a:t>CNPJ 62696791000193 · Histórico de alterações materiais · Versão e prevalência: Leitura específica das cláusulas indicadas; condições e conflitos preservados. Seleção documental atual não comprova vigência jurídica por data isolada.</a:t>
            </a:r>
          </a:p>
          <a:p>
            <a:r>
              <a:t>CNPJ 55563624000109 · Histórico de alterações materiais · Motivo: Não localizada uma cláusula material para este critério nos textos identificados e processados. A ausência de resultado não comprova inexistência da regra.</a:t>
            </a:r>
          </a:p>
          <a:p>
            <a:r>
              <a:t>CNPJ 62552447000120 · Histórico de alterações materiais · Ato do Administrador · ID 1200625 · 2026-05-21 · versão Ato21/05/2026 · p. 1 · itens1–2 · https://fnet.bmfbovespa.com.br/fnet/publico/visualizarDocumento?id=1200625</a:t>
            </a:r>
          </a:p>
          <a:p>
            <a:r>
              <a:t>CNPJ 62552447000120 · Histórico de alterações materiais · Excerto da fonte:</a:t>
            </a:r>
          </a:p>
          <a:p>
            <a:r>
              <a:t>Ressalta-se que não haverá qualquer alteração nos valores pagos pelos cotistas... Aprovar o novo Anexo I e Regulamento consolidados</a:t>
            </a:r>
          </a:p>
          <a:p>
            <a:r>
              <a:t>CNPJ 62552447000120 · Histórico de alterações materiais · Motivo: Não localizada uma cláusula material para este critério nos textos identificados e processados. A ausência de resultado não comprova inexistência da regra.</a:t>
            </a:r>
          </a:p>
          <a:p>
            <a:r>
              <a:t>CNPJ 62552447000120 · Histórico de alterações materiais · Versão e prevalência: Leitura específica das cláusulas indicadas; condições e conflitos preservados. Seleção documental atual não comprova vigência jurídica por data isolada.</a:t>
            </a:r>
          </a:p>
          <a:p>
            <a:r>
              <a:t>CNPJ 63953620000165 · Histórico de alterações materiais · Anexo ao Regulamento · ID 1222863 · 2026-06-02 · versão 1 · p. 19 · 12.6 · https://fnet.bmfbovespa.com.br/fnet/publico/visualizarDocumento?id=1222863</a:t>
            </a:r>
          </a:p>
          <a:p>
            <a:r>
              <a:t>CNPJ 63953620000165 · Histórico de alterações materiais · Excerto da fonte:</a:t>
            </a:r>
          </a:p>
          <a:p>
            <a:r>
              <a:t>12.6 A Classe contratou a Tudo Serviços S.A., sociedade anônima, com sede no município de Fortaleza, Estado do Ceará,  na Avenida Senador Virgulo Távora, nº 303, Lojas 02, 03, 04, 05, 06 e 19, Meireles, CEP 60.170-265, inscrita no CNPJ  sob o nº 27.852.506/0001-85, cujos deveres, sem prejuízo daqueles estabelecidos neste Regulamento, no  “Contrato de Serviços de Retenção e Cobrança e Outras Avenças”, celebrado entre o Agente de  Retenção/Cobrança e a Classe (“Contrato de Serviços MT”) e no Contrato de Endosso, consistirão no  monitoramento e cobrança dos Direitos Creditórios Inadimplidos, observado o disposto neste Anexo I e na  regulamentação aplicável (“Agente de Retenção/Cobrança”):</a:t>
            </a:r>
          </a:p>
          <a:p>
            <a:r>
              <a:t> (i) caso aplicável, atuar na retenção (defesa) de operações de empréstimo consignado cujos Direitos  Creditórios sejam de titularidade da Classe, em caso de tentativa de transferência de tais operações de  empréstimo consignado por instituições proponentes, nos termos da Resolução CMN nº 5.057, em razão de  ofertas de portabilidade feitas por tais instituições proponentes, conforme informado pelo Endossante ou pelo  Custodiante ao Agente de Retenção/Cobrança, diariamente, de acordo com o Contrato de Endosso; sendo  que tal serviço deverá incluir, entre outras atividades auxiliares a ele relacionadas, a avaliação das ofertas de  portabilidade feitas pelas instituições proponentes, buscando, se for o caso, esclarecer as vantagens de não  recorrer à portabilidade, retendo a respectiva operação de empréstimo consignado em seus termos atuais;</a:t>
            </a:r>
          </a:p>
          <a:p>
            <a:r>
              <a:t> (ii) mediante inadimplemento de um Direito Creditório devido à indisponibilidade da margem de crédito do  Devedor, auxiliar o Endossante com o Processo de Reinicialização (conforme detalhado no Contrato de  Endosso) em relação ao respectivo Direito Creditório;</a:t>
            </a:r>
          </a:p>
          <a:p>
            <a:r>
              <a:t> (iii) manter e operar um serviço de atendimento ao consumidor - SAC e uma ouvidoria em conformidade  com os regulamentos aplicáveis, monitorar e resolver reclamações e solicitações de Devedores com  relação às operações de empréstimo consignado que dão origem aos Direitos Creditórios, em  conformidade com o Acordo de Parceria;</a:t>
            </a:r>
          </a:p>
          <a:p>
            <a:r>
              <a:t> (iv) realizar a cobrança dos Direitos Creditórios Inadimplidos;</a:t>
            </a:r>
          </a:p>
          <a:p>
            <a:r>
              <a:t> (v) auxiliar o Endossante na correção de qualquer irregularidade relevante identificada com relação à  originação dos Direitos Creditórios;</a:t>
            </a:r>
          </a:p>
          <a:p>
            <a:r>
              <a:t> (vi) realizar a renegociação junto aos Devedores de Direitos Creditórios Inadimplidos e, caso aplicável, celebrar  aditamento à CCB para refletir os novos termos, decorrentes da renegociação  CAPÍTULO 13 – REMUNERAÇÃO DOS PRESTADORES DE SERVIÇOS  0,05% (cinco centésimos por cento) ao ano, apropriada diariamente na base de 252  (duzentos e cinquenta e dois) Dias Úteis, e paga mensalmente até o 5º (quinto) Dia  Útil do mês subsequente ao mês que se refere, incidente sobre o Patrimônio Líquido  da Classe alocado em Direitos Creditórios Consignado Privado e/ou Ativos de  Liquidez MT, observada remuneração mínima mensal de R$ 2.500,00 (dois mil e  quinhentos reais), a ser corrigida anualmente, em janeiro de cada ano, pela variação  Taxa de Administração  positiva do Índice Geral de Preços – Mercado, divulgado pela Fundação Getúlio  Vargas (“Taxa de Administração” e “IGP-M”, respectivamente).</a:t>
            </a:r>
          </a:p>
          <a:p>
            <a:r>
              <a:t> Na hipótese de extinção do IGP-M, não divulgação ou impossibilidade de sua  utilização, será utilizado o Índice Geral de Preços – Disponibilidade Interna,  divulgado pela Fundação Getúlio Vargas, ou, na falta de ambos, pela variação do IPC  – Índice de Preços ao Consumidor, divulgado pela Fundação Instituto de Pesquisas</a:t>
            </a:r>
          </a:p>
          <a:p>
            <a:r>
              <a:t>CNPJ 63953620000165 · Histórico de alterações materiais · Condição: Documentos atuais selecionados no inventário por categoria/escopo; a data documental isolada não comprova vigência jurídica.</a:t>
            </a:r>
          </a:p>
          <a:p>
            <a:r>
              <a:t>CNPJ 63953620000165 · Histórico de alterações materiais · Versão e prevalência: Documentos atuais selecionados no inventário por categoria/escopo; a data documental isolada não comprova vigência jurídica.</a:t>
            </a:r>
          </a:p>
          <a:p>
            <a:r>
              <a:t>CNPJ 54871427000194 · Auditor independente e DFs · Demonstrações Financeiras - Fusão, cisão e incorporação · ID 1219522 · 2026-02-02 · versão 1 · p. 23 · https://fnet.bmfbovespa.com.br/fnet/publico/visualizarDocumento?id=1219522</a:t>
            </a:r>
          </a:p>
          <a:p>
            <a:r>
              <a:t>CNPJ 54871427000194 · Auditor independente e DFs · Excerto da fonte:</a:t>
            </a:r>
          </a:p>
          <a:p>
            <a:r>
              <a:t>x) Possibilidade de aquisição de Direitos Creditórios cedidos por Endossante e/ou devidos por  Devedores cujas demonstrações financeiras não sejam auditadas. A Classe, desde que sejam  respeitados os limites de concentração previstos no Regulamento, poderá manter a qualquer  tempo em sua Carteira, Direitos Creditórios cedidos por Endossante e/ou devidos por Devedores  cujas demonstrações financeiras não sejam auditadas por Auditor Independente registrado na</a:t>
            </a:r>
          </a:p>
          <a:p>
            <a:r>
              <a:t>CNPJ 54871427000194 · Auditor independente e DFs · Demonstrações Financeiras - Fusão, cisão e incorporação · ID 1219522 · 2026-02-02 · versão 1 · p. 2 · https://fnet.bmfbovespa.com.br/fnet/publico/visualizarDocumento?id=1219522</a:t>
            </a:r>
          </a:p>
          <a:p>
            <a:r>
              <a:t>CNPJ 54871427000194 · Auditor independente e DFs · Excerto da fonte:</a:t>
            </a:r>
          </a:p>
          <a:p>
            <a:r>
              <a:t>Classe Única de Responsabilidade Limitada do Consignado Delta Receivables I Fundo de Investimento em  Direitos Creditórios  Demonstrações financeiras em  2 de fevereiro de 2026 (data da incorporação da Classe)</a:t>
            </a:r>
          </a:p>
          <a:p>
            <a:r>
              <a:t>CNPJ 54871427000194 · Auditor independente e DFs · Demonstrações Financeiras - Fusão, cisão e incorporação · ID 1219522 · 2026-02-02 · versão 1 · p. 3 · https://fnet.bmfbovespa.com.br/fnet/publico/visualizarDocumento?id=1219522</a:t>
            </a:r>
          </a:p>
          <a:p>
            <a:r>
              <a:t>CNPJ 54871427000194 · Auditor independente e DFs · Excerto da fonte:</a:t>
            </a:r>
          </a:p>
          <a:p>
            <a:r>
              <a:t>Examinamos as demonstrações financeiras da Classe Única de Responsabilidade Limitada do  Consignado Delta Receivables I Fundo de Investimento em Direitos Creditórios (“Classe”),  administrada pela BTG Pactual Serviços Financeiros S.A. Distribuidora de Títulos e Valores Mobiliários  (“Administradora”), que compreendem a demonstração da posição financeira em 2 de fevereiro de  2026 e as respectivas demonstrações do resultado e do resultado abrangente, das evoluções do  patrimônio líquido e dos fluxos de caixa para o período de 1° de janeiro de 2026 (data de início do  exercício social da Classe) a 2 de fevereiro de 2026 (data da incorporação da Classe), bem como as  correspondentes notas explicativas, incluindo as políticas contábeis materiais e outras informações  elucidativas.</a:t>
            </a:r>
          </a:p>
          <a:p>
            <a:r>
              <a:t> Em nossa opinião, as demonstrações financeiras acima referidas apresentam adequadamente, em  todos os aspectos relevantes, a posição patrimonial e financeira da Classe Única de Responsabilidade  Limitada do Consignado Delta Receivables I Fundo de Investimento em Direitos Creditórios em 2 de  fevereiro de 2026 e o desempenho de suas operações e os seus fluxos de caixa para o período de 1°  de janeiro de 2026 a 2 de fevereiro de 2026, de acordo com as práticas contábeis adotadas no Brasil  aplicáveis aos fundos de investimento em direitos creditórios.</a:t>
            </a:r>
          </a:p>
          <a:p>
            <a:r>
              <a:t>CNPJ 54871427000194 · Auditor independente e DFs · Condição: Documentos atuais selecionados no inventário por categoria/escopo; a data documental isolada não comprova vigência jurídica.</a:t>
            </a:r>
          </a:p>
          <a:p>
            <a:r>
              <a:t>CNPJ 54871427000194 · Auditor independente e DFs · Versão e prevalência: Documentos atuais selecionados no inventário por categoria/escopo; a data documental isolada não comprova vigência jurídica.</a:t>
            </a:r>
          </a:p>
          <a:p>
            <a:r>
              <a:t>CNPJ 54871427000194 · Auditor independente e DFs · Resumo do histórico: {"count": 6, "dates": ["2025-01-01", "2025-04-15", "2025-12-31"], "document_count": 3, "sources": [{"document_id": "1151805", "title": "Demonstrações Financeiras", "reference_date": "2025-12-31", "version": "1", "page": 23, "url": "https://fnet.bmfbovespa.com.br/fnet/publico/visualizarDocumento?id=1151805", "sha256": "f1cea70b152968bf96ef9221b27225953cb20aeef487b2798db3c25e11b528d4"}, {"document_id": "883217", "title": "AGO", "reference_date": "2025-04-15", "version": "1", "page": 1, "url": "https://fnet.bmfbovespa.com.br/fnet/publico/visualizarDocumento?id=883217", "sha256": "233467aa4aa6265d253b610668cde19344ec99af4adf4df934c6a1bd88b9a044"}, {"document_id": "869529", "title": "Demonstrações Financeiras", "reference_date": "2025-01-01", "version": "1", "page": 23, "url": "https://fnet.bmfbovespa.com.br/fnet/publico/visualizarDocumento?id=869529", "sha256": "9a93a9369ac8efdbc54ff8fcee3ccac3abf88edab4807b9323d3852450771b2a"}], "reference": {"path": "history/54871427000194.json", "criterion_id": "audit", "total_count": 6, "preview_count": 3, "full_text_deferred": true, "sha256": "35d7cd99be50c7287c9fb675cf4f2e736002315295a225a9efa79c8d9186d874"}}</a:t>
            </a:r>
          </a:p>
          <a:p>
            <a:r>
              <a:t>CNPJ 60010416000112 · Auditor independente e DFs · AGE · ID 1313936 · 2026-08-31 · versão 1 · p. 1 · https://fnet.bmfbovespa.com.br/fnet/publico/visualizarDocumento?id=1313936</a:t>
            </a:r>
          </a:p>
          <a:p>
            <a:r>
              <a:t>CNPJ 60010416000112 · Auditor independente e DFs · Excerto da fonte:</a:t>
            </a:r>
          </a:p>
          <a:p>
            <a:r>
              <a:t>(d) Fica a Administradora autorizada a levantar, na Data da Cisão, demonstrações contábeis da  Classe, as quais darão suporte à realização da Cisão ora deliberada. As demonstrações contábeis  deverão ser auditadas, em conformidade com o art. 120, da Parte Geral, da Resolução CVM 175;</a:t>
            </a:r>
          </a:p>
          <a:p>
            <a:r>
              <a:t>CNPJ 60010416000112 · Auditor independente e DFs · Condição: Documentos atuais selecionados no inventário por categoria/escopo; a data documental isolada não comprova vigência jurídica.</a:t>
            </a:r>
          </a:p>
          <a:p>
            <a:r>
              <a:t>CNPJ 60010416000112 · Auditor independente e DFs · Versão e prevalência: Documentos atuais selecionados no inventário por categoria/escopo; a data documental isolada não comprova vigência jurídica.</a:t>
            </a:r>
          </a:p>
          <a:p>
            <a:r>
              <a:t>CNPJ 60010416000112 · Auditor independente e DFs · Resumo do histórico: {"count": 11, "dates": ["2026-04-16", "2026-05-08", "2026-07-29"], "document_count": 3, "sources": [{"document_id": "1277540", "title": "AGE", "reference_date": "2026-07-29", "version": "1", "page": 1, "url": "https://fnet.bmfbovespa.com.br/fnet/publico/visualizarDocumento?id=1277540", "sha256": "7a9b65092af34917f99f22b62eb7d248d67149b9c91dd87b07b924b9601ee9b0"}, {"document_id": "1298690", "title": "Demonstrações Financeiras - Fusão, cisão e incorporação", "reference_date": "2026-05-08", "version": "1", "page": 1, "url": "https://fnet.bmfbovespa.com.br/fnet/publico/visualizarDocumento?id=1298690", "sha256": "d979f7f7cf866a68b7fbc65c46fd726b7bcc13f9d0b809190857a9b465be7be2"}, {"document_id": "1282181", "title": "Demonstrações Financeiras - Fusão, cisão e incorporação", "reference_date": "2026-04-16", "version": "1", "page": 1, "url": "https://fnet.bmfbovespa.com.br/fnet/publico/visualizarDocumento?id=1282181", "sha256": "b1c6566e43a00bcd00c8a7f30c77b7f86e351bd8e355bbea113f46d1dafda703"}], "reference": {"path": "history/60010416000112.json", "criterion_id": "audit", "total_count": 11, "preview_count": 3, "full_text_deferred": true, "sha256": "8e2bd813f4c51cf01f6bfaad164bafe69d2bbb192f753eac92da3a01c2e63046"}}</a:t>
            </a:r>
          </a:p>
          <a:p>
            <a:r>
              <a:t>CNPJ 62696791000193 · Auditor independente e DFs · Regulamento · ID 1143317 · 2026-03-20 · versão 1 · p. 5 · 4.1.7 · https://fnet.bmfbovespa.com.br/fnet/publico/visualizarDocumento?id=1143317</a:t>
            </a:r>
          </a:p>
          <a:p>
            <a:r>
              <a:t>CNPJ 62696791000193 · Auditor independente e DFs · Excerto da fonte:</a:t>
            </a:r>
          </a:p>
          <a:p>
            <a:r>
              <a:t>4.1.7 As demonstrações contábeis cujo relatório de auditoria não contiver opinião modificada podem  ser consideradas automaticamente aprovadas caso a assembleia correspondente não seja  instalada em virtude do não comparecimento de quaisquer Cotistas.</a:t>
            </a:r>
          </a:p>
          <a:p>
            <a:r>
              <a:t>CNPJ 62696791000193 · Auditor independente e DFs · Regulamento · ID 1143317 · 2026-03-20 · versão 1 · p. 23 · 10.12 · https://fnet.bmfbovespa.com.br/fnet/publico/visualizarDocumento?id=1143317</a:t>
            </a:r>
          </a:p>
          <a:p>
            <a:r>
              <a:t>CNPJ 62696791000193 · Auditor independente e DFs · Excerto da fonte:</a:t>
            </a:r>
          </a:p>
          <a:p>
            <a:r>
              <a:t>10.12 O representante dos Cotistas será eleito com prazo de mandato a se encerrar na próxima Assembleia  de Cotistas que deliberar sobre a aprovação de demonstrações contábeis do Fundo, sendo permitida  a reeleição.</a:t>
            </a:r>
          </a:p>
          <a:p>
            <a:r>
              <a:t>CNPJ 62696791000193 · Auditor independente e DFs · Condição: Documentos atuais selecionados no inventário por categoria/escopo; a data documental isolada não comprova vigência jurídica.</a:t>
            </a:r>
          </a:p>
          <a:p>
            <a:r>
              <a:t>CNPJ 62696791000193 · Auditor independente e DFs · Versão e prevalência: Documentos atuais selecionados no inventário por categoria/escopo; a data documental isolada não comprova vigência jurídica.</a:t>
            </a:r>
          </a:p>
          <a:p>
            <a:r>
              <a:t>CNPJ 55563624000109 · Auditor independente e DFs · Regulamento · ID 1192614 · 2026-04-30 · versão 1 · p. 24 · 12.3 · https://fnet.bmfbovespa.com.br/fnet/publico/visualizarDocumento?id=1192614</a:t>
            </a:r>
          </a:p>
          <a:p>
            <a:r>
              <a:t>CNPJ 55563624000109 · Auditor independente e DFs · Excerto da fonte:</a:t>
            </a:r>
          </a:p>
          <a:p>
            <a:r>
              <a:t>12.3 Incluem-se entre as obrigações do ADMINISTRADOR, sem prejuízo de outras previstas na regulamentação:</a:t>
            </a:r>
          </a:p>
          <a:p>
            <a:r>
              <a:t> (i) sem prejuízo da observância dos procedimentos relativos às demonstrações contábeis, manter,  separadamente, registros com informações completas sobre toda e qualquer modalidade de negociação  realizada entre o ADMINISTRADOR, GESTOR, CUSTODIANTE, e/ou suas respectivas partes relacionadas,  tais como definidas pelas regras contábeis que tratam desse assunto, de um lado; e a Classe, de outro;</a:t>
            </a:r>
          </a:p>
          <a:p>
            <a:r>
              <a:t> (ii) diligenciar para que sejam mantidos, às suas expensas, atualizados e em perfeita ordem:</a:t>
            </a:r>
          </a:p>
          <a:p>
            <a:r>
              <a:t> (a) o registro de Cotistas;</a:t>
            </a:r>
          </a:p>
          <a:p>
            <a:r>
              <a:t> (b) o livro de atas das Assembleias de Cotistas;</a:t>
            </a:r>
          </a:p>
          <a:p>
            <a:r>
              <a:t> (c) o livro ou lista de presença de Cotistas;</a:t>
            </a:r>
          </a:p>
          <a:p>
            <a:r>
              <a:t> (d) os pareceres do Auditor Independente; e</a:t>
            </a:r>
          </a:p>
          <a:p>
            <a:r>
              <a:t> (e) os registros contábeis referentes às operações e ao patrimônio da Classe;</a:t>
            </a:r>
          </a:p>
          <a:p>
            <a:r>
              <a:t> (iii) pagar a multa cominatória às suas expensas, nos termos da legislação vigente, por cada dia de atraso no  cumprimento dos prazos previstos na regulamentação aplicável;</a:t>
            </a:r>
          </a:p>
          <a:p>
            <a:r>
              <a:t> (iv) elaborar e divulgar as informações periódicas e eventuais da Classe, nos termos deste Anexo e da  regulamentação e da autorregulação em vigor;</a:t>
            </a:r>
          </a:p>
          <a:p>
            <a:r>
              <a:t> (v) manter atualizada junto à CVM a lista de todos os prestadores de serviços contratados pela Classe,  inclusive os Prestadores de Serviços Essenciais, bem como as demais informações cadastrais da Classe e  suas Subclasses;</a:t>
            </a:r>
          </a:p>
          <a:p>
            <a:r>
              <a:t> (vi) manter serviço de atendimento aos Cotistas, responsável pelo esclarecimento de dúvidas e pelo  recebimento de reclamações;</a:t>
            </a:r>
          </a:p>
          <a:p>
            <a:r>
              <a:t> (vii) receber e processar os pedidos de resgate;</a:t>
            </a:r>
          </a:p>
          <a:p>
            <a:r>
              <a:t> (viii) monitorar os Eventos de Verificação do Patrimônio;</a:t>
            </a:r>
          </a:p>
          <a:p>
            <a:r>
              <a:t> (ix) monitorar os Eventos de Avaliação e Eventos de Liquidação;</a:t>
            </a:r>
          </a:p>
          <a:p>
            <a:r>
              <a:t> (x) observar as disposições constantes do Regulamento;</a:t>
            </a:r>
          </a:p>
          <a:p>
            <a:r>
              <a:t> (xi) cumprir as deliberações da Assembleia de Cotistas; e</a:t>
            </a:r>
          </a:p>
          <a:p>
            <a:r>
              <a:t> (xii) observar as disposições do Código ANBIMA e das Regras e Procedimentos ANBIMA</a:t>
            </a:r>
          </a:p>
          <a:p>
            <a:r>
              <a:t>CNPJ 55563624000109 · Auditor independente e DFs · Regulamento · ID 1192614 · 2026-04-30 · versão 1 · p. 4 · 4.6.1 · https://fnet.bmfbovespa.com.br/fnet/publico/visualizarDocumento?id=1192614</a:t>
            </a:r>
          </a:p>
          <a:p>
            <a:r>
              <a:t>CNPJ 55563624000109 · Auditor independente e DFs · Excerto da fonte:</a:t>
            </a:r>
          </a:p>
          <a:p>
            <a:r>
              <a:t>4.6.1 As deliberações relativas às matérias elencadas nos incisos abaixo serão tomadas, em primeira  convocação ou em segunda convocação, conforme os quóruns dispostos abaixo, em sede assembleia  geral de cotistas ou de assembleia especial de cotistas, conforme o caso:</a:t>
            </a:r>
          </a:p>
          <a:p>
            <a:r>
              <a:t> MATÉRIA SUJEITA À APROVAÇÃO QUÓRUM DE DELIBERAÇÃO</a:t>
            </a:r>
          </a:p>
          <a:p>
            <a:r>
              <a:t> (i) aprovação das demonstrações contábeis do FUNDO; Maioria do total das Cotas emitidas</a:t>
            </a:r>
          </a:p>
          <a:p>
            <a:r>
              <a:t>CNPJ 55563624000109 · Auditor independente e DFs · Regulamento · ID 1192614 · 2026-04-30 · versão 1 · p. 10 · 3.1 · https://fnet.bmfbovespa.com.br/fnet/publico/visualizarDocumento?id=1192614</a:t>
            </a:r>
          </a:p>
          <a:p>
            <a:r>
              <a:t>CNPJ 55563624000109 · Auditor independente e DFs · Excerto da fonte:</a:t>
            </a:r>
          </a:p>
          <a:p>
            <a:r>
              <a:t>3.1 A Classe terá Encargos que lhe poderão ser debitados diretamente, nos termos da Resolução CVM 175, e  quaisquer despesas que não constituam Encargos correm por conta do Prestador de Serviço Essencial que a tiver  contratado, incluindo, sem se limitar a:</a:t>
            </a:r>
          </a:p>
          <a:p>
            <a:r>
              <a:t> (i) Taxa de performance, se houver;</a:t>
            </a:r>
          </a:p>
          <a:p>
            <a:r>
              <a:t> (ii) Taxas, impostos ou contribuições federais, estaduais, municipais ou autárquicas, que recaiam ou  venham a recair sobre os bens, direitos e obrigações da Classe;</a:t>
            </a:r>
          </a:p>
          <a:p>
            <a:r>
              <a:t> (iii) Despesas com o registro de documentos, impressão, expedição e publicação de relatórios e informações  periódicas previstas na Resolução CVM 175;</a:t>
            </a:r>
          </a:p>
          <a:p>
            <a:r>
              <a:t> (iv) Despesas com correspondências de interesse do FUNDO ou da Classe, inclusive comunicações aos  Cotistas;</a:t>
            </a:r>
          </a:p>
          <a:p>
            <a:r>
              <a:t> (v) Honorários e despesas do Auditor Independente;</a:t>
            </a:r>
          </a:p>
          <a:p>
            <a:r>
              <a:t> BTG Pactual  SAC: 0800 772 28 27 - Ouvidoria: 0800 722 00 48 - btgpactual.com  3</a:t>
            </a:r>
          </a:p>
          <a:p>
            <a:r>
              <a:t>CNPJ 55563624000109 · Auditor independente e DFs · Condição: Documentos atuais selecionados no inventário por categoria/escopo; a data documental isolada não comprova vigência jurídica.</a:t>
            </a:r>
          </a:p>
          <a:p>
            <a:r>
              <a:t>CNPJ 55563624000109 · Auditor independente e DFs · Versão e prevalência: Documentos atuais selecionados no inventário por categoria/escopo; a data documental isolada não comprova vigência jurídica.</a:t>
            </a:r>
          </a:p>
          <a:p>
            <a:r>
              <a:t>CNPJ 55563624000109 · Auditor independente e DFs · Resumo do histórico: {"count": 2, "dates": ["2025-01-31", "2026-01-31"], "document_count": 2, "sources": [{"document_id": "1178840", "title": "Demonstrações Financeiras", "reference_date": "2026-01-31", "version": "1", "page": 4, "url": "https://fnet.bmfbovespa.com.br/fnet/publico/visualizarDocumento?id=1178840", "sha256": "c458e98664c5c907ddb5a05a94b120bed4e05295b2bfc420f5ba69af0a229abe"}, {"document_id": "891861", "title": "Demonstrações Financeiras", "reference_date": "2025-01-31", "version": "1", "page": 2, "url": "https://fnet.bmfbovespa.com.br/fnet/publico/visualizarDocumento?id=891861", "sha256": "e9cb9e6ddbe505fe068cfcac33605165a98313489de0d3ce6d4d238263c3f3e7"}], "reference": {"path": "history/55563624000109.json", "criterion_id": "audit", "total_count": 2, "preview_count": 2, "full_text_deferred": true, "sha256": "7835d573fb58a3c19adf5b8ecc2aee2bdbb9a88f7a0c0209b5f262b64c7522e3"}}</a:t>
            </a:r>
          </a:p>
          <a:p>
            <a:r>
              <a:t>CNPJ 62552447000120 · Auditor independente e DFs · Regulamento · ID 1200623 · 2026-05-21 · versão 1 · p. 4 · 4.1.6 · https://fnet.bmfbovespa.com.br/fnet/publico/visualizarDocumento?id=1200623</a:t>
            </a:r>
          </a:p>
          <a:p>
            <a:r>
              <a:t>CNPJ 62552447000120 · Auditor independente e DFs · Excerto da fonte:</a:t>
            </a:r>
          </a:p>
          <a:p>
            <a:r>
              <a:t>4.1.6 As demonstrações contábeis cujo relatório de auditoria não contiver opinião modificada podem  ser consideradas automaticamente aprovadas caso a Assembleia Geral correspondente não  seja instalada em virtude do não comparecimento de quaisquer Cotistas.</a:t>
            </a:r>
          </a:p>
          <a:p>
            <a:r>
              <a:t>CNPJ 62552447000120 · Auditor independente e DFs · Regulamento · ID 1200623 · 2026-05-21 · versão 1 · p. 29 · 12.16 · https://fnet.bmfbovespa.com.br/fnet/publico/visualizarDocumento?id=1200623</a:t>
            </a:r>
          </a:p>
          <a:p>
            <a:r>
              <a:t>CNPJ 62552447000120 · Auditor independente e DFs · Excerto da fonte:</a:t>
            </a:r>
          </a:p>
          <a:p>
            <a:r>
              <a:t>12.16 Os serviços de auditoria das demonstrações f inanceiras e demais contas da Classe serão prestados  por Auditor Independente contratado pelo Administrador. Pelos serviços prestados, o Auditor  Independente f ará jus ao recebimento de remuneração a ser def inida em contrato específico, a qual  será paga pela Classe.</a:t>
            </a:r>
          </a:p>
          <a:p>
            <a:r>
              <a:t>CAPÍTULO 13 – TAXA GLOBAL</a:t>
            </a:r>
          </a:p>
          <a:p>
            <a:r>
              <a:t>CNPJ 62552447000120 · Auditor independente e DFs · Condição: Documentos atuais selecionados no inventário por categoria/escopo; a data documental isolada não comprova vigência jurídica.</a:t>
            </a:r>
          </a:p>
          <a:p>
            <a:r>
              <a:t>CNPJ 62552447000120 · Auditor independente e DFs · Versão e prevalência: Documentos atuais selecionados no inventário por categoria/escopo; a data documental isolada não comprova vigência jurídica.</a:t>
            </a:r>
          </a:p>
          <a:p>
            <a:r>
              <a:t>CNPJ 63953620000165 · Auditor independente e DFs · Anexo ao Regulamento · ID 1222863 · 2026-06-02 · versão 1 · p. 4 · 3.4 · https://fnet.bmfbovespa.com.br/fnet/publico/visualizarDocumento?id=1222863</a:t>
            </a:r>
          </a:p>
          <a:p>
            <a:r>
              <a:t>CNPJ 63953620000165 · Auditor independente e DFs · Excerto da fonte:</a:t>
            </a:r>
          </a:p>
          <a:p>
            <a:r>
              <a:t>3.4 Adicionalmente aos Encargos, as seguintes despesas serão debitadas diretamente da Classe, nos termos do art.</a:t>
            </a:r>
          </a:p>
          <a:p>
            <a:r>
              <a:t> 51 do Anexo Normativo II da Resolução CVM 175 (“Despesas Adicionais”):</a:t>
            </a:r>
          </a:p>
          <a:p>
            <a:r>
              <a:t> (i) Despesas com registro de Direitos Creditórios;</a:t>
            </a:r>
          </a:p>
          <a:p>
            <a:r>
              <a:t> (ii) Despesas com serviços de originação, cobranças ordinária e/ou extraordinária dos Direitos Creditórios,  e/ou verificação de lastro dos Direitos Creditórios, conforme aplicável;</a:t>
            </a:r>
          </a:p>
          <a:p>
            <a:r>
              <a:t> (iii) Despesas com a contratação de atividades relacionadas à verificação de lastro;</a:t>
            </a:r>
          </a:p>
          <a:p>
            <a:r>
              <a:t> (iv) Despesas com a contratação de Agente de Retenção/Cobrança; Despesas com a contratação de  consultoria especializada, conforme o caso;</a:t>
            </a:r>
          </a:p>
          <a:p>
            <a:r>
              <a:t> (v) Remuneração do Custodiante;</a:t>
            </a:r>
          </a:p>
          <a:p>
            <a:r>
              <a:t> (vi) Despesas com honorários advocatícios para quaisquer assuntos de interesse da Classe, seja na esfera  judicial ou extrajudicial, inclusive consultivo;</a:t>
            </a:r>
          </a:p>
          <a:p>
            <a:r>
              <a:t> (vii) Despesas com a assinatura e registro dos Termos de Endosso, conforme aplicável, junto aos  competentes cartórios de Registro de Títulos e Documentos;</a:t>
            </a:r>
          </a:p>
          <a:p>
            <a:r>
              <a:t> (viii) Despesas inerentes à distribuição primária de Cotas, inclusive a contratação e remuneração do  distribuidor das Cotas para cada oferta de Cotas da Classe, nos termos de cada contrato de distribuição  e honorários devidos ao(s) assessor(es) legal(is) de cada oferta, assim como despesas com o registro das  Cotas na CVM, ANBIMA e/ou na entidade de mercado organizado em que as cotas sejam registradas,  conforme aplicável;</a:t>
            </a:r>
          </a:p>
          <a:p>
            <a:r>
              <a:t> (ix) Taxas de fiscalização da CVM e/ou ANBIMA, conforme aplicável; e</a:t>
            </a:r>
          </a:p>
          <a:p>
            <a:r>
              <a:t> (x) Despesas com contratação e remuneração do Auditor Independente e da Agência Classificadora de  Risco.</a:t>
            </a:r>
          </a:p>
          <a:p>
            <a:r>
              <a:t>CNPJ 63953620000165 · Auditor independente e DFs · Condição: Documentos atuais selecionados no inventário por categoria/escopo; a data documental isolada não comprova vigência jurídica.</a:t>
            </a:r>
          </a:p>
          <a:p>
            <a:r>
              <a:t>CNPJ 63953620000165 · Auditor independente e DFs · Motivo: Cláusula primária localizada e citada, mas sua lista/condições extensas não admitem uma síntese literal curta confirmada. O trecho integral permanece nas fontes.</a:t>
            </a:r>
          </a:p>
          <a:p>
            <a:r>
              <a:t>CNPJ 63953620000165 · Auditor independente e DFs · Versão e prevalência: Documentos atuais selecionados no inventário por categoria/escopo; a data documental isolada não comprova vigência jurídica.</a:t>
            </a:r>
          </a:p>
          <a:p>
            <a:r>
              <a:t>CNPJ 63953620000165 · Auditor independente e DFs · Resumo do histórico: {"count": 8, "dates": ["2026-04-28", "2026-05-08", "2026-05-15"], "document_count": 3, "sources": [{"document_id": "1327859", "title": "Demonstrações Financeiras - Fusão, cisão e incorporação", "reference_date": "2026-05-15", "version": "1", "page": 1, "url": "https://fnet.bmfbovespa.com.br/fnet/publico/visualizarDocumento?id=1327859", "sha256": "dca1c68babb97f887528c3e2e47596a9c30f507b067981a35655b2f2da9c8054"}, {"document_id": "1298691", "title": "Demonstrações Financeiras - Fusão, cisão e incorporação", "reference_date": "2026-05-08", "version": "1", "page": 1, "url": "https://fnet.bmfbovespa.com.br/fnet/publico/visualizarDocumento?id=1298691", "sha256": "58c570d9b8d4d265330d3db3ea81c435b8e44a6dab4002aa37790652a1ee9819"}, {"document_id": "1282180", "title": "Demonstrações Financeiras - Fusão, cisão e incorporação", "reference_date": "2026-04-28", "version": "1", "page": 1, "url": "https://fnet.bmfbovespa.com.br/fnet/publico/visualizarDocumento?id=1282180", "sha256": "afaaa0e6809be4385e5bdb6c911aac582032c5bdbac3d7750234bf9eaf00438a"}], "reference": {"path": "history/63953620000165.json", "criterion_id": "audit",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Governança e alterações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Quóruns e matérias reservadas · Regulamento · ID 670691 · 28/04/2024 · versão Regulamento — referência 28/04/2024 · p. 4 · Parte Geral, 4.4–4.4.1 · https://fnet.bmfbovespa.com.br/fnet/publico/visualizarDocumento?id=670691</a:t>
            </a:r>
          </a:p>
          <a:p>
            <a:r>
              <a:t>CNPJ 54871427000194 · Quóruns e matérias reservadas · Excerto da fonte:</a:t>
            </a:r>
          </a:p>
          <a:p>
            <a:r>
              <a:t>4.4 Ressalvadas as exceções descritas neste Regulamento, toda e qualquer matéria submetida à deliberação dos cotistas deverá ser aprovada por maioria dos votos dos presentes. 4.4.1 As deliberações relativas às matérias elencadas nos incisos abaixo serão tomadas, em primeira convocação ou em segunda convocação, pelos votos dos titulares da maioria das cotas em circulação, em sede assembleia geral de cotistas ou de assembleia especial de cotistas, conf orme o caso: (i) aprovação das demonstrações contábeis do FUNDO; (ii) alteração da Parte Geral deste Regulamento; (iii) substituição ou remoção do Prestador de Serviços Essenciais do FUNDO, ressalvada a possibilidade prevista no Art. 70, §1º, da Parte Geral da Resolução CVM 175; (iv) alterações nos quóruns de deliberação def inidos neste Regulamento; (v) cobrança de taxas e encargos pelo ADMINISTRADOR, de qualquer natureza, que não estejam expressamente previstos neste Regulamento; (vi) liquidação do FUNDO. (vii) plano de resolu</a:t>
            </a:r>
          </a:p>
          <a:p>
            <a:r>
              <a:t>CNPJ 54871427000194 · Quóruns e matérias reservadas · Regulamento · ID 670691 · 28/04/2024 · versão Regulamento — referência 28/04/2024 · p. 17 · Anexo I, 10.1 · https://fnet.bmfbovespa.com.br/fnet/publico/visualizarDocumento?id=670691</a:t>
            </a:r>
          </a:p>
          <a:p>
            <a:r>
              <a:t>CNPJ 54871427000194 · Quóruns e matérias reservadas · Excerto da fonte:</a:t>
            </a:r>
          </a:p>
          <a:p>
            <a:r>
              <a:t>10.1 Sem prejuízo de outros requisitos e inf ormações previstos na regulamentação vigente, são aplicáveis à Assembleia Especial de Cotistas as mesmas disposições procedimentais da Assembleia Geral de Cotistas. 10.2 A Assembleia Especial de Cotistas é responsável por deliberar sobre as matérias específicas da Classe de Cotas, sem prejuízo das demais disposições previstas na regulamentação aplicável, incluindo, mas não se limitando a: (i) deliberar sobre as demonstrações contábeis da Classe; (ii) deliberar sobre substituição de Prestadores de Serviços Essenciais, observado o disposto no art. 70, §1º da parte geral da Resolução CVM 175; (iii) deliberar sobre elevação da Taxa de Administração, inclusive na hipótese de restabelecimento de taxa que tenha sido objeto de redução; (iv) deliberar sobre incorporação, f usão, cisão total ou parcial, a transf ormação ou liquidação da Classe; (v) alterações das características, vantagens, direitos e obrigações das Cotas; (vi) alterar critérios e procedimentos para Amortização e/ou resgate de Cotas mediante dação em pagamento de Direitos Creditórios; (vii) a</a:t>
            </a:r>
          </a:p>
          <a:p>
            <a:r>
              <a:t>CNPJ 54871427000194 · Quóruns e matérias reservadas · Versão e prevalência: Leitura específica das cláusulas indicadas; condições e conflitos preservados. Seleção documental atual não comprova vigência jurídica por data isolada.</a:t>
            </a:r>
          </a:p>
          <a:p>
            <a:r>
              <a:t>CNPJ 54871427000194 · Quóruns e matérias reservadas · Resumo do histórico: {"count": 1, "dates": ["2024-04-19"], "document_count": 1, "sources": [{"document_id": "670689", "title": "Regulamento", "reference_date": "2024-04-19", "version": "1", "page": 20, "clause": "11.6", "url": "https://fnet.bmfbovespa.com.br/fnet/publico/visualizarDocumento?id=670689", "sha256": "891bc9bc5d87bbc02ec139077a84d2702eb81ea02035fb71d24f5b8366b94a0b"}], "reference": {"path": "history/54871427000194.json", "criterion_id": "quorum", "total_count": 1, "preview_count": 1, "full_text_deferred": true, "sha256": "35d7cd99be50c7287c9fb675cf4f2e736002315295a225a9efa79c8d9186d874"}}</a:t>
            </a:r>
          </a:p>
          <a:p>
            <a:r>
              <a:t>CNPJ 60010416000112 · Quóruns e matérias reservadas · Regulamento · ID 1051393 · 09/10/2025 · versão Regulamento09/10/2025 · p. 18 · AnexoI9.2(ii)–(xvii) · https://fnet.bmfbovespa.com.br/fnet/publico/visualizarDocumento?id=1051393</a:t>
            </a:r>
          </a:p>
          <a:p>
            <a:r>
              <a:t>CNPJ 60010416000112 · Quóruns e matérias reservadas · Excerto da fonte:</a:t>
            </a:r>
          </a:p>
          <a:p>
            <a:r>
              <a:t>(ii) alterar este Anexo I e seus complementos, incluindo mas não se limitando aos Apêndices de cada uma das subclasses; (iii) deliberar sobre substituição de Prestadores de Serviços Essenciais, observado o disposto no Art. 70, §1º da parte geral da Resolução CVM 175, quando aplicável, ou do Custodiante; (iv) deliberar sobre elevação da Taxa de Administração, inclusive na hipótese de restabelecimento de taxa que tenha sido objeto de redução; (v) deliberar sobre incorporação, fusão, cisão total ou parcial, a transformação ou liquidação da Classe; (vi) alter</a:t>
            </a:r>
          </a:p>
          <a:p>
            <a:r>
              <a:t>CNPJ 60010416000112 · Quóruns e matérias reservadas · Regulamento · ID 1051393 · 09/10/2025 · versão Regulamento09/10/2025 · p. 19 · AnexoI9.8–9.9 · https://fnet.bmfbovespa.com.br/fnet/publico/visualizarDocumento?id=1051393</a:t>
            </a:r>
          </a:p>
          <a:p>
            <a:r>
              <a:t>CNPJ 60010416000112 · Quóruns e matérias reservadas · Excerto da fonte:</a:t>
            </a:r>
          </a:p>
          <a:p>
            <a:r>
              <a:t>9.8 As deliberações constantes dos incisos (ii), (iii), (iv), (v), (vi), (vii), (x), (xi), (xii), (xiii) e (xvii) acima, apenas serão aprovadas, seja em primeira ou em segunda convocação, por unanimidade dos votos dos titulares das Cotas em circulação. 9.9 As deliberações relativas aos demais incisos do item 9.2 acima apenas serão aprovadas, seja em primeira ou em segunda convocação, mediante o voto favorável dos Cotistas que representem a maioria das Cotas emitidas pela Classe. 9.10 Somente os Cotistas, seus representantes legais ou procuradores legalmente nomeados há menos de 1 (um) ano ter</a:t>
            </a:r>
          </a:p>
          <a:p>
            <a:r>
              <a:t>CNPJ 60010416000112 · Quóruns e matérias reservadas · Versão e prevalência: Leitura específica das cláusulas indicadas; condições e conflitos preservados. Seleção documental atual não comprova vigência jurídica por data isolada.</a:t>
            </a:r>
          </a:p>
          <a:p>
            <a:r>
              <a:t>CNPJ 60010416000112 · Quóruns e matérias reservadas · Resumo do histórico: {"count": 3, "dates": ["2025-03-20", "2025-05-09", "2025-05-12"], "document_count": 3, "sources": [{"document_id": "1004656", "title": "AGE", "reference_date": "2025-05-12", "version": "1", "page": 1, "url": "https://fnet.bmfbovespa.com.br/fnet/publico/visualizarDocumento?id=1004656", "sha256": "f6c9c009f6170e2b29f074b98522accec73f0c40efbf11f9ec2c8d3f1402616b"}, {"document_id": "911262", "title": "AGE", "reference_date": "2025-05-09", "version": "1", "page": 1, "url": "https://fnet.bmfbovespa.com.br/fnet/publico/visualizarDocumento?id=911262", "sha256": "675de4ffe8c5ee95957fb29810625ce850d1a0b69b5231747442266f0cbf32a3"}, {"document_id": "993786", "title": "Regulamento", "reference_date": "2025-03-20", "version": "1", "page": 22, "clause": "10.6", "url": "https://fnet.bmfbovespa.com.br/fnet/publico/visualizarDocumento?id=993786", "sha256": "fd0fdd369a195510d81f81f505195a0b09e5f43522a990afa7d58c4f872921c8"}], "reference": {"path": "history/60010416000112.json", "criterion_id": "quorum", "total_count": 3, "preview_count": 3, "full_text_deferred": true, "sha256": "8e2bd813f4c51cf01f6bfaad164bafe69d2bbb192f753eac92da3a01c2e63046"}}</a:t>
            </a:r>
          </a:p>
          <a:p>
            <a:r>
              <a:t>CNPJ 62696791000193 · Quóruns e matérias reservadas · Regulamento · ID 1143317 · 20/03/2026 · versão Regulamento — referência 20/03/2026 · p. 20 · Anexo I, 10.2, tabela · https://fnet.bmfbovespa.com.br/fnet/publico/visualizarDocumento?id=1143317</a:t>
            </a:r>
          </a:p>
          <a:p>
            <a:r>
              <a:t>CNPJ 62696791000193 · Quóruns e matérias reservadas · Excerto da fonte:</a:t>
            </a:r>
          </a:p>
          <a:p>
            <a:r>
              <a:t>10.2 Os seguintes quóruns deverão ser observados pela Assembleia Especial de Cotistas ao deliberar as matérias abaixo: Matéria Quórum I – alterar o presente Anexo; Maioria das Cotas Subscritas (“Quórum Qualificado”), observada BTG Pactual SAC: 0800 772 2827 | Ouvidoria: 0800 722 0048 | btgpactual.co m 15</a:t>
            </a:r>
          </a:p>
          <a:p>
            <a:r>
              <a:t>CNPJ 62696791000193 · Quóruns e matérias reservadas · Regulamento · ID 1143317 · 20/03/2026 · versão Regulamento — referência 20/03/2026 · p. 21 · Anexo I, 10.2, tabela · https://fnet.bmfbovespa.com.br/fnet/publico/visualizarDocumento?id=1143317</a:t>
            </a:r>
          </a:p>
          <a:p>
            <a:r>
              <a:t>CNPJ 62696791000193 · Quóruns e matérias reservadas · Excerto da fonte:</a:t>
            </a:r>
          </a:p>
          <a:p>
            <a:r>
              <a:t>Matéria Quórum a necessidade de voto afirmativo da Maioria das Cotas Seniores subscritas da Classe Quórum Qualif icado observada a necessidade de voto af irmativo da II – substituição do Administrador, do Gestor e da Cogestora; Maioria das Cotas Seniores subscritas da Classe Maioria Simples, observada a III – Emissão e distribuição de novas Cotas em quantidade necessidade de voto af irmativo da superior ao Capital Autorizado da Classe ; Maioria das Cotas Seniores subscritas da Classe</a:t>
            </a:r>
          </a:p>
          <a:p>
            <a:r>
              <a:t>CNPJ 62696791000193 · Quóruns e matérias reservadas · Regulamento · ID 1143317 · 20/03/2026 · versão Regulamento — referência 20/03/2026 · p. 22 · Anexo I, 10.2(XI) e 10.5–10.7 · https://fnet.bmfbovespa.com.br/fnet/publico/visualizarDocumento?id=1143317</a:t>
            </a:r>
          </a:p>
          <a:p>
            <a:r>
              <a:t>CNPJ 62696791000193 · Quóruns e matérias reservadas · Excerto da fonte:</a:t>
            </a:r>
          </a:p>
          <a:p>
            <a:r>
              <a:t>10.5 As deliberações que tenham por objeto alterações de Benchmark apenas serão aprovadas se assim deliberado: (i) pelos votos dos titulares da maioria das Cotas em circulação da Série ou Subclasse cujo Benchmark é alterado; e (ii) pelos votos dos titulares da maioria das Cotas Mezanino que se subordinem a ela e/ou das Cotas Subordinadas em circulação. 10.6 As deliberações que tenham por objeto o aumento do Índice de Subordinação estão sujeitas à aprovação da maioria simples dos votos dos titulares das Cotas Mezanino que se subordinem a ela e/ou das Cotas Subordinadas em circulação. 10.7 As deliberações que tenham por objeto a diminuição do Índice de Subordinação apenas serão aprovadas se assim deliberado: (i) pelos votos dos titulares da maioria das Cotas em circulação de cada uma das Séries de Cotas Seniores e/ou dos titulares das Cotas Mezanino que tenham o Benchmark alterado; e (ii) pelo voto dos titulares da maioria das Cotas Mezanino que se subordinem a ela e/ou Cotas Subordinadas Júnior em circulação . Representante de Cotistas 10.8 A Assembleia de Cotistas pode, a qualquer momento, eleger até 3 (três) representantes de cotistas, a serem eleitos e nomeados pela assembleia especial,</a:t>
            </a:r>
          </a:p>
          <a:p>
            <a:r>
              <a:t>CNPJ 62696791000193 · Quóruns e matérias reservadas · Versão e prevalência: Leitura específica das cláusulas indicadas; condições e conflitos preservados. Seleção documental atual não comprova vigência jurídica por data isolada.</a:t>
            </a:r>
          </a:p>
          <a:p>
            <a:r>
              <a:t>CNPJ 55563624000109 · Quóruns e matérias reservadas · Regulamento · ID 1192614 · 30/04/2026 · versão Regulamento30/04/2026 · p. 19 · AnexoI10.2(i)–(v) · https://fnet.bmfbovespa.com.br/fnet/publico/visualizarDocumento?id=1192614</a:t>
            </a:r>
          </a:p>
          <a:p>
            <a:r>
              <a:t>CNPJ 55563624000109 · Quóruns e matérias reservadas · Excerto da fonte:</a:t>
            </a:r>
          </a:p>
          <a:p>
            <a:r>
              <a:t>10.2 A Assembleia Especial de Cotistas é responsável por deliberar, observados os quóruns abaixo, sobre as matérias específicas da Classe, sem prejuízo das demais disposições previstas na regulamentação aplicável, incluindo, mas não se limitando a: MATÉRIA SUJEITA À APROVAÇÃO QUÓRUM DE DELIBERAÇÃO (i) deliberar sobre as demonstrações contábeis da Classe; Maioria do total das Cotas emitidas (ii) deliberar sobre a substituição de Prestadores de Serviços 90% (noventa por cento) do total das Cotas</a:t>
            </a:r>
          </a:p>
          <a:p>
            <a:r>
              <a:t>CNPJ 55563624000109 · Quóruns e matérias reservadas · Regulamento · ID 1192614 · 30/04/2026 · versão Regulamento30/04/2026 · p. 20 · AnexoI10.2(vi)–(xiii) · https://fnet.bmfbovespa.com.br/fnet/publico/visualizarDocumento?id=1192614</a:t>
            </a:r>
          </a:p>
          <a:p>
            <a:r>
              <a:t>CNPJ 55563624000109 · Quóruns e matérias reservadas · Excerto da fonte:</a:t>
            </a:r>
          </a:p>
          <a:p>
            <a:r>
              <a:t>(vi) alterar as características, vantagens, direitos e obrigações 90% (noventa por cento) do total das Cotas das Cotas; emitidas (vii) alterar critérios e procedimentos para resgate de Cotas mediante dação em pagamento de Cotas da Classe Maioria do total das Cotas emitidas Investida; (viii) aprovar a emissão de novas Cotas fora do Capital Maioria do total das Cotas emitidas</a:t>
            </a:r>
          </a:p>
          <a:p>
            <a:r>
              <a:t>CNPJ 55563624000109 · Quóruns e matérias reservadas · Versão e prevalência: Leitura específica das cláusulas indicadas; condições e conflitos preservados. Seleção documental atual não comprova vigência jurídica por data isolada.</a:t>
            </a:r>
          </a:p>
          <a:p>
            <a:r>
              <a:t>CNPJ 55563624000109 · Quóruns e matérias reservadas · Resumo do histórico: {"count": 2, "dates": ["2025-01-31", "2026-01-31"], "document_count": 2, "sources": [{"document_id": "1178840", "title": "Demonstrações Financeiras", "reference_date": "2026-01-31", "version": "1", "page": 24, "url": "https://fnet.bmfbovespa.com.br/fnet/publico/visualizarDocumento?id=1178840", "sha256": "c458e98664c5c907ddb5a05a94b120bed4e05295b2bfc420f5ba69af0a229abe"}, {"document_id": "891861", "title": "Demonstrações Financeiras", "reference_date": "2025-01-31", "version": "1", "page": 25, "url": "https://fnet.bmfbovespa.com.br/fnet/publico/visualizarDocumento?id=891861", "sha256": "e9cb9e6ddbe505fe068cfcac33605165a98313489de0d3ce6d4d238263c3f3e7"}], "reference": {"path": "history/55563624000109.json", "criterion_id": "quorum", "total_count": 2, "preview_count": 2, "full_text_deferred": true, "sha256": "7835d573fb58a3c19adf5b8ecc2aee2bdbb9a88f7a0c0209b5f262b64c7522e3"}}</a:t>
            </a:r>
          </a:p>
          <a:p>
            <a:r>
              <a:t>CNPJ 62552447000120 · Quóruns e matérias reservadas · Regulamento · ID 1200623 · 21/05/2026 · versão Consolidado21/05/2026 aprovado pelo ato1200625 · p. 21 · AnexoI10.2(i)–(x) · https://fnet.bmfbovespa.com.br/fnet/publico/visualizarDocumento?id=1200623</a:t>
            </a:r>
          </a:p>
          <a:p>
            <a:r>
              <a:t>CNPJ 62552447000120 · Quóruns e matérias reservadas · Excerto da fonte:</a:t>
            </a:r>
          </a:p>
          <a:p>
            <a:r>
              <a:t>10.2 Os seguintes quóruns deverão ser observados pela Assembleia Especial ao deliberar as matérias abaixo: Matéria Quórum (i) deliberar sobre substituição de Prestadores de Serviços Unanimidade dos Cotistas Essenciais, observado o disposto no art. 70, §1º da Parte Geral da Resolução CVM 175, quando aplicável; (ii) deliberar sobre elevação da Taxa Global, inclusive na Unanimidade dos Cotistas hipótese de restabelecimento de taxa que tenha sido objeto de redução; (iii) delibera</a:t>
            </a:r>
          </a:p>
          <a:p>
            <a:r>
              <a:t>CNPJ 62552447000120 · Quóruns e matérias reservadas · Versão e prevalência: Leitura específica das cláusulas indicadas; condições e conflitos preservados. Seleção documental atual não comprova vigência jurídica por data isolada.</a:t>
            </a:r>
          </a:p>
          <a:p>
            <a:r>
              <a:t>CNPJ 63953620000165 · Quóruns e matérias reservadas · Anexo ao Regulamento · ID 1222863 · 02/06/2026 · versão AnexoConsignadoPrivado02/06/2026 · p. 13 · 10.2(ii)–(xvii) · https://fnet.bmfbovespa.com.br/fnet/publico/visualizarDocumento?id=1222863</a:t>
            </a:r>
          </a:p>
          <a:p>
            <a:r>
              <a:t>CNPJ 63953620000165 · Quóruns e matérias reservadas · Excerto da fonte:</a:t>
            </a:r>
          </a:p>
          <a:p>
            <a:r>
              <a:t>10.2 Os seguintes quóruns deverão ser observados pela Assembleia Especial de Cotistas ao deliberar as matérias abaixo: Matéria Quórum (i) deliberar sobre as demonstrações contábeis da Classe; Maioria das Cotas presentes (ii) alterar o presente Anexo; Maioria das Cotas de cada Subclasse (iii) deliberar sobre substituição de Prestadores de Serviços Maioria das Cotas da Classe Essenciais, observado o disposto no Artigo 70, §1º da parte geral da R</a:t>
            </a:r>
          </a:p>
          <a:p>
            <a:r>
              <a:t>CNPJ 63953620000165 · Quóruns e matérias reservadas · Anexo ao Regulamento · ID 1222863 · 02/06/2026 · versão AnexoConsignadoPrivado02/06/2026 · p. 14 · 10.5–10.8 · https://fnet.bmfbovespa.com.br/fnet/publico/visualizarDocumento?id=1222863</a:t>
            </a:r>
          </a:p>
          <a:p>
            <a:r>
              <a:t>CNPJ 63953620000165 · Quóruns e matérias reservadas · Excerto da fonte:</a:t>
            </a:r>
          </a:p>
          <a:p>
            <a:r>
              <a:t>10.5 Caso a matéria em deliberação resulte ou possa resultar em uma redução do Índice de Subordinação de uma determinada Subclasse, somente podem votar os titulares de Subclasses de Cotas Seniores. 10.6 As deliberações que tenham por objeto alterações de Benchmark apenas serão aprovadas se assim deliberado: (i) pelos votos dos titulares da maioria das Cotas Seniores cujo Benchmark é alterado; e (ii) pelos votos dos titulares da maioria das Cotas Subordinadas em circulação. 10.7 As deliberações que tenham por objeto o aumento do Índice de Subordinação Sênior estão sujeitas à aprovação da maioria simples dos votos dos titu</a:t>
            </a:r>
          </a:p>
          <a:p>
            <a:r>
              <a:t>CNPJ 63953620000165 · Quóruns e matérias reservadas · Condição: 10.7/10.8 repetem aumento do índice com quóruns distintos; interpretar regra específica demandará resolver conflito, sem presumir uma aprovação.</a:t>
            </a:r>
          </a:p>
          <a:p>
            <a:r>
              <a:t>CNPJ 63953620000165 · Quóruns e matérias reservadas · Versão e prevalência: Leitura específica das cláusulas indicadas; condições e conflitos preservados. Seleção documental atual não comprova vigência jurídica por data isolada.</a:t>
            </a:r>
          </a:p>
          <a:p>
            <a:r>
              <a:t>CNPJ 63953620000165 · Quóruns e matérias reservadas · Resumo do histórico: {"count": 7, "dates": ["2026-04-28", "2026-05-08", "2026-05-15"], "document_count": 3, "sources": [{"document_id": "1327859", "title": "Demonstrações Financeiras - Fusão, cisão e incorporação", "reference_date": "2026-05-15", "version": "1", "page": 10, "url": "https://fnet.bmfbovespa.com.br/fnet/publico/visualizarDocumento?id=1327859", "sha256": "dca1c68babb97f887528c3e2e47596a9c30f507b067981a35655b2f2da9c8054"}, {"document_id": "1298691", "title": "Demonstrações Financeiras - Fusão, cisão e incorporação", "reference_date": "2026-05-08", "version": "1", "page": 10, "url": "https://fnet.bmfbovespa.com.br/fnet/publico/visualizarDocumento?id=1298691", "sha256": "58c570d9b8d4d265330d3db3ea81c435b8e44a6dab4002aa37790652a1ee9819"}, {"document_id": "1205431", "title": "AGE", "reference_date": "2026-04-28", "version": "1", "page": 1, "url": "https://fnet.bmfbovespa.com.br/fnet/publico/visualizarDocumento?id=1205431", "sha256": "e0b59c701c5d0dbf60de698ea7664d442240863b7043bacdb334ce484188b2ac"}], "reference": {"path": "history/63953620000165.json", "criterion_id": "quorum", "total_count": 7, "preview_count": 3, "full_text_deferred": true, "sha256": "a7b89077f5e21098c2d601c303faabc3ff6b9729f89d8afecdc60fe1404720c1"}}</a:t>
            </a:r>
          </a:p>
          <a:p>
            <a:r>
              <a:t>CNPJ 54871427000194 · Partes relacionadas e conflitos · Regulamento · ID 670691 · 2024-04-28 · versão 1 · p. 11 · 4.10 · https://fnet.bmfbovespa.com.br/fnet/publico/visualizarDocumento?id=670691</a:t>
            </a:r>
          </a:p>
          <a:p>
            <a:r>
              <a:t>CNPJ 54871427000194 · Partes relacionadas e conflitos · Excerto da fonte:</a:t>
            </a:r>
          </a:p>
          <a:p>
            <a:r>
              <a:t>4.10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54871427000194 · Partes relacionadas e conflitos · Regulamento · ID 670691 · 2024-04-28 · versão 1 · p. 11 · 4.11 · https://fnet.bmfbovespa.com.br/fnet/publico/visualizarDocumento?id=670691</a:t>
            </a:r>
          </a:p>
          <a:p>
            <a:r>
              <a:t>CNPJ 54871427000194 · Partes relacionadas e conflitos · Excerto da fonte:</a:t>
            </a:r>
          </a:p>
          <a:p>
            <a:r>
              <a:t>4.11 A Classe poderá, direta ou indiretamente e, nos termos da legislação aplicável: (i) adquirir Direitos  Creditórios que sejam cedidos e/ou originados pelo ADMINISTRADOR e/ou pelo GESTOR, ou partes  a eles relacionadas, tal como definidas pelas regras contábeis que tratam desse assunto; e (ii) ceder  Direitos Creditórios a qualquer das pessoas, fundos de investimento ou entidades referidas no item (i)  acima, desde que (i) o ADMINISTRADOR, GESTOR, a entidade registradora e o CUSTODIANTE de  Direitos Creditórios não sejam partes relacionadas entre si; e (ii) a entidade registradora e o  CUSTODIANTE dos Direitos Creditórios não sejam partes relacionadas ao originador ou Cedente.</a:t>
            </a:r>
          </a:p>
          <a:p>
            <a:r>
              <a:t>CNPJ 54871427000194 · Partes relacionadas e conflitos · Regulamento · ID 670691 · 2024-04-28 · versão 1 · p. 25 · 12.21 · https://fnet.bmfbovespa.com.br/fnet/publico/visualizarDocumento?id=670691</a:t>
            </a:r>
          </a:p>
          <a:p>
            <a:r>
              <a:t>CNPJ 54871427000194 · Partes relacionadas e conflitos · Excerto da fonte:</a:t>
            </a:r>
          </a:p>
          <a:p>
            <a:r>
              <a:t>12.21 O GESTOR, em nome da Classe, poderá contratar um ou mais terceiros para a prestação de serviços  de Agente de Cobrança de Direitos Creditórios Inadimplidos, os quais poderão ser partes relacionadas  ou integrar o grupo do ADMINISTRADOR ou dos demais prestadores de serviços da Classe. ] Serão  atribuições do Agente de Cobrança, observado o disposto neste Regulamento e na regulamentação  aplicável:</a:t>
            </a:r>
          </a:p>
          <a:p>
            <a:r>
              <a:t>(i) sempre que necessário, notificar os Devedores sobre a cessão dos Direitos Creditórios à  Classe, nos termos do Art. 290 do Código Civil;</a:t>
            </a:r>
          </a:p>
          <a:p>
            <a:r>
              <a:t>(ii) sempre que solicitado pelo ADMINISTRADOR e/ou pelo GESTOR, reportar ao  ADMINISTRADOR e ao GESTOR as ações tomadas e/ou eventos relevantes ocorridos no  âmbito da cobrança, seja judicial ou extrajudicial, dos Direitos Creditórios Inadimplidos, bem  como o estado de ref erida cobrança;</a:t>
            </a:r>
          </a:p>
          <a:p>
            <a:r>
              <a:t>(iii) comparecer à Assembleia Especial de Cotistas quando assim requerido pelo  ADMINISTRADOR;</a:t>
            </a:r>
          </a:p>
          <a:p>
            <a:r>
              <a:t>(iv) conf irmar o recebimento dos boletos bancários de cobrança enviados aos Devedores, se  aplicável;</a:t>
            </a:r>
          </a:p>
          <a:p>
            <a:r>
              <a:t>(v) controlar, coordenar, gerir e f iscalizar as ações de cobrança de Direitos Creditórios  Inadimplidos;</a:t>
            </a:r>
          </a:p>
          <a:p>
            <a:r>
              <a:t>(vi) adotar, em nome e por conta da Classe, todos os procedimentos de cobrança dos Direitos  Creditórios Inadimplidos de titularidade da Classe;</a:t>
            </a:r>
          </a:p>
          <a:p>
            <a:r>
              <a:t>(vii) conf orme o caso, ef etuar a inclusão ou exclusão do nome de quaisquer Devedores dos  Direitos Creditórios Inadimplidos no registro negativo de órgãos e/ou sistemas de informação  e proteção ao crédito; e</a:t>
            </a:r>
          </a:p>
          <a:p>
            <a:r>
              <a:t>(viii) conduzir, por si ou por meio dos assessores legais contratados para esse f im, processo  administrativo, judicial e/ou arbitral contra os Devedores, incluindo, ainda, a excussão de  eventuais garantias acessórias aos Direitos Creditórios.</a:t>
            </a:r>
          </a:p>
          <a:p>
            <a:r>
              <a:t>CNPJ 54871427000194 · Partes relacionadas e conflitos · Condição: Documentos atuais selecionados no inventário por categoria/escopo; a data documental isolada não comprova vigência jurídica.</a:t>
            </a:r>
          </a:p>
          <a:p>
            <a:r>
              <a:t>CNPJ 54871427000194 · Partes relacionadas e conflitos · Versão e prevalência: Documentos atuais selecionados no inventário por categoria/escopo; a data documental isolada não comprova vigência jurídica.</a:t>
            </a:r>
          </a:p>
          <a:p>
            <a:r>
              <a:t>CNPJ 54871427000194 · Partes relacionadas e conflitos · Resumo do histórico: {"count": 1, "dates": ["2024-04-19"], "document_count": 1, "sources": [{"document_id": "670689", "title": "Regulamento", "reference_date": "2024-04-19", "version": "1", "page": 11, "clause": "4.10", "url": "https://fnet.bmfbovespa.com.br/fnet/publico/visualizarDocumento?id=670689", "sha256": "891bc9bc5d87bbc02ec139077a84d2702eb81ea02035fb71d24f5b8366b94a0b"}], "reference": {"path": "history/54871427000194.json", "criterion_id": "related_parties", "total_count": 1, "preview_count": 1, "full_text_deferred": true, "sha256": "35d7cd99be50c7287c9fb675cf4f2e736002315295a225a9efa79c8d9186d874"}}</a:t>
            </a:r>
          </a:p>
          <a:p>
            <a:r>
              <a:t>CNPJ 60010416000112 · Partes relacionadas e conflitos · Regulamento · ID 1051393 · 2025-10-09 · versão 1 · p. 12 · 4.8 · https://fnet.bmfbovespa.com.br/fnet/publico/visualizarDocumento?id=1051393</a:t>
            </a:r>
          </a:p>
          <a:p>
            <a:r>
              <a:t>CNPJ 60010416000112 · Partes relacionadas e conflitos · Excerto da fonte:</a:t>
            </a:r>
          </a:p>
          <a:p>
            <a:r>
              <a:t>4.8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60010416000112 · Partes relacionadas e conflitos · Regulamento · ID 1051393 · 2025-10-09 · versão 1 · p. 12 · 4.9 · https://fnet.bmfbovespa.com.br/fnet/publico/visualizarDocumento?id=1051393</a:t>
            </a:r>
          </a:p>
          <a:p>
            <a:r>
              <a:t>CNPJ 60010416000112 · Partes relacionadas e conflitos · Excerto da fonte:</a:t>
            </a:r>
          </a:p>
          <a:p>
            <a:r>
              <a:t>4.9 Sem prejuízo de limites mais restritivos definidos neste Regulamento, o Gestor deverá observar, ainda, os  seguintes limites de concentração para a composição da Carteira:</a:t>
            </a:r>
          </a:p>
          <a:p>
            <a:r>
              <a:t> (i ) Até 100% (cem por cento) da parcela do Patrimônio Líquido investida em Ativos  Financeiros de Liquidez poderá ser alocada em Ativos Financeiros de Liquidez de  emissão ou que envolvam retenção de risco por parte do Administrador, Gestor, e/ou  suas partes relacionadas; e</a:t>
            </a:r>
          </a:p>
          <a:p>
            <a:r>
              <a:t> (ii) Até 100% (cem por cento) da parcela do Patrimônio Líquido investida em operações  com derivativos poderá ser alocada em derivativos nos quais, inexistindo contraparte  central, se tenha como contraparte o Gestor e/ou suas partes relacionadas.</a:t>
            </a:r>
          </a:p>
          <a:p>
            <a:r>
              <a:t>CNPJ 60010416000112 · Partes relacionadas e conflitos · Regulamento · ID 1051393 · 2025-10-09 · versão 1 · p. 12 · 4.12.1 · https://fnet.bmfbovespa.com.br/fnet/publico/visualizarDocumento?id=1051393</a:t>
            </a:r>
          </a:p>
          <a:p>
            <a:r>
              <a:t>CNPJ 60010416000112 · Partes relacionadas e conflitos · Excerto da fonte:</a:t>
            </a:r>
          </a:p>
          <a:p>
            <a:r>
              <a:t>4.12.1. Após o término do Período de Investimento, a Classe utilizará os recursos provenientes do  pagamento dos Direitos Creditórios e demais aplicações para amortização das Cotas, observada  a ordem de alocação de recursos def inida no Capítulo 7 abaixo.</a:t>
            </a:r>
          </a:p>
          <a:p>
            <a:r>
              <a:t>Regras, procedimentos e limites para efetuar cessão de direitos creditórios para o cedente e suas partes relacionadas</a:t>
            </a:r>
          </a:p>
          <a:p>
            <a:r>
              <a:t>CNPJ 60010416000112 · Partes relacionadas e conflitos · Condição: Documentos atuais selecionados no inventário por categoria/escopo; a data documental isolada não comprova vigência jurídica.</a:t>
            </a:r>
          </a:p>
          <a:p>
            <a:r>
              <a:t>CNPJ 60010416000112 · Partes relacionadas e conflitos · Versão e prevalência: Documentos atuais selecionados no inventário por categoria/escopo; a data documental isolada não comprova vigência jurídica.</a:t>
            </a:r>
          </a:p>
          <a:p>
            <a:r>
              <a:t>CNPJ 60010416000112 · Partes relacionadas e conflitos · Resumo do histórico: {"count": 1, "dates": ["2025-03-20"], "document_count": 1, "sources": [{"document_id": "993786", "title": "Regulamento", "reference_date": "2025-03-20", "version": "1", "page": 12, "clause": "4.8", "url": "https://fnet.bmfbovespa.com.br/fnet/publico/visualizarDocumento?id=993786", "sha256": "fd0fdd369a195510d81f81f505195a0b09e5f43522a990afa7d58c4f872921c8"}], "reference": {"path": "history/60010416000112.json", "criterion_id": "related_parties", "total_count": 1, "preview_count": 1, "full_text_deferred": true, "sha256": "8e2bd813f4c51cf01f6bfaad164bafe69d2bbb192f753eac92da3a01c2e63046"}}</a:t>
            </a:r>
          </a:p>
          <a:p>
            <a:r>
              <a:t>CNPJ 62696791000193 · Partes relacionadas e conflitos · Regulamento · ID 1143317 · 2026-03-20 · versão 1 · p. 12 · 4.10 · https://fnet.bmfbovespa.com.br/fnet/publico/visualizarDocumento?id=1143317</a:t>
            </a:r>
          </a:p>
          <a:p>
            <a:r>
              <a:t>CNPJ 62696791000193 · Partes relacionadas e conflitos · Excerto da fonte:</a:t>
            </a:r>
          </a:p>
          <a:p>
            <a:r>
              <a:t>4.10 Sem prejuízo de limites mais restritivos definidos neste Anexo, o Gestor deverá observar, ainda, os  seguintes limites de concentração:</a:t>
            </a:r>
          </a:p>
          <a:p>
            <a:r>
              <a:t> (i) A Classe poderá, direta ou indiretamente, ter até 100% (cem por cento) do Patrimônio  Líquido representado por Direitos Creditórios do Agronegócio originados ou cedidos  pelo Administrador, Gestor e/ou suas partes relacionadas, tal como definidas pelas  regras contábeis que tratam desse assunto, desde que (a) o Gest or, a entidade  registradora e o Custodiante dos Direitos Creditórios do Agronegócio não sejam partes  relacionadas entre si; e (b) a entidade registradora e o Custodiante dos Direitos  Creditórios do Agronegócio não sejam partes relacionadas ao originador ou Cedente.</a:t>
            </a:r>
          </a:p>
          <a:p>
            <a:r>
              <a:t> (ii) No máximo, 100% (cem por cento) do Patrimônio Líquido investido em Ativos  Financeiros de Liquidez de emissão ou que envolvam retenção de risco por parte do  Administrador, Gestor, e/ou suas partes relacionadas, observado ainda o disposto no  item Error! Reference source not found.;</a:t>
            </a:r>
          </a:p>
          <a:p>
            <a:r>
              <a:t> (iii) No máximo, 100% (cem por cento) do Patrimônio Líquido investido em operações com  derivativos nos quais, inexistindo contraparte central, se tenha como contraparte o  Gestor, e/ou suas partes relacionadas, observado ainda o disposto no item Error!  Reference source not found.;</a:t>
            </a:r>
          </a:p>
          <a:p>
            <a:r>
              <a:t> (iv) No máximo, 100% (cem por cento) do Patrimônio Líquido em cotas de uma mesma  classe;</a:t>
            </a:r>
          </a:p>
          <a:p>
            <a:r>
              <a:t> (v) É vedada a aquisição de precatórios f ederais.</a:t>
            </a:r>
          </a:p>
          <a:p>
            <a:r>
              <a:t> (vi) No máximo, 49% (quarenta e nove por cento) do Patrimônio Líquido em Ativos  Imobiliários do Agronegócio;</a:t>
            </a:r>
          </a:p>
          <a:p>
            <a:r>
              <a:t> (vii) No máximo, 49% (quarenta e nove por cento) do Patrimônio Líquido em Participações  do Agronegócio;</a:t>
            </a:r>
          </a:p>
          <a:p>
            <a:r>
              <a:t> (viii) No máximo, 49% (quarenta e nove por cento) do Patrimônio Líquido em Ativos  Financeiros do Agronegócio; e</a:t>
            </a:r>
          </a:p>
          <a:p>
            <a:r>
              <a:t> (ix) No máximo, 49% (quarenta e nove por cento) do Patrimônio Líquido em Ativos em Geral  do Agronegócio;</a:t>
            </a:r>
          </a:p>
          <a:p>
            <a:r>
              <a:t> Ativos Recuperados</a:t>
            </a:r>
          </a:p>
          <a:p>
            <a:r>
              <a:t>CNPJ 62696791000193 · Partes relacionadas e conflitos · Regulamento · ID 1143317 · 2026-03-20 · versão 1 · p. 11 · 4.8 · https://fnet.bmfbovespa.com.br/fnet/publico/visualizarDocumento?id=1143317</a:t>
            </a:r>
          </a:p>
          <a:p>
            <a:r>
              <a:t>CNPJ 62696791000193 · Partes relacionadas e conflitos · Excerto da fonte:</a:t>
            </a:r>
          </a:p>
          <a:p>
            <a:r>
              <a:t>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relacionadas ao Gestor.</a:t>
            </a:r>
          </a:p>
          <a:p>
            <a:r>
              <a:t>CNPJ 62696791000193 · Partes relacionadas e conflitos · Regulamento · ID 1143317 · 2026-03-20 · versão 1 · p. 14 · 4.21.1 · https://fnet.bmfbovespa.com.br/fnet/publico/visualizarDocumento?id=1143317</a:t>
            </a:r>
          </a:p>
          <a:p>
            <a:r>
              <a:t>CNPJ 62696791000193 · Partes relacionadas e conflitos · Excerto da fonte:</a:t>
            </a:r>
          </a:p>
          <a:p>
            <a:r>
              <a:t>4.21.1 Sem prejuízo do disposto acima, poderá ser contratado terceiro especializado para o  gerenciamento das obras, para controle dos desembolsos, conforme medições durante a etapa  de desenvolvimento e construção dos Ativos Imobiliários do Agronegócio, sendo certo que,  caso haja a contratação de terceiros em situação de conflito de interesses, deverá ser aprovado  em assembleia de Cotistas.</a:t>
            </a:r>
          </a:p>
          <a:p>
            <a:r>
              <a:t>CNPJ 62696791000193 · Partes relacionadas e conflitos · Condição: Documentos atuais selecionados no inventário por categoria/escopo; a data documental isolada não comprova vigência jurídica.</a:t>
            </a:r>
          </a:p>
          <a:p>
            <a:r>
              <a:t>CNPJ 62696791000193 · Partes relacionadas e conflitos · Versão e prevalência: Documentos atuais selecionados no inventário por categoria/escopo; a data documental isolada não comprova vigência jurídica.</a:t>
            </a:r>
          </a:p>
          <a:p>
            <a:r>
              <a:t>CNPJ 55563624000109 · Partes relacionadas e conflitos · Regulamento · ID 1192614 · 2026-04-30 · versão 1 · p. 13 · 4.12.1 · https://fnet.bmfbovespa.com.br/fnet/publico/visualizarDocumento?id=1192614</a:t>
            </a:r>
          </a:p>
          <a:p>
            <a:r>
              <a:t>CNPJ 55563624000109 · Partes relacionadas e conflitos · Excerto da fonte:</a:t>
            </a:r>
          </a:p>
          <a:p>
            <a:r>
              <a:t>4.12.1 A Classe poderá ter até 100% (cem por cento) do Patrimônio Líquido representado por Cotas da Classe  Investida administrados pelo ADMINISTRADOR, e geridos ou cogeridos pelo GESTOR e/ou suas partes  relacionadas.</a:t>
            </a:r>
          </a:p>
          <a:p>
            <a:r>
              <a:t> Revolvência da Carteira</a:t>
            </a:r>
          </a:p>
          <a:p>
            <a:r>
              <a:t>CNPJ 55563624000109 · Partes relacionadas e conflitos · Regulamento · ID 1192614 · 2026-04-30 · versão 1 · p. 28 · 13.2 · https://fnet.bmfbovespa.com.br/fnet/publico/visualizarDocumento?id=1192614</a:t>
            </a:r>
          </a:p>
          <a:p>
            <a:r>
              <a:t>CNPJ 55563624000109 · Partes relacionadas e conflitos · Excerto da fonte:</a:t>
            </a:r>
          </a:p>
          <a:p>
            <a:r>
              <a:t>13.2 Em condições ordinárias, as Cotas da Classe Investida não pagarão remuneração aos prestadores de serviços  essenciais da Classe Investida, nos termos de seu regulamento. Não obstante, em cenário extraordinário  conforme descrito no item 15.1.1 (iii), e para fins de atendimento ao artigo 98 da parte geral da Resolução CVM  175, a taxa máxima de administração corresponderá ao valor da Taxa Mínima de Administração acrescida de até  0,10% (dez centésimos por cento) ao ano incidente sobre o patrimônio líquido da Classe Investida,  compreendendo a taxa de administração da Classe Investida geridos por partes relacionadas ao GESTOR, cujas  cotas não estão admitidas à negociação em mercado organizado, conforme prevista no regulamento da Classe  Investida (“Taxa Máxima de Administração” e, quando referida em conjunto com a Taxa Mínima de  Administração, como “Taxa de Administração”). Caso a taxa de administração da Classe Investida não se  enquadre no disposto acima, estará disposta no regulamento da Classe Investida.</a:t>
            </a:r>
          </a:p>
          <a:p>
            <a:r>
              <a:t>CNPJ 55563624000109 · Partes relacionadas e conflitos · Regulamento · ID 1192614 · 2026-04-30 · versão 1 · p. 37 · https://fnet.bmfbovespa.com.br/fnet/publico/visualizarDocumento?id=1192614</a:t>
            </a:r>
          </a:p>
          <a:p>
            <a:r>
              <a:t>CNPJ 55563624000109 · Partes relacionadas e conflitos · Excerto da fonte:</a:t>
            </a:r>
          </a:p>
          <a:p>
            <a:r>
              <a:t>(ix) Possibilidade de conflito de interesses. As Cotas poderão ser adquiridas por investidores que  sejam partes relacionadas à Classe Investida ou aos prestadores de serviços da Classe Investida. Nessa  hipótese, poderá haver situações de conflito de interesses entre os interesses desses investidores e o  interesse dos demais Cotistas, podendo qualquer desses investidores, inclusive, aprovar deliberações  contrárias aos interesses dos demais Cotistas caso sejam titulares da maioria das Cotas presentes às  Assembleias de Cotistas.</a:t>
            </a:r>
          </a:p>
          <a:p>
            <a:r>
              <a:t>CNPJ 55563624000109 · Partes relacionadas e conflitos · Condição: Documentos atuais selecionados no inventário por categoria/escopo; a data documental isolada não comprova vigência jurídica.</a:t>
            </a:r>
          </a:p>
          <a:p>
            <a:r>
              <a:t>CNPJ 55563624000109 · Partes relacionadas e conflitos · Versão e prevalência: Documentos atuais selecionados no inventário por categoria/escopo; a data documental isolada não comprova vigência jurídica.</a:t>
            </a:r>
          </a:p>
          <a:p>
            <a:r>
              <a:t>CNPJ 55563624000109 · Partes relacionadas e conflitos · Resumo do histórico: {"count": 2, "dates": ["2025-01-31", "2026-01-31"], "document_count": 2, "sources": [{"document_id": "1178840", "title": "Demonstrações Financeiras", "reference_date": "2026-01-31", "version": "1", "page": 23, "url": "https://fnet.bmfbovespa.com.br/fnet/publico/visualizarDocumento?id=1178840", "sha256": "c458e98664c5c907ddb5a05a94b120bed4e05295b2bfc420f5ba69af0a229abe"}, {"document_id": "891861", "title": "Demonstrações Financeiras", "reference_date": "2025-01-31", "version": "1", "page": 23, "url": "https://fnet.bmfbovespa.com.br/fnet/publico/visualizarDocumento?id=891861", "sha256": "e9cb9e6ddbe505fe068cfcac33605165a98313489de0d3ce6d4d238263c3f3e7"}], "reference": {"path": "history/55563624000109.json", "criterion_id": "related_parties", "total_count": 2, "preview_count": 2, "full_text_deferred": true, "sha256": "7835d573fb58a3c19adf5b8ecc2aee2bdbb9a88f7a0c0209b5f262b64c7522e3"}}</a:t>
            </a:r>
          </a:p>
          <a:p>
            <a:r>
              <a:t>CNPJ 62552447000120 · Partes relacionadas e conflitos · Regulamento · ID 1200623 · 2026-05-21 · versão 1 · p. 14 · 4.10 · https://fnet.bmfbovespa.com.br/fnet/publico/visualizarDocumento?id=1200623</a:t>
            </a:r>
          </a:p>
          <a:p>
            <a:r>
              <a:t>CNPJ 62552447000120 · Partes relacionadas e conflitos · Excerto da fonte:</a:t>
            </a:r>
          </a:p>
          <a:p>
            <a:r>
              <a:t>4.10 Nos termos do art. 45, §7º, inciso II, do Anexo Normativo II, a Classe poderá ter até 100% (cem por  cento) de seu Patrimônio Líquido alocado em Direitos Creditórios, derivativos, observado o disposto  abaixo,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62552447000120 · Partes relacionadas e conflitos · Regulamento · ID 1200623 · 2026-05-21 · versão 1 · p. 14 · 4.11 · https://fnet.bmfbovespa.com.br/fnet/publico/visualizarDocumento?id=1200623</a:t>
            </a:r>
          </a:p>
          <a:p>
            <a:r>
              <a:t>CNPJ 62552447000120 · Partes relacionadas e conflitos · Excerto da fonte:</a:t>
            </a:r>
          </a:p>
          <a:p>
            <a:r>
              <a:t>4.11 Sem prejuízo de limites mais restritivos definidos neste Regulamento, o Gestor deverá observar, ainda,  os seguintes limites de concentração para a composição da Carteira:</a:t>
            </a:r>
          </a:p>
          <a:p>
            <a:r>
              <a:t> (i) Até 100% (cem por cento) da parcela do Patrimônio Líquido investida em Direitos  Creditórios poderão ser alocados em Direitos Creditórios originados ou cedidos pelo  Administrador, Gestor e/ou suas partes relacionadas, tal como definidas pelas regras  contábeis que tratam desse assunto . A Classe também poderá ceder Direitos  Creditórios a qualquer das pessoas, f undos de investimento ou entidades ref eridas  acima, desde que a entidade registradora e o Custodiante dos Direitos Creditórios não  sejam partes relacionadas ao Originador ou Endossante;</a:t>
            </a:r>
          </a:p>
          <a:p>
            <a:r>
              <a:t> (ii) Até 100% (cem por cento) da parcela do Patrimônio Líquido investida em Ativos  Financeiros poderão ser alocados em Ativos Financeiros de emissão ou que envolvam  retenção de risco por parte do Administrador, Gestor e/ou suas partes relacionadas; e</a:t>
            </a:r>
          </a:p>
          <a:p>
            <a:r>
              <a:t> (iii) Até 100% (cem por cento) da parcela do Patrimônio Líquido investida em operações  com derivativos poderão ser alocados em operações com derivativos nas quais,  inexistindo contraparte central, se tenha como contraparte o Gestor e/ou suas partes  relacionadas.</a:t>
            </a:r>
          </a:p>
          <a:p>
            <a:r>
              <a:t>CNPJ 62552447000120 · Partes relacionadas e conflitos · Regulamento · ID 1200623 · 2026-05-21 · versão 1 · p. 15 · 4.18 · https://fnet.bmfbovespa.com.br/fnet/publico/visualizarDocumento?id=1200623</a:t>
            </a:r>
          </a:p>
          <a:p>
            <a:r>
              <a:t>CNPJ 62552447000120 · Partes relacionadas e conflitos · Excerto da fonte:</a:t>
            </a:r>
          </a:p>
          <a:p>
            <a:r>
              <a:t>4.18 Ainda que integrem a Carteira, os Ativos Recuperados não serão, sob qualquer hipótese, adquiridos  como parte da Política de Investimento, de forma que serão de sua propriedade exclusivamente, não  devendo, portanto, ser contabilizados para f ins de enquadramento da Classe.</a:t>
            </a:r>
          </a:p>
          <a:p>
            <a:r>
              <a:t>Regras, procedimentos e limites para efetuar qualquer modalidade de transferência dos Direitos Creditórios, incluindo, sem limitação, endosso (“Transferência”) para o Endossante e suas partes relacionadas</a:t>
            </a:r>
          </a:p>
          <a:p>
            <a:r>
              <a:t>CNPJ 62552447000120 · Partes relacionadas e conflitos · Condição: Documentos atuais selecionados no inventário por categoria/escopo; a data documental isolada não comprova vigência jurídica.</a:t>
            </a:r>
          </a:p>
          <a:p>
            <a:r>
              <a:t>CNPJ 62552447000120 · Partes relacionadas e conflitos · Versão e prevalência: Documentos atuais selecionados no inventário por categoria/escopo; a data documental isolada não comprova vigência jurídica.</a:t>
            </a:r>
          </a:p>
          <a:p>
            <a:r>
              <a:t>CNPJ 63953620000165 · Partes relacionadas e conflitos · Anexo ao Regulamento · ID 1222863 · 2026-06-02 · versão 1 · p. 6 · 4.14 · https://fnet.bmfbovespa.com.br/fnet/publico/visualizarDocumento?id=1222863</a:t>
            </a:r>
          </a:p>
          <a:p>
            <a:r>
              <a:t>CNPJ 63953620000165 · Partes relacionadas e conflitos · Excerto da fonte:</a:t>
            </a:r>
          </a:p>
          <a:p>
            <a:r>
              <a:t>4.14 Nos termos do Art. 45, §7º, inciso II, do Anexo Normativo II da Resolução CVM 175, a Classe poderá ter até 100%  (cem por cento) de seu Patrimônio Líquido alocado em Direitos Creditórios, derivativos, observado o disposto  neste Anexo I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63953620000165 · Partes relacionadas e conflitos · Anexo ao Regulamento · ID 1222863 · 2026-06-02 · versão 1 · p. 8 · 4.21 · https://fnet.bmfbovespa.com.br/fnet/publico/visualizarDocumento?id=1222863</a:t>
            </a:r>
          </a:p>
          <a:p>
            <a:r>
              <a:t>CNPJ 63953620000165 · Partes relacionadas e conflitos · Excerto da fonte:</a:t>
            </a:r>
          </a:p>
          <a:p>
            <a:r>
              <a:t>4.21 Ainda que integrem a carteira da Classe, os Ativos Recuperados não serão, sob qualquer hipótese, adquiridos  como parte da Política de Investimento da Classe, de forma que serão de sua propriedade exclusivamente, não  devendo, portanto, ser contabilizados para fins de enquadramento da Classe.</a:t>
            </a:r>
          </a:p>
          <a:p>
            <a:r>
              <a:t> Regras, procedimentos e limites para efetuar o Endosso de Direitos Creditórios Crédito Consignado para o Endossante e  suas partes relacionadas</a:t>
            </a:r>
          </a:p>
          <a:p>
            <a:r>
              <a:t>CNPJ 63953620000165 · Partes relacionadas e conflitos · Anexo ao Regulamento · ID 1222863 · 2026-06-02 · versão 1 · p. 7 · https://fnet.bmfbovespa.com.br/fnet/publico/visualizarDocumento?id=1222863</a:t>
            </a:r>
          </a:p>
          <a:p>
            <a:r>
              <a:t>CNPJ 63953620000165 · Partes relacionadas e conflitos · Excerto da fonte:</a:t>
            </a:r>
          </a:p>
          <a:p>
            <a:r>
              <a:t>Anexo I ao Regulamento  CLASSE CONSIGNADO PRIVADO DO MT GLOBAL FUNDO DE INVESTIMENTO EM DIREITOS  CREDITÓRIOS RESPONSABILIDADE LIMITADA</a:t>
            </a:r>
          </a:p>
          <a:p>
            <a:r>
              <a:t> (i)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 (ii) No máximo, 50% (cinquenta por cento) do Patrimônio Líquido investido em Ativos Financeiros  de Liquidez de emissão ou que envolvam retenção de risco por parte do Administrador, Gestor,  e/ou suas partes relacionadas, observado ainda o disposto acima;</a:t>
            </a:r>
          </a:p>
          <a:p>
            <a:r>
              <a:t> (iii) No máximo, 100% (cem por cento) do Patrimônio Líquido investido em operações com  derivativos nos quais, inexistindo contraparte central, se tenha como contraparte o Gestor,  Consultora e/ou suas partes relacionadas, observado ainda o disposto acima;</a:t>
            </a:r>
          </a:p>
          <a:p>
            <a:r>
              <a:t> (iv) A Classe poderá investir até 100% (cem por cento) de seu Patrimônio Líquido em Direitos  Creditórios Não-Padronizados;</a:t>
            </a:r>
          </a:p>
          <a:p>
            <a:r>
              <a:t> (v) É vedada a aquisição de precatórios federais.</a:t>
            </a:r>
          </a:p>
          <a:p>
            <a:r>
              <a:t>CNPJ 63953620000165 · Partes relacionadas e conflitos · Condição: Documentos atuais selecionados no inventário por categoria/escopo; a data documental isolada não comprova vigência jurídica.</a:t>
            </a:r>
          </a:p>
          <a:p>
            <a:r>
              <a:t>CNPJ 63953620000165 · Partes relacionadas e conflitos · Versão e prevalência: Documentos atuais selecionados no inventário por categoria/escopo; a data documental isolada não comprova vigência jurídica.</a:t>
            </a:r>
          </a:p>
          <a:p>
            <a:r>
              <a:t>CNPJ 54871427000194 · Histórico de alterações materiais · Instrumento Particular de Alteração do Regulamento · ID 670690 · 28/05/2024 · versão Instrumento Particular de Alteração do Regulamento — referência 28/05/2024 · p. 1 · AGC, 4.1–4.2 · https://fnet.bmfbovespa.com.br/fnet/publico/visualizarDocumento?id=670690</a:t>
            </a:r>
          </a:p>
          <a:p>
            <a:r>
              <a:t>CNPJ 54871427000194 · Histórico de alterações materiais · Excerto da fonte:</a:t>
            </a:r>
          </a:p>
          <a:p>
            <a:r>
              <a:t>4.1. A alteração integral do anexo da Classe Única, que compõe o regulamento do Fundo (“Anexo da Classe Única” e “Regulamento”) e seus complementos, para de f orma a alterar a Política de Investimentos da Classe para aquisição de direitos creditórios representados por Certif icados de Cédulas de Crédito Bancário (“CCCBs” e “Direitos Creditórios”), bem como refletir os novos critérios de elegibilidade para aquisição dos Direitos Creditórios, os documentos comprobatórios do lastro e f atores de risco aplicáveis. 4.2. Tendo em vista a aprovação dos itens. acima, deliberaram por aprovar o novo Regulamento Consolidado, que vigorará na forma do Anexo I à presente Ata, o qual terá efeitos retroativos a abertura de 28 de maio de 2024. 4.3. Por f im, por aprovar a Administradora a adotar todas as medidas necessárias para implementação das deliberações acima. 5. ENCERRAMENTO Nada mais havendo a tratar, f oi a reunião encerrada. Rio de Janeiro, 28 de maio de 2024. Mesa: Diego Prado Tassiana Lima Presidente</a:t>
            </a:r>
          </a:p>
          <a:p>
            <a:r>
              <a:t>CNPJ 54871427000194 · Histórico de alterações materiais · Regulamento · ID 670691 · 28/04/2024 · versão Regulamento — referência 28/04/2024 · p. 9 · Regulamento 670691, Anexo I, 4.2 · https://fnet.bmfbovespa.com.br/fnet/publico/visualizarDocumento?id=670691</a:t>
            </a:r>
          </a:p>
          <a:p>
            <a:r>
              <a:t>CNPJ 54871427000194 · Histórico de alterações materiais · Excerto da fonte:</a:t>
            </a:r>
          </a:p>
          <a:p>
            <a:r>
              <a:t>4.2 Os Direitos Creditórios representados por Certif icados de Cédulas de Crédito Bancário (“CCCBs”), representativos de um agrupamento de determinadas CCBs, originadas no âmbito de operações de empréstimos pessoais concedidos por um Endossante a um Devedor, devidamente f ormalizadas por via eletrônica de acordo com a legislação aplicável, segundo os critérios de composição e diversificação estabelecidos pela regulamentação aplicável e neste Regulamento. 4.2.1 Cada Endossante deve ter celebrado convênio com órgão consignante, previamente à cessão de Direitos Creditórios à Classe, que contemplam a obrigação da manutenção da consignação/averbação junto ao novo órgão, de modo a possibilitar o pagamento dos Direitos Creditórios por meio de consignação em f olha de pagamento ou de benef ício . 4.3 Os pagamentos relativos aos Direitos Creditórios de titularidade da Classe serão realizados mediante consignação em folha, débito em conta de titularidade dos Devedores e pagamentos de sinistros, para pagamento dos valores correspondentes às parcelas das CCBs representadas pelos CCCBs de titularidade da Classe, os quais serão conciliados e repassados pelo Endossan</a:t>
            </a:r>
          </a:p>
          <a:p>
            <a:r>
              <a:t>CNPJ 54871427000194 · Histórico de alterações materiais · Condição: A classificação Fundos Net do documento 670690 é “regulamento”, mas seu conteúdo é uma AGC. A divergência de datas impede usar a referência do 670691 como prova autônoma de início de vigência.</a:t>
            </a:r>
          </a:p>
          <a:p>
            <a:r>
              <a:t>CNPJ 54871427000194 · Histórico de alterações materiais · Motivo: Não localizada uma cláusula material para este critério nos textos identificados e processados. A ausência de resultado não comprova inexistência da regra.</a:t>
            </a:r>
          </a:p>
          <a:p>
            <a:r>
              <a:t>CNPJ 54871427000194 · Histórico de alterações materiais · Versão e prevalência: Leitura específica das cláusulas indicadas; condições e conflitos preservados. Seleção documental atual não comprova vigência jurídica por data isolada.</a:t>
            </a:r>
          </a:p>
          <a:p>
            <a:r>
              <a:t>CNPJ 60010416000112 · Histórico de alterações materiais · Demonstrações Financeiras - Fusão, cisão e incorporação · ID 1298690 · 2026-05-08 · versão 1 · p. 30 · https://fnet.bmfbovespa.com.br/fnet/publico/visualizarDocumento?id=1298690</a:t>
            </a:r>
          </a:p>
          <a:p>
            <a:r>
              <a:t>CNPJ 60010416000112 · Histórico de alterações materiais · Excerto da fonte:</a:t>
            </a:r>
          </a:p>
          <a:p>
            <a:r>
              <a:t>Durante o período de investimento, a Administradora poderá deliberar por realizar novas  emissões de Cotas Seniores, sem a necessidade de aprovação em Assembleia Especial de  Cotistas ou alteração do Regulamento, limitadas ao montante máximo de R$ 1.000.000 (um  bilhão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seniores emitidas não sejam superiores aos  prazos de vencimento da primeira emissão.</a:t>
            </a:r>
          </a:p>
          <a:p>
            <a:r>
              <a:t>CNPJ 60010416000112 · Histórico de alterações materiais · Demonstrações Financeiras - Fusão, cisão e incorporação · ID 1298690 · 2026-05-08 · versão 1 · p. 30 · https://fnet.bmfbovespa.com.br/fnet/publico/visualizarDocumento?id=1298690</a:t>
            </a:r>
          </a:p>
          <a:p>
            <a:r>
              <a:t>CNPJ 60010416000112 · Histórico de alterações materiais · Excerto da fonte:</a:t>
            </a:r>
          </a:p>
          <a:p>
            <a:r>
              <a:t>Durante o período de investimento, a Administradora poderá deliberar por realizar novas  emissões de cotas subordinadas, sem a necessidade de aprovação em Assembleia Especial  de Cotistas ou alteração do Regulamento, limitadas ao montante máximo de R$ 50.000  (cinquenta milhões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subordinadas emitidas não sejam  superiores aos prazos de vencimento da primeira emissão.</a:t>
            </a:r>
          </a:p>
          <a:p>
            <a:r>
              <a:t>CNPJ 60010416000112 · Histórico de alterações materiais · Condição: Documentos atuais selecionados no inventário por categoria/escopo; a data documental isolada não comprova vigência jurídica.</a:t>
            </a:r>
          </a:p>
          <a:p>
            <a:r>
              <a:t>CNPJ 60010416000112 · Histórico de alterações materiais · Versão e prevalência: Documentos atuais selecionados no inventário por categoria/escopo; a data documental isolada não comprova vigência jurídica.</a:t>
            </a:r>
          </a:p>
          <a:p>
            <a:r>
              <a:t>CNPJ 60010416000112 · Histórico de alterações materiais · Resumo do histórico: {"count": 5, "dates": ["2025-11-30", "2026-03-18", "2026-04-16"], "document_count": 3, "sources": [{"document_id": "1282181", "title": "Demonstrações Financeiras - Fusão, cisão e incorporação", "reference_date": "2026-04-16", "version": "1", "page": 32, "url": "https://fnet.bmfbovespa.com.br/fnet/publico/visualizarDocumento?id=1282181", "sha256": "b1c6566e43a00bcd00c8a7f30c77b7f86e351bd8e355bbea113f46d1dafda703"}, {"document_id": "1224477", "title": "Demonstrações Financeiras - Fusão, cisão e incorporação", "reference_date": "2026-03-18", "version": "1", "page": 32, "url": "https://fnet.bmfbovespa.com.br/fnet/publico/visualizarDocumento?id=1224477", "sha256": "0751bf0a75bc3b44c2748f5000226665c6ec6698a90c4dc6170b4e6c187759ae"}, {"document_id": "1126154", "title": "Demonstrações Financeiras", "reference_date": "2025-11-30", "version": "1", "page": 32, "url": "https://fnet.bmfbovespa.com.br/fnet/publico/visualizarDocumento?id=1126154", "sha256": "a01e7ccf88c548f12c95cba8526d7efbef6b585c112cd4668eca781c292090b0"}], "reference": {"path": "history/60010416000112.json", "criterion_id": "changes", "total_count": 5, "preview_count": 3, "full_text_deferred": true, "sha256": "8e2bd813f4c51cf01f6bfaad164bafe69d2bbb192f753eac92da3a01c2e63046"}}</a:t>
            </a:r>
          </a:p>
          <a:p>
            <a:r>
              <a:t>CNPJ 62696791000193 · Histórico de alterações materiais · AGE · ID 1143319 · 20/03/2026 10:00 · versão AGE — referência 20/03/2026 10:00 · p. 1 · AGC, 4.1(a)–(c) · https://fnet.bmfbovespa.com.br/fnet/publico/visualizarDocumento?id=1143319</a:t>
            </a:r>
          </a:p>
          <a:p>
            <a:r>
              <a:t>CNPJ 62696791000193 · Histórico de alterações materiais · Excerto da fonte:</a:t>
            </a:r>
          </a:p>
          <a:p>
            <a:r>
              <a:t>4.1. Aprovar a transformação do Fundo, bem como de sua Classe única, em um fundo de investimento nas cadeias produtivas do agronegócio (“Transformação”), nos termos da parte geral e do Anexo Normativo VI da Resolução nº 175 da CVM, de 23 de dezembro de 2022, conforme alterada (“Resolução CVM 175”). a. Aprovar a alteração da denominação do Fundo, que passará a vigorar como BTG PACTUAL CERES CONFINA FUNDO DE INVESTIMENTO NAS CADEIAS PRODUTIVAS DO AGRONEGÓCIO RESPONSABILIDADE LIMITADA, e de sua Classe única, que passará a vigorar como CLASSE ÚNICA DO BTG PACTUAL CERES CONFINA FUNDO DE INVESTIMENTO NAS CADEIAS PRODUTIVAS DO AGRONEGÓCIO RESPONSABILIDADE LIMITADA (“Classe”); b. Aprovar a reforma integral do Regulamento do Fundo, bem como do Anexo descritivo da Classe, para realizar todos os ajustes necessários à implementação da Transformação, incluindo, mas não se limitando, a política de investimentos, o regime tributário e os fatores de risco aplicáveis, conforme itens abaixo; c. Aprovar a alteração do quadro de características gerais do Fundo, considerando a contratação do Cogestor pelo Gestor, nos termos do artigo 52, II, da parte geral da Resolução CVM 175 e no co</a:t>
            </a:r>
          </a:p>
          <a:p>
            <a:r>
              <a:t>CNPJ 62696791000193 · Histórico de alterações materiais · AGE · ID 1143319 · 20/03/2026 10:00 · versão AGE — referência 20/03/2026 10:00 · p. 3 · AGC, 4.1(j)–(k) · https://fnet.bmfbovespa.com.br/fnet/publico/visualizarDocumento?id=1143319</a:t>
            </a:r>
          </a:p>
          <a:p>
            <a:r>
              <a:t>CNPJ 62696791000193 · Histórico de alterações materiais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Histórico de alterações materiais · Instrumento Particular de Emissão de Cotas · ID 1148821 · 27/03/2026 · versão Instrumento Particular de Emissão de Cotas — referência 27/03/2026 · p. 1 · Deliberação Conjunta27/03/2026, item1 · https://fnet.bmfbovespa.com.br/fnet/publico/visualizarDocumento?id=1148821</a:t>
            </a:r>
          </a:p>
          <a:p>
            <a:r>
              <a:t>CNPJ 62696791000193 · Histórico de alterações materiais · Excerto da fonte:</a:t>
            </a:r>
          </a:p>
          <a:p>
            <a:r>
              <a:t>1. Aprovar a 2ª (segunda) emissão da Subclasse Subordinada Júnior da Classe, composta por até 20.000 (vinte mil) Cotas Subordinadas Júnior, com valor nominal unitário de R$ 1.000,00 (mil reais), perfazendo o montante total de R$ 20.000.000,00 (vinte milhões de reais), as quais serão objeto de colocação privada, de acordo com os termos e condições definidos no Apêndice da Subclasse Subordinada Júnior constante do Anexo I Regulamento e descritas abaixo (“2ª Emissão da Subclasse Subordinada Júnior”): a) Rito: as Cotas Subordinadas Júnior objeto da 2ª Emissão da Subclasse Subordinada Júnior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Subordinada Júnior na data de integralização, calculado na forma prevista no respectivo Apêndice; BTG Pactual 1 SAC: 0800 772 28 27 - Ouvidoria: 0800 722 00 48 - btgpactual.com</a:t>
            </a:r>
          </a:p>
          <a:p>
            <a:r>
              <a:t>CNPJ 62696791000193 · Histórico de alterações materiais · Instrumento Particular de Emissão de Cotas · ID 1148821 · 27/03/2026 · versão Instrumento Particular de Emissão de Cotas — referência 27/03/2026 · p. 2 · Deliberação Conjunta, itens2–3 · https://fnet.bmfbovespa.com.br/fnet/publico/visualizarDocumento?id=1148821</a:t>
            </a:r>
          </a:p>
          <a:p>
            <a:r>
              <a:t>CNPJ 62696791000193 · Histórico de alterações materiais · Excerto da fonte:</a:t>
            </a:r>
          </a:p>
          <a:p>
            <a:r>
              <a:t>2. Aprovar a 2ª (segunda) emissão da Subclasse Sênior da Classe, composta por até 150.000 (cento e cinquenta mil) Cotas Seniores, com valor nominal unitário de R$ 1.000,00 (mil reais), perfazendo o montante total de R$ 150.000.000,00 (cento e cinquenta milhões de reais), as quais serão objeto de colocação privada, de acordo com os termos e condições descritos no Apêndice da Subclasse Sênior constante do Anexo I Regulamento e descritas abaixo (“2ª Emissão da Subclasse Sênior”): a) Rito: as Cotas Seniores objeto da 2ª Emissão da Subclasse Sênior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Sênior na data de integralização, calculado na forma prevista no respectivo Apêndice; d) Forma de Integralização: as Cotas Seniores serão integralizadas mediante chamadas de capital, junto ao seu respectivo agente de custódia e/ou da Administradora na qualidade de escriturador das cotas, nos termos d</a:t>
            </a:r>
          </a:p>
          <a:p>
            <a:r>
              <a:t>CNPJ 62696791000193 · Histórico de alterações materiais · Versão e prevalência: Leitura específica das cláusulas indicadas; condições e conflitos preservados. Seleção documental atual não comprova vigência jurídica por data isolada.</a:t>
            </a:r>
          </a:p>
          <a:p>
            <a:r>
              <a:t>CNPJ 55563624000109 · Histórico de alterações materiais · Motivo: Não localizada uma cláusula material para este critério nos textos identificados e processados. A ausência de resultado não comprova inexistência da regra.</a:t>
            </a:r>
          </a:p>
          <a:p>
            <a:r>
              <a:t>CNPJ 62552447000120 · Histórico de alterações materiais · Ato do Administrador · ID 1200625 · 2026-05-21 · versão Ato21/05/2026 · p. 1 · itens1–2 · https://fnet.bmfbovespa.com.br/fnet/publico/visualizarDocumento?id=1200625</a:t>
            </a:r>
          </a:p>
          <a:p>
            <a:r>
              <a:t>CNPJ 62552447000120 · Histórico de alterações materiais · Excerto da fonte:</a:t>
            </a:r>
          </a:p>
          <a:p>
            <a:r>
              <a:t>Ressalta-se que não haverá qualquer alteração nos valores pagos pelos cotistas... Aprovar o novo Anexo I e Regulamento consolidados</a:t>
            </a:r>
          </a:p>
          <a:p>
            <a:r>
              <a:t>CNPJ 62552447000120 · Histórico de alterações materiais · Motivo: Não localizada uma cláusula material para este critério nos textos identificados e processados. A ausência de resultado não comprova inexistência da regra.</a:t>
            </a:r>
          </a:p>
          <a:p>
            <a:r>
              <a:t>CNPJ 62552447000120 · Histórico de alterações materiais · Versão e prevalência: Leitura específica das cláusulas indicadas; condições e conflitos preservados. Seleção documental atual não comprova vigência jurídica por data isolada.</a:t>
            </a:r>
          </a:p>
          <a:p>
            <a:r>
              <a:t>CNPJ 63953620000165 · Histórico de alterações materiais · Anexo ao Regulamento · ID 1222863 · 2026-06-02 · versão 1 · p. 19 · 12.6 · https://fnet.bmfbovespa.com.br/fnet/publico/visualizarDocumento?id=1222863</a:t>
            </a:r>
          </a:p>
          <a:p>
            <a:r>
              <a:t>CNPJ 63953620000165 · Histórico de alterações materiais · Excerto da fonte:</a:t>
            </a:r>
          </a:p>
          <a:p>
            <a:r>
              <a:t>12.6 A Classe contratou a Tudo Serviços S.A., sociedade anônima, com sede no município de Fortaleza, Estado do Ceará,  na Avenida Senador Virgulo Távora, nº 303, Lojas 02, 03, 04, 05, 06 e 19, Meireles, CEP 60.170-265, inscrita no CNPJ  sob o nº 27.852.506/0001-85, cujos deveres, sem prejuízo daqueles estabelecidos neste Regulamento, no  “Contrato de Serviços de Retenção e Cobrança e Outras Avenças”, celebrado entre o Agente de  Retenção/Cobrança e a Classe (“Contrato de Serviços MT”) e no Contrato de Endosso, consistirão no  monitoramento e cobrança dos Direitos Creditórios Inadimplidos, observado o disposto neste Anexo I e na  regulamentação aplicável (“Agente de Retenção/Cobrança”):</a:t>
            </a:r>
          </a:p>
          <a:p>
            <a:r>
              <a:t> (i) caso aplicável, atuar na retenção (defesa) de operações de empréstimo consignado cujos Direitos  Creditórios sejam de titularidade da Classe, em caso de tentativa de transferência de tais operações de  empréstimo consignado por instituições proponentes, nos termos da Resolução CMN nº 5.057, em razão de  ofertas de portabilidade feitas por tais instituições proponentes, conforme informado pelo Endossante ou pelo  Custodiante ao Agente de Retenção/Cobrança, diariamente, de acordo com o Contrato de Endosso; sendo  que tal serviço deverá incluir, entre outras atividades auxiliares a ele relacionadas, a avaliação das ofertas de  portabilidade feitas pelas instituições proponentes, buscando, se for o caso, esclarecer as vantagens de não  recorrer à portabilidade, retendo a respectiva operação de empréstimo consignado em seus termos atuais;</a:t>
            </a:r>
          </a:p>
          <a:p>
            <a:r>
              <a:t> (ii) mediante inadimplemento de um Direito Creditório devido à indisponibilidade da margem de crédito do  Devedor, auxiliar o Endossante com o Processo de Reinicialização (conforme detalhado no Contrato de  Endosso) em relação ao respectivo Direito Creditório;</a:t>
            </a:r>
          </a:p>
          <a:p>
            <a:r>
              <a:t> (iii) manter e operar um serviço de atendimento ao consumidor - SAC e uma ouvidoria em conformidade  com os regulamentos aplicáveis, monitorar e resolver reclamações e solicitações de Devedores com  relação às operações de empréstimo consignado que dão origem aos Direitos Creditórios, em  conformidade com o Acordo de Parceria;</a:t>
            </a:r>
          </a:p>
          <a:p>
            <a:r>
              <a:t> (iv) realizar a cobrança dos Direitos Creditórios Inadimplidos;</a:t>
            </a:r>
          </a:p>
          <a:p>
            <a:r>
              <a:t> (v) auxiliar o Endossante na correção de qualquer irregularidade relevante identificada com relação à  originação dos Direitos Creditórios;</a:t>
            </a:r>
          </a:p>
          <a:p>
            <a:r>
              <a:t> (vi) realizar a renegociação junto aos Devedores de Direitos Creditórios Inadimplidos e, caso aplicável, celebrar  aditamento à CCB para refletir os novos termos, decorrentes da renegociação  CAPÍTULO 13 – REMUNERAÇÃO DOS PRESTADORES DE SERVIÇOS  0,05% (cinco centésimos por cento) ao ano, apropriada diariamente na base de 252  (duzentos e cinquenta e dois) Dias Úteis, e paga mensalmente até o 5º (quinto) Dia  Útil do mês subsequente ao mês que se refere, incidente sobre o Patrimônio Líquido  da Classe alocado em Direitos Creditórios Consignado Privado e/ou Ativos de  Liquidez MT, observada remuneração mínima mensal de R$ 2.500,00 (dois mil e  quinhentos reais), a ser corrigida anualmente, em janeiro de cada ano, pela variação  Taxa de Administração  positiva do Índice Geral de Preços – Mercado, divulgado pela Fundação Getúlio  Vargas (“Taxa de Administração” e “IGP-M”, respectivamente).</a:t>
            </a:r>
          </a:p>
          <a:p>
            <a:r>
              <a:t> Na hipótese de extinção do IGP-M, não divulgação ou impossibilidade de sua  utilização, será utilizado o Índice Geral de Preços – Disponibilidade Interna,  divulgado pela Fundação Getúlio Vargas, ou, na falta de ambos, pela variação do IPC  – Índice de Preços ao Consumidor, divulgado pela Fundação Instituto de Pesquisas</a:t>
            </a:r>
          </a:p>
          <a:p>
            <a:r>
              <a:t>CNPJ 63953620000165 · Histórico de alterações materiais · Condição: Documentos atuais selecionados no inventário por categoria/escopo; a data documental isolada não comprova vigência jurídica.</a:t>
            </a:r>
          </a:p>
          <a:p>
            <a:r>
              <a:t>CNPJ 63953620000165 · Histórico de alterações materiais · Versão e prevalência: Documentos atuais selecionados no inventário por categoria/escopo; a data documental isolada não comprova vigência jurídica.</a:t>
            </a:r>
          </a:p>
          <a:p>
            <a:r>
              <a:t>CNPJ 54871427000194 · Auditor independente e DFs · Demonstrações Financeiras - Fusão, cisão e incorporação · ID 1219522 · 2026-02-02 · versão 1 · p. 23 · https://fnet.bmfbovespa.com.br/fnet/publico/visualizarDocumento?id=1219522</a:t>
            </a:r>
          </a:p>
          <a:p>
            <a:r>
              <a:t>CNPJ 54871427000194 · Auditor independente e DFs · Excerto da fonte:</a:t>
            </a:r>
          </a:p>
          <a:p>
            <a:r>
              <a:t>x) Possibilidade de aquisição de Direitos Creditórios cedidos por Endossante e/ou devidos por  Devedores cujas demonstrações financeiras não sejam auditadas. A Classe, desde que sejam  respeitados os limites de concentração previstos no Regulamento, poderá manter a qualquer  tempo em sua Carteira, Direitos Creditórios cedidos por Endossante e/ou devidos por Devedores  cujas demonstrações financeiras não sejam auditadas por Auditor Independente registrado na</a:t>
            </a:r>
          </a:p>
          <a:p>
            <a:r>
              <a:t>CNPJ 54871427000194 · Auditor independente e DFs · Demonstrações Financeiras - Fusão, cisão e incorporação · ID 1219522 · 2026-02-02 · versão 1 · p. 2 · https://fnet.bmfbovespa.com.br/fnet/publico/visualizarDocumento?id=1219522</a:t>
            </a:r>
          </a:p>
          <a:p>
            <a:r>
              <a:t>CNPJ 54871427000194 · Auditor independente e DFs · Excerto da fonte:</a:t>
            </a:r>
          </a:p>
          <a:p>
            <a:r>
              <a:t>Classe Única de Responsabilidade Limitada do Consignado Delta Receivables I Fundo de Investimento em  Direitos Creditórios  Demonstrações financeiras em  2 de fevereiro de 2026 (data da incorporação da Classe)</a:t>
            </a:r>
          </a:p>
          <a:p>
            <a:r>
              <a:t>CNPJ 54871427000194 · Auditor independente e DFs · Demonstrações Financeiras - Fusão, cisão e incorporação · ID 1219522 · 2026-02-02 · versão 1 · p. 3 · https://fnet.bmfbovespa.com.br/fnet/publico/visualizarDocumento?id=1219522</a:t>
            </a:r>
          </a:p>
          <a:p>
            <a:r>
              <a:t>CNPJ 54871427000194 · Auditor independente e DFs · Excerto da fonte:</a:t>
            </a:r>
          </a:p>
          <a:p>
            <a:r>
              <a:t>Examinamos as demonstrações financeiras da Classe Única de Responsabilidade Limitada do  Consignado Delta Receivables I Fundo de Investimento em Direitos Creditórios (“Classe”),  administrada pela BTG Pactual Serviços Financeiros S.A. Distribuidora de Títulos e Valores Mobiliários  (“Administradora”), que compreendem a demonstração da posição financeira em 2 de fevereiro de  2026 e as respectivas demonstrações do resultado e do resultado abrangente, das evoluções do  patrimônio líquido e dos fluxos de caixa para o período de 1° de janeiro de 2026 (data de início do  exercício social da Classe) a 2 de fevereiro de 2026 (data da incorporação da Classe), bem como as  correspondentes notas explicativas, incluindo as políticas contábeis materiais e outras informações  elucidativas.</a:t>
            </a:r>
          </a:p>
          <a:p>
            <a:r>
              <a:t> Em nossa opinião, as demonstrações financeiras acima referidas apresentam adequadamente, em  todos os aspectos relevantes, a posição patrimonial e financeira da Classe Única de Responsabilidade  Limitada do Consignado Delta Receivables I Fundo de Investimento em Direitos Creditórios em 2 de  fevereiro de 2026 e o desempenho de suas operações e os seus fluxos de caixa para o período de 1°  de janeiro de 2026 a 2 de fevereiro de 2026, de acordo com as práticas contábeis adotadas no Brasil  aplicáveis aos fundos de investimento em direitos creditórios.</a:t>
            </a:r>
          </a:p>
          <a:p>
            <a:r>
              <a:t>CNPJ 54871427000194 · Auditor independente e DFs · Condição: Documentos atuais selecionados no inventário por categoria/escopo; a data documental isolada não comprova vigência jurídica.</a:t>
            </a:r>
          </a:p>
          <a:p>
            <a:r>
              <a:t>CNPJ 54871427000194 · Auditor independente e DFs · Versão e prevalência: Documentos atuais selecionados no inventário por categoria/escopo; a data documental isolada não comprova vigência jurídica.</a:t>
            </a:r>
          </a:p>
          <a:p>
            <a:r>
              <a:t>CNPJ 54871427000194 · Auditor independente e DFs · Resumo do histórico: {"count": 6, "dates": ["2025-01-01", "2025-04-15", "2025-12-31"], "document_count": 3, "sources": [{"document_id": "1151805", "title": "Demonstrações Financeiras", "reference_date": "2025-12-31", "version": "1", "page": 23, "url": "https://fnet.bmfbovespa.com.br/fnet/publico/visualizarDocumento?id=1151805", "sha256": "f1cea70b152968bf96ef9221b27225953cb20aeef487b2798db3c25e11b528d4"}, {"document_id": "883217", "title": "AGO", "reference_date": "2025-04-15", "version": "1", "page": 1, "url": "https://fnet.bmfbovespa.com.br/fnet/publico/visualizarDocumento?id=883217", "sha256": "233467aa4aa6265d253b610668cde19344ec99af4adf4df934c6a1bd88b9a044"}, {"document_id": "869529", "title": "Demonstrações Financeiras", "reference_date": "2025-01-01", "version": "1", "page": 23, "url": "https://fnet.bmfbovespa.com.br/fnet/publico/visualizarDocumento?id=869529", "sha256": "9a93a9369ac8efdbc54ff8fcee3ccac3abf88edab4807b9323d3852450771b2a"}], "reference": {"path": "history/54871427000194.json", "criterion_id": "audit", "total_count": 6, "preview_count": 3, "full_text_deferred": true, "sha256": "35d7cd99be50c7287c9fb675cf4f2e736002315295a225a9efa79c8d9186d874"}}</a:t>
            </a:r>
          </a:p>
          <a:p>
            <a:r>
              <a:t>CNPJ 60010416000112 · Auditor independente e DFs · AGE · ID 1313936 · 2026-08-31 · versão 1 · p. 1 · https://fnet.bmfbovespa.com.br/fnet/publico/visualizarDocumento?id=1313936</a:t>
            </a:r>
          </a:p>
          <a:p>
            <a:r>
              <a:t>CNPJ 60010416000112 · Auditor independente e DFs · Excerto da fonte:</a:t>
            </a:r>
          </a:p>
          <a:p>
            <a:r>
              <a:t>(d) Fica a Administradora autorizada a levantar, na Data da Cisão, demonstrações contábeis da  Classe, as quais darão suporte à realização da Cisão ora deliberada. As demonstrações contábeis  deverão ser auditadas, em conformidade com o art. 120, da Parte Geral, da Resolução CVM 175;</a:t>
            </a:r>
          </a:p>
          <a:p>
            <a:r>
              <a:t>CNPJ 60010416000112 · Auditor independente e DFs · Condição: Documentos atuais selecionados no inventário por categoria/escopo; a data documental isolada não comprova vigência jurídica.</a:t>
            </a:r>
          </a:p>
          <a:p>
            <a:r>
              <a:t>CNPJ 60010416000112 · Auditor independente e DFs · Versão e prevalência: Documentos atuais selecionados no inventário por categoria/escopo; a data documental isolada não comprova vigência jurídica.</a:t>
            </a:r>
          </a:p>
          <a:p>
            <a:r>
              <a:t>CNPJ 60010416000112 · Auditor independente e DFs · Resumo do histórico: {"count": 11, "dates": ["2026-04-16", "2026-05-08", "2026-07-29"], "document_count": 3, "sources": [{"document_id": "1277540", "title": "AGE", "reference_date": "2026-07-29", "version": "1", "page": 1, "url": "https://fnet.bmfbovespa.com.br/fnet/publico/visualizarDocumento?id=1277540", "sha256": "7a9b65092af34917f99f22b62eb7d248d67149b9c91dd87b07b924b9601ee9b0"}, {"document_id": "1298690", "title": "Demonstrações Financeiras - Fusão, cisão e incorporação", "reference_date": "2026-05-08", "version": "1", "page": 1, "url": "https://fnet.bmfbovespa.com.br/fnet/publico/visualizarDocumento?id=1298690", "sha256": "d979f7f7cf866a68b7fbc65c46fd726b7bcc13f9d0b809190857a9b465be7be2"}, {"document_id": "1282181", "title": "Demonstrações Financeiras - Fusão, cisão e incorporação", "reference_date": "2026-04-16", "version": "1", "page": 1, "url": "https://fnet.bmfbovespa.com.br/fnet/publico/visualizarDocumento?id=1282181", "sha256": "b1c6566e43a00bcd00c8a7f30c77b7f86e351bd8e355bbea113f46d1dafda703"}], "reference": {"path": "history/60010416000112.json", "criterion_id": "audit", "total_count": 11, "preview_count": 3, "full_text_deferred": true, "sha256": "8e2bd813f4c51cf01f6bfaad164bafe69d2bbb192f753eac92da3a01c2e63046"}}</a:t>
            </a:r>
          </a:p>
          <a:p>
            <a:r>
              <a:t>CNPJ 62696791000193 · Auditor independente e DFs · Regulamento · ID 1143317 · 2026-03-20 · versão 1 · p. 5 · 4.1.7 · https://fnet.bmfbovespa.com.br/fnet/publico/visualizarDocumento?id=1143317</a:t>
            </a:r>
          </a:p>
          <a:p>
            <a:r>
              <a:t>CNPJ 62696791000193 · Auditor independente e DFs · Excerto da fonte:</a:t>
            </a:r>
          </a:p>
          <a:p>
            <a:r>
              <a:t>4.1.7 As demonstrações contábeis cujo relatório de auditoria não contiver opinião modificada podem  ser consideradas automaticamente aprovadas caso a assembleia correspondente não seja  instalada em virtude do não comparecimento de quaisquer Cotistas.</a:t>
            </a:r>
          </a:p>
          <a:p>
            <a:r>
              <a:t>CNPJ 62696791000193 · Auditor independente e DFs · Regulamento · ID 1143317 · 2026-03-20 · versão 1 · p. 23 · 10.12 · https://fnet.bmfbovespa.com.br/fnet/publico/visualizarDocumento?id=1143317</a:t>
            </a:r>
          </a:p>
          <a:p>
            <a:r>
              <a:t>CNPJ 62696791000193 · Auditor independente e DFs · Excerto da fonte:</a:t>
            </a:r>
          </a:p>
          <a:p>
            <a:r>
              <a:t>10.12 O representante dos Cotistas será eleito com prazo de mandato a se encerrar na próxima Assembleia  de Cotistas que deliberar sobre a aprovação de demonstrações contábeis do Fundo, sendo permitida  a reeleição.</a:t>
            </a:r>
          </a:p>
          <a:p>
            <a:r>
              <a:t>CNPJ 62696791000193 · Auditor independente e DFs · Condição: Documentos atuais selecionados no inventário por categoria/escopo; a data documental isolada não comprova vigência jurídica.</a:t>
            </a:r>
          </a:p>
          <a:p>
            <a:r>
              <a:t>CNPJ 62696791000193 · Auditor independente e DFs · Versão e prevalência: Documentos atuais selecionados no inventário por categoria/escopo; a data documental isolada não comprova vigência jurídica.</a:t>
            </a:r>
          </a:p>
          <a:p>
            <a:r>
              <a:t>CNPJ 55563624000109 · Auditor independente e DFs · Regulamento · ID 1192614 · 2026-04-30 · versão 1 · p. 24 · 12.3 · https://fnet.bmfbovespa.com.br/fnet/publico/visualizarDocumento?id=1192614</a:t>
            </a:r>
          </a:p>
          <a:p>
            <a:r>
              <a:t>CNPJ 55563624000109 · Auditor independente e DFs · Excerto da fonte:</a:t>
            </a:r>
          </a:p>
          <a:p>
            <a:r>
              <a:t>12.3 Incluem-se entre as obrigações do ADMINISTRADOR, sem prejuízo de outras previstas na regulamentação:</a:t>
            </a:r>
          </a:p>
          <a:p>
            <a:r>
              <a:t> (i) sem prejuízo da observância dos procedimentos relativos às demonstrações contábeis, manter,  separadamente, registros com informações completas sobre toda e qualquer modalidade de negociação  realizada entre o ADMINISTRADOR, GESTOR, CUSTODIANTE, e/ou suas respectivas partes relacionadas,  tais como definidas pelas regras contábeis que tratam desse assunto, de um lado; e a Classe, de outro;</a:t>
            </a:r>
          </a:p>
          <a:p>
            <a:r>
              <a:t> (ii) diligenciar para que sejam mantidos, às suas expensas, atualizados e em perfeita ordem:</a:t>
            </a:r>
          </a:p>
          <a:p>
            <a:r>
              <a:t> (a) o registro de Cotistas;</a:t>
            </a:r>
          </a:p>
          <a:p>
            <a:r>
              <a:t> (b) o livro de atas das Assembleias de Cotistas;</a:t>
            </a:r>
          </a:p>
          <a:p>
            <a:r>
              <a:t> (c) o livro ou lista de presença de Cotistas;</a:t>
            </a:r>
          </a:p>
          <a:p>
            <a:r>
              <a:t> (d) os pareceres do Auditor Independente; e</a:t>
            </a:r>
          </a:p>
          <a:p>
            <a:r>
              <a:t> (e) os registros contábeis referentes às operações e ao patrimônio da Classe;</a:t>
            </a:r>
          </a:p>
          <a:p>
            <a:r>
              <a:t> (iii) pagar a multa cominatória às suas expensas, nos termos da legislação vigente, por cada dia de atraso no  cumprimento dos prazos previstos na regulamentação aplicável;</a:t>
            </a:r>
          </a:p>
          <a:p>
            <a:r>
              <a:t> (iv) elaborar e divulgar as informações periódicas e eventuais da Classe, nos termos deste Anexo e da  regulamentação e da autorregulação em vigor;</a:t>
            </a:r>
          </a:p>
          <a:p>
            <a:r>
              <a:t> (v) manter atualizada junto à CVM a lista de todos os prestadores de serviços contratados pela Classe,  inclusive os Prestadores de Serviços Essenciais, bem como as demais informações cadastrais da Classe e  suas Subclasses;</a:t>
            </a:r>
          </a:p>
          <a:p>
            <a:r>
              <a:t> (vi) manter serviço de atendimento aos Cotistas, responsável pelo esclarecimento de dúvidas e pelo  recebimento de reclamações;</a:t>
            </a:r>
          </a:p>
          <a:p>
            <a:r>
              <a:t> (vii) receber e processar os pedidos de resgate;</a:t>
            </a:r>
          </a:p>
          <a:p>
            <a:r>
              <a:t> (viii) monitorar os Eventos de Verificação do Patrimônio;</a:t>
            </a:r>
          </a:p>
          <a:p>
            <a:r>
              <a:t> (ix) monitorar os Eventos de Avaliação e Eventos de Liquidação;</a:t>
            </a:r>
          </a:p>
          <a:p>
            <a:r>
              <a:t> (x) observar as disposições constantes do Regulamento;</a:t>
            </a:r>
          </a:p>
          <a:p>
            <a:r>
              <a:t> (xi) cumprir as deliberações da Assembleia de Cotistas; e</a:t>
            </a:r>
          </a:p>
          <a:p>
            <a:r>
              <a:t> (xii) observar as disposições do Código ANBIMA e das Regras e Procedimentos ANBIMA</a:t>
            </a:r>
          </a:p>
          <a:p>
            <a:r>
              <a:t>CNPJ 55563624000109 · Auditor independente e DFs · Regulamento · ID 1192614 · 2026-04-30 · versão 1 · p. 4 · 4.6.1 · https://fnet.bmfbovespa.com.br/fnet/publico/visualizarDocumento?id=1192614</a:t>
            </a:r>
          </a:p>
          <a:p>
            <a:r>
              <a:t>CNPJ 55563624000109 · Auditor independente e DFs · Excerto da fonte:</a:t>
            </a:r>
          </a:p>
          <a:p>
            <a:r>
              <a:t>4.6.1 As deliberações relativas às matérias elencadas nos incisos abaixo serão tomadas, em primeira  convocação ou em segunda convocação, conforme os quóruns dispostos abaixo, em sede assembleia  geral de cotistas ou de assembleia especial de cotistas, conforme o caso:</a:t>
            </a:r>
          </a:p>
          <a:p>
            <a:r>
              <a:t> MATÉRIA SUJEITA À APROVAÇÃO QUÓRUM DE DELIBERAÇÃO</a:t>
            </a:r>
          </a:p>
          <a:p>
            <a:r>
              <a:t> (i) aprovação das demonstrações contábeis do FUNDO; Maioria do total das Cotas emitidas</a:t>
            </a:r>
          </a:p>
          <a:p>
            <a:r>
              <a:t>CNPJ 55563624000109 · Auditor independente e DFs · Regulamento · ID 1192614 · 2026-04-30 · versão 1 · p. 10 · 3.1 · https://fnet.bmfbovespa.com.br/fnet/publico/visualizarDocumento?id=1192614</a:t>
            </a:r>
          </a:p>
          <a:p>
            <a:r>
              <a:t>CNPJ 55563624000109 · Auditor independente e DFs · Excerto da fonte:</a:t>
            </a:r>
          </a:p>
          <a:p>
            <a:r>
              <a:t>3.1 A Classe terá Encargos que lhe poderão ser debitados diretamente, nos termos da Resolução CVM 175, e  quaisquer despesas que não constituam Encargos correm por conta do Prestador de Serviço Essencial que a tiver  contratado, incluindo, sem se limitar a:</a:t>
            </a:r>
          </a:p>
          <a:p>
            <a:r>
              <a:t> (i) Taxa de performance, se houver;</a:t>
            </a:r>
          </a:p>
          <a:p>
            <a:r>
              <a:t> (ii) Taxas, impostos ou contribuições federais, estaduais, municipais ou autárquicas, que recaiam ou  venham a recair sobre os bens, direitos e obrigações da Classe;</a:t>
            </a:r>
          </a:p>
          <a:p>
            <a:r>
              <a:t> (iii) Despesas com o registro de documentos, impressão, expedição e publicação de relatórios e informações  periódicas previstas na Resolução CVM 175;</a:t>
            </a:r>
          </a:p>
          <a:p>
            <a:r>
              <a:t> (iv) Despesas com correspondências de interesse do FUNDO ou da Classe, inclusive comunicações aos  Cotistas;</a:t>
            </a:r>
          </a:p>
          <a:p>
            <a:r>
              <a:t> (v) Honorários e despesas do Auditor Independente;</a:t>
            </a:r>
          </a:p>
          <a:p>
            <a:r>
              <a:t> BTG Pactual  SAC: 0800 772 28 27 - Ouvidoria: 0800 722 00 48 - btgpactual.com  3</a:t>
            </a:r>
          </a:p>
          <a:p>
            <a:r>
              <a:t>CNPJ 55563624000109 · Auditor independente e DFs · Condição: Documentos atuais selecionados no inventário por categoria/escopo; a data documental isolada não comprova vigência jurídica.</a:t>
            </a:r>
          </a:p>
          <a:p>
            <a:r>
              <a:t>CNPJ 55563624000109 · Auditor independente e DFs · Versão e prevalência: Documentos atuais selecionados no inventário por categoria/escopo; a data documental isolada não comprova vigência jurídica.</a:t>
            </a:r>
          </a:p>
          <a:p>
            <a:r>
              <a:t>CNPJ 55563624000109 · Auditor independente e DFs · Resumo do histórico: {"count": 2, "dates": ["2025-01-31", "2026-01-31"], "document_count": 2, "sources": [{"document_id": "1178840", "title": "Demonstrações Financeiras", "reference_date": "2026-01-31", "version": "1", "page": 4, "url": "https://fnet.bmfbovespa.com.br/fnet/publico/visualizarDocumento?id=1178840", "sha256": "c458e98664c5c907ddb5a05a94b120bed4e05295b2bfc420f5ba69af0a229abe"}, {"document_id": "891861", "title": "Demonstrações Financeiras", "reference_date": "2025-01-31", "version": "1", "page": 2, "url": "https://fnet.bmfbovespa.com.br/fnet/publico/visualizarDocumento?id=891861", "sha256": "e9cb9e6ddbe505fe068cfcac33605165a98313489de0d3ce6d4d238263c3f3e7"}], "reference": {"path": "history/55563624000109.json", "criterion_id": "audit", "total_count": 2, "preview_count": 2, "full_text_deferred": true, "sha256": "7835d573fb58a3c19adf5b8ecc2aee2bdbb9a88f7a0c0209b5f262b64c7522e3"}}</a:t>
            </a:r>
          </a:p>
          <a:p>
            <a:r>
              <a:t>CNPJ 62552447000120 · Auditor independente e DFs · Regulamento · ID 1200623 · 2026-05-21 · versão 1 · p. 4 · 4.1.6 · https://fnet.bmfbovespa.com.br/fnet/publico/visualizarDocumento?id=1200623</a:t>
            </a:r>
          </a:p>
          <a:p>
            <a:r>
              <a:t>CNPJ 62552447000120 · Auditor independente e DFs · Excerto da fonte:</a:t>
            </a:r>
          </a:p>
          <a:p>
            <a:r>
              <a:t>4.1.6 As demonstrações contábeis cujo relatório de auditoria não contiver opinião modificada podem  ser consideradas automaticamente aprovadas caso a Assembleia Geral correspondente não  seja instalada em virtude do não comparecimento de quaisquer Cotistas.</a:t>
            </a:r>
          </a:p>
          <a:p>
            <a:r>
              <a:t>CNPJ 62552447000120 · Auditor independente e DFs · Regulamento · ID 1200623 · 2026-05-21 · versão 1 · p. 29 · 12.16 · https://fnet.bmfbovespa.com.br/fnet/publico/visualizarDocumento?id=1200623</a:t>
            </a:r>
          </a:p>
          <a:p>
            <a:r>
              <a:t>CNPJ 62552447000120 · Auditor independente e DFs · Excerto da fonte:</a:t>
            </a:r>
          </a:p>
          <a:p>
            <a:r>
              <a:t>12.16 Os serviços de auditoria das demonstrações f inanceiras e demais contas da Classe serão prestados  por Auditor Independente contratado pelo Administrador. Pelos serviços prestados, o Auditor  Independente f ará jus ao recebimento de remuneração a ser def inida em contrato específico, a qual  será paga pela Classe.</a:t>
            </a:r>
          </a:p>
          <a:p>
            <a:r>
              <a:t>CAPÍTULO 13 – TAXA GLOBAL</a:t>
            </a:r>
          </a:p>
          <a:p>
            <a:r>
              <a:t>CNPJ 62552447000120 · Auditor independente e DFs · Condição: Documentos atuais selecionados no inventário por categoria/escopo; a data documental isolada não comprova vigência jurídica.</a:t>
            </a:r>
          </a:p>
          <a:p>
            <a:r>
              <a:t>CNPJ 62552447000120 · Auditor independente e DFs · Versão e prevalência: Documentos atuais selecionados no inventário por categoria/escopo; a data documental isolada não comprova vigência jurídica.</a:t>
            </a:r>
          </a:p>
          <a:p>
            <a:r>
              <a:t>CNPJ 63953620000165 · Auditor independente e DFs · Anexo ao Regulamento · ID 1222863 · 2026-06-02 · versão 1 · p. 4 · 3.4 · https://fnet.bmfbovespa.com.br/fnet/publico/visualizarDocumento?id=1222863</a:t>
            </a:r>
          </a:p>
          <a:p>
            <a:r>
              <a:t>CNPJ 63953620000165 · Auditor independente e DFs · Excerto da fonte:</a:t>
            </a:r>
          </a:p>
          <a:p>
            <a:r>
              <a:t>3.4 Adicionalmente aos Encargos, as seguintes despesas serão debitadas diretamente da Classe, nos termos do art.</a:t>
            </a:r>
          </a:p>
          <a:p>
            <a:r>
              <a:t> 51 do Anexo Normativo II da Resolução CVM 175 (“Despesas Adicionais”):</a:t>
            </a:r>
          </a:p>
          <a:p>
            <a:r>
              <a:t> (i) Despesas com registro de Direitos Creditórios;</a:t>
            </a:r>
          </a:p>
          <a:p>
            <a:r>
              <a:t> (ii) Despesas com serviços de originação, cobranças ordinária e/ou extraordinária dos Direitos Creditórios,  e/ou verificação de lastro dos Direitos Creditórios, conforme aplicável;</a:t>
            </a:r>
          </a:p>
          <a:p>
            <a:r>
              <a:t> (iii) Despesas com a contratação de atividades relacionadas à verificação de lastro;</a:t>
            </a:r>
          </a:p>
          <a:p>
            <a:r>
              <a:t> (iv) Despesas com a contratação de Agente de Retenção/Cobrança; Despesas com a contratação de  consultoria especializada, conforme o caso;</a:t>
            </a:r>
          </a:p>
          <a:p>
            <a:r>
              <a:t> (v) Remuneração do Custodiante;</a:t>
            </a:r>
          </a:p>
          <a:p>
            <a:r>
              <a:t> (vi) Despesas com honorários advocatícios para quaisquer assuntos de interesse da Classe, seja na esfera  judicial ou extrajudicial, inclusive consultivo;</a:t>
            </a:r>
          </a:p>
          <a:p>
            <a:r>
              <a:t> (vii) Despesas com a assinatura e registro dos Termos de Endosso, conforme aplicável, junto aos  competentes cartórios de Registro de Títulos e Documentos;</a:t>
            </a:r>
          </a:p>
          <a:p>
            <a:r>
              <a:t> (viii) Despesas inerentes à distribuição primária de Cotas, inclusive a contratação e remuneração do  distribuidor das Cotas para cada oferta de Cotas da Classe, nos termos de cada contrato de distribuição  e honorários devidos ao(s) assessor(es) legal(is) de cada oferta, assim como despesas com o registro das  Cotas na CVM, ANBIMA e/ou na entidade de mercado organizado em que as cotas sejam registradas,  conforme aplicável;</a:t>
            </a:r>
          </a:p>
          <a:p>
            <a:r>
              <a:t> (ix) Taxas de fiscalização da CVM e/ou ANBIMA, conforme aplicável; e</a:t>
            </a:r>
          </a:p>
          <a:p>
            <a:r>
              <a:t> (x) Despesas com contratação e remuneração do Auditor Independente e da Agência Classificadora de  Risco.</a:t>
            </a:r>
          </a:p>
          <a:p>
            <a:r>
              <a:t>CNPJ 63953620000165 · Auditor independente e DFs · Condição: Documentos atuais selecionados no inventário por categoria/escopo; a data documental isolada não comprova vigência jurídica.</a:t>
            </a:r>
          </a:p>
          <a:p>
            <a:r>
              <a:t>CNPJ 63953620000165 · Auditor independente e DFs · Motivo: Cláusula primária localizada e citada, mas sua lista/condições extensas não admitem uma síntese literal curta confirmada. O trecho integral permanece nas fontes.</a:t>
            </a:r>
          </a:p>
          <a:p>
            <a:r>
              <a:t>CNPJ 63953620000165 · Auditor independente e DFs · Versão e prevalência: Documentos atuais selecionados no inventário por categoria/escopo; a data documental isolada não comprova vigência jurídica.</a:t>
            </a:r>
          </a:p>
          <a:p>
            <a:r>
              <a:t>CNPJ 63953620000165 · Auditor independente e DFs · Resumo do histórico: {"count": 8, "dates": ["2026-04-28", "2026-05-08", "2026-05-15"], "document_count": 3, "sources": [{"document_id": "1327859", "title": "Demonstrações Financeiras - Fusão, cisão e incorporação", "reference_date": "2026-05-15", "version": "1", "page": 1, "url": "https://fnet.bmfbovespa.com.br/fnet/publico/visualizarDocumento?id=1327859", "sha256": "dca1c68babb97f887528c3e2e47596a9c30f507b067981a35655b2f2da9c8054"}, {"document_id": "1298691", "title": "Demonstrações Financeiras - Fusão, cisão e incorporação", "reference_date": "2026-05-08", "version": "1", "page": 1, "url": "https://fnet.bmfbovespa.com.br/fnet/publico/visualizarDocumento?id=1298691", "sha256": "58c570d9b8d4d265330d3db3ea81c435b8e44a6dab4002aa37790652a1ee9819"}, {"document_id": "1282180", "title": "Demonstrações Financeiras - Fusão, cisão e incorporação", "reference_date": "2026-04-28", "version": "1", "page": 1, "url": "https://fnet.bmfbovespa.com.br/fnet/publico/visualizarDocumento?id=1282180", "sha256": "afaaa0e6809be4385e5bdb6c911aac582032c5bdbac3d7750234bf9eaf00438a"}], "reference": {"path": "history/63953620000165.json", "criterion_id": "audit",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Governança e alterações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Quóruns e matérias reservadas · Regulamento · ID 670691 · 28/04/2024 · versão Regulamento — referência 28/04/2024 · p. 4 · Parte Geral, 4.4–4.4.1 · https://fnet.bmfbovespa.com.br/fnet/publico/visualizarDocumento?id=670691</a:t>
            </a:r>
          </a:p>
          <a:p>
            <a:r>
              <a:t>CNPJ 54871427000194 · Quóruns e matérias reservadas · Excerto da fonte:</a:t>
            </a:r>
          </a:p>
          <a:p>
            <a:r>
              <a:t>4.4 Ressalvadas as exceções descritas neste Regulamento, toda e qualquer matéria submetida à deliberação dos cotistas deverá ser aprovada por maioria dos votos dos presentes. 4.4.1 As deliberações relativas às matérias elencadas nos incisos abaixo serão tomadas, em primeira convocação ou em segunda convocação, pelos votos dos titulares da maioria das cotas em circulação, em sede assembleia geral de cotistas ou de assembleia especial de cotistas, conf orme o caso: (i) aprovação das demonstrações contábeis do FUNDO; (ii) alteração da Parte Geral deste Regulamento; (iii) substituição ou remoção do Prestador de Serviços Essenciais do FUNDO, ressalvada a possibilidade prevista no Art. 70, §1º, da Parte Geral da Resolução CVM 175; (iv) alterações nos quóruns de deliberação def inidos neste Regulamento; (v) cobrança de taxas e encargos pelo ADMINISTRADOR, de qualquer natureza, que não estejam expressamente previstos neste Regulamento; (vi) liquidação do FUNDO. (vii) plano de resolu</a:t>
            </a:r>
          </a:p>
          <a:p>
            <a:r>
              <a:t>CNPJ 54871427000194 · Quóruns e matérias reservadas · Regulamento · ID 670691 · 28/04/2024 · versão Regulamento — referência 28/04/2024 · p. 17 · Anexo I, 10.1 · https://fnet.bmfbovespa.com.br/fnet/publico/visualizarDocumento?id=670691</a:t>
            </a:r>
          </a:p>
          <a:p>
            <a:r>
              <a:t>CNPJ 54871427000194 · Quóruns e matérias reservadas · Excerto da fonte:</a:t>
            </a:r>
          </a:p>
          <a:p>
            <a:r>
              <a:t>10.1 Sem prejuízo de outros requisitos e inf ormações previstos na regulamentação vigente, são aplicáveis à Assembleia Especial de Cotistas as mesmas disposições procedimentais da Assembleia Geral de Cotistas. 10.2 A Assembleia Especial de Cotistas é responsável por deliberar sobre as matérias específicas da Classe de Cotas, sem prejuízo das demais disposições previstas na regulamentação aplicável, incluindo, mas não se limitando a: (i) deliberar sobre as demonstrações contábeis da Classe; (ii) deliberar sobre substituição de Prestadores de Serviços Essenciais, observado o disposto no art. 70, §1º da parte geral da Resolução CVM 175; (iii) deliberar sobre elevação da Taxa de Administração, inclusive na hipótese de restabelecimento de taxa que tenha sido objeto de redução; (iv) deliberar sobre incorporação, f usão, cisão total ou parcial, a transf ormação ou liquidação da Classe; (v) alterações das características, vantagens, direitos e obrigações das Cotas; (vi) alterar critérios e procedimentos para Amortização e/ou resgate de Cotas mediante dação em pagamento de Direitos Creditórios; (vii) a</a:t>
            </a:r>
          </a:p>
          <a:p>
            <a:r>
              <a:t>CNPJ 54871427000194 · Quóruns e matérias reservadas · Versão e prevalência: Leitura específica das cláusulas indicadas; condições e conflitos preservados. Seleção documental atual não comprova vigência jurídica por data isolada.</a:t>
            </a:r>
          </a:p>
          <a:p>
            <a:r>
              <a:t>CNPJ 54871427000194 · Quóruns e matérias reservadas · Resumo do histórico: {"count": 1, "dates": ["2024-04-19"], "document_count": 1, "sources": [{"document_id": "670689", "title": "Regulamento", "reference_date": "2024-04-19", "version": "1", "page": 20, "clause": "11.6", "url": "https://fnet.bmfbovespa.com.br/fnet/publico/visualizarDocumento?id=670689", "sha256": "891bc9bc5d87bbc02ec139077a84d2702eb81ea02035fb71d24f5b8366b94a0b"}], "reference": {"path": "history/54871427000194.json", "criterion_id": "quorum", "total_count": 1, "preview_count": 1, "full_text_deferred": true, "sha256": "35d7cd99be50c7287c9fb675cf4f2e736002315295a225a9efa79c8d9186d874"}}</a:t>
            </a:r>
          </a:p>
          <a:p>
            <a:r>
              <a:t>CNPJ 60010416000112 · Quóruns e matérias reservadas · Regulamento · ID 1051393 · 09/10/2025 · versão Regulamento09/10/2025 · p. 18 · AnexoI9.2(ii)–(xvii) · https://fnet.bmfbovespa.com.br/fnet/publico/visualizarDocumento?id=1051393</a:t>
            </a:r>
          </a:p>
          <a:p>
            <a:r>
              <a:t>CNPJ 60010416000112 · Quóruns e matérias reservadas · Excerto da fonte:</a:t>
            </a:r>
          </a:p>
          <a:p>
            <a:r>
              <a:t>(ii) alterar este Anexo I e seus complementos, incluindo mas não se limitando aos Apêndices de cada uma das subclasses; (iii) deliberar sobre substituição de Prestadores de Serviços Essenciais, observado o disposto no Art. 70, §1º da parte geral da Resolução CVM 175, quando aplicável, ou do Custodiante; (iv) deliberar sobre elevação da Taxa de Administração, inclusive na hipótese de restabelecimento de taxa que tenha sido objeto de redução; (v) deliberar sobre incorporação, fusão, cisão total ou parcial, a transformação ou liquidação da Classe; (vi) alter</a:t>
            </a:r>
          </a:p>
          <a:p>
            <a:r>
              <a:t>CNPJ 60010416000112 · Quóruns e matérias reservadas · Regulamento · ID 1051393 · 09/10/2025 · versão Regulamento09/10/2025 · p. 19 · AnexoI9.8–9.9 · https://fnet.bmfbovespa.com.br/fnet/publico/visualizarDocumento?id=1051393</a:t>
            </a:r>
          </a:p>
          <a:p>
            <a:r>
              <a:t>CNPJ 60010416000112 · Quóruns e matérias reservadas · Excerto da fonte:</a:t>
            </a:r>
          </a:p>
          <a:p>
            <a:r>
              <a:t>9.8 As deliberações constantes dos incisos (ii), (iii), (iv), (v), (vi), (vii), (x), (xi), (xii), (xiii) e (xvii) acima, apenas serão aprovadas, seja em primeira ou em segunda convocação, por unanimidade dos votos dos titulares das Cotas em circulação. 9.9 As deliberações relativas aos demais incisos do item 9.2 acima apenas serão aprovadas, seja em primeira ou em segunda convocação, mediante o voto favorável dos Cotistas que representem a maioria das Cotas emitidas pela Classe. 9.10 Somente os Cotistas, seus representantes legais ou procuradores legalmente nomeados há menos de 1 (um) ano ter</a:t>
            </a:r>
          </a:p>
          <a:p>
            <a:r>
              <a:t>CNPJ 60010416000112 · Quóruns e matérias reservadas · Versão e prevalência: Leitura específica das cláusulas indicadas; condições e conflitos preservados. Seleção documental atual não comprova vigência jurídica por data isolada.</a:t>
            </a:r>
          </a:p>
          <a:p>
            <a:r>
              <a:t>CNPJ 60010416000112 · Quóruns e matérias reservadas · Resumo do histórico: {"count": 3, "dates": ["2025-03-20", "2025-05-09", "2025-05-12"], "document_count": 3, "sources": [{"document_id": "1004656", "title": "AGE", "reference_date": "2025-05-12", "version": "1", "page": 1, "url": "https://fnet.bmfbovespa.com.br/fnet/publico/visualizarDocumento?id=1004656", "sha256": "f6c9c009f6170e2b29f074b98522accec73f0c40efbf11f9ec2c8d3f1402616b"}, {"document_id": "911262", "title": "AGE", "reference_date": "2025-05-09", "version": "1", "page": 1, "url": "https://fnet.bmfbovespa.com.br/fnet/publico/visualizarDocumento?id=911262", "sha256": "675de4ffe8c5ee95957fb29810625ce850d1a0b69b5231747442266f0cbf32a3"}, {"document_id": "993786", "title": "Regulamento", "reference_date": "2025-03-20", "version": "1", "page": 22, "clause": "10.6", "url": "https://fnet.bmfbovespa.com.br/fnet/publico/visualizarDocumento?id=993786", "sha256": "fd0fdd369a195510d81f81f505195a0b09e5f43522a990afa7d58c4f872921c8"}], "reference": {"path": "history/60010416000112.json", "criterion_id": "quorum", "total_count": 3, "preview_count": 3, "full_text_deferred": true, "sha256": "8e2bd813f4c51cf01f6bfaad164bafe69d2bbb192f753eac92da3a01c2e63046"}}</a:t>
            </a:r>
          </a:p>
          <a:p>
            <a:r>
              <a:t>CNPJ 62696791000193 · Quóruns e matérias reservadas · Regulamento · ID 1143317 · 20/03/2026 · versão Regulamento — referência 20/03/2026 · p. 20 · Anexo I, 10.2, tabela · https://fnet.bmfbovespa.com.br/fnet/publico/visualizarDocumento?id=1143317</a:t>
            </a:r>
          </a:p>
          <a:p>
            <a:r>
              <a:t>CNPJ 62696791000193 · Quóruns e matérias reservadas · Excerto da fonte:</a:t>
            </a:r>
          </a:p>
          <a:p>
            <a:r>
              <a:t>10.2 Os seguintes quóruns deverão ser observados pela Assembleia Especial de Cotistas ao deliberar as matérias abaixo: Matéria Quórum I – alterar o presente Anexo; Maioria das Cotas Subscritas (“Quórum Qualificado”), observada BTG Pactual SAC: 0800 772 2827 | Ouvidoria: 0800 722 0048 | btgpactual.co m 15</a:t>
            </a:r>
          </a:p>
          <a:p>
            <a:r>
              <a:t>CNPJ 62696791000193 · Quóruns e matérias reservadas · Regulamento · ID 1143317 · 20/03/2026 · versão Regulamento — referência 20/03/2026 · p. 21 · Anexo I, 10.2, tabela · https://fnet.bmfbovespa.com.br/fnet/publico/visualizarDocumento?id=1143317</a:t>
            </a:r>
          </a:p>
          <a:p>
            <a:r>
              <a:t>CNPJ 62696791000193 · Quóruns e matérias reservadas · Excerto da fonte:</a:t>
            </a:r>
          </a:p>
          <a:p>
            <a:r>
              <a:t>Matéria Quórum a necessidade de voto afirmativo da Maioria das Cotas Seniores subscritas da Classe Quórum Qualif icado observada a necessidade de voto af irmativo da II – substituição do Administrador, do Gestor e da Cogestora; Maioria das Cotas Seniores subscritas da Classe Maioria Simples, observada a III – Emissão e distribuição de novas Cotas em quantidade necessidade de voto af irmativo da superior ao Capital Autorizado da Classe ; Maioria das Cotas Seniores subscritas da Classe</a:t>
            </a:r>
          </a:p>
          <a:p>
            <a:r>
              <a:t>CNPJ 62696791000193 · Quóruns e matérias reservadas · Regulamento · ID 1143317 · 20/03/2026 · versão Regulamento — referência 20/03/2026 · p. 22 · Anexo I, 10.2(XI) e 10.5–10.7 · https://fnet.bmfbovespa.com.br/fnet/publico/visualizarDocumento?id=1143317</a:t>
            </a:r>
          </a:p>
          <a:p>
            <a:r>
              <a:t>CNPJ 62696791000193 · Quóruns e matérias reservadas · Excerto da fonte:</a:t>
            </a:r>
          </a:p>
          <a:p>
            <a:r>
              <a:t>10.5 As deliberações que tenham por objeto alterações de Benchmark apenas serão aprovadas se assim deliberado: (i) pelos votos dos titulares da maioria das Cotas em circulação da Série ou Subclasse cujo Benchmark é alterado; e (ii) pelos votos dos titulares da maioria das Cotas Mezanino que se subordinem a ela e/ou das Cotas Subordinadas em circulação. 10.6 As deliberações que tenham por objeto o aumento do Índice de Subordinação estão sujeitas à aprovação da maioria simples dos votos dos titulares das Cotas Mezanino que se subordinem a ela e/ou das Cotas Subordinadas em circulação. 10.7 As deliberações que tenham por objeto a diminuição do Índice de Subordinação apenas serão aprovadas se assim deliberado: (i) pelos votos dos titulares da maioria das Cotas em circulação de cada uma das Séries de Cotas Seniores e/ou dos titulares das Cotas Mezanino que tenham o Benchmark alterado; e (ii) pelo voto dos titulares da maioria das Cotas Mezanino que se subordinem a ela e/ou Cotas Subordinadas Júnior em circulação . Representante de Cotistas 10.8 A Assembleia de Cotistas pode, a qualquer momento, eleger até 3 (três) representantes de cotistas, a serem eleitos e nomeados pela assembleia especial,</a:t>
            </a:r>
          </a:p>
          <a:p>
            <a:r>
              <a:t>CNPJ 62696791000193 · Quóruns e matérias reservadas · Versão e prevalência: Leitura específica das cláusulas indicadas; condições e conflitos preservados. Seleção documental atual não comprova vigência jurídica por data isolada.</a:t>
            </a:r>
          </a:p>
          <a:p>
            <a:r>
              <a:t>CNPJ 55563624000109 · Quóruns e matérias reservadas · Regulamento · ID 1192614 · 30/04/2026 · versão Regulamento30/04/2026 · p. 19 · AnexoI10.2(i)–(v) · https://fnet.bmfbovespa.com.br/fnet/publico/visualizarDocumento?id=1192614</a:t>
            </a:r>
          </a:p>
          <a:p>
            <a:r>
              <a:t>CNPJ 55563624000109 · Quóruns e matérias reservadas · Excerto da fonte:</a:t>
            </a:r>
          </a:p>
          <a:p>
            <a:r>
              <a:t>10.2 A Assembleia Especial de Cotistas é responsável por deliberar, observados os quóruns abaixo, sobre as matérias específicas da Classe, sem prejuízo das demais disposições previstas na regulamentação aplicável, incluindo, mas não se limitando a: MATÉRIA SUJEITA À APROVAÇÃO QUÓRUM DE DELIBERAÇÃO (i) deliberar sobre as demonstrações contábeis da Classe; Maioria do total das Cotas emitidas (ii) deliberar sobre a substituição de Prestadores de Serviços 90% (noventa por cento) do total das Cotas</a:t>
            </a:r>
          </a:p>
          <a:p>
            <a:r>
              <a:t>CNPJ 55563624000109 · Quóruns e matérias reservadas · Regulamento · ID 1192614 · 30/04/2026 · versão Regulamento30/04/2026 · p. 20 · AnexoI10.2(vi)–(xiii) · https://fnet.bmfbovespa.com.br/fnet/publico/visualizarDocumento?id=1192614</a:t>
            </a:r>
          </a:p>
          <a:p>
            <a:r>
              <a:t>CNPJ 55563624000109 · Quóruns e matérias reservadas · Excerto da fonte:</a:t>
            </a:r>
          </a:p>
          <a:p>
            <a:r>
              <a:t>(vi) alterar as características, vantagens, direitos e obrigações 90% (noventa por cento) do total das Cotas das Cotas; emitidas (vii) alterar critérios e procedimentos para resgate de Cotas mediante dação em pagamento de Cotas da Classe Maioria do total das Cotas emitidas Investida; (viii) aprovar a emissão de novas Cotas fora do Capital Maioria do total das Cotas emitidas</a:t>
            </a:r>
          </a:p>
          <a:p>
            <a:r>
              <a:t>CNPJ 55563624000109 · Quóruns e matérias reservadas · Versão e prevalência: Leitura específica das cláusulas indicadas; condições e conflitos preservados. Seleção documental atual não comprova vigência jurídica por data isolada.</a:t>
            </a:r>
          </a:p>
          <a:p>
            <a:r>
              <a:t>CNPJ 55563624000109 · Quóruns e matérias reservadas · Resumo do histórico: {"count": 2, "dates": ["2025-01-31", "2026-01-31"], "document_count": 2, "sources": [{"document_id": "1178840", "title": "Demonstrações Financeiras", "reference_date": "2026-01-31", "version": "1", "page": 24, "url": "https://fnet.bmfbovespa.com.br/fnet/publico/visualizarDocumento?id=1178840", "sha256": "c458e98664c5c907ddb5a05a94b120bed4e05295b2bfc420f5ba69af0a229abe"}, {"document_id": "891861", "title": "Demonstrações Financeiras", "reference_date": "2025-01-31", "version": "1", "page": 25, "url": "https://fnet.bmfbovespa.com.br/fnet/publico/visualizarDocumento?id=891861", "sha256": "e9cb9e6ddbe505fe068cfcac33605165a98313489de0d3ce6d4d238263c3f3e7"}], "reference": {"path": "history/55563624000109.json", "criterion_id": "quorum", "total_count": 2, "preview_count": 2, "full_text_deferred": true, "sha256": "7835d573fb58a3c19adf5b8ecc2aee2bdbb9a88f7a0c0209b5f262b64c7522e3"}}</a:t>
            </a:r>
          </a:p>
          <a:p>
            <a:r>
              <a:t>CNPJ 62552447000120 · Quóruns e matérias reservadas · Regulamento · ID 1200623 · 21/05/2026 · versão Consolidado21/05/2026 aprovado pelo ato1200625 · p. 21 · AnexoI10.2(i)–(x) · https://fnet.bmfbovespa.com.br/fnet/publico/visualizarDocumento?id=1200623</a:t>
            </a:r>
          </a:p>
          <a:p>
            <a:r>
              <a:t>CNPJ 62552447000120 · Quóruns e matérias reservadas · Excerto da fonte:</a:t>
            </a:r>
          </a:p>
          <a:p>
            <a:r>
              <a:t>10.2 Os seguintes quóruns deverão ser observados pela Assembleia Especial ao deliberar as matérias abaixo: Matéria Quórum (i) deliberar sobre substituição de Prestadores de Serviços Unanimidade dos Cotistas Essenciais, observado o disposto no art. 70, §1º da Parte Geral da Resolução CVM 175, quando aplicável; (ii) deliberar sobre elevação da Taxa Global, inclusive na Unanimidade dos Cotistas hipótese de restabelecimento de taxa que tenha sido objeto de redução; (iii) delibera</a:t>
            </a:r>
          </a:p>
          <a:p>
            <a:r>
              <a:t>CNPJ 62552447000120 · Quóruns e matérias reservadas · Versão e prevalência: Leitura específica das cláusulas indicadas; condições e conflitos preservados. Seleção documental atual não comprova vigência jurídica por data isolada.</a:t>
            </a:r>
          </a:p>
          <a:p>
            <a:r>
              <a:t>CNPJ 63953620000165 · Quóruns e matérias reservadas · Anexo ao Regulamento · ID 1222863 · 02/06/2026 · versão AnexoConsignadoPrivado02/06/2026 · p. 13 · 10.2(ii)–(xvii) · https://fnet.bmfbovespa.com.br/fnet/publico/visualizarDocumento?id=1222863</a:t>
            </a:r>
          </a:p>
          <a:p>
            <a:r>
              <a:t>CNPJ 63953620000165 · Quóruns e matérias reservadas · Excerto da fonte:</a:t>
            </a:r>
          </a:p>
          <a:p>
            <a:r>
              <a:t>10.2 Os seguintes quóruns deverão ser observados pela Assembleia Especial de Cotistas ao deliberar as matérias abaixo: Matéria Quórum (i) deliberar sobre as demonstrações contábeis da Classe; Maioria das Cotas presentes (ii) alterar o presente Anexo; Maioria das Cotas de cada Subclasse (iii) deliberar sobre substituição de Prestadores de Serviços Maioria das Cotas da Classe Essenciais, observado o disposto no Artigo 70, §1º da parte geral da R</a:t>
            </a:r>
          </a:p>
          <a:p>
            <a:r>
              <a:t>CNPJ 63953620000165 · Quóruns e matérias reservadas · Anexo ao Regulamento · ID 1222863 · 02/06/2026 · versão AnexoConsignadoPrivado02/06/2026 · p. 14 · 10.5–10.8 · https://fnet.bmfbovespa.com.br/fnet/publico/visualizarDocumento?id=1222863</a:t>
            </a:r>
          </a:p>
          <a:p>
            <a:r>
              <a:t>CNPJ 63953620000165 · Quóruns e matérias reservadas · Excerto da fonte:</a:t>
            </a:r>
          </a:p>
          <a:p>
            <a:r>
              <a:t>10.5 Caso a matéria em deliberação resulte ou possa resultar em uma redução do Índice de Subordinação de uma determinada Subclasse, somente podem votar os titulares de Subclasses de Cotas Seniores. 10.6 As deliberações que tenham por objeto alterações de Benchmark apenas serão aprovadas se assim deliberado: (i) pelos votos dos titulares da maioria das Cotas Seniores cujo Benchmark é alterado; e (ii) pelos votos dos titulares da maioria das Cotas Subordinadas em circulação. 10.7 As deliberações que tenham por objeto o aumento do Índice de Subordinação Sênior estão sujeitas à aprovação da maioria simples dos votos dos titu</a:t>
            </a:r>
          </a:p>
          <a:p>
            <a:r>
              <a:t>CNPJ 63953620000165 · Quóruns e matérias reservadas · Condição: 10.7/10.8 repetem aumento do índice com quóruns distintos; interpretar regra específica demandará resolver conflito, sem presumir uma aprovação.</a:t>
            </a:r>
          </a:p>
          <a:p>
            <a:r>
              <a:t>CNPJ 63953620000165 · Quóruns e matérias reservadas · Versão e prevalência: Leitura específica das cláusulas indicadas; condições e conflitos preservados. Seleção documental atual não comprova vigência jurídica por data isolada.</a:t>
            </a:r>
          </a:p>
          <a:p>
            <a:r>
              <a:t>CNPJ 63953620000165 · Quóruns e matérias reservadas · Resumo do histórico: {"count": 7, "dates": ["2026-04-28", "2026-05-08", "2026-05-15"], "document_count": 3, "sources": [{"document_id": "1327859", "title": "Demonstrações Financeiras - Fusão, cisão e incorporação", "reference_date": "2026-05-15", "version": "1", "page": 10, "url": "https://fnet.bmfbovespa.com.br/fnet/publico/visualizarDocumento?id=1327859", "sha256": "dca1c68babb97f887528c3e2e47596a9c30f507b067981a35655b2f2da9c8054"}, {"document_id": "1298691", "title": "Demonstrações Financeiras - Fusão, cisão e incorporação", "reference_date": "2026-05-08", "version": "1", "page": 10, "url": "https://fnet.bmfbovespa.com.br/fnet/publico/visualizarDocumento?id=1298691", "sha256": "58c570d9b8d4d265330d3db3ea81c435b8e44a6dab4002aa37790652a1ee9819"}, {"document_id": "1205431", "title": "AGE", "reference_date": "2026-04-28", "version": "1", "page": 1, "url": "https://fnet.bmfbovespa.com.br/fnet/publico/visualizarDocumento?id=1205431", "sha256": "e0b59c701c5d0dbf60de698ea7664d442240863b7043bacdb334ce484188b2ac"}], "reference": {"path": "history/63953620000165.json", "criterion_id": "quorum", "total_count": 7, "preview_count": 3, "full_text_deferred": true, "sha256": "a7b89077f5e21098c2d601c303faabc3ff6b9729f89d8afecdc60fe1404720c1"}}</a:t>
            </a:r>
          </a:p>
          <a:p>
            <a:r>
              <a:t>CNPJ 54871427000194 · Partes relacionadas e conflitos · Regulamento · ID 670691 · 2024-04-28 · versão 1 · p. 11 · 4.10 · https://fnet.bmfbovespa.com.br/fnet/publico/visualizarDocumento?id=670691</a:t>
            </a:r>
          </a:p>
          <a:p>
            <a:r>
              <a:t>CNPJ 54871427000194 · Partes relacionadas e conflitos · Excerto da fonte:</a:t>
            </a:r>
          </a:p>
          <a:p>
            <a:r>
              <a:t>4.10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54871427000194 · Partes relacionadas e conflitos · Regulamento · ID 670691 · 2024-04-28 · versão 1 · p. 11 · 4.11 · https://fnet.bmfbovespa.com.br/fnet/publico/visualizarDocumento?id=670691</a:t>
            </a:r>
          </a:p>
          <a:p>
            <a:r>
              <a:t>CNPJ 54871427000194 · Partes relacionadas e conflitos · Excerto da fonte:</a:t>
            </a:r>
          </a:p>
          <a:p>
            <a:r>
              <a:t>4.11 A Classe poderá, direta ou indiretamente e, nos termos da legislação aplicável: (i) adquirir Direitos  Creditórios que sejam cedidos e/ou originados pelo ADMINISTRADOR e/ou pelo GESTOR, ou partes  a eles relacionadas, tal como definidas pelas regras contábeis que tratam desse assunto; e (ii) ceder  Direitos Creditórios a qualquer das pessoas, fundos de investimento ou entidades referidas no item (i)  acima, desde que (i) o ADMINISTRADOR, GESTOR, a entidade registradora e o CUSTODIANTE de  Direitos Creditórios não sejam partes relacionadas entre si; e (ii) a entidade registradora e o  CUSTODIANTE dos Direitos Creditórios não sejam partes relacionadas ao originador ou Cedente.</a:t>
            </a:r>
          </a:p>
          <a:p>
            <a:r>
              <a:t>CNPJ 54871427000194 · Partes relacionadas e conflitos · Regulamento · ID 670691 · 2024-04-28 · versão 1 · p. 25 · 12.21 · https://fnet.bmfbovespa.com.br/fnet/publico/visualizarDocumento?id=670691</a:t>
            </a:r>
          </a:p>
          <a:p>
            <a:r>
              <a:t>CNPJ 54871427000194 · Partes relacionadas e conflitos · Excerto da fonte:</a:t>
            </a:r>
          </a:p>
          <a:p>
            <a:r>
              <a:t>12.21 O GESTOR, em nome da Classe, poderá contratar um ou mais terceiros para a prestação de serviços  de Agente de Cobrança de Direitos Creditórios Inadimplidos, os quais poderão ser partes relacionadas  ou integrar o grupo do ADMINISTRADOR ou dos demais prestadores de serviços da Classe. ] Serão  atribuições do Agente de Cobrança, observado o disposto neste Regulamento e na regulamentação  aplicável:</a:t>
            </a:r>
          </a:p>
          <a:p>
            <a:r>
              <a:t>(i) sempre que necessário, notificar os Devedores sobre a cessão dos Direitos Creditórios à  Classe, nos termos do Art. 290 do Código Civil;</a:t>
            </a:r>
          </a:p>
          <a:p>
            <a:r>
              <a:t>(ii) sempre que solicitado pelo ADMINISTRADOR e/ou pelo GESTOR, reportar ao  ADMINISTRADOR e ao GESTOR as ações tomadas e/ou eventos relevantes ocorridos no  âmbito da cobrança, seja judicial ou extrajudicial, dos Direitos Creditórios Inadimplidos, bem  como o estado de ref erida cobrança;</a:t>
            </a:r>
          </a:p>
          <a:p>
            <a:r>
              <a:t>(iii) comparecer à Assembleia Especial de Cotistas quando assim requerido pelo  ADMINISTRADOR;</a:t>
            </a:r>
          </a:p>
          <a:p>
            <a:r>
              <a:t>(iv) conf irmar o recebimento dos boletos bancários de cobrança enviados aos Devedores, se  aplicável;</a:t>
            </a:r>
          </a:p>
          <a:p>
            <a:r>
              <a:t>(v) controlar, coordenar, gerir e f iscalizar as ações de cobrança de Direitos Creditórios  Inadimplidos;</a:t>
            </a:r>
          </a:p>
          <a:p>
            <a:r>
              <a:t>(vi) adotar, em nome e por conta da Classe, todos os procedimentos de cobrança dos Direitos  Creditórios Inadimplidos de titularidade da Classe;</a:t>
            </a:r>
          </a:p>
          <a:p>
            <a:r>
              <a:t>(vii) conf orme o caso, ef etuar a inclusão ou exclusão do nome de quaisquer Devedores dos  Direitos Creditórios Inadimplidos no registro negativo de órgãos e/ou sistemas de informação  e proteção ao crédito; e</a:t>
            </a:r>
          </a:p>
          <a:p>
            <a:r>
              <a:t>(viii) conduzir, por si ou por meio dos assessores legais contratados para esse f im, processo  administrativo, judicial e/ou arbitral contra os Devedores, incluindo, ainda, a excussão de  eventuais garantias acessórias aos Direitos Creditórios.</a:t>
            </a:r>
          </a:p>
          <a:p>
            <a:r>
              <a:t>CNPJ 54871427000194 · Partes relacionadas e conflitos · Condição: Documentos atuais selecionados no inventário por categoria/escopo; a data documental isolada não comprova vigência jurídica.</a:t>
            </a:r>
          </a:p>
          <a:p>
            <a:r>
              <a:t>CNPJ 54871427000194 · Partes relacionadas e conflitos · Versão e prevalência: Documentos atuais selecionados no inventário por categoria/escopo; a data documental isolada não comprova vigência jurídica.</a:t>
            </a:r>
          </a:p>
          <a:p>
            <a:r>
              <a:t>CNPJ 54871427000194 · Partes relacionadas e conflitos · Resumo do histórico: {"count": 1, "dates": ["2024-04-19"], "document_count": 1, "sources": [{"document_id": "670689", "title": "Regulamento", "reference_date": "2024-04-19", "version": "1", "page": 11, "clause": "4.10", "url": "https://fnet.bmfbovespa.com.br/fnet/publico/visualizarDocumento?id=670689", "sha256": "891bc9bc5d87bbc02ec139077a84d2702eb81ea02035fb71d24f5b8366b94a0b"}], "reference": {"path": "history/54871427000194.json", "criterion_id": "related_parties", "total_count": 1, "preview_count": 1, "full_text_deferred": true, "sha256": "35d7cd99be50c7287c9fb675cf4f2e736002315295a225a9efa79c8d9186d874"}}</a:t>
            </a:r>
          </a:p>
          <a:p>
            <a:r>
              <a:t>CNPJ 60010416000112 · Partes relacionadas e conflitos · Regulamento · ID 1051393 · 2025-10-09 · versão 1 · p. 12 · 4.8 · https://fnet.bmfbovespa.com.br/fnet/publico/visualizarDocumento?id=1051393</a:t>
            </a:r>
          </a:p>
          <a:p>
            <a:r>
              <a:t>CNPJ 60010416000112 · Partes relacionadas e conflitos · Excerto da fonte:</a:t>
            </a:r>
          </a:p>
          <a:p>
            <a:r>
              <a:t>4.8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60010416000112 · Partes relacionadas e conflitos · Regulamento · ID 1051393 · 2025-10-09 · versão 1 · p. 12 · 4.9 · https://fnet.bmfbovespa.com.br/fnet/publico/visualizarDocumento?id=1051393</a:t>
            </a:r>
          </a:p>
          <a:p>
            <a:r>
              <a:t>CNPJ 60010416000112 · Partes relacionadas e conflitos · Excerto da fonte:</a:t>
            </a:r>
          </a:p>
          <a:p>
            <a:r>
              <a:t>4.9 Sem prejuízo de limites mais restritivos definidos neste Regulamento, o Gestor deverá observar, ainda, os  seguintes limites de concentração para a composição da Carteira:</a:t>
            </a:r>
          </a:p>
          <a:p>
            <a:r>
              <a:t> (i ) Até 100% (cem por cento) da parcela do Patrimônio Líquido investida em Ativos  Financeiros de Liquidez poderá ser alocada em Ativos Financeiros de Liquidez de  emissão ou que envolvam retenção de risco por parte do Administrador, Gestor, e/ou  suas partes relacionadas; e</a:t>
            </a:r>
          </a:p>
          <a:p>
            <a:r>
              <a:t> (ii) Até 100% (cem por cento) da parcela do Patrimônio Líquido investida em operações  com derivativos poderá ser alocada em derivativos nos quais, inexistindo contraparte  central, se tenha como contraparte o Gestor e/ou suas partes relacionadas.</a:t>
            </a:r>
          </a:p>
          <a:p>
            <a:r>
              <a:t>CNPJ 60010416000112 · Partes relacionadas e conflitos · Regulamento · ID 1051393 · 2025-10-09 · versão 1 · p. 12 · 4.12.1 · https://fnet.bmfbovespa.com.br/fnet/publico/visualizarDocumento?id=1051393</a:t>
            </a:r>
          </a:p>
          <a:p>
            <a:r>
              <a:t>CNPJ 60010416000112 · Partes relacionadas e conflitos · Excerto da fonte:</a:t>
            </a:r>
          </a:p>
          <a:p>
            <a:r>
              <a:t>4.12.1. Após o término do Período de Investimento, a Classe utilizará os recursos provenientes do  pagamento dos Direitos Creditórios e demais aplicações para amortização das Cotas, observada  a ordem de alocação de recursos def inida no Capítulo 7 abaixo.</a:t>
            </a:r>
          </a:p>
          <a:p>
            <a:r>
              <a:t>Regras, procedimentos e limites para efetuar cessão de direitos creditórios para o cedente e suas partes relacionadas</a:t>
            </a:r>
          </a:p>
          <a:p>
            <a:r>
              <a:t>CNPJ 60010416000112 · Partes relacionadas e conflitos · Condição: Documentos atuais selecionados no inventário por categoria/escopo; a data documental isolada não comprova vigência jurídica.</a:t>
            </a:r>
          </a:p>
          <a:p>
            <a:r>
              <a:t>CNPJ 60010416000112 · Partes relacionadas e conflitos · Versão e prevalência: Documentos atuais selecionados no inventário por categoria/escopo; a data documental isolada não comprova vigência jurídica.</a:t>
            </a:r>
          </a:p>
          <a:p>
            <a:r>
              <a:t>CNPJ 60010416000112 · Partes relacionadas e conflitos · Resumo do histórico: {"count": 1, "dates": ["2025-03-20"], "document_count": 1, "sources": [{"document_id": "993786", "title": "Regulamento", "reference_date": "2025-03-20", "version": "1", "page": 12, "clause": "4.8", "url": "https://fnet.bmfbovespa.com.br/fnet/publico/visualizarDocumento?id=993786", "sha256": "fd0fdd369a195510d81f81f505195a0b09e5f43522a990afa7d58c4f872921c8"}], "reference": {"path": "history/60010416000112.json", "criterion_id": "related_parties", "total_count": 1, "preview_count": 1, "full_text_deferred": true, "sha256": "8e2bd813f4c51cf01f6bfaad164bafe69d2bbb192f753eac92da3a01c2e63046"}}</a:t>
            </a:r>
          </a:p>
          <a:p>
            <a:r>
              <a:t>CNPJ 62696791000193 · Partes relacionadas e conflitos · Regulamento · ID 1143317 · 2026-03-20 · versão 1 · p. 12 · 4.10 · https://fnet.bmfbovespa.com.br/fnet/publico/visualizarDocumento?id=1143317</a:t>
            </a:r>
          </a:p>
          <a:p>
            <a:r>
              <a:t>CNPJ 62696791000193 · Partes relacionadas e conflitos · Excerto da fonte:</a:t>
            </a:r>
          </a:p>
          <a:p>
            <a:r>
              <a:t>4.10 Sem prejuízo de limites mais restritivos definidos neste Anexo, o Gestor deverá observar, ainda, os  seguintes limites de concentração:</a:t>
            </a:r>
          </a:p>
          <a:p>
            <a:r>
              <a:t> (i) A Classe poderá, direta ou indiretamente, ter até 100% (cem por cento) do Patrimônio  Líquido representado por Direitos Creditórios do Agronegócio originados ou cedidos  pelo Administrador, Gestor e/ou suas partes relacionadas, tal como definidas pelas  regras contábeis que tratam desse assunto, desde que (a) o Gest or, a entidade  registradora e o Custodiante dos Direitos Creditórios do Agronegócio não sejam partes  relacionadas entre si; e (b) a entidade registradora e o Custodiante dos Direitos  Creditórios do Agronegócio não sejam partes relacionadas ao originador ou Cedente.</a:t>
            </a:r>
          </a:p>
          <a:p>
            <a:r>
              <a:t> (ii) No máximo, 100% (cem por cento) do Patrimônio Líquido investido em Ativos  Financeiros de Liquidez de emissão ou que envolvam retenção de risco por parte do  Administrador, Gestor, e/ou suas partes relacionadas, observado ainda o disposto no  item Error! Reference source not found.;</a:t>
            </a:r>
          </a:p>
          <a:p>
            <a:r>
              <a:t> (iii) No máximo, 100% (cem por cento) do Patrimônio Líquido investido em operações com  derivativos nos quais, inexistindo contraparte central, se tenha como contraparte o  Gestor, e/ou suas partes relacionadas, observado ainda o disposto no item Error!  Reference source not found.;</a:t>
            </a:r>
          </a:p>
          <a:p>
            <a:r>
              <a:t> (iv) No máximo, 100% (cem por cento) do Patrimônio Líquido em cotas de uma mesma  classe;</a:t>
            </a:r>
          </a:p>
          <a:p>
            <a:r>
              <a:t> (v) É vedada a aquisição de precatórios f ederais.</a:t>
            </a:r>
          </a:p>
          <a:p>
            <a:r>
              <a:t> (vi) No máximo, 49% (quarenta e nove por cento) do Patrimônio Líquido em Ativos  Imobiliários do Agronegócio;</a:t>
            </a:r>
          </a:p>
          <a:p>
            <a:r>
              <a:t> (vii) No máximo, 49% (quarenta e nove por cento) do Patrimônio Líquido em Participações  do Agronegócio;</a:t>
            </a:r>
          </a:p>
          <a:p>
            <a:r>
              <a:t> (viii) No máximo, 49% (quarenta e nove por cento) do Patrimônio Líquido em Ativos  Financeiros do Agronegócio; e</a:t>
            </a:r>
          </a:p>
          <a:p>
            <a:r>
              <a:t> (ix) No máximo, 49% (quarenta e nove por cento) do Patrimônio Líquido em Ativos em Geral  do Agronegócio;</a:t>
            </a:r>
          </a:p>
          <a:p>
            <a:r>
              <a:t> Ativos Recuperados</a:t>
            </a:r>
          </a:p>
          <a:p>
            <a:r>
              <a:t>CNPJ 62696791000193 · Partes relacionadas e conflitos · Regulamento · ID 1143317 · 2026-03-20 · versão 1 · p. 11 · 4.8 · https://fnet.bmfbovespa.com.br/fnet/publico/visualizarDocumento?id=1143317</a:t>
            </a:r>
          </a:p>
          <a:p>
            <a:r>
              <a:t>CNPJ 62696791000193 · Partes relacionadas e conflitos · Excerto da fonte:</a:t>
            </a:r>
          </a:p>
          <a:p>
            <a:r>
              <a:t>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relacionadas ao Gestor.</a:t>
            </a:r>
          </a:p>
          <a:p>
            <a:r>
              <a:t>CNPJ 62696791000193 · Partes relacionadas e conflitos · Regulamento · ID 1143317 · 2026-03-20 · versão 1 · p. 14 · 4.21.1 · https://fnet.bmfbovespa.com.br/fnet/publico/visualizarDocumento?id=1143317</a:t>
            </a:r>
          </a:p>
          <a:p>
            <a:r>
              <a:t>CNPJ 62696791000193 · Partes relacionadas e conflitos · Excerto da fonte:</a:t>
            </a:r>
          </a:p>
          <a:p>
            <a:r>
              <a:t>4.21.1 Sem prejuízo do disposto acima, poderá ser contratado terceiro especializado para o  gerenciamento das obras, para controle dos desembolsos, conforme medições durante a etapa  de desenvolvimento e construção dos Ativos Imobiliários do Agronegócio, sendo certo que,  caso haja a contratação de terceiros em situação de conflito de interesses, deverá ser aprovado  em assembleia de Cotistas.</a:t>
            </a:r>
          </a:p>
          <a:p>
            <a:r>
              <a:t>CNPJ 62696791000193 · Partes relacionadas e conflitos · Condição: Documentos atuais selecionados no inventário por categoria/escopo; a data documental isolada não comprova vigência jurídica.</a:t>
            </a:r>
          </a:p>
          <a:p>
            <a:r>
              <a:t>CNPJ 62696791000193 · Partes relacionadas e conflitos · Versão e prevalência: Documentos atuais selecionados no inventário por categoria/escopo; a data documental isolada não comprova vigência jurídica.</a:t>
            </a:r>
          </a:p>
          <a:p>
            <a:r>
              <a:t>CNPJ 55563624000109 · Partes relacionadas e conflitos · Regulamento · ID 1192614 · 2026-04-30 · versão 1 · p. 13 · 4.12.1 · https://fnet.bmfbovespa.com.br/fnet/publico/visualizarDocumento?id=1192614</a:t>
            </a:r>
          </a:p>
          <a:p>
            <a:r>
              <a:t>CNPJ 55563624000109 · Partes relacionadas e conflitos · Excerto da fonte:</a:t>
            </a:r>
          </a:p>
          <a:p>
            <a:r>
              <a:t>4.12.1 A Classe poderá ter até 100% (cem por cento) do Patrimônio Líquido representado por Cotas da Classe  Investida administrados pelo ADMINISTRADOR, e geridos ou cogeridos pelo GESTOR e/ou suas partes  relacionadas.</a:t>
            </a:r>
          </a:p>
          <a:p>
            <a:r>
              <a:t> Revolvência da Carteira</a:t>
            </a:r>
          </a:p>
          <a:p>
            <a:r>
              <a:t>CNPJ 55563624000109 · Partes relacionadas e conflitos · Regulamento · ID 1192614 · 2026-04-30 · versão 1 · p. 28 · 13.2 · https://fnet.bmfbovespa.com.br/fnet/publico/visualizarDocumento?id=1192614</a:t>
            </a:r>
          </a:p>
          <a:p>
            <a:r>
              <a:t>CNPJ 55563624000109 · Partes relacionadas e conflitos · Excerto da fonte:</a:t>
            </a:r>
          </a:p>
          <a:p>
            <a:r>
              <a:t>13.2 Em condições ordinárias, as Cotas da Classe Investida não pagarão remuneração aos prestadores de serviços  essenciais da Classe Investida, nos termos de seu regulamento. Não obstante, em cenário extraordinário  conforme descrito no item 15.1.1 (iii), e para fins de atendimento ao artigo 98 da parte geral da Resolução CVM  175, a taxa máxima de administração corresponderá ao valor da Taxa Mínima de Administração acrescida de até  0,10% (dez centésimos por cento) ao ano incidente sobre o patrimônio líquido da Classe Investida,  compreendendo a taxa de administração da Classe Investida geridos por partes relacionadas ao GESTOR, cujas  cotas não estão admitidas à negociação em mercado organizado, conforme prevista no regulamento da Classe  Investida (“Taxa Máxima de Administração” e, quando referida em conjunto com a Taxa Mínima de  Administração, como “Taxa de Administração”). Caso a taxa de administração da Classe Investida não se  enquadre no disposto acima, estará disposta no regulamento da Classe Investida.</a:t>
            </a:r>
          </a:p>
          <a:p>
            <a:r>
              <a:t>CNPJ 55563624000109 · Partes relacionadas e conflitos · Regulamento · ID 1192614 · 2026-04-30 · versão 1 · p. 37 · https://fnet.bmfbovespa.com.br/fnet/publico/visualizarDocumento?id=1192614</a:t>
            </a:r>
          </a:p>
          <a:p>
            <a:r>
              <a:t>CNPJ 55563624000109 · Partes relacionadas e conflitos · Excerto da fonte:</a:t>
            </a:r>
          </a:p>
          <a:p>
            <a:r>
              <a:t>(ix) Possibilidade de conflito de interesses. As Cotas poderão ser adquiridas por investidores que  sejam partes relacionadas à Classe Investida ou aos prestadores de serviços da Classe Investida. Nessa  hipótese, poderá haver situações de conflito de interesses entre os interesses desses investidores e o  interesse dos demais Cotistas, podendo qualquer desses investidores, inclusive, aprovar deliberações  contrárias aos interesses dos demais Cotistas caso sejam titulares da maioria das Cotas presentes às  Assembleias de Cotistas.</a:t>
            </a:r>
          </a:p>
          <a:p>
            <a:r>
              <a:t>CNPJ 55563624000109 · Partes relacionadas e conflitos · Condição: Documentos atuais selecionados no inventário por categoria/escopo; a data documental isolada não comprova vigência jurídica.</a:t>
            </a:r>
          </a:p>
          <a:p>
            <a:r>
              <a:t>CNPJ 55563624000109 · Partes relacionadas e conflitos · Versão e prevalência: Documentos atuais selecionados no inventário por categoria/escopo; a data documental isolada não comprova vigência jurídica.</a:t>
            </a:r>
          </a:p>
          <a:p>
            <a:r>
              <a:t>CNPJ 55563624000109 · Partes relacionadas e conflitos · Resumo do histórico: {"count": 2, "dates": ["2025-01-31", "2026-01-31"], "document_count": 2, "sources": [{"document_id": "1178840", "title": "Demonstrações Financeiras", "reference_date": "2026-01-31", "version": "1", "page": 23, "url": "https://fnet.bmfbovespa.com.br/fnet/publico/visualizarDocumento?id=1178840", "sha256": "c458e98664c5c907ddb5a05a94b120bed4e05295b2bfc420f5ba69af0a229abe"}, {"document_id": "891861", "title": "Demonstrações Financeiras", "reference_date": "2025-01-31", "version": "1", "page": 23, "url": "https://fnet.bmfbovespa.com.br/fnet/publico/visualizarDocumento?id=891861", "sha256": "e9cb9e6ddbe505fe068cfcac33605165a98313489de0d3ce6d4d238263c3f3e7"}], "reference": {"path": "history/55563624000109.json", "criterion_id": "related_parties", "total_count": 2, "preview_count": 2, "full_text_deferred": true, "sha256": "7835d573fb58a3c19adf5b8ecc2aee2bdbb9a88f7a0c0209b5f262b64c7522e3"}}</a:t>
            </a:r>
          </a:p>
          <a:p>
            <a:r>
              <a:t>CNPJ 62552447000120 · Partes relacionadas e conflitos · Regulamento · ID 1200623 · 2026-05-21 · versão 1 · p. 14 · 4.10 · https://fnet.bmfbovespa.com.br/fnet/publico/visualizarDocumento?id=1200623</a:t>
            </a:r>
          </a:p>
          <a:p>
            <a:r>
              <a:t>CNPJ 62552447000120 · Partes relacionadas e conflitos · Excerto da fonte:</a:t>
            </a:r>
          </a:p>
          <a:p>
            <a:r>
              <a:t>4.10 Nos termos do art. 45, §7º, inciso II, do Anexo Normativo II, a Classe poderá ter até 100% (cem por  cento) de seu Patrimônio Líquido alocado em Direitos Creditórios, derivativos, observado o disposto  abaixo,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62552447000120 · Partes relacionadas e conflitos · Regulamento · ID 1200623 · 2026-05-21 · versão 1 · p. 14 · 4.11 · https://fnet.bmfbovespa.com.br/fnet/publico/visualizarDocumento?id=1200623</a:t>
            </a:r>
          </a:p>
          <a:p>
            <a:r>
              <a:t>CNPJ 62552447000120 · Partes relacionadas e conflitos · Excerto da fonte:</a:t>
            </a:r>
          </a:p>
          <a:p>
            <a:r>
              <a:t>4.11 Sem prejuízo de limites mais restritivos definidos neste Regulamento, o Gestor deverá observar, ainda,  os seguintes limites de concentração para a composição da Carteira:</a:t>
            </a:r>
          </a:p>
          <a:p>
            <a:r>
              <a:t> (i) Até 100% (cem por cento) da parcela do Patrimônio Líquido investida em Direitos  Creditórios poderão ser alocados em Direitos Creditórios originados ou cedidos pelo  Administrador, Gestor e/ou suas partes relacionadas, tal como definidas pelas regras  contábeis que tratam desse assunto . A Classe também poderá ceder Direitos  Creditórios a qualquer das pessoas, f undos de investimento ou entidades ref eridas  acima, desde que a entidade registradora e o Custodiante dos Direitos Creditórios não  sejam partes relacionadas ao Originador ou Endossante;</a:t>
            </a:r>
          </a:p>
          <a:p>
            <a:r>
              <a:t> (ii) Até 100% (cem por cento) da parcela do Patrimônio Líquido investida em Ativos  Financeiros poderão ser alocados em Ativos Financeiros de emissão ou que envolvam  retenção de risco por parte do Administrador, Gestor e/ou suas partes relacionadas; e</a:t>
            </a:r>
          </a:p>
          <a:p>
            <a:r>
              <a:t> (iii) Até 100% (cem por cento) da parcela do Patrimônio Líquido investida em operações  com derivativos poderão ser alocados em operações com derivativos nas quais,  inexistindo contraparte central, se tenha como contraparte o Gestor e/ou suas partes  relacionadas.</a:t>
            </a:r>
          </a:p>
          <a:p>
            <a:r>
              <a:t>CNPJ 62552447000120 · Partes relacionadas e conflitos · Regulamento · ID 1200623 · 2026-05-21 · versão 1 · p. 15 · 4.18 · https://fnet.bmfbovespa.com.br/fnet/publico/visualizarDocumento?id=1200623</a:t>
            </a:r>
          </a:p>
          <a:p>
            <a:r>
              <a:t>CNPJ 62552447000120 · Partes relacionadas e conflitos · Excerto da fonte:</a:t>
            </a:r>
          </a:p>
          <a:p>
            <a:r>
              <a:t>4.18 Ainda que integrem a Carteira, os Ativos Recuperados não serão, sob qualquer hipótese, adquiridos  como parte da Política de Investimento, de forma que serão de sua propriedade exclusivamente, não  devendo, portanto, ser contabilizados para f ins de enquadramento da Classe.</a:t>
            </a:r>
          </a:p>
          <a:p>
            <a:r>
              <a:t>Regras, procedimentos e limites para efetuar qualquer modalidade de transferência dos Direitos Creditórios, incluindo, sem limitação, endosso (“Transferência”) para o Endossante e suas partes relacionadas</a:t>
            </a:r>
          </a:p>
          <a:p>
            <a:r>
              <a:t>CNPJ 62552447000120 · Partes relacionadas e conflitos · Condição: Documentos atuais selecionados no inventário por categoria/escopo; a data documental isolada não comprova vigência jurídica.</a:t>
            </a:r>
          </a:p>
          <a:p>
            <a:r>
              <a:t>CNPJ 62552447000120 · Partes relacionadas e conflitos · Versão e prevalência: Documentos atuais selecionados no inventário por categoria/escopo; a data documental isolada não comprova vigência jurídica.</a:t>
            </a:r>
          </a:p>
          <a:p>
            <a:r>
              <a:t>CNPJ 63953620000165 · Partes relacionadas e conflitos · Anexo ao Regulamento · ID 1222863 · 2026-06-02 · versão 1 · p. 6 · 4.14 · https://fnet.bmfbovespa.com.br/fnet/publico/visualizarDocumento?id=1222863</a:t>
            </a:r>
          </a:p>
          <a:p>
            <a:r>
              <a:t>CNPJ 63953620000165 · Partes relacionadas e conflitos · Excerto da fonte:</a:t>
            </a:r>
          </a:p>
          <a:p>
            <a:r>
              <a:t>4.14 Nos termos do Art. 45, §7º, inciso II, do Anexo Normativo II da Resolução CVM 175, a Classe poderá ter até 100%  (cem por cento) de seu Patrimônio Líquido alocado em Direitos Creditórios, derivativos, observado o disposto  neste Anexo I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63953620000165 · Partes relacionadas e conflitos · Anexo ao Regulamento · ID 1222863 · 2026-06-02 · versão 1 · p. 8 · 4.21 · https://fnet.bmfbovespa.com.br/fnet/publico/visualizarDocumento?id=1222863</a:t>
            </a:r>
          </a:p>
          <a:p>
            <a:r>
              <a:t>CNPJ 63953620000165 · Partes relacionadas e conflitos · Excerto da fonte:</a:t>
            </a:r>
          </a:p>
          <a:p>
            <a:r>
              <a:t>4.21 Ainda que integrem a carteira da Classe, os Ativos Recuperados não serão, sob qualquer hipótese, adquiridos  como parte da Política de Investimento da Classe, de forma que serão de sua propriedade exclusivamente, não  devendo, portanto, ser contabilizados para fins de enquadramento da Classe.</a:t>
            </a:r>
          </a:p>
          <a:p>
            <a:r>
              <a:t> Regras, procedimentos e limites para efetuar o Endosso de Direitos Creditórios Crédito Consignado para o Endossante e  suas partes relacionadas</a:t>
            </a:r>
          </a:p>
          <a:p>
            <a:r>
              <a:t>CNPJ 63953620000165 · Partes relacionadas e conflitos · Anexo ao Regulamento · ID 1222863 · 2026-06-02 · versão 1 · p. 7 · https://fnet.bmfbovespa.com.br/fnet/publico/visualizarDocumento?id=1222863</a:t>
            </a:r>
          </a:p>
          <a:p>
            <a:r>
              <a:t>CNPJ 63953620000165 · Partes relacionadas e conflitos · Excerto da fonte:</a:t>
            </a:r>
          </a:p>
          <a:p>
            <a:r>
              <a:t>Anexo I ao Regulamento  CLASSE CONSIGNADO PRIVADO DO MT GLOBAL FUNDO DE INVESTIMENTO EM DIREITOS  CREDITÓRIOS RESPONSABILIDADE LIMITADA</a:t>
            </a:r>
          </a:p>
          <a:p>
            <a:r>
              <a:t> (i)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 (ii) No máximo, 50% (cinquenta por cento) do Patrimônio Líquido investido em Ativos Financeiros  de Liquidez de emissão ou que envolvam retenção de risco por parte do Administrador, Gestor,  e/ou suas partes relacionadas, observado ainda o disposto acima;</a:t>
            </a:r>
          </a:p>
          <a:p>
            <a:r>
              <a:t> (iii) No máximo, 100% (cem por cento) do Patrimônio Líquido investido em operações com  derivativos nos quais, inexistindo contraparte central, se tenha como contraparte o Gestor,  Consultora e/ou suas partes relacionadas, observado ainda o disposto acima;</a:t>
            </a:r>
          </a:p>
          <a:p>
            <a:r>
              <a:t> (iv) A Classe poderá investir até 100% (cem por cento) de seu Patrimônio Líquido em Direitos  Creditórios Não-Padronizados;</a:t>
            </a:r>
          </a:p>
          <a:p>
            <a:r>
              <a:t> (v) É vedada a aquisição de precatórios federais.</a:t>
            </a:r>
          </a:p>
          <a:p>
            <a:r>
              <a:t>CNPJ 63953620000165 · Partes relacionadas e conflitos · Condição: Documentos atuais selecionados no inventário por categoria/escopo; a data documental isolada não comprova vigência jurídica.</a:t>
            </a:r>
          </a:p>
          <a:p>
            <a:r>
              <a:t>CNPJ 63953620000165 · Partes relacionadas e conflitos · Versão e prevalência: Documentos atuais selecionados no inventário por categoria/escopo; a data documental isolada não comprova vigência jurídica.</a:t>
            </a:r>
          </a:p>
          <a:p>
            <a:r>
              <a:t>CNPJ 54871427000194 · Histórico de alterações materiais · Instrumento Particular de Alteração do Regulamento · ID 670690 · 28/05/2024 · versão Instrumento Particular de Alteração do Regulamento — referência 28/05/2024 · p. 1 · AGC, 4.1–4.2 · https://fnet.bmfbovespa.com.br/fnet/publico/visualizarDocumento?id=670690</a:t>
            </a:r>
          </a:p>
          <a:p>
            <a:r>
              <a:t>CNPJ 54871427000194 · Histórico de alterações materiais · Excerto da fonte:</a:t>
            </a:r>
          </a:p>
          <a:p>
            <a:r>
              <a:t>4.1. A alteração integral do anexo da Classe Única, que compõe o regulamento do Fundo (“Anexo da Classe Única” e “Regulamento”) e seus complementos, para de f orma a alterar a Política de Investimentos da Classe para aquisição de direitos creditórios representados por Certif icados de Cédulas de Crédito Bancário (“CCCBs” e “Direitos Creditórios”), bem como refletir os novos critérios de elegibilidade para aquisição dos Direitos Creditórios, os documentos comprobatórios do lastro e f atores de risco aplicáveis. 4.2. Tendo em vista a aprovação dos itens. acima, deliberaram por aprovar o novo Regulamento Consolidado, que vigorará na forma do Anexo I à presente Ata, o qual terá efeitos retroativos a abertura de 28 de maio de 2024. 4.3. Por f im, por aprovar a Administradora a adotar todas as medidas necessárias para implementação das deliberações acima. 5. ENCERRAMENTO Nada mais havendo a tratar, f oi a reunião encerrada. Rio de Janeiro, 28 de maio de 2024. Mesa: Diego Prado Tassiana Lima Presidente</a:t>
            </a:r>
          </a:p>
          <a:p>
            <a:r>
              <a:t>CNPJ 54871427000194 · Histórico de alterações materiais · Regulamento · ID 670691 · 28/04/2024 · versão Regulamento — referência 28/04/2024 · p. 9 · Regulamento 670691, Anexo I, 4.2 · https://fnet.bmfbovespa.com.br/fnet/publico/visualizarDocumento?id=670691</a:t>
            </a:r>
          </a:p>
          <a:p>
            <a:r>
              <a:t>CNPJ 54871427000194 · Histórico de alterações materiais · Excerto da fonte:</a:t>
            </a:r>
          </a:p>
          <a:p>
            <a:r>
              <a:t>4.2 Os Direitos Creditórios representados por Certif icados de Cédulas de Crédito Bancário (“CCCBs”), representativos de um agrupamento de determinadas CCBs, originadas no âmbito de operações de empréstimos pessoais concedidos por um Endossante a um Devedor, devidamente f ormalizadas por via eletrônica de acordo com a legislação aplicável, segundo os critérios de composição e diversificação estabelecidos pela regulamentação aplicável e neste Regulamento. 4.2.1 Cada Endossante deve ter celebrado convênio com órgão consignante, previamente à cessão de Direitos Creditórios à Classe, que contemplam a obrigação da manutenção da consignação/averbação junto ao novo órgão, de modo a possibilitar o pagamento dos Direitos Creditórios por meio de consignação em f olha de pagamento ou de benef ício . 4.3 Os pagamentos relativos aos Direitos Creditórios de titularidade da Classe serão realizados mediante consignação em folha, débito em conta de titularidade dos Devedores e pagamentos de sinistros, para pagamento dos valores correspondentes às parcelas das CCBs representadas pelos CCCBs de titularidade da Classe, os quais serão conciliados e repassados pelo Endossan</a:t>
            </a:r>
          </a:p>
          <a:p>
            <a:r>
              <a:t>CNPJ 54871427000194 · Histórico de alterações materiais · Condição: A classificação Fundos Net do documento 670690 é “regulamento”, mas seu conteúdo é uma AGC. A divergência de datas impede usar a referência do 670691 como prova autônoma de início de vigência.</a:t>
            </a:r>
          </a:p>
          <a:p>
            <a:r>
              <a:t>CNPJ 54871427000194 · Histórico de alterações materiais · Motivo: Não localizada uma cláusula material para este critério nos textos identificados e processados. A ausência de resultado não comprova inexistência da regra.</a:t>
            </a:r>
          </a:p>
          <a:p>
            <a:r>
              <a:t>CNPJ 54871427000194 · Histórico de alterações materiais · Versão e prevalência: Leitura específica das cláusulas indicadas; condições e conflitos preservados. Seleção documental atual não comprova vigência jurídica por data isolada.</a:t>
            </a:r>
          </a:p>
          <a:p>
            <a:r>
              <a:t>CNPJ 60010416000112 · Histórico de alterações materiais · Demonstrações Financeiras - Fusão, cisão e incorporação · ID 1298690 · 2026-05-08 · versão 1 · p. 30 · https://fnet.bmfbovespa.com.br/fnet/publico/visualizarDocumento?id=1298690</a:t>
            </a:r>
          </a:p>
          <a:p>
            <a:r>
              <a:t>CNPJ 60010416000112 · Histórico de alterações materiais · Excerto da fonte:</a:t>
            </a:r>
          </a:p>
          <a:p>
            <a:r>
              <a:t>Durante o período de investimento, a Administradora poderá deliberar por realizar novas  emissões de Cotas Seniores, sem a necessidade de aprovação em Assembleia Especial de  Cotistas ou alteração do Regulamento, limitadas ao montante máximo de R$ 1.000.000 (um  bilhão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seniores emitidas não sejam superiores aos  prazos de vencimento da primeira emissão.</a:t>
            </a:r>
          </a:p>
          <a:p>
            <a:r>
              <a:t>CNPJ 60010416000112 · Histórico de alterações materiais · Demonstrações Financeiras - Fusão, cisão e incorporação · ID 1298690 · 2026-05-08 · versão 1 · p. 30 · https://fnet.bmfbovespa.com.br/fnet/publico/visualizarDocumento?id=1298690</a:t>
            </a:r>
          </a:p>
          <a:p>
            <a:r>
              <a:t>CNPJ 60010416000112 · Histórico de alterações materiais · Excerto da fonte:</a:t>
            </a:r>
          </a:p>
          <a:p>
            <a:r>
              <a:t>Durante o período de investimento, a Administradora poderá deliberar por realizar novas  emissões de cotas subordinadas, sem a necessidade de aprovação em Assembleia Especial  de Cotistas ou alteração do Regulamento, limitadas ao montante máximo de R$ 50.000  (cinquenta milhões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subordinadas emitidas não sejam  superiores aos prazos de vencimento da primeira emissão.</a:t>
            </a:r>
          </a:p>
          <a:p>
            <a:r>
              <a:t>CNPJ 60010416000112 · Histórico de alterações materiais · Condição: Documentos atuais selecionados no inventário por categoria/escopo; a data documental isolada não comprova vigência jurídica.</a:t>
            </a:r>
          </a:p>
          <a:p>
            <a:r>
              <a:t>CNPJ 60010416000112 · Histórico de alterações materiais · Versão e prevalência: Documentos atuais selecionados no inventário por categoria/escopo; a data documental isolada não comprova vigência jurídica.</a:t>
            </a:r>
          </a:p>
          <a:p>
            <a:r>
              <a:t>CNPJ 60010416000112 · Histórico de alterações materiais · Resumo do histórico: {"count": 5, "dates": ["2025-11-30", "2026-03-18", "2026-04-16"], "document_count": 3, "sources": [{"document_id": "1282181", "title": "Demonstrações Financeiras - Fusão, cisão e incorporação", "reference_date": "2026-04-16", "version": "1", "page": 32, "url": "https://fnet.bmfbovespa.com.br/fnet/publico/visualizarDocumento?id=1282181", "sha256": "b1c6566e43a00bcd00c8a7f30c77b7f86e351bd8e355bbea113f46d1dafda703"}, {"document_id": "1224477", "title": "Demonstrações Financeiras - Fusão, cisão e incorporação", "reference_date": "2026-03-18", "version": "1", "page": 32, "url": "https://fnet.bmfbovespa.com.br/fnet/publico/visualizarDocumento?id=1224477", "sha256": "0751bf0a75bc3b44c2748f5000226665c6ec6698a90c4dc6170b4e6c187759ae"}, {"document_id": "1126154", "title": "Demonstrações Financeiras", "reference_date": "2025-11-30", "version": "1", "page": 32, "url": "https://fnet.bmfbovespa.com.br/fnet/publico/visualizarDocumento?id=1126154", "sha256": "a01e7ccf88c548f12c95cba8526d7efbef6b585c112cd4668eca781c292090b0"}], "reference": {"path": "history/60010416000112.json", "criterion_id": "changes", "total_count": 5, "preview_count": 3, "full_text_deferred": true, "sha256": "8e2bd813f4c51cf01f6bfaad164bafe69d2bbb192f753eac92da3a01c2e63046"}}</a:t>
            </a:r>
          </a:p>
          <a:p>
            <a:r>
              <a:t>CNPJ 62696791000193 · Histórico de alterações materiais · AGE · ID 1143319 · 20/03/2026 10:00 · versão AGE — referência 20/03/2026 10:00 · p. 1 · AGC, 4.1(a)–(c) · https://fnet.bmfbovespa.com.br/fnet/publico/visualizarDocumento?id=1143319</a:t>
            </a:r>
          </a:p>
          <a:p>
            <a:r>
              <a:t>CNPJ 62696791000193 · Histórico de alterações materiais · Excerto da fonte:</a:t>
            </a:r>
          </a:p>
          <a:p>
            <a:r>
              <a:t>4.1. Aprovar a transformação do Fundo, bem como de sua Classe única, em um fundo de investimento nas cadeias produtivas do agronegócio (“Transformação”), nos termos da parte geral e do Anexo Normativo VI da Resolução nº 175 da CVM, de 23 de dezembro de 2022, conforme alterada (“Resolução CVM 175”). a. Aprovar a alteração da denominação do Fundo, que passará a vigorar como BTG PACTUAL CERES CONFINA FUNDO DE INVESTIMENTO NAS CADEIAS PRODUTIVAS DO AGRONEGÓCIO RESPONSABILIDADE LIMITADA, e de sua Classe única, que passará a vigorar como CLASSE ÚNICA DO BTG PACTUAL CERES CONFINA FUNDO DE INVESTIMENTO NAS CADEIAS PRODUTIVAS DO AGRONEGÓCIO RESPONSABILIDADE LIMITADA (“Classe”); b. Aprovar a reforma integral do Regulamento do Fundo, bem como do Anexo descritivo da Classe, para realizar todos os ajustes necessários à implementação da Transformação, incluindo, mas não se limitando, a política de investimentos, o regime tributário e os fatores de risco aplicáveis, conforme itens abaixo; c. Aprovar a alteração do quadro de características gerais do Fundo, considerando a contratação do Cogestor pelo Gestor, nos termos do artigo 52, II, da parte geral da Resolução CVM 175 e no co</a:t>
            </a:r>
          </a:p>
          <a:p>
            <a:r>
              <a:t>CNPJ 62696791000193 · Histórico de alterações materiais · AGE · ID 1143319 · 20/03/2026 10:00 · versão AGE — referência 20/03/2026 10:00 · p. 3 · AGC, 4.1(j)–(k) · https://fnet.bmfbovespa.com.br/fnet/publico/visualizarDocumento?id=1143319</a:t>
            </a:r>
          </a:p>
          <a:p>
            <a:r>
              <a:t>CNPJ 62696791000193 · Histórico de alterações materiais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Histórico de alterações materiais · Instrumento Particular de Emissão de Cotas · ID 1148821 · 27/03/2026 · versão Instrumento Particular de Emissão de Cotas — referência 27/03/2026 · p. 1 · Deliberação Conjunta27/03/2026, item1 · https://fnet.bmfbovespa.com.br/fnet/publico/visualizarDocumento?id=1148821</a:t>
            </a:r>
          </a:p>
          <a:p>
            <a:r>
              <a:t>CNPJ 62696791000193 · Histórico de alterações materiais · Excerto da fonte:</a:t>
            </a:r>
          </a:p>
          <a:p>
            <a:r>
              <a:t>1. Aprovar a 2ª (segunda) emissão da Subclasse Subordinada Júnior da Classe, composta por até 20.000 (vinte mil) Cotas Subordinadas Júnior, com valor nominal unitário de R$ 1.000,00 (mil reais), perfazendo o montante total de R$ 20.000.000,00 (vinte milhões de reais), as quais serão objeto de colocação privada, de acordo com os termos e condições definidos no Apêndice da Subclasse Subordinada Júnior constante do Anexo I Regulamento e descritas abaixo (“2ª Emissão da Subclasse Subordinada Júnior”): a) Rito: as Cotas Subordinadas Júnior objeto da 2ª Emissão da Subclasse Subordinada Júnior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Subordinada Júnior na data de integralização, calculado na forma prevista no respectivo Apêndice; BTG Pactual 1 SAC: 0800 772 28 27 - Ouvidoria: 0800 722 00 48 - btgpactual.com</a:t>
            </a:r>
          </a:p>
          <a:p>
            <a:r>
              <a:t>CNPJ 62696791000193 · Histórico de alterações materiais · Instrumento Particular de Emissão de Cotas · ID 1148821 · 27/03/2026 · versão Instrumento Particular de Emissão de Cotas — referência 27/03/2026 · p. 2 · Deliberação Conjunta, itens2–3 · https://fnet.bmfbovespa.com.br/fnet/publico/visualizarDocumento?id=1148821</a:t>
            </a:r>
          </a:p>
          <a:p>
            <a:r>
              <a:t>CNPJ 62696791000193 · Histórico de alterações materiais · Excerto da fonte:</a:t>
            </a:r>
          </a:p>
          <a:p>
            <a:r>
              <a:t>2. Aprovar a 2ª (segunda) emissão da Subclasse Sênior da Classe, composta por até 150.000 (cento e cinquenta mil) Cotas Seniores, com valor nominal unitário de R$ 1.000,00 (mil reais), perfazendo o montante total de R$ 150.000.000,00 (cento e cinquenta milhões de reais), as quais serão objeto de colocação privada, de acordo com os termos e condições descritos no Apêndice da Subclasse Sênior constante do Anexo I Regulamento e descritas abaixo (“2ª Emissão da Subclasse Sênior”): a) Rito: as Cotas Seniores objeto da 2ª Emissão da Subclasse Sênior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Sênior na data de integralização, calculado na forma prevista no respectivo Apêndice; d) Forma de Integralização: as Cotas Seniores serão integralizadas mediante chamadas de capital, junto ao seu respectivo agente de custódia e/ou da Administradora na qualidade de escriturador das cotas, nos termos d</a:t>
            </a:r>
          </a:p>
          <a:p>
            <a:r>
              <a:t>CNPJ 62696791000193 · Histórico de alterações materiais · Versão e prevalência: Leitura específica das cláusulas indicadas; condições e conflitos preservados. Seleção documental atual não comprova vigência jurídica por data isolada.</a:t>
            </a:r>
          </a:p>
          <a:p>
            <a:r>
              <a:t>CNPJ 55563624000109 · Histórico de alterações materiais · Motivo: Não localizada uma cláusula material para este critério nos textos identificados e processados. A ausência de resultado não comprova inexistência da regra.</a:t>
            </a:r>
          </a:p>
          <a:p>
            <a:r>
              <a:t>CNPJ 62552447000120 · Histórico de alterações materiais · Ato do Administrador · ID 1200625 · 2026-05-21 · versão Ato21/05/2026 · p. 1 · itens1–2 · https://fnet.bmfbovespa.com.br/fnet/publico/visualizarDocumento?id=1200625</a:t>
            </a:r>
          </a:p>
          <a:p>
            <a:r>
              <a:t>CNPJ 62552447000120 · Histórico de alterações materiais · Excerto da fonte:</a:t>
            </a:r>
          </a:p>
          <a:p>
            <a:r>
              <a:t>Ressalta-se que não haverá qualquer alteração nos valores pagos pelos cotistas... Aprovar o novo Anexo I e Regulamento consolidados</a:t>
            </a:r>
          </a:p>
          <a:p>
            <a:r>
              <a:t>CNPJ 62552447000120 · Histórico de alterações materiais · Motivo: Não localizada uma cláusula material para este critério nos textos identificados e processados. A ausência de resultado não comprova inexistência da regra.</a:t>
            </a:r>
          </a:p>
          <a:p>
            <a:r>
              <a:t>CNPJ 62552447000120 · Histórico de alterações materiais · Versão e prevalência: Leitura específica das cláusulas indicadas; condições e conflitos preservados. Seleção documental atual não comprova vigência jurídica por data isolada.</a:t>
            </a:r>
          </a:p>
          <a:p>
            <a:r>
              <a:t>CNPJ 63953620000165 · Histórico de alterações materiais · Anexo ao Regulamento · ID 1222863 · 2026-06-02 · versão 1 · p. 19 · 12.6 · https://fnet.bmfbovespa.com.br/fnet/publico/visualizarDocumento?id=1222863</a:t>
            </a:r>
          </a:p>
          <a:p>
            <a:r>
              <a:t>CNPJ 63953620000165 · Histórico de alterações materiais · Excerto da fonte:</a:t>
            </a:r>
          </a:p>
          <a:p>
            <a:r>
              <a:t>12.6 A Classe contratou a Tudo Serviços S.A., sociedade anônima, com sede no município de Fortaleza, Estado do Ceará,  na Avenida Senador Virgulo Távora, nº 303, Lojas 02, 03, 04, 05, 06 e 19, Meireles, CEP 60.170-265, inscrita no CNPJ  sob o nº 27.852.506/0001-85, cujos deveres, sem prejuízo daqueles estabelecidos neste Regulamento, no  “Contrato de Serviços de Retenção e Cobrança e Outras Avenças”, celebrado entre o Agente de  Retenção/Cobrança e a Classe (“Contrato de Serviços MT”) e no Contrato de Endosso, consistirão no  monitoramento e cobrança dos Direitos Creditórios Inadimplidos, observado o disposto neste Anexo I e na  regulamentação aplicável (“Agente de Retenção/Cobrança”):</a:t>
            </a:r>
          </a:p>
          <a:p>
            <a:r>
              <a:t> (i) caso aplicável, atuar na retenção (defesa) de operações de empréstimo consignado cujos Direitos  Creditórios sejam de titularidade da Classe, em caso de tentativa de transferência de tais operações de  empréstimo consignado por instituições proponentes, nos termos da Resolução CMN nº 5.057, em razão de  ofertas de portabilidade feitas por tais instituições proponentes, conforme informado pelo Endossante ou pelo  Custodiante ao Agente de Retenção/Cobrança, diariamente, de acordo com o Contrato de Endosso; sendo  que tal serviço deverá incluir, entre outras atividades auxiliares a ele relacionadas, a avaliação das ofertas de  portabilidade feitas pelas instituições proponentes, buscando, se for o caso, esclarecer as vantagens de não  recorrer à portabilidade, retendo a respectiva operação de empréstimo consignado em seus termos atuais;</a:t>
            </a:r>
          </a:p>
          <a:p>
            <a:r>
              <a:t> (ii) mediante inadimplemento de um Direito Creditório devido à indisponibilidade da margem de crédito do  Devedor, auxiliar o Endossante com o Processo de Reinicialização (conforme detalhado no Contrato de  Endosso) em relação ao respectivo Direito Creditório;</a:t>
            </a:r>
          </a:p>
          <a:p>
            <a:r>
              <a:t> (iii) manter e operar um serviço de atendimento ao consumidor - SAC e uma ouvidoria em conformidade  com os regulamentos aplicáveis, monitorar e resolver reclamações e solicitações de Devedores com  relação às operações de empréstimo consignado que dão origem aos Direitos Creditórios, em  conformidade com o Acordo de Parceria;</a:t>
            </a:r>
          </a:p>
          <a:p>
            <a:r>
              <a:t> (iv) realizar a cobrança dos Direitos Creditórios Inadimplidos;</a:t>
            </a:r>
          </a:p>
          <a:p>
            <a:r>
              <a:t> (v) auxiliar o Endossante na correção de qualquer irregularidade relevante identificada com relação à  originação dos Direitos Creditórios;</a:t>
            </a:r>
          </a:p>
          <a:p>
            <a:r>
              <a:t> (vi) realizar a renegociação junto aos Devedores de Direitos Creditórios Inadimplidos e, caso aplicável, celebrar  aditamento à CCB para refletir os novos termos, decorrentes da renegociação  CAPÍTULO 13 – REMUNERAÇÃO DOS PRESTADORES DE SERVIÇOS  0,05% (cinco centésimos por cento) ao ano, apropriada diariamente na base de 252  (duzentos e cinquenta e dois) Dias Úteis, e paga mensalmente até o 5º (quinto) Dia  Útil do mês subsequente ao mês que se refere, incidente sobre o Patrimônio Líquido  da Classe alocado em Direitos Creditórios Consignado Privado e/ou Ativos de  Liquidez MT, observada remuneração mínima mensal de R$ 2.500,00 (dois mil e  quinhentos reais), a ser corrigida anualmente, em janeiro de cada ano, pela variação  Taxa de Administração  positiva do Índice Geral de Preços – Mercado, divulgado pela Fundação Getúlio  Vargas (“Taxa de Administração” e “IGP-M”, respectivamente).</a:t>
            </a:r>
          </a:p>
          <a:p>
            <a:r>
              <a:t> Na hipótese de extinção do IGP-M, não divulgação ou impossibilidade de sua  utilização, será utilizado o Índice Geral de Preços – Disponibilidade Interna,  divulgado pela Fundação Getúlio Vargas, ou, na falta de ambos, pela variação do IPC  – Índice de Preços ao Consumidor, divulgado pela Fundação Instituto de Pesquisas</a:t>
            </a:r>
          </a:p>
          <a:p>
            <a:r>
              <a:t>CNPJ 63953620000165 · Histórico de alterações materiais · Condição: Documentos atuais selecionados no inventário por categoria/escopo; a data documental isolada não comprova vigência jurídica.</a:t>
            </a:r>
          </a:p>
          <a:p>
            <a:r>
              <a:t>CNPJ 63953620000165 · Histórico de alterações materiais · Versão e prevalência: Documentos atuais selecionados no inventário por categoria/escopo; a data documental isolada não comprova vigência jurídica.</a:t>
            </a:r>
          </a:p>
          <a:p>
            <a:r>
              <a:t>CNPJ 54871427000194 · Auditor independente e DFs · Demonstrações Financeiras - Fusão, cisão e incorporação · ID 1219522 · 2026-02-02 · versão 1 · p. 23 · https://fnet.bmfbovespa.com.br/fnet/publico/visualizarDocumento?id=1219522</a:t>
            </a:r>
          </a:p>
          <a:p>
            <a:r>
              <a:t>CNPJ 54871427000194 · Auditor independente e DFs · Excerto da fonte:</a:t>
            </a:r>
          </a:p>
          <a:p>
            <a:r>
              <a:t>x) Possibilidade de aquisição de Direitos Creditórios cedidos por Endossante e/ou devidos por  Devedores cujas demonstrações financeiras não sejam auditadas. A Classe, desde que sejam  respeitados os limites de concentração previstos no Regulamento, poderá manter a qualquer  tempo em sua Carteira, Direitos Creditórios cedidos por Endossante e/ou devidos por Devedores  cujas demonstrações financeiras não sejam auditadas por Auditor Independente registrado na</a:t>
            </a:r>
          </a:p>
          <a:p>
            <a:r>
              <a:t>CNPJ 54871427000194 · Auditor independente e DFs · Demonstrações Financeiras - Fusão, cisão e incorporação · ID 1219522 · 2026-02-02 · versão 1 · p. 2 · https://fnet.bmfbovespa.com.br/fnet/publico/visualizarDocumento?id=1219522</a:t>
            </a:r>
          </a:p>
          <a:p>
            <a:r>
              <a:t>CNPJ 54871427000194 · Auditor independente e DFs · Excerto da fonte:</a:t>
            </a:r>
          </a:p>
          <a:p>
            <a:r>
              <a:t>Classe Única de Responsabilidade Limitada do Consignado Delta Receivables I Fundo de Investimento em  Direitos Creditórios  Demonstrações financeiras em  2 de fevereiro de 2026 (data da incorporação da Classe)</a:t>
            </a:r>
          </a:p>
          <a:p>
            <a:r>
              <a:t>CNPJ 54871427000194 · Auditor independente e DFs · Demonstrações Financeiras - Fusão, cisão e incorporação · ID 1219522 · 2026-02-02 · versão 1 · p. 3 · https://fnet.bmfbovespa.com.br/fnet/publico/visualizarDocumento?id=1219522</a:t>
            </a:r>
          </a:p>
          <a:p>
            <a:r>
              <a:t>CNPJ 54871427000194 · Auditor independente e DFs · Excerto da fonte:</a:t>
            </a:r>
          </a:p>
          <a:p>
            <a:r>
              <a:t>Examinamos as demonstrações financeiras da Classe Única de Responsabilidade Limitada do  Consignado Delta Receivables I Fundo de Investimento em Direitos Creditórios (“Classe”),  administrada pela BTG Pactual Serviços Financeiros S.A. Distribuidora de Títulos e Valores Mobiliários  (“Administradora”), que compreendem a demonstração da posição financeira em 2 de fevereiro de  2026 e as respectivas demonstrações do resultado e do resultado abrangente, das evoluções do  patrimônio líquido e dos fluxos de caixa para o período de 1° de janeiro de 2026 (data de início do  exercício social da Classe) a 2 de fevereiro de 2026 (data da incorporação da Classe), bem como as  correspondentes notas explicativas, incluindo as políticas contábeis materiais e outras informações  elucidativas.</a:t>
            </a:r>
          </a:p>
          <a:p>
            <a:r>
              <a:t> Em nossa opinião, as demonstrações financeiras acima referidas apresentam adequadamente, em  todos os aspectos relevantes, a posição patrimonial e financeira da Classe Única de Responsabilidade  Limitada do Consignado Delta Receivables I Fundo de Investimento em Direitos Creditórios em 2 de  fevereiro de 2026 e o desempenho de suas operações e os seus fluxos de caixa para o período de 1°  de janeiro de 2026 a 2 de fevereiro de 2026, de acordo com as práticas contábeis adotadas no Brasil  aplicáveis aos fundos de investimento em direitos creditórios.</a:t>
            </a:r>
          </a:p>
          <a:p>
            <a:r>
              <a:t>CNPJ 54871427000194 · Auditor independente e DFs · Condição: Documentos atuais selecionados no inventário por categoria/escopo; a data documental isolada não comprova vigência jurídica.</a:t>
            </a:r>
          </a:p>
          <a:p>
            <a:r>
              <a:t>CNPJ 54871427000194 · Auditor independente e DFs · Versão e prevalência: Documentos atuais selecionados no inventário por categoria/escopo; a data documental isolada não comprova vigência jurídica.</a:t>
            </a:r>
          </a:p>
          <a:p>
            <a:r>
              <a:t>CNPJ 54871427000194 · Auditor independente e DFs · Resumo do histórico: {"count": 6, "dates": ["2025-01-01", "2025-04-15", "2025-12-31"], "document_count": 3, "sources": [{"document_id": "1151805", "title": "Demonstrações Financeiras", "reference_date": "2025-12-31", "version": "1", "page": 23, "url": "https://fnet.bmfbovespa.com.br/fnet/publico/visualizarDocumento?id=1151805", "sha256": "f1cea70b152968bf96ef9221b27225953cb20aeef487b2798db3c25e11b528d4"}, {"document_id": "883217", "title": "AGO", "reference_date": "2025-04-15", "version": "1", "page": 1, "url": "https://fnet.bmfbovespa.com.br/fnet/publico/visualizarDocumento?id=883217", "sha256": "233467aa4aa6265d253b610668cde19344ec99af4adf4df934c6a1bd88b9a044"}, {"document_id": "869529", "title": "Demonstrações Financeiras", "reference_date": "2025-01-01", "version": "1", "page": 23, "url": "https://fnet.bmfbovespa.com.br/fnet/publico/visualizarDocumento?id=869529", "sha256": "9a93a9369ac8efdbc54ff8fcee3ccac3abf88edab4807b9323d3852450771b2a"}], "reference": {"path": "history/54871427000194.json", "criterion_id": "audit", "total_count": 6, "preview_count": 3, "full_text_deferred": true, "sha256": "35d7cd99be50c7287c9fb675cf4f2e736002315295a225a9efa79c8d9186d874"}}</a:t>
            </a:r>
          </a:p>
          <a:p>
            <a:r>
              <a:t>CNPJ 60010416000112 · Auditor independente e DFs · AGE · ID 1313936 · 2026-08-31 · versão 1 · p. 1 · https://fnet.bmfbovespa.com.br/fnet/publico/visualizarDocumento?id=1313936</a:t>
            </a:r>
          </a:p>
          <a:p>
            <a:r>
              <a:t>CNPJ 60010416000112 · Auditor independente e DFs · Excerto da fonte:</a:t>
            </a:r>
          </a:p>
          <a:p>
            <a:r>
              <a:t>(d) Fica a Administradora autorizada a levantar, na Data da Cisão, demonstrações contábeis da  Classe, as quais darão suporte à realização da Cisão ora deliberada. As demonstrações contábeis  deverão ser auditadas, em conformidade com o art. 120, da Parte Geral, da Resolução CVM 175;</a:t>
            </a:r>
          </a:p>
          <a:p>
            <a:r>
              <a:t>CNPJ 60010416000112 · Auditor independente e DFs · Condição: Documentos atuais selecionados no inventário por categoria/escopo; a data documental isolada não comprova vigência jurídica.</a:t>
            </a:r>
          </a:p>
          <a:p>
            <a:r>
              <a:t>CNPJ 60010416000112 · Auditor independente e DFs · Versão e prevalência: Documentos atuais selecionados no inventário por categoria/escopo; a data documental isolada não comprova vigência jurídica.</a:t>
            </a:r>
          </a:p>
          <a:p>
            <a:r>
              <a:t>CNPJ 60010416000112 · Auditor independente e DFs · Resumo do histórico: {"count": 11, "dates": ["2026-04-16", "2026-05-08", "2026-07-29"], "document_count": 3, "sources": [{"document_id": "1277540", "title": "AGE", "reference_date": "2026-07-29", "version": "1", "page": 1, "url": "https://fnet.bmfbovespa.com.br/fnet/publico/visualizarDocumento?id=1277540", "sha256": "7a9b65092af34917f99f22b62eb7d248d67149b9c91dd87b07b924b9601ee9b0"}, {"document_id": "1298690", "title": "Demonstrações Financeiras - Fusão, cisão e incorporação", "reference_date": "2026-05-08", "version": "1", "page": 1, "url": "https://fnet.bmfbovespa.com.br/fnet/publico/visualizarDocumento?id=1298690", "sha256": "d979f7f7cf866a68b7fbc65c46fd726b7bcc13f9d0b809190857a9b465be7be2"}, {"document_id": "1282181", "title": "Demonstrações Financeiras - Fusão, cisão e incorporação", "reference_date": "2026-04-16", "version": "1", "page": 1, "url": "https://fnet.bmfbovespa.com.br/fnet/publico/visualizarDocumento?id=1282181", "sha256": "b1c6566e43a00bcd00c8a7f30c77b7f86e351bd8e355bbea113f46d1dafda703"}], "reference": {"path": "history/60010416000112.json", "criterion_id": "audit", "total_count": 11, "preview_count": 3, "full_text_deferred": true, "sha256": "8e2bd813f4c51cf01f6bfaad164bafe69d2bbb192f753eac92da3a01c2e63046"}}</a:t>
            </a:r>
          </a:p>
          <a:p>
            <a:r>
              <a:t>CNPJ 62696791000193 · Auditor independente e DFs · Regulamento · ID 1143317 · 2026-03-20 · versão 1 · p. 5 · 4.1.7 · https://fnet.bmfbovespa.com.br/fnet/publico/visualizarDocumento?id=1143317</a:t>
            </a:r>
          </a:p>
          <a:p>
            <a:r>
              <a:t>CNPJ 62696791000193 · Auditor independente e DFs · Excerto da fonte:</a:t>
            </a:r>
          </a:p>
          <a:p>
            <a:r>
              <a:t>4.1.7 As demonstrações contábeis cujo relatório de auditoria não contiver opinião modificada podem  ser consideradas automaticamente aprovadas caso a assembleia correspondente não seja  instalada em virtude do não comparecimento de quaisquer Cotistas.</a:t>
            </a:r>
          </a:p>
          <a:p>
            <a:r>
              <a:t>CNPJ 62696791000193 · Auditor independente e DFs · Regulamento · ID 1143317 · 2026-03-20 · versão 1 · p. 23 · 10.12 · https://fnet.bmfbovespa.com.br/fnet/publico/visualizarDocumento?id=1143317</a:t>
            </a:r>
          </a:p>
          <a:p>
            <a:r>
              <a:t>CNPJ 62696791000193 · Auditor independente e DFs · Excerto da fonte:</a:t>
            </a:r>
          </a:p>
          <a:p>
            <a:r>
              <a:t>10.12 O representante dos Cotistas será eleito com prazo de mandato a se encerrar na próxima Assembleia  de Cotistas que deliberar sobre a aprovação de demonstrações contábeis do Fundo, sendo permitida  a reeleição.</a:t>
            </a:r>
          </a:p>
          <a:p>
            <a:r>
              <a:t>CNPJ 62696791000193 · Auditor independente e DFs · Condição: Documentos atuais selecionados no inventário por categoria/escopo; a data documental isolada não comprova vigência jurídica.</a:t>
            </a:r>
          </a:p>
          <a:p>
            <a:r>
              <a:t>CNPJ 62696791000193 · Auditor independente e DFs · Versão e prevalência: Documentos atuais selecionados no inventário por categoria/escopo; a data documental isolada não comprova vigência jurídica.</a:t>
            </a:r>
          </a:p>
          <a:p>
            <a:r>
              <a:t>CNPJ 55563624000109 · Auditor independente e DFs · Regulamento · ID 1192614 · 2026-04-30 · versão 1 · p. 24 · 12.3 · https://fnet.bmfbovespa.com.br/fnet/publico/visualizarDocumento?id=1192614</a:t>
            </a:r>
          </a:p>
          <a:p>
            <a:r>
              <a:t>CNPJ 55563624000109 · Auditor independente e DFs · Excerto da fonte:</a:t>
            </a:r>
          </a:p>
          <a:p>
            <a:r>
              <a:t>12.3 Incluem-se entre as obrigações do ADMINISTRADOR, sem prejuízo de outras previstas na regulamentação:</a:t>
            </a:r>
          </a:p>
          <a:p>
            <a:r>
              <a:t> (i) sem prejuízo da observância dos procedimentos relativos às demonstrações contábeis, manter,  separadamente, registros com informações completas sobre toda e qualquer modalidade de negociação  realizada entre o ADMINISTRADOR, GESTOR, CUSTODIANTE, e/ou suas respectivas partes relacionadas,  tais como definidas pelas regras contábeis que tratam desse assunto, de um lado; e a Classe, de outro;</a:t>
            </a:r>
          </a:p>
          <a:p>
            <a:r>
              <a:t> (ii) diligenciar para que sejam mantidos, às suas expensas, atualizados e em perfeita ordem:</a:t>
            </a:r>
          </a:p>
          <a:p>
            <a:r>
              <a:t> (a) o registro de Cotistas;</a:t>
            </a:r>
          </a:p>
          <a:p>
            <a:r>
              <a:t> (b) o livro de atas das Assembleias de Cotistas;</a:t>
            </a:r>
          </a:p>
          <a:p>
            <a:r>
              <a:t> (c) o livro ou lista de presença de Cotistas;</a:t>
            </a:r>
          </a:p>
          <a:p>
            <a:r>
              <a:t> (d) os pareceres do Auditor Independente; e</a:t>
            </a:r>
          </a:p>
          <a:p>
            <a:r>
              <a:t> (e) os registros contábeis referentes às operações e ao patrimônio da Classe;</a:t>
            </a:r>
          </a:p>
          <a:p>
            <a:r>
              <a:t> (iii) pagar a multa cominatória às suas expensas, nos termos da legislação vigente, por cada dia de atraso no  cumprimento dos prazos previstos na regulamentação aplicável;</a:t>
            </a:r>
          </a:p>
          <a:p>
            <a:r>
              <a:t> (iv) elaborar e divulgar as informações periódicas e eventuais da Classe, nos termos deste Anexo e da  regulamentação e da autorregulação em vigor;</a:t>
            </a:r>
          </a:p>
          <a:p>
            <a:r>
              <a:t> (v) manter atualizada junto à CVM a lista de todos os prestadores de serviços contratados pela Classe,  inclusive os Prestadores de Serviços Essenciais, bem como as demais informações cadastrais da Classe e  suas Subclasses;</a:t>
            </a:r>
          </a:p>
          <a:p>
            <a:r>
              <a:t> (vi) manter serviço de atendimento aos Cotistas, responsável pelo esclarecimento de dúvidas e pelo  recebimento de reclamações;</a:t>
            </a:r>
          </a:p>
          <a:p>
            <a:r>
              <a:t> (vii) receber e processar os pedidos de resgate;</a:t>
            </a:r>
          </a:p>
          <a:p>
            <a:r>
              <a:t> (viii) monitorar os Eventos de Verificação do Patrimônio;</a:t>
            </a:r>
          </a:p>
          <a:p>
            <a:r>
              <a:t> (ix) monitorar os Eventos de Avaliação e Eventos de Liquidação;</a:t>
            </a:r>
          </a:p>
          <a:p>
            <a:r>
              <a:t> (x) observar as disposições constantes do Regulamento;</a:t>
            </a:r>
          </a:p>
          <a:p>
            <a:r>
              <a:t> (xi) cumprir as deliberações da Assembleia de Cotistas; e</a:t>
            </a:r>
          </a:p>
          <a:p>
            <a:r>
              <a:t> (xii) observar as disposições do Código ANBIMA e das Regras e Procedimentos ANBIMA</a:t>
            </a:r>
          </a:p>
          <a:p>
            <a:r>
              <a:t>CNPJ 55563624000109 · Auditor independente e DFs · Regulamento · ID 1192614 · 2026-04-30 · versão 1 · p. 4 · 4.6.1 · https://fnet.bmfbovespa.com.br/fnet/publico/visualizarDocumento?id=1192614</a:t>
            </a:r>
          </a:p>
          <a:p>
            <a:r>
              <a:t>CNPJ 55563624000109 · Auditor independente e DFs · Excerto da fonte:</a:t>
            </a:r>
          </a:p>
          <a:p>
            <a:r>
              <a:t>4.6.1 As deliberações relativas às matérias elencadas nos incisos abaixo serão tomadas, em primeira  convocação ou em segunda convocação, conforme os quóruns dispostos abaixo, em sede assembleia  geral de cotistas ou de assembleia especial de cotistas, conforme o caso:</a:t>
            </a:r>
          </a:p>
          <a:p>
            <a:r>
              <a:t> MATÉRIA SUJEITA À APROVAÇÃO QUÓRUM DE DELIBERAÇÃO</a:t>
            </a:r>
          </a:p>
          <a:p>
            <a:r>
              <a:t> (i) aprovação das demonstrações contábeis do FUNDO; Maioria do total das Cotas emitidas</a:t>
            </a:r>
          </a:p>
          <a:p>
            <a:r>
              <a:t>CNPJ 55563624000109 · Auditor independente e DFs · Regulamento · ID 1192614 · 2026-04-30 · versão 1 · p. 10 · 3.1 · https://fnet.bmfbovespa.com.br/fnet/publico/visualizarDocumento?id=1192614</a:t>
            </a:r>
          </a:p>
          <a:p>
            <a:r>
              <a:t>CNPJ 55563624000109 · Auditor independente e DFs · Excerto da fonte:</a:t>
            </a:r>
          </a:p>
          <a:p>
            <a:r>
              <a:t>3.1 A Classe terá Encargos que lhe poderão ser debitados diretamente, nos termos da Resolução CVM 175, e  quaisquer despesas que não constituam Encargos correm por conta do Prestador de Serviço Essencial que a tiver  contratado, incluindo, sem se limitar a:</a:t>
            </a:r>
          </a:p>
          <a:p>
            <a:r>
              <a:t> (i) Taxa de performance, se houver;</a:t>
            </a:r>
          </a:p>
          <a:p>
            <a:r>
              <a:t> (ii) Taxas, impostos ou contribuições federais, estaduais, municipais ou autárquicas, que recaiam ou  venham a recair sobre os bens, direitos e obrigações da Classe;</a:t>
            </a:r>
          </a:p>
          <a:p>
            <a:r>
              <a:t> (iii) Despesas com o registro de documentos, impressão, expedição e publicação de relatórios e informações  periódicas previstas na Resolução CVM 175;</a:t>
            </a:r>
          </a:p>
          <a:p>
            <a:r>
              <a:t> (iv) Despesas com correspondências de interesse do FUNDO ou da Classe, inclusive comunicações aos  Cotistas;</a:t>
            </a:r>
          </a:p>
          <a:p>
            <a:r>
              <a:t> (v) Honorários e despesas do Auditor Independente;</a:t>
            </a:r>
          </a:p>
          <a:p>
            <a:r>
              <a:t> BTG Pactual  SAC: 0800 772 28 27 - Ouvidoria: 0800 722 00 48 - btgpactual.com  3</a:t>
            </a:r>
          </a:p>
          <a:p>
            <a:r>
              <a:t>CNPJ 55563624000109 · Auditor independente e DFs · Condição: Documentos atuais selecionados no inventário por categoria/escopo; a data documental isolada não comprova vigência jurídica.</a:t>
            </a:r>
          </a:p>
          <a:p>
            <a:r>
              <a:t>CNPJ 55563624000109 · Auditor independente e DFs · Versão e prevalência: Documentos atuais selecionados no inventário por categoria/escopo; a data documental isolada não comprova vigência jurídica.</a:t>
            </a:r>
          </a:p>
          <a:p>
            <a:r>
              <a:t>CNPJ 55563624000109 · Auditor independente e DFs · Resumo do histórico: {"count": 2, "dates": ["2025-01-31", "2026-01-31"], "document_count": 2, "sources": [{"document_id": "1178840", "title": "Demonstrações Financeiras", "reference_date": "2026-01-31", "version": "1", "page": 4, "url": "https://fnet.bmfbovespa.com.br/fnet/publico/visualizarDocumento?id=1178840", "sha256": "c458e98664c5c907ddb5a05a94b120bed4e05295b2bfc420f5ba69af0a229abe"}, {"document_id": "891861", "title": "Demonstrações Financeiras", "reference_date": "2025-01-31", "version": "1", "page": 2, "url": "https://fnet.bmfbovespa.com.br/fnet/publico/visualizarDocumento?id=891861", "sha256": "e9cb9e6ddbe505fe068cfcac33605165a98313489de0d3ce6d4d238263c3f3e7"}], "reference": {"path": "history/55563624000109.json", "criterion_id": "audit", "total_count": 2, "preview_count": 2, "full_text_deferred": true, "sha256": "7835d573fb58a3c19adf5b8ecc2aee2bdbb9a88f7a0c0209b5f262b64c7522e3"}}</a:t>
            </a:r>
          </a:p>
          <a:p>
            <a:r>
              <a:t>CNPJ 62552447000120 · Auditor independente e DFs · Regulamento · ID 1200623 · 2026-05-21 · versão 1 · p. 4 · 4.1.6 · https://fnet.bmfbovespa.com.br/fnet/publico/visualizarDocumento?id=1200623</a:t>
            </a:r>
          </a:p>
          <a:p>
            <a:r>
              <a:t>CNPJ 62552447000120 · Auditor independente e DFs · Excerto da fonte:</a:t>
            </a:r>
          </a:p>
          <a:p>
            <a:r>
              <a:t>4.1.6 As demonstrações contábeis cujo relatório de auditoria não contiver opinião modificada podem  ser consideradas automaticamente aprovadas caso a Assembleia Geral correspondente não  seja instalada em virtude do não comparecimento de quaisquer Cotistas.</a:t>
            </a:r>
          </a:p>
          <a:p>
            <a:r>
              <a:t>CNPJ 62552447000120 · Auditor independente e DFs · Regulamento · ID 1200623 · 2026-05-21 · versão 1 · p. 29 · 12.16 · https://fnet.bmfbovespa.com.br/fnet/publico/visualizarDocumento?id=1200623</a:t>
            </a:r>
          </a:p>
          <a:p>
            <a:r>
              <a:t>CNPJ 62552447000120 · Auditor independente e DFs · Excerto da fonte:</a:t>
            </a:r>
          </a:p>
          <a:p>
            <a:r>
              <a:t>12.16 Os serviços de auditoria das demonstrações f inanceiras e demais contas da Classe serão prestados  por Auditor Independente contratado pelo Administrador. Pelos serviços prestados, o Auditor  Independente f ará jus ao recebimento de remuneração a ser def inida em contrato específico, a qual  será paga pela Classe.</a:t>
            </a:r>
          </a:p>
          <a:p>
            <a:r>
              <a:t>CAPÍTULO 13 – TAXA GLOBAL</a:t>
            </a:r>
          </a:p>
          <a:p>
            <a:r>
              <a:t>CNPJ 62552447000120 · Auditor independente e DFs · Condição: Documentos atuais selecionados no inventário por categoria/escopo; a data documental isolada não comprova vigência jurídica.</a:t>
            </a:r>
          </a:p>
          <a:p>
            <a:r>
              <a:t>CNPJ 62552447000120 · Auditor independente e DFs · Versão e prevalência: Documentos atuais selecionados no inventário por categoria/escopo; a data documental isolada não comprova vigência jurídica.</a:t>
            </a:r>
          </a:p>
          <a:p>
            <a:r>
              <a:t>CNPJ 63953620000165 · Auditor independente e DFs · Anexo ao Regulamento · ID 1222863 · 2026-06-02 · versão 1 · p. 4 · 3.4 · https://fnet.bmfbovespa.com.br/fnet/publico/visualizarDocumento?id=1222863</a:t>
            </a:r>
          </a:p>
          <a:p>
            <a:r>
              <a:t>CNPJ 63953620000165 · Auditor independente e DFs · Excerto da fonte:</a:t>
            </a:r>
          </a:p>
          <a:p>
            <a:r>
              <a:t>3.4 Adicionalmente aos Encargos, as seguintes despesas serão debitadas diretamente da Classe, nos termos do art.</a:t>
            </a:r>
          </a:p>
          <a:p>
            <a:r>
              <a:t> 51 do Anexo Normativo II da Resolução CVM 175 (“Despesas Adicionais”):</a:t>
            </a:r>
          </a:p>
          <a:p>
            <a:r>
              <a:t> (i) Despesas com registro de Direitos Creditórios;</a:t>
            </a:r>
          </a:p>
          <a:p>
            <a:r>
              <a:t> (ii) Despesas com serviços de originação, cobranças ordinária e/ou extraordinária dos Direitos Creditórios,  e/ou verificação de lastro dos Direitos Creditórios, conforme aplicável;</a:t>
            </a:r>
          </a:p>
          <a:p>
            <a:r>
              <a:t> (iii) Despesas com a contratação de atividades relacionadas à verificação de lastro;</a:t>
            </a:r>
          </a:p>
          <a:p>
            <a:r>
              <a:t> (iv) Despesas com a contratação de Agente de Retenção/Cobrança; Despesas com a contratação de  consultoria especializada, conforme o caso;</a:t>
            </a:r>
          </a:p>
          <a:p>
            <a:r>
              <a:t> (v) Remuneração do Custodiante;</a:t>
            </a:r>
          </a:p>
          <a:p>
            <a:r>
              <a:t> (vi) Despesas com honorários advocatícios para quaisquer assuntos de interesse da Classe, seja na esfera  judicial ou extrajudicial, inclusive consultivo;</a:t>
            </a:r>
          </a:p>
          <a:p>
            <a:r>
              <a:t> (vii) Despesas com a assinatura e registro dos Termos de Endosso, conforme aplicável, junto aos  competentes cartórios de Registro de Títulos e Documentos;</a:t>
            </a:r>
          </a:p>
          <a:p>
            <a:r>
              <a:t> (viii) Despesas inerentes à distribuição primária de Cotas, inclusive a contratação e remuneração do  distribuidor das Cotas para cada oferta de Cotas da Classe, nos termos de cada contrato de distribuição  e honorários devidos ao(s) assessor(es) legal(is) de cada oferta, assim como despesas com o registro das  Cotas na CVM, ANBIMA e/ou na entidade de mercado organizado em que as cotas sejam registradas,  conforme aplicável;</a:t>
            </a:r>
          </a:p>
          <a:p>
            <a:r>
              <a:t> (ix) Taxas de fiscalização da CVM e/ou ANBIMA, conforme aplicável; e</a:t>
            </a:r>
          </a:p>
          <a:p>
            <a:r>
              <a:t> (x) Despesas com contratação e remuneração do Auditor Independente e da Agência Classificadora de  Risco.</a:t>
            </a:r>
          </a:p>
          <a:p>
            <a:r>
              <a:t>CNPJ 63953620000165 · Auditor independente e DFs · Condição: Documentos atuais selecionados no inventário por categoria/escopo; a data documental isolada não comprova vigência jurídica.</a:t>
            </a:r>
          </a:p>
          <a:p>
            <a:r>
              <a:t>CNPJ 63953620000165 · Auditor independente e DFs · Motivo: Cláusula primária localizada e citada, mas sua lista/condições extensas não admitem uma síntese literal curta confirmada. O trecho integral permanece nas fontes.</a:t>
            </a:r>
          </a:p>
          <a:p>
            <a:r>
              <a:t>CNPJ 63953620000165 · Auditor independente e DFs · Versão e prevalência: Documentos atuais selecionados no inventário por categoria/escopo; a data documental isolada não comprova vigência jurídica.</a:t>
            </a:r>
          </a:p>
          <a:p>
            <a:r>
              <a:t>CNPJ 63953620000165 · Auditor independente e DFs · Resumo do histórico: {"count": 8, "dates": ["2026-04-28", "2026-05-08", "2026-05-15"], "document_count": 3, "sources": [{"document_id": "1327859", "title": "Demonstrações Financeiras - Fusão, cisão e incorporação", "reference_date": "2026-05-15", "version": "1", "page": 1, "url": "https://fnet.bmfbovespa.com.br/fnet/publico/visualizarDocumento?id=1327859", "sha256": "dca1c68babb97f887528c3e2e47596a9c30f507b067981a35655b2f2da9c8054"}, {"document_id": "1298691", "title": "Demonstrações Financeiras - Fusão, cisão e incorporação", "reference_date": "2026-05-08", "version": "1", "page": 1, "url": "https://fnet.bmfbovespa.com.br/fnet/publico/visualizarDocumento?id=1298691", "sha256": "58c570d9b8d4d265330d3db3ea81c435b8e44a6dab4002aa37790652a1ee9819"}, {"document_id": "1282180", "title": "Demonstrações Financeiras - Fusão, cisão e incorporação", "reference_date": "2026-04-28", "version": "1", "page": 1, "url": "https://fnet.bmfbovespa.com.br/fnet/publico/visualizarDocumento?id=1282180", "sha256": "afaaa0e6809be4385e5bdb6c911aac582032c5bdbac3d7750234bf9eaf00438a"}], "reference": {"path": "history/63953620000165.json", "criterion_id": "audit",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Governança e alterações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Quóruns e matérias reservadas · Regulamento · ID 670691 · 28/04/2024 · versão Regulamento — referência 28/04/2024 · p. 4 · Parte Geral, 4.4–4.4.1 · https://fnet.bmfbovespa.com.br/fnet/publico/visualizarDocumento?id=670691</a:t>
            </a:r>
          </a:p>
          <a:p>
            <a:r>
              <a:t>CNPJ 54871427000194 · Quóruns e matérias reservadas · Excerto da fonte:</a:t>
            </a:r>
          </a:p>
          <a:p>
            <a:r>
              <a:t>4.4 Ressalvadas as exceções descritas neste Regulamento, toda e qualquer matéria submetida à deliberação dos cotistas deverá ser aprovada por maioria dos votos dos presentes. 4.4.1 As deliberações relativas às matérias elencadas nos incisos abaixo serão tomadas, em primeira convocação ou em segunda convocação, pelos votos dos titulares da maioria das cotas em circulação, em sede assembleia geral de cotistas ou de assembleia especial de cotistas, conf orme o caso: (i) aprovação das demonstrações contábeis do FUNDO; (ii) alteração da Parte Geral deste Regulamento; (iii) substituição ou remoção do Prestador de Serviços Essenciais do FUNDO, ressalvada a possibilidade prevista no Art. 70, §1º, da Parte Geral da Resolução CVM 175; (iv) alterações nos quóruns de deliberação def inidos neste Regulamento; (v) cobrança de taxas e encargos pelo ADMINISTRADOR, de qualquer natureza, que não estejam expressamente previstos neste Regulamento; (vi) liquidação do FUNDO. (vii) plano de resolu</a:t>
            </a:r>
          </a:p>
          <a:p>
            <a:r>
              <a:t>CNPJ 54871427000194 · Quóruns e matérias reservadas · Regulamento · ID 670691 · 28/04/2024 · versão Regulamento — referência 28/04/2024 · p. 17 · Anexo I, 10.1 · https://fnet.bmfbovespa.com.br/fnet/publico/visualizarDocumento?id=670691</a:t>
            </a:r>
          </a:p>
          <a:p>
            <a:r>
              <a:t>CNPJ 54871427000194 · Quóruns e matérias reservadas · Excerto da fonte:</a:t>
            </a:r>
          </a:p>
          <a:p>
            <a:r>
              <a:t>10.1 Sem prejuízo de outros requisitos e inf ormações previstos na regulamentação vigente, são aplicáveis à Assembleia Especial de Cotistas as mesmas disposições procedimentais da Assembleia Geral de Cotistas. 10.2 A Assembleia Especial de Cotistas é responsável por deliberar sobre as matérias específicas da Classe de Cotas, sem prejuízo das demais disposições previstas na regulamentação aplicável, incluindo, mas não se limitando a: (i) deliberar sobre as demonstrações contábeis da Classe; (ii) deliberar sobre substituição de Prestadores de Serviços Essenciais, observado o disposto no art. 70, §1º da parte geral da Resolução CVM 175; (iii) deliberar sobre elevação da Taxa de Administração, inclusive na hipótese de restabelecimento de taxa que tenha sido objeto de redução; (iv) deliberar sobre incorporação, f usão, cisão total ou parcial, a transf ormação ou liquidação da Classe; (v) alterações das características, vantagens, direitos e obrigações das Cotas; (vi) alterar critérios e procedimentos para Amortização e/ou resgate de Cotas mediante dação em pagamento de Direitos Creditórios; (vii) a</a:t>
            </a:r>
          </a:p>
          <a:p>
            <a:r>
              <a:t>CNPJ 54871427000194 · Quóruns e matérias reservadas · Versão e prevalência: Leitura específica das cláusulas indicadas; condições e conflitos preservados. Seleção documental atual não comprova vigência jurídica por data isolada.</a:t>
            </a:r>
          </a:p>
          <a:p>
            <a:r>
              <a:t>CNPJ 54871427000194 · Quóruns e matérias reservadas · Resumo do histórico: {"count": 1, "dates": ["2024-04-19"], "document_count": 1, "sources": [{"document_id": "670689", "title": "Regulamento", "reference_date": "2024-04-19", "version": "1", "page": 20, "clause": "11.6", "url": "https://fnet.bmfbovespa.com.br/fnet/publico/visualizarDocumento?id=670689", "sha256": "891bc9bc5d87bbc02ec139077a84d2702eb81ea02035fb71d24f5b8366b94a0b"}], "reference": {"path": "history/54871427000194.json", "criterion_id": "quorum", "total_count": 1, "preview_count": 1, "full_text_deferred": true, "sha256": "35d7cd99be50c7287c9fb675cf4f2e736002315295a225a9efa79c8d9186d874"}}</a:t>
            </a:r>
          </a:p>
          <a:p>
            <a:r>
              <a:t>CNPJ 60010416000112 · Quóruns e matérias reservadas · Regulamento · ID 1051393 · 09/10/2025 · versão Regulamento09/10/2025 · p. 18 · AnexoI9.2(ii)–(xvii) · https://fnet.bmfbovespa.com.br/fnet/publico/visualizarDocumento?id=1051393</a:t>
            </a:r>
          </a:p>
          <a:p>
            <a:r>
              <a:t>CNPJ 60010416000112 · Quóruns e matérias reservadas · Excerto da fonte:</a:t>
            </a:r>
          </a:p>
          <a:p>
            <a:r>
              <a:t>(ii) alterar este Anexo I e seus complementos, incluindo mas não se limitando aos Apêndices de cada uma das subclasses; (iii) deliberar sobre substituição de Prestadores de Serviços Essenciais, observado o disposto no Art. 70, §1º da parte geral da Resolução CVM 175, quando aplicável, ou do Custodiante; (iv) deliberar sobre elevação da Taxa de Administração, inclusive na hipótese de restabelecimento de taxa que tenha sido objeto de redução; (v) deliberar sobre incorporação, fusão, cisão total ou parcial, a transformação ou liquidação da Classe; (vi) alter</a:t>
            </a:r>
          </a:p>
          <a:p>
            <a:r>
              <a:t>CNPJ 60010416000112 · Quóruns e matérias reservadas · Regulamento · ID 1051393 · 09/10/2025 · versão Regulamento09/10/2025 · p. 19 · AnexoI9.8–9.9 · https://fnet.bmfbovespa.com.br/fnet/publico/visualizarDocumento?id=1051393</a:t>
            </a:r>
          </a:p>
          <a:p>
            <a:r>
              <a:t>CNPJ 60010416000112 · Quóruns e matérias reservadas · Excerto da fonte:</a:t>
            </a:r>
          </a:p>
          <a:p>
            <a:r>
              <a:t>9.8 As deliberações constantes dos incisos (ii), (iii), (iv), (v), (vi), (vii), (x), (xi), (xii), (xiii) e (xvii) acima, apenas serão aprovadas, seja em primeira ou em segunda convocação, por unanimidade dos votos dos titulares das Cotas em circulação. 9.9 As deliberações relativas aos demais incisos do item 9.2 acima apenas serão aprovadas, seja em primeira ou em segunda convocação, mediante o voto favorável dos Cotistas que representem a maioria das Cotas emitidas pela Classe. 9.10 Somente os Cotistas, seus representantes legais ou procuradores legalmente nomeados há menos de 1 (um) ano ter</a:t>
            </a:r>
          </a:p>
          <a:p>
            <a:r>
              <a:t>CNPJ 60010416000112 · Quóruns e matérias reservadas · Versão e prevalência: Leitura específica das cláusulas indicadas; condições e conflitos preservados. Seleção documental atual não comprova vigência jurídica por data isolada.</a:t>
            </a:r>
          </a:p>
          <a:p>
            <a:r>
              <a:t>CNPJ 60010416000112 · Quóruns e matérias reservadas · Resumo do histórico: {"count": 3, "dates": ["2025-03-20", "2025-05-09", "2025-05-12"], "document_count": 3, "sources": [{"document_id": "1004656", "title": "AGE", "reference_date": "2025-05-12", "version": "1", "page": 1, "url": "https://fnet.bmfbovespa.com.br/fnet/publico/visualizarDocumento?id=1004656", "sha256": "f6c9c009f6170e2b29f074b98522accec73f0c40efbf11f9ec2c8d3f1402616b"}, {"document_id": "911262", "title": "AGE", "reference_date": "2025-05-09", "version": "1", "page": 1, "url": "https://fnet.bmfbovespa.com.br/fnet/publico/visualizarDocumento?id=911262", "sha256": "675de4ffe8c5ee95957fb29810625ce850d1a0b69b5231747442266f0cbf32a3"}, {"document_id": "993786", "title": "Regulamento", "reference_date": "2025-03-20", "version": "1", "page": 22, "clause": "10.6", "url": "https://fnet.bmfbovespa.com.br/fnet/publico/visualizarDocumento?id=993786", "sha256": "fd0fdd369a195510d81f81f505195a0b09e5f43522a990afa7d58c4f872921c8"}], "reference": {"path": "history/60010416000112.json", "criterion_id": "quorum", "total_count": 3, "preview_count": 3, "full_text_deferred": true, "sha256": "8e2bd813f4c51cf01f6bfaad164bafe69d2bbb192f753eac92da3a01c2e63046"}}</a:t>
            </a:r>
          </a:p>
          <a:p>
            <a:r>
              <a:t>CNPJ 62696791000193 · Quóruns e matérias reservadas · Regulamento · ID 1143317 · 20/03/2026 · versão Regulamento — referência 20/03/2026 · p. 20 · Anexo I, 10.2, tabela · https://fnet.bmfbovespa.com.br/fnet/publico/visualizarDocumento?id=1143317</a:t>
            </a:r>
          </a:p>
          <a:p>
            <a:r>
              <a:t>CNPJ 62696791000193 · Quóruns e matérias reservadas · Excerto da fonte:</a:t>
            </a:r>
          </a:p>
          <a:p>
            <a:r>
              <a:t>10.2 Os seguintes quóruns deverão ser observados pela Assembleia Especial de Cotistas ao deliberar as matérias abaixo: Matéria Quórum I – alterar o presente Anexo; Maioria das Cotas Subscritas (“Quórum Qualificado”), observada BTG Pactual SAC: 0800 772 2827 | Ouvidoria: 0800 722 0048 | btgpactual.co m 15</a:t>
            </a:r>
          </a:p>
          <a:p>
            <a:r>
              <a:t>CNPJ 62696791000193 · Quóruns e matérias reservadas · Regulamento · ID 1143317 · 20/03/2026 · versão Regulamento — referência 20/03/2026 · p. 21 · Anexo I, 10.2, tabela · https://fnet.bmfbovespa.com.br/fnet/publico/visualizarDocumento?id=1143317</a:t>
            </a:r>
          </a:p>
          <a:p>
            <a:r>
              <a:t>CNPJ 62696791000193 · Quóruns e matérias reservadas · Excerto da fonte:</a:t>
            </a:r>
          </a:p>
          <a:p>
            <a:r>
              <a:t>Matéria Quórum a necessidade de voto afirmativo da Maioria das Cotas Seniores subscritas da Classe Quórum Qualif icado observada a necessidade de voto af irmativo da II – substituição do Administrador, do Gestor e da Cogestora; Maioria das Cotas Seniores subscritas da Classe Maioria Simples, observada a III – Emissão e distribuição de novas Cotas em quantidade necessidade de voto af irmativo da superior ao Capital Autorizado da Classe ; Maioria das Cotas Seniores subscritas da Classe</a:t>
            </a:r>
          </a:p>
          <a:p>
            <a:r>
              <a:t>CNPJ 62696791000193 · Quóruns e matérias reservadas · Regulamento · ID 1143317 · 20/03/2026 · versão Regulamento — referência 20/03/2026 · p. 22 · Anexo I, 10.2(XI) e 10.5–10.7 · https://fnet.bmfbovespa.com.br/fnet/publico/visualizarDocumento?id=1143317</a:t>
            </a:r>
          </a:p>
          <a:p>
            <a:r>
              <a:t>CNPJ 62696791000193 · Quóruns e matérias reservadas · Excerto da fonte:</a:t>
            </a:r>
          </a:p>
          <a:p>
            <a:r>
              <a:t>10.5 As deliberações que tenham por objeto alterações de Benchmark apenas serão aprovadas se assim deliberado: (i) pelos votos dos titulares da maioria das Cotas em circulação da Série ou Subclasse cujo Benchmark é alterado; e (ii) pelos votos dos titulares da maioria das Cotas Mezanino que se subordinem a ela e/ou das Cotas Subordinadas em circulação. 10.6 As deliberações que tenham por objeto o aumento do Índice de Subordinação estão sujeitas à aprovação da maioria simples dos votos dos titulares das Cotas Mezanino que se subordinem a ela e/ou das Cotas Subordinadas em circulação. 10.7 As deliberações que tenham por objeto a diminuição do Índice de Subordinação apenas serão aprovadas se assim deliberado: (i) pelos votos dos titulares da maioria das Cotas em circulação de cada uma das Séries de Cotas Seniores e/ou dos titulares das Cotas Mezanino que tenham o Benchmark alterado; e (ii) pelo voto dos titulares da maioria das Cotas Mezanino que se subordinem a ela e/ou Cotas Subordinadas Júnior em circulação . Representante de Cotistas 10.8 A Assembleia de Cotistas pode, a qualquer momento, eleger até 3 (três) representantes de cotistas, a serem eleitos e nomeados pela assembleia especial,</a:t>
            </a:r>
          </a:p>
          <a:p>
            <a:r>
              <a:t>CNPJ 62696791000193 · Quóruns e matérias reservadas · Versão e prevalência: Leitura específica das cláusulas indicadas; condições e conflitos preservados. Seleção documental atual não comprova vigência jurídica por data isolada.</a:t>
            </a:r>
          </a:p>
          <a:p>
            <a:r>
              <a:t>CNPJ 55563624000109 · Quóruns e matérias reservadas · Regulamento · ID 1192614 · 30/04/2026 · versão Regulamento30/04/2026 · p. 19 · AnexoI10.2(i)–(v) · https://fnet.bmfbovespa.com.br/fnet/publico/visualizarDocumento?id=1192614</a:t>
            </a:r>
          </a:p>
          <a:p>
            <a:r>
              <a:t>CNPJ 55563624000109 · Quóruns e matérias reservadas · Excerto da fonte:</a:t>
            </a:r>
          </a:p>
          <a:p>
            <a:r>
              <a:t>10.2 A Assembleia Especial de Cotistas é responsável por deliberar, observados os quóruns abaixo, sobre as matérias específicas da Classe, sem prejuízo das demais disposições previstas na regulamentação aplicável, incluindo, mas não se limitando a: MATÉRIA SUJEITA À APROVAÇÃO QUÓRUM DE DELIBERAÇÃO (i) deliberar sobre as demonstrações contábeis da Classe; Maioria do total das Cotas emitidas (ii) deliberar sobre a substituição de Prestadores de Serviços 90% (noventa por cento) do total das Cotas</a:t>
            </a:r>
          </a:p>
          <a:p>
            <a:r>
              <a:t>CNPJ 55563624000109 · Quóruns e matérias reservadas · Regulamento · ID 1192614 · 30/04/2026 · versão Regulamento30/04/2026 · p. 20 · AnexoI10.2(vi)–(xiii) · https://fnet.bmfbovespa.com.br/fnet/publico/visualizarDocumento?id=1192614</a:t>
            </a:r>
          </a:p>
          <a:p>
            <a:r>
              <a:t>CNPJ 55563624000109 · Quóruns e matérias reservadas · Excerto da fonte:</a:t>
            </a:r>
          </a:p>
          <a:p>
            <a:r>
              <a:t>(vi) alterar as características, vantagens, direitos e obrigações 90% (noventa por cento) do total das Cotas das Cotas; emitidas (vii) alterar critérios e procedimentos para resgate de Cotas mediante dação em pagamento de Cotas da Classe Maioria do total das Cotas emitidas Investida; (viii) aprovar a emissão de novas Cotas fora do Capital Maioria do total das Cotas emitidas</a:t>
            </a:r>
          </a:p>
          <a:p>
            <a:r>
              <a:t>CNPJ 55563624000109 · Quóruns e matérias reservadas · Versão e prevalência: Leitura específica das cláusulas indicadas; condições e conflitos preservados. Seleção documental atual não comprova vigência jurídica por data isolada.</a:t>
            </a:r>
          </a:p>
          <a:p>
            <a:r>
              <a:t>CNPJ 55563624000109 · Quóruns e matérias reservadas · Resumo do histórico: {"count": 2, "dates": ["2025-01-31", "2026-01-31"], "document_count": 2, "sources": [{"document_id": "1178840", "title": "Demonstrações Financeiras", "reference_date": "2026-01-31", "version": "1", "page": 24, "url": "https://fnet.bmfbovespa.com.br/fnet/publico/visualizarDocumento?id=1178840", "sha256": "c458e98664c5c907ddb5a05a94b120bed4e05295b2bfc420f5ba69af0a229abe"}, {"document_id": "891861", "title": "Demonstrações Financeiras", "reference_date": "2025-01-31", "version": "1", "page": 25, "url": "https://fnet.bmfbovespa.com.br/fnet/publico/visualizarDocumento?id=891861", "sha256": "e9cb9e6ddbe505fe068cfcac33605165a98313489de0d3ce6d4d238263c3f3e7"}], "reference": {"path": "history/55563624000109.json", "criterion_id": "quorum", "total_count": 2, "preview_count": 2, "full_text_deferred": true, "sha256": "7835d573fb58a3c19adf5b8ecc2aee2bdbb9a88f7a0c0209b5f262b64c7522e3"}}</a:t>
            </a:r>
          </a:p>
          <a:p>
            <a:r>
              <a:t>CNPJ 62552447000120 · Quóruns e matérias reservadas · Regulamento · ID 1200623 · 21/05/2026 · versão Consolidado21/05/2026 aprovado pelo ato1200625 · p. 21 · AnexoI10.2(i)–(x) · https://fnet.bmfbovespa.com.br/fnet/publico/visualizarDocumento?id=1200623</a:t>
            </a:r>
          </a:p>
          <a:p>
            <a:r>
              <a:t>CNPJ 62552447000120 · Quóruns e matérias reservadas · Excerto da fonte:</a:t>
            </a:r>
          </a:p>
          <a:p>
            <a:r>
              <a:t>10.2 Os seguintes quóruns deverão ser observados pela Assembleia Especial ao deliberar as matérias abaixo: Matéria Quórum (i) deliberar sobre substituição de Prestadores de Serviços Unanimidade dos Cotistas Essenciais, observado o disposto no art. 70, §1º da Parte Geral da Resolução CVM 175, quando aplicável; (ii) deliberar sobre elevação da Taxa Global, inclusive na Unanimidade dos Cotistas hipótese de restabelecimento de taxa que tenha sido objeto de redução; (iii) delibera</a:t>
            </a:r>
          </a:p>
          <a:p>
            <a:r>
              <a:t>CNPJ 62552447000120 · Quóruns e matérias reservadas · Versão e prevalência: Leitura específica das cláusulas indicadas; condições e conflitos preservados. Seleção documental atual não comprova vigência jurídica por data isolada.</a:t>
            </a:r>
          </a:p>
          <a:p>
            <a:r>
              <a:t>CNPJ 63953620000165 · Quóruns e matérias reservadas · Anexo ao Regulamento · ID 1222863 · 02/06/2026 · versão AnexoConsignadoPrivado02/06/2026 · p. 13 · 10.2(ii)–(xvii) · https://fnet.bmfbovespa.com.br/fnet/publico/visualizarDocumento?id=1222863</a:t>
            </a:r>
          </a:p>
          <a:p>
            <a:r>
              <a:t>CNPJ 63953620000165 · Quóruns e matérias reservadas · Excerto da fonte:</a:t>
            </a:r>
          </a:p>
          <a:p>
            <a:r>
              <a:t>10.2 Os seguintes quóruns deverão ser observados pela Assembleia Especial de Cotistas ao deliberar as matérias abaixo: Matéria Quórum (i) deliberar sobre as demonstrações contábeis da Classe; Maioria das Cotas presentes (ii) alterar o presente Anexo; Maioria das Cotas de cada Subclasse (iii) deliberar sobre substituição de Prestadores de Serviços Maioria das Cotas da Classe Essenciais, observado o disposto no Artigo 70, §1º da parte geral da R</a:t>
            </a:r>
          </a:p>
          <a:p>
            <a:r>
              <a:t>CNPJ 63953620000165 · Quóruns e matérias reservadas · Anexo ao Regulamento · ID 1222863 · 02/06/2026 · versão AnexoConsignadoPrivado02/06/2026 · p. 14 · 10.5–10.8 · https://fnet.bmfbovespa.com.br/fnet/publico/visualizarDocumento?id=1222863</a:t>
            </a:r>
          </a:p>
          <a:p>
            <a:r>
              <a:t>CNPJ 63953620000165 · Quóruns e matérias reservadas · Excerto da fonte:</a:t>
            </a:r>
          </a:p>
          <a:p>
            <a:r>
              <a:t>10.5 Caso a matéria em deliberação resulte ou possa resultar em uma redução do Índice de Subordinação de uma determinada Subclasse, somente podem votar os titulares de Subclasses de Cotas Seniores. 10.6 As deliberações que tenham por objeto alterações de Benchmark apenas serão aprovadas se assim deliberado: (i) pelos votos dos titulares da maioria das Cotas Seniores cujo Benchmark é alterado; e (ii) pelos votos dos titulares da maioria das Cotas Subordinadas em circulação. 10.7 As deliberações que tenham por objeto o aumento do Índice de Subordinação Sênior estão sujeitas à aprovação da maioria simples dos votos dos titu</a:t>
            </a:r>
          </a:p>
          <a:p>
            <a:r>
              <a:t>CNPJ 63953620000165 · Quóruns e matérias reservadas · Condição: 10.7/10.8 repetem aumento do índice com quóruns distintos; interpretar regra específica demandará resolver conflito, sem presumir uma aprovação.</a:t>
            </a:r>
          </a:p>
          <a:p>
            <a:r>
              <a:t>CNPJ 63953620000165 · Quóruns e matérias reservadas · Versão e prevalência: Leitura específica das cláusulas indicadas; condições e conflitos preservados. Seleção documental atual não comprova vigência jurídica por data isolada.</a:t>
            </a:r>
          </a:p>
          <a:p>
            <a:r>
              <a:t>CNPJ 63953620000165 · Quóruns e matérias reservadas · Resumo do histórico: {"count": 7, "dates": ["2026-04-28", "2026-05-08", "2026-05-15"], "document_count": 3, "sources": [{"document_id": "1327859", "title": "Demonstrações Financeiras - Fusão, cisão e incorporação", "reference_date": "2026-05-15", "version": "1", "page": 10, "url": "https://fnet.bmfbovespa.com.br/fnet/publico/visualizarDocumento?id=1327859", "sha256": "dca1c68babb97f887528c3e2e47596a9c30f507b067981a35655b2f2da9c8054"}, {"document_id": "1298691", "title": "Demonstrações Financeiras - Fusão, cisão e incorporação", "reference_date": "2026-05-08", "version": "1", "page": 10, "url": "https://fnet.bmfbovespa.com.br/fnet/publico/visualizarDocumento?id=1298691", "sha256": "58c570d9b8d4d265330d3db3ea81c435b8e44a6dab4002aa37790652a1ee9819"}, {"document_id": "1205431", "title": "AGE", "reference_date": "2026-04-28", "version": "1", "page": 1, "url": "https://fnet.bmfbovespa.com.br/fnet/publico/visualizarDocumento?id=1205431", "sha256": "e0b59c701c5d0dbf60de698ea7664d442240863b7043bacdb334ce484188b2ac"}], "reference": {"path": "history/63953620000165.json", "criterion_id": "quorum", "total_count": 7, "preview_count": 3, "full_text_deferred": true, "sha256": "a7b89077f5e21098c2d601c303faabc3ff6b9729f89d8afecdc60fe1404720c1"}}</a:t>
            </a:r>
          </a:p>
          <a:p>
            <a:r>
              <a:t>CNPJ 54871427000194 · Partes relacionadas e conflitos · Regulamento · ID 670691 · 2024-04-28 · versão 1 · p. 11 · 4.10 · https://fnet.bmfbovespa.com.br/fnet/publico/visualizarDocumento?id=670691</a:t>
            </a:r>
          </a:p>
          <a:p>
            <a:r>
              <a:t>CNPJ 54871427000194 · Partes relacionadas e conflitos · Excerto da fonte:</a:t>
            </a:r>
          </a:p>
          <a:p>
            <a:r>
              <a:t>4.10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54871427000194 · Partes relacionadas e conflitos · Regulamento · ID 670691 · 2024-04-28 · versão 1 · p. 11 · 4.11 · https://fnet.bmfbovespa.com.br/fnet/publico/visualizarDocumento?id=670691</a:t>
            </a:r>
          </a:p>
          <a:p>
            <a:r>
              <a:t>CNPJ 54871427000194 · Partes relacionadas e conflitos · Excerto da fonte:</a:t>
            </a:r>
          </a:p>
          <a:p>
            <a:r>
              <a:t>4.11 A Classe poderá, direta ou indiretamente e, nos termos da legislação aplicável: (i) adquirir Direitos  Creditórios que sejam cedidos e/ou originados pelo ADMINISTRADOR e/ou pelo GESTOR, ou partes  a eles relacionadas, tal como definidas pelas regras contábeis que tratam desse assunto; e (ii) ceder  Direitos Creditórios a qualquer das pessoas, fundos de investimento ou entidades referidas no item (i)  acima, desde que (i) o ADMINISTRADOR, GESTOR, a entidade registradora e o CUSTODIANTE de  Direitos Creditórios não sejam partes relacionadas entre si; e (ii) a entidade registradora e o  CUSTODIANTE dos Direitos Creditórios não sejam partes relacionadas ao originador ou Cedente.</a:t>
            </a:r>
          </a:p>
          <a:p>
            <a:r>
              <a:t>CNPJ 54871427000194 · Partes relacionadas e conflitos · Regulamento · ID 670691 · 2024-04-28 · versão 1 · p. 25 · 12.21 · https://fnet.bmfbovespa.com.br/fnet/publico/visualizarDocumento?id=670691</a:t>
            </a:r>
          </a:p>
          <a:p>
            <a:r>
              <a:t>CNPJ 54871427000194 · Partes relacionadas e conflitos · Excerto da fonte:</a:t>
            </a:r>
          </a:p>
          <a:p>
            <a:r>
              <a:t>12.21 O GESTOR, em nome da Classe, poderá contratar um ou mais terceiros para a prestação de serviços  de Agente de Cobrança de Direitos Creditórios Inadimplidos, os quais poderão ser partes relacionadas  ou integrar o grupo do ADMINISTRADOR ou dos demais prestadores de serviços da Classe. ] Serão  atribuições do Agente de Cobrança, observado o disposto neste Regulamento e na regulamentação  aplicável:</a:t>
            </a:r>
          </a:p>
          <a:p>
            <a:r>
              <a:t>(i) sempre que necessário, notificar os Devedores sobre a cessão dos Direitos Creditórios à  Classe, nos termos do Art. 290 do Código Civil;</a:t>
            </a:r>
          </a:p>
          <a:p>
            <a:r>
              <a:t>(ii) sempre que solicitado pelo ADMINISTRADOR e/ou pelo GESTOR, reportar ao  ADMINISTRADOR e ao GESTOR as ações tomadas e/ou eventos relevantes ocorridos no  âmbito da cobrança, seja judicial ou extrajudicial, dos Direitos Creditórios Inadimplidos, bem  como o estado de ref erida cobrança;</a:t>
            </a:r>
          </a:p>
          <a:p>
            <a:r>
              <a:t>(iii) comparecer à Assembleia Especial de Cotistas quando assim requerido pelo  ADMINISTRADOR;</a:t>
            </a:r>
          </a:p>
          <a:p>
            <a:r>
              <a:t>(iv) conf irmar o recebimento dos boletos bancários de cobrança enviados aos Devedores, se  aplicável;</a:t>
            </a:r>
          </a:p>
          <a:p>
            <a:r>
              <a:t>(v) controlar, coordenar, gerir e f iscalizar as ações de cobrança de Direitos Creditórios  Inadimplidos;</a:t>
            </a:r>
          </a:p>
          <a:p>
            <a:r>
              <a:t>(vi) adotar, em nome e por conta da Classe, todos os procedimentos de cobrança dos Direitos  Creditórios Inadimplidos de titularidade da Classe;</a:t>
            </a:r>
          </a:p>
          <a:p>
            <a:r>
              <a:t>(vii) conf orme o caso, ef etuar a inclusão ou exclusão do nome de quaisquer Devedores dos  Direitos Creditórios Inadimplidos no registro negativo de órgãos e/ou sistemas de informação  e proteção ao crédito; e</a:t>
            </a:r>
          </a:p>
          <a:p>
            <a:r>
              <a:t>(viii) conduzir, por si ou por meio dos assessores legais contratados para esse f im, processo  administrativo, judicial e/ou arbitral contra os Devedores, incluindo, ainda, a excussão de  eventuais garantias acessórias aos Direitos Creditórios.</a:t>
            </a:r>
          </a:p>
          <a:p>
            <a:r>
              <a:t>CNPJ 54871427000194 · Partes relacionadas e conflitos · Condição: Documentos atuais selecionados no inventário por categoria/escopo; a data documental isolada não comprova vigência jurídica.</a:t>
            </a:r>
          </a:p>
          <a:p>
            <a:r>
              <a:t>CNPJ 54871427000194 · Partes relacionadas e conflitos · Versão e prevalência: Documentos atuais selecionados no inventário por categoria/escopo; a data documental isolada não comprova vigência jurídica.</a:t>
            </a:r>
          </a:p>
          <a:p>
            <a:r>
              <a:t>CNPJ 54871427000194 · Partes relacionadas e conflitos · Resumo do histórico: {"count": 1, "dates": ["2024-04-19"], "document_count": 1, "sources": [{"document_id": "670689", "title": "Regulamento", "reference_date": "2024-04-19", "version": "1", "page": 11, "clause": "4.10", "url": "https://fnet.bmfbovespa.com.br/fnet/publico/visualizarDocumento?id=670689", "sha256": "891bc9bc5d87bbc02ec139077a84d2702eb81ea02035fb71d24f5b8366b94a0b"}], "reference": {"path": "history/54871427000194.json", "criterion_id": "related_parties", "total_count": 1, "preview_count": 1, "full_text_deferred": true, "sha256": "35d7cd99be50c7287c9fb675cf4f2e736002315295a225a9efa79c8d9186d874"}}</a:t>
            </a:r>
          </a:p>
          <a:p>
            <a:r>
              <a:t>CNPJ 60010416000112 · Partes relacionadas e conflitos · Regulamento · ID 1051393 · 2025-10-09 · versão 1 · p. 12 · 4.8 · https://fnet.bmfbovespa.com.br/fnet/publico/visualizarDocumento?id=1051393</a:t>
            </a:r>
          </a:p>
          <a:p>
            <a:r>
              <a:t>CNPJ 60010416000112 · Partes relacionadas e conflitos · Excerto da fonte:</a:t>
            </a:r>
          </a:p>
          <a:p>
            <a:r>
              <a:t>4.8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60010416000112 · Partes relacionadas e conflitos · Regulamento · ID 1051393 · 2025-10-09 · versão 1 · p. 12 · 4.9 · https://fnet.bmfbovespa.com.br/fnet/publico/visualizarDocumento?id=1051393</a:t>
            </a:r>
          </a:p>
          <a:p>
            <a:r>
              <a:t>CNPJ 60010416000112 · Partes relacionadas e conflitos · Excerto da fonte:</a:t>
            </a:r>
          </a:p>
          <a:p>
            <a:r>
              <a:t>4.9 Sem prejuízo de limites mais restritivos definidos neste Regulamento, o Gestor deverá observar, ainda, os  seguintes limites de concentração para a composição da Carteira:</a:t>
            </a:r>
          </a:p>
          <a:p>
            <a:r>
              <a:t> (i ) Até 100% (cem por cento) da parcela do Patrimônio Líquido investida em Ativos  Financeiros de Liquidez poderá ser alocada em Ativos Financeiros de Liquidez de  emissão ou que envolvam retenção de risco por parte do Administrador, Gestor, e/ou  suas partes relacionadas; e</a:t>
            </a:r>
          </a:p>
          <a:p>
            <a:r>
              <a:t> (ii) Até 100% (cem por cento) da parcela do Patrimônio Líquido investida em operações  com derivativos poderá ser alocada em derivativos nos quais, inexistindo contraparte  central, se tenha como contraparte o Gestor e/ou suas partes relacionadas.</a:t>
            </a:r>
          </a:p>
          <a:p>
            <a:r>
              <a:t>CNPJ 60010416000112 · Partes relacionadas e conflitos · Regulamento · ID 1051393 · 2025-10-09 · versão 1 · p. 12 · 4.12.1 · https://fnet.bmfbovespa.com.br/fnet/publico/visualizarDocumento?id=1051393</a:t>
            </a:r>
          </a:p>
          <a:p>
            <a:r>
              <a:t>CNPJ 60010416000112 · Partes relacionadas e conflitos · Excerto da fonte:</a:t>
            </a:r>
          </a:p>
          <a:p>
            <a:r>
              <a:t>4.12.1. Após o término do Período de Investimento, a Classe utilizará os recursos provenientes do  pagamento dos Direitos Creditórios e demais aplicações para amortização das Cotas, observada  a ordem de alocação de recursos def inida no Capítulo 7 abaixo.</a:t>
            </a:r>
          </a:p>
          <a:p>
            <a:r>
              <a:t>Regras, procedimentos e limites para efetuar cessão de direitos creditórios para o cedente e suas partes relacionadas</a:t>
            </a:r>
          </a:p>
          <a:p>
            <a:r>
              <a:t>CNPJ 60010416000112 · Partes relacionadas e conflitos · Condição: Documentos atuais selecionados no inventário por categoria/escopo; a data documental isolada não comprova vigência jurídica.</a:t>
            </a:r>
          </a:p>
          <a:p>
            <a:r>
              <a:t>CNPJ 60010416000112 · Partes relacionadas e conflitos · Versão e prevalência: Documentos atuais selecionados no inventário por categoria/escopo; a data documental isolada não comprova vigência jurídica.</a:t>
            </a:r>
          </a:p>
          <a:p>
            <a:r>
              <a:t>CNPJ 60010416000112 · Partes relacionadas e conflitos · Resumo do histórico: {"count": 1, "dates": ["2025-03-20"], "document_count": 1, "sources": [{"document_id": "993786", "title": "Regulamento", "reference_date": "2025-03-20", "version": "1", "page": 12, "clause": "4.8", "url": "https://fnet.bmfbovespa.com.br/fnet/publico/visualizarDocumento?id=993786", "sha256": "fd0fdd369a195510d81f81f505195a0b09e5f43522a990afa7d58c4f872921c8"}], "reference": {"path": "history/60010416000112.json", "criterion_id": "related_parties", "total_count": 1, "preview_count": 1, "full_text_deferred": true, "sha256": "8e2bd813f4c51cf01f6bfaad164bafe69d2bbb192f753eac92da3a01c2e63046"}}</a:t>
            </a:r>
          </a:p>
          <a:p>
            <a:r>
              <a:t>CNPJ 62696791000193 · Partes relacionadas e conflitos · Regulamento · ID 1143317 · 2026-03-20 · versão 1 · p. 12 · 4.10 · https://fnet.bmfbovespa.com.br/fnet/publico/visualizarDocumento?id=1143317</a:t>
            </a:r>
          </a:p>
          <a:p>
            <a:r>
              <a:t>CNPJ 62696791000193 · Partes relacionadas e conflitos · Excerto da fonte:</a:t>
            </a:r>
          </a:p>
          <a:p>
            <a:r>
              <a:t>4.10 Sem prejuízo de limites mais restritivos definidos neste Anexo, o Gestor deverá observar, ainda, os  seguintes limites de concentração:</a:t>
            </a:r>
          </a:p>
          <a:p>
            <a:r>
              <a:t> (i) A Classe poderá, direta ou indiretamente, ter até 100% (cem por cento) do Patrimônio  Líquido representado por Direitos Creditórios do Agronegócio originados ou cedidos  pelo Administrador, Gestor e/ou suas partes relacionadas, tal como definidas pelas  regras contábeis que tratam desse assunto, desde que (a) o Gest or, a entidade  registradora e o Custodiante dos Direitos Creditórios do Agronegócio não sejam partes  relacionadas entre si; e (b) a entidade registradora e o Custodiante dos Direitos  Creditórios do Agronegócio não sejam partes relacionadas ao originador ou Cedente.</a:t>
            </a:r>
          </a:p>
          <a:p>
            <a:r>
              <a:t> (ii) No máximo, 100% (cem por cento) do Patrimônio Líquido investido em Ativos  Financeiros de Liquidez de emissão ou que envolvam retenção de risco por parte do  Administrador, Gestor, e/ou suas partes relacionadas, observado ainda o disposto no  item Error! Reference source not found.;</a:t>
            </a:r>
          </a:p>
          <a:p>
            <a:r>
              <a:t> (iii) No máximo, 100% (cem por cento) do Patrimônio Líquido investido em operações com  derivativos nos quais, inexistindo contraparte central, se tenha como contraparte o  Gestor, e/ou suas partes relacionadas, observado ainda o disposto no item Error!  Reference source not found.;</a:t>
            </a:r>
          </a:p>
          <a:p>
            <a:r>
              <a:t> (iv) No máximo, 100% (cem por cento) do Patrimônio Líquido em cotas de uma mesma  classe;</a:t>
            </a:r>
          </a:p>
          <a:p>
            <a:r>
              <a:t> (v) É vedada a aquisição de precatórios f ederais.</a:t>
            </a:r>
          </a:p>
          <a:p>
            <a:r>
              <a:t> (vi) No máximo, 49% (quarenta e nove por cento) do Patrimônio Líquido em Ativos  Imobiliários do Agronegócio;</a:t>
            </a:r>
          </a:p>
          <a:p>
            <a:r>
              <a:t> (vii) No máximo, 49% (quarenta e nove por cento) do Patrimônio Líquido em Participações  do Agronegócio;</a:t>
            </a:r>
          </a:p>
          <a:p>
            <a:r>
              <a:t> (viii) No máximo, 49% (quarenta e nove por cento) do Patrimônio Líquido em Ativos  Financeiros do Agronegócio; e</a:t>
            </a:r>
          </a:p>
          <a:p>
            <a:r>
              <a:t> (ix) No máximo, 49% (quarenta e nove por cento) do Patrimônio Líquido em Ativos em Geral  do Agronegócio;</a:t>
            </a:r>
          </a:p>
          <a:p>
            <a:r>
              <a:t> Ativos Recuperados</a:t>
            </a:r>
          </a:p>
          <a:p>
            <a:r>
              <a:t>CNPJ 62696791000193 · Partes relacionadas e conflitos · Regulamento · ID 1143317 · 2026-03-20 · versão 1 · p. 11 · 4.8 · https://fnet.bmfbovespa.com.br/fnet/publico/visualizarDocumento?id=1143317</a:t>
            </a:r>
          </a:p>
          <a:p>
            <a:r>
              <a:t>CNPJ 62696791000193 · Partes relacionadas e conflitos · Excerto da fonte:</a:t>
            </a:r>
          </a:p>
          <a:p>
            <a:r>
              <a:t>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relacionadas ao Gestor.</a:t>
            </a:r>
          </a:p>
          <a:p>
            <a:r>
              <a:t>CNPJ 62696791000193 · Partes relacionadas e conflitos · Regulamento · ID 1143317 · 2026-03-20 · versão 1 · p. 14 · 4.21.1 · https://fnet.bmfbovespa.com.br/fnet/publico/visualizarDocumento?id=1143317</a:t>
            </a:r>
          </a:p>
          <a:p>
            <a:r>
              <a:t>CNPJ 62696791000193 · Partes relacionadas e conflitos · Excerto da fonte:</a:t>
            </a:r>
          </a:p>
          <a:p>
            <a:r>
              <a:t>4.21.1 Sem prejuízo do disposto acima, poderá ser contratado terceiro especializado para o  gerenciamento das obras, para controle dos desembolsos, conforme medições durante a etapa  de desenvolvimento e construção dos Ativos Imobiliários do Agronegócio, sendo certo que,  caso haja a contratação de terceiros em situação de conflito de interesses, deverá ser aprovado  em assembleia de Cotistas.</a:t>
            </a:r>
          </a:p>
          <a:p>
            <a:r>
              <a:t>CNPJ 62696791000193 · Partes relacionadas e conflitos · Condição: Documentos atuais selecionados no inventário por categoria/escopo; a data documental isolada não comprova vigência jurídica.</a:t>
            </a:r>
          </a:p>
          <a:p>
            <a:r>
              <a:t>CNPJ 62696791000193 · Partes relacionadas e conflitos · Versão e prevalência: Documentos atuais selecionados no inventário por categoria/escopo; a data documental isolada não comprova vigência jurídica.</a:t>
            </a:r>
          </a:p>
          <a:p>
            <a:r>
              <a:t>CNPJ 55563624000109 · Partes relacionadas e conflitos · Regulamento · ID 1192614 · 2026-04-30 · versão 1 · p. 13 · 4.12.1 · https://fnet.bmfbovespa.com.br/fnet/publico/visualizarDocumento?id=1192614</a:t>
            </a:r>
          </a:p>
          <a:p>
            <a:r>
              <a:t>CNPJ 55563624000109 · Partes relacionadas e conflitos · Excerto da fonte:</a:t>
            </a:r>
          </a:p>
          <a:p>
            <a:r>
              <a:t>4.12.1 A Classe poderá ter até 100% (cem por cento) do Patrimônio Líquido representado por Cotas da Classe  Investida administrados pelo ADMINISTRADOR, e geridos ou cogeridos pelo GESTOR e/ou suas partes  relacionadas.</a:t>
            </a:r>
          </a:p>
          <a:p>
            <a:r>
              <a:t> Revolvência da Carteira</a:t>
            </a:r>
          </a:p>
          <a:p>
            <a:r>
              <a:t>CNPJ 55563624000109 · Partes relacionadas e conflitos · Regulamento · ID 1192614 · 2026-04-30 · versão 1 · p. 28 · 13.2 · https://fnet.bmfbovespa.com.br/fnet/publico/visualizarDocumento?id=1192614</a:t>
            </a:r>
          </a:p>
          <a:p>
            <a:r>
              <a:t>CNPJ 55563624000109 · Partes relacionadas e conflitos · Excerto da fonte:</a:t>
            </a:r>
          </a:p>
          <a:p>
            <a:r>
              <a:t>13.2 Em condições ordinárias, as Cotas da Classe Investida não pagarão remuneração aos prestadores de serviços  essenciais da Classe Investida, nos termos de seu regulamento. Não obstante, em cenário extraordinário  conforme descrito no item 15.1.1 (iii), e para fins de atendimento ao artigo 98 da parte geral da Resolução CVM  175, a taxa máxima de administração corresponderá ao valor da Taxa Mínima de Administração acrescida de até  0,10% (dez centésimos por cento) ao ano incidente sobre o patrimônio líquido da Classe Investida,  compreendendo a taxa de administração da Classe Investida geridos por partes relacionadas ao GESTOR, cujas  cotas não estão admitidas à negociação em mercado organizado, conforme prevista no regulamento da Classe  Investida (“Taxa Máxima de Administração” e, quando referida em conjunto com a Taxa Mínima de  Administração, como “Taxa de Administração”). Caso a taxa de administração da Classe Investida não se  enquadre no disposto acima, estará disposta no regulamento da Classe Investida.</a:t>
            </a:r>
          </a:p>
          <a:p>
            <a:r>
              <a:t>CNPJ 55563624000109 · Partes relacionadas e conflitos · Regulamento · ID 1192614 · 2026-04-30 · versão 1 · p. 37 · https://fnet.bmfbovespa.com.br/fnet/publico/visualizarDocumento?id=1192614</a:t>
            </a:r>
          </a:p>
          <a:p>
            <a:r>
              <a:t>CNPJ 55563624000109 · Partes relacionadas e conflitos · Excerto da fonte:</a:t>
            </a:r>
          </a:p>
          <a:p>
            <a:r>
              <a:t>(ix) Possibilidade de conflito de interesses. As Cotas poderão ser adquiridas por investidores que  sejam partes relacionadas à Classe Investida ou aos prestadores de serviços da Classe Investida. Nessa  hipótese, poderá haver situações de conflito de interesses entre os interesses desses investidores e o  interesse dos demais Cotistas, podendo qualquer desses investidores, inclusive, aprovar deliberações  contrárias aos interesses dos demais Cotistas caso sejam titulares da maioria das Cotas presentes às  Assembleias de Cotistas.</a:t>
            </a:r>
          </a:p>
          <a:p>
            <a:r>
              <a:t>CNPJ 55563624000109 · Partes relacionadas e conflitos · Condição: Documentos atuais selecionados no inventário por categoria/escopo; a data documental isolada não comprova vigência jurídica.</a:t>
            </a:r>
          </a:p>
          <a:p>
            <a:r>
              <a:t>CNPJ 55563624000109 · Partes relacionadas e conflitos · Versão e prevalência: Documentos atuais selecionados no inventário por categoria/escopo; a data documental isolada não comprova vigência jurídica.</a:t>
            </a:r>
          </a:p>
          <a:p>
            <a:r>
              <a:t>CNPJ 55563624000109 · Partes relacionadas e conflitos · Resumo do histórico: {"count": 2, "dates": ["2025-01-31", "2026-01-31"], "document_count": 2, "sources": [{"document_id": "1178840", "title": "Demonstrações Financeiras", "reference_date": "2026-01-31", "version": "1", "page": 23, "url": "https://fnet.bmfbovespa.com.br/fnet/publico/visualizarDocumento?id=1178840", "sha256": "c458e98664c5c907ddb5a05a94b120bed4e05295b2bfc420f5ba69af0a229abe"}, {"document_id": "891861", "title": "Demonstrações Financeiras", "reference_date": "2025-01-31", "version": "1", "page": 23, "url": "https://fnet.bmfbovespa.com.br/fnet/publico/visualizarDocumento?id=891861", "sha256": "e9cb9e6ddbe505fe068cfcac33605165a98313489de0d3ce6d4d238263c3f3e7"}], "reference": {"path": "history/55563624000109.json", "criterion_id": "related_parties", "total_count": 2, "preview_count": 2, "full_text_deferred": true, "sha256": "7835d573fb58a3c19adf5b8ecc2aee2bdbb9a88f7a0c0209b5f262b64c7522e3"}}</a:t>
            </a:r>
          </a:p>
          <a:p>
            <a:r>
              <a:t>CNPJ 62552447000120 · Partes relacionadas e conflitos · Regulamento · ID 1200623 · 2026-05-21 · versão 1 · p. 14 · 4.10 · https://fnet.bmfbovespa.com.br/fnet/publico/visualizarDocumento?id=1200623</a:t>
            </a:r>
          </a:p>
          <a:p>
            <a:r>
              <a:t>CNPJ 62552447000120 · Partes relacionadas e conflitos · Excerto da fonte:</a:t>
            </a:r>
          </a:p>
          <a:p>
            <a:r>
              <a:t>4.10 Nos termos do art. 45, §7º, inciso II, do Anexo Normativo II, a Classe poderá ter até 100% (cem por  cento) de seu Patrimônio Líquido alocado em Direitos Creditórios, derivativos, observado o disposto  abaixo,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62552447000120 · Partes relacionadas e conflitos · Regulamento · ID 1200623 · 2026-05-21 · versão 1 · p. 14 · 4.11 · https://fnet.bmfbovespa.com.br/fnet/publico/visualizarDocumento?id=1200623</a:t>
            </a:r>
          </a:p>
          <a:p>
            <a:r>
              <a:t>CNPJ 62552447000120 · Partes relacionadas e conflitos · Excerto da fonte:</a:t>
            </a:r>
          </a:p>
          <a:p>
            <a:r>
              <a:t>4.11 Sem prejuízo de limites mais restritivos definidos neste Regulamento, o Gestor deverá observar, ainda,  os seguintes limites de concentração para a composição da Carteira:</a:t>
            </a:r>
          </a:p>
          <a:p>
            <a:r>
              <a:t> (i) Até 100% (cem por cento) da parcela do Patrimônio Líquido investida em Direitos  Creditórios poderão ser alocados em Direitos Creditórios originados ou cedidos pelo  Administrador, Gestor e/ou suas partes relacionadas, tal como definidas pelas regras  contábeis que tratam desse assunto . A Classe também poderá ceder Direitos  Creditórios a qualquer das pessoas, f undos de investimento ou entidades ref eridas  acima, desde que a entidade registradora e o Custodiante dos Direitos Creditórios não  sejam partes relacionadas ao Originador ou Endossante;</a:t>
            </a:r>
          </a:p>
          <a:p>
            <a:r>
              <a:t> (ii) Até 100% (cem por cento) da parcela do Patrimônio Líquido investida em Ativos  Financeiros poderão ser alocados em Ativos Financeiros de emissão ou que envolvam  retenção de risco por parte do Administrador, Gestor e/ou suas partes relacionadas; e</a:t>
            </a:r>
          </a:p>
          <a:p>
            <a:r>
              <a:t> (iii) Até 100% (cem por cento) da parcela do Patrimônio Líquido investida em operações  com derivativos poderão ser alocados em operações com derivativos nas quais,  inexistindo contraparte central, se tenha como contraparte o Gestor e/ou suas partes  relacionadas.</a:t>
            </a:r>
          </a:p>
          <a:p>
            <a:r>
              <a:t>CNPJ 62552447000120 · Partes relacionadas e conflitos · Regulamento · ID 1200623 · 2026-05-21 · versão 1 · p. 15 · 4.18 · https://fnet.bmfbovespa.com.br/fnet/publico/visualizarDocumento?id=1200623</a:t>
            </a:r>
          </a:p>
          <a:p>
            <a:r>
              <a:t>CNPJ 62552447000120 · Partes relacionadas e conflitos · Excerto da fonte:</a:t>
            </a:r>
          </a:p>
          <a:p>
            <a:r>
              <a:t>4.18 Ainda que integrem a Carteira, os Ativos Recuperados não serão, sob qualquer hipótese, adquiridos  como parte da Política de Investimento, de forma que serão de sua propriedade exclusivamente, não  devendo, portanto, ser contabilizados para f ins de enquadramento da Classe.</a:t>
            </a:r>
          </a:p>
          <a:p>
            <a:r>
              <a:t>Regras, procedimentos e limites para efetuar qualquer modalidade de transferência dos Direitos Creditórios, incluindo, sem limitação, endosso (“Transferência”) para o Endossante e suas partes relacionadas</a:t>
            </a:r>
          </a:p>
          <a:p>
            <a:r>
              <a:t>CNPJ 62552447000120 · Partes relacionadas e conflitos · Condição: Documentos atuais selecionados no inventário por categoria/escopo; a data documental isolada não comprova vigência jurídica.</a:t>
            </a:r>
          </a:p>
          <a:p>
            <a:r>
              <a:t>CNPJ 62552447000120 · Partes relacionadas e conflitos · Versão e prevalência: Documentos atuais selecionados no inventário por categoria/escopo; a data documental isolada não comprova vigência jurídica.</a:t>
            </a:r>
          </a:p>
          <a:p>
            <a:r>
              <a:t>CNPJ 63953620000165 · Partes relacionadas e conflitos · Anexo ao Regulamento · ID 1222863 · 2026-06-02 · versão 1 · p. 6 · 4.14 · https://fnet.bmfbovespa.com.br/fnet/publico/visualizarDocumento?id=1222863</a:t>
            </a:r>
          </a:p>
          <a:p>
            <a:r>
              <a:t>CNPJ 63953620000165 · Partes relacionadas e conflitos · Excerto da fonte:</a:t>
            </a:r>
          </a:p>
          <a:p>
            <a:r>
              <a:t>4.14 Nos termos do Art. 45, §7º, inciso II, do Anexo Normativo II da Resolução CVM 175, a Classe poderá ter até 100%  (cem por cento) de seu Patrimônio Líquido alocado em Direitos Creditórios, derivativos, observado o disposto  neste Anexo I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63953620000165 · Partes relacionadas e conflitos · Anexo ao Regulamento · ID 1222863 · 2026-06-02 · versão 1 · p. 8 · 4.21 · https://fnet.bmfbovespa.com.br/fnet/publico/visualizarDocumento?id=1222863</a:t>
            </a:r>
          </a:p>
          <a:p>
            <a:r>
              <a:t>CNPJ 63953620000165 · Partes relacionadas e conflitos · Excerto da fonte:</a:t>
            </a:r>
          </a:p>
          <a:p>
            <a:r>
              <a:t>4.21 Ainda que integrem a carteira da Classe, os Ativos Recuperados não serão, sob qualquer hipótese, adquiridos  como parte da Política de Investimento da Classe, de forma que serão de sua propriedade exclusivamente, não  devendo, portanto, ser contabilizados para fins de enquadramento da Classe.</a:t>
            </a:r>
          </a:p>
          <a:p>
            <a:r>
              <a:t> Regras, procedimentos e limites para efetuar o Endosso de Direitos Creditórios Crédito Consignado para o Endossante e  suas partes relacionadas</a:t>
            </a:r>
          </a:p>
          <a:p>
            <a:r>
              <a:t>CNPJ 63953620000165 · Partes relacionadas e conflitos · Anexo ao Regulamento · ID 1222863 · 2026-06-02 · versão 1 · p. 7 · https://fnet.bmfbovespa.com.br/fnet/publico/visualizarDocumento?id=1222863</a:t>
            </a:r>
          </a:p>
          <a:p>
            <a:r>
              <a:t>CNPJ 63953620000165 · Partes relacionadas e conflitos · Excerto da fonte:</a:t>
            </a:r>
          </a:p>
          <a:p>
            <a:r>
              <a:t>Anexo I ao Regulamento  CLASSE CONSIGNADO PRIVADO DO MT GLOBAL FUNDO DE INVESTIMENTO EM DIREITOS  CREDITÓRIOS RESPONSABILIDADE LIMITADA</a:t>
            </a:r>
          </a:p>
          <a:p>
            <a:r>
              <a:t> (i)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 (ii) No máximo, 50% (cinquenta por cento) do Patrimônio Líquido investido em Ativos Financeiros  de Liquidez de emissão ou que envolvam retenção de risco por parte do Administrador, Gestor,  e/ou suas partes relacionadas, observado ainda o disposto acima;</a:t>
            </a:r>
          </a:p>
          <a:p>
            <a:r>
              <a:t> (iii) No máximo, 100% (cem por cento) do Patrimônio Líquido investido em operações com  derivativos nos quais, inexistindo contraparte central, se tenha como contraparte o Gestor,  Consultora e/ou suas partes relacionadas, observado ainda o disposto acima;</a:t>
            </a:r>
          </a:p>
          <a:p>
            <a:r>
              <a:t> (iv) A Classe poderá investir até 100% (cem por cento) de seu Patrimônio Líquido em Direitos  Creditórios Não-Padronizados;</a:t>
            </a:r>
          </a:p>
          <a:p>
            <a:r>
              <a:t> (v) É vedada a aquisição de precatórios federais.</a:t>
            </a:r>
          </a:p>
          <a:p>
            <a:r>
              <a:t>CNPJ 63953620000165 · Partes relacionadas e conflitos · Condição: Documentos atuais selecionados no inventário por categoria/escopo; a data documental isolada não comprova vigência jurídica.</a:t>
            </a:r>
          </a:p>
          <a:p>
            <a:r>
              <a:t>CNPJ 63953620000165 · Partes relacionadas e conflitos · Versão e prevalência: Documentos atuais selecionados no inventário por categoria/escopo; a data documental isolada não comprova vigência jurídica.</a:t>
            </a:r>
          </a:p>
          <a:p>
            <a:r>
              <a:t>CNPJ 54871427000194 · Histórico de alterações materiais · Instrumento Particular de Alteração do Regulamento · ID 670690 · 28/05/2024 · versão Instrumento Particular de Alteração do Regulamento — referência 28/05/2024 · p. 1 · AGC, 4.1–4.2 · https://fnet.bmfbovespa.com.br/fnet/publico/visualizarDocumento?id=670690</a:t>
            </a:r>
          </a:p>
          <a:p>
            <a:r>
              <a:t>CNPJ 54871427000194 · Histórico de alterações materiais · Excerto da fonte:</a:t>
            </a:r>
          </a:p>
          <a:p>
            <a:r>
              <a:t>4.1. A alteração integral do anexo da Classe Única, que compõe o regulamento do Fundo (“Anexo da Classe Única” e “Regulamento”) e seus complementos, para de f orma a alterar a Política de Investimentos da Classe para aquisição de direitos creditórios representados por Certif icados de Cédulas de Crédito Bancário (“CCCBs” e “Direitos Creditórios”), bem como refletir os novos critérios de elegibilidade para aquisição dos Direitos Creditórios, os documentos comprobatórios do lastro e f atores de risco aplicáveis. 4.2. Tendo em vista a aprovação dos itens. acima, deliberaram por aprovar o novo Regulamento Consolidado, que vigorará na forma do Anexo I à presente Ata, o qual terá efeitos retroativos a abertura de 28 de maio de 2024. 4.3. Por f im, por aprovar a Administradora a adotar todas as medidas necessárias para implementação das deliberações acima. 5. ENCERRAMENTO Nada mais havendo a tratar, f oi a reunião encerrada. Rio de Janeiro, 28 de maio de 2024. Mesa: Diego Prado Tassiana Lima Presidente</a:t>
            </a:r>
          </a:p>
          <a:p>
            <a:r>
              <a:t>CNPJ 54871427000194 · Histórico de alterações materiais · Regulamento · ID 670691 · 28/04/2024 · versão Regulamento — referência 28/04/2024 · p. 9 · Regulamento 670691, Anexo I, 4.2 · https://fnet.bmfbovespa.com.br/fnet/publico/visualizarDocumento?id=670691</a:t>
            </a:r>
          </a:p>
          <a:p>
            <a:r>
              <a:t>CNPJ 54871427000194 · Histórico de alterações materiais · Excerto da fonte:</a:t>
            </a:r>
          </a:p>
          <a:p>
            <a:r>
              <a:t>4.2 Os Direitos Creditórios representados por Certif icados de Cédulas de Crédito Bancário (“CCCBs”), representativos de um agrupamento de determinadas CCBs, originadas no âmbito de operações de empréstimos pessoais concedidos por um Endossante a um Devedor, devidamente f ormalizadas por via eletrônica de acordo com a legislação aplicável, segundo os critérios de composição e diversificação estabelecidos pela regulamentação aplicável e neste Regulamento. 4.2.1 Cada Endossante deve ter celebrado convênio com órgão consignante, previamente à cessão de Direitos Creditórios à Classe, que contemplam a obrigação da manutenção da consignação/averbação junto ao novo órgão, de modo a possibilitar o pagamento dos Direitos Creditórios por meio de consignação em f olha de pagamento ou de benef ício . 4.3 Os pagamentos relativos aos Direitos Creditórios de titularidade da Classe serão realizados mediante consignação em folha, débito em conta de titularidade dos Devedores e pagamentos de sinistros, para pagamento dos valores correspondentes às parcelas das CCBs representadas pelos CCCBs de titularidade da Classe, os quais serão conciliados e repassados pelo Endossan</a:t>
            </a:r>
          </a:p>
          <a:p>
            <a:r>
              <a:t>CNPJ 54871427000194 · Histórico de alterações materiais · Condição: A classificação Fundos Net do documento 670690 é “regulamento”, mas seu conteúdo é uma AGC. A divergência de datas impede usar a referência do 670691 como prova autônoma de início de vigência.</a:t>
            </a:r>
          </a:p>
          <a:p>
            <a:r>
              <a:t>CNPJ 54871427000194 · Histórico de alterações materiais · Motivo: Não localizada uma cláusula material para este critério nos textos identificados e processados. A ausência de resultado não comprova inexistência da regra.</a:t>
            </a:r>
          </a:p>
          <a:p>
            <a:r>
              <a:t>CNPJ 54871427000194 · Histórico de alterações materiais · Versão e prevalência: Leitura específica das cláusulas indicadas; condições e conflitos preservados. Seleção documental atual não comprova vigência jurídica por data isolada.</a:t>
            </a:r>
          </a:p>
          <a:p>
            <a:r>
              <a:t>CNPJ 60010416000112 · Histórico de alterações materiais · Demonstrações Financeiras - Fusão, cisão e incorporação · ID 1298690 · 2026-05-08 · versão 1 · p. 30 · https://fnet.bmfbovespa.com.br/fnet/publico/visualizarDocumento?id=1298690</a:t>
            </a:r>
          </a:p>
          <a:p>
            <a:r>
              <a:t>CNPJ 60010416000112 · Histórico de alterações materiais · Excerto da fonte:</a:t>
            </a:r>
          </a:p>
          <a:p>
            <a:r>
              <a:t>Durante o período de investimento, a Administradora poderá deliberar por realizar novas  emissões de Cotas Seniores, sem a necessidade de aprovação em Assembleia Especial de  Cotistas ou alteração do Regulamento, limitadas ao montante máximo de R$ 1.000.000 (um  bilhão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seniores emitidas não sejam superiores aos  prazos de vencimento da primeira emissão.</a:t>
            </a:r>
          </a:p>
          <a:p>
            <a:r>
              <a:t>CNPJ 60010416000112 · Histórico de alterações materiais · Demonstrações Financeiras - Fusão, cisão e incorporação · ID 1298690 · 2026-05-08 · versão 1 · p. 30 · https://fnet.bmfbovespa.com.br/fnet/publico/visualizarDocumento?id=1298690</a:t>
            </a:r>
          </a:p>
          <a:p>
            <a:r>
              <a:t>CNPJ 60010416000112 · Histórico de alterações materiais · Excerto da fonte:</a:t>
            </a:r>
          </a:p>
          <a:p>
            <a:r>
              <a:t>Durante o período de investimento, a Administradora poderá deliberar por realizar novas  emissões de cotas subordinadas, sem a necessidade de aprovação em Assembleia Especial  de Cotistas ou alteração do Regulamento, limitadas ao montante máximo de R$ 50.000  (cinquenta milhões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subordinadas emitidas não sejam  superiores aos prazos de vencimento da primeira emissão.</a:t>
            </a:r>
          </a:p>
          <a:p>
            <a:r>
              <a:t>CNPJ 60010416000112 · Histórico de alterações materiais · Condição: Documentos atuais selecionados no inventário por categoria/escopo; a data documental isolada não comprova vigência jurídica.</a:t>
            </a:r>
          </a:p>
          <a:p>
            <a:r>
              <a:t>CNPJ 60010416000112 · Histórico de alterações materiais · Versão e prevalência: Documentos atuais selecionados no inventário por categoria/escopo; a data documental isolada não comprova vigência jurídica.</a:t>
            </a:r>
          </a:p>
          <a:p>
            <a:r>
              <a:t>CNPJ 60010416000112 · Histórico de alterações materiais · Resumo do histórico: {"count": 5, "dates": ["2025-11-30", "2026-03-18", "2026-04-16"], "document_count": 3, "sources": [{"document_id": "1282181", "title": "Demonstrações Financeiras - Fusão, cisão e incorporação", "reference_date": "2026-04-16", "version": "1", "page": 32, "url": "https://fnet.bmfbovespa.com.br/fnet/publico/visualizarDocumento?id=1282181", "sha256": "b1c6566e43a00bcd00c8a7f30c77b7f86e351bd8e355bbea113f46d1dafda703"}, {"document_id": "1224477", "title": "Demonstrações Financeiras - Fusão, cisão e incorporação", "reference_date": "2026-03-18", "version": "1", "page": 32, "url": "https://fnet.bmfbovespa.com.br/fnet/publico/visualizarDocumento?id=1224477", "sha256": "0751bf0a75bc3b44c2748f5000226665c6ec6698a90c4dc6170b4e6c187759ae"}, {"document_id": "1126154", "title": "Demonstrações Financeiras", "reference_date": "2025-11-30", "version": "1", "page": 32, "url": "https://fnet.bmfbovespa.com.br/fnet/publico/visualizarDocumento?id=1126154", "sha256": "a01e7ccf88c548f12c95cba8526d7efbef6b585c112cd4668eca781c292090b0"}], "reference": {"path": "history/60010416000112.json", "criterion_id": "changes", "total_count": 5, "preview_count": 3, "full_text_deferred": true, "sha256": "8e2bd813f4c51cf01f6bfaad164bafe69d2bbb192f753eac92da3a01c2e63046"}}</a:t>
            </a:r>
          </a:p>
          <a:p>
            <a:r>
              <a:t>CNPJ 62696791000193 · Histórico de alterações materiais · AGE · ID 1143319 · 20/03/2026 10:00 · versão AGE — referência 20/03/2026 10:00 · p. 1 · AGC, 4.1(a)–(c) · https://fnet.bmfbovespa.com.br/fnet/publico/visualizarDocumento?id=1143319</a:t>
            </a:r>
          </a:p>
          <a:p>
            <a:r>
              <a:t>CNPJ 62696791000193 · Histórico de alterações materiais · Excerto da fonte:</a:t>
            </a:r>
          </a:p>
          <a:p>
            <a:r>
              <a:t>4.1. Aprovar a transformação do Fundo, bem como de sua Classe única, em um fundo de investimento nas cadeias produtivas do agronegócio (“Transformação”), nos termos da parte geral e do Anexo Normativo VI da Resolução nº 175 da CVM, de 23 de dezembro de 2022, conforme alterada (“Resolução CVM 175”). a. Aprovar a alteração da denominação do Fundo, que passará a vigorar como BTG PACTUAL CERES CONFINA FUNDO DE INVESTIMENTO NAS CADEIAS PRODUTIVAS DO AGRONEGÓCIO RESPONSABILIDADE LIMITADA, e de sua Classe única, que passará a vigorar como CLASSE ÚNICA DO BTG PACTUAL CERES CONFINA FUNDO DE INVESTIMENTO NAS CADEIAS PRODUTIVAS DO AGRONEGÓCIO RESPONSABILIDADE LIMITADA (“Classe”); b. Aprovar a reforma integral do Regulamento do Fundo, bem como do Anexo descritivo da Classe, para realizar todos os ajustes necessários à implementação da Transformação, incluindo, mas não se limitando, a política de investimentos, o regime tributário e os fatores de risco aplicáveis, conforme itens abaixo; c. Aprovar a alteração do quadro de características gerais do Fundo, considerando a contratação do Cogestor pelo Gestor, nos termos do artigo 52, II, da parte geral da Resolução CVM 175 e no co</a:t>
            </a:r>
          </a:p>
          <a:p>
            <a:r>
              <a:t>CNPJ 62696791000193 · Histórico de alterações materiais · AGE · ID 1143319 · 20/03/2026 10:00 · versão AGE — referência 20/03/2026 10:00 · p. 3 · AGC, 4.1(j)–(k) · https://fnet.bmfbovespa.com.br/fnet/publico/visualizarDocumento?id=1143319</a:t>
            </a:r>
          </a:p>
          <a:p>
            <a:r>
              <a:t>CNPJ 62696791000193 · Histórico de alterações materiais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Histórico de alterações materiais · Instrumento Particular de Emissão de Cotas · ID 1148821 · 27/03/2026 · versão Instrumento Particular de Emissão de Cotas — referência 27/03/2026 · p. 1 · Deliberação Conjunta27/03/2026, item1 · https://fnet.bmfbovespa.com.br/fnet/publico/visualizarDocumento?id=1148821</a:t>
            </a:r>
          </a:p>
          <a:p>
            <a:r>
              <a:t>CNPJ 62696791000193 · Histórico de alterações materiais · Excerto da fonte:</a:t>
            </a:r>
          </a:p>
          <a:p>
            <a:r>
              <a:t>1. Aprovar a 2ª (segunda) emissão da Subclasse Subordinada Júnior da Classe, composta por até 20.000 (vinte mil) Cotas Subordinadas Júnior, com valor nominal unitário de R$ 1.000,00 (mil reais), perfazendo o montante total de R$ 20.000.000,00 (vinte milhões de reais), as quais serão objeto de colocação privada, de acordo com os termos e condições definidos no Apêndice da Subclasse Subordinada Júnior constante do Anexo I Regulamento e descritas abaixo (“2ª Emissão da Subclasse Subordinada Júnior”): a) Rito: as Cotas Subordinadas Júnior objeto da 2ª Emissão da Subclasse Subordinada Júnior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Subordinada Júnior na data de integralização, calculado na forma prevista no respectivo Apêndice; BTG Pactual 1 SAC: 0800 772 28 27 - Ouvidoria: 0800 722 00 48 - btgpactual.com</a:t>
            </a:r>
          </a:p>
          <a:p>
            <a:r>
              <a:t>CNPJ 62696791000193 · Histórico de alterações materiais · Instrumento Particular de Emissão de Cotas · ID 1148821 · 27/03/2026 · versão Instrumento Particular de Emissão de Cotas — referência 27/03/2026 · p. 2 · Deliberação Conjunta, itens2–3 · https://fnet.bmfbovespa.com.br/fnet/publico/visualizarDocumento?id=1148821</a:t>
            </a:r>
          </a:p>
          <a:p>
            <a:r>
              <a:t>CNPJ 62696791000193 · Histórico de alterações materiais · Excerto da fonte:</a:t>
            </a:r>
          </a:p>
          <a:p>
            <a:r>
              <a:t>2. Aprovar a 2ª (segunda) emissão da Subclasse Sênior da Classe, composta por até 150.000 (cento e cinquenta mil) Cotas Seniores, com valor nominal unitário de R$ 1.000,00 (mil reais), perfazendo o montante total de R$ 150.000.000,00 (cento e cinquenta milhões de reais), as quais serão objeto de colocação privada, de acordo com os termos e condições descritos no Apêndice da Subclasse Sênior constante do Anexo I Regulamento e descritas abaixo (“2ª Emissão da Subclasse Sênior”): a) Rito: as Cotas Seniores objeto da 2ª Emissão da Subclasse Sênior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Sênior na data de integralização, calculado na forma prevista no respectivo Apêndice; d) Forma de Integralização: as Cotas Seniores serão integralizadas mediante chamadas de capital, junto ao seu respectivo agente de custódia e/ou da Administradora na qualidade de escriturador das cotas, nos termos d</a:t>
            </a:r>
          </a:p>
          <a:p>
            <a:r>
              <a:t>CNPJ 62696791000193 · Histórico de alterações materiais · Versão e prevalência: Leitura específica das cláusulas indicadas; condições e conflitos preservados. Seleção documental atual não comprova vigência jurídica por data isolada.</a:t>
            </a:r>
          </a:p>
          <a:p>
            <a:r>
              <a:t>CNPJ 55563624000109 · Histórico de alterações materiais · Motivo: Não localizada uma cláusula material para este critério nos textos identificados e processados. A ausência de resultado não comprova inexistência da regra.</a:t>
            </a:r>
          </a:p>
          <a:p>
            <a:r>
              <a:t>CNPJ 62552447000120 · Histórico de alterações materiais · Ato do Administrador · ID 1200625 · 2026-05-21 · versão Ato21/05/2026 · p. 1 · itens1–2 · https://fnet.bmfbovespa.com.br/fnet/publico/visualizarDocumento?id=1200625</a:t>
            </a:r>
          </a:p>
          <a:p>
            <a:r>
              <a:t>CNPJ 62552447000120 · Histórico de alterações materiais · Excerto da fonte:</a:t>
            </a:r>
          </a:p>
          <a:p>
            <a:r>
              <a:t>Ressalta-se que não haverá qualquer alteração nos valores pagos pelos cotistas... Aprovar o novo Anexo I e Regulamento consolidados</a:t>
            </a:r>
          </a:p>
          <a:p>
            <a:r>
              <a:t>CNPJ 62552447000120 · Histórico de alterações materiais · Motivo: Não localizada uma cláusula material para este critério nos textos identificados e processados. A ausência de resultado não comprova inexistência da regra.</a:t>
            </a:r>
          </a:p>
          <a:p>
            <a:r>
              <a:t>CNPJ 62552447000120 · Histórico de alterações materiais · Versão e prevalência: Leitura específica das cláusulas indicadas; condições e conflitos preservados. Seleção documental atual não comprova vigência jurídica por data isolada.</a:t>
            </a:r>
          </a:p>
          <a:p>
            <a:r>
              <a:t>CNPJ 63953620000165 · Histórico de alterações materiais · Anexo ao Regulamento · ID 1222863 · 2026-06-02 · versão 1 · p. 19 · 12.6 · https://fnet.bmfbovespa.com.br/fnet/publico/visualizarDocumento?id=1222863</a:t>
            </a:r>
          </a:p>
          <a:p>
            <a:r>
              <a:t>CNPJ 63953620000165 · Histórico de alterações materiais · Excerto da fonte:</a:t>
            </a:r>
          </a:p>
          <a:p>
            <a:r>
              <a:t>12.6 A Classe contratou a Tudo Serviços S.A., sociedade anônima, com sede no município de Fortaleza, Estado do Ceará,  na Avenida Senador Virgulo Távora, nº 303, Lojas 02, 03, 04, 05, 06 e 19, Meireles, CEP 60.170-265, inscrita no CNPJ  sob o nº 27.852.506/0001-85, cujos deveres, sem prejuízo daqueles estabelecidos neste Regulamento, no  “Contrato de Serviços de Retenção e Cobrança e Outras Avenças”, celebrado entre o Agente de  Retenção/Cobrança e a Classe (“Contrato de Serviços MT”) e no Contrato de Endosso, consistirão no  monitoramento e cobrança dos Direitos Creditórios Inadimplidos, observado o disposto neste Anexo I e na  regulamentação aplicável (“Agente de Retenção/Cobrança”):</a:t>
            </a:r>
          </a:p>
          <a:p>
            <a:r>
              <a:t> (i) caso aplicável, atuar na retenção (defesa) de operações de empréstimo consignado cujos Direitos  Creditórios sejam de titularidade da Classe, em caso de tentativa de transferência de tais operações de  empréstimo consignado por instituições proponentes, nos termos da Resolução CMN nº 5.057, em razão de  ofertas de portabilidade feitas por tais instituições proponentes, conforme informado pelo Endossante ou pelo  Custodiante ao Agente de Retenção/Cobrança, diariamente, de acordo com o Contrato de Endosso; sendo  que tal serviço deverá incluir, entre outras atividades auxiliares a ele relacionadas, a avaliação das ofertas de  portabilidade feitas pelas instituições proponentes, buscando, se for o caso, esclarecer as vantagens de não  recorrer à portabilidade, retendo a respectiva operação de empréstimo consignado em seus termos atuais;</a:t>
            </a:r>
          </a:p>
          <a:p>
            <a:r>
              <a:t> (ii) mediante inadimplemento de um Direito Creditório devido à indisponibilidade da margem de crédito do  Devedor, auxiliar o Endossante com o Processo de Reinicialização (conforme detalhado no Contrato de  Endosso) em relação ao respectivo Direito Creditório;</a:t>
            </a:r>
          </a:p>
          <a:p>
            <a:r>
              <a:t> (iii) manter e operar um serviço de atendimento ao consumidor - SAC e uma ouvidoria em conformidade  com os regulamentos aplicáveis, monitorar e resolver reclamações e solicitações de Devedores com  relação às operações de empréstimo consignado que dão origem aos Direitos Creditórios, em  conformidade com o Acordo de Parceria;</a:t>
            </a:r>
          </a:p>
          <a:p>
            <a:r>
              <a:t> (iv) realizar a cobrança dos Direitos Creditórios Inadimplidos;</a:t>
            </a:r>
          </a:p>
          <a:p>
            <a:r>
              <a:t> (v) auxiliar o Endossante na correção de qualquer irregularidade relevante identificada com relação à  originação dos Direitos Creditórios;</a:t>
            </a:r>
          </a:p>
          <a:p>
            <a:r>
              <a:t> (vi) realizar a renegociação junto aos Devedores de Direitos Creditórios Inadimplidos e, caso aplicável, celebrar  aditamento à CCB para refletir os novos termos, decorrentes da renegociação  CAPÍTULO 13 – REMUNERAÇÃO DOS PRESTADORES DE SERVIÇOS  0,05% (cinco centésimos por cento) ao ano, apropriada diariamente na base de 252  (duzentos e cinquenta e dois) Dias Úteis, e paga mensalmente até o 5º (quinto) Dia  Útil do mês subsequente ao mês que se refere, incidente sobre o Patrimônio Líquido  da Classe alocado em Direitos Creditórios Consignado Privado e/ou Ativos de  Liquidez MT, observada remuneração mínima mensal de R$ 2.500,00 (dois mil e  quinhentos reais), a ser corrigida anualmente, em janeiro de cada ano, pela variação  Taxa de Administração  positiva do Índice Geral de Preços – Mercado, divulgado pela Fundação Getúlio  Vargas (“Taxa de Administração” e “IGP-M”, respectivamente).</a:t>
            </a:r>
          </a:p>
          <a:p>
            <a:r>
              <a:t> Na hipótese de extinção do IGP-M, não divulgação ou impossibilidade de sua  utilização, será utilizado o Índice Geral de Preços – Disponibilidade Interna,  divulgado pela Fundação Getúlio Vargas, ou, na falta de ambos, pela variação do IPC  – Índice de Preços ao Consumidor, divulgado pela Fundação Instituto de Pesquisas</a:t>
            </a:r>
          </a:p>
          <a:p>
            <a:r>
              <a:t>CNPJ 63953620000165 · Histórico de alterações materiais · Condição: Documentos atuais selecionados no inventário por categoria/escopo; a data documental isolada não comprova vigência jurídica.</a:t>
            </a:r>
          </a:p>
          <a:p>
            <a:r>
              <a:t>CNPJ 63953620000165 · Histórico de alterações materiais · Versão e prevalência: Documentos atuais selecionados no inventário por categoria/escopo; a data documental isolada não comprova vigência jurídica.</a:t>
            </a:r>
          </a:p>
          <a:p>
            <a:r>
              <a:t>CNPJ 54871427000194 · Auditor independente e DFs · Demonstrações Financeiras - Fusão, cisão e incorporação · ID 1219522 · 2026-02-02 · versão 1 · p. 23 · https://fnet.bmfbovespa.com.br/fnet/publico/visualizarDocumento?id=1219522</a:t>
            </a:r>
          </a:p>
          <a:p>
            <a:r>
              <a:t>CNPJ 54871427000194 · Auditor independente e DFs · Excerto da fonte:</a:t>
            </a:r>
          </a:p>
          <a:p>
            <a:r>
              <a:t>x) Possibilidade de aquisição de Direitos Creditórios cedidos por Endossante e/ou devidos por  Devedores cujas demonstrações financeiras não sejam auditadas. A Classe, desde que sejam  respeitados os limites de concentração previstos no Regulamento, poderá manter a qualquer  tempo em sua Carteira, Direitos Creditórios cedidos por Endossante e/ou devidos por Devedores  cujas demonstrações financeiras não sejam auditadas por Auditor Independente registrado na</a:t>
            </a:r>
          </a:p>
          <a:p>
            <a:r>
              <a:t>CNPJ 54871427000194 · Auditor independente e DFs · Demonstrações Financeiras - Fusão, cisão e incorporação · ID 1219522 · 2026-02-02 · versão 1 · p. 2 · https://fnet.bmfbovespa.com.br/fnet/publico/visualizarDocumento?id=1219522</a:t>
            </a:r>
          </a:p>
          <a:p>
            <a:r>
              <a:t>CNPJ 54871427000194 · Auditor independente e DFs · Excerto da fonte:</a:t>
            </a:r>
          </a:p>
          <a:p>
            <a:r>
              <a:t>Classe Única de Responsabilidade Limitada do Consignado Delta Receivables I Fundo de Investimento em  Direitos Creditórios  Demonstrações financeiras em  2 de fevereiro de 2026 (data da incorporação da Classe)</a:t>
            </a:r>
          </a:p>
          <a:p>
            <a:r>
              <a:t>CNPJ 54871427000194 · Auditor independente e DFs · Demonstrações Financeiras - Fusão, cisão e incorporação · ID 1219522 · 2026-02-02 · versão 1 · p. 3 · https://fnet.bmfbovespa.com.br/fnet/publico/visualizarDocumento?id=1219522</a:t>
            </a:r>
          </a:p>
          <a:p>
            <a:r>
              <a:t>CNPJ 54871427000194 · Auditor independente e DFs · Excerto da fonte:</a:t>
            </a:r>
          </a:p>
          <a:p>
            <a:r>
              <a:t>Examinamos as demonstrações financeiras da Classe Única de Responsabilidade Limitada do  Consignado Delta Receivables I Fundo de Investimento em Direitos Creditórios (“Classe”),  administrada pela BTG Pactual Serviços Financeiros S.A. Distribuidora de Títulos e Valores Mobiliários  (“Administradora”), que compreendem a demonstração da posição financeira em 2 de fevereiro de  2026 e as respectivas demonstrações do resultado e do resultado abrangente, das evoluções do  patrimônio líquido e dos fluxos de caixa para o período de 1° de janeiro de 2026 (data de início do  exercício social da Classe) a 2 de fevereiro de 2026 (data da incorporação da Classe), bem como as  correspondentes notas explicativas, incluindo as políticas contábeis materiais e outras informações  elucidativas.</a:t>
            </a:r>
          </a:p>
          <a:p>
            <a:r>
              <a:t> Em nossa opinião, as demonstrações financeiras acima referidas apresentam adequadamente, em  todos os aspectos relevantes, a posição patrimonial e financeira da Classe Única de Responsabilidade  Limitada do Consignado Delta Receivables I Fundo de Investimento em Direitos Creditórios em 2 de  fevereiro de 2026 e o desempenho de suas operações e os seus fluxos de caixa para o período de 1°  de janeiro de 2026 a 2 de fevereiro de 2026, de acordo com as práticas contábeis adotadas no Brasil  aplicáveis aos fundos de investimento em direitos creditórios.</a:t>
            </a:r>
          </a:p>
          <a:p>
            <a:r>
              <a:t>CNPJ 54871427000194 · Auditor independente e DFs · Condição: Documentos atuais selecionados no inventário por categoria/escopo; a data documental isolada não comprova vigência jurídica.</a:t>
            </a:r>
          </a:p>
          <a:p>
            <a:r>
              <a:t>CNPJ 54871427000194 · Auditor independente e DFs · Versão e prevalência: Documentos atuais selecionados no inventário por categoria/escopo; a data documental isolada não comprova vigência jurídica.</a:t>
            </a:r>
          </a:p>
          <a:p>
            <a:r>
              <a:t>CNPJ 54871427000194 · Auditor independente e DFs · Resumo do histórico: {"count": 6, "dates": ["2025-01-01", "2025-04-15", "2025-12-31"], "document_count": 3, "sources": [{"document_id": "1151805", "title": "Demonstrações Financeiras", "reference_date": "2025-12-31", "version": "1", "page": 23, "url": "https://fnet.bmfbovespa.com.br/fnet/publico/visualizarDocumento?id=1151805", "sha256": "f1cea70b152968bf96ef9221b27225953cb20aeef487b2798db3c25e11b528d4"}, {"document_id": "883217", "title": "AGO", "reference_date": "2025-04-15", "version": "1", "page": 1, "url": "https://fnet.bmfbovespa.com.br/fnet/publico/visualizarDocumento?id=883217", "sha256": "233467aa4aa6265d253b610668cde19344ec99af4adf4df934c6a1bd88b9a044"}, {"document_id": "869529", "title": "Demonstrações Financeiras", "reference_date": "2025-01-01", "version": "1", "page": 23, "url": "https://fnet.bmfbovespa.com.br/fnet/publico/visualizarDocumento?id=869529", "sha256": "9a93a9369ac8efdbc54ff8fcee3ccac3abf88edab4807b9323d3852450771b2a"}], "reference": {"path": "history/54871427000194.json", "criterion_id": "audit", "total_count": 6, "preview_count": 3, "full_text_deferred": true, "sha256": "35d7cd99be50c7287c9fb675cf4f2e736002315295a225a9efa79c8d9186d874"}}</a:t>
            </a:r>
          </a:p>
          <a:p>
            <a:r>
              <a:t>CNPJ 60010416000112 · Auditor independente e DFs · AGE · ID 1313936 · 2026-08-31 · versão 1 · p. 1 · https://fnet.bmfbovespa.com.br/fnet/publico/visualizarDocumento?id=1313936</a:t>
            </a:r>
          </a:p>
          <a:p>
            <a:r>
              <a:t>CNPJ 60010416000112 · Auditor independente e DFs · Excerto da fonte:</a:t>
            </a:r>
          </a:p>
          <a:p>
            <a:r>
              <a:t>(d) Fica a Administradora autorizada a levantar, na Data da Cisão, demonstrações contábeis da  Classe, as quais darão suporte à realização da Cisão ora deliberada. As demonstrações contábeis  deverão ser auditadas, em conformidade com o art. 120, da Parte Geral, da Resolução CVM 175;</a:t>
            </a:r>
          </a:p>
          <a:p>
            <a:r>
              <a:t>CNPJ 60010416000112 · Auditor independente e DFs · Condição: Documentos atuais selecionados no inventário por categoria/escopo; a data documental isolada não comprova vigência jurídica.</a:t>
            </a:r>
          </a:p>
          <a:p>
            <a:r>
              <a:t>CNPJ 60010416000112 · Auditor independente e DFs · Versão e prevalência: Documentos atuais selecionados no inventário por categoria/escopo; a data documental isolada não comprova vigência jurídica.</a:t>
            </a:r>
          </a:p>
          <a:p>
            <a:r>
              <a:t>CNPJ 60010416000112 · Auditor independente e DFs · Resumo do histórico: {"count": 11, "dates": ["2026-04-16", "2026-05-08", "2026-07-29"], "document_count": 3, "sources": [{"document_id": "1277540", "title": "AGE", "reference_date": "2026-07-29", "version": "1", "page": 1, "url": "https://fnet.bmfbovespa.com.br/fnet/publico/visualizarDocumento?id=1277540", "sha256": "7a9b65092af34917f99f22b62eb7d248d67149b9c91dd87b07b924b9601ee9b0"}, {"document_id": "1298690", "title": "Demonstrações Financeiras - Fusão, cisão e incorporação", "reference_date": "2026-05-08", "version": "1", "page": 1, "url": "https://fnet.bmfbovespa.com.br/fnet/publico/visualizarDocumento?id=1298690", "sha256": "d979f7f7cf866a68b7fbc65c46fd726b7bcc13f9d0b809190857a9b465be7be2"}, {"document_id": "1282181", "title": "Demonstrações Financeiras - Fusão, cisão e incorporação", "reference_date": "2026-04-16", "version": "1", "page": 1, "url": "https://fnet.bmfbovespa.com.br/fnet/publico/visualizarDocumento?id=1282181", "sha256": "b1c6566e43a00bcd00c8a7f30c77b7f86e351bd8e355bbea113f46d1dafda703"}], "reference": {"path": "history/60010416000112.json", "criterion_id": "audit", "total_count": 11, "preview_count": 3, "full_text_deferred": true, "sha256": "8e2bd813f4c51cf01f6bfaad164bafe69d2bbb192f753eac92da3a01c2e63046"}}</a:t>
            </a:r>
          </a:p>
          <a:p>
            <a:r>
              <a:t>CNPJ 62696791000193 · Auditor independente e DFs · Regulamento · ID 1143317 · 2026-03-20 · versão 1 · p. 5 · 4.1.7 · https://fnet.bmfbovespa.com.br/fnet/publico/visualizarDocumento?id=1143317</a:t>
            </a:r>
          </a:p>
          <a:p>
            <a:r>
              <a:t>CNPJ 62696791000193 · Auditor independente e DFs · Excerto da fonte:</a:t>
            </a:r>
          </a:p>
          <a:p>
            <a:r>
              <a:t>4.1.7 As demonstrações contábeis cujo relatório de auditoria não contiver opinião modificada podem  ser consideradas automaticamente aprovadas caso a assembleia correspondente não seja  instalada em virtude do não comparecimento de quaisquer Cotistas.</a:t>
            </a:r>
          </a:p>
          <a:p>
            <a:r>
              <a:t>CNPJ 62696791000193 · Auditor independente e DFs · Regulamento · ID 1143317 · 2026-03-20 · versão 1 · p. 23 · 10.12 · https://fnet.bmfbovespa.com.br/fnet/publico/visualizarDocumento?id=1143317</a:t>
            </a:r>
          </a:p>
          <a:p>
            <a:r>
              <a:t>CNPJ 62696791000193 · Auditor independente e DFs · Excerto da fonte:</a:t>
            </a:r>
          </a:p>
          <a:p>
            <a:r>
              <a:t>10.12 O representante dos Cotistas será eleito com prazo de mandato a se encerrar na próxima Assembleia  de Cotistas que deliberar sobre a aprovação de demonstrações contábeis do Fundo, sendo permitida  a reeleição.</a:t>
            </a:r>
          </a:p>
          <a:p>
            <a:r>
              <a:t>CNPJ 62696791000193 · Auditor independente e DFs · Condição: Documentos atuais selecionados no inventário por categoria/escopo; a data documental isolada não comprova vigência jurídica.</a:t>
            </a:r>
          </a:p>
          <a:p>
            <a:r>
              <a:t>CNPJ 62696791000193 · Auditor independente e DFs · Versão e prevalência: Documentos atuais selecionados no inventário por categoria/escopo; a data documental isolada não comprova vigência jurídica.</a:t>
            </a:r>
          </a:p>
          <a:p>
            <a:r>
              <a:t>CNPJ 55563624000109 · Auditor independente e DFs · Regulamento · ID 1192614 · 2026-04-30 · versão 1 · p. 24 · 12.3 · https://fnet.bmfbovespa.com.br/fnet/publico/visualizarDocumento?id=1192614</a:t>
            </a:r>
          </a:p>
          <a:p>
            <a:r>
              <a:t>CNPJ 55563624000109 · Auditor independente e DFs · Excerto da fonte:</a:t>
            </a:r>
          </a:p>
          <a:p>
            <a:r>
              <a:t>12.3 Incluem-se entre as obrigações do ADMINISTRADOR, sem prejuízo de outras previstas na regulamentação:</a:t>
            </a:r>
          </a:p>
          <a:p>
            <a:r>
              <a:t> (i) sem prejuízo da observância dos procedimentos relativos às demonstrações contábeis, manter,  separadamente, registros com informações completas sobre toda e qualquer modalidade de negociação  realizada entre o ADMINISTRADOR, GESTOR, CUSTODIANTE, e/ou suas respectivas partes relacionadas,  tais como definidas pelas regras contábeis que tratam desse assunto, de um lado; e a Classe, de outro;</a:t>
            </a:r>
          </a:p>
          <a:p>
            <a:r>
              <a:t> (ii) diligenciar para que sejam mantidos, às suas expensas, atualizados e em perfeita ordem:</a:t>
            </a:r>
          </a:p>
          <a:p>
            <a:r>
              <a:t> (a) o registro de Cotistas;</a:t>
            </a:r>
          </a:p>
          <a:p>
            <a:r>
              <a:t> (b) o livro de atas das Assembleias de Cotistas;</a:t>
            </a:r>
          </a:p>
          <a:p>
            <a:r>
              <a:t> (c) o livro ou lista de presença de Cotistas;</a:t>
            </a:r>
          </a:p>
          <a:p>
            <a:r>
              <a:t> (d) os pareceres do Auditor Independente; e</a:t>
            </a:r>
          </a:p>
          <a:p>
            <a:r>
              <a:t> (e) os registros contábeis referentes às operações e ao patrimônio da Classe;</a:t>
            </a:r>
          </a:p>
          <a:p>
            <a:r>
              <a:t> (iii) pagar a multa cominatória às suas expensas, nos termos da legislação vigente, por cada dia de atraso no  cumprimento dos prazos previstos na regulamentação aplicável;</a:t>
            </a:r>
          </a:p>
          <a:p>
            <a:r>
              <a:t> (iv) elaborar e divulgar as informações periódicas e eventuais da Classe, nos termos deste Anexo e da  regulamentação e da autorregulação em vigor;</a:t>
            </a:r>
          </a:p>
          <a:p>
            <a:r>
              <a:t> (v) manter atualizada junto à CVM a lista de todos os prestadores de serviços contratados pela Classe,  inclusive os Prestadores de Serviços Essenciais, bem como as demais informações cadastrais da Classe e  suas Subclasses;</a:t>
            </a:r>
          </a:p>
          <a:p>
            <a:r>
              <a:t> (vi) manter serviço de atendimento aos Cotistas, responsável pelo esclarecimento de dúvidas e pelo  recebimento de reclamações;</a:t>
            </a:r>
          </a:p>
          <a:p>
            <a:r>
              <a:t> (vii) receber e processar os pedidos de resgate;</a:t>
            </a:r>
          </a:p>
          <a:p>
            <a:r>
              <a:t> (viii) monitorar os Eventos de Verificação do Patrimônio;</a:t>
            </a:r>
          </a:p>
          <a:p>
            <a:r>
              <a:t> (ix) monitorar os Eventos de Avaliação e Eventos de Liquidação;</a:t>
            </a:r>
          </a:p>
          <a:p>
            <a:r>
              <a:t> (x) observar as disposições constantes do Regulamento;</a:t>
            </a:r>
          </a:p>
          <a:p>
            <a:r>
              <a:t> (xi) cumprir as deliberações da Assembleia de Cotistas; e</a:t>
            </a:r>
          </a:p>
          <a:p>
            <a:r>
              <a:t> (xii) observar as disposições do Código ANBIMA e das Regras e Procedimentos ANBIMA</a:t>
            </a:r>
          </a:p>
          <a:p>
            <a:r>
              <a:t>CNPJ 55563624000109 · Auditor independente e DFs · Regulamento · ID 1192614 · 2026-04-30 · versão 1 · p. 4 · 4.6.1 · https://fnet.bmfbovespa.com.br/fnet/publico/visualizarDocumento?id=1192614</a:t>
            </a:r>
          </a:p>
          <a:p>
            <a:r>
              <a:t>CNPJ 55563624000109 · Auditor independente e DFs · Excerto da fonte:</a:t>
            </a:r>
          </a:p>
          <a:p>
            <a:r>
              <a:t>4.6.1 As deliberações relativas às matérias elencadas nos incisos abaixo serão tomadas, em primeira  convocação ou em segunda convocação, conforme os quóruns dispostos abaixo, em sede assembleia  geral de cotistas ou de assembleia especial de cotistas, conforme o caso:</a:t>
            </a:r>
          </a:p>
          <a:p>
            <a:r>
              <a:t> MATÉRIA SUJEITA À APROVAÇÃO QUÓRUM DE DELIBERAÇÃO</a:t>
            </a:r>
          </a:p>
          <a:p>
            <a:r>
              <a:t> (i) aprovação das demonstrações contábeis do FUNDO; Maioria do total das Cotas emitidas</a:t>
            </a:r>
          </a:p>
          <a:p>
            <a:r>
              <a:t>CNPJ 55563624000109 · Auditor independente e DFs · Regulamento · ID 1192614 · 2026-04-30 · versão 1 · p. 10 · 3.1 · https://fnet.bmfbovespa.com.br/fnet/publico/visualizarDocumento?id=1192614</a:t>
            </a:r>
          </a:p>
          <a:p>
            <a:r>
              <a:t>CNPJ 55563624000109 · Auditor independente e DFs · Excerto da fonte:</a:t>
            </a:r>
          </a:p>
          <a:p>
            <a:r>
              <a:t>3.1 A Classe terá Encargos que lhe poderão ser debitados diretamente, nos termos da Resolução CVM 175, e  quaisquer despesas que não constituam Encargos correm por conta do Prestador de Serviço Essencial que a tiver  contratado, incluindo, sem se limitar a:</a:t>
            </a:r>
          </a:p>
          <a:p>
            <a:r>
              <a:t> (i) Taxa de performance, se houver;</a:t>
            </a:r>
          </a:p>
          <a:p>
            <a:r>
              <a:t> (ii) Taxas, impostos ou contribuições federais, estaduais, municipais ou autárquicas, que recaiam ou  venham a recair sobre os bens, direitos e obrigações da Classe;</a:t>
            </a:r>
          </a:p>
          <a:p>
            <a:r>
              <a:t> (iii) Despesas com o registro de documentos, impressão, expedição e publicação de relatórios e informações  periódicas previstas na Resolução CVM 175;</a:t>
            </a:r>
          </a:p>
          <a:p>
            <a:r>
              <a:t> (iv) Despesas com correspondências de interesse do FUNDO ou da Classe, inclusive comunicações aos  Cotistas;</a:t>
            </a:r>
          </a:p>
          <a:p>
            <a:r>
              <a:t> (v) Honorários e despesas do Auditor Independente;</a:t>
            </a:r>
          </a:p>
          <a:p>
            <a:r>
              <a:t> BTG Pactual  SAC: 0800 772 28 27 - Ouvidoria: 0800 722 00 48 - btgpactual.com  3</a:t>
            </a:r>
          </a:p>
          <a:p>
            <a:r>
              <a:t>CNPJ 55563624000109 · Auditor independente e DFs · Condição: Documentos atuais selecionados no inventário por categoria/escopo; a data documental isolada não comprova vigência jurídica.</a:t>
            </a:r>
          </a:p>
          <a:p>
            <a:r>
              <a:t>CNPJ 55563624000109 · Auditor independente e DFs · Versão e prevalência: Documentos atuais selecionados no inventário por categoria/escopo; a data documental isolada não comprova vigência jurídica.</a:t>
            </a:r>
          </a:p>
          <a:p>
            <a:r>
              <a:t>CNPJ 55563624000109 · Auditor independente e DFs · Resumo do histórico: {"count": 2, "dates": ["2025-01-31", "2026-01-31"], "document_count": 2, "sources": [{"document_id": "1178840", "title": "Demonstrações Financeiras", "reference_date": "2026-01-31", "version": "1", "page": 4, "url": "https://fnet.bmfbovespa.com.br/fnet/publico/visualizarDocumento?id=1178840", "sha256": "c458e98664c5c907ddb5a05a94b120bed4e05295b2bfc420f5ba69af0a229abe"}, {"document_id": "891861", "title": "Demonstrações Financeiras", "reference_date": "2025-01-31", "version": "1", "page": 2, "url": "https://fnet.bmfbovespa.com.br/fnet/publico/visualizarDocumento?id=891861", "sha256": "e9cb9e6ddbe505fe068cfcac33605165a98313489de0d3ce6d4d238263c3f3e7"}], "reference": {"path": "history/55563624000109.json", "criterion_id": "audit", "total_count": 2, "preview_count": 2, "full_text_deferred": true, "sha256": "7835d573fb58a3c19adf5b8ecc2aee2bdbb9a88f7a0c0209b5f262b64c7522e3"}}</a:t>
            </a:r>
          </a:p>
          <a:p>
            <a:r>
              <a:t>CNPJ 62552447000120 · Auditor independente e DFs · Regulamento · ID 1200623 · 2026-05-21 · versão 1 · p. 4 · 4.1.6 · https://fnet.bmfbovespa.com.br/fnet/publico/visualizarDocumento?id=1200623</a:t>
            </a:r>
          </a:p>
          <a:p>
            <a:r>
              <a:t>CNPJ 62552447000120 · Auditor independente e DFs · Excerto da fonte:</a:t>
            </a:r>
          </a:p>
          <a:p>
            <a:r>
              <a:t>4.1.6 As demonstrações contábeis cujo relatório de auditoria não contiver opinião modificada podem  ser consideradas automaticamente aprovadas caso a Assembleia Geral correspondente não  seja instalada em virtude do não comparecimento de quaisquer Cotistas.</a:t>
            </a:r>
          </a:p>
          <a:p>
            <a:r>
              <a:t>CNPJ 62552447000120 · Auditor independente e DFs · Regulamento · ID 1200623 · 2026-05-21 · versão 1 · p. 29 · 12.16 · https://fnet.bmfbovespa.com.br/fnet/publico/visualizarDocumento?id=1200623</a:t>
            </a:r>
          </a:p>
          <a:p>
            <a:r>
              <a:t>CNPJ 62552447000120 · Auditor independente e DFs · Excerto da fonte:</a:t>
            </a:r>
          </a:p>
          <a:p>
            <a:r>
              <a:t>12.16 Os serviços de auditoria das demonstrações f inanceiras e demais contas da Classe serão prestados  por Auditor Independente contratado pelo Administrador. Pelos serviços prestados, o Auditor  Independente f ará jus ao recebimento de remuneração a ser def inida em contrato específico, a qual  será paga pela Classe.</a:t>
            </a:r>
          </a:p>
          <a:p>
            <a:r>
              <a:t>CAPÍTULO 13 – TAXA GLOBAL</a:t>
            </a:r>
          </a:p>
          <a:p>
            <a:r>
              <a:t>CNPJ 62552447000120 · Auditor independente e DFs · Condição: Documentos atuais selecionados no inventário por categoria/escopo; a data documental isolada não comprova vigência jurídica.</a:t>
            </a:r>
          </a:p>
          <a:p>
            <a:r>
              <a:t>CNPJ 62552447000120 · Auditor independente e DFs · Versão e prevalência: Documentos atuais selecionados no inventário por categoria/escopo; a data documental isolada não comprova vigência jurídica.</a:t>
            </a:r>
          </a:p>
          <a:p>
            <a:r>
              <a:t>CNPJ 63953620000165 · Auditor independente e DFs · Anexo ao Regulamento · ID 1222863 · 2026-06-02 · versão 1 · p. 4 · 3.4 · https://fnet.bmfbovespa.com.br/fnet/publico/visualizarDocumento?id=1222863</a:t>
            </a:r>
          </a:p>
          <a:p>
            <a:r>
              <a:t>CNPJ 63953620000165 · Auditor independente e DFs · Excerto da fonte:</a:t>
            </a:r>
          </a:p>
          <a:p>
            <a:r>
              <a:t>3.4 Adicionalmente aos Encargos, as seguintes despesas serão debitadas diretamente da Classe, nos termos do art.</a:t>
            </a:r>
          </a:p>
          <a:p>
            <a:r>
              <a:t> 51 do Anexo Normativo II da Resolução CVM 175 (“Despesas Adicionais”):</a:t>
            </a:r>
          </a:p>
          <a:p>
            <a:r>
              <a:t> (i) Despesas com registro de Direitos Creditórios;</a:t>
            </a:r>
          </a:p>
          <a:p>
            <a:r>
              <a:t> (ii) Despesas com serviços de originação, cobranças ordinária e/ou extraordinária dos Direitos Creditórios,  e/ou verificação de lastro dos Direitos Creditórios, conforme aplicável;</a:t>
            </a:r>
          </a:p>
          <a:p>
            <a:r>
              <a:t> (iii) Despesas com a contratação de atividades relacionadas à verificação de lastro;</a:t>
            </a:r>
          </a:p>
          <a:p>
            <a:r>
              <a:t> (iv) Despesas com a contratação de Agente de Retenção/Cobrança; Despesas com a contratação de  consultoria especializada, conforme o caso;</a:t>
            </a:r>
          </a:p>
          <a:p>
            <a:r>
              <a:t> (v) Remuneração do Custodiante;</a:t>
            </a:r>
          </a:p>
          <a:p>
            <a:r>
              <a:t> (vi) Despesas com honorários advocatícios para quaisquer assuntos de interesse da Classe, seja na esfera  judicial ou extrajudicial, inclusive consultivo;</a:t>
            </a:r>
          </a:p>
          <a:p>
            <a:r>
              <a:t> (vii) Despesas com a assinatura e registro dos Termos de Endosso, conforme aplicável, junto aos  competentes cartórios de Registro de Títulos e Documentos;</a:t>
            </a:r>
          </a:p>
          <a:p>
            <a:r>
              <a:t> (viii) Despesas inerentes à distribuição primária de Cotas, inclusive a contratação e remuneração do  distribuidor das Cotas para cada oferta de Cotas da Classe, nos termos de cada contrato de distribuição  e honorários devidos ao(s) assessor(es) legal(is) de cada oferta, assim como despesas com o registro das  Cotas na CVM, ANBIMA e/ou na entidade de mercado organizado em que as cotas sejam registradas,  conforme aplicável;</a:t>
            </a:r>
          </a:p>
          <a:p>
            <a:r>
              <a:t> (ix) Taxas de fiscalização da CVM e/ou ANBIMA, conforme aplicável; e</a:t>
            </a:r>
          </a:p>
          <a:p>
            <a:r>
              <a:t> (x) Despesas com contratação e remuneração do Auditor Independente e da Agência Classificadora de  Risco.</a:t>
            </a:r>
          </a:p>
          <a:p>
            <a:r>
              <a:t>CNPJ 63953620000165 · Auditor independente e DFs · Condição: Documentos atuais selecionados no inventário por categoria/escopo; a data documental isolada não comprova vigência jurídica.</a:t>
            </a:r>
          </a:p>
          <a:p>
            <a:r>
              <a:t>CNPJ 63953620000165 · Auditor independente e DFs · Motivo: Cláusula primária localizada e citada, mas sua lista/condições extensas não admitem uma síntese literal curta confirmada. O trecho integral permanece nas fontes.</a:t>
            </a:r>
          </a:p>
          <a:p>
            <a:r>
              <a:t>CNPJ 63953620000165 · Auditor independente e DFs · Versão e prevalência: Documentos atuais selecionados no inventário por categoria/escopo; a data documental isolada não comprova vigência jurídica.</a:t>
            </a:r>
          </a:p>
          <a:p>
            <a:r>
              <a:t>CNPJ 63953620000165 · Auditor independente e DFs · Resumo do histórico: {"count": 8, "dates": ["2026-04-28", "2026-05-08", "2026-05-15"], "document_count": 3, "sources": [{"document_id": "1327859", "title": "Demonstrações Financeiras - Fusão, cisão e incorporação", "reference_date": "2026-05-15", "version": "1", "page": 1, "url": "https://fnet.bmfbovespa.com.br/fnet/publico/visualizarDocumento?id=1327859", "sha256": "dca1c68babb97f887528c3e2e47596a9c30f507b067981a35655b2f2da9c8054"}, {"document_id": "1298691", "title": "Demonstrações Financeiras - Fusão, cisão e incorporação", "reference_date": "2026-05-08", "version": "1", "page": 1, "url": "https://fnet.bmfbovespa.com.br/fnet/publico/visualizarDocumento?id=1298691", "sha256": "58c570d9b8d4d265330d3db3ea81c435b8e44a6dab4002aa37790652a1ee9819"}, {"document_id": "1282180", "title": "Demonstrações Financeiras - Fusão, cisão e incorporação", "reference_date": "2026-04-28", "version": "1", "page": 1, "url": "https://fnet.bmfbovespa.com.br/fnet/publico/visualizarDocumento?id=1282180", "sha256": "afaaa0e6809be4385e5bdb6c911aac582032c5bdbac3d7750234bf9eaf00438a"}], "reference": {"path": "history/63953620000165.json", "criterion_id": "audit",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Governança e alterações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Quóruns e matérias reservadas · Regulamento · ID 670691 · 28/04/2024 · versão Regulamento — referência 28/04/2024 · p. 4 · Parte Geral, 4.4–4.4.1 · https://fnet.bmfbovespa.com.br/fnet/publico/visualizarDocumento?id=670691</a:t>
            </a:r>
          </a:p>
          <a:p>
            <a:r>
              <a:t>CNPJ 54871427000194 · Quóruns e matérias reservadas · Excerto da fonte:</a:t>
            </a:r>
          </a:p>
          <a:p>
            <a:r>
              <a:t>4.4 Ressalvadas as exceções descritas neste Regulamento, toda e qualquer matéria submetida à deliberação dos cotistas deverá ser aprovada por maioria dos votos dos presentes. 4.4.1 As deliberações relativas às matérias elencadas nos incisos abaixo serão tomadas, em primeira convocação ou em segunda convocação, pelos votos dos titulares da maioria das cotas em circulação, em sede assembleia geral de cotistas ou de assembleia especial de cotistas, conf orme o caso: (i) aprovação das demonstrações contábeis do FUNDO; (ii) alteração da Parte Geral deste Regulamento; (iii) substituição ou remoção do Prestador de Serviços Essenciais do FUNDO, ressalvada a possibilidade prevista no Art. 70, §1º, da Parte Geral da Resolução CVM 175; (iv) alterações nos quóruns de deliberação def inidos neste Regulamento; (v) cobrança de taxas e encargos pelo ADMINISTRADOR, de qualquer natureza, que não estejam expressamente previstos neste Regulamento; (vi) liquidação do FUNDO. (vii) plano de resolu</a:t>
            </a:r>
          </a:p>
          <a:p>
            <a:r>
              <a:t>CNPJ 54871427000194 · Quóruns e matérias reservadas · Regulamento · ID 670691 · 28/04/2024 · versão Regulamento — referência 28/04/2024 · p. 17 · Anexo I, 10.1 · https://fnet.bmfbovespa.com.br/fnet/publico/visualizarDocumento?id=670691</a:t>
            </a:r>
          </a:p>
          <a:p>
            <a:r>
              <a:t>CNPJ 54871427000194 · Quóruns e matérias reservadas · Excerto da fonte:</a:t>
            </a:r>
          </a:p>
          <a:p>
            <a:r>
              <a:t>10.1 Sem prejuízo de outros requisitos e inf ormações previstos na regulamentação vigente, são aplicáveis à Assembleia Especial de Cotistas as mesmas disposições procedimentais da Assembleia Geral de Cotistas. 10.2 A Assembleia Especial de Cotistas é responsável por deliberar sobre as matérias específicas da Classe de Cotas, sem prejuízo das demais disposições previstas na regulamentação aplicável, incluindo, mas não se limitando a: (i) deliberar sobre as demonstrações contábeis da Classe; (ii) deliberar sobre substituição de Prestadores de Serviços Essenciais, observado o disposto no art. 70, §1º da parte geral da Resolução CVM 175; (iii) deliberar sobre elevação da Taxa de Administração, inclusive na hipótese de restabelecimento de taxa que tenha sido objeto de redução; (iv) deliberar sobre incorporação, f usão, cisão total ou parcial, a transf ormação ou liquidação da Classe; (v) alterações das características, vantagens, direitos e obrigações das Cotas; (vi) alterar critérios e procedimentos para Amortização e/ou resgate de Cotas mediante dação em pagamento de Direitos Creditórios; (vii) a</a:t>
            </a:r>
          </a:p>
          <a:p>
            <a:r>
              <a:t>CNPJ 54871427000194 · Quóruns e matérias reservadas · Versão e prevalência: Leitura específica das cláusulas indicadas; condições e conflitos preservados. Seleção documental atual não comprova vigência jurídica por data isolada.</a:t>
            </a:r>
          </a:p>
          <a:p>
            <a:r>
              <a:t>CNPJ 54871427000194 · Quóruns e matérias reservadas · Resumo do histórico: {"count": 1, "dates": ["2024-04-19"], "document_count": 1, "sources": [{"document_id": "670689", "title": "Regulamento", "reference_date": "2024-04-19", "version": "1", "page": 20, "clause": "11.6", "url": "https://fnet.bmfbovespa.com.br/fnet/publico/visualizarDocumento?id=670689", "sha256": "891bc9bc5d87bbc02ec139077a84d2702eb81ea02035fb71d24f5b8366b94a0b"}], "reference": {"path": "history/54871427000194.json", "criterion_id": "quorum", "total_count": 1, "preview_count": 1, "full_text_deferred": true, "sha256": "35d7cd99be50c7287c9fb675cf4f2e736002315295a225a9efa79c8d9186d874"}}</a:t>
            </a:r>
          </a:p>
          <a:p>
            <a:r>
              <a:t>CNPJ 60010416000112 · Quóruns e matérias reservadas · Regulamento · ID 1051393 · 09/10/2025 · versão Regulamento09/10/2025 · p. 18 · AnexoI9.2(ii)–(xvii) · https://fnet.bmfbovespa.com.br/fnet/publico/visualizarDocumento?id=1051393</a:t>
            </a:r>
          </a:p>
          <a:p>
            <a:r>
              <a:t>CNPJ 60010416000112 · Quóruns e matérias reservadas · Excerto da fonte:</a:t>
            </a:r>
          </a:p>
          <a:p>
            <a:r>
              <a:t>(ii) alterar este Anexo I e seus complementos, incluindo mas não se limitando aos Apêndices de cada uma das subclasses; (iii) deliberar sobre substituição de Prestadores de Serviços Essenciais, observado o disposto no Art. 70, §1º da parte geral da Resolução CVM 175, quando aplicável, ou do Custodiante; (iv) deliberar sobre elevação da Taxa de Administração, inclusive na hipótese de restabelecimento de taxa que tenha sido objeto de redução; (v) deliberar sobre incorporação, fusão, cisão total ou parcial, a transformação ou liquidação da Classe; (vi) alter</a:t>
            </a:r>
          </a:p>
          <a:p>
            <a:r>
              <a:t>CNPJ 60010416000112 · Quóruns e matérias reservadas · Regulamento · ID 1051393 · 09/10/2025 · versão Regulamento09/10/2025 · p. 19 · AnexoI9.8–9.9 · https://fnet.bmfbovespa.com.br/fnet/publico/visualizarDocumento?id=1051393</a:t>
            </a:r>
          </a:p>
          <a:p>
            <a:r>
              <a:t>CNPJ 60010416000112 · Quóruns e matérias reservadas · Excerto da fonte:</a:t>
            </a:r>
          </a:p>
          <a:p>
            <a:r>
              <a:t>9.8 As deliberações constantes dos incisos (ii), (iii), (iv), (v), (vi), (vii), (x), (xi), (xii), (xiii) e (xvii) acima, apenas serão aprovadas, seja em primeira ou em segunda convocação, por unanimidade dos votos dos titulares das Cotas em circulação. 9.9 As deliberações relativas aos demais incisos do item 9.2 acima apenas serão aprovadas, seja em primeira ou em segunda convocação, mediante o voto favorável dos Cotistas que representem a maioria das Cotas emitidas pela Classe. 9.10 Somente os Cotistas, seus representantes legais ou procuradores legalmente nomeados há menos de 1 (um) ano ter</a:t>
            </a:r>
          </a:p>
          <a:p>
            <a:r>
              <a:t>CNPJ 60010416000112 · Quóruns e matérias reservadas · Versão e prevalência: Leitura específica das cláusulas indicadas; condições e conflitos preservados. Seleção documental atual não comprova vigência jurídica por data isolada.</a:t>
            </a:r>
          </a:p>
          <a:p>
            <a:r>
              <a:t>CNPJ 60010416000112 · Quóruns e matérias reservadas · Resumo do histórico: {"count": 3, "dates": ["2025-03-20", "2025-05-09", "2025-05-12"], "document_count": 3, "sources": [{"document_id": "1004656", "title": "AGE", "reference_date": "2025-05-12", "version": "1", "page": 1, "url": "https://fnet.bmfbovespa.com.br/fnet/publico/visualizarDocumento?id=1004656", "sha256": "f6c9c009f6170e2b29f074b98522accec73f0c40efbf11f9ec2c8d3f1402616b"}, {"document_id": "911262", "title": "AGE", "reference_date": "2025-05-09", "version": "1", "page": 1, "url": "https://fnet.bmfbovespa.com.br/fnet/publico/visualizarDocumento?id=911262", "sha256": "675de4ffe8c5ee95957fb29810625ce850d1a0b69b5231747442266f0cbf32a3"}, {"document_id": "993786", "title": "Regulamento", "reference_date": "2025-03-20", "version": "1", "page": 22, "clause": "10.6", "url": "https://fnet.bmfbovespa.com.br/fnet/publico/visualizarDocumento?id=993786", "sha256": "fd0fdd369a195510d81f81f505195a0b09e5f43522a990afa7d58c4f872921c8"}], "reference": {"path": "history/60010416000112.json", "criterion_id": "quorum", "total_count": 3, "preview_count": 3, "full_text_deferred": true, "sha256": "8e2bd813f4c51cf01f6bfaad164bafe69d2bbb192f753eac92da3a01c2e63046"}}</a:t>
            </a:r>
          </a:p>
          <a:p>
            <a:r>
              <a:t>CNPJ 62696791000193 · Quóruns e matérias reservadas · Regulamento · ID 1143317 · 20/03/2026 · versão Regulamento — referência 20/03/2026 · p. 20 · Anexo I, 10.2, tabela · https://fnet.bmfbovespa.com.br/fnet/publico/visualizarDocumento?id=1143317</a:t>
            </a:r>
          </a:p>
          <a:p>
            <a:r>
              <a:t>CNPJ 62696791000193 · Quóruns e matérias reservadas · Excerto da fonte:</a:t>
            </a:r>
          </a:p>
          <a:p>
            <a:r>
              <a:t>10.2 Os seguintes quóruns deverão ser observados pela Assembleia Especial de Cotistas ao deliberar as matérias abaixo: Matéria Quórum I – alterar o presente Anexo; Maioria das Cotas Subscritas (“Quórum Qualificado”), observada BTG Pactual SAC: 0800 772 2827 | Ouvidoria: 0800 722 0048 | btgpactual.co m 15</a:t>
            </a:r>
          </a:p>
          <a:p>
            <a:r>
              <a:t>CNPJ 62696791000193 · Quóruns e matérias reservadas · Regulamento · ID 1143317 · 20/03/2026 · versão Regulamento — referência 20/03/2026 · p. 21 · Anexo I, 10.2, tabela · https://fnet.bmfbovespa.com.br/fnet/publico/visualizarDocumento?id=1143317</a:t>
            </a:r>
          </a:p>
          <a:p>
            <a:r>
              <a:t>CNPJ 62696791000193 · Quóruns e matérias reservadas · Excerto da fonte:</a:t>
            </a:r>
          </a:p>
          <a:p>
            <a:r>
              <a:t>Matéria Quórum a necessidade de voto afirmativo da Maioria das Cotas Seniores subscritas da Classe Quórum Qualif icado observada a necessidade de voto af irmativo da II – substituição do Administrador, do Gestor e da Cogestora; Maioria das Cotas Seniores subscritas da Classe Maioria Simples, observada a III – Emissão e distribuição de novas Cotas em quantidade necessidade de voto af irmativo da superior ao Capital Autorizado da Classe ; Maioria das Cotas Seniores subscritas da Classe</a:t>
            </a:r>
          </a:p>
          <a:p>
            <a:r>
              <a:t>CNPJ 62696791000193 · Quóruns e matérias reservadas · Regulamento · ID 1143317 · 20/03/2026 · versão Regulamento — referência 20/03/2026 · p. 22 · Anexo I, 10.2(XI) e 10.5–10.7 · https://fnet.bmfbovespa.com.br/fnet/publico/visualizarDocumento?id=1143317</a:t>
            </a:r>
          </a:p>
          <a:p>
            <a:r>
              <a:t>CNPJ 62696791000193 · Quóruns e matérias reservadas · Excerto da fonte:</a:t>
            </a:r>
          </a:p>
          <a:p>
            <a:r>
              <a:t>10.5 As deliberações que tenham por objeto alterações de Benchmark apenas serão aprovadas se assim deliberado: (i) pelos votos dos titulares da maioria das Cotas em circulação da Série ou Subclasse cujo Benchmark é alterado; e (ii) pelos votos dos titulares da maioria das Cotas Mezanino que se subordinem a ela e/ou das Cotas Subordinadas em circulação. 10.6 As deliberações que tenham por objeto o aumento do Índice de Subordinação estão sujeitas à aprovação da maioria simples dos votos dos titulares das Cotas Mezanino que se subordinem a ela e/ou das Cotas Subordinadas em circulação. 10.7 As deliberações que tenham por objeto a diminuição do Índice de Subordinação apenas serão aprovadas se assim deliberado: (i) pelos votos dos titulares da maioria das Cotas em circulação de cada uma das Séries de Cotas Seniores e/ou dos titulares das Cotas Mezanino que tenham o Benchmark alterado; e (ii) pelo voto dos titulares da maioria das Cotas Mezanino que se subordinem a ela e/ou Cotas Subordinadas Júnior em circulação . Representante de Cotistas 10.8 A Assembleia de Cotistas pode, a qualquer momento, eleger até 3 (três) representantes de cotistas, a serem eleitos e nomeados pela assembleia especial,</a:t>
            </a:r>
          </a:p>
          <a:p>
            <a:r>
              <a:t>CNPJ 62696791000193 · Quóruns e matérias reservadas · Versão e prevalência: Leitura específica das cláusulas indicadas; condições e conflitos preservados. Seleção documental atual não comprova vigência jurídica por data isolada.</a:t>
            </a:r>
          </a:p>
          <a:p>
            <a:r>
              <a:t>CNPJ 55563624000109 · Quóruns e matérias reservadas · Regulamento · ID 1192614 · 30/04/2026 · versão Regulamento30/04/2026 · p. 19 · AnexoI10.2(i)–(v) · https://fnet.bmfbovespa.com.br/fnet/publico/visualizarDocumento?id=1192614</a:t>
            </a:r>
          </a:p>
          <a:p>
            <a:r>
              <a:t>CNPJ 55563624000109 · Quóruns e matérias reservadas · Excerto da fonte:</a:t>
            </a:r>
          </a:p>
          <a:p>
            <a:r>
              <a:t>10.2 A Assembleia Especial de Cotistas é responsável por deliberar, observados os quóruns abaixo, sobre as matérias específicas da Classe, sem prejuízo das demais disposições previstas na regulamentação aplicável, incluindo, mas não se limitando a: MATÉRIA SUJEITA À APROVAÇÃO QUÓRUM DE DELIBERAÇÃO (i) deliberar sobre as demonstrações contábeis da Classe; Maioria do total das Cotas emitidas (ii) deliberar sobre a substituição de Prestadores de Serviços 90% (noventa por cento) do total das Cotas</a:t>
            </a:r>
          </a:p>
          <a:p>
            <a:r>
              <a:t>CNPJ 55563624000109 · Quóruns e matérias reservadas · Regulamento · ID 1192614 · 30/04/2026 · versão Regulamento30/04/2026 · p. 20 · AnexoI10.2(vi)–(xiii) · https://fnet.bmfbovespa.com.br/fnet/publico/visualizarDocumento?id=1192614</a:t>
            </a:r>
          </a:p>
          <a:p>
            <a:r>
              <a:t>CNPJ 55563624000109 · Quóruns e matérias reservadas · Excerto da fonte:</a:t>
            </a:r>
          </a:p>
          <a:p>
            <a:r>
              <a:t>(vi) alterar as características, vantagens, direitos e obrigações 90% (noventa por cento) do total das Cotas das Cotas; emitidas (vii) alterar critérios e procedimentos para resgate de Cotas mediante dação em pagamento de Cotas da Classe Maioria do total das Cotas emitidas Investida; (viii) aprovar a emissão de novas Cotas fora do Capital Maioria do total das Cotas emitidas</a:t>
            </a:r>
          </a:p>
          <a:p>
            <a:r>
              <a:t>CNPJ 55563624000109 · Quóruns e matérias reservadas · Versão e prevalência: Leitura específica das cláusulas indicadas; condições e conflitos preservados. Seleção documental atual não comprova vigência jurídica por data isolada.</a:t>
            </a:r>
          </a:p>
          <a:p>
            <a:r>
              <a:t>CNPJ 55563624000109 · Quóruns e matérias reservadas · Resumo do histórico: {"count": 2, "dates": ["2025-01-31", "2026-01-31"], "document_count": 2, "sources": [{"document_id": "1178840", "title": "Demonstrações Financeiras", "reference_date": "2026-01-31", "version": "1", "page": 24, "url": "https://fnet.bmfbovespa.com.br/fnet/publico/visualizarDocumento?id=1178840", "sha256": "c458e98664c5c907ddb5a05a94b120bed4e05295b2bfc420f5ba69af0a229abe"}, {"document_id": "891861", "title": "Demonstrações Financeiras", "reference_date": "2025-01-31", "version": "1", "page": 25, "url": "https://fnet.bmfbovespa.com.br/fnet/publico/visualizarDocumento?id=891861", "sha256": "e9cb9e6ddbe505fe068cfcac33605165a98313489de0d3ce6d4d238263c3f3e7"}], "reference": {"path": "history/55563624000109.json", "criterion_id": "quorum", "total_count": 2, "preview_count": 2, "full_text_deferred": true, "sha256": "7835d573fb58a3c19adf5b8ecc2aee2bdbb9a88f7a0c0209b5f262b64c7522e3"}}</a:t>
            </a:r>
          </a:p>
          <a:p>
            <a:r>
              <a:t>CNPJ 62552447000120 · Quóruns e matérias reservadas · Regulamento · ID 1200623 · 21/05/2026 · versão Consolidado21/05/2026 aprovado pelo ato1200625 · p. 21 · AnexoI10.2(i)–(x) · https://fnet.bmfbovespa.com.br/fnet/publico/visualizarDocumento?id=1200623</a:t>
            </a:r>
          </a:p>
          <a:p>
            <a:r>
              <a:t>CNPJ 62552447000120 · Quóruns e matérias reservadas · Excerto da fonte:</a:t>
            </a:r>
          </a:p>
          <a:p>
            <a:r>
              <a:t>10.2 Os seguintes quóruns deverão ser observados pela Assembleia Especial ao deliberar as matérias abaixo: Matéria Quórum (i) deliberar sobre substituição de Prestadores de Serviços Unanimidade dos Cotistas Essenciais, observado o disposto no art. 70, §1º da Parte Geral da Resolução CVM 175, quando aplicável; (ii) deliberar sobre elevação da Taxa Global, inclusive na Unanimidade dos Cotistas hipótese de restabelecimento de taxa que tenha sido objeto de redução; (iii) delibera</a:t>
            </a:r>
          </a:p>
          <a:p>
            <a:r>
              <a:t>CNPJ 62552447000120 · Quóruns e matérias reservadas · Versão e prevalência: Leitura específica das cláusulas indicadas; condições e conflitos preservados. Seleção documental atual não comprova vigência jurídica por data isolada.</a:t>
            </a:r>
          </a:p>
          <a:p>
            <a:r>
              <a:t>CNPJ 63953620000165 · Quóruns e matérias reservadas · Anexo ao Regulamento · ID 1222863 · 02/06/2026 · versão AnexoConsignadoPrivado02/06/2026 · p. 13 · 10.2(ii)–(xvii) · https://fnet.bmfbovespa.com.br/fnet/publico/visualizarDocumento?id=1222863</a:t>
            </a:r>
          </a:p>
          <a:p>
            <a:r>
              <a:t>CNPJ 63953620000165 · Quóruns e matérias reservadas · Excerto da fonte:</a:t>
            </a:r>
          </a:p>
          <a:p>
            <a:r>
              <a:t>10.2 Os seguintes quóruns deverão ser observados pela Assembleia Especial de Cotistas ao deliberar as matérias abaixo: Matéria Quórum (i) deliberar sobre as demonstrações contábeis da Classe; Maioria das Cotas presentes (ii) alterar o presente Anexo; Maioria das Cotas de cada Subclasse (iii) deliberar sobre substituição de Prestadores de Serviços Maioria das Cotas da Classe Essenciais, observado o disposto no Artigo 70, §1º da parte geral da R</a:t>
            </a:r>
          </a:p>
          <a:p>
            <a:r>
              <a:t>CNPJ 63953620000165 · Quóruns e matérias reservadas · Anexo ao Regulamento · ID 1222863 · 02/06/2026 · versão AnexoConsignadoPrivado02/06/2026 · p. 14 · 10.5–10.8 · https://fnet.bmfbovespa.com.br/fnet/publico/visualizarDocumento?id=1222863</a:t>
            </a:r>
          </a:p>
          <a:p>
            <a:r>
              <a:t>CNPJ 63953620000165 · Quóruns e matérias reservadas · Excerto da fonte:</a:t>
            </a:r>
          </a:p>
          <a:p>
            <a:r>
              <a:t>10.5 Caso a matéria em deliberação resulte ou possa resultar em uma redução do Índice de Subordinação de uma determinada Subclasse, somente podem votar os titulares de Subclasses de Cotas Seniores. 10.6 As deliberações que tenham por objeto alterações de Benchmark apenas serão aprovadas se assim deliberado: (i) pelos votos dos titulares da maioria das Cotas Seniores cujo Benchmark é alterado; e (ii) pelos votos dos titulares da maioria das Cotas Subordinadas em circulação. 10.7 As deliberações que tenham por objeto o aumento do Índice de Subordinação Sênior estão sujeitas à aprovação da maioria simples dos votos dos titu</a:t>
            </a:r>
          </a:p>
          <a:p>
            <a:r>
              <a:t>CNPJ 63953620000165 · Quóruns e matérias reservadas · Condição: 10.7/10.8 repetem aumento do índice com quóruns distintos; interpretar regra específica demandará resolver conflito, sem presumir uma aprovação.</a:t>
            </a:r>
          </a:p>
          <a:p>
            <a:r>
              <a:t>CNPJ 63953620000165 · Quóruns e matérias reservadas · Versão e prevalência: Leitura específica das cláusulas indicadas; condições e conflitos preservados. Seleção documental atual não comprova vigência jurídica por data isolada.</a:t>
            </a:r>
          </a:p>
          <a:p>
            <a:r>
              <a:t>CNPJ 63953620000165 · Quóruns e matérias reservadas · Resumo do histórico: {"count": 7, "dates": ["2026-04-28", "2026-05-08", "2026-05-15"], "document_count": 3, "sources": [{"document_id": "1327859", "title": "Demonstrações Financeiras - Fusão, cisão e incorporação", "reference_date": "2026-05-15", "version": "1", "page": 10, "url": "https://fnet.bmfbovespa.com.br/fnet/publico/visualizarDocumento?id=1327859", "sha256": "dca1c68babb97f887528c3e2e47596a9c30f507b067981a35655b2f2da9c8054"}, {"document_id": "1298691", "title": "Demonstrações Financeiras - Fusão, cisão e incorporação", "reference_date": "2026-05-08", "version": "1", "page": 10, "url": "https://fnet.bmfbovespa.com.br/fnet/publico/visualizarDocumento?id=1298691", "sha256": "58c570d9b8d4d265330d3db3ea81c435b8e44a6dab4002aa37790652a1ee9819"}, {"document_id": "1205431", "title": "AGE", "reference_date": "2026-04-28", "version": "1", "page": 1, "url": "https://fnet.bmfbovespa.com.br/fnet/publico/visualizarDocumento?id=1205431", "sha256": "e0b59c701c5d0dbf60de698ea7664d442240863b7043bacdb334ce484188b2ac"}], "reference": {"path": "history/63953620000165.json", "criterion_id": "quorum", "total_count": 7, "preview_count": 3, "full_text_deferred": true, "sha256": "a7b89077f5e21098c2d601c303faabc3ff6b9729f89d8afecdc60fe1404720c1"}}</a:t>
            </a:r>
          </a:p>
          <a:p>
            <a:r>
              <a:t>CNPJ 54871427000194 · Partes relacionadas e conflitos · Regulamento · ID 670691 · 2024-04-28 · versão 1 · p. 11 · 4.10 · https://fnet.bmfbovespa.com.br/fnet/publico/visualizarDocumento?id=670691</a:t>
            </a:r>
          </a:p>
          <a:p>
            <a:r>
              <a:t>CNPJ 54871427000194 · Partes relacionadas e conflitos · Excerto da fonte:</a:t>
            </a:r>
          </a:p>
          <a:p>
            <a:r>
              <a:t>4.10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54871427000194 · Partes relacionadas e conflitos · Regulamento · ID 670691 · 2024-04-28 · versão 1 · p. 11 · 4.11 · https://fnet.bmfbovespa.com.br/fnet/publico/visualizarDocumento?id=670691</a:t>
            </a:r>
          </a:p>
          <a:p>
            <a:r>
              <a:t>CNPJ 54871427000194 · Partes relacionadas e conflitos · Excerto da fonte:</a:t>
            </a:r>
          </a:p>
          <a:p>
            <a:r>
              <a:t>4.11 A Classe poderá, direta ou indiretamente e, nos termos da legislação aplicável: (i) adquirir Direitos  Creditórios que sejam cedidos e/ou originados pelo ADMINISTRADOR e/ou pelo GESTOR, ou partes  a eles relacionadas, tal como definidas pelas regras contábeis que tratam desse assunto; e (ii) ceder  Direitos Creditórios a qualquer das pessoas, fundos de investimento ou entidades referidas no item (i)  acima, desde que (i) o ADMINISTRADOR, GESTOR, a entidade registradora e o CUSTODIANTE de  Direitos Creditórios não sejam partes relacionadas entre si; e (ii) a entidade registradora e o  CUSTODIANTE dos Direitos Creditórios não sejam partes relacionadas ao originador ou Cedente.</a:t>
            </a:r>
          </a:p>
          <a:p>
            <a:r>
              <a:t>CNPJ 54871427000194 · Partes relacionadas e conflitos · Regulamento · ID 670691 · 2024-04-28 · versão 1 · p. 25 · 12.21 · https://fnet.bmfbovespa.com.br/fnet/publico/visualizarDocumento?id=670691</a:t>
            </a:r>
          </a:p>
          <a:p>
            <a:r>
              <a:t>CNPJ 54871427000194 · Partes relacionadas e conflitos · Excerto da fonte:</a:t>
            </a:r>
          </a:p>
          <a:p>
            <a:r>
              <a:t>12.21 O GESTOR, em nome da Classe, poderá contratar um ou mais terceiros para a prestação de serviços  de Agente de Cobrança de Direitos Creditórios Inadimplidos, os quais poderão ser partes relacionadas  ou integrar o grupo do ADMINISTRADOR ou dos demais prestadores de serviços da Classe. ] Serão  atribuições do Agente de Cobrança, observado o disposto neste Regulamento e na regulamentação  aplicável:</a:t>
            </a:r>
          </a:p>
          <a:p>
            <a:r>
              <a:t>(i) sempre que necessário, notificar os Devedores sobre a cessão dos Direitos Creditórios à  Classe, nos termos do Art. 290 do Código Civil;</a:t>
            </a:r>
          </a:p>
          <a:p>
            <a:r>
              <a:t>(ii) sempre que solicitado pelo ADMINISTRADOR e/ou pelo GESTOR, reportar ao  ADMINISTRADOR e ao GESTOR as ações tomadas e/ou eventos relevantes ocorridos no  âmbito da cobrança, seja judicial ou extrajudicial, dos Direitos Creditórios Inadimplidos, bem  como o estado de ref erida cobrança;</a:t>
            </a:r>
          </a:p>
          <a:p>
            <a:r>
              <a:t>(iii) comparecer à Assembleia Especial de Cotistas quando assim requerido pelo  ADMINISTRADOR;</a:t>
            </a:r>
          </a:p>
          <a:p>
            <a:r>
              <a:t>(iv) conf irmar o recebimento dos boletos bancários de cobrança enviados aos Devedores, se  aplicável;</a:t>
            </a:r>
          </a:p>
          <a:p>
            <a:r>
              <a:t>(v) controlar, coordenar, gerir e f iscalizar as ações de cobrança de Direitos Creditórios  Inadimplidos;</a:t>
            </a:r>
          </a:p>
          <a:p>
            <a:r>
              <a:t>(vi) adotar, em nome e por conta da Classe, todos os procedimentos de cobrança dos Direitos  Creditórios Inadimplidos de titularidade da Classe;</a:t>
            </a:r>
          </a:p>
          <a:p>
            <a:r>
              <a:t>(vii) conf orme o caso, ef etuar a inclusão ou exclusão do nome de quaisquer Devedores dos  Direitos Creditórios Inadimplidos no registro negativo de órgãos e/ou sistemas de informação  e proteção ao crédito; e</a:t>
            </a:r>
          </a:p>
          <a:p>
            <a:r>
              <a:t>(viii) conduzir, por si ou por meio dos assessores legais contratados para esse f im, processo  administrativo, judicial e/ou arbitral contra os Devedores, incluindo, ainda, a excussão de  eventuais garantias acessórias aos Direitos Creditórios.</a:t>
            </a:r>
          </a:p>
          <a:p>
            <a:r>
              <a:t>CNPJ 54871427000194 · Partes relacionadas e conflitos · Condição: Documentos atuais selecionados no inventário por categoria/escopo; a data documental isolada não comprova vigência jurídica.</a:t>
            </a:r>
          </a:p>
          <a:p>
            <a:r>
              <a:t>CNPJ 54871427000194 · Partes relacionadas e conflitos · Versão e prevalência: Documentos atuais selecionados no inventário por categoria/escopo; a data documental isolada não comprova vigência jurídica.</a:t>
            </a:r>
          </a:p>
          <a:p>
            <a:r>
              <a:t>CNPJ 54871427000194 · Partes relacionadas e conflitos · Resumo do histórico: {"count": 1, "dates": ["2024-04-19"], "document_count": 1, "sources": [{"document_id": "670689", "title": "Regulamento", "reference_date": "2024-04-19", "version": "1", "page": 11, "clause": "4.10", "url": "https://fnet.bmfbovespa.com.br/fnet/publico/visualizarDocumento?id=670689", "sha256": "891bc9bc5d87bbc02ec139077a84d2702eb81ea02035fb71d24f5b8366b94a0b"}], "reference": {"path": "history/54871427000194.json", "criterion_id": "related_parties", "total_count": 1, "preview_count": 1, "full_text_deferred": true, "sha256": "35d7cd99be50c7287c9fb675cf4f2e736002315295a225a9efa79c8d9186d874"}}</a:t>
            </a:r>
          </a:p>
          <a:p>
            <a:r>
              <a:t>CNPJ 60010416000112 · Partes relacionadas e conflitos · Regulamento · ID 1051393 · 2025-10-09 · versão 1 · p. 12 · 4.8 · https://fnet.bmfbovespa.com.br/fnet/publico/visualizarDocumento?id=1051393</a:t>
            </a:r>
          </a:p>
          <a:p>
            <a:r>
              <a:t>CNPJ 60010416000112 · Partes relacionadas e conflitos · Excerto da fonte:</a:t>
            </a:r>
          </a:p>
          <a:p>
            <a:r>
              <a:t>4.8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60010416000112 · Partes relacionadas e conflitos · Regulamento · ID 1051393 · 2025-10-09 · versão 1 · p. 12 · 4.9 · https://fnet.bmfbovespa.com.br/fnet/publico/visualizarDocumento?id=1051393</a:t>
            </a:r>
          </a:p>
          <a:p>
            <a:r>
              <a:t>CNPJ 60010416000112 · Partes relacionadas e conflitos · Excerto da fonte:</a:t>
            </a:r>
          </a:p>
          <a:p>
            <a:r>
              <a:t>4.9 Sem prejuízo de limites mais restritivos definidos neste Regulamento, o Gestor deverá observar, ainda, os  seguintes limites de concentração para a composição da Carteira:</a:t>
            </a:r>
          </a:p>
          <a:p>
            <a:r>
              <a:t> (i ) Até 100% (cem por cento) da parcela do Patrimônio Líquido investida em Ativos  Financeiros de Liquidez poderá ser alocada em Ativos Financeiros de Liquidez de  emissão ou que envolvam retenção de risco por parte do Administrador, Gestor, e/ou  suas partes relacionadas; e</a:t>
            </a:r>
          </a:p>
          <a:p>
            <a:r>
              <a:t> (ii) Até 100% (cem por cento) da parcela do Patrimônio Líquido investida em operações  com derivativos poderá ser alocada em derivativos nos quais, inexistindo contraparte  central, se tenha como contraparte o Gestor e/ou suas partes relacionadas.</a:t>
            </a:r>
          </a:p>
          <a:p>
            <a:r>
              <a:t>CNPJ 60010416000112 · Partes relacionadas e conflitos · Regulamento · ID 1051393 · 2025-10-09 · versão 1 · p. 12 · 4.12.1 · https://fnet.bmfbovespa.com.br/fnet/publico/visualizarDocumento?id=1051393</a:t>
            </a:r>
          </a:p>
          <a:p>
            <a:r>
              <a:t>CNPJ 60010416000112 · Partes relacionadas e conflitos · Excerto da fonte:</a:t>
            </a:r>
          </a:p>
          <a:p>
            <a:r>
              <a:t>4.12.1. Após o término do Período de Investimento, a Classe utilizará os recursos provenientes do  pagamento dos Direitos Creditórios e demais aplicações para amortização das Cotas, observada  a ordem de alocação de recursos def inida no Capítulo 7 abaixo.</a:t>
            </a:r>
          </a:p>
          <a:p>
            <a:r>
              <a:t>Regras, procedimentos e limites para efetuar cessão de direitos creditórios para o cedente e suas partes relacionadas</a:t>
            </a:r>
          </a:p>
          <a:p>
            <a:r>
              <a:t>CNPJ 60010416000112 · Partes relacionadas e conflitos · Condição: Documentos atuais selecionados no inventário por categoria/escopo; a data documental isolada não comprova vigência jurídica.</a:t>
            </a:r>
          </a:p>
          <a:p>
            <a:r>
              <a:t>CNPJ 60010416000112 · Partes relacionadas e conflitos · Versão e prevalência: Documentos atuais selecionados no inventário por categoria/escopo; a data documental isolada não comprova vigência jurídica.</a:t>
            </a:r>
          </a:p>
          <a:p>
            <a:r>
              <a:t>CNPJ 60010416000112 · Partes relacionadas e conflitos · Resumo do histórico: {"count": 1, "dates": ["2025-03-20"], "document_count": 1, "sources": [{"document_id": "993786", "title": "Regulamento", "reference_date": "2025-03-20", "version": "1", "page": 12, "clause": "4.8", "url": "https://fnet.bmfbovespa.com.br/fnet/publico/visualizarDocumento?id=993786", "sha256": "fd0fdd369a195510d81f81f505195a0b09e5f43522a990afa7d58c4f872921c8"}], "reference": {"path": "history/60010416000112.json", "criterion_id": "related_parties", "total_count": 1, "preview_count": 1, "full_text_deferred": true, "sha256": "8e2bd813f4c51cf01f6bfaad164bafe69d2bbb192f753eac92da3a01c2e63046"}}</a:t>
            </a:r>
          </a:p>
          <a:p>
            <a:r>
              <a:t>CNPJ 62696791000193 · Partes relacionadas e conflitos · Regulamento · ID 1143317 · 2026-03-20 · versão 1 · p. 12 · 4.10 · https://fnet.bmfbovespa.com.br/fnet/publico/visualizarDocumento?id=1143317</a:t>
            </a:r>
          </a:p>
          <a:p>
            <a:r>
              <a:t>CNPJ 62696791000193 · Partes relacionadas e conflitos · Excerto da fonte:</a:t>
            </a:r>
          </a:p>
          <a:p>
            <a:r>
              <a:t>4.10 Sem prejuízo de limites mais restritivos definidos neste Anexo, o Gestor deverá observar, ainda, os  seguintes limites de concentração:</a:t>
            </a:r>
          </a:p>
          <a:p>
            <a:r>
              <a:t> (i) A Classe poderá, direta ou indiretamente, ter até 100% (cem por cento) do Patrimônio  Líquido representado por Direitos Creditórios do Agronegócio originados ou cedidos  pelo Administrador, Gestor e/ou suas partes relacionadas, tal como definidas pelas  regras contábeis que tratam desse assunto, desde que (a) o Gest or, a entidade  registradora e o Custodiante dos Direitos Creditórios do Agronegócio não sejam partes  relacionadas entre si; e (b) a entidade registradora e o Custodiante dos Direitos  Creditórios do Agronegócio não sejam partes relacionadas ao originador ou Cedente.</a:t>
            </a:r>
          </a:p>
          <a:p>
            <a:r>
              <a:t> (ii) No máximo, 100% (cem por cento) do Patrimônio Líquido investido em Ativos  Financeiros de Liquidez de emissão ou que envolvam retenção de risco por parte do  Administrador, Gestor, e/ou suas partes relacionadas, observado ainda o disposto no  item Error! Reference source not found.;</a:t>
            </a:r>
          </a:p>
          <a:p>
            <a:r>
              <a:t> (iii) No máximo, 100% (cem por cento) do Patrimônio Líquido investido em operações com  derivativos nos quais, inexistindo contraparte central, se tenha como contraparte o  Gestor, e/ou suas partes relacionadas, observado ainda o disposto no item Error!  Reference source not found.;</a:t>
            </a:r>
          </a:p>
          <a:p>
            <a:r>
              <a:t> (iv) No máximo, 100% (cem por cento) do Patrimônio Líquido em cotas de uma mesma  classe;</a:t>
            </a:r>
          </a:p>
          <a:p>
            <a:r>
              <a:t> (v) É vedada a aquisição de precatórios f ederais.</a:t>
            </a:r>
          </a:p>
          <a:p>
            <a:r>
              <a:t> (vi) No máximo, 49% (quarenta e nove por cento) do Patrimônio Líquido em Ativos  Imobiliários do Agronegócio;</a:t>
            </a:r>
          </a:p>
          <a:p>
            <a:r>
              <a:t> (vii) No máximo, 49% (quarenta e nove por cento) do Patrimônio Líquido em Participações  do Agronegócio;</a:t>
            </a:r>
          </a:p>
          <a:p>
            <a:r>
              <a:t> (viii) No máximo, 49% (quarenta e nove por cento) do Patrimônio Líquido em Ativos  Financeiros do Agronegócio; e</a:t>
            </a:r>
          </a:p>
          <a:p>
            <a:r>
              <a:t> (ix) No máximo, 49% (quarenta e nove por cento) do Patrimônio Líquido em Ativos em Geral  do Agronegócio;</a:t>
            </a:r>
          </a:p>
          <a:p>
            <a:r>
              <a:t> Ativos Recuperados</a:t>
            </a:r>
          </a:p>
          <a:p>
            <a:r>
              <a:t>CNPJ 62696791000193 · Partes relacionadas e conflitos · Regulamento · ID 1143317 · 2026-03-20 · versão 1 · p. 11 · 4.8 · https://fnet.bmfbovespa.com.br/fnet/publico/visualizarDocumento?id=1143317</a:t>
            </a:r>
          </a:p>
          <a:p>
            <a:r>
              <a:t>CNPJ 62696791000193 · Partes relacionadas e conflitos · Excerto da fonte:</a:t>
            </a:r>
          </a:p>
          <a:p>
            <a:r>
              <a:t>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relacionadas ao Gestor.</a:t>
            </a:r>
          </a:p>
          <a:p>
            <a:r>
              <a:t>CNPJ 62696791000193 · Partes relacionadas e conflitos · Regulamento · ID 1143317 · 2026-03-20 · versão 1 · p. 14 · 4.21.1 · https://fnet.bmfbovespa.com.br/fnet/publico/visualizarDocumento?id=1143317</a:t>
            </a:r>
          </a:p>
          <a:p>
            <a:r>
              <a:t>CNPJ 62696791000193 · Partes relacionadas e conflitos · Excerto da fonte:</a:t>
            </a:r>
          </a:p>
          <a:p>
            <a:r>
              <a:t>4.21.1 Sem prejuízo do disposto acima, poderá ser contratado terceiro especializado para o  gerenciamento das obras, para controle dos desembolsos, conforme medições durante a etapa  de desenvolvimento e construção dos Ativos Imobiliários do Agronegócio, sendo certo que,  caso haja a contratação de terceiros em situação de conflito de interesses, deverá ser aprovado  em assembleia de Cotistas.</a:t>
            </a:r>
          </a:p>
          <a:p>
            <a:r>
              <a:t>CNPJ 62696791000193 · Partes relacionadas e conflitos · Condição: Documentos atuais selecionados no inventário por categoria/escopo; a data documental isolada não comprova vigência jurídica.</a:t>
            </a:r>
          </a:p>
          <a:p>
            <a:r>
              <a:t>CNPJ 62696791000193 · Partes relacionadas e conflitos · Versão e prevalência: Documentos atuais selecionados no inventário por categoria/escopo; a data documental isolada não comprova vigência jurídica.</a:t>
            </a:r>
          </a:p>
          <a:p>
            <a:r>
              <a:t>CNPJ 55563624000109 · Partes relacionadas e conflitos · Regulamento · ID 1192614 · 2026-04-30 · versão 1 · p. 13 · 4.12.1 · https://fnet.bmfbovespa.com.br/fnet/publico/visualizarDocumento?id=1192614</a:t>
            </a:r>
          </a:p>
          <a:p>
            <a:r>
              <a:t>CNPJ 55563624000109 · Partes relacionadas e conflitos · Excerto da fonte:</a:t>
            </a:r>
          </a:p>
          <a:p>
            <a:r>
              <a:t>4.12.1 A Classe poderá ter até 100% (cem por cento) do Patrimônio Líquido representado por Cotas da Classe  Investida administrados pelo ADMINISTRADOR, e geridos ou cogeridos pelo GESTOR e/ou suas partes  relacionadas.</a:t>
            </a:r>
          </a:p>
          <a:p>
            <a:r>
              <a:t> Revolvência da Carteira</a:t>
            </a:r>
          </a:p>
          <a:p>
            <a:r>
              <a:t>CNPJ 55563624000109 · Partes relacionadas e conflitos · Regulamento · ID 1192614 · 2026-04-30 · versão 1 · p. 28 · 13.2 · https://fnet.bmfbovespa.com.br/fnet/publico/visualizarDocumento?id=1192614</a:t>
            </a:r>
          </a:p>
          <a:p>
            <a:r>
              <a:t>CNPJ 55563624000109 · Partes relacionadas e conflitos · Excerto da fonte:</a:t>
            </a:r>
          </a:p>
          <a:p>
            <a:r>
              <a:t>13.2 Em condições ordinárias, as Cotas da Classe Investida não pagarão remuneração aos prestadores de serviços  essenciais da Classe Investida, nos termos de seu regulamento. Não obstante, em cenário extraordinário  conforme descrito no item 15.1.1 (iii), e para fins de atendimento ao artigo 98 da parte geral da Resolução CVM  175, a taxa máxima de administração corresponderá ao valor da Taxa Mínima de Administração acrescida de até  0,10% (dez centésimos por cento) ao ano incidente sobre o patrimônio líquido da Classe Investida,  compreendendo a taxa de administração da Classe Investida geridos por partes relacionadas ao GESTOR, cujas  cotas não estão admitidas à negociação em mercado organizado, conforme prevista no regulamento da Classe  Investida (“Taxa Máxima de Administração” e, quando referida em conjunto com a Taxa Mínima de  Administração, como “Taxa de Administração”). Caso a taxa de administração da Classe Investida não se  enquadre no disposto acima, estará disposta no regulamento da Classe Investida.</a:t>
            </a:r>
          </a:p>
          <a:p>
            <a:r>
              <a:t>CNPJ 55563624000109 · Partes relacionadas e conflitos · Regulamento · ID 1192614 · 2026-04-30 · versão 1 · p. 37 · https://fnet.bmfbovespa.com.br/fnet/publico/visualizarDocumento?id=1192614</a:t>
            </a:r>
          </a:p>
          <a:p>
            <a:r>
              <a:t>CNPJ 55563624000109 · Partes relacionadas e conflitos · Excerto da fonte:</a:t>
            </a:r>
          </a:p>
          <a:p>
            <a:r>
              <a:t>(ix) Possibilidade de conflito de interesses. As Cotas poderão ser adquiridas por investidores que  sejam partes relacionadas à Classe Investida ou aos prestadores de serviços da Classe Investida. Nessa  hipótese, poderá haver situações de conflito de interesses entre os interesses desses investidores e o  interesse dos demais Cotistas, podendo qualquer desses investidores, inclusive, aprovar deliberações  contrárias aos interesses dos demais Cotistas caso sejam titulares da maioria das Cotas presentes às  Assembleias de Cotistas.</a:t>
            </a:r>
          </a:p>
          <a:p>
            <a:r>
              <a:t>CNPJ 55563624000109 · Partes relacionadas e conflitos · Condição: Documentos atuais selecionados no inventário por categoria/escopo; a data documental isolada não comprova vigência jurídica.</a:t>
            </a:r>
          </a:p>
          <a:p>
            <a:r>
              <a:t>CNPJ 55563624000109 · Partes relacionadas e conflitos · Versão e prevalência: Documentos atuais selecionados no inventário por categoria/escopo; a data documental isolada não comprova vigência jurídica.</a:t>
            </a:r>
          </a:p>
          <a:p>
            <a:r>
              <a:t>CNPJ 55563624000109 · Partes relacionadas e conflitos · Resumo do histórico: {"count": 2, "dates": ["2025-01-31", "2026-01-31"], "document_count": 2, "sources": [{"document_id": "1178840", "title": "Demonstrações Financeiras", "reference_date": "2026-01-31", "version": "1", "page": 23, "url": "https://fnet.bmfbovespa.com.br/fnet/publico/visualizarDocumento?id=1178840", "sha256": "c458e98664c5c907ddb5a05a94b120bed4e05295b2bfc420f5ba69af0a229abe"}, {"document_id": "891861", "title": "Demonstrações Financeiras", "reference_date": "2025-01-31", "version": "1", "page": 23, "url": "https://fnet.bmfbovespa.com.br/fnet/publico/visualizarDocumento?id=891861", "sha256": "e9cb9e6ddbe505fe068cfcac33605165a98313489de0d3ce6d4d238263c3f3e7"}], "reference": {"path": "history/55563624000109.json", "criterion_id": "related_parties", "total_count": 2, "preview_count": 2, "full_text_deferred": true, "sha256": "7835d573fb58a3c19adf5b8ecc2aee2bdbb9a88f7a0c0209b5f262b64c7522e3"}}</a:t>
            </a:r>
          </a:p>
          <a:p>
            <a:r>
              <a:t>CNPJ 62552447000120 · Partes relacionadas e conflitos · Regulamento · ID 1200623 · 2026-05-21 · versão 1 · p. 14 · 4.10 · https://fnet.bmfbovespa.com.br/fnet/publico/visualizarDocumento?id=1200623</a:t>
            </a:r>
          </a:p>
          <a:p>
            <a:r>
              <a:t>CNPJ 62552447000120 · Partes relacionadas e conflitos · Excerto da fonte:</a:t>
            </a:r>
          </a:p>
          <a:p>
            <a:r>
              <a:t>4.10 Nos termos do art. 45, §7º, inciso II, do Anexo Normativo II, a Classe poderá ter até 100% (cem por  cento) de seu Patrimônio Líquido alocado em Direitos Creditórios, derivativos, observado o disposto  abaixo,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62552447000120 · Partes relacionadas e conflitos · Regulamento · ID 1200623 · 2026-05-21 · versão 1 · p. 14 · 4.11 · https://fnet.bmfbovespa.com.br/fnet/publico/visualizarDocumento?id=1200623</a:t>
            </a:r>
          </a:p>
          <a:p>
            <a:r>
              <a:t>CNPJ 62552447000120 · Partes relacionadas e conflitos · Excerto da fonte:</a:t>
            </a:r>
          </a:p>
          <a:p>
            <a:r>
              <a:t>4.11 Sem prejuízo de limites mais restritivos definidos neste Regulamento, o Gestor deverá observar, ainda,  os seguintes limites de concentração para a composição da Carteira:</a:t>
            </a:r>
          </a:p>
          <a:p>
            <a:r>
              <a:t> (i) Até 100% (cem por cento) da parcela do Patrimônio Líquido investida em Direitos  Creditórios poderão ser alocados em Direitos Creditórios originados ou cedidos pelo  Administrador, Gestor e/ou suas partes relacionadas, tal como definidas pelas regras  contábeis que tratam desse assunto . A Classe também poderá ceder Direitos  Creditórios a qualquer das pessoas, f undos de investimento ou entidades ref eridas  acima, desde que a entidade registradora e o Custodiante dos Direitos Creditórios não  sejam partes relacionadas ao Originador ou Endossante;</a:t>
            </a:r>
          </a:p>
          <a:p>
            <a:r>
              <a:t> (ii) Até 100% (cem por cento) da parcela do Patrimônio Líquido investida em Ativos  Financeiros poderão ser alocados em Ativos Financeiros de emissão ou que envolvam  retenção de risco por parte do Administrador, Gestor e/ou suas partes relacionadas; e</a:t>
            </a:r>
          </a:p>
          <a:p>
            <a:r>
              <a:t> (iii) Até 100% (cem por cento) da parcela do Patrimônio Líquido investida em operações  com derivativos poderão ser alocados em operações com derivativos nas quais,  inexistindo contraparte central, se tenha como contraparte o Gestor e/ou suas partes  relacionadas.</a:t>
            </a:r>
          </a:p>
          <a:p>
            <a:r>
              <a:t>CNPJ 62552447000120 · Partes relacionadas e conflitos · Regulamento · ID 1200623 · 2026-05-21 · versão 1 · p. 15 · 4.18 · https://fnet.bmfbovespa.com.br/fnet/publico/visualizarDocumento?id=1200623</a:t>
            </a:r>
          </a:p>
          <a:p>
            <a:r>
              <a:t>CNPJ 62552447000120 · Partes relacionadas e conflitos · Excerto da fonte:</a:t>
            </a:r>
          </a:p>
          <a:p>
            <a:r>
              <a:t>4.18 Ainda que integrem a Carteira, os Ativos Recuperados não serão, sob qualquer hipótese, adquiridos  como parte da Política de Investimento, de forma que serão de sua propriedade exclusivamente, não  devendo, portanto, ser contabilizados para f ins de enquadramento da Classe.</a:t>
            </a:r>
          </a:p>
          <a:p>
            <a:r>
              <a:t>Regras, procedimentos e limites para efetuar qualquer modalidade de transferência dos Direitos Creditórios, incluindo, sem limitação, endosso (“Transferência”) para o Endossante e suas partes relacionadas</a:t>
            </a:r>
          </a:p>
          <a:p>
            <a:r>
              <a:t>CNPJ 62552447000120 · Partes relacionadas e conflitos · Condição: Documentos atuais selecionados no inventário por categoria/escopo; a data documental isolada não comprova vigência jurídica.</a:t>
            </a:r>
          </a:p>
          <a:p>
            <a:r>
              <a:t>CNPJ 62552447000120 · Partes relacionadas e conflitos · Versão e prevalência: Documentos atuais selecionados no inventário por categoria/escopo; a data documental isolada não comprova vigência jurídica.</a:t>
            </a:r>
          </a:p>
          <a:p>
            <a:r>
              <a:t>CNPJ 63953620000165 · Partes relacionadas e conflitos · Anexo ao Regulamento · ID 1222863 · 2026-06-02 · versão 1 · p. 6 · 4.14 · https://fnet.bmfbovespa.com.br/fnet/publico/visualizarDocumento?id=1222863</a:t>
            </a:r>
          </a:p>
          <a:p>
            <a:r>
              <a:t>CNPJ 63953620000165 · Partes relacionadas e conflitos · Excerto da fonte:</a:t>
            </a:r>
          </a:p>
          <a:p>
            <a:r>
              <a:t>4.14 Nos termos do Art. 45, §7º, inciso II, do Anexo Normativo II da Resolução CVM 175, a Classe poderá ter até 100%  (cem por cento) de seu Patrimônio Líquido alocado em Direitos Creditórios, derivativos, observado o disposto  neste Anexo I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63953620000165 · Partes relacionadas e conflitos · Anexo ao Regulamento · ID 1222863 · 2026-06-02 · versão 1 · p. 8 · 4.21 · https://fnet.bmfbovespa.com.br/fnet/publico/visualizarDocumento?id=1222863</a:t>
            </a:r>
          </a:p>
          <a:p>
            <a:r>
              <a:t>CNPJ 63953620000165 · Partes relacionadas e conflitos · Excerto da fonte:</a:t>
            </a:r>
          </a:p>
          <a:p>
            <a:r>
              <a:t>4.21 Ainda que integrem a carteira da Classe, os Ativos Recuperados não serão, sob qualquer hipótese, adquiridos  como parte da Política de Investimento da Classe, de forma que serão de sua propriedade exclusivamente, não  devendo, portanto, ser contabilizados para fins de enquadramento da Classe.</a:t>
            </a:r>
          </a:p>
          <a:p>
            <a:r>
              <a:t> Regras, procedimentos e limites para efetuar o Endosso de Direitos Creditórios Crédito Consignado para o Endossante e  suas partes relacionadas</a:t>
            </a:r>
          </a:p>
          <a:p>
            <a:r>
              <a:t>CNPJ 63953620000165 · Partes relacionadas e conflitos · Anexo ao Regulamento · ID 1222863 · 2026-06-02 · versão 1 · p. 7 · https://fnet.bmfbovespa.com.br/fnet/publico/visualizarDocumento?id=1222863</a:t>
            </a:r>
          </a:p>
          <a:p>
            <a:r>
              <a:t>CNPJ 63953620000165 · Partes relacionadas e conflitos · Excerto da fonte:</a:t>
            </a:r>
          </a:p>
          <a:p>
            <a:r>
              <a:t>Anexo I ao Regulamento  CLASSE CONSIGNADO PRIVADO DO MT GLOBAL FUNDO DE INVESTIMENTO EM DIREITOS  CREDITÓRIOS RESPONSABILIDADE LIMITADA</a:t>
            </a:r>
          </a:p>
          <a:p>
            <a:r>
              <a:t> (i)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 (ii) No máximo, 50% (cinquenta por cento) do Patrimônio Líquido investido em Ativos Financeiros  de Liquidez de emissão ou que envolvam retenção de risco por parte do Administrador, Gestor,  e/ou suas partes relacionadas, observado ainda o disposto acima;</a:t>
            </a:r>
          </a:p>
          <a:p>
            <a:r>
              <a:t> (iii) No máximo, 100% (cem por cento) do Patrimônio Líquido investido em operações com  derivativos nos quais, inexistindo contraparte central, se tenha como contraparte o Gestor,  Consultora e/ou suas partes relacionadas, observado ainda o disposto acima;</a:t>
            </a:r>
          </a:p>
          <a:p>
            <a:r>
              <a:t> (iv) A Classe poderá investir até 100% (cem por cento) de seu Patrimônio Líquido em Direitos  Creditórios Não-Padronizados;</a:t>
            </a:r>
          </a:p>
          <a:p>
            <a:r>
              <a:t> (v) É vedada a aquisição de precatórios federais.</a:t>
            </a:r>
          </a:p>
          <a:p>
            <a:r>
              <a:t>CNPJ 63953620000165 · Partes relacionadas e conflitos · Condição: Documentos atuais selecionados no inventário por categoria/escopo; a data documental isolada não comprova vigência jurídica.</a:t>
            </a:r>
          </a:p>
          <a:p>
            <a:r>
              <a:t>CNPJ 63953620000165 · Partes relacionadas e conflitos · Versão e prevalência: Documentos atuais selecionados no inventário por categoria/escopo; a data documental isolada não comprova vigência jurídica.</a:t>
            </a:r>
          </a:p>
          <a:p>
            <a:r>
              <a:t>CNPJ 54871427000194 · Histórico de alterações materiais · Instrumento Particular de Alteração do Regulamento · ID 670690 · 28/05/2024 · versão Instrumento Particular de Alteração do Regulamento — referência 28/05/2024 · p. 1 · AGC, 4.1–4.2 · https://fnet.bmfbovespa.com.br/fnet/publico/visualizarDocumento?id=670690</a:t>
            </a:r>
          </a:p>
          <a:p>
            <a:r>
              <a:t>CNPJ 54871427000194 · Histórico de alterações materiais · Excerto da fonte:</a:t>
            </a:r>
          </a:p>
          <a:p>
            <a:r>
              <a:t>4.1. A alteração integral do anexo da Classe Única, que compõe o regulamento do Fundo (“Anexo da Classe Única” e “Regulamento”) e seus complementos, para de f orma a alterar a Política de Investimentos da Classe para aquisição de direitos creditórios representados por Certif icados de Cédulas de Crédito Bancário (“CCCBs” e “Direitos Creditórios”), bem como refletir os novos critérios de elegibilidade para aquisição dos Direitos Creditórios, os documentos comprobatórios do lastro e f atores de risco aplicáveis. 4.2. Tendo em vista a aprovação dos itens. acima, deliberaram por aprovar o novo Regulamento Consolidado, que vigorará na forma do Anexo I à presente Ata, o qual terá efeitos retroativos a abertura de 28 de maio de 2024. 4.3. Por f im, por aprovar a Administradora a adotar todas as medidas necessárias para implementação das deliberações acima. 5. ENCERRAMENTO Nada mais havendo a tratar, f oi a reunião encerrada. Rio de Janeiro, 28 de maio de 2024. Mesa: Diego Prado Tassiana Lima Presidente</a:t>
            </a:r>
          </a:p>
          <a:p>
            <a:r>
              <a:t>CNPJ 54871427000194 · Histórico de alterações materiais · Regulamento · ID 670691 · 28/04/2024 · versão Regulamento — referência 28/04/2024 · p. 9 · Regulamento 670691, Anexo I, 4.2 · https://fnet.bmfbovespa.com.br/fnet/publico/visualizarDocumento?id=670691</a:t>
            </a:r>
          </a:p>
          <a:p>
            <a:r>
              <a:t>CNPJ 54871427000194 · Histórico de alterações materiais · Excerto da fonte:</a:t>
            </a:r>
          </a:p>
          <a:p>
            <a:r>
              <a:t>4.2 Os Direitos Creditórios representados por Certif icados de Cédulas de Crédito Bancário (“CCCBs”), representativos de um agrupamento de determinadas CCBs, originadas no âmbito de operações de empréstimos pessoais concedidos por um Endossante a um Devedor, devidamente f ormalizadas por via eletrônica de acordo com a legislação aplicável, segundo os critérios de composição e diversificação estabelecidos pela regulamentação aplicável e neste Regulamento. 4.2.1 Cada Endossante deve ter celebrado convênio com órgão consignante, previamente à cessão de Direitos Creditórios à Classe, que contemplam a obrigação da manutenção da consignação/averbação junto ao novo órgão, de modo a possibilitar o pagamento dos Direitos Creditórios por meio de consignação em f olha de pagamento ou de benef ício . 4.3 Os pagamentos relativos aos Direitos Creditórios de titularidade da Classe serão realizados mediante consignação em folha, débito em conta de titularidade dos Devedores e pagamentos de sinistros, para pagamento dos valores correspondentes às parcelas das CCBs representadas pelos CCCBs de titularidade da Classe, os quais serão conciliados e repassados pelo Endossan</a:t>
            </a:r>
          </a:p>
          <a:p>
            <a:r>
              <a:t>CNPJ 54871427000194 · Histórico de alterações materiais · Condição: A classificação Fundos Net do documento 670690 é “regulamento”, mas seu conteúdo é uma AGC. A divergência de datas impede usar a referência do 670691 como prova autônoma de início de vigência.</a:t>
            </a:r>
          </a:p>
          <a:p>
            <a:r>
              <a:t>CNPJ 54871427000194 · Histórico de alterações materiais · Motivo: Não localizada uma cláusula material para este critério nos textos identificados e processados. A ausência de resultado não comprova inexistência da regra.</a:t>
            </a:r>
          </a:p>
          <a:p>
            <a:r>
              <a:t>CNPJ 54871427000194 · Histórico de alterações materiais · Versão e prevalência: Leitura específica das cláusulas indicadas; condições e conflitos preservados. Seleção documental atual não comprova vigência jurídica por data isolada.</a:t>
            </a:r>
          </a:p>
          <a:p>
            <a:r>
              <a:t>CNPJ 60010416000112 · Histórico de alterações materiais · Demonstrações Financeiras - Fusão, cisão e incorporação · ID 1298690 · 2026-05-08 · versão 1 · p. 30 · https://fnet.bmfbovespa.com.br/fnet/publico/visualizarDocumento?id=1298690</a:t>
            </a:r>
          </a:p>
          <a:p>
            <a:r>
              <a:t>CNPJ 60010416000112 · Histórico de alterações materiais · Excerto da fonte:</a:t>
            </a:r>
          </a:p>
          <a:p>
            <a:r>
              <a:t>Durante o período de investimento, a Administradora poderá deliberar por realizar novas  emissões de Cotas Seniores, sem a necessidade de aprovação em Assembleia Especial de  Cotistas ou alteração do Regulamento, limitadas ao montante máximo de R$ 1.000.000 (um  bilhão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seniores emitidas não sejam superiores aos  prazos de vencimento da primeira emissão.</a:t>
            </a:r>
          </a:p>
          <a:p>
            <a:r>
              <a:t>CNPJ 60010416000112 · Histórico de alterações materiais · Demonstrações Financeiras - Fusão, cisão e incorporação · ID 1298690 · 2026-05-08 · versão 1 · p. 30 · https://fnet.bmfbovespa.com.br/fnet/publico/visualizarDocumento?id=1298690</a:t>
            </a:r>
          </a:p>
          <a:p>
            <a:r>
              <a:t>CNPJ 60010416000112 · Histórico de alterações materiais · Excerto da fonte:</a:t>
            </a:r>
          </a:p>
          <a:p>
            <a:r>
              <a:t>Durante o período de investimento, a Administradora poderá deliberar por realizar novas  emissões de cotas subordinadas, sem a necessidade de aprovação em Assembleia Especial  de Cotistas ou alteração do Regulamento, limitadas ao montante máximo de R$ 50.000  (cinquenta milhões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subordinadas emitidas não sejam  superiores aos prazos de vencimento da primeira emissão.</a:t>
            </a:r>
          </a:p>
          <a:p>
            <a:r>
              <a:t>CNPJ 60010416000112 · Histórico de alterações materiais · Condição: Documentos atuais selecionados no inventário por categoria/escopo; a data documental isolada não comprova vigência jurídica.</a:t>
            </a:r>
          </a:p>
          <a:p>
            <a:r>
              <a:t>CNPJ 60010416000112 · Histórico de alterações materiais · Versão e prevalência: Documentos atuais selecionados no inventário por categoria/escopo; a data documental isolada não comprova vigência jurídica.</a:t>
            </a:r>
          </a:p>
          <a:p>
            <a:r>
              <a:t>CNPJ 60010416000112 · Histórico de alterações materiais · Resumo do histórico: {"count": 5, "dates": ["2025-11-30", "2026-03-18", "2026-04-16"], "document_count": 3, "sources": [{"document_id": "1282181", "title": "Demonstrações Financeiras - Fusão, cisão e incorporação", "reference_date": "2026-04-16", "version": "1", "page": 32, "url": "https://fnet.bmfbovespa.com.br/fnet/publico/visualizarDocumento?id=1282181", "sha256": "b1c6566e43a00bcd00c8a7f30c77b7f86e351bd8e355bbea113f46d1dafda703"}, {"document_id": "1224477", "title": "Demonstrações Financeiras - Fusão, cisão e incorporação", "reference_date": "2026-03-18", "version": "1", "page": 32, "url": "https://fnet.bmfbovespa.com.br/fnet/publico/visualizarDocumento?id=1224477", "sha256": "0751bf0a75bc3b44c2748f5000226665c6ec6698a90c4dc6170b4e6c187759ae"}, {"document_id": "1126154", "title": "Demonstrações Financeiras", "reference_date": "2025-11-30", "version": "1", "page": 32, "url": "https://fnet.bmfbovespa.com.br/fnet/publico/visualizarDocumento?id=1126154", "sha256": "a01e7ccf88c548f12c95cba8526d7efbef6b585c112cd4668eca781c292090b0"}], "reference": {"path": "history/60010416000112.json", "criterion_id": "changes", "total_count": 5, "preview_count": 3, "full_text_deferred": true, "sha256": "8e2bd813f4c51cf01f6bfaad164bafe69d2bbb192f753eac92da3a01c2e63046"}}</a:t>
            </a:r>
          </a:p>
          <a:p>
            <a:r>
              <a:t>CNPJ 62696791000193 · Histórico de alterações materiais · AGE · ID 1143319 · 20/03/2026 10:00 · versão AGE — referência 20/03/2026 10:00 · p. 1 · AGC, 4.1(a)–(c) · https://fnet.bmfbovespa.com.br/fnet/publico/visualizarDocumento?id=1143319</a:t>
            </a:r>
          </a:p>
          <a:p>
            <a:r>
              <a:t>CNPJ 62696791000193 · Histórico de alterações materiais · Excerto da fonte:</a:t>
            </a:r>
          </a:p>
          <a:p>
            <a:r>
              <a:t>4.1. Aprovar a transformação do Fundo, bem como de sua Classe única, em um fundo de investimento nas cadeias produtivas do agronegócio (“Transformação”), nos termos da parte geral e do Anexo Normativo VI da Resolução nº 175 da CVM, de 23 de dezembro de 2022, conforme alterada (“Resolução CVM 175”). a. Aprovar a alteração da denominação do Fundo, que passará a vigorar como BTG PACTUAL CERES CONFINA FUNDO DE INVESTIMENTO NAS CADEIAS PRODUTIVAS DO AGRONEGÓCIO RESPONSABILIDADE LIMITADA, e de sua Classe única, que passará a vigorar como CLASSE ÚNICA DO BTG PACTUAL CERES CONFINA FUNDO DE INVESTIMENTO NAS CADEIAS PRODUTIVAS DO AGRONEGÓCIO RESPONSABILIDADE LIMITADA (“Classe”); b. Aprovar a reforma integral do Regulamento do Fundo, bem como do Anexo descritivo da Classe, para realizar todos os ajustes necessários à implementação da Transformação, incluindo, mas não se limitando, a política de investimentos, o regime tributário e os fatores de risco aplicáveis, conforme itens abaixo; c. Aprovar a alteração do quadro de características gerais do Fundo, considerando a contratação do Cogestor pelo Gestor, nos termos do artigo 52, II, da parte geral da Resolução CVM 175 e no co</a:t>
            </a:r>
          </a:p>
          <a:p>
            <a:r>
              <a:t>CNPJ 62696791000193 · Histórico de alterações materiais · AGE · ID 1143319 · 20/03/2026 10:00 · versão AGE — referência 20/03/2026 10:00 · p. 3 · AGC, 4.1(j)–(k) · https://fnet.bmfbovespa.com.br/fnet/publico/visualizarDocumento?id=1143319</a:t>
            </a:r>
          </a:p>
          <a:p>
            <a:r>
              <a:t>CNPJ 62696791000193 · Histórico de alterações materiais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Histórico de alterações materiais · Instrumento Particular de Emissão de Cotas · ID 1148821 · 27/03/2026 · versão Instrumento Particular de Emissão de Cotas — referência 27/03/2026 · p. 1 · Deliberação Conjunta27/03/2026, item1 · https://fnet.bmfbovespa.com.br/fnet/publico/visualizarDocumento?id=1148821</a:t>
            </a:r>
          </a:p>
          <a:p>
            <a:r>
              <a:t>CNPJ 62696791000193 · Histórico de alterações materiais · Excerto da fonte:</a:t>
            </a:r>
          </a:p>
          <a:p>
            <a:r>
              <a:t>1. Aprovar a 2ª (segunda) emissão da Subclasse Subordinada Júnior da Classe, composta por até 20.000 (vinte mil) Cotas Subordinadas Júnior, com valor nominal unitário de R$ 1.000,00 (mil reais), perfazendo o montante total de R$ 20.000.000,00 (vinte milhões de reais), as quais serão objeto de colocação privada, de acordo com os termos e condições definidos no Apêndice da Subclasse Subordinada Júnior constante do Anexo I Regulamento e descritas abaixo (“2ª Emissão da Subclasse Subordinada Júnior”): a) Rito: as Cotas Subordinadas Júnior objeto da 2ª Emissão da Subclasse Subordinada Júnior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Subordinada Júnior na data de integralização, calculado na forma prevista no respectivo Apêndice; BTG Pactual 1 SAC: 0800 772 28 27 - Ouvidoria: 0800 722 00 48 - btgpactual.com</a:t>
            </a:r>
          </a:p>
          <a:p>
            <a:r>
              <a:t>CNPJ 62696791000193 · Histórico de alterações materiais · Instrumento Particular de Emissão de Cotas · ID 1148821 · 27/03/2026 · versão Instrumento Particular de Emissão de Cotas — referência 27/03/2026 · p. 2 · Deliberação Conjunta, itens2–3 · https://fnet.bmfbovespa.com.br/fnet/publico/visualizarDocumento?id=1148821</a:t>
            </a:r>
          </a:p>
          <a:p>
            <a:r>
              <a:t>CNPJ 62696791000193 · Histórico de alterações materiais · Excerto da fonte:</a:t>
            </a:r>
          </a:p>
          <a:p>
            <a:r>
              <a:t>2. Aprovar a 2ª (segunda) emissão da Subclasse Sênior da Classe, composta por até 150.000 (cento e cinquenta mil) Cotas Seniores, com valor nominal unitário de R$ 1.000,00 (mil reais), perfazendo o montante total de R$ 150.000.000,00 (cento e cinquenta milhões de reais), as quais serão objeto de colocação privada, de acordo com os termos e condições descritos no Apêndice da Subclasse Sênior constante do Anexo I Regulamento e descritas abaixo (“2ª Emissão da Subclasse Sênior”): a) Rito: as Cotas Seniores objeto da 2ª Emissão da Subclasse Sênior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Sênior na data de integralização, calculado na forma prevista no respectivo Apêndice; d) Forma de Integralização: as Cotas Seniores serão integralizadas mediante chamadas de capital, junto ao seu respectivo agente de custódia e/ou da Administradora na qualidade de escriturador das cotas, nos termos d</a:t>
            </a:r>
          </a:p>
          <a:p>
            <a:r>
              <a:t>CNPJ 62696791000193 · Histórico de alterações materiais · Versão e prevalência: Leitura específica das cláusulas indicadas; condições e conflitos preservados. Seleção documental atual não comprova vigência jurídica por data isolada.</a:t>
            </a:r>
          </a:p>
          <a:p>
            <a:r>
              <a:t>CNPJ 55563624000109 · Histórico de alterações materiais · Motivo: Não localizada uma cláusula material para este critério nos textos identificados e processados. A ausência de resultado não comprova inexistência da regra.</a:t>
            </a:r>
          </a:p>
          <a:p>
            <a:r>
              <a:t>CNPJ 62552447000120 · Histórico de alterações materiais · Ato do Administrador · ID 1200625 · 2026-05-21 · versão Ato21/05/2026 · p. 1 · itens1–2 · https://fnet.bmfbovespa.com.br/fnet/publico/visualizarDocumento?id=1200625</a:t>
            </a:r>
          </a:p>
          <a:p>
            <a:r>
              <a:t>CNPJ 62552447000120 · Histórico de alterações materiais · Excerto da fonte:</a:t>
            </a:r>
          </a:p>
          <a:p>
            <a:r>
              <a:t>Ressalta-se que não haverá qualquer alteração nos valores pagos pelos cotistas... Aprovar o novo Anexo I e Regulamento consolidados</a:t>
            </a:r>
          </a:p>
          <a:p>
            <a:r>
              <a:t>CNPJ 62552447000120 · Histórico de alterações materiais · Motivo: Não localizada uma cláusula material para este critério nos textos identificados e processados. A ausência de resultado não comprova inexistência da regra.</a:t>
            </a:r>
          </a:p>
          <a:p>
            <a:r>
              <a:t>CNPJ 62552447000120 · Histórico de alterações materiais · Versão e prevalência: Leitura específica das cláusulas indicadas; condições e conflitos preservados. Seleção documental atual não comprova vigência jurídica por data isolada.</a:t>
            </a:r>
          </a:p>
          <a:p>
            <a:r>
              <a:t>CNPJ 63953620000165 · Histórico de alterações materiais · Anexo ao Regulamento · ID 1222863 · 2026-06-02 · versão 1 · p. 19 · 12.6 · https://fnet.bmfbovespa.com.br/fnet/publico/visualizarDocumento?id=1222863</a:t>
            </a:r>
          </a:p>
          <a:p>
            <a:r>
              <a:t>CNPJ 63953620000165 · Histórico de alterações materiais · Excerto da fonte:</a:t>
            </a:r>
          </a:p>
          <a:p>
            <a:r>
              <a:t>12.6 A Classe contratou a Tudo Serviços S.A., sociedade anônima, com sede no município de Fortaleza, Estado do Ceará,  na Avenida Senador Virgulo Távora, nº 303, Lojas 02, 03, 04, 05, 06 e 19, Meireles, CEP 60.170-265, inscrita no CNPJ  sob o nº 27.852.506/0001-85, cujos deveres, sem prejuízo daqueles estabelecidos neste Regulamento, no  “Contrato de Serviços de Retenção e Cobrança e Outras Avenças”, celebrado entre o Agente de  Retenção/Cobrança e a Classe (“Contrato de Serviços MT”) e no Contrato de Endosso, consistirão no  monitoramento e cobrança dos Direitos Creditórios Inadimplidos, observado o disposto neste Anexo I e na  regulamentação aplicável (“Agente de Retenção/Cobrança”):</a:t>
            </a:r>
          </a:p>
          <a:p>
            <a:r>
              <a:t> (i) caso aplicável, atuar na retenção (defesa) de operações de empréstimo consignado cujos Direitos  Creditórios sejam de titularidade da Classe, em caso de tentativa de transferência de tais operações de  empréstimo consignado por instituições proponentes, nos termos da Resolução CMN nº 5.057, em razão de  ofertas de portabilidade feitas por tais instituições proponentes, conforme informado pelo Endossante ou pelo  Custodiante ao Agente de Retenção/Cobrança, diariamente, de acordo com o Contrato de Endosso; sendo  que tal serviço deverá incluir, entre outras atividades auxiliares a ele relacionadas, a avaliação das ofertas de  portabilidade feitas pelas instituições proponentes, buscando, se for o caso, esclarecer as vantagens de não  recorrer à portabilidade, retendo a respectiva operação de empréstimo consignado em seus termos atuais;</a:t>
            </a:r>
          </a:p>
          <a:p>
            <a:r>
              <a:t> (ii) mediante inadimplemento de um Direito Creditório devido à indisponibilidade da margem de crédito do  Devedor, auxiliar o Endossante com o Processo de Reinicialização (conforme detalhado no Contrato de  Endosso) em relação ao respectivo Direito Creditório;</a:t>
            </a:r>
          </a:p>
          <a:p>
            <a:r>
              <a:t> (iii) manter e operar um serviço de atendimento ao consumidor - SAC e uma ouvidoria em conformidade  com os regulamentos aplicáveis, monitorar e resolver reclamações e solicitações de Devedores com  relação às operações de empréstimo consignado que dão origem aos Direitos Creditórios, em  conformidade com o Acordo de Parceria;</a:t>
            </a:r>
          </a:p>
          <a:p>
            <a:r>
              <a:t> (iv) realizar a cobrança dos Direitos Creditórios Inadimplidos;</a:t>
            </a:r>
          </a:p>
          <a:p>
            <a:r>
              <a:t> (v) auxiliar o Endossante na correção de qualquer irregularidade relevante identificada com relação à  originação dos Direitos Creditórios;</a:t>
            </a:r>
          </a:p>
          <a:p>
            <a:r>
              <a:t> (vi) realizar a renegociação junto aos Devedores de Direitos Creditórios Inadimplidos e, caso aplicável, celebrar  aditamento à CCB para refletir os novos termos, decorrentes da renegociação  CAPÍTULO 13 – REMUNERAÇÃO DOS PRESTADORES DE SERVIÇOS  0,05% (cinco centésimos por cento) ao ano, apropriada diariamente na base de 252  (duzentos e cinquenta e dois) Dias Úteis, e paga mensalmente até o 5º (quinto) Dia  Útil do mês subsequente ao mês que se refere, incidente sobre o Patrimônio Líquido  da Classe alocado em Direitos Creditórios Consignado Privado e/ou Ativos de  Liquidez MT, observada remuneração mínima mensal de R$ 2.500,00 (dois mil e  quinhentos reais), a ser corrigida anualmente, em janeiro de cada ano, pela variação  Taxa de Administração  positiva do Índice Geral de Preços – Mercado, divulgado pela Fundação Getúlio  Vargas (“Taxa de Administração” e “IGP-M”, respectivamente).</a:t>
            </a:r>
          </a:p>
          <a:p>
            <a:r>
              <a:t> Na hipótese de extinção do IGP-M, não divulgação ou impossibilidade de sua  utilização, será utilizado o Índice Geral de Preços – Disponibilidade Interna,  divulgado pela Fundação Getúlio Vargas, ou, na falta de ambos, pela variação do IPC  – Índice de Preços ao Consumidor, divulgado pela Fundação Instituto de Pesquisas</a:t>
            </a:r>
          </a:p>
          <a:p>
            <a:r>
              <a:t>CNPJ 63953620000165 · Histórico de alterações materiais · Condição: Documentos atuais selecionados no inventário por categoria/escopo; a data documental isolada não comprova vigência jurídica.</a:t>
            </a:r>
          </a:p>
          <a:p>
            <a:r>
              <a:t>CNPJ 63953620000165 · Histórico de alterações materiais · Versão e prevalência: Documentos atuais selecionados no inventário por categoria/escopo; a data documental isolada não comprova vigência jurídica.</a:t>
            </a:r>
          </a:p>
          <a:p>
            <a:r>
              <a:t>CNPJ 54871427000194 · Auditor independente e DFs · Demonstrações Financeiras - Fusão, cisão e incorporação · ID 1219522 · 2026-02-02 · versão 1 · p. 23 · https://fnet.bmfbovespa.com.br/fnet/publico/visualizarDocumento?id=1219522</a:t>
            </a:r>
          </a:p>
          <a:p>
            <a:r>
              <a:t>CNPJ 54871427000194 · Auditor independente e DFs · Excerto da fonte:</a:t>
            </a:r>
          </a:p>
          <a:p>
            <a:r>
              <a:t>x) Possibilidade de aquisição de Direitos Creditórios cedidos por Endossante e/ou devidos por  Devedores cujas demonstrações financeiras não sejam auditadas. A Classe, desde que sejam  respeitados os limites de concentração previstos no Regulamento, poderá manter a qualquer  tempo em sua Carteira, Direitos Creditórios cedidos por Endossante e/ou devidos por Devedores  cujas demonstrações financeiras não sejam auditadas por Auditor Independente registrado na</a:t>
            </a:r>
          </a:p>
          <a:p>
            <a:r>
              <a:t>CNPJ 54871427000194 · Auditor independente e DFs · Demonstrações Financeiras - Fusão, cisão e incorporação · ID 1219522 · 2026-02-02 · versão 1 · p. 2 · https://fnet.bmfbovespa.com.br/fnet/publico/visualizarDocumento?id=1219522</a:t>
            </a:r>
          </a:p>
          <a:p>
            <a:r>
              <a:t>CNPJ 54871427000194 · Auditor independente e DFs · Excerto da fonte:</a:t>
            </a:r>
          </a:p>
          <a:p>
            <a:r>
              <a:t>Classe Única de Responsabilidade Limitada do Consignado Delta Receivables I Fundo de Investimento em  Direitos Creditórios  Demonstrações financeiras em  2 de fevereiro de 2026 (data da incorporação da Classe)</a:t>
            </a:r>
          </a:p>
          <a:p>
            <a:r>
              <a:t>CNPJ 54871427000194 · Auditor independente e DFs · Demonstrações Financeiras - Fusão, cisão e incorporação · ID 1219522 · 2026-02-02 · versão 1 · p. 3 · https://fnet.bmfbovespa.com.br/fnet/publico/visualizarDocumento?id=1219522</a:t>
            </a:r>
          </a:p>
          <a:p>
            <a:r>
              <a:t>CNPJ 54871427000194 · Auditor independente e DFs · Excerto da fonte:</a:t>
            </a:r>
          </a:p>
          <a:p>
            <a:r>
              <a:t>Examinamos as demonstrações financeiras da Classe Única de Responsabilidade Limitada do  Consignado Delta Receivables I Fundo de Investimento em Direitos Creditórios (“Classe”),  administrada pela BTG Pactual Serviços Financeiros S.A. Distribuidora de Títulos e Valores Mobiliários  (“Administradora”), que compreendem a demonstração da posição financeira em 2 de fevereiro de  2026 e as respectivas demonstrações do resultado e do resultado abrangente, das evoluções do  patrimônio líquido e dos fluxos de caixa para o período de 1° de janeiro de 2026 (data de início do  exercício social da Classe) a 2 de fevereiro de 2026 (data da incorporação da Classe), bem como as  correspondentes notas explicativas, incluindo as políticas contábeis materiais e outras informações  elucidativas.</a:t>
            </a:r>
          </a:p>
          <a:p>
            <a:r>
              <a:t> Em nossa opinião, as demonstrações financeiras acima referidas apresentam adequadamente, em  todos os aspectos relevantes, a posição patrimonial e financeira da Classe Única de Responsabilidade  Limitada do Consignado Delta Receivables I Fundo de Investimento em Direitos Creditórios em 2 de  fevereiro de 2026 e o desempenho de suas operações e os seus fluxos de caixa para o período de 1°  de janeiro de 2026 a 2 de fevereiro de 2026, de acordo com as práticas contábeis adotadas no Brasil  aplicáveis aos fundos de investimento em direitos creditórios.</a:t>
            </a:r>
          </a:p>
          <a:p>
            <a:r>
              <a:t>CNPJ 54871427000194 · Auditor independente e DFs · Condição: Documentos atuais selecionados no inventário por categoria/escopo; a data documental isolada não comprova vigência jurídica.</a:t>
            </a:r>
          </a:p>
          <a:p>
            <a:r>
              <a:t>CNPJ 54871427000194 · Auditor independente e DFs · Versão e prevalência: Documentos atuais selecionados no inventário por categoria/escopo; a data documental isolada não comprova vigência jurídica.</a:t>
            </a:r>
          </a:p>
          <a:p>
            <a:r>
              <a:t>CNPJ 54871427000194 · Auditor independente e DFs · Resumo do histórico: {"count": 6, "dates": ["2025-01-01", "2025-04-15", "2025-12-31"], "document_count": 3, "sources": [{"document_id": "1151805", "title": "Demonstrações Financeiras", "reference_date": "2025-12-31", "version": "1", "page": 23, "url": "https://fnet.bmfbovespa.com.br/fnet/publico/visualizarDocumento?id=1151805", "sha256": "f1cea70b152968bf96ef9221b27225953cb20aeef487b2798db3c25e11b528d4"}, {"document_id": "883217", "title": "AGO", "reference_date": "2025-04-15", "version": "1", "page": 1, "url": "https://fnet.bmfbovespa.com.br/fnet/publico/visualizarDocumento?id=883217", "sha256": "233467aa4aa6265d253b610668cde19344ec99af4adf4df934c6a1bd88b9a044"}, {"document_id": "869529", "title": "Demonstrações Financeiras", "reference_date": "2025-01-01", "version": "1", "page": 23, "url": "https://fnet.bmfbovespa.com.br/fnet/publico/visualizarDocumento?id=869529", "sha256": "9a93a9369ac8efdbc54ff8fcee3ccac3abf88edab4807b9323d3852450771b2a"}], "reference": {"path": "history/54871427000194.json", "criterion_id": "audit", "total_count": 6, "preview_count": 3, "full_text_deferred": true, "sha256": "35d7cd99be50c7287c9fb675cf4f2e736002315295a225a9efa79c8d9186d874"}}</a:t>
            </a:r>
          </a:p>
          <a:p>
            <a:r>
              <a:t>CNPJ 60010416000112 · Auditor independente e DFs · AGE · ID 1313936 · 2026-08-31 · versão 1 · p. 1 · https://fnet.bmfbovespa.com.br/fnet/publico/visualizarDocumento?id=1313936</a:t>
            </a:r>
          </a:p>
          <a:p>
            <a:r>
              <a:t>CNPJ 60010416000112 · Auditor independente e DFs · Excerto da fonte:</a:t>
            </a:r>
          </a:p>
          <a:p>
            <a:r>
              <a:t>(d) Fica a Administradora autorizada a levantar, na Data da Cisão, demonstrações contábeis da  Classe, as quais darão suporte à realização da Cisão ora deliberada. As demonstrações contábeis  deverão ser auditadas, em conformidade com o art. 120, da Parte Geral, da Resolução CVM 175;</a:t>
            </a:r>
          </a:p>
          <a:p>
            <a:r>
              <a:t>CNPJ 60010416000112 · Auditor independente e DFs · Condição: Documentos atuais selecionados no inventário por categoria/escopo; a data documental isolada não comprova vigência jurídica.</a:t>
            </a:r>
          </a:p>
          <a:p>
            <a:r>
              <a:t>CNPJ 60010416000112 · Auditor independente e DFs · Versão e prevalência: Documentos atuais selecionados no inventário por categoria/escopo; a data documental isolada não comprova vigência jurídica.</a:t>
            </a:r>
          </a:p>
          <a:p>
            <a:r>
              <a:t>CNPJ 60010416000112 · Auditor independente e DFs · Resumo do histórico: {"count": 11, "dates": ["2026-04-16", "2026-05-08", "2026-07-29"], "document_count": 3, "sources": [{"document_id": "1277540", "title": "AGE", "reference_date": "2026-07-29", "version": "1", "page": 1, "url": "https://fnet.bmfbovespa.com.br/fnet/publico/visualizarDocumento?id=1277540", "sha256": "7a9b65092af34917f99f22b62eb7d248d67149b9c91dd87b07b924b9601ee9b0"}, {"document_id": "1298690", "title": "Demonstrações Financeiras - Fusão, cisão e incorporação", "reference_date": "2026-05-08", "version": "1", "page": 1, "url": "https://fnet.bmfbovespa.com.br/fnet/publico/visualizarDocumento?id=1298690", "sha256": "d979f7f7cf866a68b7fbc65c46fd726b7bcc13f9d0b809190857a9b465be7be2"}, {"document_id": "1282181", "title": "Demonstrações Financeiras - Fusão, cisão e incorporação", "reference_date": "2026-04-16", "version": "1", "page": 1, "url": "https://fnet.bmfbovespa.com.br/fnet/publico/visualizarDocumento?id=1282181", "sha256": "b1c6566e43a00bcd00c8a7f30c77b7f86e351bd8e355bbea113f46d1dafda703"}], "reference": {"path": "history/60010416000112.json", "criterion_id": "audit", "total_count": 11, "preview_count": 3, "full_text_deferred": true, "sha256": "8e2bd813f4c51cf01f6bfaad164bafe69d2bbb192f753eac92da3a01c2e63046"}}</a:t>
            </a:r>
          </a:p>
          <a:p>
            <a:r>
              <a:t>CNPJ 62696791000193 · Auditor independente e DFs · Regulamento · ID 1143317 · 2026-03-20 · versão 1 · p. 5 · 4.1.7 · https://fnet.bmfbovespa.com.br/fnet/publico/visualizarDocumento?id=1143317</a:t>
            </a:r>
          </a:p>
          <a:p>
            <a:r>
              <a:t>CNPJ 62696791000193 · Auditor independente e DFs · Excerto da fonte:</a:t>
            </a:r>
          </a:p>
          <a:p>
            <a:r>
              <a:t>4.1.7 As demonstrações contábeis cujo relatório de auditoria não contiver opinião modificada podem  ser consideradas automaticamente aprovadas caso a assembleia correspondente não seja  instalada em virtude do não comparecimento de quaisquer Cotistas.</a:t>
            </a:r>
          </a:p>
          <a:p>
            <a:r>
              <a:t>CNPJ 62696791000193 · Auditor independente e DFs · Regulamento · ID 1143317 · 2026-03-20 · versão 1 · p. 23 · 10.12 · https://fnet.bmfbovespa.com.br/fnet/publico/visualizarDocumento?id=1143317</a:t>
            </a:r>
          </a:p>
          <a:p>
            <a:r>
              <a:t>CNPJ 62696791000193 · Auditor independente e DFs · Excerto da fonte:</a:t>
            </a:r>
          </a:p>
          <a:p>
            <a:r>
              <a:t>10.12 O representante dos Cotistas será eleito com prazo de mandato a se encerrar na próxima Assembleia  de Cotistas que deliberar sobre a aprovação de demonstrações contábeis do Fundo, sendo permitida  a reeleição.</a:t>
            </a:r>
          </a:p>
          <a:p>
            <a:r>
              <a:t>CNPJ 62696791000193 · Auditor independente e DFs · Condição: Documentos atuais selecionados no inventário por categoria/escopo; a data documental isolada não comprova vigência jurídica.</a:t>
            </a:r>
          </a:p>
          <a:p>
            <a:r>
              <a:t>CNPJ 62696791000193 · Auditor independente e DFs · Versão e prevalência: Documentos atuais selecionados no inventário por categoria/escopo; a data documental isolada não comprova vigência jurídica.</a:t>
            </a:r>
          </a:p>
          <a:p>
            <a:r>
              <a:t>CNPJ 55563624000109 · Auditor independente e DFs · Regulamento · ID 1192614 · 2026-04-30 · versão 1 · p. 24 · 12.3 · https://fnet.bmfbovespa.com.br/fnet/publico/visualizarDocumento?id=1192614</a:t>
            </a:r>
          </a:p>
          <a:p>
            <a:r>
              <a:t>CNPJ 55563624000109 · Auditor independente e DFs · Excerto da fonte:</a:t>
            </a:r>
          </a:p>
          <a:p>
            <a:r>
              <a:t>12.3 Incluem-se entre as obrigações do ADMINISTRADOR, sem prejuízo de outras previstas na regulamentação:</a:t>
            </a:r>
          </a:p>
          <a:p>
            <a:r>
              <a:t> (i) sem prejuízo da observância dos procedimentos relativos às demonstrações contábeis, manter,  separadamente, registros com informações completas sobre toda e qualquer modalidade de negociação  realizada entre o ADMINISTRADOR, GESTOR, CUSTODIANTE, e/ou suas respectivas partes relacionadas,  tais como definidas pelas regras contábeis que tratam desse assunto, de um lado; e a Classe, de outro;</a:t>
            </a:r>
          </a:p>
          <a:p>
            <a:r>
              <a:t> (ii) diligenciar para que sejam mantidos, às suas expensas, atualizados e em perfeita ordem:</a:t>
            </a:r>
          </a:p>
          <a:p>
            <a:r>
              <a:t> (a) o registro de Cotistas;</a:t>
            </a:r>
          </a:p>
          <a:p>
            <a:r>
              <a:t> (b) o livro de atas das Assembleias de Cotistas;</a:t>
            </a:r>
          </a:p>
          <a:p>
            <a:r>
              <a:t> (c) o livro ou lista de presença de Cotistas;</a:t>
            </a:r>
          </a:p>
          <a:p>
            <a:r>
              <a:t> (d) os pareceres do Auditor Independente; e</a:t>
            </a:r>
          </a:p>
          <a:p>
            <a:r>
              <a:t> (e) os registros contábeis referentes às operações e ao patrimônio da Classe;</a:t>
            </a:r>
          </a:p>
          <a:p>
            <a:r>
              <a:t> (iii) pagar a multa cominatória às suas expensas, nos termos da legislação vigente, por cada dia de atraso no  cumprimento dos prazos previstos na regulamentação aplicável;</a:t>
            </a:r>
          </a:p>
          <a:p>
            <a:r>
              <a:t> (iv) elaborar e divulgar as informações periódicas e eventuais da Classe, nos termos deste Anexo e da  regulamentação e da autorregulação em vigor;</a:t>
            </a:r>
          </a:p>
          <a:p>
            <a:r>
              <a:t> (v) manter atualizada junto à CVM a lista de todos os prestadores de serviços contratados pela Classe,  inclusive os Prestadores de Serviços Essenciais, bem como as demais informações cadastrais da Classe e  suas Subclasses;</a:t>
            </a:r>
          </a:p>
          <a:p>
            <a:r>
              <a:t> (vi) manter serviço de atendimento aos Cotistas, responsável pelo esclarecimento de dúvidas e pelo  recebimento de reclamações;</a:t>
            </a:r>
          </a:p>
          <a:p>
            <a:r>
              <a:t> (vii) receber e processar os pedidos de resgate;</a:t>
            </a:r>
          </a:p>
          <a:p>
            <a:r>
              <a:t> (viii) monitorar os Eventos de Verificação do Patrimônio;</a:t>
            </a:r>
          </a:p>
          <a:p>
            <a:r>
              <a:t> (ix) monitorar os Eventos de Avaliação e Eventos de Liquidação;</a:t>
            </a:r>
          </a:p>
          <a:p>
            <a:r>
              <a:t> (x) observar as disposições constantes do Regulamento;</a:t>
            </a:r>
          </a:p>
          <a:p>
            <a:r>
              <a:t> (xi) cumprir as deliberações da Assembleia de Cotistas; e</a:t>
            </a:r>
          </a:p>
          <a:p>
            <a:r>
              <a:t> (xii) observar as disposições do Código ANBIMA e das Regras e Procedimentos ANBIMA</a:t>
            </a:r>
          </a:p>
          <a:p>
            <a:r>
              <a:t>CNPJ 55563624000109 · Auditor independente e DFs · Regulamento · ID 1192614 · 2026-04-30 · versão 1 · p. 4 · 4.6.1 · https://fnet.bmfbovespa.com.br/fnet/publico/visualizarDocumento?id=1192614</a:t>
            </a:r>
          </a:p>
          <a:p>
            <a:r>
              <a:t>CNPJ 55563624000109 · Auditor independente e DFs · Excerto da fonte:</a:t>
            </a:r>
          </a:p>
          <a:p>
            <a:r>
              <a:t>4.6.1 As deliberações relativas às matérias elencadas nos incisos abaixo serão tomadas, em primeira  convocação ou em segunda convocação, conforme os quóruns dispostos abaixo, em sede assembleia  geral de cotistas ou de assembleia especial de cotistas, conforme o caso:</a:t>
            </a:r>
          </a:p>
          <a:p>
            <a:r>
              <a:t> MATÉRIA SUJEITA À APROVAÇÃO QUÓRUM DE DELIBERAÇÃO</a:t>
            </a:r>
          </a:p>
          <a:p>
            <a:r>
              <a:t> (i) aprovação das demonstrações contábeis do FUNDO; Maioria do total das Cotas emitidas</a:t>
            </a:r>
          </a:p>
          <a:p>
            <a:r>
              <a:t>CNPJ 55563624000109 · Auditor independente e DFs · Regulamento · ID 1192614 · 2026-04-30 · versão 1 · p. 10 · 3.1 · https://fnet.bmfbovespa.com.br/fnet/publico/visualizarDocumento?id=1192614</a:t>
            </a:r>
          </a:p>
          <a:p>
            <a:r>
              <a:t>CNPJ 55563624000109 · Auditor independente e DFs · Excerto da fonte:</a:t>
            </a:r>
          </a:p>
          <a:p>
            <a:r>
              <a:t>3.1 A Classe terá Encargos que lhe poderão ser debitados diretamente, nos termos da Resolução CVM 175, e  quaisquer despesas que não constituam Encargos correm por conta do Prestador de Serviço Essencial que a tiver  contratado, incluindo, sem se limitar a:</a:t>
            </a:r>
          </a:p>
          <a:p>
            <a:r>
              <a:t> (i) Taxa de performance, se houver;</a:t>
            </a:r>
          </a:p>
          <a:p>
            <a:r>
              <a:t> (ii) Taxas, impostos ou contribuições federais, estaduais, municipais ou autárquicas, que recaiam ou  venham a recair sobre os bens, direitos e obrigações da Classe;</a:t>
            </a:r>
          </a:p>
          <a:p>
            <a:r>
              <a:t> (iii) Despesas com o registro de documentos, impressão, expedição e publicação de relatórios e informações  periódicas previstas na Resolução CVM 175;</a:t>
            </a:r>
          </a:p>
          <a:p>
            <a:r>
              <a:t> (iv) Despesas com correspondências de interesse do FUNDO ou da Classe, inclusive comunicações aos  Cotistas;</a:t>
            </a:r>
          </a:p>
          <a:p>
            <a:r>
              <a:t> (v) Honorários e despesas do Auditor Independente;</a:t>
            </a:r>
          </a:p>
          <a:p>
            <a:r>
              <a:t> BTG Pactual  SAC: 0800 772 28 27 - Ouvidoria: 0800 722 00 48 - btgpactual.com  3</a:t>
            </a:r>
          </a:p>
          <a:p>
            <a:r>
              <a:t>CNPJ 55563624000109 · Auditor independente e DFs · Condição: Documentos atuais selecionados no inventário por categoria/escopo; a data documental isolada não comprova vigência jurídica.</a:t>
            </a:r>
          </a:p>
          <a:p>
            <a:r>
              <a:t>CNPJ 55563624000109 · Auditor independente e DFs · Versão e prevalência: Documentos atuais selecionados no inventário por categoria/escopo; a data documental isolada não comprova vigência jurídica.</a:t>
            </a:r>
          </a:p>
          <a:p>
            <a:r>
              <a:t>CNPJ 55563624000109 · Auditor independente e DFs · Resumo do histórico: {"count": 2, "dates": ["2025-01-31", "2026-01-31"], "document_count": 2, "sources": [{"document_id": "1178840", "title": "Demonstrações Financeiras", "reference_date": "2026-01-31", "version": "1", "page": 4, "url": "https://fnet.bmfbovespa.com.br/fnet/publico/visualizarDocumento?id=1178840", "sha256": "c458e98664c5c907ddb5a05a94b120bed4e05295b2bfc420f5ba69af0a229abe"}, {"document_id": "891861", "title": "Demonstrações Financeiras", "reference_date": "2025-01-31", "version": "1", "page": 2, "url": "https://fnet.bmfbovespa.com.br/fnet/publico/visualizarDocumento?id=891861", "sha256": "e9cb9e6ddbe505fe068cfcac33605165a98313489de0d3ce6d4d238263c3f3e7"}], "reference": {"path": "history/55563624000109.json", "criterion_id": "audit", "total_count": 2, "preview_count": 2, "full_text_deferred": true, "sha256": "7835d573fb58a3c19adf5b8ecc2aee2bdbb9a88f7a0c0209b5f262b64c7522e3"}}</a:t>
            </a:r>
          </a:p>
          <a:p>
            <a:r>
              <a:t>CNPJ 62552447000120 · Auditor independente e DFs · Regulamento · ID 1200623 · 2026-05-21 · versão 1 · p. 4 · 4.1.6 · https://fnet.bmfbovespa.com.br/fnet/publico/visualizarDocumento?id=1200623</a:t>
            </a:r>
          </a:p>
          <a:p>
            <a:r>
              <a:t>CNPJ 62552447000120 · Auditor independente e DFs · Excerto da fonte:</a:t>
            </a:r>
          </a:p>
          <a:p>
            <a:r>
              <a:t>4.1.6 As demonstrações contábeis cujo relatório de auditoria não contiver opinião modificada podem  ser consideradas automaticamente aprovadas caso a Assembleia Geral correspondente não  seja instalada em virtude do não comparecimento de quaisquer Cotistas.</a:t>
            </a:r>
          </a:p>
          <a:p>
            <a:r>
              <a:t>CNPJ 62552447000120 · Auditor independente e DFs · Regulamento · ID 1200623 · 2026-05-21 · versão 1 · p. 29 · 12.16 · https://fnet.bmfbovespa.com.br/fnet/publico/visualizarDocumento?id=1200623</a:t>
            </a:r>
          </a:p>
          <a:p>
            <a:r>
              <a:t>CNPJ 62552447000120 · Auditor independente e DFs · Excerto da fonte:</a:t>
            </a:r>
          </a:p>
          <a:p>
            <a:r>
              <a:t>12.16 Os serviços de auditoria das demonstrações f inanceiras e demais contas da Classe serão prestados  por Auditor Independente contratado pelo Administrador. Pelos serviços prestados, o Auditor  Independente f ará jus ao recebimento de remuneração a ser def inida em contrato específico, a qual  será paga pela Classe.</a:t>
            </a:r>
          </a:p>
          <a:p>
            <a:r>
              <a:t>CAPÍTULO 13 – TAXA GLOBAL</a:t>
            </a:r>
          </a:p>
          <a:p>
            <a:r>
              <a:t>CNPJ 62552447000120 · Auditor independente e DFs · Condição: Documentos atuais selecionados no inventário por categoria/escopo; a data documental isolada não comprova vigência jurídica.</a:t>
            </a:r>
          </a:p>
          <a:p>
            <a:r>
              <a:t>CNPJ 62552447000120 · Auditor independente e DFs · Versão e prevalência: Documentos atuais selecionados no inventário por categoria/escopo; a data documental isolada não comprova vigência jurídica.</a:t>
            </a:r>
          </a:p>
          <a:p>
            <a:r>
              <a:t>CNPJ 63953620000165 · Auditor independente e DFs · Anexo ao Regulamento · ID 1222863 · 2026-06-02 · versão 1 · p. 4 · 3.4 · https://fnet.bmfbovespa.com.br/fnet/publico/visualizarDocumento?id=1222863</a:t>
            </a:r>
          </a:p>
          <a:p>
            <a:r>
              <a:t>CNPJ 63953620000165 · Auditor independente e DFs · Excerto da fonte:</a:t>
            </a:r>
          </a:p>
          <a:p>
            <a:r>
              <a:t>3.4 Adicionalmente aos Encargos, as seguintes despesas serão debitadas diretamente da Classe, nos termos do art.</a:t>
            </a:r>
          </a:p>
          <a:p>
            <a:r>
              <a:t> 51 do Anexo Normativo II da Resolução CVM 175 (“Despesas Adicionais”):</a:t>
            </a:r>
          </a:p>
          <a:p>
            <a:r>
              <a:t> (i) Despesas com registro de Direitos Creditórios;</a:t>
            </a:r>
          </a:p>
          <a:p>
            <a:r>
              <a:t> (ii) Despesas com serviços de originação, cobranças ordinária e/ou extraordinária dos Direitos Creditórios,  e/ou verificação de lastro dos Direitos Creditórios, conforme aplicável;</a:t>
            </a:r>
          </a:p>
          <a:p>
            <a:r>
              <a:t> (iii) Despesas com a contratação de atividades relacionadas à verificação de lastro;</a:t>
            </a:r>
          </a:p>
          <a:p>
            <a:r>
              <a:t> (iv) Despesas com a contratação de Agente de Retenção/Cobrança; Despesas com a contratação de  consultoria especializada, conforme o caso;</a:t>
            </a:r>
          </a:p>
          <a:p>
            <a:r>
              <a:t> (v) Remuneração do Custodiante;</a:t>
            </a:r>
          </a:p>
          <a:p>
            <a:r>
              <a:t> (vi) Despesas com honorários advocatícios para quaisquer assuntos de interesse da Classe, seja na esfera  judicial ou extrajudicial, inclusive consultivo;</a:t>
            </a:r>
          </a:p>
          <a:p>
            <a:r>
              <a:t> (vii) Despesas com a assinatura e registro dos Termos de Endosso, conforme aplicável, junto aos  competentes cartórios de Registro de Títulos e Documentos;</a:t>
            </a:r>
          </a:p>
          <a:p>
            <a:r>
              <a:t> (viii) Despesas inerentes à distribuição primária de Cotas, inclusive a contratação e remuneração do  distribuidor das Cotas para cada oferta de Cotas da Classe, nos termos de cada contrato de distribuição  e honorários devidos ao(s) assessor(es) legal(is) de cada oferta, assim como despesas com o registro das  Cotas na CVM, ANBIMA e/ou na entidade de mercado organizado em que as cotas sejam registradas,  conforme aplicável;</a:t>
            </a:r>
          </a:p>
          <a:p>
            <a:r>
              <a:t> (ix) Taxas de fiscalização da CVM e/ou ANBIMA, conforme aplicável; e</a:t>
            </a:r>
          </a:p>
          <a:p>
            <a:r>
              <a:t> (x) Despesas com contratação e remuneração do Auditor Independente e da Agência Classificadora de  Risco.</a:t>
            </a:r>
          </a:p>
          <a:p>
            <a:r>
              <a:t>CNPJ 63953620000165 · Auditor independente e DFs · Condição: Documentos atuais selecionados no inventário por categoria/escopo; a data documental isolada não comprova vigência jurídica.</a:t>
            </a:r>
          </a:p>
          <a:p>
            <a:r>
              <a:t>CNPJ 63953620000165 · Auditor independente e DFs · Motivo: Cláusula primária localizada e citada, mas sua lista/condições extensas não admitem uma síntese literal curta confirmada. O trecho integral permanece nas fontes.</a:t>
            </a:r>
          </a:p>
          <a:p>
            <a:r>
              <a:t>CNPJ 63953620000165 · Auditor independente e DFs · Versão e prevalência: Documentos atuais selecionados no inventário por categoria/escopo; a data documental isolada não comprova vigência jurídica.</a:t>
            </a:r>
          </a:p>
          <a:p>
            <a:r>
              <a:t>CNPJ 63953620000165 · Auditor independente e DFs · Resumo do histórico: {"count": 8, "dates": ["2026-04-28", "2026-05-08", "2026-05-15"], "document_count": 3, "sources": [{"document_id": "1327859", "title": "Demonstrações Financeiras - Fusão, cisão e incorporação", "reference_date": "2026-05-15", "version": "1", "page": 1, "url": "https://fnet.bmfbovespa.com.br/fnet/publico/visualizarDocumento?id=1327859", "sha256": "dca1c68babb97f887528c3e2e47596a9c30f507b067981a35655b2f2da9c8054"}, {"document_id": "1298691", "title": "Demonstrações Financeiras - Fusão, cisão e incorporação", "reference_date": "2026-05-08", "version": "1", "page": 1, "url": "https://fnet.bmfbovespa.com.br/fnet/publico/visualizarDocumento?id=1298691", "sha256": "58c570d9b8d4d265330d3db3ea81c435b8e44a6dab4002aa37790652a1ee9819"}, {"document_id": "1282180", "title": "Demonstrações Financeiras - Fusão, cisão e incorporação", "reference_date": "2026-04-28", "version": "1", "page": 1, "url": "https://fnet.bmfbovespa.com.br/fnet/publico/visualizarDocumento?id=1282180", "sha256": "afaaa0e6809be4385e5bdb6c911aac582032c5bdbac3d7750234bf9eaf00438a"}], "reference": {"path": "history/63953620000165.json", "criterion_id": "audit",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Governança e alterações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Quóruns e matérias reservadas · Regulamento · ID 670691 · 28/04/2024 · versão Regulamento — referência 28/04/2024 · p. 4 · Parte Geral, 4.4–4.4.1 · https://fnet.bmfbovespa.com.br/fnet/publico/visualizarDocumento?id=670691</a:t>
            </a:r>
          </a:p>
          <a:p>
            <a:r>
              <a:t>CNPJ 54871427000194 · Quóruns e matérias reservadas · Excerto da fonte:</a:t>
            </a:r>
          </a:p>
          <a:p>
            <a:r>
              <a:t>4.4 Ressalvadas as exceções descritas neste Regulamento, toda e qualquer matéria submetida à deliberação dos cotistas deverá ser aprovada por maioria dos votos dos presentes. 4.4.1 As deliberações relativas às matérias elencadas nos incisos abaixo serão tomadas, em primeira convocação ou em segunda convocação, pelos votos dos titulares da maioria das cotas em circulação, em sede assembleia geral de cotistas ou de assembleia especial de cotistas, conf orme o caso: (i) aprovação das demonstrações contábeis do FUNDO; (ii) alteração da Parte Geral deste Regulamento; (iii) substituição ou remoção do Prestador de Serviços Essenciais do FUNDO, ressalvada a possibilidade prevista no Art. 70, §1º, da Parte Geral da Resolução CVM 175; (iv) alterações nos quóruns de deliberação def inidos neste Regulamento; (v) cobrança de taxas e encargos pelo ADMINISTRADOR, de qualquer natureza, que não estejam expressamente previstos neste Regulamento; (vi) liquidação do FUNDO. (vii) plano de resolu</a:t>
            </a:r>
          </a:p>
          <a:p>
            <a:r>
              <a:t>CNPJ 54871427000194 · Quóruns e matérias reservadas · Regulamento · ID 670691 · 28/04/2024 · versão Regulamento — referência 28/04/2024 · p. 17 · Anexo I, 10.1 · https://fnet.bmfbovespa.com.br/fnet/publico/visualizarDocumento?id=670691</a:t>
            </a:r>
          </a:p>
          <a:p>
            <a:r>
              <a:t>CNPJ 54871427000194 · Quóruns e matérias reservadas · Excerto da fonte:</a:t>
            </a:r>
          </a:p>
          <a:p>
            <a:r>
              <a:t>10.1 Sem prejuízo de outros requisitos e inf ormações previstos na regulamentação vigente, são aplicáveis à Assembleia Especial de Cotistas as mesmas disposições procedimentais da Assembleia Geral de Cotistas. 10.2 A Assembleia Especial de Cotistas é responsável por deliberar sobre as matérias específicas da Classe de Cotas, sem prejuízo das demais disposições previstas na regulamentação aplicável, incluindo, mas não se limitando a: (i) deliberar sobre as demonstrações contábeis da Classe; (ii) deliberar sobre substituição de Prestadores de Serviços Essenciais, observado o disposto no art. 70, §1º da parte geral da Resolução CVM 175; (iii) deliberar sobre elevação da Taxa de Administração, inclusive na hipótese de restabelecimento de taxa que tenha sido objeto de redução; (iv) deliberar sobre incorporação, f usão, cisão total ou parcial, a transf ormação ou liquidação da Classe; (v) alterações das características, vantagens, direitos e obrigações das Cotas; (vi) alterar critérios e procedimentos para Amortização e/ou resgate de Cotas mediante dação em pagamento de Direitos Creditórios; (vii) a</a:t>
            </a:r>
          </a:p>
          <a:p>
            <a:r>
              <a:t>CNPJ 54871427000194 · Quóruns e matérias reservadas · Versão e prevalência: Leitura específica das cláusulas indicadas; condições e conflitos preservados. Seleção documental atual não comprova vigência jurídica por data isolada.</a:t>
            </a:r>
          </a:p>
          <a:p>
            <a:r>
              <a:t>CNPJ 54871427000194 · Quóruns e matérias reservadas · Resumo do histórico: {"count": 1, "dates": ["2024-04-19"], "document_count": 1, "sources": [{"document_id": "670689", "title": "Regulamento", "reference_date": "2024-04-19", "version": "1", "page": 20, "clause": "11.6", "url": "https://fnet.bmfbovespa.com.br/fnet/publico/visualizarDocumento?id=670689", "sha256": "891bc9bc5d87bbc02ec139077a84d2702eb81ea02035fb71d24f5b8366b94a0b"}], "reference": {"path": "history/54871427000194.json", "criterion_id": "quorum", "total_count": 1, "preview_count": 1, "full_text_deferred": true, "sha256": "35d7cd99be50c7287c9fb675cf4f2e736002315295a225a9efa79c8d9186d874"}}</a:t>
            </a:r>
          </a:p>
          <a:p>
            <a:r>
              <a:t>CNPJ 60010416000112 · Quóruns e matérias reservadas · Regulamento · ID 1051393 · 09/10/2025 · versão Regulamento09/10/2025 · p. 18 · AnexoI9.2(ii)–(xvii) · https://fnet.bmfbovespa.com.br/fnet/publico/visualizarDocumento?id=1051393</a:t>
            </a:r>
          </a:p>
          <a:p>
            <a:r>
              <a:t>CNPJ 60010416000112 · Quóruns e matérias reservadas · Excerto da fonte:</a:t>
            </a:r>
          </a:p>
          <a:p>
            <a:r>
              <a:t>(ii) alterar este Anexo I e seus complementos, incluindo mas não se limitando aos Apêndices de cada uma das subclasses; (iii) deliberar sobre substituição de Prestadores de Serviços Essenciais, observado o disposto no Art. 70, §1º da parte geral da Resolução CVM 175, quando aplicável, ou do Custodiante; (iv) deliberar sobre elevação da Taxa de Administração, inclusive na hipótese de restabelecimento de taxa que tenha sido objeto de redução; (v) deliberar sobre incorporação, fusão, cisão total ou parcial, a transformação ou liquidação da Classe; (vi) alter</a:t>
            </a:r>
          </a:p>
          <a:p>
            <a:r>
              <a:t>CNPJ 60010416000112 · Quóruns e matérias reservadas · Regulamento · ID 1051393 · 09/10/2025 · versão Regulamento09/10/2025 · p. 19 · AnexoI9.8–9.9 · https://fnet.bmfbovespa.com.br/fnet/publico/visualizarDocumento?id=1051393</a:t>
            </a:r>
          </a:p>
          <a:p>
            <a:r>
              <a:t>CNPJ 60010416000112 · Quóruns e matérias reservadas · Excerto da fonte:</a:t>
            </a:r>
          </a:p>
          <a:p>
            <a:r>
              <a:t>9.8 As deliberações constantes dos incisos (ii), (iii), (iv), (v), (vi), (vii), (x), (xi), (xii), (xiii) e (xvii) acima, apenas serão aprovadas, seja em primeira ou em segunda convocação, por unanimidade dos votos dos titulares das Cotas em circulação. 9.9 As deliberações relativas aos demais incisos do item 9.2 acima apenas serão aprovadas, seja em primeira ou em segunda convocação, mediante o voto favorável dos Cotistas que representem a maioria das Cotas emitidas pela Classe. 9.10 Somente os Cotistas, seus representantes legais ou procuradores legalmente nomeados há menos de 1 (um) ano ter</a:t>
            </a:r>
          </a:p>
          <a:p>
            <a:r>
              <a:t>CNPJ 60010416000112 · Quóruns e matérias reservadas · Versão e prevalência: Leitura específica das cláusulas indicadas; condições e conflitos preservados. Seleção documental atual não comprova vigência jurídica por data isolada.</a:t>
            </a:r>
          </a:p>
          <a:p>
            <a:r>
              <a:t>CNPJ 60010416000112 · Quóruns e matérias reservadas · Resumo do histórico: {"count": 3, "dates": ["2025-03-20", "2025-05-09", "2025-05-12"], "document_count": 3, "sources": [{"document_id": "1004656", "title": "AGE", "reference_date": "2025-05-12", "version": "1", "page": 1, "url": "https://fnet.bmfbovespa.com.br/fnet/publico/visualizarDocumento?id=1004656", "sha256": "f6c9c009f6170e2b29f074b98522accec73f0c40efbf11f9ec2c8d3f1402616b"}, {"document_id": "911262", "title": "AGE", "reference_date": "2025-05-09", "version": "1", "page": 1, "url": "https://fnet.bmfbovespa.com.br/fnet/publico/visualizarDocumento?id=911262", "sha256": "675de4ffe8c5ee95957fb29810625ce850d1a0b69b5231747442266f0cbf32a3"}, {"document_id": "993786", "title": "Regulamento", "reference_date": "2025-03-20", "version": "1", "page": 22, "clause": "10.6", "url": "https://fnet.bmfbovespa.com.br/fnet/publico/visualizarDocumento?id=993786", "sha256": "fd0fdd369a195510d81f81f505195a0b09e5f43522a990afa7d58c4f872921c8"}], "reference": {"path": "history/60010416000112.json", "criterion_id": "quorum", "total_count": 3, "preview_count": 3, "full_text_deferred": true, "sha256": "8e2bd813f4c51cf01f6bfaad164bafe69d2bbb192f753eac92da3a01c2e63046"}}</a:t>
            </a:r>
          </a:p>
          <a:p>
            <a:r>
              <a:t>CNPJ 62696791000193 · Quóruns e matérias reservadas · Regulamento · ID 1143317 · 20/03/2026 · versão Regulamento — referência 20/03/2026 · p. 20 · Anexo I, 10.2, tabela · https://fnet.bmfbovespa.com.br/fnet/publico/visualizarDocumento?id=1143317</a:t>
            </a:r>
          </a:p>
          <a:p>
            <a:r>
              <a:t>CNPJ 62696791000193 · Quóruns e matérias reservadas · Excerto da fonte:</a:t>
            </a:r>
          </a:p>
          <a:p>
            <a:r>
              <a:t>10.2 Os seguintes quóruns deverão ser observados pela Assembleia Especial de Cotistas ao deliberar as matérias abaixo: Matéria Quórum I – alterar o presente Anexo; Maioria das Cotas Subscritas (“Quórum Qualificado”), observada BTG Pactual SAC: 0800 772 2827 | Ouvidoria: 0800 722 0048 | btgpactual.co m 15</a:t>
            </a:r>
          </a:p>
          <a:p>
            <a:r>
              <a:t>CNPJ 62696791000193 · Quóruns e matérias reservadas · Regulamento · ID 1143317 · 20/03/2026 · versão Regulamento — referência 20/03/2026 · p. 21 · Anexo I, 10.2, tabela · https://fnet.bmfbovespa.com.br/fnet/publico/visualizarDocumento?id=1143317</a:t>
            </a:r>
          </a:p>
          <a:p>
            <a:r>
              <a:t>CNPJ 62696791000193 · Quóruns e matérias reservadas · Excerto da fonte:</a:t>
            </a:r>
          </a:p>
          <a:p>
            <a:r>
              <a:t>Matéria Quórum a necessidade de voto afirmativo da Maioria das Cotas Seniores subscritas da Classe Quórum Qualif icado observada a necessidade de voto af irmativo da II – substituição do Administrador, do Gestor e da Cogestora; Maioria das Cotas Seniores subscritas da Classe Maioria Simples, observada a III – Emissão e distribuição de novas Cotas em quantidade necessidade de voto af irmativo da superior ao Capital Autorizado da Classe ; Maioria das Cotas Seniores subscritas da Classe</a:t>
            </a:r>
          </a:p>
          <a:p>
            <a:r>
              <a:t>CNPJ 62696791000193 · Quóruns e matérias reservadas · Regulamento · ID 1143317 · 20/03/2026 · versão Regulamento — referência 20/03/2026 · p. 22 · Anexo I, 10.2(XI) e 10.5–10.7 · https://fnet.bmfbovespa.com.br/fnet/publico/visualizarDocumento?id=1143317</a:t>
            </a:r>
          </a:p>
          <a:p>
            <a:r>
              <a:t>CNPJ 62696791000193 · Quóruns e matérias reservadas · Excerto da fonte:</a:t>
            </a:r>
          </a:p>
          <a:p>
            <a:r>
              <a:t>10.5 As deliberações que tenham por objeto alterações de Benchmark apenas serão aprovadas se assim deliberado: (i) pelos votos dos titulares da maioria das Cotas em circulação da Série ou Subclasse cujo Benchmark é alterado; e (ii) pelos votos dos titulares da maioria das Cotas Mezanino que se subordinem a ela e/ou das Cotas Subordinadas em circulação. 10.6 As deliberações que tenham por objeto o aumento do Índice de Subordinação estão sujeitas à aprovação da maioria simples dos votos dos titulares das Cotas Mezanino que se subordinem a ela e/ou das Cotas Subordinadas em circulação. 10.7 As deliberações que tenham por objeto a diminuição do Índice de Subordinação apenas serão aprovadas se assim deliberado: (i) pelos votos dos titulares da maioria das Cotas em circulação de cada uma das Séries de Cotas Seniores e/ou dos titulares das Cotas Mezanino que tenham o Benchmark alterado; e (ii) pelo voto dos titulares da maioria das Cotas Mezanino que se subordinem a ela e/ou Cotas Subordinadas Júnior em circulação . Representante de Cotistas 10.8 A Assembleia de Cotistas pode, a qualquer momento, eleger até 3 (três) representantes de cotistas, a serem eleitos e nomeados pela assembleia especial,</a:t>
            </a:r>
          </a:p>
          <a:p>
            <a:r>
              <a:t>CNPJ 62696791000193 · Quóruns e matérias reservadas · Versão e prevalência: Leitura específica das cláusulas indicadas; condições e conflitos preservados. Seleção documental atual não comprova vigência jurídica por data isolada.</a:t>
            </a:r>
          </a:p>
          <a:p>
            <a:r>
              <a:t>CNPJ 55563624000109 · Quóruns e matérias reservadas · Regulamento · ID 1192614 · 30/04/2026 · versão Regulamento30/04/2026 · p. 19 · AnexoI10.2(i)–(v) · https://fnet.bmfbovespa.com.br/fnet/publico/visualizarDocumento?id=1192614</a:t>
            </a:r>
          </a:p>
          <a:p>
            <a:r>
              <a:t>CNPJ 55563624000109 · Quóruns e matérias reservadas · Excerto da fonte:</a:t>
            </a:r>
          </a:p>
          <a:p>
            <a:r>
              <a:t>10.2 A Assembleia Especial de Cotistas é responsável por deliberar, observados os quóruns abaixo, sobre as matérias específicas da Classe, sem prejuízo das demais disposições previstas na regulamentação aplicável, incluindo, mas não se limitando a: MATÉRIA SUJEITA À APROVAÇÃO QUÓRUM DE DELIBERAÇÃO (i) deliberar sobre as demonstrações contábeis da Classe; Maioria do total das Cotas emitidas (ii) deliberar sobre a substituição de Prestadores de Serviços 90% (noventa por cento) do total das Cotas</a:t>
            </a:r>
          </a:p>
          <a:p>
            <a:r>
              <a:t>CNPJ 55563624000109 · Quóruns e matérias reservadas · Regulamento · ID 1192614 · 30/04/2026 · versão Regulamento30/04/2026 · p. 20 · AnexoI10.2(vi)–(xiii) · https://fnet.bmfbovespa.com.br/fnet/publico/visualizarDocumento?id=1192614</a:t>
            </a:r>
          </a:p>
          <a:p>
            <a:r>
              <a:t>CNPJ 55563624000109 · Quóruns e matérias reservadas · Excerto da fonte:</a:t>
            </a:r>
          </a:p>
          <a:p>
            <a:r>
              <a:t>(vi) alterar as características, vantagens, direitos e obrigações 90% (noventa por cento) do total das Cotas das Cotas; emitidas (vii) alterar critérios e procedimentos para resgate de Cotas mediante dação em pagamento de Cotas da Classe Maioria do total das Cotas emitidas Investida; (viii) aprovar a emissão de novas Cotas fora do Capital Maioria do total das Cotas emitidas</a:t>
            </a:r>
          </a:p>
          <a:p>
            <a:r>
              <a:t>CNPJ 55563624000109 · Quóruns e matérias reservadas · Versão e prevalência: Leitura específica das cláusulas indicadas; condições e conflitos preservados. Seleção documental atual não comprova vigência jurídica por data isolada.</a:t>
            </a:r>
          </a:p>
          <a:p>
            <a:r>
              <a:t>CNPJ 55563624000109 · Quóruns e matérias reservadas · Resumo do histórico: {"count": 2, "dates": ["2025-01-31", "2026-01-31"], "document_count": 2, "sources": [{"document_id": "1178840", "title": "Demonstrações Financeiras", "reference_date": "2026-01-31", "version": "1", "page": 24, "url": "https://fnet.bmfbovespa.com.br/fnet/publico/visualizarDocumento?id=1178840", "sha256": "c458e98664c5c907ddb5a05a94b120bed4e05295b2bfc420f5ba69af0a229abe"}, {"document_id": "891861", "title": "Demonstrações Financeiras", "reference_date": "2025-01-31", "version": "1", "page": 25, "url": "https://fnet.bmfbovespa.com.br/fnet/publico/visualizarDocumento?id=891861", "sha256": "e9cb9e6ddbe505fe068cfcac33605165a98313489de0d3ce6d4d238263c3f3e7"}], "reference": {"path": "history/55563624000109.json", "criterion_id": "quorum", "total_count": 2, "preview_count": 2, "full_text_deferred": true, "sha256": "7835d573fb58a3c19adf5b8ecc2aee2bdbb9a88f7a0c0209b5f262b64c7522e3"}}</a:t>
            </a:r>
          </a:p>
          <a:p>
            <a:r>
              <a:t>CNPJ 62552447000120 · Quóruns e matérias reservadas · Regulamento · ID 1200623 · 21/05/2026 · versão Consolidado21/05/2026 aprovado pelo ato1200625 · p. 21 · AnexoI10.2(i)–(x) · https://fnet.bmfbovespa.com.br/fnet/publico/visualizarDocumento?id=1200623</a:t>
            </a:r>
          </a:p>
          <a:p>
            <a:r>
              <a:t>CNPJ 62552447000120 · Quóruns e matérias reservadas · Excerto da fonte:</a:t>
            </a:r>
          </a:p>
          <a:p>
            <a:r>
              <a:t>10.2 Os seguintes quóruns deverão ser observados pela Assembleia Especial ao deliberar as matérias abaixo: Matéria Quórum (i) deliberar sobre substituição de Prestadores de Serviços Unanimidade dos Cotistas Essenciais, observado o disposto no art. 70, §1º da Parte Geral da Resolução CVM 175, quando aplicável; (ii) deliberar sobre elevação da Taxa Global, inclusive na Unanimidade dos Cotistas hipótese de restabelecimento de taxa que tenha sido objeto de redução; (iii) delibera</a:t>
            </a:r>
          </a:p>
          <a:p>
            <a:r>
              <a:t>CNPJ 62552447000120 · Quóruns e matérias reservadas · Versão e prevalência: Leitura específica das cláusulas indicadas; condições e conflitos preservados. Seleção documental atual não comprova vigência jurídica por data isolada.</a:t>
            </a:r>
          </a:p>
          <a:p>
            <a:r>
              <a:t>CNPJ 63953620000165 · Quóruns e matérias reservadas · Anexo ao Regulamento · ID 1222863 · 02/06/2026 · versão AnexoConsignadoPrivado02/06/2026 · p. 13 · 10.2(ii)–(xvii) · https://fnet.bmfbovespa.com.br/fnet/publico/visualizarDocumento?id=1222863</a:t>
            </a:r>
          </a:p>
          <a:p>
            <a:r>
              <a:t>CNPJ 63953620000165 · Quóruns e matérias reservadas · Excerto da fonte:</a:t>
            </a:r>
          </a:p>
          <a:p>
            <a:r>
              <a:t>10.2 Os seguintes quóruns deverão ser observados pela Assembleia Especial de Cotistas ao deliberar as matérias abaixo: Matéria Quórum (i) deliberar sobre as demonstrações contábeis da Classe; Maioria das Cotas presentes (ii) alterar o presente Anexo; Maioria das Cotas de cada Subclasse (iii) deliberar sobre substituição de Prestadores de Serviços Maioria das Cotas da Classe Essenciais, observado o disposto no Artigo 70, §1º da parte geral da R</a:t>
            </a:r>
          </a:p>
          <a:p>
            <a:r>
              <a:t>CNPJ 63953620000165 · Quóruns e matérias reservadas · Anexo ao Regulamento · ID 1222863 · 02/06/2026 · versão AnexoConsignadoPrivado02/06/2026 · p. 14 · 10.5–10.8 · https://fnet.bmfbovespa.com.br/fnet/publico/visualizarDocumento?id=1222863</a:t>
            </a:r>
          </a:p>
          <a:p>
            <a:r>
              <a:t>CNPJ 63953620000165 · Quóruns e matérias reservadas · Excerto da fonte:</a:t>
            </a:r>
          </a:p>
          <a:p>
            <a:r>
              <a:t>10.5 Caso a matéria em deliberação resulte ou possa resultar em uma redução do Índice de Subordinação de uma determinada Subclasse, somente podem votar os titulares de Subclasses de Cotas Seniores. 10.6 As deliberações que tenham por objeto alterações de Benchmark apenas serão aprovadas se assim deliberado: (i) pelos votos dos titulares da maioria das Cotas Seniores cujo Benchmark é alterado; e (ii) pelos votos dos titulares da maioria das Cotas Subordinadas em circulação. 10.7 As deliberações que tenham por objeto o aumento do Índice de Subordinação Sênior estão sujeitas à aprovação da maioria simples dos votos dos titu</a:t>
            </a:r>
          </a:p>
          <a:p>
            <a:r>
              <a:t>CNPJ 63953620000165 · Quóruns e matérias reservadas · Condição: 10.7/10.8 repetem aumento do índice com quóruns distintos; interpretar regra específica demandará resolver conflito, sem presumir uma aprovação.</a:t>
            </a:r>
          </a:p>
          <a:p>
            <a:r>
              <a:t>CNPJ 63953620000165 · Quóruns e matérias reservadas · Versão e prevalência: Leitura específica das cláusulas indicadas; condições e conflitos preservados. Seleção documental atual não comprova vigência jurídica por data isolada.</a:t>
            </a:r>
          </a:p>
          <a:p>
            <a:r>
              <a:t>CNPJ 63953620000165 · Quóruns e matérias reservadas · Resumo do histórico: {"count": 7, "dates": ["2026-04-28", "2026-05-08", "2026-05-15"], "document_count": 3, "sources": [{"document_id": "1327859", "title": "Demonstrações Financeiras - Fusão, cisão e incorporação", "reference_date": "2026-05-15", "version": "1", "page": 10, "url": "https://fnet.bmfbovespa.com.br/fnet/publico/visualizarDocumento?id=1327859", "sha256": "dca1c68babb97f887528c3e2e47596a9c30f507b067981a35655b2f2da9c8054"}, {"document_id": "1298691", "title": "Demonstrações Financeiras - Fusão, cisão e incorporação", "reference_date": "2026-05-08", "version": "1", "page": 10, "url": "https://fnet.bmfbovespa.com.br/fnet/publico/visualizarDocumento?id=1298691", "sha256": "58c570d9b8d4d265330d3db3ea81c435b8e44a6dab4002aa37790652a1ee9819"}, {"document_id": "1205431", "title": "AGE", "reference_date": "2026-04-28", "version": "1", "page": 1, "url": "https://fnet.bmfbovespa.com.br/fnet/publico/visualizarDocumento?id=1205431", "sha256": "e0b59c701c5d0dbf60de698ea7664d442240863b7043bacdb334ce484188b2ac"}], "reference": {"path": "history/63953620000165.json", "criterion_id": "quorum", "total_count": 7, "preview_count": 3, "full_text_deferred": true, "sha256": "a7b89077f5e21098c2d601c303faabc3ff6b9729f89d8afecdc60fe1404720c1"}}</a:t>
            </a:r>
          </a:p>
          <a:p>
            <a:r>
              <a:t>CNPJ 54871427000194 · Partes relacionadas e conflitos · Regulamento · ID 670691 · 2024-04-28 · versão 1 · p. 11 · 4.10 · https://fnet.bmfbovespa.com.br/fnet/publico/visualizarDocumento?id=670691</a:t>
            </a:r>
          </a:p>
          <a:p>
            <a:r>
              <a:t>CNPJ 54871427000194 · Partes relacionadas e conflitos · Excerto da fonte:</a:t>
            </a:r>
          </a:p>
          <a:p>
            <a:r>
              <a:t>4.10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54871427000194 · Partes relacionadas e conflitos · Regulamento · ID 670691 · 2024-04-28 · versão 1 · p. 11 · 4.11 · https://fnet.bmfbovespa.com.br/fnet/publico/visualizarDocumento?id=670691</a:t>
            </a:r>
          </a:p>
          <a:p>
            <a:r>
              <a:t>CNPJ 54871427000194 · Partes relacionadas e conflitos · Excerto da fonte:</a:t>
            </a:r>
          </a:p>
          <a:p>
            <a:r>
              <a:t>4.11 A Classe poderá, direta ou indiretamente e, nos termos da legislação aplicável: (i) adquirir Direitos  Creditórios que sejam cedidos e/ou originados pelo ADMINISTRADOR e/ou pelo GESTOR, ou partes  a eles relacionadas, tal como definidas pelas regras contábeis que tratam desse assunto; e (ii) ceder  Direitos Creditórios a qualquer das pessoas, fundos de investimento ou entidades referidas no item (i)  acima, desde que (i) o ADMINISTRADOR, GESTOR, a entidade registradora e o CUSTODIANTE de  Direitos Creditórios não sejam partes relacionadas entre si; e (ii) a entidade registradora e o  CUSTODIANTE dos Direitos Creditórios não sejam partes relacionadas ao originador ou Cedente.</a:t>
            </a:r>
          </a:p>
          <a:p>
            <a:r>
              <a:t>CNPJ 54871427000194 · Partes relacionadas e conflitos · Regulamento · ID 670691 · 2024-04-28 · versão 1 · p. 25 · 12.21 · https://fnet.bmfbovespa.com.br/fnet/publico/visualizarDocumento?id=670691</a:t>
            </a:r>
          </a:p>
          <a:p>
            <a:r>
              <a:t>CNPJ 54871427000194 · Partes relacionadas e conflitos · Excerto da fonte:</a:t>
            </a:r>
          </a:p>
          <a:p>
            <a:r>
              <a:t>12.21 O GESTOR, em nome da Classe, poderá contratar um ou mais terceiros para a prestação de serviços  de Agente de Cobrança de Direitos Creditórios Inadimplidos, os quais poderão ser partes relacionadas  ou integrar o grupo do ADMINISTRADOR ou dos demais prestadores de serviços da Classe. ] Serão  atribuições do Agente de Cobrança, observado o disposto neste Regulamento e na regulamentação  aplicável:</a:t>
            </a:r>
          </a:p>
          <a:p>
            <a:r>
              <a:t>(i) sempre que necessário, notificar os Devedores sobre a cessão dos Direitos Creditórios à  Classe, nos termos do Art. 290 do Código Civil;</a:t>
            </a:r>
          </a:p>
          <a:p>
            <a:r>
              <a:t>(ii) sempre que solicitado pelo ADMINISTRADOR e/ou pelo GESTOR, reportar ao  ADMINISTRADOR e ao GESTOR as ações tomadas e/ou eventos relevantes ocorridos no  âmbito da cobrança, seja judicial ou extrajudicial, dos Direitos Creditórios Inadimplidos, bem  como o estado de ref erida cobrança;</a:t>
            </a:r>
          </a:p>
          <a:p>
            <a:r>
              <a:t>(iii) comparecer à Assembleia Especial de Cotistas quando assim requerido pelo  ADMINISTRADOR;</a:t>
            </a:r>
          </a:p>
          <a:p>
            <a:r>
              <a:t>(iv) conf irmar o recebimento dos boletos bancários de cobrança enviados aos Devedores, se  aplicável;</a:t>
            </a:r>
          </a:p>
          <a:p>
            <a:r>
              <a:t>(v) controlar, coordenar, gerir e f iscalizar as ações de cobrança de Direitos Creditórios  Inadimplidos;</a:t>
            </a:r>
          </a:p>
          <a:p>
            <a:r>
              <a:t>(vi) adotar, em nome e por conta da Classe, todos os procedimentos de cobrança dos Direitos  Creditórios Inadimplidos de titularidade da Classe;</a:t>
            </a:r>
          </a:p>
          <a:p>
            <a:r>
              <a:t>(vii) conf orme o caso, ef etuar a inclusão ou exclusão do nome de quaisquer Devedores dos  Direitos Creditórios Inadimplidos no registro negativo de órgãos e/ou sistemas de informação  e proteção ao crédito; e</a:t>
            </a:r>
          </a:p>
          <a:p>
            <a:r>
              <a:t>(viii) conduzir, por si ou por meio dos assessores legais contratados para esse f im, processo  administrativo, judicial e/ou arbitral contra os Devedores, incluindo, ainda, a excussão de  eventuais garantias acessórias aos Direitos Creditórios.</a:t>
            </a:r>
          </a:p>
          <a:p>
            <a:r>
              <a:t>CNPJ 54871427000194 · Partes relacionadas e conflitos · Condição: Documentos atuais selecionados no inventário por categoria/escopo; a data documental isolada não comprova vigência jurídica.</a:t>
            </a:r>
          </a:p>
          <a:p>
            <a:r>
              <a:t>CNPJ 54871427000194 · Partes relacionadas e conflitos · Versão e prevalência: Documentos atuais selecionados no inventário por categoria/escopo; a data documental isolada não comprova vigência jurídica.</a:t>
            </a:r>
          </a:p>
          <a:p>
            <a:r>
              <a:t>CNPJ 54871427000194 · Partes relacionadas e conflitos · Resumo do histórico: {"count": 1, "dates": ["2024-04-19"], "document_count": 1, "sources": [{"document_id": "670689", "title": "Regulamento", "reference_date": "2024-04-19", "version": "1", "page": 11, "clause": "4.10", "url": "https://fnet.bmfbovespa.com.br/fnet/publico/visualizarDocumento?id=670689", "sha256": "891bc9bc5d87bbc02ec139077a84d2702eb81ea02035fb71d24f5b8366b94a0b"}], "reference": {"path": "history/54871427000194.json", "criterion_id": "related_parties", "total_count": 1, "preview_count": 1, "full_text_deferred": true, "sha256": "35d7cd99be50c7287c9fb675cf4f2e736002315295a225a9efa79c8d9186d874"}}</a:t>
            </a:r>
          </a:p>
          <a:p>
            <a:r>
              <a:t>CNPJ 60010416000112 · Partes relacionadas e conflitos · Regulamento · ID 1051393 · 2025-10-09 · versão 1 · p. 12 · 4.8 · https://fnet.bmfbovespa.com.br/fnet/publico/visualizarDocumento?id=1051393</a:t>
            </a:r>
          </a:p>
          <a:p>
            <a:r>
              <a:t>CNPJ 60010416000112 · Partes relacionadas e conflitos · Excerto da fonte:</a:t>
            </a:r>
          </a:p>
          <a:p>
            <a:r>
              <a:t>4.8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60010416000112 · Partes relacionadas e conflitos · Regulamento · ID 1051393 · 2025-10-09 · versão 1 · p. 12 · 4.9 · https://fnet.bmfbovespa.com.br/fnet/publico/visualizarDocumento?id=1051393</a:t>
            </a:r>
          </a:p>
          <a:p>
            <a:r>
              <a:t>CNPJ 60010416000112 · Partes relacionadas e conflitos · Excerto da fonte:</a:t>
            </a:r>
          </a:p>
          <a:p>
            <a:r>
              <a:t>4.9 Sem prejuízo de limites mais restritivos definidos neste Regulamento, o Gestor deverá observar, ainda, os  seguintes limites de concentração para a composição da Carteira:</a:t>
            </a:r>
          </a:p>
          <a:p>
            <a:r>
              <a:t> (i ) Até 100% (cem por cento) da parcela do Patrimônio Líquido investida em Ativos  Financeiros de Liquidez poderá ser alocada em Ativos Financeiros de Liquidez de  emissão ou que envolvam retenção de risco por parte do Administrador, Gestor, e/ou  suas partes relacionadas; e</a:t>
            </a:r>
          </a:p>
          <a:p>
            <a:r>
              <a:t> (ii) Até 100% (cem por cento) da parcela do Patrimônio Líquido investida em operações  com derivativos poderá ser alocada em derivativos nos quais, inexistindo contraparte  central, se tenha como contraparte o Gestor e/ou suas partes relacionadas.</a:t>
            </a:r>
          </a:p>
          <a:p>
            <a:r>
              <a:t>CNPJ 60010416000112 · Partes relacionadas e conflitos · Regulamento · ID 1051393 · 2025-10-09 · versão 1 · p. 12 · 4.12.1 · https://fnet.bmfbovespa.com.br/fnet/publico/visualizarDocumento?id=1051393</a:t>
            </a:r>
          </a:p>
          <a:p>
            <a:r>
              <a:t>CNPJ 60010416000112 · Partes relacionadas e conflitos · Excerto da fonte:</a:t>
            </a:r>
          </a:p>
          <a:p>
            <a:r>
              <a:t>4.12.1. Após o término do Período de Investimento, a Classe utilizará os recursos provenientes do  pagamento dos Direitos Creditórios e demais aplicações para amortização das Cotas, observada  a ordem de alocação de recursos def inida no Capítulo 7 abaixo.</a:t>
            </a:r>
          </a:p>
          <a:p>
            <a:r>
              <a:t>Regras, procedimentos e limites para efetuar cessão de direitos creditórios para o cedente e suas partes relacionadas</a:t>
            </a:r>
          </a:p>
          <a:p>
            <a:r>
              <a:t>CNPJ 60010416000112 · Partes relacionadas e conflitos · Condição: Documentos atuais selecionados no inventário por categoria/escopo; a data documental isolada não comprova vigência jurídica.</a:t>
            </a:r>
          </a:p>
          <a:p>
            <a:r>
              <a:t>CNPJ 60010416000112 · Partes relacionadas e conflitos · Versão e prevalência: Documentos atuais selecionados no inventário por categoria/escopo; a data documental isolada não comprova vigência jurídica.</a:t>
            </a:r>
          </a:p>
          <a:p>
            <a:r>
              <a:t>CNPJ 60010416000112 · Partes relacionadas e conflitos · Resumo do histórico: {"count": 1, "dates": ["2025-03-20"], "document_count": 1, "sources": [{"document_id": "993786", "title": "Regulamento", "reference_date": "2025-03-20", "version": "1", "page": 12, "clause": "4.8", "url": "https://fnet.bmfbovespa.com.br/fnet/publico/visualizarDocumento?id=993786", "sha256": "fd0fdd369a195510d81f81f505195a0b09e5f43522a990afa7d58c4f872921c8"}], "reference": {"path": "history/60010416000112.json", "criterion_id": "related_parties", "total_count": 1, "preview_count": 1, "full_text_deferred": true, "sha256": "8e2bd813f4c51cf01f6bfaad164bafe69d2bbb192f753eac92da3a01c2e63046"}}</a:t>
            </a:r>
          </a:p>
          <a:p>
            <a:r>
              <a:t>CNPJ 62696791000193 · Partes relacionadas e conflitos · Regulamento · ID 1143317 · 2026-03-20 · versão 1 · p. 12 · 4.10 · https://fnet.bmfbovespa.com.br/fnet/publico/visualizarDocumento?id=1143317</a:t>
            </a:r>
          </a:p>
          <a:p>
            <a:r>
              <a:t>CNPJ 62696791000193 · Partes relacionadas e conflitos · Excerto da fonte:</a:t>
            </a:r>
          </a:p>
          <a:p>
            <a:r>
              <a:t>4.10 Sem prejuízo de limites mais restritivos definidos neste Anexo, o Gestor deverá observar, ainda, os  seguintes limites de concentração:</a:t>
            </a:r>
          </a:p>
          <a:p>
            <a:r>
              <a:t> (i) A Classe poderá, direta ou indiretamente, ter até 100% (cem por cento) do Patrimônio  Líquido representado por Direitos Creditórios do Agronegócio originados ou cedidos  pelo Administrador, Gestor e/ou suas partes relacionadas, tal como definidas pelas  regras contábeis que tratam desse assunto, desde que (a) o Gest or, a entidade  registradora e o Custodiante dos Direitos Creditórios do Agronegócio não sejam partes  relacionadas entre si; e (b) a entidade registradora e o Custodiante dos Direitos  Creditórios do Agronegócio não sejam partes relacionadas ao originador ou Cedente.</a:t>
            </a:r>
          </a:p>
          <a:p>
            <a:r>
              <a:t> (ii) No máximo, 100% (cem por cento) do Patrimônio Líquido investido em Ativos  Financeiros de Liquidez de emissão ou que envolvam retenção de risco por parte do  Administrador, Gestor, e/ou suas partes relacionadas, observado ainda o disposto no  item Error! Reference source not found.;</a:t>
            </a:r>
          </a:p>
          <a:p>
            <a:r>
              <a:t> (iii) No máximo, 100% (cem por cento) do Patrimônio Líquido investido em operações com  derivativos nos quais, inexistindo contraparte central, se tenha como contraparte o  Gestor, e/ou suas partes relacionadas, observado ainda o disposto no item Error!  Reference source not found.;</a:t>
            </a:r>
          </a:p>
          <a:p>
            <a:r>
              <a:t> (iv) No máximo, 100% (cem por cento) do Patrimônio Líquido em cotas de uma mesma  classe;</a:t>
            </a:r>
          </a:p>
          <a:p>
            <a:r>
              <a:t> (v) É vedada a aquisição de precatórios f ederais.</a:t>
            </a:r>
          </a:p>
          <a:p>
            <a:r>
              <a:t> (vi) No máximo, 49% (quarenta e nove por cento) do Patrimônio Líquido em Ativos  Imobiliários do Agronegócio;</a:t>
            </a:r>
          </a:p>
          <a:p>
            <a:r>
              <a:t> (vii) No máximo, 49% (quarenta e nove por cento) do Patrimônio Líquido em Participações  do Agronegócio;</a:t>
            </a:r>
          </a:p>
          <a:p>
            <a:r>
              <a:t> (viii) No máximo, 49% (quarenta e nove por cento) do Patrimônio Líquido em Ativos  Financeiros do Agronegócio; e</a:t>
            </a:r>
          </a:p>
          <a:p>
            <a:r>
              <a:t> (ix) No máximo, 49% (quarenta e nove por cento) do Patrimônio Líquido em Ativos em Geral  do Agronegócio;</a:t>
            </a:r>
          </a:p>
          <a:p>
            <a:r>
              <a:t> Ativos Recuperados</a:t>
            </a:r>
          </a:p>
          <a:p>
            <a:r>
              <a:t>CNPJ 62696791000193 · Partes relacionadas e conflitos · Regulamento · ID 1143317 · 2026-03-20 · versão 1 · p. 11 · 4.8 · https://fnet.bmfbovespa.com.br/fnet/publico/visualizarDocumento?id=1143317</a:t>
            </a:r>
          </a:p>
          <a:p>
            <a:r>
              <a:t>CNPJ 62696791000193 · Partes relacionadas e conflitos · Excerto da fonte:</a:t>
            </a:r>
          </a:p>
          <a:p>
            <a:r>
              <a:t>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relacionadas ao Gestor.</a:t>
            </a:r>
          </a:p>
          <a:p>
            <a:r>
              <a:t>CNPJ 62696791000193 · Partes relacionadas e conflitos · Regulamento · ID 1143317 · 2026-03-20 · versão 1 · p. 14 · 4.21.1 · https://fnet.bmfbovespa.com.br/fnet/publico/visualizarDocumento?id=1143317</a:t>
            </a:r>
          </a:p>
          <a:p>
            <a:r>
              <a:t>CNPJ 62696791000193 · Partes relacionadas e conflitos · Excerto da fonte:</a:t>
            </a:r>
          </a:p>
          <a:p>
            <a:r>
              <a:t>4.21.1 Sem prejuízo do disposto acima, poderá ser contratado terceiro especializado para o  gerenciamento das obras, para controle dos desembolsos, conforme medições durante a etapa  de desenvolvimento e construção dos Ativos Imobiliários do Agronegócio, sendo certo que,  caso haja a contratação de terceiros em situação de conflito de interesses, deverá ser aprovado  em assembleia de Cotistas.</a:t>
            </a:r>
          </a:p>
          <a:p>
            <a:r>
              <a:t>CNPJ 62696791000193 · Partes relacionadas e conflitos · Condição: Documentos atuais selecionados no inventário por categoria/escopo; a data documental isolada não comprova vigência jurídica.</a:t>
            </a:r>
          </a:p>
          <a:p>
            <a:r>
              <a:t>CNPJ 62696791000193 · Partes relacionadas e conflitos · Versão e prevalência: Documentos atuais selecionados no inventário por categoria/escopo; a data documental isolada não comprova vigência jurídica.</a:t>
            </a:r>
          </a:p>
          <a:p>
            <a:r>
              <a:t>CNPJ 55563624000109 · Partes relacionadas e conflitos · Regulamento · ID 1192614 · 2026-04-30 · versão 1 · p. 13 · 4.12.1 · https://fnet.bmfbovespa.com.br/fnet/publico/visualizarDocumento?id=1192614</a:t>
            </a:r>
          </a:p>
          <a:p>
            <a:r>
              <a:t>CNPJ 55563624000109 · Partes relacionadas e conflitos · Excerto da fonte:</a:t>
            </a:r>
          </a:p>
          <a:p>
            <a:r>
              <a:t>4.12.1 A Classe poderá ter até 100% (cem por cento) do Patrimônio Líquido representado por Cotas da Classe  Investida administrados pelo ADMINISTRADOR, e geridos ou cogeridos pelo GESTOR e/ou suas partes  relacionadas.</a:t>
            </a:r>
          </a:p>
          <a:p>
            <a:r>
              <a:t> Revolvência da Carteira</a:t>
            </a:r>
          </a:p>
          <a:p>
            <a:r>
              <a:t>CNPJ 55563624000109 · Partes relacionadas e conflitos · Regulamento · ID 1192614 · 2026-04-30 · versão 1 · p. 28 · 13.2 · https://fnet.bmfbovespa.com.br/fnet/publico/visualizarDocumento?id=1192614</a:t>
            </a:r>
          </a:p>
          <a:p>
            <a:r>
              <a:t>CNPJ 55563624000109 · Partes relacionadas e conflitos · Excerto da fonte:</a:t>
            </a:r>
          </a:p>
          <a:p>
            <a:r>
              <a:t>13.2 Em condições ordinárias, as Cotas da Classe Investida não pagarão remuneração aos prestadores de serviços  essenciais da Classe Investida, nos termos de seu regulamento. Não obstante, em cenário extraordinário  conforme descrito no item 15.1.1 (iii), e para fins de atendimento ao artigo 98 da parte geral da Resolução CVM  175, a taxa máxima de administração corresponderá ao valor da Taxa Mínima de Administração acrescida de até  0,10% (dez centésimos por cento) ao ano incidente sobre o patrimônio líquido da Classe Investida,  compreendendo a taxa de administração da Classe Investida geridos por partes relacionadas ao GESTOR, cujas  cotas não estão admitidas à negociação em mercado organizado, conforme prevista no regulamento da Classe  Investida (“Taxa Máxima de Administração” e, quando referida em conjunto com a Taxa Mínima de  Administração, como “Taxa de Administração”). Caso a taxa de administração da Classe Investida não se  enquadre no disposto acima, estará disposta no regulamento da Classe Investida.</a:t>
            </a:r>
          </a:p>
          <a:p>
            <a:r>
              <a:t>CNPJ 55563624000109 · Partes relacionadas e conflitos · Regulamento · ID 1192614 · 2026-04-30 · versão 1 · p. 37 · https://fnet.bmfbovespa.com.br/fnet/publico/visualizarDocumento?id=1192614</a:t>
            </a:r>
          </a:p>
          <a:p>
            <a:r>
              <a:t>CNPJ 55563624000109 · Partes relacionadas e conflitos · Excerto da fonte:</a:t>
            </a:r>
          </a:p>
          <a:p>
            <a:r>
              <a:t>(ix) Possibilidade de conflito de interesses. As Cotas poderão ser adquiridas por investidores que  sejam partes relacionadas à Classe Investida ou aos prestadores de serviços da Classe Investida. Nessa  hipótese, poderá haver situações de conflito de interesses entre os interesses desses investidores e o  interesse dos demais Cotistas, podendo qualquer desses investidores, inclusive, aprovar deliberações  contrárias aos interesses dos demais Cotistas caso sejam titulares da maioria das Cotas presentes às  Assembleias de Cotistas.</a:t>
            </a:r>
          </a:p>
          <a:p>
            <a:r>
              <a:t>CNPJ 55563624000109 · Partes relacionadas e conflitos · Condição: Documentos atuais selecionados no inventário por categoria/escopo; a data documental isolada não comprova vigência jurídica.</a:t>
            </a:r>
          </a:p>
          <a:p>
            <a:r>
              <a:t>CNPJ 55563624000109 · Partes relacionadas e conflitos · Versão e prevalência: Documentos atuais selecionados no inventário por categoria/escopo; a data documental isolada não comprova vigência jurídica.</a:t>
            </a:r>
          </a:p>
          <a:p>
            <a:r>
              <a:t>CNPJ 55563624000109 · Partes relacionadas e conflitos · Resumo do histórico: {"count": 2, "dates": ["2025-01-31", "2026-01-31"], "document_count": 2, "sources": [{"document_id": "1178840", "title": "Demonstrações Financeiras", "reference_date": "2026-01-31", "version": "1", "page": 23, "url": "https://fnet.bmfbovespa.com.br/fnet/publico/visualizarDocumento?id=1178840", "sha256": "c458e98664c5c907ddb5a05a94b120bed4e05295b2bfc420f5ba69af0a229abe"}, {"document_id": "891861", "title": "Demonstrações Financeiras", "reference_date": "2025-01-31", "version": "1", "page": 23, "url": "https://fnet.bmfbovespa.com.br/fnet/publico/visualizarDocumento?id=891861", "sha256": "e9cb9e6ddbe505fe068cfcac33605165a98313489de0d3ce6d4d238263c3f3e7"}], "reference": {"path": "history/55563624000109.json", "criterion_id": "related_parties", "total_count": 2, "preview_count": 2, "full_text_deferred": true, "sha256": "7835d573fb58a3c19adf5b8ecc2aee2bdbb9a88f7a0c0209b5f262b64c7522e3"}}</a:t>
            </a:r>
          </a:p>
          <a:p>
            <a:r>
              <a:t>CNPJ 62552447000120 · Partes relacionadas e conflitos · Regulamento · ID 1200623 · 2026-05-21 · versão 1 · p. 14 · 4.10 · https://fnet.bmfbovespa.com.br/fnet/publico/visualizarDocumento?id=1200623</a:t>
            </a:r>
          </a:p>
          <a:p>
            <a:r>
              <a:t>CNPJ 62552447000120 · Partes relacionadas e conflitos · Excerto da fonte:</a:t>
            </a:r>
          </a:p>
          <a:p>
            <a:r>
              <a:t>4.10 Nos termos do art. 45, §7º, inciso II, do Anexo Normativo II, a Classe poderá ter até 100% (cem por  cento) de seu Patrimônio Líquido alocado em Direitos Creditórios, derivativos, observado o disposto  abaixo,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62552447000120 · Partes relacionadas e conflitos · Regulamento · ID 1200623 · 2026-05-21 · versão 1 · p. 14 · 4.11 · https://fnet.bmfbovespa.com.br/fnet/publico/visualizarDocumento?id=1200623</a:t>
            </a:r>
          </a:p>
          <a:p>
            <a:r>
              <a:t>CNPJ 62552447000120 · Partes relacionadas e conflitos · Excerto da fonte:</a:t>
            </a:r>
          </a:p>
          <a:p>
            <a:r>
              <a:t>4.11 Sem prejuízo de limites mais restritivos definidos neste Regulamento, o Gestor deverá observar, ainda,  os seguintes limites de concentração para a composição da Carteira:</a:t>
            </a:r>
          </a:p>
          <a:p>
            <a:r>
              <a:t> (i) Até 100% (cem por cento) da parcela do Patrimônio Líquido investida em Direitos  Creditórios poderão ser alocados em Direitos Creditórios originados ou cedidos pelo  Administrador, Gestor e/ou suas partes relacionadas, tal como definidas pelas regras  contábeis que tratam desse assunto . A Classe também poderá ceder Direitos  Creditórios a qualquer das pessoas, f undos de investimento ou entidades ref eridas  acima, desde que a entidade registradora e o Custodiante dos Direitos Creditórios não  sejam partes relacionadas ao Originador ou Endossante;</a:t>
            </a:r>
          </a:p>
          <a:p>
            <a:r>
              <a:t> (ii) Até 100% (cem por cento) da parcela do Patrimônio Líquido investida em Ativos  Financeiros poderão ser alocados em Ativos Financeiros de emissão ou que envolvam  retenção de risco por parte do Administrador, Gestor e/ou suas partes relacionadas; e</a:t>
            </a:r>
          </a:p>
          <a:p>
            <a:r>
              <a:t> (iii) Até 100% (cem por cento) da parcela do Patrimônio Líquido investida em operações  com derivativos poderão ser alocados em operações com derivativos nas quais,  inexistindo contraparte central, se tenha como contraparte o Gestor e/ou suas partes  relacionadas.</a:t>
            </a:r>
          </a:p>
          <a:p>
            <a:r>
              <a:t>CNPJ 62552447000120 · Partes relacionadas e conflitos · Regulamento · ID 1200623 · 2026-05-21 · versão 1 · p. 15 · 4.18 · https://fnet.bmfbovespa.com.br/fnet/publico/visualizarDocumento?id=1200623</a:t>
            </a:r>
          </a:p>
          <a:p>
            <a:r>
              <a:t>CNPJ 62552447000120 · Partes relacionadas e conflitos · Excerto da fonte:</a:t>
            </a:r>
          </a:p>
          <a:p>
            <a:r>
              <a:t>4.18 Ainda que integrem a Carteira, os Ativos Recuperados não serão, sob qualquer hipótese, adquiridos  como parte da Política de Investimento, de forma que serão de sua propriedade exclusivamente, não  devendo, portanto, ser contabilizados para f ins de enquadramento da Classe.</a:t>
            </a:r>
          </a:p>
          <a:p>
            <a:r>
              <a:t>Regras, procedimentos e limites para efetuar qualquer modalidade de transferência dos Direitos Creditórios, incluindo, sem limitação, endosso (“Transferência”) para o Endossante e suas partes relacionadas</a:t>
            </a:r>
          </a:p>
          <a:p>
            <a:r>
              <a:t>CNPJ 62552447000120 · Partes relacionadas e conflitos · Condição: Documentos atuais selecionados no inventário por categoria/escopo; a data documental isolada não comprova vigência jurídica.</a:t>
            </a:r>
          </a:p>
          <a:p>
            <a:r>
              <a:t>CNPJ 62552447000120 · Partes relacionadas e conflitos · Versão e prevalência: Documentos atuais selecionados no inventário por categoria/escopo; a data documental isolada não comprova vigência jurídica.</a:t>
            </a:r>
          </a:p>
          <a:p>
            <a:r>
              <a:t>CNPJ 63953620000165 · Partes relacionadas e conflitos · Anexo ao Regulamento · ID 1222863 · 2026-06-02 · versão 1 · p. 6 · 4.14 · https://fnet.bmfbovespa.com.br/fnet/publico/visualizarDocumento?id=1222863</a:t>
            </a:r>
          </a:p>
          <a:p>
            <a:r>
              <a:t>CNPJ 63953620000165 · Partes relacionadas e conflitos · Excerto da fonte:</a:t>
            </a:r>
          </a:p>
          <a:p>
            <a:r>
              <a:t>4.14 Nos termos do Art. 45, §7º, inciso II, do Anexo Normativo II da Resolução CVM 175, a Classe poderá ter até 100%  (cem por cento) de seu Patrimônio Líquido alocado em Direitos Creditórios, derivativos, observado o disposto  neste Anexo I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63953620000165 · Partes relacionadas e conflitos · Anexo ao Regulamento · ID 1222863 · 2026-06-02 · versão 1 · p. 8 · 4.21 · https://fnet.bmfbovespa.com.br/fnet/publico/visualizarDocumento?id=1222863</a:t>
            </a:r>
          </a:p>
          <a:p>
            <a:r>
              <a:t>CNPJ 63953620000165 · Partes relacionadas e conflitos · Excerto da fonte:</a:t>
            </a:r>
          </a:p>
          <a:p>
            <a:r>
              <a:t>4.21 Ainda que integrem a carteira da Classe, os Ativos Recuperados não serão, sob qualquer hipótese, adquiridos  como parte da Política de Investimento da Classe, de forma que serão de sua propriedade exclusivamente, não  devendo, portanto, ser contabilizados para fins de enquadramento da Classe.</a:t>
            </a:r>
          </a:p>
          <a:p>
            <a:r>
              <a:t> Regras, procedimentos e limites para efetuar o Endosso de Direitos Creditórios Crédito Consignado para o Endossante e  suas partes relacionadas</a:t>
            </a:r>
          </a:p>
          <a:p>
            <a:r>
              <a:t>CNPJ 63953620000165 · Partes relacionadas e conflitos · Anexo ao Regulamento · ID 1222863 · 2026-06-02 · versão 1 · p. 7 · https://fnet.bmfbovespa.com.br/fnet/publico/visualizarDocumento?id=1222863</a:t>
            </a:r>
          </a:p>
          <a:p>
            <a:r>
              <a:t>CNPJ 63953620000165 · Partes relacionadas e conflitos · Excerto da fonte:</a:t>
            </a:r>
          </a:p>
          <a:p>
            <a:r>
              <a:t>Anexo I ao Regulamento  CLASSE CONSIGNADO PRIVADO DO MT GLOBAL FUNDO DE INVESTIMENTO EM DIREITOS  CREDITÓRIOS RESPONSABILIDADE LIMITADA</a:t>
            </a:r>
          </a:p>
          <a:p>
            <a:r>
              <a:t> (i)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 (ii) No máximo, 50% (cinquenta por cento) do Patrimônio Líquido investido em Ativos Financeiros  de Liquidez de emissão ou que envolvam retenção de risco por parte do Administrador, Gestor,  e/ou suas partes relacionadas, observado ainda o disposto acima;</a:t>
            </a:r>
          </a:p>
          <a:p>
            <a:r>
              <a:t> (iii) No máximo, 100% (cem por cento) do Patrimônio Líquido investido em operações com  derivativos nos quais, inexistindo contraparte central, se tenha como contraparte o Gestor,  Consultora e/ou suas partes relacionadas, observado ainda o disposto acima;</a:t>
            </a:r>
          </a:p>
          <a:p>
            <a:r>
              <a:t> (iv) A Classe poderá investir até 100% (cem por cento) de seu Patrimônio Líquido em Direitos  Creditórios Não-Padronizados;</a:t>
            </a:r>
          </a:p>
          <a:p>
            <a:r>
              <a:t> (v) É vedada a aquisição de precatórios federais.</a:t>
            </a:r>
          </a:p>
          <a:p>
            <a:r>
              <a:t>CNPJ 63953620000165 · Partes relacionadas e conflitos · Condição: Documentos atuais selecionados no inventário por categoria/escopo; a data documental isolada não comprova vigência jurídica.</a:t>
            </a:r>
          </a:p>
          <a:p>
            <a:r>
              <a:t>CNPJ 63953620000165 · Partes relacionadas e conflitos · Versão e prevalência: Documentos atuais selecionados no inventário por categoria/escopo; a data documental isolada não comprova vigência jurídica.</a:t>
            </a:r>
          </a:p>
          <a:p>
            <a:r>
              <a:t>CNPJ 54871427000194 · Histórico de alterações materiais · Instrumento Particular de Alteração do Regulamento · ID 670690 · 28/05/2024 · versão Instrumento Particular de Alteração do Regulamento — referência 28/05/2024 · p. 1 · AGC, 4.1–4.2 · https://fnet.bmfbovespa.com.br/fnet/publico/visualizarDocumento?id=670690</a:t>
            </a:r>
          </a:p>
          <a:p>
            <a:r>
              <a:t>CNPJ 54871427000194 · Histórico de alterações materiais · Excerto da fonte:</a:t>
            </a:r>
          </a:p>
          <a:p>
            <a:r>
              <a:t>4.1. A alteração integral do anexo da Classe Única, que compõe o regulamento do Fundo (“Anexo da Classe Única” e “Regulamento”) e seus complementos, para de f orma a alterar a Política de Investimentos da Classe para aquisição de direitos creditórios representados por Certif icados de Cédulas de Crédito Bancário (“CCCBs” e “Direitos Creditórios”), bem como refletir os novos critérios de elegibilidade para aquisição dos Direitos Creditórios, os documentos comprobatórios do lastro e f atores de risco aplicáveis. 4.2. Tendo em vista a aprovação dos itens. acima, deliberaram por aprovar o novo Regulamento Consolidado, que vigorará na forma do Anexo I à presente Ata, o qual terá efeitos retroativos a abertura de 28 de maio de 2024. 4.3. Por f im, por aprovar a Administradora a adotar todas as medidas necessárias para implementação das deliberações acima. 5. ENCERRAMENTO Nada mais havendo a tratar, f oi a reunião encerrada. Rio de Janeiro, 28 de maio de 2024. Mesa: Diego Prado Tassiana Lima Presidente</a:t>
            </a:r>
          </a:p>
          <a:p>
            <a:r>
              <a:t>CNPJ 54871427000194 · Histórico de alterações materiais · Regulamento · ID 670691 · 28/04/2024 · versão Regulamento — referência 28/04/2024 · p. 9 · Regulamento 670691, Anexo I, 4.2 · https://fnet.bmfbovespa.com.br/fnet/publico/visualizarDocumento?id=670691</a:t>
            </a:r>
          </a:p>
          <a:p>
            <a:r>
              <a:t>CNPJ 54871427000194 · Histórico de alterações materiais · Excerto da fonte:</a:t>
            </a:r>
          </a:p>
          <a:p>
            <a:r>
              <a:t>4.2 Os Direitos Creditórios representados por Certif icados de Cédulas de Crédito Bancário (“CCCBs”), representativos de um agrupamento de determinadas CCBs, originadas no âmbito de operações de empréstimos pessoais concedidos por um Endossante a um Devedor, devidamente f ormalizadas por via eletrônica de acordo com a legislação aplicável, segundo os critérios de composição e diversificação estabelecidos pela regulamentação aplicável e neste Regulamento. 4.2.1 Cada Endossante deve ter celebrado convênio com órgão consignante, previamente à cessão de Direitos Creditórios à Classe, que contemplam a obrigação da manutenção da consignação/averbação junto ao novo órgão, de modo a possibilitar o pagamento dos Direitos Creditórios por meio de consignação em f olha de pagamento ou de benef ício . 4.3 Os pagamentos relativos aos Direitos Creditórios de titularidade da Classe serão realizados mediante consignação em folha, débito em conta de titularidade dos Devedores e pagamentos de sinistros, para pagamento dos valores correspondentes às parcelas das CCBs representadas pelos CCCBs de titularidade da Classe, os quais serão conciliados e repassados pelo Endossan</a:t>
            </a:r>
          </a:p>
          <a:p>
            <a:r>
              <a:t>CNPJ 54871427000194 · Histórico de alterações materiais · Condição: A classificação Fundos Net do documento 670690 é “regulamento”, mas seu conteúdo é uma AGC. A divergência de datas impede usar a referência do 670691 como prova autônoma de início de vigência.</a:t>
            </a:r>
          </a:p>
          <a:p>
            <a:r>
              <a:t>CNPJ 54871427000194 · Histórico de alterações materiais · Motivo: Não localizada uma cláusula material para este critério nos textos identificados e processados. A ausência de resultado não comprova inexistência da regra.</a:t>
            </a:r>
          </a:p>
          <a:p>
            <a:r>
              <a:t>CNPJ 54871427000194 · Histórico de alterações materiais · Versão e prevalência: Leitura específica das cláusulas indicadas; condições e conflitos preservados. Seleção documental atual não comprova vigência jurídica por data isolada.</a:t>
            </a:r>
          </a:p>
          <a:p>
            <a:r>
              <a:t>CNPJ 60010416000112 · Histórico de alterações materiais · Demonstrações Financeiras - Fusão, cisão e incorporação · ID 1298690 · 2026-05-08 · versão 1 · p. 30 · https://fnet.bmfbovespa.com.br/fnet/publico/visualizarDocumento?id=1298690</a:t>
            </a:r>
          </a:p>
          <a:p>
            <a:r>
              <a:t>CNPJ 60010416000112 · Histórico de alterações materiais · Excerto da fonte:</a:t>
            </a:r>
          </a:p>
          <a:p>
            <a:r>
              <a:t>Durante o período de investimento, a Administradora poderá deliberar por realizar novas  emissões de Cotas Seniores, sem a necessidade de aprovação em Assembleia Especial de  Cotistas ou alteração do Regulamento, limitadas ao montante máximo de R$ 1.000.000 (um  bilhão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seniores emitidas não sejam superiores aos  prazos de vencimento da primeira emissão.</a:t>
            </a:r>
          </a:p>
          <a:p>
            <a:r>
              <a:t>CNPJ 60010416000112 · Histórico de alterações materiais · Demonstrações Financeiras - Fusão, cisão e incorporação · ID 1298690 · 2026-05-08 · versão 1 · p. 30 · https://fnet.bmfbovespa.com.br/fnet/publico/visualizarDocumento?id=1298690</a:t>
            </a:r>
          </a:p>
          <a:p>
            <a:r>
              <a:t>CNPJ 60010416000112 · Histórico de alterações materiais · Excerto da fonte:</a:t>
            </a:r>
          </a:p>
          <a:p>
            <a:r>
              <a:t>Durante o período de investimento, a Administradora poderá deliberar por realizar novas  emissões de cotas subordinadas, sem a necessidade de aprovação em Assembleia Especial  de Cotistas ou alteração do Regulamento, limitadas ao montante máximo de R$ 50.000  (cinquenta milhões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subordinadas emitidas não sejam  superiores aos prazos de vencimento da primeira emissão.</a:t>
            </a:r>
          </a:p>
          <a:p>
            <a:r>
              <a:t>CNPJ 60010416000112 · Histórico de alterações materiais · Condição: Documentos atuais selecionados no inventário por categoria/escopo; a data documental isolada não comprova vigência jurídica.</a:t>
            </a:r>
          </a:p>
          <a:p>
            <a:r>
              <a:t>CNPJ 60010416000112 · Histórico de alterações materiais · Versão e prevalência: Documentos atuais selecionados no inventário por categoria/escopo; a data documental isolada não comprova vigência jurídica.</a:t>
            </a:r>
          </a:p>
          <a:p>
            <a:r>
              <a:t>CNPJ 60010416000112 · Histórico de alterações materiais · Resumo do histórico: {"count": 5, "dates": ["2025-11-30", "2026-03-18", "2026-04-16"], "document_count": 3, "sources": [{"document_id": "1282181", "title": "Demonstrações Financeiras - Fusão, cisão e incorporação", "reference_date": "2026-04-16", "version": "1", "page": 32, "url": "https://fnet.bmfbovespa.com.br/fnet/publico/visualizarDocumento?id=1282181", "sha256": "b1c6566e43a00bcd00c8a7f30c77b7f86e351bd8e355bbea113f46d1dafda703"}, {"document_id": "1224477", "title": "Demonstrações Financeiras - Fusão, cisão e incorporação", "reference_date": "2026-03-18", "version": "1", "page": 32, "url": "https://fnet.bmfbovespa.com.br/fnet/publico/visualizarDocumento?id=1224477", "sha256": "0751bf0a75bc3b44c2748f5000226665c6ec6698a90c4dc6170b4e6c187759ae"}, {"document_id": "1126154", "title": "Demonstrações Financeiras", "reference_date": "2025-11-30", "version": "1", "page": 32, "url": "https://fnet.bmfbovespa.com.br/fnet/publico/visualizarDocumento?id=1126154", "sha256": "a01e7ccf88c548f12c95cba8526d7efbef6b585c112cd4668eca781c292090b0"}], "reference": {"path": "history/60010416000112.json", "criterion_id": "changes", "total_count": 5, "preview_count": 3, "full_text_deferred": true, "sha256": "8e2bd813f4c51cf01f6bfaad164bafe69d2bbb192f753eac92da3a01c2e63046"}}</a:t>
            </a:r>
          </a:p>
          <a:p>
            <a:r>
              <a:t>CNPJ 62696791000193 · Histórico de alterações materiais · AGE · ID 1143319 · 20/03/2026 10:00 · versão AGE — referência 20/03/2026 10:00 · p. 1 · AGC, 4.1(a)–(c) · https://fnet.bmfbovespa.com.br/fnet/publico/visualizarDocumento?id=1143319</a:t>
            </a:r>
          </a:p>
          <a:p>
            <a:r>
              <a:t>CNPJ 62696791000193 · Histórico de alterações materiais · Excerto da fonte:</a:t>
            </a:r>
          </a:p>
          <a:p>
            <a:r>
              <a:t>4.1. Aprovar a transformação do Fundo, bem como de sua Classe única, em um fundo de investimento nas cadeias produtivas do agronegócio (“Transformação”), nos termos da parte geral e do Anexo Normativo VI da Resolução nº 175 da CVM, de 23 de dezembro de 2022, conforme alterada (“Resolução CVM 175”). a. Aprovar a alteração da denominação do Fundo, que passará a vigorar como BTG PACTUAL CERES CONFINA FUNDO DE INVESTIMENTO NAS CADEIAS PRODUTIVAS DO AGRONEGÓCIO RESPONSABILIDADE LIMITADA, e de sua Classe única, que passará a vigorar como CLASSE ÚNICA DO BTG PACTUAL CERES CONFINA FUNDO DE INVESTIMENTO NAS CADEIAS PRODUTIVAS DO AGRONEGÓCIO RESPONSABILIDADE LIMITADA (“Classe”); b. Aprovar a reforma integral do Regulamento do Fundo, bem como do Anexo descritivo da Classe, para realizar todos os ajustes necessários à implementação da Transformação, incluindo, mas não se limitando, a política de investimentos, o regime tributário e os fatores de risco aplicáveis, conforme itens abaixo; c. Aprovar a alteração do quadro de características gerais do Fundo, considerando a contratação do Cogestor pelo Gestor, nos termos do artigo 52, II, da parte geral da Resolução CVM 175 e no co</a:t>
            </a:r>
          </a:p>
          <a:p>
            <a:r>
              <a:t>CNPJ 62696791000193 · Histórico de alterações materiais · AGE · ID 1143319 · 20/03/2026 10:00 · versão AGE — referência 20/03/2026 10:00 · p. 3 · AGC, 4.1(j)–(k) · https://fnet.bmfbovespa.com.br/fnet/publico/visualizarDocumento?id=1143319</a:t>
            </a:r>
          </a:p>
          <a:p>
            <a:r>
              <a:t>CNPJ 62696791000193 · Histórico de alterações materiais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Histórico de alterações materiais · Instrumento Particular de Emissão de Cotas · ID 1148821 · 27/03/2026 · versão Instrumento Particular de Emissão de Cotas — referência 27/03/2026 · p. 1 · Deliberação Conjunta27/03/2026, item1 · https://fnet.bmfbovespa.com.br/fnet/publico/visualizarDocumento?id=1148821</a:t>
            </a:r>
          </a:p>
          <a:p>
            <a:r>
              <a:t>CNPJ 62696791000193 · Histórico de alterações materiais · Excerto da fonte:</a:t>
            </a:r>
          </a:p>
          <a:p>
            <a:r>
              <a:t>1. Aprovar a 2ª (segunda) emissão da Subclasse Subordinada Júnior da Classe, composta por até 20.000 (vinte mil) Cotas Subordinadas Júnior, com valor nominal unitário de R$ 1.000,00 (mil reais), perfazendo o montante total de R$ 20.000.000,00 (vinte milhões de reais), as quais serão objeto de colocação privada, de acordo com os termos e condições definidos no Apêndice da Subclasse Subordinada Júnior constante do Anexo I Regulamento e descritas abaixo (“2ª Emissão da Subclasse Subordinada Júnior”): a) Rito: as Cotas Subordinadas Júnior objeto da 2ª Emissão da Subclasse Subordinada Júnior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Subordinada Júnior na data de integralização, calculado na forma prevista no respectivo Apêndice; BTG Pactual 1 SAC: 0800 772 28 27 - Ouvidoria: 0800 722 00 48 - btgpactual.com</a:t>
            </a:r>
          </a:p>
          <a:p>
            <a:r>
              <a:t>CNPJ 62696791000193 · Histórico de alterações materiais · Instrumento Particular de Emissão de Cotas · ID 1148821 · 27/03/2026 · versão Instrumento Particular de Emissão de Cotas — referência 27/03/2026 · p. 2 · Deliberação Conjunta, itens2–3 · https://fnet.bmfbovespa.com.br/fnet/publico/visualizarDocumento?id=1148821</a:t>
            </a:r>
          </a:p>
          <a:p>
            <a:r>
              <a:t>CNPJ 62696791000193 · Histórico de alterações materiais · Excerto da fonte:</a:t>
            </a:r>
          </a:p>
          <a:p>
            <a:r>
              <a:t>2. Aprovar a 2ª (segunda) emissão da Subclasse Sênior da Classe, composta por até 150.000 (cento e cinquenta mil) Cotas Seniores, com valor nominal unitário de R$ 1.000,00 (mil reais), perfazendo o montante total de R$ 150.000.000,00 (cento e cinquenta milhões de reais), as quais serão objeto de colocação privada, de acordo com os termos e condições descritos no Apêndice da Subclasse Sênior constante do Anexo I Regulamento e descritas abaixo (“2ª Emissão da Subclasse Sênior”): a) Rito: as Cotas Seniores objeto da 2ª Emissão da Subclasse Sênior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Sênior na data de integralização, calculado na forma prevista no respectivo Apêndice; d) Forma de Integralização: as Cotas Seniores serão integralizadas mediante chamadas de capital, junto ao seu respectivo agente de custódia e/ou da Administradora na qualidade de escriturador das cotas, nos termos d</a:t>
            </a:r>
          </a:p>
          <a:p>
            <a:r>
              <a:t>CNPJ 62696791000193 · Histórico de alterações materiais · Versão e prevalência: Leitura específica das cláusulas indicadas; condições e conflitos preservados. Seleção documental atual não comprova vigência jurídica por data isolada.</a:t>
            </a:r>
          </a:p>
          <a:p>
            <a:r>
              <a:t>CNPJ 55563624000109 · Histórico de alterações materiais · Motivo: Não localizada uma cláusula material para este critério nos textos identificados e processados. A ausência de resultado não comprova inexistência da regra.</a:t>
            </a:r>
          </a:p>
          <a:p>
            <a:r>
              <a:t>CNPJ 62552447000120 · Histórico de alterações materiais · Ato do Administrador · ID 1200625 · 2026-05-21 · versão Ato21/05/2026 · p. 1 · itens1–2 · https://fnet.bmfbovespa.com.br/fnet/publico/visualizarDocumento?id=1200625</a:t>
            </a:r>
          </a:p>
          <a:p>
            <a:r>
              <a:t>CNPJ 62552447000120 · Histórico de alterações materiais · Excerto da fonte:</a:t>
            </a:r>
          </a:p>
          <a:p>
            <a:r>
              <a:t>Ressalta-se que não haverá qualquer alteração nos valores pagos pelos cotistas... Aprovar o novo Anexo I e Regulamento consolidados</a:t>
            </a:r>
          </a:p>
          <a:p>
            <a:r>
              <a:t>CNPJ 62552447000120 · Histórico de alterações materiais · Motivo: Não localizada uma cláusula material para este critério nos textos identificados e processados. A ausência de resultado não comprova inexistência da regra.</a:t>
            </a:r>
          </a:p>
          <a:p>
            <a:r>
              <a:t>CNPJ 62552447000120 · Histórico de alterações materiais · Versão e prevalência: Leitura específica das cláusulas indicadas; condições e conflitos preservados. Seleção documental atual não comprova vigência jurídica por data isolada.</a:t>
            </a:r>
          </a:p>
          <a:p>
            <a:r>
              <a:t>CNPJ 63953620000165 · Histórico de alterações materiais · Anexo ao Regulamento · ID 1222863 · 2026-06-02 · versão 1 · p. 19 · 12.6 · https://fnet.bmfbovespa.com.br/fnet/publico/visualizarDocumento?id=1222863</a:t>
            </a:r>
          </a:p>
          <a:p>
            <a:r>
              <a:t>CNPJ 63953620000165 · Histórico de alterações materiais · Excerto da fonte:</a:t>
            </a:r>
          </a:p>
          <a:p>
            <a:r>
              <a:t>12.6 A Classe contratou a Tudo Serviços S.A., sociedade anônima, com sede no município de Fortaleza, Estado do Ceará,  na Avenida Senador Virgulo Távora, nº 303, Lojas 02, 03, 04, 05, 06 e 19, Meireles, CEP 60.170-265, inscrita no CNPJ  sob o nº 27.852.506/0001-85, cujos deveres, sem prejuízo daqueles estabelecidos neste Regulamento, no  “Contrato de Serviços de Retenção e Cobrança e Outras Avenças”, celebrado entre o Agente de  Retenção/Cobrança e a Classe (“Contrato de Serviços MT”) e no Contrato de Endosso, consistirão no  monitoramento e cobrança dos Direitos Creditórios Inadimplidos, observado o disposto neste Anexo I e na  regulamentação aplicável (“Agente de Retenção/Cobrança”):</a:t>
            </a:r>
          </a:p>
          <a:p>
            <a:r>
              <a:t> (i) caso aplicável, atuar na retenção (defesa) de operações de empréstimo consignado cujos Direitos  Creditórios sejam de titularidade da Classe, em caso de tentativa de transferência de tais operações de  empréstimo consignado por instituições proponentes, nos termos da Resolução CMN nº 5.057, em razão de  ofertas de portabilidade feitas por tais instituições proponentes, conforme informado pelo Endossante ou pelo  Custodiante ao Agente de Retenção/Cobrança, diariamente, de acordo com o Contrato de Endosso; sendo  que tal serviço deverá incluir, entre outras atividades auxiliares a ele relacionadas, a avaliação das ofertas de  portabilidade feitas pelas instituições proponentes, buscando, se for o caso, esclarecer as vantagens de não  recorrer à portabilidade, retendo a respectiva operação de empréstimo consignado em seus termos atuais;</a:t>
            </a:r>
          </a:p>
          <a:p>
            <a:r>
              <a:t> (ii) mediante inadimplemento de um Direito Creditório devido à indisponibilidade da margem de crédito do  Devedor, auxiliar o Endossante com o Processo de Reinicialização (conforme detalhado no Contrato de  Endosso) em relação ao respectivo Direito Creditório;</a:t>
            </a:r>
          </a:p>
          <a:p>
            <a:r>
              <a:t> (iii) manter e operar um serviço de atendimento ao consumidor - SAC e uma ouvidoria em conformidade  com os regulamentos aplicáveis, monitorar e resolver reclamações e solicitações de Devedores com  relação às operações de empréstimo consignado que dão origem aos Direitos Creditórios, em  conformidade com o Acordo de Parceria;</a:t>
            </a:r>
          </a:p>
          <a:p>
            <a:r>
              <a:t> (iv) realizar a cobrança dos Direitos Creditórios Inadimplidos;</a:t>
            </a:r>
          </a:p>
          <a:p>
            <a:r>
              <a:t> (v) auxiliar o Endossante na correção de qualquer irregularidade relevante identificada com relação à  originação dos Direitos Creditórios;</a:t>
            </a:r>
          </a:p>
          <a:p>
            <a:r>
              <a:t> (vi) realizar a renegociação junto aos Devedores de Direitos Creditórios Inadimplidos e, caso aplicável, celebrar  aditamento à CCB para refletir os novos termos, decorrentes da renegociação  CAPÍTULO 13 – REMUNERAÇÃO DOS PRESTADORES DE SERVIÇOS  0,05% (cinco centésimos por cento) ao ano, apropriada diariamente na base de 252  (duzentos e cinquenta e dois) Dias Úteis, e paga mensalmente até o 5º (quinto) Dia  Útil do mês subsequente ao mês que se refere, incidente sobre o Patrimônio Líquido  da Classe alocado em Direitos Creditórios Consignado Privado e/ou Ativos de  Liquidez MT, observada remuneração mínima mensal de R$ 2.500,00 (dois mil e  quinhentos reais), a ser corrigida anualmente, em janeiro de cada ano, pela variação  Taxa de Administração  positiva do Índice Geral de Preços – Mercado, divulgado pela Fundação Getúlio  Vargas (“Taxa de Administração” e “IGP-M”, respectivamente).</a:t>
            </a:r>
          </a:p>
          <a:p>
            <a:r>
              <a:t> Na hipótese de extinção do IGP-M, não divulgação ou impossibilidade de sua  utilização, será utilizado o Índice Geral de Preços – Disponibilidade Interna,  divulgado pela Fundação Getúlio Vargas, ou, na falta de ambos, pela variação do IPC  – Índice de Preços ao Consumidor, divulgado pela Fundação Instituto de Pesquisas</a:t>
            </a:r>
          </a:p>
          <a:p>
            <a:r>
              <a:t>CNPJ 63953620000165 · Histórico de alterações materiais · Condição: Documentos atuais selecionados no inventário por categoria/escopo; a data documental isolada não comprova vigência jurídica.</a:t>
            </a:r>
          </a:p>
          <a:p>
            <a:r>
              <a:t>CNPJ 63953620000165 · Histórico de alterações materiais · Versão e prevalência: Documentos atuais selecionados no inventário por categoria/escopo; a data documental isolada não comprova vigência jurídica.</a:t>
            </a:r>
          </a:p>
          <a:p>
            <a:r>
              <a:t>CNPJ 54871427000194 · Auditor independente e DFs · Demonstrações Financeiras - Fusão, cisão e incorporação · ID 1219522 · 2026-02-02 · versão 1 · p. 23 · https://fnet.bmfbovespa.com.br/fnet/publico/visualizarDocumento?id=1219522</a:t>
            </a:r>
          </a:p>
          <a:p>
            <a:r>
              <a:t>CNPJ 54871427000194 · Auditor independente e DFs · Excerto da fonte:</a:t>
            </a:r>
          </a:p>
          <a:p>
            <a:r>
              <a:t>x) Possibilidade de aquisição de Direitos Creditórios cedidos por Endossante e/ou devidos por  Devedores cujas demonstrações financeiras não sejam auditadas. A Classe, desde que sejam  respeitados os limites de concentração previstos no Regulamento, poderá manter a qualquer  tempo em sua Carteira, Direitos Creditórios cedidos por Endossante e/ou devidos por Devedores  cujas demonstrações financeiras não sejam auditadas por Auditor Independente registrado na</a:t>
            </a:r>
          </a:p>
          <a:p>
            <a:r>
              <a:t>CNPJ 54871427000194 · Auditor independente e DFs · Demonstrações Financeiras - Fusão, cisão e incorporação · ID 1219522 · 2026-02-02 · versão 1 · p. 2 · https://fnet.bmfbovespa.com.br/fnet/publico/visualizarDocumento?id=1219522</a:t>
            </a:r>
          </a:p>
          <a:p>
            <a:r>
              <a:t>CNPJ 54871427000194 · Auditor independente e DFs · Excerto da fonte:</a:t>
            </a:r>
          </a:p>
          <a:p>
            <a:r>
              <a:t>Classe Única de Responsabilidade Limitada do Consignado Delta Receivables I Fundo de Investimento em  Direitos Creditórios  Demonstrações financeiras em  2 de fevereiro de 2026 (data da incorporação da Classe)</a:t>
            </a:r>
          </a:p>
          <a:p>
            <a:r>
              <a:t>CNPJ 54871427000194 · Auditor independente e DFs · Demonstrações Financeiras - Fusão, cisão e incorporação · ID 1219522 · 2026-02-02 · versão 1 · p. 3 · https://fnet.bmfbovespa.com.br/fnet/publico/visualizarDocumento?id=1219522</a:t>
            </a:r>
          </a:p>
          <a:p>
            <a:r>
              <a:t>CNPJ 54871427000194 · Auditor independente e DFs · Excerto da fonte:</a:t>
            </a:r>
          </a:p>
          <a:p>
            <a:r>
              <a:t>Examinamos as demonstrações financeiras da Classe Única de Responsabilidade Limitada do  Consignado Delta Receivables I Fundo de Investimento em Direitos Creditórios (“Classe”),  administrada pela BTG Pactual Serviços Financeiros S.A. Distribuidora de Títulos e Valores Mobiliários  (“Administradora”), que compreendem a demonstração da posição financeira em 2 de fevereiro de  2026 e as respectivas demonstrações do resultado e do resultado abrangente, das evoluções do  patrimônio líquido e dos fluxos de caixa para o período de 1° de janeiro de 2026 (data de início do  exercício social da Classe) a 2 de fevereiro de 2026 (data da incorporação da Classe), bem como as  correspondentes notas explicativas, incluindo as políticas contábeis materiais e outras informações  elucidativas.</a:t>
            </a:r>
          </a:p>
          <a:p>
            <a:r>
              <a:t> Em nossa opinião, as demonstrações financeiras acima referidas apresentam adequadamente, em  todos os aspectos relevantes, a posição patrimonial e financeira da Classe Única de Responsabilidade  Limitada do Consignado Delta Receivables I Fundo de Investimento em Direitos Creditórios em 2 de  fevereiro de 2026 e o desempenho de suas operações e os seus fluxos de caixa para o período de 1°  de janeiro de 2026 a 2 de fevereiro de 2026, de acordo com as práticas contábeis adotadas no Brasil  aplicáveis aos fundos de investimento em direitos creditórios.</a:t>
            </a:r>
          </a:p>
          <a:p>
            <a:r>
              <a:t>CNPJ 54871427000194 · Auditor independente e DFs · Condição: Documentos atuais selecionados no inventário por categoria/escopo; a data documental isolada não comprova vigência jurídica.</a:t>
            </a:r>
          </a:p>
          <a:p>
            <a:r>
              <a:t>CNPJ 54871427000194 · Auditor independente e DFs · Versão e prevalência: Documentos atuais selecionados no inventário por categoria/escopo; a data documental isolada não comprova vigência jurídica.</a:t>
            </a:r>
          </a:p>
          <a:p>
            <a:r>
              <a:t>CNPJ 54871427000194 · Auditor independente e DFs · Resumo do histórico: {"count": 6, "dates": ["2025-01-01", "2025-04-15", "2025-12-31"], "document_count": 3, "sources": [{"document_id": "1151805", "title": "Demonstrações Financeiras", "reference_date": "2025-12-31", "version": "1", "page": 23, "url": "https://fnet.bmfbovespa.com.br/fnet/publico/visualizarDocumento?id=1151805", "sha256": "f1cea70b152968bf96ef9221b27225953cb20aeef487b2798db3c25e11b528d4"}, {"document_id": "883217", "title": "AGO", "reference_date": "2025-04-15", "version": "1", "page": 1, "url": "https://fnet.bmfbovespa.com.br/fnet/publico/visualizarDocumento?id=883217", "sha256": "233467aa4aa6265d253b610668cde19344ec99af4adf4df934c6a1bd88b9a044"}, {"document_id": "869529", "title": "Demonstrações Financeiras", "reference_date": "2025-01-01", "version": "1", "page": 23, "url": "https://fnet.bmfbovespa.com.br/fnet/publico/visualizarDocumento?id=869529", "sha256": "9a93a9369ac8efdbc54ff8fcee3ccac3abf88edab4807b9323d3852450771b2a"}], "reference": {"path": "history/54871427000194.json", "criterion_id": "audit", "total_count": 6, "preview_count": 3, "full_text_deferred": true, "sha256": "35d7cd99be50c7287c9fb675cf4f2e736002315295a225a9efa79c8d9186d874"}}</a:t>
            </a:r>
          </a:p>
          <a:p>
            <a:r>
              <a:t>CNPJ 60010416000112 · Auditor independente e DFs · AGE · ID 1313936 · 2026-08-31 · versão 1 · p. 1 · https://fnet.bmfbovespa.com.br/fnet/publico/visualizarDocumento?id=1313936</a:t>
            </a:r>
          </a:p>
          <a:p>
            <a:r>
              <a:t>CNPJ 60010416000112 · Auditor independente e DFs · Excerto da fonte:</a:t>
            </a:r>
          </a:p>
          <a:p>
            <a:r>
              <a:t>(d) Fica a Administradora autorizada a levantar, na Data da Cisão, demonstrações contábeis da  Classe, as quais darão suporte à realização da Cisão ora deliberada. As demonstrações contábeis  deverão ser auditadas, em conformidade com o art. 120, da Parte Geral, da Resolução CVM 175;</a:t>
            </a:r>
          </a:p>
          <a:p>
            <a:r>
              <a:t>CNPJ 60010416000112 · Auditor independente e DFs · Condição: Documentos atuais selecionados no inventário por categoria/escopo; a data documental isolada não comprova vigência jurídica.</a:t>
            </a:r>
          </a:p>
          <a:p>
            <a:r>
              <a:t>CNPJ 60010416000112 · Auditor independente e DFs · Versão e prevalência: Documentos atuais selecionados no inventário por categoria/escopo; a data documental isolada não comprova vigência jurídica.</a:t>
            </a:r>
          </a:p>
          <a:p>
            <a:r>
              <a:t>CNPJ 60010416000112 · Auditor independente e DFs · Resumo do histórico: {"count": 11, "dates": ["2026-04-16", "2026-05-08", "2026-07-29"], "document_count": 3, "sources": [{"document_id": "1277540", "title": "AGE", "reference_date": "2026-07-29", "version": "1", "page": 1, "url": "https://fnet.bmfbovespa.com.br/fnet/publico/visualizarDocumento?id=1277540", "sha256": "7a9b65092af34917f99f22b62eb7d248d67149b9c91dd87b07b924b9601ee9b0"}, {"document_id": "1298690", "title": "Demonstrações Financeiras - Fusão, cisão e incorporação", "reference_date": "2026-05-08", "version": "1", "page": 1, "url": "https://fnet.bmfbovespa.com.br/fnet/publico/visualizarDocumento?id=1298690", "sha256": "d979f7f7cf866a68b7fbc65c46fd726b7bcc13f9d0b809190857a9b465be7be2"}, {"document_id": "1282181", "title": "Demonstrações Financeiras - Fusão, cisão e incorporação", "reference_date": "2026-04-16", "version": "1", "page": 1, "url": "https://fnet.bmfbovespa.com.br/fnet/publico/visualizarDocumento?id=1282181", "sha256": "b1c6566e43a00bcd00c8a7f30c77b7f86e351bd8e355bbea113f46d1dafda703"}], "reference": {"path": "history/60010416000112.json", "criterion_id": "audit", "total_count": 11, "preview_count": 3, "full_text_deferred": true, "sha256": "8e2bd813f4c51cf01f6bfaad164bafe69d2bbb192f753eac92da3a01c2e63046"}}</a:t>
            </a:r>
          </a:p>
          <a:p>
            <a:r>
              <a:t>CNPJ 62696791000193 · Auditor independente e DFs · Regulamento · ID 1143317 · 2026-03-20 · versão 1 · p. 5 · 4.1.7 · https://fnet.bmfbovespa.com.br/fnet/publico/visualizarDocumento?id=1143317</a:t>
            </a:r>
          </a:p>
          <a:p>
            <a:r>
              <a:t>CNPJ 62696791000193 · Auditor independente e DFs · Excerto da fonte:</a:t>
            </a:r>
          </a:p>
          <a:p>
            <a:r>
              <a:t>4.1.7 As demonstrações contábeis cujo relatório de auditoria não contiver opinião modificada podem  ser consideradas automaticamente aprovadas caso a assembleia correspondente não seja  instalada em virtude do não comparecimento de quaisquer Cotistas.</a:t>
            </a:r>
          </a:p>
          <a:p>
            <a:r>
              <a:t>CNPJ 62696791000193 · Auditor independente e DFs · Regulamento · ID 1143317 · 2026-03-20 · versão 1 · p. 23 · 10.12 · https://fnet.bmfbovespa.com.br/fnet/publico/visualizarDocumento?id=1143317</a:t>
            </a:r>
          </a:p>
          <a:p>
            <a:r>
              <a:t>CNPJ 62696791000193 · Auditor independente e DFs · Excerto da fonte:</a:t>
            </a:r>
          </a:p>
          <a:p>
            <a:r>
              <a:t>10.12 O representante dos Cotistas será eleito com prazo de mandato a se encerrar na próxima Assembleia  de Cotistas que deliberar sobre a aprovação de demonstrações contábeis do Fundo, sendo permitida  a reeleição.</a:t>
            </a:r>
          </a:p>
          <a:p>
            <a:r>
              <a:t>CNPJ 62696791000193 · Auditor independente e DFs · Condição: Documentos atuais selecionados no inventário por categoria/escopo; a data documental isolada não comprova vigência jurídica.</a:t>
            </a:r>
          </a:p>
          <a:p>
            <a:r>
              <a:t>CNPJ 62696791000193 · Auditor independente e DFs · Versão e prevalência: Documentos atuais selecionados no inventário por categoria/escopo; a data documental isolada não comprova vigência jurídica.</a:t>
            </a:r>
          </a:p>
          <a:p>
            <a:r>
              <a:t>CNPJ 55563624000109 · Auditor independente e DFs · Regulamento · ID 1192614 · 2026-04-30 · versão 1 · p. 24 · 12.3 · https://fnet.bmfbovespa.com.br/fnet/publico/visualizarDocumento?id=1192614</a:t>
            </a:r>
          </a:p>
          <a:p>
            <a:r>
              <a:t>CNPJ 55563624000109 · Auditor independente e DFs · Excerto da fonte:</a:t>
            </a:r>
          </a:p>
          <a:p>
            <a:r>
              <a:t>12.3 Incluem-se entre as obrigações do ADMINISTRADOR, sem prejuízo de outras previstas na regulamentação:</a:t>
            </a:r>
          </a:p>
          <a:p>
            <a:r>
              <a:t> (i) sem prejuízo da observância dos procedimentos relativos às demonstrações contábeis, manter,  separadamente, registros com informações completas sobre toda e qualquer modalidade de negociação  realizada entre o ADMINISTRADOR, GESTOR, CUSTODIANTE, e/ou suas respectivas partes relacionadas,  tais como definidas pelas regras contábeis que tratam desse assunto, de um lado; e a Classe, de outro;</a:t>
            </a:r>
          </a:p>
          <a:p>
            <a:r>
              <a:t> (ii) diligenciar para que sejam mantidos, às suas expensas, atualizados e em perfeita ordem:</a:t>
            </a:r>
          </a:p>
          <a:p>
            <a:r>
              <a:t> (a) o registro de Cotistas;</a:t>
            </a:r>
          </a:p>
          <a:p>
            <a:r>
              <a:t> (b) o livro de atas das Assembleias de Cotistas;</a:t>
            </a:r>
          </a:p>
          <a:p>
            <a:r>
              <a:t> (c) o livro ou lista de presença de Cotistas;</a:t>
            </a:r>
          </a:p>
          <a:p>
            <a:r>
              <a:t> (d) os pareceres do Auditor Independente; e</a:t>
            </a:r>
          </a:p>
          <a:p>
            <a:r>
              <a:t> (e) os registros contábeis referentes às operações e ao patrimônio da Classe;</a:t>
            </a:r>
          </a:p>
          <a:p>
            <a:r>
              <a:t> (iii) pagar a multa cominatória às suas expensas, nos termos da legislação vigente, por cada dia de atraso no  cumprimento dos prazos previstos na regulamentação aplicável;</a:t>
            </a:r>
          </a:p>
          <a:p>
            <a:r>
              <a:t> (iv) elaborar e divulgar as informações periódicas e eventuais da Classe, nos termos deste Anexo e da  regulamentação e da autorregulação em vigor;</a:t>
            </a:r>
          </a:p>
          <a:p>
            <a:r>
              <a:t> (v) manter atualizada junto à CVM a lista de todos os prestadores de serviços contratados pela Classe,  inclusive os Prestadores de Serviços Essenciais, bem como as demais informações cadastrais da Classe e  suas Subclasses;</a:t>
            </a:r>
          </a:p>
          <a:p>
            <a:r>
              <a:t> (vi) manter serviço de atendimento aos Cotistas, responsável pelo esclarecimento de dúvidas e pelo  recebimento de reclamações;</a:t>
            </a:r>
          </a:p>
          <a:p>
            <a:r>
              <a:t> (vii) receber e processar os pedidos de resgate;</a:t>
            </a:r>
          </a:p>
          <a:p>
            <a:r>
              <a:t> (viii) monitorar os Eventos de Verificação do Patrimônio;</a:t>
            </a:r>
          </a:p>
          <a:p>
            <a:r>
              <a:t> (ix) monitorar os Eventos de Avaliação e Eventos de Liquidação;</a:t>
            </a:r>
          </a:p>
          <a:p>
            <a:r>
              <a:t> (x) observar as disposições constantes do Regulamento;</a:t>
            </a:r>
          </a:p>
          <a:p>
            <a:r>
              <a:t> (xi) cumprir as deliberações da Assembleia de Cotistas; e</a:t>
            </a:r>
          </a:p>
          <a:p>
            <a:r>
              <a:t> (xii) observar as disposições do Código ANBIMA e das Regras e Procedimentos ANBIMA</a:t>
            </a:r>
          </a:p>
          <a:p>
            <a:r>
              <a:t>CNPJ 55563624000109 · Auditor independente e DFs · Regulamento · ID 1192614 · 2026-04-30 · versão 1 · p. 4 · 4.6.1 · https://fnet.bmfbovespa.com.br/fnet/publico/visualizarDocumento?id=1192614</a:t>
            </a:r>
          </a:p>
          <a:p>
            <a:r>
              <a:t>CNPJ 55563624000109 · Auditor independente e DFs · Excerto da fonte:</a:t>
            </a:r>
          </a:p>
          <a:p>
            <a:r>
              <a:t>4.6.1 As deliberações relativas às matérias elencadas nos incisos abaixo serão tomadas, em primeira  convocação ou em segunda convocação, conforme os quóruns dispostos abaixo, em sede assembleia  geral de cotistas ou de assembleia especial de cotistas, conforme o caso:</a:t>
            </a:r>
          </a:p>
          <a:p>
            <a:r>
              <a:t> MATÉRIA SUJEITA À APROVAÇÃO QUÓRUM DE DELIBERAÇÃO</a:t>
            </a:r>
          </a:p>
          <a:p>
            <a:r>
              <a:t> (i) aprovação das demonstrações contábeis do FUNDO; Maioria do total das Cotas emitidas</a:t>
            </a:r>
          </a:p>
          <a:p>
            <a:r>
              <a:t>CNPJ 55563624000109 · Auditor independente e DFs · Regulamento · ID 1192614 · 2026-04-30 · versão 1 · p. 10 · 3.1 · https://fnet.bmfbovespa.com.br/fnet/publico/visualizarDocumento?id=1192614</a:t>
            </a:r>
          </a:p>
          <a:p>
            <a:r>
              <a:t>CNPJ 55563624000109 · Auditor independente e DFs · Excerto da fonte:</a:t>
            </a:r>
          </a:p>
          <a:p>
            <a:r>
              <a:t>3.1 A Classe terá Encargos que lhe poderão ser debitados diretamente, nos termos da Resolução CVM 175, e  quaisquer despesas que não constituam Encargos correm por conta do Prestador de Serviço Essencial que a tiver  contratado, incluindo, sem se limitar a:</a:t>
            </a:r>
          </a:p>
          <a:p>
            <a:r>
              <a:t> (i) Taxa de performance, se houver;</a:t>
            </a:r>
          </a:p>
          <a:p>
            <a:r>
              <a:t> (ii) Taxas, impostos ou contribuições federais, estaduais, municipais ou autárquicas, que recaiam ou  venham a recair sobre os bens, direitos e obrigações da Classe;</a:t>
            </a:r>
          </a:p>
          <a:p>
            <a:r>
              <a:t> (iii) Despesas com o registro de documentos, impressão, expedição e publicação de relatórios e informações  periódicas previstas na Resolução CVM 175;</a:t>
            </a:r>
          </a:p>
          <a:p>
            <a:r>
              <a:t> (iv) Despesas com correspondências de interesse do FUNDO ou da Classe, inclusive comunicações aos  Cotistas;</a:t>
            </a:r>
          </a:p>
          <a:p>
            <a:r>
              <a:t> (v) Honorários e despesas do Auditor Independente;</a:t>
            </a:r>
          </a:p>
          <a:p>
            <a:r>
              <a:t> BTG Pactual  SAC: 0800 772 28 27 - Ouvidoria: 0800 722 00 48 - btgpactual.com  3</a:t>
            </a:r>
          </a:p>
          <a:p>
            <a:r>
              <a:t>CNPJ 55563624000109 · Auditor independente e DFs · Condição: Documentos atuais selecionados no inventário por categoria/escopo; a data documental isolada não comprova vigência jurídica.</a:t>
            </a:r>
          </a:p>
          <a:p>
            <a:r>
              <a:t>CNPJ 55563624000109 · Auditor independente e DFs · Versão e prevalência: Documentos atuais selecionados no inventário por categoria/escopo; a data documental isolada não comprova vigência jurídica.</a:t>
            </a:r>
          </a:p>
          <a:p>
            <a:r>
              <a:t>CNPJ 55563624000109 · Auditor independente e DFs · Resumo do histórico: {"count": 2, "dates": ["2025-01-31", "2026-01-31"], "document_count": 2, "sources": [{"document_id": "1178840", "title": "Demonstrações Financeiras", "reference_date": "2026-01-31", "version": "1", "page": 4, "url": "https://fnet.bmfbovespa.com.br/fnet/publico/visualizarDocumento?id=1178840", "sha256": "c458e98664c5c907ddb5a05a94b120bed4e05295b2bfc420f5ba69af0a229abe"}, {"document_id": "891861", "title": "Demonstrações Financeiras", "reference_date": "2025-01-31", "version": "1", "page": 2, "url": "https://fnet.bmfbovespa.com.br/fnet/publico/visualizarDocumento?id=891861", "sha256": "e9cb9e6ddbe505fe068cfcac33605165a98313489de0d3ce6d4d238263c3f3e7"}], "reference": {"path": "history/55563624000109.json", "criterion_id": "audit", "total_count": 2, "preview_count": 2, "full_text_deferred": true, "sha256": "7835d573fb58a3c19adf5b8ecc2aee2bdbb9a88f7a0c0209b5f262b64c7522e3"}}</a:t>
            </a:r>
          </a:p>
          <a:p>
            <a:r>
              <a:t>CNPJ 62552447000120 · Auditor independente e DFs · Regulamento · ID 1200623 · 2026-05-21 · versão 1 · p. 4 · 4.1.6 · https://fnet.bmfbovespa.com.br/fnet/publico/visualizarDocumento?id=1200623</a:t>
            </a:r>
          </a:p>
          <a:p>
            <a:r>
              <a:t>CNPJ 62552447000120 · Auditor independente e DFs · Excerto da fonte:</a:t>
            </a:r>
          </a:p>
          <a:p>
            <a:r>
              <a:t>4.1.6 As demonstrações contábeis cujo relatório de auditoria não contiver opinião modificada podem  ser consideradas automaticamente aprovadas caso a Assembleia Geral correspondente não  seja instalada em virtude do não comparecimento de quaisquer Cotistas.</a:t>
            </a:r>
          </a:p>
          <a:p>
            <a:r>
              <a:t>CNPJ 62552447000120 · Auditor independente e DFs · Regulamento · ID 1200623 · 2026-05-21 · versão 1 · p. 29 · 12.16 · https://fnet.bmfbovespa.com.br/fnet/publico/visualizarDocumento?id=1200623</a:t>
            </a:r>
          </a:p>
          <a:p>
            <a:r>
              <a:t>CNPJ 62552447000120 · Auditor independente e DFs · Excerto da fonte:</a:t>
            </a:r>
          </a:p>
          <a:p>
            <a:r>
              <a:t>12.16 Os serviços de auditoria das demonstrações f inanceiras e demais contas da Classe serão prestados  por Auditor Independente contratado pelo Administrador. Pelos serviços prestados, o Auditor  Independente f ará jus ao recebimento de remuneração a ser def inida em contrato específico, a qual  será paga pela Classe.</a:t>
            </a:r>
          </a:p>
          <a:p>
            <a:r>
              <a:t>CAPÍTULO 13 – TAXA GLOBAL</a:t>
            </a:r>
          </a:p>
          <a:p>
            <a:r>
              <a:t>CNPJ 62552447000120 · Auditor independente e DFs · Condição: Documentos atuais selecionados no inventário por categoria/escopo; a data documental isolada não comprova vigência jurídica.</a:t>
            </a:r>
          </a:p>
          <a:p>
            <a:r>
              <a:t>CNPJ 62552447000120 · Auditor independente e DFs · Versão e prevalência: Documentos atuais selecionados no inventário por categoria/escopo; a data documental isolada não comprova vigência jurídica.</a:t>
            </a:r>
          </a:p>
          <a:p>
            <a:r>
              <a:t>CNPJ 63953620000165 · Auditor independente e DFs · Anexo ao Regulamento · ID 1222863 · 2026-06-02 · versão 1 · p. 4 · 3.4 · https://fnet.bmfbovespa.com.br/fnet/publico/visualizarDocumento?id=1222863</a:t>
            </a:r>
          </a:p>
          <a:p>
            <a:r>
              <a:t>CNPJ 63953620000165 · Auditor independente e DFs · Excerto da fonte:</a:t>
            </a:r>
          </a:p>
          <a:p>
            <a:r>
              <a:t>3.4 Adicionalmente aos Encargos, as seguintes despesas serão debitadas diretamente da Classe, nos termos do art.</a:t>
            </a:r>
          </a:p>
          <a:p>
            <a:r>
              <a:t> 51 do Anexo Normativo II da Resolução CVM 175 (“Despesas Adicionais”):</a:t>
            </a:r>
          </a:p>
          <a:p>
            <a:r>
              <a:t> (i) Despesas com registro de Direitos Creditórios;</a:t>
            </a:r>
          </a:p>
          <a:p>
            <a:r>
              <a:t> (ii) Despesas com serviços de originação, cobranças ordinária e/ou extraordinária dos Direitos Creditórios,  e/ou verificação de lastro dos Direitos Creditórios, conforme aplicável;</a:t>
            </a:r>
          </a:p>
          <a:p>
            <a:r>
              <a:t> (iii) Despesas com a contratação de atividades relacionadas à verificação de lastro;</a:t>
            </a:r>
          </a:p>
          <a:p>
            <a:r>
              <a:t> (iv) Despesas com a contratação de Agente de Retenção/Cobrança; Despesas com a contratação de  consultoria especializada, conforme o caso;</a:t>
            </a:r>
          </a:p>
          <a:p>
            <a:r>
              <a:t> (v) Remuneração do Custodiante;</a:t>
            </a:r>
          </a:p>
          <a:p>
            <a:r>
              <a:t> (vi) Despesas com honorários advocatícios para quaisquer assuntos de interesse da Classe, seja na esfera  judicial ou extrajudicial, inclusive consultivo;</a:t>
            </a:r>
          </a:p>
          <a:p>
            <a:r>
              <a:t> (vii) Despesas com a assinatura e registro dos Termos de Endosso, conforme aplicável, junto aos  competentes cartórios de Registro de Títulos e Documentos;</a:t>
            </a:r>
          </a:p>
          <a:p>
            <a:r>
              <a:t> (viii) Despesas inerentes à distribuição primária de Cotas, inclusive a contratação e remuneração do  distribuidor das Cotas para cada oferta de Cotas da Classe, nos termos de cada contrato de distribuição  e honorários devidos ao(s) assessor(es) legal(is) de cada oferta, assim como despesas com o registro das  Cotas na CVM, ANBIMA e/ou na entidade de mercado organizado em que as cotas sejam registradas,  conforme aplicável;</a:t>
            </a:r>
          </a:p>
          <a:p>
            <a:r>
              <a:t> (ix) Taxas de fiscalização da CVM e/ou ANBIMA, conforme aplicável; e</a:t>
            </a:r>
          </a:p>
          <a:p>
            <a:r>
              <a:t> (x) Despesas com contratação e remuneração do Auditor Independente e da Agência Classificadora de  Risco.</a:t>
            </a:r>
          </a:p>
          <a:p>
            <a:r>
              <a:t>CNPJ 63953620000165 · Auditor independente e DFs · Condição: Documentos atuais selecionados no inventário por categoria/escopo; a data documental isolada não comprova vigência jurídica.</a:t>
            </a:r>
          </a:p>
          <a:p>
            <a:r>
              <a:t>CNPJ 63953620000165 · Auditor independente e DFs · Motivo: Cláusula primária localizada e citada, mas sua lista/condições extensas não admitem uma síntese literal curta confirmada. O trecho integral permanece nas fontes.</a:t>
            </a:r>
          </a:p>
          <a:p>
            <a:r>
              <a:t>CNPJ 63953620000165 · Auditor independente e DFs · Versão e prevalência: Documentos atuais selecionados no inventário por categoria/escopo; a data documental isolada não comprova vigência jurídica.</a:t>
            </a:r>
          </a:p>
          <a:p>
            <a:r>
              <a:t>CNPJ 63953620000165 · Auditor independente e DFs · Resumo do histórico: {"count": 8, "dates": ["2026-04-28", "2026-05-08", "2026-05-15"], "document_count": 3, "sources": [{"document_id": "1327859", "title": "Demonstrações Financeiras - Fusão, cisão e incorporação", "reference_date": "2026-05-15", "version": "1", "page": 1, "url": "https://fnet.bmfbovespa.com.br/fnet/publico/visualizarDocumento?id=1327859", "sha256": "dca1c68babb97f887528c3e2e47596a9c30f507b067981a35655b2f2da9c8054"}, {"document_id": "1298691", "title": "Demonstrações Financeiras - Fusão, cisão e incorporação", "reference_date": "2026-05-08", "version": "1", "page": 1, "url": "https://fnet.bmfbovespa.com.br/fnet/publico/visualizarDocumento?id=1298691", "sha256": "58c570d9b8d4d265330d3db3ea81c435b8e44a6dab4002aa37790652a1ee9819"}, {"document_id": "1282180", "title": "Demonstrações Financeiras - Fusão, cisão e incorporação", "reference_date": "2026-04-28", "version": "1", "page": 1, "url": "https://fnet.bmfbovespa.com.br/fnet/publico/visualizarDocumento?id=1282180", "sha256": "afaaa0e6809be4385e5bdb6c911aac582032c5bdbac3d7750234bf9eaf00438a"}], "reference": {"path": "history/63953620000165.json", "criterion_id": "audit",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Governança e alterações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Quóruns e matérias reservadas · Regulamento · ID 670691 · 28/04/2024 · versão Regulamento — referência 28/04/2024 · p. 4 · Parte Geral, 4.4–4.4.1 · https://fnet.bmfbovespa.com.br/fnet/publico/visualizarDocumento?id=670691</a:t>
            </a:r>
          </a:p>
          <a:p>
            <a:r>
              <a:t>CNPJ 54871427000194 · Quóruns e matérias reservadas · Excerto da fonte:</a:t>
            </a:r>
          </a:p>
          <a:p>
            <a:r>
              <a:t>4.4 Ressalvadas as exceções descritas neste Regulamento, toda e qualquer matéria submetida à deliberação dos cotistas deverá ser aprovada por maioria dos votos dos presentes. 4.4.1 As deliberações relativas às matérias elencadas nos incisos abaixo serão tomadas, em primeira convocação ou em segunda convocação, pelos votos dos titulares da maioria das cotas em circulação, em sede assembleia geral de cotistas ou de assembleia especial de cotistas, conf orme o caso: (i) aprovação das demonstrações contábeis do FUNDO; (ii) alteração da Parte Geral deste Regulamento; (iii) substituição ou remoção do Prestador de Serviços Essenciais do FUNDO, ressalvada a possibilidade prevista no Art. 70, §1º, da Parte Geral da Resolução CVM 175; (iv) alterações nos quóruns de deliberação def inidos neste Regulamento; (v) cobrança de taxas e encargos pelo ADMINISTRADOR, de qualquer natureza, que não estejam expressamente previstos neste Regulamento; (vi) liquidação do FUNDO. (vii) plano de resolu</a:t>
            </a:r>
          </a:p>
          <a:p>
            <a:r>
              <a:t>CNPJ 54871427000194 · Quóruns e matérias reservadas · Regulamento · ID 670691 · 28/04/2024 · versão Regulamento — referência 28/04/2024 · p. 17 · Anexo I, 10.1 · https://fnet.bmfbovespa.com.br/fnet/publico/visualizarDocumento?id=670691</a:t>
            </a:r>
          </a:p>
          <a:p>
            <a:r>
              <a:t>CNPJ 54871427000194 · Quóruns e matérias reservadas · Excerto da fonte:</a:t>
            </a:r>
          </a:p>
          <a:p>
            <a:r>
              <a:t>10.1 Sem prejuízo de outros requisitos e inf ormações previstos na regulamentação vigente, são aplicáveis à Assembleia Especial de Cotistas as mesmas disposições procedimentais da Assembleia Geral de Cotistas. 10.2 A Assembleia Especial de Cotistas é responsável por deliberar sobre as matérias específicas da Classe de Cotas, sem prejuízo das demais disposições previstas na regulamentação aplicável, incluindo, mas não se limitando a: (i) deliberar sobre as demonstrações contábeis da Classe; (ii) deliberar sobre substituição de Prestadores de Serviços Essenciais, observado o disposto no art. 70, §1º da parte geral da Resolução CVM 175; (iii) deliberar sobre elevação da Taxa de Administração, inclusive na hipótese de restabelecimento de taxa que tenha sido objeto de redução; (iv) deliberar sobre incorporação, f usão, cisão total ou parcial, a transf ormação ou liquidação da Classe; (v) alterações das características, vantagens, direitos e obrigações das Cotas; (vi) alterar critérios e procedimentos para Amortização e/ou resgate de Cotas mediante dação em pagamento de Direitos Creditórios; (vii) a</a:t>
            </a:r>
          </a:p>
          <a:p>
            <a:r>
              <a:t>CNPJ 54871427000194 · Quóruns e matérias reservadas · Versão e prevalência: Leitura específica das cláusulas indicadas; condições e conflitos preservados. Seleção documental atual não comprova vigência jurídica por data isolada.</a:t>
            </a:r>
          </a:p>
          <a:p>
            <a:r>
              <a:t>CNPJ 54871427000194 · Quóruns e matérias reservadas · Resumo do histórico: {"count": 1, "dates": ["2024-04-19"], "document_count": 1, "sources": [{"document_id": "670689", "title": "Regulamento", "reference_date": "2024-04-19", "version": "1", "page": 20, "clause": "11.6", "url": "https://fnet.bmfbovespa.com.br/fnet/publico/visualizarDocumento?id=670689", "sha256": "891bc9bc5d87bbc02ec139077a84d2702eb81ea02035fb71d24f5b8366b94a0b"}], "reference": {"path": "history/54871427000194.json", "criterion_id": "quorum", "total_count": 1, "preview_count": 1, "full_text_deferred": true, "sha256": "35d7cd99be50c7287c9fb675cf4f2e736002315295a225a9efa79c8d9186d874"}}</a:t>
            </a:r>
          </a:p>
          <a:p>
            <a:r>
              <a:t>CNPJ 60010416000112 · Quóruns e matérias reservadas · Regulamento · ID 1051393 · 09/10/2025 · versão Regulamento09/10/2025 · p. 18 · AnexoI9.2(ii)–(xvii) · https://fnet.bmfbovespa.com.br/fnet/publico/visualizarDocumento?id=1051393</a:t>
            </a:r>
          </a:p>
          <a:p>
            <a:r>
              <a:t>CNPJ 60010416000112 · Quóruns e matérias reservadas · Excerto da fonte:</a:t>
            </a:r>
          </a:p>
          <a:p>
            <a:r>
              <a:t>(ii) alterar este Anexo I e seus complementos, incluindo mas não se limitando aos Apêndices de cada uma das subclasses; (iii) deliberar sobre substituição de Prestadores de Serviços Essenciais, observado o disposto no Art. 70, §1º da parte geral da Resolução CVM 175, quando aplicável, ou do Custodiante; (iv) deliberar sobre elevação da Taxa de Administração, inclusive na hipótese de restabelecimento de taxa que tenha sido objeto de redução; (v) deliberar sobre incorporação, fusão, cisão total ou parcial, a transformação ou liquidação da Classe; (vi) alter</a:t>
            </a:r>
          </a:p>
          <a:p>
            <a:r>
              <a:t>CNPJ 60010416000112 · Quóruns e matérias reservadas · Regulamento · ID 1051393 · 09/10/2025 · versão Regulamento09/10/2025 · p. 19 · AnexoI9.8–9.9 · https://fnet.bmfbovespa.com.br/fnet/publico/visualizarDocumento?id=1051393</a:t>
            </a:r>
          </a:p>
          <a:p>
            <a:r>
              <a:t>CNPJ 60010416000112 · Quóruns e matérias reservadas · Excerto da fonte:</a:t>
            </a:r>
          </a:p>
          <a:p>
            <a:r>
              <a:t>9.8 As deliberações constantes dos incisos (ii), (iii), (iv), (v), (vi), (vii), (x), (xi), (xii), (xiii) e (xvii) acima, apenas serão aprovadas, seja em primeira ou em segunda convocação, por unanimidade dos votos dos titulares das Cotas em circulação. 9.9 As deliberações relativas aos demais incisos do item 9.2 acima apenas serão aprovadas, seja em primeira ou em segunda convocação, mediante o voto favorável dos Cotistas que representem a maioria das Cotas emitidas pela Classe. 9.10 Somente os Cotistas, seus representantes legais ou procuradores legalmente nomeados há menos de 1 (um) ano ter</a:t>
            </a:r>
          </a:p>
          <a:p>
            <a:r>
              <a:t>CNPJ 60010416000112 · Quóruns e matérias reservadas · Versão e prevalência: Leitura específica das cláusulas indicadas; condições e conflitos preservados. Seleção documental atual não comprova vigência jurídica por data isolada.</a:t>
            </a:r>
          </a:p>
          <a:p>
            <a:r>
              <a:t>CNPJ 60010416000112 · Quóruns e matérias reservadas · Resumo do histórico: {"count": 3, "dates": ["2025-03-20", "2025-05-09", "2025-05-12"], "document_count": 3, "sources": [{"document_id": "1004656", "title": "AGE", "reference_date": "2025-05-12", "version": "1", "page": 1, "url": "https://fnet.bmfbovespa.com.br/fnet/publico/visualizarDocumento?id=1004656", "sha256": "f6c9c009f6170e2b29f074b98522accec73f0c40efbf11f9ec2c8d3f1402616b"}, {"document_id": "911262", "title": "AGE", "reference_date": "2025-05-09", "version": "1", "page": 1, "url": "https://fnet.bmfbovespa.com.br/fnet/publico/visualizarDocumento?id=911262", "sha256": "675de4ffe8c5ee95957fb29810625ce850d1a0b69b5231747442266f0cbf32a3"}, {"document_id": "993786", "title": "Regulamento", "reference_date": "2025-03-20", "version": "1", "page": 22, "clause": "10.6", "url": "https://fnet.bmfbovespa.com.br/fnet/publico/visualizarDocumento?id=993786", "sha256": "fd0fdd369a195510d81f81f505195a0b09e5f43522a990afa7d58c4f872921c8"}], "reference": {"path": "history/60010416000112.json", "criterion_id": "quorum", "total_count": 3, "preview_count": 3, "full_text_deferred": true, "sha256": "8e2bd813f4c51cf01f6bfaad164bafe69d2bbb192f753eac92da3a01c2e63046"}}</a:t>
            </a:r>
          </a:p>
          <a:p>
            <a:r>
              <a:t>CNPJ 62696791000193 · Quóruns e matérias reservadas · Regulamento · ID 1143317 · 20/03/2026 · versão Regulamento — referência 20/03/2026 · p. 20 · Anexo I, 10.2, tabela · https://fnet.bmfbovespa.com.br/fnet/publico/visualizarDocumento?id=1143317</a:t>
            </a:r>
          </a:p>
          <a:p>
            <a:r>
              <a:t>CNPJ 62696791000193 · Quóruns e matérias reservadas · Excerto da fonte:</a:t>
            </a:r>
          </a:p>
          <a:p>
            <a:r>
              <a:t>10.2 Os seguintes quóruns deverão ser observados pela Assembleia Especial de Cotistas ao deliberar as matérias abaixo: Matéria Quórum I – alterar o presente Anexo; Maioria das Cotas Subscritas (“Quórum Qualificado”), observada BTG Pactual SAC: 0800 772 2827 | Ouvidoria: 0800 722 0048 | btgpactual.co m 15</a:t>
            </a:r>
          </a:p>
          <a:p>
            <a:r>
              <a:t>CNPJ 62696791000193 · Quóruns e matérias reservadas · Regulamento · ID 1143317 · 20/03/2026 · versão Regulamento — referência 20/03/2026 · p. 21 · Anexo I, 10.2, tabela · https://fnet.bmfbovespa.com.br/fnet/publico/visualizarDocumento?id=1143317</a:t>
            </a:r>
          </a:p>
          <a:p>
            <a:r>
              <a:t>CNPJ 62696791000193 · Quóruns e matérias reservadas · Excerto da fonte:</a:t>
            </a:r>
          </a:p>
          <a:p>
            <a:r>
              <a:t>Matéria Quórum a necessidade de voto afirmativo da Maioria das Cotas Seniores subscritas da Classe Quórum Qualif icado observada a necessidade de voto af irmativo da II – substituição do Administrador, do Gestor e da Cogestora; Maioria das Cotas Seniores subscritas da Classe Maioria Simples, observada a III – Emissão e distribuição de novas Cotas em quantidade necessidade de voto af irmativo da superior ao Capital Autorizado da Classe ; Maioria das Cotas Seniores subscritas da Classe</a:t>
            </a:r>
          </a:p>
          <a:p>
            <a:r>
              <a:t>CNPJ 62696791000193 · Quóruns e matérias reservadas · Regulamento · ID 1143317 · 20/03/2026 · versão Regulamento — referência 20/03/2026 · p. 22 · Anexo I, 10.2(XI) e 10.5–10.7 · https://fnet.bmfbovespa.com.br/fnet/publico/visualizarDocumento?id=1143317</a:t>
            </a:r>
          </a:p>
          <a:p>
            <a:r>
              <a:t>CNPJ 62696791000193 · Quóruns e matérias reservadas · Excerto da fonte:</a:t>
            </a:r>
          </a:p>
          <a:p>
            <a:r>
              <a:t>10.5 As deliberações que tenham por objeto alterações de Benchmark apenas serão aprovadas se assim deliberado: (i) pelos votos dos titulares da maioria das Cotas em circulação da Série ou Subclasse cujo Benchmark é alterado; e (ii) pelos votos dos titulares da maioria das Cotas Mezanino que se subordinem a ela e/ou das Cotas Subordinadas em circulação. 10.6 As deliberações que tenham por objeto o aumento do Índice de Subordinação estão sujeitas à aprovação da maioria simples dos votos dos titulares das Cotas Mezanino que se subordinem a ela e/ou das Cotas Subordinadas em circulação. 10.7 As deliberações que tenham por objeto a diminuição do Índice de Subordinação apenas serão aprovadas se assim deliberado: (i) pelos votos dos titulares da maioria das Cotas em circulação de cada uma das Séries de Cotas Seniores e/ou dos titulares das Cotas Mezanino que tenham o Benchmark alterado; e (ii) pelo voto dos titulares da maioria das Cotas Mezanino que se subordinem a ela e/ou Cotas Subordinadas Júnior em circulação . Representante de Cotistas 10.8 A Assembleia de Cotistas pode, a qualquer momento, eleger até 3 (três) representantes de cotistas, a serem eleitos e nomeados pela assembleia especial,</a:t>
            </a:r>
          </a:p>
          <a:p>
            <a:r>
              <a:t>CNPJ 62696791000193 · Quóruns e matérias reservadas · Versão e prevalência: Leitura específica das cláusulas indicadas; condições e conflitos preservados. Seleção documental atual não comprova vigência jurídica por data isolada.</a:t>
            </a:r>
          </a:p>
          <a:p>
            <a:r>
              <a:t>CNPJ 55563624000109 · Quóruns e matérias reservadas · Regulamento · ID 1192614 · 30/04/2026 · versão Regulamento30/04/2026 · p. 19 · AnexoI10.2(i)–(v) · https://fnet.bmfbovespa.com.br/fnet/publico/visualizarDocumento?id=1192614</a:t>
            </a:r>
          </a:p>
          <a:p>
            <a:r>
              <a:t>CNPJ 55563624000109 · Quóruns e matérias reservadas · Excerto da fonte:</a:t>
            </a:r>
          </a:p>
          <a:p>
            <a:r>
              <a:t>10.2 A Assembleia Especial de Cotistas é responsável por deliberar, observados os quóruns abaixo, sobre as matérias específicas da Classe, sem prejuízo das demais disposições previstas na regulamentação aplicável, incluindo, mas não se limitando a: MATÉRIA SUJEITA À APROVAÇÃO QUÓRUM DE DELIBERAÇÃO (i) deliberar sobre as demonstrações contábeis da Classe; Maioria do total das Cotas emitidas (ii) deliberar sobre a substituição de Prestadores de Serviços 90% (noventa por cento) do total das Cotas</a:t>
            </a:r>
          </a:p>
          <a:p>
            <a:r>
              <a:t>CNPJ 55563624000109 · Quóruns e matérias reservadas · Regulamento · ID 1192614 · 30/04/2026 · versão Regulamento30/04/2026 · p. 20 · AnexoI10.2(vi)–(xiii) · https://fnet.bmfbovespa.com.br/fnet/publico/visualizarDocumento?id=1192614</a:t>
            </a:r>
          </a:p>
          <a:p>
            <a:r>
              <a:t>CNPJ 55563624000109 · Quóruns e matérias reservadas · Excerto da fonte:</a:t>
            </a:r>
          </a:p>
          <a:p>
            <a:r>
              <a:t>(vi) alterar as características, vantagens, direitos e obrigações 90% (noventa por cento) do total das Cotas das Cotas; emitidas (vii) alterar critérios e procedimentos para resgate de Cotas mediante dação em pagamento de Cotas da Classe Maioria do total das Cotas emitidas Investida; (viii) aprovar a emissão de novas Cotas fora do Capital Maioria do total das Cotas emitidas</a:t>
            </a:r>
          </a:p>
          <a:p>
            <a:r>
              <a:t>CNPJ 55563624000109 · Quóruns e matérias reservadas · Versão e prevalência: Leitura específica das cláusulas indicadas; condições e conflitos preservados. Seleção documental atual não comprova vigência jurídica por data isolada.</a:t>
            </a:r>
          </a:p>
          <a:p>
            <a:r>
              <a:t>CNPJ 55563624000109 · Quóruns e matérias reservadas · Resumo do histórico: {"count": 2, "dates": ["2025-01-31", "2026-01-31"], "document_count": 2, "sources": [{"document_id": "1178840", "title": "Demonstrações Financeiras", "reference_date": "2026-01-31", "version": "1", "page": 24, "url": "https://fnet.bmfbovespa.com.br/fnet/publico/visualizarDocumento?id=1178840", "sha256": "c458e98664c5c907ddb5a05a94b120bed4e05295b2bfc420f5ba69af0a229abe"}, {"document_id": "891861", "title": "Demonstrações Financeiras", "reference_date": "2025-01-31", "version": "1", "page": 25, "url": "https://fnet.bmfbovespa.com.br/fnet/publico/visualizarDocumento?id=891861", "sha256": "e9cb9e6ddbe505fe068cfcac33605165a98313489de0d3ce6d4d238263c3f3e7"}], "reference": {"path": "history/55563624000109.json", "criterion_id": "quorum", "total_count": 2, "preview_count": 2, "full_text_deferred": true, "sha256": "7835d573fb58a3c19adf5b8ecc2aee2bdbb9a88f7a0c0209b5f262b64c7522e3"}}</a:t>
            </a:r>
          </a:p>
          <a:p>
            <a:r>
              <a:t>CNPJ 62552447000120 · Quóruns e matérias reservadas · Regulamento · ID 1200623 · 21/05/2026 · versão Consolidado21/05/2026 aprovado pelo ato1200625 · p. 21 · AnexoI10.2(i)–(x) · https://fnet.bmfbovespa.com.br/fnet/publico/visualizarDocumento?id=1200623</a:t>
            </a:r>
          </a:p>
          <a:p>
            <a:r>
              <a:t>CNPJ 62552447000120 · Quóruns e matérias reservadas · Excerto da fonte:</a:t>
            </a:r>
          </a:p>
          <a:p>
            <a:r>
              <a:t>10.2 Os seguintes quóruns deverão ser observados pela Assembleia Especial ao deliberar as matérias abaixo: Matéria Quórum (i) deliberar sobre substituição de Prestadores de Serviços Unanimidade dos Cotistas Essenciais, observado o disposto no art. 70, §1º da Parte Geral da Resolução CVM 175, quando aplicável; (ii) deliberar sobre elevação da Taxa Global, inclusive na Unanimidade dos Cotistas hipótese de restabelecimento de taxa que tenha sido objeto de redução; (iii) delibera</a:t>
            </a:r>
          </a:p>
          <a:p>
            <a:r>
              <a:t>CNPJ 62552447000120 · Quóruns e matérias reservadas · Versão e prevalência: Leitura específica das cláusulas indicadas; condições e conflitos preservados. Seleção documental atual não comprova vigência jurídica por data isolada.</a:t>
            </a:r>
          </a:p>
          <a:p>
            <a:r>
              <a:t>CNPJ 63953620000165 · Quóruns e matérias reservadas · Anexo ao Regulamento · ID 1222863 · 02/06/2026 · versão AnexoConsignadoPrivado02/06/2026 · p. 13 · 10.2(ii)–(xvii) · https://fnet.bmfbovespa.com.br/fnet/publico/visualizarDocumento?id=1222863</a:t>
            </a:r>
          </a:p>
          <a:p>
            <a:r>
              <a:t>CNPJ 63953620000165 · Quóruns e matérias reservadas · Excerto da fonte:</a:t>
            </a:r>
          </a:p>
          <a:p>
            <a:r>
              <a:t>10.2 Os seguintes quóruns deverão ser observados pela Assembleia Especial de Cotistas ao deliberar as matérias abaixo: Matéria Quórum (i) deliberar sobre as demonstrações contábeis da Classe; Maioria das Cotas presentes (ii) alterar o presente Anexo; Maioria das Cotas de cada Subclasse (iii) deliberar sobre substituição de Prestadores de Serviços Maioria das Cotas da Classe Essenciais, observado o disposto no Artigo 70, §1º da parte geral da R</a:t>
            </a:r>
          </a:p>
          <a:p>
            <a:r>
              <a:t>CNPJ 63953620000165 · Quóruns e matérias reservadas · Anexo ao Regulamento · ID 1222863 · 02/06/2026 · versão AnexoConsignadoPrivado02/06/2026 · p. 14 · 10.5–10.8 · https://fnet.bmfbovespa.com.br/fnet/publico/visualizarDocumento?id=1222863</a:t>
            </a:r>
          </a:p>
          <a:p>
            <a:r>
              <a:t>CNPJ 63953620000165 · Quóruns e matérias reservadas · Excerto da fonte:</a:t>
            </a:r>
          </a:p>
          <a:p>
            <a:r>
              <a:t>10.5 Caso a matéria em deliberação resulte ou possa resultar em uma redução do Índice de Subordinação de uma determinada Subclasse, somente podem votar os titulares de Subclasses de Cotas Seniores. 10.6 As deliberações que tenham por objeto alterações de Benchmark apenas serão aprovadas se assim deliberado: (i) pelos votos dos titulares da maioria das Cotas Seniores cujo Benchmark é alterado; e (ii) pelos votos dos titulares da maioria das Cotas Subordinadas em circulação. 10.7 As deliberações que tenham por objeto o aumento do Índice de Subordinação Sênior estão sujeitas à aprovação da maioria simples dos votos dos titu</a:t>
            </a:r>
          </a:p>
          <a:p>
            <a:r>
              <a:t>CNPJ 63953620000165 · Quóruns e matérias reservadas · Condição: 10.7/10.8 repetem aumento do índice com quóruns distintos; interpretar regra específica demandará resolver conflito, sem presumir uma aprovação.</a:t>
            </a:r>
          </a:p>
          <a:p>
            <a:r>
              <a:t>CNPJ 63953620000165 · Quóruns e matérias reservadas · Versão e prevalência: Leitura específica das cláusulas indicadas; condições e conflitos preservados. Seleção documental atual não comprova vigência jurídica por data isolada.</a:t>
            </a:r>
          </a:p>
          <a:p>
            <a:r>
              <a:t>CNPJ 63953620000165 · Quóruns e matérias reservadas · Resumo do histórico: {"count": 7, "dates": ["2026-04-28", "2026-05-08", "2026-05-15"], "document_count": 3, "sources": [{"document_id": "1327859", "title": "Demonstrações Financeiras - Fusão, cisão e incorporação", "reference_date": "2026-05-15", "version": "1", "page": 10, "url": "https://fnet.bmfbovespa.com.br/fnet/publico/visualizarDocumento?id=1327859", "sha256": "dca1c68babb97f887528c3e2e47596a9c30f507b067981a35655b2f2da9c8054"}, {"document_id": "1298691", "title": "Demonstrações Financeiras - Fusão, cisão e incorporação", "reference_date": "2026-05-08", "version": "1", "page": 10, "url": "https://fnet.bmfbovespa.com.br/fnet/publico/visualizarDocumento?id=1298691", "sha256": "58c570d9b8d4d265330d3db3ea81c435b8e44a6dab4002aa37790652a1ee9819"}, {"document_id": "1205431", "title": "AGE", "reference_date": "2026-04-28", "version": "1", "page": 1, "url": "https://fnet.bmfbovespa.com.br/fnet/publico/visualizarDocumento?id=1205431", "sha256": "e0b59c701c5d0dbf60de698ea7664d442240863b7043bacdb334ce484188b2ac"}], "reference": {"path": "history/63953620000165.json", "criterion_id": "quorum", "total_count": 7, "preview_count": 3, "full_text_deferred": true, "sha256": "a7b89077f5e21098c2d601c303faabc3ff6b9729f89d8afecdc60fe1404720c1"}}</a:t>
            </a:r>
          </a:p>
          <a:p>
            <a:r>
              <a:t>CNPJ 54871427000194 · Partes relacionadas e conflitos · Regulamento · ID 670691 · 2024-04-28 · versão 1 · p. 11 · 4.10 · https://fnet.bmfbovespa.com.br/fnet/publico/visualizarDocumento?id=670691</a:t>
            </a:r>
          </a:p>
          <a:p>
            <a:r>
              <a:t>CNPJ 54871427000194 · Partes relacionadas e conflitos · Excerto da fonte:</a:t>
            </a:r>
          </a:p>
          <a:p>
            <a:r>
              <a:t>4.10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54871427000194 · Partes relacionadas e conflitos · Regulamento · ID 670691 · 2024-04-28 · versão 1 · p. 11 · 4.11 · https://fnet.bmfbovespa.com.br/fnet/publico/visualizarDocumento?id=670691</a:t>
            </a:r>
          </a:p>
          <a:p>
            <a:r>
              <a:t>CNPJ 54871427000194 · Partes relacionadas e conflitos · Excerto da fonte:</a:t>
            </a:r>
          </a:p>
          <a:p>
            <a:r>
              <a:t>4.11 A Classe poderá, direta ou indiretamente e, nos termos da legislação aplicável: (i) adquirir Direitos  Creditórios que sejam cedidos e/ou originados pelo ADMINISTRADOR e/ou pelo GESTOR, ou partes  a eles relacionadas, tal como definidas pelas regras contábeis que tratam desse assunto; e (ii) ceder  Direitos Creditórios a qualquer das pessoas, fundos de investimento ou entidades referidas no item (i)  acima, desde que (i) o ADMINISTRADOR, GESTOR, a entidade registradora e o CUSTODIANTE de  Direitos Creditórios não sejam partes relacionadas entre si; e (ii) a entidade registradora e o  CUSTODIANTE dos Direitos Creditórios não sejam partes relacionadas ao originador ou Cedente.</a:t>
            </a:r>
          </a:p>
          <a:p>
            <a:r>
              <a:t>CNPJ 54871427000194 · Partes relacionadas e conflitos · Regulamento · ID 670691 · 2024-04-28 · versão 1 · p. 25 · 12.21 · https://fnet.bmfbovespa.com.br/fnet/publico/visualizarDocumento?id=670691</a:t>
            </a:r>
          </a:p>
          <a:p>
            <a:r>
              <a:t>CNPJ 54871427000194 · Partes relacionadas e conflitos · Excerto da fonte:</a:t>
            </a:r>
          </a:p>
          <a:p>
            <a:r>
              <a:t>12.21 O GESTOR, em nome da Classe, poderá contratar um ou mais terceiros para a prestação de serviços  de Agente de Cobrança de Direitos Creditórios Inadimplidos, os quais poderão ser partes relacionadas  ou integrar o grupo do ADMINISTRADOR ou dos demais prestadores de serviços da Classe. ] Serão  atribuições do Agente de Cobrança, observado o disposto neste Regulamento e na regulamentação  aplicável:</a:t>
            </a:r>
          </a:p>
          <a:p>
            <a:r>
              <a:t>(i) sempre que necessário, notificar os Devedores sobre a cessão dos Direitos Creditórios à  Classe, nos termos do Art. 290 do Código Civil;</a:t>
            </a:r>
          </a:p>
          <a:p>
            <a:r>
              <a:t>(ii) sempre que solicitado pelo ADMINISTRADOR e/ou pelo GESTOR, reportar ao  ADMINISTRADOR e ao GESTOR as ações tomadas e/ou eventos relevantes ocorridos no  âmbito da cobrança, seja judicial ou extrajudicial, dos Direitos Creditórios Inadimplidos, bem  como o estado de ref erida cobrança;</a:t>
            </a:r>
          </a:p>
          <a:p>
            <a:r>
              <a:t>(iii) comparecer à Assembleia Especial de Cotistas quando assim requerido pelo  ADMINISTRADOR;</a:t>
            </a:r>
          </a:p>
          <a:p>
            <a:r>
              <a:t>(iv) conf irmar o recebimento dos boletos bancários de cobrança enviados aos Devedores, se  aplicável;</a:t>
            </a:r>
          </a:p>
          <a:p>
            <a:r>
              <a:t>(v) controlar, coordenar, gerir e f iscalizar as ações de cobrança de Direitos Creditórios  Inadimplidos;</a:t>
            </a:r>
          </a:p>
          <a:p>
            <a:r>
              <a:t>(vi) adotar, em nome e por conta da Classe, todos os procedimentos de cobrança dos Direitos  Creditórios Inadimplidos de titularidade da Classe;</a:t>
            </a:r>
          </a:p>
          <a:p>
            <a:r>
              <a:t>(vii) conf orme o caso, ef etuar a inclusão ou exclusão do nome de quaisquer Devedores dos  Direitos Creditórios Inadimplidos no registro negativo de órgãos e/ou sistemas de informação  e proteção ao crédito; e</a:t>
            </a:r>
          </a:p>
          <a:p>
            <a:r>
              <a:t>(viii) conduzir, por si ou por meio dos assessores legais contratados para esse f im, processo  administrativo, judicial e/ou arbitral contra os Devedores, incluindo, ainda, a excussão de  eventuais garantias acessórias aos Direitos Creditórios.</a:t>
            </a:r>
          </a:p>
          <a:p>
            <a:r>
              <a:t>CNPJ 54871427000194 · Partes relacionadas e conflitos · Condição: Documentos atuais selecionados no inventário por categoria/escopo; a data documental isolada não comprova vigência jurídica.</a:t>
            </a:r>
          </a:p>
          <a:p>
            <a:r>
              <a:t>CNPJ 54871427000194 · Partes relacionadas e conflitos · Versão e prevalência: Documentos atuais selecionados no inventário por categoria/escopo; a data documental isolada não comprova vigência jurídica.</a:t>
            </a:r>
          </a:p>
          <a:p>
            <a:r>
              <a:t>CNPJ 54871427000194 · Partes relacionadas e conflitos · Resumo do histórico: {"count": 1, "dates": ["2024-04-19"], "document_count": 1, "sources": [{"document_id": "670689", "title": "Regulamento", "reference_date": "2024-04-19", "version": "1", "page": 11, "clause": "4.10", "url": "https://fnet.bmfbovespa.com.br/fnet/publico/visualizarDocumento?id=670689", "sha256": "891bc9bc5d87bbc02ec139077a84d2702eb81ea02035fb71d24f5b8366b94a0b"}], "reference": {"path": "history/54871427000194.json", "criterion_id": "related_parties", "total_count": 1, "preview_count": 1, "full_text_deferred": true, "sha256": "35d7cd99be50c7287c9fb675cf4f2e736002315295a225a9efa79c8d9186d874"}}</a:t>
            </a:r>
          </a:p>
          <a:p>
            <a:r>
              <a:t>CNPJ 60010416000112 · Partes relacionadas e conflitos · Regulamento · ID 1051393 · 2025-10-09 · versão 1 · p. 12 · 4.8 · https://fnet.bmfbovespa.com.br/fnet/publico/visualizarDocumento?id=1051393</a:t>
            </a:r>
          </a:p>
          <a:p>
            <a:r>
              <a:t>CNPJ 60010416000112 · Partes relacionadas e conflitos · Excerto da fonte:</a:t>
            </a:r>
          </a:p>
          <a:p>
            <a:r>
              <a:t>4.8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60010416000112 · Partes relacionadas e conflitos · Regulamento · ID 1051393 · 2025-10-09 · versão 1 · p. 12 · 4.9 · https://fnet.bmfbovespa.com.br/fnet/publico/visualizarDocumento?id=1051393</a:t>
            </a:r>
          </a:p>
          <a:p>
            <a:r>
              <a:t>CNPJ 60010416000112 · Partes relacionadas e conflitos · Excerto da fonte:</a:t>
            </a:r>
          </a:p>
          <a:p>
            <a:r>
              <a:t>4.9 Sem prejuízo de limites mais restritivos definidos neste Regulamento, o Gestor deverá observar, ainda, os  seguintes limites de concentração para a composição da Carteira:</a:t>
            </a:r>
          </a:p>
          <a:p>
            <a:r>
              <a:t> (i ) Até 100% (cem por cento) da parcela do Patrimônio Líquido investida em Ativos  Financeiros de Liquidez poderá ser alocada em Ativos Financeiros de Liquidez de  emissão ou que envolvam retenção de risco por parte do Administrador, Gestor, e/ou  suas partes relacionadas; e</a:t>
            </a:r>
          </a:p>
          <a:p>
            <a:r>
              <a:t> (ii) Até 100% (cem por cento) da parcela do Patrimônio Líquido investida em operações  com derivativos poderá ser alocada em derivativos nos quais, inexistindo contraparte  central, se tenha como contraparte o Gestor e/ou suas partes relacionadas.</a:t>
            </a:r>
          </a:p>
          <a:p>
            <a:r>
              <a:t>CNPJ 60010416000112 · Partes relacionadas e conflitos · Regulamento · ID 1051393 · 2025-10-09 · versão 1 · p. 12 · 4.12.1 · https://fnet.bmfbovespa.com.br/fnet/publico/visualizarDocumento?id=1051393</a:t>
            </a:r>
          </a:p>
          <a:p>
            <a:r>
              <a:t>CNPJ 60010416000112 · Partes relacionadas e conflitos · Excerto da fonte:</a:t>
            </a:r>
          </a:p>
          <a:p>
            <a:r>
              <a:t>4.12.1. Após o término do Período de Investimento, a Classe utilizará os recursos provenientes do  pagamento dos Direitos Creditórios e demais aplicações para amortização das Cotas, observada  a ordem de alocação de recursos def inida no Capítulo 7 abaixo.</a:t>
            </a:r>
          </a:p>
          <a:p>
            <a:r>
              <a:t>Regras, procedimentos e limites para efetuar cessão de direitos creditórios para o cedente e suas partes relacionadas</a:t>
            </a:r>
          </a:p>
          <a:p>
            <a:r>
              <a:t>CNPJ 60010416000112 · Partes relacionadas e conflitos · Condição: Documentos atuais selecionados no inventário por categoria/escopo; a data documental isolada não comprova vigência jurídica.</a:t>
            </a:r>
          </a:p>
          <a:p>
            <a:r>
              <a:t>CNPJ 60010416000112 · Partes relacionadas e conflitos · Versão e prevalência: Documentos atuais selecionados no inventário por categoria/escopo; a data documental isolada não comprova vigência jurídica.</a:t>
            </a:r>
          </a:p>
          <a:p>
            <a:r>
              <a:t>CNPJ 60010416000112 · Partes relacionadas e conflitos · Resumo do histórico: {"count": 1, "dates": ["2025-03-20"], "document_count": 1, "sources": [{"document_id": "993786", "title": "Regulamento", "reference_date": "2025-03-20", "version": "1", "page": 12, "clause": "4.8", "url": "https://fnet.bmfbovespa.com.br/fnet/publico/visualizarDocumento?id=993786", "sha256": "fd0fdd369a195510d81f81f505195a0b09e5f43522a990afa7d58c4f872921c8"}], "reference": {"path": "history/60010416000112.json", "criterion_id": "related_parties", "total_count": 1, "preview_count": 1, "full_text_deferred": true, "sha256": "8e2bd813f4c51cf01f6bfaad164bafe69d2bbb192f753eac92da3a01c2e63046"}}</a:t>
            </a:r>
          </a:p>
          <a:p>
            <a:r>
              <a:t>CNPJ 62696791000193 · Partes relacionadas e conflitos · Regulamento · ID 1143317 · 2026-03-20 · versão 1 · p. 12 · 4.10 · https://fnet.bmfbovespa.com.br/fnet/publico/visualizarDocumento?id=1143317</a:t>
            </a:r>
          </a:p>
          <a:p>
            <a:r>
              <a:t>CNPJ 62696791000193 · Partes relacionadas e conflitos · Excerto da fonte:</a:t>
            </a:r>
          </a:p>
          <a:p>
            <a:r>
              <a:t>4.10 Sem prejuízo de limites mais restritivos definidos neste Anexo, o Gestor deverá observar, ainda, os  seguintes limites de concentração:</a:t>
            </a:r>
          </a:p>
          <a:p>
            <a:r>
              <a:t> (i) A Classe poderá, direta ou indiretamente, ter até 100% (cem por cento) do Patrimônio  Líquido representado por Direitos Creditórios do Agronegócio originados ou cedidos  pelo Administrador, Gestor e/ou suas partes relacionadas, tal como definidas pelas  regras contábeis que tratam desse assunto, desde que (a) o Gest or, a entidade  registradora e o Custodiante dos Direitos Creditórios do Agronegócio não sejam partes  relacionadas entre si; e (b) a entidade registradora e o Custodiante dos Direitos  Creditórios do Agronegócio não sejam partes relacionadas ao originador ou Cedente.</a:t>
            </a:r>
          </a:p>
          <a:p>
            <a:r>
              <a:t> (ii) No máximo, 100% (cem por cento) do Patrimônio Líquido investido em Ativos  Financeiros de Liquidez de emissão ou que envolvam retenção de risco por parte do  Administrador, Gestor, e/ou suas partes relacionadas, observado ainda o disposto no  item Error! Reference source not found.;</a:t>
            </a:r>
          </a:p>
          <a:p>
            <a:r>
              <a:t> (iii) No máximo, 100% (cem por cento) do Patrimônio Líquido investido em operações com  derivativos nos quais, inexistindo contraparte central, se tenha como contraparte o  Gestor, e/ou suas partes relacionadas, observado ainda o disposto no item Error!  Reference source not found.;</a:t>
            </a:r>
          </a:p>
          <a:p>
            <a:r>
              <a:t> (iv) No máximo, 100% (cem por cento) do Patrimônio Líquido em cotas de uma mesma  classe;</a:t>
            </a:r>
          </a:p>
          <a:p>
            <a:r>
              <a:t> (v) É vedada a aquisição de precatórios f ederais.</a:t>
            </a:r>
          </a:p>
          <a:p>
            <a:r>
              <a:t> (vi) No máximo, 49% (quarenta e nove por cento) do Patrimônio Líquido em Ativos  Imobiliários do Agronegócio;</a:t>
            </a:r>
          </a:p>
          <a:p>
            <a:r>
              <a:t> (vii) No máximo, 49% (quarenta e nove por cento) do Patrimônio Líquido em Participações  do Agronegócio;</a:t>
            </a:r>
          </a:p>
          <a:p>
            <a:r>
              <a:t> (viii) No máximo, 49% (quarenta e nove por cento) do Patrimônio Líquido em Ativos  Financeiros do Agronegócio; e</a:t>
            </a:r>
          </a:p>
          <a:p>
            <a:r>
              <a:t> (ix) No máximo, 49% (quarenta e nove por cento) do Patrimônio Líquido em Ativos em Geral  do Agronegócio;</a:t>
            </a:r>
          </a:p>
          <a:p>
            <a:r>
              <a:t> Ativos Recuperados</a:t>
            </a:r>
          </a:p>
          <a:p>
            <a:r>
              <a:t>CNPJ 62696791000193 · Partes relacionadas e conflitos · Regulamento · ID 1143317 · 2026-03-20 · versão 1 · p. 11 · 4.8 · https://fnet.bmfbovespa.com.br/fnet/publico/visualizarDocumento?id=1143317</a:t>
            </a:r>
          </a:p>
          <a:p>
            <a:r>
              <a:t>CNPJ 62696791000193 · Partes relacionadas e conflitos · Excerto da fonte:</a:t>
            </a:r>
          </a:p>
          <a:p>
            <a:r>
              <a:t>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relacionadas ao Gestor.</a:t>
            </a:r>
          </a:p>
          <a:p>
            <a:r>
              <a:t>CNPJ 62696791000193 · Partes relacionadas e conflitos · Regulamento · ID 1143317 · 2026-03-20 · versão 1 · p. 14 · 4.21.1 · https://fnet.bmfbovespa.com.br/fnet/publico/visualizarDocumento?id=1143317</a:t>
            </a:r>
          </a:p>
          <a:p>
            <a:r>
              <a:t>CNPJ 62696791000193 · Partes relacionadas e conflitos · Excerto da fonte:</a:t>
            </a:r>
          </a:p>
          <a:p>
            <a:r>
              <a:t>4.21.1 Sem prejuízo do disposto acima, poderá ser contratado terceiro especializado para o  gerenciamento das obras, para controle dos desembolsos, conforme medições durante a etapa  de desenvolvimento e construção dos Ativos Imobiliários do Agronegócio, sendo certo que,  caso haja a contratação de terceiros em situação de conflito de interesses, deverá ser aprovado  em assembleia de Cotistas.</a:t>
            </a:r>
          </a:p>
          <a:p>
            <a:r>
              <a:t>CNPJ 62696791000193 · Partes relacionadas e conflitos · Condição: Documentos atuais selecionados no inventário por categoria/escopo; a data documental isolada não comprova vigência jurídica.</a:t>
            </a:r>
          </a:p>
          <a:p>
            <a:r>
              <a:t>CNPJ 62696791000193 · Partes relacionadas e conflitos · Versão e prevalência: Documentos atuais selecionados no inventário por categoria/escopo; a data documental isolada não comprova vigência jurídica.</a:t>
            </a:r>
          </a:p>
          <a:p>
            <a:r>
              <a:t>CNPJ 55563624000109 · Partes relacionadas e conflitos · Regulamento · ID 1192614 · 2026-04-30 · versão 1 · p. 13 · 4.12.1 · https://fnet.bmfbovespa.com.br/fnet/publico/visualizarDocumento?id=1192614</a:t>
            </a:r>
          </a:p>
          <a:p>
            <a:r>
              <a:t>CNPJ 55563624000109 · Partes relacionadas e conflitos · Excerto da fonte:</a:t>
            </a:r>
          </a:p>
          <a:p>
            <a:r>
              <a:t>4.12.1 A Classe poderá ter até 100% (cem por cento) do Patrimônio Líquido representado por Cotas da Classe  Investida administrados pelo ADMINISTRADOR, e geridos ou cogeridos pelo GESTOR e/ou suas partes  relacionadas.</a:t>
            </a:r>
          </a:p>
          <a:p>
            <a:r>
              <a:t> Revolvência da Carteira</a:t>
            </a:r>
          </a:p>
          <a:p>
            <a:r>
              <a:t>CNPJ 55563624000109 · Partes relacionadas e conflitos · Regulamento · ID 1192614 · 2026-04-30 · versão 1 · p. 28 · 13.2 · https://fnet.bmfbovespa.com.br/fnet/publico/visualizarDocumento?id=1192614</a:t>
            </a:r>
          </a:p>
          <a:p>
            <a:r>
              <a:t>CNPJ 55563624000109 · Partes relacionadas e conflitos · Excerto da fonte:</a:t>
            </a:r>
          </a:p>
          <a:p>
            <a:r>
              <a:t>13.2 Em condições ordinárias, as Cotas da Classe Investida não pagarão remuneração aos prestadores de serviços  essenciais da Classe Investida, nos termos de seu regulamento. Não obstante, em cenário extraordinário  conforme descrito no item 15.1.1 (iii), e para fins de atendimento ao artigo 98 da parte geral da Resolução CVM  175, a taxa máxima de administração corresponderá ao valor da Taxa Mínima de Administração acrescida de até  0,10% (dez centésimos por cento) ao ano incidente sobre o patrimônio líquido da Classe Investida,  compreendendo a taxa de administração da Classe Investida geridos por partes relacionadas ao GESTOR, cujas  cotas não estão admitidas à negociação em mercado organizado, conforme prevista no regulamento da Classe  Investida (“Taxa Máxima de Administração” e, quando referida em conjunto com a Taxa Mínima de  Administração, como “Taxa de Administração”). Caso a taxa de administração da Classe Investida não se  enquadre no disposto acima, estará disposta no regulamento da Classe Investida.</a:t>
            </a:r>
          </a:p>
          <a:p>
            <a:r>
              <a:t>CNPJ 55563624000109 · Partes relacionadas e conflitos · Regulamento · ID 1192614 · 2026-04-30 · versão 1 · p. 37 · https://fnet.bmfbovespa.com.br/fnet/publico/visualizarDocumento?id=1192614</a:t>
            </a:r>
          </a:p>
          <a:p>
            <a:r>
              <a:t>CNPJ 55563624000109 · Partes relacionadas e conflitos · Excerto da fonte:</a:t>
            </a:r>
          </a:p>
          <a:p>
            <a:r>
              <a:t>(ix) Possibilidade de conflito de interesses. As Cotas poderão ser adquiridas por investidores que  sejam partes relacionadas à Classe Investida ou aos prestadores de serviços da Classe Investida. Nessa  hipótese, poderá haver situações de conflito de interesses entre os interesses desses investidores e o  interesse dos demais Cotistas, podendo qualquer desses investidores, inclusive, aprovar deliberações  contrárias aos interesses dos demais Cotistas caso sejam titulares da maioria das Cotas presentes às  Assembleias de Cotistas.</a:t>
            </a:r>
          </a:p>
          <a:p>
            <a:r>
              <a:t>CNPJ 55563624000109 · Partes relacionadas e conflitos · Condição: Documentos atuais selecionados no inventário por categoria/escopo; a data documental isolada não comprova vigência jurídica.</a:t>
            </a:r>
          </a:p>
          <a:p>
            <a:r>
              <a:t>CNPJ 55563624000109 · Partes relacionadas e conflitos · Versão e prevalência: Documentos atuais selecionados no inventário por categoria/escopo; a data documental isolada não comprova vigência jurídica.</a:t>
            </a:r>
          </a:p>
          <a:p>
            <a:r>
              <a:t>CNPJ 55563624000109 · Partes relacionadas e conflitos · Resumo do histórico: {"count": 2, "dates": ["2025-01-31", "2026-01-31"], "document_count": 2, "sources": [{"document_id": "1178840", "title": "Demonstrações Financeiras", "reference_date": "2026-01-31", "version": "1", "page": 23, "url": "https://fnet.bmfbovespa.com.br/fnet/publico/visualizarDocumento?id=1178840", "sha256": "c458e98664c5c907ddb5a05a94b120bed4e05295b2bfc420f5ba69af0a229abe"}, {"document_id": "891861", "title": "Demonstrações Financeiras", "reference_date": "2025-01-31", "version": "1", "page": 23, "url": "https://fnet.bmfbovespa.com.br/fnet/publico/visualizarDocumento?id=891861", "sha256": "e9cb9e6ddbe505fe068cfcac33605165a98313489de0d3ce6d4d238263c3f3e7"}], "reference": {"path": "history/55563624000109.json", "criterion_id": "related_parties", "total_count": 2, "preview_count": 2, "full_text_deferred": true, "sha256": "7835d573fb58a3c19adf5b8ecc2aee2bdbb9a88f7a0c0209b5f262b64c7522e3"}}</a:t>
            </a:r>
          </a:p>
          <a:p>
            <a:r>
              <a:t>CNPJ 62552447000120 · Partes relacionadas e conflitos · Regulamento · ID 1200623 · 2026-05-21 · versão 1 · p. 14 · 4.10 · https://fnet.bmfbovespa.com.br/fnet/publico/visualizarDocumento?id=1200623</a:t>
            </a:r>
          </a:p>
          <a:p>
            <a:r>
              <a:t>CNPJ 62552447000120 · Partes relacionadas e conflitos · Excerto da fonte:</a:t>
            </a:r>
          </a:p>
          <a:p>
            <a:r>
              <a:t>4.10 Nos termos do art. 45, §7º, inciso II, do Anexo Normativo II, a Classe poderá ter até 100% (cem por  cento) de seu Patrimônio Líquido alocado em Direitos Creditórios, derivativos, observado o disposto  abaixo,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62552447000120 · Partes relacionadas e conflitos · Regulamento · ID 1200623 · 2026-05-21 · versão 1 · p. 14 · 4.11 · https://fnet.bmfbovespa.com.br/fnet/publico/visualizarDocumento?id=1200623</a:t>
            </a:r>
          </a:p>
          <a:p>
            <a:r>
              <a:t>CNPJ 62552447000120 · Partes relacionadas e conflitos · Excerto da fonte:</a:t>
            </a:r>
          </a:p>
          <a:p>
            <a:r>
              <a:t>4.11 Sem prejuízo de limites mais restritivos definidos neste Regulamento, o Gestor deverá observar, ainda,  os seguintes limites de concentração para a composição da Carteira:</a:t>
            </a:r>
          </a:p>
          <a:p>
            <a:r>
              <a:t> (i) Até 100% (cem por cento) da parcela do Patrimônio Líquido investida em Direitos  Creditórios poderão ser alocados em Direitos Creditórios originados ou cedidos pelo  Administrador, Gestor e/ou suas partes relacionadas, tal como definidas pelas regras  contábeis que tratam desse assunto . A Classe também poderá ceder Direitos  Creditórios a qualquer das pessoas, f undos de investimento ou entidades ref eridas  acima, desde que a entidade registradora e o Custodiante dos Direitos Creditórios não  sejam partes relacionadas ao Originador ou Endossante;</a:t>
            </a:r>
          </a:p>
          <a:p>
            <a:r>
              <a:t> (ii) Até 100% (cem por cento) da parcela do Patrimônio Líquido investida em Ativos  Financeiros poderão ser alocados em Ativos Financeiros de emissão ou que envolvam  retenção de risco por parte do Administrador, Gestor e/ou suas partes relacionadas; e</a:t>
            </a:r>
          </a:p>
          <a:p>
            <a:r>
              <a:t> (iii) Até 100% (cem por cento) da parcela do Patrimônio Líquido investida em operações  com derivativos poderão ser alocados em operações com derivativos nas quais,  inexistindo contraparte central, se tenha como contraparte o Gestor e/ou suas partes  relacionadas.</a:t>
            </a:r>
          </a:p>
          <a:p>
            <a:r>
              <a:t>CNPJ 62552447000120 · Partes relacionadas e conflitos · Regulamento · ID 1200623 · 2026-05-21 · versão 1 · p. 15 · 4.18 · https://fnet.bmfbovespa.com.br/fnet/publico/visualizarDocumento?id=1200623</a:t>
            </a:r>
          </a:p>
          <a:p>
            <a:r>
              <a:t>CNPJ 62552447000120 · Partes relacionadas e conflitos · Excerto da fonte:</a:t>
            </a:r>
          </a:p>
          <a:p>
            <a:r>
              <a:t>4.18 Ainda que integrem a Carteira, os Ativos Recuperados não serão, sob qualquer hipótese, adquiridos  como parte da Política de Investimento, de forma que serão de sua propriedade exclusivamente, não  devendo, portanto, ser contabilizados para f ins de enquadramento da Classe.</a:t>
            </a:r>
          </a:p>
          <a:p>
            <a:r>
              <a:t>Regras, procedimentos e limites para efetuar qualquer modalidade de transferência dos Direitos Creditórios, incluindo, sem limitação, endosso (“Transferência”) para o Endossante e suas partes relacionadas</a:t>
            </a:r>
          </a:p>
          <a:p>
            <a:r>
              <a:t>CNPJ 62552447000120 · Partes relacionadas e conflitos · Condição: Documentos atuais selecionados no inventário por categoria/escopo; a data documental isolada não comprova vigência jurídica.</a:t>
            </a:r>
          </a:p>
          <a:p>
            <a:r>
              <a:t>CNPJ 62552447000120 · Partes relacionadas e conflitos · Versão e prevalência: Documentos atuais selecionados no inventário por categoria/escopo; a data documental isolada não comprova vigência jurídica.</a:t>
            </a:r>
          </a:p>
          <a:p>
            <a:r>
              <a:t>CNPJ 63953620000165 · Partes relacionadas e conflitos · Anexo ao Regulamento · ID 1222863 · 2026-06-02 · versão 1 · p. 6 · 4.14 · https://fnet.bmfbovespa.com.br/fnet/publico/visualizarDocumento?id=1222863</a:t>
            </a:r>
          </a:p>
          <a:p>
            <a:r>
              <a:t>CNPJ 63953620000165 · Partes relacionadas e conflitos · Excerto da fonte:</a:t>
            </a:r>
          </a:p>
          <a:p>
            <a:r>
              <a:t>4.14 Nos termos do Art. 45, §7º, inciso II, do Anexo Normativo II da Resolução CVM 175, a Classe poderá ter até 100%  (cem por cento) de seu Patrimônio Líquido alocado em Direitos Creditórios, derivativos, observado o disposto  neste Anexo I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63953620000165 · Partes relacionadas e conflitos · Anexo ao Regulamento · ID 1222863 · 2026-06-02 · versão 1 · p. 8 · 4.21 · https://fnet.bmfbovespa.com.br/fnet/publico/visualizarDocumento?id=1222863</a:t>
            </a:r>
          </a:p>
          <a:p>
            <a:r>
              <a:t>CNPJ 63953620000165 · Partes relacionadas e conflitos · Excerto da fonte:</a:t>
            </a:r>
          </a:p>
          <a:p>
            <a:r>
              <a:t>4.21 Ainda que integrem a carteira da Classe, os Ativos Recuperados não serão, sob qualquer hipótese, adquiridos  como parte da Política de Investimento da Classe, de forma que serão de sua propriedade exclusivamente, não  devendo, portanto, ser contabilizados para fins de enquadramento da Classe.</a:t>
            </a:r>
          </a:p>
          <a:p>
            <a:r>
              <a:t> Regras, procedimentos e limites para efetuar o Endosso de Direitos Creditórios Crédito Consignado para o Endossante e  suas partes relacionadas</a:t>
            </a:r>
          </a:p>
          <a:p>
            <a:r>
              <a:t>CNPJ 63953620000165 · Partes relacionadas e conflitos · Anexo ao Regulamento · ID 1222863 · 2026-06-02 · versão 1 · p. 7 · https://fnet.bmfbovespa.com.br/fnet/publico/visualizarDocumento?id=1222863</a:t>
            </a:r>
          </a:p>
          <a:p>
            <a:r>
              <a:t>CNPJ 63953620000165 · Partes relacionadas e conflitos · Excerto da fonte:</a:t>
            </a:r>
          </a:p>
          <a:p>
            <a:r>
              <a:t>Anexo I ao Regulamento  CLASSE CONSIGNADO PRIVADO DO MT GLOBAL FUNDO DE INVESTIMENTO EM DIREITOS  CREDITÓRIOS RESPONSABILIDADE LIMITADA</a:t>
            </a:r>
          </a:p>
          <a:p>
            <a:r>
              <a:t> (i)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 (ii) No máximo, 50% (cinquenta por cento) do Patrimônio Líquido investido em Ativos Financeiros  de Liquidez de emissão ou que envolvam retenção de risco por parte do Administrador, Gestor,  e/ou suas partes relacionadas, observado ainda o disposto acima;</a:t>
            </a:r>
          </a:p>
          <a:p>
            <a:r>
              <a:t> (iii) No máximo, 100% (cem por cento) do Patrimônio Líquido investido em operações com  derivativos nos quais, inexistindo contraparte central, se tenha como contraparte o Gestor,  Consultora e/ou suas partes relacionadas, observado ainda o disposto acima;</a:t>
            </a:r>
          </a:p>
          <a:p>
            <a:r>
              <a:t> (iv) A Classe poderá investir até 100% (cem por cento) de seu Patrimônio Líquido em Direitos  Creditórios Não-Padronizados;</a:t>
            </a:r>
          </a:p>
          <a:p>
            <a:r>
              <a:t> (v) É vedada a aquisição de precatórios federais.</a:t>
            </a:r>
          </a:p>
          <a:p>
            <a:r>
              <a:t>CNPJ 63953620000165 · Partes relacionadas e conflitos · Condição: Documentos atuais selecionados no inventário por categoria/escopo; a data documental isolada não comprova vigência jurídica.</a:t>
            </a:r>
          </a:p>
          <a:p>
            <a:r>
              <a:t>CNPJ 63953620000165 · Partes relacionadas e conflitos · Versão e prevalência: Documentos atuais selecionados no inventário por categoria/escopo; a data documental isolada não comprova vigência jurídica.</a:t>
            </a:r>
          </a:p>
          <a:p>
            <a:r>
              <a:t>CNPJ 54871427000194 · Histórico de alterações materiais · Instrumento Particular de Alteração do Regulamento · ID 670690 · 28/05/2024 · versão Instrumento Particular de Alteração do Regulamento — referência 28/05/2024 · p. 1 · AGC, 4.1–4.2 · https://fnet.bmfbovespa.com.br/fnet/publico/visualizarDocumento?id=670690</a:t>
            </a:r>
          </a:p>
          <a:p>
            <a:r>
              <a:t>CNPJ 54871427000194 · Histórico de alterações materiais · Excerto da fonte:</a:t>
            </a:r>
          </a:p>
          <a:p>
            <a:r>
              <a:t>4.1. A alteração integral do anexo da Classe Única, que compõe o regulamento do Fundo (“Anexo da Classe Única” e “Regulamento”) e seus complementos, para de f orma a alterar a Política de Investimentos da Classe para aquisição de direitos creditórios representados por Certif icados de Cédulas de Crédito Bancário (“CCCBs” e “Direitos Creditórios”), bem como refletir os novos critérios de elegibilidade para aquisição dos Direitos Creditórios, os documentos comprobatórios do lastro e f atores de risco aplicáveis. 4.2. Tendo em vista a aprovação dos itens. acima, deliberaram por aprovar o novo Regulamento Consolidado, que vigorará na forma do Anexo I à presente Ata, o qual terá efeitos retroativos a abertura de 28 de maio de 2024. 4.3. Por f im, por aprovar a Administradora a adotar todas as medidas necessárias para implementação das deliberações acima. 5. ENCERRAMENTO Nada mais havendo a tratar, f oi a reunião encerrada. Rio de Janeiro, 28 de maio de 2024. Mesa: Diego Prado Tassiana Lima Presidente</a:t>
            </a:r>
          </a:p>
          <a:p>
            <a:r>
              <a:t>CNPJ 54871427000194 · Histórico de alterações materiais · Regulamento · ID 670691 · 28/04/2024 · versão Regulamento — referência 28/04/2024 · p. 9 · Regulamento 670691, Anexo I, 4.2 · https://fnet.bmfbovespa.com.br/fnet/publico/visualizarDocumento?id=670691</a:t>
            </a:r>
          </a:p>
          <a:p>
            <a:r>
              <a:t>CNPJ 54871427000194 · Histórico de alterações materiais · Excerto da fonte:</a:t>
            </a:r>
          </a:p>
          <a:p>
            <a:r>
              <a:t>4.2 Os Direitos Creditórios representados por Certif icados de Cédulas de Crédito Bancário (“CCCBs”), representativos de um agrupamento de determinadas CCBs, originadas no âmbito de operações de empréstimos pessoais concedidos por um Endossante a um Devedor, devidamente f ormalizadas por via eletrônica de acordo com a legislação aplicável, segundo os critérios de composição e diversificação estabelecidos pela regulamentação aplicável e neste Regulamento. 4.2.1 Cada Endossante deve ter celebrado convênio com órgão consignante, previamente à cessão de Direitos Creditórios à Classe, que contemplam a obrigação da manutenção da consignação/averbação junto ao novo órgão, de modo a possibilitar o pagamento dos Direitos Creditórios por meio de consignação em f olha de pagamento ou de benef ício . 4.3 Os pagamentos relativos aos Direitos Creditórios de titularidade da Classe serão realizados mediante consignação em folha, débito em conta de titularidade dos Devedores e pagamentos de sinistros, para pagamento dos valores correspondentes às parcelas das CCBs representadas pelos CCCBs de titularidade da Classe, os quais serão conciliados e repassados pelo Endossan</a:t>
            </a:r>
          </a:p>
          <a:p>
            <a:r>
              <a:t>CNPJ 54871427000194 · Histórico de alterações materiais · Condição: A classificação Fundos Net do documento 670690 é “regulamento”, mas seu conteúdo é uma AGC. A divergência de datas impede usar a referência do 670691 como prova autônoma de início de vigência.</a:t>
            </a:r>
          </a:p>
          <a:p>
            <a:r>
              <a:t>CNPJ 54871427000194 · Histórico de alterações materiais · Motivo: Não localizada uma cláusula material para este critério nos textos identificados e processados. A ausência de resultado não comprova inexistência da regra.</a:t>
            </a:r>
          </a:p>
          <a:p>
            <a:r>
              <a:t>CNPJ 54871427000194 · Histórico de alterações materiais · Versão e prevalência: Leitura específica das cláusulas indicadas; condições e conflitos preservados. Seleção documental atual não comprova vigência jurídica por data isolada.</a:t>
            </a:r>
          </a:p>
          <a:p>
            <a:r>
              <a:t>CNPJ 60010416000112 · Histórico de alterações materiais · Demonstrações Financeiras - Fusão, cisão e incorporação · ID 1298690 · 2026-05-08 · versão 1 · p. 30 · https://fnet.bmfbovespa.com.br/fnet/publico/visualizarDocumento?id=1298690</a:t>
            </a:r>
          </a:p>
          <a:p>
            <a:r>
              <a:t>CNPJ 60010416000112 · Histórico de alterações materiais · Excerto da fonte:</a:t>
            </a:r>
          </a:p>
          <a:p>
            <a:r>
              <a:t>Durante o período de investimento, a Administradora poderá deliberar por realizar novas  emissões de Cotas Seniores, sem a necessidade de aprovação em Assembleia Especial de  Cotistas ou alteração do Regulamento, limitadas ao montante máximo de R$ 1.000.000 (um  bilhão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seniores emitidas não sejam superiores aos  prazos de vencimento da primeira emissão.</a:t>
            </a:r>
          </a:p>
          <a:p>
            <a:r>
              <a:t>CNPJ 60010416000112 · Histórico de alterações materiais · Demonstrações Financeiras - Fusão, cisão e incorporação · ID 1298690 · 2026-05-08 · versão 1 · p. 30 · https://fnet.bmfbovespa.com.br/fnet/publico/visualizarDocumento?id=1298690</a:t>
            </a:r>
          </a:p>
          <a:p>
            <a:r>
              <a:t>CNPJ 60010416000112 · Histórico de alterações materiais · Excerto da fonte:</a:t>
            </a:r>
          </a:p>
          <a:p>
            <a:r>
              <a:t>Durante o período de investimento, a Administradora poderá deliberar por realizar novas  emissões de cotas subordinadas, sem a necessidade de aprovação em Assembleia Especial  de Cotistas ou alteração do Regulamento, limitadas ao montante máximo de R$ 50.000  (cinquenta milhões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subordinadas emitidas não sejam  superiores aos prazos de vencimento da primeira emissão.</a:t>
            </a:r>
          </a:p>
          <a:p>
            <a:r>
              <a:t>CNPJ 60010416000112 · Histórico de alterações materiais · Condição: Documentos atuais selecionados no inventário por categoria/escopo; a data documental isolada não comprova vigência jurídica.</a:t>
            </a:r>
          </a:p>
          <a:p>
            <a:r>
              <a:t>CNPJ 60010416000112 · Histórico de alterações materiais · Versão e prevalência: Documentos atuais selecionados no inventário por categoria/escopo; a data documental isolada não comprova vigência jurídica.</a:t>
            </a:r>
          </a:p>
          <a:p>
            <a:r>
              <a:t>CNPJ 60010416000112 · Histórico de alterações materiais · Resumo do histórico: {"count": 5, "dates": ["2025-11-30", "2026-03-18", "2026-04-16"], "document_count": 3, "sources": [{"document_id": "1282181", "title": "Demonstrações Financeiras - Fusão, cisão e incorporação", "reference_date": "2026-04-16", "version": "1", "page": 32, "url": "https://fnet.bmfbovespa.com.br/fnet/publico/visualizarDocumento?id=1282181", "sha256": "b1c6566e43a00bcd00c8a7f30c77b7f86e351bd8e355bbea113f46d1dafda703"}, {"document_id": "1224477", "title": "Demonstrações Financeiras - Fusão, cisão e incorporação", "reference_date": "2026-03-18", "version": "1", "page": 32, "url": "https://fnet.bmfbovespa.com.br/fnet/publico/visualizarDocumento?id=1224477", "sha256": "0751bf0a75bc3b44c2748f5000226665c6ec6698a90c4dc6170b4e6c187759ae"}, {"document_id": "1126154", "title": "Demonstrações Financeiras", "reference_date": "2025-11-30", "version": "1", "page": 32, "url": "https://fnet.bmfbovespa.com.br/fnet/publico/visualizarDocumento?id=1126154", "sha256": "a01e7ccf88c548f12c95cba8526d7efbef6b585c112cd4668eca781c292090b0"}], "reference": {"path": "history/60010416000112.json", "criterion_id": "changes", "total_count": 5, "preview_count": 3, "full_text_deferred": true, "sha256": "8e2bd813f4c51cf01f6bfaad164bafe69d2bbb192f753eac92da3a01c2e63046"}}</a:t>
            </a:r>
          </a:p>
          <a:p>
            <a:r>
              <a:t>CNPJ 62696791000193 · Histórico de alterações materiais · AGE · ID 1143319 · 20/03/2026 10:00 · versão AGE — referência 20/03/2026 10:00 · p. 1 · AGC, 4.1(a)–(c) · https://fnet.bmfbovespa.com.br/fnet/publico/visualizarDocumento?id=1143319</a:t>
            </a:r>
          </a:p>
          <a:p>
            <a:r>
              <a:t>CNPJ 62696791000193 · Histórico de alterações materiais · Excerto da fonte:</a:t>
            </a:r>
          </a:p>
          <a:p>
            <a:r>
              <a:t>4.1. Aprovar a transformação do Fundo, bem como de sua Classe única, em um fundo de investimento nas cadeias produtivas do agronegócio (“Transformação”), nos termos da parte geral e do Anexo Normativo VI da Resolução nº 175 da CVM, de 23 de dezembro de 2022, conforme alterada (“Resolução CVM 175”). a. Aprovar a alteração da denominação do Fundo, que passará a vigorar como BTG PACTUAL CERES CONFINA FUNDO DE INVESTIMENTO NAS CADEIAS PRODUTIVAS DO AGRONEGÓCIO RESPONSABILIDADE LIMITADA, e de sua Classe única, que passará a vigorar como CLASSE ÚNICA DO BTG PACTUAL CERES CONFINA FUNDO DE INVESTIMENTO NAS CADEIAS PRODUTIVAS DO AGRONEGÓCIO RESPONSABILIDADE LIMITADA (“Classe”); b. Aprovar a reforma integral do Regulamento do Fundo, bem como do Anexo descritivo da Classe, para realizar todos os ajustes necessários à implementação da Transformação, incluindo, mas não se limitando, a política de investimentos, o regime tributário e os fatores de risco aplicáveis, conforme itens abaixo; c. Aprovar a alteração do quadro de características gerais do Fundo, considerando a contratação do Cogestor pelo Gestor, nos termos do artigo 52, II, da parte geral da Resolução CVM 175 e no co</a:t>
            </a:r>
          </a:p>
          <a:p>
            <a:r>
              <a:t>CNPJ 62696791000193 · Histórico de alterações materiais · AGE · ID 1143319 · 20/03/2026 10:00 · versão AGE — referência 20/03/2026 10:00 · p. 3 · AGC, 4.1(j)–(k) · https://fnet.bmfbovespa.com.br/fnet/publico/visualizarDocumento?id=1143319</a:t>
            </a:r>
          </a:p>
          <a:p>
            <a:r>
              <a:t>CNPJ 62696791000193 · Histórico de alterações materiais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Histórico de alterações materiais · Instrumento Particular de Emissão de Cotas · ID 1148821 · 27/03/2026 · versão Instrumento Particular de Emissão de Cotas — referência 27/03/2026 · p. 1 · Deliberação Conjunta27/03/2026, item1 · https://fnet.bmfbovespa.com.br/fnet/publico/visualizarDocumento?id=1148821</a:t>
            </a:r>
          </a:p>
          <a:p>
            <a:r>
              <a:t>CNPJ 62696791000193 · Histórico de alterações materiais · Excerto da fonte:</a:t>
            </a:r>
          </a:p>
          <a:p>
            <a:r>
              <a:t>1. Aprovar a 2ª (segunda) emissão da Subclasse Subordinada Júnior da Classe, composta por até 20.000 (vinte mil) Cotas Subordinadas Júnior, com valor nominal unitário de R$ 1.000,00 (mil reais), perfazendo o montante total de R$ 20.000.000,00 (vinte milhões de reais), as quais serão objeto de colocação privada, de acordo com os termos e condições definidos no Apêndice da Subclasse Subordinada Júnior constante do Anexo I Regulamento e descritas abaixo (“2ª Emissão da Subclasse Subordinada Júnior”): a) Rito: as Cotas Subordinadas Júnior objeto da 2ª Emissão da Subclasse Subordinada Júnior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Subordinada Júnior na data de integralização, calculado na forma prevista no respectivo Apêndice; BTG Pactual 1 SAC: 0800 772 28 27 - Ouvidoria: 0800 722 00 48 - btgpactual.com</a:t>
            </a:r>
          </a:p>
          <a:p>
            <a:r>
              <a:t>CNPJ 62696791000193 · Histórico de alterações materiais · Instrumento Particular de Emissão de Cotas · ID 1148821 · 27/03/2026 · versão Instrumento Particular de Emissão de Cotas — referência 27/03/2026 · p. 2 · Deliberação Conjunta, itens2–3 · https://fnet.bmfbovespa.com.br/fnet/publico/visualizarDocumento?id=1148821</a:t>
            </a:r>
          </a:p>
          <a:p>
            <a:r>
              <a:t>CNPJ 62696791000193 · Histórico de alterações materiais · Excerto da fonte:</a:t>
            </a:r>
          </a:p>
          <a:p>
            <a:r>
              <a:t>2. Aprovar a 2ª (segunda) emissão da Subclasse Sênior da Classe, composta por até 150.000 (cento e cinquenta mil) Cotas Seniores, com valor nominal unitário de R$ 1.000,00 (mil reais), perfazendo o montante total de R$ 150.000.000,00 (cento e cinquenta milhões de reais), as quais serão objeto de colocação privada, de acordo com os termos e condições descritos no Apêndice da Subclasse Sênior constante do Anexo I Regulamento e descritas abaixo (“2ª Emissão da Subclasse Sênior”): a) Rito: as Cotas Seniores objeto da 2ª Emissão da Subclasse Sênior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Sênior na data de integralização, calculado na forma prevista no respectivo Apêndice; d) Forma de Integralização: as Cotas Seniores serão integralizadas mediante chamadas de capital, junto ao seu respectivo agente de custódia e/ou da Administradora na qualidade de escriturador das cotas, nos termos d</a:t>
            </a:r>
          </a:p>
          <a:p>
            <a:r>
              <a:t>CNPJ 62696791000193 · Histórico de alterações materiais · Versão e prevalência: Leitura específica das cláusulas indicadas; condições e conflitos preservados. Seleção documental atual não comprova vigência jurídica por data isolada.</a:t>
            </a:r>
          </a:p>
          <a:p>
            <a:r>
              <a:t>CNPJ 55563624000109 · Histórico de alterações materiais · Motivo: Não localizada uma cláusula material para este critério nos textos identificados e processados. A ausência de resultado não comprova inexistência da regra.</a:t>
            </a:r>
          </a:p>
          <a:p>
            <a:r>
              <a:t>CNPJ 62552447000120 · Histórico de alterações materiais · Ato do Administrador · ID 1200625 · 2026-05-21 · versão Ato21/05/2026 · p. 1 · itens1–2 · https://fnet.bmfbovespa.com.br/fnet/publico/visualizarDocumento?id=1200625</a:t>
            </a:r>
          </a:p>
          <a:p>
            <a:r>
              <a:t>CNPJ 62552447000120 · Histórico de alterações materiais · Excerto da fonte:</a:t>
            </a:r>
          </a:p>
          <a:p>
            <a:r>
              <a:t>Ressalta-se que não haverá qualquer alteração nos valores pagos pelos cotistas... Aprovar o novo Anexo I e Regulamento consolidados</a:t>
            </a:r>
          </a:p>
          <a:p>
            <a:r>
              <a:t>CNPJ 62552447000120 · Histórico de alterações materiais · Motivo: Não localizada uma cláusula material para este critério nos textos identificados e processados. A ausência de resultado não comprova inexistência da regra.</a:t>
            </a:r>
          </a:p>
          <a:p>
            <a:r>
              <a:t>CNPJ 62552447000120 · Histórico de alterações materiais · Versão e prevalência: Leitura específica das cláusulas indicadas; condições e conflitos preservados. Seleção documental atual não comprova vigência jurídica por data isolada.</a:t>
            </a:r>
          </a:p>
          <a:p>
            <a:r>
              <a:t>CNPJ 63953620000165 · Histórico de alterações materiais · Anexo ao Regulamento · ID 1222863 · 2026-06-02 · versão 1 · p. 19 · 12.6 · https://fnet.bmfbovespa.com.br/fnet/publico/visualizarDocumento?id=1222863</a:t>
            </a:r>
          </a:p>
          <a:p>
            <a:r>
              <a:t>CNPJ 63953620000165 · Histórico de alterações materiais · Excerto da fonte:</a:t>
            </a:r>
          </a:p>
          <a:p>
            <a:r>
              <a:t>12.6 A Classe contratou a Tudo Serviços S.A., sociedade anônima, com sede no município de Fortaleza, Estado do Ceará,  na Avenida Senador Virgulo Távora, nº 303, Lojas 02, 03, 04, 05, 06 e 19, Meireles, CEP 60.170-265, inscrita no CNPJ  sob o nº 27.852.506/0001-85, cujos deveres, sem prejuízo daqueles estabelecidos neste Regulamento, no  “Contrato de Serviços de Retenção e Cobrança e Outras Avenças”, celebrado entre o Agente de  Retenção/Cobrança e a Classe (“Contrato de Serviços MT”) e no Contrato de Endosso, consistirão no  monitoramento e cobrança dos Direitos Creditórios Inadimplidos, observado o disposto neste Anexo I e na  regulamentação aplicável (“Agente de Retenção/Cobrança”):</a:t>
            </a:r>
          </a:p>
          <a:p>
            <a:r>
              <a:t> (i) caso aplicável, atuar na retenção (defesa) de operações de empréstimo consignado cujos Direitos  Creditórios sejam de titularidade da Classe, em caso de tentativa de transferência de tais operações de  empréstimo consignado por instituições proponentes, nos termos da Resolução CMN nº 5.057, em razão de  ofertas de portabilidade feitas por tais instituições proponentes, conforme informado pelo Endossante ou pelo  Custodiante ao Agente de Retenção/Cobrança, diariamente, de acordo com o Contrato de Endosso; sendo  que tal serviço deverá incluir, entre outras atividades auxiliares a ele relacionadas, a avaliação das ofertas de  portabilidade feitas pelas instituições proponentes, buscando, se for o caso, esclarecer as vantagens de não  recorrer à portabilidade, retendo a respectiva operação de empréstimo consignado em seus termos atuais;</a:t>
            </a:r>
          </a:p>
          <a:p>
            <a:r>
              <a:t> (ii) mediante inadimplemento de um Direito Creditório devido à indisponibilidade da margem de crédito do  Devedor, auxiliar o Endossante com o Processo de Reinicialização (conforme detalhado no Contrato de  Endosso) em relação ao respectivo Direito Creditório;</a:t>
            </a:r>
          </a:p>
          <a:p>
            <a:r>
              <a:t> (iii) manter e operar um serviço de atendimento ao consumidor - SAC e uma ouvidoria em conformidade  com os regulamentos aplicáveis, monitorar e resolver reclamações e solicitações de Devedores com  relação às operações de empréstimo consignado que dão origem aos Direitos Creditórios, em  conformidade com o Acordo de Parceria;</a:t>
            </a:r>
          </a:p>
          <a:p>
            <a:r>
              <a:t> (iv) realizar a cobrança dos Direitos Creditórios Inadimplidos;</a:t>
            </a:r>
          </a:p>
          <a:p>
            <a:r>
              <a:t> (v) auxiliar o Endossante na correção de qualquer irregularidade relevante identificada com relação à  originação dos Direitos Creditórios;</a:t>
            </a:r>
          </a:p>
          <a:p>
            <a:r>
              <a:t> (vi) realizar a renegociação junto aos Devedores de Direitos Creditórios Inadimplidos e, caso aplicável, celebrar  aditamento à CCB para refletir os novos termos, decorrentes da renegociação  CAPÍTULO 13 – REMUNERAÇÃO DOS PRESTADORES DE SERVIÇOS  0,05% (cinco centésimos por cento) ao ano, apropriada diariamente na base de 252  (duzentos e cinquenta e dois) Dias Úteis, e paga mensalmente até o 5º (quinto) Dia  Útil do mês subsequente ao mês que se refere, incidente sobre o Patrimônio Líquido  da Classe alocado em Direitos Creditórios Consignado Privado e/ou Ativos de  Liquidez MT, observada remuneração mínima mensal de R$ 2.500,00 (dois mil e  quinhentos reais), a ser corrigida anualmente, em janeiro de cada ano, pela variação  Taxa de Administração  positiva do Índice Geral de Preços – Mercado, divulgado pela Fundação Getúlio  Vargas (“Taxa de Administração” e “IGP-M”, respectivamente).</a:t>
            </a:r>
          </a:p>
          <a:p>
            <a:r>
              <a:t> Na hipótese de extinção do IGP-M, não divulgação ou impossibilidade de sua  utilização, será utilizado o Índice Geral de Preços – Disponibilidade Interna,  divulgado pela Fundação Getúlio Vargas, ou, na falta de ambos, pela variação do IPC  – Índice de Preços ao Consumidor, divulgado pela Fundação Instituto de Pesquisas</a:t>
            </a:r>
          </a:p>
          <a:p>
            <a:r>
              <a:t>CNPJ 63953620000165 · Histórico de alterações materiais · Condição: Documentos atuais selecionados no inventário por categoria/escopo; a data documental isolada não comprova vigência jurídica.</a:t>
            </a:r>
          </a:p>
          <a:p>
            <a:r>
              <a:t>CNPJ 63953620000165 · Histórico de alterações materiais · Versão e prevalência: Documentos atuais selecionados no inventário por categoria/escopo; a data documental isolada não comprova vigência jurídica.</a:t>
            </a:r>
          </a:p>
          <a:p>
            <a:r>
              <a:t>CNPJ 54871427000194 · Auditor independente e DFs · Demonstrações Financeiras - Fusão, cisão e incorporação · ID 1219522 · 2026-02-02 · versão 1 · p. 23 · https://fnet.bmfbovespa.com.br/fnet/publico/visualizarDocumento?id=1219522</a:t>
            </a:r>
          </a:p>
          <a:p>
            <a:r>
              <a:t>CNPJ 54871427000194 · Auditor independente e DFs · Excerto da fonte:</a:t>
            </a:r>
          </a:p>
          <a:p>
            <a:r>
              <a:t>x) Possibilidade de aquisição de Direitos Creditórios cedidos por Endossante e/ou devidos por  Devedores cujas demonstrações financeiras não sejam auditadas. A Classe, desde que sejam  respeitados os limites de concentração previstos no Regulamento, poderá manter a qualquer  tempo em sua Carteira, Direitos Creditórios cedidos por Endossante e/ou devidos por Devedores  cujas demonstrações financeiras não sejam auditadas por Auditor Independente registrado na</a:t>
            </a:r>
          </a:p>
          <a:p>
            <a:r>
              <a:t>CNPJ 54871427000194 · Auditor independente e DFs · Demonstrações Financeiras - Fusão, cisão e incorporação · ID 1219522 · 2026-02-02 · versão 1 · p. 2 · https://fnet.bmfbovespa.com.br/fnet/publico/visualizarDocumento?id=1219522</a:t>
            </a:r>
          </a:p>
          <a:p>
            <a:r>
              <a:t>CNPJ 54871427000194 · Auditor independente e DFs · Excerto da fonte:</a:t>
            </a:r>
          </a:p>
          <a:p>
            <a:r>
              <a:t>Classe Única de Responsabilidade Limitada do Consignado Delta Receivables I Fundo de Investimento em  Direitos Creditórios  Demonstrações financeiras em  2 de fevereiro de 2026 (data da incorporação da Classe)</a:t>
            </a:r>
          </a:p>
          <a:p>
            <a:r>
              <a:t>CNPJ 54871427000194 · Auditor independente e DFs · Demonstrações Financeiras - Fusão, cisão e incorporação · ID 1219522 · 2026-02-02 · versão 1 · p. 3 · https://fnet.bmfbovespa.com.br/fnet/publico/visualizarDocumento?id=1219522</a:t>
            </a:r>
          </a:p>
          <a:p>
            <a:r>
              <a:t>CNPJ 54871427000194 · Auditor independente e DFs · Excerto da fonte:</a:t>
            </a:r>
          </a:p>
          <a:p>
            <a:r>
              <a:t>Examinamos as demonstrações financeiras da Classe Única de Responsabilidade Limitada do  Consignado Delta Receivables I Fundo de Investimento em Direitos Creditórios (“Classe”),  administrada pela BTG Pactual Serviços Financeiros S.A. Distribuidora de Títulos e Valores Mobiliários  (“Administradora”), que compreendem a demonstração da posição financeira em 2 de fevereiro de  2026 e as respectivas demonstrações do resultado e do resultado abrangente, das evoluções do  patrimônio líquido e dos fluxos de caixa para o período de 1° de janeiro de 2026 (data de início do  exercício social da Classe) a 2 de fevereiro de 2026 (data da incorporação da Classe), bem como as  correspondentes notas explicativas, incluindo as políticas contábeis materiais e outras informações  elucidativas.</a:t>
            </a:r>
          </a:p>
          <a:p>
            <a:r>
              <a:t> Em nossa opinião, as demonstrações financeiras acima referidas apresentam adequadamente, em  todos os aspectos relevantes, a posição patrimonial e financeira da Classe Única de Responsabilidade  Limitada do Consignado Delta Receivables I Fundo de Investimento em Direitos Creditórios em 2 de  fevereiro de 2026 e o desempenho de suas operações e os seus fluxos de caixa para o período de 1°  de janeiro de 2026 a 2 de fevereiro de 2026, de acordo com as práticas contábeis adotadas no Brasil  aplicáveis aos fundos de investimento em direitos creditórios.</a:t>
            </a:r>
          </a:p>
          <a:p>
            <a:r>
              <a:t>CNPJ 54871427000194 · Auditor independente e DFs · Condição: Documentos atuais selecionados no inventário por categoria/escopo; a data documental isolada não comprova vigência jurídica.</a:t>
            </a:r>
          </a:p>
          <a:p>
            <a:r>
              <a:t>CNPJ 54871427000194 · Auditor independente e DFs · Versão e prevalência: Documentos atuais selecionados no inventário por categoria/escopo; a data documental isolada não comprova vigência jurídica.</a:t>
            </a:r>
          </a:p>
          <a:p>
            <a:r>
              <a:t>CNPJ 54871427000194 · Auditor independente e DFs · Resumo do histórico: {"count": 6, "dates": ["2025-01-01", "2025-04-15", "2025-12-31"], "document_count": 3, "sources": [{"document_id": "1151805", "title": "Demonstrações Financeiras", "reference_date": "2025-12-31", "version": "1", "page": 23, "url": "https://fnet.bmfbovespa.com.br/fnet/publico/visualizarDocumento?id=1151805", "sha256": "f1cea70b152968bf96ef9221b27225953cb20aeef487b2798db3c25e11b528d4"}, {"document_id": "883217", "title": "AGO", "reference_date": "2025-04-15", "version": "1", "page": 1, "url": "https://fnet.bmfbovespa.com.br/fnet/publico/visualizarDocumento?id=883217", "sha256": "233467aa4aa6265d253b610668cde19344ec99af4adf4df934c6a1bd88b9a044"}, {"document_id": "869529", "title": "Demonstrações Financeiras", "reference_date": "2025-01-01", "version": "1", "page": 23, "url": "https://fnet.bmfbovespa.com.br/fnet/publico/visualizarDocumento?id=869529", "sha256": "9a93a9369ac8efdbc54ff8fcee3ccac3abf88edab4807b9323d3852450771b2a"}], "reference": {"path": "history/54871427000194.json", "criterion_id": "audit", "total_count": 6, "preview_count": 3, "full_text_deferred": true, "sha256": "35d7cd99be50c7287c9fb675cf4f2e736002315295a225a9efa79c8d9186d874"}}</a:t>
            </a:r>
          </a:p>
          <a:p>
            <a:r>
              <a:t>CNPJ 60010416000112 · Auditor independente e DFs · AGE · ID 1313936 · 2026-08-31 · versão 1 · p. 1 · https://fnet.bmfbovespa.com.br/fnet/publico/visualizarDocumento?id=1313936</a:t>
            </a:r>
          </a:p>
          <a:p>
            <a:r>
              <a:t>CNPJ 60010416000112 · Auditor independente e DFs · Excerto da fonte:</a:t>
            </a:r>
          </a:p>
          <a:p>
            <a:r>
              <a:t>(d) Fica a Administradora autorizada a levantar, na Data da Cisão, demonstrações contábeis da  Classe, as quais darão suporte à realização da Cisão ora deliberada. As demonstrações contábeis  deverão ser auditadas, em conformidade com o art. 120, da Parte Geral, da Resolução CVM 175;</a:t>
            </a:r>
          </a:p>
          <a:p>
            <a:r>
              <a:t>CNPJ 60010416000112 · Auditor independente e DFs · Condição: Documentos atuais selecionados no inventário por categoria/escopo; a data documental isolada não comprova vigência jurídica.</a:t>
            </a:r>
          </a:p>
          <a:p>
            <a:r>
              <a:t>CNPJ 60010416000112 · Auditor independente e DFs · Versão e prevalência: Documentos atuais selecionados no inventário por categoria/escopo; a data documental isolada não comprova vigência jurídica.</a:t>
            </a:r>
          </a:p>
          <a:p>
            <a:r>
              <a:t>CNPJ 60010416000112 · Auditor independente e DFs · Resumo do histórico: {"count": 11, "dates": ["2026-04-16", "2026-05-08", "2026-07-29"], "document_count": 3, "sources": [{"document_id": "1277540", "title": "AGE", "reference_date": "2026-07-29", "version": "1", "page": 1, "url": "https://fnet.bmfbovespa.com.br/fnet/publico/visualizarDocumento?id=1277540", "sha256": "7a9b65092af34917f99f22b62eb7d248d67149b9c91dd87b07b924b9601ee9b0"}, {"document_id": "1298690", "title": "Demonstrações Financeiras - Fusão, cisão e incorporação", "reference_date": "2026-05-08", "version": "1", "page": 1, "url": "https://fnet.bmfbovespa.com.br/fnet/publico/visualizarDocumento?id=1298690", "sha256": "d979f7f7cf866a68b7fbc65c46fd726b7bcc13f9d0b809190857a9b465be7be2"}, {"document_id": "1282181", "title": "Demonstrações Financeiras - Fusão, cisão e incorporação", "reference_date": "2026-04-16", "version": "1", "page": 1, "url": "https://fnet.bmfbovespa.com.br/fnet/publico/visualizarDocumento?id=1282181", "sha256": "b1c6566e43a00bcd00c8a7f30c77b7f86e351bd8e355bbea113f46d1dafda703"}], "reference": {"path": "history/60010416000112.json", "criterion_id": "audit", "total_count": 11, "preview_count": 3, "full_text_deferred": true, "sha256": "8e2bd813f4c51cf01f6bfaad164bafe69d2bbb192f753eac92da3a01c2e63046"}}</a:t>
            </a:r>
          </a:p>
          <a:p>
            <a:r>
              <a:t>CNPJ 62696791000193 · Auditor independente e DFs · Regulamento · ID 1143317 · 2026-03-20 · versão 1 · p. 5 · 4.1.7 · https://fnet.bmfbovespa.com.br/fnet/publico/visualizarDocumento?id=1143317</a:t>
            </a:r>
          </a:p>
          <a:p>
            <a:r>
              <a:t>CNPJ 62696791000193 · Auditor independente e DFs · Excerto da fonte:</a:t>
            </a:r>
          </a:p>
          <a:p>
            <a:r>
              <a:t>4.1.7 As demonstrações contábeis cujo relatório de auditoria não contiver opinião modificada podem  ser consideradas automaticamente aprovadas caso a assembleia correspondente não seja  instalada em virtude do não comparecimento de quaisquer Cotistas.</a:t>
            </a:r>
          </a:p>
          <a:p>
            <a:r>
              <a:t>CNPJ 62696791000193 · Auditor independente e DFs · Regulamento · ID 1143317 · 2026-03-20 · versão 1 · p. 23 · 10.12 · https://fnet.bmfbovespa.com.br/fnet/publico/visualizarDocumento?id=1143317</a:t>
            </a:r>
          </a:p>
          <a:p>
            <a:r>
              <a:t>CNPJ 62696791000193 · Auditor independente e DFs · Excerto da fonte:</a:t>
            </a:r>
          </a:p>
          <a:p>
            <a:r>
              <a:t>10.12 O representante dos Cotistas será eleito com prazo de mandato a se encerrar na próxima Assembleia  de Cotistas que deliberar sobre a aprovação de demonstrações contábeis do Fundo, sendo permitida  a reeleição.</a:t>
            </a:r>
          </a:p>
          <a:p>
            <a:r>
              <a:t>CNPJ 62696791000193 · Auditor independente e DFs · Condição: Documentos atuais selecionados no inventário por categoria/escopo; a data documental isolada não comprova vigência jurídica.</a:t>
            </a:r>
          </a:p>
          <a:p>
            <a:r>
              <a:t>CNPJ 62696791000193 · Auditor independente e DFs · Versão e prevalência: Documentos atuais selecionados no inventário por categoria/escopo; a data documental isolada não comprova vigência jurídica.</a:t>
            </a:r>
          </a:p>
          <a:p>
            <a:r>
              <a:t>CNPJ 55563624000109 · Auditor independente e DFs · Regulamento · ID 1192614 · 2026-04-30 · versão 1 · p. 24 · 12.3 · https://fnet.bmfbovespa.com.br/fnet/publico/visualizarDocumento?id=1192614</a:t>
            </a:r>
          </a:p>
          <a:p>
            <a:r>
              <a:t>CNPJ 55563624000109 · Auditor independente e DFs · Excerto da fonte:</a:t>
            </a:r>
          </a:p>
          <a:p>
            <a:r>
              <a:t>12.3 Incluem-se entre as obrigações do ADMINISTRADOR, sem prejuízo de outras previstas na regulamentação:</a:t>
            </a:r>
          </a:p>
          <a:p>
            <a:r>
              <a:t> (i) sem prejuízo da observância dos procedimentos relativos às demonstrações contábeis, manter,  separadamente, registros com informações completas sobre toda e qualquer modalidade de negociação  realizada entre o ADMINISTRADOR, GESTOR, CUSTODIANTE, e/ou suas respectivas partes relacionadas,  tais como definidas pelas regras contábeis que tratam desse assunto, de um lado; e a Classe, de outro;</a:t>
            </a:r>
          </a:p>
          <a:p>
            <a:r>
              <a:t> (ii) diligenciar para que sejam mantidos, às suas expensas, atualizados e em perfeita ordem:</a:t>
            </a:r>
          </a:p>
          <a:p>
            <a:r>
              <a:t> (a) o registro de Cotistas;</a:t>
            </a:r>
          </a:p>
          <a:p>
            <a:r>
              <a:t> (b) o livro de atas das Assembleias de Cotistas;</a:t>
            </a:r>
          </a:p>
          <a:p>
            <a:r>
              <a:t> (c) o livro ou lista de presença de Cotistas;</a:t>
            </a:r>
          </a:p>
          <a:p>
            <a:r>
              <a:t> (d) os pareceres do Auditor Independente; e</a:t>
            </a:r>
          </a:p>
          <a:p>
            <a:r>
              <a:t> (e) os registros contábeis referentes às operações e ao patrimônio da Classe;</a:t>
            </a:r>
          </a:p>
          <a:p>
            <a:r>
              <a:t> (iii) pagar a multa cominatória às suas expensas, nos termos da legislação vigente, por cada dia de atraso no  cumprimento dos prazos previstos na regulamentação aplicável;</a:t>
            </a:r>
          </a:p>
          <a:p>
            <a:r>
              <a:t> (iv) elaborar e divulgar as informações periódicas e eventuais da Classe, nos termos deste Anexo e da  regulamentação e da autorregulação em vigor;</a:t>
            </a:r>
          </a:p>
          <a:p>
            <a:r>
              <a:t> (v) manter atualizada junto à CVM a lista de todos os prestadores de serviços contratados pela Classe,  inclusive os Prestadores de Serviços Essenciais, bem como as demais informações cadastrais da Classe e  suas Subclasses;</a:t>
            </a:r>
          </a:p>
          <a:p>
            <a:r>
              <a:t> (vi) manter serviço de atendimento aos Cotistas, responsável pelo esclarecimento de dúvidas e pelo  recebimento de reclamações;</a:t>
            </a:r>
          </a:p>
          <a:p>
            <a:r>
              <a:t> (vii) receber e processar os pedidos de resgate;</a:t>
            </a:r>
          </a:p>
          <a:p>
            <a:r>
              <a:t> (viii) monitorar os Eventos de Verificação do Patrimônio;</a:t>
            </a:r>
          </a:p>
          <a:p>
            <a:r>
              <a:t> (ix) monitorar os Eventos de Avaliação e Eventos de Liquidação;</a:t>
            </a:r>
          </a:p>
          <a:p>
            <a:r>
              <a:t> (x) observar as disposições constantes do Regulamento;</a:t>
            </a:r>
          </a:p>
          <a:p>
            <a:r>
              <a:t> (xi) cumprir as deliberações da Assembleia de Cotistas; e</a:t>
            </a:r>
          </a:p>
          <a:p>
            <a:r>
              <a:t> (xii) observar as disposições do Código ANBIMA e das Regras e Procedimentos ANBIMA</a:t>
            </a:r>
          </a:p>
          <a:p>
            <a:r>
              <a:t>CNPJ 55563624000109 · Auditor independente e DFs · Regulamento · ID 1192614 · 2026-04-30 · versão 1 · p. 4 · 4.6.1 · https://fnet.bmfbovespa.com.br/fnet/publico/visualizarDocumento?id=1192614</a:t>
            </a:r>
          </a:p>
          <a:p>
            <a:r>
              <a:t>CNPJ 55563624000109 · Auditor independente e DFs · Excerto da fonte:</a:t>
            </a:r>
          </a:p>
          <a:p>
            <a:r>
              <a:t>4.6.1 As deliberações relativas às matérias elencadas nos incisos abaixo serão tomadas, em primeira  convocação ou em segunda convocação, conforme os quóruns dispostos abaixo, em sede assembleia  geral de cotistas ou de assembleia especial de cotistas, conforme o caso:</a:t>
            </a:r>
          </a:p>
          <a:p>
            <a:r>
              <a:t> MATÉRIA SUJEITA À APROVAÇÃO QUÓRUM DE DELIBERAÇÃO</a:t>
            </a:r>
          </a:p>
          <a:p>
            <a:r>
              <a:t> (i) aprovação das demonstrações contábeis do FUNDO; Maioria do total das Cotas emitidas</a:t>
            </a:r>
          </a:p>
          <a:p>
            <a:r>
              <a:t>CNPJ 55563624000109 · Auditor independente e DFs · Regulamento · ID 1192614 · 2026-04-30 · versão 1 · p. 10 · 3.1 · https://fnet.bmfbovespa.com.br/fnet/publico/visualizarDocumento?id=1192614</a:t>
            </a:r>
          </a:p>
          <a:p>
            <a:r>
              <a:t>CNPJ 55563624000109 · Auditor independente e DFs · Excerto da fonte:</a:t>
            </a:r>
          </a:p>
          <a:p>
            <a:r>
              <a:t>3.1 A Classe terá Encargos que lhe poderão ser debitados diretamente, nos termos da Resolução CVM 175, e  quaisquer despesas que não constituam Encargos correm por conta do Prestador de Serviço Essencial que a tiver  contratado, incluindo, sem se limitar a:</a:t>
            </a:r>
          </a:p>
          <a:p>
            <a:r>
              <a:t> (i) Taxa de performance, se houver;</a:t>
            </a:r>
          </a:p>
          <a:p>
            <a:r>
              <a:t> (ii) Taxas, impostos ou contribuições federais, estaduais, municipais ou autárquicas, que recaiam ou  venham a recair sobre os bens, direitos e obrigações da Classe;</a:t>
            </a:r>
          </a:p>
          <a:p>
            <a:r>
              <a:t> (iii) Despesas com o registro de documentos, impressão, expedição e publicação de relatórios e informações  periódicas previstas na Resolução CVM 175;</a:t>
            </a:r>
          </a:p>
          <a:p>
            <a:r>
              <a:t> (iv) Despesas com correspondências de interesse do FUNDO ou da Classe, inclusive comunicações aos  Cotistas;</a:t>
            </a:r>
          </a:p>
          <a:p>
            <a:r>
              <a:t> (v) Honorários e despesas do Auditor Independente;</a:t>
            </a:r>
          </a:p>
          <a:p>
            <a:r>
              <a:t> BTG Pactual  SAC: 0800 772 28 27 - Ouvidoria: 0800 722 00 48 - btgpactual.com  3</a:t>
            </a:r>
          </a:p>
          <a:p>
            <a:r>
              <a:t>CNPJ 55563624000109 · Auditor independente e DFs · Condição: Documentos atuais selecionados no inventário por categoria/escopo; a data documental isolada não comprova vigência jurídica.</a:t>
            </a:r>
          </a:p>
          <a:p>
            <a:r>
              <a:t>CNPJ 55563624000109 · Auditor independente e DFs · Versão e prevalência: Documentos atuais selecionados no inventário por categoria/escopo; a data documental isolada não comprova vigência jurídica.</a:t>
            </a:r>
          </a:p>
          <a:p>
            <a:r>
              <a:t>CNPJ 55563624000109 · Auditor independente e DFs · Resumo do histórico: {"count": 2, "dates": ["2025-01-31", "2026-01-31"], "document_count": 2, "sources": [{"document_id": "1178840", "title": "Demonstrações Financeiras", "reference_date": "2026-01-31", "version": "1", "page": 4, "url": "https://fnet.bmfbovespa.com.br/fnet/publico/visualizarDocumento?id=1178840", "sha256": "c458e98664c5c907ddb5a05a94b120bed4e05295b2bfc420f5ba69af0a229abe"}, {"document_id": "891861", "title": "Demonstrações Financeiras", "reference_date": "2025-01-31", "version": "1", "page": 2, "url": "https://fnet.bmfbovespa.com.br/fnet/publico/visualizarDocumento?id=891861", "sha256": "e9cb9e6ddbe505fe068cfcac33605165a98313489de0d3ce6d4d238263c3f3e7"}], "reference": {"path": "history/55563624000109.json", "criterion_id": "audit", "total_count": 2, "preview_count": 2, "full_text_deferred": true, "sha256": "7835d573fb58a3c19adf5b8ecc2aee2bdbb9a88f7a0c0209b5f262b64c7522e3"}}</a:t>
            </a:r>
          </a:p>
          <a:p>
            <a:r>
              <a:t>CNPJ 62552447000120 · Auditor independente e DFs · Regulamento · ID 1200623 · 2026-05-21 · versão 1 · p. 4 · 4.1.6 · https://fnet.bmfbovespa.com.br/fnet/publico/visualizarDocumento?id=1200623</a:t>
            </a:r>
          </a:p>
          <a:p>
            <a:r>
              <a:t>CNPJ 62552447000120 · Auditor independente e DFs · Excerto da fonte:</a:t>
            </a:r>
          </a:p>
          <a:p>
            <a:r>
              <a:t>4.1.6 As demonstrações contábeis cujo relatório de auditoria não contiver opinião modificada podem  ser consideradas automaticamente aprovadas caso a Assembleia Geral correspondente não  seja instalada em virtude do não comparecimento de quaisquer Cotistas.</a:t>
            </a:r>
          </a:p>
          <a:p>
            <a:r>
              <a:t>CNPJ 62552447000120 · Auditor independente e DFs · Regulamento · ID 1200623 · 2026-05-21 · versão 1 · p. 29 · 12.16 · https://fnet.bmfbovespa.com.br/fnet/publico/visualizarDocumento?id=1200623</a:t>
            </a:r>
          </a:p>
          <a:p>
            <a:r>
              <a:t>CNPJ 62552447000120 · Auditor independente e DFs · Excerto da fonte:</a:t>
            </a:r>
          </a:p>
          <a:p>
            <a:r>
              <a:t>12.16 Os serviços de auditoria das demonstrações f inanceiras e demais contas da Classe serão prestados  por Auditor Independente contratado pelo Administrador. Pelos serviços prestados, o Auditor  Independente f ará jus ao recebimento de remuneração a ser def inida em contrato específico, a qual  será paga pela Classe.</a:t>
            </a:r>
          </a:p>
          <a:p>
            <a:r>
              <a:t>CAPÍTULO 13 – TAXA GLOBAL</a:t>
            </a:r>
          </a:p>
          <a:p>
            <a:r>
              <a:t>CNPJ 62552447000120 · Auditor independente e DFs · Condição: Documentos atuais selecionados no inventário por categoria/escopo; a data documental isolada não comprova vigência jurídica.</a:t>
            </a:r>
          </a:p>
          <a:p>
            <a:r>
              <a:t>CNPJ 62552447000120 · Auditor independente e DFs · Versão e prevalência: Documentos atuais selecionados no inventário por categoria/escopo; a data documental isolada não comprova vigência jurídica.</a:t>
            </a:r>
          </a:p>
          <a:p>
            <a:r>
              <a:t>CNPJ 63953620000165 · Auditor independente e DFs · Anexo ao Regulamento · ID 1222863 · 2026-06-02 · versão 1 · p. 4 · 3.4 · https://fnet.bmfbovespa.com.br/fnet/publico/visualizarDocumento?id=1222863</a:t>
            </a:r>
          </a:p>
          <a:p>
            <a:r>
              <a:t>CNPJ 63953620000165 · Auditor independente e DFs · Excerto da fonte:</a:t>
            </a:r>
          </a:p>
          <a:p>
            <a:r>
              <a:t>3.4 Adicionalmente aos Encargos, as seguintes despesas serão debitadas diretamente da Classe, nos termos do art.</a:t>
            </a:r>
          </a:p>
          <a:p>
            <a:r>
              <a:t> 51 do Anexo Normativo II da Resolução CVM 175 (“Despesas Adicionais”):</a:t>
            </a:r>
          </a:p>
          <a:p>
            <a:r>
              <a:t> (i) Despesas com registro de Direitos Creditórios;</a:t>
            </a:r>
          </a:p>
          <a:p>
            <a:r>
              <a:t> (ii) Despesas com serviços de originação, cobranças ordinária e/ou extraordinária dos Direitos Creditórios,  e/ou verificação de lastro dos Direitos Creditórios, conforme aplicável;</a:t>
            </a:r>
          </a:p>
          <a:p>
            <a:r>
              <a:t> (iii) Despesas com a contratação de atividades relacionadas à verificação de lastro;</a:t>
            </a:r>
          </a:p>
          <a:p>
            <a:r>
              <a:t> (iv) Despesas com a contratação de Agente de Retenção/Cobrança; Despesas com a contratação de  consultoria especializada, conforme o caso;</a:t>
            </a:r>
          </a:p>
          <a:p>
            <a:r>
              <a:t> (v) Remuneração do Custodiante;</a:t>
            </a:r>
          </a:p>
          <a:p>
            <a:r>
              <a:t> (vi) Despesas com honorários advocatícios para quaisquer assuntos de interesse da Classe, seja na esfera  judicial ou extrajudicial, inclusive consultivo;</a:t>
            </a:r>
          </a:p>
          <a:p>
            <a:r>
              <a:t> (vii) Despesas com a assinatura e registro dos Termos de Endosso, conforme aplicável, junto aos  competentes cartórios de Registro de Títulos e Documentos;</a:t>
            </a:r>
          </a:p>
          <a:p>
            <a:r>
              <a:t> (viii) Despesas inerentes à distribuição primária de Cotas, inclusive a contratação e remuneração do  distribuidor das Cotas para cada oferta de Cotas da Classe, nos termos de cada contrato de distribuição  e honorários devidos ao(s) assessor(es) legal(is) de cada oferta, assim como despesas com o registro das  Cotas na CVM, ANBIMA e/ou na entidade de mercado organizado em que as cotas sejam registradas,  conforme aplicável;</a:t>
            </a:r>
          </a:p>
          <a:p>
            <a:r>
              <a:t> (ix) Taxas de fiscalização da CVM e/ou ANBIMA, conforme aplicável; e</a:t>
            </a:r>
          </a:p>
          <a:p>
            <a:r>
              <a:t> (x) Despesas com contratação e remuneração do Auditor Independente e da Agência Classificadora de  Risco.</a:t>
            </a:r>
          </a:p>
          <a:p>
            <a:r>
              <a:t>CNPJ 63953620000165 · Auditor independente e DFs · Condição: Documentos atuais selecionados no inventário por categoria/escopo; a data documental isolada não comprova vigência jurídica.</a:t>
            </a:r>
          </a:p>
          <a:p>
            <a:r>
              <a:t>CNPJ 63953620000165 · Auditor independente e DFs · Motivo: Cláusula primária localizada e citada, mas sua lista/condições extensas não admitem uma síntese literal curta confirmada. O trecho integral permanece nas fontes.</a:t>
            </a:r>
          </a:p>
          <a:p>
            <a:r>
              <a:t>CNPJ 63953620000165 · Auditor independente e DFs · Versão e prevalência: Documentos atuais selecionados no inventário por categoria/escopo; a data documental isolada não comprova vigência jurídica.</a:t>
            </a:r>
          </a:p>
          <a:p>
            <a:r>
              <a:t>CNPJ 63953620000165 · Auditor independente e DFs · Resumo do histórico: {"count": 8, "dates": ["2026-04-28", "2026-05-08", "2026-05-15"], "document_count": 3, "sources": [{"document_id": "1327859", "title": "Demonstrações Financeiras - Fusão, cisão e incorporação", "reference_date": "2026-05-15", "version": "1", "page": 1, "url": "https://fnet.bmfbovespa.com.br/fnet/publico/visualizarDocumento?id=1327859", "sha256": "dca1c68babb97f887528c3e2e47596a9c30f507b067981a35655b2f2da9c8054"}, {"document_id": "1298691", "title": "Demonstrações Financeiras - Fusão, cisão e incorporação", "reference_date": "2026-05-08", "version": "1", "page": 1, "url": "https://fnet.bmfbovespa.com.br/fnet/publico/visualizarDocumento?id=1298691", "sha256": "58c570d9b8d4d265330d3db3ea81c435b8e44a6dab4002aa37790652a1ee9819"}, {"document_id": "1282180", "title": "Demonstrações Financeiras - Fusão, cisão e incorporação", "reference_date": "2026-04-28", "version": "1", "page": 1, "url": "https://fnet.bmfbovespa.com.br/fnet/publico/visualizarDocumento?id=1282180", "sha256": "afaaa0e6809be4385e5bdb6c911aac582032c5bdbac3d7750234bf9eaf00438a"}], "reference": {"path": "history/63953620000165.json", "criterion_id": "audit",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Governança e alterações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Quóruns e matérias reservadas · Regulamento · ID 670691 · 28/04/2024 · versão Regulamento — referência 28/04/2024 · p. 4 · Parte Geral, 4.4–4.4.1 · https://fnet.bmfbovespa.com.br/fnet/publico/visualizarDocumento?id=670691</a:t>
            </a:r>
          </a:p>
          <a:p>
            <a:r>
              <a:t>CNPJ 54871427000194 · Quóruns e matérias reservadas · Excerto da fonte:</a:t>
            </a:r>
          </a:p>
          <a:p>
            <a:r>
              <a:t>4.4 Ressalvadas as exceções descritas neste Regulamento, toda e qualquer matéria submetida à deliberação dos cotistas deverá ser aprovada por maioria dos votos dos presentes. 4.4.1 As deliberações relativas às matérias elencadas nos incisos abaixo serão tomadas, em primeira convocação ou em segunda convocação, pelos votos dos titulares da maioria das cotas em circulação, em sede assembleia geral de cotistas ou de assembleia especial de cotistas, conf orme o caso: (i) aprovação das demonstrações contábeis do FUNDO; (ii) alteração da Parte Geral deste Regulamento; (iii) substituição ou remoção do Prestador de Serviços Essenciais do FUNDO, ressalvada a possibilidade prevista no Art. 70, §1º, da Parte Geral da Resolução CVM 175; (iv) alterações nos quóruns de deliberação def inidos neste Regulamento; (v) cobrança de taxas e encargos pelo ADMINISTRADOR, de qualquer natureza, que não estejam expressamente previstos neste Regulamento; (vi) liquidação do FUNDO. (vii) plano de resolu</a:t>
            </a:r>
          </a:p>
          <a:p>
            <a:r>
              <a:t>CNPJ 54871427000194 · Quóruns e matérias reservadas · Regulamento · ID 670691 · 28/04/2024 · versão Regulamento — referência 28/04/2024 · p. 17 · Anexo I, 10.1 · https://fnet.bmfbovespa.com.br/fnet/publico/visualizarDocumento?id=670691</a:t>
            </a:r>
          </a:p>
          <a:p>
            <a:r>
              <a:t>CNPJ 54871427000194 · Quóruns e matérias reservadas · Excerto da fonte:</a:t>
            </a:r>
          </a:p>
          <a:p>
            <a:r>
              <a:t>10.1 Sem prejuízo de outros requisitos e inf ormações previstos na regulamentação vigente, são aplicáveis à Assembleia Especial de Cotistas as mesmas disposições procedimentais da Assembleia Geral de Cotistas. 10.2 A Assembleia Especial de Cotistas é responsável por deliberar sobre as matérias específicas da Classe de Cotas, sem prejuízo das demais disposições previstas na regulamentação aplicável, incluindo, mas não se limitando a: (i) deliberar sobre as demonstrações contábeis da Classe; (ii) deliberar sobre substituição de Prestadores de Serviços Essenciais, observado o disposto no art. 70, §1º da parte geral da Resolução CVM 175; (iii) deliberar sobre elevação da Taxa de Administração, inclusive na hipótese de restabelecimento de taxa que tenha sido objeto de redução; (iv) deliberar sobre incorporação, f usão, cisão total ou parcial, a transf ormação ou liquidação da Classe; (v) alterações das características, vantagens, direitos e obrigações das Cotas; (vi) alterar critérios e procedimentos para Amortização e/ou resgate de Cotas mediante dação em pagamento de Direitos Creditórios; (vii) a</a:t>
            </a:r>
          </a:p>
          <a:p>
            <a:r>
              <a:t>CNPJ 54871427000194 · Quóruns e matérias reservadas · Versão e prevalência: Leitura específica das cláusulas indicadas; condições e conflitos preservados. Seleção documental atual não comprova vigência jurídica por data isolada.</a:t>
            </a:r>
          </a:p>
          <a:p>
            <a:r>
              <a:t>CNPJ 54871427000194 · Quóruns e matérias reservadas · Resumo do histórico: {"count": 1, "dates": ["2024-04-19"], "document_count": 1, "sources": [{"document_id": "670689", "title": "Regulamento", "reference_date": "2024-04-19", "version": "1", "page": 20, "clause": "11.6", "url": "https://fnet.bmfbovespa.com.br/fnet/publico/visualizarDocumento?id=670689", "sha256": "891bc9bc5d87bbc02ec139077a84d2702eb81ea02035fb71d24f5b8366b94a0b"}], "reference": {"path": "history/54871427000194.json", "criterion_id": "quorum", "total_count": 1, "preview_count": 1, "full_text_deferred": true, "sha256": "35d7cd99be50c7287c9fb675cf4f2e736002315295a225a9efa79c8d9186d874"}}</a:t>
            </a:r>
          </a:p>
          <a:p>
            <a:r>
              <a:t>CNPJ 60010416000112 · Quóruns e matérias reservadas · Regulamento · ID 1051393 · 09/10/2025 · versão Regulamento09/10/2025 · p. 18 · AnexoI9.2(ii)–(xvii) · https://fnet.bmfbovespa.com.br/fnet/publico/visualizarDocumento?id=1051393</a:t>
            </a:r>
          </a:p>
          <a:p>
            <a:r>
              <a:t>CNPJ 60010416000112 · Quóruns e matérias reservadas · Excerto da fonte:</a:t>
            </a:r>
          </a:p>
          <a:p>
            <a:r>
              <a:t>(ii) alterar este Anexo I e seus complementos, incluindo mas não se limitando aos Apêndices de cada uma das subclasses; (iii) deliberar sobre substituição de Prestadores de Serviços Essenciais, observado o disposto no Art. 70, §1º da parte geral da Resolução CVM 175, quando aplicável, ou do Custodiante; (iv) deliberar sobre elevação da Taxa de Administração, inclusive na hipótese de restabelecimento de taxa que tenha sido objeto de redução; (v) deliberar sobre incorporação, fusão, cisão total ou parcial, a transformação ou liquidação da Classe; (vi) alter</a:t>
            </a:r>
          </a:p>
          <a:p>
            <a:r>
              <a:t>CNPJ 60010416000112 · Quóruns e matérias reservadas · Regulamento · ID 1051393 · 09/10/2025 · versão Regulamento09/10/2025 · p. 19 · AnexoI9.8–9.9 · https://fnet.bmfbovespa.com.br/fnet/publico/visualizarDocumento?id=1051393</a:t>
            </a:r>
          </a:p>
          <a:p>
            <a:r>
              <a:t>CNPJ 60010416000112 · Quóruns e matérias reservadas · Excerto da fonte:</a:t>
            </a:r>
          </a:p>
          <a:p>
            <a:r>
              <a:t>9.8 As deliberações constantes dos incisos (ii), (iii), (iv), (v), (vi), (vii), (x), (xi), (xii), (xiii) e (xvii) acima, apenas serão aprovadas, seja em primeira ou em segunda convocação, por unanimidade dos votos dos titulares das Cotas em circulação. 9.9 As deliberações relativas aos demais incisos do item 9.2 acima apenas serão aprovadas, seja em primeira ou em segunda convocação, mediante o voto favorável dos Cotistas que representem a maioria das Cotas emitidas pela Classe. 9.10 Somente os Cotistas, seus representantes legais ou procuradores legalmente nomeados há menos de 1 (um) ano ter</a:t>
            </a:r>
          </a:p>
          <a:p>
            <a:r>
              <a:t>CNPJ 60010416000112 · Quóruns e matérias reservadas · Versão e prevalência: Leitura específica das cláusulas indicadas; condições e conflitos preservados. Seleção documental atual não comprova vigência jurídica por data isolada.</a:t>
            </a:r>
          </a:p>
          <a:p>
            <a:r>
              <a:t>CNPJ 60010416000112 · Quóruns e matérias reservadas · Resumo do histórico: {"count": 3, "dates": ["2025-03-20", "2025-05-09", "2025-05-12"], "document_count": 3, "sources": [{"document_id": "1004656", "title": "AGE", "reference_date": "2025-05-12", "version": "1", "page": 1, "url": "https://fnet.bmfbovespa.com.br/fnet/publico/visualizarDocumento?id=1004656", "sha256": "f6c9c009f6170e2b29f074b98522accec73f0c40efbf11f9ec2c8d3f1402616b"}, {"document_id": "911262", "title": "AGE", "reference_date": "2025-05-09", "version": "1", "page": 1, "url": "https://fnet.bmfbovespa.com.br/fnet/publico/visualizarDocumento?id=911262", "sha256": "675de4ffe8c5ee95957fb29810625ce850d1a0b69b5231747442266f0cbf32a3"}, {"document_id": "993786", "title": "Regulamento", "reference_date": "2025-03-20", "version": "1", "page": 22, "clause": "10.6", "url": "https://fnet.bmfbovespa.com.br/fnet/publico/visualizarDocumento?id=993786", "sha256": "fd0fdd369a195510d81f81f505195a0b09e5f43522a990afa7d58c4f872921c8"}], "reference": {"path": "history/60010416000112.json", "criterion_id": "quorum", "total_count": 3, "preview_count": 3, "full_text_deferred": true, "sha256": "8e2bd813f4c51cf01f6bfaad164bafe69d2bbb192f753eac92da3a01c2e63046"}}</a:t>
            </a:r>
          </a:p>
          <a:p>
            <a:r>
              <a:t>CNPJ 62696791000193 · Quóruns e matérias reservadas · Regulamento · ID 1143317 · 20/03/2026 · versão Regulamento — referência 20/03/2026 · p. 20 · Anexo I, 10.2, tabela · https://fnet.bmfbovespa.com.br/fnet/publico/visualizarDocumento?id=1143317</a:t>
            </a:r>
          </a:p>
          <a:p>
            <a:r>
              <a:t>CNPJ 62696791000193 · Quóruns e matérias reservadas · Excerto da fonte:</a:t>
            </a:r>
          </a:p>
          <a:p>
            <a:r>
              <a:t>10.2 Os seguintes quóruns deverão ser observados pela Assembleia Especial de Cotistas ao deliberar as matérias abaixo: Matéria Quórum I – alterar o presente Anexo; Maioria das Cotas Subscritas (“Quórum Qualificado”), observada BTG Pactual SAC: 0800 772 2827 | Ouvidoria: 0800 722 0048 | btgpactual.co m 15</a:t>
            </a:r>
          </a:p>
          <a:p>
            <a:r>
              <a:t>CNPJ 62696791000193 · Quóruns e matérias reservadas · Regulamento · ID 1143317 · 20/03/2026 · versão Regulamento — referência 20/03/2026 · p. 21 · Anexo I, 10.2, tabela · https://fnet.bmfbovespa.com.br/fnet/publico/visualizarDocumento?id=1143317</a:t>
            </a:r>
          </a:p>
          <a:p>
            <a:r>
              <a:t>CNPJ 62696791000193 · Quóruns e matérias reservadas · Excerto da fonte:</a:t>
            </a:r>
          </a:p>
          <a:p>
            <a:r>
              <a:t>Matéria Quórum a necessidade de voto afirmativo da Maioria das Cotas Seniores subscritas da Classe Quórum Qualif icado observada a necessidade de voto af irmativo da II – substituição do Administrador, do Gestor e da Cogestora; Maioria das Cotas Seniores subscritas da Classe Maioria Simples, observada a III – Emissão e distribuição de novas Cotas em quantidade necessidade de voto af irmativo da superior ao Capital Autorizado da Classe ; Maioria das Cotas Seniores subscritas da Classe</a:t>
            </a:r>
          </a:p>
          <a:p>
            <a:r>
              <a:t>CNPJ 62696791000193 · Quóruns e matérias reservadas · Regulamento · ID 1143317 · 20/03/2026 · versão Regulamento — referência 20/03/2026 · p. 22 · Anexo I, 10.2(XI) e 10.5–10.7 · https://fnet.bmfbovespa.com.br/fnet/publico/visualizarDocumento?id=1143317</a:t>
            </a:r>
          </a:p>
          <a:p>
            <a:r>
              <a:t>CNPJ 62696791000193 · Quóruns e matérias reservadas · Excerto da fonte:</a:t>
            </a:r>
          </a:p>
          <a:p>
            <a:r>
              <a:t>10.5 As deliberações que tenham por objeto alterações de Benchmark apenas serão aprovadas se assim deliberado: (i) pelos votos dos titulares da maioria das Cotas em circulação da Série ou Subclasse cujo Benchmark é alterado; e (ii) pelos votos dos titulares da maioria das Cotas Mezanino que se subordinem a ela e/ou das Cotas Subordinadas em circulação. 10.6 As deliberações que tenham por objeto o aumento do Índice de Subordinação estão sujeitas à aprovação da maioria simples dos votos dos titulares das Cotas Mezanino que se subordinem a ela e/ou das Cotas Subordinadas em circulação. 10.7 As deliberações que tenham por objeto a diminuição do Índice de Subordinação apenas serão aprovadas se assim deliberado: (i) pelos votos dos titulares da maioria das Cotas em circulação de cada uma das Séries de Cotas Seniores e/ou dos titulares das Cotas Mezanino que tenham o Benchmark alterado; e (ii) pelo voto dos titulares da maioria das Cotas Mezanino que se subordinem a ela e/ou Cotas Subordinadas Júnior em circulação . Representante de Cotistas 10.8 A Assembleia de Cotistas pode, a qualquer momento, eleger até 3 (três) representantes de cotistas, a serem eleitos e nomeados pela assembleia especial,</a:t>
            </a:r>
          </a:p>
          <a:p>
            <a:r>
              <a:t>CNPJ 62696791000193 · Quóruns e matérias reservadas · Versão e prevalência: Leitura específica das cláusulas indicadas; condições e conflitos preservados. Seleção documental atual não comprova vigência jurídica por data isolada.</a:t>
            </a:r>
          </a:p>
          <a:p>
            <a:r>
              <a:t>CNPJ 55563624000109 · Quóruns e matérias reservadas · Regulamento · ID 1192614 · 30/04/2026 · versão Regulamento30/04/2026 · p. 19 · AnexoI10.2(i)–(v) · https://fnet.bmfbovespa.com.br/fnet/publico/visualizarDocumento?id=1192614</a:t>
            </a:r>
          </a:p>
          <a:p>
            <a:r>
              <a:t>CNPJ 55563624000109 · Quóruns e matérias reservadas · Excerto da fonte:</a:t>
            </a:r>
          </a:p>
          <a:p>
            <a:r>
              <a:t>10.2 A Assembleia Especial de Cotistas é responsável por deliberar, observados os quóruns abaixo, sobre as matérias específicas da Classe, sem prejuízo das demais disposições previstas na regulamentação aplicável, incluindo, mas não se limitando a: MATÉRIA SUJEITA À APROVAÇÃO QUÓRUM DE DELIBERAÇÃO (i) deliberar sobre as demonstrações contábeis da Classe; Maioria do total das Cotas emitidas (ii) deliberar sobre a substituição de Prestadores de Serviços 90% (noventa por cento) do total das Cotas</a:t>
            </a:r>
          </a:p>
          <a:p>
            <a:r>
              <a:t>CNPJ 55563624000109 · Quóruns e matérias reservadas · Regulamento · ID 1192614 · 30/04/2026 · versão Regulamento30/04/2026 · p. 20 · AnexoI10.2(vi)–(xiii) · https://fnet.bmfbovespa.com.br/fnet/publico/visualizarDocumento?id=1192614</a:t>
            </a:r>
          </a:p>
          <a:p>
            <a:r>
              <a:t>CNPJ 55563624000109 · Quóruns e matérias reservadas · Excerto da fonte:</a:t>
            </a:r>
          </a:p>
          <a:p>
            <a:r>
              <a:t>(vi) alterar as características, vantagens, direitos e obrigações 90% (noventa por cento) do total das Cotas das Cotas; emitidas (vii) alterar critérios e procedimentos para resgate de Cotas mediante dação em pagamento de Cotas da Classe Maioria do total das Cotas emitidas Investida; (viii) aprovar a emissão de novas Cotas fora do Capital Maioria do total das Cotas emitidas</a:t>
            </a:r>
          </a:p>
          <a:p>
            <a:r>
              <a:t>CNPJ 55563624000109 · Quóruns e matérias reservadas · Versão e prevalência: Leitura específica das cláusulas indicadas; condições e conflitos preservados. Seleção documental atual não comprova vigência jurídica por data isolada.</a:t>
            </a:r>
          </a:p>
          <a:p>
            <a:r>
              <a:t>CNPJ 55563624000109 · Quóruns e matérias reservadas · Resumo do histórico: {"count": 2, "dates": ["2025-01-31", "2026-01-31"], "document_count": 2, "sources": [{"document_id": "1178840", "title": "Demonstrações Financeiras", "reference_date": "2026-01-31", "version": "1", "page": 24, "url": "https://fnet.bmfbovespa.com.br/fnet/publico/visualizarDocumento?id=1178840", "sha256": "c458e98664c5c907ddb5a05a94b120bed4e05295b2bfc420f5ba69af0a229abe"}, {"document_id": "891861", "title": "Demonstrações Financeiras", "reference_date": "2025-01-31", "version": "1", "page": 25, "url": "https://fnet.bmfbovespa.com.br/fnet/publico/visualizarDocumento?id=891861", "sha256": "e9cb9e6ddbe505fe068cfcac33605165a98313489de0d3ce6d4d238263c3f3e7"}], "reference": {"path": "history/55563624000109.json", "criterion_id": "quorum", "total_count": 2, "preview_count": 2, "full_text_deferred": true, "sha256": "7835d573fb58a3c19adf5b8ecc2aee2bdbb9a88f7a0c0209b5f262b64c7522e3"}}</a:t>
            </a:r>
          </a:p>
          <a:p>
            <a:r>
              <a:t>CNPJ 62552447000120 · Quóruns e matérias reservadas · Regulamento · ID 1200623 · 21/05/2026 · versão Consolidado21/05/2026 aprovado pelo ato1200625 · p. 21 · AnexoI10.2(i)–(x) · https://fnet.bmfbovespa.com.br/fnet/publico/visualizarDocumento?id=1200623</a:t>
            </a:r>
          </a:p>
          <a:p>
            <a:r>
              <a:t>CNPJ 62552447000120 · Quóruns e matérias reservadas · Excerto da fonte:</a:t>
            </a:r>
          </a:p>
          <a:p>
            <a:r>
              <a:t>10.2 Os seguintes quóruns deverão ser observados pela Assembleia Especial ao deliberar as matérias abaixo: Matéria Quórum (i) deliberar sobre substituição de Prestadores de Serviços Unanimidade dos Cotistas Essenciais, observado o disposto no art. 70, §1º da Parte Geral da Resolução CVM 175, quando aplicável; (ii) deliberar sobre elevação da Taxa Global, inclusive na Unanimidade dos Cotistas hipótese de restabelecimento de taxa que tenha sido objeto de redução; (iii) delibera</a:t>
            </a:r>
          </a:p>
          <a:p>
            <a:r>
              <a:t>CNPJ 62552447000120 · Quóruns e matérias reservadas · Versão e prevalência: Leitura específica das cláusulas indicadas; condições e conflitos preservados. Seleção documental atual não comprova vigência jurídica por data isolada.</a:t>
            </a:r>
          </a:p>
          <a:p>
            <a:r>
              <a:t>CNPJ 63953620000165 · Quóruns e matérias reservadas · Anexo ao Regulamento · ID 1222863 · 02/06/2026 · versão AnexoConsignadoPrivado02/06/2026 · p. 13 · 10.2(ii)–(xvii) · https://fnet.bmfbovespa.com.br/fnet/publico/visualizarDocumento?id=1222863</a:t>
            </a:r>
          </a:p>
          <a:p>
            <a:r>
              <a:t>CNPJ 63953620000165 · Quóruns e matérias reservadas · Excerto da fonte:</a:t>
            </a:r>
          </a:p>
          <a:p>
            <a:r>
              <a:t>10.2 Os seguintes quóruns deverão ser observados pela Assembleia Especial de Cotistas ao deliberar as matérias abaixo: Matéria Quórum (i) deliberar sobre as demonstrações contábeis da Classe; Maioria das Cotas presentes (ii) alterar o presente Anexo; Maioria das Cotas de cada Subclasse (iii) deliberar sobre substituição de Prestadores de Serviços Maioria das Cotas da Classe Essenciais, observado o disposto no Artigo 70, §1º da parte geral da R</a:t>
            </a:r>
          </a:p>
          <a:p>
            <a:r>
              <a:t>CNPJ 63953620000165 · Quóruns e matérias reservadas · Anexo ao Regulamento · ID 1222863 · 02/06/2026 · versão AnexoConsignadoPrivado02/06/2026 · p. 14 · 10.5–10.8 · https://fnet.bmfbovespa.com.br/fnet/publico/visualizarDocumento?id=1222863</a:t>
            </a:r>
          </a:p>
          <a:p>
            <a:r>
              <a:t>CNPJ 63953620000165 · Quóruns e matérias reservadas · Excerto da fonte:</a:t>
            </a:r>
          </a:p>
          <a:p>
            <a:r>
              <a:t>10.5 Caso a matéria em deliberação resulte ou possa resultar em uma redução do Índice de Subordinação de uma determinada Subclasse, somente podem votar os titulares de Subclasses de Cotas Seniores. 10.6 As deliberações que tenham por objeto alterações de Benchmark apenas serão aprovadas se assim deliberado: (i) pelos votos dos titulares da maioria das Cotas Seniores cujo Benchmark é alterado; e (ii) pelos votos dos titulares da maioria das Cotas Subordinadas em circulação. 10.7 As deliberações que tenham por objeto o aumento do Índice de Subordinação Sênior estão sujeitas à aprovação da maioria simples dos votos dos titu</a:t>
            </a:r>
          </a:p>
          <a:p>
            <a:r>
              <a:t>CNPJ 63953620000165 · Quóruns e matérias reservadas · Condição: 10.7/10.8 repetem aumento do índice com quóruns distintos; interpretar regra específica demandará resolver conflito, sem presumir uma aprovação.</a:t>
            </a:r>
          </a:p>
          <a:p>
            <a:r>
              <a:t>CNPJ 63953620000165 · Quóruns e matérias reservadas · Versão e prevalência: Leitura específica das cláusulas indicadas; condições e conflitos preservados. Seleção documental atual não comprova vigência jurídica por data isolada.</a:t>
            </a:r>
          </a:p>
          <a:p>
            <a:r>
              <a:t>CNPJ 63953620000165 · Quóruns e matérias reservadas · Resumo do histórico: {"count": 7, "dates": ["2026-04-28", "2026-05-08", "2026-05-15"], "document_count": 3, "sources": [{"document_id": "1327859", "title": "Demonstrações Financeiras - Fusão, cisão e incorporação", "reference_date": "2026-05-15", "version": "1", "page": 10, "url": "https://fnet.bmfbovespa.com.br/fnet/publico/visualizarDocumento?id=1327859", "sha256": "dca1c68babb97f887528c3e2e47596a9c30f507b067981a35655b2f2da9c8054"}, {"document_id": "1298691", "title": "Demonstrações Financeiras - Fusão, cisão e incorporação", "reference_date": "2026-05-08", "version": "1", "page": 10, "url": "https://fnet.bmfbovespa.com.br/fnet/publico/visualizarDocumento?id=1298691", "sha256": "58c570d9b8d4d265330d3db3ea81c435b8e44a6dab4002aa37790652a1ee9819"}, {"document_id": "1205431", "title": "AGE", "reference_date": "2026-04-28", "version": "1", "page": 1, "url": "https://fnet.bmfbovespa.com.br/fnet/publico/visualizarDocumento?id=1205431", "sha256": "e0b59c701c5d0dbf60de698ea7664d442240863b7043bacdb334ce484188b2ac"}], "reference": {"path": "history/63953620000165.json", "criterion_id": "quorum", "total_count": 7, "preview_count": 3, "full_text_deferred": true, "sha256": "a7b89077f5e21098c2d601c303faabc3ff6b9729f89d8afecdc60fe1404720c1"}}</a:t>
            </a:r>
          </a:p>
          <a:p>
            <a:r>
              <a:t>CNPJ 54871427000194 · Partes relacionadas e conflitos · Regulamento · ID 670691 · 2024-04-28 · versão 1 · p. 11 · 4.10 · https://fnet.bmfbovespa.com.br/fnet/publico/visualizarDocumento?id=670691</a:t>
            </a:r>
          </a:p>
          <a:p>
            <a:r>
              <a:t>CNPJ 54871427000194 · Partes relacionadas e conflitos · Excerto da fonte:</a:t>
            </a:r>
          </a:p>
          <a:p>
            <a:r>
              <a:t>4.10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54871427000194 · Partes relacionadas e conflitos · Regulamento · ID 670691 · 2024-04-28 · versão 1 · p. 11 · 4.11 · https://fnet.bmfbovespa.com.br/fnet/publico/visualizarDocumento?id=670691</a:t>
            </a:r>
          </a:p>
          <a:p>
            <a:r>
              <a:t>CNPJ 54871427000194 · Partes relacionadas e conflitos · Excerto da fonte:</a:t>
            </a:r>
          </a:p>
          <a:p>
            <a:r>
              <a:t>4.11 A Classe poderá, direta ou indiretamente e, nos termos da legislação aplicável: (i) adquirir Direitos  Creditórios que sejam cedidos e/ou originados pelo ADMINISTRADOR e/ou pelo GESTOR, ou partes  a eles relacionadas, tal como definidas pelas regras contábeis que tratam desse assunto; e (ii) ceder  Direitos Creditórios a qualquer das pessoas, fundos de investimento ou entidades referidas no item (i)  acima, desde que (i) o ADMINISTRADOR, GESTOR, a entidade registradora e o CUSTODIANTE de  Direitos Creditórios não sejam partes relacionadas entre si; e (ii) a entidade registradora e o  CUSTODIANTE dos Direitos Creditórios não sejam partes relacionadas ao originador ou Cedente.</a:t>
            </a:r>
          </a:p>
          <a:p>
            <a:r>
              <a:t>CNPJ 54871427000194 · Partes relacionadas e conflitos · Regulamento · ID 670691 · 2024-04-28 · versão 1 · p. 25 · 12.21 · https://fnet.bmfbovespa.com.br/fnet/publico/visualizarDocumento?id=670691</a:t>
            </a:r>
          </a:p>
          <a:p>
            <a:r>
              <a:t>CNPJ 54871427000194 · Partes relacionadas e conflitos · Excerto da fonte:</a:t>
            </a:r>
          </a:p>
          <a:p>
            <a:r>
              <a:t>12.21 O GESTOR, em nome da Classe, poderá contratar um ou mais terceiros para a prestação de serviços  de Agente de Cobrança de Direitos Creditórios Inadimplidos, os quais poderão ser partes relacionadas  ou integrar o grupo do ADMINISTRADOR ou dos demais prestadores de serviços da Classe. ] Serão  atribuições do Agente de Cobrança, observado o disposto neste Regulamento e na regulamentação  aplicável:</a:t>
            </a:r>
          </a:p>
          <a:p>
            <a:r>
              <a:t>(i) sempre que necessário, notificar os Devedores sobre a cessão dos Direitos Creditórios à  Classe, nos termos do Art. 290 do Código Civil;</a:t>
            </a:r>
          </a:p>
          <a:p>
            <a:r>
              <a:t>(ii) sempre que solicitado pelo ADMINISTRADOR e/ou pelo GESTOR, reportar ao  ADMINISTRADOR e ao GESTOR as ações tomadas e/ou eventos relevantes ocorridos no  âmbito da cobrança, seja judicial ou extrajudicial, dos Direitos Creditórios Inadimplidos, bem  como o estado de ref erida cobrança;</a:t>
            </a:r>
          </a:p>
          <a:p>
            <a:r>
              <a:t>(iii) comparecer à Assembleia Especial de Cotistas quando assim requerido pelo  ADMINISTRADOR;</a:t>
            </a:r>
          </a:p>
          <a:p>
            <a:r>
              <a:t>(iv) conf irmar o recebimento dos boletos bancários de cobrança enviados aos Devedores, se  aplicável;</a:t>
            </a:r>
          </a:p>
          <a:p>
            <a:r>
              <a:t>(v) controlar, coordenar, gerir e f iscalizar as ações de cobrança de Direitos Creditórios  Inadimplidos;</a:t>
            </a:r>
          </a:p>
          <a:p>
            <a:r>
              <a:t>(vi) adotar, em nome e por conta da Classe, todos os procedimentos de cobrança dos Direitos  Creditórios Inadimplidos de titularidade da Classe;</a:t>
            </a:r>
          </a:p>
          <a:p>
            <a:r>
              <a:t>(vii) conf orme o caso, ef etuar a inclusão ou exclusão do nome de quaisquer Devedores dos  Direitos Creditórios Inadimplidos no registro negativo de órgãos e/ou sistemas de informação  e proteção ao crédito; e</a:t>
            </a:r>
          </a:p>
          <a:p>
            <a:r>
              <a:t>(viii) conduzir, por si ou por meio dos assessores legais contratados para esse f im, processo  administrativo, judicial e/ou arbitral contra os Devedores, incluindo, ainda, a excussão de  eventuais garantias acessórias aos Direitos Creditórios.</a:t>
            </a:r>
          </a:p>
          <a:p>
            <a:r>
              <a:t>CNPJ 54871427000194 · Partes relacionadas e conflitos · Condição: Documentos atuais selecionados no inventário por categoria/escopo; a data documental isolada não comprova vigência jurídica.</a:t>
            </a:r>
          </a:p>
          <a:p>
            <a:r>
              <a:t>CNPJ 54871427000194 · Partes relacionadas e conflitos · Versão e prevalência: Documentos atuais selecionados no inventário por categoria/escopo; a data documental isolada não comprova vigência jurídica.</a:t>
            </a:r>
          </a:p>
          <a:p>
            <a:r>
              <a:t>CNPJ 54871427000194 · Partes relacionadas e conflitos · Resumo do histórico: {"count": 1, "dates": ["2024-04-19"], "document_count": 1, "sources": [{"document_id": "670689", "title": "Regulamento", "reference_date": "2024-04-19", "version": "1", "page": 11, "clause": "4.10", "url": "https://fnet.bmfbovespa.com.br/fnet/publico/visualizarDocumento?id=670689", "sha256": "891bc9bc5d87bbc02ec139077a84d2702eb81ea02035fb71d24f5b8366b94a0b"}], "reference": {"path": "history/54871427000194.json", "criterion_id": "related_parties", "total_count": 1, "preview_count": 1, "full_text_deferred": true, "sha256": "35d7cd99be50c7287c9fb675cf4f2e736002315295a225a9efa79c8d9186d874"}}</a:t>
            </a:r>
          </a:p>
          <a:p>
            <a:r>
              <a:t>CNPJ 60010416000112 · Partes relacionadas e conflitos · Regulamento · ID 1051393 · 2025-10-09 · versão 1 · p. 12 · 4.8 · https://fnet.bmfbovespa.com.br/fnet/publico/visualizarDocumento?id=1051393</a:t>
            </a:r>
          </a:p>
          <a:p>
            <a:r>
              <a:t>CNPJ 60010416000112 · Partes relacionadas e conflitos · Excerto da fonte:</a:t>
            </a:r>
          </a:p>
          <a:p>
            <a:r>
              <a:t>4.8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60010416000112 · Partes relacionadas e conflitos · Regulamento · ID 1051393 · 2025-10-09 · versão 1 · p. 12 · 4.9 · https://fnet.bmfbovespa.com.br/fnet/publico/visualizarDocumento?id=1051393</a:t>
            </a:r>
          </a:p>
          <a:p>
            <a:r>
              <a:t>CNPJ 60010416000112 · Partes relacionadas e conflitos · Excerto da fonte:</a:t>
            </a:r>
          </a:p>
          <a:p>
            <a:r>
              <a:t>4.9 Sem prejuízo de limites mais restritivos definidos neste Regulamento, o Gestor deverá observar, ainda, os  seguintes limites de concentração para a composição da Carteira:</a:t>
            </a:r>
          </a:p>
          <a:p>
            <a:r>
              <a:t> (i ) Até 100% (cem por cento) da parcela do Patrimônio Líquido investida em Ativos  Financeiros de Liquidez poderá ser alocada em Ativos Financeiros de Liquidez de  emissão ou que envolvam retenção de risco por parte do Administrador, Gestor, e/ou  suas partes relacionadas; e</a:t>
            </a:r>
          </a:p>
          <a:p>
            <a:r>
              <a:t> (ii) Até 100% (cem por cento) da parcela do Patrimônio Líquido investida em operações  com derivativos poderá ser alocada em derivativos nos quais, inexistindo contraparte  central, se tenha como contraparte o Gestor e/ou suas partes relacionadas.</a:t>
            </a:r>
          </a:p>
          <a:p>
            <a:r>
              <a:t>CNPJ 60010416000112 · Partes relacionadas e conflitos · Regulamento · ID 1051393 · 2025-10-09 · versão 1 · p. 12 · 4.12.1 · https://fnet.bmfbovespa.com.br/fnet/publico/visualizarDocumento?id=1051393</a:t>
            </a:r>
          </a:p>
          <a:p>
            <a:r>
              <a:t>CNPJ 60010416000112 · Partes relacionadas e conflitos · Excerto da fonte:</a:t>
            </a:r>
          </a:p>
          <a:p>
            <a:r>
              <a:t>4.12.1. Após o término do Período de Investimento, a Classe utilizará os recursos provenientes do  pagamento dos Direitos Creditórios e demais aplicações para amortização das Cotas, observada  a ordem de alocação de recursos def inida no Capítulo 7 abaixo.</a:t>
            </a:r>
          </a:p>
          <a:p>
            <a:r>
              <a:t>Regras, procedimentos e limites para efetuar cessão de direitos creditórios para o cedente e suas partes relacionadas</a:t>
            </a:r>
          </a:p>
          <a:p>
            <a:r>
              <a:t>CNPJ 60010416000112 · Partes relacionadas e conflitos · Condição: Documentos atuais selecionados no inventário por categoria/escopo; a data documental isolada não comprova vigência jurídica.</a:t>
            </a:r>
          </a:p>
          <a:p>
            <a:r>
              <a:t>CNPJ 60010416000112 · Partes relacionadas e conflitos · Versão e prevalência: Documentos atuais selecionados no inventário por categoria/escopo; a data documental isolada não comprova vigência jurídica.</a:t>
            </a:r>
          </a:p>
          <a:p>
            <a:r>
              <a:t>CNPJ 60010416000112 · Partes relacionadas e conflitos · Resumo do histórico: {"count": 1, "dates": ["2025-03-20"], "document_count": 1, "sources": [{"document_id": "993786", "title": "Regulamento", "reference_date": "2025-03-20", "version": "1", "page": 12, "clause": "4.8", "url": "https://fnet.bmfbovespa.com.br/fnet/publico/visualizarDocumento?id=993786", "sha256": "fd0fdd369a195510d81f81f505195a0b09e5f43522a990afa7d58c4f872921c8"}], "reference": {"path": "history/60010416000112.json", "criterion_id": "related_parties", "total_count": 1, "preview_count": 1, "full_text_deferred": true, "sha256": "8e2bd813f4c51cf01f6bfaad164bafe69d2bbb192f753eac92da3a01c2e63046"}}</a:t>
            </a:r>
          </a:p>
          <a:p>
            <a:r>
              <a:t>CNPJ 62696791000193 · Partes relacionadas e conflitos · Regulamento · ID 1143317 · 2026-03-20 · versão 1 · p. 12 · 4.10 · https://fnet.bmfbovespa.com.br/fnet/publico/visualizarDocumento?id=1143317</a:t>
            </a:r>
          </a:p>
          <a:p>
            <a:r>
              <a:t>CNPJ 62696791000193 · Partes relacionadas e conflitos · Excerto da fonte:</a:t>
            </a:r>
          </a:p>
          <a:p>
            <a:r>
              <a:t>4.10 Sem prejuízo de limites mais restritivos definidos neste Anexo, o Gestor deverá observar, ainda, os  seguintes limites de concentração:</a:t>
            </a:r>
          </a:p>
          <a:p>
            <a:r>
              <a:t> (i) A Classe poderá, direta ou indiretamente, ter até 100% (cem por cento) do Patrimônio  Líquido representado por Direitos Creditórios do Agronegócio originados ou cedidos  pelo Administrador, Gestor e/ou suas partes relacionadas, tal como definidas pelas  regras contábeis que tratam desse assunto, desde que (a) o Gest or, a entidade  registradora e o Custodiante dos Direitos Creditórios do Agronegócio não sejam partes  relacionadas entre si; e (b) a entidade registradora e o Custodiante dos Direitos  Creditórios do Agronegócio não sejam partes relacionadas ao originador ou Cedente.</a:t>
            </a:r>
          </a:p>
          <a:p>
            <a:r>
              <a:t> (ii) No máximo, 100% (cem por cento) do Patrimônio Líquido investido em Ativos  Financeiros de Liquidez de emissão ou que envolvam retenção de risco por parte do  Administrador, Gestor, e/ou suas partes relacionadas, observado ainda o disposto no  item Error! Reference source not found.;</a:t>
            </a:r>
          </a:p>
          <a:p>
            <a:r>
              <a:t> (iii) No máximo, 100% (cem por cento) do Patrimônio Líquido investido em operações com  derivativos nos quais, inexistindo contraparte central, se tenha como contraparte o  Gestor, e/ou suas partes relacionadas, observado ainda o disposto no item Error!  Reference source not found.;</a:t>
            </a:r>
          </a:p>
          <a:p>
            <a:r>
              <a:t> (iv) No máximo, 100% (cem por cento) do Patrimônio Líquido em cotas de uma mesma  classe;</a:t>
            </a:r>
          </a:p>
          <a:p>
            <a:r>
              <a:t> (v) É vedada a aquisição de precatórios f ederais.</a:t>
            </a:r>
          </a:p>
          <a:p>
            <a:r>
              <a:t> (vi) No máximo, 49% (quarenta e nove por cento) do Patrimônio Líquido em Ativos  Imobiliários do Agronegócio;</a:t>
            </a:r>
          </a:p>
          <a:p>
            <a:r>
              <a:t> (vii) No máximo, 49% (quarenta e nove por cento) do Patrimônio Líquido em Participações  do Agronegócio;</a:t>
            </a:r>
          </a:p>
          <a:p>
            <a:r>
              <a:t> (viii) No máximo, 49% (quarenta e nove por cento) do Patrimônio Líquido em Ativos  Financeiros do Agronegócio; e</a:t>
            </a:r>
          </a:p>
          <a:p>
            <a:r>
              <a:t> (ix) No máximo, 49% (quarenta e nove por cento) do Patrimônio Líquido em Ativos em Geral  do Agronegócio;</a:t>
            </a:r>
          </a:p>
          <a:p>
            <a:r>
              <a:t> Ativos Recuperados</a:t>
            </a:r>
          </a:p>
          <a:p>
            <a:r>
              <a:t>CNPJ 62696791000193 · Partes relacionadas e conflitos · Regulamento · ID 1143317 · 2026-03-20 · versão 1 · p. 11 · 4.8 · https://fnet.bmfbovespa.com.br/fnet/publico/visualizarDocumento?id=1143317</a:t>
            </a:r>
          </a:p>
          <a:p>
            <a:r>
              <a:t>CNPJ 62696791000193 · Partes relacionadas e conflitos · Excerto da fonte:</a:t>
            </a:r>
          </a:p>
          <a:p>
            <a:r>
              <a:t>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relacionadas ao Gestor.</a:t>
            </a:r>
          </a:p>
          <a:p>
            <a:r>
              <a:t>CNPJ 62696791000193 · Partes relacionadas e conflitos · Regulamento · ID 1143317 · 2026-03-20 · versão 1 · p. 14 · 4.21.1 · https://fnet.bmfbovespa.com.br/fnet/publico/visualizarDocumento?id=1143317</a:t>
            </a:r>
          </a:p>
          <a:p>
            <a:r>
              <a:t>CNPJ 62696791000193 · Partes relacionadas e conflitos · Excerto da fonte:</a:t>
            </a:r>
          </a:p>
          <a:p>
            <a:r>
              <a:t>4.21.1 Sem prejuízo do disposto acima, poderá ser contratado terceiro especializado para o  gerenciamento das obras, para controle dos desembolsos, conforme medições durante a etapa  de desenvolvimento e construção dos Ativos Imobiliários do Agronegócio, sendo certo que,  caso haja a contratação de terceiros em situação de conflito de interesses, deverá ser aprovado  em assembleia de Cotistas.</a:t>
            </a:r>
          </a:p>
          <a:p>
            <a:r>
              <a:t>CNPJ 62696791000193 · Partes relacionadas e conflitos · Condição: Documentos atuais selecionados no inventário por categoria/escopo; a data documental isolada não comprova vigência jurídica.</a:t>
            </a:r>
          </a:p>
          <a:p>
            <a:r>
              <a:t>CNPJ 62696791000193 · Partes relacionadas e conflitos · Versão e prevalência: Documentos atuais selecionados no inventário por categoria/escopo; a data documental isolada não comprova vigência jurídica.</a:t>
            </a:r>
          </a:p>
          <a:p>
            <a:r>
              <a:t>CNPJ 55563624000109 · Partes relacionadas e conflitos · Regulamento · ID 1192614 · 2026-04-30 · versão 1 · p. 13 · 4.12.1 · https://fnet.bmfbovespa.com.br/fnet/publico/visualizarDocumento?id=1192614</a:t>
            </a:r>
          </a:p>
          <a:p>
            <a:r>
              <a:t>CNPJ 55563624000109 · Partes relacionadas e conflitos · Excerto da fonte:</a:t>
            </a:r>
          </a:p>
          <a:p>
            <a:r>
              <a:t>4.12.1 A Classe poderá ter até 100% (cem por cento) do Patrimônio Líquido representado por Cotas da Classe  Investida administrados pelo ADMINISTRADOR, e geridos ou cogeridos pelo GESTOR e/ou suas partes  relacionadas.</a:t>
            </a:r>
          </a:p>
          <a:p>
            <a:r>
              <a:t> Revolvência da Carteira</a:t>
            </a:r>
          </a:p>
          <a:p>
            <a:r>
              <a:t>CNPJ 55563624000109 · Partes relacionadas e conflitos · Regulamento · ID 1192614 · 2026-04-30 · versão 1 · p. 28 · 13.2 · https://fnet.bmfbovespa.com.br/fnet/publico/visualizarDocumento?id=1192614</a:t>
            </a:r>
          </a:p>
          <a:p>
            <a:r>
              <a:t>CNPJ 55563624000109 · Partes relacionadas e conflitos · Excerto da fonte:</a:t>
            </a:r>
          </a:p>
          <a:p>
            <a:r>
              <a:t>13.2 Em condições ordinárias, as Cotas da Classe Investida não pagarão remuneração aos prestadores de serviços  essenciais da Classe Investida, nos termos de seu regulamento. Não obstante, em cenário extraordinário  conforme descrito no item 15.1.1 (iii), e para fins de atendimento ao artigo 98 da parte geral da Resolução CVM  175, a taxa máxima de administração corresponderá ao valor da Taxa Mínima de Administração acrescida de até  0,10% (dez centésimos por cento) ao ano incidente sobre o patrimônio líquido da Classe Investida,  compreendendo a taxa de administração da Classe Investida geridos por partes relacionadas ao GESTOR, cujas  cotas não estão admitidas à negociação em mercado organizado, conforme prevista no regulamento da Classe  Investida (“Taxa Máxima de Administração” e, quando referida em conjunto com a Taxa Mínima de  Administração, como “Taxa de Administração”). Caso a taxa de administração da Classe Investida não se  enquadre no disposto acima, estará disposta no regulamento da Classe Investida.</a:t>
            </a:r>
          </a:p>
          <a:p>
            <a:r>
              <a:t>CNPJ 55563624000109 · Partes relacionadas e conflitos · Regulamento · ID 1192614 · 2026-04-30 · versão 1 · p. 37 · https://fnet.bmfbovespa.com.br/fnet/publico/visualizarDocumento?id=1192614</a:t>
            </a:r>
          </a:p>
          <a:p>
            <a:r>
              <a:t>CNPJ 55563624000109 · Partes relacionadas e conflitos · Excerto da fonte:</a:t>
            </a:r>
          </a:p>
          <a:p>
            <a:r>
              <a:t>(ix) Possibilidade de conflito de interesses. As Cotas poderão ser adquiridas por investidores que  sejam partes relacionadas à Classe Investida ou aos prestadores de serviços da Classe Investida. Nessa  hipótese, poderá haver situações de conflito de interesses entre os interesses desses investidores e o  interesse dos demais Cotistas, podendo qualquer desses investidores, inclusive, aprovar deliberações  contrárias aos interesses dos demais Cotistas caso sejam titulares da maioria das Cotas presentes às  Assembleias de Cotistas.</a:t>
            </a:r>
          </a:p>
          <a:p>
            <a:r>
              <a:t>CNPJ 55563624000109 · Partes relacionadas e conflitos · Condição: Documentos atuais selecionados no inventário por categoria/escopo; a data documental isolada não comprova vigência jurídica.</a:t>
            </a:r>
          </a:p>
          <a:p>
            <a:r>
              <a:t>CNPJ 55563624000109 · Partes relacionadas e conflitos · Versão e prevalência: Documentos atuais selecionados no inventário por categoria/escopo; a data documental isolada não comprova vigência jurídica.</a:t>
            </a:r>
          </a:p>
          <a:p>
            <a:r>
              <a:t>CNPJ 55563624000109 · Partes relacionadas e conflitos · Resumo do histórico: {"count": 2, "dates": ["2025-01-31", "2026-01-31"], "document_count": 2, "sources": [{"document_id": "1178840", "title": "Demonstrações Financeiras", "reference_date": "2026-01-31", "version": "1", "page": 23, "url": "https://fnet.bmfbovespa.com.br/fnet/publico/visualizarDocumento?id=1178840", "sha256": "c458e98664c5c907ddb5a05a94b120bed4e05295b2bfc420f5ba69af0a229abe"}, {"document_id": "891861", "title": "Demonstrações Financeiras", "reference_date": "2025-01-31", "version": "1", "page": 23, "url": "https://fnet.bmfbovespa.com.br/fnet/publico/visualizarDocumento?id=891861", "sha256": "e9cb9e6ddbe505fe068cfcac33605165a98313489de0d3ce6d4d238263c3f3e7"}], "reference": {"path": "history/55563624000109.json", "criterion_id": "related_parties", "total_count": 2, "preview_count": 2, "full_text_deferred": true, "sha256": "7835d573fb58a3c19adf5b8ecc2aee2bdbb9a88f7a0c0209b5f262b64c7522e3"}}</a:t>
            </a:r>
          </a:p>
          <a:p>
            <a:r>
              <a:t>CNPJ 62552447000120 · Partes relacionadas e conflitos · Regulamento · ID 1200623 · 2026-05-21 · versão 1 · p. 14 · 4.10 · https://fnet.bmfbovespa.com.br/fnet/publico/visualizarDocumento?id=1200623</a:t>
            </a:r>
          </a:p>
          <a:p>
            <a:r>
              <a:t>CNPJ 62552447000120 · Partes relacionadas e conflitos · Excerto da fonte:</a:t>
            </a:r>
          </a:p>
          <a:p>
            <a:r>
              <a:t>4.10 Nos termos do art. 45, §7º, inciso II, do Anexo Normativo II, a Classe poderá ter até 100% (cem por  cento) de seu Patrimônio Líquido alocado em Direitos Creditórios, derivativos, observado o disposto  abaixo,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62552447000120 · Partes relacionadas e conflitos · Regulamento · ID 1200623 · 2026-05-21 · versão 1 · p. 14 · 4.11 · https://fnet.bmfbovespa.com.br/fnet/publico/visualizarDocumento?id=1200623</a:t>
            </a:r>
          </a:p>
          <a:p>
            <a:r>
              <a:t>CNPJ 62552447000120 · Partes relacionadas e conflitos · Excerto da fonte:</a:t>
            </a:r>
          </a:p>
          <a:p>
            <a:r>
              <a:t>4.11 Sem prejuízo de limites mais restritivos definidos neste Regulamento, o Gestor deverá observar, ainda,  os seguintes limites de concentração para a composição da Carteira:</a:t>
            </a:r>
          </a:p>
          <a:p>
            <a:r>
              <a:t> (i) Até 100% (cem por cento) da parcela do Patrimônio Líquido investida em Direitos  Creditórios poderão ser alocados em Direitos Creditórios originados ou cedidos pelo  Administrador, Gestor e/ou suas partes relacionadas, tal como definidas pelas regras  contábeis que tratam desse assunto . A Classe também poderá ceder Direitos  Creditórios a qualquer das pessoas, f undos de investimento ou entidades ref eridas  acima, desde que a entidade registradora e o Custodiante dos Direitos Creditórios não  sejam partes relacionadas ao Originador ou Endossante;</a:t>
            </a:r>
          </a:p>
          <a:p>
            <a:r>
              <a:t> (ii) Até 100% (cem por cento) da parcela do Patrimônio Líquido investida em Ativos  Financeiros poderão ser alocados em Ativos Financeiros de emissão ou que envolvam  retenção de risco por parte do Administrador, Gestor e/ou suas partes relacionadas; e</a:t>
            </a:r>
          </a:p>
          <a:p>
            <a:r>
              <a:t> (iii) Até 100% (cem por cento) da parcela do Patrimônio Líquido investida em operações  com derivativos poderão ser alocados em operações com derivativos nas quais,  inexistindo contraparte central, se tenha como contraparte o Gestor e/ou suas partes  relacionadas.</a:t>
            </a:r>
          </a:p>
          <a:p>
            <a:r>
              <a:t>CNPJ 62552447000120 · Partes relacionadas e conflitos · Regulamento · ID 1200623 · 2026-05-21 · versão 1 · p. 15 · 4.18 · https://fnet.bmfbovespa.com.br/fnet/publico/visualizarDocumento?id=1200623</a:t>
            </a:r>
          </a:p>
          <a:p>
            <a:r>
              <a:t>CNPJ 62552447000120 · Partes relacionadas e conflitos · Excerto da fonte:</a:t>
            </a:r>
          </a:p>
          <a:p>
            <a:r>
              <a:t>4.18 Ainda que integrem a Carteira, os Ativos Recuperados não serão, sob qualquer hipótese, adquiridos  como parte da Política de Investimento, de forma que serão de sua propriedade exclusivamente, não  devendo, portanto, ser contabilizados para f ins de enquadramento da Classe.</a:t>
            </a:r>
          </a:p>
          <a:p>
            <a:r>
              <a:t>Regras, procedimentos e limites para efetuar qualquer modalidade de transferência dos Direitos Creditórios, incluindo, sem limitação, endosso (“Transferência”) para o Endossante e suas partes relacionadas</a:t>
            </a:r>
          </a:p>
          <a:p>
            <a:r>
              <a:t>CNPJ 62552447000120 · Partes relacionadas e conflitos · Condição: Documentos atuais selecionados no inventário por categoria/escopo; a data documental isolada não comprova vigência jurídica.</a:t>
            </a:r>
          </a:p>
          <a:p>
            <a:r>
              <a:t>CNPJ 62552447000120 · Partes relacionadas e conflitos · Versão e prevalência: Documentos atuais selecionados no inventário por categoria/escopo; a data documental isolada não comprova vigência jurídica.</a:t>
            </a:r>
          </a:p>
          <a:p>
            <a:r>
              <a:t>CNPJ 63953620000165 · Partes relacionadas e conflitos · Anexo ao Regulamento · ID 1222863 · 2026-06-02 · versão 1 · p. 6 · 4.14 · https://fnet.bmfbovespa.com.br/fnet/publico/visualizarDocumento?id=1222863</a:t>
            </a:r>
          </a:p>
          <a:p>
            <a:r>
              <a:t>CNPJ 63953620000165 · Partes relacionadas e conflitos · Excerto da fonte:</a:t>
            </a:r>
          </a:p>
          <a:p>
            <a:r>
              <a:t>4.14 Nos termos do Art. 45, §7º, inciso II, do Anexo Normativo II da Resolução CVM 175, a Classe poderá ter até 100%  (cem por cento) de seu Patrimônio Líquido alocado em Direitos Creditórios, derivativos, observado o disposto  neste Anexo I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63953620000165 · Partes relacionadas e conflitos · Anexo ao Regulamento · ID 1222863 · 2026-06-02 · versão 1 · p. 8 · 4.21 · https://fnet.bmfbovespa.com.br/fnet/publico/visualizarDocumento?id=1222863</a:t>
            </a:r>
          </a:p>
          <a:p>
            <a:r>
              <a:t>CNPJ 63953620000165 · Partes relacionadas e conflitos · Excerto da fonte:</a:t>
            </a:r>
          </a:p>
          <a:p>
            <a:r>
              <a:t>4.21 Ainda que integrem a carteira da Classe, os Ativos Recuperados não serão, sob qualquer hipótese, adquiridos  como parte da Política de Investimento da Classe, de forma que serão de sua propriedade exclusivamente, não  devendo, portanto, ser contabilizados para fins de enquadramento da Classe.</a:t>
            </a:r>
          </a:p>
          <a:p>
            <a:r>
              <a:t> Regras, procedimentos e limites para efetuar o Endosso de Direitos Creditórios Crédito Consignado para o Endossante e  suas partes relacionadas</a:t>
            </a:r>
          </a:p>
          <a:p>
            <a:r>
              <a:t>CNPJ 63953620000165 · Partes relacionadas e conflitos · Anexo ao Regulamento · ID 1222863 · 2026-06-02 · versão 1 · p. 7 · https://fnet.bmfbovespa.com.br/fnet/publico/visualizarDocumento?id=1222863</a:t>
            </a:r>
          </a:p>
          <a:p>
            <a:r>
              <a:t>CNPJ 63953620000165 · Partes relacionadas e conflitos · Excerto da fonte:</a:t>
            </a:r>
          </a:p>
          <a:p>
            <a:r>
              <a:t>Anexo I ao Regulamento  CLASSE CONSIGNADO PRIVADO DO MT GLOBAL FUNDO DE INVESTIMENTO EM DIREITOS  CREDITÓRIOS RESPONSABILIDADE LIMITADA</a:t>
            </a:r>
          </a:p>
          <a:p>
            <a:r>
              <a:t> (i)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 (ii) No máximo, 50% (cinquenta por cento) do Patrimônio Líquido investido em Ativos Financeiros  de Liquidez de emissão ou que envolvam retenção de risco por parte do Administrador, Gestor,  e/ou suas partes relacionadas, observado ainda o disposto acima;</a:t>
            </a:r>
          </a:p>
          <a:p>
            <a:r>
              <a:t> (iii) No máximo, 100% (cem por cento) do Patrimônio Líquido investido em operações com  derivativos nos quais, inexistindo contraparte central, se tenha como contraparte o Gestor,  Consultora e/ou suas partes relacionadas, observado ainda o disposto acima;</a:t>
            </a:r>
          </a:p>
          <a:p>
            <a:r>
              <a:t> (iv) A Classe poderá investir até 100% (cem por cento) de seu Patrimônio Líquido em Direitos  Creditórios Não-Padronizados;</a:t>
            </a:r>
          </a:p>
          <a:p>
            <a:r>
              <a:t> (v) É vedada a aquisição de precatórios federais.</a:t>
            </a:r>
          </a:p>
          <a:p>
            <a:r>
              <a:t>CNPJ 63953620000165 · Partes relacionadas e conflitos · Condição: Documentos atuais selecionados no inventário por categoria/escopo; a data documental isolada não comprova vigência jurídica.</a:t>
            </a:r>
          </a:p>
          <a:p>
            <a:r>
              <a:t>CNPJ 63953620000165 · Partes relacionadas e conflitos · Versão e prevalência: Documentos atuais selecionados no inventário por categoria/escopo; a data documental isolada não comprova vigência jurídica.</a:t>
            </a:r>
          </a:p>
          <a:p>
            <a:r>
              <a:t>CNPJ 54871427000194 · Histórico de alterações materiais · Instrumento Particular de Alteração do Regulamento · ID 670690 · 28/05/2024 · versão Instrumento Particular de Alteração do Regulamento — referência 28/05/2024 · p. 1 · AGC, 4.1–4.2 · https://fnet.bmfbovespa.com.br/fnet/publico/visualizarDocumento?id=670690</a:t>
            </a:r>
          </a:p>
          <a:p>
            <a:r>
              <a:t>CNPJ 54871427000194 · Histórico de alterações materiais · Excerto da fonte:</a:t>
            </a:r>
          </a:p>
          <a:p>
            <a:r>
              <a:t>4.1. A alteração integral do anexo da Classe Única, que compõe o regulamento do Fundo (“Anexo da Classe Única” e “Regulamento”) e seus complementos, para de f orma a alterar a Política de Investimentos da Classe para aquisição de direitos creditórios representados por Certif icados de Cédulas de Crédito Bancário (“CCCBs” e “Direitos Creditórios”), bem como refletir os novos critérios de elegibilidade para aquisição dos Direitos Creditórios, os documentos comprobatórios do lastro e f atores de risco aplicáveis. 4.2. Tendo em vista a aprovação dos itens. acima, deliberaram por aprovar o novo Regulamento Consolidado, que vigorará na forma do Anexo I à presente Ata, o qual terá efeitos retroativos a abertura de 28 de maio de 2024. 4.3. Por f im, por aprovar a Administradora a adotar todas as medidas necessárias para implementação das deliberações acima. 5. ENCERRAMENTO Nada mais havendo a tratar, f oi a reunião encerrada. Rio de Janeiro, 28 de maio de 2024. Mesa: Diego Prado Tassiana Lima Presidente</a:t>
            </a:r>
          </a:p>
          <a:p>
            <a:r>
              <a:t>CNPJ 54871427000194 · Histórico de alterações materiais · Regulamento · ID 670691 · 28/04/2024 · versão Regulamento — referência 28/04/2024 · p. 9 · Regulamento 670691, Anexo I, 4.2 · https://fnet.bmfbovespa.com.br/fnet/publico/visualizarDocumento?id=670691</a:t>
            </a:r>
          </a:p>
          <a:p>
            <a:r>
              <a:t>CNPJ 54871427000194 · Histórico de alterações materiais · Excerto da fonte:</a:t>
            </a:r>
          </a:p>
          <a:p>
            <a:r>
              <a:t>4.2 Os Direitos Creditórios representados por Certif icados de Cédulas de Crédito Bancário (“CCCBs”), representativos de um agrupamento de determinadas CCBs, originadas no âmbito de operações de empréstimos pessoais concedidos por um Endossante a um Devedor, devidamente f ormalizadas por via eletrônica de acordo com a legislação aplicável, segundo os critérios de composição e diversificação estabelecidos pela regulamentação aplicável e neste Regulamento. 4.2.1 Cada Endossante deve ter celebrado convênio com órgão consignante, previamente à cessão de Direitos Creditórios à Classe, que contemplam a obrigação da manutenção da consignação/averbação junto ao novo órgão, de modo a possibilitar o pagamento dos Direitos Creditórios por meio de consignação em f olha de pagamento ou de benef ício . 4.3 Os pagamentos relativos aos Direitos Creditórios de titularidade da Classe serão realizados mediante consignação em folha, débito em conta de titularidade dos Devedores e pagamentos de sinistros, para pagamento dos valores correspondentes às parcelas das CCBs representadas pelos CCCBs de titularidade da Classe, os quais serão conciliados e repassados pelo Endossan</a:t>
            </a:r>
          </a:p>
          <a:p>
            <a:r>
              <a:t>CNPJ 54871427000194 · Histórico de alterações materiais · Condição: A classificação Fundos Net do documento 670690 é “regulamento”, mas seu conteúdo é uma AGC. A divergência de datas impede usar a referência do 670691 como prova autônoma de início de vigência.</a:t>
            </a:r>
          </a:p>
          <a:p>
            <a:r>
              <a:t>CNPJ 54871427000194 · Histórico de alterações materiais · Motivo: Não localizada uma cláusula material para este critério nos textos identificados e processados. A ausência de resultado não comprova inexistência da regra.</a:t>
            </a:r>
          </a:p>
          <a:p>
            <a:r>
              <a:t>CNPJ 54871427000194 · Histórico de alterações materiais · Versão e prevalência: Leitura específica das cláusulas indicadas; condições e conflitos preservados. Seleção documental atual não comprova vigência jurídica por data isolada.</a:t>
            </a:r>
          </a:p>
          <a:p>
            <a:r>
              <a:t>CNPJ 60010416000112 · Histórico de alterações materiais · Demonstrações Financeiras - Fusão, cisão e incorporação · ID 1298690 · 2026-05-08 · versão 1 · p. 30 · https://fnet.bmfbovespa.com.br/fnet/publico/visualizarDocumento?id=1298690</a:t>
            </a:r>
          </a:p>
          <a:p>
            <a:r>
              <a:t>CNPJ 60010416000112 · Histórico de alterações materiais · Excerto da fonte:</a:t>
            </a:r>
          </a:p>
          <a:p>
            <a:r>
              <a:t>Durante o período de investimento, a Administradora poderá deliberar por realizar novas  emissões de Cotas Seniores, sem a necessidade de aprovação em Assembleia Especial de  Cotistas ou alteração do Regulamento, limitadas ao montante máximo de R$ 1.000.000 (um  bilhão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seniores emitidas não sejam superiores aos  prazos de vencimento da primeira emissão.</a:t>
            </a:r>
          </a:p>
          <a:p>
            <a:r>
              <a:t>CNPJ 60010416000112 · Histórico de alterações materiais · Demonstrações Financeiras - Fusão, cisão e incorporação · ID 1298690 · 2026-05-08 · versão 1 · p. 30 · https://fnet.bmfbovespa.com.br/fnet/publico/visualizarDocumento?id=1298690</a:t>
            </a:r>
          </a:p>
          <a:p>
            <a:r>
              <a:t>CNPJ 60010416000112 · Histórico de alterações materiais · Excerto da fonte:</a:t>
            </a:r>
          </a:p>
          <a:p>
            <a:r>
              <a:t>Durante o período de investimento, a Administradora poderá deliberar por realizar novas  emissões de cotas subordinadas, sem a necessidade de aprovação em Assembleia Especial  de Cotistas ou alteração do Regulamento, limitadas ao montante máximo de R$ 50.000  (cinquenta milhões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subordinadas emitidas não sejam  superiores aos prazos de vencimento da primeira emissão.</a:t>
            </a:r>
          </a:p>
          <a:p>
            <a:r>
              <a:t>CNPJ 60010416000112 · Histórico de alterações materiais · Condição: Documentos atuais selecionados no inventário por categoria/escopo; a data documental isolada não comprova vigência jurídica.</a:t>
            </a:r>
          </a:p>
          <a:p>
            <a:r>
              <a:t>CNPJ 60010416000112 · Histórico de alterações materiais · Versão e prevalência: Documentos atuais selecionados no inventário por categoria/escopo; a data documental isolada não comprova vigência jurídica.</a:t>
            </a:r>
          </a:p>
          <a:p>
            <a:r>
              <a:t>CNPJ 60010416000112 · Histórico de alterações materiais · Resumo do histórico: {"count": 5, "dates": ["2025-11-30", "2026-03-18", "2026-04-16"], "document_count": 3, "sources": [{"document_id": "1282181", "title": "Demonstrações Financeiras - Fusão, cisão e incorporação", "reference_date": "2026-04-16", "version": "1", "page": 32, "url": "https://fnet.bmfbovespa.com.br/fnet/publico/visualizarDocumento?id=1282181", "sha256": "b1c6566e43a00bcd00c8a7f30c77b7f86e351bd8e355bbea113f46d1dafda703"}, {"document_id": "1224477", "title": "Demonstrações Financeiras - Fusão, cisão e incorporação", "reference_date": "2026-03-18", "version": "1", "page": 32, "url": "https://fnet.bmfbovespa.com.br/fnet/publico/visualizarDocumento?id=1224477", "sha256": "0751bf0a75bc3b44c2748f5000226665c6ec6698a90c4dc6170b4e6c187759ae"}, {"document_id": "1126154", "title": "Demonstrações Financeiras", "reference_date": "2025-11-30", "version": "1", "page": 32, "url": "https://fnet.bmfbovespa.com.br/fnet/publico/visualizarDocumento?id=1126154", "sha256": "a01e7ccf88c548f12c95cba8526d7efbef6b585c112cd4668eca781c292090b0"}], "reference": {"path": "history/60010416000112.json", "criterion_id": "changes", "total_count": 5, "preview_count": 3, "full_text_deferred": true, "sha256": "8e2bd813f4c51cf01f6bfaad164bafe69d2bbb192f753eac92da3a01c2e63046"}}</a:t>
            </a:r>
          </a:p>
          <a:p>
            <a:r>
              <a:t>CNPJ 62696791000193 · Histórico de alterações materiais · AGE · ID 1143319 · 20/03/2026 10:00 · versão AGE — referência 20/03/2026 10:00 · p. 1 · AGC, 4.1(a)–(c) · https://fnet.bmfbovespa.com.br/fnet/publico/visualizarDocumento?id=1143319</a:t>
            </a:r>
          </a:p>
          <a:p>
            <a:r>
              <a:t>CNPJ 62696791000193 · Histórico de alterações materiais · Excerto da fonte:</a:t>
            </a:r>
          </a:p>
          <a:p>
            <a:r>
              <a:t>4.1. Aprovar a transformação do Fundo, bem como de sua Classe única, em um fundo de investimento nas cadeias produtivas do agronegócio (“Transformação”), nos termos da parte geral e do Anexo Normativo VI da Resolução nº 175 da CVM, de 23 de dezembro de 2022, conforme alterada (“Resolução CVM 175”). a. Aprovar a alteração da denominação do Fundo, que passará a vigorar como BTG PACTUAL CERES CONFINA FUNDO DE INVESTIMENTO NAS CADEIAS PRODUTIVAS DO AGRONEGÓCIO RESPONSABILIDADE LIMITADA, e de sua Classe única, que passará a vigorar como CLASSE ÚNICA DO BTG PACTUAL CERES CONFINA FUNDO DE INVESTIMENTO NAS CADEIAS PRODUTIVAS DO AGRONEGÓCIO RESPONSABILIDADE LIMITADA (“Classe”); b. Aprovar a reforma integral do Regulamento do Fundo, bem como do Anexo descritivo da Classe, para realizar todos os ajustes necessários à implementação da Transformação, incluindo, mas não se limitando, a política de investimentos, o regime tributário e os fatores de risco aplicáveis, conforme itens abaixo; c. Aprovar a alteração do quadro de características gerais do Fundo, considerando a contratação do Cogestor pelo Gestor, nos termos do artigo 52, II, da parte geral da Resolução CVM 175 e no co</a:t>
            </a:r>
          </a:p>
          <a:p>
            <a:r>
              <a:t>CNPJ 62696791000193 · Histórico de alterações materiais · AGE · ID 1143319 · 20/03/2026 10:00 · versão AGE — referência 20/03/2026 10:00 · p. 3 · AGC, 4.1(j)–(k) · https://fnet.bmfbovespa.com.br/fnet/publico/visualizarDocumento?id=1143319</a:t>
            </a:r>
          </a:p>
          <a:p>
            <a:r>
              <a:t>CNPJ 62696791000193 · Histórico de alterações materiais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Histórico de alterações materiais · Instrumento Particular de Emissão de Cotas · ID 1148821 · 27/03/2026 · versão Instrumento Particular de Emissão de Cotas — referência 27/03/2026 · p. 1 · Deliberação Conjunta27/03/2026, item1 · https://fnet.bmfbovespa.com.br/fnet/publico/visualizarDocumento?id=1148821</a:t>
            </a:r>
          </a:p>
          <a:p>
            <a:r>
              <a:t>CNPJ 62696791000193 · Histórico de alterações materiais · Excerto da fonte:</a:t>
            </a:r>
          </a:p>
          <a:p>
            <a:r>
              <a:t>1. Aprovar a 2ª (segunda) emissão da Subclasse Subordinada Júnior da Classe, composta por até 20.000 (vinte mil) Cotas Subordinadas Júnior, com valor nominal unitário de R$ 1.000,00 (mil reais), perfazendo o montante total de R$ 20.000.000,00 (vinte milhões de reais), as quais serão objeto de colocação privada, de acordo com os termos e condições definidos no Apêndice da Subclasse Subordinada Júnior constante do Anexo I Regulamento e descritas abaixo (“2ª Emissão da Subclasse Subordinada Júnior”): a) Rito: as Cotas Subordinadas Júnior objeto da 2ª Emissão da Subclasse Subordinada Júnior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Subordinada Júnior na data de integralização, calculado na forma prevista no respectivo Apêndice; BTG Pactual 1 SAC: 0800 772 28 27 - Ouvidoria: 0800 722 00 48 - btgpactual.com</a:t>
            </a:r>
          </a:p>
          <a:p>
            <a:r>
              <a:t>CNPJ 62696791000193 · Histórico de alterações materiais · Instrumento Particular de Emissão de Cotas · ID 1148821 · 27/03/2026 · versão Instrumento Particular de Emissão de Cotas — referência 27/03/2026 · p. 2 · Deliberação Conjunta, itens2–3 · https://fnet.bmfbovespa.com.br/fnet/publico/visualizarDocumento?id=1148821</a:t>
            </a:r>
          </a:p>
          <a:p>
            <a:r>
              <a:t>CNPJ 62696791000193 · Histórico de alterações materiais · Excerto da fonte:</a:t>
            </a:r>
          </a:p>
          <a:p>
            <a:r>
              <a:t>2. Aprovar a 2ª (segunda) emissão da Subclasse Sênior da Classe, composta por até 150.000 (cento e cinquenta mil) Cotas Seniores, com valor nominal unitário de R$ 1.000,00 (mil reais), perfazendo o montante total de R$ 150.000.000,00 (cento e cinquenta milhões de reais), as quais serão objeto de colocação privada, de acordo com os termos e condições descritos no Apêndice da Subclasse Sênior constante do Anexo I Regulamento e descritas abaixo (“2ª Emissão da Subclasse Sênior”): a) Rito: as Cotas Seniores objeto da 2ª Emissão da Subclasse Sênior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Sênior na data de integralização, calculado na forma prevista no respectivo Apêndice; d) Forma de Integralização: as Cotas Seniores serão integralizadas mediante chamadas de capital, junto ao seu respectivo agente de custódia e/ou da Administradora na qualidade de escriturador das cotas, nos termos d</a:t>
            </a:r>
          </a:p>
          <a:p>
            <a:r>
              <a:t>CNPJ 62696791000193 · Histórico de alterações materiais · Versão e prevalência: Leitura específica das cláusulas indicadas; condições e conflitos preservados. Seleção documental atual não comprova vigência jurídica por data isolada.</a:t>
            </a:r>
          </a:p>
          <a:p>
            <a:r>
              <a:t>CNPJ 55563624000109 · Histórico de alterações materiais · Motivo: Não localizada uma cláusula material para este critério nos textos identificados e processados. A ausência de resultado não comprova inexistência da regra.</a:t>
            </a:r>
          </a:p>
          <a:p>
            <a:r>
              <a:t>CNPJ 62552447000120 · Histórico de alterações materiais · Ato do Administrador · ID 1200625 · 2026-05-21 · versão Ato21/05/2026 · p. 1 · itens1–2 · https://fnet.bmfbovespa.com.br/fnet/publico/visualizarDocumento?id=1200625</a:t>
            </a:r>
          </a:p>
          <a:p>
            <a:r>
              <a:t>CNPJ 62552447000120 · Histórico de alterações materiais · Excerto da fonte:</a:t>
            </a:r>
          </a:p>
          <a:p>
            <a:r>
              <a:t>Ressalta-se que não haverá qualquer alteração nos valores pagos pelos cotistas... Aprovar o novo Anexo I e Regulamento consolidados</a:t>
            </a:r>
          </a:p>
          <a:p>
            <a:r>
              <a:t>CNPJ 62552447000120 · Histórico de alterações materiais · Motivo: Não localizada uma cláusula material para este critério nos textos identificados e processados. A ausência de resultado não comprova inexistência da regra.</a:t>
            </a:r>
          </a:p>
          <a:p>
            <a:r>
              <a:t>CNPJ 62552447000120 · Histórico de alterações materiais · Versão e prevalência: Leitura específica das cláusulas indicadas; condições e conflitos preservados. Seleção documental atual não comprova vigência jurídica por data isolada.</a:t>
            </a:r>
          </a:p>
          <a:p>
            <a:r>
              <a:t>CNPJ 63953620000165 · Histórico de alterações materiais · Anexo ao Regulamento · ID 1222863 · 2026-06-02 · versão 1 · p. 19 · 12.6 · https://fnet.bmfbovespa.com.br/fnet/publico/visualizarDocumento?id=1222863</a:t>
            </a:r>
          </a:p>
          <a:p>
            <a:r>
              <a:t>CNPJ 63953620000165 · Histórico de alterações materiais · Excerto da fonte:</a:t>
            </a:r>
          </a:p>
          <a:p>
            <a:r>
              <a:t>12.6 A Classe contratou a Tudo Serviços S.A., sociedade anônima, com sede no município de Fortaleza, Estado do Ceará,  na Avenida Senador Virgulo Távora, nº 303, Lojas 02, 03, 04, 05, 06 e 19, Meireles, CEP 60.170-265, inscrita no CNPJ  sob o nº 27.852.506/0001-85, cujos deveres, sem prejuízo daqueles estabelecidos neste Regulamento, no  “Contrato de Serviços de Retenção e Cobrança e Outras Avenças”, celebrado entre o Agente de  Retenção/Cobrança e a Classe (“Contrato de Serviços MT”) e no Contrato de Endosso, consistirão no  monitoramento e cobrança dos Direitos Creditórios Inadimplidos, observado o disposto neste Anexo I e na  regulamentação aplicável (“Agente de Retenção/Cobrança”):</a:t>
            </a:r>
          </a:p>
          <a:p>
            <a:r>
              <a:t> (i) caso aplicável, atuar na retenção (defesa) de operações de empréstimo consignado cujos Direitos  Creditórios sejam de titularidade da Classe, em caso de tentativa de transferência de tais operações de  empréstimo consignado por instituições proponentes, nos termos da Resolução CMN nº 5.057, em razão de  ofertas de portabilidade feitas por tais instituições proponentes, conforme informado pelo Endossante ou pelo  Custodiante ao Agente de Retenção/Cobrança, diariamente, de acordo com o Contrato de Endosso; sendo  que tal serviço deverá incluir, entre outras atividades auxiliares a ele relacionadas, a avaliação das ofertas de  portabilidade feitas pelas instituições proponentes, buscando, se for o caso, esclarecer as vantagens de não  recorrer à portabilidade, retendo a respectiva operação de empréstimo consignado em seus termos atuais;</a:t>
            </a:r>
          </a:p>
          <a:p>
            <a:r>
              <a:t> (ii) mediante inadimplemento de um Direito Creditório devido à indisponibilidade da margem de crédito do  Devedor, auxiliar o Endossante com o Processo de Reinicialização (conforme detalhado no Contrato de  Endosso) em relação ao respectivo Direito Creditório;</a:t>
            </a:r>
          </a:p>
          <a:p>
            <a:r>
              <a:t> (iii) manter e operar um serviço de atendimento ao consumidor - SAC e uma ouvidoria em conformidade  com os regulamentos aplicáveis, monitorar e resolver reclamações e solicitações de Devedores com  relação às operações de empréstimo consignado que dão origem aos Direitos Creditórios, em  conformidade com o Acordo de Parceria;</a:t>
            </a:r>
          </a:p>
          <a:p>
            <a:r>
              <a:t> (iv) realizar a cobrança dos Direitos Creditórios Inadimplidos;</a:t>
            </a:r>
          </a:p>
          <a:p>
            <a:r>
              <a:t> (v) auxiliar o Endossante na correção de qualquer irregularidade relevante identificada com relação à  originação dos Direitos Creditórios;</a:t>
            </a:r>
          </a:p>
          <a:p>
            <a:r>
              <a:t> (vi) realizar a renegociação junto aos Devedores de Direitos Creditórios Inadimplidos e, caso aplicável, celebrar  aditamento à CCB para refletir os novos termos, decorrentes da renegociação  CAPÍTULO 13 – REMUNERAÇÃO DOS PRESTADORES DE SERVIÇOS  0,05% (cinco centésimos por cento) ao ano, apropriada diariamente na base de 252  (duzentos e cinquenta e dois) Dias Úteis, e paga mensalmente até o 5º (quinto) Dia  Útil do mês subsequente ao mês que se refere, incidente sobre o Patrimônio Líquido  da Classe alocado em Direitos Creditórios Consignado Privado e/ou Ativos de  Liquidez MT, observada remuneração mínima mensal de R$ 2.500,00 (dois mil e  quinhentos reais), a ser corrigida anualmente, em janeiro de cada ano, pela variação  Taxa de Administração  positiva do Índice Geral de Preços – Mercado, divulgado pela Fundação Getúlio  Vargas (“Taxa de Administração” e “IGP-M”, respectivamente).</a:t>
            </a:r>
          </a:p>
          <a:p>
            <a:r>
              <a:t> Na hipótese de extinção do IGP-M, não divulgação ou impossibilidade de sua  utilização, será utilizado o Índice Geral de Preços – Disponibilidade Interna,  divulgado pela Fundação Getúlio Vargas, ou, na falta de ambos, pela variação do IPC  – Índice de Preços ao Consumidor, divulgado pela Fundação Instituto de Pesquisas</a:t>
            </a:r>
          </a:p>
          <a:p>
            <a:r>
              <a:t>CNPJ 63953620000165 · Histórico de alterações materiais · Condição: Documentos atuais selecionados no inventário por categoria/escopo; a data documental isolada não comprova vigência jurídica.</a:t>
            </a:r>
          </a:p>
          <a:p>
            <a:r>
              <a:t>CNPJ 63953620000165 · Histórico de alterações materiais · Versão e prevalência: Documentos atuais selecionados no inventário por categoria/escopo; a data documental isolada não comprova vigência jurídica.</a:t>
            </a:r>
          </a:p>
          <a:p>
            <a:r>
              <a:t>CNPJ 54871427000194 · Auditor independente e DFs · Demonstrações Financeiras - Fusão, cisão e incorporação · ID 1219522 · 2026-02-02 · versão 1 · p. 23 · https://fnet.bmfbovespa.com.br/fnet/publico/visualizarDocumento?id=1219522</a:t>
            </a:r>
          </a:p>
          <a:p>
            <a:r>
              <a:t>CNPJ 54871427000194 · Auditor independente e DFs · Excerto da fonte:</a:t>
            </a:r>
          </a:p>
          <a:p>
            <a:r>
              <a:t>x) Possibilidade de aquisição de Direitos Creditórios cedidos por Endossante e/ou devidos por  Devedores cujas demonstrações financeiras não sejam auditadas. A Classe, desde que sejam  respeitados os limites de concentração previstos no Regulamento, poderá manter a qualquer  tempo em sua Carteira, Direitos Creditórios cedidos por Endossante e/ou devidos por Devedores  cujas demonstrações financeiras não sejam auditadas por Auditor Independente registrado na</a:t>
            </a:r>
          </a:p>
          <a:p>
            <a:r>
              <a:t>CNPJ 54871427000194 · Auditor independente e DFs · Demonstrações Financeiras - Fusão, cisão e incorporação · ID 1219522 · 2026-02-02 · versão 1 · p. 2 · https://fnet.bmfbovespa.com.br/fnet/publico/visualizarDocumento?id=1219522</a:t>
            </a:r>
          </a:p>
          <a:p>
            <a:r>
              <a:t>CNPJ 54871427000194 · Auditor independente e DFs · Excerto da fonte:</a:t>
            </a:r>
          </a:p>
          <a:p>
            <a:r>
              <a:t>Classe Única de Responsabilidade Limitada do Consignado Delta Receivables I Fundo de Investimento em  Direitos Creditórios  Demonstrações financeiras em  2 de fevereiro de 2026 (data da incorporação da Classe)</a:t>
            </a:r>
          </a:p>
          <a:p>
            <a:r>
              <a:t>CNPJ 54871427000194 · Auditor independente e DFs · Demonstrações Financeiras - Fusão, cisão e incorporação · ID 1219522 · 2026-02-02 · versão 1 · p. 3 · https://fnet.bmfbovespa.com.br/fnet/publico/visualizarDocumento?id=1219522</a:t>
            </a:r>
          </a:p>
          <a:p>
            <a:r>
              <a:t>CNPJ 54871427000194 · Auditor independente e DFs · Excerto da fonte:</a:t>
            </a:r>
          </a:p>
          <a:p>
            <a:r>
              <a:t>Examinamos as demonstrações financeiras da Classe Única de Responsabilidade Limitada do  Consignado Delta Receivables I Fundo de Investimento em Direitos Creditórios (“Classe”),  administrada pela BTG Pactual Serviços Financeiros S.A. Distribuidora de Títulos e Valores Mobiliários  (“Administradora”), que compreendem a demonstração da posição financeira em 2 de fevereiro de  2026 e as respectivas demonstrações do resultado e do resultado abrangente, das evoluções do  patrimônio líquido e dos fluxos de caixa para o período de 1° de janeiro de 2026 (data de início do  exercício social da Classe) a 2 de fevereiro de 2026 (data da incorporação da Classe), bem como as  correspondentes notas explicativas, incluindo as políticas contábeis materiais e outras informações  elucidativas.</a:t>
            </a:r>
          </a:p>
          <a:p>
            <a:r>
              <a:t> Em nossa opinião, as demonstrações financeiras acima referidas apresentam adequadamente, em  todos os aspectos relevantes, a posição patrimonial e financeira da Classe Única de Responsabilidade  Limitada do Consignado Delta Receivables I Fundo de Investimento em Direitos Creditórios em 2 de  fevereiro de 2026 e o desempenho de suas operações e os seus fluxos de caixa para o período de 1°  de janeiro de 2026 a 2 de fevereiro de 2026, de acordo com as práticas contábeis adotadas no Brasil  aplicáveis aos fundos de investimento em direitos creditórios.</a:t>
            </a:r>
          </a:p>
          <a:p>
            <a:r>
              <a:t>CNPJ 54871427000194 · Auditor independente e DFs · Condição: Documentos atuais selecionados no inventário por categoria/escopo; a data documental isolada não comprova vigência jurídica.</a:t>
            </a:r>
          </a:p>
          <a:p>
            <a:r>
              <a:t>CNPJ 54871427000194 · Auditor independente e DFs · Versão e prevalência: Documentos atuais selecionados no inventário por categoria/escopo; a data documental isolada não comprova vigência jurídica.</a:t>
            </a:r>
          </a:p>
          <a:p>
            <a:r>
              <a:t>CNPJ 54871427000194 · Auditor independente e DFs · Resumo do histórico: {"count": 6, "dates": ["2025-01-01", "2025-04-15", "2025-12-31"], "document_count": 3, "sources": [{"document_id": "1151805", "title": "Demonstrações Financeiras", "reference_date": "2025-12-31", "version": "1", "page": 23, "url": "https://fnet.bmfbovespa.com.br/fnet/publico/visualizarDocumento?id=1151805", "sha256": "f1cea70b152968bf96ef9221b27225953cb20aeef487b2798db3c25e11b528d4"}, {"document_id": "883217", "title": "AGO", "reference_date": "2025-04-15", "version": "1", "page": 1, "url": "https://fnet.bmfbovespa.com.br/fnet/publico/visualizarDocumento?id=883217", "sha256": "233467aa4aa6265d253b610668cde19344ec99af4adf4df934c6a1bd88b9a044"}, {"document_id": "869529", "title": "Demonstrações Financeiras", "reference_date": "2025-01-01", "version": "1", "page": 23, "url": "https://fnet.bmfbovespa.com.br/fnet/publico/visualizarDocumento?id=869529", "sha256": "9a93a9369ac8efdbc54ff8fcee3ccac3abf88edab4807b9323d3852450771b2a"}], "reference": {"path": "history/54871427000194.json", "criterion_id": "audit", "total_count": 6, "preview_count": 3, "full_text_deferred": true, "sha256": "35d7cd99be50c7287c9fb675cf4f2e736002315295a225a9efa79c8d9186d874"}}</a:t>
            </a:r>
          </a:p>
          <a:p>
            <a:r>
              <a:t>CNPJ 60010416000112 · Auditor independente e DFs · AGE · ID 1313936 · 2026-08-31 · versão 1 · p. 1 · https://fnet.bmfbovespa.com.br/fnet/publico/visualizarDocumento?id=1313936</a:t>
            </a:r>
          </a:p>
          <a:p>
            <a:r>
              <a:t>CNPJ 60010416000112 · Auditor independente e DFs · Excerto da fonte:</a:t>
            </a:r>
          </a:p>
          <a:p>
            <a:r>
              <a:t>(d) Fica a Administradora autorizada a levantar, na Data da Cisão, demonstrações contábeis da  Classe, as quais darão suporte à realização da Cisão ora deliberada. As demonstrações contábeis  deverão ser auditadas, em conformidade com o art. 120, da Parte Geral, da Resolução CVM 175;</a:t>
            </a:r>
          </a:p>
          <a:p>
            <a:r>
              <a:t>CNPJ 60010416000112 · Auditor independente e DFs · Condição: Documentos atuais selecionados no inventário por categoria/escopo; a data documental isolada não comprova vigência jurídica.</a:t>
            </a:r>
          </a:p>
          <a:p>
            <a:r>
              <a:t>CNPJ 60010416000112 · Auditor independente e DFs · Versão e prevalência: Documentos atuais selecionados no inventário por categoria/escopo; a data documental isolada não comprova vigência jurídica.</a:t>
            </a:r>
          </a:p>
          <a:p>
            <a:r>
              <a:t>CNPJ 60010416000112 · Auditor independente e DFs · Resumo do histórico: {"count": 11, "dates": ["2026-04-16", "2026-05-08", "2026-07-29"], "document_count": 3, "sources": [{"document_id": "1277540", "title": "AGE", "reference_date": "2026-07-29", "version": "1", "page": 1, "url": "https://fnet.bmfbovespa.com.br/fnet/publico/visualizarDocumento?id=1277540", "sha256": "7a9b65092af34917f99f22b62eb7d248d67149b9c91dd87b07b924b9601ee9b0"}, {"document_id": "1298690", "title": "Demonstrações Financeiras - Fusão, cisão e incorporação", "reference_date": "2026-05-08", "version": "1", "page": 1, "url": "https://fnet.bmfbovespa.com.br/fnet/publico/visualizarDocumento?id=1298690", "sha256": "d979f7f7cf866a68b7fbc65c46fd726b7bcc13f9d0b809190857a9b465be7be2"}, {"document_id": "1282181", "title": "Demonstrações Financeiras - Fusão, cisão e incorporação", "reference_date": "2026-04-16", "version": "1", "page": 1, "url": "https://fnet.bmfbovespa.com.br/fnet/publico/visualizarDocumento?id=1282181", "sha256": "b1c6566e43a00bcd00c8a7f30c77b7f86e351bd8e355bbea113f46d1dafda703"}], "reference": {"path": "history/60010416000112.json", "criterion_id": "audit", "total_count": 11, "preview_count": 3, "full_text_deferred": true, "sha256": "8e2bd813f4c51cf01f6bfaad164bafe69d2bbb192f753eac92da3a01c2e63046"}}</a:t>
            </a:r>
          </a:p>
          <a:p>
            <a:r>
              <a:t>CNPJ 62696791000193 · Auditor independente e DFs · Regulamento · ID 1143317 · 2026-03-20 · versão 1 · p. 5 · 4.1.7 · https://fnet.bmfbovespa.com.br/fnet/publico/visualizarDocumento?id=1143317</a:t>
            </a:r>
          </a:p>
          <a:p>
            <a:r>
              <a:t>CNPJ 62696791000193 · Auditor independente e DFs · Excerto da fonte:</a:t>
            </a:r>
          </a:p>
          <a:p>
            <a:r>
              <a:t>4.1.7 As demonstrações contábeis cujo relatório de auditoria não contiver opinião modificada podem  ser consideradas automaticamente aprovadas caso a assembleia correspondente não seja  instalada em virtude do não comparecimento de quaisquer Cotistas.</a:t>
            </a:r>
          </a:p>
          <a:p>
            <a:r>
              <a:t>CNPJ 62696791000193 · Auditor independente e DFs · Regulamento · ID 1143317 · 2026-03-20 · versão 1 · p. 23 · 10.12 · https://fnet.bmfbovespa.com.br/fnet/publico/visualizarDocumento?id=1143317</a:t>
            </a:r>
          </a:p>
          <a:p>
            <a:r>
              <a:t>CNPJ 62696791000193 · Auditor independente e DFs · Excerto da fonte:</a:t>
            </a:r>
          </a:p>
          <a:p>
            <a:r>
              <a:t>10.12 O representante dos Cotistas será eleito com prazo de mandato a se encerrar na próxima Assembleia  de Cotistas que deliberar sobre a aprovação de demonstrações contábeis do Fundo, sendo permitida  a reeleição.</a:t>
            </a:r>
          </a:p>
          <a:p>
            <a:r>
              <a:t>CNPJ 62696791000193 · Auditor independente e DFs · Condição: Documentos atuais selecionados no inventário por categoria/escopo; a data documental isolada não comprova vigência jurídica.</a:t>
            </a:r>
          </a:p>
          <a:p>
            <a:r>
              <a:t>CNPJ 62696791000193 · Auditor independente e DFs · Versão e prevalência: Documentos atuais selecionados no inventário por categoria/escopo; a data documental isolada não comprova vigência jurídica.</a:t>
            </a:r>
          </a:p>
          <a:p>
            <a:r>
              <a:t>CNPJ 55563624000109 · Auditor independente e DFs · Regulamento · ID 1192614 · 2026-04-30 · versão 1 · p. 24 · 12.3 · https://fnet.bmfbovespa.com.br/fnet/publico/visualizarDocumento?id=1192614</a:t>
            </a:r>
          </a:p>
          <a:p>
            <a:r>
              <a:t>CNPJ 55563624000109 · Auditor independente e DFs · Excerto da fonte:</a:t>
            </a:r>
          </a:p>
          <a:p>
            <a:r>
              <a:t>12.3 Incluem-se entre as obrigações do ADMINISTRADOR, sem prejuízo de outras previstas na regulamentação:</a:t>
            </a:r>
          </a:p>
          <a:p>
            <a:r>
              <a:t> (i) sem prejuízo da observância dos procedimentos relativos às demonstrações contábeis, manter,  separadamente, registros com informações completas sobre toda e qualquer modalidade de negociação  realizada entre o ADMINISTRADOR, GESTOR, CUSTODIANTE, e/ou suas respectivas partes relacionadas,  tais como definidas pelas regras contábeis que tratam desse assunto, de um lado; e a Classe, de outro;</a:t>
            </a:r>
          </a:p>
          <a:p>
            <a:r>
              <a:t> (ii) diligenciar para que sejam mantidos, às suas expensas, atualizados e em perfeita ordem:</a:t>
            </a:r>
          </a:p>
          <a:p>
            <a:r>
              <a:t> (a) o registro de Cotistas;</a:t>
            </a:r>
          </a:p>
          <a:p>
            <a:r>
              <a:t> (b) o livro de atas das Assembleias de Cotistas;</a:t>
            </a:r>
          </a:p>
          <a:p>
            <a:r>
              <a:t> (c) o livro ou lista de presença de Cotistas;</a:t>
            </a:r>
          </a:p>
          <a:p>
            <a:r>
              <a:t> (d) os pareceres do Auditor Independente; e</a:t>
            </a:r>
          </a:p>
          <a:p>
            <a:r>
              <a:t> (e) os registros contábeis referentes às operações e ao patrimônio da Classe;</a:t>
            </a:r>
          </a:p>
          <a:p>
            <a:r>
              <a:t> (iii) pagar a multa cominatória às suas expensas, nos termos da legislação vigente, por cada dia de atraso no  cumprimento dos prazos previstos na regulamentação aplicável;</a:t>
            </a:r>
          </a:p>
          <a:p>
            <a:r>
              <a:t> (iv) elaborar e divulgar as informações periódicas e eventuais da Classe, nos termos deste Anexo e da  regulamentação e da autorregulação em vigor;</a:t>
            </a:r>
          </a:p>
          <a:p>
            <a:r>
              <a:t> (v) manter atualizada junto à CVM a lista de todos os prestadores de serviços contratados pela Classe,  inclusive os Prestadores de Serviços Essenciais, bem como as demais informações cadastrais da Classe e  suas Subclasses;</a:t>
            </a:r>
          </a:p>
          <a:p>
            <a:r>
              <a:t> (vi) manter serviço de atendimento aos Cotistas, responsável pelo esclarecimento de dúvidas e pelo  recebimento de reclamações;</a:t>
            </a:r>
          </a:p>
          <a:p>
            <a:r>
              <a:t> (vii) receber e processar os pedidos de resgate;</a:t>
            </a:r>
          </a:p>
          <a:p>
            <a:r>
              <a:t> (viii) monitorar os Eventos de Verificação do Patrimônio;</a:t>
            </a:r>
          </a:p>
          <a:p>
            <a:r>
              <a:t> (ix) monitorar os Eventos de Avaliação e Eventos de Liquidação;</a:t>
            </a:r>
          </a:p>
          <a:p>
            <a:r>
              <a:t> (x) observar as disposições constantes do Regulamento;</a:t>
            </a:r>
          </a:p>
          <a:p>
            <a:r>
              <a:t> (xi) cumprir as deliberações da Assembleia de Cotistas; e</a:t>
            </a:r>
          </a:p>
          <a:p>
            <a:r>
              <a:t> (xii) observar as disposições do Código ANBIMA e das Regras e Procedimentos ANBIMA</a:t>
            </a:r>
          </a:p>
          <a:p>
            <a:r>
              <a:t>CNPJ 55563624000109 · Auditor independente e DFs · Regulamento · ID 1192614 · 2026-04-30 · versão 1 · p. 4 · 4.6.1 · https://fnet.bmfbovespa.com.br/fnet/publico/visualizarDocumento?id=1192614</a:t>
            </a:r>
          </a:p>
          <a:p>
            <a:r>
              <a:t>CNPJ 55563624000109 · Auditor independente e DFs · Excerto da fonte:</a:t>
            </a:r>
          </a:p>
          <a:p>
            <a:r>
              <a:t>4.6.1 As deliberações relativas às matérias elencadas nos incisos abaixo serão tomadas, em primeira  convocação ou em segunda convocação, conforme os quóruns dispostos abaixo, em sede assembleia  geral de cotistas ou de assembleia especial de cotistas, conforme o caso:</a:t>
            </a:r>
          </a:p>
          <a:p>
            <a:r>
              <a:t> MATÉRIA SUJEITA À APROVAÇÃO QUÓRUM DE DELIBERAÇÃO</a:t>
            </a:r>
          </a:p>
          <a:p>
            <a:r>
              <a:t> (i) aprovação das demonstrações contábeis do FUNDO; Maioria do total das Cotas emitidas</a:t>
            </a:r>
          </a:p>
          <a:p>
            <a:r>
              <a:t>CNPJ 55563624000109 · Auditor independente e DFs · Regulamento · ID 1192614 · 2026-04-30 · versão 1 · p. 10 · 3.1 · https://fnet.bmfbovespa.com.br/fnet/publico/visualizarDocumento?id=1192614</a:t>
            </a:r>
          </a:p>
          <a:p>
            <a:r>
              <a:t>CNPJ 55563624000109 · Auditor independente e DFs · Excerto da fonte:</a:t>
            </a:r>
          </a:p>
          <a:p>
            <a:r>
              <a:t>3.1 A Classe terá Encargos que lhe poderão ser debitados diretamente, nos termos da Resolução CVM 175, e  quaisquer despesas que não constituam Encargos correm por conta do Prestador de Serviço Essencial que a tiver  contratado, incluindo, sem se limitar a:</a:t>
            </a:r>
          </a:p>
          <a:p>
            <a:r>
              <a:t> (i) Taxa de performance, se houver;</a:t>
            </a:r>
          </a:p>
          <a:p>
            <a:r>
              <a:t> (ii) Taxas, impostos ou contribuições federais, estaduais, municipais ou autárquicas, que recaiam ou  venham a recair sobre os bens, direitos e obrigações da Classe;</a:t>
            </a:r>
          </a:p>
          <a:p>
            <a:r>
              <a:t> (iii) Despesas com o registro de documentos, impressão, expedição e publicação de relatórios e informações  periódicas previstas na Resolução CVM 175;</a:t>
            </a:r>
          </a:p>
          <a:p>
            <a:r>
              <a:t> (iv) Despesas com correspondências de interesse do FUNDO ou da Classe, inclusive comunicações aos  Cotistas;</a:t>
            </a:r>
          </a:p>
          <a:p>
            <a:r>
              <a:t> (v) Honorários e despesas do Auditor Independente;</a:t>
            </a:r>
          </a:p>
          <a:p>
            <a:r>
              <a:t> BTG Pactual  SAC: 0800 772 28 27 - Ouvidoria: 0800 722 00 48 - btgpactual.com  3</a:t>
            </a:r>
          </a:p>
          <a:p>
            <a:r>
              <a:t>CNPJ 55563624000109 · Auditor independente e DFs · Condição: Documentos atuais selecionados no inventário por categoria/escopo; a data documental isolada não comprova vigência jurídica.</a:t>
            </a:r>
          </a:p>
          <a:p>
            <a:r>
              <a:t>CNPJ 55563624000109 · Auditor independente e DFs · Versão e prevalência: Documentos atuais selecionados no inventário por categoria/escopo; a data documental isolada não comprova vigência jurídica.</a:t>
            </a:r>
          </a:p>
          <a:p>
            <a:r>
              <a:t>CNPJ 55563624000109 · Auditor independente e DFs · Resumo do histórico: {"count": 2, "dates": ["2025-01-31", "2026-01-31"], "document_count": 2, "sources": [{"document_id": "1178840", "title": "Demonstrações Financeiras", "reference_date": "2026-01-31", "version": "1", "page": 4, "url": "https://fnet.bmfbovespa.com.br/fnet/publico/visualizarDocumento?id=1178840", "sha256": "c458e98664c5c907ddb5a05a94b120bed4e05295b2bfc420f5ba69af0a229abe"}, {"document_id": "891861", "title": "Demonstrações Financeiras", "reference_date": "2025-01-31", "version": "1", "page": 2, "url": "https://fnet.bmfbovespa.com.br/fnet/publico/visualizarDocumento?id=891861", "sha256": "e9cb9e6ddbe505fe068cfcac33605165a98313489de0d3ce6d4d238263c3f3e7"}], "reference": {"path": "history/55563624000109.json", "criterion_id": "audit", "total_count": 2, "preview_count": 2, "full_text_deferred": true, "sha256": "7835d573fb58a3c19adf5b8ecc2aee2bdbb9a88f7a0c0209b5f262b64c7522e3"}}</a:t>
            </a:r>
          </a:p>
          <a:p>
            <a:r>
              <a:t>CNPJ 62552447000120 · Auditor independente e DFs · Regulamento · ID 1200623 · 2026-05-21 · versão 1 · p. 4 · 4.1.6 · https://fnet.bmfbovespa.com.br/fnet/publico/visualizarDocumento?id=1200623</a:t>
            </a:r>
          </a:p>
          <a:p>
            <a:r>
              <a:t>CNPJ 62552447000120 · Auditor independente e DFs · Excerto da fonte:</a:t>
            </a:r>
          </a:p>
          <a:p>
            <a:r>
              <a:t>4.1.6 As demonstrações contábeis cujo relatório de auditoria não contiver opinião modificada podem  ser consideradas automaticamente aprovadas caso a Assembleia Geral correspondente não  seja instalada em virtude do não comparecimento de quaisquer Cotistas.</a:t>
            </a:r>
          </a:p>
          <a:p>
            <a:r>
              <a:t>CNPJ 62552447000120 · Auditor independente e DFs · Regulamento · ID 1200623 · 2026-05-21 · versão 1 · p. 29 · 12.16 · https://fnet.bmfbovespa.com.br/fnet/publico/visualizarDocumento?id=1200623</a:t>
            </a:r>
          </a:p>
          <a:p>
            <a:r>
              <a:t>CNPJ 62552447000120 · Auditor independente e DFs · Excerto da fonte:</a:t>
            </a:r>
          </a:p>
          <a:p>
            <a:r>
              <a:t>12.16 Os serviços de auditoria das demonstrações f inanceiras e demais contas da Classe serão prestados  por Auditor Independente contratado pelo Administrador. Pelos serviços prestados, o Auditor  Independente f ará jus ao recebimento de remuneração a ser def inida em contrato específico, a qual  será paga pela Classe.</a:t>
            </a:r>
          </a:p>
          <a:p>
            <a:r>
              <a:t>CAPÍTULO 13 – TAXA GLOBAL</a:t>
            </a:r>
          </a:p>
          <a:p>
            <a:r>
              <a:t>CNPJ 62552447000120 · Auditor independente e DFs · Condição: Documentos atuais selecionados no inventário por categoria/escopo; a data documental isolada não comprova vigência jurídica.</a:t>
            </a:r>
          </a:p>
          <a:p>
            <a:r>
              <a:t>CNPJ 62552447000120 · Auditor independente e DFs · Versão e prevalência: Documentos atuais selecionados no inventário por categoria/escopo; a data documental isolada não comprova vigência jurídica.</a:t>
            </a:r>
          </a:p>
          <a:p>
            <a:r>
              <a:t>CNPJ 63953620000165 · Auditor independente e DFs · Anexo ao Regulamento · ID 1222863 · 2026-06-02 · versão 1 · p. 4 · 3.4 · https://fnet.bmfbovespa.com.br/fnet/publico/visualizarDocumento?id=1222863</a:t>
            </a:r>
          </a:p>
          <a:p>
            <a:r>
              <a:t>CNPJ 63953620000165 · Auditor independente e DFs · Excerto da fonte:</a:t>
            </a:r>
          </a:p>
          <a:p>
            <a:r>
              <a:t>3.4 Adicionalmente aos Encargos, as seguintes despesas serão debitadas diretamente da Classe, nos termos do art.</a:t>
            </a:r>
          </a:p>
          <a:p>
            <a:r>
              <a:t> 51 do Anexo Normativo II da Resolução CVM 175 (“Despesas Adicionais”):</a:t>
            </a:r>
          </a:p>
          <a:p>
            <a:r>
              <a:t> (i) Despesas com registro de Direitos Creditórios;</a:t>
            </a:r>
          </a:p>
          <a:p>
            <a:r>
              <a:t> (ii) Despesas com serviços de originação, cobranças ordinária e/ou extraordinária dos Direitos Creditórios,  e/ou verificação de lastro dos Direitos Creditórios, conforme aplicável;</a:t>
            </a:r>
          </a:p>
          <a:p>
            <a:r>
              <a:t> (iii) Despesas com a contratação de atividades relacionadas à verificação de lastro;</a:t>
            </a:r>
          </a:p>
          <a:p>
            <a:r>
              <a:t> (iv) Despesas com a contratação de Agente de Retenção/Cobrança; Despesas com a contratação de  consultoria especializada, conforme o caso;</a:t>
            </a:r>
          </a:p>
          <a:p>
            <a:r>
              <a:t> (v) Remuneração do Custodiante;</a:t>
            </a:r>
          </a:p>
          <a:p>
            <a:r>
              <a:t> (vi) Despesas com honorários advocatícios para quaisquer assuntos de interesse da Classe, seja na esfera  judicial ou extrajudicial, inclusive consultivo;</a:t>
            </a:r>
          </a:p>
          <a:p>
            <a:r>
              <a:t> (vii) Despesas com a assinatura e registro dos Termos de Endosso, conforme aplicável, junto aos  competentes cartórios de Registro de Títulos e Documentos;</a:t>
            </a:r>
          </a:p>
          <a:p>
            <a:r>
              <a:t> (viii) Despesas inerentes à distribuição primária de Cotas, inclusive a contratação e remuneração do  distribuidor das Cotas para cada oferta de Cotas da Classe, nos termos de cada contrato de distribuição  e honorários devidos ao(s) assessor(es) legal(is) de cada oferta, assim como despesas com o registro das  Cotas na CVM, ANBIMA e/ou na entidade de mercado organizado em que as cotas sejam registradas,  conforme aplicável;</a:t>
            </a:r>
          </a:p>
          <a:p>
            <a:r>
              <a:t> (ix) Taxas de fiscalização da CVM e/ou ANBIMA, conforme aplicável; e</a:t>
            </a:r>
          </a:p>
          <a:p>
            <a:r>
              <a:t> (x) Despesas com contratação e remuneração do Auditor Independente e da Agência Classificadora de  Risco.</a:t>
            </a:r>
          </a:p>
          <a:p>
            <a:r>
              <a:t>CNPJ 63953620000165 · Auditor independente e DFs · Condição: Documentos atuais selecionados no inventário por categoria/escopo; a data documental isolada não comprova vigência jurídica.</a:t>
            </a:r>
          </a:p>
          <a:p>
            <a:r>
              <a:t>CNPJ 63953620000165 · Auditor independente e DFs · Motivo: Cláusula primária localizada e citada, mas sua lista/condições extensas não admitem uma síntese literal curta confirmada. O trecho integral permanece nas fontes.</a:t>
            </a:r>
          </a:p>
          <a:p>
            <a:r>
              <a:t>CNPJ 63953620000165 · Auditor independente e DFs · Versão e prevalência: Documentos atuais selecionados no inventário por categoria/escopo; a data documental isolada não comprova vigência jurídica.</a:t>
            </a:r>
          </a:p>
          <a:p>
            <a:r>
              <a:t>CNPJ 63953620000165 · Auditor independente e DFs · Resumo do histórico: {"count": 8, "dates": ["2026-04-28", "2026-05-08", "2026-05-15"], "document_count": 3, "sources": [{"document_id": "1327859", "title": "Demonstrações Financeiras - Fusão, cisão e incorporação", "reference_date": "2026-05-15", "version": "1", "page": 1, "url": "https://fnet.bmfbovespa.com.br/fnet/publico/visualizarDocumento?id=1327859", "sha256": "dca1c68babb97f887528c3e2e47596a9c30f507b067981a35655b2f2da9c8054"}, {"document_id": "1298691", "title": "Demonstrações Financeiras - Fusão, cisão e incorporação", "reference_date": "2026-05-08", "version": "1", "page": 1, "url": "https://fnet.bmfbovespa.com.br/fnet/publico/visualizarDocumento?id=1298691", "sha256": "58c570d9b8d4d265330d3db3ea81c435b8e44a6dab4002aa37790652a1ee9819"}, {"document_id": "1282180", "title": "Demonstrações Financeiras - Fusão, cisão e incorporação", "reference_date": "2026-04-28", "version": "1", "page": 1, "url": "https://fnet.bmfbovespa.com.br/fnet/publico/visualizarDocumento?id=1282180", "sha256": "afaaa0e6809be4385e5bdb6c911aac582032c5bdbac3d7750234bf9eaf00438a"}], "reference": {"path": "history/63953620000165.json", "criterion_id": "audit",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Governança e alterações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Quóruns e matérias reservadas · Regulamento · ID 670691 · 28/04/2024 · versão Regulamento — referência 28/04/2024 · p. 4 · Parte Geral, 4.4–4.4.1 · https://fnet.bmfbovespa.com.br/fnet/publico/visualizarDocumento?id=670691</a:t>
            </a:r>
          </a:p>
          <a:p>
            <a:r>
              <a:t>CNPJ 54871427000194 · Quóruns e matérias reservadas · Excerto da fonte:</a:t>
            </a:r>
          </a:p>
          <a:p>
            <a:r>
              <a:t>4.4 Ressalvadas as exceções descritas neste Regulamento, toda e qualquer matéria submetida à deliberação dos cotistas deverá ser aprovada por maioria dos votos dos presentes. 4.4.1 As deliberações relativas às matérias elencadas nos incisos abaixo serão tomadas, em primeira convocação ou em segunda convocação, pelos votos dos titulares da maioria das cotas em circulação, em sede assembleia geral de cotistas ou de assembleia especial de cotistas, conf orme o caso: (i) aprovação das demonstrações contábeis do FUNDO; (ii) alteração da Parte Geral deste Regulamento; (iii) substituição ou remoção do Prestador de Serviços Essenciais do FUNDO, ressalvada a possibilidade prevista no Art. 70, §1º, da Parte Geral da Resolução CVM 175; (iv) alterações nos quóruns de deliberação def inidos neste Regulamento; (v) cobrança de taxas e encargos pelo ADMINISTRADOR, de qualquer natureza, que não estejam expressamente previstos neste Regulamento; (vi) liquidação do FUNDO. (vii) plano de resolu</a:t>
            </a:r>
          </a:p>
          <a:p>
            <a:r>
              <a:t>CNPJ 54871427000194 · Quóruns e matérias reservadas · Regulamento · ID 670691 · 28/04/2024 · versão Regulamento — referência 28/04/2024 · p. 17 · Anexo I, 10.1 · https://fnet.bmfbovespa.com.br/fnet/publico/visualizarDocumento?id=670691</a:t>
            </a:r>
          </a:p>
          <a:p>
            <a:r>
              <a:t>CNPJ 54871427000194 · Quóruns e matérias reservadas · Excerto da fonte:</a:t>
            </a:r>
          </a:p>
          <a:p>
            <a:r>
              <a:t>10.1 Sem prejuízo de outros requisitos e inf ormações previstos na regulamentação vigente, são aplicáveis à Assembleia Especial de Cotistas as mesmas disposições procedimentais da Assembleia Geral de Cotistas. 10.2 A Assembleia Especial de Cotistas é responsável por deliberar sobre as matérias específicas da Classe de Cotas, sem prejuízo das demais disposições previstas na regulamentação aplicável, incluindo, mas não se limitando a: (i) deliberar sobre as demonstrações contábeis da Classe; (ii) deliberar sobre substituição de Prestadores de Serviços Essenciais, observado o disposto no art. 70, §1º da parte geral da Resolução CVM 175; (iii) deliberar sobre elevação da Taxa de Administração, inclusive na hipótese de restabelecimento de taxa que tenha sido objeto de redução; (iv) deliberar sobre incorporação, f usão, cisão total ou parcial, a transf ormação ou liquidação da Classe; (v) alterações das características, vantagens, direitos e obrigações das Cotas; (vi) alterar critérios e procedimentos para Amortização e/ou resgate de Cotas mediante dação em pagamento de Direitos Creditórios; (vii) a</a:t>
            </a:r>
          </a:p>
          <a:p>
            <a:r>
              <a:t>CNPJ 54871427000194 · Quóruns e matérias reservadas · Versão e prevalência: Leitura específica das cláusulas indicadas; condições e conflitos preservados. Seleção documental atual não comprova vigência jurídica por data isolada.</a:t>
            </a:r>
          </a:p>
          <a:p>
            <a:r>
              <a:t>CNPJ 54871427000194 · Quóruns e matérias reservadas · Resumo do histórico: {"count": 1, "dates": ["2024-04-19"], "document_count": 1, "sources": [{"document_id": "670689", "title": "Regulamento", "reference_date": "2024-04-19", "version": "1", "page": 20, "clause": "11.6", "url": "https://fnet.bmfbovespa.com.br/fnet/publico/visualizarDocumento?id=670689", "sha256": "891bc9bc5d87bbc02ec139077a84d2702eb81ea02035fb71d24f5b8366b94a0b"}], "reference": {"path": "history/54871427000194.json", "criterion_id": "quorum", "total_count": 1, "preview_count": 1, "full_text_deferred": true, "sha256": "35d7cd99be50c7287c9fb675cf4f2e736002315295a225a9efa79c8d9186d874"}}</a:t>
            </a:r>
          </a:p>
          <a:p>
            <a:r>
              <a:t>CNPJ 60010416000112 · Quóruns e matérias reservadas · Regulamento · ID 1051393 · 09/10/2025 · versão Regulamento09/10/2025 · p. 18 · AnexoI9.2(ii)–(xvii) · https://fnet.bmfbovespa.com.br/fnet/publico/visualizarDocumento?id=1051393</a:t>
            </a:r>
          </a:p>
          <a:p>
            <a:r>
              <a:t>CNPJ 60010416000112 · Quóruns e matérias reservadas · Excerto da fonte:</a:t>
            </a:r>
          </a:p>
          <a:p>
            <a:r>
              <a:t>(ii) alterar este Anexo I e seus complementos, incluindo mas não se limitando aos Apêndices de cada uma das subclasses; (iii) deliberar sobre substituição de Prestadores de Serviços Essenciais, observado o disposto no Art. 70, §1º da parte geral da Resolução CVM 175, quando aplicável, ou do Custodiante; (iv) deliberar sobre elevação da Taxa de Administração, inclusive na hipótese de restabelecimento de taxa que tenha sido objeto de redução; (v) deliberar sobre incorporação, fusão, cisão total ou parcial, a transformação ou liquidação da Classe; (vi) alter</a:t>
            </a:r>
          </a:p>
          <a:p>
            <a:r>
              <a:t>CNPJ 60010416000112 · Quóruns e matérias reservadas · Regulamento · ID 1051393 · 09/10/2025 · versão Regulamento09/10/2025 · p. 19 · AnexoI9.8–9.9 · https://fnet.bmfbovespa.com.br/fnet/publico/visualizarDocumento?id=1051393</a:t>
            </a:r>
          </a:p>
          <a:p>
            <a:r>
              <a:t>CNPJ 60010416000112 · Quóruns e matérias reservadas · Excerto da fonte:</a:t>
            </a:r>
          </a:p>
          <a:p>
            <a:r>
              <a:t>9.8 As deliberações constantes dos incisos (ii), (iii), (iv), (v), (vi), (vii), (x), (xi), (xii), (xiii) e (xvii) acima, apenas serão aprovadas, seja em primeira ou em segunda convocação, por unanimidade dos votos dos titulares das Cotas em circulação. 9.9 As deliberações relativas aos demais incisos do item 9.2 acima apenas serão aprovadas, seja em primeira ou em segunda convocação, mediante o voto favorável dos Cotistas que representem a maioria das Cotas emitidas pela Classe. 9.10 Somente os Cotistas, seus representantes legais ou procuradores legalmente nomeados há menos de 1 (um) ano ter</a:t>
            </a:r>
          </a:p>
          <a:p>
            <a:r>
              <a:t>CNPJ 60010416000112 · Quóruns e matérias reservadas · Versão e prevalência: Leitura específica das cláusulas indicadas; condições e conflitos preservados. Seleção documental atual não comprova vigência jurídica por data isolada.</a:t>
            </a:r>
          </a:p>
          <a:p>
            <a:r>
              <a:t>CNPJ 60010416000112 · Quóruns e matérias reservadas · Resumo do histórico: {"count": 3, "dates": ["2025-03-20", "2025-05-09", "2025-05-12"], "document_count": 3, "sources": [{"document_id": "1004656", "title": "AGE", "reference_date": "2025-05-12", "version": "1", "page": 1, "url": "https://fnet.bmfbovespa.com.br/fnet/publico/visualizarDocumento?id=1004656", "sha256": "f6c9c009f6170e2b29f074b98522accec73f0c40efbf11f9ec2c8d3f1402616b"}, {"document_id": "911262", "title": "AGE", "reference_date": "2025-05-09", "version": "1", "page": 1, "url": "https://fnet.bmfbovespa.com.br/fnet/publico/visualizarDocumento?id=911262", "sha256": "675de4ffe8c5ee95957fb29810625ce850d1a0b69b5231747442266f0cbf32a3"}, {"document_id": "993786", "title": "Regulamento", "reference_date": "2025-03-20", "version": "1", "page": 22, "clause": "10.6", "url": "https://fnet.bmfbovespa.com.br/fnet/publico/visualizarDocumento?id=993786", "sha256": "fd0fdd369a195510d81f81f505195a0b09e5f43522a990afa7d58c4f872921c8"}], "reference": {"path": "history/60010416000112.json", "criterion_id": "quorum", "total_count": 3, "preview_count": 3, "full_text_deferred": true, "sha256": "8e2bd813f4c51cf01f6bfaad164bafe69d2bbb192f753eac92da3a01c2e63046"}}</a:t>
            </a:r>
          </a:p>
          <a:p>
            <a:r>
              <a:t>CNPJ 62696791000193 · Quóruns e matérias reservadas · Regulamento · ID 1143317 · 20/03/2026 · versão Regulamento — referência 20/03/2026 · p. 20 · Anexo I, 10.2, tabela · https://fnet.bmfbovespa.com.br/fnet/publico/visualizarDocumento?id=1143317</a:t>
            </a:r>
          </a:p>
          <a:p>
            <a:r>
              <a:t>CNPJ 62696791000193 · Quóruns e matérias reservadas · Excerto da fonte:</a:t>
            </a:r>
          </a:p>
          <a:p>
            <a:r>
              <a:t>10.2 Os seguintes quóruns deverão ser observados pela Assembleia Especial de Cotistas ao deliberar as matérias abaixo: Matéria Quórum I – alterar o presente Anexo; Maioria das Cotas Subscritas (“Quórum Qualificado”), observada BTG Pactual SAC: 0800 772 2827 | Ouvidoria: 0800 722 0048 | btgpactual.co m 15</a:t>
            </a:r>
          </a:p>
          <a:p>
            <a:r>
              <a:t>CNPJ 62696791000193 · Quóruns e matérias reservadas · Regulamento · ID 1143317 · 20/03/2026 · versão Regulamento — referência 20/03/2026 · p. 21 · Anexo I, 10.2, tabela · https://fnet.bmfbovespa.com.br/fnet/publico/visualizarDocumento?id=1143317</a:t>
            </a:r>
          </a:p>
          <a:p>
            <a:r>
              <a:t>CNPJ 62696791000193 · Quóruns e matérias reservadas · Excerto da fonte:</a:t>
            </a:r>
          </a:p>
          <a:p>
            <a:r>
              <a:t>Matéria Quórum a necessidade de voto afirmativo da Maioria das Cotas Seniores subscritas da Classe Quórum Qualif icado observada a necessidade de voto af irmativo da II – substituição do Administrador, do Gestor e da Cogestora; Maioria das Cotas Seniores subscritas da Classe Maioria Simples, observada a III – Emissão e distribuição de novas Cotas em quantidade necessidade de voto af irmativo da superior ao Capital Autorizado da Classe ; Maioria das Cotas Seniores subscritas da Classe</a:t>
            </a:r>
          </a:p>
          <a:p>
            <a:r>
              <a:t>CNPJ 62696791000193 · Quóruns e matérias reservadas · Regulamento · ID 1143317 · 20/03/2026 · versão Regulamento — referência 20/03/2026 · p. 22 · Anexo I, 10.2(XI) e 10.5–10.7 · https://fnet.bmfbovespa.com.br/fnet/publico/visualizarDocumento?id=1143317</a:t>
            </a:r>
          </a:p>
          <a:p>
            <a:r>
              <a:t>CNPJ 62696791000193 · Quóruns e matérias reservadas · Excerto da fonte:</a:t>
            </a:r>
          </a:p>
          <a:p>
            <a:r>
              <a:t>10.5 As deliberações que tenham por objeto alterações de Benchmark apenas serão aprovadas se assim deliberado: (i) pelos votos dos titulares da maioria das Cotas em circulação da Série ou Subclasse cujo Benchmark é alterado; e (ii) pelos votos dos titulares da maioria das Cotas Mezanino que se subordinem a ela e/ou das Cotas Subordinadas em circulação. 10.6 As deliberações que tenham por objeto o aumento do Índice de Subordinação estão sujeitas à aprovação da maioria simples dos votos dos titulares das Cotas Mezanino que se subordinem a ela e/ou das Cotas Subordinadas em circulação. 10.7 As deliberações que tenham por objeto a diminuição do Índice de Subordinação apenas serão aprovadas se assim deliberado: (i) pelos votos dos titulares da maioria das Cotas em circulação de cada uma das Séries de Cotas Seniores e/ou dos titulares das Cotas Mezanino que tenham o Benchmark alterado; e (ii) pelo voto dos titulares da maioria das Cotas Mezanino que se subordinem a ela e/ou Cotas Subordinadas Júnior em circulação . Representante de Cotistas 10.8 A Assembleia de Cotistas pode, a qualquer momento, eleger até 3 (três) representantes de cotistas, a serem eleitos e nomeados pela assembleia especial,</a:t>
            </a:r>
          </a:p>
          <a:p>
            <a:r>
              <a:t>CNPJ 62696791000193 · Quóruns e matérias reservadas · Versão e prevalência: Leitura específica das cláusulas indicadas; condições e conflitos preservados. Seleção documental atual não comprova vigência jurídica por data isolada.</a:t>
            </a:r>
          </a:p>
          <a:p>
            <a:r>
              <a:t>CNPJ 55563624000109 · Quóruns e matérias reservadas · Regulamento · ID 1192614 · 30/04/2026 · versão Regulamento30/04/2026 · p. 19 · AnexoI10.2(i)–(v) · https://fnet.bmfbovespa.com.br/fnet/publico/visualizarDocumento?id=1192614</a:t>
            </a:r>
          </a:p>
          <a:p>
            <a:r>
              <a:t>CNPJ 55563624000109 · Quóruns e matérias reservadas · Excerto da fonte:</a:t>
            </a:r>
          </a:p>
          <a:p>
            <a:r>
              <a:t>10.2 A Assembleia Especial de Cotistas é responsável por deliberar, observados os quóruns abaixo, sobre as matérias específicas da Classe, sem prejuízo das demais disposições previstas na regulamentação aplicável, incluindo, mas não se limitando a: MATÉRIA SUJEITA À APROVAÇÃO QUÓRUM DE DELIBERAÇÃO (i) deliberar sobre as demonstrações contábeis da Classe; Maioria do total das Cotas emitidas (ii) deliberar sobre a substituição de Prestadores de Serviços 90% (noventa por cento) do total das Cotas</a:t>
            </a:r>
          </a:p>
          <a:p>
            <a:r>
              <a:t>CNPJ 55563624000109 · Quóruns e matérias reservadas · Regulamento · ID 1192614 · 30/04/2026 · versão Regulamento30/04/2026 · p. 20 · AnexoI10.2(vi)–(xiii) · https://fnet.bmfbovespa.com.br/fnet/publico/visualizarDocumento?id=1192614</a:t>
            </a:r>
          </a:p>
          <a:p>
            <a:r>
              <a:t>CNPJ 55563624000109 · Quóruns e matérias reservadas · Excerto da fonte:</a:t>
            </a:r>
          </a:p>
          <a:p>
            <a:r>
              <a:t>(vi) alterar as características, vantagens, direitos e obrigações 90% (noventa por cento) do total das Cotas das Cotas; emitidas (vii) alterar critérios e procedimentos para resgate de Cotas mediante dação em pagamento de Cotas da Classe Maioria do total das Cotas emitidas Investida; (viii) aprovar a emissão de novas Cotas fora do Capital Maioria do total das Cotas emitidas</a:t>
            </a:r>
          </a:p>
          <a:p>
            <a:r>
              <a:t>CNPJ 55563624000109 · Quóruns e matérias reservadas · Versão e prevalência: Leitura específica das cláusulas indicadas; condições e conflitos preservados. Seleção documental atual não comprova vigência jurídica por data isolada.</a:t>
            </a:r>
          </a:p>
          <a:p>
            <a:r>
              <a:t>CNPJ 55563624000109 · Quóruns e matérias reservadas · Resumo do histórico: {"count": 2, "dates": ["2025-01-31", "2026-01-31"], "document_count": 2, "sources": [{"document_id": "1178840", "title": "Demonstrações Financeiras", "reference_date": "2026-01-31", "version": "1", "page": 24, "url": "https://fnet.bmfbovespa.com.br/fnet/publico/visualizarDocumento?id=1178840", "sha256": "c458e98664c5c907ddb5a05a94b120bed4e05295b2bfc420f5ba69af0a229abe"}, {"document_id": "891861", "title": "Demonstrações Financeiras", "reference_date": "2025-01-31", "version": "1", "page": 25, "url": "https://fnet.bmfbovespa.com.br/fnet/publico/visualizarDocumento?id=891861", "sha256": "e9cb9e6ddbe505fe068cfcac33605165a98313489de0d3ce6d4d238263c3f3e7"}], "reference": {"path": "history/55563624000109.json", "criterion_id": "quorum", "total_count": 2, "preview_count": 2, "full_text_deferred": true, "sha256": "7835d573fb58a3c19adf5b8ecc2aee2bdbb9a88f7a0c0209b5f262b64c7522e3"}}</a:t>
            </a:r>
          </a:p>
          <a:p>
            <a:r>
              <a:t>CNPJ 62552447000120 · Quóruns e matérias reservadas · Regulamento · ID 1200623 · 21/05/2026 · versão Consolidado21/05/2026 aprovado pelo ato1200625 · p. 21 · AnexoI10.2(i)–(x) · https://fnet.bmfbovespa.com.br/fnet/publico/visualizarDocumento?id=1200623</a:t>
            </a:r>
          </a:p>
          <a:p>
            <a:r>
              <a:t>CNPJ 62552447000120 · Quóruns e matérias reservadas · Excerto da fonte:</a:t>
            </a:r>
          </a:p>
          <a:p>
            <a:r>
              <a:t>10.2 Os seguintes quóruns deverão ser observados pela Assembleia Especial ao deliberar as matérias abaixo: Matéria Quórum (i) deliberar sobre substituição de Prestadores de Serviços Unanimidade dos Cotistas Essenciais, observado o disposto no art. 70, §1º da Parte Geral da Resolução CVM 175, quando aplicável; (ii) deliberar sobre elevação da Taxa Global, inclusive na Unanimidade dos Cotistas hipótese de restabelecimento de taxa que tenha sido objeto de redução; (iii) delibera</a:t>
            </a:r>
          </a:p>
          <a:p>
            <a:r>
              <a:t>CNPJ 62552447000120 · Quóruns e matérias reservadas · Versão e prevalência: Leitura específica das cláusulas indicadas; condições e conflitos preservados. Seleção documental atual não comprova vigência jurídica por data isolada.</a:t>
            </a:r>
          </a:p>
          <a:p>
            <a:r>
              <a:t>CNPJ 63953620000165 · Quóruns e matérias reservadas · Anexo ao Regulamento · ID 1222863 · 02/06/2026 · versão AnexoConsignadoPrivado02/06/2026 · p. 13 · 10.2(ii)–(xvii) · https://fnet.bmfbovespa.com.br/fnet/publico/visualizarDocumento?id=1222863</a:t>
            </a:r>
          </a:p>
          <a:p>
            <a:r>
              <a:t>CNPJ 63953620000165 · Quóruns e matérias reservadas · Excerto da fonte:</a:t>
            </a:r>
          </a:p>
          <a:p>
            <a:r>
              <a:t>10.2 Os seguintes quóruns deverão ser observados pela Assembleia Especial de Cotistas ao deliberar as matérias abaixo: Matéria Quórum (i) deliberar sobre as demonstrações contábeis da Classe; Maioria das Cotas presentes (ii) alterar o presente Anexo; Maioria das Cotas de cada Subclasse (iii) deliberar sobre substituição de Prestadores de Serviços Maioria das Cotas da Classe Essenciais, observado o disposto no Artigo 70, §1º da parte geral da R</a:t>
            </a:r>
          </a:p>
          <a:p>
            <a:r>
              <a:t>CNPJ 63953620000165 · Quóruns e matérias reservadas · Anexo ao Regulamento · ID 1222863 · 02/06/2026 · versão AnexoConsignadoPrivado02/06/2026 · p. 14 · 10.5–10.8 · https://fnet.bmfbovespa.com.br/fnet/publico/visualizarDocumento?id=1222863</a:t>
            </a:r>
          </a:p>
          <a:p>
            <a:r>
              <a:t>CNPJ 63953620000165 · Quóruns e matérias reservadas · Excerto da fonte:</a:t>
            </a:r>
          </a:p>
          <a:p>
            <a:r>
              <a:t>10.5 Caso a matéria em deliberação resulte ou possa resultar em uma redução do Índice de Subordinação de uma determinada Subclasse, somente podem votar os titulares de Subclasses de Cotas Seniores. 10.6 As deliberações que tenham por objeto alterações de Benchmark apenas serão aprovadas se assim deliberado: (i) pelos votos dos titulares da maioria das Cotas Seniores cujo Benchmark é alterado; e (ii) pelos votos dos titulares da maioria das Cotas Subordinadas em circulação. 10.7 As deliberações que tenham por objeto o aumento do Índice de Subordinação Sênior estão sujeitas à aprovação da maioria simples dos votos dos titu</a:t>
            </a:r>
          </a:p>
          <a:p>
            <a:r>
              <a:t>CNPJ 63953620000165 · Quóruns e matérias reservadas · Condição: 10.7/10.8 repetem aumento do índice com quóruns distintos; interpretar regra específica demandará resolver conflito, sem presumir uma aprovação.</a:t>
            </a:r>
          </a:p>
          <a:p>
            <a:r>
              <a:t>CNPJ 63953620000165 · Quóruns e matérias reservadas · Versão e prevalência: Leitura específica das cláusulas indicadas; condições e conflitos preservados. Seleção documental atual não comprova vigência jurídica por data isolada.</a:t>
            </a:r>
          </a:p>
          <a:p>
            <a:r>
              <a:t>CNPJ 63953620000165 · Quóruns e matérias reservadas · Resumo do histórico: {"count": 7, "dates": ["2026-04-28", "2026-05-08", "2026-05-15"], "document_count": 3, "sources": [{"document_id": "1327859", "title": "Demonstrações Financeiras - Fusão, cisão e incorporação", "reference_date": "2026-05-15", "version": "1", "page": 10, "url": "https://fnet.bmfbovespa.com.br/fnet/publico/visualizarDocumento?id=1327859", "sha256": "dca1c68babb97f887528c3e2e47596a9c30f507b067981a35655b2f2da9c8054"}, {"document_id": "1298691", "title": "Demonstrações Financeiras - Fusão, cisão e incorporação", "reference_date": "2026-05-08", "version": "1", "page": 10, "url": "https://fnet.bmfbovespa.com.br/fnet/publico/visualizarDocumento?id=1298691", "sha256": "58c570d9b8d4d265330d3db3ea81c435b8e44a6dab4002aa37790652a1ee9819"}, {"document_id": "1205431", "title": "AGE", "reference_date": "2026-04-28", "version": "1", "page": 1, "url": "https://fnet.bmfbovespa.com.br/fnet/publico/visualizarDocumento?id=1205431", "sha256": "e0b59c701c5d0dbf60de698ea7664d442240863b7043bacdb334ce484188b2ac"}], "reference": {"path": "history/63953620000165.json", "criterion_id": "quorum", "total_count": 7, "preview_count": 3, "full_text_deferred": true, "sha256": "a7b89077f5e21098c2d601c303faabc3ff6b9729f89d8afecdc60fe1404720c1"}}</a:t>
            </a:r>
          </a:p>
          <a:p>
            <a:r>
              <a:t>CNPJ 54871427000194 · Partes relacionadas e conflitos · Regulamento · ID 670691 · 2024-04-28 · versão 1 · p. 11 · 4.10 · https://fnet.bmfbovespa.com.br/fnet/publico/visualizarDocumento?id=670691</a:t>
            </a:r>
          </a:p>
          <a:p>
            <a:r>
              <a:t>CNPJ 54871427000194 · Partes relacionadas e conflitos · Excerto da fonte:</a:t>
            </a:r>
          </a:p>
          <a:p>
            <a:r>
              <a:t>4.10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54871427000194 · Partes relacionadas e conflitos · Regulamento · ID 670691 · 2024-04-28 · versão 1 · p. 11 · 4.11 · https://fnet.bmfbovespa.com.br/fnet/publico/visualizarDocumento?id=670691</a:t>
            </a:r>
          </a:p>
          <a:p>
            <a:r>
              <a:t>CNPJ 54871427000194 · Partes relacionadas e conflitos · Excerto da fonte:</a:t>
            </a:r>
          </a:p>
          <a:p>
            <a:r>
              <a:t>4.11 A Classe poderá, direta ou indiretamente e, nos termos da legislação aplicável: (i) adquirir Direitos  Creditórios que sejam cedidos e/ou originados pelo ADMINISTRADOR e/ou pelo GESTOR, ou partes  a eles relacionadas, tal como definidas pelas regras contábeis que tratam desse assunto; e (ii) ceder  Direitos Creditórios a qualquer das pessoas, fundos de investimento ou entidades referidas no item (i)  acima, desde que (i) o ADMINISTRADOR, GESTOR, a entidade registradora e o CUSTODIANTE de  Direitos Creditórios não sejam partes relacionadas entre si; e (ii) a entidade registradora e o  CUSTODIANTE dos Direitos Creditórios não sejam partes relacionadas ao originador ou Cedente.</a:t>
            </a:r>
          </a:p>
          <a:p>
            <a:r>
              <a:t>CNPJ 54871427000194 · Partes relacionadas e conflitos · Regulamento · ID 670691 · 2024-04-28 · versão 1 · p. 25 · 12.21 · https://fnet.bmfbovespa.com.br/fnet/publico/visualizarDocumento?id=670691</a:t>
            </a:r>
          </a:p>
          <a:p>
            <a:r>
              <a:t>CNPJ 54871427000194 · Partes relacionadas e conflitos · Excerto da fonte:</a:t>
            </a:r>
          </a:p>
          <a:p>
            <a:r>
              <a:t>12.21 O GESTOR, em nome da Classe, poderá contratar um ou mais terceiros para a prestação de serviços  de Agente de Cobrança de Direitos Creditórios Inadimplidos, os quais poderão ser partes relacionadas  ou integrar o grupo do ADMINISTRADOR ou dos demais prestadores de serviços da Classe. ] Serão  atribuições do Agente de Cobrança, observado o disposto neste Regulamento e na regulamentação  aplicável:</a:t>
            </a:r>
          </a:p>
          <a:p>
            <a:r>
              <a:t>(i) sempre que necessário, notificar os Devedores sobre a cessão dos Direitos Creditórios à  Classe, nos termos do Art. 290 do Código Civil;</a:t>
            </a:r>
          </a:p>
          <a:p>
            <a:r>
              <a:t>(ii) sempre que solicitado pelo ADMINISTRADOR e/ou pelo GESTOR, reportar ao  ADMINISTRADOR e ao GESTOR as ações tomadas e/ou eventos relevantes ocorridos no  âmbito da cobrança, seja judicial ou extrajudicial, dos Direitos Creditórios Inadimplidos, bem  como o estado de ref erida cobrança;</a:t>
            </a:r>
          </a:p>
          <a:p>
            <a:r>
              <a:t>(iii) comparecer à Assembleia Especial de Cotistas quando assim requerido pelo  ADMINISTRADOR;</a:t>
            </a:r>
          </a:p>
          <a:p>
            <a:r>
              <a:t>(iv) conf irmar o recebimento dos boletos bancários de cobrança enviados aos Devedores, se  aplicável;</a:t>
            </a:r>
          </a:p>
          <a:p>
            <a:r>
              <a:t>(v) controlar, coordenar, gerir e f iscalizar as ações de cobrança de Direitos Creditórios  Inadimplidos;</a:t>
            </a:r>
          </a:p>
          <a:p>
            <a:r>
              <a:t>(vi) adotar, em nome e por conta da Classe, todos os procedimentos de cobrança dos Direitos  Creditórios Inadimplidos de titularidade da Classe;</a:t>
            </a:r>
          </a:p>
          <a:p>
            <a:r>
              <a:t>(vii) conf orme o caso, ef etuar a inclusão ou exclusão do nome de quaisquer Devedores dos  Direitos Creditórios Inadimplidos no registro negativo de órgãos e/ou sistemas de informação  e proteção ao crédito; e</a:t>
            </a:r>
          </a:p>
          <a:p>
            <a:r>
              <a:t>(viii) conduzir, por si ou por meio dos assessores legais contratados para esse f im, processo  administrativo, judicial e/ou arbitral contra os Devedores, incluindo, ainda, a excussão de  eventuais garantias acessórias aos Direitos Creditórios.</a:t>
            </a:r>
          </a:p>
          <a:p>
            <a:r>
              <a:t>CNPJ 54871427000194 · Partes relacionadas e conflitos · Condição: Documentos atuais selecionados no inventário por categoria/escopo; a data documental isolada não comprova vigência jurídica.</a:t>
            </a:r>
          </a:p>
          <a:p>
            <a:r>
              <a:t>CNPJ 54871427000194 · Partes relacionadas e conflitos · Versão e prevalência: Documentos atuais selecionados no inventário por categoria/escopo; a data documental isolada não comprova vigência jurídica.</a:t>
            </a:r>
          </a:p>
          <a:p>
            <a:r>
              <a:t>CNPJ 54871427000194 · Partes relacionadas e conflitos · Resumo do histórico: {"count": 1, "dates": ["2024-04-19"], "document_count": 1, "sources": [{"document_id": "670689", "title": "Regulamento", "reference_date": "2024-04-19", "version": "1", "page": 11, "clause": "4.10", "url": "https://fnet.bmfbovespa.com.br/fnet/publico/visualizarDocumento?id=670689", "sha256": "891bc9bc5d87bbc02ec139077a84d2702eb81ea02035fb71d24f5b8366b94a0b"}], "reference": {"path": "history/54871427000194.json", "criterion_id": "related_parties", "total_count": 1, "preview_count": 1, "full_text_deferred": true, "sha256": "35d7cd99be50c7287c9fb675cf4f2e736002315295a225a9efa79c8d9186d874"}}</a:t>
            </a:r>
          </a:p>
          <a:p>
            <a:r>
              <a:t>CNPJ 60010416000112 · Partes relacionadas e conflitos · Regulamento · ID 1051393 · 2025-10-09 · versão 1 · p. 12 · 4.8 · https://fnet.bmfbovespa.com.br/fnet/publico/visualizarDocumento?id=1051393</a:t>
            </a:r>
          </a:p>
          <a:p>
            <a:r>
              <a:t>CNPJ 60010416000112 · Partes relacionadas e conflitos · Excerto da fonte:</a:t>
            </a:r>
          </a:p>
          <a:p>
            <a:r>
              <a:t>4.8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60010416000112 · Partes relacionadas e conflitos · Regulamento · ID 1051393 · 2025-10-09 · versão 1 · p. 12 · 4.9 · https://fnet.bmfbovespa.com.br/fnet/publico/visualizarDocumento?id=1051393</a:t>
            </a:r>
          </a:p>
          <a:p>
            <a:r>
              <a:t>CNPJ 60010416000112 · Partes relacionadas e conflitos · Excerto da fonte:</a:t>
            </a:r>
          </a:p>
          <a:p>
            <a:r>
              <a:t>4.9 Sem prejuízo de limites mais restritivos definidos neste Regulamento, o Gestor deverá observar, ainda, os  seguintes limites de concentração para a composição da Carteira:</a:t>
            </a:r>
          </a:p>
          <a:p>
            <a:r>
              <a:t> (i ) Até 100% (cem por cento) da parcela do Patrimônio Líquido investida em Ativos  Financeiros de Liquidez poderá ser alocada em Ativos Financeiros de Liquidez de  emissão ou que envolvam retenção de risco por parte do Administrador, Gestor, e/ou  suas partes relacionadas; e</a:t>
            </a:r>
          </a:p>
          <a:p>
            <a:r>
              <a:t> (ii) Até 100% (cem por cento) da parcela do Patrimônio Líquido investida em operações  com derivativos poderá ser alocada em derivativos nos quais, inexistindo contraparte  central, se tenha como contraparte o Gestor e/ou suas partes relacionadas.</a:t>
            </a:r>
          </a:p>
          <a:p>
            <a:r>
              <a:t>CNPJ 60010416000112 · Partes relacionadas e conflitos · Regulamento · ID 1051393 · 2025-10-09 · versão 1 · p. 12 · 4.12.1 · https://fnet.bmfbovespa.com.br/fnet/publico/visualizarDocumento?id=1051393</a:t>
            </a:r>
          </a:p>
          <a:p>
            <a:r>
              <a:t>CNPJ 60010416000112 · Partes relacionadas e conflitos · Excerto da fonte:</a:t>
            </a:r>
          </a:p>
          <a:p>
            <a:r>
              <a:t>4.12.1. Após o término do Período de Investimento, a Classe utilizará os recursos provenientes do  pagamento dos Direitos Creditórios e demais aplicações para amortização das Cotas, observada  a ordem de alocação de recursos def inida no Capítulo 7 abaixo.</a:t>
            </a:r>
          </a:p>
          <a:p>
            <a:r>
              <a:t>Regras, procedimentos e limites para efetuar cessão de direitos creditórios para o cedente e suas partes relacionadas</a:t>
            </a:r>
          </a:p>
          <a:p>
            <a:r>
              <a:t>CNPJ 60010416000112 · Partes relacionadas e conflitos · Condição: Documentos atuais selecionados no inventário por categoria/escopo; a data documental isolada não comprova vigência jurídica.</a:t>
            </a:r>
          </a:p>
          <a:p>
            <a:r>
              <a:t>CNPJ 60010416000112 · Partes relacionadas e conflitos · Versão e prevalência: Documentos atuais selecionados no inventário por categoria/escopo; a data documental isolada não comprova vigência jurídica.</a:t>
            </a:r>
          </a:p>
          <a:p>
            <a:r>
              <a:t>CNPJ 60010416000112 · Partes relacionadas e conflitos · Resumo do histórico: {"count": 1, "dates": ["2025-03-20"], "document_count": 1, "sources": [{"document_id": "993786", "title": "Regulamento", "reference_date": "2025-03-20", "version": "1", "page": 12, "clause": "4.8", "url": "https://fnet.bmfbovespa.com.br/fnet/publico/visualizarDocumento?id=993786", "sha256": "fd0fdd369a195510d81f81f505195a0b09e5f43522a990afa7d58c4f872921c8"}], "reference": {"path": "history/60010416000112.json", "criterion_id": "related_parties", "total_count": 1, "preview_count": 1, "full_text_deferred": true, "sha256": "8e2bd813f4c51cf01f6bfaad164bafe69d2bbb192f753eac92da3a01c2e63046"}}</a:t>
            </a:r>
          </a:p>
          <a:p>
            <a:r>
              <a:t>CNPJ 62696791000193 · Partes relacionadas e conflitos · Regulamento · ID 1143317 · 2026-03-20 · versão 1 · p. 12 · 4.10 · https://fnet.bmfbovespa.com.br/fnet/publico/visualizarDocumento?id=1143317</a:t>
            </a:r>
          </a:p>
          <a:p>
            <a:r>
              <a:t>CNPJ 62696791000193 · Partes relacionadas e conflitos · Excerto da fonte:</a:t>
            </a:r>
          </a:p>
          <a:p>
            <a:r>
              <a:t>4.10 Sem prejuízo de limites mais restritivos definidos neste Anexo, o Gestor deverá observar, ainda, os  seguintes limites de concentração:</a:t>
            </a:r>
          </a:p>
          <a:p>
            <a:r>
              <a:t> (i) A Classe poderá, direta ou indiretamente, ter até 100% (cem por cento) do Patrimônio  Líquido representado por Direitos Creditórios do Agronegócio originados ou cedidos  pelo Administrador, Gestor e/ou suas partes relacionadas, tal como definidas pelas  regras contábeis que tratam desse assunto, desde que (a) o Gest or, a entidade  registradora e o Custodiante dos Direitos Creditórios do Agronegócio não sejam partes  relacionadas entre si; e (b) a entidade registradora e o Custodiante dos Direitos  Creditórios do Agronegócio não sejam partes relacionadas ao originador ou Cedente.</a:t>
            </a:r>
          </a:p>
          <a:p>
            <a:r>
              <a:t> (ii) No máximo, 100% (cem por cento) do Patrimônio Líquido investido em Ativos  Financeiros de Liquidez de emissão ou que envolvam retenção de risco por parte do  Administrador, Gestor, e/ou suas partes relacionadas, observado ainda o disposto no  item Error! Reference source not found.;</a:t>
            </a:r>
          </a:p>
          <a:p>
            <a:r>
              <a:t> (iii) No máximo, 100% (cem por cento) do Patrimônio Líquido investido em operações com  derivativos nos quais, inexistindo contraparte central, se tenha como contraparte o  Gestor, e/ou suas partes relacionadas, observado ainda o disposto no item Error!  Reference source not found.;</a:t>
            </a:r>
          </a:p>
          <a:p>
            <a:r>
              <a:t> (iv) No máximo, 100% (cem por cento) do Patrimônio Líquido em cotas de uma mesma  classe;</a:t>
            </a:r>
          </a:p>
          <a:p>
            <a:r>
              <a:t> (v) É vedada a aquisição de precatórios f ederais.</a:t>
            </a:r>
          </a:p>
          <a:p>
            <a:r>
              <a:t> (vi) No máximo, 49% (quarenta e nove por cento) do Patrimônio Líquido em Ativos  Imobiliários do Agronegócio;</a:t>
            </a:r>
          </a:p>
          <a:p>
            <a:r>
              <a:t> (vii) No máximo, 49% (quarenta e nove por cento) do Patrimônio Líquido em Participações  do Agronegócio;</a:t>
            </a:r>
          </a:p>
          <a:p>
            <a:r>
              <a:t> (viii) No máximo, 49% (quarenta e nove por cento) do Patrimônio Líquido em Ativos  Financeiros do Agronegócio; e</a:t>
            </a:r>
          </a:p>
          <a:p>
            <a:r>
              <a:t> (ix) No máximo, 49% (quarenta e nove por cento) do Patrimônio Líquido em Ativos em Geral  do Agronegócio;</a:t>
            </a:r>
          </a:p>
          <a:p>
            <a:r>
              <a:t> Ativos Recuperados</a:t>
            </a:r>
          </a:p>
          <a:p>
            <a:r>
              <a:t>CNPJ 62696791000193 · Partes relacionadas e conflitos · Regulamento · ID 1143317 · 2026-03-20 · versão 1 · p. 11 · 4.8 · https://fnet.bmfbovespa.com.br/fnet/publico/visualizarDocumento?id=1143317</a:t>
            </a:r>
          </a:p>
          <a:p>
            <a:r>
              <a:t>CNPJ 62696791000193 · Partes relacionadas e conflitos · Excerto da fonte:</a:t>
            </a:r>
          </a:p>
          <a:p>
            <a:r>
              <a:t>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relacionadas ao Gestor.</a:t>
            </a:r>
          </a:p>
          <a:p>
            <a:r>
              <a:t>CNPJ 62696791000193 · Partes relacionadas e conflitos · Regulamento · ID 1143317 · 2026-03-20 · versão 1 · p. 14 · 4.21.1 · https://fnet.bmfbovespa.com.br/fnet/publico/visualizarDocumento?id=1143317</a:t>
            </a:r>
          </a:p>
          <a:p>
            <a:r>
              <a:t>CNPJ 62696791000193 · Partes relacionadas e conflitos · Excerto da fonte:</a:t>
            </a:r>
          </a:p>
          <a:p>
            <a:r>
              <a:t>4.21.1 Sem prejuízo do disposto acima, poderá ser contratado terceiro especializado para o  gerenciamento das obras, para controle dos desembolsos, conforme medições durante a etapa  de desenvolvimento e construção dos Ativos Imobiliários do Agronegócio, sendo certo que,  caso haja a contratação de terceiros em situação de conflito de interesses, deverá ser aprovado  em assembleia de Cotistas.</a:t>
            </a:r>
          </a:p>
          <a:p>
            <a:r>
              <a:t>CNPJ 62696791000193 · Partes relacionadas e conflitos · Condição: Documentos atuais selecionados no inventário por categoria/escopo; a data documental isolada não comprova vigência jurídica.</a:t>
            </a:r>
          </a:p>
          <a:p>
            <a:r>
              <a:t>CNPJ 62696791000193 · Partes relacionadas e conflitos · Versão e prevalência: Documentos atuais selecionados no inventário por categoria/escopo; a data documental isolada não comprova vigência jurídica.</a:t>
            </a:r>
          </a:p>
          <a:p>
            <a:r>
              <a:t>CNPJ 55563624000109 · Partes relacionadas e conflitos · Regulamento · ID 1192614 · 2026-04-30 · versão 1 · p. 13 · 4.12.1 · https://fnet.bmfbovespa.com.br/fnet/publico/visualizarDocumento?id=1192614</a:t>
            </a:r>
          </a:p>
          <a:p>
            <a:r>
              <a:t>CNPJ 55563624000109 · Partes relacionadas e conflitos · Excerto da fonte:</a:t>
            </a:r>
          </a:p>
          <a:p>
            <a:r>
              <a:t>4.12.1 A Classe poderá ter até 100% (cem por cento) do Patrimônio Líquido representado por Cotas da Classe  Investida administrados pelo ADMINISTRADOR, e geridos ou cogeridos pelo GESTOR e/ou suas partes  relacionadas.</a:t>
            </a:r>
          </a:p>
          <a:p>
            <a:r>
              <a:t> Revolvência da Carteira</a:t>
            </a:r>
          </a:p>
          <a:p>
            <a:r>
              <a:t>CNPJ 55563624000109 · Partes relacionadas e conflitos · Regulamento · ID 1192614 · 2026-04-30 · versão 1 · p. 28 · 13.2 · https://fnet.bmfbovespa.com.br/fnet/publico/visualizarDocumento?id=1192614</a:t>
            </a:r>
          </a:p>
          <a:p>
            <a:r>
              <a:t>CNPJ 55563624000109 · Partes relacionadas e conflitos · Excerto da fonte:</a:t>
            </a:r>
          </a:p>
          <a:p>
            <a:r>
              <a:t>13.2 Em condições ordinárias, as Cotas da Classe Investida não pagarão remuneração aos prestadores de serviços  essenciais da Classe Investida, nos termos de seu regulamento. Não obstante, em cenário extraordinário  conforme descrito no item 15.1.1 (iii), e para fins de atendimento ao artigo 98 da parte geral da Resolução CVM  175, a taxa máxima de administração corresponderá ao valor da Taxa Mínima de Administração acrescida de até  0,10% (dez centésimos por cento) ao ano incidente sobre o patrimônio líquido da Classe Investida,  compreendendo a taxa de administração da Classe Investida geridos por partes relacionadas ao GESTOR, cujas  cotas não estão admitidas à negociação em mercado organizado, conforme prevista no regulamento da Classe  Investida (“Taxa Máxima de Administração” e, quando referida em conjunto com a Taxa Mínima de  Administração, como “Taxa de Administração”). Caso a taxa de administração da Classe Investida não se  enquadre no disposto acima, estará disposta no regulamento da Classe Investida.</a:t>
            </a:r>
          </a:p>
          <a:p>
            <a:r>
              <a:t>CNPJ 55563624000109 · Partes relacionadas e conflitos · Regulamento · ID 1192614 · 2026-04-30 · versão 1 · p. 37 · https://fnet.bmfbovespa.com.br/fnet/publico/visualizarDocumento?id=1192614</a:t>
            </a:r>
          </a:p>
          <a:p>
            <a:r>
              <a:t>CNPJ 55563624000109 · Partes relacionadas e conflitos · Excerto da fonte:</a:t>
            </a:r>
          </a:p>
          <a:p>
            <a:r>
              <a:t>(ix) Possibilidade de conflito de interesses. As Cotas poderão ser adquiridas por investidores que  sejam partes relacionadas à Classe Investida ou aos prestadores de serviços da Classe Investida. Nessa  hipótese, poderá haver situações de conflito de interesses entre os interesses desses investidores e o  interesse dos demais Cotistas, podendo qualquer desses investidores, inclusive, aprovar deliberações  contrárias aos interesses dos demais Cotistas caso sejam titulares da maioria das Cotas presentes às  Assembleias de Cotistas.</a:t>
            </a:r>
          </a:p>
          <a:p>
            <a:r>
              <a:t>CNPJ 55563624000109 · Partes relacionadas e conflitos · Condição: Documentos atuais selecionados no inventário por categoria/escopo; a data documental isolada não comprova vigência jurídica.</a:t>
            </a:r>
          </a:p>
          <a:p>
            <a:r>
              <a:t>CNPJ 55563624000109 · Partes relacionadas e conflitos · Versão e prevalência: Documentos atuais selecionados no inventário por categoria/escopo; a data documental isolada não comprova vigência jurídica.</a:t>
            </a:r>
          </a:p>
          <a:p>
            <a:r>
              <a:t>CNPJ 55563624000109 · Partes relacionadas e conflitos · Resumo do histórico: {"count": 2, "dates": ["2025-01-31", "2026-01-31"], "document_count": 2, "sources": [{"document_id": "1178840", "title": "Demonstrações Financeiras", "reference_date": "2026-01-31", "version": "1", "page": 23, "url": "https://fnet.bmfbovespa.com.br/fnet/publico/visualizarDocumento?id=1178840", "sha256": "c458e98664c5c907ddb5a05a94b120bed4e05295b2bfc420f5ba69af0a229abe"}, {"document_id": "891861", "title": "Demonstrações Financeiras", "reference_date": "2025-01-31", "version": "1", "page": 23, "url": "https://fnet.bmfbovespa.com.br/fnet/publico/visualizarDocumento?id=891861", "sha256": "e9cb9e6ddbe505fe068cfcac33605165a98313489de0d3ce6d4d238263c3f3e7"}], "reference": {"path": "history/55563624000109.json", "criterion_id": "related_parties", "total_count": 2, "preview_count": 2, "full_text_deferred": true, "sha256": "7835d573fb58a3c19adf5b8ecc2aee2bdbb9a88f7a0c0209b5f262b64c7522e3"}}</a:t>
            </a:r>
          </a:p>
          <a:p>
            <a:r>
              <a:t>CNPJ 62552447000120 · Partes relacionadas e conflitos · Regulamento · ID 1200623 · 2026-05-21 · versão 1 · p. 14 · 4.10 · https://fnet.bmfbovespa.com.br/fnet/publico/visualizarDocumento?id=1200623</a:t>
            </a:r>
          </a:p>
          <a:p>
            <a:r>
              <a:t>CNPJ 62552447000120 · Partes relacionadas e conflitos · Excerto da fonte:</a:t>
            </a:r>
          </a:p>
          <a:p>
            <a:r>
              <a:t>4.10 Nos termos do art. 45, §7º, inciso II, do Anexo Normativo II, a Classe poderá ter até 100% (cem por  cento) de seu Patrimônio Líquido alocado em Direitos Creditórios, derivativos, observado o disposto  abaixo,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62552447000120 · Partes relacionadas e conflitos · Regulamento · ID 1200623 · 2026-05-21 · versão 1 · p. 14 · 4.11 · https://fnet.bmfbovespa.com.br/fnet/publico/visualizarDocumento?id=1200623</a:t>
            </a:r>
          </a:p>
          <a:p>
            <a:r>
              <a:t>CNPJ 62552447000120 · Partes relacionadas e conflitos · Excerto da fonte:</a:t>
            </a:r>
          </a:p>
          <a:p>
            <a:r>
              <a:t>4.11 Sem prejuízo de limites mais restritivos definidos neste Regulamento, o Gestor deverá observar, ainda,  os seguintes limites de concentração para a composição da Carteira:</a:t>
            </a:r>
          </a:p>
          <a:p>
            <a:r>
              <a:t> (i) Até 100% (cem por cento) da parcela do Patrimônio Líquido investida em Direitos  Creditórios poderão ser alocados em Direitos Creditórios originados ou cedidos pelo  Administrador, Gestor e/ou suas partes relacionadas, tal como definidas pelas regras  contábeis que tratam desse assunto . A Classe também poderá ceder Direitos  Creditórios a qualquer das pessoas, f undos de investimento ou entidades ref eridas  acima, desde que a entidade registradora e o Custodiante dos Direitos Creditórios não  sejam partes relacionadas ao Originador ou Endossante;</a:t>
            </a:r>
          </a:p>
          <a:p>
            <a:r>
              <a:t> (ii) Até 100% (cem por cento) da parcela do Patrimônio Líquido investida em Ativos  Financeiros poderão ser alocados em Ativos Financeiros de emissão ou que envolvam  retenção de risco por parte do Administrador, Gestor e/ou suas partes relacionadas; e</a:t>
            </a:r>
          </a:p>
          <a:p>
            <a:r>
              <a:t> (iii) Até 100% (cem por cento) da parcela do Patrimônio Líquido investida em operações  com derivativos poderão ser alocados em operações com derivativos nas quais,  inexistindo contraparte central, se tenha como contraparte o Gestor e/ou suas partes  relacionadas.</a:t>
            </a:r>
          </a:p>
          <a:p>
            <a:r>
              <a:t>CNPJ 62552447000120 · Partes relacionadas e conflitos · Regulamento · ID 1200623 · 2026-05-21 · versão 1 · p. 15 · 4.18 · https://fnet.bmfbovespa.com.br/fnet/publico/visualizarDocumento?id=1200623</a:t>
            </a:r>
          </a:p>
          <a:p>
            <a:r>
              <a:t>CNPJ 62552447000120 · Partes relacionadas e conflitos · Excerto da fonte:</a:t>
            </a:r>
          </a:p>
          <a:p>
            <a:r>
              <a:t>4.18 Ainda que integrem a Carteira, os Ativos Recuperados não serão, sob qualquer hipótese, adquiridos  como parte da Política de Investimento, de forma que serão de sua propriedade exclusivamente, não  devendo, portanto, ser contabilizados para f ins de enquadramento da Classe.</a:t>
            </a:r>
          </a:p>
          <a:p>
            <a:r>
              <a:t>Regras, procedimentos e limites para efetuar qualquer modalidade de transferência dos Direitos Creditórios, incluindo, sem limitação, endosso (“Transferência”) para o Endossante e suas partes relacionadas</a:t>
            </a:r>
          </a:p>
          <a:p>
            <a:r>
              <a:t>CNPJ 62552447000120 · Partes relacionadas e conflitos · Condição: Documentos atuais selecionados no inventário por categoria/escopo; a data documental isolada não comprova vigência jurídica.</a:t>
            </a:r>
          </a:p>
          <a:p>
            <a:r>
              <a:t>CNPJ 62552447000120 · Partes relacionadas e conflitos · Versão e prevalência: Documentos atuais selecionados no inventário por categoria/escopo; a data documental isolada não comprova vigência jurídica.</a:t>
            </a:r>
          </a:p>
          <a:p>
            <a:r>
              <a:t>CNPJ 63953620000165 · Partes relacionadas e conflitos · Anexo ao Regulamento · ID 1222863 · 2026-06-02 · versão 1 · p. 6 · 4.14 · https://fnet.bmfbovespa.com.br/fnet/publico/visualizarDocumento?id=1222863</a:t>
            </a:r>
          </a:p>
          <a:p>
            <a:r>
              <a:t>CNPJ 63953620000165 · Partes relacionadas e conflitos · Excerto da fonte:</a:t>
            </a:r>
          </a:p>
          <a:p>
            <a:r>
              <a:t>4.14 Nos termos do Art. 45, §7º, inciso II, do Anexo Normativo II da Resolução CVM 175, a Classe poderá ter até 100%  (cem por cento) de seu Patrimônio Líquido alocado em Direitos Creditórios, derivativos, observado o disposto  neste Anexo I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63953620000165 · Partes relacionadas e conflitos · Anexo ao Regulamento · ID 1222863 · 2026-06-02 · versão 1 · p. 8 · 4.21 · https://fnet.bmfbovespa.com.br/fnet/publico/visualizarDocumento?id=1222863</a:t>
            </a:r>
          </a:p>
          <a:p>
            <a:r>
              <a:t>CNPJ 63953620000165 · Partes relacionadas e conflitos · Excerto da fonte:</a:t>
            </a:r>
          </a:p>
          <a:p>
            <a:r>
              <a:t>4.21 Ainda que integrem a carteira da Classe, os Ativos Recuperados não serão, sob qualquer hipótese, adquiridos  como parte da Política de Investimento da Classe, de forma que serão de sua propriedade exclusivamente, não  devendo, portanto, ser contabilizados para fins de enquadramento da Classe.</a:t>
            </a:r>
          </a:p>
          <a:p>
            <a:r>
              <a:t> Regras, procedimentos e limites para efetuar o Endosso de Direitos Creditórios Crédito Consignado para o Endossante e  suas partes relacionadas</a:t>
            </a:r>
          </a:p>
          <a:p>
            <a:r>
              <a:t>CNPJ 63953620000165 · Partes relacionadas e conflitos · Anexo ao Regulamento · ID 1222863 · 2026-06-02 · versão 1 · p. 7 · https://fnet.bmfbovespa.com.br/fnet/publico/visualizarDocumento?id=1222863</a:t>
            </a:r>
          </a:p>
          <a:p>
            <a:r>
              <a:t>CNPJ 63953620000165 · Partes relacionadas e conflitos · Excerto da fonte:</a:t>
            </a:r>
          </a:p>
          <a:p>
            <a:r>
              <a:t>Anexo I ao Regulamento  CLASSE CONSIGNADO PRIVADO DO MT GLOBAL FUNDO DE INVESTIMENTO EM DIREITOS  CREDITÓRIOS RESPONSABILIDADE LIMITADA</a:t>
            </a:r>
          </a:p>
          <a:p>
            <a:r>
              <a:t> (i)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 (ii) No máximo, 50% (cinquenta por cento) do Patrimônio Líquido investido em Ativos Financeiros  de Liquidez de emissão ou que envolvam retenção de risco por parte do Administrador, Gestor,  e/ou suas partes relacionadas, observado ainda o disposto acima;</a:t>
            </a:r>
          </a:p>
          <a:p>
            <a:r>
              <a:t> (iii) No máximo, 100% (cem por cento) do Patrimônio Líquido investido em operações com  derivativos nos quais, inexistindo contraparte central, se tenha como contraparte o Gestor,  Consultora e/ou suas partes relacionadas, observado ainda o disposto acima;</a:t>
            </a:r>
          </a:p>
          <a:p>
            <a:r>
              <a:t> (iv) A Classe poderá investir até 100% (cem por cento) de seu Patrimônio Líquido em Direitos  Creditórios Não-Padronizados;</a:t>
            </a:r>
          </a:p>
          <a:p>
            <a:r>
              <a:t> (v) É vedada a aquisição de precatórios federais.</a:t>
            </a:r>
          </a:p>
          <a:p>
            <a:r>
              <a:t>CNPJ 63953620000165 · Partes relacionadas e conflitos · Condição: Documentos atuais selecionados no inventário por categoria/escopo; a data documental isolada não comprova vigência jurídica.</a:t>
            </a:r>
          </a:p>
          <a:p>
            <a:r>
              <a:t>CNPJ 63953620000165 · Partes relacionadas e conflitos · Versão e prevalência: Documentos atuais selecionados no inventário por categoria/escopo; a data documental isolada não comprova vigência jurídica.</a:t>
            </a:r>
          </a:p>
          <a:p>
            <a:r>
              <a:t>CNPJ 54871427000194 · Histórico de alterações materiais · Instrumento Particular de Alteração do Regulamento · ID 670690 · 28/05/2024 · versão Instrumento Particular de Alteração do Regulamento — referência 28/05/2024 · p. 1 · AGC, 4.1–4.2 · https://fnet.bmfbovespa.com.br/fnet/publico/visualizarDocumento?id=670690</a:t>
            </a:r>
          </a:p>
          <a:p>
            <a:r>
              <a:t>CNPJ 54871427000194 · Histórico de alterações materiais · Excerto da fonte:</a:t>
            </a:r>
          </a:p>
          <a:p>
            <a:r>
              <a:t>4.1. A alteração integral do anexo da Classe Única, que compõe o regulamento do Fundo (“Anexo da Classe Única” e “Regulamento”) e seus complementos, para de f orma a alterar a Política de Investimentos da Classe para aquisição de direitos creditórios representados por Certif icados de Cédulas de Crédito Bancário (“CCCBs” e “Direitos Creditórios”), bem como refletir os novos critérios de elegibilidade para aquisição dos Direitos Creditórios, os documentos comprobatórios do lastro e f atores de risco aplicáveis. 4.2. Tendo em vista a aprovação dos itens. acima, deliberaram por aprovar o novo Regulamento Consolidado, que vigorará na forma do Anexo I à presente Ata, o qual terá efeitos retroativos a abertura de 28 de maio de 2024. 4.3. Por f im, por aprovar a Administradora a adotar todas as medidas necessárias para implementação das deliberações acima. 5. ENCERRAMENTO Nada mais havendo a tratar, f oi a reunião encerrada. Rio de Janeiro, 28 de maio de 2024. Mesa: Diego Prado Tassiana Lima Presidente</a:t>
            </a:r>
          </a:p>
          <a:p>
            <a:r>
              <a:t>CNPJ 54871427000194 · Histórico de alterações materiais · Regulamento · ID 670691 · 28/04/2024 · versão Regulamento — referência 28/04/2024 · p. 9 · Regulamento 670691, Anexo I, 4.2 · https://fnet.bmfbovespa.com.br/fnet/publico/visualizarDocumento?id=670691</a:t>
            </a:r>
          </a:p>
          <a:p>
            <a:r>
              <a:t>CNPJ 54871427000194 · Histórico de alterações materiais · Excerto da fonte:</a:t>
            </a:r>
          </a:p>
          <a:p>
            <a:r>
              <a:t>4.2 Os Direitos Creditórios representados por Certif icados de Cédulas de Crédito Bancário (“CCCBs”), representativos de um agrupamento de determinadas CCBs, originadas no âmbito de operações de empréstimos pessoais concedidos por um Endossante a um Devedor, devidamente f ormalizadas por via eletrônica de acordo com a legislação aplicável, segundo os critérios de composição e diversificação estabelecidos pela regulamentação aplicável e neste Regulamento. 4.2.1 Cada Endossante deve ter celebrado convênio com órgão consignante, previamente à cessão de Direitos Creditórios à Classe, que contemplam a obrigação da manutenção da consignação/averbação junto ao novo órgão, de modo a possibilitar o pagamento dos Direitos Creditórios por meio de consignação em f olha de pagamento ou de benef ício . 4.3 Os pagamentos relativos aos Direitos Creditórios de titularidade da Classe serão realizados mediante consignação em folha, débito em conta de titularidade dos Devedores e pagamentos de sinistros, para pagamento dos valores correspondentes às parcelas das CCBs representadas pelos CCCBs de titularidade da Classe, os quais serão conciliados e repassados pelo Endossan</a:t>
            </a:r>
          </a:p>
          <a:p>
            <a:r>
              <a:t>CNPJ 54871427000194 · Histórico de alterações materiais · Condição: A classificação Fundos Net do documento 670690 é “regulamento”, mas seu conteúdo é uma AGC. A divergência de datas impede usar a referência do 670691 como prova autônoma de início de vigência.</a:t>
            </a:r>
          </a:p>
          <a:p>
            <a:r>
              <a:t>CNPJ 54871427000194 · Histórico de alterações materiais · Motivo: Não localizada uma cláusula material para este critério nos textos identificados e processados. A ausência de resultado não comprova inexistência da regra.</a:t>
            </a:r>
          </a:p>
          <a:p>
            <a:r>
              <a:t>CNPJ 54871427000194 · Histórico de alterações materiais · Versão e prevalência: Leitura específica das cláusulas indicadas; condições e conflitos preservados. Seleção documental atual não comprova vigência jurídica por data isolada.</a:t>
            </a:r>
          </a:p>
          <a:p>
            <a:r>
              <a:t>CNPJ 60010416000112 · Histórico de alterações materiais · Demonstrações Financeiras - Fusão, cisão e incorporação · ID 1298690 · 2026-05-08 · versão 1 · p. 30 · https://fnet.bmfbovespa.com.br/fnet/publico/visualizarDocumento?id=1298690</a:t>
            </a:r>
          </a:p>
          <a:p>
            <a:r>
              <a:t>CNPJ 60010416000112 · Histórico de alterações materiais · Excerto da fonte:</a:t>
            </a:r>
          </a:p>
          <a:p>
            <a:r>
              <a:t>Durante o período de investimento, a Administradora poderá deliberar por realizar novas  emissões de Cotas Seniores, sem a necessidade de aprovação em Assembleia Especial de  Cotistas ou alteração do Regulamento, limitadas ao montante máximo de R$ 1.000.000 (um  bilhão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seniores emitidas não sejam superiores aos  prazos de vencimento da primeira emissão.</a:t>
            </a:r>
          </a:p>
          <a:p>
            <a:r>
              <a:t>CNPJ 60010416000112 · Histórico de alterações materiais · Demonstrações Financeiras - Fusão, cisão e incorporação · ID 1298690 · 2026-05-08 · versão 1 · p. 30 · https://fnet.bmfbovespa.com.br/fnet/publico/visualizarDocumento?id=1298690</a:t>
            </a:r>
          </a:p>
          <a:p>
            <a:r>
              <a:t>CNPJ 60010416000112 · Histórico de alterações materiais · Excerto da fonte:</a:t>
            </a:r>
          </a:p>
          <a:p>
            <a:r>
              <a:t>Durante o período de investimento, a Administradora poderá deliberar por realizar novas  emissões de cotas subordinadas, sem a necessidade de aprovação em Assembleia Especial  de Cotistas ou alteração do Regulamento, limitadas ao montante máximo de R$ 50.000  (cinquenta milhões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subordinadas emitidas não sejam  superiores aos prazos de vencimento da primeira emissão.</a:t>
            </a:r>
          </a:p>
          <a:p>
            <a:r>
              <a:t>CNPJ 60010416000112 · Histórico de alterações materiais · Condição: Documentos atuais selecionados no inventário por categoria/escopo; a data documental isolada não comprova vigência jurídica.</a:t>
            </a:r>
          </a:p>
          <a:p>
            <a:r>
              <a:t>CNPJ 60010416000112 · Histórico de alterações materiais · Versão e prevalência: Documentos atuais selecionados no inventário por categoria/escopo; a data documental isolada não comprova vigência jurídica.</a:t>
            </a:r>
          </a:p>
          <a:p>
            <a:r>
              <a:t>CNPJ 60010416000112 · Histórico de alterações materiais · Resumo do histórico: {"count": 5, "dates": ["2025-11-30", "2026-03-18", "2026-04-16"], "document_count": 3, "sources": [{"document_id": "1282181", "title": "Demonstrações Financeiras - Fusão, cisão e incorporação", "reference_date": "2026-04-16", "version": "1", "page": 32, "url": "https://fnet.bmfbovespa.com.br/fnet/publico/visualizarDocumento?id=1282181", "sha256": "b1c6566e43a00bcd00c8a7f30c77b7f86e351bd8e355bbea113f46d1dafda703"}, {"document_id": "1224477", "title": "Demonstrações Financeiras - Fusão, cisão e incorporação", "reference_date": "2026-03-18", "version": "1", "page": 32, "url": "https://fnet.bmfbovespa.com.br/fnet/publico/visualizarDocumento?id=1224477", "sha256": "0751bf0a75bc3b44c2748f5000226665c6ec6698a90c4dc6170b4e6c187759ae"}, {"document_id": "1126154", "title": "Demonstrações Financeiras", "reference_date": "2025-11-30", "version": "1", "page": 32, "url": "https://fnet.bmfbovespa.com.br/fnet/publico/visualizarDocumento?id=1126154", "sha256": "a01e7ccf88c548f12c95cba8526d7efbef6b585c112cd4668eca781c292090b0"}], "reference": {"path": "history/60010416000112.json", "criterion_id": "changes", "total_count": 5, "preview_count": 3, "full_text_deferred": true, "sha256": "8e2bd813f4c51cf01f6bfaad164bafe69d2bbb192f753eac92da3a01c2e63046"}}</a:t>
            </a:r>
          </a:p>
          <a:p>
            <a:r>
              <a:t>CNPJ 62696791000193 · Histórico de alterações materiais · AGE · ID 1143319 · 20/03/2026 10:00 · versão AGE — referência 20/03/2026 10:00 · p. 1 · AGC, 4.1(a)–(c) · https://fnet.bmfbovespa.com.br/fnet/publico/visualizarDocumento?id=1143319</a:t>
            </a:r>
          </a:p>
          <a:p>
            <a:r>
              <a:t>CNPJ 62696791000193 · Histórico de alterações materiais · Excerto da fonte:</a:t>
            </a:r>
          </a:p>
          <a:p>
            <a:r>
              <a:t>4.1. Aprovar a transformação do Fundo, bem como de sua Classe única, em um fundo de investimento nas cadeias produtivas do agronegócio (“Transformação”), nos termos da parte geral e do Anexo Normativo VI da Resolução nº 175 da CVM, de 23 de dezembro de 2022, conforme alterada (“Resolução CVM 175”). a. Aprovar a alteração da denominação do Fundo, que passará a vigorar como BTG PACTUAL CERES CONFINA FUNDO DE INVESTIMENTO NAS CADEIAS PRODUTIVAS DO AGRONEGÓCIO RESPONSABILIDADE LIMITADA, e de sua Classe única, que passará a vigorar como CLASSE ÚNICA DO BTG PACTUAL CERES CONFINA FUNDO DE INVESTIMENTO NAS CADEIAS PRODUTIVAS DO AGRONEGÓCIO RESPONSABILIDADE LIMITADA (“Classe”); b. Aprovar a reforma integral do Regulamento do Fundo, bem como do Anexo descritivo da Classe, para realizar todos os ajustes necessários à implementação da Transformação, incluindo, mas não se limitando, a política de investimentos, o regime tributário e os fatores de risco aplicáveis, conforme itens abaixo; c. Aprovar a alteração do quadro de características gerais do Fundo, considerando a contratação do Cogestor pelo Gestor, nos termos do artigo 52, II, da parte geral da Resolução CVM 175 e no co</a:t>
            </a:r>
          </a:p>
          <a:p>
            <a:r>
              <a:t>CNPJ 62696791000193 · Histórico de alterações materiais · AGE · ID 1143319 · 20/03/2026 10:00 · versão AGE — referência 20/03/2026 10:00 · p. 3 · AGC, 4.1(j)–(k) · https://fnet.bmfbovespa.com.br/fnet/publico/visualizarDocumento?id=1143319</a:t>
            </a:r>
          </a:p>
          <a:p>
            <a:r>
              <a:t>CNPJ 62696791000193 · Histórico de alterações materiais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Histórico de alterações materiais · Instrumento Particular de Emissão de Cotas · ID 1148821 · 27/03/2026 · versão Instrumento Particular de Emissão de Cotas — referência 27/03/2026 · p. 1 · Deliberação Conjunta27/03/2026, item1 · https://fnet.bmfbovespa.com.br/fnet/publico/visualizarDocumento?id=1148821</a:t>
            </a:r>
          </a:p>
          <a:p>
            <a:r>
              <a:t>CNPJ 62696791000193 · Histórico de alterações materiais · Excerto da fonte:</a:t>
            </a:r>
          </a:p>
          <a:p>
            <a:r>
              <a:t>1. Aprovar a 2ª (segunda) emissão da Subclasse Subordinada Júnior da Classe, composta por até 20.000 (vinte mil) Cotas Subordinadas Júnior, com valor nominal unitário de R$ 1.000,00 (mil reais), perfazendo o montante total de R$ 20.000.000,00 (vinte milhões de reais), as quais serão objeto de colocação privada, de acordo com os termos e condições definidos no Apêndice da Subclasse Subordinada Júnior constante do Anexo I Regulamento e descritas abaixo (“2ª Emissão da Subclasse Subordinada Júnior”): a) Rito: as Cotas Subordinadas Júnior objeto da 2ª Emissão da Subclasse Subordinada Júnior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Subordinada Júnior na data de integralização, calculado na forma prevista no respectivo Apêndice; BTG Pactual 1 SAC: 0800 772 28 27 - Ouvidoria: 0800 722 00 48 - btgpactual.com</a:t>
            </a:r>
          </a:p>
          <a:p>
            <a:r>
              <a:t>CNPJ 62696791000193 · Histórico de alterações materiais · Instrumento Particular de Emissão de Cotas · ID 1148821 · 27/03/2026 · versão Instrumento Particular de Emissão de Cotas — referência 27/03/2026 · p. 2 · Deliberação Conjunta, itens2–3 · https://fnet.bmfbovespa.com.br/fnet/publico/visualizarDocumento?id=1148821</a:t>
            </a:r>
          </a:p>
          <a:p>
            <a:r>
              <a:t>CNPJ 62696791000193 · Histórico de alterações materiais · Excerto da fonte:</a:t>
            </a:r>
          </a:p>
          <a:p>
            <a:r>
              <a:t>2. Aprovar a 2ª (segunda) emissão da Subclasse Sênior da Classe, composta por até 150.000 (cento e cinquenta mil) Cotas Seniores, com valor nominal unitário de R$ 1.000,00 (mil reais), perfazendo o montante total de R$ 150.000.000,00 (cento e cinquenta milhões de reais), as quais serão objeto de colocação privada, de acordo com os termos e condições descritos no Apêndice da Subclasse Sênior constante do Anexo I Regulamento e descritas abaixo (“2ª Emissão da Subclasse Sênior”): a) Rito: as Cotas Seniores objeto da 2ª Emissão da Subclasse Sênior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Sênior na data de integralização, calculado na forma prevista no respectivo Apêndice; d) Forma de Integralização: as Cotas Seniores serão integralizadas mediante chamadas de capital, junto ao seu respectivo agente de custódia e/ou da Administradora na qualidade de escriturador das cotas, nos termos d</a:t>
            </a:r>
          </a:p>
          <a:p>
            <a:r>
              <a:t>CNPJ 62696791000193 · Histórico de alterações materiais · Versão e prevalência: Leitura específica das cláusulas indicadas; condições e conflitos preservados. Seleção documental atual não comprova vigência jurídica por data isolada.</a:t>
            </a:r>
          </a:p>
          <a:p>
            <a:r>
              <a:t>CNPJ 55563624000109 · Histórico de alterações materiais · Motivo: Não localizada uma cláusula material para este critério nos textos identificados e processados. A ausência de resultado não comprova inexistência da regra.</a:t>
            </a:r>
          </a:p>
          <a:p>
            <a:r>
              <a:t>CNPJ 62552447000120 · Histórico de alterações materiais · Ato do Administrador · ID 1200625 · 2026-05-21 · versão Ato21/05/2026 · p. 1 · itens1–2 · https://fnet.bmfbovespa.com.br/fnet/publico/visualizarDocumento?id=1200625</a:t>
            </a:r>
          </a:p>
          <a:p>
            <a:r>
              <a:t>CNPJ 62552447000120 · Histórico de alterações materiais · Excerto da fonte:</a:t>
            </a:r>
          </a:p>
          <a:p>
            <a:r>
              <a:t>Ressalta-se que não haverá qualquer alteração nos valores pagos pelos cotistas... Aprovar o novo Anexo I e Regulamento consolidados</a:t>
            </a:r>
          </a:p>
          <a:p>
            <a:r>
              <a:t>CNPJ 62552447000120 · Histórico de alterações materiais · Motivo: Não localizada uma cláusula material para este critério nos textos identificados e processados. A ausência de resultado não comprova inexistência da regra.</a:t>
            </a:r>
          </a:p>
          <a:p>
            <a:r>
              <a:t>CNPJ 62552447000120 · Histórico de alterações materiais · Versão e prevalência: Leitura específica das cláusulas indicadas; condições e conflitos preservados. Seleção documental atual não comprova vigência jurídica por data isolada.</a:t>
            </a:r>
          </a:p>
          <a:p>
            <a:r>
              <a:t>CNPJ 63953620000165 · Histórico de alterações materiais · Anexo ao Regulamento · ID 1222863 · 2026-06-02 · versão 1 · p. 19 · 12.6 · https://fnet.bmfbovespa.com.br/fnet/publico/visualizarDocumento?id=1222863</a:t>
            </a:r>
          </a:p>
          <a:p>
            <a:r>
              <a:t>CNPJ 63953620000165 · Histórico de alterações materiais · Excerto da fonte:</a:t>
            </a:r>
          </a:p>
          <a:p>
            <a:r>
              <a:t>12.6 A Classe contratou a Tudo Serviços S.A., sociedade anônima, com sede no município de Fortaleza, Estado do Ceará,  na Avenida Senador Virgulo Távora, nº 303, Lojas 02, 03, 04, 05, 06 e 19, Meireles, CEP 60.170-265, inscrita no CNPJ  sob o nº 27.852.506/0001-85, cujos deveres, sem prejuízo daqueles estabelecidos neste Regulamento, no  “Contrato de Serviços de Retenção e Cobrança e Outras Avenças”, celebrado entre o Agente de  Retenção/Cobrança e a Classe (“Contrato de Serviços MT”) e no Contrato de Endosso, consistirão no  monitoramento e cobrança dos Direitos Creditórios Inadimplidos, observado o disposto neste Anexo I e na  regulamentação aplicável (“Agente de Retenção/Cobrança”):</a:t>
            </a:r>
          </a:p>
          <a:p>
            <a:r>
              <a:t> (i) caso aplicável, atuar na retenção (defesa) de operações de empréstimo consignado cujos Direitos  Creditórios sejam de titularidade da Classe, em caso de tentativa de transferência de tais operações de  empréstimo consignado por instituições proponentes, nos termos da Resolução CMN nº 5.057, em razão de  ofertas de portabilidade feitas por tais instituições proponentes, conforme informado pelo Endossante ou pelo  Custodiante ao Agente de Retenção/Cobrança, diariamente, de acordo com o Contrato de Endosso; sendo  que tal serviço deverá incluir, entre outras atividades auxiliares a ele relacionadas, a avaliação das ofertas de  portabilidade feitas pelas instituições proponentes, buscando, se for o caso, esclarecer as vantagens de não  recorrer à portabilidade, retendo a respectiva operação de empréstimo consignado em seus termos atuais;</a:t>
            </a:r>
          </a:p>
          <a:p>
            <a:r>
              <a:t> (ii) mediante inadimplemento de um Direito Creditório devido à indisponibilidade da margem de crédito do  Devedor, auxiliar o Endossante com o Processo de Reinicialização (conforme detalhado no Contrato de  Endosso) em relação ao respectivo Direito Creditório;</a:t>
            </a:r>
          </a:p>
          <a:p>
            <a:r>
              <a:t> (iii) manter e operar um serviço de atendimento ao consumidor - SAC e uma ouvidoria em conformidade  com os regulamentos aplicáveis, monitorar e resolver reclamações e solicitações de Devedores com  relação às operações de empréstimo consignado que dão origem aos Direitos Creditórios, em  conformidade com o Acordo de Parceria;</a:t>
            </a:r>
          </a:p>
          <a:p>
            <a:r>
              <a:t> (iv) realizar a cobrança dos Direitos Creditórios Inadimplidos;</a:t>
            </a:r>
          </a:p>
          <a:p>
            <a:r>
              <a:t> (v) auxiliar o Endossante na correção de qualquer irregularidade relevante identificada com relação à  originação dos Direitos Creditórios;</a:t>
            </a:r>
          </a:p>
          <a:p>
            <a:r>
              <a:t> (vi) realizar a renegociação junto aos Devedores de Direitos Creditórios Inadimplidos e, caso aplicável, celebrar  aditamento à CCB para refletir os novos termos, decorrentes da renegociação  CAPÍTULO 13 – REMUNERAÇÃO DOS PRESTADORES DE SERVIÇOS  0,05% (cinco centésimos por cento) ao ano, apropriada diariamente na base de 252  (duzentos e cinquenta e dois) Dias Úteis, e paga mensalmente até o 5º (quinto) Dia  Útil do mês subsequente ao mês que se refere, incidente sobre o Patrimônio Líquido  da Classe alocado em Direitos Creditórios Consignado Privado e/ou Ativos de  Liquidez MT, observada remuneração mínima mensal de R$ 2.500,00 (dois mil e  quinhentos reais), a ser corrigida anualmente, em janeiro de cada ano, pela variação  Taxa de Administração  positiva do Índice Geral de Preços – Mercado, divulgado pela Fundação Getúlio  Vargas (“Taxa de Administração” e “IGP-M”, respectivamente).</a:t>
            </a:r>
          </a:p>
          <a:p>
            <a:r>
              <a:t> Na hipótese de extinção do IGP-M, não divulgação ou impossibilidade de sua  utilização, será utilizado o Índice Geral de Preços – Disponibilidade Interna,  divulgado pela Fundação Getúlio Vargas, ou, na falta de ambos, pela variação do IPC  – Índice de Preços ao Consumidor, divulgado pela Fundação Instituto de Pesquisas</a:t>
            </a:r>
          </a:p>
          <a:p>
            <a:r>
              <a:t>CNPJ 63953620000165 · Histórico de alterações materiais · Condição: Documentos atuais selecionados no inventário por categoria/escopo; a data documental isolada não comprova vigência jurídica.</a:t>
            </a:r>
          </a:p>
          <a:p>
            <a:r>
              <a:t>CNPJ 63953620000165 · Histórico de alterações materiais · Versão e prevalência: Documentos atuais selecionados no inventário por categoria/escopo; a data documental isolada não comprova vigência jurídica.</a:t>
            </a:r>
          </a:p>
          <a:p>
            <a:r>
              <a:t>CNPJ 54871427000194 · Auditor independente e DFs · Demonstrações Financeiras - Fusão, cisão e incorporação · ID 1219522 · 2026-02-02 · versão 1 · p. 23 · https://fnet.bmfbovespa.com.br/fnet/publico/visualizarDocumento?id=1219522</a:t>
            </a:r>
          </a:p>
          <a:p>
            <a:r>
              <a:t>CNPJ 54871427000194 · Auditor independente e DFs · Excerto da fonte:</a:t>
            </a:r>
          </a:p>
          <a:p>
            <a:r>
              <a:t>x) Possibilidade de aquisição de Direitos Creditórios cedidos por Endossante e/ou devidos por  Devedores cujas demonstrações financeiras não sejam auditadas. A Classe, desde que sejam  respeitados os limites de concentração previstos no Regulamento, poderá manter a qualquer  tempo em sua Carteira, Direitos Creditórios cedidos por Endossante e/ou devidos por Devedores  cujas demonstrações financeiras não sejam auditadas por Auditor Independente registrado na</a:t>
            </a:r>
          </a:p>
          <a:p>
            <a:r>
              <a:t>CNPJ 54871427000194 · Auditor independente e DFs · Demonstrações Financeiras - Fusão, cisão e incorporação · ID 1219522 · 2026-02-02 · versão 1 · p. 2 · https://fnet.bmfbovespa.com.br/fnet/publico/visualizarDocumento?id=1219522</a:t>
            </a:r>
          </a:p>
          <a:p>
            <a:r>
              <a:t>CNPJ 54871427000194 · Auditor independente e DFs · Excerto da fonte:</a:t>
            </a:r>
          </a:p>
          <a:p>
            <a:r>
              <a:t>Classe Única de Responsabilidade Limitada do Consignado Delta Receivables I Fundo de Investimento em  Direitos Creditórios  Demonstrações financeiras em  2 de fevereiro de 2026 (data da incorporação da Classe)</a:t>
            </a:r>
          </a:p>
          <a:p>
            <a:r>
              <a:t>CNPJ 54871427000194 · Auditor independente e DFs · Demonstrações Financeiras - Fusão, cisão e incorporação · ID 1219522 · 2026-02-02 · versão 1 · p. 3 · https://fnet.bmfbovespa.com.br/fnet/publico/visualizarDocumento?id=1219522</a:t>
            </a:r>
          </a:p>
          <a:p>
            <a:r>
              <a:t>CNPJ 54871427000194 · Auditor independente e DFs · Excerto da fonte:</a:t>
            </a:r>
          </a:p>
          <a:p>
            <a:r>
              <a:t>Examinamos as demonstrações financeiras da Classe Única de Responsabilidade Limitada do  Consignado Delta Receivables I Fundo de Investimento em Direitos Creditórios (“Classe”),  administrada pela BTG Pactual Serviços Financeiros S.A. Distribuidora de Títulos e Valores Mobiliários  (“Administradora”), que compreendem a demonstração da posição financeira em 2 de fevereiro de  2026 e as respectivas demonstrações do resultado e do resultado abrangente, das evoluções do  patrimônio líquido e dos fluxos de caixa para o período de 1° de janeiro de 2026 (data de início do  exercício social da Classe) a 2 de fevereiro de 2026 (data da incorporação da Classe), bem como as  correspondentes notas explicativas, incluindo as políticas contábeis materiais e outras informações  elucidativas.</a:t>
            </a:r>
          </a:p>
          <a:p>
            <a:r>
              <a:t> Em nossa opinião, as demonstrações financeiras acima referidas apresentam adequadamente, em  todos os aspectos relevantes, a posição patrimonial e financeira da Classe Única de Responsabilidade  Limitada do Consignado Delta Receivables I Fundo de Investimento em Direitos Creditórios em 2 de  fevereiro de 2026 e o desempenho de suas operações e os seus fluxos de caixa para o período de 1°  de janeiro de 2026 a 2 de fevereiro de 2026, de acordo com as práticas contábeis adotadas no Brasil  aplicáveis aos fundos de investimento em direitos creditórios.</a:t>
            </a:r>
          </a:p>
          <a:p>
            <a:r>
              <a:t>CNPJ 54871427000194 · Auditor independente e DFs · Condição: Documentos atuais selecionados no inventário por categoria/escopo; a data documental isolada não comprova vigência jurídica.</a:t>
            </a:r>
          </a:p>
          <a:p>
            <a:r>
              <a:t>CNPJ 54871427000194 · Auditor independente e DFs · Versão e prevalência: Documentos atuais selecionados no inventário por categoria/escopo; a data documental isolada não comprova vigência jurídica.</a:t>
            </a:r>
          </a:p>
          <a:p>
            <a:r>
              <a:t>CNPJ 54871427000194 · Auditor independente e DFs · Resumo do histórico: {"count": 6, "dates": ["2025-01-01", "2025-04-15", "2025-12-31"], "document_count": 3, "sources": [{"document_id": "1151805", "title": "Demonstrações Financeiras", "reference_date": "2025-12-31", "version": "1", "page": 23, "url": "https://fnet.bmfbovespa.com.br/fnet/publico/visualizarDocumento?id=1151805", "sha256": "f1cea70b152968bf96ef9221b27225953cb20aeef487b2798db3c25e11b528d4"}, {"document_id": "883217", "title": "AGO", "reference_date": "2025-04-15", "version": "1", "page": 1, "url": "https://fnet.bmfbovespa.com.br/fnet/publico/visualizarDocumento?id=883217", "sha256": "233467aa4aa6265d253b610668cde19344ec99af4adf4df934c6a1bd88b9a044"}, {"document_id": "869529", "title": "Demonstrações Financeiras", "reference_date": "2025-01-01", "version": "1", "page": 23, "url": "https://fnet.bmfbovespa.com.br/fnet/publico/visualizarDocumento?id=869529", "sha256": "9a93a9369ac8efdbc54ff8fcee3ccac3abf88edab4807b9323d3852450771b2a"}], "reference": {"path": "history/54871427000194.json", "criterion_id": "audit", "total_count": 6, "preview_count": 3, "full_text_deferred": true, "sha256": "35d7cd99be50c7287c9fb675cf4f2e736002315295a225a9efa79c8d9186d874"}}</a:t>
            </a:r>
          </a:p>
          <a:p>
            <a:r>
              <a:t>CNPJ 60010416000112 · Auditor independente e DFs · AGE · ID 1313936 · 2026-08-31 · versão 1 · p. 1 · https://fnet.bmfbovespa.com.br/fnet/publico/visualizarDocumento?id=1313936</a:t>
            </a:r>
          </a:p>
          <a:p>
            <a:r>
              <a:t>CNPJ 60010416000112 · Auditor independente e DFs · Excerto da fonte:</a:t>
            </a:r>
          </a:p>
          <a:p>
            <a:r>
              <a:t>(d) Fica a Administradora autorizada a levantar, na Data da Cisão, demonstrações contábeis da  Classe, as quais darão suporte à realização da Cisão ora deliberada. As demonstrações contábeis  deverão ser auditadas, em conformidade com o art. 120, da Parte Geral, da Resolução CVM 175;</a:t>
            </a:r>
          </a:p>
          <a:p>
            <a:r>
              <a:t>CNPJ 60010416000112 · Auditor independente e DFs · Condição: Documentos atuais selecionados no inventário por categoria/escopo; a data documental isolada não comprova vigência jurídica.</a:t>
            </a:r>
          </a:p>
          <a:p>
            <a:r>
              <a:t>CNPJ 60010416000112 · Auditor independente e DFs · Versão e prevalência: Documentos atuais selecionados no inventário por categoria/escopo; a data documental isolada não comprova vigência jurídica.</a:t>
            </a:r>
          </a:p>
          <a:p>
            <a:r>
              <a:t>CNPJ 60010416000112 · Auditor independente e DFs · Resumo do histórico: {"count": 11, "dates": ["2026-04-16", "2026-05-08", "2026-07-29"], "document_count": 3, "sources": [{"document_id": "1277540", "title": "AGE", "reference_date": "2026-07-29", "version": "1", "page": 1, "url": "https://fnet.bmfbovespa.com.br/fnet/publico/visualizarDocumento?id=1277540", "sha256": "7a9b65092af34917f99f22b62eb7d248d67149b9c91dd87b07b924b9601ee9b0"}, {"document_id": "1298690", "title": "Demonstrações Financeiras - Fusão, cisão e incorporação", "reference_date": "2026-05-08", "version": "1", "page": 1, "url": "https://fnet.bmfbovespa.com.br/fnet/publico/visualizarDocumento?id=1298690", "sha256": "d979f7f7cf866a68b7fbc65c46fd726b7bcc13f9d0b809190857a9b465be7be2"}, {"document_id": "1282181", "title": "Demonstrações Financeiras - Fusão, cisão e incorporação", "reference_date": "2026-04-16", "version": "1", "page": 1, "url": "https://fnet.bmfbovespa.com.br/fnet/publico/visualizarDocumento?id=1282181", "sha256": "b1c6566e43a00bcd00c8a7f30c77b7f86e351bd8e355bbea113f46d1dafda703"}], "reference": {"path": "history/60010416000112.json", "criterion_id": "audit", "total_count": 11, "preview_count": 3, "full_text_deferred": true, "sha256": "8e2bd813f4c51cf01f6bfaad164bafe69d2bbb192f753eac92da3a01c2e63046"}}</a:t>
            </a:r>
          </a:p>
          <a:p>
            <a:r>
              <a:t>CNPJ 62696791000193 · Auditor independente e DFs · Regulamento · ID 1143317 · 2026-03-20 · versão 1 · p. 5 · 4.1.7 · https://fnet.bmfbovespa.com.br/fnet/publico/visualizarDocumento?id=1143317</a:t>
            </a:r>
          </a:p>
          <a:p>
            <a:r>
              <a:t>CNPJ 62696791000193 · Auditor independente e DFs · Excerto da fonte:</a:t>
            </a:r>
          </a:p>
          <a:p>
            <a:r>
              <a:t>4.1.7 As demonstrações contábeis cujo relatório de auditoria não contiver opinião modificada podem  ser consideradas automaticamente aprovadas caso a assembleia correspondente não seja  instalada em virtude do não comparecimento de quaisquer Cotistas.</a:t>
            </a:r>
          </a:p>
          <a:p>
            <a:r>
              <a:t>CNPJ 62696791000193 · Auditor independente e DFs · Regulamento · ID 1143317 · 2026-03-20 · versão 1 · p. 23 · 10.12 · https://fnet.bmfbovespa.com.br/fnet/publico/visualizarDocumento?id=1143317</a:t>
            </a:r>
          </a:p>
          <a:p>
            <a:r>
              <a:t>CNPJ 62696791000193 · Auditor independente e DFs · Excerto da fonte:</a:t>
            </a:r>
          </a:p>
          <a:p>
            <a:r>
              <a:t>10.12 O representante dos Cotistas será eleito com prazo de mandato a se encerrar na próxima Assembleia  de Cotistas que deliberar sobre a aprovação de demonstrações contábeis do Fundo, sendo permitida  a reeleição.</a:t>
            </a:r>
          </a:p>
          <a:p>
            <a:r>
              <a:t>CNPJ 62696791000193 · Auditor independente e DFs · Condição: Documentos atuais selecionados no inventário por categoria/escopo; a data documental isolada não comprova vigência jurídica.</a:t>
            </a:r>
          </a:p>
          <a:p>
            <a:r>
              <a:t>CNPJ 62696791000193 · Auditor independente e DFs · Versão e prevalência: Documentos atuais selecionados no inventário por categoria/escopo; a data documental isolada não comprova vigência jurídica.</a:t>
            </a:r>
          </a:p>
          <a:p>
            <a:r>
              <a:t>CNPJ 55563624000109 · Auditor independente e DFs · Regulamento · ID 1192614 · 2026-04-30 · versão 1 · p. 24 · 12.3 · https://fnet.bmfbovespa.com.br/fnet/publico/visualizarDocumento?id=1192614</a:t>
            </a:r>
          </a:p>
          <a:p>
            <a:r>
              <a:t>CNPJ 55563624000109 · Auditor independente e DFs · Excerto da fonte:</a:t>
            </a:r>
          </a:p>
          <a:p>
            <a:r>
              <a:t>12.3 Incluem-se entre as obrigações do ADMINISTRADOR, sem prejuízo de outras previstas na regulamentação:</a:t>
            </a:r>
          </a:p>
          <a:p>
            <a:r>
              <a:t> (i) sem prejuízo da observância dos procedimentos relativos às demonstrações contábeis, manter,  separadamente, registros com informações completas sobre toda e qualquer modalidade de negociação  realizada entre o ADMINISTRADOR, GESTOR, CUSTODIANTE, e/ou suas respectivas partes relacionadas,  tais como definidas pelas regras contábeis que tratam desse assunto, de um lado; e a Classe, de outro;</a:t>
            </a:r>
          </a:p>
          <a:p>
            <a:r>
              <a:t> (ii) diligenciar para que sejam mantidos, às suas expensas, atualizados e em perfeita ordem:</a:t>
            </a:r>
          </a:p>
          <a:p>
            <a:r>
              <a:t> (a) o registro de Cotistas;</a:t>
            </a:r>
          </a:p>
          <a:p>
            <a:r>
              <a:t> (b) o livro de atas das Assembleias de Cotistas;</a:t>
            </a:r>
          </a:p>
          <a:p>
            <a:r>
              <a:t> (c) o livro ou lista de presença de Cotistas;</a:t>
            </a:r>
          </a:p>
          <a:p>
            <a:r>
              <a:t> (d) os pareceres do Auditor Independente; e</a:t>
            </a:r>
          </a:p>
          <a:p>
            <a:r>
              <a:t> (e) os registros contábeis referentes às operações e ao patrimônio da Classe;</a:t>
            </a:r>
          </a:p>
          <a:p>
            <a:r>
              <a:t> (iii) pagar a multa cominatória às suas expensas, nos termos da legislação vigente, por cada dia de atraso no  cumprimento dos prazos previstos na regulamentação aplicável;</a:t>
            </a:r>
          </a:p>
          <a:p>
            <a:r>
              <a:t> (iv) elaborar e divulgar as informações periódicas e eventuais da Classe, nos termos deste Anexo e da  regulamentação e da autorregulação em vigor;</a:t>
            </a:r>
          </a:p>
          <a:p>
            <a:r>
              <a:t> (v) manter atualizada junto à CVM a lista de todos os prestadores de serviços contratados pela Classe,  inclusive os Prestadores de Serviços Essenciais, bem como as demais informações cadastrais da Classe e  suas Subclasses;</a:t>
            </a:r>
          </a:p>
          <a:p>
            <a:r>
              <a:t> (vi) manter serviço de atendimento aos Cotistas, responsável pelo esclarecimento de dúvidas e pelo  recebimento de reclamações;</a:t>
            </a:r>
          </a:p>
          <a:p>
            <a:r>
              <a:t> (vii) receber e processar os pedidos de resgate;</a:t>
            </a:r>
          </a:p>
          <a:p>
            <a:r>
              <a:t> (viii) monitorar os Eventos de Verificação do Patrimônio;</a:t>
            </a:r>
          </a:p>
          <a:p>
            <a:r>
              <a:t> (ix) monitorar os Eventos de Avaliação e Eventos de Liquidação;</a:t>
            </a:r>
          </a:p>
          <a:p>
            <a:r>
              <a:t> (x) observar as disposições constantes do Regulamento;</a:t>
            </a:r>
          </a:p>
          <a:p>
            <a:r>
              <a:t> (xi) cumprir as deliberações da Assembleia de Cotistas; e</a:t>
            </a:r>
          </a:p>
          <a:p>
            <a:r>
              <a:t> (xii) observar as disposições do Código ANBIMA e das Regras e Procedimentos ANBIMA</a:t>
            </a:r>
          </a:p>
          <a:p>
            <a:r>
              <a:t>CNPJ 55563624000109 · Auditor independente e DFs · Regulamento · ID 1192614 · 2026-04-30 · versão 1 · p. 4 · 4.6.1 · https://fnet.bmfbovespa.com.br/fnet/publico/visualizarDocumento?id=1192614</a:t>
            </a:r>
          </a:p>
          <a:p>
            <a:r>
              <a:t>CNPJ 55563624000109 · Auditor independente e DFs · Excerto da fonte:</a:t>
            </a:r>
          </a:p>
          <a:p>
            <a:r>
              <a:t>4.6.1 As deliberações relativas às matérias elencadas nos incisos abaixo serão tomadas, em primeira  convocação ou em segunda convocação, conforme os quóruns dispostos abaixo, em sede assembleia  geral de cotistas ou de assembleia especial de cotistas, conforme o caso:</a:t>
            </a:r>
          </a:p>
          <a:p>
            <a:r>
              <a:t> MATÉRIA SUJEITA À APROVAÇÃO QUÓRUM DE DELIBERAÇÃO</a:t>
            </a:r>
          </a:p>
          <a:p>
            <a:r>
              <a:t> (i) aprovação das demonstrações contábeis do FUNDO; Maioria do total das Cotas emitidas</a:t>
            </a:r>
          </a:p>
          <a:p>
            <a:r>
              <a:t>CNPJ 55563624000109 · Auditor independente e DFs · Regulamento · ID 1192614 · 2026-04-30 · versão 1 · p. 10 · 3.1 · https://fnet.bmfbovespa.com.br/fnet/publico/visualizarDocumento?id=1192614</a:t>
            </a:r>
          </a:p>
          <a:p>
            <a:r>
              <a:t>CNPJ 55563624000109 · Auditor independente e DFs · Excerto da fonte:</a:t>
            </a:r>
          </a:p>
          <a:p>
            <a:r>
              <a:t>3.1 A Classe terá Encargos que lhe poderão ser debitados diretamente, nos termos da Resolução CVM 175, e  quaisquer despesas que não constituam Encargos correm por conta do Prestador de Serviço Essencial que a tiver  contratado, incluindo, sem se limitar a:</a:t>
            </a:r>
          </a:p>
          <a:p>
            <a:r>
              <a:t> (i) Taxa de performance, se houver;</a:t>
            </a:r>
          </a:p>
          <a:p>
            <a:r>
              <a:t> (ii) Taxas, impostos ou contribuições federais, estaduais, municipais ou autárquicas, que recaiam ou  venham a recair sobre os bens, direitos e obrigações da Classe;</a:t>
            </a:r>
          </a:p>
          <a:p>
            <a:r>
              <a:t> (iii) Despesas com o registro de documentos, impressão, expedição e publicação de relatórios e informações  periódicas previstas na Resolução CVM 175;</a:t>
            </a:r>
          </a:p>
          <a:p>
            <a:r>
              <a:t> (iv) Despesas com correspondências de interesse do FUNDO ou da Classe, inclusive comunicações aos  Cotistas;</a:t>
            </a:r>
          </a:p>
          <a:p>
            <a:r>
              <a:t> (v) Honorários e despesas do Auditor Independente;</a:t>
            </a:r>
          </a:p>
          <a:p>
            <a:r>
              <a:t> BTG Pactual  SAC: 0800 772 28 27 - Ouvidoria: 0800 722 00 48 - btgpactual.com  3</a:t>
            </a:r>
          </a:p>
          <a:p>
            <a:r>
              <a:t>CNPJ 55563624000109 · Auditor independente e DFs · Condição: Documentos atuais selecionados no inventário por categoria/escopo; a data documental isolada não comprova vigência jurídica.</a:t>
            </a:r>
          </a:p>
          <a:p>
            <a:r>
              <a:t>CNPJ 55563624000109 · Auditor independente e DFs · Versão e prevalência: Documentos atuais selecionados no inventário por categoria/escopo; a data documental isolada não comprova vigência jurídica.</a:t>
            </a:r>
          </a:p>
          <a:p>
            <a:r>
              <a:t>CNPJ 55563624000109 · Auditor independente e DFs · Resumo do histórico: {"count": 2, "dates": ["2025-01-31", "2026-01-31"], "document_count": 2, "sources": [{"document_id": "1178840", "title": "Demonstrações Financeiras", "reference_date": "2026-01-31", "version": "1", "page": 4, "url": "https://fnet.bmfbovespa.com.br/fnet/publico/visualizarDocumento?id=1178840", "sha256": "c458e98664c5c907ddb5a05a94b120bed4e05295b2bfc420f5ba69af0a229abe"}, {"document_id": "891861", "title": "Demonstrações Financeiras", "reference_date": "2025-01-31", "version": "1", "page": 2, "url": "https://fnet.bmfbovespa.com.br/fnet/publico/visualizarDocumento?id=891861", "sha256": "e9cb9e6ddbe505fe068cfcac33605165a98313489de0d3ce6d4d238263c3f3e7"}], "reference": {"path": "history/55563624000109.json", "criterion_id": "audit", "total_count": 2, "preview_count": 2, "full_text_deferred": true, "sha256": "7835d573fb58a3c19adf5b8ecc2aee2bdbb9a88f7a0c0209b5f262b64c7522e3"}}</a:t>
            </a:r>
          </a:p>
          <a:p>
            <a:r>
              <a:t>CNPJ 62552447000120 · Auditor independente e DFs · Regulamento · ID 1200623 · 2026-05-21 · versão 1 · p. 4 · 4.1.6 · https://fnet.bmfbovespa.com.br/fnet/publico/visualizarDocumento?id=1200623</a:t>
            </a:r>
          </a:p>
          <a:p>
            <a:r>
              <a:t>CNPJ 62552447000120 · Auditor independente e DFs · Excerto da fonte:</a:t>
            </a:r>
          </a:p>
          <a:p>
            <a:r>
              <a:t>4.1.6 As demonstrações contábeis cujo relatório de auditoria não contiver opinião modificada podem  ser consideradas automaticamente aprovadas caso a Assembleia Geral correspondente não  seja instalada em virtude do não comparecimento de quaisquer Cotistas.</a:t>
            </a:r>
          </a:p>
          <a:p>
            <a:r>
              <a:t>CNPJ 62552447000120 · Auditor independente e DFs · Regulamento · ID 1200623 · 2026-05-21 · versão 1 · p. 29 · 12.16 · https://fnet.bmfbovespa.com.br/fnet/publico/visualizarDocumento?id=1200623</a:t>
            </a:r>
          </a:p>
          <a:p>
            <a:r>
              <a:t>CNPJ 62552447000120 · Auditor independente e DFs · Excerto da fonte:</a:t>
            </a:r>
          </a:p>
          <a:p>
            <a:r>
              <a:t>12.16 Os serviços de auditoria das demonstrações f inanceiras e demais contas da Classe serão prestados  por Auditor Independente contratado pelo Administrador. Pelos serviços prestados, o Auditor  Independente f ará jus ao recebimento de remuneração a ser def inida em contrato específico, a qual  será paga pela Classe.</a:t>
            </a:r>
          </a:p>
          <a:p>
            <a:r>
              <a:t>CAPÍTULO 13 – TAXA GLOBAL</a:t>
            </a:r>
          </a:p>
          <a:p>
            <a:r>
              <a:t>CNPJ 62552447000120 · Auditor independente e DFs · Condição: Documentos atuais selecionados no inventário por categoria/escopo; a data documental isolada não comprova vigência jurídica.</a:t>
            </a:r>
          </a:p>
          <a:p>
            <a:r>
              <a:t>CNPJ 62552447000120 · Auditor independente e DFs · Versão e prevalência: Documentos atuais selecionados no inventário por categoria/escopo; a data documental isolada não comprova vigência jurídica.</a:t>
            </a:r>
          </a:p>
          <a:p>
            <a:r>
              <a:t>CNPJ 63953620000165 · Auditor independente e DFs · Anexo ao Regulamento · ID 1222863 · 2026-06-02 · versão 1 · p. 4 · 3.4 · https://fnet.bmfbovespa.com.br/fnet/publico/visualizarDocumento?id=1222863</a:t>
            </a:r>
          </a:p>
          <a:p>
            <a:r>
              <a:t>CNPJ 63953620000165 · Auditor independente e DFs · Excerto da fonte:</a:t>
            </a:r>
          </a:p>
          <a:p>
            <a:r>
              <a:t>3.4 Adicionalmente aos Encargos, as seguintes despesas serão debitadas diretamente da Classe, nos termos do art.</a:t>
            </a:r>
          </a:p>
          <a:p>
            <a:r>
              <a:t> 51 do Anexo Normativo II da Resolução CVM 175 (“Despesas Adicionais”):</a:t>
            </a:r>
          </a:p>
          <a:p>
            <a:r>
              <a:t> (i) Despesas com registro de Direitos Creditórios;</a:t>
            </a:r>
          </a:p>
          <a:p>
            <a:r>
              <a:t> (ii) Despesas com serviços de originação, cobranças ordinária e/ou extraordinária dos Direitos Creditórios,  e/ou verificação de lastro dos Direitos Creditórios, conforme aplicável;</a:t>
            </a:r>
          </a:p>
          <a:p>
            <a:r>
              <a:t> (iii) Despesas com a contratação de atividades relacionadas à verificação de lastro;</a:t>
            </a:r>
          </a:p>
          <a:p>
            <a:r>
              <a:t> (iv) Despesas com a contratação de Agente de Retenção/Cobrança; Despesas com a contratação de  consultoria especializada, conforme o caso;</a:t>
            </a:r>
          </a:p>
          <a:p>
            <a:r>
              <a:t> (v) Remuneração do Custodiante;</a:t>
            </a:r>
          </a:p>
          <a:p>
            <a:r>
              <a:t> (vi) Despesas com honorários advocatícios para quaisquer assuntos de interesse da Classe, seja na esfera  judicial ou extrajudicial, inclusive consultivo;</a:t>
            </a:r>
          </a:p>
          <a:p>
            <a:r>
              <a:t> (vii) Despesas com a assinatura e registro dos Termos de Endosso, conforme aplicável, junto aos  competentes cartórios de Registro de Títulos e Documentos;</a:t>
            </a:r>
          </a:p>
          <a:p>
            <a:r>
              <a:t> (viii) Despesas inerentes à distribuição primária de Cotas, inclusive a contratação e remuneração do  distribuidor das Cotas para cada oferta de Cotas da Classe, nos termos de cada contrato de distribuição  e honorários devidos ao(s) assessor(es) legal(is) de cada oferta, assim como despesas com o registro das  Cotas na CVM, ANBIMA e/ou na entidade de mercado organizado em que as cotas sejam registradas,  conforme aplicável;</a:t>
            </a:r>
          </a:p>
          <a:p>
            <a:r>
              <a:t> (ix) Taxas de fiscalização da CVM e/ou ANBIMA, conforme aplicável; e</a:t>
            </a:r>
          </a:p>
          <a:p>
            <a:r>
              <a:t> (x) Despesas com contratação e remuneração do Auditor Independente e da Agência Classificadora de  Risco.</a:t>
            </a:r>
          </a:p>
          <a:p>
            <a:r>
              <a:t>CNPJ 63953620000165 · Auditor independente e DFs · Condição: Documentos atuais selecionados no inventário por categoria/escopo; a data documental isolada não comprova vigência jurídica.</a:t>
            </a:r>
          </a:p>
          <a:p>
            <a:r>
              <a:t>CNPJ 63953620000165 · Auditor independente e DFs · Motivo: Cláusula primária localizada e citada, mas sua lista/condições extensas não admitem uma síntese literal curta confirmada. O trecho integral permanece nas fontes.</a:t>
            </a:r>
          </a:p>
          <a:p>
            <a:r>
              <a:t>CNPJ 63953620000165 · Auditor independente e DFs · Versão e prevalência: Documentos atuais selecionados no inventário por categoria/escopo; a data documental isolada não comprova vigência jurídica.</a:t>
            </a:r>
          </a:p>
          <a:p>
            <a:r>
              <a:t>CNPJ 63953620000165 · Auditor independente e DFs · Resumo do histórico: {"count": 8, "dates": ["2026-04-28", "2026-05-08", "2026-05-15"], "document_count": 3, "sources": [{"document_id": "1327859", "title": "Demonstrações Financeiras - Fusão, cisão e incorporação", "reference_date": "2026-05-15", "version": "1", "page": 1, "url": "https://fnet.bmfbovespa.com.br/fnet/publico/visualizarDocumento?id=1327859", "sha256": "dca1c68babb97f887528c3e2e47596a9c30f507b067981a35655b2f2da9c8054"}, {"document_id": "1298691", "title": "Demonstrações Financeiras - Fusão, cisão e incorporação", "reference_date": "2026-05-08", "version": "1", "page": 1, "url": "https://fnet.bmfbovespa.com.br/fnet/publico/visualizarDocumento?id=1298691", "sha256": "58c570d9b8d4d265330d3db3ea81c435b8e44a6dab4002aa37790652a1ee9819"}, {"document_id": "1282180", "title": "Demonstrações Financeiras - Fusão, cisão e incorporação", "reference_date": "2026-04-28", "version": "1", "page": 1, "url": "https://fnet.bmfbovespa.com.br/fnet/publico/visualizarDocumento?id=1282180", "sha256": "afaaa0e6809be4385e5bdb6c911aac582032c5bdbac3d7750234bf9eaf00438a"}], "reference": {"path": "history/63953620000165.json", "criterion_id": "audit",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Governança e alterações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Quóruns e matérias reservadas · Regulamento · ID 670691 · 28/04/2024 · versão Regulamento — referência 28/04/2024 · p. 4 · Parte Geral, 4.4–4.4.1 · https://fnet.bmfbovespa.com.br/fnet/publico/visualizarDocumento?id=670691</a:t>
            </a:r>
          </a:p>
          <a:p>
            <a:r>
              <a:t>CNPJ 54871427000194 · Quóruns e matérias reservadas · Excerto da fonte:</a:t>
            </a:r>
          </a:p>
          <a:p>
            <a:r>
              <a:t>4.4 Ressalvadas as exceções descritas neste Regulamento, toda e qualquer matéria submetida à deliberação dos cotistas deverá ser aprovada por maioria dos votos dos presentes. 4.4.1 As deliberações relativas às matérias elencadas nos incisos abaixo serão tomadas, em primeira convocação ou em segunda convocação, pelos votos dos titulares da maioria das cotas em circulação, em sede assembleia geral de cotistas ou de assembleia especial de cotistas, conf orme o caso: (i) aprovação das demonstrações contábeis do FUNDO; (ii) alteração da Parte Geral deste Regulamento; (iii) substituição ou remoção do Prestador de Serviços Essenciais do FUNDO, ressalvada a possibilidade prevista no Art. 70, §1º, da Parte Geral da Resolução CVM 175; (iv) alterações nos quóruns de deliberação def inidos neste Regulamento; (v) cobrança de taxas e encargos pelo ADMINISTRADOR, de qualquer natureza, que não estejam expressamente previstos neste Regulamento; (vi) liquidação do FUNDO. (vii) plano de resolu</a:t>
            </a:r>
          </a:p>
          <a:p>
            <a:r>
              <a:t>CNPJ 54871427000194 · Quóruns e matérias reservadas · Regulamento · ID 670691 · 28/04/2024 · versão Regulamento — referência 28/04/2024 · p. 17 · Anexo I, 10.1 · https://fnet.bmfbovespa.com.br/fnet/publico/visualizarDocumento?id=670691</a:t>
            </a:r>
          </a:p>
          <a:p>
            <a:r>
              <a:t>CNPJ 54871427000194 · Quóruns e matérias reservadas · Excerto da fonte:</a:t>
            </a:r>
          </a:p>
          <a:p>
            <a:r>
              <a:t>10.1 Sem prejuízo de outros requisitos e inf ormações previstos na regulamentação vigente, são aplicáveis à Assembleia Especial de Cotistas as mesmas disposições procedimentais da Assembleia Geral de Cotistas. 10.2 A Assembleia Especial de Cotistas é responsável por deliberar sobre as matérias específicas da Classe de Cotas, sem prejuízo das demais disposições previstas na regulamentação aplicável, incluindo, mas não se limitando a: (i) deliberar sobre as demonstrações contábeis da Classe; (ii) deliberar sobre substituição de Prestadores de Serviços Essenciais, observado o disposto no art. 70, §1º da parte geral da Resolução CVM 175; (iii) deliberar sobre elevação da Taxa de Administração, inclusive na hipótese de restabelecimento de taxa que tenha sido objeto de redução; (iv) deliberar sobre incorporação, f usão, cisão total ou parcial, a transf ormação ou liquidação da Classe; (v) alterações das características, vantagens, direitos e obrigações das Cotas; (vi) alterar critérios e procedimentos para Amortização e/ou resgate de Cotas mediante dação em pagamento de Direitos Creditórios; (vii) a</a:t>
            </a:r>
          </a:p>
          <a:p>
            <a:r>
              <a:t>CNPJ 54871427000194 · Quóruns e matérias reservadas · Versão e prevalência: Leitura específica das cláusulas indicadas; condições e conflitos preservados. Seleção documental atual não comprova vigência jurídica por data isolada.</a:t>
            </a:r>
          </a:p>
          <a:p>
            <a:r>
              <a:t>CNPJ 54871427000194 · Quóruns e matérias reservadas · Resumo do histórico: {"count": 1, "dates": ["2024-04-19"], "document_count": 1, "sources": [{"document_id": "670689", "title": "Regulamento", "reference_date": "2024-04-19", "version": "1", "page": 20, "clause": "11.6", "url": "https://fnet.bmfbovespa.com.br/fnet/publico/visualizarDocumento?id=670689", "sha256": "891bc9bc5d87bbc02ec139077a84d2702eb81ea02035fb71d24f5b8366b94a0b"}], "reference": {"path": "history/54871427000194.json", "criterion_id": "quorum", "total_count": 1, "preview_count": 1, "full_text_deferred": true, "sha256": "35d7cd99be50c7287c9fb675cf4f2e736002315295a225a9efa79c8d9186d874"}}</a:t>
            </a:r>
          </a:p>
          <a:p>
            <a:r>
              <a:t>CNPJ 60010416000112 · Quóruns e matérias reservadas · Regulamento · ID 1051393 · 09/10/2025 · versão Regulamento09/10/2025 · p. 18 · AnexoI9.2(ii)–(xvii) · https://fnet.bmfbovespa.com.br/fnet/publico/visualizarDocumento?id=1051393</a:t>
            </a:r>
          </a:p>
          <a:p>
            <a:r>
              <a:t>CNPJ 60010416000112 · Quóruns e matérias reservadas · Excerto da fonte:</a:t>
            </a:r>
          </a:p>
          <a:p>
            <a:r>
              <a:t>(ii) alterar este Anexo I e seus complementos, incluindo mas não se limitando aos Apêndices de cada uma das subclasses; (iii) deliberar sobre substituição de Prestadores de Serviços Essenciais, observado o disposto no Art. 70, §1º da parte geral da Resolução CVM 175, quando aplicável, ou do Custodiante; (iv) deliberar sobre elevação da Taxa de Administração, inclusive na hipótese de restabelecimento de taxa que tenha sido objeto de redução; (v) deliberar sobre incorporação, fusão, cisão total ou parcial, a transformação ou liquidação da Classe; (vi) alter</a:t>
            </a:r>
          </a:p>
          <a:p>
            <a:r>
              <a:t>CNPJ 60010416000112 · Quóruns e matérias reservadas · Regulamento · ID 1051393 · 09/10/2025 · versão Regulamento09/10/2025 · p. 19 · AnexoI9.8–9.9 · https://fnet.bmfbovespa.com.br/fnet/publico/visualizarDocumento?id=1051393</a:t>
            </a:r>
          </a:p>
          <a:p>
            <a:r>
              <a:t>CNPJ 60010416000112 · Quóruns e matérias reservadas · Excerto da fonte:</a:t>
            </a:r>
          </a:p>
          <a:p>
            <a:r>
              <a:t>9.8 As deliberações constantes dos incisos (ii), (iii), (iv), (v), (vi), (vii), (x), (xi), (xii), (xiii) e (xvii) acima, apenas serão aprovadas, seja em primeira ou em segunda convocação, por unanimidade dos votos dos titulares das Cotas em circulação. 9.9 As deliberações relativas aos demais incisos do item 9.2 acima apenas serão aprovadas, seja em primeira ou em segunda convocação, mediante o voto favorável dos Cotistas que representem a maioria das Cotas emitidas pela Classe. 9.10 Somente os Cotistas, seus representantes legais ou procuradores legalmente nomeados há menos de 1 (um) ano ter</a:t>
            </a:r>
          </a:p>
          <a:p>
            <a:r>
              <a:t>CNPJ 60010416000112 · Quóruns e matérias reservadas · Versão e prevalência: Leitura específica das cláusulas indicadas; condições e conflitos preservados. Seleção documental atual não comprova vigência jurídica por data isolada.</a:t>
            </a:r>
          </a:p>
          <a:p>
            <a:r>
              <a:t>CNPJ 60010416000112 · Quóruns e matérias reservadas · Resumo do histórico: {"count": 3, "dates": ["2025-03-20", "2025-05-09", "2025-05-12"], "document_count": 3, "sources": [{"document_id": "1004656", "title": "AGE", "reference_date": "2025-05-12", "version": "1", "page": 1, "url": "https://fnet.bmfbovespa.com.br/fnet/publico/visualizarDocumento?id=1004656", "sha256": "f6c9c009f6170e2b29f074b98522accec73f0c40efbf11f9ec2c8d3f1402616b"}, {"document_id": "911262", "title": "AGE", "reference_date": "2025-05-09", "version": "1", "page": 1, "url": "https://fnet.bmfbovespa.com.br/fnet/publico/visualizarDocumento?id=911262", "sha256": "675de4ffe8c5ee95957fb29810625ce850d1a0b69b5231747442266f0cbf32a3"}, {"document_id": "993786", "title": "Regulamento", "reference_date": "2025-03-20", "version": "1", "page": 22, "clause": "10.6", "url": "https://fnet.bmfbovespa.com.br/fnet/publico/visualizarDocumento?id=993786", "sha256": "fd0fdd369a195510d81f81f505195a0b09e5f43522a990afa7d58c4f872921c8"}], "reference": {"path": "history/60010416000112.json", "criterion_id": "quorum", "total_count": 3, "preview_count": 3, "full_text_deferred": true, "sha256": "8e2bd813f4c51cf01f6bfaad164bafe69d2bbb192f753eac92da3a01c2e63046"}}</a:t>
            </a:r>
          </a:p>
          <a:p>
            <a:r>
              <a:t>CNPJ 62696791000193 · Quóruns e matérias reservadas · Regulamento · ID 1143317 · 20/03/2026 · versão Regulamento — referência 20/03/2026 · p. 20 · Anexo I, 10.2, tabela · https://fnet.bmfbovespa.com.br/fnet/publico/visualizarDocumento?id=1143317</a:t>
            </a:r>
          </a:p>
          <a:p>
            <a:r>
              <a:t>CNPJ 62696791000193 · Quóruns e matérias reservadas · Excerto da fonte:</a:t>
            </a:r>
          </a:p>
          <a:p>
            <a:r>
              <a:t>10.2 Os seguintes quóruns deverão ser observados pela Assembleia Especial de Cotistas ao deliberar as matérias abaixo: Matéria Quórum I – alterar o presente Anexo; Maioria das Cotas Subscritas (“Quórum Qualificado”), observada BTG Pactual SAC: 0800 772 2827 | Ouvidoria: 0800 722 0048 | btgpactual.co m 15</a:t>
            </a:r>
          </a:p>
          <a:p>
            <a:r>
              <a:t>CNPJ 62696791000193 · Quóruns e matérias reservadas · Regulamento · ID 1143317 · 20/03/2026 · versão Regulamento — referência 20/03/2026 · p. 21 · Anexo I, 10.2, tabela · https://fnet.bmfbovespa.com.br/fnet/publico/visualizarDocumento?id=1143317</a:t>
            </a:r>
          </a:p>
          <a:p>
            <a:r>
              <a:t>CNPJ 62696791000193 · Quóruns e matérias reservadas · Excerto da fonte:</a:t>
            </a:r>
          </a:p>
          <a:p>
            <a:r>
              <a:t>Matéria Quórum a necessidade de voto afirmativo da Maioria das Cotas Seniores subscritas da Classe Quórum Qualif icado observada a necessidade de voto af irmativo da II – substituição do Administrador, do Gestor e da Cogestora; Maioria das Cotas Seniores subscritas da Classe Maioria Simples, observada a III – Emissão e distribuição de novas Cotas em quantidade necessidade de voto af irmativo da superior ao Capital Autorizado da Classe ; Maioria das Cotas Seniores subscritas da Classe</a:t>
            </a:r>
          </a:p>
          <a:p>
            <a:r>
              <a:t>CNPJ 62696791000193 · Quóruns e matérias reservadas · Regulamento · ID 1143317 · 20/03/2026 · versão Regulamento — referência 20/03/2026 · p. 22 · Anexo I, 10.2(XI) e 10.5–10.7 · https://fnet.bmfbovespa.com.br/fnet/publico/visualizarDocumento?id=1143317</a:t>
            </a:r>
          </a:p>
          <a:p>
            <a:r>
              <a:t>CNPJ 62696791000193 · Quóruns e matérias reservadas · Excerto da fonte:</a:t>
            </a:r>
          </a:p>
          <a:p>
            <a:r>
              <a:t>10.5 As deliberações que tenham por objeto alterações de Benchmark apenas serão aprovadas se assim deliberado: (i) pelos votos dos titulares da maioria das Cotas em circulação da Série ou Subclasse cujo Benchmark é alterado; e (ii) pelos votos dos titulares da maioria das Cotas Mezanino que se subordinem a ela e/ou das Cotas Subordinadas em circulação. 10.6 As deliberações que tenham por objeto o aumento do Índice de Subordinação estão sujeitas à aprovação da maioria simples dos votos dos titulares das Cotas Mezanino que se subordinem a ela e/ou das Cotas Subordinadas em circulação. 10.7 As deliberações que tenham por objeto a diminuição do Índice de Subordinação apenas serão aprovadas se assim deliberado: (i) pelos votos dos titulares da maioria das Cotas em circulação de cada uma das Séries de Cotas Seniores e/ou dos titulares das Cotas Mezanino que tenham o Benchmark alterado; e (ii) pelo voto dos titulares da maioria das Cotas Mezanino que se subordinem a ela e/ou Cotas Subordinadas Júnior em circulação . Representante de Cotistas 10.8 A Assembleia de Cotistas pode, a qualquer momento, eleger até 3 (três) representantes de cotistas, a serem eleitos e nomeados pela assembleia especial,</a:t>
            </a:r>
          </a:p>
          <a:p>
            <a:r>
              <a:t>CNPJ 62696791000193 · Quóruns e matérias reservadas · Versão e prevalência: Leitura específica das cláusulas indicadas; condições e conflitos preservados. Seleção documental atual não comprova vigência jurídica por data isolada.</a:t>
            </a:r>
          </a:p>
          <a:p>
            <a:r>
              <a:t>CNPJ 55563624000109 · Quóruns e matérias reservadas · Regulamento · ID 1192614 · 30/04/2026 · versão Regulamento30/04/2026 · p. 19 · AnexoI10.2(i)–(v) · https://fnet.bmfbovespa.com.br/fnet/publico/visualizarDocumento?id=1192614</a:t>
            </a:r>
          </a:p>
          <a:p>
            <a:r>
              <a:t>CNPJ 55563624000109 · Quóruns e matérias reservadas · Excerto da fonte:</a:t>
            </a:r>
          </a:p>
          <a:p>
            <a:r>
              <a:t>10.2 A Assembleia Especial de Cotistas é responsável por deliberar, observados os quóruns abaixo, sobre as matérias específicas da Classe, sem prejuízo das demais disposições previstas na regulamentação aplicável, incluindo, mas não se limitando a: MATÉRIA SUJEITA À APROVAÇÃO QUÓRUM DE DELIBERAÇÃO (i) deliberar sobre as demonstrações contábeis da Classe; Maioria do total das Cotas emitidas (ii) deliberar sobre a substituição de Prestadores de Serviços 90% (noventa por cento) do total das Cotas</a:t>
            </a:r>
          </a:p>
          <a:p>
            <a:r>
              <a:t>CNPJ 55563624000109 · Quóruns e matérias reservadas · Regulamento · ID 1192614 · 30/04/2026 · versão Regulamento30/04/2026 · p. 20 · AnexoI10.2(vi)–(xiii) · https://fnet.bmfbovespa.com.br/fnet/publico/visualizarDocumento?id=1192614</a:t>
            </a:r>
          </a:p>
          <a:p>
            <a:r>
              <a:t>CNPJ 55563624000109 · Quóruns e matérias reservadas · Excerto da fonte:</a:t>
            </a:r>
          </a:p>
          <a:p>
            <a:r>
              <a:t>(vi) alterar as características, vantagens, direitos e obrigações 90% (noventa por cento) do total das Cotas das Cotas; emitidas (vii) alterar critérios e procedimentos para resgate de Cotas mediante dação em pagamento de Cotas da Classe Maioria do total das Cotas emitidas Investida; (viii) aprovar a emissão de novas Cotas fora do Capital Maioria do total das Cotas emitidas</a:t>
            </a:r>
          </a:p>
          <a:p>
            <a:r>
              <a:t>CNPJ 55563624000109 · Quóruns e matérias reservadas · Versão e prevalência: Leitura específica das cláusulas indicadas; condições e conflitos preservados. Seleção documental atual não comprova vigência jurídica por data isolada.</a:t>
            </a:r>
          </a:p>
          <a:p>
            <a:r>
              <a:t>CNPJ 55563624000109 · Quóruns e matérias reservadas · Resumo do histórico: {"count": 2, "dates": ["2025-01-31", "2026-01-31"], "document_count": 2, "sources": [{"document_id": "1178840", "title": "Demonstrações Financeiras", "reference_date": "2026-01-31", "version": "1", "page": 24, "url": "https://fnet.bmfbovespa.com.br/fnet/publico/visualizarDocumento?id=1178840", "sha256": "c458e98664c5c907ddb5a05a94b120bed4e05295b2bfc420f5ba69af0a229abe"}, {"document_id": "891861", "title": "Demonstrações Financeiras", "reference_date": "2025-01-31", "version": "1", "page": 25, "url": "https://fnet.bmfbovespa.com.br/fnet/publico/visualizarDocumento?id=891861", "sha256": "e9cb9e6ddbe505fe068cfcac33605165a98313489de0d3ce6d4d238263c3f3e7"}], "reference": {"path": "history/55563624000109.json", "criterion_id": "quorum", "total_count": 2, "preview_count": 2, "full_text_deferred": true, "sha256": "7835d573fb58a3c19adf5b8ecc2aee2bdbb9a88f7a0c0209b5f262b64c7522e3"}}</a:t>
            </a:r>
          </a:p>
          <a:p>
            <a:r>
              <a:t>CNPJ 62552447000120 · Quóruns e matérias reservadas · Regulamento · ID 1200623 · 21/05/2026 · versão Consolidado21/05/2026 aprovado pelo ato1200625 · p. 21 · AnexoI10.2(i)–(x) · https://fnet.bmfbovespa.com.br/fnet/publico/visualizarDocumento?id=1200623</a:t>
            </a:r>
          </a:p>
          <a:p>
            <a:r>
              <a:t>CNPJ 62552447000120 · Quóruns e matérias reservadas · Excerto da fonte:</a:t>
            </a:r>
          </a:p>
          <a:p>
            <a:r>
              <a:t>10.2 Os seguintes quóruns deverão ser observados pela Assembleia Especial ao deliberar as matérias abaixo: Matéria Quórum (i) deliberar sobre substituição de Prestadores de Serviços Unanimidade dos Cotistas Essenciais, observado o disposto no art. 70, §1º da Parte Geral da Resolução CVM 175, quando aplicável; (ii) deliberar sobre elevação da Taxa Global, inclusive na Unanimidade dos Cotistas hipótese de restabelecimento de taxa que tenha sido objeto de redução; (iii) delibera</a:t>
            </a:r>
          </a:p>
          <a:p>
            <a:r>
              <a:t>CNPJ 62552447000120 · Quóruns e matérias reservadas · Versão e prevalência: Leitura específica das cláusulas indicadas; condições e conflitos preservados. Seleção documental atual não comprova vigência jurídica por data isolada.</a:t>
            </a:r>
          </a:p>
          <a:p>
            <a:r>
              <a:t>CNPJ 63953620000165 · Quóruns e matérias reservadas · Anexo ao Regulamento · ID 1222863 · 02/06/2026 · versão AnexoConsignadoPrivado02/06/2026 · p. 13 · 10.2(ii)–(xvii) · https://fnet.bmfbovespa.com.br/fnet/publico/visualizarDocumento?id=1222863</a:t>
            </a:r>
          </a:p>
          <a:p>
            <a:r>
              <a:t>CNPJ 63953620000165 · Quóruns e matérias reservadas · Excerto da fonte:</a:t>
            </a:r>
          </a:p>
          <a:p>
            <a:r>
              <a:t>10.2 Os seguintes quóruns deverão ser observados pela Assembleia Especial de Cotistas ao deliberar as matérias abaixo: Matéria Quórum (i) deliberar sobre as demonstrações contábeis da Classe; Maioria das Cotas presentes (ii) alterar o presente Anexo; Maioria das Cotas de cada Subclasse (iii) deliberar sobre substituição de Prestadores de Serviços Maioria das Cotas da Classe Essenciais, observado o disposto no Artigo 70, §1º da parte geral da R</a:t>
            </a:r>
          </a:p>
          <a:p>
            <a:r>
              <a:t>CNPJ 63953620000165 · Quóruns e matérias reservadas · Anexo ao Regulamento · ID 1222863 · 02/06/2026 · versão AnexoConsignadoPrivado02/06/2026 · p. 14 · 10.5–10.8 · https://fnet.bmfbovespa.com.br/fnet/publico/visualizarDocumento?id=1222863</a:t>
            </a:r>
          </a:p>
          <a:p>
            <a:r>
              <a:t>CNPJ 63953620000165 · Quóruns e matérias reservadas · Excerto da fonte:</a:t>
            </a:r>
          </a:p>
          <a:p>
            <a:r>
              <a:t>10.5 Caso a matéria em deliberação resulte ou possa resultar em uma redução do Índice de Subordinação de uma determinada Subclasse, somente podem votar os titulares de Subclasses de Cotas Seniores. 10.6 As deliberações que tenham por objeto alterações de Benchmark apenas serão aprovadas se assim deliberado: (i) pelos votos dos titulares da maioria das Cotas Seniores cujo Benchmark é alterado; e (ii) pelos votos dos titulares da maioria das Cotas Subordinadas em circulação. 10.7 As deliberações que tenham por objeto o aumento do Índice de Subordinação Sênior estão sujeitas à aprovação da maioria simples dos votos dos titu</a:t>
            </a:r>
          </a:p>
          <a:p>
            <a:r>
              <a:t>CNPJ 63953620000165 · Quóruns e matérias reservadas · Condição: 10.7/10.8 repetem aumento do índice com quóruns distintos; interpretar regra específica demandará resolver conflito, sem presumir uma aprovação.</a:t>
            </a:r>
          </a:p>
          <a:p>
            <a:r>
              <a:t>CNPJ 63953620000165 · Quóruns e matérias reservadas · Versão e prevalência: Leitura específica das cláusulas indicadas; condições e conflitos preservados. Seleção documental atual não comprova vigência jurídica por data isolada.</a:t>
            </a:r>
          </a:p>
          <a:p>
            <a:r>
              <a:t>CNPJ 63953620000165 · Quóruns e matérias reservadas · Resumo do histórico: {"count": 7, "dates": ["2026-04-28", "2026-05-08", "2026-05-15"], "document_count": 3, "sources": [{"document_id": "1327859", "title": "Demonstrações Financeiras - Fusão, cisão e incorporação", "reference_date": "2026-05-15", "version": "1", "page": 10, "url": "https://fnet.bmfbovespa.com.br/fnet/publico/visualizarDocumento?id=1327859", "sha256": "dca1c68babb97f887528c3e2e47596a9c30f507b067981a35655b2f2da9c8054"}, {"document_id": "1298691", "title": "Demonstrações Financeiras - Fusão, cisão e incorporação", "reference_date": "2026-05-08", "version": "1", "page": 10, "url": "https://fnet.bmfbovespa.com.br/fnet/publico/visualizarDocumento?id=1298691", "sha256": "58c570d9b8d4d265330d3db3ea81c435b8e44a6dab4002aa37790652a1ee9819"}, {"document_id": "1205431", "title": "AGE", "reference_date": "2026-04-28", "version": "1", "page": 1, "url": "https://fnet.bmfbovespa.com.br/fnet/publico/visualizarDocumento?id=1205431", "sha256": "e0b59c701c5d0dbf60de698ea7664d442240863b7043bacdb334ce484188b2ac"}], "reference": {"path": "history/63953620000165.json", "criterion_id": "quorum", "total_count": 7, "preview_count": 3, "full_text_deferred": true, "sha256": "a7b89077f5e21098c2d601c303faabc3ff6b9729f89d8afecdc60fe1404720c1"}}</a:t>
            </a:r>
          </a:p>
          <a:p>
            <a:r>
              <a:t>CNPJ 54871427000194 · Partes relacionadas e conflitos · Regulamento · ID 670691 · 2024-04-28 · versão 1 · p. 11 · 4.10 · https://fnet.bmfbovespa.com.br/fnet/publico/visualizarDocumento?id=670691</a:t>
            </a:r>
          </a:p>
          <a:p>
            <a:r>
              <a:t>CNPJ 54871427000194 · Partes relacionadas e conflitos · Excerto da fonte:</a:t>
            </a:r>
          </a:p>
          <a:p>
            <a:r>
              <a:t>4.10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54871427000194 · Partes relacionadas e conflitos · Regulamento · ID 670691 · 2024-04-28 · versão 1 · p. 11 · 4.11 · https://fnet.bmfbovespa.com.br/fnet/publico/visualizarDocumento?id=670691</a:t>
            </a:r>
          </a:p>
          <a:p>
            <a:r>
              <a:t>CNPJ 54871427000194 · Partes relacionadas e conflitos · Excerto da fonte:</a:t>
            </a:r>
          </a:p>
          <a:p>
            <a:r>
              <a:t>4.11 A Classe poderá, direta ou indiretamente e, nos termos da legislação aplicável: (i) adquirir Direitos  Creditórios que sejam cedidos e/ou originados pelo ADMINISTRADOR e/ou pelo GESTOR, ou partes  a eles relacionadas, tal como definidas pelas regras contábeis que tratam desse assunto; e (ii) ceder  Direitos Creditórios a qualquer das pessoas, fundos de investimento ou entidades referidas no item (i)  acima, desde que (i) o ADMINISTRADOR, GESTOR, a entidade registradora e o CUSTODIANTE de  Direitos Creditórios não sejam partes relacionadas entre si; e (ii) a entidade registradora e o  CUSTODIANTE dos Direitos Creditórios não sejam partes relacionadas ao originador ou Cedente.</a:t>
            </a:r>
          </a:p>
          <a:p>
            <a:r>
              <a:t>CNPJ 54871427000194 · Partes relacionadas e conflitos · Regulamento · ID 670691 · 2024-04-28 · versão 1 · p. 25 · 12.21 · https://fnet.bmfbovespa.com.br/fnet/publico/visualizarDocumento?id=670691</a:t>
            </a:r>
          </a:p>
          <a:p>
            <a:r>
              <a:t>CNPJ 54871427000194 · Partes relacionadas e conflitos · Excerto da fonte:</a:t>
            </a:r>
          </a:p>
          <a:p>
            <a:r>
              <a:t>12.21 O GESTOR, em nome da Classe, poderá contratar um ou mais terceiros para a prestação de serviços  de Agente de Cobrança de Direitos Creditórios Inadimplidos, os quais poderão ser partes relacionadas  ou integrar o grupo do ADMINISTRADOR ou dos demais prestadores de serviços da Classe. ] Serão  atribuições do Agente de Cobrança, observado o disposto neste Regulamento e na regulamentação  aplicável:</a:t>
            </a:r>
          </a:p>
          <a:p>
            <a:r>
              <a:t>(i) sempre que necessário, notificar os Devedores sobre a cessão dos Direitos Creditórios à  Classe, nos termos do Art. 290 do Código Civil;</a:t>
            </a:r>
          </a:p>
          <a:p>
            <a:r>
              <a:t>(ii) sempre que solicitado pelo ADMINISTRADOR e/ou pelo GESTOR, reportar ao  ADMINISTRADOR e ao GESTOR as ações tomadas e/ou eventos relevantes ocorridos no  âmbito da cobrança, seja judicial ou extrajudicial, dos Direitos Creditórios Inadimplidos, bem  como o estado de ref erida cobrança;</a:t>
            </a:r>
          </a:p>
          <a:p>
            <a:r>
              <a:t>(iii) comparecer à Assembleia Especial de Cotistas quando assim requerido pelo  ADMINISTRADOR;</a:t>
            </a:r>
          </a:p>
          <a:p>
            <a:r>
              <a:t>(iv) conf irmar o recebimento dos boletos bancários de cobrança enviados aos Devedores, se  aplicável;</a:t>
            </a:r>
          </a:p>
          <a:p>
            <a:r>
              <a:t>(v) controlar, coordenar, gerir e f iscalizar as ações de cobrança de Direitos Creditórios  Inadimplidos;</a:t>
            </a:r>
          </a:p>
          <a:p>
            <a:r>
              <a:t>(vi) adotar, em nome e por conta da Classe, todos os procedimentos de cobrança dos Direitos  Creditórios Inadimplidos de titularidade da Classe;</a:t>
            </a:r>
          </a:p>
          <a:p>
            <a:r>
              <a:t>(vii) conf orme o caso, ef etuar a inclusão ou exclusão do nome de quaisquer Devedores dos  Direitos Creditórios Inadimplidos no registro negativo de órgãos e/ou sistemas de informação  e proteção ao crédito; e</a:t>
            </a:r>
          </a:p>
          <a:p>
            <a:r>
              <a:t>(viii) conduzir, por si ou por meio dos assessores legais contratados para esse f im, processo  administrativo, judicial e/ou arbitral contra os Devedores, incluindo, ainda, a excussão de  eventuais garantias acessórias aos Direitos Creditórios.</a:t>
            </a:r>
          </a:p>
          <a:p>
            <a:r>
              <a:t>CNPJ 54871427000194 · Partes relacionadas e conflitos · Condição: Documentos atuais selecionados no inventário por categoria/escopo; a data documental isolada não comprova vigência jurídica.</a:t>
            </a:r>
          </a:p>
          <a:p>
            <a:r>
              <a:t>CNPJ 54871427000194 · Partes relacionadas e conflitos · Versão e prevalência: Documentos atuais selecionados no inventário por categoria/escopo; a data documental isolada não comprova vigência jurídica.</a:t>
            </a:r>
          </a:p>
          <a:p>
            <a:r>
              <a:t>CNPJ 54871427000194 · Partes relacionadas e conflitos · Resumo do histórico: {"count": 1, "dates": ["2024-04-19"], "document_count": 1, "sources": [{"document_id": "670689", "title": "Regulamento", "reference_date": "2024-04-19", "version": "1", "page": 11, "clause": "4.10", "url": "https://fnet.bmfbovespa.com.br/fnet/publico/visualizarDocumento?id=670689", "sha256": "891bc9bc5d87bbc02ec139077a84d2702eb81ea02035fb71d24f5b8366b94a0b"}], "reference": {"path": "history/54871427000194.json", "criterion_id": "related_parties", "total_count": 1, "preview_count": 1, "full_text_deferred": true, "sha256": "35d7cd99be50c7287c9fb675cf4f2e736002315295a225a9efa79c8d9186d874"}}</a:t>
            </a:r>
          </a:p>
          <a:p>
            <a:r>
              <a:t>CNPJ 60010416000112 · Partes relacionadas e conflitos · Regulamento · ID 1051393 · 2025-10-09 · versão 1 · p. 12 · 4.8 · https://fnet.bmfbovespa.com.br/fnet/publico/visualizarDocumento?id=1051393</a:t>
            </a:r>
          </a:p>
          <a:p>
            <a:r>
              <a:t>CNPJ 60010416000112 · Partes relacionadas e conflitos · Excerto da fonte:</a:t>
            </a:r>
          </a:p>
          <a:p>
            <a:r>
              <a:t>4.8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60010416000112 · Partes relacionadas e conflitos · Regulamento · ID 1051393 · 2025-10-09 · versão 1 · p. 12 · 4.9 · https://fnet.bmfbovespa.com.br/fnet/publico/visualizarDocumento?id=1051393</a:t>
            </a:r>
          </a:p>
          <a:p>
            <a:r>
              <a:t>CNPJ 60010416000112 · Partes relacionadas e conflitos · Excerto da fonte:</a:t>
            </a:r>
          </a:p>
          <a:p>
            <a:r>
              <a:t>4.9 Sem prejuízo de limites mais restritivos definidos neste Regulamento, o Gestor deverá observar, ainda, os  seguintes limites de concentração para a composição da Carteira:</a:t>
            </a:r>
          </a:p>
          <a:p>
            <a:r>
              <a:t> (i ) Até 100% (cem por cento) da parcela do Patrimônio Líquido investida em Ativos  Financeiros de Liquidez poderá ser alocada em Ativos Financeiros de Liquidez de  emissão ou que envolvam retenção de risco por parte do Administrador, Gestor, e/ou  suas partes relacionadas; e</a:t>
            </a:r>
          </a:p>
          <a:p>
            <a:r>
              <a:t> (ii) Até 100% (cem por cento) da parcela do Patrimônio Líquido investida em operações  com derivativos poderá ser alocada em derivativos nos quais, inexistindo contraparte  central, se tenha como contraparte o Gestor e/ou suas partes relacionadas.</a:t>
            </a:r>
          </a:p>
          <a:p>
            <a:r>
              <a:t>CNPJ 60010416000112 · Partes relacionadas e conflitos · Regulamento · ID 1051393 · 2025-10-09 · versão 1 · p. 12 · 4.12.1 · https://fnet.bmfbovespa.com.br/fnet/publico/visualizarDocumento?id=1051393</a:t>
            </a:r>
          </a:p>
          <a:p>
            <a:r>
              <a:t>CNPJ 60010416000112 · Partes relacionadas e conflitos · Excerto da fonte:</a:t>
            </a:r>
          </a:p>
          <a:p>
            <a:r>
              <a:t>4.12.1. Após o término do Período de Investimento, a Classe utilizará os recursos provenientes do  pagamento dos Direitos Creditórios e demais aplicações para amortização das Cotas, observada  a ordem de alocação de recursos def inida no Capítulo 7 abaixo.</a:t>
            </a:r>
          </a:p>
          <a:p>
            <a:r>
              <a:t>Regras, procedimentos e limites para efetuar cessão de direitos creditórios para o cedente e suas partes relacionadas</a:t>
            </a:r>
          </a:p>
          <a:p>
            <a:r>
              <a:t>CNPJ 60010416000112 · Partes relacionadas e conflitos · Condição: Documentos atuais selecionados no inventário por categoria/escopo; a data documental isolada não comprova vigência jurídica.</a:t>
            </a:r>
          </a:p>
          <a:p>
            <a:r>
              <a:t>CNPJ 60010416000112 · Partes relacionadas e conflitos · Versão e prevalência: Documentos atuais selecionados no inventário por categoria/escopo; a data documental isolada não comprova vigência jurídica.</a:t>
            </a:r>
          </a:p>
          <a:p>
            <a:r>
              <a:t>CNPJ 60010416000112 · Partes relacionadas e conflitos · Resumo do histórico: {"count": 1, "dates": ["2025-03-20"], "document_count": 1, "sources": [{"document_id": "993786", "title": "Regulamento", "reference_date": "2025-03-20", "version": "1", "page": 12, "clause": "4.8", "url": "https://fnet.bmfbovespa.com.br/fnet/publico/visualizarDocumento?id=993786", "sha256": "fd0fdd369a195510d81f81f505195a0b09e5f43522a990afa7d58c4f872921c8"}], "reference": {"path": "history/60010416000112.json", "criterion_id": "related_parties", "total_count": 1, "preview_count": 1, "full_text_deferred": true, "sha256": "8e2bd813f4c51cf01f6bfaad164bafe69d2bbb192f753eac92da3a01c2e63046"}}</a:t>
            </a:r>
          </a:p>
          <a:p>
            <a:r>
              <a:t>CNPJ 62696791000193 · Partes relacionadas e conflitos · Regulamento · ID 1143317 · 2026-03-20 · versão 1 · p. 12 · 4.10 · https://fnet.bmfbovespa.com.br/fnet/publico/visualizarDocumento?id=1143317</a:t>
            </a:r>
          </a:p>
          <a:p>
            <a:r>
              <a:t>CNPJ 62696791000193 · Partes relacionadas e conflitos · Excerto da fonte:</a:t>
            </a:r>
          </a:p>
          <a:p>
            <a:r>
              <a:t>4.10 Sem prejuízo de limites mais restritivos definidos neste Anexo, o Gestor deverá observar, ainda, os  seguintes limites de concentração:</a:t>
            </a:r>
          </a:p>
          <a:p>
            <a:r>
              <a:t> (i) A Classe poderá, direta ou indiretamente, ter até 100% (cem por cento) do Patrimônio  Líquido representado por Direitos Creditórios do Agronegócio originados ou cedidos  pelo Administrador, Gestor e/ou suas partes relacionadas, tal como definidas pelas  regras contábeis que tratam desse assunto, desde que (a) o Gest or, a entidade  registradora e o Custodiante dos Direitos Creditórios do Agronegócio não sejam partes  relacionadas entre si; e (b) a entidade registradora e o Custodiante dos Direitos  Creditórios do Agronegócio não sejam partes relacionadas ao originador ou Cedente.</a:t>
            </a:r>
          </a:p>
          <a:p>
            <a:r>
              <a:t> (ii) No máximo, 100% (cem por cento) do Patrimônio Líquido investido em Ativos  Financeiros de Liquidez de emissão ou que envolvam retenção de risco por parte do  Administrador, Gestor, e/ou suas partes relacionadas, observado ainda o disposto no  item Error! Reference source not found.;</a:t>
            </a:r>
          </a:p>
          <a:p>
            <a:r>
              <a:t> (iii) No máximo, 100% (cem por cento) do Patrimônio Líquido investido em operações com  derivativos nos quais, inexistindo contraparte central, se tenha como contraparte o  Gestor, e/ou suas partes relacionadas, observado ainda o disposto no item Error!  Reference source not found.;</a:t>
            </a:r>
          </a:p>
          <a:p>
            <a:r>
              <a:t> (iv) No máximo, 100% (cem por cento) do Patrimônio Líquido em cotas de uma mesma  classe;</a:t>
            </a:r>
          </a:p>
          <a:p>
            <a:r>
              <a:t> (v) É vedada a aquisição de precatórios f ederais.</a:t>
            </a:r>
          </a:p>
          <a:p>
            <a:r>
              <a:t> (vi) No máximo, 49% (quarenta e nove por cento) do Patrimônio Líquido em Ativos  Imobiliários do Agronegócio;</a:t>
            </a:r>
          </a:p>
          <a:p>
            <a:r>
              <a:t> (vii) No máximo, 49% (quarenta e nove por cento) do Patrimônio Líquido em Participações  do Agronegócio;</a:t>
            </a:r>
          </a:p>
          <a:p>
            <a:r>
              <a:t> (viii) No máximo, 49% (quarenta e nove por cento) do Patrimônio Líquido em Ativos  Financeiros do Agronegócio; e</a:t>
            </a:r>
          </a:p>
          <a:p>
            <a:r>
              <a:t> (ix) No máximo, 49% (quarenta e nove por cento) do Patrimônio Líquido em Ativos em Geral  do Agronegócio;</a:t>
            </a:r>
          </a:p>
          <a:p>
            <a:r>
              <a:t> Ativos Recuperados</a:t>
            </a:r>
          </a:p>
          <a:p>
            <a:r>
              <a:t>CNPJ 62696791000193 · Partes relacionadas e conflitos · Regulamento · ID 1143317 · 2026-03-20 · versão 1 · p. 11 · 4.8 · https://fnet.bmfbovespa.com.br/fnet/publico/visualizarDocumento?id=1143317</a:t>
            </a:r>
          </a:p>
          <a:p>
            <a:r>
              <a:t>CNPJ 62696791000193 · Partes relacionadas e conflitos · Excerto da fonte:</a:t>
            </a:r>
          </a:p>
          <a:p>
            <a:r>
              <a:t>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relacionadas ao Gestor.</a:t>
            </a:r>
          </a:p>
          <a:p>
            <a:r>
              <a:t>CNPJ 62696791000193 · Partes relacionadas e conflitos · Regulamento · ID 1143317 · 2026-03-20 · versão 1 · p. 14 · 4.21.1 · https://fnet.bmfbovespa.com.br/fnet/publico/visualizarDocumento?id=1143317</a:t>
            </a:r>
          </a:p>
          <a:p>
            <a:r>
              <a:t>CNPJ 62696791000193 · Partes relacionadas e conflitos · Excerto da fonte:</a:t>
            </a:r>
          </a:p>
          <a:p>
            <a:r>
              <a:t>4.21.1 Sem prejuízo do disposto acima, poderá ser contratado terceiro especializado para o  gerenciamento das obras, para controle dos desembolsos, conforme medições durante a etapa  de desenvolvimento e construção dos Ativos Imobiliários do Agronegócio, sendo certo que,  caso haja a contratação de terceiros em situação de conflito de interesses, deverá ser aprovado  em assembleia de Cotistas.</a:t>
            </a:r>
          </a:p>
          <a:p>
            <a:r>
              <a:t>CNPJ 62696791000193 · Partes relacionadas e conflitos · Condição: Documentos atuais selecionados no inventário por categoria/escopo; a data documental isolada não comprova vigência jurídica.</a:t>
            </a:r>
          </a:p>
          <a:p>
            <a:r>
              <a:t>CNPJ 62696791000193 · Partes relacionadas e conflitos · Versão e prevalência: Documentos atuais selecionados no inventário por categoria/escopo; a data documental isolada não comprova vigência jurídica.</a:t>
            </a:r>
          </a:p>
          <a:p>
            <a:r>
              <a:t>CNPJ 55563624000109 · Partes relacionadas e conflitos · Regulamento · ID 1192614 · 2026-04-30 · versão 1 · p. 13 · 4.12.1 · https://fnet.bmfbovespa.com.br/fnet/publico/visualizarDocumento?id=1192614</a:t>
            </a:r>
          </a:p>
          <a:p>
            <a:r>
              <a:t>CNPJ 55563624000109 · Partes relacionadas e conflitos · Excerto da fonte:</a:t>
            </a:r>
          </a:p>
          <a:p>
            <a:r>
              <a:t>4.12.1 A Classe poderá ter até 100% (cem por cento) do Patrimônio Líquido representado por Cotas da Classe  Investida administrados pelo ADMINISTRADOR, e geridos ou cogeridos pelo GESTOR e/ou suas partes  relacionadas.</a:t>
            </a:r>
          </a:p>
          <a:p>
            <a:r>
              <a:t> Revolvência da Carteira</a:t>
            </a:r>
          </a:p>
          <a:p>
            <a:r>
              <a:t>CNPJ 55563624000109 · Partes relacionadas e conflitos · Regulamento · ID 1192614 · 2026-04-30 · versão 1 · p. 28 · 13.2 · https://fnet.bmfbovespa.com.br/fnet/publico/visualizarDocumento?id=1192614</a:t>
            </a:r>
          </a:p>
          <a:p>
            <a:r>
              <a:t>CNPJ 55563624000109 · Partes relacionadas e conflitos · Excerto da fonte:</a:t>
            </a:r>
          </a:p>
          <a:p>
            <a:r>
              <a:t>13.2 Em condições ordinárias, as Cotas da Classe Investida não pagarão remuneração aos prestadores de serviços  essenciais da Classe Investida, nos termos de seu regulamento. Não obstante, em cenário extraordinário  conforme descrito no item 15.1.1 (iii), e para fins de atendimento ao artigo 98 da parte geral da Resolução CVM  175, a taxa máxima de administração corresponderá ao valor da Taxa Mínima de Administração acrescida de até  0,10% (dez centésimos por cento) ao ano incidente sobre o patrimônio líquido da Classe Investida,  compreendendo a taxa de administração da Classe Investida geridos por partes relacionadas ao GESTOR, cujas  cotas não estão admitidas à negociação em mercado organizado, conforme prevista no regulamento da Classe  Investida (“Taxa Máxima de Administração” e, quando referida em conjunto com a Taxa Mínima de  Administração, como “Taxa de Administração”). Caso a taxa de administração da Classe Investida não se  enquadre no disposto acima, estará disposta no regulamento da Classe Investida.</a:t>
            </a:r>
          </a:p>
          <a:p>
            <a:r>
              <a:t>CNPJ 55563624000109 · Partes relacionadas e conflitos · Regulamento · ID 1192614 · 2026-04-30 · versão 1 · p. 37 · https://fnet.bmfbovespa.com.br/fnet/publico/visualizarDocumento?id=1192614</a:t>
            </a:r>
          </a:p>
          <a:p>
            <a:r>
              <a:t>CNPJ 55563624000109 · Partes relacionadas e conflitos · Excerto da fonte:</a:t>
            </a:r>
          </a:p>
          <a:p>
            <a:r>
              <a:t>(ix) Possibilidade de conflito de interesses. As Cotas poderão ser adquiridas por investidores que  sejam partes relacionadas à Classe Investida ou aos prestadores de serviços da Classe Investida. Nessa  hipótese, poderá haver situações de conflito de interesses entre os interesses desses investidores e o  interesse dos demais Cotistas, podendo qualquer desses investidores, inclusive, aprovar deliberações  contrárias aos interesses dos demais Cotistas caso sejam titulares da maioria das Cotas presentes às  Assembleias de Cotistas.</a:t>
            </a:r>
          </a:p>
          <a:p>
            <a:r>
              <a:t>CNPJ 55563624000109 · Partes relacionadas e conflitos · Condição: Documentos atuais selecionados no inventário por categoria/escopo; a data documental isolada não comprova vigência jurídica.</a:t>
            </a:r>
          </a:p>
          <a:p>
            <a:r>
              <a:t>CNPJ 55563624000109 · Partes relacionadas e conflitos · Versão e prevalência: Documentos atuais selecionados no inventário por categoria/escopo; a data documental isolada não comprova vigência jurídica.</a:t>
            </a:r>
          </a:p>
          <a:p>
            <a:r>
              <a:t>CNPJ 55563624000109 · Partes relacionadas e conflitos · Resumo do histórico: {"count": 2, "dates": ["2025-01-31", "2026-01-31"], "document_count": 2, "sources": [{"document_id": "1178840", "title": "Demonstrações Financeiras", "reference_date": "2026-01-31", "version": "1", "page": 23, "url": "https://fnet.bmfbovespa.com.br/fnet/publico/visualizarDocumento?id=1178840", "sha256": "c458e98664c5c907ddb5a05a94b120bed4e05295b2bfc420f5ba69af0a229abe"}, {"document_id": "891861", "title": "Demonstrações Financeiras", "reference_date": "2025-01-31", "version": "1", "page": 23, "url": "https://fnet.bmfbovespa.com.br/fnet/publico/visualizarDocumento?id=891861", "sha256": "e9cb9e6ddbe505fe068cfcac33605165a98313489de0d3ce6d4d238263c3f3e7"}], "reference": {"path": "history/55563624000109.json", "criterion_id": "related_parties", "total_count": 2, "preview_count": 2, "full_text_deferred": true, "sha256": "7835d573fb58a3c19adf5b8ecc2aee2bdbb9a88f7a0c0209b5f262b64c7522e3"}}</a:t>
            </a:r>
          </a:p>
          <a:p>
            <a:r>
              <a:t>CNPJ 62552447000120 · Partes relacionadas e conflitos · Regulamento · ID 1200623 · 2026-05-21 · versão 1 · p. 14 · 4.10 · https://fnet.bmfbovespa.com.br/fnet/publico/visualizarDocumento?id=1200623</a:t>
            </a:r>
          </a:p>
          <a:p>
            <a:r>
              <a:t>CNPJ 62552447000120 · Partes relacionadas e conflitos · Excerto da fonte:</a:t>
            </a:r>
          </a:p>
          <a:p>
            <a:r>
              <a:t>4.10 Nos termos do art. 45, §7º, inciso II, do Anexo Normativo II, a Classe poderá ter até 100% (cem por  cento) de seu Patrimônio Líquido alocado em Direitos Creditórios, derivativos, observado o disposto  abaixo,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62552447000120 · Partes relacionadas e conflitos · Regulamento · ID 1200623 · 2026-05-21 · versão 1 · p. 14 · 4.11 · https://fnet.bmfbovespa.com.br/fnet/publico/visualizarDocumento?id=1200623</a:t>
            </a:r>
          </a:p>
          <a:p>
            <a:r>
              <a:t>CNPJ 62552447000120 · Partes relacionadas e conflitos · Excerto da fonte:</a:t>
            </a:r>
          </a:p>
          <a:p>
            <a:r>
              <a:t>4.11 Sem prejuízo de limites mais restritivos definidos neste Regulamento, o Gestor deverá observar, ainda,  os seguintes limites de concentração para a composição da Carteira:</a:t>
            </a:r>
          </a:p>
          <a:p>
            <a:r>
              <a:t> (i) Até 100% (cem por cento) da parcela do Patrimônio Líquido investida em Direitos  Creditórios poderão ser alocados em Direitos Creditórios originados ou cedidos pelo  Administrador, Gestor e/ou suas partes relacionadas, tal como definidas pelas regras  contábeis que tratam desse assunto . A Classe também poderá ceder Direitos  Creditórios a qualquer das pessoas, f undos de investimento ou entidades ref eridas  acima, desde que a entidade registradora e o Custodiante dos Direitos Creditórios não  sejam partes relacionadas ao Originador ou Endossante;</a:t>
            </a:r>
          </a:p>
          <a:p>
            <a:r>
              <a:t> (ii) Até 100% (cem por cento) da parcela do Patrimônio Líquido investida em Ativos  Financeiros poderão ser alocados em Ativos Financeiros de emissão ou que envolvam  retenção de risco por parte do Administrador, Gestor e/ou suas partes relacionadas; e</a:t>
            </a:r>
          </a:p>
          <a:p>
            <a:r>
              <a:t> (iii) Até 100% (cem por cento) da parcela do Patrimônio Líquido investida em operações  com derivativos poderão ser alocados em operações com derivativos nas quais,  inexistindo contraparte central, se tenha como contraparte o Gestor e/ou suas partes  relacionadas.</a:t>
            </a:r>
          </a:p>
          <a:p>
            <a:r>
              <a:t>CNPJ 62552447000120 · Partes relacionadas e conflitos · Regulamento · ID 1200623 · 2026-05-21 · versão 1 · p. 15 · 4.18 · https://fnet.bmfbovespa.com.br/fnet/publico/visualizarDocumento?id=1200623</a:t>
            </a:r>
          </a:p>
          <a:p>
            <a:r>
              <a:t>CNPJ 62552447000120 · Partes relacionadas e conflitos · Excerto da fonte:</a:t>
            </a:r>
          </a:p>
          <a:p>
            <a:r>
              <a:t>4.18 Ainda que integrem a Carteira, os Ativos Recuperados não serão, sob qualquer hipótese, adquiridos  como parte da Política de Investimento, de forma que serão de sua propriedade exclusivamente, não  devendo, portanto, ser contabilizados para f ins de enquadramento da Classe.</a:t>
            </a:r>
          </a:p>
          <a:p>
            <a:r>
              <a:t>Regras, procedimentos e limites para efetuar qualquer modalidade de transferência dos Direitos Creditórios, incluindo, sem limitação, endosso (“Transferência”) para o Endossante e suas partes relacionadas</a:t>
            </a:r>
          </a:p>
          <a:p>
            <a:r>
              <a:t>CNPJ 62552447000120 · Partes relacionadas e conflitos · Condição: Documentos atuais selecionados no inventário por categoria/escopo; a data documental isolada não comprova vigência jurídica.</a:t>
            </a:r>
          </a:p>
          <a:p>
            <a:r>
              <a:t>CNPJ 62552447000120 · Partes relacionadas e conflitos · Versão e prevalência: Documentos atuais selecionados no inventário por categoria/escopo; a data documental isolada não comprova vigência jurídica.</a:t>
            </a:r>
          </a:p>
          <a:p>
            <a:r>
              <a:t>CNPJ 63953620000165 · Partes relacionadas e conflitos · Anexo ao Regulamento · ID 1222863 · 2026-06-02 · versão 1 · p. 6 · 4.14 · https://fnet.bmfbovespa.com.br/fnet/publico/visualizarDocumento?id=1222863</a:t>
            </a:r>
          </a:p>
          <a:p>
            <a:r>
              <a:t>CNPJ 63953620000165 · Partes relacionadas e conflitos · Excerto da fonte:</a:t>
            </a:r>
          </a:p>
          <a:p>
            <a:r>
              <a:t>4.14 Nos termos do Art. 45, §7º, inciso II, do Anexo Normativo II da Resolução CVM 175, a Classe poderá ter até 100%  (cem por cento) de seu Patrimônio Líquido alocado em Direitos Creditórios, derivativos, observado o disposto  neste Anexo I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63953620000165 · Partes relacionadas e conflitos · Anexo ao Regulamento · ID 1222863 · 2026-06-02 · versão 1 · p. 8 · 4.21 · https://fnet.bmfbovespa.com.br/fnet/publico/visualizarDocumento?id=1222863</a:t>
            </a:r>
          </a:p>
          <a:p>
            <a:r>
              <a:t>CNPJ 63953620000165 · Partes relacionadas e conflitos · Excerto da fonte:</a:t>
            </a:r>
          </a:p>
          <a:p>
            <a:r>
              <a:t>4.21 Ainda que integrem a carteira da Classe, os Ativos Recuperados não serão, sob qualquer hipótese, adquiridos  como parte da Política de Investimento da Classe, de forma que serão de sua propriedade exclusivamente, não  devendo, portanto, ser contabilizados para fins de enquadramento da Classe.</a:t>
            </a:r>
          </a:p>
          <a:p>
            <a:r>
              <a:t> Regras, procedimentos e limites para efetuar o Endosso de Direitos Creditórios Crédito Consignado para o Endossante e  suas partes relacionadas</a:t>
            </a:r>
          </a:p>
          <a:p>
            <a:r>
              <a:t>CNPJ 63953620000165 · Partes relacionadas e conflitos · Anexo ao Regulamento · ID 1222863 · 2026-06-02 · versão 1 · p. 7 · https://fnet.bmfbovespa.com.br/fnet/publico/visualizarDocumento?id=1222863</a:t>
            </a:r>
          </a:p>
          <a:p>
            <a:r>
              <a:t>CNPJ 63953620000165 · Partes relacionadas e conflitos · Excerto da fonte:</a:t>
            </a:r>
          </a:p>
          <a:p>
            <a:r>
              <a:t>Anexo I ao Regulamento  CLASSE CONSIGNADO PRIVADO DO MT GLOBAL FUNDO DE INVESTIMENTO EM DIREITOS  CREDITÓRIOS RESPONSABILIDADE LIMITADA</a:t>
            </a:r>
          </a:p>
          <a:p>
            <a:r>
              <a:t> (i)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 (ii) No máximo, 50% (cinquenta por cento) do Patrimônio Líquido investido em Ativos Financeiros  de Liquidez de emissão ou que envolvam retenção de risco por parte do Administrador, Gestor,  e/ou suas partes relacionadas, observado ainda o disposto acima;</a:t>
            </a:r>
          </a:p>
          <a:p>
            <a:r>
              <a:t> (iii) No máximo, 100% (cem por cento) do Patrimônio Líquido investido em operações com  derivativos nos quais, inexistindo contraparte central, se tenha como contraparte o Gestor,  Consultora e/ou suas partes relacionadas, observado ainda o disposto acima;</a:t>
            </a:r>
          </a:p>
          <a:p>
            <a:r>
              <a:t> (iv) A Classe poderá investir até 100% (cem por cento) de seu Patrimônio Líquido em Direitos  Creditórios Não-Padronizados;</a:t>
            </a:r>
          </a:p>
          <a:p>
            <a:r>
              <a:t> (v) É vedada a aquisição de precatórios federais.</a:t>
            </a:r>
          </a:p>
          <a:p>
            <a:r>
              <a:t>CNPJ 63953620000165 · Partes relacionadas e conflitos · Condição: Documentos atuais selecionados no inventário por categoria/escopo; a data documental isolada não comprova vigência jurídica.</a:t>
            </a:r>
          </a:p>
          <a:p>
            <a:r>
              <a:t>CNPJ 63953620000165 · Partes relacionadas e conflitos · Versão e prevalência: Documentos atuais selecionados no inventário por categoria/escopo; a data documental isolada não comprova vigência jurídica.</a:t>
            </a:r>
          </a:p>
          <a:p>
            <a:r>
              <a:t>CNPJ 54871427000194 · Histórico de alterações materiais · Instrumento Particular de Alteração do Regulamento · ID 670690 · 28/05/2024 · versão Instrumento Particular de Alteração do Regulamento — referência 28/05/2024 · p. 1 · AGC, 4.1–4.2 · https://fnet.bmfbovespa.com.br/fnet/publico/visualizarDocumento?id=670690</a:t>
            </a:r>
          </a:p>
          <a:p>
            <a:r>
              <a:t>CNPJ 54871427000194 · Histórico de alterações materiais · Excerto da fonte:</a:t>
            </a:r>
          </a:p>
          <a:p>
            <a:r>
              <a:t>4.1. A alteração integral do anexo da Classe Única, que compõe o regulamento do Fundo (“Anexo da Classe Única” e “Regulamento”) e seus complementos, para de f orma a alterar a Política de Investimentos da Classe para aquisição de direitos creditórios representados por Certif icados de Cédulas de Crédito Bancário (“CCCBs” e “Direitos Creditórios”), bem como refletir os novos critérios de elegibilidade para aquisição dos Direitos Creditórios, os documentos comprobatórios do lastro e f atores de risco aplicáveis. 4.2. Tendo em vista a aprovação dos itens. acima, deliberaram por aprovar o novo Regulamento Consolidado, que vigorará na forma do Anexo I à presente Ata, o qual terá efeitos retroativos a abertura de 28 de maio de 2024. 4.3. Por f im, por aprovar a Administradora a adotar todas as medidas necessárias para implementação das deliberações acima. 5. ENCERRAMENTO Nada mais havendo a tratar, f oi a reunião encerrada. Rio de Janeiro, 28 de maio de 2024. Mesa: Diego Prado Tassiana Lima Presidente</a:t>
            </a:r>
          </a:p>
          <a:p>
            <a:r>
              <a:t>CNPJ 54871427000194 · Histórico de alterações materiais · Regulamento · ID 670691 · 28/04/2024 · versão Regulamento — referência 28/04/2024 · p. 9 · Regulamento 670691, Anexo I, 4.2 · https://fnet.bmfbovespa.com.br/fnet/publico/visualizarDocumento?id=670691</a:t>
            </a:r>
          </a:p>
          <a:p>
            <a:r>
              <a:t>CNPJ 54871427000194 · Histórico de alterações materiais · Excerto da fonte:</a:t>
            </a:r>
          </a:p>
          <a:p>
            <a:r>
              <a:t>4.2 Os Direitos Creditórios representados por Certif icados de Cédulas de Crédito Bancário (“CCCBs”), representativos de um agrupamento de determinadas CCBs, originadas no âmbito de operações de empréstimos pessoais concedidos por um Endossante a um Devedor, devidamente f ormalizadas por via eletrônica de acordo com a legislação aplicável, segundo os critérios de composição e diversificação estabelecidos pela regulamentação aplicável e neste Regulamento. 4.2.1 Cada Endossante deve ter celebrado convênio com órgão consignante, previamente à cessão de Direitos Creditórios à Classe, que contemplam a obrigação da manutenção da consignação/averbação junto ao novo órgão, de modo a possibilitar o pagamento dos Direitos Creditórios por meio de consignação em f olha de pagamento ou de benef ício . 4.3 Os pagamentos relativos aos Direitos Creditórios de titularidade da Classe serão realizados mediante consignação em folha, débito em conta de titularidade dos Devedores e pagamentos de sinistros, para pagamento dos valores correspondentes às parcelas das CCBs representadas pelos CCCBs de titularidade da Classe, os quais serão conciliados e repassados pelo Endossan</a:t>
            </a:r>
          </a:p>
          <a:p>
            <a:r>
              <a:t>CNPJ 54871427000194 · Histórico de alterações materiais · Condição: A classificação Fundos Net do documento 670690 é “regulamento”, mas seu conteúdo é uma AGC. A divergência de datas impede usar a referência do 670691 como prova autônoma de início de vigência.</a:t>
            </a:r>
          </a:p>
          <a:p>
            <a:r>
              <a:t>CNPJ 54871427000194 · Histórico de alterações materiais · Motivo: Não localizada uma cláusula material para este critério nos textos identificados e processados. A ausência de resultado não comprova inexistência da regra.</a:t>
            </a:r>
          </a:p>
          <a:p>
            <a:r>
              <a:t>CNPJ 54871427000194 · Histórico de alterações materiais · Versão e prevalência: Leitura específica das cláusulas indicadas; condições e conflitos preservados. Seleção documental atual não comprova vigência jurídica por data isolada.</a:t>
            </a:r>
          </a:p>
          <a:p>
            <a:r>
              <a:t>CNPJ 60010416000112 · Histórico de alterações materiais · Demonstrações Financeiras - Fusão, cisão e incorporação · ID 1298690 · 2026-05-08 · versão 1 · p. 30 · https://fnet.bmfbovespa.com.br/fnet/publico/visualizarDocumento?id=1298690</a:t>
            </a:r>
          </a:p>
          <a:p>
            <a:r>
              <a:t>CNPJ 60010416000112 · Histórico de alterações materiais · Excerto da fonte:</a:t>
            </a:r>
          </a:p>
          <a:p>
            <a:r>
              <a:t>Durante o período de investimento, a Administradora poderá deliberar por realizar novas  emissões de Cotas Seniores, sem a necessidade de aprovação em Assembleia Especial de  Cotistas ou alteração do Regulamento, limitadas ao montante máximo de R$ 1.000.000 (um  bilhão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seniores emitidas não sejam superiores aos  prazos de vencimento da primeira emissão.</a:t>
            </a:r>
          </a:p>
          <a:p>
            <a:r>
              <a:t>CNPJ 60010416000112 · Histórico de alterações materiais · Demonstrações Financeiras - Fusão, cisão e incorporação · ID 1298690 · 2026-05-08 · versão 1 · p. 30 · https://fnet.bmfbovespa.com.br/fnet/publico/visualizarDocumento?id=1298690</a:t>
            </a:r>
          </a:p>
          <a:p>
            <a:r>
              <a:t>CNPJ 60010416000112 · Histórico de alterações materiais · Excerto da fonte:</a:t>
            </a:r>
          </a:p>
          <a:p>
            <a:r>
              <a:t>Durante o período de investimento, a Administradora poderá deliberar por realizar novas  emissões de cotas subordinadas, sem a necessidade de aprovação em Assembleia Especial  de Cotistas ou alteração do Regulamento, limitadas ao montante máximo de R$ 50.000  (cinquenta milhões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subordinadas emitidas não sejam  superiores aos prazos de vencimento da primeira emissão.</a:t>
            </a:r>
          </a:p>
          <a:p>
            <a:r>
              <a:t>CNPJ 60010416000112 · Histórico de alterações materiais · Condição: Documentos atuais selecionados no inventário por categoria/escopo; a data documental isolada não comprova vigência jurídica.</a:t>
            </a:r>
          </a:p>
          <a:p>
            <a:r>
              <a:t>CNPJ 60010416000112 · Histórico de alterações materiais · Versão e prevalência: Documentos atuais selecionados no inventário por categoria/escopo; a data documental isolada não comprova vigência jurídica.</a:t>
            </a:r>
          </a:p>
          <a:p>
            <a:r>
              <a:t>CNPJ 60010416000112 · Histórico de alterações materiais · Resumo do histórico: {"count": 5, "dates": ["2025-11-30", "2026-03-18", "2026-04-16"], "document_count": 3, "sources": [{"document_id": "1282181", "title": "Demonstrações Financeiras - Fusão, cisão e incorporação", "reference_date": "2026-04-16", "version": "1", "page": 32, "url": "https://fnet.bmfbovespa.com.br/fnet/publico/visualizarDocumento?id=1282181", "sha256": "b1c6566e43a00bcd00c8a7f30c77b7f86e351bd8e355bbea113f46d1dafda703"}, {"document_id": "1224477", "title": "Demonstrações Financeiras - Fusão, cisão e incorporação", "reference_date": "2026-03-18", "version": "1", "page": 32, "url": "https://fnet.bmfbovespa.com.br/fnet/publico/visualizarDocumento?id=1224477", "sha256": "0751bf0a75bc3b44c2748f5000226665c6ec6698a90c4dc6170b4e6c187759ae"}, {"document_id": "1126154", "title": "Demonstrações Financeiras", "reference_date": "2025-11-30", "version": "1", "page": 32, "url": "https://fnet.bmfbovespa.com.br/fnet/publico/visualizarDocumento?id=1126154", "sha256": "a01e7ccf88c548f12c95cba8526d7efbef6b585c112cd4668eca781c292090b0"}], "reference": {"path": "history/60010416000112.json", "criterion_id": "changes", "total_count": 5, "preview_count": 3, "full_text_deferred": true, "sha256": "8e2bd813f4c51cf01f6bfaad164bafe69d2bbb192f753eac92da3a01c2e63046"}}</a:t>
            </a:r>
          </a:p>
          <a:p>
            <a:r>
              <a:t>CNPJ 62696791000193 · Histórico de alterações materiais · AGE · ID 1143319 · 20/03/2026 10:00 · versão AGE — referência 20/03/2026 10:00 · p. 1 · AGC, 4.1(a)–(c) · https://fnet.bmfbovespa.com.br/fnet/publico/visualizarDocumento?id=1143319</a:t>
            </a:r>
          </a:p>
          <a:p>
            <a:r>
              <a:t>CNPJ 62696791000193 · Histórico de alterações materiais · Excerto da fonte:</a:t>
            </a:r>
          </a:p>
          <a:p>
            <a:r>
              <a:t>4.1. Aprovar a transformação do Fundo, bem como de sua Classe única, em um fundo de investimento nas cadeias produtivas do agronegócio (“Transformação”), nos termos da parte geral e do Anexo Normativo VI da Resolução nº 175 da CVM, de 23 de dezembro de 2022, conforme alterada (“Resolução CVM 175”). a. Aprovar a alteração da denominação do Fundo, que passará a vigorar como BTG PACTUAL CERES CONFINA FUNDO DE INVESTIMENTO NAS CADEIAS PRODUTIVAS DO AGRONEGÓCIO RESPONSABILIDADE LIMITADA, e de sua Classe única, que passará a vigorar como CLASSE ÚNICA DO BTG PACTUAL CERES CONFINA FUNDO DE INVESTIMENTO NAS CADEIAS PRODUTIVAS DO AGRONEGÓCIO RESPONSABILIDADE LIMITADA (“Classe”); b. Aprovar a reforma integral do Regulamento do Fundo, bem como do Anexo descritivo da Classe, para realizar todos os ajustes necessários à implementação da Transformação, incluindo, mas não se limitando, a política de investimentos, o regime tributário e os fatores de risco aplicáveis, conforme itens abaixo; c. Aprovar a alteração do quadro de características gerais do Fundo, considerando a contratação do Cogestor pelo Gestor, nos termos do artigo 52, II, da parte geral da Resolução CVM 175 e no co</a:t>
            </a:r>
          </a:p>
          <a:p>
            <a:r>
              <a:t>CNPJ 62696791000193 · Histórico de alterações materiais · AGE · ID 1143319 · 20/03/2026 10:00 · versão AGE — referência 20/03/2026 10:00 · p. 3 · AGC, 4.1(j)–(k) · https://fnet.bmfbovespa.com.br/fnet/publico/visualizarDocumento?id=1143319</a:t>
            </a:r>
          </a:p>
          <a:p>
            <a:r>
              <a:t>CNPJ 62696791000193 · Histórico de alterações materiais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Histórico de alterações materiais · Instrumento Particular de Emissão de Cotas · ID 1148821 · 27/03/2026 · versão Instrumento Particular de Emissão de Cotas — referência 27/03/2026 · p. 1 · Deliberação Conjunta27/03/2026, item1 · https://fnet.bmfbovespa.com.br/fnet/publico/visualizarDocumento?id=1148821</a:t>
            </a:r>
          </a:p>
          <a:p>
            <a:r>
              <a:t>CNPJ 62696791000193 · Histórico de alterações materiais · Excerto da fonte:</a:t>
            </a:r>
          </a:p>
          <a:p>
            <a:r>
              <a:t>1. Aprovar a 2ª (segunda) emissão da Subclasse Subordinada Júnior da Classe, composta por até 20.000 (vinte mil) Cotas Subordinadas Júnior, com valor nominal unitário de R$ 1.000,00 (mil reais), perfazendo o montante total de R$ 20.000.000,00 (vinte milhões de reais), as quais serão objeto de colocação privada, de acordo com os termos e condições definidos no Apêndice da Subclasse Subordinada Júnior constante do Anexo I Regulamento e descritas abaixo (“2ª Emissão da Subclasse Subordinada Júnior”): a) Rito: as Cotas Subordinadas Júnior objeto da 2ª Emissão da Subclasse Subordinada Júnior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Subordinada Júnior na data de integralização, calculado na forma prevista no respectivo Apêndice; BTG Pactual 1 SAC: 0800 772 28 27 - Ouvidoria: 0800 722 00 48 - btgpactual.com</a:t>
            </a:r>
          </a:p>
          <a:p>
            <a:r>
              <a:t>CNPJ 62696791000193 · Histórico de alterações materiais · Instrumento Particular de Emissão de Cotas · ID 1148821 · 27/03/2026 · versão Instrumento Particular de Emissão de Cotas — referência 27/03/2026 · p. 2 · Deliberação Conjunta, itens2–3 · https://fnet.bmfbovespa.com.br/fnet/publico/visualizarDocumento?id=1148821</a:t>
            </a:r>
          </a:p>
          <a:p>
            <a:r>
              <a:t>CNPJ 62696791000193 · Histórico de alterações materiais · Excerto da fonte:</a:t>
            </a:r>
          </a:p>
          <a:p>
            <a:r>
              <a:t>2. Aprovar a 2ª (segunda) emissão da Subclasse Sênior da Classe, composta por até 150.000 (cento e cinquenta mil) Cotas Seniores, com valor nominal unitário de R$ 1.000,00 (mil reais), perfazendo o montante total de R$ 150.000.000,00 (cento e cinquenta milhões de reais), as quais serão objeto de colocação privada, de acordo com os termos e condições descritos no Apêndice da Subclasse Sênior constante do Anexo I Regulamento e descritas abaixo (“2ª Emissão da Subclasse Sênior”): a) Rito: as Cotas Seniores objeto da 2ª Emissão da Subclasse Sênior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Sênior na data de integralização, calculado na forma prevista no respectivo Apêndice; d) Forma de Integralização: as Cotas Seniores serão integralizadas mediante chamadas de capital, junto ao seu respectivo agente de custódia e/ou da Administradora na qualidade de escriturador das cotas, nos termos d</a:t>
            </a:r>
          </a:p>
          <a:p>
            <a:r>
              <a:t>CNPJ 62696791000193 · Histórico de alterações materiais · Versão e prevalência: Leitura específica das cláusulas indicadas; condições e conflitos preservados. Seleção documental atual não comprova vigência jurídica por data isolada.</a:t>
            </a:r>
          </a:p>
          <a:p>
            <a:r>
              <a:t>CNPJ 55563624000109 · Histórico de alterações materiais · Motivo: Não localizada uma cláusula material para este critério nos textos identificados e processados. A ausência de resultado não comprova inexistência da regra.</a:t>
            </a:r>
          </a:p>
          <a:p>
            <a:r>
              <a:t>CNPJ 62552447000120 · Histórico de alterações materiais · Ato do Administrador · ID 1200625 · 2026-05-21 · versão Ato21/05/2026 · p. 1 · itens1–2 · https://fnet.bmfbovespa.com.br/fnet/publico/visualizarDocumento?id=1200625</a:t>
            </a:r>
          </a:p>
          <a:p>
            <a:r>
              <a:t>CNPJ 62552447000120 · Histórico de alterações materiais · Excerto da fonte:</a:t>
            </a:r>
          </a:p>
          <a:p>
            <a:r>
              <a:t>Ressalta-se que não haverá qualquer alteração nos valores pagos pelos cotistas... Aprovar o novo Anexo I e Regulamento consolidados</a:t>
            </a:r>
          </a:p>
          <a:p>
            <a:r>
              <a:t>CNPJ 62552447000120 · Histórico de alterações materiais · Motivo: Não localizada uma cláusula material para este critério nos textos identificados e processados. A ausência de resultado não comprova inexistência da regra.</a:t>
            </a:r>
          </a:p>
          <a:p>
            <a:r>
              <a:t>CNPJ 62552447000120 · Histórico de alterações materiais · Versão e prevalência: Leitura específica das cláusulas indicadas; condições e conflitos preservados. Seleção documental atual não comprova vigência jurídica por data isolada.</a:t>
            </a:r>
          </a:p>
          <a:p>
            <a:r>
              <a:t>CNPJ 63953620000165 · Histórico de alterações materiais · Anexo ao Regulamento · ID 1222863 · 2026-06-02 · versão 1 · p. 19 · 12.6 · https://fnet.bmfbovespa.com.br/fnet/publico/visualizarDocumento?id=1222863</a:t>
            </a:r>
          </a:p>
          <a:p>
            <a:r>
              <a:t>CNPJ 63953620000165 · Histórico de alterações materiais · Excerto da fonte:</a:t>
            </a:r>
          </a:p>
          <a:p>
            <a:r>
              <a:t>12.6 A Classe contratou a Tudo Serviços S.A., sociedade anônima, com sede no município de Fortaleza, Estado do Ceará,  na Avenida Senador Virgulo Távora, nº 303, Lojas 02, 03, 04, 05, 06 e 19, Meireles, CEP 60.170-265, inscrita no CNPJ  sob o nº 27.852.506/0001-85, cujos deveres, sem prejuízo daqueles estabelecidos neste Regulamento, no  “Contrato de Serviços de Retenção e Cobrança e Outras Avenças”, celebrado entre o Agente de  Retenção/Cobrança e a Classe (“Contrato de Serviços MT”) e no Contrato de Endosso, consistirão no  monitoramento e cobrança dos Direitos Creditórios Inadimplidos, observado o disposto neste Anexo I e na  regulamentação aplicável (“Agente de Retenção/Cobrança”):</a:t>
            </a:r>
          </a:p>
          <a:p>
            <a:r>
              <a:t> (i) caso aplicável, atuar na retenção (defesa) de operações de empréstimo consignado cujos Direitos  Creditórios sejam de titularidade da Classe, em caso de tentativa de transferência de tais operações de  empréstimo consignado por instituições proponentes, nos termos da Resolução CMN nº 5.057, em razão de  ofertas de portabilidade feitas por tais instituições proponentes, conforme informado pelo Endossante ou pelo  Custodiante ao Agente de Retenção/Cobrança, diariamente, de acordo com o Contrato de Endosso; sendo  que tal serviço deverá incluir, entre outras atividades auxiliares a ele relacionadas, a avaliação das ofertas de  portabilidade feitas pelas instituições proponentes, buscando, se for o caso, esclarecer as vantagens de não  recorrer à portabilidade, retendo a respectiva operação de empréstimo consignado em seus termos atuais;</a:t>
            </a:r>
          </a:p>
          <a:p>
            <a:r>
              <a:t> (ii) mediante inadimplemento de um Direito Creditório devido à indisponibilidade da margem de crédito do  Devedor, auxiliar o Endossante com o Processo de Reinicialização (conforme detalhado no Contrato de  Endosso) em relação ao respectivo Direito Creditório;</a:t>
            </a:r>
          </a:p>
          <a:p>
            <a:r>
              <a:t> (iii) manter e operar um serviço de atendimento ao consumidor - SAC e uma ouvidoria em conformidade  com os regulamentos aplicáveis, monitorar e resolver reclamações e solicitações de Devedores com  relação às operações de empréstimo consignado que dão origem aos Direitos Creditórios, em  conformidade com o Acordo de Parceria;</a:t>
            </a:r>
          </a:p>
          <a:p>
            <a:r>
              <a:t> (iv) realizar a cobrança dos Direitos Creditórios Inadimplidos;</a:t>
            </a:r>
          </a:p>
          <a:p>
            <a:r>
              <a:t> (v) auxiliar o Endossante na correção de qualquer irregularidade relevante identificada com relação à  originação dos Direitos Creditórios;</a:t>
            </a:r>
          </a:p>
          <a:p>
            <a:r>
              <a:t> (vi) realizar a renegociação junto aos Devedores de Direitos Creditórios Inadimplidos e, caso aplicável, celebrar  aditamento à CCB para refletir os novos termos, decorrentes da renegociação  CAPÍTULO 13 – REMUNERAÇÃO DOS PRESTADORES DE SERVIÇOS  0,05% (cinco centésimos por cento) ao ano, apropriada diariamente na base de 252  (duzentos e cinquenta e dois) Dias Úteis, e paga mensalmente até o 5º (quinto) Dia  Útil do mês subsequente ao mês que se refere, incidente sobre o Patrimônio Líquido  da Classe alocado em Direitos Creditórios Consignado Privado e/ou Ativos de  Liquidez MT, observada remuneração mínima mensal de R$ 2.500,00 (dois mil e  quinhentos reais), a ser corrigida anualmente, em janeiro de cada ano, pela variação  Taxa de Administração  positiva do Índice Geral de Preços – Mercado, divulgado pela Fundação Getúlio  Vargas (“Taxa de Administração” e “IGP-M”, respectivamente).</a:t>
            </a:r>
          </a:p>
          <a:p>
            <a:r>
              <a:t> Na hipótese de extinção do IGP-M, não divulgação ou impossibilidade de sua  utilização, será utilizado o Índice Geral de Preços – Disponibilidade Interna,  divulgado pela Fundação Getúlio Vargas, ou, na falta de ambos, pela variação do IPC  – Índice de Preços ao Consumidor, divulgado pela Fundação Instituto de Pesquisas</a:t>
            </a:r>
          </a:p>
          <a:p>
            <a:r>
              <a:t>CNPJ 63953620000165 · Histórico de alterações materiais · Condição: Documentos atuais selecionados no inventário por categoria/escopo; a data documental isolada não comprova vigência jurídica.</a:t>
            </a:r>
          </a:p>
          <a:p>
            <a:r>
              <a:t>CNPJ 63953620000165 · Histórico de alterações materiais · Versão e prevalência: Documentos atuais selecionados no inventário por categoria/escopo; a data documental isolada não comprova vigência jurídica.</a:t>
            </a:r>
          </a:p>
          <a:p>
            <a:r>
              <a:t>CNPJ 54871427000194 · Auditor independente e DFs · Demonstrações Financeiras - Fusão, cisão e incorporação · ID 1219522 · 2026-02-02 · versão 1 · p. 23 · https://fnet.bmfbovespa.com.br/fnet/publico/visualizarDocumento?id=1219522</a:t>
            </a:r>
          </a:p>
          <a:p>
            <a:r>
              <a:t>CNPJ 54871427000194 · Auditor independente e DFs · Excerto da fonte:</a:t>
            </a:r>
          </a:p>
          <a:p>
            <a:r>
              <a:t>x) Possibilidade de aquisição de Direitos Creditórios cedidos por Endossante e/ou devidos por  Devedores cujas demonstrações financeiras não sejam auditadas. A Classe, desde que sejam  respeitados os limites de concentração previstos no Regulamento, poderá manter a qualquer  tempo em sua Carteira, Direitos Creditórios cedidos por Endossante e/ou devidos por Devedores  cujas demonstrações financeiras não sejam auditadas por Auditor Independente registrado na</a:t>
            </a:r>
          </a:p>
          <a:p>
            <a:r>
              <a:t>CNPJ 54871427000194 · Auditor independente e DFs · Demonstrações Financeiras - Fusão, cisão e incorporação · ID 1219522 · 2026-02-02 · versão 1 · p. 2 · https://fnet.bmfbovespa.com.br/fnet/publico/visualizarDocumento?id=1219522</a:t>
            </a:r>
          </a:p>
          <a:p>
            <a:r>
              <a:t>CNPJ 54871427000194 · Auditor independente e DFs · Excerto da fonte:</a:t>
            </a:r>
          </a:p>
          <a:p>
            <a:r>
              <a:t>Classe Única de Responsabilidade Limitada do Consignado Delta Receivables I Fundo de Investimento em  Direitos Creditórios  Demonstrações financeiras em  2 de fevereiro de 2026 (data da incorporação da Classe)</a:t>
            </a:r>
          </a:p>
          <a:p>
            <a:r>
              <a:t>CNPJ 54871427000194 · Auditor independente e DFs · Demonstrações Financeiras - Fusão, cisão e incorporação · ID 1219522 · 2026-02-02 · versão 1 · p. 3 · https://fnet.bmfbovespa.com.br/fnet/publico/visualizarDocumento?id=1219522</a:t>
            </a:r>
          </a:p>
          <a:p>
            <a:r>
              <a:t>CNPJ 54871427000194 · Auditor independente e DFs · Excerto da fonte:</a:t>
            </a:r>
          </a:p>
          <a:p>
            <a:r>
              <a:t>Examinamos as demonstrações financeiras da Classe Única de Responsabilidade Limitada do  Consignado Delta Receivables I Fundo de Investimento em Direitos Creditórios (“Classe”),  administrada pela BTG Pactual Serviços Financeiros S.A. Distribuidora de Títulos e Valores Mobiliários  (“Administradora”), que compreendem a demonstração da posição financeira em 2 de fevereiro de  2026 e as respectivas demonstrações do resultado e do resultado abrangente, das evoluções do  patrimônio líquido e dos fluxos de caixa para o período de 1° de janeiro de 2026 (data de início do  exercício social da Classe) a 2 de fevereiro de 2026 (data da incorporação da Classe), bem como as  correspondentes notas explicativas, incluindo as políticas contábeis materiais e outras informações  elucidativas.</a:t>
            </a:r>
          </a:p>
          <a:p>
            <a:r>
              <a:t> Em nossa opinião, as demonstrações financeiras acima referidas apresentam adequadamente, em  todos os aspectos relevantes, a posição patrimonial e financeira da Classe Única de Responsabilidade  Limitada do Consignado Delta Receivables I Fundo de Investimento em Direitos Creditórios em 2 de  fevereiro de 2026 e o desempenho de suas operações e os seus fluxos de caixa para o período de 1°  de janeiro de 2026 a 2 de fevereiro de 2026, de acordo com as práticas contábeis adotadas no Brasil  aplicáveis aos fundos de investimento em direitos creditórios.</a:t>
            </a:r>
          </a:p>
          <a:p>
            <a:r>
              <a:t>CNPJ 54871427000194 · Auditor independente e DFs · Condição: Documentos atuais selecionados no inventário por categoria/escopo; a data documental isolada não comprova vigência jurídica.</a:t>
            </a:r>
          </a:p>
          <a:p>
            <a:r>
              <a:t>CNPJ 54871427000194 · Auditor independente e DFs · Versão e prevalência: Documentos atuais selecionados no inventário por categoria/escopo; a data documental isolada não comprova vigência jurídica.</a:t>
            </a:r>
          </a:p>
          <a:p>
            <a:r>
              <a:t>CNPJ 54871427000194 · Auditor independente e DFs · Resumo do histórico: {"count": 6, "dates": ["2025-01-01", "2025-04-15", "2025-12-31"], "document_count": 3, "sources": [{"document_id": "1151805", "title": "Demonstrações Financeiras", "reference_date": "2025-12-31", "version": "1", "page": 23, "url": "https://fnet.bmfbovespa.com.br/fnet/publico/visualizarDocumento?id=1151805", "sha256": "f1cea70b152968bf96ef9221b27225953cb20aeef487b2798db3c25e11b528d4"}, {"document_id": "883217", "title": "AGO", "reference_date": "2025-04-15", "version": "1", "page": 1, "url": "https://fnet.bmfbovespa.com.br/fnet/publico/visualizarDocumento?id=883217", "sha256": "233467aa4aa6265d253b610668cde19344ec99af4adf4df934c6a1bd88b9a044"}, {"document_id": "869529", "title": "Demonstrações Financeiras", "reference_date": "2025-01-01", "version": "1", "page": 23, "url": "https://fnet.bmfbovespa.com.br/fnet/publico/visualizarDocumento?id=869529", "sha256": "9a93a9369ac8efdbc54ff8fcee3ccac3abf88edab4807b9323d3852450771b2a"}], "reference": {"path": "history/54871427000194.json", "criterion_id": "audit", "total_count": 6, "preview_count": 3, "full_text_deferred": true, "sha256": "35d7cd99be50c7287c9fb675cf4f2e736002315295a225a9efa79c8d9186d874"}}</a:t>
            </a:r>
          </a:p>
          <a:p>
            <a:r>
              <a:t>CNPJ 60010416000112 · Auditor independente e DFs · AGE · ID 1313936 · 2026-08-31 · versão 1 · p. 1 · https://fnet.bmfbovespa.com.br/fnet/publico/visualizarDocumento?id=1313936</a:t>
            </a:r>
          </a:p>
          <a:p>
            <a:r>
              <a:t>CNPJ 60010416000112 · Auditor independente e DFs · Excerto da fonte:</a:t>
            </a:r>
          </a:p>
          <a:p>
            <a:r>
              <a:t>(d) Fica a Administradora autorizada a levantar, na Data da Cisão, demonstrações contábeis da  Classe, as quais darão suporte à realização da Cisão ora deliberada. As demonstrações contábeis  deverão ser auditadas, em conformidade com o art. 120, da Parte Geral, da Resolução CVM 175;</a:t>
            </a:r>
          </a:p>
          <a:p>
            <a:r>
              <a:t>CNPJ 60010416000112 · Auditor independente e DFs · Condição: Documentos atuais selecionados no inventário por categoria/escopo; a data documental isolada não comprova vigência jurídica.</a:t>
            </a:r>
          </a:p>
          <a:p>
            <a:r>
              <a:t>CNPJ 60010416000112 · Auditor independente e DFs · Versão e prevalência: Documentos atuais selecionados no inventário por categoria/escopo; a data documental isolada não comprova vigência jurídica.</a:t>
            </a:r>
          </a:p>
          <a:p>
            <a:r>
              <a:t>CNPJ 60010416000112 · Auditor independente e DFs · Resumo do histórico: {"count": 11, "dates": ["2026-04-16", "2026-05-08", "2026-07-29"], "document_count": 3, "sources": [{"document_id": "1277540", "title": "AGE", "reference_date": "2026-07-29", "version": "1", "page": 1, "url": "https://fnet.bmfbovespa.com.br/fnet/publico/visualizarDocumento?id=1277540", "sha256": "7a9b65092af34917f99f22b62eb7d248d67149b9c91dd87b07b924b9601ee9b0"}, {"document_id": "1298690", "title": "Demonstrações Financeiras - Fusão, cisão e incorporação", "reference_date": "2026-05-08", "version": "1", "page": 1, "url": "https://fnet.bmfbovespa.com.br/fnet/publico/visualizarDocumento?id=1298690", "sha256": "d979f7f7cf866a68b7fbc65c46fd726b7bcc13f9d0b809190857a9b465be7be2"}, {"document_id": "1282181", "title": "Demonstrações Financeiras - Fusão, cisão e incorporação", "reference_date": "2026-04-16", "version": "1", "page": 1, "url": "https://fnet.bmfbovespa.com.br/fnet/publico/visualizarDocumento?id=1282181", "sha256": "b1c6566e43a00bcd00c8a7f30c77b7f86e351bd8e355bbea113f46d1dafda703"}], "reference": {"path": "history/60010416000112.json", "criterion_id": "audit", "total_count": 11, "preview_count": 3, "full_text_deferred": true, "sha256": "8e2bd813f4c51cf01f6bfaad164bafe69d2bbb192f753eac92da3a01c2e63046"}}</a:t>
            </a:r>
          </a:p>
          <a:p>
            <a:r>
              <a:t>CNPJ 62696791000193 · Auditor independente e DFs · Regulamento · ID 1143317 · 2026-03-20 · versão 1 · p. 5 · 4.1.7 · https://fnet.bmfbovespa.com.br/fnet/publico/visualizarDocumento?id=1143317</a:t>
            </a:r>
          </a:p>
          <a:p>
            <a:r>
              <a:t>CNPJ 62696791000193 · Auditor independente e DFs · Excerto da fonte:</a:t>
            </a:r>
          </a:p>
          <a:p>
            <a:r>
              <a:t>4.1.7 As demonstrações contábeis cujo relatório de auditoria não contiver opinião modificada podem  ser consideradas automaticamente aprovadas caso a assembleia correspondente não seja  instalada em virtude do não comparecimento de quaisquer Cotistas.</a:t>
            </a:r>
          </a:p>
          <a:p>
            <a:r>
              <a:t>CNPJ 62696791000193 · Auditor independente e DFs · Regulamento · ID 1143317 · 2026-03-20 · versão 1 · p. 23 · 10.12 · https://fnet.bmfbovespa.com.br/fnet/publico/visualizarDocumento?id=1143317</a:t>
            </a:r>
          </a:p>
          <a:p>
            <a:r>
              <a:t>CNPJ 62696791000193 · Auditor independente e DFs · Excerto da fonte:</a:t>
            </a:r>
          </a:p>
          <a:p>
            <a:r>
              <a:t>10.12 O representante dos Cotistas será eleito com prazo de mandato a se encerrar na próxima Assembleia  de Cotistas que deliberar sobre a aprovação de demonstrações contábeis do Fundo, sendo permitida  a reeleição.</a:t>
            </a:r>
          </a:p>
          <a:p>
            <a:r>
              <a:t>CNPJ 62696791000193 · Auditor independente e DFs · Condição: Documentos atuais selecionados no inventário por categoria/escopo; a data documental isolada não comprova vigência jurídica.</a:t>
            </a:r>
          </a:p>
          <a:p>
            <a:r>
              <a:t>CNPJ 62696791000193 · Auditor independente e DFs · Versão e prevalência: Documentos atuais selecionados no inventário por categoria/escopo; a data documental isolada não comprova vigência jurídica.</a:t>
            </a:r>
          </a:p>
          <a:p>
            <a:r>
              <a:t>CNPJ 55563624000109 · Auditor independente e DFs · Regulamento · ID 1192614 · 2026-04-30 · versão 1 · p. 24 · 12.3 · https://fnet.bmfbovespa.com.br/fnet/publico/visualizarDocumento?id=1192614</a:t>
            </a:r>
          </a:p>
          <a:p>
            <a:r>
              <a:t>CNPJ 55563624000109 · Auditor independente e DFs · Excerto da fonte:</a:t>
            </a:r>
          </a:p>
          <a:p>
            <a:r>
              <a:t>12.3 Incluem-se entre as obrigações do ADMINISTRADOR, sem prejuízo de outras previstas na regulamentação:</a:t>
            </a:r>
          </a:p>
          <a:p>
            <a:r>
              <a:t> (i) sem prejuízo da observância dos procedimentos relativos às demonstrações contábeis, manter,  separadamente, registros com informações completas sobre toda e qualquer modalidade de negociação  realizada entre o ADMINISTRADOR, GESTOR, CUSTODIANTE, e/ou suas respectivas partes relacionadas,  tais como definidas pelas regras contábeis que tratam desse assunto, de um lado; e a Classe, de outro;</a:t>
            </a:r>
          </a:p>
          <a:p>
            <a:r>
              <a:t> (ii) diligenciar para que sejam mantidos, às suas expensas, atualizados e em perfeita ordem:</a:t>
            </a:r>
          </a:p>
          <a:p>
            <a:r>
              <a:t> (a) o registro de Cotistas;</a:t>
            </a:r>
          </a:p>
          <a:p>
            <a:r>
              <a:t> (b) o livro de atas das Assembleias de Cotistas;</a:t>
            </a:r>
          </a:p>
          <a:p>
            <a:r>
              <a:t> (c) o livro ou lista de presença de Cotistas;</a:t>
            </a:r>
          </a:p>
          <a:p>
            <a:r>
              <a:t> (d) os pareceres do Auditor Independente; e</a:t>
            </a:r>
          </a:p>
          <a:p>
            <a:r>
              <a:t> (e) os registros contábeis referentes às operações e ao patrimônio da Classe;</a:t>
            </a:r>
          </a:p>
          <a:p>
            <a:r>
              <a:t> (iii) pagar a multa cominatória às suas expensas, nos termos da legislação vigente, por cada dia de atraso no  cumprimento dos prazos previstos na regulamentação aplicável;</a:t>
            </a:r>
          </a:p>
          <a:p>
            <a:r>
              <a:t> (iv) elaborar e divulgar as informações periódicas e eventuais da Classe, nos termos deste Anexo e da  regulamentação e da autorregulação em vigor;</a:t>
            </a:r>
          </a:p>
          <a:p>
            <a:r>
              <a:t> (v) manter atualizada junto à CVM a lista de todos os prestadores de serviços contratados pela Classe,  inclusive os Prestadores de Serviços Essenciais, bem como as demais informações cadastrais da Classe e  suas Subclasses;</a:t>
            </a:r>
          </a:p>
          <a:p>
            <a:r>
              <a:t> (vi) manter serviço de atendimento aos Cotistas, responsável pelo esclarecimento de dúvidas e pelo  recebimento de reclamações;</a:t>
            </a:r>
          </a:p>
          <a:p>
            <a:r>
              <a:t> (vii) receber e processar os pedidos de resgate;</a:t>
            </a:r>
          </a:p>
          <a:p>
            <a:r>
              <a:t> (viii) monitorar os Eventos de Verificação do Patrimônio;</a:t>
            </a:r>
          </a:p>
          <a:p>
            <a:r>
              <a:t> (ix) monitorar os Eventos de Avaliação e Eventos de Liquidação;</a:t>
            </a:r>
          </a:p>
          <a:p>
            <a:r>
              <a:t> (x) observar as disposições constantes do Regulamento;</a:t>
            </a:r>
          </a:p>
          <a:p>
            <a:r>
              <a:t> (xi) cumprir as deliberações da Assembleia de Cotistas; e</a:t>
            </a:r>
          </a:p>
          <a:p>
            <a:r>
              <a:t> (xii) observar as disposições do Código ANBIMA e das Regras e Procedimentos ANBIMA</a:t>
            </a:r>
          </a:p>
          <a:p>
            <a:r>
              <a:t>CNPJ 55563624000109 · Auditor independente e DFs · Regulamento · ID 1192614 · 2026-04-30 · versão 1 · p. 4 · 4.6.1 · https://fnet.bmfbovespa.com.br/fnet/publico/visualizarDocumento?id=1192614</a:t>
            </a:r>
          </a:p>
          <a:p>
            <a:r>
              <a:t>CNPJ 55563624000109 · Auditor independente e DFs · Excerto da fonte:</a:t>
            </a:r>
          </a:p>
          <a:p>
            <a:r>
              <a:t>4.6.1 As deliberações relativas às matérias elencadas nos incisos abaixo serão tomadas, em primeira  convocação ou em segunda convocação, conforme os quóruns dispostos abaixo, em sede assembleia  geral de cotistas ou de assembleia especial de cotistas, conforme o caso:</a:t>
            </a:r>
          </a:p>
          <a:p>
            <a:r>
              <a:t> MATÉRIA SUJEITA À APROVAÇÃO QUÓRUM DE DELIBERAÇÃO</a:t>
            </a:r>
          </a:p>
          <a:p>
            <a:r>
              <a:t> (i) aprovação das demonstrações contábeis do FUNDO; Maioria do total das Cotas emitidas</a:t>
            </a:r>
          </a:p>
          <a:p>
            <a:r>
              <a:t>CNPJ 55563624000109 · Auditor independente e DFs · Regulamento · ID 1192614 · 2026-04-30 · versão 1 · p. 10 · 3.1 · https://fnet.bmfbovespa.com.br/fnet/publico/visualizarDocumento?id=1192614</a:t>
            </a:r>
          </a:p>
          <a:p>
            <a:r>
              <a:t>CNPJ 55563624000109 · Auditor independente e DFs · Excerto da fonte:</a:t>
            </a:r>
          </a:p>
          <a:p>
            <a:r>
              <a:t>3.1 A Classe terá Encargos que lhe poderão ser debitados diretamente, nos termos da Resolução CVM 175, e  quaisquer despesas que não constituam Encargos correm por conta do Prestador de Serviço Essencial que a tiver  contratado, incluindo, sem se limitar a:</a:t>
            </a:r>
          </a:p>
          <a:p>
            <a:r>
              <a:t> (i) Taxa de performance, se houver;</a:t>
            </a:r>
          </a:p>
          <a:p>
            <a:r>
              <a:t> (ii) Taxas, impostos ou contribuições federais, estaduais, municipais ou autárquicas, que recaiam ou  venham a recair sobre os bens, direitos e obrigações da Classe;</a:t>
            </a:r>
          </a:p>
          <a:p>
            <a:r>
              <a:t> (iii) Despesas com o registro de documentos, impressão, expedição e publicação de relatórios e informações  periódicas previstas na Resolução CVM 175;</a:t>
            </a:r>
          </a:p>
          <a:p>
            <a:r>
              <a:t> (iv) Despesas com correspondências de interesse do FUNDO ou da Classe, inclusive comunicações aos  Cotistas;</a:t>
            </a:r>
          </a:p>
          <a:p>
            <a:r>
              <a:t> (v) Honorários e despesas do Auditor Independente;</a:t>
            </a:r>
          </a:p>
          <a:p>
            <a:r>
              <a:t> BTG Pactual  SAC: 0800 772 28 27 - Ouvidoria: 0800 722 00 48 - btgpactual.com  3</a:t>
            </a:r>
          </a:p>
          <a:p>
            <a:r>
              <a:t>CNPJ 55563624000109 · Auditor independente e DFs · Condição: Documentos atuais selecionados no inventário por categoria/escopo; a data documental isolada não comprova vigência jurídica.</a:t>
            </a:r>
          </a:p>
          <a:p>
            <a:r>
              <a:t>CNPJ 55563624000109 · Auditor independente e DFs · Versão e prevalência: Documentos atuais selecionados no inventário por categoria/escopo; a data documental isolada não comprova vigência jurídica.</a:t>
            </a:r>
          </a:p>
          <a:p>
            <a:r>
              <a:t>CNPJ 55563624000109 · Auditor independente e DFs · Resumo do histórico: {"count": 2, "dates": ["2025-01-31", "2026-01-31"], "document_count": 2, "sources": [{"document_id": "1178840", "title": "Demonstrações Financeiras", "reference_date": "2026-01-31", "version": "1", "page": 4, "url": "https://fnet.bmfbovespa.com.br/fnet/publico/visualizarDocumento?id=1178840", "sha256": "c458e98664c5c907ddb5a05a94b120bed4e05295b2bfc420f5ba69af0a229abe"}, {"document_id": "891861", "title": "Demonstrações Financeiras", "reference_date": "2025-01-31", "version": "1", "page": 2, "url": "https://fnet.bmfbovespa.com.br/fnet/publico/visualizarDocumento?id=891861", "sha256": "e9cb9e6ddbe505fe068cfcac33605165a98313489de0d3ce6d4d238263c3f3e7"}], "reference": {"path": "history/55563624000109.json", "criterion_id": "audit", "total_count": 2, "preview_count": 2, "full_text_deferred": true, "sha256": "7835d573fb58a3c19adf5b8ecc2aee2bdbb9a88f7a0c0209b5f262b64c7522e3"}}</a:t>
            </a:r>
          </a:p>
          <a:p>
            <a:r>
              <a:t>CNPJ 62552447000120 · Auditor independente e DFs · Regulamento · ID 1200623 · 2026-05-21 · versão 1 · p. 4 · 4.1.6 · https://fnet.bmfbovespa.com.br/fnet/publico/visualizarDocumento?id=1200623</a:t>
            </a:r>
          </a:p>
          <a:p>
            <a:r>
              <a:t>CNPJ 62552447000120 · Auditor independente e DFs · Excerto da fonte:</a:t>
            </a:r>
          </a:p>
          <a:p>
            <a:r>
              <a:t>4.1.6 As demonstrações contábeis cujo relatório de auditoria não contiver opinião modificada podem  ser consideradas automaticamente aprovadas caso a Assembleia Geral correspondente não  seja instalada em virtude do não comparecimento de quaisquer Cotistas.</a:t>
            </a:r>
          </a:p>
          <a:p>
            <a:r>
              <a:t>CNPJ 62552447000120 · Auditor independente e DFs · Regulamento · ID 1200623 · 2026-05-21 · versão 1 · p. 29 · 12.16 · https://fnet.bmfbovespa.com.br/fnet/publico/visualizarDocumento?id=1200623</a:t>
            </a:r>
          </a:p>
          <a:p>
            <a:r>
              <a:t>CNPJ 62552447000120 · Auditor independente e DFs · Excerto da fonte:</a:t>
            </a:r>
          </a:p>
          <a:p>
            <a:r>
              <a:t>12.16 Os serviços de auditoria das demonstrações f inanceiras e demais contas da Classe serão prestados  por Auditor Independente contratado pelo Administrador. Pelos serviços prestados, o Auditor  Independente f ará jus ao recebimento de remuneração a ser def inida em contrato específico, a qual  será paga pela Classe.</a:t>
            </a:r>
          </a:p>
          <a:p>
            <a:r>
              <a:t>CAPÍTULO 13 – TAXA GLOBAL</a:t>
            </a:r>
          </a:p>
          <a:p>
            <a:r>
              <a:t>CNPJ 62552447000120 · Auditor independente e DFs · Condição: Documentos atuais selecionados no inventário por categoria/escopo; a data documental isolada não comprova vigência jurídica.</a:t>
            </a:r>
          </a:p>
          <a:p>
            <a:r>
              <a:t>CNPJ 62552447000120 · Auditor independente e DFs · Versão e prevalência: Documentos atuais selecionados no inventário por categoria/escopo; a data documental isolada não comprova vigência jurídica.</a:t>
            </a:r>
          </a:p>
          <a:p>
            <a:r>
              <a:t>CNPJ 63953620000165 · Auditor independente e DFs · Anexo ao Regulamento · ID 1222863 · 2026-06-02 · versão 1 · p. 4 · 3.4 · https://fnet.bmfbovespa.com.br/fnet/publico/visualizarDocumento?id=1222863</a:t>
            </a:r>
          </a:p>
          <a:p>
            <a:r>
              <a:t>CNPJ 63953620000165 · Auditor independente e DFs · Excerto da fonte:</a:t>
            </a:r>
          </a:p>
          <a:p>
            <a:r>
              <a:t>3.4 Adicionalmente aos Encargos, as seguintes despesas serão debitadas diretamente da Classe, nos termos do art.</a:t>
            </a:r>
          </a:p>
          <a:p>
            <a:r>
              <a:t> 51 do Anexo Normativo II da Resolução CVM 175 (“Despesas Adicionais”):</a:t>
            </a:r>
          </a:p>
          <a:p>
            <a:r>
              <a:t> (i) Despesas com registro de Direitos Creditórios;</a:t>
            </a:r>
          </a:p>
          <a:p>
            <a:r>
              <a:t> (ii) Despesas com serviços de originação, cobranças ordinária e/ou extraordinária dos Direitos Creditórios,  e/ou verificação de lastro dos Direitos Creditórios, conforme aplicável;</a:t>
            </a:r>
          </a:p>
          <a:p>
            <a:r>
              <a:t> (iii) Despesas com a contratação de atividades relacionadas à verificação de lastro;</a:t>
            </a:r>
          </a:p>
          <a:p>
            <a:r>
              <a:t> (iv) Despesas com a contratação de Agente de Retenção/Cobrança; Despesas com a contratação de  consultoria especializada, conforme o caso;</a:t>
            </a:r>
          </a:p>
          <a:p>
            <a:r>
              <a:t> (v) Remuneração do Custodiante;</a:t>
            </a:r>
          </a:p>
          <a:p>
            <a:r>
              <a:t> (vi) Despesas com honorários advocatícios para quaisquer assuntos de interesse da Classe, seja na esfera  judicial ou extrajudicial, inclusive consultivo;</a:t>
            </a:r>
          </a:p>
          <a:p>
            <a:r>
              <a:t> (vii) Despesas com a assinatura e registro dos Termos de Endosso, conforme aplicável, junto aos  competentes cartórios de Registro de Títulos e Documentos;</a:t>
            </a:r>
          </a:p>
          <a:p>
            <a:r>
              <a:t> (viii) Despesas inerentes à distribuição primária de Cotas, inclusive a contratação e remuneração do  distribuidor das Cotas para cada oferta de Cotas da Classe, nos termos de cada contrato de distribuição  e honorários devidos ao(s) assessor(es) legal(is) de cada oferta, assim como despesas com o registro das  Cotas na CVM, ANBIMA e/ou na entidade de mercado organizado em que as cotas sejam registradas,  conforme aplicável;</a:t>
            </a:r>
          </a:p>
          <a:p>
            <a:r>
              <a:t> (ix) Taxas de fiscalização da CVM e/ou ANBIMA, conforme aplicável; e</a:t>
            </a:r>
          </a:p>
          <a:p>
            <a:r>
              <a:t> (x) Despesas com contratação e remuneração do Auditor Independente e da Agência Classificadora de  Risco.</a:t>
            </a:r>
          </a:p>
          <a:p>
            <a:r>
              <a:t>CNPJ 63953620000165 · Auditor independente e DFs · Condição: Documentos atuais selecionados no inventário por categoria/escopo; a data documental isolada não comprova vigência jurídica.</a:t>
            </a:r>
          </a:p>
          <a:p>
            <a:r>
              <a:t>CNPJ 63953620000165 · Auditor independente e DFs · Motivo: Cláusula primária localizada e citada, mas sua lista/condições extensas não admitem uma síntese literal curta confirmada. O trecho integral permanece nas fontes.</a:t>
            </a:r>
          </a:p>
          <a:p>
            <a:r>
              <a:t>CNPJ 63953620000165 · Auditor independente e DFs · Versão e prevalência: Documentos atuais selecionados no inventário por categoria/escopo; a data documental isolada não comprova vigência jurídica.</a:t>
            </a:r>
          </a:p>
          <a:p>
            <a:r>
              <a:t>CNPJ 63953620000165 · Auditor independente e DFs · Resumo do histórico: {"count": 8, "dates": ["2026-04-28", "2026-05-08", "2026-05-15"], "document_count": 3, "sources": [{"document_id": "1327859", "title": "Demonstrações Financeiras - Fusão, cisão e incorporação", "reference_date": "2026-05-15", "version": "1", "page": 1, "url": "https://fnet.bmfbovespa.com.br/fnet/publico/visualizarDocumento?id=1327859", "sha256": "dca1c68babb97f887528c3e2e47596a9c30f507b067981a35655b2f2da9c8054"}, {"document_id": "1298691", "title": "Demonstrações Financeiras - Fusão, cisão e incorporação", "reference_date": "2026-05-08", "version": "1", "page": 1, "url": "https://fnet.bmfbovespa.com.br/fnet/publico/visualizarDocumento?id=1298691", "sha256": "58c570d9b8d4d265330d3db3ea81c435b8e44a6dab4002aa37790652a1ee9819"}, {"document_id": "1282180", "title": "Demonstrações Financeiras - Fusão, cisão e incorporação", "reference_date": "2026-04-28", "version": "1", "page": 1, "url": "https://fnet.bmfbovespa.com.br/fnet/publico/visualizarDocumento?id=1282180", "sha256": "afaaa0e6809be4385e5bdb6c911aac582032c5bdbac3d7750234bf9eaf00438a"}], "reference": {"path": "history/63953620000165.json", "criterion_id": "audit",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Governança e alterações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Quóruns e matérias reservadas · Regulamento · ID 670691 · 28/04/2024 · versão Regulamento — referência 28/04/2024 · p. 4 · Parte Geral, 4.4–4.4.1 · https://fnet.bmfbovespa.com.br/fnet/publico/visualizarDocumento?id=670691</a:t>
            </a:r>
          </a:p>
          <a:p>
            <a:r>
              <a:t>CNPJ 54871427000194 · Quóruns e matérias reservadas · Excerto da fonte:</a:t>
            </a:r>
          </a:p>
          <a:p>
            <a:r>
              <a:t>4.4 Ressalvadas as exceções descritas neste Regulamento, toda e qualquer matéria submetida à deliberação dos cotistas deverá ser aprovada por maioria dos votos dos presentes. 4.4.1 As deliberações relativas às matérias elencadas nos incisos abaixo serão tomadas, em primeira convocação ou em segunda convocação, pelos votos dos titulares da maioria das cotas em circulação, em sede assembleia geral de cotistas ou de assembleia especial de cotistas, conf orme o caso: (i) aprovação das demonstrações contábeis do FUNDO; (ii) alteração da Parte Geral deste Regulamento; (iii) substituição ou remoção do Prestador de Serviços Essenciais do FUNDO, ressalvada a possibilidade prevista no Art. 70, §1º, da Parte Geral da Resolução CVM 175; (iv) alterações nos quóruns de deliberação def inidos neste Regulamento; (v) cobrança de taxas e encargos pelo ADMINISTRADOR, de qualquer natureza, que não estejam expressamente previstos neste Regulamento; (vi) liquidação do FUNDO. (vii) plano de resolu</a:t>
            </a:r>
          </a:p>
          <a:p>
            <a:r>
              <a:t>CNPJ 54871427000194 · Quóruns e matérias reservadas · Regulamento · ID 670691 · 28/04/2024 · versão Regulamento — referência 28/04/2024 · p. 17 · Anexo I, 10.1 · https://fnet.bmfbovespa.com.br/fnet/publico/visualizarDocumento?id=670691</a:t>
            </a:r>
          </a:p>
          <a:p>
            <a:r>
              <a:t>CNPJ 54871427000194 · Quóruns e matérias reservadas · Excerto da fonte:</a:t>
            </a:r>
          </a:p>
          <a:p>
            <a:r>
              <a:t>10.1 Sem prejuízo de outros requisitos e inf ormações previstos na regulamentação vigente, são aplicáveis à Assembleia Especial de Cotistas as mesmas disposições procedimentais da Assembleia Geral de Cotistas. 10.2 A Assembleia Especial de Cotistas é responsável por deliberar sobre as matérias específicas da Classe de Cotas, sem prejuízo das demais disposições previstas na regulamentação aplicável, incluindo, mas não se limitando a: (i) deliberar sobre as demonstrações contábeis da Classe; (ii) deliberar sobre substituição de Prestadores de Serviços Essenciais, observado o disposto no art. 70, §1º da parte geral da Resolução CVM 175; (iii) deliberar sobre elevação da Taxa de Administração, inclusive na hipótese de restabelecimento de taxa que tenha sido objeto de redução; (iv) deliberar sobre incorporação, f usão, cisão total ou parcial, a transf ormação ou liquidação da Classe; (v) alterações das características, vantagens, direitos e obrigações das Cotas; (vi) alterar critérios e procedimentos para Amortização e/ou resgate de Cotas mediante dação em pagamento de Direitos Creditórios; (vii) a</a:t>
            </a:r>
          </a:p>
          <a:p>
            <a:r>
              <a:t>CNPJ 54871427000194 · Quóruns e matérias reservadas · Versão e prevalência: Leitura específica das cláusulas indicadas; condições e conflitos preservados. Seleção documental atual não comprova vigência jurídica por data isolada.</a:t>
            </a:r>
          </a:p>
          <a:p>
            <a:r>
              <a:t>CNPJ 54871427000194 · Quóruns e matérias reservadas · Resumo do histórico: {"count": 1, "dates": ["2024-04-19"], "document_count": 1, "sources": [{"document_id": "670689", "title": "Regulamento", "reference_date": "2024-04-19", "version": "1", "page": 20, "clause": "11.6", "url": "https://fnet.bmfbovespa.com.br/fnet/publico/visualizarDocumento?id=670689", "sha256": "891bc9bc5d87bbc02ec139077a84d2702eb81ea02035fb71d24f5b8366b94a0b"}], "reference": {"path": "history/54871427000194.json", "criterion_id": "quorum", "total_count": 1, "preview_count": 1, "full_text_deferred": true, "sha256": "35d7cd99be50c7287c9fb675cf4f2e736002315295a225a9efa79c8d9186d874"}}</a:t>
            </a:r>
          </a:p>
          <a:p>
            <a:r>
              <a:t>CNPJ 60010416000112 · Quóruns e matérias reservadas · Regulamento · ID 1051393 · 09/10/2025 · versão Regulamento09/10/2025 · p. 18 · AnexoI9.2(ii)–(xvii) · https://fnet.bmfbovespa.com.br/fnet/publico/visualizarDocumento?id=1051393</a:t>
            </a:r>
          </a:p>
          <a:p>
            <a:r>
              <a:t>CNPJ 60010416000112 · Quóruns e matérias reservadas · Excerto da fonte:</a:t>
            </a:r>
          </a:p>
          <a:p>
            <a:r>
              <a:t>(ii) alterar este Anexo I e seus complementos, incluindo mas não se limitando aos Apêndices de cada uma das subclasses; (iii) deliberar sobre substituição de Prestadores de Serviços Essenciais, observado o disposto no Art. 70, §1º da parte geral da Resolução CVM 175, quando aplicável, ou do Custodiante; (iv) deliberar sobre elevação da Taxa de Administração, inclusive na hipótese de restabelecimento de taxa que tenha sido objeto de redução; (v) deliberar sobre incorporação, fusão, cisão total ou parcial, a transformação ou liquidação da Classe; (vi) alter</a:t>
            </a:r>
          </a:p>
          <a:p>
            <a:r>
              <a:t>CNPJ 60010416000112 · Quóruns e matérias reservadas · Regulamento · ID 1051393 · 09/10/2025 · versão Regulamento09/10/2025 · p. 19 · AnexoI9.8–9.9 · https://fnet.bmfbovespa.com.br/fnet/publico/visualizarDocumento?id=1051393</a:t>
            </a:r>
          </a:p>
          <a:p>
            <a:r>
              <a:t>CNPJ 60010416000112 · Quóruns e matérias reservadas · Excerto da fonte:</a:t>
            </a:r>
          </a:p>
          <a:p>
            <a:r>
              <a:t>9.8 As deliberações constantes dos incisos (ii), (iii), (iv), (v), (vi), (vii), (x), (xi), (xii), (xiii) e (xvii) acima, apenas serão aprovadas, seja em primeira ou em segunda convocação, por unanimidade dos votos dos titulares das Cotas em circulação. 9.9 As deliberações relativas aos demais incisos do item 9.2 acima apenas serão aprovadas, seja em primeira ou em segunda convocação, mediante o voto favorável dos Cotistas que representem a maioria das Cotas emitidas pela Classe. 9.10 Somente os Cotistas, seus representantes legais ou procuradores legalmente nomeados há menos de 1 (um) ano ter</a:t>
            </a:r>
          </a:p>
          <a:p>
            <a:r>
              <a:t>CNPJ 60010416000112 · Quóruns e matérias reservadas · Versão e prevalência: Leitura específica das cláusulas indicadas; condições e conflitos preservados. Seleção documental atual não comprova vigência jurídica por data isolada.</a:t>
            </a:r>
          </a:p>
          <a:p>
            <a:r>
              <a:t>CNPJ 60010416000112 · Quóruns e matérias reservadas · Resumo do histórico: {"count": 3, "dates": ["2025-03-20", "2025-05-09", "2025-05-12"], "document_count": 3, "sources": [{"document_id": "1004656", "title": "AGE", "reference_date": "2025-05-12", "version": "1", "page": 1, "url": "https://fnet.bmfbovespa.com.br/fnet/publico/visualizarDocumento?id=1004656", "sha256": "f6c9c009f6170e2b29f074b98522accec73f0c40efbf11f9ec2c8d3f1402616b"}, {"document_id": "911262", "title": "AGE", "reference_date": "2025-05-09", "version": "1", "page": 1, "url": "https://fnet.bmfbovespa.com.br/fnet/publico/visualizarDocumento?id=911262", "sha256": "675de4ffe8c5ee95957fb29810625ce850d1a0b69b5231747442266f0cbf32a3"}, {"document_id": "993786", "title": "Regulamento", "reference_date": "2025-03-20", "version": "1", "page": 22, "clause": "10.6", "url": "https://fnet.bmfbovespa.com.br/fnet/publico/visualizarDocumento?id=993786", "sha256": "fd0fdd369a195510d81f81f505195a0b09e5f43522a990afa7d58c4f872921c8"}], "reference": {"path": "history/60010416000112.json", "criterion_id": "quorum", "total_count": 3, "preview_count": 3, "full_text_deferred": true, "sha256": "8e2bd813f4c51cf01f6bfaad164bafe69d2bbb192f753eac92da3a01c2e63046"}}</a:t>
            </a:r>
          </a:p>
          <a:p>
            <a:r>
              <a:t>CNPJ 62696791000193 · Quóruns e matérias reservadas · Regulamento · ID 1143317 · 20/03/2026 · versão Regulamento — referência 20/03/2026 · p. 20 · Anexo I, 10.2, tabela · https://fnet.bmfbovespa.com.br/fnet/publico/visualizarDocumento?id=1143317</a:t>
            </a:r>
          </a:p>
          <a:p>
            <a:r>
              <a:t>CNPJ 62696791000193 · Quóruns e matérias reservadas · Excerto da fonte:</a:t>
            </a:r>
          </a:p>
          <a:p>
            <a:r>
              <a:t>10.2 Os seguintes quóruns deverão ser observados pela Assembleia Especial de Cotistas ao deliberar as matérias abaixo: Matéria Quórum I – alterar o presente Anexo; Maioria das Cotas Subscritas (“Quórum Qualificado”), observada BTG Pactual SAC: 0800 772 2827 | Ouvidoria: 0800 722 0048 | btgpactual.co m 15</a:t>
            </a:r>
          </a:p>
          <a:p>
            <a:r>
              <a:t>CNPJ 62696791000193 · Quóruns e matérias reservadas · Regulamento · ID 1143317 · 20/03/2026 · versão Regulamento — referência 20/03/2026 · p. 21 · Anexo I, 10.2, tabela · https://fnet.bmfbovespa.com.br/fnet/publico/visualizarDocumento?id=1143317</a:t>
            </a:r>
          </a:p>
          <a:p>
            <a:r>
              <a:t>CNPJ 62696791000193 · Quóruns e matérias reservadas · Excerto da fonte:</a:t>
            </a:r>
          </a:p>
          <a:p>
            <a:r>
              <a:t>Matéria Quórum a necessidade de voto afirmativo da Maioria das Cotas Seniores subscritas da Classe Quórum Qualif icado observada a necessidade de voto af irmativo da II – substituição do Administrador, do Gestor e da Cogestora; Maioria das Cotas Seniores subscritas da Classe Maioria Simples, observada a III – Emissão e distribuição de novas Cotas em quantidade necessidade de voto af irmativo da superior ao Capital Autorizado da Classe ; Maioria das Cotas Seniores subscritas da Classe</a:t>
            </a:r>
          </a:p>
          <a:p>
            <a:r>
              <a:t>CNPJ 62696791000193 · Quóruns e matérias reservadas · Regulamento · ID 1143317 · 20/03/2026 · versão Regulamento — referência 20/03/2026 · p. 22 · Anexo I, 10.2(XI) e 10.5–10.7 · https://fnet.bmfbovespa.com.br/fnet/publico/visualizarDocumento?id=1143317</a:t>
            </a:r>
          </a:p>
          <a:p>
            <a:r>
              <a:t>CNPJ 62696791000193 · Quóruns e matérias reservadas · Excerto da fonte:</a:t>
            </a:r>
          </a:p>
          <a:p>
            <a:r>
              <a:t>10.5 As deliberações que tenham por objeto alterações de Benchmark apenas serão aprovadas se assim deliberado: (i) pelos votos dos titulares da maioria das Cotas em circulação da Série ou Subclasse cujo Benchmark é alterado; e (ii) pelos votos dos titulares da maioria das Cotas Mezanino que se subordinem a ela e/ou das Cotas Subordinadas em circulação. 10.6 As deliberações que tenham por objeto o aumento do Índice de Subordinação estão sujeitas à aprovação da maioria simples dos votos dos titulares das Cotas Mezanino que se subordinem a ela e/ou das Cotas Subordinadas em circulação. 10.7 As deliberações que tenham por objeto a diminuição do Índice de Subordinação apenas serão aprovadas se assim deliberado: (i) pelos votos dos titulares da maioria das Cotas em circulação de cada uma das Séries de Cotas Seniores e/ou dos titulares das Cotas Mezanino que tenham o Benchmark alterado; e (ii) pelo voto dos titulares da maioria das Cotas Mezanino que se subordinem a ela e/ou Cotas Subordinadas Júnior em circulação . Representante de Cotistas 10.8 A Assembleia de Cotistas pode, a qualquer momento, eleger até 3 (três) representantes de cotistas, a serem eleitos e nomeados pela assembleia especial,</a:t>
            </a:r>
          </a:p>
          <a:p>
            <a:r>
              <a:t>CNPJ 62696791000193 · Quóruns e matérias reservadas · Versão e prevalência: Leitura específica das cláusulas indicadas; condições e conflitos preservados. Seleção documental atual não comprova vigência jurídica por data isolada.</a:t>
            </a:r>
          </a:p>
          <a:p>
            <a:r>
              <a:t>CNPJ 55563624000109 · Quóruns e matérias reservadas · Regulamento · ID 1192614 · 30/04/2026 · versão Regulamento30/04/2026 · p. 19 · AnexoI10.2(i)–(v) · https://fnet.bmfbovespa.com.br/fnet/publico/visualizarDocumento?id=1192614</a:t>
            </a:r>
          </a:p>
          <a:p>
            <a:r>
              <a:t>CNPJ 55563624000109 · Quóruns e matérias reservadas · Excerto da fonte:</a:t>
            </a:r>
          </a:p>
          <a:p>
            <a:r>
              <a:t>10.2 A Assembleia Especial de Cotistas é responsável por deliberar, observados os quóruns abaixo, sobre as matérias específicas da Classe, sem prejuízo das demais disposições previstas na regulamentação aplicável, incluindo, mas não se limitando a: MATÉRIA SUJEITA À APROVAÇÃO QUÓRUM DE DELIBERAÇÃO (i) deliberar sobre as demonstrações contábeis da Classe; Maioria do total das Cotas emitidas (ii) deliberar sobre a substituição de Prestadores de Serviços 90% (noventa por cento) do total das Cotas</a:t>
            </a:r>
          </a:p>
          <a:p>
            <a:r>
              <a:t>CNPJ 55563624000109 · Quóruns e matérias reservadas · Regulamento · ID 1192614 · 30/04/2026 · versão Regulamento30/04/2026 · p. 20 · AnexoI10.2(vi)–(xiii) · https://fnet.bmfbovespa.com.br/fnet/publico/visualizarDocumento?id=1192614</a:t>
            </a:r>
          </a:p>
          <a:p>
            <a:r>
              <a:t>CNPJ 55563624000109 · Quóruns e matérias reservadas · Excerto da fonte:</a:t>
            </a:r>
          </a:p>
          <a:p>
            <a:r>
              <a:t>(vi) alterar as características, vantagens, direitos e obrigações 90% (noventa por cento) do total das Cotas das Cotas; emitidas (vii) alterar critérios e procedimentos para resgate de Cotas mediante dação em pagamento de Cotas da Classe Maioria do total das Cotas emitidas Investida; (viii) aprovar a emissão de novas Cotas fora do Capital Maioria do total das Cotas emitidas</a:t>
            </a:r>
          </a:p>
          <a:p>
            <a:r>
              <a:t>CNPJ 55563624000109 · Quóruns e matérias reservadas · Versão e prevalência: Leitura específica das cláusulas indicadas; condições e conflitos preservados. Seleção documental atual não comprova vigência jurídica por data isolada.</a:t>
            </a:r>
          </a:p>
          <a:p>
            <a:r>
              <a:t>CNPJ 55563624000109 · Quóruns e matérias reservadas · Resumo do histórico: {"count": 2, "dates": ["2025-01-31", "2026-01-31"], "document_count": 2, "sources": [{"document_id": "1178840", "title": "Demonstrações Financeiras", "reference_date": "2026-01-31", "version": "1", "page": 24, "url": "https://fnet.bmfbovespa.com.br/fnet/publico/visualizarDocumento?id=1178840", "sha256": "c458e98664c5c907ddb5a05a94b120bed4e05295b2bfc420f5ba69af0a229abe"}, {"document_id": "891861", "title": "Demonstrações Financeiras", "reference_date": "2025-01-31", "version": "1", "page": 25, "url": "https://fnet.bmfbovespa.com.br/fnet/publico/visualizarDocumento?id=891861", "sha256": "e9cb9e6ddbe505fe068cfcac33605165a98313489de0d3ce6d4d238263c3f3e7"}], "reference": {"path": "history/55563624000109.json", "criterion_id": "quorum", "total_count": 2, "preview_count": 2, "full_text_deferred": true, "sha256": "7835d573fb58a3c19adf5b8ecc2aee2bdbb9a88f7a0c0209b5f262b64c7522e3"}}</a:t>
            </a:r>
          </a:p>
          <a:p>
            <a:r>
              <a:t>CNPJ 62552447000120 · Quóruns e matérias reservadas · Regulamento · ID 1200623 · 21/05/2026 · versão Consolidado21/05/2026 aprovado pelo ato1200625 · p. 21 · AnexoI10.2(i)–(x) · https://fnet.bmfbovespa.com.br/fnet/publico/visualizarDocumento?id=1200623</a:t>
            </a:r>
          </a:p>
          <a:p>
            <a:r>
              <a:t>CNPJ 62552447000120 · Quóruns e matérias reservadas · Excerto da fonte:</a:t>
            </a:r>
          </a:p>
          <a:p>
            <a:r>
              <a:t>10.2 Os seguintes quóruns deverão ser observados pela Assembleia Especial ao deliberar as matérias abaixo: Matéria Quórum (i) deliberar sobre substituição de Prestadores de Serviços Unanimidade dos Cotistas Essenciais, observado o disposto no art. 70, §1º da Parte Geral da Resolução CVM 175, quando aplicável; (ii) deliberar sobre elevação da Taxa Global, inclusive na Unanimidade dos Cotistas hipótese de restabelecimento de taxa que tenha sido objeto de redução; (iii) delibera</a:t>
            </a:r>
          </a:p>
          <a:p>
            <a:r>
              <a:t>CNPJ 62552447000120 · Quóruns e matérias reservadas · Versão e prevalência: Leitura específica das cláusulas indicadas; condições e conflitos preservados. Seleção documental atual não comprova vigência jurídica por data isolada.</a:t>
            </a:r>
          </a:p>
          <a:p>
            <a:r>
              <a:t>CNPJ 63953620000165 · Quóruns e matérias reservadas · Anexo ao Regulamento · ID 1222863 · 02/06/2026 · versão AnexoConsignadoPrivado02/06/2026 · p. 13 · 10.2(ii)–(xvii) · https://fnet.bmfbovespa.com.br/fnet/publico/visualizarDocumento?id=1222863</a:t>
            </a:r>
          </a:p>
          <a:p>
            <a:r>
              <a:t>CNPJ 63953620000165 · Quóruns e matérias reservadas · Excerto da fonte:</a:t>
            </a:r>
          </a:p>
          <a:p>
            <a:r>
              <a:t>10.2 Os seguintes quóruns deverão ser observados pela Assembleia Especial de Cotistas ao deliberar as matérias abaixo: Matéria Quórum (i) deliberar sobre as demonstrações contábeis da Classe; Maioria das Cotas presentes (ii) alterar o presente Anexo; Maioria das Cotas de cada Subclasse (iii) deliberar sobre substituição de Prestadores de Serviços Maioria das Cotas da Classe Essenciais, observado o disposto no Artigo 70, §1º da parte geral da R</a:t>
            </a:r>
          </a:p>
          <a:p>
            <a:r>
              <a:t>CNPJ 63953620000165 · Quóruns e matérias reservadas · Anexo ao Regulamento · ID 1222863 · 02/06/2026 · versão AnexoConsignadoPrivado02/06/2026 · p. 14 · 10.5–10.8 · https://fnet.bmfbovespa.com.br/fnet/publico/visualizarDocumento?id=1222863</a:t>
            </a:r>
          </a:p>
          <a:p>
            <a:r>
              <a:t>CNPJ 63953620000165 · Quóruns e matérias reservadas · Excerto da fonte:</a:t>
            </a:r>
          </a:p>
          <a:p>
            <a:r>
              <a:t>10.5 Caso a matéria em deliberação resulte ou possa resultar em uma redução do Índice de Subordinação de uma determinada Subclasse, somente podem votar os titulares de Subclasses de Cotas Seniores. 10.6 As deliberações que tenham por objeto alterações de Benchmark apenas serão aprovadas se assim deliberado: (i) pelos votos dos titulares da maioria das Cotas Seniores cujo Benchmark é alterado; e (ii) pelos votos dos titulares da maioria das Cotas Subordinadas em circulação. 10.7 As deliberações que tenham por objeto o aumento do Índice de Subordinação Sênior estão sujeitas à aprovação da maioria simples dos votos dos titu</a:t>
            </a:r>
          </a:p>
          <a:p>
            <a:r>
              <a:t>CNPJ 63953620000165 · Quóruns e matérias reservadas · Condição: 10.7/10.8 repetem aumento do índice com quóruns distintos; interpretar regra específica demandará resolver conflito, sem presumir uma aprovação.</a:t>
            </a:r>
          </a:p>
          <a:p>
            <a:r>
              <a:t>CNPJ 63953620000165 · Quóruns e matérias reservadas · Versão e prevalência: Leitura específica das cláusulas indicadas; condições e conflitos preservados. Seleção documental atual não comprova vigência jurídica por data isolada.</a:t>
            </a:r>
          </a:p>
          <a:p>
            <a:r>
              <a:t>CNPJ 63953620000165 · Quóruns e matérias reservadas · Resumo do histórico: {"count": 7, "dates": ["2026-04-28", "2026-05-08", "2026-05-15"], "document_count": 3, "sources": [{"document_id": "1327859", "title": "Demonstrações Financeiras - Fusão, cisão e incorporação", "reference_date": "2026-05-15", "version": "1", "page": 10, "url": "https://fnet.bmfbovespa.com.br/fnet/publico/visualizarDocumento?id=1327859", "sha256": "dca1c68babb97f887528c3e2e47596a9c30f507b067981a35655b2f2da9c8054"}, {"document_id": "1298691", "title": "Demonstrações Financeiras - Fusão, cisão e incorporação", "reference_date": "2026-05-08", "version": "1", "page": 10, "url": "https://fnet.bmfbovespa.com.br/fnet/publico/visualizarDocumento?id=1298691", "sha256": "58c570d9b8d4d265330d3db3ea81c435b8e44a6dab4002aa37790652a1ee9819"}, {"document_id": "1205431", "title": "AGE", "reference_date": "2026-04-28", "version": "1", "page": 1, "url": "https://fnet.bmfbovespa.com.br/fnet/publico/visualizarDocumento?id=1205431", "sha256": "e0b59c701c5d0dbf60de698ea7664d442240863b7043bacdb334ce484188b2ac"}], "reference": {"path": "history/63953620000165.json", "criterion_id": "quorum", "total_count": 7, "preview_count": 3, "full_text_deferred": true, "sha256": "a7b89077f5e21098c2d601c303faabc3ff6b9729f89d8afecdc60fe1404720c1"}}</a:t>
            </a:r>
          </a:p>
          <a:p>
            <a:r>
              <a:t>CNPJ 54871427000194 · Partes relacionadas e conflitos · Regulamento · ID 670691 · 2024-04-28 · versão 1 · p. 11 · 4.10 · https://fnet.bmfbovespa.com.br/fnet/publico/visualizarDocumento?id=670691</a:t>
            </a:r>
          </a:p>
          <a:p>
            <a:r>
              <a:t>CNPJ 54871427000194 · Partes relacionadas e conflitos · Excerto da fonte:</a:t>
            </a:r>
          </a:p>
          <a:p>
            <a:r>
              <a:t>4.10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54871427000194 · Partes relacionadas e conflitos · Regulamento · ID 670691 · 2024-04-28 · versão 1 · p. 11 · 4.11 · https://fnet.bmfbovespa.com.br/fnet/publico/visualizarDocumento?id=670691</a:t>
            </a:r>
          </a:p>
          <a:p>
            <a:r>
              <a:t>CNPJ 54871427000194 · Partes relacionadas e conflitos · Excerto da fonte:</a:t>
            </a:r>
          </a:p>
          <a:p>
            <a:r>
              <a:t>4.11 A Classe poderá, direta ou indiretamente e, nos termos da legislação aplicável: (i) adquirir Direitos  Creditórios que sejam cedidos e/ou originados pelo ADMINISTRADOR e/ou pelo GESTOR, ou partes  a eles relacionadas, tal como definidas pelas regras contábeis que tratam desse assunto; e (ii) ceder  Direitos Creditórios a qualquer das pessoas, fundos de investimento ou entidades referidas no item (i)  acima, desde que (i) o ADMINISTRADOR, GESTOR, a entidade registradora e o CUSTODIANTE de  Direitos Creditórios não sejam partes relacionadas entre si; e (ii) a entidade registradora e o  CUSTODIANTE dos Direitos Creditórios não sejam partes relacionadas ao originador ou Cedente.</a:t>
            </a:r>
          </a:p>
          <a:p>
            <a:r>
              <a:t>CNPJ 54871427000194 · Partes relacionadas e conflitos · Regulamento · ID 670691 · 2024-04-28 · versão 1 · p. 25 · 12.21 · https://fnet.bmfbovespa.com.br/fnet/publico/visualizarDocumento?id=670691</a:t>
            </a:r>
          </a:p>
          <a:p>
            <a:r>
              <a:t>CNPJ 54871427000194 · Partes relacionadas e conflitos · Excerto da fonte:</a:t>
            </a:r>
          </a:p>
          <a:p>
            <a:r>
              <a:t>12.21 O GESTOR, em nome da Classe, poderá contratar um ou mais terceiros para a prestação de serviços  de Agente de Cobrança de Direitos Creditórios Inadimplidos, os quais poderão ser partes relacionadas  ou integrar o grupo do ADMINISTRADOR ou dos demais prestadores de serviços da Classe. ] Serão  atribuições do Agente de Cobrança, observado o disposto neste Regulamento e na regulamentação  aplicável:</a:t>
            </a:r>
          </a:p>
          <a:p>
            <a:r>
              <a:t>(i) sempre que necessário, notificar os Devedores sobre a cessão dos Direitos Creditórios à  Classe, nos termos do Art. 290 do Código Civil;</a:t>
            </a:r>
          </a:p>
          <a:p>
            <a:r>
              <a:t>(ii) sempre que solicitado pelo ADMINISTRADOR e/ou pelo GESTOR, reportar ao  ADMINISTRADOR e ao GESTOR as ações tomadas e/ou eventos relevantes ocorridos no  âmbito da cobrança, seja judicial ou extrajudicial, dos Direitos Creditórios Inadimplidos, bem  como o estado de ref erida cobrança;</a:t>
            </a:r>
          </a:p>
          <a:p>
            <a:r>
              <a:t>(iii) comparecer à Assembleia Especial de Cotistas quando assim requerido pelo  ADMINISTRADOR;</a:t>
            </a:r>
          </a:p>
          <a:p>
            <a:r>
              <a:t>(iv) conf irmar o recebimento dos boletos bancários de cobrança enviados aos Devedores, se  aplicável;</a:t>
            </a:r>
          </a:p>
          <a:p>
            <a:r>
              <a:t>(v) controlar, coordenar, gerir e f iscalizar as ações de cobrança de Direitos Creditórios  Inadimplidos;</a:t>
            </a:r>
          </a:p>
          <a:p>
            <a:r>
              <a:t>(vi) adotar, em nome e por conta da Classe, todos os procedimentos de cobrança dos Direitos  Creditórios Inadimplidos de titularidade da Classe;</a:t>
            </a:r>
          </a:p>
          <a:p>
            <a:r>
              <a:t>(vii) conf orme o caso, ef etuar a inclusão ou exclusão do nome de quaisquer Devedores dos  Direitos Creditórios Inadimplidos no registro negativo de órgãos e/ou sistemas de informação  e proteção ao crédito; e</a:t>
            </a:r>
          </a:p>
          <a:p>
            <a:r>
              <a:t>(viii) conduzir, por si ou por meio dos assessores legais contratados para esse f im, processo  administrativo, judicial e/ou arbitral contra os Devedores, incluindo, ainda, a excussão de  eventuais garantias acessórias aos Direitos Creditórios.</a:t>
            </a:r>
          </a:p>
          <a:p>
            <a:r>
              <a:t>CNPJ 54871427000194 · Partes relacionadas e conflitos · Condição: Documentos atuais selecionados no inventário por categoria/escopo; a data documental isolada não comprova vigência jurídica.</a:t>
            </a:r>
          </a:p>
          <a:p>
            <a:r>
              <a:t>CNPJ 54871427000194 · Partes relacionadas e conflitos · Versão e prevalência: Documentos atuais selecionados no inventário por categoria/escopo; a data documental isolada não comprova vigência jurídica.</a:t>
            </a:r>
          </a:p>
          <a:p>
            <a:r>
              <a:t>CNPJ 54871427000194 · Partes relacionadas e conflitos · Resumo do histórico: {"count": 1, "dates": ["2024-04-19"], "document_count": 1, "sources": [{"document_id": "670689", "title": "Regulamento", "reference_date": "2024-04-19", "version": "1", "page": 11, "clause": "4.10", "url": "https://fnet.bmfbovespa.com.br/fnet/publico/visualizarDocumento?id=670689", "sha256": "891bc9bc5d87bbc02ec139077a84d2702eb81ea02035fb71d24f5b8366b94a0b"}], "reference": {"path": "history/54871427000194.json", "criterion_id": "related_parties", "total_count": 1, "preview_count": 1, "full_text_deferred": true, "sha256": "35d7cd99be50c7287c9fb675cf4f2e736002315295a225a9efa79c8d9186d874"}}</a:t>
            </a:r>
          </a:p>
          <a:p>
            <a:r>
              <a:t>CNPJ 60010416000112 · Partes relacionadas e conflitos · Regulamento · ID 1051393 · 2025-10-09 · versão 1 · p. 12 · 4.8 · https://fnet.bmfbovespa.com.br/fnet/publico/visualizarDocumento?id=1051393</a:t>
            </a:r>
          </a:p>
          <a:p>
            <a:r>
              <a:t>CNPJ 60010416000112 · Partes relacionadas e conflitos · Excerto da fonte:</a:t>
            </a:r>
          </a:p>
          <a:p>
            <a:r>
              <a:t>4.8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60010416000112 · Partes relacionadas e conflitos · Regulamento · ID 1051393 · 2025-10-09 · versão 1 · p. 12 · 4.9 · https://fnet.bmfbovespa.com.br/fnet/publico/visualizarDocumento?id=1051393</a:t>
            </a:r>
          </a:p>
          <a:p>
            <a:r>
              <a:t>CNPJ 60010416000112 · Partes relacionadas e conflitos · Excerto da fonte:</a:t>
            </a:r>
          </a:p>
          <a:p>
            <a:r>
              <a:t>4.9 Sem prejuízo de limites mais restritivos definidos neste Regulamento, o Gestor deverá observar, ainda, os  seguintes limites de concentração para a composição da Carteira:</a:t>
            </a:r>
          </a:p>
          <a:p>
            <a:r>
              <a:t> (i ) Até 100% (cem por cento) da parcela do Patrimônio Líquido investida em Ativos  Financeiros de Liquidez poderá ser alocada em Ativos Financeiros de Liquidez de  emissão ou que envolvam retenção de risco por parte do Administrador, Gestor, e/ou  suas partes relacionadas; e</a:t>
            </a:r>
          </a:p>
          <a:p>
            <a:r>
              <a:t> (ii) Até 100% (cem por cento) da parcela do Patrimônio Líquido investida em operações  com derivativos poderá ser alocada em derivativos nos quais, inexistindo contraparte  central, se tenha como contraparte o Gestor e/ou suas partes relacionadas.</a:t>
            </a:r>
          </a:p>
          <a:p>
            <a:r>
              <a:t>CNPJ 60010416000112 · Partes relacionadas e conflitos · Regulamento · ID 1051393 · 2025-10-09 · versão 1 · p. 12 · 4.12.1 · https://fnet.bmfbovespa.com.br/fnet/publico/visualizarDocumento?id=1051393</a:t>
            </a:r>
          </a:p>
          <a:p>
            <a:r>
              <a:t>CNPJ 60010416000112 · Partes relacionadas e conflitos · Excerto da fonte:</a:t>
            </a:r>
          </a:p>
          <a:p>
            <a:r>
              <a:t>4.12.1. Após o término do Período de Investimento, a Classe utilizará os recursos provenientes do  pagamento dos Direitos Creditórios e demais aplicações para amortização das Cotas, observada  a ordem de alocação de recursos def inida no Capítulo 7 abaixo.</a:t>
            </a:r>
          </a:p>
          <a:p>
            <a:r>
              <a:t>Regras, procedimentos e limites para efetuar cessão de direitos creditórios para o cedente e suas partes relacionadas</a:t>
            </a:r>
          </a:p>
          <a:p>
            <a:r>
              <a:t>CNPJ 60010416000112 · Partes relacionadas e conflitos · Condição: Documentos atuais selecionados no inventário por categoria/escopo; a data documental isolada não comprova vigência jurídica.</a:t>
            </a:r>
          </a:p>
          <a:p>
            <a:r>
              <a:t>CNPJ 60010416000112 · Partes relacionadas e conflitos · Versão e prevalência: Documentos atuais selecionados no inventário por categoria/escopo; a data documental isolada não comprova vigência jurídica.</a:t>
            </a:r>
          </a:p>
          <a:p>
            <a:r>
              <a:t>CNPJ 60010416000112 · Partes relacionadas e conflitos · Resumo do histórico: {"count": 1, "dates": ["2025-03-20"], "document_count": 1, "sources": [{"document_id": "993786", "title": "Regulamento", "reference_date": "2025-03-20", "version": "1", "page": 12, "clause": "4.8", "url": "https://fnet.bmfbovespa.com.br/fnet/publico/visualizarDocumento?id=993786", "sha256": "fd0fdd369a195510d81f81f505195a0b09e5f43522a990afa7d58c4f872921c8"}], "reference": {"path": "history/60010416000112.json", "criterion_id": "related_parties", "total_count": 1, "preview_count": 1, "full_text_deferred": true, "sha256": "8e2bd813f4c51cf01f6bfaad164bafe69d2bbb192f753eac92da3a01c2e63046"}}</a:t>
            </a:r>
          </a:p>
          <a:p>
            <a:r>
              <a:t>CNPJ 62696791000193 · Partes relacionadas e conflitos · Regulamento · ID 1143317 · 2026-03-20 · versão 1 · p. 12 · 4.10 · https://fnet.bmfbovespa.com.br/fnet/publico/visualizarDocumento?id=1143317</a:t>
            </a:r>
          </a:p>
          <a:p>
            <a:r>
              <a:t>CNPJ 62696791000193 · Partes relacionadas e conflitos · Excerto da fonte:</a:t>
            </a:r>
          </a:p>
          <a:p>
            <a:r>
              <a:t>4.10 Sem prejuízo de limites mais restritivos definidos neste Anexo, o Gestor deverá observar, ainda, os  seguintes limites de concentração:</a:t>
            </a:r>
          </a:p>
          <a:p>
            <a:r>
              <a:t> (i) A Classe poderá, direta ou indiretamente, ter até 100% (cem por cento) do Patrimônio  Líquido representado por Direitos Creditórios do Agronegócio originados ou cedidos  pelo Administrador, Gestor e/ou suas partes relacionadas, tal como definidas pelas  regras contábeis que tratam desse assunto, desde que (a) o Gest or, a entidade  registradora e o Custodiante dos Direitos Creditórios do Agronegócio não sejam partes  relacionadas entre si; e (b) a entidade registradora e o Custodiante dos Direitos  Creditórios do Agronegócio não sejam partes relacionadas ao originador ou Cedente.</a:t>
            </a:r>
          </a:p>
          <a:p>
            <a:r>
              <a:t> (ii) No máximo, 100% (cem por cento) do Patrimônio Líquido investido em Ativos  Financeiros de Liquidez de emissão ou que envolvam retenção de risco por parte do  Administrador, Gestor, e/ou suas partes relacionadas, observado ainda o disposto no  item Error! Reference source not found.;</a:t>
            </a:r>
          </a:p>
          <a:p>
            <a:r>
              <a:t> (iii) No máximo, 100% (cem por cento) do Patrimônio Líquido investido em operações com  derivativos nos quais, inexistindo contraparte central, se tenha como contraparte o  Gestor, e/ou suas partes relacionadas, observado ainda o disposto no item Error!  Reference source not found.;</a:t>
            </a:r>
          </a:p>
          <a:p>
            <a:r>
              <a:t> (iv) No máximo, 100% (cem por cento) do Patrimônio Líquido em cotas de uma mesma  classe;</a:t>
            </a:r>
          </a:p>
          <a:p>
            <a:r>
              <a:t> (v) É vedada a aquisição de precatórios f ederais.</a:t>
            </a:r>
          </a:p>
          <a:p>
            <a:r>
              <a:t> (vi) No máximo, 49% (quarenta e nove por cento) do Patrimônio Líquido em Ativos  Imobiliários do Agronegócio;</a:t>
            </a:r>
          </a:p>
          <a:p>
            <a:r>
              <a:t> (vii) No máximo, 49% (quarenta e nove por cento) do Patrimônio Líquido em Participações  do Agronegócio;</a:t>
            </a:r>
          </a:p>
          <a:p>
            <a:r>
              <a:t> (viii) No máximo, 49% (quarenta e nove por cento) do Patrimônio Líquido em Ativos  Financeiros do Agronegócio; e</a:t>
            </a:r>
          </a:p>
          <a:p>
            <a:r>
              <a:t> (ix) No máximo, 49% (quarenta e nove por cento) do Patrimônio Líquido em Ativos em Geral  do Agronegócio;</a:t>
            </a:r>
          </a:p>
          <a:p>
            <a:r>
              <a:t> Ativos Recuperados</a:t>
            </a:r>
          </a:p>
          <a:p>
            <a:r>
              <a:t>CNPJ 62696791000193 · Partes relacionadas e conflitos · Regulamento · ID 1143317 · 2026-03-20 · versão 1 · p. 11 · 4.8 · https://fnet.bmfbovespa.com.br/fnet/publico/visualizarDocumento?id=1143317</a:t>
            </a:r>
          </a:p>
          <a:p>
            <a:r>
              <a:t>CNPJ 62696791000193 · Partes relacionadas e conflitos · Excerto da fonte:</a:t>
            </a:r>
          </a:p>
          <a:p>
            <a:r>
              <a:t>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relacionadas ao Gestor.</a:t>
            </a:r>
          </a:p>
          <a:p>
            <a:r>
              <a:t>CNPJ 62696791000193 · Partes relacionadas e conflitos · Regulamento · ID 1143317 · 2026-03-20 · versão 1 · p. 14 · 4.21.1 · https://fnet.bmfbovespa.com.br/fnet/publico/visualizarDocumento?id=1143317</a:t>
            </a:r>
          </a:p>
          <a:p>
            <a:r>
              <a:t>CNPJ 62696791000193 · Partes relacionadas e conflitos · Excerto da fonte:</a:t>
            </a:r>
          </a:p>
          <a:p>
            <a:r>
              <a:t>4.21.1 Sem prejuízo do disposto acima, poderá ser contratado terceiro especializado para o  gerenciamento das obras, para controle dos desembolsos, conforme medições durante a etapa  de desenvolvimento e construção dos Ativos Imobiliários do Agronegócio, sendo certo que,  caso haja a contratação de terceiros em situação de conflito de interesses, deverá ser aprovado  em assembleia de Cotistas.</a:t>
            </a:r>
          </a:p>
          <a:p>
            <a:r>
              <a:t>CNPJ 62696791000193 · Partes relacionadas e conflitos · Condição: Documentos atuais selecionados no inventário por categoria/escopo; a data documental isolada não comprova vigência jurídica.</a:t>
            </a:r>
          </a:p>
          <a:p>
            <a:r>
              <a:t>CNPJ 62696791000193 · Partes relacionadas e conflitos · Versão e prevalência: Documentos atuais selecionados no inventário por categoria/escopo; a data documental isolada não comprova vigência jurídica.</a:t>
            </a:r>
          </a:p>
          <a:p>
            <a:r>
              <a:t>CNPJ 55563624000109 · Partes relacionadas e conflitos · Regulamento · ID 1192614 · 2026-04-30 · versão 1 · p. 13 · 4.12.1 · https://fnet.bmfbovespa.com.br/fnet/publico/visualizarDocumento?id=1192614</a:t>
            </a:r>
          </a:p>
          <a:p>
            <a:r>
              <a:t>CNPJ 55563624000109 · Partes relacionadas e conflitos · Excerto da fonte:</a:t>
            </a:r>
          </a:p>
          <a:p>
            <a:r>
              <a:t>4.12.1 A Classe poderá ter até 100% (cem por cento) do Patrimônio Líquido representado por Cotas da Classe  Investida administrados pelo ADMINISTRADOR, e geridos ou cogeridos pelo GESTOR e/ou suas partes  relacionadas.</a:t>
            </a:r>
          </a:p>
          <a:p>
            <a:r>
              <a:t> Revolvência da Carteira</a:t>
            </a:r>
          </a:p>
          <a:p>
            <a:r>
              <a:t>CNPJ 55563624000109 · Partes relacionadas e conflitos · Regulamento · ID 1192614 · 2026-04-30 · versão 1 · p. 28 · 13.2 · https://fnet.bmfbovespa.com.br/fnet/publico/visualizarDocumento?id=1192614</a:t>
            </a:r>
          </a:p>
          <a:p>
            <a:r>
              <a:t>CNPJ 55563624000109 · Partes relacionadas e conflitos · Excerto da fonte:</a:t>
            </a:r>
          </a:p>
          <a:p>
            <a:r>
              <a:t>13.2 Em condições ordinárias, as Cotas da Classe Investida não pagarão remuneração aos prestadores de serviços  essenciais da Classe Investida, nos termos de seu regulamento. Não obstante, em cenário extraordinário  conforme descrito no item 15.1.1 (iii), e para fins de atendimento ao artigo 98 da parte geral da Resolução CVM  175, a taxa máxima de administração corresponderá ao valor da Taxa Mínima de Administração acrescida de até  0,10% (dez centésimos por cento) ao ano incidente sobre o patrimônio líquido da Classe Investida,  compreendendo a taxa de administração da Classe Investida geridos por partes relacionadas ao GESTOR, cujas  cotas não estão admitidas à negociação em mercado organizado, conforme prevista no regulamento da Classe  Investida (“Taxa Máxima de Administração” e, quando referida em conjunto com a Taxa Mínima de  Administração, como “Taxa de Administração”). Caso a taxa de administração da Classe Investida não se  enquadre no disposto acima, estará disposta no regulamento da Classe Investida.</a:t>
            </a:r>
          </a:p>
          <a:p>
            <a:r>
              <a:t>CNPJ 55563624000109 · Partes relacionadas e conflitos · Regulamento · ID 1192614 · 2026-04-30 · versão 1 · p. 37 · https://fnet.bmfbovespa.com.br/fnet/publico/visualizarDocumento?id=1192614</a:t>
            </a:r>
          </a:p>
          <a:p>
            <a:r>
              <a:t>CNPJ 55563624000109 · Partes relacionadas e conflitos · Excerto da fonte:</a:t>
            </a:r>
          </a:p>
          <a:p>
            <a:r>
              <a:t>(ix) Possibilidade de conflito de interesses. As Cotas poderão ser adquiridas por investidores que  sejam partes relacionadas à Classe Investida ou aos prestadores de serviços da Classe Investida. Nessa  hipótese, poderá haver situações de conflito de interesses entre os interesses desses investidores e o  interesse dos demais Cotistas, podendo qualquer desses investidores, inclusive, aprovar deliberações  contrárias aos interesses dos demais Cotistas caso sejam titulares da maioria das Cotas presentes às  Assembleias de Cotistas.</a:t>
            </a:r>
          </a:p>
          <a:p>
            <a:r>
              <a:t>CNPJ 55563624000109 · Partes relacionadas e conflitos · Condição: Documentos atuais selecionados no inventário por categoria/escopo; a data documental isolada não comprova vigência jurídica.</a:t>
            </a:r>
          </a:p>
          <a:p>
            <a:r>
              <a:t>CNPJ 55563624000109 · Partes relacionadas e conflitos · Versão e prevalência: Documentos atuais selecionados no inventário por categoria/escopo; a data documental isolada não comprova vigência jurídica.</a:t>
            </a:r>
          </a:p>
          <a:p>
            <a:r>
              <a:t>CNPJ 55563624000109 · Partes relacionadas e conflitos · Resumo do histórico: {"count": 2, "dates": ["2025-01-31", "2026-01-31"], "document_count": 2, "sources": [{"document_id": "1178840", "title": "Demonstrações Financeiras", "reference_date": "2026-01-31", "version": "1", "page": 23, "url": "https://fnet.bmfbovespa.com.br/fnet/publico/visualizarDocumento?id=1178840", "sha256": "c458e98664c5c907ddb5a05a94b120bed4e05295b2bfc420f5ba69af0a229abe"}, {"document_id": "891861", "title": "Demonstrações Financeiras", "reference_date": "2025-01-31", "version": "1", "page": 23, "url": "https://fnet.bmfbovespa.com.br/fnet/publico/visualizarDocumento?id=891861", "sha256": "e9cb9e6ddbe505fe068cfcac33605165a98313489de0d3ce6d4d238263c3f3e7"}], "reference": {"path": "history/55563624000109.json", "criterion_id": "related_parties", "total_count": 2, "preview_count": 2, "full_text_deferred": true, "sha256": "7835d573fb58a3c19adf5b8ecc2aee2bdbb9a88f7a0c0209b5f262b64c7522e3"}}</a:t>
            </a:r>
          </a:p>
          <a:p>
            <a:r>
              <a:t>CNPJ 62552447000120 · Partes relacionadas e conflitos · Regulamento · ID 1200623 · 2026-05-21 · versão 1 · p. 14 · 4.10 · https://fnet.bmfbovespa.com.br/fnet/publico/visualizarDocumento?id=1200623</a:t>
            </a:r>
          </a:p>
          <a:p>
            <a:r>
              <a:t>CNPJ 62552447000120 · Partes relacionadas e conflitos · Excerto da fonte:</a:t>
            </a:r>
          </a:p>
          <a:p>
            <a:r>
              <a:t>4.10 Nos termos do art. 45, §7º, inciso II, do Anexo Normativo II, a Classe poderá ter até 100% (cem por  cento) de seu Patrimônio Líquido alocado em Direitos Creditórios, derivativos, observado o disposto  abaixo,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62552447000120 · Partes relacionadas e conflitos · Regulamento · ID 1200623 · 2026-05-21 · versão 1 · p. 14 · 4.11 · https://fnet.bmfbovespa.com.br/fnet/publico/visualizarDocumento?id=1200623</a:t>
            </a:r>
          </a:p>
          <a:p>
            <a:r>
              <a:t>CNPJ 62552447000120 · Partes relacionadas e conflitos · Excerto da fonte:</a:t>
            </a:r>
          </a:p>
          <a:p>
            <a:r>
              <a:t>4.11 Sem prejuízo de limites mais restritivos definidos neste Regulamento, o Gestor deverá observar, ainda,  os seguintes limites de concentração para a composição da Carteira:</a:t>
            </a:r>
          </a:p>
          <a:p>
            <a:r>
              <a:t> (i) Até 100% (cem por cento) da parcela do Patrimônio Líquido investida em Direitos  Creditórios poderão ser alocados em Direitos Creditórios originados ou cedidos pelo  Administrador, Gestor e/ou suas partes relacionadas, tal como definidas pelas regras  contábeis que tratam desse assunto . A Classe também poderá ceder Direitos  Creditórios a qualquer das pessoas, f undos de investimento ou entidades ref eridas  acima, desde que a entidade registradora e o Custodiante dos Direitos Creditórios não  sejam partes relacionadas ao Originador ou Endossante;</a:t>
            </a:r>
          </a:p>
          <a:p>
            <a:r>
              <a:t> (ii) Até 100% (cem por cento) da parcela do Patrimônio Líquido investida em Ativos  Financeiros poderão ser alocados em Ativos Financeiros de emissão ou que envolvam  retenção de risco por parte do Administrador, Gestor e/ou suas partes relacionadas; e</a:t>
            </a:r>
          </a:p>
          <a:p>
            <a:r>
              <a:t> (iii) Até 100% (cem por cento) da parcela do Patrimônio Líquido investida em operações  com derivativos poderão ser alocados em operações com derivativos nas quais,  inexistindo contraparte central, se tenha como contraparte o Gestor e/ou suas partes  relacionadas.</a:t>
            </a:r>
          </a:p>
          <a:p>
            <a:r>
              <a:t>CNPJ 62552447000120 · Partes relacionadas e conflitos · Regulamento · ID 1200623 · 2026-05-21 · versão 1 · p. 15 · 4.18 · https://fnet.bmfbovespa.com.br/fnet/publico/visualizarDocumento?id=1200623</a:t>
            </a:r>
          </a:p>
          <a:p>
            <a:r>
              <a:t>CNPJ 62552447000120 · Partes relacionadas e conflitos · Excerto da fonte:</a:t>
            </a:r>
          </a:p>
          <a:p>
            <a:r>
              <a:t>4.18 Ainda que integrem a Carteira, os Ativos Recuperados não serão, sob qualquer hipótese, adquiridos  como parte da Política de Investimento, de forma que serão de sua propriedade exclusivamente, não  devendo, portanto, ser contabilizados para f ins de enquadramento da Classe.</a:t>
            </a:r>
          </a:p>
          <a:p>
            <a:r>
              <a:t>Regras, procedimentos e limites para efetuar qualquer modalidade de transferência dos Direitos Creditórios, incluindo, sem limitação, endosso (“Transferência”) para o Endossante e suas partes relacionadas</a:t>
            </a:r>
          </a:p>
          <a:p>
            <a:r>
              <a:t>CNPJ 62552447000120 · Partes relacionadas e conflitos · Condição: Documentos atuais selecionados no inventário por categoria/escopo; a data documental isolada não comprova vigência jurídica.</a:t>
            </a:r>
          </a:p>
          <a:p>
            <a:r>
              <a:t>CNPJ 62552447000120 · Partes relacionadas e conflitos · Versão e prevalência: Documentos atuais selecionados no inventário por categoria/escopo; a data documental isolada não comprova vigência jurídica.</a:t>
            </a:r>
          </a:p>
          <a:p>
            <a:r>
              <a:t>CNPJ 63953620000165 · Partes relacionadas e conflitos · Anexo ao Regulamento · ID 1222863 · 2026-06-02 · versão 1 · p. 6 · 4.14 · https://fnet.bmfbovespa.com.br/fnet/publico/visualizarDocumento?id=1222863</a:t>
            </a:r>
          </a:p>
          <a:p>
            <a:r>
              <a:t>CNPJ 63953620000165 · Partes relacionadas e conflitos · Excerto da fonte:</a:t>
            </a:r>
          </a:p>
          <a:p>
            <a:r>
              <a:t>4.14 Nos termos do Art. 45, §7º, inciso II, do Anexo Normativo II da Resolução CVM 175, a Classe poderá ter até 100%  (cem por cento) de seu Patrimônio Líquido alocado em Direitos Creditórios, derivativos, observado o disposto  neste Anexo I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63953620000165 · Partes relacionadas e conflitos · Anexo ao Regulamento · ID 1222863 · 2026-06-02 · versão 1 · p. 8 · 4.21 · https://fnet.bmfbovespa.com.br/fnet/publico/visualizarDocumento?id=1222863</a:t>
            </a:r>
          </a:p>
          <a:p>
            <a:r>
              <a:t>CNPJ 63953620000165 · Partes relacionadas e conflitos · Excerto da fonte:</a:t>
            </a:r>
          </a:p>
          <a:p>
            <a:r>
              <a:t>4.21 Ainda que integrem a carteira da Classe, os Ativos Recuperados não serão, sob qualquer hipótese, adquiridos  como parte da Política de Investimento da Classe, de forma que serão de sua propriedade exclusivamente, não  devendo, portanto, ser contabilizados para fins de enquadramento da Classe.</a:t>
            </a:r>
          </a:p>
          <a:p>
            <a:r>
              <a:t> Regras, procedimentos e limites para efetuar o Endosso de Direitos Creditórios Crédito Consignado para o Endossante e  suas partes relacionadas</a:t>
            </a:r>
          </a:p>
          <a:p>
            <a:r>
              <a:t>CNPJ 63953620000165 · Partes relacionadas e conflitos · Anexo ao Regulamento · ID 1222863 · 2026-06-02 · versão 1 · p. 7 · https://fnet.bmfbovespa.com.br/fnet/publico/visualizarDocumento?id=1222863</a:t>
            </a:r>
          </a:p>
          <a:p>
            <a:r>
              <a:t>CNPJ 63953620000165 · Partes relacionadas e conflitos · Excerto da fonte:</a:t>
            </a:r>
          </a:p>
          <a:p>
            <a:r>
              <a:t>Anexo I ao Regulamento  CLASSE CONSIGNADO PRIVADO DO MT GLOBAL FUNDO DE INVESTIMENTO EM DIREITOS  CREDITÓRIOS RESPONSABILIDADE LIMITADA</a:t>
            </a:r>
          </a:p>
          <a:p>
            <a:r>
              <a:t> (i)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 (ii) No máximo, 50% (cinquenta por cento) do Patrimônio Líquido investido em Ativos Financeiros  de Liquidez de emissão ou que envolvam retenção de risco por parte do Administrador, Gestor,  e/ou suas partes relacionadas, observado ainda o disposto acima;</a:t>
            </a:r>
          </a:p>
          <a:p>
            <a:r>
              <a:t> (iii) No máximo, 100% (cem por cento) do Patrimônio Líquido investido em operações com  derivativos nos quais, inexistindo contraparte central, se tenha como contraparte o Gestor,  Consultora e/ou suas partes relacionadas, observado ainda o disposto acima;</a:t>
            </a:r>
          </a:p>
          <a:p>
            <a:r>
              <a:t> (iv) A Classe poderá investir até 100% (cem por cento) de seu Patrimônio Líquido em Direitos  Creditórios Não-Padronizados;</a:t>
            </a:r>
          </a:p>
          <a:p>
            <a:r>
              <a:t> (v) É vedada a aquisição de precatórios federais.</a:t>
            </a:r>
          </a:p>
          <a:p>
            <a:r>
              <a:t>CNPJ 63953620000165 · Partes relacionadas e conflitos · Condição: Documentos atuais selecionados no inventário por categoria/escopo; a data documental isolada não comprova vigência jurídica.</a:t>
            </a:r>
          </a:p>
          <a:p>
            <a:r>
              <a:t>CNPJ 63953620000165 · Partes relacionadas e conflitos · Versão e prevalência: Documentos atuais selecionados no inventário por categoria/escopo; a data documental isolada não comprova vigência jurídica.</a:t>
            </a:r>
          </a:p>
          <a:p>
            <a:r>
              <a:t>CNPJ 54871427000194 · Histórico de alterações materiais · Instrumento Particular de Alteração do Regulamento · ID 670690 · 28/05/2024 · versão Instrumento Particular de Alteração do Regulamento — referência 28/05/2024 · p. 1 · AGC, 4.1–4.2 · https://fnet.bmfbovespa.com.br/fnet/publico/visualizarDocumento?id=670690</a:t>
            </a:r>
          </a:p>
          <a:p>
            <a:r>
              <a:t>CNPJ 54871427000194 · Histórico de alterações materiais · Excerto da fonte:</a:t>
            </a:r>
          </a:p>
          <a:p>
            <a:r>
              <a:t>4.1. A alteração integral do anexo da Classe Única, que compõe o regulamento do Fundo (“Anexo da Classe Única” e “Regulamento”) e seus complementos, para de f orma a alterar a Política de Investimentos da Classe para aquisição de direitos creditórios representados por Certif icados de Cédulas de Crédito Bancário (“CCCBs” e “Direitos Creditórios”), bem como refletir os novos critérios de elegibilidade para aquisição dos Direitos Creditórios, os documentos comprobatórios do lastro e f atores de risco aplicáveis. 4.2. Tendo em vista a aprovação dos itens. acima, deliberaram por aprovar o novo Regulamento Consolidado, que vigorará na forma do Anexo I à presente Ata, o qual terá efeitos retroativos a abertura de 28 de maio de 2024. 4.3. Por f im, por aprovar a Administradora a adotar todas as medidas necessárias para implementação das deliberações acima. 5. ENCERRAMENTO Nada mais havendo a tratar, f oi a reunião encerrada. Rio de Janeiro, 28 de maio de 2024. Mesa: Diego Prado Tassiana Lima Presidente</a:t>
            </a:r>
          </a:p>
          <a:p>
            <a:r>
              <a:t>CNPJ 54871427000194 · Histórico de alterações materiais · Regulamento · ID 670691 · 28/04/2024 · versão Regulamento — referência 28/04/2024 · p. 9 · Regulamento 670691, Anexo I, 4.2 · https://fnet.bmfbovespa.com.br/fnet/publico/visualizarDocumento?id=670691</a:t>
            </a:r>
          </a:p>
          <a:p>
            <a:r>
              <a:t>CNPJ 54871427000194 · Histórico de alterações materiais · Excerto da fonte:</a:t>
            </a:r>
          </a:p>
          <a:p>
            <a:r>
              <a:t>4.2 Os Direitos Creditórios representados por Certif icados de Cédulas de Crédito Bancário (“CCCBs”), representativos de um agrupamento de determinadas CCBs, originadas no âmbito de operações de empréstimos pessoais concedidos por um Endossante a um Devedor, devidamente f ormalizadas por via eletrônica de acordo com a legislação aplicável, segundo os critérios de composição e diversificação estabelecidos pela regulamentação aplicável e neste Regulamento. 4.2.1 Cada Endossante deve ter celebrado convênio com órgão consignante, previamente à cessão de Direitos Creditórios à Classe, que contemplam a obrigação da manutenção da consignação/averbação junto ao novo órgão, de modo a possibilitar o pagamento dos Direitos Creditórios por meio de consignação em f olha de pagamento ou de benef ício . 4.3 Os pagamentos relativos aos Direitos Creditórios de titularidade da Classe serão realizados mediante consignação em folha, débito em conta de titularidade dos Devedores e pagamentos de sinistros, para pagamento dos valores correspondentes às parcelas das CCBs representadas pelos CCCBs de titularidade da Classe, os quais serão conciliados e repassados pelo Endossan</a:t>
            </a:r>
          </a:p>
          <a:p>
            <a:r>
              <a:t>CNPJ 54871427000194 · Histórico de alterações materiais · Condição: A classificação Fundos Net do documento 670690 é “regulamento”, mas seu conteúdo é uma AGC. A divergência de datas impede usar a referência do 670691 como prova autônoma de início de vigência.</a:t>
            </a:r>
          </a:p>
          <a:p>
            <a:r>
              <a:t>CNPJ 54871427000194 · Histórico de alterações materiais · Motivo: Não localizada uma cláusula material para este critério nos textos identificados e processados. A ausência de resultado não comprova inexistência da regra.</a:t>
            </a:r>
          </a:p>
          <a:p>
            <a:r>
              <a:t>CNPJ 54871427000194 · Histórico de alterações materiais · Versão e prevalência: Leitura específica das cláusulas indicadas; condições e conflitos preservados. Seleção documental atual não comprova vigência jurídica por data isolada.</a:t>
            </a:r>
          </a:p>
          <a:p>
            <a:r>
              <a:t>CNPJ 60010416000112 · Histórico de alterações materiais · Demonstrações Financeiras - Fusão, cisão e incorporação · ID 1298690 · 2026-05-08 · versão 1 · p. 30 · https://fnet.bmfbovespa.com.br/fnet/publico/visualizarDocumento?id=1298690</a:t>
            </a:r>
          </a:p>
          <a:p>
            <a:r>
              <a:t>CNPJ 60010416000112 · Histórico de alterações materiais · Excerto da fonte:</a:t>
            </a:r>
          </a:p>
          <a:p>
            <a:r>
              <a:t>Durante o período de investimento, a Administradora poderá deliberar por realizar novas  emissões de Cotas Seniores, sem a necessidade de aprovação em Assembleia Especial de  Cotistas ou alteração do Regulamento, limitadas ao montante máximo de R$ 1.000.000 (um  bilhão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seniores emitidas não sejam superiores aos  prazos de vencimento da primeira emissão.</a:t>
            </a:r>
          </a:p>
          <a:p>
            <a:r>
              <a:t>CNPJ 60010416000112 · Histórico de alterações materiais · Demonstrações Financeiras - Fusão, cisão e incorporação · ID 1298690 · 2026-05-08 · versão 1 · p. 30 · https://fnet.bmfbovespa.com.br/fnet/publico/visualizarDocumento?id=1298690</a:t>
            </a:r>
          </a:p>
          <a:p>
            <a:r>
              <a:t>CNPJ 60010416000112 · Histórico de alterações materiais · Excerto da fonte:</a:t>
            </a:r>
          </a:p>
          <a:p>
            <a:r>
              <a:t>Durante o período de investimento, a Administradora poderá deliberar por realizar novas  emissões de cotas subordinadas, sem a necessidade de aprovação em Assembleia Especial  de Cotistas ou alteração do Regulamento, limitadas ao montante máximo de R$ 50.000  (cinquenta milhões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subordinadas emitidas não sejam  superiores aos prazos de vencimento da primeira emissão.</a:t>
            </a:r>
          </a:p>
          <a:p>
            <a:r>
              <a:t>CNPJ 60010416000112 · Histórico de alterações materiais · Condição: Documentos atuais selecionados no inventário por categoria/escopo; a data documental isolada não comprova vigência jurídica.</a:t>
            </a:r>
          </a:p>
          <a:p>
            <a:r>
              <a:t>CNPJ 60010416000112 · Histórico de alterações materiais · Versão e prevalência: Documentos atuais selecionados no inventário por categoria/escopo; a data documental isolada não comprova vigência jurídica.</a:t>
            </a:r>
          </a:p>
          <a:p>
            <a:r>
              <a:t>CNPJ 60010416000112 · Histórico de alterações materiais · Resumo do histórico: {"count": 5, "dates": ["2025-11-30", "2026-03-18", "2026-04-16"], "document_count": 3, "sources": [{"document_id": "1282181", "title": "Demonstrações Financeiras - Fusão, cisão e incorporação", "reference_date": "2026-04-16", "version": "1", "page": 32, "url": "https://fnet.bmfbovespa.com.br/fnet/publico/visualizarDocumento?id=1282181", "sha256": "b1c6566e43a00bcd00c8a7f30c77b7f86e351bd8e355bbea113f46d1dafda703"}, {"document_id": "1224477", "title": "Demonstrações Financeiras - Fusão, cisão e incorporação", "reference_date": "2026-03-18", "version": "1", "page": 32, "url": "https://fnet.bmfbovespa.com.br/fnet/publico/visualizarDocumento?id=1224477", "sha256": "0751bf0a75bc3b44c2748f5000226665c6ec6698a90c4dc6170b4e6c187759ae"}, {"document_id": "1126154", "title": "Demonstrações Financeiras", "reference_date": "2025-11-30", "version": "1", "page": 32, "url": "https://fnet.bmfbovespa.com.br/fnet/publico/visualizarDocumento?id=1126154", "sha256": "a01e7ccf88c548f12c95cba8526d7efbef6b585c112cd4668eca781c292090b0"}], "reference": {"path": "history/60010416000112.json", "criterion_id": "changes", "total_count": 5, "preview_count": 3, "full_text_deferred": true, "sha256": "8e2bd813f4c51cf01f6bfaad164bafe69d2bbb192f753eac92da3a01c2e63046"}}</a:t>
            </a:r>
          </a:p>
          <a:p>
            <a:r>
              <a:t>CNPJ 62696791000193 · Histórico de alterações materiais · AGE · ID 1143319 · 20/03/2026 10:00 · versão AGE — referência 20/03/2026 10:00 · p. 1 · AGC, 4.1(a)–(c) · https://fnet.bmfbovespa.com.br/fnet/publico/visualizarDocumento?id=1143319</a:t>
            </a:r>
          </a:p>
          <a:p>
            <a:r>
              <a:t>CNPJ 62696791000193 · Histórico de alterações materiais · Excerto da fonte:</a:t>
            </a:r>
          </a:p>
          <a:p>
            <a:r>
              <a:t>4.1. Aprovar a transformação do Fundo, bem como de sua Classe única, em um fundo de investimento nas cadeias produtivas do agronegócio (“Transformação”), nos termos da parte geral e do Anexo Normativo VI da Resolução nº 175 da CVM, de 23 de dezembro de 2022, conforme alterada (“Resolução CVM 175”). a. Aprovar a alteração da denominação do Fundo, que passará a vigorar como BTG PACTUAL CERES CONFINA FUNDO DE INVESTIMENTO NAS CADEIAS PRODUTIVAS DO AGRONEGÓCIO RESPONSABILIDADE LIMITADA, e de sua Classe única, que passará a vigorar como CLASSE ÚNICA DO BTG PACTUAL CERES CONFINA FUNDO DE INVESTIMENTO NAS CADEIAS PRODUTIVAS DO AGRONEGÓCIO RESPONSABILIDADE LIMITADA (“Classe”); b. Aprovar a reforma integral do Regulamento do Fundo, bem como do Anexo descritivo da Classe, para realizar todos os ajustes necessários à implementação da Transformação, incluindo, mas não se limitando, a política de investimentos, o regime tributário e os fatores de risco aplicáveis, conforme itens abaixo; c. Aprovar a alteração do quadro de características gerais do Fundo, considerando a contratação do Cogestor pelo Gestor, nos termos do artigo 52, II, da parte geral da Resolução CVM 175 e no co</a:t>
            </a:r>
          </a:p>
          <a:p>
            <a:r>
              <a:t>CNPJ 62696791000193 · Histórico de alterações materiais · AGE · ID 1143319 · 20/03/2026 10:00 · versão AGE — referência 20/03/2026 10:00 · p. 3 · AGC, 4.1(j)–(k) · https://fnet.bmfbovespa.com.br/fnet/publico/visualizarDocumento?id=1143319</a:t>
            </a:r>
          </a:p>
          <a:p>
            <a:r>
              <a:t>CNPJ 62696791000193 · Histórico de alterações materiais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Histórico de alterações materiais · Instrumento Particular de Emissão de Cotas · ID 1148821 · 27/03/2026 · versão Instrumento Particular de Emissão de Cotas — referência 27/03/2026 · p. 1 · Deliberação Conjunta27/03/2026, item1 · https://fnet.bmfbovespa.com.br/fnet/publico/visualizarDocumento?id=1148821</a:t>
            </a:r>
          </a:p>
          <a:p>
            <a:r>
              <a:t>CNPJ 62696791000193 · Histórico de alterações materiais · Excerto da fonte:</a:t>
            </a:r>
          </a:p>
          <a:p>
            <a:r>
              <a:t>1. Aprovar a 2ª (segunda) emissão da Subclasse Subordinada Júnior da Classe, composta por até 20.000 (vinte mil) Cotas Subordinadas Júnior, com valor nominal unitário de R$ 1.000,00 (mil reais), perfazendo o montante total de R$ 20.000.000,00 (vinte milhões de reais), as quais serão objeto de colocação privada, de acordo com os termos e condições definidos no Apêndice da Subclasse Subordinada Júnior constante do Anexo I Regulamento e descritas abaixo (“2ª Emissão da Subclasse Subordinada Júnior”): a) Rito: as Cotas Subordinadas Júnior objeto da 2ª Emissão da Subclasse Subordinada Júnior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Subordinada Júnior na data de integralização, calculado na forma prevista no respectivo Apêndice; BTG Pactual 1 SAC: 0800 772 28 27 - Ouvidoria: 0800 722 00 48 - btgpactual.com</a:t>
            </a:r>
          </a:p>
          <a:p>
            <a:r>
              <a:t>CNPJ 62696791000193 · Histórico de alterações materiais · Instrumento Particular de Emissão de Cotas · ID 1148821 · 27/03/2026 · versão Instrumento Particular de Emissão de Cotas — referência 27/03/2026 · p. 2 · Deliberação Conjunta, itens2–3 · https://fnet.bmfbovespa.com.br/fnet/publico/visualizarDocumento?id=1148821</a:t>
            </a:r>
          </a:p>
          <a:p>
            <a:r>
              <a:t>CNPJ 62696791000193 · Histórico de alterações materiais · Excerto da fonte:</a:t>
            </a:r>
          </a:p>
          <a:p>
            <a:r>
              <a:t>2. Aprovar a 2ª (segunda) emissão da Subclasse Sênior da Classe, composta por até 150.000 (cento e cinquenta mil) Cotas Seniores, com valor nominal unitário de R$ 1.000,00 (mil reais), perfazendo o montante total de R$ 150.000.000,00 (cento e cinquenta milhões de reais), as quais serão objeto de colocação privada, de acordo com os termos e condições descritos no Apêndice da Subclasse Sênior constante do Anexo I Regulamento e descritas abaixo (“2ª Emissão da Subclasse Sênior”): a) Rito: as Cotas Seniores objeto da 2ª Emissão da Subclasse Sênior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Sênior na data de integralização, calculado na forma prevista no respectivo Apêndice; d) Forma de Integralização: as Cotas Seniores serão integralizadas mediante chamadas de capital, junto ao seu respectivo agente de custódia e/ou da Administradora na qualidade de escriturador das cotas, nos termos d</a:t>
            </a:r>
          </a:p>
          <a:p>
            <a:r>
              <a:t>CNPJ 62696791000193 · Histórico de alterações materiais · Versão e prevalência: Leitura específica das cláusulas indicadas; condições e conflitos preservados. Seleção documental atual não comprova vigência jurídica por data isolada.</a:t>
            </a:r>
          </a:p>
          <a:p>
            <a:r>
              <a:t>CNPJ 55563624000109 · Histórico de alterações materiais · Motivo: Não localizada uma cláusula material para este critério nos textos identificados e processados. A ausência de resultado não comprova inexistência da regra.</a:t>
            </a:r>
          </a:p>
          <a:p>
            <a:r>
              <a:t>CNPJ 62552447000120 · Histórico de alterações materiais · Ato do Administrador · ID 1200625 · 2026-05-21 · versão Ato21/05/2026 · p. 1 · itens1–2 · https://fnet.bmfbovespa.com.br/fnet/publico/visualizarDocumento?id=1200625</a:t>
            </a:r>
          </a:p>
          <a:p>
            <a:r>
              <a:t>CNPJ 62552447000120 · Histórico de alterações materiais · Excerto da fonte:</a:t>
            </a:r>
          </a:p>
          <a:p>
            <a:r>
              <a:t>Ressalta-se que não haverá qualquer alteração nos valores pagos pelos cotistas... Aprovar o novo Anexo I e Regulamento consolidados</a:t>
            </a:r>
          </a:p>
          <a:p>
            <a:r>
              <a:t>CNPJ 62552447000120 · Histórico de alterações materiais · Motivo: Não localizada uma cláusula material para este critério nos textos identificados e processados. A ausência de resultado não comprova inexistência da regra.</a:t>
            </a:r>
          </a:p>
          <a:p>
            <a:r>
              <a:t>CNPJ 62552447000120 · Histórico de alterações materiais · Versão e prevalência: Leitura específica das cláusulas indicadas; condições e conflitos preservados. Seleção documental atual não comprova vigência jurídica por data isolada.</a:t>
            </a:r>
          </a:p>
          <a:p>
            <a:r>
              <a:t>CNPJ 63953620000165 · Histórico de alterações materiais · Anexo ao Regulamento · ID 1222863 · 2026-06-02 · versão 1 · p. 19 · 12.6 · https://fnet.bmfbovespa.com.br/fnet/publico/visualizarDocumento?id=1222863</a:t>
            </a:r>
          </a:p>
          <a:p>
            <a:r>
              <a:t>CNPJ 63953620000165 · Histórico de alterações materiais · Excerto da fonte:</a:t>
            </a:r>
          </a:p>
          <a:p>
            <a:r>
              <a:t>12.6 A Classe contratou a Tudo Serviços S.A., sociedade anônima, com sede no município de Fortaleza, Estado do Ceará,  na Avenida Senador Virgulo Távora, nº 303, Lojas 02, 03, 04, 05, 06 e 19, Meireles, CEP 60.170-265, inscrita no CNPJ  sob o nº 27.852.506/0001-85, cujos deveres, sem prejuízo daqueles estabelecidos neste Regulamento, no  “Contrato de Serviços de Retenção e Cobrança e Outras Avenças”, celebrado entre o Agente de  Retenção/Cobrança e a Classe (“Contrato de Serviços MT”) e no Contrato de Endosso, consistirão no  monitoramento e cobrança dos Direitos Creditórios Inadimplidos, observado o disposto neste Anexo I e na  regulamentação aplicável (“Agente de Retenção/Cobrança”):</a:t>
            </a:r>
          </a:p>
          <a:p>
            <a:r>
              <a:t> (i) caso aplicável, atuar na retenção (defesa) de operações de empréstimo consignado cujos Direitos  Creditórios sejam de titularidade da Classe, em caso de tentativa de transferência de tais operações de  empréstimo consignado por instituições proponentes, nos termos da Resolução CMN nº 5.057, em razão de  ofertas de portabilidade feitas por tais instituições proponentes, conforme informado pelo Endossante ou pelo  Custodiante ao Agente de Retenção/Cobrança, diariamente, de acordo com o Contrato de Endosso; sendo  que tal serviço deverá incluir, entre outras atividades auxiliares a ele relacionadas, a avaliação das ofertas de  portabilidade feitas pelas instituições proponentes, buscando, se for o caso, esclarecer as vantagens de não  recorrer à portabilidade, retendo a respectiva operação de empréstimo consignado em seus termos atuais;</a:t>
            </a:r>
          </a:p>
          <a:p>
            <a:r>
              <a:t> (ii) mediante inadimplemento de um Direito Creditório devido à indisponibilidade da margem de crédito do  Devedor, auxiliar o Endossante com o Processo de Reinicialização (conforme detalhado no Contrato de  Endosso) em relação ao respectivo Direito Creditório;</a:t>
            </a:r>
          </a:p>
          <a:p>
            <a:r>
              <a:t> (iii) manter e operar um serviço de atendimento ao consumidor - SAC e uma ouvidoria em conformidade  com os regulamentos aplicáveis, monitorar e resolver reclamações e solicitações de Devedores com  relação às operações de empréstimo consignado que dão origem aos Direitos Creditórios, em  conformidade com o Acordo de Parceria;</a:t>
            </a:r>
          </a:p>
          <a:p>
            <a:r>
              <a:t> (iv) realizar a cobrança dos Direitos Creditórios Inadimplidos;</a:t>
            </a:r>
          </a:p>
          <a:p>
            <a:r>
              <a:t> (v) auxiliar o Endossante na correção de qualquer irregularidade relevante identificada com relação à  originação dos Direitos Creditórios;</a:t>
            </a:r>
          </a:p>
          <a:p>
            <a:r>
              <a:t> (vi) realizar a renegociação junto aos Devedores de Direitos Creditórios Inadimplidos e, caso aplicável, celebrar  aditamento à CCB para refletir os novos termos, decorrentes da renegociação  CAPÍTULO 13 – REMUNERAÇÃO DOS PRESTADORES DE SERVIÇOS  0,05% (cinco centésimos por cento) ao ano, apropriada diariamente na base de 252  (duzentos e cinquenta e dois) Dias Úteis, e paga mensalmente até o 5º (quinto) Dia  Útil do mês subsequente ao mês que se refere, incidente sobre o Patrimônio Líquido  da Classe alocado em Direitos Creditórios Consignado Privado e/ou Ativos de  Liquidez MT, observada remuneração mínima mensal de R$ 2.500,00 (dois mil e  quinhentos reais), a ser corrigida anualmente, em janeiro de cada ano, pela variação  Taxa de Administração  positiva do Índice Geral de Preços – Mercado, divulgado pela Fundação Getúlio  Vargas (“Taxa de Administração” e “IGP-M”, respectivamente).</a:t>
            </a:r>
          </a:p>
          <a:p>
            <a:r>
              <a:t> Na hipótese de extinção do IGP-M, não divulgação ou impossibilidade de sua  utilização, será utilizado o Índice Geral de Preços – Disponibilidade Interna,  divulgado pela Fundação Getúlio Vargas, ou, na falta de ambos, pela variação do IPC  – Índice de Preços ao Consumidor, divulgado pela Fundação Instituto de Pesquisas</a:t>
            </a:r>
          </a:p>
          <a:p>
            <a:r>
              <a:t>CNPJ 63953620000165 · Histórico de alterações materiais · Condição: Documentos atuais selecionados no inventário por categoria/escopo; a data documental isolada não comprova vigência jurídica.</a:t>
            </a:r>
          </a:p>
          <a:p>
            <a:r>
              <a:t>CNPJ 63953620000165 · Histórico de alterações materiais · Versão e prevalência: Documentos atuais selecionados no inventário por categoria/escopo; a data documental isolada não comprova vigência jurídica.</a:t>
            </a:r>
          </a:p>
          <a:p>
            <a:r>
              <a:t>CNPJ 54871427000194 · Auditor independente e DFs · Demonstrações Financeiras - Fusão, cisão e incorporação · ID 1219522 · 2026-02-02 · versão 1 · p. 23 · https://fnet.bmfbovespa.com.br/fnet/publico/visualizarDocumento?id=1219522</a:t>
            </a:r>
          </a:p>
          <a:p>
            <a:r>
              <a:t>CNPJ 54871427000194 · Auditor independente e DFs · Excerto da fonte:</a:t>
            </a:r>
          </a:p>
          <a:p>
            <a:r>
              <a:t>x) Possibilidade de aquisição de Direitos Creditórios cedidos por Endossante e/ou devidos por  Devedores cujas demonstrações financeiras não sejam auditadas. A Classe, desde que sejam  respeitados os limites de concentração previstos no Regulamento, poderá manter a qualquer  tempo em sua Carteira, Direitos Creditórios cedidos por Endossante e/ou devidos por Devedores  cujas demonstrações financeiras não sejam auditadas por Auditor Independente registrado na</a:t>
            </a:r>
          </a:p>
          <a:p>
            <a:r>
              <a:t>CNPJ 54871427000194 · Auditor independente e DFs · Demonstrações Financeiras - Fusão, cisão e incorporação · ID 1219522 · 2026-02-02 · versão 1 · p. 2 · https://fnet.bmfbovespa.com.br/fnet/publico/visualizarDocumento?id=1219522</a:t>
            </a:r>
          </a:p>
          <a:p>
            <a:r>
              <a:t>CNPJ 54871427000194 · Auditor independente e DFs · Excerto da fonte:</a:t>
            </a:r>
          </a:p>
          <a:p>
            <a:r>
              <a:t>Classe Única de Responsabilidade Limitada do Consignado Delta Receivables I Fundo de Investimento em  Direitos Creditórios  Demonstrações financeiras em  2 de fevereiro de 2026 (data da incorporação da Classe)</a:t>
            </a:r>
          </a:p>
          <a:p>
            <a:r>
              <a:t>CNPJ 54871427000194 · Auditor independente e DFs · Demonstrações Financeiras - Fusão, cisão e incorporação · ID 1219522 · 2026-02-02 · versão 1 · p. 3 · https://fnet.bmfbovespa.com.br/fnet/publico/visualizarDocumento?id=1219522</a:t>
            </a:r>
          </a:p>
          <a:p>
            <a:r>
              <a:t>CNPJ 54871427000194 · Auditor independente e DFs · Excerto da fonte:</a:t>
            </a:r>
          </a:p>
          <a:p>
            <a:r>
              <a:t>Examinamos as demonstrações financeiras da Classe Única de Responsabilidade Limitada do  Consignado Delta Receivables I Fundo de Investimento em Direitos Creditórios (“Classe”),  administrada pela BTG Pactual Serviços Financeiros S.A. Distribuidora de Títulos e Valores Mobiliários  (“Administradora”), que compreendem a demonstração da posição financeira em 2 de fevereiro de  2026 e as respectivas demonstrações do resultado e do resultado abrangente, das evoluções do  patrimônio líquido e dos fluxos de caixa para o período de 1° de janeiro de 2026 (data de início do  exercício social da Classe) a 2 de fevereiro de 2026 (data da incorporação da Classe), bem como as  correspondentes notas explicativas, incluindo as políticas contábeis materiais e outras informações  elucidativas.</a:t>
            </a:r>
          </a:p>
          <a:p>
            <a:r>
              <a:t> Em nossa opinião, as demonstrações financeiras acima referidas apresentam adequadamente, em  todos os aspectos relevantes, a posição patrimonial e financeira da Classe Única de Responsabilidade  Limitada do Consignado Delta Receivables I Fundo de Investimento em Direitos Creditórios em 2 de  fevereiro de 2026 e o desempenho de suas operações e os seus fluxos de caixa para o período de 1°  de janeiro de 2026 a 2 de fevereiro de 2026, de acordo com as práticas contábeis adotadas no Brasil  aplicáveis aos fundos de investimento em direitos creditórios.</a:t>
            </a:r>
          </a:p>
          <a:p>
            <a:r>
              <a:t>CNPJ 54871427000194 · Auditor independente e DFs · Condição: Documentos atuais selecionados no inventário por categoria/escopo; a data documental isolada não comprova vigência jurídica.</a:t>
            </a:r>
          </a:p>
          <a:p>
            <a:r>
              <a:t>CNPJ 54871427000194 · Auditor independente e DFs · Versão e prevalência: Documentos atuais selecionados no inventário por categoria/escopo; a data documental isolada não comprova vigência jurídica.</a:t>
            </a:r>
          </a:p>
          <a:p>
            <a:r>
              <a:t>CNPJ 54871427000194 · Auditor independente e DFs · Resumo do histórico: {"count": 6, "dates": ["2025-01-01", "2025-04-15", "2025-12-31"], "document_count": 3, "sources": [{"document_id": "1151805", "title": "Demonstrações Financeiras", "reference_date": "2025-12-31", "version": "1", "page": 23, "url": "https://fnet.bmfbovespa.com.br/fnet/publico/visualizarDocumento?id=1151805", "sha256": "f1cea70b152968bf96ef9221b27225953cb20aeef487b2798db3c25e11b528d4"}, {"document_id": "883217", "title": "AGO", "reference_date": "2025-04-15", "version": "1", "page": 1, "url": "https://fnet.bmfbovespa.com.br/fnet/publico/visualizarDocumento?id=883217", "sha256": "233467aa4aa6265d253b610668cde19344ec99af4adf4df934c6a1bd88b9a044"}, {"document_id": "869529", "title": "Demonstrações Financeiras", "reference_date": "2025-01-01", "version": "1", "page": 23, "url": "https://fnet.bmfbovespa.com.br/fnet/publico/visualizarDocumento?id=869529", "sha256": "9a93a9369ac8efdbc54ff8fcee3ccac3abf88edab4807b9323d3852450771b2a"}], "reference": {"path": "history/54871427000194.json", "criterion_id": "audit", "total_count": 6, "preview_count": 3, "full_text_deferred": true, "sha256": "35d7cd99be50c7287c9fb675cf4f2e736002315295a225a9efa79c8d9186d874"}}</a:t>
            </a:r>
          </a:p>
          <a:p>
            <a:r>
              <a:t>CNPJ 60010416000112 · Auditor independente e DFs · AGE · ID 1313936 · 2026-08-31 · versão 1 · p. 1 · https://fnet.bmfbovespa.com.br/fnet/publico/visualizarDocumento?id=1313936</a:t>
            </a:r>
          </a:p>
          <a:p>
            <a:r>
              <a:t>CNPJ 60010416000112 · Auditor independente e DFs · Excerto da fonte:</a:t>
            </a:r>
          </a:p>
          <a:p>
            <a:r>
              <a:t>(d) Fica a Administradora autorizada a levantar, na Data da Cisão, demonstrações contábeis da  Classe, as quais darão suporte à realização da Cisão ora deliberada. As demonstrações contábeis  deverão ser auditadas, em conformidade com o art. 120, da Parte Geral, da Resolução CVM 175;</a:t>
            </a:r>
          </a:p>
          <a:p>
            <a:r>
              <a:t>CNPJ 60010416000112 · Auditor independente e DFs · Condição: Documentos atuais selecionados no inventário por categoria/escopo; a data documental isolada não comprova vigência jurídica.</a:t>
            </a:r>
          </a:p>
          <a:p>
            <a:r>
              <a:t>CNPJ 60010416000112 · Auditor independente e DFs · Versão e prevalência: Documentos atuais selecionados no inventário por categoria/escopo; a data documental isolada não comprova vigência jurídica.</a:t>
            </a:r>
          </a:p>
          <a:p>
            <a:r>
              <a:t>CNPJ 60010416000112 · Auditor independente e DFs · Resumo do histórico: {"count": 11, "dates": ["2026-04-16", "2026-05-08", "2026-07-29"], "document_count": 3, "sources": [{"document_id": "1277540", "title": "AGE", "reference_date": "2026-07-29", "version": "1", "page": 1, "url": "https://fnet.bmfbovespa.com.br/fnet/publico/visualizarDocumento?id=1277540", "sha256": "7a9b65092af34917f99f22b62eb7d248d67149b9c91dd87b07b924b9601ee9b0"}, {"document_id": "1298690", "title": "Demonstrações Financeiras - Fusão, cisão e incorporação", "reference_date": "2026-05-08", "version": "1", "page": 1, "url": "https://fnet.bmfbovespa.com.br/fnet/publico/visualizarDocumento?id=1298690", "sha256": "d979f7f7cf866a68b7fbc65c46fd726b7bcc13f9d0b809190857a9b465be7be2"}, {"document_id": "1282181", "title": "Demonstrações Financeiras - Fusão, cisão e incorporação", "reference_date": "2026-04-16", "version": "1", "page": 1, "url": "https://fnet.bmfbovespa.com.br/fnet/publico/visualizarDocumento?id=1282181", "sha256": "b1c6566e43a00bcd00c8a7f30c77b7f86e351bd8e355bbea113f46d1dafda703"}], "reference": {"path": "history/60010416000112.json", "criterion_id": "audit", "total_count": 11, "preview_count": 3, "full_text_deferred": true, "sha256": "8e2bd813f4c51cf01f6bfaad164bafe69d2bbb192f753eac92da3a01c2e63046"}}</a:t>
            </a:r>
          </a:p>
          <a:p>
            <a:r>
              <a:t>CNPJ 62696791000193 · Auditor independente e DFs · Regulamento · ID 1143317 · 2026-03-20 · versão 1 · p. 5 · 4.1.7 · https://fnet.bmfbovespa.com.br/fnet/publico/visualizarDocumento?id=1143317</a:t>
            </a:r>
          </a:p>
          <a:p>
            <a:r>
              <a:t>CNPJ 62696791000193 · Auditor independente e DFs · Excerto da fonte:</a:t>
            </a:r>
          </a:p>
          <a:p>
            <a:r>
              <a:t>4.1.7 As demonstrações contábeis cujo relatório de auditoria não contiver opinião modificada podem  ser consideradas automaticamente aprovadas caso a assembleia correspondente não seja  instalada em virtude do não comparecimento de quaisquer Cotistas.</a:t>
            </a:r>
          </a:p>
          <a:p>
            <a:r>
              <a:t>CNPJ 62696791000193 · Auditor independente e DFs · Regulamento · ID 1143317 · 2026-03-20 · versão 1 · p. 23 · 10.12 · https://fnet.bmfbovespa.com.br/fnet/publico/visualizarDocumento?id=1143317</a:t>
            </a:r>
          </a:p>
          <a:p>
            <a:r>
              <a:t>CNPJ 62696791000193 · Auditor independente e DFs · Excerto da fonte:</a:t>
            </a:r>
          </a:p>
          <a:p>
            <a:r>
              <a:t>10.12 O representante dos Cotistas será eleito com prazo de mandato a se encerrar na próxima Assembleia  de Cotistas que deliberar sobre a aprovação de demonstrações contábeis do Fundo, sendo permitida  a reeleição.</a:t>
            </a:r>
          </a:p>
          <a:p>
            <a:r>
              <a:t>CNPJ 62696791000193 · Auditor independente e DFs · Condição: Documentos atuais selecionados no inventário por categoria/escopo; a data documental isolada não comprova vigência jurídica.</a:t>
            </a:r>
          </a:p>
          <a:p>
            <a:r>
              <a:t>CNPJ 62696791000193 · Auditor independente e DFs · Versão e prevalência: Documentos atuais selecionados no inventário por categoria/escopo; a data documental isolada não comprova vigência jurídica.</a:t>
            </a:r>
          </a:p>
          <a:p>
            <a:r>
              <a:t>CNPJ 55563624000109 · Auditor independente e DFs · Regulamento · ID 1192614 · 2026-04-30 · versão 1 · p. 24 · 12.3 · https://fnet.bmfbovespa.com.br/fnet/publico/visualizarDocumento?id=1192614</a:t>
            </a:r>
          </a:p>
          <a:p>
            <a:r>
              <a:t>CNPJ 55563624000109 · Auditor independente e DFs · Excerto da fonte:</a:t>
            </a:r>
          </a:p>
          <a:p>
            <a:r>
              <a:t>12.3 Incluem-se entre as obrigações do ADMINISTRADOR, sem prejuízo de outras previstas na regulamentação:</a:t>
            </a:r>
          </a:p>
          <a:p>
            <a:r>
              <a:t> (i) sem prejuízo da observância dos procedimentos relativos às demonstrações contábeis, manter,  separadamente, registros com informações completas sobre toda e qualquer modalidade de negociação  realizada entre o ADMINISTRADOR, GESTOR, CUSTODIANTE, e/ou suas respectivas partes relacionadas,  tais como definidas pelas regras contábeis que tratam desse assunto, de um lado; e a Classe, de outro;</a:t>
            </a:r>
          </a:p>
          <a:p>
            <a:r>
              <a:t> (ii) diligenciar para que sejam mantidos, às suas expensas, atualizados e em perfeita ordem:</a:t>
            </a:r>
          </a:p>
          <a:p>
            <a:r>
              <a:t> (a) o registro de Cotistas;</a:t>
            </a:r>
          </a:p>
          <a:p>
            <a:r>
              <a:t> (b) o livro de atas das Assembleias de Cotistas;</a:t>
            </a:r>
          </a:p>
          <a:p>
            <a:r>
              <a:t> (c) o livro ou lista de presença de Cotistas;</a:t>
            </a:r>
          </a:p>
          <a:p>
            <a:r>
              <a:t> (d) os pareceres do Auditor Independente; e</a:t>
            </a:r>
          </a:p>
          <a:p>
            <a:r>
              <a:t> (e) os registros contábeis referentes às operações e ao patrimônio da Classe;</a:t>
            </a:r>
          </a:p>
          <a:p>
            <a:r>
              <a:t> (iii) pagar a multa cominatória às suas expensas, nos termos da legislação vigente, por cada dia de atraso no  cumprimento dos prazos previstos na regulamentação aplicável;</a:t>
            </a:r>
          </a:p>
          <a:p>
            <a:r>
              <a:t> (iv) elaborar e divulgar as informações periódicas e eventuais da Classe, nos termos deste Anexo e da  regulamentação e da autorregulação em vigor;</a:t>
            </a:r>
          </a:p>
          <a:p>
            <a:r>
              <a:t> (v) manter atualizada junto à CVM a lista de todos os prestadores de serviços contratados pela Classe,  inclusive os Prestadores de Serviços Essenciais, bem como as demais informações cadastrais da Classe e  suas Subclasses;</a:t>
            </a:r>
          </a:p>
          <a:p>
            <a:r>
              <a:t> (vi) manter serviço de atendimento aos Cotistas, responsável pelo esclarecimento de dúvidas e pelo  recebimento de reclamações;</a:t>
            </a:r>
          </a:p>
          <a:p>
            <a:r>
              <a:t> (vii) receber e processar os pedidos de resgate;</a:t>
            </a:r>
          </a:p>
          <a:p>
            <a:r>
              <a:t> (viii) monitorar os Eventos de Verificação do Patrimônio;</a:t>
            </a:r>
          </a:p>
          <a:p>
            <a:r>
              <a:t> (ix) monitorar os Eventos de Avaliação e Eventos de Liquidação;</a:t>
            </a:r>
          </a:p>
          <a:p>
            <a:r>
              <a:t> (x) observar as disposições constantes do Regulamento;</a:t>
            </a:r>
          </a:p>
          <a:p>
            <a:r>
              <a:t> (xi) cumprir as deliberações da Assembleia de Cotistas; e</a:t>
            </a:r>
          </a:p>
          <a:p>
            <a:r>
              <a:t> (xii) observar as disposições do Código ANBIMA e das Regras e Procedimentos ANBIMA</a:t>
            </a:r>
          </a:p>
          <a:p>
            <a:r>
              <a:t>CNPJ 55563624000109 · Auditor independente e DFs · Regulamento · ID 1192614 · 2026-04-30 · versão 1 · p. 4 · 4.6.1 · https://fnet.bmfbovespa.com.br/fnet/publico/visualizarDocumento?id=1192614</a:t>
            </a:r>
          </a:p>
          <a:p>
            <a:r>
              <a:t>CNPJ 55563624000109 · Auditor independente e DFs · Excerto da fonte:</a:t>
            </a:r>
          </a:p>
          <a:p>
            <a:r>
              <a:t>4.6.1 As deliberações relativas às matérias elencadas nos incisos abaixo serão tomadas, em primeira  convocação ou em segunda convocação, conforme os quóruns dispostos abaixo, em sede assembleia  geral de cotistas ou de assembleia especial de cotistas, conforme o caso:</a:t>
            </a:r>
          </a:p>
          <a:p>
            <a:r>
              <a:t> MATÉRIA SUJEITA À APROVAÇÃO QUÓRUM DE DELIBERAÇÃO</a:t>
            </a:r>
          </a:p>
          <a:p>
            <a:r>
              <a:t> (i) aprovação das demonstrações contábeis do FUNDO; Maioria do total das Cotas emitidas</a:t>
            </a:r>
          </a:p>
          <a:p>
            <a:r>
              <a:t>CNPJ 55563624000109 · Auditor independente e DFs · Regulamento · ID 1192614 · 2026-04-30 · versão 1 · p. 10 · 3.1 · https://fnet.bmfbovespa.com.br/fnet/publico/visualizarDocumento?id=1192614</a:t>
            </a:r>
          </a:p>
          <a:p>
            <a:r>
              <a:t>CNPJ 55563624000109 · Auditor independente e DFs · Excerto da fonte:</a:t>
            </a:r>
          </a:p>
          <a:p>
            <a:r>
              <a:t>3.1 A Classe terá Encargos que lhe poderão ser debitados diretamente, nos termos da Resolução CVM 175, e  quaisquer despesas que não constituam Encargos correm por conta do Prestador de Serviço Essencial que a tiver  contratado, incluindo, sem se limitar a:</a:t>
            </a:r>
          </a:p>
          <a:p>
            <a:r>
              <a:t> (i) Taxa de performance, se houver;</a:t>
            </a:r>
          </a:p>
          <a:p>
            <a:r>
              <a:t> (ii) Taxas, impostos ou contribuições federais, estaduais, municipais ou autárquicas, que recaiam ou  venham a recair sobre os bens, direitos e obrigações da Classe;</a:t>
            </a:r>
          </a:p>
          <a:p>
            <a:r>
              <a:t> (iii) Despesas com o registro de documentos, impressão, expedição e publicação de relatórios e informações  periódicas previstas na Resolução CVM 175;</a:t>
            </a:r>
          </a:p>
          <a:p>
            <a:r>
              <a:t> (iv) Despesas com correspondências de interesse do FUNDO ou da Classe, inclusive comunicações aos  Cotistas;</a:t>
            </a:r>
          </a:p>
          <a:p>
            <a:r>
              <a:t> (v) Honorários e despesas do Auditor Independente;</a:t>
            </a:r>
          </a:p>
          <a:p>
            <a:r>
              <a:t> BTG Pactual  SAC: 0800 772 28 27 - Ouvidoria: 0800 722 00 48 - btgpactual.com  3</a:t>
            </a:r>
          </a:p>
          <a:p>
            <a:r>
              <a:t>CNPJ 55563624000109 · Auditor independente e DFs · Condição: Documentos atuais selecionados no inventário por categoria/escopo; a data documental isolada não comprova vigência jurídica.</a:t>
            </a:r>
          </a:p>
          <a:p>
            <a:r>
              <a:t>CNPJ 55563624000109 · Auditor independente e DFs · Versão e prevalência: Documentos atuais selecionados no inventário por categoria/escopo; a data documental isolada não comprova vigência jurídica.</a:t>
            </a:r>
          </a:p>
          <a:p>
            <a:r>
              <a:t>CNPJ 55563624000109 · Auditor independente e DFs · Resumo do histórico: {"count": 2, "dates": ["2025-01-31", "2026-01-31"], "document_count": 2, "sources": [{"document_id": "1178840", "title": "Demonstrações Financeiras", "reference_date": "2026-01-31", "version": "1", "page": 4, "url": "https://fnet.bmfbovespa.com.br/fnet/publico/visualizarDocumento?id=1178840", "sha256": "c458e98664c5c907ddb5a05a94b120bed4e05295b2bfc420f5ba69af0a229abe"}, {"document_id": "891861", "title": "Demonstrações Financeiras", "reference_date": "2025-01-31", "version": "1", "page": 2, "url": "https://fnet.bmfbovespa.com.br/fnet/publico/visualizarDocumento?id=891861", "sha256": "e9cb9e6ddbe505fe068cfcac33605165a98313489de0d3ce6d4d238263c3f3e7"}], "reference": {"path": "history/55563624000109.json", "criterion_id": "audit", "total_count": 2, "preview_count": 2, "full_text_deferred": true, "sha256": "7835d573fb58a3c19adf5b8ecc2aee2bdbb9a88f7a0c0209b5f262b64c7522e3"}}</a:t>
            </a:r>
          </a:p>
          <a:p>
            <a:r>
              <a:t>CNPJ 62552447000120 · Auditor independente e DFs · Regulamento · ID 1200623 · 2026-05-21 · versão 1 · p. 4 · 4.1.6 · https://fnet.bmfbovespa.com.br/fnet/publico/visualizarDocumento?id=1200623</a:t>
            </a:r>
          </a:p>
          <a:p>
            <a:r>
              <a:t>CNPJ 62552447000120 · Auditor independente e DFs · Excerto da fonte:</a:t>
            </a:r>
          </a:p>
          <a:p>
            <a:r>
              <a:t>4.1.6 As demonstrações contábeis cujo relatório de auditoria não contiver opinião modificada podem  ser consideradas automaticamente aprovadas caso a Assembleia Geral correspondente não  seja instalada em virtude do não comparecimento de quaisquer Cotistas.</a:t>
            </a:r>
          </a:p>
          <a:p>
            <a:r>
              <a:t>CNPJ 62552447000120 · Auditor independente e DFs · Regulamento · ID 1200623 · 2026-05-21 · versão 1 · p. 29 · 12.16 · https://fnet.bmfbovespa.com.br/fnet/publico/visualizarDocumento?id=1200623</a:t>
            </a:r>
          </a:p>
          <a:p>
            <a:r>
              <a:t>CNPJ 62552447000120 · Auditor independente e DFs · Excerto da fonte:</a:t>
            </a:r>
          </a:p>
          <a:p>
            <a:r>
              <a:t>12.16 Os serviços de auditoria das demonstrações f inanceiras e demais contas da Classe serão prestados  por Auditor Independente contratado pelo Administrador. Pelos serviços prestados, o Auditor  Independente f ará jus ao recebimento de remuneração a ser def inida em contrato específico, a qual  será paga pela Classe.</a:t>
            </a:r>
          </a:p>
          <a:p>
            <a:r>
              <a:t>CAPÍTULO 13 – TAXA GLOBAL</a:t>
            </a:r>
          </a:p>
          <a:p>
            <a:r>
              <a:t>CNPJ 62552447000120 · Auditor independente e DFs · Condição: Documentos atuais selecionados no inventário por categoria/escopo; a data documental isolada não comprova vigência jurídica.</a:t>
            </a:r>
          </a:p>
          <a:p>
            <a:r>
              <a:t>CNPJ 62552447000120 · Auditor independente e DFs · Versão e prevalência: Documentos atuais selecionados no inventário por categoria/escopo; a data documental isolada não comprova vigência jurídica.</a:t>
            </a:r>
          </a:p>
          <a:p>
            <a:r>
              <a:t>CNPJ 63953620000165 · Auditor independente e DFs · Anexo ao Regulamento · ID 1222863 · 2026-06-02 · versão 1 · p. 4 · 3.4 · https://fnet.bmfbovespa.com.br/fnet/publico/visualizarDocumento?id=1222863</a:t>
            </a:r>
          </a:p>
          <a:p>
            <a:r>
              <a:t>CNPJ 63953620000165 · Auditor independente e DFs · Excerto da fonte:</a:t>
            </a:r>
          </a:p>
          <a:p>
            <a:r>
              <a:t>3.4 Adicionalmente aos Encargos, as seguintes despesas serão debitadas diretamente da Classe, nos termos do art.</a:t>
            </a:r>
          </a:p>
          <a:p>
            <a:r>
              <a:t> 51 do Anexo Normativo II da Resolução CVM 175 (“Despesas Adicionais”):</a:t>
            </a:r>
          </a:p>
          <a:p>
            <a:r>
              <a:t> (i) Despesas com registro de Direitos Creditórios;</a:t>
            </a:r>
          </a:p>
          <a:p>
            <a:r>
              <a:t> (ii) Despesas com serviços de originação, cobranças ordinária e/ou extraordinária dos Direitos Creditórios,  e/ou verificação de lastro dos Direitos Creditórios, conforme aplicável;</a:t>
            </a:r>
          </a:p>
          <a:p>
            <a:r>
              <a:t> (iii) Despesas com a contratação de atividades relacionadas à verificação de lastro;</a:t>
            </a:r>
          </a:p>
          <a:p>
            <a:r>
              <a:t> (iv) Despesas com a contratação de Agente de Retenção/Cobrança; Despesas com a contratação de  consultoria especializada, conforme o caso;</a:t>
            </a:r>
          </a:p>
          <a:p>
            <a:r>
              <a:t> (v) Remuneração do Custodiante;</a:t>
            </a:r>
          </a:p>
          <a:p>
            <a:r>
              <a:t> (vi) Despesas com honorários advocatícios para quaisquer assuntos de interesse da Classe, seja na esfera  judicial ou extrajudicial, inclusive consultivo;</a:t>
            </a:r>
          </a:p>
          <a:p>
            <a:r>
              <a:t> (vii) Despesas com a assinatura e registro dos Termos de Endosso, conforme aplicável, junto aos  competentes cartórios de Registro de Títulos e Documentos;</a:t>
            </a:r>
          </a:p>
          <a:p>
            <a:r>
              <a:t> (viii) Despesas inerentes à distribuição primária de Cotas, inclusive a contratação e remuneração do  distribuidor das Cotas para cada oferta de Cotas da Classe, nos termos de cada contrato de distribuição  e honorários devidos ao(s) assessor(es) legal(is) de cada oferta, assim como despesas com o registro das  Cotas na CVM, ANBIMA e/ou na entidade de mercado organizado em que as cotas sejam registradas,  conforme aplicável;</a:t>
            </a:r>
          </a:p>
          <a:p>
            <a:r>
              <a:t> (ix) Taxas de fiscalização da CVM e/ou ANBIMA, conforme aplicável; e</a:t>
            </a:r>
          </a:p>
          <a:p>
            <a:r>
              <a:t> (x) Despesas com contratação e remuneração do Auditor Independente e da Agência Classificadora de  Risco.</a:t>
            </a:r>
          </a:p>
          <a:p>
            <a:r>
              <a:t>CNPJ 63953620000165 · Auditor independente e DFs · Condição: Documentos atuais selecionados no inventário por categoria/escopo; a data documental isolada não comprova vigência jurídica.</a:t>
            </a:r>
          </a:p>
          <a:p>
            <a:r>
              <a:t>CNPJ 63953620000165 · Auditor independente e DFs · Motivo: Cláusula primária localizada e citada, mas sua lista/condições extensas não admitem uma síntese literal curta confirmada. O trecho integral permanece nas fontes.</a:t>
            </a:r>
          </a:p>
          <a:p>
            <a:r>
              <a:t>CNPJ 63953620000165 · Auditor independente e DFs · Versão e prevalência: Documentos atuais selecionados no inventário por categoria/escopo; a data documental isolada não comprova vigência jurídica.</a:t>
            </a:r>
          </a:p>
          <a:p>
            <a:r>
              <a:t>CNPJ 63953620000165 · Auditor independente e DFs · Resumo do histórico: {"count": 8, "dates": ["2026-04-28", "2026-05-08", "2026-05-15"], "document_count": 3, "sources": [{"document_id": "1327859", "title": "Demonstrações Financeiras - Fusão, cisão e incorporação", "reference_date": "2026-05-15", "version": "1", "page": 1, "url": "https://fnet.bmfbovespa.com.br/fnet/publico/visualizarDocumento?id=1327859", "sha256": "dca1c68babb97f887528c3e2e47596a9c30f507b067981a35655b2f2da9c8054"}, {"document_id": "1298691", "title": "Demonstrações Financeiras - Fusão, cisão e incorporação", "reference_date": "2026-05-08", "version": "1", "page": 1, "url": "https://fnet.bmfbovespa.com.br/fnet/publico/visualizarDocumento?id=1298691", "sha256": "58c570d9b8d4d265330d3db3ea81c435b8e44a6dab4002aa37790652a1ee9819"}, {"document_id": "1282180", "title": "Demonstrações Financeiras - Fusão, cisão e incorporação", "reference_date": "2026-04-28", "version": "1", "page": 1, "url": "https://fnet.bmfbovespa.com.br/fnet/publico/visualizarDocumento?id=1282180", "sha256": "afaaa0e6809be4385e5bdb6c911aac582032c5bdbac3d7750234bf9eaf00438a"}], "reference": {"path": "history/63953620000165.json", "criterion_id": "audit",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Governança e alterações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Quóruns e matérias reservadas · Regulamento · ID 670691 · 28/04/2024 · versão Regulamento — referência 28/04/2024 · p. 4 · Parte Geral, 4.4–4.4.1 · https://fnet.bmfbovespa.com.br/fnet/publico/visualizarDocumento?id=670691</a:t>
            </a:r>
          </a:p>
          <a:p>
            <a:r>
              <a:t>CNPJ 54871427000194 · Quóruns e matérias reservadas · Excerto da fonte:</a:t>
            </a:r>
          </a:p>
          <a:p>
            <a:r>
              <a:t>4.4 Ressalvadas as exceções descritas neste Regulamento, toda e qualquer matéria submetida à deliberação dos cotistas deverá ser aprovada por maioria dos votos dos presentes. 4.4.1 As deliberações relativas às matérias elencadas nos incisos abaixo serão tomadas, em primeira convocação ou em segunda convocação, pelos votos dos titulares da maioria das cotas em circulação, em sede assembleia geral de cotistas ou de assembleia especial de cotistas, conf orme o caso: (i) aprovação das demonstrações contábeis do FUNDO; (ii) alteração da Parte Geral deste Regulamento; (iii) substituição ou remoção do Prestador de Serviços Essenciais do FUNDO, ressalvada a possibilidade prevista no Art. 70, §1º, da Parte Geral da Resolução CVM 175; (iv) alterações nos quóruns de deliberação def inidos neste Regulamento; (v) cobrança de taxas e encargos pelo ADMINISTRADOR, de qualquer natureza, que não estejam expressamente previstos neste Regulamento; (vi) liquidação do FUNDO. (vii) plano de resolu</a:t>
            </a:r>
          </a:p>
          <a:p>
            <a:r>
              <a:t>CNPJ 54871427000194 · Quóruns e matérias reservadas · Regulamento · ID 670691 · 28/04/2024 · versão Regulamento — referência 28/04/2024 · p. 17 · Anexo I, 10.1 · https://fnet.bmfbovespa.com.br/fnet/publico/visualizarDocumento?id=670691</a:t>
            </a:r>
          </a:p>
          <a:p>
            <a:r>
              <a:t>CNPJ 54871427000194 · Quóruns e matérias reservadas · Excerto da fonte:</a:t>
            </a:r>
          </a:p>
          <a:p>
            <a:r>
              <a:t>10.1 Sem prejuízo de outros requisitos e inf ormações previstos na regulamentação vigente, são aplicáveis à Assembleia Especial de Cotistas as mesmas disposições procedimentais da Assembleia Geral de Cotistas. 10.2 A Assembleia Especial de Cotistas é responsável por deliberar sobre as matérias específicas da Classe de Cotas, sem prejuízo das demais disposições previstas na regulamentação aplicável, incluindo, mas não se limitando a: (i) deliberar sobre as demonstrações contábeis da Classe; (ii) deliberar sobre substituição de Prestadores de Serviços Essenciais, observado o disposto no art. 70, §1º da parte geral da Resolução CVM 175; (iii) deliberar sobre elevação da Taxa de Administração, inclusive na hipótese de restabelecimento de taxa que tenha sido objeto de redução; (iv) deliberar sobre incorporação, f usão, cisão total ou parcial, a transf ormação ou liquidação da Classe; (v) alterações das características, vantagens, direitos e obrigações das Cotas; (vi) alterar critérios e procedimentos para Amortização e/ou resgate de Cotas mediante dação em pagamento de Direitos Creditórios; (vii) a</a:t>
            </a:r>
          </a:p>
          <a:p>
            <a:r>
              <a:t>CNPJ 54871427000194 · Quóruns e matérias reservadas · Versão e prevalência: Leitura específica das cláusulas indicadas; condições e conflitos preservados. Seleção documental atual não comprova vigência jurídica por data isolada.</a:t>
            </a:r>
          </a:p>
          <a:p>
            <a:r>
              <a:t>CNPJ 54871427000194 · Quóruns e matérias reservadas · Resumo do histórico: {"count": 1, "dates": ["2024-04-19"], "document_count": 1, "sources": [{"document_id": "670689", "title": "Regulamento", "reference_date": "2024-04-19", "version": "1", "page": 20, "clause": "11.6", "url": "https://fnet.bmfbovespa.com.br/fnet/publico/visualizarDocumento?id=670689", "sha256": "891bc9bc5d87bbc02ec139077a84d2702eb81ea02035fb71d24f5b8366b94a0b"}], "reference": {"path": "history/54871427000194.json", "criterion_id": "quorum", "total_count": 1, "preview_count": 1, "full_text_deferred": true, "sha256": "35d7cd99be50c7287c9fb675cf4f2e736002315295a225a9efa79c8d9186d874"}}</a:t>
            </a:r>
          </a:p>
          <a:p>
            <a:r>
              <a:t>CNPJ 60010416000112 · Quóruns e matérias reservadas · Regulamento · ID 1051393 · 09/10/2025 · versão Regulamento09/10/2025 · p. 18 · AnexoI9.2(ii)–(xvii) · https://fnet.bmfbovespa.com.br/fnet/publico/visualizarDocumento?id=1051393</a:t>
            </a:r>
          </a:p>
          <a:p>
            <a:r>
              <a:t>CNPJ 60010416000112 · Quóruns e matérias reservadas · Excerto da fonte:</a:t>
            </a:r>
          </a:p>
          <a:p>
            <a:r>
              <a:t>(ii) alterar este Anexo I e seus complementos, incluindo mas não se limitando aos Apêndices de cada uma das subclasses; (iii) deliberar sobre substituição de Prestadores de Serviços Essenciais, observado o disposto no Art. 70, §1º da parte geral da Resolução CVM 175, quando aplicável, ou do Custodiante; (iv) deliberar sobre elevação da Taxa de Administração, inclusive na hipótese de restabelecimento de taxa que tenha sido objeto de redução; (v) deliberar sobre incorporação, fusão, cisão total ou parcial, a transformação ou liquidação da Classe; (vi) alter</a:t>
            </a:r>
          </a:p>
          <a:p>
            <a:r>
              <a:t>CNPJ 60010416000112 · Quóruns e matérias reservadas · Regulamento · ID 1051393 · 09/10/2025 · versão Regulamento09/10/2025 · p. 19 · AnexoI9.8–9.9 · https://fnet.bmfbovespa.com.br/fnet/publico/visualizarDocumento?id=1051393</a:t>
            </a:r>
          </a:p>
          <a:p>
            <a:r>
              <a:t>CNPJ 60010416000112 · Quóruns e matérias reservadas · Excerto da fonte:</a:t>
            </a:r>
          </a:p>
          <a:p>
            <a:r>
              <a:t>9.8 As deliberações constantes dos incisos (ii), (iii), (iv), (v), (vi), (vii), (x), (xi), (xii), (xiii) e (xvii) acima, apenas serão aprovadas, seja em primeira ou em segunda convocação, por unanimidade dos votos dos titulares das Cotas em circulação. 9.9 As deliberações relativas aos demais incisos do item 9.2 acima apenas serão aprovadas, seja em primeira ou em segunda convocação, mediante o voto favorável dos Cotistas que representem a maioria das Cotas emitidas pela Classe. 9.10 Somente os Cotistas, seus representantes legais ou procuradores legalmente nomeados há menos de 1 (um) ano ter</a:t>
            </a:r>
          </a:p>
          <a:p>
            <a:r>
              <a:t>CNPJ 60010416000112 · Quóruns e matérias reservadas · Versão e prevalência: Leitura específica das cláusulas indicadas; condições e conflitos preservados. Seleção documental atual não comprova vigência jurídica por data isolada.</a:t>
            </a:r>
          </a:p>
          <a:p>
            <a:r>
              <a:t>CNPJ 60010416000112 · Quóruns e matérias reservadas · Resumo do histórico: {"count": 3, "dates": ["2025-03-20", "2025-05-09", "2025-05-12"], "document_count": 3, "sources": [{"document_id": "1004656", "title": "AGE", "reference_date": "2025-05-12", "version": "1", "page": 1, "url": "https://fnet.bmfbovespa.com.br/fnet/publico/visualizarDocumento?id=1004656", "sha256": "f6c9c009f6170e2b29f074b98522accec73f0c40efbf11f9ec2c8d3f1402616b"}, {"document_id": "911262", "title": "AGE", "reference_date": "2025-05-09", "version": "1", "page": 1, "url": "https://fnet.bmfbovespa.com.br/fnet/publico/visualizarDocumento?id=911262", "sha256": "675de4ffe8c5ee95957fb29810625ce850d1a0b69b5231747442266f0cbf32a3"}, {"document_id": "993786", "title": "Regulamento", "reference_date": "2025-03-20", "version": "1", "page": 22, "clause": "10.6", "url": "https://fnet.bmfbovespa.com.br/fnet/publico/visualizarDocumento?id=993786", "sha256": "fd0fdd369a195510d81f81f505195a0b09e5f43522a990afa7d58c4f872921c8"}], "reference": {"path": "history/60010416000112.json", "criterion_id": "quorum", "total_count": 3, "preview_count": 3, "full_text_deferred": true, "sha256": "8e2bd813f4c51cf01f6bfaad164bafe69d2bbb192f753eac92da3a01c2e63046"}}</a:t>
            </a:r>
          </a:p>
          <a:p>
            <a:r>
              <a:t>CNPJ 62696791000193 · Quóruns e matérias reservadas · Regulamento · ID 1143317 · 20/03/2026 · versão Regulamento — referência 20/03/2026 · p. 20 · Anexo I, 10.2, tabela · https://fnet.bmfbovespa.com.br/fnet/publico/visualizarDocumento?id=1143317</a:t>
            </a:r>
          </a:p>
          <a:p>
            <a:r>
              <a:t>CNPJ 62696791000193 · Quóruns e matérias reservadas · Excerto da fonte:</a:t>
            </a:r>
          </a:p>
          <a:p>
            <a:r>
              <a:t>10.2 Os seguintes quóruns deverão ser observados pela Assembleia Especial de Cotistas ao deliberar as matérias abaixo: Matéria Quórum I – alterar o presente Anexo; Maioria das Cotas Subscritas (“Quórum Qualificado”), observada BTG Pactual SAC: 0800 772 2827 | Ouvidoria: 0800 722 0048 | btgpactual.co m 15</a:t>
            </a:r>
          </a:p>
          <a:p>
            <a:r>
              <a:t>CNPJ 62696791000193 · Quóruns e matérias reservadas · Regulamento · ID 1143317 · 20/03/2026 · versão Regulamento — referência 20/03/2026 · p. 21 · Anexo I, 10.2, tabela · https://fnet.bmfbovespa.com.br/fnet/publico/visualizarDocumento?id=1143317</a:t>
            </a:r>
          </a:p>
          <a:p>
            <a:r>
              <a:t>CNPJ 62696791000193 · Quóruns e matérias reservadas · Excerto da fonte:</a:t>
            </a:r>
          </a:p>
          <a:p>
            <a:r>
              <a:t>Matéria Quórum a necessidade de voto afirmativo da Maioria das Cotas Seniores subscritas da Classe Quórum Qualif icado observada a necessidade de voto af irmativo da II – substituição do Administrador, do Gestor e da Cogestora; Maioria das Cotas Seniores subscritas da Classe Maioria Simples, observada a III – Emissão e distribuição de novas Cotas em quantidade necessidade de voto af irmativo da superior ao Capital Autorizado da Classe ; Maioria das Cotas Seniores subscritas da Classe</a:t>
            </a:r>
          </a:p>
          <a:p>
            <a:r>
              <a:t>CNPJ 62696791000193 · Quóruns e matérias reservadas · Regulamento · ID 1143317 · 20/03/2026 · versão Regulamento — referência 20/03/2026 · p. 22 · Anexo I, 10.2(XI) e 10.5–10.7 · https://fnet.bmfbovespa.com.br/fnet/publico/visualizarDocumento?id=1143317</a:t>
            </a:r>
          </a:p>
          <a:p>
            <a:r>
              <a:t>CNPJ 62696791000193 · Quóruns e matérias reservadas · Excerto da fonte:</a:t>
            </a:r>
          </a:p>
          <a:p>
            <a:r>
              <a:t>10.5 As deliberações que tenham por objeto alterações de Benchmark apenas serão aprovadas se assim deliberado: (i) pelos votos dos titulares da maioria das Cotas em circulação da Série ou Subclasse cujo Benchmark é alterado; e (ii) pelos votos dos titulares da maioria das Cotas Mezanino que se subordinem a ela e/ou das Cotas Subordinadas em circulação. 10.6 As deliberações que tenham por objeto o aumento do Índice de Subordinação estão sujeitas à aprovação da maioria simples dos votos dos titulares das Cotas Mezanino que se subordinem a ela e/ou das Cotas Subordinadas em circulação. 10.7 As deliberações que tenham por objeto a diminuição do Índice de Subordinação apenas serão aprovadas se assim deliberado: (i) pelos votos dos titulares da maioria das Cotas em circulação de cada uma das Séries de Cotas Seniores e/ou dos titulares das Cotas Mezanino que tenham o Benchmark alterado; e (ii) pelo voto dos titulares da maioria das Cotas Mezanino que se subordinem a ela e/ou Cotas Subordinadas Júnior em circulação . Representante de Cotistas 10.8 A Assembleia de Cotistas pode, a qualquer momento, eleger até 3 (três) representantes de cotistas, a serem eleitos e nomeados pela assembleia especial,</a:t>
            </a:r>
          </a:p>
          <a:p>
            <a:r>
              <a:t>CNPJ 62696791000193 · Quóruns e matérias reservadas · Versão e prevalência: Leitura específica das cláusulas indicadas; condições e conflitos preservados. Seleção documental atual não comprova vigência jurídica por data isolada.</a:t>
            </a:r>
          </a:p>
          <a:p>
            <a:r>
              <a:t>CNPJ 55563624000109 · Quóruns e matérias reservadas · Regulamento · ID 1192614 · 30/04/2026 · versão Regulamento30/04/2026 · p. 19 · AnexoI10.2(i)–(v) · https://fnet.bmfbovespa.com.br/fnet/publico/visualizarDocumento?id=1192614</a:t>
            </a:r>
          </a:p>
          <a:p>
            <a:r>
              <a:t>CNPJ 55563624000109 · Quóruns e matérias reservadas · Excerto da fonte:</a:t>
            </a:r>
          </a:p>
          <a:p>
            <a:r>
              <a:t>10.2 A Assembleia Especial de Cotistas é responsável por deliberar, observados os quóruns abaixo, sobre as matérias específicas da Classe, sem prejuízo das demais disposições previstas na regulamentação aplicável, incluindo, mas não se limitando a: MATÉRIA SUJEITA À APROVAÇÃO QUÓRUM DE DELIBERAÇÃO (i) deliberar sobre as demonstrações contábeis da Classe; Maioria do total das Cotas emitidas (ii) deliberar sobre a substituição de Prestadores de Serviços 90% (noventa por cento) do total das Cotas</a:t>
            </a:r>
          </a:p>
          <a:p>
            <a:r>
              <a:t>CNPJ 55563624000109 · Quóruns e matérias reservadas · Regulamento · ID 1192614 · 30/04/2026 · versão Regulamento30/04/2026 · p. 20 · AnexoI10.2(vi)–(xiii) · https://fnet.bmfbovespa.com.br/fnet/publico/visualizarDocumento?id=1192614</a:t>
            </a:r>
          </a:p>
          <a:p>
            <a:r>
              <a:t>CNPJ 55563624000109 · Quóruns e matérias reservadas · Excerto da fonte:</a:t>
            </a:r>
          </a:p>
          <a:p>
            <a:r>
              <a:t>(vi) alterar as características, vantagens, direitos e obrigações 90% (noventa por cento) do total das Cotas das Cotas; emitidas (vii) alterar critérios e procedimentos para resgate de Cotas mediante dação em pagamento de Cotas da Classe Maioria do total das Cotas emitidas Investida; (viii) aprovar a emissão de novas Cotas fora do Capital Maioria do total das Cotas emitidas</a:t>
            </a:r>
          </a:p>
          <a:p>
            <a:r>
              <a:t>CNPJ 55563624000109 · Quóruns e matérias reservadas · Versão e prevalência: Leitura específica das cláusulas indicadas; condições e conflitos preservados. Seleção documental atual não comprova vigência jurídica por data isolada.</a:t>
            </a:r>
          </a:p>
          <a:p>
            <a:r>
              <a:t>CNPJ 55563624000109 · Quóruns e matérias reservadas · Resumo do histórico: {"count": 2, "dates": ["2025-01-31", "2026-01-31"], "document_count": 2, "sources": [{"document_id": "1178840", "title": "Demonstrações Financeiras", "reference_date": "2026-01-31", "version": "1", "page": 24, "url": "https://fnet.bmfbovespa.com.br/fnet/publico/visualizarDocumento?id=1178840", "sha256": "c458e98664c5c907ddb5a05a94b120bed4e05295b2bfc420f5ba69af0a229abe"}, {"document_id": "891861", "title": "Demonstrações Financeiras", "reference_date": "2025-01-31", "version": "1", "page": 25, "url": "https://fnet.bmfbovespa.com.br/fnet/publico/visualizarDocumento?id=891861", "sha256": "e9cb9e6ddbe505fe068cfcac33605165a98313489de0d3ce6d4d238263c3f3e7"}], "reference": {"path": "history/55563624000109.json", "criterion_id": "quorum", "total_count": 2, "preview_count": 2, "full_text_deferred": true, "sha256": "7835d573fb58a3c19adf5b8ecc2aee2bdbb9a88f7a0c0209b5f262b64c7522e3"}}</a:t>
            </a:r>
          </a:p>
          <a:p>
            <a:r>
              <a:t>CNPJ 62552447000120 · Quóruns e matérias reservadas · Regulamento · ID 1200623 · 21/05/2026 · versão Consolidado21/05/2026 aprovado pelo ato1200625 · p. 21 · AnexoI10.2(i)–(x) · https://fnet.bmfbovespa.com.br/fnet/publico/visualizarDocumento?id=1200623</a:t>
            </a:r>
          </a:p>
          <a:p>
            <a:r>
              <a:t>CNPJ 62552447000120 · Quóruns e matérias reservadas · Excerto da fonte:</a:t>
            </a:r>
          </a:p>
          <a:p>
            <a:r>
              <a:t>10.2 Os seguintes quóruns deverão ser observados pela Assembleia Especial ao deliberar as matérias abaixo: Matéria Quórum (i) deliberar sobre substituição de Prestadores de Serviços Unanimidade dos Cotistas Essenciais, observado o disposto no art. 70, §1º da Parte Geral da Resolução CVM 175, quando aplicável; (ii) deliberar sobre elevação da Taxa Global, inclusive na Unanimidade dos Cotistas hipótese de restabelecimento de taxa que tenha sido objeto de redução; (iii) delibera</a:t>
            </a:r>
          </a:p>
          <a:p>
            <a:r>
              <a:t>CNPJ 62552447000120 · Quóruns e matérias reservadas · Versão e prevalência: Leitura específica das cláusulas indicadas; condições e conflitos preservados. Seleção documental atual não comprova vigência jurídica por data isolada.</a:t>
            </a:r>
          </a:p>
          <a:p>
            <a:r>
              <a:t>CNPJ 63953620000165 · Quóruns e matérias reservadas · Anexo ao Regulamento · ID 1222863 · 02/06/2026 · versão AnexoConsignadoPrivado02/06/2026 · p. 13 · 10.2(ii)–(xvii) · https://fnet.bmfbovespa.com.br/fnet/publico/visualizarDocumento?id=1222863</a:t>
            </a:r>
          </a:p>
          <a:p>
            <a:r>
              <a:t>CNPJ 63953620000165 · Quóruns e matérias reservadas · Excerto da fonte:</a:t>
            </a:r>
          </a:p>
          <a:p>
            <a:r>
              <a:t>10.2 Os seguintes quóruns deverão ser observados pela Assembleia Especial de Cotistas ao deliberar as matérias abaixo: Matéria Quórum (i) deliberar sobre as demonstrações contábeis da Classe; Maioria das Cotas presentes (ii) alterar o presente Anexo; Maioria das Cotas de cada Subclasse (iii) deliberar sobre substituição de Prestadores de Serviços Maioria das Cotas da Classe Essenciais, observado o disposto no Artigo 70, §1º da parte geral da R</a:t>
            </a:r>
          </a:p>
          <a:p>
            <a:r>
              <a:t>CNPJ 63953620000165 · Quóruns e matérias reservadas · Anexo ao Regulamento · ID 1222863 · 02/06/2026 · versão AnexoConsignadoPrivado02/06/2026 · p. 14 · 10.5–10.8 · https://fnet.bmfbovespa.com.br/fnet/publico/visualizarDocumento?id=1222863</a:t>
            </a:r>
          </a:p>
          <a:p>
            <a:r>
              <a:t>CNPJ 63953620000165 · Quóruns e matérias reservadas · Excerto da fonte:</a:t>
            </a:r>
          </a:p>
          <a:p>
            <a:r>
              <a:t>10.5 Caso a matéria em deliberação resulte ou possa resultar em uma redução do Índice de Subordinação de uma determinada Subclasse, somente podem votar os titulares de Subclasses de Cotas Seniores. 10.6 As deliberações que tenham por objeto alterações de Benchmark apenas serão aprovadas se assim deliberado: (i) pelos votos dos titulares da maioria das Cotas Seniores cujo Benchmark é alterado; e (ii) pelos votos dos titulares da maioria das Cotas Subordinadas em circulação. 10.7 As deliberações que tenham por objeto o aumento do Índice de Subordinação Sênior estão sujeitas à aprovação da maioria simples dos votos dos titu</a:t>
            </a:r>
          </a:p>
          <a:p>
            <a:r>
              <a:t>CNPJ 63953620000165 · Quóruns e matérias reservadas · Condição: 10.7/10.8 repetem aumento do índice com quóruns distintos; interpretar regra específica demandará resolver conflito, sem presumir uma aprovação.</a:t>
            </a:r>
          </a:p>
          <a:p>
            <a:r>
              <a:t>CNPJ 63953620000165 · Quóruns e matérias reservadas · Versão e prevalência: Leitura específica das cláusulas indicadas; condições e conflitos preservados. Seleção documental atual não comprova vigência jurídica por data isolada.</a:t>
            </a:r>
          </a:p>
          <a:p>
            <a:r>
              <a:t>CNPJ 63953620000165 · Quóruns e matérias reservadas · Resumo do histórico: {"count": 7, "dates": ["2026-04-28", "2026-05-08", "2026-05-15"], "document_count": 3, "sources": [{"document_id": "1327859", "title": "Demonstrações Financeiras - Fusão, cisão e incorporação", "reference_date": "2026-05-15", "version": "1", "page": 10, "url": "https://fnet.bmfbovespa.com.br/fnet/publico/visualizarDocumento?id=1327859", "sha256": "dca1c68babb97f887528c3e2e47596a9c30f507b067981a35655b2f2da9c8054"}, {"document_id": "1298691", "title": "Demonstrações Financeiras - Fusão, cisão e incorporação", "reference_date": "2026-05-08", "version": "1", "page": 10, "url": "https://fnet.bmfbovespa.com.br/fnet/publico/visualizarDocumento?id=1298691", "sha256": "58c570d9b8d4d265330d3db3ea81c435b8e44a6dab4002aa37790652a1ee9819"}, {"document_id": "1205431", "title": "AGE", "reference_date": "2026-04-28", "version": "1", "page": 1, "url": "https://fnet.bmfbovespa.com.br/fnet/publico/visualizarDocumento?id=1205431", "sha256": "e0b59c701c5d0dbf60de698ea7664d442240863b7043bacdb334ce484188b2ac"}], "reference": {"path": "history/63953620000165.json", "criterion_id": "quorum", "total_count": 7, "preview_count": 3, "full_text_deferred": true, "sha256": "a7b89077f5e21098c2d601c303faabc3ff6b9729f89d8afecdc60fe1404720c1"}}</a:t>
            </a:r>
          </a:p>
          <a:p>
            <a:r>
              <a:t>CNPJ 54871427000194 · Partes relacionadas e conflitos · Regulamento · ID 670691 · 2024-04-28 · versão 1 · p. 11 · 4.10 · https://fnet.bmfbovespa.com.br/fnet/publico/visualizarDocumento?id=670691</a:t>
            </a:r>
          </a:p>
          <a:p>
            <a:r>
              <a:t>CNPJ 54871427000194 · Partes relacionadas e conflitos · Excerto da fonte:</a:t>
            </a:r>
          </a:p>
          <a:p>
            <a:r>
              <a:t>4.10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54871427000194 · Partes relacionadas e conflitos · Regulamento · ID 670691 · 2024-04-28 · versão 1 · p. 11 · 4.11 · https://fnet.bmfbovespa.com.br/fnet/publico/visualizarDocumento?id=670691</a:t>
            </a:r>
          </a:p>
          <a:p>
            <a:r>
              <a:t>CNPJ 54871427000194 · Partes relacionadas e conflitos · Excerto da fonte:</a:t>
            </a:r>
          </a:p>
          <a:p>
            <a:r>
              <a:t>4.11 A Classe poderá, direta ou indiretamente e, nos termos da legislação aplicável: (i) adquirir Direitos  Creditórios que sejam cedidos e/ou originados pelo ADMINISTRADOR e/ou pelo GESTOR, ou partes  a eles relacionadas, tal como definidas pelas regras contábeis que tratam desse assunto; e (ii) ceder  Direitos Creditórios a qualquer das pessoas, fundos de investimento ou entidades referidas no item (i)  acima, desde que (i) o ADMINISTRADOR, GESTOR, a entidade registradora e o CUSTODIANTE de  Direitos Creditórios não sejam partes relacionadas entre si; e (ii) a entidade registradora e o  CUSTODIANTE dos Direitos Creditórios não sejam partes relacionadas ao originador ou Cedente.</a:t>
            </a:r>
          </a:p>
          <a:p>
            <a:r>
              <a:t>CNPJ 54871427000194 · Partes relacionadas e conflitos · Regulamento · ID 670691 · 2024-04-28 · versão 1 · p. 25 · 12.21 · https://fnet.bmfbovespa.com.br/fnet/publico/visualizarDocumento?id=670691</a:t>
            </a:r>
          </a:p>
          <a:p>
            <a:r>
              <a:t>CNPJ 54871427000194 · Partes relacionadas e conflitos · Excerto da fonte:</a:t>
            </a:r>
          </a:p>
          <a:p>
            <a:r>
              <a:t>12.21 O GESTOR, em nome da Classe, poderá contratar um ou mais terceiros para a prestação de serviços  de Agente de Cobrança de Direitos Creditórios Inadimplidos, os quais poderão ser partes relacionadas  ou integrar o grupo do ADMINISTRADOR ou dos demais prestadores de serviços da Classe. ] Serão  atribuições do Agente de Cobrança, observado o disposto neste Regulamento e na regulamentação  aplicável:</a:t>
            </a:r>
          </a:p>
          <a:p>
            <a:r>
              <a:t>(i) sempre que necessário, notificar os Devedores sobre a cessão dos Direitos Creditórios à  Classe, nos termos do Art. 290 do Código Civil;</a:t>
            </a:r>
          </a:p>
          <a:p>
            <a:r>
              <a:t>(ii) sempre que solicitado pelo ADMINISTRADOR e/ou pelo GESTOR, reportar ao  ADMINISTRADOR e ao GESTOR as ações tomadas e/ou eventos relevantes ocorridos no  âmbito da cobrança, seja judicial ou extrajudicial, dos Direitos Creditórios Inadimplidos, bem  como o estado de ref erida cobrança;</a:t>
            </a:r>
          </a:p>
          <a:p>
            <a:r>
              <a:t>(iii) comparecer à Assembleia Especial de Cotistas quando assim requerido pelo  ADMINISTRADOR;</a:t>
            </a:r>
          </a:p>
          <a:p>
            <a:r>
              <a:t>(iv) conf irmar o recebimento dos boletos bancários de cobrança enviados aos Devedores, se  aplicável;</a:t>
            </a:r>
          </a:p>
          <a:p>
            <a:r>
              <a:t>(v) controlar, coordenar, gerir e f iscalizar as ações de cobrança de Direitos Creditórios  Inadimplidos;</a:t>
            </a:r>
          </a:p>
          <a:p>
            <a:r>
              <a:t>(vi) adotar, em nome e por conta da Classe, todos os procedimentos de cobrança dos Direitos  Creditórios Inadimplidos de titularidade da Classe;</a:t>
            </a:r>
          </a:p>
          <a:p>
            <a:r>
              <a:t>(vii) conf orme o caso, ef etuar a inclusão ou exclusão do nome de quaisquer Devedores dos  Direitos Creditórios Inadimplidos no registro negativo de órgãos e/ou sistemas de informação  e proteção ao crédito; e</a:t>
            </a:r>
          </a:p>
          <a:p>
            <a:r>
              <a:t>(viii) conduzir, por si ou por meio dos assessores legais contratados para esse f im, processo  administrativo, judicial e/ou arbitral contra os Devedores, incluindo, ainda, a excussão de  eventuais garantias acessórias aos Direitos Creditórios.</a:t>
            </a:r>
          </a:p>
          <a:p>
            <a:r>
              <a:t>CNPJ 54871427000194 · Partes relacionadas e conflitos · Condição: Documentos atuais selecionados no inventário por categoria/escopo; a data documental isolada não comprova vigência jurídica.</a:t>
            </a:r>
          </a:p>
          <a:p>
            <a:r>
              <a:t>CNPJ 54871427000194 · Partes relacionadas e conflitos · Versão e prevalência: Documentos atuais selecionados no inventário por categoria/escopo; a data documental isolada não comprova vigência jurídica.</a:t>
            </a:r>
          </a:p>
          <a:p>
            <a:r>
              <a:t>CNPJ 54871427000194 · Partes relacionadas e conflitos · Resumo do histórico: {"count": 1, "dates": ["2024-04-19"], "document_count": 1, "sources": [{"document_id": "670689", "title": "Regulamento", "reference_date": "2024-04-19", "version": "1", "page": 11, "clause": "4.10", "url": "https://fnet.bmfbovespa.com.br/fnet/publico/visualizarDocumento?id=670689", "sha256": "891bc9bc5d87bbc02ec139077a84d2702eb81ea02035fb71d24f5b8366b94a0b"}], "reference": {"path": "history/54871427000194.json", "criterion_id": "related_parties", "total_count": 1, "preview_count": 1, "full_text_deferred": true, "sha256": "35d7cd99be50c7287c9fb675cf4f2e736002315295a225a9efa79c8d9186d874"}}</a:t>
            </a:r>
          </a:p>
          <a:p>
            <a:r>
              <a:t>CNPJ 60010416000112 · Partes relacionadas e conflitos · Regulamento · ID 1051393 · 2025-10-09 · versão 1 · p. 12 · 4.8 · https://fnet.bmfbovespa.com.br/fnet/publico/visualizarDocumento?id=1051393</a:t>
            </a:r>
          </a:p>
          <a:p>
            <a:r>
              <a:t>CNPJ 60010416000112 · Partes relacionadas e conflitos · Excerto da fonte:</a:t>
            </a:r>
          </a:p>
          <a:p>
            <a:r>
              <a:t>4.8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60010416000112 · Partes relacionadas e conflitos · Regulamento · ID 1051393 · 2025-10-09 · versão 1 · p. 12 · 4.9 · https://fnet.bmfbovespa.com.br/fnet/publico/visualizarDocumento?id=1051393</a:t>
            </a:r>
          </a:p>
          <a:p>
            <a:r>
              <a:t>CNPJ 60010416000112 · Partes relacionadas e conflitos · Excerto da fonte:</a:t>
            </a:r>
          </a:p>
          <a:p>
            <a:r>
              <a:t>4.9 Sem prejuízo de limites mais restritivos definidos neste Regulamento, o Gestor deverá observar, ainda, os  seguintes limites de concentração para a composição da Carteira:</a:t>
            </a:r>
          </a:p>
          <a:p>
            <a:r>
              <a:t> (i ) Até 100% (cem por cento) da parcela do Patrimônio Líquido investida em Ativos  Financeiros de Liquidez poderá ser alocada em Ativos Financeiros de Liquidez de  emissão ou que envolvam retenção de risco por parte do Administrador, Gestor, e/ou  suas partes relacionadas; e</a:t>
            </a:r>
          </a:p>
          <a:p>
            <a:r>
              <a:t> (ii) Até 100% (cem por cento) da parcela do Patrimônio Líquido investida em operações  com derivativos poderá ser alocada em derivativos nos quais, inexistindo contraparte  central, se tenha como contraparte o Gestor e/ou suas partes relacionadas.</a:t>
            </a:r>
          </a:p>
          <a:p>
            <a:r>
              <a:t>CNPJ 60010416000112 · Partes relacionadas e conflitos · Regulamento · ID 1051393 · 2025-10-09 · versão 1 · p. 12 · 4.12.1 · https://fnet.bmfbovespa.com.br/fnet/publico/visualizarDocumento?id=1051393</a:t>
            </a:r>
          </a:p>
          <a:p>
            <a:r>
              <a:t>CNPJ 60010416000112 · Partes relacionadas e conflitos · Excerto da fonte:</a:t>
            </a:r>
          </a:p>
          <a:p>
            <a:r>
              <a:t>4.12.1. Após o término do Período de Investimento, a Classe utilizará os recursos provenientes do  pagamento dos Direitos Creditórios e demais aplicações para amortização das Cotas, observada  a ordem de alocação de recursos def inida no Capítulo 7 abaixo.</a:t>
            </a:r>
          </a:p>
          <a:p>
            <a:r>
              <a:t>Regras, procedimentos e limites para efetuar cessão de direitos creditórios para o cedente e suas partes relacionadas</a:t>
            </a:r>
          </a:p>
          <a:p>
            <a:r>
              <a:t>CNPJ 60010416000112 · Partes relacionadas e conflitos · Condição: Documentos atuais selecionados no inventário por categoria/escopo; a data documental isolada não comprova vigência jurídica.</a:t>
            </a:r>
          </a:p>
          <a:p>
            <a:r>
              <a:t>CNPJ 60010416000112 · Partes relacionadas e conflitos · Versão e prevalência: Documentos atuais selecionados no inventário por categoria/escopo; a data documental isolada não comprova vigência jurídica.</a:t>
            </a:r>
          </a:p>
          <a:p>
            <a:r>
              <a:t>CNPJ 60010416000112 · Partes relacionadas e conflitos · Resumo do histórico: {"count": 1, "dates": ["2025-03-20"], "document_count": 1, "sources": [{"document_id": "993786", "title": "Regulamento", "reference_date": "2025-03-20", "version": "1", "page": 12, "clause": "4.8", "url": "https://fnet.bmfbovespa.com.br/fnet/publico/visualizarDocumento?id=993786", "sha256": "fd0fdd369a195510d81f81f505195a0b09e5f43522a990afa7d58c4f872921c8"}], "reference": {"path": "history/60010416000112.json", "criterion_id": "related_parties", "total_count": 1, "preview_count": 1, "full_text_deferred": true, "sha256": "8e2bd813f4c51cf01f6bfaad164bafe69d2bbb192f753eac92da3a01c2e63046"}}</a:t>
            </a:r>
          </a:p>
          <a:p>
            <a:r>
              <a:t>CNPJ 62696791000193 · Partes relacionadas e conflitos · Regulamento · ID 1143317 · 2026-03-20 · versão 1 · p. 12 · 4.10 · https://fnet.bmfbovespa.com.br/fnet/publico/visualizarDocumento?id=1143317</a:t>
            </a:r>
          </a:p>
          <a:p>
            <a:r>
              <a:t>CNPJ 62696791000193 · Partes relacionadas e conflitos · Excerto da fonte:</a:t>
            </a:r>
          </a:p>
          <a:p>
            <a:r>
              <a:t>4.10 Sem prejuízo de limites mais restritivos definidos neste Anexo, o Gestor deverá observar, ainda, os  seguintes limites de concentração:</a:t>
            </a:r>
          </a:p>
          <a:p>
            <a:r>
              <a:t> (i) A Classe poderá, direta ou indiretamente, ter até 100% (cem por cento) do Patrimônio  Líquido representado por Direitos Creditórios do Agronegócio originados ou cedidos  pelo Administrador, Gestor e/ou suas partes relacionadas, tal como definidas pelas  regras contábeis que tratam desse assunto, desde que (a) o Gest or, a entidade  registradora e o Custodiante dos Direitos Creditórios do Agronegócio não sejam partes  relacionadas entre si; e (b) a entidade registradora e o Custodiante dos Direitos  Creditórios do Agronegócio não sejam partes relacionadas ao originador ou Cedente.</a:t>
            </a:r>
          </a:p>
          <a:p>
            <a:r>
              <a:t> (ii) No máximo, 100% (cem por cento) do Patrimônio Líquido investido em Ativos  Financeiros de Liquidez de emissão ou que envolvam retenção de risco por parte do  Administrador, Gestor, e/ou suas partes relacionadas, observado ainda o disposto no  item Error! Reference source not found.;</a:t>
            </a:r>
          </a:p>
          <a:p>
            <a:r>
              <a:t> (iii) No máximo, 100% (cem por cento) do Patrimônio Líquido investido em operações com  derivativos nos quais, inexistindo contraparte central, se tenha como contraparte o  Gestor, e/ou suas partes relacionadas, observado ainda o disposto no item Error!  Reference source not found.;</a:t>
            </a:r>
          </a:p>
          <a:p>
            <a:r>
              <a:t> (iv) No máximo, 100% (cem por cento) do Patrimônio Líquido em cotas de uma mesma  classe;</a:t>
            </a:r>
          </a:p>
          <a:p>
            <a:r>
              <a:t> (v) É vedada a aquisição de precatórios f ederais.</a:t>
            </a:r>
          </a:p>
          <a:p>
            <a:r>
              <a:t> (vi) No máximo, 49% (quarenta e nove por cento) do Patrimônio Líquido em Ativos  Imobiliários do Agronegócio;</a:t>
            </a:r>
          </a:p>
          <a:p>
            <a:r>
              <a:t> (vii) No máximo, 49% (quarenta e nove por cento) do Patrimônio Líquido em Participações  do Agronegócio;</a:t>
            </a:r>
          </a:p>
          <a:p>
            <a:r>
              <a:t> (viii) No máximo, 49% (quarenta e nove por cento) do Patrimônio Líquido em Ativos  Financeiros do Agronegócio; e</a:t>
            </a:r>
          </a:p>
          <a:p>
            <a:r>
              <a:t> (ix) No máximo, 49% (quarenta e nove por cento) do Patrimônio Líquido em Ativos em Geral  do Agronegócio;</a:t>
            </a:r>
          </a:p>
          <a:p>
            <a:r>
              <a:t> Ativos Recuperados</a:t>
            </a:r>
          </a:p>
          <a:p>
            <a:r>
              <a:t>CNPJ 62696791000193 · Partes relacionadas e conflitos · Regulamento · ID 1143317 · 2026-03-20 · versão 1 · p. 11 · 4.8 · https://fnet.bmfbovespa.com.br/fnet/publico/visualizarDocumento?id=1143317</a:t>
            </a:r>
          </a:p>
          <a:p>
            <a:r>
              <a:t>CNPJ 62696791000193 · Partes relacionadas e conflitos · Excerto da fonte:</a:t>
            </a:r>
          </a:p>
          <a:p>
            <a:r>
              <a:t>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relacionadas ao Gestor.</a:t>
            </a:r>
          </a:p>
          <a:p>
            <a:r>
              <a:t>CNPJ 62696791000193 · Partes relacionadas e conflitos · Regulamento · ID 1143317 · 2026-03-20 · versão 1 · p. 14 · 4.21.1 · https://fnet.bmfbovespa.com.br/fnet/publico/visualizarDocumento?id=1143317</a:t>
            </a:r>
          </a:p>
          <a:p>
            <a:r>
              <a:t>CNPJ 62696791000193 · Partes relacionadas e conflitos · Excerto da fonte:</a:t>
            </a:r>
          </a:p>
          <a:p>
            <a:r>
              <a:t>4.21.1 Sem prejuízo do disposto acima, poderá ser contratado terceiro especializado para o  gerenciamento das obras, para controle dos desembolsos, conforme medições durante a etapa  de desenvolvimento e construção dos Ativos Imobiliários do Agronegócio, sendo certo que,  caso haja a contratação de terceiros em situação de conflito de interesses, deverá ser aprovado  em assembleia de Cotistas.</a:t>
            </a:r>
          </a:p>
          <a:p>
            <a:r>
              <a:t>CNPJ 62696791000193 · Partes relacionadas e conflitos · Condição: Documentos atuais selecionados no inventário por categoria/escopo; a data documental isolada não comprova vigência jurídica.</a:t>
            </a:r>
          </a:p>
          <a:p>
            <a:r>
              <a:t>CNPJ 62696791000193 · Partes relacionadas e conflitos · Versão e prevalência: Documentos atuais selecionados no inventário por categoria/escopo; a data documental isolada não comprova vigência jurídica.</a:t>
            </a:r>
          </a:p>
          <a:p>
            <a:r>
              <a:t>CNPJ 55563624000109 · Partes relacionadas e conflitos · Regulamento · ID 1192614 · 2026-04-30 · versão 1 · p. 13 · 4.12.1 · https://fnet.bmfbovespa.com.br/fnet/publico/visualizarDocumento?id=1192614</a:t>
            </a:r>
          </a:p>
          <a:p>
            <a:r>
              <a:t>CNPJ 55563624000109 · Partes relacionadas e conflitos · Excerto da fonte:</a:t>
            </a:r>
          </a:p>
          <a:p>
            <a:r>
              <a:t>4.12.1 A Classe poderá ter até 100% (cem por cento) do Patrimônio Líquido representado por Cotas da Classe  Investida administrados pelo ADMINISTRADOR, e geridos ou cogeridos pelo GESTOR e/ou suas partes  relacionadas.</a:t>
            </a:r>
          </a:p>
          <a:p>
            <a:r>
              <a:t> Revolvência da Carteira</a:t>
            </a:r>
          </a:p>
          <a:p>
            <a:r>
              <a:t>CNPJ 55563624000109 · Partes relacionadas e conflitos · Regulamento · ID 1192614 · 2026-04-30 · versão 1 · p. 28 · 13.2 · https://fnet.bmfbovespa.com.br/fnet/publico/visualizarDocumento?id=1192614</a:t>
            </a:r>
          </a:p>
          <a:p>
            <a:r>
              <a:t>CNPJ 55563624000109 · Partes relacionadas e conflitos · Excerto da fonte:</a:t>
            </a:r>
          </a:p>
          <a:p>
            <a:r>
              <a:t>13.2 Em condições ordinárias, as Cotas da Classe Investida não pagarão remuneração aos prestadores de serviços  essenciais da Classe Investida, nos termos de seu regulamento. Não obstante, em cenário extraordinário  conforme descrito no item 15.1.1 (iii), e para fins de atendimento ao artigo 98 da parte geral da Resolução CVM  175, a taxa máxima de administração corresponderá ao valor da Taxa Mínima de Administração acrescida de até  0,10% (dez centésimos por cento) ao ano incidente sobre o patrimônio líquido da Classe Investida,  compreendendo a taxa de administração da Classe Investida geridos por partes relacionadas ao GESTOR, cujas  cotas não estão admitidas à negociação em mercado organizado, conforme prevista no regulamento da Classe  Investida (“Taxa Máxima de Administração” e, quando referida em conjunto com a Taxa Mínima de  Administração, como “Taxa de Administração”). Caso a taxa de administração da Classe Investida não se  enquadre no disposto acima, estará disposta no regulamento da Classe Investida.</a:t>
            </a:r>
          </a:p>
          <a:p>
            <a:r>
              <a:t>CNPJ 55563624000109 · Partes relacionadas e conflitos · Regulamento · ID 1192614 · 2026-04-30 · versão 1 · p. 37 · https://fnet.bmfbovespa.com.br/fnet/publico/visualizarDocumento?id=1192614</a:t>
            </a:r>
          </a:p>
          <a:p>
            <a:r>
              <a:t>CNPJ 55563624000109 · Partes relacionadas e conflitos · Excerto da fonte:</a:t>
            </a:r>
          </a:p>
          <a:p>
            <a:r>
              <a:t>(ix) Possibilidade de conflito de interesses. As Cotas poderão ser adquiridas por investidores que  sejam partes relacionadas à Classe Investida ou aos prestadores de serviços da Classe Investida. Nessa  hipótese, poderá haver situações de conflito de interesses entre os interesses desses investidores e o  interesse dos demais Cotistas, podendo qualquer desses investidores, inclusive, aprovar deliberações  contrárias aos interesses dos demais Cotistas caso sejam titulares da maioria das Cotas presentes às  Assembleias de Cotistas.</a:t>
            </a:r>
          </a:p>
          <a:p>
            <a:r>
              <a:t>CNPJ 55563624000109 · Partes relacionadas e conflitos · Condição: Documentos atuais selecionados no inventário por categoria/escopo; a data documental isolada não comprova vigência jurídica.</a:t>
            </a:r>
          </a:p>
          <a:p>
            <a:r>
              <a:t>CNPJ 55563624000109 · Partes relacionadas e conflitos · Versão e prevalência: Documentos atuais selecionados no inventário por categoria/escopo; a data documental isolada não comprova vigência jurídica.</a:t>
            </a:r>
          </a:p>
          <a:p>
            <a:r>
              <a:t>CNPJ 55563624000109 · Partes relacionadas e conflitos · Resumo do histórico: {"count": 2, "dates": ["2025-01-31", "2026-01-31"], "document_count": 2, "sources": [{"document_id": "1178840", "title": "Demonstrações Financeiras", "reference_date": "2026-01-31", "version": "1", "page": 23, "url": "https://fnet.bmfbovespa.com.br/fnet/publico/visualizarDocumento?id=1178840", "sha256": "c458e98664c5c907ddb5a05a94b120bed4e05295b2bfc420f5ba69af0a229abe"}, {"document_id": "891861", "title": "Demonstrações Financeiras", "reference_date": "2025-01-31", "version": "1", "page": 23, "url": "https://fnet.bmfbovespa.com.br/fnet/publico/visualizarDocumento?id=891861", "sha256": "e9cb9e6ddbe505fe068cfcac33605165a98313489de0d3ce6d4d238263c3f3e7"}], "reference": {"path": "history/55563624000109.json", "criterion_id": "related_parties", "total_count": 2, "preview_count": 2, "full_text_deferred": true, "sha256": "7835d573fb58a3c19adf5b8ecc2aee2bdbb9a88f7a0c0209b5f262b64c7522e3"}}</a:t>
            </a:r>
          </a:p>
          <a:p>
            <a:r>
              <a:t>CNPJ 62552447000120 · Partes relacionadas e conflitos · Regulamento · ID 1200623 · 2026-05-21 · versão 1 · p. 14 · 4.10 · https://fnet.bmfbovespa.com.br/fnet/publico/visualizarDocumento?id=1200623</a:t>
            </a:r>
          </a:p>
          <a:p>
            <a:r>
              <a:t>CNPJ 62552447000120 · Partes relacionadas e conflitos · Excerto da fonte:</a:t>
            </a:r>
          </a:p>
          <a:p>
            <a:r>
              <a:t>4.10 Nos termos do art. 45, §7º, inciso II, do Anexo Normativo II, a Classe poderá ter até 100% (cem por  cento) de seu Patrimônio Líquido alocado em Direitos Creditórios, derivativos, observado o disposto  abaixo,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62552447000120 · Partes relacionadas e conflitos · Regulamento · ID 1200623 · 2026-05-21 · versão 1 · p. 14 · 4.11 · https://fnet.bmfbovespa.com.br/fnet/publico/visualizarDocumento?id=1200623</a:t>
            </a:r>
          </a:p>
          <a:p>
            <a:r>
              <a:t>CNPJ 62552447000120 · Partes relacionadas e conflitos · Excerto da fonte:</a:t>
            </a:r>
          </a:p>
          <a:p>
            <a:r>
              <a:t>4.11 Sem prejuízo de limites mais restritivos definidos neste Regulamento, o Gestor deverá observar, ainda,  os seguintes limites de concentração para a composição da Carteira:</a:t>
            </a:r>
          </a:p>
          <a:p>
            <a:r>
              <a:t> (i) Até 100% (cem por cento) da parcela do Patrimônio Líquido investida em Direitos  Creditórios poderão ser alocados em Direitos Creditórios originados ou cedidos pelo  Administrador, Gestor e/ou suas partes relacionadas, tal como definidas pelas regras  contábeis que tratam desse assunto . A Classe também poderá ceder Direitos  Creditórios a qualquer das pessoas, f undos de investimento ou entidades ref eridas  acima, desde que a entidade registradora e o Custodiante dos Direitos Creditórios não  sejam partes relacionadas ao Originador ou Endossante;</a:t>
            </a:r>
          </a:p>
          <a:p>
            <a:r>
              <a:t> (ii) Até 100% (cem por cento) da parcela do Patrimônio Líquido investida em Ativos  Financeiros poderão ser alocados em Ativos Financeiros de emissão ou que envolvam  retenção de risco por parte do Administrador, Gestor e/ou suas partes relacionadas; e</a:t>
            </a:r>
          </a:p>
          <a:p>
            <a:r>
              <a:t> (iii) Até 100% (cem por cento) da parcela do Patrimônio Líquido investida em operações  com derivativos poderão ser alocados em operações com derivativos nas quais,  inexistindo contraparte central, se tenha como contraparte o Gestor e/ou suas partes  relacionadas.</a:t>
            </a:r>
          </a:p>
          <a:p>
            <a:r>
              <a:t>CNPJ 62552447000120 · Partes relacionadas e conflitos · Regulamento · ID 1200623 · 2026-05-21 · versão 1 · p. 15 · 4.18 · https://fnet.bmfbovespa.com.br/fnet/publico/visualizarDocumento?id=1200623</a:t>
            </a:r>
          </a:p>
          <a:p>
            <a:r>
              <a:t>CNPJ 62552447000120 · Partes relacionadas e conflitos · Excerto da fonte:</a:t>
            </a:r>
          </a:p>
          <a:p>
            <a:r>
              <a:t>4.18 Ainda que integrem a Carteira, os Ativos Recuperados não serão, sob qualquer hipótese, adquiridos  como parte da Política de Investimento, de forma que serão de sua propriedade exclusivamente, não  devendo, portanto, ser contabilizados para f ins de enquadramento da Classe.</a:t>
            </a:r>
          </a:p>
          <a:p>
            <a:r>
              <a:t>Regras, procedimentos e limites para efetuar qualquer modalidade de transferência dos Direitos Creditórios, incluindo, sem limitação, endosso (“Transferência”) para o Endossante e suas partes relacionadas</a:t>
            </a:r>
          </a:p>
          <a:p>
            <a:r>
              <a:t>CNPJ 62552447000120 · Partes relacionadas e conflitos · Condição: Documentos atuais selecionados no inventário por categoria/escopo; a data documental isolada não comprova vigência jurídica.</a:t>
            </a:r>
          </a:p>
          <a:p>
            <a:r>
              <a:t>CNPJ 62552447000120 · Partes relacionadas e conflitos · Versão e prevalência: Documentos atuais selecionados no inventário por categoria/escopo; a data documental isolada não comprova vigência jurídica.</a:t>
            </a:r>
          </a:p>
          <a:p>
            <a:r>
              <a:t>CNPJ 63953620000165 · Partes relacionadas e conflitos · Anexo ao Regulamento · ID 1222863 · 2026-06-02 · versão 1 · p. 6 · 4.14 · https://fnet.bmfbovespa.com.br/fnet/publico/visualizarDocumento?id=1222863</a:t>
            </a:r>
          </a:p>
          <a:p>
            <a:r>
              <a:t>CNPJ 63953620000165 · Partes relacionadas e conflitos · Excerto da fonte:</a:t>
            </a:r>
          </a:p>
          <a:p>
            <a:r>
              <a:t>4.14 Nos termos do Art. 45, §7º, inciso II, do Anexo Normativo II da Resolução CVM 175, a Classe poderá ter até 100%  (cem por cento) de seu Patrimônio Líquido alocado em Direitos Creditórios, derivativos, observado o disposto  neste Anexo I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63953620000165 · Partes relacionadas e conflitos · Anexo ao Regulamento · ID 1222863 · 2026-06-02 · versão 1 · p. 8 · 4.21 · https://fnet.bmfbovespa.com.br/fnet/publico/visualizarDocumento?id=1222863</a:t>
            </a:r>
          </a:p>
          <a:p>
            <a:r>
              <a:t>CNPJ 63953620000165 · Partes relacionadas e conflitos · Excerto da fonte:</a:t>
            </a:r>
          </a:p>
          <a:p>
            <a:r>
              <a:t>4.21 Ainda que integrem a carteira da Classe, os Ativos Recuperados não serão, sob qualquer hipótese, adquiridos  como parte da Política de Investimento da Classe, de forma que serão de sua propriedade exclusivamente, não  devendo, portanto, ser contabilizados para fins de enquadramento da Classe.</a:t>
            </a:r>
          </a:p>
          <a:p>
            <a:r>
              <a:t> Regras, procedimentos e limites para efetuar o Endosso de Direitos Creditórios Crédito Consignado para o Endossante e  suas partes relacionadas</a:t>
            </a:r>
          </a:p>
          <a:p>
            <a:r>
              <a:t>CNPJ 63953620000165 · Partes relacionadas e conflitos · Anexo ao Regulamento · ID 1222863 · 2026-06-02 · versão 1 · p. 7 · https://fnet.bmfbovespa.com.br/fnet/publico/visualizarDocumento?id=1222863</a:t>
            </a:r>
          </a:p>
          <a:p>
            <a:r>
              <a:t>CNPJ 63953620000165 · Partes relacionadas e conflitos · Excerto da fonte:</a:t>
            </a:r>
          </a:p>
          <a:p>
            <a:r>
              <a:t>Anexo I ao Regulamento  CLASSE CONSIGNADO PRIVADO DO MT GLOBAL FUNDO DE INVESTIMENTO EM DIREITOS  CREDITÓRIOS RESPONSABILIDADE LIMITADA</a:t>
            </a:r>
          </a:p>
          <a:p>
            <a:r>
              <a:t> (i)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 (ii) No máximo, 50% (cinquenta por cento) do Patrimônio Líquido investido em Ativos Financeiros  de Liquidez de emissão ou que envolvam retenção de risco por parte do Administrador, Gestor,  e/ou suas partes relacionadas, observado ainda o disposto acima;</a:t>
            </a:r>
          </a:p>
          <a:p>
            <a:r>
              <a:t> (iii) No máximo, 100% (cem por cento) do Patrimônio Líquido investido em operações com  derivativos nos quais, inexistindo contraparte central, se tenha como contraparte o Gestor,  Consultora e/ou suas partes relacionadas, observado ainda o disposto acima;</a:t>
            </a:r>
          </a:p>
          <a:p>
            <a:r>
              <a:t> (iv) A Classe poderá investir até 100% (cem por cento) de seu Patrimônio Líquido em Direitos  Creditórios Não-Padronizados;</a:t>
            </a:r>
          </a:p>
          <a:p>
            <a:r>
              <a:t> (v) É vedada a aquisição de precatórios federais.</a:t>
            </a:r>
          </a:p>
          <a:p>
            <a:r>
              <a:t>CNPJ 63953620000165 · Partes relacionadas e conflitos · Condição: Documentos atuais selecionados no inventário por categoria/escopo; a data documental isolada não comprova vigência jurídica.</a:t>
            </a:r>
          </a:p>
          <a:p>
            <a:r>
              <a:t>CNPJ 63953620000165 · Partes relacionadas e conflitos · Versão e prevalência: Documentos atuais selecionados no inventário por categoria/escopo; a data documental isolada não comprova vigência jurídica.</a:t>
            </a:r>
          </a:p>
          <a:p>
            <a:r>
              <a:t>CNPJ 54871427000194 · Histórico de alterações materiais · Instrumento Particular de Alteração do Regulamento · ID 670690 · 28/05/2024 · versão Instrumento Particular de Alteração do Regulamento — referência 28/05/2024 · p. 1 · AGC, 4.1–4.2 · https://fnet.bmfbovespa.com.br/fnet/publico/visualizarDocumento?id=670690</a:t>
            </a:r>
          </a:p>
          <a:p>
            <a:r>
              <a:t>CNPJ 54871427000194 · Histórico de alterações materiais · Excerto da fonte:</a:t>
            </a:r>
          </a:p>
          <a:p>
            <a:r>
              <a:t>4.1. A alteração integral do anexo da Classe Única, que compõe o regulamento do Fundo (“Anexo da Classe Única” e “Regulamento”) e seus complementos, para de f orma a alterar a Política de Investimentos da Classe para aquisição de direitos creditórios representados por Certif icados de Cédulas de Crédito Bancário (“CCCBs” e “Direitos Creditórios”), bem como refletir os novos critérios de elegibilidade para aquisição dos Direitos Creditórios, os documentos comprobatórios do lastro e f atores de risco aplicáveis. 4.2. Tendo em vista a aprovação dos itens. acima, deliberaram por aprovar o novo Regulamento Consolidado, que vigorará na forma do Anexo I à presente Ata, o qual terá efeitos retroativos a abertura de 28 de maio de 2024. 4.3. Por f im, por aprovar a Administradora a adotar todas as medidas necessárias para implementação das deliberações acima. 5. ENCERRAMENTO Nada mais havendo a tratar, f oi a reunião encerrada. Rio de Janeiro, 28 de maio de 2024. Mesa: Diego Prado Tassiana Lima Presidente</a:t>
            </a:r>
          </a:p>
          <a:p>
            <a:r>
              <a:t>CNPJ 54871427000194 · Histórico de alterações materiais · Regulamento · ID 670691 · 28/04/2024 · versão Regulamento — referência 28/04/2024 · p. 9 · Regulamento 670691, Anexo I, 4.2 · https://fnet.bmfbovespa.com.br/fnet/publico/visualizarDocumento?id=670691</a:t>
            </a:r>
          </a:p>
          <a:p>
            <a:r>
              <a:t>CNPJ 54871427000194 · Histórico de alterações materiais · Excerto da fonte:</a:t>
            </a:r>
          </a:p>
          <a:p>
            <a:r>
              <a:t>4.2 Os Direitos Creditórios representados por Certif icados de Cédulas de Crédito Bancário (“CCCBs”), representativos de um agrupamento de determinadas CCBs, originadas no âmbito de operações de empréstimos pessoais concedidos por um Endossante a um Devedor, devidamente f ormalizadas por via eletrônica de acordo com a legislação aplicável, segundo os critérios de composição e diversificação estabelecidos pela regulamentação aplicável e neste Regulamento. 4.2.1 Cada Endossante deve ter celebrado convênio com órgão consignante, previamente à cessão de Direitos Creditórios à Classe, que contemplam a obrigação da manutenção da consignação/averbação junto ao novo órgão, de modo a possibilitar o pagamento dos Direitos Creditórios por meio de consignação em f olha de pagamento ou de benef ício . 4.3 Os pagamentos relativos aos Direitos Creditórios de titularidade da Classe serão realizados mediante consignação em folha, débito em conta de titularidade dos Devedores e pagamentos de sinistros, para pagamento dos valores correspondentes às parcelas das CCBs representadas pelos CCCBs de titularidade da Classe, os quais serão conciliados e repassados pelo Endossan</a:t>
            </a:r>
          </a:p>
          <a:p>
            <a:r>
              <a:t>CNPJ 54871427000194 · Histórico de alterações materiais · Condição: A classificação Fundos Net do documento 670690 é “regulamento”, mas seu conteúdo é uma AGC. A divergência de datas impede usar a referência do 670691 como prova autônoma de início de vigência.</a:t>
            </a:r>
          </a:p>
          <a:p>
            <a:r>
              <a:t>CNPJ 54871427000194 · Histórico de alterações materiais · Motivo: Não localizada uma cláusula material para este critério nos textos identificados e processados. A ausência de resultado não comprova inexistência da regra.</a:t>
            </a:r>
          </a:p>
          <a:p>
            <a:r>
              <a:t>CNPJ 54871427000194 · Histórico de alterações materiais · Versão e prevalência: Leitura específica das cláusulas indicadas; condições e conflitos preservados. Seleção documental atual não comprova vigência jurídica por data isolada.</a:t>
            </a:r>
          </a:p>
          <a:p>
            <a:r>
              <a:t>CNPJ 60010416000112 · Histórico de alterações materiais · Demonstrações Financeiras - Fusão, cisão e incorporação · ID 1298690 · 2026-05-08 · versão 1 · p. 30 · https://fnet.bmfbovespa.com.br/fnet/publico/visualizarDocumento?id=1298690</a:t>
            </a:r>
          </a:p>
          <a:p>
            <a:r>
              <a:t>CNPJ 60010416000112 · Histórico de alterações materiais · Excerto da fonte:</a:t>
            </a:r>
          </a:p>
          <a:p>
            <a:r>
              <a:t>Durante o período de investimento, a Administradora poderá deliberar por realizar novas  emissões de Cotas Seniores, sem a necessidade de aprovação em Assembleia Especial de  Cotistas ou alteração do Regulamento, limitadas ao montante máximo de R$ 1.000.000 (um  bilhão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seniores emitidas não sejam superiores aos  prazos de vencimento da primeira emissão.</a:t>
            </a:r>
          </a:p>
          <a:p>
            <a:r>
              <a:t>CNPJ 60010416000112 · Histórico de alterações materiais · Demonstrações Financeiras - Fusão, cisão e incorporação · ID 1298690 · 2026-05-08 · versão 1 · p. 30 · https://fnet.bmfbovespa.com.br/fnet/publico/visualizarDocumento?id=1298690</a:t>
            </a:r>
          </a:p>
          <a:p>
            <a:r>
              <a:t>CNPJ 60010416000112 · Histórico de alterações materiais · Excerto da fonte:</a:t>
            </a:r>
          </a:p>
          <a:p>
            <a:r>
              <a:t>Durante o período de investimento, a Administradora poderá deliberar por realizar novas  emissões de cotas subordinadas, sem a necessidade de aprovação em Assembleia Especial  de Cotistas ou alteração do Regulamento, limitadas ao montante máximo de R$ 50.000  (cinquenta milhões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subordinadas emitidas não sejam  superiores aos prazos de vencimento da primeira emissão.</a:t>
            </a:r>
          </a:p>
          <a:p>
            <a:r>
              <a:t>CNPJ 60010416000112 · Histórico de alterações materiais · Condição: Documentos atuais selecionados no inventário por categoria/escopo; a data documental isolada não comprova vigência jurídica.</a:t>
            </a:r>
          </a:p>
          <a:p>
            <a:r>
              <a:t>CNPJ 60010416000112 · Histórico de alterações materiais · Versão e prevalência: Documentos atuais selecionados no inventário por categoria/escopo; a data documental isolada não comprova vigência jurídica.</a:t>
            </a:r>
          </a:p>
          <a:p>
            <a:r>
              <a:t>CNPJ 60010416000112 · Histórico de alterações materiais · Resumo do histórico: {"count": 5, "dates": ["2025-11-30", "2026-03-18", "2026-04-16"], "document_count": 3, "sources": [{"document_id": "1282181", "title": "Demonstrações Financeiras - Fusão, cisão e incorporação", "reference_date": "2026-04-16", "version": "1", "page": 32, "url": "https://fnet.bmfbovespa.com.br/fnet/publico/visualizarDocumento?id=1282181", "sha256": "b1c6566e43a00bcd00c8a7f30c77b7f86e351bd8e355bbea113f46d1dafda703"}, {"document_id": "1224477", "title": "Demonstrações Financeiras - Fusão, cisão e incorporação", "reference_date": "2026-03-18", "version": "1", "page": 32, "url": "https://fnet.bmfbovespa.com.br/fnet/publico/visualizarDocumento?id=1224477", "sha256": "0751bf0a75bc3b44c2748f5000226665c6ec6698a90c4dc6170b4e6c187759ae"}, {"document_id": "1126154", "title": "Demonstrações Financeiras", "reference_date": "2025-11-30", "version": "1", "page": 32, "url": "https://fnet.bmfbovespa.com.br/fnet/publico/visualizarDocumento?id=1126154", "sha256": "a01e7ccf88c548f12c95cba8526d7efbef6b585c112cd4668eca781c292090b0"}], "reference": {"path": "history/60010416000112.json", "criterion_id": "changes", "total_count": 5, "preview_count": 3, "full_text_deferred": true, "sha256": "8e2bd813f4c51cf01f6bfaad164bafe69d2bbb192f753eac92da3a01c2e63046"}}</a:t>
            </a:r>
          </a:p>
          <a:p>
            <a:r>
              <a:t>CNPJ 62696791000193 · Histórico de alterações materiais · AGE · ID 1143319 · 20/03/2026 10:00 · versão AGE — referência 20/03/2026 10:00 · p. 1 · AGC, 4.1(a)–(c) · https://fnet.bmfbovespa.com.br/fnet/publico/visualizarDocumento?id=1143319</a:t>
            </a:r>
          </a:p>
          <a:p>
            <a:r>
              <a:t>CNPJ 62696791000193 · Histórico de alterações materiais · Excerto da fonte:</a:t>
            </a:r>
          </a:p>
          <a:p>
            <a:r>
              <a:t>4.1. Aprovar a transformação do Fundo, bem como de sua Classe única, em um fundo de investimento nas cadeias produtivas do agronegócio (“Transformação”), nos termos da parte geral e do Anexo Normativo VI da Resolução nº 175 da CVM, de 23 de dezembro de 2022, conforme alterada (“Resolução CVM 175”). a. Aprovar a alteração da denominação do Fundo, que passará a vigorar como BTG PACTUAL CERES CONFINA FUNDO DE INVESTIMENTO NAS CADEIAS PRODUTIVAS DO AGRONEGÓCIO RESPONSABILIDADE LIMITADA, e de sua Classe única, que passará a vigorar como CLASSE ÚNICA DO BTG PACTUAL CERES CONFINA FUNDO DE INVESTIMENTO NAS CADEIAS PRODUTIVAS DO AGRONEGÓCIO RESPONSABILIDADE LIMITADA (“Classe”); b. Aprovar a reforma integral do Regulamento do Fundo, bem como do Anexo descritivo da Classe, para realizar todos os ajustes necessários à implementação da Transformação, incluindo, mas não se limitando, a política de investimentos, o regime tributário e os fatores de risco aplicáveis, conforme itens abaixo; c. Aprovar a alteração do quadro de características gerais do Fundo, considerando a contratação do Cogestor pelo Gestor, nos termos do artigo 52, II, da parte geral da Resolução CVM 175 e no co</a:t>
            </a:r>
          </a:p>
          <a:p>
            <a:r>
              <a:t>CNPJ 62696791000193 · Histórico de alterações materiais · AGE · ID 1143319 · 20/03/2026 10:00 · versão AGE — referência 20/03/2026 10:00 · p. 3 · AGC, 4.1(j)–(k) · https://fnet.bmfbovespa.com.br/fnet/publico/visualizarDocumento?id=1143319</a:t>
            </a:r>
          </a:p>
          <a:p>
            <a:r>
              <a:t>CNPJ 62696791000193 · Histórico de alterações materiais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Histórico de alterações materiais · Instrumento Particular de Emissão de Cotas · ID 1148821 · 27/03/2026 · versão Instrumento Particular de Emissão de Cotas — referência 27/03/2026 · p. 1 · Deliberação Conjunta27/03/2026, item1 · https://fnet.bmfbovespa.com.br/fnet/publico/visualizarDocumento?id=1148821</a:t>
            </a:r>
          </a:p>
          <a:p>
            <a:r>
              <a:t>CNPJ 62696791000193 · Histórico de alterações materiais · Excerto da fonte:</a:t>
            </a:r>
          </a:p>
          <a:p>
            <a:r>
              <a:t>1. Aprovar a 2ª (segunda) emissão da Subclasse Subordinada Júnior da Classe, composta por até 20.000 (vinte mil) Cotas Subordinadas Júnior, com valor nominal unitário de R$ 1.000,00 (mil reais), perfazendo o montante total de R$ 20.000.000,00 (vinte milhões de reais), as quais serão objeto de colocação privada, de acordo com os termos e condições definidos no Apêndice da Subclasse Subordinada Júnior constante do Anexo I Regulamento e descritas abaixo (“2ª Emissão da Subclasse Subordinada Júnior”): a) Rito: as Cotas Subordinadas Júnior objeto da 2ª Emissão da Subclasse Subordinada Júnior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Subordinada Júnior na data de integralização, calculado na forma prevista no respectivo Apêndice; BTG Pactual 1 SAC: 0800 772 28 27 - Ouvidoria: 0800 722 00 48 - btgpactual.com</a:t>
            </a:r>
          </a:p>
          <a:p>
            <a:r>
              <a:t>CNPJ 62696791000193 · Histórico de alterações materiais · Instrumento Particular de Emissão de Cotas · ID 1148821 · 27/03/2026 · versão Instrumento Particular de Emissão de Cotas — referência 27/03/2026 · p. 2 · Deliberação Conjunta, itens2–3 · https://fnet.bmfbovespa.com.br/fnet/publico/visualizarDocumento?id=1148821</a:t>
            </a:r>
          </a:p>
          <a:p>
            <a:r>
              <a:t>CNPJ 62696791000193 · Histórico de alterações materiais · Excerto da fonte:</a:t>
            </a:r>
          </a:p>
          <a:p>
            <a:r>
              <a:t>2. Aprovar a 2ª (segunda) emissão da Subclasse Sênior da Classe, composta por até 150.000 (cento e cinquenta mil) Cotas Seniores, com valor nominal unitário de R$ 1.000,00 (mil reais), perfazendo o montante total de R$ 150.000.000,00 (cento e cinquenta milhões de reais), as quais serão objeto de colocação privada, de acordo com os termos e condições descritos no Apêndice da Subclasse Sênior constante do Anexo I Regulamento e descritas abaixo (“2ª Emissão da Subclasse Sênior”): a) Rito: as Cotas Seniores objeto da 2ª Emissão da Subclasse Sênior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Sênior na data de integralização, calculado na forma prevista no respectivo Apêndice; d) Forma de Integralização: as Cotas Seniores serão integralizadas mediante chamadas de capital, junto ao seu respectivo agente de custódia e/ou da Administradora na qualidade de escriturador das cotas, nos termos d</a:t>
            </a:r>
          </a:p>
          <a:p>
            <a:r>
              <a:t>CNPJ 62696791000193 · Histórico de alterações materiais · Versão e prevalência: Leitura específica das cláusulas indicadas; condições e conflitos preservados. Seleção documental atual não comprova vigência jurídica por data isolada.</a:t>
            </a:r>
          </a:p>
          <a:p>
            <a:r>
              <a:t>CNPJ 55563624000109 · Histórico de alterações materiais · Motivo: Não localizada uma cláusula material para este critério nos textos identificados e processados. A ausência de resultado não comprova inexistência da regra.</a:t>
            </a:r>
          </a:p>
          <a:p>
            <a:r>
              <a:t>CNPJ 62552447000120 · Histórico de alterações materiais · Ato do Administrador · ID 1200625 · 2026-05-21 · versão Ato21/05/2026 · p. 1 · itens1–2 · https://fnet.bmfbovespa.com.br/fnet/publico/visualizarDocumento?id=1200625</a:t>
            </a:r>
          </a:p>
          <a:p>
            <a:r>
              <a:t>CNPJ 62552447000120 · Histórico de alterações materiais · Excerto da fonte:</a:t>
            </a:r>
          </a:p>
          <a:p>
            <a:r>
              <a:t>Ressalta-se que não haverá qualquer alteração nos valores pagos pelos cotistas... Aprovar o novo Anexo I e Regulamento consolidados</a:t>
            </a:r>
          </a:p>
          <a:p>
            <a:r>
              <a:t>CNPJ 62552447000120 · Histórico de alterações materiais · Motivo: Não localizada uma cláusula material para este critério nos textos identificados e processados. A ausência de resultado não comprova inexistência da regra.</a:t>
            </a:r>
          </a:p>
          <a:p>
            <a:r>
              <a:t>CNPJ 62552447000120 · Histórico de alterações materiais · Versão e prevalência: Leitura específica das cláusulas indicadas; condições e conflitos preservados. Seleção documental atual não comprova vigência jurídica por data isolada.</a:t>
            </a:r>
          </a:p>
          <a:p>
            <a:r>
              <a:t>CNPJ 63953620000165 · Histórico de alterações materiais · Anexo ao Regulamento · ID 1222863 · 2026-06-02 · versão 1 · p. 19 · 12.6 · https://fnet.bmfbovespa.com.br/fnet/publico/visualizarDocumento?id=1222863</a:t>
            </a:r>
          </a:p>
          <a:p>
            <a:r>
              <a:t>CNPJ 63953620000165 · Histórico de alterações materiais · Excerto da fonte:</a:t>
            </a:r>
          </a:p>
          <a:p>
            <a:r>
              <a:t>12.6 A Classe contratou a Tudo Serviços S.A., sociedade anônima, com sede no município de Fortaleza, Estado do Ceará,  na Avenida Senador Virgulo Távora, nº 303, Lojas 02, 03, 04, 05, 06 e 19, Meireles, CEP 60.170-265, inscrita no CNPJ  sob o nº 27.852.506/0001-85, cujos deveres, sem prejuízo daqueles estabelecidos neste Regulamento, no  “Contrato de Serviços de Retenção e Cobrança e Outras Avenças”, celebrado entre o Agente de  Retenção/Cobrança e a Classe (“Contrato de Serviços MT”) e no Contrato de Endosso, consistirão no  monitoramento e cobrança dos Direitos Creditórios Inadimplidos, observado o disposto neste Anexo I e na  regulamentação aplicável (“Agente de Retenção/Cobrança”):</a:t>
            </a:r>
          </a:p>
          <a:p>
            <a:r>
              <a:t> (i) caso aplicável, atuar na retenção (defesa) de operações de empréstimo consignado cujos Direitos  Creditórios sejam de titularidade da Classe, em caso de tentativa de transferência de tais operações de  empréstimo consignado por instituições proponentes, nos termos da Resolução CMN nº 5.057, em razão de  ofertas de portabilidade feitas por tais instituições proponentes, conforme informado pelo Endossante ou pelo  Custodiante ao Agente de Retenção/Cobrança, diariamente, de acordo com o Contrato de Endosso; sendo  que tal serviço deverá incluir, entre outras atividades auxiliares a ele relacionadas, a avaliação das ofertas de  portabilidade feitas pelas instituições proponentes, buscando, se for o caso, esclarecer as vantagens de não  recorrer à portabilidade, retendo a respectiva operação de empréstimo consignado em seus termos atuais;</a:t>
            </a:r>
          </a:p>
          <a:p>
            <a:r>
              <a:t> (ii) mediante inadimplemento de um Direito Creditório devido à indisponibilidade da margem de crédito do  Devedor, auxiliar o Endossante com o Processo de Reinicialização (conforme detalhado no Contrato de  Endosso) em relação ao respectivo Direito Creditório;</a:t>
            </a:r>
          </a:p>
          <a:p>
            <a:r>
              <a:t> (iii) manter e operar um serviço de atendimento ao consumidor - SAC e uma ouvidoria em conformidade  com os regulamentos aplicáveis, monitorar e resolver reclamações e solicitações de Devedores com  relação às operações de empréstimo consignado que dão origem aos Direitos Creditórios, em  conformidade com o Acordo de Parceria;</a:t>
            </a:r>
          </a:p>
          <a:p>
            <a:r>
              <a:t> (iv) realizar a cobrança dos Direitos Creditórios Inadimplidos;</a:t>
            </a:r>
          </a:p>
          <a:p>
            <a:r>
              <a:t> (v) auxiliar o Endossante na correção de qualquer irregularidade relevante identificada com relação à  originação dos Direitos Creditórios;</a:t>
            </a:r>
          </a:p>
          <a:p>
            <a:r>
              <a:t> (vi) realizar a renegociação junto aos Devedores de Direitos Creditórios Inadimplidos e, caso aplicável, celebrar  aditamento à CCB para refletir os novos termos, decorrentes da renegociação  CAPÍTULO 13 – REMUNERAÇÃO DOS PRESTADORES DE SERVIÇOS  0,05% (cinco centésimos por cento) ao ano, apropriada diariamente na base de 252  (duzentos e cinquenta e dois) Dias Úteis, e paga mensalmente até o 5º (quinto) Dia  Útil do mês subsequente ao mês que se refere, incidente sobre o Patrimônio Líquido  da Classe alocado em Direitos Creditórios Consignado Privado e/ou Ativos de  Liquidez MT, observada remuneração mínima mensal de R$ 2.500,00 (dois mil e  quinhentos reais), a ser corrigida anualmente, em janeiro de cada ano, pela variação  Taxa de Administração  positiva do Índice Geral de Preços – Mercado, divulgado pela Fundação Getúlio  Vargas (“Taxa de Administração” e “IGP-M”, respectivamente).</a:t>
            </a:r>
          </a:p>
          <a:p>
            <a:r>
              <a:t> Na hipótese de extinção do IGP-M, não divulgação ou impossibilidade de sua  utilização, será utilizado o Índice Geral de Preços – Disponibilidade Interna,  divulgado pela Fundação Getúlio Vargas, ou, na falta de ambos, pela variação do IPC  – Índice de Preços ao Consumidor, divulgado pela Fundação Instituto de Pesquisas</a:t>
            </a:r>
          </a:p>
          <a:p>
            <a:r>
              <a:t>CNPJ 63953620000165 · Histórico de alterações materiais · Condição: Documentos atuais selecionados no inventário por categoria/escopo; a data documental isolada não comprova vigência jurídica.</a:t>
            </a:r>
          </a:p>
          <a:p>
            <a:r>
              <a:t>CNPJ 63953620000165 · Histórico de alterações materiais · Versão e prevalência: Documentos atuais selecionados no inventário por categoria/escopo; a data documental isolada não comprova vigência jurídica.</a:t>
            </a:r>
          </a:p>
          <a:p>
            <a:r>
              <a:t>CNPJ 54871427000194 · Auditor independente e DFs · Demonstrações Financeiras - Fusão, cisão e incorporação · ID 1219522 · 2026-02-02 · versão 1 · p. 23 · https://fnet.bmfbovespa.com.br/fnet/publico/visualizarDocumento?id=1219522</a:t>
            </a:r>
          </a:p>
          <a:p>
            <a:r>
              <a:t>CNPJ 54871427000194 · Auditor independente e DFs · Excerto da fonte:</a:t>
            </a:r>
          </a:p>
          <a:p>
            <a:r>
              <a:t>x) Possibilidade de aquisição de Direitos Creditórios cedidos por Endossante e/ou devidos por  Devedores cujas demonstrações financeiras não sejam auditadas. A Classe, desde que sejam  respeitados os limites de concentração previstos no Regulamento, poderá manter a qualquer  tempo em sua Carteira, Direitos Creditórios cedidos por Endossante e/ou devidos por Devedores  cujas demonstrações financeiras não sejam auditadas por Auditor Independente registrado na</a:t>
            </a:r>
          </a:p>
          <a:p>
            <a:r>
              <a:t>CNPJ 54871427000194 · Auditor independente e DFs · Demonstrações Financeiras - Fusão, cisão e incorporação · ID 1219522 · 2026-02-02 · versão 1 · p. 2 · https://fnet.bmfbovespa.com.br/fnet/publico/visualizarDocumento?id=1219522</a:t>
            </a:r>
          </a:p>
          <a:p>
            <a:r>
              <a:t>CNPJ 54871427000194 · Auditor independente e DFs · Excerto da fonte:</a:t>
            </a:r>
          </a:p>
          <a:p>
            <a:r>
              <a:t>Classe Única de Responsabilidade Limitada do Consignado Delta Receivables I Fundo de Investimento em  Direitos Creditórios  Demonstrações financeiras em  2 de fevereiro de 2026 (data da incorporação da Classe)</a:t>
            </a:r>
          </a:p>
          <a:p>
            <a:r>
              <a:t>CNPJ 54871427000194 · Auditor independente e DFs · Demonstrações Financeiras - Fusão, cisão e incorporação · ID 1219522 · 2026-02-02 · versão 1 · p. 3 · https://fnet.bmfbovespa.com.br/fnet/publico/visualizarDocumento?id=1219522</a:t>
            </a:r>
          </a:p>
          <a:p>
            <a:r>
              <a:t>CNPJ 54871427000194 · Auditor independente e DFs · Excerto da fonte:</a:t>
            </a:r>
          </a:p>
          <a:p>
            <a:r>
              <a:t>Examinamos as demonstrações financeiras da Classe Única de Responsabilidade Limitada do  Consignado Delta Receivables I Fundo de Investimento em Direitos Creditórios (“Classe”),  administrada pela BTG Pactual Serviços Financeiros S.A. Distribuidora de Títulos e Valores Mobiliários  (“Administradora”), que compreendem a demonstração da posição financeira em 2 de fevereiro de  2026 e as respectivas demonstrações do resultado e do resultado abrangente, das evoluções do  patrimônio líquido e dos fluxos de caixa para o período de 1° de janeiro de 2026 (data de início do  exercício social da Classe) a 2 de fevereiro de 2026 (data da incorporação da Classe), bem como as  correspondentes notas explicativas, incluindo as políticas contábeis materiais e outras informações  elucidativas.</a:t>
            </a:r>
          </a:p>
          <a:p>
            <a:r>
              <a:t> Em nossa opinião, as demonstrações financeiras acima referidas apresentam adequadamente, em  todos os aspectos relevantes, a posição patrimonial e financeira da Classe Única de Responsabilidade  Limitada do Consignado Delta Receivables I Fundo de Investimento em Direitos Creditórios em 2 de  fevereiro de 2026 e o desempenho de suas operações e os seus fluxos de caixa para o período de 1°  de janeiro de 2026 a 2 de fevereiro de 2026, de acordo com as práticas contábeis adotadas no Brasil  aplicáveis aos fundos de investimento em direitos creditórios.</a:t>
            </a:r>
          </a:p>
          <a:p>
            <a:r>
              <a:t>CNPJ 54871427000194 · Auditor independente e DFs · Condição: Documentos atuais selecionados no inventário por categoria/escopo; a data documental isolada não comprova vigência jurídica.</a:t>
            </a:r>
          </a:p>
          <a:p>
            <a:r>
              <a:t>CNPJ 54871427000194 · Auditor independente e DFs · Versão e prevalência: Documentos atuais selecionados no inventário por categoria/escopo; a data documental isolada não comprova vigência jurídica.</a:t>
            </a:r>
          </a:p>
          <a:p>
            <a:r>
              <a:t>CNPJ 54871427000194 · Auditor independente e DFs · Resumo do histórico: {"count": 6, "dates": ["2025-01-01", "2025-04-15", "2025-12-31"], "document_count": 3, "sources": [{"document_id": "1151805", "title": "Demonstrações Financeiras", "reference_date": "2025-12-31", "version": "1", "page": 23, "url": "https://fnet.bmfbovespa.com.br/fnet/publico/visualizarDocumento?id=1151805", "sha256": "f1cea70b152968bf96ef9221b27225953cb20aeef487b2798db3c25e11b528d4"}, {"document_id": "883217", "title": "AGO", "reference_date": "2025-04-15", "version": "1", "page": 1, "url": "https://fnet.bmfbovespa.com.br/fnet/publico/visualizarDocumento?id=883217", "sha256": "233467aa4aa6265d253b610668cde19344ec99af4adf4df934c6a1bd88b9a044"}, {"document_id": "869529", "title": "Demonstrações Financeiras", "reference_date": "2025-01-01", "version": "1", "page": 23, "url": "https://fnet.bmfbovespa.com.br/fnet/publico/visualizarDocumento?id=869529", "sha256": "9a93a9369ac8efdbc54ff8fcee3ccac3abf88edab4807b9323d3852450771b2a"}], "reference": {"path": "history/54871427000194.json", "criterion_id": "audit", "total_count": 6, "preview_count": 3, "full_text_deferred": true, "sha256": "35d7cd99be50c7287c9fb675cf4f2e736002315295a225a9efa79c8d9186d874"}}</a:t>
            </a:r>
          </a:p>
          <a:p>
            <a:r>
              <a:t>CNPJ 60010416000112 · Auditor independente e DFs · AGE · ID 1313936 · 2026-08-31 · versão 1 · p. 1 · https://fnet.bmfbovespa.com.br/fnet/publico/visualizarDocumento?id=1313936</a:t>
            </a:r>
          </a:p>
          <a:p>
            <a:r>
              <a:t>CNPJ 60010416000112 · Auditor independente e DFs · Excerto da fonte:</a:t>
            </a:r>
          </a:p>
          <a:p>
            <a:r>
              <a:t>(d) Fica a Administradora autorizada a levantar, na Data da Cisão, demonstrações contábeis da  Classe, as quais darão suporte à realização da Cisão ora deliberada. As demonstrações contábeis  deverão ser auditadas, em conformidade com o art. 120, da Parte Geral, da Resolução CVM 175;</a:t>
            </a:r>
          </a:p>
          <a:p>
            <a:r>
              <a:t>CNPJ 60010416000112 · Auditor independente e DFs · Condição: Documentos atuais selecionados no inventário por categoria/escopo; a data documental isolada não comprova vigência jurídica.</a:t>
            </a:r>
          </a:p>
          <a:p>
            <a:r>
              <a:t>CNPJ 60010416000112 · Auditor independente e DFs · Versão e prevalência: Documentos atuais selecionados no inventário por categoria/escopo; a data documental isolada não comprova vigência jurídica.</a:t>
            </a:r>
          </a:p>
          <a:p>
            <a:r>
              <a:t>CNPJ 60010416000112 · Auditor independente e DFs · Resumo do histórico: {"count": 11, "dates": ["2026-04-16", "2026-05-08", "2026-07-29"], "document_count": 3, "sources": [{"document_id": "1277540", "title": "AGE", "reference_date": "2026-07-29", "version": "1", "page": 1, "url": "https://fnet.bmfbovespa.com.br/fnet/publico/visualizarDocumento?id=1277540", "sha256": "7a9b65092af34917f99f22b62eb7d248d67149b9c91dd87b07b924b9601ee9b0"}, {"document_id": "1298690", "title": "Demonstrações Financeiras - Fusão, cisão e incorporação", "reference_date": "2026-05-08", "version": "1", "page": 1, "url": "https://fnet.bmfbovespa.com.br/fnet/publico/visualizarDocumento?id=1298690", "sha256": "d979f7f7cf866a68b7fbc65c46fd726b7bcc13f9d0b809190857a9b465be7be2"}, {"document_id": "1282181", "title": "Demonstrações Financeiras - Fusão, cisão e incorporação", "reference_date": "2026-04-16", "version": "1", "page": 1, "url": "https://fnet.bmfbovespa.com.br/fnet/publico/visualizarDocumento?id=1282181", "sha256": "b1c6566e43a00bcd00c8a7f30c77b7f86e351bd8e355bbea113f46d1dafda703"}], "reference": {"path": "history/60010416000112.json", "criterion_id": "audit", "total_count": 11, "preview_count": 3, "full_text_deferred": true, "sha256": "8e2bd813f4c51cf01f6bfaad164bafe69d2bbb192f753eac92da3a01c2e63046"}}</a:t>
            </a:r>
          </a:p>
          <a:p>
            <a:r>
              <a:t>CNPJ 62696791000193 · Auditor independente e DFs · Regulamento · ID 1143317 · 2026-03-20 · versão 1 · p. 5 · 4.1.7 · https://fnet.bmfbovespa.com.br/fnet/publico/visualizarDocumento?id=1143317</a:t>
            </a:r>
          </a:p>
          <a:p>
            <a:r>
              <a:t>CNPJ 62696791000193 · Auditor independente e DFs · Excerto da fonte:</a:t>
            </a:r>
          </a:p>
          <a:p>
            <a:r>
              <a:t>4.1.7 As demonstrações contábeis cujo relatório de auditoria não contiver opinião modificada podem  ser consideradas automaticamente aprovadas caso a assembleia correspondente não seja  instalada em virtude do não comparecimento de quaisquer Cotistas.</a:t>
            </a:r>
          </a:p>
          <a:p>
            <a:r>
              <a:t>CNPJ 62696791000193 · Auditor independente e DFs · Regulamento · ID 1143317 · 2026-03-20 · versão 1 · p. 23 · 10.12 · https://fnet.bmfbovespa.com.br/fnet/publico/visualizarDocumento?id=1143317</a:t>
            </a:r>
          </a:p>
          <a:p>
            <a:r>
              <a:t>CNPJ 62696791000193 · Auditor independente e DFs · Excerto da fonte:</a:t>
            </a:r>
          </a:p>
          <a:p>
            <a:r>
              <a:t>10.12 O representante dos Cotistas será eleito com prazo de mandato a se encerrar na próxima Assembleia  de Cotistas que deliberar sobre a aprovação de demonstrações contábeis do Fundo, sendo permitida  a reeleição.</a:t>
            </a:r>
          </a:p>
          <a:p>
            <a:r>
              <a:t>CNPJ 62696791000193 · Auditor independente e DFs · Condição: Documentos atuais selecionados no inventário por categoria/escopo; a data documental isolada não comprova vigência jurídica.</a:t>
            </a:r>
          </a:p>
          <a:p>
            <a:r>
              <a:t>CNPJ 62696791000193 · Auditor independente e DFs · Versão e prevalência: Documentos atuais selecionados no inventário por categoria/escopo; a data documental isolada não comprova vigência jurídica.</a:t>
            </a:r>
          </a:p>
          <a:p>
            <a:r>
              <a:t>CNPJ 55563624000109 · Auditor independente e DFs · Regulamento · ID 1192614 · 2026-04-30 · versão 1 · p. 24 · 12.3 · https://fnet.bmfbovespa.com.br/fnet/publico/visualizarDocumento?id=1192614</a:t>
            </a:r>
          </a:p>
          <a:p>
            <a:r>
              <a:t>CNPJ 55563624000109 · Auditor independente e DFs · Excerto da fonte:</a:t>
            </a:r>
          </a:p>
          <a:p>
            <a:r>
              <a:t>12.3 Incluem-se entre as obrigações do ADMINISTRADOR, sem prejuízo de outras previstas na regulamentação:</a:t>
            </a:r>
          </a:p>
          <a:p>
            <a:r>
              <a:t> (i) sem prejuízo da observância dos procedimentos relativos às demonstrações contábeis, manter,  separadamente, registros com informações completas sobre toda e qualquer modalidade de negociação  realizada entre o ADMINISTRADOR, GESTOR, CUSTODIANTE, e/ou suas respectivas partes relacionadas,  tais como definidas pelas regras contábeis que tratam desse assunto, de um lado; e a Classe, de outro;</a:t>
            </a:r>
          </a:p>
          <a:p>
            <a:r>
              <a:t> (ii) diligenciar para que sejam mantidos, às suas expensas, atualizados e em perfeita ordem:</a:t>
            </a:r>
          </a:p>
          <a:p>
            <a:r>
              <a:t> (a) o registro de Cotistas;</a:t>
            </a:r>
          </a:p>
          <a:p>
            <a:r>
              <a:t> (b) o livro de atas das Assembleias de Cotistas;</a:t>
            </a:r>
          </a:p>
          <a:p>
            <a:r>
              <a:t> (c) o livro ou lista de presença de Cotistas;</a:t>
            </a:r>
          </a:p>
          <a:p>
            <a:r>
              <a:t> (d) os pareceres do Auditor Independente; e</a:t>
            </a:r>
          </a:p>
          <a:p>
            <a:r>
              <a:t> (e) os registros contábeis referentes às operações e ao patrimônio da Classe;</a:t>
            </a:r>
          </a:p>
          <a:p>
            <a:r>
              <a:t> (iii) pagar a multa cominatória às suas expensas, nos termos da legislação vigente, por cada dia de atraso no  cumprimento dos prazos previstos na regulamentação aplicável;</a:t>
            </a:r>
          </a:p>
          <a:p>
            <a:r>
              <a:t> (iv) elaborar e divulgar as informações periódicas e eventuais da Classe, nos termos deste Anexo e da  regulamentação e da autorregulação em vigor;</a:t>
            </a:r>
          </a:p>
          <a:p>
            <a:r>
              <a:t> (v) manter atualizada junto à CVM a lista de todos os prestadores de serviços contratados pela Classe,  inclusive os Prestadores de Serviços Essenciais, bem como as demais informações cadastrais da Classe e  suas Subclasses;</a:t>
            </a:r>
          </a:p>
          <a:p>
            <a:r>
              <a:t> (vi) manter serviço de atendimento aos Cotistas, responsável pelo esclarecimento de dúvidas e pelo  recebimento de reclamações;</a:t>
            </a:r>
          </a:p>
          <a:p>
            <a:r>
              <a:t> (vii) receber e processar os pedidos de resgate;</a:t>
            </a:r>
          </a:p>
          <a:p>
            <a:r>
              <a:t> (viii) monitorar os Eventos de Verificação do Patrimônio;</a:t>
            </a:r>
          </a:p>
          <a:p>
            <a:r>
              <a:t> (ix) monitorar os Eventos de Avaliação e Eventos de Liquidação;</a:t>
            </a:r>
          </a:p>
          <a:p>
            <a:r>
              <a:t> (x) observar as disposições constantes do Regulamento;</a:t>
            </a:r>
          </a:p>
          <a:p>
            <a:r>
              <a:t> (xi) cumprir as deliberações da Assembleia de Cotistas; e</a:t>
            </a:r>
          </a:p>
          <a:p>
            <a:r>
              <a:t> (xii) observar as disposições do Código ANBIMA e das Regras e Procedimentos ANBIMA</a:t>
            </a:r>
          </a:p>
          <a:p>
            <a:r>
              <a:t>CNPJ 55563624000109 · Auditor independente e DFs · Regulamento · ID 1192614 · 2026-04-30 · versão 1 · p. 4 · 4.6.1 · https://fnet.bmfbovespa.com.br/fnet/publico/visualizarDocumento?id=1192614</a:t>
            </a:r>
          </a:p>
          <a:p>
            <a:r>
              <a:t>CNPJ 55563624000109 · Auditor independente e DFs · Excerto da fonte:</a:t>
            </a:r>
          </a:p>
          <a:p>
            <a:r>
              <a:t>4.6.1 As deliberações relativas às matérias elencadas nos incisos abaixo serão tomadas, em primeira  convocação ou em segunda convocação, conforme os quóruns dispostos abaixo, em sede assembleia  geral de cotistas ou de assembleia especial de cotistas, conforme o caso:</a:t>
            </a:r>
          </a:p>
          <a:p>
            <a:r>
              <a:t> MATÉRIA SUJEITA À APROVAÇÃO QUÓRUM DE DELIBERAÇÃO</a:t>
            </a:r>
          </a:p>
          <a:p>
            <a:r>
              <a:t> (i) aprovação das demonstrações contábeis do FUNDO; Maioria do total das Cotas emitidas</a:t>
            </a:r>
          </a:p>
          <a:p>
            <a:r>
              <a:t>CNPJ 55563624000109 · Auditor independente e DFs · Regulamento · ID 1192614 · 2026-04-30 · versão 1 · p. 10 · 3.1 · https://fnet.bmfbovespa.com.br/fnet/publico/visualizarDocumento?id=1192614</a:t>
            </a:r>
          </a:p>
          <a:p>
            <a:r>
              <a:t>CNPJ 55563624000109 · Auditor independente e DFs · Excerto da fonte:</a:t>
            </a:r>
          </a:p>
          <a:p>
            <a:r>
              <a:t>3.1 A Classe terá Encargos que lhe poderão ser debitados diretamente, nos termos da Resolução CVM 175, e  quaisquer despesas que não constituam Encargos correm por conta do Prestador de Serviço Essencial que a tiver  contratado, incluindo, sem se limitar a:</a:t>
            </a:r>
          </a:p>
          <a:p>
            <a:r>
              <a:t> (i) Taxa de performance, se houver;</a:t>
            </a:r>
          </a:p>
          <a:p>
            <a:r>
              <a:t> (ii) Taxas, impostos ou contribuições federais, estaduais, municipais ou autárquicas, que recaiam ou  venham a recair sobre os bens, direitos e obrigações da Classe;</a:t>
            </a:r>
          </a:p>
          <a:p>
            <a:r>
              <a:t> (iii) Despesas com o registro de documentos, impressão, expedição e publicação de relatórios e informações  periódicas previstas na Resolução CVM 175;</a:t>
            </a:r>
          </a:p>
          <a:p>
            <a:r>
              <a:t> (iv) Despesas com correspondências de interesse do FUNDO ou da Classe, inclusive comunicações aos  Cotistas;</a:t>
            </a:r>
          </a:p>
          <a:p>
            <a:r>
              <a:t> (v) Honorários e despesas do Auditor Independente;</a:t>
            </a:r>
          </a:p>
          <a:p>
            <a:r>
              <a:t> BTG Pactual  SAC: 0800 772 28 27 - Ouvidoria: 0800 722 00 48 - btgpactual.com  3</a:t>
            </a:r>
          </a:p>
          <a:p>
            <a:r>
              <a:t>CNPJ 55563624000109 · Auditor independente e DFs · Condição: Documentos atuais selecionados no inventário por categoria/escopo; a data documental isolada não comprova vigência jurídica.</a:t>
            </a:r>
          </a:p>
          <a:p>
            <a:r>
              <a:t>CNPJ 55563624000109 · Auditor independente e DFs · Versão e prevalência: Documentos atuais selecionados no inventário por categoria/escopo; a data documental isolada não comprova vigência jurídica.</a:t>
            </a:r>
          </a:p>
          <a:p>
            <a:r>
              <a:t>CNPJ 55563624000109 · Auditor independente e DFs · Resumo do histórico: {"count": 2, "dates": ["2025-01-31", "2026-01-31"], "document_count": 2, "sources": [{"document_id": "1178840", "title": "Demonstrações Financeiras", "reference_date": "2026-01-31", "version": "1", "page": 4, "url": "https://fnet.bmfbovespa.com.br/fnet/publico/visualizarDocumento?id=1178840", "sha256": "c458e98664c5c907ddb5a05a94b120bed4e05295b2bfc420f5ba69af0a229abe"}, {"document_id": "891861", "title": "Demonstrações Financeiras", "reference_date": "2025-01-31", "version": "1", "page": 2, "url": "https://fnet.bmfbovespa.com.br/fnet/publico/visualizarDocumento?id=891861", "sha256": "e9cb9e6ddbe505fe068cfcac33605165a98313489de0d3ce6d4d238263c3f3e7"}], "reference": {"path": "history/55563624000109.json", "criterion_id": "audit", "total_count": 2, "preview_count": 2, "full_text_deferred": true, "sha256": "7835d573fb58a3c19adf5b8ecc2aee2bdbb9a88f7a0c0209b5f262b64c7522e3"}}</a:t>
            </a:r>
          </a:p>
          <a:p>
            <a:r>
              <a:t>CNPJ 62552447000120 · Auditor independente e DFs · Regulamento · ID 1200623 · 2026-05-21 · versão 1 · p. 4 · 4.1.6 · https://fnet.bmfbovespa.com.br/fnet/publico/visualizarDocumento?id=1200623</a:t>
            </a:r>
          </a:p>
          <a:p>
            <a:r>
              <a:t>CNPJ 62552447000120 · Auditor independente e DFs · Excerto da fonte:</a:t>
            </a:r>
          </a:p>
          <a:p>
            <a:r>
              <a:t>4.1.6 As demonstrações contábeis cujo relatório de auditoria não contiver opinião modificada podem  ser consideradas automaticamente aprovadas caso a Assembleia Geral correspondente não  seja instalada em virtude do não comparecimento de quaisquer Cotistas.</a:t>
            </a:r>
          </a:p>
          <a:p>
            <a:r>
              <a:t>CNPJ 62552447000120 · Auditor independente e DFs · Regulamento · ID 1200623 · 2026-05-21 · versão 1 · p. 29 · 12.16 · https://fnet.bmfbovespa.com.br/fnet/publico/visualizarDocumento?id=1200623</a:t>
            </a:r>
          </a:p>
          <a:p>
            <a:r>
              <a:t>CNPJ 62552447000120 · Auditor independente e DFs · Excerto da fonte:</a:t>
            </a:r>
          </a:p>
          <a:p>
            <a:r>
              <a:t>12.16 Os serviços de auditoria das demonstrações f inanceiras e demais contas da Classe serão prestados  por Auditor Independente contratado pelo Administrador. Pelos serviços prestados, o Auditor  Independente f ará jus ao recebimento de remuneração a ser def inida em contrato específico, a qual  será paga pela Classe.</a:t>
            </a:r>
          </a:p>
          <a:p>
            <a:r>
              <a:t>CAPÍTULO 13 – TAXA GLOBAL</a:t>
            </a:r>
          </a:p>
          <a:p>
            <a:r>
              <a:t>CNPJ 62552447000120 · Auditor independente e DFs · Condição: Documentos atuais selecionados no inventário por categoria/escopo; a data documental isolada não comprova vigência jurídica.</a:t>
            </a:r>
          </a:p>
          <a:p>
            <a:r>
              <a:t>CNPJ 62552447000120 · Auditor independente e DFs · Versão e prevalência: Documentos atuais selecionados no inventário por categoria/escopo; a data documental isolada não comprova vigência jurídica.</a:t>
            </a:r>
          </a:p>
          <a:p>
            <a:r>
              <a:t>CNPJ 63953620000165 · Auditor independente e DFs · Anexo ao Regulamento · ID 1222863 · 2026-06-02 · versão 1 · p. 4 · 3.4 · https://fnet.bmfbovespa.com.br/fnet/publico/visualizarDocumento?id=1222863</a:t>
            </a:r>
          </a:p>
          <a:p>
            <a:r>
              <a:t>CNPJ 63953620000165 · Auditor independente e DFs · Excerto da fonte:</a:t>
            </a:r>
          </a:p>
          <a:p>
            <a:r>
              <a:t>3.4 Adicionalmente aos Encargos, as seguintes despesas serão debitadas diretamente da Classe, nos termos do art.</a:t>
            </a:r>
          </a:p>
          <a:p>
            <a:r>
              <a:t> 51 do Anexo Normativo II da Resolução CVM 175 (“Despesas Adicionais”):</a:t>
            </a:r>
          </a:p>
          <a:p>
            <a:r>
              <a:t> (i) Despesas com registro de Direitos Creditórios;</a:t>
            </a:r>
          </a:p>
          <a:p>
            <a:r>
              <a:t> (ii) Despesas com serviços de originação, cobranças ordinária e/ou extraordinária dos Direitos Creditórios,  e/ou verificação de lastro dos Direitos Creditórios, conforme aplicável;</a:t>
            </a:r>
          </a:p>
          <a:p>
            <a:r>
              <a:t> (iii) Despesas com a contratação de atividades relacionadas à verificação de lastro;</a:t>
            </a:r>
          </a:p>
          <a:p>
            <a:r>
              <a:t> (iv) Despesas com a contratação de Agente de Retenção/Cobrança; Despesas com a contratação de  consultoria especializada, conforme o caso;</a:t>
            </a:r>
          </a:p>
          <a:p>
            <a:r>
              <a:t> (v) Remuneração do Custodiante;</a:t>
            </a:r>
          </a:p>
          <a:p>
            <a:r>
              <a:t> (vi) Despesas com honorários advocatícios para quaisquer assuntos de interesse da Classe, seja na esfera  judicial ou extrajudicial, inclusive consultivo;</a:t>
            </a:r>
          </a:p>
          <a:p>
            <a:r>
              <a:t> (vii) Despesas com a assinatura e registro dos Termos de Endosso, conforme aplicável, junto aos  competentes cartórios de Registro de Títulos e Documentos;</a:t>
            </a:r>
          </a:p>
          <a:p>
            <a:r>
              <a:t> (viii) Despesas inerentes à distribuição primária de Cotas, inclusive a contratação e remuneração do  distribuidor das Cotas para cada oferta de Cotas da Classe, nos termos de cada contrato de distribuição  e honorários devidos ao(s) assessor(es) legal(is) de cada oferta, assim como despesas com o registro das  Cotas na CVM, ANBIMA e/ou na entidade de mercado organizado em que as cotas sejam registradas,  conforme aplicável;</a:t>
            </a:r>
          </a:p>
          <a:p>
            <a:r>
              <a:t> (ix) Taxas de fiscalização da CVM e/ou ANBIMA, conforme aplicável; e</a:t>
            </a:r>
          </a:p>
          <a:p>
            <a:r>
              <a:t> (x) Despesas com contratação e remuneração do Auditor Independente e da Agência Classificadora de  Risco.</a:t>
            </a:r>
          </a:p>
          <a:p>
            <a:r>
              <a:t>CNPJ 63953620000165 · Auditor independente e DFs · Condição: Documentos atuais selecionados no inventário por categoria/escopo; a data documental isolada não comprova vigência jurídica.</a:t>
            </a:r>
          </a:p>
          <a:p>
            <a:r>
              <a:t>CNPJ 63953620000165 · Auditor independente e DFs · Motivo: Cláusula primária localizada e citada, mas sua lista/condições extensas não admitem uma síntese literal curta confirmada. O trecho integral permanece nas fontes.</a:t>
            </a:r>
          </a:p>
          <a:p>
            <a:r>
              <a:t>CNPJ 63953620000165 · Auditor independente e DFs · Versão e prevalência: Documentos atuais selecionados no inventário por categoria/escopo; a data documental isolada não comprova vigência jurídica.</a:t>
            </a:r>
          </a:p>
          <a:p>
            <a:r>
              <a:t>CNPJ 63953620000165 · Auditor independente e DFs · Resumo do histórico: {"count": 8, "dates": ["2026-04-28", "2026-05-08", "2026-05-15"], "document_count": 3, "sources": [{"document_id": "1327859", "title": "Demonstrações Financeiras - Fusão, cisão e incorporação", "reference_date": "2026-05-15", "version": "1", "page": 1, "url": "https://fnet.bmfbovespa.com.br/fnet/publico/visualizarDocumento?id=1327859", "sha256": "dca1c68babb97f887528c3e2e47596a9c30f507b067981a35655b2f2da9c8054"}, {"document_id": "1298691", "title": "Demonstrações Financeiras - Fusão, cisão e incorporação", "reference_date": "2026-05-08", "version": "1", "page": 1, "url": "https://fnet.bmfbovespa.com.br/fnet/publico/visualizarDocumento?id=1298691", "sha256": "58c570d9b8d4d265330d3db3ea81c435b8e44a6dab4002aa37790652a1ee9819"}, {"document_id": "1282180", "title": "Demonstrações Financeiras - Fusão, cisão e incorporação", "reference_date": "2026-04-28", "version": "1", "page": 1, "url": "https://fnet.bmfbovespa.com.br/fnet/publico/visualizarDocumento?id=1282180", "sha256": "afaaa0e6809be4385e5bdb6c911aac582032c5bdbac3d7750234bf9eaf00438a"}], "reference": {"path": "history/63953620000165.json", "criterion_id": "audit",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Governança e alterações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Quóruns e matérias reservadas · Regulamento · ID 670691 · 28/04/2024 · versão Regulamento — referência 28/04/2024 · p. 4 · Parte Geral, 4.4–4.4.1 · https://fnet.bmfbovespa.com.br/fnet/publico/visualizarDocumento?id=670691</a:t>
            </a:r>
          </a:p>
          <a:p>
            <a:r>
              <a:t>CNPJ 54871427000194 · Quóruns e matérias reservadas · Excerto da fonte:</a:t>
            </a:r>
          </a:p>
          <a:p>
            <a:r>
              <a:t>4.4 Ressalvadas as exceções descritas neste Regulamento, toda e qualquer matéria submetida à deliberação dos cotistas deverá ser aprovada por maioria dos votos dos presentes. 4.4.1 As deliberações relativas às matérias elencadas nos incisos abaixo serão tomadas, em primeira convocação ou em segunda convocação, pelos votos dos titulares da maioria das cotas em circulação, em sede assembleia geral de cotistas ou de assembleia especial de cotistas, conf orme o caso: (i) aprovação das demonstrações contábeis do FUNDO; (ii) alteração da Parte Geral deste Regulamento; (iii) substituição ou remoção do Prestador de Serviços Essenciais do FUNDO, ressalvada a possibilidade prevista no Art. 70, §1º, da Parte Geral da Resolução CVM 175; (iv) alterações nos quóruns de deliberação def inidos neste Regulamento; (v) cobrança de taxas e encargos pelo ADMINISTRADOR, de qualquer natureza, que não estejam expressamente previstos neste Regulamento; (vi) liquidação do FUNDO. (vii) plano de resolu</a:t>
            </a:r>
          </a:p>
          <a:p>
            <a:r>
              <a:t>CNPJ 54871427000194 · Quóruns e matérias reservadas · Regulamento · ID 670691 · 28/04/2024 · versão Regulamento — referência 28/04/2024 · p. 17 · Anexo I, 10.1 · https://fnet.bmfbovespa.com.br/fnet/publico/visualizarDocumento?id=670691</a:t>
            </a:r>
          </a:p>
          <a:p>
            <a:r>
              <a:t>CNPJ 54871427000194 · Quóruns e matérias reservadas · Excerto da fonte:</a:t>
            </a:r>
          </a:p>
          <a:p>
            <a:r>
              <a:t>10.1 Sem prejuízo de outros requisitos e inf ormações previstos na regulamentação vigente, são aplicáveis à Assembleia Especial de Cotistas as mesmas disposições procedimentais da Assembleia Geral de Cotistas. 10.2 A Assembleia Especial de Cotistas é responsável por deliberar sobre as matérias específicas da Classe de Cotas, sem prejuízo das demais disposições previstas na regulamentação aplicável, incluindo, mas não se limitando a: (i) deliberar sobre as demonstrações contábeis da Classe; (ii) deliberar sobre substituição de Prestadores de Serviços Essenciais, observado o disposto no art. 70, §1º da parte geral da Resolução CVM 175; (iii) deliberar sobre elevação da Taxa de Administração, inclusive na hipótese de restabelecimento de taxa que tenha sido objeto de redução; (iv) deliberar sobre incorporação, f usão, cisão total ou parcial, a transf ormação ou liquidação da Classe; (v) alterações das características, vantagens, direitos e obrigações das Cotas; (vi) alterar critérios e procedimentos para Amortização e/ou resgate de Cotas mediante dação em pagamento de Direitos Creditórios; (vii) a</a:t>
            </a:r>
          </a:p>
          <a:p>
            <a:r>
              <a:t>CNPJ 54871427000194 · Quóruns e matérias reservadas · Versão e prevalência: Leitura específica das cláusulas indicadas; condições e conflitos preservados. Seleção documental atual não comprova vigência jurídica por data isolada.</a:t>
            </a:r>
          </a:p>
          <a:p>
            <a:r>
              <a:t>CNPJ 54871427000194 · Quóruns e matérias reservadas · Resumo do histórico: {"count": 1, "dates": ["2024-04-19"], "document_count": 1, "sources": [{"document_id": "670689", "title": "Regulamento", "reference_date": "2024-04-19", "version": "1", "page": 20, "clause": "11.6", "url": "https://fnet.bmfbovespa.com.br/fnet/publico/visualizarDocumento?id=670689", "sha256": "891bc9bc5d87bbc02ec139077a84d2702eb81ea02035fb71d24f5b8366b94a0b"}], "reference": {"path": "history/54871427000194.json", "criterion_id": "quorum", "total_count": 1, "preview_count": 1, "full_text_deferred": true, "sha256": "35d7cd99be50c7287c9fb675cf4f2e736002315295a225a9efa79c8d9186d874"}}</a:t>
            </a:r>
          </a:p>
          <a:p>
            <a:r>
              <a:t>CNPJ 60010416000112 · Quóruns e matérias reservadas · Regulamento · ID 1051393 · 09/10/2025 · versão Regulamento09/10/2025 · p. 18 · AnexoI9.2(ii)–(xvii) · https://fnet.bmfbovespa.com.br/fnet/publico/visualizarDocumento?id=1051393</a:t>
            </a:r>
          </a:p>
          <a:p>
            <a:r>
              <a:t>CNPJ 60010416000112 · Quóruns e matérias reservadas · Excerto da fonte:</a:t>
            </a:r>
          </a:p>
          <a:p>
            <a:r>
              <a:t>(ii) alterar este Anexo I e seus complementos, incluindo mas não se limitando aos Apêndices de cada uma das subclasses; (iii) deliberar sobre substituição de Prestadores de Serviços Essenciais, observado o disposto no Art. 70, §1º da parte geral da Resolução CVM 175, quando aplicável, ou do Custodiante; (iv) deliberar sobre elevação da Taxa de Administração, inclusive na hipótese de restabelecimento de taxa que tenha sido objeto de redução; (v) deliberar sobre incorporação, fusão, cisão total ou parcial, a transformação ou liquidação da Classe; (vi) alter</a:t>
            </a:r>
          </a:p>
          <a:p>
            <a:r>
              <a:t>CNPJ 60010416000112 · Quóruns e matérias reservadas · Regulamento · ID 1051393 · 09/10/2025 · versão Regulamento09/10/2025 · p. 19 · AnexoI9.8–9.9 · https://fnet.bmfbovespa.com.br/fnet/publico/visualizarDocumento?id=1051393</a:t>
            </a:r>
          </a:p>
          <a:p>
            <a:r>
              <a:t>CNPJ 60010416000112 · Quóruns e matérias reservadas · Excerto da fonte:</a:t>
            </a:r>
          </a:p>
          <a:p>
            <a:r>
              <a:t>9.8 As deliberações constantes dos incisos (ii), (iii), (iv), (v), (vi), (vii), (x), (xi), (xii), (xiii) e (xvii) acima, apenas serão aprovadas, seja em primeira ou em segunda convocação, por unanimidade dos votos dos titulares das Cotas em circulação. 9.9 As deliberações relativas aos demais incisos do item 9.2 acima apenas serão aprovadas, seja em primeira ou em segunda convocação, mediante o voto favorável dos Cotistas que representem a maioria das Cotas emitidas pela Classe. 9.10 Somente os Cotistas, seus representantes legais ou procuradores legalmente nomeados há menos de 1 (um) ano ter</a:t>
            </a:r>
          </a:p>
          <a:p>
            <a:r>
              <a:t>CNPJ 60010416000112 · Quóruns e matérias reservadas · Versão e prevalência: Leitura específica das cláusulas indicadas; condições e conflitos preservados. Seleção documental atual não comprova vigência jurídica por data isolada.</a:t>
            </a:r>
          </a:p>
          <a:p>
            <a:r>
              <a:t>CNPJ 60010416000112 · Quóruns e matérias reservadas · Resumo do histórico: {"count": 3, "dates": ["2025-03-20", "2025-05-09", "2025-05-12"], "document_count": 3, "sources": [{"document_id": "1004656", "title": "AGE", "reference_date": "2025-05-12", "version": "1", "page": 1, "url": "https://fnet.bmfbovespa.com.br/fnet/publico/visualizarDocumento?id=1004656", "sha256": "f6c9c009f6170e2b29f074b98522accec73f0c40efbf11f9ec2c8d3f1402616b"}, {"document_id": "911262", "title": "AGE", "reference_date": "2025-05-09", "version": "1", "page": 1, "url": "https://fnet.bmfbovespa.com.br/fnet/publico/visualizarDocumento?id=911262", "sha256": "675de4ffe8c5ee95957fb29810625ce850d1a0b69b5231747442266f0cbf32a3"}, {"document_id": "993786", "title": "Regulamento", "reference_date": "2025-03-20", "version": "1", "page": 22, "clause": "10.6", "url": "https://fnet.bmfbovespa.com.br/fnet/publico/visualizarDocumento?id=993786", "sha256": "fd0fdd369a195510d81f81f505195a0b09e5f43522a990afa7d58c4f872921c8"}], "reference": {"path": "history/60010416000112.json", "criterion_id": "quorum", "total_count": 3, "preview_count": 3, "full_text_deferred": true, "sha256": "8e2bd813f4c51cf01f6bfaad164bafe69d2bbb192f753eac92da3a01c2e63046"}}</a:t>
            </a:r>
          </a:p>
          <a:p>
            <a:r>
              <a:t>CNPJ 62696791000193 · Quóruns e matérias reservadas · Regulamento · ID 1143317 · 20/03/2026 · versão Regulamento — referência 20/03/2026 · p. 20 · Anexo I, 10.2, tabela · https://fnet.bmfbovespa.com.br/fnet/publico/visualizarDocumento?id=1143317</a:t>
            </a:r>
          </a:p>
          <a:p>
            <a:r>
              <a:t>CNPJ 62696791000193 · Quóruns e matérias reservadas · Excerto da fonte:</a:t>
            </a:r>
          </a:p>
          <a:p>
            <a:r>
              <a:t>10.2 Os seguintes quóruns deverão ser observados pela Assembleia Especial de Cotistas ao deliberar as matérias abaixo: Matéria Quórum I – alterar o presente Anexo; Maioria das Cotas Subscritas (“Quórum Qualificado”), observada BTG Pactual SAC: 0800 772 2827 | Ouvidoria: 0800 722 0048 | btgpactual.co m 15</a:t>
            </a:r>
          </a:p>
          <a:p>
            <a:r>
              <a:t>CNPJ 62696791000193 · Quóruns e matérias reservadas · Regulamento · ID 1143317 · 20/03/2026 · versão Regulamento — referência 20/03/2026 · p. 21 · Anexo I, 10.2, tabela · https://fnet.bmfbovespa.com.br/fnet/publico/visualizarDocumento?id=1143317</a:t>
            </a:r>
          </a:p>
          <a:p>
            <a:r>
              <a:t>CNPJ 62696791000193 · Quóruns e matérias reservadas · Excerto da fonte:</a:t>
            </a:r>
          </a:p>
          <a:p>
            <a:r>
              <a:t>Matéria Quórum a necessidade de voto afirmativo da Maioria das Cotas Seniores subscritas da Classe Quórum Qualif icado observada a necessidade de voto af irmativo da II – substituição do Administrador, do Gestor e da Cogestora; Maioria das Cotas Seniores subscritas da Classe Maioria Simples, observada a III – Emissão e distribuição de novas Cotas em quantidade necessidade de voto af irmativo da superior ao Capital Autorizado da Classe ; Maioria das Cotas Seniores subscritas da Classe</a:t>
            </a:r>
          </a:p>
          <a:p>
            <a:r>
              <a:t>CNPJ 62696791000193 · Quóruns e matérias reservadas · Regulamento · ID 1143317 · 20/03/2026 · versão Regulamento — referência 20/03/2026 · p. 22 · Anexo I, 10.2(XI) e 10.5–10.7 · https://fnet.bmfbovespa.com.br/fnet/publico/visualizarDocumento?id=1143317</a:t>
            </a:r>
          </a:p>
          <a:p>
            <a:r>
              <a:t>CNPJ 62696791000193 · Quóruns e matérias reservadas · Excerto da fonte:</a:t>
            </a:r>
          </a:p>
          <a:p>
            <a:r>
              <a:t>10.5 As deliberações que tenham por objeto alterações de Benchmark apenas serão aprovadas se assim deliberado: (i) pelos votos dos titulares da maioria das Cotas em circulação da Série ou Subclasse cujo Benchmark é alterado; e (ii) pelos votos dos titulares da maioria das Cotas Mezanino que se subordinem a ela e/ou das Cotas Subordinadas em circulação. 10.6 As deliberações que tenham por objeto o aumento do Índice de Subordinação estão sujeitas à aprovação da maioria simples dos votos dos titulares das Cotas Mezanino que se subordinem a ela e/ou das Cotas Subordinadas em circulação. 10.7 As deliberações que tenham por objeto a diminuição do Índice de Subordinação apenas serão aprovadas se assim deliberado: (i) pelos votos dos titulares da maioria das Cotas em circulação de cada uma das Séries de Cotas Seniores e/ou dos titulares das Cotas Mezanino que tenham o Benchmark alterado; e (ii) pelo voto dos titulares da maioria das Cotas Mezanino que se subordinem a ela e/ou Cotas Subordinadas Júnior em circulação . Representante de Cotistas 10.8 A Assembleia de Cotistas pode, a qualquer momento, eleger até 3 (três) representantes de cotistas, a serem eleitos e nomeados pela assembleia especial,</a:t>
            </a:r>
          </a:p>
          <a:p>
            <a:r>
              <a:t>CNPJ 62696791000193 · Quóruns e matérias reservadas · Versão e prevalência: Leitura específica das cláusulas indicadas; condições e conflitos preservados. Seleção documental atual não comprova vigência jurídica por data isolada.</a:t>
            </a:r>
          </a:p>
          <a:p>
            <a:r>
              <a:t>CNPJ 55563624000109 · Quóruns e matérias reservadas · Regulamento · ID 1192614 · 30/04/2026 · versão Regulamento30/04/2026 · p. 19 · AnexoI10.2(i)–(v) · https://fnet.bmfbovespa.com.br/fnet/publico/visualizarDocumento?id=1192614</a:t>
            </a:r>
          </a:p>
          <a:p>
            <a:r>
              <a:t>CNPJ 55563624000109 · Quóruns e matérias reservadas · Excerto da fonte:</a:t>
            </a:r>
          </a:p>
          <a:p>
            <a:r>
              <a:t>10.2 A Assembleia Especial de Cotistas é responsável por deliberar, observados os quóruns abaixo, sobre as matérias específicas da Classe, sem prejuízo das demais disposições previstas na regulamentação aplicável, incluindo, mas não se limitando a: MATÉRIA SUJEITA À APROVAÇÃO QUÓRUM DE DELIBERAÇÃO (i) deliberar sobre as demonstrações contábeis da Classe; Maioria do total das Cotas emitidas (ii) deliberar sobre a substituição de Prestadores de Serviços 90% (noventa por cento) do total das Cotas</a:t>
            </a:r>
          </a:p>
          <a:p>
            <a:r>
              <a:t>CNPJ 55563624000109 · Quóruns e matérias reservadas · Regulamento · ID 1192614 · 30/04/2026 · versão Regulamento30/04/2026 · p. 20 · AnexoI10.2(vi)–(xiii) · https://fnet.bmfbovespa.com.br/fnet/publico/visualizarDocumento?id=1192614</a:t>
            </a:r>
          </a:p>
          <a:p>
            <a:r>
              <a:t>CNPJ 55563624000109 · Quóruns e matérias reservadas · Excerto da fonte:</a:t>
            </a:r>
          </a:p>
          <a:p>
            <a:r>
              <a:t>(vi) alterar as características, vantagens, direitos e obrigações 90% (noventa por cento) do total das Cotas das Cotas; emitidas (vii) alterar critérios e procedimentos para resgate de Cotas mediante dação em pagamento de Cotas da Classe Maioria do total das Cotas emitidas Investida; (viii) aprovar a emissão de novas Cotas fora do Capital Maioria do total das Cotas emitidas</a:t>
            </a:r>
          </a:p>
          <a:p>
            <a:r>
              <a:t>CNPJ 55563624000109 · Quóruns e matérias reservadas · Versão e prevalência: Leitura específica das cláusulas indicadas; condições e conflitos preservados. Seleção documental atual não comprova vigência jurídica por data isolada.</a:t>
            </a:r>
          </a:p>
          <a:p>
            <a:r>
              <a:t>CNPJ 55563624000109 · Quóruns e matérias reservadas · Resumo do histórico: {"count": 2, "dates": ["2025-01-31", "2026-01-31"], "document_count": 2, "sources": [{"document_id": "1178840", "title": "Demonstrações Financeiras", "reference_date": "2026-01-31", "version": "1", "page": 24, "url": "https://fnet.bmfbovespa.com.br/fnet/publico/visualizarDocumento?id=1178840", "sha256": "c458e98664c5c907ddb5a05a94b120bed4e05295b2bfc420f5ba69af0a229abe"}, {"document_id": "891861", "title": "Demonstrações Financeiras", "reference_date": "2025-01-31", "version": "1", "page": 25, "url": "https://fnet.bmfbovespa.com.br/fnet/publico/visualizarDocumento?id=891861", "sha256": "e9cb9e6ddbe505fe068cfcac33605165a98313489de0d3ce6d4d238263c3f3e7"}], "reference": {"path": "history/55563624000109.json", "criterion_id": "quorum", "total_count": 2, "preview_count": 2, "full_text_deferred": true, "sha256": "7835d573fb58a3c19adf5b8ecc2aee2bdbb9a88f7a0c0209b5f262b64c7522e3"}}</a:t>
            </a:r>
          </a:p>
          <a:p>
            <a:r>
              <a:t>CNPJ 62552447000120 · Quóruns e matérias reservadas · Regulamento · ID 1200623 · 21/05/2026 · versão Consolidado21/05/2026 aprovado pelo ato1200625 · p. 21 · AnexoI10.2(i)–(x) · https://fnet.bmfbovespa.com.br/fnet/publico/visualizarDocumento?id=1200623</a:t>
            </a:r>
          </a:p>
          <a:p>
            <a:r>
              <a:t>CNPJ 62552447000120 · Quóruns e matérias reservadas · Excerto da fonte:</a:t>
            </a:r>
          </a:p>
          <a:p>
            <a:r>
              <a:t>10.2 Os seguintes quóruns deverão ser observados pela Assembleia Especial ao deliberar as matérias abaixo: Matéria Quórum (i) deliberar sobre substituição de Prestadores de Serviços Unanimidade dos Cotistas Essenciais, observado o disposto no art. 70, §1º da Parte Geral da Resolução CVM 175, quando aplicável; (ii) deliberar sobre elevação da Taxa Global, inclusive na Unanimidade dos Cotistas hipótese de restabelecimento de taxa que tenha sido objeto de redução; (iii) delibera</a:t>
            </a:r>
          </a:p>
          <a:p>
            <a:r>
              <a:t>CNPJ 62552447000120 · Quóruns e matérias reservadas · Versão e prevalência: Leitura específica das cláusulas indicadas; condições e conflitos preservados. Seleção documental atual não comprova vigência jurídica por data isolada.</a:t>
            </a:r>
          </a:p>
          <a:p>
            <a:r>
              <a:t>CNPJ 63953620000165 · Quóruns e matérias reservadas · Anexo ao Regulamento · ID 1222863 · 02/06/2026 · versão AnexoConsignadoPrivado02/06/2026 · p. 13 · 10.2(ii)–(xvii) · https://fnet.bmfbovespa.com.br/fnet/publico/visualizarDocumento?id=1222863</a:t>
            </a:r>
          </a:p>
          <a:p>
            <a:r>
              <a:t>CNPJ 63953620000165 · Quóruns e matérias reservadas · Excerto da fonte:</a:t>
            </a:r>
          </a:p>
          <a:p>
            <a:r>
              <a:t>10.2 Os seguintes quóruns deverão ser observados pela Assembleia Especial de Cotistas ao deliberar as matérias abaixo: Matéria Quórum (i) deliberar sobre as demonstrações contábeis da Classe; Maioria das Cotas presentes (ii) alterar o presente Anexo; Maioria das Cotas de cada Subclasse (iii) deliberar sobre substituição de Prestadores de Serviços Maioria das Cotas da Classe Essenciais, observado o disposto no Artigo 70, §1º da parte geral da R</a:t>
            </a:r>
          </a:p>
          <a:p>
            <a:r>
              <a:t>CNPJ 63953620000165 · Quóruns e matérias reservadas · Anexo ao Regulamento · ID 1222863 · 02/06/2026 · versão AnexoConsignadoPrivado02/06/2026 · p. 14 · 10.5–10.8 · https://fnet.bmfbovespa.com.br/fnet/publico/visualizarDocumento?id=1222863</a:t>
            </a:r>
          </a:p>
          <a:p>
            <a:r>
              <a:t>CNPJ 63953620000165 · Quóruns e matérias reservadas · Excerto da fonte:</a:t>
            </a:r>
          </a:p>
          <a:p>
            <a:r>
              <a:t>10.5 Caso a matéria em deliberação resulte ou possa resultar em uma redução do Índice de Subordinação de uma determinada Subclasse, somente podem votar os titulares de Subclasses de Cotas Seniores. 10.6 As deliberações que tenham por objeto alterações de Benchmark apenas serão aprovadas se assim deliberado: (i) pelos votos dos titulares da maioria das Cotas Seniores cujo Benchmark é alterado; e (ii) pelos votos dos titulares da maioria das Cotas Subordinadas em circulação. 10.7 As deliberações que tenham por objeto o aumento do Índice de Subordinação Sênior estão sujeitas à aprovação da maioria simples dos votos dos titu</a:t>
            </a:r>
          </a:p>
          <a:p>
            <a:r>
              <a:t>CNPJ 63953620000165 · Quóruns e matérias reservadas · Condição: 10.7/10.8 repetem aumento do índice com quóruns distintos; interpretar regra específica demandará resolver conflito, sem presumir uma aprovação.</a:t>
            </a:r>
          </a:p>
          <a:p>
            <a:r>
              <a:t>CNPJ 63953620000165 · Quóruns e matérias reservadas · Versão e prevalência: Leitura específica das cláusulas indicadas; condições e conflitos preservados. Seleção documental atual não comprova vigência jurídica por data isolada.</a:t>
            </a:r>
          </a:p>
          <a:p>
            <a:r>
              <a:t>CNPJ 63953620000165 · Quóruns e matérias reservadas · Resumo do histórico: {"count": 7, "dates": ["2026-04-28", "2026-05-08", "2026-05-15"], "document_count": 3, "sources": [{"document_id": "1327859", "title": "Demonstrações Financeiras - Fusão, cisão e incorporação", "reference_date": "2026-05-15", "version": "1", "page": 10, "url": "https://fnet.bmfbovespa.com.br/fnet/publico/visualizarDocumento?id=1327859", "sha256": "dca1c68babb97f887528c3e2e47596a9c30f507b067981a35655b2f2da9c8054"}, {"document_id": "1298691", "title": "Demonstrações Financeiras - Fusão, cisão e incorporação", "reference_date": "2026-05-08", "version": "1", "page": 10, "url": "https://fnet.bmfbovespa.com.br/fnet/publico/visualizarDocumento?id=1298691", "sha256": "58c570d9b8d4d265330d3db3ea81c435b8e44a6dab4002aa37790652a1ee9819"}, {"document_id": "1205431", "title": "AGE", "reference_date": "2026-04-28", "version": "1", "page": 1, "url": "https://fnet.bmfbovespa.com.br/fnet/publico/visualizarDocumento?id=1205431", "sha256": "e0b59c701c5d0dbf60de698ea7664d442240863b7043bacdb334ce484188b2ac"}], "reference": {"path": "history/63953620000165.json", "criterion_id": "quorum", "total_count": 7, "preview_count": 3, "full_text_deferred": true, "sha256": "a7b89077f5e21098c2d601c303faabc3ff6b9729f89d8afecdc60fe1404720c1"}}</a:t>
            </a:r>
          </a:p>
          <a:p>
            <a:r>
              <a:t>CNPJ 54871427000194 · Partes relacionadas e conflitos · Regulamento · ID 670691 · 2024-04-28 · versão 1 · p. 11 · 4.10 · https://fnet.bmfbovespa.com.br/fnet/publico/visualizarDocumento?id=670691</a:t>
            </a:r>
          </a:p>
          <a:p>
            <a:r>
              <a:t>CNPJ 54871427000194 · Partes relacionadas e conflitos · Excerto da fonte:</a:t>
            </a:r>
          </a:p>
          <a:p>
            <a:r>
              <a:t>4.10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54871427000194 · Partes relacionadas e conflitos · Regulamento · ID 670691 · 2024-04-28 · versão 1 · p. 11 · 4.11 · https://fnet.bmfbovespa.com.br/fnet/publico/visualizarDocumento?id=670691</a:t>
            </a:r>
          </a:p>
          <a:p>
            <a:r>
              <a:t>CNPJ 54871427000194 · Partes relacionadas e conflitos · Excerto da fonte:</a:t>
            </a:r>
          </a:p>
          <a:p>
            <a:r>
              <a:t>4.11 A Classe poderá, direta ou indiretamente e, nos termos da legislação aplicável: (i) adquirir Direitos  Creditórios que sejam cedidos e/ou originados pelo ADMINISTRADOR e/ou pelo GESTOR, ou partes  a eles relacionadas, tal como definidas pelas regras contábeis que tratam desse assunto; e (ii) ceder  Direitos Creditórios a qualquer das pessoas, fundos de investimento ou entidades referidas no item (i)  acima, desde que (i) o ADMINISTRADOR, GESTOR, a entidade registradora e o CUSTODIANTE de  Direitos Creditórios não sejam partes relacionadas entre si; e (ii) a entidade registradora e o  CUSTODIANTE dos Direitos Creditórios não sejam partes relacionadas ao originador ou Cedente.</a:t>
            </a:r>
          </a:p>
          <a:p>
            <a:r>
              <a:t>CNPJ 54871427000194 · Partes relacionadas e conflitos · Regulamento · ID 670691 · 2024-04-28 · versão 1 · p. 25 · 12.21 · https://fnet.bmfbovespa.com.br/fnet/publico/visualizarDocumento?id=670691</a:t>
            </a:r>
          </a:p>
          <a:p>
            <a:r>
              <a:t>CNPJ 54871427000194 · Partes relacionadas e conflitos · Excerto da fonte:</a:t>
            </a:r>
          </a:p>
          <a:p>
            <a:r>
              <a:t>12.21 O GESTOR, em nome da Classe, poderá contratar um ou mais terceiros para a prestação de serviços  de Agente de Cobrança de Direitos Creditórios Inadimplidos, os quais poderão ser partes relacionadas  ou integrar o grupo do ADMINISTRADOR ou dos demais prestadores de serviços da Classe. ] Serão  atribuições do Agente de Cobrança, observado o disposto neste Regulamento e na regulamentação  aplicável:</a:t>
            </a:r>
          </a:p>
          <a:p>
            <a:r>
              <a:t>(i) sempre que necessário, notificar os Devedores sobre a cessão dos Direitos Creditórios à  Classe, nos termos do Art. 290 do Código Civil;</a:t>
            </a:r>
          </a:p>
          <a:p>
            <a:r>
              <a:t>(ii) sempre que solicitado pelo ADMINISTRADOR e/ou pelo GESTOR, reportar ao  ADMINISTRADOR e ao GESTOR as ações tomadas e/ou eventos relevantes ocorridos no  âmbito da cobrança, seja judicial ou extrajudicial, dos Direitos Creditórios Inadimplidos, bem  como o estado de ref erida cobrança;</a:t>
            </a:r>
          </a:p>
          <a:p>
            <a:r>
              <a:t>(iii) comparecer à Assembleia Especial de Cotistas quando assim requerido pelo  ADMINISTRADOR;</a:t>
            </a:r>
          </a:p>
          <a:p>
            <a:r>
              <a:t>(iv) conf irmar o recebimento dos boletos bancários de cobrança enviados aos Devedores, se  aplicável;</a:t>
            </a:r>
          </a:p>
          <a:p>
            <a:r>
              <a:t>(v) controlar, coordenar, gerir e f iscalizar as ações de cobrança de Direitos Creditórios  Inadimplidos;</a:t>
            </a:r>
          </a:p>
          <a:p>
            <a:r>
              <a:t>(vi) adotar, em nome e por conta da Classe, todos os procedimentos de cobrança dos Direitos  Creditórios Inadimplidos de titularidade da Classe;</a:t>
            </a:r>
          </a:p>
          <a:p>
            <a:r>
              <a:t>(vii) conf orme o caso, ef etuar a inclusão ou exclusão do nome de quaisquer Devedores dos  Direitos Creditórios Inadimplidos no registro negativo de órgãos e/ou sistemas de informação  e proteção ao crédito; e</a:t>
            </a:r>
          </a:p>
          <a:p>
            <a:r>
              <a:t>(viii) conduzir, por si ou por meio dos assessores legais contratados para esse f im, processo  administrativo, judicial e/ou arbitral contra os Devedores, incluindo, ainda, a excussão de  eventuais garantias acessórias aos Direitos Creditórios.</a:t>
            </a:r>
          </a:p>
          <a:p>
            <a:r>
              <a:t>CNPJ 54871427000194 · Partes relacionadas e conflitos · Condição: Documentos atuais selecionados no inventário por categoria/escopo; a data documental isolada não comprova vigência jurídica.</a:t>
            </a:r>
          </a:p>
          <a:p>
            <a:r>
              <a:t>CNPJ 54871427000194 · Partes relacionadas e conflitos · Versão e prevalência: Documentos atuais selecionados no inventário por categoria/escopo; a data documental isolada não comprova vigência jurídica.</a:t>
            </a:r>
          </a:p>
          <a:p>
            <a:r>
              <a:t>CNPJ 54871427000194 · Partes relacionadas e conflitos · Resumo do histórico: {"count": 1, "dates": ["2024-04-19"], "document_count": 1, "sources": [{"document_id": "670689", "title": "Regulamento", "reference_date": "2024-04-19", "version": "1", "page": 11, "clause": "4.10", "url": "https://fnet.bmfbovespa.com.br/fnet/publico/visualizarDocumento?id=670689", "sha256": "891bc9bc5d87bbc02ec139077a84d2702eb81ea02035fb71d24f5b8366b94a0b"}], "reference": {"path": "history/54871427000194.json", "criterion_id": "related_parties", "total_count": 1, "preview_count": 1, "full_text_deferred": true, "sha256": "35d7cd99be50c7287c9fb675cf4f2e736002315295a225a9efa79c8d9186d874"}}</a:t>
            </a:r>
          </a:p>
          <a:p>
            <a:r>
              <a:t>CNPJ 60010416000112 · Partes relacionadas e conflitos · Regulamento · ID 1051393 · 2025-10-09 · versão 1 · p. 12 · 4.8 · https://fnet.bmfbovespa.com.br/fnet/publico/visualizarDocumento?id=1051393</a:t>
            </a:r>
          </a:p>
          <a:p>
            <a:r>
              <a:t>CNPJ 60010416000112 · Partes relacionadas e conflitos · Excerto da fonte:</a:t>
            </a:r>
          </a:p>
          <a:p>
            <a:r>
              <a:t>4.8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60010416000112 · Partes relacionadas e conflitos · Regulamento · ID 1051393 · 2025-10-09 · versão 1 · p. 12 · 4.9 · https://fnet.bmfbovespa.com.br/fnet/publico/visualizarDocumento?id=1051393</a:t>
            </a:r>
          </a:p>
          <a:p>
            <a:r>
              <a:t>CNPJ 60010416000112 · Partes relacionadas e conflitos · Excerto da fonte:</a:t>
            </a:r>
          </a:p>
          <a:p>
            <a:r>
              <a:t>4.9 Sem prejuízo de limites mais restritivos definidos neste Regulamento, o Gestor deverá observar, ainda, os  seguintes limites de concentração para a composição da Carteira:</a:t>
            </a:r>
          </a:p>
          <a:p>
            <a:r>
              <a:t> (i ) Até 100% (cem por cento) da parcela do Patrimônio Líquido investida em Ativos  Financeiros de Liquidez poderá ser alocada em Ativos Financeiros de Liquidez de  emissão ou que envolvam retenção de risco por parte do Administrador, Gestor, e/ou  suas partes relacionadas; e</a:t>
            </a:r>
          </a:p>
          <a:p>
            <a:r>
              <a:t> (ii) Até 100% (cem por cento) da parcela do Patrimônio Líquido investida em operações  com derivativos poderá ser alocada em derivativos nos quais, inexistindo contraparte  central, se tenha como contraparte o Gestor e/ou suas partes relacionadas.</a:t>
            </a:r>
          </a:p>
          <a:p>
            <a:r>
              <a:t>CNPJ 60010416000112 · Partes relacionadas e conflitos · Regulamento · ID 1051393 · 2025-10-09 · versão 1 · p. 12 · 4.12.1 · https://fnet.bmfbovespa.com.br/fnet/publico/visualizarDocumento?id=1051393</a:t>
            </a:r>
          </a:p>
          <a:p>
            <a:r>
              <a:t>CNPJ 60010416000112 · Partes relacionadas e conflitos · Excerto da fonte:</a:t>
            </a:r>
          </a:p>
          <a:p>
            <a:r>
              <a:t>4.12.1. Após o término do Período de Investimento, a Classe utilizará os recursos provenientes do  pagamento dos Direitos Creditórios e demais aplicações para amortização das Cotas, observada  a ordem de alocação de recursos def inida no Capítulo 7 abaixo.</a:t>
            </a:r>
          </a:p>
          <a:p>
            <a:r>
              <a:t>Regras, procedimentos e limites para efetuar cessão de direitos creditórios para o cedente e suas partes relacionadas</a:t>
            </a:r>
          </a:p>
          <a:p>
            <a:r>
              <a:t>CNPJ 60010416000112 · Partes relacionadas e conflitos · Condição: Documentos atuais selecionados no inventário por categoria/escopo; a data documental isolada não comprova vigência jurídica.</a:t>
            </a:r>
          </a:p>
          <a:p>
            <a:r>
              <a:t>CNPJ 60010416000112 · Partes relacionadas e conflitos · Versão e prevalência: Documentos atuais selecionados no inventário por categoria/escopo; a data documental isolada não comprova vigência jurídica.</a:t>
            </a:r>
          </a:p>
          <a:p>
            <a:r>
              <a:t>CNPJ 60010416000112 · Partes relacionadas e conflitos · Resumo do histórico: {"count": 1, "dates": ["2025-03-20"], "document_count": 1, "sources": [{"document_id": "993786", "title": "Regulamento", "reference_date": "2025-03-20", "version": "1", "page": 12, "clause": "4.8", "url": "https://fnet.bmfbovespa.com.br/fnet/publico/visualizarDocumento?id=993786", "sha256": "fd0fdd369a195510d81f81f505195a0b09e5f43522a990afa7d58c4f872921c8"}], "reference": {"path": "history/60010416000112.json", "criterion_id": "related_parties", "total_count": 1, "preview_count": 1, "full_text_deferred": true, "sha256": "8e2bd813f4c51cf01f6bfaad164bafe69d2bbb192f753eac92da3a01c2e63046"}}</a:t>
            </a:r>
          </a:p>
          <a:p>
            <a:r>
              <a:t>CNPJ 62696791000193 · Partes relacionadas e conflitos · Regulamento · ID 1143317 · 2026-03-20 · versão 1 · p. 12 · 4.10 · https://fnet.bmfbovespa.com.br/fnet/publico/visualizarDocumento?id=1143317</a:t>
            </a:r>
          </a:p>
          <a:p>
            <a:r>
              <a:t>CNPJ 62696791000193 · Partes relacionadas e conflitos · Excerto da fonte:</a:t>
            </a:r>
          </a:p>
          <a:p>
            <a:r>
              <a:t>4.10 Sem prejuízo de limites mais restritivos definidos neste Anexo, o Gestor deverá observar, ainda, os  seguintes limites de concentração:</a:t>
            </a:r>
          </a:p>
          <a:p>
            <a:r>
              <a:t> (i) A Classe poderá, direta ou indiretamente, ter até 100% (cem por cento) do Patrimônio  Líquido representado por Direitos Creditórios do Agronegócio originados ou cedidos  pelo Administrador, Gestor e/ou suas partes relacionadas, tal como definidas pelas  regras contábeis que tratam desse assunto, desde que (a) o Gest or, a entidade  registradora e o Custodiante dos Direitos Creditórios do Agronegócio não sejam partes  relacionadas entre si; e (b) a entidade registradora e o Custodiante dos Direitos  Creditórios do Agronegócio não sejam partes relacionadas ao originador ou Cedente.</a:t>
            </a:r>
          </a:p>
          <a:p>
            <a:r>
              <a:t> (ii) No máximo, 100% (cem por cento) do Patrimônio Líquido investido em Ativos  Financeiros de Liquidez de emissão ou que envolvam retenção de risco por parte do  Administrador, Gestor, e/ou suas partes relacionadas, observado ainda o disposto no  item Error! Reference source not found.;</a:t>
            </a:r>
          </a:p>
          <a:p>
            <a:r>
              <a:t> (iii) No máximo, 100% (cem por cento) do Patrimônio Líquido investido em operações com  derivativos nos quais, inexistindo contraparte central, se tenha como contraparte o  Gestor, e/ou suas partes relacionadas, observado ainda o disposto no item Error!  Reference source not found.;</a:t>
            </a:r>
          </a:p>
          <a:p>
            <a:r>
              <a:t> (iv) No máximo, 100% (cem por cento) do Patrimônio Líquido em cotas de uma mesma  classe;</a:t>
            </a:r>
          </a:p>
          <a:p>
            <a:r>
              <a:t> (v) É vedada a aquisição de precatórios f ederais.</a:t>
            </a:r>
          </a:p>
          <a:p>
            <a:r>
              <a:t> (vi) No máximo, 49% (quarenta e nove por cento) do Patrimônio Líquido em Ativos  Imobiliários do Agronegócio;</a:t>
            </a:r>
          </a:p>
          <a:p>
            <a:r>
              <a:t> (vii) No máximo, 49% (quarenta e nove por cento) do Patrimônio Líquido em Participações  do Agronegócio;</a:t>
            </a:r>
          </a:p>
          <a:p>
            <a:r>
              <a:t> (viii) No máximo, 49% (quarenta e nove por cento) do Patrimônio Líquido em Ativos  Financeiros do Agronegócio; e</a:t>
            </a:r>
          </a:p>
          <a:p>
            <a:r>
              <a:t> (ix) No máximo, 49% (quarenta e nove por cento) do Patrimônio Líquido em Ativos em Geral  do Agronegócio;</a:t>
            </a:r>
          </a:p>
          <a:p>
            <a:r>
              <a:t> Ativos Recuperados</a:t>
            </a:r>
          </a:p>
          <a:p>
            <a:r>
              <a:t>CNPJ 62696791000193 · Partes relacionadas e conflitos · Regulamento · ID 1143317 · 2026-03-20 · versão 1 · p. 11 · 4.8 · https://fnet.bmfbovespa.com.br/fnet/publico/visualizarDocumento?id=1143317</a:t>
            </a:r>
          </a:p>
          <a:p>
            <a:r>
              <a:t>CNPJ 62696791000193 · Partes relacionadas e conflitos · Excerto da fonte:</a:t>
            </a:r>
          </a:p>
          <a:p>
            <a:r>
              <a:t>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relacionadas ao Gestor.</a:t>
            </a:r>
          </a:p>
          <a:p>
            <a:r>
              <a:t>CNPJ 62696791000193 · Partes relacionadas e conflitos · Regulamento · ID 1143317 · 2026-03-20 · versão 1 · p. 14 · 4.21.1 · https://fnet.bmfbovespa.com.br/fnet/publico/visualizarDocumento?id=1143317</a:t>
            </a:r>
          </a:p>
          <a:p>
            <a:r>
              <a:t>CNPJ 62696791000193 · Partes relacionadas e conflitos · Excerto da fonte:</a:t>
            </a:r>
          </a:p>
          <a:p>
            <a:r>
              <a:t>4.21.1 Sem prejuízo do disposto acima, poderá ser contratado terceiro especializado para o  gerenciamento das obras, para controle dos desembolsos, conforme medições durante a etapa  de desenvolvimento e construção dos Ativos Imobiliários do Agronegócio, sendo certo que,  caso haja a contratação de terceiros em situação de conflito de interesses, deverá ser aprovado  em assembleia de Cotistas.</a:t>
            </a:r>
          </a:p>
          <a:p>
            <a:r>
              <a:t>CNPJ 62696791000193 · Partes relacionadas e conflitos · Condição: Documentos atuais selecionados no inventário por categoria/escopo; a data documental isolada não comprova vigência jurídica.</a:t>
            </a:r>
          </a:p>
          <a:p>
            <a:r>
              <a:t>CNPJ 62696791000193 · Partes relacionadas e conflitos · Versão e prevalência: Documentos atuais selecionados no inventário por categoria/escopo; a data documental isolada não comprova vigência jurídica.</a:t>
            </a:r>
          </a:p>
          <a:p>
            <a:r>
              <a:t>CNPJ 55563624000109 · Partes relacionadas e conflitos · Regulamento · ID 1192614 · 2026-04-30 · versão 1 · p. 13 · 4.12.1 · https://fnet.bmfbovespa.com.br/fnet/publico/visualizarDocumento?id=1192614</a:t>
            </a:r>
          </a:p>
          <a:p>
            <a:r>
              <a:t>CNPJ 55563624000109 · Partes relacionadas e conflitos · Excerto da fonte:</a:t>
            </a:r>
          </a:p>
          <a:p>
            <a:r>
              <a:t>4.12.1 A Classe poderá ter até 100% (cem por cento) do Patrimônio Líquido representado por Cotas da Classe  Investida administrados pelo ADMINISTRADOR, e geridos ou cogeridos pelo GESTOR e/ou suas partes  relacionadas.</a:t>
            </a:r>
          </a:p>
          <a:p>
            <a:r>
              <a:t> Revolvência da Carteira</a:t>
            </a:r>
          </a:p>
          <a:p>
            <a:r>
              <a:t>CNPJ 55563624000109 · Partes relacionadas e conflitos · Regulamento · ID 1192614 · 2026-04-30 · versão 1 · p. 28 · 13.2 · https://fnet.bmfbovespa.com.br/fnet/publico/visualizarDocumento?id=1192614</a:t>
            </a:r>
          </a:p>
          <a:p>
            <a:r>
              <a:t>CNPJ 55563624000109 · Partes relacionadas e conflitos · Excerto da fonte:</a:t>
            </a:r>
          </a:p>
          <a:p>
            <a:r>
              <a:t>13.2 Em condições ordinárias, as Cotas da Classe Investida não pagarão remuneração aos prestadores de serviços  essenciais da Classe Investida, nos termos de seu regulamento. Não obstante, em cenário extraordinário  conforme descrito no item 15.1.1 (iii), e para fins de atendimento ao artigo 98 da parte geral da Resolução CVM  175, a taxa máxima de administração corresponderá ao valor da Taxa Mínima de Administração acrescida de até  0,10% (dez centésimos por cento) ao ano incidente sobre o patrimônio líquido da Classe Investida,  compreendendo a taxa de administração da Classe Investida geridos por partes relacionadas ao GESTOR, cujas  cotas não estão admitidas à negociação em mercado organizado, conforme prevista no regulamento da Classe  Investida (“Taxa Máxima de Administração” e, quando referida em conjunto com a Taxa Mínima de  Administração, como “Taxa de Administração”). Caso a taxa de administração da Classe Investida não se  enquadre no disposto acima, estará disposta no regulamento da Classe Investida.</a:t>
            </a:r>
          </a:p>
          <a:p>
            <a:r>
              <a:t>CNPJ 55563624000109 · Partes relacionadas e conflitos · Regulamento · ID 1192614 · 2026-04-30 · versão 1 · p. 37 · https://fnet.bmfbovespa.com.br/fnet/publico/visualizarDocumento?id=1192614</a:t>
            </a:r>
          </a:p>
          <a:p>
            <a:r>
              <a:t>CNPJ 55563624000109 · Partes relacionadas e conflitos · Excerto da fonte:</a:t>
            </a:r>
          </a:p>
          <a:p>
            <a:r>
              <a:t>(ix) Possibilidade de conflito de interesses. As Cotas poderão ser adquiridas por investidores que  sejam partes relacionadas à Classe Investida ou aos prestadores de serviços da Classe Investida. Nessa  hipótese, poderá haver situações de conflito de interesses entre os interesses desses investidores e o  interesse dos demais Cotistas, podendo qualquer desses investidores, inclusive, aprovar deliberações  contrárias aos interesses dos demais Cotistas caso sejam titulares da maioria das Cotas presentes às  Assembleias de Cotistas.</a:t>
            </a:r>
          </a:p>
          <a:p>
            <a:r>
              <a:t>CNPJ 55563624000109 · Partes relacionadas e conflitos · Condição: Documentos atuais selecionados no inventário por categoria/escopo; a data documental isolada não comprova vigência jurídica.</a:t>
            </a:r>
          </a:p>
          <a:p>
            <a:r>
              <a:t>CNPJ 55563624000109 · Partes relacionadas e conflitos · Versão e prevalência: Documentos atuais selecionados no inventário por categoria/escopo; a data documental isolada não comprova vigência jurídica.</a:t>
            </a:r>
          </a:p>
          <a:p>
            <a:r>
              <a:t>CNPJ 55563624000109 · Partes relacionadas e conflitos · Resumo do histórico: {"count": 2, "dates": ["2025-01-31", "2026-01-31"], "document_count": 2, "sources": [{"document_id": "1178840", "title": "Demonstrações Financeiras", "reference_date": "2026-01-31", "version": "1", "page": 23, "url": "https://fnet.bmfbovespa.com.br/fnet/publico/visualizarDocumento?id=1178840", "sha256": "c458e98664c5c907ddb5a05a94b120bed4e05295b2bfc420f5ba69af0a229abe"}, {"document_id": "891861", "title": "Demonstrações Financeiras", "reference_date": "2025-01-31", "version": "1", "page": 23, "url": "https://fnet.bmfbovespa.com.br/fnet/publico/visualizarDocumento?id=891861", "sha256": "e9cb9e6ddbe505fe068cfcac33605165a98313489de0d3ce6d4d238263c3f3e7"}], "reference": {"path": "history/55563624000109.json", "criterion_id": "related_parties", "total_count": 2, "preview_count": 2, "full_text_deferred": true, "sha256": "7835d573fb58a3c19adf5b8ecc2aee2bdbb9a88f7a0c0209b5f262b64c7522e3"}}</a:t>
            </a:r>
          </a:p>
          <a:p>
            <a:r>
              <a:t>CNPJ 62552447000120 · Partes relacionadas e conflitos · Regulamento · ID 1200623 · 2026-05-21 · versão 1 · p. 14 · 4.10 · https://fnet.bmfbovespa.com.br/fnet/publico/visualizarDocumento?id=1200623</a:t>
            </a:r>
          </a:p>
          <a:p>
            <a:r>
              <a:t>CNPJ 62552447000120 · Partes relacionadas e conflitos · Excerto da fonte:</a:t>
            </a:r>
          </a:p>
          <a:p>
            <a:r>
              <a:t>4.10 Nos termos do art. 45, §7º, inciso II, do Anexo Normativo II, a Classe poderá ter até 100% (cem por  cento) de seu Patrimônio Líquido alocado em Direitos Creditórios, derivativos, observado o disposto  abaixo,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62552447000120 · Partes relacionadas e conflitos · Regulamento · ID 1200623 · 2026-05-21 · versão 1 · p. 14 · 4.11 · https://fnet.bmfbovespa.com.br/fnet/publico/visualizarDocumento?id=1200623</a:t>
            </a:r>
          </a:p>
          <a:p>
            <a:r>
              <a:t>CNPJ 62552447000120 · Partes relacionadas e conflitos · Excerto da fonte:</a:t>
            </a:r>
          </a:p>
          <a:p>
            <a:r>
              <a:t>4.11 Sem prejuízo de limites mais restritivos definidos neste Regulamento, o Gestor deverá observar, ainda,  os seguintes limites de concentração para a composição da Carteira:</a:t>
            </a:r>
          </a:p>
          <a:p>
            <a:r>
              <a:t> (i) Até 100% (cem por cento) da parcela do Patrimônio Líquido investida em Direitos  Creditórios poderão ser alocados em Direitos Creditórios originados ou cedidos pelo  Administrador, Gestor e/ou suas partes relacionadas, tal como definidas pelas regras  contábeis que tratam desse assunto . A Classe também poderá ceder Direitos  Creditórios a qualquer das pessoas, f undos de investimento ou entidades ref eridas  acima, desde que a entidade registradora e o Custodiante dos Direitos Creditórios não  sejam partes relacionadas ao Originador ou Endossante;</a:t>
            </a:r>
          </a:p>
          <a:p>
            <a:r>
              <a:t> (ii) Até 100% (cem por cento) da parcela do Patrimônio Líquido investida em Ativos  Financeiros poderão ser alocados em Ativos Financeiros de emissão ou que envolvam  retenção de risco por parte do Administrador, Gestor e/ou suas partes relacionadas; e</a:t>
            </a:r>
          </a:p>
          <a:p>
            <a:r>
              <a:t> (iii) Até 100% (cem por cento) da parcela do Patrimônio Líquido investida em operações  com derivativos poderão ser alocados em operações com derivativos nas quais,  inexistindo contraparte central, se tenha como contraparte o Gestor e/ou suas partes  relacionadas.</a:t>
            </a:r>
          </a:p>
          <a:p>
            <a:r>
              <a:t>CNPJ 62552447000120 · Partes relacionadas e conflitos · Regulamento · ID 1200623 · 2026-05-21 · versão 1 · p. 15 · 4.18 · https://fnet.bmfbovespa.com.br/fnet/publico/visualizarDocumento?id=1200623</a:t>
            </a:r>
          </a:p>
          <a:p>
            <a:r>
              <a:t>CNPJ 62552447000120 · Partes relacionadas e conflitos · Excerto da fonte:</a:t>
            </a:r>
          </a:p>
          <a:p>
            <a:r>
              <a:t>4.18 Ainda que integrem a Carteira, os Ativos Recuperados não serão, sob qualquer hipótese, adquiridos  como parte da Política de Investimento, de forma que serão de sua propriedade exclusivamente, não  devendo, portanto, ser contabilizados para f ins de enquadramento da Classe.</a:t>
            </a:r>
          </a:p>
          <a:p>
            <a:r>
              <a:t>Regras, procedimentos e limites para efetuar qualquer modalidade de transferência dos Direitos Creditórios, incluindo, sem limitação, endosso (“Transferência”) para o Endossante e suas partes relacionadas</a:t>
            </a:r>
          </a:p>
          <a:p>
            <a:r>
              <a:t>CNPJ 62552447000120 · Partes relacionadas e conflitos · Condição: Documentos atuais selecionados no inventário por categoria/escopo; a data documental isolada não comprova vigência jurídica.</a:t>
            </a:r>
          </a:p>
          <a:p>
            <a:r>
              <a:t>CNPJ 62552447000120 · Partes relacionadas e conflitos · Versão e prevalência: Documentos atuais selecionados no inventário por categoria/escopo; a data documental isolada não comprova vigência jurídica.</a:t>
            </a:r>
          </a:p>
          <a:p>
            <a:r>
              <a:t>CNPJ 63953620000165 · Partes relacionadas e conflitos · Anexo ao Regulamento · ID 1222863 · 2026-06-02 · versão 1 · p. 6 · 4.14 · https://fnet.bmfbovespa.com.br/fnet/publico/visualizarDocumento?id=1222863</a:t>
            </a:r>
          </a:p>
          <a:p>
            <a:r>
              <a:t>CNPJ 63953620000165 · Partes relacionadas e conflitos · Excerto da fonte:</a:t>
            </a:r>
          </a:p>
          <a:p>
            <a:r>
              <a:t>4.14 Nos termos do Art. 45, §7º, inciso II, do Anexo Normativo II da Resolução CVM 175, a Classe poderá ter até 100%  (cem por cento) de seu Patrimônio Líquido alocado em Direitos Creditórios, derivativos, observado o disposto  neste Anexo I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63953620000165 · Partes relacionadas e conflitos · Anexo ao Regulamento · ID 1222863 · 2026-06-02 · versão 1 · p. 8 · 4.21 · https://fnet.bmfbovespa.com.br/fnet/publico/visualizarDocumento?id=1222863</a:t>
            </a:r>
          </a:p>
          <a:p>
            <a:r>
              <a:t>CNPJ 63953620000165 · Partes relacionadas e conflitos · Excerto da fonte:</a:t>
            </a:r>
          </a:p>
          <a:p>
            <a:r>
              <a:t>4.21 Ainda que integrem a carteira da Classe, os Ativos Recuperados não serão, sob qualquer hipótese, adquiridos  como parte da Política de Investimento da Classe, de forma que serão de sua propriedade exclusivamente, não  devendo, portanto, ser contabilizados para fins de enquadramento da Classe.</a:t>
            </a:r>
          </a:p>
          <a:p>
            <a:r>
              <a:t> Regras, procedimentos e limites para efetuar o Endosso de Direitos Creditórios Crédito Consignado para o Endossante e  suas partes relacionadas</a:t>
            </a:r>
          </a:p>
          <a:p>
            <a:r>
              <a:t>CNPJ 63953620000165 · Partes relacionadas e conflitos · Anexo ao Regulamento · ID 1222863 · 2026-06-02 · versão 1 · p. 7 · https://fnet.bmfbovespa.com.br/fnet/publico/visualizarDocumento?id=1222863</a:t>
            </a:r>
          </a:p>
          <a:p>
            <a:r>
              <a:t>CNPJ 63953620000165 · Partes relacionadas e conflitos · Excerto da fonte:</a:t>
            </a:r>
          </a:p>
          <a:p>
            <a:r>
              <a:t>Anexo I ao Regulamento  CLASSE CONSIGNADO PRIVADO DO MT GLOBAL FUNDO DE INVESTIMENTO EM DIREITOS  CREDITÓRIOS RESPONSABILIDADE LIMITADA</a:t>
            </a:r>
          </a:p>
          <a:p>
            <a:r>
              <a:t> (i)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 (ii) No máximo, 50% (cinquenta por cento) do Patrimônio Líquido investido em Ativos Financeiros  de Liquidez de emissão ou que envolvam retenção de risco por parte do Administrador, Gestor,  e/ou suas partes relacionadas, observado ainda o disposto acima;</a:t>
            </a:r>
          </a:p>
          <a:p>
            <a:r>
              <a:t> (iii) No máximo, 100% (cem por cento) do Patrimônio Líquido investido em operações com  derivativos nos quais, inexistindo contraparte central, se tenha como contraparte o Gestor,  Consultora e/ou suas partes relacionadas, observado ainda o disposto acima;</a:t>
            </a:r>
          </a:p>
          <a:p>
            <a:r>
              <a:t> (iv) A Classe poderá investir até 100% (cem por cento) de seu Patrimônio Líquido em Direitos  Creditórios Não-Padronizados;</a:t>
            </a:r>
          </a:p>
          <a:p>
            <a:r>
              <a:t> (v) É vedada a aquisição de precatórios federais.</a:t>
            </a:r>
          </a:p>
          <a:p>
            <a:r>
              <a:t>CNPJ 63953620000165 · Partes relacionadas e conflitos · Condição: Documentos atuais selecionados no inventário por categoria/escopo; a data documental isolada não comprova vigência jurídica.</a:t>
            </a:r>
          </a:p>
          <a:p>
            <a:r>
              <a:t>CNPJ 63953620000165 · Partes relacionadas e conflitos · Versão e prevalência: Documentos atuais selecionados no inventário por categoria/escopo; a data documental isolada não comprova vigência jurídica.</a:t>
            </a:r>
          </a:p>
          <a:p>
            <a:r>
              <a:t>CNPJ 54871427000194 · Histórico de alterações materiais · Instrumento Particular de Alteração do Regulamento · ID 670690 · 28/05/2024 · versão Instrumento Particular de Alteração do Regulamento — referência 28/05/2024 · p. 1 · AGC, 4.1–4.2 · https://fnet.bmfbovespa.com.br/fnet/publico/visualizarDocumento?id=670690</a:t>
            </a:r>
          </a:p>
          <a:p>
            <a:r>
              <a:t>CNPJ 54871427000194 · Histórico de alterações materiais · Excerto da fonte:</a:t>
            </a:r>
          </a:p>
          <a:p>
            <a:r>
              <a:t>4.1. A alteração integral do anexo da Classe Única, que compõe o regulamento do Fundo (“Anexo da Classe Única” e “Regulamento”) e seus complementos, para de f orma a alterar a Política de Investimentos da Classe para aquisição de direitos creditórios representados por Certif icados de Cédulas de Crédito Bancário (“CCCBs” e “Direitos Creditórios”), bem como refletir os novos critérios de elegibilidade para aquisição dos Direitos Creditórios, os documentos comprobatórios do lastro e f atores de risco aplicáveis. 4.2. Tendo em vista a aprovação dos itens. acima, deliberaram por aprovar o novo Regulamento Consolidado, que vigorará na forma do Anexo I à presente Ata, o qual terá efeitos retroativos a abertura de 28 de maio de 2024. 4.3. Por f im, por aprovar a Administradora a adotar todas as medidas necessárias para implementação das deliberações acima. 5. ENCERRAMENTO Nada mais havendo a tratar, f oi a reunião encerrada. Rio de Janeiro, 28 de maio de 2024. Mesa: Diego Prado Tassiana Lima Presidente</a:t>
            </a:r>
          </a:p>
          <a:p>
            <a:r>
              <a:t>CNPJ 54871427000194 · Histórico de alterações materiais · Regulamento · ID 670691 · 28/04/2024 · versão Regulamento — referência 28/04/2024 · p. 9 · Regulamento 670691, Anexo I, 4.2 · https://fnet.bmfbovespa.com.br/fnet/publico/visualizarDocumento?id=670691</a:t>
            </a:r>
          </a:p>
          <a:p>
            <a:r>
              <a:t>CNPJ 54871427000194 · Histórico de alterações materiais · Excerto da fonte:</a:t>
            </a:r>
          </a:p>
          <a:p>
            <a:r>
              <a:t>4.2 Os Direitos Creditórios representados por Certif icados de Cédulas de Crédito Bancário (“CCCBs”), representativos de um agrupamento de determinadas CCBs, originadas no âmbito de operações de empréstimos pessoais concedidos por um Endossante a um Devedor, devidamente f ormalizadas por via eletrônica de acordo com a legislação aplicável, segundo os critérios de composição e diversificação estabelecidos pela regulamentação aplicável e neste Regulamento. 4.2.1 Cada Endossante deve ter celebrado convênio com órgão consignante, previamente à cessão de Direitos Creditórios à Classe, que contemplam a obrigação da manutenção da consignação/averbação junto ao novo órgão, de modo a possibilitar o pagamento dos Direitos Creditórios por meio de consignação em f olha de pagamento ou de benef ício . 4.3 Os pagamentos relativos aos Direitos Creditórios de titularidade da Classe serão realizados mediante consignação em folha, débito em conta de titularidade dos Devedores e pagamentos de sinistros, para pagamento dos valores correspondentes às parcelas das CCBs representadas pelos CCCBs de titularidade da Classe, os quais serão conciliados e repassados pelo Endossan</a:t>
            </a:r>
          </a:p>
          <a:p>
            <a:r>
              <a:t>CNPJ 54871427000194 · Histórico de alterações materiais · Condição: A classificação Fundos Net do documento 670690 é “regulamento”, mas seu conteúdo é uma AGC. A divergência de datas impede usar a referência do 670691 como prova autônoma de início de vigência.</a:t>
            </a:r>
          </a:p>
          <a:p>
            <a:r>
              <a:t>CNPJ 54871427000194 · Histórico de alterações materiais · Motivo: Não localizada uma cláusula material para este critério nos textos identificados e processados. A ausência de resultado não comprova inexistência da regra.</a:t>
            </a:r>
          </a:p>
          <a:p>
            <a:r>
              <a:t>CNPJ 54871427000194 · Histórico de alterações materiais · Versão e prevalência: Leitura específica das cláusulas indicadas; condições e conflitos preservados. Seleção documental atual não comprova vigência jurídica por data isolada.</a:t>
            </a:r>
          </a:p>
          <a:p>
            <a:r>
              <a:t>CNPJ 60010416000112 · Histórico de alterações materiais · Demonstrações Financeiras - Fusão, cisão e incorporação · ID 1298690 · 2026-05-08 · versão 1 · p. 30 · https://fnet.bmfbovespa.com.br/fnet/publico/visualizarDocumento?id=1298690</a:t>
            </a:r>
          </a:p>
          <a:p>
            <a:r>
              <a:t>CNPJ 60010416000112 · Histórico de alterações materiais · Excerto da fonte:</a:t>
            </a:r>
          </a:p>
          <a:p>
            <a:r>
              <a:t>Durante o período de investimento, a Administradora poderá deliberar por realizar novas  emissões de Cotas Seniores, sem a necessidade de aprovação em Assembleia Especial de  Cotistas ou alteração do Regulamento, limitadas ao montante máximo de R$ 1.000.000 (um  bilhão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seniores emitidas não sejam superiores aos  prazos de vencimento da primeira emissão.</a:t>
            </a:r>
          </a:p>
          <a:p>
            <a:r>
              <a:t>CNPJ 60010416000112 · Histórico de alterações materiais · Demonstrações Financeiras - Fusão, cisão e incorporação · ID 1298690 · 2026-05-08 · versão 1 · p. 30 · https://fnet.bmfbovespa.com.br/fnet/publico/visualizarDocumento?id=1298690</a:t>
            </a:r>
          </a:p>
          <a:p>
            <a:r>
              <a:t>CNPJ 60010416000112 · Histórico de alterações materiais · Excerto da fonte:</a:t>
            </a:r>
          </a:p>
          <a:p>
            <a:r>
              <a:t>Durante o período de investimento, a Administradora poderá deliberar por realizar novas  emissões de cotas subordinadas, sem a necessidade de aprovação em Assembleia Especial  de Cotistas ou alteração do Regulamento, limitadas ao montante máximo de R$ 50.000  (cinquenta milhões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subordinadas emitidas não sejam  superiores aos prazos de vencimento da primeira emissão.</a:t>
            </a:r>
          </a:p>
          <a:p>
            <a:r>
              <a:t>CNPJ 60010416000112 · Histórico de alterações materiais · Condição: Documentos atuais selecionados no inventário por categoria/escopo; a data documental isolada não comprova vigência jurídica.</a:t>
            </a:r>
          </a:p>
          <a:p>
            <a:r>
              <a:t>CNPJ 60010416000112 · Histórico de alterações materiais · Versão e prevalência: Documentos atuais selecionados no inventário por categoria/escopo; a data documental isolada não comprova vigência jurídica.</a:t>
            </a:r>
          </a:p>
          <a:p>
            <a:r>
              <a:t>CNPJ 60010416000112 · Histórico de alterações materiais · Resumo do histórico: {"count": 5, "dates": ["2025-11-30", "2026-03-18", "2026-04-16"], "document_count": 3, "sources": [{"document_id": "1282181", "title": "Demonstrações Financeiras - Fusão, cisão e incorporação", "reference_date": "2026-04-16", "version": "1", "page": 32, "url": "https://fnet.bmfbovespa.com.br/fnet/publico/visualizarDocumento?id=1282181", "sha256": "b1c6566e43a00bcd00c8a7f30c77b7f86e351bd8e355bbea113f46d1dafda703"}, {"document_id": "1224477", "title": "Demonstrações Financeiras - Fusão, cisão e incorporação", "reference_date": "2026-03-18", "version": "1", "page": 32, "url": "https://fnet.bmfbovespa.com.br/fnet/publico/visualizarDocumento?id=1224477", "sha256": "0751bf0a75bc3b44c2748f5000226665c6ec6698a90c4dc6170b4e6c187759ae"}, {"document_id": "1126154", "title": "Demonstrações Financeiras", "reference_date": "2025-11-30", "version": "1", "page": 32, "url": "https://fnet.bmfbovespa.com.br/fnet/publico/visualizarDocumento?id=1126154", "sha256": "a01e7ccf88c548f12c95cba8526d7efbef6b585c112cd4668eca781c292090b0"}], "reference": {"path": "history/60010416000112.json", "criterion_id": "changes", "total_count": 5, "preview_count": 3, "full_text_deferred": true, "sha256": "8e2bd813f4c51cf01f6bfaad164bafe69d2bbb192f753eac92da3a01c2e63046"}}</a:t>
            </a:r>
          </a:p>
          <a:p>
            <a:r>
              <a:t>CNPJ 62696791000193 · Histórico de alterações materiais · AGE · ID 1143319 · 20/03/2026 10:00 · versão AGE — referência 20/03/2026 10:00 · p. 1 · AGC, 4.1(a)–(c) · https://fnet.bmfbovespa.com.br/fnet/publico/visualizarDocumento?id=1143319</a:t>
            </a:r>
          </a:p>
          <a:p>
            <a:r>
              <a:t>CNPJ 62696791000193 · Histórico de alterações materiais · Excerto da fonte:</a:t>
            </a:r>
          </a:p>
          <a:p>
            <a:r>
              <a:t>4.1. Aprovar a transformação do Fundo, bem como de sua Classe única, em um fundo de investimento nas cadeias produtivas do agronegócio (“Transformação”), nos termos da parte geral e do Anexo Normativo VI da Resolução nº 175 da CVM, de 23 de dezembro de 2022, conforme alterada (“Resolução CVM 175”). a. Aprovar a alteração da denominação do Fundo, que passará a vigorar como BTG PACTUAL CERES CONFINA FUNDO DE INVESTIMENTO NAS CADEIAS PRODUTIVAS DO AGRONEGÓCIO RESPONSABILIDADE LIMITADA, e de sua Classe única, que passará a vigorar como CLASSE ÚNICA DO BTG PACTUAL CERES CONFINA FUNDO DE INVESTIMENTO NAS CADEIAS PRODUTIVAS DO AGRONEGÓCIO RESPONSABILIDADE LIMITADA (“Classe”); b. Aprovar a reforma integral do Regulamento do Fundo, bem como do Anexo descritivo da Classe, para realizar todos os ajustes necessários à implementação da Transformação, incluindo, mas não se limitando, a política de investimentos, o regime tributário e os fatores de risco aplicáveis, conforme itens abaixo; c. Aprovar a alteração do quadro de características gerais do Fundo, considerando a contratação do Cogestor pelo Gestor, nos termos do artigo 52, II, da parte geral da Resolução CVM 175 e no co</a:t>
            </a:r>
          </a:p>
          <a:p>
            <a:r>
              <a:t>CNPJ 62696791000193 · Histórico de alterações materiais · AGE · ID 1143319 · 20/03/2026 10:00 · versão AGE — referência 20/03/2026 10:00 · p. 3 · AGC, 4.1(j)–(k) · https://fnet.bmfbovespa.com.br/fnet/publico/visualizarDocumento?id=1143319</a:t>
            </a:r>
          </a:p>
          <a:p>
            <a:r>
              <a:t>CNPJ 62696791000193 · Histórico de alterações materiais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Histórico de alterações materiais · Instrumento Particular de Emissão de Cotas · ID 1148821 · 27/03/2026 · versão Instrumento Particular de Emissão de Cotas — referência 27/03/2026 · p. 1 · Deliberação Conjunta27/03/2026, item1 · https://fnet.bmfbovespa.com.br/fnet/publico/visualizarDocumento?id=1148821</a:t>
            </a:r>
          </a:p>
          <a:p>
            <a:r>
              <a:t>CNPJ 62696791000193 · Histórico de alterações materiais · Excerto da fonte:</a:t>
            </a:r>
          </a:p>
          <a:p>
            <a:r>
              <a:t>1. Aprovar a 2ª (segunda) emissão da Subclasse Subordinada Júnior da Classe, composta por até 20.000 (vinte mil) Cotas Subordinadas Júnior, com valor nominal unitário de R$ 1.000,00 (mil reais), perfazendo o montante total de R$ 20.000.000,00 (vinte milhões de reais), as quais serão objeto de colocação privada, de acordo com os termos e condições definidos no Apêndice da Subclasse Subordinada Júnior constante do Anexo I Regulamento e descritas abaixo (“2ª Emissão da Subclasse Subordinada Júnior”): a) Rito: as Cotas Subordinadas Júnior objeto da 2ª Emissão da Subclasse Subordinada Júnior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Subordinada Júnior na data de integralização, calculado na forma prevista no respectivo Apêndice; BTG Pactual 1 SAC: 0800 772 28 27 - Ouvidoria: 0800 722 00 48 - btgpactual.com</a:t>
            </a:r>
          </a:p>
          <a:p>
            <a:r>
              <a:t>CNPJ 62696791000193 · Histórico de alterações materiais · Instrumento Particular de Emissão de Cotas · ID 1148821 · 27/03/2026 · versão Instrumento Particular de Emissão de Cotas — referência 27/03/2026 · p. 2 · Deliberação Conjunta, itens2–3 · https://fnet.bmfbovespa.com.br/fnet/publico/visualizarDocumento?id=1148821</a:t>
            </a:r>
          </a:p>
          <a:p>
            <a:r>
              <a:t>CNPJ 62696791000193 · Histórico de alterações materiais · Excerto da fonte:</a:t>
            </a:r>
          </a:p>
          <a:p>
            <a:r>
              <a:t>2. Aprovar a 2ª (segunda) emissão da Subclasse Sênior da Classe, composta por até 150.000 (cento e cinquenta mil) Cotas Seniores, com valor nominal unitário de R$ 1.000,00 (mil reais), perfazendo o montante total de R$ 150.000.000,00 (cento e cinquenta milhões de reais), as quais serão objeto de colocação privada, de acordo com os termos e condições descritos no Apêndice da Subclasse Sênior constante do Anexo I Regulamento e descritas abaixo (“2ª Emissão da Subclasse Sênior”): a) Rito: as Cotas Seniores objeto da 2ª Emissão da Subclasse Sênior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Sênior na data de integralização, calculado na forma prevista no respectivo Apêndice; d) Forma de Integralização: as Cotas Seniores serão integralizadas mediante chamadas de capital, junto ao seu respectivo agente de custódia e/ou da Administradora na qualidade de escriturador das cotas, nos termos d</a:t>
            </a:r>
          </a:p>
          <a:p>
            <a:r>
              <a:t>CNPJ 62696791000193 · Histórico de alterações materiais · Versão e prevalência: Leitura específica das cláusulas indicadas; condições e conflitos preservados. Seleção documental atual não comprova vigência jurídica por data isolada.</a:t>
            </a:r>
          </a:p>
          <a:p>
            <a:r>
              <a:t>CNPJ 55563624000109 · Histórico de alterações materiais · Motivo: Não localizada uma cláusula material para este critério nos textos identificados e processados. A ausência de resultado não comprova inexistência da regra.</a:t>
            </a:r>
          </a:p>
          <a:p>
            <a:r>
              <a:t>CNPJ 62552447000120 · Histórico de alterações materiais · Ato do Administrador · ID 1200625 · 2026-05-21 · versão Ato21/05/2026 · p. 1 · itens1–2 · https://fnet.bmfbovespa.com.br/fnet/publico/visualizarDocumento?id=1200625</a:t>
            </a:r>
          </a:p>
          <a:p>
            <a:r>
              <a:t>CNPJ 62552447000120 · Histórico de alterações materiais · Excerto da fonte:</a:t>
            </a:r>
          </a:p>
          <a:p>
            <a:r>
              <a:t>Ressalta-se que não haverá qualquer alteração nos valores pagos pelos cotistas... Aprovar o novo Anexo I e Regulamento consolidados</a:t>
            </a:r>
          </a:p>
          <a:p>
            <a:r>
              <a:t>CNPJ 62552447000120 · Histórico de alterações materiais · Motivo: Não localizada uma cláusula material para este critério nos textos identificados e processados. A ausência de resultado não comprova inexistência da regra.</a:t>
            </a:r>
          </a:p>
          <a:p>
            <a:r>
              <a:t>CNPJ 62552447000120 · Histórico de alterações materiais · Versão e prevalência: Leitura específica das cláusulas indicadas; condições e conflitos preservados. Seleção documental atual não comprova vigência jurídica por data isolada.</a:t>
            </a:r>
          </a:p>
          <a:p>
            <a:r>
              <a:t>CNPJ 63953620000165 · Histórico de alterações materiais · Anexo ao Regulamento · ID 1222863 · 2026-06-02 · versão 1 · p. 19 · 12.6 · https://fnet.bmfbovespa.com.br/fnet/publico/visualizarDocumento?id=1222863</a:t>
            </a:r>
          </a:p>
          <a:p>
            <a:r>
              <a:t>CNPJ 63953620000165 · Histórico de alterações materiais · Excerto da fonte:</a:t>
            </a:r>
          </a:p>
          <a:p>
            <a:r>
              <a:t>12.6 A Classe contratou a Tudo Serviços S.A., sociedade anônima, com sede no município de Fortaleza, Estado do Ceará,  na Avenida Senador Virgulo Távora, nº 303, Lojas 02, 03, 04, 05, 06 e 19, Meireles, CEP 60.170-265, inscrita no CNPJ  sob o nº 27.852.506/0001-85, cujos deveres, sem prejuízo daqueles estabelecidos neste Regulamento, no  “Contrato de Serviços de Retenção e Cobrança e Outras Avenças”, celebrado entre o Agente de  Retenção/Cobrança e a Classe (“Contrato de Serviços MT”) e no Contrato de Endosso, consistirão no  monitoramento e cobrança dos Direitos Creditórios Inadimplidos, observado o disposto neste Anexo I e na  regulamentação aplicável (“Agente de Retenção/Cobrança”):</a:t>
            </a:r>
          </a:p>
          <a:p>
            <a:r>
              <a:t> (i) caso aplicável, atuar na retenção (defesa) de operações de empréstimo consignado cujos Direitos  Creditórios sejam de titularidade da Classe, em caso de tentativa de transferência de tais operações de  empréstimo consignado por instituições proponentes, nos termos da Resolução CMN nº 5.057, em razão de  ofertas de portabilidade feitas por tais instituições proponentes, conforme informado pelo Endossante ou pelo  Custodiante ao Agente de Retenção/Cobrança, diariamente, de acordo com o Contrato de Endosso; sendo  que tal serviço deverá incluir, entre outras atividades auxiliares a ele relacionadas, a avaliação das ofertas de  portabilidade feitas pelas instituições proponentes, buscando, se for o caso, esclarecer as vantagens de não  recorrer à portabilidade, retendo a respectiva operação de empréstimo consignado em seus termos atuais;</a:t>
            </a:r>
          </a:p>
          <a:p>
            <a:r>
              <a:t> (ii) mediante inadimplemento de um Direito Creditório devido à indisponibilidade da margem de crédito do  Devedor, auxiliar o Endossante com o Processo de Reinicialização (conforme detalhado no Contrato de  Endosso) em relação ao respectivo Direito Creditório;</a:t>
            </a:r>
          </a:p>
          <a:p>
            <a:r>
              <a:t> (iii) manter e operar um serviço de atendimento ao consumidor - SAC e uma ouvidoria em conformidade  com os regulamentos aplicáveis, monitorar e resolver reclamações e solicitações de Devedores com  relação às operações de empréstimo consignado que dão origem aos Direitos Creditórios, em  conformidade com o Acordo de Parceria;</a:t>
            </a:r>
          </a:p>
          <a:p>
            <a:r>
              <a:t> (iv) realizar a cobrança dos Direitos Creditórios Inadimplidos;</a:t>
            </a:r>
          </a:p>
          <a:p>
            <a:r>
              <a:t> (v) auxiliar o Endossante na correção de qualquer irregularidade relevante identificada com relação à  originação dos Direitos Creditórios;</a:t>
            </a:r>
          </a:p>
          <a:p>
            <a:r>
              <a:t> (vi) realizar a renegociação junto aos Devedores de Direitos Creditórios Inadimplidos e, caso aplicável, celebrar  aditamento à CCB para refletir os novos termos, decorrentes da renegociação  CAPÍTULO 13 – REMUNERAÇÃO DOS PRESTADORES DE SERVIÇOS  0,05% (cinco centésimos por cento) ao ano, apropriada diariamente na base de 252  (duzentos e cinquenta e dois) Dias Úteis, e paga mensalmente até o 5º (quinto) Dia  Útil do mês subsequente ao mês que se refere, incidente sobre o Patrimônio Líquido  da Classe alocado em Direitos Creditórios Consignado Privado e/ou Ativos de  Liquidez MT, observada remuneração mínima mensal de R$ 2.500,00 (dois mil e  quinhentos reais), a ser corrigida anualmente, em janeiro de cada ano, pela variação  Taxa de Administração  positiva do Índice Geral de Preços – Mercado, divulgado pela Fundação Getúlio  Vargas (“Taxa de Administração” e “IGP-M”, respectivamente).</a:t>
            </a:r>
          </a:p>
          <a:p>
            <a:r>
              <a:t> Na hipótese de extinção do IGP-M, não divulgação ou impossibilidade de sua  utilização, será utilizado o Índice Geral de Preços – Disponibilidade Interna,  divulgado pela Fundação Getúlio Vargas, ou, na falta de ambos, pela variação do IPC  – Índice de Preços ao Consumidor, divulgado pela Fundação Instituto de Pesquisas</a:t>
            </a:r>
          </a:p>
          <a:p>
            <a:r>
              <a:t>CNPJ 63953620000165 · Histórico de alterações materiais · Condição: Documentos atuais selecionados no inventário por categoria/escopo; a data documental isolada não comprova vigência jurídica.</a:t>
            </a:r>
          </a:p>
          <a:p>
            <a:r>
              <a:t>CNPJ 63953620000165 · Histórico de alterações materiais · Versão e prevalência: Documentos atuais selecionados no inventário por categoria/escopo; a data documental isolada não comprova vigência jurídica.</a:t>
            </a:r>
          </a:p>
          <a:p>
            <a:r>
              <a:t>CNPJ 54871427000194 · Auditor independente e DFs · Demonstrações Financeiras - Fusão, cisão e incorporação · ID 1219522 · 2026-02-02 · versão 1 · p. 23 · https://fnet.bmfbovespa.com.br/fnet/publico/visualizarDocumento?id=1219522</a:t>
            </a:r>
          </a:p>
          <a:p>
            <a:r>
              <a:t>CNPJ 54871427000194 · Auditor independente e DFs · Excerto da fonte:</a:t>
            </a:r>
          </a:p>
          <a:p>
            <a:r>
              <a:t>x) Possibilidade de aquisição de Direitos Creditórios cedidos por Endossante e/ou devidos por  Devedores cujas demonstrações financeiras não sejam auditadas. A Classe, desde que sejam  respeitados os limites de concentração previstos no Regulamento, poderá manter a qualquer  tempo em sua Carteira, Direitos Creditórios cedidos por Endossante e/ou devidos por Devedores  cujas demonstrações financeiras não sejam auditadas por Auditor Independente registrado na</a:t>
            </a:r>
          </a:p>
          <a:p>
            <a:r>
              <a:t>CNPJ 54871427000194 · Auditor independente e DFs · Demonstrações Financeiras - Fusão, cisão e incorporação · ID 1219522 · 2026-02-02 · versão 1 · p. 2 · https://fnet.bmfbovespa.com.br/fnet/publico/visualizarDocumento?id=1219522</a:t>
            </a:r>
          </a:p>
          <a:p>
            <a:r>
              <a:t>CNPJ 54871427000194 · Auditor independente e DFs · Excerto da fonte:</a:t>
            </a:r>
          </a:p>
          <a:p>
            <a:r>
              <a:t>Classe Única de Responsabilidade Limitada do Consignado Delta Receivables I Fundo de Investimento em  Direitos Creditórios  Demonstrações financeiras em  2 de fevereiro de 2026 (data da incorporação da Classe)</a:t>
            </a:r>
          </a:p>
          <a:p>
            <a:r>
              <a:t>CNPJ 54871427000194 · Auditor independente e DFs · Demonstrações Financeiras - Fusão, cisão e incorporação · ID 1219522 · 2026-02-02 · versão 1 · p. 3 · https://fnet.bmfbovespa.com.br/fnet/publico/visualizarDocumento?id=1219522</a:t>
            </a:r>
          </a:p>
          <a:p>
            <a:r>
              <a:t>CNPJ 54871427000194 · Auditor independente e DFs · Excerto da fonte:</a:t>
            </a:r>
          </a:p>
          <a:p>
            <a:r>
              <a:t>Examinamos as demonstrações financeiras da Classe Única de Responsabilidade Limitada do  Consignado Delta Receivables I Fundo de Investimento em Direitos Creditórios (“Classe”),  administrada pela BTG Pactual Serviços Financeiros S.A. Distribuidora de Títulos e Valores Mobiliários  (“Administradora”), que compreendem a demonstração da posição financeira em 2 de fevereiro de  2026 e as respectivas demonstrações do resultado e do resultado abrangente, das evoluções do  patrimônio líquido e dos fluxos de caixa para o período de 1° de janeiro de 2026 (data de início do  exercício social da Classe) a 2 de fevereiro de 2026 (data da incorporação da Classe), bem como as  correspondentes notas explicativas, incluindo as políticas contábeis materiais e outras informações  elucidativas.</a:t>
            </a:r>
          </a:p>
          <a:p>
            <a:r>
              <a:t> Em nossa opinião, as demonstrações financeiras acima referidas apresentam adequadamente, em  todos os aspectos relevantes, a posição patrimonial e financeira da Classe Única de Responsabilidade  Limitada do Consignado Delta Receivables I Fundo de Investimento em Direitos Creditórios em 2 de  fevereiro de 2026 e o desempenho de suas operações e os seus fluxos de caixa para o período de 1°  de janeiro de 2026 a 2 de fevereiro de 2026, de acordo com as práticas contábeis adotadas no Brasil  aplicáveis aos fundos de investimento em direitos creditórios.</a:t>
            </a:r>
          </a:p>
          <a:p>
            <a:r>
              <a:t>CNPJ 54871427000194 · Auditor independente e DFs · Condição: Documentos atuais selecionados no inventário por categoria/escopo; a data documental isolada não comprova vigência jurídica.</a:t>
            </a:r>
          </a:p>
          <a:p>
            <a:r>
              <a:t>CNPJ 54871427000194 · Auditor independente e DFs · Versão e prevalência: Documentos atuais selecionados no inventário por categoria/escopo; a data documental isolada não comprova vigência jurídica.</a:t>
            </a:r>
          </a:p>
          <a:p>
            <a:r>
              <a:t>CNPJ 54871427000194 · Auditor independente e DFs · Resumo do histórico: {"count": 6, "dates": ["2025-01-01", "2025-04-15", "2025-12-31"], "document_count": 3, "sources": [{"document_id": "1151805", "title": "Demonstrações Financeiras", "reference_date": "2025-12-31", "version": "1", "page": 23, "url": "https://fnet.bmfbovespa.com.br/fnet/publico/visualizarDocumento?id=1151805", "sha256": "f1cea70b152968bf96ef9221b27225953cb20aeef487b2798db3c25e11b528d4"}, {"document_id": "883217", "title": "AGO", "reference_date": "2025-04-15", "version": "1", "page": 1, "url": "https://fnet.bmfbovespa.com.br/fnet/publico/visualizarDocumento?id=883217", "sha256": "233467aa4aa6265d253b610668cde19344ec99af4adf4df934c6a1bd88b9a044"}, {"document_id": "869529", "title": "Demonstrações Financeiras", "reference_date": "2025-01-01", "version": "1", "page": 23, "url": "https://fnet.bmfbovespa.com.br/fnet/publico/visualizarDocumento?id=869529", "sha256": "9a93a9369ac8efdbc54ff8fcee3ccac3abf88edab4807b9323d3852450771b2a"}], "reference": {"path": "history/54871427000194.json", "criterion_id": "audit", "total_count": 6, "preview_count": 3, "full_text_deferred": true, "sha256": "35d7cd99be50c7287c9fb675cf4f2e736002315295a225a9efa79c8d9186d874"}}</a:t>
            </a:r>
          </a:p>
          <a:p>
            <a:r>
              <a:t>CNPJ 60010416000112 · Auditor independente e DFs · AGE · ID 1313936 · 2026-08-31 · versão 1 · p. 1 · https://fnet.bmfbovespa.com.br/fnet/publico/visualizarDocumento?id=1313936</a:t>
            </a:r>
          </a:p>
          <a:p>
            <a:r>
              <a:t>CNPJ 60010416000112 · Auditor independente e DFs · Excerto da fonte:</a:t>
            </a:r>
          </a:p>
          <a:p>
            <a:r>
              <a:t>(d) Fica a Administradora autorizada a levantar, na Data da Cisão, demonstrações contábeis da  Classe, as quais darão suporte à realização da Cisão ora deliberada. As demonstrações contábeis  deverão ser auditadas, em conformidade com o art. 120, da Parte Geral, da Resolução CVM 175;</a:t>
            </a:r>
          </a:p>
          <a:p>
            <a:r>
              <a:t>CNPJ 60010416000112 · Auditor independente e DFs · Condição: Documentos atuais selecionados no inventário por categoria/escopo; a data documental isolada não comprova vigência jurídica.</a:t>
            </a:r>
          </a:p>
          <a:p>
            <a:r>
              <a:t>CNPJ 60010416000112 · Auditor independente e DFs · Versão e prevalência: Documentos atuais selecionados no inventário por categoria/escopo; a data documental isolada não comprova vigência jurídica.</a:t>
            </a:r>
          </a:p>
          <a:p>
            <a:r>
              <a:t>CNPJ 60010416000112 · Auditor independente e DFs · Resumo do histórico: {"count": 11, "dates": ["2026-04-16", "2026-05-08", "2026-07-29"], "document_count": 3, "sources": [{"document_id": "1277540", "title": "AGE", "reference_date": "2026-07-29", "version": "1", "page": 1, "url": "https://fnet.bmfbovespa.com.br/fnet/publico/visualizarDocumento?id=1277540", "sha256": "7a9b65092af34917f99f22b62eb7d248d67149b9c91dd87b07b924b9601ee9b0"}, {"document_id": "1298690", "title": "Demonstrações Financeiras - Fusão, cisão e incorporação", "reference_date": "2026-05-08", "version": "1", "page": 1, "url": "https://fnet.bmfbovespa.com.br/fnet/publico/visualizarDocumento?id=1298690", "sha256": "d979f7f7cf866a68b7fbc65c46fd726b7bcc13f9d0b809190857a9b465be7be2"}, {"document_id": "1282181", "title": "Demonstrações Financeiras - Fusão, cisão e incorporação", "reference_date": "2026-04-16", "version": "1", "page": 1, "url": "https://fnet.bmfbovespa.com.br/fnet/publico/visualizarDocumento?id=1282181", "sha256": "b1c6566e43a00bcd00c8a7f30c77b7f86e351bd8e355bbea113f46d1dafda703"}], "reference": {"path": "history/60010416000112.json", "criterion_id": "audit", "total_count": 11, "preview_count": 3, "full_text_deferred": true, "sha256": "8e2bd813f4c51cf01f6bfaad164bafe69d2bbb192f753eac92da3a01c2e63046"}}</a:t>
            </a:r>
          </a:p>
          <a:p>
            <a:r>
              <a:t>CNPJ 62696791000193 · Auditor independente e DFs · Regulamento · ID 1143317 · 2026-03-20 · versão 1 · p. 5 · 4.1.7 · https://fnet.bmfbovespa.com.br/fnet/publico/visualizarDocumento?id=1143317</a:t>
            </a:r>
          </a:p>
          <a:p>
            <a:r>
              <a:t>CNPJ 62696791000193 · Auditor independente e DFs · Excerto da fonte:</a:t>
            </a:r>
          </a:p>
          <a:p>
            <a:r>
              <a:t>4.1.7 As demonstrações contábeis cujo relatório de auditoria não contiver opinião modificada podem  ser consideradas automaticamente aprovadas caso a assembleia correspondente não seja  instalada em virtude do não comparecimento de quaisquer Cotistas.</a:t>
            </a:r>
          </a:p>
          <a:p>
            <a:r>
              <a:t>CNPJ 62696791000193 · Auditor independente e DFs · Regulamento · ID 1143317 · 2026-03-20 · versão 1 · p. 23 · 10.12 · https://fnet.bmfbovespa.com.br/fnet/publico/visualizarDocumento?id=1143317</a:t>
            </a:r>
          </a:p>
          <a:p>
            <a:r>
              <a:t>CNPJ 62696791000193 · Auditor independente e DFs · Excerto da fonte:</a:t>
            </a:r>
          </a:p>
          <a:p>
            <a:r>
              <a:t>10.12 O representante dos Cotistas será eleito com prazo de mandato a se encerrar na próxima Assembleia  de Cotistas que deliberar sobre a aprovação de demonstrações contábeis do Fundo, sendo permitida  a reeleição.</a:t>
            </a:r>
          </a:p>
          <a:p>
            <a:r>
              <a:t>CNPJ 62696791000193 · Auditor independente e DFs · Condição: Documentos atuais selecionados no inventário por categoria/escopo; a data documental isolada não comprova vigência jurídica.</a:t>
            </a:r>
          </a:p>
          <a:p>
            <a:r>
              <a:t>CNPJ 62696791000193 · Auditor independente e DFs · Versão e prevalência: Documentos atuais selecionados no inventário por categoria/escopo; a data documental isolada não comprova vigência jurídica.</a:t>
            </a:r>
          </a:p>
          <a:p>
            <a:r>
              <a:t>CNPJ 55563624000109 · Auditor independente e DFs · Regulamento · ID 1192614 · 2026-04-30 · versão 1 · p. 24 · 12.3 · https://fnet.bmfbovespa.com.br/fnet/publico/visualizarDocumento?id=1192614</a:t>
            </a:r>
          </a:p>
          <a:p>
            <a:r>
              <a:t>CNPJ 55563624000109 · Auditor independente e DFs · Excerto da fonte:</a:t>
            </a:r>
          </a:p>
          <a:p>
            <a:r>
              <a:t>12.3 Incluem-se entre as obrigações do ADMINISTRADOR, sem prejuízo de outras previstas na regulamentação:</a:t>
            </a:r>
          </a:p>
          <a:p>
            <a:r>
              <a:t> (i) sem prejuízo da observância dos procedimentos relativos às demonstrações contábeis, manter,  separadamente, registros com informações completas sobre toda e qualquer modalidade de negociação  realizada entre o ADMINISTRADOR, GESTOR, CUSTODIANTE, e/ou suas respectivas partes relacionadas,  tais como definidas pelas regras contábeis que tratam desse assunto, de um lado; e a Classe, de outro;</a:t>
            </a:r>
          </a:p>
          <a:p>
            <a:r>
              <a:t> (ii) diligenciar para que sejam mantidos, às suas expensas, atualizados e em perfeita ordem:</a:t>
            </a:r>
          </a:p>
          <a:p>
            <a:r>
              <a:t> (a) o registro de Cotistas;</a:t>
            </a:r>
          </a:p>
          <a:p>
            <a:r>
              <a:t> (b) o livro de atas das Assembleias de Cotistas;</a:t>
            </a:r>
          </a:p>
          <a:p>
            <a:r>
              <a:t> (c) o livro ou lista de presença de Cotistas;</a:t>
            </a:r>
          </a:p>
          <a:p>
            <a:r>
              <a:t> (d) os pareceres do Auditor Independente; e</a:t>
            </a:r>
          </a:p>
          <a:p>
            <a:r>
              <a:t> (e) os registros contábeis referentes às operações e ao patrimônio da Classe;</a:t>
            </a:r>
          </a:p>
          <a:p>
            <a:r>
              <a:t> (iii) pagar a multa cominatória às suas expensas, nos termos da legislação vigente, por cada dia de atraso no  cumprimento dos prazos previstos na regulamentação aplicável;</a:t>
            </a:r>
          </a:p>
          <a:p>
            <a:r>
              <a:t> (iv) elaborar e divulgar as informações periódicas e eventuais da Classe, nos termos deste Anexo e da  regulamentação e da autorregulação em vigor;</a:t>
            </a:r>
          </a:p>
          <a:p>
            <a:r>
              <a:t> (v) manter atualizada junto à CVM a lista de todos os prestadores de serviços contratados pela Classe,  inclusive os Prestadores de Serviços Essenciais, bem como as demais informações cadastrais da Classe e  suas Subclasses;</a:t>
            </a:r>
          </a:p>
          <a:p>
            <a:r>
              <a:t> (vi) manter serviço de atendimento aos Cotistas, responsável pelo esclarecimento de dúvidas e pelo  recebimento de reclamações;</a:t>
            </a:r>
          </a:p>
          <a:p>
            <a:r>
              <a:t> (vii) receber e processar os pedidos de resgate;</a:t>
            </a:r>
          </a:p>
          <a:p>
            <a:r>
              <a:t> (viii) monitorar os Eventos de Verificação do Patrimônio;</a:t>
            </a:r>
          </a:p>
          <a:p>
            <a:r>
              <a:t> (ix) monitorar os Eventos de Avaliação e Eventos de Liquidação;</a:t>
            </a:r>
          </a:p>
          <a:p>
            <a:r>
              <a:t> (x) observar as disposições constantes do Regulamento;</a:t>
            </a:r>
          </a:p>
          <a:p>
            <a:r>
              <a:t> (xi) cumprir as deliberações da Assembleia de Cotistas; e</a:t>
            </a:r>
          </a:p>
          <a:p>
            <a:r>
              <a:t> (xii) observar as disposições do Código ANBIMA e das Regras e Procedimentos ANBIMA</a:t>
            </a:r>
          </a:p>
          <a:p>
            <a:r>
              <a:t>CNPJ 55563624000109 · Auditor independente e DFs · Regulamento · ID 1192614 · 2026-04-30 · versão 1 · p. 4 · 4.6.1 · https://fnet.bmfbovespa.com.br/fnet/publico/visualizarDocumento?id=1192614</a:t>
            </a:r>
          </a:p>
          <a:p>
            <a:r>
              <a:t>CNPJ 55563624000109 · Auditor independente e DFs · Excerto da fonte:</a:t>
            </a:r>
          </a:p>
          <a:p>
            <a:r>
              <a:t>4.6.1 As deliberações relativas às matérias elencadas nos incisos abaixo serão tomadas, em primeira  convocação ou em segunda convocação, conforme os quóruns dispostos abaixo, em sede assembleia  geral de cotistas ou de assembleia especial de cotistas, conforme o caso:</a:t>
            </a:r>
          </a:p>
          <a:p>
            <a:r>
              <a:t> MATÉRIA SUJEITA À APROVAÇÃO QUÓRUM DE DELIBERAÇÃO</a:t>
            </a:r>
          </a:p>
          <a:p>
            <a:r>
              <a:t> (i) aprovação das demonstrações contábeis do FUNDO; Maioria do total das Cotas emitidas</a:t>
            </a:r>
          </a:p>
          <a:p>
            <a:r>
              <a:t>CNPJ 55563624000109 · Auditor independente e DFs · Regulamento · ID 1192614 · 2026-04-30 · versão 1 · p. 10 · 3.1 · https://fnet.bmfbovespa.com.br/fnet/publico/visualizarDocumento?id=1192614</a:t>
            </a:r>
          </a:p>
          <a:p>
            <a:r>
              <a:t>CNPJ 55563624000109 · Auditor independente e DFs · Excerto da fonte:</a:t>
            </a:r>
          </a:p>
          <a:p>
            <a:r>
              <a:t>3.1 A Classe terá Encargos que lhe poderão ser debitados diretamente, nos termos da Resolução CVM 175, e  quaisquer despesas que não constituam Encargos correm por conta do Prestador de Serviço Essencial que a tiver  contratado, incluindo, sem se limitar a:</a:t>
            </a:r>
          </a:p>
          <a:p>
            <a:r>
              <a:t> (i) Taxa de performance, se houver;</a:t>
            </a:r>
          </a:p>
          <a:p>
            <a:r>
              <a:t> (ii) Taxas, impostos ou contribuições federais, estaduais, municipais ou autárquicas, que recaiam ou  venham a recair sobre os bens, direitos e obrigações da Classe;</a:t>
            </a:r>
          </a:p>
          <a:p>
            <a:r>
              <a:t> (iii) Despesas com o registro de documentos, impressão, expedição e publicação de relatórios e informações  periódicas previstas na Resolução CVM 175;</a:t>
            </a:r>
          </a:p>
          <a:p>
            <a:r>
              <a:t> (iv) Despesas com correspondências de interesse do FUNDO ou da Classe, inclusive comunicações aos  Cotistas;</a:t>
            </a:r>
          </a:p>
          <a:p>
            <a:r>
              <a:t> (v) Honorários e despesas do Auditor Independente;</a:t>
            </a:r>
          </a:p>
          <a:p>
            <a:r>
              <a:t> BTG Pactual  SAC: 0800 772 28 27 - Ouvidoria: 0800 722 00 48 - btgpactual.com  3</a:t>
            </a:r>
          </a:p>
          <a:p>
            <a:r>
              <a:t>CNPJ 55563624000109 · Auditor independente e DFs · Condição: Documentos atuais selecionados no inventário por categoria/escopo; a data documental isolada não comprova vigência jurídica.</a:t>
            </a:r>
          </a:p>
          <a:p>
            <a:r>
              <a:t>CNPJ 55563624000109 · Auditor independente e DFs · Versão e prevalência: Documentos atuais selecionados no inventário por categoria/escopo; a data documental isolada não comprova vigência jurídica.</a:t>
            </a:r>
          </a:p>
          <a:p>
            <a:r>
              <a:t>CNPJ 55563624000109 · Auditor independente e DFs · Resumo do histórico: {"count": 2, "dates": ["2025-01-31", "2026-01-31"], "document_count": 2, "sources": [{"document_id": "1178840", "title": "Demonstrações Financeiras", "reference_date": "2026-01-31", "version": "1", "page": 4, "url": "https://fnet.bmfbovespa.com.br/fnet/publico/visualizarDocumento?id=1178840", "sha256": "c458e98664c5c907ddb5a05a94b120bed4e05295b2bfc420f5ba69af0a229abe"}, {"document_id": "891861", "title": "Demonstrações Financeiras", "reference_date": "2025-01-31", "version": "1", "page": 2, "url": "https://fnet.bmfbovespa.com.br/fnet/publico/visualizarDocumento?id=891861", "sha256": "e9cb9e6ddbe505fe068cfcac33605165a98313489de0d3ce6d4d238263c3f3e7"}], "reference": {"path": "history/55563624000109.json", "criterion_id": "audit", "total_count": 2, "preview_count": 2, "full_text_deferred": true, "sha256": "7835d573fb58a3c19adf5b8ecc2aee2bdbb9a88f7a0c0209b5f262b64c7522e3"}}</a:t>
            </a:r>
          </a:p>
          <a:p>
            <a:r>
              <a:t>CNPJ 62552447000120 · Auditor independente e DFs · Regulamento · ID 1200623 · 2026-05-21 · versão 1 · p. 4 · 4.1.6 · https://fnet.bmfbovespa.com.br/fnet/publico/visualizarDocumento?id=1200623</a:t>
            </a:r>
          </a:p>
          <a:p>
            <a:r>
              <a:t>CNPJ 62552447000120 · Auditor independente e DFs · Excerto da fonte:</a:t>
            </a:r>
          </a:p>
          <a:p>
            <a:r>
              <a:t>4.1.6 As demonstrações contábeis cujo relatório de auditoria não contiver opinião modificada podem  ser consideradas automaticamente aprovadas caso a Assembleia Geral correspondente não  seja instalada em virtude do não comparecimento de quaisquer Cotistas.</a:t>
            </a:r>
          </a:p>
          <a:p>
            <a:r>
              <a:t>CNPJ 62552447000120 · Auditor independente e DFs · Regulamento · ID 1200623 · 2026-05-21 · versão 1 · p. 29 · 12.16 · https://fnet.bmfbovespa.com.br/fnet/publico/visualizarDocumento?id=1200623</a:t>
            </a:r>
          </a:p>
          <a:p>
            <a:r>
              <a:t>CNPJ 62552447000120 · Auditor independente e DFs · Excerto da fonte:</a:t>
            </a:r>
          </a:p>
          <a:p>
            <a:r>
              <a:t>12.16 Os serviços de auditoria das demonstrações f inanceiras e demais contas da Classe serão prestados  por Auditor Independente contratado pelo Administrador. Pelos serviços prestados, o Auditor  Independente f ará jus ao recebimento de remuneração a ser def inida em contrato específico, a qual  será paga pela Classe.</a:t>
            </a:r>
          </a:p>
          <a:p>
            <a:r>
              <a:t>CAPÍTULO 13 – TAXA GLOBAL</a:t>
            </a:r>
          </a:p>
          <a:p>
            <a:r>
              <a:t>CNPJ 62552447000120 · Auditor independente e DFs · Condição: Documentos atuais selecionados no inventário por categoria/escopo; a data documental isolada não comprova vigência jurídica.</a:t>
            </a:r>
          </a:p>
          <a:p>
            <a:r>
              <a:t>CNPJ 62552447000120 · Auditor independente e DFs · Versão e prevalência: Documentos atuais selecionados no inventário por categoria/escopo; a data documental isolada não comprova vigência jurídica.</a:t>
            </a:r>
          </a:p>
          <a:p>
            <a:r>
              <a:t>CNPJ 63953620000165 · Auditor independente e DFs · Anexo ao Regulamento · ID 1222863 · 2026-06-02 · versão 1 · p. 4 · 3.4 · https://fnet.bmfbovespa.com.br/fnet/publico/visualizarDocumento?id=1222863</a:t>
            </a:r>
          </a:p>
          <a:p>
            <a:r>
              <a:t>CNPJ 63953620000165 · Auditor independente e DFs · Excerto da fonte:</a:t>
            </a:r>
          </a:p>
          <a:p>
            <a:r>
              <a:t>3.4 Adicionalmente aos Encargos, as seguintes despesas serão debitadas diretamente da Classe, nos termos do art.</a:t>
            </a:r>
          </a:p>
          <a:p>
            <a:r>
              <a:t> 51 do Anexo Normativo II da Resolução CVM 175 (“Despesas Adicionais”):</a:t>
            </a:r>
          </a:p>
          <a:p>
            <a:r>
              <a:t> (i) Despesas com registro de Direitos Creditórios;</a:t>
            </a:r>
          </a:p>
          <a:p>
            <a:r>
              <a:t> (ii) Despesas com serviços de originação, cobranças ordinária e/ou extraordinária dos Direitos Creditórios,  e/ou verificação de lastro dos Direitos Creditórios, conforme aplicável;</a:t>
            </a:r>
          </a:p>
          <a:p>
            <a:r>
              <a:t> (iii) Despesas com a contratação de atividades relacionadas à verificação de lastro;</a:t>
            </a:r>
          </a:p>
          <a:p>
            <a:r>
              <a:t> (iv) Despesas com a contratação de Agente de Retenção/Cobrança; Despesas com a contratação de  consultoria especializada, conforme o caso;</a:t>
            </a:r>
          </a:p>
          <a:p>
            <a:r>
              <a:t> (v) Remuneração do Custodiante;</a:t>
            </a:r>
          </a:p>
          <a:p>
            <a:r>
              <a:t> (vi) Despesas com honorários advocatícios para quaisquer assuntos de interesse da Classe, seja na esfera  judicial ou extrajudicial, inclusive consultivo;</a:t>
            </a:r>
          </a:p>
          <a:p>
            <a:r>
              <a:t> (vii) Despesas com a assinatura e registro dos Termos de Endosso, conforme aplicável, junto aos  competentes cartórios de Registro de Títulos e Documentos;</a:t>
            </a:r>
          </a:p>
          <a:p>
            <a:r>
              <a:t> (viii) Despesas inerentes à distribuição primária de Cotas, inclusive a contratação e remuneração do  distribuidor das Cotas para cada oferta de Cotas da Classe, nos termos de cada contrato de distribuição  e honorários devidos ao(s) assessor(es) legal(is) de cada oferta, assim como despesas com o registro das  Cotas na CVM, ANBIMA e/ou na entidade de mercado organizado em que as cotas sejam registradas,  conforme aplicável;</a:t>
            </a:r>
          </a:p>
          <a:p>
            <a:r>
              <a:t> (ix) Taxas de fiscalização da CVM e/ou ANBIMA, conforme aplicável; e</a:t>
            </a:r>
          </a:p>
          <a:p>
            <a:r>
              <a:t> (x) Despesas com contratação e remuneração do Auditor Independente e da Agência Classificadora de  Risco.</a:t>
            </a:r>
          </a:p>
          <a:p>
            <a:r>
              <a:t>CNPJ 63953620000165 · Auditor independente e DFs · Condição: Documentos atuais selecionados no inventário por categoria/escopo; a data documental isolada não comprova vigência jurídica.</a:t>
            </a:r>
          </a:p>
          <a:p>
            <a:r>
              <a:t>CNPJ 63953620000165 · Auditor independente e DFs · Motivo: Cláusula primária localizada e citada, mas sua lista/condições extensas não admitem uma síntese literal curta confirmada. O trecho integral permanece nas fontes.</a:t>
            </a:r>
          </a:p>
          <a:p>
            <a:r>
              <a:t>CNPJ 63953620000165 · Auditor independente e DFs · Versão e prevalência: Documentos atuais selecionados no inventário por categoria/escopo; a data documental isolada não comprova vigência jurídica.</a:t>
            </a:r>
          </a:p>
          <a:p>
            <a:r>
              <a:t>CNPJ 63953620000165 · Auditor independente e DFs · Resumo do histórico: {"count": 8, "dates": ["2026-04-28", "2026-05-08", "2026-05-15"], "document_count": 3, "sources": [{"document_id": "1327859", "title": "Demonstrações Financeiras - Fusão, cisão e incorporação", "reference_date": "2026-05-15", "version": "1", "page": 1, "url": "https://fnet.bmfbovespa.com.br/fnet/publico/visualizarDocumento?id=1327859", "sha256": "dca1c68babb97f887528c3e2e47596a9c30f507b067981a35655b2f2da9c8054"}, {"document_id": "1298691", "title": "Demonstrações Financeiras - Fusão, cisão e incorporação", "reference_date": "2026-05-08", "version": "1", "page": 1, "url": "https://fnet.bmfbovespa.com.br/fnet/publico/visualizarDocumento?id=1298691", "sha256": "58c570d9b8d4d265330d3db3ea81c435b8e44a6dab4002aa37790652a1ee9819"}, {"document_id": "1282180", "title": "Demonstrações Financeiras - Fusão, cisão e incorporação", "reference_date": "2026-04-28", "version": "1", "page": 1, "url": "https://fnet.bmfbovespa.com.br/fnet/publico/visualizarDocumento?id=1282180", "sha256": "afaaa0e6809be4385e5bdb6c911aac582032c5bdbac3d7750234bf9eaf00438a"}], "reference": {"path": "history/63953620000165.json", "criterion_id": "audit",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Governança e alterações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Quóruns e matérias reservadas · Regulamento · ID 670691 · 28/04/2024 · versão Regulamento — referência 28/04/2024 · p. 4 · Parte Geral, 4.4–4.4.1 · https://fnet.bmfbovespa.com.br/fnet/publico/visualizarDocumento?id=670691</a:t>
            </a:r>
          </a:p>
          <a:p>
            <a:r>
              <a:t>CNPJ 54871427000194 · Quóruns e matérias reservadas · Excerto da fonte:</a:t>
            </a:r>
          </a:p>
          <a:p>
            <a:r>
              <a:t>4.4 Ressalvadas as exceções descritas neste Regulamento, toda e qualquer matéria submetida à deliberação dos cotistas deverá ser aprovada por maioria dos votos dos presentes. 4.4.1 As deliberações relativas às matérias elencadas nos incisos abaixo serão tomadas, em primeira convocação ou em segunda convocação, pelos votos dos titulares da maioria das cotas em circulação, em sede assembleia geral de cotistas ou de assembleia especial de cotistas, conf orme o caso: (i) aprovação das demonstrações contábeis do FUNDO; (ii) alteração da Parte Geral deste Regulamento; (iii) substituição ou remoção do Prestador de Serviços Essenciais do FUNDO, ressalvada a possibilidade prevista no Art. 70, §1º, da Parte Geral da Resolução CVM 175; (iv) alterações nos quóruns de deliberação def inidos neste Regulamento; (v) cobrança de taxas e encargos pelo ADMINISTRADOR, de qualquer natureza, que não estejam expressamente previstos neste Regulamento; (vi) liquidação do FUNDO. (vii) plano de resolu</a:t>
            </a:r>
          </a:p>
          <a:p>
            <a:r>
              <a:t>CNPJ 54871427000194 · Quóruns e matérias reservadas · Regulamento · ID 670691 · 28/04/2024 · versão Regulamento — referência 28/04/2024 · p. 17 · Anexo I, 10.1 · https://fnet.bmfbovespa.com.br/fnet/publico/visualizarDocumento?id=670691</a:t>
            </a:r>
          </a:p>
          <a:p>
            <a:r>
              <a:t>CNPJ 54871427000194 · Quóruns e matérias reservadas · Excerto da fonte:</a:t>
            </a:r>
          </a:p>
          <a:p>
            <a:r>
              <a:t>10.1 Sem prejuízo de outros requisitos e inf ormações previstos na regulamentação vigente, são aplicáveis à Assembleia Especial de Cotistas as mesmas disposições procedimentais da Assembleia Geral de Cotistas. 10.2 A Assembleia Especial de Cotistas é responsável por deliberar sobre as matérias específicas da Classe de Cotas, sem prejuízo das demais disposições previstas na regulamentação aplicável, incluindo, mas não se limitando a: (i) deliberar sobre as demonstrações contábeis da Classe; (ii) deliberar sobre substituição de Prestadores de Serviços Essenciais, observado o disposto no art. 70, §1º da parte geral da Resolução CVM 175; (iii) deliberar sobre elevação da Taxa de Administração, inclusive na hipótese de restabelecimento de taxa que tenha sido objeto de redução; (iv) deliberar sobre incorporação, f usão, cisão total ou parcial, a transf ormação ou liquidação da Classe; (v) alterações das características, vantagens, direitos e obrigações das Cotas; (vi) alterar critérios e procedimentos para Amortização e/ou resgate de Cotas mediante dação em pagamento de Direitos Creditórios; (vii) a</a:t>
            </a:r>
          </a:p>
          <a:p>
            <a:r>
              <a:t>CNPJ 54871427000194 · Quóruns e matérias reservadas · Versão e prevalência: Leitura específica das cláusulas indicadas; condições e conflitos preservados. Seleção documental atual não comprova vigência jurídica por data isolada.</a:t>
            </a:r>
          </a:p>
          <a:p>
            <a:r>
              <a:t>CNPJ 54871427000194 · Quóruns e matérias reservadas · Resumo do histórico: {"count": 1, "dates": ["2024-04-19"], "document_count": 1, "sources": [{"document_id": "670689", "title": "Regulamento", "reference_date": "2024-04-19", "version": "1", "page": 20, "clause": "11.6", "url": "https://fnet.bmfbovespa.com.br/fnet/publico/visualizarDocumento?id=670689", "sha256": "891bc9bc5d87bbc02ec139077a84d2702eb81ea02035fb71d24f5b8366b94a0b"}], "reference": {"path": "history/54871427000194.json", "criterion_id": "quorum", "total_count": 1, "preview_count": 1, "full_text_deferred": true, "sha256": "35d7cd99be50c7287c9fb675cf4f2e736002315295a225a9efa79c8d9186d874"}}</a:t>
            </a:r>
          </a:p>
          <a:p>
            <a:r>
              <a:t>CNPJ 60010416000112 · Quóruns e matérias reservadas · Regulamento · ID 1051393 · 09/10/2025 · versão Regulamento09/10/2025 · p. 18 · AnexoI9.2(ii)–(xvii) · https://fnet.bmfbovespa.com.br/fnet/publico/visualizarDocumento?id=1051393</a:t>
            </a:r>
          </a:p>
          <a:p>
            <a:r>
              <a:t>CNPJ 60010416000112 · Quóruns e matérias reservadas · Excerto da fonte:</a:t>
            </a:r>
          </a:p>
          <a:p>
            <a:r>
              <a:t>(ii) alterar este Anexo I e seus complementos, incluindo mas não se limitando aos Apêndices de cada uma das subclasses; (iii) deliberar sobre substituição de Prestadores de Serviços Essenciais, observado o disposto no Art. 70, §1º da parte geral da Resolução CVM 175, quando aplicável, ou do Custodiante; (iv) deliberar sobre elevação da Taxa de Administração, inclusive na hipótese de restabelecimento de taxa que tenha sido objeto de redução; (v) deliberar sobre incorporação, fusão, cisão total ou parcial, a transformação ou liquidação da Classe; (vi) alter</a:t>
            </a:r>
          </a:p>
          <a:p>
            <a:r>
              <a:t>CNPJ 60010416000112 · Quóruns e matérias reservadas · Regulamento · ID 1051393 · 09/10/2025 · versão Regulamento09/10/2025 · p. 19 · AnexoI9.8–9.9 · https://fnet.bmfbovespa.com.br/fnet/publico/visualizarDocumento?id=1051393</a:t>
            </a:r>
          </a:p>
          <a:p>
            <a:r>
              <a:t>CNPJ 60010416000112 · Quóruns e matérias reservadas · Excerto da fonte:</a:t>
            </a:r>
          </a:p>
          <a:p>
            <a:r>
              <a:t>9.8 As deliberações constantes dos incisos (ii), (iii), (iv), (v), (vi), (vii), (x), (xi), (xii), (xiii) e (xvii) acima, apenas serão aprovadas, seja em primeira ou em segunda convocação, por unanimidade dos votos dos titulares das Cotas em circulação. 9.9 As deliberações relativas aos demais incisos do item 9.2 acima apenas serão aprovadas, seja em primeira ou em segunda convocação, mediante o voto favorável dos Cotistas que representem a maioria das Cotas emitidas pela Classe. 9.10 Somente os Cotistas, seus representantes legais ou procuradores legalmente nomeados há menos de 1 (um) ano ter</a:t>
            </a:r>
          </a:p>
          <a:p>
            <a:r>
              <a:t>CNPJ 60010416000112 · Quóruns e matérias reservadas · Versão e prevalência: Leitura específica das cláusulas indicadas; condições e conflitos preservados. Seleção documental atual não comprova vigência jurídica por data isolada.</a:t>
            </a:r>
          </a:p>
          <a:p>
            <a:r>
              <a:t>CNPJ 60010416000112 · Quóruns e matérias reservadas · Resumo do histórico: {"count": 3, "dates": ["2025-03-20", "2025-05-09", "2025-05-12"], "document_count": 3, "sources": [{"document_id": "1004656", "title": "AGE", "reference_date": "2025-05-12", "version": "1", "page": 1, "url": "https://fnet.bmfbovespa.com.br/fnet/publico/visualizarDocumento?id=1004656", "sha256": "f6c9c009f6170e2b29f074b98522accec73f0c40efbf11f9ec2c8d3f1402616b"}, {"document_id": "911262", "title": "AGE", "reference_date": "2025-05-09", "version": "1", "page": 1, "url": "https://fnet.bmfbovespa.com.br/fnet/publico/visualizarDocumento?id=911262", "sha256": "675de4ffe8c5ee95957fb29810625ce850d1a0b69b5231747442266f0cbf32a3"}, {"document_id": "993786", "title": "Regulamento", "reference_date": "2025-03-20", "version": "1", "page": 22, "clause": "10.6", "url": "https://fnet.bmfbovespa.com.br/fnet/publico/visualizarDocumento?id=993786", "sha256": "fd0fdd369a195510d81f81f505195a0b09e5f43522a990afa7d58c4f872921c8"}], "reference": {"path": "history/60010416000112.json", "criterion_id": "quorum", "total_count": 3, "preview_count": 3, "full_text_deferred": true, "sha256": "8e2bd813f4c51cf01f6bfaad164bafe69d2bbb192f753eac92da3a01c2e63046"}}</a:t>
            </a:r>
          </a:p>
          <a:p>
            <a:r>
              <a:t>CNPJ 62696791000193 · Quóruns e matérias reservadas · Regulamento · ID 1143317 · 20/03/2026 · versão Regulamento — referência 20/03/2026 · p. 20 · Anexo I, 10.2, tabela · https://fnet.bmfbovespa.com.br/fnet/publico/visualizarDocumento?id=1143317</a:t>
            </a:r>
          </a:p>
          <a:p>
            <a:r>
              <a:t>CNPJ 62696791000193 · Quóruns e matérias reservadas · Excerto da fonte:</a:t>
            </a:r>
          </a:p>
          <a:p>
            <a:r>
              <a:t>10.2 Os seguintes quóruns deverão ser observados pela Assembleia Especial de Cotistas ao deliberar as matérias abaixo: Matéria Quórum I – alterar o presente Anexo; Maioria das Cotas Subscritas (“Quórum Qualificado”), observada BTG Pactual SAC: 0800 772 2827 | Ouvidoria: 0800 722 0048 | btgpactual.co m 15</a:t>
            </a:r>
          </a:p>
          <a:p>
            <a:r>
              <a:t>CNPJ 62696791000193 · Quóruns e matérias reservadas · Regulamento · ID 1143317 · 20/03/2026 · versão Regulamento — referência 20/03/2026 · p. 21 · Anexo I, 10.2, tabela · https://fnet.bmfbovespa.com.br/fnet/publico/visualizarDocumento?id=1143317</a:t>
            </a:r>
          </a:p>
          <a:p>
            <a:r>
              <a:t>CNPJ 62696791000193 · Quóruns e matérias reservadas · Excerto da fonte:</a:t>
            </a:r>
          </a:p>
          <a:p>
            <a:r>
              <a:t>Matéria Quórum a necessidade de voto afirmativo da Maioria das Cotas Seniores subscritas da Classe Quórum Qualif icado observada a necessidade de voto af irmativo da II – substituição do Administrador, do Gestor e da Cogestora; Maioria das Cotas Seniores subscritas da Classe Maioria Simples, observada a III – Emissão e distribuição de novas Cotas em quantidade necessidade de voto af irmativo da superior ao Capital Autorizado da Classe ; Maioria das Cotas Seniores subscritas da Classe</a:t>
            </a:r>
          </a:p>
          <a:p>
            <a:r>
              <a:t>CNPJ 62696791000193 · Quóruns e matérias reservadas · Regulamento · ID 1143317 · 20/03/2026 · versão Regulamento — referência 20/03/2026 · p. 22 · Anexo I, 10.2(XI) e 10.5–10.7 · https://fnet.bmfbovespa.com.br/fnet/publico/visualizarDocumento?id=1143317</a:t>
            </a:r>
          </a:p>
          <a:p>
            <a:r>
              <a:t>CNPJ 62696791000193 · Quóruns e matérias reservadas · Excerto da fonte:</a:t>
            </a:r>
          </a:p>
          <a:p>
            <a:r>
              <a:t>10.5 As deliberações que tenham por objeto alterações de Benchmark apenas serão aprovadas se assim deliberado: (i) pelos votos dos titulares da maioria das Cotas em circulação da Série ou Subclasse cujo Benchmark é alterado; e (ii) pelos votos dos titulares da maioria das Cotas Mezanino que se subordinem a ela e/ou das Cotas Subordinadas em circulação. 10.6 As deliberações que tenham por objeto o aumento do Índice de Subordinação estão sujeitas à aprovação da maioria simples dos votos dos titulares das Cotas Mezanino que se subordinem a ela e/ou das Cotas Subordinadas em circulação. 10.7 As deliberações que tenham por objeto a diminuição do Índice de Subordinação apenas serão aprovadas se assim deliberado: (i) pelos votos dos titulares da maioria das Cotas em circulação de cada uma das Séries de Cotas Seniores e/ou dos titulares das Cotas Mezanino que tenham o Benchmark alterado; e (ii) pelo voto dos titulares da maioria das Cotas Mezanino que se subordinem a ela e/ou Cotas Subordinadas Júnior em circulação . Representante de Cotistas 10.8 A Assembleia de Cotistas pode, a qualquer momento, eleger até 3 (três) representantes de cotistas, a serem eleitos e nomeados pela assembleia especial,</a:t>
            </a:r>
          </a:p>
          <a:p>
            <a:r>
              <a:t>CNPJ 62696791000193 · Quóruns e matérias reservadas · Versão e prevalência: Leitura específica das cláusulas indicadas; condições e conflitos preservados. Seleção documental atual não comprova vigência jurídica por data isolada.</a:t>
            </a:r>
          </a:p>
          <a:p>
            <a:r>
              <a:t>CNPJ 55563624000109 · Quóruns e matérias reservadas · Regulamento · ID 1192614 · 30/04/2026 · versão Regulamento30/04/2026 · p. 19 · AnexoI10.2(i)–(v) · https://fnet.bmfbovespa.com.br/fnet/publico/visualizarDocumento?id=1192614</a:t>
            </a:r>
          </a:p>
          <a:p>
            <a:r>
              <a:t>CNPJ 55563624000109 · Quóruns e matérias reservadas · Excerto da fonte:</a:t>
            </a:r>
          </a:p>
          <a:p>
            <a:r>
              <a:t>10.2 A Assembleia Especial de Cotistas é responsável por deliberar, observados os quóruns abaixo, sobre as matérias específicas da Classe, sem prejuízo das demais disposições previstas na regulamentação aplicável, incluindo, mas não se limitando a: MATÉRIA SUJEITA À APROVAÇÃO QUÓRUM DE DELIBERAÇÃO (i) deliberar sobre as demonstrações contábeis da Classe; Maioria do total das Cotas emitidas (ii) deliberar sobre a substituição de Prestadores de Serviços 90% (noventa por cento) do total das Cotas</a:t>
            </a:r>
          </a:p>
          <a:p>
            <a:r>
              <a:t>CNPJ 55563624000109 · Quóruns e matérias reservadas · Regulamento · ID 1192614 · 30/04/2026 · versão Regulamento30/04/2026 · p. 20 · AnexoI10.2(vi)–(xiii) · https://fnet.bmfbovespa.com.br/fnet/publico/visualizarDocumento?id=1192614</a:t>
            </a:r>
          </a:p>
          <a:p>
            <a:r>
              <a:t>CNPJ 55563624000109 · Quóruns e matérias reservadas · Excerto da fonte:</a:t>
            </a:r>
          </a:p>
          <a:p>
            <a:r>
              <a:t>(vi) alterar as características, vantagens, direitos e obrigações 90% (noventa por cento) do total das Cotas das Cotas; emitidas (vii) alterar critérios e procedimentos para resgate de Cotas mediante dação em pagamento de Cotas da Classe Maioria do total das Cotas emitidas Investida; (viii) aprovar a emissão de novas Cotas fora do Capital Maioria do total das Cotas emitidas</a:t>
            </a:r>
          </a:p>
          <a:p>
            <a:r>
              <a:t>CNPJ 55563624000109 · Quóruns e matérias reservadas · Versão e prevalência: Leitura específica das cláusulas indicadas; condições e conflitos preservados. Seleção documental atual não comprova vigência jurídica por data isolada.</a:t>
            </a:r>
          </a:p>
          <a:p>
            <a:r>
              <a:t>CNPJ 55563624000109 · Quóruns e matérias reservadas · Resumo do histórico: {"count": 2, "dates": ["2025-01-31", "2026-01-31"], "document_count": 2, "sources": [{"document_id": "1178840", "title": "Demonstrações Financeiras", "reference_date": "2026-01-31", "version": "1", "page": 24, "url": "https://fnet.bmfbovespa.com.br/fnet/publico/visualizarDocumento?id=1178840", "sha256": "c458e98664c5c907ddb5a05a94b120bed4e05295b2bfc420f5ba69af0a229abe"}, {"document_id": "891861", "title": "Demonstrações Financeiras", "reference_date": "2025-01-31", "version": "1", "page": 25, "url": "https://fnet.bmfbovespa.com.br/fnet/publico/visualizarDocumento?id=891861", "sha256": "e9cb9e6ddbe505fe068cfcac33605165a98313489de0d3ce6d4d238263c3f3e7"}], "reference": {"path": "history/55563624000109.json", "criterion_id": "quorum", "total_count": 2, "preview_count": 2, "full_text_deferred": true, "sha256": "7835d573fb58a3c19adf5b8ecc2aee2bdbb9a88f7a0c0209b5f262b64c7522e3"}}</a:t>
            </a:r>
          </a:p>
          <a:p>
            <a:r>
              <a:t>CNPJ 62552447000120 · Quóruns e matérias reservadas · Regulamento · ID 1200623 · 21/05/2026 · versão Consolidado21/05/2026 aprovado pelo ato1200625 · p. 21 · AnexoI10.2(i)–(x) · https://fnet.bmfbovespa.com.br/fnet/publico/visualizarDocumento?id=1200623</a:t>
            </a:r>
          </a:p>
          <a:p>
            <a:r>
              <a:t>CNPJ 62552447000120 · Quóruns e matérias reservadas · Excerto da fonte:</a:t>
            </a:r>
          </a:p>
          <a:p>
            <a:r>
              <a:t>10.2 Os seguintes quóruns deverão ser observados pela Assembleia Especial ao deliberar as matérias abaixo: Matéria Quórum (i) deliberar sobre substituição de Prestadores de Serviços Unanimidade dos Cotistas Essenciais, observado o disposto no art. 70, §1º da Parte Geral da Resolução CVM 175, quando aplicável; (ii) deliberar sobre elevação da Taxa Global, inclusive na Unanimidade dos Cotistas hipótese de restabelecimento de taxa que tenha sido objeto de redução; (iii) delibera</a:t>
            </a:r>
          </a:p>
          <a:p>
            <a:r>
              <a:t>CNPJ 62552447000120 · Quóruns e matérias reservadas · Versão e prevalência: Leitura específica das cláusulas indicadas; condições e conflitos preservados. Seleção documental atual não comprova vigência jurídica por data isolada.</a:t>
            </a:r>
          </a:p>
          <a:p>
            <a:r>
              <a:t>CNPJ 63953620000165 · Quóruns e matérias reservadas · Anexo ao Regulamento · ID 1222863 · 02/06/2026 · versão AnexoConsignadoPrivado02/06/2026 · p. 13 · 10.2(ii)–(xvii) · https://fnet.bmfbovespa.com.br/fnet/publico/visualizarDocumento?id=1222863</a:t>
            </a:r>
          </a:p>
          <a:p>
            <a:r>
              <a:t>CNPJ 63953620000165 · Quóruns e matérias reservadas · Excerto da fonte:</a:t>
            </a:r>
          </a:p>
          <a:p>
            <a:r>
              <a:t>10.2 Os seguintes quóruns deverão ser observados pela Assembleia Especial de Cotistas ao deliberar as matérias abaixo: Matéria Quórum (i) deliberar sobre as demonstrações contábeis da Classe; Maioria das Cotas presentes (ii) alterar o presente Anexo; Maioria das Cotas de cada Subclasse (iii) deliberar sobre substituição de Prestadores de Serviços Maioria das Cotas da Classe Essenciais, observado o disposto no Artigo 70, §1º da parte geral da R</a:t>
            </a:r>
          </a:p>
          <a:p>
            <a:r>
              <a:t>CNPJ 63953620000165 · Quóruns e matérias reservadas · Anexo ao Regulamento · ID 1222863 · 02/06/2026 · versão AnexoConsignadoPrivado02/06/2026 · p. 14 · 10.5–10.8 · https://fnet.bmfbovespa.com.br/fnet/publico/visualizarDocumento?id=1222863</a:t>
            </a:r>
          </a:p>
          <a:p>
            <a:r>
              <a:t>CNPJ 63953620000165 · Quóruns e matérias reservadas · Excerto da fonte:</a:t>
            </a:r>
          </a:p>
          <a:p>
            <a:r>
              <a:t>10.5 Caso a matéria em deliberação resulte ou possa resultar em uma redução do Índice de Subordinação de uma determinada Subclasse, somente podem votar os titulares de Subclasses de Cotas Seniores. 10.6 As deliberações que tenham por objeto alterações de Benchmark apenas serão aprovadas se assim deliberado: (i) pelos votos dos titulares da maioria das Cotas Seniores cujo Benchmark é alterado; e (ii) pelos votos dos titulares da maioria das Cotas Subordinadas em circulação. 10.7 As deliberações que tenham por objeto o aumento do Índice de Subordinação Sênior estão sujeitas à aprovação da maioria simples dos votos dos titu</a:t>
            </a:r>
          </a:p>
          <a:p>
            <a:r>
              <a:t>CNPJ 63953620000165 · Quóruns e matérias reservadas · Condição: 10.7/10.8 repetem aumento do índice com quóruns distintos; interpretar regra específica demandará resolver conflito, sem presumir uma aprovação.</a:t>
            </a:r>
          </a:p>
          <a:p>
            <a:r>
              <a:t>CNPJ 63953620000165 · Quóruns e matérias reservadas · Versão e prevalência: Leitura específica das cláusulas indicadas; condições e conflitos preservados. Seleção documental atual não comprova vigência jurídica por data isolada.</a:t>
            </a:r>
          </a:p>
          <a:p>
            <a:r>
              <a:t>CNPJ 63953620000165 · Quóruns e matérias reservadas · Resumo do histórico: {"count": 7, "dates": ["2026-04-28", "2026-05-08", "2026-05-15"], "document_count": 3, "sources": [{"document_id": "1327859", "title": "Demonstrações Financeiras - Fusão, cisão e incorporação", "reference_date": "2026-05-15", "version": "1", "page": 10, "url": "https://fnet.bmfbovespa.com.br/fnet/publico/visualizarDocumento?id=1327859", "sha256": "dca1c68babb97f887528c3e2e47596a9c30f507b067981a35655b2f2da9c8054"}, {"document_id": "1298691", "title": "Demonstrações Financeiras - Fusão, cisão e incorporação", "reference_date": "2026-05-08", "version": "1", "page": 10, "url": "https://fnet.bmfbovespa.com.br/fnet/publico/visualizarDocumento?id=1298691", "sha256": "58c570d9b8d4d265330d3db3ea81c435b8e44a6dab4002aa37790652a1ee9819"}, {"document_id": "1205431", "title": "AGE", "reference_date": "2026-04-28", "version": "1", "page": 1, "url": "https://fnet.bmfbovespa.com.br/fnet/publico/visualizarDocumento?id=1205431", "sha256": "e0b59c701c5d0dbf60de698ea7664d442240863b7043bacdb334ce484188b2ac"}], "reference": {"path": "history/63953620000165.json", "criterion_id": "quorum", "total_count": 7, "preview_count": 3, "full_text_deferred": true, "sha256": "a7b89077f5e21098c2d601c303faabc3ff6b9729f89d8afecdc60fe1404720c1"}}</a:t>
            </a:r>
          </a:p>
          <a:p>
            <a:r>
              <a:t>CNPJ 54871427000194 · Partes relacionadas e conflitos · Regulamento · ID 670691 · 2024-04-28 · versão 1 · p. 11 · 4.10 · https://fnet.bmfbovespa.com.br/fnet/publico/visualizarDocumento?id=670691</a:t>
            </a:r>
          </a:p>
          <a:p>
            <a:r>
              <a:t>CNPJ 54871427000194 · Partes relacionadas e conflitos · Excerto da fonte:</a:t>
            </a:r>
          </a:p>
          <a:p>
            <a:r>
              <a:t>4.10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54871427000194 · Partes relacionadas e conflitos · Regulamento · ID 670691 · 2024-04-28 · versão 1 · p. 11 · 4.11 · https://fnet.bmfbovespa.com.br/fnet/publico/visualizarDocumento?id=670691</a:t>
            </a:r>
          </a:p>
          <a:p>
            <a:r>
              <a:t>CNPJ 54871427000194 · Partes relacionadas e conflitos · Excerto da fonte:</a:t>
            </a:r>
          </a:p>
          <a:p>
            <a:r>
              <a:t>4.11 A Classe poderá, direta ou indiretamente e, nos termos da legislação aplicável: (i) adquirir Direitos  Creditórios que sejam cedidos e/ou originados pelo ADMINISTRADOR e/ou pelo GESTOR, ou partes  a eles relacionadas, tal como definidas pelas regras contábeis que tratam desse assunto; e (ii) ceder  Direitos Creditórios a qualquer das pessoas, fundos de investimento ou entidades referidas no item (i)  acima, desde que (i) o ADMINISTRADOR, GESTOR, a entidade registradora e o CUSTODIANTE de  Direitos Creditórios não sejam partes relacionadas entre si; e (ii) a entidade registradora e o  CUSTODIANTE dos Direitos Creditórios não sejam partes relacionadas ao originador ou Cedente.</a:t>
            </a:r>
          </a:p>
          <a:p>
            <a:r>
              <a:t>CNPJ 54871427000194 · Partes relacionadas e conflitos · Regulamento · ID 670691 · 2024-04-28 · versão 1 · p. 25 · 12.21 · https://fnet.bmfbovespa.com.br/fnet/publico/visualizarDocumento?id=670691</a:t>
            </a:r>
          </a:p>
          <a:p>
            <a:r>
              <a:t>CNPJ 54871427000194 · Partes relacionadas e conflitos · Excerto da fonte:</a:t>
            </a:r>
          </a:p>
          <a:p>
            <a:r>
              <a:t>12.21 O GESTOR, em nome da Classe, poderá contratar um ou mais terceiros para a prestação de serviços  de Agente de Cobrança de Direitos Creditórios Inadimplidos, os quais poderão ser partes relacionadas  ou integrar o grupo do ADMINISTRADOR ou dos demais prestadores de serviços da Classe. ] Serão  atribuições do Agente de Cobrança, observado o disposto neste Regulamento e na regulamentação  aplicável:</a:t>
            </a:r>
          </a:p>
          <a:p>
            <a:r>
              <a:t>(i) sempre que necessário, notificar os Devedores sobre a cessão dos Direitos Creditórios à  Classe, nos termos do Art. 290 do Código Civil;</a:t>
            </a:r>
          </a:p>
          <a:p>
            <a:r>
              <a:t>(ii) sempre que solicitado pelo ADMINISTRADOR e/ou pelo GESTOR, reportar ao  ADMINISTRADOR e ao GESTOR as ações tomadas e/ou eventos relevantes ocorridos no  âmbito da cobrança, seja judicial ou extrajudicial, dos Direitos Creditórios Inadimplidos, bem  como o estado de ref erida cobrança;</a:t>
            </a:r>
          </a:p>
          <a:p>
            <a:r>
              <a:t>(iii) comparecer à Assembleia Especial de Cotistas quando assim requerido pelo  ADMINISTRADOR;</a:t>
            </a:r>
          </a:p>
          <a:p>
            <a:r>
              <a:t>(iv) conf irmar o recebimento dos boletos bancários de cobrança enviados aos Devedores, se  aplicável;</a:t>
            </a:r>
          </a:p>
          <a:p>
            <a:r>
              <a:t>(v) controlar, coordenar, gerir e f iscalizar as ações de cobrança de Direitos Creditórios  Inadimplidos;</a:t>
            </a:r>
          </a:p>
          <a:p>
            <a:r>
              <a:t>(vi) adotar, em nome e por conta da Classe, todos os procedimentos de cobrança dos Direitos  Creditórios Inadimplidos de titularidade da Classe;</a:t>
            </a:r>
          </a:p>
          <a:p>
            <a:r>
              <a:t>(vii) conf orme o caso, ef etuar a inclusão ou exclusão do nome de quaisquer Devedores dos  Direitos Creditórios Inadimplidos no registro negativo de órgãos e/ou sistemas de informação  e proteção ao crédito; e</a:t>
            </a:r>
          </a:p>
          <a:p>
            <a:r>
              <a:t>(viii) conduzir, por si ou por meio dos assessores legais contratados para esse f im, processo  administrativo, judicial e/ou arbitral contra os Devedores, incluindo, ainda, a excussão de  eventuais garantias acessórias aos Direitos Creditórios.</a:t>
            </a:r>
          </a:p>
          <a:p>
            <a:r>
              <a:t>CNPJ 54871427000194 · Partes relacionadas e conflitos · Condição: Documentos atuais selecionados no inventário por categoria/escopo; a data documental isolada não comprova vigência jurídica.</a:t>
            </a:r>
          </a:p>
          <a:p>
            <a:r>
              <a:t>CNPJ 54871427000194 · Partes relacionadas e conflitos · Versão e prevalência: Documentos atuais selecionados no inventário por categoria/escopo; a data documental isolada não comprova vigência jurídica.</a:t>
            </a:r>
          </a:p>
          <a:p>
            <a:r>
              <a:t>CNPJ 54871427000194 · Partes relacionadas e conflitos · Resumo do histórico: {"count": 1, "dates": ["2024-04-19"], "document_count": 1, "sources": [{"document_id": "670689", "title": "Regulamento", "reference_date": "2024-04-19", "version": "1", "page": 11, "clause": "4.10", "url": "https://fnet.bmfbovespa.com.br/fnet/publico/visualizarDocumento?id=670689", "sha256": "891bc9bc5d87bbc02ec139077a84d2702eb81ea02035fb71d24f5b8366b94a0b"}], "reference": {"path": "history/54871427000194.json", "criterion_id": "related_parties", "total_count": 1, "preview_count": 1, "full_text_deferred": true, "sha256": "35d7cd99be50c7287c9fb675cf4f2e736002315295a225a9efa79c8d9186d874"}}</a:t>
            </a:r>
          </a:p>
          <a:p>
            <a:r>
              <a:t>CNPJ 60010416000112 · Partes relacionadas e conflitos · Regulamento · ID 1051393 · 2025-10-09 · versão 1 · p. 12 · 4.8 · https://fnet.bmfbovespa.com.br/fnet/publico/visualizarDocumento?id=1051393</a:t>
            </a:r>
          </a:p>
          <a:p>
            <a:r>
              <a:t>CNPJ 60010416000112 · Partes relacionadas e conflitos · Excerto da fonte:</a:t>
            </a:r>
          </a:p>
          <a:p>
            <a:r>
              <a:t>4.8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60010416000112 · Partes relacionadas e conflitos · Regulamento · ID 1051393 · 2025-10-09 · versão 1 · p. 12 · 4.9 · https://fnet.bmfbovespa.com.br/fnet/publico/visualizarDocumento?id=1051393</a:t>
            </a:r>
          </a:p>
          <a:p>
            <a:r>
              <a:t>CNPJ 60010416000112 · Partes relacionadas e conflitos · Excerto da fonte:</a:t>
            </a:r>
          </a:p>
          <a:p>
            <a:r>
              <a:t>4.9 Sem prejuízo de limites mais restritivos definidos neste Regulamento, o Gestor deverá observar, ainda, os  seguintes limites de concentração para a composição da Carteira:</a:t>
            </a:r>
          </a:p>
          <a:p>
            <a:r>
              <a:t> (i ) Até 100% (cem por cento) da parcela do Patrimônio Líquido investida em Ativos  Financeiros de Liquidez poderá ser alocada em Ativos Financeiros de Liquidez de  emissão ou que envolvam retenção de risco por parte do Administrador, Gestor, e/ou  suas partes relacionadas; e</a:t>
            </a:r>
          </a:p>
          <a:p>
            <a:r>
              <a:t> (ii) Até 100% (cem por cento) da parcela do Patrimônio Líquido investida em operações  com derivativos poderá ser alocada em derivativos nos quais, inexistindo contraparte  central, se tenha como contraparte o Gestor e/ou suas partes relacionadas.</a:t>
            </a:r>
          </a:p>
          <a:p>
            <a:r>
              <a:t>CNPJ 60010416000112 · Partes relacionadas e conflitos · Regulamento · ID 1051393 · 2025-10-09 · versão 1 · p. 12 · 4.12.1 · https://fnet.bmfbovespa.com.br/fnet/publico/visualizarDocumento?id=1051393</a:t>
            </a:r>
          </a:p>
          <a:p>
            <a:r>
              <a:t>CNPJ 60010416000112 · Partes relacionadas e conflitos · Excerto da fonte:</a:t>
            </a:r>
          </a:p>
          <a:p>
            <a:r>
              <a:t>4.12.1. Após o término do Período de Investimento, a Classe utilizará os recursos provenientes do  pagamento dos Direitos Creditórios e demais aplicações para amortização das Cotas, observada  a ordem de alocação de recursos def inida no Capítulo 7 abaixo.</a:t>
            </a:r>
          </a:p>
          <a:p>
            <a:r>
              <a:t>Regras, procedimentos e limites para efetuar cessão de direitos creditórios para o cedente e suas partes relacionadas</a:t>
            </a:r>
          </a:p>
          <a:p>
            <a:r>
              <a:t>CNPJ 60010416000112 · Partes relacionadas e conflitos · Condição: Documentos atuais selecionados no inventário por categoria/escopo; a data documental isolada não comprova vigência jurídica.</a:t>
            </a:r>
          </a:p>
          <a:p>
            <a:r>
              <a:t>CNPJ 60010416000112 · Partes relacionadas e conflitos · Versão e prevalência: Documentos atuais selecionados no inventário por categoria/escopo; a data documental isolada não comprova vigência jurídica.</a:t>
            </a:r>
          </a:p>
          <a:p>
            <a:r>
              <a:t>CNPJ 60010416000112 · Partes relacionadas e conflitos · Resumo do histórico: {"count": 1, "dates": ["2025-03-20"], "document_count": 1, "sources": [{"document_id": "993786", "title": "Regulamento", "reference_date": "2025-03-20", "version": "1", "page": 12, "clause": "4.8", "url": "https://fnet.bmfbovespa.com.br/fnet/publico/visualizarDocumento?id=993786", "sha256": "fd0fdd369a195510d81f81f505195a0b09e5f43522a990afa7d58c4f872921c8"}], "reference": {"path": "history/60010416000112.json", "criterion_id": "related_parties", "total_count": 1, "preview_count": 1, "full_text_deferred": true, "sha256": "8e2bd813f4c51cf01f6bfaad164bafe69d2bbb192f753eac92da3a01c2e63046"}}</a:t>
            </a:r>
          </a:p>
          <a:p>
            <a:r>
              <a:t>CNPJ 62696791000193 · Partes relacionadas e conflitos · Regulamento · ID 1143317 · 2026-03-20 · versão 1 · p. 12 · 4.10 · https://fnet.bmfbovespa.com.br/fnet/publico/visualizarDocumento?id=1143317</a:t>
            </a:r>
          </a:p>
          <a:p>
            <a:r>
              <a:t>CNPJ 62696791000193 · Partes relacionadas e conflitos · Excerto da fonte:</a:t>
            </a:r>
          </a:p>
          <a:p>
            <a:r>
              <a:t>4.10 Sem prejuízo de limites mais restritivos definidos neste Anexo, o Gestor deverá observar, ainda, os  seguintes limites de concentração:</a:t>
            </a:r>
          </a:p>
          <a:p>
            <a:r>
              <a:t> (i) A Classe poderá, direta ou indiretamente, ter até 100% (cem por cento) do Patrimônio  Líquido representado por Direitos Creditórios do Agronegócio originados ou cedidos  pelo Administrador, Gestor e/ou suas partes relacionadas, tal como definidas pelas  regras contábeis que tratam desse assunto, desde que (a) o Gest or, a entidade  registradora e o Custodiante dos Direitos Creditórios do Agronegócio não sejam partes  relacionadas entre si; e (b) a entidade registradora e o Custodiante dos Direitos  Creditórios do Agronegócio não sejam partes relacionadas ao originador ou Cedente.</a:t>
            </a:r>
          </a:p>
          <a:p>
            <a:r>
              <a:t> (ii) No máximo, 100% (cem por cento) do Patrimônio Líquido investido em Ativos  Financeiros de Liquidez de emissão ou que envolvam retenção de risco por parte do  Administrador, Gestor, e/ou suas partes relacionadas, observado ainda o disposto no  item Error! Reference source not found.;</a:t>
            </a:r>
          </a:p>
          <a:p>
            <a:r>
              <a:t> (iii) No máximo, 100% (cem por cento) do Patrimônio Líquido investido em operações com  derivativos nos quais, inexistindo contraparte central, se tenha como contraparte o  Gestor, e/ou suas partes relacionadas, observado ainda o disposto no item Error!  Reference source not found.;</a:t>
            </a:r>
          </a:p>
          <a:p>
            <a:r>
              <a:t> (iv) No máximo, 100% (cem por cento) do Patrimônio Líquido em cotas de uma mesma  classe;</a:t>
            </a:r>
          </a:p>
          <a:p>
            <a:r>
              <a:t> (v) É vedada a aquisição de precatórios f ederais.</a:t>
            </a:r>
          </a:p>
          <a:p>
            <a:r>
              <a:t> (vi) No máximo, 49% (quarenta e nove por cento) do Patrimônio Líquido em Ativos  Imobiliários do Agronegócio;</a:t>
            </a:r>
          </a:p>
          <a:p>
            <a:r>
              <a:t> (vii) No máximo, 49% (quarenta e nove por cento) do Patrimônio Líquido em Participações  do Agronegócio;</a:t>
            </a:r>
          </a:p>
          <a:p>
            <a:r>
              <a:t> (viii) No máximo, 49% (quarenta e nove por cento) do Patrimônio Líquido em Ativos  Financeiros do Agronegócio; e</a:t>
            </a:r>
          </a:p>
          <a:p>
            <a:r>
              <a:t> (ix) No máximo, 49% (quarenta e nove por cento) do Patrimônio Líquido em Ativos em Geral  do Agronegócio;</a:t>
            </a:r>
          </a:p>
          <a:p>
            <a:r>
              <a:t> Ativos Recuperados</a:t>
            </a:r>
          </a:p>
          <a:p>
            <a:r>
              <a:t>CNPJ 62696791000193 · Partes relacionadas e conflitos · Regulamento · ID 1143317 · 2026-03-20 · versão 1 · p. 11 · 4.8 · https://fnet.bmfbovespa.com.br/fnet/publico/visualizarDocumento?id=1143317</a:t>
            </a:r>
          </a:p>
          <a:p>
            <a:r>
              <a:t>CNPJ 62696791000193 · Partes relacionadas e conflitos · Excerto da fonte:</a:t>
            </a:r>
          </a:p>
          <a:p>
            <a:r>
              <a:t>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relacionadas ao Gestor.</a:t>
            </a:r>
          </a:p>
          <a:p>
            <a:r>
              <a:t>CNPJ 62696791000193 · Partes relacionadas e conflitos · Regulamento · ID 1143317 · 2026-03-20 · versão 1 · p. 14 · 4.21.1 · https://fnet.bmfbovespa.com.br/fnet/publico/visualizarDocumento?id=1143317</a:t>
            </a:r>
          </a:p>
          <a:p>
            <a:r>
              <a:t>CNPJ 62696791000193 · Partes relacionadas e conflitos · Excerto da fonte:</a:t>
            </a:r>
          </a:p>
          <a:p>
            <a:r>
              <a:t>4.21.1 Sem prejuízo do disposto acima, poderá ser contratado terceiro especializado para o  gerenciamento das obras, para controle dos desembolsos, conforme medições durante a etapa  de desenvolvimento e construção dos Ativos Imobiliários do Agronegócio, sendo certo que,  caso haja a contratação de terceiros em situação de conflito de interesses, deverá ser aprovado  em assembleia de Cotistas.</a:t>
            </a:r>
          </a:p>
          <a:p>
            <a:r>
              <a:t>CNPJ 62696791000193 · Partes relacionadas e conflitos · Condição: Documentos atuais selecionados no inventário por categoria/escopo; a data documental isolada não comprova vigência jurídica.</a:t>
            </a:r>
          </a:p>
          <a:p>
            <a:r>
              <a:t>CNPJ 62696791000193 · Partes relacionadas e conflitos · Versão e prevalência: Documentos atuais selecionados no inventário por categoria/escopo; a data documental isolada não comprova vigência jurídica.</a:t>
            </a:r>
          </a:p>
          <a:p>
            <a:r>
              <a:t>CNPJ 55563624000109 · Partes relacionadas e conflitos · Regulamento · ID 1192614 · 2026-04-30 · versão 1 · p. 13 · 4.12.1 · https://fnet.bmfbovespa.com.br/fnet/publico/visualizarDocumento?id=1192614</a:t>
            </a:r>
          </a:p>
          <a:p>
            <a:r>
              <a:t>CNPJ 55563624000109 · Partes relacionadas e conflitos · Excerto da fonte:</a:t>
            </a:r>
          </a:p>
          <a:p>
            <a:r>
              <a:t>4.12.1 A Classe poderá ter até 100% (cem por cento) do Patrimônio Líquido representado por Cotas da Classe  Investida administrados pelo ADMINISTRADOR, e geridos ou cogeridos pelo GESTOR e/ou suas partes  relacionadas.</a:t>
            </a:r>
          </a:p>
          <a:p>
            <a:r>
              <a:t> Revolvência da Carteira</a:t>
            </a:r>
          </a:p>
          <a:p>
            <a:r>
              <a:t>CNPJ 55563624000109 · Partes relacionadas e conflitos · Regulamento · ID 1192614 · 2026-04-30 · versão 1 · p. 28 · 13.2 · https://fnet.bmfbovespa.com.br/fnet/publico/visualizarDocumento?id=1192614</a:t>
            </a:r>
          </a:p>
          <a:p>
            <a:r>
              <a:t>CNPJ 55563624000109 · Partes relacionadas e conflitos · Excerto da fonte:</a:t>
            </a:r>
          </a:p>
          <a:p>
            <a:r>
              <a:t>13.2 Em condições ordinárias, as Cotas da Classe Investida não pagarão remuneração aos prestadores de serviços  essenciais da Classe Investida, nos termos de seu regulamento. Não obstante, em cenário extraordinário  conforme descrito no item 15.1.1 (iii), e para fins de atendimento ao artigo 98 da parte geral da Resolução CVM  175, a taxa máxima de administração corresponderá ao valor da Taxa Mínima de Administração acrescida de até  0,10% (dez centésimos por cento) ao ano incidente sobre o patrimônio líquido da Classe Investida,  compreendendo a taxa de administração da Classe Investida geridos por partes relacionadas ao GESTOR, cujas  cotas não estão admitidas à negociação em mercado organizado, conforme prevista no regulamento da Classe  Investida (“Taxa Máxima de Administração” e, quando referida em conjunto com a Taxa Mínima de  Administração, como “Taxa de Administração”). Caso a taxa de administração da Classe Investida não se  enquadre no disposto acima, estará disposta no regulamento da Classe Investida.</a:t>
            </a:r>
          </a:p>
          <a:p>
            <a:r>
              <a:t>CNPJ 55563624000109 · Partes relacionadas e conflitos · Regulamento · ID 1192614 · 2026-04-30 · versão 1 · p. 37 · https://fnet.bmfbovespa.com.br/fnet/publico/visualizarDocumento?id=1192614</a:t>
            </a:r>
          </a:p>
          <a:p>
            <a:r>
              <a:t>CNPJ 55563624000109 · Partes relacionadas e conflitos · Excerto da fonte:</a:t>
            </a:r>
          </a:p>
          <a:p>
            <a:r>
              <a:t>(ix) Possibilidade de conflito de interesses. As Cotas poderão ser adquiridas por investidores que  sejam partes relacionadas à Classe Investida ou aos prestadores de serviços da Classe Investida. Nessa  hipótese, poderá haver situações de conflito de interesses entre os interesses desses investidores e o  interesse dos demais Cotistas, podendo qualquer desses investidores, inclusive, aprovar deliberações  contrárias aos interesses dos demais Cotistas caso sejam titulares da maioria das Cotas presentes às  Assembleias de Cotistas.</a:t>
            </a:r>
          </a:p>
          <a:p>
            <a:r>
              <a:t>CNPJ 55563624000109 · Partes relacionadas e conflitos · Condição: Documentos atuais selecionados no inventário por categoria/escopo; a data documental isolada não comprova vigência jurídica.</a:t>
            </a:r>
          </a:p>
          <a:p>
            <a:r>
              <a:t>CNPJ 55563624000109 · Partes relacionadas e conflitos · Versão e prevalência: Documentos atuais selecionados no inventário por categoria/escopo; a data documental isolada não comprova vigência jurídica.</a:t>
            </a:r>
          </a:p>
          <a:p>
            <a:r>
              <a:t>CNPJ 55563624000109 · Partes relacionadas e conflitos · Resumo do histórico: {"count": 2, "dates": ["2025-01-31", "2026-01-31"], "document_count": 2, "sources": [{"document_id": "1178840", "title": "Demonstrações Financeiras", "reference_date": "2026-01-31", "version": "1", "page": 23, "url": "https://fnet.bmfbovespa.com.br/fnet/publico/visualizarDocumento?id=1178840", "sha256": "c458e98664c5c907ddb5a05a94b120bed4e05295b2bfc420f5ba69af0a229abe"}, {"document_id": "891861", "title": "Demonstrações Financeiras", "reference_date": "2025-01-31", "version": "1", "page": 23, "url": "https://fnet.bmfbovespa.com.br/fnet/publico/visualizarDocumento?id=891861", "sha256": "e9cb9e6ddbe505fe068cfcac33605165a98313489de0d3ce6d4d238263c3f3e7"}], "reference": {"path": "history/55563624000109.json", "criterion_id": "related_parties", "total_count": 2, "preview_count": 2, "full_text_deferred": true, "sha256": "7835d573fb58a3c19adf5b8ecc2aee2bdbb9a88f7a0c0209b5f262b64c7522e3"}}</a:t>
            </a:r>
          </a:p>
          <a:p>
            <a:r>
              <a:t>CNPJ 62552447000120 · Partes relacionadas e conflitos · Regulamento · ID 1200623 · 2026-05-21 · versão 1 · p. 14 · 4.10 · https://fnet.bmfbovespa.com.br/fnet/publico/visualizarDocumento?id=1200623</a:t>
            </a:r>
          </a:p>
          <a:p>
            <a:r>
              <a:t>CNPJ 62552447000120 · Partes relacionadas e conflitos · Excerto da fonte:</a:t>
            </a:r>
          </a:p>
          <a:p>
            <a:r>
              <a:t>4.10 Nos termos do art. 45, §7º, inciso II, do Anexo Normativo II, a Classe poderá ter até 100% (cem por  cento) de seu Patrimônio Líquido alocado em Direitos Creditórios, derivativos, observado o disposto  abaixo,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62552447000120 · Partes relacionadas e conflitos · Regulamento · ID 1200623 · 2026-05-21 · versão 1 · p. 14 · 4.11 · https://fnet.bmfbovespa.com.br/fnet/publico/visualizarDocumento?id=1200623</a:t>
            </a:r>
          </a:p>
          <a:p>
            <a:r>
              <a:t>CNPJ 62552447000120 · Partes relacionadas e conflitos · Excerto da fonte:</a:t>
            </a:r>
          </a:p>
          <a:p>
            <a:r>
              <a:t>4.11 Sem prejuízo de limites mais restritivos definidos neste Regulamento, o Gestor deverá observar, ainda,  os seguintes limites de concentração para a composição da Carteira:</a:t>
            </a:r>
          </a:p>
          <a:p>
            <a:r>
              <a:t> (i) Até 100% (cem por cento) da parcela do Patrimônio Líquido investida em Direitos  Creditórios poderão ser alocados em Direitos Creditórios originados ou cedidos pelo  Administrador, Gestor e/ou suas partes relacionadas, tal como definidas pelas regras  contábeis que tratam desse assunto . A Classe também poderá ceder Direitos  Creditórios a qualquer das pessoas, f undos de investimento ou entidades ref eridas  acima, desde que a entidade registradora e o Custodiante dos Direitos Creditórios não  sejam partes relacionadas ao Originador ou Endossante;</a:t>
            </a:r>
          </a:p>
          <a:p>
            <a:r>
              <a:t> (ii) Até 100% (cem por cento) da parcela do Patrimônio Líquido investida em Ativos  Financeiros poderão ser alocados em Ativos Financeiros de emissão ou que envolvam  retenção de risco por parte do Administrador, Gestor e/ou suas partes relacionadas; e</a:t>
            </a:r>
          </a:p>
          <a:p>
            <a:r>
              <a:t> (iii) Até 100% (cem por cento) da parcela do Patrimônio Líquido investida em operações  com derivativos poderão ser alocados em operações com derivativos nas quais,  inexistindo contraparte central, se tenha como contraparte o Gestor e/ou suas partes  relacionadas.</a:t>
            </a:r>
          </a:p>
          <a:p>
            <a:r>
              <a:t>CNPJ 62552447000120 · Partes relacionadas e conflitos · Regulamento · ID 1200623 · 2026-05-21 · versão 1 · p. 15 · 4.18 · https://fnet.bmfbovespa.com.br/fnet/publico/visualizarDocumento?id=1200623</a:t>
            </a:r>
          </a:p>
          <a:p>
            <a:r>
              <a:t>CNPJ 62552447000120 · Partes relacionadas e conflitos · Excerto da fonte:</a:t>
            </a:r>
          </a:p>
          <a:p>
            <a:r>
              <a:t>4.18 Ainda que integrem a Carteira, os Ativos Recuperados não serão, sob qualquer hipótese, adquiridos  como parte da Política de Investimento, de forma que serão de sua propriedade exclusivamente, não  devendo, portanto, ser contabilizados para f ins de enquadramento da Classe.</a:t>
            </a:r>
          </a:p>
          <a:p>
            <a:r>
              <a:t>Regras, procedimentos e limites para efetuar qualquer modalidade de transferência dos Direitos Creditórios, incluindo, sem limitação, endosso (“Transferência”) para o Endossante e suas partes relacionadas</a:t>
            </a:r>
          </a:p>
          <a:p>
            <a:r>
              <a:t>CNPJ 62552447000120 · Partes relacionadas e conflitos · Condição: Documentos atuais selecionados no inventário por categoria/escopo; a data documental isolada não comprova vigência jurídica.</a:t>
            </a:r>
          </a:p>
          <a:p>
            <a:r>
              <a:t>CNPJ 62552447000120 · Partes relacionadas e conflitos · Versão e prevalência: Documentos atuais selecionados no inventário por categoria/escopo; a data documental isolada não comprova vigência jurídica.</a:t>
            </a:r>
          </a:p>
          <a:p>
            <a:r>
              <a:t>CNPJ 63953620000165 · Partes relacionadas e conflitos · Anexo ao Regulamento · ID 1222863 · 2026-06-02 · versão 1 · p. 6 · 4.14 · https://fnet.bmfbovespa.com.br/fnet/publico/visualizarDocumento?id=1222863</a:t>
            </a:r>
          </a:p>
          <a:p>
            <a:r>
              <a:t>CNPJ 63953620000165 · Partes relacionadas e conflitos · Excerto da fonte:</a:t>
            </a:r>
          </a:p>
          <a:p>
            <a:r>
              <a:t>4.14 Nos termos do Art. 45, §7º, inciso II, do Anexo Normativo II da Resolução CVM 175, a Classe poderá ter até 100%  (cem por cento) de seu Patrimônio Líquido alocado em Direitos Creditórios, derivativos, observado o disposto  neste Anexo I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63953620000165 · Partes relacionadas e conflitos · Anexo ao Regulamento · ID 1222863 · 2026-06-02 · versão 1 · p. 8 · 4.21 · https://fnet.bmfbovespa.com.br/fnet/publico/visualizarDocumento?id=1222863</a:t>
            </a:r>
          </a:p>
          <a:p>
            <a:r>
              <a:t>CNPJ 63953620000165 · Partes relacionadas e conflitos · Excerto da fonte:</a:t>
            </a:r>
          </a:p>
          <a:p>
            <a:r>
              <a:t>4.21 Ainda que integrem a carteira da Classe, os Ativos Recuperados não serão, sob qualquer hipótese, adquiridos  como parte da Política de Investimento da Classe, de forma que serão de sua propriedade exclusivamente, não  devendo, portanto, ser contabilizados para fins de enquadramento da Classe.</a:t>
            </a:r>
          </a:p>
          <a:p>
            <a:r>
              <a:t> Regras, procedimentos e limites para efetuar o Endosso de Direitos Creditórios Crédito Consignado para o Endossante e  suas partes relacionadas</a:t>
            </a:r>
          </a:p>
          <a:p>
            <a:r>
              <a:t>CNPJ 63953620000165 · Partes relacionadas e conflitos · Anexo ao Regulamento · ID 1222863 · 2026-06-02 · versão 1 · p. 7 · https://fnet.bmfbovespa.com.br/fnet/publico/visualizarDocumento?id=1222863</a:t>
            </a:r>
          </a:p>
          <a:p>
            <a:r>
              <a:t>CNPJ 63953620000165 · Partes relacionadas e conflitos · Excerto da fonte:</a:t>
            </a:r>
          </a:p>
          <a:p>
            <a:r>
              <a:t>Anexo I ao Regulamento  CLASSE CONSIGNADO PRIVADO DO MT GLOBAL FUNDO DE INVESTIMENTO EM DIREITOS  CREDITÓRIOS RESPONSABILIDADE LIMITADA</a:t>
            </a:r>
          </a:p>
          <a:p>
            <a:r>
              <a:t> (i)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 (ii) No máximo, 50% (cinquenta por cento) do Patrimônio Líquido investido em Ativos Financeiros  de Liquidez de emissão ou que envolvam retenção de risco por parte do Administrador, Gestor,  e/ou suas partes relacionadas, observado ainda o disposto acima;</a:t>
            </a:r>
          </a:p>
          <a:p>
            <a:r>
              <a:t> (iii) No máximo, 100% (cem por cento) do Patrimônio Líquido investido em operações com  derivativos nos quais, inexistindo contraparte central, se tenha como contraparte o Gestor,  Consultora e/ou suas partes relacionadas, observado ainda o disposto acima;</a:t>
            </a:r>
          </a:p>
          <a:p>
            <a:r>
              <a:t> (iv) A Classe poderá investir até 100% (cem por cento) de seu Patrimônio Líquido em Direitos  Creditórios Não-Padronizados;</a:t>
            </a:r>
          </a:p>
          <a:p>
            <a:r>
              <a:t> (v) É vedada a aquisição de precatórios federais.</a:t>
            </a:r>
          </a:p>
          <a:p>
            <a:r>
              <a:t>CNPJ 63953620000165 · Partes relacionadas e conflitos · Condição: Documentos atuais selecionados no inventário por categoria/escopo; a data documental isolada não comprova vigência jurídica.</a:t>
            </a:r>
          </a:p>
          <a:p>
            <a:r>
              <a:t>CNPJ 63953620000165 · Partes relacionadas e conflitos · Versão e prevalência: Documentos atuais selecionados no inventário por categoria/escopo; a data documental isolada não comprova vigência jurídica.</a:t>
            </a:r>
          </a:p>
          <a:p>
            <a:r>
              <a:t>CNPJ 54871427000194 · Histórico de alterações materiais · Instrumento Particular de Alteração do Regulamento · ID 670690 · 28/05/2024 · versão Instrumento Particular de Alteração do Regulamento — referência 28/05/2024 · p. 1 · AGC, 4.1–4.2 · https://fnet.bmfbovespa.com.br/fnet/publico/visualizarDocumento?id=670690</a:t>
            </a:r>
          </a:p>
          <a:p>
            <a:r>
              <a:t>CNPJ 54871427000194 · Histórico de alterações materiais · Excerto da fonte:</a:t>
            </a:r>
          </a:p>
          <a:p>
            <a:r>
              <a:t>4.1. A alteração integral do anexo da Classe Única, que compõe o regulamento do Fundo (“Anexo da Classe Única” e “Regulamento”) e seus complementos, para de f orma a alterar a Política de Investimentos da Classe para aquisição de direitos creditórios representados por Certif icados de Cédulas de Crédito Bancário (“CCCBs” e “Direitos Creditórios”), bem como refletir os novos critérios de elegibilidade para aquisição dos Direitos Creditórios, os documentos comprobatórios do lastro e f atores de risco aplicáveis. 4.2. Tendo em vista a aprovação dos itens. acima, deliberaram por aprovar o novo Regulamento Consolidado, que vigorará na forma do Anexo I à presente Ata, o qual terá efeitos retroativos a abertura de 28 de maio de 2024. 4.3. Por f im, por aprovar a Administradora a adotar todas as medidas necessárias para implementação das deliberações acima. 5. ENCERRAMENTO Nada mais havendo a tratar, f oi a reunião encerrada. Rio de Janeiro, 28 de maio de 2024. Mesa: Diego Prado Tassiana Lima Presidente</a:t>
            </a:r>
          </a:p>
          <a:p>
            <a:r>
              <a:t>CNPJ 54871427000194 · Histórico de alterações materiais · Regulamento · ID 670691 · 28/04/2024 · versão Regulamento — referência 28/04/2024 · p. 9 · Regulamento 670691, Anexo I, 4.2 · https://fnet.bmfbovespa.com.br/fnet/publico/visualizarDocumento?id=670691</a:t>
            </a:r>
          </a:p>
          <a:p>
            <a:r>
              <a:t>CNPJ 54871427000194 · Histórico de alterações materiais · Excerto da fonte:</a:t>
            </a:r>
          </a:p>
          <a:p>
            <a:r>
              <a:t>4.2 Os Direitos Creditórios representados por Certif icados de Cédulas de Crédito Bancário (“CCCBs”), representativos de um agrupamento de determinadas CCBs, originadas no âmbito de operações de empréstimos pessoais concedidos por um Endossante a um Devedor, devidamente f ormalizadas por via eletrônica de acordo com a legislação aplicável, segundo os critérios de composição e diversificação estabelecidos pela regulamentação aplicável e neste Regulamento. 4.2.1 Cada Endossante deve ter celebrado convênio com órgão consignante, previamente à cessão de Direitos Creditórios à Classe, que contemplam a obrigação da manutenção da consignação/averbação junto ao novo órgão, de modo a possibilitar o pagamento dos Direitos Creditórios por meio de consignação em f olha de pagamento ou de benef ício . 4.3 Os pagamentos relativos aos Direitos Creditórios de titularidade da Classe serão realizados mediante consignação em folha, débito em conta de titularidade dos Devedores e pagamentos de sinistros, para pagamento dos valores correspondentes às parcelas das CCBs representadas pelos CCCBs de titularidade da Classe, os quais serão conciliados e repassados pelo Endossan</a:t>
            </a:r>
          </a:p>
          <a:p>
            <a:r>
              <a:t>CNPJ 54871427000194 · Histórico de alterações materiais · Condição: A classificação Fundos Net do documento 670690 é “regulamento”, mas seu conteúdo é uma AGC. A divergência de datas impede usar a referência do 670691 como prova autônoma de início de vigência.</a:t>
            </a:r>
          </a:p>
          <a:p>
            <a:r>
              <a:t>CNPJ 54871427000194 · Histórico de alterações materiais · Motivo: Não localizada uma cláusula material para este critério nos textos identificados e processados. A ausência de resultado não comprova inexistência da regra.</a:t>
            </a:r>
          </a:p>
          <a:p>
            <a:r>
              <a:t>CNPJ 54871427000194 · Histórico de alterações materiais · Versão e prevalência: Leitura específica das cláusulas indicadas; condições e conflitos preservados. Seleção documental atual não comprova vigência jurídica por data isolada.</a:t>
            </a:r>
          </a:p>
          <a:p>
            <a:r>
              <a:t>CNPJ 60010416000112 · Histórico de alterações materiais · Demonstrações Financeiras - Fusão, cisão e incorporação · ID 1298690 · 2026-05-08 · versão 1 · p. 30 · https://fnet.bmfbovespa.com.br/fnet/publico/visualizarDocumento?id=1298690</a:t>
            </a:r>
          </a:p>
          <a:p>
            <a:r>
              <a:t>CNPJ 60010416000112 · Histórico de alterações materiais · Excerto da fonte:</a:t>
            </a:r>
          </a:p>
          <a:p>
            <a:r>
              <a:t>Durante o período de investimento, a Administradora poderá deliberar por realizar novas  emissões de Cotas Seniores, sem a necessidade de aprovação em Assembleia Especial de  Cotistas ou alteração do Regulamento, limitadas ao montante máximo de R$ 1.000.000 (um  bilhão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seniores emitidas não sejam superiores aos  prazos de vencimento da primeira emissão.</a:t>
            </a:r>
          </a:p>
          <a:p>
            <a:r>
              <a:t>CNPJ 60010416000112 · Histórico de alterações materiais · Demonstrações Financeiras - Fusão, cisão e incorporação · ID 1298690 · 2026-05-08 · versão 1 · p. 30 · https://fnet.bmfbovespa.com.br/fnet/publico/visualizarDocumento?id=1298690</a:t>
            </a:r>
          </a:p>
          <a:p>
            <a:r>
              <a:t>CNPJ 60010416000112 · Histórico de alterações materiais · Excerto da fonte:</a:t>
            </a:r>
          </a:p>
          <a:p>
            <a:r>
              <a:t>Durante o período de investimento, a Administradora poderá deliberar por realizar novas  emissões de cotas subordinadas, sem a necessidade de aprovação em Assembleia Especial  de Cotistas ou alteração do Regulamento, limitadas ao montante máximo de R$ 50.000  (cinquenta milhões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subordinadas emitidas não sejam  superiores aos prazos de vencimento da primeira emissão.</a:t>
            </a:r>
          </a:p>
          <a:p>
            <a:r>
              <a:t>CNPJ 60010416000112 · Histórico de alterações materiais · Condição: Documentos atuais selecionados no inventário por categoria/escopo; a data documental isolada não comprova vigência jurídica.</a:t>
            </a:r>
          </a:p>
          <a:p>
            <a:r>
              <a:t>CNPJ 60010416000112 · Histórico de alterações materiais · Versão e prevalência: Documentos atuais selecionados no inventário por categoria/escopo; a data documental isolada não comprova vigência jurídica.</a:t>
            </a:r>
          </a:p>
          <a:p>
            <a:r>
              <a:t>CNPJ 60010416000112 · Histórico de alterações materiais · Resumo do histórico: {"count": 5, "dates": ["2025-11-30", "2026-03-18", "2026-04-16"], "document_count": 3, "sources": [{"document_id": "1282181", "title": "Demonstrações Financeiras - Fusão, cisão e incorporação", "reference_date": "2026-04-16", "version": "1", "page": 32, "url": "https://fnet.bmfbovespa.com.br/fnet/publico/visualizarDocumento?id=1282181", "sha256": "b1c6566e43a00bcd00c8a7f30c77b7f86e351bd8e355bbea113f46d1dafda703"}, {"document_id": "1224477", "title": "Demonstrações Financeiras - Fusão, cisão e incorporação", "reference_date": "2026-03-18", "version": "1", "page": 32, "url": "https://fnet.bmfbovespa.com.br/fnet/publico/visualizarDocumento?id=1224477", "sha256": "0751bf0a75bc3b44c2748f5000226665c6ec6698a90c4dc6170b4e6c187759ae"}, {"document_id": "1126154", "title": "Demonstrações Financeiras", "reference_date": "2025-11-30", "version": "1", "page": 32, "url": "https://fnet.bmfbovespa.com.br/fnet/publico/visualizarDocumento?id=1126154", "sha256": "a01e7ccf88c548f12c95cba8526d7efbef6b585c112cd4668eca781c292090b0"}], "reference": {"path": "history/60010416000112.json", "criterion_id": "changes", "total_count": 5, "preview_count": 3, "full_text_deferred": true, "sha256": "8e2bd813f4c51cf01f6bfaad164bafe69d2bbb192f753eac92da3a01c2e63046"}}</a:t>
            </a:r>
          </a:p>
          <a:p>
            <a:r>
              <a:t>CNPJ 62696791000193 · Histórico de alterações materiais · AGE · ID 1143319 · 20/03/2026 10:00 · versão AGE — referência 20/03/2026 10:00 · p. 1 · AGC, 4.1(a)–(c) · https://fnet.bmfbovespa.com.br/fnet/publico/visualizarDocumento?id=1143319</a:t>
            </a:r>
          </a:p>
          <a:p>
            <a:r>
              <a:t>CNPJ 62696791000193 · Histórico de alterações materiais · Excerto da fonte:</a:t>
            </a:r>
          </a:p>
          <a:p>
            <a:r>
              <a:t>4.1. Aprovar a transformação do Fundo, bem como de sua Classe única, em um fundo de investimento nas cadeias produtivas do agronegócio (“Transformação”), nos termos da parte geral e do Anexo Normativo VI da Resolução nº 175 da CVM, de 23 de dezembro de 2022, conforme alterada (“Resolução CVM 175”). a. Aprovar a alteração da denominação do Fundo, que passará a vigorar como BTG PACTUAL CERES CONFINA FUNDO DE INVESTIMENTO NAS CADEIAS PRODUTIVAS DO AGRONEGÓCIO RESPONSABILIDADE LIMITADA, e de sua Classe única, que passará a vigorar como CLASSE ÚNICA DO BTG PACTUAL CERES CONFINA FUNDO DE INVESTIMENTO NAS CADEIAS PRODUTIVAS DO AGRONEGÓCIO RESPONSABILIDADE LIMITADA (“Classe”); b. Aprovar a reforma integral do Regulamento do Fundo, bem como do Anexo descritivo da Classe, para realizar todos os ajustes necessários à implementação da Transformação, incluindo, mas não se limitando, a política de investimentos, o regime tributário e os fatores de risco aplicáveis, conforme itens abaixo; c. Aprovar a alteração do quadro de características gerais do Fundo, considerando a contratação do Cogestor pelo Gestor, nos termos do artigo 52, II, da parte geral da Resolução CVM 175 e no co</a:t>
            </a:r>
          </a:p>
          <a:p>
            <a:r>
              <a:t>CNPJ 62696791000193 · Histórico de alterações materiais · AGE · ID 1143319 · 20/03/2026 10:00 · versão AGE — referência 20/03/2026 10:00 · p. 3 · AGC, 4.1(j)–(k) · https://fnet.bmfbovespa.com.br/fnet/publico/visualizarDocumento?id=1143319</a:t>
            </a:r>
          </a:p>
          <a:p>
            <a:r>
              <a:t>CNPJ 62696791000193 · Histórico de alterações materiais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Histórico de alterações materiais · Instrumento Particular de Emissão de Cotas · ID 1148821 · 27/03/2026 · versão Instrumento Particular de Emissão de Cotas — referência 27/03/2026 · p. 1 · Deliberação Conjunta27/03/2026, item1 · https://fnet.bmfbovespa.com.br/fnet/publico/visualizarDocumento?id=1148821</a:t>
            </a:r>
          </a:p>
          <a:p>
            <a:r>
              <a:t>CNPJ 62696791000193 · Histórico de alterações materiais · Excerto da fonte:</a:t>
            </a:r>
          </a:p>
          <a:p>
            <a:r>
              <a:t>1. Aprovar a 2ª (segunda) emissão da Subclasse Subordinada Júnior da Classe, composta por até 20.000 (vinte mil) Cotas Subordinadas Júnior, com valor nominal unitário de R$ 1.000,00 (mil reais), perfazendo o montante total de R$ 20.000.000,00 (vinte milhões de reais), as quais serão objeto de colocação privada, de acordo com os termos e condições definidos no Apêndice da Subclasse Subordinada Júnior constante do Anexo I Regulamento e descritas abaixo (“2ª Emissão da Subclasse Subordinada Júnior”): a) Rito: as Cotas Subordinadas Júnior objeto da 2ª Emissão da Subclasse Subordinada Júnior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Subordinada Júnior na data de integralização, calculado na forma prevista no respectivo Apêndice; BTG Pactual 1 SAC: 0800 772 28 27 - Ouvidoria: 0800 722 00 48 - btgpactual.com</a:t>
            </a:r>
          </a:p>
          <a:p>
            <a:r>
              <a:t>CNPJ 62696791000193 · Histórico de alterações materiais · Instrumento Particular de Emissão de Cotas · ID 1148821 · 27/03/2026 · versão Instrumento Particular de Emissão de Cotas — referência 27/03/2026 · p. 2 · Deliberação Conjunta, itens2–3 · https://fnet.bmfbovespa.com.br/fnet/publico/visualizarDocumento?id=1148821</a:t>
            </a:r>
          </a:p>
          <a:p>
            <a:r>
              <a:t>CNPJ 62696791000193 · Histórico de alterações materiais · Excerto da fonte:</a:t>
            </a:r>
          </a:p>
          <a:p>
            <a:r>
              <a:t>2. Aprovar a 2ª (segunda) emissão da Subclasse Sênior da Classe, composta por até 150.000 (cento e cinquenta mil) Cotas Seniores, com valor nominal unitário de R$ 1.000,00 (mil reais), perfazendo o montante total de R$ 150.000.000,00 (cento e cinquenta milhões de reais), as quais serão objeto de colocação privada, de acordo com os termos e condições descritos no Apêndice da Subclasse Sênior constante do Anexo I Regulamento e descritas abaixo (“2ª Emissão da Subclasse Sênior”): a) Rito: as Cotas Seniores objeto da 2ª Emissão da Subclasse Sênior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Sênior na data de integralização, calculado na forma prevista no respectivo Apêndice; d) Forma de Integralização: as Cotas Seniores serão integralizadas mediante chamadas de capital, junto ao seu respectivo agente de custódia e/ou da Administradora na qualidade de escriturador das cotas, nos termos d</a:t>
            </a:r>
          </a:p>
          <a:p>
            <a:r>
              <a:t>CNPJ 62696791000193 · Histórico de alterações materiais · Versão e prevalência: Leitura específica das cláusulas indicadas; condições e conflitos preservados. Seleção documental atual não comprova vigência jurídica por data isolada.</a:t>
            </a:r>
          </a:p>
          <a:p>
            <a:r>
              <a:t>CNPJ 55563624000109 · Histórico de alterações materiais · Motivo: Não localizada uma cláusula material para este critério nos textos identificados e processados. A ausência de resultado não comprova inexistência da regra.</a:t>
            </a:r>
          </a:p>
          <a:p>
            <a:r>
              <a:t>CNPJ 62552447000120 · Histórico de alterações materiais · Ato do Administrador · ID 1200625 · 2026-05-21 · versão Ato21/05/2026 · p. 1 · itens1–2 · https://fnet.bmfbovespa.com.br/fnet/publico/visualizarDocumento?id=1200625</a:t>
            </a:r>
          </a:p>
          <a:p>
            <a:r>
              <a:t>CNPJ 62552447000120 · Histórico de alterações materiais · Excerto da fonte:</a:t>
            </a:r>
          </a:p>
          <a:p>
            <a:r>
              <a:t>Ressalta-se que não haverá qualquer alteração nos valores pagos pelos cotistas... Aprovar o novo Anexo I e Regulamento consolidados</a:t>
            </a:r>
          </a:p>
          <a:p>
            <a:r>
              <a:t>CNPJ 62552447000120 · Histórico de alterações materiais · Motivo: Não localizada uma cláusula material para este critério nos textos identificados e processados. A ausência de resultado não comprova inexistência da regra.</a:t>
            </a:r>
          </a:p>
          <a:p>
            <a:r>
              <a:t>CNPJ 62552447000120 · Histórico de alterações materiais · Versão e prevalência: Leitura específica das cláusulas indicadas; condições e conflitos preservados. Seleção documental atual não comprova vigência jurídica por data isolada.</a:t>
            </a:r>
          </a:p>
          <a:p>
            <a:r>
              <a:t>CNPJ 63953620000165 · Histórico de alterações materiais · Anexo ao Regulamento · ID 1222863 · 2026-06-02 · versão 1 · p. 19 · 12.6 · https://fnet.bmfbovespa.com.br/fnet/publico/visualizarDocumento?id=1222863</a:t>
            </a:r>
          </a:p>
          <a:p>
            <a:r>
              <a:t>CNPJ 63953620000165 · Histórico de alterações materiais · Excerto da fonte:</a:t>
            </a:r>
          </a:p>
          <a:p>
            <a:r>
              <a:t>12.6 A Classe contratou a Tudo Serviços S.A., sociedade anônima, com sede no município de Fortaleza, Estado do Ceará,  na Avenida Senador Virgulo Távora, nº 303, Lojas 02, 03, 04, 05, 06 e 19, Meireles, CEP 60.170-265, inscrita no CNPJ  sob o nº 27.852.506/0001-85, cujos deveres, sem prejuízo daqueles estabelecidos neste Regulamento, no  “Contrato de Serviços de Retenção e Cobrança e Outras Avenças”, celebrado entre o Agente de  Retenção/Cobrança e a Classe (“Contrato de Serviços MT”) e no Contrato de Endosso, consistirão no  monitoramento e cobrança dos Direitos Creditórios Inadimplidos, observado o disposto neste Anexo I e na  regulamentação aplicável (“Agente de Retenção/Cobrança”):</a:t>
            </a:r>
          </a:p>
          <a:p>
            <a:r>
              <a:t> (i) caso aplicável, atuar na retenção (defesa) de operações de empréstimo consignado cujos Direitos  Creditórios sejam de titularidade da Classe, em caso de tentativa de transferência de tais operações de  empréstimo consignado por instituições proponentes, nos termos da Resolução CMN nº 5.057, em razão de  ofertas de portabilidade feitas por tais instituições proponentes, conforme informado pelo Endossante ou pelo  Custodiante ao Agente de Retenção/Cobrança, diariamente, de acordo com o Contrato de Endosso; sendo  que tal serviço deverá incluir, entre outras atividades auxiliares a ele relacionadas, a avaliação das ofertas de  portabilidade feitas pelas instituições proponentes, buscando, se for o caso, esclarecer as vantagens de não  recorrer à portabilidade, retendo a respectiva operação de empréstimo consignado em seus termos atuais;</a:t>
            </a:r>
          </a:p>
          <a:p>
            <a:r>
              <a:t> (ii) mediante inadimplemento de um Direito Creditório devido à indisponibilidade da margem de crédito do  Devedor, auxiliar o Endossante com o Processo de Reinicialização (conforme detalhado no Contrato de  Endosso) em relação ao respectivo Direito Creditório;</a:t>
            </a:r>
          </a:p>
          <a:p>
            <a:r>
              <a:t> (iii) manter e operar um serviço de atendimento ao consumidor - SAC e uma ouvidoria em conformidade  com os regulamentos aplicáveis, monitorar e resolver reclamações e solicitações de Devedores com  relação às operações de empréstimo consignado que dão origem aos Direitos Creditórios, em  conformidade com o Acordo de Parceria;</a:t>
            </a:r>
          </a:p>
          <a:p>
            <a:r>
              <a:t> (iv) realizar a cobrança dos Direitos Creditórios Inadimplidos;</a:t>
            </a:r>
          </a:p>
          <a:p>
            <a:r>
              <a:t> (v) auxiliar o Endossante na correção de qualquer irregularidade relevante identificada com relação à  originação dos Direitos Creditórios;</a:t>
            </a:r>
          </a:p>
          <a:p>
            <a:r>
              <a:t> (vi) realizar a renegociação junto aos Devedores de Direitos Creditórios Inadimplidos e, caso aplicável, celebrar  aditamento à CCB para refletir os novos termos, decorrentes da renegociação  CAPÍTULO 13 – REMUNERAÇÃO DOS PRESTADORES DE SERVIÇOS  0,05% (cinco centésimos por cento) ao ano, apropriada diariamente na base de 252  (duzentos e cinquenta e dois) Dias Úteis, e paga mensalmente até o 5º (quinto) Dia  Útil do mês subsequente ao mês que se refere, incidente sobre o Patrimônio Líquido  da Classe alocado em Direitos Creditórios Consignado Privado e/ou Ativos de  Liquidez MT, observada remuneração mínima mensal de R$ 2.500,00 (dois mil e  quinhentos reais), a ser corrigida anualmente, em janeiro de cada ano, pela variação  Taxa de Administração  positiva do Índice Geral de Preços – Mercado, divulgado pela Fundação Getúlio  Vargas (“Taxa de Administração” e “IGP-M”, respectivamente).</a:t>
            </a:r>
          </a:p>
          <a:p>
            <a:r>
              <a:t> Na hipótese de extinção do IGP-M, não divulgação ou impossibilidade de sua  utilização, será utilizado o Índice Geral de Preços – Disponibilidade Interna,  divulgado pela Fundação Getúlio Vargas, ou, na falta de ambos, pela variação do IPC  – Índice de Preços ao Consumidor, divulgado pela Fundação Instituto de Pesquisas</a:t>
            </a:r>
          </a:p>
          <a:p>
            <a:r>
              <a:t>CNPJ 63953620000165 · Histórico de alterações materiais · Condição: Documentos atuais selecionados no inventário por categoria/escopo; a data documental isolada não comprova vigência jurídica.</a:t>
            </a:r>
          </a:p>
          <a:p>
            <a:r>
              <a:t>CNPJ 63953620000165 · Histórico de alterações materiais · Versão e prevalência: Documentos atuais selecionados no inventário por categoria/escopo; a data documental isolada não comprova vigência jurídica.</a:t>
            </a:r>
          </a:p>
          <a:p>
            <a:r>
              <a:t>CNPJ 54871427000194 · Auditor independente e DFs · Demonstrações Financeiras - Fusão, cisão e incorporação · ID 1219522 · 2026-02-02 · versão 1 · p. 23 · https://fnet.bmfbovespa.com.br/fnet/publico/visualizarDocumento?id=1219522</a:t>
            </a:r>
          </a:p>
          <a:p>
            <a:r>
              <a:t>CNPJ 54871427000194 · Auditor independente e DFs · Excerto da fonte:</a:t>
            </a:r>
          </a:p>
          <a:p>
            <a:r>
              <a:t>x) Possibilidade de aquisição de Direitos Creditórios cedidos por Endossante e/ou devidos por  Devedores cujas demonstrações financeiras não sejam auditadas. A Classe, desde que sejam  respeitados os limites de concentração previstos no Regulamento, poderá manter a qualquer  tempo em sua Carteira, Direitos Creditórios cedidos por Endossante e/ou devidos por Devedores  cujas demonstrações financeiras não sejam auditadas por Auditor Independente registrado na</a:t>
            </a:r>
          </a:p>
          <a:p>
            <a:r>
              <a:t>CNPJ 54871427000194 · Auditor independente e DFs · Demonstrações Financeiras - Fusão, cisão e incorporação · ID 1219522 · 2026-02-02 · versão 1 · p. 2 · https://fnet.bmfbovespa.com.br/fnet/publico/visualizarDocumento?id=1219522</a:t>
            </a:r>
          </a:p>
          <a:p>
            <a:r>
              <a:t>CNPJ 54871427000194 · Auditor independente e DFs · Excerto da fonte:</a:t>
            </a:r>
          </a:p>
          <a:p>
            <a:r>
              <a:t>Classe Única de Responsabilidade Limitada do Consignado Delta Receivables I Fundo de Investimento em  Direitos Creditórios  Demonstrações financeiras em  2 de fevereiro de 2026 (data da incorporação da Classe)</a:t>
            </a:r>
          </a:p>
          <a:p>
            <a:r>
              <a:t>CNPJ 54871427000194 · Auditor independente e DFs · Demonstrações Financeiras - Fusão, cisão e incorporação · ID 1219522 · 2026-02-02 · versão 1 · p. 3 · https://fnet.bmfbovespa.com.br/fnet/publico/visualizarDocumento?id=1219522</a:t>
            </a:r>
          </a:p>
          <a:p>
            <a:r>
              <a:t>CNPJ 54871427000194 · Auditor independente e DFs · Excerto da fonte:</a:t>
            </a:r>
          </a:p>
          <a:p>
            <a:r>
              <a:t>Examinamos as demonstrações financeiras da Classe Única de Responsabilidade Limitada do  Consignado Delta Receivables I Fundo de Investimento em Direitos Creditórios (“Classe”),  administrada pela BTG Pactual Serviços Financeiros S.A. Distribuidora de Títulos e Valores Mobiliários  (“Administradora”), que compreendem a demonstração da posição financeira em 2 de fevereiro de  2026 e as respectivas demonstrações do resultado e do resultado abrangente, das evoluções do  patrimônio líquido e dos fluxos de caixa para o período de 1° de janeiro de 2026 (data de início do  exercício social da Classe) a 2 de fevereiro de 2026 (data da incorporação da Classe), bem como as  correspondentes notas explicativas, incluindo as políticas contábeis materiais e outras informações  elucidativas.</a:t>
            </a:r>
          </a:p>
          <a:p>
            <a:r>
              <a:t> Em nossa opinião, as demonstrações financeiras acima referidas apresentam adequadamente, em  todos os aspectos relevantes, a posição patrimonial e financeira da Classe Única de Responsabilidade  Limitada do Consignado Delta Receivables I Fundo de Investimento em Direitos Creditórios em 2 de  fevereiro de 2026 e o desempenho de suas operações e os seus fluxos de caixa para o período de 1°  de janeiro de 2026 a 2 de fevereiro de 2026, de acordo com as práticas contábeis adotadas no Brasil  aplicáveis aos fundos de investimento em direitos creditórios.</a:t>
            </a:r>
          </a:p>
          <a:p>
            <a:r>
              <a:t>CNPJ 54871427000194 · Auditor independente e DFs · Condição: Documentos atuais selecionados no inventário por categoria/escopo; a data documental isolada não comprova vigência jurídica.</a:t>
            </a:r>
          </a:p>
          <a:p>
            <a:r>
              <a:t>CNPJ 54871427000194 · Auditor independente e DFs · Versão e prevalência: Documentos atuais selecionados no inventário por categoria/escopo; a data documental isolada não comprova vigência jurídica.</a:t>
            </a:r>
          </a:p>
          <a:p>
            <a:r>
              <a:t>CNPJ 54871427000194 · Auditor independente e DFs · Resumo do histórico: {"count": 6, "dates": ["2025-01-01", "2025-04-15", "2025-12-31"], "document_count": 3, "sources": [{"document_id": "1151805", "title": "Demonstrações Financeiras", "reference_date": "2025-12-31", "version": "1", "page": 23, "url": "https://fnet.bmfbovespa.com.br/fnet/publico/visualizarDocumento?id=1151805", "sha256": "f1cea70b152968bf96ef9221b27225953cb20aeef487b2798db3c25e11b528d4"}, {"document_id": "883217", "title": "AGO", "reference_date": "2025-04-15", "version": "1", "page": 1, "url": "https://fnet.bmfbovespa.com.br/fnet/publico/visualizarDocumento?id=883217", "sha256": "233467aa4aa6265d253b610668cde19344ec99af4adf4df934c6a1bd88b9a044"}, {"document_id": "869529", "title": "Demonstrações Financeiras", "reference_date": "2025-01-01", "version": "1", "page": 23, "url": "https://fnet.bmfbovespa.com.br/fnet/publico/visualizarDocumento?id=869529", "sha256": "9a93a9369ac8efdbc54ff8fcee3ccac3abf88edab4807b9323d3852450771b2a"}], "reference": {"path": "history/54871427000194.json", "criterion_id": "audit", "total_count": 6, "preview_count": 3, "full_text_deferred": true, "sha256": "35d7cd99be50c7287c9fb675cf4f2e736002315295a225a9efa79c8d9186d874"}}</a:t>
            </a:r>
          </a:p>
          <a:p>
            <a:r>
              <a:t>CNPJ 60010416000112 · Auditor independente e DFs · AGE · ID 1313936 · 2026-08-31 · versão 1 · p. 1 · https://fnet.bmfbovespa.com.br/fnet/publico/visualizarDocumento?id=1313936</a:t>
            </a:r>
          </a:p>
          <a:p>
            <a:r>
              <a:t>CNPJ 60010416000112 · Auditor independente e DFs · Excerto da fonte:</a:t>
            </a:r>
          </a:p>
          <a:p>
            <a:r>
              <a:t>(d) Fica a Administradora autorizada a levantar, na Data da Cisão, demonstrações contábeis da  Classe, as quais darão suporte à realização da Cisão ora deliberada. As demonstrações contábeis  deverão ser auditadas, em conformidade com o art. 120, da Parte Geral, da Resolução CVM 175;</a:t>
            </a:r>
          </a:p>
          <a:p>
            <a:r>
              <a:t>CNPJ 60010416000112 · Auditor independente e DFs · Condição: Documentos atuais selecionados no inventário por categoria/escopo; a data documental isolada não comprova vigência jurídica.</a:t>
            </a:r>
          </a:p>
          <a:p>
            <a:r>
              <a:t>CNPJ 60010416000112 · Auditor independente e DFs · Versão e prevalência: Documentos atuais selecionados no inventário por categoria/escopo; a data documental isolada não comprova vigência jurídica.</a:t>
            </a:r>
          </a:p>
          <a:p>
            <a:r>
              <a:t>CNPJ 60010416000112 · Auditor independente e DFs · Resumo do histórico: {"count": 11, "dates": ["2026-04-16", "2026-05-08", "2026-07-29"], "document_count": 3, "sources": [{"document_id": "1277540", "title": "AGE", "reference_date": "2026-07-29", "version": "1", "page": 1, "url": "https://fnet.bmfbovespa.com.br/fnet/publico/visualizarDocumento?id=1277540", "sha256": "7a9b65092af34917f99f22b62eb7d248d67149b9c91dd87b07b924b9601ee9b0"}, {"document_id": "1298690", "title": "Demonstrações Financeiras - Fusão, cisão e incorporação", "reference_date": "2026-05-08", "version": "1", "page": 1, "url": "https://fnet.bmfbovespa.com.br/fnet/publico/visualizarDocumento?id=1298690", "sha256": "d979f7f7cf866a68b7fbc65c46fd726b7bcc13f9d0b809190857a9b465be7be2"}, {"document_id": "1282181", "title": "Demonstrações Financeiras - Fusão, cisão e incorporação", "reference_date": "2026-04-16", "version": "1", "page": 1, "url": "https://fnet.bmfbovespa.com.br/fnet/publico/visualizarDocumento?id=1282181", "sha256": "b1c6566e43a00bcd00c8a7f30c77b7f86e351bd8e355bbea113f46d1dafda703"}], "reference": {"path": "history/60010416000112.json", "criterion_id": "audit", "total_count": 11, "preview_count": 3, "full_text_deferred": true, "sha256": "8e2bd813f4c51cf01f6bfaad164bafe69d2bbb192f753eac92da3a01c2e63046"}}</a:t>
            </a:r>
          </a:p>
          <a:p>
            <a:r>
              <a:t>CNPJ 62696791000193 · Auditor independente e DFs · Regulamento · ID 1143317 · 2026-03-20 · versão 1 · p. 5 · 4.1.7 · https://fnet.bmfbovespa.com.br/fnet/publico/visualizarDocumento?id=1143317</a:t>
            </a:r>
          </a:p>
          <a:p>
            <a:r>
              <a:t>CNPJ 62696791000193 · Auditor independente e DFs · Excerto da fonte:</a:t>
            </a:r>
          </a:p>
          <a:p>
            <a:r>
              <a:t>4.1.7 As demonstrações contábeis cujo relatório de auditoria não contiver opinião modificada podem  ser consideradas automaticamente aprovadas caso a assembleia correspondente não seja  instalada em virtude do não comparecimento de quaisquer Cotistas.</a:t>
            </a:r>
          </a:p>
          <a:p>
            <a:r>
              <a:t>CNPJ 62696791000193 · Auditor independente e DFs · Regulamento · ID 1143317 · 2026-03-20 · versão 1 · p. 23 · 10.12 · https://fnet.bmfbovespa.com.br/fnet/publico/visualizarDocumento?id=1143317</a:t>
            </a:r>
          </a:p>
          <a:p>
            <a:r>
              <a:t>CNPJ 62696791000193 · Auditor independente e DFs · Excerto da fonte:</a:t>
            </a:r>
          </a:p>
          <a:p>
            <a:r>
              <a:t>10.12 O representante dos Cotistas será eleito com prazo de mandato a se encerrar na próxima Assembleia  de Cotistas que deliberar sobre a aprovação de demonstrações contábeis do Fundo, sendo permitida  a reeleição.</a:t>
            </a:r>
          </a:p>
          <a:p>
            <a:r>
              <a:t>CNPJ 62696791000193 · Auditor independente e DFs · Condição: Documentos atuais selecionados no inventário por categoria/escopo; a data documental isolada não comprova vigência jurídica.</a:t>
            </a:r>
          </a:p>
          <a:p>
            <a:r>
              <a:t>CNPJ 62696791000193 · Auditor independente e DFs · Versão e prevalência: Documentos atuais selecionados no inventário por categoria/escopo; a data documental isolada não comprova vigência jurídica.</a:t>
            </a:r>
          </a:p>
          <a:p>
            <a:r>
              <a:t>CNPJ 55563624000109 · Auditor independente e DFs · Regulamento · ID 1192614 · 2026-04-30 · versão 1 · p. 24 · 12.3 · https://fnet.bmfbovespa.com.br/fnet/publico/visualizarDocumento?id=1192614</a:t>
            </a:r>
          </a:p>
          <a:p>
            <a:r>
              <a:t>CNPJ 55563624000109 · Auditor independente e DFs · Excerto da fonte:</a:t>
            </a:r>
          </a:p>
          <a:p>
            <a:r>
              <a:t>12.3 Incluem-se entre as obrigações do ADMINISTRADOR, sem prejuízo de outras previstas na regulamentação:</a:t>
            </a:r>
          </a:p>
          <a:p>
            <a:r>
              <a:t> (i) sem prejuízo da observância dos procedimentos relativos às demonstrações contábeis, manter,  separadamente, registros com informações completas sobre toda e qualquer modalidade de negociação  realizada entre o ADMINISTRADOR, GESTOR, CUSTODIANTE, e/ou suas respectivas partes relacionadas,  tais como definidas pelas regras contábeis que tratam desse assunto, de um lado; e a Classe, de outro;</a:t>
            </a:r>
          </a:p>
          <a:p>
            <a:r>
              <a:t> (ii) diligenciar para que sejam mantidos, às suas expensas, atualizados e em perfeita ordem:</a:t>
            </a:r>
          </a:p>
          <a:p>
            <a:r>
              <a:t> (a) o registro de Cotistas;</a:t>
            </a:r>
          </a:p>
          <a:p>
            <a:r>
              <a:t> (b) o livro de atas das Assembleias de Cotistas;</a:t>
            </a:r>
          </a:p>
          <a:p>
            <a:r>
              <a:t> (c) o livro ou lista de presença de Cotistas;</a:t>
            </a:r>
          </a:p>
          <a:p>
            <a:r>
              <a:t> (d) os pareceres do Auditor Independente; e</a:t>
            </a:r>
          </a:p>
          <a:p>
            <a:r>
              <a:t> (e) os registros contábeis referentes às operações e ao patrimônio da Classe;</a:t>
            </a:r>
          </a:p>
          <a:p>
            <a:r>
              <a:t> (iii) pagar a multa cominatória às suas expensas, nos termos da legislação vigente, por cada dia de atraso no  cumprimento dos prazos previstos na regulamentação aplicável;</a:t>
            </a:r>
          </a:p>
          <a:p>
            <a:r>
              <a:t> (iv) elaborar e divulgar as informações periódicas e eventuais da Classe, nos termos deste Anexo e da  regulamentação e da autorregulação em vigor;</a:t>
            </a:r>
          </a:p>
          <a:p>
            <a:r>
              <a:t> (v) manter atualizada junto à CVM a lista de todos os prestadores de serviços contratados pela Classe,  inclusive os Prestadores de Serviços Essenciais, bem como as demais informações cadastrais da Classe e  suas Subclasses;</a:t>
            </a:r>
          </a:p>
          <a:p>
            <a:r>
              <a:t> (vi) manter serviço de atendimento aos Cotistas, responsável pelo esclarecimento de dúvidas e pelo  recebimento de reclamações;</a:t>
            </a:r>
          </a:p>
          <a:p>
            <a:r>
              <a:t> (vii) receber e processar os pedidos de resgate;</a:t>
            </a:r>
          </a:p>
          <a:p>
            <a:r>
              <a:t> (viii) monitorar os Eventos de Verificação do Patrimônio;</a:t>
            </a:r>
          </a:p>
          <a:p>
            <a:r>
              <a:t> (ix) monitorar os Eventos de Avaliação e Eventos de Liquidação;</a:t>
            </a:r>
          </a:p>
          <a:p>
            <a:r>
              <a:t> (x) observar as disposições constantes do Regulamento;</a:t>
            </a:r>
          </a:p>
          <a:p>
            <a:r>
              <a:t> (xi) cumprir as deliberações da Assembleia de Cotistas; e</a:t>
            </a:r>
          </a:p>
          <a:p>
            <a:r>
              <a:t> (xii) observar as disposições do Código ANBIMA e das Regras e Procedimentos ANBIMA</a:t>
            </a:r>
          </a:p>
          <a:p>
            <a:r>
              <a:t>CNPJ 55563624000109 · Auditor independente e DFs · Regulamento · ID 1192614 · 2026-04-30 · versão 1 · p. 4 · 4.6.1 · https://fnet.bmfbovespa.com.br/fnet/publico/visualizarDocumento?id=1192614</a:t>
            </a:r>
          </a:p>
          <a:p>
            <a:r>
              <a:t>CNPJ 55563624000109 · Auditor independente e DFs · Excerto da fonte:</a:t>
            </a:r>
          </a:p>
          <a:p>
            <a:r>
              <a:t>4.6.1 As deliberações relativas às matérias elencadas nos incisos abaixo serão tomadas, em primeira  convocação ou em segunda convocação, conforme os quóruns dispostos abaixo, em sede assembleia  geral de cotistas ou de assembleia especial de cotistas, conforme o caso:</a:t>
            </a:r>
          </a:p>
          <a:p>
            <a:r>
              <a:t> MATÉRIA SUJEITA À APROVAÇÃO QUÓRUM DE DELIBERAÇÃO</a:t>
            </a:r>
          </a:p>
          <a:p>
            <a:r>
              <a:t> (i) aprovação das demonstrações contábeis do FUNDO; Maioria do total das Cotas emitidas</a:t>
            </a:r>
          </a:p>
          <a:p>
            <a:r>
              <a:t>CNPJ 55563624000109 · Auditor independente e DFs · Regulamento · ID 1192614 · 2026-04-30 · versão 1 · p. 10 · 3.1 · https://fnet.bmfbovespa.com.br/fnet/publico/visualizarDocumento?id=1192614</a:t>
            </a:r>
          </a:p>
          <a:p>
            <a:r>
              <a:t>CNPJ 55563624000109 · Auditor independente e DFs · Excerto da fonte:</a:t>
            </a:r>
          </a:p>
          <a:p>
            <a:r>
              <a:t>3.1 A Classe terá Encargos que lhe poderão ser debitados diretamente, nos termos da Resolução CVM 175, e  quaisquer despesas que não constituam Encargos correm por conta do Prestador de Serviço Essencial que a tiver  contratado, incluindo, sem se limitar a:</a:t>
            </a:r>
          </a:p>
          <a:p>
            <a:r>
              <a:t> (i) Taxa de performance, se houver;</a:t>
            </a:r>
          </a:p>
          <a:p>
            <a:r>
              <a:t> (ii) Taxas, impostos ou contribuições federais, estaduais, municipais ou autárquicas, que recaiam ou  venham a recair sobre os bens, direitos e obrigações da Classe;</a:t>
            </a:r>
          </a:p>
          <a:p>
            <a:r>
              <a:t> (iii) Despesas com o registro de documentos, impressão, expedição e publicação de relatórios e informações  periódicas previstas na Resolução CVM 175;</a:t>
            </a:r>
          </a:p>
          <a:p>
            <a:r>
              <a:t> (iv) Despesas com correspondências de interesse do FUNDO ou da Classe, inclusive comunicações aos  Cotistas;</a:t>
            </a:r>
          </a:p>
          <a:p>
            <a:r>
              <a:t> (v) Honorários e despesas do Auditor Independente;</a:t>
            </a:r>
          </a:p>
          <a:p>
            <a:r>
              <a:t> BTG Pactual  SAC: 0800 772 28 27 - Ouvidoria: 0800 722 00 48 - btgpactual.com  3</a:t>
            </a:r>
          </a:p>
          <a:p>
            <a:r>
              <a:t>CNPJ 55563624000109 · Auditor independente e DFs · Condição: Documentos atuais selecionados no inventário por categoria/escopo; a data documental isolada não comprova vigência jurídica.</a:t>
            </a:r>
          </a:p>
          <a:p>
            <a:r>
              <a:t>CNPJ 55563624000109 · Auditor independente e DFs · Versão e prevalência: Documentos atuais selecionados no inventário por categoria/escopo; a data documental isolada não comprova vigência jurídica.</a:t>
            </a:r>
          </a:p>
          <a:p>
            <a:r>
              <a:t>CNPJ 55563624000109 · Auditor independente e DFs · Resumo do histórico: {"count": 2, "dates": ["2025-01-31", "2026-01-31"], "document_count": 2, "sources": [{"document_id": "1178840", "title": "Demonstrações Financeiras", "reference_date": "2026-01-31", "version": "1", "page": 4, "url": "https://fnet.bmfbovespa.com.br/fnet/publico/visualizarDocumento?id=1178840", "sha256": "c458e98664c5c907ddb5a05a94b120bed4e05295b2bfc420f5ba69af0a229abe"}, {"document_id": "891861", "title": "Demonstrações Financeiras", "reference_date": "2025-01-31", "version": "1", "page": 2, "url": "https://fnet.bmfbovespa.com.br/fnet/publico/visualizarDocumento?id=891861", "sha256": "e9cb9e6ddbe505fe068cfcac33605165a98313489de0d3ce6d4d238263c3f3e7"}], "reference": {"path": "history/55563624000109.json", "criterion_id": "audit", "total_count": 2, "preview_count": 2, "full_text_deferred": true, "sha256": "7835d573fb58a3c19adf5b8ecc2aee2bdbb9a88f7a0c0209b5f262b64c7522e3"}}</a:t>
            </a:r>
          </a:p>
          <a:p>
            <a:r>
              <a:t>CNPJ 62552447000120 · Auditor independente e DFs · Regulamento · ID 1200623 · 2026-05-21 · versão 1 · p. 4 · 4.1.6 · https://fnet.bmfbovespa.com.br/fnet/publico/visualizarDocumento?id=1200623</a:t>
            </a:r>
          </a:p>
          <a:p>
            <a:r>
              <a:t>CNPJ 62552447000120 · Auditor independente e DFs · Excerto da fonte:</a:t>
            </a:r>
          </a:p>
          <a:p>
            <a:r>
              <a:t>4.1.6 As demonstrações contábeis cujo relatório de auditoria não contiver opinião modificada podem  ser consideradas automaticamente aprovadas caso a Assembleia Geral correspondente não  seja instalada em virtude do não comparecimento de quaisquer Cotistas.</a:t>
            </a:r>
          </a:p>
          <a:p>
            <a:r>
              <a:t>CNPJ 62552447000120 · Auditor independente e DFs · Regulamento · ID 1200623 · 2026-05-21 · versão 1 · p. 29 · 12.16 · https://fnet.bmfbovespa.com.br/fnet/publico/visualizarDocumento?id=1200623</a:t>
            </a:r>
          </a:p>
          <a:p>
            <a:r>
              <a:t>CNPJ 62552447000120 · Auditor independente e DFs · Excerto da fonte:</a:t>
            </a:r>
          </a:p>
          <a:p>
            <a:r>
              <a:t>12.16 Os serviços de auditoria das demonstrações f inanceiras e demais contas da Classe serão prestados  por Auditor Independente contratado pelo Administrador. Pelos serviços prestados, o Auditor  Independente f ará jus ao recebimento de remuneração a ser def inida em contrato específico, a qual  será paga pela Classe.</a:t>
            </a:r>
          </a:p>
          <a:p>
            <a:r>
              <a:t>CAPÍTULO 13 – TAXA GLOBAL</a:t>
            </a:r>
          </a:p>
          <a:p>
            <a:r>
              <a:t>CNPJ 62552447000120 · Auditor independente e DFs · Condição: Documentos atuais selecionados no inventário por categoria/escopo; a data documental isolada não comprova vigência jurídica.</a:t>
            </a:r>
          </a:p>
          <a:p>
            <a:r>
              <a:t>CNPJ 62552447000120 · Auditor independente e DFs · Versão e prevalência: Documentos atuais selecionados no inventário por categoria/escopo; a data documental isolada não comprova vigência jurídica.</a:t>
            </a:r>
          </a:p>
          <a:p>
            <a:r>
              <a:t>CNPJ 63953620000165 · Auditor independente e DFs · Anexo ao Regulamento · ID 1222863 · 2026-06-02 · versão 1 · p. 4 · 3.4 · https://fnet.bmfbovespa.com.br/fnet/publico/visualizarDocumento?id=1222863</a:t>
            </a:r>
          </a:p>
          <a:p>
            <a:r>
              <a:t>CNPJ 63953620000165 · Auditor independente e DFs · Excerto da fonte:</a:t>
            </a:r>
          </a:p>
          <a:p>
            <a:r>
              <a:t>3.4 Adicionalmente aos Encargos, as seguintes despesas serão debitadas diretamente da Classe, nos termos do art.</a:t>
            </a:r>
          </a:p>
          <a:p>
            <a:r>
              <a:t> 51 do Anexo Normativo II da Resolução CVM 175 (“Despesas Adicionais”):</a:t>
            </a:r>
          </a:p>
          <a:p>
            <a:r>
              <a:t> (i) Despesas com registro de Direitos Creditórios;</a:t>
            </a:r>
          </a:p>
          <a:p>
            <a:r>
              <a:t> (ii) Despesas com serviços de originação, cobranças ordinária e/ou extraordinária dos Direitos Creditórios,  e/ou verificação de lastro dos Direitos Creditórios, conforme aplicável;</a:t>
            </a:r>
          </a:p>
          <a:p>
            <a:r>
              <a:t> (iii) Despesas com a contratação de atividades relacionadas à verificação de lastro;</a:t>
            </a:r>
          </a:p>
          <a:p>
            <a:r>
              <a:t> (iv) Despesas com a contratação de Agente de Retenção/Cobrança; Despesas com a contratação de  consultoria especializada, conforme o caso;</a:t>
            </a:r>
          </a:p>
          <a:p>
            <a:r>
              <a:t> (v) Remuneração do Custodiante;</a:t>
            </a:r>
          </a:p>
          <a:p>
            <a:r>
              <a:t> (vi) Despesas com honorários advocatícios para quaisquer assuntos de interesse da Classe, seja na esfera  judicial ou extrajudicial, inclusive consultivo;</a:t>
            </a:r>
          </a:p>
          <a:p>
            <a:r>
              <a:t> (vii) Despesas com a assinatura e registro dos Termos de Endosso, conforme aplicável, junto aos  competentes cartórios de Registro de Títulos e Documentos;</a:t>
            </a:r>
          </a:p>
          <a:p>
            <a:r>
              <a:t> (viii) Despesas inerentes à distribuição primária de Cotas, inclusive a contratação e remuneração do  distribuidor das Cotas para cada oferta de Cotas da Classe, nos termos de cada contrato de distribuição  e honorários devidos ao(s) assessor(es) legal(is) de cada oferta, assim como despesas com o registro das  Cotas na CVM, ANBIMA e/ou na entidade de mercado organizado em que as cotas sejam registradas,  conforme aplicável;</a:t>
            </a:r>
          </a:p>
          <a:p>
            <a:r>
              <a:t> (ix) Taxas de fiscalização da CVM e/ou ANBIMA, conforme aplicável; e</a:t>
            </a:r>
          </a:p>
          <a:p>
            <a:r>
              <a:t> (x) Despesas com contratação e remuneração do Auditor Independente e da Agência Classificadora de  Risco.</a:t>
            </a:r>
          </a:p>
          <a:p>
            <a:r>
              <a:t>CNPJ 63953620000165 · Auditor independente e DFs · Condição: Documentos atuais selecionados no inventário por categoria/escopo; a data documental isolada não comprova vigência jurídica.</a:t>
            </a:r>
          </a:p>
          <a:p>
            <a:r>
              <a:t>CNPJ 63953620000165 · Auditor independente e DFs · Motivo: Cláusula primária localizada e citada, mas sua lista/condições extensas não admitem uma síntese literal curta confirmada. O trecho integral permanece nas fontes.</a:t>
            </a:r>
          </a:p>
          <a:p>
            <a:r>
              <a:t>CNPJ 63953620000165 · Auditor independente e DFs · Versão e prevalência: Documentos atuais selecionados no inventário por categoria/escopo; a data documental isolada não comprova vigência jurídica.</a:t>
            </a:r>
          </a:p>
          <a:p>
            <a:r>
              <a:t>CNPJ 63953620000165 · Auditor independente e DFs · Resumo do histórico: {"count": 8, "dates": ["2026-04-28", "2026-05-08", "2026-05-15"], "document_count": 3, "sources": [{"document_id": "1327859", "title": "Demonstrações Financeiras - Fusão, cisão e incorporação", "reference_date": "2026-05-15", "version": "1", "page": 1, "url": "https://fnet.bmfbovespa.com.br/fnet/publico/visualizarDocumento?id=1327859", "sha256": "dca1c68babb97f887528c3e2e47596a9c30f507b067981a35655b2f2da9c8054"}, {"document_id": "1298691", "title": "Demonstrações Financeiras - Fusão, cisão e incorporação", "reference_date": "2026-05-08", "version": "1", "page": 1, "url": "https://fnet.bmfbovespa.com.br/fnet/publico/visualizarDocumento?id=1298691", "sha256": "58c570d9b8d4d265330d3db3ea81c435b8e44a6dab4002aa37790652a1ee9819"}, {"document_id": "1282180", "title": "Demonstrações Financeiras - Fusão, cisão e incorporação", "reference_date": "2026-04-28", "version": "1", "page": 1, "url": "https://fnet.bmfbovespa.com.br/fnet/publico/visualizarDocumento?id=1282180", "sha256": "afaaa0e6809be4385e5bdb6c911aac582032c5bdbac3d7750234bf9eaf00438a"}], "reference": {"path": "history/63953620000165.json", "criterion_id": "audit",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Governança e alterações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Quóruns e matérias reservadas · Regulamento · ID 670691 · 28/04/2024 · versão Regulamento — referência 28/04/2024 · p. 4 · Parte Geral, 4.4–4.4.1 · https://fnet.bmfbovespa.com.br/fnet/publico/visualizarDocumento?id=670691</a:t>
            </a:r>
          </a:p>
          <a:p>
            <a:r>
              <a:t>CNPJ 54871427000194 · Quóruns e matérias reservadas · Excerto da fonte:</a:t>
            </a:r>
          </a:p>
          <a:p>
            <a:r>
              <a:t>4.4 Ressalvadas as exceções descritas neste Regulamento, toda e qualquer matéria submetida à deliberação dos cotistas deverá ser aprovada por maioria dos votos dos presentes. 4.4.1 As deliberações relativas às matérias elencadas nos incisos abaixo serão tomadas, em primeira convocação ou em segunda convocação, pelos votos dos titulares da maioria das cotas em circulação, em sede assembleia geral de cotistas ou de assembleia especial de cotistas, conf orme o caso: (i) aprovação das demonstrações contábeis do FUNDO; (ii) alteração da Parte Geral deste Regulamento; (iii) substituição ou remoção do Prestador de Serviços Essenciais do FUNDO, ressalvada a possibilidade prevista no Art. 70, §1º, da Parte Geral da Resolução CVM 175; (iv) alterações nos quóruns de deliberação def inidos neste Regulamento; (v) cobrança de taxas e encargos pelo ADMINISTRADOR, de qualquer natureza, que não estejam expressamente previstos neste Regulamento; (vi) liquidação do FUNDO. (vii) plano de resolu</a:t>
            </a:r>
          </a:p>
          <a:p>
            <a:r>
              <a:t>CNPJ 54871427000194 · Quóruns e matérias reservadas · Regulamento · ID 670691 · 28/04/2024 · versão Regulamento — referência 28/04/2024 · p. 17 · Anexo I, 10.1 · https://fnet.bmfbovespa.com.br/fnet/publico/visualizarDocumento?id=670691</a:t>
            </a:r>
          </a:p>
          <a:p>
            <a:r>
              <a:t>CNPJ 54871427000194 · Quóruns e matérias reservadas · Excerto da fonte:</a:t>
            </a:r>
          </a:p>
          <a:p>
            <a:r>
              <a:t>10.1 Sem prejuízo de outros requisitos e inf ormações previstos na regulamentação vigente, são aplicáveis à Assembleia Especial de Cotistas as mesmas disposições procedimentais da Assembleia Geral de Cotistas. 10.2 A Assembleia Especial de Cotistas é responsável por deliberar sobre as matérias específicas da Classe de Cotas, sem prejuízo das demais disposições previstas na regulamentação aplicável, incluindo, mas não se limitando a: (i) deliberar sobre as demonstrações contábeis da Classe; (ii) deliberar sobre substituição de Prestadores de Serviços Essenciais, observado o disposto no art. 70, §1º da parte geral da Resolução CVM 175; (iii) deliberar sobre elevação da Taxa de Administração, inclusive na hipótese de restabelecimento de taxa que tenha sido objeto de redução; (iv) deliberar sobre incorporação, f usão, cisão total ou parcial, a transf ormação ou liquidação da Classe; (v) alterações das características, vantagens, direitos e obrigações das Cotas; (vi) alterar critérios e procedimentos para Amortização e/ou resgate de Cotas mediante dação em pagamento de Direitos Creditórios; (vii) a</a:t>
            </a:r>
          </a:p>
          <a:p>
            <a:r>
              <a:t>CNPJ 54871427000194 · Quóruns e matérias reservadas · Versão e prevalência: Leitura específica das cláusulas indicadas; condições e conflitos preservados. Seleção documental atual não comprova vigência jurídica por data isolada.</a:t>
            </a:r>
          </a:p>
          <a:p>
            <a:r>
              <a:t>CNPJ 54871427000194 · Quóruns e matérias reservadas · Resumo do histórico: {"count": 1, "dates": ["2024-04-19"], "document_count": 1, "sources": [{"document_id": "670689", "title": "Regulamento", "reference_date": "2024-04-19", "version": "1", "page": 20, "clause": "11.6", "url": "https://fnet.bmfbovespa.com.br/fnet/publico/visualizarDocumento?id=670689", "sha256": "891bc9bc5d87bbc02ec139077a84d2702eb81ea02035fb71d24f5b8366b94a0b"}], "reference": {"path": "history/54871427000194.json", "criterion_id": "quorum", "total_count": 1, "preview_count": 1, "full_text_deferred": true, "sha256": "35d7cd99be50c7287c9fb675cf4f2e736002315295a225a9efa79c8d9186d874"}}</a:t>
            </a:r>
          </a:p>
          <a:p>
            <a:r>
              <a:t>CNPJ 60010416000112 · Quóruns e matérias reservadas · Regulamento · ID 1051393 · 09/10/2025 · versão Regulamento09/10/2025 · p. 18 · AnexoI9.2(ii)–(xvii) · https://fnet.bmfbovespa.com.br/fnet/publico/visualizarDocumento?id=1051393</a:t>
            </a:r>
          </a:p>
          <a:p>
            <a:r>
              <a:t>CNPJ 60010416000112 · Quóruns e matérias reservadas · Excerto da fonte:</a:t>
            </a:r>
          </a:p>
          <a:p>
            <a:r>
              <a:t>(ii) alterar este Anexo I e seus complementos, incluindo mas não se limitando aos Apêndices de cada uma das subclasses; (iii) deliberar sobre substituição de Prestadores de Serviços Essenciais, observado o disposto no Art. 70, §1º da parte geral da Resolução CVM 175, quando aplicável, ou do Custodiante; (iv) deliberar sobre elevação da Taxa de Administração, inclusive na hipótese de restabelecimento de taxa que tenha sido objeto de redução; (v) deliberar sobre incorporação, fusão, cisão total ou parcial, a transformação ou liquidação da Classe; (vi) alter</a:t>
            </a:r>
          </a:p>
          <a:p>
            <a:r>
              <a:t>CNPJ 60010416000112 · Quóruns e matérias reservadas · Regulamento · ID 1051393 · 09/10/2025 · versão Regulamento09/10/2025 · p. 19 · AnexoI9.8–9.9 · https://fnet.bmfbovespa.com.br/fnet/publico/visualizarDocumento?id=1051393</a:t>
            </a:r>
          </a:p>
          <a:p>
            <a:r>
              <a:t>CNPJ 60010416000112 · Quóruns e matérias reservadas · Excerto da fonte:</a:t>
            </a:r>
          </a:p>
          <a:p>
            <a:r>
              <a:t>9.8 As deliberações constantes dos incisos (ii), (iii), (iv), (v), (vi), (vii), (x), (xi), (xii), (xiii) e (xvii) acima, apenas serão aprovadas, seja em primeira ou em segunda convocação, por unanimidade dos votos dos titulares das Cotas em circulação. 9.9 As deliberações relativas aos demais incisos do item 9.2 acima apenas serão aprovadas, seja em primeira ou em segunda convocação, mediante o voto favorável dos Cotistas que representem a maioria das Cotas emitidas pela Classe. 9.10 Somente os Cotistas, seus representantes legais ou procuradores legalmente nomeados há menos de 1 (um) ano ter</a:t>
            </a:r>
          </a:p>
          <a:p>
            <a:r>
              <a:t>CNPJ 60010416000112 · Quóruns e matérias reservadas · Versão e prevalência: Leitura específica das cláusulas indicadas; condições e conflitos preservados. Seleção documental atual não comprova vigência jurídica por data isolada.</a:t>
            </a:r>
          </a:p>
          <a:p>
            <a:r>
              <a:t>CNPJ 60010416000112 · Quóruns e matérias reservadas · Resumo do histórico: {"count": 3, "dates": ["2025-03-20", "2025-05-09", "2025-05-12"], "document_count": 3, "sources": [{"document_id": "1004656", "title": "AGE", "reference_date": "2025-05-12", "version": "1", "page": 1, "url": "https://fnet.bmfbovespa.com.br/fnet/publico/visualizarDocumento?id=1004656", "sha256": "f6c9c009f6170e2b29f074b98522accec73f0c40efbf11f9ec2c8d3f1402616b"}, {"document_id": "911262", "title": "AGE", "reference_date": "2025-05-09", "version": "1", "page": 1, "url": "https://fnet.bmfbovespa.com.br/fnet/publico/visualizarDocumento?id=911262", "sha256": "675de4ffe8c5ee95957fb29810625ce850d1a0b69b5231747442266f0cbf32a3"}, {"document_id": "993786", "title": "Regulamento", "reference_date": "2025-03-20", "version": "1", "page": 22, "clause": "10.6", "url": "https://fnet.bmfbovespa.com.br/fnet/publico/visualizarDocumento?id=993786", "sha256": "fd0fdd369a195510d81f81f505195a0b09e5f43522a990afa7d58c4f872921c8"}], "reference": {"path": "history/60010416000112.json", "criterion_id": "quorum", "total_count": 3, "preview_count": 3, "full_text_deferred": true, "sha256": "8e2bd813f4c51cf01f6bfaad164bafe69d2bbb192f753eac92da3a01c2e63046"}}</a:t>
            </a:r>
          </a:p>
          <a:p>
            <a:r>
              <a:t>CNPJ 62696791000193 · Quóruns e matérias reservadas · Regulamento · ID 1143317 · 20/03/2026 · versão Regulamento — referência 20/03/2026 · p. 20 · Anexo I, 10.2, tabela · https://fnet.bmfbovespa.com.br/fnet/publico/visualizarDocumento?id=1143317</a:t>
            </a:r>
          </a:p>
          <a:p>
            <a:r>
              <a:t>CNPJ 62696791000193 · Quóruns e matérias reservadas · Excerto da fonte:</a:t>
            </a:r>
          </a:p>
          <a:p>
            <a:r>
              <a:t>10.2 Os seguintes quóruns deverão ser observados pela Assembleia Especial de Cotistas ao deliberar as matérias abaixo: Matéria Quórum I – alterar o presente Anexo; Maioria das Cotas Subscritas (“Quórum Qualificado”), observada BTG Pactual SAC: 0800 772 2827 | Ouvidoria: 0800 722 0048 | btgpactual.co m 15</a:t>
            </a:r>
          </a:p>
          <a:p>
            <a:r>
              <a:t>CNPJ 62696791000193 · Quóruns e matérias reservadas · Regulamento · ID 1143317 · 20/03/2026 · versão Regulamento — referência 20/03/2026 · p. 21 · Anexo I, 10.2, tabela · https://fnet.bmfbovespa.com.br/fnet/publico/visualizarDocumento?id=1143317</a:t>
            </a:r>
          </a:p>
          <a:p>
            <a:r>
              <a:t>CNPJ 62696791000193 · Quóruns e matérias reservadas · Excerto da fonte:</a:t>
            </a:r>
          </a:p>
          <a:p>
            <a:r>
              <a:t>Matéria Quórum a necessidade de voto afirmativo da Maioria das Cotas Seniores subscritas da Classe Quórum Qualif icado observada a necessidade de voto af irmativo da II – substituição do Administrador, do Gestor e da Cogestora; Maioria das Cotas Seniores subscritas da Classe Maioria Simples, observada a III – Emissão e distribuição de novas Cotas em quantidade necessidade de voto af irmativo da superior ao Capital Autorizado da Classe ; Maioria das Cotas Seniores subscritas da Classe</a:t>
            </a:r>
          </a:p>
          <a:p>
            <a:r>
              <a:t>CNPJ 62696791000193 · Quóruns e matérias reservadas · Regulamento · ID 1143317 · 20/03/2026 · versão Regulamento — referência 20/03/2026 · p. 22 · Anexo I, 10.2(XI) e 10.5–10.7 · https://fnet.bmfbovespa.com.br/fnet/publico/visualizarDocumento?id=1143317</a:t>
            </a:r>
          </a:p>
          <a:p>
            <a:r>
              <a:t>CNPJ 62696791000193 · Quóruns e matérias reservadas · Excerto da fonte:</a:t>
            </a:r>
          </a:p>
          <a:p>
            <a:r>
              <a:t>10.5 As deliberações que tenham por objeto alterações de Benchmark apenas serão aprovadas se assim deliberado: (i) pelos votos dos titulares da maioria das Cotas em circulação da Série ou Subclasse cujo Benchmark é alterado; e (ii) pelos votos dos titulares da maioria das Cotas Mezanino que se subordinem a ela e/ou das Cotas Subordinadas em circulação. 10.6 As deliberações que tenham por objeto o aumento do Índice de Subordinação estão sujeitas à aprovação da maioria simples dos votos dos titulares das Cotas Mezanino que se subordinem a ela e/ou das Cotas Subordinadas em circulação. 10.7 As deliberações que tenham por objeto a diminuição do Índice de Subordinação apenas serão aprovadas se assim deliberado: (i) pelos votos dos titulares da maioria das Cotas em circulação de cada uma das Séries de Cotas Seniores e/ou dos titulares das Cotas Mezanino que tenham o Benchmark alterado; e (ii) pelo voto dos titulares da maioria das Cotas Mezanino que se subordinem a ela e/ou Cotas Subordinadas Júnior em circulação . Representante de Cotistas 10.8 A Assembleia de Cotistas pode, a qualquer momento, eleger até 3 (três) representantes de cotistas, a serem eleitos e nomeados pela assembleia especial,</a:t>
            </a:r>
          </a:p>
          <a:p>
            <a:r>
              <a:t>CNPJ 62696791000193 · Quóruns e matérias reservadas · Versão e prevalência: Leitura específica das cláusulas indicadas; condições e conflitos preservados. Seleção documental atual não comprova vigência jurídica por data isolada.</a:t>
            </a:r>
          </a:p>
          <a:p>
            <a:r>
              <a:t>CNPJ 55563624000109 · Quóruns e matérias reservadas · Regulamento · ID 1192614 · 30/04/2026 · versão Regulamento30/04/2026 · p. 19 · AnexoI10.2(i)–(v) · https://fnet.bmfbovespa.com.br/fnet/publico/visualizarDocumento?id=1192614</a:t>
            </a:r>
          </a:p>
          <a:p>
            <a:r>
              <a:t>CNPJ 55563624000109 · Quóruns e matérias reservadas · Excerto da fonte:</a:t>
            </a:r>
          </a:p>
          <a:p>
            <a:r>
              <a:t>10.2 A Assembleia Especial de Cotistas é responsável por deliberar, observados os quóruns abaixo, sobre as matérias específicas da Classe, sem prejuízo das demais disposições previstas na regulamentação aplicável, incluindo, mas não se limitando a: MATÉRIA SUJEITA À APROVAÇÃO QUÓRUM DE DELIBERAÇÃO (i) deliberar sobre as demonstrações contábeis da Classe; Maioria do total das Cotas emitidas (ii) deliberar sobre a substituição de Prestadores de Serviços 90% (noventa por cento) do total das Cotas</a:t>
            </a:r>
          </a:p>
          <a:p>
            <a:r>
              <a:t>CNPJ 55563624000109 · Quóruns e matérias reservadas · Regulamento · ID 1192614 · 30/04/2026 · versão Regulamento30/04/2026 · p. 20 · AnexoI10.2(vi)–(xiii) · https://fnet.bmfbovespa.com.br/fnet/publico/visualizarDocumento?id=1192614</a:t>
            </a:r>
          </a:p>
          <a:p>
            <a:r>
              <a:t>CNPJ 55563624000109 · Quóruns e matérias reservadas · Excerto da fonte:</a:t>
            </a:r>
          </a:p>
          <a:p>
            <a:r>
              <a:t>(vi) alterar as características, vantagens, direitos e obrigações 90% (noventa por cento) do total das Cotas das Cotas; emitidas (vii) alterar critérios e procedimentos para resgate de Cotas mediante dação em pagamento de Cotas da Classe Maioria do total das Cotas emitidas Investida; (viii) aprovar a emissão de novas Cotas fora do Capital Maioria do total das Cotas emitidas</a:t>
            </a:r>
          </a:p>
          <a:p>
            <a:r>
              <a:t>CNPJ 55563624000109 · Quóruns e matérias reservadas · Versão e prevalência: Leitura específica das cláusulas indicadas; condições e conflitos preservados. Seleção documental atual não comprova vigência jurídica por data isolada.</a:t>
            </a:r>
          </a:p>
          <a:p>
            <a:r>
              <a:t>CNPJ 55563624000109 · Quóruns e matérias reservadas · Resumo do histórico: {"count": 2, "dates": ["2025-01-31", "2026-01-31"], "document_count": 2, "sources": [{"document_id": "1178840", "title": "Demonstrações Financeiras", "reference_date": "2026-01-31", "version": "1", "page": 24, "url": "https://fnet.bmfbovespa.com.br/fnet/publico/visualizarDocumento?id=1178840", "sha256": "c458e98664c5c907ddb5a05a94b120bed4e05295b2bfc420f5ba69af0a229abe"}, {"document_id": "891861", "title": "Demonstrações Financeiras", "reference_date": "2025-01-31", "version": "1", "page": 25, "url": "https://fnet.bmfbovespa.com.br/fnet/publico/visualizarDocumento?id=891861", "sha256": "e9cb9e6ddbe505fe068cfcac33605165a98313489de0d3ce6d4d238263c3f3e7"}], "reference": {"path": "history/55563624000109.json", "criterion_id": "quorum", "total_count": 2, "preview_count": 2, "full_text_deferred": true, "sha256": "7835d573fb58a3c19adf5b8ecc2aee2bdbb9a88f7a0c0209b5f262b64c7522e3"}}</a:t>
            </a:r>
          </a:p>
          <a:p>
            <a:r>
              <a:t>CNPJ 62552447000120 · Quóruns e matérias reservadas · Regulamento · ID 1200623 · 21/05/2026 · versão Consolidado21/05/2026 aprovado pelo ato1200625 · p. 21 · AnexoI10.2(i)–(x) · https://fnet.bmfbovespa.com.br/fnet/publico/visualizarDocumento?id=1200623</a:t>
            </a:r>
          </a:p>
          <a:p>
            <a:r>
              <a:t>CNPJ 62552447000120 · Quóruns e matérias reservadas · Excerto da fonte:</a:t>
            </a:r>
          </a:p>
          <a:p>
            <a:r>
              <a:t>10.2 Os seguintes quóruns deverão ser observados pela Assembleia Especial ao deliberar as matérias abaixo: Matéria Quórum (i) deliberar sobre substituição de Prestadores de Serviços Unanimidade dos Cotistas Essenciais, observado o disposto no art. 70, §1º da Parte Geral da Resolução CVM 175, quando aplicável; (ii) deliberar sobre elevação da Taxa Global, inclusive na Unanimidade dos Cotistas hipótese de restabelecimento de taxa que tenha sido objeto de redução; (iii) delibera</a:t>
            </a:r>
          </a:p>
          <a:p>
            <a:r>
              <a:t>CNPJ 62552447000120 · Quóruns e matérias reservadas · Versão e prevalência: Leitura específica das cláusulas indicadas; condições e conflitos preservados. Seleção documental atual não comprova vigência jurídica por data isolada.</a:t>
            </a:r>
          </a:p>
          <a:p>
            <a:r>
              <a:t>CNPJ 63953620000165 · Quóruns e matérias reservadas · Anexo ao Regulamento · ID 1222863 · 02/06/2026 · versão AnexoConsignadoPrivado02/06/2026 · p. 13 · 10.2(ii)–(xvii) · https://fnet.bmfbovespa.com.br/fnet/publico/visualizarDocumento?id=1222863</a:t>
            </a:r>
          </a:p>
          <a:p>
            <a:r>
              <a:t>CNPJ 63953620000165 · Quóruns e matérias reservadas · Excerto da fonte:</a:t>
            </a:r>
          </a:p>
          <a:p>
            <a:r>
              <a:t>10.2 Os seguintes quóruns deverão ser observados pela Assembleia Especial de Cotistas ao deliberar as matérias abaixo: Matéria Quórum (i) deliberar sobre as demonstrações contábeis da Classe; Maioria das Cotas presentes (ii) alterar o presente Anexo; Maioria das Cotas de cada Subclasse (iii) deliberar sobre substituição de Prestadores de Serviços Maioria das Cotas da Classe Essenciais, observado o disposto no Artigo 70, §1º da parte geral da R</a:t>
            </a:r>
          </a:p>
          <a:p>
            <a:r>
              <a:t>CNPJ 63953620000165 · Quóruns e matérias reservadas · Anexo ao Regulamento · ID 1222863 · 02/06/2026 · versão AnexoConsignadoPrivado02/06/2026 · p. 14 · 10.5–10.8 · https://fnet.bmfbovespa.com.br/fnet/publico/visualizarDocumento?id=1222863</a:t>
            </a:r>
          </a:p>
          <a:p>
            <a:r>
              <a:t>CNPJ 63953620000165 · Quóruns e matérias reservadas · Excerto da fonte:</a:t>
            </a:r>
          </a:p>
          <a:p>
            <a:r>
              <a:t>10.5 Caso a matéria em deliberação resulte ou possa resultar em uma redução do Índice de Subordinação de uma determinada Subclasse, somente podem votar os titulares de Subclasses de Cotas Seniores. 10.6 As deliberações que tenham por objeto alterações de Benchmark apenas serão aprovadas se assim deliberado: (i) pelos votos dos titulares da maioria das Cotas Seniores cujo Benchmark é alterado; e (ii) pelos votos dos titulares da maioria das Cotas Subordinadas em circulação. 10.7 As deliberações que tenham por objeto o aumento do Índice de Subordinação Sênior estão sujeitas à aprovação da maioria simples dos votos dos titu</a:t>
            </a:r>
          </a:p>
          <a:p>
            <a:r>
              <a:t>CNPJ 63953620000165 · Quóruns e matérias reservadas · Condição: 10.7/10.8 repetem aumento do índice com quóruns distintos; interpretar regra específica demandará resolver conflito, sem presumir uma aprovação.</a:t>
            </a:r>
          </a:p>
          <a:p>
            <a:r>
              <a:t>CNPJ 63953620000165 · Quóruns e matérias reservadas · Versão e prevalência: Leitura específica das cláusulas indicadas; condições e conflitos preservados. Seleção documental atual não comprova vigência jurídica por data isolada.</a:t>
            </a:r>
          </a:p>
          <a:p>
            <a:r>
              <a:t>CNPJ 63953620000165 · Quóruns e matérias reservadas · Resumo do histórico: {"count": 7, "dates": ["2026-04-28", "2026-05-08", "2026-05-15"], "document_count": 3, "sources": [{"document_id": "1327859", "title": "Demonstrações Financeiras - Fusão, cisão e incorporação", "reference_date": "2026-05-15", "version": "1", "page": 10, "url": "https://fnet.bmfbovespa.com.br/fnet/publico/visualizarDocumento?id=1327859", "sha256": "dca1c68babb97f887528c3e2e47596a9c30f507b067981a35655b2f2da9c8054"}, {"document_id": "1298691", "title": "Demonstrações Financeiras - Fusão, cisão e incorporação", "reference_date": "2026-05-08", "version": "1", "page": 10, "url": "https://fnet.bmfbovespa.com.br/fnet/publico/visualizarDocumento?id=1298691", "sha256": "58c570d9b8d4d265330d3db3ea81c435b8e44a6dab4002aa37790652a1ee9819"}, {"document_id": "1205431", "title": "AGE", "reference_date": "2026-04-28", "version": "1", "page": 1, "url": "https://fnet.bmfbovespa.com.br/fnet/publico/visualizarDocumento?id=1205431", "sha256": "e0b59c701c5d0dbf60de698ea7664d442240863b7043bacdb334ce484188b2ac"}], "reference": {"path": "history/63953620000165.json", "criterion_id": "quorum", "total_count": 7, "preview_count": 3, "full_text_deferred": true, "sha256": "a7b89077f5e21098c2d601c303faabc3ff6b9729f89d8afecdc60fe1404720c1"}}</a:t>
            </a:r>
          </a:p>
          <a:p>
            <a:r>
              <a:t>CNPJ 54871427000194 · Partes relacionadas e conflitos · Regulamento · ID 670691 · 2024-04-28 · versão 1 · p. 11 · 4.10 · https://fnet.bmfbovespa.com.br/fnet/publico/visualizarDocumento?id=670691</a:t>
            </a:r>
          </a:p>
          <a:p>
            <a:r>
              <a:t>CNPJ 54871427000194 · Partes relacionadas e conflitos · Excerto da fonte:</a:t>
            </a:r>
          </a:p>
          <a:p>
            <a:r>
              <a:t>4.10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54871427000194 · Partes relacionadas e conflitos · Regulamento · ID 670691 · 2024-04-28 · versão 1 · p. 11 · 4.11 · https://fnet.bmfbovespa.com.br/fnet/publico/visualizarDocumento?id=670691</a:t>
            </a:r>
          </a:p>
          <a:p>
            <a:r>
              <a:t>CNPJ 54871427000194 · Partes relacionadas e conflitos · Excerto da fonte:</a:t>
            </a:r>
          </a:p>
          <a:p>
            <a:r>
              <a:t>4.11 A Classe poderá, direta ou indiretamente e, nos termos da legislação aplicável: (i) adquirir Direitos  Creditórios que sejam cedidos e/ou originados pelo ADMINISTRADOR e/ou pelo GESTOR, ou partes  a eles relacionadas, tal como definidas pelas regras contábeis que tratam desse assunto; e (ii) ceder  Direitos Creditórios a qualquer das pessoas, fundos de investimento ou entidades referidas no item (i)  acima, desde que (i) o ADMINISTRADOR, GESTOR, a entidade registradora e o CUSTODIANTE de  Direitos Creditórios não sejam partes relacionadas entre si; e (ii) a entidade registradora e o  CUSTODIANTE dos Direitos Creditórios não sejam partes relacionadas ao originador ou Cedente.</a:t>
            </a:r>
          </a:p>
          <a:p>
            <a:r>
              <a:t>CNPJ 54871427000194 · Partes relacionadas e conflitos · Regulamento · ID 670691 · 2024-04-28 · versão 1 · p. 25 · 12.21 · https://fnet.bmfbovespa.com.br/fnet/publico/visualizarDocumento?id=670691</a:t>
            </a:r>
          </a:p>
          <a:p>
            <a:r>
              <a:t>CNPJ 54871427000194 · Partes relacionadas e conflitos · Excerto da fonte:</a:t>
            </a:r>
          </a:p>
          <a:p>
            <a:r>
              <a:t>12.21 O GESTOR, em nome da Classe, poderá contratar um ou mais terceiros para a prestação de serviços  de Agente de Cobrança de Direitos Creditórios Inadimplidos, os quais poderão ser partes relacionadas  ou integrar o grupo do ADMINISTRADOR ou dos demais prestadores de serviços da Classe. ] Serão  atribuições do Agente de Cobrança, observado o disposto neste Regulamento e na regulamentação  aplicável:</a:t>
            </a:r>
          </a:p>
          <a:p>
            <a:r>
              <a:t>(i) sempre que necessário, notificar os Devedores sobre a cessão dos Direitos Creditórios à  Classe, nos termos do Art. 290 do Código Civil;</a:t>
            </a:r>
          </a:p>
          <a:p>
            <a:r>
              <a:t>(ii) sempre que solicitado pelo ADMINISTRADOR e/ou pelo GESTOR, reportar ao  ADMINISTRADOR e ao GESTOR as ações tomadas e/ou eventos relevantes ocorridos no  âmbito da cobrança, seja judicial ou extrajudicial, dos Direitos Creditórios Inadimplidos, bem  como o estado de ref erida cobrança;</a:t>
            </a:r>
          </a:p>
          <a:p>
            <a:r>
              <a:t>(iii) comparecer à Assembleia Especial de Cotistas quando assim requerido pelo  ADMINISTRADOR;</a:t>
            </a:r>
          </a:p>
          <a:p>
            <a:r>
              <a:t>(iv) conf irmar o recebimento dos boletos bancários de cobrança enviados aos Devedores, se  aplicável;</a:t>
            </a:r>
          </a:p>
          <a:p>
            <a:r>
              <a:t>(v) controlar, coordenar, gerir e f iscalizar as ações de cobrança de Direitos Creditórios  Inadimplidos;</a:t>
            </a:r>
          </a:p>
          <a:p>
            <a:r>
              <a:t>(vi) adotar, em nome e por conta da Classe, todos os procedimentos de cobrança dos Direitos  Creditórios Inadimplidos de titularidade da Classe;</a:t>
            </a:r>
          </a:p>
          <a:p>
            <a:r>
              <a:t>(vii) conf orme o caso, ef etuar a inclusão ou exclusão do nome de quaisquer Devedores dos  Direitos Creditórios Inadimplidos no registro negativo de órgãos e/ou sistemas de informação  e proteção ao crédito; e</a:t>
            </a:r>
          </a:p>
          <a:p>
            <a:r>
              <a:t>(viii) conduzir, por si ou por meio dos assessores legais contratados para esse f im, processo  administrativo, judicial e/ou arbitral contra os Devedores, incluindo, ainda, a excussão de  eventuais garantias acessórias aos Direitos Creditórios.</a:t>
            </a:r>
          </a:p>
          <a:p>
            <a:r>
              <a:t>CNPJ 54871427000194 · Partes relacionadas e conflitos · Condição: Documentos atuais selecionados no inventário por categoria/escopo; a data documental isolada não comprova vigência jurídica.</a:t>
            </a:r>
          </a:p>
          <a:p>
            <a:r>
              <a:t>CNPJ 54871427000194 · Partes relacionadas e conflitos · Versão e prevalência: Documentos atuais selecionados no inventário por categoria/escopo; a data documental isolada não comprova vigência jurídica.</a:t>
            </a:r>
          </a:p>
          <a:p>
            <a:r>
              <a:t>CNPJ 54871427000194 · Partes relacionadas e conflitos · Resumo do histórico: {"count": 1, "dates": ["2024-04-19"], "document_count": 1, "sources": [{"document_id": "670689", "title": "Regulamento", "reference_date": "2024-04-19", "version": "1", "page": 11, "clause": "4.10", "url": "https://fnet.bmfbovespa.com.br/fnet/publico/visualizarDocumento?id=670689", "sha256": "891bc9bc5d87bbc02ec139077a84d2702eb81ea02035fb71d24f5b8366b94a0b"}], "reference": {"path": "history/54871427000194.json", "criterion_id": "related_parties", "total_count": 1, "preview_count": 1, "full_text_deferred": true, "sha256": "35d7cd99be50c7287c9fb675cf4f2e736002315295a225a9efa79c8d9186d874"}}</a:t>
            </a:r>
          </a:p>
          <a:p>
            <a:r>
              <a:t>CNPJ 60010416000112 · Partes relacionadas e conflitos · Regulamento · ID 1051393 · 2025-10-09 · versão 1 · p. 12 · 4.8 · https://fnet.bmfbovespa.com.br/fnet/publico/visualizarDocumento?id=1051393</a:t>
            </a:r>
          </a:p>
          <a:p>
            <a:r>
              <a:t>CNPJ 60010416000112 · Partes relacionadas e conflitos · Excerto da fonte:</a:t>
            </a:r>
          </a:p>
          <a:p>
            <a:r>
              <a:t>4.8 Nos termos do Art. 45, §7º, inciso II, do Anexo Normativo II da Resolução CVM 175, a Classe poderá ter  até 100% (cem por cento) de seu Patrimônio Líquido alocado em Direitos Creditórios, derivativos,  observado o disposto no item 4.15 abaixo, e Ativos Financeiros de Liquidez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60010416000112 · Partes relacionadas e conflitos · Regulamento · ID 1051393 · 2025-10-09 · versão 1 · p. 12 · 4.9 · https://fnet.bmfbovespa.com.br/fnet/publico/visualizarDocumento?id=1051393</a:t>
            </a:r>
          </a:p>
          <a:p>
            <a:r>
              <a:t>CNPJ 60010416000112 · Partes relacionadas e conflitos · Excerto da fonte:</a:t>
            </a:r>
          </a:p>
          <a:p>
            <a:r>
              <a:t>4.9 Sem prejuízo de limites mais restritivos definidos neste Regulamento, o Gestor deverá observar, ainda, os  seguintes limites de concentração para a composição da Carteira:</a:t>
            </a:r>
          </a:p>
          <a:p>
            <a:r>
              <a:t> (i ) Até 100% (cem por cento) da parcela do Patrimônio Líquido investida em Ativos  Financeiros de Liquidez poderá ser alocada em Ativos Financeiros de Liquidez de  emissão ou que envolvam retenção de risco por parte do Administrador, Gestor, e/ou  suas partes relacionadas; e</a:t>
            </a:r>
          </a:p>
          <a:p>
            <a:r>
              <a:t> (ii) Até 100% (cem por cento) da parcela do Patrimônio Líquido investida em operações  com derivativos poderá ser alocada em derivativos nos quais, inexistindo contraparte  central, se tenha como contraparte o Gestor e/ou suas partes relacionadas.</a:t>
            </a:r>
          </a:p>
          <a:p>
            <a:r>
              <a:t>CNPJ 60010416000112 · Partes relacionadas e conflitos · Regulamento · ID 1051393 · 2025-10-09 · versão 1 · p. 12 · 4.12.1 · https://fnet.bmfbovespa.com.br/fnet/publico/visualizarDocumento?id=1051393</a:t>
            </a:r>
          </a:p>
          <a:p>
            <a:r>
              <a:t>CNPJ 60010416000112 · Partes relacionadas e conflitos · Excerto da fonte:</a:t>
            </a:r>
          </a:p>
          <a:p>
            <a:r>
              <a:t>4.12.1. Após o término do Período de Investimento, a Classe utilizará os recursos provenientes do  pagamento dos Direitos Creditórios e demais aplicações para amortização das Cotas, observada  a ordem de alocação de recursos def inida no Capítulo 7 abaixo.</a:t>
            </a:r>
          </a:p>
          <a:p>
            <a:r>
              <a:t>Regras, procedimentos e limites para efetuar cessão de direitos creditórios para o cedente e suas partes relacionadas</a:t>
            </a:r>
          </a:p>
          <a:p>
            <a:r>
              <a:t>CNPJ 60010416000112 · Partes relacionadas e conflitos · Condição: Documentos atuais selecionados no inventário por categoria/escopo; a data documental isolada não comprova vigência jurídica.</a:t>
            </a:r>
          </a:p>
          <a:p>
            <a:r>
              <a:t>CNPJ 60010416000112 · Partes relacionadas e conflitos · Versão e prevalência: Documentos atuais selecionados no inventário por categoria/escopo; a data documental isolada não comprova vigência jurídica.</a:t>
            </a:r>
          </a:p>
          <a:p>
            <a:r>
              <a:t>CNPJ 60010416000112 · Partes relacionadas e conflitos · Resumo do histórico: {"count": 1, "dates": ["2025-03-20"], "document_count": 1, "sources": [{"document_id": "993786", "title": "Regulamento", "reference_date": "2025-03-20", "version": "1", "page": 12, "clause": "4.8", "url": "https://fnet.bmfbovespa.com.br/fnet/publico/visualizarDocumento?id=993786", "sha256": "fd0fdd369a195510d81f81f505195a0b09e5f43522a990afa7d58c4f872921c8"}], "reference": {"path": "history/60010416000112.json", "criterion_id": "related_parties", "total_count": 1, "preview_count": 1, "full_text_deferred": true, "sha256": "8e2bd813f4c51cf01f6bfaad164bafe69d2bbb192f753eac92da3a01c2e63046"}}</a:t>
            </a:r>
          </a:p>
          <a:p>
            <a:r>
              <a:t>CNPJ 62696791000193 · Partes relacionadas e conflitos · Regulamento · ID 1143317 · 2026-03-20 · versão 1 · p. 12 · 4.10 · https://fnet.bmfbovespa.com.br/fnet/publico/visualizarDocumento?id=1143317</a:t>
            </a:r>
          </a:p>
          <a:p>
            <a:r>
              <a:t>CNPJ 62696791000193 · Partes relacionadas e conflitos · Excerto da fonte:</a:t>
            </a:r>
          </a:p>
          <a:p>
            <a:r>
              <a:t>4.10 Sem prejuízo de limites mais restritivos definidos neste Anexo, o Gestor deverá observar, ainda, os  seguintes limites de concentração:</a:t>
            </a:r>
          </a:p>
          <a:p>
            <a:r>
              <a:t> (i) A Classe poderá, direta ou indiretamente, ter até 100% (cem por cento) do Patrimônio  Líquido representado por Direitos Creditórios do Agronegócio originados ou cedidos  pelo Administrador, Gestor e/ou suas partes relacionadas, tal como definidas pelas  regras contábeis que tratam desse assunto, desde que (a) o Gest or, a entidade  registradora e o Custodiante dos Direitos Creditórios do Agronegócio não sejam partes  relacionadas entre si; e (b) a entidade registradora e o Custodiante dos Direitos  Creditórios do Agronegócio não sejam partes relacionadas ao originador ou Cedente.</a:t>
            </a:r>
          </a:p>
          <a:p>
            <a:r>
              <a:t> (ii) No máximo, 100% (cem por cento) do Patrimônio Líquido investido em Ativos  Financeiros de Liquidez de emissão ou que envolvam retenção de risco por parte do  Administrador, Gestor, e/ou suas partes relacionadas, observado ainda o disposto no  item Error! Reference source not found.;</a:t>
            </a:r>
          </a:p>
          <a:p>
            <a:r>
              <a:t> (iii) No máximo, 100% (cem por cento) do Patrimônio Líquido investido em operações com  derivativos nos quais, inexistindo contraparte central, se tenha como contraparte o  Gestor, e/ou suas partes relacionadas, observado ainda o disposto no item Error!  Reference source not found.;</a:t>
            </a:r>
          </a:p>
          <a:p>
            <a:r>
              <a:t> (iv) No máximo, 100% (cem por cento) do Patrimônio Líquido em cotas de uma mesma  classe;</a:t>
            </a:r>
          </a:p>
          <a:p>
            <a:r>
              <a:t> (v) É vedada a aquisição de precatórios f ederais.</a:t>
            </a:r>
          </a:p>
          <a:p>
            <a:r>
              <a:t> (vi) No máximo, 49% (quarenta e nove por cento) do Patrimônio Líquido em Ativos  Imobiliários do Agronegócio;</a:t>
            </a:r>
          </a:p>
          <a:p>
            <a:r>
              <a:t> (vii) No máximo, 49% (quarenta e nove por cento) do Patrimônio Líquido em Participações  do Agronegócio;</a:t>
            </a:r>
          </a:p>
          <a:p>
            <a:r>
              <a:t> (viii) No máximo, 49% (quarenta e nove por cento) do Patrimônio Líquido em Ativos  Financeiros do Agronegócio; e</a:t>
            </a:r>
          </a:p>
          <a:p>
            <a:r>
              <a:t> (ix) No máximo, 49% (quarenta e nove por cento) do Patrimônio Líquido em Ativos em Geral  do Agronegócio;</a:t>
            </a:r>
          </a:p>
          <a:p>
            <a:r>
              <a:t> Ativos Recuperados</a:t>
            </a:r>
          </a:p>
          <a:p>
            <a:r>
              <a:t>CNPJ 62696791000193 · Partes relacionadas e conflitos · Regulamento · ID 1143317 · 2026-03-20 · versão 1 · p. 11 · 4.8 · https://fnet.bmfbovespa.com.br/fnet/publico/visualizarDocumento?id=1143317</a:t>
            </a:r>
          </a:p>
          <a:p>
            <a:r>
              <a:t>CNPJ 62696791000193 · Partes relacionadas e conflitos · Excerto da fonte:</a:t>
            </a:r>
          </a:p>
          <a:p>
            <a:r>
              <a:t>4.8 A Classe não possui limites para a alocação em Direitos Creditórios do Agronegócio devidos por um  mesmo Devedor e/ou de responsabilidade ou coobrigação de Devedores de um mesmo grupo  econômico e/ou de um mesmo Devedor, individualmente considerado. Caso a Classe adquira cotas de  f undos de investimento em Direitos Creditórios do Agronegócio no âmbito dos outros f undos investidos,  para f ins de apuração do limite previsto neste item, o Gestor deverá assegurar que, na consolidação  das aplicações da Classe com as dos f undos investidos, o limite permanece observado, f icando  dispensada a consolidação no caso de aplicações em fundos investidos geridos por terceiros que não  sejam partes relacionadas ao Gestor.</a:t>
            </a:r>
          </a:p>
          <a:p>
            <a:r>
              <a:t>CNPJ 62696791000193 · Partes relacionadas e conflitos · Regulamento · ID 1143317 · 2026-03-20 · versão 1 · p. 14 · 4.21.1 · https://fnet.bmfbovespa.com.br/fnet/publico/visualizarDocumento?id=1143317</a:t>
            </a:r>
          </a:p>
          <a:p>
            <a:r>
              <a:t>CNPJ 62696791000193 · Partes relacionadas e conflitos · Excerto da fonte:</a:t>
            </a:r>
          </a:p>
          <a:p>
            <a:r>
              <a:t>4.21.1 Sem prejuízo do disposto acima, poderá ser contratado terceiro especializado para o  gerenciamento das obras, para controle dos desembolsos, conforme medições durante a etapa  de desenvolvimento e construção dos Ativos Imobiliários do Agronegócio, sendo certo que,  caso haja a contratação de terceiros em situação de conflito de interesses, deverá ser aprovado  em assembleia de Cotistas.</a:t>
            </a:r>
          </a:p>
          <a:p>
            <a:r>
              <a:t>CNPJ 62696791000193 · Partes relacionadas e conflitos · Condição: Documentos atuais selecionados no inventário por categoria/escopo; a data documental isolada não comprova vigência jurídica.</a:t>
            </a:r>
          </a:p>
          <a:p>
            <a:r>
              <a:t>CNPJ 62696791000193 · Partes relacionadas e conflitos · Versão e prevalência: Documentos atuais selecionados no inventário por categoria/escopo; a data documental isolada não comprova vigência jurídica.</a:t>
            </a:r>
          </a:p>
          <a:p>
            <a:r>
              <a:t>CNPJ 55563624000109 · Partes relacionadas e conflitos · Regulamento · ID 1192614 · 2026-04-30 · versão 1 · p. 13 · 4.12.1 · https://fnet.bmfbovespa.com.br/fnet/publico/visualizarDocumento?id=1192614</a:t>
            </a:r>
          </a:p>
          <a:p>
            <a:r>
              <a:t>CNPJ 55563624000109 · Partes relacionadas e conflitos · Excerto da fonte:</a:t>
            </a:r>
          </a:p>
          <a:p>
            <a:r>
              <a:t>4.12.1 A Classe poderá ter até 100% (cem por cento) do Patrimônio Líquido representado por Cotas da Classe  Investida administrados pelo ADMINISTRADOR, e geridos ou cogeridos pelo GESTOR e/ou suas partes  relacionadas.</a:t>
            </a:r>
          </a:p>
          <a:p>
            <a:r>
              <a:t> Revolvência da Carteira</a:t>
            </a:r>
          </a:p>
          <a:p>
            <a:r>
              <a:t>CNPJ 55563624000109 · Partes relacionadas e conflitos · Regulamento · ID 1192614 · 2026-04-30 · versão 1 · p. 28 · 13.2 · https://fnet.bmfbovespa.com.br/fnet/publico/visualizarDocumento?id=1192614</a:t>
            </a:r>
          </a:p>
          <a:p>
            <a:r>
              <a:t>CNPJ 55563624000109 · Partes relacionadas e conflitos · Excerto da fonte:</a:t>
            </a:r>
          </a:p>
          <a:p>
            <a:r>
              <a:t>13.2 Em condições ordinárias, as Cotas da Classe Investida não pagarão remuneração aos prestadores de serviços  essenciais da Classe Investida, nos termos de seu regulamento. Não obstante, em cenário extraordinário  conforme descrito no item 15.1.1 (iii), e para fins de atendimento ao artigo 98 da parte geral da Resolução CVM  175, a taxa máxima de administração corresponderá ao valor da Taxa Mínima de Administração acrescida de até  0,10% (dez centésimos por cento) ao ano incidente sobre o patrimônio líquido da Classe Investida,  compreendendo a taxa de administração da Classe Investida geridos por partes relacionadas ao GESTOR, cujas  cotas não estão admitidas à negociação em mercado organizado, conforme prevista no regulamento da Classe  Investida (“Taxa Máxima de Administração” e, quando referida em conjunto com a Taxa Mínima de  Administração, como “Taxa de Administração”). Caso a taxa de administração da Classe Investida não se  enquadre no disposto acima, estará disposta no regulamento da Classe Investida.</a:t>
            </a:r>
          </a:p>
          <a:p>
            <a:r>
              <a:t>CNPJ 55563624000109 · Partes relacionadas e conflitos · Regulamento · ID 1192614 · 2026-04-30 · versão 1 · p. 37 · https://fnet.bmfbovespa.com.br/fnet/publico/visualizarDocumento?id=1192614</a:t>
            </a:r>
          </a:p>
          <a:p>
            <a:r>
              <a:t>CNPJ 55563624000109 · Partes relacionadas e conflitos · Excerto da fonte:</a:t>
            </a:r>
          </a:p>
          <a:p>
            <a:r>
              <a:t>(ix) Possibilidade de conflito de interesses. As Cotas poderão ser adquiridas por investidores que  sejam partes relacionadas à Classe Investida ou aos prestadores de serviços da Classe Investida. Nessa  hipótese, poderá haver situações de conflito de interesses entre os interesses desses investidores e o  interesse dos demais Cotistas, podendo qualquer desses investidores, inclusive, aprovar deliberações  contrárias aos interesses dos demais Cotistas caso sejam titulares da maioria das Cotas presentes às  Assembleias de Cotistas.</a:t>
            </a:r>
          </a:p>
          <a:p>
            <a:r>
              <a:t>CNPJ 55563624000109 · Partes relacionadas e conflitos · Condição: Documentos atuais selecionados no inventário por categoria/escopo; a data documental isolada não comprova vigência jurídica.</a:t>
            </a:r>
          </a:p>
          <a:p>
            <a:r>
              <a:t>CNPJ 55563624000109 · Partes relacionadas e conflitos · Versão e prevalência: Documentos atuais selecionados no inventário por categoria/escopo; a data documental isolada não comprova vigência jurídica.</a:t>
            </a:r>
          </a:p>
          <a:p>
            <a:r>
              <a:t>CNPJ 55563624000109 · Partes relacionadas e conflitos · Resumo do histórico: {"count": 2, "dates": ["2025-01-31", "2026-01-31"], "document_count": 2, "sources": [{"document_id": "1178840", "title": "Demonstrações Financeiras", "reference_date": "2026-01-31", "version": "1", "page": 23, "url": "https://fnet.bmfbovespa.com.br/fnet/publico/visualizarDocumento?id=1178840", "sha256": "c458e98664c5c907ddb5a05a94b120bed4e05295b2bfc420f5ba69af0a229abe"}, {"document_id": "891861", "title": "Demonstrações Financeiras", "reference_date": "2025-01-31", "version": "1", "page": 23, "url": "https://fnet.bmfbovespa.com.br/fnet/publico/visualizarDocumento?id=891861", "sha256": "e9cb9e6ddbe505fe068cfcac33605165a98313489de0d3ce6d4d238263c3f3e7"}], "reference": {"path": "history/55563624000109.json", "criterion_id": "related_parties", "total_count": 2, "preview_count": 2, "full_text_deferred": true, "sha256": "7835d573fb58a3c19adf5b8ecc2aee2bdbb9a88f7a0c0209b5f262b64c7522e3"}}</a:t>
            </a:r>
          </a:p>
          <a:p>
            <a:r>
              <a:t>CNPJ 62552447000120 · Partes relacionadas e conflitos · Regulamento · ID 1200623 · 2026-05-21 · versão 1 · p. 14 · 4.10 · https://fnet.bmfbovespa.com.br/fnet/publico/visualizarDocumento?id=1200623</a:t>
            </a:r>
          </a:p>
          <a:p>
            <a:r>
              <a:t>CNPJ 62552447000120 · Partes relacionadas e conflitos · Excerto da fonte:</a:t>
            </a:r>
          </a:p>
          <a:p>
            <a:r>
              <a:t>4.10 Nos termos do art. 45, §7º, inciso II, do Anexo Normativo II, a Classe poderá ter até 100% (cem por  cento) de seu Patrimônio Líquido alocado em Direitos Creditórios, derivativos, observado o disposto  abaixo,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62552447000120 · Partes relacionadas e conflitos · Regulamento · ID 1200623 · 2026-05-21 · versão 1 · p. 14 · 4.11 · https://fnet.bmfbovespa.com.br/fnet/publico/visualizarDocumento?id=1200623</a:t>
            </a:r>
          </a:p>
          <a:p>
            <a:r>
              <a:t>CNPJ 62552447000120 · Partes relacionadas e conflitos · Excerto da fonte:</a:t>
            </a:r>
          </a:p>
          <a:p>
            <a:r>
              <a:t>4.11 Sem prejuízo de limites mais restritivos definidos neste Regulamento, o Gestor deverá observar, ainda,  os seguintes limites de concentração para a composição da Carteira:</a:t>
            </a:r>
          </a:p>
          <a:p>
            <a:r>
              <a:t> (i) Até 100% (cem por cento) da parcela do Patrimônio Líquido investida em Direitos  Creditórios poderão ser alocados em Direitos Creditórios originados ou cedidos pelo  Administrador, Gestor e/ou suas partes relacionadas, tal como definidas pelas regras  contábeis que tratam desse assunto . A Classe também poderá ceder Direitos  Creditórios a qualquer das pessoas, f undos de investimento ou entidades ref eridas  acima, desde que a entidade registradora e o Custodiante dos Direitos Creditórios não  sejam partes relacionadas ao Originador ou Endossante;</a:t>
            </a:r>
          </a:p>
          <a:p>
            <a:r>
              <a:t> (ii) Até 100% (cem por cento) da parcela do Patrimônio Líquido investida em Ativos  Financeiros poderão ser alocados em Ativos Financeiros de emissão ou que envolvam  retenção de risco por parte do Administrador, Gestor e/ou suas partes relacionadas; e</a:t>
            </a:r>
          </a:p>
          <a:p>
            <a:r>
              <a:t> (iii) Até 100% (cem por cento) da parcela do Patrimônio Líquido investida em operações  com derivativos poderão ser alocados em operações com derivativos nas quais,  inexistindo contraparte central, se tenha como contraparte o Gestor e/ou suas partes  relacionadas.</a:t>
            </a:r>
          </a:p>
          <a:p>
            <a:r>
              <a:t>CNPJ 62552447000120 · Partes relacionadas e conflitos · Regulamento · ID 1200623 · 2026-05-21 · versão 1 · p. 15 · 4.18 · https://fnet.bmfbovespa.com.br/fnet/publico/visualizarDocumento?id=1200623</a:t>
            </a:r>
          </a:p>
          <a:p>
            <a:r>
              <a:t>CNPJ 62552447000120 · Partes relacionadas e conflitos · Excerto da fonte:</a:t>
            </a:r>
          </a:p>
          <a:p>
            <a:r>
              <a:t>4.18 Ainda que integrem a Carteira, os Ativos Recuperados não serão, sob qualquer hipótese, adquiridos  como parte da Política de Investimento, de forma que serão de sua propriedade exclusivamente, não  devendo, portanto, ser contabilizados para f ins de enquadramento da Classe.</a:t>
            </a:r>
          </a:p>
          <a:p>
            <a:r>
              <a:t>Regras, procedimentos e limites para efetuar qualquer modalidade de transferência dos Direitos Creditórios, incluindo, sem limitação, endosso (“Transferência”) para o Endossante e suas partes relacionadas</a:t>
            </a:r>
          </a:p>
          <a:p>
            <a:r>
              <a:t>CNPJ 62552447000120 · Partes relacionadas e conflitos · Condição: Documentos atuais selecionados no inventário por categoria/escopo; a data documental isolada não comprova vigência jurídica.</a:t>
            </a:r>
          </a:p>
          <a:p>
            <a:r>
              <a:t>CNPJ 62552447000120 · Partes relacionadas e conflitos · Versão e prevalência: Documentos atuais selecionados no inventário por categoria/escopo; a data documental isolada não comprova vigência jurídica.</a:t>
            </a:r>
          </a:p>
          <a:p>
            <a:r>
              <a:t>CNPJ 63953620000165 · Partes relacionadas e conflitos · Anexo ao Regulamento · ID 1222863 · 2026-06-02 · versão 1 · p. 6 · 4.14 · https://fnet.bmfbovespa.com.br/fnet/publico/visualizarDocumento?id=1222863</a:t>
            </a:r>
          </a:p>
          <a:p>
            <a:r>
              <a:t>CNPJ 63953620000165 · Partes relacionadas e conflitos · Excerto da fonte:</a:t>
            </a:r>
          </a:p>
          <a:p>
            <a:r>
              <a:t>4.14 Nos termos do Art. 45, §7º, inciso II, do Anexo Normativo II da Resolução CVM 175, a Classe poderá ter até 100%  (cem por cento) de seu Patrimônio Líquido alocado em Direitos Creditórios, derivativos, observado o disposto  neste Anexo I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a:t>
            </a:r>
          </a:p>
          <a:p>
            <a:r>
              <a:t>CNPJ 63953620000165 · Partes relacionadas e conflitos · Anexo ao Regulamento · ID 1222863 · 2026-06-02 · versão 1 · p. 8 · 4.21 · https://fnet.bmfbovespa.com.br/fnet/publico/visualizarDocumento?id=1222863</a:t>
            </a:r>
          </a:p>
          <a:p>
            <a:r>
              <a:t>CNPJ 63953620000165 · Partes relacionadas e conflitos · Excerto da fonte:</a:t>
            </a:r>
          </a:p>
          <a:p>
            <a:r>
              <a:t>4.21 Ainda que integrem a carteira da Classe, os Ativos Recuperados não serão, sob qualquer hipótese, adquiridos  como parte da Política de Investimento da Classe, de forma que serão de sua propriedade exclusivamente, não  devendo, portanto, ser contabilizados para fins de enquadramento da Classe.</a:t>
            </a:r>
          </a:p>
          <a:p>
            <a:r>
              <a:t> Regras, procedimentos e limites para efetuar o Endosso de Direitos Creditórios Crédito Consignado para o Endossante e  suas partes relacionadas</a:t>
            </a:r>
          </a:p>
          <a:p>
            <a:r>
              <a:t>CNPJ 63953620000165 · Partes relacionadas e conflitos · Anexo ao Regulamento · ID 1222863 · 2026-06-02 · versão 1 · p. 7 · https://fnet.bmfbovespa.com.br/fnet/publico/visualizarDocumento?id=1222863</a:t>
            </a:r>
          </a:p>
          <a:p>
            <a:r>
              <a:t>CNPJ 63953620000165 · Partes relacionadas e conflitos · Excerto da fonte:</a:t>
            </a:r>
          </a:p>
          <a:p>
            <a:r>
              <a:t>Anexo I ao Regulamento  CLASSE CONSIGNADO PRIVADO DO MT GLOBAL FUNDO DE INVESTIMENTO EM DIREITOS  CREDITÓRIOS RESPONSABILIDADE LIMITADA</a:t>
            </a:r>
          </a:p>
          <a:p>
            <a:r>
              <a:t> (i)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 (ii) No máximo, 50% (cinquenta por cento) do Patrimônio Líquido investido em Ativos Financeiros  de Liquidez de emissão ou que envolvam retenção de risco por parte do Administrador, Gestor,  e/ou suas partes relacionadas, observado ainda o disposto acima;</a:t>
            </a:r>
          </a:p>
          <a:p>
            <a:r>
              <a:t> (iii) No máximo, 100% (cem por cento) do Patrimônio Líquido investido em operações com  derivativos nos quais, inexistindo contraparte central, se tenha como contraparte o Gestor,  Consultora e/ou suas partes relacionadas, observado ainda o disposto acima;</a:t>
            </a:r>
          </a:p>
          <a:p>
            <a:r>
              <a:t> (iv) A Classe poderá investir até 100% (cem por cento) de seu Patrimônio Líquido em Direitos  Creditórios Não-Padronizados;</a:t>
            </a:r>
          </a:p>
          <a:p>
            <a:r>
              <a:t> (v) É vedada a aquisição de precatórios federais.</a:t>
            </a:r>
          </a:p>
          <a:p>
            <a:r>
              <a:t>CNPJ 63953620000165 · Partes relacionadas e conflitos · Condição: Documentos atuais selecionados no inventário por categoria/escopo; a data documental isolada não comprova vigência jurídica.</a:t>
            </a:r>
          </a:p>
          <a:p>
            <a:r>
              <a:t>CNPJ 63953620000165 · Partes relacionadas e conflitos · Versão e prevalência: Documentos atuais selecionados no inventário por categoria/escopo; a data documental isolada não comprova vigência jurídica.</a:t>
            </a:r>
          </a:p>
          <a:p>
            <a:r>
              <a:t>CNPJ 54871427000194 · Histórico de alterações materiais · Instrumento Particular de Alteração do Regulamento · ID 670690 · 28/05/2024 · versão Instrumento Particular de Alteração do Regulamento — referência 28/05/2024 · p. 1 · AGC, 4.1–4.2 · https://fnet.bmfbovespa.com.br/fnet/publico/visualizarDocumento?id=670690</a:t>
            </a:r>
          </a:p>
          <a:p>
            <a:r>
              <a:t>CNPJ 54871427000194 · Histórico de alterações materiais · Excerto da fonte:</a:t>
            </a:r>
          </a:p>
          <a:p>
            <a:r>
              <a:t>4.1. A alteração integral do anexo da Classe Única, que compõe o regulamento do Fundo (“Anexo da Classe Única” e “Regulamento”) e seus complementos, para de f orma a alterar a Política de Investimentos da Classe para aquisição de direitos creditórios representados por Certif icados de Cédulas de Crédito Bancário (“CCCBs” e “Direitos Creditórios”), bem como refletir os novos critérios de elegibilidade para aquisição dos Direitos Creditórios, os documentos comprobatórios do lastro e f atores de risco aplicáveis. 4.2. Tendo em vista a aprovação dos itens. acima, deliberaram por aprovar o novo Regulamento Consolidado, que vigorará na forma do Anexo I à presente Ata, o qual terá efeitos retroativos a abertura de 28 de maio de 2024. 4.3. Por f im, por aprovar a Administradora a adotar todas as medidas necessárias para implementação das deliberações acima. 5. ENCERRAMENTO Nada mais havendo a tratar, f oi a reunião encerrada. Rio de Janeiro, 28 de maio de 2024. Mesa: Diego Prado Tassiana Lima Presidente</a:t>
            </a:r>
          </a:p>
          <a:p>
            <a:r>
              <a:t>CNPJ 54871427000194 · Histórico de alterações materiais · Regulamento · ID 670691 · 28/04/2024 · versão Regulamento — referência 28/04/2024 · p. 9 · Regulamento 670691, Anexo I, 4.2 · https://fnet.bmfbovespa.com.br/fnet/publico/visualizarDocumento?id=670691</a:t>
            </a:r>
          </a:p>
          <a:p>
            <a:r>
              <a:t>CNPJ 54871427000194 · Histórico de alterações materiais · Excerto da fonte:</a:t>
            </a:r>
          </a:p>
          <a:p>
            <a:r>
              <a:t>4.2 Os Direitos Creditórios representados por Certif icados de Cédulas de Crédito Bancário (“CCCBs”), representativos de um agrupamento de determinadas CCBs, originadas no âmbito de operações de empréstimos pessoais concedidos por um Endossante a um Devedor, devidamente f ormalizadas por via eletrônica de acordo com a legislação aplicável, segundo os critérios de composição e diversificação estabelecidos pela regulamentação aplicável e neste Regulamento. 4.2.1 Cada Endossante deve ter celebrado convênio com órgão consignante, previamente à cessão de Direitos Creditórios à Classe, que contemplam a obrigação da manutenção da consignação/averbação junto ao novo órgão, de modo a possibilitar o pagamento dos Direitos Creditórios por meio de consignação em f olha de pagamento ou de benef ício . 4.3 Os pagamentos relativos aos Direitos Creditórios de titularidade da Classe serão realizados mediante consignação em folha, débito em conta de titularidade dos Devedores e pagamentos de sinistros, para pagamento dos valores correspondentes às parcelas das CCBs representadas pelos CCCBs de titularidade da Classe, os quais serão conciliados e repassados pelo Endossan</a:t>
            </a:r>
          </a:p>
          <a:p>
            <a:r>
              <a:t>CNPJ 54871427000194 · Histórico de alterações materiais · Condição: A classificação Fundos Net do documento 670690 é “regulamento”, mas seu conteúdo é uma AGC. A divergência de datas impede usar a referência do 670691 como prova autônoma de início de vigência.</a:t>
            </a:r>
          </a:p>
          <a:p>
            <a:r>
              <a:t>CNPJ 54871427000194 · Histórico de alterações materiais · Motivo: Não localizada uma cláusula material para este critério nos textos identificados e processados. A ausência de resultado não comprova inexistência da regra.</a:t>
            </a:r>
          </a:p>
          <a:p>
            <a:r>
              <a:t>CNPJ 54871427000194 · Histórico de alterações materiais · Versão e prevalência: Leitura específica das cláusulas indicadas; condições e conflitos preservados. Seleção documental atual não comprova vigência jurídica por data isolada.</a:t>
            </a:r>
          </a:p>
          <a:p>
            <a:r>
              <a:t>CNPJ 60010416000112 · Histórico de alterações materiais · Demonstrações Financeiras - Fusão, cisão e incorporação · ID 1298690 · 2026-05-08 · versão 1 · p. 30 · https://fnet.bmfbovespa.com.br/fnet/publico/visualizarDocumento?id=1298690</a:t>
            </a:r>
          </a:p>
          <a:p>
            <a:r>
              <a:t>CNPJ 60010416000112 · Histórico de alterações materiais · Excerto da fonte:</a:t>
            </a:r>
          </a:p>
          <a:p>
            <a:r>
              <a:t>Durante o período de investimento, a Administradora poderá deliberar por realizar novas  emissões de Cotas Seniores, sem a necessidade de aprovação em Assembleia Especial de  Cotistas ou alteração do Regulamento, limitadas ao montante máximo de R$ 1.000.000 (um  bilhão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seniores emitidas não sejam superiores aos  prazos de vencimento da primeira emissão.</a:t>
            </a:r>
          </a:p>
          <a:p>
            <a:r>
              <a:t>CNPJ 60010416000112 · Histórico de alterações materiais · Demonstrações Financeiras - Fusão, cisão e incorporação · ID 1298690 · 2026-05-08 · versão 1 · p. 30 · https://fnet.bmfbovespa.com.br/fnet/publico/visualizarDocumento?id=1298690</a:t>
            </a:r>
          </a:p>
          <a:p>
            <a:r>
              <a:t>CNPJ 60010416000112 · Histórico de alterações materiais · Excerto da fonte:</a:t>
            </a:r>
          </a:p>
          <a:p>
            <a:r>
              <a:t>Durante o período de investimento, a Administradora poderá deliberar por realizar novas  emissões de cotas subordinadas, sem a necessidade de aprovação em Assembleia Especial  de Cotistas ou alteração do Regulamento, limitadas ao montante máximo de R$ 50.000  (cinquenta milhões de reais) de cotas seniores, e o montante proporcional para as demais  Cotas (“Capital Autorizado”), desde que: (a) não esteja em curso um evento de avaliação e/ou  evento de liquidação; (b) a emissão pretendida não acarrete o desenquadramento do índice de  subordinação; (c) o prazo de vencimento das cotas subordinadas emitidas não sejam  superiores aos prazos de vencimento da primeira emissão.</a:t>
            </a:r>
          </a:p>
          <a:p>
            <a:r>
              <a:t>CNPJ 60010416000112 · Histórico de alterações materiais · Condição: Documentos atuais selecionados no inventário por categoria/escopo; a data documental isolada não comprova vigência jurídica.</a:t>
            </a:r>
          </a:p>
          <a:p>
            <a:r>
              <a:t>CNPJ 60010416000112 · Histórico de alterações materiais · Versão e prevalência: Documentos atuais selecionados no inventário por categoria/escopo; a data documental isolada não comprova vigência jurídica.</a:t>
            </a:r>
          </a:p>
          <a:p>
            <a:r>
              <a:t>CNPJ 60010416000112 · Histórico de alterações materiais · Resumo do histórico: {"count": 5, "dates": ["2025-11-30", "2026-03-18", "2026-04-16"], "document_count": 3, "sources": [{"document_id": "1282181", "title": "Demonstrações Financeiras - Fusão, cisão e incorporação", "reference_date": "2026-04-16", "version": "1", "page": 32, "url": "https://fnet.bmfbovespa.com.br/fnet/publico/visualizarDocumento?id=1282181", "sha256": "b1c6566e43a00bcd00c8a7f30c77b7f86e351bd8e355bbea113f46d1dafda703"}, {"document_id": "1224477", "title": "Demonstrações Financeiras - Fusão, cisão e incorporação", "reference_date": "2026-03-18", "version": "1", "page": 32, "url": "https://fnet.bmfbovespa.com.br/fnet/publico/visualizarDocumento?id=1224477", "sha256": "0751bf0a75bc3b44c2748f5000226665c6ec6698a90c4dc6170b4e6c187759ae"}, {"document_id": "1126154", "title": "Demonstrações Financeiras", "reference_date": "2025-11-30", "version": "1", "page": 32, "url": "https://fnet.bmfbovespa.com.br/fnet/publico/visualizarDocumento?id=1126154", "sha256": "a01e7ccf88c548f12c95cba8526d7efbef6b585c112cd4668eca781c292090b0"}], "reference": {"path": "history/60010416000112.json", "criterion_id": "changes", "total_count": 5, "preview_count": 3, "full_text_deferred": true, "sha256": "8e2bd813f4c51cf01f6bfaad164bafe69d2bbb192f753eac92da3a01c2e63046"}}</a:t>
            </a:r>
          </a:p>
          <a:p>
            <a:r>
              <a:t>CNPJ 62696791000193 · Histórico de alterações materiais · AGE · ID 1143319 · 20/03/2026 10:00 · versão AGE — referência 20/03/2026 10:00 · p. 1 · AGC, 4.1(a)–(c) · https://fnet.bmfbovespa.com.br/fnet/publico/visualizarDocumento?id=1143319</a:t>
            </a:r>
          </a:p>
          <a:p>
            <a:r>
              <a:t>CNPJ 62696791000193 · Histórico de alterações materiais · Excerto da fonte:</a:t>
            </a:r>
          </a:p>
          <a:p>
            <a:r>
              <a:t>4.1. Aprovar a transformação do Fundo, bem como de sua Classe única, em um fundo de investimento nas cadeias produtivas do agronegócio (“Transformação”), nos termos da parte geral e do Anexo Normativo VI da Resolução nº 175 da CVM, de 23 de dezembro de 2022, conforme alterada (“Resolução CVM 175”). a. Aprovar a alteração da denominação do Fundo, que passará a vigorar como BTG PACTUAL CERES CONFINA FUNDO DE INVESTIMENTO NAS CADEIAS PRODUTIVAS DO AGRONEGÓCIO RESPONSABILIDADE LIMITADA, e de sua Classe única, que passará a vigorar como CLASSE ÚNICA DO BTG PACTUAL CERES CONFINA FUNDO DE INVESTIMENTO NAS CADEIAS PRODUTIVAS DO AGRONEGÓCIO RESPONSABILIDADE LIMITADA (“Classe”); b. Aprovar a reforma integral do Regulamento do Fundo, bem como do Anexo descritivo da Classe, para realizar todos os ajustes necessários à implementação da Transformação, incluindo, mas não se limitando, a política de investimentos, o regime tributário e os fatores de risco aplicáveis, conforme itens abaixo; c. Aprovar a alteração do quadro de características gerais do Fundo, considerando a contratação do Cogestor pelo Gestor, nos termos do artigo 52, II, da parte geral da Resolução CVM 175 e no co</a:t>
            </a:r>
          </a:p>
          <a:p>
            <a:r>
              <a:t>CNPJ 62696791000193 · Histórico de alterações materiais · AGE · ID 1143319 · 20/03/2026 10:00 · versão AGE — referência 20/03/2026 10:00 · p. 3 · AGC, 4.1(j)–(k) · https://fnet.bmfbovespa.com.br/fnet/publico/visualizarDocumento?id=1143319</a:t>
            </a:r>
          </a:p>
          <a:p>
            <a:r>
              <a:t>CNPJ 62696791000193 · Histórico de alterações materiais · Excerto da fonte:</a:t>
            </a:r>
          </a:p>
          <a:p>
            <a:r>
              <a:t>j. Tendo em vista as deliberações acima, bem como as alterações realizadas no Regulamento para sua implementação, aprovar o Regulamento consolidado, que passará a vigorar na forma do Complemento I à presente ata, o qual se encontra arquivado e à disposição dos quotistas na sede e dependências da Administradora. k. O Regulamento consolidado passará a vigorar a partir do fechamento do dia 23 de março de 2026. 5. ENCERRAMENTO: Em virtude da deliberação aprovada no item acima, os Cotistas da Classe: (i) autorizam a Administradora, na qualidade de representante legal da Classe, a realizar todas as atividades necessárias; (ii) declaram-se cientes das deliberações acima aprovadas; e (iii) dispensam a Administradora do envio do resumo das deliberações aprovadas nesta assembleia. Os termos constantes desta ata iniciados em letra maiúscula, senão de outra maneira definidos na presente ata, terão o significado que lhes foram atribuídos no Anexo e/ou no Regulamento. Nada mais havendo a tratar, a reunião foi encerrada. Confere com a original. Tais Calou Secretár</a:t>
            </a:r>
          </a:p>
          <a:p>
            <a:r>
              <a:t>CNPJ 62696791000193 · Histórico de alterações materiais · Instrumento Particular de Emissão de Cotas · ID 1148821 · 27/03/2026 · versão Instrumento Particular de Emissão de Cotas — referência 27/03/2026 · p. 1 · Deliberação Conjunta27/03/2026, item1 · https://fnet.bmfbovespa.com.br/fnet/publico/visualizarDocumento?id=1148821</a:t>
            </a:r>
          </a:p>
          <a:p>
            <a:r>
              <a:t>CNPJ 62696791000193 · Histórico de alterações materiais · Excerto da fonte:</a:t>
            </a:r>
          </a:p>
          <a:p>
            <a:r>
              <a:t>1. Aprovar a 2ª (segunda) emissão da Subclasse Subordinada Júnior da Classe, composta por até 20.000 (vinte mil) Cotas Subordinadas Júnior, com valor nominal unitário de R$ 1.000,00 (mil reais), perfazendo o montante total de R$ 20.000.000,00 (vinte milhões de reais), as quais serão objeto de colocação privada, de acordo com os termos e condições definidos no Apêndice da Subclasse Subordinada Júnior constante do Anexo I Regulamento e descritas abaixo (“2ª Emissão da Subclasse Subordinada Júnior”): a) Rito: as Cotas Subordinadas Júnior objeto da 2ª Emissão da Subclasse Subordinada Júnior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Subordinada Júnior na data de integralização, calculado na forma prevista no respectivo Apêndice; BTG Pactual 1 SAC: 0800 772 28 27 - Ouvidoria: 0800 722 00 48 - btgpactual.com</a:t>
            </a:r>
          </a:p>
          <a:p>
            <a:r>
              <a:t>CNPJ 62696791000193 · Histórico de alterações materiais · Instrumento Particular de Emissão de Cotas · ID 1148821 · 27/03/2026 · versão Instrumento Particular de Emissão de Cotas — referência 27/03/2026 · p. 2 · Deliberação Conjunta, itens2–3 · https://fnet.bmfbovespa.com.br/fnet/publico/visualizarDocumento?id=1148821</a:t>
            </a:r>
          </a:p>
          <a:p>
            <a:r>
              <a:t>CNPJ 62696791000193 · Histórico de alterações materiais · Excerto da fonte:</a:t>
            </a:r>
          </a:p>
          <a:p>
            <a:r>
              <a:t>2. Aprovar a 2ª (segunda) emissão da Subclasse Sênior da Classe, composta por até 150.000 (cento e cinquenta mil) Cotas Seniores, com valor nominal unitário de R$ 1.000,00 (mil reais), perfazendo o montante total de R$ 150.000.000,00 (cento e cinquenta milhões de reais), as quais serão objeto de colocação privada, de acordo com os termos e condições descritos no Apêndice da Subclasse Sênior constante do Anexo I Regulamento e descritas abaixo (“2ª Emissão da Subclasse Sênior”): a) Rito: as Cotas Seniores objeto da 2ª Emissão da Subclasse Sênior não estão sujeitas a regulamentação de oferta de valores mobiliários, conforme facultado pelo Art. 8º, II, da Resolução CVM nº 160, de 13 de julho de 2022; b) Preço de Emissão por Cota: R$ 1.000,00 (mil reais), nos termos do respectivo boletim de subscrição; c) Preço de Integralização: o valor unitário da Cota Sênior na data de integralização, calculado na forma prevista no respectivo Apêndice; d) Forma de Integralização: as Cotas Seniores serão integralizadas mediante chamadas de capital, junto ao seu respectivo agente de custódia e/ou da Administradora na qualidade de escriturador das cotas, nos termos d</a:t>
            </a:r>
          </a:p>
          <a:p>
            <a:r>
              <a:t>CNPJ 62696791000193 · Histórico de alterações materiais · Versão e prevalência: Leitura específica das cláusulas indicadas; condições e conflitos preservados. Seleção documental atual não comprova vigência jurídica por data isolada.</a:t>
            </a:r>
          </a:p>
          <a:p>
            <a:r>
              <a:t>CNPJ 55563624000109 · Histórico de alterações materiais · Motivo: Não localizada uma cláusula material para este critério nos textos identificados e processados. A ausência de resultado não comprova inexistência da regra.</a:t>
            </a:r>
          </a:p>
          <a:p>
            <a:r>
              <a:t>CNPJ 62552447000120 · Histórico de alterações materiais · Ato do Administrador · ID 1200625 · 2026-05-21 · versão Ato21/05/2026 · p. 1 · itens1–2 · https://fnet.bmfbovespa.com.br/fnet/publico/visualizarDocumento?id=1200625</a:t>
            </a:r>
          </a:p>
          <a:p>
            <a:r>
              <a:t>CNPJ 62552447000120 · Histórico de alterações materiais · Excerto da fonte:</a:t>
            </a:r>
          </a:p>
          <a:p>
            <a:r>
              <a:t>Ressalta-se que não haverá qualquer alteração nos valores pagos pelos cotistas... Aprovar o novo Anexo I e Regulamento consolidados</a:t>
            </a:r>
          </a:p>
          <a:p>
            <a:r>
              <a:t>CNPJ 62552447000120 · Histórico de alterações materiais · Motivo: Não localizada uma cláusula material para este critério nos textos identificados e processados. A ausência de resultado não comprova inexistência da regra.</a:t>
            </a:r>
          </a:p>
          <a:p>
            <a:r>
              <a:t>CNPJ 62552447000120 · Histórico de alterações materiais · Versão e prevalência: Leitura específica das cláusulas indicadas; condições e conflitos preservados. Seleção documental atual não comprova vigência jurídica por data isolada.</a:t>
            </a:r>
          </a:p>
          <a:p>
            <a:r>
              <a:t>CNPJ 63953620000165 · Histórico de alterações materiais · Anexo ao Regulamento · ID 1222863 · 2026-06-02 · versão 1 · p. 19 · 12.6 · https://fnet.bmfbovespa.com.br/fnet/publico/visualizarDocumento?id=1222863</a:t>
            </a:r>
          </a:p>
          <a:p>
            <a:r>
              <a:t>CNPJ 63953620000165 · Histórico de alterações materiais · Excerto da fonte:</a:t>
            </a:r>
          </a:p>
          <a:p>
            <a:r>
              <a:t>12.6 A Classe contratou a Tudo Serviços S.A., sociedade anônima, com sede no município de Fortaleza, Estado do Ceará,  na Avenida Senador Virgulo Távora, nº 303, Lojas 02, 03, 04, 05, 06 e 19, Meireles, CEP 60.170-265, inscrita no CNPJ  sob o nº 27.852.506/0001-85, cujos deveres, sem prejuízo daqueles estabelecidos neste Regulamento, no  “Contrato de Serviços de Retenção e Cobrança e Outras Avenças”, celebrado entre o Agente de  Retenção/Cobrança e a Classe (“Contrato de Serviços MT”) e no Contrato de Endosso, consistirão no  monitoramento e cobrança dos Direitos Creditórios Inadimplidos, observado o disposto neste Anexo I e na  regulamentação aplicável (“Agente de Retenção/Cobrança”):</a:t>
            </a:r>
          </a:p>
          <a:p>
            <a:r>
              <a:t> (i) caso aplicável, atuar na retenção (defesa) de operações de empréstimo consignado cujos Direitos  Creditórios sejam de titularidade da Classe, em caso de tentativa de transferência de tais operações de  empréstimo consignado por instituições proponentes, nos termos da Resolução CMN nº 5.057, em razão de  ofertas de portabilidade feitas por tais instituições proponentes, conforme informado pelo Endossante ou pelo  Custodiante ao Agente de Retenção/Cobrança, diariamente, de acordo com o Contrato de Endosso; sendo  que tal serviço deverá incluir, entre outras atividades auxiliares a ele relacionadas, a avaliação das ofertas de  portabilidade feitas pelas instituições proponentes, buscando, se for o caso, esclarecer as vantagens de não  recorrer à portabilidade, retendo a respectiva operação de empréstimo consignado em seus termos atuais;</a:t>
            </a:r>
          </a:p>
          <a:p>
            <a:r>
              <a:t> (ii) mediante inadimplemento de um Direito Creditório devido à indisponibilidade da margem de crédito do  Devedor, auxiliar o Endossante com o Processo de Reinicialização (conforme detalhado no Contrato de  Endosso) em relação ao respectivo Direito Creditório;</a:t>
            </a:r>
          </a:p>
          <a:p>
            <a:r>
              <a:t> (iii) manter e operar um serviço de atendimento ao consumidor - SAC e uma ouvidoria em conformidade  com os regulamentos aplicáveis, monitorar e resolver reclamações e solicitações de Devedores com  relação às operações de empréstimo consignado que dão origem aos Direitos Creditórios, em  conformidade com o Acordo de Parceria;</a:t>
            </a:r>
          </a:p>
          <a:p>
            <a:r>
              <a:t> (iv) realizar a cobrança dos Direitos Creditórios Inadimplidos;</a:t>
            </a:r>
          </a:p>
          <a:p>
            <a:r>
              <a:t> (v) auxiliar o Endossante na correção de qualquer irregularidade relevante identificada com relação à  originação dos Direitos Creditórios;</a:t>
            </a:r>
          </a:p>
          <a:p>
            <a:r>
              <a:t> (vi) realizar a renegociação junto aos Devedores de Direitos Creditórios Inadimplidos e, caso aplicável, celebrar  aditamento à CCB para refletir os novos termos, decorrentes da renegociação  CAPÍTULO 13 – REMUNERAÇÃO DOS PRESTADORES DE SERVIÇOS  0,05% (cinco centésimos por cento) ao ano, apropriada diariamente na base de 252  (duzentos e cinquenta e dois) Dias Úteis, e paga mensalmente até o 5º (quinto) Dia  Útil do mês subsequente ao mês que se refere, incidente sobre o Patrimônio Líquido  da Classe alocado em Direitos Creditórios Consignado Privado e/ou Ativos de  Liquidez MT, observada remuneração mínima mensal de R$ 2.500,00 (dois mil e  quinhentos reais), a ser corrigida anualmente, em janeiro de cada ano, pela variação  Taxa de Administração  positiva do Índice Geral de Preços – Mercado, divulgado pela Fundação Getúlio  Vargas (“Taxa de Administração” e “IGP-M”, respectivamente).</a:t>
            </a:r>
          </a:p>
          <a:p>
            <a:r>
              <a:t> Na hipótese de extinção do IGP-M, não divulgação ou impossibilidade de sua  utilização, será utilizado o Índice Geral de Preços – Disponibilidade Interna,  divulgado pela Fundação Getúlio Vargas, ou, na falta de ambos, pela variação do IPC  – Índice de Preços ao Consumidor, divulgado pela Fundação Instituto de Pesquisas</a:t>
            </a:r>
          </a:p>
          <a:p>
            <a:r>
              <a:t>CNPJ 63953620000165 · Histórico de alterações materiais · Condição: Documentos atuais selecionados no inventário por categoria/escopo; a data documental isolada não comprova vigência jurídica.</a:t>
            </a:r>
          </a:p>
          <a:p>
            <a:r>
              <a:t>CNPJ 63953620000165 · Histórico de alterações materiais · Versão e prevalência: Documentos atuais selecionados no inventário por categoria/escopo; a data documental isolada não comprova vigência jurídica.</a:t>
            </a:r>
          </a:p>
          <a:p>
            <a:r>
              <a:t>CNPJ 54871427000194 · Auditor independente e DFs · Demonstrações Financeiras - Fusão, cisão e incorporação · ID 1219522 · 2026-02-02 · versão 1 · p. 23 · https://fnet.bmfbovespa.com.br/fnet/publico/visualizarDocumento?id=1219522</a:t>
            </a:r>
          </a:p>
          <a:p>
            <a:r>
              <a:t>CNPJ 54871427000194 · Auditor independente e DFs · Excerto da fonte:</a:t>
            </a:r>
          </a:p>
          <a:p>
            <a:r>
              <a:t>x) Possibilidade de aquisição de Direitos Creditórios cedidos por Endossante e/ou devidos por  Devedores cujas demonstrações financeiras não sejam auditadas. A Classe, desde que sejam  respeitados os limites de concentração previstos no Regulamento, poderá manter a qualquer  tempo em sua Carteira, Direitos Creditórios cedidos por Endossante e/ou devidos por Devedores  cujas demonstrações financeiras não sejam auditadas por Auditor Independente registrado na</a:t>
            </a:r>
          </a:p>
          <a:p>
            <a:r>
              <a:t>CNPJ 54871427000194 · Auditor independente e DFs · Demonstrações Financeiras - Fusão, cisão e incorporação · ID 1219522 · 2026-02-02 · versão 1 · p. 2 · https://fnet.bmfbovespa.com.br/fnet/publico/visualizarDocumento?id=1219522</a:t>
            </a:r>
          </a:p>
          <a:p>
            <a:r>
              <a:t>CNPJ 54871427000194 · Auditor independente e DFs · Excerto da fonte:</a:t>
            </a:r>
          </a:p>
          <a:p>
            <a:r>
              <a:t>Classe Única de Responsabilidade Limitada do Consignado Delta Receivables I Fundo de Investimento em  Direitos Creditórios  Demonstrações financeiras em  2 de fevereiro de 2026 (data da incorporação da Classe)</a:t>
            </a:r>
          </a:p>
          <a:p>
            <a:r>
              <a:t>CNPJ 54871427000194 · Auditor independente e DFs · Demonstrações Financeiras - Fusão, cisão e incorporação · ID 1219522 · 2026-02-02 · versão 1 · p. 3 · https://fnet.bmfbovespa.com.br/fnet/publico/visualizarDocumento?id=1219522</a:t>
            </a:r>
          </a:p>
          <a:p>
            <a:r>
              <a:t>CNPJ 54871427000194 · Auditor independente e DFs · Excerto da fonte:</a:t>
            </a:r>
          </a:p>
          <a:p>
            <a:r>
              <a:t>Examinamos as demonstrações financeiras da Classe Única de Responsabilidade Limitada do  Consignado Delta Receivables I Fundo de Investimento em Direitos Creditórios (“Classe”),  administrada pela BTG Pactual Serviços Financeiros S.A. Distribuidora de Títulos e Valores Mobiliários  (“Administradora”), que compreendem a demonstração da posição financeira em 2 de fevereiro de  2026 e as respectivas demonstrações do resultado e do resultado abrangente, das evoluções do  patrimônio líquido e dos fluxos de caixa para o período de 1° de janeiro de 2026 (data de início do  exercício social da Classe) a 2 de fevereiro de 2026 (data da incorporação da Classe), bem como as  correspondentes notas explicativas, incluindo as políticas contábeis materiais e outras informações  elucidativas.</a:t>
            </a:r>
          </a:p>
          <a:p>
            <a:r>
              <a:t> Em nossa opinião, as demonstrações financeiras acima referidas apresentam adequadamente, em  todos os aspectos relevantes, a posição patrimonial e financeira da Classe Única de Responsabilidade  Limitada do Consignado Delta Receivables I Fundo de Investimento em Direitos Creditórios em 2 de  fevereiro de 2026 e o desempenho de suas operações e os seus fluxos de caixa para o período de 1°  de janeiro de 2026 a 2 de fevereiro de 2026, de acordo com as práticas contábeis adotadas no Brasil  aplicáveis aos fundos de investimento em direitos creditórios.</a:t>
            </a:r>
          </a:p>
          <a:p>
            <a:r>
              <a:t>CNPJ 54871427000194 · Auditor independente e DFs · Condição: Documentos atuais selecionados no inventário por categoria/escopo; a data documental isolada não comprova vigência jurídica.</a:t>
            </a:r>
          </a:p>
          <a:p>
            <a:r>
              <a:t>CNPJ 54871427000194 · Auditor independente e DFs · Versão e prevalência: Documentos atuais selecionados no inventário por categoria/escopo; a data documental isolada não comprova vigência jurídica.</a:t>
            </a:r>
          </a:p>
          <a:p>
            <a:r>
              <a:t>CNPJ 54871427000194 · Auditor independente e DFs · Resumo do histórico: {"count": 6, "dates": ["2025-01-01", "2025-04-15", "2025-12-31"], "document_count": 3, "sources": [{"document_id": "1151805", "title": "Demonstrações Financeiras", "reference_date": "2025-12-31", "version": "1", "page": 23, "url": "https://fnet.bmfbovespa.com.br/fnet/publico/visualizarDocumento?id=1151805", "sha256": "f1cea70b152968bf96ef9221b27225953cb20aeef487b2798db3c25e11b528d4"}, {"document_id": "883217", "title": "AGO", "reference_date": "2025-04-15", "version": "1", "page": 1, "url": "https://fnet.bmfbovespa.com.br/fnet/publico/visualizarDocumento?id=883217", "sha256": "233467aa4aa6265d253b610668cde19344ec99af4adf4df934c6a1bd88b9a044"}, {"document_id": "869529", "title": "Demonstrações Financeiras", "reference_date": "2025-01-01", "version": "1", "page": 23, "url": "https://fnet.bmfbovespa.com.br/fnet/publico/visualizarDocumento?id=869529", "sha256": "9a93a9369ac8efdbc54ff8fcee3ccac3abf88edab4807b9323d3852450771b2a"}], "reference": {"path": "history/54871427000194.json", "criterion_id": "audit", "total_count": 6, "preview_count": 3, "full_text_deferred": true, "sha256": "35d7cd99be50c7287c9fb675cf4f2e736002315295a225a9efa79c8d9186d874"}}</a:t>
            </a:r>
          </a:p>
          <a:p>
            <a:r>
              <a:t>CNPJ 60010416000112 · Auditor independente e DFs · AGE · ID 1313936 · 2026-08-31 · versão 1 · p. 1 · https://fnet.bmfbovespa.com.br/fnet/publico/visualizarDocumento?id=1313936</a:t>
            </a:r>
          </a:p>
          <a:p>
            <a:r>
              <a:t>CNPJ 60010416000112 · Auditor independente e DFs · Excerto da fonte:</a:t>
            </a:r>
          </a:p>
          <a:p>
            <a:r>
              <a:t>(d) Fica a Administradora autorizada a levantar, na Data da Cisão, demonstrações contábeis da  Classe, as quais darão suporte à realização da Cisão ora deliberada. As demonstrações contábeis  deverão ser auditadas, em conformidade com o art. 120, da Parte Geral, da Resolução CVM 175;</a:t>
            </a:r>
          </a:p>
          <a:p>
            <a:r>
              <a:t>CNPJ 60010416000112 · Auditor independente e DFs · Condição: Documentos atuais selecionados no inventário por categoria/escopo; a data documental isolada não comprova vigência jurídica.</a:t>
            </a:r>
          </a:p>
          <a:p>
            <a:r>
              <a:t>CNPJ 60010416000112 · Auditor independente e DFs · Versão e prevalência: Documentos atuais selecionados no inventário por categoria/escopo; a data documental isolada não comprova vigência jurídica.</a:t>
            </a:r>
          </a:p>
          <a:p>
            <a:r>
              <a:t>CNPJ 60010416000112 · Auditor independente e DFs · Resumo do histórico: {"count": 11, "dates": ["2026-04-16", "2026-05-08", "2026-07-29"], "document_count": 3, "sources": [{"document_id": "1277540", "title": "AGE", "reference_date": "2026-07-29", "version": "1", "page": 1, "url": "https://fnet.bmfbovespa.com.br/fnet/publico/visualizarDocumento?id=1277540", "sha256": "7a9b65092af34917f99f22b62eb7d248d67149b9c91dd87b07b924b9601ee9b0"}, {"document_id": "1298690", "title": "Demonstrações Financeiras - Fusão, cisão e incorporação", "reference_date": "2026-05-08", "version": "1", "page": 1, "url": "https://fnet.bmfbovespa.com.br/fnet/publico/visualizarDocumento?id=1298690", "sha256": "d979f7f7cf866a68b7fbc65c46fd726b7bcc13f9d0b809190857a9b465be7be2"}, {"document_id": "1282181", "title": "Demonstrações Financeiras - Fusão, cisão e incorporação", "reference_date": "2026-04-16", "version": "1", "page": 1, "url": "https://fnet.bmfbovespa.com.br/fnet/publico/visualizarDocumento?id=1282181", "sha256": "b1c6566e43a00bcd00c8a7f30c77b7f86e351bd8e355bbea113f46d1dafda703"}], "reference": {"path": "history/60010416000112.json", "criterion_id": "audit", "total_count": 11, "preview_count": 3, "full_text_deferred": true, "sha256": "8e2bd813f4c51cf01f6bfaad164bafe69d2bbb192f753eac92da3a01c2e63046"}}</a:t>
            </a:r>
          </a:p>
          <a:p>
            <a:r>
              <a:t>CNPJ 62696791000193 · Auditor independente e DFs · Regulamento · ID 1143317 · 2026-03-20 · versão 1 · p. 5 · 4.1.7 · https://fnet.bmfbovespa.com.br/fnet/publico/visualizarDocumento?id=1143317</a:t>
            </a:r>
          </a:p>
          <a:p>
            <a:r>
              <a:t>CNPJ 62696791000193 · Auditor independente e DFs · Excerto da fonte:</a:t>
            </a:r>
          </a:p>
          <a:p>
            <a:r>
              <a:t>4.1.7 As demonstrações contábeis cujo relatório de auditoria não contiver opinião modificada podem  ser consideradas automaticamente aprovadas caso a assembleia correspondente não seja  instalada em virtude do não comparecimento de quaisquer Cotistas.</a:t>
            </a:r>
          </a:p>
          <a:p>
            <a:r>
              <a:t>CNPJ 62696791000193 · Auditor independente e DFs · Regulamento · ID 1143317 · 2026-03-20 · versão 1 · p. 23 · 10.12 · https://fnet.bmfbovespa.com.br/fnet/publico/visualizarDocumento?id=1143317</a:t>
            </a:r>
          </a:p>
          <a:p>
            <a:r>
              <a:t>CNPJ 62696791000193 · Auditor independente e DFs · Excerto da fonte:</a:t>
            </a:r>
          </a:p>
          <a:p>
            <a:r>
              <a:t>10.12 O representante dos Cotistas será eleito com prazo de mandato a se encerrar na próxima Assembleia  de Cotistas que deliberar sobre a aprovação de demonstrações contábeis do Fundo, sendo permitida  a reeleição.</a:t>
            </a:r>
          </a:p>
          <a:p>
            <a:r>
              <a:t>CNPJ 62696791000193 · Auditor independente e DFs · Condição: Documentos atuais selecionados no inventário por categoria/escopo; a data documental isolada não comprova vigência jurídica.</a:t>
            </a:r>
          </a:p>
          <a:p>
            <a:r>
              <a:t>CNPJ 62696791000193 · Auditor independente e DFs · Versão e prevalência: Documentos atuais selecionados no inventário por categoria/escopo; a data documental isolada não comprova vigência jurídica.</a:t>
            </a:r>
          </a:p>
          <a:p>
            <a:r>
              <a:t>CNPJ 55563624000109 · Auditor independente e DFs · Regulamento · ID 1192614 · 2026-04-30 · versão 1 · p. 24 · 12.3 · https://fnet.bmfbovespa.com.br/fnet/publico/visualizarDocumento?id=1192614</a:t>
            </a:r>
          </a:p>
          <a:p>
            <a:r>
              <a:t>CNPJ 55563624000109 · Auditor independente e DFs · Excerto da fonte:</a:t>
            </a:r>
          </a:p>
          <a:p>
            <a:r>
              <a:t>12.3 Incluem-se entre as obrigações do ADMINISTRADOR, sem prejuízo de outras previstas na regulamentação:</a:t>
            </a:r>
          </a:p>
          <a:p>
            <a:r>
              <a:t> (i) sem prejuízo da observância dos procedimentos relativos às demonstrações contábeis, manter,  separadamente, registros com informações completas sobre toda e qualquer modalidade de negociação  realizada entre o ADMINISTRADOR, GESTOR, CUSTODIANTE, e/ou suas respectivas partes relacionadas,  tais como definidas pelas regras contábeis que tratam desse assunto, de um lado; e a Classe, de outro;</a:t>
            </a:r>
          </a:p>
          <a:p>
            <a:r>
              <a:t> (ii) diligenciar para que sejam mantidos, às suas expensas, atualizados e em perfeita ordem:</a:t>
            </a:r>
          </a:p>
          <a:p>
            <a:r>
              <a:t> (a) o registro de Cotistas;</a:t>
            </a:r>
          </a:p>
          <a:p>
            <a:r>
              <a:t> (b) o livro de atas das Assembleias de Cotistas;</a:t>
            </a:r>
          </a:p>
          <a:p>
            <a:r>
              <a:t> (c) o livro ou lista de presença de Cotistas;</a:t>
            </a:r>
          </a:p>
          <a:p>
            <a:r>
              <a:t> (d) os pareceres do Auditor Independente; e</a:t>
            </a:r>
          </a:p>
          <a:p>
            <a:r>
              <a:t> (e) os registros contábeis referentes às operações e ao patrimônio da Classe;</a:t>
            </a:r>
          </a:p>
          <a:p>
            <a:r>
              <a:t> (iii) pagar a multa cominatória às suas expensas, nos termos da legislação vigente, por cada dia de atraso no  cumprimento dos prazos previstos na regulamentação aplicável;</a:t>
            </a:r>
          </a:p>
          <a:p>
            <a:r>
              <a:t> (iv) elaborar e divulgar as informações periódicas e eventuais da Classe, nos termos deste Anexo e da  regulamentação e da autorregulação em vigor;</a:t>
            </a:r>
          </a:p>
          <a:p>
            <a:r>
              <a:t> (v) manter atualizada junto à CVM a lista de todos os prestadores de serviços contratados pela Classe,  inclusive os Prestadores de Serviços Essenciais, bem como as demais informações cadastrais da Classe e  suas Subclasses;</a:t>
            </a:r>
          </a:p>
          <a:p>
            <a:r>
              <a:t> (vi) manter serviço de atendimento aos Cotistas, responsável pelo esclarecimento de dúvidas e pelo  recebimento de reclamações;</a:t>
            </a:r>
          </a:p>
          <a:p>
            <a:r>
              <a:t> (vii) receber e processar os pedidos de resgate;</a:t>
            </a:r>
          </a:p>
          <a:p>
            <a:r>
              <a:t> (viii) monitorar os Eventos de Verificação do Patrimônio;</a:t>
            </a:r>
          </a:p>
          <a:p>
            <a:r>
              <a:t> (ix) monitorar os Eventos de Avaliação e Eventos de Liquidação;</a:t>
            </a:r>
          </a:p>
          <a:p>
            <a:r>
              <a:t> (x) observar as disposições constantes do Regulamento;</a:t>
            </a:r>
          </a:p>
          <a:p>
            <a:r>
              <a:t> (xi) cumprir as deliberações da Assembleia de Cotistas; e</a:t>
            </a:r>
          </a:p>
          <a:p>
            <a:r>
              <a:t> (xii) observar as disposições do Código ANBIMA e das Regras e Procedimentos ANBIMA</a:t>
            </a:r>
          </a:p>
          <a:p>
            <a:r>
              <a:t>CNPJ 55563624000109 · Auditor independente e DFs · Regulamento · ID 1192614 · 2026-04-30 · versão 1 · p. 4 · 4.6.1 · https://fnet.bmfbovespa.com.br/fnet/publico/visualizarDocumento?id=1192614</a:t>
            </a:r>
          </a:p>
          <a:p>
            <a:r>
              <a:t>CNPJ 55563624000109 · Auditor independente e DFs · Excerto da fonte:</a:t>
            </a:r>
          </a:p>
          <a:p>
            <a:r>
              <a:t>4.6.1 As deliberações relativas às matérias elencadas nos incisos abaixo serão tomadas, em primeira  convocação ou em segunda convocação, conforme os quóruns dispostos abaixo, em sede assembleia  geral de cotistas ou de assembleia especial de cotistas, conforme o caso:</a:t>
            </a:r>
          </a:p>
          <a:p>
            <a:r>
              <a:t> MATÉRIA SUJEITA À APROVAÇÃO QUÓRUM DE DELIBERAÇÃO</a:t>
            </a:r>
          </a:p>
          <a:p>
            <a:r>
              <a:t> (i) aprovação das demonstrações contábeis do FUNDO; Maioria do total das Cotas emitidas</a:t>
            </a:r>
          </a:p>
          <a:p>
            <a:r>
              <a:t>CNPJ 55563624000109 · Auditor independente e DFs · Regulamento · ID 1192614 · 2026-04-30 · versão 1 · p. 10 · 3.1 · https://fnet.bmfbovespa.com.br/fnet/publico/visualizarDocumento?id=1192614</a:t>
            </a:r>
          </a:p>
          <a:p>
            <a:r>
              <a:t>CNPJ 55563624000109 · Auditor independente e DFs · Excerto da fonte:</a:t>
            </a:r>
          </a:p>
          <a:p>
            <a:r>
              <a:t>3.1 A Classe terá Encargos que lhe poderão ser debitados diretamente, nos termos da Resolução CVM 175, e  quaisquer despesas que não constituam Encargos correm por conta do Prestador de Serviço Essencial que a tiver  contratado, incluindo, sem se limitar a:</a:t>
            </a:r>
          </a:p>
          <a:p>
            <a:r>
              <a:t> (i) Taxa de performance, se houver;</a:t>
            </a:r>
          </a:p>
          <a:p>
            <a:r>
              <a:t> (ii) Taxas, impostos ou contribuições federais, estaduais, municipais ou autárquicas, que recaiam ou  venham a recair sobre os bens, direitos e obrigações da Classe;</a:t>
            </a:r>
          </a:p>
          <a:p>
            <a:r>
              <a:t> (iii) Despesas com o registro de documentos, impressão, expedição e publicação de relatórios e informações  periódicas previstas na Resolução CVM 175;</a:t>
            </a:r>
          </a:p>
          <a:p>
            <a:r>
              <a:t> (iv) Despesas com correspondências de interesse do FUNDO ou da Classe, inclusive comunicações aos  Cotistas;</a:t>
            </a:r>
          </a:p>
          <a:p>
            <a:r>
              <a:t> (v) Honorários e despesas do Auditor Independente;</a:t>
            </a:r>
          </a:p>
          <a:p>
            <a:r>
              <a:t> BTG Pactual  SAC: 0800 772 28 27 - Ouvidoria: 0800 722 00 48 - btgpactual.com  3</a:t>
            </a:r>
          </a:p>
          <a:p>
            <a:r>
              <a:t>CNPJ 55563624000109 · Auditor independente e DFs · Condição: Documentos atuais selecionados no inventário por categoria/escopo; a data documental isolada não comprova vigência jurídica.</a:t>
            </a:r>
          </a:p>
          <a:p>
            <a:r>
              <a:t>CNPJ 55563624000109 · Auditor independente e DFs · Versão e prevalência: Documentos atuais selecionados no inventário por categoria/escopo; a data documental isolada não comprova vigência jurídica.</a:t>
            </a:r>
          </a:p>
          <a:p>
            <a:r>
              <a:t>CNPJ 55563624000109 · Auditor independente e DFs · Resumo do histórico: {"count": 2, "dates": ["2025-01-31", "2026-01-31"], "document_count": 2, "sources": [{"document_id": "1178840", "title": "Demonstrações Financeiras", "reference_date": "2026-01-31", "version": "1", "page": 4, "url": "https://fnet.bmfbovespa.com.br/fnet/publico/visualizarDocumento?id=1178840", "sha256": "c458e98664c5c907ddb5a05a94b120bed4e05295b2bfc420f5ba69af0a229abe"}, {"document_id": "891861", "title": "Demonstrações Financeiras", "reference_date": "2025-01-31", "version": "1", "page": 2, "url": "https://fnet.bmfbovespa.com.br/fnet/publico/visualizarDocumento?id=891861", "sha256": "e9cb9e6ddbe505fe068cfcac33605165a98313489de0d3ce6d4d238263c3f3e7"}], "reference": {"path": "history/55563624000109.json", "criterion_id": "audit", "total_count": 2, "preview_count": 2, "full_text_deferred": true, "sha256": "7835d573fb58a3c19adf5b8ecc2aee2bdbb9a88f7a0c0209b5f262b64c7522e3"}}</a:t>
            </a:r>
          </a:p>
          <a:p>
            <a:r>
              <a:t>CNPJ 62552447000120 · Auditor independente e DFs · Regulamento · ID 1200623 · 2026-05-21 · versão 1 · p. 4 · 4.1.6 · https://fnet.bmfbovespa.com.br/fnet/publico/visualizarDocumento?id=1200623</a:t>
            </a:r>
          </a:p>
          <a:p>
            <a:r>
              <a:t>CNPJ 62552447000120 · Auditor independente e DFs · Excerto da fonte:</a:t>
            </a:r>
          </a:p>
          <a:p>
            <a:r>
              <a:t>4.1.6 As demonstrações contábeis cujo relatório de auditoria não contiver opinião modificada podem  ser consideradas automaticamente aprovadas caso a Assembleia Geral correspondente não  seja instalada em virtude do não comparecimento de quaisquer Cotistas.</a:t>
            </a:r>
          </a:p>
          <a:p>
            <a:r>
              <a:t>CNPJ 62552447000120 · Auditor independente e DFs · Regulamento · ID 1200623 · 2026-05-21 · versão 1 · p. 29 · 12.16 · https://fnet.bmfbovespa.com.br/fnet/publico/visualizarDocumento?id=1200623</a:t>
            </a:r>
          </a:p>
          <a:p>
            <a:r>
              <a:t>CNPJ 62552447000120 · Auditor independente e DFs · Excerto da fonte:</a:t>
            </a:r>
          </a:p>
          <a:p>
            <a:r>
              <a:t>12.16 Os serviços de auditoria das demonstrações f inanceiras e demais contas da Classe serão prestados  por Auditor Independente contratado pelo Administrador. Pelos serviços prestados, o Auditor  Independente f ará jus ao recebimento de remuneração a ser def inida em contrato específico, a qual  será paga pela Classe.</a:t>
            </a:r>
          </a:p>
          <a:p>
            <a:r>
              <a:t>CAPÍTULO 13 – TAXA GLOBAL</a:t>
            </a:r>
          </a:p>
          <a:p>
            <a:r>
              <a:t>CNPJ 62552447000120 · Auditor independente e DFs · Condição: Documentos atuais selecionados no inventário por categoria/escopo; a data documental isolada não comprova vigência jurídica.</a:t>
            </a:r>
          </a:p>
          <a:p>
            <a:r>
              <a:t>CNPJ 62552447000120 · Auditor independente e DFs · Versão e prevalência: Documentos atuais selecionados no inventário por categoria/escopo; a data documental isolada não comprova vigência jurídica.</a:t>
            </a:r>
          </a:p>
          <a:p>
            <a:r>
              <a:t>CNPJ 63953620000165 · Auditor independente e DFs · Anexo ao Regulamento · ID 1222863 · 2026-06-02 · versão 1 · p. 4 · 3.4 · https://fnet.bmfbovespa.com.br/fnet/publico/visualizarDocumento?id=1222863</a:t>
            </a:r>
          </a:p>
          <a:p>
            <a:r>
              <a:t>CNPJ 63953620000165 · Auditor independente e DFs · Excerto da fonte:</a:t>
            </a:r>
          </a:p>
          <a:p>
            <a:r>
              <a:t>3.4 Adicionalmente aos Encargos, as seguintes despesas serão debitadas diretamente da Classe, nos termos do art.</a:t>
            </a:r>
          </a:p>
          <a:p>
            <a:r>
              <a:t> 51 do Anexo Normativo II da Resolução CVM 175 (“Despesas Adicionais”):</a:t>
            </a:r>
          </a:p>
          <a:p>
            <a:r>
              <a:t> (i) Despesas com registro de Direitos Creditórios;</a:t>
            </a:r>
          </a:p>
          <a:p>
            <a:r>
              <a:t> (ii) Despesas com serviços de originação, cobranças ordinária e/ou extraordinária dos Direitos Creditórios,  e/ou verificação de lastro dos Direitos Creditórios, conforme aplicável;</a:t>
            </a:r>
          </a:p>
          <a:p>
            <a:r>
              <a:t> (iii) Despesas com a contratação de atividades relacionadas à verificação de lastro;</a:t>
            </a:r>
          </a:p>
          <a:p>
            <a:r>
              <a:t> (iv) Despesas com a contratação de Agente de Retenção/Cobrança; Despesas com a contratação de  consultoria especializada, conforme o caso;</a:t>
            </a:r>
          </a:p>
          <a:p>
            <a:r>
              <a:t> (v) Remuneração do Custodiante;</a:t>
            </a:r>
          </a:p>
          <a:p>
            <a:r>
              <a:t> (vi) Despesas com honorários advocatícios para quaisquer assuntos de interesse da Classe, seja na esfera  judicial ou extrajudicial, inclusive consultivo;</a:t>
            </a:r>
          </a:p>
          <a:p>
            <a:r>
              <a:t> (vii) Despesas com a assinatura e registro dos Termos de Endosso, conforme aplicável, junto aos  competentes cartórios de Registro de Títulos e Documentos;</a:t>
            </a:r>
          </a:p>
          <a:p>
            <a:r>
              <a:t> (viii) Despesas inerentes à distribuição primária de Cotas, inclusive a contratação e remuneração do  distribuidor das Cotas para cada oferta de Cotas da Classe, nos termos de cada contrato de distribuição  e honorários devidos ao(s) assessor(es) legal(is) de cada oferta, assim como despesas com o registro das  Cotas na CVM, ANBIMA e/ou na entidade de mercado organizado em que as cotas sejam registradas,  conforme aplicável;</a:t>
            </a:r>
          </a:p>
          <a:p>
            <a:r>
              <a:t> (ix) Taxas de fiscalização da CVM e/ou ANBIMA, conforme aplicável; e</a:t>
            </a:r>
          </a:p>
          <a:p>
            <a:r>
              <a:t> (x) Despesas com contratação e remuneração do Auditor Independente e da Agência Classificadora de  Risco.</a:t>
            </a:r>
          </a:p>
          <a:p>
            <a:r>
              <a:t>CNPJ 63953620000165 · Auditor independente e DFs · Condição: Documentos atuais selecionados no inventário por categoria/escopo; a data documental isolada não comprova vigência jurídica.</a:t>
            </a:r>
          </a:p>
          <a:p>
            <a:r>
              <a:t>CNPJ 63953620000165 · Auditor independente e DFs · Motivo: Cláusula primária localizada e citada, mas sua lista/condições extensas não admitem uma síntese literal curta confirmada. O trecho integral permanece nas fontes.</a:t>
            </a:r>
          </a:p>
          <a:p>
            <a:r>
              <a:t>CNPJ 63953620000165 · Auditor independente e DFs · Versão e prevalência: Documentos atuais selecionados no inventário por categoria/escopo; a data documental isolada não comprova vigência jurídica.</a:t>
            </a:r>
          </a:p>
          <a:p>
            <a:r>
              <a:t>CNPJ 63953620000165 · Auditor independente e DFs · Resumo do histórico: {"count": 8, "dates": ["2026-04-28", "2026-05-08", "2026-05-15"], "document_count": 3, "sources": [{"document_id": "1327859", "title": "Demonstrações Financeiras - Fusão, cisão e incorporação", "reference_date": "2026-05-15", "version": "1", "page": 1, "url": "https://fnet.bmfbovespa.com.br/fnet/publico/visualizarDocumento?id=1327859", "sha256": "dca1c68babb97f887528c3e2e47596a9c30f507b067981a35655b2f2da9c8054"}, {"document_id": "1298691", "title": "Demonstrações Financeiras - Fusão, cisão e incorporação", "reference_date": "2026-05-08", "version": "1", "page": 1, "url": "https://fnet.bmfbovespa.com.br/fnet/publico/visualizarDocumento?id=1298691", "sha256": "58c570d9b8d4d265330d3db3ea81c435b8e44a6dab4002aa37790652a1ee9819"}, {"document_id": "1282180", "title": "Demonstrações Financeiras - Fusão, cisão e incorporação", "reference_date": "2026-04-28", "version": "1", "page": 1, "url": "https://fnet.bmfbovespa.com.br/fnet/publico/visualizarDocumento?id=1282180", "sha256": "afaaa0e6809be4385e5bdb6c911aac582032c5bdbac3d7750234bf9eaf00438a"}], "reference": {"path": "history/63953620000165.json", "criterion_id": "audit", "total_count": 8, "preview_count": 3, "full_text_deferred": true, "sha256": "a7b89077f5e21098c2d601c303faabc3ff6b9729f89d8afecdc60fe1404720c1"}}</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Declarações trimestrais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Resultado da verificação de lastro · Informe Trimestral · ID 1291015 · 06/2026 · versão 1 · p. 1 · Sobre os resultados da última verificação do lastro dos direitos creditórios do fundo. · https://fnet.bmfbovespa.com.br/fnet/publico/visualizarDocumento?id=1291015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60010416000112 · Resultado da verificação de lastro · Informe Trimestral · ID 1292034 · 06/2026 · versão 1 · p. 1 · Sobre os resultados da última verificação do lastro dos direitos creditórios do fundo. · https://fnet.bmfbovespa.com.br/fnet/publico/visualizarDocumento?id=1292034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62696791000193 · Resultado da verificação de lastro · Informe Trimestral · ID 1114465 · 12/2025 · versão 1 · p. 1 · Sobre os resultados da última verificação do lastro dos direitos creditórios do fundo. · https://fnet.bmfbovespa.com.br/fnet/publico/visualizarDocumento?id=1114465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55563624000109 · Resultado da verificação de lastro · Informe Trimestral · ID 1289610 · 06/2026 · versão 1 · p. 1 · Sobre os resultados da última verificação do lastro dos direitos creditórios do fundo. · https://fnet.bmfbovespa.com.br/fnet/publico/visualizarDocumento?id=1289610 · Sobre os resultados da última verificação do lastro dos direitos creditórios do fundo. Informamos que o Fundo dispensa a verificação de lastro dos direitos creditórios.</a:t>
            </a:r>
          </a:p>
          <a:p>
            <a:r>
              <a:t>CNPJ 62552447000120 · Resultado da verificação de lastro · Informe Trimestral · ID 1292043 · 06/2026 · versão 1 · p. 1 · Sobre os resultados da última verificação do lastro dos direitos creditórios do fundo. · https://fnet.bmfbovespa.com.br/fnet/publico/visualizarDocumento?id=1292043 · Sobre os resultados da última verificação do lastro dos direitos creditórios do fundo. Informamos que o Fundo dispensa a verificação de lastro dos direitos creditórios.</a:t>
            </a:r>
          </a:p>
          <a:p>
            <a:r>
              <a:t>CNPJ 63953620000165 · Resultado da verificação de lastro · Informe Trimestral · ID 1291068 · 06/2026 · versão 1 · p. 1 · Sobre os resultados da última verificação do lastro dos direitos creditórios do fundo. · https://fnet.bmfbovespa.com.br/fnet/publico/visualizarDocumento?id=1291068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54871427000194 · Registro dos direitos creditórios · Informe Trimestral · ID 1291015 · 06/2026 · versão 1 · p. 1 · Sobre o registro dos direitos creditórios em entidade registradora. · https://fnet.bmfbovespa.com.br/fnet/publico/visualizarDocumento?id=1291015 · Sobre o registro dos direitos creditórios em entidade registradora. Todos os créditos estão liberados para registro.</a:t>
            </a:r>
          </a:p>
          <a:p>
            <a:r>
              <a:t>CNPJ 60010416000112 · Registro dos direitos creditórios · Informe Trimestral · ID 1292034 · 06/2026 · versão 1 · p. 1 · Sobre o registro dos direitos creditórios em entidade registradora. · https://fnet.bmfbovespa.com.br/fnet/publico/visualizarDocumento?id=1292034 · Sobre o registro dos direitos creditórios em entidade registradora. Todos os créditos estão liberados para registro.</a:t>
            </a:r>
          </a:p>
          <a:p>
            <a:r>
              <a:t>CNPJ 62696791000193 · Registro dos direitos creditórios · Informe Trimestral · ID 1114465 · 12/2025 · versão 1 · p. 1 · Sobre o registro dos direitos creditórios em entidade registradora. · https://fnet.bmfbovespa.com.br/fnet/publico/visualizarDocumento?id=1114465 · Sobre o registro dos direitos creditórios em entidade registradora. Todos os créditos estão liberados para registro.</a:t>
            </a:r>
          </a:p>
          <a:p>
            <a:r>
              <a:t>CNPJ 55563624000109 · Registro dos direitos creditórios · Informe Trimestral · ID 1289610 · 06/2026 · versão 1 · p. 1 · Sobre o registro dos direitos creditórios em entidade registradora. · https://fnet.bmfbovespa.com.br/fnet/publico/visualizarDocumento?id=1289610 · Sobre o registro dos direitos creditórios em entidade registradora. Todos os créditos estão liberados para registro.</a:t>
            </a:r>
          </a:p>
          <a:p>
            <a:r>
              <a:t>CNPJ 62552447000120 · Registro dos direitos creditórios · Informe Trimestral · ID 1292043 · 06/2026 · versão 1 · p. 1 · Sobre o registro dos direitos creditórios em entidade registradora. · https://fnet.bmfbovespa.com.br/fnet/publico/visualizarDocumento?id=1292043 · Sobre o registro dos direitos creditórios em entidade registradora. Todos os créditos estão liberados para registro.</a:t>
            </a:r>
          </a:p>
          <a:p>
            <a:r>
              <a:t>CNPJ 63953620000165 · Registro dos direitos creditórios · Informe Trimestral · ID 1291068 · 06/2026 · versão 1 · p. 1 · Sobre o registro dos direitos creditórios em entidade registradora. · https://fnet.bmfbovespa.com.br/fnet/publico/visualizarDocumento?id=1291068 · Sobre o registro dos direitos creditórios em entidade registradora. Todos os créditos estão liberados para registro.</a:t>
            </a:r>
          </a:p>
          <a:p>
            <a:r>
              <a:t>CNPJ 54871427000194 · Processos judiciais · Informe Trimestral · ID 1291015 · 06/2026 · versão 1 · p. 1 · Sobre a existência de processos judiciais envolvendo o FIDC. · https://fnet.bmfbovespa.com.br/fnet/publico/visualizarDocumento?id=1291015 · Sobre a existência de processos judiciais envolvendo o FIDC. O administrador do fundo não tem conhecimento de ações judiciais envolvendo o fundo no trimestre em referência.</a:t>
            </a:r>
          </a:p>
          <a:p>
            <a:r>
              <a:t>CNPJ 60010416000112 · Processos judiciais · Informe Trimestral · ID 1292034 · 06/2026 · versão 1 · p. 1 · Sobre a existência de processos judiciais envolvendo o FIDC. · https://fnet.bmfbovespa.com.br/fnet/publico/visualizarDocumento?id=1292034 · Sobre a existência de processos judiciais envolvendo o FIDC. O fundo está exposto as ações judiciais listadas abaixo:</a:t>
            </a:r>
          </a:p>
          <a:p>
            <a:r>
              <a:t>CNPJ 62696791000193 · Processos judiciais · Informe Trimestral · ID 1114465 · 12/2025 · versão 1 · p. 1 · Sobre a existência de processos judiciais envolvendo o FIDC. · https://fnet.bmfbovespa.com.br/fnet/publico/visualizarDocumento?id=1114465 · Sobre a existência de processos judiciais envolvendo o FIDC. O administrador do fundo não tem conhecimento de ações judiciais envolvendo o fundo no trimestre em referência.</a:t>
            </a:r>
          </a:p>
          <a:p>
            <a:r>
              <a:t>CNPJ 55563624000109 · Processos judiciais · Informe Trimestral · ID 1289610 · 06/2026 · versão 1 · p. 1 · Sobre a existência de processos judiciais envolvendo o FIDC. · https://fnet.bmfbovespa.com.br/fnet/publico/visualizarDocumento?id=1289610 · Sobre a existência de processos judiciais envolvendo o FIDC. O administrador do fundo não tem conhecimento de ações judiciais envolvendo o fundo no trimestre em referência.</a:t>
            </a:r>
          </a:p>
          <a:p>
            <a:r>
              <a:t>CNPJ 62552447000120 · Processos judiciais · Informe Trimestral · ID 1292043 · 06/2026 · versão 1 · p. 1 · Sobre a existência de processos judiciais envolvendo o FIDC. · https://fnet.bmfbovespa.com.br/fnet/publico/visualizarDocumento?id=1292043 · Sobre a existência de processos judiciais envolvendo o FIDC. O administrador do fundo não tem conhecimento de ações judiciais envolvendo o fundo no trimestre em referência.</a:t>
            </a:r>
          </a:p>
          <a:p>
            <a:r>
              <a:t>CNPJ 63953620000165 · Processos judiciais · Informe Trimestral · ID 1291068 · 06/2026 · versão 1 · p. 1 · Sobre a existência de processos judiciais envolvendo o FIDC. · https://fnet.bmfbovespa.com.br/fnet/publico/visualizarDocumento?id=1291068 · Sobre a existência de processos judiciais envolvendo o FIDC. O fundo está exposto as ações judiciais listadas abaixo:</a:t>
            </a:r>
          </a:p>
          <a:p>
            <a:r>
              <a:t>CNPJ 54871427000194 · Aquisição de precatórios · Informe Trimestral · ID 1291015 · 06/2026 · versão 1 · p. 1 · Sobre a aquisição de precatórios federais em fundos destinados ao público em geral. · https://fnet.bmfbovespa.com.br/fnet/publico/visualizarDocumento?id=1291015 · Sobre a aquisição de precatórios federais em fundos destinados ao público em geral. O fundo não se destina ao público em geral. As informações a seguir são destinadas à apresentação do relatório trimestral do gestor.</a:t>
            </a:r>
          </a:p>
          <a:p>
            <a:r>
              <a:t>CNPJ 60010416000112 · Aquisição de precatórios · Informe Trimestral · ID 1292034 · 06/2026 · versão 1 · p. 1 · Sobre a aquisição de precatórios federais em fundos destinados ao público em geral. · https://fnet.bmfbovespa.com.br/fnet/publico/visualizarDocumento?id=1292034 · Sobre a aquisição de precatórios federais em fundos destinados ao público em geral. O fundo adquiriu precatórios federais no trimestre em referência e está sujeito a eventual existência de impugnação judicial ou fatos supervenientes capazes de alterar a ordem ou o prazo de pagamento dos precatórios. As informações a seguir são destinadas à apresentação do relatório trimestral do gestor.</a:t>
            </a:r>
          </a:p>
          <a:p>
            <a:r>
              <a:t>CNPJ 62696791000193 · Aquisição de precatórios · Informe Trimestral · ID 1114465 · 12/2025 · versão 1 · p. 1 · Sobre a aquisição de precatórios federais em fundos destinados ao público em geral. · https://fnet.bmfbovespa.com.br/fnet/publico/visualizarDocumento?id=1114465 · Sobre a aquisição de precatórios federais em fundos destinados ao público em geral. O fundo não se destina ao público em geral. As informações a seguir são destinadas à apresentação do relatório trimestral do gestor. Em atendimento ao parágrafo § 4º, inciso V, artigo 27 da Resolução 175, informamos ainda que, até a data de divulgação deste demonstrativo trimestral, o gestor não encaminhou ao administrador o relatório trimestral da gestão, conforme estabelecido pela legislação em vigor.</a:t>
            </a:r>
          </a:p>
          <a:p>
            <a:r>
              <a:t>CNPJ 55563624000109 · Aquisição de precatórios · Informe Trimestral · ID 1289610 · 06/2026 · versão 1 · p. 1 · Sobre a aquisição de precatórios federais em fundos destinados ao público em geral. · https://fnet.bmfbovespa.com.br/fnet/publico/visualizarDocumento?id=1289610 · Sobre a aquisição de precatórios federais em fundos destinados ao público em geral. O fundo não se destina ao público em geral. As informações a seguir são destinadas à apresentação do relatório trimestral do gestor.</a:t>
            </a:r>
          </a:p>
          <a:p>
            <a:r>
              <a:t>CNPJ 62552447000120 · Aquisição de precatórios · Informe Trimestral · ID 1292043 · 06/2026 · versão 1 · p. 1 · Sobre a aquisição de precatórios federais em fundos destinados ao público em geral. · https://fnet.bmfbovespa.com.br/fnet/publico/visualizarDocumento?id=1292043 · Sobre a aquisição de precatórios federais em fundos destinados ao público em geral. O fundo não se destina ao público em geral. As informações a seguir são destinadas à apresentação do relatório trimestral do gestor.</a:t>
            </a:r>
          </a:p>
          <a:p>
            <a:r>
              <a:t>CNPJ 63953620000165 · Aquisição de precatórios · Informe Trimestral · ID 1291068 · 06/2026 · versão 1 · p. 1 · Sobre a aquisição de precatórios federais em fundos destinados ao público em geral. · https://fnet.bmfbovespa.com.br/fnet/publico/visualizarDocumento?id=1291068 · Sobre a aquisição de precatórios federais em fundos destinados ao público em geral. O fundo adquiriu precatórios federais no trimestre em referência e está sujeito a eventual existência de impugnação judicial ou fatos supervenientes capazes de alterar a ordem ou o prazo de pagamento dos precatórios. As informações a seguir são destinadas à apresentação do relatório trimestral do gestor.</a:t>
            </a:r>
          </a:p>
          <a:p>
            <a:r>
              <a:t>CNPJ 63953620000165 · Aquisição de precatórios · Anexo ao Regulamento · ID 1222863 · 02/06/2026 · versão AnexoConsignadoPrivado02/06/2026 · p. 6 · 4.14 · https://fnet.bmfbovespa.com.br/fnet/publico/visualizarDocumento?id=1222863 · 4.14 Nos termos do Art. 45, §7º, inciso II, do Anexo Normativo II da Resolução CVM 175, a Classe poderá ter até 100% (cem por cento) de seu Patrimônio Líquido alocado em Direitos Creditórios, derivativos, observado o disposto neste Anexo I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4.15 Sem prejuízo de limites</a:t>
            </a:r>
          </a:p>
          <a:p>
            <a:r>
              <a:t>CNPJ 63953620000165 · Aquisição de precatórios · Anexo ao Regulamento · ID 1222863 · 02/06/2026 · versão AnexoConsignadoPrivado02/06/2026 · p. 7 · 4.15(i)–(v) · https://fnet.bmfbovespa.com.br/fnet/publico/visualizarDocumento?id=1222863 · (i)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CNPJ 54871427000194 · Alterações da política de investimento · Informe Trimestral · ID 1291015 · 06/2026 · versão 1 · p. 1 · Impactos de eventual alteração na política de investimento sobre a rentabilidade do Fundo. · https://fnet.bmfbovespa.com.br/fnet/publico/visualizarDocumento?id=1291015 · Impactos de eventual alteração na política de investimento sobre a rentabilidade do Fundo. Não se aplica, pois não ocorreram alterações na política de investimento do fundo no trimestre em referência.</a:t>
            </a:r>
          </a:p>
          <a:p>
            <a:r>
              <a:t>CNPJ 60010416000112 · Alterações da política de investimento · Informe Trimestral · ID 1292034 · 06/2026 · versão 1 · p. 1 · Impactos de eventual alteração na política de investimento sobre a rentabilidade do Fundo. · https://fnet.bmfbovespa.com.br/fnet/publico/visualizarDocumento?id=1292034 · Impactos de eventual alteração na política de investimento sobre a rentabilidade do Fundo. Não foram observados impactos significativos na rentabilidade do fundo, em função das alterações ocorridas em seu regulamento no trimestre em referência.</a:t>
            </a:r>
          </a:p>
          <a:p>
            <a:r>
              <a:t>CNPJ 62552447000120 · Alterações da política de investimento · Informe Trimestral · ID 1292043 · 06/2026 · versão 1 · p. 1 · Impactos de eventual alteração na política de investimento sobre a rentabilidade do Fundo. · https://fnet.bmfbovespa.com.br/fnet/publico/visualizarDocumento?id=1292043 · Impactos de eventual alteração na política de investimento sobre a rentabilidade do Fundo. Não se aplica, pois não ocorreram alterações na política de investimento do fundo no trimestre em referência.</a:t>
            </a:r>
          </a:p>
          <a:p>
            <a:r>
              <a:t>CNPJ 63953620000165 · Alterações da política de investimento · Informe Trimestral · ID 1291068 · 06/2026 · versão 1 · p. 1 · Impactos de eventual alteração na política de investimento sobre a rentabilidade do Fundo. · https://fnet.bmfbovespa.com.br/fnet/publico/visualizarDocumento?id=1291068 · Impactos de eventual alteração na política de investimento sobre a rentabilidade do Fundo. Não foram observados impactos significativos na rentabilidade do fundo, em função das alterações ocorridas em seu regulamento no trimestre em referência.</a:t>
            </a:r>
          </a:p>
          <a:p>
            <a:r>
              <a:t>CNPJ 54871427000194 · Critérios de concessão dos originadores · Informe Trimestral · ID 1291015 · 06/2026 · versão 1 · p. 2 · Critérios para a concessão de crédito adotados pelos originadores, que representem 10% ou mais da carteira de direitos creditórios no trimestre. · https://fnet.bmfbovespa.com.br/fnet/publico/visualizarDocumento?id=1291015 · Critérios para a concessão de crédito adotados pelos originadores, que representem 10% ou mais da carteira de direitos creditórios no trimestre. Os critérios para a concessão de crédito adotados pelos originadores do fundo não foram alterados no último trimestre, conforme descrito em seu regulamento.</a:t>
            </a:r>
          </a:p>
          <a:p>
            <a:r>
              <a:t>CNPJ 60010416000112 · Critérios de concessão dos originadores · Informe Trimestral · ID 1292034 · 06/2026 · versão 1 · p. 2 · Critérios para a concessão de crédito adotados pelos originadores, que representem 10% ou mais da carteira de direitos creditórios no trimestre. · https://fnet.bmfbovespa.com.br/fnet/publico/visualizarDocumento?id=1292034 · Critérios para a concessão de crédito adotados pelos originadores, que representem 10% ou mais da carteira de direitos creditórios no trimestre. Os critérios para a concessão de crédito adotados pelos originadores do fundo foram alterados no último trimestre, conforme descrito em seu regulamento.</a:t>
            </a:r>
          </a:p>
          <a:p>
            <a:r>
              <a:t>CNPJ 55563624000109 · Critérios de concessão dos originadores · Informe Trimestral · ID 1289610 · 06/2026 · versão 1 · p. 2–3 · Critériosparaaconcessãodecréditoadotadospelosoriginadores,casotaiscritériosnãotenhamsido descritos no regulamento ou em outros demonstrativos trimestrais; Resposta:Nãoocorreramalteraçõesrelevantesnoscritériosparaaconcessãodecrédito. · https://fnet.bmfbovespa.com.br/fnet/publico/visualizarDocumento?id=1289610 · Critériosparaaconcessãodecréditoadotadospelosoriginadores,casotaiscritériosnãotenhamsido descritos no regulamento ou em outros demonstrativos trimestrais; Resposta:Nãoocorreramalteraçõesrelevantesnoscritériosparaaconcessãodecrédito. Eventuaisalteraçõesnoscritériosparaaconcessãodecréditoadotadosportaisoriginadores,casooscritériosadotadosjátenh amsidodescritosnoregulamentoouemoutrosdemonstrativostrimestrais;Resposta:Nãoocorreramalteraçõesrelevant esnoscritériosparaaconcessãodecrédito. Eventuaisalteraçõesnasgarantiasexistentesparaoconjuntodedireitoscreditórios; Resposta:Nãoocorreramalteraçõesrelevantesnas garantiasexistentesparao conjuntodeativos. Formacomoseoperouacessãodosdireitoscreditórios,incluindo: a)descriçãodecontratosrelevantesfirmadoscomessepropósito,sehouver;eb)indicaçãodocaráter definitivo, ou não, da cessão de direitos creditórios; Resposta:Ascessõesdedireitoscreditóriosocorreramtodasdeformadefinitiva,deacordocomodisposto no regulamento e/ou nos respectivos contratos. Nomedofundo:PLGNMARKETFCFIDC CNPJ: 55563624000109 Impactodoseventosdepré- pagamentonovalordopatrimôniolíquidoenarentabilidadedacarteira;Resposta:Existemeventosdepré- pagamentoemfundospulverizadosnocursonormaldosnegócios que não geram, por si só, impacto significativo no patrimônio líquido e na rentabilidade da carteira.</a:t>
            </a:r>
          </a:p>
          <a:p>
            <a:r>
              <a:t>CNPJ 63953620000165 · Critérios de concessão dos originadores · Informe Trimestral · ID 1291068 · 06/2026 · versão 1 · p. 2 · Critérios para a concessão de crédito adotados pelos originadores, que representem 10% ou mais da carteira de direitos creditórios no trimestre. · https://fnet.bmfbovespa.com.br/fnet/publico/visualizarDocumento?id=1291068 · Critérios para a concessão de crédito adotados pelos originadores, que representem 10% ou mais da carteira de direitos creditórios no trimestre. Os critérios para a concessão de crédito adotados pelos originadores do fundo foram alterados no último trimestre, conforme descrito em seu regulamento.</a:t>
            </a:r>
          </a:p>
          <a:p>
            <a:r>
              <a:t>CNPJ 54871427000194 · Alterações das garantias · Informe Trimestral · ID 1291015 · 06/2026 · versão 1 · p. 2 · Sobre as garantias existentes. · https://fnet.bmfbovespa.com.br/fnet/publico/visualizarDocumento?id=1291015 · Sobre as garantias existentes. Não ocorreram alterações nas garantias existentes para o conjunto de direitos creditórios adquiridos pelo fundo.</a:t>
            </a:r>
          </a:p>
          <a:p>
            <a:r>
              <a:t>CNPJ 60010416000112 · Alterações das garantias · Informe Trimestral · ID 1292034 · 06/2026 · versão 1 · p. 2 · Sobre as garantias existentes. · https://fnet.bmfbovespa.com.br/fnet/publico/visualizarDocumento?id=1292034 · Sobre as garantias existentes. Ocorreram alterações nas garantias existentes para o conjunto de direitos creditórios adquiridos pelo fundo.</a:t>
            </a:r>
          </a:p>
          <a:p>
            <a:r>
              <a:t>CNPJ 62552447000120 · Alterações das garantias · Informe Trimestral · ID 1292043 · 06/2026 · versão 1 · p. 2 · Sobre as garantias existentes. · https://fnet.bmfbovespa.com.br/fnet/publico/visualizarDocumento?id=1292043 · Sobre as garantias existentes. Não ocorreram alterações nas garantias existentes para o conjunto de direitos creditórios adquiridos pelo fundo.</a:t>
            </a:r>
          </a:p>
          <a:p>
            <a:r>
              <a:t>CNPJ 63953620000165 · Alterações das garantias · Informe Trimestral · ID 1291068 · 06/2026 · versão 1 · p. 2 · Sobre as garantias existentes. · https://fnet.bmfbovespa.com.br/fnet/publico/visualizarDocumento?id=1291068 · Sobre as garantias existentes. Ocorreram alterações nas garantias existentes para o conjunto de direitos creditórios adquiridos pelo fundo.</a:t>
            </a:r>
          </a:p>
          <a:p>
            <a:r>
              <a:t>CNPJ 54871427000194 · Cessões no trimestre · Informe Trimestral · ID 1291015 · 06/2026 · versão 1 · p. 2 · Sobre a cessão dos direitos creditórios no período. · https://fnet.bmfbovespa.com.br/fnet/publico/visualizarDocumento?id=1291015 · Sobre a cessão dos direitos creditórios no período. Não se aplica, visto que não foram emitidas novas cessões de direitos creditórios no período.</a:t>
            </a:r>
          </a:p>
          <a:p>
            <a:r>
              <a:t>CNPJ 60010416000112 · Cessões no trimestre · Informe Trimestral · ID 1292034 · 06/2026 · versão 1 · p. 2 · Sobre a cessão dos direitos creditórios no período. · https://fnet.bmfbovespa.com.br/fnet/publico/visualizarDocumento?id=1292034 · Sobre a cessão dos direitos creditórios no período. Ocorreram novas cessões de direitos creditórios no período em referência e os novos contratos foram firmados com o caráter definitivo para o fundo.</a:t>
            </a:r>
          </a:p>
          <a:p>
            <a:r>
              <a:t>CNPJ 62552447000120 · Cessões no trimestre · Informe Trimestral · ID 1292043 · 06/2026 · versão 1 · p. 2 · Sobre a cessão dos direitos creditórios no período. · https://fnet.bmfbovespa.com.br/fnet/publico/visualizarDocumento?id=1292043 · Sobre a cessão dos direitos creditórios no período. Ocorreram novas cessões de direitos creditórios no período em referência e os novos contratos foram firmados com o caráter definitivo para o fundo.</a:t>
            </a:r>
          </a:p>
          <a:p>
            <a:r>
              <a:t>CNPJ 63953620000165 · Cessões no trimestre · Informe Trimestral · ID 1291068 · 06/2026 · versão 1 · p. 2 · Sobre a cessão dos direitos creditórios no período. · https://fnet.bmfbovespa.com.br/fnet/publico/visualizarDocumento?id=1291068 · Sobre a cessão dos direitos creditórios no período. Ocorreram novas cessões de direitos creditórios no período em referência e os novos contratos foram firmados com o caráter definitivo para o fundo.</a:t>
            </a:r>
          </a:p>
          <a:p>
            <a:r>
              <a:t>CNPJ 54871427000194 · Eventos de pré-pagamento · Informe Trimestral · ID 1291015 · 06/2026 · versão 1 · p. 2 · Sobre os impactos dos eventos de pré-pagamento. · https://fnet.bmfbovespa.com.br/fnet/publico/visualizarDocumento?id=1291015 · Sobre os impactos dos eventos de pré-pagamento. Não se aplica, visto que não ocorreram eventos de pré-pagamento no último trimestre.</a:t>
            </a:r>
          </a:p>
          <a:p>
            <a:r>
              <a:t>CNPJ 60010416000112 · Eventos de pré-pagamento · Informe Trimestral · ID 1292034 · 06/2026 · versão 1 · p. 2 · Sobre os impactos dos eventos de pré-pagamento. · https://fnet.bmfbovespa.com.br/fnet/publico/visualizarDocumento?id=1292034 · Sobre os impactos dos eventos de pré-pagamento. O fundo teve eventos de pré-pagamento no último trimestre, mas não foram observados impactos relevantes no patrimônio líquido e na carteira do fundo.</a:t>
            </a:r>
          </a:p>
          <a:p>
            <a:r>
              <a:t>CNPJ 62552447000120 · Eventos de pré-pagamento · Informe Trimestral · ID 1292043 · 06/2026 · versão 1 · p. 2 · Sobre os impactos dos eventos de pré-pagamento. · https://fnet.bmfbovespa.com.br/fnet/publico/visualizarDocumento?id=1292043 · Sobre os impactos dos eventos de pré-pagamento. O fundo teve eventos de pré-pagamento no último trimestre, mas não foram observados impactos relevantes no patrimônio líquido e na carteira do fundo.</a:t>
            </a:r>
          </a:p>
          <a:p>
            <a:r>
              <a:t>CNPJ 63953620000165 · Eventos de pré-pagamento · Informe Trimestral · ID 1291068 · 06/2026 · versão 1 · p. 2 · Sobre os impactos dos eventos de pré-pagamento. · https://fnet.bmfbovespa.com.br/fnet/publico/visualizarDocumento?id=1291068 · Sobre os impactos dos eventos de pré-pagamento. O fundo teve eventos de pré-pagamento no último trimestre, mas não foram observados impactos relevantes no patrimônio líquido e na carteira do fundo.</a:t>
            </a:r>
          </a:p>
          <a:p>
            <a:r>
              <a:t>CNPJ 54871427000194 · Alienação de direitos creditórios · Informe Trimestral · ID 1291015 · 06/2026 · versão 1 · p. 2 · Sobre as condições de alienação dos direitos creditórios. · https://fnet.bmfbovespa.com.br/fnet/publico/visualizarDocumento?id=1291015 · Sobre as condições de alienação dos direitos creditórios. Não se aplica, visto que não ocorreram eventos de alienação neste trimestre.</a:t>
            </a:r>
          </a:p>
          <a:p>
            <a:r>
              <a:t>CNPJ 60010416000112 · Alienação de direitos creditórios · Informe Trimestral · ID 1292034 · 06/2026 · versão 1 · p. 2 · Sobre as condições de alienação dos direitos creditórios. · https://fnet.bmfbovespa.com.br/fnet/publico/visualizarDocumento?id=1292034 · Sobre as condições de alienação dos direitos creditórios. No trimestre base o fundo teve eventos de alienação de uma parcela dos direitos creditórios de sua carteira. Como principal motivo para a realização desta operação temos: A realocação de investimentos da carteira.</a:t>
            </a:r>
          </a:p>
          <a:p>
            <a:r>
              <a:t>CNPJ 55563624000109 · Alienação de direitos creditórios · Informe Trimestral · ID 1289610 · 06/2026 · versão 1 · p. 3 · Condiçõesdealienação,aqualquertítulo,dedireitoscreditórios,incluindo: · https://fnet.bmfbovespa.com.br/fnet/publico/visualizarDocumento?id=1289610 · Condiçõesdealienação,aqualquertítulo,dedireitoscreditórios,incluindo: Momentodaalienação(antesoudepoisdovencimento); Resposta: Não ocorreram alienação de ativos da carteira do Fundo, exceto no curso normal dosnegócios. Motivaçãodaalienação; Resposta: Não ocorreram alienação de ativos da carteira do Fundo, exceto no curso normal dosnegócios. Impactonovalordopatrimôniolíquidoenarentabilidadedacarteiradeativosdeumapossível descontinuidade, a qualquer título, da originação ou cessão de direitos creditórios; Resposta:Nãohá. Informaçõessobrefatosocorridosqueafetaramaregularidadedosfluxosfinanceirosoriundosdos direitoscreditórios,incluindo,masnãoselimitando,aquaisquereventosqueacarretemnaliquidação ou amortização antecipada de direitos creditórios. Resposta: Não ocorreram eventos relevantes que acarretaram a regularidade dos fluxos financeirosoriundos dos direitos creditórios.</a:t>
            </a:r>
          </a:p>
          <a:p>
            <a:r>
              <a:t>CNPJ 62552447000120 · Alienação de direitos creditórios · Informe Trimestral · ID 1292043 · 06/2026 · versão 1 · p. 2 · Sobre as condições de alienação dos direitos creditórios. · https://fnet.bmfbovespa.com.br/fnet/publico/visualizarDocumento?id=1292043 · Sobre as condições de alienação dos direitos creditórios. Não se aplica, visto que não ocorreram eventos de alienação neste trimestre.</a:t>
            </a:r>
          </a:p>
          <a:p>
            <a:r>
              <a:t>CNPJ 63953620000165 · Alienação de direitos creditórios · Informe Trimestral · ID 1291068 · 06/2026 · versão 1 · p. 2 · Sobre as condições de alienação dos direitos creditórios. · https://fnet.bmfbovespa.com.br/fnet/publico/visualizarDocumento?id=1291068 · Sobre as condições de alienação dos direitos creditórios. No trimestre base o fundo teve eventos de alienação de uma parcela dos direitos creditórios de sua carteira. Como principal motivo para a realização desta operação temos: A realocação de investimentos da carteira.</a:t>
            </a:r>
          </a:p>
          <a:p>
            <a:r>
              <a:t>CNPJ 54871427000194 · Descontinuidade de originação ou cessão · Informe Trimestral · ID 1291015 · 06/2026 · versão 1 · p. 2 · Sobre a descontinuidade da originação ou cessão dos direitos creditórios do fundo. · https://fnet.bmfbovespa.com.br/fnet/publico/visualizarDocumento?id=1291015 · Sobre a descontinuidade da originação ou cessão dos direitos creditórios do fundo. O regulamento do fundo estabelece as condições mínimas previstas para descontinuidade da originação ou cessão dos direitos creditórios investidos, sendo certo que quaisquer alterações nestes critérios serão divulgadas a mercado, por meio de fato relevante ou através dos canais oficiais de registro do fundo.</a:t>
            </a:r>
          </a:p>
          <a:p>
            <a:r>
              <a:t>CNPJ 60010416000112 · Descontinuidade de originação ou cessão · Informe Trimestral · ID 1292034 · 06/2026 · versão 1 · p. 2 · Sobre a descontinuidade da originação ou cessão dos direitos creditórios do fundo. · https://fnet.bmfbovespa.com.br/fnet/publico/visualizarDocumento?id=1292034 · Sobre a descontinuidade da originação ou cessão dos direitos creditórios do fundo. Foram observados impactos significativos na rentabilidade do fundo, em função da descontinuidade da originação de direitos creditórios no trimestre em referência.</a:t>
            </a:r>
          </a:p>
          <a:p>
            <a:r>
              <a:t>CNPJ 62552447000120 · Descontinuidade de originação ou cessão · Informe Trimestral · ID 1292043 · 06/2026 · versão 1 · p. 2 · Sobre a descontinuidade da originação ou cessão dos direitos creditórios do fundo. · https://fnet.bmfbovespa.com.br/fnet/publico/visualizarDocumento?id=1292043 · Sobre a descontinuidade da originação ou cessão dos direitos creditórios do fundo. Não se aplica, visto que não foram observados impactos significativos na rentabilidade do fundo, em função da descontinuidade da originação de direitos creditórios no trimestre em referência.</a:t>
            </a:r>
          </a:p>
          <a:p>
            <a:r>
              <a:t>CNPJ 63953620000165 · Descontinuidade de originação ou cessão · Informe Trimestral · ID 1291068 · 06/2026 · versão 1 · p. 2 · Sobre a descontinuidade da originação ou cessão dos direitos creditórios do fundo. · https://fnet.bmfbovespa.com.br/fnet/publico/visualizarDocumento?id=1291068 · Sobre a descontinuidade da originação ou cessão dos direitos creditórios do fundo. Foram observados impactos significativos na rentabilidade do fundo, em função da descontinuidade da originação de direitos creditórios no trimestre em referência.</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Declarações trimestrais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Resultado da verificação de lastro · Informe Trimestral · ID 1291015 · 06/2026 · versão 1 · p. 1 · Sobre os resultados da última verificação do lastro dos direitos creditórios do fundo. · https://fnet.bmfbovespa.com.br/fnet/publico/visualizarDocumento?id=1291015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60010416000112 · Resultado da verificação de lastro · Informe Trimestral · ID 1292034 · 06/2026 · versão 1 · p. 1 · Sobre os resultados da última verificação do lastro dos direitos creditórios do fundo. · https://fnet.bmfbovespa.com.br/fnet/publico/visualizarDocumento?id=1292034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62696791000193 · Resultado da verificação de lastro · Informe Trimestral · ID 1114465 · 12/2025 · versão 1 · p. 1 · Sobre os resultados da última verificação do lastro dos direitos creditórios do fundo. · https://fnet.bmfbovespa.com.br/fnet/publico/visualizarDocumento?id=1114465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55563624000109 · Resultado da verificação de lastro · Informe Trimestral · ID 1289610 · 06/2026 · versão 1 · p. 1 · Sobre os resultados da última verificação do lastro dos direitos creditórios do fundo. · https://fnet.bmfbovespa.com.br/fnet/publico/visualizarDocumento?id=1289610 · Sobre os resultados da última verificação do lastro dos direitos creditórios do fundo. Informamos que o Fundo dispensa a verificação de lastro dos direitos creditórios.</a:t>
            </a:r>
          </a:p>
          <a:p>
            <a:r>
              <a:t>CNPJ 62552447000120 · Resultado da verificação de lastro · Informe Trimestral · ID 1292043 · 06/2026 · versão 1 · p. 1 · Sobre os resultados da última verificação do lastro dos direitos creditórios do fundo. · https://fnet.bmfbovespa.com.br/fnet/publico/visualizarDocumento?id=1292043 · Sobre os resultados da última verificação do lastro dos direitos creditórios do fundo. Informamos que o Fundo dispensa a verificação de lastro dos direitos creditórios.</a:t>
            </a:r>
          </a:p>
          <a:p>
            <a:r>
              <a:t>CNPJ 63953620000165 · Resultado da verificação de lastro · Informe Trimestral · ID 1291068 · 06/2026 · versão 1 · p. 1 · Sobre os resultados da última verificação do lastro dos direitos creditórios do fundo. · https://fnet.bmfbovespa.com.br/fnet/publico/visualizarDocumento?id=1291068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54871427000194 · Registro dos direitos creditórios · Informe Trimestral · ID 1291015 · 06/2026 · versão 1 · p. 1 · Sobre o registro dos direitos creditórios em entidade registradora. · https://fnet.bmfbovespa.com.br/fnet/publico/visualizarDocumento?id=1291015 · Sobre o registro dos direitos creditórios em entidade registradora. Todos os créditos estão liberados para registro.</a:t>
            </a:r>
          </a:p>
          <a:p>
            <a:r>
              <a:t>CNPJ 60010416000112 · Registro dos direitos creditórios · Informe Trimestral · ID 1292034 · 06/2026 · versão 1 · p. 1 · Sobre o registro dos direitos creditórios em entidade registradora. · https://fnet.bmfbovespa.com.br/fnet/publico/visualizarDocumento?id=1292034 · Sobre o registro dos direitos creditórios em entidade registradora. Todos os créditos estão liberados para registro.</a:t>
            </a:r>
          </a:p>
          <a:p>
            <a:r>
              <a:t>CNPJ 62696791000193 · Registro dos direitos creditórios · Informe Trimestral · ID 1114465 · 12/2025 · versão 1 · p. 1 · Sobre o registro dos direitos creditórios em entidade registradora. · https://fnet.bmfbovespa.com.br/fnet/publico/visualizarDocumento?id=1114465 · Sobre o registro dos direitos creditórios em entidade registradora. Todos os créditos estão liberados para registro.</a:t>
            </a:r>
          </a:p>
          <a:p>
            <a:r>
              <a:t>CNPJ 55563624000109 · Registro dos direitos creditórios · Informe Trimestral · ID 1289610 · 06/2026 · versão 1 · p. 1 · Sobre o registro dos direitos creditórios em entidade registradora. · https://fnet.bmfbovespa.com.br/fnet/publico/visualizarDocumento?id=1289610 · Sobre o registro dos direitos creditórios em entidade registradora. Todos os créditos estão liberados para registro.</a:t>
            </a:r>
          </a:p>
          <a:p>
            <a:r>
              <a:t>CNPJ 62552447000120 · Registro dos direitos creditórios · Informe Trimestral · ID 1292043 · 06/2026 · versão 1 · p. 1 · Sobre o registro dos direitos creditórios em entidade registradora. · https://fnet.bmfbovespa.com.br/fnet/publico/visualizarDocumento?id=1292043 · Sobre o registro dos direitos creditórios em entidade registradora. Todos os créditos estão liberados para registro.</a:t>
            </a:r>
          </a:p>
          <a:p>
            <a:r>
              <a:t>CNPJ 63953620000165 · Registro dos direitos creditórios · Informe Trimestral · ID 1291068 · 06/2026 · versão 1 · p. 1 · Sobre o registro dos direitos creditórios em entidade registradora. · https://fnet.bmfbovespa.com.br/fnet/publico/visualizarDocumento?id=1291068 · Sobre o registro dos direitos creditórios em entidade registradora. Todos os créditos estão liberados para registro.</a:t>
            </a:r>
          </a:p>
          <a:p>
            <a:r>
              <a:t>CNPJ 54871427000194 · Processos judiciais · Informe Trimestral · ID 1291015 · 06/2026 · versão 1 · p. 1 · Sobre a existência de processos judiciais envolvendo o FIDC. · https://fnet.bmfbovespa.com.br/fnet/publico/visualizarDocumento?id=1291015 · Sobre a existência de processos judiciais envolvendo o FIDC. O administrador do fundo não tem conhecimento de ações judiciais envolvendo o fundo no trimestre em referência.</a:t>
            </a:r>
          </a:p>
          <a:p>
            <a:r>
              <a:t>CNPJ 60010416000112 · Processos judiciais · Informe Trimestral · ID 1292034 · 06/2026 · versão 1 · p. 1 · Sobre a existência de processos judiciais envolvendo o FIDC. · https://fnet.bmfbovespa.com.br/fnet/publico/visualizarDocumento?id=1292034 · Sobre a existência de processos judiciais envolvendo o FIDC. O fundo está exposto as ações judiciais listadas abaixo:</a:t>
            </a:r>
          </a:p>
          <a:p>
            <a:r>
              <a:t>CNPJ 62696791000193 · Processos judiciais · Informe Trimestral · ID 1114465 · 12/2025 · versão 1 · p. 1 · Sobre a existência de processos judiciais envolvendo o FIDC. · https://fnet.bmfbovespa.com.br/fnet/publico/visualizarDocumento?id=1114465 · Sobre a existência de processos judiciais envolvendo o FIDC. O administrador do fundo não tem conhecimento de ações judiciais envolvendo o fundo no trimestre em referência.</a:t>
            </a:r>
          </a:p>
          <a:p>
            <a:r>
              <a:t>CNPJ 55563624000109 · Processos judiciais · Informe Trimestral · ID 1289610 · 06/2026 · versão 1 · p. 1 · Sobre a existência de processos judiciais envolvendo o FIDC. · https://fnet.bmfbovespa.com.br/fnet/publico/visualizarDocumento?id=1289610 · Sobre a existência de processos judiciais envolvendo o FIDC. O administrador do fundo não tem conhecimento de ações judiciais envolvendo o fundo no trimestre em referência.</a:t>
            </a:r>
          </a:p>
          <a:p>
            <a:r>
              <a:t>CNPJ 62552447000120 · Processos judiciais · Informe Trimestral · ID 1292043 · 06/2026 · versão 1 · p. 1 · Sobre a existência de processos judiciais envolvendo o FIDC. · https://fnet.bmfbovespa.com.br/fnet/publico/visualizarDocumento?id=1292043 · Sobre a existência de processos judiciais envolvendo o FIDC. O administrador do fundo não tem conhecimento de ações judiciais envolvendo o fundo no trimestre em referência.</a:t>
            </a:r>
          </a:p>
          <a:p>
            <a:r>
              <a:t>CNPJ 63953620000165 · Processos judiciais · Informe Trimestral · ID 1291068 · 06/2026 · versão 1 · p. 1 · Sobre a existência de processos judiciais envolvendo o FIDC. · https://fnet.bmfbovespa.com.br/fnet/publico/visualizarDocumento?id=1291068 · Sobre a existência de processos judiciais envolvendo o FIDC. O fundo está exposto as ações judiciais listadas abaixo:</a:t>
            </a:r>
          </a:p>
          <a:p>
            <a:r>
              <a:t>CNPJ 54871427000194 · Aquisição de precatórios · Informe Trimestral · ID 1291015 · 06/2026 · versão 1 · p. 1 · Sobre a aquisição de precatórios federais em fundos destinados ao público em geral. · https://fnet.bmfbovespa.com.br/fnet/publico/visualizarDocumento?id=1291015 · Sobre a aquisição de precatórios federais em fundos destinados ao público em geral. O fundo não se destina ao público em geral. As informações a seguir são destinadas à apresentação do relatório trimestral do gestor.</a:t>
            </a:r>
          </a:p>
          <a:p>
            <a:r>
              <a:t>CNPJ 60010416000112 · Aquisição de precatórios · Informe Trimestral · ID 1292034 · 06/2026 · versão 1 · p. 1 · Sobre a aquisição de precatórios federais em fundos destinados ao público em geral. · https://fnet.bmfbovespa.com.br/fnet/publico/visualizarDocumento?id=1292034 · Sobre a aquisição de precatórios federais em fundos destinados ao público em geral. O fundo adquiriu precatórios federais no trimestre em referência e está sujeito a eventual existência de impugnação judicial ou fatos supervenientes capazes de alterar a ordem ou o prazo de pagamento dos precatórios. As informações a seguir são destinadas à apresentação do relatório trimestral do gestor.</a:t>
            </a:r>
          </a:p>
          <a:p>
            <a:r>
              <a:t>CNPJ 62696791000193 · Aquisição de precatórios · Informe Trimestral · ID 1114465 · 12/2025 · versão 1 · p. 1 · Sobre a aquisição de precatórios federais em fundos destinados ao público em geral. · https://fnet.bmfbovespa.com.br/fnet/publico/visualizarDocumento?id=1114465 · Sobre a aquisição de precatórios federais em fundos destinados ao público em geral. O fundo não se destina ao público em geral. As informações a seguir são destinadas à apresentação do relatório trimestral do gestor. Em atendimento ao parágrafo § 4º, inciso V, artigo 27 da Resolução 175, informamos ainda que, até a data de divulgação deste demonstrativo trimestral, o gestor não encaminhou ao administrador o relatório trimestral da gestão, conforme estabelecido pela legislação em vigor.</a:t>
            </a:r>
          </a:p>
          <a:p>
            <a:r>
              <a:t>CNPJ 55563624000109 · Aquisição de precatórios · Informe Trimestral · ID 1289610 · 06/2026 · versão 1 · p. 1 · Sobre a aquisição de precatórios federais em fundos destinados ao público em geral. · https://fnet.bmfbovespa.com.br/fnet/publico/visualizarDocumento?id=1289610 · Sobre a aquisição de precatórios federais em fundos destinados ao público em geral. O fundo não se destina ao público em geral. As informações a seguir são destinadas à apresentação do relatório trimestral do gestor.</a:t>
            </a:r>
          </a:p>
          <a:p>
            <a:r>
              <a:t>CNPJ 62552447000120 · Aquisição de precatórios · Informe Trimestral · ID 1292043 · 06/2026 · versão 1 · p. 1 · Sobre a aquisição de precatórios federais em fundos destinados ao público em geral. · https://fnet.bmfbovespa.com.br/fnet/publico/visualizarDocumento?id=1292043 · Sobre a aquisição de precatórios federais em fundos destinados ao público em geral. O fundo não se destina ao público em geral. As informações a seguir são destinadas à apresentação do relatório trimestral do gestor.</a:t>
            </a:r>
          </a:p>
          <a:p>
            <a:r>
              <a:t>CNPJ 63953620000165 · Aquisição de precatórios · Informe Trimestral · ID 1291068 · 06/2026 · versão 1 · p. 1 · Sobre a aquisição de precatórios federais em fundos destinados ao público em geral. · https://fnet.bmfbovespa.com.br/fnet/publico/visualizarDocumento?id=1291068 · Sobre a aquisição de precatórios federais em fundos destinados ao público em geral. O fundo adquiriu precatórios federais no trimestre em referência e está sujeito a eventual existência de impugnação judicial ou fatos supervenientes capazes de alterar a ordem ou o prazo de pagamento dos precatórios. As informações a seguir são destinadas à apresentação do relatório trimestral do gestor.</a:t>
            </a:r>
          </a:p>
          <a:p>
            <a:r>
              <a:t>CNPJ 63953620000165 · Aquisição de precatórios · Anexo ao Regulamento · ID 1222863 · 02/06/2026 · versão AnexoConsignadoPrivado02/06/2026 · p. 6 · 4.14 · https://fnet.bmfbovespa.com.br/fnet/publico/visualizarDocumento?id=1222863 · 4.14 Nos termos do Art. 45, §7º, inciso II, do Anexo Normativo II da Resolução CVM 175, a Classe poderá ter até 100% (cem por cento) de seu Patrimônio Líquido alocado em Direitos Creditórios, derivativos, observado o disposto neste Anexo I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4.15 Sem prejuízo de limites</a:t>
            </a:r>
          </a:p>
          <a:p>
            <a:r>
              <a:t>CNPJ 63953620000165 · Aquisição de precatórios · Anexo ao Regulamento · ID 1222863 · 02/06/2026 · versão AnexoConsignadoPrivado02/06/2026 · p. 7 · 4.15(i)–(v) · https://fnet.bmfbovespa.com.br/fnet/publico/visualizarDocumento?id=1222863 · (i)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CNPJ 54871427000194 · Alterações da política de investimento · Informe Trimestral · ID 1291015 · 06/2026 · versão 1 · p. 1 · Impactos de eventual alteração na política de investimento sobre a rentabilidade do Fundo. · https://fnet.bmfbovespa.com.br/fnet/publico/visualizarDocumento?id=1291015 · Impactos de eventual alteração na política de investimento sobre a rentabilidade do Fundo. Não se aplica, pois não ocorreram alterações na política de investimento do fundo no trimestre em referência.</a:t>
            </a:r>
          </a:p>
          <a:p>
            <a:r>
              <a:t>CNPJ 60010416000112 · Alterações da política de investimento · Informe Trimestral · ID 1292034 · 06/2026 · versão 1 · p. 1 · Impactos de eventual alteração na política de investimento sobre a rentabilidade do Fundo. · https://fnet.bmfbovespa.com.br/fnet/publico/visualizarDocumento?id=1292034 · Impactos de eventual alteração na política de investimento sobre a rentabilidade do Fundo. Não foram observados impactos significativos na rentabilidade do fundo, em função das alterações ocorridas em seu regulamento no trimestre em referência.</a:t>
            </a:r>
          </a:p>
          <a:p>
            <a:r>
              <a:t>CNPJ 62552447000120 · Alterações da política de investimento · Informe Trimestral · ID 1292043 · 06/2026 · versão 1 · p. 1 · Impactos de eventual alteração na política de investimento sobre a rentabilidade do Fundo. · https://fnet.bmfbovespa.com.br/fnet/publico/visualizarDocumento?id=1292043 · Impactos de eventual alteração na política de investimento sobre a rentabilidade do Fundo. Não se aplica, pois não ocorreram alterações na política de investimento do fundo no trimestre em referência.</a:t>
            </a:r>
          </a:p>
          <a:p>
            <a:r>
              <a:t>CNPJ 63953620000165 · Alterações da política de investimento · Informe Trimestral · ID 1291068 · 06/2026 · versão 1 · p. 1 · Impactos de eventual alteração na política de investimento sobre a rentabilidade do Fundo. · https://fnet.bmfbovespa.com.br/fnet/publico/visualizarDocumento?id=1291068 · Impactos de eventual alteração na política de investimento sobre a rentabilidade do Fundo. Não foram observados impactos significativos na rentabilidade do fundo, em função das alterações ocorridas em seu regulamento no trimestre em referência.</a:t>
            </a:r>
          </a:p>
          <a:p>
            <a:r>
              <a:t>CNPJ 54871427000194 · Critérios de concessão dos originadores · Informe Trimestral · ID 1291015 · 06/2026 · versão 1 · p. 2 · Critérios para a concessão de crédito adotados pelos originadores, que representem 10% ou mais da carteira de direitos creditórios no trimestre. · https://fnet.bmfbovespa.com.br/fnet/publico/visualizarDocumento?id=1291015 · Critérios para a concessão de crédito adotados pelos originadores, que representem 10% ou mais da carteira de direitos creditórios no trimestre. Os critérios para a concessão de crédito adotados pelos originadores do fundo não foram alterados no último trimestre, conforme descrito em seu regulamento.</a:t>
            </a:r>
          </a:p>
          <a:p>
            <a:r>
              <a:t>CNPJ 60010416000112 · Critérios de concessão dos originadores · Informe Trimestral · ID 1292034 · 06/2026 · versão 1 · p. 2 · Critérios para a concessão de crédito adotados pelos originadores, que representem 10% ou mais da carteira de direitos creditórios no trimestre. · https://fnet.bmfbovespa.com.br/fnet/publico/visualizarDocumento?id=1292034 · Critérios para a concessão de crédito adotados pelos originadores, que representem 10% ou mais da carteira de direitos creditórios no trimestre. Os critérios para a concessão de crédito adotados pelos originadores do fundo foram alterados no último trimestre, conforme descrito em seu regulamento.</a:t>
            </a:r>
          </a:p>
          <a:p>
            <a:r>
              <a:t>CNPJ 55563624000109 · Critérios de concessão dos originadores · Informe Trimestral · ID 1289610 · 06/2026 · versão 1 · p. 2–3 · Critériosparaaconcessãodecréditoadotadospelosoriginadores,casotaiscritériosnãotenhamsido descritos no regulamento ou em outros demonstrativos trimestrais; Resposta:Nãoocorreramalteraçõesrelevantesnoscritériosparaaconcessãodecrédito. · https://fnet.bmfbovespa.com.br/fnet/publico/visualizarDocumento?id=1289610 · Critériosparaaconcessãodecréditoadotadospelosoriginadores,casotaiscritériosnãotenhamsido descritos no regulamento ou em outros demonstrativos trimestrais; Resposta:Nãoocorreramalteraçõesrelevantesnoscritériosparaaconcessãodecrédito. Eventuaisalteraçõesnoscritériosparaaconcessãodecréditoadotadosportaisoriginadores,casooscritériosadotadosjátenh amsidodescritosnoregulamentoouemoutrosdemonstrativostrimestrais;Resposta:Nãoocorreramalteraçõesrelevant esnoscritériosparaaconcessãodecrédito. Eventuaisalteraçõesnasgarantiasexistentesparaoconjuntodedireitoscreditórios; Resposta:Nãoocorreramalteraçõesrelevantesnas garantiasexistentesparao conjuntodeativos. Formacomoseoperouacessãodosdireitoscreditórios,incluindo: a)descriçãodecontratosrelevantesfirmadoscomessepropósito,sehouver;eb)indicaçãodocaráter definitivo, ou não, da cessão de direitos creditórios; Resposta:Ascessõesdedireitoscreditóriosocorreramtodasdeformadefinitiva,deacordocomodisposto no regulamento e/ou nos respectivos contratos. Nomedofundo:PLGNMARKETFCFIDC CNPJ: 55563624000109 Impactodoseventosdepré- pagamentonovalordopatrimôniolíquidoenarentabilidadedacarteira;Resposta:Existemeventosdepré- pagamentoemfundospulverizadosnocursonormaldosnegócios que não geram, por si só, impacto significativo no patrimônio líquido e na rentabilidade da carteira.</a:t>
            </a:r>
          </a:p>
          <a:p>
            <a:r>
              <a:t>CNPJ 63953620000165 · Critérios de concessão dos originadores · Informe Trimestral · ID 1291068 · 06/2026 · versão 1 · p. 2 · Critérios para a concessão de crédito adotados pelos originadores, que representem 10% ou mais da carteira de direitos creditórios no trimestre. · https://fnet.bmfbovespa.com.br/fnet/publico/visualizarDocumento?id=1291068 · Critérios para a concessão de crédito adotados pelos originadores, que representem 10% ou mais da carteira de direitos creditórios no trimestre. Os critérios para a concessão de crédito adotados pelos originadores do fundo foram alterados no último trimestre, conforme descrito em seu regulamento.</a:t>
            </a:r>
          </a:p>
          <a:p>
            <a:r>
              <a:t>CNPJ 54871427000194 · Alterações das garantias · Informe Trimestral · ID 1291015 · 06/2026 · versão 1 · p. 2 · Sobre as garantias existentes. · https://fnet.bmfbovespa.com.br/fnet/publico/visualizarDocumento?id=1291015 · Sobre as garantias existentes. Não ocorreram alterações nas garantias existentes para o conjunto de direitos creditórios adquiridos pelo fundo.</a:t>
            </a:r>
          </a:p>
          <a:p>
            <a:r>
              <a:t>CNPJ 60010416000112 · Alterações das garantias · Informe Trimestral · ID 1292034 · 06/2026 · versão 1 · p. 2 · Sobre as garantias existentes. · https://fnet.bmfbovespa.com.br/fnet/publico/visualizarDocumento?id=1292034 · Sobre as garantias existentes. Ocorreram alterações nas garantias existentes para o conjunto de direitos creditórios adquiridos pelo fundo.</a:t>
            </a:r>
          </a:p>
          <a:p>
            <a:r>
              <a:t>CNPJ 62552447000120 · Alterações das garantias · Informe Trimestral · ID 1292043 · 06/2026 · versão 1 · p. 2 · Sobre as garantias existentes. · https://fnet.bmfbovespa.com.br/fnet/publico/visualizarDocumento?id=1292043 · Sobre as garantias existentes. Não ocorreram alterações nas garantias existentes para o conjunto de direitos creditórios adquiridos pelo fundo.</a:t>
            </a:r>
          </a:p>
          <a:p>
            <a:r>
              <a:t>CNPJ 63953620000165 · Alterações das garantias · Informe Trimestral · ID 1291068 · 06/2026 · versão 1 · p. 2 · Sobre as garantias existentes. · https://fnet.bmfbovespa.com.br/fnet/publico/visualizarDocumento?id=1291068 · Sobre as garantias existentes. Ocorreram alterações nas garantias existentes para o conjunto de direitos creditórios adquiridos pelo fundo.</a:t>
            </a:r>
          </a:p>
          <a:p>
            <a:r>
              <a:t>CNPJ 54871427000194 · Cessões no trimestre · Informe Trimestral · ID 1291015 · 06/2026 · versão 1 · p. 2 · Sobre a cessão dos direitos creditórios no período. · https://fnet.bmfbovespa.com.br/fnet/publico/visualizarDocumento?id=1291015 · Sobre a cessão dos direitos creditórios no período. Não se aplica, visto que não foram emitidas novas cessões de direitos creditórios no período.</a:t>
            </a:r>
          </a:p>
          <a:p>
            <a:r>
              <a:t>CNPJ 60010416000112 · Cessões no trimestre · Informe Trimestral · ID 1292034 · 06/2026 · versão 1 · p. 2 · Sobre a cessão dos direitos creditórios no período. · https://fnet.bmfbovespa.com.br/fnet/publico/visualizarDocumento?id=1292034 · Sobre a cessão dos direitos creditórios no período. Ocorreram novas cessões de direitos creditórios no período em referência e os novos contratos foram firmados com o caráter definitivo para o fundo.</a:t>
            </a:r>
          </a:p>
          <a:p>
            <a:r>
              <a:t>CNPJ 62552447000120 · Cessões no trimestre · Informe Trimestral · ID 1292043 · 06/2026 · versão 1 · p. 2 · Sobre a cessão dos direitos creditórios no período. · https://fnet.bmfbovespa.com.br/fnet/publico/visualizarDocumento?id=1292043 · Sobre a cessão dos direitos creditórios no período. Ocorreram novas cessões de direitos creditórios no período em referência e os novos contratos foram firmados com o caráter definitivo para o fundo.</a:t>
            </a:r>
          </a:p>
          <a:p>
            <a:r>
              <a:t>CNPJ 63953620000165 · Cessões no trimestre · Informe Trimestral · ID 1291068 · 06/2026 · versão 1 · p. 2 · Sobre a cessão dos direitos creditórios no período. · https://fnet.bmfbovespa.com.br/fnet/publico/visualizarDocumento?id=1291068 · Sobre a cessão dos direitos creditórios no período. Ocorreram novas cessões de direitos creditórios no período em referência e os novos contratos foram firmados com o caráter definitivo para o fundo.</a:t>
            </a:r>
          </a:p>
          <a:p>
            <a:r>
              <a:t>CNPJ 54871427000194 · Eventos de pré-pagamento · Informe Trimestral · ID 1291015 · 06/2026 · versão 1 · p. 2 · Sobre os impactos dos eventos de pré-pagamento. · https://fnet.bmfbovespa.com.br/fnet/publico/visualizarDocumento?id=1291015 · Sobre os impactos dos eventos de pré-pagamento. Não se aplica, visto que não ocorreram eventos de pré-pagamento no último trimestre.</a:t>
            </a:r>
          </a:p>
          <a:p>
            <a:r>
              <a:t>CNPJ 60010416000112 · Eventos de pré-pagamento · Informe Trimestral · ID 1292034 · 06/2026 · versão 1 · p. 2 · Sobre os impactos dos eventos de pré-pagamento. · https://fnet.bmfbovespa.com.br/fnet/publico/visualizarDocumento?id=1292034 · Sobre os impactos dos eventos de pré-pagamento. O fundo teve eventos de pré-pagamento no último trimestre, mas não foram observados impactos relevantes no patrimônio líquido e na carteira do fundo.</a:t>
            </a:r>
          </a:p>
          <a:p>
            <a:r>
              <a:t>CNPJ 62552447000120 · Eventos de pré-pagamento · Informe Trimestral · ID 1292043 · 06/2026 · versão 1 · p. 2 · Sobre os impactos dos eventos de pré-pagamento. · https://fnet.bmfbovespa.com.br/fnet/publico/visualizarDocumento?id=1292043 · Sobre os impactos dos eventos de pré-pagamento. O fundo teve eventos de pré-pagamento no último trimestre, mas não foram observados impactos relevantes no patrimônio líquido e na carteira do fundo.</a:t>
            </a:r>
          </a:p>
          <a:p>
            <a:r>
              <a:t>CNPJ 63953620000165 · Eventos de pré-pagamento · Informe Trimestral · ID 1291068 · 06/2026 · versão 1 · p. 2 · Sobre os impactos dos eventos de pré-pagamento. · https://fnet.bmfbovespa.com.br/fnet/publico/visualizarDocumento?id=1291068 · Sobre os impactos dos eventos de pré-pagamento. O fundo teve eventos de pré-pagamento no último trimestre, mas não foram observados impactos relevantes no patrimônio líquido e na carteira do fundo.</a:t>
            </a:r>
          </a:p>
          <a:p>
            <a:r>
              <a:t>CNPJ 54871427000194 · Alienação de direitos creditórios · Informe Trimestral · ID 1291015 · 06/2026 · versão 1 · p. 2 · Sobre as condições de alienação dos direitos creditórios. · https://fnet.bmfbovespa.com.br/fnet/publico/visualizarDocumento?id=1291015 · Sobre as condições de alienação dos direitos creditórios. Não se aplica, visto que não ocorreram eventos de alienação neste trimestre.</a:t>
            </a:r>
          </a:p>
          <a:p>
            <a:r>
              <a:t>CNPJ 60010416000112 · Alienação de direitos creditórios · Informe Trimestral · ID 1292034 · 06/2026 · versão 1 · p. 2 · Sobre as condições de alienação dos direitos creditórios. · https://fnet.bmfbovespa.com.br/fnet/publico/visualizarDocumento?id=1292034 · Sobre as condições de alienação dos direitos creditórios. No trimestre base o fundo teve eventos de alienação de uma parcela dos direitos creditórios de sua carteira. Como principal motivo para a realização desta operação temos: A realocação de investimentos da carteira.</a:t>
            </a:r>
          </a:p>
          <a:p>
            <a:r>
              <a:t>CNPJ 55563624000109 · Alienação de direitos creditórios · Informe Trimestral · ID 1289610 · 06/2026 · versão 1 · p. 3 · Condiçõesdealienação,aqualquertítulo,dedireitoscreditórios,incluindo: · https://fnet.bmfbovespa.com.br/fnet/publico/visualizarDocumento?id=1289610 · Condiçõesdealienação,aqualquertítulo,dedireitoscreditórios,incluindo: Momentodaalienação(antesoudepoisdovencimento); Resposta: Não ocorreram alienação de ativos da carteira do Fundo, exceto no curso normal dosnegócios. Motivaçãodaalienação; Resposta: Não ocorreram alienação de ativos da carteira do Fundo, exceto no curso normal dosnegócios. Impactonovalordopatrimôniolíquidoenarentabilidadedacarteiradeativosdeumapossível descontinuidade, a qualquer título, da originação ou cessão de direitos creditórios; Resposta:Nãohá. Informaçõessobrefatosocorridosqueafetaramaregularidadedosfluxosfinanceirosoriundosdos direitoscreditórios,incluindo,masnãoselimitando,aquaisquereventosqueacarretemnaliquidação ou amortização antecipada de direitos creditórios. Resposta: Não ocorreram eventos relevantes que acarretaram a regularidade dos fluxos financeirosoriundos dos direitos creditórios.</a:t>
            </a:r>
          </a:p>
          <a:p>
            <a:r>
              <a:t>CNPJ 62552447000120 · Alienação de direitos creditórios · Informe Trimestral · ID 1292043 · 06/2026 · versão 1 · p. 2 · Sobre as condições de alienação dos direitos creditórios. · https://fnet.bmfbovespa.com.br/fnet/publico/visualizarDocumento?id=1292043 · Sobre as condições de alienação dos direitos creditórios. Não se aplica, visto que não ocorreram eventos de alienação neste trimestre.</a:t>
            </a:r>
          </a:p>
          <a:p>
            <a:r>
              <a:t>CNPJ 63953620000165 · Alienação de direitos creditórios · Informe Trimestral · ID 1291068 · 06/2026 · versão 1 · p. 2 · Sobre as condições de alienação dos direitos creditórios. · https://fnet.bmfbovespa.com.br/fnet/publico/visualizarDocumento?id=1291068 · Sobre as condições de alienação dos direitos creditórios. No trimestre base o fundo teve eventos de alienação de uma parcela dos direitos creditórios de sua carteira. Como principal motivo para a realização desta operação temos: A realocação de investimentos da carteira.</a:t>
            </a:r>
          </a:p>
          <a:p>
            <a:r>
              <a:t>CNPJ 54871427000194 · Descontinuidade de originação ou cessão · Informe Trimestral · ID 1291015 · 06/2026 · versão 1 · p. 2 · Sobre a descontinuidade da originação ou cessão dos direitos creditórios do fundo. · https://fnet.bmfbovespa.com.br/fnet/publico/visualizarDocumento?id=1291015 · Sobre a descontinuidade da originação ou cessão dos direitos creditórios do fundo. O regulamento do fundo estabelece as condições mínimas previstas para descontinuidade da originação ou cessão dos direitos creditórios investidos, sendo certo que quaisquer alterações nestes critérios serão divulgadas a mercado, por meio de fato relevante ou através dos canais oficiais de registro do fundo.</a:t>
            </a:r>
          </a:p>
          <a:p>
            <a:r>
              <a:t>CNPJ 60010416000112 · Descontinuidade de originação ou cessão · Informe Trimestral · ID 1292034 · 06/2026 · versão 1 · p. 2 · Sobre a descontinuidade da originação ou cessão dos direitos creditórios do fundo. · https://fnet.bmfbovespa.com.br/fnet/publico/visualizarDocumento?id=1292034 · Sobre a descontinuidade da originação ou cessão dos direitos creditórios do fundo. Foram observados impactos significativos na rentabilidade do fundo, em função da descontinuidade da originação de direitos creditórios no trimestre em referência.</a:t>
            </a:r>
          </a:p>
          <a:p>
            <a:r>
              <a:t>CNPJ 62552447000120 · Descontinuidade de originação ou cessão · Informe Trimestral · ID 1292043 · 06/2026 · versão 1 · p. 2 · Sobre a descontinuidade da originação ou cessão dos direitos creditórios do fundo. · https://fnet.bmfbovespa.com.br/fnet/publico/visualizarDocumento?id=1292043 · Sobre a descontinuidade da originação ou cessão dos direitos creditórios do fundo. Não se aplica, visto que não foram observados impactos significativos na rentabilidade do fundo, em função da descontinuidade da originação de direitos creditórios no trimestre em referência.</a:t>
            </a:r>
          </a:p>
          <a:p>
            <a:r>
              <a:t>CNPJ 63953620000165 · Descontinuidade de originação ou cessão · Informe Trimestral · ID 1291068 · 06/2026 · versão 1 · p. 2 · Sobre a descontinuidade da originação ou cessão dos direitos creditórios do fundo. · https://fnet.bmfbovespa.com.br/fnet/publico/visualizarDocumento?id=1291068 · Sobre a descontinuidade da originação ou cessão dos direitos creditórios do fundo. Foram observados impactos significativos na rentabilidade do fundo, em função da descontinuidade da originação de direitos creditórios no trimestre em referência.</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Declarações trimestrais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Resultado da verificação de lastro · Informe Trimestral · ID 1291015 · 06/2026 · versão 1 · p. 1 · Sobre os resultados da última verificação do lastro dos direitos creditórios do fundo. · https://fnet.bmfbovespa.com.br/fnet/publico/visualizarDocumento?id=1291015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60010416000112 · Resultado da verificação de lastro · Informe Trimestral · ID 1292034 · 06/2026 · versão 1 · p. 1 · Sobre os resultados da última verificação do lastro dos direitos creditórios do fundo. · https://fnet.bmfbovespa.com.br/fnet/publico/visualizarDocumento?id=1292034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62696791000193 · Resultado da verificação de lastro · Informe Trimestral · ID 1114465 · 12/2025 · versão 1 · p. 1 · Sobre os resultados da última verificação do lastro dos direitos creditórios do fundo. · https://fnet.bmfbovespa.com.br/fnet/publico/visualizarDocumento?id=1114465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55563624000109 · Resultado da verificação de lastro · Informe Trimestral · ID 1289610 · 06/2026 · versão 1 · p. 1 · Sobre os resultados da última verificação do lastro dos direitos creditórios do fundo. · https://fnet.bmfbovespa.com.br/fnet/publico/visualizarDocumento?id=1289610 · Sobre os resultados da última verificação do lastro dos direitos creditórios do fundo. Informamos que o Fundo dispensa a verificação de lastro dos direitos creditórios.</a:t>
            </a:r>
          </a:p>
          <a:p>
            <a:r>
              <a:t>CNPJ 62552447000120 · Resultado da verificação de lastro · Informe Trimestral · ID 1292043 · 06/2026 · versão 1 · p. 1 · Sobre os resultados da última verificação do lastro dos direitos creditórios do fundo. · https://fnet.bmfbovespa.com.br/fnet/publico/visualizarDocumento?id=1292043 · Sobre os resultados da última verificação do lastro dos direitos creditórios do fundo. Informamos que o Fundo dispensa a verificação de lastro dos direitos creditórios.</a:t>
            </a:r>
          </a:p>
          <a:p>
            <a:r>
              <a:t>CNPJ 63953620000165 · Resultado da verificação de lastro · Informe Trimestral · ID 1291068 · 06/2026 · versão 1 · p. 1 · Sobre os resultados da última verificação do lastro dos direitos creditórios do fundo. · https://fnet.bmfbovespa.com.br/fnet/publico/visualizarDocumento?id=1291068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54871427000194 · Registro dos direitos creditórios · Informe Trimestral · ID 1291015 · 06/2026 · versão 1 · p. 1 · Sobre o registro dos direitos creditórios em entidade registradora. · https://fnet.bmfbovespa.com.br/fnet/publico/visualizarDocumento?id=1291015 · Sobre o registro dos direitos creditórios em entidade registradora. Todos os créditos estão liberados para registro.</a:t>
            </a:r>
          </a:p>
          <a:p>
            <a:r>
              <a:t>CNPJ 60010416000112 · Registro dos direitos creditórios · Informe Trimestral · ID 1292034 · 06/2026 · versão 1 · p. 1 · Sobre o registro dos direitos creditórios em entidade registradora. · https://fnet.bmfbovespa.com.br/fnet/publico/visualizarDocumento?id=1292034 · Sobre o registro dos direitos creditórios em entidade registradora. Todos os créditos estão liberados para registro.</a:t>
            </a:r>
          </a:p>
          <a:p>
            <a:r>
              <a:t>CNPJ 62696791000193 · Registro dos direitos creditórios · Informe Trimestral · ID 1114465 · 12/2025 · versão 1 · p. 1 · Sobre o registro dos direitos creditórios em entidade registradora. · https://fnet.bmfbovespa.com.br/fnet/publico/visualizarDocumento?id=1114465 · Sobre o registro dos direitos creditórios em entidade registradora. Todos os créditos estão liberados para registro.</a:t>
            </a:r>
          </a:p>
          <a:p>
            <a:r>
              <a:t>CNPJ 55563624000109 · Registro dos direitos creditórios · Informe Trimestral · ID 1289610 · 06/2026 · versão 1 · p. 1 · Sobre o registro dos direitos creditórios em entidade registradora. · https://fnet.bmfbovespa.com.br/fnet/publico/visualizarDocumento?id=1289610 · Sobre o registro dos direitos creditórios em entidade registradora. Todos os créditos estão liberados para registro.</a:t>
            </a:r>
          </a:p>
          <a:p>
            <a:r>
              <a:t>CNPJ 62552447000120 · Registro dos direitos creditórios · Informe Trimestral · ID 1292043 · 06/2026 · versão 1 · p. 1 · Sobre o registro dos direitos creditórios em entidade registradora. · https://fnet.bmfbovespa.com.br/fnet/publico/visualizarDocumento?id=1292043 · Sobre o registro dos direitos creditórios em entidade registradora. Todos os créditos estão liberados para registro.</a:t>
            </a:r>
          </a:p>
          <a:p>
            <a:r>
              <a:t>CNPJ 63953620000165 · Registro dos direitos creditórios · Informe Trimestral · ID 1291068 · 06/2026 · versão 1 · p. 1 · Sobre o registro dos direitos creditórios em entidade registradora. · https://fnet.bmfbovespa.com.br/fnet/publico/visualizarDocumento?id=1291068 · Sobre o registro dos direitos creditórios em entidade registradora. Todos os créditos estão liberados para registro.</a:t>
            </a:r>
          </a:p>
          <a:p>
            <a:r>
              <a:t>CNPJ 54871427000194 · Processos judiciais · Informe Trimestral · ID 1291015 · 06/2026 · versão 1 · p. 1 · Sobre a existência de processos judiciais envolvendo o FIDC. · https://fnet.bmfbovespa.com.br/fnet/publico/visualizarDocumento?id=1291015 · Sobre a existência de processos judiciais envolvendo o FIDC. O administrador do fundo não tem conhecimento de ações judiciais envolvendo o fundo no trimestre em referência.</a:t>
            </a:r>
          </a:p>
          <a:p>
            <a:r>
              <a:t>CNPJ 60010416000112 · Processos judiciais · Informe Trimestral · ID 1292034 · 06/2026 · versão 1 · p. 1 · Sobre a existência de processos judiciais envolvendo o FIDC. · https://fnet.bmfbovespa.com.br/fnet/publico/visualizarDocumento?id=1292034 · Sobre a existência de processos judiciais envolvendo o FIDC. O fundo está exposto as ações judiciais listadas abaixo:</a:t>
            </a:r>
          </a:p>
          <a:p>
            <a:r>
              <a:t>CNPJ 62696791000193 · Processos judiciais · Informe Trimestral · ID 1114465 · 12/2025 · versão 1 · p. 1 · Sobre a existência de processos judiciais envolvendo o FIDC. · https://fnet.bmfbovespa.com.br/fnet/publico/visualizarDocumento?id=1114465 · Sobre a existência de processos judiciais envolvendo o FIDC. O administrador do fundo não tem conhecimento de ações judiciais envolvendo o fundo no trimestre em referência.</a:t>
            </a:r>
          </a:p>
          <a:p>
            <a:r>
              <a:t>CNPJ 55563624000109 · Processos judiciais · Informe Trimestral · ID 1289610 · 06/2026 · versão 1 · p. 1 · Sobre a existência de processos judiciais envolvendo o FIDC. · https://fnet.bmfbovespa.com.br/fnet/publico/visualizarDocumento?id=1289610 · Sobre a existência de processos judiciais envolvendo o FIDC. O administrador do fundo não tem conhecimento de ações judiciais envolvendo o fundo no trimestre em referência.</a:t>
            </a:r>
          </a:p>
          <a:p>
            <a:r>
              <a:t>CNPJ 62552447000120 · Processos judiciais · Informe Trimestral · ID 1292043 · 06/2026 · versão 1 · p. 1 · Sobre a existência de processos judiciais envolvendo o FIDC. · https://fnet.bmfbovespa.com.br/fnet/publico/visualizarDocumento?id=1292043 · Sobre a existência de processos judiciais envolvendo o FIDC. O administrador do fundo não tem conhecimento de ações judiciais envolvendo o fundo no trimestre em referência.</a:t>
            </a:r>
          </a:p>
          <a:p>
            <a:r>
              <a:t>CNPJ 63953620000165 · Processos judiciais · Informe Trimestral · ID 1291068 · 06/2026 · versão 1 · p. 1 · Sobre a existência de processos judiciais envolvendo o FIDC. · https://fnet.bmfbovespa.com.br/fnet/publico/visualizarDocumento?id=1291068 · Sobre a existência de processos judiciais envolvendo o FIDC. O fundo está exposto as ações judiciais listadas abaixo:</a:t>
            </a:r>
          </a:p>
          <a:p>
            <a:r>
              <a:t>CNPJ 54871427000194 · Aquisição de precatórios · Informe Trimestral · ID 1291015 · 06/2026 · versão 1 · p. 1 · Sobre a aquisição de precatórios federais em fundos destinados ao público em geral. · https://fnet.bmfbovespa.com.br/fnet/publico/visualizarDocumento?id=1291015 · Sobre a aquisição de precatórios federais em fundos destinados ao público em geral. O fundo não se destina ao público em geral. As informações a seguir são destinadas à apresentação do relatório trimestral do gestor.</a:t>
            </a:r>
          </a:p>
          <a:p>
            <a:r>
              <a:t>CNPJ 60010416000112 · Aquisição de precatórios · Informe Trimestral · ID 1292034 · 06/2026 · versão 1 · p. 1 · Sobre a aquisição de precatórios federais em fundos destinados ao público em geral. · https://fnet.bmfbovespa.com.br/fnet/publico/visualizarDocumento?id=1292034 · Sobre a aquisição de precatórios federais em fundos destinados ao público em geral. O fundo adquiriu precatórios federais no trimestre em referência e está sujeito a eventual existência de impugnação judicial ou fatos supervenientes capazes de alterar a ordem ou o prazo de pagamento dos precatórios. As informações a seguir são destinadas à apresentação do relatório trimestral do gestor.</a:t>
            </a:r>
          </a:p>
          <a:p>
            <a:r>
              <a:t>CNPJ 62696791000193 · Aquisição de precatórios · Informe Trimestral · ID 1114465 · 12/2025 · versão 1 · p. 1 · Sobre a aquisição de precatórios federais em fundos destinados ao público em geral. · https://fnet.bmfbovespa.com.br/fnet/publico/visualizarDocumento?id=1114465 · Sobre a aquisição de precatórios federais em fundos destinados ao público em geral. O fundo não se destina ao público em geral. As informações a seguir são destinadas à apresentação do relatório trimestral do gestor. Em atendimento ao parágrafo § 4º, inciso V, artigo 27 da Resolução 175, informamos ainda que, até a data de divulgação deste demonstrativo trimestral, o gestor não encaminhou ao administrador o relatório trimestral da gestão, conforme estabelecido pela legislação em vigor.</a:t>
            </a:r>
          </a:p>
          <a:p>
            <a:r>
              <a:t>CNPJ 55563624000109 · Aquisição de precatórios · Informe Trimestral · ID 1289610 · 06/2026 · versão 1 · p. 1 · Sobre a aquisição de precatórios federais em fundos destinados ao público em geral. · https://fnet.bmfbovespa.com.br/fnet/publico/visualizarDocumento?id=1289610 · Sobre a aquisição de precatórios federais em fundos destinados ao público em geral. O fundo não se destina ao público em geral. As informações a seguir são destinadas à apresentação do relatório trimestral do gestor.</a:t>
            </a:r>
          </a:p>
          <a:p>
            <a:r>
              <a:t>CNPJ 62552447000120 · Aquisição de precatórios · Informe Trimestral · ID 1292043 · 06/2026 · versão 1 · p. 1 · Sobre a aquisição de precatórios federais em fundos destinados ao público em geral. · https://fnet.bmfbovespa.com.br/fnet/publico/visualizarDocumento?id=1292043 · Sobre a aquisição de precatórios federais em fundos destinados ao público em geral. O fundo não se destina ao público em geral. As informações a seguir são destinadas à apresentação do relatório trimestral do gestor.</a:t>
            </a:r>
          </a:p>
          <a:p>
            <a:r>
              <a:t>CNPJ 63953620000165 · Aquisição de precatórios · Informe Trimestral · ID 1291068 · 06/2026 · versão 1 · p. 1 · Sobre a aquisição de precatórios federais em fundos destinados ao público em geral. · https://fnet.bmfbovespa.com.br/fnet/publico/visualizarDocumento?id=1291068 · Sobre a aquisição de precatórios federais em fundos destinados ao público em geral. O fundo adquiriu precatórios federais no trimestre em referência e está sujeito a eventual existência de impugnação judicial ou fatos supervenientes capazes de alterar a ordem ou o prazo de pagamento dos precatórios. As informações a seguir são destinadas à apresentação do relatório trimestral do gestor.</a:t>
            </a:r>
          </a:p>
          <a:p>
            <a:r>
              <a:t>CNPJ 63953620000165 · Aquisição de precatórios · Anexo ao Regulamento · ID 1222863 · 02/06/2026 · versão AnexoConsignadoPrivado02/06/2026 · p. 6 · 4.14 · https://fnet.bmfbovespa.com.br/fnet/publico/visualizarDocumento?id=1222863 · 4.14 Nos termos do Art. 45, §7º, inciso II, do Anexo Normativo II da Resolução CVM 175, a Classe poderá ter até 100% (cem por cento) de seu Patrimônio Líquido alocado em Direitos Creditórios, derivativos, observado o disposto neste Anexo I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4.15 Sem prejuízo de limites</a:t>
            </a:r>
          </a:p>
          <a:p>
            <a:r>
              <a:t>CNPJ 63953620000165 · Aquisição de precatórios · Anexo ao Regulamento · ID 1222863 · 02/06/2026 · versão AnexoConsignadoPrivado02/06/2026 · p. 7 · 4.15(i)–(v) · https://fnet.bmfbovespa.com.br/fnet/publico/visualizarDocumento?id=1222863 · (i)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CNPJ 54871427000194 · Alterações da política de investimento · Informe Trimestral · ID 1291015 · 06/2026 · versão 1 · p. 1 · Impactos de eventual alteração na política de investimento sobre a rentabilidade do Fundo. · https://fnet.bmfbovespa.com.br/fnet/publico/visualizarDocumento?id=1291015 · Impactos de eventual alteração na política de investimento sobre a rentabilidade do Fundo. Não se aplica, pois não ocorreram alterações na política de investimento do fundo no trimestre em referência.</a:t>
            </a:r>
          </a:p>
          <a:p>
            <a:r>
              <a:t>CNPJ 60010416000112 · Alterações da política de investimento · Informe Trimestral · ID 1292034 · 06/2026 · versão 1 · p. 1 · Impactos de eventual alteração na política de investimento sobre a rentabilidade do Fundo. · https://fnet.bmfbovespa.com.br/fnet/publico/visualizarDocumento?id=1292034 · Impactos de eventual alteração na política de investimento sobre a rentabilidade do Fundo. Não foram observados impactos significativos na rentabilidade do fundo, em função das alterações ocorridas em seu regulamento no trimestre em referência.</a:t>
            </a:r>
          </a:p>
          <a:p>
            <a:r>
              <a:t>CNPJ 62552447000120 · Alterações da política de investimento · Informe Trimestral · ID 1292043 · 06/2026 · versão 1 · p. 1 · Impactos de eventual alteração na política de investimento sobre a rentabilidade do Fundo. · https://fnet.bmfbovespa.com.br/fnet/publico/visualizarDocumento?id=1292043 · Impactos de eventual alteração na política de investimento sobre a rentabilidade do Fundo. Não se aplica, pois não ocorreram alterações na política de investimento do fundo no trimestre em referência.</a:t>
            </a:r>
          </a:p>
          <a:p>
            <a:r>
              <a:t>CNPJ 63953620000165 · Alterações da política de investimento · Informe Trimestral · ID 1291068 · 06/2026 · versão 1 · p. 1 · Impactos de eventual alteração na política de investimento sobre a rentabilidade do Fundo. · https://fnet.bmfbovespa.com.br/fnet/publico/visualizarDocumento?id=1291068 · Impactos de eventual alteração na política de investimento sobre a rentabilidade do Fundo. Não foram observados impactos significativos na rentabilidade do fundo, em função das alterações ocorridas em seu regulamento no trimestre em referência.</a:t>
            </a:r>
          </a:p>
          <a:p>
            <a:r>
              <a:t>CNPJ 54871427000194 · Critérios de concessão dos originadores · Informe Trimestral · ID 1291015 · 06/2026 · versão 1 · p. 2 · Critérios para a concessão de crédito adotados pelos originadores, que representem 10% ou mais da carteira de direitos creditórios no trimestre. · https://fnet.bmfbovespa.com.br/fnet/publico/visualizarDocumento?id=1291015 · Critérios para a concessão de crédito adotados pelos originadores, que representem 10% ou mais da carteira de direitos creditórios no trimestre. Os critérios para a concessão de crédito adotados pelos originadores do fundo não foram alterados no último trimestre, conforme descrito em seu regulamento.</a:t>
            </a:r>
          </a:p>
          <a:p>
            <a:r>
              <a:t>CNPJ 60010416000112 · Critérios de concessão dos originadores · Informe Trimestral · ID 1292034 · 06/2026 · versão 1 · p. 2 · Critérios para a concessão de crédito adotados pelos originadores, que representem 10% ou mais da carteira de direitos creditórios no trimestre. · https://fnet.bmfbovespa.com.br/fnet/publico/visualizarDocumento?id=1292034 · Critérios para a concessão de crédito adotados pelos originadores, que representem 10% ou mais da carteira de direitos creditórios no trimestre. Os critérios para a concessão de crédito adotados pelos originadores do fundo foram alterados no último trimestre, conforme descrito em seu regulamento.</a:t>
            </a:r>
          </a:p>
          <a:p>
            <a:r>
              <a:t>CNPJ 55563624000109 · Critérios de concessão dos originadores · Informe Trimestral · ID 1289610 · 06/2026 · versão 1 · p. 2–3 · Critériosparaaconcessãodecréditoadotadospelosoriginadores,casotaiscritériosnãotenhamsido descritos no regulamento ou em outros demonstrativos trimestrais; Resposta:Nãoocorreramalteraçõesrelevantesnoscritériosparaaconcessãodecrédito. · https://fnet.bmfbovespa.com.br/fnet/publico/visualizarDocumento?id=1289610 · Critériosparaaconcessãodecréditoadotadospelosoriginadores,casotaiscritériosnãotenhamsido descritos no regulamento ou em outros demonstrativos trimestrais; Resposta:Nãoocorreramalteraçõesrelevantesnoscritériosparaaconcessãodecrédito. Eventuaisalteraçõesnoscritériosparaaconcessãodecréditoadotadosportaisoriginadores,casooscritériosadotadosjátenh amsidodescritosnoregulamentoouemoutrosdemonstrativostrimestrais;Resposta:Nãoocorreramalteraçõesrelevant esnoscritériosparaaconcessãodecrédito. Eventuaisalteraçõesnasgarantiasexistentesparaoconjuntodedireitoscreditórios; Resposta:Nãoocorreramalteraçõesrelevantesnas garantiasexistentesparao conjuntodeativos. Formacomoseoperouacessãodosdireitoscreditórios,incluindo: a)descriçãodecontratosrelevantesfirmadoscomessepropósito,sehouver;eb)indicaçãodocaráter definitivo, ou não, da cessão de direitos creditórios; Resposta:Ascessõesdedireitoscreditóriosocorreramtodasdeformadefinitiva,deacordocomodisposto no regulamento e/ou nos respectivos contratos. Nomedofundo:PLGNMARKETFCFIDC CNPJ: 55563624000109 Impactodoseventosdepré- pagamentonovalordopatrimôniolíquidoenarentabilidadedacarteira;Resposta:Existemeventosdepré- pagamentoemfundospulverizadosnocursonormaldosnegócios que não geram, por si só, impacto significativo no patrimônio líquido e na rentabilidade da carteira.</a:t>
            </a:r>
          </a:p>
          <a:p>
            <a:r>
              <a:t>CNPJ 63953620000165 · Critérios de concessão dos originadores · Informe Trimestral · ID 1291068 · 06/2026 · versão 1 · p. 2 · Critérios para a concessão de crédito adotados pelos originadores, que representem 10% ou mais da carteira de direitos creditórios no trimestre. · https://fnet.bmfbovespa.com.br/fnet/publico/visualizarDocumento?id=1291068 · Critérios para a concessão de crédito adotados pelos originadores, que representem 10% ou mais da carteira de direitos creditórios no trimestre. Os critérios para a concessão de crédito adotados pelos originadores do fundo foram alterados no último trimestre, conforme descrito em seu regulamento.</a:t>
            </a:r>
          </a:p>
          <a:p>
            <a:r>
              <a:t>CNPJ 54871427000194 · Alterações das garantias · Informe Trimestral · ID 1291015 · 06/2026 · versão 1 · p. 2 · Sobre as garantias existentes. · https://fnet.bmfbovespa.com.br/fnet/publico/visualizarDocumento?id=1291015 · Sobre as garantias existentes. Não ocorreram alterações nas garantias existentes para o conjunto de direitos creditórios adquiridos pelo fundo.</a:t>
            </a:r>
          </a:p>
          <a:p>
            <a:r>
              <a:t>CNPJ 60010416000112 · Alterações das garantias · Informe Trimestral · ID 1292034 · 06/2026 · versão 1 · p. 2 · Sobre as garantias existentes. · https://fnet.bmfbovespa.com.br/fnet/publico/visualizarDocumento?id=1292034 · Sobre as garantias existentes. Ocorreram alterações nas garantias existentes para o conjunto de direitos creditórios adquiridos pelo fundo.</a:t>
            </a:r>
          </a:p>
          <a:p>
            <a:r>
              <a:t>CNPJ 62552447000120 · Alterações das garantias · Informe Trimestral · ID 1292043 · 06/2026 · versão 1 · p. 2 · Sobre as garantias existentes. · https://fnet.bmfbovespa.com.br/fnet/publico/visualizarDocumento?id=1292043 · Sobre as garantias existentes. Não ocorreram alterações nas garantias existentes para o conjunto de direitos creditórios adquiridos pelo fundo.</a:t>
            </a:r>
          </a:p>
          <a:p>
            <a:r>
              <a:t>CNPJ 63953620000165 · Alterações das garantias · Informe Trimestral · ID 1291068 · 06/2026 · versão 1 · p. 2 · Sobre as garantias existentes. · https://fnet.bmfbovespa.com.br/fnet/publico/visualizarDocumento?id=1291068 · Sobre as garantias existentes. Ocorreram alterações nas garantias existentes para o conjunto de direitos creditórios adquiridos pelo fundo.</a:t>
            </a:r>
          </a:p>
          <a:p>
            <a:r>
              <a:t>CNPJ 54871427000194 · Cessões no trimestre · Informe Trimestral · ID 1291015 · 06/2026 · versão 1 · p. 2 · Sobre a cessão dos direitos creditórios no período. · https://fnet.bmfbovespa.com.br/fnet/publico/visualizarDocumento?id=1291015 · Sobre a cessão dos direitos creditórios no período. Não se aplica, visto que não foram emitidas novas cessões de direitos creditórios no período.</a:t>
            </a:r>
          </a:p>
          <a:p>
            <a:r>
              <a:t>CNPJ 60010416000112 · Cessões no trimestre · Informe Trimestral · ID 1292034 · 06/2026 · versão 1 · p. 2 · Sobre a cessão dos direitos creditórios no período. · https://fnet.bmfbovespa.com.br/fnet/publico/visualizarDocumento?id=1292034 · Sobre a cessão dos direitos creditórios no período. Ocorreram novas cessões de direitos creditórios no período em referência e os novos contratos foram firmados com o caráter definitivo para o fundo.</a:t>
            </a:r>
          </a:p>
          <a:p>
            <a:r>
              <a:t>CNPJ 62552447000120 · Cessões no trimestre · Informe Trimestral · ID 1292043 · 06/2026 · versão 1 · p. 2 · Sobre a cessão dos direitos creditórios no período. · https://fnet.bmfbovespa.com.br/fnet/publico/visualizarDocumento?id=1292043 · Sobre a cessão dos direitos creditórios no período. Ocorreram novas cessões de direitos creditórios no período em referência e os novos contratos foram firmados com o caráter definitivo para o fundo.</a:t>
            </a:r>
          </a:p>
          <a:p>
            <a:r>
              <a:t>CNPJ 63953620000165 · Cessões no trimestre · Informe Trimestral · ID 1291068 · 06/2026 · versão 1 · p. 2 · Sobre a cessão dos direitos creditórios no período. · https://fnet.bmfbovespa.com.br/fnet/publico/visualizarDocumento?id=1291068 · Sobre a cessão dos direitos creditórios no período. Ocorreram novas cessões de direitos creditórios no período em referência e os novos contratos foram firmados com o caráter definitivo para o fundo.</a:t>
            </a:r>
          </a:p>
          <a:p>
            <a:r>
              <a:t>CNPJ 54871427000194 · Eventos de pré-pagamento · Informe Trimestral · ID 1291015 · 06/2026 · versão 1 · p. 2 · Sobre os impactos dos eventos de pré-pagamento. · https://fnet.bmfbovespa.com.br/fnet/publico/visualizarDocumento?id=1291015 · Sobre os impactos dos eventos de pré-pagamento. Não se aplica, visto que não ocorreram eventos de pré-pagamento no último trimestre.</a:t>
            </a:r>
          </a:p>
          <a:p>
            <a:r>
              <a:t>CNPJ 60010416000112 · Eventos de pré-pagamento · Informe Trimestral · ID 1292034 · 06/2026 · versão 1 · p. 2 · Sobre os impactos dos eventos de pré-pagamento. · https://fnet.bmfbovespa.com.br/fnet/publico/visualizarDocumento?id=1292034 · Sobre os impactos dos eventos de pré-pagamento. O fundo teve eventos de pré-pagamento no último trimestre, mas não foram observados impactos relevantes no patrimônio líquido e na carteira do fundo.</a:t>
            </a:r>
          </a:p>
          <a:p>
            <a:r>
              <a:t>CNPJ 62552447000120 · Eventos de pré-pagamento · Informe Trimestral · ID 1292043 · 06/2026 · versão 1 · p. 2 · Sobre os impactos dos eventos de pré-pagamento. · https://fnet.bmfbovespa.com.br/fnet/publico/visualizarDocumento?id=1292043 · Sobre os impactos dos eventos de pré-pagamento. O fundo teve eventos de pré-pagamento no último trimestre, mas não foram observados impactos relevantes no patrimônio líquido e na carteira do fundo.</a:t>
            </a:r>
          </a:p>
          <a:p>
            <a:r>
              <a:t>CNPJ 63953620000165 · Eventos de pré-pagamento · Informe Trimestral · ID 1291068 · 06/2026 · versão 1 · p. 2 · Sobre os impactos dos eventos de pré-pagamento. · https://fnet.bmfbovespa.com.br/fnet/publico/visualizarDocumento?id=1291068 · Sobre os impactos dos eventos de pré-pagamento. O fundo teve eventos de pré-pagamento no último trimestre, mas não foram observados impactos relevantes no patrimônio líquido e na carteira do fundo.</a:t>
            </a:r>
          </a:p>
          <a:p>
            <a:r>
              <a:t>CNPJ 54871427000194 · Alienação de direitos creditórios · Informe Trimestral · ID 1291015 · 06/2026 · versão 1 · p. 2 · Sobre as condições de alienação dos direitos creditórios. · https://fnet.bmfbovespa.com.br/fnet/publico/visualizarDocumento?id=1291015 · Sobre as condições de alienação dos direitos creditórios. Não se aplica, visto que não ocorreram eventos de alienação neste trimestre.</a:t>
            </a:r>
          </a:p>
          <a:p>
            <a:r>
              <a:t>CNPJ 60010416000112 · Alienação de direitos creditórios · Informe Trimestral · ID 1292034 · 06/2026 · versão 1 · p. 2 · Sobre as condições de alienação dos direitos creditórios. · https://fnet.bmfbovespa.com.br/fnet/publico/visualizarDocumento?id=1292034 · Sobre as condições de alienação dos direitos creditórios. No trimestre base o fundo teve eventos de alienação de uma parcela dos direitos creditórios de sua carteira. Como principal motivo para a realização desta operação temos: A realocação de investimentos da carteira.</a:t>
            </a:r>
          </a:p>
          <a:p>
            <a:r>
              <a:t>CNPJ 55563624000109 · Alienação de direitos creditórios · Informe Trimestral · ID 1289610 · 06/2026 · versão 1 · p. 3 · Condiçõesdealienação,aqualquertítulo,dedireitoscreditórios,incluindo: · https://fnet.bmfbovespa.com.br/fnet/publico/visualizarDocumento?id=1289610 · Condiçõesdealienação,aqualquertítulo,dedireitoscreditórios,incluindo: Momentodaalienação(antesoudepoisdovencimento); Resposta: Não ocorreram alienação de ativos da carteira do Fundo, exceto no curso normal dosnegócios. Motivaçãodaalienação; Resposta: Não ocorreram alienação de ativos da carteira do Fundo, exceto no curso normal dosnegócios. Impactonovalordopatrimôniolíquidoenarentabilidadedacarteiradeativosdeumapossível descontinuidade, a qualquer título, da originação ou cessão de direitos creditórios; Resposta:Nãohá. Informaçõessobrefatosocorridosqueafetaramaregularidadedosfluxosfinanceirosoriundosdos direitoscreditórios,incluindo,masnãoselimitando,aquaisquereventosqueacarretemnaliquidação ou amortização antecipada de direitos creditórios. Resposta: Não ocorreram eventos relevantes que acarretaram a regularidade dos fluxos financeirosoriundos dos direitos creditórios.</a:t>
            </a:r>
          </a:p>
          <a:p>
            <a:r>
              <a:t>CNPJ 62552447000120 · Alienação de direitos creditórios · Informe Trimestral · ID 1292043 · 06/2026 · versão 1 · p. 2 · Sobre as condições de alienação dos direitos creditórios. · https://fnet.bmfbovespa.com.br/fnet/publico/visualizarDocumento?id=1292043 · Sobre as condições de alienação dos direitos creditórios. Não se aplica, visto que não ocorreram eventos de alienação neste trimestre.</a:t>
            </a:r>
          </a:p>
          <a:p>
            <a:r>
              <a:t>CNPJ 63953620000165 · Alienação de direitos creditórios · Informe Trimestral · ID 1291068 · 06/2026 · versão 1 · p. 2 · Sobre as condições de alienação dos direitos creditórios. · https://fnet.bmfbovespa.com.br/fnet/publico/visualizarDocumento?id=1291068 · Sobre as condições de alienação dos direitos creditórios. No trimestre base o fundo teve eventos de alienação de uma parcela dos direitos creditórios de sua carteira. Como principal motivo para a realização desta operação temos: A realocação de investimentos da carteira.</a:t>
            </a:r>
          </a:p>
          <a:p>
            <a:r>
              <a:t>CNPJ 54871427000194 · Descontinuidade de originação ou cessão · Informe Trimestral · ID 1291015 · 06/2026 · versão 1 · p. 2 · Sobre a descontinuidade da originação ou cessão dos direitos creditórios do fundo. · https://fnet.bmfbovespa.com.br/fnet/publico/visualizarDocumento?id=1291015 · Sobre a descontinuidade da originação ou cessão dos direitos creditórios do fundo. O regulamento do fundo estabelece as condições mínimas previstas para descontinuidade da originação ou cessão dos direitos creditórios investidos, sendo certo que quaisquer alterações nestes critérios serão divulgadas a mercado, por meio de fato relevante ou através dos canais oficiais de registro do fundo.</a:t>
            </a:r>
          </a:p>
          <a:p>
            <a:r>
              <a:t>CNPJ 60010416000112 · Descontinuidade de originação ou cessão · Informe Trimestral · ID 1292034 · 06/2026 · versão 1 · p. 2 · Sobre a descontinuidade da originação ou cessão dos direitos creditórios do fundo. · https://fnet.bmfbovespa.com.br/fnet/publico/visualizarDocumento?id=1292034 · Sobre a descontinuidade da originação ou cessão dos direitos creditórios do fundo. Foram observados impactos significativos na rentabilidade do fundo, em função da descontinuidade da originação de direitos creditórios no trimestre em referência.</a:t>
            </a:r>
          </a:p>
          <a:p>
            <a:r>
              <a:t>CNPJ 62552447000120 · Descontinuidade de originação ou cessão · Informe Trimestral · ID 1292043 · 06/2026 · versão 1 · p. 2 · Sobre a descontinuidade da originação ou cessão dos direitos creditórios do fundo. · https://fnet.bmfbovespa.com.br/fnet/publico/visualizarDocumento?id=1292043 · Sobre a descontinuidade da originação ou cessão dos direitos creditórios do fundo. Não se aplica, visto que não foram observados impactos significativos na rentabilidade do fundo, em função da descontinuidade da originação de direitos creditórios no trimestre em referência.</a:t>
            </a:r>
          </a:p>
          <a:p>
            <a:r>
              <a:t>CNPJ 63953620000165 · Descontinuidade de originação ou cessão · Informe Trimestral · ID 1291068 · 06/2026 · versão 1 · p. 2 · Sobre a descontinuidade da originação ou cessão dos direitos creditórios do fundo. · https://fnet.bmfbovespa.com.br/fnet/publico/visualizarDocumento?id=1291068 · Sobre a descontinuidade da originação ou cessão dos direitos creditórios do fundo. Foram observados impactos significativos na rentabilidade do fundo, em função da descontinuidade da originação de direitos creditórios no trimestre em referência.</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Declarações trimestrais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Resultado da verificação de lastro · Informe Trimestral · ID 1291015 · 06/2026 · versão 1 · p. 1 · Sobre os resultados da última verificação do lastro dos direitos creditórios do fundo. · https://fnet.bmfbovespa.com.br/fnet/publico/visualizarDocumento?id=1291015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60010416000112 · Resultado da verificação de lastro · Informe Trimestral · ID 1292034 · 06/2026 · versão 1 · p. 1 · Sobre os resultados da última verificação do lastro dos direitos creditórios do fundo. · https://fnet.bmfbovespa.com.br/fnet/publico/visualizarDocumento?id=1292034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62696791000193 · Resultado da verificação de lastro · Informe Trimestral · ID 1114465 · 12/2025 · versão 1 · p. 1 · Sobre os resultados da última verificação do lastro dos direitos creditórios do fundo. · https://fnet.bmfbovespa.com.br/fnet/publico/visualizarDocumento?id=1114465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55563624000109 · Resultado da verificação de lastro · Informe Trimestral · ID 1289610 · 06/2026 · versão 1 · p. 1 · Sobre os resultados da última verificação do lastro dos direitos creditórios do fundo. · https://fnet.bmfbovespa.com.br/fnet/publico/visualizarDocumento?id=1289610 · Sobre os resultados da última verificação do lastro dos direitos creditórios do fundo. Informamos que o Fundo dispensa a verificação de lastro dos direitos creditórios.</a:t>
            </a:r>
          </a:p>
          <a:p>
            <a:r>
              <a:t>CNPJ 62552447000120 · Resultado da verificação de lastro · Informe Trimestral · ID 1292043 · 06/2026 · versão 1 · p. 1 · Sobre os resultados da última verificação do lastro dos direitos creditórios do fundo. · https://fnet.bmfbovespa.com.br/fnet/publico/visualizarDocumento?id=1292043 · Sobre os resultados da última verificação do lastro dos direitos creditórios do fundo. Informamos que o Fundo dispensa a verificação de lastro dos direitos creditórios.</a:t>
            </a:r>
          </a:p>
          <a:p>
            <a:r>
              <a:t>CNPJ 63953620000165 · Resultado da verificação de lastro · Informe Trimestral · ID 1291068 · 06/2026 · versão 1 · p. 1 · Sobre os resultados da última verificação do lastro dos direitos creditórios do fundo. · https://fnet.bmfbovespa.com.br/fnet/publico/visualizarDocumento?id=1291068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54871427000194 · Registro dos direitos creditórios · Informe Trimestral · ID 1291015 · 06/2026 · versão 1 · p. 1 · Sobre o registro dos direitos creditórios em entidade registradora. · https://fnet.bmfbovespa.com.br/fnet/publico/visualizarDocumento?id=1291015 · Sobre o registro dos direitos creditórios em entidade registradora. Todos os créditos estão liberados para registro.</a:t>
            </a:r>
          </a:p>
          <a:p>
            <a:r>
              <a:t>CNPJ 60010416000112 · Registro dos direitos creditórios · Informe Trimestral · ID 1292034 · 06/2026 · versão 1 · p. 1 · Sobre o registro dos direitos creditórios em entidade registradora. · https://fnet.bmfbovespa.com.br/fnet/publico/visualizarDocumento?id=1292034 · Sobre o registro dos direitos creditórios em entidade registradora. Todos os créditos estão liberados para registro.</a:t>
            </a:r>
          </a:p>
          <a:p>
            <a:r>
              <a:t>CNPJ 62696791000193 · Registro dos direitos creditórios · Informe Trimestral · ID 1114465 · 12/2025 · versão 1 · p. 1 · Sobre o registro dos direitos creditórios em entidade registradora. · https://fnet.bmfbovespa.com.br/fnet/publico/visualizarDocumento?id=1114465 · Sobre o registro dos direitos creditórios em entidade registradora. Todos os créditos estão liberados para registro.</a:t>
            </a:r>
          </a:p>
          <a:p>
            <a:r>
              <a:t>CNPJ 55563624000109 · Registro dos direitos creditórios · Informe Trimestral · ID 1289610 · 06/2026 · versão 1 · p. 1 · Sobre o registro dos direitos creditórios em entidade registradora. · https://fnet.bmfbovespa.com.br/fnet/publico/visualizarDocumento?id=1289610 · Sobre o registro dos direitos creditórios em entidade registradora. Todos os créditos estão liberados para registro.</a:t>
            </a:r>
          </a:p>
          <a:p>
            <a:r>
              <a:t>CNPJ 62552447000120 · Registro dos direitos creditórios · Informe Trimestral · ID 1292043 · 06/2026 · versão 1 · p. 1 · Sobre o registro dos direitos creditórios em entidade registradora. · https://fnet.bmfbovespa.com.br/fnet/publico/visualizarDocumento?id=1292043 · Sobre o registro dos direitos creditórios em entidade registradora. Todos os créditos estão liberados para registro.</a:t>
            </a:r>
          </a:p>
          <a:p>
            <a:r>
              <a:t>CNPJ 63953620000165 · Registro dos direitos creditórios · Informe Trimestral · ID 1291068 · 06/2026 · versão 1 · p. 1 · Sobre o registro dos direitos creditórios em entidade registradora. · https://fnet.bmfbovespa.com.br/fnet/publico/visualizarDocumento?id=1291068 · Sobre o registro dos direitos creditórios em entidade registradora. Todos os créditos estão liberados para registro.</a:t>
            </a:r>
          </a:p>
          <a:p>
            <a:r>
              <a:t>CNPJ 54871427000194 · Processos judiciais · Informe Trimestral · ID 1291015 · 06/2026 · versão 1 · p. 1 · Sobre a existência de processos judiciais envolvendo o FIDC. · https://fnet.bmfbovespa.com.br/fnet/publico/visualizarDocumento?id=1291015 · Sobre a existência de processos judiciais envolvendo o FIDC. O administrador do fundo não tem conhecimento de ações judiciais envolvendo o fundo no trimestre em referência.</a:t>
            </a:r>
          </a:p>
          <a:p>
            <a:r>
              <a:t>CNPJ 60010416000112 · Processos judiciais · Informe Trimestral · ID 1292034 · 06/2026 · versão 1 · p. 1 · Sobre a existência de processos judiciais envolvendo o FIDC. · https://fnet.bmfbovespa.com.br/fnet/publico/visualizarDocumento?id=1292034 · Sobre a existência de processos judiciais envolvendo o FIDC. O fundo está exposto as ações judiciais listadas abaixo:</a:t>
            </a:r>
          </a:p>
          <a:p>
            <a:r>
              <a:t>CNPJ 62696791000193 · Processos judiciais · Informe Trimestral · ID 1114465 · 12/2025 · versão 1 · p. 1 · Sobre a existência de processos judiciais envolvendo o FIDC. · https://fnet.bmfbovespa.com.br/fnet/publico/visualizarDocumento?id=1114465 · Sobre a existência de processos judiciais envolvendo o FIDC. O administrador do fundo não tem conhecimento de ações judiciais envolvendo o fundo no trimestre em referência.</a:t>
            </a:r>
          </a:p>
          <a:p>
            <a:r>
              <a:t>CNPJ 55563624000109 · Processos judiciais · Informe Trimestral · ID 1289610 · 06/2026 · versão 1 · p. 1 · Sobre a existência de processos judiciais envolvendo o FIDC. · https://fnet.bmfbovespa.com.br/fnet/publico/visualizarDocumento?id=1289610 · Sobre a existência de processos judiciais envolvendo o FIDC. O administrador do fundo não tem conhecimento de ações judiciais envolvendo o fundo no trimestre em referência.</a:t>
            </a:r>
          </a:p>
          <a:p>
            <a:r>
              <a:t>CNPJ 62552447000120 · Processos judiciais · Informe Trimestral · ID 1292043 · 06/2026 · versão 1 · p. 1 · Sobre a existência de processos judiciais envolvendo o FIDC. · https://fnet.bmfbovespa.com.br/fnet/publico/visualizarDocumento?id=1292043 · Sobre a existência de processos judiciais envolvendo o FIDC. O administrador do fundo não tem conhecimento de ações judiciais envolvendo o fundo no trimestre em referência.</a:t>
            </a:r>
          </a:p>
          <a:p>
            <a:r>
              <a:t>CNPJ 63953620000165 · Processos judiciais · Informe Trimestral · ID 1291068 · 06/2026 · versão 1 · p. 1 · Sobre a existência de processos judiciais envolvendo o FIDC. · https://fnet.bmfbovespa.com.br/fnet/publico/visualizarDocumento?id=1291068 · Sobre a existência de processos judiciais envolvendo o FIDC. O fundo está exposto as ações judiciais listadas abaixo:</a:t>
            </a:r>
          </a:p>
          <a:p>
            <a:r>
              <a:t>CNPJ 54871427000194 · Aquisição de precatórios · Informe Trimestral · ID 1291015 · 06/2026 · versão 1 · p. 1 · Sobre a aquisição de precatórios federais em fundos destinados ao público em geral. · https://fnet.bmfbovespa.com.br/fnet/publico/visualizarDocumento?id=1291015 · Sobre a aquisição de precatórios federais em fundos destinados ao público em geral. O fundo não se destina ao público em geral. As informações a seguir são destinadas à apresentação do relatório trimestral do gestor.</a:t>
            </a:r>
          </a:p>
          <a:p>
            <a:r>
              <a:t>CNPJ 60010416000112 · Aquisição de precatórios · Informe Trimestral · ID 1292034 · 06/2026 · versão 1 · p. 1 · Sobre a aquisição de precatórios federais em fundos destinados ao público em geral. · https://fnet.bmfbovespa.com.br/fnet/publico/visualizarDocumento?id=1292034 · Sobre a aquisição de precatórios federais em fundos destinados ao público em geral. O fundo adquiriu precatórios federais no trimestre em referência e está sujeito a eventual existência de impugnação judicial ou fatos supervenientes capazes de alterar a ordem ou o prazo de pagamento dos precatórios. As informações a seguir são destinadas à apresentação do relatório trimestral do gestor.</a:t>
            </a:r>
          </a:p>
          <a:p>
            <a:r>
              <a:t>CNPJ 62696791000193 · Aquisição de precatórios · Informe Trimestral · ID 1114465 · 12/2025 · versão 1 · p. 1 · Sobre a aquisição de precatórios federais em fundos destinados ao público em geral. · https://fnet.bmfbovespa.com.br/fnet/publico/visualizarDocumento?id=1114465 · Sobre a aquisição de precatórios federais em fundos destinados ao público em geral. O fundo não se destina ao público em geral. As informações a seguir são destinadas à apresentação do relatório trimestral do gestor. Em atendimento ao parágrafo § 4º, inciso V, artigo 27 da Resolução 175, informamos ainda que, até a data de divulgação deste demonstrativo trimestral, o gestor não encaminhou ao administrador o relatório trimestral da gestão, conforme estabelecido pela legislação em vigor.</a:t>
            </a:r>
          </a:p>
          <a:p>
            <a:r>
              <a:t>CNPJ 55563624000109 · Aquisição de precatórios · Informe Trimestral · ID 1289610 · 06/2026 · versão 1 · p. 1 · Sobre a aquisição de precatórios federais em fundos destinados ao público em geral. · https://fnet.bmfbovespa.com.br/fnet/publico/visualizarDocumento?id=1289610 · Sobre a aquisição de precatórios federais em fundos destinados ao público em geral. O fundo não se destina ao público em geral. As informações a seguir são destinadas à apresentação do relatório trimestral do gestor.</a:t>
            </a:r>
          </a:p>
          <a:p>
            <a:r>
              <a:t>CNPJ 62552447000120 · Aquisição de precatórios · Informe Trimestral · ID 1292043 · 06/2026 · versão 1 · p. 1 · Sobre a aquisição de precatórios federais em fundos destinados ao público em geral. · https://fnet.bmfbovespa.com.br/fnet/publico/visualizarDocumento?id=1292043 · Sobre a aquisição de precatórios federais em fundos destinados ao público em geral. O fundo não se destina ao público em geral. As informações a seguir são destinadas à apresentação do relatório trimestral do gestor.</a:t>
            </a:r>
          </a:p>
          <a:p>
            <a:r>
              <a:t>CNPJ 63953620000165 · Aquisição de precatórios · Informe Trimestral · ID 1291068 · 06/2026 · versão 1 · p. 1 · Sobre a aquisição de precatórios federais em fundos destinados ao público em geral. · https://fnet.bmfbovespa.com.br/fnet/publico/visualizarDocumento?id=1291068 · Sobre a aquisição de precatórios federais em fundos destinados ao público em geral. O fundo adquiriu precatórios federais no trimestre em referência e está sujeito a eventual existência de impugnação judicial ou fatos supervenientes capazes de alterar a ordem ou o prazo de pagamento dos precatórios. As informações a seguir são destinadas à apresentação do relatório trimestral do gestor.</a:t>
            </a:r>
          </a:p>
          <a:p>
            <a:r>
              <a:t>CNPJ 63953620000165 · Aquisição de precatórios · Anexo ao Regulamento · ID 1222863 · 02/06/2026 · versão AnexoConsignadoPrivado02/06/2026 · p. 6 · 4.14 · https://fnet.bmfbovespa.com.br/fnet/publico/visualizarDocumento?id=1222863 · 4.14 Nos termos do Art. 45, §7º, inciso II, do Anexo Normativo II da Resolução CVM 175, a Classe poderá ter até 100% (cem por cento) de seu Patrimônio Líquido alocado em Direitos Creditórios, derivativos, observado o disposto neste Anexo I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4.15 Sem prejuízo de limites</a:t>
            </a:r>
          </a:p>
          <a:p>
            <a:r>
              <a:t>CNPJ 63953620000165 · Aquisição de precatórios · Anexo ao Regulamento · ID 1222863 · 02/06/2026 · versão AnexoConsignadoPrivado02/06/2026 · p. 7 · 4.15(i)–(v) · https://fnet.bmfbovespa.com.br/fnet/publico/visualizarDocumento?id=1222863 · (i)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CNPJ 54871427000194 · Alterações da política de investimento · Informe Trimestral · ID 1291015 · 06/2026 · versão 1 · p. 1 · Impactos de eventual alteração na política de investimento sobre a rentabilidade do Fundo. · https://fnet.bmfbovespa.com.br/fnet/publico/visualizarDocumento?id=1291015 · Impactos de eventual alteração na política de investimento sobre a rentabilidade do Fundo. Não se aplica, pois não ocorreram alterações na política de investimento do fundo no trimestre em referência.</a:t>
            </a:r>
          </a:p>
          <a:p>
            <a:r>
              <a:t>CNPJ 60010416000112 · Alterações da política de investimento · Informe Trimestral · ID 1292034 · 06/2026 · versão 1 · p. 1 · Impactos de eventual alteração na política de investimento sobre a rentabilidade do Fundo. · https://fnet.bmfbovespa.com.br/fnet/publico/visualizarDocumento?id=1292034 · Impactos de eventual alteração na política de investimento sobre a rentabilidade do Fundo. Não foram observados impactos significativos na rentabilidade do fundo, em função das alterações ocorridas em seu regulamento no trimestre em referência.</a:t>
            </a:r>
          </a:p>
          <a:p>
            <a:r>
              <a:t>CNPJ 62552447000120 · Alterações da política de investimento · Informe Trimestral · ID 1292043 · 06/2026 · versão 1 · p. 1 · Impactos de eventual alteração na política de investimento sobre a rentabilidade do Fundo. · https://fnet.bmfbovespa.com.br/fnet/publico/visualizarDocumento?id=1292043 · Impactos de eventual alteração na política de investimento sobre a rentabilidade do Fundo. Não se aplica, pois não ocorreram alterações na política de investimento do fundo no trimestre em referência.</a:t>
            </a:r>
          </a:p>
          <a:p>
            <a:r>
              <a:t>CNPJ 63953620000165 · Alterações da política de investimento · Informe Trimestral · ID 1291068 · 06/2026 · versão 1 · p. 1 · Impactos de eventual alteração na política de investimento sobre a rentabilidade do Fundo. · https://fnet.bmfbovespa.com.br/fnet/publico/visualizarDocumento?id=1291068 · Impactos de eventual alteração na política de investimento sobre a rentabilidade do Fundo. Não foram observados impactos significativos na rentabilidade do fundo, em função das alterações ocorridas em seu regulamento no trimestre em referência.</a:t>
            </a:r>
          </a:p>
          <a:p>
            <a:r>
              <a:t>CNPJ 54871427000194 · Critérios de concessão dos originadores · Informe Trimestral · ID 1291015 · 06/2026 · versão 1 · p. 2 · Critérios para a concessão de crédito adotados pelos originadores, que representem 10% ou mais da carteira de direitos creditórios no trimestre. · https://fnet.bmfbovespa.com.br/fnet/publico/visualizarDocumento?id=1291015 · Critérios para a concessão de crédito adotados pelos originadores, que representem 10% ou mais da carteira de direitos creditórios no trimestre. Os critérios para a concessão de crédito adotados pelos originadores do fundo não foram alterados no último trimestre, conforme descrito em seu regulamento.</a:t>
            </a:r>
          </a:p>
          <a:p>
            <a:r>
              <a:t>CNPJ 60010416000112 · Critérios de concessão dos originadores · Informe Trimestral · ID 1292034 · 06/2026 · versão 1 · p. 2 · Critérios para a concessão de crédito adotados pelos originadores, que representem 10% ou mais da carteira de direitos creditórios no trimestre. · https://fnet.bmfbovespa.com.br/fnet/publico/visualizarDocumento?id=1292034 · Critérios para a concessão de crédito adotados pelos originadores, que representem 10% ou mais da carteira de direitos creditórios no trimestre. Os critérios para a concessão de crédito adotados pelos originadores do fundo foram alterados no último trimestre, conforme descrito em seu regulamento.</a:t>
            </a:r>
          </a:p>
          <a:p>
            <a:r>
              <a:t>CNPJ 55563624000109 · Critérios de concessão dos originadores · Informe Trimestral · ID 1289610 · 06/2026 · versão 1 · p. 2–3 · Critériosparaaconcessãodecréditoadotadospelosoriginadores,casotaiscritériosnãotenhamsido descritos no regulamento ou em outros demonstrativos trimestrais; Resposta:Nãoocorreramalteraçõesrelevantesnoscritériosparaaconcessãodecrédito. · https://fnet.bmfbovespa.com.br/fnet/publico/visualizarDocumento?id=1289610 · Critériosparaaconcessãodecréditoadotadospelosoriginadores,casotaiscritériosnãotenhamsido descritos no regulamento ou em outros demonstrativos trimestrais; Resposta:Nãoocorreramalteraçõesrelevantesnoscritériosparaaconcessãodecrédito. Eventuaisalteraçõesnoscritériosparaaconcessãodecréditoadotadosportaisoriginadores,casooscritériosadotadosjátenh amsidodescritosnoregulamentoouemoutrosdemonstrativostrimestrais;Resposta:Nãoocorreramalteraçõesrelevant esnoscritériosparaaconcessãodecrédito. Eventuaisalteraçõesnasgarantiasexistentesparaoconjuntodedireitoscreditórios; Resposta:Nãoocorreramalteraçõesrelevantesnas garantiasexistentesparao conjuntodeativos. Formacomoseoperouacessãodosdireitoscreditórios,incluindo: a)descriçãodecontratosrelevantesfirmadoscomessepropósito,sehouver;eb)indicaçãodocaráter definitivo, ou não, da cessão de direitos creditórios; Resposta:Ascessõesdedireitoscreditóriosocorreramtodasdeformadefinitiva,deacordocomodisposto no regulamento e/ou nos respectivos contratos. Nomedofundo:PLGNMARKETFCFIDC CNPJ: 55563624000109 Impactodoseventosdepré- pagamentonovalordopatrimôniolíquidoenarentabilidadedacarteira;Resposta:Existemeventosdepré- pagamentoemfundospulverizadosnocursonormaldosnegócios que não geram, por si só, impacto significativo no patrimônio líquido e na rentabilidade da carteira.</a:t>
            </a:r>
          </a:p>
          <a:p>
            <a:r>
              <a:t>CNPJ 63953620000165 · Critérios de concessão dos originadores · Informe Trimestral · ID 1291068 · 06/2026 · versão 1 · p. 2 · Critérios para a concessão de crédito adotados pelos originadores, que representem 10% ou mais da carteira de direitos creditórios no trimestre. · https://fnet.bmfbovespa.com.br/fnet/publico/visualizarDocumento?id=1291068 · Critérios para a concessão de crédito adotados pelos originadores, que representem 10% ou mais da carteira de direitos creditórios no trimestre. Os critérios para a concessão de crédito adotados pelos originadores do fundo foram alterados no último trimestre, conforme descrito em seu regulamento.</a:t>
            </a:r>
          </a:p>
          <a:p>
            <a:r>
              <a:t>CNPJ 54871427000194 · Alterações das garantias · Informe Trimestral · ID 1291015 · 06/2026 · versão 1 · p. 2 · Sobre as garantias existentes. · https://fnet.bmfbovespa.com.br/fnet/publico/visualizarDocumento?id=1291015 · Sobre as garantias existentes. Não ocorreram alterações nas garantias existentes para o conjunto de direitos creditórios adquiridos pelo fundo.</a:t>
            </a:r>
          </a:p>
          <a:p>
            <a:r>
              <a:t>CNPJ 60010416000112 · Alterações das garantias · Informe Trimestral · ID 1292034 · 06/2026 · versão 1 · p. 2 · Sobre as garantias existentes. · https://fnet.bmfbovespa.com.br/fnet/publico/visualizarDocumento?id=1292034 · Sobre as garantias existentes. Ocorreram alterações nas garantias existentes para o conjunto de direitos creditórios adquiridos pelo fundo.</a:t>
            </a:r>
          </a:p>
          <a:p>
            <a:r>
              <a:t>CNPJ 62552447000120 · Alterações das garantias · Informe Trimestral · ID 1292043 · 06/2026 · versão 1 · p. 2 · Sobre as garantias existentes. · https://fnet.bmfbovespa.com.br/fnet/publico/visualizarDocumento?id=1292043 · Sobre as garantias existentes. Não ocorreram alterações nas garantias existentes para o conjunto de direitos creditórios adquiridos pelo fundo.</a:t>
            </a:r>
          </a:p>
          <a:p>
            <a:r>
              <a:t>CNPJ 63953620000165 · Alterações das garantias · Informe Trimestral · ID 1291068 · 06/2026 · versão 1 · p. 2 · Sobre as garantias existentes. · https://fnet.bmfbovespa.com.br/fnet/publico/visualizarDocumento?id=1291068 · Sobre as garantias existentes. Ocorreram alterações nas garantias existentes para o conjunto de direitos creditórios adquiridos pelo fundo.</a:t>
            </a:r>
          </a:p>
          <a:p>
            <a:r>
              <a:t>CNPJ 54871427000194 · Cessões no trimestre · Informe Trimestral · ID 1291015 · 06/2026 · versão 1 · p. 2 · Sobre a cessão dos direitos creditórios no período. · https://fnet.bmfbovespa.com.br/fnet/publico/visualizarDocumento?id=1291015 · Sobre a cessão dos direitos creditórios no período. Não se aplica, visto que não foram emitidas novas cessões de direitos creditórios no período.</a:t>
            </a:r>
          </a:p>
          <a:p>
            <a:r>
              <a:t>CNPJ 60010416000112 · Cessões no trimestre · Informe Trimestral · ID 1292034 · 06/2026 · versão 1 · p. 2 · Sobre a cessão dos direitos creditórios no período. · https://fnet.bmfbovespa.com.br/fnet/publico/visualizarDocumento?id=1292034 · Sobre a cessão dos direitos creditórios no período. Ocorreram novas cessões de direitos creditórios no período em referência e os novos contratos foram firmados com o caráter definitivo para o fundo.</a:t>
            </a:r>
          </a:p>
          <a:p>
            <a:r>
              <a:t>CNPJ 62552447000120 · Cessões no trimestre · Informe Trimestral · ID 1292043 · 06/2026 · versão 1 · p. 2 · Sobre a cessão dos direitos creditórios no período. · https://fnet.bmfbovespa.com.br/fnet/publico/visualizarDocumento?id=1292043 · Sobre a cessão dos direitos creditórios no período. Ocorreram novas cessões de direitos creditórios no período em referência e os novos contratos foram firmados com o caráter definitivo para o fundo.</a:t>
            </a:r>
          </a:p>
          <a:p>
            <a:r>
              <a:t>CNPJ 63953620000165 · Cessões no trimestre · Informe Trimestral · ID 1291068 · 06/2026 · versão 1 · p. 2 · Sobre a cessão dos direitos creditórios no período. · https://fnet.bmfbovespa.com.br/fnet/publico/visualizarDocumento?id=1291068 · Sobre a cessão dos direitos creditórios no período. Ocorreram novas cessões de direitos creditórios no período em referência e os novos contratos foram firmados com o caráter definitivo para o fundo.</a:t>
            </a:r>
          </a:p>
          <a:p>
            <a:r>
              <a:t>CNPJ 54871427000194 · Eventos de pré-pagamento · Informe Trimestral · ID 1291015 · 06/2026 · versão 1 · p. 2 · Sobre os impactos dos eventos de pré-pagamento. · https://fnet.bmfbovespa.com.br/fnet/publico/visualizarDocumento?id=1291015 · Sobre os impactos dos eventos de pré-pagamento. Não se aplica, visto que não ocorreram eventos de pré-pagamento no último trimestre.</a:t>
            </a:r>
          </a:p>
          <a:p>
            <a:r>
              <a:t>CNPJ 60010416000112 · Eventos de pré-pagamento · Informe Trimestral · ID 1292034 · 06/2026 · versão 1 · p. 2 · Sobre os impactos dos eventos de pré-pagamento. · https://fnet.bmfbovespa.com.br/fnet/publico/visualizarDocumento?id=1292034 · Sobre os impactos dos eventos de pré-pagamento. O fundo teve eventos de pré-pagamento no último trimestre, mas não foram observados impactos relevantes no patrimônio líquido e na carteira do fundo.</a:t>
            </a:r>
          </a:p>
          <a:p>
            <a:r>
              <a:t>CNPJ 62552447000120 · Eventos de pré-pagamento · Informe Trimestral · ID 1292043 · 06/2026 · versão 1 · p. 2 · Sobre os impactos dos eventos de pré-pagamento. · https://fnet.bmfbovespa.com.br/fnet/publico/visualizarDocumento?id=1292043 · Sobre os impactos dos eventos de pré-pagamento. O fundo teve eventos de pré-pagamento no último trimestre, mas não foram observados impactos relevantes no patrimônio líquido e na carteira do fundo.</a:t>
            </a:r>
          </a:p>
          <a:p>
            <a:r>
              <a:t>CNPJ 63953620000165 · Eventos de pré-pagamento · Informe Trimestral · ID 1291068 · 06/2026 · versão 1 · p. 2 · Sobre os impactos dos eventos de pré-pagamento. · https://fnet.bmfbovespa.com.br/fnet/publico/visualizarDocumento?id=1291068 · Sobre os impactos dos eventos de pré-pagamento. O fundo teve eventos de pré-pagamento no último trimestre, mas não foram observados impactos relevantes no patrimônio líquido e na carteira do fundo.</a:t>
            </a:r>
          </a:p>
          <a:p>
            <a:r>
              <a:t>CNPJ 54871427000194 · Alienação de direitos creditórios · Informe Trimestral · ID 1291015 · 06/2026 · versão 1 · p. 2 · Sobre as condições de alienação dos direitos creditórios. · https://fnet.bmfbovespa.com.br/fnet/publico/visualizarDocumento?id=1291015 · Sobre as condições de alienação dos direitos creditórios. Não se aplica, visto que não ocorreram eventos de alienação neste trimestre.</a:t>
            </a:r>
          </a:p>
          <a:p>
            <a:r>
              <a:t>CNPJ 60010416000112 · Alienação de direitos creditórios · Informe Trimestral · ID 1292034 · 06/2026 · versão 1 · p. 2 · Sobre as condições de alienação dos direitos creditórios. · https://fnet.bmfbovespa.com.br/fnet/publico/visualizarDocumento?id=1292034 · Sobre as condições de alienação dos direitos creditórios. No trimestre base o fundo teve eventos de alienação de uma parcela dos direitos creditórios de sua carteira. Como principal motivo para a realização desta operação temos: A realocação de investimentos da carteira.</a:t>
            </a:r>
          </a:p>
          <a:p>
            <a:r>
              <a:t>CNPJ 55563624000109 · Alienação de direitos creditórios · Informe Trimestral · ID 1289610 · 06/2026 · versão 1 · p. 3 · Condiçõesdealienação,aqualquertítulo,dedireitoscreditórios,incluindo: · https://fnet.bmfbovespa.com.br/fnet/publico/visualizarDocumento?id=1289610 · Condiçõesdealienação,aqualquertítulo,dedireitoscreditórios,incluindo: Momentodaalienação(antesoudepoisdovencimento); Resposta: Não ocorreram alienação de ativos da carteira do Fundo, exceto no curso normal dosnegócios. Motivaçãodaalienação; Resposta: Não ocorreram alienação de ativos da carteira do Fundo, exceto no curso normal dosnegócios. Impactonovalordopatrimôniolíquidoenarentabilidadedacarteiradeativosdeumapossível descontinuidade, a qualquer título, da originação ou cessão de direitos creditórios; Resposta:Nãohá. Informaçõessobrefatosocorridosqueafetaramaregularidadedosfluxosfinanceirosoriundosdos direitoscreditórios,incluindo,masnãoselimitando,aquaisquereventosqueacarretemnaliquidação ou amortização antecipada de direitos creditórios. Resposta: Não ocorreram eventos relevantes que acarretaram a regularidade dos fluxos financeirosoriundos dos direitos creditórios.</a:t>
            </a:r>
          </a:p>
          <a:p>
            <a:r>
              <a:t>CNPJ 62552447000120 · Alienação de direitos creditórios · Informe Trimestral · ID 1292043 · 06/2026 · versão 1 · p. 2 · Sobre as condições de alienação dos direitos creditórios. · https://fnet.bmfbovespa.com.br/fnet/publico/visualizarDocumento?id=1292043 · Sobre as condições de alienação dos direitos creditórios. Não se aplica, visto que não ocorreram eventos de alienação neste trimestre.</a:t>
            </a:r>
          </a:p>
          <a:p>
            <a:r>
              <a:t>CNPJ 63953620000165 · Alienação de direitos creditórios · Informe Trimestral · ID 1291068 · 06/2026 · versão 1 · p. 2 · Sobre as condições de alienação dos direitos creditórios. · https://fnet.bmfbovespa.com.br/fnet/publico/visualizarDocumento?id=1291068 · Sobre as condições de alienação dos direitos creditórios. No trimestre base o fundo teve eventos de alienação de uma parcela dos direitos creditórios de sua carteira. Como principal motivo para a realização desta operação temos: A realocação de investimentos da carteira.</a:t>
            </a:r>
          </a:p>
          <a:p>
            <a:r>
              <a:t>CNPJ 54871427000194 · Descontinuidade de originação ou cessão · Informe Trimestral · ID 1291015 · 06/2026 · versão 1 · p. 2 · Sobre a descontinuidade da originação ou cessão dos direitos creditórios do fundo. · https://fnet.bmfbovespa.com.br/fnet/publico/visualizarDocumento?id=1291015 · Sobre a descontinuidade da originação ou cessão dos direitos creditórios do fundo. O regulamento do fundo estabelece as condições mínimas previstas para descontinuidade da originação ou cessão dos direitos creditórios investidos, sendo certo que quaisquer alterações nestes critérios serão divulgadas a mercado, por meio de fato relevante ou através dos canais oficiais de registro do fundo.</a:t>
            </a:r>
          </a:p>
          <a:p>
            <a:r>
              <a:t>CNPJ 60010416000112 · Descontinuidade de originação ou cessão · Informe Trimestral · ID 1292034 · 06/2026 · versão 1 · p. 2 · Sobre a descontinuidade da originação ou cessão dos direitos creditórios do fundo. · https://fnet.bmfbovespa.com.br/fnet/publico/visualizarDocumento?id=1292034 · Sobre a descontinuidade da originação ou cessão dos direitos creditórios do fundo. Foram observados impactos significativos na rentabilidade do fundo, em função da descontinuidade da originação de direitos creditórios no trimestre em referência.</a:t>
            </a:r>
          </a:p>
          <a:p>
            <a:r>
              <a:t>CNPJ 62552447000120 · Descontinuidade de originação ou cessão · Informe Trimestral · ID 1292043 · 06/2026 · versão 1 · p. 2 · Sobre a descontinuidade da originação ou cessão dos direitos creditórios do fundo. · https://fnet.bmfbovespa.com.br/fnet/publico/visualizarDocumento?id=1292043 · Sobre a descontinuidade da originação ou cessão dos direitos creditórios do fundo. Não se aplica, visto que não foram observados impactos significativos na rentabilidade do fundo, em função da descontinuidade da originação de direitos creditórios no trimestre em referência.</a:t>
            </a:r>
          </a:p>
          <a:p>
            <a:r>
              <a:t>CNPJ 63953620000165 · Descontinuidade de originação ou cessão · Informe Trimestral · ID 1291068 · 06/2026 · versão 1 · p. 2 · Sobre a descontinuidade da originação ou cessão dos direitos creditórios do fundo. · https://fnet.bmfbovespa.com.br/fnet/publico/visualizarDocumento?id=1291068 · Sobre a descontinuidade da originação ou cessão dos direitos creditórios do fundo. Foram observados impactos significativos na rentabilidade do fundo, em função da descontinuidade da originação de direitos creditórios no trimestre em referência.</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Declarações trimestrais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Resultado da verificação de lastro · Informe Trimestral · ID 1291015 · 06/2026 · versão 1 · p. 1 · Sobre os resultados da última verificação do lastro dos direitos creditórios do fundo. · https://fnet.bmfbovespa.com.br/fnet/publico/visualizarDocumento?id=1291015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60010416000112 · Resultado da verificação de lastro · Informe Trimestral · ID 1292034 · 06/2026 · versão 1 · p. 1 · Sobre os resultados da última verificação do lastro dos direitos creditórios do fundo. · https://fnet.bmfbovespa.com.br/fnet/publico/visualizarDocumento?id=1292034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62696791000193 · Resultado da verificação de lastro · Informe Trimestral · ID 1114465 · 12/2025 · versão 1 · p. 1 · Sobre os resultados da última verificação do lastro dos direitos creditórios do fundo. · https://fnet.bmfbovespa.com.br/fnet/publico/visualizarDocumento?id=1114465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55563624000109 · Resultado da verificação de lastro · Informe Trimestral · ID 1289610 · 06/2026 · versão 1 · p. 1 · Sobre os resultados da última verificação do lastro dos direitos creditórios do fundo. · https://fnet.bmfbovespa.com.br/fnet/publico/visualizarDocumento?id=1289610 · Sobre os resultados da última verificação do lastro dos direitos creditórios do fundo. Informamos que o Fundo dispensa a verificação de lastro dos direitos creditórios.</a:t>
            </a:r>
          </a:p>
          <a:p>
            <a:r>
              <a:t>CNPJ 62552447000120 · Resultado da verificação de lastro · Informe Trimestral · ID 1292043 · 06/2026 · versão 1 · p. 1 · Sobre os resultados da última verificação do lastro dos direitos creditórios do fundo. · https://fnet.bmfbovespa.com.br/fnet/publico/visualizarDocumento?id=1292043 · Sobre os resultados da última verificação do lastro dos direitos creditórios do fundo. Informamos que o Fundo dispensa a verificação de lastro dos direitos creditórios.</a:t>
            </a:r>
          </a:p>
          <a:p>
            <a:r>
              <a:t>CNPJ 63953620000165 · Resultado da verificação de lastro · Informe Trimestral · ID 1291068 · 06/2026 · versão 1 · p. 1 · Sobre os resultados da última verificação do lastro dos direitos creditórios do fundo. · https://fnet.bmfbovespa.com.br/fnet/publico/visualizarDocumento?id=1291068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54871427000194 · Registro dos direitos creditórios · Informe Trimestral · ID 1291015 · 06/2026 · versão 1 · p. 1 · Sobre o registro dos direitos creditórios em entidade registradora. · https://fnet.bmfbovespa.com.br/fnet/publico/visualizarDocumento?id=1291015 · Sobre o registro dos direitos creditórios em entidade registradora. Todos os créditos estão liberados para registro.</a:t>
            </a:r>
          </a:p>
          <a:p>
            <a:r>
              <a:t>CNPJ 60010416000112 · Registro dos direitos creditórios · Informe Trimestral · ID 1292034 · 06/2026 · versão 1 · p. 1 · Sobre o registro dos direitos creditórios em entidade registradora. · https://fnet.bmfbovespa.com.br/fnet/publico/visualizarDocumento?id=1292034 · Sobre o registro dos direitos creditórios em entidade registradora. Todos os créditos estão liberados para registro.</a:t>
            </a:r>
          </a:p>
          <a:p>
            <a:r>
              <a:t>CNPJ 62696791000193 · Registro dos direitos creditórios · Informe Trimestral · ID 1114465 · 12/2025 · versão 1 · p. 1 · Sobre o registro dos direitos creditórios em entidade registradora. · https://fnet.bmfbovespa.com.br/fnet/publico/visualizarDocumento?id=1114465 · Sobre o registro dos direitos creditórios em entidade registradora. Todos os créditos estão liberados para registro.</a:t>
            </a:r>
          </a:p>
          <a:p>
            <a:r>
              <a:t>CNPJ 55563624000109 · Registro dos direitos creditórios · Informe Trimestral · ID 1289610 · 06/2026 · versão 1 · p. 1 · Sobre o registro dos direitos creditórios em entidade registradora. · https://fnet.bmfbovespa.com.br/fnet/publico/visualizarDocumento?id=1289610 · Sobre o registro dos direitos creditórios em entidade registradora. Todos os créditos estão liberados para registro.</a:t>
            </a:r>
          </a:p>
          <a:p>
            <a:r>
              <a:t>CNPJ 62552447000120 · Registro dos direitos creditórios · Informe Trimestral · ID 1292043 · 06/2026 · versão 1 · p. 1 · Sobre o registro dos direitos creditórios em entidade registradora. · https://fnet.bmfbovespa.com.br/fnet/publico/visualizarDocumento?id=1292043 · Sobre o registro dos direitos creditórios em entidade registradora. Todos os créditos estão liberados para registro.</a:t>
            </a:r>
          </a:p>
          <a:p>
            <a:r>
              <a:t>CNPJ 63953620000165 · Registro dos direitos creditórios · Informe Trimestral · ID 1291068 · 06/2026 · versão 1 · p. 1 · Sobre o registro dos direitos creditórios em entidade registradora. · https://fnet.bmfbovespa.com.br/fnet/publico/visualizarDocumento?id=1291068 · Sobre o registro dos direitos creditórios em entidade registradora. Todos os créditos estão liberados para registro.</a:t>
            </a:r>
          </a:p>
          <a:p>
            <a:r>
              <a:t>CNPJ 54871427000194 · Processos judiciais · Informe Trimestral · ID 1291015 · 06/2026 · versão 1 · p. 1 · Sobre a existência de processos judiciais envolvendo o FIDC. · https://fnet.bmfbovespa.com.br/fnet/publico/visualizarDocumento?id=1291015 · Sobre a existência de processos judiciais envolvendo o FIDC. O administrador do fundo não tem conhecimento de ações judiciais envolvendo o fundo no trimestre em referência.</a:t>
            </a:r>
          </a:p>
          <a:p>
            <a:r>
              <a:t>CNPJ 60010416000112 · Processos judiciais · Informe Trimestral · ID 1292034 · 06/2026 · versão 1 · p. 1 · Sobre a existência de processos judiciais envolvendo o FIDC. · https://fnet.bmfbovespa.com.br/fnet/publico/visualizarDocumento?id=1292034 · Sobre a existência de processos judiciais envolvendo o FIDC. O fundo está exposto as ações judiciais listadas abaixo:</a:t>
            </a:r>
          </a:p>
          <a:p>
            <a:r>
              <a:t>CNPJ 62696791000193 · Processos judiciais · Informe Trimestral · ID 1114465 · 12/2025 · versão 1 · p. 1 · Sobre a existência de processos judiciais envolvendo o FIDC. · https://fnet.bmfbovespa.com.br/fnet/publico/visualizarDocumento?id=1114465 · Sobre a existência de processos judiciais envolvendo o FIDC. O administrador do fundo não tem conhecimento de ações judiciais envolvendo o fundo no trimestre em referência.</a:t>
            </a:r>
          </a:p>
          <a:p>
            <a:r>
              <a:t>CNPJ 55563624000109 · Processos judiciais · Informe Trimestral · ID 1289610 · 06/2026 · versão 1 · p. 1 · Sobre a existência de processos judiciais envolvendo o FIDC. · https://fnet.bmfbovespa.com.br/fnet/publico/visualizarDocumento?id=1289610 · Sobre a existência de processos judiciais envolvendo o FIDC. O administrador do fundo não tem conhecimento de ações judiciais envolvendo o fundo no trimestre em referência.</a:t>
            </a:r>
          </a:p>
          <a:p>
            <a:r>
              <a:t>CNPJ 62552447000120 · Processos judiciais · Informe Trimestral · ID 1292043 · 06/2026 · versão 1 · p. 1 · Sobre a existência de processos judiciais envolvendo o FIDC. · https://fnet.bmfbovespa.com.br/fnet/publico/visualizarDocumento?id=1292043 · Sobre a existência de processos judiciais envolvendo o FIDC. O administrador do fundo não tem conhecimento de ações judiciais envolvendo o fundo no trimestre em referência.</a:t>
            </a:r>
          </a:p>
          <a:p>
            <a:r>
              <a:t>CNPJ 63953620000165 · Processos judiciais · Informe Trimestral · ID 1291068 · 06/2026 · versão 1 · p. 1 · Sobre a existência de processos judiciais envolvendo o FIDC. · https://fnet.bmfbovespa.com.br/fnet/publico/visualizarDocumento?id=1291068 · Sobre a existência de processos judiciais envolvendo o FIDC. O fundo está exposto as ações judiciais listadas abaixo:</a:t>
            </a:r>
          </a:p>
          <a:p>
            <a:r>
              <a:t>CNPJ 54871427000194 · Aquisição de precatórios · Informe Trimestral · ID 1291015 · 06/2026 · versão 1 · p. 1 · Sobre a aquisição de precatórios federais em fundos destinados ao público em geral. · https://fnet.bmfbovespa.com.br/fnet/publico/visualizarDocumento?id=1291015 · Sobre a aquisição de precatórios federais em fundos destinados ao público em geral. O fundo não se destina ao público em geral. As informações a seguir são destinadas à apresentação do relatório trimestral do gestor.</a:t>
            </a:r>
          </a:p>
          <a:p>
            <a:r>
              <a:t>CNPJ 60010416000112 · Aquisição de precatórios · Informe Trimestral · ID 1292034 · 06/2026 · versão 1 · p. 1 · Sobre a aquisição de precatórios federais em fundos destinados ao público em geral. · https://fnet.bmfbovespa.com.br/fnet/publico/visualizarDocumento?id=1292034 · Sobre a aquisição de precatórios federais em fundos destinados ao público em geral. O fundo adquiriu precatórios federais no trimestre em referência e está sujeito a eventual existência de impugnação judicial ou fatos supervenientes capazes de alterar a ordem ou o prazo de pagamento dos precatórios. As informações a seguir são destinadas à apresentação do relatório trimestral do gestor.</a:t>
            </a:r>
          </a:p>
          <a:p>
            <a:r>
              <a:t>CNPJ 62696791000193 · Aquisição de precatórios · Informe Trimestral · ID 1114465 · 12/2025 · versão 1 · p. 1 · Sobre a aquisição de precatórios federais em fundos destinados ao público em geral. · https://fnet.bmfbovespa.com.br/fnet/publico/visualizarDocumento?id=1114465 · Sobre a aquisição de precatórios federais em fundos destinados ao público em geral. O fundo não se destina ao público em geral. As informações a seguir são destinadas à apresentação do relatório trimestral do gestor. Em atendimento ao parágrafo § 4º, inciso V, artigo 27 da Resolução 175, informamos ainda que, até a data de divulgação deste demonstrativo trimestral, o gestor não encaminhou ao administrador o relatório trimestral da gestão, conforme estabelecido pela legislação em vigor.</a:t>
            </a:r>
          </a:p>
          <a:p>
            <a:r>
              <a:t>CNPJ 55563624000109 · Aquisição de precatórios · Informe Trimestral · ID 1289610 · 06/2026 · versão 1 · p. 1 · Sobre a aquisição de precatórios federais em fundos destinados ao público em geral. · https://fnet.bmfbovespa.com.br/fnet/publico/visualizarDocumento?id=1289610 · Sobre a aquisição de precatórios federais em fundos destinados ao público em geral. O fundo não se destina ao público em geral. As informações a seguir são destinadas à apresentação do relatório trimestral do gestor.</a:t>
            </a:r>
          </a:p>
          <a:p>
            <a:r>
              <a:t>CNPJ 62552447000120 · Aquisição de precatórios · Informe Trimestral · ID 1292043 · 06/2026 · versão 1 · p. 1 · Sobre a aquisição de precatórios federais em fundos destinados ao público em geral. · https://fnet.bmfbovespa.com.br/fnet/publico/visualizarDocumento?id=1292043 · Sobre a aquisição de precatórios federais em fundos destinados ao público em geral. O fundo não se destina ao público em geral. As informações a seguir são destinadas à apresentação do relatório trimestral do gestor.</a:t>
            </a:r>
          </a:p>
          <a:p>
            <a:r>
              <a:t>CNPJ 63953620000165 · Aquisição de precatórios · Informe Trimestral · ID 1291068 · 06/2026 · versão 1 · p. 1 · Sobre a aquisição de precatórios federais em fundos destinados ao público em geral. · https://fnet.bmfbovespa.com.br/fnet/publico/visualizarDocumento?id=1291068 · Sobre a aquisição de precatórios federais em fundos destinados ao público em geral. O fundo adquiriu precatórios federais no trimestre em referência e está sujeito a eventual existência de impugnação judicial ou fatos supervenientes capazes de alterar a ordem ou o prazo de pagamento dos precatórios. As informações a seguir são destinadas à apresentação do relatório trimestral do gestor.</a:t>
            </a:r>
          </a:p>
          <a:p>
            <a:r>
              <a:t>CNPJ 63953620000165 · Aquisição de precatórios · Anexo ao Regulamento · ID 1222863 · 02/06/2026 · versão AnexoConsignadoPrivado02/06/2026 · p. 6 · 4.14 · https://fnet.bmfbovespa.com.br/fnet/publico/visualizarDocumento?id=1222863 · 4.14 Nos termos do Art. 45, §7º, inciso II, do Anexo Normativo II da Resolução CVM 175, a Classe poderá ter até 100% (cem por cento) de seu Patrimônio Líquido alocado em Direitos Creditórios, derivativos, observado o disposto neste Anexo I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4.15 Sem prejuízo de limites</a:t>
            </a:r>
          </a:p>
          <a:p>
            <a:r>
              <a:t>CNPJ 63953620000165 · Aquisição de precatórios · Anexo ao Regulamento · ID 1222863 · 02/06/2026 · versão AnexoConsignadoPrivado02/06/2026 · p. 7 · 4.15(i)–(v) · https://fnet.bmfbovespa.com.br/fnet/publico/visualizarDocumento?id=1222863 · (i)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CNPJ 54871427000194 · Alterações da política de investimento · Informe Trimestral · ID 1291015 · 06/2026 · versão 1 · p. 1 · Impactos de eventual alteração na política de investimento sobre a rentabilidade do Fundo. · https://fnet.bmfbovespa.com.br/fnet/publico/visualizarDocumento?id=1291015 · Impactos de eventual alteração na política de investimento sobre a rentabilidade do Fundo. Não se aplica, pois não ocorreram alterações na política de investimento do fundo no trimestre em referência.</a:t>
            </a:r>
          </a:p>
          <a:p>
            <a:r>
              <a:t>CNPJ 60010416000112 · Alterações da política de investimento · Informe Trimestral · ID 1292034 · 06/2026 · versão 1 · p. 1 · Impactos de eventual alteração na política de investimento sobre a rentabilidade do Fundo. · https://fnet.bmfbovespa.com.br/fnet/publico/visualizarDocumento?id=1292034 · Impactos de eventual alteração na política de investimento sobre a rentabilidade do Fundo. Não foram observados impactos significativos na rentabilidade do fundo, em função das alterações ocorridas em seu regulamento no trimestre em referência.</a:t>
            </a:r>
          </a:p>
          <a:p>
            <a:r>
              <a:t>CNPJ 62552447000120 · Alterações da política de investimento · Informe Trimestral · ID 1292043 · 06/2026 · versão 1 · p. 1 · Impactos de eventual alteração na política de investimento sobre a rentabilidade do Fundo. · https://fnet.bmfbovespa.com.br/fnet/publico/visualizarDocumento?id=1292043 · Impactos de eventual alteração na política de investimento sobre a rentabilidade do Fundo. Não se aplica, pois não ocorreram alterações na política de investimento do fundo no trimestre em referência.</a:t>
            </a:r>
          </a:p>
          <a:p>
            <a:r>
              <a:t>CNPJ 63953620000165 · Alterações da política de investimento · Informe Trimestral · ID 1291068 · 06/2026 · versão 1 · p. 1 · Impactos de eventual alteração na política de investimento sobre a rentabilidade do Fundo. · https://fnet.bmfbovespa.com.br/fnet/publico/visualizarDocumento?id=1291068 · Impactos de eventual alteração na política de investimento sobre a rentabilidade do Fundo. Não foram observados impactos significativos na rentabilidade do fundo, em função das alterações ocorridas em seu regulamento no trimestre em referência.</a:t>
            </a:r>
          </a:p>
          <a:p>
            <a:r>
              <a:t>CNPJ 54871427000194 · Critérios de concessão dos originadores · Informe Trimestral · ID 1291015 · 06/2026 · versão 1 · p. 2 · Critérios para a concessão de crédito adotados pelos originadores, que representem 10% ou mais da carteira de direitos creditórios no trimestre. · https://fnet.bmfbovespa.com.br/fnet/publico/visualizarDocumento?id=1291015 · Critérios para a concessão de crédito adotados pelos originadores, que representem 10% ou mais da carteira de direitos creditórios no trimestre. Os critérios para a concessão de crédito adotados pelos originadores do fundo não foram alterados no último trimestre, conforme descrito em seu regulamento.</a:t>
            </a:r>
          </a:p>
          <a:p>
            <a:r>
              <a:t>CNPJ 60010416000112 · Critérios de concessão dos originadores · Informe Trimestral · ID 1292034 · 06/2026 · versão 1 · p. 2 · Critérios para a concessão de crédito adotados pelos originadores, que representem 10% ou mais da carteira de direitos creditórios no trimestre. · https://fnet.bmfbovespa.com.br/fnet/publico/visualizarDocumento?id=1292034 · Critérios para a concessão de crédito adotados pelos originadores, que representem 10% ou mais da carteira de direitos creditórios no trimestre. Os critérios para a concessão de crédito adotados pelos originadores do fundo foram alterados no último trimestre, conforme descrito em seu regulamento.</a:t>
            </a:r>
          </a:p>
          <a:p>
            <a:r>
              <a:t>CNPJ 55563624000109 · Critérios de concessão dos originadores · Informe Trimestral · ID 1289610 · 06/2026 · versão 1 · p. 2–3 · Critériosparaaconcessãodecréditoadotadospelosoriginadores,casotaiscritériosnãotenhamsido descritos no regulamento ou em outros demonstrativos trimestrais; Resposta:Nãoocorreramalteraçõesrelevantesnoscritériosparaaconcessãodecrédito. · https://fnet.bmfbovespa.com.br/fnet/publico/visualizarDocumento?id=1289610 · Critériosparaaconcessãodecréditoadotadospelosoriginadores,casotaiscritériosnãotenhamsido descritos no regulamento ou em outros demonstrativos trimestrais; Resposta:Nãoocorreramalteraçõesrelevantesnoscritériosparaaconcessãodecrédito. Eventuaisalteraçõesnoscritériosparaaconcessãodecréditoadotadosportaisoriginadores,casooscritériosadotadosjátenh amsidodescritosnoregulamentoouemoutrosdemonstrativostrimestrais;Resposta:Nãoocorreramalteraçõesrelevant esnoscritériosparaaconcessãodecrédito. Eventuaisalteraçõesnasgarantiasexistentesparaoconjuntodedireitoscreditórios; Resposta:Nãoocorreramalteraçõesrelevantesnas garantiasexistentesparao conjuntodeativos. Formacomoseoperouacessãodosdireitoscreditórios,incluindo: a)descriçãodecontratosrelevantesfirmadoscomessepropósito,sehouver;eb)indicaçãodocaráter definitivo, ou não, da cessão de direitos creditórios; Resposta:Ascessõesdedireitoscreditóriosocorreramtodasdeformadefinitiva,deacordocomodisposto no regulamento e/ou nos respectivos contratos. Nomedofundo:PLGNMARKETFCFIDC CNPJ: 55563624000109 Impactodoseventosdepré- pagamentonovalordopatrimôniolíquidoenarentabilidadedacarteira;Resposta:Existemeventosdepré- pagamentoemfundospulverizadosnocursonormaldosnegócios que não geram, por si só, impacto significativo no patrimônio líquido e na rentabilidade da carteira.</a:t>
            </a:r>
          </a:p>
          <a:p>
            <a:r>
              <a:t>CNPJ 63953620000165 · Critérios de concessão dos originadores · Informe Trimestral · ID 1291068 · 06/2026 · versão 1 · p. 2 · Critérios para a concessão de crédito adotados pelos originadores, que representem 10% ou mais da carteira de direitos creditórios no trimestre. · https://fnet.bmfbovespa.com.br/fnet/publico/visualizarDocumento?id=1291068 · Critérios para a concessão de crédito adotados pelos originadores, que representem 10% ou mais da carteira de direitos creditórios no trimestre. Os critérios para a concessão de crédito adotados pelos originadores do fundo foram alterados no último trimestre, conforme descrito em seu regulamento.</a:t>
            </a:r>
          </a:p>
          <a:p>
            <a:r>
              <a:t>CNPJ 54871427000194 · Alterações das garantias · Informe Trimestral · ID 1291015 · 06/2026 · versão 1 · p. 2 · Sobre as garantias existentes. · https://fnet.bmfbovespa.com.br/fnet/publico/visualizarDocumento?id=1291015 · Sobre as garantias existentes. Não ocorreram alterações nas garantias existentes para o conjunto de direitos creditórios adquiridos pelo fundo.</a:t>
            </a:r>
          </a:p>
          <a:p>
            <a:r>
              <a:t>CNPJ 60010416000112 · Alterações das garantias · Informe Trimestral · ID 1292034 · 06/2026 · versão 1 · p. 2 · Sobre as garantias existentes. · https://fnet.bmfbovespa.com.br/fnet/publico/visualizarDocumento?id=1292034 · Sobre as garantias existentes. Ocorreram alterações nas garantias existentes para o conjunto de direitos creditórios adquiridos pelo fundo.</a:t>
            </a:r>
          </a:p>
          <a:p>
            <a:r>
              <a:t>CNPJ 62552447000120 · Alterações das garantias · Informe Trimestral · ID 1292043 · 06/2026 · versão 1 · p. 2 · Sobre as garantias existentes. · https://fnet.bmfbovespa.com.br/fnet/publico/visualizarDocumento?id=1292043 · Sobre as garantias existentes. Não ocorreram alterações nas garantias existentes para o conjunto de direitos creditórios adquiridos pelo fundo.</a:t>
            </a:r>
          </a:p>
          <a:p>
            <a:r>
              <a:t>CNPJ 63953620000165 · Alterações das garantias · Informe Trimestral · ID 1291068 · 06/2026 · versão 1 · p. 2 · Sobre as garantias existentes. · https://fnet.bmfbovespa.com.br/fnet/publico/visualizarDocumento?id=1291068 · Sobre as garantias existentes. Ocorreram alterações nas garantias existentes para o conjunto de direitos creditórios adquiridos pelo fundo.</a:t>
            </a:r>
          </a:p>
          <a:p>
            <a:r>
              <a:t>CNPJ 54871427000194 · Cessões no trimestre · Informe Trimestral · ID 1291015 · 06/2026 · versão 1 · p. 2 · Sobre a cessão dos direitos creditórios no período. · https://fnet.bmfbovespa.com.br/fnet/publico/visualizarDocumento?id=1291015 · Sobre a cessão dos direitos creditórios no período. Não se aplica, visto que não foram emitidas novas cessões de direitos creditórios no período.</a:t>
            </a:r>
          </a:p>
          <a:p>
            <a:r>
              <a:t>CNPJ 60010416000112 · Cessões no trimestre · Informe Trimestral · ID 1292034 · 06/2026 · versão 1 · p. 2 · Sobre a cessão dos direitos creditórios no período. · https://fnet.bmfbovespa.com.br/fnet/publico/visualizarDocumento?id=1292034 · Sobre a cessão dos direitos creditórios no período. Ocorreram novas cessões de direitos creditórios no período em referência e os novos contratos foram firmados com o caráter definitivo para o fundo.</a:t>
            </a:r>
          </a:p>
          <a:p>
            <a:r>
              <a:t>CNPJ 62552447000120 · Cessões no trimestre · Informe Trimestral · ID 1292043 · 06/2026 · versão 1 · p. 2 · Sobre a cessão dos direitos creditórios no período. · https://fnet.bmfbovespa.com.br/fnet/publico/visualizarDocumento?id=1292043 · Sobre a cessão dos direitos creditórios no período. Ocorreram novas cessões de direitos creditórios no período em referência e os novos contratos foram firmados com o caráter definitivo para o fundo.</a:t>
            </a:r>
          </a:p>
          <a:p>
            <a:r>
              <a:t>CNPJ 63953620000165 · Cessões no trimestre · Informe Trimestral · ID 1291068 · 06/2026 · versão 1 · p. 2 · Sobre a cessão dos direitos creditórios no período. · https://fnet.bmfbovespa.com.br/fnet/publico/visualizarDocumento?id=1291068 · Sobre a cessão dos direitos creditórios no período. Ocorreram novas cessões de direitos creditórios no período em referência e os novos contratos foram firmados com o caráter definitivo para o fundo.</a:t>
            </a:r>
          </a:p>
          <a:p>
            <a:r>
              <a:t>CNPJ 54871427000194 · Eventos de pré-pagamento · Informe Trimestral · ID 1291015 · 06/2026 · versão 1 · p. 2 · Sobre os impactos dos eventos de pré-pagamento. · https://fnet.bmfbovespa.com.br/fnet/publico/visualizarDocumento?id=1291015 · Sobre os impactos dos eventos de pré-pagamento. Não se aplica, visto que não ocorreram eventos de pré-pagamento no último trimestre.</a:t>
            </a:r>
          </a:p>
          <a:p>
            <a:r>
              <a:t>CNPJ 60010416000112 · Eventos de pré-pagamento · Informe Trimestral · ID 1292034 · 06/2026 · versão 1 · p. 2 · Sobre os impactos dos eventos de pré-pagamento. · https://fnet.bmfbovespa.com.br/fnet/publico/visualizarDocumento?id=1292034 · Sobre os impactos dos eventos de pré-pagamento. O fundo teve eventos de pré-pagamento no último trimestre, mas não foram observados impactos relevantes no patrimônio líquido e na carteira do fundo.</a:t>
            </a:r>
          </a:p>
          <a:p>
            <a:r>
              <a:t>CNPJ 62552447000120 · Eventos de pré-pagamento · Informe Trimestral · ID 1292043 · 06/2026 · versão 1 · p. 2 · Sobre os impactos dos eventos de pré-pagamento. · https://fnet.bmfbovespa.com.br/fnet/publico/visualizarDocumento?id=1292043 · Sobre os impactos dos eventos de pré-pagamento. O fundo teve eventos de pré-pagamento no último trimestre, mas não foram observados impactos relevantes no patrimônio líquido e na carteira do fundo.</a:t>
            </a:r>
          </a:p>
          <a:p>
            <a:r>
              <a:t>CNPJ 63953620000165 · Eventos de pré-pagamento · Informe Trimestral · ID 1291068 · 06/2026 · versão 1 · p. 2 · Sobre os impactos dos eventos de pré-pagamento. · https://fnet.bmfbovespa.com.br/fnet/publico/visualizarDocumento?id=1291068 · Sobre os impactos dos eventos de pré-pagamento. O fundo teve eventos de pré-pagamento no último trimestre, mas não foram observados impactos relevantes no patrimônio líquido e na carteira do fundo.</a:t>
            </a:r>
          </a:p>
          <a:p>
            <a:r>
              <a:t>CNPJ 54871427000194 · Alienação de direitos creditórios · Informe Trimestral · ID 1291015 · 06/2026 · versão 1 · p. 2 · Sobre as condições de alienação dos direitos creditórios. · https://fnet.bmfbovespa.com.br/fnet/publico/visualizarDocumento?id=1291015 · Sobre as condições de alienação dos direitos creditórios. Não se aplica, visto que não ocorreram eventos de alienação neste trimestre.</a:t>
            </a:r>
          </a:p>
          <a:p>
            <a:r>
              <a:t>CNPJ 60010416000112 · Alienação de direitos creditórios · Informe Trimestral · ID 1292034 · 06/2026 · versão 1 · p. 2 · Sobre as condições de alienação dos direitos creditórios. · https://fnet.bmfbovespa.com.br/fnet/publico/visualizarDocumento?id=1292034 · Sobre as condições de alienação dos direitos creditórios. No trimestre base o fundo teve eventos de alienação de uma parcela dos direitos creditórios de sua carteira. Como principal motivo para a realização desta operação temos: A realocação de investimentos da carteira.</a:t>
            </a:r>
          </a:p>
          <a:p>
            <a:r>
              <a:t>CNPJ 55563624000109 · Alienação de direitos creditórios · Informe Trimestral · ID 1289610 · 06/2026 · versão 1 · p. 3 · Condiçõesdealienação,aqualquertítulo,dedireitoscreditórios,incluindo: · https://fnet.bmfbovespa.com.br/fnet/publico/visualizarDocumento?id=1289610 · Condiçõesdealienação,aqualquertítulo,dedireitoscreditórios,incluindo: Momentodaalienação(antesoudepoisdovencimento); Resposta: Não ocorreram alienação de ativos da carteira do Fundo, exceto no curso normal dosnegócios. Motivaçãodaalienação; Resposta: Não ocorreram alienação de ativos da carteira do Fundo, exceto no curso normal dosnegócios. Impactonovalordopatrimôniolíquidoenarentabilidadedacarteiradeativosdeumapossível descontinuidade, a qualquer título, da originação ou cessão de direitos creditórios; Resposta:Nãohá. Informaçõessobrefatosocorridosqueafetaramaregularidadedosfluxosfinanceirosoriundosdos direitoscreditórios,incluindo,masnãoselimitando,aquaisquereventosqueacarretemnaliquidação ou amortização antecipada de direitos creditórios. Resposta: Não ocorreram eventos relevantes que acarretaram a regularidade dos fluxos financeirosoriundos dos direitos creditórios.</a:t>
            </a:r>
          </a:p>
          <a:p>
            <a:r>
              <a:t>CNPJ 62552447000120 · Alienação de direitos creditórios · Informe Trimestral · ID 1292043 · 06/2026 · versão 1 · p. 2 · Sobre as condições de alienação dos direitos creditórios. · https://fnet.bmfbovespa.com.br/fnet/publico/visualizarDocumento?id=1292043 · Sobre as condições de alienação dos direitos creditórios. Não se aplica, visto que não ocorreram eventos de alienação neste trimestre.</a:t>
            </a:r>
          </a:p>
          <a:p>
            <a:r>
              <a:t>CNPJ 63953620000165 · Alienação de direitos creditórios · Informe Trimestral · ID 1291068 · 06/2026 · versão 1 · p. 2 · Sobre as condições de alienação dos direitos creditórios. · https://fnet.bmfbovespa.com.br/fnet/publico/visualizarDocumento?id=1291068 · Sobre as condições de alienação dos direitos creditórios. No trimestre base o fundo teve eventos de alienação de uma parcela dos direitos creditórios de sua carteira. Como principal motivo para a realização desta operação temos: A realocação de investimentos da carteira.</a:t>
            </a:r>
          </a:p>
          <a:p>
            <a:r>
              <a:t>CNPJ 54871427000194 · Descontinuidade de originação ou cessão · Informe Trimestral · ID 1291015 · 06/2026 · versão 1 · p. 2 · Sobre a descontinuidade da originação ou cessão dos direitos creditórios do fundo. · https://fnet.bmfbovespa.com.br/fnet/publico/visualizarDocumento?id=1291015 · Sobre a descontinuidade da originação ou cessão dos direitos creditórios do fundo. O regulamento do fundo estabelece as condições mínimas previstas para descontinuidade da originação ou cessão dos direitos creditórios investidos, sendo certo que quaisquer alterações nestes critérios serão divulgadas a mercado, por meio de fato relevante ou através dos canais oficiais de registro do fundo.</a:t>
            </a:r>
          </a:p>
          <a:p>
            <a:r>
              <a:t>CNPJ 60010416000112 · Descontinuidade de originação ou cessão · Informe Trimestral · ID 1292034 · 06/2026 · versão 1 · p. 2 · Sobre a descontinuidade da originação ou cessão dos direitos creditórios do fundo. · https://fnet.bmfbovespa.com.br/fnet/publico/visualizarDocumento?id=1292034 · Sobre a descontinuidade da originação ou cessão dos direitos creditórios do fundo. Foram observados impactos significativos na rentabilidade do fundo, em função da descontinuidade da originação de direitos creditórios no trimestre em referência.</a:t>
            </a:r>
          </a:p>
          <a:p>
            <a:r>
              <a:t>CNPJ 62552447000120 · Descontinuidade de originação ou cessão · Informe Trimestral · ID 1292043 · 06/2026 · versão 1 · p. 2 · Sobre a descontinuidade da originação ou cessão dos direitos creditórios do fundo. · https://fnet.bmfbovespa.com.br/fnet/publico/visualizarDocumento?id=1292043 · Sobre a descontinuidade da originação ou cessão dos direitos creditórios do fundo. Não se aplica, visto que não foram observados impactos significativos na rentabilidade do fundo, em função da descontinuidade da originação de direitos creditórios no trimestre em referência.</a:t>
            </a:r>
          </a:p>
          <a:p>
            <a:r>
              <a:t>CNPJ 63953620000165 · Descontinuidade de originação ou cessão · Informe Trimestral · ID 1291068 · 06/2026 · versão 1 · p. 2 · Sobre a descontinuidade da originação ou cessão dos direitos creditórios do fundo. · https://fnet.bmfbovespa.com.br/fnet/publico/visualizarDocumento?id=1291068 · Sobre a descontinuidade da originação ou cessão dos direitos creditórios do fundo. Foram observados impactos significativos na rentabilidade do fundo, em função da descontinuidade da originação de direitos creditórios no trimestre em referência.</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Declarações trimestrais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Resultado da verificação de lastro · Informe Trimestral · ID 1291015 · 06/2026 · versão 1 · p. 1 · Sobre os resultados da última verificação do lastro dos direitos creditórios do fundo. · https://fnet.bmfbovespa.com.br/fnet/publico/visualizarDocumento?id=1291015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60010416000112 · Resultado da verificação de lastro · Informe Trimestral · ID 1292034 · 06/2026 · versão 1 · p. 1 · Sobre os resultados da última verificação do lastro dos direitos creditórios do fundo. · https://fnet.bmfbovespa.com.br/fnet/publico/visualizarDocumento?id=1292034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62696791000193 · Resultado da verificação de lastro · Informe Trimestral · ID 1114465 · 12/2025 · versão 1 · p. 1 · Sobre os resultados da última verificação do lastro dos direitos creditórios do fundo. · https://fnet.bmfbovespa.com.br/fnet/publico/visualizarDocumento?id=1114465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55563624000109 · Resultado da verificação de lastro · Informe Trimestral · ID 1289610 · 06/2026 · versão 1 · p. 1 · Sobre os resultados da última verificação do lastro dos direitos creditórios do fundo. · https://fnet.bmfbovespa.com.br/fnet/publico/visualizarDocumento?id=1289610 · Sobre os resultados da última verificação do lastro dos direitos creditórios do fundo. Informamos que o Fundo dispensa a verificação de lastro dos direitos creditórios.</a:t>
            </a:r>
          </a:p>
          <a:p>
            <a:r>
              <a:t>CNPJ 62552447000120 · Resultado da verificação de lastro · Informe Trimestral · ID 1292043 · 06/2026 · versão 1 · p. 1 · Sobre os resultados da última verificação do lastro dos direitos creditórios do fundo. · https://fnet.bmfbovespa.com.br/fnet/publico/visualizarDocumento?id=1292043 · Sobre os resultados da última verificação do lastro dos direitos creditórios do fundo. Informamos que o Fundo dispensa a verificação de lastro dos direitos creditórios.</a:t>
            </a:r>
          </a:p>
          <a:p>
            <a:r>
              <a:t>CNPJ 63953620000165 · Resultado da verificação de lastro · Informe Trimestral · ID 1291068 · 06/2026 · versão 1 · p. 1 · Sobre os resultados da última verificação do lastro dos direitos creditórios do fundo. · https://fnet.bmfbovespa.com.br/fnet/publico/visualizarDocumento?id=1291068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54871427000194 · Registro dos direitos creditórios · Informe Trimestral · ID 1291015 · 06/2026 · versão 1 · p. 1 · Sobre o registro dos direitos creditórios em entidade registradora. · https://fnet.bmfbovespa.com.br/fnet/publico/visualizarDocumento?id=1291015 · Sobre o registro dos direitos creditórios em entidade registradora. Todos os créditos estão liberados para registro.</a:t>
            </a:r>
          </a:p>
          <a:p>
            <a:r>
              <a:t>CNPJ 60010416000112 · Registro dos direitos creditórios · Informe Trimestral · ID 1292034 · 06/2026 · versão 1 · p. 1 · Sobre o registro dos direitos creditórios em entidade registradora. · https://fnet.bmfbovespa.com.br/fnet/publico/visualizarDocumento?id=1292034 · Sobre o registro dos direitos creditórios em entidade registradora. Todos os créditos estão liberados para registro.</a:t>
            </a:r>
          </a:p>
          <a:p>
            <a:r>
              <a:t>CNPJ 62696791000193 · Registro dos direitos creditórios · Informe Trimestral · ID 1114465 · 12/2025 · versão 1 · p. 1 · Sobre o registro dos direitos creditórios em entidade registradora. · https://fnet.bmfbovespa.com.br/fnet/publico/visualizarDocumento?id=1114465 · Sobre o registro dos direitos creditórios em entidade registradora. Todos os créditos estão liberados para registro.</a:t>
            </a:r>
          </a:p>
          <a:p>
            <a:r>
              <a:t>CNPJ 55563624000109 · Registro dos direitos creditórios · Informe Trimestral · ID 1289610 · 06/2026 · versão 1 · p. 1 · Sobre o registro dos direitos creditórios em entidade registradora. · https://fnet.bmfbovespa.com.br/fnet/publico/visualizarDocumento?id=1289610 · Sobre o registro dos direitos creditórios em entidade registradora. Todos os créditos estão liberados para registro.</a:t>
            </a:r>
          </a:p>
          <a:p>
            <a:r>
              <a:t>CNPJ 62552447000120 · Registro dos direitos creditórios · Informe Trimestral · ID 1292043 · 06/2026 · versão 1 · p. 1 · Sobre o registro dos direitos creditórios em entidade registradora. · https://fnet.bmfbovespa.com.br/fnet/publico/visualizarDocumento?id=1292043 · Sobre o registro dos direitos creditórios em entidade registradora. Todos os créditos estão liberados para registro.</a:t>
            </a:r>
          </a:p>
          <a:p>
            <a:r>
              <a:t>CNPJ 63953620000165 · Registro dos direitos creditórios · Informe Trimestral · ID 1291068 · 06/2026 · versão 1 · p. 1 · Sobre o registro dos direitos creditórios em entidade registradora. · https://fnet.bmfbovespa.com.br/fnet/publico/visualizarDocumento?id=1291068 · Sobre o registro dos direitos creditórios em entidade registradora. Todos os créditos estão liberados para registro.</a:t>
            </a:r>
          </a:p>
          <a:p>
            <a:r>
              <a:t>CNPJ 54871427000194 · Processos judiciais · Informe Trimestral · ID 1291015 · 06/2026 · versão 1 · p. 1 · Sobre a existência de processos judiciais envolvendo o FIDC. · https://fnet.bmfbovespa.com.br/fnet/publico/visualizarDocumento?id=1291015 · Sobre a existência de processos judiciais envolvendo o FIDC. O administrador do fundo não tem conhecimento de ações judiciais envolvendo o fundo no trimestre em referência.</a:t>
            </a:r>
          </a:p>
          <a:p>
            <a:r>
              <a:t>CNPJ 60010416000112 · Processos judiciais · Informe Trimestral · ID 1292034 · 06/2026 · versão 1 · p. 1 · Sobre a existência de processos judiciais envolvendo o FIDC. · https://fnet.bmfbovespa.com.br/fnet/publico/visualizarDocumento?id=1292034 · Sobre a existência de processos judiciais envolvendo o FIDC. O fundo está exposto as ações judiciais listadas abaixo:</a:t>
            </a:r>
          </a:p>
          <a:p>
            <a:r>
              <a:t>CNPJ 62696791000193 · Processos judiciais · Informe Trimestral · ID 1114465 · 12/2025 · versão 1 · p. 1 · Sobre a existência de processos judiciais envolvendo o FIDC. · https://fnet.bmfbovespa.com.br/fnet/publico/visualizarDocumento?id=1114465 · Sobre a existência de processos judiciais envolvendo o FIDC. O administrador do fundo não tem conhecimento de ações judiciais envolvendo o fundo no trimestre em referência.</a:t>
            </a:r>
          </a:p>
          <a:p>
            <a:r>
              <a:t>CNPJ 55563624000109 · Processos judiciais · Informe Trimestral · ID 1289610 · 06/2026 · versão 1 · p. 1 · Sobre a existência de processos judiciais envolvendo o FIDC. · https://fnet.bmfbovespa.com.br/fnet/publico/visualizarDocumento?id=1289610 · Sobre a existência de processos judiciais envolvendo o FIDC. O administrador do fundo não tem conhecimento de ações judiciais envolvendo o fundo no trimestre em referência.</a:t>
            </a:r>
          </a:p>
          <a:p>
            <a:r>
              <a:t>CNPJ 62552447000120 · Processos judiciais · Informe Trimestral · ID 1292043 · 06/2026 · versão 1 · p. 1 · Sobre a existência de processos judiciais envolvendo o FIDC. · https://fnet.bmfbovespa.com.br/fnet/publico/visualizarDocumento?id=1292043 · Sobre a existência de processos judiciais envolvendo o FIDC. O administrador do fundo não tem conhecimento de ações judiciais envolvendo o fundo no trimestre em referência.</a:t>
            </a:r>
          </a:p>
          <a:p>
            <a:r>
              <a:t>CNPJ 63953620000165 · Processos judiciais · Informe Trimestral · ID 1291068 · 06/2026 · versão 1 · p. 1 · Sobre a existência de processos judiciais envolvendo o FIDC. · https://fnet.bmfbovespa.com.br/fnet/publico/visualizarDocumento?id=1291068 · Sobre a existência de processos judiciais envolvendo o FIDC. O fundo está exposto as ações judiciais listadas abaixo:</a:t>
            </a:r>
          </a:p>
          <a:p>
            <a:r>
              <a:t>CNPJ 54871427000194 · Aquisição de precatórios · Informe Trimestral · ID 1291015 · 06/2026 · versão 1 · p. 1 · Sobre a aquisição de precatórios federais em fundos destinados ao público em geral. · https://fnet.bmfbovespa.com.br/fnet/publico/visualizarDocumento?id=1291015 · Sobre a aquisição de precatórios federais em fundos destinados ao público em geral. O fundo não se destina ao público em geral. As informações a seguir são destinadas à apresentação do relatório trimestral do gestor.</a:t>
            </a:r>
          </a:p>
          <a:p>
            <a:r>
              <a:t>CNPJ 60010416000112 · Aquisição de precatórios · Informe Trimestral · ID 1292034 · 06/2026 · versão 1 · p. 1 · Sobre a aquisição de precatórios federais em fundos destinados ao público em geral. · https://fnet.bmfbovespa.com.br/fnet/publico/visualizarDocumento?id=1292034 · Sobre a aquisição de precatórios federais em fundos destinados ao público em geral. O fundo adquiriu precatórios federais no trimestre em referência e está sujeito a eventual existência de impugnação judicial ou fatos supervenientes capazes de alterar a ordem ou o prazo de pagamento dos precatórios. As informações a seguir são destinadas à apresentação do relatório trimestral do gestor.</a:t>
            </a:r>
          </a:p>
          <a:p>
            <a:r>
              <a:t>CNPJ 62696791000193 · Aquisição de precatórios · Informe Trimestral · ID 1114465 · 12/2025 · versão 1 · p. 1 · Sobre a aquisição de precatórios federais em fundos destinados ao público em geral. · https://fnet.bmfbovespa.com.br/fnet/publico/visualizarDocumento?id=1114465 · Sobre a aquisição de precatórios federais em fundos destinados ao público em geral. O fundo não se destina ao público em geral. As informações a seguir são destinadas à apresentação do relatório trimestral do gestor. Em atendimento ao parágrafo § 4º, inciso V, artigo 27 da Resolução 175, informamos ainda que, até a data de divulgação deste demonstrativo trimestral, o gestor não encaminhou ao administrador o relatório trimestral da gestão, conforme estabelecido pela legislação em vigor.</a:t>
            </a:r>
          </a:p>
          <a:p>
            <a:r>
              <a:t>CNPJ 55563624000109 · Aquisição de precatórios · Informe Trimestral · ID 1289610 · 06/2026 · versão 1 · p. 1 · Sobre a aquisição de precatórios federais em fundos destinados ao público em geral. · https://fnet.bmfbovespa.com.br/fnet/publico/visualizarDocumento?id=1289610 · Sobre a aquisição de precatórios federais em fundos destinados ao público em geral. O fundo não se destina ao público em geral. As informações a seguir são destinadas à apresentação do relatório trimestral do gestor.</a:t>
            </a:r>
          </a:p>
          <a:p>
            <a:r>
              <a:t>CNPJ 62552447000120 · Aquisição de precatórios · Informe Trimestral · ID 1292043 · 06/2026 · versão 1 · p. 1 · Sobre a aquisição de precatórios federais em fundos destinados ao público em geral. · https://fnet.bmfbovespa.com.br/fnet/publico/visualizarDocumento?id=1292043 · Sobre a aquisição de precatórios federais em fundos destinados ao público em geral. O fundo não se destina ao público em geral. As informações a seguir são destinadas à apresentação do relatório trimestral do gestor.</a:t>
            </a:r>
          </a:p>
          <a:p>
            <a:r>
              <a:t>CNPJ 63953620000165 · Aquisição de precatórios · Informe Trimestral · ID 1291068 · 06/2026 · versão 1 · p. 1 · Sobre a aquisição de precatórios federais em fundos destinados ao público em geral. · https://fnet.bmfbovespa.com.br/fnet/publico/visualizarDocumento?id=1291068 · Sobre a aquisição de precatórios federais em fundos destinados ao público em geral. O fundo adquiriu precatórios federais no trimestre em referência e está sujeito a eventual existência de impugnação judicial ou fatos supervenientes capazes de alterar a ordem ou o prazo de pagamento dos precatórios. As informações a seguir são destinadas à apresentação do relatório trimestral do gestor.</a:t>
            </a:r>
          </a:p>
          <a:p>
            <a:r>
              <a:t>CNPJ 63953620000165 · Aquisição de precatórios · Anexo ao Regulamento · ID 1222863 · 02/06/2026 · versão AnexoConsignadoPrivado02/06/2026 · p. 6 · 4.14 · https://fnet.bmfbovespa.com.br/fnet/publico/visualizarDocumento?id=1222863 · 4.14 Nos termos do Art. 45, §7º, inciso II, do Anexo Normativo II da Resolução CVM 175, a Classe poderá ter até 100% (cem por cento) de seu Patrimônio Líquido alocado em Direitos Creditórios, derivativos, observado o disposto neste Anexo I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4.15 Sem prejuízo de limites</a:t>
            </a:r>
          </a:p>
          <a:p>
            <a:r>
              <a:t>CNPJ 63953620000165 · Aquisição de precatórios · Anexo ao Regulamento · ID 1222863 · 02/06/2026 · versão AnexoConsignadoPrivado02/06/2026 · p. 7 · 4.15(i)–(v) · https://fnet.bmfbovespa.com.br/fnet/publico/visualizarDocumento?id=1222863 · (i)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CNPJ 54871427000194 · Alterações da política de investimento · Informe Trimestral · ID 1291015 · 06/2026 · versão 1 · p. 1 · Impactos de eventual alteração na política de investimento sobre a rentabilidade do Fundo. · https://fnet.bmfbovespa.com.br/fnet/publico/visualizarDocumento?id=1291015 · Impactos de eventual alteração na política de investimento sobre a rentabilidade do Fundo. Não se aplica, pois não ocorreram alterações na política de investimento do fundo no trimestre em referência.</a:t>
            </a:r>
          </a:p>
          <a:p>
            <a:r>
              <a:t>CNPJ 60010416000112 · Alterações da política de investimento · Informe Trimestral · ID 1292034 · 06/2026 · versão 1 · p. 1 · Impactos de eventual alteração na política de investimento sobre a rentabilidade do Fundo. · https://fnet.bmfbovespa.com.br/fnet/publico/visualizarDocumento?id=1292034 · Impactos de eventual alteração na política de investimento sobre a rentabilidade do Fundo. Não foram observados impactos significativos na rentabilidade do fundo, em função das alterações ocorridas em seu regulamento no trimestre em referência.</a:t>
            </a:r>
          </a:p>
          <a:p>
            <a:r>
              <a:t>CNPJ 62552447000120 · Alterações da política de investimento · Informe Trimestral · ID 1292043 · 06/2026 · versão 1 · p. 1 · Impactos de eventual alteração na política de investimento sobre a rentabilidade do Fundo. · https://fnet.bmfbovespa.com.br/fnet/publico/visualizarDocumento?id=1292043 · Impactos de eventual alteração na política de investimento sobre a rentabilidade do Fundo. Não se aplica, pois não ocorreram alterações na política de investimento do fundo no trimestre em referência.</a:t>
            </a:r>
          </a:p>
          <a:p>
            <a:r>
              <a:t>CNPJ 63953620000165 · Alterações da política de investimento · Informe Trimestral · ID 1291068 · 06/2026 · versão 1 · p. 1 · Impactos de eventual alteração na política de investimento sobre a rentabilidade do Fundo. · https://fnet.bmfbovespa.com.br/fnet/publico/visualizarDocumento?id=1291068 · Impactos de eventual alteração na política de investimento sobre a rentabilidade do Fundo. Não foram observados impactos significativos na rentabilidade do fundo, em função das alterações ocorridas em seu regulamento no trimestre em referência.</a:t>
            </a:r>
          </a:p>
          <a:p>
            <a:r>
              <a:t>CNPJ 54871427000194 · Critérios de concessão dos originadores · Informe Trimestral · ID 1291015 · 06/2026 · versão 1 · p. 2 · Critérios para a concessão de crédito adotados pelos originadores, que representem 10% ou mais da carteira de direitos creditórios no trimestre. · https://fnet.bmfbovespa.com.br/fnet/publico/visualizarDocumento?id=1291015 · Critérios para a concessão de crédito adotados pelos originadores, que representem 10% ou mais da carteira de direitos creditórios no trimestre. Os critérios para a concessão de crédito adotados pelos originadores do fundo não foram alterados no último trimestre, conforme descrito em seu regulamento.</a:t>
            </a:r>
          </a:p>
          <a:p>
            <a:r>
              <a:t>CNPJ 60010416000112 · Critérios de concessão dos originadores · Informe Trimestral · ID 1292034 · 06/2026 · versão 1 · p. 2 · Critérios para a concessão de crédito adotados pelos originadores, que representem 10% ou mais da carteira de direitos creditórios no trimestre. · https://fnet.bmfbovespa.com.br/fnet/publico/visualizarDocumento?id=1292034 · Critérios para a concessão de crédito adotados pelos originadores, que representem 10% ou mais da carteira de direitos creditórios no trimestre. Os critérios para a concessão de crédito adotados pelos originadores do fundo foram alterados no último trimestre, conforme descrito em seu regulamento.</a:t>
            </a:r>
          </a:p>
          <a:p>
            <a:r>
              <a:t>CNPJ 55563624000109 · Critérios de concessão dos originadores · Informe Trimestral · ID 1289610 · 06/2026 · versão 1 · p. 2–3 · Critériosparaaconcessãodecréditoadotadospelosoriginadores,casotaiscritériosnãotenhamsido descritos no regulamento ou em outros demonstrativos trimestrais; Resposta:Nãoocorreramalteraçõesrelevantesnoscritériosparaaconcessãodecrédito. · https://fnet.bmfbovespa.com.br/fnet/publico/visualizarDocumento?id=1289610 · Critériosparaaconcessãodecréditoadotadospelosoriginadores,casotaiscritériosnãotenhamsido descritos no regulamento ou em outros demonstrativos trimestrais; Resposta:Nãoocorreramalteraçõesrelevantesnoscritériosparaaconcessãodecrédito. Eventuaisalteraçõesnoscritériosparaaconcessãodecréditoadotadosportaisoriginadores,casooscritériosadotadosjátenh amsidodescritosnoregulamentoouemoutrosdemonstrativostrimestrais;Resposta:Nãoocorreramalteraçõesrelevant esnoscritériosparaaconcessãodecrédito. Eventuaisalteraçõesnasgarantiasexistentesparaoconjuntodedireitoscreditórios; Resposta:Nãoocorreramalteraçõesrelevantesnas garantiasexistentesparao conjuntodeativos. Formacomoseoperouacessãodosdireitoscreditórios,incluindo: a)descriçãodecontratosrelevantesfirmadoscomessepropósito,sehouver;eb)indicaçãodocaráter definitivo, ou não, da cessão de direitos creditórios; Resposta:Ascessõesdedireitoscreditóriosocorreramtodasdeformadefinitiva,deacordocomodisposto no regulamento e/ou nos respectivos contratos. Nomedofundo:PLGNMARKETFCFIDC CNPJ: 55563624000109 Impactodoseventosdepré- pagamentonovalordopatrimôniolíquidoenarentabilidadedacarteira;Resposta:Existemeventosdepré- pagamentoemfundospulverizadosnocursonormaldosnegócios que não geram, por si só, impacto significativo no patrimônio líquido e na rentabilidade da carteira.</a:t>
            </a:r>
          </a:p>
          <a:p>
            <a:r>
              <a:t>CNPJ 63953620000165 · Critérios de concessão dos originadores · Informe Trimestral · ID 1291068 · 06/2026 · versão 1 · p. 2 · Critérios para a concessão de crédito adotados pelos originadores, que representem 10% ou mais da carteira de direitos creditórios no trimestre. · https://fnet.bmfbovespa.com.br/fnet/publico/visualizarDocumento?id=1291068 · Critérios para a concessão de crédito adotados pelos originadores, que representem 10% ou mais da carteira de direitos creditórios no trimestre. Os critérios para a concessão de crédito adotados pelos originadores do fundo foram alterados no último trimestre, conforme descrito em seu regulamento.</a:t>
            </a:r>
          </a:p>
          <a:p>
            <a:r>
              <a:t>CNPJ 54871427000194 · Alterações das garantias · Informe Trimestral · ID 1291015 · 06/2026 · versão 1 · p. 2 · Sobre as garantias existentes. · https://fnet.bmfbovespa.com.br/fnet/publico/visualizarDocumento?id=1291015 · Sobre as garantias existentes. Não ocorreram alterações nas garantias existentes para o conjunto de direitos creditórios adquiridos pelo fundo.</a:t>
            </a:r>
          </a:p>
          <a:p>
            <a:r>
              <a:t>CNPJ 60010416000112 · Alterações das garantias · Informe Trimestral · ID 1292034 · 06/2026 · versão 1 · p. 2 · Sobre as garantias existentes. · https://fnet.bmfbovespa.com.br/fnet/publico/visualizarDocumento?id=1292034 · Sobre as garantias existentes. Ocorreram alterações nas garantias existentes para o conjunto de direitos creditórios adquiridos pelo fundo.</a:t>
            </a:r>
          </a:p>
          <a:p>
            <a:r>
              <a:t>CNPJ 62552447000120 · Alterações das garantias · Informe Trimestral · ID 1292043 · 06/2026 · versão 1 · p. 2 · Sobre as garantias existentes. · https://fnet.bmfbovespa.com.br/fnet/publico/visualizarDocumento?id=1292043 · Sobre as garantias existentes. Não ocorreram alterações nas garantias existentes para o conjunto de direitos creditórios adquiridos pelo fundo.</a:t>
            </a:r>
          </a:p>
          <a:p>
            <a:r>
              <a:t>CNPJ 63953620000165 · Alterações das garantias · Informe Trimestral · ID 1291068 · 06/2026 · versão 1 · p. 2 · Sobre as garantias existentes. · https://fnet.bmfbovespa.com.br/fnet/publico/visualizarDocumento?id=1291068 · Sobre as garantias existentes. Ocorreram alterações nas garantias existentes para o conjunto de direitos creditórios adquiridos pelo fundo.</a:t>
            </a:r>
          </a:p>
          <a:p>
            <a:r>
              <a:t>CNPJ 54871427000194 · Cessões no trimestre · Informe Trimestral · ID 1291015 · 06/2026 · versão 1 · p. 2 · Sobre a cessão dos direitos creditórios no período. · https://fnet.bmfbovespa.com.br/fnet/publico/visualizarDocumento?id=1291015 · Sobre a cessão dos direitos creditórios no período. Não se aplica, visto que não foram emitidas novas cessões de direitos creditórios no período.</a:t>
            </a:r>
          </a:p>
          <a:p>
            <a:r>
              <a:t>CNPJ 60010416000112 · Cessões no trimestre · Informe Trimestral · ID 1292034 · 06/2026 · versão 1 · p. 2 · Sobre a cessão dos direitos creditórios no período. · https://fnet.bmfbovespa.com.br/fnet/publico/visualizarDocumento?id=1292034 · Sobre a cessão dos direitos creditórios no período. Ocorreram novas cessões de direitos creditórios no período em referência e os novos contratos foram firmados com o caráter definitivo para o fundo.</a:t>
            </a:r>
          </a:p>
          <a:p>
            <a:r>
              <a:t>CNPJ 62552447000120 · Cessões no trimestre · Informe Trimestral · ID 1292043 · 06/2026 · versão 1 · p. 2 · Sobre a cessão dos direitos creditórios no período. · https://fnet.bmfbovespa.com.br/fnet/publico/visualizarDocumento?id=1292043 · Sobre a cessão dos direitos creditórios no período. Ocorreram novas cessões de direitos creditórios no período em referência e os novos contratos foram firmados com o caráter definitivo para o fundo.</a:t>
            </a:r>
          </a:p>
          <a:p>
            <a:r>
              <a:t>CNPJ 63953620000165 · Cessões no trimestre · Informe Trimestral · ID 1291068 · 06/2026 · versão 1 · p. 2 · Sobre a cessão dos direitos creditórios no período. · https://fnet.bmfbovespa.com.br/fnet/publico/visualizarDocumento?id=1291068 · Sobre a cessão dos direitos creditórios no período. Ocorreram novas cessões de direitos creditórios no período em referência e os novos contratos foram firmados com o caráter definitivo para o fundo.</a:t>
            </a:r>
          </a:p>
          <a:p>
            <a:r>
              <a:t>CNPJ 54871427000194 · Eventos de pré-pagamento · Informe Trimestral · ID 1291015 · 06/2026 · versão 1 · p. 2 · Sobre os impactos dos eventos de pré-pagamento. · https://fnet.bmfbovespa.com.br/fnet/publico/visualizarDocumento?id=1291015 · Sobre os impactos dos eventos de pré-pagamento. Não se aplica, visto que não ocorreram eventos de pré-pagamento no último trimestre.</a:t>
            </a:r>
          </a:p>
          <a:p>
            <a:r>
              <a:t>CNPJ 60010416000112 · Eventos de pré-pagamento · Informe Trimestral · ID 1292034 · 06/2026 · versão 1 · p. 2 · Sobre os impactos dos eventos de pré-pagamento. · https://fnet.bmfbovespa.com.br/fnet/publico/visualizarDocumento?id=1292034 · Sobre os impactos dos eventos de pré-pagamento. O fundo teve eventos de pré-pagamento no último trimestre, mas não foram observados impactos relevantes no patrimônio líquido e na carteira do fundo.</a:t>
            </a:r>
          </a:p>
          <a:p>
            <a:r>
              <a:t>CNPJ 62552447000120 · Eventos de pré-pagamento · Informe Trimestral · ID 1292043 · 06/2026 · versão 1 · p. 2 · Sobre os impactos dos eventos de pré-pagamento. · https://fnet.bmfbovespa.com.br/fnet/publico/visualizarDocumento?id=1292043 · Sobre os impactos dos eventos de pré-pagamento. O fundo teve eventos de pré-pagamento no último trimestre, mas não foram observados impactos relevantes no patrimônio líquido e na carteira do fundo.</a:t>
            </a:r>
          </a:p>
          <a:p>
            <a:r>
              <a:t>CNPJ 63953620000165 · Eventos de pré-pagamento · Informe Trimestral · ID 1291068 · 06/2026 · versão 1 · p. 2 · Sobre os impactos dos eventos de pré-pagamento. · https://fnet.bmfbovespa.com.br/fnet/publico/visualizarDocumento?id=1291068 · Sobre os impactos dos eventos de pré-pagamento. O fundo teve eventos de pré-pagamento no último trimestre, mas não foram observados impactos relevantes no patrimônio líquido e na carteira do fundo.</a:t>
            </a:r>
          </a:p>
          <a:p>
            <a:r>
              <a:t>CNPJ 54871427000194 · Alienação de direitos creditórios · Informe Trimestral · ID 1291015 · 06/2026 · versão 1 · p. 2 · Sobre as condições de alienação dos direitos creditórios. · https://fnet.bmfbovespa.com.br/fnet/publico/visualizarDocumento?id=1291015 · Sobre as condições de alienação dos direitos creditórios. Não se aplica, visto que não ocorreram eventos de alienação neste trimestre.</a:t>
            </a:r>
          </a:p>
          <a:p>
            <a:r>
              <a:t>CNPJ 60010416000112 · Alienação de direitos creditórios · Informe Trimestral · ID 1292034 · 06/2026 · versão 1 · p. 2 · Sobre as condições de alienação dos direitos creditórios. · https://fnet.bmfbovespa.com.br/fnet/publico/visualizarDocumento?id=1292034 · Sobre as condições de alienação dos direitos creditórios. No trimestre base o fundo teve eventos de alienação de uma parcela dos direitos creditórios de sua carteira. Como principal motivo para a realização desta operação temos: A realocação de investimentos da carteira.</a:t>
            </a:r>
          </a:p>
          <a:p>
            <a:r>
              <a:t>CNPJ 55563624000109 · Alienação de direitos creditórios · Informe Trimestral · ID 1289610 · 06/2026 · versão 1 · p. 3 · Condiçõesdealienação,aqualquertítulo,dedireitoscreditórios,incluindo: · https://fnet.bmfbovespa.com.br/fnet/publico/visualizarDocumento?id=1289610 · Condiçõesdealienação,aqualquertítulo,dedireitoscreditórios,incluindo: Momentodaalienação(antesoudepoisdovencimento); Resposta: Não ocorreram alienação de ativos da carteira do Fundo, exceto no curso normal dosnegócios. Motivaçãodaalienação; Resposta: Não ocorreram alienação de ativos da carteira do Fundo, exceto no curso normal dosnegócios. Impactonovalordopatrimôniolíquidoenarentabilidadedacarteiradeativosdeumapossível descontinuidade, a qualquer título, da originação ou cessão de direitos creditórios; Resposta:Nãohá. Informaçõessobrefatosocorridosqueafetaramaregularidadedosfluxosfinanceirosoriundosdos direitoscreditórios,incluindo,masnãoselimitando,aquaisquereventosqueacarretemnaliquidação ou amortização antecipada de direitos creditórios. Resposta: Não ocorreram eventos relevantes que acarretaram a regularidade dos fluxos financeirosoriundos dos direitos creditórios.</a:t>
            </a:r>
          </a:p>
          <a:p>
            <a:r>
              <a:t>CNPJ 62552447000120 · Alienação de direitos creditórios · Informe Trimestral · ID 1292043 · 06/2026 · versão 1 · p. 2 · Sobre as condições de alienação dos direitos creditórios. · https://fnet.bmfbovespa.com.br/fnet/publico/visualizarDocumento?id=1292043 · Sobre as condições de alienação dos direitos creditórios. Não se aplica, visto que não ocorreram eventos de alienação neste trimestre.</a:t>
            </a:r>
          </a:p>
          <a:p>
            <a:r>
              <a:t>CNPJ 63953620000165 · Alienação de direitos creditórios · Informe Trimestral · ID 1291068 · 06/2026 · versão 1 · p. 2 · Sobre as condições de alienação dos direitos creditórios. · https://fnet.bmfbovespa.com.br/fnet/publico/visualizarDocumento?id=1291068 · Sobre as condições de alienação dos direitos creditórios. No trimestre base o fundo teve eventos de alienação de uma parcela dos direitos creditórios de sua carteira. Como principal motivo para a realização desta operação temos: A realocação de investimentos da carteira.</a:t>
            </a:r>
          </a:p>
          <a:p>
            <a:r>
              <a:t>CNPJ 54871427000194 · Descontinuidade de originação ou cessão · Informe Trimestral · ID 1291015 · 06/2026 · versão 1 · p. 2 · Sobre a descontinuidade da originação ou cessão dos direitos creditórios do fundo. · https://fnet.bmfbovespa.com.br/fnet/publico/visualizarDocumento?id=1291015 · Sobre a descontinuidade da originação ou cessão dos direitos creditórios do fundo. O regulamento do fundo estabelece as condições mínimas previstas para descontinuidade da originação ou cessão dos direitos creditórios investidos, sendo certo que quaisquer alterações nestes critérios serão divulgadas a mercado, por meio de fato relevante ou através dos canais oficiais de registro do fundo.</a:t>
            </a:r>
          </a:p>
          <a:p>
            <a:r>
              <a:t>CNPJ 60010416000112 · Descontinuidade de originação ou cessão · Informe Trimestral · ID 1292034 · 06/2026 · versão 1 · p. 2 · Sobre a descontinuidade da originação ou cessão dos direitos creditórios do fundo. · https://fnet.bmfbovespa.com.br/fnet/publico/visualizarDocumento?id=1292034 · Sobre a descontinuidade da originação ou cessão dos direitos creditórios do fundo. Foram observados impactos significativos na rentabilidade do fundo, em função da descontinuidade da originação de direitos creditórios no trimestre em referência.</a:t>
            </a:r>
          </a:p>
          <a:p>
            <a:r>
              <a:t>CNPJ 62552447000120 · Descontinuidade de originação ou cessão · Informe Trimestral · ID 1292043 · 06/2026 · versão 1 · p. 2 · Sobre a descontinuidade da originação ou cessão dos direitos creditórios do fundo. · https://fnet.bmfbovespa.com.br/fnet/publico/visualizarDocumento?id=1292043 · Sobre a descontinuidade da originação ou cessão dos direitos creditórios do fundo. Não se aplica, visto que não foram observados impactos significativos na rentabilidade do fundo, em função da descontinuidade da originação de direitos creditórios no trimestre em referência.</a:t>
            </a:r>
          </a:p>
          <a:p>
            <a:r>
              <a:t>CNPJ 63953620000165 · Descontinuidade de originação ou cessão · Informe Trimestral · ID 1291068 · 06/2026 · versão 1 · p. 2 · Sobre a descontinuidade da originação ou cessão dos direitos creditórios do fundo. · https://fnet.bmfbovespa.com.br/fnet/publico/visualizarDocumento?id=1291068 · Sobre a descontinuidade da originação ou cessão dos direitos creditórios do fundo. Foram observados impactos significativos na rentabilidade do fundo, em função da descontinuidade da originação de direitos creditórios no trimestre em referência.</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Declarações trimestrais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Resultado da verificação de lastro · Informe Trimestral · ID 1291015 · 06/2026 · versão 1 · p. 1 · Sobre os resultados da última verificação do lastro dos direitos creditórios do fundo. · https://fnet.bmfbovespa.com.br/fnet/publico/visualizarDocumento?id=1291015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60010416000112 · Resultado da verificação de lastro · Informe Trimestral · ID 1292034 · 06/2026 · versão 1 · p. 1 · Sobre os resultados da última verificação do lastro dos direitos creditórios do fundo. · https://fnet.bmfbovespa.com.br/fnet/publico/visualizarDocumento?id=1292034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62696791000193 · Resultado da verificação de lastro · Informe Trimestral · ID 1114465 · 12/2025 · versão 1 · p. 1 · Sobre os resultados da última verificação do lastro dos direitos creditórios do fundo. · https://fnet.bmfbovespa.com.br/fnet/publico/visualizarDocumento?id=1114465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55563624000109 · Resultado da verificação de lastro · Informe Trimestral · ID 1289610 · 06/2026 · versão 1 · p. 1 · Sobre os resultados da última verificação do lastro dos direitos creditórios do fundo. · https://fnet.bmfbovespa.com.br/fnet/publico/visualizarDocumento?id=1289610 · Sobre os resultados da última verificação do lastro dos direitos creditórios do fundo. Informamos que o Fundo dispensa a verificação de lastro dos direitos creditórios.</a:t>
            </a:r>
          </a:p>
          <a:p>
            <a:r>
              <a:t>CNPJ 62552447000120 · Resultado da verificação de lastro · Informe Trimestral · ID 1292043 · 06/2026 · versão 1 · p. 1 · Sobre os resultados da última verificação do lastro dos direitos creditórios do fundo. · https://fnet.bmfbovespa.com.br/fnet/publico/visualizarDocumento?id=1292043 · Sobre os resultados da última verificação do lastro dos direitos creditórios do fundo. Informamos que o Fundo dispensa a verificação de lastro dos direitos creditórios.</a:t>
            </a:r>
          </a:p>
          <a:p>
            <a:r>
              <a:t>CNPJ 63953620000165 · Resultado da verificação de lastro · Informe Trimestral · ID 1291068 · 06/2026 · versão 1 · p. 1 · Sobre os resultados da última verificação do lastro dos direitos creditórios do fundo. · https://fnet.bmfbovespa.com.br/fnet/publico/visualizarDocumento?id=1291068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54871427000194 · Registro dos direitos creditórios · Informe Trimestral · ID 1291015 · 06/2026 · versão 1 · p. 1 · Sobre o registro dos direitos creditórios em entidade registradora. · https://fnet.bmfbovespa.com.br/fnet/publico/visualizarDocumento?id=1291015 · Sobre o registro dos direitos creditórios em entidade registradora. Todos os créditos estão liberados para registro.</a:t>
            </a:r>
          </a:p>
          <a:p>
            <a:r>
              <a:t>CNPJ 60010416000112 · Registro dos direitos creditórios · Informe Trimestral · ID 1292034 · 06/2026 · versão 1 · p. 1 · Sobre o registro dos direitos creditórios em entidade registradora. · https://fnet.bmfbovespa.com.br/fnet/publico/visualizarDocumento?id=1292034 · Sobre o registro dos direitos creditórios em entidade registradora. Todos os créditos estão liberados para registro.</a:t>
            </a:r>
          </a:p>
          <a:p>
            <a:r>
              <a:t>CNPJ 62696791000193 · Registro dos direitos creditórios · Informe Trimestral · ID 1114465 · 12/2025 · versão 1 · p. 1 · Sobre o registro dos direitos creditórios em entidade registradora. · https://fnet.bmfbovespa.com.br/fnet/publico/visualizarDocumento?id=1114465 · Sobre o registro dos direitos creditórios em entidade registradora. Todos os créditos estão liberados para registro.</a:t>
            </a:r>
          </a:p>
          <a:p>
            <a:r>
              <a:t>CNPJ 55563624000109 · Registro dos direitos creditórios · Informe Trimestral · ID 1289610 · 06/2026 · versão 1 · p. 1 · Sobre o registro dos direitos creditórios em entidade registradora. · https://fnet.bmfbovespa.com.br/fnet/publico/visualizarDocumento?id=1289610 · Sobre o registro dos direitos creditórios em entidade registradora. Todos os créditos estão liberados para registro.</a:t>
            </a:r>
          </a:p>
          <a:p>
            <a:r>
              <a:t>CNPJ 62552447000120 · Registro dos direitos creditórios · Informe Trimestral · ID 1292043 · 06/2026 · versão 1 · p. 1 · Sobre o registro dos direitos creditórios em entidade registradora. · https://fnet.bmfbovespa.com.br/fnet/publico/visualizarDocumento?id=1292043 · Sobre o registro dos direitos creditórios em entidade registradora. Todos os créditos estão liberados para registro.</a:t>
            </a:r>
          </a:p>
          <a:p>
            <a:r>
              <a:t>CNPJ 63953620000165 · Registro dos direitos creditórios · Informe Trimestral · ID 1291068 · 06/2026 · versão 1 · p. 1 · Sobre o registro dos direitos creditórios em entidade registradora. · https://fnet.bmfbovespa.com.br/fnet/publico/visualizarDocumento?id=1291068 · Sobre o registro dos direitos creditórios em entidade registradora. Todos os créditos estão liberados para registro.</a:t>
            </a:r>
          </a:p>
          <a:p>
            <a:r>
              <a:t>CNPJ 54871427000194 · Processos judiciais · Informe Trimestral · ID 1291015 · 06/2026 · versão 1 · p. 1 · Sobre a existência de processos judiciais envolvendo o FIDC. · https://fnet.bmfbovespa.com.br/fnet/publico/visualizarDocumento?id=1291015 · Sobre a existência de processos judiciais envolvendo o FIDC. O administrador do fundo não tem conhecimento de ações judiciais envolvendo o fundo no trimestre em referência.</a:t>
            </a:r>
          </a:p>
          <a:p>
            <a:r>
              <a:t>CNPJ 60010416000112 · Processos judiciais · Informe Trimestral · ID 1292034 · 06/2026 · versão 1 · p. 1 · Sobre a existência de processos judiciais envolvendo o FIDC. · https://fnet.bmfbovespa.com.br/fnet/publico/visualizarDocumento?id=1292034 · Sobre a existência de processos judiciais envolvendo o FIDC. O fundo está exposto as ações judiciais listadas abaixo:</a:t>
            </a:r>
          </a:p>
          <a:p>
            <a:r>
              <a:t>CNPJ 62696791000193 · Processos judiciais · Informe Trimestral · ID 1114465 · 12/2025 · versão 1 · p. 1 · Sobre a existência de processos judiciais envolvendo o FIDC. · https://fnet.bmfbovespa.com.br/fnet/publico/visualizarDocumento?id=1114465 · Sobre a existência de processos judiciais envolvendo o FIDC. O administrador do fundo não tem conhecimento de ações judiciais envolvendo o fundo no trimestre em referência.</a:t>
            </a:r>
          </a:p>
          <a:p>
            <a:r>
              <a:t>CNPJ 55563624000109 · Processos judiciais · Informe Trimestral · ID 1289610 · 06/2026 · versão 1 · p. 1 · Sobre a existência de processos judiciais envolvendo o FIDC. · https://fnet.bmfbovespa.com.br/fnet/publico/visualizarDocumento?id=1289610 · Sobre a existência de processos judiciais envolvendo o FIDC. O administrador do fundo não tem conhecimento de ações judiciais envolvendo o fundo no trimestre em referência.</a:t>
            </a:r>
          </a:p>
          <a:p>
            <a:r>
              <a:t>CNPJ 62552447000120 · Processos judiciais · Informe Trimestral · ID 1292043 · 06/2026 · versão 1 · p. 1 · Sobre a existência de processos judiciais envolvendo o FIDC. · https://fnet.bmfbovespa.com.br/fnet/publico/visualizarDocumento?id=1292043 · Sobre a existência de processos judiciais envolvendo o FIDC. O administrador do fundo não tem conhecimento de ações judiciais envolvendo o fundo no trimestre em referência.</a:t>
            </a:r>
          </a:p>
          <a:p>
            <a:r>
              <a:t>CNPJ 63953620000165 · Processos judiciais · Informe Trimestral · ID 1291068 · 06/2026 · versão 1 · p. 1 · Sobre a existência de processos judiciais envolvendo o FIDC. · https://fnet.bmfbovespa.com.br/fnet/publico/visualizarDocumento?id=1291068 · Sobre a existência de processos judiciais envolvendo o FIDC. O fundo está exposto as ações judiciais listadas abaixo:</a:t>
            </a:r>
          </a:p>
          <a:p>
            <a:r>
              <a:t>CNPJ 54871427000194 · Aquisição de precatórios · Informe Trimestral · ID 1291015 · 06/2026 · versão 1 · p. 1 · Sobre a aquisição de precatórios federais em fundos destinados ao público em geral. · https://fnet.bmfbovespa.com.br/fnet/publico/visualizarDocumento?id=1291015 · Sobre a aquisição de precatórios federais em fundos destinados ao público em geral. O fundo não se destina ao público em geral. As informações a seguir são destinadas à apresentação do relatório trimestral do gestor.</a:t>
            </a:r>
          </a:p>
          <a:p>
            <a:r>
              <a:t>CNPJ 60010416000112 · Aquisição de precatórios · Informe Trimestral · ID 1292034 · 06/2026 · versão 1 · p. 1 · Sobre a aquisição de precatórios federais em fundos destinados ao público em geral. · https://fnet.bmfbovespa.com.br/fnet/publico/visualizarDocumento?id=1292034 · Sobre a aquisição de precatórios federais em fundos destinados ao público em geral. O fundo adquiriu precatórios federais no trimestre em referência e está sujeito a eventual existência de impugnação judicial ou fatos supervenientes capazes de alterar a ordem ou o prazo de pagamento dos precatórios. As informações a seguir são destinadas à apresentação do relatório trimestral do gestor.</a:t>
            </a:r>
          </a:p>
          <a:p>
            <a:r>
              <a:t>CNPJ 62696791000193 · Aquisição de precatórios · Informe Trimestral · ID 1114465 · 12/2025 · versão 1 · p. 1 · Sobre a aquisição de precatórios federais em fundos destinados ao público em geral. · https://fnet.bmfbovespa.com.br/fnet/publico/visualizarDocumento?id=1114465 · Sobre a aquisição de precatórios federais em fundos destinados ao público em geral. O fundo não se destina ao público em geral. As informações a seguir são destinadas à apresentação do relatório trimestral do gestor. Em atendimento ao parágrafo § 4º, inciso V, artigo 27 da Resolução 175, informamos ainda que, até a data de divulgação deste demonstrativo trimestral, o gestor não encaminhou ao administrador o relatório trimestral da gestão, conforme estabelecido pela legislação em vigor.</a:t>
            </a:r>
          </a:p>
          <a:p>
            <a:r>
              <a:t>CNPJ 55563624000109 · Aquisição de precatórios · Informe Trimestral · ID 1289610 · 06/2026 · versão 1 · p. 1 · Sobre a aquisição de precatórios federais em fundos destinados ao público em geral. · https://fnet.bmfbovespa.com.br/fnet/publico/visualizarDocumento?id=1289610 · Sobre a aquisição de precatórios federais em fundos destinados ao público em geral. O fundo não se destina ao público em geral. As informações a seguir são destinadas à apresentação do relatório trimestral do gestor.</a:t>
            </a:r>
          </a:p>
          <a:p>
            <a:r>
              <a:t>CNPJ 62552447000120 · Aquisição de precatórios · Informe Trimestral · ID 1292043 · 06/2026 · versão 1 · p. 1 · Sobre a aquisição de precatórios federais em fundos destinados ao público em geral. · https://fnet.bmfbovespa.com.br/fnet/publico/visualizarDocumento?id=1292043 · Sobre a aquisição de precatórios federais em fundos destinados ao público em geral. O fundo não se destina ao público em geral. As informações a seguir são destinadas à apresentação do relatório trimestral do gestor.</a:t>
            </a:r>
          </a:p>
          <a:p>
            <a:r>
              <a:t>CNPJ 63953620000165 · Aquisição de precatórios · Informe Trimestral · ID 1291068 · 06/2026 · versão 1 · p. 1 · Sobre a aquisição de precatórios federais em fundos destinados ao público em geral. · https://fnet.bmfbovespa.com.br/fnet/publico/visualizarDocumento?id=1291068 · Sobre a aquisição de precatórios federais em fundos destinados ao público em geral. O fundo adquiriu precatórios federais no trimestre em referência e está sujeito a eventual existência de impugnação judicial ou fatos supervenientes capazes de alterar a ordem ou o prazo de pagamento dos precatórios. As informações a seguir são destinadas à apresentação do relatório trimestral do gestor.</a:t>
            </a:r>
          </a:p>
          <a:p>
            <a:r>
              <a:t>CNPJ 63953620000165 · Aquisição de precatórios · Anexo ao Regulamento · ID 1222863 · 02/06/2026 · versão AnexoConsignadoPrivado02/06/2026 · p. 6 · 4.14 · https://fnet.bmfbovespa.com.br/fnet/publico/visualizarDocumento?id=1222863 · 4.14 Nos termos do Art. 45, §7º, inciso II, do Anexo Normativo II da Resolução CVM 175, a Classe poderá ter até 100% (cem por cento) de seu Patrimônio Líquido alocado em Direitos Creditórios, derivativos, observado o disposto neste Anexo I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4.15 Sem prejuízo de limites</a:t>
            </a:r>
          </a:p>
          <a:p>
            <a:r>
              <a:t>CNPJ 63953620000165 · Aquisição de precatórios · Anexo ao Regulamento · ID 1222863 · 02/06/2026 · versão AnexoConsignadoPrivado02/06/2026 · p. 7 · 4.15(i)–(v) · https://fnet.bmfbovespa.com.br/fnet/publico/visualizarDocumento?id=1222863 · (i)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CNPJ 54871427000194 · Alterações da política de investimento · Informe Trimestral · ID 1291015 · 06/2026 · versão 1 · p. 1 · Impactos de eventual alteração na política de investimento sobre a rentabilidade do Fundo. · https://fnet.bmfbovespa.com.br/fnet/publico/visualizarDocumento?id=1291015 · Impactos de eventual alteração na política de investimento sobre a rentabilidade do Fundo. Não se aplica, pois não ocorreram alterações na política de investimento do fundo no trimestre em referência.</a:t>
            </a:r>
          </a:p>
          <a:p>
            <a:r>
              <a:t>CNPJ 60010416000112 · Alterações da política de investimento · Informe Trimestral · ID 1292034 · 06/2026 · versão 1 · p. 1 · Impactos de eventual alteração na política de investimento sobre a rentabilidade do Fundo. · https://fnet.bmfbovespa.com.br/fnet/publico/visualizarDocumento?id=1292034 · Impactos de eventual alteração na política de investimento sobre a rentabilidade do Fundo. Não foram observados impactos significativos na rentabilidade do fundo, em função das alterações ocorridas em seu regulamento no trimestre em referência.</a:t>
            </a:r>
          </a:p>
          <a:p>
            <a:r>
              <a:t>CNPJ 62552447000120 · Alterações da política de investimento · Informe Trimestral · ID 1292043 · 06/2026 · versão 1 · p. 1 · Impactos de eventual alteração na política de investimento sobre a rentabilidade do Fundo. · https://fnet.bmfbovespa.com.br/fnet/publico/visualizarDocumento?id=1292043 · Impactos de eventual alteração na política de investimento sobre a rentabilidade do Fundo. Não se aplica, pois não ocorreram alterações na política de investimento do fundo no trimestre em referência.</a:t>
            </a:r>
          </a:p>
          <a:p>
            <a:r>
              <a:t>CNPJ 63953620000165 · Alterações da política de investimento · Informe Trimestral · ID 1291068 · 06/2026 · versão 1 · p. 1 · Impactos de eventual alteração na política de investimento sobre a rentabilidade do Fundo. · https://fnet.bmfbovespa.com.br/fnet/publico/visualizarDocumento?id=1291068 · Impactos de eventual alteração na política de investimento sobre a rentabilidade do Fundo. Não foram observados impactos significativos na rentabilidade do fundo, em função das alterações ocorridas em seu regulamento no trimestre em referência.</a:t>
            </a:r>
          </a:p>
          <a:p>
            <a:r>
              <a:t>CNPJ 54871427000194 · Critérios de concessão dos originadores · Informe Trimestral · ID 1291015 · 06/2026 · versão 1 · p. 2 · Critérios para a concessão de crédito adotados pelos originadores, que representem 10% ou mais da carteira de direitos creditórios no trimestre. · https://fnet.bmfbovespa.com.br/fnet/publico/visualizarDocumento?id=1291015 · Critérios para a concessão de crédito adotados pelos originadores, que representem 10% ou mais da carteira de direitos creditórios no trimestre. Os critérios para a concessão de crédito adotados pelos originadores do fundo não foram alterados no último trimestre, conforme descrito em seu regulamento.</a:t>
            </a:r>
          </a:p>
          <a:p>
            <a:r>
              <a:t>CNPJ 60010416000112 · Critérios de concessão dos originadores · Informe Trimestral · ID 1292034 · 06/2026 · versão 1 · p. 2 · Critérios para a concessão de crédito adotados pelos originadores, que representem 10% ou mais da carteira de direitos creditórios no trimestre. · https://fnet.bmfbovespa.com.br/fnet/publico/visualizarDocumento?id=1292034 · Critérios para a concessão de crédito adotados pelos originadores, que representem 10% ou mais da carteira de direitos creditórios no trimestre. Os critérios para a concessão de crédito adotados pelos originadores do fundo foram alterados no último trimestre, conforme descrito em seu regulamento.</a:t>
            </a:r>
          </a:p>
          <a:p>
            <a:r>
              <a:t>CNPJ 55563624000109 · Critérios de concessão dos originadores · Informe Trimestral · ID 1289610 · 06/2026 · versão 1 · p. 2–3 · Critériosparaaconcessãodecréditoadotadospelosoriginadores,casotaiscritériosnãotenhamsido descritos no regulamento ou em outros demonstrativos trimestrais; Resposta:Nãoocorreramalteraçõesrelevantesnoscritériosparaaconcessãodecrédito. · https://fnet.bmfbovespa.com.br/fnet/publico/visualizarDocumento?id=1289610 · Critériosparaaconcessãodecréditoadotadospelosoriginadores,casotaiscritériosnãotenhamsido descritos no regulamento ou em outros demonstrativos trimestrais; Resposta:Nãoocorreramalteraçõesrelevantesnoscritériosparaaconcessãodecrédito. Eventuaisalteraçõesnoscritériosparaaconcessãodecréditoadotadosportaisoriginadores,casooscritériosadotadosjátenh amsidodescritosnoregulamentoouemoutrosdemonstrativostrimestrais;Resposta:Nãoocorreramalteraçõesrelevant esnoscritériosparaaconcessãodecrédito. Eventuaisalteraçõesnasgarantiasexistentesparaoconjuntodedireitoscreditórios; Resposta:Nãoocorreramalteraçõesrelevantesnas garantiasexistentesparao conjuntodeativos. Formacomoseoperouacessãodosdireitoscreditórios,incluindo: a)descriçãodecontratosrelevantesfirmadoscomessepropósito,sehouver;eb)indicaçãodocaráter definitivo, ou não, da cessão de direitos creditórios; Resposta:Ascessõesdedireitoscreditóriosocorreramtodasdeformadefinitiva,deacordocomodisposto no regulamento e/ou nos respectivos contratos. Nomedofundo:PLGNMARKETFCFIDC CNPJ: 55563624000109 Impactodoseventosdepré- pagamentonovalordopatrimôniolíquidoenarentabilidadedacarteira;Resposta:Existemeventosdepré- pagamentoemfundospulverizadosnocursonormaldosnegócios que não geram, por si só, impacto significativo no patrimônio líquido e na rentabilidade da carteira.</a:t>
            </a:r>
          </a:p>
          <a:p>
            <a:r>
              <a:t>CNPJ 63953620000165 · Critérios de concessão dos originadores · Informe Trimestral · ID 1291068 · 06/2026 · versão 1 · p. 2 · Critérios para a concessão de crédito adotados pelos originadores, que representem 10% ou mais da carteira de direitos creditórios no trimestre. · https://fnet.bmfbovespa.com.br/fnet/publico/visualizarDocumento?id=1291068 · Critérios para a concessão de crédito adotados pelos originadores, que representem 10% ou mais da carteira de direitos creditórios no trimestre. Os critérios para a concessão de crédito adotados pelos originadores do fundo foram alterados no último trimestre, conforme descrito em seu regulamento.</a:t>
            </a:r>
          </a:p>
          <a:p>
            <a:r>
              <a:t>CNPJ 54871427000194 · Alterações das garantias · Informe Trimestral · ID 1291015 · 06/2026 · versão 1 · p. 2 · Sobre as garantias existentes. · https://fnet.bmfbovespa.com.br/fnet/publico/visualizarDocumento?id=1291015 · Sobre as garantias existentes. Não ocorreram alterações nas garantias existentes para o conjunto de direitos creditórios adquiridos pelo fundo.</a:t>
            </a:r>
          </a:p>
          <a:p>
            <a:r>
              <a:t>CNPJ 60010416000112 · Alterações das garantias · Informe Trimestral · ID 1292034 · 06/2026 · versão 1 · p. 2 · Sobre as garantias existentes. · https://fnet.bmfbovespa.com.br/fnet/publico/visualizarDocumento?id=1292034 · Sobre as garantias existentes. Ocorreram alterações nas garantias existentes para o conjunto de direitos creditórios adquiridos pelo fundo.</a:t>
            </a:r>
          </a:p>
          <a:p>
            <a:r>
              <a:t>CNPJ 62552447000120 · Alterações das garantias · Informe Trimestral · ID 1292043 · 06/2026 · versão 1 · p. 2 · Sobre as garantias existentes. · https://fnet.bmfbovespa.com.br/fnet/publico/visualizarDocumento?id=1292043 · Sobre as garantias existentes. Não ocorreram alterações nas garantias existentes para o conjunto de direitos creditórios adquiridos pelo fundo.</a:t>
            </a:r>
          </a:p>
          <a:p>
            <a:r>
              <a:t>CNPJ 63953620000165 · Alterações das garantias · Informe Trimestral · ID 1291068 · 06/2026 · versão 1 · p. 2 · Sobre as garantias existentes. · https://fnet.bmfbovespa.com.br/fnet/publico/visualizarDocumento?id=1291068 · Sobre as garantias existentes. Ocorreram alterações nas garantias existentes para o conjunto de direitos creditórios adquiridos pelo fundo.</a:t>
            </a:r>
          </a:p>
          <a:p>
            <a:r>
              <a:t>CNPJ 54871427000194 · Cessões no trimestre · Informe Trimestral · ID 1291015 · 06/2026 · versão 1 · p. 2 · Sobre a cessão dos direitos creditórios no período. · https://fnet.bmfbovespa.com.br/fnet/publico/visualizarDocumento?id=1291015 · Sobre a cessão dos direitos creditórios no período. Não se aplica, visto que não foram emitidas novas cessões de direitos creditórios no período.</a:t>
            </a:r>
          </a:p>
          <a:p>
            <a:r>
              <a:t>CNPJ 60010416000112 · Cessões no trimestre · Informe Trimestral · ID 1292034 · 06/2026 · versão 1 · p. 2 · Sobre a cessão dos direitos creditórios no período. · https://fnet.bmfbovespa.com.br/fnet/publico/visualizarDocumento?id=1292034 · Sobre a cessão dos direitos creditórios no período. Ocorreram novas cessões de direitos creditórios no período em referência e os novos contratos foram firmados com o caráter definitivo para o fundo.</a:t>
            </a:r>
          </a:p>
          <a:p>
            <a:r>
              <a:t>CNPJ 62552447000120 · Cessões no trimestre · Informe Trimestral · ID 1292043 · 06/2026 · versão 1 · p. 2 · Sobre a cessão dos direitos creditórios no período. · https://fnet.bmfbovespa.com.br/fnet/publico/visualizarDocumento?id=1292043 · Sobre a cessão dos direitos creditórios no período. Ocorreram novas cessões de direitos creditórios no período em referência e os novos contratos foram firmados com o caráter definitivo para o fundo.</a:t>
            </a:r>
          </a:p>
          <a:p>
            <a:r>
              <a:t>CNPJ 63953620000165 · Cessões no trimestre · Informe Trimestral · ID 1291068 · 06/2026 · versão 1 · p. 2 · Sobre a cessão dos direitos creditórios no período. · https://fnet.bmfbovespa.com.br/fnet/publico/visualizarDocumento?id=1291068 · Sobre a cessão dos direitos creditórios no período. Ocorreram novas cessões de direitos creditórios no período em referência e os novos contratos foram firmados com o caráter definitivo para o fundo.</a:t>
            </a:r>
          </a:p>
          <a:p>
            <a:r>
              <a:t>CNPJ 54871427000194 · Eventos de pré-pagamento · Informe Trimestral · ID 1291015 · 06/2026 · versão 1 · p. 2 · Sobre os impactos dos eventos de pré-pagamento. · https://fnet.bmfbovespa.com.br/fnet/publico/visualizarDocumento?id=1291015 · Sobre os impactos dos eventos de pré-pagamento. Não se aplica, visto que não ocorreram eventos de pré-pagamento no último trimestre.</a:t>
            </a:r>
          </a:p>
          <a:p>
            <a:r>
              <a:t>CNPJ 60010416000112 · Eventos de pré-pagamento · Informe Trimestral · ID 1292034 · 06/2026 · versão 1 · p. 2 · Sobre os impactos dos eventos de pré-pagamento. · https://fnet.bmfbovespa.com.br/fnet/publico/visualizarDocumento?id=1292034 · Sobre os impactos dos eventos de pré-pagamento. O fundo teve eventos de pré-pagamento no último trimestre, mas não foram observados impactos relevantes no patrimônio líquido e na carteira do fundo.</a:t>
            </a:r>
          </a:p>
          <a:p>
            <a:r>
              <a:t>CNPJ 62552447000120 · Eventos de pré-pagamento · Informe Trimestral · ID 1292043 · 06/2026 · versão 1 · p. 2 · Sobre os impactos dos eventos de pré-pagamento. · https://fnet.bmfbovespa.com.br/fnet/publico/visualizarDocumento?id=1292043 · Sobre os impactos dos eventos de pré-pagamento. O fundo teve eventos de pré-pagamento no último trimestre, mas não foram observados impactos relevantes no patrimônio líquido e na carteira do fundo.</a:t>
            </a:r>
          </a:p>
          <a:p>
            <a:r>
              <a:t>CNPJ 63953620000165 · Eventos de pré-pagamento · Informe Trimestral · ID 1291068 · 06/2026 · versão 1 · p. 2 · Sobre os impactos dos eventos de pré-pagamento. · https://fnet.bmfbovespa.com.br/fnet/publico/visualizarDocumento?id=1291068 · Sobre os impactos dos eventos de pré-pagamento. O fundo teve eventos de pré-pagamento no último trimestre, mas não foram observados impactos relevantes no patrimônio líquido e na carteira do fundo.</a:t>
            </a:r>
          </a:p>
          <a:p>
            <a:r>
              <a:t>CNPJ 54871427000194 · Alienação de direitos creditórios · Informe Trimestral · ID 1291015 · 06/2026 · versão 1 · p. 2 · Sobre as condições de alienação dos direitos creditórios. · https://fnet.bmfbovespa.com.br/fnet/publico/visualizarDocumento?id=1291015 · Sobre as condições de alienação dos direitos creditórios. Não se aplica, visto que não ocorreram eventos de alienação neste trimestre.</a:t>
            </a:r>
          </a:p>
          <a:p>
            <a:r>
              <a:t>CNPJ 60010416000112 · Alienação de direitos creditórios · Informe Trimestral · ID 1292034 · 06/2026 · versão 1 · p. 2 · Sobre as condições de alienação dos direitos creditórios. · https://fnet.bmfbovespa.com.br/fnet/publico/visualizarDocumento?id=1292034 · Sobre as condições de alienação dos direitos creditórios. No trimestre base o fundo teve eventos de alienação de uma parcela dos direitos creditórios de sua carteira. Como principal motivo para a realização desta operação temos: A realocação de investimentos da carteira.</a:t>
            </a:r>
          </a:p>
          <a:p>
            <a:r>
              <a:t>CNPJ 55563624000109 · Alienação de direitos creditórios · Informe Trimestral · ID 1289610 · 06/2026 · versão 1 · p. 3 · Condiçõesdealienação,aqualquertítulo,dedireitoscreditórios,incluindo: · https://fnet.bmfbovespa.com.br/fnet/publico/visualizarDocumento?id=1289610 · Condiçõesdealienação,aqualquertítulo,dedireitoscreditórios,incluindo: Momentodaalienação(antesoudepoisdovencimento); Resposta: Não ocorreram alienação de ativos da carteira do Fundo, exceto no curso normal dosnegócios. Motivaçãodaalienação; Resposta: Não ocorreram alienação de ativos da carteira do Fundo, exceto no curso normal dosnegócios. Impactonovalordopatrimôniolíquidoenarentabilidadedacarteiradeativosdeumapossível descontinuidade, a qualquer título, da originação ou cessão de direitos creditórios; Resposta:Nãohá. Informaçõessobrefatosocorridosqueafetaramaregularidadedosfluxosfinanceirosoriundosdos direitoscreditórios,incluindo,masnãoselimitando,aquaisquereventosqueacarretemnaliquidação ou amortização antecipada de direitos creditórios. Resposta: Não ocorreram eventos relevantes que acarretaram a regularidade dos fluxos financeirosoriundos dos direitos creditórios.</a:t>
            </a:r>
          </a:p>
          <a:p>
            <a:r>
              <a:t>CNPJ 62552447000120 · Alienação de direitos creditórios · Informe Trimestral · ID 1292043 · 06/2026 · versão 1 · p. 2 · Sobre as condições de alienação dos direitos creditórios. · https://fnet.bmfbovespa.com.br/fnet/publico/visualizarDocumento?id=1292043 · Sobre as condições de alienação dos direitos creditórios. Não se aplica, visto que não ocorreram eventos de alienação neste trimestre.</a:t>
            </a:r>
          </a:p>
          <a:p>
            <a:r>
              <a:t>CNPJ 63953620000165 · Alienação de direitos creditórios · Informe Trimestral · ID 1291068 · 06/2026 · versão 1 · p. 2 · Sobre as condições de alienação dos direitos creditórios. · https://fnet.bmfbovespa.com.br/fnet/publico/visualizarDocumento?id=1291068 · Sobre as condições de alienação dos direitos creditórios. No trimestre base o fundo teve eventos de alienação de uma parcela dos direitos creditórios de sua carteira. Como principal motivo para a realização desta operação temos: A realocação de investimentos da carteira.</a:t>
            </a:r>
          </a:p>
          <a:p>
            <a:r>
              <a:t>CNPJ 54871427000194 · Descontinuidade de originação ou cessão · Informe Trimestral · ID 1291015 · 06/2026 · versão 1 · p. 2 · Sobre a descontinuidade da originação ou cessão dos direitos creditórios do fundo. · https://fnet.bmfbovespa.com.br/fnet/publico/visualizarDocumento?id=1291015 · Sobre a descontinuidade da originação ou cessão dos direitos creditórios do fundo. O regulamento do fundo estabelece as condições mínimas previstas para descontinuidade da originação ou cessão dos direitos creditórios investidos, sendo certo que quaisquer alterações nestes critérios serão divulgadas a mercado, por meio de fato relevante ou através dos canais oficiais de registro do fundo.</a:t>
            </a:r>
          </a:p>
          <a:p>
            <a:r>
              <a:t>CNPJ 60010416000112 · Descontinuidade de originação ou cessão · Informe Trimestral · ID 1292034 · 06/2026 · versão 1 · p. 2 · Sobre a descontinuidade da originação ou cessão dos direitos creditórios do fundo. · https://fnet.bmfbovespa.com.br/fnet/publico/visualizarDocumento?id=1292034 · Sobre a descontinuidade da originação ou cessão dos direitos creditórios do fundo. Foram observados impactos significativos na rentabilidade do fundo, em função da descontinuidade da originação de direitos creditórios no trimestre em referência.</a:t>
            </a:r>
          </a:p>
          <a:p>
            <a:r>
              <a:t>CNPJ 62552447000120 · Descontinuidade de originação ou cessão · Informe Trimestral · ID 1292043 · 06/2026 · versão 1 · p. 2 · Sobre a descontinuidade da originação ou cessão dos direitos creditórios do fundo. · https://fnet.bmfbovespa.com.br/fnet/publico/visualizarDocumento?id=1292043 · Sobre a descontinuidade da originação ou cessão dos direitos creditórios do fundo. Não se aplica, visto que não foram observados impactos significativos na rentabilidade do fundo, em função da descontinuidade da originação de direitos creditórios no trimestre em referência.</a:t>
            </a:r>
          </a:p>
          <a:p>
            <a:r>
              <a:t>CNPJ 63953620000165 · Descontinuidade de originação ou cessão · Informe Trimestral · ID 1291068 · 06/2026 · versão 1 · p. 2 · Sobre a descontinuidade da originação ou cessão dos direitos creditórios do fundo. · https://fnet.bmfbovespa.com.br/fnet/publico/visualizarDocumento?id=1291068 · Sobre a descontinuidade da originação ou cessão dos direitos creditórios do fundo. Foram observados impactos significativos na rentabilidade do fundo, em função da descontinuidade da originação de direitos creditórios no trimestre em referência.</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Declarações trimestrais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Resultado da verificação de lastro · Informe Trimestral · ID 1291015 · 06/2026 · versão 1 · p. 1 · Sobre os resultados da última verificação do lastro dos direitos creditórios do fundo. · https://fnet.bmfbovespa.com.br/fnet/publico/visualizarDocumento?id=1291015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60010416000112 · Resultado da verificação de lastro · Informe Trimestral · ID 1292034 · 06/2026 · versão 1 · p. 1 · Sobre os resultados da última verificação do lastro dos direitos creditórios do fundo. · https://fnet.bmfbovespa.com.br/fnet/publico/visualizarDocumento?id=1292034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62696791000193 · Resultado da verificação de lastro · Informe Trimestral · ID 1114465 · 12/2025 · versão 1 · p. 1 · Sobre os resultados da última verificação do lastro dos direitos creditórios do fundo. · https://fnet.bmfbovespa.com.br/fnet/publico/visualizarDocumento?id=1114465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55563624000109 · Resultado da verificação de lastro · Informe Trimestral · ID 1289610 · 06/2026 · versão 1 · p. 1 · Sobre os resultados da última verificação do lastro dos direitos creditórios do fundo. · https://fnet.bmfbovespa.com.br/fnet/publico/visualizarDocumento?id=1289610 · Sobre os resultados da última verificação do lastro dos direitos creditórios do fundo. Informamos que o Fundo dispensa a verificação de lastro dos direitos creditórios.</a:t>
            </a:r>
          </a:p>
          <a:p>
            <a:r>
              <a:t>CNPJ 62552447000120 · Resultado da verificação de lastro · Informe Trimestral · ID 1292043 · 06/2026 · versão 1 · p. 1 · Sobre os resultados da última verificação do lastro dos direitos creditórios do fundo. · https://fnet.bmfbovespa.com.br/fnet/publico/visualizarDocumento?id=1292043 · Sobre os resultados da última verificação do lastro dos direitos creditórios do fundo. Informamos que o Fundo dispensa a verificação de lastro dos direitos creditórios.</a:t>
            </a:r>
          </a:p>
          <a:p>
            <a:r>
              <a:t>CNPJ 63953620000165 · Resultado da verificação de lastro · Informe Trimestral · ID 1291068 · 06/2026 · versão 1 · p. 1 · Sobre os resultados da última verificação do lastro dos direitos creditórios do fundo. · https://fnet.bmfbovespa.com.br/fnet/publico/visualizarDocumento?id=1291068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54871427000194 · Registro dos direitos creditórios · Informe Trimestral · ID 1291015 · 06/2026 · versão 1 · p. 1 · Sobre o registro dos direitos creditórios em entidade registradora. · https://fnet.bmfbovespa.com.br/fnet/publico/visualizarDocumento?id=1291015 · Sobre o registro dos direitos creditórios em entidade registradora. Todos os créditos estão liberados para registro.</a:t>
            </a:r>
          </a:p>
          <a:p>
            <a:r>
              <a:t>CNPJ 60010416000112 · Registro dos direitos creditórios · Informe Trimestral · ID 1292034 · 06/2026 · versão 1 · p. 1 · Sobre o registro dos direitos creditórios em entidade registradora. · https://fnet.bmfbovespa.com.br/fnet/publico/visualizarDocumento?id=1292034 · Sobre o registro dos direitos creditórios em entidade registradora. Todos os créditos estão liberados para registro.</a:t>
            </a:r>
          </a:p>
          <a:p>
            <a:r>
              <a:t>CNPJ 62696791000193 · Registro dos direitos creditórios · Informe Trimestral · ID 1114465 · 12/2025 · versão 1 · p. 1 · Sobre o registro dos direitos creditórios em entidade registradora. · https://fnet.bmfbovespa.com.br/fnet/publico/visualizarDocumento?id=1114465 · Sobre o registro dos direitos creditórios em entidade registradora. Todos os créditos estão liberados para registro.</a:t>
            </a:r>
          </a:p>
          <a:p>
            <a:r>
              <a:t>CNPJ 55563624000109 · Registro dos direitos creditórios · Informe Trimestral · ID 1289610 · 06/2026 · versão 1 · p. 1 · Sobre o registro dos direitos creditórios em entidade registradora. · https://fnet.bmfbovespa.com.br/fnet/publico/visualizarDocumento?id=1289610 · Sobre o registro dos direitos creditórios em entidade registradora. Todos os créditos estão liberados para registro.</a:t>
            </a:r>
          </a:p>
          <a:p>
            <a:r>
              <a:t>CNPJ 62552447000120 · Registro dos direitos creditórios · Informe Trimestral · ID 1292043 · 06/2026 · versão 1 · p. 1 · Sobre o registro dos direitos creditórios em entidade registradora. · https://fnet.bmfbovespa.com.br/fnet/publico/visualizarDocumento?id=1292043 · Sobre o registro dos direitos creditórios em entidade registradora. Todos os créditos estão liberados para registro.</a:t>
            </a:r>
          </a:p>
          <a:p>
            <a:r>
              <a:t>CNPJ 63953620000165 · Registro dos direitos creditórios · Informe Trimestral · ID 1291068 · 06/2026 · versão 1 · p. 1 · Sobre o registro dos direitos creditórios em entidade registradora. · https://fnet.bmfbovespa.com.br/fnet/publico/visualizarDocumento?id=1291068 · Sobre o registro dos direitos creditórios em entidade registradora. Todos os créditos estão liberados para registro.</a:t>
            </a:r>
          </a:p>
          <a:p>
            <a:r>
              <a:t>CNPJ 54871427000194 · Processos judiciais · Informe Trimestral · ID 1291015 · 06/2026 · versão 1 · p. 1 · Sobre a existência de processos judiciais envolvendo o FIDC. · https://fnet.bmfbovespa.com.br/fnet/publico/visualizarDocumento?id=1291015 · Sobre a existência de processos judiciais envolvendo o FIDC. O administrador do fundo não tem conhecimento de ações judiciais envolvendo o fundo no trimestre em referência.</a:t>
            </a:r>
          </a:p>
          <a:p>
            <a:r>
              <a:t>CNPJ 60010416000112 · Processos judiciais · Informe Trimestral · ID 1292034 · 06/2026 · versão 1 · p. 1 · Sobre a existência de processos judiciais envolvendo o FIDC. · https://fnet.bmfbovespa.com.br/fnet/publico/visualizarDocumento?id=1292034 · Sobre a existência de processos judiciais envolvendo o FIDC. O fundo está exposto as ações judiciais listadas abaixo:</a:t>
            </a:r>
          </a:p>
          <a:p>
            <a:r>
              <a:t>CNPJ 62696791000193 · Processos judiciais · Informe Trimestral · ID 1114465 · 12/2025 · versão 1 · p. 1 · Sobre a existência de processos judiciais envolvendo o FIDC. · https://fnet.bmfbovespa.com.br/fnet/publico/visualizarDocumento?id=1114465 · Sobre a existência de processos judiciais envolvendo o FIDC. O administrador do fundo não tem conhecimento de ações judiciais envolvendo o fundo no trimestre em referência.</a:t>
            </a:r>
          </a:p>
          <a:p>
            <a:r>
              <a:t>CNPJ 55563624000109 · Processos judiciais · Informe Trimestral · ID 1289610 · 06/2026 · versão 1 · p. 1 · Sobre a existência de processos judiciais envolvendo o FIDC. · https://fnet.bmfbovespa.com.br/fnet/publico/visualizarDocumento?id=1289610 · Sobre a existência de processos judiciais envolvendo o FIDC. O administrador do fundo não tem conhecimento de ações judiciais envolvendo o fundo no trimestre em referência.</a:t>
            </a:r>
          </a:p>
          <a:p>
            <a:r>
              <a:t>CNPJ 62552447000120 · Processos judiciais · Informe Trimestral · ID 1292043 · 06/2026 · versão 1 · p. 1 · Sobre a existência de processos judiciais envolvendo o FIDC. · https://fnet.bmfbovespa.com.br/fnet/publico/visualizarDocumento?id=1292043 · Sobre a existência de processos judiciais envolvendo o FIDC. O administrador do fundo não tem conhecimento de ações judiciais envolvendo o fundo no trimestre em referência.</a:t>
            </a:r>
          </a:p>
          <a:p>
            <a:r>
              <a:t>CNPJ 63953620000165 · Processos judiciais · Informe Trimestral · ID 1291068 · 06/2026 · versão 1 · p. 1 · Sobre a existência de processos judiciais envolvendo o FIDC. · https://fnet.bmfbovespa.com.br/fnet/publico/visualizarDocumento?id=1291068 · Sobre a existência de processos judiciais envolvendo o FIDC. O fundo está exposto as ações judiciais listadas abaixo:</a:t>
            </a:r>
          </a:p>
          <a:p>
            <a:r>
              <a:t>CNPJ 54871427000194 · Aquisição de precatórios · Informe Trimestral · ID 1291015 · 06/2026 · versão 1 · p. 1 · Sobre a aquisição de precatórios federais em fundos destinados ao público em geral. · https://fnet.bmfbovespa.com.br/fnet/publico/visualizarDocumento?id=1291015 · Sobre a aquisição de precatórios federais em fundos destinados ao público em geral. O fundo não se destina ao público em geral. As informações a seguir são destinadas à apresentação do relatório trimestral do gestor.</a:t>
            </a:r>
          </a:p>
          <a:p>
            <a:r>
              <a:t>CNPJ 60010416000112 · Aquisição de precatórios · Informe Trimestral · ID 1292034 · 06/2026 · versão 1 · p. 1 · Sobre a aquisição de precatórios federais em fundos destinados ao público em geral. · https://fnet.bmfbovespa.com.br/fnet/publico/visualizarDocumento?id=1292034 · Sobre a aquisição de precatórios federais em fundos destinados ao público em geral. O fundo adquiriu precatórios federais no trimestre em referência e está sujeito a eventual existência de impugnação judicial ou fatos supervenientes capazes de alterar a ordem ou o prazo de pagamento dos precatórios. As informações a seguir são destinadas à apresentação do relatório trimestral do gestor.</a:t>
            </a:r>
          </a:p>
          <a:p>
            <a:r>
              <a:t>CNPJ 62696791000193 · Aquisição de precatórios · Informe Trimestral · ID 1114465 · 12/2025 · versão 1 · p. 1 · Sobre a aquisição de precatórios federais em fundos destinados ao público em geral. · https://fnet.bmfbovespa.com.br/fnet/publico/visualizarDocumento?id=1114465 · Sobre a aquisição de precatórios federais em fundos destinados ao público em geral. O fundo não se destina ao público em geral. As informações a seguir são destinadas à apresentação do relatório trimestral do gestor. Em atendimento ao parágrafo § 4º, inciso V, artigo 27 da Resolução 175, informamos ainda que, até a data de divulgação deste demonstrativo trimestral, o gestor não encaminhou ao administrador o relatório trimestral da gestão, conforme estabelecido pela legislação em vigor.</a:t>
            </a:r>
          </a:p>
          <a:p>
            <a:r>
              <a:t>CNPJ 55563624000109 · Aquisição de precatórios · Informe Trimestral · ID 1289610 · 06/2026 · versão 1 · p. 1 · Sobre a aquisição de precatórios federais em fundos destinados ao público em geral. · https://fnet.bmfbovespa.com.br/fnet/publico/visualizarDocumento?id=1289610 · Sobre a aquisição de precatórios federais em fundos destinados ao público em geral. O fundo não se destina ao público em geral. As informações a seguir são destinadas à apresentação do relatório trimestral do gestor.</a:t>
            </a:r>
          </a:p>
          <a:p>
            <a:r>
              <a:t>CNPJ 62552447000120 · Aquisição de precatórios · Informe Trimestral · ID 1292043 · 06/2026 · versão 1 · p. 1 · Sobre a aquisição de precatórios federais em fundos destinados ao público em geral. · https://fnet.bmfbovespa.com.br/fnet/publico/visualizarDocumento?id=1292043 · Sobre a aquisição de precatórios federais em fundos destinados ao público em geral. O fundo não se destina ao público em geral. As informações a seguir são destinadas à apresentação do relatório trimestral do gestor.</a:t>
            </a:r>
          </a:p>
          <a:p>
            <a:r>
              <a:t>CNPJ 63953620000165 · Aquisição de precatórios · Informe Trimestral · ID 1291068 · 06/2026 · versão 1 · p. 1 · Sobre a aquisição de precatórios federais em fundos destinados ao público em geral. · https://fnet.bmfbovespa.com.br/fnet/publico/visualizarDocumento?id=1291068 · Sobre a aquisição de precatórios federais em fundos destinados ao público em geral. O fundo adquiriu precatórios federais no trimestre em referência e está sujeito a eventual existência de impugnação judicial ou fatos supervenientes capazes de alterar a ordem ou o prazo de pagamento dos precatórios. As informações a seguir são destinadas à apresentação do relatório trimestral do gestor.</a:t>
            </a:r>
          </a:p>
          <a:p>
            <a:r>
              <a:t>CNPJ 63953620000165 · Aquisição de precatórios · Anexo ao Regulamento · ID 1222863 · 02/06/2026 · versão AnexoConsignadoPrivado02/06/2026 · p. 6 · 4.14 · https://fnet.bmfbovespa.com.br/fnet/publico/visualizarDocumento?id=1222863 · 4.14 Nos termos do Art. 45, §7º, inciso II, do Anexo Normativo II da Resolução CVM 175, a Classe poderá ter até 100% (cem por cento) de seu Patrimônio Líquido alocado em Direitos Creditórios, derivativos, observado o disposto neste Anexo I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4.15 Sem prejuízo de limites</a:t>
            </a:r>
          </a:p>
          <a:p>
            <a:r>
              <a:t>CNPJ 63953620000165 · Aquisição de precatórios · Anexo ao Regulamento · ID 1222863 · 02/06/2026 · versão AnexoConsignadoPrivado02/06/2026 · p. 7 · 4.15(i)–(v) · https://fnet.bmfbovespa.com.br/fnet/publico/visualizarDocumento?id=1222863 · (i)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CNPJ 54871427000194 · Alterações da política de investimento · Informe Trimestral · ID 1291015 · 06/2026 · versão 1 · p. 1 · Impactos de eventual alteração na política de investimento sobre a rentabilidade do Fundo. · https://fnet.bmfbovespa.com.br/fnet/publico/visualizarDocumento?id=1291015 · Impactos de eventual alteração na política de investimento sobre a rentabilidade do Fundo. Não se aplica, pois não ocorreram alterações na política de investimento do fundo no trimestre em referência.</a:t>
            </a:r>
          </a:p>
          <a:p>
            <a:r>
              <a:t>CNPJ 60010416000112 · Alterações da política de investimento · Informe Trimestral · ID 1292034 · 06/2026 · versão 1 · p. 1 · Impactos de eventual alteração na política de investimento sobre a rentabilidade do Fundo. · https://fnet.bmfbovespa.com.br/fnet/publico/visualizarDocumento?id=1292034 · Impactos de eventual alteração na política de investimento sobre a rentabilidade do Fundo. Não foram observados impactos significativos na rentabilidade do fundo, em função das alterações ocorridas em seu regulamento no trimestre em referência.</a:t>
            </a:r>
          </a:p>
          <a:p>
            <a:r>
              <a:t>CNPJ 62552447000120 · Alterações da política de investimento · Informe Trimestral · ID 1292043 · 06/2026 · versão 1 · p. 1 · Impactos de eventual alteração na política de investimento sobre a rentabilidade do Fundo. · https://fnet.bmfbovespa.com.br/fnet/publico/visualizarDocumento?id=1292043 · Impactos de eventual alteração na política de investimento sobre a rentabilidade do Fundo. Não se aplica, pois não ocorreram alterações na política de investimento do fundo no trimestre em referência.</a:t>
            </a:r>
          </a:p>
          <a:p>
            <a:r>
              <a:t>CNPJ 63953620000165 · Alterações da política de investimento · Informe Trimestral · ID 1291068 · 06/2026 · versão 1 · p. 1 · Impactos de eventual alteração na política de investimento sobre a rentabilidade do Fundo. · https://fnet.bmfbovespa.com.br/fnet/publico/visualizarDocumento?id=1291068 · Impactos de eventual alteração na política de investimento sobre a rentabilidade do Fundo. Não foram observados impactos significativos na rentabilidade do fundo, em função das alterações ocorridas em seu regulamento no trimestre em referência.</a:t>
            </a:r>
          </a:p>
          <a:p>
            <a:r>
              <a:t>CNPJ 54871427000194 · Critérios de concessão dos originadores · Informe Trimestral · ID 1291015 · 06/2026 · versão 1 · p. 2 · Critérios para a concessão de crédito adotados pelos originadores, que representem 10% ou mais da carteira de direitos creditórios no trimestre. · https://fnet.bmfbovespa.com.br/fnet/publico/visualizarDocumento?id=1291015 · Critérios para a concessão de crédito adotados pelos originadores, que representem 10% ou mais da carteira de direitos creditórios no trimestre. Os critérios para a concessão de crédito adotados pelos originadores do fundo não foram alterados no último trimestre, conforme descrito em seu regulamento.</a:t>
            </a:r>
          </a:p>
          <a:p>
            <a:r>
              <a:t>CNPJ 60010416000112 · Critérios de concessão dos originadores · Informe Trimestral · ID 1292034 · 06/2026 · versão 1 · p. 2 · Critérios para a concessão de crédito adotados pelos originadores, que representem 10% ou mais da carteira de direitos creditórios no trimestre. · https://fnet.bmfbovespa.com.br/fnet/publico/visualizarDocumento?id=1292034 · Critérios para a concessão de crédito adotados pelos originadores, que representem 10% ou mais da carteira de direitos creditórios no trimestre. Os critérios para a concessão de crédito adotados pelos originadores do fundo foram alterados no último trimestre, conforme descrito em seu regulamento.</a:t>
            </a:r>
          </a:p>
          <a:p>
            <a:r>
              <a:t>CNPJ 55563624000109 · Critérios de concessão dos originadores · Informe Trimestral · ID 1289610 · 06/2026 · versão 1 · p. 2–3 · Critériosparaaconcessãodecréditoadotadospelosoriginadores,casotaiscritériosnãotenhamsido descritos no regulamento ou em outros demonstrativos trimestrais; Resposta:Nãoocorreramalteraçõesrelevantesnoscritériosparaaconcessãodecrédito. · https://fnet.bmfbovespa.com.br/fnet/publico/visualizarDocumento?id=1289610 · Critériosparaaconcessãodecréditoadotadospelosoriginadores,casotaiscritériosnãotenhamsido descritos no regulamento ou em outros demonstrativos trimestrais; Resposta:Nãoocorreramalteraçõesrelevantesnoscritériosparaaconcessãodecrédito. Eventuaisalteraçõesnoscritériosparaaconcessãodecréditoadotadosportaisoriginadores,casooscritériosadotadosjátenh amsidodescritosnoregulamentoouemoutrosdemonstrativostrimestrais;Resposta:Nãoocorreramalteraçõesrelevant esnoscritériosparaaconcessãodecrédito. Eventuaisalteraçõesnasgarantiasexistentesparaoconjuntodedireitoscreditórios; Resposta:Nãoocorreramalteraçõesrelevantesnas garantiasexistentesparao conjuntodeativos. Formacomoseoperouacessãodosdireitoscreditórios,incluindo: a)descriçãodecontratosrelevantesfirmadoscomessepropósito,sehouver;eb)indicaçãodocaráter definitivo, ou não, da cessão de direitos creditórios; Resposta:Ascessõesdedireitoscreditóriosocorreramtodasdeformadefinitiva,deacordocomodisposto no regulamento e/ou nos respectivos contratos. Nomedofundo:PLGNMARKETFCFIDC CNPJ: 55563624000109 Impactodoseventosdepré- pagamentonovalordopatrimôniolíquidoenarentabilidadedacarteira;Resposta:Existemeventosdepré- pagamentoemfundospulverizadosnocursonormaldosnegócios que não geram, por si só, impacto significativo no patrimônio líquido e na rentabilidade da carteira.</a:t>
            </a:r>
          </a:p>
          <a:p>
            <a:r>
              <a:t>CNPJ 63953620000165 · Critérios de concessão dos originadores · Informe Trimestral · ID 1291068 · 06/2026 · versão 1 · p. 2 · Critérios para a concessão de crédito adotados pelos originadores, que representem 10% ou mais da carteira de direitos creditórios no trimestre. · https://fnet.bmfbovespa.com.br/fnet/publico/visualizarDocumento?id=1291068 · Critérios para a concessão de crédito adotados pelos originadores, que representem 10% ou mais da carteira de direitos creditórios no trimestre. Os critérios para a concessão de crédito adotados pelos originadores do fundo foram alterados no último trimestre, conforme descrito em seu regulamento.</a:t>
            </a:r>
          </a:p>
          <a:p>
            <a:r>
              <a:t>CNPJ 54871427000194 · Alterações das garantias · Informe Trimestral · ID 1291015 · 06/2026 · versão 1 · p. 2 · Sobre as garantias existentes. · https://fnet.bmfbovespa.com.br/fnet/publico/visualizarDocumento?id=1291015 · Sobre as garantias existentes. Não ocorreram alterações nas garantias existentes para o conjunto de direitos creditórios adquiridos pelo fundo.</a:t>
            </a:r>
          </a:p>
          <a:p>
            <a:r>
              <a:t>CNPJ 60010416000112 · Alterações das garantias · Informe Trimestral · ID 1292034 · 06/2026 · versão 1 · p. 2 · Sobre as garantias existentes. · https://fnet.bmfbovespa.com.br/fnet/publico/visualizarDocumento?id=1292034 · Sobre as garantias existentes. Ocorreram alterações nas garantias existentes para o conjunto de direitos creditórios adquiridos pelo fundo.</a:t>
            </a:r>
          </a:p>
          <a:p>
            <a:r>
              <a:t>CNPJ 62552447000120 · Alterações das garantias · Informe Trimestral · ID 1292043 · 06/2026 · versão 1 · p. 2 · Sobre as garantias existentes. · https://fnet.bmfbovespa.com.br/fnet/publico/visualizarDocumento?id=1292043 · Sobre as garantias existentes. Não ocorreram alterações nas garantias existentes para o conjunto de direitos creditórios adquiridos pelo fundo.</a:t>
            </a:r>
          </a:p>
          <a:p>
            <a:r>
              <a:t>CNPJ 63953620000165 · Alterações das garantias · Informe Trimestral · ID 1291068 · 06/2026 · versão 1 · p. 2 · Sobre as garantias existentes. · https://fnet.bmfbovespa.com.br/fnet/publico/visualizarDocumento?id=1291068 · Sobre as garantias existentes. Ocorreram alterações nas garantias existentes para o conjunto de direitos creditórios adquiridos pelo fundo.</a:t>
            </a:r>
          </a:p>
          <a:p>
            <a:r>
              <a:t>CNPJ 54871427000194 · Cessões no trimestre · Informe Trimestral · ID 1291015 · 06/2026 · versão 1 · p. 2 · Sobre a cessão dos direitos creditórios no período. · https://fnet.bmfbovespa.com.br/fnet/publico/visualizarDocumento?id=1291015 · Sobre a cessão dos direitos creditórios no período. Não se aplica, visto que não foram emitidas novas cessões de direitos creditórios no período.</a:t>
            </a:r>
          </a:p>
          <a:p>
            <a:r>
              <a:t>CNPJ 60010416000112 · Cessões no trimestre · Informe Trimestral · ID 1292034 · 06/2026 · versão 1 · p. 2 · Sobre a cessão dos direitos creditórios no período. · https://fnet.bmfbovespa.com.br/fnet/publico/visualizarDocumento?id=1292034 · Sobre a cessão dos direitos creditórios no período. Ocorreram novas cessões de direitos creditórios no período em referência e os novos contratos foram firmados com o caráter definitivo para o fundo.</a:t>
            </a:r>
          </a:p>
          <a:p>
            <a:r>
              <a:t>CNPJ 62552447000120 · Cessões no trimestre · Informe Trimestral · ID 1292043 · 06/2026 · versão 1 · p. 2 · Sobre a cessão dos direitos creditórios no período. · https://fnet.bmfbovespa.com.br/fnet/publico/visualizarDocumento?id=1292043 · Sobre a cessão dos direitos creditórios no período. Ocorreram novas cessões de direitos creditórios no período em referência e os novos contratos foram firmados com o caráter definitivo para o fundo.</a:t>
            </a:r>
          </a:p>
          <a:p>
            <a:r>
              <a:t>CNPJ 63953620000165 · Cessões no trimestre · Informe Trimestral · ID 1291068 · 06/2026 · versão 1 · p. 2 · Sobre a cessão dos direitos creditórios no período. · https://fnet.bmfbovespa.com.br/fnet/publico/visualizarDocumento?id=1291068 · Sobre a cessão dos direitos creditórios no período. Ocorreram novas cessões de direitos creditórios no período em referência e os novos contratos foram firmados com o caráter definitivo para o fundo.</a:t>
            </a:r>
          </a:p>
          <a:p>
            <a:r>
              <a:t>CNPJ 54871427000194 · Eventos de pré-pagamento · Informe Trimestral · ID 1291015 · 06/2026 · versão 1 · p. 2 · Sobre os impactos dos eventos de pré-pagamento. · https://fnet.bmfbovespa.com.br/fnet/publico/visualizarDocumento?id=1291015 · Sobre os impactos dos eventos de pré-pagamento. Não se aplica, visto que não ocorreram eventos de pré-pagamento no último trimestre.</a:t>
            </a:r>
          </a:p>
          <a:p>
            <a:r>
              <a:t>CNPJ 60010416000112 · Eventos de pré-pagamento · Informe Trimestral · ID 1292034 · 06/2026 · versão 1 · p. 2 · Sobre os impactos dos eventos de pré-pagamento. · https://fnet.bmfbovespa.com.br/fnet/publico/visualizarDocumento?id=1292034 · Sobre os impactos dos eventos de pré-pagamento. O fundo teve eventos de pré-pagamento no último trimestre, mas não foram observados impactos relevantes no patrimônio líquido e na carteira do fundo.</a:t>
            </a:r>
          </a:p>
          <a:p>
            <a:r>
              <a:t>CNPJ 62552447000120 · Eventos de pré-pagamento · Informe Trimestral · ID 1292043 · 06/2026 · versão 1 · p. 2 · Sobre os impactos dos eventos de pré-pagamento. · https://fnet.bmfbovespa.com.br/fnet/publico/visualizarDocumento?id=1292043 · Sobre os impactos dos eventos de pré-pagamento. O fundo teve eventos de pré-pagamento no último trimestre, mas não foram observados impactos relevantes no patrimônio líquido e na carteira do fundo.</a:t>
            </a:r>
          </a:p>
          <a:p>
            <a:r>
              <a:t>CNPJ 63953620000165 · Eventos de pré-pagamento · Informe Trimestral · ID 1291068 · 06/2026 · versão 1 · p. 2 · Sobre os impactos dos eventos de pré-pagamento. · https://fnet.bmfbovespa.com.br/fnet/publico/visualizarDocumento?id=1291068 · Sobre os impactos dos eventos de pré-pagamento. O fundo teve eventos de pré-pagamento no último trimestre, mas não foram observados impactos relevantes no patrimônio líquido e na carteira do fundo.</a:t>
            </a:r>
          </a:p>
          <a:p>
            <a:r>
              <a:t>CNPJ 54871427000194 · Alienação de direitos creditórios · Informe Trimestral · ID 1291015 · 06/2026 · versão 1 · p. 2 · Sobre as condições de alienação dos direitos creditórios. · https://fnet.bmfbovespa.com.br/fnet/publico/visualizarDocumento?id=1291015 · Sobre as condições de alienação dos direitos creditórios. Não se aplica, visto que não ocorreram eventos de alienação neste trimestre.</a:t>
            </a:r>
          </a:p>
          <a:p>
            <a:r>
              <a:t>CNPJ 60010416000112 · Alienação de direitos creditórios · Informe Trimestral · ID 1292034 · 06/2026 · versão 1 · p. 2 · Sobre as condições de alienação dos direitos creditórios. · https://fnet.bmfbovespa.com.br/fnet/publico/visualizarDocumento?id=1292034 · Sobre as condições de alienação dos direitos creditórios. No trimestre base o fundo teve eventos de alienação de uma parcela dos direitos creditórios de sua carteira. Como principal motivo para a realização desta operação temos: A realocação de investimentos da carteira.</a:t>
            </a:r>
          </a:p>
          <a:p>
            <a:r>
              <a:t>CNPJ 55563624000109 · Alienação de direitos creditórios · Informe Trimestral · ID 1289610 · 06/2026 · versão 1 · p. 3 · Condiçõesdealienação,aqualquertítulo,dedireitoscreditórios,incluindo: · https://fnet.bmfbovespa.com.br/fnet/publico/visualizarDocumento?id=1289610 · Condiçõesdealienação,aqualquertítulo,dedireitoscreditórios,incluindo: Momentodaalienação(antesoudepoisdovencimento); Resposta: Não ocorreram alienação de ativos da carteira do Fundo, exceto no curso normal dosnegócios. Motivaçãodaalienação; Resposta: Não ocorreram alienação de ativos da carteira do Fundo, exceto no curso normal dosnegócios. Impactonovalordopatrimôniolíquidoenarentabilidadedacarteiradeativosdeumapossível descontinuidade, a qualquer título, da originação ou cessão de direitos creditórios; Resposta:Nãohá. Informaçõessobrefatosocorridosqueafetaramaregularidadedosfluxosfinanceirosoriundosdos direitoscreditórios,incluindo,masnãoselimitando,aquaisquereventosqueacarretemnaliquidação ou amortização antecipada de direitos creditórios. Resposta: Não ocorreram eventos relevantes que acarretaram a regularidade dos fluxos financeirosoriundos dos direitos creditórios.</a:t>
            </a:r>
          </a:p>
          <a:p>
            <a:r>
              <a:t>CNPJ 62552447000120 · Alienação de direitos creditórios · Informe Trimestral · ID 1292043 · 06/2026 · versão 1 · p. 2 · Sobre as condições de alienação dos direitos creditórios. · https://fnet.bmfbovespa.com.br/fnet/publico/visualizarDocumento?id=1292043 · Sobre as condições de alienação dos direitos creditórios. Não se aplica, visto que não ocorreram eventos de alienação neste trimestre.</a:t>
            </a:r>
          </a:p>
          <a:p>
            <a:r>
              <a:t>CNPJ 63953620000165 · Alienação de direitos creditórios · Informe Trimestral · ID 1291068 · 06/2026 · versão 1 · p. 2 · Sobre as condições de alienação dos direitos creditórios. · https://fnet.bmfbovespa.com.br/fnet/publico/visualizarDocumento?id=1291068 · Sobre as condições de alienação dos direitos creditórios. No trimestre base o fundo teve eventos de alienação de uma parcela dos direitos creditórios de sua carteira. Como principal motivo para a realização desta operação temos: A realocação de investimentos da carteira.</a:t>
            </a:r>
          </a:p>
          <a:p>
            <a:r>
              <a:t>CNPJ 54871427000194 · Descontinuidade de originação ou cessão · Informe Trimestral · ID 1291015 · 06/2026 · versão 1 · p. 2 · Sobre a descontinuidade da originação ou cessão dos direitos creditórios do fundo. · https://fnet.bmfbovespa.com.br/fnet/publico/visualizarDocumento?id=1291015 · Sobre a descontinuidade da originação ou cessão dos direitos creditórios do fundo. O regulamento do fundo estabelece as condições mínimas previstas para descontinuidade da originação ou cessão dos direitos creditórios investidos, sendo certo que quaisquer alterações nestes critérios serão divulgadas a mercado, por meio de fato relevante ou através dos canais oficiais de registro do fundo.</a:t>
            </a:r>
          </a:p>
          <a:p>
            <a:r>
              <a:t>CNPJ 60010416000112 · Descontinuidade de originação ou cessão · Informe Trimestral · ID 1292034 · 06/2026 · versão 1 · p. 2 · Sobre a descontinuidade da originação ou cessão dos direitos creditórios do fundo. · https://fnet.bmfbovespa.com.br/fnet/publico/visualizarDocumento?id=1292034 · Sobre a descontinuidade da originação ou cessão dos direitos creditórios do fundo. Foram observados impactos significativos na rentabilidade do fundo, em função da descontinuidade da originação de direitos creditórios no trimestre em referência.</a:t>
            </a:r>
          </a:p>
          <a:p>
            <a:r>
              <a:t>CNPJ 62552447000120 · Descontinuidade de originação ou cessão · Informe Trimestral · ID 1292043 · 06/2026 · versão 1 · p. 2 · Sobre a descontinuidade da originação ou cessão dos direitos creditórios do fundo. · https://fnet.bmfbovespa.com.br/fnet/publico/visualizarDocumento?id=1292043 · Sobre a descontinuidade da originação ou cessão dos direitos creditórios do fundo. Não se aplica, visto que não foram observados impactos significativos na rentabilidade do fundo, em função da descontinuidade da originação de direitos creditórios no trimestre em referência.</a:t>
            </a:r>
          </a:p>
          <a:p>
            <a:r>
              <a:t>CNPJ 63953620000165 · Descontinuidade de originação ou cessão · Informe Trimestral · ID 1291068 · 06/2026 · versão 1 · p. 2 · Sobre a descontinuidade da originação ou cessão dos direitos creditórios do fundo. · https://fnet.bmfbovespa.com.br/fnet/publico/visualizarDocumento?id=1291068 · Sobre a descontinuidade da originação ou cessão dos direitos creditórios do fundo. Foram observados impactos significativos na rentabilidade do fundo, em função da descontinuidade da originação de direitos creditórios no trimestre em referência.</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Declarações trimestrais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Resultado da verificação de lastro · Informe Trimestral · ID 1291015 · 06/2026 · versão 1 · p. 1 · Sobre os resultados da última verificação do lastro dos direitos creditórios do fundo. · https://fnet.bmfbovespa.com.br/fnet/publico/visualizarDocumento?id=1291015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60010416000112 · Resultado da verificação de lastro · Informe Trimestral · ID 1292034 · 06/2026 · versão 1 · p. 1 · Sobre os resultados da última verificação do lastro dos direitos creditórios do fundo. · https://fnet.bmfbovespa.com.br/fnet/publico/visualizarDocumento?id=1292034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62696791000193 · Resultado da verificação de lastro · Informe Trimestral · ID 1114465 · 12/2025 · versão 1 · p. 1 · Sobre os resultados da última verificação do lastro dos direitos creditórios do fundo. · https://fnet.bmfbovespa.com.br/fnet/publico/visualizarDocumento?id=1114465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55563624000109 · Resultado da verificação de lastro · Informe Trimestral · ID 1289610 · 06/2026 · versão 1 · p. 1 · Sobre os resultados da última verificação do lastro dos direitos creditórios do fundo. · https://fnet.bmfbovespa.com.br/fnet/publico/visualizarDocumento?id=1289610 · Sobre os resultados da última verificação do lastro dos direitos creditórios do fundo. Informamos que o Fundo dispensa a verificação de lastro dos direitos creditórios.</a:t>
            </a:r>
          </a:p>
          <a:p>
            <a:r>
              <a:t>CNPJ 62552447000120 · Resultado da verificação de lastro · Informe Trimestral · ID 1292043 · 06/2026 · versão 1 · p. 1 · Sobre os resultados da última verificação do lastro dos direitos creditórios do fundo. · https://fnet.bmfbovespa.com.br/fnet/publico/visualizarDocumento?id=1292043 · Sobre os resultados da última verificação do lastro dos direitos creditórios do fundo. Informamos que o Fundo dispensa a verificação de lastro dos direitos creditórios.</a:t>
            </a:r>
          </a:p>
          <a:p>
            <a:r>
              <a:t>CNPJ 63953620000165 · Resultado da verificação de lastro · Informe Trimestral · ID 1291068 · 06/2026 · versão 1 · p. 1 · Sobre os resultados da última verificação do lastro dos direitos creditórios do fundo. · https://fnet.bmfbovespa.com.br/fnet/publico/visualizarDocumento?id=1291068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54871427000194 · Registro dos direitos creditórios · Informe Trimestral · ID 1291015 · 06/2026 · versão 1 · p. 1 · Sobre o registro dos direitos creditórios em entidade registradora. · https://fnet.bmfbovespa.com.br/fnet/publico/visualizarDocumento?id=1291015 · Sobre o registro dos direitos creditórios em entidade registradora. Todos os créditos estão liberados para registro.</a:t>
            </a:r>
          </a:p>
          <a:p>
            <a:r>
              <a:t>CNPJ 60010416000112 · Registro dos direitos creditórios · Informe Trimestral · ID 1292034 · 06/2026 · versão 1 · p. 1 · Sobre o registro dos direitos creditórios em entidade registradora. · https://fnet.bmfbovespa.com.br/fnet/publico/visualizarDocumento?id=1292034 · Sobre o registro dos direitos creditórios em entidade registradora. Todos os créditos estão liberados para registro.</a:t>
            </a:r>
          </a:p>
          <a:p>
            <a:r>
              <a:t>CNPJ 62696791000193 · Registro dos direitos creditórios · Informe Trimestral · ID 1114465 · 12/2025 · versão 1 · p. 1 · Sobre o registro dos direitos creditórios em entidade registradora. · https://fnet.bmfbovespa.com.br/fnet/publico/visualizarDocumento?id=1114465 · Sobre o registro dos direitos creditórios em entidade registradora. Todos os créditos estão liberados para registro.</a:t>
            </a:r>
          </a:p>
          <a:p>
            <a:r>
              <a:t>CNPJ 55563624000109 · Registro dos direitos creditórios · Informe Trimestral · ID 1289610 · 06/2026 · versão 1 · p. 1 · Sobre o registro dos direitos creditórios em entidade registradora. · https://fnet.bmfbovespa.com.br/fnet/publico/visualizarDocumento?id=1289610 · Sobre o registro dos direitos creditórios em entidade registradora. Todos os créditos estão liberados para registro.</a:t>
            </a:r>
          </a:p>
          <a:p>
            <a:r>
              <a:t>CNPJ 62552447000120 · Registro dos direitos creditórios · Informe Trimestral · ID 1292043 · 06/2026 · versão 1 · p. 1 · Sobre o registro dos direitos creditórios em entidade registradora. · https://fnet.bmfbovespa.com.br/fnet/publico/visualizarDocumento?id=1292043 · Sobre o registro dos direitos creditórios em entidade registradora. Todos os créditos estão liberados para registro.</a:t>
            </a:r>
          </a:p>
          <a:p>
            <a:r>
              <a:t>CNPJ 63953620000165 · Registro dos direitos creditórios · Informe Trimestral · ID 1291068 · 06/2026 · versão 1 · p. 1 · Sobre o registro dos direitos creditórios em entidade registradora. · https://fnet.bmfbovespa.com.br/fnet/publico/visualizarDocumento?id=1291068 · Sobre o registro dos direitos creditórios em entidade registradora. Todos os créditos estão liberados para registro.</a:t>
            </a:r>
          </a:p>
          <a:p>
            <a:r>
              <a:t>CNPJ 54871427000194 · Processos judiciais · Informe Trimestral · ID 1291015 · 06/2026 · versão 1 · p. 1 · Sobre a existência de processos judiciais envolvendo o FIDC. · https://fnet.bmfbovespa.com.br/fnet/publico/visualizarDocumento?id=1291015 · Sobre a existência de processos judiciais envolvendo o FIDC. O administrador do fundo não tem conhecimento de ações judiciais envolvendo o fundo no trimestre em referência.</a:t>
            </a:r>
          </a:p>
          <a:p>
            <a:r>
              <a:t>CNPJ 60010416000112 · Processos judiciais · Informe Trimestral · ID 1292034 · 06/2026 · versão 1 · p. 1 · Sobre a existência de processos judiciais envolvendo o FIDC. · https://fnet.bmfbovespa.com.br/fnet/publico/visualizarDocumento?id=1292034 · Sobre a existência de processos judiciais envolvendo o FIDC. O fundo está exposto as ações judiciais listadas abaixo:</a:t>
            </a:r>
          </a:p>
          <a:p>
            <a:r>
              <a:t>CNPJ 62696791000193 · Processos judiciais · Informe Trimestral · ID 1114465 · 12/2025 · versão 1 · p. 1 · Sobre a existência de processos judiciais envolvendo o FIDC. · https://fnet.bmfbovespa.com.br/fnet/publico/visualizarDocumento?id=1114465 · Sobre a existência de processos judiciais envolvendo o FIDC. O administrador do fundo não tem conhecimento de ações judiciais envolvendo o fundo no trimestre em referência.</a:t>
            </a:r>
          </a:p>
          <a:p>
            <a:r>
              <a:t>CNPJ 55563624000109 · Processos judiciais · Informe Trimestral · ID 1289610 · 06/2026 · versão 1 · p. 1 · Sobre a existência de processos judiciais envolvendo o FIDC. · https://fnet.bmfbovespa.com.br/fnet/publico/visualizarDocumento?id=1289610 · Sobre a existência de processos judiciais envolvendo o FIDC. O administrador do fundo não tem conhecimento de ações judiciais envolvendo o fundo no trimestre em referência.</a:t>
            </a:r>
          </a:p>
          <a:p>
            <a:r>
              <a:t>CNPJ 62552447000120 · Processos judiciais · Informe Trimestral · ID 1292043 · 06/2026 · versão 1 · p. 1 · Sobre a existência de processos judiciais envolvendo o FIDC. · https://fnet.bmfbovespa.com.br/fnet/publico/visualizarDocumento?id=1292043 · Sobre a existência de processos judiciais envolvendo o FIDC. O administrador do fundo não tem conhecimento de ações judiciais envolvendo o fundo no trimestre em referência.</a:t>
            </a:r>
          </a:p>
          <a:p>
            <a:r>
              <a:t>CNPJ 63953620000165 · Processos judiciais · Informe Trimestral · ID 1291068 · 06/2026 · versão 1 · p. 1 · Sobre a existência de processos judiciais envolvendo o FIDC. · https://fnet.bmfbovespa.com.br/fnet/publico/visualizarDocumento?id=1291068 · Sobre a existência de processos judiciais envolvendo o FIDC. O fundo está exposto as ações judiciais listadas abaixo:</a:t>
            </a:r>
          </a:p>
          <a:p>
            <a:r>
              <a:t>CNPJ 54871427000194 · Aquisição de precatórios · Informe Trimestral · ID 1291015 · 06/2026 · versão 1 · p. 1 · Sobre a aquisição de precatórios federais em fundos destinados ao público em geral. · https://fnet.bmfbovespa.com.br/fnet/publico/visualizarDocumento?id=1291015 · Sobre a aquisição de precatórios federais em fundos destinados ao público em geral. O fundo não se destina ao público em geral. As informações a seguir são destinadas à apresentação do relatório trimestral do gestor.</a:t>
            </a:r>
          </a:p>
          <a:p>
            <a:r>
              <a:t>CNPJ 60010416000112 · Aquisição de precatórios · Informe Trimestral · ID 1292034 · 06/2026 · versão 1 · p. 1 · Sobre a aquisição de precatórios federais em fundos destinados ao público em geral. · https://fnet.bmfbovespa.com.br/fnet/publico/visualizarDocumento?id=1292034 · Sobre a aquisição de precatórios federais em fundos destinados ao público em geral. O fundo adquiriu precatórios federais no trimestre em referência e está sujeito a eventual existência de impugnação judicial ou fatos supervenientes capazes de alterar a ordem ou o prazo de pagamento dos precatórios. As informações a seguir são destinadas à apresentação do relatório trimestral do gestor.</a:t>
            </a:r>
          </a:p>
          <a:p>
            <a:r>
              <a:t>CNPJ 62696791000193 · Aquisição de precatórios · Informe Trimestral · ID 1114465 · 12/2025 · versão 1 · p. 1 · Sobre a aquisição de precatórios federais em fundos destinados ao público em geral. · https://fnet.bmfbovespa.com.br/fnet/publico/visualizarDocumento?id=1114465 · Sobre a aquisição de precatórios federais em fundos destinados ao público em geral. O fundo não se destina ao público em geral. As informações a seguir são destinadas à apresentação do relatório trimestral do gestor. Em atendimento ao parágrafo § 4º, inciso V, artigo 27 da Resolução 175, informamos ainda que, até a data de divulgação deste demonstrativo trimestral, o gestor não encaminhou ao administrador o relatório trimestral da gestão, conforme estabelecido pela legislação em vigor.</a:t>
            </a:r>
          </a:p>
          <a:p>
            <a:r>
              <a:t>CNPJ 55563624000109 · Aquisição de precatórios · Informe Trimestral · ID 1289610 · 06/2026 · versão 1 · p. 1 · Sobre a aquisição de precatórios federais em fundos destinados ao público em geral. · https://fnet.bmfbovespa.com.br/fnet/publico/visualizarDocumento?id=1289610 · Sobre a aquisição de precatórios federais em fundos destinados ao público em geral. O fundo não se destina ao público em geral. As informações a seguir são destinadas à apresentação do relatório trimestral do gestor.</a:t>
            </a:r>
          </a:p>
          <a:p>
            <a:r>
              <a:t>CNPJ 62552447000120 · Aquisição de precatórios · Informe Trimestral · ID 1292043 · 06/2026 · versão 1 · p. 1 · Sobre a aquisição de precatórios federais em fundos destinados ao público em geral. · https://fnet.bmfbovespa.com.br/fnet/publico/visualizarDocumento?id=1292043 · Sobre a aquisição de precatórios federais em fundos destinados ao público em geral. O fundo não se destina ao público em geral. As informações a seguir são destinadas à apresentação do relatório trimestral do gestor.</a:t>
            </a:r>
          </a:p>
          <a:p>
            <a:r>
              <a:t>CNPJ 63953620000165 · Aquisição de precatórios · Informe Trimestral · ID 1291068 · 06/2026 · versão 1 · p. 1 · Sobre a aquisição de precatórios federais em fundos destinados ao público em geral. · https://fnet.bmfbovespa.com.br/fnet/publico/visualizarDocumento?id=1291068 · Sobre a aquisição de precatórios federais em fundos destinados ao público em geral. O fundo adquiriu precatórios federais no trimestre em referência e está sujeito a eventual existência de impugnação judicial ou fatos supervenientes capazes de alterar a ordem ou o prazo de pagamento dos precatórios. As informações a seguir são destinadas à apresentação do relatório trimestral do gestor.</a:t>
            </a:r>
          </a:p>
          <a:p>
            <a:r>
              <a:t>CNPJ 63953620000165 · Aquisição de precatórios · Anexo ao Regulamento · ID 1222863 · 02/06/2026 · versão AnexoConsignadoPrivado02/06/2026 · p. 6 · 4.14 · https://fnet.bmfbovespa.com.br/fnet/publico/visualizarDocumento?id=1222863 · 4.14 Nos termos do Art. 45, §7º, inciso II, do Anexo Normativo II da Resolução CVM 175, a Classe poderá ter até 100% (cem por cento) de seu Patrimônio Líquido alocado em Direitos Creditórios, derivativos, observado o disposto neste Anexo I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4.15 Sem prejuízo de limites</a:t>
            </a:r>
          </a:p>
          <a:p>
            <a:r>
              <a:t>CNPJ 63953620000165 · Aquisição de precatórios · Anexo ao Regulamento · ID 1222863 · 02/06/2026 · versão AnexoConsignadoPrivado02/06/2026 · p. 7 · 4.15(i)–(v) · https://fnet.bmfbovespa.com.br/fnet/publico/visualizarDocumento?id=1222863 · (i)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CNPJ 54871427000194 · Alterações da política de investimento · Informe Trimestral · ID 1291015 · 06/2026 · versão 1 · p. 1 · Impactos de eventual alteração na política de investimento sobre a rentabilidade do Fundo. · https://fnet.bmfbovespa.com.br/fnet/publico/visualizarDocumento?id=1291015 · Impactos de eventual alteração na política de investimento sobre a rentabilidade do Fundo. Não se aplica, pois não ocorreram alterações na política de investimento do fundo no trimestre em referência.</a:t>
            </a:r>
          </a:p>
          <a:p>
            <a:r>
              <a:t>CNPJ 60010416000112 · Alterações da política de investimento · Informe Trimestral · ID 1292034 · 06/2026 · versão 1 · p. 1 · Impactos de eventual alteração na política de investimento sobre a rentabilidade do Fundo. · https://fnet.bmfbovespa.com.br/fnet/publico/visualizarDocumento?id=1292034 · Impactos de eventual alteração na política de investimento sobre a rentabilidade do Fundo. Não foram observados impactos significativos na rentabilidade do fundo, em função das alterações ocorridas em seu regulamento no trimestre em referência.</a:t>
            </a:r>
          </a:p>
          <a:p>
            <a:r>
              <a:t>CNPJ 62552447000120 · Alterações da política de investimento · Informe Trimestral · ID 1292043 · 06/2026 · versão 1 · p. 1 · Impactos de eventual alteração na política de investimento sobre a rentabilidade do Fundo. · https://fnet.bmfbovespa.com.br/fnet/publico/visualizarDocumento?id=1292043 · Impactos de eventual alteração na política de investimento sobre a rentabilidade do Fundo. Não se aplica, pois não ocorreram alterações na política de investimento do fundo no trimestre em referência.</a:t>
            </a:r>
          </a:p>
          <a:p>
            <a:r>
              <a:t>CNPJ 63953620000165 · Alterações da política de investimento · Informe Trimestral · ID 1291068 · 06/2026 · versão 1 · p. 1 · Impactos de eventual alteração na política de investimento sobre a rentabilidade do Fundo. · https://fnet.bmfbovespa.com.br/fnet/publico/visualizarDocumento?id=1291068 · Impactos de eventual alteração na política de investimento sobre a rentabilidade do Fundo. Não foram observados impactos significativos na rentabilidade do fundo, em função das alterações ocorridas em seu regulamento no trimestre em referência.</a:t>
            </a:r>
          </a:p>
          <a:p>
            <a:r>
              <a:t>CNPJ 54871427000194 · Critérios de concessão dos originadores · Informe Trimestral · ID 1291015 · 06/2026 · versão 1 · p. 2 · Critérios para a concessão de crédito adotados pelos originadores, que representem 10% ou mais da carteira de direitos creditórios no trimestre. · https://fnet.bmfbovespa.com.br/fnet/publico/visualizarDocumento?id=1291015 · Critérios para a concessão de crédito adotados pelos originadores, que representem 10% ou mais da carteira de direitos creditórios no trimestre. Os critérios para a concessão de crédito adotados pelos originadores do fundo não foram alterados no último trimestre, conforme descrito em seu regulamento.</a:t>
            </a:r>
          </a:p>
          <a:p>
            <a:r>
              <a:t>CNPJ 60010416000112 · Critérios de concessão dos originadores · Informe Trimestral · ID 1292034 · 06/2026 · versão 1 · p. 2 · Critérios para a concessão de crédito adotados pelos originadores, que representem 10% ou mais da carteira de direitos creditórios no trimestre. · https://fnet.bmfbovespa.com.br/fnet/publico/visualizarDocumento?id=1292034 · Critérios para a concessão de crédito adotados pelos originadores, que representem 10% ou mais da carteira de direitos creditórios no trimestre. Os critérios para a concessão de crédito adotados pelos originadores do fundo foram alterados no último trimestre, conforme descrito em seu regulamento.</a:t>
            </a:r>
          </a:p>
          <a:p>
            <a:r>
              <a:t>CNPJ 55563624000109 · Critérios de concessão dos originadores · Informe Trimestral · ID 1289610 · 06/2026 · versão 1 · p. 2–3 · Critériosparaaconcessãodecréditoadotadospelosoriginadores,casotaiscritériosnãotenhamsido descritos no regulamento ou em outros demonstrativos trimestrais; Resposta:Nãoocorreramalteraçõesrelevantesnoscritériosparaaconcessãodecrédito. · https://fnet.bmfbovespa.com.br/fnet/publico/visualizarDocumento?id=1289610 · Critériosparaaconcessãodecréditoadotadospelosoriginadores,casotaiscritériosnãotenhamsido descritos no regulamento ou em outros demonstrativos trimestrais; Resposta:Nãoocorreramalteraçõesrelevantesnoscritériosparaaconcessãodecrédito. Eventuaisalteraçõesnoscritériosparaaconcessãodecréditoadotadosportaisoriginadores,casooscritériosadotadosjátenh amsidodescritosnoregulamentoouemoutrosdemonstrativostrimestrais;Resposta:Nãoocorreramalteraçõesrelevant esnoscritériosparaaconcessãodecrédito. Eventuaisalteraçõesnasgarantiasexistentesparaoconjuntodedireitoscreditórios; Resposta:Nãoocorreramalteraçõesrelevantesnas garantiasexistentesparao conjuntodeativos. Formacomoseoperouacessãodosdireitoscreditórios,incluindo: a)descriçãodecontratosrelevantesfirmadoscomessepropósito,sehouver;eb)indicaçãodocaráter definitivo, ou não, da cessão de direitos creditórios; Resposta:Ascessõesdedireitoscreditóriosocorreramtodasdeformadefinitiva,deacordocomodisposto no regulamento e/ou nos respectivos contratos. Nomedofundo:PLGNMARKETFCFIDC CNPJ: 55563624000109 Impactodoseventosdepré- pagamentonovalordopatrimôniolíquidoenarentabilidadedacarteira;Resposta:Existemeventosdepré- pagamentoemfundospulverizadosnocursonormaldosnegócios que não geram, por si só, impacto significativo no patrimônio líquido e na rentabilidade da carteira.</a:t>
            </a:r>
          </a:p>
          <a:p>
            <a:r>
              <a:t>CNPJ 63953620000165 · Critérios de concessão dos originadores · Informe Trimestral · ID 1291068 · 06/2026 · versão 1 · p. 2 · Critérios para a concessão de crédito adotados pelos originadores, que representem 10% ou mais da carteira de direitos creditórios no trimestre. · https://fnet.bmfbovespa.com.br/fnet/publico/visualizarDocumento?id=1291068 · Critérios para a concessão de crédito adotados pelos originadores, que representem 10% ou mais da carteira de direitos creditórios no trimestre. Os critérios para a concessão de crédito adotados pelos originadores do fundo foram alterados no último trimestre, conforme descrito em seu regulamento.</a:t>
            </a:r>
          </a:p>
          <a:p>
            <a:r>
              <a:t>CNPJ 54871427000194 · Alterações das garantias · Informe Trimestral · ID 1291015 · 06/2026 · versão 1 · p. 2 · Sobre as garantias existentes. · https://fnet.bmfbovespa.com.br/fnet/publico/visualizarDocumento?id=1291015 · Sobre as garantias existentes. Não ocorreram alterações nas garantias existentes para o conjunto de direitos creditórios adquiridos pelo fundo.</a:t>
            </a:r>
          </a:p>
          <a:p>
            <a:r>
              <a:t>CNPJ 60010416000112 · Alterações das garantias · Informe Trimestral · ID 1292034 · 06/2026 · versão 1 · p. 2 · Sobre as garantias existentes. · https://fnet.bmfbovespa.com.br/fnet/publico/visualizarDocumento?id=1292034 · Sobre as garantias existentes. Ocorreram alterações nas garantias existentes para o conjunto de direitos creditórios adquiridos pelo fundo.</a:t>
            </a:r>
          </a:p>
          <a:p>
            <a:r>
              <a:t>CNPJ 62552447000120 · Alterações das garantias · Informe Trimestral · ID 1292043 · 06/2026 · versão 1 · p. 2 · Sobre as garantias existentes. · https://fnet.bmfbovespa.com.br/fnet/publico/visualizarDocumento?id=1292043 · Sobre as garantias existentes. Não ocorreram alterações nas garantias existentes para o conjunto de direitos creditórios adquiridos pelo fundo.</a:t>
            </a:r>
          </a:p>
          <a:p>
            <a:r>
              <a:t>CNPJ 63953620000165 · Alterações das garantias · Informe Trimestral · ID 1291068 · 06/2026 · versão 1 · p. 2 · Sobre as garantias existentes. · https://fnet.bmfbovespa.com.br/fnet/publico/visualizarDocumento?id=1291068 · Sobre as garantias existentes. Ocorreram alterações nas garantias existentes para o conjunto de direitos creditórios adquiridos pelo fundo.</a:t>
            </a:r>
          </a:p>
          <a:p>
            <a:r>
              <a:t>CNPJ 54871427000194 · Cessões no trimestre · Informe Trimestral · ID 1291015 · 06/2026 · versão 1 · p. 2 · Sobre a cessão dos direitos creditórios no período. · https://fnet.bmfbovespa.com.br/fnet/publico/visualizarDocumento?id=1291015 · Sobre a cessão dos direitos creditórios no período. Não se aplica, visto que não foram emitidas novas cessões de direitos creditórios no período.</a:t>
            </a:r>
          </a:p>
          <a:p>
            <a:r>
              <a:t>CNPJ 60010416000112 · Cessões no trimestre · Informe Trimestral · ID 1292034 · 06/2026 · versão 1 · p. 2 · Sobre a cessão dos direitos creditórios no período. · https://fnet.bmfbovespa.com.br/fnet/publico/visualizarDocumento?id=1292034 · Sobre a cessão dos direitos creditórios no período. Ocorreram novas cessões de direitos creditórios no período em referência e os novos contratos foram firmados com o caráter definitivo para o fundo.</a:t>
            </a:r>
          </a:p>
          <a:p>
            <a:r>
              <a:t>CNPJ 62552447000120 · Cessões no trimestre · Informe Trimestral · ID 1292043 · 06/2026 · versão 1 · p. 2 · Sobre a cessão dos direitos creditórios no período. · https://fnet.bmfbovespa.com.br/fnet/publico/visualizarDocumento?id=1292043 · Sobre a cessão dos direitos creditórios no período. Ocorreram novas cessões de direitos creditórios no período em referência e os novos contratos foram firmados com o caráter definitivo para o fundo.</a:t>
            </a:r>
          </a:p>
          <a:p>
            <a:r>
              <a:t>CNPJ 63953620000165 · Cessões no trimestre · Informe Trimestral · ID 1291068 · 06/2026 · versão 1 · p. 2 · Sobre a cessão dos direitos creditórios no período. · https://fnet.bmfbovespa.com.br/fnet/publico/visualizarDocumento?id=1291068 · Sobre a cessão dos direitos creditórios no período. Ocorreram novas cessões de direitos creditórios no período em referência e os novos contratos foram firmados com o caráter definitivo para o fundo.</a:t>
            </a:r>
          </a:p>
          <a:p>
            <a:r>
              <a:t>CNPJ 54871427000194 · Eventos de pré-pagamento · Informe Trimestral · ID 1291015 · 06/2026 · versão 1 · p. 2 · Sobre os impactos dos eventos de pré-pagamento. · https://fnet.bmfbovespa.com.br/fnet/publico/visualizarDocumento?id=1291015 · Sobre os impactos dos eventos de pré-pagamento. Não se aplica, visto que não ocorreram eventos de pré-pagamento no último trimestre.</a:t>
            </a:r>
          </a:p>
          <a:p>
            <a:r>
              <a:t>CNPJ 60010416000112 · Eventos de pré-pagamento · Informe Trimestral · ID 1292034 · 06/2026 · versão 1 · p. 2 · Sobre os impactos dos eventos de pré-pagamento. · https://fnet.bmfbovespa.com.br/fnet/publico/visualizarDocumento?id=1292034 · Sobre os impactos dos eventos de pré-pagamento. O fundo teve eventos de pré-pagamento no último trimestre, mas não foram observados impactos relevantes no patrimônio líquido e na carteira do fundo.</a:t>
            </a:r>
          </a:p>
          <a:p>
            <a:r>
              <a:t>CNPJ 62552447000120 · Eventos de pré-pagamento · Informe Trimestral · ID 1292043 · 06/2026 · versão 1 · p. 2 · Sobre os impactos dos eventos de pré-pagamento. · https://fnet.bmfbovespa.com.br/fnet/publico/visualizarDocumento?id=1292043 · Sobre os impactos dos eventos de pré-pagamento. O fundo teve eventos de pré-pagamento no último trimestre, mas não foram observados impactos relevantes no patrimônio líquido e na carteira do fundo.</a:t>
            </a:r>
          </a:p>
          <a:p>
            <a:r>
              <a:t>CNPJ 63953620000165 · Eventos de pré-pagamento · Informe Trimestral · ID 1291068 · 06/2026 · versão 1 · p. 2 · Sobre os impactos dos eventos de pré-pagamento. · https://fnet.bmfbovespa.com.br/fnet/publico/visualizarDocumento?id=1291068 · Sobre os impactos dos eventos de pré-pagamento. O fundo teve eventos de pré-pagamento no último trimestre, mas não foram observados impactos relevantes no patrimônio líquido e na carteira do fundo.</a:t>
            </a:r>
          </a:p>
          <a:p>
            <a:r>
              <a:t>CNPJ 54871427000194 · Alienação de direitos creditórios · Informe Trimestral · ID 1291015 · 06/2026 · versão 1 · p. 2 · Sobre as condições de alienação dos direitos creditórios. · https://fnet.bmfbovespa.com.br/fnet/publico/visualizarDocumento?id=1291015 · Sobre as condições de alienação dos direitos creditórios. Não se aplica, visto que não ocorreram eventos de alienação neste trimestre.</a:t>
            </a:r>
          </a:p>
          <a:p>
            <a:r>
              <a:t>CNPJ 60010416000112 · Alienação de direitos creditórios · Informe Trimestral · ID 1292034 · 06/2026 · versão 1 · p. 2 · Sobre as condições de alienação dos direitos creditórios. · https://fnet.bmfbovespa.com.br/fnet/publico/visualizarDocumento?id=1292034 · Sobre as condições de alienação dos direitos creditórios. No trimestre base o fundo teve eventos de alienação de uma parcela dos direitos creditórios de sua carteira. Como principal motivo para a realização desta operação temos: A realocação de investimentos da carteira.</a:t>
            </a:r>
          </a:p>
          <a:p>
            <a:r>
              <a:t>CNPJ 55563624000109 · Alienação de direitos creditórios · Informe Trimestral · ID 1289610 · 06/2026 · versão 1 · p. 3 · Condiçõesdealienação,aqualquertítulo,dedireitoscreditórios,incluindo: · https://fnet.bmfbovespa.com.br/fnet/publico/visualizarDocumento?id=1289610 · Condiçõesdealienação,aqualquertítulo,dedireitoscreditórios,incluindo: Momentodaalienação(antesoudepoisdovencimento); Resposta: Não ocorreram alienação de ativos da carteira do Fundo, exceto no curso normal dosnegócios. Motivaçãodaalienação; Resposta: Não ocorreram alienação de ativos da carteira do Fundo, exceto no curso normal dosnegócios. Impactonovalordopatrimôniolíquidoenarentabilidadedacarteiradeativosdeumapossível descontinuidade, a qualquer título, da originação ou cessão de direitos creditórios; Resposta:Nãohá. Informaçõessobrefatosocorridosqueafetaramaregularidadedosfluxosfinanceirosoriundosdos direitoscreditórios,incluindo,masnãoselimitando,aquaisquereventosqueacarretemnaliquidação ou amortização antecipada de direitos creditórios. Resposta: Não ocorreram eventos relevantes que acarretaram a regularidade dos fluxos financeirosoriundos dos direitos creditórios.</a:t>
            </a:r>
          </a:p>
          <a:p>
            <a:r>
              <a:t>CNPJ 62552447000120 · Alienação de direitos creditórios · Informe Trimestral · ID 1292043 · 06/2026 · versão 1 · p. 2 · Sobre as condições de alienação dos direitos creditórios. · https://fnet.bmfbovespa.com.br/fnet/publico/visualizarDocumento?id=1292043 · Sobre as condições de alienação dos direitos creditórios. Não se aplica, visto que não ocorreram eventos de alienação neste trimestre.</a:t>
            </a:r>
          </a:p>
          <a:p>
            <a:r>
              <a:t>CNPJ 63953620000165 · Alienação de direitos creditórios · Informe Trimestral · ID 1291068 · 06/2026 · versão 1 · p. 2 · Sobre as condições de alienação dos direitos creditórios. · https://fnet.bmfbovespa.com.br/fnet/publico/visualizarDocumento?id=1291068 · Sobre as condições de alienação dos direitos creditórios. No trimestre base o fundo teve eventos de alienação de uma parcela dos direitos creditórios de sua carteira. Como principal motivo para a realização desta operação temos: A realocação de investimentos da carteira.</a:t>
            </a:r>
          </a:p>
          <a:p>
            <a:r>
              <a:t>CNPJ 54871427000194 · Descontinuidade de originação ou cessão · Informe Trimestral · ID 1291015 · 06/2026 · versão 1 · p. 2 · Sobre a descontinuidade da originação ou cessão dos direitos creditórios do fundo. · https://fnet.bmfbovespa.com.br/fnet/publico/visualizarDocumento?id=1291015 · Sobre a descontinuidade da originação ou cessão dos direitos creditórios do fundo. O regulamento do fundo estabelece as condições mínimas previstas para descontinuidade da originação ou cessão dos direitos creditórios investidos, sendo certo que quaisquer alterações nestes critérios serão divulgadas a mercado, por meio de fato relevante ou através dos canais oficiais de registro do fundo.</a:t>
            </a:r>
          </a:p>
          <a:p>
            <a:r>
              <a:t>CNPJ 60010416000112 · Descontinuidade de originação ou cessão · Informe Trimestral · ID 1292034 · 06/2026 · versão 1 · p. 2 · Sobre a descontinuidade da originação ou cessão dos direitos creditórios do fundo. · https://fnet.bmfbovespa.com.br/fnet/publico/visualizarDocumento?id=1292034 · Sobre a descontinuidade da originação ou cessão dos direitos creditórios do fundo. Foram observados impactos significativos na rentabilidade do fundo, em função da descontinuidade da originação de direitos creditórios no trimestre em referência.</a:t>
            </a:r>
          </a:p>
          <a:p>
            <a:r>
              <a:t>CNPJ 62552447000120 · Descontinuidade de originação ou cessão · Informe Trimestral · ID 1292043 · 06/2026 · versão 1 · p. 2 · Sobre a descontinuidade da originação ou cessão dos direitos creditórios do fundo. · https://fnet.bmfbovespa.com.br/fnet/publico/visualizarDocumento?id=1292043 · Sobre a descontinuidade da originação ou cessão dos direitos creditórios do fundo. Não se aplica, visto que não foram observados impactos significativos na rentabilidade do fundo, em função da descontinuidade da originação de direitos creditórios no trimestre em referência.</a:t>
            </a:r>
          </a:p>
          <a:p>
            <a:r>
              <a:t>CNPJ 63953620000165 · Descontinuidade de originação ou cessão · Informe Trimestral · ID 1291068 · 06/2026 · versão 1 · p. 2 · Sobre a descontinuidade da originação ou cessão dos direitos creditórios do fundo. · https://fnet.bmfbovespa.com.br/fnet/publico/visualizarDocumento?id=1291068 · Sobre a descontinuidade da originação ou cessão dos direitos creditórios do fundo. Foram observados impactos significativos na rentabilidade do fundo, em função da descontinuidade da originação de direitos creditórios no trimestre em referência.</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Declarações trimestrais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Resultado da verificação de lastro · Informe Trimestral · ID 1291015 · 06/2026 · versão 1 · p. 1 · Sobre os resultados da última verificação do lastro dos direitos creditórios do fundo. · https://fnet.bmfbovespa.com.br/fnet/publico/visualizarDocumento?id=1291015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60010416000112 · Resultado da verificação de lastro · Informe Trimestral · ID 1292034 · 06/2026 · versão 1 · p. 1 · Sobre os resultados da última verificação do lastro dos direitos creditórios do fundo. · https://fnet.bmfbovespa.com.br/fnet/publico/visualizarDocumento?id=1292034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62696791000193 · Resultado da verificação de lastro · Informe Trimestral · ID 1114465 · 12/2025 · versão 1 · p. 1 · Sobre os resultados da última verificação do lastro dos direitos creditórios do fundo. · https://fnet.bmfbovespa.com.br/fnet/publico/visualizarDocumento?id=1114465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55563624000109 · Resultado da verificação de lastro · Informe Trimestral · ID 1289610 · 06/2026 · versão 1 · p. 1 · Sobre os resultados da última verificação do lastro dos direitos creditórios do fundo. · https://fnet.bmfbovespa.com.br/fnet/publico/visualizarDocumento?id=1289610 · Sobre os resultados da última verificação do lastro dos direitos creditórios do fundo. Informamos que o Fundo dispensa a verificação de lastro dos direitos creditórios.</a:t>
            </a:r>
          </a:p>
          <a:p>
            <a:r>
              <a:t>CNPJ 62552447000120 · Resultado da verificação de lastro · Informe Trimestral · ID 1292043 · 06/2026 · versão 1 · p. 1 · Sobre os resultados da última verificação do lastro dos direitos creditórios do fundo. · https://fnet.bmfbovespa.com.br/fnet/publico/visualizarDocumento?id=1292043 · Sobre os resultados da última verificação do lastro dos direitos creditórios do fundo. Informamos que o Fundo dispensa a verificação de lastro dos direitos creditórios.</a:t>
            </a:r>
          </a:p>
          <a:p>
            <a:r>
              <a:t>CNPJ 63953620000165 · Resultado da verificação de lastro · Informe Trimestral · ID 1291068 · 06/2026 · versão 1 · p. 1 · Sobre os resultados da última verificação do lastro dos direitos creditórios do fundo. · https://fnet.bmfbovespa.com.br/fnet/publico/visualizarDocumento?id=1291068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54871427000194 · Registro dos direitos creditórios · Informe Trimestral · ID 1291015 · 06/2026 · versão 1 · p. 1 · Sobre o registro dos direitos creditórios em entidade registradora. · https://fnet.bmfbovespa.com.br/fnet/publico/visualizarDocumento?id=1291015 · Sobre o registro dos direitos creditórios em entidade registradora. Todos os créditos estão liberados para registro.</a:t>
            </a:r>
          </a:p>
          <a:p>
            <a:r>
              <a:t>CNPJ 60010416000112 · Registro dos direitos creditórios · Informe Trimestral · ID 1292034 · 06/2026 · versão 1 · p. 1 · Sobre o registro dos direitos creditórios em entidade registradora. · https://fnet.bmfbovespa.com.br/fnet/publico/visualizarDocumento?id=1292034 · Sobre o registro dos direitos creditórios em entidade registradora. Todos os créditos estão liberados para registro.</a:t>
            </a:r>
          </a:p>
          <a:p>
            <a:r>
              <a:t>CNPJ 62696791000193 · Registro dos direitos creditórios · Informe Trimestral · ID 1114465 · 12/2025 · versão 1 · p. 1 · Sobre o registro dos direitos creditórios em entidade registradora. · https://fnet.bmfbovespa.com.br/fnet/publico/visualizarDocumento?id=1114465 · Sobre o registro dos direitos creditórios em entidade registradora. Todos os créditos estão liberados para registro.</a:t>
            </a:r>
          </a:p>
          <a:p>
            <a:r>
              <a:t>CNPJ 55563624000109 · Registro dos direitos creditórios · Informe Trimestral · ID 1289610 · 06/2026 · versão 1 · p. 1 · Sobre o registro dos direitos creditórios em entidade registradora. · https://fnet.bmfbovespa.com.br/fnet/publico/visualizarDocumento?id=1289610 · Sobre o registro dos direitos creditórios em entidade registradora. Todos os créditos estão liberados para registro.</a:t>
            </a:r>
          </a:p>
          <a:p>
            <a:r>
              <a:t>CNPJ 62552447000120 · Registro dos direitos creditórios · Informe Trimestral · ID 1292043 · 06/2026 · versão 1 · p. 1 · Sobre o registro dos direitos creditórios em entidade registradora. · https://fnet.bmfbovespa.com.br/fnet/publico/visualizarDocumento?id=1292043 · Sobre o registro dos direitos creditórios em entidade registradora. Todos os créditos estão liberados para registro.</a:t>
            </a:r>
          </a:p>
          <a:p>
            <a:r>
              <a:t>CNPJ 63953620000165 · Registro dos direitos creditórios · Informe Trimestral · ID 1291068 · 06/2026 · versão 1 · p. 1 · Sobre o registro dos direitos creditórios em entidade registradora. · https://fnet.bmfbovespa.com.br/fnet/publico/visualizarDocumento?id=1291068 · Sobre o registro dos direitos creditórios em entidade registradora. Todos os créditos estão liberados para registro.</a:t>
            </a:r>
          </a:p>
          <a:p>
            <a:r>
              <a:t>CNPJ 54871427000194 · Processos judiciais · Informe Trimestral · ID 1291015 · 06/2026 · versão 1 · p. 1 · Sobre a existência de processos judiciais envolvendo o FIDC. · https://fnet.bmfbovespa.com.br/fnet/publico/visualizarDocumento?id=1291015 · Sobre a existência de processos judiciais envolvendo o FIDC. O administrador do fundo não tem conhecimento de ações judiciais envolvendo o fundo no trimestre em referência.</a:t>
            </a:r>
          </a:p>
          <a:p>
            <a:r>
              <a:t>CNPJ 60010416000112 · Processos judiciais · Informe Trimestral · ID 1292034 · 06/2026 · versão 1 · p. 1 · Sobre a existência de processos judiciais envolvendo o FIDC. · https://fnet.bmfbovespa.com.br/fnet/publico/visualizarDocumento?id=1292034 · Sobre a existência de processos judiciais envolvendo o FIDC. O fundo está exposto as ações judiciais listadas abaixo:</a:t>
            </a:r>
          </a:p>
          <a:p>
            <a:r>
              <a:t>CNPJ 62696791000193 · Processos judiciais · Informe Trimestral · ID 1114465 · 12/2025 · versão 1 · p. 1 · Sobre a existência de processos judiciais envolvendo o FIDC. · https://fnet.bmfbovespa.com.br/fnet/publico/visualizarDocumento?id=1114465 · Sobre a existência de processos judiciais envolvendo o FIDC. O administrador do fundo não tem conhecimento de ações judiciais envolvendo o fundo no trimestre em referência.</a:t>
            </a:r>
          </a:p>
          <a:p>
            <a:r>
              <a:t>CNPJ 55563624000109 · Processos judiciais · Informe Trimestral · ID 1289610 · 06/2026 · versão 1 · p. 1 · Sobre a existência de processos judiciais envolvendo o FIDC. · https://fnet.bmfbovespa.com.br/fnet/publico/visualizarDocumento?id=1289610 · Sobre a existência de processos judiciais envolvendo o FIDC. O administrador do fundo não tem conhecimento de ações judiciais envolvendo o fundo no trimestre em referência.</a:t>
            </a:r>
          </a:p>
          <a:p>
            <a:r>
              <a:t>CNPJ 62552447000120 · Processos judiciais · Informe Trimestral · ID 1292043 · 06/2026 · versão 1 · p. 1 · Sobre a existência de processos judiciais envolvendo o FIDC. · https://fnet.bmfbovespa.com.br/fnet/publico/visualizarDocumento?id=1292043 · Sobre a existência de processos judiciais envolvendo o FIDC. O administrador do fundo não tem conhecimento de ações judiciais envolvendo o fundo no trimestre em referência.</a:t>
            </a:r>
          </a:p>
          <a:p>
            <a:r>
              <a:t>CNPJ 63953620000165 · Processos judiciais · Informe Trimestral · ID 1291068 · 06/2026 · versão 1 · p. 1 · Sobre a existência de processos judiciais envolvendo o FIDC. · https://fnet.bmfbovespa.com.br/fnet/publico/visualizarDocumento?id=1291068 · Sobre a existência de processos judiciais envolvendo o FIDC. O fundo está exposto as ações judiciais listadas abaixo:</a:t>
            </a:r>
          </a:p>
          <a:p>
            <a:r>
              <a:t>CNPJ 54871427000194 · Aquisição de precatórios · Informe Trimestral · ID 1291015 · 06/2026 · versão 1 · p. 1 · Sobre a aquisição de precatórios federais em fundos destinados ao público em geral. · https://fnet.bmfbovespa.com.br/fnet/publico/visualizarDocumento?id=1291015 · Sobre a aquisição de precatórios federais em fundos destinados ao público em geral. O fundo não se destina ao público em geral. As informações a seguir são destinadas à apresentação do relatório trimestral do gestor.</a:t>
            </a:r>
          </a:p>
          <a:p>
            <a:r>
              <a:t>CNPJ 60010416000112 · Aquisição de precatórios · Informe Trimestral · ID 1292034 · 06/2026 · versão 1 · p. 1 · Sobre a aquisição de precatórios federais em fundos destinados ao público em geral. · https://fnet.bmfbovespa.com.br/fnet/publico/visualizarDocumento?id=1292034 · Sobre a aquisição de precatórios federais em fundos destinados ao público em geral. O fundo adquiriu precatórios federais no trimestre em referência e está sujeito a eventual existência de impugnação judicial ou fatos supervenientes capazes de alterar a ordem ou o prazo de pagamento dos precatórios. As informações a seguir são destinadas à apresentação do relatório trimestral do gestor.</a:t>
            </a:r>
          </a:p>
          <a:p>
            <a:r>
              <a:t>CNPJ 62696791000193 · Aquisição de precatórios · Informe Trimestral · ID 1114465 · 12/2025 · versão 1 · p. 1 · Sobre a aquisição de precatórios federais em fundos destinados ao público em geral. · https://fnet.bmfbovespa.com.br/fnet/publico/visualizarDocumento?id=1114465 · Sobre a aquisição de precatórios federais em fundos destinados ao público em geral. O fundo não se destina ao público em geral. As informações a seguir são destinadas à apresentação do relatório trimestral do gestor. Em atendimento ao parágrafo § 4º, inciso V, artigo 27 da Resolução 175, informamos ainda que, até a data de divulgação deste demonstrativo trimestral, o gestor não encaminhou ao administrador o relatório trimestral da gestão, conforme estabelecido pela legislação em vigor.</a:t>
            </a:r>
          </a:p>
          <a:p>
            <a:r>
              <a:t>CNPJ 55563624000109 · Aquisição de precatórios · Informe Trimestral · ID 1289610 · 06/2026 · versão 1 · p. 1 · Sobre a aquisição de precatórios federais em fundos destinados ao público em geral. · https://fnet.bmfbovespa.com.br/fnet/publico/visualizarDocumento?id=1289610 · Sobre a aquisição de precatórios federais em fundos destinados ao público em geral. O fundo não se destina ao público em geral. As informações a seguir são destinadas à apresentação do relatório trimestral do gestor.</a:t>
            </a:r>
          </a:p>
          <a:p>
            <a:r>
              <a:t>CNPJ 62552447000120 · Aquisição de precatórios · Informe Trimestral · ID 1292043 · 06/2026 · versão 1 · p. 1 · Sobre a aquisição de precatórios federais em fundos destinados ao público em geral. · https://fnet.bmfbovespa.com.br/fnet/publico/visualizarDocumento?id=1292043 · Sobre a aquisição de precatórios federais em fundos destinados ao público em geral. O fundo não se destina ao público em geral. As informações a seguir são destinadas à apresentação do relatório trimestral do gestor.</a:t>
            </a:r>
          </a:p>
          <a:p>
            <a:r>
              <a:t>CNPJ 63953620000165 · Aquisição de precatórios · Informe Trimestral · ID 1291068 · 06/2026 · versão 1 · p. 1 · Sobre a aquisição de precatórios federais em fundos destinados ao público em geral. · https://fnet.bmfbovespa.com.br/fnet/publico/visualizarDocumento?id=1291068 · Sobre a aquisição de precatórios federais em fundos destinados ao público em geral. O fundo adquiriu precatórios federais no trimestre em referência e está sujeito a eventual existência de impugnação judicial ou fatos supervenientes capazes de alterar a ordem ou o prazo de pagamento dos precatórios. As informações a seguir são destinadas à apresentação do relatório trimestral do gestor.</a:t>
            </a:r>
          </a:p>
          <a:p>
            <a:r>
              <a:t>CNPJ 63953620000165 · Aquisição de precatórios · Anexo ao Regulamento · ID 1222863 · 02/06/2026 · versão AnexoConsignadoPrivado02/06/2026 · p. 6 · 4.14 · https://fnet.bmfbovespa.com.br/fnet/publico/visualizarDocumento?id=1222863 · 4.14 Nos termos do Art. 45, §7º, inciso II, do Anexo Normativo II da Resolução CVM 175, a Classe poderá ter até 100% (cem por cento) de seu Patrimônio Líquido alocado em Direitos Creditórios, derivativos, observado o disposto neste Anexo I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4.15 Sem prejuízo de limites</a:t>
            </a:r>
          </a:p>
          <a:p>
            <a:r>
              <a:t>CNPJ 63953620000165 · Aquisição de precatórios · Anexo ao Regulamento · ID 1222863 · 02/06/2026 · versão AnexoConsignadoPrivado02/06/2026 · p. 7 · 4.15(i)–(v) · https://fnet.bmfbovespa.com.br/fnet/publico/visualizarDocumento?id=1222863 · (i)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CNPJ 54871427000194 · Alterações da política de investimento · Informe Trimestral · ID 1291015 · 06/2026 · versão 1 · p. 1 · Impactos de eventual alteração na política de investimento sobre a rentabilidade do Fundo. · https://fnet.bmfbovespa.com.br/fnet/publico/visualizarDocumento?id=1291015 · Impactos de eventual alteração na política de investimento sobre a rentabilidade do Fundo. Não se aplica, pois não ocorreram alterações na política de investimento do fundo no trimestre em referência.</a:t>
            </a:r>
          </a:p>
          <a:p>
            <a:r>
              <a:t>CNPJ 60010416000112 · Alterações da política de investimento · Informe Trimestral · ID 1292034 · 06/2026 · versão 1 · p. 1 · Impactos de eventual alteração na política de investimento sobre a rentabilidade do Fundo. · https://fnet.bmfbovespa.com.br/fnet/publico/visualizarDocumento?id=1292034 · Impactos de eventual alteração na política de investimento sobre a rentabilidade do Fundo. Não foram observados impactos significativos na rentabilidade do fundo, em função das alterações ocorridas em seu regulamento no trimestre em referência.</a:t>
            </a:r>
          </a:p>
          <a:p>
            <a:r>
              <a:t>CNPJ 62552447000120 · Alterações da política de investimento · Informe Trimestral · ID 1292043 · 06/2026 · versão 1 · p. 1 · Impactos de eventual alteração na política de investimento sobre a rentabilidade do Fundo. · https://fnet.bmfbovespa.com.br/fnet/publico/visualizarDocumento?id=1292043 · Impactos de eventual alteração na política de investimento sobre a rentabilidade do Fundo. Não se aplica, pois não ocorreram alterações na política de investimento do fundo no trimestre em referência.</a:t>
            </a:r>
          </a:p>
          <a:p>
            <a:r>
              <a:t>CNPJ 63953620000165 · Alterações da política de investimento · Informe Trimestral · ID 1291068 · 06/2026 · versão 1 · p. 1 · Impactos de eventual alteração na política de investimento sobre a rentabilidade do Fundo. · https://fnet.bmfbovespa.com.br/fnet/publico/visualizarDocumento?id=1291068 · Impactos de eventual alteração na política de investimento sobre a rentabilidade do Fundo. Não foram observados impactos significativos na rentabilidade do fundo, em função das alterações ocorridas em seu regulamento no trimestre em referência.</a:t>
            </a:r>
          </a:p>
          <a:p>
            <a:r>
              <a:t>CNPJ 54871427000194 · Critérios de concessão dos originadores · Informe Trimestral · ID 1291015 · 06/2026 · versão 1 · p. 2 · Critérios para a concessão de crédito adotados pelos originadores, que representem 10% ou mais da carteira de direitos creditórios no trimestre. · https://fnet.bmfbovespa.com.br/fnet/publico/visualizarDocumento?id=1291015 · Critérios para a concessão de crédito adotados pelos originadores, que representem 10% ou mais da carteira de direitos creditórios no trimestre. Os critérios para a concessão de crédito adotados pelos originadores do fundo não foram alterados no último trimestre, conforme descrito em seu regulamento.</a:t>
            </a:r>
          </a:p>
          <a:p>
            <a:r>
              <a:t>CNPJ 60010416000112 · Critérios de concessão dos originadores · Informe Trimestral · ID 1292034 · 06/2026 · versão 1 · p. 2 · Critérios para a concessão de crédito adotados pelos originadores, que representem 10% ou mais da carteira de direitos creditórios no trimestre. · https://fnet.bmfbovespa.com.br/fnet/publico/visualizarDocumento?id=1292034 · Critérios para a concessão de crédito adotados pelos originadores, que representem 10% ou mais da carteira de direitos creditórios no trimestre. Os critérios para a concessão de crédito adotados pelos originadores do fundo foram alterados no último trimestre, conforme descrito em seu regulamento.</a:t>
            </a:r>
          </a:p>
          <a:p>
            <a:r>
              <a:t>CNPJ 55563624000109 · Critérios de concessão dos originadores · Informe Trimestral · ID 1289610 · 06/2026 · versão 1 · p. 2–3 · Critériosparaaconcessãodecréditoadotadospelosoriginadores,casotaiscritériosnãotenhamsido descritos no regulamento ou em outros demonstrativos trimestrais; Resposta:Nãoocorreramalteraçõesrelevantesnoscritériosparaaconcessãodecrédito. · https://fnet.bmfbovespa.com.br/fnet/publico/visualizarDocumento?id=1289610 · Critériosparaaconcessãodecréditoadotadospelosoriginadores,casotaiscritériosnãotenhamsido descritos no regulamento ou em outros demonstrativos trimestrais; Resposta:Nãoocorreramalteraçõesrelevantesnoscritériosparaaconcessãodecrédito. Eventuaisalteraçõesnoscritériosparaaconcessãodecréditoadotadosportaisoriginadores,casooscritériosadotadosjátenh amsidodescritosnoregulamentoouemoutrosdemonstrativostrimestrais;Resposta:Nãoocorreramalteraçõesrelevant esnoscritériosparaaconcessãodecrédito. Eventuaisalteraçõesnasgarantiasexistentesparaoconjuntodedireitoscreditórios; Resposta:Nãoocorreramalteraçõesrelevantesnas garantiasexistentesparao conjuntodeativos. Formacomoseoperouacessãodosdireitoscreditórios,incluindo: a)descriçãodecontratosrelevantesfirmadoscomessepropósito,sehouver;eb)indicaçãodocaráter definitivo, ou não, da cessão de direitos creditórios; Resposta:Ascessõesdedireitoscreditóriosocorreramtodasdeformadefinitiva,deacordocomodisposto no regulamento e/ou nos respectivos contratos. Nomedofundo:PLGNMARKETFCFIDC CNPJ: 55563624000109 Impactodoseventosdepré- pagamentonovalordopatrimôniolíquidoenarentabilidadedacarteira;Resposta:Existemeventosdepré- pagamentoemfundospulverizadosnocursonormaldosnegócios que não geram, por si só, impacto significativo no patrimônio líquido e na rentabilidade da carteira.</a:t>
            </a:r>
          </a:p>
          <a:p>
            <a:r>
              <a:t>CNPJ 63953620000165 · Critérios de concessão dos originadores · Informe Trimestral · ID 1291068 · 06/2026 · versão 1 · p. 2 · Critérios para a concessão de crédito adotados pelos originadores, que representem 10% ou mais da carteira de direitos creditórios no trimestre. · https://fnet.bmfbovespa.com.br/fnet/publico/visualizarDocumento?id=1291068 · Critérios para a concessão de crédito adotados pelos originadores, que representem 10% ou mais da carteira de direitos creditórios no trimestre. Os critérios para a concessão de crédito adotados pelos originadores do fundo foram alterados no último trimestre, conforme descrito em seu regulamento.</a:t>
            </a:r>
          </a:p>
          <a:p>
            <a:r>
              <a:t>CNPJ 54871427000194 · Alterações das garantias · Informe Trimestral · ID 1291015 · 06/2026 · versão 1 · p. 2 · Sobre as garantias existentes. · https://fnet.bmfbovespa.com.br/fnet/publico/visualizarDocumento?id=1291015 · Sobre as garantias existentes. Não ocorreram alterações nas garantias existentes para o conjunto de direitos creditórios adquiridos pelo fundo.</a:t>
            </a:r>
          </a:p>
          <a:p>
            <a:r>
              <a:t>CNPJ 60010416000112 · Alterações das garantias · Informe Trimestral · ID 1292034 · 06/2026 · versão 1 · p. 2 · Sobre as garantias existentes. · https://fnet.bmfbovespa.com.br/fnet/publico/visualizarDocumento?id=1292034 · Sobre as garantias existentes. Ocorreram alterações nas garantias existentes para o conjunto de direitos creditórios adquiridos pelo fundo.</a:t>
            </a:r>
          </a:p>
          <a:p>
            <a:r>
              <a:t>CNPJ 62552447000120 · Alterações das garantias · Informe Trimestral · ID 1292043 · 06/2026 · versão 1 · p. 2 · Sobre as garantias existentes. · https://fnet.bmfbovespa.com.br/fnet/publico/visualizarDocumento?id=1292043 · Sobre as garantias existentes. Não ocorreram alterações nas garantias existentes para o conjunto de direitos creditórios adquiridos pelo fundo.</a:t>
            </a:r>
          </a:p>
          <a:p>
            <a:r>
              <a:t>CNPJ 63953620000165 · Alterações das garantias · Informe Trimestral · ID 1291068 · 06/2026 · versão 1 · p. 2 · Sobre as garantias existentes. · https://fnet.bmfbovespa.com.br/fnet/publico/visualizarDocumento?id=1291068 · Sobre as garantias existentes. Ocorreram alterações nas garantias existentes para o conjunto de direitos creditórios adquiridos pelo fundo.</a:t>
            </a:r>
          </a:p>
          <a:p>
            <a:r>
              <a:t>CNPJ 54871427000194 · Cessões no trimestre · Informe Trimestral · ID 1291015 · 06/2026 · versão 1 · p. 2 · Sobre a cessão dos direitos creditórios no período. · https://fnet.bmfbovespa.com.br/fnet/publico/visualizarDocumento?id=1291015 · Sobre a cessão dos direitos creditórios no período. Não se aplica, visto que não foram emitidas novas cessões de direitos creditórios no período.</a:t>
            </a:r>
          </a:p>
          <a:p>
            <a:r>
              <a:t>CNPJ 60010416000112 · Cessões no trimestre · Informe Trimestral · ID 1292034 · 06/2026 · versão 1 · p. 2 · Sobre a cessão dos direitos creditórios no período. · https://fnet.bmfbovespa.com.br/fnet/publico/visualizarDocumento?id=1292034 · Sobre a cessão dos direitos creditórios no período. Ocorreram novas cessões de direitos creditórios no período em referência e os novos contratos foram firmados com o caráter definitivo para o fundo.</a:t>
            </a:r>
          </a:p>
          <a:p>
            <a:r>
              <a:t>CNPJ 62552447000120 · Cessões no trimestre · Informe Trimestral · ID 1292043 · 06/2026 · versão 1 · p. 2 · Sobre a cessão dos direitos creditórios no período. · https://fnet.bmfbovespa.com.br/fnet/publico/visualizarDocumento?id=1292043 · Sobre a cessão dos direitos creditórios no período. Ocorreram novas cessões de direitos creditórios no período em referência e os novos contratos foram firmados com o caráter definitivo para o fundo.</a:t>
            </a:r>
          </a:p>
          <a:p>
            <a:r>
              <a:t>CNPJ 63953620000165 · Cessões no trimestre · Informe Trimestral · ID 1291068 · 06/2026 · versão 1 · p. 2 · Sobre a cessão dos direitos creditórios no período. · https://fnet.bmfbovespa.com.br/fnet/publico/visualizarDocumento?id=1291068 · Sobre a cessão dos direitos creditórios no período. Ocorreram novas cessões de direitos creditórios no período em referência e os novos contratos foram firmados com o caráter definitivo para o fundo.</a:t>
            </a:r>
          </a:p>
          <a:p>
            <a:r>
              <a:t>CNPJ 54871427000194 · Eventos de pré-pagamento · Informe Trimestral · ID 1291015 · 06/2026 · versão 1 · p. 2 · Sobre os impactos dos eventos de pré-pagamento. · https://fnet.bmfbovespa.com.br/fnet/publico/visualizarDocumento?id=1291015 · Sobre os impactos dos eventos de pré-pagamento. Não se aplica, visto que não ocorreram eventos de pré-pagamento no último trimestre.</a:t>
            </a:r>
          </a:p>
          <a:p>
            <a:r>
              <a:t>CNPJ 60010416000112 · Eventos de pré-pagamento · Informe Trimestral · ID 1292034 · 06/2026 · versão 1 · p. 2 · Sobre os impactos dos eventos de pré-pagamento. · https://fnet.bmfbovespa.com.br/fnet/publico/visualizarDocumento?id=1292034 · Sobre os impactos dos eventos de pré-pagamento. O fundo teve eventos de pré-pagamento no último trimestre, mas não foram observados impactos relevantes no patrimônio líquido e na carteira do fundo.</a:t>
            </a:r>
          </a:p>
          <a:p>
            <a:r>
              <a:t>CNPJ 62552447000120 · Eventos de pré-pagamento · Informe Trimestral · ID 1292043 · 06/2026 · versão 1 · p. 2 · Sobre os impactos dos eventos de pré-pagamento. · https://fnet.bmfbovespa.com.br/fnet/publico/visualizarDocumento?id=1292043 · Sobre os impactos dos eventos de pré-pagamento. O fundo teve eventos de pré-pagamento no último trimestre, mas não foram observados impactos relevantes no patrimônio líquido e na carteira do fundo.</a:t>
            </a:r>
          </a:p>
          <a:p>
            <a:r>
              <a:t>CNPJ 63953620000165 · Eventos de pré-pagamento · Informe Trimestral · ID 1291068 · 06/2026 · versão 1 · p. 2 · Sobre os impactos dos eventos de pré-pagamento. · https://fnet.bmfbovespa.com.br/fnet/publico/visualizarDocumento?id=1291068 · Sobre os impactos dos eventos de pré-pagamento. O fundo teve eventos de pré-pagamento no último trimestre, mas não foram observados impactos relevantes no patrimônio líquido e na carteira do fundo.</a:t>
            </a:r>
          </a:p>
          <a:p>
            <a:r>
              <a:t>CNPJ 54871427000194 · Alienação de direitos creditórios · Informe Trimestral · ID 1291015 · 06/2026 · versão 1 · p. 2 · Sobre as condições de alienação dos direitos creditórios. · https://fnet.bmfbovespa.com.br/fnet/publico/visualizarDocumento?id=1291015 · Sobre as condições de alienação dos direitos creditórios. Não se aplica, visto que não ocorreram eventos de alienação neste trimestre.</a:t>
            </a:r>
          </a:p>
          <a:p>
            <a:r>
              <a:t>CNPJ 60010416000112 · Alienação de direitos creditórios · Informe Trimestral · ID 1292034 · 06/2026 · versão 1 · p. 2 · Sobre as condições de alienação dos direitos creditórios. · https://fnet.bmfbovespa.com.br/fnet/publico/visualizarDocumento?id=1292034 · Sobre as condições de alienação dos direitos creditórios. No trimestre base o fundo teve eventos de alienação de uma parcela dos direitos creditórios de sua carteira. Como principal motivo para a realização desta operação temos: A realocação de investimentos da carteira.</a:t>
            </a:r>
          </a:p>
          <a:p>
            <a:r>
              <a:t>CNPJ 55563624000109 · Alienação de direitos creditórios · Informe Trimestral · ID 1289610 · 06/2026 · versão 1 · p. 3 · Condiçõesdealienação,aqualquertítulo,dedireitoscreditórios,incluindo: · https://fnet.bmfbovespa.com.br/fnet/publico/visualizarDocumento?id=1289610 · Condiçõesdealienação,aqualquertítulo,dedireitoscreditórios,incluindo: Momentodaalienação(antesoudepoisdovencimento); Resposta: Não ocorreram alienação de ativos da carteira do Fundo, exceto no curso normal dosnegócios. Motivaçãodaalienação; Resposta: Não ocorreram alienação de ativos da carteira do Fundo, exceto no curso normal dosnegócios. Impactonovalordopatrimôniolíquidoenarentabilidadedacarteiradeativosdeumapossível descontinuidade, a qualquer título, da originação ou cessão de direitos creditórios; Resposta:Nãohá. Informaçõessobrefatosocorridosqueafetaramaregularidadedosfluxosfinanceirosoriundosdos direitoscreditórios,incluindo,masnãoselimitando,aquaisquereventosqueacarretemnaliquidação ou amortização antecipada de direitos creditórios. Resposta: Não ocorreram eventos relevantes que acarretaram a regularidade dos fluxos financeirosoriundos dos direitos creditórios.</a:t>
            </a:r>
          </a:p>
          <a:p>
            <a:r>
              <a:t>CNPJ 62552447000120 · Alienação de direitos creditórios · Informe Trimestral · ID 1292043 · 06/2026 · versão 1 · p. 2 · Sobre as condições de alienação dos direitos creditórios. · https://fnet.bmfbovespa.com.br/fnet/publico/visualizarDocumento?id=1292043 · Sobre as condições de alienação dos direitos creditórios. Não se aplica, visto que não ocorreram eventos de alienação neste trimestre.</a:t>
            </a:r>
          </a:p>
          <a:p>
            <a:r>
              <a:t>CNPJ 63953620000165 · Alienação de direitos creditórios · Informe Trimestral · ID 1291068 · 06/2026 · versão 1 · p. 2 · Sobre as condições de alienação dos direitos creditórios. · https://fnet.bmfbovespa.com.br/fnet/publico/visualizarDocumento?id=1291068 · Sobre as condições de alienação dos direitos creditórios. No trimestre base o fundo teve eventos de alienação de uma parcela dos direitos creditórios de sua carteira. Como principal motivo para a realização desta operação temos: A realocação de investimentos da carteira.</a:t>
            </a:r>
          </a:p>
          <a:p>
            <a:r>
              <a:t>CNPJ 54871427000194 · Descontinuidade de originação ou cessão · Informe Trimestral · ID 1291015 · 06/2026 · versão 1 · p. 2 · Sobre a descontinuidade da originação ou cessão dos direitos creditórios do fundo. · https://fnet.bmfbovespa.com.br/fnet/publico/visualizarDocumento?id=1291015 · Sobre a descontinuidade da originação ou cessão dos direitos creditórios do fundo. O regulamento do fundo estabelece as condições mínimas previstas para descontinuidade da originação ou cessão dos direitos creditórios investidos, sendo certo que quaisquer alterações nestes critérios serão divulgadas a mercado, por meio de fato relevante ou através dos canais oficiais de registro do fundo.</a:t>
            </a:r>
          </a:p>
          <a:p>
            <a:r>
              <a:t>CNPJ 60010416000112 · Descontinuidade de originação ou cessão · Informe Trimestral · ID 1292034 · 06/2026 · versão 1 · p. 2 · Sobre a descontinuidade da originação ou cessão dos direitos creditórios do fundo. · https://fnet.bmfbovespa.com.br/fnet/publico/visualizarDocumento?id=1292034 · Sobre a descontinuidade da originação ou cessão dos direitos creditórios do fundo. Foram observados impactos significativos na rentabilidade do fundo, em função da descontinuidade da originação de direitos creditórios no trimestre em referência.</a:t>
            </a:r>
          </a:p>
          <a:p>
            <a:r>
              <a:t>CNPJ 62552447000120 · Descontinuidade de originação ou cessão · Informe Trimestral · ID 1292043 · 06/2026 · versão 1 · p. 2 · Sobre a descontinuidade da originação ou cessão dos direitos creditórios do fundo. · https://fnet.bmfbovespa.com.br/fnet/publico/visualizarDocumento?id=1292043 · Sobre a descontinuidade da originação ou cessão dos direitos creditórios do fundo. Não se aplica, visto que não foram observados impactos significativos na rentabilidade do fundo, em função da descontinuidade da originação de direitos creditórios no trimestre em referência.</a:t>
            </a:r>
          </a:p>
          <a:p>
            <a:r>
              <a:t>CNPJ 63953620000165 · Descontinuidade de originação ou cessão · Informe Trimestral · ID 1291068 · 06/2026 · versão 1 · p. 2 · Sobre a descontinuidade da originação ou cessão dos direitos creditórios do fundo. · https://fnet.bmfbovespa.com.br/fnet/publico/visualizarDocumento?id=1291068 · Sobre a descontinuidade da originação ou cessão dos direitos creditórios do fundo. Foram observados impactos significativos na rentabilidade do fundo, em função da descontinuidade da originação de direitos creditórios no trimestre em referência.</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Declarações trimestrais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Resultado da verificação de lastro · Informe Trimestral · ID 1291015 · 06/2026 · versão 1 · p. 1 · Sobre os resultados da última verificação do lastro dos direitos creditórios do fundo. · https://fnet.bmfbovespa.com.br/fnet/publico/visualizarDocumento?id=1291015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60010416000112 · Resultado da verificação de lastro · Informe Trimestral · ID 1292034 · 06/2026 · versão 1 · p. 1 · Sobre os resultados da última verificação do lastro dos direitos creditórios do fundo. · https://fnet.bmfbovespa.com.br/fnet/publico/visualizarDocumento?id=1292034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62696791000193 · Resultado da verificação de lastro · Informe Trimestral · ID 1114465 · 12/2025 · versão 1 · p. 1 · Sobre os resultados da última verificação do lastro dos direitos creditórios do fundo. · https://fnet.bmfbovespa.com.br/fnet/publico/visualizarDocumento?id=1114465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55563624000109 · Resultado da verificação de lastro · Informe Trimestral · ID 1289610 · 06/2026 · versão 1 · p. 1 · Sobre os resultados da última verificação do lastro dos direitos creditórios do fundo. · https://fnet.bmfbovespa.com.br/fnet/publico/visualizarDocumento?id=1289610 · Sobre os resultados da última verificação do lastro dos direitos creditórios do fundo. Informamos que o Fundo dispensa a verificação de lastro dos direitos creditórios.</a:t>
            </a:r>
          </a:p>
          <a:p>
            <a:r>
              <a:t>CNPJ 62552447000120 · Resultado da verificação de lastro · Informe Trimestral · ID 1292043 · 06/2026 · versão 1 · p. 1 · Sobre os resultados da última verificação do lastro dos direitos creditórios do fundo. · https://fnet.bmfbovespa.com.br/fnet/publico/visualizarDocumento?id=1292043 · Sobre os resultados da última verificação do lastro dos direitos creditórios do fundo. Informamos que o Fundo dispensa a verificação de lastro dos direitos creditórios.</a:t>
            </a:r>
          </a:p>
          <a:p>
            <a:r>
              <a:t>CNPJ 63953620000165 · Resultado da verificação de lastro · Informe Trimestral · ID 1291068 · 06/2026 · versão 1 · p. 1 · Sobre os resultados da última verificação do lastro dos direitos creditórios do fundo. · https://fnet.bmfbovespa.com.br/fnet/publico/visualizarDocumento?id=1291068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54871427000194 · Registro dos direitos creditórios · Informe Trimestral · ID 1291015 · 06/2026 · versão 1 · p. 1 · Sobre o registro dos direitos creditórios em entidade registradora. · https://fnet.bmfbovespa.com.br/fnet/publico/visualizarDocumento?id=1291015 · Sobre o registro dos direitos creditórios em entidade registradora. Todos os créditos estão liberados para registro.</a:t>
            </a:r>
          </a:p>
          <a:p>
            <a:r>
              <a:t>CNPJ 60010416000112 · Registro dos direitos creditórios · Informe Trimestral · ID 1292034 · 06/2026 · versão 1 · p. 1 · Sobre o registro dos direitos creditórios em entidade registradora. · https://fnet.bmfbovespa.com.br/fnet/publico/visualizarDocumento?id=1292034 · Sobre o registro dos direitos creditórios em entidade registradora. Todos os créditos estão liberados para registro.</a:t>
            </a:r>
          </a:p>
          <a:p>
            <a:r>
              <a:t>CNPJ 62696791000193 · Registro dos direitos creditórios · Informe Trimestral · ID 1114465 · 12/2025 · versão 1 · p. 1 · Sobre o registro dos direitos creditórios em entidade registradora. · https://fnet.bmfbovespa.com.br/fnet/publico/visualizarDocumento?id=1114465 · Sobre o registro dos direitos creditórios em entidade registradora. Todos os créditos estão liberados para registro.</a:t>
            </a:r>
          </a:p>
          <a:p>
            <a:r>
              <a:t>CNPJ 55563624000109 · Registro dos direitos creditórios · Informe Trimestral · ID 1289610 · 06/2026 · versão 1 · p. 1 · Sobre o registro dos direitos creditórios em entidade registradora. · https://fnet.bmfbovespa.com.br/fnet/publico/visualizarDocumento?id=1289610 · Sobre o registro dos direitos creditórios em entidade registradora. Todos os créditos estão liberados para registro.</a:t>
            </a:r>
          </a:p>
          <a:p>
            <a:r>
              <a:t>CNPJ 62552447000120 · Registro dos direitos creditórios · Informe Trimestral · ID 1292043 · 06/2026 · versão 1 · p. 1 · Sobre o registro dos direitos creditórios em entidade registradora. · https://fnet.bmfbovespa.com.br/fnet/publico/visualizarDocumento?id=1292043 · Sobre o registro dos direitos creditórios em entidade registradora. Todos os créditos estão liberados para registro.</a:t>
            </a:r>
          </a:p>
          <a:p>
            <a:r>
              <a:t>CNPJ 63953620000165 · Registro dos direitos creditórios · Informe Trimestral · ID 1291068 · 06/2026 · versão 1 · p. 1 · Sobre o registro dos direitos creditórios em entidade registradora. · https://fnet.bmfbovespa.com.br/fnet/publico/visualizarDocumento?id=1291068 · Sobre o registro dos direitos creditórios em entidade registradora. Todos os créditos estão liberados para registro.</a:t>
            </a:r>
          </a:p>
          <a:p>
            <a:r>
              <a:t>CNPJ 54871427000194 · Processos judiciais · Informe Trimestral · ID 1291015 · 06/2026 · versão 1 · p. 1 · Sobre a existência de processos judiciais envolvendo o FIDC. · https://fnet.bmfbovespa.com.br/fnet/publico/visualizarDocumento?id=1291015 · Sobre a existência de processos judiciais envolvendo o FIDC. O administrador do fundo não tem conhecimento de ações judiciais envolvendo o fundo no trimestre em referência.</a:t>
            </a:r>
          </a:p>
          <a:p>
            <a:r>
              <a:t>CNPJ 60010416000112 · Processos judiciais · Informe Trimestral · ID 1292034 · 06/2026 · versão 1 · p. 1 · Sobre a existência de processos judiciais envolvendo o FIDC. · https://fnet.bmfbovespa.com.br/fnet/publico/visualizarDocumento?id=1292034 · Sobre a existência de processos judiciais envolvendo o FIDC. O fundo está exposto as ações judiciais listadas abaixo:</a:t>
            </a:r>
          </a:p>
          <a:p>
            <a:r>
              <a:t>CNPJ 62696791000193 · Processos judiciais · Informe Trimestral · ID 1114465 · 12/2025 · versão 1 · p. 1 · Sobre a existência de processos judiciais envolvendo o FIDC. · https://fnet.bmfbovespa.com.br/fnet/publico/visualizarDocumento?id=1114465 · Sobre a existência de processos judiciais envolvendo o FIDC. O administrador do fundo não tem conhecimento de ações judiciais envolvendo o fundo no trimestre em referência.</a:t>
            </a:r>
          </a:p>
          <a:p>
            <a:r>
              <a:t>CNPJ 55563624000109 · Processos judiciais · Informe Trimestral · ID 1289610 · 06/2026 · versão 1 · p. 1 · Sobre a existência de processos judiciais envolvendo o FIDC. · https://fnet.bmfbovespa.com.br/fnet/publico/visualizarDocumento?id=1289610 · Sobre a existência de processos judiciais envolvendo o FIDC. O administrador do fundo não tem conhecimento de ações judiciais envolvendo o fundo no trimestre em referência.</a:t>
            </a:r>
          </a:p>
          <a:p>
            <a:r>
              <a:t>CNPJ 62552447000120 · Processos judiciais · Informe Trimestral · ID 1292043 · 06/2026 · versão 1 · p. 1 · Sobre a existência de processos judiciais envolvendo o FIDC. · https://fnet.bmfbovespa.com.br/fnet/publico/visualizarDocumento?id=1292043 · Sobre a existência de processos judiciais envolvendo o FIDC. O administrador do fundo não tem conhecimento de ações judiciais envolvendo o fundo no trimestre em referência.</a:t>
            </a:r>
          </a:p>
          <a:p>
            <a:r>
              <a:t>CNPJ 63953620000165 · Processos judiciais · Informe Trimestral · ID 1291068 · 06/2026 · versão 1 · p. 1 · Sobre a existência de processos judiciais envolvendo o FIDC. · https://fnet.bmfbovespa.com.br/fnet/publico/visualizarDocumento?id=1291068 · Sobre a existência de processos judiciais envolvendo o FIDC. O fundo está exposto as ações judiciais listadas abaixo:</a:t>
            </a:r>
          </a:p>
          <a:p>
            <a:r>
              <a:t>CNPJ 54871427000194 · Aquisição de precatórios · Informe Trimestral · ID 1291015 · 06/2026 · versão 1 · p. 1 · Sobre a aquisição de precatórios federais em fundos destinados ao público em geral. · https://fnet.bmfbovespa.com.br/fnet/publico/visualizarDocumento?id=1291015 · Sobre a aquisição de precatórios federais em fundos destinados ao público em geral. O fundo não se destina ao público em geral. As informações a seguir são destinadas à apresentação do relatório trimestral do gestor.</a:t>
            </a:r>
          </a:p>
          <a:p>
            <a:r>
              <a:t>CNPJ 60010416000112 · Aquisição de precatórios · Informe Trimestral · ID 1292034 · 06/2026 · versão 1 · p. 1 · Sobre a aquisição de precatórios federais em fundos destinados ao público em geral. · https://fnet.bmfbovespa.com.br/fnet/publico/visualizarDocumento?id=1292034 · Sobre a aquisição de precatórios federais em fundos destinados ao público em geral. O fundo adquiriu precatórios federais no trimestre em referência e está sujeito a eventual existência de impugnação judicial ou fatos supervenientes capazes de alterar a ordem ou o prazo de pagamento dos precatórios. As informações a seguir são destinadas à apresentação do relatório trimestral do gestor.</a:t>
            </a:r>
          </a:p>
          <a:p>
            <a:r>
              <a:t>CNPJ 62696791000193 · Aquisição de precatórios · Informe Trimestral · ID 1114465 · 12/2025 · versão 1 · p. 1 · Sobre a aquisição de precatórios federais em fundos destinados ao público em geral. · https://fnet.bmfbovespa.com.br/fnet/publico/visualizarDocumento?id=1114465 · Sobre a aquisição de precatórios federais em fundos destinados ao público em geral. O fundo não se destina ao público em geral. As informações a seguir são destinadas à apresentação do relatório trimestral do gestor. Em atendimento ao parágrafo § 4º, inciso V, artigo 27 da Resolução 175, informamos ainda que, até a data de divulgação deste demonstrativo trimestral, o gestor não encaminhou ao administrador o relatório trimestral da gestão, conforme estabelecido pela legislação em vigor.</a:t>
            </a:r>
          </a:p>
          <a:p>
            <a:r>
              <a:t>CNPJ 55563624000109 · Aquisição de precatórios · Informe Trimestral · ID 1289610 · 06/2026 · versão 1 · p. 1 · Sobre a aquisição de precatórios federais em fundos destinados ao público em geral. · https://fnet.bmfbovespa.com.br/fnet/publico/visualizarDocumento?id=1289610 · Sobre a aquisição de precatórios federais em fundos destinados ao público em geral. O fundo não se destina ao público em geral. As informações a seguir são destinadas à apresentação do relatório trimestral do gestor.</a:t>
            </a:r>
          </a:p>
          <a:p>
            <a:r>
              <a:t>CNPJ 62552447000120 · Aquisição de precatórios · Informe Trimestral · ID 1292043 · 06/2026 · versão 1 · p. 1 · Sobre a aquisição de precatórios federais em fundos destinados ao público em geral. · https://fnet.bmfbovespa.com.br/fnet/publico/visualizarDocumento?id=1292043 · Sobre a aquisição de precatórios federais em fundos destinados ao público em geral. O fundo não se destina ao público em geral. As informações a seguir são destinadas à apresentação do relatório trimestral do gestor.</a:t>
            </a:r>
          </a:p>
          <a:p>
            <a:r>
              <a:t>CNPJ 63953620000165 · Aquisição de precatórios · Informe Trimestral · ID 1291068 · 06/2026 · versão 1 · p. 1 · Sobre a aquisição de precatórios federais em fundos destinados ao público em geral. · https://fnet.bmfbovespa.com.br/fnet/publico/visualizarDocumento?id=1291068 · Sobre a aquisição de precatórios federais em fundos destinados ao público em geral. O fundo adquiriu precatórios federais no trimestre em referência e está sujeito a eventual existência de impugnação judicial ou fatos supervenientes capazes de alterar a ordem ou o prazo de pagamento dos precatórios. As informações a seguir são destinadas à apresentação do relatório trimestral do gestor.</a:t>
            </a:r>
          </a:p>
          <a:p>
            <a:r>
              <a:t>CNPJ 63953620000165 · Aquisição de precatórios · Anexo ao Regulamento · ID 1222863 · 02/06/2026 · versão AnexoConsignadoPrivado02/06/2026 · p. 6 · 4.14 · https://fnet.bmfbovespa.com.br/fnet/publico/visualizarDocumento?id=1222863 · 4.14 Nos termos do Art. 45, §7º, inciso II, do Anexo Normativo II da Resolução CVM 175, a Classe poderá ter até 100% (cem por cento) de seu Patrimônio Líquido alocado em Direitos Creditórios, derivativos, observado o disposto neste Anexo I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4.15 Sem prejuízo de limites</a:t>
            </a:r>
          </a:p>
          <a:p>
            <a:r>
              <a:t>CNPJ 63953620000165 · Aquisição de precatórios · Anexo ao Regulamento · ID 1222863 · 02/06/2026 · versão AnexoConsignadoPrivado02/06/2026 · p. 7 · 4.15(i)–(v) · https://fnet.bmfbovespa.com.br/fnet/publico/visualizarDocumento?id=1222863 · (i)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CNPJ 54871427000194 · Alterações da política de investimento · Informe Trimestral · ID 1291015 · 06/2026 · versão 1 · p. 1 · Impactos de eventual alteração na política de investimento sobre a rentabilidade do Fundo. · https://fnet.bmfbovespa.com.br/fnet/publico/visualizarDocumento?id=1291015 · Impactos de eventual alteração na política de investimento sobre a rentabilidade do Fundo. Não se aplica, pois não ocorreram alterações na política de investimento do fundo no trimestre em referência.</a:t>
            </a:r>
          </a:p>
          <a:p>
            <a:r>
              <a:t>CNPJ 60010416000112 · Alterações da política de investimento · Informe Trimestral · ID 1292034 · 06/2026 · versão 1 · p. 1 · Impactos de eventual alteração na política de investimento sobre a rentabilidade do Fundo. · https://fnet.bmfbovespa.com.br/fnet/publico/visualizarDocumento?id=1292034 · Impactos de eventual alteração na política de investimento sobre a rentabilidade do Fundo. Não foram observados impactos significativos na rentabilidade do fundo, em função das alterações ocorridas em seu regulamento no trimestre em referência.</a:t>
            </a:r>
          </a:p>
          <a:p>
            <a:r>
              <a:t>CNPJ 62552447000120 · Alterações da política de investimento · Informe Trimestral · ID 1292043 · 06/2026 · versão 1 · p. 1 · Impactos de eventual alteração na política de investimento sobre a rentabilidade do Fundo. · https://fnet.bmfbovespa.com.br/fnet/publico/visualizarDocumento?id=1292043 · Impactos de eventual alteração na política de investimento sobre a rentabilidade do Fundo. Não se aplica, pois não ocorreram alterações na política de investimento do fundo no trimestre em referência.</a:t>
            </a:r>
          </a:p>
          <a:p>
            <a:r>
              <a:t>CNPJ 63953620000165 · Alterações da política de investimento · Informe Trimestral · ID 1291068 · 06/2026 · versão 1 · p. 1 · Impactos de eventual alteração na política de investimento sobre a rentabilidade do Fundo. · https://fnet.bmfbovespa.com.br/fnet/publico/visualizarDocumento?id=1291068 · Impactos de eventual alteração na política de investimento sobre a rentabilidade do Fundo. Não foram observados impactos significativos na rentabilidade do fundo, em função das alterações ocorridas em seu regulamento no trimestre em referência.</a:t>
            </a:r>
          </a:p>
          <a:p>
            <a:r>
              <a:t>CNPJ 54871427000194 · Critérios de concessão dos originadores · Informe Trimestral · ID 1291015 · 06/2026 · versão 1 · p. 2 · Critérios para a concessão de crédito adotados pelos originadores, que representem 10% ou mais da carteira de direitos creditórios no trimestre. · https://fnet.bmfbovespa.com.br/fnet/publico/visualizarDocumento?id=1291015 · Critérios para a concessão de crédito adotados pelos originadores, que representem 10% ou mais da carteira de direitos creditórios no trimestre. Os critérios para a concessão de crédito adotados pelos originadores do fundo não foram alterados no último trimestre, conforme descrito em seu regulamento.</a:t>
            </a:r>
          </a:p>
          <a:p>
            <a:r>
              <a:t>CNPJ 60010416000112 · Critérios de concessão dos originadores · Informe Trimestral · ID 1292034 · 06/2026 · versão 1 · p. 2 · Critérios para a concessão de crédito adotados pelos originadores, que representem 10% ou mais da carteira de direitos creditórios no trimestre. · https://fnet.bmfbovespa.com.br/fnet/publico/visualizarDocumento?id=1292034 · Critérios para a concessão de crédito adotados pelos originadores, que representem 10% ou mais da carteira de direitos creditórios no trimestre. Os critérios para a concessão de crédito adotados pelos originadores do fundo foram alterados no último trimestre, conforme descrito em seu regulamento.</a:t>
            </a:r>
          </a:p>
          <a:p>
            <a:r>
              <a:t>CNPJ 55563624000109 · Critérios de concessão dos originadores · Informe Trimestral · ID 1289610 · 06/2026 · versão 1 · p. 2–3 · Critériosparaaconcessãodecréditoadotadospelosoriginadores,casotaiscritériosnãotenhamsido descritos no regulamento ou em outros demonstrativos trimestrais; Resposta:Nãoocorreramalteraçõesrelevantesnoscritériosparaaconcessãodecrédito. · https://fnet.bmfbovespa.com.br/fnet/publico/visualizarDocumento?id=1289610 · Critériosparaaconcessãodecréditoadotadospelosoriginadores,casotaiscritériosnãotenhamsido descritos no regulamento ou em outros demonstrativos trimestrais; Resposta:Nãoocorreramalteraçõesrelevantesnoscritériosparaaconcessãodecrédito. Eventuaisalteraçõesnoscritériosparaaconcessãodecréditoadotadosportaisoriginadores,casooscritériosadotadosjátenh amsidodescritosnoregulamentoouemoutrosdemonstrativostrimestrais;Resposta:Nãoocorreramalteraçõesrelevant esnoscritériosparaaconcessãodecrédito. Eventuaisalteraçõesnasgarantiasexistentesparaoconjuntodedireitoscreditórios; Resposta:Nãoocorreramalteraçõesrelevantesnas garantiasexistentesparao conjuntodeativos. Formacomoseoperouacessãodosdireitoscreditórios,incluindo: a)descriçãodecontratosrelevantesfirmadoscomessepropósito,sehouver;eb)indicaçãodocaráter definitivo, ou não, da cessão de direitos creditórios; Resposta:Ascessõesdedireitoscreditóriosocorreramtodasdeformadefinitiva,deacordocomodisposto no regulamento e/ou nos respectivos contratos. Nomedofundo:PLGNMARKETFCFIDC CNPJ: 55563624000109 Impactodoseventosdepré- pagamentonovalordopatrimôniolíquidoenarentabilidadedacarteira;Resposta:Existemeventosdepré- pagamentoemfundospulverizadosnocursonormaldosnegócios que não geram, por si só, impacto significativo no patrimônio líquido e na rentabilidade da carteira.</a:t>
            </a:r>
          </a:p>
          <a:p>
            <a:r>
              <a:t>CNPJ 63953620000165 · Critérios de concessão dos originadores · Informe Trimestral · ID 1291068 · 06/2026 · versão 1 · p. 2 · Critérios para a concessão de crédito adotados pelos originadores, que representem 10% ou mais da carteira de direitos creditórios no trimestre. · https://fnet.bmfbovespa.com.br/fnet/publico/visualizarDocumento?id=1291068 · Critérios para a concessão de crédito adotados pelos originadores, que representem 10% ou mais da carteira de direitos creditórios no trimestre. Os critérios para a concessão de crédito adotados pelos originadores do fundo foram alterados no último trimestre, conforme descrito em seu regulamento.</a:t>
            </a:r>
          </a:p>
          <a:p>
            <a:r>
              <a:t>CNPJ 54871427000194 · Alterações das garantias · Informe Trimestral · ID 1291015 · 06/2026 · versão 1 · p. 2 · Sobre as garantias existentes. · https://fnet.bmfbovespa.com.br/fnet/publico/visualizarDocumento?id=1291015 · Sobre as garantias existentes. Não ocorreram alterações nas garantias existentes para o conjunto de direitos creditórios adquiridos pelo fundo.</a:t>
            </a:r>
          </a:p>
          <a:p>
            <a:r>
              <a:t>CNPJ 60010416000112 · Alterações das garantias · Informe Trimestral · ID 1292034 · 06/2026 · versão 1 · p. 2 · Sobre as garantias existentes. · https://fnet.bmfbovespa.com.br/fnet/publico/visualizarDocumento?id=1292034 · Sobre as garantias existentes. Ocorreram alterações nas garantias existentes para o conjunto de direitos creditórios adquiridos pelo fundo.</a:t>
            </a:r>
          </a:p>
          <a:p>
            <a:r>
              <a:t>CNPJ 62552447000120 · Alterações das garantias · Informe Trimestral · ID 1292043 · 06/2026 · versão 1 · p. 2 · Sobre as garantias existentes. · https://fnet.bmfbovespa.com.br/fnet/publico/visualizarDocumento?id=1292043 · Sobre as garantias existentes. Não ocorreram alterações nas garantias existentes para o conjunto de direitos creditórios adquiridos pelo fundo.</a:t>
            </a:r>
          </a:p>
          <a:p>
            <a:r>
              <a:t>CNPJ 63953620000165 · Alterações das garantias · Informe Trimestral · ID 1291068 · 06/2026 · versão 1 · p. 2 · Sobre as garantias existentes. · https://fnet.bmfbovespa.com.br/fnet/publico/visualizarDocumento?id=1291068 · Sobre as garantias existentes. Ocorreram alterações nas garantias existentes para o conjunto de direitos creditórios adquiridos pelo fundo.</a:t>
            </a:r>
          </a:p>
          <a:p>
            <a:r>
              <a:t>CNPJ 54871427000194 · Cessões no trimestre · Informe Trimestral · ID 1291015 · 06/2026 · versão 1 · p. 2 · Sobre a cessão dos direitos creditórios no período. · https://fnet.bmfbovespa.com.br/fnet/publico/visualizarDocumento?id=1291015 · Sobre a cessão dos direitos creditórios no período. Não se aplica, visto que não foram emitidas novas cessões de direitos creditórios no período.</a:t>
            </a:r>
          </a:p>
          <a:p>
            <a:r>
              <a:t>CNPJ 60010416000112 · Cessões no trimestre · Informe Trimestral · ID 1292034 · 06/2026 · versão 1 · p. 2 · Sobre a cessão dos direitos creditórios no período. · https://fnet.bmfbovespa.com.br/fnet/publico/visualizarDocumento?id=1292034 · Sobre a cessão dos direitos creditórios no período. Ocorreram novas cessões de direitos creditórios no período em referência e os novos contratos foram firmados com o caráter definitivo para o fundo.</a:t>
            </a:r>
          </a:p>
          <a:p>
            <a:r>
              <a:t>CNPJ 62552447000120 · Cessões no trimestre · Informe Trimestral · ID 1292043 · 06/2026 · versão 1 · p. 2 · Sobre a cessão dos direitos creditórios no período. · https://fnet.bmfbovespa.com.br/fnet/publico/visualizarDocumento?id=1292043 · Sobre a cessão dos direitos creditórios no período. Ocorreram novas cessões de direitos creditórios no período em referência e os novos contratos foram firmados com o caráter definitivo para o fundo.</a:t>
            </a:r>
          </a:p>
          <a:p>
            <a:r>
              <a:t>CNPJ 63953620000165 · Cessões no trimestre · Informe Trimestral · ID 1291068 · 06/2026 · versão 1 · p. 2 · Sobre a cessão dos direitos creditórios no período. · https://fnet.bmfbovespa.com.br/fnet/publico/visualizarDocumento?id=1291068 · Sobre a cessão dos direitos creditórios no período. Ocorreram novas cessões de direitos creditórios no período em referência e os novos contratos foram firmados com o caráter definitivo para o fundo.</a:t>
            </a:r>
          </a:p>
          <a:p>
            <a:r>
              <a:t>CNPJ 54871427000194 · Eventos de pré-pagamento · Informe Trimestral · ID 1291015 · 06/2026 · versão 1 · p. 2 · Sobre os impactos dos eventos de pré-pagamento. · https://fnet.bmfbovespa.com.br/fnet/publico/visualizarDocumento?id=1291015 · Sobre os impactos dos eventos de pré-pagamento. Não se aplica, visto que não ocorreram eventos de pré-pagamento no último trimestre.</a:t>
            </a:r>
          </a:p>
          <a:p>
            <a:r>
              <a:t>CNPJ 60010416000112 · Eventos de pré-pagamento · Informe Trimestral · ID 1292034 · 06/2026 · versão 1 · p. 2 · Sobre os impactos dos eventos de pré-pagamento. · https://fnet.bmfbovespa.com.br/fnet/publico/visualizarDocumento?id=1292034 · Sobre os impactos dos eventos de pré-pagamento. O fundo teve eventos de pré-pagamento no último trimestre, mas não foram observados impactos relevantes no patrimônio líquido e na carteira do fundo.</a:t>
            </a:r>
          </a:p>
          <a:p>
            <a:r>
              <a:t>CNPJ 62552447000120 · Eventos de pré-pagamento · Informe Trimestral · ID 1292043 · 06/2026 · versão 1 · p. 2 · Sobre os impactos dos eventos de pré-pagamento. · https://fnet.bmfbovespa.com.br/fnet/publico/visualizarDocumento?id=1292043 · Sobre os impactos dos eventos de pré-pagamento. O fundo teve eventos de pré-pagamento no último trimestre, mas não foram observados impactos relevantes no patrimônio líquido e na carteira do fundo.</a:t>
            </a:r>
          </a:p>
          <a:p>
            <a:r>
              <a:t>CNPJ 63953620000165 · Eventos de pré-pagamento · Informe Trimestral · ID 1291068 · 06/2026 · versão 1 · p. 2 · Sobre os impactos dos eventos de pré-pagamento. · https://fnet.bmfbovespa.com.br/fnet/publico/visualizarDocumento?id=1291068 · Sobre os impactos dos eventos de pré-pagamento. O fundo teve eventos de pré-pagamento no último trimestre, mas não foram observados impactos relevantes no patrimônio líquido e na carteira do fundo.</a:t>
            </a:r>
          </a:p>
          <a:p>
            <a:r>
              <a:t>CNPJ 54871427000194 · Alienação de direitos creditórios · Informe Trimestral · ID 1291015 · 06/2026 · versão 1 · p. 2 · Sobre as condições de alienação dos direitos creditórios. · https://fnet.bmfbovespa.com.br/fnet/publico/visualizarDocumento?id=1291015 · Sobre as condições de alienação dos direitos creditórios. Não se aplica, visto que não ocorreram eventos de alienação neste trimestre.</a:t>
            </a:r>
          </a:p>
          <a:p>
            <a:r>
              <a:t>CNPJ 60010416000112 · Alienação de direitos creditórios · Informe Trimestral · ID 1292034 · 06/2026 · versão 1 · p. 2 · Sobre as condições de alienação dos direitos creditórios. · https://fnet.bmfbovespa.com.br/fnet/publico/visualizarDocumento?id=1292034 · Sobre as condições de alienação dos direitos creditórios. No trimestre base o fundo teve eventos de alienação de uma parcela dos direitos creditórios de sua carteira. Como principal motivo para a realização desta operação temos: A realocação de investimentos da carteira.</a:t>
            </a:r>
          </a:p>
          <a:p>
            <a:r>
              <a:t>CNPJ 55563624000109 · Alienação de direitos creditórios · Informe Trimestral · ID 1289610 · 06/2026 · versão 1 · p. 3 · Condiçõesdealienação,aqualquertítulo,dedireitoscreditórios,incluindo: · https://fnet.bmfbovespa.com.br/fnet/publico/visualizarDocumento?id=1289610 · Condiçõesdealienação,aqualquertítulo,dedireitoscreditórios,incluindo: Momentodaalienação(antesoudepoisdovencimento); Resposta: Não ocorreram alienação de ativos da carteira do Fundo, exceto no curso normal dosnegócios. Motivaçãodaalienação; Resposta: Não ocorreram alienação de ativos da carteira do Fundo, exceto no curso normal dosnegócios. Impactonovalordopatrimôniolíquidoenarentabilidadedacarteiradeativosdeumapossível descontinuidade, a qualquer título, da originação ou cessão de direitos creditórios; Resposta:Nãohá. Informaçõessobrefatosocorridosqueafetaramaregularidadedosfluxosfinanceirosoriundosdos direitoscreditórios,incluindo,masnãoselimitando,aquaisquereventosqueacarretemnaliquidação ou amortização antecipada de direitos creditórios. Resposta: Não ocorreram eventos relevantes que acarretaram a regularidade dos fluxos financeirosoriundos dos direitos creditórios.</a:t>
            </a:r>
          </a:p>
          <a:p>
            <a:r>
              <a:t>CNPJ 62552447000120 · Alienação de direitos creditórios · Informe Trimestral · ID 1292043 · 06/2026 · versão 1 · p. 2 · Sobre as condições de alienação dos direitos creditórios. · https://fnet.bmfbovespa.com.br/fnet/publico/visualizarDocumento?id=1292043 · Sobre as condições de alienação dos direitos creditórios. Não se aplica, visto que não ocorreram eventos de alienação neste trimestre.</a:t>
            </a:r>
          </a:p>
          <a:p>
            <a:r>
              <a:t>CNPJ 63953620000165 · Alienação de direitos creditórios · Informe Trimestral · ID 1291068 · 06/2026 · versão 1 · p. 2 · Sobre as condições de alienação dos direitos creditórios. · https://fnet.bmfbovespa.com.br/fnet/publico/visualizarDocumento?id=1291068 · Sobre as condições de alienação dos direitos creditórios. No trimestre base o fundo teve eventos de alienação de uma parcela dos direitos creditórios de sua carteira. Como principal motivo para a realização desta operação temos: A realocação de investimentos da carteira.</a:t>
            </a:r>
          </a:p>
          <a:p>
            <a:r>
              <a:t>CNPJ 54871427000194 · Descontinuidade de originação ou cessão · Informe Trimestral · ID 1291015 · 06/2026 · versão 1 · p. 2 · Sobre a descontinuidade da originação ou cessão dos direitos creditórios do fundo. · https://fnet.bmfbovespa.com.br/fnet/publico/visualizarDocumento?id=1291015 · Sobre a descontinuidade da originação ou cessão dos direitos creditórios do fundo. O regulamento do fundo estabelece as condições mínimas previstas para descontinuidade da originação ou cessão dos direitos creditórios investidos, sendo certo que quaisquer alterações nestes critérios serão divulgadas a mercado, por meio de fato relevante ou através dos canais oficiais de registro do fundo.</a:t>
            </a:r>
          </a:p>
          <a:p>
            <a:r>
              <a:t>CNPJ 60010416000112 · Descontinuidade de originação ou cessão · Informe Trimestral · ID 1292034 · 06/2026 · versão 1 · p. 2 · Sobre a descontinuidade da originação ou cessão dos direitos creditórios do fundo. · https://fnet.bmfbovespa.com.br/fnet/publico/visualizarDocumento?id=1292034 · Sobre a descontinuidade da originação ou cessão dos direitos creditórios do fundo. Foram observados impactos significativos na rentabilidade do fundo, em função da descontinuidade da originação de direitos creditórios no trimestre em referência.</a:t>
            </a:r>
          </a:p>
          <a:p>
            <a:r>
              <a:t>CNPJ 62552447000120 · Descontinuidade de originação ou cessão · Informe Trimestral · ID 1292043 · 06/2026 · versão 1 · p. 2 · Sobre a descontinuidade da originação ou cessão dos direitos creditórios do fundo. · https://fnet.bmfbovespa.com.br/fnet/publico/visualizarDocumento?id=1292043 · Sobre a descontinuidade da originação ou cessão dos direitos creditórios do fundo. Não se aplica, visto que não foram observados impactos significativos na rentabilidade do fundo, em função da descontinuidade da originação de direitos creditórios no trimestre em referência.</a:t>
            </a:r>
          </a:p>
          <a:p>
            <a:r>
              <a:t>CNPJ 63953620000165 · Descontinuidade de originação ou cessão · Informe Trimestral · ID 1291068 · 06/2026 · versão 1 · p. 2 · Sobre a descontinuidade da originação ou cessão dos direitos creditórios do fundo. · https://fnet.bmfbovespa.com.br/fnet/publico/visualizarDocumento?id=1291068 · Sobre a descontinuidade da originação ou cessão dos direitos creditórios do fundo. Foram observados impactos significativos na rentabilidade do fundo, em função da descontinuidade da originação de direitos creditórios no trimestre em referência.</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Declarações trimestrais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Resultado da verificação de lastro · Informe Trimestral · ID 1291015 · 06/2026 · versão 1 · p. 1 · Sobre os resultados da última verificação do lastro dos direitos creditórios do fundo. · https://fnet.bmfbovespa.com.br/fnet/publico/visualizarDocumento?id=1291015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60010416000112 · Resultado da verificação de lastro · Informe Trimestral · ID 1292034 · 06/2026 · versão 1 · p. 1 · Sobre os resultados da última verificação do lastro dos direitos creditórios do fundo. · https://fnet.bmfbovespa.com.br/fnet/publico/visualizarDocumento?id=1292034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62696791000193 · Resultado da verificação de lastro · Informe Trimestral · ID 1114465 · 12/2025 · versão 1 · p. 1 · Sobre os resultados da última verificação do lastro dos direitos creditórios do fundo. · https://fnet.bmfbovespa.com.br/fnet/publico/visualizarDocumento?id=1114465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55563624000109 · Resultado da verificação de lastro · Informe Trimestral · ID 1289610 · 06/2026 · versão 1 · p. 1 · Sobre os resultados da última verificação do lastro dos direitos creditórios do fundo. · https://fnet.bmfbovespa.com.br/fnet/publico/visualizarDocumento?id=1289610 · Sobre os resultados da última verificação do lastro dos direitos creditórios do fundo. Informamos que o Fundo dispensa a verificação de lastro dos direitos creditórios.</a:t>
            </a:r>
          </a:p>
          <a:p>
            <a:r>
              <a:t>CNPJ 62552447000120 · Resultado da verificação de lastro · Informe Trimestral · ID 1292043 · 06/2026 · versão 1 · p. 1 · Sobre os resultados da última verificação do lastro dos direitos creditórios do fundo. · https://fnet.bmfbovespa.com.br/fnet/publico/visualizarDocumento?id=1292043 · Sobre os resultados da última verificação do lastro dos direitos creditórios do fundo. Informamos que o Fundo dispensa a verificação de lastro dos direitos creditórios.</a:t>
            </a:r>
          </a:p>
          <a:p>
            <a:r>
              <a:t>CNPJ 63953620000165 · Resultado da verificação de lastro · Informe Trimestral · ID 1291068 · 06/2026 · versão 1 · p. 1 · Sobre os resultados da última verificação do lastro dos direitos creditórios do fundo. · https://fnet.bmfbovespa.com.br/fnet/publico/visualizarDocumento?id=1291068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54871427000194 · Registro dos direitos creditórios · Informe Trimestral · ID 1291015 · 06/2026 · versão 1 · p. 1 · Sobre o registro dos direitos creditórios em entidade registradora. · https://fnet.bmfbovespa.com.br/fnet/publico/visualizarDocumento?id=1291015 · Sobre o registro dos direitos creditórios em entidade registradora. Todos os créditos estão liberados para registro.</a:t>
            </a:r>
          </a:p>
          <a:p>
            <a:r>
              <a:t>CNPJ 60010416000112 · Registro dos direitos creditórios · Informe Trimestral · ID 1292034 · 06/2026 · versão 1 · p. 1 · Sobre o registro dos direitos creditórios em entidade registradora. · https://fnet.bmfbovespa.com.br/fnet/publico/visualizarDocumento?id=1292034 · Sobre o registro dos direitos creditórios em entidade registradora. Todos os créditos estão liberados para registro.</a:t>
            </a:r>
          </a:p>
          <a:p>
            <a:r>
              <a:t>CNPJ 62696791000193 · Registro dos direitos creditórios · Informe Trimestral · ID 1114465 · 12/2025 · versão 1 · p. 1 · Sobre o registro dos direitos creditórios em entidade registradora. · https://fnet.bmfbovespa.com.br/fnet/publico/visualizarDocumento?id=1114465 · Sobre o registro dos direitos creditórios em entidade registradora. Todos os créditos estão liberados para registro.</a:t>
            </a:r>
          </a:p>
          <a:p>
            <a:r>
              <a:t>CNPJ 55563624000109 · Registro dos direitos creditórios · Informe Trimestral · ID 1289610 · 06/2026 · versão 1 · p. 1 · Sobre o registro dos direitos creditórios em entidade registradora. · https://fnet.bmfbovespa.com.br/fnet/publico/visualizarDocumento?id=1289610 · Sobre o registro dos direitos creditórios em entidade registradora. Todos os créditos estão liberados para registro.</a:t>
            </a:r>
          </a:p>
          <a:p>
            <a:r>
              <a:t>CNPJ 62552447000120 · Registro dos direitos creditórios · Informe Trimestral · ID 1292043 · 06/2026 · versão 1 · p. 1 · Sobre o registro dos direitos creditórios em entidade registradora. · https://fnet.bmfbovespa.com.br/fnet/publico/visualizarDocumento?id=1292043 · Sobre o registro dos direitos creditórios em entidade registradora. Todos os créditos estão liberados para registro.</a:t>
            </a:r>
          </a:p>
          <a:p>
            <a:r>
              <a:t>CNPJ 63953620000165 · Registro dos direitos creditórios · Informe Trimestral · ID 1291068 · 06/2026 · versão 1 · p. 1 · Sobre o registro dos direitos creditórios em entidade registradora. · https://fnet.bmfbovespa.com.br/fnet/publico/visualizarDocumento?id=1291068 · Sobre o registro dos direitos creditórios em entidade registradora. Todos os créditos estão liberados para registro.</a:t>
            </a:r>
          </a:p>
          <a:p>
            <a:r>
              <a:t>CNPJ 54871427000194 · Processos judiciais · Informe Trimestral · ID 1291015 · 06/2026 · versão 1 · p. 1 · Sobre a existência de processos judiciais envolvendo o FIDC. · https://fnet.bmfbovespa.com.br/fnet/publico/visualizarDocumento?id=1291015 · Sobre a existência de processos judiciais envolvendo o FIDC. O administrador do fundo não tem conhecimento de ações judiciais envolvendo o fundo no trimestre em referência.</a:t>
            </a:r>
          </a:p>
          <a:p>
            <a:r>
              <a:t>CNPJ 60010416000112 · Processos judiciais · Informe Trimestral · ID 1292034 · 06/2026 · versão 1 · p. 1 · Sobre a existência de processos judiciais envolvendo o FIDC. · https://fnet.bmfbovespa.com.br/fnet/publico/visualizarDocumento?id=1292034 · Sobre a existência de processos judiciais envolvendo o FIDC. O fundo está exposto as ações judiciais listadas abaixo:</a:t>
            </a:r>
          </a:p>
          <a:p>
            <a:r>
              <a:t>CNPJ 62696791000193 · Processos judiciais · Informe Trimestral · ID 1114465 · 12/2025 · versão 1 · p. 1 · Sobre a existência de processos judiciais envolvendo o FIDC. · https://fnet.bmfbovespa.com.br/fnet/publico/visualizarDocumento?id=1114465 · Sobre a existência de processos judiciais envolvendo o FIDC. O administrador do fundo não tem conhecimento de ações judiciais envolvendo o fundo no trimestre em referência.</a:t>
            </a:r>
          </a:p>
          <a:p>
            <a:r>
              <a:t>CNPJ 55563624000109 · Processos judiciais · Informe Trimestral · ID 1289610 · 06/2026 · versão 1 · p. 1 · Sobre a existência de processos judiciais envolvendo o FIDC. · https://fnet.bmfbovespa.com.br/fnet/publico/visualizarDocumento?id=1289610 · Sobre a existência de processos judiciais envolvendo o FIDC. O administrador do fundo não tem conhecimento de ações judiciais envolvendo o fundo no trimestre em referência.</a:t>
            </a:r>
          </a:p>
          <a:p>
            <a:r>
              <a:t>CNPJ 62552447000120 · Processos judiciais · Informe Trimestral · ID 1292043 · 06/2026 · versão 1 · p. 1 · Sobre a existência de processos judiciais envolvendo o FIDC. · https://fnet.bmfbovespa.com.br/fnet/publico/visualizarDocumento?id=1292043 · Sobre a existência de processos judiciais envolvendo o FIDC. O administrador do fundo não tem conhecimento de ações judiciais envolvendo o fundo no trimestre em referência.</a:t>
            </a:r>
          </a:p>
          <a:p>
            <a:r>
              <a:t>CNPJ 63953620000165 · Processos judiciais · Informe Trimestral · ID 1291068 · 06/2026 · versão 1 · p. 1 · Sobre a existência de processos judiciais envolvendo o FIDC. · https://fnet.bmfbovespa.com.br/fnet/publico/visualizarDocumento?id=1291068 · Sobre a existência de processos judiciais envolvendo o FIDC. O fundo está exposto as ações judiciais listadas abaixo:</a:t>
            </a:r>
          </a:p>
          <a:p>
            <a:r>
              <a:t>CNPJ 54871427000194 · Aquisição de precatórios · Informe Trimestral · ID 1291015 · 06/2026 · versão 1 · p. 1 · Sobre a aquisição de precatórios federais em fundos destinados ao público em geral. · https://fnet.bmfbovespa.com.br/fnet/publico/visualizarDocumento?id=1291015 · Sobre a aquisição de precatórios federais em fundos destinados ao público em geral. O fundo não se destina ao público em geral. As informações a seguir são destinadas à apresentação do relatório trimestral do gestor.</a:t>
            </a:r>
          </a:p>
          <a:p>
            <a:r>
              <a:t>CNPJ 60010416000112 · Aquisição de precatórios · Informe Trimestral · ID 1292034 · 06/2026 · versão 1 · p. 1 · Sobre a aquisição de precatórios federais em fundos destinados ao público em geral. · https://fnet.bmfbovespa.com.br/fnet/publico/visualizarDocumento?id=1292034 · Sobre a aquisição de precatórios federais em fundos destinados ao público em geral. O fundo adquiriu precatórios federais no trimestre em referência e está sujeito a eventual existência de impugnação judicial ou fatos supervenientes capazes de alterar a ordem ou o prazo de pagamento dos precatórios. As informações a seguir são destinadas à apresentação do relatório trimestral do gestor.</a:t>
            </a:r>
          </a:p>
          <a:p>
            <a:r>
              <a:t>CNPJ 62696791000193 · Aquisição de precatórios · Informe Trimestral · ID 1114465 · 12/2025 · versão 1 · p. 1 · Sobre a aquisição de precatórios federais em fundos destinados ao público em geral. · https://fnet.bmfbovespa.com.br/fnet/publico/visualizarDocumento?id=1114465 · Sobre a aquisição de precatórios federais em fundos destinados ao público em geral. O fundo não se destina ao público em geral. As informações a seguir são destinadas à apresentação do relatório trimestral do gestor. Em atendimento ao parágrafo § 4º, inciso V, artigo 27 da Resolução 175, informamos ainda que, até a data de divulgação deste demonstrativo trimestral, o gestor não encaminhou ao administrador o relatório trimestral da gestão, conforme estabelecido pela legislação em vigor.</a:t>
            </a:r>
          </a:p>
          <a:p>
            <a:r>
              <a:t>CNPJ 55563624000109 · Aquisição de precatórios · Informe Trimestral · ID 1289610 · 06/2026 · versão 1 · p. 1 · Sobre a aquisição de precatórios federais em fundos destinados ao público em geral. · https://fnet.bmfbovespa.com.br/fnet/publico/visualizarDocumento?id=1289610 · Sobre a aquisição de precatórios federais em fundos destinados ao público em geral. O fundo não se destina ao público em geral. As informações a seguir são destinadas à apresentação do relatório trimestral do gestor.</a:t>
            </a:r>
          </a:p>
          <a:p>
            <a:r>
              <a:t>CNPJ 62552447000120 · Aquisição de precatórios · Informe Trimestral · ID 1292043 · 06/2026 · versão 1 · p. 1 · Sobre a aquisição de precatórios federais em fundos destinados ao público em geral. · https://fnet.bmfbovespa.com.br/fnet/publico/visualizarDocumento?id=1292043 · Sobre a aquisição de precatórios federais em fundos destinados ao público em geral. O fundo não se destina ao público em geral. As informações a seguir são destinadas à apresentação do relatório trimestral do gestor.</a:t>
            </a:r>
          </a:p>
          <a:p>
            <a:r>
              <a:t>CNPJ 63953620000165 · Aquisição de precatórios · Informe Trimestral · ID 1291068 · 06/2026 · versão 1 · p. 1 · Sobre a aquisição de precatórios federais em fundos destinados ao público em geral. · https://fnet.bmfbovespa.com.br/fnet/publico/visualizarDocumento?id=1291068 · Sobre a aquisição de precatórios federais em fundos destinados ao público em geral. O fundo adquiriu precatórios federais no trimestre em referência e está sujeito a eventual existência de impugnação judicial ou fatos supervenientes capazes de alterar a ordem ou o prazo de pagamento dos precatórios. As informações a seguir são destinadas à apresentação do relatório trimestral do gestor.</a:t>
            </a:r>
          </a:p>
          <a:p>
            <a:r>
              <a:t>CNPJ 63953620000165 · Aquisição de precatórios · Anexo ao Regulamento · ID 1222863 · 02/06/2026 · versão AnexoConsignadoPrivado02/06/2026 · p. 6 · 4.14 · https://fnet.bmfbovespa.com.br/fnet/publico/visualizarDocumento?id=1222863 · 4.14 Nos termos do Art. 45, §7º, inciso II, do Anexo Normativo II da Resolução CVM 175, a Classe poderá ter até 100% (cem por cento) de seu Patrimônio Líquido alocado em Direitos Creditórios, derivativos, observado o disposto neste Anexo I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4.15 Sem prejuízo de limites</a:t>
            </a:r>
          </a:p>
          <a:p>
            <a:r>
              <a:t>CNPJ 63953620000165 · Aquisição de precatórios · Anexo ao Regulamento · ID 1222863 · 02/06/2026 · versão AnexoConsignadoPrivado02/06/2026 · p. 7 · 4.15(i)–(v) · https://fnet.bmfbovespa.com.br/fnet/publico/visualizarDocumento?id=1222863 · (i)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CNPJ 54871427000194 · Alterações da política de investimento · Informe Trimestral · ID 1291015 · 06/2026 · versão 1 · p. 1 · Impactos de eventual alteração na política de investimento sobre a rentabilidade do Fundo. · https://fnet.bmfbovespa.com.br/fnet/publico/visualizarDocumento?id=1291015 · Impactos de eventual alteração na política de investimento sobre a rentabilidade do Fundo. Não se aplica, pois não ocorreram alterações na política de investimento do fundo no trimestre em referência.</a:t>
            </a:r>
          </a:p>
          <a:p>
            <a:r>
              <a:t>CNPJ 60010416000112 · Alterações da política de investimento · Informe Trimestral · ID 1292034 · 06/2026 · versão 1 · p. 1 · Impactos de eventual alteração na política de investimento sobre a rentabilidade do Fundo. · https://fnet.bmfbovespa.com.br/fnet/publico/visualizarDocumento?id=1292034 · Impactos de eventual alteração na política de investimento sobre a rentabilidade do Fundo. Não foram observados impactos significativos na rentabilidade do fundo, em função das alterações ocorridas em seu regulamento no trimestre em referência.</a:t>
            </a:r>
          </a:p>
          <a:p>
            <a:r>
              <a:t>CNPJ 62552447000120 · Alterações da política de investimento · Informe Trimestral · ID 1292043 · 06/2026 · versão 1 · p. 1 · Impactos de eventual alteração na política de investimento sobre a rentabilidade do Fundo. · https://fnet.bmfbovespa.com.br/fnet/publico/visualizarDocumento?id=1292043 · Impactos de eventual alteração na política de investimento sobre a rentabilidade do Fundo. Não se aplica, pois não ocorreram alterações na política de investimento do fundo no trimestre em referência.</a:t>
            </a:r>
          </a:p>
          <a:p>
            <a:r>
              <a:t>CNPJ 63953620000165 · Alterações da política de investimento · Informe Trimestral · ID 1291068 · 06/2026 · versão 1 · p. 1 · Impactos de eventual alteração na política de investimento sobre a rentabilidade do Fundo. · https://fnet.bmfbovespa.com.br/fnet/publico/visualizarDocumento?id=1291068 · Impactos de eventual alteração na política de investimento sobre a rentabilidade do Fundo. Não foram observados impactos significativos na rentabilidade do fundo, em função das alterações ocorridas em seu regulamento no trimestre em referência.</a:t>
            </a:r>
          </a:p>
          <a:p>
            <a:r>
              <a:t>CNPJ 54871427000194 · Critérios de concessão dos originadores · Informe Trimestral · ID 1291015 · 06/2026 · versão 1 · p. 2 · Critérios para a concessão de crédito adotados pelos originadores, que representem 10% ou mais da carteira de direitos creditórios no trimestre. · https://fnet.bmfbovespa.com.br/fnet/publico/visualizarDocumento?id=1291015 · Critérios para a concessão de crédito adotados pelos originadores, que representem 10% ou mais da carteira de direitos creditórios no trimestre. Os critérios para a concessão de crédito adotados pelos originadores do fundo não foram alterados no último trimestre, conforme descrito em seu regulamento.</a:t>
            </a:r>
          </a:p>
          <a:p>
            <a:r>
              <a:t>CNPJ 60010416000112 · Critérios de concessão dos originadores · Informe Trimestral · ID 1292034 · 06/2026 · versão 1 · p. 2 · Critérios para a concessão de crédito adotados pelos originadores, que representem 10% ou mais da carteira de direitos creditórios no trimestre. · https://fnet.bmfbovespa.com.br/fnet/publico/visualizarDocumento?id=1292034 · Critérios para a concessão de crédito adotados pelos originadores, que representem 10% ou mais da carteira de direitos creditórios no trimestre. Os critérios para a concessão de crédito adotados pelos originadores do fundo foram alterados no último trimestre, conforme descrito em seu regulamento.</a:t>
            </a:r>
          </a:p>
          <a:p>
            <a:r>
              <a:t>CNPJ 55563624000109 · Critérios de concessão dos originadores · Informe Trimestral · ID 1289610 · 06/2026 · versão 1 · p. 2–3 · Critériosparaaconcessãodecréditoadotadospelosoriginadores,casotaiscritériosnãotenhamsido descritos no regulamento ou em outros demonstrativos trimestrais; Resposta:Nãoocorreramalteraçõesrelevantesnoscritériosparaaconcessãodecrédito. · https://fnet.bmfbovespa.com.br/fnet/publico/visualizarDocumento?id=1289610 · Critériosparaaconcessãodecréditoadotadospelosoriginadores,casotaiscritériosnãotenhamsido descritos no regulamento ou em outros demonstrativos trimestrais; Resposta:Nãoocorreramalteraçõesrelevantesnoscritériosparaaconcessãodecrédito. Eventuaisalteraçõesnoscritériosparaaconcessãodecréditoadotadosportaisoriginadores,casooscritériosadotadosjátenh amsidodescritosnoregulamentoouemoutrosdemonstrativostrimestrais;Resposta:Nãoocorreramalteraçõesrelevant esnoscritériosparaaconcessãodecrédito. Eventuaisalteraçõesnasgarantiasexistentesparaoconjuntodedireitoscreditórios; Resposta:Nãoocorreramalteraçõesrelevantesnas garantiasexistentesparao conjuntodeativos. Formacomoseoperouacessãodosdireitoscreditórios,incluindo: a)descriçãodecontratosrelevantesfirmadoscomessepropósito,sehouver;eb)indicaçãodocaráter definitivo, ou não, da cessão de direitos creditórios; Resposta:Ascessõesdedireitoscreditóriosocorreramtodasdeformadefinitiva,deacordocomodisposto no regulamento e/ou nos respectivos contratos. Nomedofundo:PLGNMARKETFCFIDC CNPJ: 55563624000109 Impactodoseventosdepré- pagamentonovalordopatrimôniolíquidoenarentabilidadedacarteira;Resposta:Existemeventosdepré- pagamentoemfundospulverizadosnocursonormaldosnegócios que não geram, por si só, impacto significativo no patrimônio líquido e na rentabilidade da carteira.</a:t>
            </a:r>
          </a:p>
          <a:p>
            <a:r>
              <a:t>CNPJ 63953620000165 · Critérios de concessão dos originadores · Informe Trimestral · ID 1291068 · 06/2026 · versão 1 · p. 2 · Critérios para a concessão de crédito adotados pelos originadores, que representem 10% ou mais da carteira de direitos creditórios no trimestre. · https://fnet.bmfbovespa.com.br/fnet/publico/visualizarDocumento?id=1291068 · Critérios para a concessão de crédito adotados pelos originadores, que representem 10% ou mais da carteira de direitos creditórios no trimestre. Os critérios para a concessão de crédito adotados pelos originadores do fundo foram alterados no último trimestre, conforme descrito em seu regulamento.</a:t>
            </a:r>
          </a:p>
          <a:p>
            <a:r>
              <a:t>CNPJ 54871427000194 · Alterações das garantias · Informe Trimestral · ID 1291015 · 06/2026 · versão 1 · p. 2 · Sobre as garantias existentes. · https://fnet.bmfbovespa.com.br/fnet/publico/visualizarDocumento?id=1291015 · Sobre as garantias existentes. Não ocorreram alterações nas garantias existentes para o conjunto de direitos creditórios adquiridos pelo fundo.</a:t>
            </a:r>
          </a:p>
          <a:p>
            <a:r>
              <a:t>CNPJ 60010416000112 · Alterações das garantias · Informe Trimestral · ID 1292034 · 06/2026 · versão 1 · p. 2 · Sobre as garantias existentes. · https://fnet.bmfbovespa.com.br/fnet/publico/visualizarDocumento?id=1292034 · Sobre as garantias existentes. Ocorreram alterações nas garantias existentes para o conjunto de direitos creditórios adquiridos pelo fundo.</a:t>
            </a:r>
          </a:p>
          <a:p>
            <a:r>
              <a:t>CNPJ 62552447000120 · Alterações das garantias · Informe Trimestral · ID 1292043 · 06/2026 · versão 1 · p. 2 · Sobre as garantias existentes. · https://fnet.bmfbovespa.com.br/fnet/publico/visualizarDocumento?id=1292043 · Sobre as garantias existentes. Não ocorreram alterações nas garantias existentes para o conjunto de direitos creditórios adquiridos pelo fundo.</a:t>
            </a:r>
          </a:p>
          <a:p>
            <a:r>
              <a:t>CNPJ 63953620000165 · Alterações das garantias · Informe Trimestral · ID 1291068 · 06/2026 · versão 1 · p. 2 · Sobre as garantias existentes. · https://fnet.bmfbovespa.com.br/fnet/publico/visualizarDocumento?id=1291068 · Sobre as garantias existentes. Ocorreram alterações nas garantias existentes para o conjunto de direitos creditórios adquiridos pelo fundo.</a:t>
            </a:r>
          </a:p>
          <a:p>
            <a:r>
              <a:t>CNPJ 54871427000194 · Cessões no trimestre · Informe Trimestral · ID 1291015 · 06/2026 · versão 1 · p. 2 · Sobre a cessão dos direitos creditórios no período. · https://fnet.bmfbovespa.com.br/fnet/publico/visualizarDocumento?id=1291015 · Sobre a cessão dos direitos creditórios no período. Não se aplica, visto que não foram emitidas novas cessões de direitos creditórios no período.</a:t>
            </a:r>
          </a:p>
          <a:p>
            <a:r>
              <a:t>CNPJ 60010416000112 · Cessões no trimestre · Informe Trimestral · ID 1292034 · 06/2026 · versão 1 · p. 2 · Sobre a cessão dos direitos creditórios no período. · https://fnet.bmfbovespa.com.br/fnet/publico/visualizarDocumento?id=1292034 · Sobre a cessão dos direitos creditórios no período. Ocorreram novas cessões de direitos creditórios no período em referência e os novos contratos foram firmados com o caráter definitivo para o fundo.</a:t>
            </a:r>
          </a:p>
          <a:p>
            <a:r>
              <a:t>CNPJ 62552447000120 · Cessões no trimestre · Informe Trimestral · ID 1292043 · 06/2026 · versão 1 · p. 2 · Sobre a cessão dos direitos creditórios no período. · https://fnet.bmfbovespa.com.br/fnet/publico/visualizarDocumento?id=1292043 · Sobre a cessão dos direitos creditórios no período. Ocorreram novas cessões de direitos creditórios no período em referência e os novos contratos foram firmados com o caráter definitivo para o fundo.</a:t>
            </a:r>
          </a:p>
          <a:p>
            <a:r>
              <a:t>CNPJ 63953620000165 · Cessões no trimestre · Informe Trimestral · ID 1291068 · 06/2026 · versão 1 · p. 2 · Sobre a cessão dos direitos creditórios no período. · https://fnet.bmfbovespa.com.br/fnet/publico/visualizarDocumento?id=1291068 · Sobre a cessão dos direitos creditórios no período. Ocorreram novas cessões de direitos creditórios no período em referência e os novos contratos foram firmados com o caráter definitivo para o fundo.</a:t>
            </a:r>
          </a:p>
          <a:p>
            <a:r>
              <a:t>CNPJ 54871427000194 · Eventos de pré-pagamento · Informe Trimestral · ID 1291015 · 06/2026 · versão 1 · p. 2 · Sobre os impactos dos eventos de pré-pagamento. · https://fnet.bmfbovespa.com.br/fnet/publico/visualizarDocumento?id=1291015 · Sobre os impactos dos eventos de pré-pagamento. Não se aplica, visto que não ocorreram eventos de pré-pagamento no último trimestre.</a:t>
            </a:r>
          </a:p>
          <a:p>
            <a:r>
              <a:t>CNPJ 60010416000112 · Eventos de pré-pagamento · Informe Trimestral · ID 1292034 · 06/2026 · versão 1 · p. 2 · Sobre os impactos dos eventos de pré-pagamento. · https://fnet.bmfbovespa.com.br/fnet/publico/visualizarDocumento?id=1292034 · Sobre os impactos dos eventos de pré-pagamento. O fundo teve eventos de pré-pagamento no último trimestre, mas não foram observados impactos relevantes no patrimônio líquido e na carteira do fundo.</a:t>
            </a:r>
          </a:p>
          <a:p>
            <a:r>
              <a:t>CNPJ 62552447000120 · Eventos de pré-pagamento · Informe Trimestral · ID 1292043 · 06/2026 · versão 1 · p. 2 · Sobre os impactos dos eventos de pré-pagamento. · https://fnet.bmfbovespa.com.br/fnet/publico/visualizarDocumento?id=1292043 · Sobre os impactos dos eventos de pré-pagamento. O fundo teve eventos de pré-pagamento no último trimestre, mas não foram observados impactos relevantes no patrimônio líquido e na carteira do fundo.</a:t>
            </a:r>
          </a:p>
          <a:p>
            <a:r>
              <a:t>CNPJ 63953620000165 · Eventos de pré-pagamento · Informe Trimestral · ID 1291068 · 06/2026 · versão 1 · p. 2 · Sobre os impactos dos eventos de pré-pagamento. · https://fnet.bmfbovespa.com.br/fnet/publico/visualizarDocumento?id=1291068 · Sobre os impactos dos eventos de pré-pagamento. O fundo teve eventos de pré-pagamento no último trimestre, mas não foram observados impactos relevantes no patrimônio líquido e na carteira do fundo.</a:t>
            </a:r>
          </a:p>
          <a:p>
            <a:r>
              <a:t>CNPJ 54871427000194 · Alienação de direitos creditórios · Informe Trimestral · ID 1291015 · 06/2026 · versão 1 · p. 2 · Sobre as condições de alienação dos direitos creditórios. · https://fnet.bmfbovespa.com.br/fnet/publico/visualizarDocumento?id=1291015 · Sobre as condições de alienação dos direitos creditórios. Não se aplica, visto que não ocorreram eventos de alienação neste trimestre.</a:t>
            </a:r>
          </a:p>
          <a:p>
            <a:r>
              <a:t>CNPJ 60010416000112 · Alienação de direitos creditórios · Informe Trimestral · ID 1292034 · 06/2026 · versão 1 · p. 2 · Sobre as condições de alienação dos direitos creditórios. · https://fnet.bmfbovespa.com.br/fnet/publico/visualizarDocumento?id=1292034 · Sobre as condições de alienação dos direitos creditórios. No trimestre base o fundo teve eventos de alienação de uma parcela dos direitos creditórios de sua carteira. Como principal motivo para a realização desta operação temos: A realocação de investimentos da carteira.</a:t>
            </a:r>
          </a:p>
          <a:p>
            <a:r>
              <a:t>CNPJ 55563624000109 · Alienação de direitos creditórios · Informe Trimestral · ID 1289610 · 06/2026 · versão 1 · p. 3 · Condiçõesdealienação,aqualquertítulo,dedireitoscreditórios,incluindo: · https://fnet.bmfbovespa.com.br/fnet/publico/visualizarDocumento?id=1289610 · Condiçõesdealienação,aqualquertítulo,dedireitoscreditórios,incluindo: Momentodaalienação(antesoudepoisdovencimento); Resposta: Não ocorreram alienação de ativos da carteira do Fundo, exceto no curso normal dosnegócios. Motivaçãodaalienação; Resposta: Não ocorreram alienação de ativos da carteira do Fundo, exceto no curso normal dosnegócios. Impactonovalordopatrimôniolíquidoenarentabilidadedacarteiradeativosdeumapossível descontinuidade, a qualquer título, da originação ou cessão de direitos creditórios; Resposta:Nãohá. Informaçõessobrefatosocorridosqueafetaramaregularidadedosfluxosfinanceirosoriundosdos direitoscreditórios,incluindo,masnãoselimitando,aquaisquereventosqueacarretemnaliquidação ou amortização antecipada de direitos creditórios. Resposta: Não ocorreram eventos relevantes que acarretaram a regularidade dos fluxos financeirosoriundos dos direitos creditórios.</a:t>
            </a:r>
          </a:p>
          <a:p>
            <a:r>
              <a:t>CNPJ 62552447000120 · Alienação de direitos creditórios · Informe Trimestral · ID 1292043 · 06/2026 · versão 1 · p. 2 · Sobre as condições de alienação dos direitos creditórios. · https://fnet.bmfbovespa.com.br/fnet/publico/visualizarDocumento?id=1292043 · Sobre as condições de alienação dos direitos creditórios. Não se aplica, visto que não ocorreram eventos de alienação neste trimestre.</a:t>
            </a:r>
          </a:p>
          <a:p>
            <a:r>
              <a:t>CNPJ 63953620000165 · Alienação de direitos creditórios · Informe Trimestral · ID 1291068 · 06/2026 · versão 1 · p. 2 · Sobre as condições de alienação dos direitos creditórios. · https://fnet.bmfbovespa.com.br/fnet/publico/visualizarDocumento?id=1291068 · Sobre as condições de alienação dos direitos creditórios. No trimestre base o fundo teve eventos de alienação de uma parcela dos direitos creditórios de sua carteira. Como principal motivo para a realização desta operação temos: A realocação de investimentos da carteira.</a:t>
            </a:r>
          </a:p>
          <a:p>
            <a:r>
              <a:t>CNPJ 54871427000194 · Descontinuidade de originação ou cessão · Informe Trimestral · ID 1291015 · 06/2026 · versão 1 · p. 2 · Sobre a descontinuidade da originação ou cessão dos direitos creditórios do fundo. · https://fnet.bmfbovespa.com.br/fnet/publico/visualizarDocumento?id=1291015 · Sobre a descontinuidade da originação ou cessão dos direitos creditórios do fundo. O regulamento do fundo estabelece as condições mínimas previstas para descontinuidade da originação ou cessão dos direitos creditórios investidos, sendo certo que quaisquer alterações nestes critérios serão divulgadas a mercado, por meio de fato relevante ou através dos canais oficiais de registro do fundo.</a:t>
            </a:r>
          </a:p>
          <a:p>
            <a:r>
              <a:t>CNPJ 60010416000112 · Descontinuidade de originação ou cessão · Informe Trimestral · ID 1292034 · 06/2026 · versão 1 · p. 2 · Sobre a descontinuidade da originação ou cessão dos direitos creditórios do fundo. · https://fnet.bmfbovespa.com.br/fnet/publico/visualizarDocumento?id=1292034 · Sobre a descontinuidade da originação ou cessão dos direitos creditórios do fundo. Foram observados impactos significativos na rentabilidade do fundo, em função da descontinuidade da originação de direitos creditórios no trimestre em referência.</a:t>
            </a:r>
          </a:p>
          <a:p>
            <a:r>
              <a:t>CNPJ 62552447000120 · Descontinuidade de originação ou cessão · Informe Trimestral · ID 1292043 · 06/2026 · versão 1 · p. 2 · Sobre a descontinuidade da originação ou cessão dos direitos creditórios do fundo. · https://fnet.bmfbovespa.com.br/fnet/publico/visualizarDocumento?id=1292043 · Sobre a descontinuidade da originação ou cessão dos direitos creditórios do fundo. Não se aplica, visto que não foram observados impactos significativos na rentabilidade do fundo, em função da descontinuidade da originação de direitos creditórios no trimestre em referência.</a:t>
            </a:r>
          </a:p>
          <a:p>
            <a:r>
              <a:t>CNPJ 63953620000165 · Descontinuidade de originação ou cessão · Informe Trimestral · ID 1291068 · 06/2026 · versão 1 · p. 2 · Sobre a descontinuidade da originação ou cessão dos direitos creditórios do fundo. · https://fnet.bmfbovespa.com.br/fnet/publico/visualizarDocumento?id=1291068 · Sobre a descontinuidade da originação ou cessão dos direitos creditórios do fundo. Foram observados impactos significativos na rentabilidade do fundo, em função da descontinuidade da originação de direitos creditórios no trimestre em referência.</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Declarações trimestrais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Resultado da verificação de lastro · Informe Trimestral · ID 1291015 · 06/2026 · versão 1 · p. 1 · Sobre os resultados da última verificação do lastro dos direitos creditórios do fundo. · https://fnet.bmfbovespa.com.br/fnet/publico/visualizarDocumento?id=1291015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60010416000112 · Resultado da verificação de lastro · Informe Trimestral · ID 1292034 · 06/2026 · versão 1 · p. 1 · Sobre os resultados da última verificação do lastro dos direitos creditórios do fundo. · https://fnet.bmfbovespa.com.br/fnet/publico/visualizarDocumento?id=1292034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62696791000193 · Resultado da verificação de lastro · Informe Trimestral · ID 1114465 · 12/2025 · versão 1 · p. 1 · Sobre os resultados da última verificação do lastro dos direitos creditórios do fundo. · https://fnet.bmfbovespa.com.br/fnet/publico/visualizarDocumento?id=1114465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55563624000109 · Resultado da verificação de lastro · Informe Trimestral · ID 1289610 · 06/2026 · versão 1 · p. 1 · Sobre os resultados da última verificação do lastro dos direitos creditórios do fundo. · https://fnet.bmfbovespa.com.br/fnet/publico/visualizarDocumento?id=1289610 · Sobre os resultados da última verificação do lastro dos direitos creditórios do fundo. Informamos que o Fundo dispensa a verificação de lastro dos direitos creditórios.</a:t>
            </a:r>
          </a:p>
          <a:p>
            <a:r>
              <a:t>CNPJ 62552447000120 · Resultado da verificação de lastro · Informe Trimestral · ID 1292043 · 06/2026 · versão 1 · p. 1 · Sobre os resultados da última verificação do lastro dos direitos creditórios do fundo. · https://fnet.bmfbovespa.com.br/fnet/publico/visualizarDocumento?id=1292043 · Sobre os resultados da última verificação do lastro dos direitos creditórios do fundo. Informamos que o Fundo dispensa a verificação de lastro dos direitos creditórios.</a:t>
            </a:r>
          </a:p>
          <a:p>
            <a:r>
              <a:t>CNPJ 63953620000165 · Resultado da verificação de lastro · Informe Trimestral · ID 1291068 · 06/2026 · versão 1 · p. 1 · Sobre os resultados da última verificação do lastro dos direitos creditórios do fundo. · https://fnet.bmfbovespa.com.br/fnet/publico/visualizarDocumento?id=1291068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54871427000194 · Registro dos direitos creditórios · Informe Trimestral · ID 1291015 · 06/2026 · versão 1 · p. 1 · Sobre o registro dos direitos creditórios em entidade registradora. · https://fnet.bmfbovespa.com.br/fnet/publico/visualizarDocumento?id=1291015 · Sobre o registro dos direitos creditórios em entidade registradora. Todos os créditos estão liberados para registro.</a:t>
            </a:r>
          </a:p>
          <a:p>
            <a:r>
              <a:t>CNPJ 60010416000112 · Registro dos direitos creditórios · Informe Trimestral · ID 1292034 · 06/2026 · versão 1 · p. 1 · Sobre o registro dos direitos creditórios em entidade registradora. · https://fnet.bmfbovespa.com.br/fnet/publico/visualizarDocumento?id=1292034 · Sobre o registro dos direitos creditórios em entidade registradora. Todos os créditos estão liberados para registro.</a:t>
            </a:r>
          </a:p>
          <a:p>
            <a:r>
              <a:t>CNPJ 62696791000193 · Registro dos direitos creditórios · Informe Trimestral · ID 1114465 · 12/2025 · versão 1 · p. 1 · Sobre o registro dos direitos creditórios em entidade registradora. · https://fnet.bmfbovespa.com.br/fnet/publico/visualizarDocumento?id=1114465 · Sobre o registro dos direitos creditórios em entidade registradora. Todos os créditos estão liberados para registro.</a:t>
            </a:r>
          </a:p>
          <a:p>
            <a:r>
              <a:t>CNPJ 55563624000109 · Registro dos direitos creditórios · Informe Trimestral · ID 1289610 · 06/2026 · versão 1 · p. 1 · Sobre o registro dos direitos creditórios em entidade registradora. · https://fnet.bmfbovespa.com.br/fnet/publico/visualizarDocumento?id=1289610 · Sobre o registro dos direitos creditórios em entidade registradora. Todos os créditos estão liberados para registro.</a:t>
            </a:r>
          </a:p>
          <a:p>
            <a:r>
              <a:t>CNPJ 62552447000120 · Registro dos direitos creditórios · Informe Trimestral · ID 1292043 · 06/2026 · versão 1 · p. 1 · Sobre o registro dos direitos creditórios em entidade registradora. · https://fnet.bmfbovespa.com.br/fnet/publico/visualizarDocumento?id=1292043 · Sobre o registro dos direitos creditórios em entidade registradora. Todos os créditos estão liberados para registro.</a:t>
            </a:r>
          </a:p>
          <a:p>
            <a:r>
              <a:t>CNPJ 63953620000165 · Registro dos direitos creditórios · Informe Trimestral · ID 1291068 · 06/2026 · versão 1 · p. 1 · Sobre o registro dos direitos creditórios em entidade registradora. · https://fnet.bmfbovespa.com.br/fnet/publico/visualizarDocumento?id=1291068 · Sobre o registro dos direitos creditórios em entidade registradora. Todos os créditos estão liberados para registro.</a:t>
            </a:r>
          </a:p>
          <a:p>
            <a:r>
              <a:t>CNPJ 54871427000194 · Processos judiciais · Informe Trimestral · ID 1291015 · 06/2026 · versão 1 · p. 1 · Sobre a existência de processos judiciais envolvendo o FIDC. · https://fnet.bmfbovespa.com.br/fnet/publico/visualizarDocumento?id=1291015 · Sobre a existência de processos judiciais envolvendo o FIDC. O administrador do fundo não tem conhecimento de ações judiciais envolvendo o fundo no trimestre em referência.</a:t>
            </a:r>
          </a:p>
          <a:p>
            <a:r>
              <a:t>CNPJ 60010416000112 · Processos judiciais · Informe Trimestral · ID 1292034 · 06/2026 · versão 1 · p. 1 · Sobre a existência de processos judiciais envolvendo o FIDC. · https://fnet.bmfbovespa.com.br/fnet/publico/visualizarDocumento?id=1292034 · Sobre a existência de processos judiciais envolvendo o FIDC. O fundo está exposto as ações judiciais listadas abaixo:</a:t>
            </a:r>
          </a:p>
          <a:p>
            <a:r>
              <a:t>CNPJ 62696791000193 · Processos judiciais · Informe Trimestral · ID 1114465 · 12/2025 · versão 1 · p. 1 · Sobre a existência de processos judiciais envolvendo o FIDC. · https://fnet.bmfbovespa.com.br/fnet/publico/visualizarDocumento?id=1114465 · Sobre a existência de processos judiciais envolvendo o FIDC. O administrador do fundo não tem conhecimento de ações judiciais envolvendo o fundo no trimestre em referência.</a:t>
            </a:r>
          </a:p>
          <a:p>
            <a:r>
              <a:t>CNPJ 55563624000109 · Processos judiciais · Informe Trimestral · ID 1289610 · 06/2026 · versão 1 · p. 1 · Sobre a existência de processos judiciais envolvendo o FIDC. · https://fnet.bmfbovespa.com.br/fnet/publico/visualizarDocumento?id=1289610 · Sobre a existência de processos judiciais envolvendo o FIDC. O administrador do fundo não tem conhecimento de ações judiciais envolvendo o fundo no trimestre em referência.</a:t>
            </a:r>
          </a:p>
          <a:p>
            <a:r>
              <a:t>CNPJ 62552447000120 · Processos judiciais · Informe Trimestral · ID 1292043 · 06/2026 · versão 1 · p. 1 · Sobre a existência de processos judiciais envolvendo o FIDC. · https://fnet.bmfbovespa.com.br/fnet/publico/visualizarDocumento?id=1292043 · Sobre a existência de processos judiciais envolvendo o FIDC. O administrador do fundo não tem conhecimento de ações judiciais envolvendo o fundo no trimestre em referência.</a:t>
            </a:r>
          </a:p>
          <a:p>
            <a:r>
              <a:t>CNPJ 63953620000165 · Processos judiciais · Informe Trimestral · ID 1291068 · 06/2026 · versão 1 · p. 1 · Sobre a existência de processos judiciais envolvendo o FIDC. · https://fnet.bmfbovespa.com.br/fnet/publico/visualizarDocumento?id=1291068 · Sobre a existência de processos judiciais envolvendo o FIDC. O fundo está exposto as ações judiciais listadas abaixo:</a:t>
            </a:r>
          </a:p>
          <a:p>
            <a:r>
              <a:t>CNPJ 54871427000194 · Aquisição de precatórios · Informe Trimestral · ID 1291015 · 06/2026 · versão 1 · p. 1 · Sobre a aquisição de precatórios federais em fundos destinados ao público em geral. · https://fnet.bmfbovespa.com.br/fnet/publico/visualizarDocumento?id=1291015 · Sobre a aquisição de precatórios federais em fundos destinados ao público em geral. O fundo não se destina ao público em geral. As informações a seguir são destinadas à apresentação do relatório trimestral do gestor.</a:t>
            </a:r>
          </a:p>
          <a:p>
            <a:r>
              <a:t>CNPJ 60010416000112 · Aquisição de precatórios · Informe Trimestral · ID 1292034 · 06/2026 · versão 1 · p. 1 · Sobre a aquisição de precatórios federais em fundos destinados ao público em geral. · https://fnet.bmfbovespa.com.br/fnet/publico/visualizarDocumento?id=1292034 · Sobre a aquisição de precatórios federais em fundos destinados ao público em geral. O fundo adquiriu precatórios federais no trimestre em referência e está sujeito a eventual existência de impugnação judicial ou fatos supervenientes capazes de alterar a ordem ou o prazo de pagamento dos precatórios. As informações a seguir são destinadas à apresentação do relatório trimestral do gestor.</a:t>
            </a:r>
          </a:p>
          <a:p>
            <a:r>
              <a:t>CNPJ 62696791000193 · Aquisição de precatórios · Informe Trimestral · ID 1114465 · 12/2025 · versão 1 · p. 1 · Sobre a aquisição de precatórios federais em fundos destinados ao público em geral. · https://fnet.bmfbovespa.com.br/fnet/publico/visualizarDocumento?id=1114465 · Sobre a aquisição de precatórios federais em fundos destinados ao público em geral. O fundo não se destina ao público em geral. As informações a seguir são destinadas à apresentação do relatório trimestral do gestor. Em atendimento ao parágrafo § 4º, inciso V, artigo 27 da Resolução 175, informamos ainda que, até a data de divulgação deste demonstrativo trimestral, o gestor não encaminhou ao administrador o relatório trimestral da gestão, conforme estabelecido pela legislação em vigor.</a:t>
            </a:r>
          </a:p>
          <a:p>
            <a:r>
              <a:t>CNPJ 55563624000109 · Aquisição de precatórios · Informe Trimestral · ID 1289610 · 06/2026 · versão 1 · p. 1 · Sobre a aquisição de precatórios federais em fundos destinados ao público em geral. · https://fnet.bmfbovespa.com.br/fnet/publico/visualizarDocumento?id=1289610 · Sobre a aquisição de precatórios federais em fundos destinados ao público em geral. O fundo não se destina ao público em geral. As informações a seguir são destinadas à apresentação do relatório trimestral do gestor.</a:t>
            </a:r>
          </a:p>
          <a:p>
            <a:r>
              <a:t>CNPJ 62552447000120 · Aquisição de precatórios · Informe Trimestral · ID 1292043 · 06/2026 · versão 1 · p. 1 · Sobre a aquisição de precatórios federais em fundos destinados ao público em geral. · https://fnet.bmfbovespa.com.br/fnet/publico/visualizarDocumento?id=1292043 · Sobre a aquisição de precatórios federais em fundos destinados ao público em geral. O fundo não se destina ao público em geral. As informações a seguir são destinadas à apresentação do relatório trimestral do gestor.</a:t>
            </a:r>
          </a:p>
          <a:p>
            <a:r>
              <a:t>CNPJ 63953620000165 · Aquisição de precatórios · Informe Trimestral · ID 1291068 · 06/2026 · versão 1 · p. 1 · Sobre a aquisição de precatórios federais em fundos destinados ao público em geral. · https://fnet.bmfbovespa.com.br/fnet/publico/visualizarDocumento?id=1291068 · Sobre a aquisição de precatórios federais em fundos destinados ao público em geral. O fundo adquiriu precatórios federais no trimestre em referência e está sujeito a eventual existência de impugnação judicial ou fatos supervenientes capazes de alterar a ordem ou o prazo de pagamento dos precatórios. As informações a seguir são destinadas à apresentação do relatório trimestral do gestor.</a:t>
            </a:r>
          </a:p>
          <a:p>
            <a:r>
              <a:t>CNPJ 63953620000165 · Aquisição de precatórios · Anexo ao Regulamento · ID 1222863 · 02/06/2026 · versão AnexoConsignadoPrivado02/06/2026 · p. 6 · 4.14 · https://fnet.bmfbovespa.com.br/fnet/publico/visualizarDocumento?id=1222863 · 4.14 Nos termos do Art. 45, §7º, inciso II, do Anexo Normativo II da Resolução CVM 175, a Classe poderá ter até 100% (cem por cento) de seu Patrimônio Líquido alocado em Direitos Creditórios, derivativos, observado o disposto neste Anexo I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4.15 Sem prejuízo de limites</a:t>
            </a:r>
          </a:p>
          <a:p>
            <a:r>
              <a:t>CNPJ 63953620000165 · Aquisição de precatórios · Anexo ao Regulamento · ID 1222863 · 02/06/2026 · versão AnexoConsignadoPrivado02/06/2026 · p. 7 · 4.15(i)–(v) · https://fnet.bmfbovespa.com.br/fnet/publico/visualizarDocumento?id=1222863 · (i)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CNPJ 54871427000194 · Alterações da política de investimento · Informe Trimestral · ID 1291015 · 06/2026 · versão 1 · p. 1 · Impactos de eventual alteração na política de investimento sobre a rentabilidade do Fundo. · https://fnet.bmfbovespa.com.br/fnet/publico/visualizarDocumento?id=1291015 · Impactos de eventual alteração na política de investimento sobre a rentabilidade do Fundo. Não se aplica, pois não ocorreram alterações na política de investimento do fundo no trimestre em referência.</a:t>
            </a:r>
          </a:p>
          <a:p>
            <a:r>
              <a:t>CNPJ 60010416000112 · Alterações da política de investimento · Informe Trimestral · ID 1292034 · 06/2026 · versão 1 · p. 1 · Impactos de eventual alteração na política de investimento sobre a rentabilidade do Fundo. · https://fnet.bmfbovespa.com.br/fnet/publico/visualizarDocumento?id=1292034 · Impactos de eventual alteração na política de investimento sobre a rentabilidade do Fundo. Não foram observados impactos significativos na rentabilidade do fundo, em função das alterações ocorridas em seu regulamento no trimestre em referência.</a:t>
            </a:r>
          </a:p>
          <a:p>
            <a:r>
              <a:t>CNPJ 62552447000120 · Alterações da política de investimento · Informe Trimestral · ID 1292043 · 06/2026 · versão 1 · p. 1 · Impactos de eventual alteração na política de investimento sobre a rentabilidade do Fundo. · https://fnet.bmfbovespa.com.br/fnet/publico/visualizarDocumento?id=1292043 · Impactos de eventual alteração na política de investimento sobre a rentabilidade do Fundo. Não se aplica, pois não ocorreram alterações na política de investimento do fundo no trimestre em referência.</a:t>
            </a:r>
          </a:p>
          <a:p>
            <a:r>
              <a:t>CNPJ 63953620000165 · Alterações da política de investimento · Informe Trimestral · ID 1291068 · 06/2026 · versão 1 · p. 1 · Impactos de eventual alteração na política de investimento sobre a rentabilidade do Fundo. · https://fnet.bmfbovespa.com.br/fnet/publico/visualizarDocumento?id=1291068 · Impactos de eventual alteração na política de investimento sobre a rentabilidade do Fundo. Não foram observados impactos significativos na rentabilidade do fundo, em função das alterações ocorridas em seu regulamento no trimestre em referência.</a:t>
            </a:r>
          </a:p>
          <a:p>
            <a:r>
              <a:t>CNPJ 54871427000194 · Critérios de concessão dos originadores · Informe Trimestral · ID 1291015 · 06/2026 · versão 1 · p. 2 · Critérios para a concessão de crédito adotados pelos originadores, que representem 10% ou mais da carteira de direitos creditórios no trimestre. · https://fnet.bmfbovespa.com.br/fnet/publico/visualizarDocumento?id=1291015 · Critérios para a concessão de crédito adotados pelos originadores, que representem 10% ou mais da carteira de direitos creditórios no trimestre. Os critérios para a concessão de crédito adotados pelos originadores do fundo não foram alterados no último trimestre, conforme descrito em seu regulamento.</a:t>
            </a:r>
          </a:p>
          <a:p>
            <a:r>
              <a:t>CNPJ 60010416000112 · Critérios de concessão dos originadores · Informe Trimestral · ID 1292034 · 06/2026 · versão 1 · p. 2 · Critérios para a concessão de crédito adotados pelos originadores, que representem 10% ou mais da carteira de direitos creditórios no trimestre. · https://fnet.bmfbovespa.com.br/fnet/publico/visualizarDocumento?id=1292034 · Critérios para a concessão de crédito adotados pelos originadores, que representem 10% ou mais da carteira de direitos creditórios no trimestre. Os critérios para a concessão de crédito adotados pelos originadores do fundo foram alterados no último trimestre, conforme descrito em seu regulamento.</a:t>
            </a:r>
          </a:p>
          <a:p>
            <a:r>
              <a:t>CNPJ 55563624000109 · Critérios de concessão dos originadores · Informe Trimestral · ID 1289610 · 06/2026 · versão 1 · p. 2–3 · Critériosparaaconcessãodecréditoadotadospelosoriginadores,casotaiscritériosnãotenhamsido descritos no regulamento ou em outros demonstrativos trimestrais; Resposta:Nãoocorreramalteraçõesrelevantesnoscritériosparaaconcessãodecrédito. · https://fnet.bmfbovespa.com.br/fnet/publico/visualizarDocumento?id=1289610 · Critériosparaaconcessãodecréditoadotadospelosoriginadores,casotaiscritériosnãotenhamsido descritos no regulamento ou em outros demonstrativos trimestrais; Resposta:Nãoocorreramalteraçõesrelevantesnoscritériosparaaconcessãodecrédito. Eventuaisalteraçõesnoscritériosparaaconcessãodecréditoadotadosportaisoriginadores,casooscritériosadotadosjátenh amsidodescritosnoregulamentoouemoutrosdemonstrativostrimestrais;Resposta:Nãoocorreramalteraçõesrelevant esnoscritériosparaaconcessãodecrédito. Eventuaisalteraçõesnasgarantiasexistentesparaoconjuntodedireitoscreditórios; Resposta:Nãoocorreramalteraçõesrelevantesnas garantiasexistentesparao conjuntodeativos. Formacomoseoperouacessãodosdireitoscreditórios,incluindo: a)descriçãodecontratosrelevantesfirmadoscomessepropósito,sehouver;eb)indicaçãodocaráter definitivo, ou não, da cessão de direitos creditórios; Resposta:Ascessõesdedireitoscreditóriosocorreramtodasdeformadefinitiva,deacordocomodisposto no regulamento e/ou nos respectivos contratos. Nomedofundo:PLGNMARKETFCFIDC CNPJ: 55563624000109 Impactodoseventosdepré- pagamentonovalordopatrimôniolíquidoenarentabilidadedacarteira;Resposta:Existemeventosdepré- pagamentoemfundospulverizadosnocursonormaldosnegócios que não geram, por si só, impacto significativo no patrimônio líquido e na rentabilidade da carteira.</a:t>
            </a:r>
          </a:p>
          <a:p>
            <a:r>
              <a:t>CNPJ 63953620000165 · Critérios de concessão dos originadores · Informe Trimestral · ID 1291068 · 06/2026 · versão 1 · p. 2 · Critérios para a concessão de crédito adotados pelos originadores, que representem 10% ou mais da carteira de direitos creditórios no trimestre. · https://fnet.bmfbovespa.com.br/fnet/publico/visualizarDocumento?id=1291068 · Critérios para a concessão de crédito adotados pelos originadores, que representem 10% ou mais da carteira de direitos creditórios no trimestre. Os critérios para a concessão de crédito adotados pelos originadores do fundo foram alterados no último trimestre, conforme descrito em seu regulamento.</a:t>
            </a:r>
          </a:p>
          <a:p>
            <a:r>
              <a:t>CNPJ 54871427000194 · Alterações das garantias · Informe Trimestral · ID 1291015 · 06/2026 · versão 1 · p. 2 · Sobre as garantias existentes. · https://fnet.bmfbovespa.com.br/fnet/publico/visualizarDocumento?id=1291015 · Sobre as garantias existentes. Não ocorreram alterações nas garantias existentes para o conjunto de direitos creditórios adquiridos pelo fundo.</a:t>
            </a:r>
          </a:p>
          <a:p>
            <a:r>
              <a:t>CNPJ 60010416000112 · Alterações das garantias · Informe Trimestral · ID 1292034 · 06/2026 · versão 1 · p. 2 · Sobre as garantias existentes. · https://fnet.bmfbovespa.com.br/fnet/publico/visualizarDocumento?id=1292034 · Sobre as garantias existentes. Ocorreram alterações nas garantias existentes para o conjunto de direitos creditórios adquiridos pelo fundo.</a:t>
            </a:r>
          </a:p>
          <a:p>
            <a:r>
              <a:t>CNPJ 62552447000120 · Alterações das garantias · Informe Trimestral · ID 1292043 · 06/2026 · versão 1 · p. 2 · Sobre as garantias existentes. · https://fnet.bmfbovespa.com.br/fnet/publico/visualizarDocumento?id=1292043 · Sobre as garantias existentes. Não ocorreram alterações nas garantias existentes para o conjunto de direitos creditórios adquiridos pelo fundo.</a:t>
            </a:r>
          </a:p>
          <a:p>
            <a:r>
              <a:t>CNPJ 63953620000165 · Alterações das garantias · Informe Trimestral · ID 1291068 · 06/2026 · versão 1 · p. 2 · Sobre as garantias existentes. · https://fnet.bmfbovespa.com.br/fnet/publico/visualizarDocumento?id=1291068 · Sobre as garantias existentes. Ocorreram alterações nas garantias existentes para o conjunto de direitos creditórios adquiridos pelo fundo.</a:t>
            </a:r>
          </a:p>
          <a:p>
            <a:r>
              <a:t>CNPJ 54871427000194 · Cessões no trimestre · Informe Trimestral · ID 1291015 · 06/2026 · versão 1 · p. 2 · Sobre a cessão dos direitos creditórios no período. · https://fnet.bmfbovespa.com.br/fnet/publico/visualizarDocumento?id=1291015 · Sobre a cessão dos direitos creditórios no período. Não se aplica, visto que não foram emitidas novas cessões de direitos creditórios no período.</a:t>
            </a:r>
          </a:p>
          <a:p>
            <a:r>
              <a:t>CNPJ 60010416000112 · Cessões no trimestre · Informe Trimestral · ID 1292034 · 06/2026 · versão 1 · p. 2 · Sobre a cessão dos direitos creditórios no período. · https://fnet.bmfbovespa.com.br/fnet/publico/visualizarDocumento?id=1292034 · Sobre a cessão dos direitos creditórios no período. Ocorreram novas cessões de direitos creditórios no período em referência e os novos contratos foram firmados com o caráter definitivo para o fundo.</a:t>
            </a:r>
          </a:p>
          <a:p>
            <a:r>
              <a:t>CNPJ 62552447000120 · Cessões no trimestre · Informe Trimestral · ID 1292043 · 06/2026 · versão 1 · p. 2 · Sobre a cessão dos direitos creditórios no período. · https://fnet.bmfbovespa.com.br/fnet/publico/visualizarDocumento?id=1292043 · Sobre a cessão dos direitos creditórios no período. Ocorreram novas cessões de direitos creditórios no período em referência e os novos contratos foram firmados com o caráter definitivo para o fundo.</a:t>
            </a:r>
          </a:p>
          <a:p>
            <a:r>
              <a:t>CNPJ 63953620000165 · Cessões no trimestre · Informe Trimestral · ID 1291068 · 06/2026 · versão 1 · p. 2 · Sobre a cessão dos direitos creditórios no período. · https://fnet.bmfbovespa.com.br/fnet/publico/visualizarDocumento?id=1291068 · Sobre a cessão dos direitos creditórios no período. Ocorreram novas cessões de direitos creditórios no período em referência e os novos contratos foram firmados com o caráter definitivo para o fundo.</a:t>
            </a:r>
          </a:p>
          <a:p>
            <a:r>
              <a:t>CNPJ 54871427000194 · Eventos de pré-pagamento · Informe Trimestral · ID 1291015 · 06/2026 · versão 1 · p. 2 · Sobre os impactos dos eventos de pré-pagamento. · https://fnet.bmfbovespa.com.br/fnet/publico/visualizarDocumento?id=1291015 · Sobre os impactos dos eventos de pré-pagamento. Não se aplica, visto que não ocorreram eventos de pré-pagamento no último trimestre.</a:t>
            </a:r>
          </a:p>
          <a:p>
            <a:r>
              <a:t>CNPJ 60010416000112 · Eventos de pré-pagamento · Informe Trimestral · ID 1292034 · 06/2026 · versão 1 · p. 2 · Sobre os impactos dos eventos de pré-pagamento. · https://fnet.bmfbovespa.com.br/fnet/publico/visualizarDocumento?id=1292034 · Sobre os impactos dos eventos de pré-pagamento. O fundo teve eventos de pré-pagamento no último trimestre, mas não foram observados impactos relevantes no patrimônio líquido e na carteira do fundo.</a:t>
            </a:r>
          </a:p>
          <a:p>
            <a:r>
              <a:t>CNPJ 62552447000120 · Eventos de pré-pagamento · Informe Trimestral · ID 1292043 · 06/2026 · versão 1 · p. 2 · Sobre os impactos dos eventos de pré-pagamento. · https://fnet.bmfbovespa.com.br/fnet/publico/visualizarDocumento?id=1292043 · Sobre os impactos dos eventos de pré-pagamento. O fundo teve eventos de pré-pagamento no último trimestre, mas não foram observados impactos relevantes no patrimônio líquido e na carteira do fundo.</a:t>
            </a:r>
          </a:p>
          <a:p>
            <a:r>
              <a:t>CNPJ 63953620000165 · Eventos de pré-pagamento · Informe Trimestral · ID 1291068 · 06/2026 · versão 1 · p. 2 · Sobre os impactos dos eventos de pré-pagamento. · https://fnet.bmfbovespa.com.br/fnet/publico/visualizarDocumento?id=1291068 · Sobre os impactos dos eventos de pré-pagamento. O fundo teve eventos de pré-pagamento no último trimestre, mas não foram observados impactos relevantes no patrimônio líquido e na carteira do fundo.</a:t>
            </a:r>
          </a:p>
          <a:p>
            <a:r>
              <a:t>CNPJ 54871427000194 · Alienação de direitos creditórios · Informe Trimestral · ID 1291015 · 06/2026 · versão 1 · p. 2 · Sobre as condições de alienação dos direitos creditórios. · https://fnet.bmfbovespa.com.br/fnet/publico/visualizarDocumento?id=1291015 · Sobre as condições de alienação dos direitos creditórios. Não se aplica, visto que não ocorreram eventos de alienação neste trimestre.</a:t>
            </a:r>
          </a:p>
          <a:p>
            <a:r>
              <a:t>CNPJ 60010416000112 · Alienação de direitos creditórios · Informe Trimestral · ID 1292034 · 06/2026 · versão 1 · p. 2 · Sobre as condições de alienação dos direitos creditórios. · https://fnet.bmfbovespa.com.br/fnet/publico/visualizarDocumento?id=1292034 · Sobre as condições de alienação dos direitos creditórios. No trimestre base o fundo teve eventos de alienação de uma parcela dos direitos creditórios de sua carteira. Como principal motivo para a realização desta operação temos: A realocação de investimentos da carteira.</a:t>
            </a:r>
          </a:p>
          <a:p>
            <a:r>
              <a:t>CNPJ 55563624000109 · Alienação de direitos creditórios · Informe Trimestral · ID 1289610 · 06/2026 · versão 1 · p. 3 · Condiçõesdealienação,aqualquertítulo,dedireitoscreditórios,incluindo: · https://fnet.bmfbovespa.com.br/fnet/publico/visualizarDocumento?id=1289610 · Condiçõesdealienação,aqualquertítulo,dedireitoscreditórios,incluindo: Momentodaalienação(antesoudepoisdovencimento); Resposta: Não ocorreram alienação de ativos da carteira do Fundo, exceto no curso normal dosnegócios. Motivaçãodaalienação; Resposta: Não ocorreram alienação de ativos da carteira do Fundo, exceto no curso normal dosnegócios. Impactonovalordopatrimôniolíquidoenarentabilidadedacarteiradeativosdeumapossível descontinuidade, a qualquer título, da originação ou cessão de direitos creditórios; Resposta:Nãohá. Informaçõessobrefatosocorridosqueafetaramaregularidadedosfluxosfinanceirosoriundosdos direitoscreditórios,incluindo,masnãoselimitando,aquaisquereventosqueacarretemnaliquidação ou amortização antecipada de direitos creditórios. Resposta: Não ocorreram eventos relevantes que acarretaram a regularidade dos fluxos financeirosoriundos dos direitos creditórios.</a:t>
            </a:r>
          </a:p>
          <a:p>
            <a:r>
              <a:t>CNPJ 62552447000120 · Alienação de direitos creditórios · Informe Trimestral · ID 1292043 · 06/2026 · versão 1 · p. 2 · Sobre as condições de alienação dos direitos creditórios. · https://fnet.bmfbovespa.com.br/fnet/publico/visualizarDocumento?id=1292043 · Sobre as condições de alienação dos direitos creditórios. Não se aplica, visto que não ocorreram eventos de alienação neste trimestre.</a:t>
            </a:r>
          </a:p>
          <a:p>
            <a:r>
              <a:t>CNPJ 63953620000165 · Alienação de direitos creditórios · Informe Trimestral · ID 1291068 · 06/2026 · versão 1 · p. 2 · Sobre as condições de alienação dos direitos creditórios. · https://fnet.bmfbovespa.com.br/fnet/publico/visualizarDocumento?id=1291068 · Sobre as condições de alienação dos direitos creditórios. No trimestre base o fundo teve eventos de alienação de uma parcela dos direitos creditórios de sua carteira. Como principal motivo para a realização desta operação temos: A realocação de investimentos da carteira.</a:t>
            </a:r>
          </a:p>
          <a:p>
            <a:r>
              <a:t>CNPJ 54871427000194 · Descontinuidade de originação ou cessão · Informe Trimestral · ID 1291015 · 06/2026 · versão 1 · p. 2 · Sobre a descontinuidade da originação ou cessão dos direitos creditórios do fundo. · https://fnet.bmfbovespa.com.br/fnet/publico/visualizarDocumento?id=1291015 · Sobre a descontinuidade da originação ou cessão dos direitos creditórios do fundo. O regulamento do fundo estabelece as condições mínimas previstas para descontinuidade da originação ou cessão dos direitos creditórios investidos, sendo certo que quaisquer alterações nestes critérios serão divulgadas a mercado, por meio de fato relevante ou através dos canais oficiais de registro do fundo.</a:t>
            </a:r>
          </a:p>
          <a:p>
            <a:r>
              <a:t>CNPJ 60010416000112 · Descontinuidade de originação ou cessão · Informe Trimestral · ID 1292034 · 06/2026 · versão 1 · p. 2 · Sobre a descontinuidade da originação ou cessão dos direitos creditórios do fundo. · https://fnet.bmfbovespa.com.br/fnet/publico/visualizarDocumento?id=1292034 · Sobre a descontinuidade da originação ou cessão dos direitos creditórios do fundo. Foram observados impactos significativos na rentabilidade do fundo, em função da descontinuidade da originação de direitos creditórios no trimestre em referência.</a:t>
            </a:r>
          </a:p>
          <a:p>
            <a:r>
              <a:t>CNPJ 62552447000120 · Descontinuidade de originação ou cessão · Informe Trimestral · ID 1292043 · 06/2026 · versão 1 · p. 2 · Sobre a descontinuidade da originação ou cessão dos direitos creditórios do fundo. · https://fnet.bmfbovespa.com.br/fnet/publico/visualizarDocumento?id=1292043 · Sobre a descontinuidade da originação ou cessão dos direitos creditórios do fundo. Não se aplica, visto que não foram observados impactos significativos na rentabilidade do fundo, em função da descontinuidade da originação de direitos creditórios no trimestre em referência.</a:t>
            </a:r>
          </a:p>
          <a:p>
            <a:r>
              <a:t>CNPJ 63953620000165 · Descontinuidade de originação ou cessão · Informe Trimestral · ID 1291068 · 06/2026 · versão 1 · p. 2 · Sobre a descontinuidade da originação ou cessão dos direitos creditórios do fundo. · https://fnet.bmfbovespa.com.br/fnet/publico/visualizarDocumento?id=1291068 · Sobre a descontinuidade da originação ou cessão dos direitos creditórios do fundo. Foram observados impactos significativos na rentabilidade do fundo, em função da descontinuidade da originação de direitos creditórios no trimestre em referência.</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Declarações trimestrais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Resultado da verificação de lastro · Informe Trimestral · ID 1291015 · 06/2026 · versão 1 · p. 1 · Sobre os resultados da última verificação do lastro dos direitos creditórios do fundo. · https://fnet.bmfbovespa.com.br/fnet/publico/visualizarDocumento?id=1291015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60010416000112 · Resultado da verificação de lastro · Informe Trimestral · ID 1292034 · 06/2026 · versão 1 · p. 1 · Sobre os resultados da última verificação do lastro dos direitos creditórios do fundo. · https://fnet.bmfbovespa.com.br/fnet/publico/visualizarDocumento?id=1292034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62696791000193 · Resultado da verificação de lastro · Informe Trimestral · ID 1114465 · 12/2025 · versão 1 · p. 1 · Sobre os resultados da última verificação do lastro dos direitos creditórios do fundo. · https://fnet.bmfbovespa.com.br/fnet/publico/visualizarDocumento?id=1114465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55563624000109 · Resultado da verificação de lastro · Informe Trimestral · ID 1289610 · 06/2026 · versão 1 · p. 1 · Sobre os resultados da última verificação do lastro dos direitos creditórios do fundo. · https://fnet.bmfbovespa.com.br/fnet/publico/visualizarDocumento?id=1289610 · Sobre os resultados da última verificação do lastro dos direitos creditórios do fundo. Informamos que o Fundo dispensa a verificação de lastro dos direitos creditórios.</a:t>
            </a:r>
          </a:p>
          <a:p>
            <a:r>
              <a:t>CNPJ 62552447000120 · Resultado da verificação de lastro · Informe Trimestral · ID 1292043 · 06/2026 · versão 1 · p. 1 · Sobre os resultados da última verificação do lastro dos direitos creditórios do fundo. · https://fnet.bmfbovespa.com.br/fnet/publico/visualizarDocumento?id=1292043 · Sobre os resultados da última verificação do lastro dos direitos creditórios do fundo. Informamos que o Fundo dispensa a verificação de lastro dos direitos creditórios.</a:t>
            </a:r>
          </a:p>
          <a:p>
            <a:r>
              <a:t>CNPJ 63953620000165 · Resultado da verificação de lastro · Informe Trimestral · ID 1291068 · 06/2026 · versão 1 · p. 1 · Sobre os resultados da última verificação do lastro dos direitos creditórios do fundo. · https://fnet.bmfbovespa.com.br/fnet/publico/visualizarDocumento?id=1291068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54871427000194 · Registro dos direitos creditórios · Informe Trimestral · ID 1291015 · 06/2026 · versão 1 · p. 1 · Sobre o registro dos direitos creditórios em entidade registradora. · https://fnet.bmfbovespa.com.br/fnet/publico/visualizarDocumento?id=1291015 · Sobre o registro dos direitos creditórios em entidade registradora. Todos os créditos estão liberados para registro.</a:t>
            </a:r>
          </a:p>
          <a:p>
            <a:r>
              <a:t>CNPJ 60010416000112 · Registro dos direitos creditórios · Informe Trimestral · ID 1292034 · 06/2026 · versão 1 · p. 1 · Sobre o registro dos direitos creditórios em entidade registradora. · https://fnet.bmfbovespa.com.br/fnet/publico/visualizarDocumento?id=1292034 · Sobre o registro dos direitos creditórios em entidade registradora. Todos os créditos estão liberados para registro.</a:t>
            </a:r>
          </a:p>
          <a:p>
            <a:r>
              <a:t>CNPJ 62696791000193 · Registro dos direitos creditórios · Informe Trimestral · ID 1114465 · 12/2025 · versão 1 · p. 1 · Sobre o registro dos direitos creditórios em entidade registradora. · https://fnet.bmfbovespa.com.br/fnet/publico/visualizarDocumento?id=1114465 · Sobre o registro dos direitos creditórios em entidade registradora. Todos os créditos estão liberados para registro.</a:t>
            </a:r>
          </a:p>
          <a:p>
            <a:r>
              <a:t>CNPJ 55563624000109 · Registro dos direitos creditórios · Informe Trimestral · ID 1289610 · 06/2026 · versão 1 · p. 1 · Sobre o registro dos direitos creditórios em entidade registradora. · https://fnet.bmfbovespa.com.br/fnet/publico/visualizarDocumento?id=1289610 · Sobre o registro dos direitos creditórios em entidade registradora. Todos os créditos estão liberados para registro.</a:t>
            </a:r>
          </a:p>
          <a:p>
            <a:r>
              <a:t>CNPJ 62552447000120 · Registro dos direitos creditórios · Informe Trimestral · ID 1292043 · 06/2026 · versão 1 · p. 1 · Sobre o registro dos direitos creditórios em entidade registradora. · https://fnet.bmfbovespa.com.br/fnet/publico/visualizarDocumento?id=1292043 · Sobre o registro dos direitos creditórios em entidade registradora. Todos os créditos estão liberados para registro.</a:t>
            </a:r>
          </a:p>
          <a:p>
            <a:r>
              <a:t>CNPJ 63953620000165 · Registro dos direitos creditórios · Informe Trimestral · ID 1291068 · 06/2026 · versão 1 · p. 1 · Sobre o registro dos direitos creditórios em entidade registradora. · https://fnet.bmfbovespa.com.br/fnet/publico/visualizarDocumento?id=1291068 · Sobre o registro dos direitos creditórios em entidade registradora. Todos os créditos estão liberados para registro.</a:t>
            </a:r>
          </a:p>
          <a:p>
            <a:r>
              <a:t>CNPJ 54871427000194 · Processos judiciais · Informe Trimestral · ID 1291015 · 06/2026 · versão 1 · p. 1 · Sobre a existência de processos judiciais envolvendo o FIDC. · https://fnet.bmfbovespa.com.br/fnet/publico/visualizarDocumento?id=1291015 · Sobre a existência de processos judiciais envolvendo o FIDC. O administrador do fundo não tem conhecimento de ações judiciais envolvendo o fundo no trimestre em referência.</a:t>
            </a:r>
          </a:p>
          <a:p>
            <a:r>
              <a:t>CNPJ 60010416000112 · Processos judiciais · Informe Trimestral · ID 1292034 · 06/2026 · versão 1 · p. 1 · Sobre a existência de processos judiciais envolvendo o FIDC. · https://fnet.bmfbovespa.com.br/fnet/publico/visualizarDocumento?id=1292034 · Sobre a existência de processos judiciais envolvendo o FIDC. O fundo está exposto as ações judiciais listadas abaixo:</a:t>
            </a:r>
          </a:p>
          <a:p>
            <a:r>
              <a:t>CNPJ 62696791000193 · Processos judiciais · Informe Trimestral · ID 1114465 · 12/2025 · versão 1 · p. 1 · Sobre a existência de processos judiciais envolvendo o FIDC. · https://fnet.bmfbovespa.com.br/fnet/publico/visualizarDocumento?id=1114465 · Sobre a existência de processos judiciais envolvendo o FIDC. O administrador do fundo não tem conhecimento de ações judiciais envolvendo o fundo no trimestre em referência.</a:t>
            </a:r>
          </a:p>
          <a:p>
            <a:r>
              <a:t>CNPJ 55563624000109 · Processos judiciais · Informe Trimestral · ID 1289610 · 06/2026 · versão 1 · p. 1 · Sobre a existência de processos judiciais envolvendo o FIDC. · https://fnet.bmfbovespa.com.br/fnet/publico/visualizarDocumento?id=1289610 · Sobre a existência de processos judiciais envolvendo o FIDC. O administrador do fundo não tem conhecimento de ações judiciais envolvendo o fundo no trimestre em referência.</a:t>
            </a:r>
          </a:p>
          <a:p>
            <a:r>
              <a:t>CNPJ 62552447000120 · Processos judiciais · Informe Trimestral · ID 1292043 · 06/2026 · versão 1 · p. 1 · Sobre a existência de processos judiciais envolvendo o FIDC. · https://fnet.bmfbovespa.com.br/fnet/publico/visualizarDocumento?id=1292043 · Sobre a existência de processos judiciais envolvendo o FIDC. O administrador do fundo não tem conhecimento de ações judiciais envolvendo o fundo no trimestre em referência.</a:t>
            </a:r>
          </a:p>
          <a:p>
            <a:r>
              <a:t>CNPJ 63953620000165 · Processos judiciais · Informe Trimestral · ID 1291068 · 06/2026 · versão 1 · p. 1 · Sobre a existência de processos judiciais envolvendo o FIDC. · https://fnet.bmfbovespa.com.br/fnet/publico/visualizarDocumento?id=1291068 · Sobre a existência de processos judiciais envolvendo o FIDC. O fundo está exposto as ações judiciais listadas abaixo:</a:t>
            </a:r>
          </a:p>
          <a:p>
            <a:r>
              <a:t>CNPJ 54871427000194 · Aquisição de precatórios · Informe Trimestral · ID 1291015 · 06/2026 · versão 1 · p. 1 · Sobre a aquisição de precatórios federais em fundos destinados ao público em geral. · https://fnet.bmfbovespa.com.br/fnet/publico/visualizarDocumento?id=1291015 · Sobre a aquisição de precatórios federais em fundos destinados ao público em geral. O fundo não se destina ao público em geral. As informações a seguir são destinadas à apresentação do relatório trimestral do gestor.</a:t>
            </a:r>
          </a:p>
          <a:p>
            <a:r>
              <a:t>CNPJ 60010416000112 · Aquisição de precatórios · Informe Trimestral · ID 1292034 · 06/2026 · versão 1 · p. 1 · Sobre a aquisição de precatórios federais em fundos destinados ao público em geral. · https://fnet.bmfbovespa.com.br/fnet/publico/visualizarDocumento?id=1292034 · Sobre a aquisição de precatórios federais em fundos destinados ao público em geral. O fundo adquiriu precatórios federais no trimestre em referência e está sujeito a eventual existência de impugnação judicial ou fatos supervenientes capazes de alterar a ordem ou o prazo de pagamento dos precatórios. As informações a seguir são destinadas à apresentação do relatório trimestral do gestor.</a:t>
            </a:r>
          </a:p>
          <a:p>
            <a:r>
              <a:t>CNPJ 62696791000193 · Aquisição de precatórios · Informe Trimestral · ID 1114465 · 12/2025 · versão 1 · p. 1 · Sobre a aquisição de precatórios federais em fundos destinados ao público em geral. · https://fnet.bmfbovespa.com.br/fnet/publico/visualizarDocumento?id=1114465 · Sobre a aquisição de precatórios federais em fundos destinados ao público em geral. O fundo não se destina ao público em geral. As informações a seguir são destinadas à apresentação do relatório trimestral do gestor. Em atendimento ao parágrafo § 4º, inciso V, artigo 27 da Resolução 175, informamos ainda que, até a data de divulgação deste demonstrativo trimestral, o gestor não encaminhou ao administrador o relatório trimestral da gestão, conforme estabelecido pela legislação em vigor.</a:t>
            </a:r>
          </a:p>
          <a:p>
            <a:r>
              <a:t>CNPJ 55563624000109 · Aquisição de precatórios · Informe Trimestral · ID 1289610 · 06/2026 · versão 1 · p. 1 · Sobre a aquisição de precatórios federais em fundos destinados ao público em geral. · https://fnet.bmfbovespa.com.br/fnet/publico/visualizarDocumento?id=1289610 · Sobre a aquisição de precatórios federais em fundos destinados ao público em geral. O fundo não se destina ao público em geral. As informações a seguir são destinadas à apresentação do relatório trimestral do gestor.</a:t>
            </a:r>
          </a:p>
          <a:p>
            <a:r>
              <a:t>CNPJ 62552447000120 · Aquisição de precatórios · Informe Trimestral · ID 1292043 · 06/2026 · versão 1 · p. 1 · Sobre a aquisição de precatórios federais em fundos destinados ao público em geral. · https://fnet.bmfbovespa.com.br/fnet/publico/visualizarDocumento?id=1292043 · Sobre a aquisição de precatórios federais em fundos destinados ao público em geral. O fundo não se destina ao público em geral. As informações a seguir são destinadas à apresentação do relatório trimestral do gestor.</a:t>
            </a:r>
          </a:p>
          <a:p>
            <a:r>
              <a:t>CNPJ 63953620000165 · Aquisição de precatórios · Informe Trimestral · ID 1291068 · 06/2026 · versão 1 · p. 1 · Sobre a aquisição de precatórios federais em fundos destinados ao público em geral. · https://fnet.bmfbovespa.com.br/fnet/publico/visualizarDocumento?id=1291068 · Sobre a aquisição de precatórios federais em fundos destinados ao público em geral. O fundo adquiriu precatórios federais no trimestre em referência e está sujeito a eventual existência de impugnação judicial ou fatos supervenientes capazes de alterar a ordem ou o prazo de pagamento dos precatórios. As informações a seguir são destinadas à apresentação do relatório trimestral do gestor.</a:t>
            </a:r>
          </a:p>
          <a:p>
            <a:r>
              <a:t>CNPJ 63953620000165 · Aquisição de precatórios · Anexo ao Regulamento · ID 1222863 · 02/06/2026 · versão AnexoConsignadoPrivado02/06/2026 · p. 6 · 4.14 · https://fnet.bmfbovespa.com.br/fnet/publico/visualizarDocumento?id=1222863 · 4.14 Nos termos do Art. 45, §7º, inciso II, do Anexo Normativo II da Resolução CVM 175, a Classe poderá ter até 100% (cem por cento) de seu Patrimônio Líquido alocado em Direitos Creditórios, derivativos, observado o disposto neste Anexo I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4.15 Sem prejuízo de limites</a:t>
            </a:r>
          </a:p>
          <a:p>
            <a:r>
              <a:t>CNPJ 63953620000165 · Aquisição de precatórios · Anexo ao Regulamento · ID 1222863 · 02/06/2026 · versão AnexoConsignadoPrivado02/06/2026 · p. 7 · 4.15(i)–(v) · https://fnet.bmfbovespa.com.br/fnet/publico/visualizarDocumento?id=1222863 · (i)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CNPJ 54871427000194 · Alterações da política de investimento · Informe Trimestral · ID 1291015 · 06/2026 · versão 1 · p. 1 · Impactos de eventual alteração na política de investimento sobre a rentabilidade do Fundo. · https://fnet.bmfbovespa.com.br/fnet/publico/visualizarDocumento?id=1291015 · Impactos de eventual alteração na política de investimento sobre a rentabilidade do Fundo. Não se aplica, pois não ocorreram alterações na política de investimento do fundo no trimestre em referência.</a:t>
            </a:r>
          </a:p>
          <a:p>
            <a:r>
              <a:t>CNPJ 60010416000112 · Alterações da política de investimento · Informe Trimestral · ID 1292034 · 06/2026 · versão 1 · p. 1 · Impactos de eventual alteração na política de investimento sobre a rentabilidade do Fundo. · https://fnet.bmfbovespa.com.br/fnet/publico/visualizarDocumento?id=1292034 · Impactos de eventual alteração na política de investimento sobre a rentabilidade do Fundo. Não foram observados impactos significativos na rentabilidade do fundo, em função das alterações ocorridas em seu regulamento no trimestre em referência.</a:t>
            </a:r>
          </a:p>
          <a:p>
            <a:r>
              <a:t>CNPJ 62552447000120 · Alterações da política de investimento · Informe Trimestral · ID 1292043 · 06/2026 · versão 1 · p. 1 · Impactos de eventual alteração na política de investimento sobre a rentabilidade do Fundo. · https://fnet.bmfbovespa.com.br/fnet/publico/visualizarDocumento?id=1292043 · Impactos de eventual alteração na política de investimento sobre a rentabilidade do Fundo. Não se aplica, pois não ocorreram alterações na política de investimento do fundo no trimestre em referência.</a:t>
            </a:r>
          </a:p>
          <a:p>
            <a:r>
              <a:t>CNPJ 63953620000165 · Alterações da política de investimento · Informe Trimestral · ID 1291068 · 06/2026 · versão 1 · p. 1 · Impactos de eventual alteração na política de investimento sobre a rentabilidade do Fundo. · https://fnet.bmfbovespa.com.br/fnet/publico/visualizarDocumento?id=1291068 · Impactos de eventual alteração na política de investimento sobre a rentabilidade do Fundo. Não foram observados impactos significativos na rentabilidade do fundo, em função das alterações ocorridas em seu regulamento no trimestre em referência.</a:t>
            </a:r>
          </a:p>
          <a:p>
            <a:r>
              <a:t>CNPJ 54871427000194 · Critérios de concessão dos originadores · Informe Trimestral · ID 1291015 · 06/2026 · versão 1 · p. 2 · Critérios para a concessão de crédito adotados pelos originadores, que representem 10% ou mais da carteira de direitos creditórios no trimestre. · https://fnet.bmfbovespa.com.br/fnet/publico/visualizarDocumento?id=1291015 · Critérios para a concessão de crédito adotados pelos originadores, que representem 10% ou mais da carteira de direitos creditórios no trimestre. Os critérios para a concessão de crédito adotados pelos originadores do fundo não foram alterados no último trimestre, conforme descrito em seu regulamento.</a:t>
            </a:r>
          </a:p>
          <a:p>
            <a:r>
              <a:t>CNPJ 60010416000112 · Critérios de concessão dos originadores · Informe Trimestral · ID 1292034 · 06/2026 · versão 1 · p. 2 · Critérios para a concessão de crédito adotados pelos originadores, que representem 10% ou mais da carteira de direitos creditórios no trimestre. · https://fnet.bmfbovespa.com.br/fnet/publico/visualizarDocumento?id=1292034 · Critérios para a concessão de crédito adotados pelos originadores, que representem 10% ou mais da carteira de direitos creditórios no trimestre. Os critérios para a concessão de crédito adotados pelos originadores do fundo foram alterados no último trimestre, conforme descrito em seu regulamento.</a:t>
            </a:r>
          </a:p>
          <a:p>
            <a:r>
              <a:t>CNPJ 55563624000109 · Critérios de concessão dos originadores · Informe Trimestral · ID 1289610 · 06/2026 · versão 1 · p. 2–3 · Critériosparaaconcessãodecréditoadotadospelosoriginadores,casotaiscritériosnãotenhamsido descritos no regulamento ou em outros demonstrativos trimestrais; Resposta:Nãoocorreramalteraçõesrelevantesnoscritériosparaaconcessãodecrédito. · https://fnet.bmfbovespa.com.br/fnet/publico/visualizarDocumento?id=1289610 · Critériosparaaconcessãodecréditoadotadospelosoriginadores,casotaiscritériosnãotenhamsido descritos no regulamento ou em outros demonstrativos trimestrais; Resposta:Nãoocorreramalteraçõesrelevantesnoscritériosparaaconcessãodecrédito. Eventuaisalteraçõesnoscritériosparaaconcessãodecréditoadotadosportaisoriginadores,casooscritériosadotadosjátenh amsidodescritosnoregulamentoouemoutrosdemonstrativostrimestrais;Resposta:Nãoocorreramalteraçõesrelevant esnoscritériosparaaconcessãodecrédito. Eventuaisalteraçõesnasgarantiasexistentesparaoconjuntodedireitoscreditórios; Resposta:Nãoocorreramalteraçõesrelevantesnas garantiasexistentesparao conjuntodeativos. Formacomoseoperouacessãodosdireitoscreditórios,incluindo: a)descriçãodecontratosrelevantesfirmadoscomessepropósito,sehouver;eb)indicaçãodocaráter definitivo, ou não, da cessão de direitos creditórios; Resposta:Ascessõesdedireitoscreditóriosocorreramtodasdeformadefinitiva,deacordocomodisposto no regulamento e/ou nos respectivos contratos. Nomedofundo:PLGNMARKETFCFIDC CNPJ: 55563624000109 Impactodoseventosdepré- pagamentonovalordopatrimôniolíquidoenarentabilidadedacarteira;Resposta:Existemeventosdepré- pagamentoemfundospulverizadosnocursonormaldosnegócios que não geram, por si só, impacto significativo no patrimônio líquido e na rentabilidade da carteira.</a:t>
            </a:r>
          </a:p>
          <a:p>
            <a:r>
              <a:t>CNPJ 63953620000165 · Critérios de concessão dos originadores · Informe Trimestral · ID 1291068 · 06/2026 · versão 1 · p. 2 · Critérios para a concessão de crédito adotados pelos originadores, que representem 10% ou mais da carteira de direitos creditórios no trimestre. · https://fnet.bmfbovespa.com.br/fnet/publico/visualizarDocumento?id=1291068 · Critérios para a concessão de crédito adotados pelos originadores, que representem 10% ou mais da carteira de direitos creditórios no trimestre. Os critérios para a concessão de crédito adotados pelos originadores do fundo foram alterados no último trimestre, conforme descrito em seu regulamento.</a:t>
            </a:r>
          </a:p>
          <a:p>
            <a:r>
              <a:t>CNPJ 54871427000194 · Alterações das garantias · Informe Trimestral · ID 1291015 · 06/2026 · versão 1 · p. 2 · Sobre as garantias existentes. · https://fnet.bmfbovespa.com.br/fnet/publico/visualizarDocumento?id=1291015 · Sobre as garantias existentes. Não ocorreram alterações nas garantias existentes para o conjunto de direitos creditórios adquiridos pelo fundo.</a:t>
            </a:r>
          </a:p>
          <a:p>
            <a:r>
              <a:t>CNPJ 60010416000112 · Alterações das garantias · Informe Trimestral · ID 1292034 · 06/2026 · versão 1 · p. 2 · Sobre as garantias existentes. · https://fnet.bmfbovespa.com.br/fnet/publico/visualizarDocumento?id=1292034 · Sobre as garantias existentes. Ocorreram alterações nas garantias existentes para o conjunto de direitos creditórios adquiridos pelo fundo.</a:t>
            </a:r>
          </a:p>
          <a:p>
            <a:r>
              <a:t>CNPJ 62552447000120 · Alterações das garantias · Informe Trimestral · ID 1292043 · 06/2026 · versão 1 · p. 2 · Sobre as garantias existentes. · https://fnet.bmfbovespa.com.br/fnet/publico/visualizarDocumento?id=1292043 · Sobre as garantias existentes. Não ocorreram alterações nas garantias existentes para o conjunto de direitos creditórios adquiridos pelo fundo.</a:t>
            </a:r>
          </a:p>
          <a:p>
            <a:r>
              <a:t>CNPJ 63953620000165 · Alterações das garantias · Informe Trimestral · ID 1291068 · 06/2026 · versão 1 · p. 2 · Sobre as garantias existentes. · https://fnet.bmfbovespa.com.br/fnet/publico/visualizarDocumento?id=1291068 · Sobre as garantias existentes. Ocorreram alterações nas garantias existentes para o conjunto de direitos creditórios adquiridos pelo fundo.</a:t>
            </a:r>
          </a:p>
          <a:p>
            <a:r>
              <a:t>CNPJ 54871427000194 · Cessões no trimestre · Informe Trimestral · ID 1291015 · 06/2026 · versão 1 · p. 2 · Sobre a cessão dos direitos creditórios no período. · https://fnet.bmfbovespa.com.br/fnet/publico/visualizarDocumento?id=1291015 · Sobre a cessão dos direitos creditórios no período. Não se aplica, visto que não foram emitidas novas cessões de direitos creditórios no período.</a:t>
            </a:r>
          </a:p>
          <a:p>
            <a:r>
              <a:t>CNPJ 60010416000112 · Cessões no trimestre · Informe Trimestral · ID 1292034 · 06/2026 · versão 1 · p. 2 · Sobre a cessão dos direitos creditórios no período. · https://fnet.bmfbovespa.com.br/fnet/publico/visualizarDocumento?id=1292034 · Sobre a cessão dos direitos creditórios no período. Ocorreram novas cessões de direitos creditórios no período em referência e os novos contratos foram firmados com o caráter definitivo para o fundo.</a:t>
            </a:r>
          </a:p>
          <a:p>
            <a:r>
              <a:t>CNPJ 62552447000120 · Cessões no trimestre · Informe Trimestral · ID 1292043 · 06/2026 · versão 1 · p. 2 · Sobre a cessão dos direitos creditórios no período. · https://fnet.bmfbovespa.com.br/fnet/publico/visualizarDocumento?id=1292043 · Sobre a cessão dos direitos creditórios no período. Ocorreram novas cessões de direitos creditórios no período em referência e os novos contratos foram firmados com o caráter definitivo para o fundo.</a:t>
            </a:r>
          </a:p>
          <a:p>
            <a:r>
              <a:t>CNPJ 63953620000165 · Cessões no trimestre · Informe Trimestral · ID 1291068 · 06/2026 · versão 1 · p. 2 · Sobre a cessão dos direitos creditórios no período. · https://fnet.bmfbovespa.com.br/fnet/publico/visualizarDocumento?id=1291068 · Sobre a cessão dos direitos creditórios no período. Ocorreram novas cessões de direitos creditórios no período em referência e os novos contratos foram firmados com o caráter definitivo para o fundo.</a:t>
            </a:r>
          </a:p>
          <a:p>
            <a:r>
              <a:t>CNPJ 54871427000194 · Eventos de pré-pagamento · Informe Trimestral · ID 1291015 · 06/2026 · versão 1 · p. 2 · Sobre os impactos dos eventos de pré-pagamento. · https://fnet.bmfbovespa.com.br/fnet/publico/visualizarDocumento?id=1291015 · Sobre os impactos dos eventos de pré-pagamento. Não se aplica, visto que não ocorreram eventos de pré-pagamento no último trimestre.</a:t>
            </a:r>
          </a:p>
          <a:p>
            <a:r>
              <a:t>CNPJ 60010416000112 · Eventos de pré-pagamento · Informe Trimestral · ID 1292034 · 06/2026 · versão 1 · p. 2 · Sobre os impactos dos eventos de pré-pagamento. · https://fnet.bmfbovespa.com.br/fnet/publico/visualizarDocumento?id=1292034 · Sobre os impactos dos eventos de pré-pagamento. O fundo teve eventos de pré-pagamento no último trimestre, mas não foram observados impactos relevantes no patrimônio líquido e na carteira do fundo.</a:t>
            </a:r>
          </a:p>
          <a:p>
            <a:r>
              <a:t>CNPJ 62552447000120 · Eventos de pré-pagamento · Informe Trimestral · ID 1292043 · 06/2026 · versão 1 · p. 2 · Sobre os impactos dos eventos de pré-pagamento. · https://fnet.bmfbovespa.com.br/fnet/publico/visualizarDocumento?id=1292043 · Sobre os impactos dos eventos de pré-pagamento. O fundo teve eventos de pré-pagamento no último trimestre, mas não foram observados impactos relevantes no patrimônio líquido e na carteira do fundo.</a:t>
            </a:r>
          </a:p>
          <a:p>
            <a:r>
              <a:t>CNPJ 63953620000165 · Eventos de pré-pagamento · Informe Trimestral · ID 1291068 · 06/2026 · versão 1 · p. 2 · Sobre os impactos dos eventos de pré-pagamento. · https://fnet.bmfbovespa.com.br/fnet/publico/visualizarDocumento?id=1291068 · Sobre os impactos dos eventos de pré-pagamento. O fundo teve eventos de pré-pagamento no último trimestre, mas não foram observados impactos relevantes no patrimônio líquido e na carteira do fundo.</a:t>
            </a:r>
          </a:p>
          <a:p>
            <a:r>
              <a:t>CNPJ 54871427000194 · Alienação de direitos creditórios · Informe Trimestral · ID 1291015 · 06/2026 · versão 1 · p. 2 · Sobre as condições de alienação dos direitos creditórios. · https://fnet.bmfbovespa.com.br/fnet/publico/visualizarDocumento?id=1291015 · Sobre as condições de alienação dos direitos creditórios. Não se aplica, visto que não ocorreram eventos de alienação neste trimestre.</a:t>
            </a:r>
          </a:p>
          <a:p>
            <a:r>
              <a:t>CNPJ 60010416000112 · Alienação de direitos creditórios · Informe Trimestral · ID 1292034 · 06/2026 · versão 1 · p. 2 · Sobre as condições de alienação dos direitos creditórios. · https://fnet.bmfbovespa.com.br/fnet/publico/visualizarDocumento?id=1292034 · Sobre as condições de alienação dos direitos creditórios. No trimestre base o fundo teve eventos de alienação de uma parcela dos direitos creditórios de sua carteira. Como principal motivo para a realização desta operação temos: A realocação de investimentos da carteira.</a:t>
            </a:r>
          </a:p>
          <a:p>
            <a:r>
              <a:t>CNPJ 55563624000109 · Alienação de direitos creditórios · Informe Trimestral · ID 1289610 · 06/2026 · versão 1 · p. 3 · Condiçõesdealienação,aqualquertítulo,dedireitoscreditórios,incluindo: · https://fnet.bmfbovespa.com.br/fnet/publico/visualizarDocumento?id=1289610 · Condiçõesdealienação,aqualquertítulo,dedireitoscreditórios,incluindo: Momentodaalienação(antesoudepoisdovencimento); Resposta: Não ocorreram alienação de ativos da carteira do Fundo, exceto no curso normal dosnegócios. Motivaçãodaalienação; Resposta: Não ocorreram alienação de ativos da carteira do Fundo, exceto no curso normal dosnegócios. Impactonovalordopatrimôniolíquidoenarentabilidadedacarteiradeativosdeumapossível descontinuidade, a qualquer título, da originação ou cessão de direitos creditórios; Resposta:Nãohá. Informaçõessobrefatosocorridosqueafetaramaregularidadedosfluxosfinanceirosoriundosdos direitoscreditórios,incluindo,masnãoselimitando,aquaisquereventosqueacarretemnaliquidação ou amortização antecipada de direitos creditórios. Resposta: Não ocorreram eventos relevantes que acarretaram a regularidade dos fluxos financeirosoriundos dos direitos creditórios.</a:t>
            </a:r>
          </a:p>
          <a:p>
            <a:r>
              <a:t>CNPJ 62552447000120 · Alienação de direitos creditórios · Informe Trimestral · ID 1292043 · 06/2026 · versão 1 · p. 2 · Sobre as condições de alienação dos direitos creditórios. · https://fnet.bmfbovespa.com.br/fnet/publico/visualizarDocumento?id=1292043 · Sobre as condições de alienação dos direitos creditórios. Não se aplica, visto que não ocorreram eventos de alienação neste trimestre.</a:t>
            </a:r>
          </a:p>
          <a:p>
            <a:r>
              <a:t>CNPJ 63953620000165 · Alienação de direitos creditórios · Informe Trimestral · ID 1291068 · 06/2026 · versão 1 · p. 2 · Sobre as condições de alienação dos direitos creditórios. · https://fnet.bmfbovespa.com.br/fnet/publico/visualizarDocumento?id=1291068 · Sobre as condições de alienação dos direitos creditórios. No trimestre base o fundo teve eventos de alienação de uma parcela dos direitos creditórios de sua carteira. Como principal motivo para a realização desta operação temos: A realocação de investimentos da carteira.</a:t>
            </a:r>
          </a:p>
          <a:p>
            <a:r>
              <a:t>CNPJ 54871427000194 · Descontinuidade de originação ou cessão · Informe Trimestral · ID 1291015 · 06/2026 · versão 1 · p. 2 · Sobre a descontinuidade da originação ou cessão dos direitos creditórios do fundo. · https://fnet.bmfbovespa.com.br/fnet/publico/visualizarDocumento?id=1291015 · Sobre a descontinuidade da originação ou cessão dos direitos creditórios do fundo. O regulamento do fundo estabelece as condições mínimas previstas para descontinuidade da originação ou cessão dos direitos creditórios investidos, sendo certo que quaisquer alterações nestes critérios serão divulgadas a mercado, por meio de fato relevante ou através dos canais oficiais de registro do fundo.</a:t>
            </a:r>
          </a:p>
          <a:p>
            <a:r>
              <a:t>CNPJ 60010416000112 · Descontinuidade de originação ou cessão · Informe Trimestral · ID 1292034 · 06/2026 · versão 1 · p. 2 · Sobre a descontinuidade da originação ou cessão dos direitos creditórios do fundo. · https://fnet.bmfbovespa.com.br/fnet/publico/visualizarDocumento?id=1292034 · Sobre a descontinuidade da originação ou cessão dos direitos creditórios do fundo. Foram observados impactos significativos na rentabilidade do fundo, em função da descontinuidade da originação de direitos creditórios no trimestre em referência.</a:t>
            </a:r>
          </a:p>
          <a:p>
            <a:r>
              <a:t>CNPJ 62552447000120 · Descontinuidade de originação ou cessão · Informe Trimestral · ID 1292043 · 06/2026 · versão 1 · p. 2 · Sobre a descontinuidade da originação ou cessão dos direitos creditórios do fundo. · https://fnet.bmfbovespa.com.br/fnet/publico/visualizarDocumento?id=1292043 · Sobre a descontinuidade da originação ou cessão dos direitos creditórios do fundo. Não se aplica, visto que não foram observados impactos significativos na rentabilidade do fundo, em função da descontinuidade da originação de direitos creditórios no trimestre em referência.</a:t>
            </a:r>
          </a:p>
          <a:p>
            <a:r>
              <a:t>CNPJ 63953620000165 · Descontinuidade de originação ou cessão · Informe Trimestral · ID 1291068 · 06/2026 · versão 1 · p. 2 · Sobre a descontinuidade da originação ou cessão dos direitos creditórios do fundo. · https://fnet.bmfbovespa.com.br/fnet/publico/visualizarDocumento?id=1291068 · Sobre a descontinuidade da originação ou cessão dos direitos creditórios do fundo. Foram observados impactos significativos na rentabilidade do fundo, em função da descontinuidade da originação de direitos creditórios no trimestre em referência.</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Declarações trimestrais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Resultado da verificação de lastro · Informe Trimestral · ID 1291015 · 06/2026 · versão 1 · p. 1 · Sobre os resultados da última verificação do lastro dos direitos creditórios do fundo. · https://fnet.bmfbovespa.com.br/fnet/publico/visualizarDocumento?id=1291015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60010416000112 · Resultado da verificação de lastro · Informe Trimestral · ID 1292034 · 06/2026 · versão 1 · p. 1 · Sobre os resultados da última verificação do lastro dos direitos creditórios do fundo. · https://fnet.bmfbovespa.com.br/fnet/publico/visualizarDocumento?id=1292034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62696791000193 · Resultado da verificação de lastro · Informe Trimestral · ID 1114465 · 12/2025 · versão 1 · p. 1 · Sobre os resultados da última verificação do lastro dos direitos creditórios do fundo. · https://fnet.bmfbovespa.com.br/fnet/publico/visualizarDocumento?id=1114465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55563624000109 · Resultado da verificação de lastro · Informe Trimestral · ID 1289610 · 06/2026 · versão 1 · p. 1 · Sobre os resultados da última verificação do lastro dos direitos creditórios do fundo. · https://fnet.bmfbovespa.com.br/fnet/publico/visualizarDocumento?id=1289610 · Sobre os resultados da última verificação do lastro dos direitos creditórios do fundo. Informamos que o Fundo dispensa a verificação de lastro dos direitos creditórios.</a:t>
            </a:r>
          </a:p>
          <a:p>
            <a:r>
              <a:t>CNPJ 62552447000120 · Resultado da verificação de lastro · Informe Trimestral · ID 1292043 · 06/2026 · versão 1 · p. 1 · Sobre os resultados da última verificação do lastro dos direitos creditórios do fundo. · https://fnet.bmfbovespa.com.br/fnet/publico/visualizarDocumento?id=1292043 · Sobre os resultados da última verificação do lastro dos direitos creditórios do fundo. Informamos que o Fundo dispensa a verificação de lastro dos direitos creditórios.</a:t>
            </a:r>
          </a:p>
          <a:p>
            <a:r>
              <a:t>CNPJ 63953620000165 · Resultado da verificação de lastro · Informe Trimestral · ID 1291068 · 06/2026 · versão 1 · p. 1 · Sobre os resultados da última verificação do lastro dos direitos creditórios do fundo. · https://fnet.bmfbovespa.com.br/fnet/publico/visualizarDocumento?id=1291068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54871427000194 · Registro dos direitos creditórios · Informe Trimestral · ID 1291015 · 06/2026 · versão 1 · p. 1 · Sobre o registro dos direitos creditórios em entidade registradora. · https://fnet.bmfbovespa.com.br/fnet/publico/visualizarDocumento?id=1291015 · Sobre o registro dos direitos creditórios em entidade registradora. Todos os créditos estão liberados para registro.</a:t>
            </a:r>
          </a:p>
          <a:p>
            <a:r>
              <a:t>CNPJ 60010416000112 · Registro dos direitos creditórios · Informe Trimestral · ID 1292034 · 06/2026 · versão 1 · p. 1 · Sobre o registro dos direitos creditórios em entidade registradora. · https://fnet.bmfbovespa.com.br/fnet/publico/visualizarDocumento?id=1292034 · Sobre o registro dos direitos creditórios em entidade registradora. Todos os créditos estão liberados para registro.</a:t>
            </a:r>
          </a:p>
          <a:p>
            <a:r>
              <a:t>CNPJ 62696791000193 · Registro dos direitos creditórios · Informe Trimestral · ID 1114465 · 12/2025 · versão 1 · p. 1 · Sobre o registro dos direitos creditórios em entidade registradora. · https://fnet.bmfbovespa.com.br/fnet/publico/visualizarDocumento?id=1114465 · Sobre o registro dos direitos creditórios em entidade registradora. Todos os créditos estão liberados para registro.</a:t>
            </a:r>
          </a:p>
          <a:p>
            <a:r>
              <a:t>CNPJ 55563624000109 · Registro dos direitos creditórios · Informe Trimestral · ID 1289610 · 06/2026 · versão 1 · p. 1 · Sobre o registro dos direitos creditórios em entidade registradora. · https://fnet.bmfbovespa.com.br/fnet/publico/visualizarDocumento?id=1289610 · Sobre o registro dos direitos creditórios em entidade registradora. Todos os créditos estão liberados para registro.</a:t>
            </a:r>
          </a:p>
          <a:p>
            <a:r>
              <a:t>CNPJ 62552447000120 · Registro dos direitos creditórios · Informe Trimestral · ID 1292043 · 06/2026 · versão 1 · p. 1 · Sobre o registro dos direitos creditórios em entidade registradora. · https://fnet.bmfbovespa.com.br/fnet/publico/visualizarDocumento?id=1292043 · Sobre o registro dos direitos creditórios em entidade registradora. Todos os créditos estão liberados para registro.</a:t>
            </a:r>
          </a:p>
          <a:p>
            <a:r>
              <a:t>CNPJ 63953620000165 · Registro dos direitos creditórios · Informe Trimestral · ID 1291068 · 06/2026 · versão 1 · p. 1 · Sobre o registro dos direitos creditórios em entidade registradora. · https://fnet.bmfbovespa.com.br/fnet/publico/visualizarDocumento?id=1291068 · Sobre o registro dos direitos creditórios em entidade registradora. Todos os créditos estão liberados para registro.</a:t>
            </a:r>
          </a:p>
          <a:p>
            <a:r>
              <a:t>CNPJ 54871427000194 · Processos judiciais · Informe Trimestral · ID 1291015 · 06/2026 · versão 1 · p. 1 · Sobre a existência de processos judiciais envolvendo o FIDC. · https://fnet.bmfbovespa.com.br/fnet/publico/visualizarDocumento?id=1291015 · Sobre a existência de processos judiciais envolvendo o FIDC. O administrador do fundo não tem conhecimento de ações judiciais envolvendo o fundo no trimestre em referência.</a:t>
            </a:r>
          </a:p>
          <a:p>
            <a:r>
              <a:t>CNPJ 60010416000112 · Processos judiciais · Informe Trimestral · ID 1292034 · 06/2026 · versão 1 · p. 1 · Sobre a existência de processos judiciais envolvendo o FIDC. · https://fnet.bmfbovespa.com.br/fnet/publico/visualizarDocumento?id=1292034 · Sobre a existência de processos judiciais envolvendo o FIDC. O fundo está exposto as ações judiciais listadas abaixo:</a:t>
            </a:r>
          </a:p>
          <a:p>
            <a:r>
              <a:t>CNPJ 62696791000193 · Processos judiciais · Informe Trimestral · ID 1114465 · 12/2025 · versão 1 · p. 1 · Sobre a existência de processos judiciais envolvendo o FIDC. · https://fnet.bmfbovespa.com.br/fnet/publico/visualizarDocumento?id=1114465 · Sobre a existência de processos judiciais envolvendo o FIDC. O administrador do fundo não tem conhecimento de ações judiciais envolvendo o fundo no trimestre em referência.</a:t>
            </a:r>
          </a:p>
          <a:p>
            <a:r>
              <a:t>CNPJ 55563624000109 · Processos judiciais · Informe Trimestral · ID 1289610 · 06/2026 · versão 1 · p. 1 · Sobre a existência de processos judiciais envolvendo o FIDC. · https://fnet.bmfbovespa.com.br/fnet/publico/visualizarDocumento?id=1289610 · Sobre a existência de processos judiciais envolvendo o FIDC. O administrador do fundo não tem conhecimento de ações judiciais envolvendo o fundo no trimestre em referência.</a:t>
            </a:r>
          </a:p>
          <a:p>
            <a:r>
              <a:t>CNPJ 62552447000120 · Processos judiciais · Informe Trimestral · ID 1292043 · 06/2026 · versão 1 · p. 1 · Sobre a existência de processos judiciais envolvendo o FIDC. · https://fnet.bmfbovespa.com.br/fnet/publico/visualizarDocumento?id=1292043 · Sobre a existência de processos judiciais envolvendo o FIDC. O administrador do fundo não tem conhecimento de ações judiciais envolvendo o fundo no trimestre em referência.</a:t>
            </a:r>
          </a:p>
          <a:p>
            <a:r>
              <a:t>CNPJ 63953620000165 · Processos judiciais · Informe Trimestral · ID 1291068 · 06/2026 · versão 1 · p. 1 · Sobre a existência de processos judiciais envolvendo o FIDC. · https://fnet.bmfbovespa.com.br/fnet/publico/visualizarDocumento?id=1291068 · Sobre a existência de processos judiciais envolvendo o FIDC. O fundo está exposto as ações judiciais listadas abaixo:</a:t>
            </a:r>
          </a:p>
          <a:p>
            <a:r>
              <a:t>CNPJ 54871427000194 · Aquisição de precatórios · Informe Trimestral · ID 1291015 · 06/2026 · versão 1 · p. 1 · Sobre a aquisição de precatórios federais em fundos destinados ao público em geral. · https://fnet.bmfbovespa.com.br/fnet/publico/visualizarDocumento?id=1291015 · Sobre a aquisição de precatórios federais em fundos destinados ao público em geral. O fundo não se destina ao público em geral. As informações a seguir são destinadas à apresentação do relatório trimestral do gestor.</a:t>
            </a:r>
          </a:p>
          <a:p>
            <a:r>
              <a:t>CNPJ 60010416000112 · Aquisição de precatórios · Informe Trimestral · ID 1292034 · 06/2026 · versão 1 · p. 1 · Sobre a aquisição de precatórios federais em fundos destinados ao público em geral. · https://fnet.bmfbovespa.com.br/fnet/publico/visualizarDocumento?id=1292034 · Sobre a aquisição de precatórios federais em fundos destinados ao público em geral. O fundo adquiriu precatórios federais no trimestre em referência e está sujeito a eventual existência de impugnação judicial ou fatos supervenientes capazes de alterar a ordem ou o prazo de pagamento dos precatórios. As informações a seguir são destinadas à apresentação do relatório trimestral do gestor.</a:t>
            </a:r>
          </a:p>
          <a:p>
            <a:r>
              <a:t>CNPJ 62696791000193 · Aquisição de precatórios · Informe Trimestral · ID 1114465 · 12/2025 · versão 1 · p. 1 · Sobre a aquisição de precatórios federais em fundos destinados ao público em geral. · https://fnet.bmfbovespa.com.br/fnet/publico/visualizarDocumento?id=1114465 · Sobre a aquisição de precatórios federais em fundos destinados ao público em geral. O fundo não se destina ao público em geral. As informações a seguir são destinadas à apresentação do relatório trimestral do gestor. Em atendimento ao parágrafo § 4º, inciso V, artigo 27 da Resolução 175, informamos ainda que, até a data de divulgação deste demonstrativo trimestral, o gestor não encaminhou ao administrador o relatório trimestral da gestão, conforme estabelecido pela legislação em vigor.</a:t>
            </a:r>
          </a:p>
          <a:p>
            <a:r>
              <a:t>CNPJ 55563624000109 · Aquisição de precatórios · Informe Trimestral · ID 1289610 · 06/2026 · versão 1 · p. 1 · Sobre a aquisição de precatórios federais em fundos destinados ao público em geral. · https://fnet.bmfbovespa.com.br/fnet/publico/visualizarDocumento?id=1289610 · Sobre a aquisição de precatórios federais em fundos destinados ao público em geral. O fundo não se destina ao público em geral. As informações a seguir são destinadas à apresentação do relatório trimestral do gestor.</a:t>
            </a:r>
          </a:p>
          <a:p>
            <a:r>
              <a:t>CNPJ 62552447000120 · Aquisição de precatórios · Informe Trimestral · ID 1292043 · 06/2026 · versão 1 · p. 1 · Sobre a aquisição de precatórios federais em fundos destinados ao público em geral. · https://fnet.bmfbovespa.com.br/fnet/publico/visualizarDocumento?id=1292043 · Sobre a aquisição de precatórios federais em fundos destinados ao público em geral. O fundo não se destina ao público em geral. As informações a seguir são destinadas à apresentação do relatório trimestral do gestor.</a:t>
            </a:r>
          </a:p>
          <a:p>
            <a:r>
              <a:t>CNPJ 63953620000165 · Aquisição de precatórios · Informe Trimestral · ID 1291068 · 06/2026 · versão 1 · p. 1 · Sobre a aquisição de precatórios federais em fundos destinados ao público em geral. · https://fnet.bmfbovespa.com.br/fnet/publico/visualizarDocumento?id=1291068 · Sobre a aquisição de precatórios federais em fundos destinados ao público em geral. O fundo adquiriu precatórios federais no trimestre em referência e está sujeito a eventual existência de impugnação judicial ou fatos supervenientes capazes de alterar a ordem ou o prazo de pagamento dos precatórios. As informações a seguir são destinadas à apresentação do relatório trimestral do gestor.</a:t>
            </a:r>
          </a:p>
          <a:p>
            <a:r>
              <a:t>CNPJ 63953620000165 · Aquisição de precatórios · Anexo ao Regulamento · ID 1222863 · 02/06/2026 · versão AnexoConsignadoPrivado02/06/2026 · p. 6 · 4.14 · https://fnet.bmfbovespa.com.br/fnet/publico/visualizarDocumento?id=1222863 · 4.14 Nos termos do Art. 45, §7º, inciso II, do Anexo Normativo II da Resolução CVM 175, a Classe poderá ter até 100% (cem por cento) de seu Patrimônio Líquido alocado em Direitos Creditórios, derivativos, observado o disposto neste Anexo I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4.15 Sem prejuízo de limites</a:t>
            </a:r>
          </a:p>
          <a:p>
            <a:r>
              <a:t>CNPJ 63953620000165 · Aquisição de precatórios · Anexo ao Regulamento · ID 1222863 · 02/06/2026 · versão AnexoConsignadoPrivado02/06/2026 · p. 7 · 4.15(i)–(v) · https://fnet.bmfbovespa.com.br/fnet/publico/visualizarDocumento?id=1222863 · (i)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CNPJ 54871427000194 · Alterações da política de investimento · Informe Trimestral · ID 1291015 · 06/2026 · versão 1 · p. 1 · Impactos de eventual alteração na política de investimento sobre a rentabilidade do Fundo. · https://fnet.bmfbovespa.com.br/fnet/publico/visualizarDocumento?id=1291015 · Impactos de eventual alteração na política de investimento sobre a rentabilidade do Fundo. Não se aplica, pois não ocorreram alterações na política de investimento do fundo no trimestre em referência.</a:t>
            </a:r>
          </a:p>
          <a:p>
            <a:r>
              <a:t>CNPJ 60010416000112 · Alterações da política de investimento · Informe Trimestral · ID 1292034 · 06/2026 · versão 1 · p. 1 · Impactos de eventual alteração na política de investimento sobre a rentabilidade do Fundo. · https://fnet.bmfbovespa.com.br/fnet/publico/visualizarDocumento?id=1292034 · Impactos de eventual alteração na política de investimento sobre a rentabilidade do Fundo. Não foram observados impactos significativos na rentabilidade do fundo, em função das alterações ocorridas em seu regulamento no trimestre em referência.</a:t>
            </a:r>
          </a:p>
          <a:p>
            <a:r>
              <a:t>CNPJ 62552447000120 · Alterações da política de investimento · Informe Trimestral · ID 1292043 · 06/2026 · versão 1 · p. 1 · Impactos de eventual alteração na política de investimento sobre a rentabilidade do Fundo. · https://fnet.bmfbovespa.com.br/fnet/publico/visualizarDocumento?id=1292043 · Impactos de eventual alteração na política de investimento sobre a rentabilidade do Fundo. Não se aplica, pois não ocorreram alterações na política de investimento do fundo no trimestre em referência.</a:t>
            </a:r>
          </a:p>
          <a:p>
            <a:r>
              <a:t>CNPJ 63953620000165 · Alterações da política de investimento · Informe Trimestral · ID 1291068 · 06/2026 · versão 1 · p. 1 · Impactos de eventual alteração na política de investimento sobre a rentabilidade do Fundo. · https://fnet.bmfbovespa.com.br/fnet/publico/visualizarDocumento?id=1291068 · Impactos de eventual alteração na política de investimento sobre a rentabilidade do Fundo. Não foram observados impactos significativos na rentabilidade do fundo, em função das alterações ocorridas em seu regulamento no trimestre em referência.</a:t>
            </a:r>
          </a:p>
          <a:p>
            <a:r>
              <a:t>CNPJ 54871427000194 · Critérios de concessão dos originadores · Informe Trimestral · ID 1291015 · 06/2026 · versão 1 · p. 2 · Critérios para a concessão de crédito adotados pelos originadores, que representem 10% ou mais da carteira de direitos creditórios no trimestre. · https://fnet.bmfbovespa.com.br/fnet/publico/visualizarDocumento?id=1291015 · Critérios para a concessão de crédito adotados pelos originadores, que representem 10% ou mais da carteira de direitos creditórios no trimestre. Os critérios para a concessão de crédito adotados pelos originadores do fundo não foram alterados no último trimestre, conforme descrito em seu regulamento.</a:t>
            </a:r>
          </a:p>
          <a:p>
            <a:r>
              <a:t>CNPJ 60010416000112 · Critérios de concessão dos originadores · Informe Trimestral · ID 1292034 · 06/2026 · versão 1 · p. 2 · Critérios para a concessão de crédito adotados pelos originadores, que representem 10% ou mais da carteira de direitos creditórios no trimestre. · https://fnet.bmfbovespa.com.br/fnet/publico/visualizarDocumento?id=1292034 · Critérios para a concessão de crédito adotados pelos originadores, que representem 10% ou mais da carteira de direitos creditórios no trimestre. Os critérios para a concessão de crédito adotados pelos originadores do fundo foram alterados no último trimestre, conforme descrito em seu regulamento.</a:t>
            </a:r>
          </a:p>
          <a:p>
            <a:r>
              <a:t>CNPJ 55563624000109 · Critérios de concessão dos originadores · Informe Trimestral · ID 1289610 · 06/2026 · versão 1 · p. 2–3 · Critériosparaaconcessãodecréditoadotadospelosoriginadores,casotaiscritériosnãotenhamsido descritos no regulamento ou em outros demonstrativos trimestrais; Resposta:Nãoocorreramalteraçõesrelevantesnoscritériosparaaconcessãodecrédito. · https://fnet.bmfbovespa.com.br/fnet/publico/visualizarDocumento?id=1289610 · Critériosparaaconcessãodecréditoadotadospelosoriginadores,casotaiscritériosnãotenhamsido descritos no regulamento ou em outros demonstrativos trimestrais; Resposta:Nãoocorreramalteraçõesrelevantesnoscritériosparaaconcessãodecrédito. Eventuaisalteraçõesnoscritériosparaaconcessãodecréditoadotadosportaisoriginadores,casooscritériosadotadosjátenh amsidodescritosnoregulamentoouemoutrosdemonstrativostrimestrais;Resposta:Nãoocorreramalteraçõesrelevant esnoscritériosparaaconcessãodecrédito. Eventuaisalteraçõesnasgarantiasexistentesparaoconjuntodedireitoscreditórios; Resposta:Nãoocorreramalteraçõesrelevantesnas garantiasexistentesparao conjuntodeativos. Formacomoseoperouacessãodosdireitoscreditórios,incluindo: a)descriçãodecontratosrelevantesfirmadoscomessepropósito,sehouver;eb)indicaçãodocaráter definitivo, ou não, da cessão de direitos creditórios; Resposta:Ascessõesdedireitoscreditóriosocorreramtodasdeformadefinitiva,deacordocomodisposto no regulamento e/ou nos respectivos contratos. Nomedofundo:PLGNMARKETFCFIDC CNPJ: 55563624000109 Impactodoseventosdepré- pagamentonovalordopatrimôniolíquidoenarentabilidadedacarteira;Resposta:Existemeventosdepré- pagamentoemfundospulverizadosnocursonormaldosnegócios que não geram, por si só, impacto significativo no patrimônio líquido e na rentabilidade da carteira.</a:t>
            </a:r>
          </a:p>
          <a:p>
            <a:r>
              <a:t>CNPJ 63953620000165 · Critérios de concessão dos originadores · Informe Trimestral · ID 1291068 · 06/2026 · versão 1 · p. 2 · Critérios para a concessão de crédito adotados pelos originadores, que representem 10% ou mais da carteira de direitos creditórios no trimestre. · https://fnet.bmfbovespa.com.br/fnet/publico/visualizarDocumento?id=1291068 · Critérios para a concessão de crédito adotados pelos originadores, que representem 10% ou mais da carteira de direitos creditórios no trimestre. Os critérios para a concessão de crédito adotados pelos originadores do fundo foram alterados no último trimestre, conforme descrito em seu regulamento.</a:t>
            </a:r>
          </a:p>
          <a:p>
            <a:r>
              <a:t>CNPJ 54871427000194 · Alterações das garantias · Informe Trimestral · ID 1291015 · 06/2026 · versão 1 · p. 2 · Sobre as garantias existentes. · https://fnet.bmfbovespa.com.br/fnet/publico/visualizarDocumento?id=1291015 · Sobre as garantias existentes. Não ocorreram alterações nas garantias existentes para o conjunto de direitos creditórios adquiridos pelo fundo.</a:t>
            </a:r>
          </a:p>
          <a:p>
            <a:r>
              <a:t>CNPJ 60010416000112 · Alterações das garantias · Informe Trimestral · ID 1292034 · 06/2026 · versão 1 · p. 2 · Sobre as garantias existentes. · https://fnet.bmfbovespa.com.br/fnet/publico/visualizarDocumento?id=1292034 · Sobre as garantias existentes. Ocorreram alterações nas garantias existentes para o conjunto de direitos creditórios adquiridos pelo fundo.</a:t>
            </a:r>
          </a:p>
          <a:p>
            <a:r>
              <a:t>CNPJ 62552447000120 · Alterações das garantias · Informe Trimestral · ID 1292043 · 06/2026 · versão 1 · p. 2 · Sobre as garantias existentes. · https://fnet.bmfbovespa.com.br/fnet/publico/visualizarDocumento?id=1292043 · Sobre as garantias existentes. Não ocorreram alterações nas garantias existentes para o conjunto de direitos creditórios adquiridos pelo fundo.</a:t>
            </a:r>
          </a:p>
          <a:p>
            <a:r>
              <a:t>CNPJ 63953620000165 · Alterações das garantias · Informe Trimestral · ID 1291068 · 06/2026 · versão 1 · p. 2 · Sobre as garantias existentes. · https://fnet.bmfbovespa.com.br/fnet/publico/visualizarDocumento?id=1291068 · Sobre as garantias existentes. Ocorreram alterações nas garantias existentes para o conjunto de direitos creditórios adquiridos pelo fundo.</a:t>
            </a:r>
          </a:p>
          <a:p>
            <a:r>
              <a:t>CNPJ 54871427000194 · Cessões no trimestre · Informe Trimestral · ID 1291015 · 06/2026 · versão 1 · p. 2 · Sobre a cessão dos direitos creditórios no período. · https://fnet.bmfbovespa.com.br/fnet/publico/visualizarDocumento?id=1291015 · Sobre a cessão dos direitos creditórios no período. Não se aplica, visto que não foram emitidas novas cessões de direitos creditórios no período.</a:t>
            </a:r>
          </a:p>
          <a:p>
            <a:r>
              <a:t>CNPJ 60010416000112 · Cessões no trimestre · Informe Trimestral · ID 1292034 · 06/2026 · versão 1 · p. 2 · Sobre a cessão dos direitos creditórios no período. · https://fnet.bmfbovespa.com.br/fnet/publico/visualizarDocumento?id=1292034 · Sobre a cessão dos direitos creditórios no período. Ocorreram novas cessões de direitos creditórios no período em referência e os novos contratos foram firmados com o caráter definitivo para o fundo.</a:t>
            </a:r>
          </a:p>
          <a:p>
            <a:r>
              <a:t>CNPJ 62552447000120 · Cessões no trimestre · Informe Trimestral · ID 1292043 · 06/2026 · versão 1 · p. 2 · Sobre a cessão dos direitos creditórios no período. · https://fnet.bmfbovespa.com.br/fnet/publico/visualizarDocumento?id=1292043 · Sobre a cessão dos direitos creditórios no período. Ocorreram novas cessões de direitos creditórios no período em referência e os novos contratos foram firmados com o caráter definitivo para o fundo.</a:t>
            </a:r>
          </a:p>
          <a:p>
            <a:r>
              <a:t>CNPJ 63953620000165 · Cessões no trimestre · Informe Trimestral · ID 1291068 · 06/2026 · versão 1 · p. 2 · Sobre a cessão dos direitos creditórios no período. · https://fnet.bmfbovespa.com.br/fnet/publico/visualizarDocumento?id=1291068 · Sobre a cessão dos direitos creditórios no período. Ocorreram novas cessões de direitos creditórios no período em referência e os novos contratos foram firmados com o caráter definitivo para o fundo.</a:t>
            </a:r>
          </a:p>
          <a:p>
            <a:r>
              <a:t>CNPJ 54871427000194 · Eventos de pré-pagamento · Informe Trimestral · ID 1291015 · 06/2026 · versão 1 · p. 2 · Sobre os impactos dos eventos de pré-pagamento. · https://fnet.bmfbovespa.com.br/fnet/publico/visualizarDocumento?id=1291015 · Sobre os impactos dos eventos de pré-pagamento. Não se aplica, visto que não ocorreram eventos de pré-pagamento no último trimestre.</a:t>
            </a:r>
          </a:p>
          <a:p>
            <a:r>
              <a:t>CNPJ 60010416000112 · Eventos de pré-pagamento · Informe Trimestral · ID 1292034 · 06/2026 · versão 1 · p. 2 · Sobre os impactos dos eventos de pré-pagamento. · https://fnet.bmfbovespa.com.br/fnet/publico/visualizarDocumento?id=1292034 · Sobre os impactos dos eventos de pré-pagamento. O fundo teve eventos de pré-pagamento no último trimestre, mas não foram observados impactos relevantes no patrimônio líquido e na carteira do fundo.</a:t>
            </a:r>
          </a:p>
          <a:p>
            <a:r>
              <a:t>CNPJ 62552447000120 · Eventos de pré-pagamento · Informe Trimestral · ID 1292043 · 06/2026 · versão 1 · p. 2 · Sobre os impactos dos eventos de pré-pagamento. · https://fnet.bmfbovespa.com.br/fnet/publico/visualizarDocumento?id=1292043 · Sobre os impactos dos eventos de pré-pagamento. O fundo teve eventos de pré-pagamento no último trimestre, mas não foram observados impactos relevantes no patrimônio líquido e na carteira do fundo.</a:t>
            </a:r>
          </a:p>
          <a:p>
            <a:r>
              <a:t>CNPJ 63953620000165 · Eventos de pré-pagamento · Informe Trimestral · ID 1291068 · 06/2026 · versão 1 · p. 2 · Sobre os impactos dos eventos de pré-pagamento. · https://fnet.bmfbovespa.com.br/fnet/publico/visualizarDocumento?id=1291068 · Sobre os impactos dos eventos de pré-pagamento. O fundo teve eventos de pré-pagamento no último trimestre, mas não foram observados impactos relevantes no patrimônio líquido e na carteira do fundo.</a:t>
            </a:r>
          </a:p>
          <a:p>
            <a:r>
              <a:t>CNPJ 54871427000194 · Alienação de direitos creditórios · Informe Trimestral · ID 1291015 · 06/2026 · versão 1 · p. 2 · Sobre as condições de alienação dos direitos creditórios. · https://fnet.bmfbovespa.com.br/fnet/publico/visualizarDocumento?id=1291015 · Sobre as condições de alienação dos direitos creditórios. Não se aplica, visto que não ocorreram eventos de alienação neste trimestre.</a:t>
            </a:r>
          </a:p>
          <a:p>
            <a:r>
              <a:t>CNPJ 60010416000112 · Alienação de direitos creditórios · Informe Trimestral · ID 1292034 · 06/2026 · versão 1 · p. 2 · Sobre as condições de alienação dos direitos creditórios. · https://fnet.bmfbovespa.com.br/fnet/publico/visualizarDocumento?id=1292034 · Sobre as condições de alienação dos direitos creditórios. No trimestre base o fundo teve eventos de alienação de uma parcela dos direitos creditórios de sua carteira. Como principal motivo para a realização desta operação temos: A realocação de investimentos da carteira.</a:t>
            </a:r>
          </a:p>
          <a:p>
            <a:r>
              <a:t>CNPJ 55563624000109 · Alienação de direitos creditórios · Informe Trimestral · ID 1289610 · 06/2026 · versão 1 · p. 3 · Condiçõesdealienação,aqualquertítulo,dedireitoscreditórios,incluindo: · https://fnet.bmfbovespa.com.br/fnet/publico/visualizarDocumento?id=1289610 · Condiçõesdealienação,aqualquertítulo,dedireitoscreditórios,incluindo: Momentodaalienação(antesoudepoisdovencimento); Resposta: Não ocorreram alienação de ativos da carteira do Fundo, exceto no curso normal dosnegócios. Motivaçãodaalienação; Resposta: Não ocorreram alienação de ativos da carteira do Fundo, exceto no curso normal dosnegócios. Impactonovalordopatrimôniolíquidoenarentabilidadedacarteiradeativosdeumapossível descontinuidade, a qualquer título, da originação ou cessão de direitos creditórios; Resposta:Nãohá. Informaçõessobrefatosocorridosqueafetaramaregularidadedosfluxosfinanceirosoriundosdos direitoscreditórios,incluindo,masnãoselimitando,aquaisquereventosqueacarretemnaliquidação ou amortização antecipada de direitos creditórios. Resposta: Não ocorreram eventos relevantes que acarretaram a regularidade dos fluxos financeirosoriundos dos direitos creditórios.</a:t>
            </a:r>
          </a:p>
          <a:p>
            <a:r>
              <a:t>CNPJ 62552447000120 · Alienação de direitos creditórios · Informe Trimestral · ID 1292043 · 06/2026 · versão 1 · p. 2 · Sobre as condições de alienação dos direitos creditórios. · https://fnet.bmfbovespa.com.br/fnet/publico/visualizarDocumento?id=1292043 · Sobre as condições de alienação dos direitos creditórios. Não se aplica, visto que não ocorreram eventos de alienação neste trimestre.</a:t>
            </a:r>
          </a:p>
          <a:p>
            <a:r>
              <a:t>CNPJ 63953620000165 · Alienação de direitos creditórios · Informe Trimestral · ID 1291068 · 06/2026 · versão 1 · p. 2 · Sobre as condições de alienação dos direitos creditórios. · https://fnet.bmfbovespa.com.br/fnet/publico/visualizarDocumento?id=1291068 · Sobre as condições de alienação dos direitos creditórios. No trimestre base o fundo teve eventos de alienação de uma parcela dos direitos creditórios de sua carteira. Como principal motivo para a realização desta operação temos: A realocação de investimentos da carteira.</a:t>
            </a:r>
          </a:p>
          <a:p>
            <a:r>
              <a:t>CNPJ 54871427000194 · Descontinuidade de originação ou cessão · Informe Trimestral · ID 1291015 · 06/2026 · versão 1 · p. 2 · Sobre a descontinuidade da originação ou cessão dos direitos creditórios do fundo. · https://fnet.bmfbovespa.com.br/fnet/publico/visualizarDocumento?id=1291015 · Sobre a descontinuidade da originação ou cessão dos direitos creditórios do fundo. O regulamento do fundo estabelece as condições mínimas previstas para descontinuidade da originação ou cessão dos direitos creditórios investidos, sendo certo que quaisquer alterações nestes critérios serão divulgadas a mercado, por meio de fato relevante ou através dos canais oficiais de registro do fundo.</a:t>
            </a:r>
          </a:p>
          <a:p>
            <a:r>
              <a:t>CNPJ 60010416000112 · Descontinuidade de originação ou cessão · Informe Trimestral · ID 1292034 · 06/2026 · versão 1 · p. 2 · Sobre a descontinuidade da originação ou cessão dos direitos creditórios do fundo. · https://fnet.bmfbovespa.com.br/fnet/publico/visualizarDocumento?id=1292034 · Sobre a descontinuidade da originação ou cessão dos direitos creditórios do fundo. Foram observados impactos significativos na rentabilidade do fundo, em função da descontinuidade da originação de direitos creditórios no trimestre em referência.</a:t>
            </a:r>
          </a:p>
          <a:p>
            <a:r>
              <a:t>CNPJ 62552447000120 · Descontinuidade de originação ou cessão · Informe Trimestral · ID 1292043 · 06/2026 · versão 1 · p. 2 · Sobre a descontinuidade da originação ou cessão dos direitos creditórios do fundo. · https://fnet.bmfbovespa.com.br/fnet/publico/visualizarDocumento?id=1292043 · Sobre a descontinuidade da originação ou cessão dos direitos creditórios do fundo. Não se aplica, visto que não foram observados impactos significativos na rentabilidade do fundo, em função da descontinuidade da originação de direitos creditórios no trimestre em referência.</a:t>
            </a:r>
          </a:p>
          <a:p>
            <a:r>
              <a:t>CNPJ 63953620000165 · Descontinuidade de originação ou cessão · Informe Trimestral · ID 1291068 · 06/2026 · versão 1 · p. 2 · Sobre a descontinuidade da originação ou cessão dos direitos creditórios do fundo. · https://fnet.bmfbovespa.com.br/fnet/publico/visualizarDocumento?id=1291068 · Sobre a descontinuidade da originação ou cessão dos direitos creditórios do fundo. Foram observados impactos significativos na rentabilidade do fundo, em função da descontinuidade da originação de direitos creditórios no trimestre em referência.</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Declarações trimestrais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CNPJ 54871427000194 · Resultado da verificação de lastro · Informe Trimestral · ID 1291015 · 06/2026 · versão 1 · p. 1 · Sobre os resultados da última verificação do lastro dos direitos creditórios do fundo. · https://fnet.bmfbovespa.com.br/fnet/publico/visualizarDocumento?id=1291015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60010416000112 · Resultado da verificação de lastro · Informe Trimestral · ID 1292034 · 06/2026 · versão 1 · p. 1 · Sobre os resultados da última verificação do lastro dos direitos creditórios do fundo. · https://fnet.bmfbovespa.com.br/fnet/publico/visualizarDocumento?id=1292034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62696791000193 · Resultado da verificação de lastro · Informe Trimestral · ID 1114465 · 12/2025 · versão 1 · p. 1 · Sobre os resultados da última verificação do lastro dos direitos creditórios do fundo. · https://fnet.bmfbovespa.com.br/fnet/publico/visualizarDocumento?id=1114465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55563624000109 · Resultado da verificação de lastro · Informe Trimestral · ID 1289610 · 06/2026 · versão 1 · p. 1 · Sobre os resultados da última verificação do lastro dos direitos creditórios do fundo. · https://fnet.bmfbovespa.com.br/fnet/publico/visualizarDocumento?id=1289610 · Sobre os resultados da última verificação do lastro dos direitos creditórios do fundo. Informamos que o Fundo dispensa a verificação de lastro dos direitos creditórios.</a:t>
            </a:r>
          </a:p>
          <a:p>
            <a:r>
              <a:t>CNPJ 62552447000120 · Resultado da verificação de lastro · Informe Trimestral · ID 1292043 · 06/2026 · versão 1 · p. 1 · Sobre os resultados da última verificação do lastro dos direitos creditórios do fundo. · https://fnet.bmfbovespa.com.br/fnet/publico/visualizarDocumento?id=1292043 · Sobre os resultados da última verificação do lastro dos direitos creditórios do fundo. Informamos que o Fundo dispensa a verificação de lastro dos direitos creditórios.</a:t>
            </a:r>
          </a:p>
          <a:p>
            <a:r>
              <a:t>CNPJ 63953620000165 · Resultado da verificação de lastro · Informe Trimestral · ID 1291068 · 06/2026 · versão 1 · p. 1 · Sobre os resultados da última verificação do lastro dos direitos creditórios do fundo. · https://fnet.bmfbovespa.com.br/fnet/publico/visualizarDocumento?id=1291068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54871427000194 · Registro dos direitos creditórios · Informe Trimestral · ID 1291015 · 06/2026 · versão 1 · p. 1 · Sobre o registro dos direitos creditórios em entidade registradora. · https://fnet.bmfbovespa.com.br/fnet/publico/visualizarDocumento?id=1291015 · Sobre o registro dos direitos creditórios em entidade registradora. Todos os créditos estão liberados para registro.</a:t>
            </a:r>
          </a:p>
          <a:p>
            <a:r>
              <a:t>CNPJ 60010416000112 · Registro dos direitos creditórios · Informe Trimestral · ID 1292034 · 06/2026 · versão 1 · p. 1 · Sobre o registro dos direitos creditórios em entidade registradora. · https://fnet.bmfbovespa.com.br/fnet/publico/visualizarDocumento?id=1292034 · Sobre o registro dos direitos creditórios em entidade registradora. Todos os créditos estão liberados para registro.</a:t>
            </a:r>
          </a:p>
          <a:p>
            <a:r>
              <a:t>CNPJ 62696791000193 · Registro dos direitos creditórios · Informe Trimestral · ID 1114465 · 12/2025 · versão 1 · p. 1 · Sobre o registro dos direitos creditórios em entidade registradora. · https://fnet.bmfbovespa.com.br/fnet/publico/visualizarDocumento?id=1114465 · Sobre o registro dos direitos creditórios em entidade registradora. Todos os créditos estão liberados para registro.</a:t>
            </a:r>
          </a:p>
          <a:p>
            <a:r>
              <a:t>CNPJ 55563624000109 · Registro dos direitos creditórios · Informe Trimestral · ID 1289610 · 06/2026 · versão 1 · p. 1 · Sobre o registro dos direitos creditórios em entidade registradora. · https://fnet.bmfbovespa.com.br/fnet/publico/visualizarDocumento?id=1289610 · Sobre o registro dos direitos creditórios em entidade registradora. Todos os créditos estão liberados para registro.</a:t>
            </a:r>
          </a:p>
          <a:p>
            <a:r>
              <a:t>CNPJ 62552447000120 · Registro dos direitos creditórios · Informe Trimestral · ID 1292043 · 06/2026 · versão 1 · p. 1 · Sobre o registro dos direitos creditórios em entidade registradora. · https://fnet.bmfbovespa.com.br/fnet/publico/visualizarDocumento?id=1292043 · Sobre o registro dos direitos creditórios em entidade registradora. Todos os créditos estão liberados para registro.</a:t>
            </a:r>
          </a:p>
          <a:p>
            <a:r>
              <a:t>CNPJ 63953620000165 · Registro dos direitos creditórios · Informe Trimestral · ID 1291068 · 06/2026 · versão 1 · p. 1 · Sobre o registro dos direitos creditórios em entidade registradora. · https://fnet.bmfbovespa.com.br/fnet/publico/visualizarDocumento?id=1291068 · Sobre o registro dos direitos creditórios em entidade registradora. Todos os créditos estão liberados para registro.</a:t>
            </a:r>
          </a:p>
          <a:p>
            <a:r>
              <a:t>CNPJ 54871427000194 · Processos judiciais · Informe Trimestral · ID 1291015 · 06/2026 · versão 1 · p. 1 · Sobre a existência de processos judiciais envolvendo o FIDC. · https://fnet.bmfbovespa.com.br/fnet/publico/visualizarDocumento?id=1291015 · Sobre a existência de processos judiciais envolvendo o FIDC. O administrador do fundo não tem conhecimento de ações judiciais envolvendo o fundo no trimestre em referência.</a:t>
            </a:r>
          </a:p>
          <a:p>
            <a:r>
              <a:t>CNPJ 60010416000112 · Processos judiciais · Informe Trimestral · ID 1292034 · 06/2026 · versão 1 · p. 1 · Sobre a existência de processos judiciais envolvendo o FIDC. · https://fnet.bmfbovespa.com.br/fnet/publico/visualizarDocumento?id=1292034 · Sobre a existência de processos judiciais envolvendo o FIDC. O fundo está exposto as ações judiciais listadas abaixo:</a:t>
            </a:r>
          </a:p>
          <a:p>
            <a:r>
              <a:t>CNPJ 62696791000193 · Processos judiciais · Informe Trimestral · ID 1114465 · 12/2025 · versão 1 · p. 1 · Sobre a existência de processos judiciais envolvendo o FIDC. · https://fnet.bmfbovespa.com.br/fnet/publico/visualizarDocumento?id=1114465 · Sobre a existência de processos judiciais envolvendo o FIDC. O administrador do fundo não tem conhecimento de ações judiciais envolvendo o fundo no trimestre em referência.</a:t>
            </a:r>
          </a:p>
          <a:p>
            <a:r>
              <a:t>CNPJ 55563624000109 · Processos judiciais · Informe Trimestral · ID 1289610 · 06/2026 · versão 1 · p. 1 · Sobre a existência de processos judiciais envolvendo o FIDC. · https://fnet.bmfbovespa.com.br/fnet/publico/visualizarDocumento?id=1289610 · Sobre a existência de processos judiciais envolvendo o FIDC. O administrador do fundo não tem conhecimento de ações judiciais envolvendo o fundo no trimestre em referência.</a:t>
            </a:r>
          </a:p>
          <a:p>
            <a:r>
              <a:t>CNPJ 62552447000120 · Processos judiciais · Informe Trimestral · ID 1292043 · 06/2026 · versão 1 · p. 1 · Sobre a existência de processos judiciais envolvendo o FIDC. · https://fnet.bmfbovespa.com.br/fnet/publico/visualizarDocumento?id=1292043 · Sobre a existência de processos judiciais envolvendo o FIDC. O administrador do fundo não tem conhecimento de ações judiciais envolvendo o fundo no trimestre em referência.</a:t>
            </a:r>
          </a:p>
          <a:p>
            <a:r>
              <a:t>CNPJ 63953620000165 · Processos judiciais · Informe Trimestral · ID 1291068 · 06/2026 · versão 1 · p. 1 · Sobre a existência de processos judiciais envolvendo o FIDC. · https://fnet.bmfbovespa.com.br/fnet/publico/visualizarDocumento?id=1291068 · Sobre a existência de processos judiciais envolvendo o FIDC. O fundo está exposto as ações judiciais listadas abaixo:</a:t>
            </a:r>
          </a:p>
          <a:p>
            <a:r>
              <a:t>CNPJ 54871427000194 · Aquisição de precatórios · Informe Trimestral · ID 1291015 · 06/2026 · versão 1 · p. 1 · Sobre a aquisição de precatórios federais em fundos destinados ao público em geral. · https://fnet.bmfbovespa.com.br/fnet/publico/visualizarDocumento?id=1291015 · Sobre a aquisição de precatórios federais em fundos destinados ao público em geral. O fundo não se destina ao público em geral. As informações a seguir são destinadas à apresentação do relatório trimestral do gestor.</a:t>
            </a:r>
          </a:p>
          <a:p>
            <a:r>
              <a:t>CNPJ 60010416000112 · Aquisição de precatórios · Informe Trimestral · ID 1292034 · 06/2026 · versão 1 · p. 1 · Sobre a aquisição de precatórios federais em fundos destinados ao público em geral. · https://fnet.bmfbovespa.com.br/fnet/publico/visualizarDocumento?id=1292034 · Sobre a aquisição de precatórios federais em fundos destinados ao público em geral. O fundo adquiriu precatórios federais no trimestre em referência e está sujeito a eventual existência de impugnação judicial ou fatos supervenientes capazes de alterar a ordem ou o prazo de pagamento dos precatórios. As informações a seguir são destinadas à apresentação do relatório trimestral do gestor.</a:t>
            </a:r>
          </a:p>
          <a:p>
            <a:r>
              <a:t>CNPJ 62696791000193 · Aquisição de precatórios · Informe Trimestral · ID 1114465 · 12/2025 · versão 1 · p. 1 · Sobre a aquisição de precatórios federais em fundos destinados ao público em geral. · https://fnet.bmfbovespa.com.br/fnet/publico/visualizarDocumento?id=1114465 · Sobre a aquisição de precatórios federais em fundos destinados ao público em geral. O fundo não se destina ao público em geral. As informações a seguir são destinadas à apresentação do relatório trimestral do gestor. Em atendimento ao parágrafo § 4º, inciso V, artigo 27 da Resolução 175, informamos ainda que, até a data de divulgação deste demonstrativo trimestral, o gestor não encaminhou ao administrador o relatório trimestral da gestão, conforme estabelecido pela legislação em vigor.</a:t>
            </a:r>
          </a:p>
          <a:p>
            <a:r>
              <a:t>CNPJ 55563624000109 · Aquisição de precatórios · Informe Trimestral · ID 1289610 · 06/2026 · versão 1 · p. 1 · Sobre a aquisição de precatórios federais em fundos destinados ao público em geral. · https://fnet.bmfbovespa.com.br/fnet/publico/visualizarDocumento?id=1289610 · Sobre a aquisição de precatórios federais em fundos destinados ao público em geral. O fundo não se destina ao público em geral. As informações a seguir são destinadas à apresentação do relatório trimestral do gestor.</a:t>
            </a:r>
          </a:p>
          <a:p>
            <a:r>
              <a:t>CNPJ 62552447000120 · Aquisição de precatórios · Informe Trimestral · ID 1292043 · 06/2026 · versão 1 · p. 1 · Sobre a aquisição de precatórios federais em fundos destinados ao público em geral. · https://fnet.bmfbovespa.com.br/fnet/publico/visualizarDocumento?id=1292043 · Sobre a aquisição de precatórios federais em fundos destinados ao público em geral. O fundo não se destina ao público em geral. As informações a seguir são destinadas à apresentação do relatório trimestral do gestor.</a:t>
            </a:r>
          </a:p>
          <a:p>
            <a:r>
              <a:t>CNPJ 63953620000165 · Aquisição de precatórios · Informe Trimestral · ID 1291068 · 06/2026 · versão 1 · p. 1 · Sobre a aquisição de precatórios federais em fundos destinados ao público em geral. · https://fnet.bmfbovespa.com.br/fnet/publico/visualizarDocumento?id=1291068 · Sobre a aquisição de precatórios federais em fundos destinados ao público em geral. O fundo adquiriu precatórios federais no trimestre em referência e está sujeito a eventual existência de impugnação judicial ou fatos supervenientes capazes de alterar a ordem ou o prazo de pagamento dos precatórios. As informações a seguir são destinadas à apresentação do relatório trimestral do gestor.</a:t>
            </a:r>
          </a:p>
          <a:p>
            <a:r>
              <a:t>CNPJ 63953620000165 · Aquisição de precatórios · Anexo ao Regulamento · ID 1222863 · 02/06/2026 · versão AnexoConsignadoPrivado02/06/2026 · p. 6 · 4.14 · https://fnet.bmfbovespa.com.br/fnet/publico/visualizarDocumento?id=1222863 · 4.14 Nos termos do Art. 45, §7º, inciso II, do Anexo Normativo II da Resolução CVM 175, a Classe poderá ter até 100% (cem por cento) de seu Patrimônio Líquido alocado em Direitos Creditórios, derivativos, observado o disposto neste Anexo I e Ativos Financeiros devidos por um mesmo Devedor e/ou de responsabilidade ou coobrigação de Devedores de um mesmo Grupo Econômico e/ou de um mesmo Devedor, individualmente considerado, ainda que devidos e/ou de responsabilidade ou coobrigação dos Prestadores de Serviço Essenciais, outros prestadores de serviço da Classe, e/ou suas Partes Relacionadas. 4.15 Sem prejuízo de limites</a:t>
            </a:r>
          </a:p>
          <a:p>
            <a:r>
              <a:t>CNPJ 63953620000165 · Aquisição de precatórios · Anexo ao Regulamento · ID 1222863 · 02/06/2026 · versão AnexoConsignadoPrivado02/06/2026 · p. 7 · 4.15(i)–(v) · https://fnet.bmfbovespa.com.br/fnet/publico/visualizarDocumento?id=1222863 · (i) A Classe poderá: (a) direta ou indiretamente, ter até 100% (cem por cento) do Patrimônio Líquido representado por Direitos Creditórios originados ou cedidos pelo Administrador, Gestor e/ou suas partes relacionadas, tal como definidas pelas regras contábeis que tratam desse assunto; e (b) ceder Direitos Creditórios a qualquer das pessoas, fundos de investimento ou entidades referidas no item (a) acima, desde que a entidade registradora e o Custodiante dos Direitos Creditórios não sejam partes relacionadas ao originador ou Cedente.</a:t>
            </a:r>
          </a:p>
          <a:p>
            <a:r>
              <a:t>CNPJ 54871427000194 · Alterações da política de investimento · Informe Trimestral · ID 1291015 · 06/2026 · versão 1 · p. 1 · Impactos de eventual alteração na política de investimento sobre a rentabilidade do Fundo. · https://fnet.bmfbovespa.com.br/fnet/publico/visualizarDocumento?id=1291015 · Impactos de eventual alteração na política de investimento sobre a rentabilidade do Fundo. Não se aplica, pois não ocorreram alterações na política de investimento do fundo no trimestre em referência.</a:t>
            </a:r>
          </a:p>
          <a:p>
            <a:r>
              <a:t>CNPJ 60010416000112 · Alterações da política de investimento · Informe Trimestral · ID 1292034 · 06/2026 · versão 1 · p. 1 · Impactos de eventual alteração na política de investimento sobre a rentabilidade do Fundo. · https://fnet.bmfbovespa.com.br/fnet/publico/visualizarDocumento?id=1292034 · Impactos de eventual alteração na política de investimento sobre a rentabilidade do Fundo. Não foram observados impactos significativos na rentabilidade do fundo, em função das alterações ocorridas em seu regulamento no trimestre em referência.</a:t>
            </a:r>
          </a:p>
          <a:p>
            <a:r>
              <a:t>CNPJ 62552447000120 · Alterações da política de investimento · Informe Trimestral · ID 1292043 · 06/2026 · versão 1 · p. 1 · Impactos de eventual alteração na política de investimento sobre a rentabilidade do Fundo. · https://fnet.bmfbovespa.com.br/fnet/publico/visualizarDocumento?id=1292043 · Impactos de eventual alteração na política de investimento sobre a rentabilidade do Fundo. Não se aplica, pois não ocorreram alterações na política de investimento do fundo no trimestre em referência.</a:t>
            </a:r>
          </a:p>
          <a:p>
            <a:r>
              <a:t>CNPJ 63953620000165 · Alterações da política de investimento · Informe Trimestral · ID 1291068 · 06/2026 · versão 1 · p. 1 · Impactos de eventual alteração na política de investimento sobre a rentabilidade do Fundo. · https://fnet.bmfbovespa.com.br/fnet/publico/visualizarDocumento?id=1291068 · Impactos de eventual alteração na política de investimento sobre a rentabilidade do Fundo. Não foram observados impactos significativos na rentabilidade do fundo, em função das alterações ocorridas em seu regulamento no trimestre em referência.</a:t>
            </a:r>
          </a:p>
          <a:p>
            <a:r>
              <a:t>CNPJ 54871427000194 · Critérios de concessão dos originadores · Informe Trimestral · ID 1291015 · 06/2026 · versão 1 · p. 2 · Critérios para a concessão de crédito adotados pelos originadores, que representem 10% ou mais da carteira de direitos creditórios no trimestre. · https://fnet.bmfbovespa.com.br/fnet/publico/visualizarDocumento?id=1291015 · Critérios para a concessão de crédito adotados pelos originadores, que representem 10% ou mais da carteira de direitos creditórios no trimestre. Os critérios para a concessão de crédito adotados pelos originadores do fundo não foram alterados no último trimestre, conforme descrito em seu regulamento.</a:t>
            </a:r>
          </a:p>
          <a:p>
            <a:r>
              <a:t>CNPJ 60010416000112 · Critérios de concessão dos originadores · Informe Trimestral · ID 1292034 · 06/2026 · versão 1 · p. 2 · Critérios para a concessão de crédito adotados pelos originadores, que representem 10% ou mais da carteira de direitos creditórios no trimestre. · https://fnet.bmfbovespa.com.br/fnet/publico/visualizarDocumento?id=1292034 · Critérios para a concessão de crédito adotados pelos originadores, que representem 10% ou mais da carteira de direitos creditórios no trimestre. Os critérios para a concessão de crédito adotados pelos originadores do fundo foram alterados no último trimestre, conforme descrito em seu regulamento.</a:t>
            </a:r>
          </a:p>
          <a:p>
            <a:r>
              <a:t>CNPJ 55563624000109 · Critérios de concessão dos originadores · Informe Trimestral · ID 1289610 · 06/2026 · versão 1 · p. 2–3 · Critériosparaaconcessãodecréditoadotadospelosoriginadores,casotaiscritériosnãotenhamsido descritos no regulamento ou em outros demonstrativos trimestrais; Resposta:Nãoocorreramalteraçõesrelevantesnoscritériosparaaconcessãodecrédito. · https://fnet.bmfbovespa.com.br/fnet/publico/visualizarDocumento?id=1289610 · Critériosparaaconcessãodecréditoadotadospelosoriginadores,casotaiscritériosnãotenhamsido descritos no regulamento ou em outros demonstrativos trimestrais; Resposta:Nãoocorreramalteraçõesrelevantesnoscritériosparaaconcessãodecrédito. Eventuaisalteraçõesnoscritériosparaaconcessãodecréditoadotadosportaisoriginadores,casooscritériosadotadosjátenh amsidodescritosnoregulamentoouemoutrosdemonstrativostrimestrais;Resposta:Nãoocorreramalteraçõesrelevant esnoscritériosparaaconcessãodecrédito. Eventuaisalteraçõesnasgarantiasexistentesparaoconjuntodedireitoscreditórios; Resposta:Nãoocorreramalteraçõesrelevantesnas garantiasexistentesparao conjuntodeativos. Formacomoseoperouacessãodosdireitoscreditórios,incluindo: a)descriçãodecontratosrelevantesfirmadoscomessepropósito,sehouver;eb)indicaçãodocaráter definitivo, ou não, da cessão de direitos creditórios; Resposta:Ascessõesdedireitoscreditóriosocorreramtodasdeformadefinitiva,deacordocomodisposto no regulamento e/ou nos respectivos contratos. Nomedofundo:PLGNMARKETFCFIDC CNPJ: 55563624000109 Impactodoseventosdepré- pagamentonovalordopatrimôniolíquidoenarentabilidadedacarteira;Resposta:Existemeventosdepré- pagamentoemfundospulverizadosnocursonormaldosnegócios que não geram, por si só, impacto significativo no patrimônio líquido e na rentabilidade da carteira.</a:t>
            </a:r>
          </a:p>
          <a:p>
            <a:r>
              <a:t>CNPJ 63953620000165 · Critérios de concessão dos originadores · Informe Trimestral · ID 1291068 · 06/2026 · versão 1 · p. 2 · Critérios para a concessão de crédito adotados pelos originadores, que representem 10% ou mais da carteira de direitos creditórios no trimestre. · https://fnet.bmfbovespa.com.br/fnet/publico/visualizarDocumento?id=1291068 · Critérios para a concessão de crédito adotados pelos originadores, que representem 10% ou mais da carteira de direitos creditórios no trimestre. Os critérios para a concessão de crédito adotados pelos originadores do fundo foram alterados no último trimestre, conforme descrito em seu regulamento.</a:t>
            </a:r>
          </a:p>
          <a:p>
            <a:r>
              <a:t>CNPJ 54871427000194 · Alterações das garantias · Informe Trimestral · ID 1291015 · 06/2026 · versão 1 · p. 2 · Sobre as garantias existentes. · https://fnet.bmfbovespa.com.br/fnet/publico/visualizarDocumento?id=1291015 · Sobre as garantias existentes. Não ocorreram alterações nas garantias existentes para o conjunto de direitos creditórios adquiridos pelo fundo.</a:t>
            </a:r>
          </a:p>
          <a:p>
            <a:r>
              <a:t>CNPJ 60010416000112 · Alterações das garantias · Informe Trimestral · ID 1292034 · 06/2026 · versão 1 · p. 2 · Sobre as garantias existentes. · https://fnet.bmfbovespa.com.br/fnet/publico/visualizarDocumento?id=1292034 · Sobre as garantias existentes. Ocorreram alterações nas garantias existentes para o conjunto de direitos creditórios adquiridos pelo fundo.</a:t>
            </a:r>
          </a:p>
          <a:p>
            <a:r>
              <a:t>CNPJ 62552447000120 · Alterações das garantias · Informe Trimestral · ID 1292043 · 06/2026 · versão 1 · p. 2 · Sobre as garantias existentes. · https://fnet.bmfbovespa.com.br/fnet/publico/visualizarDocumento?id=1292043 · Sobre as garantias existentes. Não ocorreram alterações nas garantias existentes para o conjunto de direitos creditórios adquiridos pelo fundo.</a:t>
            </a:r>
          </a:p>
          <a:p>
            <a:r>
              <a:t>CNPJ 63953620000165 · Alterações das garantias · Informe Trimestral · ID 1291068 · 06/2026 · versão 1 · p. 2 · Sobre as garantias existentes. · https://fnet.bmfbovespa.com.br/fnet/publico/visualizarDocumento?id=1291068 · Sobre as garantias existentes. Ocorreram alterações nas garantias existentes para o conjunto de direitos creditórios adquiridos pelo fundo.</a:t>
            </a:r>
          </a:p>
          <a:p>
            <a:r>
              <a:t>CNPJ 54871427000194 · Cessões no trimestre · Informe Trimestral · ID 1291015 · 06/2026 · versão 1 · p. 2 · Sobre a cessão dos direitos creditórios no período. · https://fnet.bmfbovespa.com.br/fnet/publico/visualizarDocumento?id=1291015 · Sobre a cessão dos direitos creditórios no período. Não se aplica, visto que não foram emitidas novas cessões de direitos creditórios no período.</a:t>
            </a:r>
          </a:p>
          <a:p>
            <a:r>
              <a:t>CNPJ 60010416000112 · Cessões no trimestre · Informe Trimestral · ID 1292034 · 06/2026 · versão 1 · p. 2 · Sobre a cessão dos direitos creditórios no período. · https://fnet.bmfbovespa.com.br/fnet/publico/visualizarDocumento?id=1292034 · Sobre a cessão dos direitos creditórios no período. Ocorreram novas cessões de direitos creditórios no período em referência e os novos contratos foram firmados com o caráter definitivo para o fundo.</a:t>
            </a:r>
          </a:p>
          <a:p>
            <a:r>
              <a:t>CNPJ 62552447000120 · Cessões no trimestre · Informe Trimestral · ID 1292043 · 06/2026 · versão 1 · p. 2 · Sobre a cessão dos direitos creditórios no período. · https://fnet.bmfbovespa.com.br/fnet/publico/visualizarDocumento?id=1292043 · Sobre a cessão dos direitos creditórios no período. Ocorreram novas cessões de direitos creditórios no período em referência e os novos contratos foram firmados com o caráter definitivo para o fundo.</a:t>
            </a:r>
          </a:p>
          <a:p>
            <a:r>
              <a:t>CNPJ 63953620000165 · Cessões no trimestre · Informe Trimestral · ID 1291068 · 06/2026 · versão 1 · p. 2 · Sobre a cessão dos direitos creditórios no período. · https://fnet.bmfbovespa.com.br/fnet/publico/visualizarDocumento?id=1291068 · Sobre a cessão dos direitos creditórios no período. Ocorreram novas cessões de direitos creditórios no período em referência e os novos contratos foram firmados com o caráter definitivo para o fundo.</a:t>
            </a:r>
          </a:p>
          <a:p>
            <a:r>
              <a:t>CNPJ 54871427000194 · Eventos de pré-pagamento · Informe Trimestral · ID 1291015 · 06/2026 · versão 1 · p. 2 · Sobre os impactos dos eventos de pré-pagamento. · https://fnet.bmfbovespa.com.br/fnet/publico/visualizarDocumento?id=1291015 · Sobre os impactos dos eventos de pré-pagamento. Não se aplica, visto que não ocorreram eventos de pré-pagamento no último trimestre.</a:t>
            </a:r>
          </a:p>
          <a:p>
            <a:r>
              <a:t>CNPJ 60010416000112 · Eventos de pré-pagamento · Informe Trimestral · ID 1292034 · 06/2026 · versão 1 · p. 2 · Sobre os impactos dos eventos de pré-pagamento. · https://fnet.bmfbovespa.com.br/fnet/publico/visualizarDocumento?id=1292034 · Sobre os impactos dos eventos de pré-pagamento. O fundo teve eventos de pré-pagamento no último trimestre, mas não foram observados impactos relevantes no patrimônio líquido e na carteira do fundo.</a:t>
            </a:r>
          </a:p>
          <a:p>
            <a:r>
              <a:t>CNPJ 62552447000120 · Eventos de pré-pagamento · Informe Trimestral · ID 1292043 · 06/2026 · versão 1 · p. 2 · Sobre os impactos dos eventos de pré-pagamento. · https://fnet.bmfbovespa.com.br/fnet/publico/visualizarDocumento?id=1292043 · Sobre os impactos dos eventos de pré-pagamento. O fundo teve eventos de pré-pagamento no último trimestre, mas não foram observados impactos relevantes no patrimônio líquido e na carteira do fundo.</a:t>
            </a:r>
          </a:p>
          <a:p>
            <a:r>
              <a:t>CNPJ 63953620000165 · Eventos de pré-pagamento · Informe Trimestral · ID 1291068 · 06/2026 · versão 1 · p. 2 · Sobre os impactos dos eventos de pré-pagamento. · https://fnet.bmfbovespa.com.br/fnet/publico/visualizarDocumento?id=1291068 · Sobre os impactos dos eventos de pré-pagamento. O fundo teve eventos de pré-pagamento no último trimestre, mas não foram observados impactos relevantes no patrimônio líquido e na carteira do fundo.</a:t>
            </a:r>
          </a:p>
          <a:p>
            <a:r>
              <a:t>CNPJ 54871427000194 · Alienação de direitos creditórios · Informe Trimestral · ID 1291015 · 06/2026 · versão 1 · p. 2 · Sobre as condições de alienação dos direitos creditórios. · https://fnet.bmfbovespa.com.br/fnet/publico/visualizarDocumento?id=1291015 · Sobre as condições de alienação dos direitos creditórios. Não se aplica, visto que não ocorreram eventos de alienação neste trimestre.</a:t>
            </a:r>
          </a:p>
          <a:p>
            <a:r>
              <a:t>CNPJ 60010416000112 · Alienação de direitos creditórios · Informe Trimestral · ID 1292034 · 06/2026 · versão 1 · p. 2 · Sobre as condições de alienação dos direitos creditórios. · https://fnet.bmfbovespa.com.br/fnet/publico/visualizarDocumento?id=1292034 · Sobre as condições de alienação dos direitos creditórios. No trimestre base o fundo teve eventos de alienação de uma parcela dos direitos creditórios de sua carteira. Como principal motivo para a realização desta operação temos: A realocação de investimentos da carteira.</a:t>
            </a:r>
          </a:p>
          <a:p>
            <a:r>
              <a:t>CNPJ 55563624000109 · Alienação de direitos creditórios · Informe Trimestral · ID 1289610 · 06/2026 · versão 1 · p. 3 · Condiçõesdealienação,aqualquertítulo,dedireitoscreditórios,incluindo: · https://fnet.bmfbovespa.com.br/fnet/publico/visualizarDocumento?id=1289610 · Condiçõesdealienação,aqualquertítulo,dedireitoscreditórios,incluindo: Momentodaalienação(antesoudepoisdovencimento); Resposta: Não ocorreram alienação de ativos da carteira do Fundo, exceto no curso normal dosnegócios. Motivaçãodaalienação; Resposta: Não ocorreram alienação de ativos da carteira do Fundo, exceto no curso normal dosnegócios. Impactonovalordopatrimôniolíquidoenarentabilidadedacarteiradeativosdeumapossível descontinuidade, a qualquer título, da originação ou cessão de direitos creditórios; Resposta:Nãohá. Informaçõessobrefatosocorridosqueafetaramaregularidadedosfluxosfinanceirosoriundosdos direitoscreditórios,incluindo,masnãoselimitando,aquaisquereventosqueacarretemnaliquidação ou amortização antecipada de direitos creditórios. Resposta: Não ocorreram eventos relevantes que acarretaram a regularidade dos fluxos financeirosoriundos dos direitos creditórios.</a:t>
            </a:r>
          </a:p>
          <a:p>
            <a:r>
              <a:t>CNPJ 62552447000120 · Alienação de direitos creditórios · Informe Trimestral · ID 1292043 · 06/2026 · versão 1 · p. 2 · Sobre as condições de alienação dos direitos creditórios. · https://fnet.bmfbovespa.com.br/fnet/publico/visualizarDocumento?id=1292043 · Sobre as condições de alienação dos direitos creditórios. Não se aplica, visto que não ocorreram eventos de alienação neste trimestre.</a:t>
            </a:r>
          </a:p>
          <a:p>
            <a:r>
              <a:t>CNPJ 63953620000165 · Alienação de direitos creditórios · Informe Trimestral · ID 1291068 · 06/2026 · versão 1 · p. 2 · Sobre as condições de alienação dos direitos creditórios. · https://fnet.bmfbovespa.com.br/fnet/publico/visualizarDocumento?id=1291068 · Sobre as condições de alienação dos direitos creditórios. No trimestre base o fundo teve eventos de alienação de uma parcela dos direitos creditórios de sua carteira. Como principal motivo para a realização desta operação temos: A realocação de investimentos da carteira.</a:t>
            </a:r>
          </a:p>
          <a:p>
            <a:r>
              <a:t>CNPJ 54871427000194 · Descontinuidade de originação ou cessão · Informe Trimestral · ID 1291015 · 06/2026 · versão 1 · p. 2 · Sobre a descontinuidade da originação ou cessão dos direitos creditórios do fundo. · https://fnet.bmfbovespa.com.br/fnet/publico/visualizarDocumento?id=1291015 · Sobre a descontinuidade da originação ou cessão dos direitos creditórios do fundo. O regulamento do fundo estabelece as condições mínimas previstas para descontinuidade da originação ou cessão dos direitos creditórios investidos, sendo certo que quaisquer alterações nestes critérios serão divulgadas a mercado, por meio de fato relevante ou através dos canais oficiais de registro do fundo.</a:t>
            </a:r>
          </a:p>
          <a:p>
            <a:r>
              <a:t>CNPJ 60010416000112 · Descontinuidade de originação ou cessão · Informe Trimestral · ID 1292034 · 06/2026 · versão 1 · p. 2 · Sobre a descontinuidade da originação ou cessão dos direitos creditórios do fundo. · https://fnet.bmfbovespa.com.br/fnet/publico/visualizarDocumento?id=1292034 · Sobre a descontinuidade da originação ou cessão dos direitos creditórios do fundo. Foram observados impactos significativos na rentabilidade do fundo, em função da descontinuidade da originação de direitos creditórios no trimestre em referência.</a:t>
            </a:r>
          </a:p>
          <a:p>
            <a:r>
              <a:t>CNPJ 62552447000120 · Descontinuidade de originação ou cessão · Informe Trimestral · ID 1292043 · 06/2026 · versão 1 · p. 2 · Sobre a descontinuidade da originação ou cessão dos direitos creditórios do fundo. · https://fnet.bmfbovespa.com.br/fnet/publico/visualizarDocumento?id=1292043 · Sobre a descontinuidade da originação ou cessão dos direitos creditórios do fundo. Não se aplica, visto que não foram observados impactos significativos na rentabilidade do fundo, em função da descontinuidade da originação de direitos creditórios no trimestre em referência.</a:t>
            </a:r>
          </a:p>
          <a:p>
            <a:r>
              <a:t>CNPJ 63953620000165 · Descontinuidade de originação ou cessão · Informe Trimestral · ID 1291068 · 06/2026 · versão 1 · p. 2 · Sobre a descontinuidade da originação ou cessão dos direitos creditórios do fundo. · https://fnet.bmfbovespa.com.br/fnet/publico/visualizarDocumento?id=1291068 · Sobre a descontinuidade da originação ou cessão dos direitos creditórios do fundo. Foram observados impactos significativos na rentabilidade do fundo, em função da descontinuidade da originação de direitos creditórios no trimestre em referência.</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PLGN Marketplace · vínculo CNPJ 41970012000126 · Recebíveis e aquisição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Vínculo: PLGN Marketplace · CNPJ 55563624000109 → CNPJ 41970012000126 · Regulamento · ID 1192614 · 30/04/2026 · versão Regulamento30/04/2026 · p. 11 · AnexoI4.1</a:t>
            </a:r>
          </a:p>
          <a:p>
            <a:r>
              <a:t>Condição do vínculo: {"cnpj": "41970012000126", "name": "Mercado Crédito II Brasil FIDC", "relationship": "named_investee", "exposure": "mezzanine", "position_status": "mandate_identified_position_not_quantified", "risk_note": "Mandato e classe exatos; comparar regras eIMEdo investido na competência doFIC, sem dupla contagem dePL."}</a:t>
            </a:r>
          </a:p>
          <a:p>
            <a:r>
              <a:t>CNPJ 41970012000126 · Natureza dos recebíveis · Regulamento · ID 1302706 · 2026-08-27 · versão 1 · p. 117 · https://fnet.bmfbovespa.com.br/fnet/publico/visualizarDocumento?id=1302706</a:t>
            </a:r>
          </a:p>
          <a:p>
            <a:r>
              <a:t>CNPJ 41970012000126 · Natureza dos recebíveis · Excerto da fonte:</a:t>
            </a:r>
          </a:p>
          <a:p>
            <a:r>
              <a:t>(xiv) Risco de originação. Os Direitos Creditórios a serem adquiridos pelo Fundo são decorrentes de  CCBs representativas de empréstimos contratados por meio da Plataforma Mercado Pago, as  quais são emitidas por Devedores em favor da Instituição Financeira MeLi. Na hipótese de não  originação, originação insuficiente ou indisponibilidade para aquisição pelo Fundo, por  qualquer motivo, inclusive em caso de redução ou descontinuidade das operações regulares dos  Endossantes, de Direitos Creditórios que satisfaçam os Critérios de Elegibilidade, as Condições  de Cessão e a Política de Investimento do Fundo descrita neste Regulamento, o Fundo poderá  ser incapaz de alocar a totalidade de seus recursos, o que poderá inviabilizar a realização das  Chamadas de Capital pelo Administrador, afetando negativamente a continuidade do Fundo, a  expectativa dos Cotistas com relação ao seu horizonte de investimento dos Cotistas, a  rentabilidade do Fundo e, consequentemente, o valor das Cotas.</a:t>
            </a:r>
          </a:p>
          <a:p>
            <a:r>
              <a:t>CNPJ 41970012000126 · Natureza dos recebíveis · Condição: Documentos atuais selecionados no inventário por categoria/escopo; a data documental isolada não comprova vigência jurídica.</a:t>
            </a:r>
          </a:p>
          <a:p>
            <a:r>
              <a:t>CNPJ 41970012000126 · Natureza dos recebíveis · Motivo: Cláusula primária localizada e citada, mas sua lista/condições extensas não admitem uma síntese literal curta confirmada. O trecho integral permanece nas fontes. A resposta da revisão anterior foi preservada no histórico, sem confirmação pelo documento atual.</a:t>
            </a:r>
          </a:p>
          <a:p>
            <a:r>
              <a:t>CNPJ 41970012000126 · Natureza dos recebíveis · Versão e prevalência: Documentos atuais selecionados no inventário por categoria/escopo; a data documental isolada não comprova vigência jurídica.</a:t>
            </a:r>
          </a:p>
          <a:p>
            <a:r>
              <a:t>CNPJ 41970012000126 · Natureza dos recebíveis · Resumo do histórico: {"count": 17, "dates": ["2025-12-19", "2026-08-27"], "document_count": 3, "sources": [{"document_id": "1302706", "title": "Regulamento", "reference_date": "2026-08-27", "version": "1", "page": "20", "url": "https://fnet.bmfbovespa.com.br/fnet/publico/visualizarDocumento?id=1302706", "sha256": "b113727bc2bc3b1a6b0d18f02bf2143068fd912df2d83cbb91ab44fcb30a3379"}, {"document_id": "1077333", "title": "AGE", "reference_date": "2025-12-19", "version": "1", "page": 143, "url": "https://fnet.bmfbovespa.com.br/fnet/publico/visualizarDocumento?id=1077333", "sha256": "a9a25c5f8a0c493373a2157221109466cbc86e5f44f623997bba18ca14892751"}, {"document_id": "1077334", "title": "Regulamento", "reference_date": "2025-12-19", "version": "1", "page": 143, "url": "https://fnet.bmfbovespa.com.br/fnet/publico/visualizarDocumento?id=1077334", "sha256": "a9a25c5f8a0c493373a2157221109466cbc86e5f44f623997bba18ca14892751"}], "reference": {"path": "history/41970012000126.json", "criterion_id": "receivables", "total_count": 17, "preview_count": 3, "full_text_deferred": true, "sha256": "229578c6b833b0633051fe7d357f4fcc74589dcf37d7750032517e03ec89ee60"}}</a:t>
            </a:r>
          </a:p>
          <a:p>
            <a:r>
              <a:t>CNPJ 41970012000126 · Originador e endossante · Regulamento · ID 1302706 · 2026-08-27 · versão 1 · p. 20 · https://fnet.bmfbovespa.com.br/fnet/publico/visualizarDocumento?id=1302706</a:t>
            </a:r>
          </a:p>
          <a:p>
            <a:r>
              <a:t>CNPJ 41970012000126 · Originador e endossante · Excerto da fonte:</a:t>
            </a:r>
          </a:p>
          <a:p>
            <a:r>
              <a:t>COVID não dará causa à ocorrência de e não poderá ser  interpretado como um Efeito Adverso Relevante.</a:t>
            </a:r>
          </a:p>
          <a:p>
            <a:r>
              <a:t> "Emissão" significa cada emissão de Cotas pelo Fundo, incluindo as  Cotas Seniores, as Cotas Subordinadas Mezanino e as  Cotas Subordinadas Júnior.</a:t>
            </a:r>
          </a:p>
          <a:p>
            <a:r>
              <a:t> "Empréstimo Pessoal" significa o crédito pessoal, sem finalidade específica,  concedido aos Devedores CCB Consumidor pela  Instituição Financeira MeLi, com intermediação do  Mercado Pago, na qualidade de correspondente bancário,  por meio da emissão das CCBs.</a:t>
            </a:r>
          </a:p>
          <a:p>
            <a:r>
              <a:t> "Endividamento" significa, com relação a qualquer Pessoa, sem  duplicação: (i) todo o endividamento decorrente da  captação de empréstimos; (ii) todas as obrigações  evidenciadas por títulos, debêntures, notas ou  instrumentos similares; (iii) qualquer parte do preço de  compra devido pela respectiva Pessoa em razão de  aquisição de bens ou serviços, exceto por contas a pagar  decorrentes do curso normal de seus negócios; (iv) todas  as obrigações de tal Pessoa na sua qualidade de  arrendatária sob arrendamento financeiro; (v) todo  endividamento de terceiros em relação ao qual tal Pessoa  fornece uma garantia, fiança, aval ou responsabilidade  solidária, ou que é garantido por um ônus ou gravame  sobre qualquer ativo de tal Pessoa, até o valor de tal  ativo, conforme registrado no balanço mais recente de tal  Pessoa; (vi) emissão de títulos de crédito por conta de tal  Pessoa; (vii) obrigações diretas ou contingentes de tal  Pessoa decorrentes de qualquer transação com  derivativos, em cada caso, exceto caso tenham sido  efetuadas para fins de hedging, ou seja, celebradas no  curso normal dos negócios para fins não especulativos; e</a:t>
            </a:r>
          </a:p>
          <a:p>
            <a:r>
              <a:t> (viii) quaisquer outras obrigações ou contingências que  sejam consideradas como endividamento no balanço da  Pessoa, nos termos das normas financeiras aplicáveis,  observado que as operações de securitização nas quais  tal Pessoa participe como originadora ou cedente ou  endossante de ativos serão consideradas como  "endividamento" de uma Pessoa.</a:t>
            </a:r>
          </a:p>
          <a:p>
            <a:r>
              <a:t> "Endossante" ou "Endossantes" significa a Instituição Financeira MeLi, as entidades  integrantes do grupo Mercado Pago e/ou veículos ou  fundos de investimento cujas cotas sejam detidas por  entidades integrantes do grupo Mercado Pago que  tenham, em sua carteira, Direitos Creditórios passíveis  de endosso ao Fundo e que tenham celebrado Contratos  de Endosso com o Fundo.</a:t>
            </a:r>
          </a:p>
          <a:p>
            <a:r>
              <a:t> "Endosso" significa o endosso em preto de cada CCB representativa  de Direito Creditório Adquirido, realizado por um  Endossante em favor do Fundo e formalizado também  por meio de Termo de Endosso emitido a partir dos</a:t>
            </a:r>
          </a:p>
          <a:p>
            <a:r>
              <a:t>CNPJ 41970012000126 · Originador e endossante · Regulamento · ID 1302706 · 2026-08-27 · versão 1 · p. 44 · 5.2.4 · https://fnet.bmfbovespa.com.br/fnet/publico/visualizarDocumento?id=1302706</a:t>
            </a:r>
          </a:p>
          <a:p>
            <a:r>
              <a:t>CNPJ 41970012000126 · Originador e endossante · Excerto da fonte:</a:t>
            </a:r>
          </a:p>
          <a:p>
            <a:r>
              <a:t>5.2.4. Além de atender aos Critérios de Elegibilidade, todos e quaisquer Direitos Creditórios a serem  adquiridos pelo Fundo deverão atender, na respectiva Data de Oferta de Direitos Creditórios, às seguintes  Condições de Cessão, cumulativamente (em conjunto, as "Condições de Cessão"):</a:t>
            </a:r>
          </a:p>
          <a:p>
            <a:r>
              <a:t>(i) os Direitos Creditórios tenham sido originados, incluindo em relação à taxa de juros estabelecida  (apenas em relação aos Direitos Creditórios), pelo respectivo Endossante no curso ordinário de  seus negócios e dos negócios do Mercado Pago, em observância à política de concessão de  crédito do Mercado Pago vigente à época;</a:t>
            </a:r>
          </a:p>
          <a:p>
            <a:r>
              <a:t>(ii) os Direitos Creditórios estejam livres e desembaraçados de quaisquer ônus ou gravames;</a:t>
            </a:r>
          </a:p>
          <a:p>
            <a:r>
              <a:t>(iii) os Direitos Creditórios ofertados não tenham sido selecionados para venda ao Fundo de maneira  prejudicial ao Fundo e/ou aos Cotistas Seniores, no melhor conhecimento do respectivo  Endossante e/ou do Mercado Pago;</a:t>
            </a:r>
          </a:p>
          <a:p>
            <a:r>
              <a:t>(iv) os Direitos Creditórios representem obrigações legais e válidas de cada Devedor, exequíveis  contra o respectivo Devedor de acordo com seus termos, ressalvadas regras gerais de  insolvência, conforme aplicáveis;</a:t>
            </a:r>
          </a:p>
          <a:p>
            <a:r>
              <a:t>(v) os Devedores não sejam Partes Relacionadas dos Endossantes e/ou da MeLi, sendo permitido,  no entanto, Devedores que sejam funcionários do respectivo Endossante, da MeLi e/ou de suas  Partes Relacionadas;</a:t>
            </a:r>
          </a:p>
          <a:p>
            <a:r>
              <a:t>(vi) os Devedores não sejam Partes Relacionadas de uma entidade governamental, sendo permitido,  no entanto, Devedores que sejam funcionários de tal entidade;</a:t>
            </a:r>
          </a:p>
          <a:p>
            <a:r>
              <a:t>(vii) no melhor conhecimento do Mercado Pago, o respectivo Devedor não tenha questionado a  existência, validade ou exequibilidade da CCB ou dos instrumentos de garantia, e não tenha  oposto nenhuma exceção ao respectivo Endossante, sendo certo que questionamentos realizados  no âmbito da Plataforma Mercado Pago e/ou Plataforma Mercado Libre não serão considerados  para fins da verificação do atendimento a este item;</a:t>
            </a:r>
          </a:p>
          <a:p>
            <a:r>
              <a:t>(viii) os Direitos Creditórios e respectivos Documentos Comprobatórios não tenham sido novados,  aditados ou modificados de qualquer forma, exceto por quaisquer alterações acordadas de boa-  fé entre o Mercado Pago e o Gestor e aprovadas pelos Cotistas Seniores reunidos em Assembleia  Geral de Cotistas anteriormente à aquisição do respectivo Direito Creditório pelo Fundo;</a:t>
            </a:r>
          </a:p>
          <a:p>
            <a:r>
              <a:t>CNPJ 41970012000126 · Originador e endossante · Regulamento · ID 1302706 · 2026-08-27 · versão 1 · p. 23 · https://fnet.bmfbovespa.com.br/fnet/publico/visualizarDocumento?id=1302706</a:t>
            </a:r>
          </a:p>
          <a:p>
            <a:r>
              <a:t>CNPJ 41970012000126 · Originador e endossante · Excerto da fonte:</a:t>
            </a:r>
          </a:p>
          <a:p>
            <a:r>
              <a:t>"Evento Regulatório" significa qualquer mudança na lei ou na regulamentação  aplicável ou o início formal ou desenvolvimento de  qualquer procedimento legal ou regulatório, em qualquer  caso, novo ou existente, ou, ainda, em qualquer  julgamento ou decisão relacionada aos Direitos  Creditórios, aos Endossantes, ao Mercado Pago, ao  Fundo ou ao setor de empréstimos pessoais, que resulte  ou razoavelmente possa resultar em um Efeito Adverso  Relevante durante a vigência das Cotas Seniores e/ou das  Cotas Subordinadas Mezanino, e cuja reversão, anulação  ou inaplicabilidade não seja razoavelmente esperada,  com base em parecer de escritório de advocacia  independente contratado pelos Cotistas Seniores e/ou  pelos Cotistas Subordinados Mezanino, que confirme a  alteração em lei ou regulamentação ou determinação de  autoridade competente, e fundamente a possibilidade de  resultar em Efeito Adverso Relevante.</a:t>
            </a:r>
          </a:p>
          <a:p>
            <a:r>
              <a:t> "FGC" significa o Fundo Garantidor de Créditos.</a:t>
            </a:r>
          </a:p>
          <a:p>
            <a:r>
              <a:t> "Fundo" significa o MERCADO CRÉDITO II BRASIL FUNDO DE  INVESTIMENTO EM DIREITOS CREDITÓRIOS DE  RESPONSABILIDADE LIMITADA, inscrito no CNPJ/MF  sob o nº 41.970.012/0001-26.</a:t>
            </a:r>
          </a:p>
          <a:p>
            <a:r>
              <a:t> "FUNDOS21" significa o Fundos21 – Módulo de Fundos, ambiente de  negociação secundária, administrado e operacionalizado  pela B3.</a:t>
            </a:r>
          </a:p>
          <a:p>
            <a:r>
              <a:t> "Gestor" significa a POLÍGONO CAPITAL LTDA., sociedade de  responsabilidade limitada, com sede no município de São  Paulo, estado de São Paulo, na Avenida Brigadeiro Faria  Lima, n° 2601, 12º andar, Jardim Paulistano, CEP</a:t>
            </a:r>
          </a:p>
          <a:p>
            <a:r>
              <a:t> 01.452-000, inscrita no CNPJ/MF sob  nº 43.241.789/0001-85, autorizada à prestação do serviço  de gestão de carteiras de valores mobiliários pela CVM,  de acordo com o Ato Declaratório CVM nº 19.368,  expedido em 07 de dezembro de 2021.</a:t>
            </a:r>
          </a:p>
          <a:p>
            <a:r>
              <a:t> "Histórico por Safra" tem o significado a ele atribuído no COMPLEMENTO  XV.</a:t>
            </a:r>
          </a:p>
          <a:p>
            <a:r>
              <a:t> "Histórico de Performance da tem o significado a ele atribuído no inciso (viii) do item  Safra" 15.2.3.</a:t>
            </a:r>
          </a:p>
          <a:p>
            <a:r>
              <a:t> "Inadimplemento do Agente de tem o significado descrito no Contrato de Cobrança.</a:t>
            </a:r>
          </a:p>
          <a:p>
            <a:r>
              <a:t> Cobrança"  "Inadimplemento do Agente de tem o significado descrito no Contrato de Agente de  Recebimento" Recebimento.</a:t>
            </a:r>
          </a:p>
          <a:p>
            <a:r>
              <a:t> "Inconsistência Relevante" significa a verificação, pelo Custodiante, conforme  contratado pelo Gestor, no procedimento de verificação  de lastro, de existência de inconsistências no lastro de  Direitos Creditórios cuja soma do Valor Principal seja  igual ou superior a 2% (dois por cento) do Valor  Agregado de Investimento Sênior.</a:t>
            </a:r>
          </a:p>
          <a:p>
            <a:r>
              <a:t> btgpactual.com</a:t>
            </a:r>
          </a:p>
          <a:p>
            <a:r>
              <a:t>CNPJ 41970012000126 · Originador e endossante · Condição: Documentos atuais selecionados no inventário por categoria/escopo; a data documental isolada não comprova vigência jurídica.</a:t>
            </a:r>
          </a:p>
          <a:p>
            <a:r>
              <a:t>CNPJ 41970012000126 · Originador e endossante · Motivo: Cláusula primária localizada e citada, mas sua lista/condições extensas não admitem uma síntese literal curta confirmada. O trecho integral permanece nas fontes. A resposta da revisão anterior foi preservada no histórico, sem confirmação pelo documento atual.</a:t>
            </a:r>
          </a:p>
          <a:p>
            <a:r>
              <a:t>CNPJ 41970012000126 · Originador e endossante · Versão e prevalência: Documentos atuais selecionados no inventário por categoria/escopo; a data documental isolada não comprova vigência jurídica.</a:t>
            </a:r>
          </a:p>
          <a:p>
            <a:r>
              <a:t>CNPJ 41970012000126 · Originador e endossante · Resumo do histórico: {"count": 11, "dates": ["2025-12-19", "2025-12-31", "2026-08-27"], "document_count": 3, "sources": [{"document_id": "1302706", "title": "Regulamento", "reference_date": "2026-08-27", "version": "1", "page": "20", "url": "https://fnet.bmfbovespa.com.br/fnet/publico/visualizarDocumento?id=1302706", "sha256": "b113727bc2bc3b1a6b0d18f02bf2143068fd912df2d83cbb91ab44fcb30a3379"}, {"document_id": "1151156", "title": "Demonstrações Financeiras", "reference_date": "2025-12-31", "version": "1", "page": 17, "url": "https://fnet.bmfbovespa.com.br/fnet/publico/visualizarDocumento?id=1151156", "sha256": "04099e318871fbf25478d1ed88b19c4c6c6af84d9811507e8df48f7d824c6ec8"}, {"document_id": "1077333", "title": "AGE", "reference_date": "2025-12-19", "version": "1", "page": 25, "url": "https://fnet.bmfbovespa.com.br/fnet/publico/visualizarDocumento?id=1077333", "sha256": "a9a25c5f8a0c493373a2157221109466cbc86e5f44f623997bba18ca14892751"}], "reference": {"path": "history/41970012000126.json", "criterion_id": "originator", "total_count": 11, "preview_count": 3, "full_text_deferred": true, "sha256": "229578c6b833b0633051fe7d357f4fcc74589dcf37d7750032517e03ec89ee60"}}</a:t>
            </a:r>
          </a:p>
          <a:p>
            <a:r>
              <a:t>CNPJ 41970012000126 · Devedor e consignação · Regulamento · ID 1302706 · 2026-08-27 · versão 1 · p. 18 · https://fnet.bmfbovespa.com.br/fnet/publico/visualizarDocumento?id=1302706</a:t>
            </a:r>
          </a:p>
          <a:p>
            <a:r>
              <a:t>CNPJ 41970012000126 · Devedor e consignação · Excerto da fonte:</a:t>
            </a:r>
          </a:p>
          <a:p>
            <a:r>
              <a:t>"Direitos Creditórios CCB significam os direitos creditórios representados por  Comerciante" CCBs decorrentes da concessão de Crédito Parcelado  pela Instituição Financeira MeLi aos Devedores CCB  Comerciante, com intermediação do Mercado Pago na  qualidade de correspondente bancário, os quais incluem  os Direitos Creditórios CCB DE.</a:t>
            </a:r>
          </a:p>
          <a:p>
            <a:r>
              <a:t> "Direitos Creditórios CCB significam os direitos creditórios representados por  Consumidor" CCBs decorrentes da concessão de Crédito Parcelado ou  Empréstimo Pessoal pela Instituição Financeira MeLi  aos Devedores CCB Consumidor, com intermediação do  Mercado Pago na qualidade de correspondente bancário.</a:t>
            </a:r>
          </a:p>
          <a:p>
            <a:r>
              <a:t> "Direitos Creditórios CCB DE" significam os Direitos Creditórios CCB Comerciante que  tenham prazo máximo de pagamento de 28 (vinte e oito)  dias e sejam decorrentes da concessão de crédito a  Devedores CCB Comerciante para atendimentos de  necessidades de curto prazo dos respectivos negócios,  classificados pelo Mercado Pago como "Dinheiro  Express".</a:t>
            </a:r>
          </a:p>
          <a:p>
            <a:r>
              <a:t> "Direitos Creditórios Ofertados" significam os Direitos Creditórios ofertados ao Fundo  em cada Data de Oferta de Direitos Creditórios.</a:t>
            </a:r>
          </a:p>
          <a:p>
            <a:r>
              <a:t> "Direitos Creditórios Over90" Direitos Creditórios relativamente aos quais qualquer  pagamento devido esteja inadimplente por período  superior a 90 (noventa) dias após a data inicialmente  prevista para pagamento. Não integrarão o conceito de  Direitos Creditórios Over90 os Direitos Creditórios que  tenham sido cancelados, objeto de recompra ou  resolução de cessão caso tenham ocorrido Condições  Resolutivas ou de Recompra. Os valores dos Direitos  Creditórios Over90 não serão reduzidos por baixas  btgpactual.com</a:t>
            </a:r>
          </a:p>
          <a:p>
            <a:r>
              <a:t>CNPJ 41970012000126 · Devedor e consignação · Regulamento · ID 1302706 · 2026-08-27 · versão 1 · p. 41 · 5.1.4 · https://fnet.bmfbovespa.com.br/fnet/publico/visualizarDocumento?id=1302706</a:t>
            </a:r>
          </a:p>
          <a:p>
            <a:r>
              <a:t>CNPJ 41970012000126 · Devedor e consignação · Excerto da fonte:</a:t>
            </a:r>
          </a:p>
          <a:p>
            <a:r>
              <a:t>5.1.4. Os Direitos Creditórios serão originados por CCBs emitidas no âmbito da concessão de Crédito  Parcelado ou Empréstimo Pessoal pela Instituição Financeira MeLi aos Devedores, sendo que os Direitos  Creditórios deverão ser representados pelos Documentos Comprobatórios.</a:t>
            </a:r>
          </a:p>
          <a:p>
            <a:r>
              <a:t>CNPJ 41970012000126 · Devedor e consignação · Regulamento · ID 1302706 · 2026-08-27 · versão 1 · p. 47 · 5.4.1.1 · https://fnet.bmfbovespa.com.br/fnet/publico/visualizarDocumento?id=1302706</a:t>
            </a:r>
          </a:p>
          <a:p>
            <a:r>
              <a:t>CNPJ 41970012000126 · Devedor e consignação · Excerto da fonte:</a:t>
            </a:r>
          </a:p>
          <a:p>
            <a:r>
              <a:t>5.4.1.1. Os Direitos Creditórios serão individualmente representados por CCBs originadas da  concessão de Crédito Parcelado ou Empréstimo Pessoal pela Instituição Financeira MeLi aos Devedores.</a:t>
            </a:r>
          </a:p>
          <a:p>
            <a:r>
              <a:t>CNPJ 41970012000126 · Devedor e consignação · Condição: Documentos atuais selecionados no inventário por categoria/escopo; a data documental isolada não comprova vigência jurídica.</a:t>
            </a:r>
          </a:p>
          <a:p>
            <a:r>
              <a:t>CNPJ 41970012000126 · Devedor e consignação · Versão e prevalência: Documentos atuais selecionados no inventário por categoria/escopo; a data documental isolada não comprova vigência jurídica.</a:t>
            </a:r>
          </a:p>
          <a:p>
            <a:r>
              <a:t>CNPJ 41970012000126 · Devedor e consignação · Resumo do histórico: {"count": 12, "dates": ["2025-12-19", "2025-12-31"], "document_count": 3, "sources": [{"document_id": "1151156", "title": "Demonstrações Financeiras", "reference_date": "2025-12-31", "version": "1", "page": 17, "url": "https://fnet.bmfbovespa.com.br/fnet/publico/visualizarDocumento?id=1151156", "sha256": "04099e318871fbf25478d1ed88b19c4c6c6af84d9811507e8df48f7d824c6ec8"}, {"document_id": "1077333", "title": "AGE", "reference_date": "2025-12-19", "version": "1", "page": 53, "clause": "5.4.1.1", "url": "https://fnet.bmfbovespa.com.br/fnet/publico/visualizarDocumento?id=1077333", "sha256": "a9a25c5f8a0c493373a2157221109466cbc86e5f44f623997bba18ca14892751"}, {"document_id": "1077334", "title": "Regulamento", "reference_date": "2025-12-19", "version": "1", "page": 53, "clause": "5.4.1.1", "url": "https://fnet.bmfbovespa.com.br/fnet/publico/visualizarDocumento?id=1077334", "sha256": "a9a25c5f8a0c493373a2157221109466cbc86e5f44f623997bba18ca14892751"}], "reference": {"path": "history/41970012000126.json", "criterion_id": "debtor", "total_count": 12, "preview_count": 3, "full_text_deferred": true, "sha256": "229578c6b833b0633051fe7d357f4fcc74589dcf37d7750032517e03ec89ee60"}}</a:t>
            </a:r>
          </a:p>
          <a:p>
            <a:r>
              <a:t>CNPJ 41970012000126 · Elegibilidade · Regulamento · ID 1302706 · 27/08/2026 · versão Regulamento27/08/2026 · p. 43 · 5.2.1(i)–(v) · https://fnet.bmfbovespa.com.br/fnet/publico/visualizarDocumento?id=1302706</a:t>
            </a:r>
          </a:p>
          <a:p>
            <a:r>
              <a:t>CNPJ 41970012000126 · Elegibilidade · Excerto da fonte:</a:t>
            </a:r>
          </a:p>
          <a:p>
            <a:r>
              <a:t>5.2.1. Todos e quaisquer Direitos Creditórios a serem adquiridos pelo Fundo deverão atender, na respectiva Data de Oferta de Direitos Creditórios, aos seguintes Critérios de Elegibilidade, cumulativamente (em conjunto, os "Critérios de Elegibilidade"): (i) os Direitos Creditórios tenham sido originados de operações de Crédito Parcelado ou Empréstimo Pessoal e representados por CCBs; (ii) os Direitos Creditórios não estejam inadimplidos; (iii) os Direitos Creditórios sejam compostos por, no mínimo, 1 (uma) parcela e, no máximo, de 24 (vinte e quatro) parcelas mensais de pagamen</a:t>
            </a:r>
          </a:p>
          <a:p>
            <a:r>
              <a:t>CNPJ 41970012000126 · Elegibilidade · Versão e prevalência: Leitura específica das cláusulas indicadas; condições e conflitos preservados. Seleção documental atual não comprova vigência jurídica por data isolada.</a:t>
            </a:r>
          </a:p>
          <a:p>
            <a:r>
              <a:t>CNPJ 41970012000126 · Elegibilidade · Resumo do histórico: {"count": 9, "dates": ["2025-12-19", "2025-12-31"], "document_count": 3, "sources": [{"document_id": "1151156", "title": "Demonstrações Financeiras", "reference_date": "2025-12-31", "version": "1", "page": 17, "url": "https://fnet.bmfbovespa.com.br/fnet/publico/visualizarDocumento?id=1151156", "sha256": "04099e318871fbf25478d1ed88b19c4c6c6af84d9811507e8df48f7d824c6ec8"}, {"document_id": "1077333", "title": "AGE", "reference_date": "2025-12-19", "version": "1", "page": 54, "clause": "5.4.3.1", "url": "https://fnet.bmfbovespa.com.br/fnet/publico/visualizarDocumento?id=1077333", "sha256": "a9a25c5f8a0c493373a2157221109466cbc86e5f44f623997bba18ca14892751"}, {"document_id": "1077334", "title": "Regulamento", "reference_date": "2025-12-19", "version": "1", "page": 54, "clause": "5.4.3.1", "url": "https://fnet.bmfbovespa.com.br/fnet/publico/visualizarDocumento?id=1077334", "sha256": "a9a25c5f8a0c493373a2157221109466cbc86e5f44f623997bba18ca14892751"}], "reference": {"path": "history/41970012000126.json", "criterion_id": "eligibility", "total_count": 9, "preview_count": 3, "full_text_deferred": true, "sha256": "229578c6b833b0633051fe7d357f4fcc74589dcf37d7750032517e03ec89ee60"}}</a:t>
            </a:r>
          </a:p>
          <a:p>
            <a:r>
              <a:t>CNPJ 41970012000126 · Limites por contrato e devedor · Regulamento · ID 1302706 · 2026-08-27 · versão 1 · p. 42 · 5.1.6.3 · https://fnet.bmfbovespa.com.br/fnet/publico/visualizarDocumento?id=1302706</a:t>
            </a:r>
          </a:p>
          <a:p>
            <a:r>
              <a:t>CNPJ 41970012000126 · Limites por contrato e devedor · Excerto da fonte:</a:t>
            </a:r>
          </a:p>
          <a:p>
            <a:r>
              <a:t>5.1.6.3. Sem prejuízo do disposto nos itens 5.1.6.1 e 5.1.6.2 acima, o Mercado Pago, diretamente ou  por meio de qualquer entidade integrante de seu grupo econômico e/ou veículo de investimento estruturado  por entidade do grupo econômico da MeLi, terá a opção de adquirir até a Data Limite de Investimento em  Direitos Creditórios, nos termos previstos no Contrato de Agente de Recebimento, Direitos Creditórios  Adquiridos, desde que: (i) notifique o Gestor a respeito do exercício da Opção de Compra de Direitos  Creditórios até a Data Base 1 do mês correspondente; (ii) considerada pro forma a aquisição pretendida,  não haja desenquadramento da Senioridade Máxima; e (iii) tal aquisição não acarrete na cura de um Evento  de Step-Down ("Opção de Compra de Direitos Creditórios"). O preço de aquisição dos Direitos Creditórios  objeto da Opção de Compra dos Direitos Creditórios será o maior entre (i) o valor de mercado de tais  Direitos Creditórios e (ii) o equivalente ao valor presente do respectivo Direito Creditório, deduzido de  quaisquer provisões para perdas (incluindo provisão para devedores duvidosos – PDD) constituídas pelo  Fundo em relação a tal Direito Creditório, de acordo com a regulamentação aplicável e as políticas contábeis  do Fundo. A Opção de Compra de Direitos Creditórios nos termos deste item estará limitada a 10% (dez  por cento) do Valor Máximo de Investimento Sênior, de forma agregada ou individual, exceto (a) em caso  de deliberação, em Assembleia Geral de Cotistas, pela amortização integral antecipada das Cotas Seniores,  ou (b) caso esteja em curso amortização antecipada extraordinária das Cotas nos termos do item 12.4  abaixo, ou (c) caso os referidos Direitos Creditórios Adquiridos estejam vencidos e não pagos há mais de  90 (noventa) dias, casos em que a Opção de Compra de Direitos Creditórios poderá ser exercida  independentemente do limite de 10% (dez por cento) descrito acima.</a:t>
            </a:r>
          </a:p>
          <a:p>
            <a:r>
              <a:t>CNPJ 41970012000126 · Limites por contrato e devedor · Regulamento · ID 1302706 · 2026-08-27 · versão 1 · p. 37 · https://fnet.bmfbovespa.com.br/fnet/publico/visualizarDocumento?id=1302706</a:t>
            </a:r>
          </a:p>
          <a:p>
            <a:r>
              <a:t>CNPJ 41970012000126 · Limites por contrato e devedor · Excerto da fonte:</a:t>
            </a:r>
          </a:p>
          <a:p>
            <a:r>
              <a:t>"Valor de Redução Evento de significa, na ocorrência de um Evento de Step-Down  Step-Down Nível 1" Nível 1 nos termos do item (i) da definição de Evento de  Step-Down Nível 1, 5% (cinco por cento);</a:t>
            </a:r>
          </a:p>
          <a:p>
            <a:r>
              <a:t> Na ocorrência de um Evento de Step-Down Nível 1 nos  termos do item (ii) da definição de Evento de Step-Down  Nível 1, o Índice de Inadimplência menos 8% (oito por  cento).</a:t>
            </a:r>
          </a:p>
          <a:p>
            <a:r>
              <a:t> "Valor de Redução Evento de significa, na ocorrência de um Evento de Step-Down  Step-Down Nível 2" Nível 2, 15% (quinze por cento).</a:t>
            </a:r>
          </a:p>
          <a:p>
            <a:r>
              <a:t> "Valor Limite de Remuneração tem o significado atribuído no Contrato de Cobrança.</a:t>
            </a:r>
          </a:p>
          <a:p>
            <a:r>
              <a:t> e Reembolso"  "Valor Máximo de significa o valor máximo de investimento em Cotas  Investimento Mezanino" Subordinadas Mezanino, equivalente, de forma agregada  entre as Subclasses de Cotas Subordinadas Mezanino, a  R$400.000.000,00 (quatrocentos milhões de reais),  observadas as disposições referentes ao "Capital  Comprometido Individual do Subscritor" previstas em  cada Compromisso de Investimento e/ou Boletim de  Subscrição.</a:t>
            </a:r>
          </a:p>
          <a:p>
            <a:r>
              <a:t> "Valor Máximo de O valor máximo de investimento previsto em cada  Investimento Sênior" Compromisso de Investimento Sênior e no Apêndice da  respectiva emissão de Cotas Seniores, observadas as  disposições referentes ao "Capital Comprometido  Individual do Subscritor" previstas em cada  Compromisso de Investimento Sênior.</a:t>
            </a:r>
          </a:p>
          <a:p>
            <a:r>
              <a:t> "Valor Nominal Unitário de significa o valor nominal unitário de Emissão das Cotas,  Emissão" correspondente a R$1.000,00 (mil reais) por Cota, na  respectiva Data da Primeira Integralização, observado o  disposto no respectivo Apêndice.</a:t>
            </a:r>
          </a:p>
          <a:p>
            <a:r>
              <a:t> "Valor Principal" significa, em relação a qualquer Direito Creditório, o  saldo devido e não pago do valor principal do crédito  (sem considerar quaisquer valores decorrentes de</a:t>
            </a:r>
          </a:p>
          <a:p>
            <a:r>
              <a:t>CNPJ 41970012000126 · Limites por contrato e devedor · Condição: Documentos atuais selecionados no inventário por categoria/escopo; a data documental isolada não comprova vigência jurídica.</a:t>
            </a:r>
          </a:p>
          <a:p>
            <a:r>
              <a:t>CNPJ 41970012000126 · Limites por contrato e devedor · Motivo: Cláusula primária localizada e citada, mas sua lista/condições extensas não admitem uma síntese literal curta confirmada. O trecho integral permanece nas fontes.</a:t>
            </a:r>
          </a:p>
          <a:p>
            <a:r>
              <a:t>CNPJ 41970012000126 · Limites por contrato e devedor · Versão e prevalência: Documentos atuais selecionados no inventário por categoria/escopo; a data documental isolada não comprova vigência jurídica.</a:t>
            </a:r>
          </a:p>
          <a:p>
            <a:r>
              <a:t>CNPJ 41970012000126 · Limites por contrato e devedor · Resumo do histórico: {"count": 21, "dates": ["2025-12-19", "2025-12-31"], "document_count": 3, "sources": [{"document_id": "1151156", "title": "Demonstrações Financeiras", "reference_date": "2025-12-31", "version": "1", "page": 25, "url": "https://fnet.bmfbovespa.com.br/fnet/publico/visualizarDocumento?id=1151156", "sha256": "04099e318871fbf25478d1ed88b19c4c6c6af84d9811507e8df48f7d824c6ec8"}, {"document_id": "1077333", "title": "AGE", "reference_date": "2025-12-19", "version": "1", "page": 46, "clause": "5.1.5.3", "url": "https://fnet.bmfbovespa.com.br/fnet/publico/visualizarDocumento?id=1077333", "sha256": "a9a25c5f8a0c493373a2157221109466cbc86e5f44f623997bba18ca14892751"}, {"document_id": "1077334", "title": "Regulamento", "reference_date": "2025-12-19", "version": "1", "page": 46, "clause": "5.1.5.3", "url": "https://fnet.bmfbovespa.com.br/fnet/publico/visualizarDocumento?id=1077334", "sha256": "a9a25c5f8a0c493373a2157221109466cbc86e5f44f623997bba18ca14892751"}], "reference": {"path": "history/41970012000126.json", "criterion_id": "ticket", "total_count": 21, "preview_count": 3, "full_text_deferred": true, "sha256": "229578c6b833b0633051fe7d357f4fcc74589dcf37d7750032517e03ec89ee60"}}</a:t>
            </a:r>
          </a:p>
          <a:p>
            <a:r>
              <a:t>CNPJ 41970012000126 · Prazo dos créditos e carência · Regulamento · ID 1302706 · 2026-08-27 · versão 1 · p. 5 · https://fnet.bmfbovespa.com.br/fnet/publico/visualizarDocumento?id=1302706</a:t>
            </a:r>
          </a:p>
          <a:p>
            <a:r>
              <a:t>CNPJ 41970012000126 · Prazo dos créditos e carência · Excerto da fonte:</a:t>
            </a:r>
          </a:p>
          <a:p>
            <a:r>
              <a:t>Em que:</a:t>
            </a:r>
          </a:p>
          <a:p>
            <a:r>
              <a:t> N = número total de meses remanescentes  n = mês de referência  Cn = fluxo de caixa dos Direitos Creditórios Adquiridos  Adimplentes no mês "n", considerando para esse cálculo  a premissa de perda conforme Matriz de Perda, separados  por tipo de produto e por prazo original, e aplicação do  múltiplo MS  r = taxa interna de retorno mensal, sendo certo que, no  caso dos Direitos Creditórios que sejam Direitos  Creditórios CCB DE, para r será apurado com base em  juros mensais equivalentes a 50% (cinquenta por cento)  da taxa de juros mensal contratada nas respectivas CCBs  Taxa Estressada das Cotas Seniores = em qualquer Data  Base, a soma de (i) 5,00% (cinco por cento); e (ii) o  Benchmark Sênior.</a:t>
            </a:r>
          </a:p>
          <a:p>
            <a:r>
              <a:t> PMP = em qualquer Data Base, o prazo médio ponderado,  em anos, dos Direitos Creditórios Adquiridos  Adimplentes, separados por tipo de produto e por prazo  original, calculado na forma de planilha acordada entre as  partes.</a:t>
            </a:r>
          </a:p>
          <a:p>
            <a:r>
              <a:t> O Advance Rate Ponderado será calculado pelo Gestor  com base no Valor Agregado dos Direitos Creditórios em  cada Data Base.</a:t>
            </a:r>
          </a:p>
          <a:p>
            <a:r>
              <a:t> "Agência Classificadora de significa a agência de classificação de risco autorizada a  Risco" prestar tais serviços junto a CVM que tenha sido  contratada pelo Fundo para avaliação de risco das Cotas,  conforme aplicável, que poderá ser escolhida pelo Gestor  dentre as seguintes empresas: Austin Rating Serviços  Financeiros Ltda., Standard &amp; Poor's Ratings do Brasil  Ltda., Fitch Ratings Brasil Ltda., Moody's América  Latina Ltda. ou Liberum Ratings Serviços Financeiros  Ltda., caso aplicável.</a:t>
            </a:r>
          </a:p>
          <a:p>
            <a:r>
              <a:t> "Agente de Cobrança" significa o Mercado Pago, contratado para prestação dos  serviços de cobrança dos Direitos Creditórios vencidos e  não pagos, nos termos e condições descritos neste  Regulamento e no Contrato de Cobrança.</a:t>
            </a:r>
          </a:p>
          <a:p>
            <a:r>
              <a:t> btgpactual.com</a:t>
            </a:r>
          </a:p>
          <a:p>
            <a:r>
              <a:t>CNPJ 41970012000126 · Prazo dos créditos e carência · Condição: Documentos atuais selecionados no inventário por categoria/escopo; a data documental isolada não comprova vigência jurídica.</a:t>
            </a:r>
          </a:p>
          <a:p>
            <a:r>
              <a:t>CNPJ 41970012000126 · Prazo dos créditos e carência · Versão e prevalência: Documentos atuais selecionados no inventário por categoria/escopo; a data documental isolada não comprova vigência jurídica.</a:t>
            </a:r>
          </a:p>
          <a:p>
            <a:r>
              <a:t>CNPJ 41970012000126 · Prazo dos créditos e carência · Resumo do histórico: {"count": 16, "dates": ["2025-05-19", "2025-12-19"], "document_count": 3, "sources": [{"document_id": "1077333", "title": "AGE", "reference_date": "2025-12-19", "version": "1", "page": 6, "url": "https://fnet.bmfbovespa.com.br/fnet/publico/visualizarDocumento?id=1077333", "sha256": "a9a25c5f8a0c493373a2157221109466cbc86e5f44f623997bba18ca14892751"}, {"document_id": "1077334", "title": "Regulamento", "reference_date": "2025-12-19", "version": "1", "page": 6, "url": "https://fnet.bmfbovespa.com.br/fnet/publico/visualizarDocumento?id=1077334", "sha256": "a9a25c5f8a0c493373a2157221109466cbc86e5f44f623997bba18ca14892751"}, {"document_id": "909705", "title": "AGE", "reference_date": "2025-05-19", "version": "1", "page": 1, "url": "https://fnet.bmfbovespa.com.br/fnet/publico/visualizarDocumento?id=909705", "sha256": "df2d11536980e792e2d163e3c5626c8522cad30889865c268c49d851af4b7970"}], "reference": {"path": "history/41970012000126.json", "criterion_id": "term", "total_count": 16, "preview_count": 3, "full_text_deferred": true, "sha256": "229578c6b833b0633051fe7d357f4fcc74589dcf37d7750032517e03ec89ee60"}}</a:t>
            </a:r>
          </a:p>
          <a:p>
            <a:r>
              <a:t>CNPJ 41970012000126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"41970012000126", "competence": "08/2026", "path": "data/documentary_diligence/ime/41970012000126_202608.json", "reported_fund_cnpj": "41970012000126", "reported_class_cnpj": "41970012000126", "reported_fund_cnpj_raw": "41970012000126", "reported_class_cnpj_raw": "41970012000126",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"1318098", "version": 1, "delivered_at": "14/09/2026 14:44", "url": "https://fnet.bmfbovespa.com.br/fnet/publico/exibirDocumento?id=1318098", "declared_fields_sha256": "dd9e87c71c92c3781738669fcec53c651e2aeb5d75dfbae1e3b41b46f4ce9e8d", "snapshot_path": "data/documentary_diligence/ime/41970012000126_202608.json"}, "headroom": null, "limit": null, "comparison_required": true, "context_formula": "", "context_value": null, "context_unit": ""}</a:t>
            </a:r>
          </a:p>
          <a:p>
            <a:r>
              <a:t>CNPJ 41970012000126 · Concentração por devedor, cedente e grupo · AGO/E · ID 691625 · 2024-07-03 · versão 1 · p. 60 · 5.1.1 · https://fnet.bmfbovespa.com.br/fnet/publico/visualizarDocumento?id=691625</a:t>
            </a:r>
          </a:p>
          <a:p>
            <a:r>
              <a:t>CNPJ 41970012000126 · Concentração por devedor, cedente e grupo · Excerto da fonte:</a:t>
            </a:r>
          </a:p>
          <a:p>
            <a:r>
              <a:t>5.1.1. Observado o disposto na Instrução CVM 356, o Fundo somente poderá  adquirir Direitos Creditórios e outros ativos de um mesmo Devedor, ou de coobrigação  de uma mesma pessoa ou entidade, no limite de 20% (vinte por cento) do Patrimônio</a:t>
            </a:r>
          </a:p>
          <a:p>
            <a:r>
              <a:t>CNPJ 41970012000126 · Concentração por devedor, cedente e grupo · AGO/E · ID 691625 · 2024-07-03 · versão 1 · p. 61 · 5.1.3 · https://fnet.bmfbovespa.com.br/fnet/publico/visualizarDocumento?id=691625</a:t>
            </a:r>
          </a:p>
          <a:p>
            <a:r>
              <a:t>CNPJ 41970012000126 · Concentração por devedor, cedente e grupo · Excerto da fonte:</a:t>
            </a:r>
          </a:p>
          <a:p>
            <a:r>
              <a:t>5.1.3. Relativamente às sociedades empresárias responsáveis por mais de 20%  (vinte por cento) dos Direitos Creditórios que integrem o patrimônio do Fundo, serão  dispensados o arquivamento na CVM e a elaboração de demonstrações financeiras na  forma prevista no subitem (iii) do item (1) do item 5.1.1 acima, desde que as Cotas do  Fundo: (1) sejam objeto de oferta pública de distribuição que tenha como público  destinatário exclusivamente sociedades integrantes do mesmo grupo econômico, e  seus respectivos administradores e acionistas controladores, sendo vedada a  negociação das Cotas no mercado secundário; ou (2) sejam objeto de oferta pública,  devendo ser negociadas no mercado secundário exclusivamente entre Investidores  Profissionais.</a:t>
            </a:r>
          </a:p>
          <a:p>
            <a:r>
              <a:t>CNPJ 41970012000126 · Concentração por devedor, cedente e grupo · AGO/E · ID 691625 · 2024-07-03 · versão 1 · p. 133 · 17.6.1 · https://fnet.bmfbovespa.com.br/fnet/publico/visualizarDocumento?id=691625</a:t>
            </a:r>
          </a:p>
          <a:p>
            <a:r>
              <a:t>CNPJ 41970012000126 · Concentração por devedor, cedente e grupo · Excerto da fonte:</a:t>
            </a:r>
          </a:p>
          <a:p>
            <a:r>
              <a:t>17.6.1. Sem prejuízo do disposto no item 17.6 acima, o Gestor será responsável  pelas seguintes atividades:</a:t>
            </a:r>
          </a:p>
          <a:p>
            <a:r>
              <a:t>(i) calcular e acompanhar, na periodicidade estabelecida neste Regulamento e  no Contrato de Gestão:</a:t>
            </a:r>
          </a:p>
          <a:p>
            <a:r>
              <a:t> a. o Índice de Inadimplência;</a:t>
            </a:r>
          </a:p>
          <a:p>
            <a:r>
              <a:t> b. a Média Móvel do Índice de Inadimplência;</a:t>
            </a:r>
          </a:p>
          <a:p>
            <a:r>
              <a:t> c. o Índice de Juros Excedente;</a:t>
            </a:r>
          </a:p>
          <a:p>
            <a:r>
              <a:t> d. a Média Móvel do Índice de Juros Excedente;</a:t>
            </a:r>
          </a:p>
          <a:p>
            <a:r>
              <a:t> e. o Índice Financeiro Avaliação e o Índice Financeiro Amortização  Acelerada, com base nas informações prestadas pelo Mercado Pago  no Relatório de Índice Financeiro;</a:t>
            </a:r>
          </a:p>
          <a:p>
            <a:r>
              <a:t> f. o atendimento da Senioridade Máxima;</a:t>
            </a:r>
          </a:p>
          <a:p>
            <a:r>
              <a:t> g. o Valor Ajustado Agregado dos Direitos Creditórios considerando os  Limites de Concentração previstos no Anexo VI deste Regulamento;</a:t>
            </a:r>
          </a:p>
          <a:p>
            <a:r>
              <a:t> e</a:t>
            </a:r>
          </a:p>
          <a:p>
            <a:r>
              <a:t>CNPJ 41970012000126 · Concentração por devedor, cedente e grupo · Condição: Trechos do documento específico identificado com data mais recente; vigência jurídica não inferida.</a:t>
            </a:r>
          </a:p>
          <a:p>
            <a:r>
              <a:t>CNPJ 41970012000126 · Concentração por devedor, cedente e grupo · Versão e prevalência: Trechos do documento específico identificado com data mais recente; vigência jurídica não inferida.</a:t>
            </a:r>
          </a:p>
          <a:p>
            <a:r>
              <a:t>CNPJ 41970012000126 · Concentração por devedor, cedente e grupo · Resumo do histórico: {"count": 11, "dates": ["2023-08-09", "2023-08-28", "2023-11-28"], "document_count": 3, "sources": [{"document_id": "559878", "title": "Regulamento", "reference_date": "2023-11-28", "version": "1", "page": 97, "clause": "17.6.1", "url": "https://fnet.bmfbovespa.com.br/fnet/publico/visualizarDocumento?id=559878", "sha256": "ae3b1bf95db29e948e7db0299d0bb6a10efb82173a1a6c7524cca9407f8ebc5e"}, {"document_id": "517362", "title": "Regulamento", "reference_date": "2023-08-28", "version": "1", "page": 97, "clause": "17.6.1", "url": "https://fnet.bmfbovespa.com.br/fnet/publico/visualizarDocumento?id=517362", "sha256": "9b072c0cbc2b6a7a318f5731c4b93772067a7c9cd65548cf795bdb00f0734023"}, {"document_id": "504544", "title": "Regulamento", "reference_date": "2023-08-09", "version": "1", "page": 97, "clause": "17.6.1", "url": "https://fnet.bmfbovespa.com.br/fnet/publico/visualizarDocumento?id=504544", "sha256": "eaaa367690469a58c25048b1fd6d3316a1163b23e98723ecb9d45335c3454e1f"}], "reference": {"path": "history/41970012000126.json", "criterion_id": "concentration", "total_count": 11, "preview_count": 3, "full_text_deferred": true, "sha256": "229578c6b833b0633051fe7d357f4fcc74589dcf37d7750032517e03ec89ee60"}}</a:t>
            </a:r>
          </a:p>
          <a:p>
            <a:r>
              <a:t>CNPJ 41970012000126 · Opção de compra de direitos creditórios · Regulamento · ID 1302706 · 27/08/2026 · versão 1 · p. 42 · 5.1.6.3 · https://fnet.bmfbovespa.com.br/fnet/publico/visualizarDocumento?id=1302706</a:t>
            </a:r>
          </a:p>
          <a:p>
            <a:r>
              <a:t>CNPJ 41970012000126 · Opção de compra de direitos creditórios · Excerto da fonte:</a:t>
            </a:r>
          </a:p>
          <a:p>
            <a:r>
              <a:t>5.1.6.3. Sem prejuízo do disposto nos itens 5.1.6.1 e 5.1.6.2 acima, o Mercado Pago, diretamente ou por meio de qualquer entidade integrante de seu grupo econômico e/ou veículo de investimento estruturado por entidade do grupo econômico da MeLi, terá a opção de adquirir até a Data Limite de Investimento em Direitos Creditórios, nos termos previstos no Contrato de Agente de Recebimento, Direitos Creditórios Adquiridos, desde que: (i) notifique o Gestor a respeito do exercício da Opção de Compra de Direitos Creditórios até a Data Base 1 do mês correspondente; (ii) considerada pro forma a aquisição pretendida, não haja desenquadramento da Senioridade Máxima; e (iii) tal aquisição não acarrete na cura de um Evento de Step-Down ("Opção de Compra de Direitos Creditórios"). O preço de aquisição dos Direitos Creditórios objeto da Opção de Compra dos Direitos Creditórios será o maior entre (i) o valor de mercado de tais Direitos Creditórios e (ii) o equivalente ao valor presente do respectivo Direito Creditório, deduzido de quaisquer provisões para perdas (incluindo provisão para devedores duvidosos – PDD) constituídas pelo Fundo em relação a tal Direito Creditório, de acordo com a regulamentação aplicável e as políticas contábeis do Fundo. A Opção de Compra de Direitos Creditórios nos termos deste item estará limitada a 10% (dez por cento) do Valor Máximo de Investimento Sênior, de forma agregada ou individual, exceto (a) em caso de deliberação, em Assembleia Geral de Cotistas, pela amortização integral antecipada das Cotas Seniores, ou (b) caso esteja em curso amortização antecipada extraordinária das Cotas nos termos do item 12.4 abaixo, ou (c) caso os referidos Direitos Creditórios Adquiridos estejam vencidos e não pagos há mais de 90 (noventa) dias, casos em que a Opção de Compra de Direitos Creditórios poderá ser exercida independentemente do limite de 10% (dez por cento) descrito acima.</a:t>
            </a:r>
          </a:p>
          <a:p>
            <a:r>
              <a:t>CNPJ 41970012000126 · Opção de compra de direitos creditórios · Condição: Preço de opção/limite de recompra não define PDD.</a:t>
            </a:r>
          </a:p>
          <a:p>
            <a:r>
              <a:t>CNPJ 41970012000126 · Opção de compra de direitos creditórios · Motivo: Não localizada uma cláusula material para este critério nos textos identificados e processados. A ausência de resultado não comprova inexistência da regra.</a:t>
            </a:r>
          </a:p>
          <a:p>
            <a:r>
              <a:t>CNPJ 41970012000126 · Opção de compra de direitos creditórios · Versão e prevalência: Leitura específica das cláusulas indicadas; condições e conflitos preservados. Seleção documental atual não comprova vigência jurídica por data isolada.</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PLGN Marketplace · vínculo CNPJ 41970012000126 · Recebíveis e aquisição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Vínculo: PLGN Marketplace · CNPJ 55563624000109 → CNPJ 41970012000126 · Regulamento · ID 1192614 · 30/04/2026 · versão Regulamento30/04/2026 · p. 11 · AnexoI4.1</a:t>
            </a:r>
          </a:p>
          <a:p>
            <a:r>
              <a:t>Condição do vínculo: {"cnpj": "41970012000126", "name": "Mercado Crédito II Brasil FIDC", "relationship": "named_investee", "exposure": "mezzanine", "position_status": "mandate_identified_position_not_quantified", "risk_note": "Mandato e classe exatos; comparar regras eIMEdo investido na competência doFIC, sem dupla contagem dePL."}</a:t>
            </a:r>
          </a:p>
          <a:p>
            <a:r>
              <a:t>CNPJ 41970012000126 · Natureza dos recebíveis · Regulamento · ID 1302706 · 2026-08-27 · versão 1 · p. 117 · https://fnet.bmfbovespa.com.br/fnet/publico/visualizarDocumento?id=1302706</a:t>
            </a:r>
          </a:p>
          <a:p>
            <a:r>
              <a:t>CNPJ 41970012000126 · Natureza dos recebíveis · Excerto da fonte:</a:t>
            </a:r>
          </a:p>
          <a:p>
            <a:r>
              <a:t>(xiv) Risco de originação. Os Direitos Creditórios a serem adquiridos pelo Fundo são decorrentes de  CCBs representativas de empréstimos contratados por meio da Plataforma Mercado Pago, as  quais são emitidas por Devedores em favor da Instituição Financeira MeLi. Na hipótese de não  originação, originação insuficiente ou indisponibilidade para aquisição pelo Fundo, por  qualquer motivo, inclusive em caso de redução ou descontinuidade das operações regulares dos  Endossantes, de Direitos Creditórios que satisfaçam os Critérios de Elegibilidade, as Condições  de Cessão e a Política de Investimento do Fundo descrita neste Regulamento, o Fundo poderá  ser incapaz de alocar a totalidade de seus recursos, o que poderá inviabilizar a realização das  Chamadas de Capital pelo Administrador, afetando negativamente a continuidade do Fundo, a  expectativa dos Cotistas com relação ao seu horizonte de investimento dos Cotistas, a  rentabilidade do Fundo e, consequentemente, o valor das Cotas.</a:t>
            </a:r>
          </a:p>
          <a:p>
            <a:r>
              <a:t>CNPJ 41970012000126 · Natureza dos recebíveis · Condição: Documentos atuais selecionados no inventário por categoria/escopo; a data documental isolada não comprova vigência jurídica.</a:t>
            </a:r>
          </a:p>
          <a:p>
            <a:r>
              <a:t>CNPJ 41970012000126 · Natureza dos recebíveis · Motivo: Cláusula primária localizada e citada, mas sua lista/condições extensas não admitem uma síntese literal curta confirmada. O trecho integral permanece nas fontes. A resposta da revisão anterior foi preservada no histórico, sem confirmação pelo documento atual.</a:t>
            </a:r>
          </a:p>
          <a:p>
            <a:r>
              <a:t>CNPJ 41970012000126 · Natureza dos recebíveis · Versão e prevalência: Documentos atuais selecionados no inventário por categoria/escopo; a data documental isolada não comprova vigência jurídica.</a:t>
            </a:r>
          </a:p>
          <a:p>
            <a:r>
              <a:t>CNPJ 41970012000126 · Natureza dos recebíveis · Resumo do histórico: {"count": 17, "dates": ["2025-12-19", "2026-08-27"], "document_count": 3, "sources": [{"document_id": "1302706", "title": "Regulamento", "reference_date": "2026-08-27", "version": "1", "page": "20", "url": "https://fnet.bmfbovespa.com.br/fnet/publico/visualizarDocumento?id=1302706", "sha256": "b113727bc2bc3b1a6b0d18f02bf2143068fd912df2d83cbb91ab44fcb30a3379"}, {"document_id": "1077333", "title": "AGE", "reference_date": "2025-12-19", "version": "1", "page": 143, "url": "https://fnet.bmfbovespa.com.br/fnet/publico/visualizarDocumento?id=1077333", "sha256": "a9a25c5f8a0c493373a2157221109466cbc86e5f44f623997bba18ca14892751"}, {"document_id": "1077334", "title": "Regulamento", "reference_date": "2025-12-19", "version": "1", "page": 143, "url": "https://fnet.bmfbovespa.com.br/fnet/publico/visualizarDocumento?id=1077334", "sha256": "a9a25c5f8a0c493373a2157221109466cbc86e5f44f623997bba18ca14892751"}], "reference": {"path": "history/41970012000126.json", "criterion_id": "receivables", "total_count": 17, "preview_count": 3, "full_text_deferred": true, "sha256": "229578c6b833b0633051fe7d357f4fcc74589dcf37d7750032517e03ec89ee60"}}</a:t>
            </a:r>
          </a:p>
          <a:p>
            <a:r>
              <a:t>CNPJ 41970012000126 · Originador e endossante · Regulamento · ID 1302706 · 2026-08-27 · versão 1 · p. 20 · https://fnet.bmfbovespa.com.br/fnet/publico/visualizarDocumento?id=1302706</a:t>
            </a:r>
          </a:p>
          <a:p>
            <a:r>
              <a:t>CNPJ 41970012000126 · Originador e endossante · Excerto da fonte:</a:t>
            </a:r>
          </a:p>
          <a:p>
            <a:r>
              <a:t>COVID não dará causa à ocorrência de e não poderá ser  interpretado como um Efeito Adverso Relevante.</a:t>
            </a:r>
          </a:p>
          <a:p>
            <a:r>
              <a:t> "Emissão" significa cada emissão de Cotas pelo Fundo, incluindo as  Cotas Seniores, as Cotas Subordinadas Mezanino e as  Cotas Subordinadas Júnior.</a:t>
            </a:r>
          </a:p>
          <a:p>
            <a:r>
              <a:t> "Empréstimo Pessoal" significa o crédito pessoal, sem finalidade específica,  concedido aos Devedores CCB Consumidor pela  Instituição Financeira MeLi, com intermediação do  Mercado Pago, na qualidade de correspondente bancário,  por meio da emissão das CCBs.</a:t>
            </a:r>
          </a:p>
          <a:p>
            <a:r>
              <a:t> "Endividamento" significa, com relação a qualquer Pessoa, sem  duplicação: (i) todo o endividamento decorrente da  captação de empréstimos; (ii) todas as obrigações  evidenciadas por títulos, debêntures, notas ou  instrumentos similares; (iii) qualquer parte do preço de  compra devido pela respectiva Pessoa em razão de  aquisição de bens ou serviços, exceto por contas a pagar  decorrentes do curso normal de seus negócios; (iv) todas  as obrigações de tal Pessoa na sua qualidade de  arrendatária sob arrendamento financeiro; (v) todo  endividamento de terceiros em relação ao qual tal Pessoa  fornece uma garantia, fiança, aval ou responsabilidade  solidária, ou que é garantido por um ônus ou gravame  sobre qualquer ativo de tal Pessoa, até o valor de tal  ativo, conforme registrado no balanço mais recente de tal  Pessoa; (vi) emissão de títulos de crédito por conta de tal  Pessoa; (vii) obrigações diretas ou contingentes de tal  Pessoa decorrentes de qualquer transação com  derivativos, em cada caso, exceto caso tenham sido  efetuadas para fins de hedging, ou seja, celebradas no  curso normal dos negócios para fins não especulativos; e</a:t>
            </a:r>
          </a:p>
          <a:p>
            <a:r>
              <a:t> (viii) quaisquer outras obrigações ou contingências que  sejam consideradas como endividamento no balanço da  Pessoa, nos termos das normas financeiras aplicáveis,  observado que as operações de securitização nas quais  tal Pessoa participe como originadora ou cedente ou  endossante de ativos serão consideradas como  "endividamento" de uma Pessoa.</a:t>
            </a:r>
          </a:p>
          <a:p>
            <a:r>
              <a:t> "Endossante" ou "Endossantes" significa a Instituição Financeira MeLi, as entidades  integrantes do grupo Mercado Pago e/ou veículos ou  fundos de investimento cujas cotas sejam detidas por  entidades integrantes do grupo Mercado Pago que  tenham, em sua carteira, Direitos Creditórios passíveis  de endosso ao Fundo e que tenham celebrado Contratos  de Endosso com o Fundo.</a:t>
            </a:r>
          </a:p>
          <a:p>
            <a:r>
              <a:t> "Endosso" significa o endosso em preto de cada CCB representativa  de Direito Creditório Adquirido, realizado por um  Endossante em favor do Fundo e formalizado também  por meio de Termo de Endosso emitido a partir dos</a:t>
            </a:r>
          </a:p>
          <a:p>
            <a:r>
              <a:t>CNPJ 41970012000126 · Originador e endossante · Regulamento · ID 1302706 · 2026-08-27 · versão 1 · p. 44 · 5.2.4 · https://fnet.bmfbovespa.com.br/fnet/publico/visualizarDocumento?id=1302706</a:t>
            </a:r>
          </a:p>
          <a:p>
            <a:r>
              <a:t>CNPJ 41970012000126 · Originador e endossante · Excerto da fonte:</a:t>
            </a:r>
          </a:p>
          <a:p>
            <a:r>
              <a:t>5.2.4. Além de atender aos Critérios de Elegibilidade, todos e quaisquer Direitos Creditórios a serem  adquiridos pelo Fundo deverão atender, na respectiva Data de Oferta de Direitos Creditórios, às seguintes  Condições de Cessão, cumulativamente (em conjunto, as "Condições de Cessão"):</a:t>
            </a:r>
          </a:p>
          <a:p>
            <a:r>
              <a:t>(i) os Direitos Creditórios tenham sido originados, incluindo em relação à taxa de juros estabelecida  (apenas em relação aos Direitos Creditórios), pelo respectivo Endossante no curso ordinário de  seus negócios e dos negócios do Mercado Pago, em observância à política de concessão de  crédito do Mercado Pago vigente à época;</a:t>
            </a:r>
          </a:p>
          <a:p>
            <a:r>
              <a:t>(ii) os Direitos Creditórios estejam livres e desembaraçados de quaisquer ônus ou gravames;</a:t>
            </a:r>
          </a:p>
          <a:p>
            <a:r>
              <a:t>(iii) os Direitos Creditórios ofertados não tenham sido selecionados para venda ao Fundo de maneira  prejudicial ao Fundo e/ou aos Cotistas Seniores, no melhor conhecimento do respectivo  Endossante e/ou do Mercado Pago;</a:t>
            </a:r>
          </a:p>
          <a:p>
            <a:r>
              <a:t>(iv) os Direitos Creditórios representem obrigações legais e válidas de cada Devedor, exequíveis  contra o respectivo Devedor de acordo com seus termos, ressalvadas regras gerais de  insolvência, conforme aplicáveis;</a:t>
            </a:r>
          </a:p>
          <a:p>
            <a:r>
              <a:t>(v) os Devedores não sejam Partes Relacionadas dos Endossantes e/ou da MeLi, sendo permitido,  no entanto, Devedores que sejam funcionários do respectivo Endossante, da MeLi e/ou de suas  Partes Relacionadas;</a:t>
            </a:r>
          </a:p>
          <a:p>
            <a:r>
              <a:t>(vi) os Devedores não sejam Partes Relacionadas de uma entidade governamental, sendo permitido,  no entanto, Devedores que sejam funcionários de tal entidade;</a:t>
            </a:r>
          </a:p>
          <a:p>
            <a:r>
              <a:t>(vii) no melhor conhecimento do Mercado Pago, o respectivo Devedor não tenha questionado a  existência, validade ou exequibilidade da CCB ou dos instrumentos de garantia, e não tenha  oposto nenhuma exceção ao respectivo Endossante, sendo certo que questionamentos realizados  no âmbito da Plataforma Mercado Pago e/ou Plataforma Mercado Libre não serão considerados  para fins da verificação do atendimento a este item;</a:t>
            </a:r>
          </a:p>
          <a:p>
            <a:r>
              <a:t>(viii) os Direitos Creditórios e respectivos Documentos Comprobatórios não tenham sido novados,  aditados ou modificados de qualquer forma, exceto por quaisquer alterações acordadas de boa-  fé entre o Mercado Pago e o Gestor e aprovadas pelos Cotistas Seniores reunidos em Assembleia  Geral de Cotistas anteriormente à aquisição do respectivo Direito Creditório pelo Fundo;</a:t>
            </a:r>
          </a:p>
          <a:p>
            <a:r>
              <a:t>CNPJ 41970012000126 · Originador e endossante · Regulamento · ID 1302706 · 2026-08-27 · versão 1 · p. 23 · https://fnet.bmfbovespa.com.br/fnet/publico/visualizarDocumento?id=1302706</a:t>
            </a:r>
          </a:p>
          <a:p>
            <a:r>
              <a:t>CNPJ 41970012000126 · Originador e endossante · Excerto da fonte:</a:t>
            </a:r>
          </a:p>
          <a:p>
            <a:r>
              <a:t>"Evento Regulatório" significa qualquer mudança na lei ou na regulamentação  aplicável ou o início formal ou desenvolvimento de  qualquer procedimento legal ou regulatório, em qualquer  caso, novo ou existente, ou, ainda, em qualquer  julgamento ou decisão relacionada aos Direitos  Creditórios, aos Endossantes, ao Mercado Pago, ao  Fundo ou ao setor de empréstimos pessoais, que resulte  ou razoavelmente possa resultar em um Efeito Adverso  Relevante durante a vigência das Cotas Seniores e/ou das  Cotas Subordinadas Mezanino, e cuja reversão, anulação  ou inaplicabilidade não seja razoavelmente esperada,  com base em parecer de escritório de advocacia  independente contratado pelos Cotistas Seniores e/ou  pelos Cotistas Subordinados Mezanino, que confirme a  alteração em lei ou regulamentação ou determinação de  autoridade competente, e fundamente a possibilidade de  resultar em Efeito Adverso Relevante.</a:t>
            </a:r>
          </a:p>
          <a:p>
            <a:r>
              <a:t> "FGC" significa o Fundo Garantidor de Créditos.</a:t>
            </a:r>
          </a:p>
          <a:p>
            <a:r>
              <a:t> "Fundo" significa o MERCADO CRÉDITO II BRASIL FUNDO DE  INVESTIMENTO EM DIREITOS CREDITÓRIOS DE  RESPONSABILIDADE LIMITADA, inscrito no CNPJ/MF  sob o nº 41.970.012/0001-26.</a:t>
            </a:r>
          </a:p>
          <a:p>
            <a:r>
              <a:t> "FUNDOS21" significa o Fundos21 – Módulo de Fundos, ambiente de  negociação secundária, administrado e operacionalizado  pela B3.</a:t>
            </a:r>
          </a:p>
          <a:p>
            <a:r>
              <a:t> "Gestor" significa a POLÍGONO CAPITAL LTDA., sociedade de  responsabilidade limitada, com sede no município de São  Paulo, estado de São Paulo, na Avenida Brigadeiro Faria  Lima, n° 2601, 12º andar, Jardim Paulistano, CEP</a:t>
            </a:r>
          </a:p>
          <a:p>
            <a:r>
              <a:t> 01.452-000, inscrita no CNPJ/MF sob  nº 43.241.789/0001-85, autorizada à prestação do serviço  de gestão de carteiras de valores mobiliários pela CVM,  de acordo com o Ato Declaratório CVM nº 19.368,  expedido em 07 de dezembro de 2021.</a:t>
            </a:r>
          </a:p>
          <a:p>
            <a:r>
              <a:t> "Histórico por Safra" tem o significado a ele atribuído no COMPLEMENTO  XV.</a:t>
            </a:r>
          </a:p>
          <a:p>
            <a:r>
              <a:t> "Histórico de Performance da tem o significado a ele atribuído no inciso (viii) do item  Safra" 15.2.3.</a:t>
            </a:r>
          </a:p>
          <a:p>
            <a:r>
              <a:t> "Inadimplemento do Agente de tem o significado descrito no Contrato de Cobrança.</a:t>
            </a:r>
          </a:p>
          <a:p>
            <a:r>
              <a:t> Cobrança"  "Inadimplemento do Agente de tem o significado descrito no Contrato de Agente de  Recebimento" Recebimento.</a:t>
            </a:r>
          </a:p>
          <a:p>
            <a:r>
              <a:t> "Inconsistência Relevante" significa a verificação, pelo Custodiante, conforme  contratado pelo Gestor, no procedimento de verificação  de lastro, de existência de inconsistências no lastro de  Direitos Creditórios cuja soma do Valor Principal seja  igual ou superior a 2% (dois por cento) do Valor  Agregado de Investimento Sênior.</a:t>
            </a:r>
          </a:p>
          <a:p>
            <a:r>
              <a:t> btgpactual.com</a:t>
            </a:r>
          </a:p>
          <a:p>
            <a:r>
              <a:t>CNPJ 41970012000126 · Originador e endossante · Condição: Documentos atuais selecionados no inventário por categoria/escopo; a data documental isolada não comprova vigência jurídica.</a:t>
            </a:r>
          </a:p>
          <a:p>
            <a:r>
              <a:t>CNPJ 41970012000126 · Originador e endossante · Motivo: Cláusula primária localizada e citada, mas sua lista/condições extensas não admitem uma síntese literal curta confirmada. O trecho integral permanece nas fontes. A resposta da revisão anterior foi preservada no histórico, sem confirmação pelo documento atual.</a:t>
            </a:r>
          </a:p>
          <a:p>
            <a:r>
              <a:t>CNPJ 41970012000126 · Originador e endossante · Versão e prevalência: Documentos atuais selecionados no inventário por categoria/escopo; a data documental isolada não comprova vigência jurídica.</a:t>
            </a:r>
          </a:p>
          <a:p>
            <a:r>
              <a:t>CNPJ 41970012000126 · Originador e endossante · Resumo do histórico: {"count": 11, "dates": ["2025-12-19", "2025-12-31", "2026-08-27"], "document_count": 3, "sources": [{"document_id": "1302706", "title": "Regulamento", "reference_date": "2026-08-27", "version": "1", "page": "20", "url": "https://fnet.bmfbovespa.com.br/fnet/publico/visualizarDocumento?id=1302706", "sha256": "b113727bc2bc3b1a6b0d18f02bf2143068fd912df2d83cbb91ab44fcb30a3379"}, {"document_id": "1151156", "title": "Demonstrações Financeiras", "reference_date": "2025-12-31", "version": "1", "page": 17, "url": "https://fnet.bmfbovespa.com.br/fnet/publico/visualizarDocumento?id=1151156", "sha256": "04099e318871fbf25478d1ed88b19c4c6c6af84d9811507e8df48f7d824c6ec8"}, {"document_id": "1077333", "title": "AGE", "reference_date": "2025-12-19", "version": "1", "page": 25, "url": "https://fnet.bmfbovespa.com.br/fnet/publico/visualizarDocumento?id=1077333", "sha256": "a9a25c5f8a0c493373a2157221109466cbc86e5f44f623997bba18ca14892751"}], "reference": {"path": "history/41970012000126.json", "criterion_id": "originator", "total_count": 11, "preview_count": 3, "full_text_deferred": true, "sha256": "229578c6b833b0633051fe7d357f4fcc74589dcf37d7750032517e03ec89ee60"}}</a:t>
            </a:r>
          </a:p>
          <a:p>
            <a:r>
              <a:t>CNPJ 41970012000126 · Devedor e consignação · Regulamento · ID 1302706 · 2026-08-27 · versão 1 · p. 18 · https://fnet.bmfbovespa.com.br/fnet/publico/visualizarDocumento?id=1302706</a:t>
            </a:r>
          </a:p>
          <a:p>
            <a:r>
              <a:t>CNPJ 41970012000126 · Devedor e consignação · Excerto da fonte:</a:t>
            </a:r>
          </a:p>
          <a:p>
            <a:r>
              <a:t>"Direitos Creditórios CCB significam os direitos creditórios representados por  Comerciante" CCBs decorrentes da concessão de Crédito Parcelado  pela Instituição Financeira MeLi aos Devedores CCB  Comerciante, com intermediação do Mercado Pago na  qualidade de correspondente bancário, os quais incluem  os Direitos Creditórios CCB DE.</a:t>
            </a:r>
          </a:p>
          <a:p>
            <a:r>
              <a:t> "Direitos Creditórios CCB significam os direitos creditórios representados por  Consumidor" CCBs decorrentes da concessão de Crédito Parcelado ou  Empréstimo Pessoal pela Instituição Financeira MeLi  aos Devedores CCB Consumidor, com intermediação do  Mercado Pago na qualidade de correspondente bancário.</a:t>
            </a:r>
          </a:p>
          <a:p>
            <a:r>
              <a:t> "Direitos Creditórios CCB DE" significam os Direitos Creditórios CCB Comerciante que  tenham prazo máximo de pagamento de 28 (vinte e oito)  dias e sejam decorrentes da concessão de crédito a  Devedores CCB Comerciante para atendimentos de  necessidades de curto prazo dos respectivos negócios,  classificados pelo Mercado Pago como "Dinheiro  Express".</a:t>
            </a:r>
          </a:p>
          <a:p>
            <a:r>
              <a:t> "Direitos Creditórios Ofertados" significam os Direitos Creditórios ofertados ao Fundo  em cada Data de Oferta de Direitos Creditórios.</a:t>
            </a:r>
          </a:p>
          <a:p>
            <a:r>
              <a:t> "Direitos Creditórios Over90" Direitos Creditórios relativamente aos quais qualquer  pagamento devido esteja inadimplente por período  superior a 90 (noventa) dias após a data inicialmente  prevista para pagamento. Não integrarão o conceito de  Direitos Creditórios Over90 os Direitos Creditórios que  tenham sido cancelados, objeto de recompra ou  resolução de cessão caso tenham ocorrido Condições  Resolutivas ou de Recompra. Os valores dos Direitos  Creditórios Over90 não serão reduzidos por baixas  btgpactual.com</a:t>
            </a:r>
          </a:p>
          <a:p>
            <a:r>
              <a:t>CNPJ 41970012000126 · Devedor e consignação · Regulamento · ID 1302706 · 2026-08-27 · versão 1 · p. 41 · 5.1.4 · https://fnet.bmfbovespa.com.br/fnet/publico/visualizarDocumento?id=1302706</a:t>
            </a:r>
          </a:p>
          <a:p>
            <a:r>
              <a:t>CNPJ 41970012000126 · Devedor e consignação · Excerto da fonte:</a:t>
            </a:r>
          </a:p>
          <a:p>
            <a:r>
              <a:t>5.1.4. Os Direitos Creditórios serão originados por CCBs emitidas no âmbito da concessão de Crédito  Parcelado ou Empréstimo Pessoal pela Instituição Financeira MeLi aos Devedores, sendo que os Direitos  Creditórios deverão ser representados pelos Documentos Comprobatórios.</a:t>
            </a:r>
          </a:p>
          <a:p>
            <a:r>
              <a:t>CNPJ 41970012000126 · Devedor e consignação · Regulamento · ID 1302706 · 2026-08-27 · versão 1 · p. 47 · 5.4.1.1 · https://fnet.bmfbovespa.com.br/fnet/publico/visualizarDocumento?id=1302706</a:t>
            </a:r>
          </a:p>
          <a:p>
            <a:r>
              <a:t>CNPJ 41970012000126 · Devedor e consignação · Excerto da fonte:</a:t>
            </a:r>
          </a:p>
          <a:p>
            <a:r>
              <a:t>5.4.1.1. Os Direitos Creditórios serão individualmente representados por CCBs originadas da  concessão de Crédito Parcelado ou Empréstimo Pessoal pela Instituição Financeira MeLi aos Devedores.</a:t>
            </a:r>
          </a:p>
          <a:p>
            <a:r>
              <a:t>CNPJ 41970012000126 · Devedor e consignação · Condição: Documentos atuais selecionados no inventário por categoria/escopo; a data documental isolada não comprova vigência jurídica.</a:t>
            </a:r>
          </a:p>
          <a:p>
            <a:r>
              <a:t>CNPJ 41970012000126 · Devedor e consignação · Versão e prevalência: Documentos atuais selecionados no inventário por categoria/escopo; a data documental isolada não comprova vigência jurídica.</a:t>
            </a:r>
          </a:p>
          <a:p>
            <a:r>
              <a:t>CNPJ 41970012000126 · Devedor e consignação · Resumo do histórico: {"count": 12, "dates": ["2025-12-19", "2025-12-31"], "document_count": 3, "sources": [{"document_id": "1151156", "title": "Demonstrações Financeiras", "reference_date": "2025-12-31", "version": "1", "page": 17, "url": "https://fnet.bmfbovespa.com.br/fnet/publico/visualizarDocumento?id=1151156", "sha256": "04099e318871fbf25478d1ed88b19c4c6c6af84d9811507e8df48f7d824c6ec8"}, {"document_id": "1077333", "title": "AGE", "reference_date": "2025-12-19", "version": "1", "page": 53, "clause": "5.4.1.1", "url": "https://fnet.bmfbovespa.com.br/fnet/publico/visualizarDocumento?id=1077333", "sha256": "a9a25c5f8a0c493373a2157221109466cbc86e5f44f623997bba18ca14892751"}, {"document_id": "1077334", "title": "Regulamento", "reference_date": "2025-12-19", "version": "1", "page": 53, "clause": "5.4.1.1", "url": "https://fnet.bmfbovespa.com.br/fnet/publico/visualizarDocumento?id=1077334", "sha256": "a9a25c5f8a0c493373a2157221109466cbc86e5f44f623997bba18ca14892751"}], "reference": {"path": "history/41970012000126.json", "criterion_id": "debtor", "total_count": 12, "preview_count": 3, "full_text_deferred": true, "sha256": "229578c6b833b0633051fe7d357f4fcc74589dcf37d7750032517e03ec89ee60"}}</a:t>
            </a:r>
          </a:p>
          <a:p>
            <a:r>
              <a:t>CNPJ 41970012000126 · Elegibilidade · Regulamento · ID 1302706 · 27/08/2026 · versão Regulamento27/08/2026 · p. 43 · 5.2.1(i)–(v) · https://fnet.bmfbovespa.com.br/fnet/publico/visualizarDocumento?id=1302706</a:t>
            </a:r>
          </a:p>
          <a:p>
            <a:r>
              <a:t>CNPJ 41970012000126 · Elegibilidade · Excerto da fonte:</a:t>
            </a:r>
          </a:p>
          <a:p>
            <a:r>
              <a:t>5.2.1. Todos e quaisquer Direitos Creditórios a serem adquiridos pelo Fundo deverão atender, na respectiva Data de Oferta de Direitos Creditórios, aos seguintes Critérios de Elegibilidade, cumulativamente (em conjunto, os "Critérios de Elegibilidade"): (i) os Direitos Creditórios tenham sido originados de operações de Crédito Parcelado ou Empréstimo Pessoal e representados por CCBs; (ii) os Direitos Creditórios não estejam inadimplidos; (iii) os Direitos Creditórios sejam compostos por, no mínimo, 1 (uma) parcela e, no máximo, de 24 (vinte e quatro) parcelas mensais de pagamen</a:t>
            </a:r>
          </a:p>
          <a:p>
            <a:r>
              <a:t>CNPJ 41970012000126 · Elegibilidade · Versão e prevalência: Leitura específica das cláusulas indicadas; condições e conflitos preservados. Seleção documental atual não comprova vigência jurídica por data isolada.</a:t>
            </a:r>
          </a:p>
          <a:p>
            <a:r>
              <a:t>CNPJ 41970012000126 · Elegibilidade · Resumo do histórico: {"count": 9, "dates": ["2025-12-19", "2025-12-31"], "document_count": 3, "sources": [{"document_id": "1151156", "title": "Demonstrações Financeiras", "reference_date": "2025-12-31", "version": "1", "page": 17, "url": "https://fnet.bmfbovespa.com.br/fnet/publico/visualizarDocumento?id=1151156", "sha256": "04099e318871fbf25478d1ed88b19c4c6c6af84d9811507e8df48f7d824c6ec8"}, {"document_id": "1077333", "title": "AGE", "reference_date": "2025-12-19", "version": "1", "page": 54, "clause": "5.4.3.1", "url": "https://fnet.bmfbovespa.com.br/fnet/publico/visualizarDocumento?id=1077333", "sha256": "a9a25c5f8a0c493373a2157221109466cbc86e5f44f623997bba18ca14892751"}, {"document_id": "1077334", "title": "Regulamento", "reference_date": "2025-12-19", "version": "1", "page": 54, "clause": "5.4.3.1", "url": "https://fnet.bmfbovespa.com.br/fnet/publico/visualizarDocumento?id=1077334", "sha256": "a9a25c5f8a0c493373a2157221109466cbc86e5f44f623997bba18ca14892751"}], "reference": {"path": "history/41970012000126.json", "criterion_id": "eligibility", "total_count": 9, "preview_count": 3, "full_text_deferred": true, "sha256": "229578c6b833b0633051fe7d357f4fcc74589dcf37d7750032517e03ec89ee60"}}</a:t>
            </a:r>
          </a:p>
          <a:p>
            <a:r>
              <a:t>CNPJ 41970012000126 · Limites por contrato e devedor · Regulamento · ID 1302706 · 2026-08-27 · versão 1 · p. 42 · 5.1.6.3 · https://fnet.bmfbovespa.com.br/fnet/publico/visualizarDocumento?id=1302706</a:t>
            </a:r>
          </a:p>
          <a:p>
            <a:r>
              <a:t>CNPJ 41970012000126 · Limites por contrato e devedor · Excerto da fonte:</a:t>
            </a:r>
          </a:p>
          <a:p>
            <a:r>
              <a:t>5.1.6.3. Sem prejuízo do disposto nos itens 5.1.6.1 e 5.1.6.2 acima, o Mercado Pago, diretamente ou  por meio de qualquer entidade integrante de seu grupo econômico e/ou veículo de investimento estruturado  por entidade do grupo econômico da MeLi, terá a opção de adquirir até a Data Limite de Investimento em  Direitos Creditórios, nos termos previstos no Contrato de Agente de Recebimento, Direitos Creditórios  Adquiridos, desde que: (i) notifique o Gestor a respeito do exercício da Opção de Compra de Direitos  Creditórios até a Data Base 1 do mês correspondente; (ii) considerada pro forma a aquisição pretendida,  não haja desenquadramento da Senioridade Máxima; e (iii) tal aquisição não acarrete na cura de um Evento  de Step-Down ("Opção de Compra de Direitos Creditórios"). O preço de aquisição dos Direitos Creditórios  objeto da Opção de Compra dos Direitos Creditórios será o maior entre (i) o valor de mercado de tais  Direitos Creditórios e (ii) o equivalente ao valor presente do respectivo Direito Creditório, deduzido de  quaisquer provisões para perdas (incluindo provisão para devedores duvidosos – PDD) constituídas pelo  Fundo em relação a tal Direito Creditório, de acordo com a regulamentação aplicável e as políticas contábeis  do Fundo. A Opção de Compra de Direitos Creditórios nos termos deste item estará limitada a 10% (dez  por cento) do Valor Máximo de Investimento Sênior, de forma agregada ou individual, exceto (a) em caso  de deliberação, em Assembleia Geral de Cotistas, pela amortização integral antecipada das Cotas Seniores,  ou (b) caso esteja em curso amortização antecipada extraordinária das Cotas nos termos do item 12.4  abaixo, ou (c) caso os referidos Direitos Creditórios Adquiridos estejam vencidos e não pagos há mais de  90 (noventa) dias, casos em que a Opção de Compra de Direitos Creditórios poderá ser exercida  independentemente do limite de 10% (dez por cento) descrito acima.</a:t>
            </a:r>
          </a:p>
          <a:p>
            <a:r>
              <a:t>CNPJ 41970012000126 · Limites por contrato e devedor · Regulamento · ID 1302706 · 2026-08-27 · versão 1 · p. 37 · https://fnet.bmfbovespa.com.br/fnet/publico/visualizarDocumento?id=1302706</a:t>
            </a:r>
          </a:p>
          <a:p>
            <a:r>
              <a:t>CNPJ 41970012000126 · Limites por contrato e devedor · Excerto da fonte:</a:t>
            </a:r>
          </a:p>
          <a:p>
            <a:r>
              <a:t>"Valor de Redução Evento de significa, na ocorrência de um Evento de Step-Down  Step-Down Nível 1" Nível 1 nos termos do item (i) da definição de Evento de  Step-Down Nível 1, 5% (cinco por cento);</a:t>
            </a:r>
          </a:p>
          <a:p>
            <a:r>
              <a:t> Na ocorrência de um Evento de Step-Down Nível 1 nos  termos do item (ii) da definição de Evento de Step-Down  Nível 1, o Índice de Inadimplência menos 8% (oito por  cento).</a:t>
            </a:r>
          </a:p>
          <a:p>
            <a:r>
              <a:t> "Valor de Redução Evento de significa, na ocorrência de um Evento de Step-Down  Step-Down Nível 2" Nível 2, 15% (quinze por cento).</a:t>
            </a:r>
          </a:p>
          <a:p>
            <a:r>
              <a:t> "Valor Limite de Remuneração tem o significado atribuído no Contrato de Cobrança.</a:t>
            </a:r>
          </a:p>
          <a:p>
            <a:r>
              <a:t> e Reembolso"  "Valor Máximo de significa o valor máximo de investimento em Cotas  Investimento Mezanino" Subordinadas Mezanino, equivalente, de forma agregada  entre as Subclasses de Cotas Subordinadas Mezanino, a  R$400.000.000,00 (quatrocentos milhões de reais),  observadas as disposições referentes ao "Capital  Comprometido Individual do Subscritor" previstas em  cada Compromisso de Investimento e/ou Boletim de  Subscrição.</a:t>
            </a:r>
          </a:p>
          <a:p>
            <a:r>
              <a:t> "Valor Máximo de O valor máximo de investimento previsto em cada  Investimento Sênior" Compromisso de Investimento Sênior e no Apêndice da  respectiva emissão de Cotas Seniores, observadas as  disposições referentes ao "Capital Comprometido  Individual do Subscritor" previstas em cada  Compromisso de Investimento Sênior.</a:t>
            </a:r>
          </a:p>
          <a:p>
            <a:r>
              <a:t> "Valor Nominal Unitário de significa o valor nominal unitário de Emissão das Cotas,  Emissão" correspondente a R$1.000,00 (mil reais) por Cota, na  respectiva Data da Primeira Integralização, observado o  disposto no respectivo Apêndice.</a:t>
            </a:r>
          </a:p>
          <a:p>
            <a:r>
              <a:t> "Valor Principal" significa, em relação a qualquer Direito Creditório, o  saldo devido e não pago do valor principal do crédito  (sem considerar quaisquer valores decorrentes de</a:t>
            </a:r>
          </a:p>
          <a:p>
            <a:r>
              <a:t>CNPJ 41970012000126 · Limites por contrato e devedor · Condição: Documentos atuais selecionados no inventário por categoria/escopo; a data documental isolada não comprova vigência jurídica.</a:t>
            </a:r>
          </a:p>
          <a:p>
            <a:r>
              <a:t>CNPJ 41970012000126 · Limites por contrato e devedor · Motivo: Cláusula primária localizada e citada, mas sua lista/condições extensas não admitem uma síntese literal curta confirmada. O trecho integral permanece nas fontes.</a:t>
            </a:r>
          </a:p>
          <a:p>
            <a:r>
              <a:t>CNPJ 41970012000126 · Limites por contrato e devedor · Versão e prevalência: Documentos atuais selecionados no inventário por categoria/escopo; a data documental isolada não comprova vigência jurídica.</a:t>
            </a:r>
          </a:p>
          <a:p>
            <a:r>
              <a:t>CNPJ 41970012000126 · Limites por contrato e devedor · Resumo do histórico: {"count": 21, "dates": ["2025-12-19", "2025-12-31"], "document_count": 3, "sources": [{"document_id": "1151156", "title": "Demonstrações Financeiras", "reference_date": "2025-12-31", "version": "1", "page": 25, "url": "https://fnet.bmfbovespa.com.br/fnet/publico/visualizarDocumento?id=1151156", "sha256": "04099e318871fbf25478d1ed88b19c4c6c6af84d9811507e8df48f7d824c6ec8"}, {"document_id": "1077333", "title": "AGE", "reference_date": "2025-12-19", "version": "1", "page": 46, "clause": "5.1.5.3", "url": "https://fnet.bmfbovespa.com.br/fnet/publico/visualizarDocumento?id=1077333", "sha256": "a9a25c5f8a0c493373a2157221109466cbc86e5f44f623997bba18ca14892751"}, {"document_id": "1077334", "title": "Regulamento", "reference_date": "2025-12-19", "version": "1", "page": 46, "clause": "5.1.5.3", "url": "https://fnet.bmfbovespa.com.br/fnet/publico/visualizarDocumento?id=1077334", "sha256": "a9a25c5f8a0c493373a2157221109466cbc86e5f44f623997bba18ca14892751"}], "reference": {"path": "history/41970012000126.json", "criterion_id": "ticket", "total_count": 21, "preview_count": 3, "full_text_deferred": true, "sha256": "229578c6b833b0633051fe7d357f4fcc74589dcf37d7750032517e03ec89ee60"}}</a:t>
            </a:r>
          </a:p>
          <a:p>
            <a:r>
              <a:t>CNPJ 41970012000126 · Prazo dos créditos e carência · Regulamento · ID 1302706 · 2026-08-27 · versão 1 · p. 5 · https://fnet.bmfbovespa.com.br/fnet/publico/visualizarDocumento?id=1302706</a:t>
            </a:r>
          </a:p>
          <a:p>
            <a:r>
              <a:t>CNPJ 41970012000126 · Prazo dos créditos e carência · Excerto da fonte:</a:t>
            </a:r>
          </a:p>
          <a:p>
            <a:r>
              <a:t>Em que:</a:t>
            </a:r>
          </a:p>
          <a:p>
            <a:r>
              <a:t> N = número total de meses remanescentes  n = mês de referência  Cn = fluxo de caixa dos Direitos Creditórios Adquiridos  Adimplentes no mês "n", considerando para esse cálculo  a premissa de perda conforme Matriz de Perda, separados  por tipo de produto e por prazo original, e aplicação do  múltiplo MS  r = taxa interna de retorno mensal, sendo certo que, no  caso dos Direitos Creditórios que sejam Direitos  Creditórios CCB DE, para r será apurado com base em  juros mensais equivalentes a 50% (cinquenta por cento)  da taxa de juros mensal contratada nas respectivas CCBs  Taxa Estressada das Cotas Seniores = em qualquer Data  Base, a soma de (i) 5,00% (cinco por cento); e (ii) o  Benchmark Sênior.</a:t>
            </a:r>
          </a:p>
          <a:p>
            <a:r>
              <a:t> PMP = em qualquer Data Base, o prazo médio ponderado,  em anos, dos Direitos Creditórios Adquiridos  Adimplentes, separados por tipo de produto e por prazo  original, calculado na forma de planilha acordada entre as  partes.</a:t>
            </a:r>
          </a:p>
          <a:p>
            <a:r>
              <a:t> O Advance Rate Ponderado será calculado pelo Gestor  com base no Valor Agregado dos Direitos Creditórios em  cada Data Base.</a:t>
            </a:r>
          </a:p>
          <a:p>
            <a:r>
              <a:t> "Agência Classificadora de significa a agência de classificação de risco autorizada a  Risco" prestar tais serviços junto a CVM que tenha sido  contratada pelo Fundo para avaliação de risco das Cotas,  conforme aplicável, que poderá ser escolhida pelo Gestor  dentre as seguintes empresas: Austin Rating Serviços  Financeiros Ltda., Standard &amp; Poor's Ratings do Brasil  Ltda., Fitch Ratings Brasil Ltda., Moody's América  Latina Ltda. ou Liberum Ratings Serviços Financeiros  Ltda., caso aplicável.</a:t>
            </a:r>
          </a:p>
          <a:p>
            <a:r>
              <a:t> "Agente de Cobrança" significa o Mercado Pago, contratado para prestação dos  serviços de cobrança dos Direitos Creditórios vencidos e  não pagos, nos termos e condições descritos neste  Regulamento e no Contrato de Cobrança.</a:t>
            </a:r>
          </a:p>
          <a:p>
            <a:r>
              <a:t> btgpactual.com</a:t>
            </a:r>
          </a:p>
          <a:p>
            <a:r>
              <a:t>CNPJ 41970012000126 · Prazo dos créditos e carência · Condição: Documentos atuais selecionados no inventário por categoria/escopo; a data documental isolada não comprova vigência jurídica.</a:t>
            </a:r>
          </a:p>
          <a:p>
            <a:r>
              <a:t>CNPJ 41970012000126 · Prazo dos créditos e carência · Versão e prevalência: Documentos atuais selecionados no inventário por categoria/escopo; a data documental isolada não comprova vigência jurídica.</a:t>
            </a:r>
          </a:p>
          <a:p>
            <a:r>
              <a:t>CNPJ 41970012000126 · Prazo dos créditos e carência · Resumo do histórico: {"count": 16, "dates": ["2025-05-19", "2025-12-19"], "document_count": 3, "sources": [{"document_id": "1077333", "title": "AGE", "reference_date": "2025-12-19", "version": "1", "page": 6, "url": "https://fnet.bmfbovespa.com.br/fnet/publico/visualizarDocumento?id=1077333", "sha256": "a9a25c5f8a0c493373a2157221109466cbc86e5f44f623997bba18ca14892751"}, {"document_id": "1077334", "title": "Regulamento", "reference_date": "2025-12-19", "version": "1", "page": 6, "url": "https://fnet.bmfbovespa.com.br/fnet/publico/visualizarDocumento?id=1077334", "sha256": "a9a25c5f8a0c493373a2157221109466cbc86e5f44f623997bba18ca14892751"}, {"document_id": "909705", "title": "AGE", "reference_date": "2025-05-19", "version": "1", "page": 1, "url": "https://fnet.bmfbovespa.com.br/fnet/publico/visualizarDocumento?id=909705", "sha256": "df2d11536980e792e2d163e3c5626c8522cad30889865c268c49d851af4b7970"}], "reference": {"path": "history/41970012000126.json", "criterion_id": "term", "total_count": 16, "preview_count": 3, "full_text_deferred": true, "sha256": "229578c6b833b0633051fe7d357f4fcc74589dcf37d7750032517e03ec89ee60"}}</a:t>
            </a:r>
          </a:p>
          <a:p>
            <a:r>
              <a:t>CNPJ 41970012000126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"41970012000126", "competence": "08/2026", "path": "data/documentary_diligence/ime/41970012000126_202608.json", "reported_fund_cnpj": "41970012000126", "reported_class_cnpj": "41970012000126", "reported_fund_cnpj_raw": "41970012000126", "reported_class_cnpj_raw": "41970012000126",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"1318098", "version": 1, "delivered_at": "14/09/2026 14:44", "url": "https://fnet.bmfbovespa.com.br/fnet/publico/exibirDocumento?id=1318098", "declared_fields_sha256": "dd9e87c71c92c3781738669fcec53c651e2aeb5d75dfbae1e3b41b46f4ce9e8d", "snapshot_path": "data/documentary_diligence/ime/41970012000126_202608.json"}, "headroom": null, "limit": null, "comparison_required": true, "context_formula": "", "context_value": null, "context_unit": ""}</a:t>
            </a:r>
          </a:p>
          <a:p>
            <a:r>
              <a:t>CNPJ 41970012000126 · Concentração por devedor, cedente e grupo · AGO/E · ID 691625 · 2024-07-03 · versão 1 · p. 60 · 5.1.1 · https://fnet.bmfbovespa.com.br/fnet/publico/visualizarDocumento?id=691625</a:t>
            </a:r>
          </a:p>
          <a:p>
            <a:r>
              <a:t>CNPJ 41970012000126 · Concentração por devedor, cedente e grupo · Excerto da fonte:</a:t>
            </a:r>
          </a:p>
          <a:p>
            <a:r>
              <a:t>5.1.1. Observado o disposto na Instrução CVM 356, o Fundo somente poderá  adquirir Direitos Creditórios e outros ativos de um mesmo Devedor, ou de coobrigação  de uma mesma pessoa ou entidade, no limite de 20% (vinte por cento) do Patrimônio</a:t>
            </a:r>
          </a:p>
          <a:p>
            <a:r>
              <a:t>CNPJ 41970012000126 · Concentração por devedor, cedente e grupo · AGO/E · ID 691625 · 2024-07-03 · versão 1 · p. 61 · 5.1.3 · https://fnet.bmfbovespa.com.br/fnet/publico/visualizarDocumento?id=691625</a:t>
            </a:r>
          </a:p>
          <a:p>
            <a:r>
              <a:t>CNPJ 41970012000126 · Concentração por devedor, cedente e grupo · Excerto da fonte:</a:t>
            </a:r>
          </a:p>
          <a:p>
            <a:r>
              <a:t>5.1.3. Relativamente às sociedades empresárias responsáveis por mais de 20%  (vinte por cento) dos Direitos Creditórios que integrem o patrimônio do Fundo, serão  dispensados o arquivamento na CVM e a elaboração de demonstrações financeiras na  forma prevista no subitem (iii) do item (1) do item 5.1.1 acima, desde que as Cotas do  Fundo: (1) sejam objeto de oferta pública de distribuição que tenha como público  destinatário exclusivamente sociedades integrantes do mesmo grupo econômico, e  seus respectivos administradores e acionistas controladores, sendo vedada a  negociação das Cotas no mercado secundário; ou (2) sejam objeto de oferta pública,  devendo ser negociadas no mercado secundário exclusivamente entre Investidores  Profissionais.</a:t>
            </a:r>
          </a:p>
          <a:p>
            <a:r>
              <a:t>CNPJ 41970012000126 · Concentração por devedor, cedente e grupo · AGO/E · ID 691625 · 2024-07-03 · versão 1 · p. 133 · 17.6.1 · https://fnet.bmfbovespa.com.br/fnet/publico/visualizarDocumento?id=691625</a:t>
            </a:r>
          </a:p>
          <a:p>
            <a:r>
              <a:t>CNPJ 41970012000126 · Concentração por devedor, cedente e grupo · Excerto da fonte:</a:t>
            </a:r>
          </a:p>
          <a:p>
            <a:r>
              <a:t>17.6.1. Sem prejuízo do disposto no item 17.6 acima, o Gestor será responsável  pelas seguintes atividades:</a:t>
            </a:r>
          </a:p>
          <a:p>
            <a:r>
              <a:t>(i) calcular e acompanhar, na periodicidade estabelecida neste Regulamento e  no Contrato de Gestão:</a:t>
            </a:r>
          </a:p>
          <a:p>
            <a:r>
              <a:t> a. o Índice de Inadimplência;</a:t>
            </a:r>
          </a:p>
          <a:p>
            <a:r>
              <a:t> b. a Média Móvel do Índice de Inadimplência;</a:t>
            </a:r>
          </a:p>
          <a:p>
            <a:r>
              <a:t> c. o Índice de Juros Excedente;</a:t>
            </a:r>
          </a:p>
          <a:p>
            <a:r>
              <a:t> d. a Média Móvel do Índice de Juros Excedente;</a:t>
            </a:r>
          </a:p>
          <a:p>
            <a:r>
              <a:t> e. o Índice Financeiro Avaliação e o Índice Financeiro Amortização  Acelerada, com base nas informações prestadas pelo Mercado Pago  no Relatório de Índice Financeiro;</a:t>
            </a:r>
          </a:p>
          <a:p>
            <a:r>
              <a:t> f. o atendimento da Senioridade Máxima;</a:t>
            </a:r>
          </a:p>
          <a:p>
            <a:r>
              <a:t> g. o Valor Ajustado Agregado dos Direitos Creditórios considerando os  Limites de Concentração previstos no Anexo VI deste Regulamento;</a:t>
            </a:r>
          </a:p>
          <a:p>
            <a:r>
              <a:t> e</a:t>
            </a:r>
          </a:p>
          <a:p>
            <a:r>
              <a:t>CNPJ 41970012000126 · Concentração por devedor, cedente e grupo · Condição: Trechos do documento específico identificado com data mais recente; vigência jurídica não inferida.</a:t>
            </a:r>
          </a:p>
          <a:p>
            <a:r>
              <a:t>CNPJ 41970012000126 · Concentração por devedor, cedente e grupo · Versão e prevalência: Trechos do documento específico identificado com data mais recente; vigência jurídica não inferida.</a:t>
            </a:r>
          </a:p>
          <a:p>
            <a:r>
              <a:t>CNPJ 41970012000126 · Concentração por devedor, cedente e grupo · Resumo do histórico: {"count": 11, "dates": ["2023-08-09", "2023-08-28", "2023-11-28"], "document_count": 3, "sources": [{"document_id": "559878", "title": "Regulamento", "reference_date": "2023-11-28", "version": "1", "page": 97, "clause": "17.6.1", "url": "https://fnet.bmfbovespa.com.br/fnet/publico/visualizarDocumento?id=559878", "sha256": "ae3b1bf95db29e948e7db0299d0bb6a10efb82173a1a6c7524cca9407f8ebc5e"}, {"document_id": "517362", "title": "Regulamento", "reference_date": "2023-08-28", "version": "1", "page": 97, "clause": "17.6.1", "url": "https://fnet.bmfbovespa.com.br/fnet/publico/visualizarDocumento?id=517362", "sha256": "9b072c0cbc2b6a7a318f5731c4b93772067a7c9cd65548cf795bdb00f0734023"}, {"document_id": "504544", "title": "Regulamento", "reference_date": "2023-08-09", "version": "1", "page": 97, "clause": "17.6.1", "url": "https://fnet.bmfbovespa.com.br/fnet/publico/visualizarDocumento?id=504544", "sha256": "eaaa367690469a58c25048b1fd6d3316a1163b23e98723ecb9d45335c3454e1f"}], "reference": {"path": "history/41970012000126.json", "criterion_id": "concentration", "total_count": 11, "preview_count": 3, "full_text_deferred": true, "sha256": "229578c6b833b0633051fe7d357f4fcc74589dcf37d7750032517e03ec89ee60"}}</a:t>
            </a:r>
          </a:p>
          <a:p>
            <a:r>
              <a:t>CNPJ 41970012000126 · Opção de compra de direitos creditórios · Regulamento · ID 1302706 · 27/08/2026 · versão 1 · p. 42 · 5.1.6.3 · https://fnet.bmfbovespa.com.br/fnet/publico/visualizarDocumento?id=1302706</a:t>
            </a:r>
          </a:p>
          <a:p>
            <a:r>
              <a:t>CNPJ 41970012000126 · Opção de compra de direitos creditórios · Excerto da fonte:</a:t>
            </a:r>
          </a:p>
          <a:p>
            <a:r>
              <a:t>5.1.6.3. Sem prejuízo do disposto nos itens 5.1.6.1 e 5.1.6.2 acima, o Mercado Pago, diretamente ou por meio de qualquer entidade integrante de seu grupo econômico e/ou veículo de investimento estruturado por entidade do grupo econômico da MeLi, terá a opção de adquirir até a Data Limite de Investimento em Direitos Creditórios, nos termos previstos no Contrato de Agente de Recebimento, Direitos Creditórios Adquiridos, desde que: (i) notifique o Gestor a respeito do exercício da Opção de Compra de Direitos Creditórios até a Data Base 1 do mês correspondente; (ii) considerada pro forma a aquisição pretendida, não haja desenquadramento da Senioridade Máxima; e (iii) tal aquisição não acarrete na cura de um Evento de Step-Down ("Opção de Compra de Direitos Creditórios"). O preço de aquisição dos Direitos Creditórios objeto da Opção de Compra dos Direitos Creditórios será o maior entre (i) o valor de mercado de tais Direitos Creditórios e (ii) o equivalente ao valor presente do respectivo Direito Creditório, deduzido de quaisquer provisões para perdas (incluindo provisão para devedores duvidosos – PDD) constituídas pelo Fundo em relação a tal Direito Creditório, de acordo com a regulamentação aplicável e as políticas contábeis do Fundo. A Opção de Compra de Direitos Creditórios nos termos deste item estará limitada a 10% (dez por cento) do Valor Máximo de Investimento Sênior, de forma agregada ou individual, exceto (a) em caso de deliberação, em Assembleia Geral de Cotistas, pela amortização integral antecipada das Cotas Seniores, ou (b) caso esteja em curso amortização antecipada extraordinária das Cotas nos termos do item 12.4 abaixo, ou (c) caso os referidos Direitos Creditórios Adquiridos estejam vencidos e não pagos há mais de 90 (noventa) dias, casos em que a Opção de Compra de Direitos Creditórios poderá ser exercida independentemente do limite de 10% (dez por cento) descrito acima.</a:t>
            </a:r>
          </a:p>
          <a:p>
            <a:r>
              <a:t>CNPJ 41970012000126 · Opção de compra de direitos creditórios · Condição: Preço de opção/limite de recompra não define PDD.</a:t>
            </a:r>
          </a:p>
          <a:p>
            <a:r>
              <a:t>CNPJ 41970012000126 · Opção de compra de direitos creditórios · Motivo: Não localizada uma cláusula material para este critério nos textos identificados e processados. A ausência de resultado não comprova inexistência da regra.</a:t>
            </a:r>
          </a:p>
          <a:p>
            <a:r>
              <a:t>CNPJ 41970012000126 · Opção de compra de direitos creditórios · Versão e prevalência: Leitura específica das cláusulas indicadas; condições e conflitos preservados. Seleção documental atual não comprova vigência jurídica por data isolada.</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PLGN Marketplace · vínculo CNPJ 41970012000126 · Recebíveis e aquisição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Vínculo: PLGN Marketplace · CNPJ 55563624000109 → CNPJ 41970012000126 · Regulamento · ID 1192614 · 30/04/2026 · versão Regulamento30/04/2026 · p. 11 · AnexoI4.1</a:t>
            </a:r>
          </a:p>
          <a:p>
            <a:r>
              <a:t>Condição do vínculo: {"cnpj": "41970012000126", "name": "Mercado Crédito II Brasil FIDC", "relationship": "named_investee", "exposure": "mezzanine", "position_status": "mandate_identified_position_not_quantified", "risk_note": "Mandato e classe exatos; comparar regras eIMEdo investido na competência doFIC, sem dupla contagem dePL."}</a:t>
            </a:r>
          </a:p>
          <a:p>
            <a:r>
              <a:t>CNPJ 41970012000126 · Natureza dos recebíveis · Regulamento · ID 1302706 · 2026-08-27 · versão 1 · p. 117 · https://fnet.bmfbovespa.com.br/fnet/publico/visualizarDocumento?id=1302706</a:t>
            </a:r>
          </a:p>
          <a:p>
            <a:r>
              <a:t>CNPJ 41970012000126 · Natureza dos recebíveis · Excerto da fonte:</a:t>
            </a:r>
          </a:p>
          <a:p>
            <a:r>
              <a:t>(xiv) Risco de originação. Os Direitos Creditórios a serem adquiridos pelo Fundo são decorrentes de  CCBs representativas de empréstimos contratados por meio da Plataforma Mercado Pago, as  quais são emitidas por Devedores em favor da Instituição Financeira MeLi. Na hipótese de não  originação, originação insuficiente ou indisponibilidade para aquisição pelo Fundo, por  qualquer motivo, inclusive em caso de redução ou descontinuidade das operações regulares dos  Endossantes, de Direitos Creditórios que satisfaçam os Critérios de Elegibilidade, as Condições  de Cessão e a Política de Investimento do Fundo descrita neste Regulamento, o Fundo poderá  ser incapaz de alocar a totalidade de seus recursos, o que poderá inviabilizar a realização das  Chamadas de Capital pelo Administrador, afetando negativamente a continuidade do Fundo, a  expectativa dos Cotistas com relação ao seu horizonte de investimento dos Cotistas, a  rentabilidade do Fundo e, consequentemente, o valor das Cotas.</a:t>
            </a:r>
          </a:p>
          <a:p>
            <a:r>
              <a:t>CNPJ 41970012000126 · Natureza dos recebíveis · Condição: Documentos atuais selecionados no inventário por categoria/escopo; a data documental isolada não comprova vigência jurídica.</a:t>
            </a:r>
          </a:p>
          <a:p>
            <a:r>
              <a:t>CNPJ 41970012000126 · Natureza dos recebíveis · Motivo: Cláusula primária localizada e citada, mas sua lista/condições extensas não admitem uma síntese literal curta confirmada. O trecho integral permanece nas fontes. A resposta da revisão anterior foi preservada no histórico, sem confirmação pelo documento atual.</a:t>
            </a:r>
          </a:p>
          <a:p>
            <a:r>
              <a:t>CNPJ 41970012000126 · Natureza dos recebíveis · Versão e prevalência: Documentos atuais selecionados no inventário por categoria/escopo; a data documental isolada não comprova vigência jurídica.</a:t>
            </a:r>
          </a:p>
          <a:p>
            <a:r>
              <a:t>CNPJ 41970012000126 · Natureza dos recebíveis · Resumo do histórico: {"count": 17, "dates": ["2025-12-19", "2026-08-27"], "document_count": 3, "sources": [{"document_id": "1302706", "title": "Regulamento", "reference_date": "2026-08-27", "version": "1", "page": "20", "url": "https://fnet.bmfbovespa.com.br/fnet/publico/visualizarDocumento?id=1302706", "sha256": "b113727bc2bc3b1a6b0d18f02bf2143068fd912df2d83cbb91ab44fcb30a3379"}, {"document_id": "1077333", "title": "AGE", "reference_date": "2025-12-19", "version": "1", "page": 143, "url": "https://fnet.bmfbovespa.com.br/fnet/publico/visualizarDocumento?id=1077333", "sha256": "a9a25c5f8a0c493373a2157221109466cbc86e5f44f623997bba18ca14892751"}, {"document_id": "1077334", "title": "Regulamento", "reference_date": "2025-12-19", "version": "1", "page": 143, "url": "https://fnet.bmfbovespa.com.br/fnet/publico/visualizarDocumento?id=1077334", "sha256": "a9a25c5f8a0c493373a2157221109466cbc86e5f44f623997bba18ca14892751"}], "reference": {"path": "history/41970012000126.json", "criterion_id": "receivables", "total_count": 17, "preview_count": 3, "full_text_deferred": true, "sha256": "229578c6b833b0633051fe7d357f4fcc74589dcf37d7750032517e03ec89ee60"}}</a:t>
            </a:r>
          </a:p>
          <a:p>
            <a:r>
              <a:t>CNPJ 41970012000126 · Originador e endossante · Regulamento · ID 1302706 · 2026-08-27 · versão 1 · p. 20 · https://fnet.bmfbovespa.com.br/fnet/publico/visualizarDocumento?id=1302706</a:t>
            </a:r>
          </a:p>
          <a:p>
            <a:r>
              <a:t>CNPJ 41970012000126 · Originador e endossante · Excerto da fonte:</a:t>
            </a:r>
          </a:p>
          <a:p>
            <a:r>
              <a:t>COVID não dará causa à ocorrência de e não poderá ser  interpretado como um Efeito Adverso Relevante.</a:t>
            </a:r>
          </a:p>
          <a:p>
            <a:r>
              <a:t> "Emissão" significa cada emissão de Cotas pelo Fundo, incluindo as  Cotas Seniores, as Cotas Subordinadas Mezanino e as  Cotas Subordinadas Júnior.</a:t>
            </a:r>
          </a:p>
          <a:p>
            <a:r>
              <a:t> "Empréstimo Pessoal" significa o crédito pessoal, sem finalidade específica,  concedido aos Devedores CCB Consumidor pela  Instituição Financeira MeLi, com intermediação do  Mercado Pago, na qualidade de correspondente bancário,  por meio da emissão das CCBs.</a:t>
            </a:r>
          </a:p>
          <a:p>
            <a:r>
              <a:t> "Endividamento" significa, com relação a qualquer Pessoa, sem  duplicação: (i) todo o endividamento decorrente da  captação de empréstimos; (ii) todas as obrigações  evidenciadas por títulos, debêntures, notas ou  instrumentos similares; (iii) qualquer parte do preço de  compra devido pela respectiva Pessoa em razão de  aquisição de bens ou serviços, exceto por contas a pagar  decorrentes do curso normal de seus negócios; (iv) todas  as obrigações de tal Pessoa na sua qualidade de  arrendatária sob arrendamento financeiro; (v) todo  endividamento de terceiros em relação ao qual tal Pessoa  fornece uma garantia, fiança, aval ou responsabilidade  solidária, ou que é garantido por um ônus ou gravame  sobre qualquer ativo de tal Pessoa, até o valor de tal  ativo, conforme registrado no balanço mais recente de tal  Pessoa; (vi) emissão de títulos de crédito por conta de tal  Pessoa; (vii) obrigações diretas ou contingentes de tal  Pessoa decorrentes de qualquer transação com  derivativos, em cada caso, exceto caso tenham sido  efetuadas para fins de hedging, ou seja, celebradas no  curso normal dos negócios para fins não especulativos; e</a:t>
            </a:r>
          </a:p>
          <a:p>
            <a:r>
              <a:t> (viii) quaisquer outras obrigações ou contingências que  sejam consideradas como endividamento no balanço da  Pessoa, nos termos das normas financeiras aplicáveis,  observado que as operações de securitização nas quais  tal Pessoa participe como originadora ou cedente ou  endossante de ativos serão consideradas como  "endividamento" de uma Pessoa.</a:t>
            </a:r>
          </a:p>
          <a:p>
            <a:r>
              <a:t> "Endossante" ou "Endossantes" significa a Instituição Financeira MeLi, as entidades  integrantes do grupo Mercado Pago e/ou veículos ou  fundos de investimento cujas cotas sejam detidas por  entidades integrantes do grupo Mercado Pago que  tenham, em sua carteira, Direitos Creditórios passíveis  de endosso ao Fundo e que tenham celebrado Contratos  de Endosso com o Fundo.</a:t>
            </a:r>
          </a:p>
          <a:p>
            <a:r>
              <a:t> "Endosso" significa o endosso em preto de cada CCB representativa  de Direito Creditório Adquirido, realizado por um  Endossante em favor do Fundo e formalizado também  por meio de Termo de Endosso emitido a partir dos</a:t>
            </a:r>
          </a:p>
          <a:p>
            <a:r>
              <a:t>CNPJ 41970012000126 · Originador e endossante · Regulamento · ID 1302706 · 2026-08-27 · versão 1 · p. 44 · 5.2.4 · https://fnet.bmfbovespa.com.br/fnet/publico/visualizarDocumento?id=1302706</a:t>
            </a:r>
          </a:p>
          <a:p>
            <a:r>
              <a:t>CNPJ 41970012000126 · Originador e endossante · Excerto da fonte:</a:t>
            </a:r>
          </a:p>
          <a:p>
            <a:r>
              <a:t>5.2.4. Além de atender aos Critérios de Elegibilidade, todos e quaisquer Direitos Creditórios a serem  adquiridos pelo Fundo deverão atender, na respectiva Data de Oferta de Direitos Creditórios, às seguintes  Condições de Cessão, cumulativamente (em conjunto, as "Condições de Cessão"):</a:t>
            </a:r>
          </a:p>
          <a:p>
            <a:r>
              <a:t>(i) os Direitos Creditórios tenham sido originados, incluindo em relação à taxa de juros estabelecida  (apenas em relação aos Direitos Creditórios), pelo respectivo Endossante no curso ordinário de  seus negócios e dos negócios do Mercado Pago, em observância à política de concessão de  crédito do Mercado Pago vigente à época;</a:t>
            </a:r>
          </a:p>
          <a:p>
            <a:r>
              <a:t>(ii) os Direitos Creditórios estejam livres e desembaraçados de quaisquer ônus ou gravames;</a:t>
            </a:r>
          </a:p>
          <a:p>
            <a:r>
              <a:t>(iii) os Direitos Creditórios ofertados não tenham sido selecionados para venda ao Fundo de maneira  prejudicial ao Fundo e/ou aos Cotistas Seniores, no melhor conhecimento do respectivo  Endossante e/ou do Mercado Pago;</a:t>
            </a:r>
          </a:p>
          <a:p>
            <a:r>
              <a:t>(iv) os Direitos Creditórios representem obrigações legais e válidas de cada Devedor, exequíveis  contra o respectivo Devedor de acordo com seus termos, ressalvadas regras gerais de  insolvência, conforme aplicáveis;</a:t>
            </a:r>
          </a:p>
          <a:p>
            <a:r>
              <a:t>(v) os Devedores não sejam Partes Relacionadas dos Endossantes e/ou da MeLi, sendo permitido,  no entanto, Devedores que sejam funcionários do respectivo Endossante, da MeLi e/ou de suas  Partes Relacionadas;</a:t>
            </a:r>
          </a:p>
          <a:p>
            <a:r>
              <a:t>(vi) os Devedores não sejam Partes Relacionadas de uma entidade governamental, sendo permitido,  no entanto, Devedores que sejam funcionários de tal entidade;</a:t>
            </a:r>
          </a:p>
          <a:p>
            <a:r>
              <a:t>(vii) no melhor conhecimento do Mercado Pago, o respectivo Devedor não tenha questionado a  existência, validade ou exequibilidade da CCB ou dos instrumentos de garantia, e não tenha  oposto nenhuma exceção ao respectivo Endossante, sendo certo que questionamentos realizados  no âmbito da Plataforma Mercado Pago e/ou Plataforma Mercado Libre não serão considerados  para fins da verificação do atendimento a este item;</a:t>
            </a:r>
          </a:p>
          <a:p>
            <a:r>
              <a:t>(viii) os Direitos Creditórios e respectivos Documentos Comprobatórios não tenham sido novados,  aditados ou modificados de qualquer forma, exceto por quaisquer alterações acordadas de boa-  fé entre o Mercado Pago e o Gestor e aprovadas pelos Cotistas Seniores reunidos em Assembleia  Geral de Cotistas anteriormente à aquisição do respectivo Direito Creditório pelo Fundo;</a:t>
            </a:r>
          </a:p>
          <a:p>
            <a:r>
              <a:t>CNPJ 41970012000126 · Originador e endossante · Regulamento · ID 1302706 · 2026-08-27 · versão 1 · p. 23 · https://fnet.bmfbovespa.com.br/fnet/publico/visualizarDocumento?id=1302706</a:t>
            </a:r>
          </a:p>
          <a:p>
            <a:r>
              <a:t>CNPJ 41970012000126 · Originador e endossante · Excerto da fonte:</a:t>
            </a:r>
          </a:p>
          <a:p>
            <a:r>
              <a:t>"Evento Regulatório" significa qualquer mudança na lei ou na regulamentação  aplicável ou o início formal ou desenvolvimento de  qualquer procedimento legal ou regulatório, em qualquer  caso, novo ou existente, ou, ainda, em qualquer  julgamento ou decisão relacionada aos Direitos  Creditórios, aos Endossantes, ao Mercado Pago, ao  Fundo ou ao setor de empréstimos pessoais, que resulte  ou razoavelmente possa resultar em um Efeito Adverso  Relevante durante a vigência das Cotas Seniores e/ou das  Cotas Subordinadas Mezanino, e cuja reversão, anulação  ou inaplicabilidade não seja razoavelmente esperada,  com base em parecer de escritório de advocacia  independente contratado pelos Cotistas Seniores e/ou  pelos Cotistas Subordinados Mezanino, que confirme a  alteração em lei ou regulamentação ou determinação de  autoridade competente, e fundamente a possibilidade de  resultar em Efeito Adverso Relevante.</a:t>
            </a:r>
          </a:p>
          <a:p>
            <a:r>
              <a:t> "FGC" significa o Fundo Garantidor de Créditos.</a:t>
            </a:r>
          </a:p>
          <a:p>
            <a:r>
              <a:t> "Fundo" significa o MERCADO CRÉDITO II BRASIL FUNDO DE  INVESTIMENTO EM DIREITOS CREDITÓRIOS DE  RESPONSABILIDADE LIMITADA, inscrito no CNPJ/MF  sob o nº 41.970.012/0001-26.</a:t>
            </a:r>
          </a:p>
          <a:p>
            <a:r>
              <a:t> "FUNDOS21" significa o Fundos21 – Módulo de Fundos, ambiente de  negociação secundária, administrado e operacionalizado  pela B3.</a:t>
            </a:r>
          </a:p>
          <a:p>
            <a:r>
              <a:t> "Gestor" significa a POLÍGONO CAPITAL LTDA., sociedade de  responsabilidade limitada, com sede no município de São  Paulo, estado de São Paulo, na Avenida Brigadeiro Faria  Lima, n° 2601, 12º andar, Jardim Paulistano, CEP</a:t>
            </a:r>
          </a:p>
          <a:p>
            <a:r>
              <a:t> 01.452-000, inscrita no CNPJ/MF sob  nº 43.241.789/0001-85, autorizada à prestação do serviço  de gestão de carteiras de valores mobiliários pela CVM,  de acordo com o Ato Declaratório CVM nº 19.368,  expedido em 07 de dezembro de 2021.</a:t>
            </a:r>
          </a:p>
          <a:p>
            <a:r>
              <a:t> "Histórico por Safra" tem o significado a ele atribuído no COMPLEMENTO  XV.</a:t>
            </a:r>
          </a:p>
          <a:p>
            <a:r>
              <a:t> "Histórico de Performance da tem o significado a ele atribuído no inciso (viii) do item  Safra" 15.2.3.</a:t>
            </a:r>
          </a:p>
          <a:p>
            <a:r>
              <a:t> "Inadimplemento do Agente de tem o significado descrito no Contrato de Cobrança.</a:t>
            </a:r>
          </a:p>
          <a:p>
            <a:r>
              <a:t> Cobrança"  "Inadimplemento do Agente de tem o significado descrito no Contrato de Agente de  Recebimento" Recebimento.</a:t>
            </a:r>
          </a:p>
          <a:p>
            <a:r>
              <a:t> "Inconsistência Relevante" significa a verificação, pelo Custodiante, conforme  contratado pelo Gestor, no procedimento de verificação  de lastro, de existência de inconsistências no lastro de  Direitos Creditórios cuja soma do Valor Principal seja  igual ou superior a 2% (dois por cento) do Valor  Agregado de Investimento Sênior.</a:t>
            </a:r>
          </a:p>
          <a:p>
            <a:r>
              <a:t> btgpactual.com</a:t>
            </a:r>
          </a:p>
          <a:p>
            <a:r>
              <a:t>CNPJ 41970012000126 · Originador e endossante · Condição: Documentos atuais selecionados no inventário por categoria/escopo; a data documental isolada não comprova vigência jurídica.</a:t>
            </a:r>
          </a:p>
          <a:p>
            <a:r>
              <a:t>CNPJ 41970012000126 · Originador e endossante · Motivo: Cláusula primária localizada e citada, mas sua lista/condições extensas não admitem uma síntese literal curta confirmada. O trecho integral permanece nas fontes. A resposta da revisão anterior foi preservada no histórico, sem confirmação pelo documento atual.</a:t>
            </a:r>
          </a:p>
          <a:p>
            <a:r>
              <a:t>CNPJ 41970012000126 · Originador e endossante · Versão e prevalência: Documentos atuais selecionados no inventário por categoria/escopo; a data documental isolada não comprova vigência jurídica.</a:t>
            </a:r>
          </a:p>
          <a:p>
            <a:r>
              <a:t>CNPJ 41970012000126 · Originador e endossante · Resumo do histórico: {"count": 11, "dates": ["2025-12-19", "2025-12-31", "2026-08-27"], "document_count": 3, "sources": [{"document_id": "1302706", "title": "Regulamento", "reference_date": "2026-08-27", "version": "1", "page": "20", "url": "https://fnet.bmfbovespa.com.br/fnet/publico/visualizarDocumento?id=1302706", "sha256": "b113727bc2bc3b1a6b0d18f02bf2143068fd912df2d83cbb91ab44fcb30a3379"}, {"document_id": "1151156", "title": "Demonstrações Financeiras", "reference_date": "2025-12-31", "version": "1", "page": 17, "url": "https://fnet.bmfbovespa.com.br/fnet/publico/visualizarDocumento?id=1151156", "sha256": "04099e318871fbf25478d1ed88b19c4c6c6af84d9811507e8df48f7d824c6ec8"}, {"document_id": "1077333", "title": "AGE", "reference_date": "2025-12-19", "version": "1", "page": 25, "url": "https://fnet.bmfbovespa.com.br/fnet/publico/visualizarDocumento?id=1077333", "sha256": "a9a25c5f8a0c493373a2157221109466cbc86e5f44f623997bba18ca14892751"}], "reference": {"path": "history/41970012000126.json", "criterion_id": "originator", "total_count": 11, "preview_count": 3, "full_text_deferred": true, "sha256": "229578c6b833b0633051fe7d357f4fcc74589dcf37d7750032517e03ec89ee60"}}</a:t>
            </a:r>
          </a:p>
          <a:p>
            <a:r>
              <a:t>CNPJ 41970012000126 · Devedor e consignação · Regulamento · ID 1302706 · 2026-08-27 · versão 1 · p. 18 · https://fnet.bmfbovespa.com.br/fnet/publico/visualizarDocumento?id=1302706</a:t>
            </a:r>
          </a:p>
          <a:p>
            <a:r>
              <a:t>CNPJ 41970012000126 · Devedor e consignação · Excerto da fonte:</a:t>
            </a:r>
          </a:p>
          <a:p>
            <a:r>
              <a:t>"Direitos Creditórios CCB significam os direitos creditórios representados por  Comerciante" CCBs decorrentes da concessão de Crédito Parcelado  pela Instituição Financeira MeLi aos Devedores CCB  Comerciante, com intermediação do Mercado Pago na  qualidade de correspondente bancário, os quais incluem  os Direitos Creditórios CCB DE.</a:t>
            </a:r>
          </a:p>
          <a:p>
            <a:r>
              <a:t> "Direitos Creditórios CCB significam os direitos creditórios representados por  Consumidor" CCBs decorrentes da concessão de Crédito Parcelado ou  Empréstimo Pessoal pela Instituição Financeira MeLi  aos Devedores CCB Consumidor, com intermediação do  Mercado Pago na qualidade de correspondente bancário.</a:t>
            </a:r>
          </a:p>
          <a:p>
            <a:r>
              <a:t> "Direitos Creditórios CCB DE" significam os Direitos Creditórios CCB Comerciante que  tenham prazo máximo de pagamento de 28 (vinte e oito)  dias e sejam decorrentes da concessão de crédito a  Devedores CCB Comerciante para atendimentos de  necessidades de curto prazo dos respectivos negócios,  classificados pelo Mercado Pago como "Dinheiro  Express".</a:t>
            </a:r>
          </a:p>
          <a:p>
            <a:r>
              <a:t> "Direitos Creditórios Ofertados" significam os Direitos Creditórios ofertados ao Fundo  em cada Data de Oferta de Direitos Creditórios.</a:t>
            </a:r>
          </a:p>
          <a:p>
            <a:r>
              <a:t> "Direitos Creditórios Over90" Direitos Creditórios relativamente aos quais qualquer  pagamento devido esteja inadimplente por período  superior a 90 (noventa) dias após a data inicialmente  prevista para pagamento. Não integrarão o conceito de  Direitos Creditórios Over90 os Direitos Creditórios que  tenham sido cancelados, objeto de recompra ou  resolução de cessão caso tenham ocorrido Condições  Resolutivas ou de Recompra. Os valores dos Direitos  Creditórios Over90 não serão reduzidos por baixas  btgpactual.com</a:t>
            </a:r>
          </a:p>
          <a:p>
            <a:r>
              <a:t>CNPJ 41970012000126 · Devedor e consignação · Regulamento · ID 1302706 · 2026-08-27 · versão 1 · p. 41 · 5.1.4 · https://fnet.bmfbovespa.com.br/fnet/publico/visualizarDocumento?id=1302706</a:t>
            </a:r>
          </a:p>
          <a:p>
            <a:r>
              <a:t>CNPJ 41970012000126 · Devedor e consignação · Excerto da fonte:</a:t>
            </a:r>
          </a:p>
          <a:p>
            <a:r>
              <a:t>5.1.4. Os Direitos Creditórios serão originados por CCBs emitidas no âmbito da concessão de Crédito  Parcelado ou Empréstimo Pessoal pela Instituição Financeira MeLi aos Devedores, sendo que os Direitos  Creditórios deverão ser representados pelos Documentos Comprobatórios.</a:t>
            </a:r>
          </a:p>
          <a:p>
            <a:r>
              <a:t>CNPJ 41970012000126 · Devedor e consignação · Regulamento · ID 1302706 · 2026-08-27 · versão 1 · p. 47 · 5.4.1.1 · https://fnet.bmfbovespa.com.br/fnet/publico/visualizarDocumento?id=1302706</a:t>
            </a:r>
          </a:p>
          <a:p>
            <a:r>
              <a:t>CNPJ 41970012000126 · Devedor e consignação · Excerto da fonte:</a:t>
            </a:r>
          </a:p>
          <a:p>
            <a:r>
              <a:t>5.4.1.1. Os Direitos Creditórios serão individualmente representados por CCBs originadas da  concessão de Crédito Parcelado ou Empréstimo Pessoal pela Instituição Financeira MeLi aos Devedores.</a:t>
            </a:r>
          </a:p>
          <a:p>
            <a:r>
              <a:t>CNPJ 41970012000126 · Devedor e consignação · Condição: Documentos atuais selecionados no inventário por categoria/escopo; a data documental isolada não comprova vigência jurídica.</a:t>
            </a:r>
          </a:p>
          <a:p>
            <a:r>
              <a:t>CNPJ 41970012000126 · Devedor e consignação · Versão e prevalência: Documentos atuais selecionados no inventário por categoria/escopo; a data documental isolada não comprova vigência jurídica.</a:t>
            </a:r>
          </a:p>
          <a:p>
            <a:r>
              <a:t>CNPJ 41970012000126 · Devedor e consignação · Resumo do histórico: {"count": 12, "dates": ["2025-12-19", "2025-12-31"], "document_count": 3, "sources": [{"document_id": "1151156", "title": "Demonstrações Financeiras", "reference_date": "2025-12-31", "version": "1", "page": 17, "url": "https://fnet.bmfbovespa.com.br/fnet/publico/visualizarDocumento?id=1151156", "sha256": "04099e318871fbf25478d1ed88b19c4c6c6af84d9811507e8df48f7d824c6ec8"}, {"document_id": "1077333", "title": "AGE", "reference_date": "2025-12-19", "version": "1", "page": 53, "clause": "5.4.1.1", "url": "https://fnet.bmfbovespa.com.br/fnet/publico/visualizarDocumento?id=1077333", "sha256": "a9a25c5f8a0c493373a2157221109466cbc86e5f44f623997bba18ca14892751"}, {"document_id": "1077334", "title": "Regulamento", "reference_date": "2025-12-19", "version": "1", "page": 53, "clause": "5.4.1.1", "url": "https://fnet.bmfbovespa.com.br/fnet/publico/visualizarDocumento?id=1077334", "sha256": "a9a25c5f8a0c493373a2157221109466cbc86e5f44f623997bba18ca14892751"}], "reference": {"path": "history/41970012000126.json", "criterion_id": "debtor", "total_count": 12, "preview_count": 3, "full_text_deferred": true, "sha256": "229578c6b833b0633051fe7d357f4fcc74589dcf37d7750032517e03ec89ee60"}}</a:t>
            </a:r>
          </a:p>
          <a:p>
            <a:r>
              <a:t>CNPJ 41970012000126 · Elegibilidade · Regulamento · ID 1302706 · 27/08/2026 · versão Regulamento27/08/2026 · p. 43 · 5.2.1(i)–(v) · https://fnet.bmfbovespa.com.br/fnet/publico/visualizarDocumento?id=1302706</a:t>
            </a:r>
          </a:p>
          <a:p>
            <a:r>
              <a:t>CNPJ 41970012000126 · Elegibilidade · Excerto da fonte:</a:t>
            </a:r>
          </a:p>
          <a:p>
            <a:r>
              <a:t>5.2.1. Todos e quaisquer Direitos Creditórios a serem adquiridos pelo Fundo deverão atender, na respectiva Data de Oferta de Direitos Creditórios, aos seguintes Critérios de Elegibilidade, cumulativamente (em conjunto, os "Critérios de Elegibilidade"): (i) os Direitos Creditórios tenham sido originados de operações de Crédito Parcelado ou Empréstimo Pessoal e representados por CCBs; (ii) os Direitos Creditórios não estejam inadimplidos; (iii) os Direitos Creditórios sejam compostos por, no mínimo, 1 (uma) parcela e, no máximo, de 24 (vinte e quatro) parcelas mensais de pagamen</a:t>
            </a:r>
          </a:p>
          <a:p>
            <a:r>
              <a:t>CNPJ 41970012000126 · Elegibilidade · Versão e prevalência: Leitura específica das cláusulas indicadas; condições e conflitos preservados. Seleção documental atual não comprova vigência jurídica por data isolada.</a:t>
            </a:r>
          </a:p>
          <a:p>
            <a:r>
              <a:t>CNPJ 41970012000126 · Elegibilidade · Resumo do histórico: {"count": 9, "dates": ["2025-12-19", "2025-12-31"], "document_count": 3, "sources": [{"document_id": "1151156", "title": "Demonstrações Financeiras", "reference_date": "2025-12-31", "version": "1", "page": 17, "url": "https://fnet.bmfbovespa.com.br/fnet/publico/visualizarDocumento?id=1151156", "sha256": "04099e318871fbf25478d1ed88b19c4c6c6af84d9811507e8df48f7d824c6ec8"}, {"document_id": "1077333", "title": "AGE", "reference_date": "2025-12-19", "version": "1", "page": 54, "clause": "5.4.3.1", "url": "https://fnet.bmfbovespa.com.br/fnet/publico/visualizarDocumento?id=1077333", "sha256": "a9a25c5f8a0c493373a2157221109466cbc86e5f44f623997bba18ca14892751"}, {"document_id": "1077334", "title": "Regulamento", "reference_date": "2025-12-19", "version": "1", "page": 54, "clause": "5.4.3.1", "url": "https://fnet.bmfbovespa.com.br/fnet/publico/visualizarDocumento?id=1077334", "sha256": "a9a25c5f8a0c493373a2157221109466cbc86e5f44f623997bba18ca14892751"}], "reference": {"path": "history/41970012000126.json", "criterion_id": "eligibility", "total_count": 9, "preview_count": 3, "full_text_deferred": true, "sha256": "229578c6b833b0633051fe7d357f4fcc74589dcf37d7750032517e03ec89ee60"}}</a:t>
            </a:r>
          </a:p>
          <a:p>
            <a:r>
              <a:t>CNPJ 41970012000126 · Limites por contrato e devedor · Regulamento · ID 1302706 · 2026-08-27 · versão 1 · p. 42 · 5.1.6.3 · https://fnet.bmfbovespa.com.br/fnet/publico/visualizarDocumento?id=1302706</a:t>
            </a:r>
          </a:p>
          <a:p>
            <a:r>
              <a:t>CNPJ 41970012000126 · Limites por contrato e devedor · Excerto da fonte:</a:t>
            </a:r>
          </a:p>
          <a:p>
            <a:r>
              <a:t>5.1.6.3. Sem prejuízo do disposto nos itens 5.1.6.1 e 5.1.6.2 acima, o Mercado Pago, diretamente ou  por meio de qualquer entidade integrante de seu grupo econômico e/ou veículo de investimento estruturado  por entidade do grupo econômico da MeLi, terá a opção de adquirir até a Data Limite de Investimento em  Direitos Creditórios, nos termos previstos no Contrato de Agente de Recebimento, Direitos Creditórios  Adquiridos, desde que: (i) notifique o Gestor a respeito do exercício da Opção de Compra de Direitos  Creditórios até a Data Base 1 do mês correspondente; (ii) considerada pro forma a aquisição pretendida,  não haja desenquadramento da Senioridade Máxima; e (iii) tal aquisição não acarrete na cura de um Evento  de Step-Down ("Opção de Compra de Direitos Creditórios"). O preço de aquisição dos Direitos Creditórios  objeto da Opção de Compra dos Direitos Creditórios será o maior entre (i) o valor de mercado de tais  Direitos Creditórios e (ii) o equivalente ao valor presente do respectivo Direito Creditório, deduzido de  quaisquer provisões para perdas (incluindo provisão para devedores duvidosos – PDD) constituídas pelo  Fundo em relação a tal Direito Creditório, de acordo com a regulamentação aplicável e as políticas contábeis  do Fundo. A Opção de Compra de Direitos Creditórios nos termos deste item estará limitada a 10% (dez  por cento) do Valor Máximo de Investimento Sênior, de forma agregada ou individual, exceto (a) em caso  de deliberação, em Assembleia Geral de Cotistas, pela amortização integral antecipada das Cotas Seniores,  ou (b) caso esteja em curso amortização antecipada extraordinária das Cotas nos termos do item 12.4  abaixo, ou (c) caso os referidos Direitos Creditórios Adquiridos estejam vencidos e não pagos há mais de  90 (noventa) dias, casos em que a Opção de Compra de Direitos Creditórios poderá ser exercida  independentemente do limite de 10% (dez por cento) descrito acima.</a:t>
            </a:r>
          </a:p>
          <a:p>
            <a:r>
              <a:t>CNPJ 41970012000126 · Limites por contrato e devedor · Regulamento · ID 1302706 · 2026-08-27 · versão 1 · p. 37 · https://fnet.bmfbovespa.com.br/fnet/publico/visualizarDocumento?id=1302706</a:t>
            </a:r>
          </a:p>
          <a:p>
            <a:r>
              <a:t>CNPJ 41970012000126 · Limites por contrato e devedor · Excerto da fonte:</a:t>
            </a:r>
          </a:p>
          <a:p>
            <a:r>
              <a:t>"Valor de Redução Evento de significa, na ocorrência de um Evento de Step-Down  Step-Down Nível 1" Nível 1 nos termos do item (i) da definição de Evento de  Step-Down Nível 1, 5% (cinco por cento);</a:t>
            </a:r>
          </a:p>
          <a:p>
            <a:r>
              <a:t> Na ocorrência de um Evento de Step-Down Nível 1 nos  termos do item (ii) da definição de Evento de Step-Down  Nível 1, o Índice de Inadimplência menos 8% (oito por  cento).</a:t>
            </a:r>
          </a:p>
          <a:p>
            <a:r>
              <a:t> "Valor de Redução Evento de significa, na ocorrência de um Evento de Step-Down  Step-Down Nível 2" Nível 2, 15% (quinze por cento).</a:t>
            </a:r>
          </a:p>
          <a:p>
            <a:r>
              <a:t> "Valor Limite de Remuneração tem o significado atribuído no Contrato de Cobrança.</a:t>
            </a:r>
          </a:p>
          <a:p>
            <a:r>
              <a:t> e Reembolso"  "Valor Máximo de significa o valor máximo de investimento em Cotas  Investimento Mezanino" Subordinadas Mezanino, equivalente, de forma agregada  entre as Subclasses de Cotas Subordinadas Mezanino, a  R$400.000.000,00 (quatrocentos milhões de reais),  observadas as disposições referentes ao "Capital  Comprometido Individual do Subscritor" previstas em  cada Compromisso de Investimento e/ou Boletim de  Subscrição.</a:t>
            </a:r>
          </a:p>
          <a:p>
            <a:r>
              <a:t> "Valor Máximo de O valor máximo de investimento previsto em cada  Investimento Sênior" Compromisso de Investimento Sênior e no Apêndice da  respectiva emissão de Cotas Seniores, observadas as  disposições referentes ao "Capital Comprometido  Individual do Subscritor" previstas em cada  Compromisso de Investimento Sênior.</a:t>
            </a:r>
          </a:p>
          <a:p>
            <a:r>
              <a:t> "Valor Nominal Unitário de significa o valor nominal unitário de Emissão das Cotas,  Emissão" correspondente a R$1.000,00 (mil reais) por Cota, na  respectiva Data da Primeira Integralização, observado o  disposto no respectivo Apêndice.</a:t>
            </a:r>
          </a:p>
          <a:p>
            <a:r>
              <a:t> "Valor Principal" significa, em relação a qualquer Direito Creditório, o  saldo devido e não pago do valor principal do crédito  (sem considerar quaisquer valores decorrentes de</a:t>
            </a:r>
          </a:p>
          <a:p>
            <a:r>
              <a:t>CNPJ 41970012000126 · Limites por contrato e devedor · Condição: Documentos atuais selecionados no inventário por categoria/escopo; a data documental isolada não comprova vigência jurídica.</a:t>
            </a:r>
          </a:p>
          <a:p>
            <a:r>
              <a:t>CNPJ 41970012000126 · Limites por contrato e devedor · Motivo: Cláusula primária localizada e citada, mas sua lista/condições extensas não admitem uma síntese literal curta confirmada. O trecho integral permanece nas fontes.</a:t>
            </a:r>
          </a:p>
          <a:p>
            <a:r>
              <a:t>CNPJ 41970012000126 · Limites por contrato e devedor · Versão e prevalência: Documentos atuais selecionados no inventário por categoria/escopo; a data documental isolada não comprova vigência jurídica.</a:t>
            </a:r>
          </a:p>
          <a:p>
            <a:r>
              <a:t>CNPJ 41970012000126 · Limites por contrato e devedor · Resumo do histórico: {"count": 21, "dates": ["2025-12-19", "2025-12-31"], "document_count": 3, "sources": [{"document_id": "1151156", "title": "Demonstrações Financeiras", "reference_date": "2025-12-31", "version": "1", "page": 25, "url": "https://fnet.bmfbovespa.com.br/fnet/publico/visualizarDocumento?id=1151156", "sha256": "04099e318871fbf25478d1ed88b19c4c6c6af84d9811507e8df48f7d824c6ec8"}, {"document_id": "1077333", "title": "AGE", "reference_date": "2025-12-19", "version": "1", "page": 46, "clause": "5.1.5.3", "url": "https://fnet.bmfbovespa.com.br/fnet/publico/visualizarDocumento?id=1077333", "sha256": "a9a25c5f8a0c493373a2157221109466cbc86e5f44f623997bba18ca14892751"}, {"document_id": "1077334", "title": "Regulamento", "reference_date": "2025-12-19", "version": "1", "page": 46, "clause": "5.1.5.3", "url": "https://fnet.bmfbovespa.com.br/fnet/publico/visualizarDocumento?id=1077334", "sha256": "a9a25c5f8a0c493373a2157221109466cbc86e5f44f623997bba18ca14892751"}], "reference": {"path": "history/41970012000126.json", "criterion_id": "ticket", "total_count": 21, "preview_count": 3, "full_text_deferred": true, "sha256": "229578c6b833b0633051fe7d357f4fcc74589dcf37d7750032517e03ec89ee60"}}</a:t>
            </a:r>
          </a:p>
          <a:p>
            <a:r>
              <a:t>CNPJ 41970012000126 · Prazo dos créditos e carência · Regulamento · ID 1302706 · 2026-08-27 · versão 1 · p. 5 · https://fnet.bmfbovespa.com.br/fnet/publico/visualizarDocumento?id=1302706</a:t>
            </a:r>
          </a:p>
          <a:p>
            <a:r>
              <a:t>CNPJ 41970012000126 · Prazo dos créditos e carência · Excerto da fonte:</a:t>
            </a:r>
          </a:p>
          <a:p>
            <a:r>
              <a:t>Em que:</a:t>
            </a:r>
          </a:p>
          <a:p>
            <a:r>
              <a:t> N = número total de meses remanescentes  n = mês de referência  Cn = fluxo de caixa dos Direitos Creditórios Adquiridos  Adimplentes no mês "n", considerando para esse cálculo  a premissa de perda conforme Matriz de Perda, separados  por tipo de produto e por prazo original, e aplicação do  múltiplo MS  r = taxa interna de retorno mensal, sendo certo que, no  caso dos Direitos Creditórios que sejam Direitos  Creditórios CCB DE, para r será apurado com base em  juros mensais equivalentes a 50% (cinquenta por cento)  da taxa de juros mensal contratada nas respectivas CCBs  Taxa Estressada das Cotas Seniores = em qualquer Data  Base, a soma de (i) 5,00% (cinco por cento); e (ii) o  Benchmark Sênior.</a:t>
            </a:r>
          </a:p>
          <a:p>
            <a:r>
              <a:t> PMP = em qualquer Data Base, o prazo médio ponderado,  em anos, dos Direitos Creditórios Adquiridos  Adimplentes, separados por tipo de produto e por prazo  original, calculado na forma de planilha acordada entre as  partes.</a:t>
            </a:r>
          </a:p>
          <a:p>
            <a:r>
              <a:t> O Advance Rate Ponderado será calculado pelo Gestor  com base no Valor Agregado dos Direitos Creditórios em  cada Data Base.</a:t>
            </a:r>
          </a:p>
          <a:p>
            <a:r>
              <a:t> "Agência Classificadora de significa a agência de classificação de risco autorizada a  Risco" prestar tais serviços junto a CVM que tenha sido  contratada pelo Fundo para avaliação de risco das Cotas,  conforme aplicável, que poderá ser escolhida pelo Gestor  dentre as seguintes empresas: Austin Rating Serviços  Financeiros Ltda., Standard &amp; Poor's Ratings do Brasil  Ltda., Fitch Ratings Brasil Ltda., Moody's América  Latina Ltda. ou Liberum Ratings Serviços Financeiros  Ltda., caso aplicável.</a:t>
            </a:r>
          </a:p>
          <a:p>
            <a:r>
              <a:t> "Agente de Cobrança" significa o Mercado Pago, contratado para prestação dos  serviços de cobrança dos Direitos Creditórios vencidos e  não pagos, nos termos e condições descritos neste  Regulamento e no Contrato de Cobrança.</a:t>
            </a:r>
          </a:p>
          <a:p>
            <a:r>
              <a:t> btgpactual.com</a:t>
            </a:r>
          </a:p>
          <a:p>
            <a:r>
              <a:t>CNPJ 41970012000126 · Prazo dos créditos e carência · Condição: Documentos atuais selecionados no inventário por categoria/escopo; a data documental isolada não comprova vigência jurídica.</a:t>
            </a:r>
          </a:p>
          <a:p>
            <a:r>
              <a:t>CNPJ 41970012000126 · Prazo dos créditos e carência · Versão e prevalência: Documentos atuais selecionados no inventário por categoria/escopo; a data documental isolada não comprova vigência jurídica.</a:t>
            </a:r>
          </a:p>
          <a:p>
            <a:r>
              <a:t>CNPJ 41970012000126 · Prazo dos créditos e carência · Resumo do histórico: {"count": 16, "dates": ["2025-05-19", "2025-12-19"], "document_count": 3, "sources": [{"document_id": "1077333", "title": "AGE", "reference_date": "2025-12-19", "version": "1", "page": 6, "url": "https://fnet.bmfbovespa.com.br/fnet/publico/visualizarDocumento?id=1077333", "sha256": "a9a25c5f8a0c493373a2157221109466cbc86e5f44f623997bba18ca14892751"}, {"document_id": "1077334", "title": "Regulamento", "reference_date": "2025-12-19", "version": "1", "page": 6, "url": "https://fnet.bmfbovespa.com.br/fnet/publico/visualizarDocumento?id=1077334", "sha256": "a9a25c5f8a0c493373a2157221109466cbc86e5f44f623997bba18ca14892751"}, {"document_id": "909705", "title": "AGE", "reference_date": "2025-05-19", "version": "1", "page": 1, "url": "https://fnet.bmfbovespa.com.br/fnet/publico/visualizarDocumento?id=909705", "sha256": "df2d11536980e792e2d163e3c5626c8522cad30889865c268c49d851af4b7970"}], "reference": {"path": "history/41970012000126.json", "criterion_id": "term", "total_count": 16, "preview_count": 3, "full_text_deferred": true, "sha256": "229578c6b833b0633051fe7d357f4fcc74589dcf37d7750032517e03ec89ee60"}}</a:t>
            </a:r>
          </a:p>
          <a:p>
            <a:r>
              <a:t>CNPJ 41970012000126 · Concentração por devedor, cedente e grupo · Base da comparação IME: {"criterion_id": "concentration", "observed_value": null, "unit": "", "competence": "08/2026", "status": "not_comparable", "reason": "Limite por devedor, cedente ou grupo exige exposição individual e agregação de vínculos; esse perímetro não foi reconciliado no snapshot disponível.", "formula": "", "source": {"type": "ime_document", "cnpj": "41970012000126", "competence": "08/2026", "path": "data/documentary_diligence/ime/41970012000126_202608.json", "reported_fund_cnpj": "41970012000126", "reported_class_cnpj": "41970012000126", "reported_fund_cnpj_raw": "41970012000126", "reported_class_cnpj_raw": "41970012000126",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"1318098", "version": 1, "delivered_at": "14/09/2026 14:44", "url": "https://fnet.bmfbovespa.com.br/fnet/publico/exibirDocumento?id=1318098", "declared_fields_sha256": "dd9e87c71c92c3781738669fcec53c651e2aeb5d75dfbae1e3b41b46f4ce9e8d", "snapshot_path": "data/documentary_diligence/ime/41970012000126_202608.json"}, "headroom": null, "limit": null, "comparison_required": true, "context_formula": "", "context_value": null, "context_unit": ""}</a:t>
            </a:r>
          </a:p>
          <a:p>
            <a:r>
              <a:t>CNPJ 41970012000126 · Concentração por devedor, cedente e grupo · AGO/E · ID 691625 · 2024-07-03 · versão 1 · p. 60 · 5.1.1 · https://fnet.bmfbovespa.com.br/fnet/publico/visualizarDocumento?id=691625</a:t>
            </a:r>
          </a:p>
          <a:p>
            <a:r>
              <a:t>CNPJ 41970012000126 · Concentração por devedor, cedente e grupo · Excerto da fonte:</a:t>
            </a:r>
          </a:p>
          <a:p>
            <a:r>
              <a:t>5.1.1. Observado o disposto na Instrução CVM 356, o Fundo somente poderá  adquirir Direitos Creditórios e outros ativos de um mesmo Devedor, ou de coobrigação  de uma mesma pessoa ou entidade, no limite de 20% (vinte por cento) do Patrimônio</a:t>
            </a:r>
          </a:p>
          <a:p>
            <a:r>
              <a:t>CNPJ 41970012000126 · Concentração por devedor, cedente e grupo · AGO/E · ID 691625 · 2024-07-03 · versão 1 · p. 61 · 5.1.3 · https://fnet.bmfbovespa.com.br/fnet/publico/visualizarDocumento?id=691625</a:t>
            </a:r>
          </a:p>
          <a:p>
            <a:r>
              <a:t>CNPJ 41970012000126 · Concentração por devedor, cedente e grupo · Excerto da fonte:</a:t>
            </a:r>
          </a:p>
          <a:p>
            <a:r>
              <a:t>5.1.3. Relativamente às sociedades empresárias responsáveis por mais de 20%  (vinte por cento) dos Direitos Creditórios que integrem o patrimônio do Fundo, serão  dispensados o arquivamento na CVM e a elaboração de demonstrações financeiras na  forma prevista no subitem (iii) do item (1) do item 5.1.1 acima, desde que as Cotas do  Fundo: (1) sejam objeto de oferta pública de distribuição que tenha como público  destinatário exclusivamente sociedades integrantes do mesmo grupo econômico, e  seus respectivos administradores e acionistas controladores, sendo vedada a  negociação das Cotas no mercado secundário; ou (2) sejam objeto de oferta pública,  devendo ser negociadas no mercado secundário exclusivamente entre Investidores  Profissionais.</a:t>
            </a:r>
          </a:p>
          <a:p>
            <a:r>
              <a:t>CNPJ 41970012000126 · Concentração por devedor, cedente e grupo · AGO/E · ID 691625 · 2024-07-03 · versão 1 · p. 133 · 17.6.1 · https://fnet.bmfbovespa.com.br/fnet/publico/visualizarDocumento?id=691625</a:t>
            </a:r>
          </a:p>
          <a:p>
            <a:r>
              <a:t>CNPJ 41970012000126 · Concentração por devedor, cedente e grupo · Excerto da fonte:</a:t>
            </a:r>
          </a:p>
          <a:p>
            <a:r>
              <a:t>17.6.1. Sem prejuízo do disposto no item 17.6 acima, o Gestor será responsável  pelas seguintes atividades:</a:t>
            </a:r>
          </a:p>
          <a:p>
            <a:r>
              <a:t>(i) calcular e acompanhar, na periodicidade estabelecida neste Regulamento e  no Contrato de Gestão:</a:t>
            </a:r>
          </a:p>
          <a:p>
            <a:r>
              <a:t> a. o Índice de Inadimplência;</a:t>
            </a:r>
          </a:p>
          <a:p>
            <a:r>
              <a:t> b. a Média Móvel do Índice de Inadimplência;</a:t>
            </a:r>
          </a:p>
          <a:p>
            <a:r>
              <a:t> c. o Índice de Juros Excedente;</a:t>
            </a:r>
          </a:p>
          <a:p>
            <a:r>
              <a:t> d. a Média Móvel do Índice de Juros Excedente;</a:t>
            </a:r>
          </a:p>
          <a:p>
            <a:r>
              <a:t> e. o Índice Financeiro Avaliação e o Índice Financeiro Amortização  Acelerada, com base nas informações prestadas pelo Mercado Pago  no Relatório de Índice Financeiro;</a:t>
            </a:r>
          </a:p>
          <a:p>
            <a:r>
              <a:t> f. o atendimento da Senioridade Máxima;</a:t>
            </a:r>
          </a:p>
          <a:p>
            <a:r>
              <a:t> g. o Valor Ajustado Agregado dos Direitos Creditórios considerando os  Limites de Concentração previstos no Anexo VI deste Regulamento;</a:t>
            </a:r>
          </a:p>
          <a:p>
            <a:r>
              <a:t> e</a:t>
            </a:r>
          </a:p>
          <a:p>
            <a:r>
              <a:t>CNPJ 41970012000126 · Concentração por devedor, cedente e grupo · Condição: Trechos do documento específico identificado com data mais recente; vigência jurídica não inferida.</a:t>
            </a:r>
          </a:p>
          <a:p>
            <a:r>
              <a:t>CNPJ 41970012000126 · Concentração por devedor, cedente e grupo · Versão e prevalência: Trechos do documento específico identificado com data mais recente; vigência jurídica não inferida.</a:t>
            </a:r>
          </a:p>
          <a:p>
            <a:r>
              <a:t>CNPJ 41970012000126 · Concentração por devedor, cedente e grupo · Resumo do histórico: {"count": 11, "dates": ["2023-08-09", "2023-08-28", "2023-11-28"], "document_count": 3, "sources": [{"document_id": "559878", "title": "Regulamento", "reference_date": "2023-11-28", "version": "1", "page": 97, "clause": "17.6.1", "url": "https://fnet.bmfbovespa.com.br/fnet/publico/visualizarDocumento?id=559878", "sha256": "ae3b1bf95db29e948e7db0299d0bb6a10efb82173a1a6c7524cca9407f8ebc5e"}, {"document_id": "517362", "title": "Regulamento", "reference_date": "2023-08-28", "version": "1", "page": 97, "clause": "17.6.1", "url": "https://fnet.bmfbovespa.com.br/fnet/publico/visualizarDocumento?id=517362", "sha256": "9b072c0cbc2b6a7a318f5731c4b93772067a7c9cd65548cf795bdb00f0734023"}, {"document_id": "504544", "title": "Regulamento", "reference_date": "2023-08-09", "version": "1", "page": 97, "clause": "17.6.1", "url": "https://fnet.bmfbovespa.com.br/fnet/publico/visualizarDocumento?id=504544", "sha256": "eaaa367690469a58c25048b1fd6d3316a1163b23e98723ecb9d45335c3454e1f"}], "reference": {"path": "history/41970012000126.json", "criterion_id": "concentration", "total_count": 11, "preview_count": 3, "full_text_deferred": true, "sha256": "229578c6b833b0633051fe7d357f4fcc74589dcf37d7750032517e03ec89ee60"}}</a:t>
            </a:r>
          </a:p>
          <a:p>
            <a:r>
              <a:t>CNPJ 41970012000126 · Opção de compra de direitos creditórios · Regulamento · ID 1302706 · 27/08/2026 · versão 1 · p. 42 · 5.1.6.3 · https://fnet.bmfbovespa.com.br/fnet/publico/visualizarDocumento?id=1302706</a:t>
            </a:r>
          </a:p>
          <a:p>
            <a:r>
              <a:t>CNPJ 41970012000126 · Opção de compra de direitos creditórios · Excerto da fonte:</a:t>
            </a:r>
          </a:p>
          <a:p>
            <a:r>
              <a:t>5.1.6.3. Sem prejuízo do disposto nos itens 5.1.6.1 e 5.1.6.2 acima, o Mercado Pago, diretamente ou por meio de qualquer entidade integrante de seu grupo econômico e/ou veículo de investimento estruturado por entidade do grupo econômico da MeLi, terá a opção de adquirir até a Data Limite de Investimento em Direitos Creditórios, nos termos previstos no Contrato de Agente de Recebimento, Direitos Creditórios Adquiridos, desde que: (i) notifique o Gestor a respeito do exercício da Opção de Compra de Direitos Creditórios até a Data Base 1 do mês correspondente; (ii) considerada pro forma a aquisição pretendida, não haja desenquadramento da Senioridade Máxima; e (iii) tal aquisição não acarrete na cura de um Evento de Step-Down ("Opção de Compra de Direitos Creditórios"). O preço de aquisição dos Direitos Creditórios objeto da Opção de Compra dos Direitos Creditórios será o maior entre (i) o valor de mercado de tais Direitos Creditórios e (ii) o equivalente ao valor presente do respectivo Direito Creditório, deduzido de quaisquer provisões para perdas (incluindo provisão para devedores duvidosos – PDD) constituídas pelo Fundo em relação a tal Direito Creditório, de acordo com a regulamentação aplicável e as políticas contábeis do Fundo. A Opção de Compra de Direitos Creditórios nos termos deste item estará limitada a 10% (dez por cento) do Valor Máximo de Investimento Sênior, de forma agregada ou individual, exceto (a) em caso de deliberação, em Assembleia Geral de Cotistas, pela amortização integral antecipada das Cotas Seniores, ou (b) caso esteja em curso amortização antecipada extraordinária das Cotas nos termos do item 12.4 abaixo, ou (c) caso os referidos Direitos Creditórios Adquiridos estejam vencidos e não pagos há mais de 90 (noventa) dias, casos em que a Opção de Compra de Direitos Creditórios poderá ser exercida independentemente do limite de 10% (dez por cento) descrito acima.</a:t>
            </a:r>
          </a:p>
          <a:p>
            <a:r>
              <a:t>CNPJ 41970012000126 · Opção de compra de direitos creditórios · Condição: Preço de opção/limite de recompra não define PDD.</a:t>
            </a:r>
          </a:p>
          <a:p>
            <a:r>
              <a:t>CNPJ 41970012000126 · Opção de compra de direitos creditórios · Motivo: Não localizada uma cláusula material para este critério nos textos identificados e processados. A ausência de resultado não comprova inexistência da regra.</a:t>
            </a:r>
          </a:p>
          <a:p>
            <a:r>
              <a:t>CNPJ 41970012000126 · Opção de compra de direitos creditórios · Versão e prevalência: Leitura específica das cláusulas indicadas; condições e conflitos preservados. Seleção documental atual não comprova vigência jurídica por data isolada.</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PLGN Marketplace · vínculo CNPJ 41970012000126 · Alocação e perímetro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Vínculo: PLGN Marketplace · CNPJ 55563624000109 → CNPJ 41970012000126 · Regulamento · ID 1192614 · 30/04/2026 · versão Regulamento30/04/2026 · p. 11 · AnexoI4.1</a:t>
            </a:r>
          </a:p>
          <a:p>
            <a:r>
              <a:t>Condição do vínculo: {"cnpj": "41970012000126", "name": "Mercado Crédito II Brasil FIDC", "relationship": "named_investee", "exposure": "mezzanine", "position_status": "mandate_identified_position_not_quantified", "risk_note": "Mandato e classe exatos; comparar regras eIMEdo investido na competência doFIC, sem dupla contagem dePL."}</a:t>
            </a:r>
          </a:p>
          <a:p>
            <a:r>
              <a:t>CNPJ 41970012000126 · Alocação mínima · Base da comparação IME: {"criterion_id": "allocation", "observed_value": null, "unit": "percent", "competence": "08/2026", "status": "not_comparable", "reason": "Operador, unidade, numerador ou base contratual sem correspondência exata no IME; proxies de PL/ativos não são intercambiáveis.", "formula": "", "source": {"type": "ime_document", "cnpj": "41970012000126", "competence": "08/2026", "path": "data/documentary_diligence/ime/41970012000126_202608.json", "reported_fund_cnpj": "41970012000126", "reported_class_cnpj": "41970012000126", "reported_fund_cnpj_raw": "41970012000126", "reported_class_cnpj_raw": "41970012000126",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"1318098", "version": 1, "delivered_at": "14/09/2026 14:44", "url": "https://fnet.bmfbovespa.com.br/fnet/publico/exibirDocumento?id=1318098", "declared_fields_sha256": "dd9e87c71c92c3781738669fcec53c651e2aeb5d75dfbae1e3b41b46f4ce9e8d", "snapshot_path": "data/documentary_diligence/ime/41970012000126_202608.json"}, "headroom": null, "limit": 67.0}</a:t>
            </a:r>
          </a:p>
          <a:p>
            <a:r>
              <a:t>CNPJ 41970012000126 · Alocação mínima · Regulamento · ID 1302706 · 27/08/2026 · versão Regulamento27/08/2026 · p. 6 · DefiniçãoAlocaçãoMínima deInvestimento · https://fnet.bmfbovespa.com.br/fnet/publico/visualizarDocumento?id=1302706</a:t>
            </a:r>
          </a:p>
          <a:p>
            <a:r>
              <a:t>CNPJ 41970012000126 · Alocação mínima · Excerto da fonte:</a:t>
            </a:r>
          </a:p>
          <a:p>
            <a:r>
              <a:t>Alocação Mínima de significa a alocação de, no mínimo, 67% (sessenta e sete Investimento" por cento) do Patrimônio Líquido do Fundo em Direitos Creditórios, que sejam definidos como "direitos creditórios", nos termos do artigo 4º da Resolução CMN 5.111. "Alteração Normativa" significa a ocorrência de: (a) qualquer alteração nas leis, normas ou na regulamentação aplicáveis aos Cotistas Seniores e/ou aos Coti</a:t>
            </a:r>
          </a:p>
          <a:p>
            <a:r>
              <a:t>CNPJ 41970012000126 · Alocação mínima · Regulamento · ID 1302706 · 27/08/2026 · versão Regulamento27/08/2026 · p. 40 · 5.1.2 · https://fnet.bmfbovespa.com.br/fnet/publico/visualizarDocumento?id=1302706</a:t>
            </a:r>
          </a:p>
          <a:p>
            <a:r>
              <a:t>CNPJ 41970012000126 · Alocação mínima · Excerto da fonte:</a:t>
            </a:r>
          </a:p>
          <a:p>
            <a:r>
              <a:t>5.1.2. Após o prazo de 180 (cento e oitenta) dias contados da Data da Primeira Integralização de Cotas do Fundo, o Fundo deverá observar, no mínimo, a Alocação Mínima de Investimento. 5.1.3. Os Cotistas do Fundo terão sua responsabilidade limitada ao valor por eles subscrito, nos termos do artigo 18 da Resolução CVM 175 e do artigo 1.368-D, inciso I, do Código Civil. btgpactual.com</a:t>
            </a:r>
          </a:p>
          <a:p>
            <a:r>
              <a:t>CNPJ 41970012000126 · Alocação mínima · Condição: Numerador contratual exige ativos elegíveis CMN; total DC agregado exige validação desse perímetro.</a:t>
            </a:r>
          </a:p>
          <a:p>
            <a:r>
              <a:t>CNPJ 41970012000126 · Alocação mínima · Mecânica: {"operator": "&gt;=", "limit": 67.0, "unit": "percent", "numerator": "cmn_5111_eligible_credit_rights", "denominator": "net_asset_value", "frequency": "not_stated", "layer": "fund", "effective_status": "document_date_only", "document_date": "2026-08-27", "requires_initial_date": true}</a:t>
            </a:r>
          </a:p>
          <a:p>
            <a:r>
              <a:t>CNPJ 41970012000126 · Alocação mínima · Versão e prevalência: Leitura específica das cláusulas indicadas; condições e conflitos preservados. Seleção documental atual não comprova vigência jurídica por data isolada.</a:t>
            </a:r>
          </a:p>
          <a:p>
            <a:r>
              <a:t>CNPJ 41970012000126 · Alocação mínima · Resumo do histórico: {"count": 15, "dates": ["2025-12-19", "2026-08-27"], "document_count": 3, "sources": [{"document_id": "1302706", "title": "Regulamento", "reference_date": "2026-08-27", "version": "1", "page": "108", "url": "https://fnet.bmfbovespa.com.br/fnet/publico/visualizarDocumento?id=1302706", "sha256": "b113727bc2bc3b1a6b0d18f02bf2143068fd912df2d83cbb91ab44fcb30a3379"}, {"document_id": "1077333", "title": "AGE", "reference_date": "2025-12-19", "version": "1", "page": 7, "url": "https://fnet.bmfbovespa.com.br/fnet/publico/visualizarDocumento?id=1077333", "sha256": "a9a25c5f8a0c493373a2157221109466cbc86e5f44f623997bba18ca14892751"}, {"document_id": "1077334", "title": "Regulamento", "reference_date": "2025-12-19", "version": "1", "page": 7, "url": "https://fnet.bmfbovespa.com.br/fnet/publico/visualizarDocumento?id=1077334", "sha256": "a9a25c5f8a0c493373a2157221109466cbc86e5f44f623997bba18ca14892751"}], "reference": {"path": "history/41970012000126.json", "criterion_id": "allocation", "total_count": 15, "preview_count": 3, "full_text_deferred": true, "sha256": "229578c6b833b0633051fe7d357f4fcc74589dcf37d7750032517e03ec89ee60"}}</a:t>
            </a:r>
          </a:p>
          <a:p>
            <a:r>
              <a:t>CNPJ 41970012000126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"41970012000126", "competence": "08/2026", "path": "data/documentary_diligence/ime/41970012000126_202608.json", "reported_fund_cnpj": "41970012000126", "reported_class_cnpj": "41970012000126", "reported_fund_cnpj_raw": "41970012000126", "reported_class_cnpj_raw": "41970012000126",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"1318098", "version": 1, "delivered_at": "14/09/2026 14:44", "url": "https://fnet.bmfbovespa.com.br/fnet/publico/exibirDocumento?id=1318098", "declared_fields_sha256": "dd9e87c71c92c3781738669fcec53c651e2aeb5d75dfbae1e3b41b46f4ce9e8d", "snapshot_path": "data/documentary_diligence/ime/41970012000126_202608.json"}, "headroom": null, "limit": null, "comparison_required": true, "context_formula": "Direitos creditórios / PL", "context_value": 144.31924866492105, "context_unit": "percent"}</a:t>
            </a:r>
          </a:p>
          <a:p>
            <a:r>
              <a:t>CNPJ 41970012000126 · Alocação para tratamento tributário · Regulamento · ID 1302706 · 2026-08-27 · versão 1 · p. 108 · 23.4 · https://fnet.bmfbovespa.com.br/fnet/publico/visualizarDocumento?id=1302706</a:t>
            </a:r>
          </a:p>
          <a:p>
            <a:r>
              <a:t>CNPJ 41970012000126 · Alocação para tratamento tributário · Excerto da fonte:</a:t>
            </a:r>
          </a:p>
          <a:p>
            <a:r>
              <a:t>23.4. Cotistas Residentes no Brasil. Os rendimentos auferidos pelo Cotista do Fundo estarão sujeitos à  tributação pelo IRRF, à alíquota de 15% (quinze por cento), na data da distribuição de rendimentos ou da  amortização de Cotas, desde que o Fundo seja classificado como entidade de investimento e cumpra os  critérios de composição da carteira com, no mínimo, 67% (sessenta e sete por cento) de direitos creditórios  de acordo com a Lei nº 14.754 e a Resolução CMN 5.111.</a:t>
            </a:r>
          </a:p>
          <a:p>
            <a:r>
              <a:t>CNPJ 41970012000126 · Alocação para tratamento tributário · Regulamento · ID 1302706 · 2026-08-27 · versão 1 · p. 108 · 23.6 · https://fnet.bmfbovespa.com.br/fnet/publico/visualizarDocumento?id=1302706</a:t>
            </a:r>
          </a:p>
          <a:p>
            <a:r>
              <a:t>CNPJ 41970012000126 · Alocação para tratamento tributário · Excerto da fonte:</a:t>
            </a:r>
          </a:p>
          <a:p>
            <a:r>
              <a:t>23.6. Desenquadramento para fins fiscais. Caso a composição mínima da carteira do Fundo não atinja os  67% (sessenta e sete por cento) do patrimônio líquido alocado em Direitos Creditórios, conforme previsto  na Lei nº 14.754 e Resolução CMN 5.111, e ocorra o efetivo desenquadramento tributário da Carteira, os  Cotistas pessoa física ou jurídica residentes no Brasil passarão a se sujeitar à regra geral de tributação de  fundos, conforme previsto no artigo 17 da referida lei, segundo a qual: (1) haverá incidência periódica de  IRRF todo mês de maio e novembro de cada ano-calendário sobre os rendimentos auferidos pelo cotista  em relação ao investimento nas cotas do Fundo, à alíquota de 15% (quinze por cento) ou 20% (vinte por  cento), a depender da carteira do Fundo ser classificada, respectivamente, como de longo ou curto prazo; e  (2) haverá incidência de IRRF complementar, conforme alíquotas regressivas que variam de 22,5% (vinte  e dois e meio por cento) a 15% (quinze por cento) ou entre 22,5% (vinte e dois e meio por cento) e 20%  (vinte por cento), a depender da carteira do Fundo ser classificada, respectivamente, como de longo ou  curto prazo, em ambos os casos a depender do prazo de aplicação, por ocasião da amortização ou liquidação  das cotas do Fundo. Certos tipos de investidor podem se beneficiar de alíquotas diferenciadas.</a:t>
            </a:r>
          </a:p>
          <a:p>
            <a:r>
              <a:t>CNPJ 41970012000126 · Alocação para tratamento tributário · Regulamento · ID 1302706 · 2026-08-27 · versão 1 · p. 115 · https://fnet.bmfbovespa.com.br/fnet/publico/visualizarDocumento?id=1302706</a:t>
            </a:r>
          </a:p>
          <a:p>
            <a:r>
              <a:t>CNPJ 41970012000126 · Alocação para tratamento tributário · Excerto da fonte:</a:t>
            </a:r>
          </a:p>
          <a:p>
            <a:r>
              <a:t>Risco de descaracterização do regime tributário aplicável aos cotistas da Classe. A Lei 14.754,  de 12 de dezembro de 2023, trouxe mudanças significativas na tributação dos fundos de  investimento. De acordo com tal lei, como regra geral, para que os fundos de investimento em  direitos creditórios sejam elegíveis à alíquota única de 15% (quinze por cento), independente do  tempo de aplicação, e sem incidência da tributação periódica ("come-cotas"), (i) a Classe deve  ser classificada como entidade de investimento, nos termos do artigo 23 da Lei 14.754 e da  Resolução CMN 5.111, e (ii) a carteira da Classe deve ser composta de, no mínimo, 67%  (sessenta e sete por cento) Direitos Creditórios conforme conceito previsto no artigo 19 da Lei</a:t>
            </a:r>
          </a:p>
          <a:p>
            <a:r>
              <a:t>CNPJ 41970012000126 · Alocação para tratamento tributário · Condição: Documentos atuais selecionados no inventário por categoria/escopo; a data documental isolada não comprova vigência jurídica.</a:t>
            </a:r>
          </a:p>
          <a:p>
            <a:r>
              <a:t>CNPJ 41970012000126 · Alocação para tratamento tributário · Versão e prevalência: Documentos atuais selecionados no inventário por categoria/escopo; a data documental isolada não comprova vigência jurídica.</a:t>
            </a:r>
          </a:p>
          <a:p>
            <a:r>
              <a:t>CNPJ 41970012000126 · Alocação para tratamento tributário · Resumo do histórico: {"count": 6, "dates": ["2025-12-19", "2025-12-31"], "document_count": 3, "sources": [{"document_id": "1151156", "title": "Demonstrações Financeiras", "reference_date": "2025-12-31", "version": "1", "page": 30, "url": "https://fnet.bmfbovespa.com.br/fnet/publico/visualizarDocumento?id=1151156", "sha256": "04099e318871fbf25478d1ed88b19c4c6c6af84d9811507e8df48f7d824c6ec8"}, {"document_id": "1077333", "title": "AGE", "reference_date": "2025-12-19", "version": "1", "page": 131, "clause": "23.4", "url": "https://fnet.bmfbovespa.com.br/fnet/publico/visualizarDocumento?id=1077333", "sha256": "a9a25c5f8a0c493373a2157221109466cbc86e5f44f623997bba18ca14892751"}, {"document_id": "1077334", "title": "Regulamento", "reference_date": "2025-12-19", "version": "1", "page": 131, "clause": "23.4", "url": "https://fnet.bmfbovespa.com.br/fnet/publico/visualizarDocumento?id=1077334", "sha256": "a9a25c5f8a0c493373a2157221109466cbc86e5f44f623997bba18ca14892751"}], "reference": {"path": "history/41970012000126.json", "criterion_id": "tax_allocation", "total_count": 6, "preview_count": 3, "full_text_deferred": true, "sha256": "229578c6b833b0633051fe7d357f4fcc74589dcf37d7750032517e03ec89ee60"}}</a:t>
            </a:r>
          </a:p>
          <a:p>
            <a:r>
              <a:t>CNPJ 41970012000126 · Classes investidas e look-through · Regulamento · ID 1302706 · 27/08/2026 · versão 1 · p. 40 · 5.1.1 · https://fnet.bmfbovespa.com.br/fnet/publico/visualizarDocumento?id=1302706</a:t>
            </a:r>
          </a:p>
          <a:p>
            <a:r>
              <a:t>CNPJ 41970012000126 · Classes investidas e look-through · Excerto da fonte:</a:t>
            </a:r>
          </a:p>
          <a:p>
            <a:r>
              <a:t>5.1.1. A Carteira do Fundo será composta por: (i) preponderantemente, Direitos Creditórios Adquiridos; e (ii) Ativos Financeiros elencados no item 5.1.6 abaixo, em observância aos índices de composição e diversificação da Carteira do Fundo estabelecidos neste Regulamento e na regulamentação aplicável.</a:t>
            </a:r>
          </a:p>
          <a:p>
            <a:r>
              <a:t>CNPJ 41970012000126 · Classes investidas e look-through · Regulamento · ID 1302706 · 27/08/2026 · versão 1 · p. 42 · 5.1.7(i)–(iv) · https://fnet.bmfbovespa.com.br/fnet/publico/visualizarDocumento?id=1302706</a:t>
            </a:r>
          </a:p>
          <a:p>
            <a:r>
              <a:t>CNPJ 41970012000126 · Classes investidas e look-through · Excerto da fonte:</a:t>
            </a:r>
          </a:p>
          <a:p>
            <a:r>
              <a:t>5.1.7. A parcela do Patrimônio Líquido do Fundo que não estiver alocada em Direitos Creditórios será alocada nos Ativos Financeiros abaixo relacionados: (i) Letras Financeiras do Tesouro Nacional (LFT); (ii) operações compromissadas, com liquidez diária, lastreadas nos títulos mencionados na alínea (i) acima, desde que celebradas com qualquer das Instituições Autorizadas; (iii) certificados de depósito bancário, com liquidez diária cujas rentabilidades sejam vinculadas à Taxa DI, de emissão de Instituições Autorizadas; e/ou (iv) cotas de fundos de investimento que invistam exclusivamente nos Ativos Financeiros mencionados nas alíneas (i), (ii) e/ou (iii) acima administrados pelo Administrador ou por Instituições Autorizadas.</a:t>
            </a:r>
          </a:p>
          <a:p>
            <a:r>
              <a:t>CNPJ 41970012000126 · Classes investidas e look-through · Motivo: Estrutura de crédito direto. Direitos da carteira são CCBs; cotas permitidas na parcela de liquidez investem exclusivamente em LFT, compromissadas ou CDBs DI. Regulamento não identifica classe FIDC investida. Reservas ou cotas próprias não constituem look-through.</a:t>
            </a:r>
          </a:p>
          <a:p>
            <a:r>
              <a:t>CNPJ 41970012000126 · Classes investidas e look-through · Versão e prevalência: Leitura específica das cláusulas indicadas; condições e conflitos preservados. Seleção documental atual não comprova vigência jurídica por data isolada.</a:t>
            </a:r>
          </a:p>
          <a:p>
            <a:r>
              <a:t>CNPJ 41970012000126 · Classes investidas e look-through · Resumo do histórico: {"count": 2, "dates": ["2024-07-03", "2024-12-31"], "document_count": 2, "sources": [{"document_id": "870176", "title": "Demonstrações Financeiras", "reference_date": "2024-12-31", "version": "1", "page": 11, "url": "https://fnet.bmfbovespa.com.br/fnet/publico/visualizarDocumento?id=870176", "sha256": "41d9dd55a027da84aa26df78d361630f2f37ce0bf444f27d6d716d9a3d52e1a4"}, {"document_id": "691625", "title": "AGO/E", "reference_date": "2024-07-03", "version": "1", "page": 3, "url": "https://fnet.bmfbovespa.com.br/fnet/publico/visualizarDocumento?id=691625", "sha256": "3c1bb95054b4d4b8716ab42304099b42cf495e8532d8800bd03468e81cfbe94b"}], "reference": {"path": "history/41970012000126.json", "criterion_id": "investee", "total_count": 2, "preview_count": 2, "full_text_deferred": true, "sha256": "229578c6b833b0633051fe7d357f4fcc74589dcf37d7750032517e03ec89ee60"}}</a:t>
            </a:r>
          </a:p>
          <a:p>
            <a:r>
              <a:t>CNPJ 41970012000126 · Classe, subclasse e responsabilidade · Regulamento · ID 1302706 · 2026-08-27 · versão 1 · p. 39 · 1.1 · https://fnet.bmfbovespa.com.br/fnet/publico/visualizarDocumento?id=1302706</a:t>
            </a:r>
          </a:p>
          <a:p>
            <a:r>
              <a:t>CNPJ 41970012000126 · Classe, subclasse e responsabilidade · Excerto da fonte:</a:t>
            </a:r>
          </a:p>
          <a:p>
            <a:r>
              <a:t>1.1. O MERCADO CRÉDITO II BRASIL FUNDO DE INVESTIMENTO EM DIREITOS  CREDITÓRIOS DE RESPONSABILIDADE LIMITADA, é um fundo de investimento em direitos  creditórios constituído sob a forma de condomínio fechado de natureza especial, de modo que as Cotas  somente serão amortizadas integralmente ao término do respectivo prazo de duração das respectivas Séries  e/ou Subclasses de Cotas, conforme definidas nos respectivos Apêndices, ou em caso de liquidação do  Fundo, regido pela Resolução do CMN n° 2.907, de 29 de novembro de 2001, conforme alterada, pela  Resolução CVM 175, pelos artigos 1.368-C a 1.368-F do Código Civil Brasileiro, pelo presente  Regulamento e pelas demais disposições legais e regulamentares que lhe forem aplicáveis.</a:t>
            </a:r>
          </a:p>
          <a:p>
            <a:r>
              <a:t>CNPJ 41970012000126 · Classe, subclasse e responsabilidade · Regulamento · ID 1302706 · 2026-08-27 · versão 1 · p. 23 · https://fnet.bmfbovespa.com.br/fnet/publico/visualizarDocumento?id=1302706</a:t>
            </a:r>
          </a:p>
          <a:p>
            <a:r>
              <a:t>CNPJ 41970012000126 · Classe, subclasse e responsabilidade · Excerto da fonte:</a:t>
            </a:r>
          </a:p>
          <a:p>
            <a:r>
              <a:t>"Evento Regulatório" significa qualquer mudança na lei ou na regulamentação  aplicável ou o início formal ou desenvolvimento de  qualquer procedimento legal ou regulatório, em qualquer  caso, novo ou existente, ou, ainda, em qualquer  julgamento ou decisão relacionada aos Direitos  Creditórios, aos Endossantes, ao Mercado Pago, ao  Fundo ou ao setor de empréstimos pessoais, que resulte  ou razoavelmente possa resultar em um Efeito Adverso  Relevante durante a vigência das Cotas Seniores e/ou das  Cotas Subordinadas Mezanino, e cuja reversão, anulação  ou inaplicabilidade não seja razoavelmente esperada,  com base em parecer de escritório de advocacia  independente contratado pelos Cotistas Seniores e/ou  pelos Cotistas Subordinados Mezanino, que confirme a  alteração em lei ou regulamentação ou determinação de  autoridade competente, e fundamente a possibilidade de  resultar em Efeito Adverso Relevante.</a:t>
            </a:r>
          </a:p>
          <a:p>
            <a:r>
              <a:t> "FGC" significa o Fundo Garantidor de Créditos.</a:t>
            </a:r>
          </a:p>
          <a:p>
            <a:r>
              <a:t> "Fundo" significa o MERCADO CRÉDITO II BRASIL FUNDO DE  INVESTIMENTO EM DIREITOS CREDITÓRIOS DE  RESPONSABILIDADE LIMITADA, inscrito no CNPJ/MF  sob o nº 41.970.012/0001-26.</a:t>
            </a:r>
          </a:p>
          <a:p>
            <a:r>
              <a:t> "FUNDOS21" significa o Fundos21 – Módulo de Fundos, ambiente de  negociação secundária, administrado e operacionalizado  pela B3.</a:t>
            </a:r>
          </a:p>
          <a:p>
            <a:r>
              <a:t> "Gestor" significa a POLÍGONO CAPITAL LTDA., sociedade de  responsabilidade limitada, com sede no município de São  Paulo, estado de São Paulo, na Avenida Brigadeiro Faria  Lima, n° 2601, 12º andar, Jardim Paulistano, CEP</a:t>
            </a:r>
          </a:p>
          <a:p>
            <a:r>
              <a:t> 01.452-000, inscrita no CNPJ/MF sob  nº 43.241.789/0001-85, autorizada à prestação do serviço  de gestão de carteiras de valores mobiliários pela CVM,  de acordo com o Ato Declaratório CVM nº 19.368,  expedido em 07 de dezembro de 2021.</a:t>
            </a:r>
          </a:p>
          <a:p>
            <a:r>
              <a:t> "Histórico por Safra" tem o significado a ele atribuído no COMPLEMENTO  XV.</a:t>
            </a:r>
          </a:p>
          <a:p>
            <a:r>
              <a:t> "Histórico de Performance da tem o significado a ele atribuído no inciso (viii) do item  Safra" 15.2.3.</a:t>
            </a:r>
          </a:p>
          <a:p>
            <a:r>
              <a:t> "Inadimplemento do Agente de tem o significado descrito no Contrato de Cobrança.</a:t>
            </a:r>
          </a:p>
          <a:p>
            <a:r>
              <a:t> Cobrança"  "Inadimplemento do Agente de tem o significado descrito no Contrato de Agente de  Recebimento" Recebimento.</a:t>
            </a:r>
          </a:p>
          <a:p>
            <a:r>
              <a:t> "Inconsistência Relevante" significa a verificação, pelo Custodiante, conforme  contratado pelo Gestor, no procedimento de verificação  de lastro, de existência de inconsistências no lastro de  Direitos Creditórios cuja soma do Valor Principal seja  igual ou superior a 2% (dois por cento) do Valor  Agregado de Investimento Sênior.</a:t>
            </a:r>
          </a:p>
          <a:p>
            <a:r>
              <a:t> btgpactual.com</a:t>
            </a:r>
          </a:p>
          <a:p>
            <a:r>
              <a:t>CNPJ 41970012000126 · Classe, subclasse e responsabilidade · Regulamento · ID 1302706 · 2026-08-27 · versão 1 · p. 35 · https://fnet.bmfbovespa.com.br/fnet/publico/visualizarDocumento?id=1302706</a:t>
            </a:r>
          </a:p>
          <a:p>
            <a:r>
              <a:t>CNPJ 41970012000126 · Classe, subclasse e responsabilidade · Excerto da fonte:</a:t>
            </a:r>
          </a:p>
          <a:p>
            <a:r>
              <a:t>inclusive em decorrência de Evento de Pagamento  Qualificado e de exercício de Direito de Dissidência e de  Amortização Extraordinária, Opção de Compra de  Direitos Creditórios ou aquisição de Direitos Creditórios  pretendida (neste último caso a verificação será realizada  pelo Mercado Pago), conforme o caso, mediante  disponibilização do Certificado de Base de Investimento.</a:t>
            </a:r>
          </a:p>
          <a:p>
            <a:r>
              <a:t> "Séries" significam as séries distintas de Cotas Seniores e de  Cotas Subordinadas Mezanino emitidas pelo Fundo.</a:t>
            </a:r>
          </a:p>
          <a:p>
            <a:r>
              <a:t> "Sistema de Registro" significa o sistema destinado ao registro de ativos  financeiros operado por uma Entidade Registradora, no  qual os Direitos Creditórios venham a ser registrados.</a:t>
            </a:r>
          </a:p>
          <a:p>
            <a:r>
              <a:t> "Subclasse" significam as subclasses de Cotas do Fundo, as quais são  divididas em Cotas Seniores, Cotas Subordinadas  Mezanino A, Cotas Subordinadas Mezanino B, Cotas  Subordinadas Mezanino C e Cotas Subordinadas Júnior.</a:t>
            </a:r>
          </a:p>
          <a:p>
            <a:r>
              <a:t> "Subsidiárias" significam, com relação a determinada Pessoa, qualquer  outra Pessoa da qual (ou na qual) mais de 50%  (cinquenta por cento) das ações com direito a voto, cotas  ou participação no patrimônio da Pessoa, caso não seja  uma sociedade, seja detida ou controlada por: (i) a  referida Pessoa; (ii) a referida Pessoa e uma ou mais de  suas Subsidiárias; ou (iii) uma ou mais das Subsidiárias  da referida Pessoa.</a:t>
            </a:r>
          </a:p>
          <a:p>
            <a:r>
              <a:t> "Subsidiárias Relevantes da significam, a qualquer momento, qualquer Subsidiária da  MeLi" MeLi que atenda a qualquer uma das seguintes  condições:</a:t>
            </a:r>
          </a:p>
          <a:p>
            <a:r>
              <a:t> (i) se os investimentos da MeLi na referida Subsidiária  ou os adiantamentos dos referidos investimentos  excederem 20% (vinte por cento) do ativo total da MeLi  e suas Subsidiárias de forma consolidada ao final do  último exercício social; ou</a:t>
            </a:r>
          </a:p>
          <a:p>
            <a:r>
              <a:t> (ii) se a participação proporcional da MeLi e suas  Subsidiárias no ativo total da referida Subsidiária  exceder 20% (vinte por cento) do ativo total da MeLi e  suas Subsidiárias de forma consolidada ao final do  último exercício social, ou</a:t>
            </a:r>
          </a:p>
          <a:p>
            <a:r>
              <a:t> (iii) se a participação da MeLi e de suas Subsidiárias no  lucro, antes do imposto de renda e da distribuição de  lucros aos empregados de acordo com a legislação  aplicável, da referida Subsidiária exceder 20% (vinte por  cento) do lucro da MeLi e de suas Subsidiárias de forma  consolidada ao final do último exercício social,  calculado com base nas últimas demonstrações  financeiras auditadas (ou consolidadas, conforme o caso)  da referida Subsidiária na referida data e nas últimas  demonstrações financeiras consolidadas auditadas da</a:t>
            </a:r>
          </a:p>
          <a:p>
            <a:r>
              <a:t>CNPJ 41970012000126 · Classe, subclasse e responsabilidade · Condição: Documentos atuais selecionados no inventário por categoria/escopo; a data documental isolada não comprova vigência jurídica.</a:t>
            </a:r>
          </a:p>
          <a:p>
            <a:r>
              <a:t>CNPJ 41970012000126 · Classe, subclasse e responsabilidade · Versão e prevalência: Documentos atuais selecionados no inventário por categoria/escopo; a data documental isolada não comprova vigência jurídica.</a:t>
            </a:r>
          </a:p>
          <a:p>
            <a:r>
              <a:t>CNPJ 41970012000126 · Classe, subclasse e responsabilidade · Resumo do histórico: {"count": 7, "dates": ["2025-12-19", "2025-12-31", "2026-08-24"], "document_count": 3, "sources": [{"document_id": "1300110", "title": "Fato Relevante", "reference_date": "2026-08-24", "version": "1", "page": 1, "clause": "1.016.076", "url": "https://fnet.bmfbovespa.com.br/fnet/publico/visualizarDocumento?id=1300110", "sha256": "982dd137d6a96b7e0e1f24730a2959e2196a43d13ea7f651c29e962a1c816b5c"}, {"document_id": "1151156", "title": "Demonstrações Financeiras", "reference_date": "2025-12-31", "version": "1", "page": 35, "url": "https://fnet.bmfbovespa.com.br/fnet/publico/visualizarDocumento?id=1151156", "sha256": "04099e318871fbf25478d1ed88b19c4c6c6af84d9811507e8df48f7d824c6ec8"}, {"document_id": "1077333", "title": "AGE", "reference_date": "2025-12-19", "version": "1", "page": 43, "clause": "1.1", "url": "https://fnet.bmfbovespa.com.br/fnet/publico/visualizarDocumento?id=1077333", "sha256": "a9a25c5f8a0c493373a2157221109466cbc86e5f44f623997bba18ca14892751"}], "reference": {"path": "history/41970012000126.json", "criterion_id": "perimeter", "total_count": 7, "preview_count": 3, "full_text_deferred": true, "sha256": "229578c6b833b0633051fe7d357f4fcc74589dcf37d7750032517e03ec89ee60"}}</a:t>
            </a:r>
          </a:p>
          <a:p>
            <a:r>
              <a:t>CNPJ 41970012000126 · Adaptação àResoluçãoCVM175 · Regulamento · ID 1302706 · 27/08/2026 · versão Regulamento27/08/2026 · p. 39 · 1.1–1.3 · https://fnet.bmfbovespa.com.br/fnet/publico/visualizarDocumento?id=1302706</a:t>
            </a:r>
          </a:p>
          <a:p>
            <a:r>
              <a:t>CNPJ 41970012000126 · Adaptação àResoluçãoCVM175 · Excerto da fonte:</a:t>
            </a:r>
          </a:p>
          <a:p>
            <a:r>
              <a:t>1.1. O MERCADO CRÉDITO II BRASIL FUNDO DE INVESTIMENTO EM DIREITOS CREDITÓRIOS DE RESPONSABILIDADE LIMITADA, é um fundo de investimento em direitos creditórios constituído sob a forma de condomínio fechado de natureza especial, de modo que as Cotas somente serão amortizadas integralmente ao término do respectivo prazo de duração das respectivas Séries e/ou Subclasses de Cotas, conforme definidas nos respectivos Apêndices, ou em caso de liquidação do Fundo, regido pela Resolução do CMN n° 2.907, de 29 de novembro de 2001, conforme alterada, pela Resolução CVM 175, pelos artigos 1.368-C a 1.368-F do Código Civil Brasileiro, pelo presente Regulamento e pela</a:t>
            </a:r>
          </a:p>
          <a:p>
            <a:r>
              <a:t>CNPJ 41970012000126 · Adaptação àResoluçãoCVM175 · Condição: Consolidado 27/08/2026 não certifica vigência histórica dos IME s fev/jun 2026; versão 19/12/2025 preservada para confronto datado.</a:t>
            </a:r>
          </a:p>
          <a:p>
            <a:r>
              <a:t>CNPJ 41970012000126 · Adaptação àResoluçãoCVM175 · Versão e prevalência: Leitura específica das cláusulas indicadas; condições e conflitos preservados. Seleção documental atual não comprova vigência jurídica por data isolada.</a:t>
            </a:r>
          </a:p>
          <a:p>
            <a:r>
              <a:t>CNPJ 41970012000126 · Adaptação àResoluçãoCVM175 · Resumo do histórico: {"count": 9, "dates": ["2025-12-19", "2025-12-31"], "document_count": 3, "sources": [{"document_id": "1151156", "title": "Demonstrações Financeiras", "reference_date": "2025-12-31", "version": "1", "page": 33, "url": "https://fnet.bmfbovespa.com.br/fnet/publico/visualizarDocumento?id=1151156", "sha256": "04099e318871fbf25478d1ed88b19c4c6c6af84d9811507e8df48f7d824c6ec8"}, {"document_id": "1077333", "title": "AGE", "reference_date": "2025-12-19", "version": "1", "page": 128, "clause": "21.2", "url": "https://fnet.bmfbovespa.com.br/fnet/publico/visualizarDocumento?id=1077333", "sha256": "a9a25c5f8a0c493373a2157221109466cbc86e5f44f623997bba18ca14892751"}, {"document_id": "1077334", "title": "Regulamento", "reference_date": "2025-12-19", "version": "1", "page": 128, "clause": "21.2", "url": "https://fnet.bmfbovespa.com.br/fnet/publico/visualizarDocumento?id=1077334", "sha256": "a9a25c5f8a0c493373a2157221109466cbc86e5f44f623997bba18ca14892751"}], "reference": {"path": "history/41970012000126.json", "criterion_id": "res175", "total_count": 9, "preview_count": 3, "full_text_deferred": true, "sha256": "229578c6b833b0633051fe7d357f4fcc74589dcf37d7750032517e03ec89ee60"}}</a:t>
            </a:r>
          </a:p>
          <a:p>
            <a:r>
              <a:t>CNPJ 41970012000126 · Duração e público-alvo · Anúncio de Início · ID 1314682 · 2026-09-10 · versão 1 · p. 1 · https://fnet.bmfbovespa.com.br/fnet/publico/visualizarDocumento?id=1314682</a:t>
            </a:r>
          </a:p>
          <a:p>
            <a:r>
              <a:t>CNPJ 41970012000126 · Duração e público-alvo · Excerto da fonte:</a:t>
            </a:r>
          </a:p>
          <a:p>
            <a:r>
              <a:t>A OFERTA É DESTINADA EXCLUSIVAMENTE A INVESTIDORES PROFISSIONAIS . NOS TERMOS DO  ART. 9º DA RESOLUÇÃO CVM 160, FOI DISPENSADA A DIVULGAÇÃO DE PROSPECTO PARA A  REALIZAÇÃO DESTA OFERTA.</a:t>
            </a:r>
          </a:p>
          <a:p>
            <a:r>
              <a:t>CNPJ 41970012000126 · Duração e público-alvo · Condição: Documentos atuais selecionados no inventário por categoria/escopo; a data documental isolada não comprova vigência jurídica.</a:t>
            </a:r>
          </a:p>
          <a:p>
            <a:r>
              <a:t>CNPJ 41970012000126 · Duração e público-alvo · Versão e prevalência: Documentos atuais selecionados no inventário por categoria/escopo; a data documental isolada não comprova vigência jurídica.</a:t>
            </a:r>
          </a:p>
          <a:p>
            <a:r>
              <a:t>CNPJ 41970012000126 · Duração e público-alvo · Resumo do histórico: {"count": 12, "dates": ["2026-08-24", "2026-08-27"], "document_count": 3, "sources": [{"document_id": "1302706", "title": "Regulamento", "reference_date": "2026-08-27", "version": "1", "page": 50, "clause": "7.4", "url": "https://fnet.bmfbovespa.com.br/fnet/publico/visualizarDocumento?id=1302706", "sha256": "b113727bc2bc3b1a6b0d18f02bf2143068fd912df2d83cbb91ab44fcb30a3379"}, {"document_id": "1302705", "title": "AGE", "reference_date": "2026-08-27", "version": "1", "page": 3, "url": "https://fnet.bmfbovespa.com.br/fnet/publico/visualizarDocumento?id=1302705", "sha256": "a76f5b5a30b2ba45767ee3c201b99367866bb28b1f457ef47442b2e58e0d0100"}, {"document_id": "1300110", "title": "Fato Relevante", "reference_date": "2026-08-24", "version": "1", "page": 1, "clause": "1.016.076", "url": "https://fnet.bmfbovespa.com.br/fnet/publico/visualizarDocumento?id=1300110", "sha256": "982dd137d6a96b7e0e1f24730a2959e2196a43d13ea7f651c29e962a1c816b5c"}], "reference": {"path": "history/41970012000126.json", "criterion_id": "duration_investors", "total_count": 12, "preview_count": 3, "full_text_deferred": true, "sha256": "229578c6b833b0633051fe7d357f4fcc74589dcf37d7750032517e03ec89ee60"}}</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PLGN Marketplace · vínculo CNPJ 41970012000126 · Alocação e perímetro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Vínculo: PLGN Marketplace · CNPJ 55563624000109 → CNPJ 41970012000126 · Regulamento · ID 1192614 · 30/04/2026 · versão Regulamento30/04/2026 · p. 11 · AnexoI4.1</a:t>
            </a:r>
          </a:p>
          <a:p>
            <a:r>
              <a:t>Condição do vínculo: {"cnpj": "41970012000126", "name": "Mercado Crédito II Brasil FIDC", "relationship": "named_investee", "exposure": "mezzanine", "position_status": "mandate_identified_position_not_quantified", "risk_note": "Mandato e classe exatos; comparar regras eIMEdo investido na competência doFIC, sem dupla contagem dePL."}</a:t>
            </a:r>
          </a:p>
          <a:p>
            <a:r>
              <a:t>CNPJ 41970012000126 · Alocação mínima · Base da comparação IME: {"criterion_id": "allocation", "observed_value": null, "unit": "percent", "competence": "08/2026", "status": "not_comparable", "reason": "Operador, unidade, numerador ou base contratual sem correspondência exata no IME; proxies de PL/ativos não são intercambiáveis.", "formula": "", "source": {"type": "ime_document", "cnpj": "41970012000126", "competence": "08/2026", "path": "data/documentary_diligence/ime/41970012000126_202608.json", "reported_fund_cnpj": "41970012000126", "reported_class_cnpj": "41970012000126", "reported_fund_cnpj_raw": "41970012000126", "reported_class_cnpj_raw": "41970012000126",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"1318098", "version": 1, "delivered_at": "14/09/2026 14:44", "url": "https://fnet.bmfbovespa.com.br/fnet/publico/exibirDocumento?id=1318098", "declared_fields_sha256": "dd9e87c71c92c3781738669fcec53c651e2aeb5d75dfbae1e3b41b46f4ce9e8d", "snapshot_path": "data/documentary_diligence/ime/41970012000126_202608.json"}, "headroom": null, "limit": 67.0}</a:t>
            </a:r>
          </a:p>
          <a:p>
            <a:r>
              <a:t>CNPJ 41970012000126 · Alocação mínima · Regulamento · ID 1302706 · 27/08/2026 · versão Regulamento27/08/2026 · p. 6 · DefiniçãoAlocaçãoMínima deInvestimento · https://fnet.bmfbovespa.com.br/fnet/publico/visualizarDocumento?id=1302706</a:t>
            </a:r>
          </a:p>
          <a:p>
            <a:r>
              <a:t>CNPJ 41970012000126 · Alocação mínima · Excerto da fonte:</a:t>
            </a:r>
          </a:p>
          <a:p>
            <a:r>
              <a:t>Alocação Mínima de significa a alocação de, no mínimo, 67% (sessenta e sete Investimento" por cento) do Patrimônio Líquido do Fundo em Direitos Creditórios, que sejam definidos como "direitos creditórios", nos termos do artigo 4º da Resolução CMN 5.111. "Alteração Normativa" significa a ocorrência de: (a) qualquer alteração nas leis, normas ou na regulamentação aplicáveis aos Cotistas Seniores e/ou aos Coti</a:t>
            </a:r>
          </a:p>
          <a:p>
            <a:r>
              <a:t>CNPJ 41970012000126 · Alocação mínima · Regulamento · ID 1302706 · 27/08/2026 · versão Regulamento27/08/2026 · p. 40 · 5.1.2 · https://fnet.bmfbovespa.com.br/fnet/publico/visualizarDocumento?id=1302706</a:t>
            </a:r>
          </a:p>
          <a:p>
            <a:r>
              <a:t>CNPJ 41970012000126 · Alocação mínima · Excerto da fonte:</a:t>
            </a:r>
          </a:p>
          <a:p>
            <a:r>
              <a:t>5.1.2. Após o prazo de 180 (cento e oitenta) dias contados da Data da Primeira Integralização de Cotas do Fundo, o Fundo deverá observar, no mínimo, a Alocação Mínima de Investimento. 5.1.3. Os Cotistas do Fundo terão sua responsabilidade limitada ao valor por eles subscrito, nos termos do artigo 18 da Resolução CVM 175 e do artigo 1.368-D, inciso I, do Código Civil. btgpactual.com</a:t>
            </a:r>
          </a:p>
          <a:p>
            <a:r>
              <a:t>CNPJ 41970012000126 · Alocação mínima · Condição: Numerador contratual exige ativos elegíveis CMN; total DC agregado exige validação desse perímetro.</a:t>
            </a:r>
          </a:p>
          <a:p>
            <a:r>
              <a:t>CNPJ 41970012000126 · Alocação mínima · Mecânica: {"operator": "&gt;=", "limit": 67.0, "unit": "percent", "numerator": "cmn_5111_eligible_credit_rights", "denominator": "net_asset_value", "frequency": "not_stated", "layer": "fund", "effective_status": "document_date_only", "document_date": "2026-08-27", "requires_initial_date": true}</a:t>
            </a:r>
          </a:p>
          <a:p>
            <a:r>
              <a:t>CNPJ 41970012000126 · Alocação mínima · Versão e prevalência: Leitura específica das cláusulas indicadas; condições e conflitos preservados. Seleção documental atual não comprova vigência jurídica por data isolada.</a:t>
            </a:r>
          </a:p>
          <a:p>
            <a:r>
              <a:t>CNPJ 41970012000126 · Alocação mínima · Resumo do histórico: {"count": 15, "dates": ["2025-12-19", "2026-08-27"], "document_count": 3, "sources": [{"document_id": "1302706", "title": "Regulamento", "reference_date": "2026-08-27", "version": "1", "page": "108", "url": "https://fnet.bmfbovespa.com.br/fnet/publico/visualizarDocumento?id=1302706", "sha256": "b113727bc2bc3b1a6b0d18f02bf2143068fd912df2d83cbb91ab44fcb30a3379"}, {"document_id": "1077333", "title": "AGE", "reference_date": "2025-12-19", "version": "1", "page": 7, "url": "https://fnet.bmfbovespa.com.br/fnet/publico/visualizarDocumento?id=1077333", "sha256": "a9a25c5f8a0c493373a2157221109466cbc86e5f44f623997bba18ca14892751"}, {"document_id": "1077334", "title": "Regulamento", "reference_date": "2025-12-19", "version": "1", "page": 7, "url": "https://fnet.bmfbovespa.com.br/fnet/publico/visualizarDocumento?id=1077334", "sha256": "a9a25c5f8a0c493373a2157221109466cbc86e5f44f623997bba18ca14892751"}], "reference": {"path": "history/41970012000126.json", "criterion_id": "allocation", "total_count": 15, "preview_count": 3, "full_text_deferred": true, "sha256": "229578c6b833b0633051fe7d357f4fcc74589dcf37d7750032517e03ec89ee60"}}</a:t>
            </a:r>
          </a:p>
          <a:p>
            <a:r>
              <a:t>CNPJ 41970012000126 · Alocação para tratamento tributário · Base da comparação IME: {"criterion_id": "tax_allocation", "observed_value": null, "unit": "", "competence": "08/2026", "status": "not_comparable", "reason": "Enquadramento tributário exige ativos elegíveis, prazo e regime fiscal da classe; o agregado mensal não certifica esses requisitos.", "formula": "", "source": {"type": "ime_document", "cnpj": "41970012000126", "competence": "08/2026", "path": "data/documentary_diligence/ime/41970012000126_202608.json", "reported_fund_cnpj": "41970012000126", "reported_class_cnpj": "41970012000126", "reported_fund_cnpj_raw": "41970012000126", "reported_class_cnpj_raw": "41970012000126",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"1318098", "version": 1, "delivered_at": "14/09/2026 14:44", "url": "https://fnet.bmfbovespa.com.br/fnet/publico/exibirDocumento?id=1318098", "declared_fields_sha256": "dd9e87c71c92c3781738669fcec53c651e2aeb5d75dfbae1e3b41b46f4ce9e8d", "snapshot_path": "data/documentary_diligence/ime/41970012000126_202608.json"}, "headroom": null, "limit": null, "comparison_required": true, "context_formula": "Direitos creditórios / PL", "context_value": 144.31924866492105, "context_unit": "percent"}</a:t>
            </a:r>
          </a:p>
          <a:p>
            <a:r>
              <a:t>CNPJ 41970012000126 · Alocação para tratamento tributário · Regulamento · ID 1302706 · 2026-08-27 · versão 1 · p. 108 · 23.4 · https://fnet.bmfbovespa.com.br/fnet/publico/visualizarDocumento?id=1302706</a:t>
            </a:r>
          </a:p>
          <a:p>
            <a:r>
              <a:t>CNPJ 41970012000126 · Alocação para tratamento tributário · Excerto da fonte:</a:t>
            </a:r>
          </a:p>
          <a:p>
            <a:r>
              <a:t>23.4. Cotistas Residentes no Brasil. Os rendimentos auferidos pelo Cotista do Fundo estarão sujeitos à  tributação pelo IRRF, à alíquota de 15% (quinze por cento), na data da distribuição de rendimentos ou da  amortização de Cotas, desde que o Fundo seja classificado como entidade de investimento e cumpra os  critérios de composição da carteira com, no mínimo, 67% (sessenta e sete por cento) de direitos creditórios  de acordo com a Lei nº 14.754 e a Resolução CMN 5.111.</a:t>
            </a:r>
          </a:p>
          <a:p>
            <a:r>
              <a:t>CNPJ 41970012000126 · Alocação para tratamento tributário · Regulamento · ID 1302706 · 2026-08-27 · versão 1 · p. 108 · 23.6 · https://fnet.bmfbovespa.com.br/fnet/publico/visualizarDocumento?id=1302706</a:t>
            </a:r>
          </a:p>
          <a:p>
            <a:r>
              <a:t>CNPJ 41970012000126 · Alocação para tratamento tributário · Excerto da fonte:</a:t>
            </a:r>
          </a:p>
          <a:p>
            <a:r>
              <a:t>23.6. Desenquadramento para fins fiscais. Caso a composição mínima da carteira do Fundo não atinja os  67% (sessenta e sete por cento) do patrimônio líquido alocado em Direitos Creditórios, conforme previsto  na Lei nº 14.754 e Resolução CMN 5.111, e ocorra o efetivo desenquadramento tributário da Carteira, os  Cotistas pessoa física ou jurídica residentes no Brasil passarão a se sujeitar à regra geral de tributação de  fundos, conforme previsto no artigo 17 da referida lei, segundo a qual: (1) haverá incidência periódica de  IRRF todo mês de maio e novembro de cada ano-calendário sobre os rendimentos auferidos pelo cotista  em relação ao investimento nas cotas do Fundo, à alíquota de 15% (quinze por cento) ou 20% (vinte por  cento), a depender da carteira do Fundo ser classificada, respectivamente, como de longo ou curto prazo; e  (2) haverá incidência de IRRF complementar, conforme alíquotas regressivas que variam de 22,5% (vinte  e dois e meio por cento) a 15% (quinze por cento) ou entre 22,5% (vinte e dois e meio por cento) e 20%  (vinte por cento), a depender da carteira do Fundo ser classificada, respectivamente, como de longo ou  curto prazo, em ambos os casos a depender do prazo de aplicação, por ocasião da amortização ou liquidação  das cotas do Fundo. Certos tipos de investidor podem se beneficiar de alíquotas diferenciadas.</a:t>
            </a:r>
          </a:p>
          <a:p>
            <a:r>
              <a:t>CNPJ 41970012000126 · Alocação para tratamento tributário · Regulamento · ID 1302706 · 2026-08-27 · versão 1 · p. 115 · https://fnet.bmfbovespa.com.br/fnet/publico/visualizarDocumento?id=1302706</a:t>
            </a:r>
          </a:p>
          <a:p>
            <a:r>
              <a:t>CNPJ 41970012000126 · Alocação para tratamento tributário · Excerto da fonte:</a:t>
            </a:r>
          </a:p>
          <a:p>
            <a:r>
              <a:t>Risco de descaracterização do regime tributário aplicável aos cotistas da Classe. A Lei 14.754,  de 12 de dezembro de 2023, trouxe mudanças significativas na tributação dos fundos de  investimento. De acordo com tal lei, como regra geral, para que os fundos de investimento em  direitos creditórios sejam elegíveis à alíquota única de 15% (quinze por cento), independente do  tempo de aplicação, e sem incidência da tributação periódica ("come-cotas"), (i) a Classe deve  ser classificada como entidade de investimento, nos termos do artigo 23 da Lei 14.754 e da  Resolução CMN 5.111, e (ii) a carteira da Classe deve ser composta de, no mínimo, 67%  (sessenta e sete por cento) Direitos Creditórios conforme conceito previsto no artigo 19 da Lei</a:t>
            </a:r>
          </a:p>
          <a:p>
            <a:r>
              <a:t>CNPJ 41970012000126 · Alocação para tratamento tributário · Condição: Documentos atuais selecionados no inventário por categoria/escopo; a data documental isolada não comprova vigência jurídica.</a:t>
            </a:r>
          </a:p>
          <a:p>
            <a:r>
              <a:t>CNPJ 41970012000126 · Alocação para tratamento tributário · Versão e prevalência: Documentos atuais selecionados no inventário por categoria/escopo; a data documental isolada não comprova vigência jurídica.</a:t>
            </a:r>
          </a:p>
          <a:p>
            <a:r>
              <a:t>CNPJ 41970012000126 · Alocação para tratamento tributário · Resumo do histórico: {"count": 6, "dates": ["2025-12-19", "2025-12-31"], "document_count": 3, "sources": [{"document_id": "1151156", "title": "Demonstrações Financeiras", "reference_date": "2025-12-31", "version": "1", "page": 30, "url": "https://fnet.bmfbovespa.com.br/fnet/publico/visualizarDocumento?id=1151156", "sha256": "04099e318871fbf25478d1ed88b19c4c6c6af84d9811507e8df48f7d824c6ec8"}, {"document_id": "1077333", "title": "AGE", "reference_date": "2025-12-19", "version": "1", "page": 131, "clause": "23.4", "url": "https://fnet.bmfbovespa.com.br/fnet/publico/visualizarDocumento?id=1077333", "sha256": "a9a25c5f8a0c493373a2157221109466cbc86e5f44f623997bba18ca14892751"}, {"document_id": "1077334", "title": "Regulamento", "reference_date": "2025-12-19", "version": "1", "page": 131, "clause": "23.4", "url": "https://fnet.bmfbovespa.com.br/fnet/publico/visualizarDocumento?id=1077334", "sha256": "a9a25c5f8a0c493373a2157221109466cbc86e5f44f623997bba18ca14892751"}], "reference": {"path": "history/41970012000126.json", "criterion_id": "tax_allocation", "total_count": 6, "preview_count": 3, "full_text_deferred": true, "sha256": "229578c6b833b0633051fe7d357f4fcc74589dcf37d7750032517e03ec89ee60"}}</a:t>
            </a:r>
          </a:p>
          <a:p>
            <a:r>
              <a:t>CNPJ 41970012000126 · Classes investidas e look-through · Regulamento · ID 1302706 · 27/08/2026 · versão 1 · p. 40 · 5.1.1 · https://fnet.bmfbovespa.com.br/fnet/publico/visualizarDocumento?id=1302706</a:t>
            </a:r>
          </a:p>
          <a:p>
            <a:r>
              <a:t>CNPJ 41970012000126 · Classes investidas e look-through · Excerto da fonte:</a:t>
            </a:r>
          </a:p>
          <a:p>
            <a:r>
              <a:t>5.1.1. A Carteira do Fundo será composta por: (i) preponderantemente, Direitos Creditórios Adquiridos; e (ii) Ativos Financeiros elencados no item 5.1.6 abaixo, em observância aos índices de composição e diversificação da Carteira do Fundo estabelecidos neste Regulamento e na regulamentação aplicável.</a:t>
            </a:r>
          </a:p>
          <a:p>
            <a:r>
              <a:t>CNPJ 41970012000126 · Classes investidas e look-through · Regulamento · ID 1302706 · 27/08/2026 · versão 1 · p. 42 · 5.1.7(i)–(iv) · https://fnet.bmfbovespa.com.br/fnet/publico/visualizarDocumento?id=1302706</a:t>
            </a:r>
          </a:p>
          <a:p>
            <a:r>
              <a:t>CNPJ 41970012000126 · Classes investidas e look-through · Excerto da fonte:</a:t>
            </a:r>
          </a:p>
          <a:p>
            <a:r>
              <a:t>5.1.7. A parcela do Patrimônio Líquido do Fundo que não estiver alocada em Direitos Creditórios será alocada nos Ativos Financeiros abaixo relacionados: (i) Letras Financeiras do Tesouro Nacional (LFT); (ii) operações compromissadas, com liquidez diária, lastreadas nos títulos mencionados na alínea (i) acima, desde que celebradas com qualquer das Instituições Autorizadas; (iii) certificados de depósito bancário, com liquidez diária cujas rentabilidades sejam vinculadas à Taxa DI, de emissão de Instituições Autorizadas; e/ou (iv) cotas de fundos de investimento que invistam exclusivamente nos Ativos Financeiros mencionados nas alíneas (i), (ii) e/ou (iii) acima administrados pelo Administrador ou por Instituições Autorizadas.</a:t>
            </a:r>
          </a:p>
          <a:p>
            <a:r>
              <a:t>CNPJ 41970012000126 · Classes investidas e look-through · Motivo: Estrutura de crédito direto. Direitos da carteira são CCBs; cotas permitidas na parcela de liquidez investem exclusivamente em LFT, compromissadas ou CDBs DI. Regulamento não identifica classe FIDC investida. Reservas ou cotas próprias não constituem look-through.</a:t>
            </a:r>
          </a:p>
          <a:p>
            <a:r>
              <a:t>CNPJ 41970012000126 · Classes investidas e look-through · Versão e prevalência: Leitura específica das cláusulas indicadas; condições e conflitos preservados. Seleção documental atual não comprova vigência jurídica por data isolada.</a:t>
            </a:r>
          </a:p>
          <a:p>
            <a:r>
              <a:t>CNPJ 41970012000126 · Classes investidas e look-through · Resumo do histórico: {"count": 2, "dates": ["2024-07-03", "2024-12-31"], "document_count": 2, "sources": [{"document_id": "870176", "title": "Demonstrações Financeiras", "reference_date": "2024-12-31", "version": "1", "page": 11, "url": "https://fnet.bmfbovespa.com.br/fnet/publico/visualizarDocumento?id=870176", "sha256": "41d9dd55a027da84aa26df78d361630f2f37ce0bf444f27d6d716d9a3d52e1a4"}, {"document_id": "691625", "title": "AGO/E", "reference_date": "2024-07-03", "version": "1", "page": 3, "url": "https://fnet.bmfbovespa.com.br/fnet/publico/visualizarDocumento?id=691625", "sha256": "3c1bb95054b4d4b8716ab42304099b42cf495e8532d8800bd03468e81cfbe94b"}], "reference": {"path": "history/41970012000126.json", "criterion_id": "investee", "total_count": 2, "preview_count": 2, "full_text_deferred": true, "sha256": "229578c6b833b0633051fe7d357f4fcc74589dcf37d7750032517e03ec89ee60"}}</a:t>
            </a:r>
          </a:p>
          <a:p>
            <a:r>
              <a:t>CNPJ 41970012000126 · Classe, subclasse e responsabilidade · Regulamento · ID 1302706 · 2026-08-27 · versão 1 · p. 39 · 1.1 · https://fnet.bmfbovespa.com.br/fnet/publico/visualizarDocumento?id=1302706</a:t>
            </a:r>
          </a:p>
          <a:p>
            <a:r>
              <a:t>CNPJ 41970012000126 · Classe, subclasse e responsabilidade · Excerto da fonte:</a:t>
            </a:r>
          </a:p>
          <a:p>
            <a:r>
              <a:t>1.1. O MERCADO CRÉDITO II BRASIL FUNDO DE INVESTIMENTO EM DIREITOS  CREDITÓRIOS DE RESPONSABILIDADE LIMITADA, é um fundo de investimento em direitos  creditórios constituído sob a forma de condomínio fechado de natureza especial, de modo que as Cotas  somente serão amortizadas integralmente ao término do respectivo prazo de duração das respectivas Séries  e/ou Subclasses de Cotas, conforme definidas nos respectivos Apêndices, ou em caso de liquidação do  Fundo, regido pela Resolução do CMN n° 2.907, de 29 de novembro de 2001, conforme alterada, pela  Resolução CVM 175, pelos artigos 1.368-C a 1.368-F do Código Civil Brasileiro, pelo presente  Regulamento e pelas demais disposições legais e regulamentares que lhe forem aplicáveis.</a:t>
            </a:r>
          </a:p>
          <a:p>
            <a:r>
              <a:t>CNPJ 41970012000126 · Classe, subclasse e responsabilidade · Regulamento · ID 1302706 · 2026-08-27 · versão 1 · p. 23 · https://fnet.bmfbovespa.com.br/fnet/publico/visualizarDocumento?id=1302706</a:t>
            </a:r>
          </a:p>
          <a:p>
            <a:r>
              <a:t>CNPJ 41970012000126 · Classe, subclasse e responsabilidade · Excerto da fonte:</a:t>
            </a:r>
          </a:p>
          <a:p>
            <a:r>
              <a:t>"Evento Regulatório" significa qualquer mudança na lei ou na regulamentação  aplicável ou o início formal ou desenvolvimento de  qualquer procedimento legal ou regulatório, em qualquer  caso, novo ou existente, ou, ainda, em qualquer  julgamento ou decisão relacionada aos Direitos  Creditórios, aos Endossantes, ao Mercado Pago, ao  Fundo ou ao setor de empréstimos pessoais, que resulte  ou razoavelmente possa resultar em um Efeito Adverso  Relevante durante a vigência das Cotas Seniores e/ou das  Cotas Subordinadas Mezanino, e cuja reversão, anulação  ou inaplicabilidade não seja razoavelmente esperada,  com base em parecer de escritório de advocacia  independente contratado pelos Cotistas Seniores e/ou  pelos Cotistas Subordinados Mezanino, que confirme a  alteração em lei ou regulamentação ou determinação de  autoridade competente, e fundamente a possibilidade de  resultar em Efeito Adverso Relevante.</a:t>
            </a:r>
          </a:p>
          <a:p>
            <a:r>
              <a:t> "FGC" significa o Fundo Garantidor de Créditos.</a:t>
            </a:r>
          </a:p>
          <a:p>
            <a:r>
              <a:t> "Fundo" significa o MERCADO CRÉDITO II BRASIL FUNDO DE  INVESTIMENTO EM DIREITOS CREDITÓRIOS DE  RESPONSABILIDADE LIMITADA, inscrito no CNPJ/MF  sob o nº 41.970.012/0001-26.</a:t>
            </a:r>
          </a:p>
          <a:p>
            <a:r>
              <a:t> "FUNDOS21" significa o Fundos21 – Módulo de Fundos, ambiente de  negociação secundária, administrado e operacionalizado  pela B3.</a:t>
            </a:r>
          </a:p>
          <a:p>
            <a:r>
              <a:t> "Gestor" significa a POLÍGONO CAPITAL LTDA., sociedade de  responsabilidade limitada, com sede no município de São  Paulo, estado de São Paulo, na Avenida Brigadeiro Faria  Lima, n° 2601, 12º andar, Jardim Paulistano, CEP</a:t>
            </a:r>
          </a:p>
          <a:p>
            <a:r>
              <a:t> 01.452-000, inscrita no CNPJ/MF sob  nº 43.241.789/0001-85, autorizada à prestação do serviço  de gestão de carteiras de valores mobiliários pela CVM,  de acordo com o Ato Declaratório CVM nº 19.368,  expedido em 07 de dezembro de 2021.</a:t>
            </a:r>
          </a:p>
          <a:p>
            <a:r>
              <a:t> "Histórico por Safra" tem o significado a ele atribuído no COMPLEMENTO  XV.</a:t>
            </a:r>
          </a:p>
          <a:p>
            <a:r>
              <a:t> "Histórico de Performance da tem o significado a ele atribuído no inciso (viii) do item  Safra" 15.2.3.</a:t>
            </a:r>
          </a:p>
          <a:p>
            <a:r>
              <a:t> "Inadimplemento do Agente de tem o significado descrito no Contrato de Cobrança.</a:t>
            </a:r>
          </a:p>
          <a:p>
            <a:r>
              <a:t> Cobrança"  "Inadimplemento do Agente de tem o significado descrito no Contrato de Agente de  Recebimento" Recebimento.</a:t>
            </a:r>
          </a:p>
          <a:p>
            <a:r>
              <a:t> "Inconsistência Relevante" significa a verificação, pelo Custodiante, conforme  contratado pelo Gestor, no procedimento de verificação  de lastro, de existência de inconsistências no lastro de  Direitos Creditórios cuja soma do Valor Principal seja  igual ou superior a 2% (dois por cento) do Valor  Agregado de Investimento Sênior.</a:t>
            </a:r>
          </a:p>
          <a:p>
            <a:r>
              <a:t> btgpactual.com</a:t>
            </a:r>
          </a:p>
          <a:p>
            <a:r>
              <a:t>CNPJ 41970012000126 · Classe, subclasse e responsabilidade · Regulamento · ID 1302706 · 2026-08-27 · versão 1 · p. 35 · https://fnet.bmfbovespa.com.br/fnet/publico/visualizarDocumento?id=1302706</a:t>
            </a:r>
          </a:p>
          <a:p>
            <a:r>
              <a:t>CNPJ 41970012000126 · Classe, subclasse e responsabilidade · Excerto da fonte:</a:t>
            </a:r>
          </a:p>
          <a:p>
            <a:r>
              <a:t>inclusive em decorrência de Evento de Pagamento  Qualificado e de exercício de Direito de Dissidência e de  Amortização Extraordinária, Opção de Compra de  Direitos Creditórios ou aquisição de Direitos Creditórios  pretendida (neste último caso a verificação será realizada  pelo Mercado Pago), conforme o caso, mediante  disponibilização do Certificado de Base de Investimento.</a:t>
            </a:r>
          </a:p>
          <a:p>
            <a:r>
              <a:t> "Séries" significam as séries distintas de Cotas Seniores e de  Cotas Subordinadas Mezanino emitidas pelo Fundo.</a:t>
            </a:r>
          </a:p>
          <a:p>
            <a:r>
              <a:t> "Sistema de Registro" significa o sistema destinado ao registro de ativos  financeiros operado por uma Entidade Registradora, no  qual os Direitos Creditórios venham a ser registrados.</a:t>
            </a:r>
          </a:p>
          <a:p>
            <a:r>
              <a:t> "Subclasse" significam as subclasses de Cotas do Fundo, as quais são  divididas em Cotas Seniores, Cotas Subordinadas  Mezanino A, Cotas Subordinadas Mezanino B, Cotas  Subordinadas Mezanino C e Cotas Subordinadas Júnior.</a:t>
            </a:r>
          </a:p>
          <a:p>
            <a:r>
              <a:t> "Subsidiárias" significam, com relação a determinada Pessoa, qualquer  outra Pessoa da qual (ou na qual) mais de 50%  (cinquenta por cento) das ações com direito a voto, cotas  ou participação no patrimônio da Pessoa, caso não seja  uma sociedade, seja detida ou controlada por: (i) a  referida Pessoa; (ii) a referida Pessoa e uma ou mais de  suas Subsidiárias; ou (iii) uma ou mais das Subsidiárias  da referida Pessoa.</a:t>
            </a:r>
          </a:p>
          <a:p>
            <a:r>
              <a:t> "Subsidiárias Relevantes da significam, a qualquer momento, qualquer Subsidiária da  MeLi" MeLi que atenda a qualquer uma das seguintes  condições:</a:t>
            </a:r>
          </a:p>
          <a:p>
            <a:r>
              <a:t> (i) se os investimentos da MeLi na referida Subsidiária  ou os adiantamentos dos referidos investimentos  excederem 20% (vinte por cento) do ativo total da MeLi  e suas Subsidiárias de forma consolidada ao final do  último exercício social; ou</a:t>
            </a:r>
          </a:p>
          <a:p>
            <a:r>
              <a:t> (ii) se a participação proporcional da MeLi e suas  Subsidiárias no ativo total da referida Subsidiária  exceder 20% (vinte por cento) do ativo total da MeLi e  suas Subsidiárias de forma consolidada ao final do  último exercício social, ou</a:t>
            </a:r>
          </a:p>
          <a:p>
            <a:r>
              <a:t> (iii) se a participação da MeLi e de suas Subsidiárias no  lucro, antes do imposto de renda e da distribuição de  lucros aos empregados de acordo com a legislação  aplicável, da referida Subsidiária exceder 20% (vinte por  cento) do lucro da MeLi e de suas Subsidiárias de forma  consolidada ao final do último exercício social,  calculado com base nas últimas demonstrações  financeiras auditadas (ou consolidadas, conforme o caso)  da referida Subsidiária na referida data e nas últimas  demonstrações financeiras consolidadas auditadas da</a:t>
            </a:r>
          </a:p>
          <a:p>
            <a:r>
              <a:t>CNPJ 41970012000126 · Classe, subclasse e responsabilidade · Condição: Documentos atuais selecionados no inventário por categoria/escopo; a data documental isolada não comprova vigência jurídica.</a:t>
            </a:r>
          </a:p>
          <a:p>
            <a:r>
              <a:t>CNPJ 41970012000126 · Classe, subclasse e responsabilidade · Versão e prevalência: Documentos atuais selecionados no inventário por categoria/escopo; a data documental isolada não comprova vigência jurídica.</a:t>
            </a:r>
          </a:p>
          <a:p>
            <a:r>
              <a:t>CNPJ 41970012000126 · Classe, subclasse e responsabilidade · Resumo do histórico: {"count": 7, "dates": ["2025-12-19", "2025-12-31", "2026-08-24"], "document_count": 3, "sources": [{"document_id": "1300110", "title": "Fato Relevante", "reference_date": "2026-08-24", "version": "1", "page": 1, "clause": "1.016.076", "url": "https://fnet.bmfbovespa.com.br/fnet/publico/visualizarDocumento?id=1300110", "sha256": "982dd137d6a96b7e0e1f24730a2959e2196a43d13ea7f651c29e962a1c816b5c"}, {"document_id": "1151156", "title": "Demonstrações Financeiras", "reference_date": "2025-12-31", "version": "1", "page": 35, "url": "https://fnet.bmfbovespa.com.br/fnet/publico/visualizarDocumento?id=1151156", "sha256": "04099e318871fbf25478d1ed88b19c4c6c6af84d9811507e8df48f7d824c6ec8"}, {"document_id": "1077333", "title": "AGE", "reference_date": "2025-12-19", "version": "1", "page": 43, "clause": "1.1", "url": "https://fnet.bmfbovespa.com.br/fnet/publico/visualizarDocumento?id=1077333", "sha256": "a9a25c5f8a0c493373a2157221109466cbc86e5f44f623997bba18ca14892751"}], "reference": {"path": "history/41970012000126.json", "criterion_id": "perimeter", "total_count": 7, "preview_count": 3, "full_text_deferred": true, "sha256": "229578c6b833b0633051fe7d357f4fcc74589dcf37d7750032517e03ec89ee60"}}</a:t>
            </a:r>
          </a:p>
          <a:p>
            <a:r>
              <a:t>CNPJ 41970012000126 · Adaptação àResoluçãoCVM175 · Regulamento · ID 1302706 · 27/08/2026 · versão Regulamento27/08/2026 · p. 39 · 1.1–1.3 · https://fnet.bmfbovespa.com.br/fnet/publico/visualizarDocumento?id=1302706</a:t>
            </a:r>
          </a:p>
          <a:p>
            <a:r>
              <a:t>CNPJ 41970012000126 · Adaptação àResoluçãoCVM175 · Excerto da fonte:</a:t>
            </a:r>
          </a:p>
          <a:p>
            <a:r>
              <a:t>1.1. O MERCADO CRÉDITO II BRASIL FUNDO DE INVESTIMENTO EM DIREITOS CREDITÓRIOS DE RESPONSABILIDADE LIMITADA, é um fundo de investimento em direitos creditórios constituído sob a forma de condomínio fechado de natureza especial, de modo que as Cotas somente serão amortizadas integralmente ao término do respectivo prazo de duração das respectivas Séries e/ou Subclasses de Cotas, conforme definidas nos respectivos Apêndices, ou em caso de liquidação do Fundo, regido pela Resolução do CMN n° 2.907, de 29 de novembro de 2001, conforme alterada, pela Resolução CVM 175, pelos artigos 1.368-C a 1.368-F do Código Civil Brasileiro, pelo presente Regulamento e pela</a:t>
            </a:r>
          </a:p>
          <a:p>
            <a:r>
              <a:t>CNPJ 41970012000126 · Adaptação àResoluçãoCVM175 · Condição: Consolidado 27/08/2026 não certifica vigência histórica dos IME s fev/jun 2026; versão 19/12/2025 preservada para confronto datado.</a:t>
            </a:r>
          </a:p>
          <a:p>
            <a:r>
              <a:t>CNPJ 41970012000126 · Adaptação àResoluçãoCVM175 · Versão e prevalência: Leitura específica das cláusulas indicadas; condições e conflitos preservados. Seleção documental atual não comprova vigência jurídica por data isolada.</a:t>
            </a:r>
          </a:p>
          <a:p>
            <a:r>
              <a:t>CNPJ 41970012000126 · Adaptação àResoluçãoCVM175 · Resumo do histórico: {"count": 9, "dates": ["2025-12-19", "2025-12-31"], "document_count": 3, "sources": [{"document_id": "1151156", "title": "Demonstrações Financeiras", "reference_date": "2025-12-31", "version": "1", "page": 33, "url": "https://fnet.bmfbovespa.com.br/fnet/publico/visualizarDocumento?id=1151156", "sha256": "04099e318871fbf25478d1ed88b19c4c6c6af84d9811507e8df48f7d824c6ec8"}, {"document_id": "1077333", "title": "AGE", "reference_date": "2025-12-19", "version": "1", "page": 128, "clause": "21.2", "url": "https://fnet.bmfbovespa.com.br/fnet/publico/visualizarDocumento?id=1077333", "sha256": "a9a25c5f8a0c493373a2157221109466cbc86e5f44f623997bba18ca14892751"}, {"document_id": "1077334", "title": "Regulamento", "reference_date": "2025-12-19", "version": "1", "page": 128, "clause": "21.2", "url": "https://fnet.bmfbovespa.com.br/fnet/publico/visualizarDocumento?id=1077334", "sha256": "a9a25c5f8a0c493373a2157221109466cbc86e5f44f623997bba18ca14892751"}], "reference": {"path": "history/41970012000126.json", "criterion_id": "res175", "total_count": 9, "preview_count": 3, "full_text_deferred": true, "sha256": "229578c6b833b0633051fe7d357f4fcc74589dcf37d7750032517e03ec89ee60"}}</a:t>
            </a:r>
          </a:p>
          <a:p>
            <a:r>
              <a:t>CNPJ 41970012000126 · Duração e público-alvo · Anúncio de Início · ID 1314682 · 2026-09-10 · versão 1 · p. 1 · https://fnet.bmfbovespa.com.br/fnet/publico/visualizarDocumento?id=1314682</a:t>
            </a:r>
          </a:p>
          <a:p>
            <a:r>
              <a:t>CNPJ 41970012000126 · Duração e público-alvo · Excerto da fonte:</a:t>
            </a:r>
          </a:p>
          <a:p>
            <a:r>
              <a:t>A OFERTA É DESTINADA EXCLUSIVAMENTE A INVESTIDORES PROFISSIONAIS . NOS TERMOS DO  ART. 9º DA RESOLUÇÃO CVM 160, FOI DISPENSADA A DIVULGAÇÃO DE PROSPECTO PARA A  REALIZAÇÃO DESTA OFERTA.</a:t>
            </a:r>
          </a:p>
          <a:p>
            <a:r>
              <a:t>CNPJ 41970012000126 · Duração e público-alvo · Condição: Documentos atuais selecionados no inventário por categoria/escopo; a data documental isolada não comprova vigência jurídica.</a:t>
            </a:r>
          </a:p>
          <a:p>
            <a:r>
              <a:t>CNPJ 41970012000126 · Duração e público-alvo · Versão e prevalência: Documentos atuais selecionados no inventário por categoria/escopo; a data documental isolada não comprova vigência jurídica.</a:t>
            </a:r>
          </a:p>
          <a:p>
            <a:r>
              <a:t>CNPJ 41970012000126 · Duração e público-alvo · Resumo do histórico: {"count": 12, "dates": ["2026-08-24", "2026-08-27"], "document_count": 3, "sources": [{"document_id": "1302706", "title": "Regulamento", "reference_date": "2026-08-27", "version": "1", "page": 50, "clause": "7.4", "url": "https://fnet.bmfbovespa.com.br/fnet/publico/visualizarDocumento?id=1302706", "sha256": "b113727bc2bc3b1a6b0d18f02bf2143068fd912df2d83cbb91ab44fcb30a3379"}, {"document_id": "1302705", "title": "AGE", "reference_date": "2026-08-27", "version": "1", "page": 3, "url": "https://fnet.bmfbovespa.com.br/fnet/publico/visualizarDocumento?id=1302705", "sha256": "a76f5b5a30b2ba45767ee3c201b99367866bb28b1f457ef47442b2e58e0d0100"}, {"document_id": "1300110", "title": "Fato Relevante", "reference_date": "2026-08-24", "version": "1", "page": 1, "clause": "1.016.076", "url": "https://fnet.bmfbovespa.com.br/fnet/publico/visualizarDocumento?id=1300110", "sha256": "982dd137d6a96b7e0e1f24730a2959e2196a43d13ea7f651c29e962a1c816b5c"}], "reference": {"path": "history/41970012000126.json", "criterion_id": "duration_investors", "total_count": 12, "preview_count": 3, "full_text_deferred": true, "sha256": "229578c6b833b0633051fe7d357f4fcc74589dcf37d7750032517e03ec89ee60"}}</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PLGN Marketplace · vínculo CNPJ 41970012000126 · Proteção por camada</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Vínculo: PLGN Marketplace · CNPJ 55563624000109 → CNPJ 41970012000126 · Regulamento · ID 1192614 · 30/04/2026 · versão Regulamento30/04/2026 · p. 11 · AnexoI4.1</a:t>
            </a:r>
          </a:p>
          <a:p>
            <a:r>
              <a:t>Condição do vínculo: {"cnpj": "41970012000126", "name": "Mercado Crédito II Brasil FIDC", "relationship": "named_investee", "exposure": "mezzanine", "position_status": "mandate_identified_position_not_quantified", "risk_note": "Mandato e classe exatos; comparar regras eIMEdo investido na competência doFIC, sem dupla contagem dePL."}</a:t>
            </a:r>
          </a:p>
          <a:p>
            <a:r>
              <a:t>CNPJ 41970012000126 · Subordinação mínima · Base da comparação IME: {"criterion_id": "subordination", "observed_value": null, "unit": "", "competence": "08/2026", "status": "not_comparable", "reason": "Proteção agregada não resolve a fórmula, a camada ou a série da subordinação contratual.", "formula": "", "source": {"type": "ime_document", "cnpj": "41970012000126", "competence": "08/2026", "path": "data/documentary_diligence/ime/41970012000126_202608.json", "reported_fund_cnpj": "41970012000126", "reported_class_cnpj": "41970012000126", "reported_fund_cnpj_raw": "41970012000126", "reported_class_cnpj_raw": "41970012000126",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"1318098", "version": 1, "delivered_at": "14/09/2026 14:44", "url": "https://fnet.bmfbovespa.com.br/fnet/publico/exibirDocumento?id=1318098", "declared_fields_sha256": "dd9e87c71c92c3781738669fcec53c651e2aeb5d75dfbae1e3b41b46f4ce9e8d", "snapshot_path": "data/documentary_diligence/ime/41970012000126_202608.json"}, "headroom": null, "limit": null, "comparison_required": true, "context_formula": "Mezanino + subordinadas / PL", "context_value": 34.602153984342124, "context_unit": "percent"}</a:t>
            </a:r>
          </a:p>
          <a:p>
            <a:r>
              <a:t>CNPJ 41970012000126 · Subordinação mínima · Regulamento · ID 1302706 · 27/08/2026 · versão Regulamento27/08/2026 · p. 31 · DefiniçãoRazão deSubordinaçãoMezaninoA · https://fnet.bmfbovespa.com.br/fnet/publico/visualizarDocumento?id=1302706</a:t>
            </a:r>
          </a:p>
          <a:p>
            <a:r>
              <a:t>CNPJ 41970012000126 · Subordinação mínima · Excerto da fonte:</a:t>
            </a:r>
          </a:p>
          <a:p>
            <a:r>
              <a:t>Razão de Subordinação significa a razão entre: (i) a soma do valor das Cotas Mezanino A" Subordinadas Mezanino B em Circulação, do valor das Cotas Subordinadas Mezanino C em Circulação e do valor das Cotas Subordinadas Júnior em Circulação; e (ii) o Patrimônio Líquido do Fundo ambos calculados em uma mesma data, equivalente a 20% (vinte por cento). Caso seja caracterizado um Evento de Step-Down, a</a:t>
            </a:r>
          </a:p>
          <a:p>
            <a:r>
              <a:t>CNPJ 41970012000126 · Subordinação mínima · Regulamento · ID 1302706 · 27/08/2026 · versão Regulamento27/08/2026 · p. 32 · DefiniçõesRazõesMezaninoB/C · https://fnet.bmfbovespa.com.br/fnet/publico/visualizarDocumento?id=1302706</a:t>
            </a:r>
          </a:p>
          <a:p>
            <a:r>
              <a:t>CNPJ 41970012000126 · Subordinação mínima · Excerto da fonte:</a:t>
            </a:r>
          </a:p>
          <a:p>
            <a:r>
              <a:t>Razão de Subordinação Mezanino B será calculada diariamente pelo Gestor e disponibilizada em cada Data de Envio do Relatório de Acompanhamento, por meio do respectivo Relatório de Acompanhamento, sendo certo que, em caso de desenquadramento da Razão de Subordinação Mezanino B, o Administrador deverá comunicar imediatamente tal fato aos Cotistas, após notificação do Gestor nesse sentido.</a:t>
            </a:r>
          </a:p>
          <a:p>
            <a:r>
              <a:t>CNPJ 41970012000126 · Subordinação mínima · Condição: A camada mezanino detida pelo PLGN precisa ser identificada; somar todas as MZ não valida a proteção de MZ A/B/C individualmente.</a:t>
            </a:r>
          </a:p>
          <a:p>
            <a:r>
              <a:t>CNPJ 41970012000126 · Subordinação mínima · Versão e prevalência: Leitura específica das cláusulas indicadas; condições e conflitos preservados. Seleção documental atual não comprova vigência jurídica por data isolada.</a:t>
            </a:r>
          </a:p>
          <a:p>
            <a:r>
              <a:t>CNPJ 41970012000126 · Subordinação mínima · Resumo do histórico: {"count": 10, "dates": ["2025-12-19", "2026-08-27"], "document_count": 3, "sources": [{"document_id": "1302706", "title": "Regulamento", "reference_date": "2026-08-27", "version": "1", "page": "32", "url": "https://fnet.bmfbovespa.com.br/fnet/publico/visualizarDocumento?id=1302706", "sha256": "b113727bc2bc3b1a6b0d18f02bf2143068fd912df2d83cbb91ab44fcb30a3379"}, {"document_id": "1077333", "title": "AGE", "reference_date": "2025-12-19", "version": "1", "page": 35, "url": "https://fnet.bmfbovespa.com.br/fnet/publico/visualizarDocumento?id=1077333", "sha256": "a9a25c5f8a0c493373a2157221109466cbc86e5f44f623997bba18ca14892751"}, {"document_id": "1077334", "title": "Regulamento", "reference_date": "2025-12-19", "version": "1", "page": 35, "url": "https://fnet.bmfbovespa.com.br/fnet/publico/visualizarDocumento?id=1077334", "sha256": "a9a25c5f8a0c493373a2157221109466cbc86e5f44f623997bba18ca14892751"}], "reference": {"path": "history/41970012000126.json", "criterion_id": "subordination", "total_count": 10, "preview_count": 3, "full_text_deferred": true, "sha256": "229578c6b833b0633051fe7d357f4fcc74589dcf37d7750032517e03ec89ee60"}}</a:t>
            </a:r>
          </a:p>
          <a:p>
            <a:r>
              <a:t>CNPJ 41970012000126 · Razões decobertura porcamada · Base da comparação IME: {"criterion_id": "coverage", "observed_value": null, "unit": "", "competence": "08/2026", "status": "not_comparable", "reason": "Cobertura contratual exige saldos, valor presente ou fatores de cada camada; os dados agregados não reproduzem a fórmula.", "formula": "", "source": {"type": "ime_document", "cnpj": "41970012000126", "competence": "08/2026", "path": "data/documentary_diligence/ime/41970012000126_202608.json", "reported_fund_cnpj": "41970012000126", "reported_class_cnpj": "41970012000126", "reported_fund_cnpj_raw": "41970012000126", "reported_class_cnpj_raw": "41970012000126",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"1318098", "version": 1, "delivered_at": "14/09/2026 14:44", "url": "https://fnet.bmfbovespa.com.br/fnet/publico/exibirDocumento?id=1318098", "declared_fields_sha256": "dd9e87c71c92c3781738669fcec53c651e2aeb5d75dfbae1e3b41b46f4ce9e8d", "snapshot_path": "data/documentary_diligence/ime/41970012000126_202608.json"}, "headroom": null, "limit": null, "comparison_required": true, "context_formula": "", "context_value": null, "context_unit": ""}</a:t>
            </a:r>
          </a:p>
          <a:p>
            <a:r>
              <a:t>CNPJ 41970012000126 · Razões decobertura porcamada · Regulamento · ID 1302706 · 27/08/2026 · versão Regulamento27/08/2026 · p. 7 · DefiniçãoBasedeInvestimento · https://fnet.bmfbovespa.com.br/fnet/publico/visualizarDocumento?id=1302706</a:t>
            </a:r>
          </a:p>
          <a:p>
            <a:r>
              <a:t>CNPJ 41970012000126 · Razões decobertura porcamada · Excerto da fonte:</a:t>
            </a:r>
          </a:p>
          <a:p>
            <a:r>
              <a:t>Base de Investimento" significa a soma de: (i) Disponibilidades do Fundo (excluindo o montante na Reserva para Despesas); e (ii) btgpactual.com</a:t>
            </a:r>
          </a:p>
          <a:p>
            <a:r>
              <a:t>CNPJ 41970012000126 · Razões decobertura porcamada · Regulamento · ID 1302706 · 27/08/2026 · versão Regulamento27/08/2026 · p. 8 · ContinuaçãoBasedeInvestimento · https://fnet.bmfbovespa.com.br/fnet/publico/visualizarDocumento?id=1302706</a:t>
            </a:r>
          </a:p>
          <a:p>
            <a:r>
              <a:t>CNPJ 41970012000126 · Razões decobertura porcamada · Excerto da fonte:</a:t>
            </a:r>
          </a:p>
          <a:p>
            <a:r>
              <a:t>o produto do: (a) Advance Rate; e (b) Valor Ajustado Agregado dos Direitos Creditórios (excluídos – para fins de esclarecimento – desse valor os Direitos Creditórios em relação aos quais tenha ocorrido uma Condição Resolutiva ou de Recompra ou um dos eventos listados no item 5.1.6.1 abaixo antes da efetiva recompra/compra ali prevista, conforme aplicável); menos (iii) a soma dos valores a</a:t>
            </a:r>
          </a:p>
          <a:p>
            <a:r>
              <a:t>CNPJ 41970012000126 · Razões decobertura porcamada · Regulamento · ID 1302706 · 27/08/2026 · versão Regulamento27/08/2026 · p. 34 · DefiniçãoSenioridadeMáxima · https://fnet.bmfbovespa.com.br/fnet/publico/visualizarDocumento?id=1302706</a:t>
            </a:r>
          </a:p>
          <a:p>
            <a:r>
              <a:t>CNPJ 41970012000126 · Razões decobertura porcamada · Excerto da fonte:</a:t>
            </a:r>
          </a:p>
          <a:p>
            <a:r>
              <a:t>Senioridade Máxima" significa o valor máximo das Cotas Seniores emitidas e integralizadas pelos Cotistas Seniores, o qual deverá, em cada Data Base, ou por ocasião de cada Chamada de Capital de qualquer pagamento de valores aos Cotistas Subordinados, seja em decorrência do Benchmark Mezanino, dos Rendimentos Adicionais, de Amortização, de Amortização Acelerada, amortização</a:t>
            </a:r>
          </a:p>
          <a:p>
            <a:r>
              <a:t>CNPJ 41970012000126 · Razões decobertura porcamada · Condição: Não é razão DC/PL; requer carteira individual, abatimentos e fluxos futuros.</a:t>
            </a:r>
          </a:p>
          <a:p>
            <a:r>
              <a:t>CNPJ 41970012000126 · Razões decobertura porcamada · Motivo: Não localizada uma cláusula material para este critério nos textos identificados e processados. A ausência de resultado não comprova inexistência da regra.</a:t>
            </a:r>
          </a:p>
          <a:p>
            <a:r>
              <a:t>CNPJ 41970012000126 · Razões decobertura porcamada · Versão e prevalência: Leitura específica das cláusulas indicadas; condições e conflitos preservados. Seleção documental atual não comprova vigência jurídica por data isolada.</a:t>
            </a:r>
          </a:p>
          <a:p>
            <a:r>
              <a:t>CNPJ 41970012000126 · Liberação eamortização dajúnior · Regulamento · ID 1302706 · 27/08/2026 · versão Regulamento27/08/2026 · p. 76 · 10.3 · https://fnet.bmfbovespa.com.br/fnet/publico/visualizarDocumento?id=1302706</a:t>
            </a:r>
          </a:p>
          <a:p>
            <a:r>
              <a:t>CNPJ 41970012000126 · Liberação eamortização dajúnior · Excerto da fonte:</a:t>
            </a:r>
          </a:p>
          <a:p>
            <a:r>
              <a:t>10.3. As Cotas Subordinadas Júnior somente poderão ser amortizadas parcial ou integralmente após a amortização integral/resgate das Cotas Seniores e das Cotas Subordinadas Mezanino, ressalvada a hipótese de Amortização Extraordinária, a qual estará permitida desde que se verifique o cumprimento dos seguintes critérios, cumulativamente: btgpactual.com</a:t>
            </a:r>
          </a:p>
          <a:p>
            <a:r>
              <a:t>CNPJ 41970012000126 · Liberação eamortização dajúnior · Regulamento · ID 1302706 · 27/08/2026 · versão Regulamento27/08/2026 · p. 77 · 10.3(i)–(vi),10.4.2 · https://fnet.bmfbovespa.com.br/fnet/publico/visualizarDocumento?id=1302706</a:t>
            </a:r>
          </a:p>
          <a:p>
            <a:r>
              <a:t>CNPJ 41970012000126 · Liberação eamortização dajúnior · Excerto da fonte:</a:t>
            </a:r>
          </a:p>
          <a:p>
            <a:r>
              <a:t>(i) o Administrador não tenha identificado nem tenha sido informado sobre a ocorrência de qualquer Evento de Avaliação, Evento de Liquidação Antecipada, Evento de Amortização Acelerada, Evento de Inadimplemento do Gestor e/ou do Administrador, Inadimplemento do Agente de Cobrança e/ou Inadimplemento do Agente de Recebimento em curso; (ii) a Amortização Extraordinária, considerada realizada pro forma, não resulte em qualquer Evento de Amortização Acelerada, Evento de Avaliação ou Evento de Liquidação Antecipada; (iii) a Amortização Extraordinária seja realizada em uma Data de Pagamento de Am</a:t>
            </a:r>
          </a:p>
          <a:p>
            <a:r>
              <a:t>CNPJ 41970012000126 · Liberação eamortização dajúnior · Versão e prevalência: Leitura específica das cláusulas indicadas; condições e conflitos preservados. Seleção documental atual não comprova vigência jurídica por data isolada.</a:t>
            </a:r>
          </a:p>
          <a:p>
            <a:r>
              <a:t>CNPJ 41970012000126 · Liberação eamortização dajúnior · Resumo do histórico: {"count": 11, "dates": ["2025-12-19", "2025-12-31"], "document_count": 3, "sources": [{"document_id": "1151156", "title": "Demonstrações Financeiras", "reference_date": "2025-12-31", "version": "1", "page": 36, "url": "https://fnet.bmfbovespa.com.br/fnet/publico/visualizarDocumento?id=1151156", "sha256": "04099e318871fbf25478d1ed88b19c4c6c6af84d9811507e8df48f7d824c6ec8"}, {"document_id": "1077333", "title": "AGE", "reference_date": "2025-12-19", "version": "1", "page": 103, "clause": "12.7", "url": "https://fnet.bmfbovespa.com.br/fnet/publico/visualizarDocumento?id=1077333", "sha256": "a9a25c5f8a0c493373a2157221109466cbc86e5f44f623997bba18ca14892751"}, {"document_id": "1077334", "title": "Regulamento", "reference_date": "2025-12-19", "version": "1", "page": 103, "clause": "12.7", "url": "https://fnet.bmfbovespa.com.br/fnet/publico/visualizarDocumento?id=1077334", "sha256": "a9a25c5f8a0c493373a2157221109466cbc86e5f44f623997bba18ca14892751"}], "reference": {"path": "history/41970012000126.json", "criterion_id": "junior_release", "total_count": 11, "preview_count": 3, "full_text_deferred": true, "sha256": "229578c6b833b0633051fe7d357f4fcc74589dcf37d7750032517e03ec89ee60"}}</a:t>
            </a:r>
          </a:p>
          <a:p>
            <a:r>
              <a:t>CNPJ 41970012000126 · Reserva de liquidez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41970012000126 · Reserva de liquidez · Resumo do histórico: {"count": 1, "dates": ["2026-08-27"], "document_count": 1, "sources": [{"document_id": "1302706", "title": "Regulamento", "reference_date": "2026-08-27", "version": "1", "page": "102", "url": "https://fnet.bmfbovespa.com.br/fnet/publico/visualizarDocumento?id=1302706", "sha256": "b113727bc2bc3b1a6b0d18f02bf2143068fd912df2d83cbb91ab44fcb30a3379"}], "reference": {"path": "history/41970012000126.json", "criterion_id": "liquidity_reserve", "total_count": 1, "preview_count": 1, "full_text_deferred": true, "sha256": "229578c6b833b0633051fe7d357f4fcc74589dcf37d7750032517e03ec89ee60"}}</a:t>
            </a:r>
          </a:p>
          <a:p>
            <a:r>
              <a:t>CNPJ 41970012000126 · Reserva dedespesas · Base da comparação IME: {"criterion_id": "expense_reserve", "observed_value": null, "unit": "percent", "competence": "08/2026", "status": "not_comparable", "reason": "Operador, unidade, numerador ou base contratual sem correspondência exata no IME; proxies de PL/ativos não são intercambiáveis.", "formula": "", "source": {"type": "ime_document", "cnpj": "41970012000126", "competence": "08/2026", "path": "data/documentary_diligence/ime/41970012000126_202608.json", "reported_fund_cnpj": "41970012000126", "reported_class_cnpj": "41970012000126", "reported_fund_cnpj_raw": "41970012000126", "reported_class_cnpj_raw": "41970012000126",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"1318098", "version": 1, "delivered_at": "14/09/2026 14:44", "url": "https://fnet.bmfbovespa.com.br/fnet/publico/exibirDocumento?id=1318098", "declared_fields_sha256": "dd9e87c71c92c3781738669fcec53c651e2aeb5d75dfbae1e3b41b46f4ce9e8d", "snapshot_path": "data/documentary_diligence/ime/41970012000126_202608.json"}, "headroom": null, "limit": 1.05}</a:t>
            </a:r>
          </a:p>
          <a:p>
            <a:r>
              <a:t>CNPJ 41970012000126 · Reserva dedespesas · Regulamento · ID 1302706 · 27/08/2026 · versão Regulamento27/08/2026 · p. 102 · 20.1–20.1.2 · https://fnet.bmfbovespa.com.br/fnet/publico/visualizarDocumento?id=1302706</a:t>
            </a:r>
          </a:p>
          <a:p>
            <a:r>
              <a:t>CNPJ 41970012000126 · Reserva dedespesas · Excerto da fonte:</a:t>
            </a:r>
          </a:p>
          <a:p>
            <a:r>
              <a:t>20.1. A partir da Data da Primeira Integralização de Cotas do Fundo, o Administrador deverá constituir e manter, durante todo o prazo de vigência do Fundo, uma reserva equivalente a 1,05% (um inteiro e cinco centésimos por cento) do Patrimônio Líquido do Fundo, apurado na respectiva data de constituição ou recomposição da Reserva para Despesas. A Reserva para Despesas será constituída ou recomposta com recursos recebidos dos pagamentos dos Direitos Creditórios e dos Ativos Financeiros segundo os critérios estabelecidos neste Regulamento. 20.1.1. O valor da Reserva para Despesas será verificado pelo Administrador diariamente. Sempre que for consta</a:t>
            </a:r>
          </a:p>
          <a:p>
            <a:r>
              <a:t>CNPJ 41970012000126 · Reserva dedespesas · Regulamento · ID 1077334 · 19/12/2025 · versão Regulamento19/12/2025 · p. 123 · 20.1–20.1.1 · https://fnet.bmfbovespa.com.br/fnet/publico/visualizarDocumento?id=1077334</a:t>
            </a:r>
          </a:p>
          <a:p>
            <a:r>
              <a:t>CNPJ 41970012000126 · Reserva dedespesas · Excerto da fonte:</a:t>
            </a:r>
          </a:p>
          <a:p>
            <a:r>
              <a:t>20.1. A partir da Data da Primeira Integralização, o Administrador deverá constituir e manter, durante todo o prazo de vigência do Fundo, uma reserva equivalente a 1,05% (um inteiro e cinco centésimos por cento) do Patrimônio Líquido do Fundo, apurado na respectiva data de constituição ou recomposição da Reserva para Despesas. A Reserva para Despesas será constituída ou recomposta com recursos recebidos dos pagamentos dos Direitos Creditórios e dos Ativos Financeiros segundo os critérios estabelecidos neste Regulamento. 20.1.1. O valor da Reserva para Despesas será verificado pelo Admin</a:t>
            </a:r>
          </a:p>
          <a:p>
            <a:r>
              <a:t>CNPJ 41970012000126 · Reserva dedespesas · Condição: Reserva segregada incluindo liquidez elegível; cash/disponibilidades do IME não é numerador exato.</a:t>
            </a:r>
          </a:p>
          <a:p>
            <a:r>
              <a:t>CNPJ 41970012000126 · Reserva dedespesas · Mecânica: {"operator": "&gt;=", "limit": 1.05, "unit": "percent", "numerator": "expense_reserve_assets", "denominator": "net_asset_value", "frequency": "daily", "layer": "fund", "effective_status": "document_date_only", "document_date": "2026-08-27"}</a:t>
            </a:r>
          </a:p>
          <a:p>
            <a:r>
              <a:t>CNPJ 41970012000126 · Reserva dedespesas · Motivo: Não localizada uma cláusula material para este critério nos textos identificados e processados. A ausência de resultado não comprova inexistência da regra.</a:t>
            </a:r>
          </a:p>
          <a:p>
            <a:r>
              <a:t>CNPJ 41970012000126 · Reserva dedespesas · Versão e prevalência: Leitura específica das cláusulas indicadas; condições e conflitos preservados. Seleção documental atual não comprova vigência jurídica por data isolada.</a:t>
            </a:r>
          </a:p>
          <a:p>
            <a:r>
              <a:t>CNPJ 41970012000126 · Reserva dedespesas · Resumo do histórico: {"count": 1, "dates": ["19/12/2025"], "document_count": 1, "sources": [{"document_id": 1077334, "title": "Regulamento", "reference_date": "19/12/2025", "version": "Regulamento19/12/2025", "page": "123", "clause": "20.1–20.1.1", "url": "https://fnet.bmfbovespa.com.br/fnet/publico/visualizarDocumento?id=1077334", "sha256": "a9a25c5f8a0c493373a2157221109466cbc86e5f44f623997bba18ca14892751"}], "reference": {"path": "history/41970012000126.json", "criterion_id": "expense_reserve", "total_count": 1, "preview_count": 1, "full_text_deferred": true, "sha256": "229578c6b833b0633051fe7d357f4fcc74589dcf37d7750032517e03ec89ee60"}}</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PLGN Marketplace · vínculo CNPJ 41970012000126 · Qualidade da carteira</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Vínculo: PLGN Marketplace · CNPJ 55563624000109 → CNPJ 41970012000126 · Regulamento · ID 1192614 · 30/04/2026 · versão Regulamento30/04/2026 · p. 11 · AnexoI4.1</a:t>
            </a:r>
          </a:p>
          <a:p>
            <a:r>
              <a:t>Condição do vínculo: {"cnpj": "41970012000126", "name": "Mercado Crédito II Brasil FIDC", "relationship": "named_investee", "exposure": "mezzanine", "position_status": "mandate_identified_position_not_quantified", "risk_note": "Mandato e classe exatos; comparar regras eIMEdo investido na competência doFIC, sem dupla contagem dePL."}</a:t>
            </a:r>
          </a:p>
          <a:p>
            <a:r>
              <a:t>CNPJ 41970012000126 · Metodologia de PDD e curva por atraso · Base da comparação IME: {"criterion_id": "pdd", "observed_value": null, "unit": "", "competence": "08/2026", "status": "not_comparable", "reason": "A curva de PDD requer atraso, contágio e garantias por operação; o agregado mensal não demonstra aplicação da metodologia.", "formula": "", "source": {"type": "ime_document", "cnpj": "41970012000126", "competence": "08/2026", "path": "data/documentary_diligence/ime/41970012000126_202608.json", "reported_fund_cnpj": "41970012000126", "reported_class_cnpj": "41970012000126", "reported_fund_cnpj_raw": "41970012000126", "reported_class_cnpj_raw": "41970012000126",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"1318098", "version": 1, "delivered_at": "14/09/2026 14:44", "url": "https://fnet.bmfbovespa.com.br/fnet/publico/exibirDocumento?id=1318098", "declared_fields_sha256": "dd9e87c71c92c3781738669fcec53c651e2aeb5d75dfbae1e3b41b46f4ce9e8d", "snapshot_path": "data/documentary_diligence/ime/41970012000126_202608.json"}, "headroom": null, "limit": null, "comparison_required": true, "context_formula": "PDD / direitos creditórios", "context_value": 35.24349879612038, "context_unit": "percent"}</a:t>
            </a:r>
          </a:p>
          <a:p>
            <a:r>
              <a:t>CNPJ 41970012000126 · Metodologia de PDD e curva por atraso · Regulamento · ID 1302706 · 27/08/2026 · versão 1 · p. 48 · 6.3–6.4 · https://fnet.bmfbovespa.com.br/fnet/publico/visualizarDocumento?id=1302706</a:t>
            </a:r>
          </a:p>
          <a:p>
            <a:r>
              <a:t>CNPJ 41970012000126 · Metodologia de PDD e curva por atraso · Excerto da fonte:</a:t>
            </a:r>
          </a:p>
          <a:p>
            <a:r>
              <a:t>6.3. As provisões e as perdas relativas aos Direitos Creditórios Adquiridos e aos Ativos Financeiros serão efetuadas e reconhecidas pelo Administrador, de acordo com a metodologia prevista na Instrução CVM 489. 6.4. Sem prejuízo do disposto acima, o Administrador irá calcular as provisões referentes aos Direitos Creditórios conforme metodologia de provisionamento para devedores duvidosos disposta no COMPLEMENTO XIII deste Regulamento.</a:t>
            </a:r>
          </a:p>
          <a:p>
            <a:r>
              <a:t>CNPJ 41970012000126 · Metodologia de PDD e curva por atraso · Regulamento · ID 1302706 · 27/08/2026 · versão 1 · p. 160–163 · Complemento XIII, curvas, premissas e taxas de migração · https://fnet.bmfbovespa.com.br/fnet/publico/visualizarDocumento?id=1302706</a:t>
            </a:r>
          </a:p>
          <a:p>
            <a:r>
              <a:t>CNPJ 41970012000126 · Metodologia de PDD e curva por atraso · Excerto da fonte:</a:t>
            </a:r>
          </a:p>
          <a:p>
            <a:r>
              <a:t>COMPLEMENTO XIII PROCEDIMENTOS E METODOLOGIA DE PROVISIONAMENTO PARA DEVEDORES DUVIDOSOS DE DIREITOS CREDITÓRIOS Este complemento é parte integrante do regulamento do Mercado Crédito II Brasil Fundo de Investimento em Direitos Creditórios de Responsabilidade Limitada. O presente documento apresenta a metodologia de provisionamento de direitos creditórios decorrentes de empréstimos na modalidade de Crédito Parcelado ou Empréstimo Pessoal concedidos a usuários do Mercado Pago pela Instituição Financeira MeLi e representados por CCBs com seus respectivos Documentos Comprobatórios. A metodologia de provisionamento é baseada em uma análise de migração histórica dos contratos entre 7 diferentes categorias: Direitos Creditórios sem garantia: Legenda Dias de Atraso Categoria Percentual de Provisionamento (%) Faixa 0 0 dias Adimplente 0,0% Faixa 1 1 a 15 dias Atraso 0,0% Faixa 2 16 a 30 dias Atraso 50,0% Faixa 3 31 a 60 dias Atraso 91,0% Faixa 4 61 a 90 dias Atraso 95,0% Faixa 5 91 a 120 dias Atraso 97,0% Faixa 6 121 a 150 dias Atraso 98,0% Faixa 7 Acima de 151 dias Perda 100% Direitos Creditórios com garantia: Faixa Dias de Atraso Categoria Percentual de Provisionamento (%) Faixa 0 0 dias Adimplente 0,0% Faixa 1 1 a 30 dias Atraso 0,5% Faixa 2 31 a 60 dias Atraso 5,0% Faixa 3 61 a 90 dias Atraso 15,0% Faixa 4 91 a 120 dias Atraso 30,0% Faixa 5 121 a 150 dias Atraso 50,0% Faixa 6 151 a 180 dias Atraso 75,0% Faixa 7 Acima de 181 dias Perda 100,0% Definição de Categoria: Adimplente - O contrato não tem nenhuma parcela em atraso; Atraso - O contrato está com alguma parcela em atraso; Perda - O contrato está pelo menos uma parcela vencida e com um atraso equivalente à Faixa 7. Premissas: - Para efeito de cálculo das provisões em cada faixa de atraso, será levado em consideração na base de cálculo o montante de principal da carteira vencida e em aberto somado ao provisionamento dos juros de cada empréstimo, isto é, será levado em consideração o valor presente da carteira em atraso. - Para cada uma das faixas acima (em Atraso ou Adimplente), é definido um "Percentual de Provisionamento" que é revisitado ao final de cada mês. - O "Percentual de Provisionamento" de cada uma das faixas representa a probabilidade de que o empréstimo migre até a Faixa 7, onde ganha o status de Perda. Desta maneira, o "Percentual de Provisionamento" é resultado da multiplicação cumulativa das "Taxas de Migração" (conforme definição abaixo) entre as faixas até a Faixa 7. - Atualização do Percentual de Provisionamento: O "Percentual de Provisionamento" é revisitado ao final de cada mês com o objetivo de calibrar melhor a taxa de migração real observada na carteira de crédito. Ao longo do ano, o Percentual de Provisionamento é atualizado 12 vezes: i) em Janeiro, levando em conta a Taxa de Migração Aplicada (conforme definido abaixo) dos meses de Outubro, Novembro e Dezembro; ii) em Fevereiro, levando em conta a Taxa de Migração Aplicada (conforme definido abaixo) dos meses de Novembro, Dezembro e Janeiro; iii) em Março, levando em conta a Taxa de Migração Aplicada (conforme definido abaixo) dos meses de Dezembro, Janeiro e Fevereiro; iv) em Abril, levando em conta a Taxa de Migração Aplicada (conforme definido abaixo) dos meses de Janeiro, Fevereiro e Março; v) em Maio, levando em conta a Taxa de Migração Aplicada (conforme definido abaixo) dos meses de Fevereiro, Março e Abril; vi) em Junho, levando em conta a Taxa de Migração Aplicada (conforme definido abaixo) dos meses de Março, Abril e Maio; vii) em Julho, levando em conta a Taxa de Migração Aplicada (conforme definido abaixo) dos meses de Abril, Maio e Junho; viii) em Agosto, levando em conta a Taxa de Migração Aplicada (conforme definido abaixo) dos meses de Maio, Junho e Julho; ix) em Setembro, levando em conta a Taxa de Migração Aplicada (conforme definido abaixo) dos meses de Junho, Julho e Agosto; x) em Outubro, levando em conta a Taxa de Migração Aplicada (conforme definido abaixo) dos meses de Julho, Agosto e Setembro; xi) em Novembro, levando em conta a Taxa de Migração Aplicada (conforme definido abaixo) dos meses de Agosto, Setembro e Outubro; xii) em Dezembro, levando em conta a Taxa de Migração Aplicada (conforme definido abaixo) dos meses de Setembro, Outubro e Novembro. Nota: A atualização mensal do novo Percentual de Provisionamento deverá ser realizada e aplicada à carteira até o 5º (quinto) Dia Útil dos referidos meses, devendo vigorar até uma nova atualização, seguindo novamente esta cronologia. - Período de perdas: Com base no desempenho histórico e considerando o comportamento da carteira, o período de perda utilizado é de acordo com os dias informados na Faixa 7. - Recuperações: As recuperações são excluídas da análise de migração. Uma estimativa para recuperações futuras e cessão de Direitos Creditórios inadimplidos pelo Fundo a terceiros são incluídas posteriormente no cálculo de provisão. - Migração de Faixa de Atraso: A metodologia utilizada para o cálculo da migração dos contratos pelas faixas de atraso considera não só as parcelas vencidas, mas também as parcelas a vencer dos Contratos ("efeito vagão"), migrando o saldo devedor do contrato como um todo para a próxima faixa de atraso. - Taxa de Migração Aplicada: Com o objetivo de suavizar quaisquer ocorrências pontuais e incomuns que resultem em variação brusca nas taxas de migração, a "Taxa de Migração Aplicada" para o cálculo do Percentual de Provisionamento é resultante de um cálculo de média simples das "Taxas de Migração" (conforme definição abaixo) observadas no último dia dos últimos 3 meses. - Janela de Análise: Durante os doze primeiros meses de atividade do Fundo, enquanto não existir tal histórico, serão considerados os respectivos percentuais determinados de acordo com a faixa de atraso na tabela acima. - Renegociação: Direitos Creditórios que sejam renegociados por qualquer motivo, independentemente da anuência do Fundo, deverão ser considerados na categoria do contrato original. Taxa de Migração: Analisar os saldos históricos de cada faixa de atraso permite observar o padrão comportamental da carteira mês a mês. A ideia é observar a migração dos saldos em atraso de uma categoria para a outra no passar do tempo. As taxas de migração são calculadas como a porcentagem de uma categoria ou faixa que migrou para a próxima no mês seguinte. Por Exemplo, em 31/01/18: • A Taxa de Migração da Faixa 1 é resultante da divisão do valor de principal dos recebíveis da própria Faixa 1 em 31/01/18 pelo valor de principal dos recebíveis da categoria "Adimplente" de 31/12/17; • A Taxa de Migração da Faixa 2 é resultante da divisão do valor de principal dos recebíveis da própria Faixa 2 em 31/01/18 pelo valor de principal dos recebíveis da Faixa 1 de 31/12/17; • A Taxa de Migração da Faixa 3 é resultante da divisão do valor de principal dos recebíveis da própria Faixa 3 em 31/01/18 pelo valor de principal dos recebíveis da Faixa 2 de 31/12/17; • A Taxa de Migração da Faixa 4 dias é resultante da divisão do valor de principal dos recebíveis da própria Faixa 4 em 31/01/18 pelo valor de principal dos recebíveis da Faixa 3 de 31/12/17; • A Taxa de Migração da Faixa 5 dias é resultante da divisão do valor de principal dos recebíveis da própria Faixa 5 em 31/01/18 pelo valor de principal dos recebíveis da Faixa 4 de 31/12/17; e • A Taxa de Migração da Faixa 6 dias é resultante da divisão do valor de principal dos recebíveis da própria Faixa 6 em 31/01/18 pelo valor de principal dos recebíveis da Faixa 5 de 31/12/17. As Taxas de Migração são sempre observadas no último dia de cada mês. Para efeito da política de provisionamento, e para o cálculo dos Percentuais de Provisionamento considera- se a Taxa de Migração Aplicada, resultante de um cálculo de média simples das "Taxas de Migração" das taxas dos últimos 3 meses. Percentual de Provisionamento: Cada categoria ou faixa de atraso possui um Percentual de Provisionamento diferente que é calculado a partir das Taxas de Migração. Como mencionado acima, o Percentual de Provisionamento de cada uma das faixas representa a probabilidade de que o empréstimo migre até a Faixa 7, onde ganha o status de Perda. Desta maneira, o "Percentual de Provisionamento" é resultado da multiplicação cumulativa das taxas de migração entre as faixas até a Faixa 7. • O Percentual de Provisionamento da Faixa 0 ("Adimplente" ou "Em dia") é resultado da multiplicação entre as Taxas de Migração das Faixas 1, 2, 3, 4, 5, 6 e 7; • O Percentual de Provisionamento da Faixa 1 é resultado da multiplicação entre as Taxas de Migração das Faixas 2, 3, 4, 5, 6 e 7; • O Percentual de Provisionamento da Faixa 2 é resultado da multiplicação entre as Taxas de Migração das Faixas 3, 4; 5, 6 e 7; • O Percentual de Provisionamento da Faixa 3 é resultado da multiplicação entre as Taxas de Migração das Faixas 4, 5, 6 e 7; • O Percentual de Provisionamento da Faixa 4 é resultado da multiplicação entre as Taxas de Migração das Faixas 5, 6 e 7; • O Percentual de Provisionamento da Faixa 5 é resultado da multiplicação entre as Taxas de Migração das Faixas 6 e 7; • O Percentual de Provisionamento da Faixa 6 é equivalente à Taxa de Migração da Faixa 7; e • O Percentual de Provisionamento da Faixa 7 é 100% dado que é considerado "Perda". Conforme já mencionado acima, o "Percentual de Provisionamento" é revisitado ao final de cada mês com o objetivo de calibrar melhor a taxa de migração real observada na carteira de crédito.</a:t>
            </a:r>
          </a:p>
          <a:p>
            <a:r>
              <a:t>CNPJ 41970012000126 · Metodologia de PDD e curva por atraso · Condição: Tabela inicial aplica-se nos primeiros 12 meses enquanto não existe histórico; percentuais posteriores são recalibrados mensalmente. Texto literal deixa dias 151(sem garantia) e 181(com garantia) sem faixa explícita. Não comparar tabela estática ou PDD/PL agregado do IME com cálculo por contrato/migração.</a:t>
            </a:r>
          </a:p>
          <a:p>
            <a:r>
              <a:t>CNPJ 41970012000126 · Metodologia de PDD e curva por atraso · Versão e prevalência: Leitura específica das cláusulas indicadas; condições e conflitos preservados. Seleção documental atual não comprova vigência jurídica por data isolada.</a:t>
            </a:r>
          </a:p>
          <a:p>
            <a:r>
              <a:t>CNPJ 41970012000126 · Metodologia de PDD e curva por atraso · Resumo do histórico: {"count": 19, "dates": ["2025-12-19", "2025-12-31", "2026-08-27"], "document_count": 3, "sources": [{"document_id": "1302706", "title": "Regulamento", "reference_date": "2026-08-27", "version": "1", "page": "42", "url": "https://fnet.bmfbovespa.com.br/fnet/publico/visualizarDocumento?id=1302706", "sha256": "b113727bc2bc3b1a6b0d18f02bf2143068fd912df2d83cbb91ab44fcb30a3379"}, {"document_id": "1151156", "title": "Demonstrações Financeiras", "reference_date": "2025-12-31", "version": "1", "page": 18, "url": "https://fnet.bmfbovespa.com.br/fnet/publico/visualizarDocumento?id=1151156", "sha256": "04099e318871fbf25478d1ed88b19c4c6c6af84d9811507e8df48f7d824c6ec8"}, {"document_id": "1077333", "title": "AGE", "reference_date": "2025-12-19", "version": "1", "page": 113, "url": "https://fnet.bmfbovespa.com.br/fnet/publico/visualizarDocumento?id=1077333", "sha256": "a9a25c5f8a0c493373a2157221109466cbc86e5f44f623997bba18ca14892751"}], "reference": {"path": "history/41970012000126.json", "criterion_id": "pdd", "total_count": 19, "preview_count": 3, "full_text_deferred": true, "sha256": "229578c6b833b0633051fe7d357f4fcc74589dcf37d7750032517e03ec89ee60"}}</a:t>
            </a:r>
          </a:p>
          <a:p>
            <a:r>
              <a:t>CNPJ 41970012000126 · Gatilhos deatraso erolagem · Regulamento · ID 1302706 · 27/08/2026 · versão Regulamento27/08/2026 · p. 22 · DefiniçõesStepDown1/2 · https://fnet.bmfbovespa.com.br/fnet/publico/visualizarDocumento?id=1302706</a:t>
            </a:r>
          </a:p>
          <a:p>
            <a:r>
              <a:t>CNPJ 41970012000126 · Gatilhos deatraso erolagem · Excerto da fonte:</a:t>
            </a:r>
          </a:p>
          <a:p>
            <a:r>
              <a:t>Evento de Step-Down Nível 1" significa o evento em que: (i) a Média Móvel do Índice de Juros Excedente passe a ser inferior ou igual a 62,5% (sessenta e dois e meio por cento); ou (ii) a Média Móvel do Índice de Inadimplência passe a ser maior ou igual a 8% (oito por cento). "Evento de Step-Down Nível 2" significa o evento em que a Média Móvel do Índice de Juros Excedente passe a ser inferior ou igual a 52,5% (cinquenta e dois e meio por cento).</a:t>
            </a:r>
          </a:p>
          <a:p>
            <a:r>
              <a:t>CNPJ 41970012000126 · Gatilhos deatraso erolagem · Regulamento · ID 1302706 · 27/08/2026 · versão Regulamento27/08/2026 · p. 37 · ValoresdeReduçãoStepDown1/2 · https://fnet.bmfbovespa.com.br/fnet/publico/visualizarDocumento?id=1302706</a:t>
            </a:r>
          </a:p>
          <a:p>
            <a:r>
              <a:t>CNPJ 41970012000126 · Gatilhos deatraso erolagem · Excerto da fonte:</a:t>
            </a:r>
          </a:p>
          <a:p>
            <a:r>
              <a:t>Valor de Redução Evento de significa, na ocorrência de um Evento de Step-Down Step-Down Nível 1" Nível 1 nos termos do item (i) da definição de Evento de Step-Down Nível 1, 5% (cinco por cento); Na ocorrência de um Evento de Step-Down Nível 1 nos termos do item (ii) da definição de Evento de Step-Down Nível 1, o Índice de Inadimplência menos 8% (oito por cento). "Valor de Redução Evento de significa, na ocorrência de um Evento de Step-</a:t>
            </a:r>
          </a:p>
          <a:p>
            <a:r>
              <a:t>CNPJ 41970012000126 · Gatilhos deatraso erolagem · Condição: Índices contratuais não correspondem automaticamente ao Over 90/estoque do IME; não tratar 8% como limite sobre qualquer métrica pública.</a:t>
            </a:r>
          </a:p>
          <a:p>
            <a:r>
              <a:t>CNPJ 41970012000126 · Gatilhos deatraso erolagem · Versão e prevalência: Leitura específica das cláusulas indicadas; condições e conflitos preservados. Seleção documental atual não comprova vigência jurídica por data isolada.</a:t>
            </a:r>
          </a:p>
          <a:p>
            <a:r>
              <a:t>CNPJ 41970012000126 · Gatilhos deatraso erolagem · Resumo do histórico: {"count": 8, "dates": ["2025-05-19", "2025-12-19"], "document_count": 3, "sources": [{"document_id": "1077333", "title": "AGE", "reference_date": "2025-12-19", "version": "1", "page": 101, "clause": "12.1", "url": "https://fnet.bmfbovespa.com.br/fnet/publico/visualizarDocumento?id=1077333", "sha256": "a9a25c5f8a0c493373a2157221109466cbc86e5f44f623997bba18ca14892751"}, {"document_id": "1077334", "title": "Regulamento", "reference_date": "2025-12-19", "version": "1", "page": 101, "clause": "12.1", "url": "https://fnet.bmfbovespa.com.br/fnet/publico/visualizarDocumento?id=1077334", "sha256": "a9a25c5f8a0c493373a2157221109466cbc86e5f44f623997bba18ca14892751"}, {"document_id": "909707", "title": "Regulamento", "reference_date": "2025-05-19", "version": "1", "page": 99, "clause": "12.1", "url": "https://fnet.bmfbovespa.com.br/fnet/publico/visualizarDocumento?id=909707", "sha256": "cfa949e3b02c8900c5d0e5f82225a19dc627218a4e4f2e969681a09335c55224"}], "reference": {"path": "history/41970012000126.json", "criterion_id": "aging_trigger", "total_count": 8, "preview_count": 3, "full_text_deferred": true, "sha256": "229578c6b833b0633051fe7d357f4fcc74589dcf37d7750032517e03ec89ee60"}}</a:t>
            </a:r>
          </a:p>
          <a:p>
            <a:r>
              <a:t>CNPJ 41970012000126 · Diluição, cancelamento e chargeback · Motivo: Não localizada uma cláusula material para este critério nos textos identificados e processados. A ausência de resultado não comprova inexistência da regra.</a:t>
            </a:r>
          </a:p>
          <a:p>
            <a:r>
              <a:t>CNPJ 41970012000126 · Recompra eindenização · Regulamento · ID 1302706 · 27/08/2026 · versão Regulamento27/08/2026 · p. 42 · 5.1.6.3–5.1.6.4 · https://fnet.bmfbovespa.com.br/fnet/publico/visualizarDocumento?id=1302706</a:t>
            </a:r>
          </a:p>
          <a:p>
            <a:r>
              <a:t>CNPJ 41970012000126 · Recompra eindenização · Excerto da fonte:</a:t>
            </a:r>
          </a:p>
          <a:p>
            <a:r>
              <a:t>5.1.6.3. Sem prejuízo do disposto nos itens 5.1.6.1 e 5.1.6.2 acima, o Mercado Pago, diretamente ou por meio de qualquer entidade integrante de seu grupo econômico e/ou veículo de investimento estruturado por entidade do grupo econômico da MeLi, terá a opção de adquirir até a Data Limite de Investimento em Direitos Creditórios, nos termos previstos no Contrato de Agente de Recebimento, Direitos Creditórios Adquiridos, desde que: (i) notifique o Gestor a respeito do exercício da Opção de Compra de Direitos Creditórios até a Data Base 1 do mês correspondente; (ii) considerada pro forma a aquisição pretendida, não haja desenquadramento da Senioridade Máxima;</a:t>
            </a:r>
          </a:p>
          <a:p>
            <a:r>
              <a:t>CNPJ 41970012000126 · Recompra eindenização · Versão e prevalência: Leitura específica das cláusulas indicadas; condições e conflitos preservados. Seleção documental atual não comprova vigência jurídica por data isolada.</a:t>
            </a:r>
          </a:p>
          <a:p>
            <a:r>
              <a:t>CNPJ 41970012000126 · Recompra eindenização · Resumo do histórico: {"count": 16, "dates": ["2025-12-19", "2025-12-31", "2026-08-27"], "document_count": 3, "sources": [{"document_id": "1302706", "title": "Regulamento", "reference_date": "2026-08-27", "version": "1", "page": "41", "url": "https://fnet.bmfbovespa.com.br/fnet/publico/visualizarDocumento?id=1302706", "sha256": "b113727bc2bc3b1a6b0d18f02bf2143068fd912df2d83cbb91ab44fcb30a3379"}, {"document_id": "1151156", "title": "Demonstrações Financeiras", "reference_date": "2025-12-31", "version": "1", "page": 25, "url": "https://fnet.bmfbovespa.com.br/fnet/publico/visualizarDocumento?id=1151156", "sha256": "04099e318871fbf25478d1ed88b19c4c6c6af84d9811507e8df48f7d824c6ec8"}, {"document_id": "1077333", "title": "AGE", "reference_date": "2025-12-19", "version": "1", "page": 128, "clause": "21.3", "url": "https://fnet.bmfbovespa.com.br/fnet/publico/visualizarDocumento?id=1077333", "sha256": "a9a25c5f8a0c493373a2157221109466cbc86e5f44f623997bba18ca14892751"}], "reference": {"path": "history/41970012000126.json", "criterion_id": "repurchase", "total_count": 16, "preview_count": 3, "full_text_deferred": true, "sha256": "229578c6b833b0633051fe7d357f4fcc74589dcf37d7750032517e03ec89ee60"}}</a:t>
            </a:r>
          </a:p>
          <a:p>
            <a:r>
              <a:t>CNPJ 41970012000126 · Coobrigação e retenção de risco · Regulamento · ID 1302706 · 2026-08-27 · versão 1 · p. 41 · 5.1.6.2.1 · https://fnet.bmfbovespa.com.br/fnet/publico/visualizarDocumento?id=1302706</a:t>
            </a:r>
          </a:p>
          <a:p>
            <a:r>
              <a:t>CNPJ 41970012000126 · Coobrigação e retenção de risco · Excerto da fonte:</a:t>
            </a:r>
          </a:p>
          <a:p>
            <a:r>
              <a:t>5.1.6.2.1. O disposto acima não caracteriza garantia ou coobrigação do Mercado Pago, que, em  nenhuma hipótese se responsabilizou pela capacidade de pagamento e solvência dos Devedores,  permanecendo tal risco integralmente suportado pelo Fundo. As obrigações assumidas pelo Mercado Pago  e/ou pelos Endossantes nos Documentos do Fundo, incluindo no Contrato de Agente de Recebimento e nos  Contratos de Endosso, limitam-se exclusivamente às hipóteses expressamente previstas em tais  documentos, incluindo obrigações de natureza operacional, formal, documental e/ou relacionadas à  elegibilidade, validade e formalização dos Direitos Creditórios, não implicando assunção do risco de  inadimplemento dos Devedores.</a:t>
            </a:r>
          </a:p>
          <a:p>
            <a:r>
              <a:t>CNPJ 41970012000126 · Coobrigação e retenção de risco · Regulamento · ID 1302706 · 2026-08-27 · versão 1 · p. 44 · 5.2.2.1 · https://fnet.bmfbovespa.com.br/fnet/publico/visualizarDocumento?id=1302706</a:t>
            </a:r>
          </a:p>
          <a:p>
            <a:r>
              <a:t>CNPJ 41970012000126 · Coobrigação e retenção de risco · Excerto da fonte:</a:t>
            </a:r>
          </a:p>
          <a:p>
            <a:r>
              <a:t>5.2.2.1. O não atendimento de qualquer Direito Creditório Adquirido com relação a qualquer Critério  de Elegibilidade, por qualquer motivo ocorrido após a sua transferência ao Fundo, não obrigará a sua  alienação pelo Fundo, nem dará ao Fundo qualquer pretensão, recurso ou direito de regresso contra os  Endossantes, o Mercado Pago, o Administrador, o Gestor, o Custodiante ou suas Partes Relacionadas.</a:t>
            </a:r>
          </a:p>
          <a:p>
            <a:r>
              <a:t>CNPJ 41970012000126 · Coobrigação e retenção de risco · Regulamento · ID 1302706 · 2026-08-27 · versão 1 · p. 45 · 5.2.6 · https://fnet.bmfbovespa.com.br/fnet/publico/visualizarDocumento?id=1302706</a:t>
            </a:r>
          </a:p>
          <a:p>
            <a:r>
              <a:t>CNPJ 41970012000126 · Coobrigação e retenção de risco · Excerto da fonte:</a:t>
            </a:r>
          </a:p>
          <a:p>
            <a:r>
              <a:t>5.2.6. O não atendimento de qualquer Direito Creditório Adquirido com relação a qualquer Condição de  Cessão, por qualquer motivo ocorrido após a sua transferência ao Fundo, não obrigará a sua alienação  pelo Fundo, nem dará ao Fundo qualquer pretensão, recurso ou direito de regresso contra os Endossantes,  o Mercado Pago, o Administrador, o Gestor, o Custodiante ou suas Partes Relacionadas.</a:t>
            </a:r>
          </a:p>
          <a:p>
            <a:r>
              <a:t>CNPJ 41970012000126 · Coobrigação e retenção de risco · Condição: Documentos atuais selecionados no inventário por categoria/escopo; a data documental isolada não comprova vigência jurídica.</a:t>
            </a:r>
          </a:p>
          <a:p>
            <a:r>
              <a:t>CNPJ 41970012000126 · Coobrigação e retenção de risco · Versão e prevalência: Documentos atuais selecionados no inventário por categoria/escopo; a data documental isolada não comprova vigência jurídica.</a:t>
            </a:r>
          </a:p>
          <a:p>
            <a:r>
              <a:t>CNPJ 41970012000126 · Coobrigação e retenção de risco · Resumo do histórico: {"count": 12, "dates": ["2025-12-19", "2025-12-31"], "document_count": 3, "sources": [{"document_id": "1151156", "title": "Demonstrações Financeiras", "reference_date": "2025-12-31", "version": "1", "page": 23, "url": "https://fnet.bmfbovespa.com.br/fnet/publico/visualizarDocumento?id=1151156", "sha256": "04099e318871fbf25478d1ed88b19c4c6c6af84d9811507e8df48f7d824c6ec8"}, {"document_id": "1077333", "title": "AGE", "reference_date": "2025-12-19", "version": "1", "page": 46, "clause": "5.1.5.2.1", "url": "https://fnet.bmfbovespa.com.br/fnet/publico/visualizarDocumento?id=1077333", "sha256": "a9a25c5f8a0c493373a2157221109466cbc86e5f44f623997bba18ca14892751"}, {"document_id": "1077334", "title": "Regulamento", "reference_date": "2025-12-19", "version": "1", "page": 46, "clause": "5.1.5.2.1", "url": "https://fnet.bmfbovespa.com.br/fnet/publico/visualizarDocumento?id=1077334", "sha256": "a9a25c5f8a0c493373a2157221109466cbc86e5f44f623997bba18ca14892751"}], "reference": {"path": "history/41970012000126.json", "criterion_id": "coobligation", "total_count": 12, "preview_count": 3, "full_text_deferred": true, "sha256": "229578c6b833b0633051fe7d357f4fcc74589dcf37d7750032517e03ec89ee60"}}</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PLGN Marketplace · vínculo CNPJ 41970012000126 · Qualidade da carteira</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Vínculo: PLGN Marketplace · CNPJ 55563624000109 → CNPJ 41970012000126 · Regulamento · ID 1192614 · 30/04/2026 · versão Regulamento30/04/2026 · p. 11 · AnexoI4.1</a:t>
            </a:r>
          </a:p>
          <a:p>
            <a:r>
              <a:t>Condição do vínculo: {"cnpj": "41970012000126", "name": "Mercado Crédito II Brasil FIDC", "relationship": "named_investee", "exposure": "mezzanine", "position_status": "mandate_identified_position_not_quantified", "risk_note": "Mandato e classe exatos; comparar regras eIMEdo investido na competência doFIC, sem dupla contagem dePL."}</a:t>
            </a:r>
          </a:p>
          <a:p>
            <a:r>
              <a:t>CNPJ 41970012000126 · Metodologia de PDD e curva por atraso · Base da comparação IME: {"criterion_id": "pdd", "observed_value": null, "unit": "", "competence": "08/2026", "status": "not_comparable", "reason": "A curva de PDD requer atraso, contágio e garantias por operação; o agregado mensal não demonstra aplicação da metodologia.", "formula": "", "source": {"type": "ime_document", "cnpj": "41970012000126", "competence": "08/2026", "path": "data/documentary_diligence/ime/41970012000126_202608.json", "reported_fund_cnpj": "41970012000126", "reported_class_cnpj": "41970012000126", "reported_fund_cnpj_raw": "41970012000126", "reported_class_cnpj_raw": "41970012000126", "identity_basis": "class", "warnings": [], "numeric_normalization": "FundosNet XML numeric parser; CNPJ strings preserved", "fields": ["net_asset_value", "credit_rights", "overdue_credit", "cash", "pdd", "fidc_quotas", "senior_quotas", "subordinated_quotas", "mezzanine_quotas", "subordinated_and_mezzanine_quotas"], "field_paths": {"net_asset_value": ["DOC_ARQ/LISTA_INFORM/PATRLIQ/VL_PATRIM_LIQ"], "cash": ["DOC_ARQ/LISTA_INFORM/APLIC_ATIVO/VL_DISPONIB"], "fidc_quotas": ["DOC_ARQ/LISTA_INFORM/APLIC_ATIVO/VL_COTA_FIDC"], "pdd": ["DOC_ARQ/LISTA_INFORM/APLIC_ATIVO/CRED_EXISTE/VL_PROVIS_REDUC_RECUP", "DOC_ARQ/LISTA_INFORM/APLIC_ATIVO/DICRED/VL_DICRED_PROVIS_REDUC_RECUP"]}, "document_id": "1318098", "version": 1, "delivered_at": "14/09/2026 14:44", "url": "https://fnet.bmfbovespa.com.br/fnet/publico/exibirDocumento?id=1318098", "declared_fields_sha256": "dd9e87c71c92c3781738669fcec53c651e2aeb5d75dfbae1e3b41b46f4ce9e8d", "snapshot_path": "data/documentary_diligence/ime/41970012000126_202608.json"}, "headroom": null, "limit": null, "comparison_required": true, "context_formula": "PDD / direitos creditórios", "context_value": 35.24349879612038, "context_unit": "percent"}</a:t>
            </a:r>
          </a:p>
          <a:p>
            <a:r>
              <a:t>CNPJ 41970012000126 · Metodologia de PDD e curva por atraso · Regulamento · ID 1302706 · 27/08/2026 · versão 1 · p. 48 · 6.3–6.4 · https://fnet.bmfbovespa.com.br/fnet/publico/visualizarDocumento?id=1302706</a:t>
            </a:r>
          </a:p>
          <a:p>
            <a:r>
              <a:t>CNPJ 41970012000126 · Metodologia de PDD e curva por atraso · Excerto da fonte:</a:t>
            </a:r>
          </a:p>
          <a:p>
            <a:r>
              <a:t>6.3. As provisões e as perdas relativas aos Direitos Creditórios Adquiridos e aos Ativos Financeiros serão efetuadas e reconhecidas pelo Administrador, de acordo com a metodologia prevista na Instrução CVM 489. 6.4. Sem prejuízo do disposto acima, o Administrador irá calcular as provisões referentes aos Direitos Creditórios conforme metodologia de provisionamento para devedores duvidosos disposta no COMPLEMENTO XIII deste Regulamento.</a:t>
            </a:r>
          </a:p>
          <a:p>
            <a:r>
              <a:t>CNPJ 41970012000126 · Metodologia de PDD e curva por atraso · Regulamento · ID 1302706 · 27/08/2026 · versão 1 · p. 160–163 · Complemento XIII, curvas, premissas e taxas de migração · https://fnet.bmfbovespa.com.br/fnet/publico/visualizarDocumento?id=1302706</a:t>
            </a:r>
          </a:p>
          <a:p>
            <a:r>
              <a:t>CNPJ 41970012000126 · Metodologia de PDD e curva por atraso · Excerto da fonte:</a:t>
            </a:r>
          </a:p>
          <a:p>
            <a:r>
              <a:t>COMPLEMENTO XIII PROCEDIMENTOS E METODOLOGIA DE PROVISIONAMENTO PARA DEVEDORES DUVIDOSOS DE DIREITOS CREDITÓRIOS Este complemento é parte integrante do regulamento do Mercado Crédito II Brasil Fundo de Investimento em Direitos Creditórios de Responsabilidade Limitada. O presente documento apresenta a metodologia de provisionamento de direitos creditórios decorrentes de empréstimos na modalidade de Crédito Parcelado ou Empréstimo Pessoal concedidos a usuários do Mercado Pago pela Instituição Financeira MeLi e representados por CCBs com seus respectivos Documentos Comprobatórios. A metodologia de provisionamento é baseada em uma análise de migração histórica dos contratos entre 7 diferentes categorias: Direitos Creditórios sem garantia: Legenda Dias de Atraso Categoria Percentual de Provisionamento (%) Faixa 0 0 dias Adimplente 0,0% Faixa 1 1 a 15 dias Atraso 0,0% Faixa 2 16 a 30 dias Atraso 50,0% Faixa 3 31 a 60 dias Atraso 91,0% Faixa 4 61 a 90 dias Atraso 95,0% Faixa 5 91 a 120 dias Atraso 97,0% Faixa 6 121 a 150 dias Atraso 98,0% Faixa 7 Acima de 151 dias Perda 100% Direitos Creditórios com garantia: Faixa Dias de Atraso Categoria Percentual de Provisionamento (%) Faixa 0 0 dias Adimplente 0,0% Faixa 1 1 a 30 dias Atraso 0,5% Faixa 2 31 a 60 dias Atraso 5,0% Faixa 3 61 a 90 dias Atraso 15,0% Faixa 4 91 a 120 dias Atraso 30,0% Faixa 5 121 a 150 dias Atraso 50,0% Faixa 6 151 a 180 dias Atraso 75,0% Faixa 7 Acima de 181 dias Perda 100,0% Definição de Categoria: Adimplente - O contrato não tem nenhuma parcela em atraso; Atraso - O contrato está com alguma parcela em atraso; Perda - O contrato está pelo menos uma parcela vencida e com um atraso equivalente à Faixa 7. Premissas: - Para efeito de cálculo das provisões em cada faixa de atraso, será levado em consideração na base de cálculo o montante de principal da carteira vencida e em aberto somado ao provisionamento dos juros de cada empréstimo, isto é, será levado em consideração o valor presente da carteira em atraso. - Para cada uma das faixas acima (em Atraso ou Adimplente), é definido um "Percentual de Provisionamento" que é revisitado ao final de cada mês. - O "Percentual de Provisionamento" de cada uma das faixas representa a probabilidade de que o empréstimo migre até a Faixa 7, onde ganha o status de Perda. Desta maneira, o "Percentual de Provisionamento" é resultado da multiplicação cumulativa das "Taxas de Migração" (conforme definição abaixo) entre as faixas até a Faixa 7. - Atualização do Percentual de Provisionamento: O "Percentual de Provisionamento" é revisitado ao final de cada mês com o objetivo de calibrar melhor a taxa de migração real observada na carteira de crédito. Ao longo do ano, o Percentual de Provisionamento é atualizado 12 vezes: i) em Janeiro, levando em conta a Taxa de Migração Aplicada (conforme definido abaixo) dos meses de Outubro, Novembro e Dezembro; ii) em Fevereiro, levando em conta a Taxa de Migração Aplicada (conforme definido abaixo) dos meses de Novembro, Dezembro e Janeiro; iii) em Março, levando em conta a Taxa de Migração Aplicada (conforme definido abaixo) dos meses de Dezembro, Janeiro e Fevereiro; iv) em Abril, levando em conta a Taxa de Migração Aplicada (conforme definido abaixo) dos meses de Janeiro, Fevereiro e Março; v) em Maio, levando em conta a Taxa de Migração Aplicada (conforme definido abaixo) dos meses de Fevereiro, Março e Abril; vi) em Junho, levando em conta a Taxa de Migração Aplicada (conforme definido abaixo) dos meses de Março, Abril e Maio; vii) em Julho, levando em conta a Taxa de Migração Aplicada (conforme definido abaixo) dos meses de Abril, Maio e Junho; viii) em Agosto, levando em conta a Taxa de Migração Aplicada (conforme definido abaixo) dos meses de Maio, Junho e Julho; ix) em Setembro, levando em conta a Taxa de Migração Aplicada (conforme definido abaixo) dos meses de Junho, Julho e Agosto; x) em Outubro, levando em conta a Taxa de Migração Aplicada (conforme definido abaixo) dos meses de Julho, Agosto e Setembro; xi) em Novembro, levando em conta a Taxa de Migração Aplicada (conforme definido abaixo) dos meses de Agosto, Setembro e Outubro; xii) em Dezembro, levando em conta a Taxa de Migração Aplicada (conforme definido abaixo) dos meses de Setembro, Outubro e Novembro. Nota: A atualização mensal do novo Percentual de Provisionamento deverá ser realizada e aplicada à carteira até o 5º (quinto) Dia Útil dos referidos meses, devendo vigorar até uma nova atualização, seguindo novamente esta cronologia. - Período de perdas: Com base no desempenho histórico e considerando o comportamento da carteira, o período de perda utilizado é de acordo com os dias informados na Faixa 7. - Recuperações: As recuperações são excluídas da análise de migração. Uma estimativa para recuperações futuras e cessão de Direitos Creditórios inadimplidos pelo Fundo a terceiros são incluídas posteriormente no cálculo de provisão. - Migração de Faixa de Atraso: A metodologia utilizada para o cálculo da migração dos contratos pelas faixas de atraso considera não só as parcelas vencidas, mas também as parcelas a vencer dos Contratos ("efeito vagão"), migrando o saldo devedor do contrato como um todo para a próxima faixa de atraso. - Taxa de Migração Aplicada: Com o objetivo de suavizar quaisquer ocorrências pontuais e incomuns que resultem em variação brusca nas taxas de migração, a "Taxa de Migração Aplicada" para o cálculo do Percentual de Provisionamento é resultante de um cálculo de média simples das "Taxas de Migração" (conforme definição abaixo) observadas no último dia dos últimos 3 meses. - Janela de Análise: Durante os doze primeiros meses de atividade do Fundo, enquanto não existir tal histórico, serão considerados os respectivos percentuais determinados de acordo com a faixa de atraso na tabela acima. - Renegociação: Direitos Creditórios que sejam renegociados por qualquer motivo, independentemente da anuência do Fundo, deverão ser considerados na categoria do contrato original. Taxa de Migração: Analisar os saldos históricos de cada faixa de atraso permite observar o padrão comportamental da carteira mês a mês. A ideia é observar a migração dos saldos em atraso de uma categoria para a outra no passar do tempo. As taxas de migração são calculadas como a porcentagem de uma categoria ou faixa que migrou para a próxima no mês seguinte. Por Exemplo, em 31/01/18: • A Taxa de Migração da Faixa 1 é resultante da divisão do valor de principal dos recebíveis da própria Faixa 1 em 31/01/18 pelo valor de principal dos recebíveis da categoria "Adimplente" de 31/12/17; • A Taxa de Migração da Faixa 2 é resultante da divisão do valor de principal dos recebíveis da própria Faixa 2 em 31/01/18 pelo valor de principal dos recebíveis da Faixa 1 de 31/12/17; • A Taxa de Migração da Faixa 3 é resultante da divisão do valor de principal dos recebíveis da própria Faixa 3 em 31/01/18 pelo valor de principal dos recebíveis da Faixa 2 de 31/12/17; • A Taxa de Migração da Faixa 4 dias é resultante da divisão do valor de principal dos recebíveis da própria Faixa 4 em 31/01/18 pelo valor de principal dos recebíveis da Faixa 3 de 31/12/17; • A Taxa de Migração da Faixa 5 dias é resultante da divisão do valor de principal dos recebíveis da própria Faixa 5 em 31/01/18 pelo valor de principal dos recebíveis da Faixa 4 de 31/12/17; e • A Taxa de Migração da Faixa 6 dias é resultante da divisão do valor de principal dos recebíveis da própria Faixa 6 em 31/01/18 pelo valor de principal dos recebíveis da Faixa 5 de 31/12/17. As Taxas de Migração são sempre observadas no último dia de cada mês. Para efeito da política de provisionamento, e para o cálculo dos Percentuais de Provisionamento considera- se a Taxa de Migração Aplicada, resultante de um cálculo de média simples das "Taxas de Migração" das taxas dos últimos 3 meses. Percentual de Provisionamento: Cada categoria ou faixa de atraso possui um Percentual de Provisionamento diferente que é calculado a partir das Taxas de Migração. Como mencionado acima, o Percentual de Provisionamento de cada uma das faixas representa a probabilidade de que o empréstimo migre até a Faixa 7, onde ganha o status de Perda. Desta maneira, o "Percentual de Provisionamento" é resultado da multiplicação cumulativa das taxas de migração entre as faixas até a Faixa 7. • O Percentual de Provisionamento da Faixa 0 ("Adimplente" ou "Em dia") é resultado da multiplicação entre as Taxas de Migração das Faixas 1, 2, 3, 4, 5, 6 e 7; • O Percentual de Provisionamento da Faixa 1 é resultado da multiplicação entre as Taxas de Migração das Faixas 2, 3, 4, 5, 6 e 7; • O Percentual de Provisionamento da Faixa 2 é resultado da multiplicação entre as Taxas de Migração das Faixas 3, 4; 5, 6 e 7; • O Percentual de Provisionamento da Faixa 3 é resultado da multiplicação entre as Taxas de Migração das Faixas 4, 5, 6 e 7; • O Percentual de Provisionamento da Faixa 4 é resultado da multiplicação entre as Taxas de Migração das Faixas 5, 6 e 7; • O Percentual de Provisionamento da Faixa 5 é resultado da multiplicação entre as Taxas de Migração das Faixas 6 e 7; • O Percentual de Provisionamento da Faixa 6 é equivalente à Taxa de Migração da Faixa 7; e • O Percentual de Provisionamento da Faixa 7 é 100% dado que é considerado "Perda". Conforme já mencionado acima, o "Percentual de Provisionamento" é revisitado ao final de cada mês com o objetivo de calibrar melhor a taxa de migração real observada na carteira de crédito.</a:t>
            </a:r>
          </a:p>
          <a:p>
            <a:r>
              <a:t>CNPJ 41970012000126 · Metodologia de PDD e curva por atraso · Condição: Tabela inicial aplica-se nos primeiros 12 meses enquanto não existe histórico; percentuais posteriores são recalibrados mensalmente. Texto literal deixa dias 151(sem garantia) e 181(com garantia) sem faixa explícita. Não comparar tabela estática ou PDD/PL agregado do IME com cálculo por contrato/migração.</a:t>
            </a:r>
          </a:p>
          <a:p>
            <a:r>
              <a:t>CNPJ 41970012000126 · Metodologia de PDD e curva por atraso · Versão e prevalência: Leitura específica das cláusulas indicadas; condições e conflitos preservados. Seleção documental atual não comprova vigência jurídica por data isolada.</a:t>
            </a:r>
          </a:p>
          <a:p>
            <a:r>
              <a:t>CNPJ 41970012000126 · Metodologia de PDD e curva por atraso · Resumo do histórico: {"count": 19, "dates": ["2025-12-19", "2025-12-31", "2026-08-27"], "document_count": 3, "sources": [{"document_id": "1302706", "title": "Regulamento", "reference_date": "2026-08-27", "version": "1", "page": "42", "url": "https://fnet.bmfbovespa.com.br/fnet/publico/visualizarDocumento?id=1302706", "sha256": "b113727bc2bc3b1a6b0d18f02bf2143068fd912df2d83cbb91ab44fcb30a3379"}, {"document_id": "1151156", "title": "Demonstrações Financeiras", "reference_date": "2025-12-31", "version": "1", "page": 18, "url": "https://fnet.bmfbovespa.com.br/fnet/publico/visualizarDocumento?id=1151156", "sha256": "04099e318871fbf25478d1ed88b19c4c6c6af84d9811507e8df48f7d824c6ec8"}, {"document_id": "1077333", "title": "AGE", "reference_date": "2025-12-19", "version": "1", "page": 113, "url": "https://fnet.bmfbovespa.com.br/fnet/publico/visualizarDocumento?id=1077333", "sha256": "a9a25c5f8a0c493373a2157221109466cbc86e5f44f623997bba18ca14892751"}], "reference": {"path": "history/41970012000126.json", "criterion_id": "pdd", "total_count": 19, "preview_count": 3, "full_text_deferred": true, "sha256": "229578c6b833b0633051fe7d357f4fcc74589dcf37d7750032517e03ec89ee60"}}</a:t>
            </a:r>
          </a:p>
          <a:p>
            <a:r>
              <a:t>CNPJ 41970012000126 · Gatilhos deatraso erolagem · Regulamento · ID 1302706 · 27/08/2026 · versão Regulamento27/08/2026 · p. 22 · DefiniçõesStepDown1/2 · https://fnet.bmfbovespa.com.br/fnet/publico/visualizarDocumento?id=1302706</a:t>
            </a:r>
          </a:p>
          <a:p>
            <a:r>
              <a:t>CNPJ 41970012000126 · Gatilhos deatraso erolagem · Excerto da fonte:</a:t>
            </a:r>
          </a:p>
          <a:p>
            <a:r>
              <a:t>Evento de Step-Down Nível 1" significa o evento em que: (i) a Média Móvel do Índice de Juros Excedente passe a ser inferior ou igual a 62,5% (sessenta e dois e meio por cento); ou (ii) a Média Móvel do Índice de Inadimplência passe a ser maior ou igual a 8% (oito por cento). "Evento de Step-Down Nível 2" significa o evento em que a Média Móvel do Índice de Juros Excedente passe a ser inferior ou igual a 52,5% (cinquenta e dois e meio por cento).</a:t>
            </a:r>
          </a:p>
          <a:p>
            <a:r>
              <a:t>CNPJ 41970012000126 · Gatilhos deatraso erolagem · Regulamento · ID 1302706 · 27/08/2026 · versão Regulamento27/08/2026 · p. 37 · ValoresdeReduçãoStepDown1/2 · https://fnet.bmfbovespa.com.br/fnet/publico/visualizarDocumento?id=1302706</a:t>
            </a:r>
          </a:p>
          <a:p>
            <a:r>
              <a:t>CNPJ 41970012000126 · Gatilhos deatraso erolagem · Excerto da fonte:</a:t>
            </a:r>
          </a:p>
          <a:p>
            <a:r>
              <a:t>Valor de Redução Evento de significa, na ocorrência de um Evento de Step-Down Step-Down Nível 1" Nível 1 nos termos do item (i) da definição de Evento de Step-Down Nível 1, 5% (cinco por cento); Na ocorrência de um Evento de Step-Down Nível 1 nos termos do item (ii) da definição de Evento de Step-Down Nível 1, o Índice de Inadimplência menos 8% (oito por cento). "Valor de Redução Evento de significa, na ocorrência de um Evento de Step-</a:t>
            </a:r>
          </a:p>
          <a:p>
            <a:r>
              <a:t>CNPJ 41970012000126 · Gatilhos deatraso erolagem · Condição: Índices contratuais não correspondem automaticamente ao Over 90/estoque do IME; não tratar 8% como limite sobre qualquer métrica pública.</a:t>
            </a:r>
          </a:p>
          <a:p>
            <a:r>
              <a:t>CNPJ 41970012000126 · Gatilhos deatraso erolagem · Versão e prevalência: Leitura específica das cláusulas indicadas; condições e conflitos preservados. Seleção documental atual não comprova vigência jurídica por data isolada.</a:t>
            </a:r>
          </a:p>
          <a:p>
            <a:r>
              <a:t>CNPJ 41970012000126 · Gatilhos deatraso erolagem · Resumo do histórico: {"count": 8, "dates": ["2025-05-19", "2025-12-19"], "document_count": 3, "sources": [{"document_id": "1077333", "title": "AGE", "reference_date": "2025-12-19", "version": "1", "page": 101, "clause": "12.1", "url": "https://fnet.bmfbovespa.com.br/fnet/publico/visualizarDocumento?id=1077333", "sha256": "a9a25c5f8a0c493373a2157221109466cbc86e5f44f623997bba18ca14892751"}, {"document_id": "1077334", "title": "Regulamento", "reference_date": "2025-12-19", "version": "1", "page": 101, "clause": "12.1", "url": "https://fnet.bmfbovespa.com.br/fnet/publico/visualizarDocumento?id=1077334", "sha256": "a9a25c5f8a0c493373a2157221109466cbc86e5f44f623997bba18ca14892751"}, {"document_id": "909707", "title": "Regulamento", "reference_date": "2025-05-19", "version": "1", "page": 99, "clause": "12.1", "url": "https://fnet.bmfbovespa.com.br/fnet/publico/visualizarDocumento?id=909707", "sha256": "cfa949e3b02c8900c5d0e5f82225a19dc627218a4e4f2e969681a09335c55224"}], "reference": {"path": "history/41970012000126.json", "criterion_id": "aging_trigger", "total_count": 8, "preview_count": 3, "full_text_deferred": true, "sha256": "229578c6b833b0633051fe7d357f4fcc74589dcf37d7750032517e03ec89ee60"}}</a:t>
            </a:r>
          </a:p>
          <a:p>
            <a:r>
              <a:t>CNPJ 41970012000126 · Diluição, cancelamento e chargeback · Motivo: Não localizada uma cláusula material para este critério nos textos identificados e processados. A ausência de resultado não comprova inexistência da regra.</a:t>
            </a:r>
          </a:p>
          <a:p>
            <a:r>
              <a:t>CNPJ 41970012000126 · Recompra eindenização · Regulamento · ID 1302706 · 27/08/2026 · versão Regulamento27/08/2026 · p. 42 · 5.1.6.3–5.1.6.4 · https://fnet.bmfbovespa.com.br/fnet/publico/visualizarDocumento?id=1302706</a:t>
            </a:r>
          </a:p>
          <a:p>
            <a:r>
              <a:t>CNPJ 41970012000126 · Recompra eindenização · Excerto da fonte:</a:t>
            </a:r>
          </a:p>
          <a:p>
            <a:r>
              <a:t>5.1.6.3. Sem prejuízo do disposto nos itens 5.1.6.1 e 5.1.6.2 acima, o Mercado Pago, diretamente ou por meio de qualquer entidade integrante de seu grupo econômico e/ou veículo de investimento estruturado por entidade do grupo econômico da MeLi, terá a opção de adquirir até a Data Limite de Investimento em Direitos Creditórios, nos termos previstos no Contrato de Agente de Recebimento, Direitos Creditórios Adquiridos, desde que: (i) notifique o Gestor a respeito do exercício da Opção de Compra de Direitos Creditórios até a Data Base 1 do mês correspondente; (ii) considerada pro forma a aquisição pretendida, não haja desenquadramento da Senioridade Máxima;</a:t>
            </a:r>
          </a:p>
          <a:p>
            <a:r>
              <a:t>CNPJ 41970012000126 · Recompra eindenização · Versão e prevalência: Leitura específica das cláusulas indicadas; condições e conflitos preservados. Seleção documental atual não comprova vigência jurídica por data isolada.</a:t>
            </a:r>
          </a:p>
          <a:p>
            <a:r>
              <a:t>CNPJ 41970012000126 · Recompra eindenização · Resumo do histórico: {"count": 16, "dates": ["2025-12-19", "2025-12-31", "2026-08-27"], "document_count": 3, "sources": [{"document_id": "1302706", "title": "Regulamento", "reference_date": "2026-08-27", "version": "1", "page": "41", "url": "https://fnet.bmfbovespa.com.br/fnet/publico/visualizarDocumento?id=1302706", "sha256": "b113727bc2bc3b1a6b0d18f02bf2143068fd912df2d83cbb91ab44fcb30a3379"}, {"document_id": "1151156", "title": "Demonstrações Financeiras", "reference_date": "2025-12-31", "version": "1", "page": 25, "url": "https://fnet.bmfbovespa.com.br/fnet/publico/visualizarDocumento?id=1151156", "sha256": "04099e318871fbf25478d1ed88b19c4c6c6af84d9811507e8df48f7d824c6ec8"}, {"document_id": "1077333", "title": "AGE", "reference_date": "2025-12-19", "version": "1", "page": 128, "clause": "21.3", "url": "https://fnet.bmfbovespa.com.br/fnet/publico/visualizarDocumento?id=1077333", "sha256": "a9a25c5f8a0c493373a2157221109466cbc86e5f44f623997bba18ca14892751"}], "reference": {"path": "history/41970012000126.json", "criterion_id": "repurchase", "total_count": 16, "preview_count": 3, "full_text_deferred": true, "sha256": "229578c6b833b0633051fe7d357f4fcc74589dcf37d7750032517e03ec89ee60"}}</a:t>
            </a:r>
          </a:p>
          <a:p>
            <a:r>
              <a:t>CNPJ 41970012000126 · Coobrigação e retenção de risco · Regulamento · ID 1302706 · 2026-08-27 · versão 1 · p. 41 · 5.1.6.2.1 · https://fnet.bmfbovespa.com.br/fnet/publico/visualizarDocumento?id=1302706</a:t>
            </a:r>
          </a:p>
          <a:p>
            <a:r>
              <a:t>CNPJ 41970012000126 · Coobrigação e retenção de risco · Excerto da fonte:</a:t>
            </a:r>
          </a:p>
          <a:p>
            <a:r>
              <a:t>5.1.6.2.1. O disposto acima não caracteriza garantia ou coobrigação do Mercado Pago, que, em  nenhuma hipótese se responsabilizou pela capacidade de pagamento e solvência dos Devedores,  permanecendo tal risco integralmente suportado pelo Fundo. As obrigações assumidas pelo Mercado Pago  e/ou pelos Endossantes nos Documentos do Fundo, incluindo no Contrato de Agente de Recebimento e nos  Contratos de Endosso, limitam-se exclusivamente às hipóteses expressamente previstas em tais  documentos, incluindo obrigações de natureza operacional, formal, documental e/ou relacionadas à  elegibilidade, validade e formalização dos Direitos Creditórios, não implicando assunção do risco de  inadimplemento dos Devedores.</a:t>
            </a:r>
          </a:p>
          <a:p>
            <a:r>
              <a:t>CNPJ 41970012000126 · Coobrigação e retenção de risco · Regulamento · ID 1302706 · 2026-08-27 · versão 1 · p. 44 · 5.2.2.1 · https://fnet.bmfbovespa.com.br/fnet/publico/visualizarDocumento?id=1302706</a:t>
            </a:r>
          </a:p>
          <a:p>
            <a:r>
              <a:t>CNPJ 41970012000126 · Coobrigação e retenção de risco · Excerto da fonte:</a:t>
            </a:r>
          </a:p>
          <a:p>
            <a:r>
              <a:t>5.2.2.1. O não atendimento de qualquer Direito Creditório Adquirido com relação a qualquer Critério  de Elegibilidade, por qualquer motivo ocorrido após a sua transferência ao Fundo, não obrigará a sua  alienação pelo Fundo, nem dará ao Fundo qualquer pretensão, recurso ou direito de regresso contra os  Endossantes, o Mercado Pago, o Administrador, o Gestor, o Custodiante ou suas Partes Relacionadas.</a:t>
            </a:r>
          </a:p>
          <a:p>
            <a:r>
              <a:t>CNPJ 41970012000126 · Coobrigação e retenção de risco · Regulamento · ID 1302706 · 2026-08-27 · versão 1 · p. 45 · 5.2.6 · https://fnet.bmfbovespa.com.br/fnet/publico/visualizarDocumento?id=1302706</a:t>
            </a:r>
          </a:p>
          <a:p>
            <a:r>
              <a:t>CNPJ 41970012000126 · Coobrigação e retenção de risco · Excerto da fonte:</a:t>
            </a:r>
          </a:p>
          <a:p>
            <a:r>
              <a:t>5.2.6. O não atendimento de qualquer Direito Creditório Adquirido com relação a qualquer Condição de  Cessão, por qualquer motivo ocorrido após a sua transferência ao Fundo, não obrigará a sua alienação  pelo Fundo, nem dará ao Fundo qualquer pretensão, recurso ou direito de regresso contra os Endossantes,  o Mercado Pago, o Administrador, o Gestor, o Custodiante ou suas Partes Relacionadas.</a:t>
            </a:r>
          </a:p>
          <a:p>
            <a:r>
              <a:t>CNPJ 41970012000126 · Coobrigação e retenção de risco · Condição: Documentos atuais selecionados no inventário por categoria/escopo; a data documental isolada não comprova vigência jurídica.</a:t>
            </a:r>
          </a:p>
          <a:p>
            <a:r>
              <a:t>CNPJ 41970012000126 · Coobrigação e retenção de risco · Versão e prevalência: Documentos atuais selecionados no inventário por categoria/escopo; a data documental isolada não comprova vigência jurídica.</a:t>
            </a:r>
          </a:p>
          <a:p>
            <a:r>
              <a:t>CNPJ 41970012000126 · Coobrigação e retenção de risco · Resumo do histórico: {"count": 12, "dates": ["2025-12-19", "2025-12-31"], "document_count": 3, "sources": [{"document_id": "1151156", "title": "Demonstrações Financeiras", "reference_date": "2025-12-31", "version": "1", "page": 23, "url": "https://fnet.bmfbovespa.com.br/fnet/publico/visualizarDocumento?id=1151156", "sha256": "04099e318871fbf25478d1ed88b19c4c6c6af84d9811507e8df48f7d824c6ec8"}, {"document_id": "1077333", "title": "AGE", "reference_date": "2025-12-19", "version": "1", "page": 46, "clause": "5.1.5.2.1", "url": "https://fnet.bmfbovespa.com.br/fnet/publico/visualizarDocumento?id=1077333", "sha256": "a9a25c5f8a0c493373a2157221109466cbc86e5f44f623997bba18ca14892751"}, {"document_id": "1077334", "title": "Regulamento", "reference_date": "2025-12-19", "version": "1", "page": 46, "clause": "5.1.5.2.1", "url": "https://fnet.bmfbovespa.com.br/fnet/publico/visualizarDocumento?id=1077334", "sha256": "a9a25c5f8a0c493373a2157221109466cbc86e5f44f623997bba18ca14892751"}], "reference": {"path": "history/41970012000126.json", "criterion_id": "coobligation", "total_count": 12, "preview_count": 3, "full_text_deferred": true, "sha256": "229578c6b833b0633051fe7d357f4fcc74589dcf37d7750032517e03ec89ee60"}}</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PLGN Marketplace · vínculo CNPJ 41970012000126 · Eventos e cura</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Vínculo: PLGN Marketplace · CNPJ 55563624000109 → CNPJ 41970012000126 · Regulamento · ID 1192614 · 30/04/2026 · versão Regulamento30/04/2026 · p. 11 · AnexoI4.1</a:t>
            </a:r>
          </a:p>
          <a:p>
            <a:r>
              <a:t>Condição do vínculo: {"cnpj": "41970012000126", "name": "Mercado Crédito II Brasil FIDC", "relationship": "named_investee", "exposure": "mezzanine", "position_status": "mandate_identified_position_not_quantified", "risk_note": "Mandato e classe exatos; comparar regras eIMEdo investido na competência doFIC, sem dupla contagem dePL."}</a:t>
            </a:r>
          </a:p>
          <a:p>
            <a:r>
              <a:t>CNPJ 41970012000126 · Eventos de avaliação · Regulamento · ID 1302706 · 27/08/2026 · versão 1 · p. 78–81 · 11.1(i)–(xxxi) · https://fnet.bmfbovespa.com.br/fnet/publico/visualizarDocumento?id=1302706</a:t>
            </a:r>
          </a:p>
          <a:p>
            <a:r>
              <a:t>CNPJ 41970012000126 · Eventos de avaliação · Excerto da fonte:</a:t>
            </a:r>
          </a:p>
          <a:p>
            <a:r>
              <a:t>11.1. São considerados Eventos de Avaliação do Fundo quaisquer das seguintes ocorrências, observado que (a) os subitens (i), (ii), (iii), (iv), (v), (vi), (xi), (xvii), (xxiii), (xxiv), (xxvi), (xxviii),(xxx) e (xxxi) abaixo serão verificados pelo Administrador; (b) os subitens (ix), (xvii) e (xxix)abaixo serão verificados pelo Gestor; (c) o item (xxv) abaixo será verificado pelos Cotistas Seniores e/ou pelo Administrador; (d) os subitens (vii), (viii), (xii), (xiii), (xiv), (xv), (xvi), (xviii), (xix), (xx), (xxi), (xxii) poderão ser verificados pelo Administrador e/ou pelo Gestor; e (e) o item (xxx) poderá ser verificado pelos Cotistas Seniores, sem prejuízo, em qualquer caso, da obrigação do Mercado Pago e da Instituição Financeira MeLi disposta no item 11.1.2 abaixo: (i) não observância do prazo de 180 (cento e oitenta) dias contados da Data da Primeira Integralização de Cotas do Fundo, ou do prazo adicional concedido pela CVM, se for o caso, para alocação dos recursos do Fundo na aquisição de Direitos Creditórios em montante que corresponda a, no mínimo, a Alocação Mínima de Investimento, conforme disposto no item 5.1.2 acima; (ii) na hipótese de serem realizados pagamentos de rendimentos, Amortização ou resgate de Cotas Subordinadas Mezanino ou de Cotas Subordinadas Júnior em desacordo com este Regulamento; (iii) o Fundo deixe de deter natureza jurídica de condomínio de natureza especial, nos termos da legislação aplicável; (iv) caso a Assembleia Geral de Cotistas convocada nos termos do item 5.3.5.1 delibere que a Inconsistência Relevante verificada constitui um Evento de Avaliação; (v) não realização de pagamento da Meta de Rentabilidade Sênior e/ou da Meta de Rentabilidade Mezanino aplicável, da Amortização de Cotas Seniores e/ou de Cotas Subordinadas Mezanino ou amortização integral/resgate de Cotas Seniores e/ou de Cotas Subordinadas Mezanino em até 2 (dois) Dias Úteis contados da esperada Data de Pagamento ou Data de Amortização Integral definidas nos respectivos Apêndices, conforme aplicável, observado que, após a Data Limite de Investimento em Direitos Creditórios e/ou em caso de Evento de Amortização Acelerada e/ou Evento de Liquidação, a ausência de amortização de Cotas Subordinadas Mezanino, nos termos da ordem de alocação de recursos prevista no item 20.3, enquanto não houver a amortização integral/resgate de todas as Cotas Seniores, não será considerada um Evento de Avaliação; (vi) não realização de pagamento decorrente de um Evento de Pagamento Qualificado nos termos do item 12.7, subitem (ii), observado o prazo de cura de 2 (dois) Dias Úteis contados da respectiva data esperada; (vii) na ocorrência de um inadimplemento de quaisquer obrigações assumidas pelo Mercado Pago e/ou por qualquer Endossante em quaisquer Documentos do Fundo que não seja sanado (se passível de cura) no prazo cura estabelecido no respectivo Documento do Fundo ou no prazo de 45 (quarenta e cinco) dias contados de seu conhecimento ou notificação, conforme o caso, o que for menor (exceto por: (a) um Inadimplemento do Agente de Cobrança ou um Inadimplemento do Agente de Recebimento, que deverá observar o disposto no subitem (x) abaixo; e (b) o descumprimento do Agente de Recebimento de envio do arquivo retorno diariamente para o Administrador na forma do item 5.4.6.2 deste Regulamento e do Contrato de Agente de Recebimento, ao qual não se aplicará o prazo de cura estabelecido neste subitem); (viii) verificação de que quaisquer declarações, informações ou garantias prestadas ou fornecidas pelo Mercado Pago e/ou por quaisquer Endossantes, conforme aplicável: (a) no âmbito da elaboração de cada Relatório de Acompanhamento, no Relatório de Índice Financeiro e/ou quaisquer informações referentes aos Direitos Creditórios Adquiridos eram incorretas ou falsas, cuja incorreção ou falsidade resulte em uma contingência de valor superior a 2% (dois por cento) do Valor Agregado de Investimento Sênior na data de entrega de tais relatórios, documentos ou informações; ou (b) nos Documentos do Fundo dos quais sejam parte ou em qualquer documento escrito entregue pelo Mercado Pago ou por quaisquer Endossantes por força deste Regulamento ou dos Documentos do Fundo eram falsas ou incorretas em qualquer aspecto relevante na data em que foram prestadas; desde que, em ambos os casos, não sejam curadas (se passíveis de cura) no prazo de 30 (trinta) dias contados do conhecimento do Mercado Pago e/ou de quaisquer Endossantes ou da notificação nesse sentido pelo Administrador, o que ocorrer primeiro; (ix) ocorrência de qualquer evento ou situação que acarrete a não detenção, pelo Fundo, de titularidade plena sobre os Direitos Creditórios Adquiridos integrantes da Carteira, livres e desembaraçados de quaisquer ônus ou gravames, que impacte adversamente 3,5% (três inteiros e cinco décimos por cento) do Valor Agregado dos Direitos Creditórios, de forma individual ou agregada; (x) ocorrência de um Inadimplemento do Agente de Cobrança ou de um Inadimplemento do Agente de Recebimento, não sanado no prazo de cura previsto no Contrato de Cobrança e no Contrato de Agente de Recebimento, se houver, sem que o Agente de Cobrança ou o Agente de Recebimento seja substituído em até 120 (cento e vinte) dias contados de deliberação neste sentido pela Assembleia Geral de Cotistas; (xi) o Cotista titular das Cotas Subordinadas Júnior, nos termos do item 7.7 acima, deixe de deter 100% (cem por cento) das Cotas Subordinadas Júnior, sem prévia aprovação da Assembleia Geral de Cotistas, na forma do Capítulo 9 acima, exceto em caso permitido por este Regulamento; (xii) inadimplemento pela MeLi e/ou pelas Subsidiárias Relevantes da MeLi: (a) de obrigações de pagamento, conforme aplicável, em qualquer operação de Endividamento perante os Cotistas Seniores ou qualquer de suas Partes Relacionadas, cujo valor de principal, individual ou agregado, seja superior a US$25.000.000,00 (vinte e cinco milhões de dólares norte-americanos) ou seu valor equivalente em outras moedas; ou (b) de obrigações de pagamento, conforme aplicável, em qualquer operação de Endividamento perante quaisquer terceiros, cujo valor de principal, individual ou agregado, seja superior a US$75.000.000,00 (setenta e cinco milhões de dólares norte-americanos) ou seu valor equivalente em outras moedas, sendo que este subitem permanecerá válido apenas enquanto houver Cotas Seniores em Circulação e estas não sejam integralmente alienadas a terceiros nos termos do item 7.24 e seus subitens; (xiii) (a) a aquisição de titularidade, direta ou indiretamente, por quaisquer Pessoas ou grupo (conforme determinado pelo Securities Exchange Act of 1934) e pela regulamentação da Comissão de Títulos e Câmbios dos Estados Unidos (Securities and Exchange Commission) de ações representantes de Controle do montante total e em circulação de ações com direito de voto de emissão da MeLi (exceto por quaisquer aquisições por um ou mais Acionistas Permitidos); (b) ocupação da maioria dos cargos (que não sejam cargos vagos) do conselho de administração da MeLi por Pessoas que não tenham sido: (1) nomeadas pelo conselho de administração da MeLi; (2) indicadas por membros do conselho de administração nomeados; (3) indicadas por qualquer Acionista Permitido; (xiv) alteração de Controle, direto ou indireto, do Mercado Pago, da Instituição Financeira MeLi ou do Cotista Subordinado Júnior, de forma que a MeLi deixe de deter o Controle, direto ou indireto, do Mercado Pago, da Instituição Financeira MeLi ou do Cotista Subordinado Júnior, conforme o caso, sendo que para os fins deste item uma reorganização societária não será considerada alteração de Controle do Mercado Pago, da Instituição Financeira Meli ou do Cotista Subordinado Júnior; (xv) decisão judicial, arbitral ou administrativa exequível, não passível de recursos, contra o Mercado Pago ou a Instituição Financeira MeLi, que imponha constrição sobre seus ativos ou obrigação de pagamento cujo valor seja, de forma individual ou agregada, superior, em moeda corrente nacional, a US$75.000.000,00 (setenta e cinco milhões de dólares norte-americanos), ou seu valor equivalente em outras moedas; (xvi) decisão judicial, arbitral ou administrativa exequível, não passível de recursos, contra o Fundo, que imponha constrição sobre seus ativos ou obrigação de pagamento cujo valor seja, de forma individual ou agregada, superior, em moeda corrente nacional, a US$25.000.000,00 (vinte e cinco milhões de dólares norte-americanos), ou seu valor equivalente em outras moedas; (xvii) caso a Assembleia Geral de Cotistas convocada nos termos do item 5.3.5.1 delibere que a Inconsistência Relevante verificada constitui um Evento de Avaliação; (xviii) a qualquer tempo após a respectiva celebração, caso quaisquer dos Documentos do Fundo tenham sua validade, eficácia ou a exequibilidade contestada pelo Mercado Pago judicialmente; (xix) caso o Mercado Pago não realize, direta ou indiretamente, a aquisição de Direitos Creditórios em decorrência das hipóteses previstas no item 5.1.6.1 acima; (xx) com relação à MeLi ou ao Mercado Pago: (a) caso uma autoridade competente homologue ou decrete a falência ou determine a ocorrência de qualquer procedimento aplicável à MeLi ou ao Mercado Pago nos termos das leis de falência aplicáveis à MeLi ou ao Mercado Pago; (b) caso seja iniciado um procedimento involuntário contra a MeLi ou o Mercado Pago no âmbito das leis de falência aplicáveis ou caso uma autoridade competente nomeie um agente de liquidação, receptor, trustee ou qualquer outra entidade com poderes semelhantes sobre à MeLi ou ao Mercado Pago ou sobre parte substancial de propriedade da MeLi ou do Mercado Pago; ou (c) caso haja nomeação involuntária de um administrador interino, trustee, administrador ou custodiante para parte substancial de propriedade da MeLi ou do Mercado Pago; ou caso seja expedido mandado de penhora, ordem de execução ou qualquer procedimento semelhante contra a totalidade ou parte substancial de sua propriedade, exceto se sanado, suspenso ou revogado em até 30 (trinta) dias contados de sua ciência, conforme aplicável; (xxi) com relação à MeLi, à Instituição Financeira MeLi ou ao Mercado Pago, conforme aplicável: (a) em caso de ingresso em juízo com requerimento acerca de determinação de falência, insolvência, recuperação ou outro processo similar, nos termos das leis de falências aplicáveis ao Mercado Pago ou à MeLi ou o Mercado Pago ou a MeLi concorde com o ingresso de medida para reverter um procedimento involuntário ou para converter um procedimento involuntário em voluntário no âmbito da respectiva lei aplicável, ou concorde com a nomeação por qualquer autoridade competente de interventor, trustee, administrador ou custodiante para assumir parte substancial de sua propriedade; ou caso o Mercado Pago ou a MeLi realize cessão em benefício de seus credores; ou (b) caso o Mercado Pago ou a MeLi declare por escrito sua incapacidade para pagar suas dívidas em suas respectivas datas de vencimento; ou o conselho de administração resolva ou autorize qualquer ação para aprovar qualquer dos eventos previstos neste item (xxi) ou no item (xviii) acima; (xxii) com relação ao Mercado Pago ou à Instituição Financeira Meli, em caso de: (a) pedido de autofalência ou pedido de falência formulado por terceiros e não elidido no prazo legal; (b) decretação de regime de administração especial temporária (RAET), ou intervenção, conforme aplicável; (c) decretação ex officio de liquidação extrajudicial; (d) declaração de insolvência; ou (e) aprovação da dissolução, extinção ou liquidação; (xxiii) a realização de qualquer alteração aos Contratos de Endosso, ao Contrato de Cobrança e a quaisquer outros contratos celebrados pelo Fundo, que não seja objeto de deliberação em Assembleia Geral de Cotistas, e em relação aos quais os Cotistas Seniores manifestem sua discordância em até 5 (cinco) Dias Úteis a contar do recebimento de notificação do Administrador acerca da referida alteração; (xxiv) a celebração de novos Contratos de Endosso, ou de quaisquer outros contratos pelo Fundo, após a Data da Primeira Integralização de Cotas do Fundo que não seja objeto de deliberação em Assembleia Geral de Cotistas; (xxv) com relação ao Mercado Pago, não fornecimento das informações necessárias para que os Cotistas Seniores possam atualizar a Matriz de Perdas semestralmente, a partir da Data da Primeira de Integralização, dentro do prazo de 30 (trinta) dias a partir da data de solicitação pelo Administrador; (xxvi) caso o Mercado Pago promova restrição ou cancelamento de acesso, pelo Custodiante, à Conta de Pagamento do Fundo, inclusive de forma involuntária, em razão de atendimentos de ordens, determinações ou decisões de autoridades competentes, sem que o Fundo tenha obtido ou restabelecido acesso aos recursos devidos em função dos Direitos Creditórios Adquiridos em 5 (cinco) Dias Úteis; (xxvii) verificação de inobservância, por parte da MeLi, do Índice Financeiro Avaliação, calculado em conformidade com suas demonstrações financeiras públicas; (xxviii)não ocorrência de amortização extraordinária das Cotas Seniores e/ou das Cotas Subordinadas Mezanino nos prazos e na forma prevista neste Regulamento; (xxix) sem prejuízo dos itens acima, inobservância, por parte da MeLi, de qualquer obrigação de envio de dados ou informações necessárias às atividades do Fundo, que acarrete em marcação de ativos ou provisionamento incorreto que impacte o Patrimônio Líquido do Fundo em mais de 5% (cinco por cento), não sanada no prazo de 30 (trinta) dias, contado da data de tal inobservância por parte da MeLi; (xxx) caso o Administrador não envie aos Cotistas o relatório indicado no item 21.3 até o dia 31 de outubro de cada ano, observado o prazo de cura de até 30 (trinta) dias corridos; e (xxxi) caso o Administrador ingresse com um pedido de declaração judicial de insolvência.</a:t>
            </a:r>
          </a:p>
          <a:p>
            <a:r>
              <a:t>CNPJ 41970012000126 · Eventos de avaliação · Regulamento · ID 1302706 · 27/08/2026 · versão 1 · p. 25 · Definição Índice Financeiro Avaliação · https://fnet.bmfbovespa.com.br/fnet/publico/visualizarDocumento?id=1302706</a:t>
            </a:r>
          </a:p>
          <a:p>
            <a:r>
              <a:t>CNPJ 41970012000126 · Eventos de avaliação · Excerto da fonte:</a:t>
            </a:r>
          </a:p>
          <a:p>
            <a:r>
              <a:t>"Índice Financeiro Avaliação" significa, em relação à MeLi, o seguinte índice financeiro: Liquidez Consolidada: verificação de que a Liquidez Consolidada é maior que US$100.000.000,00 (cem milhões de dólares norte-americanos). O Índice Financeiro Avaliação será calculado pelo Mercado Pago, com base nas demonstrações financeiras auditadas ou informações financeiras trimestrais da MeLi, e encaminhado ao Administrador e ao Gestor trimestralmente por meio do Relatório de Índice Financeiro, nos termos do item 18.15 abaixo, e após revisão e confirmação do cálculo pelo Gestor, disponibilizado pelo Gestor no Relatório de Acompanhamento.</a:t>
            </a:r>
          </a:p>
          <a:p>
            <a:r>
              <a:t>CNPJ 41970012000126 · Eventos de avaliação · Regulamento · ID 1302706 · 27/08/2026 · versão 1 · p. 82 · 11.1.1–11.1.4 · https://fnet.bmfbovespa.com.br/fnet/publico/visualizarDocumento?id=1302706</a:t>
            </a:r>
          </a:p>
          <a:p>
            <a:r>
              <a:t>CNPJ 41970012000126 · Eventos de avaliação · Excerto da fonte:</a:t>
            </a:r>
          </a:p>
          <a:p>
            <a:r>
              <a:t>11.1.1. O Administrador será responsável por reportar aos Cotistas sobre a ocorrência de quaisquer dos Eventos de Avaliação referidos acima, no prazo de 3 (três) Dias Úteis contados do momento em que tomar conhecimento do fato diretamente, pelo Gestor, pelo Custodiante, pelo Mercado Pago, pelos Cotistas ou por meio de qualquer parte interessada, conforme o caso. 11.1.2. Sem prejuízo do disposto no item 11.1.1 acima, o Mercado Pago e/ou a Instituição Financeira MeLi deverão informar o Administrador, da ocorrência de um Evento de Avaliação em até 3 (três) Dias Úteis a contar da data em que tomarem conhecimento da ocorrência de qualquer Evento de Avaliação. 11.1.3. Na ocorrência de quaisquer dos Eventos de Avaliação, o Fundo interromperá os procedimentos de aquisição de Direitos Creditórios e o Administrador convocará, em até 2 (dois) Dias Úteis, uma Assembleia Geral de Cotistas, a qual decidirá, observados os quóruns estabelecidos no Capítulo 9 acima: (i) se o referido Evento de Avaliação deve ser considerado como um Evento de Liquidação do Fundo, assim como se haverá liquidação antecipada do Fundo e quais os procedimentos a serem adotados na liquidação; ou (ii) se o referido Evento de Avaliação não deve ser considerado como um Evento de Liquidação do Fundo e, nesse caso, que medidas devem ser adotadas para preservar os direitos dos Cotistas do Fundo. 11.1.4. No caso de a Assembleia Geral de Cotistas deliberar que qualquer dos Eventos de Avaliação constitui um Evento de Liquidação do Fundo, o Administrador observará os procedimentos de que tratam o item 11.2 e seguintes abaixo sem que, para tanto, seja necessária a convocação de uma nova Assembleia Geral de Cotistas, podendo a Assembleia Geral de Cotistas que considerar um Evento de Avaliação como um Evento de Liquidação do Fundo deliberar sobre os procedimentos relacionados à liquidação do Fundo independentemente de qualquer notificação aos Cotistas ausentes à referida Assembleia Geral de Cotistas.</a:t>
            </a:r>
          </a:p>
          <a:p>
            <a:r>
              <a:t>CNPJ 41970012000126 · Eventos de avaliação · Condição: Rol completo e condições específicas na fonte. Falta de amortização MZ após fim do investimento/amortização acelerada/liquidação, enquanto sênior não foi integralmente paga, tem exceção em 11.1(v). Prazos em dias sem qualificador são preservados assim.</a:t>
            </a:r>
          </a:p>
          <a:p>
            <a:r>
              <a:t>CNPJ 41970012000126 · Eventos de avaliação · Versão e prevalência: Leitura específica das cláusulas indicadas; condições e conflitos preservados. Seleção documental atual não comprova vigência jurídica por data isolada.</a:t>
            </a:r>
          </a:p>
          <a:p>
            <a:r>
              <a:t>CNPJ 41970012000126 · Eventos de avaliação · Resumo do histórico: {"count": 12, "dates": ["2025-12-19", "2025-12-31"], "document_count": 3, "sources": [{"document_id": "1151156", "title": "Demonstrações Financeiras", "reference_date": "2025-12-31", "version": "1", "page": 31, "url": "https://fnet.bmfbovespa.com.br/fnet/publico/visualizarDocumento?id=1151156", "sha256": "04099e318871fbf25478d1ed88b19c4c6c6af84d9811507e8df48f7d824c6ec8"}, {"document_id": "1077333", "title": "AGE", "reference_date": "2025-12-19", "version": "1", "page": 98, "clause": "11.2", "url": "https://fnet.bmfbovespa.com.br/fnet/publico/visualizarDocumento?id=1077333", "sha256": "a9a25c5f8a0c493373a2157221109466cbc86e5f44f623997bba18ca14892751"}, {"document_id": "1077334", "title": "Regulamento", "reference_date": "2025-12-19", "version": "1", "page": 98, "clause": "11.2", "url": "https://fnet.bmfbovespa.com.br/fnet/publico/visualizarDocumento?id=1077334", "sha256": "a9a25c5f8a0c493373a2157221109466cbc86e5f44f623997bba18ca14892751"}], "reference": {"path": "history/41970012000126.json", "criterion_id": "evaluation", "total_count": 12, "preview_count": 3, "full_text_deferred": true, "sha256": "229578c6b833b0633051fe7d357f4fcc74589dcf37d7750032517e03ec89ee60"}}</a:t>
            </a:r>
          </a:p>
          <a:p>
            <a:r>
              <a:t>CNPJ 41970012000126 · Eventos deliquidação · Regulamento · ID 1302706 · 27/08/2026 · versão Regulamento27/08/2026 · p. 82 · 11.2(i)–(v) · https://fnet.bmfbovespa.com.br/fnet/publico/visualizarDocumento?id=1302706</a:t>
            </a:r>
          </a:p>
          <a:p>
            <a:r>
              <a:t>CNPJ 41970012000126 · Eventos deliquidação · Excerto da fonte:</a:t>
            </a:r>
          </a:p>
          <a:p>
            <a:r>
              <a:t>11.2. São considerados Eventos de Liquidação do Fundo quaisquer das seguintes ocorrências: (i) caso seja deliberado em Assembleia Geral de Cotistas que um Evento de Avaliação constitui um Evento de Liquidação; (ii) caso os Cotistas deliberem em Assembleia Geral de Cotistas pela não realização de aporte de recursos no Fundo e pela não alienação de Direitos Creditórios e/ou Ativos Financeiros para suprir a necessidade de recursos para pagamento de despesas e encargos do Fundo que não possam ser cobertos pelas Disponibilidades, quando convocados para tal deliberação;</a:t>
            </a:r>
          </a:p>
          <a:p>
            <a:r>
              <a:t>CNPJ 41970012000126 · Eventos deliquidação · Regulamento · ID 1302706 · 27/08/2026 · versão Regulamento27/08/2026 · p. 83 · 11.2(vi) · https://fnet.bmfbovespa.com.br/fnet/publico/visualizarDocumento?id=1302706</a:t>
            </a:r>
          </a:p>
          <a:p>
            <a:r>
              <a:t>CNPJ 41970012000126 · Eventos deliquidação · Excerto da fonte:</a:t>
            </a:r>
          </a:p>
          <a:p>
            <a:r>
              <a:t>(vi) na ocorrência de um Evento de Ilegalidade, caso a efetiva aquisição da totalidade das Cotas Seniores pelo comprador indicado pelo Cotista Subordinado pelo valor unitário das Cotas Seniores calculado na forma deste Regulamento não ocorra em até 30 (trinta) Dias Úteis contados da data de realização da convocação da Assembleia Geral de Cotistas convocada para esse fim, conforme previsto no item 12.8. 11.2.1. O Administrador será responsável por reportar aos Cotistas sobre a ocorrência de quaisquer dos Eventos de Liquidação referidos acima, no momento em que tomar conhecimento do fato diretamente</a:t>
            </a:r>
          </a:p>
          <a:p>
            <a:r>
              <a:t>CNPJ 41970012000126 · Eventos deliquidação · Versão e prevalência: Leitura específica das cláusulas indicadas; condições e conflitos preservados. Seleção documental atual não comprova vigência jurídica por data isolada.</a:t>
            </a:r>
          </a:p>
          <a:p>
            <a:r>
              <a:t>CNPJ 41970012000126 · Eventos deliquidação · Resumo do histórico: {"count": 13, "dates": ["2025-05-19", "2025-12-19"], "document_count": 3, "sources": [{"document_id": "1077333", "title": "AGE", "reference_date": "2025-12-19", "version": "1", "page": 98, "clause": "11.2", "url": "https://fnet.bmfbovespa.com.br/fnet/publico/visualizarDocumento?id=1077333", "sha256": "a9a25c5f8a0c493373a2157221109466cbc86e5f44f623997bba18ca14892751"}, {"document_id": "1077334", "title": "Regulamento", "reference_date": "2025-12-19", "version": "1", "page": 98, "clause": "11.2", "url": "https://fnet.bmfbovespa.com.br/fnet/publico/visualizarDocumento?id=1077334", "sha256": "a9a25c5f8a0c493373a2157221109466cbc86e5f44f623997bba18ca14892751"}, {"document_id": "909707", "title": "Regulamento", "reference_date": "2025-05-19", "version": "1", "page": 96, "url": "https://fnet.bmfbovespa.com.br/fnet/publico/visualizarDocumento?id=909707", "sha256": "cfa949e3b02c8900c5d0e5f82225a19dc627218a4e4f2e969681a09335c55224"}], "reference": {"path": "history/41970012000126.json", "criterion_id": "liquidation", "total_count": 13, "preview_count": 3, "full_text_deferred": true, "sha256": "229578c6b833b0633051fe7d357f4fcc74589dcf37d7750032517e03ec89ee60"}}</a:t>
            </a:r>
          </a:p>
          <a:p>
            <a:r>
              <a:t>CNPJ 41970012000126 · Cura, aporte e recomposição · Regulamento · ID 1302706 · 27/08/2026 · versão 1 · p. 78–81 · 11.1(v)–(x),(xxvi),(xxix) · https://fnet.bmfbovespa.com.br/fnet/publico/visualizarDocumento?id=1302706</a:t>
            </a:r>
          </a:p>
          <a:p>
            <a:r>
              <a:t>CNPJ 41970012000126 · Cura, aporte e recomposição · Excerto da fonte:</a:t>
            </a:r>
          </a:p>
          <a:p>
            <a:r>
              <a:t>11.1. São considerados Eventos de Avaliação do Fundo quaisquer das seguintes ocorrências, observado que (a) os subitens (i), (ii), (iii), (iv), (v), (vi), (xi), (xvii), (xxiii), (xxiv), (xxvi), (xxviii),(xxx) e (xxxi) abaixo serão verificados pelo Administrador; (b) os subitens (ix), (xvii) e (xxix)abaixo serão verificados pelo Gestor; (c) o item (xxv) abaixo será verificado pelos Cotistas Seniores e/ou pelo Administrador; (d) os subitens (vii), (viii), (xii), (xiii), (xiv), (xv), (xvi), (xviii), (xix), (xx), (xxi), (xxii) poderão ser verificados pelo Administrador e/ou pelo Gestor; e (e) o item (xxx) poderá ser verificado pelos Cotistas Seniores, sem prejuízo, em qualquer caso, da obrigação do Mercado Pago e da Instituição Financeira MeLi disposta no item 11.1.2 abaixo: (i) não observância do prazo de 180 (cento e oitenta) dias contados da Data da Primeira Integralização de Cotas do Fundo, ou do prazo adicional concedido pela CVM, se for o caso, para alocação dos recursos do Fundo na aquisição de Direitos Creditórios em montante que corresponda a, no mínimo, a Alocação Mínima de Investimento, conforme disposto no item 5.1.2 acima; (ii) na hipótese de serem realizados pagamentos de rendimentos, Amortização ou resgate de Cotas Subordinadas Mezanino ou de Cotas Subordinadas Júnior em desacordo com este Regulamento; (iii) o Fundo deixe de deter natureza jurídica de condomínio de natureza especial, nos termos da legislação aplicável; (iv) caso a Assembleia Geral de Cotistas convocada nos termos do item 5.3.5.1 delibere que a Inconsistência Relevante verificada constitui um Evento de Avaliação; (v) não realização de pagamento da Meta de Rentabilidade Sênior e/ou da Meta de Rentabilidade Mezanino aplicável, da Amortização de Cotas Seniores e/ou de Cotas Subordinadas Mezanino ou amortização integral/resgate de Cotas Seniores e/ou de Cotas Subordinadas Mezanino em até 2 (dois) Dias Úteis contados da esperada Data de Pagamento ou Data de Amortização Integral definidas nos respectivos Apêndices, conforme aplicável, observado que, após a Data Limite de Investimento em Direitos Creditórios e/ou em caso de Evento de Amortização Acelerada e/ou Evento de Liquidação, a ausência de amortização de Cotas Subordinadas Mezanino, nos termos da ordem de alocação de recursos prevista no item 20.3, enquanto não houver a amortização integral/resgate de todas as Cotas Seniores, não será considerada um Evento de Avaliação; (vi) não realização de pagamento decorrente de um Evento de Pagamento Qualificado nos termos do item 12.7, subitem (ii), observado o prazo de cura de 2 (dois) Dias Úteis contados da respectiva data esperada; (vii) na ocorrência de um inadimplemento de quaisquer obrigações assumidas pelo Mercado Pago e/ou por qualquer Endossante em quaisquer Documentos do Fundo que não seja sanado (se passível de cura) no prazo cura estabelecido no respectivo Documento do Fundo ou no prazo de 45 (quarenta e cinco) dias contados de seu conhecimento ou notificação, conforme o caso, o que for menor (exceto por: (a) um Inadimplemento do Agente de Cobrança ou um Inadimplemento do Agente de Recebimento, que deverá observar o disposto no subitem (x) abaixo; e (b) o descumprimento do Agente de Recebimento de envio do arquivo retorno diariamente para o Administrador na forma do item 5.4.6.2 deste Regulamento e do Contrato de Agente de Recebimento, ao qual não se aplicará o prazo de cura estabelecido neste subitem); (viii) verificação de que quaisquer declarações, informações ou garantias prestadas ou fornecidas pelo Mercado Pago e/ou por quaisquer Endossantes, conforme aplicável: (a) no âmbito da elaboração de cada Relatório de Acompanhamento, no Relatório de Índice Financeiro e/ou quaisquer informações referentes aos Direitos Creditórios Adquiridos eram incorretas ou falsas, cuja incorreção ou falsidade resulte em uma contingência de valor superior a 2% (dois por cento) do Valor Agregado de Investimento Sênior na data de entrega de tais relatórios, documentos ou informações; ou (b) nos Documentos do Fundo dos quais sejam parte ou em qualquer documento escrito entregue pelo Mercado Pago ou por quaisquer Endossantes por força deste Regulamento ou dos Documentos do Fundo eram falsas ou incorretas em qualquer aspecto relevante na data em que foram prestadas; desde que, em ambos os casos, não sejam curadas (se passíveis de cura) no prazo de 30 (trinta) dias contados do conhecimento do Mercado Pago e/ou de quaisquer Endossantes ou da notificação nesse sentido pelo Administrador, o que ocorrer primeiro; (ix) ocorrência de qualquer evento ou situação que acarrete a não detenção, pelo Fundo, de titularidade plena sobre os Direitos Creditórios Adquiridos integrantes da Carteira, livres e desembaraçados de quaisquer ônus ou gravames, que impacte adversamente 3,5% (três inteiros e cinco décimos por cento) do Valor Agregado dos Direitos Creditórios, de forma individual ou agregada; (x) ocorrência de um Inadimplemento do Agente de Cobrança ou de um Inadimplemento do Agente de Recebimento, não sanado no prazo de cura previsto no Contrato de Cobrança e no Contrato de Agente de Recebimento, se houver, sem que o Agente de Cobrança ou o Agente de Recebimento seja substituído em até 120 (cento e vinte) dias contados de deliberação neste sentido pela Assembleia Geral de Cotistas; (xi) o Cotista titular das Cotas Subordinadas Júnior, nos termos do item 7.7 acima, deixe de deter 100% (cem por cento) das Cotas Subordinadas Júnior, sem prévia aprovação da Assembleia Geral de Cotistas, na forma do Capítulo 9 acima, exceto em caso permitido por este Regulamento; (xii) inadimplemento pela MeLi e/ou pelas Subsidiárias Relevantes da MeLi: (a) de obrigações de pagamento, conforme aplicável, em qualquer operação de Endividamento perante os Cotistas Seniores ou qualquer de suas Partes Relacionadas, cujo valor de principal, individual ou agregado, seja superior a US$25.000.000,00 (vinte e cinco milhões de dólares norte-americanos) ou seu valor equivalente em outras moedas; ou (b) de obrigações de pagamento, conforme aplicável, em qualquer operação de Endividamento perante quaisquer terceiros, cujo valor de principal, individual ou agregado, seja superior a US$75.000.000,00 (setenta e cinco milhões de dólares norte-americanos) ou seu valor equivalente em outras moedas, sendo que este subitem permanecerá válido apenas enquanto houver Cotas Seniores em Circulação e estas não sejam integralmente alienadas a terceiros nos termos do item 7.24 e seus subitens; (xiii) (a) a aquisição de titularidade, direta ou indiretamente, por quaisquer Pessoas ou grupo (conforme determinado pelo Securities Exchange Act of 1934) e pela regulamentação da Comissão de Títulos e Câmbios dos Estados Unidos (Securities and Exchange Commission) de ações representantes de Controle do montante total e em circulação de ações com direito de voto de emissão da MeLi (exceto por quaisquer aquisições por um ou mais Acionistas Permitidos); (b) ocupação da maioria dos cargos (que não sejam cargos vagos) do conselho de administração da MeLi por Pessoas que não tenham sido: (1) nomeadas pelo conselho de administração da MeLi; (2) indicadas por membros do conselho de administração nomeados; (3) indicadas por qualquer Acionista Permitido; (xiv) alteração de Controle, direto ou indireto, do Mercado Pago, da Instituição Financeira MeLi ou do Cotista Subordinado Júnior, de forma que a MeLi deixe de deter o Controle, direto ou indireto, do Mercado Pago, da Instituição Financeira MeLi ou do Cotista Subordinado Júnior, conforme o caso, sendo que para os fins deste item uma reorganização societária não será considerada alteração de Controle do Mercado Pago, da Instituição Financeira Meli ou do Cotista Subordinado Júnior; (xv) decisão judicial, arbitral ou administrativa exequível, não passível de recursos, contra o Mercado Pago ou a Instituição Financeira MeLi, que imponha constrição sobre seus ativos ou obrigação de pagamento cujo valor seja, de forma individual ou agregada, superior, em moeda corrente nacional, a US$75.000.000,00 (setenta e cinco milhões de dólares norte-americanos), ou seu valor equivalente em outras moedas; (xvi) decisão judicial, arbitral ou administrativa exequível, não passível de recursos, contra o Fundo, que imponha constrição sobre seus ativos ou obrigação de pagamento cujo valor seja, de forma individual ou agregada, superior, em moeda corrente nacional, a US$25.000.000,00 (vinte e cinco milhões de dólares norte-americanos), ou seu valor equivalente em outras moedas; (xvii) caso a Assembleia Geral de Cotistas convocada nos termos do item 5.3.5.1 delibere que a Inconsistência Relevante verificada constitui um Evento de Avaliação; (xviii) a qualquer tempo após a respectiva celebração, caso quaisquer dos Documentos do Fundo tenham sua validade, eficácia ou a exequibilidade contestada pelo Mercado Pago judicialmente; (xix) caso o Mercado Pago não realize, direta ou indiretamente, a aquisição de Direitos Creditórios em decorrência das hipóteses previstas no item 5.1.6.1 acima; (xx) com relação à MeLi ou ao Mercado Pago: (a) caso uma autoridade competente homologue ou decrete a falência ou determine a ocorrência de qualquer procedimento aplicável à MeLi ou ao Mercado Pago nos termos das leis de falência aplicáveis à MeLi ou ao Mercado Pago; (b) caso seja iniciado um procedimento involuntário contra a MeLi ou o Mercado Pago no âmbito das leis de falência aplicáveis ou caso uma autoridade competente nomeie um agente de liquidação, receptor, trustee ou qualquer outra entidade com poderes semelhantes sobre à MeLi ou ao Mercado Pago ou sobre parte substancial de propriedade da MeLi ou do Mercado Pago; ou (c) caso haja nomeação involuntária de um administrador interino, trustee, administrador ou custodiante para parte substancial de propriedade da MeLi ou do Mercado Pago; ou caso seja expedido mandado de penhora, ordem de execução ou qualquer procedimento semelhante contra a totalidade ou parte substancial de sua propriedade, exceto se sanado, suspenso ou revogado em até 30 (trinta) dias contados de sua ciência, conforme aplicável; (xxi) com relação à MeLi, à Instituição Financeira MeLi ou ao Mercado Pago, conforme aplicável: (a) em caso de ingresso em juízo com requerimento acerca de determinação de falência, insolvência, recuperação ou outro processo similar, nos termos das leis de falências aplicáveis ao Mercado Pago ou à MeLi ou o Mercado Pago ou a MeLi concorde com o ingresso de medida para reverter um procedimento involuntário ou para converter um procedimento involuntário em voluntário no âmbito da respectiva lei aplicável, ou concorde com a nomeação por qualquer autoridade competente de interventor, trustee, administrador ou custodiante para assumir parte substancial de sua propriedade; ou caso o Mercado Pago ou a MeLi realize cessão em benefício de seus credores; ou (b) caso o Mercado Pago ou a MeLi declare por escrito sua incapacidade para pagar suas dívidas em suas respectivas datas de vencimento; ou o conselho de administração resolva ou autorize qualquer ação para aprovar qualquer dos eventos previstos neste item (xxi) ou no item (xviii) acima; (xxii) com relação ao Mercado Pago ou à Instituição Financeira Meli, em caso de: (a) pedido de autofalência ou pedido de falência formulado por terceiros e não elidido no prazo legal; (b) decretação de regime de administração especial temporária (RAET), ou intervenção, conforme aplicável; (c) decretação ex officio de liquidação extrajudicial; (d) declaração de insolvência; ou (e) aprovação da dissolução, extinção ou liquidação; (xxiii) a realização de qualquer alteração aos Contratos de Endosso, ao Contrato de Cobrança e a quaisquer outros contratos celebrados pelo Fundo, que não seja objeto de deliberação em Assembleia Geral de Cotistas, e em relação aos quais os Cotistas Seniores manifestem sua discordância em até 5 (cinco) Dias Úteis a contar do recebimento de notificação do Administrador acerca da referida alteração; (xxiv) a celebração de novos Contratos de Endosso, ou de quaisquer outros contratos pelo Fundo, após a Data da Primeira Integralização de Cotas do Fundo que não seja objeto de deliberação em Assembleia Geral de Cotistas; (xxv) com relação ao Mercado Pago, não fornecimento das informações necessárias para que os Cotistas Seniores possam atualizar a Matriz de Perdas semestralmente, a partir da Data da Primeira de Integralização, dentro do prazo de 30 (trinta) dias a partir da data de solicitação pelo Administrador; (xxvi) caso o Mercado Pago promova restrição ou cancelamento de acesso, pelo Custodiante, à Conta de Pagamento do Fundo, inclusive de forma involuntária, em razão de atendimentos de ordens, determinações ou decisões de autoridades competentes, sem que o Fundo tenha obtido ou restabelecido acesso aos recursos devidos em função dos Direitos Creditórios Adquiridos em 5 (cinco) Dias Úteis; (xxvii) verificação de inobservância, por parte da MeLi, do Índice Financeiro Avaliação, calculado em conformidade com suas demonstrações financeiras públicas; (xxviii)não ocorrência de amortização extraordinária das Cotas Seniores e/ou das Cotas Subordinadas Mezanino nos prazos e na forma prevista neste Regulamento; (xxix) sem prejuízo dos itens acima, inobservância, por parte da MeLi, de qualquer obrigação de envio de dados ou informações necessárias às atividades do Fundo, que acarrete em marcação de ativos ou provisionamento incorreto que impacte o Patrimônio Líquido do Fundo em mais de 5% (cinco por cento), não sanada no prazo de 30 (trinta) dias, contado da data de tal inobservância por parte da MeLi; (xxx) caso o Administrador não envie aos Cotistas o relatório indicado no item 21.3 até o dia 31 de outubro de cada ano, observado o prazo de cura de até 30 (trinta) dias corridos; e (xxxi) caso o Administrador ingresse com um pedido de declaração judicial de insolvência.</a:t>
            </a:r>
          </a:p>
          <a:p>
            <a:r>
              <a:t>CNPJ 41970012000126 · Cura, aporte e recomposição · Regulamento · ID 1302706 · 27/08/2026 · versão 1 · p. 82 · 11.1.1–11.1.4 · https://fnet.bmfbovespa.com.br/fnet/publico/visualizarDocumento?id=1302706</a:t>
            </a:r>
          </a:p>
          <a:p>
            <a:r>
              <a:t>CNPJ 41970012000126 · Cura, aporte e recomposição · Excerto da fonte:</a:t>
            </a:r>
          </a:p>
          <a:p>
            <a:r>
              <a:t>11.1.1. O Administrador será responsável por reportar aos Cotistas sobre a ocorrência de quaisquer dos Eventos de Avaliação referidos acima, no prazo de 3 (três) Dias Úteis contados do momento em que tomar conhecimento do fato diretamente, pelo Gestor, pelo Custodiante, pelo Mercado Pago, pelos Cotistas ou por meio de qualquer parte interessada, conforme o caso. 11.1.2. Sem prejuízo do disposto no item 11.1.1 acima, o Mercado Pago e/ou a Instituição Financeira MeLi deverão informar o Administrador, da ocorrência de um Evento de Avaliação em até 3 (três) Dias Úteis a contar da data em que tomarem conhecimento da ocorrência de qualquer Evento de Avaliação. 11.1.3. Na ocorrência de quaisquer dos Eventos de Avaliação, o Fundo interromperá os procedimentos de aquisição de Direitos Creditórios e o Administrador convocará, em até 2 (dois) Dias Úteis, uma Assembleia Geral de Cotistas, a qual decidirá, observados os quóruns estabelecidos no Capítulo 9 acima: (i) se o referido Evento de Avaliação deve ser considerado como um Evento de Liquidação do Fundo, assim como se haverá liquidação antecipada do Fundo e quais os procedimentos a serem adotados na liquidação; ou (ii) se o referido Evento de Avaliação não deve ser considerado como um Evento de Liquidação do Fundo e, nesse caso, que medidas devem ser adotadas para preservar os direitos dos Cotistas do Fundo. 11.1.4. No caso de a Assembleia Geral de Cotistas deliberar que qualquer dos Eventos de Avaliação constitui um Evento de Liquidação do Fundo, o Administrador observará os procedimentos de que tratam o item 11.2 e seguintes abaixo sem que, para tanto, seja necessária a convocação de uma nova Assembleia Geral de Cotistas, podendo a Assembleia Geral de Cotistas que considerar um Evento de Avaliação como um Evento de Liquidação do Fundo deliberar sobre os procedimentos relacionados à liquidação do Fundo independentemente de qualquer notificação aos Cotistas ausentes à referida Assembleia Geral de Cotistas.</a:t>
            </a:r>
          </a:p>
          <a:p>
            <a:r>
              <a:t>CNPJ 41970012000126 · Cura, aporte e recomposição · Condição: Curas distintas por obrigação e passibilidade; comunicação/substituição não são confundidas com cura.</a:t>
            </a:r>
          </a:p>
          <a:p>
            <a:r>
              <a:t>CNPJ 41970012000126 · Cura, aporte e recomposição · Versão e prevalência: Leitura específica das cláusulas indicadas; condições e conflitos preservados. Seleção documental atual não comprova vigência jurídica por data isolada.</a:t>
            </a:r>
          </a:p>
          <a:p>
            <a:r>
              <a:t>CNPJ 41970012000126 · Cura, aporte e recomposição · Resumo do histórico: {"count": 12, "dates": ["2025-05-19", "2025-12-19"], "document_count": 3, "sources": [{"document_id": "1077333", "title": "AGE", "reference_date": "2025-12-19", "version": "1", "page": 101, "clause": "12.1", "url": "https://fnet.bmfbovespa.com.br/fnet/publico/visualizarDocumento?id=1077333", "sha256": "a9a25c5f8a0c493373a2157221109466cbc86e5f44f623997bba18ca14892751"}, {"document_id": "1077334", "title": "Regulamento", "reference_date": "2025-12-19", "version": "1", "page": 101, "clause": "12.1", "url": "https://fnet.bmfbovespa.com.br/fnet/publico/visualizarDocumento?id=1077334", "sha256": "a9a25c5f8a0c493373a2157221109466cbc86e5f44f623997bba18ca14892751"}, {"document_id": "909707", "title": "Regulamento", "reference_date": "2025-05-19", "version": "1", "page": 91, "url": "https://fnet.bmfbovespa.com.br/fnet/publico/visualizarDocumento?id=909707", "sha256": "cfa949e3b02c8900c5d0e5f82225a19dc627218a4e4f2e969681a09335c55224"}], "reference": {"path": "history/41970012000126.json", "criterion_id": "cure", "total_count": 12, "preview_count": 3, "full_text_deferred": true, "sha256": "229578c6b833b0633051fe7d357f4fcc74589dcf37d7750032517e03ec89ee60"}}</a:t>
            </a:r>
          </a:p>
          <a:p>
            <a:r>
              <a:t>CNPJ 41970012000126 · Crossdefault einsolvência · Regulamento · ID 1302706 · 27/08/2026 · versão Regulamento27/08/2026 · p. 79 · 11.1(xii) · https://fnet.bmfbovespa.com.br/fnet/publico/visualizarDocumento?id=1302706</a:t>
            </a:r>
          </a:p>
          <a:p>
            <a:r>
              <a:t>CNPJ 41970012000126 · Crossdefault einsolvência · Excerto da fonte:</a:t>
            </a:r>
          </a:p>
          <a:p>
            <a:r>
              <a:t>(xii) inadimplemento pela MeLi e/ou pelas Subsidiárias Relevantes da MeLi: (a) de obrigações de pagamento, conforme aplicável, em qualquer operação de Endividamento perante os Cotistas Seniores ou qualquer de suas Partes Relacionadas, cujo valor de principal, individual ou agregado, seja superior a US$25.000.000,00 (vinte e cinco milhões de dólares norte-americanos) ou seu valor equivalente em outras moedas; ou (b) de obrigações de pagamento, conforme aplicável, em qualquer operação de Endividamento perante quaisquer terceiros, cujo valor de principal, individual ou agregado,</a:t>
            </a:r>
          </a:p>
          <a:p>
            <a:r>
              <a:t>CNPJ 41970012000126 · Crossdefault einsolvência · Regulamento · ID 1302706 · 27/08/2026 · versão Regulamento27/08/2026 · p. 81 · 11.1(xxi)–(xxii) · https://fnet.bmfbovespa.com.br/fnet/publico/visualizarDocumento?id=1302706</a:t>
            </a:r>
          </a:p>
          <a:p>
            <a:r>
              <a:t>CNPJ 41970012000126 · Crossdefault einsolvência · Excerto da fonte:</a:t>
            </a:r>
          </a:p>
          <a:p>
            <a:r>
              <a:t>(xxii) com relação ao Mercado Pago ou à Instituição Financeira Meli, em caso de: (a) pedido de autofalência ou pedido de falência formulado por terceiros e não elidido no prazo legal; (b) decretação de regime de administração especial temporária (RAET), ou intervenção, conforme aplicável; (c) decretação ex officio de liquidação extrajudicial; (d) declaração de insolvência; ou (e) aprovação da dissolução, extinção ou liquidação; (xxiii) a realização de qualquer alteração aos Contratos de Endosso, ao Contrato de Cobrança e a quaisquer outros contratos celebrados pelo Fundo, que não seja objeto de d</a:t>
            </a:r>
          </a:p>
          <a:p>
            <a:r>
              <a:t>CNPJ 41970012000126 · Crossdefault einsolvência · Motivo: Não localizada uma cláusula material para este critério nos textos identificados e processados. A ausência de resultado não comprova inexistência da regra.</a:t>
            </a:r>
          </a:p>
          <a:p>
            <a:r>
              <a:t>CNPJ 41970012000126 · Crossdefault einsolvência · Versão e prevalência: Leitura específica das cláusulas indicadas; condições e conflitos preservados. Seleção documental atual não comprova vigência jurídica por data isolada.</a:t>
            </a:r>
          </a:p>
          <a:p>
            <a:r>
              <a:t>CNPJ 41970012000126 · Gatilhos de avaliação e liquidação · Regulamento · ID 1302706 · 2026-08-27 · versão 1 · p. 78 · 11.1 · https://fnet.bmfbovespa.com.br/fnet/publico/visualizarDocumento?id=1302706</a:t>
            </a:r>
          </a:p>
          <a:p>
            <a:r>
              <a:t>CNPJ 41970012000126 · Gatilhos de avaliação e liquidação · Excerto da fonte:</a:t>
            </a:r>
          </a:p>
          <a:p>
            <a:r>
              <a:t>11.1. São considerados Eventos de Avaliação do Fundo quaisquer das seguintes ocorrências, observado  que (a) os subitens (i), (ii), (iii), (iv), (v), (vi), (xi), (xvii), (xxiii), (xxiv), (xxvi), (xxviii),(xxx) e (xxxi)  abaixo serão verificados pelo Administrador; (b) os subitens (ix), (xvii) e (xxix)abaixo serão verificados  pelo Gestor; (c) o item (xxv) abaixo será verificado pelos Cotistas Seniores e/ou pelo Administrador; (d)  os subitens (vii), (viii), (xii), (xiii), (xiv), (xv), (xvi), (xviii), (xix), (xx), (xxi), (xxii) poderão ser verificados  pelo Administrador e/ou pelo Gestor; e (e) o item (xxx) poderá ser verificado pelos Cotistas Seniores, sem  prejuízo, em qualquer caso, da obrigação do Mercado Pago e da Instituição Financeira MeLi disposta no  item 11.1.2 abaixo:</a:t>
            </a:r>
          </a:p>
          <a:p>
            <a:r>
              <a:t>(i) não observância do prazo de 180 (cento e oitenta) dias contados da Data da Primeira  Integralização de Cotas do Fundo, ou do prazo adicional concedido pela CVM, se for o caso,  para alocação dos recursos do Fundo na aquisição de Direitos Creditórios em montante que  corresponda a, no mínimo, a Alocação Mínima de Investimento, conforme disposto no item</a:t>
            </a:r>
          </a:p>
          <a:p>
            <a:r>
              <a:t>(ii) na hipótese de serem realizados pagamentos de rendimentos, Amortização ou resgate de Cotas  Subordinadas Mezanino ou de Cotas Subordinadas Júnior em desacordo com este Regulamento;</a:t>
            </a:r>
          </a:p>
          <a:p>
            <a:r>
              <a:t>(iii) o Fundo deixe de deter natureza jurídica de condomínio de natureza especial, nos termos da  legislação aplicável;</a:t>
            </a:r>
          </a:p>
          <a:p>
            <a:r>
              <a:t>(iv) caso a Assembleia Geral de Cotistas convocada nos termos do item 5.3.5.1 delibere que a  Inconsistência Relevante verificada constitui um Evento de Avaliação;</a:t>
            </a:r>
          </a:p>
          <a:p>
            <a:r>
              <a:t>(v) não realização de pagamento da Meta de Rentabilidade Sênior e/ou da Meta de Rentabilidade  Mezanino aplicável, da Amortização de Cotas Seniores e/ou de Cotas Subordinadas Mezanino  ou amortização integral/resgate de Cotas Seniores e/ou de Cotas Subordinadas Mezanino em até  2 (dois) Dias Úteis contados da esperada Data de Pagamento ou Data de Amortização Integral  definidas nos respectivos Apêndices, conforme aplicável, observado que, após a Data Limite de  Investimento em Direitos Creditórios e/ou em caso de Evento de Amortização Acelerada e/ou  Evento de Liquidação, a ausência de amortização de Cotas Subordinadas Mezanino, nos termos  da ordem de alocação de recursos prevista no item 20.3, enquanto não houver a amortização  integral/resgate de todas as Cotas Seniores, não será considerada um Evento de Avaliação;</a:t>
            </a:r>
          </a:p>
          <a:p>
            <a:r>
              <a:t>(vi) não realização de pagamento decorrente de um Evento de Pagamento Qualificado nos termos  do item 12.7, subitem (ii), observado o prazo de cura de 2 (dois) Dias Úteis contados da  respectiva data esperada;</a:t>
            </a:r>
          </a:p>
          <a:p>
            <a:r>
              <a:t>(vii) na ocorrência de um inadimplemento de quaisquer obrigações assumidas pelo Mercado Pago  e/ou por qualquer Endossante em quaisquer Documentos do Fundo que não seja sanado (se  btgpactual.com</a:t>
            </a:r>
          </a:p>
          <a:p>
            <a:r>
              <a:t>CNPJ 41970012000126 · Gatilhos de avaliação e liquidação · Regulamento · ID 1302706 · 2026-08-27 · versão 1 · p. 82 · 11.2 · https://fnet.bmfbovespa.com.br/fnet/publico/visualizarDocumento?id=1302706</a:t>
            </a:r>
          </a:p>
          <a:p>
            <a:r>
              <a:t>CNPJ 41970012000126 · Gatilhos de avaliação e liquidação · Excerto da fonte:</a:t>
            </a:r>
          </a:p>
          <a:p>
            <a:r>
              <a:t>11.2. São considerados Eventos de Liquidação do Fundo quaisquer das seguintes ocorrências:</a:t>
            </a:r>
          </a:p>
          <a:p>
            <a:r>
              <a:t>(i) caso seja deliberado em Assembleia Geral de Cotistas que um Evento de Avaliação constitui  um Evento de Liquidação;</a:t>
            </a:r>
          </a:p>
          <a:p>
            <a:r>
              <a:t>(ii) caso os Cotistas deliberem em Assembleia Geral de Cotistas pela não realização de aporte de  recursos no Fundo e pela não alienação de Direitos Creditórios e/ou Ativos Financeiros para  suprir a necessidade de recursos para pagamento de despesas e encargos do Fundo que não  possam ser cobertos pelas Disponibilidades, quando convocados para tal deliberação;</a:t>
            </a:r>
          </a:p>
          <a:p>
            <a:r>
              <a:t>(iii) se, durante 3 (três) meses consecutivos, o Patrimônio Líquido do Fundo médio for inferior a  R$1.000.000,00 (um milhão de reais);</a:t>
            </a:r>
          </a:p>
          <a:p>
            <a:r>
              <a:t>(iv) renúncia ou destituição do Administrador, Gestor e/ou do Custodiante sem a sua devida  substituição em até 180 (cento e oitenta) dias;</a:t>
            </a:r>
          </a:p>
          <a:p>
            <a:r>
              <a:t>(v) caso o Mercado Pago promova restrição ou cancelamento de acesso, pelo Custodiante, à Conta  de Pagamento do Fundo, inclusive de forma involuntária, em razão de atendimentos de ordens,  determinações ou decisões de autoridades competentes, sem que o Fundo tenha obtido ou  restabelecido acesso aos recursos devidos em função dos Direitos Creditórios Adquiridos em 5</a:t>
            </a:r>
          </a:p>
          <a:p>
            <a:r>
              <a:t> (cinco) Dias Úteis e o Administrador não tenha, conforme previsto no subitem (xxvi) do item</a:t>
            </a:r>
          </a:p>
          <a:p>
            <a:r>
              <a:t>CNPJ 41970012000126 · Gatilhos de avaliação e liquidação · Condição: Documentos atuais selecionados no inventário por categoria/escopo; a data documental isolada não comprova vigência jurídica.</a:t>
            </a:r>
          </a:p>
          <a:p>
            <a:r>
              <a:t>CNPJ 41970012000126 · Gatilhos de avaliação e liquidação · Versão e prevalência: Documentos atuais selecionados no inventário por categoria/escopo; a data documental isolada não comprova vigência jurídica.</a:t>
            </a:r>
          </a:p>
          <a:p>
            <a:r>
              <a:t>CNPJ 41970012000126 · Gatilhos de avaliação e liquidação · Resumo do histórico: {"count": 18, "dates": ["2025-05-19", "2025-12-19"], "document_count": 3, "sources": [{"document_id": "1077333", "title": "AGE", "reference_date": "2025-12-19", "version": "1", "page": 98, "clause": "11.2", "url": "https://fnet.bmfbovespa.com.br/fnet/publico/visualizarDocumento?id=1077333", "sha256": "a9a25c5f8a0c493373a2157221109466cbc86e5f44f623997bba18ca14892751"}, {"document_id": "1077334", "title": "Regulamento", "reference_date": "2025-12-19", "version": "1", "page": 98, "clause": "11.2", "url": "https://fnet.bmfbovespa.com.br/fnet/publico/visualizarDocumento?id=1077334", "sha256": "a9a25c5f8a0c493373a2157221109466cbc86e5f44f623997bba18ca14892751"}, {"document_id": "909707", "title": "Regulamento", "reference_date": "2025-05-19", "version": "1", "page": 96, "url": "https://fnet.bmfbovespa.com.br/fnet/publico/visualizarDocumento?id=909707", "sha256": "cfa949e3b02c8900c5d0e5f82225a19dc627218a4e4f2e969681a09335c55224"}], "reference": {"path": "history/41970012000126.json", "criterion_id": "legacy_events", "total_count": 18, "preview_count": 3, "full_text_deferred": true, "sha256": "229578c6b833b0633051fe7d357f4fcc74589dcf37d7750032517e03ec89ee60"}}</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PLGN Marketplace · vínculo CNPJ 41970012000126 · Eventos e cura</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Vínculo: PLGN Marketplace · CNPJ 55563624000109 → CNPJ 41970012000126 · Regulamento · ID 1192614 · 30/04/2026 · versão Regulamento30/04/2026 · p. 11 · AnexoI4.1</a:t>
            </a:r>
          </a:p>
          <a:p>
            <a:r>
              <a:t>Condição do vínculo: {"cnpj": "41970012000126", "name": "Mercado Crédito II Brasil FIDC", "relationship": "named_investee", "exposure": "mezzanine", "position_status": "mandate_identified_position_not_quantified", "risk_note": "Mandato e classe exatos; comparar regras eIMEdo investido na competência doFIC, sem dupla contagem dePL."}</a:t>
            </a:r>
          </a:p>
          <a:p>
            <a:r>
              <a:t>CNPJ 41970012000126 · Eventos de avaliação · Regulamento · ID 1302706 · 27/08/2026 · versão 1 · p. 78–81 · 11.1(i)–(xxxi) · https://fnet.bmfbovespa.com.br/fnet/publico/visualizarDocumento?id=1302706</a:t>
            </a:r>
          </a:p>
          <a:p>
            <a:r>
              <a:t>CNPJ 41970012000126 · Eventos de avaliação · Excerto da fonte:</a:t>
            </a:r>
          </a:p>
          <a:p>
            <a:r>
              <a:t>11.1. São considerados Eventos de Avaliação do Fundo quaisquer das seguintes ocorrências, observado que (a) os subitens (i), (ii), (iii), (iv), (v), (vi), (xi), (xvii), (xxiii), (xxiv), (xxvi), (xxviii),(xxx) e (xxxi) abaixo serão verificados pelo Administrador; (b) os subitens (ix), (xvii) e (xxix)abaixo serão verificados pelo Gestor; (c) o item (xxv) abaixo será verificado pelos Cotistas Seniores e/ou pelo Administrador; (d) os subitens (vii), (viii), (xii), (xiii), (xiv), (xv), (xvi), (xviii), (xix), (xx), (xxi), (xxii) poderão ser verificados pelo Administrador e/ou pelo Gestor; e (e) o item (xxx) poderá ser verificado pelos Cotistas Seniores, sem prejuízo, em qualquer caso, da obrigação do Mercado Pago e da Instituição Financeira MeLi disposta no item 11.1.2 abaixo: (i) não observância do prazo de 180 (cento e oitenta) dias contados da Data da Primeira Integralização de Cotas do Fundo, ou do prazo adicional concedido pela CVM, se for o caso, para alocação dos recursos do Fundo na aquisição de Direitos Creditórios em montante que corresponda a, no mínimo, a Alocação Mínima de Investimento, conforme disposto no item 5.1.2 acima; (ii) na hipótese de serem realizados pagamentos de rendimentos, Amortização ou resgate de Cotas Subordinadas Mezanino ou de Cotas Subordinadas Júnior em desacordo com este Regulamento; (iii) o Fundo deixe de deter natureza jurídica de condomínio de natureza especial, nos termos da legislação aplicável; (iv) caso a Assembleia Geral de Cotistas convocada nos termos do item 5.3.5.1 delibere que a Inconsistência Relevante verificada constitui um Evento de Avaliação; (v) não realização de pagamento da Meta de Rentabilidade Sênior e/ou da Meta de Rentabilidade Mezanino aplicável, da Amortização de Cotas Seniores e/ou de Cotas Subordinadas Mezanino ou amortização integral/resgate de Cotas Seniores e/ou de Cotas Subordinadas Mezanino em até 2 (dois) Dias Úteis contados da esperada Data de Pagamento ou Data de Amortização Integral definidas nos respectivos Apêndices, conforme aplicável, observado que, após a Data Limite de Investimento em Direitos Creditórios e/ou em caso de Evento de Amortização Acelerada e/ou Evento de Liquidação, a ausência de amortização de Cotas Subordinadas Mezanino, nos termos da ordem de alocação de recursos prevista no item 20.3, enquanto não houver a amortização integral/resgate de todas as Cotas Seniores, não será considerada um Evento de Avaliação; (vi) não realização de pagamento decorrente de um Evento de Pagamento Qualificado nos termos do item 12.7, subitem (ii), observado o prazo de cura de 2 (dois) Dias Úteis contados da respectiva data esperada; (vii) na ocorrência de um inadimplemento de quaisquer obrigações assumidas pelo Mercado Pago e/ou por qualquer Endossante em quaisquer Documentos do Fundo que não seja sanado (se passível de cura) no prazo cura estabelecido no respectivo Documento do Fundo ou no prazo de 45 (quarenta e cinco) dias contados de seu conhecimento ou notificação, conforme o caso, o que for menor (exceto por: (a) um Inadimplemento do Agente de Cobrança ou um Inadimplemento do Agente de Recebimento, que deverá observar o disposto no subitem (x) abaixo; e (b) o descumprimento do Agente de Recebimento de envio do arquivo retorno diariamente para o Administrador na forma do item 5.4.6.2 deste Regulamento e do Contrato de Agente de Recebimento, ao qual não se aplicará o prazo de cura estabelecido neste subitem); (viii) verificação de que quaisquer declarações, informações ou garantias prestadas ou fornecidas pelo Mercado Pago e/ou por quaisquer Endossantes, conforme aplicável: (a) no âmbito da elaboração de cada Relatório de Acompanhamento, no Relatório de Índice Financeiro e/ou quaisquer informações referentes aos Direitos Creditórios Adquiridos eram incorretas ou falsas, cuja incorreção ou falsidade resulte em uma contingência de valor superior a 2% (dois por cento) do Valor Agregado de Investimento Sênior na data de entrega de tais relatórios, documentos ou informações; ou (b) nos Documentos do Fundo dos quais sejam parte ou em qualquer documento escrito entregue pelo Mercado Pago ou por quaisquer Endossantes por força deste Regulamento ou dos Documentos do Fundo eram falsas ou incorretas em qualquer aspecto relevante na data em que foram prestadas; desde que, em ambos os casos, não sejam curadas (se passíveis de cura) no prazo de 30 (trinta) dias contados do conhecimento do Mercado Pago e/ou de quaisquer Endossantes ou da notificação nesse sentido pelo Administrador, o que ocorrer primeiro; (ix) ocorrência de qualquer evento ou situação que acarrete a não detenção, pelo Fundo, de titularidade plena sobre os Direitos Creditórios Adquiridos integrantes da Carteira, livres e desembaraçados de quaisquer ônus ou gravames, que impacte adversamente 3,5% (três inteiros e cinco décimos por cento) do Valor Agregado dos Direitos Creditórios, de forma individual ou agregada; (x) ocorrência de um Inadimplemento do Agente de Cobrança ou de um Inadimplemento do Agente de Recebimento, não sanado no prazo de cura previsto no Contrato de Cobrança e no Contrato de Agente de Recebimento, se houver, sem que o Agente de Cobrança ou o Agente de Recebimento seja substituído em até 120 (cento e vinte) dias contados de deliberação neste sentido pela Assembleia Geral de Cotistas; (xi) o Cotista titular das Cotas Subordinadas Júnior, nos termos do item 7.7 acima, deixe de deter 100% (cem por cento) das Cotas Subordinadas Júnior, sem prévia aprovação da Assembleia Geral de Cotistas, na forma do Capítulo 9 acima, exceto em caso permitido por este Regulamento; (xii) inadimplemento pela MeLi e/ou pelas Subsidiárias Relevantes da MeLi: (a) de obrigações de pagamento, conforme aplicável, em qualquer operação de Endividamento perante os Cotistas Seniores ou qualquer de suas Partes Relacionadas, cujo valor de principal, individual ou agregado, seja superior a US$25.000.000,00 (vinte e cinco milhões de dólares norte-americanos) ou seu valor equivalente em outras moedas; ou (b) de obrigações de pagamento, conforme aplicável, em qualquer operação de Endividamento perante quaisquer terceiros, cujo valor de principal, individual ou agregado, seja superior a US$75.000.000,00 (setenta e cinco milhões de dólares norte-americanos) ou seu valor equivalente em outras moedas, sendo que este subitem permanecerá válido apenas enquanto houver Cotas Seniores em Circulação e estas não sejam integralmente alienadas a terceiros nos termos do item 7.24 e seus subitens; (xiii) (a) a aquisição de titularidade, direta ou indiretamente, por quaisquer Pessoas ou grupo (conforme determinado pelo Securities Exchange Act of 1934) e pela regulamentação da Comissão de Títulos e Câmbios dos Estados Unidos (Securities and Exchange Commission) de ações representantes de Controle do montante total e em circulação de ações com direito de voto de emissão da MeLi (exceto por quaisquer aquisições por um ou mais Acionistas Permitidos); (b) ocupação da maioria dos cargos (que não sejam cargos vagos) do conselho de administração da MeLi por Pessoas que não tenham sido: (1) nomeadas pelo conselho de administração da MeLi; (2) indicadas por membros do conselho de administração nomeados; (3) indicadas por qualquer Acionista Permitido; (xiv) alteração de Controle, direto ou indireto, do Mercado Pago, da Instituição Financeira MeLi ou do Cotista Subordinado Júnior, de forma que a MeLi deixe de deter o Controle, direto ou indireto, do Mercado Pago, da Instituição Financeira MeLi ou do Cotista Subordinado Júnior, conforme o caso, sendo que para os fins deste item uma reorganização societária não será considerada alteração de Controle do Mercado Pago, da Instituição Financeira Meli ou do Cotista Subordinado Júnior; (xv) decisão judicial, arbitral ou administrativa exequível, não passível de recursos, contra o Mercado Pago ou a Instituição Financeira MeLi, que imponha constrição sobre seus ativos ou obrigação de pagamento cujo valor seja, de forma individual ou agregada, superior, em moeda corrente nacional, a US$75.000.000,00 (setenta e cinco milhões de dólares norte-americanos), ou seu valor equivalente em outras moedas; (xvi) decisão judicial, arbitral ou administrativa exequível, não passível de recursos, contra o Fundo, que imponha constrição sobre seus ativos ou obrigação de pagamento cujo valor seja, de forma individual ou agregada, superior, em moeda corrente nacional, a US$25.000.000,00 (vinte e cinco milhões de dólares norte-americanos), ou seu valor equivalente em outras moedas; (xvii) caso a Assembleia Geral de Cotistas convocada nos termos do item 5.3.5.1 delibere que a Inconsistência Relevante verificada constitui um Evento de Avaliação; (xviii) a qualquer tempo após a respectiva celebração, caso quaisquer dos Documentos do Fundo tenham sua validade, eficácia ou a exequibilidade contestada pelo Mercado Pago judicialmente; (xix) caso o Mercado Pago não realize, direta ou indiretamente, a aquisição de Direitos Creditórios em decorrência das hipóteses previstas no item 5.1.6.1 acima; (xx) com relação à MeLi ou ao Mercado Pago: (a) caso uma autoridade competente homologue ou decrete a falência ou determine a ocorrência de qualquer procedimento aplicável à MeLi ou ao Mercado Pago nos termos das leis de falência aplicáveis à MeLi ou ao Mercado Pago; (b) caso seja iniciado um procedimento involuntário contra a MeLi ou o Mercado Pago no âmbito das leis de falência aplicáveis ou caso uma autoridade competente nomeie um agente de liquidação, receptor, trustee ou qualquer outra entidade com poderes semelhantes sobre à MeLi ou ao Mercado Pago ou sobre parte substancial de propriedade da MeLi ou do Mercado Pago; ou (c) caso haja nomeação involuntária de um administrador interino, trustee, administrador ou custodiante para parte substancial de propriedade da MeLi ou do Mercado Pago; ou caso seja expedido mandado de penhora, ordem de execução ou qualquer procedimento semelhante contra a totalidade ou parte substancial de sua propriedade, exceto se sanado, suspenso ou revogado em até 30 (trinta) dias contados de sua ciência, conforme aplicável; (xxi) com relação à MeLi, à Instituição Financeira MeLi ou ao Mercado Pago, conforme aplicável: (a) em caso de ingresso em juízo com requerimento acerca de determinação de falência, insolvência, recuperação ou outro processo similar, nos termos das leis de falências aplicáveis ao Mercado Pago ou à MeLi ou o Mercado Pago ou a MeLi concorde com o ingresso de medida para reverter um procedimento involuntário ou para converter um procedimento involuntário em voluntário no âmbito da respectiva lei aplicável, ou concorde com a nomeação por qualquer autoridade competente de interventor, trustee, administrador ou custodiante para assumir parte substancial de sua propriedade; ou caso o Mercado Pago ou a MeLi realize cessão em benefício de seus credores; ou (b) caso o Mercado Pago ou a MeLi declare por escrito sua incapacidade para pagar suas dívidas em suas respectivas datas de vencimento; ou o conselho de administração resolva ou autorize qualquer ação para aprovar qualquer dos eventos previstos neste item (xxi) ou no item (xviii) acima; (xxii) com relação ao Mercado Pago ou à Instituição Financeira Meli, em caso de: (a) pedido de autofalência ou pedido de falência formulado por terceiros e não elidido no prazo legal; (b) decretação de regime de administração especial temporária (RAET), ou intervenção, conforme aplicável; (c) decretação ex officio de liquidação extrajudicial; (d) declaração de insolvência; ou (e) aprovação da dissolução, extinção ou liquidação; (xxiii) a realização de qualquer alteração aos Contratos de Endosso, ao Contrato de Cobrança e a quaisquer outros contratos celebrados pelo Fundo, que não seja objeto de deliberação em Assembleia Geral de Cotistas, e em relação aos quais os Cotistas Seniores manifestem sua discordância em até 5 (cinco) Dias Úteis a contar do recebimento de notificação do Administrador acerca da referida alteração; (xxiv) a celebração de novos Contratos de Endosso, ou de quaisquer outros contratos pelo Fundo, após a Data da Primeira Integralização de Cotas do Fundo que não seja objeto de deliberação em Assembleia Geral de Cotistas; (xxv) com relação ao Mercado Pago, não fornecimento das informações necessárias para que os Cotistas Seniores possam atualizar a Matriz de Perdas semestralmente, a partir da Data da Primeira de Integralização, dentro do prazo de 30 (trinta) dias a partir da data de solicitação pelo Administrador; (xxvi) caso o Mercado Pago promova restrição ou cancelamento de acesso, pelo Custodiante, à Conta de Pagamento do Fundo, inclusive de forma involuntária, em razão de atendimentos de ordens, determinações ou decisões de autoridades competentes, sem que o Fundo tenha obtido ou restabelecido acesso aos recursos devidos em função dos Direitos Creditórios Adquiridos em 5 (cinco) Dias Úteis; (xxvii) verificação de inobservância, por parte da MeLi, do Índice Financeiro Avaliação, calculado em conformidade com suas demonstrações financeiras públicas; (xxviii)não ocorrência de amortização extraordinária das Cotas Seniores e/ou das Cotas Subordinadas Mezanino nos prazos e na forma prevista neste Regulamento; (xxix) sem prejuízo dos itens acima, inobservância, por parte da MeLi, de qualquer obrigação de envio de dados ou informações necessárias às atividades do Fundo, que acarrete em marcação de ativos ou provisionamento incorreto que impacte o Patrimônio Líquido do Fundo em mais de 5% (cinco por cento), não sanada no prazo de 30 (trinta) dias, contado da data de tal inobservância por parte da MeLi; (xxx) caso o Administrador não envie aos Cotistas o relatório indicado no item 21.3 até o dia 31 de outubro de cada ano, observado o prazo de cura de até 30 (trinta) dias corridos; e (xxxi) caso o Administrador ingresse com um pedido de declaração judicial de insolvência.</a:t>
            </a:r>
          </a:p>
          <a:p>
            <a:r>
              <a:t>CNPJ 41970012000126 · Eventos de avaliação · Regulamento · ID 1302706 · 27/08/2026 · versão 1 · p. 25 · Definição Índice Financeiro Avaliação · https://fnet.bmfbovespa.com.br/fnet/publico/visualizarDocumento?id=1302706</a:t>
            </a:r>
          </a:p>
          <a:p>
            <a:r>
              <a:t>CNPJ 41970012000126 · Eventos de avaliação · Excerto da fonte:</a:t>
            </a:r>
          </a:p>
          <a:p>
            <a:r>
              <a:t>"Índice Financeiro Avaliação" significa, em relação à MeLi, o seguinte índice financeiro: Liquidez Consolidada: verificação de que a Liquidez Consolidada é maior que US$100.000.000,00 (cem milhões de dólares norte-americanos). O Índice Financeiro Avaliação será calculado pelo Mercado Pago, com base nas demonstrações financeiras auditadas ou informações financeiras trimestrais da MeLi, e encaminhado ao Administrador e ao Gestor trimestralmente por meio do Relatório de Índice Financeiro, nos termos do item 18.15 abaixo, e após revisão e confirmação do cálculo pelo Gestor, disponibilizado pelo Gestor no Relatório de Acompanhamento.</a:t>
            </a:r>
          </a:p>
          <a:p>
            <a:r>
              <a:t>CNPJ 41970012000126 · Eventos de avaliação · Regulamento · ID 1302706 · 27/08/2026 · versão 1 · p. 82 · 11.1.1–11.1.4 · https://fnet.bmfbovespa.com.br/fnet/publico/visualizarDocumento?id=1302706</a:t>
            </a:r>
          </a:p>
          <a:p>
            <a:r>
              <a:t>CNPJ 41970012000126 · Eventos de avaliação · Excerto da fonte:</a:t>
            </a:r>
          </a:p>
          <a:p>
            <a:r>
              <a:t>11.1.1. O Administrador será responsável por reportar aos Cotistas sobre a ocorrência de quaisquer dos Eventos de Avaliação referidos acima, no prazo de 3 (três) Dias Úteis contados do momento em que tomar conhecimento do fato diretamente, pelo Gestor, pelo Custodiante, pelo Mercado Pago, pelos Cotistas ou por meio de qualquer parte interessada, conforme o caso. 11.1.2. Sem prejuízo do disposto no item 11.1.1 acima, o Mercado Pago e/ou a Instituição Financeira MeLi deverão informar o Administrador, da ocorrência de um Evento de Avaliação em até 3 (três) Dias Úteis a contar da data em que tomarem conhecimento da ocorrência de qualquer Evento de Avaliação. 11.1.3. Na ocorrência de quaisquer dos Eventos de Avaliação, o Fundo interromperá os procedimentos de aquisição de Direitos Creditórios e o Administrador convocará, em até 2 (dois) Dias Úteis, uma Assembleia Geral de Cotistas, a qual decidirá, observados os quóruns estabelecidos no Capítulo 9 acima: (i) se o referido Evento de Avaliação deve ser considerado como um Evento de Liquidação do Fundo, assim como se haverá liquidação antecipada do Fundo e quais os procedimentos a serem adotados na liquidação; ou (ii) se o referido Evento de Avaliação não deve ser considerado como um Evento de Liquidação do Fundo e, nesse caso, que medidas devem ser adotadas para preservar os direitos dos Cotistas do Fundo. 11.1.4. No caso de a Assembleia Geral de Cotistas deliberar que qualquer dos Eventos de Avaliação constitui um Evento de Liquidação do Fundo, o Administrador observará os procedimentos de que tratam o item 11.2 e seguintes abaixo sem que, para tanto, seja necessária a convocação de uma nova Assembleia Geral de Cotistas, podendo a Assembleia Geral de Cotistas que considerar um Evento de Avaliação como um Evento de Liquidação do Fundo deliberar sobre os procedimentos relacionados à liquidação do Fundo independentemente de qualquer notificação aos Cotistas ausentes à referida Assembleia Geral de Cotistas.</a:t>
            </a:r>
          </a:p>
          <a:p>
            <a:r>
              <a:t>CNPJ 41970012000126 · Eventos de avaliação · Condição: Rol completo e condições específicas na fonte. Falta de amortização MZ após fim do investimento/amortização acelerada/liquidação, enquanto sênior não foi integralmente paga, tem exceção em 11.1(v). Prazos em dias sem qualificador são preservados assim.</a:t>
            </a:r>
          </a:p>
          <a:p>
            <a:r>
              <a:t>CNPJ 41970012000126 · Eventos de avaliação · Versão e prevalência: Leitura específica das cláusulas indicadas; condições e conflitos preservados. Seleção documental atual não comprova vigência jurídica por data isolada.</a:t>
            </a:r>
          </a:p>
          <a:p>
            <a:r>
              <a:t>CNPJ 41970012000126 · Eventos de avaliação · Resumo do histórico: {"count": 12, "dates": ["2025-12-19", "2025-12-31"], "document_count": 3, "sources": [{"document_id": "1151156", "title": "Demonstrações Financeiras", "reference_date": "2025-12-31", "version": "1", "page": 31, "url": "https://fnet.bmfbovespa.com.br/fnet/publico/visualizarDocumento?id=1151156", "sha256": "04099e318871fbf25478d1ed88b19c4c6c6af84d9811507e8df48f7d824c6ec8"}, {"document_id": "1077333", "title": "AGE", "reference_date": "2025-12-19", "version": "1", "page": 98, "clause": "11.2", "url": "https://fnet.bmfbovespa.com.br/fnet/publico/visualizarDocumento?id=1077333", "sha256": "a9a25c5f8a0c493373a2157221109466cbc86e5f44f623997bba18ca14892751"}, {"document_id": "1077334", "title": "Regulamento", "reference_date": "2025-12-19", "version": "1", "page": 98, "clause": "11.2", "url": "https://fnet.bmfbovespa.com.br/fnet/publico/visualizarDocumento?id=1077334", "sha256": "a9a25c5f8a0c493373a2157221109466cbc86e5f44f623997bba18ca14892751"}], "reference": {"path": "history/41970012000126.json", "criterion_id": "evaluation", "total_count": 12, "preview_count": 3, "full_text_deferred": true, "sha256": "229578c6b833b0633051fe7d357f4fcc74589dcf37d7750032517e03ec89ee60"}}</a:t>
            </a:r>
          </a:p>
          <a:p>
            <a:r>
              <a:t>CNPJ 41970012000126 · Eventos deliquidação · Regulamento · ID 1302706 · 27/08/2026 · versão Regulamento27/08/2026 · p. 82 · 11.2(i)–(v) · https://fnet.bmfbovespa.com.br/fnet/publico/visualizarDocumento?id=1302706</a:t>
            </a:r>
          </a:p>
          <a:p>
            <a:r>
              <a:t>CNPJ 41970012000126 · Eventos deliquidação · Excerto da fonte:</a:t>
            </a:r>
          </a:p>
          <a:p>
            <a:r>
              <a:t>11.2. São considerados Eventos de Liquidação do Fundo quaisquer das seguintes ocorrências: (i) caso seja deliberado em Assembleia Geral de Cotistas que um Evento de Avaliação constitui um Evento de Liquidação; (ii) caso os Cotistas deliberem em Assembleia Geral de Cotistas pela não realização de aporte de recursos no Fundo e pela não alienação de Direitos Creditórios e/ou Ativos Financeiros para suprir a necessidade de recursos para pagamento de despesas e encargos do Fundo que não possam ser cobertos pelas Disponibilidades, quando convocados para tal deliberação;</a:t>
            </a:r>
          </a:p>
          <a:p>
            <a:r>
              <a:t>CNPJ 41970012000126 · Eventos deliquidação · Regulamento · ID 1302706 · 27/08/2026 · versão Regulamento27/08/2026 · p. 83 · 11.2(vi) · https://fnet.bmfbovespa.com.br/fnet/publico/visualizarDocumento?id=1302706</a:t>
            </a:r>
          </a:p>
          <a:p>
            <a:r>
              <a:t>CNPJ 41970012000126 · Eventos deliquidação · Excerto da fonte:</a:t>
            </a:r>
          </a:p>
          <a:p>
            <a:r>
              <a:t>(vi) na ocorrência de um Evento de Ilegalidade, caso a efetiva aquisição da totalidade das Cotas Seniores pelo comprador indicado pelo Cotista Subordinado pelo valor unitário das Cotas Seniores calculado na forma deste Regulamento não ocorra em até 30 (trinta) Dias Úteis contados da data de realização da convocação da Assembleia Geral de Cotistas convocada para esse fim, conforme previsto no item 12.8. 11.2.1. O Administrador será responsável por reportar aos Cotistas sobre a ocorrência de quaisquer dos Eventos de Liquidação referidos acima, no momento em que tomar conhecimento do fato diretamente</a:t>
            </a:r>
          </a:p>
          <a:p>
            <a:r>
              <a:t>CNPJ 41970012000126 · Eventos deliquidação · Versão e prevalência: Leitura específica das cláusulas indicadas; condições e conflitos preservados. Seleção documental atual não comprova vigência jurídica por data isolada.</a:t>
            </a:r>
          </a:p>
          <a:p>
            <a:r>
              <a:t>CNPJ 41970012000126 · Eventos deliquidação · Resumo do histórico: {"count": 13, "dates": ["2025-05-19", "2025-12-19"], "document_count": 3, "sources": [{"document_id": "1077333", "title": "AGE", "reference_date": "2025-12-19", "version": "1", "page": 98, "clause": "11.2", "url": "https://fnet.bmfbovespa.com.br/fnet/publico/visualizarDocumento?id=1077333", "sha256": "a9a25c5f8a0c493373a2157221109466cbc86e5f44f623997bba18ca14892751"}, {"document_id": "1077334", "title": "Regulamento", "reference_date": "2025-12-19", "version": "1", "page": 98, "clause": "11.2", "url": "https://fnet.bmfbovespa.com.br/fnet/publico/visualizarDocumento?id=1077334", "sha256": "a9a25c5f8a0c493373a2157221109466cbc86e5f44f623997bba18ca14892751"}, {"document_id": "909707", "title": "Regulamento", "reference_date": "2025-05-19", "version": "1", "page": 96, "url": "https://fnet.bmfbovespa.com.br/fnet/publico/visualizarDocumento?id=909707", "sha256": "cfa949e3b02c8900c5d0e5f82225a19dc627218a4e4f2e969681a09335c55224"}], "reference": {"path": "history/41970012000126.json", "criterion_id": "liquidation", "total_count": 13, "preview_count": 3, "full_text_deferred": true, "sha256": "229578c6b833b0633051fe7d357f4fcc74589dcf37d7750032517e03ec89ee60"}}</a:t>
            </a:r>
          </a:p>
          <a:p>
            <a:r>
              <a:t>CNPJ 41970012000126 · Cura, aporte e recomposição · Regulamento · ID 1302706 · 27/08/2026 · versão 1 · p. 78–81 · 11.1(v)–(x),(xxvi),(xxix) · https://fnet.bmfbovespa.com.br/fnet/publico/visualizarDocumento?id=1302706</a:t>
            </a:r>
          </a:p>
          <a:p>
            <a:r>
              <a:t>CNPJ 41970012000126 · Cura, aporte e recomposição · Excerto da fonte:</a:t>
            </a:r>
          </a:p>
          <a:p>
            <a:r>
              <a:t>11.1. São considerados Eventos de Avaliação do Fundo quaisquer das seguintes ocorrências, observado que (a) os subitens (i), (ii), (iii), (iv), (v), (vi), (xi), (xvii), (xxiii), (xxiv), (xxvi), (xxviii),(xxx) e (xxxi) abaixo serão verificados pelo Administrador; (b) os subitens (ix), (xvii) e (xxix)abaixo serão verificados pelo Gestor; (c) o item (xxv) abaixo será verificado pelos Cotistas Seniores e/ou pelo Administrador; (d) os subitens (vii), (viii), (xii), (xiii), (xiv), (xv), (xvi), (xviii), (xix), (xx), (xxi), (xxii) poderão ser verificados pelo Administrador e/ou pelo Gestor; e (e) o item (xxx) poderá ser verificado pelos Cotistas Seniores, sem prejuízo, em qualquer caso, da obrigação do Mercado Pago e da Instituição Financeira MeLi disposta no item 11.1.2 abaixo: (i) não observância do prazo de 180 (cento e oitenta) dias contados da Data da Primeira Integralização de Cotas do Fundo, ou do prazo adicional concedido pela CVM, se for o caso, para alocação dos recursos do Fundo na aquisição de Direitos Creditórios em montante que corresponda a, no mínimo, a Alocação Mínima de Investimento, conforme disposto no item 5.1.2 acima; (ii) na hipótese de serem realizados pagamentos de rendimentos, Amortização ou resgate de Cotas Subordinadas Mezanino ou de Cotas Subordinadas Júnior em desacordo com este Regulamento; (iii) o Fundo deixe de deter natureza jurídica de condomínio de natureza especial, nos termos da legislação aplicável; (iv) caso a Assembleia Geral de Cotistas convocada nos termos do item 5.3.5.1 delibere que a Inconsistência Relevante verificada constitui um Evento de Avaliação; (v) não realização de pagamento da Meta de Rentabilidade Sênior e/ou da Meta de Rentabilidade Mezanino aplicável, da Amortização de Cotas Seniores e/ou de Cotas Subordinadas Mezanino ou amortização integral/resgate de Cotas Seniores e/ou de Cotas Subordinadas Mezanino em até 2 (dois) Dias Úteis contados da esperada Data de Pagamento ou Data de Amortização Integral definidas nos respectivos Apêndices, conforme aplicável, observado que, após a Data Limite de Investimento em Direitos Creditórios e/ou em caso de Evento de Amortização Acelerada e/ou Evento de Liquidação, a ausência de amortização de Cotas Subordinadas Mezanino, nos termos da ordem de alocação de recursos prevista no item 20.3, enquanto não houver a amortização integral/resgate de todas as Cotas Seniores, não será considerada um Evento de Avaliação; (vi) não realização de pagamento decorrente de um Evento de Pagamento Qualificado nos termos do item 12.7, subitem (ii), observado o prazo de cura de 2 (dois) Dias Úteis contados da respectiva data esperada; (vii) na ocorrência de um inadimplemento de quaisquer obrigações assumidas pelo Mercado Pago e/ou por qualquer Endossante em quaisquer Documentos do Fundo que não seja sanado (se passível de cura) no prazo cura estabelecido no respectivo Documento do Fundo ou no prazo de 45 (quarenta e cinco) dias contados de seu conhecimento ou notificação, conforme o caso, o que for menor (exceto por: (a) um Inadimplemento do Agente de Cobrança ou um Inadimplemento do Agente de Recebimento, que deverá observar o disposto no subitem (x) abaixo; e (b) o descumprimento do Agente de Recebimento de envio do arquivo retorno diariamente para o Administrador na forma do item 5.4.6.2 deste Regulamento e do Contrato de Agente de Recebimento, ao qual não se aplicará o prazo de cura estabelecido neste subitem); (viii) verificação de que quaisquer declarações, informações ou garantias prestadas ou fornecidas pelo Mercado Pago e/ou por quaisquer Endossantes, conforme aplicável: (a) no âmbito da elaboração de cada Relatório de Acompanhamento, no Relatório de Índice Financeiro e/ou quaisquer informações referentes aos Direitos Creditórios Adquiridos eram incorretas ou falsas, cuja incorreção ou falsidade resulte em uma contingência de valor superior a 2% (dois por cento) do Valor Agregado de Investimento Sênior na data de entrega de tais relatórios, documentos ou informações; ou (b) nos Documentos do Fundo dos quais sejam parte ou em qualquer documento escrito entregue pelo Mercado Pago ou por quaisquer Endossantes por força deste Regulamento ou dos Documentos do Fundo eram falsas ou incorretas em qualquer aspecto relevante na data em que foram prestadas; desde que, em ambos os casos, não sejam curadas (se passíveis de cura) no prazo de 30 (trinta) dias contados do conhecimento do Mercado Pago e/ou de quaisquer Endossantes ou da notificação nesse sentido pelo Administrador, o que ocorrer primeiro; (ix) ocorrência de qualquer evento ou situação que acarrete a não detenção, pelo Fundo, de titularidade plena sobre os Direitos Creditórios Adquiridos integrantes da Carteira, livres e desembaraçados de quaisquer ônus ou gravames, que impacte adversamente 3,5% (três inteiros e cinco décimos por cento) do Valor Agregado dos Direitos Creditórios, de forma individual ou agregada; (x) ocorrência de um Inadimplemento do Agente de Cobrança ou de um Inadimplemento do Agente de Recebimento, não sanado no prazo de cura previsto no Contrato de Cobrança e no Contrato de Agente de Recebimento, se houver, sem que o Agente de Cobrança ou o Agente de Recebimento seja substituído em até 120 (cento e vinte) dias contados de deliberação neste sentido pela Assembleia Geral de Cotistas; (xi) o Cotista titular das Cotas Subordinadas Júnior, nos termos do item 7.7 acima, deixe de deter 100% (cem por cento) das Cotas Subordinadas Júnior, sem prévia aprovação da Assembleia Geral de Cotistas, na forma do Capítulo 9 acima, exceto em caso permitido por este Regulamento; (xii) inadimplemento pela MeLi e/ou pelas Subsidiárias Relevantes da MeLi: (a) de obrigações de pagamento, conforme aplicável, em qualquer operação de Endividamento perante os Cotistas Seniores ou qualquer de suas Partes Relacionadas, cujo valor de principal, individual ou agregado, seja superior a US$25.000.000,00 (vinte e cinco milhões de dólares norte-americanos) ou seu valor equivalente em outras moedas; ou (b) de obrigações de pagamento, conforme aplicável, em qualquer operação de Endividamento perante quaisquer terceiros, cujo valor de principal, individual ou agregado, seja superior a US$75.000.000,00 (setenta e cinco milhões de dólares norte-americanos) ou seu valor equivalente em outras moedas, sendo que este subitem permanecerá válido apenas enquanto houver Cotas Seniores em Circulação e estas não sejam integralmente alienadas a terceiros nos termos do item 7.24 e seus subitens; (xiii) (a) a aquisição de titularidade, direta ou indiretamente, por quaisquer Pessoas ou grupo (conforme determinado pelo Securities Exchange Act of 1934) e pela regulamentação da Comissão de Títulos e Câmbios dos Estados Unidos (Securities and Exchange Commission) de ações representantes de Controle do montante total e em circulação de ações com direito de voto de emissão da MeLi (exceto por quaisquer aquisições por um ou mais Acionistas Permitidos); (b) ocupação da maioria dos cargos (que não sejam cargos vagos) do conselho de administração da MeLi por Pessoas que não tenham sido: (1) nomeadas pelo conselho de administração da MeLi; (2) indicadas por membros do conselho de administração nomeados; (3) indicadas por qualquer Acionista Permitido; (xiv) alteração de Controle, direto ou indireto, do Mercado Pago, da Instituição Financeira MeLi ou do Cotista Subordinado Júnior, de forma que a MeLi deixe de deter o Controle, direto ou indireto, do Mercado Pago, da Instituição Financeira MeLi ou do Cotista Subordinado Júnior, conforme o caso, sendo que para os fins deste item uma reorganização societária não será considerada alteração de Controle do Mercado Pago, da Instituição Financeira Meli ou do Cotista Subordinado Júnior; (xv) decisão judicial, arbitral ou administrativa exequível, não passível de recursos, contra o Mercado Pago ou a Instituição Financeira MeLi, que imponha constrição sobre seus ativos ou obrigação de pagamento cujo valor seja, de forma individual ou agregada, superior, em moeda corrente nacional, a US$75.000.000,00 (setenta e cinco milhões de dólares norte-americanos), ou seu valor equivalente em outras moedas; (xvi) decisão judicial, arbitral ou administrativa exequível, não passível de recursos, contra o Fundo, que imponha constrição sobre seus ativos ou obrigação de pagamento cujo valor seja, de forma individual ou agregada, superior, em moeda corrente nacional, a US$25.000.000,00 (vinte e cinco milhões de dólares norte-americanos), ou seu valor equivalente em outras moedas; (xvii) caso a Assembleia Geral de Cotistas convocada nos termos do item 5.3.5.1 delibere que a Inconsistência Relevante verificada constitui um Evento de Avaliação; (xviii) a qualquer tempo após a respectiva celebração, caso quaisquer dos Documentos do Fundo tenham sua validade, eficácia ou a exequibilidade contestada pelo Mercado Pago judicialmente; (xix) caso o Mercado Pago não realize, direta ou indiretamente, a aquisição de Direitos Creditórios em decorrência das hipóteses previstas no item 5.1.6.1 acima; (xx) com relação à MeLi ou ao Mercado Pago: (a) caso uma autoridade competente homologue ou decrete a falência ou determine a ocorrência de qualquer procedimento aplicável à MeLi ou ao Mercado Pago nos termos das leis de falência aplicáveis à MeLi ou ao Mercado Pago; (b) caso seja iniciado um procedimento involuntário contra a MeLi ou o Mercado Pago no âmbito das leis de falência aplicáveis ou caso uma autoridade competente nomeie um agente de liquidação, receptor, trustee ou qualquer outra entidade com poderes semelhantes sobre à MeLi ou ao Mercado Pago ou sobre parte substancial de propriedade da MeLi ou do Mercado Pago; ou (c) caso haja nomeação involuntária de um administrador interino, trustee, administrador ou custodiante para parte substancial de propriedade da MeLi ou do Mercado Pago; ou caso seja expedido mandado de penhora, ordem de execução ou qualquer procedimento semelhante contra a totalidade ou parte substancial de sua propriedade, exceto se sanado, suspenso ou revogado em até 30 (trinta) dias contados de sua ciência, conforme aplicável; (xxi) com relação à MeLi, à Instituição Financeira MeLi ou ao Mercado Pago, conforme aplicável: (a) em caso de ingresso em juízo com requerimento acerca de determinação de falência, insolvência, recuperação ou outro processo similar, nos termos das leis de falências aplicáveis ao Mercado Pago ou à MeLi ou o Mercado Pago ou a MeLi concorde com o ingresso de medida para reverter um procedimento involuntário ou para converter um procedimento involuntário em voluntário no âmbito da respectiva lei aplicável, ou concorde com a nomeação por qualquer autoridade competente de interventor, trustee, administrador ou custodiante para assumir parte substancial de sua propriedade; ou caso o Mercado Pago ou a MeLi realize cessão em benefício de seus credores; ou (b) caso o Mercado Pago ou a MeLi declare por escrito sua incapacidade para pagar suas dívidas em suas respectivas datas de vencimento; ou o conselho de administração resolva ou autorize qualquer ação para aprovar qualquer dos eventos previstos neste item (xxi) ou no item (xviii) acima; (xxii) com relação ao Mercado Pago ou à Instituição Financeira Meli, em caso de: (a) pedido de autofalência ou pedido de falência formulado por terceiros e não elidido no prazo legal; (b) decretação de regime de administração especial temporária (RAET), ou intervenção, conforme aplicável; (c) decretação ex officio de liquidação extrajudicial; (d) declaração de insolvência; ou (e) aprovação da dissolução, extinção ou liquidação; (xxiii) a realização de qualquer alteração aos Contratos de Endosso, ao Contrato de Cobrança e a quaisquer outros contratos celebrados pelo Fundo, que não seja objeto de deliberação em Assembleia Geral de Cotistas, e em relação aos quais os Cotistas Seniores manifestem sua discordância em até 5 (cinco) Dias Úteis a contar do recebimento de notificação do Administrador acerca da referida alteração; (xxiv) a celebração de novos Contratos de Endosso, ou de quaisquer outros contratos pelo Fundo, após a Data da Primeira Integralização de Cotas do Fundo que não seja objeto de deliberação em Assembleia Geral de Cotistas; (xxv) com relação ao Mercado Pago, não fornecimento das informações necessárias para que os Cotistas Seniores possam atualizar a Matriz de Perdas semestralmente, a partir da Data da Primeira de Integralização, dentro do prazo de 30 (trinta) dias a partir da data de solicitação pelo Administrador; (xxvi) caso o Mercado Pago promova restrição ou cancelamento de acesso, pelo Custodiante, à Conta de Pagamento do Fundo, inclusive de forma involuntária, em razão de atendimentos de ordens, determinações ou decisões de autoridades competentes, sem que o Fundo tenha obtido ou restabelecido acesso aos recursos devidos em função dos Direitos Creditórios Adquiridos em 5 (cinco) Dias Úteis; (xxvii) verificação de inobservância, por parte da MeLi, do Índice Financeiro Avaliação, calculado em conformidade com suas demonstrações financeiras públicas; (xxviii)não ocorrência de amortização extraordinária das Cotas Seniores e/ou das Cotas Subordinadas Mezanino nos prazos e na forma prevista neste Regulamento; (xxix) sem prejuízo dos itens acima, inobservância, por parte da MeLi, de qualquer obrigação de envio de dados ou informações necessárias às atividades do Fundo, que acarrete em marcação de ativos ou provisionamento incorreto que impacte o Patrimônio Líquido do Fundo em mais de 5% (cinco por cento), não sanada no prazo de 30 (trinta) dias, contado da data de tal inobservância por parte da MeLi; (xxx) caso o Administrador não envie aos Cotistas o relatório indicado no item 21.3 até o dia 31 de outubro de cada ano, observado o prazo de cura de até 30 (trinta) dias corridos; e (xxxi) caso o Administrador ingresse com um pedido de declaração judicial de insolvência.</a:t>
            </a:r>
          </a:p>
          <a:p>
            <a:r>
              <a:t>CNPJ 41970012000126 · Cura, aporte e recomposição · Regulamento · ID 1302706 · 27/08/2026 · versão 1 · p. 82 · 11.1.1–11.1.4 · https://fnet.bmfbovespa.com.br/fnet/publico/visualizarDocumento?id=1302706</a:t>
            </a:r>
          </a:p>
          <a:p>
            <a:r>
              <a:t>CNPJ 41970012000126 · Cura, aporte e recomposição · Excerto da fonte:</a:t>
            </a:r>
          </a:p>
          <a:p>
            <a:r>
              <a:t>11.1.1. O Administrador será responsável por reportar aos Cotistas sobre a ocorrência de quaisquer dos Eventos de Avaliação referidos acima, no prazo de 3 (três) Dias Úteis contados do momento em que tomar conhecimento do fato diretamente, pelo Gestor, pelo Custodiante, pelo Mercado Pago, pelos Cotistas ou por meio de qualquer parte interessada, conforme o caso. 11.1.2. Sem prejuízo do disposto no item 11.1.1 acima, o Mercado Pago e/ou a Instituição Financeira MeLi deverão informar o Administrador, da ocorrência de um Evento de Avaliação em até 3 (três) Dias Úteis a contar da data em que tomarem conhecimento da ocorrência de qualquer Evento de Avaliação. 11.1.3. Na ocorrência de quaisquer dos Eventos de Avaliação, o Fundo interromperá os procedimentos de aquisição de Direitos Creditórios e o Administrador convocará, em até 2 (dois) Dias Úteis, uma Assembleia Geral de Cotistas, a qual decidirá, observados os quóruns estabelecidos no Capítulo 9 acima: (i) se o referido Evento de Avaliação deve ser considerado como um Evento de Liquidação do Fundo, assim como se haverá liquidação antecipada do Fundo e quais os procedimentos a serem adotados na liquidação; ou (ii) se o referido Evento de Avaliação não deve ser considerado como um Evento de Liquidação do Fundo e, nesse caso, que medidas devem ser adotadas para preservar os direitos dos Cotistas do Fundo. 11.1.4. No caso de a Assembleia Geral de Cotistas deliberar que qualquer dos Eventos de Avaliação constitui um Evento de Liquidação do Fundo, o Administrador observará os procedimentos de que tratam o item 11.2 e seguintes abaixo sem que, para tanto, seja necessária a convocação de uma nova Assembleia Geral de Cotistas, podendo a Assembleia Geral de Cotistas que considerar um Evento de Avaliação como um Evento de Liquidação do Fundo deliberar sobre os procedimentos relacionados à liquidação do Fundo independentemente de qualquer notificação aos Cotistas ausentes à referida Assembleia Geral de Cotistas.</a:t>
            </a:r>
          </a:p>
          <a:p>
            <a:r>
              <a:t>CNPJ 41970012000126 · Cura, aporte e recomposição · Condição: Curas distintas por obrigação e passibilidade; comunicação/substituição não são confundidas com cura.</a:t>
            </a:r>
          </a:p>
          <a:p>
            <a:r>
              <a:t>CNPJ 41970012000126 · Cura, aporte e recomposição · Versão e prevalência: Leitura específica das cláusulas indicadas; condições e conflitos preservados. Seleção documental atual não comprova vigência jurídica por data isolada.</a:t>
            </a:r>
          </a:p>
          <a:p>
            <a:r>
              <a:t>CNPJ 41970012000126 · Cura, aporte e recomposição · Resumo do histórico: {"count": 12, "dates": ["2025-05-19", "2025-12-19"], "document_count": 3, "sources": [{"document_id": "1077333", "title": "AGE", "reference_date": "2025-12-19", "version": "1", "page": 101, "clause": "12.1", "url": "https://fnet.bmfbovespa.com.br/fnet/publico/visualizarDocumento?id=1077333", "sha256": "a9a25c5f8a0c493373a2157221109466cbc86e5f44f623997bba18ca14892751"}, {"document_id": "1077334", "title": "Regulamento", "reference_date": "2025-12-19", "version": "1", "page": 101, "clause": "12.1", "url": "https://fnet.bmfbovespa.com.br/fnet/publico/visualizarDocumento?id=1077334", "sha256": "a9a25c5f8a0c493373a2157221109466cbc86e5f44f623997bba18ca14892751"}, {"document_id": "909707", "title": "Regulamento", "reference_date": "2025-05-19", "version": "1", "page": 91, "url": "https://fnet.bmfbovespa.com.br/fnet/publico/visualizarDocumento?id=909707", "sha256": "cfa949e3b02c8900c5d0e5f82225a19dc627218a4e4f2e969681a09335c55224"}], "reference": {"path": "history/41970012000126.json", "criterion_id": "cure", "total_count": 12, "preview_count": 3, "full_text_deferred": true, "sha256": "229578c6b833b0633051fe7d357f4fcc74589dcf37d7750032517e03ec89ee60"}}</a:t>
            </a:r>
          </a:p>
          <a:p>
            <a:r>
              <a:t>CNPJ 41970012000126 · Crossdefault einsolvência · Regulamento · ID 1302706 · 27/08/2026 · versão Regulamento27/08/2026 · p. 79 · 11.1(xii) · https://fnet.bmfbovespa.com.br/fnet/publico/visualizarDocumento?id=1302706</a:t>
            </a:r>
          </a:p>
          <a:p>
            <a:r>
              <a:t>CNPJ 41970012000126 · Crossdefault einsolvência · Excerto da fonte:</a:t>
            </a:r>
          </a:p>
          <a:p>
            <a:r>
              <a:t>(xii) inadimplemento pela MeLi e/ou pelas Subsidiárias Relevantes da MeLi: (a) de obrigações de pagamento, conforme aplicável, em qualquer operação de Endividamento perante os Cotistas Seniores ou qualquer de suas Partes Relacionadas, cujo valor de principal, individual ou agregado, seja superior a US$25.000.000,00 (vinte e cinco milhões de dólares norte-americanos) ou seu valor equivalente em outras moedas; ou (b) de obrigações de pagamento, conforme aplicável, em qualquer operação de Endividamento perante quaisquer terceiros, cujo valor de principal, individual ou agregado,</a:t>
            </a:r>
          </a:p>
          <a:p>
            <a:r>
              <a:t>CNPJ 41970012000126 · Crossdefault einsolvência · Regulamento · ID 1302706 · 27/08/2026 · versão Regulamento27/08/2026 · p. 81 · 11.1(xxi)–(xxii) · https://fnet.bmfbovespa.com.br/fnet/publico/visualizarDocumento?id=1302706</a:t>
            </a:r>
          </a:p>
          <a:p>
            <a:r>
              <a:t>CNPJ 41970012000126 · Crossdefault einsolvência · Excerto da fonte:</a:t>
            </a:r>
          </a:p>
          <a:p>
            <a:r>
              <a:t>(xxii) com relação ao Mercado Pago ou à Instituição Financeira Meli, em caso de: (a) pedido de autofalência ou pedido de falência formulado por terceiros e não elidido no prazo legal; (b) decretação de regime de administração especial temporária (RAET), ou intervenção, conforme aplicável; (c) decretação ex officio de liquidação extrajudicial; (d) declaração de insolvência; ou (e) aprovação da dissolução, extinção ou liquidação; (xxiii) a realização de qualquer alteração aos Contratos de Endosso, ao Contrato de Cobrança e a quaisquer outros contratos celebrados pelo Fundo, que não seja objeto de d</a:t>
            </a:r>
          </a:p>
          <a:p>
            <a:r>
              <a:t>CNPJ 41970012000126 · Crossdefault einsolvência · Motivo: Não localizada uma cláusula material para este critério nos textos identificados e processados. A ausência de resultado não comprova inexistência da regra.</a:t>
            </a:r>
          </a:p>
          <a:p>
            <a:r>
              <a:t>CNPJ 41970012000126 · Crossdefault einsolvência · Versão e prevalência: Leitura específica das cláusulas indicadas; condições e conflitos preservados. Seleção documental atual não comprova vigência jurídica por data isolada.</a:t>
            </a:r>
          </a:p>
          <a:p>
            <a:r>
              <a:t>CNPJ 41970012000126 · Gatilhos de avaliação e liquidação · Regulamento · ID 1302706 · 2026-08-27 · versão 1 · p. 78 · 11.1 · https://fnet.bmfbovespa.com.br/fnet/publico/visualizarDocumento?id=1302706</a:t>
            </a:r>
          </a:p>
          <a:p>
            <a:r>
              <a:t>CNPJ 41970012000126 · Gatilhos de avaliação e liquidação · Excerto da fonte:</a:t>
            </a:r>
          </a:p>
          <a:p>
            <a:r>
              <a:t>11.1. São considerados Eventos de Avaliação do Fundo quaisquer das seguintes ocorrências, observado  que (a) os subitens (i), (ii), (iii), (iv), (v), (vi), (xi), (xvii), (xxiii), (xxiv), (xxvi), (xxviii),(xxx) e (xxxi)  abaixo serão verificados pelo Administrador; (b) os subitens (ix), (xvii) e (xxix)abaixo serão verificados  pelo Gestor; (c) o item (xxv) abaixo será verificado pelos Cotistas Seniores e/ou pelo Administrador; (d)  os subitens (vii), (viii), (xii), (xiii), (xiv), (xv), (xvi), (xviii), (xix), (xx), (xxi), (xxii) poderão ser verificados  pelo Administrador e/ou pelo Gestor; e (e) o item (xxx) poderá ser verificado pelos Cotistas Seniores, sem  prejuízo, em qualquer caso, da obrigação do Mercado Pago e da Instituição Financeira MeLi disposta no  item 11.1.2 abaixo:</a:t>
            </a:r>
          </a:p>
          <a:p>
            <a:r>
              <a:t>(i) não observância do prazo de 180 (cento e oitenta) dias contados da Data da Primeira  Integralização de Cotas do Fundo, ou do prazo adicional concedido pela CVM, se for o caso,  para alocação dos recursos do Fundo na aquisição de Direitos Creditórios em montante que  corresponda a, no mínimo, a Alocação Mínima de Investimento, conforme disposto no item</a:t>
            </a:r>
          </a:p>
          <a:p>
            <a:r>
              <a:t>(ii) na hipótese de serem realizados pagamentos de rendimentos, Amortização ou resgate de Cotas  Subordinadas Mezanino ou de Cotas Subordinadas Júnior em desacordo com este Regulamento;</a:t>
            </a:r>
          </a:p>
          <a:p>
            <a:r>
              <a:t>(iii) o Fundo deixe de deter natureza jurídica de condomínio de natureza especial, nos termos da  legislação aplicável;</a:t>
            </a:r>
          </a:p>
          <a:p>
            <a:r>
              <a:t>(iv) caso a Assembleia Geral de Cotistas convocada nos termos do item 5.3.5.1 delibere que a  Inconsistência Relevante verificada constitui um Evento de Avaliação;</a:t>
            </a:r>
          </a:p>
          <a:p>
            <a:r>
              <a:t>(v) não realização de pagamento da Meta de Rentabilidade Sênior e/ou da Meta de Rentabilidade  Mezanino aplicável, da Amortização de Cotas Seniores e/ou de Cotas Subordinadas Mezanino  ou amortização integral/resgate de Cotas Seniores e/ou de Cotas Subordinadas Mezanino em até  2 (dois) Dias Úteis contados da esperada Data de Pagamento ou Data de Amortização Integral  definidas nos respectivos Apêndices, conforme aplicável, observado que, após a Data Limite de  Investimento em Direitos Creditórios e/ou em caso de Evento de Amortização Acelerada e/ou  Evento de Liquidação, a ausência de amortização de Cotas Subordinadas Mezanino, nos termos  da ordem de alocação de recursos prevista no item 20.3, enquanto não houver a amortização  integral/resgate de todas as Cotas Seniores, não será considerada um Evento de Avaliação;</a:t>
            </a:r>
          </a:p>
          <a:p>
            <a:r>
              <a:t>(vi) não realização de pagamento decorrente de um Evento de Pagamento Qualificado nos termos  do item 12.7, subitem (ii), observado o prazo de cura de 2 (dois) Dias Úteis contados da  respectiva data esperada;</a:t>
            </a:r>
          </a:p>
          <a:p>
            <a:r>
              <a:t>(vii) na ocorrência de um inadimplemento de quaisquer obrigações assumidas pelo Mercado Pago  e/ou por qualquer Endossante em quaisquer Documentos do Fundo que não seja sanado (se  btgpactual.com</a:t>
            </a:r>
          </a:p>
          <a:p>
            <a:r>
              <a:t>CNPJ 41970012000126 · Gatilhos de avaliação e liquidação · Regulamento · ID 1302706 · 2026-08-27 · versão 1 · p. 82 · 11.2 · https://fnet.bmfbovespa.com.br/fnet/publico/visualizarDocumento?id=1302706</a:t>
            </a:r>
          </a:p>
          <a:p>
            <a:r>
              <a:t>CNPJ 41970012000126 · Gatilhos de avaliação e liquidação · Excerto da fonte:</a:t>
            </a:r>
          </a:p>
          <a:p>
            <a:r>
              <a:t>11.2. São considerados Eventos de Liquidação do Fundo quaisquer das seguintes ocorrências:</a:t>
            </a:r>
          </a:p>
          <a:p>
            <a:r>
              <a:t>(i) caso seja deliberado em Assembleia Geral de Cotistas que um Evento de Avaliação constitui  um Evento de Liquidação;</a:t>
            </a:r>
          </a:p>
          <a:p>
            <a:r>
              <a:t>(ii) caso os Cotistas deliberem em Assembleia Geral de Cotistas pela não realização de aporte de  recursos no Fundo e pela não alienação de Direitos Creditórios e/ou Ativos Financeiros para  suprir a necessidade de recursos para pagamento de despesas e encargos do Fundo que não  possam ser cobertos pelas Disponibilidades, quando convocados para tal deliberação;</a:t>
            </a:r>
          </a:p>
          <a:p>
            <a:r>
              <a:t>(iii) se, durante 3 (três) meses consecutivos, o Patrimônio Líquido do Fundo médio for inferior a  R$1.000.000,00 (um milhão de reais);</a:t>
            </a:r>
          </a:p>
          <a:p>
            <a:r>
              <a:t>(iv) renúncia ou destituição do Administrador, Gestor e/ou do Custodiante sem a sua devida  substituição em até 180 (cento e oitenta) dias;</a:t>
            </a:r>
          </a:p>
          <a:p>
            <a:r>
              <a:t>(v) caso o Mercado Pago promova restrição ou cancelamento de acesso, pelo Custodiante, à Conta  de Pagamento do Fundo, inclusive de forma involuntária, em razão de atendimentos de ordens,  determinações ou decisões de autoridades competentes, sem que o Fundo tenha obtido ou  restabelecido acesso aos recursos devidos em função dos Direitos Creditórios Adquiridos em 5</a:t>
            </a:r>
          </a:p>
          <a:p>
            <a:r>
              <a:t> (cinco) Dias Úteis e o Administrador não tenha, conforme previsto no subitem (xxvi) do item</a:t>
            </a:r>
          </a:p>
          <a:p>
            <a:r>
              <a:t>CNPJ 41970012000126 · Gatilhos de avaliação e liquidação · Condição: Documentos atuais selecionados no inventário por categoria/escopo; a data documental isolada não comprova vigência jurídica.</a:t>
            </a:r>
          </a:p>
          <a:p>
            <a:r>
              <a:t>CNPJ 41970012000126 · Gatilhos de avaliação e liquidação · Versão e prevalência: Documentos atuais selecionados no inventário por categoria/escopo; a data documental isolada não comprova vigência jurídica.</a:t>
            </a:r>
          </a:p>
          <a:p>
            <a:r>
              <a:t>CNPJ 41970012000126 · Gatilhos de avaliação e liquidação · Resumo do histórico: {"count": 18, "dates": ["2025-05-19", "2025-12-19"], "document_count": 3, "sources": [{"document_id": "1077333", "title": "AGE", "reference_date": "2025-12-19", "version": "1", "page": 98, "clause": "11.2", "url": "https://fnet.bmfbovespa.com.br/fnet/publico/visualizarDocumento?id=1077333", "sha256": "a9a25c5f8a0c493373a2157221109466cbc86e5f44f623997bba18ca14892751"}, {"document_id": "1077334", "title": "Regulamento", "reference_date": "2025-12-19", "version": "1", "page": 98, "clause": "11.2", "url": "https://fnet.bmfbovespa.com.br/fnet/publico/visualizarDocumento?id=1077334", "sha256": "a9a25c5f8a0c493373a2157221109466cbc86e5f44f623997bba18ca14892751"}, {"document_id": "909707", "title": "Regulamento", "reference_date": "2025-05-19", "version": "1", "page": 96, "url": "https://fnet.bmfbovespa.com.br/fnet/publico/visualizarDocumento?id=909707", "sha256": "cfa949e3b02c8900c5d0e5f82225a19dc627218a4e4f2e969681a09335c55224"}], "reference": {"path": "history/41970012000126.json", "criterion_id": "legacy_events", "total_count": 18, "preview_count": 3, "full_text_deferred": true, "sha256": "229578c6b833b0633051fe7d357f4fcc74589dcf37d7750032517e03ec89ee60"}}</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PLGN Marketplace · vínculo CNPJ 41970012000126 · Fluxo de caixa e prazo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Vínculo: PLGN Marketplace · CNPJ 55563624000109 → CNPJ 41970012000126 · Regulamento · ID 1192614 · 30/04/2026 · versão Regulamento30/04/2026 · p. 11 · AnexoI4.1</a:t>
            </a:r>
          </a:p>
          <a:p>
            <a:r>
              <a:t>Condição do vínculo: {"cnpj": "41970012000126", "name": "Mercado Crédito II Brasil FIDC", "relationship": "named_investee", "exposure": "mezzanine", "position_status": "mandate_identified_position_not_quantified", "risk_note": "Mandato e classe exatos; comparar regras eIMEdo investido na competência doFIC, sem dupla contagem dePL."}</a:t>
            </a:r>
          </a:p>
          <a:p>
            <a:r>
              <a:t>CNPJ 41970012000126 · Ordem dealocação derecursos · Regulamento · ID 1302706 · 27/08/2026 · versão Regulamento27/08/2026 · p. 102 · 20.2(i)–(vii) · https://fnet.bmfbovespa.com.br/fnet/publico/visualizarDocumento?id=1302706</a:t>
            </a:r>
          </a:p>
          <a:p>
            <a:r>
              <a:t>CNPJ 41970012000126 · Ordem dealocação derecursos · Excerto da fonte:</a:t>
            </a:r>
          </a:p>
          <a:p>
            <a:r>
              <a:t>20.2. Até a Data Limite de Investimento em Direitos Creditórios, e desde que não haja a ocorrência de um Evento de Amortização Acelerada, de um Evento de Avaliação ou de um Evento de Liquidação do Fundo, o Administrador deverá, em cada Dia Útil, por meio dos competentes débitos realizados na Conta de Pagamento, na Conta do Fundo, alocar os recursos decorrentes da integralização das Cotas e do recebimento de recursos provenientes da Carteira do Fundo, na seguinte ordem, conforme aplicável: (i) pagamento de despesas e encargos de responsabilidade do Fundo, devidos nos termos deste Regulamento e da legislação aplicável, incluindo a Taxa de Ad</a:t>
            </a:r>
          </a:p>
          <a:p>
            <a:r>
              <a:t>CNPJ 41970012000126 · Ordem dealocação derecursos · Regulamento · ID 1302706 · 27/08/2026 · versão Regulamento27/08/2026 · p. 103 · 20.2(viii)–(xvi) · https://fnet.bmfbovespa.com.br/fnet/publico/visualizarDocumento?id=1302706</a:t>
            </a:r>
          </a:p>
          <a:p>
            <a:r>
              <a:t>CNPJ 41970012000126 · Ordem dealocação derecursos · Excerto da fonte:</a:t>
            </a:r>
          </a:p>
          <a:p>
            <a:r>
              <a:t>(viii) caso seja uma Data de Pagamento, pagamento da Meta de Rentabilidade Mezanino aos titulares de Cotas Subordinadas Mezanino B em Circulação, observado o disposto no respectivo Apêndice, sempre limitado ao valor que, considerada pro forma o pagamento da Meta de Rentabilidade Mezanino pretendido, não haja desenquadramento da Senioridade Máxima; (ix) caso seja uma Data de Pagamento e tenha sido alterada a Data Limite de Investimento em Direitos Creditórios sem voto afirmativo ou manifestação favorável dos titulares de Cotas Subordinadas Mezanino, realização de amortização extraor</a:t>
            </a:r>
          </a:p>
          <a:p>
            <a:r>
              <a:t>CNPJ 41970012000126 · Ordem dealocação derecursos · Regulamento · ID 1302706 · 27/08/2026 · versão Regulamento27/08/2026 · p. 104 · 20.3(i)–(xiii) · https://fnet.bmfbovespa.com.br/fnet/publico/visualizarDocumento?id=1302706</a:t>
            </a:r>
          </a:p>
          <a:p>
            <a:r>
              <a:t>CNPJ 41970012000126 · Ordem dealocação derecursos · Excerto da fonte:</a:t>
            </a:r>
          </a:p>
          <a:p>
            <a:r>
              <a:t>(i) pagamento de despesas e encargos de responsabilidade do Fundo, devidos nos termos deste Regulamento e da legislação aplicável, incluindo a Taxa de Administração, a Taxa de Custódia e a Taxa de Gestão, exceto pela remuneração do Agente de Recebimento e do Agente de Cobrança e pelo Reembolso de Despesas do Agente de Cobrança; (ii) recomposição do saldo da Reserva para Despesas, exceto pela remuneração do Agente de Recebimento e do Agente de Cobrança e pelo Reembolso de Despesas do Agente de Cobrança; (iii) caso seja uma Data de Pagamento, pagamento da remuneração do Agente de Receb</a:t>
            </a:r>
          </a:p>
          <a:p>
            <a:r>
              <a:t>CNPJ 41970012000126 · Ordem dealocação derecursos · Regulamento · ID 1302706 · 27/08/2026 · versão Regulamento27/08/2026 · p. 105 · 20.3(xiv)–(xv) · https://fnet.bmfbovespa.com.br/fnet/publico/visualizarDocumento?id=1302706</a:t>
            </a:r>
          </a:p>
          <a:p>
            <a:r>
              <a:t>CNPJ 41970012000126 · Ordem dealocação derecursos · Excerto da fonte:</a:t>
            </a:r>
          </a:p>
          <a:p>
            <a:r>
              <a:t>(xiv) uma vez amortizada/resgatada a totalidade das Cotas Seniores e das Cotas Subordinadas Mezanino, pagamento da Amortização das Cotas Subordinadas Júnior, conforme orientação do Gestor; e (xv) na hipótese de haver recursos disponíveis na Conta de Pagamento, na Conta do Fundo ao término de cada Dia Útil, aquisição de Ativos Financeiros. 20.3.1. Para os fins de que trata o item 20.3 acima, na hipótese de ocorrência de um Evento de Amortização Acelerada, de um Evento de Avaliação ou de um Evento de Liquidação do Fundo, o Administrador poderá, inclusive, observada a deliberação em Assembleia Geral</a:t>
            </a:r>
          </a:p>
          <a:p>
            <a:r>
              <a:t>CNPJ 41970012000126 · Ordem dealocação derecursos · Condição: No regime sequencial, MZ recebe após resgate integral da camada superior; condição é material para FIC mezanino.</a:t>
            </a:r>
          </a:p>
          <a:p>
            <a:r>
              <a:t>CNPJ 41970012000126 · Ordem dealocação derecursos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41970012000126 · Ordem dealocação derecursos · Versão e prevalência: Leitura específica das cláusulas indicadas; condições e conflitos preservados. Seleção documental atual não comprova vigência jurídica por data isolada.</a:t>
            </a:r>
          </a:p>
          <a:p>
            <a:r>
              <a:t>CNPJ 41970012000126 · Ordem dealocação derecursos · Resumo do histórico: {"count": 1, "dates": ["2026-08-27"], "document_count": 1, "sources": [{"document_id": "1302706", "title": "Regulamento", "reference_date": "2026-08-27", "version": "1", "page": "145–159", "url": "https://fnet.bmfbovespa.com.br/fnet/publico/visualizarDocumento?id=1302706", "sha256": "b113727bc2bc3b1a6b0d18f02bf2143068fd912df2d83cbb91ab44fcb30a3379"}], "reference": {"path": "history/41970012000126.json", "criterion_id": "waterfall", "total_count": 1, "preview_count": 1, "full_text_deferred": true, "sha256": "229578c6b833b0633051fe7d357f4fcc74589dcf37d7750032517e03ec89ee60"}}</a:t>
            </a:r>
          </a:p>
          <a:p>
            <a:r>
              <a:t>CNPJ 41970012000126 · Pró-rata, sequencial eaceleração · Regulamento · ID 1302706 · 27/08/2026 · versão Regulamento27/08/2026 · p. 84 · 12.1(i)–(vi) · https://fnet.bmfbovespa.com.br/fnet/publico/visualizarDocumento?id=1302706</a:t>
            </a:r>
          </a:p>
          <a:p>
            <a:r>
              <a:t>CNPJ 41970012000126 · Pró-rata, sequencial eaceleração · Excerto da fonte:</a:t>
            </a:r>
          </a:p>
          <a:p>
            <a:r>
              <a:t>12.1. São considerados Eventos de Amortização Acelerada das Cotas quaisquer das seguintes ocorrências: (i) caso a Média Móvel do Índice de Inadimplência em qualquer Data Base seja superior a 12,50% (doze e meio por cento), conforme verificado pelo Gestor no Relatório de Acompanhamento e informado ao Administrador; (ii) caso a Média Móvel do Índice de Juros Excedente em qualquer Data Base seja inferior a 45% (quarenta e cinco por cento), conforme verificado pelo Gestor no Relatório de Acompanhamento e informado ao Administrador; (iii) ocorrência de um Evento Reg</a:t>
            </a:r>
          </a:p>
          <a:p>
            <a:r>
              <a:t>CNPJ 41970012000126 · Pró-rata, sequencial eaceleração · Regulamento · ID 1302706 · 27/08/2026 · versão Regulamento27/08/2026 · p. 103 · 20.3 · https://fnet.bmfbovespa.com.br/fnet/publico/visualizarDocumento?id=1302706</a:t>
            </a:r>
          </a:p>
          <a:p>
            <a:r>
              <a:t>CNPJ 41970012000126 · Pró-rata, sequencial eaceleração · Excerto da fonte:</a:t>
            </a:r>
          </a:p>
          <a:p>
            <a:r>
              <a:t>20.3. Após a Data Limite de Investimento em Direitos Creditórios ou antes de tal data em caso de ocorrência de um Evento de Amortização Acelerada, de um Evento de Avaliação ou de um Evento de Liquidação (e enquanto a Assembleia Geral de Cotistas não delibere pelo retorno à alocação de recursos btgpactual.com</a:t>
            </a:r>
          </a:p>
          <a:p>
            <a:r>
              <a:t>CNPJ 41970012000126 · Pró-rata, sequencial eaceleração · Motivo: Não localizada uma cláusula material para este critério nos textos identificados e processados. A ausência de resultado não comprova inexistência da regra.</a:t>
            </a:r>
          </a:p>
          <a:p>
            <a:r>
              <a:t>CNPJ 41970012000126 · Pró-rata, sequencial eaceleração · Versão e prevalência: Leitura específica das cláusulas indicadas; condições e conflitos preservados. Seleção documental atual não comprova vigência jurídica por data isolada.</a:t>
            </a:r>
          </a:p>
          <a:p>
            <a:r>
              <a:t>CNPJ 41970012000126 · Revolvência e desinvestimento · Regulamento · ID 1302706 · 2026-08-27 · versão 1 · p. 76 · 10.2.2.1 · https://fnet.bmfbovespa.com.br/fnet/publico/visualizarDocumento?id=1302706</a:t>
            </a:r>
          </a:p>
          <a:p>
            <a:r>
              <a:t>CNPJ 41970012000126 · Revolvência e desinvestimento · Excerto da fonte:</a:t>
            </a:r>
          </a:p>
          <a:p>
            <a:r>
              <a:t>10.2.2.1. A obrigação de pagamento da Compensação Extraordinária ao Cotista Sênior e/ou ao Cotista  Subordinado Mezanino, nos termos do item 10.2.2 acima, cessará após 90 (noventa) dias contados do  aniversário de 1 (um) ano do que ocorrer primeiro entre (i) o início do período de desinvestimento; (ii) a  ocorrência de um Evento de Amortização Acelerada, desde que permaneça em curso; ou (iii) a ocorrência  de um Evento de Avaliação, desde que permaneça em curso.</a:t>
            </a:r>
          </a:p>
          <a:p>
            <a:r>
              <a:t>CNPJ 41970012000126 · Revolvência e desinvestimento · Condição: Documentos atuais selecionados no inventário por categoria/escopo; a data documental isolada não comprova vigência jurídica.</a:t>
            </a:r>
          </a:p>
          <a:p>
            <a:r>
              <a:t>CNPJ 41970012000126 · Revolvência e desinvestimento · Versão e prevalência: Documentos atuais selecionados no inventário por categoria/escopo; a data documental isolada não comprova vigência jurídica.</a:t>
            </a:r>
          </a:p>
          <a:p>
            <a:r>
              <a:t>CNPJ 41970012000126 · Revolvência e desinvestimento · Resumo do histórico: {"count": 16, "dates": ["2025-05-19", "2025-12-19"], "document_count": 3, "sources": [{"document_id": "1077333", "title": "AGE", "reference_date": "2025-12-19", "version": "1", "page": 90, "clause": "10.2.3.1", "url": "https://fnet.bmfbovespa.com.br/fnet/publico/visualizarDocumento?id=1077333", "sha256": "a9a25c5f8a0c493373a2157221109466cbc86e5f44f623997bba18ca14892751"}, {"document_id": "1077334", "title": "Regulamento", "reference_date": "2025-12-19", "version": "1", "page": 90, "clause": "10.2.3.1", "url": "https://fnet.bmfbovespa.com.br/fnet/publico/visualizarDocumento?id=1077334", "sha256": "a9a25c5f8a0c493373a2157221109466cbc86e5f44f623997bba18ca14892751"}, {"document_id": "909707", "title": "Regulamento", "reference_date": "2025-05-19", "version": "1", "page": 88, "clause": "10.2.3.1", "url": "https://fnet.bmfbovespa.com.br/fnet/publico/visualizarDocumento?id=909707", "sha256": "cfa949e3b02c8900c5d0e5f82225a19dc627218a4e4f2e969681a09335c55224"}], "reference": {"path": "history/41970012000126.json", "criterion_id": "revolving", "total_count": 16, "preview_count": 3, "full_text_deferred": true, "sha256": "229578c6b833b0633051fe7d357f4fcc74589dcf37d7750032517e03ec89ee60"}}</a:t>
            </a:r>
          </a:p>
          <a:p>
            <a:r>
              <a:t>CNPJ 41970012000126 · Cessões, preço e carteira residual · Regulamento · ID 1302706 · 2026-08-27 · versão 1 · p. 105 · 20.3.1 · https://fnet.bmfbovespa.com.br/fnet/publico/visualizarDocumento?id=1302706</a:t>
            </a:r>
          </a:p>
          <a:p>
            <a:r>
              <a:t>CNPJ 41970012000126 · Cessões, preço e carteira residual · Excerto da fonte:</a:t>
            </a:r>
          </a:p>
          <a:p>
            <a:r>
              <a:t>20.3.1. Para os fins de que trata o item 20.3 acima, na hipótese de ocorrência de um Evento de  Amortização Acelerada, de um Evento de Avaliação ou de um Evento de Liquidação do Fundo, o  Administrador poderá, inclusive, observada a deliberação em Assembleia Geral de Cotistas, proceder com  a alienação dos Direitos Creditórios Adquiridos e de Ativos Financeiros integrantes da Carteira, tendo  como parâmetro a Meta de Rentabilidade Sênior e a Meta de Rentabilidade Mezanino previstas nos  respectivos Apêndices das Cotas Seniores e Apêndices das Cotas Subordinadas Mezanino,  respectivamente.</a:t>
            </a:r>
          </a:p>
          <a:p>
            <a:r>
              <a:t>CNPJ 41970012000126 · Cessões, preço e carteira residual · Condição: Documentos atuais selecionados no inventário por categoria/escopo; a data documental isolada não comprova vigência jurídica.</a:t>
            </a:r>
          </a:p>
          <a:p>
            <a:r>
              <a:t>CNPJ 41970012000126 · Cessões, preço e carteira residual · Versão e prevalência: Documentos atuais selecionados no inventário por categoria/escopo; a data documental isolada não comprova vigência jurídica.</a:t>
            </a:r>
          </a:p>
          <a:p>
            <a:r>
              <a:t>CNPJ 41970012000126 · Cessões, preço e carteira residual · Resumo do histórico: {"count": 15, "dates": ["2025-05-19", "2025-12-19"], "document_count": 3, "sources": [{"document_id": "1077333", "title": "AGE", "reference_date": "2025-12-19", "version": "1", "page": 127, "clause": "20.4.1", "url": "https://fnet.bmfbovespa.com.br/fnet/publico/visualizarDocumento?id=1077333", "sha256": "a9a25c5f8a0c493373a2157221109466cbc86e5f44f623997bba18ca14892751"}, {"document_id": "1077334", "title": "Regulamento", "reference_date": "2025-12-19", "version": "1", "page": 127, "clause": "20.4.1", "url": "https://fnet.bmfbovespa.com.br/fnet/publico/visualizarDocumento?id=1077334", "sha256": "a9a25c5f8a0c493373a2157221109466cbc86e5f44f623997bba18ca14892751"}, {"document_id": "909707", "title": "Regulamento", "reference_date": "2025-05-19", "version": "1", "page": 125, "clause": "20.4.1", "url": "https://fnet.bmfbovespa.com.br/fnet/publico/visualizarDocumento?id=909707", "sha256": "cfa949e3b02c8900c5d0e5f82225a19dc627218a4e4f2e969681a09335c55224"}], "reference": {"path": "history/41970012000126.json", "criterion_id": "sale", "total_count": 15, "preview_count": 3, "full_text_deferred": true, "sha256": "229578c6b833b0633051fe7d357f4fcc74589dcf37d7750032517e03ec89ee60"}}</a:t>
            </a:r>
          </a:p>
          <a:p>
            <a:r>
              <a:t>CNPJ 41970012000126 · Juros, amortização e vencimento · Regulamento · ID 1302706 · 2026-08-27 · versão 1 · p. 169 · https://fnet.bmfbovespa.com.br/fnet/publico/visualizarDocumento?id=1302706</a:t>
            </a:r>
          </a:p>
          <a:p>
            <a:r>
              <a:t>CNPJ 41970012000126 · Juros, amortização e vencimento · Excerto da fonte:</a:t>
            </a:r>
          </a:p>
          <a:p>
            <a:r>
              <a:t>● Será baseada no histórico de perdas de cada safra de Direitos Creditórios, sendo considerada safra cada  grupo de Direitos Creditórios, os Direitos Creditórios do mesmo tipo, com mesmo prazo de vencimento  e classificação de risco (rating) ("Safra"), cujo prazo de vencimento original já tenha expirado  ("Histórico por Safra"), sendo considerado o Histórico por Safra nos 5 (cinco) anos mais recentes;</a:t>
            </a:r>
          </a:p>
          <a:p>
            <a:r>
              <a:t> ● A inclusão de novos Ratings e/ou Prazos na Matriz de Perdas para qualquer um dos produtos (CCBs  Consumidor, CCBs Comerciante e CCBs DE) deve passar pela aprovação interna dos Cotistas Seniores;</a:t>
            </a:r>
          </a:p>
          <a:p>
            <a:r>
              <a:t> ● Serão consideradas perdas o saldo de principal dos Direitos Creditórios vencidos e não pagos após 3  (três) meses da sua data de vencimento original;</a:t>
            </a:r>
          </a:p>
          <a:p>
            <a:r>
              <a:t> ● O cálculo da perda será atualizado semestralmente pelos Cotistas Seniores com base em informações  fornecidas pelo Mercado Pago, que devem incluir performance histórica acumulada.</a:t>
            </a:r>
          </a:p>
          <a:p>
            <a:r>
              <a:t>CNPJ 41970012000126 · Juros, amortização e vencimento · Condição: Documentos atuais selecionados no inventário por categoria/escopo; a data documental isolada não comprova vigência jurídica.</a:t>
            </a:r>
          </a:p>
          <a:p>
            <a:r>
              <a:t>CNPJ 41970012000126 · Juros, amortização e vencimento · Versão e prevalência: Documentos atuais selecionados no inventário por categoria/escopo; a data documental isolada não comprova vigência jurídica.</a:t>
            </a:r>
          </a:p>
          <a:p>
            <a:r>
              <a:t>CNPJ 41970012000126 · Juros, amortização e vencimento · Resumo do histórico: {"count": 1, "dates": ["2026-08-27"], "document_count": 1, "sources": [{"document_id": "1302706", "title": "Regulamento", "reference_date": "2026-08-27", "version": "1", "page": "146", "url": "https://fnet.bmfbovespa.com.br/fnet/publico/visualizarDocumento?id=1302706", "sha256": "b113727bc2bc3b1a6b0d18f02bf2143068fd912df2d83cbb91ab44fcb30a3379"}], "reference": {"path": "history/41970012000126.json", "criterion_id": "payments", "total_count": 1, "preview_count": 1, "full_text_deferred": true, "sha256": "229578c6b833b0633051fe7d357f4fcc74589dcf37d7750032517e03ec89ee60"}}</a:t>
            </a:r>
          </a:p>
          <a:p>
            <a:r>
              <a:t>CNPJ 41970012000126 · Carência das cotas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41970012000126 · Carência das cotas · Resumo do histórico: {"count": 1, "dates": ["2026-08-27"], "document_count": 1, "sources": [{"document_id": "1302706", "title": "Regulamento", "reference_date": "2026-08-27", "version": "1", "page": "133–159", "url": "https://fnet.bmfbovespa.com.br/fnet/publico/visualizarDocumento?id=1302706", "sha256": "b113727bc2bc3b1a6b0d18f02bf2143068fd912df2d83cbb91ab44fcb30a3379"}], "reference": {"path": "history/41970012000126.json", "criterion_id": "quota_grace", "total_count": 1, "preview_count": 1, "full_text_deferred": true, "sha256": "229578c6b833b0633051fe7d357f4fcc74589dcf37d7750032517e03ec89ee60"}}</a:t>
            </a:r>
          </a:p>
          <a:p>
            <a:r>
              <a:t>CNPJ 41970012000126 · Vencimento das cotas · Regulamento · ID 1302706 · 2026-08-27 · versão 1 · p. 169 · https://fnet.bmfbovespa.com.br/fnet/publico/visualizarDocumento?id=1302706</a:t>
            </a:r>
          </a:p>
          <a:p>
            <a:r>
              <a:t>CNPJ 41970012000126 · Vencimento das cotas · Excerto da fonte:</a:t>
            </a:r>
          </a:p>
          <a:p>
            <a:r>
              <a:t>● Será baseada no histórico de perdas de cada safra de Direitos Creditórios, sendo considerada safra cada  grupo de Direitos Creditórios, os Direitos Creditórios do mesmo tipo, com mesmo prazo de vencimento  e classificação de risco (rating) ("Safra"), cujo prazo de vencimento original já tenha expirado  ("Histórico por Safra"), sendo considerado o Histórico por Safra nos 5 (cinco) anos mais recentes;</a:t>
            </a:r>
          </a:p>
          <a:p>
            <a:r>
              <a:t> ● A inclusão de novos Ratings e/ou Prazos na Matriz de Perdas para qualquer um dos produtos (CCBs  Consumidor, CCBs Comerciante e CCBs DE) deve passar pela aprovação interna dos Cotistas Seniores;</a:t>
            </a:r>
          </a:p>
          <a:p>
            <a:r>
              <a:t> ● Serão consideradas perdas o saldo de principal dos Direitos Creditórios vencidos e não pagos após 3  (três) meses da sua data de vencimento original;</a:t>
            </a:r>
          </a:p>
          <a:p>
            <a:r>
              <a:t> ● O cálculo da perda será atualizado semestralmente pelos Cotistas Seniores com base em informações  fornecidas pelo Mercado Pago, que devem incluir performance histórica acumulada.</a:t>
            </a:r>
          </a:p>
          <a:p>
            <a:r>
              <a:t>CNPJ 41970012000126 · Vencimento das cotas · Condição: Documentos atuais selecionados no inventário por categoria/escopo; a data documental isolada não comprova vigência jurídica.</a:t>
            </a:r>
          </a:p>
          <a:p>
            <a:r>
              <a:t>CNPJ 41970012000126 · Vencimento das cotas · Versão e prevalência: Documentos atuais selecionados no inventário por categoria/escopo; a data documental isolada não comprova vigência jurídica.</a:t>
            </a:r>
          </a:p>
          <a:p>
            <a:r>
              <a:t>CNPJ 41970012000126 · Vencimento das cotas · Resumo do histórico: {"count": 1, "dates": ["2026-08-27"], "document_count": 1, "sources": [{"document_id": "1302706", "title": "Regulamento", "reference_date": "2026-08-27", "version": "1", "page": "134, 137, 142, 146, 152, 155", "url": "https://fnet.bmfbovespa.com.br/fnet/publico/visualizarDocumento?id=1302706", "sha256": "b113727bc2bc3b1a6b0d18f02bf2143068fd912df2d83cbb91ab44fcb30a3379"}], "reference": {"path": "history/41970012000126.json", "criterion_id": "quota_maturity", "total_count": 1, "preview_count": 1, "full_text_deferred": true, "sha256": "229578c6b833b0633051fe7d357f4fcc74589dcf37d7750032517e03ec89ee60"}}</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PLGN Marketplace · vínculo CNPJ 41970012000126 · Fluxo de caixa e prazo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Vínculo: PLGN Marketplace · CNPJ 55563624000109 → CNPJ 41970012000126 · Regulamento · ID 1192614 · 30/04/2026 · versão Regulamento30/04/2026 · p. 11 · AnexoI4.1</a:t>
            </a:r>
          </a:p>
          <a:p>
            <a:r>
              <a:t>Condição do vínculo: {"cnpj": "41970012000126", "name": "Mercado Crédito II Brasil FIDC", "relationship": "named_investee", "exposure": "mezzanine", "position_status": "mandate_identified_position_not_quantified", "risk_note": "Mandato e classe exatos; comparar regras eIMEdo investido na competência doFIC, sem dupla contagem dePL."}</a:t>
            </a:r>
          </a:p>
          <a:p>
            <a:r>
              <a:t>CNPJ 41970012000126 · Ordem dealocação derecursos · Regulamento · ID 1302706 · 27/08/2026 · versão Regulamento27/08/2026 · p. 102 · 20.2(i)–(vii) · https://fnet.bmfbovespa.com.br/fnet/publico/visualizarDocumento?id=1302706</a:t>
            </a:r>
          </a:p>
          <a:p>
            <a:r>
              <a:t>CNPJ 41970012000126 · Ordem dealocação derecursos · Excerto da fonte:</a:t>
            </a:r>
          </a:p>
          <a:p>
            <a:r>
              <a:t>20.2. Até a Data Limite de Investimento em Direitos Creditórios, e desde que não haja a ocorrência de um Evento de Amortização Acelerada, de um Evento de Avaliação ou de um Evento de Liquidação do Fundo, o Administrador deverá, em cada Dia Útil, por meio dos competentes débitos realizados na Conta de Pagamento, na Conta do Fundo, alocar os recursos decorrentes da integralização das Cotas e do recebimento de recursos provenientes da Carteira do Fundo, na seguinte ordem, conforme aplicável: (i) pagamento de despesas e encargos de responsabilidade do Fundo, devidos nos termos deste Regulamento e da legislação aplicável, incluindo a Taxa de Ad</a:t>
            </a:r>
          </a:p>
          <a:p>
            <a:r>
              <a:t>CNPJ 41970012000126 · Ordem dealocação derecursos · Regulamento · ID 1302706 · 27/08/2026 · versão Regulamento27/08/2026 · p. 103 · 20.2(viii)–(xvi) · https://fnet.bmfbovespa.com.br/fnet/publico/visualizarDocumento?id=1302706</a:t>
            </a:r>
          </a:p>
          <a:p>
            <a:r>
              <a:t>CNPJ 41970012000126 · Ordem dealocação derecursos · Excerto da fonte:</a:t>
            </a:r>
          </a:p>
          <a:p>
            <a:r>
              <a:t>(viii) caso seja uma Data de Pagamento, pagamento da Meta de Rentabilidade Mezanino aos titulares de Cotas Subordinadas Mezanino B em Circulação, observado o disposto no respectivo Apêndice, sempre limitado ao valor que, considerada pro forma o pagamento da Meta de Rentabilidade Mezanino pretendido, não haja desenquadramento da Senioridade Máxima; (ix) caso seja uma Data de Pagamento e tenha sido alterada a Data Limite de Investimento em Direitos Creditórios sem voto afirmativo ou manifestação favorável dos titulares de Cotas Subordinadas Mezanino, realização de amortização extraor</a:t>
            </a:r>
          </a:p>
          <a:p>
            <a:r>
              <a:t>CNPJ 41970012000126 · Ordem dealocação derecursos · Regulamento · ID 1302706 · 27/08/2026 · versão Regulamento27/08/2026 · p. 104 · 20.3(i)–(xiii) · https://fnet.bmfbovespa.com.br/fnet/publico/visualizarDocumento?id=1302706</a:t>
            </a:r>
          </a:p>
          <a:p>
            <a:r>
              <a:t>CNPJ 41970012000126 · Ordem dealocação derecursos · Excerto da fonte:</a:t>
            </a:r>
          </a:p>
          <a:p>
            <a:r>
              <a:t>(i) pagamento de despesas e encargos de responsabilidade do Fundo, devidos nos termos deste Regulamento e da legislação aplicável, incluindo a Taxa de Administração, a Taxa de Custódia e a Taxa de Gestão, exceto pela remuneração do Agente de Recebimento e do Agente de Cobrança e pelo Reembolso de Despesas do Agente de Cobrança; (ii) recomposição do saldo da Reserva para Despesas, exceto pela remuneração do Agente de Recebimento e do Agente de Cobrança e pelo Reembolso de Despesas do Agente de Cobrança; (iii) caso seja uma Data de Pagamento, pagamento da remuneração do Agente de Receb</a:t>
            </a:r>
          </a:p>
          <a:p>
            <a:r>
              <a:t>CNPJ 41970012000126 · Ordem dealocação derecursos · Regulamento · ID 1302706 · 27/08/2026 · versão Regulamento27/08/2026 · p. 105 · 20.3(xiv)–(xv) · https://fnet.bmfbovespa.com.br/fnet/publico/visualizarDocumento?id=1302706</a:t>
            </a:r>
          </a:p>
          <a:p>
            <a:r>
              <a:t>CNPJ 41970012000126 · Ordem dealocação derecursos · Excerto da fonte:</a:t>
            </a:r>
          </a:p>
          <a:p>
            <a:r>
              <a:t>(xiv) uma vez amortizada/resgatada a totalidade das Cotas Seniores e das Cotas Subordinadas Mezanino, pagamento da Amortização das Cotas Subordinadas Júnior, conforme orientação do Gestor; e (xv) na hipótese de haver recursos disponíveis na Conta de Pagamento, na Conta do Fundo ao término de cada Dia Útil, aquisição de Ativos Financeiros. 20.3.1. Para os fins de que trata o item 20.3 acima, na hipótese de ocorrência de um Evento de Amortização Acelerada, de um Evento de Avaliação ou de um Evento de Liquidação do Fundo, o Administrador poderá, inclusive, observada a deliberação em Assembleia Geral</a:t>
            </a:r>
          </a:p>
          <a:p>
            <a:r>
              <a:t>CNPJ 41970012000126 · Ordem dealocação derecursos · Condição: No regime sequencial, MZ recebe após resgate integral da camada superior; condição é material para FIC mezanino.</a:t>
            </a:r>
          </a:p>
          <a:p>
            <a:r>
              <a:t>CNPJ 41970012000126 · Ordem dealocação derecursos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41970012000126 · Ordem dealocação derecursos · Versão e prevalência: Leitura específica das cláusulas indicadas; condições e conflitos preservados. Seleção documental atual não comprova vigência jurídica por data isolada.</a:t>
            </a:r>
          </a:p>
          <a:p>
            <a:r>
              <a:t>CNPJ 41970012000126 · Ordem dealocação derecursos · Resumo do histórico: {"count": 1, "dates": ["2026-08-27"], "document_count": 1, "sources": [{"document_id": "1302706", "title": "Regulamento", "reference_date": "2026-08-27", "version": "1", "page": "145–159", "url": "https://fnet.bmfbovespa.com.br/fnet/publico/visualizarDocumento?id=1302706", "sha256": "b113727bc2bc3b1a6b0d18f02bf2143068fd912df2d83cbb91ab44fcb30a3379"}], "reference": {"path": "history/41970012000126.json", "criterion_id": "waterfall", "total_count": 1, "preview_count": 1, "full_text_deferred": true, "sha256": "229578c6b833b0633051fe7d357f4fcc74589dcf37d7750032517e03ec89ee60"}}</a:t>
            </a:r>
          </a:p>
          <a:p>
            <a:r>
              <a:t>CNPJ 41970012000126 · Pró-rata, sequencial eaceleração · Regulamento · ID 1302706 · 27/08/2026 · versão Regulamento27/08/2026 · p. 84 · 12.1(i)–(vi) · https://fnet.bmfbovespa.com.br/fnet/publico/visualizarDocumento?id=1302706</a:t>
            </a:r>
          </a:p>
          <a:p>
            <a:r>
              <a:t>CNPJ 41970012000126 · Pró-rata, sequencial eaceleração · Excerto da fonte:</a:t>
            </a:r>
          </a:p>
          <a:p>
            <a:r>
              <a:t>12.1. São considerados Eventos de Amortização Acelerada das Cotas quaisquer das seguintes ocorrências: (i) caso a Média Móvel do Índice de Inadimplência em qualquer Data Base seja superior a 12,50% (doze e meio por cento), conforme verificado pelo Gestor no Relatório de Acompanhamento e informado ao Administrador; (ii) caso a Média Móvel do Índice de Juros Excedente em qualquer Data Base seja inferior a 45% (quarenta e cinco por cento), conforme verificado pelo Gestor no Relatório de Acompanhamento e informado ao Administrador; (iii) ocorrência de um Evento Reg</a:t>
            </a:r>
          </a:p>
          <a:p>
            <a:r>
              <a:t>CNPJ 41970012000126 · Pró-rata, sequencial eaceleração · Regulamento · ID 1302706 · 27/08/2026 · versão Regulamento27/08/2026 · p. 103 · 20.3 · https://fnet.bmfbovespa.com.br/fnet/publico/visualizarDocumento?id=1302706</a:t>
            </a:r>
          </a:p>
          <a:p>
            <a:r>
              <a:t>CNPJ 41970012000126 · Pró-rata, sequencial eaceleração · Excerto da fonte:</a:t>
            </a:r>
          </a:p>
          <a:p>
            <a:r>
              <a:t>20.3. Após a Data Limite de Investimento em Direitos Creditórios ou antes de tal data em caso de ocorrência de um Evento de Amortização Acelerada, de um Evento de Avaliação ou de um Evento de Liquidação (e enquanto a Assembleia Geral de Cotistas não delibere pelo retorno à alocação de recursos btgpactual.com</a:t>
            </a:r>
          </a:p>
          <a:p>
            <a:r>
              <a:t>CNPJ 41970012000126 · Pró-rata, sequencial eaceleração · Motivo: Não localizada uma cláusula material para este critério nos textos identificados e processados. A ausência de resultado não comprova inexistência da regra.</a:t>
            </a:r>
          </a:p>
          <a:p>
            <a:r>
              <a:t>CNPJ 41970012000126 · Pró-rata, sequencial eaceleração · Versão e prevalência: Leitura específica das cláusulas indicadas; condições e conflitos preservados. Seleção documental atual não comprova vigência jurídica por data isolada.</a:t>
            </a:r>
          </a:p>
          <a:p>
            <a:r>
              <a:t>CNPJ 41970012000126 · Revolvência e desinvestimento · Regulamento · ID 1302706 · 2026-08-27 · versão 1 · p. 76 · 10.2.2.1 · https://fnet.bmfbovespa.com.br/fnet/publico/visualizarDocumento?id=1302706</a:t>
            </a:r>
          </a:p>
          <a:p>
            <a:r>
              <a:t>CNPJ 41970012000126 · Revolvência e desinvestimento · Excerto da fonte:</a:t>
            </a:r>
          </a:p>
          <a:p>
            <a:r>
              <a:t>10.2.2.1. A obrigação de pagamento da Compensação Extraordinária ao Cotista Sênior e/ou ao Cotista  Subordinado Mezanino, nos termos do item 10.2.2 acima, cessará após 90 (noventa) dias contados do  aniversário de 1 (um) ano do que ocorrer primeiro entre (i) o início do período de desinvestimento; (ii) a  ocorrência de um Evento de Amortização Acelerada, desde que permaneça em curso; ou (iii) a ocorrência  de um Evento de Avaliação, desde que permaneça em curso.</a:t>
            </a:r>
          </a:p>
          <a:p>
            <a:r>
              <a:t>CNPJ 41970012000126 · Revolvência e desinvestimento · Condição: Documentos atuais selecionados no inventário por categoria/escopo; a data documental isolada não comprova vigência jurídica.</a:t>
            </a:r>
          </a:p>
          <a:p>
            <a:r>
              <a:t>CNPJ 41970012000126 · Revolvência e desinvestimento · Versão e prevalência: Documentos atuais selecionados no inventário por categoria/escopo; a data documental isolada não comprova vigência jurídica.</a:t>
            </a:r>
          </a:p>
          <a:p>
            <a:r>
              <a:t>CNPJ 41970012000126 · Revolvência e desinvestimento · Resumo do histórico: {"count": 16, "dates": ["2025-05-19", "2025-12-19"], "document_count": 3, "sources": [{"document_id": "1077333", "title": "AGE", "reference_date": "2025-12-19", "version": "1", "page": 90, "clause": "10.2.3.1", "url": "https://fnet.bmfbovespa.com.br/fnet/publico/visualizarDocumento?id=1077333", "sha256": "a9a25c5f8a0c493373a2157221109466cbc86e5f44f623997bba18ca14892751"}, {"document_id": "1077334", "title": "Regulamento", "reference_date": "2025-12-19", "version": "1", "page": 90, "clause": "10.2.3.1", "url": "https://fnet.bmfbovespa.com.br/fnet/publico/visualizarDocumento?id=1077334", "sha256": "a9a25c5f8a0c493373a2157221109466cbc86e5f44f623997bba18ca14892751"}, {"document_id": "909707", "title": "Regulamento", "reference_date": "2025-05-19", "version": "1", "page": 88, "clause": "10.2.3.1", "url": "https://fnet.bmfbovespa.com.br/fnet/publico/visualizarDocumento?id=909707", "sha256": "cfa949e3b02c8900c5d0e5f82225a19dc627218a4e4f2e969681a09335c55224"}], "reference": {"path": "history/41970012000126.json", "criterion_id": "revolving", "total_count": 16, "preview_count": 3, "full_text_deferred": true, "sha256": "229578c6b833b0633051fe7d357f4fcc74589dcf37d7750032517e03ec89ee60"}}</a:t>
            </a:r>
          </a:p>
          <a:p>
            <a:r>
              <a:t>CNPJ 41970012000126 · Cessões, preço e carteira residual · Regulamento · ID 1302706 · 2026-08-27 · versão 1 · p. 105 · 20.3.1 · https://fnet.bmfbovespa.com.br/fnet/publico/visualizarDocumento?id=1302706</a:t>
            </a:r>
          </a:p>
          <a:p>
            <a:r>
              <a:t>CNPJ 41970012000126 · Cessões, preço e carteira residual · Excerto da fonte:</a:t>
            </a:r>
          </a:p>
          <a:p>
            <a:r>
              <a:t>20.3.1. Para os fins de que trata o item 20.3 acima, na hipótese de ocorrência de um Evento de  Amortização Acelerada, de um Evento de Avaliação ou de um Evento de Liquidação do Fundo, o  Administrador poderá, inclusive, observada a deliberação em Assembleia Geral de Cotistas, proceder com  a alienação dos Direitos Creditórios Adquiridos e de Ativos Financeiros integrantes da Carteira, tendo  como parâmetro a Meta de Rentabilidade Sênior e a Meta de Rentabilidade Mezanino previstas nos  respectivos Apêndices das Cotas Seniores e Apêndices das Cotas Subordinadas Mezanino,  respectivamente.</a:t>
            </a:r>
          </a:p>
          <a:p>
            <a:r>
              <a:t>CNPJ 41970012000126 · Cessões, preço e carteira residual · Condição: Documentos atuais selecionados no inventário por categoria/escopo; a data documental isolada não comprova vigência jurídica.</a:t>
            </a:r>
          </a:p>
          <a:p>
            <a:r>
              <a:t>CNPJ 41970012000126 · Cessões, preço e carteira residual · Versão e prevalência: Documentos atuais selecionados no inventário por categoria/escopo; a data documental isolada não comprova vigência jurídica.</a:t>
            </a:r>
          </a:p>
          <a:p>
            <a:r>
              <a:t>CNPJ 41970012000126 · Cessões, preço e carteira residual · Resumo do histórico: {"count": 15, "dates": ["2025-05-19", "2025-12-19"], "document_count": 3, "sources": [{"document_id": "1077333", "title": "AGE", "reference_date": "2025-12-19", "version": "1", "page": 127, "clause": "20.4.1", "url": "https://fnet.bmfbovespa.com.br/fnet/publico/visualizarDocumento?id=1077333", "sha256": "a9a25c5f8a0c493373a2157221109466cbc86e5f44f623997bba18ca14892751"}, {"document_id": "1077334", "title": "Regulamento", "reference_date": "2025-12-19", "version": "1", "page": 127, "clause": "20.4.1", "url": "https://fnet.bmfbovespa.com.br/fnet/publico/visualizarDocumento?id=1077334", "sha256": "a9a25c5f8a0c493373a2157221109466cbc86e5f44f623997bba18ca14892751"}, {"document_id": "909707", "title": "Regulamento", "reference_date": "2025-05-19", "version": "1", "page": 125, "clause": "20.4.1", "url": "https://fnet.bmfbovespa.com.br/fnet/publico/visualizarDocumento?id=909707", "sha256": "cfa949e3b02c8900c5d0e5f82225a19dc627218a4e4f2e969681a09335c55224"}], "reference": {"path": "history/41970012000126.json", "criterion_id": "sale", "total_count": 15, "preview_count": 3, "full_text_deferred": true, "sha256": "229578c6b833b0633051fe7d357f4fcc74589dcf37d7750032517e03ec89ee60"}}</a:t>
            </a:r>
          </a:p>
          <a:p>
            <a:r>
              <a:t>CNPJ 41970012000126 · Juros, amortização e vencimento · Regulamento · ID 1302706 · 2026-08-27 · versão 1 · p. 169 · https://fnet.bmfbovespa.com.br/fnet/publico/visualizarDocumento?id=1302706</a:t>
            </a:r>
          </a:p>
          <a:p>
            <a:r>
              <a:t>CNPJ 41970012000126 · Juros, amortização e vencimento · Excerto da fonte:</a:t>
            </a:r>
          </a:p>
          <a:p>
            <a:r>
              <a:t>● Será baseada no histórico de perdas de cada safra de Direitos Creditórios, sendo considerada safra cada  grupo de Direitos Creditórios, os Direitos Creditórios do mesmo tipo, com mesmo prazo de vencimento  e classificação de risco (rating) ("Safra"), cujo prazo de vencimento original já tenha expirado  ("Histórico por Safra"), sendo considerado o Histórico por Safra nos 5 (cinco) anos mais recentes;</a:t>
            </a:r>
          </a:p>
          <a:p>
            <a:r>
              <a:t> ● A inclusão de novos Ratings e/ou Prazos na Matriz de Perdas para qualquer um dos produtos (CCBs  Consumidor, CCBs Comerciante e CCBs DE) deve passar pela aprovação interna dos Cotistas Seniores;</a:t>
            </a:r>
          </a:p>
          <a:p>
            <a:r>
              <a:t> ● Serão consideradas perdas o saldo de principal dos Direitos Creditórios vencidos e não pagos após 3  (três) meses da sua data de vencimento original;</a:t>
            </a:r>
          </a:p>
          <a:p>
            <a:r>
              <a:t> ● O cálculo da perda será atualizado semestralmente pelos Cotistas Seniores com base em informações  fornecidas pelo Mercado Pago, que devem incluir performance histórica acumulada.</a:t>
            </a:r>
          </a:p>
          <a:p>
            <a:r>
              <a:t>CNPJ 41970012000126 · Juros, amortização e vencimento · Condição: Documentos atuais selecionados no inventário por categoria/escopo; a data documental isolada não comprova vigência jurídica.</a:t>
            </a:r>
          </a:p>
          <a:p>
            <a:r>
              <a:t>CNPJ 41970012000126 · Juros, amortização e vencimento · Versão e prevalência: Documentos atuais selecionados no inventário por categoria/escopo; a data documental isolada não comprova vigência jurídica.</a:t>
            </a:r>
          </a:p>
          <a:p>
            <a:r>
              <a:t>CNPJ 41970012000126 · Juros, amortização e vencimento · Resumo do histórico: {"count": 1, "dates": ["2026-08-27"], "document_count": 1, "sources": [{"document_id": "1302706", "title": "Regulamento", "reference_date": "2026-08-27", "version": "1", "page": "146", "url": "https://fnet.bmfbovespa.com.br/fnet/publico/visualizarDocumento?id=1302706", "sha256": "b113727bc2bc3b1a6b0d18f02bf2143068fd912df2d83cbb91ab44fcb30a3379"}], "reference": {"path": "history/41970012000126.json", "criterion_id": "payments", "total_count": 1, "preview_count": 1, "full_text_deferred": true, "sha256": "229578c6b833b0633051fe7d357f4fcc74589dcf37d7750032517e03ec89ee60"}}</a:t>
            </a:r>
          </a:p>
          <a:p>
            <a:r>
              <a:t>CNPJ 41970012000126 · Carência das cotas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41970012000126 · Carência das cotas · Resumo do histórico: {"count": 1, "dates": ["2026-08-27"], "document_count": 1, "sources": [{"document_id": "1302706", "title": "Regulamento", "reference_date": "2026-08-27", "version": "1", "page": "133–159", "url": "https://fnet.bmfbovespa.com.br/fnet/publico/visualizarDocumento?id=1302706", "sha256": "b113727bc2bc3b1a6b0d18f02bf2143068fd912df2d83cbb91ab44fcb30a3379"}], "reference": {"path": "history/41970012000126.json", "criterion_id": "quota_grace", "total_count": 1, "preview_count": 1, "full_text_deferred": true, "sha256": "229578c6b833b0633051fe7d357f4fcc74589dcf37d7750032517e03ec89ee60"}}</a:t>
            </a:r>
          </a:p>
          <a:p>
            <a:r>
              <a:t>CNPJ 41970012000126 · Vencimento das cotas · Regulamento · ID 1302706 · 2026-08-27 · versão 1 · p. 169 · https://fnet.bmfbovespa.com.br/fnet/publico/visualizarDocumento?id=1302706</a:t>
            </a:r>
          </a:p>
          <a:p>
            <a:r>
              <a:t>CNPJ 41970012000126 · Vencimento das cotas · Excerto da fonte:</a:t>
            </a:r>
          </a:p>
          <a:p>
            <a:r>
              <a:t>● Será baseada no histórico de perdas de cada safra de Direitos Creditórios, sendo considerada safra cada  grupo de Direitos Creditórios, os Direitos Creditórios do mesmo tipo, com mesmo prazo de vencimento  e classificação de risco (rating) ("Safra"), cujo prazo de vencimento original já tenha expirado  ("Histórico por Safra"), sendo considerado o Histórico por Safra nos 5 (cinco) anos mais recentes;</a:t>
            </a:r>
          </a:p>
          <a:p>
            <a:r>
              <a:t> ● A inclusão de novos Ratings e/ou Prazos na Matriz de Perdas para qualquer um dos produtos (CCBs  Consumidor, CCBs Comerciante e CCBs DE) deve passar pela aprovação interna dos Cotistas Seniores;</a:t>
            </a:r>
          </a:p>
          <a:p>
            <a:r>
              <a:t> ● Serão consideradas perdas o saldo de principal dos Direitos Creditórios vencidos e não pagos após 3  (três) meses da sua data de vencimento original;</a:t>
            </a:r>
          </a:p>
          <a:p>
            <a:r>
              <a:t> ● O cálculo da perda será atualizado semestralmente pelos Cotistas Seniores com base em informações  fornecidas pelo Mercado Pago, que devem incluir performance histórica acumulada.</a:t>
            </a:r>
          </a:p>
          <a:p>
            <a:r>
              <a:t>CNPJ 41970012000126 · Vencimento das cotas · Condição: Documentos atuais selecionados no inventário por categoria/escopo; a data documental isolada não comprova vigência jurídica.</a:t>
            </a:r>
          </a:p>
          <a:p>
            <a:r>
              <a:t>CNPJ 41970012000126 · Vencimento das cotas · Versão e prevalência: Documentos atuais selecionados no inventário por categoria/escopo; a data documental isolada não comprova vigência jurídica.</a:t>
            </a:r>
          </a:p>
          <a:p>
            <a:r>
              <a:t>CNPJ 41970012000126 · Vencimento das cotas · Resumo do histórico: {"count": 1, "dates": ["2026-08-27"], "document_count": 1, "sources": [{"document_id": "1302706", "title": "Regulamento", "reference_date": "2026-08-27", "version": "1", "page": "134, 137, 142, 146, 152, 155", "url": "https://fnet.bmfbovespa.com.br/fnet/publico/visualizarDocumento?id=1302706", "sha256": "b113727bc2bc3b1a6b0d18f02bf2143068fd912df2d83cbb91ab44fcb30a3379"}], "reference": {"path": "history/41970012000126.json", "criterion_id": "quota_maturity", "total_count": 1, "preview_count": 1, "full_text_deferred": true, "sha256": "229578c6b833b0633051fe7d357f4fcc74589dcf37d7750032517e03ec89ee60"}}</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PLGN Marketplace · vínculo CNPJ 41970012000126 · Garantias e operação</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Vínculo: PLGN Marketplace · CNPJ 55563624000109 → CNPJ 41970012000126 · Regulamento · ID 1192614 · 30/04/2026 · versão Regulamento30/04/2026 · p. 11 · AnexoI4.1</a:t>
            </a:r>
          </a:p>
          <a:p>
            <a:r>
              <a:t>Condição do vínculo: {"cnpj": "41970012000126", "name": "Mercado Crédito II Brasil FIDC", "relationship": "named_investee", "exposure": "mezzanine", "position_status": "mandate_identified_position_not_quantified", "risk_note": "Mandato e classe exatos; comparar regras eIMEdo investido na competência doFIC, sem dupla contagem dePL."}</a:t>
            </a:r>
          </a:p>
          <a:p>
            <a:r>
              <a:t>CNPJ 41970012000126 · Garantias econstituição · Regulamento · ID 1302706 · 27/08/2026 · versão Regulamento27/08/2026 · p. 43 · 5.1.15 · https://fnet.bmfbovespa.com.br/fnet/publico/visualizarDocumento?id=1302706</a:t>
            </a:r>
          </a:p>
          <a:p>
            <a:r>
              <a:t>CNPJ 41970012000126 · Garantias econstituição · Excerto da fonte:</a:t>
            </a:r>
          </a:p>
          <a:p>
            <a:r>
              <a:t>5.1.15. As aplicações no Fundo não contam com garantia: (i) do Administrador; (ii) do Gestor; (iii) dos Endossantes; (iv) do Custodiante; (v) do Agente de Cobrança; (vi) da Entidade Registradora, (vii) de qualquer mecanismo de seguro; ou (viii) do FGC. 5.2. Critérios de Elegibilidade e Condições de Cessão 5.2.1. Todos e quaisquer Direitos Creditórios a serem adquiridos pelo Fundo deverão atender, na respectiva Data de Oferta de Direitos Creditórios, aos seguintes Critérios de Elegibilidade, cumulativamente (em conjunto, os "Critérios de Elegibilidade"): (i) os Direitos Creditórios tenham sido originados de operações</a:t>
            </a:r>
          </a:p>
          <a:p>
            <a:r>
              <a:t>CNPJ 41970012000126 · Garantias econstituição · Versão e prevalência: Leitura específica das cláusulas indicadas; condições e conflitos preservados. Seleção documental atual não comprova vigência jurídica por data isolada.</a:t>
            </a:r>
          </a:p>
          <a:p>
            <a:r>
              <a:t>CNPJ 41970012000126 · Garantias econstituição · Resumo do histórico: {"count": 5, "dates": ["2023-12-31", "2024-07-04", "2024-12-31"], "document_count": 3, "sources": [{"document_id": "870176", "title": "Demonstrações Financeiras", "reference_date": "2024-12-31", "version": "1", "page": 25, "url": "https://fnet.bmfbovespa.com.br/fnet/publico/visualizarDocumento?id=870176", "sha256": "41d9dd55a027da84aa26df78d361630f2f37ce0bf444f27d6d716d9a3d52e1a4"}, {"document_id": "733598", "title": "Demonstrações Financeiras - Substituição de administrador", "reference_date": "2024-07-04", "version": "1", "page": 17, "url": "https://fnet.bmfbovespa.com.br/fnet/publico/visualizarDocumento?id=733598", "sha256": "9d1c96f1b14c61fe4495f8fe1b3673eae3db53b342339f2d6ff6f3ed5ec25550"}, {"document_id": "659662", "title": "Demonstrações Financeiras", "reference_date": "2023-12-31", "version": "1", "page": 18, "url": "https://fnet.bmfbovespa.com.br/fnet/publico/visualizarDocumento?id=659662", "sha256": "b8b0aa7cef25ed43fc2d549b4e0e77c3bb32e3774227a4ad83f88955761c6494"}], "reference": {"path": "history/41970012000126.json", "criterion_id": "guarantee", "total_count": 5, "preview_count": 3, "full_text_deferred": true, "sha256": "229578c6b833b0633051fe7d357f4fcc74589dcf37d7750032517e03ec89ee60"}}</a:t>
            </a:r>
          </a:p>
          <a:p>
            <a:r>
              <a:t>CNPJ 41970012000126 · Registro, execução e recuperação · Motivo: Não localizada uma cláusula material para este critério nos textos identificados e processados. A ausência de resultado não comprova inexistência da regra.</a:t>
            </a:r>
          </a:p>
          <a:p>
            <a:r>
              <a:t>CNPJ 41970012000126 · Cobrança e servicing · Regulamento · ID 1302706 · 2026-08-27 · versão 1 · p. 41 · 5.1.6 · https://fnet.bmfbovespa.com.br/fnet/publico/visualizarDocumento?id=1302706</a:t>
            </a:r>
          </a:p>
          <a:p>
            <a:r>
              <a:t>CNPJ 41970012000126 · Cobrança e servicing · Excerto da fonte:</a:t>
            </a:r>
          </a:p>
          <a:p>
            <a:r>
              <a:t>5.1.6. A Política de Originação e Concessão de Crédito para a concessão de Crédito Parcelado ou  Empréstimo Pessoal está descrita no COMPLEMENTO III a este Regulamento. Tendo em vista que os  Direitos Creditórios a serem adquiridos pelo Fundo serão representados por títulos executivos, não haverá  necessidade de adoção de processos específicos de cobrança de tais Direitos Creditórios. Não obstante, o  Fundo contratou o Agente de Cobrança para cobrança da totalidade dos Direitos Creditórios para  Cobrança Extraordinária devidos em razão dos Direitos Creditórios. A Política de Cobrança dos Direitos  Creditórios para Cobrança Extraordinária, a ser observada pelo Agente de Cobrança, está descrita no  COMPLEMENTO IV deste Regulamento.</a:t>
            </a:r>
          </a:p>
          <a:p>
            <a:r>
              <a:t>CNPJ 41970012000126 · Cobrança e servicing · Regulamento · ID 1302706 · 2026-08-27 · versão 1 · p. 4 · https://fnet.bmfbovespa.com.br/fnet/publico/visualizarDocumento?id=1302706</a:t>
            </a:r>
          </a:p>
          <a:p>
            <a:r>
              <a:t>CNPJ 41970012000126 · Cobrança e servicing · Excerto da fonte:</a:t>
            </a:r>
          </a:p>
          <a:p>
            <a:r>
              <a:t>"Acionista Permitido" significa cada Pessoa titular de no mínimo 5% (cinco por  cento) das ações de emissão MeLi e cada uma das suas  subsidiárias e afiliadas, na data de aprovação da Primeira  Emissão de Cotas pelo Fundo.</a:t>
            </a:r>
          </a:p>
          <a:p>
            <a:r>
              <a:t> "Administrador" significa o BTG PACTUAL SERVIÇOS  FINANCEIROS S.A. DISTRIBUIDORA DE TÍTULOS  E VALORES MOBILIÁRIOS, instituição com sede no  Município do Rio de Janeiro, Estado do Rio de Janeiro,  na Praia de Botafogo, nº 501, Torre Corcovado, 5º andar  – parte, inscrita no CNPJ/MF sob o nº 59.281.253/0001-  23, autorizada a funcionar pelo Banco Central do Brasil e  autorizada pela CVM para a atividade de administração  de carteiras de valores mobiliários, de acordo com o Ato  Declaratório nº 8.695, de 20 de março de 2006, ou seu  sucessor a qualquer título.</a:t>
            </a:r>
          </a:p>
          <a:p>
            <a:r>
              <a:t> "Advance Rate" significa: (i) em qualquer Data Base anteriormente à  ocorrência de um Evento de Step-Down, o Advance Rate  Ponderado; e (ii) em qualquer Data Base após a  ocorrência e enquanto perdurar um Evento de Step-  Down, o valor calculado conforme item (i) reduzido pelo  Valor de Redução Evento de Step-Down Nível 1 ou pelo  Valor de Redução Evento de Step-Down Nível 2,  conforme o caso, sendo certo que o Valor de Redução  Evento de Step-Down Nível 1 e o Valor de Redução  Evento de Step-Down Nível 2 são alternativos e não  cumulativos.</a:t>
            </a:r>
          </a:p>
          <a:p>
            <a:r>
              <a:t> "Advance Rate Ponderado" significa, em qualquer Data Base, o resultado obtido a  partir da seguinte fórmula:</a:t>
            </a:r>
          </a:p>
          <a:p>
            <a:r>
              <a:t> Advance Rate Ponderado = o menor entre (i) 75,00%; e</a:t>
            </a:r>
          </a:p>
          <a:p>
            <a:r>
              <a:t> (ii) 100,00% – [(PP x MS) – (ESL x PMP)]  onde:</a:t>
            </a:r>
          </a:p>
          <a:p>
            <a:r>
              <a:t> PP = Perda Ponderada  MS = múltiplo de stress equivalente a 3,00  ESL = Excesso de spread líquido, equivalente a Taxa  Interna de Retorno dos Direitos Creditórios Adquiridos  Adimplentes, subtraído: (i) o somatório (a) da Taxa de  Administração (a qual inclui a remuneração do Agente de  Recebimento), (b) da Taxa de Gestão, e (c) da  remuneração do Agente de Cobrança e os demais custos  de cobrança dos Direitos Creditórios para Cobrança  Extraordinária, todos custos deste item (i) considerados  como percentuais anuais do Valor Agregado dos Direitos  Creditórios, observado que o custo total previsto neste  item (i) será, para fins deste cálculo, no mínimo igual a  1,00% (um por cento) ao ano sobre o Valor Agregado dos  btgpactual.com</a:t>
            </a:r>
          </a:p>
          <a:p>
            <a:r>
              <a:t>CNPJ 41970012000126 · Cobrança e servicing · Regulamento · ID 1302706 · 2026-08-27 · versão 1 · p. 24 · https://fnet.bmfbovespa.com.br/fnet/publico/visualizarDocumento?id=1302706</a:t>
            </a:r>
          </a:p>
          <a:p>
            <a:r>
              <a:t>CNPJ 41970012000126 · Cobrança e servicing · Excerto da fonte:</a:t>
            </a:r>
          </a:p>
          <a:p>
            <a:r>
              <a:t>"Índice de Inadimplência" significa a razão, expressa em percentual e calculada em  relação a cada Data Base, obtida por meio da divisão: (i)  da soma do Valor Principal dos Direitos Creditórios  Adquiridos que, durante o mês calendário de referência,  no que diz respeito à Data Base 1, e os 30 (trinta) dias  que antecedem a Data Base 2, no caso de cálculo com  base na Data Base 2, tenham se tornado Créditos  Inadimplidos; pela (ii) soma do Valor Principal dos  Direitos Creditórios Adquiridos Adimplentes na Data  Base do mês calendário anterior ao mês calendário de  referência.</a:t>
            </a:r>
          </a:p>
          <a:p>
            <a:r>
              <a:t> O Índice de Inadimplência será calculado e  disponibilizado pelo Gestor por meio dos Relatórios de  Acompanhamento.</a:t>
            </a:r>
          </a:p>
          <a:p>
            <a:r>
              <a:t> "Índice de Juros Excedente" significa, em cada Data Base: (i) a média ponderada da  taxa de juros dos Direitos Creditórios vinculada ao Valor  Agregado dos Direitos Creditórios considerando Valor  Principal e respectivas taxas de juros anuais, as quais  serão calculadas em formato linear com base na taxa de  juros mensal dos Direitos Creditórios, sendo certo que,  no caso dos Direitos Creditórios CCB DE, as respectivas  taxas de juros serão calculadas levando em consideração  50% (cinquenta por cento) da taxa de juros mensal  contratada nas respectivas CCBs, menos; (ii) o somatório</a:t>
            </a:r>
          </a:p>
          <a:p>
            <a:r>
              <a:t> (a) da Taxa de Administração; (b) da Taxa de Gestão; e</a:t>
            </a:r>
          </a:p>
          <a:p>
            <a:r>
              <a:t> (c) da remuneração do Agente de Cobrança e da  remuneração do Agente de Recebimento, bem como os  demais custos de cobrança dos Direitos Creditórios para  Cobrança Extraordinária, todos custos deste item (ii)  considerados como percentuais anuais do Valor  Agregado dos Direitos Creditórios, observado que o  custo total previsto neste item (ii) será, para fins deste  cálculo, no mínimo igual a 1,00% (um por cento) ao ano  sobre o Valor Agregado dos Direitos Creditórios; (iii) a  Taxa DI; e (iv) a média ponderada entre os spreads que  compõem os Benchmark Sênior e Benchmark Mezanino  (conforme previstos em cada Apêndice).</a:t>
            </a:r>
          </a:p>
          <a:p>
            <a:r>
              <a:t> O Índice de Juros Excedente será calculado e  disponibilizado pelo Gestor por meio dos Relatórios de  Acompanhamento.</a:t>
            </a:r>
          </a:p>
          <a:p>
            <a:r>
              <a:t> "Índice Financeiro Amortização significa, em relação à MeLi, o seguinte índice  Acelerada" financeiro:</a:t>
            </a:r>
          </a:p>
          <a:p>
            <a:r>
              <a:t> Liquidez Consolidada: verificação de que a Liquidez  Consolidada é maior que US$400.000.000,00  (quatrocentos milhões de dólares norte-americanos).</a:t>
            </a:r>
          </a:p>
          <a:p>
            <a:r>
              <a:t> O Índice Financeiro Amortização Acelerada será  calculado pelo Mercado Pago, com base nas  demonstrações financeiras auditadas ou informações  financeiras trimestrais da MeLi, e encaminhado ao  btgpactual.com</a:t>
            </a:r>
          </a:p>
          <a:p>
            <a:r>
              <a:t>CNPJ 41970012000126 · Cobrança e servicing · Condição: Documentos atuais selecionados no inventário por categoria/escopo; a data documental isolada não comprova vigência jurídica.</a:t>
            </a:r>
          </a:p>
          <a:p>
            <a:r>
              <a:t>CNPJ 41970012000126 · Cobrança e servicing · Versão e prevalência: Documentos atuais selecionados no inventário por categoria/escopo; a data documental isolada não comprova vigência jurídica.</a:t>
            </a:r>
          </a:p>
          <a:p>
            <a:r>
              <a:t>CNPJ 41970012000126 · Cobrança e servicing · Resumo do histórico: {"count": 9, "dates": ["2025-05-19", "2025-12-19", "2025-12-31"], "document_count": 3, "sources": [{"document_id": "1151156", "title": "Demonstrações Financeiras", "reference_date": "2025-12-31", "version": "1", "page": 25, "url": "https://fnet.bmfbovespa.com.br/fnet/publico/visualizarDocumento?id=1151156", "sha256": "04099e318871fbf25478d1ed88b19c4c6c6af84d9811507e8df48f7d824c6ec8"}, {"document_id": "1077333", "title": "AGE", "reference_date": "2025-12-19", "version": "1", "page": 45, "clause": "5.1.5", "url": "https://fnet.bmfbovespa.com.br/fnet/publico/visualizarDocumento?id=1077333", "sha256": "a9a25c5f8a0c493373a2157221109466cbc86e5f44f623997bba18ca14892751"}, {"document_id": "909705", "title": "AGE", "reference_date": "2025-05-19", "version": "1", "page": 1, "url": "https://fnet.bmfbovespa.com.br/fnet/publico/visualizarDocumento?id=909705", "sha256": "df2d11536980e792e2d163e3c5626c8522cad30889865c268c49d851af4b7970"}], "reference": {"path": "history/41970012000126.json", "criterion_id": "servicing", "total_count": 9, "preview_count": 3, "full_text_deferred": true, "sha256": "229578c6b833b0633051fe7d357f4fcc74589dcf37d7750032517e03ec89ee60"}}</a:t>
            </a:r>
          </a:p>
          <a:p>
            <a:r>
              <a:t>CNPJ 41970012000126 · Conta de arrecadação e risco de trânsito · Motivo: Não localizada uma cláusula material para este critério nos textos identificados e processados. A ausência de resultado não comprova inexistência da regra.</a:t>
            </a:r>
          </a:p>
          <a:p>
            <a:r>
              <a:t>CNPJ 41970012000126 · Verificação de lastro e amostragem · Regulamento · ID 1302706 · 2026-08-27 · versão 1 · p. 31 · https://fnet.bmfbovespa.com.br/fnet/publico/visualizarDocumento?id=1302706</a:t>
            </a:r>
          </a:p>
          <a:p>
            <a:r>
              <a:t>CNPJ 41970012000126 · Verificação de lastro e amostragem · Excerto da fonte:</a:t>
            </a:r>
          </a:p>
          <a:p>
            <a:r>
              <a:t>"Política de Originação e significa a política de originação e concessão de crédito  Concessão de Crédito" adotada pela Instituição Financeira MeLi e pelo Mercado  Pago, prevista no COMPLEMENTO III deste  Regulamento.</a:t>
            </a:r>
          </a:p>
          <a:p>
            <a:r>
              <a:t> "Política de Seleção e significa a política de seleção de Direitos Creditórios por  Verificação de Lastro" amostragem e verificação de lastro prevista no  COMPLEMENTO V deste Regulamento.</a:t>
            </a:r>
          </a:p>
          <a:p>
            <a:r>
              <a:t> "Preço de Aquisição" significa o preço devido pelo Fundo em razão da  aquisição dos Direitos Creditórios, devido em moeda  corrente nacional e nos termos do respectivo Termo de  Endosso.</a:t>
            </a:r>
          </a:p>
          <a:p>
            <a:r>
              <a:t> "Prestadores de Serviço de tem o significado a ele atribuído no COMPLEMENTO  Cobrança" IV.</a:t>
            </a:r>
          </a:p>
          <a:p>
            <a:r>
              <a:t> "Primeira Emissão" significa a primeira Emissão da primeira Série de Cotas  Seniores pelo Fundo, composta por 1.200.000 (um  milhão e duzentas mil) Cotas Seniores, que totalizarão  até R$1.200.000.000,00 (um bilhão e duzentos milhões  de reais), considerando o Valor Nominal Unitário de  Emissão.</a:t>
            </a:r>
          </a:p>
          <a:p>
            <a:r>
              <a:t> "Razão de Subordinação significa a razão entre: (i) a soma do valor das Cotas  Mezanino A" Subordinadas Mezanino B em Circulação, do valor das  Cotas Subordinadas Mezanino C em Circulação e do valor  das Cotas Subordinadas Júnior em Circulação; e (ii) o  Patrimônio Líquido do Fundo ambos calculados em uma  mesma data, equivalente a 20% (vinte por cento).</a:t>
            </a:r>
          </a:p>
          <a:p>
            <a:r>
              <a:t> Caso seja caracterizado um Evento de Step-Down, a  Razão de Subordinação Mezanino A será  automaticamente majorada em percentual suficiente para  equivaler ao Valor de Redução Evento de Step-Down  Nível 1 ou Valor de Redução Evento de Step-Down Nível  2, de forma não cumulativa. Por exemplo: caso haja  Evento de Step-Down Nível 1, nos termos do item (i) da  definição de Evento de Step-Down Nível 1, a Razão de  Subordinação Mezanino A será automaticamente  majorada em 5 (cinco) pontos percentuais, assim  permanecendo enquanto remanescer o Evento de Step-  Down Nível 1.</a:t>
            </a:r>
          </a:p>
          <a:p>
            <a:r>
              <a:t> A Razão de Subordinação Mezanino A será calculada  diariamente pelo Gestor e disponibilizada em cada Data  de Envio do Relatório de Acompanhamento, por meio do  respectivo Relatório de Acompanhamento, sendo certo  que, em caso de desenquadramento da Razão de  Subordinação Mezanino A, o Administrador deverá  comunicar imediatamente tal fato aos Cotistas, após  notificação do Gestor nesse sentido.</a:t>
            </a:r>
          </a:p>
          <a:p>
            <a:r>
              <a:t> "Razão de Subordinação significa a razão entre: (i) a soma do valor das Cotas  Mezanino B" Subordinadas Mezanino C em Circulação e das Cotas  Subordinadas Júnior em Circulação; e (ii) o Patrimônio  btgpactual.com</a:t>
            </a:r>
          </a:p>
          <a:p>
            <a:r>
              <a:t>CNPJ 41970012000126 · Verificação de lastro e amostragem · Regulamento · ID 1302706 · 2026-08-27 · versão 1 · p. 113 · https://fnet.bmfbovespa.com.br/fnet/publico/visualizarDocumento?id=1302706</a:t>
            </a:r>
          </a:p>
          <a:p>
            <a:r>
              <a:t>CNPJ 41970012000126 · Verificação de lastro e amostragem · Excerto da fonte:</a:t>
            </a:r>
          </a:p>
          <a:p>
            <a:r>
              <a:t>(iii) Documentos Comprobatórios e Documentos Complementares. O Custodiante é o responsável  legal pela guarda dos Documentos Comprobatórios e, se for o caso, dos Documentos  Complementares dos Direitos Creditórios Adquiridos. O Custodiante, diretamente ou por meio  de terceiro contratado, realizará auditoria periódica, por amostragem, nos Documentos  Comprobatórios dos Direitos Creditórios Adquiridos para verificar a sua regularidade. Uma vez  que essa auditoria é realizada por amostragem e após o endosso dos Direitos Creditórios ao  Fundo, a Carteira do Fundo poderá conter Direitos Creditórios Adquiridos cujos Documentos  Comprobatórios apresentam irregularidades que poderão dificultar e/ou inviabilizar o pleno  exercício, pelo Fundo, das prerrogativas decorrentes da titularidade dos Direitos Creditórios  Adquiridos. Referidas irregularidades poderão resultar na inexistência, invalidade,  inexequibilidade e/ou ineficácia dos Direitos Creditórios Adquiridos e causar perdas ao Fundo.</a:t>
            </a:r>
          </a:p>
          <a:p>
            <a:r>
              <a:t> Como os Documentos Complementares somente serão entregues pelo respectivo Endossante,  mediante solicitação neste sentido pelo Custodiante, pode haver descumprimento na obrigação  do Endossante e pode haver irregularidade nos Documentos Complementares, podendo  dificultar sua cobrança e trazer prejuízos ao Fundo. Determinados Documentos  Complementares poderão ser disponibilizados ao Custodiante apenas mediante solicitação,  especialmente em hipóteses relacionadas à verificação do lastro ou continuidade  dos procedimentos de cobrança em caso de substituição do Agente de Cobrança e/ou do Agente  de Recebimento. Eventual atraso, limitação ou indisponibilidade na disponibilização de tais  documentos poderá dificultar a adoção de determinados procedimentos de cobrança ou  execução dos Direitos Creditórios Adquiridos, podendo impactar negativamente o Fundo.</a:t>
            </a:r>
          </a:p>
          <a:p>
            <a:r>
              <a:t>CNPJ 41970012000126 · Verificação de lastro e amostragem · Regulamento · ID 1302706 · 2026-08-27 · versão 1 · p. 44 · 5.2.4 · https://fnet.bmfbovespa.com.br/fnet/publico/visualizarDocumento?id=1302706</a:t>
            </a:r>
          </a:p>
          <a:p>
            <a:r>
              <a:t>CNPJ 41970012000126 · Verificação de lastro e amostragem · Excerto da fonte:</a:t>
            </a:r>
          </a:p>
          <a:p>
            <a:r>
              <a:t>5.2.4. Além de atender aos Critérios de Elegibilidade, todos e quaisquer Direitos Creditórios a serem  adquiridos pelo Fundo deverão atender, na respectiva Data de Oferta de Direitos Creditórios, às seguintes  Condições de Cessão, cumulativamente (em conjunto, as "Condições de Cessão"):</a:t>
            </a:r>
          </a:p>
          <a:p>
            <a:r>
              <a:t>(i) os Direitos Creditórios tenham sido originados, incluindo em relação à taxa de juros estabelecida  (apenas em relação aos Direitos Creditórios), pelo respectivo Endossante no curso ordinário de  seus negócios e dos negócios do Mercado Pago, em observância à política de concessão de  crédito do Mercado Pago vigente à época;</a:t>
            </a:r>
          </a:p>
          <a:p>
            <a:r>
              <a:t>(ii) os Direitos Creditórios estejam livres e desembaraçados de quaisquer ônus ou gravames;</a:t>
            </a:r>
          </a:p>
          <a:p>
            <a:r>
              <a:t>(iii) os Direitos Creditórios ofertados não tenham sido selecionados para venda ao Fundo de maneira  prejudicial ao Fundo e/ou aos Cotistas Seniores, no melhor conhecimento do respectivo  Endossante e/ou do Mercado Pago;</a:t>
            </a:r>
          </a:p>
          <a:p>
            <a:r>
              <a:t>(iv) os Direitos Creditórios representem obrigações legais e válidas de cada Devedor, exequíveis  contra o respectivo Devedor de acordo com seus termos, ressalvadas regras gerais de  insolvência, conforme aplicáveis;</a:t>
            </a:r>
          </a:p>
          <a:p>
            <a:r>
              <a:t>(v) os Devedores não sejam Partes Relacionadas dos Endossantes e/ou da MeLi, sendo permitido,  no entanto, Devedores que sejam funcionários do respectivo Endossante, da MeLi e/ou de suas  Partes Relacionadas;</a:t>
            </a:r>
          </a:p>
          <a:p>
            <a:r>
              <a:t>(vi) os Devedores não sejam Partes Relacionadas de uma entidade governamental, sendo permitido,  no entanto, Devedores que sejam funcionários de tal entidade;</a:t>
            </a:r>
          </a:p>
          <a:p>
            <a:r>
              <a:t>(vii) no melhor conhecimento do Mercado Pago, o respectivo Devedor não tenha questionado a  existência, validade ou exequibilidade da CCB ou dos instrumentos de garantia, e não tenha  oposto nenhuma exceção ao respectivo Endossante, sendo certo que questionamentos realizados  no âmbito da Plataforma Mercado Pago e/ou Plataforma Mercado Libre não serão considerados  para fins da verificação do atendimento a este item;</a:t>
            </a:r>
          </a:p>
          <a:p>
            <a:r>
              <a:t>(viii) os Direitos Creditórios e respectivos Documentos Comprobatórios não tenham sido novados,  aditados ou modificados de qualquer forma, exceto por quaisquer alterações acordadas de boa-  fé entre o Mercado Pago e o Gestor e aprovadas pelos Cotistas Seniores reunidos em Assembleia  Geral de Cotistas anteriormente à aquisição do respectivo Direito Creditório pelo Fundo;</a:t>
            </a:r>
          </a:p>
          <a:p>
            <a:r>
              <a:t>CNPJ 41970012000126 · Verificação de lastro e amostragem · Condição: Documentos atuais selecionados no inventário por categoria/escopo; a data documental isolada não comprova vigência jurídica.</a:t>
            </a:r>
          </a:p>
          <a:p>
            <a:r>
              <a:t>CNPJ 41970012000126 · Verificação de lastro e amostragem · Motivo: Cláusula primária localizada e citada, mas sua lista/condições extensas não admitem uma síntese literal curta confirmada. O trecho integral permanece nas fontes.</a:t>
            </a:r>
          </a:p>
          <a:p>
            <a:r>
              <a:t>CNPJ 41970012000126 · Verificação de lastro e amostragem · Versão e prevalência: Documentos atuais selecionados no inventário por categoria/escopo; a data documental isolada não comprova vigência jurídica.</a:t>
            </a:r>
          </a:p>
          <a:p>
            <a:r>
              <a:t>CNPJ 41970012000126 · Verificação de lastro e amostragem · Resumo do histórico: {"count": 9, "dates": ["2025-12-19", "2025-12-31"], "document_count": 3, "sources": [{"document_id": "1151156", "title": "Demonstrações Financeiras", "reference_date": "2025-12-31", "version": "1", "page": 27, "url": "https://fnet.bmfbovespa.com.br/fnet/publico/visualizarDocumento?id=1151156", "sha256": "04099e318871fbf25478d1ed88b19c4c6c6af84d9811507e8df48f7d824c6ec8"}, {"document_id": "1077333", "title": "AGE", "reference_date": "2025-12-19", "version": "1", "page": 53, "clause": "5.3.3.2", "url": "https://fnet.bmfbovespa.com.br/fnet/publico/visualizarDocumento?id=1077333", "sha256": "a9a25c5f8a0c493373a2157221109466cbc86e5f44f623997bba18ca14892751"}, {"document_id": "1077334", "title": "Regulamento", "reference_date": "2025-12-19", "version": "1", "page": 53, "clause": "5.3.3.2", "url": "https://fnet.bmfbovespa.com.br/fnet/publico/visualizarDocumento?id=1077334", "sha256": "a9a25c5f8a0c493373a2157221109466cbc86e5f44f623997bba18ca14892751"}], "reference": {"path": "history/41970012000126.json", "criterion_id": "collateral_check", "total_count": 9, "preview_count": 3, "full_text_deferred": true, "sha256": "229578c6b833b0633051fe7d357f4fcc74589dcf37d7750032517e03ec89ee60"}}</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PLGN Marketplace · vínculo CNPJ 41970012000126 · Hedge e prestadores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Vínculo: PLGN Marketplace · CNPJ 55563624000109 → CNPJ 41970012000126 · Regulamento · ID 1192614 · 30/04/2026 · versão Regulamento30/04/2026 · p. 11 · AnexoI4.1</a:t>
            </a:r>
          </a:p>
          <a:p>
            <a:r>
              <a:t>Condição do vínculo: {"cnpj": "41970012000126", "name": "Mercado Crédito II Brasil FIDC", "relationship": "named_investee", "exposure": "mezzanine", "position_status": "mandate_identified_position_not_quantified", "risk_note": "Mandato e classe exatos; comparar regras eIMEdo investido na competência doFIC, sem dupla contagem dePL."}</a:t>
            </a:r>
          </a:p>
          <a:p>
            <a:r>
              <a:t>CNPJ 41970012000126 · Finalidade elimites dederivativos · Regulamento · ID 1302706 · 27/08/2026 · versão Regulamento27/08/2026 · p. 43 · 5.1.10–5.1.12 · https://fnet.bmfbovespa.com.br/fnet/publico/visualizarDocumento?id=1302706</a:t>
            </a:r>
          </a:p>
          <a:p>
            <a:r>
              <a:t>CNPJ 41970012000126 · Finalidade elimites dederivativos · Excerto da fonte:</a:t>
            </a:r>
          </a:p>
          <a:p>
            <a:r>
              <a:t>5.1.10. O Fundo não poderá realizar operações de day trade, assim consideradas aquelas iniciadas e encerradas no mesmo dia. 5.1.11. O Fundo não poderá contratar, em nenhuma hipótese, operações de derivativos. 5.1.12. O Fundo não pode adquirir Direitos Creditórios e/ou Ativos Financeiros no exterior. 5.1.13. O Fundo não poderá contratar operações para aquisição de Direitos Creditórios com empresas Partes Relacionadas do Administrador, do Gestor, do Custodiante e/ou do consultor especializado, se houver. 5.1.14. O Fundo poderá realizar aplicações que coloquem em risco parte ou a totalidade de seu p</a:t>
            </a:r>
          </a:p>
          <a:p>
            <a:r>
              <a:t>CNPJ 41970012000126 · Finalidade elimites dederivativos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41970012000126 · Finalidade elimites dederivativos · Versão e prevalência: Leitura específica das cláusulas indicadas; condições e conflitos preservados. Seleção documental atual não comprova vigência jurídica por data isolada.</a:t>
            </a:r>
          </a:p>
          <a:p>
            <a:r>
              <a:t>CNPJ 41970012000126 · Finalidade elimites dederivativos · Resumo do histórico: {"count": 1, "dates": ["2026-08-27"], "document_count": 1, "sources": [{"document_id": "1302706", "title": "Regulamento", "reference_date": "2026-08-27", "version": "1", "page": "43", "url": "https://fnet.bmfbovespa.com.br/fnet/publico/visualizarDocumento?id=1302706", "sha256": "b113727bc2bc3b1a6b0d18f02bf2143068fd912df2d83cbb91ab44fcb30a3379"}], "reference": {"path": "history/41970012000126.json", "criterion_id": "hedge", "total_count": 1, "preview_count": 1, "full_text_deferred": true, "sha256": "229578c6b833b0633051fe7d357f4fcc74589dcf37d7750032517e03ec89ee60"}}</a:t>
            </a:r>
          </a:p>
          <a:p>
            <a:r>
              <a:t>CNPJ 41970012000126 · Prioridade do hedge e reserva de MTM · Motivo: Não localizada uma cláusula material para este critério nos textos identificados e processados. A ausência de resultado não comprova inexistência da regra.</a:t>
            </a:r>
          </a:p>
          <a:p>
            <a:r>
              <a:t>CNPJ 41970012000126 · Administrador, gestor e custodiante · Regulamento · ID 1302706 · 27/08/2026 · versão 1 · p. 4 · Definição Administrador · https://fnet.bmfbovespa.com.br/fnet/publico/visualizarDocumento?id=1302706</a:t>
            </a:r>
          </a:p>
          <a:p>
            <a:r>
              <a:t>CNPJ 41970012000126 · Administrador, gestor e custodiante · Excerto da fonte:</a:t>
            </a:r>
          </a:p>
          <a:p>
            <a:r>
              <a:t>"Administrador" significa o BTG PACTUAL SERVIÇOS FINANCEIROS S.A. DISTRIBUIDORA DE TÍTULOS E VALORES MOBILIÁRIOS, instituição com sede no Município do Rio de Janeiro, Estado do Rio de Janeiro, na Praia de Botafogo, nº 501, Torre Corcovado, 5º andar – parte, inscrita no CNPJ/MF sob o nº 59.281.253/0001- 23, autorizada a funcionar pelo Banco Central do Brasil e autorizada pela CVM para a atividade de administração de carteiras de valores mobiliários, de acordo com o Ato Declaratório nº 8.695, de 20 de março de 2006, ou seu sucessor a qualquer título.</a:t>
            </a:r>
          </a:p>
          <a:p>
            <a:r>
              <a:t>CNPJ 41970012000126 · Administrador, gestor e custodiante · Regulamento · ID 1302706 · 27/08/2026 · versão 1 · p. 23 · Definição Gestor · https://fnet.bmfbovespa.com.br/fnet/publico/visualizarDocumento?id=1302706</a:t>
            </a:r>
          </a:p>
          <a:p>
            <a:r>
              <a:t>CNPJ 41970012000126 · Administrador, gestor e custodiante · Excerto da fonte:</a:t>
            </a:r>
          </a:p>
          <a:p>
            <a:r>
              <a:t>"Gestor" significa a POLÍGONO CAPITAL LTDA., sociedade de responsabilidade limitada, com sede no município de São Paulo, estado de São Paulo, na Avenida Brigadeiro Faria Lima, n° 2601, 12º andar, Jardim Paulistano, CEP 01.452-000, inscrita no CNPJ/MF sob nº 43.241.789/0001-85, autorizada à prestação do serviço de gestão de carteiras de valores mobiliários pela CVM, de acordo com o Ato Declaratório CVM nº 19.368, expedido em 07 de dezembro de 2021.</a:t>
            </a:r>
          </a:p>
          <a:p>
            <a:r>
              <a:t>CNPJ 41970012000126 · Administrador, gestor e custodiante · Regulamento · ID 1302706 · 27/08/2026 · versão 1 · p. 15 · Definição Custodiante · https://fnet.bmfbovespa.com.br/fnet/publico/visualizarDocumento?id=1302706</a:t>
            </a:r>
          </a:p>
          <a:p>
            <a:r>
              <a:t>CNPJ 41970012000126 · Administrador, gestor e custodiante · Excerto da fonte:</a:t>
            </a:r>
          </a:p>
          <a:p>
            <a:r>
              <a:t>"Custodiante" significa o BANCO BTG PACTUAL S.A., instituição financeira, com sede no município e estado do Rio de Janeiro, na Praia de Botafogo, nº 501, Torre Corcovado, 5º andar (parte), Torre Corcovado, Botafogo, CEP 22.250-911, inscrita no CNPJ/MF sob o nº 30.306.294/0001-45 e credenciado como custodiante, de acordo com o Ato Declaratório nº 7.204, de 25 de abril de 2003.</a:t>
            </a:r>
          </a:p>
          <a:p>
            <a:r>
              <a:t>CNPJ 41970012000126 · Administrador, gestor e custodiante · Versão e prevalência: Leitura específica das cláusulas indicadas; condições e conflitos preservados. Seleção documental atual não comprova vigência jurídica por data isolada.</a:t>
            </a:r>
          </a:p>
          <a:p>
            <a:r>
              <a:t>CNPJ 41970012000126 · Administrador, gestor e custodiante · Resumo do histórico: {"count": 12, "dates": ["2025-12-31", "2026-05-11", "2026-08-24"], "document_count": 3, "sources": [{"document_id": "1300110", "title": "Fato Relevante", "reference_date": "2026-08-24", "version": "1", "page": 1, "url": "https://fnet.bmfbovespa.com.br/fnet/publico/visualizarDocumento?id=1300110", "sha256": "982dd137d6a96b7e0e1f24730a2959e2196a43d13ea7f651c29e962a1c816b5c"}, {"document_id": "1198631", "title": "Outros Comunicados Não Considerados Fatos Relevantes", "reference_date": "2026-05-11", "version": "1", "page": 1, "url": "https://fnet.bmfbovespa.com.br/fnet/publico/visualizarDocumento?id=1198631", "sha256": "ae206e31f65a5d1620b79252fc79b3ce7f246a9321852cd336ae356d62cf4579"}, {"document_id": "1151156", "title": "Demonstrações Financeiras", "reference_date": "2025-12-31", "version": "1", "page": 12, "url": "https://fnet.bmfbovespa.com.br/fnet/publico/visualizarDocumento?id=1151156", "sha256": "04099e318871fbf25478d1ed88b19c4c6c6af84d9811507e8df48f7d824c6ec8"}], "reference": {"path": "history/41970012000126.json", "criterion_id": "providers", "total_count": 12, "preview_count": 3, "full_text_deferred": true, "sha256": "229578c6b833b0633051fe7d357f4fcc74589dcf37d7750032517e03ec89ee60"}}</a:t>
            </a:r>
          </a:p>
          <a:p>
            <a:r>
              <a:t>CNPJ 41970012000126 · Substituição de prestadores · Regulamento · ID 1302706 · 2026-08-27 · versão 1 · p. 96 · 17.3 · https://fnet.bmfbovespa.com.br/fnet/publico/visualizarDocumento?id=1302706</a:t>
            </a:r>
          </a:p>
          <a:p>
            <a:r>
              <a:t>CNPJ 41970012000126 · Substituição de prestadores · Excerto da fonte:</a:t>
            </a:r>
          </a:p>
          <a:p>
            <a:r>
              <a:t>17.3. Nas hipóteses de descredenciamento ou renúncia, fica o Administrador obrigado a convocar  imediatamente a Assembleia Geral de Cotistas para eleger um substituto, a se realizar no prazo de até 15</a:t>
            </a:r>
          </a:p>
          <a:p>
            <a:r>
              <a:t> (quinze) dias, sendo facultada a convocação da Assembleia Geral de Cotistas por Cotistas que detenham  Cotas representativas de ao menos 5% (cinco por cento) do Patrimônio Líquido do Fundo.</a:t>
            </a:r>
          </a:p>
          <a:p>
            <a:r>
              <a:t>CNPJ 41970012000126 · Substituição de prestadores · Regulamento · ID 1302706 · 2026-08-27 · versão 1 · p. 101 · 19.2.1 · https://fnet.bmfbovespa.com.br/fnet/publico/visualizarDocumento?id=1302706</a:t>
            </a:r>
          </a:p>
          <a:p>
            <a:r>
              <a:t>CNPJ 41970012000126 · Substituição de prestadores · Excerto da fonte:</a:t>
            </a:r>
          </a:p>
          <a:p>
            <a:r>
              <a:t>19.2.1. Os parâmetros para pagamento da Taxa de Gestão previstos no item 19.2 acima são válidos  enquanto o Mercado Crédito Fundo de Investimento em Direitos Creditórios Não Padronizado estiver sob  gestão do Gestor, sendo que, caso ocorra a sua renúncia ou substituição, o Gestor e o Administrador  alterarão o presente Regulamento para prever os novos parâmetros a serem adotados, desde que respeitado  o valor máximo da Taxa de Gestão equivalente a 0,20% (vinte centésimos por cento) ao ano sobre o  Patrimônio Líquido do Fundo.</a:t>
            </a:r>
          </a:p>
          <a:p>
            <a:r>
              <a:t>CNPJ 41970012000126 · Substituição de prestadores · Regulamento · ID 1302706 · 2026-08-27 · versão 1 · p. 64 · https://fnet.bmfbovespa.com.br/fnet/publico/visualizarDocumento?id=1302706</a:t>
            </a:r>
          </a:p>
          <a:p>
            <a:r>
              <a:t>CNPJ 41970012000126 · Substituição de prestadores · Excerto da fonte:</a:t>
            </a:r>
          </a:p>
          <a:p>
            <a:r>
              <a:t>maior que 2 (duas) vezes o 2 (duas) vezes o valor  valor das taxas originais em das taxas originais em  vigor, a maioria de cada vigor, a maioria de cada  Subclasse de Cotas. Subclasse de Cotas  presentes à AGC.</a:t>
            </a:r>
          </a:p>
          <a:p>
            <a:r>
              <a:t> Para fins de clareza, se o  aumento das taxas resultar da Para fins de clareza, se  substituição do Gestor e/ou o aumento das taxas  do Administrador, caso as resultar da substituição  Cotas Subordinadas do Gestor e/ou do  Mezanino sejam detidas pelo Administrador, caso as  Gestor e/ou pelo Cotas Subordinadas  Administrador ou por Mezanino sejam detidas  veículos de investimento pelo Gestor e/ou pelo  geridos pelo Gestor e/ou pelo Administrador ou por  Administrador, conforme o veículos de  caso, estes somente poderão investimento geridos  votar caso não estejam em pelo Gestor e/ou pelo  posição de conflito de Administrador,  interesses. conforme o caso, estes  somente poderão votar  caso não estejam em  posição de conflito de  interesses.</a:t>
            </a:r>
          </a:p>
          <a:p>
            <a:r>
              <a:t> (v) deliberar sobre a fusão, Antes da ocorrência de um Antes da ocorrência de  incorporação, transformação ou Evento de Liquidação, a um Evento de  cisão do Fundo maioria de cada Subclasse de Liquidação, a maioria  Cotas. de cada Subclasse de  Cotas presente à AGC.</a:t>
            </a:r>
          </a:p>
          <a:p>
            <a:r>
              <a:t> Após a ocorrência de um  Evento de Liquidação, a Após a ocorrência de  maioria de Cotas Seniores e um Evento de  maioria de Cotas Liquidação, a maioria  Subordinadas Mezanino. de Cotas Seniores e  maioria de Cotas  Subordinadas  Mezanino presentes à  AGC.</a:t>
            </a:r>
          </a:p>
          <a:p>
            <a:r>
              <a:t> (vi) deliberar sobre as seguintes  matérias referentes ao  Regulamento:</a:t>
            </a:r>
          </a:p>
          <a:p>
            <a:r>
              <a:t> (vi)a à renúncia ou alteração a quaisquer Em relação à renúncia, Em relação à renúncia,  Critérios de Elegibilidade, maioria de Cotas Seniores e maioria de Cotas  Condições de Cessão ou Índices de maioria de Cotas Seniores e maioria de  Gerenciamento descritos no Subordinadas Mezanino. Cotas Subordinadas  Complemento VI a este Mezanino presentes à  Regulamento Em relação à alteração, AGC.</a:t>
            </a:r>
          </a:p>
          <a:p>
            <a:r>
              <a:t> maioria de cada Subclasse de  Cotas. Em relação à alteração,  maioria de cada  Subclasse de Cotas  presentes à AGC.</a:t>
            </a:r>
          </a:p>
          <a:p>
            <a:r>
              <a:t> (vi)b à alteração da Senioridade Maioria de Cotas Seniores e Maioria de Cotas  Máxima, forma de cálculo e maioria de Cotas Seniores e maioria de  periodicidade de apuração Subordinadas Júnior. Cotas Subordinadas  Júnior presentes à  AGC.</a:t>
            </a:r>
          </a:p>
          <a:p>
            <a:r>
              <a:t> (vi)c à alteração da Data Limite de Maioria de Cotas Seniores e Maioria de Cotas  Investimento em Direitos maioria de Cotas Seniores e maioria de  Creditórios Subordinadas Júnior. Cotas Subordinadas  Júnior presentes à  AGC.</a:t>
            </a:r>
          </a:p>
          <a:p>
            <a:r>
              <a:t> btgpactual.com</a:t>
            </a:r>
          </a:p>
          <a:p>
            <a:r>
              <a:t>CNPJ 41970012000126 · Substituição de prestadores · Condição: Documentos atuais selecionados no inventário por categoria/escopo; a data documental isolada não comprova vigência jurídica.</a:t>
            </a:r>
          </a:p>
          <a:p>
            <a:r>
              <a:t>CNPJ 41970012000126 · Substituição de prestadores · Versão e prevalência: Documentos atuais selecionados no inventário por categoria/escopo; a data documental isolada não comprova vigência jurídica.</a:t>
            </a:r>
          </a:p>
          <a:p>
            <a:r>
              <a:t>CNPJ 41970012000126 · Substituição de prestadores · Resumo do histórico: {"count": 10, "dates": ["2025-05-19", "2025-12-19"], "document_count": 3, "sources": [{"document_id": "1077333", "title": "AGE", "reference_date": "2025-12-19", "version": "1", "page": 116, "clause": "17.3", "url": "https://fnet.bmfbovespa.com.br/fnet/publico/visualizarDocumento?id=1077333", "sha256": "a9a25c5f8a0c493373a2157221109466cbc86e5f44f623997bba18ca14892751"}, {"document_id": "1077334", "title": "Regulamento", "reference_date": "2025-12-19", "version": "1", "page": 116, "clause": "17.3", "url": "https://fnet.bmfbovespa.com.br/fnet/publico/visualizarDocumento?id=1077334", "sha256": "a9a25c5f8a0c493373a2157221109466cbc86e5f44f623997bba18ca14892751"}, {"document_id": "909707", "title": "Regulamento", "reference_date": "2025-05-19", "version": "1", "page": 120, "clause": "19.2.1", "url": "https://fnet.bmfbovespa.com.br/fnet/publico/visualizarDocumento?id=909707", "sha256": "cfa949e3b02c8900c5d0e5f82225a19dc627218a4e4f2e969681a09335c55224"}], "reference": {"path": "history/41970012000126.json", "criterion_id": "replacement", "total_count": 10, "preview_count": 3, "full_text_deferred": true, "sha256": "229578c6b833b0633051fe7d357f4fcc74589dcf37d7750032517e03ec89ee60"}}</a:t>
            </a:r>
          </a:p>
          <a:p>
            <a:r>
              <a:t>CNPJ 41970012000126 · Rating por subclasse e downgrade · Regulamento · ID 1302706 · 2026-08-27 · versão 1 · p. 5 · https://fnet.bmfbovespa.com.br/fnet/publico/visualizarDocumento?id=1302706</a:t>
            </a:r>
          </a:p>
          <a:p>
            <a:r>
              <a:t>CNPJ 41970012000126 · Rating por subclasse e downgrade · Excerto da fonte:</a:t>
            </a:r>
          </a:p>
          <a:p>
            <a:r>
              <a:t>Em que:</a:t>
            </a:r>
          </a:p>
          <a:p>
            <a:r>
              <a:t> N = número total de meses remanescentes  n = mês de referência  Cn = fluxo de caixa dos Direitos Creditórios Adquiridos  Adimplentes no mês "n", considerando para esse cálculo  a premissa de perda conforme Matriz de Perda, separados  por tipo de produto e por prazo original, e aplicação do  múltiplo MS  r = taxa interna de retorno mensal, sendo certo que, no  caso dos Direitos Creditórios que sejam Direitos  Creditórios CCB DE, para r será apurado com base em  juros mensais equivalentes a 50% (cinquenta por cento)  da taxa de juros mensal contratada nas respectivas CCBs  Taxa Estressada das Cotas Seniores = em qualquer Data  Base, a soma de (i) 5,00% (cinco por cento); e (ii) o  Benchmark Sênior.</a:t>
            </a:r>
          </a:p>
          <a:p>
            <a:r>
              <a:t> PMP = em qualquer Data Base, o prazo médio ponderado,  em anos, dos Direitos Creditórios Adquiridos  Adimplentes, separados por tipo de produto e por prazo  original, calculado na forma de planilha acordada entre as  partes.</a:t>
            </a:r>
          </a:p>
          <a:p>
            <a:r>
              <a:t> O Advance Rate Ponderado será calculado pelo Gestor  com base no Valor Agregado dos Direitos Creditórios em  cada Data Base.</a:t>
            </a:r>
          </a:p>
          <a:p>
            <a:r>
              <a:t> "Agência Classificadora de significa a agência de classificação de risco autorizada a  Risco" prestar tais serviços junto a CVM que tenha sido  contratada pelo Fundo para avaliação de risco das Cotas,  conforme aplicável, que poderá ser escolhida pelo Gestor  dentre as seguintes empresas: Austin Rating Serviços  Financeiros Ltda., Standard &amp; Poor's Ratings do Brasil  Ltda., Fitch Ratings Brasil Ltda., Moody's América  Latina Ltda. ou Liberum Ratings Serviços Financeiros  Ltda., caso aplicável.</a:t>
            </a:r>
          </a:p>
          <a:p>
            <a:r>
              <a:t> "Agente de Cobrança" significa o Mercado Pago, contratado para prestação dos  serviços de cobrança dos Direitos Creditórios vencidos e  não pagos, nos termos e condições descritos neste  Regulamento e no Contrato de Cobrança.</a:t>
            </a:r>
          </a:p>
          <a:p>
            <a:r>
              <a:t> btgpactual.com</a:t>
            </a:r>
          </a:p>
          <a:p>
            <a:r>
              <a:t>CNPJ 41970012000126 · Rating por subclasse e downgrade · Regulamento · ID 1302706 · 2026-08-27 · versão 1 · p. 57 · 7.29 · https://fnet.bmfbovespa.com.br/fnet/publico/visualizarDocumento?id=1302706</a:t>
            </a:r>
          </a:p>
          <a:p>
            <a:r>
              <a:t>CNPJ 41970012000126 · Rating por subclasse e downgrade · Excerto da fonte:</a:t>
            </a:r>
          </a:p>
          <a:p>
            <a:r>
              <a:t>7.29. As Cotas Seniores e as Cotas Subordinadas Mezanino poderão ser objeto de Classificação de Risco  realizada por Agência de Classificação de Risco. As Cotas Subordinadas Júnior não serão objeto de  Classificação de Risco realizada por Agência Classificadora de Risco.</a:t>
            </a:r>
          </a:p>
          <a:p>
            <a:r>
              <a:t>CNPJ 41970012000126 · Rating por subclasse e downgrade · Regulamento · ID 1302706 · 2026-08-27 · versão 1 · p. 25 · https://fnet.bmfbovespa.com.br/fnet/publico/visualizarDocumento?id=1302706</a:t>
            </a:r>
          </a:p>
          <a:p>
            <a:r>
              <a:t>CNPJ 41970012000126 · Rating por subclasse e downgrade · Excerto da fonte:</a:t>
            </a:r>
          </a:p>
          <a:p>
            <a:r>
              <a:t>Administrador e ao Gestor trimestralmente por meio do  Relatório de Índice Financeiro, nos termos do item 18.15  abaixo, e, após revisão e confirmação do cálculo pelo  Gestor, disponibilizado pelo Gestor no Relatório de  Acompanhamento.</a:t>
            </a:r>
          </a:p>
          <a:p>
            <a:r>
              <a:t> "Índice Financeiro Avaliação" significa, em relação à MeLi, o seguinte índice  financeiro:</a:t>
            </a:r>
          </a:p>
          <a:p>
            <a:r>
              <a:t> Liquidez Consolidada: verificação de que a Liquidez  Consolidada é maior que US$100.000.000,00 (cem  milhões de dólares norte-americanos).</a:t>
            </a:r>
          </a:p>
          <a:p>
            <a:r>
              <a:t> O Índice Financeiro Avaliação será calculado pelo  Mercado Pago, com base nas demonstrações financeiras  auditadas ou informações financeiras trimestrais da  MeLi, e encaminhado ao Administrador e ao Gestor  trimestralmente por meio do Relatório de Índice  Financeiro, nos termos do item 18.15 abaixo, e após  revisão e confirmação do cálculo pelo Gestor,  disponibilizado pelo Gestor no Relatório de  Acompanhamento.</a:t>
            </a:r>
          </a:p>
          <a:p>
            <a:r>
              <a:t> "Índices de Gerenciamento" significa, em cada Data Base, as limitações aplicadas ao  Valor Agregado dos Direitos Creditórios, no que diz  respeito aos Direitos Creditórios Adquiridos  Adimplentes detidos pelo Fundo, e calculadas em forma  de porcentagem considerando a soma do Valor Agregado  dos Direitos Creditórios, conforme previstos no  COMPLEMENTO VI deste Regulamento.</a:t>
            </a:r>
          </a:p>
          <a:p>
            <a:r>
              <a:t> "Instituição Financeira MeLi" significa o MERCADO CRÉDITO SOCIEDADE DE CRÉDITO  FINANCIAMENTO E INVESTIMENTO S.A., instituição  financeira com sede no município de Osasco, estado de  São Paulo, na Avenida das Nações Unidas, nº 3003, parte  G, Bonfim, CEP 06233-903, inscrito no CNPJ/MF sob o  nº 37.679.449/0001-38.</a:t>
            </a:r>
          </a:p>
          <a:p>
            <a:r>
              <a:t> "Instituições Autorizadas" significam qualquer das seguintes instituições  financeiras: (i) Banco Bradesco S.A.; (ii) Banco  Santander (Brasil) S.A.; (iii) Banco do Brasil S.A.; (iv)  Caixa Econômica Federal; (v) Itaú Unibanco S.A.; (vi)  Banco Citibank S.A.; ou (vii) Banco BTG Pactual S.A.,  desde que possua classificação de risco de crédito de  longo prazo, atribuída pela Standard &amp; Poor's Ratings do  Brasil Ltda., Fitch Ratings Brasil Ltda. ou Moody's  América Latina Ltda, no mínimo igual ou superior ao  maior entre (a) a mais elevada Classificação de Risco  atribuída às Cotas Seniores, se houver; e (b) br.AA+.</a:t>
            </a:r>
          </a:p>
          <a:p>
            <a:r>
              <a:t> "Instrução CVM 489" significa a Instrução da CVM nº 489, de 14 de janeiro de  2011, conforme alterada.</a:t>
            </a:r>
          </a:p>
          <a:p>
            <a:r>
              <a:t> "Janela Móvel de Safras" significa, em cada Data Base, o conjunto das 12 (doze)  Safras de Originação mais recentemente originadas cujo  MOB Aplicável se situe entre o MOB6 (inclusive) e o  btgpactual.com</a:t>
            </a:r>
          </a:p>
          <a:p>
            <a:r>
              <a:t>CNPJ 41970012000126 · Rating por subclasse e downgrade · Condição: Documentos atuais selecionados no inventário por categoria/escopo; a data documental isolada não comprova vigência jurídica.</a:t>
            </a:r>
          </a:p>
          <a:p>
            <a:r>
              <a:t>CNPJ 41970012000126 · Rating por subclasse e downgrade · Versão e prevalência: Documentos atuais selecionados no inventário por categoria/escopo; a data documental isolada não comprova vigência jurídica.</a:t>
            </a:r>
          </a:p>
          <a:p>
            <a:r>
              <a:t>CNPJ 41970012000126 · Rating por subclasse e downgrade · Resumo do histórico: {"count": 11, "dates": ["2025-12-19", "2025-12-31"], "document_count": 3, "sources": [{"document_id": "1151156", "title": "Demonstrações Financeiras", "reference_date": "2025-12-31", "version": "1", "page": 39, "url": "https://fnet.bmfbovespa.com.br/fnet/publico/visualizarDocumento?id=1151156", "sha256": "04099e318871fbf25478d1ed88b19c4c6c6af84d9811507e8df48f7d824c6ec8"}, {"document_id": "1077333", "title": "AGE", "reference_date": "2025-12-19", "version": "1", "page": 66, "clause": "7.26", "url": "https://fnet.bmfbovespa.com.br/fnet/publico/visualizarDocumento?id=1077333", "sha256": "a9a25c5f8a0c493373a2157221109466cbc86e5f44f623997bba18ca14892751"}, {"document_id": "1077334", "title": "Regulamento", "reference_date": "2025-12-19", "version": "1", "page": 66, "clause": "7.26", "url": "https://fnet.bmfbovespa.com.br/fnet/publico/visualizarDocumento?id=1077334", "sha256": "a9a25c5f8a0c493373a2157221109466cbc86e5f44f623997bba18ca14892751"}], "reference": {"path": "history/41970012000126.json", "criterion_id": "rating", "total_count": 11, "preview_count": 3, "full_text_deferred": true, "sha256": "229578c6b833b0633051fe7d357f4fcc74589dcf37d7750032517e03ec89ee60"}}</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PLGN Marketplace · vínculo CNPJ 41970012000126 · Hedge e prestadores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Vínculo: PLGN Marketplace · CNPJ 55563624000109 → CNPJ 41970012000126 · Regulamento · ID 1192614 · 30/04/2026 · versão Regulamento30/04/2026 · p. 11 · AnexoI4.1</a:t>
            </a:r>
          </a:p>
          <a:p>
            <a:r>
              <a:t>Condição do vínculo: {"cnpj": "41970012000126", "name": "Mercado Crédito II Brasil FIDC", "relationship": "named_investee", "exposure": "mezzanine", "position_status": "mandate_identified_position_not_quantified", "risk_note": "Mandato e classe exatos; comparar regras eIMEdo investido na competência doFIC, sem dupla contagem dePL."}</a:t>
            </a:r>
          </a:p>
          <a:p>
            <a:r>
              <a:t>CNPJ 41970012000126 · Finalidade elimites dederivativos · Regulamento · ID 1302706 · 27/08/2026 · versão Regulamento27/08/2026 · p. 43 · 5.1.10–5.1.12 · https://fnet.bmfbovespa.com.br/fnet/publico/visualizarDocumento?id=1302706</a:t>
            </a:r>
          </a:p>
          <a:p>
            <a:r>
              <a:t>CNPJ 41970012000126 · Finalidade elimites dederivativos · Excerto da fonte:</a:t>
            </a:r>
          </a:p>
          <a:p>
            <a:r>
              <a:t>5.1.10. O Fundo não poderá realizar operações de day trade, assim consideradas aquelas iniciadas e encerradas no mesmo dia. 5.1.11. O Fundo não poderá contratar, em nenhuma hipótese, operações de derivativos. 5.1.12. O Fundo não pode adquirir Direitos Creditórios e/ou Ativos Financeiros no exterior. 5.1.13. O Fundo não poderá contratar operações para aquisição de Direitos Creditórios com empresas Partes Relacionadas do Administrador, do Gestor, do Custodiante e/ou do consultor especializado, se houver. 5.1.14. O Fundo poderá realizar aplicações que coloquem em risco parte ou a totalidade de seu p</a:t>
            </a:r>
          </a:p>
          <a:p>
            <a:r>
              <a:t>CNPJ 41970012000126 · Finalidade elimites dederivativos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41970012000126 · Finalidade elimites dederivativos · Versão e prevalência: Leitura específica das cláusulas indicadas; condições e conflitos preservados. Seleção documental atual não comprova vigência jurídica por data isolada.</a:t>
            </a:r>
          </a:p>
          <a:p>
            <a:r>
              <a:t>CNPJ 41970012000126 · Finalidade elimites dederivativos · Resumo do histórico: {"count": 1, "dates": ["2026-08-27"], "document_count": 1, "sources": [{"document_id": "1302706", "title": "Regulamento", "reference_date": "2026-08-27", "version": "1", "page": "43", "url": "https://fnet.bmfbovespa.com.br/fnet/publico/visualizarDocumento?id=1302706", "sha256": "b113727bc2bc3b1a6b0d18f02bf2143068fd912df2d83cbb91ab44fcb30a3379"}], "reference": {"path": "history/41970012000126.json", "criterion_id": "hedge", "total_count": 1, "preview_count": 1, "full_text_deferred": true, "sha256": "229578c6b833b0633051fe7d357f4fcc74589dcf37d7750032517e03ec89ee60"}}</a:t>
            </a:r>
          </a:p>
          <a:p>
            <a:r>
              <a:t>CNPJ 41970012000126 · Prioridade do hedge e reserva de MTM · Motivo: Não localizada uma cláusula material para este critério nos textos identificados e processados. A ausência de resultado não comprova inexistência da regra.</a:t>
            </a:r>
          </a:p>
          <a:p>
            <a:r>
              <a:t>CNPJ 41970012000126 · Administrador, gestor e custodiante · Regulamento · ID 1302706 · 27/08/2026 · versão 1 · p. 4 · Definição Administrador · https://fnet.bmfbovespa.com.br/fnet/publico/visualizarDocumento?id=1302706</a:t>
            </a:r>
          </a:p>
          <a:p>
            <a:r>
              <a:t>CNPJ 41970012000126 · Administrador, gestor e custodiante · Excerto da fonte:</a:t>
            </a:r>
          </a:p>
          <a:p>
            <a:r>
              <a:t>"Administrador" significa o BTG PACTUAL SERVIÇOS FINANCEIROS S.A. DISTRIBUIDORA DE TÍTULOS E VALORES MOBILIÁRIOS, instituição com sede no Município do Rio de Janeiro, Estado do Rio de Janeiro, na Praia de Botafogo, nº 501, Torre Corcovado, 5º andar – parte, inscrita no CNPJ/MF sob o nº 59.281.253/0001- 23, autorizada a funcionar pelo Banco Central do Brasil e autorizada pela CVM para a atividade de administração de carteiras de valores mobiliários, de acordo com o Ato Declaratório nº 8.695, de 20 de março de 2006, ou seu sucessor a qualquer título.</a:t>
            </a:r>
          </a:p>
          <a:p>
            <a:r>
              <a:t>CNPJ 41970012000126 · Administrador, gestor e custodiante · Regulamento · ID 1302706 · 27/08/2026 · versão 1 · p. 23 · Definição Gestor · https://fnet.bmfbovespa.com.br/fnet/publico/visualizarDocumento?id=1302706</a:t>
            </a:r>
          </a:p>
          <a:p>
            <a:r>
              <a:t>CNPJ 41970012000126 · Administrador, gestor e custodiante · Excerto da fonte:</a:t>
            </a:r>
          </a:p>
          <a:p>
            <a:r>
              <a:t>"Gestor" significa a POLÍGONO CAPITAL LTDA., sociedade de responsabilidade limitada, com sede no município de São Paulo, estado de São Paulo, na Avenida Brigadeiro Faria Lima, n° 2601, 12º andar, Jardim Paulistano, CEP 01.452-000, inscrita no CNPJ/MF sob nº 43.241.789/0001-85, autorizada à prestação do serviço de gestão de carteiras de valores mobiliários pela CVM, de acordo com o Ato Declaratório CVM nº 19.368, expedido em 07 de dezembro de 2021.</a:t>
            </a:r>
          </a:p>
          <a:p>
            <a:r>
              <a:t>CNPJ 41970012000126 · Administrador, gestor e custodiante · Regulamento · ID 1302706 · 27/08/2026 · versão 1 · p. 15 · Definição Custodiante · https://fnet.bmfbovespa.com.br/fnet/publico/visualizarDocumento?id=1302706</a:t>
            </a:r>
          </a:p>
          <a:p>
            <a:r>
              <a:t>CNPJ 41970012000126 · Administrador, gestor e custodiante · Excerto da fonte:</a:t>
            </a:r>
          </a:p>
          <a:p>
            <a:r>
              <a:t>"Custodiante" significa o BANCO BTG PACTUAL S.A., instituição financeira, com sede no município e estado do Rio de Janeiro, na Praia de Botafogo, nº 501, Torre Corcovado, 5º andar (parte), Torre Corcovado, Botafogo, CEP 22.250-911, inscrita no CNPJ/MF sob o nº 30.306.294/0001-45 e credenciado como custodiante, de acordo com o Ato Declaratório nº 7.204, de 25 de abril de 2003.</a:t>
            </a:r>
          </a:p>
          <a:p>
            <a:r>
              <a:t>CNPJ 41970012000126 · Administrador, gestor e custodiante · Versão e prevalência: Leitura específica das cláusulas indicadas; condições e conflitos preservados. Seleção documental atual não comprova vigência jurídica por data isolada.</a:t>
            </a:r>
          </a:p>
          <a:p>
            <a:r>
              <a:t>CNPJ 41970012000126 · Administrador, gestor e custodiante · Resumo do histórico: {"count": 12, "dates": ["2025-12-31", "2026-05-11", "2026-08-24"], "document_count": 3, "sources": [{"document_id": "1300110", "title": "Fato Relevante", "reference_date": "2026-08-24", "version": "1", "page": 1, "url": "https://fnet.bmfbovespa.com.br/fnet/publico/visualizarDocumento?id=1300110", "sha256": "982dd137d6a96b7e0e1f24730a2959e2196a43d13ea7f651c29e962a1c816b5c"}, {"document_id": "1198631", "title": "Outros Comunicados Não Considerados Fatos Relevantes", "reference_date": "2026-05-11", "version": "1", "page": 1, "url": "https://fnet.bmfbovespa.com.br/fnet/publico/visualizarDocumento?id=1198631", "sha256": "ae206e31f65a5d1620b79252fc79b3ce7f246a9321852cd336ae356d62cf4579"}, {"document_id": "1151156", "title": "Demonstrações Financeiras", "reference_date": "2025-12-31", "version": "1", "page": 12, "url": "https://fnet.bmfbovespa.com.br/fnet/publico/visualizarDocumento?id=1151156", "sha256": "04099e318871fbf25478d1ed88b19c4c6c6af84d9811507e8df48f7d824c6ec8"}], "reference": {"path": "history/41970012000126.json", "criterion_id": "providers", "total_count": 12, "preview_count": 3, "full_text_deferred": true, "sha256": "229578c6b833b0633051fe7d357f4fcc74589dcf37d7750032517e03ec89ee60"}}</a:t>
            </a:r>
          </a:p>
          <a:p>
            <a:r>
              <a:t>CNPJ 41970012000126 · Substituição de prestadores · Regulamento · ID 1302706 · 2026-08-27 · versão 1 · p. 96 · 17.3 · https://fnet.bmfbovespa.com.br/fnet/publico/visualizarDocumento?id=1302706</a:t>
            </a:r>
          </a:p>
          <a:p>
            <a:r>
              <a:t>CNPJ 41970012000126 · Substituição de prestadores · Excerto da fonte:</a:t>
            </a:r>
          </a:p>
          <a:p>
            <a:r>
              <a:t>17.3. Nas hipóteses de descredenciamento ou renúncia, fica o Administrador obrigado a convocar  imediatamente a Assembleia Geral de Cotistas para eleger um substituto, a se realizar no prazo de até 15</a:t>
            </a:r>
          </a:p>
          <a:p>
            <a:r>
              <a:t> (quinze) dias, sendo facultada a convocação da Assembleia Geral de Cotistas por Cotistas que detenham  Cotas representativas de ao menos 5% (cinco por cento) do Patrimônio Líquido do Fundo.</a:t>
            </a:r>
          </a:p>
          <a:p>
            <a:r>
              <a:t>CNPJ 41970012000126 · Substituição de prestadores · Regulamento · ID 1302706 · 2026-08-27 · versão 1 · p. 101 · 19.2.1 · https://fnet.bmfbovespa.com.br/fnet/publico/visualizarDocumento?id=1302706</a:t>
            </a:r>
          </a:p>
          <a:p>
            <a:r>
              <a:t>CNPJ 41970012000126 · Substituição de prestadores · Excerto da fonte:</a:t>
            </a:r>
          </a:p>
          <a:p>
            <a:r>
              <a:t>19.2.1. Os parâmetros para pagamento da Taxa de Gestão previstos no item 19.2 acima são válidos  enquanto o Mercado Crédito Fundo de Investimento em Direitos Creditórios Não Padronizado estiver sob  gestão do Gestor, sendo que, caso ocorra a sua renúncia ou substituição, o Gestor e o Administrador  alterarão o presente Regulamento para prever os novos parâmetros a serem adotados, desde que respeitado  o valor máximo da Taxa de Gestão equivalente a 0,20% (vinte centésimos por cento) ao ano sobre o  Patrimônio Líquido do Fundo.</a:t>
            </a:r>
          </a:p>
          <a:p>
            <a:r>
              <a:t>CNPJ 41970012000126 · Substituição de prestadores · Regulamento · ID 1302706 · 2026-08-27 · versão 1 · p. 64 · https://fnet.bmfbovespa.com.br/fnet/publico/visualizarDocumento?id=1302706</a:t>
            </a:r>
          </a:p>
          <a:p>
            <a:r>
              <a:t>CNPJ 41970012000126 · Substituição de prestadores · Excerto da fonte:</a:t>
            </a:r>
          </a:p>
          <a:p>
            <a:r>
              <a:t>maior que 2 (duas) vezes o 2 (duas) vezes o valor  valor das taxas originais em das taxas originais em  vigor, a maioria de cada vigor, a maioria de cada  Subclasse de Cotas. Subclasse de Cotas  presentes à AGC.</a:t>
            </a:r>
          </a:p>
          <a:p>
            <a:r>
              <a:t> Para fins de clareza, se o  aumento das taxas resultar da Para fins de clareza, se  substituição do Gestor e/ou o aumento das taxas  do Administrador, caso as resultar da substituição  Cotas Subordinadas do Gestor e/ou do  Mezanino sejam detidas pelo Administrador, caso as  Gestor e/ou pelo Cotas Subordinadas  Administrador ou por Mezanino sejam detidas  veículos de investimento pelo Gestor e/ou pelo  geridos pelo Gestor e/ou pelo Administrador ou por  Administrador, conforme o veículos de  caso, estes somente poderão investimento geridos  votar caso não estejam em pelo Gestor e/ou pelo  posição de conflito de Administrador,  interesses. conforme o caso, estes  somente poderão votar  caso não estejam em  posição de conflito de  interesses.</a:t>
            </a:r>
          </a:p>
          <a:p>
            <a:r>
              <a:t> (v) deliberar sobre a fusão, Antes da ocorrência de um Antes da ocorrência de  incorporação, transformação ou Evento de Liquidação, a um Evento de  cisão do Fundo maioria de cada Subclasse de Liquidação, a maioria  Cotas. de cada Subclasse de  Cotas presente à AGC.</a:t>
            </a:r>
          </a:p>
          <a:p>
            <a:r>
              <a:t> Após a ocorrência de um  Evento de Liquidação, a Após a ocorrência de  maioria de Cotas Seniores e um Evento de  maioria de Cotas Liquidação, a maioria  Subordinadas Mezanino. de Cotas Seniores e  maioria de Cotas  Subordinadas  Mezanino presentes à  AGC.</a:t>
            </a:r>
          </a:p>
          <a:p>
            <a:r>
              <a:t> (vi) deliberar sobre as seguintes  matérias referentes ao  Regulamento:</a:t>
            </a:r>
          </a:p>
          <a:p>
            <a:r>
              <a:t> (vi)a à renúncia ou alteração a quaisquer Em relação à renúncia, Em relação à renúncia,  Critérios de Elegibilidade, maioria de Cotas Seniores e maioria de Cotas  Condições de Cessão ou Índices de maioria de Cotas Seniores e maioria de  Gerenciamento descritos no Subordinadas Mezanino. Cotas Subordinadas  Complemento VI a este Mezanino presentes à  Regulamento Em relação à alteração, AGC.</a:t>
            </a:r>
          </a:p>
          <a:p>
            <a:r>
              <a:t> maioria de cada Subclasse de  Cotas. Em relação à alteração,  maioria de cada  Subclasse de Cotas  presentes à AGC.</a:t>
            </a:r>
          </a:p>
          <a:p>
            <a:r>
              <a:t> (vi)b à alteração da Senioridade Maioria de Cotas Seniores e Maioria de Cotas  Máxima, forma de cálculo e maioria de Cotas Seniores e maioria de  periodicidade de apuração Subordinadas Júnior. Cotas Subordinadas  Júnior presentes à  AGC.</a:t>
            </a:r>
          </a:p>
          <a:p>
            <a:r>
              <a:t> (vi)c à alteração da Data Limite de Maioria de Cotas Seniores e Maioria de Cotas  Investimento em Direitos maioria de Cotas Seniores e maioria de  Creditórios Subordinadas Júnior. Cotas Subordinadas  Júnior presentes à  AGC.</a:t>
            </a:r>
          </a:p>
          <a:p>
            <a:r>
              <a:t> btgpactual.com</a:t>
            </a:r>
          </a:p>
          <a:p>
            <a:r>
              <a:t>CNPJ 41970012000126 · Substituição de prestadores · Condição: Documentos atuais selecionados no inventário por categoria/escopo; a data documental isolada não comprova vigência jurídica.</a:t>
            </a:r>
          </a:p>
          <a:p>
            <a:r>
              <a:t>CNPJ 41970012000126 · Substituição de prestadores · Versão e prevalência: Documentos atuais selecionados no inventário por categoria/escopo; a data documental isolada não comprova vigência jurídica.</a:t>
            </a:r>
          </a:p>
          <a:p>
            <a:r>
              <a:t>CNPJ 41970012000126 · Substituição de prestadores · Resumo do histórico: {"count": 10, "dates": ["2025-05-19", "2025-12-19"], "document_count": 3, "sources": [{"document_id": "1077333", "title": "AGE", "reference_date": "2025-12-19", "version": "1", "page": 116, "clause": "17.3", "url": "https://fnet.bmfbovespa.com.br/fnet/publico/visualizarDocumento?id=1077333", "sha256": "a9a25c5f8a0c493373a2157221109466cbc86e5f44f623997bba18ca14892751"}, {"document_id": "1077334", "title": "Regulamento", "reference_date": "2025-12-19", "version": "1", "page": 116, "clause": "17.3", "url": "https://fnet.bmfbovespa.com.br/fnet/publico/visualizarDocumento?id=1077334", "sha256": "a9a25c5f8a0c493373a2157221109466cbc86e5f44f623997bba18ca14892751"}, {"document_id": "909707", "title": "Regulamento", "reference_date": "2025-05-19", "version": "1", "page": 120, "clause": "19.2.1", "url": "https://fnet.bmfbovespa.com.br/fnet/publico/visualizarDocumento?id=909707", "sha256": "cfa949e3b02c8900c5d0e5f82225a19dc627218a4e4f2e969681a09335c55224"}], "reference": {"path": "history/41970012000126.json", "criterion_id": "replacement", "total_count": 10, "preview_count": 3, "full_text_deferred": true, "sha256": "229578c6b833b0633051fe7d357f4fcc74589dcf37d7750032517e03ec89ee60"}}</a:t>
            </a:r>
          </a:p>
          <a:p>
            <a:r>
              <a:t>CNPJ 41970012000126 · Rating por subclasse e downgrade · Regulamento · ID 1302706 · 2026-08-27 · versão 1 · p. 5 · https://fnet.bmfbovespa.com.br/fnet/publico/visualizarDocumento?id=1302706</a:t>
            </a:r>
          </a:p>
          <a:p>
            <a:r>
              <a:t>CNPJ 41970012000126 · Rating por subclasse e downgrade · Excerto da fonte:</a:t>
            </a:r>
          </a:p>
          <a:p>
            <a:r>
              <a:t>Em que:</a:t>
            </a:r>
          </a:p>
          <a:p>
            <a:r>
              <a:t> N = número total de meses remanescentes  n = mês de referência  Cn = fluxo de caixa dos Direitos Creditórios Adquiridos  Adimplentes no mês "n", considerando para esse cálculo  a premissa de perda conforme Matriz de Perda, separados  por tipo de produto e por prazo original, e aplicação do  múltiplo MS  r = taxa interna de retorno mensal, sendo certo que, no  caso dos Direitos Creditórios que sejam Direitos  Creditórios CCB DE, para r será apurado com base em  juros mensais equivalentes a 50% (cinquenta por cento)  da taxa de juros mensal contratada nas respectivas CCBs  Taxa Estressada das Cotas Seniores = em qualquer Data  Base, a soma de (i) 5,00% (cinco por cento); e (ii) o  Benchmark Sênior.</a:t>
            </a:r>
          </a:p>
          <a:p>
            <a:r>
              <a:t> PMP = em qualquer Data Base, o prazo médio ponderado,  em anos, dos Direitos Creditórios Adquiridos  Adimplentes, separados por tipo de produto e por prazo  original, calculado na forma de planilha acordada entre as  partes.</a:t>
            </a:r>
          </a:p>
          <a:p>
            <a:r>
              <a:t> O Advance Rate Ponderado será calculado pelo Gestor  com base no Valor Agregado dos Direitos Creditórios em  cada Data Base.</a:t>
            </a:r>
          </a:p>
          <a:p>
            <a:r>
              <a:t> "Agência Classificadora de significa a agência de classificação de risco autorizada a  Risco" prestar tais serviços junto a CVM que tenha sido  contratada pelo Fundo para avaliação de risco das Cotas,  conforme aplicável, que poderá ser escolhida pelo Gestor  dentre as seguintes empresas: Austin Rating Serviços  Financeiros Ltda., Standard &amp; Poor's Ratings do Brasil  Ltda., Fitch Ratings Brasil Ltda., Moody's América  Latina Ltda. ou Liberum Ratings Serviços Financeiros  Ltda., caso aplicável.</a:t>
            </a:r>
          </a:p>
          <a:p>
            <a:r>
              <a:t> "Agente de Cobrança" significa o Mercado Pago, contratado para prestação dos  serviços de cobrança dos Direitos Creditórios vencidos e  não pagos, nos termos e condições descritos neste  Regulamento e no Contrato de Cobrança.</a:t>
            </a:r>
          </a:p>
          <a:p>
            <a:r>
              <a:t> btgpactual.com</a:t>
            </a:r>
          </a:p>
          <a:p>
            <a:r>
              <a:t>CNPJ 41970012000126 · Rating por subclasse e downgrade · Regulamento · ID 1302706 · 2026-08-27 · versão 1 · p. 57 · 7.29 · https://fnet.bmfbovespa.com.br/fnet/publico/visualizarDocumento?id=1302706</a:t>
            </a:r>
          </a:p>
          <a:p>
            <a:r>
              <a:t>CNPJ 41970012000126 · Rating por subclasse e downgrade · Excerto da fonte:</a:t>
            </a:r>
          </a:p>
          <a:p>
            <a:r>
              <a:t>7.29. As Cotas Seniores e as Cotas Subordinadas Mezanino poderão ser objeto de Classificação de Risco  realizada por Agência de Classificação de Risco. As Cotas Subordinadas Júnior não serão objeto de  Classificação de Risco realizada por Agência Classificadora de Risco.</a:t>
            </a:r>
          </a:p>
          <a:p>
            <a:r>
              <a:t>CNPJ 41970012000126 · Rating por subclasse e downgrade · Regulamento · ID 1302706 · 2026-08-27 · versão 1 · p. 25 · https://fnet.bmfbovespa.com.br/fnet/publico/visualizarDocumento?id=1302706</a:t>
            </a:r>
          </a:p>
          <a:p>
            <a:r>
              <a:t>CNPJ 41970012000126 · Rating por subclasse e downgrade · Excerto da fonte:</a:t>
            </a:r>
          </a:p>
          <a:p>
            <a:r>
              <a:t>Administrador e ao Gestor trimestralmente por meio do  Relatório de Índice Financeiro, nos termos do item 18.15  abaixo, e, após revisão e confirmação do cálculo pelo  Gestor, disponibilizado pelo Gestor no Relatório de  Acompanhamento.</a:t>
            </a:r>
          </a:p>
          <a:p>
            <a:r>
              <a:t> "Índice Financeiro Avaliação" significa, em relação à MeLi, o seguinte índice  financeiro:</a:t>
            </a:r>
          </a:p>
          <a:p>
            <a:r>
              <a:t> Liquidez Consolidada: verificação de que a Liquidez  Consolidada é maior que US$100.000.000,00 (cem  milhões de dólares norte-americanos).</a:t>
            </a:r>
          </a:p>
          <a:p>
            <a:r>
              <a:t> O Índice Financeiro Avaliação será calculado pelo  Mercado Pago, com base nas demonstrações financeiras  auditadas ou informações financeiras trimestrais da  MeLi, e encaminhado ao Administrador e ao Gestor  trimestralmente por meio do Relatório de Índice  Financeiro, nos termos do item 18.15 abaixo, e após  revisão e confirmação do cálculo pelo Gestor,  disponibilizado pelo Gestor no Relatório de  Acompanhamento.</a:t>
            </a:r>
          </a:p>
          <a:p>
            <a:r>
              <a:t> "Índices de Gerenciamento" significa, em cada Data Base, as limitações aplicadas ao  Valor Agregado dos Direitos Creditórios, no que diz  respeito aos Direitos Creditórios Adquiridos  Adimplentes detidos pelo Fundo, e calculadas em forma  de porcentagem considerando a soma do Valor Agregado  dos Direitos Creditórios, conforme previstos no  COMPLEMENTO VI deste Regulamento.</a:t>
            </a:r>
          </a:p>
          <a:p>
            <a:r>
              <a:t> "Instituição Financeira MeLi" significa o MERCADO CRÉDITO SOCIEDADE DE CRÉDITO  FINANCIAMENTO E INVESTIMENTO S.A., instituição  financeira com sede no município de Osasco, estado de  São Paulo, na Avenida das Nações Unidas, nº 3003, parte  G, Bonfim, CEP 06233-903, inscrito no CNPJ/MF sob o  nº 37.679.449/0001-38.</a:t>
            </a:r>
          </a:p>
          <a:p>
            <a:r>
              <a:t> "Instituições Autorizadas" significam qualquer das seguintes instituições  financeiras: (i) Banco Bradesco S.A.; (ii) Banco  Santander (Brasil) S.A.; (iii) Banco do Brasil S.A.; (iv)  Caixa Econômica Federal; (v) Itaú Unibanco S.A.; (vi)  Banco Citibank S.A.; ou (vii) Banco BTG Pactual S.A.,  desde que possua classificação de risco de crédito de  longo prazo, atribuída pela Standard &amp; Poor's Ratings do  Brasil Ltda., Fitch Ratings Brasil Ltda. ou Moody's  América Latina Ltda, no mínimo igual ou superior ao  maior entre (a) a mais elevada Classificação de Risco  atribuída às Cotas Seniores, se houver; e (b) br.AA+.</a:t>
            </a:r>
          </a:p>
          <a:p>
            <a:r>
              <a:t> "Instrução CVM 489" significa a Instrução da CVM nº 489, de 14 de janeiro de  2011, conforme alterada.</a:t>
            </a:r>
          </a:p>
          <a:p>
            <a:r>
              <a:t> "Janela Móvel de Safras" significa, em cada Data Base, o conjunto das 12 (doze)  Safras de Originação mais recentemente originadas cujo  MOB Aplicável se situe entre o MOB6 (inclusive) e o  btgpactual.com</a:t>
            </a:r>
          </a:p>
          <a:p>
            <a:r>
              <a:t>CNPJ 41970012000126 · Rating por subclasse e downgrade · Condição: Documentos atuais selecionados no inventário por categoria/escopo; a data documental isolada não comprova vigência jurídica.</a:t>
            </a:r>
          </a:p>
          <a:p>
            <a:r>
              <a:t>CNPJ 41970012000126 · Rating por subclasse e downgrade · Versão e prevalência: Documentos atuais selecionados no inventário por categoria/escopo; a data documental isolada não comprova vigência jurídica.</a:t>
            </a:r>
          </a:p>
          <a:p>
            <a:r>
              <a:t>CNPJ 41970012000126 · Rating por subclasse e downgrade · Resumo do histórico: {"count": 11, "dates": ["2025-12-19", "2025-12-31"], "document_count": 3, "sources": [{"document_id": "1151156", "title": "Demonstrações Financeiras", "reference_date": "2025-12-31", "version": "1", "page": 39, "url": "https://fnet.bmfbovespa.com.br/fnet/publico/visualizarDocumento?id=1151156", "sha256": "04099e318871fbf25478d1ed88b19c4c6c6af84d9811507e8df48f7d824c6ec8"}, {"document_id": "1077333", "title": "AGE", "reference_date": "2025-12-19", "version": "1", "page": 66, "clause": "7.26", "url": "https://fnet.bmfbovespa.com.br/fnet/publico/visualizarDocumento?id=1077333", "sha256": "a9a25c5f8a0c493373a2157221109466cbc86e5f44f623997bba18ca14892751"}, {"document_id": "1077334", "title": "Regulamento", "reference_date": "2025-12-19", "version": "1", "page": 66, "clause": "7.26", "url": "https://fnet.bmfbovespa.com.br/fnet/publico/visualizarDocumento?id=1077334", "sha256": "a9a25c5f8a0c493373a2157221109466cbc86e5f44f623997bba18ca14892751"}], "reference": {"path": "history/41970012000126.json", "criterion_id": "rating", "total_count": 11, "preview_count": 3, "full_text_deferred": true, "sha256": "229578c6b833b0633051fe7d357f4fcc74589dcf37d7750032517e03ec89ee60"}}</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PLGN Marketplace · vínculo CNPJ 41970012000126 · Hedge e prestadores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Vínculo: PLGN Marketplace · CNPJ 55563624000109 → CNPJ 41970012000126 · Regulamento · ID 1192614 · 30/04/2026 · versão Regulamento30/04/2026 · p. 11 · AnexoI4.1</a:t>
            </a:r>
          </a:p>
          <a:p>
            <a:r>
              <a:t>Condição do vínculo: {"cnpj": "41970012000126", "name": "Mercado Crédito II Brasil FIDC", "relationship": "named_investee", "exposure": "mezzanine", "position_status": "mandate_identified_position_not_quantified", "risk_note": "Mandato e classe exatos; comparar regras eIMEdo investido na competência doFIC, sem dupla contagem dePL."}</a:t>
            </a:r>
          </a:p>
          <a:p>
            <a:r>
              <a:t>CNPJ 41970012000126 · Finalidade elimites dederivativos · Regulamento · ID 1302706 · 27/08/2026 · versão Regulamento27/08/2026 · p. 43 · 5.1.10–5.1.12 · https://fnet.bmfbovespa.com.br/fnet/publico/visualizarDocumento?id=1302706</a:t>
            </a:r>
          </a:p>
          <a:p>
            <a:r>
              <a:t>CNPJ 41970012000126 · Finalidade elimites dederivativos · Excerto da fonte:</a:t>
            </a:r>
          </a:p>
          <a:p>
            <a:r>
              <a:t>5.1.10. O Fundo não poderá realizar operações de day trade, assim consideradas aquelas iniciadas e encerradas no mesmo dia. 5.1.11. O Fundo não poderá contratar, em nenhuma hipótese, operações de derivativos. 5.1.12. O Fundo não pode adquirir Direitos Creditórios e/ou Ativos Financeiros no exterior. 5.1.13. O Fundo não poderá contratar operações para aquisição de Direitos Creditórios com empresas Partes Relacionadas do Administrador, do Gestor, do Custodiante e/ou do consultor especializado, se houver. 5.1.14. O Fundo poderá realizar aplicações que coloquem em risco parte ou a totalidade de seu p</a:t>
            </a:r>
          </a:p>
          <a:p>
            <a:r>
              <a:t>CNPJ 41970012000126 · Finalidade elimites dederivativos · Motivo: Não localizada uma cláusula material para este critério nos textos identificados e processados. A ausência de resultado não comprova inexistência da regra. A resposta da revisão anterior foi preservada no histórico, sem confirmação pelo documento atual.</a:t>
            </a:r>
          </a:p>
          <a:p>
            <a:r>
              <a:t>CNPJ 41970012000126 · Finalidade elimites dederivativos · Versão e prevalência: Leitura específica das cláusulas indicadas; condições e conflitos preservados. Seleção documental atual não comprova vigência jurídica por data isolada.</a:t>
            </a:r>
          </a:p>
          <a:p>
            <a:r>
              <a:t>CNPJ 41970012000126 · Finalidade elimites dederivativos · Resumo do histórico: {"count": 1, "dates": ["2026-08-27"], "document_count": 1, "sources": [{"document_id": "1302706", "title": "Regulamento", "reference_date": "2026-08-27", "version": "1", "page": "43", "url": "https://fnet.bmfbovespa.com.br/fnet/publico/visualizarDocumento?id=1302706", "sha256": "b113727bc2bc3b1a6b0d18f02bf2143068fd912df2d83cbb91ab44fcb30a3379"}], "reference": {"path": "history/41970012000126.json", "criterion_id": "hedge", "total_count": 1, "preview_count": 1, "full_text_deferred": true, "sha256": "229578c6b833b0633051fe7d357f4fcc74589dcf37d7750032517e03ec89ee60"}}</a:t>
            </a:r>
          </a:p>
          <a:p>
            <a:r>
              <a:t>CNPJ 41970012000126 · Prioridade do hedge e reserva de MTM · Motivo: Não localizada uma cláusula material para este critério nos textos identificados e processados. A ausência de resultado não comprova inexistência da regra.</a:t>
            </a:r>
          </a:p>
          <a:p>
            <a:r>
              <a:t>CNPJ 41970012000126 · Administrador, gestor e custodiante · Regulamento · ID 1302706 · 27/08/2026 · versão 1 · p. 4 · Definição Administrador · https://fnet.bmfbovespa.com.br/fnet/publico/visualizarDocumento?id=1302706</a:t>
            </a:r>
          </a:p>
          <a:p>
            <a:r>
              <a:t>CNPJ 41970012000126 · Administrador, gestor e custodiante · Excerto da fonte:</a:t>
            </a:r>
          </a:p>
          <a:p>
            <a:r>
              <a:t>"Administrador" significa o BTG PACTUAL SERVIÇOS FINANCEIROS S.A. DISTRIBUIDORA DE TÍTULOS E VALORES MOBILIÁRIOS, instituição com sede no Município do Rio de Janeiro, Estado do Rio de Janeiro, na Praia de Botafogo, nº 501, Torre Corcovado, 5º andar – parte, inscrita no CNPJ/MF sob o nº 59.281.253/0001- 23, autorizada a funcionar pelo Banco Central do Brasil e autorizada pela CVM para a atividade de administração de carteiras de valores mobiliários, de acordo com o Ato Declaratório nº 8.695, de 20 de março de 2006, ou seu sucessor a qualquer título.</a:t>
            </a:r>
          </a:p>
          <a:p>
            <a:r>
              <a:t>CNPJ 41970012000126 · Administrador, gestor e custodiante · Regulamento · ID 1302706 · 27/08/2026 · versão 1 · p. 23 · Definição Gestor · https://fnet.bmfbovespa.com.br/fnet/publico/visualizarDocumento?id=1302706</a:t>
            </a:r>
          </a:p>
          <a:p>
            <a:r>
              <a:t>CNPJ 41970012000126 · Administrador, gestor e custodiante · Excerto da fonte:</a:t>
            </a:r>
          </a:p>
          <a:p>
            <a:r>
              <a:t>"Gestor" significa a POLÍGONO CAPITAL LTDA., sociedade de responsabilidade limitada, com sede no município de São Paulo, estado de São Paulo, na Avenida Brigadeiro Faria Lima, n° 2601, 12º andar, Jardim Paulistano, CEP 01.452-000, inscrita no CNPJ/MF sob nº 43.241.789/0001-85, autorizada à prestação do serviço de gestão de carteiras de valores mobiliários pela CVM, de acordo com o Ato Declaratório CVM nº 19.368, expedido em 07 de dezembro de 2021.</a:t>
            </a:r>
          </a:p>
          <a:p>
            <a:r>
              <a:t>CNPJ 41970012000126 · Administrador, gestor e custodiante · Regulamento · ID 1302706 · 27/08/2026 · versão 1 · p. 15 · Definição Custodiante · https://fnet.bmfbovespa.com.br/fnet/publico/visualizarDocumento?id=1302706</a:t>
            </a:r>
          </a:p>
          <a:p>
            <a:r>
              <a:t>CNPJ 41970012000126 · Administrador, gestor e custodiante · Excerto da fonte:</a:t>
            </a:r>
          </a:p>
          <a:p>
            <a:r>
              <a:t>"Custodiante" significa o BANCO BTG PACTUAL S.A., instituição financeira, com sede no município e estado do Rio de Janeiro, na Praia de Botafogo, nº 501, Torre Corcovado, 5º andar (parte), Torre Corcovado, Botafogo, CEP 22.250-911, inscrita no CNPJ/MF sob o nº 30.306.294/0001-45 e credenciado como custodiante, de acordo com o Ato Declaratório nº 7.204, de 25 de abril de 2003.</a:t>
            </a:r>
          </a:p>
          <a:p>
            <a:r>
              <a:t>CNPJ 41970012000126 · Administrador, gestor e custodiante · Versão e prevalência: Leitura específica das cláusulas indicadas; condições e conflitos preservados. Seleção documental atual não comprova vigência jurídica por data isolada.</a:t>
            </a:r>
          </a:p>
          <a:p>
            <a:r>
              <a:t>CNPJ 41970012000126 · Administrador, gestor e custodiante · Resumo do histórico: {"count": 12, "dates": ["2025-12-31", "2026-05-11", "2026-08-24"], "document_count": 3, "sources": [{"document_id": "1300110", "title": "Fato Relevante", "reference_date": "2026-08-24", "version": "1", "page": 1, "url": "https://fnet.bmfbovespa.com.br/fnet/publico/visualizarDocumento?id=1300110", "sha256": "982dd137d6a96b7e0e1f24730a2959e2196a43d13ea7f651c29e962a1c816b5c"}, {"document_id": "1198631", "title": "Outros Comunicados Não Considerados Fatos Relevantes", "reference_date": "2026-05-11", "version": "1", "page": 1, "url": "https://fnet.bmfbovespa.com.br/fnet/publico/visualizarDocumento?id=1198631", "sha256": "ae206e31f65a5d1620b79252fc79b3ce7f246a9321852cd336ae356d62cf4579"}, {"document_id": "1151156", "title": "Demonstrações Financeiras", "reference_date": "2025-12-31", "version": "1", "page": 12, "url": "https://fnet.bmfbovespa.com.br/fnet/publico/visualizarDocumento?id=1151156", "sha256": "04099e318871fbf25478d1ed88b19c4c6c6af84d9811507e8df48f7d824c6ec8"}], "reference": {"path": "history/41970012000126.json", "criterion_id": "providers", "total_count": 12, "preview_count": 3, "full_text_deferred": true, "sha256": "229578c6b833b0633051fe7d357f4fcc74589dcf37d7750032517e03ec89ee60"}}</a:t>
            </a:r>
          </a:p>
          <a:p>
            <a:r>
              <a:t>CNPJ 41970012000126 · Substituição de prestadores · Regulamento · ID 1302706 · 2026-08-27 · versão 1 · p. 96 · 17.3 · https://fnet.bmfbovespa.com.br/fnet/publico/visualizarDocumento?id=1302706</a:t>
            </a:r>
          </a:p>
          <a:p>
            <a:r>
              <a:t>CNPJ 41970012000126 · Substituição de prestadores · Excerto da fonte:</a:t>
            </a:r>
          </a:p>
          <a:p>
            <a:r>
              <a:t>17.3. Nas hipóteses de descredenciamento ou renúncia, fica o Administrador obrigado a convocar  imediatamente a Assembleia Geral de Cotistas para eleger um substituto, a se realizar no prazo de até 15</a:t>
            </a:r>
          </a:p>
          <a:p>
            <a:r>
              <a:t> (quinze) dias, sendo facultada a convocação da Assembleia Geral de Cotistas por Cotistas que detenham  Cotas representativas de ao menos 5% (cinco por cento) do Patrimônio Líquido do Fundo.</a:t>
            </a:r>
          </a:p>
          <a:p>
            <a:r>
              <a:t>CNPJ 41970012000126 · Substituição de prestadores · Regulamento · ID 1302706 · 2026-08-27 · versão 1 · p. 101 · 19.2.1 · https://fnet.bmfbovespa.com.br/fnet/publico/visualizarDocumento?id=1302706</a:t>
            </a:r>
          </a:p>
          <a:p>
            <a:r>
              <a:t>CNPJ 41970012000126 · Substituição de prestadores · Excerto da fonte:</a:t>
            </a:r>
          </a:p>
          <a:p>
            <a:r>
              <a:t>19.2.1. Os parâmetros para pagamento da Taxa de Gestão previstos no item 19.2 acima são válidos  enquanto o Mercado Crédito Fundo de Investimento em Direitos Creditórios Não Padronizado estiver sob  gestão do Gestor, sendo que, caso ocorra a sua renúncia ou substituição, o Gestor e o Administrador  alterarão o presente Regulamento para prever os novos parâmetros a serem adotados, desde que respeitado  o valor máximo da Taxa de Gestão equivalente a 0,20% (vinte centésimos por cento) ao ano sobre o  Patrimônio Líquido do Fundo.</a:t>
            </a:r>
          </a:p>
          <a:p>
            <a:r>
              <a:t>CNPJ 41970012000126 · Substituição de prestadores · Regulamento · ID 1302706 · 2026-08-27 · versão 1 · p. 64 · https://fnet.bmfbovespa.com.br/fnet/publico/visualizarDocumento?id=1302706</a:t>
            </a:r>
          </a:p>
          <a:p>
            <a:r>
              <a:t>CNPJ 41970012000126 · Substituição de prestadores · Excerto da fonte:</a:t>
            </a:r>
          </a:p>
          <a:p>
            <a:r>
              <a:t>maior que 2 (duas) vezes o 2 (duas) vezes o valor  valor das taxas originais em das taxas originais em  vigor, a maioria de cada vigor, a maioria de cada  Subclasse de Cotas. Subclasse de Cotas  presentes à AGC.</a:t>
            </a:r>
          </a:p>
          <a:p>
            <a:r>
              <a:t> Para fins de clareza, se o  aumento das taxas resultar da Para fins de clareza, se  substituição do Gestor e/ou o aumento das taxas  do Administrador, caso as resultar da substituição  Cotas Subordinadas do Gestor e/ou do  Mezanino sejam detidas pelo Administrador, caso as  Gestor e/ou pelo Cotas Subordinadas  Administrador ou por Mezanino sejam detidas  veículos de investimento pelo Gestor e/ou pelo  geridos pelo Gestor e/ou pelo Administrador ou por  Administrador, conforme o veículos de  caso, estes somente poderão investimento geridos  votar caso não estejam em pelo Gestor e/ou pelo  posição de conflito de Administrador,  interesses. conforme o caso, estes  somente poderão votar  caso não estejam em  posição de conflito de  interesses.</a:t>
            </a:r>
          </a:p>
          <a:p>
            <a:r>
              <a:t> (v) deliberar sobre a fusão, Antes da ocorrência de um Antes da ocorrência de  incorporação, transformação ou Evento de Liquidação, a um Evento de  cisão do Fundo maioria de cada Subclasse de Liquidação, a maioria  Cotas. de cada Subclasse de  Cotas presente à AGC.</a:t>
            </a:r>
          </a:p>
          <a:p>
            <a:r>
              <a:t> Após a ocorrência de um  Evento de Liquidação, a Após a ocorrência de  maioria de Cotas Seniores e um Evento de  maioria de Cotas Liquidação, a maioria  Subordinadas Mezanino. de Cotas Seniores e  maioria de Cotas  Subordinadas  Mezanino presentes à  AGC.</a:t>
            </a:r>
          </a:p>
          <a:p>
            <a:r>
              <a:t> (vi) deliberar sobre as seguintes  matérias referentes ao  Regulamento:</a:t>
            </a:r>
          </a:p>
          <a:p>
            <a:r>
              <a:t> (vi)a à renúncia ou alteração a quaisquer Em relação à renúncia, Em relação à renúncia,  Critérios de Elegibilidade, maioria de Cotas Seniores e maioria de Cotas  Condições de Cessão ou Índices de maioria de Cotas Seniores e maioria de  Gerenciamento descritos no Subordinadas Mezanino. Cotas Subordinadas  Complemento VI a este Mezanino presentes à  Regulamento Em relação à alteração, AGC.</a:t>
            </a:r>
          </a:p>
          <a:p>
            <a:r>
              <a:t> maioria de cada Subclasse de  Cotas. Em relação à alteração,  maioria de cada  Subclasse de Cotas  presentes à AGC.</a:t>
            </a:r>
          </a:p>
          <a:p>
            <a:r>
              <a:t> (vi)b à alteração da Senioridade Maioria de Cotas Seniores e Maioria de Cotas  Máxima, forma de cálculo e maioria de Cotas Seniores e maioria de  periodicidade de apuração Subordinadas Júnior. Cotas Subordinadas  Júnior presentes à  AGC.</a:t>
            </a:r>
          </a:p>
          <a:p>
            <a:r>
              <a:t> (vi)c à alteração da Data Limite de Maioria de Cotas Seniores e Maioria de Cotas  Investimento em Direitos maioria de Cotas Seniores e maioria de  Creditórios Subordinadas Júnior. Cotas Subordinadas  Júnior presentes à  AGC.</a:t>
            </a:r>
          </a:p>
          <a:p>
            <a:r>
              <a:t> btgpactual.com</a:t>
            </a:r>
          </a:p>
          <a:p>
            <a:r>
              <a:t>CNPJ 41970012000126 · Substituição de prestadores · Condição: Documentos atuais selecionados no inventário por categoria/escopo; a data documental isolada não comprova vigência jurídica.</a:t>
            </a:r>
          </a:p>
          <a:p>
            <a:r>
              <a:t>CNPJ 41970012000126 · Substituição de prestadores · Versão e prevalência: Documentos atuais selecionados no inventário por categoria/escopo; a data documental isolada não comprova vigência jurídica.</a:t>
            </a:r>
          </a:p>
          <a:p>
            <a:r>
              <a:t>CNPJ 41970012000126 · Substituição de prestadores · Resumo do histórico: {"count": 10, "dates": ["2025-05-19", "2025-12-19"], "document_count": 3, "sources": [{"document_id": "1077333", "title": "AGE", "reference_date": "2025-12-19", "version": "1", "page": 116, "clause": "17.3", "url": "https://fnet.bmfbovespa.com.br/fnet/publico/visualizarDocumento?id=1077333", "sha256": "a9a25c5f8a0c493373a2157221109466cbc86e5f44f623997bba18ca14892751"}, {"document_id": "1077334", "title": "Regulamento", "reference_date": "2025-12-19", "version": "1", "page": 116, "clause": "17.3", "url": "https://fnet.bmfbovespa.com.br/fnet/publico/visualizarDocumento?id=1077334", "sha256": "a9a25c5f8a0c493373a2157221109466cbc86e5f44f623997bba18ca14892751"}, {"document_id": "909707", "title": "Regulamento", "reference_date": "2025-05-19", "version": "1", "page": 120, "clause": "19.2.1", "url": "https://fnet.bmfbovespa.com.br/fnet/publico/visualizarDocumento?id=909707", "sha256": "cfa949e3b02c8900c5d0e5f82225a19dc627218a4e4f2e969681a09335c55224"}], "reference": {"path": "history/41970012000126.json", "criterion_id": "replacement", "total_count": 10, "preview_count": 3, "full_text_deferred": true, "sha256": "229578c6b833b0633051fe7d357f4fcc74589dcf37d7750032517e03ec89ee60"}}</a:t>
            </a:r>
          </a:p>
          <a:p>
            <a:r>
              <a:t>CNPJ 41970012000126 · Rating por subclasse e downgrade · Regulamento · ID 1302706 · 2026-08-27 · versão 1 · p. 5 · https://fnet.bmfbovespa.com.br/fnet/publico/visualizarDocumento?id=1302706</a:t>
            </a:r>
          </a:p>
          <a:p>
            <a:r>
              <a:t>CNPJ 41970012000126 · Rating por subclasse e downgrade · Excerto da fonte:</a:t>
            </a:r>
          </a:p>
          <a:p>
            <a:r>
              <a:t>Em que:</a:t>
            </a:r>
          </a:p>
          <a:p>
            <a:r>
              <a:t> N = número total de meses remanescentes  n = mês de referência  Cn = fluxo de caixa dos Direitos Creditórios Adquiridos  Adimplentes no mês "n", considerando para esse cálculo  a premissa de perda conforme Matriz de Perda, separados  por tipo de produto e por prazo original, e aplicação do  múltiplo MS  r = taxa interna de retorno mensal, sendo certo que, no  caso dos Direitos Creditórios que sejam Direitos  Creditórios CCB DE, para r será apurado com base em  juros mensais equivalentes a 50% (cinquenta por cento)  da taxa de juros mensal contratada nas respectivas CCBs  Taxa Estressada das Cotas Seniores = em qualquer Data  Base, a soma de (i) 5,00% (cinco por cento); e (ii) o  Benchmark Sênior.</a:t>
            </a:r>
          </a:p>
          <a:p>
            <a:r>
              <a:t> PMP = em qualquer Data Base, o prazo médio ponderado,  em anos, dos Direitos Creditórios Adquiridos  Adimplentes, separados por tipo de produto e por prazo  original, calculado na forma de planilha acordada entre as  partes.</a:t>
            </a:r>
          </a:p>
          <a:p>
            <a:r>
              <a:t> O Advance Rate Ponderado será calculado pelo Gestor  com base no Valor Agregado dos Direitos Creditórios em  cada Data Base.</a:t>
            </a:r>
          </a:p>
          <a:p>
            <a:r>
              <a:t> "Agência Classificadora de significa a agência de classificação de risco autorizada a  Risco" prestar tais serviços junto a CVM que tenha sido  contratada pelo Fundo para avaliação de risco das Cotas,  conforme aplicável, que poderá ser escolhida pelo Gestor  dentre as seguintes empresas: Austin Rating Serviços  Financeiros Ltda., Standard &amp; Poor's Ratings do Brasil  Ltda., Fitch Ratings Brasil Ltda., Moody's América  Latina Ltda. ou Liberum Ratings Serviços Financeiros  Ltda., caso aplicável.</a:t>
            </a:r>
          </a:p>
          <a:p>
            <a:r>
              <a:t> "Agente de Cobrança" significa o Mercado Pago, contratado para prestação dos  serviços de cobrança dos Direitos Creditórios vencidos e  não pagos, nos termos e condições descritos neste  Regulamento e no Contrato de Cobrança.</a:t>
            </a:r>
          </a:p>
          <a:p>
            <a:r>
              <a:t> btgpactual.com</a:t>
            </a:r>
          </a:p>
          <a:p>
            <a:r>
              <a:t>CNPJ 41970012000126 · Rating por subclasse e downgrade · Regulamento · ID 1302706 · 2026-08-27 · versão 1 · p. 57 · 7.29 · https://fnet.bmfbovespa.com.br/fnet/publico/visualizarDocumento?id=1302706</a:t>
            </a:r>
          </a:p>
          <a:p>
            <a:r>
              <a:t>CNPJ 41970012000126 · Rating por subclasse e downgrade · Excerto da fonte:</a:t>
            </a:r>
          </a:p>
          <a:p>
            <a:r>
              <a:t>7.29. As Cotas Seniores e as Cotas Subordinadas Mezanino poderão ser objeto de Classificação de Risco  realizada por Agência de Classificação de Risco. As Cotas Subordinadas Júnior não serão objeto de  Classificação de Risco realizada por Agência Classificadora de Risco.</a:t>
            </a:r>
          </a:p>
          <a:p>
            <a:r>
              <a:t>CNPJ 41970012000126 · Rating por subclasse e downgrade · Regulamento · ID 1302706 · 2026-08-27 · versão 1 · p. 25 · https://fnet.bmfbovespa.com.br/fnet/publico/visualizarDocumento?id=1302706</a:t>
            </a:r>
          </a:p>
          <a:p>
            <a:r>
              <a:t>CNPJ 41970012000126 · Rating por subclasse e downgrade · Excerto da fonte:</a:t>
            </a:r>
          </a:p>
          <a:p>
            <a:r>
              <a:t>Administrador e ao Gestor trimestralmente por meio do  Relatório de Índice Financeiro, nos termos do item 18.15  abaixo, e, após revisão e confirmação do cálculo pelo  Gestor, disponibilizado pelo Gestor no Relatório de  Acompanhamento.</a:t>
            </a:r>
          </a:p>
          <a:p>
            <a:r>
              <a:t> "Índice Financeiro Avaliação" significa, em relação à MeLi, o seguinte índice  financeiro:</a:t>
            </a:r>
          </a:p>
          <a:p>
            <a:r>
              <a:t> Liquidez Consolidada: verificação de que a Liquidez  Consolidada é maior que US$100.000.000,00 (cem  milhões de dólares norte-americanos).</a:t>
            </a:r>
          </a:p>
          <a:p>
            <a:r>
              <a:t> O Índice Financeiro Avaliação será calculado pelo  Mercado Pago, com base nas demonstrações financeiras  auditadas ou informações financeiras trimestrais da  MeLi, e encaminhado ao Administrador e ao Gestor  trimestralmente por meio do Relatório de Índice  Financeiro, nos termos do item 18.15 abaixo, e após  revisão e confirmação do cálculo pelo Gestor,  disponibilizado pelo Gestor no Relatório de  Acompanhamento.</a:t>
            </a:r>
          </a:p>
          <a:p>
            <a:r>
              <a:t> "Índices de Gerenciamento" significa, em cada Data Base, as limitações aplicadas ao  Valor Agregado dos Direitos Creditórios, no que diz  respeito aos Direitos Creditórios Adquiridos  Adimplentes detidos pelo Fundo, e calculadas em forma  de porcentagem considerando a soma do Valor Agregado  dos Direitos Creditórios, conforme previstos no  COMPLEMENTO VI deste Regulamento.</a:t>
            </a:r>
          </a:p>
          <a:p>
            <a:r>
              <a:t> "Instituição Financeira MeLi" significa o MERCADO CRÉDITO SOCIEDADE DE CRÉDITO  FINANCIAMENTO E INVESTIMENTO S.A., instituição  financeira com sede no município de Osasco, estado de  São Paulo, na Avenida das Nações Unidas, nº 3003, parte  G, Bonfim, CEP 06233-903, inscrito no CNPJ/MF sob o  nº 37.679.449/0001-38.</a:t>
            </a:r>
          </a:p>
          <a:p>
            <a:r>
              <a:t> "Instituições Autorizadas" significam qualquer das seguintes instituições  financeiras: (i) Banco Bradesco S.A.; (ii) Banco  Santander (Brasil) S.A.; (iii) Banco do Brasil S.A.; (iv)  Caixa Econômica Federal; (v) Itaú Unibanco S.A.; (vi)  Banco Citibank S.A.; ou (vii) Banco BTG Pactual S.A.,  desde que possua classificação de risco de crédito de  longo prazo, atribuída pela Standard &amp; Poor's Ratings do  Brasil Ltda., Fitch Ratings Brasil Ltda. ou Moody's  América Latina Ltda, no mínimo igual ou superior ao  maior entre (a) a mais elevada Classificação de Risco  atribuída às Cotas Seniores, se houver; e (b) br.AA+.</a:t>
            </a:r>
          </a:p>
          <a:p>
            <a:r>
              <a:t> "Instrução CVM 489" significa a Instrução da CVM nº 489, de 14 de janeiro de  2011, conforme alterada.</a:t>
            </a:r>
          </a:p>
          <a:p>
            <a:r>
              <a:t> "Janela Móvel de Safras" significa, em cada Data Base, o conjunto das 12 (doze)  Safras de Originação mais recentemente originadas cujo  MOB Aplicável se situe entre o MOB6 (inclusive) e o  btgpactual.com</a:t>
            </a:r>
          </a:p>
          <a:p>
            <a:r>
              <a:t>CNPJ 41970012000126 · Rating por subclasse e downgrade · Condição: Documentos atuais selecionados no inventário por categoria/escopo; a data documental isolada não comprova vigência jurídica.</a:t>
            </a:r>
          </a:p>
          <a:p>
            <a:r>
              <a:t>CNPJ 41970012000126 · Rating por subclasse e downgrade · Versão e prevalência: Documentos atuais selecionados no inventário por categoria/escopo; a data documental isolada não comprova vigência jurídica.</a:t>
            </a:r>
          </a:p>
          <a:p>
            <a:r>
              <a:t>CNPJ 41970012000126 · Rating por subclasse e downgrade · Resumo do histórico: {"count": 11, "dates": ["2025-12-19", "2025-12-31"], "document_count": 3, "sources": [{"document_id": "1151156", "title": "Demonstrações Financeiras", "reference_date": "2025-12-31", "version": "1", "page": 39, "url": "https://fnet.bmfbovespa.com.br/fnet/publico/visualizarDocumento?id=1151156", "sha256": "04099e318871fbf25478d1ed88b19c4c6c6af84d9811507e8df48f7d824c6ec8"}, {"document_id": "1077333", "title": "AGE", "reference_date": "2025-12-19", "version": "1", "page": 66, "clause": "7.26", "url": "https://fnet.bmfbovespa.com.br/fnet/publico/visualizarDocumento?id=1077333", "sha256": "a9a25c5f8a0c493373a2157221109466cbc86e5f44f623997bba18ca14892751"}, {"document_id": "1077334", "title": "Regulamento", "reference_date": "2025-12-19", "version": "1", "page": 66, "clause": "7.26", "url": "https://fnet.bmfbovespa.com.br/fnet/publico/visualizarDocumento?id=1077334", "sha256": "a9a25c5f8a0c493373a2157221109466cbc86e5f44f623997bba18ca14892751"}], "reference": {"path": "history/41970012000126.json", "criterion_id": "rating", "total_count": 11, "preview_count": 3, "full_text_deferred": true, "sha256": "229578c6b833b0633051fe7d357f4fcc74589dcf37d7750032517e03ec89ee60"}}</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PLGN Marketplace · vínculo CNPJ 41970012000126 · Emissões e custos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Vínculo: PLGN Marketplace · CNPJ 55563624000109 → CNPJ 41970012000126 · Regulamento · ID 1192614 · 30/04/2026 · versão Regulamento30/04/2026 · p. 11 · AnexoI4.1</a:t>
            </a:r>
          </a:p>
          <a:p>
            <a:r>
              <a:t>Condição do vínculo: {"cnpj": "41970012000126", "name": "Mercado Crédito II Brasil FIDC", "relationship": "named_investee", "exposure": "mezzanine", "position_status": "mandate_identified_position_not_quantified", "risk_note": "Mandato e classe exatos; comparar regras eIMEdo investido na competência doFIC, sem dupla contagem dePL."}</a:t>
            </a:r>
          </a:p>
          <a:p>
            <a:r>
              <a:t>CNPJ 41970012000126 · Remuneração por subclasse e série · Regulamento · ID 1302706 · 2026-08-27 · versão 1 · p. 29 · https://fnet.bmfbovespa.com.br/fnet/publico/visualizarDocumento?id=1302706</a:t>
            </a:r>
          </a:p>
          <a:p>
            <a:r>
              <a:t>CNPJ 41970012000126 · Remuneração por subclasse e série · Excerto da fonte:</a:t>
            </a:r>
          </a:p>
          <a:p>
            <a:r>
              <a:t>MOB15 19,20% (dezenove inteiros e vinte  centésimos por cento)  MOB16 19,22% (dezenove inteiros e vinte e dois  centésimos por cento)  MOB17 19,23% (dezenove inteiros e vinte e três  centésimos por cento)  "MeLi" significa o MERCADOLIBRE, INC., sociedade constituída  em conformidade com as leis do estado de Delaware,  Estados Unidos da América, com sede em 15 East North  Street, Dover, Kent County, Delaware, Estados Unidos  da América, inscrita no CNPJ/MF sob  nº 05.528.233/0001-85.</a:t>
            </a:r>
          </a:p>
          <a:p>
            <a:r>
              <a:t> "Mercado Pago" significa o MERCADO PAGO INSTITUIÇÃO DE  PAGAMENTO LTDA., sociedade empresária limitada com  sede no município de Osasco, estado de São Paulo, na  Avenida das Nações Unidas, nº 3003, parte E, Bonfim,  CEP 06.233-903, inscrita no CNPJ/MF sob o  nº 10.573.521/0001-91.</a:t>
            </a:r>
          </a:p>
          <a:p>
            <a:r>
              <a:t> "Meta de Rentabilidade significa o Benchmark das Cotas Subordinadas Mezanino  Mezanino" de cada Subclasse e, se aplicável, de cada Série, na forma  do disposto em cada Apêndice, acrescido: (i) de  quaisquer Rendimentos Adicionais, se houver  determinação neste sentido no respectivo Apêndice da  respectiva Subclasse ou Série de Cotas Subordinadas  Mezanino; e (ii) da Compensação Extraordinária, se  houver.</a:t>
            </a:r>
          </a:p>
          <a:p>
            <a:r>
              <a:t> "Meta de Rentabilidade Sênior" significa o Benchmark das Cotas Seniores de cada Série,  na forma do disposto em cada Apêndice, acrescido: (i)  de quaisquer Rendimentos Adicionais, se houver  determinação neste sentido no respectivo Apêndice das  Cotas Seniores; e (ii) da Compensação Extraordinária, se  houver.</a:t>
            </a:r>
          </a:p>
          <a:p>
            <a:r>
              <a:t> "Opção de Compra de Direitos Tem o significado que lhe é atribuído no item 5.1.6.3 do  Creditórios" Regulamento.</a:t>
            </a:r>
          </a:p>
          <a:p>
            <a:r>
              <a:t> "Partes Relacionadas" significam as Empresas Controladoras, Controladas, sob  o Controle comum, coligadas e/ou subsidiárias de  determinada sociedade ou pessoa ou fundos de  investimento cuja base de investidores seja constituída  exclusivamente por empresas Controladoras,  Controladas, coligadas, subsidiárias e/ou estejam sob  Controle comum de tal sociedade ou pessoa.</a:t>
            </a:r>
          </a:p>
          <a:p>
            <a:r>
              <a:t> "Patrimônio Líquido do Fundo" significa o valor em reais resultante da soma algébrica  das Disponibilidades e dos Direitos Creditórios  Adquiridos que são parte da Carteira, menos as provisões  feitas em conformidade com o item 6.3 e exigibilidades  do Fundo.</a:t>
            </a:r>
          </a:p>
          <a:p>
            <a:r>
              <a:t>CNPJ 41970012000126 · Remuneração por subclasse e série · Regulamento · ID 1302706 · 2026-08-27 · versão 1 · p. 78 · 11.1 · https://fnet.bmfbovespa.com.br/fnet/publico/visualizarDocumento?id=1302706</a:t>
            </a:r>
          </a:p>
          <a:p>
            <a:r>
              <a:t>CNPJ 41970012000126 · Remuneração por subclasse e série · Excerto da fonte:</a:t>
            </a:r>
          </a:p>
          <a:p>
            <a:r>
              <a:t>11.1. São considerados Eventos de Avaliação do Fundo quaisquer das seguintes ocorrências, observado  que (a) os subitens (i), (ii), (iii), (iv), (v), (vi), (xi), (xvii), (xxiii), (xxiv), (xxvi), (xxviii),(xxx) e (xxxi)  abaixo serão verificados pelo Administrador; (b) os subitens (ix), (xvii) e (xxix)abaixo serão verificados  pelo Gestor; (c) o item (xxv) abaixo será verificado pelos Cotistas Seniores e/ou pelo Administrador; (d)  os subitens (vii), (viii), (xii), (xiii), (xiv), (xv), (xvi), (xviii), (xix), (xx), (xxi), (xxii) poderão ser verificados  pelo Administrador e/ou pelo Gestor; e (e) o item (xxx) poderá ser verificado pelos Cotistas Seniores, sem  prejuízo, em qualquer caso, da obrigação do Mercado Pago e da Instituição Financeira MeLi disposta no  item 11.1.2 abaixo:</a:t>
            </a:r>
          </a:p>
          <a:p>
            <a:r>
              <a:t>(i) não observância do prazo de 180 (cento e oitenta) dias contados da Data da Primeira  Integralização de Cotas do Fundo, ou do prazo adicional concedido pela CVM, se for o caso,  para alocação dos recursos do Fundo na aquisição de Direitos Creditórios em montante que  corresponda a, no mínimo, a Alocação Mínima de Investimento, conforme disposto no item</a:t>
            </a:r>
          </a:p>
          <a:p>
            <a:r>
              <a:t>(ii) na hipótese de serem realizados pagamentos de rendimentos, Amortização ou resgate de Cotas  Subordinadas Mezanino ou de Cotas Subordinadas Júnior em desacordo com este Regulamento;</a:t>
            </a:r>
          </a:p>
          <a:p>
            <a:r>
              <a:t>(iii) o Fundo deixe de deter natureza jurídica de condomínio de natureza especial, nos termos da  legislação aplicável;</a:t>
            </a:r>
          </a:p>
          <a:p>
            <a:r>
              <a:t>(iv) caso a Assembleia Geral de Cotistas convocada nos termos do item 5.3.5.1 delibere que a  Inconsistência Relevante verificada constitui um Evento de Avaliação;</a:t>
            </a:r>
          </a:p>
          <a:p>
            <a:r>
              <a:t>(v) não realização de pagamento da Meta de Rentabilidade Sênior e/ou da Meta de Rentabilidade  Mezanino aplicável, da Amortização de Cotas Seniores e/ou de Cotas Subordinadas Mezanino  ou amortização integral/resgate de Cotas Seniores e/ou de Cotas Subordinadas Mezanino em até  2 (dois) Dias Úteis contados da esperada Data de Pagamento ou Data de Amortização Integral  definidas nos respectivos Apêndices, conforme aplicável, observado que, após a Data Limite de  Investimento em Direitos Creditórios e/ou em caso de Evento de Amortização Acelerada e/ou  Evento de Liquidação, a ausência de amortização de Cotas Subordinadas Mezanino, nos termos  da ordem de alocação de recursos prevista no item 20.3, enquanto não houver a amortização  integral/resgate de todas as Cotas Seniores, não será considerada um Evento de Avaliação;</a:t>
            </a:r>
          </a:p>
          <a:p>
            <a:r>
              <a:t>(vi) não realização de pagamento decorrente de um Evento de Pagamento Qualificado nos termos  do item 12.7, subitem (ii), observado o prazo de cura de 2 (dois) Dias Úteis contados da  respectiva data esperada;</a:t>
            </a:r>
          </a:p>
          <a:p>
            <a:r>
              <a:t>(vii) na ocorrência de um inadimplemento de quaisquer obrigações assumidas pelo Mercado Pago  e/ou por qualquer Endossante em quaisquer Documentos do Fundo que não seja sanado (se  btgpactual.com</a:t>
            </a:r>
          </a:p>
          <a:p>
            <a:r>
              <a:t>CNPJ 41970012000126 · Remuneração por subclasse e série · Regulamento · ID 1302706 · 2026-08-27 · versão 1 · p. 102 · 20.2 · https://fnet.bmfbovespa.com.br/fnet/publico/visualizarDocumento?id=1302706</a:t>
            </a:r>
          </a:p>
          <a:p>
            <a:r>
              <a:t>CNPJ 41970012000126 · Remuneração por subclasse e série · Excerto da fonte:</a:t>
            </a:r>
          </a:p>
          <a:p>
            <a:r>
              <a:t>20.2. Até a Data Limite de Investimento em Direitos Creditórios, e desde que não haja a ocorrência de  um Evento de Amortização Acelerada, de um Evento de Avaliação ou de um Evento de Liquidação do  Fundo, o Administrador deverá, em cada Dia Útil, por meio dos competentes débitos realizados na Conta  de Pagamento, na Conta do Fundo, alocar os recursos decorrentes da integralização das Cotas e do  recebimento de recursos provenientes da Carteira do Fundo, na seguinte ordem, conforme aplicável:</a:t>
            </a:r>
          </a:p>
          <a:p>
            <a:r>
              <a:t>(i) pagamento de despesas e encargos de responsabilidade do Fundo, devidos nos termos deste  Regulamento e da legislação aplicável, incluindo a Taxa de Administração, a Taxa de Custódia  e a Taxa de Gestão, exceto pela remuneração do Agente de Recebimento e do Agente de  Cobrança e pelo Reembolso de Despesas do Agente de Cobrança;</a:t>
            </a:r>
          </a:p>
          <a:p>
            <a:r>
              <a:t>(ii) constituição ou recomposição do saldo da Reserva para Despesas, conforme aplicável, exceto  pela remuneração do Agente de Recebimento e do Agente de Cobrança e pelo Reembolso de  Despesas do Agente de Cobrança;</a:t>
            </a:r>
          </a:p>
          <a:p>
            <a:r>
              <a:t>(iii) caso seja uma Data de Pagamento, pagamento da remuneração do Agente de Recebimento e do  Agente de Cobrança, bem como o Reembolso de Despesas do Agente de Cobrança, limitado de  forma agregada a 1% (um por cento) ao ano do Patrimônio Líquido do Fundo, apurado em base  de 252 (duzentos e cinquenta e dois) Dias Úteis;</a:t>
            </a:r>
          </a:p>
          <a:p>
            <a:r>
              <a:t>(iv) caso seja uma Data de Pagamento, pagamento da Meta de Rentabilidade Sênior aos titulares de  Cotas Seniores em Circulação, observado o disposto no respectivo Apêndice;</a:t>
            </a:r>
          </a:p>
          <a:p>
            <a:r>
              <a:t>(v) caso seja uma Data de Pagamento, pagamento de amortização extraordinária de Cotas Seniores  na ocorrência das hipóteses previstas no item 12.4 e/ou no item 12.9 acima;</a:t>
            </a:r>
          </a:p>
          <a:p>
            <a:r>
              <a:t>(vi) caso seja uma Data de Pagamento, pagamento da Meta de Rentabilidade Mezanino aos titulares  de Cotas Subordinadas Mezanino A em Circulação, observado o disposto no respectivo  Apêndice, sempre limitado ao valor que, considerada pro forma o pagamento da Meta de  Rentabilidade Mezanino pretendido, não haja desenquadramento da Senioridade Máxima;</a:t>
            </a:r>
          </a:p>
          <a:p>
            <a:r>
              <a:t>(vii) caso seja uma Data de Pagamento e tenha sido alterada a Data Limite de Investimento em  Direitos Creditórios sem voto afirmativo ou manifestação favorável dos titulares de Cotas  Subordinadas Mezanino, realização de amortização extraordinária das Cotas Subordinadas  Mezanino A, limitado ao valor que, considerada pro forma a amortização pretendida, não  btgpactual.com</a:t>
            </a:r>
          </a:p>
          <a:p>
            <a:r>
              <a:t>CNPJ 41970012000126 · Remuneração por subclasse e série · Condição: Documentos atuais selecionados no inventário por categoria/escopo; a data documental isolada não comprova vigência jurídica.</a:t>
            </a:r>
          </a:p>
          <a:p>
            <a:r>
              <a:t>CNPJ 41970012000126 · Remuneração por subclasse e série · Versão e prevalência: Documentos atuais selecionados no inventário por categoria/escopo; a data documental isolada não comprova vigência jurídica.</a:t>
            </a:r>
          </a:p>
          <a:p>
            <a:r>
              <a:t>CNPJ 41970012000126 · Remuneração por subclasse e série · Resumo do histórico: {"count": 12, "dates": ["2025-12-19", "2026-08-27"], "document_count": 3, "sources": [{"document_id": "1302706", "title": "Regulamento", "reference_date": "2026-08-27", "version": "1", "page": "134–159", "url": "https://fnet.bmfbovespa.com.br/fnet/publico/visualizarDocumento?id=1302706", "sha256": "b113727bc2bc3b1a6b0d18f02bf2143068fd912df2d83cbb91ab44fcb30a3379"}, {"document_id": "1077333", "title": "AGE", "reference_date": "2025-12-19", "version": "1", "page": 125, "clause": "20.3", "url": "https://fnet.bmfbovespa.com.br/fnet/publico/visualizarDocumento?id=1077333", "sha256": "a9a25c5f8a0c493373a2157221109466cbc86e5f44f623997bba18ca14892751"}, {"document_id": "1077334", "title": "Regulamento", "reference_date": "2025-12-19", "version": "1", "page": 125, "clause": "20.3", "url": "https://fnet.bmfbovespa.com.br/fnet/publico/visualizarDocumento?id=1077334", "sha256": "a9a25c5f8a0c493373a2157221109466cbc86e5f44f623997bba18ca14892751"}], "reference": {"path": "history/41970012000126.json", "criterion_id": "remuneration", "total_count": 12, "preview_count": 3, "full_text_deferred": true, "sha256": "229578c6b833b0633051fe7d357f4fcc74589dcf37d7750032517e03ec89ee60"}}</a:t>
            </a:r>
          </a:p>
          <a:p>
            <a:r>
              <a:t>CNPJ 41970012000126 · Volume, VNU e emissão · Regulamento · ID 1302706 · 2026-08-27 · versão 1 · p. 31 · https://fnet.bmfbovespa.com.br/fnet/publico/visualizarDocumento?id=1302706</a:t>
            </a:r>
          </a:p>
          <a:p>
            <a:r>
              <a:t>CNPJ 41970012000126 · Volume, VNU e emissão · Excerto da fonte:</a:t>
            </a:r>
          </a:p>
          <a:p>
            <a:r>
              <a:t>"Política de Originação e significa a política de originação e concessão de crédito  Concessão de Crédito" adotada pela Instituição Financeira MeLi e pelo Mercado  Pago, prevista no COMPLEMENTO III deste  Regulamento.</a:t>
            </a:r>
          </a:p>
          <a:p>
            <a:r>
              <a:t> "Política de Seleção e significa a política de seleção de Direitos Creditórios por  Verificação de Lastro" amostragem e verificação de lastro prevista no  COMPLEMENTO V deste Regulamento.</a:t>
            </a:r>
          </a:p>
          <a:p>
            <a:r>
              <a:t> "Preço de Aquisição" significa o preço devido pelo Fundo em razão da  aquisição dos Direitos Creditórios, devido em moeda  corrente nacional e nos termos do respectivo Termo de  Endosso.</a:t>
            </a:r>
          </a:p>
          <a:p>
            <a:r>
              <a:t> "Prestadores de Serviço de tem o significado a ele atribuído no COMPLEMENTO  Cobrança" IV.</a:t>
            </a:r>
          </a:p>
          <a:p>
            <a:r>
              <a:t> "Primeira Emissão" significa a primeira Emissão da primeira Série de Cotas  Seniores pelo Fundo, composta por 1.200.000 (um  milhão e duzentas mil) Cotas Seniores, que totalizarão  até R$1.200.000.000,00 (um bilhão e duzentos milhões  de reais), considerando o Valor Nominal Unitário de  Emissão.</a:t>
            </a:r>
          </a:p>
          <a:p>
            <a:r>
              <a:t> "Razão de Subordinação significa a razão entre: (i) a soma do valor das Cotas  Mezanino A" Subordinadas Mezanino B em Circulação, do valor das  Cotas Subordinadas Mezanino C em Circulação e do valor  das Cotas Subordinadas Júnior em Circulação; e (ii) o  Patrimônio Líquido do Fundo ambos calculados em uma  mesma data, equivalente a 20% (vinte por cento).</a:t>
            </a:r>
          </a:p>
          <a:p>
            <a:r>
              <a:t> Caso seja caracterizado um Evento de Step-Down, a  Razão de Subordinação Mezanino A será  automaticamente majorada em percentual suficiente para  equivaler ao Valor de Redução Evento de Step-Down  Nível 1 ou Valor de Redução Evento de Step-Down Nível  2, de forma não cumulativa. Por exemplo: caso haja  Evento de Step-Down Nível 1, nos termos do item (i) da  definição de Evento de Step-Down Nível 1, a Razão de  Subordinação Mezanino A será automaticamente  majorada em 5 (cinco) pontos percentuais, assim  permanecendo enquanto remanescer o Evento de Step-  Down Nível 1.</a:t>
            </a:r>
          </a:p>
          <a:p>
            <a:r>
              <a:t> A Razão de Subordinação Mezanino A será calculada  diariamente pelo Gestor e disponibilizada em cada Data  de Envio do Relatório de Acompanhamento, por meio do  respectivo Relatório de Acompanhamento, sendo certo  que, em caso de desenquadramento da Razão de  Subordinação Mezanino A, o Administrador deverá  comunicar imediatamente tal fato aos Cotistas, após  notificação do Gestor nesse sentido.</a:t>
            </a:r>
          </a:p>
          <a:p>
            <a:r>
              <a:t> "Razão de Subordinação significa a razão entre: (i) a soma do valor das Cotas  Mezanino B" Subordinadas Mezanino C em Circulação e das Cotas  Subordinadas Júnior em Circulação; e (ii) o Patrimônio  btgpactual.com</a:t>
            </a:r>
          </a:p>
          <a:p>
            <a:r>
              <a:t>CNPJ 41970012000126 · Volume, VNU e emissão · Regulamento · ID 1302706 · 2026-08-27 · versão 1 · p. 37 · https://fnet.bmfbovespa.com.br/fnet/publico/visualizarDocumento?id=1302706</a:t>
            </a:r>
          </a:p>
          <a:p>
            <a:r>
              <a:t>CNPJ 41970012000126 · Volume, VNU e emissão · Excerto da fonte:</a:t>
            </a:r>
          </a:p>
          <a:p>
            <a:r>
              <a:t>"Valor de Redução Evento de significa, na ocorrência de um Evento de Step-Down  Step-Down Nível 1" Nível 1 nos termos do item (i) da definição de Evento de  Step-Down Nível 1, 5% (cinco por cento);</a:t>
            </a:r>
          </a:p>
          <a:p>
            <a:r>
              <a:t> Na ocorrência de um Evento de Step-Down Nível 1 nos  termos do item (ii) da definição de Evento de Step-Down  Nível 1, o Índice de Inadimplência menos 8% (oito por  cento).</a:t>
            </a:r>
          </a:p>
          <a:p>
            <a:r>
              <a:t> "Valor de Redução Evento de significa, na ocorrência de um Evento de Step-Down  Step-Down Nível 2" Nível 2, 15% (quinze por cento).</a:t>
            </a:r>
          </a:p>
          <a:p>
            <a:r>
              <a:t> "Valor Limite de Remuneração tem o significado atribuído no Contrato de Cobrança.</a:t>
            </a:r>
          </a:p>
          <a:p>
            <a:r>
              <a:t> e Reembolso"  "Valor Máximo de significa o valor máximo de investimento em Cotas  Investimento Mezanino" Subordinadas Mezanino, equivalente, de forma agregada  entre as Subclasses de Cotas Subordinadas Mezanino, a  R$400.000.000,00 (quatrocentos milhões de reais),  observadas as disposições referentes ao "Capital  Comprometido Individual do Subscritor" previstas em  cada Compromisso de Investimento e/ou Boletim de  Subscrição.</a:t>
            </a:r>
          </a:p>
          <a:p>
            <a:r>
              <a:t> "Valor Máximo de O valor máximo de investimento previsto em cada  Investimento Sênior" Compromisso de Investimento Sênior e no Apêndice da  respectiva emissão de Cotas Seniores, observadas as  disposições referentes ao "Capital Comprometido  Individual do Subscritor" previstas em cada  Compromisso de Investimento Sênior.</a:t>
            </a:r>
          </a:p>
          <a:p>
            <a:r>
              <a:t> "Valor Nominal Unitário de significa o valor nominal unitário de Emissão das Cotas,  Emissão" correspondente a R$1.000,00 (mil reais) por Cota, na  respectiva Data da Primeira Integralização, observado o  disposto no respectivo Apêndice.</a:t>
            </a:r>
          </a:p>
          <a:p>
            <a:r>
              <a:t> "Valor Principal" significa, em relação a qualquer Direito Creditório, o  saldo devido e não pago do valor principal do crédito  (sem considerar quaisquer valores decorrentes de</a:t>
            </a:r>
          </a:p>
          <a:p>
            <a:r>
              <a:t>CNPJ 41970012000126 · Volume, VNU e emissão · Regulamento · ID 1302706 · 2026-08-27 · versão 1 · p. 148 · https://fnet.bmfbovespa.com.br/fnet/publico/visualizarDocumento?id=1302706</a:t>
            </a:r>
          </a:p>
          <a:p>
            <a:r>
              <a:t>CNPJ 41970012000126 · Volume, VNU e emissão · Excerto da fonte:</a:t>
            </a:r>
          </a:p>
          <a:p>
            <a:r>
              <a:t>Quantidade de Cotas Será o resultado da divisão do "Valor Total das Cotas  Subordinadas Mezanino A Subordinadas Mezanino A da Emissão" pelo "Valor  Nominal Unitário de Emissão" na abertura da Data da  Conversão. [</a:t>
            </a:r>
          </a:p>
          <a:p>
            <a:r>
              <a:t>CNPJ 41970012000126 · Volume, VNU e emissão · Condição: Documentos atuais selecionados no inventário por categoria/escopo; a data documental isolada não comprova vigência jurídica.</a:t>
            </a:r>
          </a:p>
          <a:p>
            <a:r>
              <a:t>CNPJ 41970012000126 · Volume, VNU e emissão · Versão e prevalência: Documentos atuais selecionados no inventário por categoria/escopo; a data documental isolada não comprova vigência jurídica.</a:t>
            </a:r>
          </a:p>
          <a:p>
            <a:r>
              <a:t>CNPJ 41970012000126 · Volume, VNU e emissão · Resumo do histórico: {"count": 11, "dates": ["2025-12-19", "2025-12-31", "2026-08-27"], "document_count": 3, "sources": [{"document_id": "1302706", "title": "Regulamento", "reference_date": "2026-08-27", "version": "1", "page": "141", "url": "https://fnet.bmfbovespa.com.br/fnet/publico/visualizarDocumento?id=1302706", "sha256": "b113727bc2bc3b1a6b0d18f02bf2143068fd912df2d83cbb91ab44fcb30a3379"}, {"document_id": "1151156", "title": "Demonstrações Financeiras", "reference_date": "2025-12-31", "version": "1", "page": 41, "url": "https://fnet.bmfbovespa.com.br/fnet/publico/visualizarDocumento?id=1151156", "sha256": "04099e318871fbf25478d1ed88b19c4c6c6af84d9811507e8df48f7d824c6ec8"}, {"document_id": "1077333", "title": "AGE", "reference_date": "2025-12-19", "version": "1", "page": 59, "clause": "7.11", "url": "https://fnet.bmfbovespa.com.br/fnet/publico/visualizarDocumento?id=1077333", "sha256": "a9a25c5f8a0c493373a2157221109466cbc86e5f44f623997bba18ca14892751"}], "reference": {"path": "history/41970012000126.json", "criterion_id": "issue_volume", "total_count": 11, "preview_count": 3, "full_text_deferred": true, "sha256": "229578c6b833b0633051fe7d357f4fcc74589dcf37d7750032517e03ec89ee60"}}</a:t>
            </a:r>
          </a:p>
          <a:p>
            <a:r>
              <a:t>CNPJ 41970012000126 · Administração: taxa, base emínimo · Regulamento · ID 1302706 · 27/08/2026 · versão Regulamento27/08/2026 · p. 100 · 19.1–19.1.3 · https://fnet.bmfbovespa.com.br/fnet/publico/visualizarDocumento?id=1302706</a:t>
            </a:r>
          </a:p>
          <a:p>
            <a:r>
              <a:t>CNPJ 41970012000126 · Administração: taxa, base emínimo · Excerto da fonte:</a:t>
            </a:r>
          </a:p>
          <a:p>
            <a:r>
              <a:t>19.1. Pelos serviços de administração e escrituração de Cotas será devida, pelo Fundo, uma Taxa de Administração, equivalente ao percentual de 0,075% (setenta e cinco milésimos por cento) ao ano sobre o Patrimônio Líquido do Fundo, observado o valor mínimo mensal de R$15.000,00 (quinze mil reais). 19.1.1. A Taxa de Custódia devida pelo Fundo pelos serviços de custódia qualificada dos Direitos Creditórios integrantes da Carteira está incluída na Taxa de Administração. 19.1.2. A Taxa de Administração e a Taxa de Custódia serão provisionadas diariamente e pagas mensalmente, sendo a parcela disposta no item 19.1 paga no 5º (quinto) Dia Útil do m</a:t>
            </a:r>
          </a:p>
          <a:p>
            <a:r>
              <a:t>CNPJ 41970012000126 · Administração: taxa, base emínimo · Regulamento · ID 1302706 · 27/08/2026 · versão Regulamento27/08/2026 · p. 101 · 19.5 · https://fnet.bmfbovespa.com.br/fnet/publico/visualizarDocumento?id=1302706</a:t>
            </a:r>
          </a:p>
          <a:p>
            <a:r>
              <a:t>CNPJ 41970012000126 · Administração: taxa, base emínimo · Excerto da fonte:</a:t>
            </a:r>
          </a:p>
          <a:p>
            <a:r>
              <a:t>19.5. Os valores fixos descritos neste Capítulo serão corrigidos anualmente pelo IPCA. 19.5.1. O Gestor não receberá qualquer remuneração dos Devedores e Ativos Financeiros adquiridos pelo Fundo, ou suas respectivas Partes Relacionadas, relacionada à aquisição dos Direitos Creditórios e Ativos Financeiros ou à prestação dos serviços para o Fundo, seja diretamente ou por meio de qualquer de suas Partes Relacionadas, incluindo, sem limitação, comissões pela intermediação de operações e remunerações por serviços prestados de qualquer natureza, devendo transferir ao Fundo qualquer benefício ou vantagem que possa alcançar neste sentido.</a:t>
            </a:r>
          </a:p>
          <a:p>
            <a:r>
              <a:t>CNPJ 41970012000126 · Administração: taxa, base emínimo · Versão e prevalência: Leitura específica das cláusulas indicadas; condições e conflitos preservados. Seleção documental atual não comprova vigência jurídica por data isolada.</a:t>
            </a:r>
          </a:p>
          <a:p>
            <a:r>
              <a:t>CNPJ 41970012000126 · Administração: taxa, base emínimo · Resumo do histórico: {"count": 12, "dates": ["2025-12-19", "2025-12-31", "2026-08-27"], "document_count": 3, "sources": [{"document_id": "1302706", "title": "Regulamento", "reference_date": "2026-08-27", "version": "1", "page": "100", "url": "https://fnet.bmfbovespa.com.br/fnet/publico/visualizarDocumento?id=1302706", "sha256": "b113727bc2bc3b1a6b0d18f02bf2143068fd912df2d83cbb91ab44fcb30a3379"}, {"document_id": "1151156", "title": "Demonstrações Financeiras", "reference_date": "2025-12-31", "version": "1", "page": 38, "url": "https://fnet.bmfbovespa.com.br/fnet/publico/visualizarDocumento?id=1151156", "sha256": "04099e318871fbf25478d1ed88b19c4c6c6af84d9811507e8df48f7d824c6ec8"}, {"document_id": "1077333", "title": "AGE", "reference_date": "2025-12-19", "version": "1", "page": 121, "clause": "19.1", "url": "https://fnet.bmfbovespa.com.br/fnet/publico/visualizarDocumento?id=1077333", "sha256": "a9a25c5f8a0c493373a2157221109466cbc86e5f44f623997bba18ca14892751"}], "reference": {"path": "history/41970012000126.json", "criterion_id": "admin_fee", "total_count": 12, "preview_count": 3, "full_text_deferred": true, "sha256": "229578c6b833b0633051fe7d357f4fcc74589dcf37d7750032517e03ec89ee60"}}</a:t>
            </a:r>
          </a:p>
          <a:p>
            <a:r>
              <a:t>CNPJ 41970012000126 · Gestão: taxa, base emínimo · Regulamento · ID 1302706 · 27/08/2026 · versão Regulamento27/08/2026 · p. 101 · 19.2–19.3 · https://fnet.bmfbovespa.com.br/fnet/publico/visualizarDocumento?id=1302706</a:t>
            </a:r>
          </a:p>
          <a:p>
            <a:r>
              <a:t>CNPJ 41970012000126 · Gestão: taxa, base emínimo · Excerto da fonte:</a:t>
            </a:r>
          </a:p>
          <a:p>
            <a:r>
              <a:t>19.2. Pelos serviços de gestão da Carteira será devida, pelo Fundo, uma Taxa de Gestão no valor equivalente ao percentual incidente determinado pela tabela abaixo sobre as faixas da soma de patrimônio líquido do Fundo e do Mercado Crédito Fundo de Investimento em Direitos Creditórios Não Padronizado, inscrito no CNPJ sob o nº 33.254.370/0001-04, conforme também indicados na tabela abaixo, acrescido, se for o caso, dos montantes previstos no item 19.2.1 baixo: PL Mínimo (R$) PL Máximo (R$) Percentual (% a.a.) Sem Limite Até 0,00 zero De 0,01</a:t>
            </a:r>
          </a:p>
          <a:p>
            <a:r>
              <a:t>CNPJ 41970012000126 · Gestão: taxa, base emínimo · Versão e prevalência: Leitura específica das cláusulas indicadas; condições e conflitos preservados. Seleção documental atual não comprova vigência jurídica por data isolada.</a:t>
            </a:r>
          </a:p>
          <a:p>
            <a:r>
              <a:t>CNPJ 41970012000126 · Gestão: taxa, base emínimo · Resumo do histórico: {"count": 6, "dates": ["2025-12-19", "2026-08-27"], "document_count": 3, "sources": [{"document_id": "1302706", "title": "Regulamento", "reference_date": "2026-08-27", "version": "1", "page": "101", "url": "https://fnet.bmfbovespa.com.br/fnet/publico/visualizarDocumento?id=1302706", "sha256": "b113727bc2bc3b1a6b0d18f02bf2143068fd912df2d83cbb91ab44fcb30a3379"}, {"document_id": "1077333", "title": "AGE", "reference_date": "2025-12-19", "version": "1", "page": 122, "clause": "19.2.1", "url": "https://fnet.bmfbovespa.com.br/fnet/publico/visualizarDocumento?id=1077333", "sha256": "a9a25c5f8a0c493373a2157221109466cbc86e5f44f623997bba18ca14892751"}, {"document_id": "1077334", "title": "Regulamento", "reference_date": "2025-12-19", "version": "1", "page": 122, "clause": "19.2.1", "url": "https://fnet.bmfbovespa.com.br/fnet/publico/visualizarDocumento?id=1077334", "sha256": "a9a25c5f8a0c493373a2157221109466cbc86e5f44f623997bba18ca14892751"}], "reference": {"path": "history/41970012000126.json", "criterion_id": "management_fee", "total_count": 6, "preview_count": 3, "full_text_deferred": true, "sha256": "229578c6b833b0633051fe7d357f4fcc74589dcf37d7750032517e03ec89ee60"}}</a:t>
            </a:r>
          </a:p>
          <a:p>
            <a:r>
              <a:t>CNPJ 41970012000126 · Performance: benchmark eapuração · Regulamento · ID 1302706 · 27/08/2026 · versão Regulamento27/08/2026 · p. 88 · 14.1matériasreservadas · https://fnet.bmfbovespa.com.br/fnet/publico/visualizarDocumento?id=1302706</a:t>
            </a:r>
          </a:p>
          <a:p>
            <a:r>
              <a:t>CNPJ 41970012000126 · Performance: benchmark eapuração · Excerto da fonte:</a:t>
            </a:r>
          </a:p>
          <a:p>
            <a:r>
              <a:t>performance, taxa de ingresso ou taxa de saída dos Cotistas. Capítulo 14 – DAS DEMONSTRAÇÕES FINANCEIRAS 14.1. O Fundo terá escrituração contábil própria, separada da relativa ao Administrador e deverá: (i) manter e implementar procedimentos administrativos e operacionais; e (ii) guardar e manter todos os documentos, livros, registros e demais informações materialmente necessárias para a adequada administração do Fundo. 14.2. O exercício social do Fundo iniciar-se-á em 1º de janeiro e encerrar-se-á em 31 de dezembro de cada ano. 14.3. O Fundo está sujeito às normas de escrituração, elaboração, remessa e publicidad</a:t>
            </a:r>
          </a:p>
          <a:p>
            <a:r>
              <a:t>CNPJ 41970012000126 · Performance: benchmark eapuração · Regulamento · ID 1302706 · 27/08/2026 · versão Regulamento27/08/2026 · p. 100 · 19.1 · https://fnet.bmfbovespa.com.br/fnet/publico/visualizarDocumento?id=1302706</a:t>
            </a:r>
          </a:p>
          <a:p>
            <a:r>
              <a:t>CNPJ 41970012000126 · Performance: benchmark eapuração · Excerto da fonte:</a:t>
            </a:r>
          </a:p>
          <a:p>
            <a:r>
              <a:t>19.1. Pelos serviços de administração e escrituração de Cotas será devida, pelo Fundo, uma Taxa de Administração, equivalente ao percentual de 0,075% (setenta e cinco milésimos por cento) ao ano sobre o Patrimônio Líquido do Fundo, observado o valor mínimo mensal de R$15.000,00 (quinze mil reais). 19.1.1. A Taxa de Custódia devida pelo Fundo pelos serviços de custódia qualificada dos Direitos Creditórios integrantes da Carteira está incluída na Taxa de Administração. 19.1.2. A Taxa de Administração e a Taxa de Custódia serão provisionadas diariamente e pagas mensalmente, sendo a parcela disposta no item 19.1 paga no 5º (quinto) Dia Útil do m</a:t>
            </a:r>
          </a:p>
          <a:p>
            <a:r>
              <a:t>CNPJ 41970012000126 · Performance: benchmark eapuração · Regulamento · ID 1302706 · 27/08/2026 · versão Regulamento27/08/2026 · p. 101 · 19.2 · https://fnet.bmfbovespa.com.br/fnet/publico/visualizarDocumento?id=1302706</a:t>
            </a:r>
          </a:p>
          <a:p>
            <a:r>
              <a:t>CNPJ 41970012000126 · Performance: benchmark eapuração · Excerto da fonte:</a:t>
            </a:r>
          </a:p>
          <a:p>
            <a:r>
              <a:t>19.2. Pelos serviços de gestão da Carteira será devida, pelo Fundo, uma Taxa de Gestão no valor equivalente ao percentual incidente determinado pela tabela abaixo sobre as faixas da soma de patrimônio líquido do Fundo e do Mercado Crédito Fundo de Investimento em Direitos Creditórios Não Padronizado, inscrito no CNPJ sob o nº 33.254.370/0001-04, conforme também indicados na tabela abaixo, acrescido, se for o caso, dos montantes previstos no item 19.2.1 baixo: PL Mínimo (R$) PL Máximo (R$) Percentual (% a.a.) Sem Limite Até 0,00 zero De 0,01</a:t>
            </a:r>
          </a:p>
          <a:p>
            <a:r>
              <a:t>CNPJ 41970012000126 · Performance: benchmark eapuração · Motivo: A menção nas matérias da AGC autoriza criação/aumento de taxas. O capítulo19 fixa administração/gestão e não institui taxa de performance; não foi localizado percentual ou fórmula de performance nessa versão.</a:t>
            </a:r>
          </a:p>
          <a:p>
            <a:r>
              <a:t>CNPJ 41970012000126 · Performance: benchmark eapuração · Versão e prevalência: Leitura específica das cláusulas indicadas; condições e conflitos preservados. Seleção documental atual não comprova vigência jurídica por data isolada.</a:t>
            </a:r>
          </a:p>
          <a:p>
            <a:r>
              <a:t>CNPJ 41970012000126 · Custódia, escrituração e encargos · Regulamento · ID 1302706 · 2026-08-27 · versão 1 · p. 102 · 20.2 · https://fnet.bmfbovespa.com.br/fnet/publico/visualizarDocumento?id=1302706</a:t>
            </a:r>
          </a:p>
          <a:p>
            <a:r>
              <a:t>CNPJ 41970012000126 · Custódia, escrituração e encargos · Excerto da fonte:</a:t>
            </a:r>
          </a:p>
          <a:p>
            <a:r>
              <a:t>20.2. Até a Data Limite de Investimento em Direitos Creditórios, e desde que não haja a ocorrência de  um Evento de Amortização Acelerada, de um Evento de Avaliação ou de um Evento de Liquidação do  Fundo, o Administrador deverá, em cada Dia Útil, por meio dos competentes débitos realizados na Conta  de Pagamento, na Conta do Fundo, alocar os recursos decorrentes da integralização das Cotas e do  recebimento de recursos provenientes da Carteira do Fundo, na seguinte ordem, conforme aplicável:</a:t>
            </a:r>
          </a:p>
          <a:p>
            <a:r>
              <a:t>(i) pagamento de despesas e encargos de responsabilidade do Fundo, devidos nos termos deste  Regulamento e da legislação aplicável, incluindo a Taxa de Administração, a Taxa de Custódia  e a Taxa de Gestão, exceto pela remuneração do Agente de Recebimento e do Agente de  Cobrança e pelo Reembolso de Despesas do Agente de Cobrança;</a:t>
            </a:r>
          </a:p>
          <a:p>
            <a:r>
              <a:t>(ii) constituição ou recomposição do saldo da Reserva para Despesas, conforme aplicável, exceto  pela remuneração do Agente de Recebimento e do Agente de Cobrança e pelo Reembolso de  Despesas do Agente de Cobrança;</a:t>
            </a:r>
          </a:p>
          <a:p>
            <a:r>
              <a:t>(iii) caso seja uma Data de Pagamento, pagamento da remuneração do Agente de Recebimento e do  Agente de Cobrança, bem como o Reembolso de Despesas do Agente de Cobrança, limitado de  forma agregada a 1% (um por cento) ao ano do Patrimônio Líquido do Fundo, apurado em base  de 252 (duzentos e cinquenta e dois) Dias Úteis;</a:t>
            </a:r>
          </a:p>
          <a:p>
            <a:r>
              <a:t>(iv) caso seja uma Data de Pagamento, pagamento da Meta de Rentabilidade Sênior aos titulares de  Cotas Seniores em Circulação, observado o disposto no respectivo Apêndice;</a:t>
            </a:r>
          </a:p>
          <a:p>
            <a:r>
              <a:t>(v) caso seja uma Data de Pagamento, pagamento de amortização extraordinária de Cotas Seniores  na ocorrência das hipóteses previstas no item 12.4 e/ou no item 12.9 acima;</a:t>
            </a:r>
          </a:p>
          <a:p>
            <a:r>
              <a:t>(vi) caso seja uma Data de Pagamento, pagamento da Meta de Rentabilidade Mezanino aos titulares  de Cotas Subordinadas Mezanino A em Circulação, observado o disposto no respectivo  Apêndice, sempre limitado ao valor que, considerada pro forma o pagamento da Meta de  Rentabilidade Mezanino pretendido, não haja desenquadramento da Senioridade Máxima;</a:t>
            </a:r>
          </a:p>
          <a:p>
            <a:r>
              <a:t>(vii) caso seja uma Data de Pagamento e tenha sido alterada a Data Limite de Investimento em  Direitos Creditórios sem voto afirmativo ou manifestação favorável dos titulares de Cotas  Subordinadas Mezanino, realização de amortização extraordinária das Cotas Subordinadas  Mezanino A, limitado ao valor que, considerada pro forma a amortização pretendida, não  btgpactual.com</a:t>
            </a:r>
          </a:p>
          <a:p>
            <a:r>
              <a:t>CNPJ 41970012000126 · Custódia, escrituração e encargos · Regulamento · ID 1302706 · 2026-08-27 · versão 1 · p. 36 · https://fnet.bmfbovespa.com.br/fnet/publico/visualizarDocumento?id=1302706</a:t>
            </a:r>
          </a:p>
          <a:p>
            <a:r>
              <a:t>CNPJ 41970012000126 · Custódia, escrituração e encargos · Excerto da fonte:</a:t>
            </a:r>
          </a:p>
          <a:p>
            <a:r>
              <a:t>MeLi e de suas Subsidiárias de forma consolidada  naquela data.</a:t>
            </a:r>
          </a:p>
          <a:p>
            <a:r>
              <a:t> "Taxa de Administração" significa a taxa devida ao Administrador, conforme  prevista no Capítulo 19 deste Regulamento.</a:t>
            </a:r>
          </a:p>
          <a:p>
            <a:r>
              <a:t> "Taxa de Inadimplência significa, em relação a cada Data Base e cada Safra de  Acumulada +90" Originação, a razão (expressa em percentual) entre: (a) o  saldo total de principal em aberto de todos os Direitos  Creditórios Over90 de tal Safra de Originação; e (b) o  saldo total de principal original de todos os Direitos  Creditórios que compõem tal Safra de Originação Para  fins de clareza, a respectiva MOB de cada Safra de  Originação não se altera entre a Data Base 1 e a Data  Base 2 imediatamente subsequente, entretanto os valores  calculados em (a) e (b) acima serão atualizados conforme  apurados na respectiva Data Base 1 e Data Base 2.</a:t>
            </a:r>
          </a:p>
          <a:p>
            <a:r>
              <a:t> "Taxa DI" significa a taxa média referencial dos depósitos  interfinanceiros (DI Extragrupo) apurada pela B3 e  divulgada no informativo diário disponível em sua  página na Internet ou em qualquer outro site ou  publicação que venha a substituí-lo, expressa na forma  percentual e calculada diariamente sob forma de  capitalização composta, com base em um ano de 252  (duzentos e cinquenta e dois) dias úteis, sendo certo que,  caso tal taxa seja negativa, será utilizado o valor de  0,00% para fins de cálculo.</a:t>
            </a:r>
          </a:p>
          <a:p>
            <a:r>
              <a:t> "Taxa de Custódia" significa a taxa devida ao Custodiante, conforme prevista  no Capítulo 19 deste Regulamento.</a:t>
            </a:r>
          </a:p>
          <a:p>
            <a:r>
              <a:t> "Taxa de Gestão" significa a taxa devida ao Gestor, conforme prevista no  Capítulo 19 deste Regulamento.</a:t>
            </a:r>
          </a:p>
          <a:p>
            <a:r>
              <a:t> "Terceira Emissão" significa a terceira Emissão da primeira Série de Cotas  Seniores pelo Fundo, composta por 1.016.076 (um  milhão, dezesseis mil e setenta e seis) Cotas Seniores,  que totalizam R$500.000.838,84 (quinhentos milhões,  oitocentos e trinta e oito reais e oitenta e quatro  centavos), considerando o valor da Cota Sênior em 14 de  agosto de 2026.</a:t>
            </a:r>
          </a:p>
          <a:p>
            <a:r>
              <a:t> "Termo de Adesão" significa o termo de adesão a este Regulamento e de  ciência de risco, a ser assinado por cada investidor por  ocasião da subscrição de Cotas.</a:t>
            </a:r>
          </a:p>
          <a:p>
            <a:r>
              <a:t> "Termos e Condições" significam os Termos e Condições de Uso da Plataforma  Mercado Pago.</a:t>
            </a:r>
          </a:p>
          <a:p>
            <a:r>
              <a:t> "Termo de Endosso" significa cada termo de endosso dos Direitos Creditórios,  assinado eletronicamente pelo Endossante e o Fundo, na  forma dos Contratos de Endosso, por meio do qual serão  identificados os Direitos Creditórios Adquiridos em cada  Data de Aquisição e Pagamento.</a:t>
            </a:r>
          </a:p>
          <a:p>
            <a:r>
              <a:t>CNPJ 41970012000126 · Custódia, escrituração e encargos · Regulamento · ID 1302706 · 2026-08-27 · versão 1 · p. 104 · https://fnet.bmfbovespa.com.br/fnet/publico/visualizarDocumento?id=1302706</a:t>
            </a:r>
          </a:p>
          <a:p>
            <a:r>
              <a:t>CNPJ 41970012000126 · Custódia, escrituração e encargos · Excerto da fonte:</a:t>
            </a:r>
          </a:p>
          <a:p>
            <a:r>
              <a:t>prevista no item 20.2), o Administrador deverá, em cada Dia Útil, por meio dos competentes débitos  realizados na Conta de Pagamento, na Conta do Fundo, alocar os recursos decorrentes da integralização das  Cotas e do recebimento de recursos provenientes da Carteira do Fundo, na seguinte ordem:</a:t>
            </a:r>
          </a:p>
          <a:p>
            <a:r>
              <a:t>(i) pagamento de despesas e encargos de responsabilidade do Fundo, devidos nos termos deste  Regulamento e da legislação aplicável, incluindo a Taxa de Administração, a Taxa de Custódia  e a Taxa de Gestão, exceto pela remuneração do Agente de Recebimento e do Agente de  Cobrança e pelo Reembolso de Despesas do Agente de Cobrança;</a:t>
            </a:r>
          </a:p>
          <a:p>
            <a:r>
              <a:t>(ii) recomposição do saldo da Reserva para Despesas, exceto pela remuneração do Agente de  Recebimento e do Agente de Cobrança e pelo Reembolso de Despesas do Agente de Cobrança;</a:t>
            </a:r>
          </a:p>
          <a:p>
            <a:r>
              <a:t>(iii) caso seja uma Data de Pagamento, pagamento da remuneração do Agente de Recebimento e do  Agente de Cobrança, bem como o Reembolso de Despesas do Agente de Cobrança, limitado de  forma agregada a 1% (um por cento) ao ano do Patrimônio Líquido do Fundo, apurado em base  de 252 (duzentos e cinquenta e dois) Dias Úteis;</a:t>
            </a:r>
          </a:p>
          <a:p>
            <a:r>
              <a:t>(iv) caso seja uma Data de Pagamento, pagamento da Meta de Rentabilidade Sênior aos titulares de  Cotas Seniores em Circulação, observado o disposto no respectivo Apêndice;</a:t>
            </a:r>
          </a:p>
          <a:p>
            <a:r>
              <a:t>(v) pagamento de quaisquer outras obrigações devidas aos Cotistas Seniores;</a:t>
            </a:r>
          </a:p>
          <a:p>
            <a:r>
              <a:t>(vi) caso seja uma Data de Pagamento, pagamento da amortização de principal de Cotas Seniores;</a:t>
            </a:r>
          </a:p>
          <a:p>
            <a:r>
              <a:t>(vii) caso seja uma Data de Pagamento, uma vez amortizada/resgatada a totalidade das Cotas  Seniores, pagamento da Meta de Rentabilidade Mezanino aos titulares de Cotas Subordinadas  Mezanino A em Circulação;</a:t>
            </a:r>
          </a:p>
          <a:p>
            <a:r>
              <a:t>(viii) caso seja uma Data de Pagamento, uma vez amortizada/resgatada a totalidade das Cotas  Seniores, pagamento da amortização de principal de Cotas Subordinadas Mezanino A;</a:t>
            </a:r>
          </a:p>
          <a:p>
            <a:r>
              <a:t>(ix) caso seja uma Data de Pagamento, uma vez amortizada/resgatada a totalidade das Cotas  Seniores e das Cotas Subordinadas Mezanino A, pagamento da Meta de Rentabilidade  Mezanino aos titulares de Cotas Subordinadas Mezanino B em Circulação;</a:t>
            </a:r>
          </a:p>
          <a:p>
            <a:r>
              <a:t>(x) caso seja uma Data de Pagamento, uma vez amortizada/resgatada a totalidade das Cotas  Seniores e das Cotas Subordinadas Mezanino A, pagamento da amortização de principal de  Cotas Subordinadas Mezanino B;</a:t>
            </a:r>
          </a:p>
          <a:p>
            <a:r>
              <a:t>(xi) caso seja uma Data de Pagamento, uma vez amortizada/resgatada a totalidade das Cotas  Seniores, das Cotas Subordinadas Mezanino A e das Cotas Subordinadas Mezanino B,  pagamento da Meta de Rentabilidade Mezanino aos titulares de Cotas Subordinadas Mezanino  C;</a:t>
            </a:r>
          </a:p>
          <a:p>
            <a:r>
              <a:t>(xii) caso seja uma Data de Pagamento, uma vez amortizada/resgatada a totalidade das Cotas  Seniores, das Cotas Subordinadas Mezanino A e das Cotas Subordinadas Mezanino B,  pagamento da amortização de principal de Cotas Subordinadas Mezanino C;</a:t>
            </a:r>
          </a:p>
          <a:p>
            <a:r>
              <a:t>(xiii) uma vez amortizada/resgatada a totalidade das Cotas Seniores e das Cotas Subordinadas  Mezanino, pagamento da remuneração complementar do Agente de Recebimento e do Agente  de Cobrança, bem como o Reembolso de Despesas do Agente de Cobrança, ou seja, que tenha  ultrapassado o valor de 1% (um por cento) ao ano do Patrimônio Líquido do Fundo, nos termos  btgpactual.com</a:t>
            </a:r>
          </a:p>
          <a:p>
            <a:r>
              <a:t>CNPJ 41970012000126 · Custódia, escrituração e encargos · Condição: Documentos atuais selecionados no inventário por categoria/escopo; a data documental isolada não comprova vigência jurídica.</a:t>
            </a:r>
          </a:p>
          <a:p>
            <a:r>
              <a:t>CNPJ 41970012000126 · Custódia, escrituração e encargos · Versão e prevalência: Documentos atuais selecionados no inventário por categoria/escopo; a data documental isolada não comprova vigência jurídica.</a:t>
            </a:r>
          </a:p>
          <a:p>
            <a:r>
              <a:t>CNPJ 41970012000126 · Custódia, escrituração e encargos · Resumo do histórico: {"count": 5, "dates": ["2025-12-19", "2026-08-27"], "document_count": 3, "sources": [{"document_id": "1302706", "title": "Regulamento", "reference_date": "2026-08-27", "version": "1", "page": "100", "url": "https://fnet.bmfbovespa.com.br/fnet/publico/visualizarDocumento?id=1302706", "sha256": "b113727bc2bc3b1a6b0d18f02bf2143068fd912df2d83cbb91ab44fcb30a3379"}, {"document_id": "1077333", "title": "AGE", "reference_date": "2025-12-19", "version": "1", "page": 125, "clause": "20.3", "url": "https://fnet.bmfbovespa.com.br/fnet/publico/visualizarDocumento?id=1077333", "sha256": "a9a25c5f8a0c493373a2157221109466cbc86e5f44f623997bba18ca14892751"}, {"document_id": "1077334", "title": "Regulamento", "reference_date": "2025-12-19", "version": "1", "page": 125, "clause": "20.3", "url": "https://fnet.bmfbovespa.com.br/fnet/publico/visualizarDocumento?id=1077334", "sha256": "a9a25c5f8a0c493373a2157221109466cbc86e5f44f623997bba18ca14892751"}], "reference": {"path": "history/41970012000126.json", "criterion_id": "custody_fee", "total_count": 5, "preview_count": 3, "full_text_deferred": true, "sha256": "229578c6b833b0633051fe7d357f4fcc74589dcf37d7750032517e03ec89ee60"}}</a:t>
            </a:r>
          </a:p>
          <a:p>
            <a:r>
              <a:t>CNPJ 41970012000126 · Classes e séries de cotas · AGE · ID 1341484 · 2026-10-05 · versão 1 · p. 1 · https://fnet.bmfbovespa.com.br/fnet/publico/visualizarDocumento?id=1341484</a:t>
            </a:r>
          </a:p>
          <a:p>
            <a:r>
              <a:t>CNPJ 41970012000126 · Classes e séries de cotas · Excerto da fonte:</a:t>
            </a:r>
          </a:p>
          <a:p>
            <a:r>
              <a:t>Os Cotistas, por unanimidade, sem quaisquer reservas ou restrições, aprovaram (i) o aumento no montante da  Terceira Emissão de Cotas Seniores da classe única do Fundo, conforme aprovada na Assembleia Geral de  Cotistas realizada em 20 de agosto de 2026, no valor de R$ 145.333,56 (cento e quarenta e cinco mil, trezentos  e trinta e três reais e cinquenta e seis centavos), passando a Terceira Emissão de Cotas Seniores a perfazer a  quantia total de R$ 500.146.172,40 (quinhentos milhões, cento e quarenta e seis mil, cento e setenta e dois reais  e quarenta centavos; (ii) a celebração do Sétimo Aditamento ao Instrumento Particular de Compromisso de  Investimento para Subscrição e Integralização de Cotas Seniores do FIDC Mercado Crédito II Brasil, de forma a  refletir o aumento do volume da Terceira Emissão de Cotas Seniores, sem aumento do capital comprometido  pelo Subscritor; e a (iii) celebração dos demais documentos necessários para refletir as alterações ora aprovadas.</a:t>
            </a:r>
          </a:p>
          <a:p>
            <a:r>
              <a:t>CNPJ 41970012000126 · Classes e séries de cotas · Condição: Documentos atuais selecionados no inventário por categoria/escopo; a data documental isolada não comprova vigência jurídica.</a:t>
            </a:r>
          </a:p>
          <a:p>
            <a:r>
              <a:t>CNPJ 41970012000126 · Classes e séries de cotas · Versão e prevalência: Documentos atuais selecionados no inventário por categoria/escopo; a data documental isolada não comprova vigência jurídica.</a:t>
            </a:r>
          </a:p>
          <a:p>
            <a:r>
              <a:t>CNPJ 41970012000126 · Classes e séries de cotas · Resumo do histórico: {"count": 11, "dates": ["2026-08-27"], "document_count": 2, "sources": [{"document_id": "1302706", "title": "Regulamento", "reference_date": "2026-08-27", "version": "1", "page": "133–153", "url": "https://fnet.bmfbovespa.com.br/fnet/publico/visualizarDocumento?id=1302706", "sha256": "b113727bc2bc3b1a6b0d18f02bf2143068fd912df2d83cbb91ab44fcb30a3379"}, {"document_id": "1302706", "title": "Regulamento", "reference_date": "2026-08-27", "version": "1", "page": 35, "url": "https://fnet.bmfbovespa.com.br/fnet/publico/visualizarDocumento?id=1302706", "sha256": "b113727bc2bc3b1a6b0d18f02bf2143068fd912df2d83cbb91ab44fcb30a3379"}, {"document_id": "1302705", "title": "AGE", "reference_date": "2026-08-27", "version": "1", "page": 2, "url": "https://fnet.bmfbovespa.com.br/fnet/publico/visualizarDocumento?id=1302705", "sha256": "a76f5b5a30b2ba45767ee3c201b99367866bb28b1f457ef47442b2e58e0d0100"}], "reference": {"path": "history/41970012000126.json", "criterion_id": "quota_classes", "total_count": 11, "preview_count": 3, "full_text_deferred": true, "sha256": "229578c6b833b0633051fe7d357f4fcc74589dcf37d7750032517e03ec89ee60"}}</a:t>
            </a:r>
          </a:p>
          <a:p>
            <a:r>
              <a:t>CNPJ 41970012000126 · Ofertas e colocação · Regulamento · ID 1302706 · 2026-08-27 · versão 1 · p. 99 · 18.8.1 · https://fnet.bmfbovespa.com.br/fnet/publico/visualizarDocumento?id=1302706</a:t>
            </a:r>
          </a:p>
          <a:p>
            <a:r>
              <a:t>CNPJ 41970012000126 · Ofertas e colocação · Excerto da fonte:</a:t>
            </a:r>
          </a:p>
          <a:p>
            <a:r>
              <a:t>18.8.1. Poderão ser contratados, mediante celebração de instrumento de adesão ao respectivo  contrato de distribuição, independentemente de realização de Assembleia Geral de Cotistas, outras  instituições integrantes do sistema de distribuição de valores mobiliários, desde que aprovadas pelo  Coordenador Líder e pelo Gestor, para realizarem a distribuição das Cotas.</a:t>
            </a:r>
          </a:p>
          <a:p>
            <a:r>
              <a:t>CNPJ 41970012000126 · Ofertas e colocação · Regulamento · ID 1302706 · 2026-08-27 · versão 1 · p. 141 · https://fnet.bmfbovespa.com.br/fnet/publico/visualizarDocumento?id=1302706</a:t>
            </a:r>
          </a:p>
          <a:p>
            <a:r>
              <a:t>CNPJ 41970012000126 · Ofertas e colocação · Excerto da fonte:</a:t>
            </a:r>
          </a:p>
          <a:p>
            <a:r>
              <a:t>Forma de Distribuição Oferta pública destinada a Investidores Profissionais, nos  termos do artigo 26, inciso VII, da Resolução CVM 160.</a:t>
            </a:r>
          </a:p>
          <a:p>
            <a:r>
              <a:t>CNPJ 41970012000126 · Ofertas e colocação · AGE · ID 1302705 · 2026-08-27 · versão 1 · p. 3 · https://fnet.bmfbovespa.com.br/fnet/publico/visualizarDocumento?id=1302705</a:t>
            </a:r>
          </a:p>
          <a:p>
            <a:r>
              <a:t>CNPJ 41970012000126 · Ofertas e colocação · Excerto da fonte:</a:t>
            </a:r>
          </a:p>
          <a:p>
            <a:r>
              <a:t>(vii) a realização de oferta pública da Terceira Emissão de Cotas Seniores, sob o regime de  melhores esforços de colocação, destinada a Investidores Profissionais, submetida ao rito de  registro automático na CVM, nos termos do artigo 26, inciso VII, alínea "a", da Resolução da  CVM nº 160, de 13 de julho de 2022, bem como aprovação da contratação do Administrador  para atuar como instituição intermediária líder da oferta pública da Terceira Emissão de Cotas  Seniores, observadas as características constantes do Complemento IX anexo ao  Regulamento da Classe (Anexo A deste instrumento);</a:t>
            </a:r>
          </a:p>
          <a:p>
            <a:r>
              <a:t>CNPJ 41970012000126 · Ofertas e colocação · Condição: Documentos atuais selecionados no inventário por categoria/escopo; a data documental isolada não comprova vigência jurídica.</a:t>
            </a:r>
          </a:p>
          <a:p>
            <a:r>
              <a:t>CNPJ 41970012000126 · Ofertas e colocação · Versão e prevalência: Documentos atuais selecionados no inventário por categoria/escopo; a data documental isolada não comprova vigência jurídica.</a:t>
            </a:r>
          </a:p>
          <a:p>
            <a:r>
              <a:t>CNPJ 41970012000126 · Ofertas e colocação · Resumo do histórico: {"count": 20, "dates": ["2025-12-19", "2025-12-31", "2026-08-24"], "document_count": 3, "sources": [{"document_id": "1300110", "title": "Fato Relevante", "reference_date": "2026-08-24", "version": "1", "page": 1, "clause": "1.016.076", "url": "https://fnet.bmfbovespa.com.br/fnet/publico/visualizarDocumento?id=1300110", "sha256": "982dd137d6a96b7e0e1f24730a2959e2196a43d13ea7f651c29e962a1c816b5c"}, {"document_id": "1151156", "title": "Demonstrações Financeiras", "reference_date": "2025-12-31", "version": "1", "page": 41, "url": "https://fnet.bmfbovespa.com.br/fnet/publico/visualizarDocumento?id=1151156", "sha256": "04099e318871fbf25478d1ed88b19c4c6c6af84d9811507e8df48f7d824c6ec8"}, {"document_id": "1077333", "title": "AGE", "reference_date": "2025-12-19", "version": "1", "page": 120, "clause": "18.8.1", "url": "https://fnet.bmfbovespa.com.br/fnet/publico/visualizarDocumento?id=1077333", "sha256": "a9a25c5f8a0c493373a2157221109466cbc86e5f44f623997bba18ca14892751"}], "reference": {"path": "history/41970012000126.json", "criterion_id": "offers", "total_count": 20, "preview_count": 3, "full_text_deferred": true, "sha256": "229578c6b833b0633051fe7d357f4fcc74589dcf37d7750032517e03ec89ee60"}}</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PLGN Marketplace · vínculo CNPJ 41970012000126 · Emissões e custos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Vínculo: PLGN Marketplace · CNPJ 55563624000109 → CNPJ 41970012000126 · Regulamento · ID 1192614 · 30/04/2026 · versão Regulamento30/04/2026 · p. 11 · AnexoI4.1</a:t>
            </a:r>
          </a:p>
          <a:p>
            <a:r>
              <a:t>Condição do vínculo: {"cnpj": "41970012000126", "name": "Mercado Crédito II Brasil FIDC", "relationship": "named_investee", "exposure": "mezzanine", "position_status": "mandate_identified_position_not_quantified", "risk_note": "Mandato e classe exatos; comparar regras eIMEdo investido na competência doFIC, sem dupla contagem dePL."}</a:t>
            </a:r>
          </a:p>
          <a:p>
            <a:r>
              <a:t>CNPJ 41970012000126 · Remuneração por subclasse e série · Regulamento · ID 1302706 · 2026-08-27 · versão 1 · p. 29 · https://fnet.bmfbovespa.com.br/fnet/publico/visualizarDocumento?id=1302706</a:t>
            </a:r>
          </a:p>
          <a:p>
            <a:r>
              <a:t>CNPJ 41970012000126 · Remuneração por subclasse e série · Excerto da fonte:</a:t>
            </a:r>
          </a:p>
          <a:p>
            <a:r>
              <a:t>MOB15 19,20% (dezenove inteiros e vinte  centésimos por cento)  MOB16 19,22% (dezenove inteiros e vinte e dois  centésimos por cento)  MOB17 19,23% (dezenove inteiros e vinte e três  centésimos por cento)  "MeLi" significa o MERCADOLIBRE, INC., sociedade constituída  em conformidade com as leis do estado de Delaware,  Estados Unidos da América, com sede em 15 East North  Street, Dover, Kent County, Delaware, Estados Unidos  da América, inscrita no CNPJ/MF sob  nº 05.528.233/0001-85.</a:t>
            </a:r>
          </a:p>
          <a:p>
            <a:r>
              <a:t> "Mercado Pago" significa o MERCADO PAGO INSTITUIÇÃO DE  PAGAMENTO LTDA., sociedade empresária limitada com  sede no município de Osasco, estado de São Paulo, na  Avenida das Nações Unidas, nº 3003, parte E, Bonfim,  CEP 06.233-903, inscrita no CNPJ/MF sob o  nº 10.573.521/0001-91.</a:t>
            </a:r>
          </a:p>
          <a:p>
            <a:r>
              <a:t> "Meta de Rentabilidade significa o Benchmark das Cotas Subordinadas Mezanino  Mezanino" de cada Subclasse e, se aplicável, de cada Série, na forma  do disposto em cada Apêndice, acrescido: (i) de  quaisquer Rendimentos Adicionais, se houver  determinação neste sentido no respectivo Apêndice da  respectiva Subclasse ou Série de Cotas Subordinadas  Mezanino; e (ii) da Compensação Extraordinária, se  houver.</a:t>
            </a:r>
          </a:p>
          <a:p>
            <a:r>
              <a:t> "Meta de Rentabilidade Sênior" significa o Benchmark das Cotas Seniores de cada Série,  na forma do disposto em cada Apêndice, acrescido: (i)  de quaisquer Rendimentos Adicionais, se houver  determinação neste sentido no respectivo Apêndice das  Cotas Seniores; e (ii) da Compensação Extraordinária, se  houver.</a:t>
            </a:r>
          </a:p>
          <a:p>
            <a:r>
              <a:t> "Opção de Compra de Direitos Tem o significado que lhe é atribuído no item 5.1.6.3 do  Creditórios" Regulamento.</a:t>
            </a:r>
          </a:p>
          <a:p>
            <a:r>
              <a:t> "Partes Relacionadas" significam as Empresas Controladoras, Controladas, sob  o Controle comum, coligadas e/ou subsidiárias de  determinada sociedade ou pessoa ou fundos de  investimento cuja base de investidores seja constituída  exclusivamente por empresas Controladoras,  Controladas, coligadas, subsidiárias e/ou estejam sob  Controle comum de tal sociedade ou pessoa.</a:t>
            </a:r>
          </a:p>
          <a:p>
            <a:r>
              <a:t> "Patrimônio Líquido do Fundo" significa o valor em reais resultante da soma algébrica  das Disponibilidades e dos Direitos Creditórios  Adquiridos que são parte da Carteira, menos as provisões  feitas em conformidade com o item 6.3 e exigibilidades  do Fundo.</a:t>
            </a:r>
          </a:p>
          <a:p>
            <a:r>
              <a:t>CNPJ 41970012000126 · Remuneração por subclasse e série · Regulamento · ID 1302706 · 2026-08-27 · versão 1 · p. 78 · 11.1 · https://fnet.bmfbovespa.com.br/fnet/publico/visualizarDocumento?id=1302706</a:t>
            </a:r>
          </a:p>
          <a:p>
            <a:r>
              <a:t>CNPJ 41970012000126 · Remuneração por subclasse e série · Excerto da fonte:</a:t>
            </a:r>
          </a:p>
          <a:p>
            <a:r>
              <a:t>11.1. São considerados Eventos de Avaliação do Fundo quaisquer das seguintes ocorrências, observado  que (a) os subitens (i), (ii), (iii), (iv), (v), (vi), (xi), (xvii), (xxiii), (xxiv), (xxvi), (xxviii),(xxx) e (xxxi)  abaixo serão verificados pelo Administrador; (b) os subitens (ix), (xvii) e (xxix)abaixo serão verificados  pelo Gestor; (c) o item (xxv) abaixo será verificado pelos Cotistas Seniores e/ou pelo Administrador; (d)  os subitens (vii), (viii), (xii), (xiii), (xiv), (xv), (xvi), (xviii), (xix), (xx), (xxi), (xxii) poderão ser verificados  pelo Administrador e/ou pelo Gestor; e (e) o item (xxx) poderá ser verificado pelos Cotistas Seniores, sem  prejuízo, em qualquer caso, da obrigação do Mercado Pago e da Instituição Financeira MeLi disposta no  item 11.1.2 abaixo:</a:t>
            </a:r>
          </a:p>
          <a:p>
            <a:r>
              <a:t>(i) não observância do prazo de 180 (cento e oitenta) dias contados da Data da Primeira  Integralização de Cotas do Fundo, ou do prazo adicional concedido pela CVM, se for o caso,  para alocação dos recursos do Fundo na aquisição de Direitos Creditórios em montante que  corresponda a, no mínimo, a Alocação Mínima de Investimento, conforme disposto no item</a:t>
            </a:r>
          </a:p>
          <a:p>
            <a:r>
              <a:t>(ii) na hipótese de serem realizados pagamentos de rendimentos, Amortização ou resgate de Cotas  Subordinadas Mezanino ou de Cotas Subordinadas Júnior em desacordo com este Regulamento;</a:t>
            </a:r>
          </a:p>
          <a:p>
            <a:r>
              <a:t>(iii) o Fundo deixe de deter natureza jurídica de condomínio de natureza especial, nos termos da  legislação aplicável;</a:t>
            </a:r>
          </a:p>
          <a:p>
            <a:r>
              <a:t>(iv) caso a Assembleia Geral de Cotistas convocada nos termos do item 5.3.5.1 delibere que a  Inconsistência Relevante verificada constitui um Evento de Avaliação;</a:t>
            </a:r>
          </a:p>
          <a:p>
            <a:r>
              <a:t>(v) não realização de pagamento da Meta de Rentabilidade Sênior e/ou da Meta de Rentabilidade  Mezanino aplicável, da Amortização de Cotas Seniores e/ou de Cotas Subordinadas Mezanino  ou amortização integral/resgate de Cotas Seniores e/ou de Cotas Subordinadas Mezanino em até  2 (dois) Dias Úteis contados da esperada Data de Pagamento ou Data de Amortização Integral  definidas nos respectivos Apêndices, conforme aplicável, observado que, após a Data Limite de  Investimento em Direitos Creditórios e/ou em caso de Evento de Amortização Acelerada e/ou  Evento de Liquidação, a ausência de amortização de Cotas Subordinadas Mezanino, nos termos  da ordem de alocação de recursos prevista no item 20.3, enquanto não houver a amortização  integral/resgate de todas as Cotas Seniores, não será considerada um Evento de Avaliação;</a:t>
            </a:r>
          </a:p>
          <a:p>
            <a:r>
              <a:t>(vi) não realização de pagamento decorrente de um Evento de Pagamento Qualificado nos termos  do item 12.7, subitem (ii), observado o prazo de cura de 2 (dois) Dias Úteis contados da  respectiva data esperada;</a:t>
            </a:r>
          </a:p>
          <a:p>
            <a:r>
              <a:t>(vii) na ocorrência de um inadimplemento de quaisquer obrigações assumidas pelo Mercado Pago  e/ou por qualquer Endossante em quaisquer Documentos do Fundo que não seja sanado (se  btgpactual.com</a:t>
            </a:r>
          </a:p>
          <a:p>
            <a:r>
              <a:t>CNPJ 41970012000126 · Remuneração por subclasse e série · Regulamento · ID 1302706 · 2026-08-27 · versão 1 · p. 102 · 20.2 · https://fnet.bmfbovespa.com.br/fnet/publico/visualizarDocumento?id=1302706</a:t>
            </a:r>
          </a:p>
          <a:p>
            <a:r>
              <a:t>CNPJ 41970012000126 · Remuneração por subclasse e série · Excerto da fonte:</a:t>
            </a:r>
          </a:p>
          <a:p>
            <a:r>
              <a:t>20.2. Até a Data Limite de Investimento em Direitos Creditórios, e desde que não haja a ocorrência de  um Evento de Amortização Acelerada, de um Evento de Avaliação ou de um Evento de Liquidação do  Fundo, o Administrador deverá, em cada Dia Útil, por meio dos competentes débitos realizados na Conta  de Pagamento, na Conta do Fundo, alocar os recursos decorrentes da integralização das Cotas e do  recebimento de recursos provenientes da Carteira do Fundo, na seguinte ordem, conforme aplicável:</a:t>
            </a:r>
          </a:p>
          <a:p>
            <a:r>
              <a:t>(i) pagamento de despesas e encargos de responsabilidade do Fundo, devidos nos termos deste  Regulamento e da legislação aplicável, incluindo a Taxa de Administração, a Taxa de Custódia  e a Taxa de Gestão, exceto pela remuneração do Agente de Recebimento e do Agente de  Cobrança e pelo Reembolso de Despesas do Agente de Cobrança;</a:t>
            </a:r>
          </a:p>
          <a:p>
            <a:r>
              <a:t>(ii) constituição ou recomposição do saldo da Reserva para Despesas, conforme aplicável, exceto  pela remuneração do Agente de Recebimento e do Agente de Cobrança e pelo Reembolso de  Despesas do Agente de Cobrança;</a:t>
            </a:r>
          </a:p>
          <a:p>
            <a:r>
              <a:t>(iii) caso seja uma Data de Pagamento, pagamento da remuneração do Agente de Recebimento e do  Agente de Cobrança, bem como o Reembolso de Despesas do Agente de Cobrança, limitado de  forma agregada a 1% (um por cento) ao ano do Patrimônio Líquido do Fundo, apurado em base  de 252 (duzentos e cinquenta e dois) Dias Úteis;</a:t>
            </a:r>
          </a:p>
          <a:p>
            <a:r>
              <a:t>(iv) caso seja uma Data de Pagamento, pagamento da Meta de Rentabilidade Sênior aos titulares de  Cotas Seniores em Circulação, observado o disposto no respectivo Apêndice;</a:t>
            </a:r>
          </a:p>
          <a:p>
            <a:r>
              <a:t>(v) caso seja uma Data de Pagamento, pagamento de amortização extraordinária de Cotas Seniores  na ocorrência das hipóteses previstas no item 12.4 e/ou no item 12.9 acima;</a:t>
            </a:r>
          </a:p>
          <a:p>
            <a:r>
              <a:t>(vi) caso seja uma Data de Pagamento, pagamento da Meta de Rentabilidade Mezanino aos titulares  de Cotas Subordinadas Mezanino A em Circulação, observado o disposto no respectivo  Apêndice, sempre limitado ao valor que, considerada pro forma o pagamento da Meta de  Rentabilidade Mezanino pretendido, não haja desenquadramento da Senioridade Máxima;</a:t>
            </a:r>
          </a:p>
          <a:p>
            <a:r>
              <a:t>(vii) caso seja uma Data de Pagamento e tenha sido alterada a Data Limite de Investimento em  Direitos Creditórios sem voto afirmativo ou manifestação favorável dos titulares de Cotas  Subordinadas Mezanino, realização de amortização extraordinária das Cotas Subordinadas  Mezanino A, limitado ao valor que, considerada pro forma a amortização pretendida, não  btgpactual.com</a:t>
            </a:r>
          </a:p>
          <a:p>
            <a:r>
              <a:t>CNPJ 41970012000126 · Remuneração por subclasse e série · Condição: Documentos atuais selecionados no inventário por categoria/escopo; a data documental isolada não comprova vigência jurídica.</a:t>
            </a:r>
          </a:p>
          <a:p>
            <a:r>
              <a:t>CNPJ 41970012000126 · Remuneração por subclasse e série · Versão e prevalência: Documentos atuais selecionados no inventário por categoria/escopo; a data documental isolada não comprova vigência jurídica.</a:t>
            </a:r>
          </a:p>
          <a:p>
            <a:r>
              <a:t>CNPJ 41970012000126 · Remuneração por subclasse e série · Resumo do histórico: {"count": 12, "dates": ["2025-12-19", "2026-08-27"], "document_count": 3, "sources": [{"document_id": "1302706", "title": "Regulamento", "reference_date": "2026-08-27", "version": "1", "page": "134–159", "url": "https://fnet.bmfbovespa.com.br/fnet/publico/visualizarDocumento?id=1302706", "sha256": "b113727bc2bc3b1a6b0d18f02bf2143068fd912df2d83cbb91ab44fcb30a3379"}, {"document_id": "1077333", "title": "AGE", "reference_date": "2025-12-19", "version": "1", "page": 125, "clause": "20.3", "url": "https://fnet.bmfbovespa.com.br/fnet/publico/visualizarDocumento?id=1077333", "sha256": "a9a25c5f8a0c493373a2157221109466cbc86e5f44f623997bba18ca14892751"}, {"document_id": "1077334", "title": "Regulamento", "reference_date": "2025-12-19", "version": "1", "page": 125, "clause": "20.3", "url": "https://fnet.bmfbovespa.com.br/fnet/publico/visualizarDocumento?id=1077334", "sha256": "a9a25c5f8a0c493373a2157221109466cbc86e5f44f623997bba18ca14892751"}], "reference": {"path": "history/41970012000126.json", "criterion_id": "remuneration", "total_count": 12, "preview_count": 3, "full_text_deferred": true, "sha256": "229578c6b833b0633051fe7d357f4fcc74589dcf37d7750032517e03ec89ee60"}}</a:t>
            </a:r>
          </a:p>
          <a:p>
            <a:r>
              <a:t>CNPJ 41970012000126 · Volume, VNU e emissão · Regulamento · ID 1302706 · 2026-08-27 · versão 1 · p. 31 · https://fnet.bmfbovespa.com.br/fnet/publico/visualizarDocumento?id=1302706</a:t>
            </a:r>
          </a:p>
          <a:p>
            <a:r>
              <a:t>CNPJ 41970012000126 · Volume, VNU e emissão · Excerto da fonte:</a:t>
            </a:r>
          </a:p>
          <a:p>
            <a:r>
              <a:t>"Política de Originação e significa a política de originação e concessão de crédito  Concessão de Crédito" adotada pela Instituição Financeira MeLi e pelo Mercado  Pago, prevista no COMPLEMENTO III deste  Regulamento.</a:t>
            </a:r>
          </a:p>
          <a:p>
            <a:r>
              <a:t> "Política de Seleção e significa a política de seleção de Direitos Creditórios por  Verificação de Lastro" amostragem e verificação de lastro prevista no  COMPLEMENTO V deste Regulamento.</a:t>
            </a:r>
          </a:p>
          <a:p>
            <a:r>
              <a:t> "Preço de Aquisição" significa o preço devido pelo Fundo em razão da  aquisição dos Direitos Creditórios, devido em moeda  corrente nacional e nos termos do respectivo Termo de  Endosso.</a:t>
            </a:r>
          </a:p>
          <a:p>
            <a:r>
              <a:t> "Prestadores de Serviço de tem o significado a ele atribuído no COMPLEMENTO  Cobrança" IV.</a:t>
            </a:r>
          </a:p>
          <a:p>
            <a:r>
              <a:t> "Primeira Emissão" significa a primeira Emissão da primeira Série de Cotas  Seniores pelo Fundo, composta por 1.200.000 (um  milhão e duzentas mil) Cotas Seniores, que totalizarão  até R$1.200.000.000,00 (um bilhão e duzentos milhões  de reais), considerando o Valor Nominal Unitário de  Emissão.</a:t>
            </a:r>
          </a:p>
          <a:p>
            <a:r>
              <a:t> "Razão de Subordinação significa a razão entre: (i) a soma do valor das Cotas  Mezanino A" Subordinadas Mezanino B em Circulação, do valor das  Cotas Subordinadas Mezanino C em Circulação e do valor  das Cotas Subordinadas Júnior em Circulação; e (ii) o  Patrimônio Líquido do Fundo ambos calculados em uma  mesma data, equivalente a 20% (vinte por cento).</a:t>
            </a:r>
          </a:p>
          <a:p>
            <a:r>
              <a:t> Caso seja caracterizado um Evento de Step-Down, a  Razão de Subordinação Mezanino A será  automaticamente majorada em percentual suficiente para  equivaler ao Valor de Redução Evento de Step-Down  Nível 1 ou Valor de Redução Evento de Step-Down Nível  2, de forma não cumulativa. Por exemplo: caso haja  Evento de Step-Down Nível 1, nos termos do item (i) da  definição de Evento de Step-Down Nível 1, a Razão de  Subordinação Mezanino A será automaticamente  majorada em 5 (cinco) pontos percentuais, assim  permanecendo enquanto remanescer o Evento de Step-  Down Nível 1.</a:t>
            </a:r>
          </a:p>
          <a:p>
            <a:r>
              <a:t> A Razão de Subordinação Mezanino A será calculada  diariamente pelo Gestor e disponibilizada em cada Data  de Envio do Relatório de Acompanhamento, por meio do  respectivo Relatório de Acompanhamento, sendo certo  que, em caso de desenquadramento da Razão de  Subordinação Mezanino A, o Administrador deverá  comunicar imediatamente tal fato aos Cotistas, após  notificação do Gestor nesse sentido.</a:t>
            </a:r>
          </a:p>
          <a:p>
            <a:r>
              <a:t> "Razão de Subordinação significa a razão entre: (i) a soma do valor das Cotas  Mezanino B" Subordinadas Mezanino C em Circulação e das Cotas  Subordinadas Júnior em Circulação; e (ii) o Patrimônio  btgpactual.com</a:t>
            </a:r>
          </a:p>
          <a:p>
            <a:r>
              <a:t>CNPJ 41970012000126 · Volume, VNU e emissão · Regulamento · ID 1302706 · 2026-08-27 · versão 1 · p. 37 · https://fnet.bmfbovespa.com.br/fnet/publico/visualizarDocumento?id=1302706</a:t>
            </a:r>
          </a:p>
          <a:p>
            <a:r>
              <a:t>CNPJ 41970012000126 · Volume, VNU e emissão · Excerto da fonte:</a:t>
            </a:r>
          </a:p>
          <a:p>
            <a:r>
              <a:t>"Valor de Redução Evento de significa, na ocorrência de um Evento de Step-Down  Step-Down Nível 1" Nível 1 nos termos do item (i) da definição de Evento de  Step-Down Nível 1, 5% (cinco por cento);</a:t>
            </a:r>
          </a:p>
          <a:p>
            <a:r>
              <a:t> Na ocorrência de um Evento de Step-Down Nível 1 nos  termos do item (ii) da definição de Evento de Step-Down  Nível 1, o Índice de Inadimplência menos 8% (oito por  cento).</a:t>
            </a:r>
          </a:p>
          <a:p>
            <a:r>
              <a:t> "Valor de Redução Evento de significa, na ocorrência de um Evento de Step-Down  Step-Down Nível 2" Nível 2, 15% (quinze por cento).</a:t>
            </a:r>
          </a:p>
          <a:p>
            <a:r>
              <a:t> "Valor Limite de Remuneração tem o significado atribuído no Contrato de Cobrança.</a:t>
            </a:r>
          </a:p>
          <a:p>
            <a:r>
              <a:t> e Reembolso"  "Valor Máximo de significa o valor máximo de investimento em Cotas  Investimento Mezanino" Subordinadas Mezanino, equivalente, de forma agregada  entre as Subclasses de Cotas Subordinadas Mezanino, a  R$400.000.000,00 (quatrocentos milhões de reais),  observadas as disposições referentes ao "Capital  Comprometido Individual do Subscritor" previstas em  cada Compromisso de Investimento e/ou Boletim de  Subscrição.</a:t>
            </a:r>
          </a:p>
          <a:p>
            <a:r>
              <a:t> "Valor Máximo de O valor máximo de investimento previsto em cada  Investimento Sênior" Compromisso de Investimento Sênior e no Apêndice da  respectiva emissão de Cotas Seniores, observadas as  disposições referentes ao "Capital Comprometido  Individual do Subscritor" previstas em cada  Compromisso de Investimento Sênior.</a:t>
            </a:r>
          </a:p>
          <a:p>
            <a:r>
              <a:t> "Valor Nominal Unitário de significa o valor nominal unitário de Emissão das Cotas,  Emissão" correspondente a R$1.000,00 (mil reais) por Cota, na  respectiva Data da Primeira Integralização, observado o  disposto no respectivo Apêndice.</a:t>
            </a:r>
          </a:p>
          <a:p>
            <a:r>
              <a:t> "Valor Principal" significa, em relação a qualquer Direito Creditório, o  saldo devido e não pago do valor principal do crédito  (sem considerar quaisquer valores decorrentes de</a:t>
            </a:r>
          </a:p>
          <a:p>
            <a:r>
              <a:t>CNPJ 41970012000126 · Volume, VNU e emissão · Regulamento · ID 1302706 · 2026-08-27 · versão 1 · p. 148 · https://fnet.bmfbovespa.com.br/fnet/publico/visualizarDocumento?id=1302706</a:t>
            </a:r>
          </a:p>
          <a:p>
            <a:r>
              <a:t>CNPJ 41970012000126 · Volume, VNU e emissão · Excerto da fonte:</a:t>
            </a:r>
          </a:p>
          <a:p>
            <a:r>
              <a:t>Quantidade de Cotas Será o resultado da divisão do "Valor Total das Cotas  Subordinadas Mezanino A Subordinadas Mezanino A da Emissão" pelo "Valor  Nominal Unitário de Emissão" na abertura da Data da  Conversão. [</a:t>
            </a:r>
          </a:p>
          <a:p>
            <a:r>
              <a:t>CNPJ 41970012000126 · Volume, VNU e emissão · Condição: Documentos atuais selecionados no inventário por categoria/escopo; a data documental isolada não comprova vigência jurídica.</a:t>
            </a:r>
          </a:p>
          <a:p>
            <a:r>
              <a:t>CNPJ 41970012000126 · Volume, VNU e emissão · Versão e prevalência: Documentos atuais selecionados no inventário por categoria/escopo; a data documental isolada não comprova vigência jurídica.</a:t>
            </a:r>
          </a:p>
          <a:p>
            <a:r>
              <a:t>CNPJ 41970012000126 · Volume, VNU e emissão · Resumo do histórico: {"count": 11, "dates": ["2025-12-19", "2025-12-31", "2026-08-27"], "document_count": 3, "sources": [{"document_id": "1302706", "title": "Regulamento", "reference_date": "2026-08-27", "version": "1", "page": "141", "url": "https://fnet.bmfbovespa.com.br/fnet/publico/visualizarDocumento?id=1302706", "sha256": "b113727bc2bc3b1a6b0d18f02bf2143068fd912df2d83cbb91ab44fcb30a3379"}, {"document_id": "1151156", "title": "Demonstrações Financeiras", "reference_date": "2025-12-31", "version": "1", "page": 41, "url": "https://fnet.bmfbovespa.com.br/fnet/publico/visualizarDocumento?id=1151156", "sha256": "04099e318871fbf25478d1ed88b19c4c6c6af84d9811507e8df48f7d824c6ec8"}, {"document_id": "1077333", "title": "AGE", "reference_date": "2025-12-19", "version": "1", "page": 59, "clause": "7.11", "url": "https://fnet.bmfbovespa.com.br/fnet/publico/visualizarDocumento?id=1077333", "sha256": "a9a25c5f8a0c493373a2157221109466cbc86e5f44f623997bba18ca14892751"}], "reference": {"path": "history/41970012000126.json", "criterion_id": "issue_volume", "total_count": 11, "preview_count": 3, "full_text_deferred": true, "sha256": "229578c6b833b0633051fe7d357f4fcc74589dcf37d7750032517e03ec89ee60"}}</a:t>
            </a:r>
          </a:p>
          <a:p>
            <a:r>
              <a:t>CNPJ 41970012000126 · Administração: taxa, base emínimo · Regulamento · ID 1302706 · 27/08/2026 · versão Regulamento27/08/2026 · p. 100 · 19.1–19.1.3 · https://fnet.bmfbovespa.com.br/fnet/publico/visualizarDocumento?id=1302706</a:t>
            </a:r>
          </a:p>
          <a:p>
            <a:r>
              <a:t>CNPJ 41970012000126 · Administração: taxa, base emínimo · Excerto da fonte:</a:t>
            </a:r>
          </a:p>
          <a:p>
            <a:r>
              <a:t>19.1. Pelos serviços de administração e escrituração de Cotas será devida, pelo Fundo, uma Taxa de Administração, equivalente ao percentual de 0,075% (setenta e cinco milésimos por cento) ao ano sobre o Patrimônio Líquido do Fundo, observado o valor mínimo mensal de R$15.000,00 (quinze mil reais). 19.1.1. A Taxa de Custódia devida pelo Fundo pelos serviços de custódia qualificada dos Direitos Creditórios integrantes da Carteira está incluída na Taxa de Administração. 19.1.2. A Taxa de Administração e a Taxa de Custódia serão provisionadas diariamente e pagas mensalmente, sendo a parcela disposta no item 19.1 paga no 5º (quinto) Dia Útil do m</a:t>
            </a:r>
          </a:p>
          <a:p>
            <a:r>
              <a:t>CNPJ 41970012000126 · Administração: taxa, base emínimo · Regulamento · ID 1302706 · 27/08/2026 · versão Regulamento27/08/2026 · p. 101 · 19.5 · https://fnet.bmfbovespa.com.br/fnet/publico/visualizarDocumento?id=1302706</a:t>
            </a:r>
          </a:p>
          <a:p>
            <a:r>
              <a:t>CNPJ 41970012000126 · Administração: taxa, base emínimo · Excerto da fonte:</a:t>
            </a:r>
          </a:p>
          <a:p>
            <a:r>
              <a:t>19.5. Os valores fixos descritos neste Capítulo serão corrigidos anualmente pelo IPCA. 19.5.1. O Gestor não receberá qualquer remuneração dos Devedores e Ativos Financeiros adquiridos pelo Fundo, ou suas respectivas Partes Relacionadas, relacionada à aquisição dos Direitos Creditórios e Ativos Financeiros ou à prestação dos serviços para o Fundo, seja diretamente ou por meio de qualquer de suas Partes Relacionadas, incluindo, sem limitação, comissões pela intermediação de operações e remunerações por serviços prestados de qualquer natureza, devendo transferir ao Fundo qualquer benefício ou vantagem que possa alcançar neste sentido.</a:t>
            </a:r>
          </a:p>
          <a:p>
            <a:r>
              <a:t>CNPJ 41970012000126 · Administração: taxa, base emínimo · Versão e prevalência: Leitura específica das cláusulas indicadas; condições e conflitos preservados. Seleção documental atual não comprova vigência jurídica por data isolada.</a:t>
            </a:r>
          </a:p>
          <a:p>
            <a:r>
              <a:t>CNPJ 41970012000126 · Administração: taxa, base emínimo · Resumo do histórico: {"count": 12, "dates": ["2025-12-19", "2025-12-31", "2026-08-27"], "document_count": 3, "sources": [{"document_id": "1302706", "title": "Regulamento", "reference_date": "2026-08-27", "version": "1", "page": "100", "url": "https://fnet.bmfbovespa.com.br/fnet/publico/visualizarDocumento?id=1302706", "sha256": "b113727bc2bc3b1a6b0d18f02bf2143068fd912df2d83cbb91ab44fcb30a3379"}, {"document_id": "1151156", "title": "Demonstrações Financeiras", "reference_date": "2025-12-31", "version": "1", "page": 38, "url": "https://fnet.bmfbovespa.com.br/fnet/publico/visualizarDocumento?id=1151156", "sha256": "04099e318871fbf25478d1ed88b19c4c6c6af84d9811507e8df48f7d824c6ec8"}, {"document_id": "1077333", "title": "AGE", "reference_date": "2025-12-19", "version": "1", "page": 121, "clause": "19.1", "url": "https://fnet.bmfbovespa.com.br/fnet/publico/visualizarDocumento?id=1077333", "sha256": "a9a25c5f8a0c493373a2157221109466cbc86e5f44f623997bba18ca14892751"}], "reference": {"path": "history/41970012000126.json", "criterion_id": "admin_fee", "total_count": 12, "preview_count": 3, "full_text_deferred": true, "sha256": "229578c6b833b0633051fe7d357f4fcc74589dcf37d7750032517e03ec89ee60"}}</a:t>
            </a:r>
          </a:p>
          <a:p>
            <a:r>
              <a:t>CNPJ 41970012000126 · Gestão: taxa, base emínimo · Regulamento · ID 1302706 · 27/08/2026 · versão Regulamento27/08/2026 · p. 101 · 19.2–19.3 · https://fnet.bmfbovespa.com.br/fnet/publico/visualizarDocumento?id=1302706</a:t>
            </a:r>
          </a:p>
          <a:p>
            <a:r>
              <a:t>CNPJ 41970012000126 · Gestão: taxa, base emínimo · Excerto da fonte:</a:t>
            </a:r>
          </a:p>
          <a:p>
            <a:r>
              <a:t>19.2. Pelos serviços de gestão da Carteira será devida, pelo Fundo, uma Taxa de Gestão no valor equivalente ao percentual incidente determinado pela tabela abaixo sobre as faixas da soma de patrimônio líquido do Fundo e do Mercado Crédito Fundo de Investimento em Direitos Creditórios Não Padronizado, inscrito no CNPJ sob o nº 33.254.370/0001-04, conforme também indicados na tabela abaixo, acrescido, se for o caso, dos montantes previstos no item 19.2.1 baixo: PL Mínimo (R$) PL Máximo (R$) Percentual (% a.a.) Sem Limite Até 0,00 zero De 0,01</a:t>
            </a:r>
          </a:p>
          <a:p>
            <a:r>
              <a:t>CNPJ 41970012000126 · Gestão: taxa, base emínimo · Versão e prevalência: Leitura específica das cláusulas indicadas; condições e conflitos preservados. Seleção documental atual não comprova vigência jurídica por data isolada.</a:t>
            </a:r>
          </a:p>
          <a:p>
            <a:r>
              <a:t>CNPJ 41970012000126 · Gestão: taxa, base emínimo · Resumo do histórico: {"count": 6, "dates": ["2025-12-19", "2026-08-27"], "document_count": 3, "sources": [{"document_id": "1302706", "title": "Regulamento", "reference_date": "2026-08-27", "version": "1", "page": "101", "url": "https://fnet.bmfbovespa.com.br/fnet/publico/visualizarDocumento?id=1302706", "sha256": "b113727bc2bc3b1a6b0d18f02bf2143068fd912df2d83cbb91ab44fcb30a3379"}, {"document_id": "1077333", "title": "AGE", "reference_date": "2025-12-19", "version": "1", "page": 122, "clause": "19.2.1", "url": "https://fnet.bmfbovespa.com.br/fnet/publico/visualizarDocumento?id=1077333", "sha256": "a9a25c5f8a0c493373a2157221109466cbc86e5f44f623997bba18ca14892751"}, {"document_id": "1077334", "title": "Regulamento", "reference_date": "2025-12-19", "version": "1", "page": 122, "clause": "19.2.1", "url": "https://fnet.bmfbovespa.com.br/fnet/publico/visualizarDocumento?id=1077334", "sha256": "a9a25c5f8a0c493373a2157221109466cbc86e5f44f623997bba18ca14892751"}], "reference": {"path": "history/41970012000126.json", "criterion_id": "management_fee", "total_count": 6, "preview_count": 3, "full_text_deferred": true, "sha256": "229578c6b833b0633051fe7d357f4fcc74589dcf37d7750032517e03ec89ee60"}}</a:t>
            </a:r>
          </a:p>
          <a:p>
            <a:r>
              <a:t>CNPJ 41970012000126 · Performance: benchmark eapuração · Regulamento · ID 1302706 · 27/08/2026 · versão Regulamento27/08/2026 · p. 88 · 14.1matériasreservadas · https://fnet.bmfbovespa.com.br/fnet/publico/visualizarDocumento?id=1302706</a:t>
            </a:r>
          </a:p>
          <a:p>
            <a:r>
              <a:t>CNPJ 41970012000126 · Performance: benchmark eapuração · Excerto da fonte:</a:t>
            </a:r>
          </a:p>
          <a:p>
            <a:r>
              <a:t>performance, taxa de ingresso ou taxa de saída dos Cotistas. Capítulo 14 – DAS DEMONSTRAÇÕES FINANCEIRAS 14.1. O Fundo terá escrituração contábil própria, separada da relativa ao Administrador e deverá: (i) manter e implementar procedimentos administrativos e operacionais; e (ii) guardar e manter todos os documentos, livros, registros e demais informações materialmente necessárias para a adequada administração do Fundo. 14.2. O exercício social do Fundo iniciar-se-á em 1º de janeiro e encerrar-se-á em 31 de dezembro de cada ano. 14.3. O Fundo está sujeito às normas de escrituração, elaboração, remessa e publicidad</a:t>
            </a:r>
          </a:p>
          <a:p>
            <a:r>
              <a:t>CNPJ 41970012000126 · Performance: benchmark eapuração · Regulamento · ID 1302706 · 27/08/2026 · versão Regulamento27/08/2026 · p. 100 · 19.1 · https://fnet.bmfbovespa.com.br/fnet/publico/visualizarDocumento?id=1302706</a:t>
            </a:r>
          </a:p>
          <a:p>
            <a:r>
              <a:t>CNPJ 41970012000126 · Performance: benchmark eapuração · Excerto da fonte:</a:t>
            </a:r>
          </a:p>
          <a:p>
            <a:r>
              <a:t>19.1. Pelos serviços de administração e escrituração de Cotas será devida, pelo Fundo, uma Taxa de Administração, equivalente ao percentual de 0,075% (setenta e cinco milésimos por cento) ao ano sobre o Patrimônio Líquido do Fundo, observado o valor mínimo mensal de R$15.000,00 (quinze mil reais). 19.1.1. A Taxa de Custódia devida pelo Fundo pelos serviços de custódia qualificada dos Direitos Creditórios integrantes da Carteira está incluída na Taxa de Administração. 19.1.2. A Taxa de Administração e a Taxa de Custódia serão provisionadas diariamente e pagas mensalmente, sendo a parcela disposta no item 19.1 paga no 5º (quinto) Dia Útil do m</a:t>
            </a:r>
          </a:p>
          <a:p>
            <a:r>
              <a:t>CNPJ 41970012000126 · Performance: benchmark eapuração · Regulamento · ID 1302706 · 27/08/2026 · versão Regulamento27/08/2026 · p. 101 · 19.2 · https://fnet.bmfbovespa.com.br/fnet/publico/visualizarDocumento?id=1302706</a:t>
            </a:r>
          </a:p>
          <a:p>
            <a:r>
              <a:t>CNPJ 41970012000126 · Performance: benchmark eapuração · Excerto da fonte:</a:t>
            </a:r>
          </a:p>
          <a:p>
            <a:r>
              <a:t>19.2. Pelos serviços de gestão da Carteira será devida, pelo Fundo, uma Taxa de Gestão no valor equivalente ao percentual incidente determinado pela tabela abaixo sobre as faixas da soma de patrimônio líquido do Fundo e do Mercado Crédito Fundo de Investimento em Direitos Creditórios Não Padronizado, inscrito no CNPJ sob o nº 33.254.370/0001-04, conforme também indicados na tabela abaixo, acrescido, se for o caso, dos montantes previstos no item 19.2.1 baixo: PL Mínimo (R$) PL Máximo (R$) Percentual (% a.a.) Sem Limite Até 0,00 zero De 0,01</a:t>
            </a:r>
          </a:p>
          <a:p>
            <a:r>
              <a:t>CNPJ 41970012000126 · Performance: benchmark eapuração · Motivo: A menção nas matérias da AGC autoriza criação/aumento de taxas. O capítulo19 fixa administração/gestão e não institui taxa de performance; não foi localizado percentual ou fórmula de performance nessa versão.</a:t>
            </a:r>
          </a:p>
          <a:p>
            <a:r>
              <a:t>CNPJ 41970012000126 · Performance: benchmark eapuração · Versão e prevalência: Leitura específica das cláusulas indicadas; condições e conflitos preservados. Seleção documental atual não comprova vigência jurídica por data isolada.</a:t>
            </a:r>
          </a:p>
          <a:p>
            <a:r>
              <a:t>CNPJ 41970012000126 · Custódia, escrituração e encargos · Regulamento · ID 1302706 · 2026-08-27 · versão 1 · p. 102 · 20.2 · https://fnet.bmfbovespa.com.br/fnet/publico/visualizarDocumento?id=1302706</a:t>
            </a:r>
          </a:p>
          <a:p>
            <a:r>
              <a:t>CNPJ 41970012000126 · Custódia, escrituração e encargos · Excerto da fonte:</a:t>
            </a:r>
          </a:p>
          <a:p>
            <a:r>
              <a:t>20.2. Até a Data Limite de Investimento em Direitos Creditórios, e desde que não haja a ocorrência de  um Evento de Amortização Acelerada, de um Evento de Avaliação ou de um Evento de Liquidação do  Fundo, o Administrador deverá, em cada Dia Útil, por meio dos competentes débitos realizados na Conta  de Pagamento, na Conta do Fundo, alocar os recursos decorrentes da integralização das Cotas e do  recebimento de recursos provenientes da Carteira do Fundo, na seguinte ordem, conforme aplicável:</a:t>
            </a:r>
          </a:p>
          <a:p>
            <a:r>
              <a:t>(i) pagamento de despesas e encargos de responsabilidade do Fundo, devidos nos termos deste  Regulamento e da legislação aplicável, incluindo a Taxa de Administração, a Taxa de Custódia  e a Taxa de Gestão, exceto pela remuneração do Agente de Recebimento e do Agente de  Cobrança e pelo Reembolso de Despesas do Agente de Cobrança;</a:t>
            </a:r>
          </a:p>
          <a:p>
            <a:r>
              <a:t>(ii) constituição ou recomposição do saldo da Reserva para Despesas, conforme aplicável, exceto  pela remuneração do Agente de Recebimento e do Agente de Cobrança e pelo Reembolso de  Despesas do Agente de Cobrança;</a:t>
            </a:r>
          </a:p>
          <a:p>
            <a:r>
              <a:t>(iii) caso seja uma Data de Pagamento, pagamento da remuneração do Agente de Recebimento e do  Agente de Cobrança, bem como o Reembolso de Despesas do Agente de Cobrança, limitado de  forma agregada a 1% (um por cento) ao ano do Patrimônio Líquido do Fundo, apurado em base  de 252 (duzentos e cinquenta e dois) Dias Úteis;</a:t>
            </a:r>
          </a:p>
          <a:p>
            <a:r>
              <a:t>(iv) caso seja uma Data de Pagamento, pagamento da Meta de Rentabilidade Sênior aos titulares de  Cotas Seniores em Circulação, observado o disposto no respectivo Apêndice;</a:t>
            </a:r>
          </a:p>
          <a:p>
            <a:r>
              <a:t>(v) caso seja uma Data de Pagamento, pagamento de amortização extraordinária de Cotas Seniores  na ocorrência das hipóteses previstas no item 12.4 e/ou no item 12.9 acima;</a:t>
            </a:r>
          </a:p>
          <a:p>
            <a:r>
              <a:t>(vi) caso seja uma Data de Pagamento, pagamento da Meta de Rentabilidade Mezanino aos titulares  de Cotas Subordinadas Mezanino A em Circulação, observado o disposto no respectivo  Apêndice, sempre limitado ao valor que, considerada pro forma o pagamento da Meta de  Rentabilidade Mezanino pretendido, não haja desenquadramento da Senioridade Máxima;</a:t>
            </a:r>
          </a:p>
          <a:p>
            <a:r>
              <a:t>(vii) caso seja uma Data de Pagamento e tenha sido alterada a Data Limite de Investimento em  Direitos Creditórios sem voto afirmativo ou manifestação favorável dos titulares de Cotas  Subordinadas Mezanino, realização de amortização extraordinária das Cotas Subordinadas  Mezanino A, limitado ao valor que, considerada pro forma a amortização pretendida, não  btgpactual.com</a:t>
            </a:r>
          </a:p>
          <a:p>
            <a:r>
              <a:t>CNPJ 41970012000126 · Custódia, escrituração e encargos · Regulamento · ID 1302706 · 2026-08-27 · versão 1 · p. 36 · https://fnet.bmfbovespa.com.br/fnet/publico/visualizarDocumento?id=1302706</a:t>
            </a:r>
          </a:p>
          <a:p>
            <a:r>
              <a:t>CNPJ 41970012000126 · Custódia, escrituração e encargos · Excerto da fonte:</a:t>
            </a:r>
          </a:p>
          <a:p>
            <a:r>
              <a:t>MeLi e de suas Subsidiárias de forma consolidada  naquela data.</a:t>
            </a:r>
          </a:p>
          <a:p>
            <a:r>
              <a:t> "Taxa de Administração" significa a taxa devida ao Administrador, conforme  prevista no Capítulo 19 deste Regulamento.</a:t>
            </a:r>
          </a:p>
          <a:p>
            <a:r>
              <a:t> "Taxa de Inadimplência significa, em relação a cada Data Base e cada Safra de  Acumulada +90" Originação, a razão (expressa em percentual) entre: (a) o  saldo total de principal em aberto de todos os Direitos  Creditórios Over90 de tal Safra de Originação; e (b) o  saldo total de principal original de todos os Direitos  Creditórios que compõem tal Safra de Originação Para  fins de clareza, a respectiva MOB de cada Safra de  Originação não se altera entre a Data Base 1 e a Data  Base 2 imediatamente subsequente, entretanto os valores  calculados em (a) e (b) acima serão atualizados conforme  apurados na respectiva Data Base 1 e Data Base 2.</a:t>
            </a:r>
          </a:p>
          <a:p>
            <a:r>
              <a:t> "Taxa DI" significa a taxa média referencial dos depósitos  interfinanceiros (DI Extragrupo) apurada pela B3 e  divulgada no informativo diário disponível em sua  página na Internet ou em qualquer outro site ou  publicação que venha a substituí-lo, expressa na forma  percentual e calculada diariamente sob forma de  capitalização composta, com base em um ano de 252  (duzentos e cinquenta e dois) dias úteis, sendo certo que,  caso tal taxa seja negativa, será utilizado o valor de  0,00% para fins de cálculo.</a:t>
            </a:r>
          </a:p>
          <a:p>
            <a:r>
              <a:t> "Taxa de Custódia" significa a taxa devida ao Custodiante, conforme prevista  no Capítulo 19 deste Regulamento.</a:t>
            </a:r>
          </a:p>
          <a:p>
            <a:r>
              <a:t> "Taxa de Gestão" significa a taxa devida ao Gestor, conforme prevista no  Capítulo 19 deste Regulamento.</a:t>
            </a:r>
          </a:p>
          <a:p>
            <a:r>
              <a:t> "Terceira Emissão" significa a terceira Emissão da primeira Série de Cotas  Seniores pelo Fundo, composta por 1.016.076 (um  milhão, dezesseis mil e setenta e seis) Cotas Seniores,  que totalizam R$500.000.838,84 (quinhentos milhões,  oitocentos e trinta e oito reais e oitenta e quatro  centavos), considerando o valor da Cota Sênior em 14 de  agosto de 2026.</a:t>
            </a:r>
          </a:p>
          <a:p>
            <a:r>
              <a:t> "Termo de Adesão" significa o termo de adesão a este Regulamento e de  ciência de risco, a ser assinado por cada investidor por  ocasião da subscrição de Cotas.</a:t>
            </a:r>
          </a:p>
          <a:p>
            <a:r>
              <a:t> "Termos e Condições" significam os Termos e Condições de Uso da Plataforma  Mercado Pago.</a:t>
            </a:r>
          </a:p>
          <a:p>
            <a:r>
              <a:t> "Termo de Endosso" significa cada termo de endosso dos Direitos Creditórios,  assinado eletronicamente pelo Endossante e o Fundo, na  forma dos Contratos de Endosso, por meio do qual serão  identificados os Direitos Creditórios Adquiridos em cada  Data de Aquisição e Pagamento.</a:t>
            </a:r>
          </a:p>
          <a:p>
            <a:r>
              <a:t>CNPJ 41970012000126 · Custódia, escrituração e encargos · Regulamento · ID 1302706 · 2026-08-27 · versão 1 · p. 104 · https://fnet.bmfbovespa.com.br/fnet/publico/visualizarDocumento?id=1302706</a:t>
            </a:r>
          </a:p>
          <a:p>
            <a:r>
              <a:t>CNPJ 41970012000126 · Custódia, escrituração e encargos · Excerto da fonte:</a:t>
            </a:r>
          </a:p>
          <a:p>
            <a:r>
              <a:t>prevista no item 20.2), o Administrador deverá, em cada Dia Útil, por meio dos competentes débitos  realizados na Conta de Pagamento, na Conta do Fundo, alocar os recursos decorrentes da integralização das  Cotas e do recebimento de recursos provenientes da Carteira do Fundo, na seguinte ordem:</a:t>
            </a:r>
          </a:p>
          <a:p>
            <a:r>
              <a:t>(i) pagamento de despesas e encargos de responsabilidade do Fundo, devidos nos termos deste  Regulamento e da legislação aplicável, incluindo a Taxa de Administração, a Taxa de Custódia  e a Taxa de Gestão, exceto pela remuneração do Agente de Recebimento e do Agente de  Cobrança e pelo Reembolso de Despesas do Agente de Cobrança;</a:t>
            </a:r>
          </a:p>
          <a:p>
            <a:r>
              <a:t>(ii) recomposição do saldo da Reserva para Despesas, exceto pela remuneração do Agente de  Recebimento e do Agente de Cobrança e pelo Reembolso de Despesas do Agente de Cobrança;</a:t>
            </a:r>
          </a:p>
          <a:p>
            <a:r>
              <a:t>(iii) caso seja uma Data de Pagamento, pagamento da remuneração do Agente de Recebimento e do  Agente de Cobrança, bem como o Reembolso de Despesas do Agente de Cobrança, limitado de  forma agregada a 1% (um por cento) ao ano do Patrimônio Líquido do Fundo, apurado em base  de 252 (duzentos e cinquenta e dois) Dias Úteis;</a:t>
            </a:r>
          </a:p>
          <a:p>
            <a:r>
              <a:t>(iv) caso seja uma Data de Pagamento, pagamento da Meta de Rentabilidade Sênior aos titulares de  Cotas Seniores em Circulação, observado o disposto no respectivo Apêndice;</a:t>
            </a:r>
          </a:p>
          <a:p>
            <a:r>
              <a:t>(v) pagamento de quaisquer outras obrigações devidas aos Cotistas Seniores;</a:t>
            </a:r>
          </a:p>
          <a:p>
            <a:r>
              <a:t>(vi) caso seja uma Data de Pagamento, pagamento da amortização de principal de Cotas Seniores;</a:t>
            </a:r>
          </a:p>
          <a:p>
            <a:r>
              <a:t>(vii) caso seja uma Data de Pagamento, uma vez amortizada/resgatada a totalidade das Cotas  Seniores, pagamento da Meta de Rentabilidade Mezanino aos titulares de Cotas Subordinadas  Mezanino A em Circulação;</a:t>
            </a:r>
          </a:p>
          <a:p>
            <a:r>
              <a:t>(viii) caso seja uma Data de Pagamento, uma vez amortizada/resgatada a totalidade das Cotas  Seniores, pagamento da amortização de principal de Cotas Subordinadas Mezanino A;</a:t>
            </a:r>
          </a:p>
          <a:p>
            <a:r>
              <a:t>(ix) caso seja uma Data de Pagamento, uma vez amortizada/resgatada a totalidade das Cotas  Seniores e das Cotas Subordinadas Mezanino A, pagamento da Meta de Rentabilidade  Mezanino aos titulares de Cotas Subordinadas Mezanino B em Circulação;</a:t>
            </a:r>
          </a:p>
          <a:p>
            <a:r>
              <a:t>(x) caso seja uma Data de Pagamento, uma vez amortizada/resgatada a totalidade das Cotas  Seniores e das Cotas Subordinadas Mezanino A, pagamento da amortização de principal de  Cotas Subordinadas Mezanino B;</a:t>
            </a:r>
          </a:p>
          <a:p>
            <a:r>
              <a:t>(xi) caso seja uma Data de Pagamento, uma vez amortizada/resgatada a totalidade das Cotas  Seniores, das Cotas Subordinadas Mezanino A e das Cotas Subordinadas Mezanino B,  pagamento da Meta de Rentabilidade Mezanino aos titulares de Cotas Subordinadas Mezanino  C;</a:t>
            </a:r>
          </a:p>
          <a:p>
            <a:r>
              <a:t>(xii) caso seja uma Data de Pagamento, uma vez amortizada/resgatada a totalidade das Cotas  Seniores, das Cotas Subordinadas Mezanino A e das Cotas Subordinadas Mezanino B,  pagamento da amortização de principal de Cotas Subordinadas Mezanino C;</a:t>
            </a:r>
          </a:p>
          <a:p>
            <a:r>
              <a:t>(xiii) uma vez amortizada/resgatada a totalidade das Cotas Seniores e das Cotas Subordinadas  Mezanino, pagamento da remuneração complementar do Agente de Recebimento e do Agente  de Cobrança, bem como o Reembolso de Despesas do Agente de Cobrança, ou seja, que tenha  ultrapassado o valor de 1% (um por cento) ao ano do Patrimônio Líquido do Fundo, nos termos  btgpactual.com</a:t>
            </a:r>
          </a:p>
          <a:p>
            <a:r>
              <a:t>CNPJ 41970012000126 · Custódia, escrituração e encargos · Condição: Documentos atuais selecionados no inventário por categoria/escopo; a data documental isolada não comprova vigência jurídica.</a:t>
            </a:r>
          </a:p>
          <a:p>
            <a:r>
              <a:t>CNPJ 41970012000126 · Custódia, escrituração e encargos · Versão e prevalência: Documentos atuais selecionados no inventário por categoria/escopo; a data documental isolada não comprova vigência jurídica.</a:t>
            </a:r>
          </a:p>
          <a:p>
            <a:r>
              <a:t>CNPJ 41970012000126 · Custódia, escrituração e encargos · Resumo do histórico: {"count": 5, "dates": ["2025-12-19", "2026-08-27"], "document_count": 3, "sources": [{"document_id": "1302706", "title": "Regulamento", "reference_date": "2026-08-27", "version": "1", "page": "100", "url": "https://fnet.bmfbovespa.com.br/fnet/publico/visualizarDocumento?id=1302706", "sha256": "b113727bc2bc3b1a6b0d18f02bf2143068fd912df2d83cbb91ab44fcb30a3379"}, {"document_id": "1077333", "title": "AGE", "reference_date": "2025-12-19", "version": "1", "page": 125, "clause": "20.3", "url": "https://fnet.bmfbovespa.com.br/fnet/publico/visualizarDocumento?id=1077333", "sha256": "a9a25c5f8a0c493373a2157221109466cbc86e5f44f623997bba18ca14892751"}, {"document_id": "1077334", "title": "Regulamento", "reference_date": "2025-12-19", "version": "1", "page": 125, "clause": "20.3", "url": "https://fnet.bmfbovespa.com.br/fnet/publico/visualizarDocumento?id=1077334", "sha256": "a9a25c5f8a0c493373a2157221109466cbc86e5f44f623997bba18ca14892751"}], "reference": {"path": "history/41970012000126.json", "criterion_id": "custody_fee", "total_count": 5, "preview_count": 3, "full_text_deferred": true, "sha256": "229578c6b833b0633051fe7d357f4fcc74589dcf37d7750032517e03ec89ee60"}}</a:t>
            </a:r>
          </a:p>
          <a:p>
            <a:r>
              <a:t>CNPJ 41970012000126 · Classes e séries de cotas · AGE · ID 1341484 · 2026-10-05 · versão 1 · p. 1 · https://fnet.bmfbovespa.com.br/fnet/publico/visualizarDocumento?id=1341484</a:t>
            </a:r>
          </a:p>
          <a:p>
            <a:r>
              <a:t>CNPJ 41970012000126 · Classes e séries de cotas · Excerto da fonte:</a:t>
            </a:r>
          </a:p>
          <a:p>
            <a:r>
              <a:t>Os Cotistas, por unanimidade, sem quaisquer reservas ou restrições, aprovaram (i) o aumento no montante da  Terceira Emissão de Cotas Seniores da classe única do Fundo, conforme aprovada na Assembleia Geral de  Cotistas realizada em 20 de agosto de 2026, no valor de R$ 145.333,56 (cento e quarenta e cinco mil, trezentos  e trinta e três reais e cinquenta e seis centavos), passando a Terceira Emissão de Cotas Seniores a perfazer a  quantia total de R$ 500.146.172,40 (quinhentos milhões, cento e quarenta e seis mil, cento e setenta e dois reais  e quarenta centavos; (ii) a celebração do Sétimo Aditamento ao Instrumento Particular de Compromisso de  Investimento para Subscrição e Integralização de Cotas Seniores do FIDC Mercado Crédito II Brasil, de forma a  refletir o aumento do volume da Terceira Emissão de Cotas Seniores, sem aumento do capital comprometido  pelo Subscritor; e a (iii) celebração dos demais documentos necessários para refletir as alterações ora aprovadas.</a:t>
            </a:r>
          </a:p>
          <a:p>
            <a:r>
              <a:t>CNPJ 41970012000126 · Classes e séries de cotas · Condição: Documentos atuais selecionados no inventário por categoria/escopo; a data documental isolada não comprova vigência jurídica.</a:t>
            </a:r>
          </a:p>
          <a:p>
            <a:r>
              <a:t>CNPJ 41970012000126 · Classes e séries de cotas · Versão e prevalência: Documentos atuais selecionados no inventário por categoria/escopo; a data documental isolada não comprova vigência jurídica.</a:t>
            </a:r>
          </a:p>
          <a:p>
            <a:r>
              <a:t>CNPJ 41970012000126 · Classes e séries de cotas · Resumo do histórico: {"count": 11, "dates": ["2026-08-27"], "document_count": 2, "sources": [{"document_id": "1302706", "title": "Regulamento", "reference_date": "2026-08-27", "version": "1", "page": "133–153", "url": "https://fnet.bmfbovespa.com.br/fnet/publico/visualizarDocumento?id=1302706", "sha256": "b113727bc2bc3b1a6b0d18f02bf2143068fd912df2d83cbb91ab44fcb30a3379"}, {"document_id": "1302706", "title": "Regulamento", "reference_date": "2026-08-27", "version": "1", "page": 35, "url": "https://fnet.bmfbovespa.com.br/fnet/publico/visualizarDocumento?id=1302706", "sha256": "b113727bc2bc3b1a6b0d18f02bf2143068fd912df2d83cbb91ab44fcb30a3379"}, {"document_id": "1302705", "title": "AGE", "reference_date": "2026-08-27", "version": "1", "page": 2, "url": "https://fnet.bmfbovespa.com.br/fnet/publico/visualizarDocumento?id=1302705", "sha256": "a76f5b5a30b2ba45767ee3c201b99367866bb28b1f457ef47442b2e58e0d0100"}], "reference": {"path": "history/41970012000126.json", "criterion_id": "quota_classes", "total_count": 11, "preview_count": 3, "full_text_deferred": true, "sha256": "229578c6b833b0633051fe7d357f4fcc74589dcf37d7750032517e03ec89ee60"}}</a:t>
            </a:r>
          </a:p>
          <a:p>
            <a:r>
              <a:t>CNPJ 41970012000126 · Ofertas e colocação · Regulamento · ID 1302706 · 2026-08-27 · versão 1 · p. 99 · 18.8.1 · https://fnet.bmfbovespa.com.br/fnet/publico/visualizarDocumento?id=1302706</a:t>
            </a:r>
          </a:p>
          <a:p>
            <a:r>
              <a:t>CNPJ 41970012000126 · Ofertas e colocação · Excerto da fonte:</a:t>
            </a:r>
          </a:p>
          <a:p>
            <a:r>
              <a:t>18.8.1. Poderão ser contratados, mediante celebração de instrumento de adesão ao respectivo  contrato de distribuição, independentemente de realização de Assembleia Geral de Cotistas, outras  instituições integrantes do sistema de distribuição de valores mobiliários, desde que aprovadas pelo  Coordenador Líder e pelo Gestor, para realizarem a distribuição das Cotas.</a:t>
            </a:r>
          </a:p>
          <a:p>
            <a:r>
              <a:t>CNPJ 41970012000126 · Ofertas e colocação · Regulamento · ID 1302706 · 2026-08-27 · versão 1 · p. 141 · https://fnet.bmfbovespa.com.br/fnet/publico/visualizarDocumento?id=1302706</a:t>
            </a:r>
          </a:p>
          <a:p>
            <a:r>
              <a:t>CNPJ 41970012000126 · Ofertas e colocação · Excerto da fonte:</a:t>
            </a:r>
          </a:p>
          <a:p>
            <a:r>
              <a:t>Forma de Distribuição Oferta pública destinada a Investidores Profissionais, nos  termos do artigo 26, inciso VII, da Resolução CVM 160.</a:t>
            </a:r>
          </a:p>
          <a:p>
            <a:r>
              <a:t>CNPJ 41970012000126 · Ofertas e colocação · AGE · ID 1302705 · 2026-08-27 · versão 1 · p. 3 · https://fnet.bmfbovespa.com.br/fnet/publico/visualizarDocumento?id=1302705</a:t>
            </a:r>
          </a:p>
          <a:p>
            <a:r>
              <a:t>CNPJ 41970012000126 · Ofertas e colocação · Excerto da fonte:</a:t>
            </a:r>
          </a:p>
          <a:p>
            <a:r>
              <a:t>(vii) a realização de oferta pública da Terceira Emissão de Cotas Seniores, sob o regime de  melhores esforços de colocação, destinada a Investidores Profissionais, submetida ao rito de  registro automático na CVM, nos termos do artigo 26, inciso VII, alínea "a", da Resolução da  CVM nº 160, de 13 de julho de 2022, bem como aprovação da contratação do Administrador  para atuar como instituição intermediária líder da oferta pública da Terceira Emissão de Cotas  Seniores, observadas as características constantes do Complemento IX anexo ao  Regulamento da Classe (Anexo A deste instrumento);</a:t>
            </a:r>
          </a:p>
          <a:p>
            <a:r>
              <a:t>CNPJ 41970012000126 · Ofertas e colocação · Condição: Documentos atuais selecionados no inventário por categoria/escopo; a data documental isolada não comprova vigência jurídica.</a:t>
            </a:r>
          </a:p>
          <a:p>
            <a:r>
              <a:t>CNPJ 41970012000126 · Ofertas e colocação · Versão e prevalência: Documentos atuais selecionados no inventário por categoria/escopo; a data documental isolada não comprova vigência jurídica.</a:t>
            </a:r>
          </a:p>
          <a:p>
            <a:r>
              <a:t>CNPJ 41970012000126 · Ofertas e colocação · Resumo do histórico: {"count": 20, "dates": ["2025-12-19", "2025-12-31", "2026-08-24"], "document_count": 3, "sources": [{"document_id": "1300110", "title": "Fato Relevante", "reference_date": "2026-08-24", "version": "1", "page": 1, "clause": "1.016.076", "url": "https://fnet.bmfbovespa.com.br/fnet/publico/visualizarDocumento?id=1300110", "sha256": "982dd137d6a96b7e0e1f24730a2959e2196a43d13ea7f651c29e962a1c816b5c"}, {"document_id": "1151156", "title": "Demonstrações Financeiras", "reference_date": "2025-12-31", "version": "1", "page": 41, "url": "https://fnet.bmfbovespa.com.br/fnet/publico/visualizarDocumento?id=1151156", "sha256": "04099e318871fbf25478d1ed88b19c4c6c6af84d9811507e8df48f7d824c6ec8"}, {"document_id": "1077333", "title": "AGE", "reference_date": "2025-12-19", "version": "1", "page": 120, "clause": "18.8.1", "url": "https://fnet.bmfbovespa.com.br/fnet/publico/visualizarDocumento?id=1077333", "sha256": "a9a25c5f8a0c493373a2157221109466cbc86e5f44f623997bba18ca14892751"}], "reference": {"path": "history/41970012000126.json", "criterion_id": "offers", "total_count": 20, "preview_count": 3, "full_text_deferred": true, "sha256": "229578c6b833b0633051fe7d357f4fcc74589dcf37d7750032517e03ec89ee60"}}</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PLGN Marketplace · vínculo CNPJ 41970012000126 · Emissões e custos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Vínculo: PLGN Marketplace · CNPJ 55563624000109 → CNPJ 41970012000126 · Regulamento · ID 1192614 · 30/04/2026 · versão Regulamento30/04/2026 · p. 11 · AnexoI4.1</a:t>
            </a:r>
          </a:p>
          <a:p>
            <a:r>
              <a:t>Condição do vínculo: {"cnpj": "41970012000126", "name": "Mercado Crédito II Brasil FIDC", "relationship": "named_investee", "exposure": "mezzanine", "position_status": "mandate_identified_position_not_quantified", "risk_note": "Mandato e classe exatos; comparar regras eIMEdo investido na competência doFIC, sem dupla contagem dePL."}</a:t>
            </a:r>
          </a:p>
          <a:p>
            <a:r>
              <a:t>CNPJ 41970012000126 · Remuneração por subclasse e série · Regulamento · ID 1302706 · 2026-08-27 · versão 1 · p. 29 · https://fnet.bmfbovespa.com.br/fnet/publico/visualizarDocumento?id=1302706</a:t>
            </a:r>
          </a:p>
          <a:p>
            <a:r>
              <a:t>CNPJ 41970012000126 · Remuneração por subclasse e série · Excerto da fonte:</a:t>
            </a:r>
          </a:p>
          <a:p>
            <a:r>
              <a:t>MOB15 19,20% (dezenove inteiros e vinte  centésimos por cento)  MOB16 19,22% (dezenove inteiros e vinte e dois  centésimos por cento)  MOB17 19,23% (dezenove inteiros e vinte e três  centésimos por cento)  "MeLi" significa o MERCADOLIBRE, INC., sociedade constituída  em conformidade com as leis do estado de Delaware,  Estados Unidos da América, com sede em 15 East North  Street, Dover, Kent County, Delaware, Estados Unidos  da América, inscrita no CNPJ/MF sob  nº 05.528.233/0001-85.</a:t>
            </a:r>
          </a:p>
          <a:p>
            <a:r>
              <a:t> "Mercado Pago" significa o MERCADO PAGO INSTITUIÇÃO DE  PAGAMENTO LTDA., sociedade empresária limitada com  sede no município de Osasco, estado de São Paulo, na  Avenida das Nações Unidas, nº 3003, parte E, Bonfim,  CEP 06.233-903, inscrita no CNPJ/MF sob o  nº 10.573.521/0001-91.</a:t>
            </a:r>
          </a:p>
          <a:p>
            <a:r>
              <a:t> "Meta de Rentabilidade significa o Benchmark das Cotas Subordinadas Mezanino  Mezanino" de cada Subclasse e, se aplicável, de cada Série, na forma  do disposto em cada Apêndice, acrescido: (i) de  quaisquer Rendimentos Adicionais, se houver  determinação neste sentido no respectivo Apêndice da  respectiva Subclasse ou Série de Cotas Subordinadas  Mezanino; e (ii) da Compensação Extraordinária, se  houver.</a:t>
            </a:r>
          </a:p>
          <a:p>
            <a:r>
              <a:t> "Meta de Rentabilidade Sênior" significa o Benchmark das Cotas Seniores de cada Série,  na forma do disposto em cada Apêndice, acrescido: (i)  de quaisquer Rendimentos Adicionais, se houver  determinação neste sentido no respectivo Apêndice das  Cotas Seniores; e (ii) da Compensação Extraordinária, se  houver.</a:t>
            </a:r>
          </a:p>
          <a:p>
            <a:r>
              <a:t> "Opção de Compra de Direitos Tem o significado que lhe é atribuído no item 5.1.6.3 do  Creditórios" Regulamento.</a:t>
            </a:r>
          </a:p>
          <a:p>
            <a:r>
              <a:t> "Partes Relacionadas" significam as Empresas Controladoras, Controladas, sob  o Controle comum, coligadas e/ou subsidiárias de  determinada sociedade ou pessoa ou fundos de  investimento cuja base de investidores seja constituída  exclusivamente por empresas Controladoras,  Controladas, coligadas, subsidiárias e/ou estejam sob  Controle comum de tal sociedade ou pessoa.</a:t>
            </a:r>
          </a:p>
          <a:p>
            <a:r>
              <a:t> "Patrimônio Líquido do Fundo" significa o valor em reais resultante da soma algébrica  das Disponibilidades e dos Direitos Creditórios  Adquiridos que são parte da Carteira, menos as provisões  feitas em conformidade com o item 6.3 e exigibilidades  do Fundo.</a:t>
            </a:r>
          </a:p>
          <a:p>
            <a:r>
              <a:t>CNPJ 41970012000126 · Remuneração por subclasse e série · Regulamento · ID 1302706 · 2026-08-27 · versão 1 · p. 78 · 11.1 · https://fnet.bmfbovespa.com.br/fnet/publico/visualizarDocumento?id=1302706</a:t>
            </a:r>
          </a:p>
          <a:p>
            <a:r>
              <a:t>CNPJ 41970012000126 · Remuneração por subclasse e série · Excerto da fonte:</a:t>
            </a:r>
          </a:p>
          <a:p>
            <a:r>
              <a:t>11.1. São considerados Eventos de Avaliação do Fundo quaisquer das seguintes ocorrências, observado  que (a) os subitens (i), (ii), (iii), (iv), (v), (vi), (xi), (xvii), (xxiii), (xxiv), (xxvi), (xxviii),(xxx) e (xxxi)  abaixo serão verificados pelo Administrador; (b) os subitens (ix), (xvii) e (xxix)abaixo serão verificados  pelo Gestor; (c) o item (xxv) abaixo será verificado pelos Cotistas Seniores e/ou pelo Administrador; (d)  os subitens (vii), (viii), (xii), (xiii), (xiv), (xv), (xvi), (xviii), (xix), (xx), (xxi), (xxii) poderão ser verificados  pelo Administrador e/ou pelo Gestor; e (e) o item (xxx) poderá ser verificado pelos Cotistas Seniores, sem  prejuízo, em qualquer caso, da obrigação do Mercado Pago e da Instituição Financeira MeLi disposta no  item 11.1.2 abaixo:</a:t>
            </a:r>
          </a:p>
          <a:p>
            <a:r>
              <a:t>(i) não observância do prazo de 180 (cento e oitenta) dias contados da Data da Primeira  Integralização de Cotas do Fundo, ou do prazo adicional concedido pela CVM, se for o caso,  para alocação dos recursos do Fundo na aquisição de Direitos Creditórios em montante que  corresponda a, no mínimo, a Alocação Mínima de Investimento, conforme disposto no item</a:t>
            </a:r>
          </a:p>
          <a:p>
            <a:r>
              <a:t>(ii) na hipótese de serem realizados pagamentos de rendimentos, Amortização ou resgate de Cotas  Subordinadas Mezanino ou de Cotas Subordinadas Júnior em desacordo com este Regulamento;</a:t>
            </a:r>
          </a:p>
          <a:p>
            <a:r>
              <a:t>(iii) o Fundo deixe de deter natureza jurídica de condomínio de natureza especial, nos termos da  legislação aplicável;</a:t>
            </a:r>
          </a:p>
          <a:p>
            <a:r>
              <a:t>(iv) caso a Assembleia Geral de Cotistas convocada nos termos do item 5.3.5.1 delibere que a  Inconsistência Relevante verificada constitui um Evento de Avaliação;</a:t>
            </a:r>
          </a:p>
          <a:p>
            <a:r>
              <a:t>(v) não realização de pagamento da Meta de Rentabilidade Sênior e/ou da Meta de Rentabilidade  Mezanino aplicável, da Amortização de Cotas Seniores e/ou de Cotas Subordinadas Mezanino  ou amortização integral/resgate de Cotas Seniores e/ou de Cotas Subordinadas Mezanino em até  2 (dois) Dias Úteis contados da esperada Data de Pagamento ou Data de Amortização Integral  definidas nos respectivos Apêndices, conforme aplicável, observado que, após a Data Limite de  Investimento em Direitos Creditórios e/ou em caso de Evento de Amortização Acelerada e/ou  Evento de Liquidação, a ausência de amortização de Cotas Subordinadas Mezanino, nos termos  da ordem de alocação de recursos prevista no item 20.3, enquanto não houver a amortização  integral/resgate de todas as Cotas Seniores, não será considerada um Evento de Avaliação;</a:t>
            </a:r>
          </a:p>
          <a:p>
            <a:r>
              <a:t>(vi) não realização de pagamento decorrente de um Evento de Pagamento Qualificado nos termos  do item 12.7, subitem (ii), observado o prazo de cura de 2 (dois) Dias Úteis contados da  respectiva data esperada;</a:t>
            </a:r>
          </a:p>
          <a:p>
            <a:r>
              <a:t>(vii) na ocorrência de um inadimplemento de quaisquer obrigações assumidas pelo Mercado Pago  e/ou por qualquer Endossante em quaisquer Documentos do Fundo que não seja sanado (se  btgpactual.com</a:t>
            </a:r>
          </a:p>
          <a:p>
            <a:r>
              <a:t>CNPJ 41970012000126 · Remuneração por subclasse e série · Regulamento · ID 1302706 · 2026-08-27 · versão 1 · p. 102 · 20.2 · https://fnet.bmfbovespa.com.br/fnet/publico/visualizarDocumento?id=1302706</a:t>
            </a:r>
          </a:p>
          <a:p>
            <a:r>
              <a:t>CNPJ 41970012000126 · Remuneração por subclasse e série · Excerto da fonte:</a:t>
            </a:r>
          </a:p>
          <a:p>
            <a:r>
              <a:t>20.2. Até a Data Limite de Investimento em Direitos Creditórios, e desde que não haja a ocorrência de  um Evento de Amortização Acelerada, de um Evento de Avaliação ou de um Evento de Liquidação do  Fundo, o Administrador deverá, em cada Dia Útil, por meio dos competentes débitos realizados na Conta  de Pagamento, na Conta do Fundo, alocar os recursos decorrentes da integralização das Cotas e do  recebimento de recursos provenientes da Carteira do Fundo, na seguinte ordem, conforme aplicável:</a:t>
            </a:r>
          </a:p>
          <a:p>
            <a:r>
              <a:t>(i) pagamento de despesas e encargos de responsabilidade do Fundo, devidos nos termos deste  Regulamento e da legislação aplicável, incluindo a Taxa de Administração, a Taxa de Custódia  e a Taxa de Gestão, exceto pela remuneração do Agente de Recebimento e do Agente de  Cobrança e pelo Reembolso de Despesas do Agente de Cobrança;</a:t>
            </a:r>
          </a:p>
          <a:p>
            <a:r>
              <a:t>(ii) constituição ou recomposição do saldo da Reserva para Despesas, conforme aplicável, exceto  pela remuneração do Agente de Recebimento e do Agente de Cobrança e pelo Reembolso de  Despesas do Agente de Cobrança;</a:t>
            </a:r>
          </a:p>
          <a:p>
            <a:r>
              <a:t>(iii) caso seja uma Data de Pagamento, pagamento da remuneração do Agente de Recebimento e do  Agente de Cobrança, bem como o Reembolso de Despesas do Agente de Cobrança, limitado de  forma agregada a 1% (um por cento) ao ano do Patrimônio Líquido do Fundo, apurado em base  de 252 (duzentos e cinquenta e dois) Dias Úteis;</a:t>
            </a:r>
          </a:p>
          <a:p>
            <a:r>
              <a:t>(iv) caso seja uma Data de Pagamento, pagamento da Meta de Rentabilidade Sênior aos titulares de  Cotas Seniores em Circulação, observado o disposto no respectivo Apêndice;</a:t>
            </a:r>
          </a:p>
          <a:p>
            <a:r>
              <a:t>(v) caso seja uma Data de Pagamento, pagamento de amortização extraordinária de Cotas Seniores  na ocorrência das hipóteses previstas no item 12.4 e/ou no item 12.9 acima;</a:t>
            </a:r>
          </a:p>
          <a:p>
            <a:r>
              <a:t>(vi) caso seja uma Data de Pagamento, pagamento da Meta de Rentabilidade Mezanino aos titulares  de Cotas Subordinadas Mezanino A em Circulação, observado o disposto no respectivo  Apêndice, sempre limitado ao valor que, considerada pro forma o pagamento da Meta de  Rentabilidade Mezanino pretendido, não haja desenquadramento da Senioridade Máxima;</a:t>
            </a:r>
          </a:p>
          <a:p>
            <a:r>
              <a:t>(vii) caso seja uma Data de Pagamento e tenha sido alterada a Data Limite de Investimento em  Direitos Creditórios sem voto afirmativo ou manifestação favorável dos titulares de Cotas  Subordinadas Mezanino, realização de amortização extraordinária das Cotas Subordinadas  Mezanino A, limitado ao valor que, considerada pro forma a amortização pretendida, não  btgpactual.com</a:t>
            </a:r>
          </a:p>
          <a:p>
            <a:r>
              <a:t>CNPJ 41970012000126 · Remuneração por subclasse e série · Condição: Documentos atuais selecionados no inventário por categoria/escopo; a data documental isolada não comprova vigência jurídica.</a:t>
            </a:r>
          </a:p>
          <a:p>
            <a:r>
              <a:t>CNPJ 41970012000126 · Remuneração por subclasse e série · Versão e prevalência: Documentos atuais selecionados no inventário por categoria/escopo; a data documental isolada não comprova vigência jurídica.</a:t>
            </a:r>
          </a:p>
          <a:p>
            <a:r>
              <a:t>CNPJ 41970012000126 · Remuneração por subclasse e série · Resumo do histórico: {"count": 12, "dates": ["2025-12-19", "2026-08-27"], "document_count": 3, "sources": [{"document_id": "1302706", "title": "Regulamento", "reference_date": "2026-08-27", "version": "1", "page": "134–159", "url": "https://fnet.bmfbovespa.com.br/fnet/publico/visualizarDocumento?id=1302706", "sha256": "b113727bc2bc3b1a6b0d18f02bf2143068fd912df2d83cbb91ab44fcb30a3379"}, {"document_id": "1077333", "title": "AGE", "reference_date": "2025-12-19", "version": "1", "page": 125, "clause": "20.3", "url": "https://fnet.bmfbovespa.com.br/fnet/publico/visualizarDocumento?id=1077333", "sha256": "a9a25c5f8a0c493373a2157221109466cbc86e5f44f623997bba18ca14892751"}, {"document_id": "1077334", "title": "Regulamento", "reference_date": "2025-12-19", "version": "1", "page": 125, "clause": "20.3", "url": "https://fnet.bmfbovespa.com.br/fnet/publico/visualizarDocumento?id=1077334", "sha256": "a9a25c5f8a0c493373a2157221109466cbc86e5f44f623997bba18ca14892751"}], "reference": {"path": "history/41970012000126.json", "criterion_id": "remuneration", "total_count": 12, "preview_count": 3, "full_text_deferred": true, "sha256": "229578c6b833b0633051fe7d357f4fcc74589dcf37d7750032517e03ec89ee60"}}</a:t>
            </a:r>
          </a:p>
          <a:p>
            <a:r>
              <a:t>CNPJ 41970012000126 · Volume, VNU e emissão · Regulamento · ID 1302706 · 2026-08-27 · versão 1 · p. 31 · https://fnet.bmfbovespa.com.br/fnet/publico/visualizarDocumento?id=1302706</a:t>
            </a:r>
          </a:p>
          <a:p>
            <a:r>
              <a:t>CNPJ 41970012000126 · Volume, VNU e emissão · Excerto da fonte:</a:t>
            </a:r>
          </a:p>
          <a:p>
            <a:r>
              <a:t>"Política de Originação e significa a política de originação e concessão de crédito  Concessão de Crédito" adotada pela Instituição Financeira MeLi e pelo Mercado  Pago, prevista no COMPLEMENTO III deste  Regulamento.</a:t>
            </a:r>
          </a:p>
          <a:p>
            <a:r>
              <a:t> "Política de Seleção e significa a política de seleção de Direitos Creditórios por  Verificação de Lastro" amostragem e verificação de lastro prevista no  COMPLEMENTO V deste Regulamento.</a:t>
            </a:r>
          </a:p>
          <a:p>
            <a:r>
              <a:t> "Preço de Aquisição" significa o preço devido pelo Fundo em razão da  aquisição dos Direitos Creditórios, devido em moeda  corrente nacional e nos termos do respectivo Termo de  Endosso.</a:t>
            </a:r>
          </a:p>
          <a:p>
            <a:r>
              <a:t> "Prestadores de Serviço de tem o significado a ele atribuído no COMPLEMENTO  Cobrança" IV.</a:t>
            </a:r>
          </a:p>
          <a:p>
            <a:r>
              <a:t> "Primeira Emissão" significa a primeira Emissão da primeira Série de Cotas  Seniores pelo Fundo, composta por 1.200.000 (um  milhão e duzentas mil) Cotas Seniores, que totalizarão  até R$1.200.000.000,00 (um bilhão e duzentos milhões  de reais), considerando o Valor Nominal Unitário de  Emissão.</a:t>
            </a:r>
          </a:p>
          <a:p>
            <a:r>
              <a:t> "Razão de Subordinação significa a razão entre: (i) a soma do valor das Cotas  Mezanino A" Subordinadas Mezanino B em Circulação, do valor das  Cotas Subordinadas Mezanino C em Circulação e do valor  das Cotas Subordinadas Júnior em Circulação; e (ii) o  Patrimônio Líquido do Fundo ambos calculados em uma  mesma data, equivalente a 20% (vinte por cento).</a:t>
            </a:r>
          </a:p>
          <a:p>
            <a:r>
              <a:t> Caso seja caracterizado um Evento de Step-Down, a  Razão de Subordinação Mezanino A será  automaticamente majorada em percentual suficiente para  equivaler ao Valor de Redução Evento de Step-Down  Nível 1 ou Valor de Redução Evento de Step-Down Nível  2, de forma não cumulativa. Por exemplo: caso haja  Evento de Step-Down Nível 1, nos termos do item (i) da  definição de Evento de Step-Down Nível 1, a Razão de  Subordinação Mezanino A será automaticamente  majorada em 5 (cinco) pontos percentuais, assim  permanecendo enquanto remanescer o Evento de Step-  Down Nível 1.</a:t>
            </a:r>
          </a:p>
          <a:p>
            <a:r>
              <a:t> A Razão de Subordinação Mezanino A será calculada  diariamente pelo Gestor e disponibilizada em cada Data  de Envio do Relatório de Acompanhamento, por meio do  respectivo Relatório de Acompanhamento, sendo certo  que, em caso de desenquadramento da Razão de  Subordinação Mezanino A, o Administrador deverá  comunicar imediatamente tal fato aos Cotistas, após  notificação do Gestor nesse sentido.</a:t>
            </a:r>
          </a:p>
          <a:p>
            <a:r>
              <a:t> "Razão de Subordinação significa a razão entre: (i) a soma do valor das Cotas  Mezanino B" Subordinadas Mezanino C em Circulação e das Cotas  Subordinadas Júnior em Circulação; e (ii) o Patrimônio  btgpactual.com</a:t>
            </a:r>
          </a:p>
          <a:p>
            <a:r>
              <a:t>CNPJ 41970012000126 · Volume, VNU e emissão · Regulamento · ID 1302706 · 2026-08-27 · versão 1 · p. 37 · https://fnet.bmfbovespa.com.br/fnet/publico/visualizarDocumento?id=1302706</a:t>
            </a:r>
          </a:p>
          <a:p>
            <a:r>
              <a:t>CNPJ 41970012000126 · Volume, VNU e emissão · Excerto da fonte:</a:t>
            </a:r>
          </a:p>
          <a:p>
            <a:r>
              <a:t>"Valor de Redução Evento de significa, na ocorrência de um Evento de Step-Down  Step-Down Nível 1" Nível 1 nos termos do item (i) da definição de Evento de  Step-Down Nível 1, 5% (cinco por cento);</a:t>
            </a:r>
          </a:p>
          <a:p>
            <a:r>
              <a:t> Na ocorrência de um Evento de Step-Down Nível 1 nos  termos do item (ii) da definição de Evento de Step-Down  Nível 1, o Índice de Inadimplência menos 8% (oito por  cento).</a:t>
            </a:r>
          </a:p>
          <a:p>
            <a:r>
              <a:t> "Valor de Redução Evento de significa, na ocorrência de um Evento de Step-Down  Step-Down Nível 2" Nível 2, 15% (quinze por cento).</a:t>
            </a:r>
          </a:p>
          <a:p>
            <a:r>
              <a:t> "Valor Limite de Remuneração tem o significado atribuído no Contrato de Cobrança.</a:t>
            </a:r>
          </a:p>
          <a:p>
            <a:r>
              <a:t> e Reembolso"  "Valor Máximo de significa o valor máximo de investimento em Cotas  Investimento Mezanino" Subordinadas Mezanino, equivalente, de forma agregada  entre as Subclasses de Cotas Subordinadas Mezanino, a  R$400.000.000,00 (quatrocentos milhões de reais),  observadas as disposições referentes ao "Capital  Comprometido Individual do Subscritor" previstas em  cada Compromisso de Investimento e/ou Boletim de  Subscrição.</a:t>
            </a:r>
          </a:p>
          <a:p>
            <a:r>
              <a:t> "Valor Máximo de O valor máximo de investimento previsto em cada  Investimento Sênior" Compromisso de Investimento Sênior e no Apêndice da  respectiva emissão de Cotas Seniores, observadas as  disposições referentes ao "Capital Comprometido  Individual do Subscritor" previstas em cada  Compromisso de Investimento Sênior.</a:t>
            </a:r>
          </a:p>
          <a:p>
            <a:r>
              <a:t> "Valor Nominal Unitário de significa o valor nominal unitário de Emissão das Cotas,  Emissão" correspondente a R$1.000,00 (mil reais) por Cota, na  respectiva Data da Primeira Integralização, observado o  disposto no respectivo Apêndice.</a:t>
            </a:r>
          </a:p>
          <a:p>
            <a:r>
              <a:t> "Valor Principal" significa, em relação a qualquer Direito Creditório, o  saldo devido e não pago do valor principal do crédito  (sem considerar quaisquer valores decorrentes de</a:t>
            </a:r>
          </a:p>
          <a:p>
            <a:r>
              <a:t>CNPJ 41970012000126 · Volume, VNU e emissão · Regulamento · ID 1302706 · 2026-08-27 · versão 1 · p. 148 · https://fnet.bmfbovespa.com.br/fnet/publico/visualizarDocumento?id=1302706</a:t>
            </a:r>
          </a:p>
          <a:p>
            <a:r>
              <a:t>CNPJ 41970012000126 · Volume, VNU e emissão · Excerto da fonte:</a:t>
            </a:r>
          </a:p>
          <a:p>
            <a:r>
              <a:t>Quantidade de Cotas Será o resultado da divisão do "Valor Total das Cotas  Subordinadas Mezanino A Subordinadas Mezanino A da Emissão" pelo "Valor  Nominal Unitário de Emissão" na abertura da Data da  Conversão. [</a:t>
            </a:r>
          </a:p>
          <a:p>
            <a:r>
              <a:t>CNPJ 41970012000126 · Volume, VNU e emissão · Condição: Documentos atuais selecionados no inventário por categoria/escopo; a data documental isolada não comprova vigência jurídica.</a:t>
            </a:r>
          </a:p>
          <a:p>
            <a:r>
              <a:t>CNPJ 41970012000126 · Volume, VNU e emissão · Versão e prevalência: Documentos atuais selecionados no inventário por categoria/escopo; a data documental isolada não comprova vigência jurídica.</a:t>
            </a:r>
          </a:p>
          <a:p>
            <a:r>
              <a:t>CNPJ 41970012000126 · Volume, VNU e emissão · Resumo do histórico: {"count": 11, "dates": ["2025-12-19", "2025-12-31", "2026-08-27"], "document_count": 3, "sources": [{"document_id": "1302706", "title": "Regulamento", "reference_date": "2026-08-27", "version": "1", "page": "141", "url": "https://fnet.bmfbovespa.com.br/fnet/publico/visualizarDocumento?id=1302706", "sha256": "b113727bc2bc3b1a6b0d18f02bf2143068fd912df2d83cbb91ab44fcb30a3379"}, {"document_id": "1151156", "title": "Demonstrações Financeiras", "reference_date": "2025-12-31", "version": "1", "page": 41, "url": "https://fnet.bmfbovespa.com.br/fnet/publico/visualizarDocumento?id=1151156", "sha256": "04099e318871fbf25478d1ed88b19c4c6c6af84d9811507e8df48f7d824c6ec8"}, {"document_id": "1077333", "title": "AGE", "reference_date": "2025-12-19", "version": "1", "page": 59, "clause": "7.11", "url": "https://fnet.bmfbovespa.com.br/fnet/publico/visualizarDocumento?id=1077333", "sha256": "a9a25c5f8a0c493373a2157221109466cbc86e5f44f623997bba18ca14892751"}], "reference": {"path": "history/41970012000126.json", "criterion_id": "issue_volume", "total_count": 11, "preview_count": 3, "full_text_deferred": true, "sha256": "229578c6b833b0633051fe7d357f4fcc74589dcf37d7750032517e03ec89ee60"}}</a:t>
            </a:r>
          </a:p>
          <a:p>
            <a:r>
              <a:t>CNPJ 41970012000126 · Administração: taxa, base emínimo · Regulamento · ID 1302706 · 27/08/2026 · versão Regulamento27/08/2026 · p. 100 · 19.1–19.1.3 · https://fnet.bmfbovespa.com.br/fnet/publico/visualizarDocumento?id=1302706</a:t>
            </a:r>
          </a:p>
          <a:p>
            <a:r>
              <a:t>CNPJ 41970012000126 · Administração: taxa, base emínimo · Excerto da fonte:</a:t>
            </a:r>
          </a:p>
          <a:p>
            <a:r>
              <a:t>19.1. Pelos serviços de administração e escrituração de Cotas será devida, pelo Fundo, uma Taxa de Administração, equivalente ao percentual de 0,075% (setenta e cinco milésimos por cento) ao ano sobre o Patrimônio Líquido do Fundo, observado o valor mínimo mensal de R$15.000,00 (quinze mil reais). 19.1.1. A Taxa de Custódia devida pelo Fundo pelos serviços de custódia qualificada dos Direitos Creditórios integrantes da Carteira está incluída na Taxa de Administração. 19.1.2. A Taxa de Administração e a Taxa de Custódia serão provisionadas diariamente e pagas mensalmente, sendo a parcela disposta no item 19.1 paga no 5º (quinto) Dia Útil do m</a:t>
            </a:r>
          </a:p>
          <a:p>
            <a:r>
              <a:t>CNPJ 41970012000126 · Administração: taxa, base emínimo · Regulamento · ID 1302706 · 27/08/2026 · versão Regulamento27/08/2026 · p. 101 · 19.5 · https://fnet.bmfbovespa.com.br/fnet/publico/visualizarDocumento?id=1302706</a:t>
            </a:r>
          </a:p>
          <a:p>
            <a:r>
              <a:t>CNPJ 41970012000126 · Administração: taxa, base emínimo · Excerto da fonte:</a:t>
            </a:r>
          </a:p>
          <a:p>
            <a:r>
              <a:t>19.5. Os valores fixos descritos neste Capítulo serão corrigidos anualmente pelo IPCA. 19.5.1. O Gestor não receberá qualquer remuneração dos Devedores e Ativos Financeiros adquiridos pelo Fundo, ou suas respectivas Partes Relacionadas, relacionada à aquisição dos Direitos Creditórios e Ativos Financeiros ou à prestação dos serviços para o Fundo, seja diretamente ou por meio de qualquer de suas Partes Relacionadas, incluindo, sem limitação, comissões pela intermediação de operações e remunerações por serviços prestados de qualquer natureza, devendo transferir ao Fundo qualquer benefício ou vantagem que possa alcançar neste sentido.</a:t>
            </a:r>
          </a:p>
          <a:p>
            <a:r>
              <a:t>CNPJ 41970012000126 · Administração: taxa, base emínimo · Versão e prevalência: Leitura específica das cláusulas indicadas; condições e conflitos preservados. Seleção documental atual não comprova vigência jurídica por data isolada.</a:t>
            </a:r>
          </a:p>
          <a:p>
            <a:r>
              <a:t>CNPJ 41970012000126 · Administração: taxa, base emínimo · Resumo do histórico: {"count": 12, "dates": ["2025-12-19", "2025-12-31", "2026-08-27"], "document_count": 3, "sources": [{"document_id": "1302706", "title": "Regulamento", "reference_date": "2026-08-27", "version": "1", "page": "100", "url": "https://fnet.bmfbovespa.com.br/fnet/publico/visualizarDocumento?id=1302706", "sha256": "b113727bc2bc3b1a6b0d18f02bf2143068fd912df2d83cbb91ab44fcb30a3379"}, {"document_id": "1151156", "title": "Demonstrações Financeiras", "reference_date": "2025-12-31", "version": "1", "page": 38, "url": "https://fnet.bmfbovespa.com.br/fnet/publico/visualizarDocumento?id=1151156", "sha256": "04099e318871fbf25478d1ed88b19c4c6c6af84d9811507e8df48f7d824c6ec8"}, {"document_id": "1077333", "title": "AGE", "reference_date": "2025-12-19", "version": "1", "page": 121, "clause": "19.1", "url": "https://fnet.bmfbovespa.com.br/fnet/publico/visualizarDocumento?id=1077333", "sha256": "a9a25c5f8a0c493373a2157221109466cbc86e5f44f623997bba18ca14892751"}], "reference": {"path": "history/41970012000126.json", "criterion_id": "admin_fee", "total_count": 12, "preview_count": 3, "full_text_deferred": true, "sha256": "229578c6b833b0633051fe7d357f4fcc74589dcf37d7750032517e03ec89ee60"}}</a:t>
            </a:r>
          </a:p>
          <a:p>
            <a:r>
              <a:t>CNPJ 41970012000126 · Gestão: taxa, base emínimo · Regulamento · ID 1302706 · 27/08/2026 · versão Regulamento27/08/2026 · p. 101 · 19.2–19.3 · https://fnet.bmfbovespa.com.br/fnet/publico/visualizarDocumento?id=1302706</a:t>
            </a:r>
          </a:p>
          <a:p>
            <a:r>
              <a:t>CNPJ 41970012000126 · Gestão: taxa, base emínimo · Excerto da fonte:</a:t>
            </a:r>
          </a:p>
          <a:p>
            <a:r>
              <a:t>19.2. Pelos serviços de gestão da Carteira será devida, pelo Fundo, uma Taxa de Gestão no valor equivalente ao percentual incidente determinado pela tabela abaixo sobre as faixas da soma de patrimônio líquido do Fundo e do Mercado Crédito Fundo de Investimento em Direitos Creditórios Não Padronizado, inscrito no CNPJ sob o nº 33.254.370/0001-04, conforme também indicados na tabela abaixo, acrescido, se for o caso, dos montantes previstos no item 19.2.1 baixo: PL Mínimo (R$) PL Máximo (R$) Percentual (% a.a.) Sem Limite Até 0,00 zero De 0,01</a:t>
            </a:r>
          </a:p>
          <a:p>
            <a:r>
              <a:t>CNPJ 41970012000126 · Gestão: taxa, base emínimo · Versão e prevalência: Leitura específica das cláusulas indicadas; condições e conflitos preservados. Seleção documental atual não comprova vigência jurídica por data isolada.</a:t>
            </a:r>
          </a:p>
          <a:p>
            <a:r>
              <a:t>CNPJ 41970012000126 · Gestão: taxa, base emínimo · Resumo do histórico: {"count": 6, "dates": ["2025-12-19", "2026-08-27"], "document_count": 3, "sources": [{"document_id": "1302706", "title": "Regulamento", "reference_date": "2026-08-27", "version": "1", "page": "101", "url": "https://fnet.bmfbovespa.com.br/fnet/publico/visualizarDocumento?id=1302706", "sha256": "b113727bc2bc3b1a6b0d18f02bf2143068fd912df2d83cbb91ab44fcb30a3379"}, {"document_id": "1077333", "title": "AGE", "reference_date": "2025-12-19", "version": "1", "page": 122, "clause": "19.2.1", "url": "https://fnet.bmfbovespa.com.br/fnet/publico/visualizarDocumento?id=1077333", "sha256": "a9a25c5f8a0c493373a2157221109466cbc86e5f44f623997bba18ca14892751"}, {"document_id": "1077334", "title": "Regulamento", "reference_date": "2025-12-19", "version": "1", "page": 122, "clause": "19.2.1", "url": "https://fnet.bmfbovespa.com.br/fnet/publico/visualizarDocumento?id=1077334", "sha256": "a9a25c5f8a0c493373a2157221109466cbc86e5f44f623997bba18ca14892751"}], "reference": {"path": "history/41970012000126.json", "criterion_id": "management_fee", "total_count": 6, "preview_count": 3, "full_text_deferred": true, "sha256": "229578c6b833b0633051fe7d357f4fcc74589dcf37d7750032517e03ec89ee60"}}</a:t>
            </a:r>
          </a:p>
          <a:p>
            <a:r>
              <a:t>CNPJ 41970012000126 · Performance: benchmark eapuração · Regulamento · ID 1302706 · 27/08/2026 · versão Regulamento27/08/2026 · p. 88 · 14.1matériasreservadas · https://fnet.bmfbovespa.com.br/fnet/publico/visualizarDocumento?id=1302706</a:t>
            </a:r>
          </a:p>
          <a:p>
            <a:r>
              <a:t>CNPJ 41970012000126 · Performance: benchmark eapuração · Excerto da fonte:</a:t>
            </a:r>
          </a:p>
          <a:p>
            <a:r>
              <a:t>performance, taxa de ingresso ou taxa de saída dos Cotistas. Capítulo 14 – DAS DEMONSTRAÇÕES FINANCEIRAS 14.1. O Fundo terá escrituração contábil própria, separada da relativa ao Administrador e deverá: (i) manter e implementar procedimentos administrativos e operacionais; e (ii) guardar e manter todos os documentos, livros, registros e demais informações materialmente necessárias para a adequada administração do Fundo. 14.2. O exercício social do Fundo iniciar-se-á em 1º de janeiro e encerrar-se-á em 31 de dezembro de cada ano. 14.3. O Fundo está sujeito às normas de escrituração, elaboração, remessa e publicidad</a:t>
            </a:r>
          </a:p>
          <a:p>
            <a:r>
              <a:t>CNPJ 41970012000126 · Performance: benchmark eapuração · Regulamento · ID 1302706 · 27/08/2026 · versão Regulamento27/08/2026 · p. 100 · 19.1 · https://fnet.bmfbovespa.com.br/fnet/publico/visualizarDocumento?id=1302706</a:t>
            </a:r>
          </a:p>
          <a:p>
            <a:r>
              <a:t>CNPJ 41970012000126 · Performance: benchmark eapuração · Excerto da fonte:</a:t>
            </a:r>
          </a:p>
          <a:p>
            <a:r>
              <a:t>19.1. Pelos serviços de administração e escrituração de Cotas será devida, pelo Fundo, uma Taxa de Administração, equivalente ao percentual de 0,075% (setenta e cinco milésimos por cento) ao ano sobre o Patrimônio Líquido do Fundo, observado o valor mínimo mensal de R$15.000,00 (quinze mil reais). 19.1.1. A Taxa de Custódia devida pelo Fundo pelos serviços de custódia qualificada dos Direitos Creditórios integrantes da Carteira está incluída na Taxa de Administração. 19.1.2. A Taxa de Administração e a Taxa de Custódia serão provisionadas diariamente e pagas mensalmente, sendo a parcela disposta no item 19.1 paga no 5º (quinto) Dia Útil do m</a:t>
            </a:r>
          </a:p>
          <a:p>
            <a:r>
              <a:t>CNPJ 41970012000126 · Performance: benchmark eapuração · Regulamento · ID 1302706 · 27/08/2026 · versão Regulamento27/08/2026 · p. 101 · 19.2 · https://fnet.bmfbovespa.com.br/fnet/publico/visualizarDocumento?id=1302706</a:t>
            </a:r>
          </a:p>
          <a:p>
            <a:r>
              <a:t>CNPJ 41970012000126 · Performance: benchmark eapuração · Excerto da fonte:</a:t>
            </a:r>
          </a:p>
          <a:p>
            <a:r>
              <a:t>19.2. Pelos serviços de gestão da Carteira será devida, pelo Fundo, uma Taxa de Gestão no valor equivalente ao percentual incidente determinado pela tabela abaixo sobre as faixas da soma de patrimônio líquido do Fundo e do Mercado Crédito Fundo de Investimento em Direitos Creditórios Não Padronizado, inscrito no CNPJ sob o nº 33.254.370/0001-04, conforme também indicados na tabela abaixo, acrescido, se for o caso, dos montantes previstos no item 19.2.1 baixo: PL Mínimo (R$) PL Máximo (R$) Percentual (% a.a.) Sem Limite Até 0,00 zero De 0,01</a:t>
            </a:r>
          </a:p>
          <a:p>
            <a:r>
              <a:t>CNPJ 41970012000126 · Performance: benchmark eapuração · Motivo: A menção nas matérias da AGC autoriza criação/aumento de taxas. O capítulo19 fixa administração/gestão e não institui taxa de performance; não foi localizado percentual ou fórmula de performance nessa versão.</a:t>
            </a:r>
          </a:p>
          <a:p>
            <a:r>
              <a:t>CNPJ 41970012000126 · Performance: benchmark eapuração · Versão e prevalência: Leitura específica das cláusulas indicadas; condições e conflitos preservados. Seleção documental atual não comprova vigência jurídica por data isolada.</a:t>
            </a:r>
          </a:p>
          <a:p>
            <a:r>
              <a:t>CNPJ 41970012000126 · Custódia, escrituração e encargos · Regulamento · ID 1302706 · 2026-08-27 · versão 1 · p. 102 · 20.2 · https://fnet.bmfbovespa.com.br/fnet/publico/visualizarDocumento?id=1302706</a:t>
            </a:r>
          </a:p>
          <a:p>
            <a:r>
              <a:t>CNPJ 41970012000126 · Custódia, escrituração e encargos · Excerto da fonte:</a:t>
            </a:r>
          </a:p>
          <a:p>
            <a:r>
              <a:t>20.2. Até a Data Limite de Investimento em Direitos Creditórios, e desde que não haja a ocorrência de  um Evento de Amortização Acelerada, de um Evento de Avaliação ou de um Evento de Liquidação do  Fundo, o Administrador deverá, em cada Dia Útil, por meio dos competentes débitos realizados na Conta  de Pagamento, na Conta do Fundo, alocar os recursos decorrentes da integralização das Cotas e do  recebimento de recursos provenientes da Carteira do Fundo, na seguinte ordem, conforme aplicável:</a:t>
            </a:r>
          </a:p>
          <a:p>
            <a:r>
              <a:t>(i) pagamento de despesas e encargos de responsabilidade do Fundo, devidos nos termos deste  Regulamento e da legislação aplicável, incluindo a Taxa de Administração, a Taxa de Custódia  e a Taxa de Gestão, exceto pela remuneração do Agente de Recebimento e do Agente de  Cobrança e pelo Reembolso de Despesas do Agente de Cobrança;</a:t>
            </a:r>
          </a:p>
          <a:p>
            <a:r>
              <a:t>(ii) constituição ou recomposição do saldo da Reserva para Despesas, conforme aplicável, exceto  pela remuneração do Agente de Recebimento e do Agente de Cobrança e pelo Reembolso de  Despesas do Agente de Cobrança;</a:t>
            </a:r>
          </a:p>
          <a:p>
            <a:r>
              <a:t>(iii) caso seja uma Data de Pagamento, pagamento da remuneração do Agente de Recebimento e do  Agente de Cobrança, bem como o Reembolso de Despesas do Agente de Cobrança, limitado de  forma agregada a 1% (um por cento) ao ano do Patrimônio Líquido do Fundo, apurado em base  de 252 (duzentos e cinquenta e dois) Dias Úteis;</a:t>
            </a:r>
          </a:p>
          <a:p>
            <a:r>
              <a:t>(iv) caso seja uma Data de Pagamento, pagamento da Meta de Rentabilidade Sênior aos titulares de  Cotas Seniores em Circulação, observado o disposto no respectivo Apêndice;</a:t>
            </a:r>
          </a:p>
          <a:p>
            <a:r>
              <a:t>(v) caso seja uma Data de Pagamento, pagamento de amortização extraordinária de Cotas Seniores  na ocorrência das hipóteses previstas no item 12.4 e/ou no item 12.9 acima;</a:t>
            </a:r>
          </a:p>
          <a:p>
            <a:r>
              <a:t>(vi) caso seja uma Data de Pagamento, pagamento da Meta de Rentabilidade Mezanino aos titulares  de Cotas Subordinadas Mezanino A em Circulação, observado o disposto no respectivo  Apêndice, sempre limitado ao valor que, considerada pro forma o pagamento da Meta de  Rentabilidade Mezanino pretendido, não haja desenquadramento da Senioridade Máxima;</a:t>
            </a:r>
          </a:p>
          <a:p>
            <a:r>
              <a:t>(vii) caso seja uma Data de Pagamento e tenha sido alterada a Data Limite de Investimento em  Direitos Creditórios sem voto afirmativo ou manifestação favorável dos titulares de Cotas  Subordinadas Mezanino, realização de amortização extraordinária das Cotas Subordinadas  Mezanino A, limitado ao valor que, considerada pro forma a amortização pretendida, não  btgpactual.com</a:t>
            </a:r>
          </a:p>
          <a:p>
            <a:r>
              <a:t>CNPJ 41970012000126 · Custódia, escrituração e encargos · Regulamento · ID 1302706 · 2026-08-27 · versão 1 · p. 36 · https://fnet.bmfbovespa.com.br/fnet/publico/visualizarDocumento?id=1302706</a:t>
            </a:r>
          </a:p>
          <a:p>
            <a:r>
              <a:t>CNPJ 41970012000126 · Custódia, escrituração e encargos · Excerto da fonte:</a:t>
            </a:r>
          </a:p>
          <a:p>
            <a:r>
              <a:t>MeLi e de suas Subsidiárias de forma consolidada  naquela data.</a:t>
            </a:r>
          </a:p>
          <a:p>
            <a:r>
              <a:t> "Taxa de Administração" significa a taxa devida ao Administrador, conforme  prevista no Capítulo 19 deste Regulamento.</a:t>
            </a:r>
          </a:p>
          <a:p>
            <a:r>
              <a:t> "Taxa de Inadimplência significa, em relação a cada Data Base e cada Safra de  Acumulada +90" Originação, a razão (expressa em percentual) entre: (a) o  saldo total de principal em aberto de todos os Direitos  Creditórios Over90 de tal Safra de Originação; e (b) o  saldo total de principal original de todos os Direitos  Creditórios que compõem tal Safra de Originação Para  fins de clareza, a respectiva MOB de cada Safra de  Originação não se altera entre a Data Base 1 e a Data  Base 2 imediatamente subsequente, entretanto os valores  calculados em (a) e (b) acima serão atualizados conforme  apurados na respectiva Data Base 1 e Data Base 2.</a:t>
            </a:r>
          </a:p>
          <a:p>
            <a:r>
              <a:t> "Taxa DI" significa a taxa média referencial dos depósitos  interfinanceiros (DI Extragrupo) apurada pela B3 e  divulgada no informativo diário disponível em sua  página na Internet ou em qualquer outro site ou  publicação que venha a substituí-lo, expressa na forma  percentual e calculada diariamente sob forma de  capitalização composta, com base em um ano de 252  (duzentos e cinquenta e dois) dias úteis, sendo certo que,  caso tal taxa seja negativa, será utilizado o valor de  0,00% para fins de cálculo.</a:t>
            </a:r>
          </a:p>
          <a:p>
            <a:r>
              <a:t> "Taxa de Custódia" significa a taxa devida ao Custodiante, conforme prevista  no Capítulo 19 deste Regulamento.</a:t>
            </a:r>
          </a:p>
          <a:p>
            <a:r>
              <a:t> "Taxa de Gestão" significa a taxa devida ao Gestor, conforme prevista no  Capítulo 19 deste Regulamento.</a:t>
            </a:r>
          </a:p>
          <a:p>
            <a:r>
              <a:t> "Terceira Emissão" significa a terceira Emissão da primeira Série de Cotas  Seniores pelo Fundo, composta por 1.016.076 (um  milhão, dezesseis mil e setenta e seis) Cotas Seniores,  que totalizam R$500.000.838,84 (quinhentos milhões,  oitocentos e trinta e oito reais e oitenta e quatro  centavos), considerando o valor da Cota Sênior em 14 de  agosto de 2026.</a:t>
            </a:r>
          </a:p>
          <a:p>
            <a:r>
              <a:t> "Termo de Adesão" significa o termo de adesão a este Regulamento e de  ciência de risco, a ser assinado por cada investidor por  ocasião da subscrição de Cotas.</a:t>
            </a:r>
          </a:p>
          <a:p>
            <a:r>
              <a:t> "Termos e Condições" significam os Termos e Condições de Uso da Plataforma  Mercado Pago.</a:t>
            </a:r>
          </a:p>
          <a:p>
            <a:r>
              <a:t> "Termo de Endosso" significa cada termo de endosso dos Direitos Creditórios,  assinado eletronicamente pelo Endossante e o Fundo, na  forma dos Contratos de Endosso, por meio do qual serão  identificados os Direitos Creditórios Adquiridos em cada  Data de Aquisição e Pagamento.</a:t>
            </a:r>
          </a:p>
          <a:p>
            <a:r>
              <a:t>CNPJ 41970012000126 · Custódia, escrituração e encargos · Regulamento · ID 1302706 · 2026-08-27 · versão 1 · p. 104 · https://fnet.bmfbovespa.com.br/fnet/publico/visualizarDocumento?id=1302706</a:t>
            </a:r>
          </a:p>
          <a:p>
            <a:r>
              <a:t>CNPJ 41970012000126 · Custódia, escrituração e encargos · Excerto da fonte:</a:t>
            </a:r>
          </a:p>
          <a:p>
            <a:r>
              <a:t>prevista no item 20.2), o Administrador deverá, em cada Dia Útil, por meio dos competentes débitos  realizados na Conta de Pagamento, na Conta do Fundo, alocar os recursos decorrentes da integralização das  Cotas e do recebimento de recursos provenientes da Carteira do Fundo, na seguinte ordem:</a:t>
            </a:r>
          </a:p>
          <a:p>
            <a:r>
              <a:t>(i) pagamento de despesas e encargos de responsabilidade do Fundo, devidos nos termos deste  Regulamento e da legislação aplicável, incluindo a Taxa de Administração, a Taxa de Custódia  e a Taxa de Gestão, exceto pela remuneração do Agente de Recebimento e do Agente de  Cobrança e pelo Reembolso de Despesas do Agente de Cobrança;</a:t>
            </a:r>
          </a:p>
          <a:p>
            <a:r>
              <a:t>(ii) recomposição do saldo da Reserva para Despesas, exceto pela remuneração do Agente de  Recebimento e do Agente de Cobrança e pelo Reembolso de Despesas do Agente de Cobrança;</a:t>
            </a:r>
          </a:p>
          <a:p>
            <a:r>
              <a:t>(iii) caso seja uma Data de Pagamento, pagamento da remuneração do Agente de Recebimento e do  Agente de Cobrança, bem como o Reembolso de Despesas do Agente de Cobrança, limitado de  forma agregada a 1% (um por cento) ao ano do Patrimônio Líquido do Fundo, apurado em base  de 252 (duzentos e cinquenta e dois) Dias Úteis;</a:t>
            </a:r>
          </a:p>
          <a:p>
            <a:r>
              <a:t>(iv) caso seja uma Data de Pagamento, pagamento da Meta de Rentabilidade Sênior aos titulares de  Cotas Seniores em Circulação, observado o disposto no respectivo Apêndice;</a:t>
            </a:r>
          </a:p>
          <a:p>
            <a:r>
              <a:t>(v) pagamento de quaisquer outras obrigações devidas aos Cotistas Seniores;</a:t>
            </a:r>
          </a:p>
          <a:p>
            <a:r>
              <a:t>(vi) caso seja uma Data de Pagamento, pagamento da amortização de principal de Cotas Seniores;</a:t>
            </a:r>
          </a:p>
          <a:p>
            <a:r>
              <a:t>(vii) caso seja uma Data de Pagamento, uma vez amortizada/resgatada a totalidade das Cotas  Seniores, pagamento da Meta de Rentabilidade Mezanino aos titulares de Cotas Subordinadas  Mezanino A em Circulação;</a:t>
            </a:r>
          </a:p>
          <a:p>
            <a:r>
              <a:t>(viii) caso seja uma Data de Pagamento, uma vez amortizada/resgatada a totalidade das Cotas  Seniores, pagamento da amortização de principal de Cotas Subordinadas Mezanino A;</a:t>
            </a:r>
          </a:p>
          <a:p>
            <a:r>
              <a:t>(ix) caso seja uma Data de Pagamento, uma vez amortizada/resgatada a totalidade das Cotas  Seniores e das Cotas Subordinadas Mezanino A, pagamento da Meta de Rentabilidade  Mezanino aos titulares de Cotas Subordinadas Mezanino B em Circulação;</a:t>
            </a:r>
          </a:p>
          <a:p>
            <a:r>
              <a:t>(x) caso seja uma Data de Pagamento, uma vez amortizada/resgatada a totalidade das Cotas  Seniores e das Cotas Subordinadas Mezanino A, pagamento da amortização de principal de  Cotas Subordinadas Mezanino B;</a:t>
            </a:r>
          </a:p>
          <a:p>
            <a:r>
              <a:t>(xi) caso seja uma Data de Pagamento, uma vez amortizada/resgatada a totalidade das Cotas  Seniores, das Cotas Subordinadas Mezanino A e das Cotas Subordinadas Mezanino B,  pagamento da Meta de Rentabilidade Mezanino aos titulares de Cotas Subordinadas Mezanino  C;</a:t>
            </a:r>
          </a:p>
          <a:p>
            <a:r>
              <a:t>(xii) caso seja uma Data de Pagamento, uma vez amortizada/resgatada a totalidade das Cotas  Seniores, das Cotas Subordinadas Mezanino A e das Cotas Subordinadas Mezanino B,  pagamento da amortização de principal de Cotas Subordinadas Mezanino C;</a:t>
            </a:r>
          </a:p>
          <a:p>
            <a:r>
              <a:t>(xiii) uma vez amortizada/resgatada a totalidade das Cotas Seniores e das Cotas Subordinadas  Mezanino, pagamento da remuneração complementar do Agente de Recebimento e do Agente  de Cobrança, bem como o Reembolso de Despesas do Agente de Cobrança, ou seja, que tenha  ultrapassado o valor de 1% (um por cento) ao ano do Patrimônio Líquido do Fundo, nos termos  btgpactual.com</a:t>
            </a:r>
          </a:p>
          <a:p>
            <a:r>
              <a:t>CNPJ 41970012000126 · Custódia, escrituração e encargos · Condição: Documentos atuais selecionados no inventário por categoria/escopo; a data documental isolada não comprova vigência jurídica.</a:t>
            </a:r>
          </a:p>
          <a:p>
            <a:r>
              <a:t>CNPJ 41970012000126 · Custódia, escrituração e encargos · Versão e prevalência: Documentos atuais selecionados no inventário por categoria/escopo; a data documental isolada não comprova vigência jurídica.</a:t>
            </a:r>
          </a:p>
          <a:p>
            <a:r>
              <a:t>CNPJ 41970012000126 · Custódia, escrituração e encargos · Resumo do histórico: {"count": 5, "dates": ["2025-12-19", "2026-08-27"], "document_count": 3, "sources": [{"document_id": "1302706", "title": "Regulamento", "reference_date": "2026-08-27", "version": "1", "page": "100", "url": "https://fnet.bmfbovespa.com.br/fnet/publico/visualizarDocumento?id=1302706", "sha256": "b113727bc2bc3b1a6b0d18f02bf2143068fd912df2d83cbb91ab44fcb30a3379"}, {"document_id": "1077333", "title": "AGE", "reference_date": "2025-12-19", "version": "1", "page": 125, "clause": "20.3", "url": "https://fnet.bmfbovespa.com.br/fnet/publico/visualizarDocumento?id=1077333", "sha256": "a9a25c5f8a0c493373a2157221109466cbc86e5f44f623997bba18ca14892751"}, {"document_id": "1077334", "title": "Regulamento", "reference_date": "2025-12-19", "version": "1", "page": 125, "clause": "20.3", "url": "https://fnet.bmfbovespa.com.br/fnet/publico/visualizarDocumento?id=1077334", "sha256": "a9a25c5f8a0c493373a2157221109466cbc86e5f44f623997bba18ca14892751"}], "reference": {"path": "history/41970012000126.json", "criterion_id": "custody_fee", "total_count": 5, "preview_count": 3, "full_text_deferred": true, "sha256": "229578c6b833b0633051fe7d357f4fcc74589dcf37d7750032517e03ec89ee60"}}</a:t>
            </a:r>
          </a:p>
          <a:p>
            <a:r>
              <a:t>CNPJ 41970012000126 · Classes e séries de cotas · AGE · ID 1341484 · 2026-10-05 · versão 1 · p. 1 · https://fnet.bmfbovespa.com.br/fnet/publico/visualizarDocumento?id=1341484</a:t>
            </a:r>
          </a:p>
          <a:p>
            <a:r>
              <a:t>CNPJ 41970012000126 · Classes e séries de cotas · Excerto da fonte:</a:t>
            </a:r>
          </a:p>
          <a:p>
            <a:r>
              <a:t>Os Cotistas, por unanimidade, sem quaisquer reservas ou restrições, aprovaram (i) o aumento no montante da  Terceira Emissão de Cotas Seniores da classe única do Fundo, conforme aprovada na Assembleia Geral de  Cotistas realizada em 20 de agosto de 2026, no valor de R$ 145.333,56 (cento e quarenta e cinco mil, trezentos  e trinta e três reais e cinquenta e seis centavos), passando a Terceira Emissão de Cotas Seniores a perfazer a  quantia total de R$ 500.146.172,40 (quinhentos milhões, cento e quarenta e seis mil, cento e setenta e dois reais  e quarenta centavos; (ii) a celebração do Sétimo Aditamento ao Instrumento Particular de Compromisso de  Investimento para Subscrição e Integralização de Cotas Seniores do FIDC Mercado Crédito II Brasil, de forma a  refletir o aumento do volume da Terceira Emissão de Cotas Seniores, sem aumento do capital comprometido  pelo Subscritor; e a (iii) celebração dos demais documentos necessários para refletir as alterações ora aprovadas.</a:t>
            </a:r>
          </a:p>
          <a:p>
            <a:r>
              <a:t>CNPJ 41970012000126 · Classes e séries de cotas · Condição: Documentos atuais selecionados no inventário por categoria/escopo; a data documental isolada não comprova vigência jurídica.</a:t>
            </a:r>
          </a:p>
          <a:p>
            <a:r>
              <a:t>CNPJ 41970012000126 · Classes e séries de cotas · Versão e prevalência: Documentos atuais selecionados no inventário por categoria/escopo; a data documental isolada não comprova vigência jurídica.</a:t>
            </a:r>
          </a:p>
          <a:p>
            <a:r>
              <a:t>CNPJ 41970012000126 · Classes e séries de cotas · Resumo do histórico: {"count": 11, "dates": ["2026-08-27"], "document_count": 2, "sources": [{"document_id": "1302706", "title": "Regulamento", "reference_date": "2026-08-27", "version": "1", "page": "133–153", "url": "https://fnet.bmfbovespa.com.br/fnet/publico/visualizarDocumento?id=1302706", "sha256": "b113727bc2bc3b1a6b0d18f02bf2143068fd912df2d83cbb91ab44fcb30a3379"}, {"document_id": "1302706", "title": "Regulamento", "reference_date": "2026-08-27", "version": "1", "page": 35, "url": "https://fnet.bmfbovespa.com.br/fnet/publico/visualizarDocumento?id=1302706", "sha256": "b113727bc2bc3b1a6b0d18f02bf2143068fd912df2d83cbb91ab44fcb30a3379"}, {"document_id": "1302705", "title": "AGE", "reference_date": "2026-08-27", "version": "1", "page": 2, "url": "https://fnet.bmfbovespa.com.br/fnet/publico/visualizarDocumento?id=1302705", "sha256": "a76f5b5a30b2ba45767ee3c201b99367866bb28b1f457ef47442b2e58e0d0100"}], "reference": {"path": "history/41970012000126.json", "criterion_id": "quota_classes", "total_count": 11, "preview_count": 3, "full_text_deferred": true, "sha256": "229578c6b833b0633051fe7d357f4fcc74589dcf37d7750032517e03ec89ee60"}}</a:t>
            </a:r>
          </a:p>
          <a:p>
            <a:r>
              <a:t>CNPJ 41970012000126 · Ofertas e colocação · Regulamento · ID 1302706 · 2026-08-27 · versão 1 · p. 99 · 18.8.1 · https://fnet.bmfbovespa.com.br/fnet/publico/visualizarDocumento?id=1302706</a:t>
            </a:r>
          </a:p>
          <a:p>
            <a:r>
              <a:t>CNPJ 41970012000126 · Ofertas e colocação · Excerto da fonte:</a:t>
            </a:r>
          </a:p>
          <a:p>
            <a:r>
              <a:t>18.8.1. Poderão ser contratados, mediante celebração de instrumento de adesão ao respectivo  contrato de distribuição, independentemente de realização de Assembleia Geral de Cotistas, outras  instituições integrantes do sistema de distribuição de valores mobiliários, desde que aprovadas pelo  Coordenador Líder e pelo Gestor, para realizarem a distribuição das Cotas.</a:t>
            </a:r>
          </a:p>
          <a:p>
            <a:r>
              <a:t>CNPJ 41970012000126 · Ofertas e colocação · Regulamento · ID 1302706 · 2026-08-27 · versão 1 · p. 141 · https://fnet.bmfbovespa.com.br/fnet/publico/visualizarDocumento?id=1302706</a:t>
            </a:r>
          </a:p>
          <a:p>
            <a:r>
              <a:t>CNPJ 41970012000126 · Ofertas e colocação · Excerto da fonte:</a:t>
            </a:r>
          </a:p>
          <a:p>
            <a:r>
              <a:t>Forma de Distribuição Oferta pública destinada a Investidores Profissionais, nos  termos do artigo 26, inciso VII, da Resolução CVM 160.</a:t>
            </a:r>
          </a:p>
          <a:p>
            <a:r>
              <a:t>CNPJ 41970012000126 · Ofertas e colocação · AGE · ID 1302705 · 2026-08-27 · versão 1 · p. 3 · https://fnet.bmfbovespa.com.br/fnet/publico/visualizarDocumento?id=1302705</a:t>
            </a:r>
          </a:p>
          <a:p>
            <a:r>
              <a:t>CNPJ 41970012000126 · Ofertas e colocação · Excerto da fonte:</a:t>
            </a:r>
          </a:p>
          <a:p>
            <a:r>
              <a:t>(vii) a realização de oferta pública da Terceira Emissão de Cotas Seniores, sob o regime de  melhores esforços de colocação, destinada a Investidores Profissionais, submetida ao rito de  registro automático na CVM, nos termos do artigo 26, inciso VII, alínea "a", da Resolução da  CVM nº 160, de 13 de julho de 2022, bem como aprovação da contratação do Administrador  para atuar como instituição intermediária líder da oferta pública da Terceira Emissão de Cotas  Seniores, observadas as características constantes do Complemento IX anexo ao  Regulamento da Classe (Anexo A deste instrumento);</a:t>
            </a:r>
          </a:p>
          <a:p>
            <a:r>
              <a:t>CNPJ 41970012000126 · Ofertas e colocação · Condição: Documentos atuais selecionados no inventário por categoria/escopo; a data documental isolada não comprova vigência jurídica.</a:t>
            </a:r>
          </a:p>
          <a:p>
            <a:r>
              <a:t>CNPJ 41970012000126 · Ofertas e colocação · Versão e prevalência: Documentos atuais selecionados no inventário por categoria/escopo; a data documental isolada não comprova vigência jurídica.</a:t>
            </a:r>
          </a:p>
          <a:p>
            <a:r>
              <a:t>CNPJ 41970012000126 · Ofertas e colocação · Resumo do histórico: {"count": 20, "dates": ["2025-12-19", "2025-12-31", "2026-08-24"], "document_count": 3, "sources": [{"document_id": "1300110", "title": "Fato Relevante", "reference_date": "2026-08-24", "version": "1", "page": 1, "clause": "1.016.076", "url": "https://fnet.bmfbovespa.com.br/fnet/publico/visualizarDocumento?id=1300110", "sha256": "982dd137d6a96b7e0e1f24730a2959e2196a43d13ea7f651c29e962a1c816b5c"}, {"document_id": "1151156", "title": "Demonstrações Financeiras", "reference_date": "2025-12-31", "version": "1", "page": 41, "url": "https://fnet.bmfbovespa.com.br/fnet/publico/visualizarDocumento?id=1151156", "sha256": "04099e318871fbf25478d1ed88b19c4c6c6af84d9811507e8df48f7d824c6ec8"}, {"document_id": "1077333", "title": "AGE", "reference_date": "2025-12-19", "version": "1", "page": 120, "clause": "18.8.1", "url": "https://fnet.bmfbovespa.com.br/fnet/publico/visualizarDocumento?id=1077333", "sha256": "a9a25c5f8a0c493373a2157221109466cbc86e5f44f623997bba18ca14892751"}], "reference": {"path": "history/41970012000126.json", "criterion_id": "offers", "total_count": 20, "preview_count": 3, "full_text_deferred": true, "sha256": "229578c6b833b0633051fe7d357f4fcc74589dcf37d7750032517e03ec89ee60"}}</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PLGN Marketplace · vínculo CNPJ 41970012000126 · Governança e alterações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Vínculo: PLGN Marketplace · CNPJ 55563624000109 → CNPJ 41970012000126 · Regulamento · ID 1192614 · 30/04/2026 · versão Regulamento30/04/2026 · p. 11 · AnexoI4.1</a:t>
            </a:r>
          </a:p>
          <a:p>
            <a:r>
              <a:t>Condição do vínculo: {"cnpj": "41970012000126", "name": "Mercado Crédito II Brasil FIDC", "relationship": "named_investee", "exposure": "mezzanine", "position_status": "mandate_identified_position_not_quantified", "risk_note": "Mandato e classe exatos; comparar regras eIMEdo investido na competência doFIC, sem dupla contagem dePL."}</a:t>
            </a:r>
          </a:p>
          <a:p>
            <a:r>
              <a:t>CNPJ 41970012000126 · Quóruns e matérias reservadas · Regulamento · ID 1302706 · 2026-08-27 · versão 1 · p. 73 · 9.3 · https://fnet.bmfbovespa.com.br/fnet/publico/visualizarDocumento?id=1302706</a:t>
            </a:r>
          </a:p>
          <a:p>
            <a:r>
              <a:t>CNPJ 41970012000126 · Quóruns e matérias reservadas · Excerto da fonte:</a:t>
            </a:r>
          </a:p>
          <a:p>
            <a:r>
              <a:t>9.3. Nas hipóteses em que qualquer Cotista se encontre em uma situação de conflito de interesse,  conforme definição de "conflito de interesse" prevista no item 9.3.1 abaixo, suas Cotas não serão  consideradas para fins de cômputo do respectivo quórum de deliberação, conforme previsto no item 9.2.</a:t>
            </a:r>
          </a:p>
          <a:p>
            <a:r>
              <a:t>CNPJ 41970012000126 · Quóruns e matérias reservadas · Regulamento · ID 1302706 · 2026-08-27 · versão 1 · p. 59 · 8.6 · https://fnet.bmfbovespa.com.br/fnet/publico/visualizarDocumento?id=1302706</a:t>
            </a:r>
          </a:p>
          <a:p>
            <a:r>
              <a:t>CNPJ 41970012000126 · Quóruns e matérias reservadas · Excerto da fonte:</a:t>
            </a:r>
          </a:p>
          <a:p>
            <a:r>
              <a:t>8.6. Caso a Assembleia Geral de Cotistas não seja instalada por falta de quórum ou os Cotistas não  deliberem em favor de qualquer possibilidade prevista no item 8.5, o Administrador deve ingressar com  pedido de declaração judicial de insolvência do Fundo, sendo que o pedido de declaração judicial de  insolvência constitui um Evento de Avaliação, nos termos do subitem (xxx) do item 11.1 abaixo.</a:t>
            </a:r>
          </a:p>
          <a:p>
            <a:r>
              <a:t>CNPJ 41970012000126 · Quóruns e matérias reservadas · Regulamento · ID 1302706 · 2026-08-27 · versão 1 · p. 73 · 9.1 · https://fnet.bmfbovespa.com.br/fnet/publico/visualizarDocumento?id=1302706</a:t>
            </a:r>
          </a:p>
          <a:p>
            <a:r>
              <a:t>CNPJ 41970012000126 · Quóruns e matérias reservadas · Excerto da fonte:</a:t>
            </a:r>
          </a:p>
          <a:p>
            <a:r>
              <a:t>9.1 acima, caso tal alteração cause um Efeito Adverso Relevante ao Fundo, conforme notificado pelo  Mercado Pago, pelos Cotistas Seniores ou por qualquer Cotista Subordinado Mezanino ao Administrador,  o Administrador deverá convocar uma Assembleia Geral de Cotistas na qual os Cotistas poderão optar  pela liquidação antecipada do Fundo, observado o quórum previsto no item 9.2 acima.</a:t>
            </a:r>
          </a:p>
          <a:p>
            <a:r>
              <a:t>CNPJ 41970012000126 · Quóruns e matérias reservadas · Condição: Documentos atuais selecionados no inventário por categoria/escopo; a data documental isolada não comprova vigência jurídica.</a:t>
            </a:r>
          </a:p>
          <a:p>
            <a:r>
              <a:t>CNPJ 41970012000126 · Quóruns e matérias reservadas · Versão e prevalência: Documentos atuais selecionados no inventário por categoria/escopo; a data documental isolada não comprova vigência jurídica.</a:t>
            </a:r>
          </a:p>
          <a:p>
            <a:r>
              <a:t>CNPJ 41970012000126 · Quóruns e matérias reservadas · Resumo do histórico: {"count": 9, "dates": ["2025-12-19", "2025-12-31"], "document_count": 3, "sources": [{"document_id": "1151156", "title": "Demonstrações Financeiras", "reference_date": "2025-12-31", "version": "1", "page": 41, "url": "https://fnet.bmfbovespa.com.br/fnet/publico/visualizarDocumento?id=1151156", "sha256": "04099e318871fbf25478d1ed88b19c4c6c6af84d9811507e8df48f7d824c6ec8"}, {"document_id": "1077333", "title": "AGE", "reference_date": "2025-12-19", "version": "1", "page": 86, "clause": "9.3", "url": "https://fnet.bmfbovespa.com.br/fnet/publico/visualizarDocumento?id=1077333", "sha256": "a9a25c5f8a0c493373a2157221109466cbc86e5f44f623997bba18ca14892751"}, {"document_id": "1077334", "title": "Regulamento", "reference_date": "2025-12-19", "version": "1", "page": 86, "clause": "9.3", "url": "https://fnet.bmfbovespa.com.br/fnet/publico/visualizarDocumento?id=1077334", "sha256": "a9a25c5f8a0c493373a2157221109466cbc86e5f44f623997bba18ca14892751"}], "reference": {"path": "history/41970012000126.json", "criterion_id": "quorum", "total_count": 9, "preview_count": 3, "full_text_deferred": true, "sha256": "229578c6b833b0633051fe7d357f4fcc74589dcf37d7750032517e03ec89ee60"}}</a:t>
            </a:r>
          </a:p>
          <a:p>
            <a:r>
              <a:t>CNPJ 41970012000126 · Partes relacionadas e conflitos · Regulamento · ID 1302706 · 2026-08-27 · versão 1 · p. 44 · 5.2.4 · https://fnet.bmfbovespa.com.br/fnet/publico/visualizarDocumento?id=1302706</a:t>
            </a:r>
          </a:p>
          <a:p>
            <a:r>
              <a:t>CNPJ 41970012000126 · Partes relacionadas e conflitos · Excerto da fonte:</a:t>
            </a:r>
          </a:p>
          <a:p>
            <a:r>
              <a:t>5.2.4. Além de atender aos Critérios de Elegibilidade, todos e quaisquer Direitos Creditórios a serem  adquiridos pelo Fundo deverão atender, na respectiva Data de Oferta de Direitos Creditórios, às seguintes  Condições de Cessão, cumulativamente (em conjunto, as "Condições de Cessão"):</a:t>
            </a:r>
          </a:p>
          <a:p>
            <a:r>
              <a:t>(i) os Direitos Creditórios tenham sido originados, incluindo em relação à taxa de juros estabelecida  (apenas em relação aos Direitos Creditórios), pelo respectivo Endossante no curso ordinário de  seus negócios e dos negócios do Mercado Pago, em observância à política de concessão de  crédito do Mercado Pago vigente à época;</a:t>
            </a:r>
          </a:p>
          <a:p>
            <a:r>
              <a:t>(ii) os Direitos Creditórios estejam livres e desembaraçados de quaisquer ônus ou gravames;</a:t>
            </a:r>
          </a:p>
          <a:p>
            <a:r>
              <a:t>(iii) os Direitos Creditórios ofertados não tenham sido selecionados para venda ao Fundo de maneira  prejudicial ao Fundo e/ou aos Cotistas Seniores, no melhor conhecimento do respectivo  Endossante e/ou do Mercado Pago;</a:t>
            </a:r>
          </a:p>
          <a:p>
            <a:r>
              <a:t>(iv) os Direitos Creditórios representem obrigações legais e válidas de cada Devedor, exequíveis  contra o respectivo Devedor de acordo com seus termos, ressalvadas regras gerais de  insolvência, conforme aplicáveis;</a:t>
            </a:r>
          </a:p>
          <a:p>
            <a:r>
              <a:t>(v) os Devedores não sejam Partes Relacionadas dos Endossantes e/ou da MeLi, sendo permitido,  no entanto, Devedores que sejam funcionários do respectivo Endossante, da MeLi e/ou de suas  Partes Relacionadas;</a:t>
            </a:r>
          </a:p>
          <a:p>
            <a:r>
              <a:t>(vi) os Devedores não sejam Partes Relacionadas de uma entidade governamental, sendo permitido,  no entanto, Devedores que sejam funcionários de tal entidade;</a:t>
            </a:r>
          </a:p>
          <a:p>
            <a:r>
              <a:t>(vii) no melhor conhecimento do Mercado Pago, o respectivo Devedor não tenha questionado a  existência, validade ou exequibilidade da CCB ou dos instrumentos de garantia, e não tenha  oposto nenhuma exceção ao respectivo Endossante, sendo certo que questionamentos realizados  no âmbito da Plataforma Mercado Pago e/ou Plataforma Mercado Libre não serão considerados  para fins da verificação do atendimento a este item;</a:t>
            </a:r>
          </a:p>
          <a:p>
            <a:r>
              <a:t>(viii) os Direitos Creditórios e respectivos Documentos Comprobatórios não tenham sido novados,  aditados ou modificados de qualquer forma, exceto por quaisquer alterações acordadas de boa-  fé entre o Mercado Pago e o Gestor e aprovadas pelos Cotistas Seniores reunidos em Assembleia  Geral de Cotistas anteriormente à aquisição do respectivo Direito Creditório pelo Fundo;</a:t>
            </a:r>
          </a:p>
          <a:p>
            <a:r>
              <a:t>CNPJ 41970012000126 · Partes relacionadas e conflitos · Regulamento · ID 1302706 · 2026-08-27 · versão 1 · p. 51 · 7.6 · https://fnet.bmfbovespa.com.br/fnet/publico/visualizarDocumento?id=1302706</a:t>
            </a:r>
          </a:p>
          <a:p>
            <a:r>
              <a:t>CNPJ 41970012000126 · Partes relacionadas e conflitos · Excerto da fonte:</a:t>
            </a:r>
          </a:p>
          <a:p>
            <a:r>
              <a:t>7.6. As Cotas Subordinadas Mezanino não serão objeto de distribuição pública e serão destinadas à  subscrição de Investidores Qualificados, restringindo-se aos fundos de investimento geridos pelo Gestor e  suas Partes Relacionadas, sendo certo que Concorrentes não poderão ser titulares de Cotas Subordinadas  Mezanino.</a:t>
            </a:r>
          </a:p>
          <a:p>
            <a:r>
              <a:t>CNPJ 41970012000126 · Partes relacionadas e conflitos · Regulamento · ID 1302706 · 2026-08-27 · versão 1 · p. 111 · https://fnet.bmfbovespa.com.br/fnet/publico/visualizarDocumento?id=1302706</a:t>
            </a:r>
          </a:p>
          <a:p>
            <a:r>
              <a:t>CNPJ 41970012000126 · Partes relacionadas e conflitos · Excerto da fonte:</a:t>
            </a:r>
          </a:p>
          <a:p>
            <a:r>
              <a:t>Ainda, os custos incorridos com os procedimentos extrajudiciais ou judiciais necessários à  cobrança dos Direitos Creditórios para Cobrança Extraordinária e à salvaguarda dos direitos,  das garantias e das prerrogativas do Fundo são de inteira e exclusiva responsabilidade do Fundo  e, consequentemente, dos Cotistas. O Administrador, o Gestor, o Agente de Cobrança, os  Endossantes e quaisquer de suas Partes Relacionadas não serão responsáveis, em conjunto ou  isoladamente, por qualquer dano ou prejuízo sofrido pelo Fundo ou por qualquer dos Cotistas  em decorrência da não propositura (ou do não prosseguimento), pelo Fundo, de medidas  judiciais ou extrajudiciais necessárias à preservação de seus direitos e prerrogativas.</a:t>
            </a:r>
          </a:p>
          <a:p>
            <a:r>
              <a:t>CNPJ 41970012000126 · Partes relacionadas e conflitos · Condição: Documentos atuais selecionados no inventário por categoria/escopo; a data documental isolada não comprova vigência jurídica.</a:t>
            </a:r>
          </a:p>
          <a:p>
            <a:r>
              <a:t>CNPJ 41970012000126 · Partes relacionadas e conflitos · Versão e prevalência: Documentos atuais selecionados no inventário por categoria/escopo; a data documental isolada não comprova vigência jurídica.</a:t>
            </a:r>
          </a:p>
          <a:p>
            <a:r>
              <a:t>CNPJ 41970012000126 · Partes relacionadas e conflitos · Resumo do histórico: {"count": 10, "dates": ["2025-12-19", "2025-12-31", "2026-08-24"], "document_count": 3, "sources": [{"document_id": "1300110", "title": "Fato Relevante", "reference_date": "2026-08-24", "version": "1", "page": 2, "url": "https://fnet.bmfbovespa.com.br/fnet/publico/visualizarDocumento?id=1300110", "sha256": "982dd137d6a96b7e0e1f24730a2959e2196a43d13ea7f651c29e962a1c816b5c"}, {"document_id": "1151156", "title": "Demonstrações Financeiras", "reference_date": "2025-12-31", "version": "1", "page": 25, "url": "https://fnet.bmfbovespa.com.br/fnet/publico/visualizarDocumento?id=1151156", "sha256": "04099e318871fbf25478d1ed88b19c4c6c6af84d9811507e8df48f7d824c6ec8"}, {"document_id": "1077333", "title": "AGE", "reference_date": "2025-12-19", "version": "1", "page": 65, "clause": "7.22.1", "url": "https://fnet.bmfbovespa.com.br/fnet/publico/visualizarDocumento?id=1077333", "sha256": "a9a25c5f8a0c493373a2157221109466cbc86e5f44f623997bba18ca14892751"}], "reference": {"path": "history/41970012000126.json", "criterion_id": "related_parties", "total_count": 10, "preview_count": 3, "full_text_deferred": true, "sha256": "229578c6b833b0633051fe7d357f4fcc74589dcf37d7750032517e03ec89ee60"}}</a:t>
            </a:r>
          </a:p>
          <a:p>
            <a:r>
              <a:t>CNPJ 41970012000126 · Histórico de alterações materiais · AGE · ID 1341484 · 2026-10-05 · versão 1 · p. 1 · https://fnet.bmfbovespa.com.br/fnet/publico/visualizarDocumento?id=1341484</a:t>
            </a:r>
          </a:p>
          <a:p>
            <a:r>
              <a:t>CNPJ 41970012000126 · Histórico de alterações materiais · Excerto da fonte:</a:t>
            </a:r>
          </a:p>
          <a:p>
            <a:r>
              <a:t>Os Cotistas, por unanimidade, sem quaisquer reservas ou restrições, aprovaram (i) o aumento no montante da  Terceira Emissão de Cotas Seniores da classe única do Fundo, conforme aprovada na Assembleia Geral de  Cotistas realizada em 20 de agosto de 2026, no valor de R$ 145.333,56 (cento e quarenta e cinco mil, trezentos  e trinta e três reais e cinquenta e seis centavos), passando a Terceira Emissão de Cotas Seniores a perfazer a  quantia total de R$ 500.146.172,40 (quinhentos milhões, cento e quarenta e seis mil, cento e setenta e dois reais  e quarenta centavos; (ii) a celebração do Sétimo Aditamento ao Instrumento Particular de Compromisso de  Investimento para Subscrição e Integralização de Cotas Seniores do FIDC Mercado Crédito II Brasil, de forma a  refletir o aumento do volume da Terceira Emissão de Cotas Seniores, sem aumento do capital comprometido  pelo Subscritor; e a (iii) celebração dos demais documentos necessários para refletir as alterações ora aprovadas.</a:t>
            </a:r>
          </a:p>
          <a:p>
            <a:r>
              <a:t>CNPJ 41970012000126 · Histórico de alterações materiais · Condição: Trechos do documento específico identificado com data mais recente; vigência jurídica não inferida.</a:t>
            </a:r>
          </a:p>
          <a:p>
            <a:r>
              <a:t>CNPJ 41970012000126 · Histórico de alterações materiais · Versão e prevalência: Trechos do documento específico identificado com data mais recente; vigência jurídica não inferida.</a:t>
            </a:r>
          </a:p>
          <a:p>
            <a:r>
              <a:t>CNPJ 41970012000126 · Histórico de alterações materiais · Resumo do histórico: {"count": 20, "dates": ["2023-12-31", "2024-07-03", "2025-12-31"], "document_count": 3, "sources": [{"document_id": "1151156", "title": "Demonstrações Financeiras", "reference_date": "2025-12-31", "version": "1", "page": 42, "url": "https://fnet.bmfbovespa.com.br/fnet/publico/visualizarDocumento?id=1151156", "sha256": "04099e318871fbf25478d1ed88b19c4c6c6af84d9811507e8df48f7d824c6ec8"}, {"document_id": "691625", "title": "AGO/E", "reference_date": "2024-07-03", "version": "1", "page": 135, "clause": "17.7.3", "url": "https://fnet.bmfbovespa.com.br/fnet/publico/visualizarDocumento?id=691625", "sha256": "3c1bb95054b4d4b8716ab42304099b42cf495e8532d8800bd03468e81cfbe94b"}, {"document_id": "659662", "title": "Demonstrações Financeiras", "reference_date": "2023-12-31", "version": "1", "page": 31, "url": "https://fnet.bmfbovespa.com.br/fnet/publico/visualizarDocumento?id=659662", "sha256": "b8b0aa7cef25ed43fc2d549b4e0e77c3bb32e3774227a4ad83f88955761c6494"}], "reference": {"path": "history/41970012000126.json", "criterion_id": "changes", "total_count": 20, "preview_count": 3, "full_text_deferred": true, "sha256": "229578c6b833b0633051fe7d357f4fcc74589dcf37d7750032517e03ec89ee60"}}</a:t>
            </a:r>
          </a:p>
          <a:p>
            <a:r>
              <a:t>CNPJ 41970012000126 · Auditor independente e DFs · Regulamento · ID 1302706 · 2026-08-27 · versão 1 · p. 72 · 9.2.2 · https://fnet.bmfbovespa.com.br/fnet/publico/visualizarDocumento?id=1302706</a:t>
            </a:r>
          </a:p>
          <a:p>
            <a:r>
              <a:t>CNPJ 41970012000126 · Auditor independente e DFs · Excerto da fonte:</a:t>
            </a:r>
          </a:p>
          <a:p>
            <a:r>
              <a:t>9.2.2. A Assembleia Geral de Cotistas que deliberar sobre a matéria prevista no subitem (i)do item 9.1  acima somente pode ser realizada no mínimo 15 (quinze) dias após estarem disponíveis aos Cotistas as  demonstrações contábeis relativas ao exercício encerrado, contendo parecer do Auditor Independente,  observado que tal prazo pode ser dispensado na Assembleia Geral de Cotistas em que comparecerem  todos os Cotistas. As demonstrações contábeis cujo relatório do Auditor Independente não contiver  opinião modificada podem ser consideradas automaticamente aprovadas caso a Assembleia Geral de  Cotistas não seja instalada em virtude de não comparecimento dos Cotistas.</a:t>
            </a:r>
          </a:p>
          <a:p>
            <a:r>
              <a:t>CNPJ 41970012000126 · Auditor independente e DFs · Regulamento · ID 1302706 · 2026-08-27 · versão 1 · p. 88 · 14.4 · https://fnet.bmfbovespa.com.br/fnet/publico/visualizarDocumento?id=1302706</a:t>
            </a:r>
          </a:p>
          <a:p>
            <a:r>
              <a:t>CNPJ 41970012000126 · Auditor independente e DFs · Excerto da fonte:</a:t>
            </a:r>
          </a:p>
          <a:p>
            <a:r>
              <a:t>14.4. As demonstrações financeiras anuais do Fundo serão auditadas pelo Auditor Independente.</a:t>
            </a:r>
          </a:p>
          <a:p>
            <a:r>
              <a:t>CNPJ 41970012000126 · Auditor independente e DFs · Regulamento · ID 1302706 · 2026-08-27 · versão 1 · p. 24 · https://fnet.bmfbovespa.com.br/fnet/publico/visualizarDocumento?id=1302706</a:t>
            </a:r>
          </a:p>
          <a:p>
            <a:r>
              <a:t>CNPJ 41970012000126 · Auditor independente e DFs · Excerto da fonte:</a:t>
            </a:r>
          </a:p>
          <a:p>
            <a:r>
              <a:t>"Índice de Inadimplência" significa a razão, expressa em percentual e calculada em  relação a cada Data Base, obtida por meio da divisão: (i)  da soma do Valor Principal dos Direitos Creditórios  Adquiridos que, durante o mês calendário de referência,  no que diz respeito à Data Base 1, e os 30 (trinta) dias  que antecedem a Data Base 2, no caso de cálculo com  base na Data Base 2, tenham se tornado Créditos  Inadimplidos; pela (ii) soma do Valor Principal dos  Direitos Creditórios Adquiridos Adimplentes na Data  Base do mês calendário anterior ao mês calendário de  referência.</a:t>
            </a:r>
          </a:p>
          <a:p>
            <a:r>
              <a:t> O Índice de Inadimplência será calculado e  disponibilizado pelo Gestor por meio dos Relatórios de  Acompanhamento.</a:t>
            </a:r>
          </a:p>
          <a:p>
            <a:r>
              <a:t> "Índice de Juros Excedente" significa, em cada Data Base: (i) a média ponderada da  taxa de juros dos Direitos Creditórios vinculada ao Valor  Agregado dos Direitos Creditórios considerando Valor  Principal e respectivas taxas de juros anuais, as quais  serão calculadas em formato linear com base na taxa de  juros mensal dos Direitos Creditórios, sendo certo que,  no caso dos Direitos Creditórios CCB DE, as respectivas  taxas de juros serão calculadas levando em consideração  50% (cinquenta por cento) da taxa de juros mensal  contratada nas respectivas CCBs, menos; (ii) o somatório</a:t>
            </a:r>
          </a:p>
          <a:p>
            <a:r>
              <a:t> (a) da Taxa de Administração; (b) da Taxa de Gestão; e</a:t>
            </a:r>
          </a:p>
          <a:p>
            <a:r>
              <a:t> (c) da remuneração do Agente de Cobrança e da  remuneração do Agente de Recebimento, bem como os  demais custos de cobrança dos Direitos Creditórios para  Cobrança Extraordinária, todos custos deste item (ii)  considerados como percentuais anuais do Valor  Agregado dos Direitos Creditórios, observado que o  custo total previsto neste item (ii) será, para fins deste  cálculo, no mínimo igual a 1,00% (um por cento) ao ano  sobre o Valor Agregado dos Direitos Creditórios; (iii) a  Taxa DI; e (iv) a média ponderada entre os spreads que  compõem os Benchmark Sênior e Benchmark Mezanino  (conforme previstos em cada Apêndice).</a:t>
            </a:r>
          </a:p>
          <a:p>
            <a:r>
              <a:t> O Índice de Juros Excedente será calculado e  disponibilizado pelo Gestor por meio dos Relatórios de  Acompanhamento.</a:t>
            </a:r>
          </a:p>
          <a:p>
            <a:r>
              <a:t> "Índice Financeiro Amortização significa, em relação à MeLi, o seguinte índice  Acelerada" financeiro:</a:t>
            </a:r>
          </a:p>
          <a:p>
            <a:r>
              <a:t> Liquidez Consolidada: verificação de que a Liquidez  Consolidada é maior que US$400.000.000,00  (quatrocentos milhões de dólares norte-americanos).</a:t>
            </a:r>
          </a:p>
          <a:p>
            <a:r>
              <a:t> O Índice Financeiro Amortização Acelerada será  calculado pelo Mercado Pago, com base nas  demonstrações financeiras auditadas ou informações  financeiras trimestrais da MeLi, e encaminhado ao  btgpactual.com</a:t>
            </a:r>
          </a:p>
          <a:p>
            <a:r>
              <a:t>CNPJ 41970012000126 · Auditor independente e DFs · Condição: Documentos atuais selecionados no inventário por categoria/escopo; a data documental isolada não comprova vigência jurídica.</a:t>
            </a:r>
          </a:p>
          <a:p>
            <a:r>
              <a:t>CNPJ 41970012000126 · Auditor independente e DFs · Versão e prevalência: Documentos atuais selecionados no inventário por categoria/escopo; a data documental isolada não comprova vigência jurídica.</a:t>
            </a:r>
          </a:p>
          <a:p>
            <a:r>
              <a:t>CNPJ 41970012000126 · Auditor independente e DFs · Resumo do histórico: {"count": 8, "dates": ["2025-07-23", "2025-12-19", "2025-12-31"], "document_count": 3, "sources": [{"document_id": "1151156", "title": "Demonstrações Financeiras", "reference_date": "2025-12-31", "version": "1", "page": 1, "url": "https://fnet.bmfbovespa.com.br/fnet/publico/visualizarDocumento?id=1151156", "sha256": "04099e318871fbf25478d1ed88b19c4c6c6af84d9811507e8df48f7d824c6ec8"}, {"document_id": "1077333", "title": "AGE", "reference_date": "2025-12-19", "version": "1", "page": 107, "clause": "14.4", "url": "https://fnet.bmfbovespa.com.br/fnet/publico/visualizarDocumento?id=1077333", "sha256": "a9a25c5f8a0c493373a2157221109466cbc86e5f44f623997bba18ca14892751"}, {"document_id": "952882", "title": "AGO", "reference_date": "2025-07-23", "version": "1", "page": 1, "url": "https://fnet.bmfbovespa.com.br/fnet/publico/visualizarDocumento?id=952882", "sha256": "10ce66c94e4aa51a4a162c7432c06ea340c313777dc495bf040d99ffc70ec9fd"}], "reference": {"path": "history/41970012000126.json", "criterion_id": "audit", "total_count": 8, "preview_count": 3, "full_text_deferred": true, "sha256": "229578c6b833b0633051fe7d357f4fcc74589dcf37d7750032517e03ec89ee60"}}</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PLGN Marketplace · vínculo CNPJ 41970012000126 · Governança e alterações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Vínculo: PLGN Marketplace · CNPJ 55563624000109 → CNPJ 41970012000126 · Regulamento · ID 1192614 · 30/04/2026 · versão Regulamento30/04/2026 · p. 11 · AnexoI4.1</a:t>
            </a:r>
          </a:p>
          <a:p>
            <a:r>
              <a:t>Condição do vínculo: {"cnpj": "41970012000126", "name": "Mercado Crédito II Brasil FIDC", "relationship": "named_investee", "exposure": "mezzanine", "position_status": "mandate_identified_position_not_quantified", "risk_note": "Mandato e classe exatos; comparar regras eIMEdo investido na competência doFIC, sem dupla contagem dePL."}</a:t>
            </a:r>
          </a:p>
          <a:p>
            <a:r>
              <a:t>CNPJ 41970012000126 · Quóruns e matérias reservadas · Regulamento · ID 1302706 · 2026-08-27 · versão 1 · p. 73 · 9.3 · https://fnet.bmfbovespa.com.br/fnet/publico/visualizarDocumento?id=1302706</a:t>
            </a:r>
          </a:p>
          <a:p>
            <a:r>
              <a:t>CNPJ 41970012000126 · Quóruns e matérias reservadas · Excerto da fonte:</a:t>
            </a:r>
          </a:p>
          <a:p>
            <a:r>
              <a:t>9.3. Nas hipóteses em que qualquer Cotista se encontre em uma situação de conflito de interesse,  conforme definição de "conflito de interesse" prevista no item 9.3.1 abaixo, suas Cotas não serão  consideradas para fins de cômputo do respectivo quórum de deliberação, conforme previsto no item 9.2.</a:t>
            </a:r>
          </a:p>
          <a:p>
            <a:r>
              <a:t>CNPJ 41970012000126 · Quóruns e matérias reservadas · Regulamento · ID 1302706 · 2026-08-27 · versão 1 · p. 59 · 8.6 · https://fnet.bmfbovespa.com.br/fnet/publico/visualizarDocumento?id=1302706</a:t>
            </a:r>
          </a:p>
          <a:p>
            <a:r>
              <a:t>CNPJ 41970012000126 · Quóruns e matérias reservadas · Excerto da fonte:</a:t>
            </a:r>
          </a:p>
          <a:p>
            <a:r>
              <a:t>8.6. Caso a Assembleia Geral de Cotistas não seja instalada por falta de quórum ou os Cotistas não  deliberem em favor de qualquer possibilidade prevista no item 8.5, o Administrador deve ingressar com  pedido de declaração judicial de insolvência do Fundo, sendo que o pedido de declaração judicial de  insolvência constitui um Evento de Avaliação, nos termos do subitem (xxx) do item 11.1 abaixo.</a:t>
            </a:r>
          </a:p>
          <a:p>
            <a:r>
              <a:t>CNPJ 41970012000126 · Quóruns e matérias reservadas · Regulamento · ID 1302706 · 2026-08-27 · versão 1 · p. 73 · 9.1 · https://fnet.bmfbovespa.com.br/fnet/publico/visualizarDocumento?id=1302706</a:t>
            </a:r>
          </a:p>
          <a:p>
            <a:r>
              <a:t>CNPJ 41970012000126 · Quóruns e matérias reservadas · Excerto da fonte:</a:t>
            </a:r>
          </a:p>
          <a:p>
            <a:r>
              <a:t>9.1 acima, caso tal alteração cause um Efeito Adverso Relevante ao Fundo, conforme notificado pelo  Mercado Pago, pelos Cotistas Seniores ou por qualquer Cotista Subordinado Mezanino ao Administrador,  o Administrador deverá convocar uma Assembleia Geral de Cotistas na qual os Cotistas poderão optar  pela liquidação antecipada do Fundo, observado o quórum previsto no item 9.2 acima.</a:t>
            </a:r>
          </a:p>
          <a:p>
            <a:r>
              <a:t>CNPJ 41970012000126 · Quóruns e matérias reservadas · Condição: Documentos atuais selecionados no inventário por categoria/escopo; a data documental isolada não comprova vigência jurídica.</a:t>
            </a:r>
          </a:p>
          <a:p>
            <a:r>
              <a:t>CNPJ 41970012000126 · Quóruns e matérias reservadas · Versão e prevalência: Documentos atuais selecionados no inventário por categoria/escopo; a data documental isolada não comprova vigência jurídica.</a:t>
            </a:r>
          </a:p>
          <a:p>
            <a:r>
              <a:t>CNPJ 41970012000126 · Quóruns e matérias reservadas · Resumo do histórico: {"count": 9, "dates": ["2025-12-19", "2025-12-31"], "document_count": 3, "sources": [{"document_id": "1151156", "title": "Demonstrações Financeiras", "reference_date": "2025-12-31", "version": "1", "page": 41, "url": "https://fnet.bmfbovespa.com.br/fnet/publico/visualizarDocumento?id=1151156", "sha256": "04099e318871fbf25478d1ed88b19c4c6c6af84d9811507e8df48f7d824c6ec8"}, {"document_id": "1077333", "title": "AGE", "reference_date": "2025-12-19", "version": "1", "page": 86, "clause": "9.3", "url": "https://fnet.bmfbovespa.com.br/fnet/publico/visualizarDocumento?id=1077333", "sha256": "a9a25c5f8a0c493373a2157221109466cbc86e5f44f623997bba18ca14892751"}, {"document_id": "1077334", "title": "Regulamento", "reference_date": "2025-12-19", "version": "1", "page": 86, "clause": "9.3", "url": "https://fnet.bmfbovespa.com.br/fnet/publico/visualizarDocumento?id=1077334", "sha256": "a9a25c5f8a0c493373a2157221109466cbc86e5f44f623997bba18ca14892751"}], "reference": {"path": "history/41970012000126.json", "criterion_id": "quorum", "total_count": 9, "preview_count": 3, "full_text_deferred": true, "sha256": "229578c6b833b0633051fe7d357f4fcc74589dcf37d7750032517e03ec89ee60"}}</a:t>
            </a:r>
          </a:p>
          <a:p>
            <a:r>
              <a:t>CNPJ 41970012000126 · Partes relacionadas e conflitos · Regulamento · ID 1302706 · 2026-08-27 · versão 1 · p. 44 · 5.2.4 · https://fnet.bmfbovespa.com.br/fnet/publico/visualizarDocumento?id=1302706</a:t>
            </a:r>
          </a:p>
          <a:p>
            <a:r>
              <a:t>CNPJ 41970012000126 · Partes relacionadas e conflitos · Excerto da fonte:</a:t>
            </a:r>
          </a:p>
          <a:p>
            <a:r>
              <a:t>5.2.4. Além de atender aos Critérios de Elegibilidade, todos e quaisquer Direitos Creditórios a serem  adquiridos pelo Fundo deverão atender, na respectiva Data de Oferta de Direitos Creditórios, às seguintes  Condições de Cessão, cumulativamente (em conjunto, as "Condições de Cessão"):</a:t>
            </a:r>
          </a:p>
          <a:p>
            <a:r>
              <a:t>(i) os Direitos Creditórios tenham sido originados, incluindo em relação à taxa de juros estabelecida  (apenas em relação aos Direitos Creditórios), pelo respectivo Endossante no curso ordinário de  seus negócios e dos negócios do Mercado Pago, em observância à política de concessão de  crédito do Mercado Pago vigente à época;</a:t>
            </a:r>
          </a:p>
          <a:p>
            <a:r>
              <a:t>(ii) os Direitos Creditórios estejam livres e desembaraçados de quaisquer ônus ou gravames;</a:t>
            </a:r>
          </a:p>
          <a:p>
            <a:r>
              <a:t>(iii) os Direitos Creditórios ofertados não tenham sido selecionados para venda ao Fundo de maneira  prejudicial ao Fundo e/ou aos Cotistas Seniores, no melhor conhecimento do respectivo  Endossante e/ou do Mercado Pago;</a:t>
            </a:r>
          </a:p>
          <a:p>
            <a:r>
              <a:t>(iv) os Direitos Creditórios representem obrigações legais e válidas de cada Devedor, exequíveis  contra o respectivo Devedor de acordo com seus termos, ressalvadas regras gerais de  insolvência, conforme aplicáveis;</a:t>
            </a:r>
          </a:p>
          <a:p>
            <a:r>
              <a:t>(v) os Devedores não sejam Partes Relacionadas dos Endossantes e/ou da MeLi, sendo permitido,  no entanto, Devedores que sejam funcionários do respectivo Endossante, da MeLi e/ou de suas  Partes Relacionadas;</a:t>
            </a:r>
          </a:p>
          <a:p>
            <a:r>
              <a:t>(vi) os Devedores não sejam Partes Relacionadas de uma entidade governamental, sendo permitido,  no entanto, Devedores que sejam funcionários de tal entidade;</a:t>
            </a:r>
          </a:p>
          <a:p>
            <a:r>
              <a:t>(vii) no melhor conhecimento do Mercado Pago, o respectivo Devedor não tenha questionado a  existência, validade ou exequibilidade da CCB ou dos instrumentos de garantia, e não tenha  oposto nenhuma exceção ao respectivo Endossante, sendo certo que questionamentos realizados  no âmbito da Plataforma Mercado Pago e/ou Plataforma Mercado Libre não serão considerados  para fins da verificação do atendimento a este item;</a:t>
            </a:r>
          </a:p>
          <a:p>
            <a:r>
              <a:t>(viii) os Direitos Creditórios e respectivos Documentos Comprobatórios não tenham sido novados,  aditados ou modificados de qualquer forma, exceto por quaisquer alterações acordadas de boa-  fé entre o Mercado Pago e o Gestor e aprovadas pelos Cotistas Seniores reunidos em Assembleia  Geral de Cotistas anteriormente à aquisição do respectivo Direito Creditório pelo Fundo;</a:t>
            </a:r>
          </a:p>
          <a:p>
            <a:r>
              <a:t>CNPJ 41970012000126 · Partes relacionadas e conflitos · Regulamento · ID 1302706 · 2026-08-27 · versão 1 · p. 51 · 7.6 · https://fnet.bmfbovespa.com.br/fnet/publico/visualizarDocumento?id=1302706</a:t>
            </a:r>
          </a:p>
          <a:p>
            <a:r>
              <a:t>CNPJ 41970012000126 · Partes relacionadas e conflitos · Excerto da fonte:</a:t>
            </a:r>
          </a:p>
          <a:p>
            <a:r>
              <a:t>7.6. As Cotas Subordinadas Mezanino não serão objeto de distribuição pública e serão destinadas à  subscrição de Investidores Qualificados, restringindo-se aos fundos de investimento geridos pelo Gestor e  suas Partes Relacionadas, sendo certo que Concorrentes não poderão ser titulares de Cotas Subordinadas  Mezanino.</a:t>
            </a:r>
          </a:p>
          <a:p>
            <a:r>
              <a:t>CNPJ 41970012000126 · Partes relacionadas e conflitos · Regulamento · ID 1302706 · 2026-08-27 · versão 1 · p. 111 · https://fnet.bmfbovespa.com.br/fnet/publico/visualizarDocumento?id=1302706</a:t>
            </a:r>
          </a:p>
          <a:p>
            <a:r>
              <a:t>CNPJ 41970012000126 · Partes relacionadas e conflitos · Excerto da fonte:</a:t>
            </a:r>
          </a:p>
          <a:p>
            <a:r>
              <a:t>Ainda, os custos incorridos com os procedimentos extrajudiciais ou judiciais necessários à  cobrança dos Direitos Creditórios para Cobrança Extraordinária e à salvaguarda dos direitos,  das garantias e das prerrogativas do Fundo são de inteira e exclusiva responsabilidade do Fundo  e, consequentemente, dos Cotistas. O Administrador, o Gestor, o Agente de Cobrança, os  Endossantes e quaisquer de suas Partes Relacionadas não serão responsáveis, em conjunto ou  isoladamente, por qualquer dano ou prejuízo sofrido pelo Fundo ou por qualquer dos Cotistas  em decorrência da não propositura (ou do não prosseguimento), pelo Fundo, de medidas  judiciais ou extrajudiciais necessárias à preservação de seus direitos e prerrogativas.</a:t>
            </a:r>
          </a:p>
          <a:p>
            <a:r>
              <a:t>CNPJ 41970012000126 · Partes relacionadas e conflitos · Condição: Documentos atuais selecionados no inventário por categoria/escopo; a data documental isolada não comprova vigência jurídica.</a:t>
            </a:r>
          </a:p>
          <a:p>
            <a:r>
              <a:t>CNPJ 41970012000126 · Partes relacionadas e conflitos · Versão e prevalência: Documentos atuais selecionados no inventário por categoria/escopo; a data documental isolada não comprova vigência jurídica.</a:t>
            </a:r>
          </a:p>
          <a:p>
            <a:r>
              <a:t>CNPJ 41970012000126 · Partes relacionadas e conflitos · Resumo do histórico: {"count": 10, "dates": ["2025-12-19", "2025-12-31", "2026-08-24"], "document_count": 3, "sources": [{"document_id": "1300110", "title": "Fato Relevante", "reference_date": "2026-08-24", "version": "1", "page": 2, "url": "https://fnet.bmfbovespa.com.br/fnet/publico/visualizarDocumento?id=1300110", "sha256": "982dd137d6a96b7e0e1f24730a2959e2196a43d13ea7f651c29e962a1c816b5c"}, {"document_id": "1151156", "title": "Demonstrações Financeiras", "reference_date": "2025-12-31", "version": "1", "page": 25, "url": "https://fnet.bmfbovespa.com.br/fnet/publico/visualizarDocumento?id=1151156", "sha256": "04099e318871fbf25478d1ed88b19c4c6c6af84d9811507e8df48f7d824c6ec8"}, {"document_id": "1077333", "title": "AGE", "reference_date": "2025-12-19", "version": "1", "page": 65, "clause": "7.22.1", "url": "https://fnet.bmfbovespa.com.br/fnet/publico/visualizarDocumento?id=1077333", "sha256": "a9a25c5f8a0c493373a2157221109466cbc86e5f44f623997bba18ca14892751"}], "reference": {"path": "history/41970012000126.json", "criterion_id": "related_parties", "total_count": 10, "preview_count": 3, "full_text_deferred": true, "sha256": "229578c6b833b0633051fe7d357f4fcc74589dcf37d7750032517e03ec89ee60"}}</a:t>
            </a:r>
          </a:p>
          <a:p>
            <a:r>
              <a:t>CNPJ 41970012000126 · Histórico de alterações materiais · AGE · ID 1341484 · 2026-10-05 · versão 1 · p. 1 · https://fnet.bmfbovespa.com.br/fnet/publico/visualizarDocumento?id=1341484</a:t>
            </a:r>
          </a:p>
          <a:p>
            <a:r>
              <a:t>CNPJ 41970012000126 · Histórico de alterações materiais · Excerto da fonte:</a:t>
            </a:r>
          </a:p>
          <a:p>
            <a:r>
              <a:t>Os Cotistas, por unanimidade, sem quaisquer reservas ou restrições, aprovaram (i) o aumento no montante da  Terceira Emissão de Cotas Seniores da classe única do Fundo, conforme aprovada na Assembleia Geral de  Cotistas realizada em 20 de agosto de 2026, no valor de R$ 145.333,56 (cento e quarenta e cinco mil, trezentos  e trinta e três reais e cinquenta e seis centavos), passando a Terceira Emissão de Cotas Seniores a perfazer a  quantia total de R$ 500.146.172,40 (quinhentos milhões, cento e quarenta e seis mil, cento e setenta e dois reais  e quarenta centavos; (ii) a celebração do Sétimo Aditamento ao Instrumento Particular de Compromisso de  Investimento para Subscrição e Integralização de Cotas Seniores do FIDC Mercado Crédito II Brasil, de forma a  refletir o aumento do volume da Terceira Emissão de Cotas Seniores, sem aumento do capital comprometido  pelo Subscritor; e a (iii) celebração dos demais documentos necessários para refletir as alterações ora aprovadas.</a:t>
            </a:r>
          </a:p>
          <a:p>
            <a:r>
              <a:t>CNPJ 41970012000126 · Histórico de alterações materiais · Condição: Trechos do documento específico identificado com data mais recente; vigência jurídica não inferida.</a:t>
            </a:r>
          </a:p>
          <a:p>
            <a:r>
              <a:t>CNPJ 41970012000126 · Histórico de alterações materiais · Versão e prevalência: Trechos do documento específico identificado com data mais recente; vigência jurídica não inferida.</a:t>
            </a:r>
          </a:p>
          <a:p>
            <a:r>
              <a:t>CNPJ 41970012000126 · Histórico de alterações materiais · Resumo do histórico: {"count": 20, "dates": ["2023-12-31", "2024-07-03", "2025-12-31"], "document_count": 3, "sources": [{"document_id": "1151156", "title": "Demonstrações Financeiras", "reference_date": "2025-12-31", "version": "1", "page": 42, "url": "https://fnet.bmfbovespa.com.br/fnet/publico/visualizarDocumento?id=1151156", "sha256": "04099e318871fbf25478d1ed88b19c4c6c6af84d9811507e8df48f7d824c6ec8"}, {"document_id": "691625", "title": "AGO/E", "reference_date": "2024-07-03", "version": "1", "page": 135, "clause": "17.7.3", "url": "https://fnet.bmfbovespa.com.br/fnet/publico/visualizarDocumento?id=691625", "sha256": "3c1bb95054b4d4b8716ab42304099b42cf495e8532d8800bd03468e81cfbe94b"}, {"document_id": "659662", "title": "Demonstrações Financeiras", "reference_date": "2023-12-31", "version": "1", "page": 31, "url": "https://fnet.bmfbovespa.com.br/fnet/publico/visualizarDocumento?id=659662", "sha256": "b8b0aa7cef25ed43fc2d549b4e0e77c3bb32e3774227a4ad83f88955761c6494"}], "reference": {"path": "history/41970012000126.json", "criterion_id": "changes", "total_count": 20, "preview_count": 3, "full_text_deferred": true, "sha256": "229578c6b833b0633051fe7d357f4fcc74589dcf37d7750032517e03ec89ee60"}}</a:t>
            </a:r>
          </a:p>
          <a:p>
            <a:r>
              <a:t>CNPJ 41970012000126 · Auditor independente e DFs · Regulamento · ID 1302706 · 2026-08-27 · versão 1 · p. 72 · 9.2.2 · https://fnet.bmfbovespa.com.br/fnet/publico/visualizarDocumento?id=1302706</a:t>
            </a:r>
          </a:p>
          <a:p>
            <a:r>
              <a:t>CNPJ 41970012000126 · Auditor independente e DFs · Excerto da fonte:</a:t>
            </a:r>
          </a:p>
          <a:p>
            <a:r>
              <a:t>9.2.2. A Assembleia Geral de Cotistas que deliberar sobre a matéria prevista no subitem (i)do item 9.1  acima somente pode ser realizada no mínimo 15 (quinze) dias após estarem disponíveis aos Cotistas as  demonstrações contábeis relativas ao exercício encerrado, contendo parecer do Auditor Independente,  observado que tal prazo pode ser dispensado na Assembleia Geral de Cotistas em que comparecerem  todos os Cotistas. As demonstrações contábeis cujo relatório do Auditor Independente não contiver  opinião modificada podem ser consideradas automaticamente aprovadas caso a Assembleia Geral de  Cotistas não seja instalada em virtude de não comparecimento dos Cotistas.</a:t>
            </a:r>
          </a:p>
          <a:p>
            <a:r>
              <a:t>CNPJ 41970012000126 · Auditor independente e DFs · Regulamento · ID 1302706 · 2026-08-27 · versão 1 · p. 88 · 14.4 · https://fnet.bmfbovespa.com.br/fnet/publico/visualizarDocumento?id=1302706</a:t>
            </a:r>
          </a:p>
          <a:p>
            <a:r>
              <a:t>CNPJ 41970012000126 · Auditor independente e DFs · Excerto da fonte:</a:t>
            </a:r>
          </a:p>
          <a:p>
            <a:r>
              <a:t>14.4. As demonstrações financeiras anuais do Fundo serão auditadas pelo Auditor Independente.</a:t>
            </a:r>
          </a:p>
          <a:p>
            <a:r>
              <a:t>CNPJ 41970012000126 · Auditor independente e DFs · Regulamento · ID 1302706 · 2026-08-27 · versão 1 · p. 24 · https://fnet.bmfbovespa.com.br/fnet/publico/visualizarDocumento?id=1302706</a:t>
            </a:r>
          </a:p>
          <a:p>
            <a:r>
              <a:t>CNPJ 41970012000126 · Auditor independente e DFs · Excerto da fonte:</a:t>
            </a:r>
          </a:p>
          <a:p>
            <a:r>
              <a:t>"Índice de Inadimplência" significa a razão, expressa em percentual e calculada em  relação a cada Data Base, obtida por meio da divisão: (i)  da soma do Valor Principal dos Direitos Creditórios  Adquiridos que, durante o mês calendário de referência,  no que diz respeito à Data Base 1, e os 30 (trinta) dias  que antecedem a Data Base 2, no caso de cálculo com  base na Data Base 2, tenham se tornado Créditos  Inadimplidos; pela (ii) soma do Valor Principal dos  Direitos Creditórios Adquiridos Adimplentes na Data  Base do mês calendário anterior ao mês calendário de  referência.</a:t>
            </a:r>
          </a:p>
          <a:p>
            <a:r>
              <a:t> O Índice de Inadimplência será calculado e  disponibilizado pelo Gestor por meio dos Relatórios de  Acompanhamento.</a:t>
            </a:r>
          </a:p>
          <a:p>
            <a:r>
              <a:t> "Índice de Juros Excedente" significa, em cada Data Base: (i) a média ponderada da  taxa de juros dos Direitos Creditórios vinculada ao Valor  Agregado dos Direitos Creditórios considerando Valor  Principal e respectivas taxas de juros anuais, as quais  serão calculadas em formato linear com base na taxa de  juros mensal dos Direitos Creditórios, sendo certo que,  no caso dos Direitos Creditórios CCB DE, as respectivas  taxas de juros serão calculadas levando em consideração  50% (cinquenta por cento) da taxa de juros mensal  contratada nas respectivas CCBs, menos; (ii) o somatório</a:t>
            </a:r>
          </a:p>
          <a:p>
            <a:r>
              <a:t> (a) da Taxa de Administração; (b) da Taxa de Gestão; e</a:t>
            </a:r>
          </a:p>
          <a:p>
            <a:r>
              <a:t> (c) da remuneração do Agente de Cobrança e da  remuneração do Agente de Recebimento, bem como os  demais custos de cobrança dos Direitos Creditórios para  Cobrança Extraordinária, todos custos deste item (ii)  considerados como percentuais anuais do Valor  Agregado dos Direitos Creditórios, observado que o  custo total previsto neste item (ii) será, para fins deste  cálculo, no mínimo igual a 1,00% (um por cento) ao ano  sobre o Valor Agregado dos Direitos Creditórios; (iii) a  Taxa DI; e (iv) a média ponderada entre os spreads que  compõem os Benchmark Sênior e Benchmark Mezanino  (conforme previstos em cada Apêndice).</a:t>
            </a:r>
          </a:p>
          <a:p>
            <a:r>
              <a:t> O Índice de Juros Excedente será calculado e  disponibilizado pelo Gestor por meio dos Relatórios de  Acompanhamento.</a:t>
            </a:r>
          </a:p>
          <a:p>
            <a:r>
              <a:t> "Índice Financeiro Amortização significa, em relação à MeLi, o seguinte índice  Acelerada" financeiro:</a:t>
            </a:r>
          </a:p>
          <a:p>
            <a:r>
              <a:t> Liquidez Consolidada: verificação de que a Liquidez  Consolidada é maior que US$400.000.000,00  (quatrocentos milhões de dólares norte-americanos).</a:t>
            </a:r>
          </a:p>
          <a:p>
            <a:r>
              <a:t> O Índice Financeiro Amortização Acelerada será  calculado pelo Mercado Pago, com base nas  demonstrações financeiras auditadas ou informações  financeiras trimestrais da MeLi, e encaminhado ao  btgpactual.com</a:t>
            </a:r>
          </a:p>
          <a:p>
            <a:r>
              <a:t>CNPJ 41970012000126 · Auditor independente e DFs · Condição: Documentos atuais selecionados no inventário por categoria/escopo; a data documental isolada não comprova vigência jurídica.</a:t>
            </a:r>
          </a:p>
          <a:p>
            <a:r>
              <a:t>CNPJ 41970012000126 · Auditor independente e DFs · Versão e prevalência: Documentos atuais selecionados no inventário por categoria/escopo; a data documental isolada não comprova vigência jurídica.</a:t>
            </a:r>
          </a:p>
          <a:p>
            <a:r>
              <a:t>CNPJ 41970012000126 · Auditor independente e DFs · Resumo do histórico: {"count": 8, "dates": ["2025-07-23", "2025-12-19", "2025-12-31"], "document_count": 3, "sources": [{"document_id": "1151156", "title": "Demonstrações Financeiras", "reference_date": "2025-12-31", "version": "1", "page": 1, "url": "https://fnet.bmfbovespa.com.br/fnet/publico/visualizarDocumento?id=1151156", "sha256": "04099e318871fbf25478d1ed88b19c4c6c6af84d9811507e8df48f7d824c6ec8"}, {"document_id": "1077333", "title": "AGE", "reference_date": "2025-12-19", "version": "1", "page": 107, "clause": "14.4", "url": "https://fnet.bmfbovespa.com.br/fnet/publico/visualizarDocumento?id=1077333", "sha256": "a9a25c5f8a0c493373a2157221109466cbc86e5f44f623997bba18ca14892751"}, {"document_id": "952882", "title": "AGO", "reference_date": "2025-07-23", "version": "1", "page": 1, "url": "https://fnet.bmfbovespa.com.br/fnet/publico/visualizarDocumento?id=952882", "sha256": "10ce66c94e4aa51a4a162c7432c06ea340c313777dc495bf040d99ffc70ec9fd"}], "reference": {"path": "history/41970012000126.json", "criterion_id": "audit", "total_count": 8, "preview_count": 3, "full_text_deferred": true, "sha256": "229578c6b833b0633051fe7d357f4fcc74589dcf37d7750032517e03ec89ee60"}}</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PLGN Marketplace · vínculo CNPJ 41970012000126 · Governança e alterações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Vínculo: PLGN Marketplace · CNPJ 55563624000109 → CNPJ 41970012000126 · Regulamento · ID 1192614 · 30/04/2026 · versão Regulamento30/04/2026 · p. 11 · AnexoI4.1</a:t>
            </a:r>
          </a:p>
          <a:p>
            <a:r>
              <a:t>Condição do vínculo: {"cnpj": "41970012000126", "name": "Mercado Crédito II Brasil FIDC", "relationship": "named_investee", "exposure": "mezzanine", "position_status": "mandate_identified_position_not_quantified", "risk_note": "Mandato e classe exatos; comparar regras eIMEdo investido na competência doFIC, sem dupla contagem dePL."}</a:t>
            </a:r>
          </a:p>
          <a:p>
            <a:r>
              <a:t>CNPJ 41970012000126 · Quóruns e matérias reservadas · Regulamento · ID 1302706 · 2026-08-27 · versão 1 · p. 73 · 9.3 · https://fnet.bmfbovespa.com.br/fnet/publico/visualizarDocumento?id=1302706</a:t>
            </a:r>
          </a:p>
          <a:p>
            <a:r>
              <a:t>CNPJ 41970012000126 · Quóruns e matérias reservadas · Excerto da fonte:</a:t>
            </a:r>
          </a:p>
          <a:p>
            <a:r>
              <a:t>9.3. Nas hipóteses em que qualquer Cotista se encontre em uma situação de conflito de interesse,  conforme definição de "conflito de interesse" prevista no item 9.3.1 abaixo, suas Cotas não serão  consideradas para fins de cômputo do respectivo quórum de deliberação, conforme previsto no item 9.2.</a:t>
            </a:r>
          </a:p>
          <a:p>
            <a:r>
              <a:t>CNPJ 41970012000126 · Quóruns e matérias reservadas · Regulamento · ID 1302706 · 2026-08-27 · versão 1 · p. 59 · 8.6 · https://fnet.bmfbovespa.com.br/fnet/publico/visualizarDocumento?id=1302706</a:t>
            </a:r>
          </a:p>
          <a:p>
            <a:r>
              <a:t>CNPJ 41970012000126 · Quóruns e matérias reservadas · Excerto da fonte:</a:t>
            </a:r>
          </a:p>
          <a:p>
            <a:r>
              <a:t>8.6. Caso a Assembleia Geral de Cotistas não seja instalada por falta de quórum ou os Cotistas não  deliberem em favor de qualquer possibilidade prevista no item 8.5, o Administrador deve ingressar com  pedido de declaração judicial de insolvência do Fundo, sendo que o pedido de declaração judicial de  insolvência constitui um Evento de Avaliação, nos termos do subitem (xxx) do item 11.1 abaixo.</a:t>
            </a:r>
          </a:p>
          <a:p>
            <a:r>
              <a:t>CNPJ 41970012000126 · Quóruns e matérias reservadas · Regulamento · ID 1302706 · 2026-08-27 · versão 1 · p. 73 · 9.1 · https://fnet.bmfbovespa.com.br/fnet/publico/visualizarDocumento?id=1302706</a:t>
            </a:r>
          </a:p>
          <a:p>
            <a:r>
              <a:t>CNPJ 41970012000126 · Quóruns e matérias reservadas · Excerto da fonte:</a:t>
            </a:r>
          </a:p>
          <a:p>
            <a:r>
              <a:t>9.1 acima, caso tal alteração cause um Efeito Adverso Relevante ao Fundo, conforme notificado pelo  Mercado Pago, pelos Cotistas Seniores ou por qualquer Cotista Subordinado Mezanino ao Administrador,  o Administrador deverá convocar uma Assembleia Geral de Cotistas na qual os Cotistas poderão optar  pela liquidação antecipada do Fundo, observado o quórum previsto no item 9.2 acima.</a:t>
            </a:r>
          </a:p>
          <a:p>
            <a:r>
              <a:t>CNPJ 41970012000126 · Quóruns e matérias reservadas · Condição: Documentos atuais selecionados no inventário por categoria/escopo; a data documental isolada não comprova vigência jurídica.</a:t>
            </a:r>
          </a:p>
          <a:p>
            <a:r>
              <a:t>CNPJ 41970012000126 · Quóruns e matérias reservadas · Versão e prevalência: Documentos atuais selecionados no inventário por categoria/escopo; a data documental isolada não comprova vigência jurídica.</a:t>
            </a:r>
          </a:p>
          <a:p>
            <a:r>
              <a:t>CNPJ 41970012000126 · Quóruns e matérias reservadas · Resumo do histórico: {"count": 9, "dates": ["2025-12-19", "2025-12-31"], "document_count": 3, "sources": [{"document_id": "1151156", "title": "Demonstrações Financeiras", "reference_date": "2025-12-31", "version": "1", "page": 41, "url": "https://fnet.bmfbovespa.com.br/fnet/publico/visualizarDocumento?id=1151156", "sha256": "04099e318871fbf25478d1ed88b19c4c6c6af84d9811507e8df48f7d824c6ec8"}, {"document_id": "1077333", "title": "AGE", "reference_date": "2025-12-19", "version": "1", "page": 86, "clause": "9.3", "url": "https://fnet.bmfbovespa.com.br/fnet/publico/visualizarDocumento?id=1077333", "sha256": "a9a25c5f8a0c493373a2157221109466cbc86e5f44f623997bba18ca14892751"}, {"document_id": "1077334", "title": "Regulamento", "reference_date": "2025-12-19", "version": "1", "page": 86, "clause": "9.3", "url": "https://fnet.bmfbovespa.com.br/fnet/publico/visualizarDocumento?id=1077334", "sha256": "a9a25c5f8a0c493373a2157221109466cbc86e5f44f623997bba18ca14892751"}], "reference": {"path": "history/41970012000126.json", "criterion_id": "quorum", "total_count": 9, "preview_count": 3, "full_text_deferred": true, "sha256": "229578c6b833b0633051fe7d357f4fcc74589dcf37d7750032517e03ec89ee60"}}</a:t>
            </a:r>
          </a:p>
          <a:p>
            <a:r>
              <a:t>CNPJ 41970012000126 · Partes relacionadas e conflitos · Regulamento · ID 1302706 · 2026-08-27 · versão 1 · p. 44 · 5.2.4 · https://fnet.bmfbovespa.com.br/fnet/publico/visualizarDocumento?id=1302706</a:t>
            </a:r>
          </a:p>
          <a:p>
            <a:r>
              <a:t>CNPJ 41970012000126 · Partes relacionadas e conflitos · Excerto da fonte:</a:t>
            </a:r>
          </a:p>
          <a:p>
            <a:r>
              <a:t>5.2.4. Além de atender aos Critérios de Elegibilidade, todos e quaisquer Direitos Creditórios a serem  adquiridos pelo Fundo deverão atender, na respectiva Data de Oferta de Direitos Creditórios, às seguintes  Condições de Cessão, cumulativamente (em conjunto, as "Condições de Cessão"):</a:t>
            </a:r>
          </a:p>
          <a:p>
            <a:r>
              <a:t>(i) os Direitos Creditórios tenham sido originados, incluindo em relação à taxa de juros estabelecida  (apenas em relação aos Direitos Creditórios), pelo respectivo Endossante no curso ordinário de  seus negócios e dos negócios do Mercado Pago, em observância à política de concessão de  crédito do Mercado Pago vigente à época;</a:t>
            </a:r>
          </a:p>
          <a:p>
            <a:r>
              <a:t>(ii) os Direitos Creditórios estejam livres e desembaraçados de quaisquer ônus ou gravames;</a:t>
            </a:r>
          </a:p>
          <a:p>
            <a:r>
              <a:t>(iii) os Direitos Creditórios ofertados não tenham sido selecionados para venda ao Fundo de maneira  prejudicial ao Fundo e/ou aos Cotistas Seniores, no melhor conhecimento do respectivo  Endossante e/ou do Mercado Pago;</a:t>
            </a:r>
          </a:p>
          <a:p>
            <a:r>
              <a:t>(iv) os Direitos Creditórios representem obrigações legais e válidas de cada Devedor, exequíveis  contra o respectivo Devedor de acordo com seus termos, ressalvadas regras gerais de  insolvência, conforme aplicáveis;</a:t>
            </a:r>
          </a:p>
          <a:p>
            <a:r>
              <a:t>(v) os Devedores não sejam Partes Relacionadas dos Endossantes e/ou da MeLi, sendo permitido,  no entanto, Devedores que sejam funcionários do respectivo Endossante, da MeLi e/ou de suas  Partes Relacionadas;</a:t>
            </a:r>
          </a:p>
          <a:p>
            <a:r>
              <a:t>(vi) os Devedores não sejam Partes Relacionadas de uma entidade governamental, sendo permitido,  no entanto, Devedores que sejam funcionários de tal entidade;</a:t>
            </a:r>
          </a:p>
          <a:p>
            <a:r>
              <a:t>(vii) no melhor conhecimento do Mercado Pago, o respectivo Devedor não tenha questionado a  existência, validade ou exequibilidade da CCB ou dos instrumentos de garantia, e não tenha  oposto nenhuma exceção ao respectivo Endossante, sendo certo que questionamentos realizados  no âmbito da Plataforma Mercado Pago e/ou Plataforma Mercado Libre não serão considerados  para fins da verificação do atendimento a este item;</a:t>
            </a:r>
          </a:p>
          <a:p>
            <a:r>
              <a:t>(viii) os Direitos Creditórios e respectivos Documentos Comprobatórios não tenham sido novados,  aditados ou modificados de qualquer forma, exceto por quaisquer alterações acordadas de boa-  fé entre o Mercado Pago e o Gestor e aprovadas pelos Cotistas Seniores reunidos em Assembleia  Geral de Cotistas anteriormente à aquisição do respectivo Direito Creditório pelo Fundo;</a:t>
            </a:r>
          </a:p>
          <a:p>
            <a:r>
              <a:t>CNPJ 41970012000126 · Partes relacionadas e conflitos · Regulamento · ID 1302706 · 2026-08-27 · versão 1 · p. 51 · 7.6 · https://fnet.bmfbovespa.com.br/fnet/publico/visualizarDocumento?id=1302706</a:t>
            </a:r>
          </a:p>
          <a:p>
            <a:r>
              <a:t>CNPJ 41970012000126 · Partes relacionadas e conflitos · Excerto da fonte:</a:t>
            </a:r>
          </a:p>
          <a:p>
            <a:r>
              <a:t>7.6. As Cotas Subordinadas Mezanino não serão objeto de distribuição pública e serão destinadas à  subscrição de Investidores Qualificados, restringindo-se aos fundos de investimento geridos pelo Gestor e  suas Partes Relacionadas, sendo certo que Concorrentes não poderão ser titulares de Cotas Subordinadas  Mezanino.</a:t>
            </a:r>
          </a:p>
          <a:p>
            <a:r>
              <a:t>CNPJ 41970012000126 · Partes relacionadas e conflitos · Regulamento · ID 1302706 · 2026-08-27 · versão 1 · p. 111 · https://fnet.bmfbovespa.com.br/fnet/publico/visualizarDocumento?id=1302706</a:t>
            </a:r>
          </a:p>
          <a:p>
            <a:r>
              <a:t>CNPJ 41970012000126 · Partes relacionadas e conflitos · Excerto da fonte:</a:t>
            </a:r>
          </a:p>
          <a:p>
            <a:r>
              <a:t>Ainda, os custos incorridos com os procedimentos extrajudiciais ou judiciais necessários à  cobrança dos Direitos Creditórios para Cobrança Extraordinária e à salvaguarda dos direitos,  das garantias e das prerrogativas do Fundo são de inteira e exclusiva responsabilidade do Fundo  e, consequentemente, dos Cotistas. O Administrador, o Gestor, o Agente de Cobrança, os  Endossantes e quaisquer de suas Partes Relacionadas não serão responsáveis, em conjunto ou  isoladamente, por qualquer dano ou prejuízo sofrido pelo Fundo ou por qualquer dos Cotistas  em decorrência da não propositura (ou do não prosseguimento), pelo Fundo, de medidas  judiciais ou extrajudiciais necessárias à preservação de seus direitos e prerrogativas.</a:t>
            </a:r>
          </a:p>
          <a:p>
            <a:r>
              <a:t>CNPJ 41970012000126 · Partes relacionadas e conflitos · Condição: Documentos atuais selecionados no inventário por categoria/escopo; a data documental isolada não comprova vigência jurídica.</a:t>
            </a:r>
          </a:p>
          <a:p>
            <a:r>
              <a:t>CNPJ 41970012000126 · Partes relacionadas e conflitos · Versão e prevalência: Documentos atuais selecionados no inventário por categoria/escopo; a data documental isolada não comprova vigência jurídica.</a:t>
            </a:r>
          </a:p>
          <a:p>
            <a:r>
              <a:t>CNPJ 41970012000126 · Partes relacionadas e conflitos · Resumo do histórico: {"count": 10, "dates": ["2025-12-19", "2025-12-31", "2026-08-24"], "document_count": 3, "sources": [{"document_id": "1300110", "title": "Fato Relevante", "reference_date": "2026-08-24", "version": "1", "page": 2, "url": "https://fnet.bmfbovespa.com.br/fnet/publico/visualizarDocumento?id=1300110", "sha256": "982dd137d6a96b7e0e1f24730a2959e2196a43d13ea7f651c29e962a1c816b5c"}, {"document_id": "1151156", "title": "Demonstrações Financeiras", "reference_date": "2025-12-31", "version": "1", "page": 25, "url": "https://fnet.bmfbovespa.com.br/fnet/publico/visualizarDocumento?id=1151156", "sha256": "04099e318871fbf25478d1ed88b19c4c6c6af84d9811507e8df48f7d824c6ec8"}, {"document_id": "1077333", "title": "AGE", "reference_date": "2025-12-19", "version": "1", "page": 65, "clause": "7.22.1", "url": "https://fnet.bmfbovespa.com.br/fnet/publico/visualizarDocumento?id=1077333", "sha256": "a9a25c5f8a0c493373a2157221109466cbc86e5f44f623997bba18ca14892751"}], "reference": {"path": "history/41970012000126.json", "criterion_id": "related_parties", "total_count": 10, "preview_count": 3, "full_text_deferred": true, "sha256": "229578c6b833b0633051fe7d357f4fcc74589dcf37d7750032517e03ec89ee60"}}</a:t>
            </a:r>
          </a:p>
          <a:p>
            <a:r>
              <a:t>CNPJ 41970012000126 · Histórico de alterações materiais · AGE · ID 1341484 · 2026-10-05 · versão 1 · p. 1 · https://fnet.bmfbovespa.com.br/fnet/publico/visualizarDocumento?id=1341484</a:t>
            </a:r>
          </a:p>
          <a:p>
            <a:r>
              <a:t>CNPJ 41970012000126 · Histórico de alterações materiais · Excerto da fonte:</a:t>
            </a:r>
          </a:p>
          <a:p>
            <a:r>
              <a:t>Os Cotistas, por unanimidade, sem quaisquer reservas ou restrições, aprovaram (i) o aumento no montante da  Terceira Emissão de Cotas Seniores da classe única do Fundo, conforme aprovada na Assembleia Geral de  Cotistas realizada em 20 de agosto de 2026, no valor de R$ 145.333,56 (cento e quarenta e cinco mil, trezentos  e trinta e três reais e cinquenta e seis centavos), passando a Terceira Emissão de Cotas Seniores a perfazer a  quantia total de R$ 500.146.172,40 (quinhentos milhões, cento e quarenta e seis mil, cento e setenta e dois reais  e quarenta centavos; (ii) a celebração do Sétimo Aditamento ao Instrumento Particular de Compromisso de  Investimento para Subscrição e Integralização de Cotas Seniores do FIDC Mercado Crédito II Brasil, de forma a  refletir o aumento do volume da Terceira Emissão de Cotas Seniores, sem aumento do capital comprometido  pelo Subscritor; e a (iii) celebração dos demais documentos necessários para refletir as alterações ora aprovadas.</a:t>
            </a:r>
          </a:p>
          <a:p>
            <a:r>
              <a:t>CNPJ 41970012000126 · Histórico de alterações materiais · Condição: Trechos do documento específico identificado com data mais recente; vigência jurídica não inferida.</a:t>
            </a:r>
          </a:p>
          <a:p>
            <a:r>
              <a:t>CNPJ 41970012000126 · Histórico de alterações materiais · Versão e prevalência: Trechos do documento específico identificado com data mais recente; vigência jurídica não inferida.</a:t>
            </a:r>
          </a:p>
          <a:p>
            <a:r>
              <a:t>CNPJ 41970012000126 · Histórico de alterações materiais · Resumo do histórico: {"count": 20, "dates": ["2023-12-31", "2024-07-03", "2025-12-31"], "document_count": 3, "sources": [{"document_id": "1151156", "title": "Demonstrações Financeiras", "reference_date": "2025-12-31", "version": "1", "page": 42, "url": "https://fnet.bmfbovespa.com.br/fnet/publico/visualizarDocumento?id=1151156", "sha256": "04099e318871fbf25478d1ed88b19c4c6c6af84d9811507e8df48f7d824c6ec8"}, {"document_id": "691625", "title": "AGO/E", "reference_date": "2024-07-03", "version": "1", "page": 135, "clause": "17.7.3", "url": "https://fnet.bmfbovespa.com.br/fnet/publico/visualizarDocumento?id=691625", "sha256": "3c1bb95054b4d4b8716ab42304099b42cf495e8532d8800bd03468e81cfbe94b"}, {"document_id": "659662", "title": "Demonstrações Financeiras", "reference_date": "2023-12-31", "version": "1", "page": 31, "url": "https://fnet.bmfbovespa.com.br/fnet/publico/visualizarDocumento?id=659662", "sha256": "b8b0aa7cef25ed43fc2d549b4e0e77c3bb32e3774227a4ad83f88955761c6494"}], "reference": {"path": "history/41970012000126.json", "criterion_id": "changes", "total_count": 20, "preview_count": 3, "full_text_deferred": true, "sha256": "229578c6b833b0633051fe7d357f4fcc74589dcf37d7750032517e03ec89ee60"}}</a:t>
            </a:r>
          </a:p>
          <a:p>
            <a:r>
              <a:t>CNPJ 41970012000126 · Auditor independente e DFs · Regulamento · ID 1302706 · 2026-08-27 · versão 1 · p. 72 · 9.2.2 · https://fnet.bmfbovespa.com.br/fnet/publico/visualizarDocumento?id=1302706</a:t>
            </a:r>
          </a:p>
          <a:p>
            <a:r>
              <a:t>CNPJ 41970012000126 · Auditor independente e DFs · Excerto da fonte:</a:t>
            </a:r>
          </a:p>
          <a:p>
            <a:r>
              <a:t>9.2.2. A Assembleia Geral de Cotistas que deliberar sobre a matéria prevista no subitem (i)do item 9.1  acima somente pode ser realizada no mínimo 15 (quinze) dias após estarem disponíveis aos Cotistas as  demonstrações contábeis relativas ao exercício encerrado, contendo parecer do Auditor Independente,  observado que tal prazo pode ser dispensado na Assembleia Geral de Cotistas em que comparecerem  todos os Cotistas. As demonstrações contábeis cujo relatório do Auditor Independente não contiver  opinião modificada podem ser consideradas automaticamente aprovadas caso a Assembleia Geral de  Cotistas não seja instalada em virtude de não comparecimento dos Cotistas.</a:t>
            </a:r>
          </a:p>
          <a:p>
            <a:r>
              <a:t>CNPJ 41970012000126 · Auditor independente e DFs · Regulamento · ID 1302706 · 2026-08-27 · versão 1 · p. 88 · 14.4 · https://fnet.bmfbovespa.com.br/fnet/publico/visualizarDocumento?id=1302706</a:t>
            </a:r>
          </a:p>
          <a:p>
            <a:r>
              <a:t>CNPJ 41970012000126 · Auditor independente e DFs · Excerto da fonte:</a:t>
            </a:r>
          </a:p>
          <a:p>
            <a:r>
              <a:t>14.4. As demonstrações financeiras anuais do Fundo serão auditadas pelo Auditor Independente.</a:t>
            </a:r>
          </a:p>
          <a:p>
            <a:r>
              <a:t>CNPJ 41970012000126 · Auditor independente e DFs · Regulamento · ID 1302706 · 2026-08-27 · versão 1 · p. 24 · https://fnet.bmfbovespa.com.br/fnet/publico/visualizarDocumento?id=1302706</a:t>
            </a:r>
          </a:p>
          <a:p>
            <a:r>
              <a:t>CNPJ 41970012000126 · Auditor independente e DFs · Excerto da fonte:</a:t>
            </a:r>
          </a:p>
          <a:p>
            <a:r>
              <a:t>"Índice de Inadimplência" significa a razão, expressa em percentual e calculada em  relação a cada Data Base, obtida por meio da divisão: (i)  da soma do Valor Principal dos Direitos Creditórios  Adquiridos que, durante o mês calendário de referência,  no que diz respeito à Data Base 1, e os 30 (trinta) dias  que antecedem a Data Base 2, no caso de cálculo com  base na Data Base 2, tenham se tornado Créditos  Inadimplidos; pela (ii) soma do Valor Principal dos  Direitos Creditórios Adquiridos Adimplentes na Data  Base do mês calendário anterior ao mês calendário de  referência.</a:t>
            </a:r>
          </a:p>
          <a:p>
            <a:r>
              <a:t> O Índice de Inadimplência será calculado e  disponibilizado pelo Gestor por meio dos Relatórios de  Acompanhamento.</a:t>
            </a:r>
          </a:p>
          <a:p>
            <a:r>
              <a:t> "Índice de Juros Excedente" significa, em cada Data Base: (i) a média ponderada da  taxa de juros dos Direitos Creditórios vinculada ao Valor  Agregado dos Direitos Creditórios considerando Valor  Principal e respectivas taxas de juros anuais, as quais  serão calculadas em formato linear com base na taxa de  juros mensal dos Direitos Creditórios, sendo certo que,  no caso dos Direitos Creditórios CCB DE, as respectivas  taxas de juros serão calculadas levando em consideração  50% (cinquenta por cento) da taxa de juros mensal  contratada nas respectivas CCBs, menos; (ii) o somatório</a:t>
            </a:r>
          </a:p>
          <a:p>
            <a:r>
              <a:t> (a) da Taxa de Administração; (b) da Taxa de Gestão; e</a:t>
            </a:r>
          </a:p>
          <a:p>
            <a:r>
              <a:t> (c) da remuneração do Agente de Cobrança e da  remuneração do Agente de Recebimento, bem como os  demais custos de cobrança dos Direitos Creditórios para  Cobrança Extraordinária, todos custos deste item (ii)  considerados como percentuais anuais do Valor  Agregado dos Direitos Creditórios, observado que o  custo total previsto neste item (ii) será, para fins deste  cálculo, no mínimo igual a 1,00% (um por cento) ao ano  sobre o Valor Agregado dos Direitos Creditórios; (iii) a  Taxa DI; e (iv) a média ponderada entre os spreads que  compõem os Benchmark Sênior e Benchmark Mezanino  (conforme previstos em cada Apêndice).</a:t>
            </a:r>
          </a:p>
          <a:p>
            <a:r>
              <a:t> O Índice de Juros Excedente será calculado e  disponibilizado pelo Gestor por meio dos Relatórios de  Acompanhamento.</a:t>
            </a:r>
          </a:p>
          <a:p>
            <a:r>
              <a:t> "Índice Financeiro Amortização significa, em relação à MeLi, o seguinte índice  Acelerada" financeiro:</a:t>
            </a:r>
          </a:p>
          <a:p>
            <a:r>
              <a:t> Liquidez Consolidada: verificação de que a Liquidez  Consolidada é maior que US$400.000.000,00  (quatrocentos milhões de dólares norte-americanos).</a:t>
            </a:r>
          </a:p>
          <a:p>
            <a:r>
              <a:t> O Índice Financeiro Amortização Acelerada será  calculado pelo Mercado Pago, com base nas  demonstrações financeiras auditadas ou informações  financeiras trimestrais da MeLi, e encaminhado ao  btgpactual.com</a:t>
            </a:r>
          </a:p>
          <a:p>
            <a:r>
              <a:t>CNPJ 41970012000126 · Auditor independente e DFs · Condição: Documentos atuais selecionados no inventário por categoria/escopo; a data documental isolada não comprova vigência jurídica.</a:t>
            </a:r>
          </a:p>
          <a:p>
            <a:r>
              <a:t>CNPJ 41970012000126 · Auditor independente e DFs · Versão e prevalência: Documentos atuais selecionados no inventário por categoria/escopo; a data documental isolada não comprova vigência jurídica.</a:t>
            </a:r>
          </a:p>
          <a:p>
            <a:r>
              <a:t>CNPJ 41970012000126 · Auditor independente e DFs · Resumo do histórico: {"count": 8, "dates": ["2025-07-23", "2025-12-19", "2025-12-31"], "document_count": 3, "sources": [{"document_id": "1151156", "title": "Demonstrações Financeiras", "reference_date": "2025-12-31", "version": "1", "page": 1, "url": "https://fnet.bmfbovespa.com.br/fnet/publico/visualizarDocumento?id=1151156", "sha256": "04099e318871fbf25478d1ed88b19c4c6c6af84d9811507e8df48f7d824c6ec8"}, {"document_id": "1077333", "title": "AGE", "reference_date": "2025-12-19", "version": "1", "page": 107, "clause": "14.4", "url": "https://fnet.bmfbovespa.com.br/fnet/publico/visualizarDocumento?id=1077333", "sha256": "a9a25c5f8a0c493373a2157221109466cbc86e5f44f623997bba18ca14892751"}, {"document_id": "952882", "title": "AGO", "reference_date": "2025-07-23", "version": "1", "page": 1, "url": "https://fnet.bmfbovespa.com.br/fnet/publico/visualizarDocumento?id=952882", "sha256": "10ce66c94e4aa51a4a162c7432c06ea340c313777dc495bf040d99ffc70ec9fd"}], "reference": {"path": "history/41970012000126.json", "criterion_id": "audit", "total_count": 8, "preview_count": 3, "full_text_deferred": true, "sha256": "229578c6b833b0633051fe7d357f4fcc74589dcf37d7750032517e03ec89ee60"}}</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PLGN Marketplace · vínculo CNPJ 41970012000126 · Subordinação e cobertura</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Vínculo: PLGN Marketplace · CNPJ 55563624000109 → CNPJ 41970012000126 · Regulamento · ID 1192614 · 30/04/2026 · versão Regulamento30/04/2026 · p. 11 · AnexoI4.1</a:t>
            </a:r>
          </a:p>
          <a:p>
            <a:r>
              <a:t>Condição do vínculo: {"cnpj": "41970012000126", "name": "Mercado Crédito II Brasil FIDC", "relationship": "named_investee", "exposure": "mezzanine", "position_status": "mandate_identified_position_not_quantified", "risk_note": "Mandato e classe exatos; comparar regras eIMEdo investido na competência doFIC, sem dupla contagem dePL."}</a:t>
            </a:r>
          </a:p>
          <a:p>
            <a:r>
              <a:t>CNPJ 41970012000126 · Matriz de Perdas e Advance Rate · Regulamento · ID 1302706 · 27/08/2026 · versão 1 · p. 4–5 · Definição Advance Rate Ponderado · https://fnet.bmfbovespa.com.br/fnet/publico/visualizarDocumento?id=1302706</a:t>
            </a:r>
          </a:p>
          <a:p>
            <a:r>
              <a:t>CNPJ 41970012000126 · Matriz de Perdas e Advance Rate · Excerto da fonte:</a:t>
            </a:r>
          </a:p>
          <a:p>
            <a:r>
              <a:t>"Advance Rate Ponderado" significa, em qualquer Data Base, o resultado obtido a partir da seguinte fórmula: Advance Rate Ponderado = o menor entre (i) 75,00%; e (ii) 100,00% – [(PP x MS) – (ESL x PMP)] onde: PP = Perda Ponderada MS = múltiplo de stress equivalente a 3,00 ESL = Excesso de spread líquido, equivalente a Taxa Interna de Retorno dos Direitos Creditórios Adquiridos Adimplentes, subtraído: (i) o somatório (a) da Taxa de Administração (a qual inclui a remuneração do Agente de Recebimento), (b) da Taxa de Gestão, e (c) da remuneração do Agente de Cobrança e os demais custos de cobrança dos Direitos Creditórios para Cobrança Extraordinária, todos custos deste item (i) considerados como percentuais anuais do Valor Agregado dos Direitos Creditórios, observado que o custo total previsto neste item (i) será, para fins deste cálculo, no mínimo igual a 1,00% (um por cento) ao ano sobre o Valor Agregado dos Direitos Creditórios; e (ii) a Taxa Estressada das Cotas Seniores Taxa Interna de Retorno = em qualquer Data Base, a taxa interna de retorno mensal, multiplicada por 12 (doze), dos Direitos Creditórios Adquiridos Adimplentes, calculado da seguinte forma: Em que: N = número total de meses remanescentes n = mês de referência Cn = fluxo de caixa dos Direitos Creditórios Adquiridos Adimplentes no mês "n", considerando para esse cálculo a premissa de perda conforme Matriz de Perda, separados por tipo de produto e por prazo original, e aplicação do múltiplo MS r = taxa interna de retorno mensal, sendo certo que, no caso dos Direitos Creditórios que sejam Direitos Creditórios CCB DE, para r será apurado com base em juros mensais equivalentes a 50% (cinquenta por cento) da taxa de juros mensal contratada nas respectivas CCBs Taxa Estressada das Cotas Seniores = em qualquer Data Base, a soma de (i) 5,00% (cinco por cento); e (ii) o Benchmark Sênior. PMP = em qualquer Data Base, o prazo médio ponderado, em anos, dos Direitos Creditórios Adquiridos Adimplentes, separados por tipo de produto e por prazo original, calculado na forma de planilha acordada entre as partes. O Advance Rate Ponderado será calculado pelo Gestor com base no Valor Agregado dos Direitos Creditórios em cada Data Base.</a:t>
            </a:r>
          </a:p>
          <a:p>
            <a:r>
              <a:t>CNPJ 41970012000126 · Matriz de Perdas e Advance Rate · Regulamento · ID 1302706 · 27/08/2026 · versão 1 · p. 30 · Definição Perda Ponderada · https://fnet.bmfbovespa.com.br/fnet/publico/visualizarDocumento?id=1302706</a:t>
            </a:r>
          </a:p>
          <a:p>
            <a:r>
              <a:t>CNPJ 41970012000126 · Matriz de Perdas e Advance Rate · Excerto da fonte:</a:t>
            </a:r>
          </a:p>
          <a:p>
            <a:r>
              <a:t>"Perda Ponderada" significa, em qualquer Data Base, a perda esperada ponderada calculada da carteira de Direitos Creditórios Adquiridos Adimplentes, originados e/ou processados no âmbito da Plataforma Mercado Pago, calculada com base em cada tipo de Direito Creditório, prazo de vencimento e classificação de risco (rating), ponderado pelo Valor Principal de cada Direito Creditório e na Matriz de Perdas elaborada na forma do COMPLEMENTO XV a este Regulamento. A Matriz de Perdas será atualizada semestralmente, a partir da Data da Primeira de Integralização, pelos Cotistas Seniores, com base em informações fornecidas pelo Mercado Pago, sempre que solicitado pelo Administrador e/ou pelo Gestor, dentro do prazo de 30 (trinta) dias a partir da data de solicitação pelo Administrador e/ou pelo Gestor. "Pessoas" significa uma pessoa física, sociedade por ações, sociedade limitada ou qualquer outro tipo de companhia admitida no Brasil, sociedade, associação ou qualquer outro tipo de entidade ou organização, incluindo organizações governamentais ou subdivisões políticas, incluindo referência aos seus representantes, procuradores e sucessores. "PIX" significa a modalidade de pagamento instantâneo regulamentada pelo Banco Central, nos termos da Resolução do Banco Central nº 1, de 12 de agosto de 2020, conforme alterada, e demais legislações aplicáveis. "Plataforma Mercado Libre" significa a plataforma eletrônica de comercialização da MeLi. "Plataforma Mercado Pago" significa a plataforma eletrônica de pagamentos do Mercado Pago. "Polígono" significa a POLÍGONO CAPITAL LTDA., sociedade de responsabilidade limitada, com sede no município de São Paulo, estado de São Paulo, na Avenida Brigadeiro Faria Lima, n° 2601, 12º andar, Jardim Paulistano, CEP 01.452-000, inscrita no CNPJ/MF sob nº 43.241.789/0001-85, autorizada à prestação do serviço de administração de carteiras de valores mobiliários pela CVM, de acordo com o Ato Declaratório CVM nº 19.368, expedido em 07 de dezembro de 2021. "Política de Cobrança de significa a política de cobrança de Direitos Creditórios Direitos Creditórios para para Cobrança Extraordinária a ser observada pelo Cobrança Extraordinária" Agente de Cobrança e pelo Custodiante, ou por terceiro por ele contratado, prevista no COMPLEMENTO IV deste Regulamento. "Política de Investimento" significa a política de investimento do Fundo prevista no Capítulo 5 deste Regulamento.</a:t>
            </a:r>
          </a:p>
          <a:p>
            <a:r>
              <a:t>CNPJ 41970012000126 · Matriz de Perdas e Advance Rate · Condição: PDD/DC agregado do IME não substitui parâmetros da Matriz de Perdas.</a:t>
            </a:r>
          </a:p>
          <a:p>
            <a:r>
              <a:t>CNPJ 41970012000126 · Matriz de Perdas e Advance Rate · Motivo: Não localizada uma cláusula material para este critério nos textos identificados e processados. A ausência de resultado não comprova inexistência da regra.</a:t>
            </a:r>
          </a:p>
          <a:p>
            <a:r>
              <a:t>CNPJ 41970012000126 · Matriz de Perdas e Advance Rate · Versão e prevalência: Leitura específica das cláusulas indicadas; condições e conflitos preservados. Seleção documental atual não comprova vigência jurídica por data isolada.</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PLGN Marketplace · vínculo CNPJ 41970012000126 · Declarações trimestrais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Vínculo: PLGN Marketplace · CNPJ 55563624000109 → CNPJ 41970012000126 · Regulamento · ID 1192614 · 30/04/2026 · versão Regulamento30/04/2026 · p. 11 · AnexoI4.1</a:t>
            </a:r>
          </a:p>
          <a:p>
            <a:r>
              <a:t>Condição do vínculo: {"cnpj": "41970012000126", "name": "Mercado Crédito II Brasil FIDC", "relationship": "named_investee", "exposure": "mezzanine", "position_status": "mandate_identified_position_not_quantified", "risk_note": "Mandato e classe exatos; comparar regras eIMEdo investido na competência doFIC, sem dupla contagem dePL."}</a:t>
            </a:r>
          </a:p>
          <a:p>
            <a:r>
              <a:t>CNPJ 41970012000126 · Resultado da verificação de lastro · Informe Trimestral · ID 1289633 · 06/2026 · versão 1 · p. 1 · Sobre os resultados da última verificação do lastro dos direitos creditórios do fundo. · https://fnet.bmfbovespa.com.br/fnet/publico/visualizarDocumento?id=1289633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41970012000126 · Registro dos direitos creditórios · Informe Trimestral · ID 1289633 · 06/2026 · versão 1 · p. 1 · Sobre o registro dos direitos creditórios em entidade registradora. · https://fnet.bmfbovespa.com.br/fnet/publico/visualizarDocumento?id=1289633 · Sobre o registro dos direitos creditórios em entidade registradora. Todos os créditos estão liberados para registro.</a:t>
            </a:r>
          </a:p>
          <a:p>
            <a:r>
              <a:t>CNPJ 41970012000126 · Processos judiciais · Informe Trimestral · ID 1289633 · 06/2026 · versão 1 · p. 1 · Sobre a existência de processos judiciais envolvendo o FIDC. · https://fnet.bmfbovespa.com.br/fnet/publico/visualizarDocumento?id=1289633 · Sobre a existência de processos judiciais envolvendo o FIDC. O administrador do fundo não tem conhecimento de ações judiciais envolvendo o fundo no trimestre em referência.</a:t>
            </a:r>
          </a:p>
          <a:p>
            <a:r>
              <a:t>CNPJ 41970012000126 · Aquisição de precatórios · Informe Trimestral · ID 1289633 · 06/2026 · versão 1 · p. 1 · Sobre a aquisição de precatórios federais em fundos destinados ao público em geral. · https://fnet.bmfbovespa.com.br/fnet/publico/visualizarDocumento?id=1289633 · Sobre a aquisição de precatórios federais em fundos destinados ao público em geral. O fundo não se destina ao público em geral. As informações a seguir são destinadas à apresentação do relatório trimestral do gestor.</a:t>
            </a:r>
          </a:p>
          <a:p>
            <a:r>
              <a:t>CNPJ 41970012000126 · Critérios de concessão dos originadores · Informe Trimestral · ID 1289633 · 06/2026 · versão 1 · p. 2–3 · Critériosparaaconcessãodecréditoadotadospelosoriginadores,casotaiscritériosnãotenhamsido descritos no regulamento ou em outros demonstrativos trimestrais; Resposta:Nãoocorreramalteraçõesrelevantesnoscritériosparaaconcessãodecrédito. · https://fnet.bmfbovespa.com.br/fnet/publico/visualizarDocumento?id=1289633 · Critériosparaaconcessãodecréditoadotadospelosoriginadores,casotaiscritériosnãotenhamsido descritos no regulamento ou em outros demonstrativos trimestrais; Resposta:Nãoocorreramalteraçõesrelevantesnoscritériosparaaconcessãodecrédito. Eventuaisalteraçõesnoscritériosparaaconcessãodecréditoadotadosportaisoriginadores,casooscritériosadotadosjátenh amsidodescritosnoregulamentoouemoutrosdemonstrativostrimestrais;Resposta:Nãoocorreramalteraçõesrelevant esnoscritériosparaaconcessãodecrédito. Eventuaisalteraçõesnasgarantiasexistentesparaoconjuntodedireitoscreditórios; Resposta:Nãoocorreramalteraçõesrelevantesnas garantiasexistentesparao conjuntodeativos. Formacomoseoperouacessãodosdireitoscreditórios,incluindo: a)descriçãodecontratosrelevantesfirmadoscomessepropósito,sehouver;eb)indicaçãodocaráter definitivo, ou não, da cessão de direitos creditórios; Resposta:Ascessõesdedireitoscreditóriosocorreramtodasdeformadefinitiva,deacordocomodisposto no regulamento e/ou nos respectivos contratos. Nomedofundo:MERCADOC2SNRFIDC CNPJ: 41970012000126 Impactodoseventosdepré- pagamentonovalordopatrimôniolíquidoenarentabilidadedacarteira;Resposta:Existemeventosdepré- pagamentoemfundospulverizadosnocursonormaldosnegócios que não geram, por si só, impacto significativo no patrimônio líquido e na rentabilidade da carteira.</a:t>
            </a:r>
          </a:p>
          <a:p>
            <a:r>
              <a:t>CNPJ 41970012000126 · Alienação de direitos creditórios · Informe Trimestral · ID 1289633 · 06/2026 · versão 1 · p. 3 · Condiçõesdealienação,aqualquertítulo,dedireitoscreditórios,incluindo: · https://fnet.bmfbovespa.com.br/fnet/publico/visualizarDocumento?id=1289633 · Condiçõesdealienação,aqualquertítulo,dedireitoscreditórios,incluindo: Momentodaalienação(antesoudepoisdovencimento); Resposta: Não ocorreram alienação de ativos da carteira do Fundo, exceto no curso normal dosnegócios. Motivaçãodaalienação; Resposta: Não ocorreram alienação de ativos da carteira do Fundo, exceto no curso normal dosnegócios. Impactonovalordopatrimôniolíquidoenarentabilidadedacarteiradeativosdeumapossível descontinuidade, a qualquer título, da originação ou cessão de direitos creditórios; Resposta:Nãohá. Informaçõessobrefatosocorridosqueafetaramaregularidadedosfluxosfinanceirosoriundosdos direitoscreditórios,incluindo,masnãoselimitando,aquaisquereventosqueacarretemnaliquidação ou amortização antecipada de direitos creditórios. Resposta: Não ocorreram eventos relevantes que acarretaram a regularidade dos fluxos financeirosoriundos dos direitos creditórios.</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PLGN Marketplace · vínculo CNPJ 41970012000126 · Declarações trimestrais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Vínculo: PLGN Marketplace · CNPJ 55563624000109 → CNPJ 41970012000126 · Regulamento · ID 1192614 · 30/04/2026 · versão Regulamento30/04/2026 · p. 11 · AnexoI4.1</a:t>
            </a:r>
          </a:p>
          <a:p>
            <a:r>
              <a:t>Condição do vínculo: {"cnpj": "41970012000126", "name": "Mercado Crédito II Brasil FIDC", "relationship": "named_investee", "exposure": "mezzanine", "position_status": "mandate_identified_position_not_quantified", "risk_note": "Mandato e classe exatos; comparar regras eIMEdo investido na competência doFIC, sem dupla contagem dePL."}</a:t>
            </a:r>
          </a:p>
          <a:p>
            <a:r>
              <a:t>CNPJ 41970012000126 · Resultado da verificação de lastro · Informe Trimestral · ID 1289633 · 06/2026 · versão 1 · p. 1 · Sobre os resultados da última verificação do lastro dos direitos creditórios do fundo. · https://fnet.bmfbovespa.com.br/fnet/publico/visualizarDocumento?id=1289633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41970012000126 · Registro dos direitos creditórios · Informe Trimestral · ID 1289633 · 06/2026 · versão 1 · p. 1 · Sobre o registro dos direitos creditórios em entidade registradora. · https://fnet.bmfbovespa.com.br/fnet/publico/visualizarDocumento?id=1289633 · Sobre o registro dos direitos creditórios em entidade registradora. Todos os créditos estão liberados para registro.</a:t>
            </a:r>
          </a:p>
          <a:p>
            <a:r>
              <a:t>CNPJ 41970012000126 · Processos judiciais · Informe Trimestral · ID 1289633 · 06/2026 · versão 1 · p. 1 · Sobre a existência de processos judiciais envolvendo o FIDC. · https://fnet.bmfbovespa.com.br/fnet/publico/visualizarDocumento?id=1289633 · Sobre a existência de processos judiciais envolvendo o FIDC. O administrador do fundo não tem conhecimento de ações judiciais envolvendo o fundo no trimestre em referência.</a:t>
            </a:r>
          </a:p>
          <a:p>
            <a:r>
              <a:t>CNPJ 41970012000126 · Aquisição de precatórios · Informe Trimestral · ID 1289633 · 06/2026 · versão 1 · p. 1 · Sobre a aquisição de precatórios federais em fundos destinados ao público em geral. · https://fnet.bmfbovespa.com.br/fnet/publico/visualizarDocumento?id=1289633 · Sobre a aquisição de precatórios federais em fundos destinados ao público em geral. O fundo não se destina ao público em geral. As informações a seguir são destinadas à apresentação do relatório trimestral do gestor.</a:t>
            </a:r>
          </a:p>
          <a:p>
            <a:r>
              <a:t>CNPJ 41970012000126 · Critérios de concessão dos originadores · Informe Trimestral · ID 1289633 · 06/2026 · versão 1 · p. 2–3 · Critériosparaaconcessãodecréditoadotadospelosoriginadores,casotaiscritériosnãotenhamsido descritos no regulamento ou em outros demonstrativos trimestrais; Resposta:Nãoocorreramalteraçõesrelevantesnoscritériosparaaconcessãodecrédito. · https://fnet.bmfbovespa.com.br/fnet/publico/visualizarDocumento?id=1289633 · Critériosparaaconcessãodecréditoadotadospelosoriginadores,casotaiscritériosnãotenhamsido descritos no regulamento ou em outros demonstrativos trimestrais; Resposta:Nãoocorreramalteraçõesrelevantesnoscritériosparaaconcessãodecrédito. Eventuaisalteraçõesnoscritériosparaaconcessãodecréditoadotadosportaisoriginadores,casooscritériosadotadosjátenh amsidodescritosnoregulamentoouemoutrosdemonstrativostrimestrais;Resposta:Nãoocorreramalteraçõesrelevant esnoscritériosparaaconcessãodecrédito. Eventuaisalteraçõesnasgarantiasexistentesparaoconjuntodedireitoscreditórios; Resposta:Nãoocorreramalteraçõesrelevantesnas garantiasexistentesparao conjuntodeativos. Formacomoseoperouacessãodosdireitoscreditórios,incluindo: a)descriçãodecontratosrelevantesfirmadoscomessepropósito,sehouver;eb)indicaçãodocaráter definitivo, ou não, da cessão de direitos creditórios; Resposta:Ascessõesdedireitoscreditóriosocorreramtodasdeformadefinitiva,deacordocomodisposto no regulamento e/ou nos respectivos contratos. Nomedofundo:MERCADOC2SNRFIDC CNPJ: 41970012000126 Impactodoseventosdepré- pagamentonovalordopatrimôniolíquidoenarentabilidadedacarteira;Resposta:Existemeventosdepré- pagamentoemfundospulverizadosnocursonormaldosnegócios que não geram, por si só, impacto significativo no patrimônio líquido e na rentabilidade da carteira.</a:t>
            </a:r>
          </a:p>
          <a:p>
            <a:r>
              <a:t>CNPJ 41970012000126 · Alienação de direitos creditórios · Informe Trimestral · ID 1289633 · 06/2026 · versão 1 · p. 3 · Condiçõesdealienação,aqualquertítulo,dedireitoscreditórios,incluindo: · https://fnet.bmfbovespa.com.br/fnet/publico/visualizarDocumento?id=1289633 · Condiçõesdealienação,aqualquertítulo,dedireitoscreditórios,incluindo: Momentodaalienação(antesoudepoisdovencimento); Resposta: Não ocorreram alienação de ativos da carteira do Fundo, exceto no curso normal dosnegócios. Motivaçãodaalienação; Resposta: Não ocorreram alienação de ativos da carteira do Fundo, exceto no curso normal dosnegócios. Impactonovalordopatrimôniolíquidoenarentabilidadedacarteiradeativosdeumapossível descontinuidade, a qualquer título, da originação ou cessão de direitos creditórios; Resposta:Nãohá. Informaçõessobrefatosocorridosqueafetaramaregularidadedosfluxosfinanceirosoriundosdos direitoscreditórios,incluindo,masnãoselimitando,aquaisquereventosqueacarretemnaliquidação ou amortização antecipada de direitos creditórios. Resposta: Não ocorreram eventos relevantes que acarretaram a regularidade dos fluxos financeirosoriundos dos direitos creditórios.</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PLGN Marketplace · vínculo CNPJ 41970012000126 · Declarações trimestrais</a:t>
            </a:r>
          </a:p>
          <a:p>
            <a:r>
              <a:t>Leitura documental: 2026-10-13T03:57:58-03:00</a:t>
            </a:r>
          </a:p>
          <a:p>
            <a:r>
              <a:t>Documento: Documentos · BTG Pactual (Fundos Consolidados 1T26)</a:t>
            </a:r>
          </a:p>
          <a:p>
            <a:r>
              <a:t>CONSIGNADO DELTA RECEIVABLES I FUNDO DE INVESTIMENTO EM DIREITOS CREDITÓRIOS · CONSIGNADO DELTA RECEIVABLES I FUNDO DE INVESTIMENTO EM DIREITOS CREDITÓRIOS · CNPJ 54871427000194</a:t>
            </a:r>
          </a:p>
          <a:p>
            <a:r>
              <a:t>MT CONSIGNADO PRIVADO I FUNDO DE INVESTIMENTO EM DIREITOS CREDITÓRIOS · MT CONSIGNADO PRIVADO I FUNDO DE INVESTIMENTO EM DIREITOS CREDITÓRIOS · CNPJ 60010416000112</a:t>
            </a:r>
          </a:p>
          <a:p>
            <a:r>
              <a:t>BTG PACTUAL CERES CONFINA FUNDO DE INVESTIMENTO NAS CADEIAS PRODUTIVAS DO AGRONEGÓCIO RESP LIMITADA · BTG PACTUAL CERES CONFINA FUNDO DE INVESTIMENTO NAS CADEIAS PRODUTIVAS DO AGRONEGÓCIO RESP LIMITADA · CNPJ 62696791000193</a:t>
            </a:r>
          </a:p>
          <a:p>
            <a:r>
              <a:t>PLGN MARKETPLACE FUNDO DE INVESTIMENTO EM COTAS DE FUNDO DE INVESTIMENTO EM DIREITOS CREDITÓRIOS · PLGN MARKETPLACE FUNDO DE INVESTIMENTO EM COTAS DE FUNDO DE INVESTIMENTO EM DIREITOS CREDITÓRIOS · CNPJ 55563624000109</a:t>
            </a:r>
          </a:p>
          <a:p>
            <a:r>
              <a:t>V CDT 1 FUNDO DE INVESTIMENTO EM DIREITOS CREDITÓRIOS RESPONSABILIDADE LIMITADA · V CDT 1 FUNDO DE INVESTIMENTO EM DIREITOS CREDITÓRIOS RESPONSABILIDADE LIMITADA · CNPJ 62552447000120</a:t>
            </a:r>
          </a:p>
          <a:p>
            <a:r>
              <a:t>CLASSE CONSIGNADO PRIVADO DO MT GLOBAL FUNDO DE INVESTIMENTO EM DIREITOS CREDITÓRIOS RESP LIMITADA · CLASSE CONSIGNADO PRIVADO DO MT GLOBAL FUNDO DE INVESTIMENTO EM DIREITOS CREDITÓRIOS RESP LIMITADA · CNPJ 63953620000165</a:t>
            </a:r>
          </a:p>
          <a:p>
            <a:r>
              <a:t>Fontes:</a:t>
            </a:r>
          </a:p>
          <a:p>
            <a:r>
              <a:t>Vínculo: PLGN Marketplace · CNPJ 55563624000109 → CNPJ 41970012000126 · Regulamento · ID 1192614 · 30/04/2026 · versão Regulamento30/04/2026 · p. 11 · AnexoI4.1</a:t>
            </a:r>
          </a:p>
          <a:p>
            <a:r>
              <a:t>Condição do vínculo: {"cnpj": "41970012000126", "name": "Mercado Crédito II Brasil FIDC", "relationship": "named_investee", "exposure": "mezzanine", "position_status": "mandate_identified_position_not_quantified", "risk_note": "Mandato e classe exatos; comparar regras eIMEdo investido na competência doFIC, sem dupla contagem dePL."}</a:t>
            </a:r>
          </a:p>
          <a:p>
            <a:r>
              <a:t>CNPJ 41970012000126 · Resultado da verificação de lastro · Informe Trimestral · ID 1289633 · 06/2026 · versão 1 · p. 1 · Sobre os resultados da última verificação do lastro dos direitos creditórios do fundo. · https://fnet.bmfbovespa.com.br/fnet/publico/visualizarDocumento?id=1289633 · Sobre os resultados da última verificação do lastro dos direitos creditórios do fundo. De acordo com o relatório de lastro disponibilizado pelo Custodiante, não foram identificadas inconsistências significativas na verificação da documentação dos direitos creditórios do fundo. Todos os procedimentos realizados foram concluídos satisfatoriamente em atendimento à legislação em vigor.</a:t>
            </a:r>
          </a:p>
          <a:p>
            <a:r>
              <a:t>CNPJ 41970012000126 · Registro dos direitos creditórios · Informe Trimestral · ID 1289633 · 06/2026 · versão 1 · p. 1 · Sobre o registro dos direitos creditórios em entidade registradora. · https://fnet.bmfbovespa.com.br/fnet/publico/visualizarDocumento?id=1289633 · Sobre o registro dos direitos creditórios em entidade registradora. Todos os créditos estão liberados para registro.</a:t>
            </a:r>
          </a:p>
          <a:p>
            <a:r>
              <a:t>CNPJ 41970012000126 · Processos judiciais · Informe Trimestral · ID 1289633 · 06/2026 · versão 1 · p. 1 · Sobre a existência de processos judiciais envolvendo o FIDC. · https://fnet.bmfbovespa.com.br/fnet/publico/visualizarDocumento?id=1289633 · Sobre a existência de processos judiciais envolvendo o FIDC. O administrador do fundo não tem conhecimento de ações judiciais envolvendo o fundo no trimestre em referência.</a:t>
            </a:r>
          </a:p>
          <a:p>
            <a:r>
              <a:t>CNPJ 41970012000126 · Aquisição de precatórios · Informe Trimestral · ID 1289633 · 06/2026 · versão 1 · p. 1 · Sobre a aquisição de precatórios federais em fundos destinados ao público em geral. · https://fnet.bmfbovespa.com.br/fnet/publico/visualizarDocumento?id=1289633 · Sobre a aquisição de precatórios federais em fundos destinados ao público em geral. O fundo não se destina ao público em geral. As informações a seguir são destinadas à apresentação do relatório trimestral do gestor.</a:t>
            </a:r>
          </a:p>
          <a:p>
            <a:r>
              <a:t>CNPJ 41970012000126 · Critérios de concessão dos originadores · Informe Trimestral · ID 1289633 · 06/2026 · versão 1 · p. 2–3 · Critériosparaaconcessãodecréditoadotadospelosoriginadores,casotaiscritériosnãotenhamsido descritos no regulamento ou em outros demonstrativos trimestrais; Resposta:Nãoocorreramalteraçõesrelevantesnoscritériosparaaconcessãodecrédito. · https://fnet.bmfbovespa.com.br/fnet/publico/visualizarDocumento?id=1289633 · Critériosparaaconcessãodecréditoadotadospelosoriginadores,casotaiscritériosnãotenhamsido descritos no regulamento ou em outros demonstrativos trimestrais; Resposta:Nãoocorreramalteraçõesrelevantesnoscritériosparaaconcessãodecrédito. Eventuaisalteraçõesnoscritériosparaaconcessãodecréditoadotadosportaisoriginadores,casooscritériosadotadosjátenh amsidodescritosnoregulamentoouemoutrosdemonstrativostrimestrais;Resposta:Nãoocorreramalteraçõesrelevant esnoscritériosparaaconcessãodecrédito. Eventuaisalteraçõesnasgarantiasexistentesparaoconjuntodedireitoscreditórios; Resposta:Nãoocorreramalteraçõesrelevantesnas garantiasexistentesparao conjuntodeativos. Formacomoseoperouacessãodosdireitoscreditórios,incluindo: a)descriçãodecontratosrelevantesfirmadoscomessepropósito,sehouver;eb)indicaçãodocaráter definitivo, ou não, da cessão de direitos creditórios; Resposta:Ascessõesdedireitoscreditóriosocorreramtodasdeformadefinitiva,deacordocomodisposto no regulamento e/ou nos respectivos contratos. Nomedofundo:MERCADOC2SNRFIDC CNPJ: 41970012000126 Impactodoseventosdepré- pagamentonovalordopatrimôniolíquidoenarentabilidadedacarteira;Resposta:Existemeventosdepré- pagamentoemfundospulverizadosnocursonormaldosnegócios que não geram, por si só, impacto significativo no patrimônio líquido e na rentabilidade da carteira.</a:t>
            </a:r>
          </a:p>
          <a:p>
            <a:r>
              <a:t>CNPJ 41970012000126 · Alienação de direitos creditórios · Informe Trimestral · ID 1289633 · 06/2026 · versão 1 · p. 3 · Condiçõesdealienação,aqualquertítulo,dedireitoscreditórios,incluindo: · https://fnet.bmfbovespa.com.br/fnet/publico/visualizarDocumento?id=1289633 · Condiçõesdealienação,aqualquertítulo,dedireitoscreditórios,incluindo: Momentodaalienação(antesoudepoisdovencimento); Resposta: Não ocorreram alienação de ativos da carteira do Fundo, exceto no curso normal dosnegócios. Motivaçãodaalienação; Resposta: Não ocorreram alienação de ativos da carteira do Fundo, exceto no curso normal dosnegócios. Impactonovalordopatrimôniolíquidoenarentabilidadedacarteiradeativosdeumapossível descontinuidade, a qualquer título, da originação ou cessão de direitos creditórios; Resposta:Nãohá. Informaçõessobrefatosocorridosqueafetaramaregularidadedosfluxosfinanceirosoriundosdos direitoscreditórios,incluindo,masnãoselimitando,aquaisquereventosqueacarretemnaliquidação ou amortização antecipada de direitos creditórios. Resposta: Não ocorreram eventos relevantes que acarretaram a regularidade dos fluxos financeirosoriundos dos direitos creditórios.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Recebíveis e aquisição</a:t>
            </a:r>
          </a:p>
        </p:txBody>
      </p:sp>
      <p:graphicFrame>
        <p:nvGraphicFramePr>
          <p:cNvPr id="3" name="Table 2"/>
          <p:cNvGraphicFramePr>
            <a:graphicFrameLocks noGrp="1"/>
          </p:cNvGraphicFramePr>
          <p:nvPr/>
        </p:nvGraphicFramePr>
        <p:xfrm>
          <a:off x="438912" y="932688"/>
          <a:ext cx="11313868" cy="3378707"/>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2907791">
                <a:tc>
                  <a:txBody>
                    <a:bodyPr wrap="square">
                      <a:noAutofit/>
                    </a:bodyPr>
                    <a:lstStyle/>
                    <a:p>
                      <a:pPr algn="l">
                        <a:lnSpc>
                          <a:spcPct val="100000"/>
                        </a:lnSpc>
                        <a:spcBef>
                          <a:spcPts val="0"/>
                        </a:spcBef>
                        <a:spcAft>
                          <a:spcPts val="0"/>
                        </a:spcAft>
                      </a:pPr>
                      <a:r>
                        <a:rPr sz="1300" b="1">
                          <a:solidFill>
                            <a:srgbClr val="1F1F1F"/>
                          </a:solidFill>
                          <a:latin typeface="Calibri"/>
                        </a:rPr>
                        <a:t>Natureza dos recebíveis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Certificados de Cédulas</a:t>
                      </a:r>
                    </a:p>
                    <a:p>
                      <a:pPr algn="l">
                        <a:lnSpc>
                          <a:spcPct val="100000"/>
                        </a:lnSpc>
                        <a:spcBef>
                          <a:spcPts val="0"/>
                        </a:spcBef>
                        <a:spcAft>
                          <a:spcPts val="0"/>
                        </a:spcAft>
                      </a:pPr>
                      <a:r>
                        <a:rPr sz="1300" b="0">
                          <a:solidFill>
                            <a:srgbClr val="1F1F1F"/>
                          </a:solidFill>
                          <a:latin typeface="Calibri"/>
                        </a:rPr>
                        <a:t>de Crédito Bancário</a:t>
                      </a:r>
                    </a:p>
                    <a:p>
                      <a:pPr algn="l">
                        <a:lnSpc>
                          <a:spcPct val="100000"/>
                        </a:lnSpc>
                        <a:spcBef>
                          <a:spcPts val="0"/>
                        </a:spcBef>
                        <a:spcAft>
                          <a:spcPts val="0"/>
                        </a:spcAft>
                      </a:pPr>
                      <a:r>
                        <a:rPr sz="1300" b="0">
                          <a:solidFill>
                            <a:srgbClr val="1F1F1F"/>
                          </a:solidFill>
                          <a:latin typeface="Calibri"/>
                        </a:rPr>
                        <a:t>(CCCBs), que agrupam</a:t>
                      </a:r>
                    </a:p>
                    <a:p>
                      <a:pPr algn="l">
                        <a:lnSpc>
                          <a:spcPct val="100000"/>
                        </a:lnSpc>
                        <a:spcBef>
                          <a:spcPts val="0"/>
                        </a:spcBef>
                        <a:spcAft>
                          <a:spcPts val="0"/>
                        </a:spcAft>
                      </a:pPr>
                      <a:r>
                        <a:rPr sz="1300" b="0">
                          <a:solidFill>
                            <a:srgbClr val="1F1F1F"/>
                          </a:solidFill>
                          <a:latin typeface="Calibri"/>
                        </a:rPr>
                        <a:t>CCBs de empréstimos</a:t>
                      </a:r>
                    </a:p>
                    <a:p>
                      <a:pPr algn="l">
                        <a:lnSpc>
                          <a:spcPct val="100000"/>
                        </a:lnSpc>
                        <a:spcBef>
                          <a:spcPts val="0"/>
                        </a:spcBef>
                        <a:spcAft>
                          <a:spcPts val="0"/>
                        </a:spcAft>
                      </a:pPr>
                      <a:r>
                        <a:rPr sz="1300" b="0">
                          <a:solidFill>
                            <a:srgbClr val="1F1F1F"/>
                          </a:solidFill>
                          <a:latin typeface="Calibri"/>
                        </a:rPr>
                        <a:t>pessoais eletrônicos. O</a:t>
                      </a:r>
                    </a:p>
                    <a:p>
                      <a:pPr algn="l">
                        <a:lnSpc>
                          <a:spcPct val="100000"/>
                        </a:lnSpc>
                        <a:spcBef>
                          <a:spcPts val="0"/>
                        </a:spcBef>
                        <a:spcAft>
                          <a:spcPts val="0"/>
                        </a:spcAft>
                      </a:pPr>
                      <a:r>
                        <a:rPr sz="1300" b="0">
                          <a:solidFill>
                            <a:srgbClr val="1F1F1F"/>
                          </a:solidFill>
                          <a:latin typeface="Calibri"/>
                        </a:rPr>
                        <a:t>endossante deve manter</a:t>
                      </a:r>
                    </a:p>
                    <a:p>
                      <a:pPr algn="l">
                        <a:lnSpc>
                          <a:spcPct val="100000"/>
                        </a:lnSpc>
                        <a:spcBef>
                          <a:spcPts val="0"/>
                        </a:spcBef>
                        <a:spcAft>
                          <a:spcPts val="0"/>
                        </a:spcAft>
                      </a:pPr>
                      <a:r>
                        <a:rPr sz="1300" b="0">
                          <a:solidFill>
                            <a:srgbClr val="1F1F1F"/>
                          </a:solidFill>
                          <a:latin typeface="Calibri"/>
                        </a:rPr>
                        <a:t>convênio ativo com o</a:t>
                      </a:r>
                    </a:p>
                    <a:p>
                      <a:pPr algn="l">
                        <a:lnSpc>
                          <a:spcPct val="100000"/>
                        </a:lnSpc>
                        <a:spcBef>
                          <a:spcPts val="0"/>
                        </a:spcBef>
                        <a:spcAft>
                          <a:spcPts val="0"/>
                        </a:spcAft>
                      </a:pPr>
                      <a:r>
                        <a:rPr sz="1300" b="0">
                          <a:solidFill>
                            <a:srgbClr val="1F1F1F"/>
                          </a:solidFill>
                          <a:latin typeface="Calibri"/>
                        </a:rPr>
                        <a:t>órgão consignante para</a:t>
                      </a:r>
                    </a:p>
                    <a:p>
                      <a:pPr algn="l">
                        <a:lnSpc>
                          <a:spcPct val="100000"/>
                        </a:lnSpc>
                        <a:spcBef>
                          <a:spcPts val="0"/>
                        </a:spcBef>
                        <a:spcAft>
                          <a:spcPts val="0"/>
                        </a:spcAft>
                      </a:pPr>
                      <a:r>
                        <a:rPr sz="1300" b="0">
                          <a:solidFill>
                            <a:srgbClr val="1F1F1F"/>
                          </a:solidFill>
                          <a:latin typeface="Calibri"/>
                        </a:rPr>
                        <a:t>averbação e desconto em</a:t>
                      </a:r>
                    </a:p>
                    <a:p>
                      <a:pPr algn="l">
                        <a:lnSpc>
                          <a:spcPct val="100000"/>
                        </a:lnSpc>
                        <a:spcBef>
                          <a:spcPts val="0"/>
                        </a:spcBef>
                        <a:spcAft>
                          <a:spcPts val="0"/>
                        </a:spcAft>
                      </a:pPr>
                      <a:r>
                        <a:rPr sz="1300" b="0">
                          <a:solidFill>
                            <a:srgbClr val="1F1F1F"/>
                          </a:solidFill>
                          <a:latin typeface="Calibri"/>
                        </a:rPr>
                        <a:t>folha ou benefício.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CCB eletrônica de</a:t>
                      </a:r>
                    </a:p>
                    <a:p>
                      <a:pPr algn="l">
                        <a:lnSpc>
                          <a:spcPct val="100000"/>
                        </a:lnSpc>
                        <a:spcBef>
                          <a:spcPts val="0"/>
                        </a:spcBef>
                        <a:spcAft>
                          <a:spcPts val="0"/>
                        </a:spcAft>
                      </a:pPr>
                      <a:r>
                        <a:rPr sz="1300" b="0">
                          <a:solidFill>
                            <a:srgbClr val="1F1F1F"/>
                          </a:solidFill>
                          <a:latin typeface="Calibri"/>
                        </a:rPr>
                        <a:t>consignado privado</a:t>
                      </a:r>
                    </a:p>
                    <a:p>
                      <a:pPr algn="l">
                        <a:lnSpc>
                          <a:spcPct val="100000"/>
                        </a:lnSpc>
                        <a:spcBef>
                          <a:spcPts val="0"/>
                        </a:spcBef>
                        <a:spcAft>
                          <a:spcPts val="0"/>
                        </a:spcAft>
                      </a:pPr>
                      <a:r>
                        <a:rPr sz="1300" b="0">
                          <a:solidFill>
                            <a:srgbClr val="1F1F1F"/>
                          </a:solidFill>
                          <a:latin typeface="Calibri"/>
                        </a:rPr>
                        <a:t>concedido pelo</a:t>
                      </a:r>
                    </a:p>
                    <a:p>
                      <a:pPr algn="l">
                        <a:lnSpc>
                          <a:spcPct val="100000"/>
                        </a:lnSpc>
                        <a:spcBef>
                          <a:spcPts val="0"/>
                        </a:spcBef>
                        <a:spcAft>
                          <a:spcPts val="0"/>
                        </a:spcAft>
                      </a:pPr>
                      <a:r>
                        <a:rPr sz="1300" b="0">
                          <a:solidFill>
                            <a:srgbClr val="1F1F1F"/>
                          </a:solidFill>
                          <a:latin typeface="Calibri"/>
                        </a:rPr>
                        <a:t>endossante via</a:t>
                      </a:r>
                    </a:p>
                    <a:p>
                      <a:pPr algn="l">
                        <a:lnSpc>
                          <a:spcPct val="100000"/>
                        </a:lnSpc>
                        <a:spcBef>
                          <a:spcPts val="0"/>
                        </a:spcBef>
                        <a:spcAft>
                          <a:spcPts val="0"/>
                        </a:spcAft>
                      </a:pPr>
                      <a:r>
                        <a:rPr sz="1300" b="0">
                          <a:solidFill>
                            <a:srgbClr val="1F1F1F"/>
                          </a:solidFill>
                          <a:latin typeface="Calibri"/>
                        </a:rPr>
                        <a:t>Plataforma MT e</a:t>
                      </a:r>
                    </a:p>
                    <a:p>
                      <a:pPr algn="l">
                        <a:lnSpc>
                          <a:spcPct val="100000"/>
                        </a:lnSpc>
                        <a:spcBef>
                          <a:spcPts val="0"/>
                        </a:spcBef>
                        <a:spcAft>
                          <a:spcPts val="0"/>
                        </a:spcAft>
                      </a:pPr>
                      <a:r>
                        <a:rPr sz="1300" b="0">
                          <a:solidFill>
                            <a:srgbClr val="1F1F1F"/>
                          </a:solidFill>
                          <a:latin typeface="Calibri"/>
                        </a:rPr>
                        <a:t>averbada na Dataprev;</a:t>
                      </a:r>
                    </a:p>
                    <a:p>
                      <a:pPr algn="l">
                        <a:lnSpc>
                          <a:spcPct val="100000"/>
                        </a:lnSpc>
                        <a:spcBef>
                          <a:spcPts val="0"/>
                        </a:spcBef>
                        <a:spcAft>
                          <a:spcPts val="0"/>
                        </a:spcAft>
                      </a:pPr>
                      <a:r>
                        <a:rPr sz="1300" b="0">
                          <a:solidFill>
                            <a:srgbClr val="1F1F1F"/>
                          </a:solidFill>
                          <a:latin typeface="Calibri"/>
                        </a:rPr>
                        <a:t>também TVM elegíveis.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Títulos e direitos</a:t>
                      </a:r>
                    </a:p>
                    <a:p>
                      <a:pPr algn="l">
                        <a:lnSpc>
                          <a:spcPct val="100000"/>
                        </a:lnSpc>
                        <a:spcBef>
                          <a:spcPts val="0"/>
                        </a:spcBef>
                        <a:spcAft>
                          <a:spcPts val="0"/>
                        </a:spcAft>
                      </a:pPr>
                      <a:r>
                        <a:rPr sz="1300" b="0">
                          <a:solidFill>
                            <a:srgbClr val="1F1F1F"/>
                          </a:solidFill>
                          <a:latin typeface="Calibri"/>
                        </a:rPr>
                        <a:t>creditórios do</a:t>
                      </a:r>
                    </a:p>
                    <a:p>
                      <a:pPr algn="l">
                        <a:lnSpc>
                          <a:spcPct val="100000"/>
                        </a:lnSpc>
                        <a:spcBef>
                          <a:spcPts val="0"/>
                        </a:spcBef>
                        <a:spcAft>
                          <a:spcPts val="0"/>
                        </a:spcAft>
                      </a:pPr>
                      <a:r>
                        <a:rPr sz="1300" b="0">
                          <a:solidFill>
                            <a:srgbClr val="1F1F1F"/>
                          </a:solidFill>
                          <a:latin typeface="Calibri"/>
                        </a:rPr>
                        <a:t>agronegócio, CRA e</a:t>
                      </a:r>
                    </a:p>
                    <a:p>
                      <a:pPr algn="l">
                        <a:lnSpc>
                          <a:spcPct val="100000"/>
                        </a:lnSpc>
                        <a:spcBef>
                          <a:spcPts val="0"/>
                        </a:spcBef>
                        <a:spcAft>
                          <a:spcPts val="0"/>
                        </a:spcAft>
                      </a:pPr>
                      <a:r>
                        <a:rPr sz="1300" b="0">
                          <a:solidFill>
                            <a:srgbClr val="1F1F1F"/>
                          </a:solidFill>
                          <a:latin typeface="Calibri"/>
                        </a:rPr>
                        <a:t>securitizações</a:t>
                      </a:r>
                    </a:p>
                    <a:p>
                      <a:pPr algn="l">
                        <a:lnSpc>
                          <a:spcPct val="100000"/>
                        </a:lnSpc>
                        <a:spcBef>
                          <a:spcPts val="0"/>
                        </a:spcBef>
                        <a:spcAft>
                          <a:spcPts val="0"/>
                        </a:spcAft>
                      </a:pPr>
                      <a:r>
                        <a:rPr sz="1300" b="0">
                          <a:solidFill>
                            <a:srgbClr val="1F1F1F"/>
                          </a:solidFill>
                          <a:latin typeface="Calibri"/>
                        </a:rPr>
                        <a:t>lastreadas em ativos</a:t>
                      </a:r>
                    </a:p>
                    <a:p>
                      <a:pPr algn="l">
                        <a:lnSpc>
                          <a:spcPct val="100000"/>
                        </a:lnSpc>
                        <a:spcBef>
                          <a:spcPts val="0"/>
                        </a:spcBef>
                        <a:spcAft>
                          <a:spcPts val="0"/>
                        </a:spcAft>
                      </a:pPr>
                      <a:r>
                        <a:rPr sz="1300" b="0">
                          <a:solidFill>
                            <a:srgbClr val="1F1F1F"/>
                          </a:solidFill>
                          <a:latin typeface="Calibri"/>
                        </a:rPr>
                        <a:t>financeiros do</a:t>
                      </a:r>
                    </a:p>
                    <a:p>
                      <a:pPr algn="l">
                        <a:lnSpc>
                          <a:spcPct val="100000"/>
                        </a:lnSpc>
                        <a:spcBef>
                          <a:spcPts val="0"/>
                        </a:spcBef>
                        <a:spcAft>
                          <a:spcPts val="0"/>
                        </a:spcAft>
                      </a:pPr>
                      <a:r>
                        <a:rPr sz="1300" b="0">
                          <a:solidFill>
                            <a:srgbClr val="1F1F1F"/>
                          </a:solidFill>
                          <a:latin typeface="Calibri"/>
                        </a:rPr>
                        <a:t>agronegócio. Admite</a:t>
                      </a:r>
                    </a:p>
                    <a:p>
                      <a:pPr algn="l">
                        <a:lnSpc>
                          <a:spcPct val="100000"/>
                        </a:lnSpc>
                        <a:spcBef>
                          <a:spcPts val="0"/>
                        </a:spcBef>
                        <a:spcAft>
                          <a:spcPts val="0"/>
                        </a:spcAft>
                      </a:pPr>
                      <a:r>
                        <a:rPr sz="1300" b="0">
                          <a:solidFill>
                            <a:srgbClr val="1F1F1F"/>
                          </a:solidFill>
                          <a:latin typeface="Calibri"/>
                        </a:rPr>
                        <a:t>também imóveis rurais,</a:t>
                      </a:r>
                    </a:p>
                    <a:p>
                      <a:pPr algn="l">
                        <a:lnSpc>
                          <a:spcPct val="100000"/>
                        </a:lnSpc>
                        <a:spcBef>
                          <a:spcPts val="0"/>
                        </a:spcBef>
                        <a:spcAft>
                          <a:spcPts val="0"/>
                        </a:spcAft>
                      </a:pPr>
                      <a:r>
                        <a:rPr sz="1300" b="0">
                          <a:solidFill>
                            <a:srgbClr val="1F1F1F"/>
                          </a:solidFill>
                          <a:latin typeface="Calibri"/>
                        </a:rPr>
                        <a:t>participações</a:t>
                      </a:r>
                    </a:p>
                    <a:p>
                      <a:pPr algn="l">
                        <a:lnSpc>
                          <a:spcPct val="100000"/>
                        </a:lnSpc>
                        <a:spcBef>
                          <a:spcPts val="0"/>
                        </a:spcBef>
                        <a:spcAft>
                          <a:spcPts val="0"/>
                        </a:spcAft>
                      </a:pPr>
                      <a:r>
                        <a:rPr sz="1300" b="0">
                          <a:solidFill>
                            <a:srgbClr val="1F1F1F"/>
                          </a:solidFill>
                          <a:latin typeface="Calibri"/>
                        </a:rPr>
                        <a:t>societárias e outros</a:t>
                      </a:r>
                    </a:p>
                    <a:p>
                      <a:pPr algn="l">
                        <a:lnSpc>
                          <a:spcPct val="100000"/>
                        </a:lnSpc>
                        <a:spcBef>
                          <a:spcPts val="0"/>
                        </a:spcBef>
                        <a:spcAft>
                          <a:spcPts val="0"/>
                        </a:spcAft>
                      </a:pPr>
                      <a:r>
                        <a:rPr sz="1300" b="0">
                          <a:solidFill>
                            <a:srgbClr val="1F1F1F"/>
                          </a:solidFill>
                          <a:latin typeface="Calibri"/>
                        </a:rPr>
                        <a:t>ativos ligados às</a:t>
                      </a:r>
                    </a:p>
                    <a:p>
                      <a:pPr algn="l">
                        <a:lnSpc>
                          <a:spcPct val="100000"/>
                        </a:lnSpc>
                        <a:spcBef>
                          <a:spcPts val="0"/>
                        </a:spcBef>
                        <a:spcAft>
                          <a:spcPts val="0"/>
                        </a:spcAft>
                      </a:pPr>
                      <a:r>
                        <a:rPr sz="1300" b="0">
                          <a:solidFill>
                            <a:srgbClr val="1F1F1F"/>
                          </a:solidFill>
                          <a:latin typeface="Calibri"/>
                        </a:rPr>
                        <a:t>cadeias produtivas do</a:t>
                      </a:r>
                    </a:p>
                    <a:p>
                      <a:pPr algn="l">
                        <a:lnSpc>
                          <a:spcPct val="100000"/>
                        </a:lnSpc>
                        <a:spcBef>
                          <a:spcPts val="0"/>
                        </a:spcBef>
                        <a:spcAft>
                          <a:spcPts val="0"/>
                        </a:spcAft>
                      </a:pPr>
                      <a:r>
                        <a:rPr sz="1300" b="0">
                          <a:solidFill>
                            <a:srgbClr val="1F1F1F"/>
                          </a:solidFill>
                          <a:latin typeface="Calibri"/>
                        </a:rPr>
                        <a:t>agronegócio; liquidez</a:t>
                      </a:r>
                    </a:p>
                    <a:p>
                      <a:pPr algn="l">
                        <a:lnSpc>
                          <a:spcPct val="100000"/>
                        </a:lnSpc>
                        <a:spcBef>
                          <a:spcPts val="0"/>
                        </a:spcBef>
                        <a:spcAft>
                          <a:spcPts val="0"/>
                        </a:spcAft>
                      </a:pPr>
                      <a:r>
                        <a:rPr sz="1300" b="0">
                          <a:solidFill>
                            <a:srgbClr val="1F1F1F"/>
                          </a:solidFill>
                          <a:latin typeface="Calibri"/>
                        </a:rPr>
                        <a:t>em fundos/títulos de</a:t>
                      </a:r>
                    </a:p>
                    <a:p>
                      <a:pPr algn="l">
                        <a:lnSpc>
                          <a:spcPct val="100000"/>
                        </a:lnSpc>
                        <a:spcBef>
                          <a:spcPts val="0"/>
                        </a:spcBef>
                        <a:spcAft>
                          <a:spcPts val="0"/>
                        </a:spcAft>
                      </a:pPr>
                      <a:r>
                        <a:rPr sz="1300" b="0">
                          <a:solidFill>
                            <a:srgbClr val="1F1F1F"/>
                          </a:solidFill>
                          <a:latin typeface="Calibri"/>
                        </a:rPr>
                        <a:t>renda fixa.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Exposição indireta por</a:t>
                      </a:r>
                    </a:p>
                    <a:p>
                      <a:pPr algn="l">
                        <a:lnSpc>
                          <a:spcPct val="100000"/>
                        </a:lnSpc>
                        <a:spcBef>
                          <a:spcPts val="0"/>
                        </a:spcBef>
                        <a:spcAft>
                          <a:spcPts val="0"/>
                        </a:spcAft>
                      </a:pPr>
                      <a:r>
                        <a:rPr sz="1300" b="0">
                          <a:solidFill>
                            <a:srgbClr val="1F1F1F"/>
                          </a:solidFill>
                          <a:latin typeface="Calibri"/>
                        </a:rPr>
                        <a:t>cotas mezanino Mercado</a:t>
                      </a:r>
                    </a:p>
                    <a:p>
                      <a:pPr algn="l">
                        <a:lnSpc>
                          <a:spcPct val="100000"/>
                        </a:lnSpc>
                        <a:spcBef>
                          <a:spcPts val="0"/>
                        </a:spcBef>
                        <a:spcAft>
                          <a:spcPts val="0"/>
                        </a:spcAft>
                      </a:pPr>
                      <a:r>
                        <a:rPr sz="1300" b="0">
                          <a:solidFill>
                            <a:srgbClr val="1F1F1F"/>
                          </a:solidFill>
                          <a:latin typeface="Calibri"/>
                        </a:rPr>
                        <a:t>Crédito II; PLGN não</a:t>
                      </a:r>
                    </a:p>
                    <a:p>
                      <a:pPr algn="l">
                        <a:lnSpc>
                          <a:spcPct val="100000"/>
                        </a:lnSpc>
                        <a:spcBef>
                          <a:spcPts val="0"/>
                        </a:spcBef>
                        <a:spcAft>
                          <a:spcPts val="0"/>
                        </a:spcAft>
                      </a:pPr>
                      <a:r>
                        <a:rPr sz="1300" b="0">
                          <a:solidFill>
                            <a:srgbClr val="1F1F1F"/>
                          </a:solidFill>
                          <a:latin typeface="Calibri"/>
                        </a:rPr>
                        <a:t>concede crédito nem</a:t>
                      </a:r>
                    </a:p>
                    <a:p>
                      <a:pPr algn="l">
                        <a:lnSpc>
                          <a:spcPct val="100000"/>
                        </a:lnSpc>
                        <a:spcBef>
                          <a:spcPts val="0"/>
                        </a:spcBef>
                        <a:spcAft>
                          <a:spcPts val="0"/>
                        </a:spcAft>
                      </a:pPr>
                      <a:r>
                        <a:rPr sz="1300" b="0">
                          <a:solidFill>
                            <a:srgbClr val="1F1F1F"/>
                          </a:solidFill>
                          <a:latin typeface="Calibri"/>
                        </a:rPr>
                        <a:t>adquire direitos</a:t>
                      </a:r>
                    </a:p>
                    <a:p>
                      <a:pPr algn="l">
                        <a:lnSpc>
                          <a:spcPct val="100000"/>
                        </a:lnSpc>
                        <a:spcBef>
                          <a:spcPts val="0"/>
                        </a:spcBef>
                        <a:spcAft>
                          <a:spcPts val="0"/>
                        </a:spcAft>
                      </a:pPr>
                      <a:r>
                        <a:rPr sz="1300" b="0">
                          <a:solidFill>
                            <a:srgbClr val="1F1F1F"/>
                          </a:solidFill>
                          <a:latin typeface="Calibri"/>
                        </a:rPr>
                        <a:t>creditórios</a:t>
                      </a:r>
                    </a:p>
                    <a:p>
                      <a:pPr algn="l">
                        <a:lnSpc>
                          <a:spcPct val="100000"/>
                        </a:lnSpc>
                        <a:spcBef>
                          <a:spcPts val="0"/>
                        </a:spcBef>
                        <a:spcAft>
                          <a:spcPts val="0"/>
                        </a:spcAft>
                      </a:pPr>
                      <a:r>
                        <a:rPr sz="1300" b="0">
                          <a:solidFill>
                            <a:srgbClr val="1F1F1F"/>
                          </a:solidFill>
                          <a:latin typeface="Calibri"/>
                        </a:rPr>
                        <a:t>diretamente.</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1/160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Recebíveis e aquisição</a:t>
            </a:r>
          </a:p>
        </p:txBody>
      </p:sp>
      <p:graphicFrame>
        <p:nvGraphicFramePr>
          <p:cNvPr id="3" name="Table 2"/>
          <p:cNvGraphicFramePr>
            <a:graphicFrameLocks noGrp="1"/>
          </p:cNvGraphicFramePr>
          <p:nvPr/>
        </p:nvGraphicFramePr>
        <p:xfrm>
          <a:off x="438912" y="932688"/>
          <a:ext cx="11313868" cy="5253228"/>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4782312">
                <a:tc>
                  <a:txBody>
                    <a:bodyPr wrap="square">
                      <a:noAutofit/>
                    </a:bodyPr>
                    <a:lstStyle/>
                    <a:p>
                      <a:pPr algn="l">
                        <a:lnSpc>
                          <a:spcPct val="100000"/>
                        </a:lnSpc>
                        <a:spcBef>
                          <a:spcPts val="0"/>
                        </a:spcBef>
                        <a:spcAft>
                          <a:spcPts val="0"/>
                        </a:spcAft>
                      </a:pPr>
                      <a:r>
                        <a:rPr sz="1300" b="1">
                          <a:solidFill>
                            <a:srgbClr val="1F1F1F"/>
                          </a:solidFill>
                          <a:latin typeface="Calibri"/>
                        </a:rPr>
                        <a:t>Originador e endossante</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4.11.2 A Classe poderá</a:t>
                      </a:r>
                    </a:p>
                    <a:p>
                      <a:pPr algn="l">
                        <a:lnSpc>
                          <a:spcPct val="100000"/>
                        </a:lnSpc>
                        <a:spcBef>
                          <a:spcPts val="0"/>
                        </a:spcBef>
                        <a:spcAft>
                          <a:spcPts val="0"/>
                        </a:spcAft>
                      </a:pPr>
                      <a:r>
                        <a:rPr sz="1300" b="0">
                          <a:solidFill>
                            <a:srgbClr val="1F1F1F"/>
                          </a:solidFill>
                          <a:latin typeface="Calibri"/>
                        </a:rPr>
                        <a:t>ter até 100% (cem por</a:t>
                      </a:r>
                    </a:p>
                    <a:p>
                      <a:pPr algn="l">
                        <a:lnSpc>
                          <a:spcPct val="100000"/>
                        </a:lnSpc>
                        <a:spcBef>
                          <a:spcPts val="0"/>
                        </a:spcBef>
                        <a:spcAft>
                          <a:spcPts val="0"/>
                        </a:spcAft>
                      </a:pPr>
                      <a:r>
                        <a:rPr sz="1300" b="0">
                          <a:solidFill>
                            <a:srgbClr val="1F1F1F"/>
                          </a:solidFill>
                          <a:latin typeface="Calibri"/>
                        </a:rPr>
                        <a:t>cento) do Patrimônio</a:t>
                      </a:r>
                    </a:p>
                    <a:p>
                      <a:pPr algn="l">
                        <a:lnSpc>
                          <a:spcPct val="100000"/>
                        </a:lnSpc>
                        <a:spcBef>
                          <a:spcPts val="0"/>
                        </a:spcBef>
                        <a:spcAft>
                          <a:spcPts val="0"/>
                        </a:spcAft>
                      </a:pPr>
                      <a:r>
                        <a:rPr sz="1300" b="0">
                          <a:solidFill>
                            <a:srgbClr val="1F1F1F"/>
                          </a:solidFill>
                          <a:latin typeface="Calibri"/>
                        </a:rPr>
                        <a:t>Líquido representado</a:t>
                      </a:r>
                    </a:p>
                    <a:p>
                      <a:pPr algn="l">
                        <a:lnSpc>
                          <a:spcPct val="100000"/>
                        </a:lnSpc>
                        <a:spcBef>
                          <a:spcPts val="0"/>
                        </a:spcBef>
                        <a:spcAft>
                          <a:spcPts val="0"/>
                        </a:spcAft>
                      </a:pPr>
                      <a:r>
                        <a:rPr sz="1300" b="0">
                          <a:solidFill>
                            <a:srgbClr val="1F1F1F"/>
                          </a:solidFill>
                          <a:latin typeface="Calibri"/>
                        </a:rPr>
                        <a:t>por Direitos</a:t>
                      </a:r>
                    </a:p>
                    <a:p>
                      <a:pPr algn="l">
                        <a:lnSpc>
                          <a:spcPct val="100000"/>
                        </a:lnSpc>
                        <a:spcBef>
                          <a:spcPts val="0"/>
                        </a:spcBef>
                        <a:spcAft>
                          <a:spcPts val="0"/>
                        </a:spcAft>
                      </a:pPr>
                      <a:r>
                        <a:rPr sz="1300" b="0">
                          <a:solidFill>
                            <a:srgbClr val="1F1F1F"/>
                          </a:solidFill>
                          <a:latin typeface="Calibri"/>
                        </a:rPr>
                        <a:t>Creditórios originados</a:t>
                      </a:r>
                    </a:p>
                    <a:p>
                      <a:pPr algn="l">
                        <a:lnSpc>
                          <a:spcPct val="100000"/>
                        </a:lnSpc>
                        <a:spcBef>
                          <a:spcPts val="0"/>
                        </a:spcBef>
                        <a:spcAft>
                          <a:spcPts val="0"/>
                        </a:spcAft>
                      </a:pPr>
                      <a:r>
                        <a:rPr sz="1300" b="0">
                          <a:solidFill>
                            <a:srgbClr val="1F1F1F"/>
                          </a:solidFill>
                          <a:latin typeface="Calibri"/>
                        </a:rPr>
                        <a:t>ou cedidos por um mesmo</a:t>
                      </a:r>
                    </a:p>
                    <a:p>
                      <a:pPr algn="l">
                        <a:lnSpc>
                          <a:spcPct val="100000"/>
                        </a:lnSpc>
                        <a:spcBef>
                          <a:spcPts val="0"/>
                        </a:spcBef>
                        <a:spcAft>
                          <a:spcPts val="0"/>
                        </a:spcAft>
                      </a:pPr>
                      <a:r>
                        <a:rPr sz="1300" b="0">
                          <a:solidFill>
                            <a:srgbClr val="1F1F1F"/>
                          </a:solidFill>
                          <a:latin typeface="Calibri"/>
                        </a:rPr>
                        <a:t>Endossante e/ou</a:t>
                      </a:r>
                    </a:p>
                    <a:p>
                      <a:pPr algn="l">
                        <a:lnSpc>
                          <a:spcPct val="100000"/>
                        </a:lnSpc>
                        <a:spcBef>
                          <a:spcPts val="0"/>
                        </a:spcBef>
                        <a:spcAft>
                          <a:spcPts val="0"/>
                        </a:spcAft>
                      </a:pPr>
                      <a:r>
                        <a:rPr sz="1300" b="0">
                          <a:solidFill>
                            <a:srgbClr val="1F1F1F"/>
                          </a:solidFill>
                          <a:latin typeface="Calibri"/>
                        </a:rPr>
                        <a:t>originados por um mesmo</a:t>
                      </a:r>
                    </a:p>
                    <a:p>
                      <a:pPr algn="l">
                        <a:lnSpc>
                          <a:spcPct val="100000"/>
                        </a:lnSpc>
                        <a:spcBef>
                          <a:spcPts val="0"/>
                        </a:spcBef>
                        <a:spcAft>
                          <a:spcPts val="0"/>
                        </a:spcAft>
                      </a:pPr>
                      <a:r>
                        <a:rPr sz="1300" b="0">
                          <a:solidFill>
                            <a:srgbClr val="1F1F1F"/>
                          </a:solidFill>
                          <a:latin typeface="Calibri"/>
                        </a:rPr>
                        <a:t>Originador.</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4.17 É vedada qualquer</a:t>
                      </a:r>
                    </a:p>
                    <a:p>
                      <a:pPr algn="l">
                        <a:lnSpc>
                          <a:spcPct val="100000"/>
                        </a:lnSpc>
                        <a:spcBef>
                          <a:spcPts val="0"/>
                        </a:spcBef>
                        <a:spcAft>
                          <a:spcPts val="0"/>
                        </a:spcAft>
                      </a:pPr>
                      <a:r>
                        <a:rPr sz="1300" b="0">
                          <a:solidFill>
                            <a:srgbClr val="1F1F1F"/>
                          </a:solidFill>
                          <a:latin typeface="Calibri"/>
                        </a:rPr>
                        <a:t>forma de antecipação de</a:t>
                      </a:r>
                    </a:p>
                    <a:p>
                      <a:pPr algn="l">
                        <a:lnSpc>
                          <a:spcPct val="100000"/>
                        </a:lnSpc>
                        <a:spcBef>
                          <a:spcPts val="0"/>
                        </a:spcBef>
                        <a:spcAft>
                          <a:spcPts val="0"/>
                        </a:spcAft>
                      </a:pPr>
                      <a:r>
                        <a:rPr sz="1300" b="0">
                          <a:solidFill>
                            <a:srgbClr val="1F1F1F"/>
                          </a:solidFill>
                          <a:latin typeface="Calibri"/>
                        </a:rPr>
                        <a:t>recursos aos</a:t>
                      </a:r>
                    </a:p>
                    <a:p>
                      <a:pPr algn="l">
                        <a:lnSpc>
                          <a:spcPct val="100000"/>
                        </a:lnSpc>
                        <a:spcBef>
                          <a:spcPts val="0"/>
                        </a:spcBef>
                        <a:spcAft>
                          <a:spcPts val="0"/>
                        </a:spcAft>
                      </a:pPr>
                      <a:r>
                        <a:rPr sz="1300" b="0">
                          <a:solidFill>
                            <a:srgbClr val="1F1F1F"/>
                          </a:solidFill>
                          <a:latin typeface="Calibri"/>
                        </a:rPr>
                        <a:t>Endossantes para</a:t>
                      </a:r>
                    </a:p>
                    <a:p>
                      <a:pPr algn="l">
                        <a:lnSpc>
                          <a:spcPct val="100000"/>
                        </a:lnSpc>
                        <a:spcBef>
                          <a:spcPts val="0"/>
                        </a:spcBef>
                        <a:spcAft>
                          <a:spcPts val="0"/>
                        </a:spcAft>
                      </a:pPr>
                      <a:r>
                        <a:rPr sz="1300" b="0">
                          <a:solidFill>
                            <a:srgbClr val="1F1F1F"/>
                          </a:solidFill>
                          <a:latin typeface="Calibri"/>
                        </a:rPr>
                        <a:t>posterior reembolso</a:t>
                      </a:r>
                    </a:p>
                    <a:p>
                      <a:pPr algn="l">
                        <a:lnSpc>
                          <a:spcPct val="100000"/>
                        </a:lnSpc>
                        <a:spcBef>
                          <a:spcPts val="0"/>
                        </a:spcBef>
                        <a:spcAft>
                          <a:spcPts val="0"/>
                        </a:spcAft>
                      </a:pPr>
                      <a:r>
                        <a:rPr sz="1300" b="0">
                          <a:solidFill>
                            <a:srgbClr val="1F1F1F"/>
                          </a:solidFill>
                          <a:latin typeface="Calibri"/>
                        </a:rPr>
                        <a:t>pela Classe, seja pelo</a:t>
                      </a:r>
                    </a:p>
                    <a:p>
                      <a:pPr algn="l">
                        <a:lnSpc>
                          <a:spcPct val="100000"/>
                        </a:lnSpc>
                        <a:spcBef>
                          <a:spcPts val="0"/>
                        </a:spcBef>
                        <a:spcAft>
                          <a:spcPts val="0"/>
                        </a:spcAft>
                      </a:pPr>
                      <a:r>
                        <a:rPr sz="1300" b="0">
                          <a:solidFill>
                            <a:srgbClr val="1F1F1F"/>
                          </a:solidFill>
                          <a:latin typeface="Calibri"/>
                        </a:rPr>
                        <a:t>ADMINISTRADOR, GESTOR,</a:t>
                      </a:r>
                    </a:p>
                    <a:p>
                      <a:pPr algn="l">
                        <a:lnSpc>
                          <a:spcPct val="100000"/>
                        </a:lnSpc>
                        <a:spcBef>
                          <a:spcPts val="0"/>
                        </a:spcBef>
                        <a:spcAft>
                          <a:spcPts val="0"/>
                        </a:spcAft>
                      </a:pPr>
                      <a:r>
                        <a:rPr sz="1300" b="0">
                          <a:solidFill>
                            <a:srgbClr val="1F1F1F"/>
                          </a:solidFill>
                          <a:latin typeface="Calibri"/>
                        </a:rPr>
                        <a:t>CUSTODIANTE, consultora</a:t>
                      </a:r>
                    </a:p>
                    <a:p>
                      <a:pPr algn="l">
                        <a:lnSpc>
                          <a:spcPct val="100000"/>
                        </a:lnSpc>
                        <a:spcBef>
                          <a:spcPts val="0"/>
                        </a:spcBef>
                        <a:spcAft>
                          <a:spcPts val="0"/>
                        </a:spcAft>
                      </a:pPr>
                      <a:r>
                        <a:rPr sz="1300" b="0">
                          <a:solidFill>
                            <a:srgbClr val="1F1F1F"/>
                          </a:solidFill>
                          <a:latin typeface="Calibri"/>
                        </a:rPr>
                        <a:t>ou Originadores.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Parati CFI</a:t>
                      </a:r>
                    </a:p>
                    <a:p>
                      <a:pPr algn="l">
                        <a:lnSpc>
                          <a:spcPct val="100000"/>
                        </a:lnSpc>
                        <a:spcBef>
                          <a:spcPts val="0"/>
                        </a:spcBef>
                        <a:spcAft>
                          <a:spcPts val="0"/>
                        </a:spcAft>
                      </a:pPr>
                      <a:r>
                        <a:rPr sz="1300" b="0">
                          <a:solidFill>
                            <a:srgbClr val="1F1F1F"/>
                          </a:solidFill>
                          <a:latin typeface="Calibri"/>
                        </a:rPr>
                        <a:t>(03.311.443/0001-91):</a:t>
                      </a:r>
                    </a:p>
                    <a:p>
                      <a:pPr algn="l">
                        <a:lnSpc>
                          <a:spcPct val="100000"/>
                        </a:lnSpc>
                        <a:spcBef>
                          <a:spcPts val="0"/>
                        </a:spcBef>
                        <a:spcAft>
                          <a:spcPts val="0"/>
                        </a:spcAft>
                      </a:pPr>
                      <a:r>
                        <a:rPr sz="1300" b="0">
                          <a:solidFill>
                            <a:srgbClr val="1F1F1F"/>
                          </a:solidFill>
                          <a:latin typeface="Calibri"/>
                        </a:rPr>
                        <a:t>endossante. Tudo</a:t>
                      </a:r>
                    </a:p>
                    <a:p>
                      <a:pPr algn="l">
                        <a:lnSpc>
                          <a:spcPct val="100000"/>
                        </a:lnSpc>
                        <a:spcBef>
                          <a:spcPts val="0"/>
                        </a:spcBef>
                        <a:spcAft>
                          <a:spcPts val="0"/>
                        </a:spcAft>
                      </a:pPr>
                      <a:r>
                        <a:rPr sz="1300" b="0">
                          <a:solidFill>
                            <a:srgbClr val="1F1F1F"/>
                          </a:solidFill>
                          <a:latin typeface="Calibri"/>
                        </a:rPr>
                        <a:t>Serviços S.A.</a:t>
                      </a:r>
                    </a:p>
                    <a:p>
                      <a:pPr algn="l">
                        <a:lnSpc>
                          <a:spcPct val="100000"/>
                        </a:lnSpc>
                        <a:spcBef>
                          <a:spcPts val="0"/>
                        </a:spcBef>
                        <a:spcAft>
                          <a:spcPts val="0"/>
                        </a:spcAft>
                      </a:pPr>
                      <a:r>
                        <a:rPr sz="1300" b="0">
                          <a:solidFill>
                            <a:srgbClr val="1F1F1F"/>
                          </a:solidFill>
                          <a:latin typeface="Calibri"/>
                        </a:rPr>
                        <a:t>(27.852.506/0001-85):</a:t>
                      </a:r>
                    </a:p>
                    <a:p>
                      <a:pPr algn="l">
                        <a:lnSpc>
                          <a:spcPct val="100000"/>
                        </a:lnSpc>
                        <a:spcBef>
                          <a:spcPts val="0"/>
                        </a:spcBef>
                        <a:spcAft>
                          <a:spcPts val="0"/>
                        </a:spcAft>
                      </a:pPr>
                      <a:r>
                        <a:rPr sz="1300" b="0">
                          <a:solidFill>
                            <a:srgbClr val="1F1F1F"/>
                          </a:solidFill>
                          <a:latin typeface="Calibri"/>
                        </a:rPr>
                        <a:t>retenção/cobrança;</a:t>
                      </a:r>
                    </a:p>
                    <a:p>
                      <a:pPr algn="l">
                        <a:lnSpc>
                          <a:spcPct val="100000"/>
                        </a:lnSpc>
                        <a:spcBef>
                          <a:spcPts val="0"/>
                        </a:spcBef>
                        <a:spcAft>
                          <a:spcPts val="0"/>
                        </a:spcAft>
                      </a:pPr>
                      <a:r>
                        <a:rPr sz="1300" b="0">
                          <a:solidFill>
                            <a:srgbClr val="1F1F1F"/>
                          </a:solidFill>
                          <a:latin typeface="Calibri"/>
                        </a:rPr>
                        <a:t>originação processada</a:t>
                      </a:r>
                    </a:p>
                    <a:p>
                      <a:pPr algn="l">
                        <a:lnSpc>
                          <a:spcPct val="100000"/>
                        </a:lnSpc>
                        <a:spcBef>
                          <a:spcPts val="0"/>
                        </a:spcBef>
                        <a:spcAft>
                          <a:spcPts val="0"/>
                        </a:spcAft>
                      </a:pPr>
                      <a:r>
                        <a:rPr sz="1300" b="0">
                          <a:solidFill>
                            <a:srgbClr val="1F1F1F"/>
                          </a:solidFill>
                          <a:latin typeface="Calibri"/>
                        </a:rPr>
                        <a:t>pela Plataforma MT.</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Cedentes, endossantes e</a:t>
                      </a:r>
                    </a:p>
                    <a:p>
                      <a:pPr algn="l">
                        <a:lnSpc>
                          <a:spcPct val="100000"/>
                        </a:lnSpc>
                        <a:spcBef>
                          <a:spcPts val="0"/>
                        </a:spcBef>
                        <a:spcAft>
                          <a:spcPts val="0"/>
                        </a:spcAft>
                      </a:pPr>
                      <a:r>
                        <a:rPr sz="1300" b="0">
                          <a:solidFill>
                            <a:srgbClr val="1F1F1F"/>
                          </a:solidFill>
                          <a:latin typeface="Calibri"/>
                        </a:rPr>
                        <a:t>devedores podem variar</a:t>
                      </a:r>
                    </a:p>
                    <a:p>
                      <a:pPr algn="l">
                        <a:lnSpc>
                          <a:spcPct val="100000"/>
                        </a:lnSpc>
                        <a:spcBef>
                          <a:spcPts val="0"/>
                        </a:spcBef>
                        <a:spcAft>
                          <a:spcPts val="0"/>
                        </a:spcAft>
                      </a:pPr>
                      <a:r>
                        <a:rPr sz="1300" b="0">
                          <a:solidFill>
                            <a:srgbClr val="1F1F1F"/>
                          </a:solidFill>
                          <a:latin typeface="Calibri"/>
                        </a:rPr>
                        <a:t>por operação. O</a:t>
                      </a:r>
                    </a:p>
                    <a:p>
                      <a:pPr algn="l">
                        <a:lnSpc>
                          <a:spcPct val="100000"/>
                        </a:lnSpc>
                        <a:spcBef>
                          <a:spcPts val="0"/>
                        </a:spcBef>
                        <a:spcAft>
                          <a:spcPts val="0"/>
                        </a:spcAft>
                      </a:pPr>
                      <a:r>
                        <a:rPr sz="1300" b="0">
                          <a:solidFill>
                            <a:srgbClr val="1F1F1F"/>
                          </a:solidFill>
                          <a:latin typeface="Calibri"/>
                        </a:rPr>
                        <a:t>regulamento declara que</a:t>
                      </a:r>
                    </a:p>
                    <a:p>
                      <a:pPr algn="l">
                        <a:lnSpc>
                          <a:spcPct val="100000"/>
                        </a:lnSpc>
                        <a:spcBef>
                          <a:spcPts val="0"/>
                        </a:spcBef>
                        <a:spcAft>
                          <a:spcPts val="0"/>
                        </a:spcAft>
                      </a:pPr>
                      <a:r>
                        <a:rPr sz="1300" b="0">
                          <a:solidFill>
                            <a:srgbClr val="1F1F1F"/>
                          </a:solidFill>
                          <a:latin typeface="Calibri"/>
                        </a:rPr>
                        <a:t>a amplitude dos</a:t>
                      </a:r>
                    </a:p>
                    <a:p>
                      <a:pPr algn="l">
                        <a:lnSpc>
                          <a:spcPct val="100000"/>
                        </a:lnSpc>
                        <a:spcBef>
                          <a:spcPts val="0"/>
                        </a:spcBef>
                        <a:spcAft>
                          <a:spcPts val="0"/>
                        </a:spcAft>
                      </a:pPr>
                      <a:r>
                        <a:rPr sz="1300" b="0">
                          <a:solidFill>
                            <a:srgbClr val="1F1F1F"/>
                          </a:solidFill>
                          <a:latin typeface="Calibri"/>
                        </a:rPr>
                        <a:t>direitos impede</a:t>
                      </a:r>
                    </a:p>
                    <a:p>
                      <a:pPr algn="l">
                        <a:lnSpc>
                          <a:spcPct val="100000"/>
                        </a:lnSpc>
                        <a:spcBef>
                          <a:spcPts val="0"/>
                        </a:spcBef>
                        <a:spcAft>
                          <a:spcPts val="0"/>
                        </a:spcAft>
                      </a:pPr>
                      <a:r>
                        <a:rPr sz="1300" b="0">
                          <a:solidFill>
                            <a:srgbClr val="1F1F1F"/>
                          </a:solidFill>
                          <a:latin typeface="Calibri"/>
                        </a:rPr>
                        <a:t>precisar processos de</a:t>
                      </a:r>
                    </a:p>
                    <a:p>
                      <a:pPr algn="l">
                        <a:lnSpc>
                          <a:spcPct val="100000"/>
                        </a:lnSpc>
                        <a:spcBef>
                          <a:spcPts val="0"/>
                        </a:spcBef>
                        <a:spcAft>
                          <a:spcPts val="0"/>
                        </a:spcAft>
                      </a:pPr>
                      <a:r>
                        <a:rPr sz="1300" b="0">
                          <a:solidFill>
                            <a:srgbClr val="1F1F1F"/>
                          </a:solidFill>
                          <a:latin typeface="Calibri"/>
                        </a:rPr>
                        <a:t>originação/políticas de</a:t>
                      </a:r>
                    </a:p>
                    <a:p>
                      <a:pPr algn="l">
                        <a:lnSpc>
                          <a:spcPct val="100000"/>
                        </a:lnSpc>
                        <a:spcBef>
                          <a:spcPts val="0"/>
                        </a:spcBef>
                        <a:spcAft>
                          <a:spcPts val="0"/>
                        </a:spcAft>
                      </a:pPr>
                      <a:r>
                        <a:rPr sz="1300" b="0">
                          <a:solidFill>
                            <a:srgbClr val="1F1F1F"/>
                          </a:solidFill>
                          <a:latin typeface="Calibri"/>
                        </a:rPr>
                        <a:t>concessão e exige</a:t>
                      </a:r>
                    </a:p>
                    <a:p>
                      <a:pPr algn="l">
                        <a:lnSpc>
                          <a:spcPct val="100000"/>
                        </a:lnSpc>
                        <a:spcBef>
                          <a:spcPts val="0"/>
                        </a:spcBef>
                        <a:spcAft>
                          <a:spcPts val="0"/>
                        </a:spcAft>
                      </a:pPr>
                      <a:r>
                        <a:rPr sz="1300" b="0">
                          <a:solidFill>
                            <a:srgbClr val="1F1F1F"/>
                          </a:solidFill>
                          <a:latin typeface="Calibri"/>
                        </a:rPr>
                        <a:t>análise cadastral e de</a:t>
                      </a:r>
                    </a:p>
                    <a:p>
                      <a:pPr algn="l">
                        <a:lnSpc>
                          <a:spcPct val="100000"/>
                        </a:lnSpc>
                        <a:spcBef>
                          <a:spcPts val="0"/>
                        </a:spcBef>
                        <a:spcAft>
                          <a:spcPts val="0"/>
                        </a:spcAft>
                      </a:pPr>
                      <a:r>
                        <a:rPr sz="1300" b="0">
                          <a:solidFill>
                            <a:srgbClr val="1F1F1F"/>
                          </a:solidFill>
                          <a:latin typeface="Calibri"/>
                        </a:rPr>
                        <a:t>crédito antes da</a:t>
                      </a:r>
                    </a:p>
                    <a:p>
                      <a:pPr algn="l">
                        <a:lnSpc>
                          <a:spcPct val="100000"/>
                        </a:lnSpc>
                        <a:spcBef>
                          <a:spcPts val="0"/>
                        </a:spcBef>
                        <a:spcAft>
                          <a:spcPts val="0"/>
                        </a:spcAft>
                      </a:pPr>
                      <a:r>
                        <a:rPr sz="1300" b="0">
                          <a:solidFill>
                            <a:srgbClr val="1F1F1F"/>
                          </a:solidFill>
                          <a:latin typeface="Calibri"/>
                        </a:rPr>
                        <a:t>aquisição.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Os devedores podem</a:t>
                      </a:r>
                    </a:p>
                    <a:p>
                      <a:pPr algn="l">
                        <a:lnSpc>
                          <a:spcPct val="100000"/>
                        </a:lnSpc>
                        <a:spcBef>
                          <a:spcPts val="0"/>
                        </a:spcBef>
                        <a:spcAft>
                          <a:spcPts val="0"/>
                        </a:spcAft>
                      </a:pPr>
                      <a:r>
                        <a:rPr sz="1300" b="0">
                          <a:solidFill>
                            <a:srgbClr val="1F1F1F"/>
                          </a:solidFill>
                          <a:latin typeface="Calibri"/>
                        </a:rPr>
                        <a:t>questionar</a:t>
                      </a:r>
                    </a:p>
                    <a:p>
                      <a:pPr algn="l">
                        <a:lnSpc>
                          <a:spcPct val="100000"/>
                        </a:lnSpc>
                        <a:spcBef>
                          <a:spcPts val="0"/>
                        </a:spcBef>
                        <a:spcAft>
                          <a:spcPts val="0"/>
                        </a:spcAft>
                      </a:pPr>
                      <a:r>
                        <a:rPr sz="1300" b="0">
                          <a:solidFill>
                            <a:srgbClr val="1F1F1F"/>
                          </a:solidFill>
                          <a:latin typeface="Calibri"/>
                        </a:rPr>
                        <a:t>judicialmente (1) a</a:t>
                      </a:r>
                    </a:p>
                    <a:p>
                      <a:pPr algn="l">
                        <a:lnSpc>
                          <a:spcPct val="100000"/>
                        </a:lnSpc>
                        <a:spcBef>
                          <a:spcPts val="0"/>
                        </a:spcBef>
                        <a:spcAft>
                          <a:spcPts val="0"/>
                        </a:spcAft>
                      </a:pPr>
                      <a:r>
                        <a:rPr sz="1300" b="0">
                          <a:solidFill>
                            <a:srgbClr val="1F1F1F"/>
                          </a:solidFill>
                          <a:latin typeface="Calibri"/>
                        </a:rPr>
                        <a:t>validade dos direitos</a:t>
                      </a:r>
                    </a:p>
                    <a:p>
                      <a:pPr algn="l">
                        <a:lnSpc>
                          <a:spcPct val="100000"/>
                        </a:lnSpc>
                        <a:spcBef>
                          <a:spcPts val="0"/>
                        </a:spcBef>
                        <a:spcAft>
                          <a:spcPts val="0"/>
                        </a:spcAft>
                      </a:pPr>
                      <a:r>
                        <a:rPr sz="1300" b="0">
                          <a:solidFill>
                            <a:srgbClr val="1F1F1F"/>
                          </a:solidFill>
                          <a:latin typeface="Calibri"/>
                        </a:rPr>
                        <a:t>creditórios, inclusive</a:t>
                      </a:r>
                    </a:p>
                    <a:p>
                      <a:pPr algn="l">
                        <a:lnSpc>
                          <a:spcPct val="100000"/>
                        </a:lnSpc>
                        <a:spcBef>
                          <a:spcPts val="0"/>
                        </a:spcBef>
                        <a:spcAft>
                          <a:spcPts val="0"/>
                        </a:spcAft>
                      </a:pPr>
                      <a:r>
                        <a:rPr sz="1300" b="0">
                          <a:solidFill>
                            <a:srgbClr val="1F1F1F"/>
                          </a:solidFill>
                          <a:latin typeface="Calibri"/>
                        </a:rPr>
                        <a:t>em razão da legalidade</a:t>
                      </a:r>
                    </a:p>
                    <a:p>
                      <a:pPr algn="l">
                        <a:lnSpc>
                          <a:spcPct val="100000"/>
                        </a:lnSpc>
                        <a:spcBef>
                          <a:spcPts val="0"/>
                        </a:spcBef>
                        <a:spcAft>
                          <a:spcPts val="0"/>
                        </a:spcAft>
                      </a:pPr>
                      <a:r>
                        <a:rPr sz="1300" b="0">
                          <a:solidFill>
                            <a:srgbClr val="1F1F1F"/>
                          </a:solidFill>
                          <a:latin typeface="Calibri"/>
                        </a:rPr>
                        <a:t>dos limites de crédito</a:t>
                      </a:r>
                    </a:p>
                    <a:p>
                      <a:pPr algn="l">
                        <a:lnSpc>
                          <a:spcPct val="100000"/>
                        </a:lnSpc>
                        <a:spcBef>
                          <a:spcPts val="0"/>
                        </a:spcBef>
                        <a:spcAft>
                          <a:spcPts val="0"/>
                        </a:spcAft>
                      </a:pPr>
                      <a:r>
                        <a:rPr sz="1300" b="0">
                          <a:solidFill>
                            <a:srgbClr val="1F1F1F"/>
                          </a:solidFill>
                          <a:latin typeface="Calibri"/>
                        </a:rPr>
                        <a:t>concedidos pelo</a:t>
                      </a:r>
                    </a:p>
                    <a:p>
                      <a:pPr algn="l">
                        <a:lnSpc>
                          <a:spcPct val="100000"/>
                        </a:lnSpc>
                        <a:spcBef>
                          <a:spcPts val="0"/>
                        </a:spcBef>
                        <a:spcAft>
                          <a:spcPts val="0"/>
                        </a:spcAft>
                      </a:pPr>
                      <a:r>
                        <a:rPr sz="1300" b="0">
                          <a:solidFill>
                            <a:srgbClr val="1F1F1F"/>
                          </a:solidFill>
                          <a:latin typeface="Calibri"/>
                        </a:rPr>
                        <a:t>originador ou cedente e</a:t>
                      </a:r>
                    </a:p>
                    <a:p>
                      <a:pPr algn="l">
                        <a:lnSpc>
                          <a:spcPct val="100000"/>
                        </a:lnSpc>
                        <a:spcBef>
                          <a:spcPts val="0"/>
                        </a:spcBef>
                        <a:spcAft>
                          <a:spcPts val="0"/>
                        </a:spcAft>
                      </a:pPr>
                      <a:r>
                        <a:rPr sz="1300" b="0">
                          <a:solidFill>
                            <a:srgbClr val="1F1F1F"/>
                          </a:solidFill>
                          <a:latin typeface="Calibri"/>
                        </a:rPr>
                        <a:t>das taxas de juros</a:t>
                      </a:r>
                    </a:p>
                    <a:p>
                      <a:pPr algn="l">
                        <a:lnSpc>
                          <a:spcPct val="100000"/>
                        </a:lnSpc>
                        <a:spcBef>
                          <a:spcPts val="0"/>
                        </a:spcBef>
                        <a:spcAft>
                          <a:spcPts val="0"/>
                        </a:spcAft>
                      </a:pPr>
                      <a:r>
                        <a:rPr sz="1300" b="0">
                          <a:solidFill>
                            <a:srgbClr val="1F1F1F"/>
                          </a:solidFill>
                          <a:latin typeface="Calibri"/>
                        </a:rPr>
                        <a:t>praticadas, antes e/ou</a:t>
                      </a:r>
                    </a:p>
                    <a:p>
                      <a:pPr algn="l">
                        <a:lnSpc>
                          <a:spcPct val="100000"/>
                        </a:lnSpc>
                        <a:spcBef>
                          <a:spcPts val="0"/>
                        </a:spcBef>
                        <a:spcAft>
                          <a:spcPts val="0"/>
                        </a:spcAft>
                      </a:pPr>
                      <a:r>
                        <a:rPr sz="1300" b="0">
                          <a:solidFill>
                            <a:srgbClr val="1F1F1F"/>
                          </a:solidFill>
                          <a:latin typeface="Calibri"/>
                        </a:rPr>
                        <a:t>após a sua</a:t>
                      </a:r>
                    </a:p>
                    <a:p>
                      <a:pPr algn="l">
                        <a:lnSpc>
                          <a:spcPct val="100000"/>
                        </a:lnSpc>
                        <a:spcBef>
                          <a:spcPts val="0"/>
                        </a:spcBef>
                        <a:spcAft>
                          <a:spcPts val="0"/>
                        </a:spcAft>
                      </a:pPr>
                      <a:r>
                        <a:rPr sz="1300" b="0">
                          <a:solidFill>
                            <a:srgbClr val="1F1F1F"/>
                          </a:solidFill>
                          <a:latin typeface="Calibri"/>
                        </a:rPr>
                        <a:t>transferência para a</a:t>
                      </a:r>
                    </a:p>
                    <a:p>
                      <a:pPr algn="l">
                        <a:lnSpc>
                          <a:spcPct val="100000"/>
                        </a:lnSpc>
                        <a:spcBef>
                          <a:spcPts val="0"/>
                        </a:spcBef>
                        <a:spcAft>
                          <a:spcPts val="0"/>
                        </a:spcAft>
                      </a:pPr>
                      <a:r>
                        <a:rPr sz="1300" b="0">
                          <a:solidFill>
                            <a:srgbClr val="1F1F1F"/>
                          </a:solidFill>
                          <a:latin typeface="Calibri"/>
                        </a:rPr>
                        <a:t>Classe Investida; e/ou</a:t>
                      </a:r>
                    </a:p>
                    <a:p>
                      <a:pPr algn="l">
                        <a:lnSpc>
                          <a:spcPct val="100000"/>
                        </a:lnSpc>
                        <a:spcBef>
                          <a:spcPts val="0"/>
                        </a:spcBef>
                        <a:spcAft>
                          <a:spcPts val="0"/>
                        </a:spcAft>
                      </a:pPr>
                      <a:r>
                        <a:rPr sz="1300" b="0">
                          <a:solidFill>
                            <a:srgbClr val="1F1F1F"/>
                          </a:solidFill>
                          <a:latin typeface="Calibri"/>
                        </a:rPr>
                        <a:t>(2) os termos e</a:t>
                      </a:r>
                    </a:p>
                    <a:p>
                      <a:pPr algn="l">
                        <a:lnSpc>
                          <a:spcPct val="100000"/>
                        </a:lnSpc>
                        <a:spcBef>
                          <a:spcPts val="0"/>
                        </a:spcBef>
                        <a:spcAft>
                          <a:spcPts val="0"/>
                        </a:spcAft>
                      </a:pPr>
                      <a:r>
                        <a:rPr sz="1300" b="0">
                          <a:solidFill>
                            <a:srgbClr val="1F1F1F"/>
                          </a:solidFill>
                          <a:latin typeface="Calibri"/>
                        </a:rPr>
                        <a:t>condições da</a:t>
                      </a:r>
                    </a:p>
                    <a:p>
                      <a:pPr algn="l">
                        <a:lnSpc>
                          <a:spcPct val="100000"/>
                        </a:lnSpc>
                        <a:spcBef>
                          <a:spcPts val="0"/>
                        </a:spcBef>
                        <a:spcAft>
                          <a:spcPts val="0"/>
                        </a:spcAft>
                      </a:pPr>
                      <a:r>
                        <a:rPr sz="1300" b="0">
                          <a:solidFill>
                            <a:srgbClr val="1F1F1F"/>
                          </a:solidFill>
                          <a:latin typeface="Calibri"/>
                        </a:rPr>
                        <a:t>transferência dos</a:t>
                      </a:r>
                    </a:p>
                    <a:p>
                      <a:pPr algn="l">
                        <a:lnSpc>
                          <a:spcPct val="100000"/>
                        </a:lnSpc>
                        <a:spcBef>
                          <a:spcPts val="0"/>
                        </a:spcBef>
                        <a:spcAft>
                          <a:spcPts val="0"/>
                        </a:spcAft>
                      </a:pPr>
                      <a:r>
                        <a:rPr sz="1300" b="0">
                          <a:solidFill>
                            <a:srgbClr val="1F1F1F"/>
                          </a:solidFill>
                          <a:latin typeface="Calibri"/>
                        </a:rPr>
                        <a:t>direitos creditórios à</a:t>
                      </a:r>
                    </a:p>
                    <a:p>
                      <a:pPr algn="l">
                        <a:lnSpc>
                          <a:spcPct val="100000"/>
                        </a:lnSpc>
                        <a:spcBef>
                          <a:spcPts val="0"/>
                        </a:spcBef>
                        <a:spcAft>
                          <a:spcPts val="0"/>
                        </a:spcAft>
                      </a:pPr>
                      <a:r>
                        <a:rPr sz="1300" b="0">
                          <a:solidFill>
                            <a:srgbClr val="1F1F1F"/>
                          </a:solidFill>
                          <a:latin typeface="Calibri"/>
                        </a:rPr>
                        <a:t>Classe Investida.</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Classe, na forma da</a:t>
                      </a:r>
                    </a:p>
                    <a:p>
                      <a:pPr algn="l">
                        <a:lnSpc>
                          <a:spcPct val="100000"/>
                        </a:lnSpc>
                        <a:spcBef>
                          <a:spcPts val="0"/>
                        </a:spcBef>
                        <a:spcAft>
                          <a:spcPts val="0"/>
                        </a:spcAft>
                      </a:pPr>
                      <a:r>
                        <a:rPr sz="1300" b="0">
                          <a:solidFill>
                            <a:srgbClr val="1F1F1F"/>
                          </a:solidFill>
                          <a:latin typeface="Calibri"/>
                        </a:rPr>
                        <a:t>regulamentação</a:t>
                      </a:r>
                    </a:p>
                    <a:p>
                      <a:pPr algn="l">
                        <a:lnSpc>
                          <a:spcPct val="100000"/>
                        </a:lnSpc>
                        <a:spcBef>
                          <a:spcPts val="0"/>
                        </a:spcBef>
                        <a:spcAft>
                          <a:spcPts val="0"/>
                        </a:spcAft>
                      </a:pPr>
                      <a:r>
                        <a:rPr sz="1300" b="0">
                          <a:solidFill>
                            <a:srgbClr val="1F1F1F"/>
                          </a:solidFill>
                          <a:latin typeface="Calibri"/>
                        </a:rPr>
                        <a:t>aplicável, observado</a:t>
                      </a:r>
                    </a:p>
                    <a:p>
                      <a:pPr algn="l">
                        <a:lnSpc>
                          <a:spcPct val="100000"/>
                        </a:lnSpc>
                        <a:spcBef>
                          <a:spcPts val="0"/>
                        </a:spcBef>
                        <a:spcAft>
                          <a:spcPts val="0"/>
                        </a:spcAft>
                      </a:pPr>
                      <a:r>
                        <a:rPr sz="1300" b="0">
                          <a:solidFill>
                            <a:srgbClr val="1F1F1F"/>
                          </a:solidFill>
                          <a:latin typeface="Calibri"/>
                        </a:rPr>
                        <a:t>que os prestadores de</a:t>
                      </a:r>
                    </a:p>
                    <a:p>
                      <a:pPr algn="l">
                        <a:lnSpc>
                          <a:spcPct val="100000"/>
                        </a:lnSpc>
                        <a:spcBef>
                          <a:spcPts val="0"/>
                        </a:spcBef>
                        <a:spcAft>
                          <a:spcPts val="0"/>
                        </a:spcAft>
                      </a:pPr>
                      <a:r>
                        <a:rPr sz="1300" b="0">
                          <a:solidFill>
                            <a:srgbClr val="1F1F1F"/>
                          </a:solidFill>
                          <a:latin typeface="Calibri"/>
                        </a:rPr>
                        <a:t>serviços eventualmente</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2/160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Recebíveis e aquisição</a:t>
            </a:r>
          </a:p>
        </p:txBody>
      </p:sp>
      <p:graphicFrame>
        <p:nvGraphicFramePr>
          <p:cNvPr id="3" name="Table 2"/>
          <p:cNvGraphicFramePr>
            <a:graphicFrameLocks noGrp="1"/>
          </p:cNvGraphicFramePr>
          <p:nvPr/>
        </p:nvGraphicFramePr>
        <p:xfrm>
          <a:off x="438912" y="932688"/>
          <a:ext cx="11313868" cy="2441447"/>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1970531">
                <a:tc>
                  <a:txBody>
                    <a:bodyPr wrap="square">
                      <a:noAutofit/>
                    </a:bodyPr>
                    <a:lstStyle/>
                    <a:p>
                      <a:pPr algn="l">
                        <a:lnSpc>
                          <a:spcPct val="100000"/>
                        </a:lnSpc>
                        <a:spcBef>
                          <a:spcPts val="0"/>
                        </a:spcBef>
                        <a:spcAft>
                          <a:spcPts val="0"/>
                        </a:spcAft>
                      </a:pPr>
                      <a:r>
                        <a:rPr sz="1300" b="1">
                          <a:solidFill>
                            <a:srgbClr val="1F1F1F"/>
                          </a:solidFill>
                          <a:latin typeface="Calibri"/>
                        </a:rPr>
                        <a:t>Originador e endossante</a:t>
                      </a:r>
                    </a:p>
                    <a:p>
                      <a:pPr algn="l">
                        <a:lnSpc>
                          <a:spcPct val="100000"/>
                        </a:lnSpc>
                        <a:spcBef>
                          <a:spcPts val="0"/>
                        </a:spcBef>
                        <a:spcAft>
                          <a:spcPts val="0"/>
                        </a:spcAft>
                      </a:pPr>
                      <a:r>
                        <a:rPr sz="1300" b="1">
                          <a:solidFill>
                            <a:srgbClr val="1F1F1F"/>
                          </a:solidFill>
                          <a:latin typeface="Calibri"/>
                        </a:rPr>
                        <a:t>(continuação)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subcontratados não</a:t>
                      </a:r>
                    </a:p>
                    <a:p>
                      <a:pPr algn="l">
                        <a:lnSpc>
                          <a:spcPct val="100000"/>
                        </a:lnSpc>
                        <a:spcBef>
                          <a:spcPts val="0"/>
                        </a:spcBef>
                        <a:spcAft>
                          <a:spcPts val="0"/>
                        </a:spcAft>
                      </a:pPr>
                      <a:r>
                        <a:rPr sz="1300" b="0">
                          <a:solidFill>
                            <a:srgbClr val="1F1F1F"/>
                          </a:solidFill>
                          <a:latin typeface="Calibri"/>
                        </a:rPr>
                        <a:t>podem ser, em relação à</a:t>
                      </a:r>
                    </a:p>
                    <a:p>
                      <a:pPr algn="l">
                        <a:lnSpc>
                          <a:spcPct val="100000"/>
                        </a:lnSpc>
                        <a:spcBef>
                          <a:spcPts val="0"/>
                        </a:spcBef>
                        <a:spcAft>
                          <a:spcPts val="0"/>
                        </a:spcAft>
                      </a:pPr>
                      <a:r>
                        <a:rPr sz="1300" b="0">
                          <a:solidFill>
                            <a:srgbClr val="1F1F1F"/>
                          </a:solidFill>
                          <a:latin typeface="Calibri"/>
                        </a:rPr>
                        <a:t>Classe, o originador,</a:t>
                      </a:r>
                    </a:p>
                    <a:p>
                      <a:pPr algn="l">
                        <a:lnSpc>
                          <a:spcPct val="100000"/>
                        </a:lnSpc>
                        <a:spcBef>
                          <a:spcPts val="0"/>
                        </a:spcBef>
                        <a:spcAft>
                          <a:spcPts val="0"/>
                        </a:spcAft>
                      </a:pPr>
                      <a:r>
                        <a:rPr sz="1300" b="0">
                          <a:solidFill>
                            <a:srgbClr val="1F1F1F"/>
                          </a:solidFill>
                          <a:latin typeface="Calibri"/>
                        </a:rPr>
                        <a:t>cedente, o GESTOR,</a:t>
                      </a:r>
                    </a:p>
                    <a:p>
                      <a:pPr algn="l">
                        <a:lnSpc>
                          <a:spcPct val="100000"/>
                        </a:lnSpc>
                        <a:spcBef>
                          <a:spcPts val="0"/>
                        </a:spcBef>
                        <a:spcAft>
                          <a:spcPts val="0"/>
                        </a:spcAft>
                      </a:pPr>
                      <a:r>
                        <a:rPr sz="1300" b="0">
                          <a:solidFill>
                            <a:srgbClr val="1F1F1F"/>
                          </a:solidFill>
                          <a:latin typeface="Calibri"/>
                        </a:rPr>
                        <a:t>consultoria</a:t>
                      </a:r>
                    </a:p>
                    <a:p>
                      <a:pPr algn="l">
                        <a:lnSpc>
                          <a:spcPct val="100000"/>
                        </a:lnSpc>
                        <a:spcBef>
                          <a:spcPts val="0"/>
                        </a:spcBef>
                        <a:spcAft>
                          <a:spcPts val="0"/>
                        </a:spcAft>
                      </a:pPr>
                      <a:r>
                        <a:rPr sz="1300" b="0">
                          <a:solidFill>
                            <a:srgbClr val="1F1F1F"/>
                          </a:solidFill>
                          <a:latin typeface="Calibri"/>
                        </a:rPr>
                        <a:t>especializada ou partes</a:t>
                      </a:r>
                    </a:p>
                    <a:p>
                      <a:pPr algn="l">
                        <a:lnSpc>
                          <a:spcPct val="100000"/>
                        </a:lnSpc>
                        <a:spcBef>
                          <a:spcPts val="0"/>
                        </a:spcBef>
                        <a:spcAft>
                          <a:spcPts val="0"/>
                        </a:spcAft>
                      </a:pPr>
                      <a:r>
                        <a:rPr sz="1300" b="0">
                          <a:solidFill>
                            <a:srgbClr val="1F1F1F"/>
                          </a:solidFill>
                          <a:latin typeface="Calibri"/>
                        </a:rPr>
                        <a:t>a eles relacionadas,</a:t>
                      </a:r>
                    </a:p>
                    <a:p>
                      <a:pPr algn="l">
                        <a:lnSpc>
                          <a:spcPct val="100000"/>
                        </a:lnSpc>
                        <a:spcBef>
                          <a:spcPts val="0"/>
                        </a:spcBef>
                        <a:spcAft>
                          <a:spcPts val="0"/>
                        </a:spcAft>
                      </a:pPr>
                      <a:r>
                        <a:rPr sz="1300" b="0">
                          <a:solidFill>
                            <a:srgbClr val="1F1F1F"/>
                          </a:solidFill>
                          <a:latin typeface="Calibri"/>
                        </a:rPr>
                        <a:t>tais como definidas nas</a:t>
                      </a:r>
                    </a:p>
                    <a:p>
                      <a:pPr algn="l">
                        <a:lnSpc>
                          <a:spcPct val="100000"/>
                        </a:lnSpc>
                        <a:spcBef>
                          <a:spcPts val="0"/>
                        </a:spcBef>
                        <a:spcAft>
                          <a:spcPts val="0"/>
                        </a:spcAft>
                      </a:pPr>
                      <a:r>
                        <a:rPr sz="1300" b="0">
                          <a:solidFill>
                            <a:srgbClr val="1F1F1F"/>
                          </a:solidFill>
                          <a:latin typeface="Calibri"/>
                        </a:rPr>
                        <a:t>regras contábeis que</a:t>
                      </a:r>
                    </a:p>
                    <a:p>
                      <a:pPr algn="l">
                        <a:lnSpc>
                          <a:spcPct val="100000"/>
                        </a:lnSpc>
                        <a:spcBef>
                          <a:spcPts val="0"/>
                        </a:spcBef>
                        <a:spcAft>
                          <a:spcPts val="0"/>
                        </a:spcAft>
                      </a:pPr>
                      <a:r>
                        <a:rPr sz="1300" b="0">
                          <a:solidFill>
                            <a:srgbClr val="1F1F1F"/>
                          </a:solidFill>
                          <a:latin typeface="Calibri"/>
                        </a:rPr>
                        <a:t>tratam desse assunto.</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3/160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Recebíveis e aquisição</a:t>
            </a:r>
          </a:p>
        </p:txBody>
      </p:sp>
      <p:graphicFrame>
        <p:nvGraphicFramePr>
          <p:cNvPr id="3" name="Table 2"/>
          <p:cNvGraphicFramePr>
            <a:graphicFrameLocks noGrp="1"/>
          </p:cNvGraphicFramePr>
          <p:nvPr/>
        </p:nvGraphicFramePr>
        <p:xfrm>
          <a:off x="438912" y="932688"/>
          <a:ext cx="11313868" cy="5253228"/>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4782312">
                <a:tc>
                  <a:txBody>
                    <a:bodyPr wrap="square">
                      <a:noAutofit/>
                    </a:bodyPr>
                    <a:lstStyle/>
                    <a:p>
                      <a:pPr algn="l">
                        <a:lnSpc>
                          <a:spcPct val="100000"/>
                        </a:lnSpc>
                        <a:spcBef>
                          <a:spcPts val="0"/>
                        </a:spcBef>
                        <a:spcAft>
                          <a:spcPts val="0"/>
                        </a:spcAft>
                      </a:pPr>
                      <a:r>
                        <a:rPr sz="1300" b="1">
                          <a:solidFill>
                            <a:srgbClr val="1F1F1F"/>
                          </a:solidFill>
                          <a:latin typeface="Calibri"/>
                        </a:rPr>
                        <a:t>Devedor e consignação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14.2 Todos os custos e</a:t>
                      </a:r>
                    </a:p>
                    <a:p>
                      <a:pPr algn="l">
                        <a:lnSpc>
                          <a:spcPct val="100000"/>
                        </a:lnSpc>
                        <a:spcBef>
                          <a:spcPts val="0"/>
                        </a:spcBef>
                        <a:spcAft>
                          <a:spcPts val="0"/>
                        </a:spcAft>
                      </a:pPr>
                      <a:r>
                        <a:rPr sz="1300" b="0">
                          <a:solidFill>
                            <a:srgbClr val="1F1F1F"/>
                          </a:solidFill>
                          <a:latin typeface="Calibri"/>
                        </a:rPr>
                        <a:t>despesas ref eridos</a:t>
                      </a:r>
                    </a:p>
                    <a:p>
                      <a:pPr algn="l">
                        <a:lnSpc>
                          <a:spcPct val="100000"/>
                        </a:lnSpc>
                        <a:spcBef>
                          <a:spcPts val="0"/>
                        </a:spcBef>
                        <a:spcAft>
                          <a:spcPts val="0"/>
                        </a:spcAft>
                      </a:pPr>
                      <a:r>
                        <a:rPr sz="1300" b="0">
                          <a:solidFill>
                            <a:srgbClr val="1F1F1F"/>
                          </a:solidFill>
                          <a:latin typeface="Calibri"/>
                        </a:rPr>
                        <a:t>neste Capítulo,</a:t>
                      </a:r>
                    </a:p>
                    <a:p>
                      <a:pPr algn="l">
                        <a:lnSpc>
                          <a:spcPct val="100000"/>
                        </a:lnSpc>
                        <a:spcBef>
                          <a:spcPts val="0"/>
                        </a:spcBef>
                        <a:spcAft>
                          <a:spcPts val="0"/>
                        </a:spcAft>
                      </a:pPr>
                      <a:r>
                        <a:rPr sz="1300" b="0">
                          <a:solidFill>
                            <a:srgbClr val="1F1F1F"/>
                          </a:solidFill>
                          <a:latin typeface="Calibri"/>
                        </a:rPr>
                        <a:t>inclusive para</a:t>
                      </a:r>
                    </a:p>
                    <a:p>
                      <a:pPr algn="l">
                        <a:lnSpc>
                          <a:spcPct val="100000"/>
                        </a:lnSpc>
                        <a:spcBef>
                          <a:spcPts val="0"/>
                        </a:spcBef>
                        <a:spcAft>
                          <a:spcPts val="0"/>
                        </a:spcAft>
                      </a:pPr>
                      <a:r>
                        <a:rPr sz="1300" b="0">
                          <a:solidFill>
                            <a:srgbClr val="1F1F1F"/>
                          </a:solidFill>
                          <a:latin typeface="Calibri"/>
                        </a:rPr>
                        <a:t>salvaguarda de direitos</a:t>
                      </a:r>
                    </a:p>
                    <a:p>
                      <a:pPr algn="l">
                        <a:lnSpc>
                          <a:spcPct val="100000"/>
                        </a:lnSpc>
                        <a:spcBef>
                          <a:spcPts val="0"/>
                        </a:spcBef>
                        <a:spcAft>
                          <a:spcPts val="0"/>
                        </a:spcAft>
                      </a:pPr>
                      <a:r>
                        <a:rPr sz="1300" b="0">
                          <a:solidFill>
                            <a:srgbClr val="1F1F1F"/>
                          </a:solidFill>
                          <a:latin typeface="Calibri"/>
                        </a:rPr>
                        <a:t>e prerrogativas da</a:t>
                      </a:r>
                    </a:p>
                    <a:p>
                      <a:pPr algn="l">
                        <a:lnSpc>
                          <a:spcPct val="100000"/>
                        </a:lnSpc>
                        <a:spcBef>
                          <a:spcPts val="0"/>
                        </a:spcBef>
                        <a:spcAft>
                          <a:spcPts val="0"/>
                        </a:spcAft>
                      </a:pPr>
                      <a:r>
                        <a:rPr sz="1300" b="0">
                          <a:solidFill>
                            <a:srgbClr val="1F1F1F"/>
                          </a:solidFill>
                          <a:latin typeface="Calibri"/>
                        </a:rPr>
                        <a:t>Classe e/ou com a</a:t>
                      </a:r>
                    </a:p>
                    <a:p>
                      <a:pPr algn="l">
                        <a:lnSpc>
                          <a:spcPct val="100000"/>
                        </a:lnSpc>
                        <a:spcBef>
                          <a:spcPts val="0"/>
                        </a:spcBef>
                        <a:spcAft>
                          <a:spcPts val="0"/>
                        </a:spcAft>
                      </a:pPr>
                      <a:r>
                        <a:rPr sz="1300" b="0">
                          <a:solidFill>
                            <a:srgbClr val="1F1F1F"/>
                          </a:solidFill>
                          <a:latin typeface="Calibri"/>
                        </a:rPr>
                        <a:t>cobrança judicial e/ou</a:t>
                      </a:r>
                    </a:p>
                    <a:p>
                      <a:pPr algn="l">
                        <a:lnSpc>
                          <a:spcPct val="100000"/>
                        </a:lnSpc>
                        <a:spcBef>
                          <a:spcPts val="0"/>
                        </a:spcBef>
                        <a:spcAft>
                          <a:spcPts val="0"/>
                        </a:spcAft>
                      </a:pPr>
                      <a:r>
                        <a:rPr sz="1300" b="0">
                          <a:solidFill>
                            <a:srgbClr val="1F1F1F"/>
                          </a:solidFill>
                          <a:latin typeface="Calibri"/>
                        </a:rPr>
                        <a:t>extrajudicial de</a:t>
                      </a:r>
                    </a:p>
                    <a:p>
                      <a:pPr algn="l">
                        <a:lnSpc>
                          <a:spcPct val="100000"/>
                        </a:lnSpc>
                        <a:spcBef>
                          <a:spcPts val="0"/>
                        </a:spcBef>
                        <a:spcAft>
                          <a:spcPts val="0"/>
                        </a:spcAft>
                      </a:pPr>
                      <a:r>
                        <a:rPr sz="1300" b="0">
                          <a:solidFill>
                            <a:srgbClr val="1F1F1F"/>
                          </a:solidFill>
                          <a:latin typeface="Calibri"/>
                        </a:rPr>
                        <a:t>Direitos Creditórios</a:t>
                      </a:r>
                    </a:p>
                    <a:p>
                      <a:pPr algn="l">
                        <a:lnSpc>
                          <a:spcPct val="100000"/>
                        </a:lnSpc>
                        <a:spcBef>
                          <a:spcPts val="0"/>
                        </a:spcBef>
                        <a:spcAft>
                          <a:spcPts val="0"/>
                        </a:spcAft>
                      </a:pPr>
                      <a:r>
                        <a:rPr sz="1300" b="0">
                          <a:solidFill>
                            <a:srgbClr val="1F1F1F"/>
                          </a:solidFill>
                          <a:latin typeface="Calibri"/>
                        </a:rPr>
                        <a:t>Inadimplidos, serão de</a:t>
                      </a:r>
                    </a:p>
                    <a:p>
                      <a:pPr algn="l">
                        <a:lnSpc>
                          <a:spcPct val="100000"/>
                        </a:lnSpc>
                        <a:spcBef>
                          <a:spcPts val="0"/>
                        </a:spcBef>
                        <a:spcAft>
                          <a:spcPts val="0"/>
                        </a:spcAft>
                      </a:pPr>
                      <a:r>
                        <a:rPr sz="1300" b="0">
                          <a:solidFill>
                            <a:srgbClr val="1F1F1F"/>
                          </a:solidFill>
                          <a:latin typeface="Calibri"/>
                        </a:rPr>
                        <a:t>inteira</a:t>
                      </a:r>
                    </a:p>
                    <a:p>
                      <a:pPr algn="l">
                        <a:lnSpc>
                          <a:spcPct val="100000"/>
                        </a:lnSpc>
                        <a:spcBef>
                          <a:spcPts val="0"/>
                        </a:spcBef>
                        <a:spcAft>
                          <a:spcPts val="0"/>
                        </a:spcAft>
                      </a:pPr>
                      <a:r>
                        <a:rPr sz="1300" b="0">
                          <a:solidFill>
                            <a:srgbClr val="1F1F1F"/>
                          </a:solidFill>
                          <a:latin typeface="Calibri"/>
                        </a:rPr>
                        <a:t>responsabilidade da</a:t>
                      </a:r>
                    </a:p>
                    <a:p>
                      <a:pPr algn="l">
                        <a:lnSpc>
                          <a:spcPct val="100000"/>
                        </a:lnSpc>
                        <a:spcBef>
                          <a:spcPts val="0"/>
                        </a:spcBef>
                        <a:spcAft>
                          <a:spcPts val="0"/>
                        </a:spcAft>
                      </a:pPr>
                      <a:r>
                        <a:rPr sz="1300" b="0">
                          <a:solidFill>
                            <a:srgbClr val="1F1F1F"/>
                          </a:solidFill>
                          <a:latin typeface="Calibri"/>
                        </a:rPr>
                        <a:t>Classe, não estando o</a:t>
                      </a:r>
                    </a:p>
                    <a:p>
                      <a:pPr algn="l">
                        <a:lnSpc>
                          <a:spcPct val="100000"/>
                        </a:lnSpc>
                        <a:spcBef>
                          <a:spcPts val="0"/>
                        </a:spcBef>
                        <a:spcAft>
                          <a:spcPts val="0"/>
                        </a:spcAft>
                      </a:pPr>
                      <a:r>
                        <a:rPr sz="1300" b="0">
                          <a:solidFill>
                            <a:srgbClr val="1F1F1F"/>
                          </a:solidFill>
                          <a:latin typeface="Calibri"/>
                        </a:rPr>
                        <a:t>ADMINISTRADOR, o</a:t>
                      </a:r>
                    </a:p>
                    <a:p>
                      <a:pPr algn="l">
                        <a:lnSpc>
                          <a:spcPct val="100000"/>
                        </a:lnSpc>
                        <a:spcBef>
                          <a:spcPts val="0"/>
                        </a:spcBef>
                        <a:spcAft>
                          <a:spcPts val="0"/>
                        </a:spcAft>
                      </a:pPr>
                      <a:r>
                        <a:rPr sz="1300" b="0">
                          <a:solidFill>
                            <a:srgbClr val="1F1F1F"/>
                          </a:solidFill>
                          <a:latin typeface="Calibri"/>
                        </a:rPr>
                        <a:t>GESTOR, o Endossante,</a:t>
                      </a:r>
                    </a:p>
                    <a:p>
                      <a:pPr algn="l">
                        <a:lnSpc>
                          <a:spcPct val="100000"/>
                        </a:lnSpc>
                        <a:spcBef>
                          <a:spcPts val="0"/>
                        </a:spcBef>
                        <a:spcAft>
                          <a:spcPts val="0"/>
                        </a:spcAft>
                      </a:pPr>
                      <a:r>
                        <a:rPr sz="1300" b="0">
                          <a:solidFill>
                            <a:srgbClr val="1F1F1F"/>
                          </a:solidFill>
                          <a:latin typeface="Calibri"/>
                        </a:rPr>
                        <a:t>os Devedores, o</a:t>
                      </a:r>
                    </a:p>
                    <a:p>
                      <a:pPr algn="l">
                        <a:lnSpc>
                          <a:spcPct val="100000"/>
                        </a:lnSpc>
                        <a:spcBef>
                          <a:spcPts val="0"/>
                        </a:spcBef>
                        <a:spcAft>
                          <a:spcPts val="0"/>
                        </a:spcAft>
                      </a:pPr>
                      <a:r>
                        <a:rPr sz="1300" b="0">
                          <a:solidFill>
                            <a:srgbClr val="1F1F1F"/>
                          </a:solidFill>
                          <a:latin typeface="Calibri"/>
                        </a:rPr>
                        <a:t>CUSTODIANTE e quaisquer</a:t>
                      </a:r>
                    </a:p>
                    <a:p>
                      <a:pPr algn="l">
                        <a:lnSpc>
                          <a:spcPct val="100000"/>
                        </a:lnSpc>
                        <a:spcBef>
                          <a:spcPts val="0"/>
                        </a:spcBef>
                        <a:spcAft>
                          <a:spcPts val="0"/>
                        </a:spcAft>
                      </a:pPr>
                      <a:r>
                        <a:rPr sz="1300" b="0">
                          <a:solidFill>
                            <a:srgbClr val="1F1F1F"/>
                          </a:solidFill>
                          <a:latin typeface="Calibri"/>
                        </a:rPr>
                        <a:t>de suas respectivas</a:t>
                      </a:r>
                    </a:p>
                    <a:p>
                      <a:pPr algn="l">
                        <a:lnSpc>
                          <a:spcPct val="100000"/>
                        </a:lnSpc>
                        <a:spcBef>
                          <a:spcPts val="0"/>
                        </a:spcBef>
                        <a:spcAft>
                          <a:spcPts val="0"/>
                        </a:spcAft>
                      </a:pPr>
                      <a:r>
                        <a:rPr sz="1300" b="0">
                          <a:solidFill>
                            <a:srgbClr val="1F1F1F"/>
                          </a:solidFill>
                          <a:latin typeface="Calibri"/>
                        </a:rPr>
                        <a:t>pessoas controladoras,</a:t>
                      </a:r>
                    </a:p>
                    <a:p>
                      <a:pPr algn="l">
                        <a:lnSpc>
                          <a:spcPct val="100000"/>
                        </a:lnSpc>
                        <a:spcBef>
                          <a:spcPts val="0"/>
                        </a:spcBef>
                        <a:spcAft>
                          <a:spcPts val="0"/>
                        </a:spcAft>
                      </a:pPr>
                      <a:r>
                        <a:rPr sz="1300" b="0">
                          <a:solidFill>
                            <a:srgbClr val="1F1F1F"/>
                          </a:solidFill>
                          <a:latin typeface="Calibri"/>
                        </a:rPr>
                        <a:t>sociedades por estes</a:t>
                      </a:r>
                    </a:p>
                    <a:p>
                      <a:pPr algn="l">
                        <a:lnSpc>
                          <a:spcPct val="100000"/>
                        </a:lnSpc>
                        <a:spcBef>
                          <a:spcPts val="0"/>
                        </a:spcBef>
                        <a:spcAft>
                          <a:spcPts val="0"/>
                        </a:spcAft>
                      </a:pPr>
                      <a:r>
                        <a:rPr sz="1300" b="0">
                          <a:solidFill>
                            <a:srgbClr val="1F1F1F"/>
                          </a:solidFill>
                          <a:latin typeface="Calibri"/>
                        </a:rPr>
                        <a:t>direta ou indiretamente</a:t>
                      </a:r>
                    </a:p>
                    <a:p>
                      <a:pPr algn="l">
                        <a:lnSpc>
                          <a:spcPct val="100000"/>
                        </a:lnSpc>
                        <a:spcBef>
                          <a:spcPts val="0"/>
                        </a:spcBef>
                        <a:spcAft>
                          <a:spcPts val="0"/>
                        </a:spcAft>
                      </a:pPr>
                      <a:r>
                        <a:rPr sz="1300" b="0">
                          <a:solidFill>
                            <a:srgbClr val="1F1F1F"/>
                          </a:solidFill>
                          <a:latin typeface="Calibri"/>
                        </a:rPr>
                        <a:t>controladas, a estes</a:t>
                      </a:r>
                    </a:p>
                    <a:p>
                      <a:pPr algn="l">
                        <a:lnSpc>
                          <a:spcPct val="100000"/>
                        </a:lnSpc>
                        <a:spcBef>
                          <a:spcPts val="0"/>
                        </a:spcBef>
                        <a:spcAft>
                          <a:spcPts val="0"/>
                        </a:spcAft>
                      </a:pPr>
                      <a:r>
                        <a:rPr sz="1300" b="0">
                          <a:solidFill>
                            <a:srgbClr val="1F1F1F"/>
                          </a:solidFill>
                          <a:latin typeface="Calibri"/>
                        </a:rPr>
                        <a:t>coligadas ou outras</a:t>
                      </a:r>
                    </a:p>
                    <a:p>
                      <a:pPr algn="l">
                        <a:lnSpc>
                          <a:spcPct val="100000"/>
                        </a:lnSpc>
                        <a:spcBef>
                          <a:spcPts val="0"/>
                        </a:spcBef>
                        <a:spcAft>
                          <a:spcPts val="0"/>
                        </a:spcAft>
                      </a:pPr>
                      <a:r>
                        <a:rPr sz="1300" b="0">
                          <a:solidFill>
                            <a:srgbClr val="1F1F1F"/>
                          </a:solidFill>
                          <a:latin typeface="Calibri"/>
                        </a:rPr>
                        <a:t>sociedades sob controle</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15.1.4 Riscos</a:t>
                      </a:r>
                    </a:p>
                    <a:p>
                      <a:pPr algn="l">
                        <a:lnSpc>
                          <a:spcPct val="100000"/>
                        </a:lnSpc>
                        <a:spcBef>
                          <a:spcPts val="0"/>
                        </a:spcBef>
                        <a:spcAft>
                          <a:spcPts val="0"/>
                        </a:spcAft>
                      </a:pPr>
                      <a:r>
                        <a:rPr sz="1300" b="0">
                          <a:solidFill>
                            <a:srgbClr val="1F1F1F"/>
                          </a:solidFill>
                          <a:latin typeface="Calibri"/>
                        </a:rPr>
                        <a:t>específicos (i) Risco</a:t>
                      </a:r>
                    </a:p>
                    <a:p>
                      <a:pPr algn="l">
                        <a:lnSpc>
                          <a:spcPct val="100000"/>
                        </a:lnSpc>
                        <a:spcBef>
                          <a:spcPts val="0"/>
                        </a:spcBef>
                        <a:spcAft>
                          <a:spcPts val="0"/>
                        </a:spcAft>
                      </a:pPr>
                      <a:r>
                        <a:rPr sz="1300" b="0">
                          <a:solidFill>
                            <a:srgbClr val="1F1F1F"/>
                          </a:solidFill>
                          <a:latin typeface="Calibri"/>
                        </a:rPr>
                        <a:t>do Empregador se tornar</a:t>
                      </a:r>
                    </a:p>
                    <a:p>
                      <a:pPr algn="l">
                        <a:lnSpc>
                          <a:spcPct val="100000"/>
                        </a:lnSpc>
                        <a:spcBef>
                          <a:spcPts val="0"/>
                        </a:spcBef>
                        <a:spcAft>
                          <a:spcPts val="0"/>
                        </a:spcAft>
                      </a:pPr>
                      <a:r>
                        <a:rPr sz="1300" b="0">
                          <a:solidFill>
                            <a:srgbClr val="1F1F1F"/>
                          </a:solidFill>
                          <a:latin typeface="Calibri"/>
                        </a:rPr>
                        <a:t>insolvente: o pagamento</a:t>
                      </a:r>
                    </a:p>
                    <a:p>
                      <a:pPr algn="l">
                        <a:lnSpc>
                          <a:spcPct val="100000"/>
                        </a:lnSpc>
                        <a:spcBef>
                          <a:spcPts val="0"/>
                        </a:spcBef>
                        <a:spcAft>
                          <a:spcPts val="0"/>
                        </a:spcAft>
                      </a:pPr>
                      <a:r>
                        <a:rPr sz="1300" b="0">
                          <a:solidFill>
                            <a:srgbClr val="1F1F1F"/>
                          </a:solidFill>
                          <a:latin typeface="Calibri"/>
                        </a:rPr>
                        <a:t>dos Direitos</a:t>
                      </a:r>
                    </a:p>
                    <a:p>
                      <a:pPr algn="l">
                        <a:lnSpc>
                          <a:spcPct val="100000"/>
                        </a:lnSpc>
                        <a:spcBef>
                          <a:spcPts val="0"/>
                        </a:spcBef>
                        <a:spcAft>
                          <a:spcPts val="0"/>
                        </a:spcAft>
                      </a:pPr>
                      <a:r>
                        <a:rPr sz="1300" b="0">
                          <a:solidFill>
                            <a:srgbClr val="1F1F1F"/>
                          </a:solidFill>
                          <a:latin typeface="Calibri"/>
                        </a:rPr>
                        <a:t>Creditórios pelos</a:t>
                      </a:r>
                    </a:p>
                    <a:p>
                      <a:pPr algn="l">
                        <a:lnSpc>
                          <a:spcPct val="100000"/>
                        </a:lnSpc>
                        <a:spcBef>
                          <a:spcPts val="0"/>
                        </a:spcBef>
                        <a:spcAft>
                          <a:spcPts val="0"/>
                        </a:spcAft>
                      </a:pPr>
                      <a:r>
                        <a:rPr sz="1300" b="0">
                          <a:solidFill>
                            <a:srgbClr val="1F1F1F"/>
                          </a:solidFill>
                          <a:latin typeface="Calibri"/>
                        </a:rPr>
                        <a:t>Devedores está</a:t>
                      </a:r>
                    </a:p>
                    <a:p>
                      <a:pPr algn="l">
                        <a:lnSpc>
                          <a:spcPct val="100000"/>
                        </a:lnSpc>
                        <a:spcBef>
                          <a:spcPts val="0"/>
                        </a:spcBef>
                        <a:spcAft>
                          <a:spcPts val="0"/>
                        </a:spcAft>
                      </a:pPr>
                      <a:r>
                        <a:rPr sz="1300" b="0">
                          <a:solidFill>
                            <a:srgbClr val="1F1F1F"/>
                          </a:solidFill>
                          <a:latin typeface="Calibri"/>
                        </a:rPr>
                        <a:t>diretamente ligado ao</a:t>
                      </a:r>
                    </a:p>
                    <a:p>
                      <a:pPr algn="l">
                        <a:lnSpc>
                          <a:spcPct val="100000"/>
                        </a:lnSpc>
                        <a:spcBef>
                          <a:spcPts val="0"/>
                        </a:spcBef>
                        <a:spcAft>
                          <a:spcPts val="0"/>
                        </a:spcAft>
                      </a:pPr>
                      <a:r>
                        <a:rPr sz="1300" b="0">
                          <a:solidFill>
                            <a:srgbClr val="1F1F1F"/>
                          </a:solidFill>
                          <a:latin typeface="Calibri"/>
                        </a:rPr>
                        <a:t>recebimento, pelos</a:t>
                      </a:r>
                    </a:p>
                    <a:p>
                      <a:pPr algn="l">
                        <a:lnSpc>
                          <a:spcPct val="100000"/>
                        </a:lnSpc>
                        <a:spcBef>
                          <a:spcPts val="0"/>
                        </a:spcBef>
                        <a:spcAft>
                          <a:spcPts val="0"/>
                        </a:spcAft>
                      </a:pPr>
                      <a:r>
                        <a:rPr sz="1300" b="0">
                          <a:solidFill>
                            <a:srgbClr val="1F1F1F"/>
                          </a:solidFill>
                          <a:latin typeface="Calibri"/>
                        </a:rPr>
                        <a:t>Devedores, de</a:t>
                      </a:r>
                    </a:p>
                    <a:p>
                      <a:pPr algn="l">
                        <a:lnSpc>
                          <a:spcPct val="100000"/>
                        </a:lnSpc>
                        <a:spcBef>
                          <a:spcPts val="0"/>
                        </a:spcBef>
                        <a:spcAft>
                          <a:spcPts val="0"/>
                        </a:spcAft>
                      </a:pPr>
                      <a:r>
                        <a:rPr sz="1300" b="0">
                          <a:solidFill>
                            <a:srgbClr val="1F1F1F"/>
                          </a:solidFill>
                          <a:latin typeface="Calibri"/>
                        </a:rPr>
                        <a:t>remuneração decorrente</a:t>
                      </a:r>
                    </a:p>
                    <a:p>
                      <a:pPr algn="l">
                        <a:lnSpc>
                          <a:spcPct val="100000"/>
                        </a:lnSpc>
                        <a:spcBef>
                          <a:spcPts val="0"/>
                        </a:spcBef>
                        <a:spcAft>
                          <a:spcPts val="0"/>
                        </a:spcAft>
                      </a:pPr>
                      <a:r>
                        <a:rPr sz="1300" b="0">
                          <a:solidFill>
                            <a:srgbClr val="1F1F1F"/>
                          </a:solidFill>
                          <a:latin typeface="Calibri"/>
                        </a:rPr>
                        <a:t>do vínculo empregatício</a:t>
                      </a:r>
                    </a:p>
                    <a:p>
                      <a:pPr algn="l">
                        <a:lnSpc>
                          <a:spcPct val="100000"/>
                        </a:lnSpc>
                        <a:spcBef>
                          <a:spcPts val="0"/>
                        </a:spcBef>
                        <a:spcAft>
                          <a:spcPts val="0"/>
                        </a:spcAft>
                      </a:pPr>
                      <a:r>
                        <a:rPr sz="1300" b="0">
                          <a:solidFill>
                            <a:srgbClr val="1F1F1F"/>
                          </a:solidFill>
                          <a:latin typeface="Calibri"/>
                        </a:rPr>
                        <a:t>mantido junto aos</a:t>
                      </a:r>
                    </a:p>
                    <a:p>
                      <a:pPr algn="l">
                        <a:lnSpc>
                          <a:spcPct val="100000"/>
                        </a:lnSpc>
                        <a:spcBef>
                          <a:spcPts val="0"/>
                        </a:spcBef>
                        <a:spcAft>
                          <a:spcPts val="0"/>
                        </a:spcAft>
                      </a:pPr>
                      <a:r>
                        <a:rPr sz="1300" b="0">
                          <a:solidFill>
                            <a:srgbClr val="1F1F1F"/>
                          </a:solidFill>
                          <a:latin typeface="Calibri"/>
                        </a:rPr>
                        <a:t>Empregadores. Caso o</a:t>
                      </a:r>
                    </a:p>
                    <a:p>
                      <a:pPr algn="l">
                        <a:lnSpc>
                          <a:spcPct val="100000"/>
                        </a:lnSpc>
                        <a:spcBef>
                          <a:spcPts val="0"/>
                        </a:spcBef>
                        <a:spcAft>
                          <a:spcPts val="0"/>
                        </a:spcAft>
                      </a:pPr>
                      <a:r>
                        <a:rPr sz="1300" b="0">
                          <a:solidFill>
                            <a:srgbClr val="1F1F1F"/>
                          </a:solidFill>
                          <a:latin typeface="Calibri"/>
                        </a:rPr>
                        <a:t>Empregador de um</a:t>
                      </a:r>
                    </a:p>
                    <a:p>
                      <a:pPr algn="l">
                        <a:lnSpc>
                          <a:spcPct val="100000"/>
                        </a:lnSpc>
                        <a:spcBef>
                          <a:spcPts val="0"/>
                        </a:spcBef>
                        <a:spcAft>
                          <a:spcPts val="0"/>
                        </a:spcAft>
                      </a:pPr>
                      <a:r>
                        <a:rPr sz="1300" b="0">
                          <a:solidFill>
                            <a:srgbClr val="1F1F1F"/>
                          </a:solidFill>
                          <a:latin typeface="Calibri"/>
                        </a:rPr>
                        <a:t>determinado Devedor se</a:t>
                      </a:r>
                    </a:p>
                    <a:p>
                      <a:pPr algn="l">
                        <a:lnSpc>
                          <a:spcPct val="100000"/>
                        </a:lnSpc>
                        <a:spcBef>
                          <a:spcPts val="0"/>
                        </a:spcBef>
                        <a:spcAft>
                          <a:spcPts val="0"/>
                        </a:spcAft>
                      </a:pPr>
                      <a:r>
                        <a:rPr sz="1300" b="0">
                          <a:solidFill>
                            <a:srgbClr val="1F1F1F"/>
                          </a:solidFill>
                          <a:latin typeface="Calibri"/>
                        </a:rPr>
                        <a:t>torne insolvente e, em</a:t>
                      </a:r>
                    </a:p>
                    <a:p>
                      <a:pPr algn="l">
                        <a:lnSpc>
                          <a:spcPct val="100000"/>
                        </a:lnSpc>
                        <a:spcBef>
                          <a:spcPts val="0"/>
                        </a:spcBef>
                        <a:spcAft>
                          <a:spcPts val="0"/>
                        </a:spcAft>
                      </a:pPr>
                      <a:r>
                        <a:rPr sz="1300" b="0">
                          <a:solidFill>
                            <a:srgbClr val="1F1F1F"/>
                          </a:solidFill>
                          <a:latin typeface="Calibri"/>
                        </a:rPr>
                        <a:t>razão disso, haja</a:t>
                      </a:r>
                    </a:p>
                    <a:p>
                      <a:pPr algn="l">
                        <a:lnSpc>
                          <a:spcPct val="100000"/>
                        </a:lnSpc>
                        <a:spcBef>
                          <a:spcPts val="0"/>
                        </a:spcBef>
                        <a:spcAft>
                          <a:spcPts val="0"/>
                        </a:spcAft>
                      </a:pPr>
                      <a:r>
                        <a:rPr sz="1300" b="0">
                          <a:solidFill>
                            <a:srgbClr val="1F1F1F"/>
                          </a:solidFill>
                          <a:latin typeface="Calibri"/>
                        </a:rPr>
                        <a:t>suspensão do pagamento</a:t>
                      </a:r>
                    </a:p>
                    <a:p>
                      <a:pPr algn="l">
                        <a:lnSpc>
                          <a:spcPct val="100000"/>
                        </a:lnSpc>
                        <a:spcBef>
                          <a:spcPts val="0"/>
                        </a:spcBef>
                        <a:spcAft>
                          <a:spcPts val="0"/>
                        </a:spcAft>
                      </a:pPr>
                      <a:r>
                        <a:rPr sz="1300" b="0">
                          <a:solidFill>
                            <a:srgbClr val="1F1F1F"/>
                          </a:solidFill>
                          <a:latin typeface="Calibri"/>
                        </a:rPr>
                        <a:t>da remuneração do</a:t>
                      </a:r>
                    </a:p>
                    <a:p>
                      <a:pPr algn="l">
                        <a:lnSpc>
                          <a:spcPct val="100000"/>
                        </a:lnSpc>
                        <a:spcBef>
                          <a:spcPts val="0"/>
                        </a:spcBef>
                        <a:spcAft>
                          <a:spcPts val="0"/>
                        </a:spcAft>
                      </a:pPr>
                      <a:r>
                        <a:rPr sz="1300" b="0">
                          <a:solidFill>
                            <a:srgbClr val="1F1F1F"/>
                          </a:solidFill>
                          <a:latin typeface="Calibri"/>
                        </a:rPr>
                        <a:t>Devedor, o ref erido</a:t>
                      </a:r>
                    </a:p>
                    <a:p>
                      <a:pPr algn="l">
                        <a:lnSpc>
                          <a:spcPct val="100000"/>
                        </a:lnSpc>
                        <a:spcBef>
                          <a:spcPts val="0"/>
                        </a:spcBef>
                        <a:spcAft>
                          <a:spcPts val="0"/>
                        </a:spcAft>
                      </a:pPr>
                      <a:r>
                        <a:rPr sz="1300" b="0">
                          <a:solidFill>
                            <a:srgbClr val="1F1F1F"/>
                          </a:solidFill>
                          <a:latin typeface="Calibri"/>
                        </a:rPr>
                        <a:t>Devedor poderá f icar</a:t>
                      </a:r>
                    </a:p>
                    <a:p>
                      <a:pPr algn="l">
                        <a:lnSpc>
                          <a:spcPct val="100000"/>
                        </a:lnSpc>
                        <a:spcBef>
                          <a:spcPts val="0"/>
                        </a:spcBef>
                        <a:spcAft>
                          <a:spcPts val="0"/>
                        </a:spcAft>
                      </a:pPr>
                      <a:r>
                        <a:rPr sz="1300" b="0">
                          <a:solidFill>
                            <a:srgbClr val="1F1F1F"/>
                          </a:solidFill>
                          <a:latin typeface="Calibri"/>
                        </a:rPr>
                        <a:t>inadimplente e,</a:t>
                      </a:r>
                    </a:p>
                    <a:p>
                      <a:pPr algn="l">
                        <a:lnSpc>
                          <a:spcPct val="100000"/>
                        </a:lnSpc>
                        <a:spcBef>
                          <a:spcPts val="0"/>
                        </a:spcBef>
                        <a:spcAft>
                          <a:spcPts val="0"/>
                        </a:spcAft>
                      </a:pPr>
                      <a:r>
                        <a:rPr sz="1300" b="0">
                          <a:solidFill>
                            <a:srgbClr val="1F1F1F"/>
                          </a:solidFill>
                          <a:latin typeface="Calibri"/>
                        </a:rPr>
                        <a:t>consequentemente, não</a:t>
                      </a:r>
                    </a:p>
                    <a:p>
                      <a:pPr algn="l">
                        <a:lnSpc>
                          <a:spcPct val="100000"/>
                        </a:lnSpc>
                        <a:spcBef>
                          <a:spcPts val="0"/>
                        </a:spcBef>
                        <a:spcAft>
                          <a:spcPts val="0"/>
                        </a:spcAft>
                      </a:pPr>
                      <a:r>
                        <a:rPr sz="1300" b="0">
                          <a:solidFill>
                            <a:srgbClr val="1F1F1F"/>
                          </a:solidFill>
                          <a:latin typeface="Calibri"/>
                        </a:rPr>
                        <a:t>haverá repasse à Classe</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10.2. As mudanças</a:t>
                      </a:r>
                    </a:p>
                    <a:p>
                      <a:pPr algn="l">
                        <a:lnSpc>
                          <a:spcPct val="100000"/>
                        </a:lnSpc>
                        <a:spcBef>
                          <a:spcPts val="0"/>
                        </a:spcBef>
                        <a:spcAft>
                          <a:spcPts val="0"/>
                        </a:spcAft>
                      </a:pPr>
                      <a:r>
                        <a:rPr sz="1300" b="0">
                          <a:solidFill>
                            <a:srgbClr val="1F1F1F"/>
                          </a:solidFill>
                          <a:latin typeface="Calibri"/>
                        </a:rPr>
                        <a:t>climáticas podem</a:t>
                      </a:r>
                    </a:p>
                    <a:p>
                      <a:pPr algn="l">
                        <a:lnSpc>
                          <a:spcPct val="100000"/>
                        </a:lnSpc>
                        <a:spcBef>
                          <a:spcPts val="0"/>
                        </a:spcBef>
                        <a:spcAft>
                          <a:spcPts val="0"/>
                        </a:spcAft>
                      </a:pPr>
                      <a:r>
                        <a:rPr sz="1300" b="0">
                          <a:solidFill>
                            <a:srgbClr val="1F1F1F"/>
                          </a:solidFill>
                          <a:latin typeface="Calibri"/>
                        </a:rPr>
                        <a:t>impactar severamente os</a:t>
                      </a:r>
                    </a:p>
                    <a:p>
                      <a:pPr algn="l">
                        <a:lnSpc>
                          <a:spcPct val="100000"/>
                        </a:lnSpc>
                        <a:spcBef>
                          <a:spcPts val="0"/>
                        </a:spcBef>
                        <a:spcAft>
                          <a:spcPts val="0"/>
                        </a:spcAft>
                      </a:pPr>
                      <a:r>
                        <a:rPr sz="1300" b="0">
                          <a:solidFill>
                            <a:srgbClr val="1F1F1F"/>
                          </a:solidFill>
                          <a:latin typeface="Calibri"/>
                        </a:rPr>
                        <a:t>ciclos produtivos de</a:t>
                      </a:r>
                    </a:p>
                    <a:p>
                      <a:pPr algn="l">
                        <a:lnSpc>
                          <a:spcPct val="100000"/>
                        </a:lnSpc>
                        <a:spcBef>
                          <a:spcPts val="0"/>
                        </a:spcBef>
                        <a:spcAft>
                          <a:spcPts val="0"/>
                        </a:spcAft>
                      </a:pPr>
                      <a:r>
                        <a:rPr sz="1300" b="0">
                          <a:solidFill>
                            <a:srgbClr val="1F1F1F"/>
                          </a:solidFill>
                          <a:latin typeface="Calibri"/>
                        </a:rPr>
                        <a:t>commodities agrícolas,</a:t>
                      </a:r>
                    </a:p>
                    <a:p>
                      <a:pPr algn="l">
                        <a:lnSpc>
                          <a:spcPct val="100000"/>
                        </a:lnSpc>
                        <a:spcBef>
                          <a:spcPts val="0"/>
                        </a:spcBef>
                        <a:spcAft>
                          <a:spcPts val="0"/>
                        </a:spcAft>
                      </a:pPr>
                      <a:r>
                        <a:rPr sz="1300" b="0">
                          <a:solidFill>
                            <a:srgbClr val="1F1F1F"/>
                          </a:solidFill>
                          <a:latin typeface="Calibri"/>
                        </a:rPr>
                        <a:t>ocasionando, quebras de</a:t>
                      </a:r>
                    </a:p>
                    <a:p>
                      <a:pPr algn="l">
                        <a:lnSpc>
                          <a:spcPct val="100000"/>
                        </a:lnSpc>
                        <a:spcBef>
                          <a:spcPts val="0"/>
                        </a:spcBef>
                        <a:spcAft>
                          <a:spcPts val="0"/>
                        </a:spcAft>
                      </a:pPr>
                      <a:r>
                        <a:rPr sz="1300" b="0">
                          <a:solidFill>
                            <a:srgbClr val="1F1F1F"/>
                          </a:solidFill>
                          <a:latin typeface="Calibri"/>
                        </a:rPr>
                        <a:t>saf ra, volatilidade de</a:t>
                      </a:r>
                    </a:p>
                    <a:p>
                      <a:pPr algn="l">
                        <a:lnSpc>
                          <a:spcPct val="100000"/>
                        </a:lnSpc>
                        <a:spcBef>
                          <a:spcPts val="0"/>
                        </a:spcBef>
                        <a:spcAft>
                          <a:spcPts val="0"/>
                        </a:spcAft>
                      </a:pPr>
                      <a:r>
                        <a:rPr sz="1300" b="0">
                          <a:solidFill>
                            <a:srgbClr val="1F1F1F"/>
                          </a:solidFill>
                          <a:latin typeface="Calibri"/>
                        </a:rPr>
                        <a:t>preços, choques de of</a:t>
                      </a:r>
                    </a:p>
                    <a:p>
                      <a:pPr algn="l">
                        <a:lnSpc>
                          <a:spcPct val="100000"/>
                        </a:lnSpc>
                        <a:spcBef>
                          <a:spcPts val="0"/>
                        </a:spcBef>
                        <a:spcAft>
                          <a:spcPts val="0"/>
                        </a:spcAft>
                      </a:pPr>
                      <a:r>
                        <a:rPr sz="1300" b="0">
                          <a:solidFill>
                            <a:srgbClr val="1F1F1F"/>
                          </a:solidFill>
                          <a:latin typeface="Calibri"/>
                        </a:rPr>
                        <a:t>erta, deterioração da</a:t>
                      </a:r>
                    </a:p>
                    <a:p>
                      <a:pPr algn="l">
                        <a:lnSpc>
                          <a:spcPct val="100000"/>
                        </a:lnSpc>
                        <a:spcBef>
                          <a:spcPts val="0"/>
                        </a:spcBef>
                        <a:spcAft>
                          <a:spcPts val="0"/>
                        </a:spcAft>
                      </a:pPr>
                      <a:r>
                        <a:rPr sz="1300" b="0">
                          <a:solidFill>
                            <a:srgbClr val="1F1F1F"/>
                          </a:solidFill>
                          <a:latin typeface="Calibri"/>
                        </a:rPr>
                        <a:t>qualidade dos produtos</a:t>
                      </a:r>
                    </a:p>
                    <a:p>
                      <a:pPr algn="l">
                        <a:lnSpc>
                          <a:spcPct val="100000"/>
                        </a:lnSpc>
                        <a:spcBef>
                          <a:spcPts val="0"/>
                        </a:spcBef>
                        <a:spcAft>
                          <a:spcPts val="0"/>
                        </a:spcAft>
                      </a:pPr>
                      <a:r>
                        <a:rPr sz="1300" b="0">
                          <a:solidFill>
                            <a:srgbClr val="1F1F1F"/>
                          </a:solidFill>
                          <a:latin typeface="Calibri"/>
                        </a:rPr>
                        <a:t>por elas atingidos, bem</a:t>
                      </a:r>
                    </a:p>
                    <a:p>
                      <a:pPr algn="l">
                        <a:lnSpc>
                          <a:spcPct val="100000"/>
                        </a:lnSpc>
                        <a:spcBef>
                          <a:spcPts val="0"/>
                        </a:spcBef>
                        <a:spcAft>
                          <a:spcPts val="0"/>
                        </a:spcAft>
                      </a:pPr>
                      <a:r>
                        <a:rPr sz="1300" b="0">
                          <a:solidFill>
                            <a:srgbClr val="1F1F1F"/>
                          </a:solidFill>
                          <a:latin typeface="Calibri"/>
                        </a:rPr>
                        <a:t>como interrupção no</a:t>
                      </a:r>
                    </a:p>
                    <a:p>
                      <a:pPr algn="l">
                        <a:lnSpc>
                          <a:spcPct val="100000"/>
                        </a:lnSpc>
                        <a:spcBef>
                          <a:spcPts val="0"/>
                        </a:spcBef>
                        <a:spcAft>
                          <a:spcPts val="0"/>
                        </a:spcAft>
                      </a:pPr>
                      <a:r>
                        <a:rPr sz="1300" b="0">
                          <a:solidFill>
                            <a:srgbClr val="1F1F1F"/>
                          </a:solidFill>
                          <a:latin typeface="Calibri"/>
                        </a:rPr>
                        <a:t>abastecimento destes.</a:t>
                      </a:r>
                    </a:p>
                    <a:p>
                      <a:pPr algn="l">
                        <a:lnSpc>
                          <a:spcPct val="100000"/>
                        </a:lnSpc>
                        <a:spcBef>
                          <a:spcPts val="0"/>
                        </a:spcBef>
                        <a:spcAft>
                          <a:spcPts val="0"/>
                        </a:spcAft>
                      </a:pPr>
                      <a:r>
                        <a:rPr sz="1300" b="0">
                          <a:solidFill>
                            <a:srgbClr val="1F1F1F"/>
                          </a:solidFill>
                          <a:latin typeface="Calibri"/>
                        </a:rPr>
                        <a:t>Ref eridas mudanças</a:t>
                      </a:r>
                    </a:p>
                    <a:p>
                      <a:pPr algn="l">
                        <a:lnSpc>
                          <a:spcPct val="100000"/>
                        </a:lnSpc>
                        <a:spcBef>
                          <a:spcPts val="0"/>
                        </a:spcBef>
                        <a:spcAft>
                          <a:spcPts val="0"/>
                        </a:spcAft>
                      </a:pPr>
                      <a:r>
                        <a:rPr sz="1300" b="0">
                          <a:solidFill>
                            <a:srgbClr val="1F1F1F"/>
                          </a:solidFill>
                          <a:latin typeface="Calibri"/>
                        </a:rPr>
                        <a:t>podem af etar</a:t>
                      </a:r>
                    </a:p>
                    <a:p>
                      <a:pPr algn="l">
                        <a:lnSpc>
                          <a:spcPct val="100000"/>
                        </a:lnSpc>
                        <a:spcBef>
                          <a:spcPts val="0"/>
                        </a:spcBef>
                        <a:spcAft>
                          <a:spcPts val="0"/>
                        </a:spcAft>
                      </a:pPr>
                      <a:r>
                        <a:rPr sz="1300" b="0">
                          <a:solidFill>
                            <a:srgbClr val="1F1F1F"/>
                          </a:solidFill>
                          <a:latin typeface="Calibri"/>
                        </a:rPr>
                        <a:t>adversamente a</a:t>
                      </a:r>
                    </a:p>
                    <a:p>
                      <a:pPr algn="l">
                        <a:lnSpc>
                          <a:spcPct val="100000"/>
                        </a:lnSpc>
                        <a:spcBef>
                          <a:spcPts val="0"/>
                        </a:spcBef>
                        <a:spcAft>
                          <a:spcPts val="0"/>
                        </a:spcAft>
                      </a:pPr>
                      <a:r>
                        <a:rPr sz="1300" b="0">
                          <a:solidFill>
                            <a:srgbClr val="1F1F1F"/>
                          </a:solidFill>
                          <a:latin typeface="Calibri"/>
                        </a:rPr>
                        <a:t>capacidade produtiva e</a:t>
                      </a:r>
                    </a:p>
                    <a:p>
                      <a:pPr algn="l">
                        <a:lnSpc>
                          <a:spcPct val="100000"/>
                        </a:lnSpc>
                        <a:spcBef>
                          <a:spcPts val="0"/>
                        </a:spcBef>
                        <a:spcAft>
                          <a:spcPts val="0"/>
                        </a:spcAft>
                      </a:pPr>
                      <a:r>
                        <a:rPr sz="1300" b="0">
                          <a:solidFill>
                            <a:srgbClr val="1F1F1F"/>
                          </a:solidFill>
                          <a:latin typeface="Calibri"/>
                        </a:rPr>
                        <a:t>de entrega dos produtos</a:t>
                      </a:r>
                    </a:p>
                    <a:p>
                      <a:pPr algn="l">
                        <a:lnSpc>
                          <a:spcPct val="100000"/>
                        </a:lnSpc>
                        <a:spcBef>
                          <a:spcPts val="0"/>
                        </a:spcBef>
                        <a:spcAft>
                          <a:spcPts val="0"/>
                        </a:spcAft>
                      </a:pPr>
                      <a:r>
                        <a:rPr sz="1300" b="0">
                          <a:solidFill>
                            <a:srgbClr val="1F1F1F"/>
                          </a:solidFill>
                          <a:latin typeface="Calibri"/>
                        </a:rPr>
                        <a:t>agrícolas pelos</a:t>
                      </a:r>
                    </a:p>
                    <a:p>
                      <a:pPr algn="l">
                        <a:lnSpc>
                          <a:spcPct val="100000"/>
                        </a:lnSpc>
                        <a:spcBef>
                          <a:spcPts val="0"/>
                        </a:spcBef>
                        <a:spcAft>
                          <a:spcPts val="0"/>
                        </a:spcAft>
                      </a:pPr>
                      <a:r>
                        <a:rPr sz="1300" b="0">
                          <a:solidFill>
                            <a:srgbClr val="1F1F1F"/>
                          </a:solidFill>
                          <a:latin typeface="Calibri"/>
                        </a:rPr>
                        <a:t>devedores, cenário este</a:t>
                      </a:r>
                    </a:p>
                    <a:p>
                      <a:pPr algn="l">
                        <a:lnSpc>
                          <a:spcPct val="100000"/>
                        </a:lnSpc>
                        <a:spcBef>
                          <a:spcPts val="0"/>
                        </a:spcBef>
                        <a:spcAft>
                          <a:spcPts val="0"/>
                        </a:spcAft>
                      </a:pPr>
                      <a:r>
                        <a:rPr sz="1300" b="0">
                          <a:solidFill>
                            <a:srgbClr val="1F1F1F"/>
                          </a:solidFill>
                          <a:latin typeface="Calibri"/>
                        </a:rPr>
                        <a:t>que impactará</a:t>
                      </a:r>
                    </a:p>
                    <a:p>
                      <a:pPr algn="l">
                        <a:lnSpc>
                          <a:spcPct val="100000"/>
                        </a:lnSpc>
                        <a:spcBef>
                          <a:spcPts val="0"/>
                        </a:spcBef>
                        <a:spcAft>
                          <a:spcPts val="0"/>
                        </a:spcAft>
                      </a:pPr>
                      <a:r>
                        <a:rPr sz="1300" b="0">
                          <a:solidFill>
                            <a:srgbClr val="1F1F1F"/>
                          </a:solidFill>
                          <a:latin typeface="Calibri"/>
                        </a:rPr>
                        <a:t>negativamente a</a:t>
                      </a:r>
                    </a:p>
                    <a:p>
                      <a:pPr algn="l">
                        <a:lnSpc>
                          <a:spcPct val="100000"/>
                        </a:lnSpc>
                        <a:spcBef>
                          <a:spcPts val="0"/>
                        </a:spcBef>
                        <a:spcAft>
                          <a:spcPts val="0"/>
                        </a:spcAft>
                      </a:pPr>
                      <a:r>
                        <a:rPr sz="1300" b="0">
                          <a:solidFill>
                            <a:srgbClr val="1F1F1F"/>
                          </a:solidFill>
                          <a:latin typeface="Calibri"/>
                        </a:rPr>
                        <a:t>capacidade de pagamento</a:t>
                      </a:r>
                    </a:p>
                    <a:p>
                      <a:pPr algn="l">
                        <a:lnSpc>
                          <a:spcPct val="100000"/>
                        </a:lnSpc>
                        <a:spcBef>
                          <a:spcPts val="0"/>
                        </a:spcBef>
                        <a:spcAft>
                          <a:spcPts val="0"/>
                        </a:spcAft>
                      </a:pPr>
                      <a:r>
                        <a:rPr sz="1300" b="0">
                          <a:solidFill>
                            <a:srgbClr val="1F1F1F"/>
                          </a:solidFill>
                          <a:latin typeface="Calibri"/>
                        </a:rPr>
                        <a:t>dos Ativos-Alvo</a:t>
                      </a:r>
                    </a:p>
                    <a:p>
                      <a:pPr algn="l">
                        <a:lnSpc>
                          <a:spcPct val="100000"/>
                        </a:lnSpc>
                        <a:spcBef>
                          <a:spcPts val="0"/>
                        </a:spcBef>
                        <a:spcAft>
                          <a:spcPts val="0"/>
                        </a:spcAft>
                      </a:pPr>
                      <a:r>
                        <a:rPr sz="1300" b="0">
                          <a:solidFill>
                            <a:srgbClr val="1F1F1F"/>
                          </a:solidFill>
                          <a:latin typeface="Calibri"/>
                        </a:rPr>
                        <a:t>integrantes da carteira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4/160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Recebíveis e aquisição</a:t>
            </a:r>
          </a:p>
        </p:txBody>
      </p:sp>
      <p:graphicFrame>
        <p:nvGraphicFramePr>
          <p:cNvPr id="3" name="Table 2"/>
          <p:cNvGraphicFramePr>
            <a:graphicFrameLocks noGrp="1"/>
          </p:cNvGraphicFramePr>
          <p:nvPr/>
        </p:nvGraphicFramePr>
        <p:xfrm>
          <a:off x="438912" y="932688"/>
          <a:ext cx="11313868" cy="5253228"/>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4782312">
                <a:tc>
                  <a:txBody>
                    <a:bodyPr wrap="square">
                      <a:noAutofit/>
                    </a:bodyPr>
                    <a:lstStyle/>
                    <a:p>
                      <a:pPr algn="l">
                        <a:lnSpc>
                          <a:spcPct val="100000"/>
                        </a:lnSpc>
                        <a:spcBef>
                          <a:spcPts val="0"/>
                        </a:spcBef>
                        <a:spcAft>
                          <a:spcPts val="0"/>
                        </a:spcAft>
                      </a:pPr>
                      <a:r>
                        <a:rPr sz="1300" b="1">
                          <a:solidFill>
                            <a:srgbClr val="1F1F1F"/>
                          </a:solidFill>
                          <a:latin typeface="Calibri"/>
                        </a:rPr>
                        <a:t>Devedor e consignação</a:t>
                      </a:r>
                    </a:p>
                    <a:p>
                      <a:pPr algn="l">
                        <a:lnSpc>
                          <a:spcPct val="100000"/>
                        </a:lnSpc>
                        <a:spcBef>
                          <a:spcPts val="0"/>
                        </a:spcBef>
                        <a:spcAft>
                          <a:spcPts val="0"/>
                        </a:spcAft>
                      </a:pPr>
                      <a:r>
                        <a:rPr sz="1300" b="1">
                          <a:solidFill>
                            <a:srgbClr val="1F1F1F"/>
                          </a:solidFill>
                          <a:latin typeface="Calibri"/>
                        </a:rPr>
                        <a:t>(continuação)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comum, em conjunto ou</a:t>
                      </a:r>
                    </a:p>
                    <a:p>
                      <a:pPr algn="l">
                        <a:lnSpc>
                          <a:spcPct val="100000"/>
                        </a:lnSpc>
                        <a:spcBef>
                          <a:spcPts val="0"/>
                        </a:spcBef>
                        <a:spcAft>
                          <a:spcPts val="0"/>
                        </a:spcAft>
                      </a:pPr>
                      <a:r>
                        <a:rPr sz="1300" b="0">
                          <a:solidFill>
                            <a:srgbClr val="1F1F1F"/>
                          </a:solidFill>
                          <a:latin typeface="Calibri"/>
                        </a:rPr>
                        <a:t>isoladamente, obrigados</a:t>
                      </a:r>
                    </a:p>
                    <a:p>
                      <a:pPr algn="l">
                        <a:lnSpc>
                          <a:spcPct val="100000"/>
                        </a:lnSpc>
                        <a:spcBef>
                          <a:spcPts val="0"/>
                        </a:spcBef>
                        <a:spcAft>
                          <a:spcPts val="0"/>
                        </a:spcAft>
                      </a:pPr>
                      <a:r>
                        <a:rPr sz="1300" b="0">
                          <a:solidFill>
                            <a:srgbClr val="1F1F1F"/>
                          </a:solidFill>
                          <a:latin typeface="Calibri"/>
                        </a:rPr>
                        <a:t>pelo adiantamento ou</a:t>
                      </a:r>
                    </a:p>
                    <a:p>
                      <a:pPr algn="l">
                        <a:lnSpc>
                          <a:spcPct val="100000"/>
                        </a:lnSpc>
                        <a:spcBef>
                          <a:spcPts val="0"/>
                        </a:spcBef>
                        <a:spcAft>
                          <a:spcPts val="0"/>
                        </a:spcAft>
                      </a:pPr>
                      <a:r>
                        <a:rPr sz="1300" b="0">
                          <a:solidFill>
                            <a:srgbClr val="1F1F1F"/>
                          </a:solidFill>
                          <a:latin typeface="Calibri"/>
                        </a:rPr>
                        <a:t>pagamento de valores</a:t>
                      </a:r>
                    </a:p>
                    <a:p>
                      <a:pPr algn="l">
                        <a:lnSpc>
                          <a:spcPct val="100000"/>
                        </a:lnSpc>
                        <a:spcBef>
                          <a:spcPts val="0"/>
                        </a:spcBef>
                        <a:spcAft>
                          <a:spcPts val="0"/>
                        </a:spcAft>
                      </a:pPr>
                      <a:r>
                        <a:rPr sz="1300" b="0">
                          <a:solidFill>
                            <a:srgbClr val="1F1F1F"/>
                          </a:solidFill>
                          <a:latin typeface="Calibri"/>
                        </a:rPr>
                        <a:t>relacionados aos</a:t>
                      </a:r>
                    </a:p>
                    <a:p>
                      <a:pPr algn="l">
                        <a:lnSpc>
                          <a:spcPct val="100000"/>
                        </a:lnSpc>
                        <a:spcBef>
                          <a:spcPts val="0"/>
                        </a:spcBef>
                        <a:spcAft>
                          <a:spcPts val="0"/>
                        </a:spcAft>
                      </a:pPr>
                      <a:r>
                        <a:rPr sz="1300" b="0">
                          <a:solidFill>
                            <a:srgbClr val="1F1F1F"/>
                          </a:solidFill>
                          <a:latin typeface="Calibri"/>
                        </a:rPr>
                        <a:t>procedimentos ref</a:t>
                      </a:r>
                    </a:p>
                    <a:p>
                      <a:pPr algn="l">
                        <a:lnSpc>
                          <a:spcPct val="100000"/>
                        </a:lnSpc>
                        <a:spcBef>
                          <a:spcPts val="0"/>
                        </a:spcBef>
                        <a:spcAft>
                          <a:spcPts val="0"/>
                        </a:spcAft>
                      </a:pPr>
                      <a:r>
                        <a:rPr sz="1300" b="0">
                          <a:solidFill>
                            <a:srgbClr val="1F1F1F"/>
                          </a:solidFill>
                          <a:latin typeface="Calibri"/>
                        </a:rPr>
                        <a:t>eridos neste Capítulo.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do respectivo Direito</a:t>
                      </a:r>
                    </a:p>
                    <a:p>
                      <a:pPr algn="l">
                        <a:lnSpc>
                          <a:spcPct val="100000"/>
                        </a:lnSpc>
                        <a:spcBef>
                          <a:spcPts val="0"/>
                        </a:spcBef>
                        <a:spcAft>
                          <a:spcPts val="0"/>
                        </a:spcAft>
                      </a:pPr>
                      <a:r>
                        <a:rPr sz="1300" b="0">
                          <a:solidFill>
                            <a:srgbClr val="1F1F1F"/>
                          </a:solidFill>
                          <a:latin typeface="Calibri"/>
                        </a:rPr>
                        <a:t>Creditório, o que</a:t>
                      </a:r>
                    </a:p>
                    <a:p>
                      <a:pPr algn="l">
                        <a:lnSpc>
                          <a:spcPct val="100000"/>
                        </a:lnSpc>
                        <a:spcBef>
                          <a:spcPts val="0"/>
                        </a:spcBef>
                        <a:spcAft>
                          <a:spcPts val="0"/>
                        </a:spcAft>
                      </a:pPr>
                      <a:r>
                        <a:rPr sz="1300" b="0">
                          <a:solidFill>
                            <a:srgbClr val="1F1F1F"/>
                          </a:solidFill>
                          <a:latin typeface="Calibri"/>
                        </a:rPr>
                        <a:t>poderá resultar em</a:t>
                      </a:r>
                    </a:p>
                    <a:p>
                      <a:pPr algn="l">
                        <a:lnSpc>
                          <a:spcPct val="100000"/>
                        </a:lnSpc>
                        <a:spcBef>
                          <a:spcPts val="0"/>
                        </a:spcBef>
                        <a:spcAft>
                          <a:spcPts val="0"/>
                        </a:spcAft>
                      </a:pPr>
                      <a:r>
                        <a:rPr sz="1300" b="0">
                          <a:solidFill>
                            <a:srgbClr val="1F1F1F"/>
                          </a:solidFill>
                          <a:latin typeface="Calibri"/>
                        </a:rPr>
                        <a:t>perdas f inanceiras à</a:t>
                      </a:r>
                    </a:p>
                    <a:p>
                      <a:pPr algn="l">
                        <a:lnSpc>
                          <a:spcPct val="100000"/>
                        </a:lnSpc>
                        <a:spcBef>
                          <a:spcPts val="0"/>
                        </a:spcBef>
                        <a:spcAft>
                          <a:spcPts val="0"/>
                        </a:spcAft>
                      </a:pPr>
                      <a:r>
                        <a:rPr sz="1300" b="0">
                          <a:solidFill>
                            <a:srgbClr val="1F1F1F"/>
                          </a:solidFill>
                          <a:latin typeface="Calibri"/>
                        </a:rPr>
                        <a:t>Classe e aos Cotistas.</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13.2 Todos os custos e</a:t>
                      </a:r>
                    </a:p>
                    <a:p>
                      <a:pPr algn="l">
                        <a:lnSpc>
                          <a:spcPct val="100000"/>
                        </a:lnSpc>
                        <a:spcBef>
                          <a:spcPts val="0"/>
                        </a:spcBef>
                        <a:spcAft>
                          <a:spcPts val="0"/>
                        </a:spcAft>
                      </a:pPr>
                      <a:r>
                        <a:rPr sz="1300" b="0">
                          <a:solidFill>
                            <a:srgbClr val="1F1F1F"/>
                          </a:solidFill>
                          <a:latin typeface="Calibri"/>
                        </a:rPr>
                        <a:t>despesas ref eridos</a:t>
                      </a:r>
                    </a:p>
                    <a:p>
                      <a:pPr algn="l">
                        <a:lnSpc>
                          <a:spcPct val="100000"/>
                        </a:lnSpc>
                        <a:spcBef>
                          <a:spcPts val="0"/>
                        </a:spcBef>
                        <a:spcAft>
                          <a:spcPts val="0"/>
                        </a:spcAft>
                      </a:pPr>
                      <a:r>
                        <a:rPr sz="1300" b="0">
                          <a:solidFill>
                            <a:srgbClr val="1F1F1F"/>
                          </a:solidFill>
                          <a:latin typeface="Calibri"/>
                        </a:rPr>
                        <a:t>neste Capítulo,</a:t>
                      </a:r>
                    </a:p>
                    <a:p>
                      <a:pPr algn="l">
                        <a:lnSpc>
                          <a:spcPct val="100000"/>
                        </a:lnSpc>
                        <a:spcBef>
                          <a:spcPts val="0"/>
                        </a:spcBef>
                        <a:spcAft>
                          <a:spcPts val="0"/>
                        </a:spcAft>
                      </a:pPr>
                      <a:r>
                        <a:rPr sz="1300" b="0">
                          <a:solidFill>
                            <a:srgbClr val="1F1F1F"/>
                          </a:solidFill>
                          <a:latin typeface="Calibri"/>
                        </a:rPr>
                        <a:t>inclusive para</a:t>
                      </a:r>
                    </a:p>
                    <a:p>
                      <a:pPr algn="l">
                        <a:lnSpc>
                          <a:spcPct val="100000"/>
                        </a:lnSpc>
                        <a:spcBef>
                          <a:spcPts val="0"/>
                        </a:spcBef>
                        <a:spcAft>
                          <a:spcPts val="0"/>
                        </a:spcAft>
                      </a:pPr>
                      <a:r>
                        <a:rPr sz="1300" b="0">
                          <a:solidFill>
                            <a:srgbClr val="1F1F1F"/>
                          </a:solidFill>
                          <a:latin typeface="Calibri"/>
                        </a:rPr>
                        <a:t>salvaguarda de direitos</a:t>
                      </a:r>
                    </a:p>
                    <a:p>
                      <a:pPr algn="l">
                        <a:lnSpc>
                          <a:spcPct val="100000"/>
                        </a:lnSpc>
                        <a:spcBef>
                          <a:spcPts val="0"/>
                        </a:spcBef>
                        <a:spcAft>
                          <a:spcPts val="0"/>
                        </a:spcAft>
                      </a:pPr>
                      <a:r>
                        <a:rPr sz="1300" b="0">
                          <a:solidFill>
                            <a:srgbClr val="1F1F1F"/>
                          </a:solidFill>
                          <a:latin typeface="Calibri"/>
                        </a:rPr>
                        <a:t>e prerrogativas da</a:t>
                      </a:r>
                    </a:p>
                    <a:p>
                      <a:pPr algn="l">
                        <a:lnSpc>
                          <a:spcPct val="100000"/>
                        </a:lnSpc>
                        <a:spcBef>
                          <a:spcPts val="0"/>
                        </a:spcBef>
                        <a:spcAft>
                          <a:spcPts val="0"/>
                        </a:spcAft>
                      </a:pPr>
                      <a:r>
                        <a:rPr sz="1300" b="0">
                          <a:solidFill>
                            <a:srgbClr val="1F1F1F"/>
                          </a:solidFill>
                          <a:latin typeface="Calibri"/>
                        </a:rPr>
                        <a:t>Classe e/ou com a</a:t>
                      </a:r>
                    </a:p>
                    <a:p>
                      <a:pPr algn="l">
                        <a:lnSpc>
                          <a:spcPct val="100000"/>
                        </a:lnSpc>
                        <a:spcBef>
                          <a:spcPts val="0"/>
                        </a:spcBef>
                        <a:spcAft>
                          <a:spcPts val="0"/>
                        </a:spcAft>
                      </a:pPr>
                      <a:r>
                        <a:rPr sz="1300" b="0">
                          <a:solidFill>
                            <a:srgbClr val="1F1F1F"/>
                          </a:solidFill>
                          <a:latin typeface="Calibri"/>
                        </a:rPr>
                        <a:t>cobrança judicial e/ou</a:t>
                      </a:r>
                    </a:p>
                    <a:p>
                      <a:pPr algn="l">
                        <a:lnSpc>
                          <a:spcPct val="100000"/>
                        </a:lnSpc>
                        <a:spcBef>
                          <a:spcPts val="0"/>
                        </a:spcBef>
                        <a:spcAft>
                          <a:spcPts val="0"/>
                        </a:spcAft>
                      </a:pPr>
                      <a:r>
                        <a:rPr sz="1300" b="0">
                          <a:solidFill>
                            <a:srgbClr val="1F1F1F"/>
                          </a:solidFill>
                          <a:latin typeface="Calibri"/>
                        </a:rPr>
                        <a:t>extrajudicial de</a:t>
                      </a:r>
                    </a:p>
                    <a:p>
                      <a:pPr algn="l">
                        <a:lnSpc>
                          <a:spcPct val="100000"/>
                        </a:lnSpc>
                        <a:spcBef>
                          <a:spcPts val="0"/>
                        </a:spcBef>
                        <a:spcAft>
                          <a:spcPts val="0"/>
                        </a:spcAft>
                      </a:pPr>
                      <a:r>
                        <a:rPr sz="1300" b="0">
                          <a:solidFill>
                            <a:srgbClr val="1F1F1F"/>
                          </a:solidFill>
                          <a:latin typeface="Calibri"/>
                        </a:rPr>
                        <a:t>Direitos Creditórios</a:t>
                      </a:r>
                    </a:p>
                    <a:p>
                      <a:pPr algn="l">
                        <a:lnSpc>
                          <a:spcPct val="100000"/>
                        </a:lnSpc>
                        <a:spcBef>
                          <a:spcPts val="0"/>
                        </a:spcBef>
                        <a:spcAft>
                          <a:spcPts val="0"/>
                        </a:spcAft>
                      </a:pPr>
                      <a:r>
                        <a:rPr sz="1300" b="0">
                          <a:solidFill>
                            <a:srgbClr val="1F1F1F"/>
                          </a:solidFill>
                          <a:latin typeface="Calibri"/>
                        </a:rPr>
                        <a:t>Inadimplidos ou</a:t>
                      </a:r>
                    </a:p>
                    <a:p>
                      <a:pPr algn="l">
                        <a:lnSpc>
                          <a:spcPct val="100000"/>
                        </a:lnSpc>
                        <a:spcBef>
                          <a:spcPts val="0"/>
                        </a:spcBef>
                        <a:spcAft>
                          <a:spcPts val="0"/>
                        </a:spcAft>
                      </a:pPr>
                      <a:r>
                        <a:rPr sz="1300" b="0">
                          <a:solidFill>
                            <a:srgbClr val="1F1F1F"/>
                          </a:solidFill>
                          <a:latin typeface="Calibri"/>
                        </a:rPr>
                        <a:t>Direitos Creditórios a</a:t>
                      </a:r>
                    </a:p>
                    <a:p>
                      <a:pPr algn="l">
                        <a:lnSpc>
                          <a:spcPct val="100000"/>
                        </a:lnSpc>
                        <a:spcBef>
                          <a:spcPts val="0"/>
                        </a:spcBef>
                        <a:spcAft>
                          <a:spcPts val="0"/>
                        </a:spcAft>
                      </a:pPr>
                      <a:r>
                        <a:rPr sz="1300" b="0">
                          <a:solidFill>
                            <a:srgbClr val="1F1F1F"/>
                          </a:solidFill>
                          <a:latin typeface="Calibri"/>
                        </a:rPr>
                        <a:t>Perf ormar, serão de</a:t>
                      </a:r>
                    </a:p>
                    <a:p>
                      <a:pPr algn="l">
                        <a:lnSpc>
                          <a:spcPct val="100000"/>
                        </a:lnSpc>
                        <a:spcBef>
                          <a:spcPts val="0"/>
                        </a:spcBef>
                        <a:spcAft>
                          <a:spcPts val="0"/>
                        </a:spcAft>
                      </a:pPr>
                      <a:r>
                        <a:rPr sz="1300" b="0">
                          <a:solidFill>
                            <a:srgbClr val="1F1F1F"/>
                          </a:solidFill>
                          <a:latin typeface="Calibri"/>
                        </a:rPr>
                        <a:t>inteira</a:t>
                      </a:r>
                    </a:p>
                    <a:p>
                      <a:pPr algn="l">
                        <a:lnSpc>
                          <a:spcPct val="100000"/>
                        </a:lnSpc>
                        <a:spcBef>
                          <a:spcPts val="0"/>
                        </a:spcBef>
                        <a:spcAft>
                          <a:spcPts val="0"/>
                        </a:spcAft>
                      </a:pPr>
                      <a:r>
                        <a:rPr sz="1300" b="0">
                          <a:solidFill>
                            <a:srgbClr val="1F1F1F"/>
                          </a:solidFill>
                          <a:latin typeface="Calibri"/>
                        </a:rPr>
                        <a:t>responsabilidade da</a:t>
                      </a:r>
                    </a:p>
                    <a:p>
                      <a:pPr algn="l">
                        <a:lnSpc>
                          <a:spcPct val="100000"/>
                        </a:lnSpc>
                        <a:spcBef>
                          <a:spcPts val="0"/>
                        </a:spcBef>
                        <a:spcAft>
                          <a:spcPts val="0"/>
                        </a:spcAft>
                      </a:pPr>
                      <a:r>
                        <a:rPr sz="1300" b="0">
                          <a:solidFill>
                            <a:srgbClr val="1F1F1F"/>
                          </a:solidFill>
                          <a:latin typeface="Calibri"/>
                        </a:rPr>
                        <a:t>Classe, não estando o</a:t>
                      </a:r>
                    </a:p>
                    <a:p>
                      <a:pPr algn="l">
                        <a:lnSpc>
                          <a:spcPct val="100000"/>
                        </a:lnSpc>
                        <a:spcBef>
                          <a:spcPts val="0"/>
                        </a:spcBef>
                        <a:spcAft>
                          <a:spcPts val="0"/>
                        </a:spcAft>
                      </a:pPr>
                      <a:r>
                        <a:rPr sz="1300" b="0">
                          <a:solidFill>
                            <a:srgbClr val="1F1F1F"/>
                          </a:solidFill>
                          <a:latin typeface="Calibri"/>
                        </a:rPr>
                        <a:t>Administrador, o</a:t>
                      </a:r>
                    </a:p>
                    <a:p>
                      <a:pPr algn="l">
                        <a:lnSpc>
                          <a:spcPct val="100000"/>
                        </a:lnSpc>
                        <a:spcBef>
                          <a:spcPts val="0"/>
                        </a:spcBef>
                        <a:spcAft>
                          <a:spcPts val="0"/>
                        </a:spcAft>
                      </a:pPr>
                      <a:r>
                        <a:rPr sz="1300" b="0">
                          <a:solidFill>
                            <a:srgbClr val="1F1F1F"/>
                          </a:solidFill>
                          <a:latin typeface="Calibri"/>
                        </a:rPr>
                        <a:t>Gestor, o Endossante,</a:t>
                      </a:r>
                    </a:p>
                    <a:p>
                      <a:pPr algn="l">
                        <a:lnSpc>
                          <a:spcPct val="100000"/>
                        </a:lnSpc>
                        <a:spcBef>
                          <a:spcPts val="0"/>
                        </a:spcBef>
                        <a:spcAft>
                          <a:spcPts val="0"/>
                        </a:spcAft>
                      </a:pPr>
                      <a:r>
                        <a:rPr sz="1300" b="0">
                          <a:solidFill>
                            <a:srgbClr val="1F1F1F"/>
                          </a:solidFill>
                          <a:latin typeface="Calibri"/>
                        </a:rPr>
                        <a:t>os Devedores, 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da Classe pelos</a:t>
                      </a:r>
                    </a:p>
                    <a:p>
                      <a:pPr algn="l">
                        <a:lnSpc>
                          <a:spcPct val="100000"/>
                        </a:lnSpc>
                        <a:spcBef>
                          <a:spcPts val="0"/>
                        </a:spcBef>
                        <a:spcAft>
                          <a:spcPts val="0"/>
                        </a:spcAft>
                      </a:pPr>
                      <a:r>
                        <a:rPr sz="1300" b="0">
                          <a:solidFill>
                            <a:srgbClr val="1F1F1F"/>
                          </a:solidFill>
                          <a:latin typeface="Calibri"/>
                        </a:rPr>
                        <a:t>devedores e, conforme o</a:t>
                      </a:r>
                    </a:p>
                    <a:p>
                      <a:pPr algn="l">
                        <a:lnSpc>
                          <a:spcPct val="100000"/>
                        </a:lnSpc>
                        <a:spcBef>
                          <a:spcPts val="0"/>
                        </a:spcBef>
                        <a:spcAft>
                          <a:spcPts val="0"/>
                        </a:spcAft>
                      </a:pPr>
                      <a:r>
                        <a:rPr sz="1300" b="0">
                          <a:solidFill>
                            <a:srgbClr val="1F1F1F"/>
                          </a:solidFill>
                          <a:latin typeface="Calibri"/>
                        </a:rPr>
                        <a:t>caso, pelas pessoas</a:t>
                      </a:r>
                    </a:p>
                    <a:p>
                      <a:pPr algn="l">
                        <a:lnSpc>
                          <a:spcPct val="100000"/>
                        </a:lnSpc>
                        <a:spcBef>
                          <a:spcPts val="0"/>
                        </a:spcBef>
                        <a:spcAft>
                          <a:spcPts val="0"/>
                        </a:spcAft>
                      </a:pPr>
                      <a:r>
                        <a:rPr sz="1300" b="0">
                          <a:solidFill>
                            <a:srgbClr val="1F1F1F"/>
                          </a:solidFill>
                          <a:latin typeface="Calibri"/>
                        </a:rPr>
                        <a:t>devedoras dos bens e</a:t>
                      </a:r>
                    </a:p>
                    <a:p>
                      <a:pPr algn="l">
                        <a:lnSpc>
                          <a:spcPct val="100000"/>
                        </a:lnSpc>
                        <a:spcBef>
                          <a:spcPts val="0"/>
                        </a:spcBef>
                        <a:spcAft>
                          <a:spcPts val="0"/>
                        </a:spcAft>
                      </a:pPr>
                      <a:r>
                        <a:rPr sz="1300" b="0">
                          <a:solidFill>
                            <a:srgbClr val="1F1F1F"/>
                          </a:solidFill>
                          <a:latin typeface="Calibri"/>
                        </a:rPr>
                        <a:t>direitos onerados em f</a:t>
                      </a:r>
                    </a:p>
                    <a:p>
                      <a:pPr algn="l">
                        <a:lnSpc>
                          <a:spcPct val="100000"/>
                        </a:lnSpc>
                        <a:spcBef>
                          <a:spcPts val="0"/>
                        </a:spcBef>
                        <a:spcAft>
                          <a:spcPts val="0"/>
                        </a:spcAft>
                      </a:pPr>
                      <a:r>
                        <a:rPr sz="1300" b="0">
                          <a:solidFill>
                            <a:srgbClr val="1F1F1F"/>
                          </a:solidFill>
                          <a:latin typeface="Calibri"/>
                        </a:rPr>
                        <a:t>avor da Classe.</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5/160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Recebíveis e aquisição</a:t>
            </a:r>
          </a:p>
        </p:txBody>
      </p:sp>
      <p:graphicFrame>
        <p:nvGraphicFramePr>
          <p:cNvPr id="3" name="Table 2"/>
          <p:cNvGraphicFramePr>
            <a:graphicFrameLocks noGrp="1"/>
          </p:cNvGraphicFramePr>
          <p:nvPr/>
        </p:nvGraphicFramePr>
        <p:xfrm>
          <a:off x="438912" y="932688"/>
          <a:ext cx="11313868" cy="3378707"/>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2907791">
                <a:tc>
                  <a:txBody>
                    <a:bodyPr wrap="square">
                      <a:noAutofit/>
                    </a:bodyPr>
                    <a:lstStyle/>
                    <a:p>
                      <a:pPr algn="l">
                        <a:lnSpc>
                          <a:spcPct val="100000"/>
                        </a:lnSpc>
                        <a:spcBef>
                          <a:spcPts val="0"/>
                        </a:spcBef>
                        <a:spcAft>
                          <a:spcPts val="0"/>
                        </a:spcAft>
                      </a:pPr>
                      <a:r>
                        <a:rPr sz="1300" b="1">
                          <a:solidFill>
                            <a:srgbClr val="1F1F1F"/>
                          </a:solidFill>
                          <a:latin typeface="Calibri"/>
                        </a:rPr>
                        <a:t>Devedor e consignação</a:t>
                      </a:r>
                    </a:p>
                    <a:p>
                      <a:pPr algn="l">
                        <a:lnSpc>
                          <a:spcPct val="100000"/>
                        </a:lnSpc>
                        <a:spcBef>
                          <a:spcPts val="0"/>
                        </a:spcBef>
                        <a:spcAft>
                          <a:spcPts val="0"/>
                        </a:spcAft>
                      </a:pPr>
                      <a:r>
                        <a:rPr sz="1300" b="1">
                          <a:solidFill>
                            <a:srgbClr val="1F1F1F"/>
                          </a:solidFill>
                          <a:latin typeface="Calibri"/>
                        </a:rPr>
                        <a:t>(continuação)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Custodiante e quaisquer</a:t>
                      </a:r>
                    </a:p>
                    <a:p>
                      <a:pPr algn="l">
                        <a:lnSpc>
                          <a:spcPct val="100000"/>
                        </a:lnSpc>
                        <a:spcBef>
                          <a:spcPts val="0"/>
                        </a:spcBef>
                        <a:spcAft>
                          <a:spcPts val="0"/>
                        </a:spcAft>
                      </a:pPr>
                      <a:r>
                        <a:rPr sz="1300" b="0">
                          <a:solidFill>
                            <a:srgbClr val="1F1F1F"/>
                          </a:solidFill>
                          <a:latin typeface="Calibri"/>
                        </a:rPr>
                        <a:t>de suas respectivas</a:t>
                      </a:r>
                    </a:p>
                    <a:p>
                      <a:pPr algn="l">
                        <a:lnSpc>
                          <a:spcPct val="100000"/>
                        </a:lnSpc>
                        <a:spcBef>
                          <a:spcPts val="0"/>
                        </a:spcBef>
                        <a:spcAft>
                          <a:spcPts val="0"/>
                        </a:spcAft>
                      </a:pPr>
                      <a:r>
                        <a:rPr sz="1300" b="0">
                          <a:solidFill>
                            <a:srgbClr val="1F1F1F"/>
                          </a:solidFill>
                          <a:latin typeface="Calibri"/>
                        </a:rPr>
                        <a:t>pessoas controladoras,</a:t>
                      </a:r>
                    </a:p>
                    <a:p>
                      <a:pPr algn="l">
                        <a:lnSpc>
                          <a:spcPct val="100000"/>
                        </a:lnSpc>
                        <a:spcBef>
                          <a:spcPts val="0"/>
                        </a:spcBef>
                        <a:spcAft>
                          <a:spcPts val="0"/>
                        </a:spcAft>
                      </a:pPr>
                      <a:r>
                        <a:rPr sz="1300" b="0">
                          <a:solidFill>
                            <a:srgbClr val="1F1F1F"/>
                          </a:solidFill>
                          <a:latin typeface="Calibri"/>
                        </a:rPr>
                        <a:t>sociedades por estes</a:t>
                      </a:r>
                    </a:p>
                    <a:p>
                      <a:pPr algn="l">
                        <a:lnSpc>
                          <a:spcPct val="100000"/>
                        </a:lnSpc>
                        <a:spcBef>
                          <a:spcPts val="0"/>
                        </a:spcBef>
                        <a:spcAft>
                          <a:spcPts val="0"/>
                        </a:spcAft>
                      </a:pPr>
                      <a:r>
                        <a:rPr sz="1300" b="0">
                          <a:solidFill>
                            <a:srgbClr val="1F1F1F"/>
                          </a:solidFill>
                          <a:latin typeface="Calibri"/>
                        </a:rPr>
                        <a:t>direta ou indiretamente</a:t>
                      </a:r>
                    </a:p>
                    <a:p>
                      <a:pPr algn="l">
                        <a:lnSpc>
                          <a:spcPct val="100000"/>
                        </a:lnSpc>
                        <a:spcBef>
                          <a:spcPts val="0"/>
                        </a:spcBef>
                        <a:spcAft>
                          <a:spcPts val="0"/>
                        </a:spcAft>
                      </a:pPr>
                      <a:r>
                        <a:rPr sz="1300" b="0">
                          <a:solidFill>
                            <a:srgbClr val="1F1F1F"/>
                          </a:solidFill>
                          <a:latin typeface="Calibri"/>
                        </a:rPr>
                        <a:t>controladas, a estes</a:t>
                      </a:r>
                    </a:p>
                    <a:p>
                      <a:pPr algn="l">
                        <a:lnSpc>
                          <a:spcPct val="100000"/>
                        </a:lnSpc>
                        <a:spcBef>
                          <a:spcPts val="0"/>
                        </a:spcBef>
                        <a:spcAft>
                          <a:spcPts val="0"/>
                        </a:spcAft>
                      </a:pPr>
                      <a:r>
                        <a:rPr sz="1300" b="0">
                          <a:solidFill>
                            <a:srgbClr val="1F1F1F"/>
                          </a:solidFill>
                          <a:latin typeface="Calibri"/>
                        </a:rPr>
                        <a:t>coligadas ou outras</a:t>
                      </a:r>
                    </a:p>
                    <a:p>
                      <a:pPr algn="l">
                        <a:lnSpc>
                          <a:spcPct val="100000"/>
                        </a:lnSpc>
                        <a:spcBef>
                          <a:spcPts val="0"/>
                        </a:spcBef>
                        <a:spcAft>
                          <a:spcPts val="0"/>
                        </a:spcAft>
                      </a:pPr>
                      <a:r>
                        <a:rPr sz="1300" b="0">
                          <a:solidFill>
                            <a:srgbClr val="1F1F1F"/>
                          </a:solidFill>
                          <a:latin typeface="Calibri"/>
                        </a:rPr>
                        <a:t>sociedades sob controle</a:t>
                      </a:r>
                    </a:p>
                    <a:p>
                      <a:pPr algn="l">
                        <a:lnSpc>
                          <a:spcPct val="100000"/>
                        </a:lnSpc>
                        <a:spcBef>
                          <a:spcPts val="0"/>
                        </a:spcBef>
                        <a:spcAft>
                          <a:spcPts val="0"/>
                        </a:spcAft>
                      </a:pPr>
                      <a:r>
                        <a:rPr sz="1300" b="0">
                          <a:solidFill>
                            <a:srgbClr val="1F1F1F"/>
                          </a:solidFill>
                          <a:latin typeface="Calibri"/>
                        </a:rPr>
                        <a:t>comum, em conjunto ou</a:t>
                      </a:r>
                    </a:p>
                    <a:p>
                      <a:pPr algn="l">
                        <a:lnSpc>
                          <a:spcPct val="100000"/>
                        </a:lnSpc>
                        <a:spcBef>
                          <a:spcPts val="0"/>
                        </a:spcBef>
                        <a:spcAft>
                          <a:spcPts val="0"/>
                        </a:spcAft>
                      </a:pPr>
                      <a:r>
                        <a:rPr sz="1300" b="0">
                          <a:solidFill>
                            <a:srgbClr val="1F1F1F"/>
                          </a:solidFill>
                          <a:latin typeface="Calibri"/>
                        </a:rPr>
                        <a:t>isoladamente, obrigados</a:t>
                      </a:r>
                    </a:p>
                    <a:p>
                      <a:pPr algn="l">
                        <a:lnSpc>
                          <a:spcPct val="100000"/>
                        </a:lnSpc>
                        <a:spcBef>
                          <a:spcPts val="0"/>
                        </a:spcBef>
                        <a:spcAft>
                          <a:spcPts val="0"/>
                        </a:spcAft>
                      </a:pPr>
                      <a:r>
                        <a:rPr sz="1300" b="0">
                          <a:solidFill>
                            <a:srgbClr val="1F1F1F"/>
                          </a:solidFill>
                          <a:latin typeface="Calibri"/>
                        </a:rPr>
                        <a:t>pelo adiantamento ou</a:t>
                      </a:r>
                    </a:p>
                    <a:p>
                      <a:pPr algn="l">
                        <a:lnSpc>
                          <a:spcPct val="100000"/>
                        </a:lnSpc>
                        <a:spcBef>
                          <a:spcPts val="0"/>
                        </a:spcBef>
                        <a:spcAft>
                          <a:spcPts val="0"/>
                        </a:spcAft>
                      </a:pPr>
                      <a:r>
                        <a:rPr sz="1300" b="0">
                          <a:solidFill>
                            <a:srgbClr val="1F1F1F"/>
                          </a:solidFill>
                          <a:latin typeface="Calibri"/>
                        </a:rPr>
                        <a:t>pagamento de valores</a:t>
                      </a:r>
                    </a:p>
                    <a:p>
                      <a:pPr algn="l">
                        <a:lnSpc>
                          <a:spcPct val="100000"/>
                        </a:lnSpc>
                        <a:spcBef>
                          <a:spcPts val="0"/>
                        </a:spcBef>
                        <a:spcAft>
                          <a:spcPts val="0"/>
                        </a:spcAft>
                      </a:pPr>
                      <a:r>
                        <a:rPr sz="1300" b="0">
                          <a:solidFill>
                            <a:srgbClr val="1F1F1F"/>
                          </a:solidFill>
                          <a:latin typeface="Calibri"/>
                        </a:rPr>
                        <a:t>relacionados aos</a:t>
                      </a:r>
                    </a:p>
                    <a:p>
                      <a:pPr algn="l">
                        <a:lnSpc>
                          <a:spcPct val="100000"/>
                        </a:lnSpc>
                        <a:spcBef>
                          <a:spcPts val="0"/>
                        </a:spcBef>
                        <a:spcAft>
                          <a:spcPts val="0"/>
                        </a:spcAft>
                      </a:pPr>
                      <a:r>
                        <a:rPr sz="1300" b="0">
                          <a:solidFill>
                            <a:srgbClr val="1F1F1F"/>
                          </a:solidFill>
                          <a:latin typeface="Calibri"/>
                        </a:rPr>
                        <a:t>procedimentos ref</a:t>
                      </a:r>
                    </a:p>
                    <a:p>
                      <a:pPr algn="l">
                        <a:lnSpc>
                          <a:spcPct val="100000"/>
                        </a:lnSpc>
                        <a:spcBef>
                          <a:spcPts val="0"/>
                        </a:spcBef>
                        <a:spcAft>
                          <a:spcPts val="0"/>
                        </a:spcAft>
                      </a:pPr>
                      <a:r>
                        <a:rPr sz="1300" b="0">
                          <a:solidFill>
                            <a:srgbClr val="1F1F1F"/>
                          </a:solidFill>
                          <a:latin typeface="Calibri"/>
                        </a:rPr>
                        <a:t>eridos neste Capítulo.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6/160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Recebíveis e aquisição</a:t>
            </a:r>
          </a:p>
        </p:txBody>
      </p:sp>
      <p:graphicFrame>
        <p:nvGraphicFramePr>
          <p:cNvPr id="3" name="Table 2"/>
          <p:cNvGraphicFramePr>
            <a:graphicFrameLocks noGrp="1"/>
          </p:cNvGraphicFramePr>
          <p:nvPr/>
        </p:nvGraphicFramePr>
        <p:xfrm>
          <a:off x="438912" y="932688"/>
          <a:ext cx="11313868" cy="5253228"/>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4782312">
                <a:tc>
                  <a:txBody>
                    <a:bodyPr wrap="square">
                      <a:noAutofit/>
                    </a:bodyPr>
                    <a:lstStyle/>
                    <a:p>
                      <a:pPr algn="l">
                        <a:lnSpc>
                          <a:spcPct val="100000"/>
                        </a:lnSpc>
                        <a:spcBef>
                          <a:spcPts val="0"/>
                        </a:spcBef>
                        <a:spcAft>
                          <a:spcPts val="0"/>
                        </a:spcAft>
                      </a:pPr>
                      <a:r>
                        <a:rPr sz="1300" b="1">
                          <a:solidFill>
                            <a:srgbClr val="1F1F1F"/>
                          </a:solidFill>
                          <a:latin typeface="Calibri"/>
                        </a:rPr>
                        <a:t>Elegibilidade</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Verificação individual</a:t>
                      </a:r>
                    </a:p>
                    <a:p>
                      <a:pPr algn="l">
                        <a:lnSpc>
                          <a:spcPct val="100000"/>
                        </a:lnSpc>
                        <a:spcBef>
                          <a:spcPts val="0"/>
                        </a:spcBef>
                        <a:spcAft>
                          <a:spcPts val="0"/>
                        </a:spcAft>
                      </a:pPr>
                      <a:r>
                        <a:rPr sz="1300" b="0">
                          <a:solidFill>
                            <a:srgbClr val="1F1F1F"/>
                          </a:solidFill>
                          <a:latin typeface="Calibri"/>
                        </a:rPr>
                        <a:t>e integral na</a:t>
                      </a:r>
                    </a:p>
                    <a:p>
                      <a:pPr algn="l">
                        <a:lnSpc>
                          <a:spcPct val="100000"/>
                        </a:lnSpc>
                        <a:spcBef>
                          <a:spcPts val="0"/>
                        </a:spcBef>
                        <a:spcAft>
                          <a:spcPts val="0"/>
                        </a:spcAft>
                      </a:pPr>
                      <a:r>
                        <a:rPr sz="1300" b="0">
                          <a:solidFill>
                            <a:srgbClr val="1F1F1F"/>
                          </a:solidFill>
                          <a:latin typeface="Calibri"/>
                        </a:rPr>
                        <a:t>aquisição: nenhuma</a:t>
                      </a:r>
                    </a:p>
                    <a:p>
                      <a:pPr algn="l">
                        <a:lnSpc>
                          <a:spcPct val="100000"/>
                        </a:lnSpc>
                        <a:spcBef>
                          <a:spcPts val="0"/>
                        </a:spcBef>
                        <a:spcAft>
                          <a:spcPts val="0"/>
                        </a:spcAft>
                      </a:pPr>
                      <a:r>
                        <a:rPr sz="1300" b="0">
                          <a:solidFill>
                            <a:srgbClr val="1F1F1F"/>
                          </a:solidFill>
                          <a:latin typeface="Calibri"/>
                        </a:rPr>
                        <a:t>parcela já cedida,</a:t>
                      </a:r>
                    </a:p>
                    <a:p>
                      <a:pPr algn="l">
                        <a:lnSpc>
                          <a:spcPct val="100000"/>
                        </a:lnSpc>
                        <a:spcBef>
                          <a:spcPts val="0"/>
                        </a:spcBef>
                        <a:spcAft>
                          <a:spcPts val="0"/>
                        </a:spcAft>
                      </a:pPr>
                      <a:r>
                        <a:rPr sz="1300" b="0">
                          <a:solidFill>
                            <a:srgbClr val="1F1F1F"/>
                          </a:solidFill>
                          <a:latin typeface="Calibri"/>
                        </a:rPr>
                        <a:t>próxima parcela em</a:t>
                      </a:r>
                    </a:p>
                    <a:p>
                      <a:pPr algn="l">
                        <a:lnSpc>
                          <a:spcPct val="100000"/>
                        </a:lnSpc>
                        <a:spcBef>
                          <a:spcPts val="0"/>
                        </a:spcBef>
                        <a:spcAft>
                          <a:spcPts val="0"/>
                        </a:spcAft>
                      </a:pPr>
                      <a:r>
                        <a:rPr sz="1300" b="0">
                          <a:solidFill>
                            <a:srgbClr val="1F1F1F"/>
                          </a:solidFill>
                          <a:latin typeface="Calibri"/>
                        </a:rPr>
                        <a:t>menos de 60 dias,</a:t>
                      </a:r>
                    </a:p>
                    <a:p>
                      <a:pPr algn="l">
                        <a:lnSpc>
                          <a:spcPct val="100000"/>
                        </a:lnSpc>
                        <a:spcBef>
                          <a:spcPts val="0"/>
                        </a:spcBef>
                        <a:spcAft>
                          <a:spcPts val="0"/>
                        </a:spcAft>
                      </a:pPr>
                      <a:r>
                        <a:rPr sz="1300" b="0">
                          <a:solidFill>
                            <a:srgbClr val="1F1F1F"/>
                          </a:solidFill>
                          <a:latin typeface="Calibri"/>
                        </a:rPr>
                        <a:t>prestação superior a R$</a:t>
                      </a:r>
                    </a:p>
                    <a:p>
                      <a:pPr algn="l">
                        <a:lnSpc>
                          <a:spcPct val="100000"/>
                        </a:lnSpc>
                        <a:spcBef>
                          <a:spcPts val="0"/>
                        </a:spcBef>
                        <a:spcAft>
                          <a:spcPts val="0"/>
                        </a:spcAft>
                      </a:pPr>
                      <a:r>
                        <a:rPr sz="1300" b="0">
                          <a:solidFill>
                            <a:srgbClr val="1F1F1F"/>
                          </a:solidFill>
                          <a:latin typeface="Calibri"/>
                        </a:rPr>
                        <a:t>30 e idade do devedor</a:t>
                      </a:r>
                    </a:p>
                    <a:p>
                      <a:pPr algn="l">
                        <a:lnSpc>
                          <a:spcPct val="100000"/>
                        </a:lnSpc>
                        <a:spcBef>
                          <a:spcPts val="0"/>
                        </a:spcBef>
                        <a:spcAft>
                          <a:spcPts val="0"/>
                        </a:spcAft>
                      </a:pPr>
                      <a:r>
                        <a:rPr sz="1300" b="0">
                          <a:solidFill>
                            <a:srgbClr val="1F1F1F"/>
                          </a:solidFill>
                          <a:latin typeface="Calibri"/>
                        </a:rPr>
                        <a:t>somada ao prazo</a:t>
                      </a:r>
                    </a:p>
                    <a:p>
                      <a:pPr algn="l">
                        <a:lnSpc>
                          <a:spcPct val="100000"/>
                        </a:lnSpc>
                        <a:spcBef>
                          <a:spcPts val="0"/>
                        </a:spcBef>
                        <a:spcAft>
                          <a:spcPts val="0"/>
                        </a:spcAft>
                      </a:pPr>
                      <a:r>
                        <a:rPr sz="1300" b="0">
                          <a:solidFill>
                            <a:srgbClr val="1F1F1F"/>
                          </a:solidFill>
                          <a:latin typeface="Calibri"/>
                        </a:rPr>
                        <a:t>remanescente ≤80 anos.</a:t>
                      </a:r>
                    </a:p>
                    <a:p>
                      <a:pPr algn="l">
                        <a:lnSpc>
                          <a:spcPct val="100000"/>
                        </a:lnSpc>
                        <a:spcBef>
                          <a:spcPts val="0"/>
                        </a:spcBef>
                        <a:spcAft>
                          <a:spcPts val="0"/>
                        </a:spcAft>
                      </a:pPr>
                      <a:r>
                        <a:rPr sz="1300" b="0">
                          <a:solidFill>
                            <a:srgbClr val="1F1F1F"/>
                          </a:solidFill>
                          <a:latin typeface="Calibri"/>
                        </a:rPr>
                        <a:t>Exige CCB e devedor</a:t>
                      </a:r>
                    </a:p>
                    <a:p>
                      <a:pPr algn="l">
                        <a:lnSpc>
                          <a:spcPct val="100000"/>
                        </a:lnSpc>
                        <a:spcBef>
                          <a:spcPts val="0"/>
                        </a:spcBef>
                        <a:spcAft>
                          <a:spcPts val="0"/>
                        </a:spcAft>
                      </a:pPr>
                      <a:r>
                        <a:rPr sz="1300" b="0">
                          <a:solidFill>
                            <a:srgbClr val="1F1F1F"/>
                          </a:solidFill>
                          <a:latin typeface="Calibri"/>
                        </a:rPr>
                        <a:t>adimplentes, convênio</a:t>
                      </a:r>
                    </a:p>
                    <a:p>
                      <a:pPr algn="l">
                        <a:lnSpc>
                          <a:spcPct val="100000"/>
                        </a:lnSpc>
                        <a:spcBef>
                          <a:spcPts val="0"/>
                        </a:spcBef>
                        <a:spcAft>
                          <a:spcPts val="0"/>
                        </a:spcAft>
                      </a:pPr>
                      <a:r>
                        <a:rPr sz="1300" b="0">
                          <a:solidFill>
                            <a:srgbClr val="1F1F1F"/>
                          </a:solidFill>
                          <a:latin typeface="Calibri"/>
                        </a:rPr>
                        <a:t>ativo e aquisição de</a:t>
                      </a:r>
                    </a:p>
                    <a:p>
                      <a:pPr algn="l">
                        <a:lnSpc>
                          <a:spcPct val="100000"/>
                        </a:lnSpc>
                        <a:spcBef>
                          <a:spcPts val="0"/>
                        </a:spcBef>
                        <a:spcAft>
                          <a:spcPts val="0"/>
                        </a:spcAft>
                      </a:pPr>
                      <a:r>
                        <a:rPr sz="1300" b="0">
                          <a:solidFill>
                            <a:srgbClr val="1F1F1F"/>
                          </a:solidFill>
                          <a:latin typeface="Calibri"/>
                        </a:rPr>
                        <a:t>todas as parcelas</a:t>
                      </a:r>
                    </a:p>
                    <a:p>
                      <a:pPr algn="l">
                        <a:lnSpc>
                          <a:spcPct val="100000"/>
                        </a:lnSpc>
                        <a:spcBef>
                          <a:spcPts val="0"/>
                        </a:spcBef>
                        <a:spcAft>
                          <a:spcPts val="0"/>
                        </a:spcAft>
                      </a:pPr>
                      <a:r>
                        <a:rPr sz="1300" b="0">
                          <a:solidFill>
                            <a:srgbClr val="1F1F1F"/>
                          </a:solidFill>
                          <a:latin typeface="Calibri"/>
                        </a:rPr>
                        <a:t>vincendas.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4.4.5. Caso um Direito</a:t>
                      </a:r>
                    </a:p>
                    <a:p>
                      <a:pPr algn="l">
                        <a:lnSpc>
                          <a:spcPct val="100000"/>
                        </a:lnSpc>
                        <a:spcBef>
                          <a:spcPts val="0"/>
                        </a:spcBef>
                        <a:spcAft>
                          <a:spcPts val="0"/>
                        </a:spcAft>
                      </a:pPr>
                      <a:r>
                        <a:rPr sz="1300" b="0">
                          <a:solidFill>
                            <a:srgbClr val="1F1F1F"/>
                          </a:solidFill>
                          <a:latin typeface="Calibri"/>
                        </a:rPr>
                        <a:t>Creditório endossado à</a:t>
                      </a:r>
                    </a:p>
                    <a:p>
                      <a:pPr algn="l">
                        <a:lnSpc>
                          <a:spcPct val="100000"/>
                        </a:lnSpc>
                        <a:spcBef>
                          <a:spcPts val="0"/>
                        </a:spcBef>
                        <a:spcAft>
                          <a:spcPts val="0"/>
                        </a:spcAft>
                      </a:pPr>
                      <a:r>
                        <a:rPr sz="1300" b="0">
                          <a:solidFill>
                            <a:srgbClr val="1F1F1F"/>
                          </a:solidFill>
                          <a:latin typeface="Calibri"/>
                        </a:rPr>
                        <a:t>Classe deixe de atender</a:t>
                      </a:r>
                    </a:p>
                    <a:p>
                      <a:pPr algn="l">
                        <a:lnSpc>
                          <a:spcPct val="100000"/>
                        </a:lnSpc>
                        <a:spcBef>
                          <a:spcPts val="0"/>
                        </a:spcBef>
                        <a:spcAft>
                          <a:spcPts val="0"/>
                        </a:spcAft>
                      </a:pPr>
                      <a:r>
                        <a:rPr sz="1300" b="0">
                          <a:solidFill>
                            <a:srgbClr val="1F1F1F"/>
                          </a:solidFill>
                          <a:latin typeface="Calibri"/>
                        </a:rPr>
                        <a:t>quaisquer Critérios de</a:t>
                      </a:r>
                    </a:p>
                    <a:p>
                      <a:pPr algn="l">
                        <a:lnSpc>
                          <a:spcPct val="100000"/>
                        </a:lnSpc>
                        <a:spcBef>
                          <a:spcPts val="0"/>
                        </a:spcBef>
                        <a:spcAft>
                          <a:spcPts val="0"/>
                        </a:spcAft>
                      </a:pPr>
                      <a:r>
                        <a:rPr sz="1300" b="0">
                          <a:solidFill>
                            <a:srgbClr val="1F1F1F"/>
                          </a:solidFill>
                          <a:latin typeface="Calibri"/>
                        </a:rPr>
                        <a:t>Elegibilidade,</a:t>
                      </a:r>
                    </a:p>
                    <a:p>
                      <a:pPr algn="l">
                        <a:lnSpc>
                          <a:spcPct val="100000"/>
                        </a:lnSpc>
                        <a:spcBef>
                          <a:spcPts val="0"/>
                        </a:spcBef>
                        <a:spcAft>
                          <a:spcPts val="0"/>
                        </a:spcAft>
                      </a:pPr>
                      <a:r>
                        <a:rPr sz="1300" b="0">
                          <a:solidFill>
                            <a:srgbClr val="1F1F1F"/>
                          </a:solidFill>
                          <a:latin typeface="Calibri"/>
                        </a:rPr>
                        <a:t>quaisquer condições de</a:t>
                      </a:r>
                    </a:p>
                    <a:p>
                      <a:pPr algn="l">
                        <a:lnSpc>
                          <a:spcPct val="100000"/>
                        </a:lnSpc>
                        <a:spcBef>
                          <a:spcPts val="0"/>
                        </a:spcBef>
                        <a:spcAft>
                          <a:spcPts val="0"/>
                        </a:spcAft>
                      </a:pPr>
                      <a:r>
                        <a:rPr sz="1300" b="0">
                          <a:solidFill>
                            <a:srgbClr val="1F1F1F"/>
                          </a:solidFill>
                          <a:latin typeface="Calibri"/>
                        </a:rPr>
                        <a:t>endosso e/ou quaisquer</a:t>
                      </a:r>
                    </a:p>
                    <a:p>
                      <a:pPr algn="l">
                        <a:lnSpc>
                          <a:spcPct val="100000"/>
                        </a:lnSpc>
                        <a:spcBef>
                          <a:spcPts val="0"/>
                        </a:spcBef>
                        <a:spcAft>
                          <a:spcPts val="0"/>
                        </a:spcAft>
                      </a:pPr>
                      <a:r>
                        <a:rPr sz="1300" b="0">
                          <a:solidFill>
                            <a:srgbClr val="1F1F1F"/>
                          </a:solidFill>
                          <a:latin typeface="Calibri"/>
                        </a:rPr>
                        <a:t>declarações e garantias</a:t>
                      </a:r>
                    </a:p>
                    <a:p>
                      <a:pPr algn="l">
                        <a:lnSpc>
                          <a:spcPct val="100000"/>
                        </a:lnSpc>
                        <a:spcBef>
                          <a:spcPts val="0"/>
                        </a:spcBef>
                        <a:spcAft>
                          <a:spcPts val="0"/>
                        </a:spcAft>
                      </a:pPr>
                      <a:r>
                        <a:rPr sz="1300" b="0">
                          <a:solidFill>
                            <a:srgbClr val="1F1F1F"/>
                          </a:solidFill>
                          <a:latin typeface="Calibri"/>
                        </a:rPr>
                        <a:t>referentes a esse</a:t>
                      </a:r>
                    </a:p>
                    <a:p>
                      <a:pPr algn="l">
                        <a:lnSpc>
                          <a:spcPct val="100000"/>
                        </a:lnSpc>
                        <a:spcBef>
                          <a:spcPts val="0"/>
                        </a:spcBef>
                        <a:spcAft>
                          <a:spcPts val="0"/>
                        </a:spcAft>
                      </a:pPr>
                      <a:r>
                        <a:rPr sz="1300" b="0">
                          <a:solidFill>
                            <a:srgbClr val="1F1F1F"/>
                          </a:solidFill>
                          <a:latin typeface="Calibri"/>
                        </a:rPr>
                        <a:t>Direito Creditório,</a:t>
                      </a:r>
                    </a:p>
                    <a:p>
                      <a:pPr algn="l">
                        <a:lnSpc>
                          <a:spcPct val="100000"/>
                        </a:lnSpc>
                        <a:spcBef>
                          <a:spcPts val="0"/>
                        </a:spcBef>
                        <a:spcAft>
                          <a:spcPts val="0"/>
                        </a:spcAft>
                      </a:pPr>
                      <a:r>
                        <a:rPr sz="1300" b="0">
                          <a:solidFill>
                            <a:srgbClr val="1F1F1F"/>
                          </a:solidFill>
                          <a:latin typeface="Calibri"/>
                        </a:rPr>
                        <a:t>conforme previsto no</a:t>
                      </a:r>
                    </a:p>
                    <a:p>
                      <a:pPr algn="l">
                        <a:lnSpc>
                          <a:spcPct val="100000"/>
                        </a:lnSpc>
                        <a:spcBef>
                          <a:spcPts val="0"/>
                        </a:spcBef>
                        <a:spcAft>
                          <a:spcPts val="0"/>
                        </a:spcAft>
                      </a:pPr>
                      <a:r>
                        <a:rPr sz="1300" b="0">
                          <a:solidFill>
                            <a:srgbClr val="1F1F1F"/>
                          </a:solidFill>
                          <a:latin typeface="Calibri"/>
                        </a:rPr>
                        <a:t>Contrato de Endosso,</a:t>
                      </a:r>
                    </a:p>
                    <a:p>
                      <a:pPr algn="l">
                        <a:lnSpc>
                          <a:spcPct val="100000"/>
                        </a:lnSpc>
                        <a:spcBef>
                          <a:spcPts val="0"/>
                        </a:spcBef>
                        <a:spcAft>
                          <a:spcPts val="0"/>
                        </a:spcAft>
                      </a:pPr>
                      <a:r>
                        <a:rPr sz="1300" b="0">
                          <a:solidFill>
                            <a:srgbClr val="1F1F1F"/>
                          </a:solidFill>
                          <a:latin typeface="Calibri"/>
                        </a:rPr>
                        <a:t>após seu endosso à</a:t>
                      </a:r>
                    </a:p>
                    <a:p>
                      <a:pPr algn="l">
                        <a:lnSpc>
                          <a:spcPct val="100000"/>
                        </a:lnSpc>
                        <a:spcBef>
                          <a:spcPts val="0"/>
                        </a:spcBef>
                        <a:spcAft>
                          <a:spcPts val="0"/>
                        </a:spcAft>
                      </a:pPr>
                      <a:r>
                        <a:rPr sz="1300" b="0">
                          <a:solidFill>
                            <a:srgbClr val="1F1F1F"/>
                          </a:solidFill>
                          <a:latin typeface="Calibri"/>
                        </a:rPr>
                        <a:t>Classe, não haverá</a:t>
                      </a:r>
                    </a:p>
                    <a:p>
                      <a:pPr algn="l">
                        <a:lnSpc>
                          <a:spcPct val="100000"/>
                        </a:lnSpc>
                        <a:spcBef>
                          <a:spcPts val="0"/>
                        </a:spcBef>
                        <a:spcAft>
                          <a:spcPts val="0"/>
                        </a:spcAft>
                      </a:pPr>
                      <a:r>
                        <a:rPr sz="1300" b="0">
                          <a:solidFill>
                            <a:srgbClr val="1F1F1F"/>
                          </a:solidFill>
                          <a:latin typeface="Calibri"/>
                        </a:rPr>
                        <a:t>coobrigação nem direito</a:t>
                      </a:r>
                    </a:p>
                    <a:p>
                      <a:pPr algn="l">
                        <a:lnSpc>
                          <a:spcPct val="100000"/>
                        </a:lnSpc>
                        <a:spcBef>
                          <a:spcPts val="0"/>
                        </a:spcBef>
                        <a:spcAft>
                          <a:spcPts val="0"/>
                        </a:spcAft>
                      </a:pPr>
                      <a:r>
                        <a:rPr sz="1300" b="0">
                          <a:solidFill>
                            <a:srgbClr val="1F1F1F"/>
                          </a:solidFill>
                          <a:latin typeface="Calibri"/>
                        </a:rPr>
                        <a:t>de regresso da Classe</a:t>
                      </a:r>
                    </a:p>
                    <a:p>
                      <a:pPr algn="l">
                        <a:lnSpc>
                          <a:spcPct val="100000"/>
                        </a:lnSpc>
                        <a:spcBef>
                          <a:spcPts val="0"/>
                        </a:spcBef>
                        <a:spcAft>
                          <a:spcPts val="0"/>
                        </a:spcAft>
                      </a:pPr>
                      <a:r>
                        <a:rPr sz="1300" b="0">
                          <a:solidFill>
                            <a:srgbClr val="1F1F1F"/>
                          </a:solidFill>
                          <a:latin typeface="Calibri"/>
                        </a:rPr>
                        <a:t>contra o Endossante, o</a:t>
                      </a:r>
                    </a:p>
                    <a:p>
                      <a:pPr algn="l">
                        <a:lnSpc>
                          <a:spcPct val="100000"/>
                        </a:lnSpc>
                        <a:spcBef>
                          <a:spcPts val="0"/>
                        </a:spcBef>
                        <a:spcAft>
                          <a:spcPts val="0"/>
                        </a:spcAft>
                      </a:pPr>
                      <a:r>
                        <a:rPr sz="1300" b="0">
                          <a:solidFill>
                            <a:srgbClr val="1F1F1F"/>
                          </a:solidFill>
                          <a:latin typeface="Calibri"/>
                        </a:rPr>
                        <a:t>Administrador, o</a:t>
                      </a:r>
                    </a:p>
                    <a:p>
                      <a:pPr algn="l">
                        <a:lnSpc>
                          <a:spcPct val="100000"/>
                        </a:lnSpc>
                        <a:spcBef>
                          <a:spcPts val="0"/>
                        </a:spcBef>
                        <a:spcAft>
                          <a:spcPts val="0"/>
                        </a:spcAft>
                      </a:pPr>
                      <a:r>
                        <a:rPr sz="1300" b="0">
                          <a:solidFill>
                            <a:srgbClr val="1F1F1F"/>
                          </a:solidFill>
                          <a:latin typeface="Calibri"/>
                        </a:rPr>
                        <a:t>Custodiante, o Gestor</a:t>
                      </a:r>
                    </a:p>
                    <a:p>
                      <a:pPr algn="l">
                        <a:lnSpc>
                          <a:spcPct val="100000"/>
                        </a:lnSpc>
                        <a:spcBef>
                          <a:spcPts val="0"/>
                        </a:spcBef>
                        <a:spcAft>
                          <a:spcPts val="0"/>
                        </a:spcAft>
                      </a:pPr>
                      <a:r>
                        <a:rPr sz="1300" b="0">
                          <a:solidFill>
                            <a:srgbClr val="1F1F1F"/>
                          </a:solidFill>
                          <a:latin typeface="Calibri"/>
                        </a:rPr>
                        <a:t>e/ou o Agente de</a:t>
                      </a:r>
                    </a:p>
                    <a:p>
                      <a:pPr algn="l">
                        <a:lnSpc>
                          <a:spcPct val="100000"/>
                        </a:lnSpc>
                        <a:spcBef>
                          <a:spcPts val="0"/>
                        </a:spcBef>
                        <a:spcAft>
                          <a:spcPts val="0"/>
                        </a:spcAft>
                      </a:pPr>
                      <a:r>
                        <a:rPr sz="1300" b="0">
                          <a:solidFill>
                            <a:srgbClr val="1F1F1F"/>
                          </a:solidFill>
                          <a:latin typeface="Calibri"/>
                        </a:rPr>
                        <a:t>Retenção/Cobrança,</a:t>
                      </a:r>
                    </a:p>
                    <a:p>
                      <a:pPr algn="l">
                        <a:lnSpc>
                          <a:spcPct val="100000"/>
                        </a:lnSpc>
                        <a:spcBef>
                          <a:spcPts val="0"/>
                        </a:spcBef>
                        <a:spcAft>
                          <a:spcPts val="0"/>
                        </a:spcAft>
                      </a:pPr>
                      <a:r>
                        <a:rPr sz="1300" b="0">
                          <a:solidFill>
                            <a:srgbClr val="1F1F1F"/>
                          </a:solidFill>
                          <a:latin typeface="Calibri"/>
                        </a:rPr>
                        <a:t>exceto em caso de</a:t>
                      </a:r>
                    </a:p>
                    <a:p>
                      <a:pPr algn="l">
                        <a:lnSpc>
                          <a:spcPct val="100000"/>
                        </a:lnSpc>
                        <a:spcBef>
                          <a:spcPts val="0"/>
                        </a:spcBef>
                        <a:spcAft>
                          <a:spcPts val="0"/>
                        </a:spcAft>
                      </a:pPr>
                      <a:r>
                        <a:rPr sz="1300" b="0">
                          <a:solidFill>
                            <a:srgbClr val="1F1F1F"/>
                          </a:solidFill>
                          <a:latin typeface="Calibri"/>
                        </a:rPr>
                        <a:t>má-fé, culpa ou dolo</a:t>
                      </a:r>
                    </a:p>
                    <a:p>
                      <a:pPr algn="l">
                        <a:lnSpc>
                          <a:spcPct val="100000"/>
                        </a:lnSpc>
                        <a:spcBef>
                          <a:spcPts val="0"/>
                        </a:spcBef>
                        <a:spcAft>
                          <a:spcPts val="0"/>
                        </a:spcAft>
                      </a:pPr>
                      <a:r>
                        <a:rPr sz="1300" b="0">
                          <a:solidFill>
                            <a:srgbClr val="1F1F1F"/>
                          </a:solidFill>
                          <a:latin typeface="Calibri"/>
                        </a:rPr>
                        <a:t>comprovado, hipótese em</a:t>
                      </a:r>
                    </a:p>
                    <a:p>
                      <a:pPr algn="l">
                        <a:lnSpc>
                          <a:spcPct val="100000"/>
                        </a:lnSpc>
                        <a:spcBef>
                          <a:spcPts val="0"/>
                        </a:spcBef>
                        <a:spcAft>
                          <a:spcPts val="0"/>
                        </a:spcAft>
                      </a:pPr>
                      <a:r>
                        <a:rPr sz="1300" b="0">
                          <a:solidFill>
                            <a:srgbClr val="1F1F1F"/>
                          </a:solidFill>
                          <a:latin typeface="Calibri"/>
                        </a:rPr>
                        <a:t>que a parte que agiu</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Critérios cumulativos:</a:t>
                      </a:r>
                    </a:p>
                    <a:p>
                      <a:pPr algn="l">
                        <a:lnSpc>
                          <a:spcPct val="100000"/>
                        </a:lnSpc>
                        <a:spcBef>
                          <a:spcPts val="0"/>
                        </a:spcBef>
                        <a:spcAft>
                          <a:spcPts val="0"/>
                        </a:spcAft>
                      </a:pPr>
                      <a:r>
                        <a:rPr sz="1300" b="0">
                          <a:solidFill>
                            <a:srgbClr val="1F1F1F"/>
                          </a:solidFill>
                          <a:latin typeface="Calibri"/>
                        </a:rPr>
                        <a:t>moeda nacional,</a:t>
                      </a:r>
                    </a:p>
                    <a:p>
                      <a:pPr algn="l">
                        <a:lnSpc>
                          <a:spcPct val="100000"/>
                        </a:lnSpc>
                        <a:spcBef>
                          <a:spcPts val="0"/>
                        </a:spcBef>
                        <a:spcAft>
                          <a:spcPts val="0"/>
                        </a:spcAft>
                      </a:pPr>
                      <a:r>
                        <a:rPr sz="1300" b="0">
                          <a:solidFill>
                            <a:srgbClr val="1F1F1F"/>
                          </a:solidFill>
                          <a:latin typeface="Calibri"/>
                        </a:rPr>
                        <a:t>registro</a:t>
                      </a:r>
                    </a:p>
                    <a:p>
                      <a:pPr algn="l">
                        <a:lnSpc>
                          <a:spcPct val="100000"/>
                        </a:lnSpc>
                        <a:spcBef>
                          <a:spcPts val="0"/>
                        </a:spcBef>
                        <a:spcAft>
                          <a:spcPts val="0"/>
                        </a:spcAft>
                      </a:pPr>
                      <a:r>
                        <a:rPr sz="1300" b="0">
                          <a:solidFill>
                            <a:srgbClr val="1F1F1F"/>
                          </a:solidFill>
                          <a:latin typeface="Calibri"/>
                        </a:rPr>
                        <a:t>contábil/custódia ou</a:t>
                      </a:r>
                    </a:p>
                    <a:p>
                      <a:pPr algn="l">
                        <a:lnSpc>
                          <a:spcPct val="100000"/>
                        </a:lnSpc>
                        <a:spcBef>
                          <a:spcPts val="0"/>
                        </a:spcBef>
                        <a:spcAft>
                          <a:spcPts val="0"/>
                        </a:spcAft>
                      </a:pPr>
                      <a:r>
                        <a:rPr sz="1300" b="0">
                          <a:solidFill>
                            <a:srgbClr val="1F1F1F"/>
                          </a:solidFill>
                          <a:latin typeface="Calibri"/>
                        </a:rPr>
                        <a:t>entidade registradora,</a:t>
                      </a:r>
                    </a:p>
                    <a:p>
                      <a:pPr algn="l">
                        <a:lnSpc>
                          <a:spcPct val="100000"/>
                        </a:lnSpc>
                        <a:spcBef>
                          <a:spcPts val="0"/>
                        </a:spcBef>
                        <a:spcAft>
                          <a:spcPts val="0"/>
                        </a:spcAft>
                      </a:pPr>
                      <a:r>
                        <a:rPr sz="1300" b="0">
                          <a:solidFill>
                            <a:srgbClr val="1F1F1F"/>
                          </a:solidFill>
                          <a:latin typeface="Calibri"/>
                        </a:rPr>
                        <a:t>origem vinculada ao</a:t>
                      </a:r>
                    </a:p>
                    <a:p>
                      <a:pPr algn="l">
                        <a:lnSpc>
                          <a:spcPct val="100000"/>
                        </a:lnSpc>
                        <a:spcBef>
                          <a:spcPts val="0"/>
                        </a:spcBef>
                        <a:spcAft>
                          <a:spcPts val="0"/>
                        </a:spcAft>
                      </a:pPr>
                      <a:r>
                        <a:rPr sz="1300" b="0">
                          <a:solidFill>
                            <a:srgbClr val="1F1F1F"/>
                          </a:solidFill>
                          <a:latin typeface="Calibri"/>
                        </a:rPr>
                        <a:t>agronegócio e</a:t>
                      </a:r>
                    </a:p>
                    <a:p>
                      <a:pPr algn="l">
                        <a:lnSpc>
                          <a:spcPct val="100000"/>
                        </a:lnSpc>
                        <a:spcBef>
                          <a:spcPts val="0"/>
                        </a:spcBef>
                        <a:spcAft>
                          <a:spcPts val="0"/>
                        </a:spcAft>
                      </a:pPr>
                      <a:r>
                        <a:rPr sz="1300" b="0">
                          <a:solidFill>
                            <a:srgbClr val="1F1F1F"/>
                          </a:solidFill>
                          <a:latin typeface="Calibri"/>
                        </a:rPr>
                        <a:t>direitos/títulos de</a:t>
                      </a:r>
                    </a:p>
                    <a:p>
                      <a:pPr algn="l">
                        <a:lnSpc>
                          <a:spcPct val="100000"/>
                        </a:lnSpc>
                        <a:spcBef>
                          <a:spcPts val="0"/>
                        </a:spcBef>
                        <a:spcAft>
                          <a:spcPts val="0"/>
                        </a:spcAft>
                      </a:pPr>
                      <a:r>
                        <a:rPr sz="1300" b="0">
                          <a:solidFill>
                            <a:srgbClr val="1F1F1F"/>
                          </a:solidFill>
                          <a:latin typeface="Calibri"/>
                        </a:rPr>
                        <a:t>crédito com ou sem</a:t>
                      </a:r>
                    </a:p>
                    <a:p>
                      <a:pPr algn="l">
                        <a:lnSpc>
                          <a:spcPct val="100000"/>
                        </a:lnSpc>
                        <a:spcBef>
                          <a:spcPts val="0"/>
                        </a:spcBef>
                        <a:spcAft>
                          <a:spcPts val="0"/>
                        </a:spcAft>
                      </a:pPr>
                      <a:r>
                        <a:rPr sz="1300" b="0">
                          <a:solidFill>
                            <a:srgbClr val="1F1F1F"/>
                          </a:solidFill>
                          <a:latin typeface="Calibri"/>
                        </a:rPr>
                        <a:t>garantias. Gestor</a:t>
                      </a:r>
                    </a:p>
                    <a:p>
                      <a:pPr algn="l">
                        <a:lnSpc>
                          <a:spcPct val="100000"/>
                        </a:lnSpc>
                        <a:spcBef>
                          <a:spcPts val="0"/>
                        </a:spcBef>
                        <a:spcAft>
                          <a:spcPts val="0"/>
                        </a:spcAft>
                      </a:pPr>
                      <a:r>
                        <a:rPr sz="1300" b="0">
                          <a:solidFill>
                            <a:srgbClr val="1F1F1F"/>
                          </a:solidFill>
                          <a:latin typeface="Calibri"/>
                        </a:rPr>
                        <a:t>verifica por amostragem</a:t>
                      </a:r>
                    </a:p>
                    <a:p>
                      <a:pPr algn="l">
                        <a:lnSpc>
                          <a:spcPct val="100000"/>
                        </a:lnSpc>
                        <a:spcBef>
                          <a:spcPts val="0"/>
                        </a:spcBef>
                        <a:spcAft>
                          <a:spcPts val="0"/>
                        </a:spcAft>
                      </a:pPr>
                      <a:r>
                        <a:rPr sz="1300" b="0">
                          <a:solidFill>
                            <a:srgbClr val="1F1F1F"/>
                          </a:solidFill>
                          <a:latin typeface="Calibri"/>
                        </a:rPr>
                        <a:t>antes e na aquisição;</a:t>
                      </a:r>
                    </a:p>
                    <a:p>
                      <a:pPr algn="l">
                        <a:lnSpc>
                          <a:spcPct val="100000"/>
                        </a:lnSpc>
                        <a:spcBef>
                          <a:spcPts val="0"/>
                        </a:spcBef>
                        <a:spcAft>
                          <a:spcPts val="0"/>
                        </a:spcAft>
                      </a:pPr>
                      <a:r>
                        <a:rPr sz="1300" b="0">
                          <a:solidFill>
                            <a:srgbClr val="1F1F1F"/>
                          </a:solidFill>
                          <a:latin typeface="Calibri"/>
                        </a:rPr>
                        <a:t>usa PL e valor dos</a:t>
                      </a:r>
                    </a:p>
                    <a:p>
                      <a:pPr algn="l">
                        <a:lnSpc>
                          <a:spcPct val="100000"/>
                        </a:lnSpc>
                        <a:spcBef>
                          <a:spcPts val="0"/>
                        </a:spcBef>
                        <a:spcAft>
                          <a:spcPts val="0"/>
                        </a:spcAft>
                      </a:pPr>
                      <a:r>
                        <a:rPr sz="1300" b="0">
                          <a:solidFill>
                            <a:srgbClr val="1F1F1F"/>
                          </a:solidFill>
                          <a:latin typeface="Calibri"/>
                        </a:rPr>
                        <a:t>créditos do dia útil</a:t>
                      </a:r>
                    </a:p>
                    <a:p>
                      <a:pPr algn="l">
                        <a:lnSpc>
                          <a:spcPct val="100000"/>
                        </a:lnSpc>
                        <a:spcBef>
                          <a:spcPts val="0"/>
                        </a:spcBef>
                        <a:spcAft>
                          <a:spcPts val="0"/>
                        </a:spcAft>
                      </a:pPr>
                      <a:r>
                        <a:rPr sz="1300" b="0">
                          <a:solidFill>
                            <a:srgbClr val="1F1F1F"/>
                          </a:solidFill>
                          <a:latin typeface="Calibri"/>
                        </a:rPr>
                        <a:t>anterior. Perda</a:t>
                      </a:r>
                    </a:p>
                    <a:p>
                      <a:pPr algn="l">
                        <a:lnSpc>
                          <a:spcPct val="100000"/>
                        </a:lnSpc>
                        <a:spcBef>
                          <a:spcPts val="0"/>
                        </a:spcBef>
                        <a:spcAft>
                          <a:spcPts val="0"/>
                        </a:spcAft>
                      </a:pPr>
                      <a:r>
                        <a:rPr sz="1300" b="0">
                          <a:solidFill>
                            <a:srgbClr val="1F1F1F"/>
                          </a:solidFill>
                          <a:latin typeface="Calibri"/>
                        </a:rPr>
                        <a:t>posterior de</a:t>
                      </a:r>
                    </a:p>
                    <a:p>
                      <a:pPr algn="l">
                        <a:lnSpc>
                          <a:spcPct val="100000"/>
                        </a:lnSpc>
                        <a:spcBef>
                          <a:spcPts val="0"/>
                        </a:spcBef>
                        <a:spcAft>
                          <a:spcPts val="0"/>
                        </a:spcAft>
                      </a:pPr>
                      <a:r>
                        <a:rPr sz="1300" b="0">
                          <a:solidFill>
                            <a:srgbClr val="1F1F1F"/>
                          </a:solidFill>
                          <a:latin typeface="Calibri"/>
                        </a:rPr>
                        <a:t>elegibilidade não</a:t>
                      </a:r>
                    </a:p>
                    <a:p>
                      <a:pPr algn="l">
                        <a:lnSpc>
                          <a:spcPct val="100000"/>
                        </a:lnSpc>
                        <a:spcBef>
                          <a:spcPts val="0"/>
                        </a:spcBef>
                        <a:spcAft>
                          <a:spcPts val="0"/>
                        </a:spcAft>
                      </a:pPr>
                      <a:r>
                        <a:rPr sz="1300" b="0">
                          <a:solidFill>
                            <a:srgbClr val="1F1F1F"/>
                          </a:solidFill>
                          <a:latin typeface="Calibri"/>
                        </a:rPr>
                        <a:t>constitui</a:t>
                      </a:r>
                    </a:p>
                    <a:p>
                      <a:pPr algn="l">
                        <a:lnSpc>
                          <a:spcPct val="100000"/>
                        </a:lnSpc>
                        <a:spcBef>
                          <a:spcPts val="0"/>
                        </a:spcBef>
                        <a:spcAft>
                          <a:spcPts val="0"/>
                        </a:spcAft>
                      </a:pPr>
                      <a:r>
                        <a:rPr sz="1300" b="0">
                          <a:solidFill>
                            <a:srgbClr val="1F1F1F"/>
                          </a:solidFill>
                          <a:latin typeface="Calibri"/>
                        </a:rPr>
                        <a:t>desenquadramento nem</a:t>
                      </a:r>
                    </a:p>
                    <a:p>
                      <a:pPr algn="l">
                        <a:lnSpc>
                          <a:spcPct val="100000"/>
                        </a:lnSpc>
                        <a:spcBef>
                          <a:spcPts val="0"/>
                        </a:spcBef>
                        <a:spcAft>
                          <a:spcPts val="0"/>
                        </a:spcAft>
                      </a:pPr>
                      <a:r>
                        <a:rPr sz="1300" b="0">
                          <a:solidFill>
                            <a:srgbClr val="1F1F1F"/>
                          </a:solidFill>
                          <a:latin typeface="Calibri"/>
                        </a:rPr>
                        <a:t>regresso contra</a:t>
                      </a:r>
                    </a:p>
                    <a:p>
                      <a:pPr algn="l">
                        <a:lnSpc>
                          <a:spcPct val="100000"/>
                        </a:lnSpc>
                        <a:spcBef>
                          <a:spcPts val="0"/>
                        </a:spcBef>
                        <a:spcAft>
                          <a:spcPts val="0"/>
                        </a:spcAft>
                      </a:pPr>
                      <a:r>
                        <a:rPr sz="1300" b="0">
                          <a:solidFill>
                            <a:srgbClr val="1F1F1F"/>
                          </a:solidFill>
                          <a:latin typeface="Calibri"/>
                        </a:rPr>
                        <a:t>administrador/gestor.</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Único critério de</a:t>
                      </a:r>
                    </a:p>
                    <a:p>
                      <a:pPr algn="l">
                        <a:lnSpc>
                          <a:spcPct val="100000"/>
                        </a:lnSpc>
                        <a:spcBef>
                          <a:spcPts val="0"/>
                        </a:spcBef>
                        <a:spcAft>
                          <a:spcPts val="0"/>
                        </a:spcAft>
                      </a:pPr>
                      <a:r>
                        <a:rPr sz="1300" b="0">
                          <a:solidFill>
                            <a:srgbClr val="1F1F1F"/>
                          </a:solidFill>
                          <a:latin typeface="Calibri"/>
                        </a:rPr>
                        <a:t>crédito: ser cota da</a:t>
                      </a:r>
                    </a:p>
                    <a:p>
                      <a:pPr algn="l">
                        <a:lnSpc>
                          <a:spcPct val="100000"/>
                        </a:lnSpc>
                        <a:spcBef>
                          <a:spcPts val="0"/>
                        </a:spcBef>
                        <a:spcAft>
                          <a:spcPts val="0"/>
                        </a:spcAft>
                      </a:pPr>
                      <a:r>
                        <a:rPr sz="1300" b="0">
                          <a:solidFill>
                            <a:srgbClr val="1F1F1F"/>
                          </a:solidFill>
                          <a:latin typeface="Calibri"/>
                        </a:rPr>
                        <a:t>classe investida</a:t>
                      </a:r>
                    </a:p>
                    <a:p>
                      <a:pPr algn="l">
                        <a:lnSpc>
                          <a:spcPct val="100000"/>
                        </a:lnSpc>
                        <a:spcBef>
                          <a:spcPts val="0"/>
                        </a:spcBef>
                        <a:spcAft>
                          <a:spcPts val="0"/>
                        </a:spcAft>
                      </a:pPr>
                      <a:r>
                        <a:rPr sz="1300" b="0">
                          <a:solidFill>
                            <a:srgbClr val="1F1F1F"/>
                          </a:solidFill>
                          <a:latin typeface="Calibri"/>
                        </a:rPr>
                        <a:t>nomeada; gestor</a:t>
                      </a:r>
                    </a:p>
                    <a:p>
                      <a:pPr algn="l">
                        <a:lnSpc>
                          <a:spcPct val="100000"/>
                        </a:lnSpc>
                        <a:spcBef>
                          <a:spcPts val="0"/>
                        </a:spcBef>
                        <a:spcAft>
                          <a:spcPts val="0"/>
                        </a:spcAft>
                      </a:pPr>
                      <a:r>
                        <a:rPr sz="1300" b="0">
                          <a:solidFill>
                            <a:srgbClr val="1F1F1F"/>
                          </a:solidFill>
                          <a:latin typeface="Calibri"/>
                        </a:rPr>
                        <a:t>verifica antes de cada</a:t>
                      </a:r>
                    </a:p>
                    <a:p>
                      <a:pPr algn="l">
                        <a:lnSpc>
                          <a:spcPct val="100000"/>
                        </a:lnSpc>
                        <a:spcBef>
                          <a:spcPts val="0"/>
                        </a:spcBef>
                        <a:spcAft>
                          <a:spcPts val="0"/>
                        </a:spcAft>
                      </a:pPr>
                      <a:r>
                        <a:rPr sz="1300" b="0">
                          <a:solidFill>
                            <a:srgbClr val="1F1F1F"/>
                          </a:solidFill>
                          <a:latin typeface="Calibri"/>
                        </a:rPr>
                        <a:t>subscrição/compra.</a:t>
                      </a:r>
                    </a:p>
                    <a:p>
                      <a:pPr algn="l">
                        <a:lnSpc>
                          <a:spcPct val="100000"/>
                        </a:lnSpc>
                        <a:spcBef>
                          <a:spcPts val="0"/>
                        </a:spcBef>
                        <a:spcAft>
                          <a:spcPts val="0"/>
                        </a:spcAft>
                      </a:pPr>
                      <a:r>
                        <a:rPr sz="1300" b="0">
                          <a:solidFill>
                            <a:srgbClr val="1F1F1F"/>
                          </a:solidFill>
                          <a:latin typeface="Calibri"/>
                        </a:rPr>
                        <a:t>Cotas devem possuir</a:t>
                      </a:r>
                    </a:p>
                    <a:p>
                      <a:pPr algn="l">
                        <a:lnSpc>
                          <a:spcPct val="100000"/>
                        </a:lnSpc>
                        <a:spcBef>
                          <a:spcPts val="0"/>
                        </a:spcBef>
                        <a:spcAft>
                          <a:spcPts val="0"/>
                        </a:spcAft>
                      </a:pPr>
                      <a:r>
                        <a:rPr sz="1300" b="0">
                          <a:solidFill>
                            <a:srgbClr val="1F1F1F"/>
                          </a:solidFill>
                          <a:latin typeface="Calibri"/>
                        </a:rPr>
                        <a:t>comprovantes de</a:t>
                      </a:r>
                    </a:p>
                    <a:p>
                      <a:pPr algn="l">
                        <a:lnSpc>
                          <a:spcPct val="100000"/>
                        </a:lnSpc>
                        <a:spcBef>
                          <a:spcPts val="0"/>
                        </a:spcBef>
                        <a:spcAft>
                          <a:spcPts val="0"/>
                        </a:spcAft>
                      </a:pPr>
                      <a:r>
                        <a:rPr sz="1300" b="0">
                          <a:solidFill>
                            <a:srgbClr val="1F1F1F"/>
                          </a:solidFill>
                          <a:latin typeface="Calibri"/>
                        </a:rPr>
                        <a:t>existência, validade e</a:t>
                      </a:r>
                    </a:p>
                    <a:p>
                      <a:pPr algn="l">
                        <a:lnSpc>
                          <a:spcPct val="100000"/>
                        </a:lnSpc>
                        <a:spcBef>
                          <a:spcPts val="0"/>
                        </a:spcBef>
                        <a:spcAft>
                          <a:spcPts val="0"/>
                        </a:spcAft>
                      </a:pPr>
                      <a:r>
                        <a:rPr sz="1300" b="0">
                          <a:solidFill>
                            <a:srgbClr val="1F1F1F"/>
                          </a:solidFill>
                          <a:latin typeface="Calibri"/>
                        </a:rPr>
                        <a:t>exequibilidade.</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7/160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Recebíveis e aquisição</a:t>
            </a:r>
          </a:p>
        </p:txBody>
      </p:sp>
      <p:graphicFrame>
        <p:nvGraphicFramePr>
          <p:cNvPr id="3" name="Table 2"/>
          <p:cNvGraphicFramePr>
            <a:graphicFrameLocks noGrp="1"/>
          </p:cNvGraphicFramePr>
          <p:nvPr/>
        </p:nvGraphicFramePr>
        <p:xfrm>
          <a:off x="438912" y="932688"/>
          <a:ext cx="11313868" cy="5253228"/>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4782312">
                <a:tc>
                  <a:txBody>
                    <a:bodyPr wrap="square">
                      <a:noAutofit/>
                    </a:bodyPr>
                    <a:lstStyle/>
                    <a:p>
                      <a:pPr algn="l">
                        <a:lnSpc>
                          <a:spcPct val="100000"/>
                        </a:lnSpc>
                        <a:spcBef>
                          <a:spcPts val="0"/>
                        </a:spcBef>
                        <a:spcAft>
                          <a:spcPts val="0"/>
                        </a:spcAft>
                      </a:pPr>
                      <a:r>
                        <a:rPr sz="1300" b="1">
                          <a:solidFill>
                            <a:srgbClr val="1F1F1F"/>
                          </a:solidFill>
                          <a:latin typeface="Calibri"/>
                        </a:rPr>
                        <a:t>Elegibilidade</a:t>
                      </a:r>
                    </a:p>
                    <a:p>
                      <a:pPr algn="l">
                        <a:lnSpc>
                          <a:spcPct val="100000"/>
                        </a:lnSpc>
                        <a:spcBef>
                          <a:spcPts val="0"/>
                        </a:spcBef>
                        <a:spcAft>
                          <a:spcPts val="0"/>
                        </a:spcAft>
                      </a:pPr>
                      <a:r>
                        <a:rPr sz="1300" b="1">
                          <a:solidFill>
                            <a:srgbClr val="1F1F1F"/>
                          </a:solidFill>
                          <a:latin typeface="Calibri"/>
                        </a:rPr>
                        <a:t>(continuação)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com má-f é, culpa ou</a:t>
                      </a:r>
                    </a:p>
                    <a:p>
                      <a:pPr algn="l">
                        <a:lnSpc>
                          <a:spcPct val="100000"/>
                        </a:lnSpc>
                        <a:spcBef>
                          <a:spcPts val="0"/>
                        </a:spcBef>
                        <a:spcAft>
                          <a:spcPts val="0"/>
                        </a:spcAft>
                      </a:pPr>
                      <a:r>
                        <a:rPr sz="1300" b="0">
                          <a:solidFill>
                            <a:srgbClr val="1F1F1F"/>
                          </a:solidFill>
                          <a:latin typeface="Calibri"/>
                        </a:rPr>
                        <a:t>dolo comprovado poderá</a:t>
                      </a:r>
                    </a:p>
                    <a:p>
                      <a:pPr algn="l">
                        <a:lnSpc>
                          <a:spcPct val="100000"/>
                        </a:lnSpc>
                        <a:spcBef>
                          <a:spcPts val="0"/>
                        </a:spcBef>
                        <a:spcAft>
                          <a:spcPts val="0"/>
                        </a:spcAft>
                      </a:pPr>
                      <a:r>
                        <a:rPr sz="1300" b="0">
                          <a:solidFill>
                            <a:srgbClr val="1F1F1F"/>
                          </a:solidFill>
                          <a:latin typeface="Calibri"/>
                        </a:rPr>
                        <a:t>ser responsabilizada</a:t>
                      </a:r>
                    </a:p>
                    <a:p>
                      <a:pPr algn="l">
                        <a:lnSpc>
                          <a:spcPct val="100000"/>
                        </a:lnSpc>
                        <a:spcBef>
                          <a:spcPts val="0"/>
                        </a:spcBef>
                        <a:spcAft>
                          <a:spcPts val="0"/>
                        </a:spcAft>
                      </a:pPr>
                      <a:r>
                        <a:rPr sz="1300" b="0">
                          <a:solidFill>
                            <a:srgbClr val="1F1F1F"/>
                          </a:solidFill>
                          <a:latin typeface="Calibri"/>
                        </a:rPr>
                        <a:t>pelas perdas incorridas</a:t>
                      </a:r>
                    </a:p>
                    <a:p>
                      <a:pPr algn="l">
                        <a:lnSpc>
                          <a:spcPct val="100000"/>
                        </a:lnSpc>
                        <a:spcBef>
                          <a:spcPts val="0"/>
                        </a:spcBef>
                        <a:spcAft>
                          <a:spcPts val="0"/>
                        </a:spcAft>
                      </a:pPr>
                      <a:r>
                        <a:rPr sz="1300" b="0">
                          <a:solidFill>
                            <a:srgbClr val="1F1F1F"/>
                          </a:solidFill>
                          <a:latin typeface="Calibri"/>
                        </a:rPr>
                        <a:t>pela Classe em relação</a:t>
                      </a:r>
                    </a:p>
                    <a:p>
                      <a:pPr algn="l">
                        <a:lnSpc>
                          <a:spcPct val="100000"/>
                        </a:lnSpc>
                        <a:spcBef>
                          <a:spcPts val="0"/>
                        </a:spcBef>
                        <a:spcAft>
                          <a:spcPts val="0"/>
                        </a:spcAft>
                      </a:pPr>
                      <a:r>
                        <a:rPr sz="1300" b="0">
                          <a:solidFill>
                            <a:srgbClr val="1F1F1F"/>
                          </a:solidFill>
                          <a:latin typeface="Calibri"/>
                        </a:rPr>
                        <a:t>aos respectivos</a:t>
                      </a:r>
                    </a:p>
                    <a:p>
                      <a:pPr algn="l">
                        <a:lnSpc>
                          <a:spcPct val="100000"/>
                        </a:lnSpc>
                        <a:spcBef>
                          <a:spcPts val="0"/>
                        </a:spcBef>
                        <a:spcAft>
                          <a:spcPts val="0"/>
                        </a:spcAft>
                      </a:pPr>
                      <a:r>
                        <a:rPr sz="1300" b="0">
                          <a:solidFill>
                            <a:srgbClr val="1F1F1F"/>
                          </a:solidFill>
                          <a:latin typeface="Calibri"/>
                        </a:rPr>
                        <a:t>Direitos Creditórios.</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4.3 Os Direitos</a:t>
                      </a:r>
                    </a:p>
                    <a:p>
                      <a:pPr algn="l">
                        <a:lnSpc>
                          <a:spcPct val="100000"/>
                        </a:lnSpc>
                        <a:spcBef>
                          <a:spcPts val="0"/>
                        </a:spcBef>
                        <a:spcAft>
                          <a:spcPts val="0"/>
                        </a:spcAft>
                      </a:pPr>
                      <a:r>
                        <a:rPr sz="1300" b="0">
                          <a:solidFill>
                            <a:srgbClr val="1F1F1F"/>
                          </a:solidFill>
                          <a:latin typeface="Calibri"/>
                        </a:rPr>
                        <a:t>Creditórios deverão</a:t>
                      </a:r>
                    </a:p>
                    <a:p>
                      <a:pPr algn="l">
                        <a:lnSpc>
                          <a:spcPct val="100000"/>
                        </a:lnSpc>
                        <a:spcBef>
                          <a:spcPts val="0"/>
                        </a:spcBef>
                        <a:spcAft>
                          <a:spcPts val="0"/>
                        </a:spcAft>
                      </a:pPr>
                      <a:r>
                        <a:rPr sz="1300" b="0">
                          <a:solidFill>
                            <a:srgbClr val="1F1F1F"/>
                          </a:solidFill>
                          <a:latin typeface="Calibri"/>
                        </a:rPr>
                        <a:t>contar com Documentos</a:t>
                      </a:r>
                    </a:p>
                    <a:p>
                      <a:pPr algn="l">
                        <a:lnSpc>
                          <a:spcPct val="100000"/>
                        </a:lnSpc>
                        <a:spcBef>
                          <a:spcPts val="0"/>
                        </a:spcBef>
                        <a:spcAft>
                          <a:spcPts val="0"/>
                        </a:spcAft>
                      </a:pPr>
                      <a:r>
                        <a:rPr sz="1300" b="0">
                          <a:solidFill>
                            <a:srgbClr val="1F1F1F"/>
                          </a:solidFill>
                          <a:latin typeface="Calibri"/>
                        </a:rPr>
                        <a:t>Comprobatórios que</a:t>
                      </a:r>
                    </a:p>
                    <a:p>
                      <a:pPr algn="l">
                        <a:lnSpc>
                          <a:spcPct val="100000"/>
                        </a:lnSpc>
                        <a:spcBef>
                          <a:spcPts val="0"/>
                        </a:spcBef>
                        <a:spcAft>
                          <a:spcPts val="0"/>
                        </a:spcAft>
                      </a:pPr>
                      <a:r>
                        <a:rPr sz="1300" b="0">
                          <a:solidFill>
                            <a:srgbClr val="1F1F1F"/>
                          </a:solidFill>
                          <a:latin typeface="Calibri"/>
                        </a:rPr>
                        <a:t>evidenciem sua</a:t>
                      </a:r>
                    </a:p>
                    <a:p>
                      <a:pPr algn="l">
                        <a:lnSpc>
                          <a:spcPct val="100000"/>
                        </a:lnSpc>
                        <a:spcBef>
                          <a:spcPts val="0"/>
                        </a:spcBef>
                        <a:spcAft>
                          <a:spcPts val="0"/>
                        </a:spcAft>
                      </a:pPr>
                      <a:r>
                        <a:rPr sz="1300" b="0">
                          <a:solidFill>
                            <a:srgbClr val="1F1F1F"/>
                          </a:solidFill>
                          <a:latin typeface="Calibri"/>
                        </a:rPr>
                        <a:t>existência, validade e</a:t>
                      </a:r>
                    </a:p>
                    <a:p>
                      <a:pPr algn="l">
                        <a:lnSpc>
                          <a:spcPct val="100000"/>
                        </a:lnSpc>
                        <a:spcBef>
                          <a:spcPts val="0"/>
                        </a:spcBef>
                        <a:spcAft>
                          <a:spcPts val="0"/>
                        </a:spcAft>
                      </a:pPr>
                      <a:r>
                        <a:rPr sz="1300" b="0">
                          <a:solidFill>
                            <a:srgbClr val="1F1F1F"/>
                          </a:solidFill>
                          <a:latin typeface="Calibri"/>
                        </a:rPr>
                        <a:t>exequibilidade perante</a:t>
                      </a:r>
                    </a:p>
                    <a:p>
                      <a:pPr algn="l">
                        <a:lnSpc>
                          <a:spcPct val="100000"/>
                        </a:lnSpc>
                        <a:spcBef>
                          <a:spcPts val="0"/>
                        </a:spcBef>
                        <a:spcAft>
                          <a:spcPts val="0"/>
                        </a:spcAft>
                      </a:pPr>
                      <a:r>
                        <a:rPr sz="1300" b="0">
                          <a:solidFill>
                            <a:srgbClr val="1F1F1F"/>
                          </a:solidFill>
                          <a:latin typeface="Calibri"/>
                        </a:rPr>
                        <a:t>os respectivos</a:t>
                      </a:r>
                    </a:p>
                    <a:p>
                      <a:pPr algn="l">
                        <a:lnSpc>
                          <a:spcPct val="100000"/>
                        </a:lnSpc>
                        <a:spcBef>
                          <a:spcPts val="0"/>
                        </a:spcBef>
                        <a:spcAft>
                          <a:spcPts val="0"/>
                        </a:spcAft>
                      </a:pPr>
                      <a:r>
                        <a:rPr sz="1300" b="0">
                          <a:solidFill>
                            <a:srgbClr val="1F1F1F"/>
                          </a:solidFill>
                          <a:latin typeface="Calibri"/>
                        </a:rPr>
                        <a:t>Devedores. Critérios de</a:t>
                      </a:r>
                    </a:p>
                    <a:p>
                      <a:pPr algn="l">
                        <a:lnSpc>
                          <a:spcPct val="100000"/>
                        </a:lnSpc>
                        <a:spcBef>
                          <a:spcPts val="0"/>
                        </a:spcBef>
                        <a:spcAft>
                          <a:spcPts val="0"/>
                        </a:spcAft>
                      </a:pPr>
                      <a:r>
                        <a:rPr sz="1300" b="0">
                          <a:solidFill>
                            <a:srgbClr val="1F1F1F"/>
                          </a:solidFill>
                          <a:latin typeface="Calibri"/>
                        </a:rPr>
                        <a:t>Elegibilidade</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4.4 A Classe somente</a:t>
                      </a:r>
                    </a:p>
                    <a:p>
                      <a:pPr algn="l">
                        <a:lnSpc>
                          <a:spcPct val="100000"/>
                        </a:lnSpc>
                        <a:spcBef>
                          <a:spcPts val="0"/>
                        </a:spcBef>
                        <a:spcAft>
                          <a:spcPts val="0"/>
                        </a:spcAft>
                      </a:pPr>
                      <a:r>
                        <a:rPr sz="1300" b="0">
                          <a:solidFill>
                            <a:srgbClr val="1F1F1F"/>
                          </a:solidFill>
                          <a:latin typeface="Calibri"/>
                        </a:rPr>
                        <a:t>poderá adquirir os</a:t>
                      </a:r>
                    </a:p>
                    <a:p>
                      <a:pPr algn="l">
                        <a:lnSpc>
                          <a:spcPct val="100000"/>
                        </a:lnSpc>
                        <a:spcBef>
                          <a:spcPts val="0"/>
                        </a:spcBef>
                        <a:spcAft>
                          <a:spcPts val="0"/>
                        </a:spcAft>
                      </a:pPr>
                      <a:r>
                        <a:rPr sz="1300" b="0">
                          <a:solidFill>
                            <a:srgbClr val="1F1F1F"/>
                          </a:solidFill>
                          <a:latin typeface="Calibri"/>
                        </a:rPr>
                        <a:t>Direitos Creditórios</a:t>
                      </a:r>
                    </a:p>
                    <a:p>
                      <a:pPr algn="l">
                        <a:lnSpc>
                          <a:spcPct val="100000"/>
                        </a:lnSpc>
                        <a:spcBef>
                          <a:spcPts val="0"/>
                        </a:spcBef>
                        <a:spcAft>
                          <a:spcPts val="0"/>
                        </a:spcAft>
                      </a:pPr>
                      <a:r>
                        <a:rPr sz="1300" b="0">
                          <a:solidFill>
                            <a:srgbClr val="1F1F1F"/>
                          </a:solidFill>
                          <a:latin typeface="Calibri"/>
                        </a:rPr>
                        <a:t>que atendam,</a:t>
                      </a:r>
                    </a:p>
                    <a:p>
                      <a:pPr algn="l">
                        <a:lnSpc>
                          <a:spcPct val="100000"/>
                        </a:lnSpc>
                        <a:spcBef>
                          <a:spcPts val="0"/>
                        </a:spcBef>
                        <a:spcAft>
                          <a:spcPts val="0"/>
                        </a:spcAft>
                      </a:pPr>
                      <a:r>
                        <a:rPr sz="1300" b="0">
                          <a:solidFill>
                            <a:srgbClr val="1F1F1F"/>
                          </a:solidFill>
                          <a:latin typeface="Calibri"/>
                        </a:rPr>
                        <a:t>cumulativamente, aos</a:t>
                      </a:r>
                    </a:p>
                    <a:p>
                      <a:pPr algn="l">
                        <a:lnSpc>
                          <a:spcPct val="100000"/>
                        </a:lnSpc>
                        <a:spcBef>
                          <a:spcPts val="0"/>
                        </a:spcBef>
                        <a:spcAft>
                          <a:spcPts val="0"/>
                        </a:spcAft>
                      </a:pPr>
                      <a:r>
                        <a:rPr sz="1300" b="0">
                          <a:solidFill>
                            <a:srgbClr val="1F1F1F"/>
                          </a:solidFill>
                          <a:latin typeface="Calibri"/>
                        </a:rPr>
                        <a:t>seguintes Critérios de</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8/160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Recebíveis e aquisição</a:t>
            </a:r>
          </a:p>
        </p:txBody>
      </p:sp>
      <p:graphicFrame>
        <p:nvGraphicFramePr>
          <p:cNvPr id="3" name="Table 2"/>
          <p:cNvGraphicFramePr>
            <a:graphicFrameLocks noGrp="1"/>
          </p:cNvGraphicFramePr>
          <p:nvPr/>
        </p:nvGraphicFramePr>
        <p:xfrm>
          <a:off x="438912" y="932688"/>
          <a:ext cx="11313868" cy="4878324"/>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4407408">
                <a:tc>
                  <a:txBody>
                    <a:bodyPr wrap="square">
                      <a:noAutofit/>
                    </a:bodyPr>
                    <a:lstStyle/>
                    <a:p>
                      <a:pPr algn="l">
                        <a:lnSpc>
                          <a:spcPct val="100000"/>
                        </a:lnSpc>
                        <a:spcBef>
                          <a:spcPts val="0"/>
                        </a:spcBef>
                        <a:spcAft>
                          <a:spcPts val="0"/>
                        </a:spcAft>
                      </a:pPr>
                      <a:r>
                        <a:rPr sz="1300" b="1">
                          <a:solidFill>
                            <a:srgbClr val="1F1F1F"/>
                          </a:solidFill>
                          <a:latin typeface="Calibri"/>
                        </a:rPr>
                        <a:t>Elegibilidade</a:t>
                      </a:r>
                    </a:p>
                    <a:p>
                      <a:pPr algn="l">
                        <a:lnSpc>
                          <a:spcPct val="100000"/>
                        </a:lnSpc>
                        <a:spcBef>
                          <a:spcPts val="0"/>
                        </a:spcBef>
                        <a:spcAft>
                          <a:spcPts val="0"/>
                        </a:spcAft>
                      </a:pPr>
                      <a:r>
                        <a:rPr sz="1300" b="1">
                          <a:solidFill>
                            <a:srgbClr val="1F1F1F"/>
                          </a:solidFill>
                          <a:latin typeface="Calibri"/>
                        </a:rPr>
                        <a:t>(continuação)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Elegibilidade, a serem</a:t>
                      </a:r>
                    </a:p>
                    <a:p>
                      <a:pPr algn="l">
                        <a:lnSpc>
                          <a:spcPct val="100000"/>
                        </a:lnSpc>
                        <a:spcBef>
                          <a:spcPts val="0"/>
                        </a:spcBef>
                        <a:spcAft>
                          <a:spcPts val="0"/>
                        </a:spcAft>
                      </a:pPr>
                      <a:r>
                        <a:rPr sz="1300" b="0">
                          <a:solidFill>
                            <a:srgbClr val="1F1F1F"/>
                          </a:solidFill>
                          <a:latin typeface="Calibri"/>
                        </a:rPr>
                        <a:t>verificados e validados</a:t>
                      </a:r>
                    </a:p>
                    <a:p>
                      <a:pPr algn="l">
                        <a:lnSpc>
                          <a:spcPct val="100000"/>
                        </a:lnSpc>
                        <a:spcBef>
                          <a:spcPts val="0"/>
                        </a:spcBef>
                        <a:spcAft>
                          <a:spcPts val="0"/>
                        </a:spcAft>
                      </a:pPr>
                      <a:r>
                        <a:rPr sz="1300" b="0">
                          <a:solidFill>
                            <a:srgbClr val="1F1F1F"/>
                          </a:solidFill>
                          <a:latin typeface="Calibri"/>
                        </a:rPr>
                        <a:t>pelo Gestor, de forma</a:t>
                      </a:r>
                    </a:p>
                    <a:p>
                      <a:pPr algn="l">
                        <a:lnSpc>
                          <a:spcPct val="100000"/>
                        </a:lnSpc>
                        <a:spcBef>
                          <a:spcPts val="0"/>
                        </a:spcBef>
                        <a:spcAft>
                          <a:spcPts val="0"/>
                        </a:spcAft>
                      </a:pPr>
                      <a:r>
                        <a:rPr sz="1300" b="0">
                          <a:solidFill>
                            <a:srgbClr val="1F1F1F"/>
                          </a:solidFill>
                          <a:latin typeface="Calibri"/>
                        </a:rPr>
                        <a:t>individualizada e</a:t>
                      </a:r>
                    </a:p>
                    <a:p>
                      <a:pPr algn="l">
                        <a:lnSpc>
                          <a:spcPct val="100000"/>
                        </a:lnSpc>
                        <a:spcBef>
                          <a:spcPts val="0"/>
                        </a:spcBef>
                        <a:spcAft>
                          <a:spcPts val="0"/>
                        </a:spcAft>
                      </a:pPr>
                      <a:r>
                        <a:rPr sz="1300" b="0">
                          <a:solidFill>
                            <a:srgbClr val="1F1F1F"/>
                          </a:solidFill>
                          <a:latin typeface="Calibri"/>
                        </a:rPr>
                        <a:t>integral, previamente</a:t>
                      </a:r>
                    </a:p>
                    <a:p>
                      <a:pPr algn="l">
                        <a:lnSpc>
                          <a:spcPct val="100000"/>
                        </a:lnSpc>
                        <a:spcBef>
                          <a:spcPts val="0"/>
                        </a:spcBef>
                        <a:spcAft>
                          <a:spcPts val="0"/>
                        </a:spcAft>
                      </a:pPr>
                      <a:r>
                        <a:rPr sz="1300" b="0">
                          <a:solidFill>
                            <a:srgbClr val="1F1F1F"/>
                          </a:solidFill>
                          <a:latin typeface="Calibri"/>
                        </a:rPr>
                        <a:t>ao endosso do Direito</a:t>
                      </a:r>
                    </a:p>
                    <a:p>
                      <a:pPr algn="l">
                        <a:lnSpc>
                          <a:spcPct val="100000"/>
                        </a:lnSpc>
                        <a:spcBef>
                          <a:spcPts val="0"/>
                        </a:spcBef>
                        <a:spcAft>
                          <a:spcPts val="0"/>
                        </a:spcAft>
                      </a:pPr>
                      <a:r>
                        <a:rPr sz="1300" b="0">
                          <a:solidFill>
                            <a:srgbClr val="1F1F1F"/>
                          </a:solidFill>
                          <a:latin typeface="Calibri"/>
                        </a:rPr>
                        <a:t>Creditório, na</a:t>
                      </a:r>
                    </a:p>
                    <a:p>
                      <a:pPr algn="l">
                        <a:lnSpc>
                          <a:spcPct val="100000"/>
                        </a:lnSpc>
                        <a:spcBef>
                          <a:spcPts val="0"/>
                        </a:spcBef>
                        <a:spcAft>
                          <a:spcPts val="0"/>
                        </a:spcAft>
                      </a:pPr>
                      <a:r>
                        <a:rPr sz="1300" b="0">
                          <a:solidFill>
                            <a:srgbClr val="1F1F1F"/>
                          </a:solidFill>
                          <a:latin typeface="Calibri"/>
                        </a:rPr>
                        <a:t>respectiva Data de</a:t>
                      </a:r>
                    </a:p>
                    <a:p>
                      <a:pPr algn="l">
                        <a:lnSpc>
                          <a:spcPct val="100000"/>
                        </a:lnSpc>
                        <a:spcBef>
                          <a:spcPts val="0"/>
                        </a:spcBef>
                        <a:spcAft>
                          <a:spcPts val="0"/>
                        </a:spcAft>
                      </a:pPr>
                      <a:r>
                        <a:rPr sz="1300" b="0">
                          <a:solidFill>
                            <a:srgbClr val="1F1F1F"/>
                          </a:solidFill>
                          <a:latin typeface="Calibri"/>
                        </a:rPr>
                        <a:t>Aquisição: (i) os</a:t>
                      </a:r>
                    </a:p>
                    <a:p>
                      <a:pPr algn="l">
                        <a:lnSpc>
                          <a:spcPct val="100000"/>
                        </a:lnSpc>
                        <a:spcBef>
                          <a:spcPts val="0"/>
                        </a:spcBef>
                        <a:spcAft>
                          <a:spcPts val="0"/>
                        </a:spcAft>
                      </a:pPr>
                      <a:r>
                        <a:rPr sz="1300" b="0">
                          <a:solidFill>
                            <a:srgbClr val="1F1F1F"/>
                          </a:solidFill>
                          <a:latin typeface="Calibri"/>
                        </a:rPr>
                        <a:t>Direitos Creditórios</a:t>
                      </a:r>
                    </a:p>
                    <a:p>
                      <a:pPr algn="l">
                        <a:lnSpc>
                          <a:spcPct val="100000"/>
                        </a:lnSpc>
                        <a:spcBef>
                          <a:spcPts val="0"/>
                        </a:spcBef>
                        <a:spcAft>
                          <a:spcPts val="0"/>
                        </a:spcAft>
                      </a:pPr>
                      <a:r>
                        <a:rPr sz="1300" b="0">
                          <a:solidFill>
                            <a:srgbClr val="1F1F1F"/>
                          </a:solidFill>
                          <a:latin typeface="Calibri"/>
                        </a:rPr>
                        <a:t>deverão decorrer de</a:t>
                      </a:r>
                    </a:p>
                    <a:p>
                      <a:pPr algn="l">
                        <a:lnSpc>
                          <a:spcPct val="100000"/>
                        </a:lnSpc>
                        <a:spcBef>
                          <a:spcPts val="0"/>
                        </a:spcBef>
                        <a:spcAft>
                          <a:spcPts val="0"/>
                        </a:spcAft>
                      </a:pPr>
                      <a:r>
                        <a:rPr sz="1300" b="0">
                          <a:solidFill>
                            <a:srgbClr val="1F1F1F"/>
                          </a:solidFill>
                          <a:latin typeface="Calibri"/>
                        </a:rPr>
                        <a:t>empréstimo concedido</a:t>
                      </a:r>
                    </a:p>
                    <a:p>
                      <a:pPr algn="l">
                        <a:lnSpc>
                          <a:spcPct val="100000"/>
                        </a:lnSpc>
                        <a:spcBef>
                          <a:spcPts val="0"/>
                        </a:spcBef>
                        <a:spcAft>
                          <a:spcPts val="0"/>
                        </a:spcAft>
                      </a:pPr>
                      <a:r>
                        <a:rPr sz="1300" b="0">
                          <a:solidFill>
                            <a:srgbClr val="1F1F1F"/>
                          </a:solidFill>
                          <a:latin typeface="Calibri"/>
                        </a:rPr>
                        <a:t>pelo Endossante a um</a:t>
                      </a:r>
                    </a:p>
                    <a:p>
                      <a:pPr algn="l">
                        <a:lnSpc>
                          <a:spcPct val="100000"/>
                        </a:lnSpc>
                        <a:spcBef>
                          <a:spcPts val="0"/>
                        </a:spcBef>
                        <a:spcAft>
                          <a:spcPts val="0"/>
                        </a:spcAft>
                      </a:pPr>
                      <a:r>
                        <a:rPr sz="1300" b="0">
                          <a:solidFill>
                            <a:srgbClr val="1F1F1F"/>
                          </a:solidFill>
                          <a:latin typeface="Calibri"/>
                        </a:rPr>
                        <a:t>Devedor, representado</a:t>
                      </a:r>
                    </a:p>
                    <a:p>
                      <a:pPr algn="l">
                        <a:lnSpc>
                          <a:spcPct val="100000"/>
                        </a:lnSpc>
                        <a:spcBef>
                          <a:spcPts val="0"/>
                        </a:spcBef>
                        <a:spcAft>
                          <a:spcPts val="0"/>
                        </a:spcAft>
                      </a:pPr>
                      <a:r>
                        <a:rPr sz="1300" b="0">
                          <a:solidFill>
                            <a:srgbClr val="1F1F1F"/>
                          </a:solidFill>
                          <a:latin typeface="Calibri"/>
                        </a:rPr>
                        <a:t>por uma CCB, com taxa</a:t>
                      </a:r>
                    </a:p>
                    <a:p>
                      <a:pPr algn="l">
                        <a:lnSpc>
                          <a:spcPct val="100000"/>
                        </a:lnSpc>
                        <a:spcBef>
                          <a:spcPts val="0"/>
                        </a:spcBef>
                        <a:spcAft>
                          <a:spcPts val="0"/>
                        </a:spcAft>
                      </a:pPr>
                      <a:r>
                        <a:rPr sz="1300" b="0">
                          <a:solidFill>
                            <a:srgbClr val="1F1F1F"/>
                          </a:solidFill>
                          <a:latin typeface="Calibri"/>
                        </a:rPr>
                        <a:t>de juros prefixada e</a:t>
                      </a:r>
                    </a:p>
                    <a:p>
                      <a:pPr algn="l">
                        <a:lnSpc>
                          <a:spcPct val="100000"/>
                        </a:lnSpc>
                        <a:spcBef>
                          <a:spcPts val="0"/>
                        </a:spcBef>
                        <a:spcAft>
                          <a:spcPts val="0"/>
                        </a:spcAft>
                      </a:pPr>
                      <a:r>
                        <a:rPr sz="1300" b="0">
                          <a:solidFill>
                            <a:srgbClr val="1F1F1F"/>
                          </a:solidFill>
                          <a:latin typeface="Calibri"/>
                        </a:rPr>
                        <a:t>vencimento final</a:t>
                      </a:r>
                    </a:p>
                    <a:p>
                      <a:pPr algn="l">
                        <a:lnSpc>
                          <a:spcPct val="100000"/>
                        </a:lnSpc>
                        <a:spcBef>
                          <a:spcPts val="0"/>
                        </a:spcBef>
                        <a:spcAft>
                          <a:spcPts val="0"/>
                        </a:spcAft>
                      </a:pPr>
                      <a:r>
                        <a:rPr sz="1300" b="0">
                          <a:solidFill>
                            <a:srgbClr val="1F1F1F"/>
                          </a:solidFill>
                          <a:latin typeface="Calibri"/>
                        </a:rPr>
                        <a:t>anterior ao vencimento</a:t>
                      </a:r>
                    </a:p>
                    <a:p>
                      <a:pPr algn="l">
                        <a:lnSpc>
                          <a:spcPct val="100000"/>
                        </a:lnSpc>
                        <a:spcBef>
                          <a:spcPts val="0"/>
                        </a:spcBef>
                        <a:spcAft>
                          <a:spcPts val="0"/>
                        </a:spcAft>
                      </a:pPr>
                      <a:r>
                        <a:rPr sz="1300" b="0">
                          <a:solidFill>
                            <a:srgbClr val="1F1F1F"/>
                          </a:solidFill>
                          <a:latin typeface="Calibri"/>
                        </a:rPr>
                        <a:t>f inal da Classe; BTG</a:t>
                      </a:r>
                    </a:p>
                    <a:p>
                      <a:pPr algn="l">
                        <a:lnSpc>
                          <a:spcPct val="100000"/>
                        </a:lnSpc>
                        <a:spcBef>
                          <a:spcPts val="0"/>
                        </a:spcBef>
                        <a:spcAft>
                          <a:spcPts val="0"/>
                        </a:spcAft>
                      </a:pPr>
                      <a:r>
                        <a:rPr sz="1300" b="0">
                          <a:solidFill>
                            <a:srgbClr val="1F1F1F"/>
                          </a:solidFill>
                          <a:latin typeface="Calibri"/>
                        </a:rPr>
                        <a:t>Pactual SAC: 0800 772</a:t>
                      </a:r>
                    </a:p>
                    <a:p>
                      <a:pPr algn="l">
                        <a:lnSpc>
                          <a:spcPct val="100000"/>
                        </a:lnSpc>
                        <a:spcBef>
                          <a:spcPts val="0"/>
                        </a:spcBef>
                        <a:spcAft>
                          <a:spcPts val="0"/>
                        </a:spcAft>
                      </a:pPr>
                      <a:r>
                        <a:rPr sz="1300" b="0">
                          <a:solidFill>
                            <a:srgbClr val="1F1F1F"/>
                          </a:solidFill>
                          <a:latin typeface="Calibri"/>
                        </a:rPr>
                        <a:t>28 27 - Ouvidoria: 0800</a:t>
                      </a:r>
                    </a:p>
                    <a:p>
                      <a:pPr algn="l">
                        <a:lnSpc>
                          <a:spcPct val="100000"/>
                        </a:lnSpc>
                        <a:spcBef>
                          <a:spcPts val="0"/>
                        </a:spcBef>
                        <a:spcAft>
                          <a:spcPts val="0"/>
                        </a:spcAft>
                      </a:pPr>
                      <a:r>
                        <a:rPr sz="1300" b="0">
                          <a:solidFill>
                            <a:srgbClr val="1F1F1F"/>
                          </a:solidFill>
                          <a:latin typeface="Calibri"/>
                        </a:rPr>
                        <a:t>722 00 48 -</a:t>
                      </a:r>
                    </a:p>
                    <a:p>
                      <a:pPr algn="l">
                        <a:lnSpc>
                          <a:spcPct val="100000"/>
                        </a:lnSpc>
                        <a:spcBef>
                          <a:spcPts val="0"/>
                        </a:spcBef>
                        <a:spcAft>
                          <a:spcPts val="0"/>
                        </a:spcAft>
                      </a:pPr>
                      <a:r>
                        <a:rPr sz="1300" b="0">
                          <a:solidFill>
                            <a:srgbClr val="1F1F1F"/>
                          </a:solidFill>
                          <a:latin typeface="Calibri"/>
                        </a:rPr>
                        <a:t>btgpactual.com 9</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9/160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Recebíveis e aquisição</a:t>
            </a:r>
          </a:p>
        </p:txBody>
      </p:sp>
      <p:graphicFrame>
        <p:nvGraphicFramePr>
          <p:cNvPr id="3" name="Table 2"/>
          <p:cNvGraphicFramePr>
            <a:graphicFrameLocks noGrp="1"/>
          </p:cNvGraphicFramePr>
          <p:nvPr/>
        </p:nvGraphicFramePr>
        <p:xfrm>
          <a:off x="438912" y="932688"/>
          <a:ext cx="11313868" cy="2816352"/>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2345436">
                <a:tc>
                  <a:txBody>
                    <a:bodyPr wrap="square">
                      <a:noAutofit/>
                    </a:bodyPr>
                    <a:lstStyle/>
                    <a:p>
                      <a:pPr algn="l">
                        <a:lnSpc>
                          <a:spcPct val="100000"/>
                        </a:lnSpc>
                        <a:spcBef>
                          <a:spcPts val="0"/>
                        </a:spcBef>
                        <a:spcAft>
                          <a:spcPts val="0"/>
                        </a:spcAft>
                      </a:pPr>
                      <a:r>
                        <a:rPr sz="1300" b="1">
                          <a:solidFill>
                            <a:srgbClr val="1F1F1F"/>
                          </a:solidFill>
                          <a:latin typeface="Calibri"/>
                        </a:rPr>
                        <a:t>Limites por contrato e</a:t>
                      </a:r>
                    </a:p>
                    <a:p>
                      <a:pPr algn="l">
                        <a:lnSpc>
                          <a:spcPct val="100000"/>
                        </a:lnSpc>
                        <a:spcBef>
                          <a:spcPts val="0"/>
                        </a:spcBef>
                        <a:spcAft>
                          <a:spcPts val="0"/>
                        </a:spcAft>
                      </a:pPr>
                      <a:r>
                        <a:rPr sz="1300" b="1">
                          <a:solidFill>
                            <a:srgbClr val="1F1F1F"/>
                          </a:solidFill>
                          <a:latin typeface="Calibri"/>
                        </a:rPr>
                        <a:t>devedor</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Exceção da primeira</a:t>
                      </a:r>
                    </a:p>
                    <a:p>
                      <a:pPr algn="l">
                        <a:lnSpc>
                          <a:spcPct val="100000"/>
                        </a:lnSpc>
                        <a:spcBef>
                          <a:spcPts val="0"/>
                        </a:spcBef>
                        <a:spcAft>
                          <a:spcPts val="0"/>
                        </a:spcAft>
                      </a:pPr>
                      <a:r>
                        <a:rPr sz="1300" b="0">
                          <a:solidFill>
                            <a:srgbClr val="1F1F1F"/>
                          </a:solidFill>
                          <a:latin typeface="Calibri"/>
                        </a:rPr>
                        <a:t>tranche: histórico de</a:t>
                      </a:r>
                    </a:p>
                    <a:p>
                      <a:pPr algn="l">
                        <a:lnSpc>
                          <a:spcPct val="100000"/>
                        </a:lnSpc>
                        <a:spcBef>
                          <a:spcPts val="0"/>
                        </a:spcBef>
                        <a:spcAft>
                          <a:spcPts val="0"/>
                        </a:spcAft>
                      </a:pPr>
                      <a:r>
                        <a:rPr sz="1300" b="0">
                          <a:solidFill>
                            <a:srgbClr val="1F1F1F"/>
                          </a:solidFill>
                          <a:latin typeface="Calibri"/>
                        </a:rPr>
                        <a:t>amortização pode cair</a:t>
                      </a:r>
                    </a:p>
                    <a:p>
                      <a:pPr algn="l">
                        <a:lnSpc>
                          <a:spcPct val="100000"/>
                        </a:lnSpc>
                        <a:spcBef>
                          <a:spcPts val="0"/>
                        </a:spcBef>
                        <a:spcAft>
                          <a:spcPts val="0"/>
                        </a:spcAft>
                      </a:pPr>
                      <a:r>
                        <a:rPr sz="1300" b="0">
                          <a:solidFill>
                            <a:srgbClr val="1F1F1F"/>
                          </a:solidFill>
                          <a:latin typeface="Calibri"/>
                        </a:rPr>
                        <a:t>de 60 para 30 dias nos</a:t>
                      </a:r>
                    </a:p>
                    <a:p>
                      <a:pPr algn="l">
                        <a:lnSpc>
                          <a:spcPct val="100000"/>
                        </a:lnSpc>
                        <a:spcBef>
                          <a:spcPts val="0"/>
                        </a:spcBef>
                        <a:spcAft>
                          <a:spcPts val="0"/>
                        </a:spcAft>
                      </a:pPr>
                      <a:r>
                        <a:rPr sz="1300" b="0">
                          <a:solidFill>
                            <a:srgbClr val="1F1F1F"/>
                          </a:solidFill>
                          <a:latin typeface="Calibri"/>
                        </a:rPr>
                        <a:t>casos previstos, com</a:t>
                      </a:r>
                    </a:p>
                    <a:p>
                      <a:pPr algn="l">
                        <a:lnSpc>
                          <a:spcPct val="100000"/>
                        </a:lnSpc>
                        <a:spcBef>
                          <a:spcPts val="0"/>
                        </a:spcBef>
                        <a:spcAft>
                          <a:spcPts val="0"/>
                        </a:spcAft>
                      </a:pPr>
                      <a:r>
                        <a:rPr sz="1300" b="0">
                          <a:solidFill>
                            <a:srgbClr val="1F1F1F"/>
                          </a:solidFill>
                          <a:latin typeface="Calibri"/>
                        </a:rPr>
                        <a:t>aquisição ≤R$ 30 mil e</a:t>
                      </a:r>
                    </a:p>
                    <a:p>
                      <a:pPr algn="l">
                        <a:lnSpc>
                          <a:spcPct val="100000"/>
                        </a:lnSpc>
                        <a:spcBef>
                          <a:spcPts val="0"/>
                        </a:spcBef>
                        <a:spcAft>
                          <a:spcPts val="0"/>
                        </a:spcAft>
                      </a:pPr>
                      <a:r>
                        <a:rPr sz="1300" b="0">
                          <a:solidFill>
                            <a:srgbClr val="1F1F1F"/>
                          </a:solidFill>
                          <a:latin typeface="Calibri"/>
                        </a:rPr>
                        <a:t>exclusivamente</a:t>
                      </a:r>
                    </a:p>
                    <a:p>
                      <a:pPr algn="l">
                        <a:lnSpc>
                          <a:spcPct val="100000"/>
                        </a:lnSpc>
                        <a:spcBef>
                          <a:spcPts val="0"/>
                        </a:spcBef>
                        <a:spcAft>
                          <a:spcPts val="0"/>
                        </a:spcAft>
                      </a:pPr>
                      <a:r>
                        <a:rPr sz="1300" b="0">
                          <a:solidFill>
                            <a:srgbClr val="1F1F1F"/>
                          </a:solidFill>
                          <a:latin typeface="Calibri"/>
                        </a:rPr>
                        <a:t>consignação em</a:t>
                      </a:r>
                    </a:p>
                    <a:p>
                      <a:pPr algn="l">
                        <a:lnSpc>
                          <a:spcPct val="100000"/>
                        </a:lnSpc>
                        <a:spcBef>
                          <a:spcPts val="0"/>
                        </a:spcBef>
                        <a:spcAft>
                          <a:spcPts val="0"/>
                        </a:spcAft>
                      </a:pPr>
                      <a:r>
                        <a:rPr sz="1300" b="0">
                          <a:solidFill>
                            <a:srgbClr val="1F1F1F"/>
                          </a:solidFill>
                          <a:latin typeface="Calibri"/>
                        </a:rPr>
                        <a:t>folha/benefício. Todas</a:t>
                      </a:r>
                    </a:p>
                    <a:p>
                      <a:pPr algn="l">
                        <a:lnSpc>
                          <a:spcPct val="100000"/>
                        </a:lnSpc>
                        <a:spcBef>
                          <a:spcPts val="0"/>
                        </a:spcBef>
                        <a:spcAft>
                          <a:spcPts val="0"/>
                        </a:spcAft>
                      </a:pPr>
                      <a:r>
                        <a:rPr sz="1300" b="0">
                          <a:solidFill>
                            <a:srgbClr val="1F1F1F"/>
                          </a:solidFill>
                          <a:latin typeface="Calibri"/>
                        </a:rPr>
                        <a:t>as CCBs de um mesmo</a:t>
                      </a:r>
                    </a:p>
                    <a:p>
                      <a:pPr algn="l">
                        <a:lnSpc>
                          <a:spcPct val="100000"/>
                        </a:lnSpc>
                        <a:spcBef>
                          <a:spcPts val="0"/>
                        </a:spcBef>
                        <a:spcAft>
                          <a:spcPts val="0"/>
                        </a:spcAft>
                      </a:pPr>
                      <a:r>
                        <a:rPr sz="1300" b="0">
                          <a:solidFill>
                            <a:srgbClr val="1F1F1F"/>
                          </a:solidFill>
                          <a:latin typeface="Calibri"/>
                        </a:rPr>
                        <a:t>devedor devem</a:t>
                      </a:r>
                    </a:p>
                    <a:p>
                      <a:pPr algn="l">
                        <a:lnSpc>
                          <a:spcPct val="100000"/>
                        </a:lnSpc>
                        <a:spcBef>
                          <a:spcPts val="0"/>
                        </a:spcBef>
                        <a:spcAft>
                          <a:spcPts val="0"/>
                        </a:spcAft>
                      </a:pPr>
                      <a:r>
                        <a:rPr sz="1300" b="0">
                          <a:solidFill>
                            <a:srgbClr val="1F1F1F"/>
                          </a:solidFill>
                          <a:latin typeface="Calibri"/>
                        </a:rPr>
                        <a:t>representar ≤20% do PL.</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4.4(ii) cita</a:t>
                      </a:r>
                    </a:p>
                    <a:p>
                      <a:pPr algn="l">
                        <a:lnSpc>
                          <a:spcPct val="100000"/>
                        </a:lnSpc>
                        <a:spcBef>
                          <a:spcPts val="0"/>
                        </a:spcBef>
                        <a:spcAft>
                          <a:spcPts val="0"/>
                        </a:spcAft>
                      </a:pPr>
                      <a:r>
                        <a:rPr sz="1300" b="0">
                          <a:solidFill>
                            <a:srgbClr val="1F1F1F"/>
                          </a:solidFill>
                          <a:latin typeface="Calibri"/>
                        </a:rPr>
                        <a:t>R$ 100 mil por devedor,</a:t>
                      </a:r>
                    </a:p>
                    <a:p>
                      <a:pPr algn="l">
                        <a:lnSpc>
                          <a:spcPct val="100000"/>
                        </a:lnSpc>
                        <a:spcBef>
                          <a:spcPts val="0"/>
                        </a:spcBef>
                        <a:spcAft>
                          <a:spcPts val="0"/>
                        </a:spcAft>
                      </a:pPr>
                      <a:r>
                        <a:rPr sz="1300" b="0">
                          <a:solidFill>
                            <a:srgbClr val="1F1F1F"/>
                          </a:solidFill>
                          <a:latin typeface="Calibri"/>
                        </a:rPr>
                        <a:t>substituídos pela</a:t>
                      </a:r>
                    </a:p>
                    <a:p>
                      <a:pPr algn="l">
                        <a:lnSpc>
                          <a:spcPct val="100000"/>
                        </a:lnSpc>
                        <a:spcBef>
                          <a:spcPts val="0"/>
                        </a:spcBef>
                        <a:spcAft>
                          <a:spcPts val="0"/>
                        </a:spcAft>
                      </a:pPr>
                      <a:r>
                        <a:rPr sz="1300" b="0">
                          <a:solidFill>
                            <a:srgbClr val="1F1F1F"/>
                          </a:solidFill>
                          <a:latin typeface="Calibri"/>
                        </a:rPr>
                        <a:t>disposição específica</a:t>
                      </a:r>
                    </a:p>
                    <a:p>
                      <a:pPr algn="l">
                        <a:lnSpc>
                          <a:spcPct val="100000"/>
                        </a:lnSpc>
                        <a:spcBef>
                          <a:spcPts val="0"/>
                        </a:spcBef>
                        <a:spcAft>
                          <a:spcPts val="0"/>
                        </a:spcAft>
                      </a:pPr>
                      <a:r>
                        <a:rPr sz="1300" b="0">
                          <a:solidFill>
                            <a:srgbClr val="1F1F1F"/>
                          </a:solidFill>
                          <a:latin typeface="Calibri"/>
                        </a:rPr>
                        <a:t>4.4.1 por R$ 150 mil,</a:t>
                      </a:r>
                    </a:p>
                    <a:p>
                      <a:pPr algn="l">
                        <a:lnSpc>
                          <a:spcPct val="100000"/>
                        </a:lnSpc>
                        <a:spcBef>
                          <a:spcPts val="0"/>
                        </a:spcBef>
                        <a:spcAft>
                          <a:spcPts val="0"/>
                        </a:spcAft>
                      </a:pPr>
                      <a:r>
                        <a:rPr sz="1300" b="0">
                          <a:solidFill>
                            <a:srgbClr val="1F1F1F"/>
                          </a:solidFill>
                          <a:latin typeface="Calibri"/>
                        </a:rPr>
                        <a:t>preservados limites do</a:t>
                      </a:r>
                    </a:p>
                    <a:p>
                      <a:pPr algn="l">
                        <a:lnSpc>
                          <a:spcPct val="100000"/>
                        </a:lnSpc>
                        <a:spcBef>
                          <a:spcPts val="0"/>
                        </a:spcBef>
                        <a:spcAft>
                          <a:spcPts val="0"/>
                        </a:spcAft>
                      </a:pPr>
                      <a:r>
                        <a:rPr sz="1300" b="0">
                          <a:solidFill>
                            <a:srgbClr val="1F1F1F"/>
                          </a:solidFill>
                          <a:latin typeface="Calibri"/>
                        </a:rPr>
                        <a:t>Contrato de Endosso.</a:t>
                      </a:r>
                    </a:p>
                    <a:p>
                      <a:pPr algn="l">
                        <a:lnSpc>
                          <a:spcPct val="100000"/>
                        </a:lnSpc>
                        <a:spcBef>
                          <a:spcPts val="0"/>
                        </a:spcBef>
                        <a:spcAft>
                          <a:spcPts val="0"/>
                        </a:spcAft>
                      </a:pPr>
                      <a:r>
                        <a:rPr sz="1300" b="0">
                          <a:solidFill>
                            <a:srgbClr val="1F1F1F"/>
                          </a:solidFill>
                          <a:latin typeface="Calibri"/>
                        </a:rPr>
                        <a:t>Idade na emissão ≤64</a:t>
                      </a:r>
                    </a:p>
                    <a:p>
                      <a:pPr algn="l">
                        <a:lnSpc>
                          <a:spcPct val="100000"/>
                        </a:lnSpc>
                        <a:spcBef>
                          <a:spcPts val="0"/>
                        </a:spcBef>
                        <a:spcAft>
                          <a:spcPts val="0"/>
                        </a:spcAft>
                      </a:pPr>
                      <a:r>
                        <a:rPr sz="1300" b="0">
                          <a:solidFill>
                            <a:srgbClr val="1F1F1F"/>
                          </a:solidFill>
                          <a:latin typeface="Calibri"/>
                        </a:rPr>
                        <a:t>anos, 11 meses e 29</a:t>
                      </a:r>
                    </a:p>
                    <a:p>
                      <a:pPr algn="l">
                        <a:lnSpc>
                          <a:spcPct val="100000"/>
                        </a:lnSpc>
                        <a:spcBef>
                          <a:spcPts val="0"/>
                        </a:spcBef>
                        <a:spcAft>
                          <a:spcPts val="0"/>
                        </a:spcAft>
                      </a:pPr>
                      <a:r>
                        <a:rPr sz="1300" b="0">
                          <a:solidFill>
                            <a:srgbClr val="1F1F1F"/>
                          </a:solidFill>
                          <a:latin typeface="Calibri"/>
                        </a:rPr>
                        <a:t>dias.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10/160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Recebíveis e aquisição</a:t>
            </a:r>
          </a:p>
        </p:txBody>
      </p:sp>
      <p:graphicFrame>
        <p:nvGraphicFramePr>
          <p:cNvPr id="3" name="Table 2"/>
          <p:cNvGraphicFramePr>
            <a:graphicFrameLocks noGrp="1"/>
          </p:cNvGraphicFramePr>
          <p:nvPr/>
        </p:nvGraphicFramePr>
        <p:xfrm>
          <a:off x="438912" y="932688"/>
          <a:ext cx="11313868" cy="3941064"/>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3470148">
                <a:tc>
                  <a:txBody>
                    <a:bodyPr wrap="square">
                      <a:noAutofit/>
                    </a:bodyPr>
                    <a:lstStyle/>
                    <a:p>
                      <a:pPr algn="l">
                        <a:lnSpc>
                          <a:spcPct val="100000"/>
                        </a:lnSpc>
                        <a:spcBef>
                          <a:spcPts val="0"/>
                        </a:spcBef>
                        <a:spcAft>
                          <a:spcPts val="0"/>
                        </a:spcAft>
                      </a:pPr>
                      <a:r>
                        <a:rPr sz="1300" b="1">
                          <a:solidFill>
                            <a:srgbClr val="1F1F1F"/>
                          </a:solidFill>
                          <a:latin typeface="Calibri"/>
                        </a:rPr>
                        <a:t>Prazo dos créditos e</a:t>
                      </a:r>
                    </a:p>
                    <a:p>
                      <a:pPr algn="l">
                        <a:lnSpc>
                          <a:spcPct val="100000"/>
                        </a:lnSpc>
                        <a:spcBef>
                          <a:spcPts val="0"/>
                        </a:spcBef>
                        <a:spcAft>
                          <a:spcPts val="0"/>
                        </a:spcAft>
                      </a:pPr>
                      <a:r>
                        <a:rPr sz="1300" b="1">
                          <a:solidFill>
                            <a:srgbClr val="1F1F1F"/>
                          </a:solidFill>
                          <a:latin typeface="Calibri"/>
                        </a:rPr>
                        <a:t>carência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(iii) o prazo de</a:t>
                      </a:r>
                    </a:p>
                    <a:p>
                      <a:pPr algn="l">
                        <a:lnSpc>
                          <a:spcPct val="100000"/>
                        </a:lnSpc>
                        <a:spcBef>
                          <a:spcPts val="0"/>
                        </a:spcBef>
                        <a:spcAft>
                          <a:spcPts val="0"/>
                        </a:spcAft>
                      </a:pPr>
                      <a:r>
                        <a:rPr sz="1300" b="0">
                          <a:solidFill>
                            <a:srgbClr val="1F1F1F"/>
                          </a:solidFill>
                          <a:latin typeface="Calibri"/>
                        </a:rPr>
                        <a:t>vencimento das CCB</a:t>
                      </a:r>
                    </a:p>
                    <a:p>
                      <a:pPr algn="l">
                        <a:lnSpc>
                          <a:spcPct val="100000"/>
                        </a:lnSpc>
                        <a:spcBef>
                          <a:spcPts val="0"/>
                        </a:spcBef>
                        <a:spcAft>
                          <a:spcPts val="0"/>
                        </a:spcAft>
                      </a:pPr>
                      <a:r>
                        <a:rPr sz="1300" b="0">
                          <a:solidFill>
                            <a:srgbClr val="1F1F1F"/>
                          </a:solidFill>
                          <a:latin typeface="Calibri"/>
                        </a:rPr>
                        <a:t>representativas dos</a:t>
                      </a:r>
                    </a:p>
                    <a:p>
                      <a:pPr algn="l">
                        <a:lnSpc>
                          <a:spcPct val="100000"/>
                        </a:lnSpc>
                        <a:spcBef>
                          <a:spcPts val="0"/>
                        </a:spcBef>
                        <a:spcAft>
                          <a:spcPts val="0"/>
                        </a:spcAft>
                      </a:pPr>
                      <a:r>
                        <a:rPr sz="1300" b="0">
                          <a:solidFill>
                            <a:srgbClr val="1F1F1F"/>
                          </a:solidFill>
                          <a:latin typeface="Calibri"/>
                        </a:rPr>
                        <a:t>Direitos Creditórios</a:t>
                      </a:r>
                    </a:p>
                    <a:p>
                      <a:pPr algn="l">
                        <a:lnSpc>
                          <a:spcPct val="100000"/>
                        </a:lnSpc>
                        <a:spcBef>
                          <a:spcPts val="0"/>
                        </a:spcBef>
                        <a:spcAft>
                          <a:spcPts val="0"/>
                        </a:spcAft>
                      </a:pPr>
                      <a:r>
                        <a:rPr sz="1300" b="0">
                          <a:solidFill>
                            <a:srgbClr val="1F1F1F"/>
                          </a:solidFill>
                          <a:latin typeface="Calibri"/>
                        </a:rPr>
                        <a:t>deverá ser, no máximo,</a:t>
                      </a:r>
                    </a:p>
                    <a:p>
                      <a:pPr algn="l">
                        <a:lnSpc>
                          <a:spcPct val="100000"/>
                        </a:lnSpc>
                        <a:spcBef>
                          <a:spcPts val="0"/>
                        </a:spcBef>
                        <a:spcAft>
                          <a:spcPts val="0"/>
                        </a:spcAft>
                      </a:pPr>
                      <a:r>
                        <a:rPr sz="1300" b="0">
                          <a:solidFill>
                            <a:srgbClr val="1F1F1F"/>
                          </a:solidFill>
                          <a:latin typeface="Calibri"/>
                        </a:rPr>
                        <a:t>equivalente ao prazo</a:t>
                      </a:r>
                    </a:p>
                    <a:p>
                      <a:pPr algn="l">
                        <a:lnSpc>
                          <a:spcPct val="100000"/>
                        </a:lnSpc>
                        <a:spcBef>
                          <a:spcPts val="0"/>
                        </a:spcBef>
                        <a:spcAft>
                          <a:spcPts val="0"/>
                        </a:spcAft>
                      </a:pPr>
                      <a:r>
                        <a:rPr sz="1300" b="0">
                          <a:solidFill>
                            <a:srgbClr val="1F1F1F"/>
                          </a:solidFill>
                          <a:latin typeface="Calibri"/>
                        </a:rPr>
                        <a:t>máximo permitido pelas</a:t>
                      </a:r>
                    </a:p>
                    <a:p>
                      <a:pPr algn="l">
                        <a:lnSpc>
                          <a:spcPct val="100000"/>
                        </a:lnSpc>
                        <a:spcBef>
                          <a:spcPts val="0"/>
                        </a:spcBef>
                        <a:spcAft>
                          <a:spcPts val="0"/>
                        </a:spcAft>
                      </a:pPr>
                      <a:r>
                        <a:rPr sz="1300" b="0">
                          <a:solidFill>
                            <a:srgbClr val="1F1F1F"/>
                          </a:solidFill>
                          <a:latin typeface="Calibri"/>
                        </a:rPr>
                        <a:t>leis e regulamentações</a:t>
                      </a:r>
                    </a:p>
                    <a:p>
                      <a:pPr algn="l">
                        <a:lnSpc>
                          <a:spcPct val="100000"/>
                        </a:lnSpc>
                        <a:spcBef>
                          <a:spcPts val="0"/>
                        </a:spcBef>
                        <a:spcAft>
                          <a:spcPts val="0"/>
                        </a:spcAft>
                      </a:pPr>
                      <a:r>
                        <a:rPr sz="1300" b="0">
                          <a:solidFill>
                            <a:srgbClr val="1F1F1F"/>
                          </a:solidFill>
                          <a:latin typeface="Calibri"/>
                        </a:rPr>
                        <a:t>aplicáveis; e (iv) os</a:t>
                      </a:r>
                    </a:p>
                    <a:p>
                      <a:pPr algn="l">
                        <a:lnSpc>
                          <a:spcPct val="100000"/>
                        </a:lnSpc>
                        <a:spcBef>
                          <a:spcPts val="0"/>
                        </a:spcBef>
                        <a:spcAft>
                          <a:spcPts val="0"/>
                        </a:spcAft>
                      </a:pPr>
                      <a:r>
                        <a:rPr sz="1300" b="0">
                          <a:solidFill>
                            <a:srgbClr val="1F1F1F"/>
                          </a:solidFill>
                          <a:latin typeface="Calibri"/>
                        </a:rPr>
                        <a:t>Direitos Creditórios</a:t>
                      </a:r>
                    </a:p>
                    <a:p>
                      <a:pPr algn="l">
                        <a:lnSpc>
                          <a:spcPct val="100000"/>
                        </a:lnSpc>
                        <a:spcBef>
                          <a:spcPts val="0"/>
                        </a:spcBef>
                        <a:spcAft>
                          <a:spcPts val="0"/>
                        </a:spcAft>
                      </a:pPr>
                      <a:r>
                        <a:rPr sz="1300" b="0">
                          <a:solidFill>
                            <a:srgbClr val="1F1F1F"/>
                          </a:solidFill>
                          <a:latin typeface="Calibri"/>
                        </a:rPr>
                        <a:t>não poderão ser devidos</a:t>
                      </a:r>
                    </a:p>
                    <a:p>
                      <a:pPr algn="l">
                        <a:lnSpc>
                          <a:spcPct val="100000"/>
                        </a:lnSpc>
                        <a:spcBef>
                          <a:spcPts val="0"/>
                        </a:spcBef>
                        <a:spcAft>
                          <a:spcPts val="0"/>
                        </a:spcAft>
                      </a:pPr>
                      <a:r>
                        <a:rPr sz="1300" b="0">
                          <a:solidFill>
                            <a:srgbClr val="1F1F1F"/>
                          </a:solidFill>
                          <a:latin typeface="Calibri"/>
                        </a:rPr>
                        <a:t>por Devedores que</a:t>
                      </a:r>
                    </a:p>
                    <a:p>
                      <a:pPr algn="l">
                        <a:lnSpc>
                          <a:spcPct val="100000"/>
                        </a:lnSpc>
                        <a:spcBef>
                          <a:spcPts val="0"/>
                        </a:spcBef>
                        <a:spcAft>
                          <a:spcPts val="0"/>
                        </a:spcAft>
                      </a:pPr>
                      <a:r>
                        <a:rPr sz="1300" b="0">
                          <a:solidFill>
                            <a:srgbClr val="1F1F1F"/>
                          </a:solidFill>
                          <a:latin typeface="Calibri"/>
                        </a:rPr>
                        <a:t>tenham acima de 64</a:t>
                      </a:r>
                    </a:p>
                    <a:p>
                      <a:pPr algn="l">
                        <a:lnSpc>
                          <a:spcPct val="100000"/>
                        </a:lnSpc>
                        <a:spcBef>
                          <a:spcPts val="0"/>
                        </a:spcBef>
                        <a:spcAft>
                          <a:spcPts val="0"/>
                        </a:spcAft>
                      </a:pPr>
                      <a:r>
                        <a:rPr sz="1300" b="0">
                          <a:solidFill>
                            <a:srgbClr val="1F1F1F"/>
                          </a:solidFill>
                          <a:latin typeface="Calibri"/>
                        </a:rPr>
                        <a:t>(sessenta e quatro)</a:t>
                      </a:r>
                    </a:p>
                    <a:p>
                      <a:pPr algn="l">
                        <a:lnSpc>
                          <a:spcPct val="100000"/>
                        </a:lnSpc>
                        <a:spcBef>
                          <a:spcPts val="0"/>
                        </a:spcBef>
                        <a:spcAft>
                          <a:spcPts val="0"/>
                        </a:spcAft>
                      </a:pPr>
                      <a:r>
                        <a:rPr sz="1300" b="0">
                          <a:solidFill>
                            <a:srgbClr val="1F1F1F"/>
                          </a:solidFill>
                          <a:latin typeface="Calibri"/>
                        </a:rPr>
                        <a:t>anos 11 (onze) meses e</a:t>
                      </a:r>
                    </a:p>
                    <a:p>
                      <a:pPr algn="l">
                        <a:lnSpc>
                          <a:spcPct val="100000"/>
                        </a:lnSpc>
                        <a:spcBef>
                          <a:spcPts val="0"/>
                        </a:spcBef>
                        <a:spcAft>
                          <a:spcPts val="0"/>
                        </a:spcAft>
                      </a:pPr>
                      <a:r>
                        <a:rPr sz="1300" b="0">
                          <a:solidFill>
                            <a:srgbClr val="1F1F1F"/>
                          </a:solidFill>
                          <a:latin typeface="Calibri"/>
                        </a:rPr>
                        <a:t>29 (vinte e nove) dias</a:t>
                      </a:r>
                    </a:p>
                    <a:p>
                      <a:pPr algn="l">
                        <a:lnSpc>
                          <a:spcPct val="100000"/>
                        </a:lnSpc>
                        <a:spcBef>
                          <a:spcPts val="0"/>
                        </a:spcBef>
                        <a:spcAft>
                          <a:spcPts val="0"/>
                        </a:spcAft>
                      </a:pPr>
                      <a:r>
                        <a:rPr sz="1300" b="0">
                          <a:solidFill>
                            <a:srgbClr val="1F1F1F"/>
                          </a:solidFill>
                          <a:latin typeface="Calibri"/>
                        </a:rPr>
                        <a:t>na data de emissão da</a:t>
                      </a:r>
                    </a:p>
                    <a:p>
                      <a:pPr algn="l">
                        <a:lnSpc>
                          <a:spcPct val="100000"/>
                        </a:lnSpc>
                        <a:spcBef>
                          <a:spcPts val="0"/>
                        </a:spcBef>
                        <a:spcAft>
                          <a:spcPts val="0"/>
                        </a:spcAft>
                      </a:pPr>
                      <a:r>
                        <a:rPr sz="1300" b="0">
                          <a:solidFill>
                            <a:srgbClr val="1F1F1F"/>
                          </a:solidFill>
                          <a:latin typeface="Calibri"/>
                        </a:rPr>
                        <a:t>respectiva CCB.</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11/160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Recebíveis e aquisição</a:t>
            </a:r>
          </a:p>
        </p:txBody>
      </p:sp>
      <p:graphicFrame>
        <p:nvGraphicFramePr>
          <p:cNvPr id="3" name="Table 2"/>
          <p:cNvGraphicFramePr>
            <a:graphicFrameLocks noGrp="1"/>
          </p:cNvGraphicFramePr>
          <p:nvPr/>
        </p:nvGraphicFramePr>
        <p:xfrm>
          <a:off x="438912" y="932688"/>
          <a:ext cx="11313868" cy="4315968"/>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3845052">
                <a:tc>
                  <a:txBody>
                    <a:bodyPr wrap="square">
                      <a:noAutofit/>
                    </a:bodyPr>
                    <a:lstStyle/>
                    <a:p>
                      <a:pPr algn="l">
                        <a:lnSpc>
                          <a:spcPct val="100000"/>
                        </a:lnSpc>
                        <a:spcBef>
                          <a:spcPts val="0"/>
                        </a:spcBef>
                        <a:spcAft>
                          <a:spcPts val="0"/>
                        </a:spcAft>
                      </a:pPr>
                      <a:r>
                        <a:rPr sz="1300" b="1">
                          <a:solidFill>
                            <a:srgbClr val="1F1F1F"/>
                          </a:solidFill>
                          <a:latin typeface="Calibri"/>
                        </a:rPr>
                        <a:t>Concentração por</a:t>
                      </a:r>
                    </a:p>
                    <a:p>
                      <a:pPr algn="l">
                        <a:lnSpc>
                          <a:spcPct val="100000"/>
                        </a:lnSpc>
                        <a:spcBef>
                          <a:spcPts val="0"/>
                        </a:spcBef>
                        <a:spcAft>
                          <a:spcPts val="0"/>
                        </a:spcAft>
                      </a:pPr>
                      <a:r>
                        <a:rPr sz="1300" b="1">
                          <a:solidFill>
                            <a:srgbClr val="1F1F1F"/>
                          </a:solidFill>
                          <a:latin typeface="Calibri"/>
                        </a:rPr>
                        <a:t>devedor, cedente e grupo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Até 100% do PL em</a:t>
                      </a:r>
                    </a:p>
                    <a:p>
                      <a:pPr algn="l">
                        <a:lnSpc>
                          <a:spcPct val="100000"/>
                        </a:lnSpc>
                        <a:spcBef>
                          <a:spcPts val="0"/>
                        </a:spcBef>
                        <a:spcAft>
                          <a:spcPts val="0"/>
                        </a:spcAft>
                      </a:pPr>
                      <a:r>
                        <a:rPr sz="1300" b="0">
                          <a:solidFill>
                            <a:srgbClr val="1F1F1F"/>
                          </a:solidFill>
                          <a:latin typeface="Calibri"/>
                        </a:rPr>
                        <a:t>direitos de um</a:t>
                      </a:r>
                    </a:p>
                    <a:p>
                      <a:pPr algn="l">
                        <a:lnSpc>
                          <a:spcPct val="100000"/>
                        </a:lnSpc>
                        <a:spcBef>
                          <a:spcPts val="0"/>
                        </a:spcBef>
                        <a:spcAft>
                          <a:spcPts val="0"/>
                        </a:spcAft>
                      </a:pPr>
                      <a:r>
                        <a:rPr sz="1300" b="0">
                          <a:solidFill>
                            <a:srgbClr val="1F1F1F"/>
                          </a:solidFill>
                          <a:latin typeface="Calibri"/>
                        </a:rPr>
                        <a:t>devedor/grupo ou</a:t>
                      </a:r>
                    </a:p>
                    <a:p>
                      <a:pPr algn="l">
                        <a:lnSpc>
                          <a:spcPct val="100000"/>
                        </a:lnSpc>
                        <a:spcBef>
                          <a:spcPts val="0"/>
                        </a:spcBef>
                        <a:spcAft>
                          <a:spcPts val="0"/>
                        </a:spcAft>
                      </a:pPr>
                      <a:r>
                        <a:rPr sz="1300" b="0">
                          <a:solidFill>
                            <a:srgbClr val="1F1F1F"/>
                          </a:solidFill>
                          <a:latin typeface="Calibri"/>
                        </a:rPr>
                        <a:t>originados/endossados</a:t>
                      </a:r>
                    </a:p>
                    <a:p>
                      <a:pPr algn="l">
                        <a:lnSpc>
                          <a:spcPct val="100000"/>
                        </a:lnSpc>
                        <a:spcBef>
                          <a:spcPts val="0"/>
                        </a:spcBef>
                        <a:spcAft>
                          <a:spcPts val="0"/>
                        </a:spcAft>
                      </a:pPr>
                      <a:r>
                        <a:rPr sz="1300" b="0">
                          <a:solidFill>
                            <a:srgbClr val="1F1F1F"/>
                          </a:solidFill>
                          <a:latin typeface="Calibri"/>
                        </a:rPr>
                        <a:t>por um mesmo endossante</a:t>
                      </a:r>
                    </a:p>
                    <a:p>
                      <a:pPr algn="l">
                        <a:lnSpc>
                          <a:spcPct val="100000"/>
                        </a:lnSpc>
                        <a:spcBef>
                          <a:spcPts val="0"/>
                        </a:spcBef>
                        <a:spcAft>
                          <a:spcPts val="0"/>
                        </a:spcAft>
                      </a:pPr>
                      <a:r>
                        <a:rPr sz="1300" b="0">
                          <a:solidFill>
                            <a:srgbClr val="1F1F1F"/>
                          </a:solidFill>
                          <a:latin typeface="Calibri"/>
                        </a:rPr>
                        <a:t>e suas partes</a:t>
                      </a:r>
                    </a:p>
                    <a:p>
                      <a:pPr algn="l">
                        <a:lnSpc>
                          <a:spcPct val="100000"/>
                        </a:lnSpc>
                        <a:spcBef>
                          <a:spcPts val="0"/>
                        </a:spcBef>
                        <a:spcAft>
                          <a:spcPts val="0"/>
                        </a:spcAft>
                      </a:pPr>
                      <a:r>
                        <a:rPr sz="1300" b="0">
                          <a:solidFill>
                            <a:srgbClr val="1F1F1F"/>
                          </a:solidFill>
                          <a:latin typeface="Calibri"/>
                        </a:rPr>
                        <a:t>relacionadas. A</a:t>
                      </a:r>
                    </a:p>
                    <a:p>
                      <a:pPr algn="l">
                        <a:lnSpc>
                          <a:spcPct val="100000"/>
                        </a:lnSpc>
                        <a:spcBef>
                          <a:spcPts val="0"/>
                        </a:spcBef>
                        <a:spcAft>
                          <a:spcPts val="0"/>
                        </a:spcAft>
                      </a:pPr>
                      <a:r>
                        <a:rPr sz="1300" b="0">
                          <a:solidFill>
                            <a:srgbClr val="1F1F1F"/>
                          </a:solidFill>
                          <a:latin typeface="Calibri"/>
                        </a:rPr>
                        <a:t>elegibilidade</a:t>
                      </a:r>
                    </a:p>
                    <a:p>
                      <a:pPr algn="l">
                        <a:lnSpc>
                          <a:spcPct val="100000"/>
                        </a:lnSpc>
                        <a:spcBef>
                          <a:spcPts val="0"/>
                        </a:spcBef>
                        <a:spcAft>
                          <a:spcPts val="0"/>
                        </a:spcAft>
                      </a:pPr>
                      <a:r>
                        <a:rPr sz="1300" b="0">
                          <a:solidFill>
                            <a:srgbClr val="1F1F1F"/>
                          </a:solidFill>
                          <a:latin typeface="Calibri"/>
                        </a:rPr>
                        <a:t>específica de todas as</a:t>
                      </a:r>
                    </a:p>
                    <a:p>
                      <a:pPr algn="l">
                        <a:lnSpc>
                          <a:spcPct val="100000"/>
                        </a:lnSpc>
                        <a:spcBef>
                          <a:spcPts val="0"/>
                        </a:spcBef>
                        <a:spcAft>
                          <a:spcPts val="0"/>
                        </a:spcAft>
                      </a:pPr>
                      <a:r>
                        <a:rPr sz="1300" b="0">
                          <a:solidFill>
                            <a:srgbClr val="1F1F1F"/>
                          </a:solidFill>
                          <a:latin typeface="Calibri"/>
                        </a:rPr>
                        <a:t>CCBs de um devedor</a:t>
                      </a:r>
                    </a:p>
                    <a:p>
                      <a:pPr algn="l">
                        <a:lnSpc>
                          <a:spcPct val="100000"/>
                        </a:lnSpc>
                        <a:spcBef>
                          <a:spcPts val="0"/>
                        </a:spcBef>
                        <a:spcAft>
                          <a:spcPts val="0"/>
                        </a:spcAft>
                      </a:pPr>
                      <a:r>
                        <a:rPr sz="1300" b="0">
                          <a:solidFill>
                            <a:srgbClr val="1F1F1F"/>
                          </a:solidFill>
                          <a:latin typeface="Calibri"/>
                        </a:rPr>
                        <a:t>limita a aquisição a</a:t>
                      </a:r>
                    </a:p>
                    <a:p>
                      <a:pPr algn="l">
                        <a:lnSpc>
                          <a:spcPct val="100000"/>
                        </a:lnSpc>
                        <a:spcBef>
                          <a:spcPts val="0"/>
                        </a:spcBef>
                        <a:spcAft>
                          <a:spcPts val="0"/>
                        </a:spcAft>
                      </a:pPr>
                      <a:r>
                        <a:rPr sz="1300" b="0">
                          <a:solidFill>
                            <a:srgbClr val="1F1F1F"/>
                          </a:solidFill>
                          <a:latin typeface="Calibri"/>
                        </a:rPr>
                        <a:t>20% do PL. Direitos não</a:t>
                      </a:r>
                    </a:p>
                    <a:p>
                      <a:pPr algn="l">
                        <a:lnSpc>
                          <a:spcPct val="100000"/>
                        </a:lnSpc>
                        <a:spcBef>
                          <a:spcPts val="0"/>
                        </a:spcBef>
                        <a:spcAft>
                          <a:spcPts val="0"/>
                        </a:spcAft>
                      </a:pPr>
                      <a:r>
                        <a:rPr sz="1300" b="0">
                          <a:solidFill>
                            <a:srgbClr val="1F1F1F"/>
                          </a:solidFill>
                          <a:latin typeface="Calibri"/>
                        </a:rPr>
                        <a:t>padronizados são</a:t>
                      </a:r>
                    </a:p>
                    <a:p>
                      <a:pPr algn="l">
                        <a:lnSpc>
                          <a:spcPct val="100000"/>
                        </a:lnSpc>
                        <a:spcBef>
                          <a:spcPts val="0"/>
                        </a:spcBef>
                        <a:spcAft>
                          <a:spcPts val="0"/>
                        </a:spcAft>
                      </a:pPr>
                      <a:r>
                        <a:rPr sz="1300" b="0">
                          <a:solidFill>
                            <a:srgbClr val="1F1F1F"/>
                          </a:solidFill>
                          <a:latin typeface="Calibri"/>
                        </a:rPr>
                        <a:t>vedados.</a:t>
                      </a:r>
                    </a:p>
                    <a:p>
                      <a:pPr algn="l">
                        <a:lnSpc>
                          <a:spcPct val="100000"/>
                        </a:lnSpc>
                        <a:spcBef>
                          <a:spcPts val="0"/>
                        </a:spcBef>
                        <a:spcAft>
                          <a:spcPts val="0"/>
                        </a:spcAft>
                      </a:pPr>
                      <a:r>
                        <a:rPr sz="1300" b="0">
                          <a:solidFill>
                            <a:srgbClr val="1F1F1F"/>
                          </a:solidFill>
                          <a:latin typeface="Calibri"/>
                        </a:rPr>
                        <a:t>IME 08/2026 ·</a:t>
                      </a:r>
                    </a:p>
                    <a:p>
                      <a:pPr algn="l">
                        <a:lnSpc>
                          <a:spcPct val="100000"/>
                        </a:lnSpc>
                        <a:spcBef>
                          <a:spcPts val="0"/>
                        </a:spcBef>
                        <a:spcAft>
                          <a:spcPts val="0"/>
                        </a:spcAft>
                      </a:pPr>
                      <a:r>
                        <a:rPr sz="1300" b="0">
                          <a:solidFill>
                            <a:srgbClr val="1F1F1F"/>
                          </a:solidFill>
                          <a:latin typeface="Calibri"/>
                        </a:rPr>
                        <a:t>Comparação não</a:t>
                      </a:r>
                    </a:p>
                    <a:p>
                      <a:pPr algn="l">
                        <a:lnSpc>
                          <a:spcPct val="100000"/>
                        </a:lnSpc>
                        <a:spcBef>
                          <a:spcPts val="0"/>
                        </a:spcBef>
                        <a:spcAft>
                          <a:spcPts val="0"/>
                        </a:spcAft>
                      </a:pPr>
                      <a:r>
                        <a:rPr sz="1300" b="0">
                          <a:solidFill>
                            <a:srgbClr val="1F1F1F"/>
                          </a:solidFill>
                          <a:latin typeface="Calibri"/>
                        </a:rPr>
                        <a:t>reproduzível</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TVM ≤3% do PL; CDB/RDB</a:t>
                      </a:r>
                    </a:p>
                    <a:p>
                      <a:pPr algn="l">
                        <a:lnSpc>
                          <a:spcPct val="100000"/>
                        </a:lnSpc>
                        <a:spcBef>
                          <a:spcPts val="0"/>
                        </a:spcBef>
                        <a:spcAft>
                          <a:spcPts val="0"/>
                        </a:spcAft>
                      </a:pPr>
                      <a:r>
                        <a:rPr sz="1300" b="0">
                          <a:solidFill>
                            <a:srgbClr val="1F1F1F"/>
                          </a:solidFill>
                          <a:latin typeface="Calibri"/>
                        </a:rPr>
                        <a:t>do endossante ≤R$ 25</a:t>
                      </a:r>
                    </a:p>
                    <a:p>
                      <a:pPr algn="l">
                        <a:lnSpc>
                          <a:spcPct val="100000"/>
                        </a:lnSpc>
                        <a:spcBef>
                          <a:spcPts val="0"/>
                        </a:spcBef>
                        <a:spcAft>
                          <a:spcPts val="0"/>
                        </a:spcAft>
                      </a:pPr>
                      <a:r>
                        <a:rPr sz="1300" b="0">
                          <a:solidFill>
                            <a:srgbClr val="1F1F1F"/>
                          </a:solidFill>
                          <a:latin typeface="Calibri"/>
                        </a:rPr>
                        <a:t>milhões. Até 100% do PL</a:t>
                      </a:r>
                    </a:p>
                    <a:p>
                      <a:pPr algn="l">
                        <a:lnSpc>
                          <a:spcPct val="100000"/>
                        </a:lnSpc>
                        <a:spcBef>
                          <a:spcPts val="0"/>
                        </a:spcBef>
                        <a:spcAft>
                          <a:spcPts val="0"/>
                        </a:spcAft>
                      </a:pPr>
                      <a:r>
                        <a:rPr sz="1300" b="0">
                          <a:solidFill>
                            <a:srgbClr val="1F1F1F"/>
                          </a:solidFill>
                          <a:latin typeface="Calibri"/>
                        </a:rPr>
                        <a:t>por devedor/grupo,</a:t>
                      </a:r>
                    </a:p>
                    <a:p>
                      <a:pPr algn="l">
                        <a:lnSpc>
                          <a:spcPct val="100000"/>
                        </a:lnSpc>
                        <a:spcBef>
                          <a:spcPts val="0"/>
                        </a:spcBef>
                        <a:spcAft>
                          <a:spcPts val="0"/>
                        </a:spcAft>
                      </a:pPr>
                      <a:r>
                        <a:rPr sz="1300" b="0">
                          <a:solidFill>
                            <a:srgbClr val="1F1F1F"/>
                          </a:solidFill>
                          <a:latin typeface="Calibri"/>
                        </a:rPr>
                        <a:t>sujeito aos limites</a:t>
                      </a:r>
                    </a:p>
                    <a:p>
                      <a:pPr algn="l">
                        <a:lnSpc>
                          <a:spcPct val="100000"/>
                        </a:lnSpc>
                        <a:spcBef>
                          <a:spcPts val="0"/>
                        </a:spcBef>
                        <a:spcAft>
                          <a:spcPts val="0"/>
                        </a:spcAft>
                      </a:pPr>
                      <a:r>
                        <a:rPr sz="1300" b="0">
                          <a:solidFill>
                            <a:srgbClr val="1F1F1F"/>
                          </a:solidFill>
                          <a:latin typeface="Calibri"/>
                        </a:rPr>
                        <a:t>específicos de</a:t>
                      </a:r>
                    </a:p>
                    <a:p>
                      <a:pPr algn="l">
                        <a:lnSpc>
                          <a:spcPct val="100000"/>
                        </a:lnSpc>
                        <a:spcBef>
                          <a:spcPts val="0"/>
                        </a:spcBef>
                        <a:spcAft>
                          <a:spcPts val="0"/>
                        </a:spcAft>
                      </a:pPr>
                      <a:r>
                        <a:rPr sz="1300" b="0">
                          <a:solidFill>
                            <a:srgbClr val="1F1F1F"/>
                          </a:solidFill>
                          <a:latin typeface="Calibri"/>
                        </a:rPr>
                        <a:t>elegibilidade e à</a:t>
                      </a:r>
                    </a:p>
                    <a:p>
                      <a:pPr algn="l">
                        <a:lnSpc>
                          <a:spcPct val="100000"/>
                        </a:lnSpc>
                        <a:spcBef>
                          <a:spcPts val="0"/>
                        </a:spcBef>
                        <a:spcAft>
                          <a:spcPts val="0"/>
                        </a:spcAft>
                      </a:pPr>
                      <a:r>
                        <a:rPr sz="1300" b="0">
                          <a:solidFill>
                            <a:srgbClr val="1F1F1F"/>
                          </a:solidFill>
                          <a:latin typeface="Calibri"/>
                        </a:rPr>
                        <a:t>política de crédito do</a:t>
                      </a:r>
                    </a:p>
                    <a:p>
                      <a:pPr algn="l">
                        <a:lnSpc>
                          <a:spcPct val="100000"/>
                        </a:lnSpc>
                        <a:spcBef>
                          <a:spcPts val="0"/>
                        </a:spcBef>
                        <a:spcAft>
                          <a:spcPts val="0"/>
                        </a:spcAft>
                      </a:pPr>
                      <a:r>
                        <a:rPr sz="1300" b="0">
                          <a:solidFill>
                            <a:srgbClr val="1F1F1F"/>
                          </a:solidFill>
                          <a:latin typeface="Calibri"/>
                        </a:rPr>
                        <a:t>Contrato de Endosso.</a:t>
                      </a:r>
                    </a:p>
                    <a:p>
                      <a:pPr algn="l">
                        <a:lnSpc>
                          <a:spcPct val="100000"/>
                        </a:lnSpc>
                        <a:spcBef>
                          <a:spcPts val="0"/>
                        </a:spcBef>
                        <a:spcAft>
                          <a:spcPts val="0"/>
                        </a:spcAft>
                      </a:pPr>
                      <a:r>
                        <a:rPr sz="1300" b="0">
                          <a:solidFill>
                            <a:srgbClr val="1F1F1F"/>
                          </a:solidFill>
                          <a:latin typeface="Calibri"/>
                        </a:rPr>
                        <a:t>IME 08/2026 ·</a:t>
                      </a:r>
                    </a:p>
                    <a:p>
                      <a:pPr algn="l">
                        <a:lnSpc>
                          <a:spcPct val="100000"/>
                        </a:lnSpc>
                        <a:spcBef>
                          <a:spcPts val="0"/>
                        </a:spcBef>
                        <a:spcAft>
                          <a:spcPts val="0"/>
                        </a:spcAft>
                      </a:pPr>
                      <a:r>
                        <a:rPr sz="1300" b="0">
                          <a:solidFill>
                            <a:srgbClr val="1F1F1F"/>
                          </a:solidFill>
                          <a:latin typeface="Calibri"/>
                        </a:rPr>
                        <a:t>Comparação não</a:t>
                      </a:r>
                    </a:p>
                    <a:p>
                      <a:pPr algn="l">
                        <a:lnSpc>
                          <a:spcPct val="100000"/>
                        </a:lnSpc>
                        <a:spcBef>
                          <a:spcPts val="0"/>
                        </a:spcBef>
                        <a:spcAft>
                          <a:spcPts val="0"/>
                        </a:spcAft>
                      </a:pPr>
                      <a:r>
                        <a:rPr sz="1300" b="0">
                          <a:solidFill>
                            <a:srgbClr val="1F1F1F"/>
                          </a:solidFill>
                          <a:latin typeface="Calibri"/>
                        </a:rPr>
                        <a:t>reproduzível</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Até 100% do PL por</a:t>
                      </a:r>
                    </a:p>
                    <a:p>
                      <a:pPr algn="l">
                        <a:lnSpc>
                          <a:spcPct val="100000"/>
                        </a:lnSpc>
                        <a:spcBef>
                          <a:spcPts val="0"/>
                        </a:spcBef>
                        <a:spcAft>
                          <a:spcPts val="0"/>
                        </a:spcAft>
                      </a:pPr>
                      <a:r>
                        <a:rPr sz="1300" b="0">
                          <a:solidFill>
                            <a:srgbClr val="1F1F1F"/>
                          </a:solidFill>
                          <a:latin typeface="Calibri"/>
                        </a:rPr>
                        <a:t>devedor/grupo e em</a:t>
                      </a:r>
                    </a:p>
                    <a:p>
                      <a:pPr algn="l">
                        <a:lnSpc>
                          <a:spcPct val="100000"/>
                        </a:lnSpc>
                        <a:spcBef>
                          <a:spcPts val="0"/>
                        </a:spcBef>
                        <a:spcAft>
                          <a:spcPts val="0"/>
                        </a:spcAft>
                      </a:pPr>
                      <a:r>
                        <a:rPr sz="1300" b="0">
                          <a:solidFill>
                            <a:srgbClr val="1F1F1F"/>
                          </a:solidFill>
                          <a:latin typeface="Calibri"/>
                        </a:rPr>
                        <a:t>cotas de uma mesma</a:t>
                      </a:r>
                    </a:p>
                    <a:p>
                      <a:pPr algn="l">
                        <a:lnSpc>
                          <a:spcPct val="100000"/>
                        </a:lnSpc>
                        <a:spcBef>
                          <a:spcPts val="0"/>
                        </a:spcBef>
                        <a:spcAft>
                          <a:spcPts val="0"/>
                        </a:spcAft>
                      </a:pPr>
                      <a:r>
                        <a:rPr sz="1300" b="0">
                          <a:solidFill>
                            <a:srgbClr val="1F1F1F"/>
                          </a:solidFill>
                          <a:latin typeface="Calibri"/>
                        </a:rPr>
                        <a:t>classe. Direitos de</a:t>
                      </a:r>
                    </a:p>
                    <a:p>
                      <a:pPr algn="l">
                        <a:lnSpc>
                          <a:spcPct val="100000"/>
                        </a:lnSpc>
                        <a:spcBef>
                          <a:spcPts val="0"/>
                        </a:spcBef>
                        <a:spcAft>
                          <a:spcPts val="0"/>
                        </a:spcAft>
                      </a:pPr>
                      <a:r>
                        <a:rPr sz="1300" b="0">
                          <a:solidFill>
                            <a:srgbClr val="1F1F1F"/>
                          </a:solidFill>
                          <a:latin typeface="Calibri"/>
                        </a:rPr>
                        <a:t>partes relacionadas</a:t>
                      </a:r>
                    </a:p>
                    <a:p>
                      <a:pPr algn="l">
                        <a:lnSpc>
                          <a:spcPct val="100000"/>
                        </a:lnSpc>
                        <a:spcBef>
                          <a:spcPts val="0"/>
                        </a:spcBef>
                        <a:spcAft>
                          <a:spcPts val="0"/>
                        </a:spcAft>
                      </a:pPr>
                      <a:r>
                        <a:rPr sz="1300" b="0">
                          <a:solidFill>
                            <a:srgbClr val="1F1F1F"/>
                          </a:solidFill>
                          <a:latin typeface="Calibri"/>
                        </a:rPr>
                        <a:t>podem chegar a 100%,</a:t>
                      </a:r>
                    </a:p>
                    <a:p>
                      <a:pPr algn="l">
                        <a:lnSpc>
                          <a:spcPct val="100000"/>
                        </a:lnSpc>
                        <a:spcBef>
                          <a:spcPts val="0"/>
                        </a:spcBef>
                        <a:spcAft>
                          <a:spcPts val="0"/>
                        </a:spcAft>
                      </a:pPr>
                      <a:r>
                        <a:rPr sz="1300" b="0">
                          <a:solidFill>
                            <a:srgbClr val="1F1F1F"/>
                          </a:solidFill>
                          <a:latin typeface="Calibri"/>
                        </a:rPr>
                        <a:t>sujeitos à</a:t>
                      </a:r>
                    </a:p>
                    <a:p>
                      <a:pPr algn="l">
                        <a:lnSpc>
                          <a:spcPct val="100000"/>
                        </a:lnSpc>
                        <a:spcBef>
                          <a:spcPts val="0"/>
                        </a:spcBef>
                        <a:spcAft>
                          <a:spcPts val="0"/>
                        </a:spcAft>
                      </a:pPr>
                      <a:r>
                        <a:rPr sz="1300" b="0">
                          <a:solidFill>
                            <a:srgbClr val="1F1F1F"/>
                          </a:solidFill>
                          <a:latin typeface="Calibri"/>
                        </a:rPr>
                        <a:t>independência entre</a:t>
                      </a:r>
                    </a:p>
                    <a:p>
                      <a:pPr algn="l">
                        <a:lnSpc>
                          <a:spcPct val="100000"/>
                        </a:lnSpc>
                        <a:spcBef>
                          <a:spcPts val="0"/>
                        </a:spcBef>
                        <a:spcAft>
                          <a:spcPts val="0"/>
                        </a:spcAft>
                      </a:pPr>
                      <a:r>
                        <a:rPr sz="1300" b="0">
                          <a:solidFill>
                            <a:srgbClr val="1F1F1F"/>
                          </a:solidFill>
                          <a:latin typeface="Calibri"/>
                        </a:rPr>
                        <a:t>gestor, registradora/cu</a:t>
                      </a:r>
                    </a:p>
                    <a:p>
                      <a:pPr algn="l">
                        <a:lnSpc>
                          <a:spcPct val="100000"/>
                        </a:lnSpc>
                        <a:spcBef>
                          <a:spcPts val="0"/>
                        </a:spcBef>
                        <a:spcAft>
                          <a:spcPts val="0"/>
                        </a:spcAft>
                      </a:pPr>
                      <a:r>
                        <a:rPr sz="1300" b="0">
                          <a:solidFill>
                            <a:srgbClr val="1F1F1F"/>
                          </a:solidFill>
                          <a:latin typeface="Calibri"/>
                        </a:rPr>
                        <a:t>stodiante e</a:t>
                      </a:r>
                    </a:p>
                    <a:p>
                      <a:pPr algn="l">
                        <a:lnSpc>
                          <a:spcPct val="100000"/>
                        </a:lnSpc>
                        <a:spcBef>
                          <a:spcPts val="0"/>
                        </a:spcBef>
                        <a:spcAft>
                          <a:spcPts val="0"/>
                        </a:spcAft>
                      </a:pPr>
                      <a:r>
                        <a:rPr sz="1300" b="0">
                          <a:solidFill>
                            <a:srgbClr val="1F1F1F"/>
                          </a:solidFill>
                          <a:latin typeface="Calibri"/>
                        </a:rPr>
                        <a:t>originador/cedente.</a:t>
                      </a:r>
                    </a:p>
                    <a:p>
                      <a:pPr algn="l">
                        <a:lnSpc>
                          <a:spcPct val="100000"/>
                        </a:lnSpc>
                        <a:spcBef>
                          <a:spcPts val="0"/>
                        </a:spcBef>
                        <a:spcAft>
                          <a:spcPts val="0"/>
                        </a:spcAft>
                      </a:pPr>
                      <a:r>
                        <a:rPr sz="1300" b="0">
                          <a:solidFill>
                            <a:srgbClr val="1F1F1F"/>
                          </a:solidFill>
                          <a:latin typeface="Calibri"/>
                        </a:rPr>
                        <a:t>Limite de 49% do PL em</a:t>
                      </a:r>
                    </a:p>
                    <a:p>
                      <a:pPr algn="l">
                        <a:lnSpc>
                          <a:spcPct val="100000"/>
                        </a:lnSpc>
                        <a:spcBef>
                          <a:spcPts val="0"/>
                        </a:spcBef>
                        <a:spcAft>
                          <a:spcPts val="0"/>
                        </a:spcAft>
                      </a:pPr>
                      <a:r>
                        <a:rPr sz="1300" b="0">
                          <a:solidFill>
                            <a:srgbClr val="1F1F1F"/>
                          </a:solidFill>
                          <a:latin typeface="Calibri"/>
                        </a:rPr>
                        <a:t>cada categoria:</a:t>
                      </a:r>
                    </a:p>
                    <a:p>
                      <a:pPr algn="l">
                        <a:lnSpc>
                          <a:spcPct val="100000"/>
                        </a:lnSpc>
                        <a:spcBef>
                          <a:spcPts val="0"/>
                        </a:spcBef>
                        <a:spcAft>
                          <a:spcPts val="0"/>
                        </a:spcAft>
                      </a:pPr>
                      <a:r>
                        <a:rPr sz="1300" b="0">
                          <a:solidFill>
                            <a:srgbClr val="1F1F1F"/>
                          </a:solidFill>
                          <a:latin typeface="Calibri"/>
                        </a:rPr>
                        <a:t>imóveis, participações,</a:t>
                      </a:r>
                    </a:p>
                    <a:p>
                      <a:pPr algn="l">
                        <a:lnSpc>
                          <a:spcPct val="100000"/>
                        </a:lnSpc>
                        <a:spcBef>
                          <a:spcPts val="0"/>
                        </a:spcBef>
                        <a:spcAft>
                          <a:spcPts val="0"/>
                        </a:spcAft>
                      </a:pPr>
                      <a:r>
                        <a:rPr sz="1300" b="0">
                          <a:solidFill>
                            <a:srgbClr val="1F1F1F"/>
                          </a:solidFill>
                          <a:latin typeface="Calibri"/>
                        </a:rPr>
                        <a:t>ativos financeiros e</a:t>
                      </a:r>
                    </a:p>
                    <a:p>
                      <a:pPr algn="l">
                        <a:lnSpc>
                          <a:spcPct val="100000"/>
                        </a:lnSpc>
                        <a:spcBef>
                          <a:spcPts val="0"/>
                        </a:spcBef>
                        <a:spcAft>
                          <a:spcPts val="0"/>
                        </a:spcAft>
                      </a:pPr>
                      <a:r>
                        <a:rPr sz="1300" b="0">
                          <a:solidFill>
                            <a:srgbClr val="1F1F1F"/>
                          </a:solidFill>
                          <a:latin typeface="Calibri"/>
                        </a:rPr>
                        <a:t>ativos em geral do</a:t>
                      </a:r>
                    </a:p>
                    <a:p>
                      <a:pPr algn="l">
                        <a:lnSpc>
                          <a:spcPct val="100000"/>
                        </a:lnSpc>
                        <a:spcBef>
                          <a:spcPts val="0"/>
                        </a:spcBef>
                        <a:spcAft>
                          <a:spcPts val="0"/>
                        </a:spcAft>
                      </a:pPr>
                      <a:r>
                        <a:rPr sz="1300" b="0">
                          <a:solidFill>
                            <a:srgbClr val="1F1F1F"/>
                          </a:solidFill>
                          <a:latin typeface="Calibri"/>
                        </a:rPr>
                        <a:t>agronegócio.</a:t>
                      </a:r>
                    </a:p>
                    <a:p>
                      <a:pPr algn="l">
                        <a:lnSpc>
                          <a:spcPct val="100000"/>
                        </a:lnSpc>
                        <a:spcBef>
                          <a:spcPts val="0"/>
                        </a:spcBef>
                        <a:spcAft>
                          <a:spcPts val="0"/>
                        </a:spcAft>
                      </a:pPr>
                      <a:r>
                        <a:rPr sz="1300" b="0">
                          <a:solidFill>
                            <a:srgbClr val="1F1F1F"/>
                          </a:solidFill>
                          <a:latin typeface="Calibri"/>
                        </a:rPr>
                        <a:t>IME 08/2026 ·</a:t>
                      </a:r>
                    </a:p>
                    <a:p>
                      <a:pPr algn="l">
                        <a:lnSpc>
                          <a:spcPct val="100000"/>
                        </a:lnSpc>
                        <a:spcBef>
                          <a:spcPts val="0"/>
                        </a:spcBef>
                        <a:spcAft>
                          <a:spcPts val="0"/>
                        </a:spcAft>
                      </a:pPr>
                      <a:r>
                        <a:rPr sz="1300" b="0">
                          <a:solidFill>
                            <a:srgbClr val="1F1F1F"/>
                          </a:solidFill>
                          <a:latin typeface="Calibri"/>
                        </a:rPr>
                        <a:t>Comparação não</a:t>
                      </a:r>
                    </a:p>
                    <a:p>
                      <a:pPr algn="l">
                        <a:lnSpc>
                          <a:spcPct val="100000"/>
                        </a:lnSpc>
                        <a:spcBef>
                          <a:spcPts val="0"/>
                        </a:spcBef>
                        <a:spcAft>
                          <a:spcPts val="0"/>
                        </a:spcAft>
                      </a:pPr>
                      <a:r>
                        <a:rPr sz="1300" b="0">
                          <a:solidFill>
                            <a:srgbClr val="1F1F1F"/>
                          </a:solidFill>
                          <a:latin typeface="Calibri"/>
                        </a:rPr>
                        <a:t>reproduzível</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Até 100% do PL na</a:t>
                      </a:r>
                    </a:p>
                    <a:p>
                      <a:pPr algn="l">
                        <a:lnSpc>
                          <a:spcPct val="100000"/>
                        </a:lnSpc>
                        <a:spcBef>
                          <a:spcPts val="0"/>
                        </a:spcBef>
                        <a:spcAft>
                          <a:spcPts val="0"/>
                        </a:spcAft>
                      </a:pPr>
                      <a:r>
                        <a:rPr sz="1300" b="0">
                          <a:solidFill>
                            <a:srgbClr val="1F1F1F"/>
                          </a:solidFill>
                          <a:latin typeface="Calibri"/>
                        </a:rPr>
                        <a:t>classe Mercado Crédito</a:t>
                      </a:r>
                    </a:p>
                    <a:p>
                      <a:pPr algn="l">
                        <a:lnSpc>
                          <a:spcPct val="100000"/>
                        </a:lnSpc>
                        <a:spcBef>
                          <a:spcPts val="0"/>
                        </a:spcBef>
                        <a:spcAft>
                          <a:spcPts val="0"/>
                        </a:spcAft>
                      </a:pPr>
                      <a:r>
                        <a:rPr sz="1300" b="0">
                          <a:solidFill>
                            <a:srgbClr val="1F1F1F"/>
                          </a:solidFill>
                          <a:latin typeface="Calibri"/>
                        </a:rPr>
                        <a:t>II, inclusive</a:t>
                      </a:r>
                    </a:p>
                    <a:p>
                      <a:pPr algn="l">
                        <a:lnSpc>
                          <a:spcPct val="100000"/>
                        </a:lnSpc>
                        <a:spcBef>
                          <a:spcPts val="0"/>
                        </a:spcBef>
                        <a:spcAft>
                          <a:spcPts val="0"/>
                        </a:spcAft>
                      </a:pPr>
                      <a:r>
                        <a:rPr sz="1300" b="0">
                          <a:solidFill>
                            <a:srgbClr val="1F1F1F"/>
                          </a:solidFill>
                          <a:latin typeface="Calibri"/>
                        </a:rPr>
                        <a:t>administrada/gerida por</a:t>
                      </a:r>
                    </a:p>
                    <a:p>
                      <a:pPr algn="l">
                        <a:lnSpc>
                          <a:spcPct val="100000"/>
                        </a:lnSpc>
                        <a:spcBef>
                          <a:spcPts val="0"/>
                        </a:spcBef>
                        <a:spcAft>
                          <a:spcPts val="0"/>
                        </a:spcAft>
                      </a:pPr>
                      <a:r>
                        <a:rPr sz="1300" b="0">
                          <a:solidFill>
                            <a:srgbClr val="1F1F1F"/>
                          </a:solidFill>
                          <a:latin typeface="Calibri"/>
                        </a:rPr>
                        <a:t>prestadores</a:t>
                      </a:r>
                    </a:p>
                    <a:p>
                      <a:pPr algn="l">
                        <a:lnSpc>
                          <a:spcPct val="100000"/>
                        </a:lnSpc>
                        <a:spcBef>
                          <a:spcPts val="0"/>
                        </a:spcBef>
                        <a:spcAft>
                          <a:spcPts val="0"/>
                        </a:spcAft>
                      </a:pPr>
                      <a:r>
                        <a:rPr sz="1300" b="0">
                          <a:solidFill>
                            <a:srgbClr val="1F1F1F"/>
                          </a:solidFill>
                          <a:latin typeface="Calibri"/>
                        </a:rPr>
                        <a:t>relacionados.</a:t>
                      </a:r>
                    </a:p>
                    <a:p>
                      <a:pPr algn="l">
                        <a:lnSpc>
                          <a:spcPct val="100000"/>
                        </a:lnSpc>
                        <a:spcBef>
                          <a:spcPts val="0"/>
                        </a:spcBef>
                        <a:spcAft>
                          <a:spcPts val="0"/>
                        </a:spcAft>
                      </a:pPr>
                      <a:r>
                        <a:rPr sz="1300" b="0">
                          <a:solidFill>
                            <a:srgbClr val="1F1F1F"/>
                          </a:solidFill>
                          <a:latin typeface="Calibri"/>
                        </a:rPr>
                        <a:t>Compras/alienações com</a:t>
                      </a:r>
                    </a:p>
                    <a:p>
                      <a:pPr algn="l">
                        <a:lnSpc>
                          <a:spcPct val="100000"/>
                        </a:lnSpc>
                        <a:spcBef>
                          <a:spcPts val="0"/>
                        </a:spcBef>
                        <a:spcAft>
                          <a:spcPts val="0"/>
                        </a:spcAft>
                      </a:pPr>
                      <a:r>
                        <a:rPr sz="1300" b="0">
                          <a:solidFill>
                            <a:srgbClr val="1F1F1F"/>
                          </a:solidFill>
                          <a:latin typeface="Calibri"/>
                        </a:rPr>
                        <a:t>relacionados</a:t>
                      </a:r>
                    </a:p>
                    <a:p>
                      <a:pPr algn="l">
                        <a:lnSpc>
                          <a:spcPct val="100000"/>
                        </a:lnSpc>
                        <a:spcBef>
                          <a:spcPts val="0"/>
                        </a:spcBef>
                        <a:spcAft>
                          <a:spcPts val="0"/>
                        </a:spcAft>
                      </a:pPr>
                      <a:r>
                        <a:rPr sz="1300" b="0">
                          <a:solidFill>
                            <a:srgbClr val="1F1F1F"/>
                          </a:solidFill>
                          <a:latin typeface="Calibri"/>
                        </a:rPr>
                        <a:t>permitidas.</a:t>
                      </a:r>
                    </a:p>
                    <a:p>
                      <a:pPr algn="l">
                        <a:lnSpc>
                          <a:spcPct val="100000"/>
                        </a:lnSpc>
                        <a:spcBef>
                          <a:spcPts val="0"/>
                        </a:spcBef>
                        <a:spcAft>
                          <a:spcPts val="0"/>
                        </a:spcAft>
                      </a:pPr>
                      <a:r>
                        <a:rPr sz="1300" b="0">
                          <a:solidFill>
                            <a:srgbClr val="1F1F1F"/>
                          </a:solidFill>
                          <a:latin typeface="Calibri"/>
                        </a:rPr>
                        <a:t>IME 08/2026 ·</a:t>
                      </a:r>
                    </a:p>
                    <a:p>
                      <a:pPr algn="l">
                        <a:lnSpc>
                          <a:spcPct val="100000"/>
                        </a:lnSpc>
                        <a:spcBef>
                          <a:spcPts val="0"/>
                        </a:spcBef>
                        <a:spcAft>
                          <a:spcPts val="0"/>
                        </a:spcAft>
                      </a:pPr>
                      <a:r>
                        <a:rPr sz="1300" b="0">
                          <a:solidFill>
                            <a:srgbClr val="1F1F1F"/>
                          </a:solidFill>
                          <a:latin typeface="Calibri"/>
                        </a:rPr>
                        <a:t>Comparação não</a:t>
                      </a:r>
                    </a:p>
                    <a:p>
                      <a:pPr algn="l">
                        <a:lnSpc>
                          <a:spcPct val="100000"/>
                        </a:lnSpc>
                        <a:spcBef>
                          <a:spcPts val="0"/>
                        </a:spcBef>
                        <a:spcAft>
                          <a:spcPts val="0"/>
                        </a:spcAft>
                      </a:pPr>
                      <a:r>
                        <a:rPr sz="1300" b="0">
                          <a:solidFill>
                            <a:srgbClr val="1F1F1F"/>
                          </a:solidFill>
                          <a:latin typeface="Calibri"/>
                        </a:rPr>
                        <a:t>reproduzível</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12/160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Recebíveis e aquisição</a:t>
            </a:r>
          </a:p>
        </p:txBody>
      </p:sp>
      <p:graphicFrame>
        <p:nvGraphicFramePr>
          <p:cNvPr id="3" name="Table 2"/>
          <p:cNvGraphicFramePr>
            <a:graphicFrameLocks noGrp="1"/>
          </p:cNvGraphicFramePr>
          <p:nvPr/>
        </p:nvGraphicFramePr>
        <p:xfrm>
          <a:off x="438912" y="932688"/>
          <a:ext cx="11313870" cy="5088634"/>
        </p:xfrm>
        <a:graphic>
          <a:graphicData uri="http://schemas.openxmlformats.org/drawingml/2006/table">
            <a:tbl>
              <a:tblPr>
                <a:tableStyleId>{5C22544A-7EE6-4342-B048-85BDC9FD1C3A}</a:tableStyleId>
              </a:tblPr>
              <a:tblGrid>
                <a:gridCol w="2331720"/>
                <a:gridCol w="4491075"/>
                <a:gridCol w="4491075"/>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V CDT 1 · 62552447000120</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Global CP · 63953620000165</a:t>
                      </a:r>
                    </a:p>
                  </a:txBody>
                  <a:tcPr marL="91440" marR="91440" marT="41148" marB="41148" anchor="ctr">
                    <a:solidFill>
                      <a:srgbClr val="F7F7F7"/>
                    </a:solidFill>
                    <a:lnL>
                      <a:noFill/>
                    </a:lnL>
                    <a:lnR>
                      <a:noFill/>
                    </a:lnR>
                    <a:lnT>
                      <a:noFill/>
                    </a:lnT>
                    <a:lnB w="6350">
                      <a:solidFill>
                        <a:srgbClr val="D9DEE5"/>
                      </a:solidFill>
                    </a:lnB>
                  </a:tcPr>
                </a:tc>
              </a:tr>
              <a:tr h="845819">
                <a:tc>
                  <a:txBody>
                    <a:bodyPr wrap="square">
                      <a:noAutofit/>
                    </a:bodyPr>
                    <a:lstStyle/>
                    <a:p>
                      <a:pPr algn="l">
                        <a:lnSpc>
                          <a:spcPct val="100000"/>
                        </a:lnSpc>
                        <a:spcBef>
                          <a:spcPts val="0"/>
                        </a:spcBef>
                        <a:spcAft>
                          <a:spcPts val="0"/>
                        </a:spcAft>
                      </a:pPr>
                      <a:r>
                        <a:rPr sz="1300" b="1">
                          <a:solidFill>
                            <a:srgbClr val="1F1F1F"/>
                          </a:solidFill>
                          <a:latin typeface="Calibri"/>
                        </a:rPr>
                        <a:t>Natureza dos recebíveis</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CCBs eletrônicas de consignado privado/FGTS;</a:t>
                      </a:r>
                    </a:p>
                    <a:p>
                      <a:pPr algn="l">
                        <a:lnSpc>
                          <a:spcPct val="100000"/>
                        </a:lnSpc>
                        <a:spcBef>
                          <a:spcPts val="0"/>
                        </a:spcBef>
                        <a:spcAft>
                          <a:spcPts val="0"/>
                        </a:spcAft>
                      </a:pPr>
                      <a:r>
                        <a:rPr sz="1300" b="0">
                          <a:solidFill>
                            <a:srgbClr val="1F1F1F"/>
                          </a:solidFill>
                          <a:latin typeface="Calibri"/>
                        </a:rPr>
                        <a:t>refinanciamento livre de CCBs pode perder</a:t>
                      </a:r>
                    </a:p>
                    <a:p>
                      <a:pPr algn="l">
                        <a:lnSpc>
                          <a:spcPct val="100000"/>
                        </a:lnSpc>
                        <a:spcBef>
                          <a:spcPts val="0"/>
                        </a:spcBef>
                        <a:spcAft>
                          <a:spcPts val="0"/>
                        </a:spcAft>
                      </a:pPr>
                      <a:r>
                        <a:rPr sz="1300" b="0">
                          <a:solidFill>
                            <a:srgbClr val="1F1F1F"/>
                          </a:solidFill>
                          <a:latin typeface="Calibri"/>
                        </a:rPr>
                        <a:t>consignação/cessão do saque-aniversário. TVM e</a:t>
                      </a:r>
                    </a:p>
                    <a:p>
                      <a:pPr algn="l">
                        <a:lnSpc>
                          <a:spcPct val="100000"/>
                        </a:lnSpc>
                        <a:spcBef>
                          <a:spcPts val="0"/>
                        </a:spcBef>
                        <a:spcAft>
                          <a:spcPts val="0"/>
                        </a:spcAft>
                      </a:pPr>
                      <a:r>
                        <a:rPr sz="1300" b="0">
                          <a:solidFill>
                            <a:srgbClr val="1F1F1F"/>
                          </a:solidFill>
                          <a:latin typeface="Calibri"/>
                        </a:rPr>
                        <a:t>cotas que invistam nesses TVM também admitidos.</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CCBs eletrônicas de consignado privado,</a:t>
                      </a:r>
                    </a:p>
                    <a:p>
                      <a:pPr algn="l">
                        <a:lnSpc>
                          <a:spcPct val="100000"/>
                        </a:lnSpc>
                        <a:spcBef>
                          <a:spcPts val="0"/>
                        </a:spcBef>
                        <a:spcAft>
                          <a:spcPts val="0"/>
                        </a:spcAft>
                      </a:pPr>
                      <a:r>
                        <a:rPr sz="1300" b="0">
                          <a:solidFill>
                            <a:srgbClr val="1F1F1F"/>
                          </a:solidFill>
                          <a:latin typeface="Calibri"/>
                        </a:rPr>
                        <a:t>originadas pela Plataforma MT e averbadas na</a:t>
                      </a:r>
                    </a:p>
                    <a:p>
                      <a:pPr algn="l">
                        <a:lnSpc>
                          <a:spcPct val="100000"/>
                        </a:lnSpc>
                        <a:spcBef>
                          <a:spcPts val="0"/>
                        </a:spcBef>
                        <a:spcAft>
                          <a:spcPts val="0"/>
                        </a:spcAft>
                      </a:pPr>
                      <a:r>
                        <a:rPr sz="1300" b="0">
                          <a:solidFill>
                            <a:srgbClr val="1F1F1F"/>
                          </a:solidFill>
                          <a:latin typeface="Calibri"/>
                        </a:rPr>
                        <a:t>Dataprev; admite também TVM.</a:t>
                      </a:r>
                    </a:p>
                  </a:txBody>
                  <a:tcPr marL="91440" marR="91440" marT="41148" marB="41148" anchor="ctr">
                    <a:solidFill>
                      <a:srgbClr val="FFFFFF"/>
                    </a:solidFill>
                    <a:lnL>
                      <a:noFill/>
                    </a:lnL>
                    <a:lnR>
                      <a:noFill/>
                    </a:lnR>
                    <a:lnT>
                      <a:noFill/>
                    </a:lnT>
                    <a:lnB>
                      <a:noFill/>
                    </a:lnB>
                  </a:tcPr>
                </a:tc>
              </a:tr>
              <a:tr h="1033271">
                <a:tc>
                  <a:txBody>
                    <a:bodyPr wrap="square">
                      <a:noAutofit/>
                    </a:bodyPr>
                    <a:lstStyle/>
                    <a:p>
                      <a:pPr algn="l">
                        <a:lnSpc>
                          <a:spcPct val="100000"/>
                        </a:lnSpc>
                        <a:spcBef>
                          <a:spcPts val="0"/>
                        </a:spcBef>
                        <a:spcAft>
                          <a:spcPts val="0"/>
                        </a:spcAft>
                      </a:pPr>
                      <a:r>
                        <a:rPr sz="1300" b="1">
                          <a:solidFill>
                            <a:srgbClr val="1F1F1F"/>
                          </a:solidFill>
                          <a:latin typeface="Calibri"/>
                        </a:rPr>
                        <a:t>Originador e endossante</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Banco VR S.A. (78.626.983/0001-63) ou outra</a:t>
                      </a:r>
                    </a:p>
                    <a:p>
                      <a:pPr algn="l">
                        <a:lnSpc>
                          <a:spcPct val="100000"/>
                        </a:lnSpc>
                        <a:spcBef>
                          <a:spcPts val="0"/>
                        </a:spcBef>
                        <a:spcAft>
                          <a:spcPts val="0"/>
                        </a:spcAft>
                      </a:pPr>
                      <a:r>
                        <a:rPr sz="1300" b="0">
                          <a:solidFill>
                            <a:srgbClr val="1F1F1F"/>
                          </a:solidFill>
                          <a:latin typeface="Calibri"/>
                        </a:rPr>
                        <a:t>sociedade do mesmo grupo: endossante. VR</a:t>
                      </a:r>
                    </a:p>
                    <a:p>
                      <a:pPr algn="l">
                        <a:lnSpc>
                          <a:spcPct val="100000"/>
                        </a:lnSpc>
                        <a:spcBef>
                          <a:spcPts val="0"/>
                        </a:spcBef>
                        <a:spcAft>
                          <a:spcPts val="0"/>
                        </a:spcAft>
                      </a:pPr>
                      <a:r>
                        <a:rPr sz="1300" b="0">
                          <a:solidFill>
                            <a:srgbClr val="1F1F1F"/>
                          </a:solidFill>
                          <a:latin typeface="Calibri"/>
                        </a:rPr>
                        <a:t>Benefícios e Serviços de Processamento S.A.</a:t>
                      </a:r>
                    </a:p>
                    <a:p>
                      <a:pPr algn="l">
                        <a:lnSpc>
                          <a:spcPct val="100000"/>
                        </a:lnSpc>
                        <a:spcBef>
                          <a:spcPts val="0"/>
                        </a:spcBef>
                        <a:spcAft>
                          <a:spcPts val="0"/>
                        </a:spcAft>
                      </a:pPr>
                      <a:r>
                        <a:rPr sz="1300" b="0">
                          <a:solidFill>
                            <a:srgbClr val="1F1F1F"/>
                          </a:solidFill>
                          <a:latin typeface="Calibri"/>
                        </a:rPr>
                        <a:t>(02.535.864/0004-86): originador e agente de</a:t>
                      </a:r>
                    </a:p>
                    <a:p>
                      <a:pPr algn="l">
                        <a:lnSpc>
                          <a:spcPct val="100000"/>
                        </a:lnSpc>
                        <a:spcBef>
                          <a:spcPts val="0"/>
                        </a:spcBef>
                        <a:spcAft>
                          <a:spcPts val="0"/>
                        </a:spcAft>
                      </a:pPr>
                      <a:r>
                        <a:rPr sz="1300" b="0">
                          <a:solidFill>
                            <a:srgbClr val="1F1F1F"/>
                          </a:solidFill>
                          <a:latin typeface="Calibri"/>
                        </a:rPr>
                        <a:t>retenção/cobrança; Plataforma VR.</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Parati CFI (03.311.443/0001-91):</a:t>
                      </a:r>
                    </a:p>
                    <a:p>
                      <a:pPr algn="l">
                        <a:lnSpc>
                          <a:spcPct val="100000"/>
                        </a:lnSpc>
                        <a:spcBef>
                          <a:spcPts val="0"/>
                        </a:spcBef>
                        <a:spcAft>
                          <a:spcPts val="0"/>
                        </a:spcAft>
                      </a:pPr>
                      <a:r>
                        <a:rPr sz="1300" b="0">
                          <a:solidFill>
                            <a:srgbClr val="1F1F1F"/>
                          </a:solidFill>
                          <a:latin typeface="Calibri"/>
                        </a:rPr>
                        <a:t>endossante/cedente. Tudo Serviços</a:t>
                      </a:r>
                    </a:p>
                    <a:p>
                      <a:pPr algn="l">
                        <a:lnSpc>
                          <a:spcPct val="100000"/>
                        </a:lnSpc>
                        <a:spcBef>
                          <a:spcPts val="0"/>
                        </a:spcBef>
                        <a:spcAft>
                          <a:spcPts val="0"/>
                        </a:spcAft>
                      </a:pPr>
                      <a:r>
                        <a:rPr sz="1300" b="0">
                          <a:solidFill>
                            <a:srgbClr val="1F1F1F"/>
                          </a:solidFill>
                          <a:latin typeface="Calibri"/>
                        </a:rPr>
                        <a:t>(27.852.506/0001-85): retenção/cobrança e</a:t>
                      </a:r>
                    </a:p>
                    <a:p>
                      <a:pPr algn="l">
                        <a:lnSpc>
                          <a:spcPct val="100000"/>
                        </a:lnSpc>
                        <a:spcBef>
                          <a:spcPts val="0"/>
                        </a:spcBef>
                        <a:spcAft>
                          <a:spcPts val="0"/>
                        </a:spcAft>
                      </a:pPr>
                      <a:r>
                        <a:rPr sz="1300" b="0">
                          <a:solidFill>
                            <a:srgbClr val="1F1F1F"/>
                          </a:solidFill>
                          <a:latin typeface="Calibri"/>
                        </a:rPr>
                        <a:t>Plataforma MT, ambas identificadas na própria</a:t>
                      </a:r>
                    </a:p>
                    <a:p>
                      <a:pPr algn="l">
                        <a:lnSpc>
                          <a:spcPct val="100000"/>
                        </a:lnSpc>
                        <a:spcBef>
                          <a:spcPts val="0"/>
                        </a:spcBef>
                        <a:spcAft>
                          <a:spcPts val="0"/>
                        </a:spcAft>
                      </a:pPr>
                      <a:r>
                        <a:rPr sz="1300" b="0">
                          <a:solidFill>
                            <a:srgbClr val="1F1F1F"/>
                          </a:solidFill>
                          <a:latin typeface="Calibri"/>
                        </a:rPr>
                        <a:t>classe.</a:t>
                      </a:r>
                    </a:p>
                  </a:txBody>
                  <a:tcPr marL="91440" marR="91440" marT="41148" marB="41148" anchor="ctr">
                    <a:solidFill>
                      <a:srgbClr val="FFFFFF"/>
                    </a:solidFill>
                    <a:lnL>
                      <a:noFill/>
                    </a:lnL>
                    <a:lnR>
                      <a:noFill/>
                    </a:lnR>
                    <a:lnT>
                      <a:noFill/>
                    </a:lnT>
                    <a:lnB>
                      <a:noFill/>
                    </a:lnB>
                  </a:tcPr>
                </a:tc>
              </a:tr>
              <a:tr h="1595628">
                <a:tc>
                  <a:txBody>
                    <a:bodyPr wrap="square">
                      <a:noAutofit/>
                    </a:bodyPr>
                    <a:lstStyle/>
                    <a:p>
                      <a:pPr algn="l">
                        <a:lnSpc>
                          <a:spcPct val="100000"/>
                        </a:lnSpc>
                        <a:spcBef>
                          <a:spcPts val="0"/>
                        </a:spcBef>
                        <a:spcAft>
                          <a:spcPts val="0"/>
                        </a:spcAft>
                      </a:pPr>
                      <a:r>
                        <a:rPr sz="1300" b="1">
                          <a:solidFill>
                            <a:srgbClr val="1F1F1F"/>
                          </a:solidFill>
                          <a:latin typeface="Calibri"/>
                        </a:rPr>
                        <a:t>Devedor e consignação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realizada pelo empregador, junto ao eSocial, após</a:t>
                      </a:r>
                    </a:p>
                    <a:p>
                      <a:pPr algn="l">
                        <a:lnSpc>
                          <a:spcPct val="100000"/>
                        </a:lnSpc>
                        <a:spcBef>
                          <a:spcPts val="0"/>
                        </a:spcBef>
                        <a:spcAft>
                          <a:spcPts val="0"/>
                        </a:spcAft>
                      </a:pPr>
                      <a:r>
                        <a:rPr sz="1300" b="0">
                          <a:solidFill>
                            <a:srgbClr val="1F1F1F"/>
                          </a:solidFill>
                          <a:latin typeface="Calibri"/>
                        </a:rPr>
                        <a:t>recebimento de notificação comunicando-o da</a:t>
                      </a:r>
                    </a:p>
                    <a:p>
                      <a:pPr algn="l">
                        <a:lnSpc>
                          <a:spcPct val="100000"/>
                        </a:lnSpc>
                        <a:spcBef>
                          <a:spcPts val="0"/>
                        </a:spcBef>
                        <a:spcAft>
                          <a:spcPts val="0"/>
                        </a:spcAft>
                      </a:pPr>
                      <a:r>
                        <a:rPr sz="1300" b="0">
                          <a:solidFill>
                            <a:srgbClr val="1F1F1F"/>
                          </a:solidFill>
                          <a:latin typeface="Calibri"/>
                        </a:rPr>
                        <a:t>contratação, pelo Devedor, do empréstimo a ser</a:t>
                      </a:r>
                    </a:p>
                    <a:p>
                      <a:pPr algn="l">
                        <a:lnSpc>
                          <a:spcPct val="100000"/>
                        </a:lnSpc>
                        <a:spcBef>
                          <a:spcPts val="0"/>
                        </a:spcBef>
                        <a:spcAft>
                          <a:spcPts val="0"/>
                        </a:spcAft>
                      </a:pPr>
                      <a:r>
                        <a:rPr sz="1300" b="0">
                          <a:solidFill>
                            <a:srgbClr val="1F1F1F"/>
                          </a:solidFill>
                          <a:latin typeface="Calibri"/>
                        </a:rPr>
                        <a:t>pago por Consignação (“Escrituração”), e do</a:t>
                      </a:r>
                    </a:p>
                    <a:p>
                      <a:pPr algn="l">
                        <a:lnSpc>
                          <a:spcPct val="100000"/>
                        </a:lnSpc>
                        <a:spcBef>
                          <a:spcPts val="0"/>
                        </a:spcBef>
                        <a:spcAft>
                          <a:spcPts val="0"/>
                        </a:spcAft>
                      </a:pPr>
                      <a:r>
                        <a:rPr sz="1300" b="0">
                          <a:solidFill>
                            <a:srgbClr val="1F1F1F"/>
                          </a:solidFill>
                          <a:latin typeface="Calibri"/>
                        </a:rPr>
                        <a:t>desconto na respectiva folha de pagamento do</a:t>
                      </a:r>
                    </a:p>
                    <a:p>
                      <a:pPr algn="l">
                        <a:lnSpc>
                          <a:spcPct val="100000"/>
                        </a:lnSpc>
                        <a:spcBef>
                          <a:spcPts val="0"/>
                        </a:spcBef>
                        <a:spcAft>
                          <a:spcPts val="0"/>
                        </a:spcAft>
                      </a:pPr>
                      <a:r>
                        <a:rPr sz="1300" b="0">
                          <a:solidFill>
                            <a:srgbClr val="1F1F1F"/>
                          </a:solidFill>
                          <a:latin typeface="Calibri"/>
                        </a:rPr>
                        <a:t>Devedor.</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(iii) manter e operar um serviço de atendimento</a:t>
                      </a:r>
                    </a:p>
                    <a:p>
                      <a:pPr algn="l">
                        <a:lnSpc>
                          <a:spcPct val="100000"/>
                        </a:lnSpc>
                        <a:spcBef>
                          <a:spcPts val="0"/>
                        </a:spcBef>
                        <a:spcAft>
                          <a:spcPts val="0"/>
                        </a:spcAft>
                      </a:pPr>
                      <a:r>
                        <a:rPr sz="1300" b="0">
                          <a:solidFill>
                            <a:srgbClr val="1F1F1F"/>
                          </a:solidFill>
                          <a:latin typeface="Calibri"/>
                        </a:rPr>
                        <a:t>ao consumidor - SAC e uma ouvidoria em</a:t>
                      </a:r>
                    </a:p>
                    <a:p>
                      <a:pPr algn="l">
                        <a:lnSpc>
                          <a:spcPct val="100000"/>
                        </a:lnSpc>
                        <a:spcBef>
                          <a:spcPts val="0"/>
                        </a:spcBef>
                        <a:spcAft>
                          <a:spcPts val="0"/>
                        </a:spcAft>
                      </a:pPr>
                      <a:r>
                        <a:rPr sz="1300" b="0">
                          <a:solidFill>
                            <a:srgbClr val="1F1F1F"/>
                          </a:solidFill>
                          <a:latin typeface="Calibri"/>
                        </a:rPr>
                        <a:t>conformidade com os regulamentos aplicáveis,</a:t>
                      </a:r>
                    </a:p>
                    <a:p>
                      <a:pPr algn="l">
                        <a:lnSpc>
                          <a:spcPct val="100000"/>
                        </a:lnSpc>
                        <a:spcBef>
                          <a:spcPts val="0"/>
                        </a:spcBef>
                        <a:spcAft>
                          <a:spcPts val="0"/>
                        </a:spcAft>
                      </a:pPr>
                      <a:r>
                        <a:rPr sz="1300" b="0">
                          <a:solidFill>
                            <a:srgbClr val="1F1F1F"/>
                          </a:solidFill>
                          <a:latin typeface="Calibri"/>
                        </a:rPr>
                        <a:t>monitorar e resolver reclamações e solicitações</a:t>
                      </a:r>
                    </a:p>
                    <a:p>
                      <a:pPr algn="l">
                        <a:lnSpc>
                          <a:spcPct val="100000"/>
                        </a:lnSpc>
                        <a:spcBef>
                          <a:spcPts val="0"/>
                        </a:spcBef>
                        <a:spcAft>
                          <a:spcPts val="0"/>
                        </a:spcAft>
                      </a:pPr>
                      <a:r>
                        <a:rPr sz="1300" b="0">
                          <a:solidFill>
                            <a:srgbClr val="1F1F1F"/>
                          </a:solidFill>
                          <a:latin typeface="Calibri"/>
                        </a:rPr>
                        <a:t>de Devedores com relação às operações de</a:t>
                      </a:r>
                    </a:p>
                    <a:p>
                      <a:pPr algn="l">
                        <a:lnSpc>
                          <a:spcPct val="100000"/>
                        </a:lnSpc>
                        <a:spcBef>
                          <a:spcPts val="0"/>
                        </a:spcBef>
                        <a:spcAft>
                          <a:spcPts val="0"/>
                        </a:spcAft>
                      </a:pPr>
                      <a:r>
                        <a:rPr sz="1300" b="0">
                          <a:solidFill>
                            <a:srgbClr val="1F1F1F"/>
                          </a:solidFill>
                          <a:latin typeface="Calibri"/>
                        </a:rPr>
                        <a:t>empréstimo consignado que dão origem aos Direitos</a:t>
                      </a:r>
                    </a:p>
                    <a:p>
                      <a:pPr algn="l">
                        <a:lnSpc>
                          <a:spcPct val="100000"/>
                        </a:lnSpc>
                        <a:spcBef>
                          <a:spcPts val="0"/>
                        </a:spcBef>
                        <a:spcAft>
                          <a:spcPts val="0"/>
                        </a:spcAft>
                      </a:pPr>
                      <a:r>
                        <a:rPr sz="1300" b="0">
                          <a:solidFill>
                            <a:srgbClr val="1F1F1F"/>
                          </a:solidFill>
                          <a:latin typeface="Calibri"/>
                        </a:rPr>
                        <a:t>Creditórios, em conformidade com o Acordo de</a:t>
                      </a:r>
                    </a:p>
                    <a:p>
                      <a:pPr algn="l">
                        <a:lnSpc>
                          <a:spcPct val="100000"/>
                        </a:lnSpc>
                        <a:spcBef>
                          <a:spcPts val="0"/>
                        </a:spcBef>
                        <a:spcAft>
                          <a:spcPts val="0"/>
                        </a:spcAft>
                      </a:pPr>
                      <a:r>
                        <a:rPr sz="1300" b="0">
                          <a:solidFill>
                            <a:srgbClr val="1F1F1F"/>
                          </a:solidFill>
                          <a:latin typeface="Calibri"/>
                        </a:rPr>
                        <a:t>Parceria;.</a:t>
                      </a:r>
                    </a:p>
                  </a:txBody>
                  <a:tcPr marL="91440" marR="91440" marT="41148" marB="41148" anchor="ctr">
                    <a:solidFill>
                      <a:srgbClr val="FFFFFF"/>
                    </a:solidFill>
                    <a:lnL>
                      <a:noFill/>
                    </a:lnL>
                    <a:lnR>
                      <a:noFill/>
                    </a:lnR>
                    <a:lnT>
                      <a:noFill/>
                    </a:lnT>
                    <a:lnB>
                      <a:noFill/>
                    </a:lnB>
                  </a:tcPr>
                </a:tc>
              </a:tr>
              <a:tr h="1220724">
                <a:tc>
                  <a:txBody>
                    <a:bodyPr wrap="square">
                      <a:noAutofit/>
                    </a:bodyPr>
                    <a:lstStyle/>
                    <a:p>
                      <a:pPr algn="l">
                        <a:lnSpc>
                          <a:spcPct val="100000"/>
                        </a:lnSpc>
                        <a:spcBef>
                          <a:spcPts val="0"/>
                        </a:spcBef>
                        <a:spcAft>
                          <a:spcPts val="0"/>
                        </a:spcAft>
                      </a:pPr>
                      <a:r>
                        <a:rPr sz="1300" b="1">
                          <a:solidFill>
                            <a:srgbClr val="1F1F1F"/>
                          </a:solidFill>
                          <a:latin typeface="Calibri"/>
                        </a:rPr>
                        <a:t>Elegibilidade</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Créditos em reais, registráveis/ custodiáveis e</a:t>
                      </a:r>
                    </a:p>
                    <a:p>
                      <a:pPr algn="l">
                        <a:lnSpc>
                          <a:spcPct val="100000"/>
                        </a:lnSpc>
                        <a:spcBef>
                          <a:spcPts val="0"/>
                        </a:spcBef>
                        <a:spcAft>
                          <a:spcPts val="0"/>
                        </a:spcAft>
                      </a:pPr>
                      <a:r>
                        <a:rPr sz="1300" b="0">
                          <a:solidFill>
                            <a:srgbClr val="1F1F1F"/>
                          </a:solidFill>
                          <a:latin typeface="Calibri"/>
                        </a:rPr>
                        <a:t>enquadrados pró-forma; consignado/FGTS com máximo</a:t>
                      </a:r>
                    </a:p>
                    <a:p>
                      <a:pPr algn="l">
                        <a:lnSpc>
                          <a:spcPct val="100000"/>
                        </a:lnSpc>
                        <a:spcBef>
                          <a:spcPts val="0"/>
                        </a:spcBef>
                        <a:spcAft>
                          <a:spcPts val="0"/>
                        </a:spcAft>
                      </a:pPr>
                      <a:r>
                        <a:rPr sz="1300" b="0">
                          <a:solidFill>
                            <a:srgbClr val="1F1F1F"/>
                          </a:solidFill>
                          <a:latin typeface="Calibri"/>
                        </a:rPr>
                        <a:t>de parcelas remetido às normas; refinanciamento</a:t>
                      </a:r>
                    </a:p>
                    <a:p>
                      <a:pPr algn="l">
                        <a:lnSpc>
                          <a:spcPct val="100000"/>
                        </a:lnSpc>
                        <a:spcBef>
                          <a:spcPts val="0"/>
                        </a:spcBef>
                        <a:spcAft>
                          <a:spcPts val="0"/>
                        </a:spcAft>
                      </a:pPr>
                      <a:r>
                        <a:rPr sz="1300" b="0">
                          <a:solidFill>
                            <a:srgbClr val="1F1F1F"/>
                          </a:solidFill>
                          <a:latin typeface="Calibri"/>
                        </a:rPr>
                        <a:t>ligado aos créditos originais; TVM ≤10% PL.</a:t>
                      </a:r>
                    </a:p>
                    <a:p>
                      <a:pPr algn="l">
                        <a:lnSpc>
                          <a:spcPct val="100000"/>
                        </a:lnSpc>
                        <a:spcBef>
                          <a:spcPts val="0"/>
                        </a:spcBef>
                        <a:spcAft>
                          <a:spcPts val="0"/>
                        </a:spcAft>
                      </a:pPr>
                      <a:r>
                        <a:rPr sz="1300" b="0">
                          <a:solidFill>
                            <a:srgbClr val="1F1F1F"/>
                          </a:solidFill>
                          <a:latin typeface="Calibri"/>
                        </a:rPr>
                        <a:t>Gestor valida elegibilidade integralmente, sem</a:t>
                      </a:r>
                    </a:p>
                    <a:p>
                      <a:pPr algn="l">
                        <a:lnSpc>
                          <a:spcPct val="100000"/>
                        </a:lnSpc>
                        <a:spcBef>
                          <a:spcPts val="0"/>
                        </a:spcBef>
                        <a:spcAft>
                          <a:spcPts val="0"/>
                        </a:spcAft>
                      </a:pPr>
                      <a:r>
                        <a:rPr sz="1300" b="0">
                          <a:solidFill>
                            <a:srgbClr val="1F1F1F"/>
                          </a:solidFill>
                          <a:latin typeface="Calibri"/>
                        </a:rPr>
                        <a:t>amostragem.</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Gestor valida individual e integralmente antes e</a:t>
                      </a:r>
                    </a:p>
                    <a:p>
                      <a:pPr algn="l">
                        <a:lnSpc>
                          <a:spcPct val="100000"/>
                        </a:lnSpc>
                        <a:spcBef>
                          <a:spcPts val="0"/>
                        </a:spcBef>
                        <a:spcAft>
                          <a:spcPts val="0"/>
                        </a:spcAft>
                      </a:pPr>
                      <a:r>
                        <a:rPr sz="1300" b="0">
                          <a:solidFill>
                            <a:srgbClr val="1F1F1F"/>
                          </a:solidFill>
                          <a:latin typeface="Calibri"/>
                        </a:rPr>
                        <a:t>na aquisição, usando PL/estoque do dia útil</a:t>
                      </a:r>
                    </a:p>
                    <a:p>
                      <a:pPr algn="l">
                        <a:lnSpc>
                          <a:spcPct val="100000"/>
                        </a:lnSpc>
                        <a:spcBef>
                          <a:spcPts val="0"/>
                        </a:spcBef>
                        <a:spcAft>
                          <a:spcPts val="0"/>
                        </a:spcAft>
                      </a:pPr>
                      <a:r>
                        <a:rPr sz="1300" b="0">
                          <a:solidFill>
                            <a:srgbClr val="1F1F1F"/>
                          </a:solidFill>
                          <a:latin typeface="Calibri"/>
                        </a:rPr>
                        <a:t>anterior. Deterioração posterior não é</a:t>
                      </a:r>
                    </a:p>
                    <a:p>
                      <a:pPr algn="l">
                        <a:lnSpc>
                          <a:spcPct val="100000"/>
                        </a:lnSpc>
                        <a:spcBef>
                          <a:spcPts val="0"/>
                        </a:spcBef>
                        <a:spcAft>
                          <a:spcPts val="0"/>
                        </a:spcAft>
                      </a:pPr>
                      <a:r>
                        <a:rPr sz="1300" b="0">
                          <a:solidFill>
                            <a:srgbClr val="1F1F1F"/>
                          </a:solidFill>
                          <a:latin typeface="Calibri"/>
                        </a:rPr>
                        <a:t>desenquadramento/regresso, salvo má-fé, culpa ou</a:t>
                      </a:r>
                    </a:p>
                    <a:p>
                      <a:pPr algn="l">
                        <a:lnSpc>
                          <a:spcPct val="100000"/>
                        </a:lnSpc>
                        <a:spcBef>
                          <a:spcPts val="0"/>
                        </a:spcBef>
                        <a:spcAft>
                          <a:spcPts val="0"/>
                        </a:spcAft>
                      </a:pPr>
                      <a:r>
                        <a:rPr sz="1300" b="0">
                          <a:solidFill>
                            <a:srgbClr val="1F1F1F"/>
                          </a:solidFill>
                          <a:latin typeface="Calibri"/>
                        </a:rPr>
                        <a:t>dolo comprovados.</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13/160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Recebíveis e aquisição</a:t>
            </a:r>
          </a:p>
        </p:txBody>
      </p:sp>
      <p:graphicFrame>
        <p:nvGraphicFramePr>
          <p:cNvPr id="3" name="Table 2"/>
          <p:cNvGraphicFramePr>
            <a:graphicFrameLocks noGrp="1"/>
          </p:cNvGraphicFramePr>
          <p:nvPr/>
        </p:nvGraphicFramePr>
        <p:xfrm>
          <a:off x="438912" y="932688"/>
          <a:ext cx="11313870" cy="4242816"/>
        </p:xfrm>
        <a:graphic>
          <a:graphicData uri="http://schemas.openxmlformats.org/drawingml/2006/table">
            <a:tbl>
              <a:tblPr>
                <a:tableStyleId>{5C22544A-7EE6-4342-B048-85BDC9FD1C3A}</a:tableStyleId>
              </a:tblPr>
              <a:tblGrid>
                <a:gridCol w="2331720"/>
                <a:gridCol w="4491075"/>
                <a:gridCol w="4491075"/>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V CDT 1 · 62552447000120</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Global CP · 63953620000165</a:t>
                      </a:r>
                    </a:p>
                  </a:txBody>
                  <a:tcPr marL="91440" marR="91440" marT="41148" marB="41148" anchor="ctr">
                    <a:solidFill>
                      <a:srgbClr val="F7F7F7"/>
                    </a:solidFill>
                    <a:lnL>
                      <a:noFill/>
                    </a:lnL>
                    <a:lnR>
                      <a:noFill/>
                    </a:lnR>
                    <a:lnT>
                      <a:noFill/>
                    </a:lnT>
                    <a:lnB w="6350">
                      <a:solidFill>
                        <a:srgbClr val="D9DEE5"/>
                      </a:solidFill>
                    </a:lnB>
                  </a:tcPr>
                </a:tc>
              </a:tr>
              <a:tr h="470916">
                <a:tc>
                  <a:txBody>
                    <a:bodyPr wrap="square">
                      <a:noAutofit/>
                    </a:bodyPr>
                    <a:lstStyle/>
                    <a:p>
                      <a:pPr algn="l">
                        <a:lnSpc>
                          <a:spcPct val="100000"/>
                        </a:lnSpc>
                        <a:spcBef>
                          <a:spcPts val="0"/>
                        </a:spcBef>
                        <a:spcAft>
                          <a:spcPts val="0"/>
                        </a:spcAft>
                      </a:pPr>
                      <a:r>
                        <a:rPr sz="1300" b="1">
                          <a:solidFill>
                            <a:srgbClr val="1F1F1F"/>
                          </a:solidFill>
                          <a:latin typeface="Calibri"/>
                        </a:rPr>
                        <a:t>Limites por contrato e</a:t>
                      </a:r>
                    </a:p>
                    <a:p>
                      <a:pPr algn="l">
                        <a:lnSpc>
                          <a:spcPct val="100000"/>
                        </a:lnSpc>
                        <a:spcBef>
                          <a:spcPts val="0"/>
                        </a:spcBef>
                        <a:spcAft>
                          <a:spcPts val="0"/>
                        </a:spcAft>
                      </a:pPr>
                      <a:r>
                        <a:rPr sz="1300" b="1">
                          <a:solidFill>
                            <a:srgbClr val="1F1F1F"/>
                          </a:solidFill>
                          <a:latin typeface="Calibri"/>
                        </a:rPr>
                        <a:t>devedor</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a:noFill/>
                    </a:lnB>
                  </a:tcPr>
                </a:tc>
              </a:tr>
              <a:tr h="2157984">
                <a:tc>
                  <a:txBody>
                    <a:bodyPr wrap="square">
                      <a:noAutofit/>
                    </a:bodyPr>
                    <a:lstStyle/>
                    <a:p>
                      <a:pPr algn="l">
                        <a:lnSpc>
                          <a:spcPct val="100000"/>
                        </a:lnSpc>
                        <a:spcBef>
                          <a:spcPts val="0"/>
                        </a:spcBef>
                        <a:spcAft>
                          <a:spcPts val="0"/>
                        </a:spcAft>
                      </a:pPr>
                      <a:r>
                        <a:rPr sz="1300" b="1">
                          <a:solidFill>
                            <a:srgbClr val="1F1F1F"/>
                          </a:solidFill>
                          <a:latin typeface="Calibri"/>
                        </a:rPr>
                        <a:t>Prazo dos créditos e</a:t>
                      </a:r>
                    </a:p>
                    <a:p>
                      <a:pPr algn="l">
                        <a:lnSpc>
                          <a:spcPct val="100000"/>
                        </a:lnSpc>
                        <a:spcBef>
                          <a:spcPts val="0"/>
                        </a:spcBef>
                        <a:spcAft>
                          <a:spcPts val="0"/>
                        </a:spcAft>
                      </a:pPr>
                      <a:r>
                        <a:rPr sz="1300" b="1">
                          <a:solidFill>
                            <a:srgbClr val="1F1F1F"/>
                          </a:solidFill>
                          <a:latin typeface="Calibri"/>
                        </a:rPr>
                        <a:t>carência</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(iii) o prazo de vencimento das CCB</a:t>
                      </a:r>
                    </a:p>
                    <a:p>
                      <a:pPr algn="l">
                        <a:lnSpc>
                          <a:spcPct val="100000"/>
                        </a:lnSpc>
                        <a:spcBef>
                          <a:spcPts val="0"/>
                        </a:spcBef>
                        <a:spcAft>
                          <a:spcPts val="0"/>
                        </a:spcAft>
                      </a:pPr>
                      <a:r>
                        <a:rPr sz="1300" b="0">
                          <a:solidFill>
                            <a:srgbClr val="1F1F1F"/>
                          </a:solidFill>
                          <a:latin typeface="Calibri"/>
                        </a:rPr>
                        <a:t>representativas dos Direitos Creditórios deverá</a:t>
                      </a:r>
                    </a:p>
                    <a:p>
                      <a:pPr algn="l">
                        <a:lnSpc>
                          <a:spcPct val="100000"/>
                        </a:lnSpc>
                        <a:spcBef>
                          <a:spcPts val="0"/>
                        </a:spcBef>
                        <a:spcAft>
                          <a:spcPts val="0"/>
                        </a:spcAft>
                      </a:pPr>
                      <a:r>
                        <a:rPr sz="1300" b="0">
                          <a:solidFill>
                            <a:srgbClr val="1F1F1F"/>
                          </a:solidFill>
                          <a:latin typeface="Calibri"/>
                        </a:rPr>
                        <a:t>ser, no máximo, equivalente ao prazo máximo</a:t>
                      </a:r>
                    </a:p>
                    <a:p>
                      <a:pPr algn="l">
                        <a:lnSpc>
                          <a:spcPct val="100000"/>
                        </a:lnSpc>
                        <a:spcBef>
                          <a:spcPts val="0"/>
                        </a:spcBef>
                        <a:spcAft>
                          <a:spcPts val="0"/>
                        </a:spcAft>
                      </a:pPr>
                      <a:r>
                        <a:rPr sz="1300" b="0">
                          <a:solidFill>
                            <a:srgbClr val="1F1F1F"/>
                          </a:solidFill>
                          <a:latin typeface="Calibri"/>
                        </a:rPr>
                        <a:t>permitido pelas leis e regulamentações</a:t>
                      </a:r>
                    </a:p>
                    <a:p>
                      <a:pPr algn="l">
                        <a:lnSpc>
                          <a:spcPct val="100000"/>
                        </a:lnSpc>
                        <a:spcBef>
                          <a:spcPts val="0"/>
                        </a:spcBef>
                        <a:spcAft>
                          <a:spcPts val="0"/>
                        </a:spcAft>
                      </a:pPr>
                      <a:r>
                        <a:rPr sz="1300" b="0">
                          <a:solidFill>
                            <a:srgbClr val="1F1F1F"/>
                          </a:solidFill>
                          <a:latin typeface="Calibri"/>
                        </a:rPr>
                        <a:t>aplicáveis; e Critérios de Elegibilidade (iv) os</a:t>
                      </a:r>
                    </a:p>
                    <a:p>
                      <a:pPr algn="l">
                        <a:lnSpc>
                          <a:spcPct val="100000"/>
                        </a:lnSpc>
                        <a:spcBef>
                          <a:spcPts val="0"/>
                        </a:spcBef>
                        <a:spcAft>
                          <a:spcPts val="0"/>
                        </a:spcAft>
                      </a:pPr>
                      <a:r>
                        <a:rPr sz="1300" b="0">
                          <a:solidFill>
                            <a:srgbClr val="1F1F1F"/>
                          </a:solidFill>
                          <a:latin typeface="Calibri"/>
                        </a:rPr>
                        <a:t>Direitos Creditórios não poderão ser devidos por</a:t>
                      </a:r>
                    </a:p>
                    <a:p>
                      <a:pPr algn="l">
                        <a:lnSpc>
                          <a:spcPct val="100000"/>
                        </a:lnSpc>
                        <a:spcBef>
                          <a:spcPts val="0"/>
                        </a:spcBef>
                        <a:spcAft>
                          <a:spcPts val="0"/>
                        </a:spcAft>
                      </a:pPr>
                      <a:r>
                        <a:rPr sz="1300" b="0">
                          <a:solidFill>
                            <a:srgbClr val="1F1F1F"/>
                          </a:solidFill>
                          <a:latin typeface="Calibri"/>
                        </a:rPr>
                        <a:t>Devedores que tenham acima de 64 (sessenta e</a:t>
                      </a:r>
                    </a:p>
                    <a:p>
                      <a:pPr algn="l">
                        <a:lnSpc>
                          <a:spcPct val="100000"/>
                        </a:lnSpc>
                        <a:spcBef>
                          <a:spcPts val="0"/>
                        </a:spcBef>
                        <a:spcAft>
                          <a:spcPts val="0"/>
                        </a:spcAft>
                      </a:pPr>
                      <a:r>
                        <a:rPr sz="1300" b="0">
                          <a:solidFill>
                            <a:srgbClr val="1F1F1F"/>
                          </a:solidFill>
                          <a:latin typeface="Calibri"/>
                        </a:rPr>
                        <a:t>quatro) anos 11 (onze) meses e 29 (vinte e nove)</a:t>
                      </a:r>
                    </a:p>
                    <a:p>
                      <a:pPr algn="l">
                        <a:lnSpc>
                          <a:spcPct val="100000"/>
                        </a:lnSpc>
                        <a:spcBef>
                          <a:spcPts val="0"/>
                        </a:spcBef>
                        <a:spcAft>
                          <a:spcPts val="0"/>
                        </a:spcAft>
                      </a:pPr>
                      <a:r>
                        <a:rPr sz="1300" b="0">
                          <a:solidFill>
                            <a:srgbClr val="1F1F1F"/>
                          </a:solidFill>
                          <a:latin typeface="Calibri"/>
                        </a:rPr>
                        <a:t>dias na data de emissão da respectiva CCB. (b)</a:t>
                      </a:r>
                    </a:p>
                    <a:p>
                      <a:pPr algn="l">
                        <a:lnSpc>
                          <a:spcPct val="100000"/>
                        </a:lnSpc>
                        <a:spcBef>
                          <a:spcPts val="0"/>
                        </a:spcBef>
                        <a:spcAft>
                          <a:spcPts val="0"/>
                        </a:spcAft>
                      </a:pPr>
                      <a:r>
                        <a:rPr sz="1300" b="0">
                          <a:solidFill>
                            <a:srgbClr val="1F1F1F"/>
                          </a:solidFill>
                          <a:latin typeface="Calibri"/>
                        </a:rPr>
                        <a:t>Quando representados por Direitos Creditórios</a:t>
                      </a:r>
                    </a:p>
                    <a:p>
                      <a:pPr algn="l">
                        <a:lnSpc>
                          <a:spcPct val="100000"/>
                        </a:lnSpc>
                        <a:spcBef>
                          <a:spcPts val="0"/>
                        </a:spcBef>
                        <a:spcAft>
                          <a:spcPts val="0"/>
                        </a:spcAft>
                      </a:pPr>
                      <a:r>
                        <a:rPr sz="1300" b="0">
                          <a:solidFill>
                            <a:srgbClr val="1F1F1F"/>
                          </a:solidFill>
                          <a:latin typeface="Calibri"/>
                        </a:rPr>
                        <a:t>TVM: (i) sejam objeto de subscrição primária;.</a:t>
                      </a:r>
                    </a:p>
                  </a:txBody>
                  <a:tcPr marL="91440" marR="91440" marT="41148" marB="41148" anchor="ctr">
                    <a:solidFill>
                      <a:srgbClr val="FFFFFF"/>
                    </a:solidFill>
                    <a:lnL>
                      <a:noFill/>
                    </a:lnL>
                    <a:lnR>
                      <a:noFill/>
                    </a:lnR>
                    <a:lnT>
                      <a:noFill/>
                    </a:lnT>
                    <a:lnB>
                      <a:noFill/>
                    </a:lnB>
                  </a:tcPr>
                </a:tc>
              </a:tr>
              <a:tr h="1220724">
                <a:tc>
                  <a:txBody>
                    <a:bodyPr wrap="square">
                      <a:noAutofit/>
                    </a:bodyPr>
                    <a:lstStyle/>
                    <a:p>
                      <a:pPr algn="l">
                        <a:lnSpc>
                          <a:spcPct val="100000"/>
                        </a:lnSpc>
                        <a:spcBef>
                          <a:spcPts val="0"/>
                        </a:spcBef>
                        <a:spcAft>
                          <a:spcPts val="0"/>
                        </a:spcAft>
                      </a:pPr>
                      <a:r>
                        <a:rPr sz="1300" b="1">
                          <a:solidFill>
                            <a:srgbClr val="1F1F1F"/>
                          </a:solidFill>
                          <a:latin typeface="Calibri"/>
                        </a:rPr>
                        <a:t>Concentração por</a:t>
                      </a:r>
                    </a:p>
                    <a:p>
                      <a:pPr algn="l">
                        <a:lnSpc>
                          <a:spcPct val="100000"/>
                        </a:lnSpc>
                        <a:spcBef>
                          <a:spcPts val="0"/>
                        </a:spcBef>
                        <a:spcAft>
                          <a:spcPts val="0"/>
                        </a:spcAft>
                      </a:pPr>
                      <a:r>
                        <a:rPr sz="1300" b="1">
                          <a:solidFill>
                            <a:srgbClr val="1F1F1F"/>
                          </a:solidFill>
                          <a:latin typeface="Calibri"/>
                        </a:rPr>
                        <a:t>devedor, cedente e grupo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Até 100% PL por mesmo devedor/grupo; até 100% da</a:t>
                      </a:r>
                    </a:p>
                    <a:p>
                      <a:pPr algn="l">
                        <a:lnSpc>
                          <a:spcPct val="100000"/>
                        </a:lnSpc>
                        <a:spcBef>
                          <a:spcPts val="0"/>
                        </a:spcBef>
                        <a:spcAft>
                          <a:spcPts val="0"/>
                        </a:spcAft>
                      </a:pPr>
                      <a:r>
                        <a:rPr sz="1300" b="0">
                          <a:solidFill>
                            <a:srgbClr val="1F1F1F"/>
                          </a:solidFill>
                          <a:latin typeface="Calibri"/>
                        </a:rPr>
                        <a:t>parcela DC originada por</a:t>
                      </a:r>
                    </a:p>
                    <a:p>
                      <a:pPr algn="l">
                        <a:lnSpc>
                          <a:spcPct val="100000"/>
                        </a:lnSpc>
                        <a:spcBef>
                          <a:spcPts val="0"/>
                        </a:spcBef>
                        <a:spcAft>
                          <a:spcPts val="0"/>
                        </a:spcAft>
                      </a:pPr>
                      <a:r>
                        <a:rPr sz="1300" b="0">
                          <a:solidFill>
                            <a:srgbClr val="1F1F1F"/>
                          </a:solidFill>
                          <a:latin typeface="Calibri"/>
                        </a:rPr>
                        <a:t>administrador/gestor/relacionadas; até 100%</a:t>
                      </a:r>
                    </a:p>
                    <a:p>
                      <a:pPr algn="l">
                        <a:lnSpc>
                          <a:spcPct val="100000"/>
                        </a:lnSpc>
                        <a:spcBef>
                          <a:spcPts val="0"/>
                        </a:spcBef>
                        <a:spcAft>
                          <a:spcPts val="0"/>
                        </a:spcAft>
                      </a:pPr>
                      <a:r>
                        <a:rPr sz="1300" b="0">
                          <a:solidFill>
                            <a:srgbClr val="1F1F1F"/>
                          </a:solidFill>
                          <a:latin typeface="Calibri"/>
                        </a:rPr>
                        <a:t>liquidez e 100% derivativos com exposição</a:t>
                      </a:r>
                    </a:p>
                    <a:p>
                      <a:pPr algn="l">
                        <a:lnSpc>
                          <a:spcPct val="100000"/>
                        </a:lnSpc>
                        <a:spcBef>
                          <a:spcPts val="0"/>
                        </a:spcBef>
                        <a:spcAft>
                          <a:spcPts val="0"/>
                        </a:spcAft>
                      </a:pPr>
                      <a:r>
                        <a:rPr sz="1300" b="0">
                          <a:solidFill>
                            <a:srgbClr val="1F1F1F"/>
                          </a:solidFill>
                          <a:latin typeface="Calibri"/>
                        </a:rPr>
                        <a:t>relacionada, preservadas condições específicas.</a:t>
                      </a:r>
                    </a:p>
                    <a:p>
                      <a:pPr algn="l">
                        <a:lnSpc>
                          <a:spcPct val="100000"/>
                        </a:lnSpc>
                        <a:spcBef>
                          <a:spcPts val="0"/>
                        </a:spcBef>
                        <a:spcAft>
                          <a:spcPts val="0"/>
                        </a:spcAft>
                      </a:pPr>
                      <a:r>
                        <a:rPr sz="1300" b="0">
                          <a:solidFill>
                            <a:srgbClr val="1F1F1F"/>
                          </a:solidFill>
                          <a:latin typeface="Calibri"/>
                        </a:rPr>
                        <a:t>IME 08/2026 · Comparação não reproduzível</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Até 100% do PL por devedor/grupo e em direitos</a:t>
                      </a:r>
                    </a:p>
                    <a:p>
                      <a:pPr algn="l">
                        <a:lnSpc>
                          <a:spcPct val="100000"/>
                        </a:lnSpc>
                        <a:spcBef>
                          <a:spcPts val="0"/>
                        </a:spcBef>
                        <a:spcAft>
                          <a:spcPts val="0"/>
                        </a:spcAft>
                      </a:pPr>
                      <a:r>
                        <a:rPr sz="1300" b="0">
                          <a:solidFill>
                            <a:srgbClr val="1F1F1F"/>
                          </a:solidFill>
                          <a:latin typeface="Calibri"/>
                        </a:rPr>
                        <a:t>não padronizados. Direitos de relacionados até</a:t>
                      </a:r>
                    </a:p>
                    <a:p>
                      <a:pPr algn="l">
                        <a:lnSpc>
                          <a:spcPct val="100000"/>
                        </a:lnSpc>
                        <a:spcBef>
                          <a:spcPts val="0"/>
                        </a:spcBef>
                        <a:spcAft>
                          <a:spcPts val="0"/>
                        </a:spcAft>
                      </a:pPr>
                      <a:r>
                        <a:rPr sz="1300" b="0">
                          <a:solidFill>
                            <a:srgbClr val="1F1F1F"/>
                          </a:solidFill>
                          <a:latin typeface="Calibri"/>
                        </a:rPr>
                        <a:t>100% do PL; liquidez relacionada ≤50% do PL;</a:t>
                      </a:r>
                    </a:p>
                    <a:p>
                      <a:pPr algn="l">
                        <a:lnSpc>
                          <a:spcPct val="100000"/>
                        </a:lnSpc>
                        <a:spcBef>
                          <a:spcPts val="0"/>
                        </a:spcBef>
                        <a:spcAft>
                          <a:spcPts val="0"/>
                        </a:spcAft>
                      </a:pPr>
                      <a:r>
                        <a:rPr sz="1300" b="0">
                          <a:solidFill>
                            <a:srgbClr val="1F1F1F"/>
                          </a:solidFill>
                          <a:latin typeface="Calibri"/>
                        </a:rPr>
                        <a:t>derivativos relacionados até 100% da parcela.</a:t>
                      </a:r>
                    </a:p>
                    <a:p>
                      <a:pPr algn="l">
                        <a:lnSpc>
                          <a:spcPct val="100000"/>
                        </a:lnSpc>
                        <a:spcBef>
                          <a:spcPts val="0"/>
                        </a:spcBef>
                        <a:spcAft>
                          <a:spcPts val="0"/>
                        </a:spcAft>
                      </a:pPr>
                      <a:r>
                        <a:rPr sz="1300" b="0">
                          <a:solidFill>
                            <a:srgbClr val="1F1F1F"/>
                          </a:solidFill>
                          <a:latin typeface="Calibri"/>
                        </a:rPr>
                        <a:t>Precatórios federais vedados.</a:t>
                      </a:r>
                    </a:p>
                    <a:p>
                      <a:pPr algn="l">
                        <a:lnSpc>
                          <a:spcPct val="100000"/>
                        </a:lnSpc>
                        <a:spcBef>
                          <a:spcPts val="0"/>
                        </a:spcBef>
                        <a:spcAft>
                          <a:spcPts val="0"/>
                        </a:spcAft>
                      </a:pPr>
                      <a:r>
                        <a:rPr sz="1300" b="0">
                          <a:solidFill>
                            <a:srgbClr val="1F1F1F"/>
                          </a:solidFill>
                          <a:latin typeface="Calibri"/>
                        </a:rPr>
                        <a:t>IME 08/2026 · Comparação não reproduzível</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14/160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Alocação e perímetro</a:t>
            </a:r>
          </a:p>
        </p:txBody>
      </p:sp>
      <p:graphicFrame>
        <p:nvGraphicFramePr>
          <p:cNvPr id="3" name="Table 2"/>
          <p:cNvGraphicFramePr>
            <a:graphicFrameLocks noGrp="1"/>
          </p:cNvGraphicFramePr>
          <p:nvPr/>
        </p:nvGraphicFramePr>
        <p:xfrm>
          <a:off x="438912" y="932688"/>
          <a:ext cx="11313868" cy="2628900"/>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2157984">
                <a:tc>
                  <a:txBody>
                    <a:bodyPr wrap="square">
                      <a:noAutofit/>
                    </a:bodyPr>
                    <a:lstStyle/>
                    <a:p>
                      <a:pPr algn="l">
                        <a:lnSpc>
                          <a:spcPct val="100000"/>
                        </a:lnSpc>
                        <a:spcBef>
                          <a:spcPts val="0"/>
                        </a:spcBef>
                        <a:spcAft>
                          <a:spcPts val="0"/>
                        </a:spcAft>
                      </a:pPr>
                      <a:r>
                        <a:rPr sz="1300" b="1">
                          <a:solidFill>
                            <a:srgbClr val="1F1F1F"/>
                          </a:solidFill>
                          <a:latin typeface="Calibri"/>
                        </a:rPr>
                        <a:t>Alocação mínima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Direitos creditórios</a:t>
                      </a:r>
                    </a:p>
                    <a:p>
                      <a:pPr algn="l">
                        <a:lnSpc>
                          <a:spcPct val="100000"/>
                        </a:lnSpc>
                        <a:spcBef>
                          <a:spcPts val="0"/>
                        </a:spcBef>
                        <a:spcAft>
                          <a:spcPts val="0"/>
                        </a:spcAft>
                      </a:pPr>
                      <a:r>
                        <a:rPr sz="1300" b="0">
                          <a:solidFill>
                            <a:srgbClr val="1F1F1F"/>
                          </a:solidFill>
                          <a:latin typeface="Calibri"/>
                        </a:rPr>
                        <a:t>≥50% do PL após 180</a:t>
                      </a:r>
                    </a:p>
                    <a:p>
                      <a:pPr algn="l">
                        <a:lnSpc>
                          <a:spcPct val="100000"/>
                        </a:lnSpc>
                        <a:spcBef>
                          <a:spcPts val="0"/>
                        </a:spcBef>
                        <a:spcAft>
                          <a:spcPts val="0"/>
                        </a:spcAft>
                      </a:pPr>
                      <a:r>
                        <a:rPr sz="1300" b="0">
                          <a:solidFill>
                            <a:srgbClr val="1F1F1F"/>
                          </a:solidFill>
                          <a:latin typeface="Calibri"/>
                        </a:rPr>
                        <a:t>dias da primeira</a:t>
                      </a:r>
                    </a:p>
                    <a:p>
                      <a:pPr algn="l">
                        <a:lnSpc>
                          <a:spcPct val="100000"/>
                        </a:lnSpc>
                        <a:spcBef>
                          <a:spcPts val="0"/>
                        </a:spcBef>
                        <a:spcAft>
                          <a:spcPts val="0"/>
                        </a:spcAft>
                      </a:pPr>
                      <a:r>
                        <a:rPr sz="1300" b="0">
                          <a:solidFill>
                            <a:srgbClr val="1F1F1F"/>
                          </a:solidFill>
                          <a:latin typeface="Calibri"/>
                        </a:rPr>
                        <a:t>integralização.</a:t>
                      </a:r>
                    </a:p>
                    <a:p>
                      <a:pPr algn="l">
                        <a:lnSpc>
                          <a:spcPct val="100000"/>
                        </a:lnSpc>
                        <a:spcBef>
                          <a:spcPts val="0"/>
                        </a:spcBef>
                        <a:spcAft>
                          <a:spcPts val="0"/>
                        </a:spcAft>
                      </a:pPr>
                      <a:r>
                        <a:rPr sz="1300" b="0">
                          <a:solidFill>
                            <a:srgbClr val="1F1F1F"/>
                          </a:solidFill>
                          <a:latin typeface="Calibri"/>
                        </a:rPr>
                        <a:t>IME 08/2026 · 91,85% ·</a:t>
                      </a:r>
                    </a:p>
                    <a:p>
                      <a:pPr algn="l">
                        <a:lnSpc>
                          <a:spcPct val="100000"/>
                        </a:lnSpc>
                        <a:spcBef>
                          <a:spcPts val="0"/>
                        </a:spcBef>
                        <a:spcAft>
                          <a:spcPts val="0"/>
                        </a:spcAft>
                      </a:pPr>
                      <a:r>
                        <a:rPr sz="1300" b="0">
                          <a:solidFill>
                            <a:srgbClr val="1F1F1F"/>
                          </a:solidFill>
                          <a:latin typeface="Calibri"/>
                        </a:rPr>
                        <a:t>Comparação não</a:t>
                      </a:r>
                    </a:p>
                    <a:p>
                      <a:pPr algn="l">
                        <a:lnSpc>
                          <a:spcPct val="100000"/>
                        </a:lnSpc>
                        <a:spcBef>
                          <a:spcPts val="0"/>
                        </a:spcBef>
                        <a:spcAft>
                          <a:spcPts val="0"/>
                        </a:spcAft>
                      </a:pPr>
                      <a:r>
                        <a:rPr sz="1300" b="0">
                          <a:solidFill>
                            <a:srgbClr val="1F1F1F"/>
                          </a:solidFill>
                          <a:latin typeface="Calibri"/>
                        </a:rPr>
                        <a:t>reproduzível</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Direitos creditórios</a:t>
                      </a:r>
                    </a:p>
                    <a:p>
                      <a:pPr algn="l">
                        <a:lnSpc>
                          <a:spcPct val="100000"/>
                        </a:lnSpc>
                        <a:spcBef>
                          <a:spcPts val="0"/>
                        </a:spcBef>
                        <a:spcAft>
                          <a:spcPts val="0"/>
                        </a:spcAft>
                      </a:pPr>
                      <a:r>
                        <a:rPr sz="1300" b="0">
                          <a:solidFill>
                            <a:srgbClr val="1F1F1F"/>
                          </a:solidFill>
                          <a:latin typeface="Calibri"/>
                        </a:rPr>
                        <a:t>≥50% do PL para fins</a:t>
                      </a:r>
                    </a:p>
                    <a:p>
                      <a:pPr algn="l">
                        <a:lnSpc>
                          <a:spcPct val="100000"/>
                        </a:lnSpc>
                        <a:spcBef>
                          <a:spcPts val="0"/>
                        </a:spcBef>
                        <a:spcAft>
                          <a:spcPts val="0"/>
                        </a:spcAft>
                      </a:pPr>
                      <a:r>
                        <a:rPr sz="1300" b="0">
                          <a:solidFill>
                            <a:srgbClr val="1F1F1F"/>
                          </a:solidFill>
                          <a:latin typeface="Calibri"/>
                        </a:rPr>
                        <a:t>regulatórios após 180</a:t>
                      </a:r>
                    </a:p>
                    <a:p>
                      <a:pPr algn="l">
                        <a:lnSpc>
                          <a:spcPct val="100000"/>
                        </a:lnSpc>
                        <a:spcBef>
                          <a:spcPts val="0"/>
                        </a:spcBef>
                        <a:spcAft>
                          <a:spcPts val="0"/>
                        </a:spcAft>
                      </a:pPr>
                      <a:r>
                        <a:rPr sz="1300" b="0">
                          <a:solidFill>
                            <a:srgbClr val="1F1F1F"/>
                          </a:solidFill>
                          <a:latin typeface="Calibri"/>
                        </a:rPr>
                        <a:t>dias de atividade.</a:t>
                      </a:r>
                    </a:p>
                    <a:p>
                      <a:pPr algn="l">
                        <a:lnSpc>
                          <a:spcPct val="100000"/>
                        </a:lnSpc>
                        <a:spcBef>
                          <a:spcPts val="0"/>
                        </a:spcBef>
                        <a:spcAft>
                          <a:spcPts val="0"/>
                        </a:spcAft>
                      </a:pPr>
                      <a:r>
                        <a:rPr sz="1300" b="0">
                          <a:solidFill>
                            <a:srgbClr val="1F1F1F"/>
                          </a:solidFill>
                          <a:latin typeface="Calibri"/>
                        </a:rPr>
                        <a:t>IME 08/2026 · 117,79% ·</a:t>
                      </a:r>
                    </a:p>
                    <a:p>
                      <a:pPr algn="l">
                        <a:lnSpc>
                          <a:spcPct val="100000"/>
                        </a:lnSpc>
                        <a:spcBef>
                          <a:spcPts val="0"/>
                        </a:spcBef>
                        <a:spcAft>
                          <a:spcPts val="0"/>
                        </a:spcAft>
                      </a:pPr>
                      <a:r>
                        <a:rPr sz="1300" b="0">
                          <a:solidFill>
                            <a:srgbClr val="1F1F1F"/>
                          </a:solidFill>
                          <a:latin typeface="Calibri"/>
                        </a:rPr>
                        <a:t>Comparação não</a:t>
                      </a:r>
                    </a:p>
                    <a:p>
                      <a:pPr algn="l">
                        <a:lnSpc>
                          <a:spcPct val="100000"/>
                        </a:lnSpc>
                        <a:spcBef>
                          <a:spcPts val="0"/>
                        </a:spcBef>
                        <a:spcAft>
                          <a:spcPts val="0"/>
                        </a:spcAft>
                      </a:pPr>
                      <a:r>
                        <a:rPr sz="1300" b="0">
                          <a:solidFill>
                            <a:srgbClr val="1F1F1F"/>
                          </a:solidFill>
                          <a:latin typeface="Calibri"/>
                        </a:rPr>
                        <a:t>reproduzível</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Direitos creditórios do</a:t>
                      </a:r>
                    </a:p>
                    <a:p>
                      <a:pPr algn="l">
                        <a:lnSpc>
                          <a:spcPct val="100000"/>
                        </a:lnSpc>
                        <a:spcBef>
                          <a:spcPts val="0"/>
                        </a:spcBef>
                        <a:spcAft>
                          <a:spcPts val="0"/>
                        </a:spcAft>
                      </a:pPr>
                      <a:r>
                        <a:rPr sz="1300" b="0">
                          <a:solidFill>
                            <a:srgbClr val="1F1F1F"/>
                          </a:solidFill>
                          <a:latin typeface="Calibri"/>
                        </a:rPr>
                        <a:t>agronegócio ≥51% do PL</a:t>
                      </a:r>
                    </a:p>
                    <a:p>
                      <a:pPr algn="l">
                        <a:lnSpc>
                          <a:spcPct val="100000"/>
                        </a:lnSpc>
                        <a:spcBef>
                          <a:spcPts val="0"/>
                        </a:spcBef>
                        <a:spcAft>
                          <a:spcPts val="0"/>
                        </a:spcAft>
                      </a:pPr>
                      <a:r>
                        <a:rPr sz="1300" b="0">
                          <a:solidFill>
                            <a:srgbClr val="1F1F1F"/>
                          </a:solidFill>
                          <a:latin typeface="Calibri"/>
                        </a:rPr>
                        <a:t>após 180 dias do início</a:t>
                      </a:r>
                    </a:p>
                    <a:p>
                      <a:pPr algn="l">
                        <a:lnSpc>
                          <a:spcPct val="100000"/>
                        </a:lnSpc>
                        <a:spcBef>
                          <a:spcPts val="0"/>
                        </a:spcBef>
                        <a:spcAft>
                          <a:spcPts val="0"/>
                        </a:spcAft>
                      </a:pPr>
                      <a:r>
                        <a:rPr sz="1300" b="0">
                          <a:solidFill>
                            <a:srgbClr val="1F1F1F"/>
                          </a:solidFill>
                          <a:latin typeface="Calibri"/>
                        </a:rPr>
                        <a:t>das atividades. Os 49%</a:t>
                      </a:r>
                    </a:p>
                    <a:p>
                      <a:pPr algn="l">
                        <a:lnSpc>
                          <a:spcPct val="100000"/>
                        </a:lnSpc>
                        <a:spcBef>
                          <a:spcPts val="0"/>
                        </a:spcBef>
                        <a:spcAft>
                          <a:spcPts val="0"/>
                        </a:spcAft>
                      </a:pPr>
                      <a:r>
                        <a:rPr sz="1300" b="0">
                          <a:solidFill>
                            <a:srgbClr val="1F1F1F"/>
                          </a:solidFill>
                          <a:latin typeface="Calibri"/>
                        </a:rPr>
                        <a:t>remanescentes podem ser</a:t>
                      </a:r>
                    </a:p>
                    <a:p>
                      <a:pPr algn="l">
                        <a:lnSpc>
                          <a:spcPct val="100000"/>
                        </a:lnSpc>
                        <a:spcBef>
                          <a:spcPts val="0"/>
                        </a:spcBef>
                        <a:spcAft>
                          <a:spcPts val="0"/>
                        </a:spcAft>
                      </a:pPr>
                      <a:r>
                        <a:rPr sz="1300" b="0">
                          <a:solidFill>
                            <a:srgbClr val="1F1F1F"/>
                          </a:solidFill>
                          <a:latin typeface="Calibri"/>
                        </a:rPr>
                        <a:t>Outros Ativos ou ativos</a:t>
                      </a:r>
                    </a:p>
                    <a:p>
                      <a:pPr algn="l">
                        <a:lnSpc>
                          <a:spcPct val="100000"/>
                        </a:lnSpc>
                        <a:spcBef>
                          <a:spcPts val="0"/>
                        </a:spcBef>
                        <a:spcAft>
                          <a:spcPts val="0"/>
                        </a:spcAft>
                      </a:pPr>
                      <a:r>
                        <a:rPr sz="1300" b="0">
                          <a:solidFill>
                            <a:srgbClr val="1F1F1F"/>
                          </a:solidFill>
                          <a:latin typeface="Calibri"/>
                        </a:rPr>
                        <a:t>de liquidez.</a:t>
                      </a:r>
                    </a:p>
                    <a:p>
                      <a:pPr algn="l">
                        <a:lnSpc>
                          <a:spcPct val="100000"/>
                        </a:lnSpc>
                        <a:spcBef>
                          <a:spcPts val="0"/>
                        </a:spcBef>
                        <a:spcAft>
                          <a:spcPts val="0"/>
                        </a:spcAft>
                      </a:pPr>
                      <a:r>
                        <a:rPr sz="1300" b="0">
                          <a:solidFill>
                            <a:srgbClr val="1F1F1F"/>
                          </a:solidFill>
                          <a:latin typeface="Calibri"/>
                        </a:rPr>
                        <a:t>IME 08/2026 ·</a:t>
                      </a:r>
                    </a:p>
                    <a:p>
                      <a:pPr algn="l">
                        <a:lnSpc>
                          <a:spcPct val="100000"/>
                        </a:lnSpc>
                        <a:spcBef>
                          <a:spcPts val="0"/>
                        </a:spcBef>
                        <a:spcAft>
                          <a:spcPts val="0"/>
                        </a:spcAft>
                      </a:pPr>
                      <a:r>
                        <a:rPr sz="1300" b="0">
                          <a:solidFill>
                            <a:srgbClr val="1F1F1F"/>
                          </a:solidFill>
                          <a:latin typeface="Calibri"/>
                        </a:rPr>
                        <a:t>Referência agregada:</a:t>
                      </a:r>
                    </a:p>
                    <a:p>
                      <a:pPr algn="l">
                        <a:lnSpc>
                          <a:spcPct val="100000"/>
                        </a:lnSpc>
                        <a:spcBef>
                          <a:spcPts val="0"/>
                        </a:spcBef>
                        <a:spcAft>
                          <a:spcPts val="0"/>
                        </a:spcAft>
                      </a:pPr>
                      <a:r>
                        <a:rPr sz="1300" b="0">
                          <a:solidFill>
                            <a:srgbClr val="1F1F1F"/>
                          </a:solidFill>
                          <a:latin typeface="Calibri"/>
                        </a:rPr>
                        <a:t>99,73% · Comparação não</a:t>
                      </a:r>
                    </a:p>
                    <a:p>
                      <a:pPr algn="l">
                        <a:lnSpc>
                          <a:spcPct val="100000"/>
                        </a:lnSpc>
                        <a:spcBef>
                          <a:spcPts val="0"/>
                        </a:spcBef>
                        <a:spcAft>
                          <a:spcPts val="0"/>
                        </a:spcAft>
                      </a:pPr>
                      <a:r>
                        <a:rPr sz="1300" b="0">
                          <a:solidFill>
                            <a:srgbClr val="1F1F1F"/>
                          </a:solidFill>
                          <a:latin typeface="Calibri"/>
                        </a:rPr>
                        <a:t>reproduzível</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Após 180 dias da</a:t>
                      </a:r>
                    </a:p>
                    <a:p>
                      <a:pPr algn="l">
                        <a:lnSpc>
                          <a:spcPct val="100000"/>
                        </a:lnSpc>
                        <a:spcBef>
                          <a:spcPts val="0"/>
                        </a:spcBef>
                        <a:spcAft>
                          <a:spcPts val="0"/>
                        </a:spcAft>
                      </a:pPr>
                      <a:r>
                        <a:rPr sz="1300" b="0">
                          <a:solidFill>
                            <a:srgbClr val="1F1F1F"/>
                          </a:solidFill>
                          <a:latin typeface="Calibri"/>
                        </a:rPr>
                        <a:t>primeira</a:t>
                      </a:r>
                    </a:p>
                    <a:p>
                      <a:pPr algn="l">
                        <a:lnSpc>
                          <a:spcPct val="100000"/>
                        </a:lnSpc>
                        <a:spcBef>
                          <a:spcPts val="0"/>
                        </a:spcBef>
                        <a:spcAft>
                          <a:spcPts val="0"/>
                        </a:spcAft>
                      </a:pPr>
                      <a:r>
                        <a:rPr sz="1300" b="0">
                          <a:solidFill>
                            <a:srgbClr val="1F1F1F"/>
                          </a:solidFill>
                          <a:latin typeface="Calibri"/>
                        </a:rPr>
                        <a:t>integralização: cotas</a:t>
                      </a:r>
                    </a:p>
                    <a:p>
                      <a:pPr algn="l">
                        <a:lnSpc>
                          <a:spcPct val="100000"/>
                        </a:lnSpc>
                        <a:spcBef>
                          <a:spcPts val="0"/>
                        </a:spcBef>
                        <a:spcAft>
                          <a:spcPts val="0"/>
                        </a:spcAft>
                      </a:pPr>
                      <a:r>
                        <a:rPr sz="1300" b="0">
                          <a:solidFill>
                            <a:srgbClr val="1F1F1F"/>
                          </a:solidFill>
                          <a:latin typeface="Calibri"/>
                        </a:rPr>
                        <a:t>da classe investida</a:t>
                      </a:r>
                    </a:p>
                    <a:p>
                      <a:pPr algn="l">
                        <a:lnSpc>
                          <a:spcPct val="100000"/>
                        </a:lnSpc>
                        <a:spcBef>
                          <a:spcPts val="0"/>
                        </a:spcBef>
                        <a:spcAft>
                          <a:spcPts val="0"/>
                        </a:spcAft>
                      </a:pPr>
                      <a:r>
                        <a:rPr sz="1300" b="0">
                          <a:solidFill>
                            <a:srgbClr val="1F1F1F"/>
                          </a:solidFill>
                          <a:latin typeface="Calibri"/>
                        </a:rPr>
                        <a:t>≥67% do PL; saldo</a:t>
                      </a:r>
                    </a:p>
                    <a:p>
                      <a:pPr algn="l">
                        <a:lnSpc>
                          <a:spcPct val="100000"/>
                        </a:lnSpc>
                        <a:spcBef>
                          <a:spcPts val="0"/>
                        </a:spcBef>
                        <a:spcAft>
                          <a:spcPts val="0"/>
                        </a:spcAft>
                      </a:pPr>
                      <a:r>
                        <a:rPr sz="1300" b="0">
                          <a:solidFill>
                            <a:srgbClr val="1F1F1F"/>
                          </a:solidFill>
                          <a:latin typeface="Calibri"/>
                        </a:rPr>
                        <a:t>restante em ativos de</a:t>
                      </a:r>
                    </a:p>
                    <a:p>
                      <a:pPr algn="l">
                        <a:lnSpc>
                          <a:spcPct val="100000"/>
                        </a:lnSpc>
                        <a:spcBef>
                          <a:spcPts val="0"/>
                        </a:spcBef>
                        <a:spcAft>
                          <a:spcPts val="0"/>
                        </a:spcAft>
                      </a:pPr>
                      <a:r>
                        <a:rPr sz="1300" b="0">
                          <a:solidFill>
                            <a:srgbClr val="1F1F1F"/>
                          </a:solidFill>
                          <a:latin typeface="Calibri"/>
                        </a:rPr>
                        <a:t>liquidez.</a:t>
                      </a:r>
                    </a:p>
                    <a:p>
                      <a:pPr algn="l">
                        <a:lnSpc>
                          <a:spcPct val="100000"/>
                        </a:lnSpc>
                        <a:spcBef>
                          <a:spcPts val="0"/>
                        </a:spcBef>
                        <a:spcAft>
                          <a:spcPts val="0"/>
                        </a:spcAft>
                      </a:pPr>
                      <a:r>
                        <a:rPr sz="1300" b="0">
                          <a:solidFill>
                            <a:srgbClr val="1F1F1F"/>
                          </a:solidFill>
                          <a:latin typeface="Calibri"/>
                        </a:rPr>
                        <a:t>IME 08/2026 · 99,87% ·</a:t>
                      </a:r>
                    </a:p>
                    <a:p>
                      <a:pPr algn="l">
                        <a:lnSpc>
                          <a:spcPct val="100000"/>
                        </a:lnSpc>
                        <a:spcBef>
                          <a:spcPts val="0"/>
                        </a:spcBef>
                        <a:spcAft>
                          <a:spcPts val="0"/>
                        </a:spcAft>
                      </a:pPr>
                      <a:r>
                        <a:rPr sz="1300" b="0">
                          <a:solidFill>
                            <a:srgbClr val="1F1F1F"/>
                          </a:solidFill>
                          <a:latin typeface="Calibri"/>
                        </a:rPr>
                        <a:t>Comparação não</a:t>
                      </a:r>
                    </a:p>
                    <a:p>
                      <a:pPr algn="l">
                        <a:lnSpc>
                          <a:spcPct val="100000"/>
                        </a:lnSpc>
                        <a:spcBef>
                          <a:spcPts val="0"/>
                        </a:spcBef>
                        <a:spcAft>
                          <a:spcPts val="0"/>
                        </a:spcAft>
                      </a:pPr>
                      <a:r>
                        <a:rPr sz="1300" b="0">
                          <a:solidFill>
                            <a:srgbClr val="1F1F1F"/>
                          </a:solidFill>
                          <a:latin typeface="Calibri"/>
                        </a:rPr>
                        <a:t>reproduzível</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15/160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Alocação e perímetro</a:t>
            </a:r>
          </a:p>
        </p:txBody>
      </p:sp>
      <p:graphicFrame>
        <p:nvGraphicFramePr>
          <p:cNvPr id="3" name="Table 2"/>
          <p:cNvGraphicFramePr>
            <a:graphicFrameLocks noGrp="1"/>
          </p:cNvGraphicFramePr>
          <p:nvPr/>
        </p:nvGraphicFramePr>
        <p:xfrm>
          <a:off x="438912" y="932688"/>
          <a:ext cx="11313868" cy="5253228"/>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4782312">
                <a:tc>
                  <a:txBody>
                    <a:bodyPr wrap="square">
                      <a:noAutofit/>
                    </a:bodyPr>
                    <a:lstStyle/>
                    <a:p>
                      <a:pPr algn="l">
                        <a:lnSpc>
                          <a:spcPct val="100000"/>
                        </a:lnSpc>
                        <a:spcBef>
                          <a:spcPts val="0"/>
                        </a:spcBef>
                        <a:spcAft>
                          <a:spcPts val="0"/>
                        </a:spcAft>
                      </a:pPr>
                      <a:r>
                        <a:rPr sz="1300" b="1">
                          <a:solidFill>
                            <a:srgbClr val="1F1F1F"/>
                          </a:solidFill>
                          <a:latin typeface="Calibri"/>
                        </a:rPr>
                        <a:t>Alocação para tratamento</a:t>
                      </a:r>
                    </a:p>
                    <a:p>
                      <a:pPr algn="l">
                        <a:lnSpc>
                          <a:spcPct val="100000"/>
                        </a:lnSpc>
                        <a:spcBef>
                          <a:spcPts val="0"/>
                        </a:spcBef>
                        <a:spcAft>
                          <a:spcPts val="0"/>
                        </a:spcAft>
                      </a:pPr>
                      <a:r>
                        <a:rPr sz="1300" b="1">
                          <a:solidFill>
                            <a:srgbClr val="1F1F1F"/>
                          </a:solidFill>
                          <a:latin typeface="Calibri"/>
                        </a:rPr>
                        <a:t>tributário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Os rendimentos auf</a:t>
                      </a:r>
                    </a:p>
                    <a:p>
                      <a:pPr algn="l">
                        <a:lnSpc>
                          <a:spcPct val="100000"/>
                        </a:lnSpc>
                        <a:spcBef>
                          <a:spcPts val="0"/>
                        </a:spcBef>
                        <a:spcAft>
                          <a:spcPts val="0"/>
                        </a:spcAft>
                      </a:pPr>
                      <a:r>
                        <a:rPr sz="1300" b="0">
                          <a:solidFill>
                            <a:srgbClr val="1F1F1F"/>
                          </a:solidFill>
                          <a:latin typeface="Calibri"/>
                        </a:rPr>
                        <a:t>eridos pelo cotista do</a:t>
                      </a:r>
                    </a:p>
                    <a:p>
                      <a:pPr algn="l">
                        <a:lnSpc>
                          <a:spcPct val="100000"/>
                        </a:lnSpc>
                        <a:spcBef>
                          <a:spcPts val="0"/>
                        </a:spcBef>
                        <a:spcAft>
                          <a:spcPts val="0"/>
                        </a:spcAft>
                      </a:pPr>
                      <a:r>
                        <a:rPr sz="1300" b="0">
                          <a:solidFill>
                            <a:srgbClr val="1F1F1F"/>
                          </a:solidFill>
                          <a:latin typeface="Calibri"/>
                        </a:rPr>
                        <a:t>FUNDO estarão sujeitos</a:t>
                      </a:r>
                    </a:p>
                    <a:p>
                      <a:pPr algn="l">
                        <a:lnSpc>
                          <a:spcPct val="100000"/>
                        </a:lnSpc>
                        <a:spcBef>
                          <a:spcPts val="0"/>
                        </a:spcBef>
                        <a:spcAft>
                          <a:spcPts val="0"/>
                        </a:spcAft>
                      </a:pPr>
                      <a:r>
                        <a:rPr sz="1300" b="0">
                          <a:solidFill>
                            <a:srgbClr val="1F1F1F"/>
                          </a:solidFill>
                          <a:latin typeface="Calibri"/>
                        </a:rPr>
                        <a:t>à tributação pelo IR, à</a:t>
                      </a:r>
                    </a:p>
                    <a:p>
                      <a:pPr algn="l">
                        <a:lnSpc>
                          <a:spcPct val="100000"/>
                        </a:lnSpc>
                        <a:spcBef>
                          <a:spcPts val="0"/>
                        </a:spcBef>
                        <a:spcAft>
                          <a:spcPts val="0"/>
                        </a:spcAft>
                      </a:pPr>
                      <a:r>
                        <a:rPr sz="1300" b="0">
                          <a:solidFill>
                            <a:srgbClr val="1F1F1F"/>
                          </a:solidFill>
                          <a:latin typeface="Calibri"/>
                        </a:rPr>
                        <a:t>alíquota de 15% (quinze</a:t>
                      </a:r>
                    </a:p>
                    <a:p>
                      <a:pPr algn="l">
                        <a:lnSpc>
                          <a:spcPct val="100000"/>
                        </a:lnSpc>
                        <a:spcBef>
                          <a:spcPts val="0"/>
                        </a:spcBef>
                        <a:spcAft>
                          <a:spcPts val="0"/>
                        </a:spcAft>
                      </a:pPr>
                      <a:r>
                        <a:rPr sz="1300" b="0">
                          <a:solidFill>
                            <a:srgbClr val="1F1F1F"/>
                          </a:solidFill>
                          <a:latin typeface="Calibri"/>
                        </a:rPr>
                        <a:t>por cento), na data da</a:t>
                      </a:r>
                    </a:p>
                    <a:p>
                      <a:pPr algn="l">
                        <a:lnSpc>
                          <a:spcPct val="100000"/>
                        </a:lnSpc>
                        <a:spcBef>
                          <a:spcPts val="0"/>
                        </a:spcBef>
                        <a:spcAft>
                          <a:spcPts val="0"/>
                        </a:spcAft>
                      </a:pPr>
                      <a:r>
                        <a:rPr sz="1300" b="0">
                          <a:solidFill>
                            <a:srgbClr val="1F1F1F"/>
                          </a:solidFill>
                          <a:latin typeface="Calibri"/>
                        </a:rPr>
                        <a:t>distribuição de</a:t>
                      </a:r>
                    </a:p>
                    <a:p>
                      <a:pPr algn="l">
                        <a:lnSpc>
                          <a:spcPct val="100000"/>
                        </a:lnSpc>
                        <a:spcBef>
                          <a:spcPts val="0"/>
                        </a:spcBef>
                        <a:spcAft>
                          <a:spcPts val="0"/>
                        </a:spcAft>
                      </a:pPr>
                      <a:r>
                        <a:rPr sz="1300" b="0">
                          <a:solidFill>
                            <a:srgbClr val="1F1F1F"/>
                          </a:solidFill>
                          <a:latin typeface="Calibri"/>
                        </a:rPr>
                        <a:t>rendimentos ou d a</a:t>
                      </a:r>
                    </a:p>
                    <a:p>
                      <a:pPr algn="l">
                        <a:lnSpc>
                          <a:spcPct val="100000"/>
                        </a:lnSpc>
                        <a:spcBef>
                          <a:spcPts val="0"/>
                        </a:spcBef>
                        <a:spcAft>
                          <a:spcPts val="0"/>
                        </a:spcAft>
                      </a:pPr>
                      <a:r>
                        <a:rPr sz="1300" b="0">
                          <a:solidFill>
                            <a:srgbClr val="1F1F1F"/>
                          </a:solidFill>
                          <a:latin typeface="Calibri"/>
                        </a:rPr>
                        <a:t>amortização de cotas,</a:t>
                      </a:r>
                    </a:p>
                    <a:p>
                      <a:pPr algn="l">
                        <a:lnSpc>
                          <a:spcPct val="100000"/>
                        </a:lnSpc>
                        <a:spcBef>
                          <a:spcPts val="0"/>
                        </a:spcBef>
                        <a:spcAft>
                          <a:spcPts val="0"/>
                        </a:spcAft>
                      </a:pPr>
                      <a:r>
                        <a:rPr sz="1300" b="0">
                          <a:solidFill>
                            <a:srgbClr val="1F1F1F"/>
                          </a:solidFill>
                          <a:latin typeface="Calibri"/>
                        </a:rPr>
                        <a:t>considerando que o</a:t>
                      </a:r>
                    </a:p>
                    <a:p>
                      <a:pPr algn="l">
                        <a:lnSpc>
                          <a:spcPct val="100000"/>
                        </a:lnSpc>
                        <a:spcBef>
                          <a:spcPts val="0"/>
                        </a:spcBef>
                        <a:spcAft>
                          <a:spcPts val="0"/>
                        </a:spcAft>
                      </a:pPr>
                      <a:r>
                        <a:rPr sz="1300" b="0">
                          <a:solidFill>
                            <a:srgbClr val="1F1F1F"/>
                          </a:solidFill>
                          <a:latin typeface="Calibri"/>
                        </a:rPr>
                        <a:t>FUNDO seja classificado</a:t>
                      </a:r>
                    </a:p>
                    <a:p>
                      <a:pPr algn="l">
                        <a:lnSpc>
                          <a:spcPct val="100000"/>
                        </a:lnSpc>
                        <a:spcBef>
                          <a:spcPts val="0"/>
                        </a:spcBef>
                        <a:spcAft>
                          <a:spcPts val="0"/>
                        </a:spcAft>
                      </a:pPr>
                      <a:r>
                        <a:rPr sz="1300" b="0">
                          <a:solidFill>
                            <a:srgbClr val="1F1F1F"/>
                          </a:solidFill>
                          <a:latin typeface="Calibri"/>
                        </a:rPr>
                        <a:t>como entidade de</a:t>
                      </a:r>
                    </a:p>
                    <a:p>
                      <a:pPr algn="l">
                        <a:lnSpc>
                          <a:spcPct val="100000"/>
                        </a:lnSpc>
                        <a:spcBef>
                          <a:spcPts val="0"/>
                        </a:spcBef>
                        <a:spcAft>
                          <a:spcPts val="0"/>
                        </a:spcAft>
                      </a:pPr>
                      <a:r>
                        <a:rPr sz="1300" b="0">
                          <a:solidFill>
                            <a:srgbClr val="1F1F1F"/>
                          </a:solidFill>
                          <a:latin typeface="Calibri"/>
                        </a:rPr>
                        <a:t>investimento e cumpra</a:t>
                      </a:r>
                    </a:p>
                    <a:p>
                      <a:pPr algn="l">
                        <a:lnSpc>
                          <a:spcPct val="100000"/>
                        </a:lnSpc>
                        <a:spcBef>
                          <a:spcPts val="0"/>
                        </a:spcBef>
                        <a:spcAft>
                          <a:spcPts val="0"/>
                        </a:spcAft>
                      </a:pPr>
                      <a:r>
                        <a:rPr sz="1300" b="0">
                          <a:solidFill>
                            <a:srgbClr val="1F1F1F"/>
                          </a:solidFill>
                          <a:latin typeface="Calibri"/>
                        </a:rPr>
                        <a:t>os critérios de</a:t>
                      </a:r>
                    </a:p>
                    <a:p>
                      <a:pPr algn="l">
                        <a:lnSpc>
                          <a:spcPct val="100000"/>
                        </a:lnSpc>
                        <a:spcBef>
                          <a:spcPts val="0"/>
                        </a:spcBef>
                        <a:spcAft>
                          <a:spcPts val="0"/>
                        </a:spcAft>
                      </a:pPr>
                      <a:r>
                        <a:rPr sz="1300" b="0">
                          <a:solidFill>
                            <a:srgbClr val="1F1F1F"/>
                          </a:solidFill>
                          <a:latin typeface="Calibri"/>
                        </a:rPr>
                        <a:t>composição da carteira</a:t>
                      </a:r>
                    </a:p>
                    <a:p>
                      <a:pPr algn="l">
                        <a:lnSpc>
                          <a:spcPct val="100000"/>
                        </a:lnSpc>
                        <a:spcBef>
                          <a:spcPts val="0"/>
                        </a:spcBef>
                        <a:spcAft>
                          <a:spcPts val="0"/>
                        </a:spcAft>
                      </a:pPr>
                      <a:r>
                        <a:rPr sz="1300" b="0">
                          <a:solidFill>
                            <a:srgbClr val="1F1F1F"/>
                          </a:solidFill>
                          <a:latin typeface="Calibri"/>
                        </a:rPr>
                        <a:t>com, no mínimo, 67%</a:t>
                      </a:r>
                    </a:p>
                    <a:p>
                      <a:pPr algn="l">
                        <a:lnSpc>
                          <a:spcPct val="100000"/>
                        </a:lnSpc>
                        <a:spcBef>
                          <a:spcPts val="0"/>
                        </a:spcBef>
                        <a:spcAft>
                          <a:spcPts val="0"/>
                        </a:spcAft>
                      </a:pPr>
                      <a:r>
                        <a:rPr sz="1300" b="0">
                          <a:solidFill>
                            <a:srgbClr val="1F1F1F"/>
                          </a:solidFill>
                          <a:latin typeface="Calibri"/>
                        </a:rPr>
                        <a:t>(sessenta e sete por</a:t>
                      </a:r>
                    </a:p>
                    <a:p>
                      <a:pPr algn="l">
                        <a:lnSpc>
                          <a:spcPct val="100000"/>
                        </a:lnSpc>
                        <a:spcBef>
                          <a:spcPts val="0"/>
                        </a:spcBef>
                        <a:spcAft>
                          <a:spcPts val="0"/>
                        </a:spcAft>
                      </a:pPr>
                      <a:r>
                        <a:rPr sz="1300" b="0">
                          <a:solidFill>
                            <a:srgbClr val="1F1F1F"/>
                          </a:solidFill>
                          <a:latin typeface="Calibri"/>
                        </a:rPr>
                        <a:t>cento) de direitos</a:t>
                      </a:r>
                    </a:p>
                    <a:p>
                      <a:pPr algn="l">
                        <a:lnSpc>
                          <a:spcPct val="100000"/>
                        </a:lnSpc>
                        <a:spcBef>
                          <a:spcPts val="0"/>
                        </a:spcBef>
                        <a:spcAft>
                          <a:spcPts val="0"/>
                        </a:spcAft>
                      </a:pPr>
                      <a:r>
                        <a:rPr sz="1300" b="0">
                          <a:solidFill>
                            <a:srgbClr val="1F1F1F"/>
                          </a:solidFill>
                          <a:latin typeface="Calibri"/>
                        </a:rPr>
                        <a:t>creditórios de acordo</a:t>
                      </a:r>
                    </a:p>
                    <a:p>
                      <a:pPr algn="l">
                        <a:lnSpc>
                          <a:spcPct val="100000"/>
                        </a:lnSpc>
                        <a:spcBef>
                          <a:spcPts val="0"/>
                        </a:spcBef>
                        <a:spcAft>
                          <a:spcPts val="0"/>
                        </a:spcAft>
                      </a:pPr>
                      <a:r>
                        <a:rPr sz="1300" b="0">
                          <a:solidFill>
                            <a:srgbClr val="1F1F1F"/>
                          </a:solidFill>
                          <a:latin typeface="Calibri"/>
                        </a:rPr>
                        <a:t>com a Lei nº 14.754, de</a:t>
                      </a:r>
                    </a:p>
                    <a:p>
                      <a:pPr algn="l">
                        <a:lnSpc>
                          <a:spcPct val="100000"/>
                        </a:lnSpc>
                        <a:spcBef>
                          <a:spcPts val="0"/>
                        </a:spcBef>
                        <a:spcAft>
                          <a:spcPts val="0"/>
                        </a:spcAft>
                      </a:pPr>
                      <a:r>
                        <a:rPr sz="1300" b="0">
                          <a:solidFill>
                            <a:srgbClr val="1F1F1F"/>
                          </a:solidFill>
                          <a:latin typeface="Calibri"/>
                        </a:rPr>
                        <a:t>12 de dezembro de 2023</a:t>
                      </a:r>
                    </a:p>
                    <a:p>
                      <a:pPr algn="l">
                        <a:lnSpc>
                          <a:spcPct val="100000"/>
                        </a:lnSpc>
                        <a:spcBef>
                          <a:spcPts val="0"/>
                        </a:spcBef>
                        <a:spcAft>
                          <a:spcPts val="0"/>
                        </a:spcAft>
                      </a:pPr>
                      <a:r>
                        <a:rPr sz="1300" b="0">
                          <a:solidFill>
                            <a:srgbClr val="1F1F1F"/>
                          </a:solidFill>
                          <a:latin typeface="Calibri"/>
                        </a:rPr>
                        <a:t>(“Lei 14.754”) e a</a:t>
                      </a:r>
                    </a:p>
                    <a:p>
                      <a:pPr algn="l">
                        <a:lnSpc>
                          <a:spcPct val="100000"/>
                        </a:lnSpc>
                        <a:spcBef>
                          <a:spcPts val="0"/>
                        </a:spcBef>
                        <a:spcAft>
                          <a:spcPts val="0"/>
                        </a:spcAft>
                      </a:pPr>
                      <a:r>
                        <a:rPr sz="1300" b="0">
                          <a:solidFill>
                            <a:srgbClr val="1F1F1F"/>
                          </a:solidFill>
                          <a:latin typeface="Calibri"/>
                        </a:rPr>
                        <a:t>Resolução do Conselho</a:t>
                      </a:r>
                    </a:p>
                    <a:p>
                      <a:pPr algn="l">
                        <a:lnSpc>
                          <a:spcPct val="100000"/>
                        </a:lnSpc>
                        <a:spcBef>
                          <a:spcPts val="0"/>
                        </a:spcBef>
                        <a:spcAft>
                          <a:spcPts val="0"/>
                        </a:spcAft>
                      </a:pPr>
                      <a:r>
                        <a:rPr sz="1300" b="0">
                          <a:solidFill>
                            <a:srgbClr val="1F1F1F"/>
                          </a:solidFill>
                          <a:latin typeface="Calibri"/>
                        </a:rPr>
                        <a:t>Monetário Nacional nº</a:t>
                      </a:r>
                    </a:p>
                    <a:p>
                      <a:pPr algn="l">
                        <a:lnSpc>
                          <a:spcPct val="100000"/>
                        </a:lnSpc>
                        <a:spcBef>
                          <a:spcPts val="0"/>
                        </a:spcBef>
                        <a:spcAft>
                          <a:spcPts val="0"/>
                        </a:spcAft>
                      </a:pPr>
                      <a:r>
                        <a:rPr sz="1300" b="0">
                          <a:solidFill>
                            <a:srgbClr val="1F1F1F"/>
                          </a:solidFill>
                          <a:latin typeface="Calibri"/>
                        </a:rPr>
                        <a:t>5.111, de 21 de</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Direitos creditórios</a:t>
                      </a:r>
                    </a:p>
                    <a:p>
                      <a:pPr algn="l">
                        <a:lnSpc>
                          <a:spcPct val="100000"/>
                        </a:lnSpc>
                        <a:spcBef>
                          <a:spcPts val="0"/>
                        </a:spcBef>
                        <a:spcAft>
                          <a:spcPts val="0"/>
                        </a:spcAft>
                      </a:pPr>
                      <a:r>
                        <a:rPr sz="1300" b="0">
                          <a:solidFill>
                            <a:srgbClr val="1F1F1F"/>
                          </a:solidFill>
                          <a:latin typeface="Calibri"/>
                        </a:rPr>
                        <a:t>≥67% do PL para fins</a:t>
                      </a:r>
                    </a:p>
                    <a:p>
                      <a:pPr algn="l">
                        <a:lnSpc>
                          <a:spcPct val="100000"/>
                        </a:lnSpc>
                        <a:spcBef>
                          <a:spcPts val="0"/>
                        </a:spcBef>
                        <a:spcAft>
                          <a:spcPts val="0"/>
                        </a:spcAft>
                      </a:pPr>
                      <a:r>
                        <a:rPr sz="1300" b="0">
                          <a:solidFill>
                            <a:srgbClr val="1F1F1F"/>
                          </a:solidFill>
                          <a:latin typeface="Calibri"/>
                        </a:rPr>
                        <a:t>tributários após 180</a:t>
                      </a:r>
                    </a:p>
                    <a:p>
                      <a:pPr algn="l">
                        <a:lnSpc>
                          <a:spcPct val="100000"/>
                        </a:lnSpc>
                        <a:spcBef>
                          <a:spcPts val="0"/>
                        </a:spcBef>
                        <a:spcAft>
                          <a:spcPts val="0"/>
                        </a:spcAft>
                      </a:pPr>
                      <a:r>
                        <a:rPr sz="1300" b="0">
                          <a:solidFill>
                            <a:srgbClr val="1F1F1F"/>
                          </a:solidFill>
                          <a:latin typeface="Calibri"/>
                        </a:rPr>
                        <a:t>dias de atividade.</a:t>
                      </a:r>
                    </a:p>
                    <a:p>
                      <a:pPr algn="l">
                        <a:lnSpc>
                          <a:spcPct val="100000"/>
                        </a:lnSpc>
                        <a:spcBef>
                          <a:spcPts val="0"/>
                        </a:spcBef>
                        <a:spcAft>
                          <a:spcPts val="0"/>
                        </a:spcAft>
                      </a:pPr>
                      <a:r>
                        <a:rPr sz="1300" b="0">
                          <a:solidFill>
                            <a:srgbClr val="1F1F1F"/>
                          </a:solidFill>
                          <a:latin typeface="Calibri"/>
                        </a:rPr>
                        <a:t>IME 08/2026 · 117,79% ·</a:t>
                      </a:r>
                    </a:p>
                    <a:p>
                      <a:pPr algn="l">
                        <a:lnSpc>
                          <a:spcPct val="100000"/>
                        </a:lnSpc>
                        <a:spcBef>
                          <a:spcPts val="0"/>
                        </a:spcBef>
                        <a:spcAft>
                          <a:spcPts val="0"/>
                        </a:spcAft>
                      </a:pPr>
                      <a:r>
                        <a:rPr sz="1300" b="0">
                          <a:solidFill>
                            <a:srgbClr val="1F1F1F"/>
                          </a:solidFill>
                          <a:latin typeface="Calibri"/>
                        </a:rPr>
                        <a:t>Comparação não</a:t>
                      </a:r>
                    </a:p>
                    <a:p>
                      <a:pPr algn="l">
                        <a:lnSpc>
                          <a:spcPct val="100000"/>
                        </a:lnSpc>
                        <a:spcBef>
                          <a:spcPts val="0"/>
                        </a:spcBef>
                        <a:spcAft>
                          <a:spcPts val="0"/>
                        </a:spcAft>
                      </a:pPr>
                      <a:r>
                        <a:rPr sz="1300" b="0">
                          <a:solidFill>
                            <a:srgbClr val="1F1F1F"/>
                          </a:solidFill>
                          <a:latin typeface="Calibri"/>
                        </a:rPr>
                        <a:t>reproduzível</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Os ganhos de capital ou</a:t>
                      </a:r>
                    </a:p>
                    <a:p>
                      <a:pPr algn="l">
                        <a:lnSpc>
                          <a:spcPct val="100000"/>
                        </a:lnSpc>
                        <a:spcBef>
                          <a:spcPts val="0"/>
                        </a:spcBef>
                        <a:spcAft>
                          <a:spcPts val="0"/>
                        </a:spcAft>
                      </a:pPr>
                      <a:r>
                        <a:rPr sz="1300" b="0">
                          <a:solidFill>
                            <a:srgbClr val="1F1F1F"/>
                          </a:solidFill>
                          <a:latin typeface="Calibri"/>
                        </a:rPr>
                        <a:t>rendimentos auf eridos</a:t>
                      </a:r>
                    </a:p>
                    <a:p>
                      <a:pPr algn="l">
                        <a:lnSpc>
                          <a:spcPct val="100000"/>
                        </a:lnSpc>
                        <a:spcBef>
                          <a:spcPts val="0"/>
                        </a:spcBef>
                        <a:spcAft>
                          <a:spcPts val="0"/>
                        </a:spcAft>
                      </a:pPr>
                      <a:r>
                        <a:rPr sz="1300" b="0">
                          <a:solidFill>
                            <a:srgbClr val="1F1F1F"/>
                          </a:solidFill>
                          <a:latin typeface="Calibri"/>
                        </a:rPr>
                        <a:t>na alienação ou no</a:t>
                      </a:r>
                    </a:p>
                    <a:p>
                      <a:pPr algn="l">
                        <a:lnSpc>
                          <a:spcPct val="100000"/>
                        </a:lnSpc>
                        <a:spcBef>
                          <a:spcPts val="0"/>
                        </a:spcBef>
                        <a:spcAft>
                          <a:spcPts val="0"/>
                        </a:spcAft>
                      </a:pPr>
                      <a:r>
                        <a:rPr sz="1300" b="0">
                          <a:solidFill>
                            <a:srgbClr val="1F1F1F"/>
                          </a:solidFill>
                          <a:latin typeface="Calibri"/>
                        </a:rPr>
                        <a:t>resgate de cotas da</a:t>
                      </a:r>
                    </a:p>
                    <a:p>
                      <a:pPr algn="l">
                        <a:lnSpc>
                          <a:spcPct val="100000"/>
                        </a:lnSpc>
                        <a:spcBef>
                          <a:spcPts val="0"/>
                        </a:spcBef>
                        <a:spcAft>
                          <a:spcPts val="0"/>
                        </a:spcAft>
                      </a:pPr>
                      <a:r>
                        <a:rPr sz="1300" b="0">
                          <a:solidFill>
                            <a:srgbClr val="1F1F1F"/>
                          </a:solidFill>
                          <a:latin typeface="Calibri"/>
                        </a:rPr>
                        <a:t>Classe sujeitam-se à</a:t>
                      </a:r>
                    </a:p>
                    <a:p>
                      <a:pPr algn="l">
                        <a:lnSpc>
                          <a:spcPct val="100000"/>
                        </a:lnSpc>
                        <a:spcBef>
                          <a:spcPts val="0"/>
                        </a:spcBef>
                        <a:spcAft>
                          <a:spcPts val="0"/>
                        </a:spcAft>
                      </a:pPr>
                      <a:r>
                        <a:rPr sz="1300" b="0">
                          <a:solidFill>
                            <a:srgbClr val="1F1F1F"/>
                          </a:solidFill>
                          <a:latin typeface="Calibri"/>
                        </a:rPr>
                        <a:t>tributação pelo IRF à</a:t>
                      </a:r>
                    </a:p>
                    <a:p>
                      <a:pPr algn="l">
                        <a:lnSpc>
                          <a:spcPct val="100000"/>
                        </a:lnSpc>
                        <a:spcBef>
                          <a:spcPts val="0"/>
                        </a:spcBef>
                        <a:spcAft>
                          <a:spcPts val="0"/>
                        </a:spcAft>
                      </a:pPr>
                      <a:r>
                        <a:rPr sz="1300" b="0">
                          <a:solidFill>
                            <a:srgbClr val="1F1F1F"/>
                          </a:solidFill>
                          <a:latin typeface="Calibri"/>
                        </a:rPr>
                        <a:t>alíquota de 20% (vinte</a:t>
                      </a:r>
                    </a:p>
                    <a:p>
                      <a:pPr algn="l">
                        <a:lnSpc>
                          <a:spcPct val="100000"/>
                        </a:lnSpc>
                        <a:spcBef>
                          <a:spcPts val="0"/>
                        </a:spcBef>
                        <a:spcAft>
                          <a:spcPts val="0"/>
                        </a:spcAft>
                      </a:pPr>
                      <a:r>
                        <a:rPr sz="1300" b="0">
                          <a:solidFill>
                            <a:srgbClr val="1F1F1F"/>
                          </a:solidFill>
                          <a:latin typeface="Calibri"/>
                        </a:rPr>
                        <a:t>por cento), no caso de</a:t>
                      </a:r>
                    </a:p>
                    <a:p>
                      <a:pPr algn="l">
                        <a:lnSpc>
                          <a:spcPct val="100000"/>
                        </a:lnSpc>
                        <a:spcBef>
                          <a:spcPts val="0"/>
                        </a:spcBef>
                        <a:spcAft>
                          <a:spcPts val="0"/>
                        </a:spcAft>
                      </a:pPr>
                      <a:r>
                        <a:rPr sz="1300" b="0">
                          <a:solidFill>
                            <a:srgbClr val="1F1F1F"/>
                          </a:solidFill>
                          <a:latin typeface="Calibri"/>
                        </a:rPr>
                        <a:t>resgate de cotas, ou</a:t>
                      </a:r>
                    </a:p>
                    <a:p>
                      <a:pPr algn="l">
                        <a:lnSpc>
                          <a:spcPct val="100000"/>
                        </a:lnSpc>
                        <a:spcBef>
                          <a:spcPts val="0"/>
                        </a:spcBef>
                        <a:spcAft>
                          <a:spcPts val="0"/>
                        </a:spcAft>
                      </a:pPr>
                      <a:r>
                        <a:rPr sz="1300" b="0">
                          <a:solidFill>
                            <a:srgbClr val="1F1F1F"/>
                          </a:solidFill>
                          <a:latin typeface="Calibri"/>
                        </a:rPr>
                        <a:t>conforme normas</a:t>
                      </a:r>
                    </a:p>
                    <a:p>
                      <a:pPr algn="l">
                        <a:lnSpc>
                          <a:spcPct val="100000"/>
                        </a:lnSpc>
                        <a:spcBef>
                          <a:spcPts val="0"/>
                        </a:spcBef>
                        <a:spcAft>
                          <a:spcPts val="0"/>
                        </a:spcAft>
                      </a:pPr>
                      <a:r>
                        <a:rPr sz="1300" b="0">
                          <a:solidFill>
                            <a:srgbClr val="1F1F1F"/>
                          </a:solidFill>
                          <a:latin typeface="Calibri"/>
                        </a:rPr>
                        <a:t>aplicáveis aos ganhos</a:t>
                      </a:r>
                    </a:p>
                    <a:p>
                      <a:pPr algn="l">
                        <a:lnSpc>
                          <a:spcPct val="100000"/>
                        </a:lnSpc>
                        <a:spcBef>
                          <a:spcPts val="0"/>
                        </a:spcBef>
                        <a:spcAft>
                          <a:spcPts val="0"/>
                        </a:spcAft>
                      </a:pPr>
                      <a:r>
                        <a:rPr sz="1300" b="0">
                          <a:solidFill>
                            <a:srgbClr val="1F1F1F"/>
                          </a:solidFill>
                          <a:latin typeface="Calibri"/>
                        </a:rPr>
                        <a:t>de capital ou ganhos</a:t>
                      </a:r>
                    </a:p>
                    <a:p>
                      <a:pPr algn="l">
                        <a:lnSpc>
                          <a:spcPct val="100000"/>
                        </a:lnSpc>
                        <a:spcBef>
                          <a:spcPts val="0"/>
                        </a:spcBef>
                        <a:spcAft>
                          <a:spcPts val="0"/>
                        </a:spcAft>
                      </a:pPr>
                      <a:r>
                        <a:rPr sz="1300" b="0">
                          <a:solidFill>
                            <a:srgbClr val="1F1F1F"/>
                          </a:solidFill>
                          <a:latin typeface="Calibri"/>
                        </a:rPr>
                        <a:t>líquidos auf eridos em</a:t>
                      </a:r>
                    </a:p>
                    <a:p>
                      <a:pPr algn="l">
                        <a:lnSpc>
                          <a:spcPct val="100000"/>
                        </a:lnSpc>
                        <a:spcBef>
                          <a:spcPts val="0"/>
                        </a:spcBef>
                        <a:spcAft>
                          <a:spcPts val="0"/>
                        </a:spcAft>
                      </a:pPr>
                      <a:r>
                        <a:rPr sz="1300" b="0">
                          <a:solidFill>
                            <a:srgbClr val="1F1F1F"/>
                          </a:solidFill>
                          <a:latin typeface="Calibri"/>
                        </a:rPr>
                        <a:t>renda variável, nos</a:t>
                      </a:r>
                    </a:p>
                    <a:p>
                      <a:pPr algn="l">
                        <a:lnSpc>
                          <a:spcPct val="100000"/>
                        </a:lnSpc>
                        <a:spcBef>
                          <a:spcPts val="0"/>
                        </a:spcBef>
                        <a:spcAft>
                          <a:spcPts val="0"/>
                        </a:spcAft>
                      </a:pPr>
                      <a:r>
                        <a:rPr sz="1300" b="0">
                          <a:solidFill>
                            <a:srgbClr val="1F1F1F"/>
                          </a:solidFill>
                          <a:latin typeface="Calibri"/>
                        </a:rPr>
                        <a:t>casos de alienação de</a:t>
                      </a:r>
                    </a:p>
                    <a:p>
                      <a:pPr algn="l">
                        <a:lnSpc>
                          <a:spcPct val="100000"/>
                        </a:lnSpc>
                        <a:spcBef>
                          <a:spcPts val="0"/>
                        </a:spcBef>
                        <a:spcAft>
                          <a:spcPts val="0"/>
                        </a:spcAft>
                      </a:pPr>
                      <a:r>
                        <a:rPr sz="1300" b="0">
                          <a:solidFill>
                            <a:srgbClr val="1F1F1F"/>
                          </a:solidFill>
                          <a:latin typeface="Calibri"/>
                        </a:rPr>
                        <a:t>cotas.</a:t>
                      </a:r>
                    </a:p>
                    <a:p>
                      <a:pPr algn="l">
                        <a:lnSpc>
                          <a:spcPct val="100000"/>
                        </a:lnSpc>
                        <a:spcBef>
                          <a:spcPts val="0"/>
                        </a:spcBef>
                        <a:spcAft>
                          <a:spcPts val="0"/>
                        </a:spcAft>
                      </a:pPr>
                      <a:r>
                        <a:rPr sz="1300" b="0">
                          <a:solidFill>
                            <a:srgbClr val="1F1F1F"/>
                          </a:solidFill>
                          <a:latin typeface="Calibri"/>
                        </a:rPr>
                        <a:t>IME 08/2026 ·</a:t>
                      </a:r>
                    </a:p>
                    <a:p>
                      <a:pPr algn="l">
                        <a:lnSpc>
                          <a:spcPct val="100000"/>
                        </a:lnSpc>
                        <a:spcBef>
                          <a:spcPts val="0"/>
                        </a:spcBef>
                        <a:spcAft>
                          <a:spcPts val="0"/>
                        </a:spcAft>
                      </a:pPr>
                      <a:r>
                        <a:rPr sz="1300" b="0">
                          <a:solidFill>
                            <a:srgbClr val="1F1F1F"/>
                          </a:solidFill>
                          <a:latin typeface="Calibri"/>
                        </a:rPr>
                        <a:t>Comparação não</a:t>
                      </a:r>
                    </a:p>
                    <a:p>
                      <a:pPr algn="l">
                        <a:lnSpc>
                          <a:spcPct val="100000"/>
                        </a:lnSpc>
                        <a:spcBef>
                          <a:spcPts val="0"/>
                        </a:spcBef>
                        <a:spcAft>
                          <a:spcPts val="0"/>
                        </a:spcAft>
                      </a:pPr>
                      <a:r>
                        <a:rPr sz="1300" b="0">
                          <a:solidFill>
                            <a:srgbClr val="1F1F1F"/>
                          </a:solidFill>
                          <a:latin typeface="Calibri"/>
                        </a:rPr>
                        <a:t>reproduzível</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No caso de Fundos de</a:t>
                      </a:r>
                    </a:p>
                    <a:p>
                      <a:pPr algn="l">
                        <a:lnSpc>
                          <a:spcPct val="100000"/>
                        </a:lnSpc>
                        <a:spcBef>
                          <a:spcPts val="0"/>
                        </a:spcBef>
                        <a:spcAft>
                          <a:spcPts val="0"/>
                        </a:spcAft>
                      </a:pPr>
                      <a:r>
                        <a:rPr sz="1300" b="0">
                          <a:solidFill>
                            <a:srgbClr val="1F1F1F"/>
                          </a:solidFill>
                          <a:latin typeface="Calibri"/>
                        </a:rPr>
                        <a:t>Investimento em</a:t>
                      </a:r>
                    </a:p>
                    <a:p>
                      <a:pPr algn="l">
                        <a:lnSpc>
                          <a:spcPct val="100000"/>
                        </a:lnSpc>
                        <a:spcBef>
                          <a:spcPts val="0"/>
                        </a:spcBef>
                        <a:spcAft>
                          <a:spcPts val="0"/>
                        </a:spcAft>
                      </a:pPr>
                      <a:r>
                        <a:rPr sz="1300" b="0">
                          <a:solidFill>
                            <a:srgbClr val="1F1F1F"/>
                          </a:solidFill>
                          <a:latin typeface="Calibri"/>
                        </a:rPr>
                        <a:t>Direitos Creditórios</a:t>
                      </a:r>
                    </a:p>
                    <a:p>
                      <a:pPr algn="l">
                        <a:lnSpc>
                          <a:spcPct val="100000"/>
                        </a:lnSpc>
                        <a:spcBef>
                          <a:spcPts val="0"/>
                        </a:spcBef>
                        <a:spcAft>
                          <a:spcPts val="0"/>
                        </a:spcAft>
                      </a:pPr>
                      <a:r>
                        <a:rPr sz="1300" b="0">
                          <a:solidFill>
                            <a:srgbClr val="1F1F1F"/>
                          </a:solidFill>
                          <a:latin typeface="Calibri"/>
                        </a:rPr>
                        <a:t>(FIDC) classificados</a:t>
                      </a:r>
                    </a:p>
                    <a:p>
                      <a:pPr algn="l">
                        <a:lnSpc>
                          <a:spcPct val="100000"/>
                        </a:lnSpc>
                        <a:spcBef>
                          <a:spcPts val="0"/>
                        </a:spcBef>
                        <a:spcAft>
                          <a:spcPts val="0"/>
                        </a:spcAft>
                      </a:pPr>
                      <a:r>
                        <a:rPr sz="1300" b="0">
                          <a:solidFill>
                            <a:srgbClr val="1F1F1F"/>
                          </a:solidFill>
                          <a:latin typeface="Calibri"/>
                        </a:rPr>
                        <a:t>como “entidade de</a:t>
                      </a:r>
                    </a:p>
                    <a:p>
                      <a:pPr algn="l">
                        <a:lnSpc>
                          <a:spcPct val="100000"/>
                        </a:lnSpc>
                        <a:spcBef>
                          <a:spcPts val="0"/>
                        </a:spcBef>
                        <a:spcAft>
                          <a:spcPts val="0"/>
                        </a:spcAft>
                      </a:pPr>
                      <a:r>
                        <a:rPr sz="1300" b="0">
                          <a:solidFill>
                            <a:srgbClr val="1F1F1F"/>
                          </a:solidFill>
                          <a:latin typeface="Calibri"/>
                        </a:rPr>
                        <a:t>investimento” e cuja</a:t>
                      </a:r>
                    </a:p>
                    <a:p>
                      <a:pPr algn="l">
                        <a:lnSpc>
                          <a:spcPct val="100000"/>
                        </a:lnSpc>
                        <a:spcBef>
                          <a:spcPts val="0"/>
                        </a:spcBef>
                        <a:spcAft>
                          <a:spcPts val="0"/>
                        </a:spcAft>
                      </a:pPr>
                      <a:r>
                        <a:rPr sz="1300" b="0">
                          <a:solidFill>
                            <a:srgbClr val="1F1F1F"/>
                          </a:solidFill>
                          <a:latin typeface="Calibri"/>
                        </a:rPr>
                        <a:t>carteira seja composta</a:t>
                      </a:r>
                    </a:p>
                    <a:p>
                      <a:pPr algn="l">
                        <a:lnSpc>
                          <a:spcPct val="100000"/>
                        </a:lnSpc>
                        <a:spcBef>
                          <a:spcPts val="0"/>
                        </a:spcBef>
                        <a:spcAft>
                          <a:spcPts val="0"/>
                        </a:spcAft>
                      </a:pPr>
                      <a:r>
                        <a:rPr sz="1300" b="0">
                          <a:solidFill>
                            <a:srgbClr val="1F1F1F"/>
                          </a:solidFill>
                          <a:latin typeface="Calibri"/>
                        </a:rPr>
                        <a:t>por, no mínimo, 67%</a:t>
                      </a:r>
                    </a:p>
                    <a:p>
                      <a:pPr algn="l">
                        <a:lnSpc>
                          <a:spcPct val="100000"/>
                        </a:lnSpc>
                        <a:spcBef>
                          <a:spcPts val="0"/>
                        </a:spcBef>
                        <a:spcAft>
                          <a:spcPts val="0"/>
                        </a:spcAft>
                      </a:pPr>
                      <a:r>
                        <a:rPr sz="1300" b="0">
                          <a:solidFill>
                            <a:srgbClr val="1F1F1F"/>
                          </a:solidFill>
                          <a:latin typeface="Calibri"/>
                        </a:rPr>
                        <a:t>(sessenta e sete por</a:t>
                      </a:r>
                    </a:p>
                    <a:p>
                      <a:pPr algn="l">
                        <a:lnSpc>
                          <a:spcPct val="100000"/>
                        </a:lnSpc>
                        <a:spcBef>
                          <a:spcPts val="0"/>
                        </a:spcBef>
                        <a:spcAft>
                          <a:spcPts val="0"/>
                        </a:spcAft>
                      </a:pPr>
                      <a:r>
                        <a:rPr sz="1300" b="0">
                          <a:solidFill>
                            <a:srgbClr val="1F1F1F"/>
                          </a:solidFill>
                          <a:latin typeface="Calibri"/>
                        </a:rPr>
                        <a:t>cento) de direitos</a:t>
                      </a:r>
                    </a:p>
                    <a:p>
                      <a:pPr algn="l">
                        <a:lnSpc>
                          <a:spcPct val="100000"/>
                        </a:lnSpc>
                        <a:spcBef>
                          <a:spcPts val="0"/>
                        </a:spcBef>
                        <a:spcAft>
                          <a:spcPts val="0"/>
                        </a:spcAft>
                      </a:pPr>
                      <a:r>
                        <a:rPr sz="1300" b="0">
                          <a:solidFill>
                            <a:srgbClr val="1F1F1F"/>
                          </a:solidFill>
                          <a:latin typeface="Calibri"/>
                        </a:rPr>
                        <a:t>creditórios conforme</a:t>
                      </a:r>
                    </a:p>
                    <a:p>
                      <a:pPr algn="l">
                        <a:lnSpc>
                          <a:spcPct val="100000"/>
                        </a:lnSpc>
                        <a:spcBef>
                          <a:spcPts val="0"/>
                        </a:spcBef>
                        <a:spcAft>
                          <a:spcPts val="0"/>
                        </a:spcAft>
                      </a:pPr>
                      <a:r>
                        <a:rPr sz="1300" b="0">
                          <a:solidFill>
                            <a:srgbClr val="1F1F1F"/>
                          </a:solidFill>
                          <a:latin typeface="Calibri"/>
                        </a:rPr>
                        <a:t>definições prescritas</a:t>
                      </a:r>
                    </a:p>
                    <a:p>
                      <a:pPr algn="l">
                        <a:lnSpc>
                          <a:spcPct val="100000"/>
                        </a:lnSpc>
                        <a:spcBef>
                          <a:spcPts val="0"/>
                        </a:spcBef>
                        <a:spcAft>
                          <a:spcPts val="0"/>
                        </a:spcAft>
                      </a:pPr>
                      <a:r>
                        <a:rPr sz="1300" b="0">
                          <a:solidFill>
                            <a:srgbClr val="1F1F1F"/>
                          </a:solidFill>
                          <a:latin typeface="Calibri"/>
                        </a:rPr>
                        <a:t>em regulamentação</a:t>
                      </a:r>
                    </a:p>
                    <a:p>
                      <a:pPr algn="l">
                        <a:lnSpc>
                          <a:spcPct val="100000"/>
                        </a:lnSpc>
                        <a:spcBef>
                          <a:spcPts val="0"/>
                        </a:spcBef>
                        <a:spcAft>
                          <a:spcPts val="0"/>
                        </a:spcAft>
                      </a:pPr>
                      <a:r>
                        <a:rPr sz="1300" b="0">
                          <a:solidFill>
                            <a:srgbClr val="1F1F1F"/>
                          </a:solidFill>
                          <a:latin typeface="Calibri"/>
                        </a:rPr>
                        <a:t>expedida pelo Conselho</a:t>
                      </a:r>
                    </a:p>
                    <a:p>
                      <a:pPr algn="l">
                        <a:lnSpc>
                          <a:spcPct val="100000"/>
                        </a:lnSpc>
                        <a:spcBef>
                          <a:spcPts val="0"/>
                        </a:spcBef>
                        <a:spcAft>
                          <a:spcPts val="0"/>
                        </a:spcAft>
                      </a:pPr>
                      <a:r>
                        <a:rPr sz="1300" b="0">
                          <a:solidFill>
                            <a:srgbClr val="1F1F1F"/>
                          </a:solidFill>
                          <a:latin typeface="Calibri"/>
                        </a:rPr>
                        <a:t>Monetário Nacional, os</a:t>
                      </a:r>
                    </a:p>
                    <a:p>
                      <a:pPr algn="l">
                        <a:lnSpc>
                          <a:spcPct val="100000"/>
                        </a:lnSpc>
                        <a:spcBef>
                          <a:spcPts val="0"/>
                        </a:spcBef>
                        <a:spcAft>
                          <a:spcPts val="0"/>
                        </a:spcAft>
                      </a:pPr>
                      <a:r>
                        <a:rPr sz="1300" b="0">
                          <a:solidFill>
                            <a:srgbClr val="1F1F1F"/>
                          </a:solidFill>
                          <a:latin typeface="Calibri"/>
                        </a:rPr>
                        <a:t>rendimentos auferidos</a:t>
                      </a:r>
                    </a:p>
                    <a:p>
                      <a:pPr algn="l">
                        <a:lnSpc>
                          <a:spcPct val="100000"/>
                        </a:lnSpc>
                        <a:spcBef>
                          <a:spcPts val="0"/>
                        </a:spcBef>
                        <a:spcAft>
                          <a:spcPts val="0"/>
                        </a:spcAft>
                      </a:pPr>
                      <a:r>
                        <a:rPr sz="1300" b="0">
                          <a:solidFill>
                            <a:srgbClr val="1F1F1F"/>
                          </a:solidFill>
                          <a:latin typeface="Calibri"/>
                        </a:rPr>
                        <a:t>na amortização ou no</a:t>
                      </a:r>
                    </a:p>
                    <a:p>
                      <a:pPr algn="l">
                        <a:lnSpc>
                          <a:spcPct val="100000"/>
                        </a:lnSpc>
                        <a:spcBef>
                          <a:spcPts val="0"/>
                        </a:spcBef>
                        <a:spcAft>
                          <a:spcPts val="0"/>
                        </a:spcAft>
                      </a:pPr>
                      <a:r>
                        <a:rPr sz="1300" b="0">
                          <a:solidFill>
                            <a:srgbClr val="1F1F1F"/>
                          </a:solidFill>
                          <a:latin typeface="Calibri"/>
                        </a:rPr>
                        <a:t>resgate das cotas,</a:t>
                      </a:r>
                    </a:p>
                    <a:p>
                      <a:pPr algn="l">
                        <a:lnSpc>
                          <a:spcPct val="100000"/>
                        </a:lnSpc>
                        <a:spcBef>
                          <a:spcPts val="0"/>
                        </a:spcBef>
                        <a:spcAft>
                          <a:spcPts val="0"/>
                        </a:spcAft>
                      </a:pPr>
                      <a:r>
                        <a:rPr sz="1300" b="0">
                          <a:solidFill>
                            <a:srgbClr val="1F1F1F"/>
                          </a:solidFill>
                          <a:latin typeface="Calibri"/>
                        </a:rPr>
                        <a:t>inclusive quando</a:t>
                      </a:r>
                    </a:p>
                    <a:p>
                      <a:pPr algn="l">
                        <a:lnSpc>
                          <a:spcPct val="100000"/>
                        </a:lnSpc>
                        <a:spcBef>
                          <a:spcPts val="0"/>
                        </a:spcBef>
                        <a:spcAft>
                          <a:spcPts val="0"/>
                        </a:spcAft>
                      </a:pPr>
                      <a:r>
                        <a:rPr sz="1300" b="0">
                          <a:solidFill>
                            <a:srgbClr val="1F1F1F"/>
                          </a:solidFill>
                          <a:latin typeface="Calibri"/>
                        </a:rPr>
                        <a:t>decorrentes da</a:t>
                      </a:r>
                    </a:p>
                    <a:p>
                      <a:pPr algn="l">
                        <a:lnSpc>
                          <a:spcPct val="100000"/>
                        </a:lnSpc>
                        <a:spcBef>
                          <a:spcPts val="0"/>
                        </a:spcBef>
                        <a:spcAft>
                          <a:spcPts val="0"/>
                        </a:spcAft>
                      </a:pPr>
                      <a:r>
                        <a:rPr sz="1300" b="0">
                          <a:solidFill>
                            <a:srgbClr val="1F1F1F"/>
                          </a:solidFill>
                          <a:latin typeface="Calibri"/>
                        </a:rPr>
                        <a:t>liquidação do FUNDO,</a:t>
                      </a:r>
                    </a:p>
                    <a:p>
                      <a:pPr algn="l">
                        <a:lnSpc>
                          <a:spcPct val="100000"/>
                        </a:lnSpc>
                        <a:spcBef>
                          <a:spcPts val="0"/>
                        </a:spcBef>
                        <a:spcAft>
                          <a:spcPts val="0"/>
                        </a:spcAft>
                      </a:pPr>
                      <a:r>
                        <a:rPr sz="1300" b="0">
                          <a:solidFill>
                            <a:srgbClr val="1F1F1F"/>
                          </a:solidFill>
                          <a:latin typeface="Calibri"/>
                        </a:rPr>
                        <a:t>ficam sujeitos à</a:t>
                      </a:r>
                    </a:p>
                    <a:p>
                      <a:pPr algn="l">
                        <a:lnSpc>
                          <a:spcPct val="100000"/>
                        </a:lnSpc>
                        <a:spcBef>
                          <a:spcPts val="0"/>
                        </a:spcBef>
                        <a:spcAft>
                          <a:spcPts val="0"/>
                        </a:spcAft>
                      </a:pPr>
                      <a:r>
                        <a:rPr sz="1300" b="0">
                          <a:solidFill>
                            <a:srgbClr val="1F1F1F"/>
                          </a:solidFill>
                          <a:latin typeface="Calibri"/>
                        </a:rPr>
                        <a:t>incidência do IRF à</a:t>
                      </a:r>
                    </a:p>
                    <a:p>
                      <a:pPr algn="l">
                        <a:lnSpc>
                          <a:spcPct val="100000"/>
                        </a:lnSpc>
                        <a:spcBef>
                          <a:spcPts val="0"/>
                        </a:spcBef>
                        <a:spcAft>
                          <a:spcPts val="0"/>
                        </a:spcAft>
                      </a:pPr>
                      <a:r>
                        <a:rPr sz="1300" b="0">
                          <a:solidFill>
                            <a:srgbClr val="1F1F1F"/>
                          </a:solidFill>
                          <a:latin typeface="Calibri"/>
                        </a:rPr>
                        <a:t>alíquota de 15% (quinze</a:t>
                      </a:r>
                    </a:p>
                    <a:p>
                      <a:pPr algn="l">
                        <a:lnSpc>
                          <a:spcPct val="100000"/>
                        </a:lnSpc>
                        <a:spcBef>
                          <a:spcPts val="0"/>
                        </a:spcBef>
                        <a:spcAft>
                          <a:spcPts val="0"/>
                        </a:spcAft>
                      </a:pPr>
                      <a:r>
                        <a:rPr sz="1300" b="0">
                          <a:solidFill>
                            <a:srgbClr val="1F1F1F"/>
                          </a:solidFill>
                          <a:latin typeface="Calibri"/>
                        </a:rPr>
                        <a:t>por cento) sobre a</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16/160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Alocação e perímetro</a:t>
            </a:r>
          </a:p>
        </p:txBody>
      </p:sp>
      <p:graphicFrame>
        <p:nvGraphicFramePr>
          <p:cNvPr id="3" name="Table 2"/>
          <p:cNvGraphicFramePr>
            <a:graphicFrameLocks noGrp="1"/>
          </p:cNvGraphicFramePr>
          <p:nvPr/>
        </p:nvGraphicFramePr>
        <p:xfrm>
          <a:off x="438912" y="932688"/>
          <a:ext cx="11313868" cy="2253996"/>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1783080">
                <a:tc>
                  <a:txBody>
                    <a:bodyPr wrap="square">
                      <a:noAutofit/>
                    </a:bodyPr>
                    <a:lstStyle/>
                    <a:p>
                      <a:pPr algn="l">
                        <a:lnSpc>
                          <a:spcPct val="100000"/>
                        </a:lnSpc>
                        <a:spcBef>
                          <a:spcPts val="0"/>
                        </a:spcBef>
                        <a:spcAft>
                          <a:spcPts val="0"/>
                        </a:spcAft>
                      </a:pPr>
                      <a:r>
                        <a:rPr sz="1300" b="1">
                          <a:solidFill>
                            <a:srgbClr val="1F1F1F"/>
                          </a:solidFill>
                          <a:latin typeface="Calibri"/>
                        </a:rPr>
                        <a:t>Alocação para tratamento</a:t>
                      </a:r>
                    </a:p>
                    <a:p>
                      <a:pPr algn="l">
                        <a:lnSpc>
                          <a:spcPct val="100000"/>
                        </a:lnSpc>
                        <a:spcBef>
                          <a:spcPts val="0"/>
                        </a:spcBef>
                        <a:spcAft>
                          <a:spcPts val="0"/>
                        </a:spcAft>
                      </a:pPr>
                      <a:r>
                        <a:rPr sz="1300" b="1">
                          <a:solidFill>
                            <a:srgbClr val="1F1F1F"/>
                          </a:solidFill>
                          <a:latin typeface="Calibri"/>
                        </a:rPr>
                        <a:t>tributário (continuação)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dezembro de 2023</a:t>
                      </a:r>
                    </a:p>
                    <a:p>
                      <a:pPr algn="l">
                        <a:lnSpc>
                          <a:spcPct val="100000"/>
                        </a:lnSpc>
                        <a:spcBef>
                          <a:spcPts val="0"/>
                        </a:spcBef>
                        <a:spcAft>
                          <a:spcPts val="0"/>
                        </a:spcAft>
                      </a:pPr>
                      <a:r>
                        <a:rPr sz="1300" b="0">
                          <a:solidFill>
                            <a:srgbClr val="1F1F1F"/>
                          </a:solidFill>
                          <a:latin typeface="Calibri"/>
                        </a:rPr>
                        <a:t>(“Resolução CMN</a:t>
                      </a:r>
                    </a:p>
                    <a:p>
                      <a:pPr algn="l">
                        <a:lnSpc>
                          <a:spcPct val="100000"/>
                        </a:lnSpc>
                        <a:spcBef>
                          <a:spcPts val="0"/>
                        </a:spcBef>
                        <a:spcAft>
                          <a:spcPts val="0"/>
                        </a:spcAft>
                      </a:pPr>
                      <a:r>
                        <a:rPr sz="1300" b="0">
                          <a:solidFill>
                            <a:srgbClr val="1F1F1F"/>
                          </a:solidFill>
                          <a:latin typeface="Calibri"/>
                        </a:rPr>
                        <a:t>5.111”).</a:t>
                      </a:r>
                    </a:p>
                    <a:p>
                      <a:pPr algn="l">
                        <a:lnSpc>
                          <a:spcPct val="100000"/>
                        </a:lnSpc>
                        <a:spcBef>
                          <a:spcPts val="0"/>
                        </a:spcBef>
                        <a:spcAft>
                          <a:spcPts val="0"/>
                        </a:spcAft>
                      </a:pPr>
                      <a:r>
                        <a:rPr sz="1300" b="0">
                          <a:solidFill>
                            <a:srgbClr val="1F1F1F"/>
                          </a:solidFill>
                          <a:latin typeface="Calibri"/>
                        </a:rPr>
                        <a:t>IME 08/2026 ·</a:t>
                      </a:r>
                    </a:p>
                    <a:p>
                      <a:pPr algn="l">
                        <a:lnSpc>
                          <a:spcPct val="100000"/>
                        </a:lnSpc>
                        <a:spcBef>
                          <a:spcPts val="0"/>
                        </a:spcBef>
                        <a:spcAft>
                          <a:spcPts val="0"/>
                        </a:spcAft>
                      </a:pPr>
                      <a:r>
                        <a:rPr sz="1300" b="0">
                          <a:solidFill>
                            <a:srgbClr val="1F1F1F"/>
                          </a:solidFill>
                          <a:latin typeface="Calibri"/>
                        </a:rPr>
                        <a:t>Referência agregada:</a:t>
                      </a:r>
                    </a:p>
                    <a:p>
                      <a:pPr algn="l">
                        <a:lnSpc>
                          <a:spcPct val="100000"/>
                        </a:lnSpc>
                        <a:spcBef>
                          <a:spcPts val="0"/>
                        </a:spcBef>
                        <a:spcAft>
                          <a:spcPts val="0"/>
                        </a:spcAft>
                      </a:pPr>
                      <a:r>
                        <a:rPr sz="1300" b="0">
                          <a:solidFill>
                            <a:srgbClr val="1F1F1F"/>
                          </a:solidFill>
                          <a:latin typeface="Calibri"/>
                        </a:rPr>
                        <a:t>91,85% · Comparação não</a:t>
                      </a:r>
                    </a:p>
                    <a:p>
                      <a:pPr algn="l">
                        <a:lnSpc>
                          <a:spcPct val="100000"/>
                        </a:lnSpc>
                        <a:spcBef>
                          <a:spcPts val="0"/>
                        </a:spcBef>
                        <a:spcAft>
                          <a:spcPts val="0"/>
                        </a:spcAft>
                      </a:pPr>
                      <a:r>
                        <a:rPr sz="1300" b="0">
                          <a:solidFill>
                            <a:srgbClr val="1F1F1F"/>
                          </a:solidFill>
                          <a:latin typeface="Calibri"/>
                        </a:rPr>
                        <a:t>reproduzível</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diferença positiva</a:t>
                      </a:r>
                    </a:p>
                    <a:p>
                      <a:pPr algn="l">
                        <a:lnSpc>
                          <a:spcPct val="100000"/>
                        </a:lnSpc>
                        <a:spcBef>
                          <a:spcPts val="0"/>
                        </a:spcBef>
                        <a:spcAft>
                          <a:spcPts val="0"/>
                        </a:spcAft>
                      </a:pPr>
                      <a:r>
                        <a:rPr sz="1300" b="0">
                          <a:solidFill>
                            <a:srgbClr val="1F1F1F"/>
                          </a:solidFill>
                          <a:latin typeface="Calibri"/>
                        </a:rPr>
                        <a:t>entre o valor de</a:t>
                      </a:r>
                    </a:p>
                    <a:p>
                      <a:pPr algn="l">
                        <a:lnSpc>
                          <a:spcPct val="100000"/>
                        </a:lnSpc>
                        <a:spcBef>
                          <a:spcPts val="0"/>
                        </a:spcBef>
                        <a:spcAft>
                          <a:spcPts val="0"/>
                        </a:spcAft>
                      </a:pPr>
                      <a:r>
                        <a:rPr sz="1300" b="0">
                          <a:solidFill>
                            <a:srgbClr val="1F1F1F"/>
                          </a:solidFill>
                          <a:latin typeface="Calibri"/>
                        </a:rPr>
                        <a:t>amortização ou resgate</a:t>
                      </a:r>
                    </a:p>
                    <a:p>
                      <a:pPr algn="l">
                        <a:lnSpc>
                          <a:spcPct val="100000"/>
                        </a:lnSpc>
                        <a:spcBef>
                          <a:spcPts val="0"/>
                        </a:spcBef>
                        <a:spcAft>
                          <a:spcPts val="0"/>
                        </a:spcAft>
                      </a:pPr>
                      <a:r>
                        <a:rPr sz="1300" b="0">
                          <a:solidFill>
                            <a:srgbClr val="1F1F1F"/>
                          </a:solidFill>
                          <a:latin typeface="Calibri"/>
                        </a:rPr>
                        <a:t>e o custo de aquisição</a:t>
                      </a:r>
                    </a:p>
                    <a:p>
                      <a:pPr algn="l">
                        <a:lnSpc>
                          <a:spcPct val="100000"/>
                        </a:lnSpc>
                        <a:spcBef>
                          <a:spcPts val="0"/>
                        </a:spcBef>
                        <a:spcAft>
                          <a:spcPts val="0"/>
                        </a:spcAft>
                      </a:pPr>
                      <a:r>
                        <a:rPr sz="1300" b="0">
                          <a:solidFill>
                            <a:srgbClr val="1F1F1F"/>
                          </a:solidFill>
                          <a:latin typeface="Calibri"/>
                        </a:rPr>
                        <a:t>das Cotas.</a:t>
                      </a:r>
                    </a:p>
                    <a:p>
                      <a:pPr algn="l">
                        <a:lnSpc>
                          <a:spcPct val="100000"/>
                        </a:lnSpc>
                        <a:spcBef>
                          <a:spcPts val="0"/>
                        </a:spcBef>
                        <a:spcAft>
                          <a:spcPts val="0"/>
                        </a:spcAft>
                      </a:pPr>
                      <a:r>
                        <a:rPr sz="1300" b="0">
                          <a:solidFill>
                            <a:srgbClr val="1F1F1F"/>
                          </a:solidFill>
                          <a:latin typeface="Calibri"/>
                        </a:rPr>
                        <a:t>IME 08/2026 ·</a:t>
                      </a:r>
                    </a:p>
                    <a:p>
                      <a:pPr algn="l">
                        <a:lnSpc>
                          <a:spcPct val="100000"/>
                        </a:lnSpc>
                        <a:spcBef>
                          <a:spcPts val="0"/>
                        </a:spcBef>
                        <a:spcAft>
                          <a:spcPts val="0"/>
                        </a:spcAft>
                      </a:pPr>
                      <a:r>
                        <a:rPr sz="1300" b="0">
                          <a:solidFill>
                            <a:srgbClr val="1F1F1F"/>
                          </a:solidFill>
                          <a:latin typeface="Calibri"/>
                        </a:rPr>
                        <a:t>Referência agregada:</a:t>
                      </a:r>
                    </a:p>
                    <a:p>
                      <a:pPr algn="l">
                        <a:lnSpc>
                          <a:spcPct val="100000"/>
                        </a:lnSpc>
                        <a:spcBef>
                          <a:spcPts val="0"/>
                        </a:spcBef>
                        <a:spcAft>
                          <a:spcPts val="0"/>
                        </a:spcAft>
                      </a:pPr>
                      <a:r>
                        <a:rPr sz="1300" b="0">
                          <a:solidFill>
                            <a:srgbClr val="1F1F1F"/>
                          </a:solidFill>
                          <a:latin typeface="Calibri"/>
                        </a:rPr>
                        <a:t>0,00% · Comparação não</a:t>
                      </a:r>
                    </a:p>
                    <a:p>
                      <a:pPr algn="l">
                        <a:lnSpc>
                          <a:spcPct val="100000"/>
                        </a:lnSpc>
                        <a:spcBef>
                          <a:spcPts val="0"/>
                        </a:spcBef>
                        <a:spcAft>
                          <a:spcPts val="0"/>
                        </a:spcAft>
                      </a:pPr>
                      <a:r>
                        <a:rPr sz="1300" b="0">
                          <a:solidFill>
                            <a:srgbClr val="1F1F1F"/>
                          </a:solidFill>
                          <a:latin typeface="Calibri"/>
                        </a:rPr>
                        <a:t>reproduzível</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17/160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Alocação e perímetro</a:t>
            </a:r>
          </a:p>
        </p:txBody>
      </p:sp>
      <p:graphicFrame>
        <p:nvGraphicFramePr>
          <p:cNvPr id="3" name="Table 2"/>
          <p:cNvGraphicFramePr>
            <a:graphicFrameLocks noGrp="1"/>
          </p:cNvGraphicFramePr>
          <p:nvPr/>
        </p:nvGraphicFramePr>
        <p:xfrm>
          <a:off x="438912" y="932688"/>
          <a:ext cx="11313868" cy="5065776"/>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4594860">
                <a:tc>
                  <a:txBody>
                    <a:bodyPr wrap="square">
                      <a:noAutofit/>
                    </a:bodyPr>
                    <a:lstStyle/>
                    <a:p>
                      <a:pPr algn="l">
                        <a:lnSpc>
                          <a:spcPct val="100000"/>
                        </a:lnSpc>
                        <a:spcBef>
                          <a:spcPts val="0"/>
                        </a:spcBef>
                        <a:spcAft>
                          <a:spcPts val="0"/>
                        </a:spcAft>
                      </a:pPr>
                      <a:r>
                        <a:rPr sz="1300" b="1">
                          <a:solidFill>
                            <a:srgbClr val="1F1F1F"/>
                          </a:solidFill>
                          <a:latin typeface="Calibri"/>
                        </a:rPr>
                        <a:t>Classes investidas e</a:t>
                      </a:r>
                    </a:p>
                    <a:p>
                      <a:pPr algn="l">
                        <a:lnSpc>
                          <a:spcPct val="100000"/>
                        </a:lnSpc>
                        <a:spcBef>
                          <a:spcPts val="0"/>
                        </a:spcBef>
                        <a:spcAft>
                          <a:spcPts val="0"/>
                        </a:spcAft>
                      </a:pPr>
                      <a:r>
                        <a:rPr sz="1300" b="1">
                          <a:solidFill>
                            <a:srgbClr val="1F1F1F"/>
                          </a:solidFill>
                          <a:latin typeface="Calibri"/>
                        </a:rPr>
                        <a:t>limites do FIC</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Eventuais alterações ou</a:t>
                      </a:r>
                    </a:p>
                    <a:p>
                      <a:pPr algn="l">
                        <a:lnSpc>
                          <a:spcPct val="100000"/>
                        </a:lnSpc>
                        <a:spcBef>
                          <a:spcPts val="0"/>
                        </a:spcBef>
                        <a:spcAft>
                          <a:spcPts val="0"/>
                        </a:spcAft>
                      </a:pPr>
                      <a:r>
                        <a:rPr sz="1300" b="0">
                          <a:solidFill>
                            <a:srgbClr val="1F1F1F"/>
                          </a:solidFill>
                          <a:latin typeface="Calibri"/>
                        </a:rPr>
                        <a:t>novas normas ou leis</a:t>
                      </a:r>
                    </a:p>
                    <a:p>
                      <a:pPr algn="l">
                        <a:lnSpc>
                          <a:spcPct val="100000"/>
                        </a:lnSpc>
                        <a:spcBef>
                          <a:spcPts val="0"/>
                        </a:spcBef>
                        <a:spcAft>
                          <a:spcPts val="0"/>
                        </a:spcAft>
                      </a:pPr>
                      <a:r>
                        <a:rPr sz="1300" b="0">
                          <a:solidFill>
                            <a:srgbClr val="1F1F1F"/>
                          </a:solidFill>
                          <a:latin typeface="Calibri"/>
                        </a:rPr>
                        <a:t>aplicáveis à Classe,</a:t>
                      </a:r>
                    </a:p>
                    <a:p>
                      <a:pPr algn="l">
                        <a:lnSpc>
                          <a:spcPct val="100000"/>
                        </a:lnSpc>
                        <a:spcBef>
                          <a:spcPts val="0"/>
                        </a:spcBef>
                        <a:spcAft>
                          <a:spcPts val="0"/>
                        </a:spcAft>
                      </a:pPr>
                      <a:r>
                        <a:rPr sz="1300" b="0">
                          <a:solidFill>
                            <a:srgbClr val="1F1F1F"/>
                          </a:solidFill>
                          <a:latin typeface="Calibri"/>
                        </a:rPr>
                        <a:t>seus ativos e a</a:t>
                      </a:r>
                    </a:p>
                    <a:p>
                      <a:pPr algn="l">
                        <a:lnSpc>
                          <a:spcPct val="100000"/>
                        </a:lnSpc>
                        <a:spcBef>
                          <a:spcPts val="0"/>
                        </a:spcBef>
                        <a:spcAft>
                          <a:spcPts val="0"/>
                        </a:spcAft>
                      </a:pPr>
                      <a:r>
                        <a:rPr sz="1300" b="0">
                          <a:solidFill>
                            <a:srgbClr val="1F1F1F"/>
                          </a:solidFill>
                          <a:latin typeface="Calibri"/>
                        </a:rPr>
                        <a:t>eventuais fundos</a:t>
                      </a:r>
                    </a:p>
                    <a:p>
                      <a:pPr algn="l">
                        <a:lnSpc>
                          <a:spcPct val="100000"/>
                        </a:lnSpc>
                        <a:spcBef>
                          <a:spcPts val="0"/>
                        </a:spcBef>
                        <a:spcAft>
                          <a:spcPts val="0"/>
                        </a:spcAft>
                      </a:pPr>
                      <a:r>
                        <a:rPr sz="1300" b="0">
                          <a:solidFill>
                            <a:srgbClr val="1F1F1F"/>
                          </a:solidFill>
                          <a:latin typeface="Calibri"/>
                        </a:rPr>
                        <a:t>investidos, incluindo,</a:t>
                      </a:r>
                    </a:p>
                    <a:p>
                      <a:pPr algn="l">
                        <a:lnSpc>
                          <a:spcPct val="100000"/>
                        </a:lnSpc>
                        <a:spcBef>
                          <a:spcPts val="0"/>
                        </a:spcBef>
                        <a:spcAft>
                          <a:spcPts val="0"/>
                        </a:spcAft>
                      </a:pPr>
                      <a:r>
                        <a:rPr sz="1300" b="0">
                          <a:solidFill>
                            <a:srgbClr val="1F1F1F"/>
                          </a:solidFill>
                          <a:latin typeface="Calibri"/>
                        </a:rPr>
                        <a:t>mas não se limitando</a:t>
                      </a:r>
                    </a:p>
                    <a:p>
                      <a:pPr algn="l">
                        <a:lnSpc>
                          <a:spcPct val="100000"/>
                        </a:lnSpc>
                        <a:spcBef>
                          <a:spcPts val="0"/>
                        </a:spcBef>
                        <a:spcAft>
                          <a:spcPts val="0"/>
                        </a:spcAft>
                      </a:pPr>
                      <a:r>
                        <a:rPr sz="1300" b="0">
                          <a:solidFill>
                            <a:srgbClr val="1F1F1F"/>
                          </a:solidFill>
                          <a:latin typeface="Calibri"/>
                        </a:rPr>
                        <a:t>àquelas referentes a</a:t>
                      </a:r>
                    </a:p>
                    <a:p>
                      <a:pPr algn="l">
                        <a:lnSpc>
                          <a:spcPct val="100000"/>
                        </a:lnSpc>
                        <a:spcBef>
                          <a:spcPts val="0"/>
                        </a:spcBef>
                        <a:spcAft>
                          <a:spcPts val="0"/>
                        </a:spcAft>
                      </a:pPr>
                      <a:r>
                        <a:rPr sz="1300" b="0">
                          <a:solidFill>
                            <a:srgbClr val="1F1F1F"/>
                          </a:solidFill>
                          <a:latin typeface="Calibri"/>
                        </a:rPr>
                        <a:t>tributos, bem como</a:t>
                      </a:r>
                    </a:p>
                    <a:p>
                      <a:pPr algn="l">
                        <a:lnSpc>
                          <a:spcPct val="100000"/>
                        </a:lnSpc>
                        <a:spcBef>
                          <a:spcPts val="0"/>
                        </a:spcBef>
                        <a:spcAft>
                          <a:spcPts val="0"/>
                        </a:spcAft>
                      </a:pPr>
                      <a:r>
                        <a:rPr sz="1300" b="0">
                          <a:solidFill>
                            <a:srgbClr val="1F1F1F"/>
                          </a:solidFill>
                          <a:latin typeface="Calibri"/>
                        </a:rPr>
                        <a:t>decisões judiciais ou</a:t>
                      </a:r>
                    </a:p>
                    <a:p>
                      <a:pPr algn="l">
                        <a:lnSpc>
                          <a:spcPct val="100000"/>
                        </a:lnSpc>
                        <a:spcBef>
                          <a:spcPts val="0"/>
                        </a:spcBef>
                        <a:spcAft>
                          <a:spcPts val="0"/>
                        </a:spcAft>
                      </a:pPr>
                      <a:r>
                        <a:rPr sz="1300" b="0">
                          <a:solidFill>
                            <a:srgbClr val="1F1F1F"/>
                          </a:solidFill>
                          <a:latin typeface="Calibri"/>
                        </a:rPr>
                        <a:t>jurisprudência</a:t>
                      </a:r>
                    </a:p>
                    <a:p>
                      <a:pPr algn="l">
                        <a:lnSpc>
                          <a:spcPct val="100000"/>
                        </a:lnSpc>
                        <a:spcBef>
                          <a:spcPts val="0"/>
                        </a:spcBef>
                        <a:spcAft>
                          <a:spcPts val="0"/>
                        </a:spcAft>
                      </a:pPr>
                      <a:r>
                        <a:rPr sz="1300" b="0">
                          <a:solidFill>
                            <a:srgbClr val="1F1F1F"/>
                          </a:solidFill>
                          <a:latin typeface="Calibri"/>
                        </a:rPr>
                        <a:t>aplicando as</a:t>
                      </a:r>
                    </a:p>
                    <a:p>
                      <a:pPr algn="l">
                        <a:lnSpc>
                          <a:spcPct val="100000"/>
                        </a:lnSpc>
                        <a:spcBef>
                          <a:spcPts val="0"/>
                        </a:spcBef>
                        <a:spcAft>
                          <a:spcPts val="0"/>
                        </a:spcAft>
                      </a:pPr>
                      <a:r>
                        <a:rPr sz="1300" b="0">
                          <a:solidFill>
                            <a:srgbClr val="1F1F1F"/>
                          </a:solidFill>
                          <a:latin typeface="Calibri"/>
                        </a:rPr>
                        <a:t>regulamentações</a:t>
                      </a:r>
                    </a:p>
                    <a:p>
                      <a:pPr algn="l">
                        <a:lnSpc>
                          <a:spcPct val="100000"/>
                        </a:lnSpc>
                        <a:spcBef>
                          <a:spcPts val="0"/>
                        </a:spcBef>
                        <a:spcAft>
                          <a:spcPts val="0"/>
                        </a:spcAft>
                      </a:pPr>
                      <a:r>
                        <a:rPr sz="1300" b="0">
                          <a:solidFill>
                            <a:srgbClr val="1F1F1F"/>
                          </a:solidFill>
                          <a:latin typeface="Calibri"/>
                        </a:rPr>
                        <a:t>existentes ou</a:t>
                      </a:r>
                    </a:p>
                    <a:p>
                      <a:pPr algn="l">
                        <a:lnSpc>
                          <a:spcPct val="100000"/>
                        </a:lnSpc>
                        <a:spcBef>
                          <a:spcPts val="0"/>
                        </a:spcBef>
                        <a:spcAft>
                          <a:spcPts val="0"/>
                        </a:spcAft>
                      </a:pPr>
                      <a:r>
                        <a:rPr sz="1300" b="0">
                          <a:solidFill>
                            <a:srgbClr val="1F1F1F"/>
                          </a:solidFill>
                          <a:latin typeface="Calibri"/>
                        </a:rPr>
                        <a:t>interpretando novas</a:t>
                      </a:r>
                    </a:p>
                    <a:p>
                      <a:pPr algn="l">
                        <a:lnSpc>
                          <a:spcPct val="100000"/>
                        </a:lnSpc>
                        <a:spcBef>
                          <a:spcPts val="0"/>
                        </a:spcBef>
                        <a:spcAft>
                          <a:spcPts val="0"/>
                        </a:spcAft>
                      </a:pPr>
                      <a:r>
                        <a:rPr sz="1300" b="0">
                          <a:solidFill>
                            <a:srgbClr val="1F1F1F"/>
                          </a:solidFill>
                          <a:latin typeface="Calibri"/>
                        </a:rPr>
                        <a:t>regulamentações, podem</a:t>
                      </a:r>
                    </a:p>
                    <a:p>
                      <a:pPr algn="l">
                        <a:lnSpc>
                          <a:spcPct val="100000"/>
                        </a:lnSpc>
                        <a:spcBef>
                          <a:spcPts val="0"/>
                        </a:spcBef>
                        <a:spcAft>
                          <a:spcPts val="0"/>
                        </a:spcAft>
                      </a:pPr>
                      <a:r>
                        <a:rPr sz="1300" b="0">
                          <a:solidFill>
                            <a:srgbClr val="1F1F1F"/>
                          </a:solidFill>
                          <a:latin typeface="Calibri"/>
                        </a:rPr>
                        <a:t>causar um efeito</a:t>
                      </a:r>
                    </a:p>
                    <a:p>
                      <a:pPr algn="l">
                        <a:lnSpc>
                          <a:spcPct val="100000"/>
                        </a:lnSpc>
                        <a:spcBef>
                          <a:spcPts val="0"/>
                        </a:spcBef>
                        <a:spcAft>
                          <a:spcPts val="0"/>
                        </a:spcAft>
                      </a:pPr>
                      <a:r>
                        <a:rPr sz="1300" b="0">
                          <a:solidFill>
                            <a:srgbClr val="1F1F1F"/>
                          </a:solidFill>
                          <a:latin typeface="Calibri"/>
                        </a:rPr>
                        <a:t>adverso relevante no</a:t>
                      </a:r>
                    </a:p>
                    <a:p>
                      <a:pPr algn="l">
                        <a:lnSpc>
                          <a:spcPct val="100000"/>
                        </a:lnSpc>
                        <a:spcBef>
                          <a:spcPts val="0"/>
                        </a:spcBef>
                        <a:spcAft>
                          <a:spcPts val="0"/>
                        </a:spcAft>
                      </a:pPr>
                      <a:r>
                        <a:rPr sz="1300" b="0">
                          <a:solidFill>
                            <a:srgbClr val="1F1F1F"/>
                          </a:solidFill>
                          <a:latin typeface="Calibri"/>
                        </a:rPr>
                        <a:t>preço dos ativos e/ou</a:t>
                      </a:r>
                    </a:p>
                    <a:p>
                      <a:pPr algn="l">
                        <a:lnSpc>
                          <a:spcPct val="100000"/>
                        </a:lnSpc>
                        <a:spcBef>
                          <a:spcPts val="0"/>
                        </a:spcBef>
                        <a:spcAft>
                          <a:spcPts val="0"/>
                        </a:spcAft>
                      </a:pPr>
                      <a:r>
                        <a:rPr sz="1300" b="0">
                          <a:solidFill>
                            <a:srgbClr val="1F1F1F"/>
                          </a:solidFill>
                          <a:latin typeface="Calibri"/>
                        </a:rPr>
                        <a:t>na performance das</a:t>
                      </a:r>
                    </a:p>
                    <a:p>
                      <a:pPr algn="l">
                        <a:lnSpc>
                          <a:spcPct val="100000"/>
                        </a:lnSpc>
                        <a:spcBef>
                          <a:spcPts val="0"/>
                        </a:spcBef>
                        <a:spcAft>
                          <a:spcPts val="0"/>
                        </a:spcAft>
                      </a:pPr>
                      <a:r>
                        <a:rPr sz="1300" b="0">
                          <a:solidFill>
                            <a:srgbClr val="1F1F1F"/>
                          </a:solidFill>
                          <a:latin typeface="Calibri"/>
                        </a:rPr>
                        <a:t>posições financeiras</a:t>
                      </a:r>
                    </a:p>
                    <a:p>
                      <a:pPr algn="l">
                        <a:lnSpc>
                          <a:spcPct val="100000"/>
                        </a:lnSpc>
                        <a:spcBef>
                          <a:spcPts val="0"/>
                        </a:spcBef>
                        <a:spcAft>
                          <a:spcPts val="0"/>
                        </a:spcAft>
                      </a:pPr>
                      <a:r>
                        <a:rPr sz="1300" b="0">
                          <a:solidFill>
                            <a:srgbClr val="1F1F1F"/>
                          </a:solidFill>
                          <a:latin typeface="Calibri"/>
                        </a:rPr>
                        <a:t>adquiridas pela Classe</a:t>
                      </a:r>
                    </a:p>
                    <a:p>
                      <a:pPr algn="l">
                        <a:lnSpc>
                          <a:spcPct val="100000"/>
                        </a:lnSpc>
                        <a:spcBef>
                          <a:spcPts val="0"/>
                        </a:spcBef>
                        <a:spcAft>
                          <a:spcPts val="0"/>
                        </a:spcAft>
                      </a:pPr>
                      <a:r>
                        <a:rPr sz="1300" b="0">
                          <a:solidFill>
                            <a:srgbClr val="1F1F1F"/>
                          </a:solidFill>
                          <a:latin typeface="Calibri"/>
                        </a:rPr>
                        <a:t>e/ou pelos fundos</a:t>
                      </a:r>
                    </a:p>
                    <a:p>
                      <a:pPr algn="l">
                        <a:lnSpc>
                          <a:spcPct val="100000"/>
                        </a:lnSpc>
                        <a:spcBef>
                          <a:spcPts val="0"/>
                        </a:spcBef>
                        <a:spcAft>
                          <a:spcPts val="0"/>
                        </a:spcAft>
                      </a:pPr>
                      <a:r>
                        <a:rPr sz="1300" b="0">
                          <a:solidFill>
                            <a:srgbClr val="1F1F1F"/>
                          </a:solidFill>
                          <a:latin typeface="Calibri"/>
                        </a:rPr>
                        <a:t>Investidos.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O mandato permite cotas</a:t>
                      </a:r>
                    </a:p>
                    <a:p>
                      <a:pPr algn="l">
                        <a:lnSpc>
                          <a:spcPct val="100000"/>
                        </a:lnSpc>
                        <a:spcBef>
                          <a:spcPts val="0"/>
                        </a:spcBef>
                        <a:spcAft>
                          <a:spcPts val="0"/>
                        </a:spcAft>
                      </a:pPr>
                      <a:r>
                        <a:rPr sz="1300" b="0">
                          <a:solidFill>
                            <a:srgbClr val="1F1F1F"/>
                          </a:solidFill>
                          <a:latin typeface="Calibri"/>
                        </a:rPr>
                        <a:t>de classes com mais de</a:t>
                      </a:r>
                    </a:p>
                    <a:p>
                      <a:pPr algn="l">
                        <a:lnSpc>
                          <a:spcPct val="100000"/>
                        </a:lnSpc>
                        <a:spcBef>
                          <a:spcPts val="0"/>
                        </a:spcBef>
                        <a:spcAft>
                          <a:spcPts val="0"/>
                        </a:spcAft>
                      </a:pPr>
                      <a:r>
                        <a:rPr sz="1300" b="0">
                          <a:solidFill>
                            <a:srgbClr val="1F1F1F"/>
                          </a:solidFill>
                          <a:latin typeface="Calibri"/>
                        </a:rPr>
                        <a:t>50% do PL em ativos</a:t>
                      </a:r>
                    </a:p>
                    <a:p>
                      <a:pPr algn="l">
                        <a:lnSpc>
                          <a:spcPct val="100000"/>
                        </a:lnSpc>
                        <a:spcBef>
                          <a:spcPts val="0"/>
                        </a:spcBef>
                        <a:spcAft>
                          <a:spcPts val="0"/>
                        </a:spcAft>
                      </a:pPr>
                      <a:r>
                        <a:rPr sz="1300" b="0">
                          <a:solidFill>
                            <a:srgbClr val="1F1F1F"/>
                          </a:solidFill>
                          <a:latin typeface="Calibri"/>
                        </a:rPr>
                        <a:t>vinculados ao</a:t>
                      </a:r>
                    </a:p>
                    <a:p>
                      <a:pPr algn="l">
                        <a:lnSpc>
                          <a:spcPct val="100000"/>
                        </a:lnSpc>
                        <a:spcBef>
                          <a:spcPts val="0"/>
                        </a:spcBef>
                        <a:spcAft>
                          <a:spcPts val="0"/>
                        </a:spcAft>
                      </a:pPr>
                      <a:r>
                        <a:rPr sz="1300" b="0">
                          <a:solidFill>
                            <a:srgbClr val="1F1F1F"/>
                          </a:solidFill>
                          <a:latin typeface="Calibri"/>
                        </a:rPr>
                        <a:t>agronegócio, inclusive</a:t>
                      </a:r>
                    </a:p>
                    <a:p>
                      <a:pPr algn="l">
                        <a:lnSpc>
                          <a:spcPct val="100000"/>
                        </a:lnSpc>
                        <a:spcBef>
                          <a:spcPts val="0"/>
                        </a:spcBef>
                        <a:spcAft>
                          <a:spcPts val="0"/>
                        </a:spcAft>
                      </a:pPr>
                      <a:r>
                        <a:rPr sz="1300" b="0">
                          <a:solidFill>
                            <a:srgbClr val="1F1F1F"/>
                          </a:solidFill>
                          <a:latin typeface="Calibri"/>
                        </a:rPr>
                        <a:t>FIAGRO. Consolida</a:t>
                      </a:r>
                    </a:p>
                    <a:p>
                      <a:pPr algn="l">
                        <a:lnSpc>
                          <a:spcPct val="100000"/>
                        </a:lnSpc>
                        <a:spcBef>
                          <a:spcPts val="0"/>
                        </a:spcBef>
                        <a:spcAft>
                          <a:spcPts val="0"/>
                        </a:spcAft>
                      </a:pPr>
                      <a:r>
                        <a:rPr sz="1300" b="0">
                          <a:solidFill>
                            <a:srgbClr val="1F1F1F"/>
                          </a:solidFill>
                          <a:latin typeface="Calibri"/>
                        </a:rPr>
                        <a:t>concentração de fundos</a:t>
                      </a:r>
                    </a:p>
                    <a:p>
                      <a:pPr algn="l">
                        <a:lnSpc>
                          <a:spcPct val="100000"/>
                        </a:lnSpc>
                        <a:spcBef>
                          <a:spcPts val="0"/>
                        </a:spcBef>
                        <a:spcAft>
                          <a:spcPts val="0"/>
                        </a:spcAft>
                      </a:pPr>
                      <a:r>
                        <a:rPr sz="1300" b="0">
                          <a:solidFill>
                            <a:srgbClr val="1F1F1F"/>
                          </a:solidFill>
                          <a:latin typeface="Calibri"/>
                        </a:rPr>
                        <a:t>relacionados; dispensa</a:t>
                      </a:r>
                    </a:p>
                    <a:p>
                      <a:pPr algn="l">
                        <a:lnSpc>
                          <a:spcPct val="100000"/>
                        </a:lnSpc>
                        <a:spcBef>
                          <a:spcPts val="0"/>
                        </a:spcBef>
                        <a:spcAft>
                          <a:spcPts val="0"/>
                        </a:spcAft>
                      </a:pPr>
                      <a:r>
                        <a:rPr sz="1300" b="0">
                          <a:solidFill>
                            <a:srgbClr val="1F1F1F"/>
                          </a:solidFill>
                          <a:latin typeface="Calibri"/>
                        </a:rPr>
                        <a:t>consolidação de</a:t>
                      </a:r>
                    </a:p>
                    <a:p>
                      <a:pPr algn="l">
                        <a:lnSpc>
                          <a:spcPct val="100000"/>
                        </a:lnSpc>
                        <a:spcBef>
                          <a:spcPts val="0"/>
                        </a:spcBef>
                        <a:spcAft>
                          <a:spcPts val="0"/>
                        </a:spcAft>
                      </a:pPr>
                      <a:r>
                        <a:rPr sz="1300" b="0">
                          <a:solidFill>
                            <a:srgbClr val="1F1F1F"/>
                          </a:solidFill>
                          <a:latin typeface="Calibri"/>
                        </a:rPr>
                        <a:t>investidos geridos por</a:t>
                      </a:r>
                    </a:p>
                    <a:p>
                      <a:pPr algn="l">
                        <a:lnSpc>
                          <a:spcPct val="100000"/>
                        </a:lnSpc>
                        <a:spcBef>
                          <a:spcPts val="0"/>
                        </a:spcBef>
                        <a:spcAft>
                          <a:spcPts val="0"/>
                        </a:spcAft>
                      </a:pPr>
                      <a:r>
                        <a:rPr sz="1300" b="0">
                          <a:solidFill>
                            <a:srgbClr val="1F1F1F"/>
                          </a:solidFill>
                          <a:latin typeface="Calibri"/>
                        </a:rPr>
                        <a:t>terceiros sem relação</a:t>
                      </a:r>
                    </a:p>
                    <a:p>
                      <a:pPr algn="l">
                        <a:lnSpc>
                          <a:spcPct val="100000"/>
                        </a:lnSpc>
                        <a:spcBef>
                          <a:spcPts val="0"/>
                        </a:spcBef>
                        <a:spcAft>
                          <a:spcPts val="0"/>
                        </a:spcAft>
                      </a:pPr>
                      <a:r>
                        <a:rPr sz="1300" b="0">
                          <a:solidFill>
                            <a:srgbClr val="1F1F1F"/>
                          </a:solidFill>
                          <a:latin typeface="Calibri"/>
                        </a:rPr>
                        <a:t>com o gestor.</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Mandato exclusivo de</a:t>
                      </a:r>
                    </a:p>
                    <a:p>
                      <a:pPr algn="l">
                        <a:lnSpc>
                          <a:spcPct val="100000"/>
                        </a:lnSpc>
                        <a:spcBef>
                          <a:spcPts val="0"/>
                        </a:spcBef>
                        <a:spcAft>
                          <a:spcPts val="0"/>
                        </a:spcAft>
                      </a:pPr>
                      <a:r>
                        <a:rPr sz="1300" b="0">
                          <a:solidFill>
                            <a:srgbClr val="1F1F1F"/>
                          </a:solidFill>
                          <a:latin typeface="Calibri"/>
                        </a:rPr>
                        <a:t>cotas subordinadas</a:t>
                      </a:r>
                    </a:p>
                    <a:p>
                      <a:pPr algn="l">
                        <a:lnSpc>
                          <a:spcPct val="100000"/>
                        </a:lnSpc>
                        <a:spcBef>
                          <a:spcPts val="0"/>
                        </a:spcBef>
                        <a:spcAft>
                          <a:spcPts val="0"/>
                        </a:spcAft>
                      </a:pPr>
                      <a:r>
                        <a:rPr sz="1300" b="0">
                          <a:solidFill>
                            <a:srgbClr val="1F1F1F"/>
                          </a:solidFill>
                          <a:latin typeface="Calibri"/>
                        </a:rPr>
                        <a:t>mezanino da classe</a:t>
                      </a:r>
                    </a:p>
                    <a:p>
                      <a:pPr algn="l">
                        <a:lnSpc>
                          <a:spcPct val="100000"/>
                        </a:lnSpc>
                        <a:spcBef>
                          <a:spcPts val="0"/>
                        </a:spcBef>
                        <a:spcAft>
                          <a:spcPts val="0"/>
                        </a:spcAft>
                      </a:pPr>
                      <a:r>
                        <a:rPr sz="1300" b="0">
                          <a:solidFill>
                            <a:srgbClr val="1F1F1F"/>
                          </a:solidFill>
                          <a:latin typeface="Calibri"/>
                        </a:rPr>
                        <a:t>única Mercado Crédito</a:t>
                      </a:r>
                    </a:p>
                    <a:p>
                      <a:pPr algn="l">
                        <a:lnSpc>
                          <a:spcPct val="100000"/>
                        </a:lnSpc>
                        <a:spcBef>
                          <a:spcPts val="0"/>
                        </a:spcBef>
                        <a:spcAft>
                          <a:spcPts val="0"/>
                        </a:spcAft>
                      </a:pPr>
                      <a:r>
                        <a:rPr sz="1300" b="0">
                          <a:solidFill>
                            <a:srgbClr val="1F1F1F"/>
                          </a:solidFill>
                          <a:latin typeface="Calibri"/>
                        </a:rPr>
                        <a:t>II Brasil FIDC</a:t>
                      </a:r>
                    </a:p>
                    <a:p>
                      <a:pPr algn="l">
                        <a:lnSpc>
                          <a:spcPct val="100000"/>
                        </a:lnSpc>
                        <a:spcBef>
                          <a:spcPts val="0"/>
                        </a:spcBef>
                        <a:spcAft>
                          <a:spcPts val="0"/>
                        </a:spcAft>
                      </a:pPr>
                      <a:r>
                        <a:rPr sz="1300" b="0">
                          <a:solidFill>
                            <a:srgbClr val="1F1F1F"/>
                          </a:solidFill>
                          <a:latin typeface="Calibri"/>
                        </a:rPr>
                        <a:t>(41.970.012/0001-26),</a:t>
                      </a:r>
                    </a:p>
                    <a:p>
                      <a:pPr algn="l">
                        <a:lnSpc>
                          <a:spcPct val="100000"/>
                        </a:lnSpc>
                        <a:spcBef>
                          <a:spcPts val="0"/>
                        </a:spcBef>
                        <a:spcAft>
                          <a:spcPts val="0"/>
                        </a:spcAft>
                      </a:pPr>
                      <a:r>
                        <a:rPr sz="1300" b="0">
                          <a:solidFill>
                            <a:srgbClr val="1F1F1F"/>
                          </a:solidFill>
                          <a:latin typeface="Calibri"/>
                        </a:rPr>
                        <a:t>que origina exposição</a:t>
                      </a:r>
                    </a:p>
                    <a:p>
                      <a:pPr algn="l">
                        <a:lnSpc>
                          <a:spcPct val="100000"/>
                        </a:lnSpc>
                        <a:spcBef>
                          <a:spcPts val="0"/>
                        </a:spcBef>
                        <a:spcAft>
                          <a:spcPts val="0"/>
                        </a:spcAft>
                      </a:pPr>
                      <a:r>
                        <a:rPr sz="1300" b="0">
                          <a:solidFill>
                            <a:srgbClr val="1F1F1F"/>
                          </a:solidFill>
                          <a:latin typeface="Calibri"/>
                        </a:rPr>
                        <a:t>Mercado Pago; ativos de</a:t>
                      </a:r>
                    </a:p>
                    <a:p>
                      <a:pPr algn="l">
                        <a:lnSpc>
                          <a:spcPct val="100000"/>
                        </a:lnSpc>
                        <a:spcBef>
                          <a:spcPts val="0"/>
                        </a:spcBef>
                        <a:spcAft>
                          <a:spcPts val="0"/>
                        </a:spcAft>
                      </a:pPr>
                      <a:r>
                        <a:rPr sz="1300" b="0">
                          <a:solidFill>
                            <a:srgbClr val="1F1F1F"/>
                          </a:solidFill>
                          <a:latin typeface="Calibri"/>
                        </a:rPr>
                        <a:t>liquidez complementam a</a:t>
                      </a:r>
                    </a:p>
                    <a:p>
                      <a:pPr algn="l">
                        <a:lnSpc>
                          <a:spcPct val="100000"/>
                        </a:lnSpc>
                        <a:spcBef>
                          <a:spcPts val="0"/>
                        </a:spcBef>
                        <a:spcAft>
                          <a:spcPts val="0"/>
                        </a:spcAft>
                      </a:pPr>
                      <a:r>
                        <a:rPr sz="1300" b="0">
                          <a:solidFill>
                            <a:srgbClr val="1F1F1F"/>
                          </a:solidFill>
                          <a:latin typeface="Calibri"/>
                        </a:rPr>
                        <a:t>carteira.</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18/160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Alocação e perímetro</a:t>
            </a:r>
          </a:p>
        </p:txBody>
      </p:sp>
      <p:graphicFrame>
        <p:nvGraphicFramePr>
          <p:cNvPr id="3" name="Table 2"/>
          <p:cNvGraphicFramePr>
            <a:graphicFrameLocks noGrp="1"/>
          </p:cNvGraphicFramePr>
          <p:nvPr/>
        </p:nvGraphicFramePr>
        <p:xfrm>
          <a:off x="438912" y="932688"/>
          <a:ext cx="11313868" cy="5253228"/>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4782312">
                <a:tc>
                  <a:txBody>
                    <a:bodyPr wrap="square">
                      <a:noAutofit/>
                    </a:bodyPr>
                    <a:lstStyle/>
                    <a:p>
                      <a:pPr algn="l">
                        <a:lnSpc>
                          <a:spcPct val="100000"/>
                        </a:lnSpc>
                        <a:spcBef>
                          <a:spcPts val="0"/>
                        </a:spcBef>
                        <a:spcAft>
                          <a:spcPts val="0"/>
                        </a:spcAft>
                      </a:pPr>
                      <a:r>
                        <a:rPr sz="1300" b="1">
                          <a:solidFill>
                            <a:srgbClr val="1F1F1F"/>
                          </a:solidFill>
                          <a:latin typeface="Calibri"/>
                        </a:rPr>
                        <a:t>Classe, subclasse e</a:t>
                      </a:r>
                    </a:p>
                    <a:p>
                      <a:pPr algn="l">
                        <a:lnSpc>
                          <a:spcPct val="100000"/>
                        </a:lnSpc>
                        <a:spcBef>
                          <a:spcPts val="0"/>
                        </a:spcBef>
                        <a:spcAft>
                          <a:spcPts val="0"/>
                        </a:spcAft>
                      </a:pPr>
                      <a:r>
                        <a:rPr sz="1300" b="1">
                          <a:solidFill>
                            <a:srgbClr val="1F1F1F"/>
                          </a:solidFill>
                          <a:latin typeface="Calibri"/>
                        </a:rPr>
                        <a:t>responsabilidade</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Anexo I ao Regulamento</a:t>
                      </a:r>
                    </a:p>
                    <a:p>
                      <a:pPr algn="l">
                        <a:lnSpc>
                          <a:spcPct val="100000"/>
                        </a:lnSpc>
                        <a:spcBef>
                          <a:spcPts val="0"/>
                        </a:spcBef>
                        <a:spcAft>
                          <a:spcPts val="0"/>
                        </a:spcAft>
                      </a:pPr>
                      <a:r>
                        <a:rPr sz="1300" b="0">
                          <a:solidFill>
                            <a:srgbClr val="1F1F1F"/>
                          </a:solidFill>
                          <a:latin typeface="Calibri"/>
                        </a:rPr>
                        <a:t>CLASSE ÚNICA DE</a:t>
                      </a:r>
                    </a:p>
                    <a:p>
                      <a:pPr algn="l">
                        <a:lnSpc>
                          <a:spcPct val="100000"/>
                        </a:lnSpc>
                        <a:spcBef>
                          <a:spcPts val="0"/>
                        </a:spcBef>
                        <a:spcAft>
                          <a:spcPts val="0"/>
                        </a:spcAft>
                      </a:pPr>
                      <a:r>
                        <a:rPr sz="1300" b="0">
                          <a:solidFill>
                            <a:srgbClr val="1F1F1F"/>
                          </a:solidFill>
                          <a:latin typeface="Calibri"/>
                        </a:rPr>
                        <a:t>RESPONSABILIDADE</a:t>
                      </a:r>
                    </a:p>
                    <a:p>
                      <a:pPr algn="l">
                        <a:lnSpc>
                          <a:spcPct val="100000"/>
                        </a:lnSpc>
                        <a:spcBef>
                          <a:spcPts val="0"/>
                        </a:spcBef>
                        <a:spcAft>
                          <a:spcPts val="0"/>
                        </a:spcAft>
                      </a:pPr>
                      <a:r>
                        <a:rPr sz="1300" b="0">
                          <a:solidFill>
                            <a:srgbClr val="1F1F1F"/>
                          </a:solidFill>
                          <a:latin typeface="Calibri"/>
                        </a:rPr>
                        <a:t>LIMITADA DO CONSIGNADO</a:t>
                      </a:r>
                    </a:p>
                    <a:p>
                      <a:pPr algn="l">
                        <a:lnSpc>
                          <a:spcPct val="100000"/>
                        </a:lnSpc>
                        <a:spcBef>
                          <a:spcPts val="0"/>
                        </a:spcBef>
                        <a:spcAft>
                          <a:spcPts val="0"/>
                        </a:spcAft>
                      </a:pPr>
                      <a:r>
                        <a:rPr sz="1300" b="0">
                          <a:solidFill>
                            <a:srgbClr val="1F1F1F"/>
                          </a:solidFill>
                          <a:latin typeface="Calibri"/>
                        </a:rPr>
                        <a:t>DELTA RECEIVABLES I</a:t>
                      </a:r>
                    </a:p>
                    <a:p>
                      <a:pPr algn="l">
                        <a:lnSpc>
                          <a:spcPct val="100000"/>
                        </a:lnSpc>
                        <a:spcBef>
                          <a:spcPts val="0"/>
                        </a:spcBef>
                        <a:spcAft>
                          <a:spcPts val="0"/>
                        </a:spcAft>
                      </a:pPr>
                      <a:r>
                        <a:rPr sz="1300" b="0">
                          <a:solidFill>
                            <a:srgbClr val="1F1F1F"/>
                          </a:solidFill>
                          <a:latin typeface="Calibri"/>
                        </a:rPr>
                        <a:t>FUNDO DE INVESTIMENTO</a:t>
                      </a:r>
                    </a:p>
                    <a:p>
                      <a:pPr algn="l">
                        <a:lnSpc>
                          <a:spcPct val="100000"/>
                        </a:lnSpc>
                        <a:spcBef>
                          <a:spcPts val="0"/>
                        </a:spcBef>
                        <a:spcAft>
                          <a:spcPts val="0"/>
                        </a:spcAft>
                      </a:pPr>
                      <a:r>
                        <a:rPr sz="1300" b="0">
                          <a:solidFill>
                            <a:srgbClr val="1F1F1F"/>
                          </a:solidFill>
                          <a:latin typeface="Calibri"/>
                        </a:rPr>
                        <a:t>EM DIREITOS CREDITÓRIOS</a:t>
                      </a:r>
                    </a:p>
                    <a:p>
                      <a:pPr algn="l">
                        <a:lnSpc>
                          <a:spcPct val="100000"/>
                        </a:lnSpc>
                        <a:spcBef>
                          <a:spcPts val="0"/>
                        </a:spcBef>
                        <a:spcAft>
                          <a:spcPts val="0"/>
                        </a:spcAft>
                      </a:pPr>
                      <a:r>
                        <a:rPr sz="1300" b="0">
                          <a:solidFill>
                            <a:srgbClr val="1F1F1F"/>
                          </a:solidFill>
                          <a:latin typeface="Calibri"/>
                        </a:rPr>
                        <a:t>pelo Endossante e</a:t>
                      </a:r>
                    </a:p>
                    <a:p>
                      <a:pPr algn="l">
                        <a:lnSpc>
                          <a:spcPct val="100000"/>
                        </a:lnSpc>
                        <a:spcBef>
                          <a:spcPts val="0"/>
                        </a:spcBef>
                        <a:spcAft>
                          <a:spcPts val="0"/>
                        </a:spcAft>
                      </a:pPr>
                      <a:r>
                        <a:rPr sz="1300" b="0">
                          <a:solidFill>
                            <a:srgbClr val="1F1F1F"/>
                          </a:solidFill>
                          <a:latin typeface="Calibri"/>
                        </a:rPr>
                        <a:t>depositados em seu</a:t>
                      </a:r>
                    </a:p>
                    <a:p>
                      <a:pPr algn="l">
                        <a:lnSpc>
                          <a:spcPct val="100000"/>
                        </a:lnSpc>
                        <a:spcBef>
                          <a:spcPts val="0"/>
                        </a:spcBef>
                        <a:spcAft>
                          <a:spcPts val="0"/>
                        </a:spcAft>
                      </a:pPr>
                      <a:r>
                        <a:rPr sz="1300" b="0">
                          <a:solidFill>
                            <a:srgbClr val="1F1F1F"/>
                          </a:solidFill>
                          <a:latin typeface="Calibri"/>
                        </a:rPr>
                        <a:t>conta de sua</a:t>
                      </a:r>
                    </a:p>
                    <a:p>
                      <a:pPr algn="l">
                        <a:lnSpc>
                          <a:spcPct val="100000"/>
                        </a:lnSpc>
                        <a:spcBef>
                          <a:spcPts val="0"/>
                        </a:spcBef>
                        <a:spcAft>
                          <a:spcPts val="0"/>
                        </a:spcAft>
                      </a:pPr>
                      <a:r>
                        <a:rPr sz="1300" b="0">
                          <a:solidFill>
                            <a:srgbClr val="1F1F1F"/>
                          </a:solidFill>
                          <a:latin typeface="Calibri"/>
                        </a:rPr>
                        <a:t>titularidade para</a:t>
                      </a:r>
                    </a:p>
                    <a:p>
                      <a:pPr algn="l">
                        <a:lnSpc>
                          <a:spcPct val="100000"/>
                        </a:lnSpc>
                        <a:spcBef>
                          <a:spcPts val="0"/>
                        </a:spcBef>
                        <a:spcAft>
                          <a:spcPts val="0"/>
                        </a:spcAft>
                      </a:pPr>
                      <a:r>
                        <a:rPr sz="1300" b="0">
                          <a:solidFill>
                            <a:srgbClr val="1F1F1F"/>
                          </a:solidFill>
                          <a:latin typeface="Calibri"/>
                        </a:rPr>
                        <a:t>posterior repasse à</a:t>
                      </a:r>
                    </a:p>
                    <a:p>
                      <a:pPr algn="l">
                        <a:lnSpc>
                          <a:spcPct val="100000"/>
                        </a:lnSpc>
                        <a:spcBef>
                          <a:spcPts val="0"/>
                        </a:spcBef>
                        <a:spcAft>
                          <a:spcPts val="0"/>
                        </a:spcAft>
                      </a:pPr>
                      <a:r>
                        <a:rPr sz="1300" b="0">
                          <a:solidFill>
                            <a:srgbClr val="1F1F1F"/>
                          </a:solidFill>
                          <a:latin typeface="Calibri"/>
                        </a:rPr>
                        <a:t>Classe.</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7.2 As amortizações de</a:t>
                      </a:r>
                    </a:p>
                    <a:p>
                      <a:pPr algn="l">
                        <a:lnSpc>
                          <a:spcPct val="100000"/>
                        </a:lnSpc>
                        <a:spcBef>
                          <a:spcPts val="0"/>
                        </a:spcBef>
                        <a:spcAft>
                          <a:spcPts val="0"/>
                        </a:spcAft>
                      </a:pPr>
                      <a:r>
                        <a:rPr sz="1300" b="0">
                          <a:solidFill>
                            <a:srgbClr val="1F1F1F"/>
                          </a:solidFill>
                          <a:latin typeface="Calibri"/>
                        </a:rPr>
                        <a:t>Cotas serão realizadas</a:t>
                      </a:r>
                    </a:p>
                    <a:p>
                      <a:pPr algn="l">
                        <a:lnSpc>
                          <a:spcPct val="100000"/>
                        </a:lnSpc>
                        <a:spcBef>
                          <a:spcPts val="0"/>
                        </a:spcBef>
                        <a:spcAft>
                          <a:spcPts val="0"/>
                        </a:spcAft>
                      </a:pPr>
                      <a:r>
                        <a:rPr sz="1300" b="0">
                          <a:solidFill>
                            <a:srgbClr val="1F1F1F"/>
                          </a:solidFill>
                          <a:latin typeface="Calibri"/>
                        </a:rPr>
                        <a:t>a qualquer tempo, a</a:t>
                      </a:r>
                    </a:p>
                    <a:p>
                      <a:pPr algn="l">
                        <a:lnSpc>
                          <a:spcPct val="100000"/>
                        </a:lnSpc>
                        <a:spcBef>
                          <a:spcPts val="0"/>
                        </a:spcBef>
                        <a:spcAft>
                          <a:spcPts val="0"/>
                        </a:spcAft>
                      </a:pPr>
                      <a:r>
                        <a:rPr sz="1300" b="0">
                          <a:solidFill>
                            <a:srgbClr val="1F1F1F"/>
                          </a:solidFill>
                          <a:latin typeface="Calibri"/>
                        </a:rPr>
                        <a:t>critério do GESTOR,</a:t>
                      </a:r>
                    </a:p>
                    <a:p>
                      <a:pPr algn="l">
                        <a:lnSpc>
                          <a:spcPct val="100000"/>
                        </a:lnSpc>
                        <a:spcBef>
                          <a:spcPts val="0"/>
                        </a:spcBef>
                        <a:spcAft>
                          <a:spcPts val="0"/>
                        </a:spcAft>
                      </a:pPr>
                      <a:r>
                        <a:rPr sz="1300" b="0">
                          <a:solidFill>
                            <a:srgbClr val="1F1F1F"/>
                          </a:solidFill>
                          <a:latin typeface="Calibri"/>
                        </a:rPr>
                        <a:t>observada a</a:t>
                      </a:r>
                    </a:p>
                    <a:p>
                      <a:pPr algn="l">
                        <a:lnSpc>
                          <a:spcPct val="100000"/>
                        </a:lnSpc>
                        <a:spcBef>
                          <a:spcPts val="0"/>
                        </a:spcBef>
                        <a:spcAft>
                          <a:spcPts val="0"/>
                        </a:spcAft>
                      </a:pPr>
                      <a:r>
                        <a:rPr sz="1300" b="0">
                          <a:solidFill>
                            <a:srgbClr val="1F1F1F"/>
                          </a:solidFill>
                          <a:latin typeface="Calibri"/>
                        </a:rPr>
                        <a:t>disponibilidade de</a:t>
                      </a:r>
                    </a:p>
                    <a:p>
                      <a:pPr algn="l">
                        <a:lnSpc>
                          <a:spcPct val="100000"/>
                        </a:lnSpc>
                        <a:spcBef>
                          <a:spcPts val="0"/>
                        </a:spcBef>
                        <a:spcAft>
                          <a:spcPts val="0"/>
                        </a:spcAft>
                      </a:pPr>
                      <a:r>
                        <a:rPr sz="1300" b="0">
                          <a:solidFill>
                            <a:srgbClr val="1F1F1F"/>
                          </a:solidFill>
                          <a:latin typeface="Calibri"/>
                        </a:rPr>
                        <a:t>recursos da Classe</a:t>
                      </a:r>
                    </a:p>
                    <a:p>
                      <a:pPr algn="l">
                        <a:lnSpc>
                          <a:spcPct val="100000"/>
                        </a:lnSpc>
                        <a:spcBef>
                          <a:spcPts val="0"/>
                        </a:spcBef>
                        <a:spcAft>
                          <a:spcPts val="0"/>
                        </a:spcAft>
                      </a:pPr>
                      <a:r>
                        <a:rPr sz="1300" b="0">
                          <a:solidFill>
                            <a:srgbClr val="1F1F1F"/>
                          </a:solidFill>
                          <a:latin typeface="Calibri"/>
                        </a:rPr>
                        <a:t>Única e a ordem de</a:t>
                      </a:r>
                    </a:p>
                    <a:p>
                      <a:pPr algn="l">
                        <a:lnSpc>
                          <a:spcPct val="100000"/>
                        </a:lnSpc>
                        <a:spcBef>
                          <a:spcPts val="0"/>
                        </a:spcBef>
                        <a:spcAft>
                          <a:spcPts val="0"/>
                        </a:spcAft>
                      </a:pPr>
                      <a:r>
                        <a:rPr sz="1300" b="0">
                          <a:solidFill>
                            <a:srgbClr val="1F1F1F"/>
                          </a:solidFill>
                          <a:latin typeface="Calibri"/>
                        </a:rPr>
                        <a:t>alocação de recursos</a:t>
                      </a:r>
                    </a:p>
                    <a:p>
                      <a:pPr algn="l">
                        <a:lnSpc>
                          <a:spcPct val="100000"/>
                        </a:lnSpc>
                        <a:spcBef>
                          <a:spcPts val="0"/>
                        </a:spcBef>
                        <a:spcAft>
                          <a:spcPts val="0"/>
                        </a:spcAft>
                      </a:pPr>
                      <a:r>
                        <a:rPr sz="1300" b="0">
                          <a:solidFill>
                            <a:srgbClr val="1F1F1F"/>
                          </a:solidFill>
                          <a:latin typeface="Calibri"/>
                        </a:rPr>
                        <a:t>prevista neste Anexo</a:t>
                      </a:r>
                    </a:p>
                    <a:p>
                      <a:pPr algn="l">
                        <a:lnSpc>
                          <a:spcPct val="100000"/>
                        </a:lnSpc>
                        <a:spcBef>
                          <a:spcPts val="0"/>
                        </a:spcBef>
                        <a:spcAft>
                          <a:spcPts val="0"/>
                        </a:spcAft>
                      </a:pPr>
                      <a:r>
                        <a:rPr sz="1300" b="0">
                          <a:solidFill>
                            <a:srgbClr val="1F1F1F"/>
                          </a:solidFill>
                          <a:latin typeface="Calibri"/>
                        </a:rPr>
                        <a:t>Descritivo.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Anexo I ao Regulamento</a:t>
                      </a:r>
                    </a:p>
                    <a:p>
                      <a:pPr algn="l">
                        <a:lnSpc>
                          <a:spcPct val="100000"/>
                        </a:lnSpc>
                        <a:spcBef>
                          <a:spcPts val="0"/>
                        </a:spcBef>
                        <a:spcAft>
                          <a:spcPts val="0"/>
                        </a:spcAft>
                      </a:pPr>
                      <a:r>
                        <a:rPr sz="1300" b="0">
                          <a:solidFill>
                            <a:srgbClr val="1F1F1F"/>
                          </a:solidFill>
                          <a:latin typeface="Calibri"/>
                        </a:rPr>
                        <a:t>CLASSE ÚNICA DO MT I</a:t>
                      </a:r>
                    </a:p>
                    <a:p>
                      <a:pPr algn="l">
                        <a:lnSpc>
                          <a:spcPct val="100000"/>
                        </a:lnSpc>
                        <a:spcBef>
                          <a:spcPts val="0"/>
                        </a:spcBef>
                        <a:spcAft>
                          <a:spcPts val="0"/>
                        </a:spcAft>
                      </a:pPr>
                      <a:r>
                        <a:rPr sz="1300" b="0">
                          <a:solidFill>
                            <a:srgbClr val="1F1F1F"/>
                          </a:solidFill>
                          <a:latin typeface="Calibri"/>
                        </a:rPr>
                        <a:t>CONSIGNADO PRIVADO I</a:t>
                      </a:r>
                    </a:p>
                    <a:p>
                      <a:pPr algn="l">
                        <a:lnSpc>
                          <a:spcPct val="100000"/>
                        </a:lnSpc>
                        <a:spcBef>
                          <a:spcPts val="0"/>
                        </a:spcBef>
                        <a:spcAft>
                          <a:spcPts val="0"/>
                        </a:spcAft>
                      </a:pPr>
                      <a:r>
                        <a:rPr sz="1300" b="0">
                          <a:solidFill>
                            <a:srgbClr val="1F1F1F"/>
                          </a:solidFill>
                          <a:latin typeface="Calibri"/>
                        </a:rPr>
                        <a:t>FUNDO DE INVESTIMENTO</a:t>
                      </a:r>
                    </a:p>
                    <a:p>
                      <a:pPr algn="l">
                        <a:lnSpc>
                          <a:spcPct val="100000"/>
                        </a:lnSpc>
                        <a:spcBef>
                          <a:spcPts val="0"/>
                        </a:spcBef>
                        <a:spcAft>
                          <a:spcPts val="0"/>
                        </a:spcAft>
                      </a:pPr>
                      <a:r>
                        <a:rPr sz="1300" b="0">
                          <a:solidFill>
                            <a:srgbClr val="1F1F1F"/>
                          </a:solidFill>
                          <a:latin typeface="Calibri"/>
                        </a:rPr>
                        <a:t>EM DIREITOS CREDITÓRIOS</a:t>
                      </a:r>
                    </a:p>
                    <a:p>
                      <a:pPr algn="l">
                        <a:lnSpc>
                          <a:spcPct val="100000"/>
                        </a:lnSpc>
                        <a:spcBef>
                          <a:spcPts val="0"/>
                        </a:spcBef>
                        <a:spcAft>
                          <a:spcPts val="0"/>
                        </a:spcAft>
                      </a:pPr>
                      <a:r>
                        <a:rPr sz="1300" b="0">
                          <a:solidFill>
                            <a:srgbClr val="1F1F1F"/>
                          </a:solidFill>
                          <a:latin typeface="Calibri"/>
                        </a:rPr>
                        <a:t>RESPONSABILIDADE</a:t>
                      </a:r>
                    </a:p>
                    <a:p>
                      <a:pPr algn="l">
                        <a:lnSpc>
                          <a:spcPct val="100000"/>
                        </a:lnSpc>
                        <a:spcBef>
                          <a:spcPts val="0"/>
                        </a:spcBef>
                        <a:spcAft>
                          <a:spcPts val="0"/>
                        </a:spcAft>
                      </a:pPr>
                      <a:r>
                        <a:rPr sz="1300" b="0">
                          <a:solidFill>
                            <a:srgbClr val="1F1F1F"/>
                          </a:solidFill>
                          <a:latin typeface="Calibri"/>
                        </a:rPr>
                        <a:t>LIMITADA (ii) o saldo</a:t>
                      </a:r>
                    </a:p>
                    <a:p>
                      <a:pPr algn="l">
                        <a:lnSpc>
                          <a:spcPct val="100000"/>
                        </a:lnSpc>
                        <a:spcBef>
                          <a:spcPts val="0"/>
                        </a:spcBef>
                        <a:spcAft>
                          <a:spcPts val="0"/>
                        </a:spcAft>
                      </a:pPr>
                      <a:r>
                        <a:rPr sz="1300" b="0">
                          <a:solidFill>
                            <a:srgbClr val="1F1F1F"/>
                          </a:solidFill>
                          <a:latin typeface="Calibri"/>
                        </a:rPr>
                        <a:t>dos Direitos</a:t>
                      </a:r>
                    </a:p>
                    <a:p>
                      <a:pPr algn="l">
                        <a:lnSpc>
                          <a:spcPct val="100000"/>
                        </a:lnSpc>
                        <a:spcBef>
                          <a:spcPts val="0"/>
                        </a:spcBef>
                        <a:spcAft>
                          <a:spcPts val="0"/>
                        </a:spcAft>
                      </a:pPr>
                      <a:r>
                        <a:rPr sz="1300" b="0">
                          <a:solidFill>
                            <a:srgbClr val="1F1F1F"/>
                          </a:solidFill>
                          <a:latin typeface="Calibri"/>
                        </a:rPr>
                        <a:t>Creditórios devidos</a:t>
                      </a:r>
                    </a:p>
                    <a:p>
                      <a:pPr algn="l">
                        <a:lnSpc>
                          <a:spcPct val="100000"/>
                        </a:lnSpc>
                        <a:spcBef>
                          <a:spcPts val="0"/>
                        </a:spcBef>
                        <a:spcAft>
                          <a:spcPts val="0"/>
                        </a:spcAft>
                      </a:pPr>
                      <a:r>
                        <a:rPr sz="1300" b="0">
                          <a:solidFill>
                            <a:srgbClr val="1F1F1F"/>
                          </a:solidFill>
                          <a:latin typeface="Calibri"/>
                        </a:rPr>
                        <a:t>pelo mesmo Devedor à</a:t>
                      </a:r>
                    </a:p>
                    <a:p>
                      <a:pPr algn="l">
                        <a:lnSpc>
                          <a:spcPct val="100000"/>
                        </a:lnSpc>
                        <a:spcBef>
                          <a:spcPts val="0"/>
                        </a:spcBef>
                        <a:spcAft>
                          <a:spcPts val="0"/>
                        </a:spcAft>
                      </a:pPr>
                      <a:r>
                        <a:rPr sz="1300" b="0">
                          <a:solidFill>
                            <a:srgbClr val="1F1F1F"/>
                          </a:solidFill>
                          <a:latin typeface="Calibri"/>
                        </a:rPr>
                        <a:t>Classe, considerando,</a:t>
                      </a:r>
                    </a:p>
                    <a:p>
                      <a:pPr algn="l">
                        <a:lnSpc>
                          <a:spcPct val="100000"/>
                        </a:lnSpc>
                        <a:spcBef>
                          <a:spcPts val="0"/>
                        </a:spcBef>
                        <a:spcAft>
                          <a:spcPts val="0"/>
                        </a:spcAft>
                      </a:pPr>
                      <a:r>
                        <a:rPr sz="1300" b="0">
                          <a:solidFill>
                            <a:srgbClr val="1F1F1F"/>
                          </a:solidFill>
                          <a:latin typeface="Calibri"/>
                        </a:rPr>
                        <a:t>pro forma, o endosso</a:t>
                      </a:r>
                    </a:p>
                    <a:p>
                      <a:pPr algn="l">
                        <a:lnSpc>
                          <a:spcPct val="100000"/>
                        </a:lnSpc>
                        <a:spcBef>
                          <a:spcPts val="0"/>
                        </a:spcBef>
                        <a:spcAft>
                          <a:spcPts val="0"/>
                        </a:spcAft>
                      </a:pPr>
                      <a:r>
                        <a:rPr sz="1300" b="0">
                          <a:solidFill>
                            <a:srgbClr val="1F1F1F"/>
                          </a:solidFill>
                          <a:latin typeface="Calibri"/>
                        </a:rPr>
                        <a:t>pretendido, não deverá</a:t>
                      </a:r>
                    </a:p>
                    <a:p>
                      <a:pPr algn="l">
                        <a:lnSpc>
                          <a:spcPct val="100000"/>
                        </a:lnSpc>
                        <a:spcBef>
                          <a:spcPts val="0"/>
                        </a:spcBef>
                        <a:spcAft>
                          <a:spcPts val="0"/>
                        </a:spcAft>
                      </a:pPr>
                      <a:r>
                        <a:rPr sz="1300" b="0">
                          <a:solidFill>
                            <a:srgbClr val="1F1F1F"/>
                          </a:solidFill>
                          <a:latin typeface="Calibri"/>
                        </a:rPr>
                        <a:t>exceder R$ 100.000,00</a:t>
                      </a:r>
                    </a:p>
                    <a:p>
                      <a:pPr algn="l">
                        <a:lnSpc>
                          <a:spcPct val="100000"/>
                        </a:lnSpc>
                        <a:spcBef>
                          <a:spcPts val="0"/>
                        </a:spcBef>
                        <a:spcAft>
                          <a:spcPts val="0"/>
                        </a:spcAft>
                      </a:pPr>
                      <a:r>
                        <a:rPr sz="1300" b="0">
                          <a:solidFill>
                            <a:srgbClr val="1F1F1F"/>
                          </a:solidFill>
                          <a:latin typeface="Calibri"/>
                        </a:rPr>
                        <a:t>(cem mil reais),</a:t>
                      </a:r>
                    </a:p>
                    <a:p>
                      <a:pPr algn="l">
                        <a:lnSpc>
                          <a:spcPct val="100000"/>
                        </a:lnSpc>
                        <a:spcBef>
                          <a:spcPts val="0"/>
                        </a:spcBef>
                        <a:spcAft>
                          <a:spcPts val="0"/>
                        </a:spcAft>
                      </a:pPr>
                      <a:r>
                        <a:rPr sz="1300" b="0">
                          <a:solidFill>
                            <a:srgbClr val="1F1F1F"/>
                          </a:solidFill>
                          <a:latin typeface="Calibri"/>
                        </a:rPr>
                        <a:t>observado o disposto no</a:t>
                      </a:r>
                    </a:p>
                    <a:p>
                      <a:pPr algn="l">
                        <a:lnSpc>
                          <a:spcPct val="100000"/>
                        </a:lnSpc>
                        <a:spcBef>
                          <a:spcPts val="0"/>
                        </a:spcBef>
                        <a:spcAft>
                          <a:spcPts val="0"/>
                        </a:spcAft>
                      </a:pPr>
                      <a:r>
                        <a:rPr sz="1300" b="0">
                          <a:solidFill>
                            <a:srgbClr val="1F1F1F"/>
                          </a:solidFill>
                          <a:latin typeface="Calibri"/>
                        </a:rPr>
                        <a:t>item 4.4.1 abaixo;.</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Anexo I ao Regulamento</a:t>
                      </a:r>
                    </a:p>
                    <a:p>
                      <a:pPr algn="l">
                        <a:lnSpc>
                          <a:spcPct val="100000"/>
                        </a:lnSpc>
                        <a:spcBef>
                          <a:spcPts val="0"/>
                        </a:spcBef>
                        <a:spcAft>
                          <a:spcPts val="0"/>
                        </a:spcAft>
                      </a:pPr>
                      <a:r>
                        <a:rPr sz="1300" b="0">
                          <a:solidFill>
                            <a:srgbClr val="1F1F1F"/>
                          </a:solidFill>
                          <a:latin typeface="Calibri"/>
                        </a:rPr>
                        <a:t>CLASSE ÚNICA DO MT I</a:t>
                      </a:r>
                    </a:p>
                    <a:p>
                      <a:pPr algn="l">
                        <a:lnSpc>
                          <a:spcPct val="100000"/>
                        </a:lnSpc>
                        <a:spcBef>
                          <a:spcPts val="0"/>
                        </a:spcBef>
                        <a:spcAft>
                          <a:spcPts val="0"/>
                        </a:spcAft>
                      </a:pPr>
                      <a:r>
                        <a:rPr sz="1300" b="0">
                          <a:solidFill>
                            <a:srgbClr val="1F1F1F"/>
                          </a:solidFill>
                          <a:latin typeface="Calibri"/>
                        </a:rPr>
                        <a:t>CONSIGNADO PRIVADO I</a:t>
                      </a:r>
                    </a:p>
                    <a:p>
                      <a:pPr algn="l">
                        <a:lnSpc>
                          <a:spcPct val="100000"/>
                        </a:lnSpc>
                        <a:spcBef>
                          <a:spcPts val="0"/>
                        </a:spcBef>
                        <a:spcAft>
                          <a:spcPts val="0"/>
                        </a:spcAft>
                      </a:pPr>
                      <a:r>
                        <a:rPr sz="1300" b="0">
                          <a:solidFill>
                            <a:srgbClr val="1F1F1F"/>
                          </a:solidFill>
                          <a:latin typeface="Calibri"/>
                        </a:rPr>
                        <a:t>FUNDO DE INVESTIMENTO</a:t>
                      </a:r>
                    </a:p>
                    <a:p>
                      <a:pPr algn="l">
                        <a:lnSpc>
                          <a:spcPct val="100000"/>
                        </a:lnSpc>
                        <a:spcBef>
                          <a:spcPts val="0"/>
                        </a:spcBef>
                        <a:spcAft>
                          <a:spcPts val="0"/>
                        </a:spcAft>
                      </a:pPr>
                      <a:r>
                        <a:rPr sz="1300" b="0">
                          <a:solidFill>
                            <a:srgbClr val="1F1F1F"/>
                          </a:solidFill>
                          <a:latin typeface="Calibri"/>
                        </a:rPr>
                        <a:t>EM DIREITOS CREDITÓRIOS</a:t>
                      </a:r>
                    </a:p>
                    <a:p>
                      <a:pPr algn="l">
                        <a:lnSpc>
                          <a:spcPct val="100000"/>
                        </a:lnSpc>
                        <a:spcBef>
                          <a:spcPts val="0"/>
                        </a:spcBef>
                        <a:spcAft>
                          <a:spcPts val="0"/>
                        </a:spcAft>
                      </a:pPr>
                      <a:r>
                        <a:rPr sz="1300" b="0">
                          <a:solidFill>
                            <a:srgbClr val="1F1F1F"/>
                          </a:solidFill>
                          <a:latin typeface="Calibri"/>
                        </a:rPr>
                        <a:t>RESPONSABILIDADE</a:t>
                      </a:r>
                    </a:p>
                    <a:p>
                      <a:pPr algn="l">
                        <a:lnSpc>
                          <a:spcPct val="100000"/>
                        </a:lnSpc>
                        <a:spcBef>
                          <a:spcPts val="0"/>
                        </a:spcBef>
                        <a:spcAft>
                          <a:spcPts val="0"/>
                        </a:spcAft>
                      </a:pPr>
                      <a:r>
                        <a:rPr sz="1300" b="0">
                          <a:solidFill>
                            <a:srgbClr val="1F1F1F"/>
                          </a:solidFill>
                          <a:latin typeface="Calibri"/>
                        </a:rPr>
                        <a:t>LIMITADA com a transf</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Parte Geral e Anexo</a:t>
                      </a:r>
                    </a:p>
                    <a:p>
                      <a:pPr algn="l">
                        <a:lnSpc>
                          <a:spcPct val="100000"/>
                        </a:lnSpc>
                        <a:spcBef>
                          <a:spcPts val="0"/>
                        </a:spcBef>
                        <a:spcAft>
                          <a:spcPts val="0"/>
                        </a:spcAft>
                      </a:pPr>
                      <a:r>
                        <a:rPr sz="1300" b="0">
                          <a:solidFill>
                            <a:srgbClr val="1F1F1F"/>
                          </a:solidFill>
                          <a:latin typeface="Calibri"/>
                        </a:rPr>
                        <a:t>limitam</a:t>
                      </a:r>
                    </a:p>
                    <a:p>
                      <a:pPr algn="l">
                        <a:lnSpc>
                          <a:spcPct val="100000"/>
                        </a:lnSpc>
                        <a:spcBef>
                          <a:spcPts val="0"/>
                        </a:spcBef>
                        <a:spcAft>
                          <a:spcPts val="0"/>
                        </a:spcAft>
                      </a:pPr>
                      <a:r>
                        <a:rPr sz="1300" b="0">
                          <a:solidFill>
                            <a:srgbClr val="1F1F1F"/>
                          </a:solidFill>
                          <a:latin typeface="Calibri"/>
                        </a:rPr>
                        <a:t>responsabilidade ao</a:t>
                      </a:r>
                    </a:p>
                    <a:p>
                      <a:pPr algn="l">
                        <a:lnSpc>
                          <a:spcPct val="100000"/>
                        </a:lnSpc>
                        <a:spcBef>
                          <a:spcPts val="0"/>
                        </a:spcBef>
                        <a:spcAft>
                          <a:spcPts val="0"/>
                        </a:spcAft>
                      </a:pPr>
                      <a:r>
                        <a:rPr sz="1300" b="0">
                          <a:solidFill>
                            <a:srgbClr val="1F1F1F"/>
                          </a:solidFill>
                          <a:latin typeface="Calibri"/>
                        </a:rPr>
                        <a:t>valor subscrito. Anexo</a:t>
                      </a:r>
                    </a:p>
                    <a:p>
                      <a:pPr algn="l">
                        <a:lnSpc>
                          <a:spcPct val="100000"/>
                        </a:lnSpc>
                        <a:spcBef>
                          <a:spcPts val="0"/>
                        </a:spcBef>
                        <a:spcAft>
                          <a:spcPts val="0"/>
                        </a:spcAft>
                      </a:pPr>
                      <a:r>
                        <a:rPr sz="1300" b="0">
                          <a:solidFill>
                            <a:srgbClr val="1F1F1F"/>
                          </a:solidFill>
                          <a:latin typeface="Calibri"/>
                        </a:rPr>
                        <a:t>I 8.8.1, contudo,</a:t>
                      </a:r>
                    </a:p>
                    <a:p>
                      <a:pPr algn="l">
                        <a:lnSpc>
                          <a:spcPct val="100000"/>
                        </a:lnSpc>
                        <a:spcBef>
                          <a:spcPts val="0"/>
                        </a:spcBef>
                        <a:spcAft>
                          <a:spcPts val="0"/>
                        </a:spcAft>
                      </a:pPr>
                      <a:r>
                        <a:rPr sz="1300" b="0">
                          <a:solidFill>
                            <a:srgbClr val="1F1F1F"/>
                          </a:solidFill>
                          <a:latin typeface="Calibri"/>
                        </a:rPr>
                        <a:t>permite chamadas para</a:t>
                      </a:r>
                    </a:p>
                    <a:p>
                      <a:pPr algn="l">
                        <a:lnSpc>
                          <a:spcPct val="100000"/>
                        </a:lnSpc>
                        <a:spcBef>
                          <a:spcPts val="0"/>
                        </a:spcBef>
                        <a:spcAft>
                          <a:spcPts val="0"/>
                        </a:spcAft>
                      </a:pPr>
                      <a:r>
                        <a:rPr sz="1300" b="0">
                          <a:solidFill>
                            <a:srgbClr val="1F1F1F"/>
                          </a:solidFill>
                          <a:latin typeface="Calibri"/>
                        </a:rPr>
                        <a:t>despesas/encargos acima</a:t>
                      </a:r>
                    </a:p>
                    <a:p>
                      <a:pPr algn="l">
                        <a:lnSpc>
                          <a:spcPct val="100000"/>
                        </a:lnSpc>
                        <a:spcBef>
                          <a:spcPts val="0"/>
                        </a:spcBef>
                        <a:spcAft>
                          <a:spcPts val="0"/>
                        </a:spcAft>
                      </a:pPr>
                      <a:r>
                        <a:rPr sz="1300" b="0">
                          <a:solidFill>
                            <a:srgbClr val="1F1F1F"/>
                          </a:solidFill>
                          <a:latin typeface="Calibri"/>
                        </a:rPr>
                        <a:t>do capital subscrito;</a:t>
                      </a:r>
                    </a:p>
                    <a:p>
                      <a:pPr algn="l">
                        <a:lnSpc>
                          <a:spcPct val="100000"/>
                        </a:lnSpc>
                        <a:spcBef>
                          <a:spcPts val="0"/>
                        </a:spcBef>
                        <a:spcAft>
                          <a:spcPts val="0"/>
                        </a:spcAft>
                      </a:pPr>
                      <a:r>
                        <a:rPr sz="1300" b="0">
                          <a:solidFill>
                            <a:srgbClr val="1F1F1F"/>
                          </a:solidFill>
                          <a:latin typeface="Calibri"/>
                        </a:rPr>
                        <a:t>investimentos</a:t>
                      </a:r>
                    </a:p>
                    <a:p>
                      <a:pPr algn="l">
                        <a:lnSpc>
                          <a:spcPct val="100000"/>
                        </a:lnSpc>
                        <a:spcBef>
                          <a:spcPts val="0"/>
                        </a:spcBef>
                        <a:spcAft>
                          <a:spcPts val="0"/>
                        </a:spcAft>
                      </a:pPr>
                      <a:r>
                        <a:rPr sz="1300" b="0">
                          <a:solidFill>
                            <a:srgbClr val="1F1F1F"/>
                          </a:solidFill>
                          <a:latin typeface="Calibri"/>
                        </a:rPr>
                        <a:t>permanecem limitados.</a:t>
                      </a:r>
                    </a:p>
                    <a:p>
                      <a:pPr algn="l">
                        <a:lnSpc>
                          <a:spcPct val="100000"/>
                        </a:lnSpc>
                        <a:spcBef>
                          <a:spcPts val="0"/>
                        </a:spcBef>
                        <a:spcAft>
                          <a:spcPts val="0"/>
                        </a:spcAft>
                      </a:pPr>
                      <a:r>
                        <a:rPr sz="1300" b="0">
                          <a:solidFill>
                            <a:srgbClr val="1F1F1F"/>
                          </a:solidFill>
                          <a:latin typeface="Calibri"/>
                        </a:rPr>
                        <a:t>Há três subclasses</a:t>
                      </a:r>
                    </a:p>
                    <a:p>
                      <a:pPr algn="l">
                        <a:lnSpc>
                          <a:spcPct val="100000"/>
                        </a:lnSpc>
                        <a:spcBef>
                          <a:spcPts val="0"/>
                        </a:spcBef>
                        <a:spcAft>
                          <a:spcPts val="0"/>
                        </a:spcAft>
                      </a:pPr>
                      <a:r>
                        <a:rPr sz="1300" b="0">
                          <a:solidFill>
                            <a:srgbClr val="1F1F1F"/>
                          </a:solidFill>
                          <a:latin typeface="Calibri"/>
                        </a:rPr>
                        <a:t>autorizadas: sênior,</a:t>
                      </a:r>
                    </a:p>
                    <a:p>
                      <a:pPr algn="l">
                        <a:lnSpc>
                          <a:spcPct val="100000"/>
                        </a:lnSpc>
                        <a:spcBef>
                          <a:spcPts val="0"/>
                        </a:spcBef>
                        <a:spcAft>
                          <a:spcPts val="0"/>
                        </a:spcAft>
                      </a:pPr>
                      <a:r>
                        <a:rPr sz="1300" b="0">
                          <a:solidFill>
                            <a:srgbClr val="1F1F1F"/>
                          </a:solidFill>
                          <a:latin typeface="Calibri"/>
                        </a:rPr>
                        <a:t>mezanino e júnior.;</a:t>
                      </a:r>
                    </a:p>
                    <a:p>
                      <a:pPr algn="l">
                        <a:lnSpc>
                          <a:spcPct val="100000"/>
                        </a:lnSpc>
                        <a:spcBef>
                          <a:spcPts val="0"/>
                        </a:spcBef>
                        <a:spcAft>
                          <a:spcPts val="0"/>
                        </a:spcAft>
                      </a:pPr>
                      <a:r>
                        <a:rPr sz="1300" b="0">
                          <a:solidFill>
                            <a:srgbClr val="1F1F1F"/>
                          </a:solidFill>
                          <a:latin typeface="Calibri"/>
                        </a:rPr>
                        <a:t>Conflito entre versões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1.2 Este regulamento é</a:t>
                      </a:r>
                    </a:p>
                    <a:p>
                      <a:pPr algn="l">
                        <a:lnSpc>
                          <a:spcPct val="100000"/>
                        </a:lnSpc>
                        <a:spcBef>
                          <a:spcPts val="0"/>
                        </a:spcBef>
                        <a:spcAft>
                          <a:spcPts val="0"/>
                        </a:spcAft>
                      </a:pPr>
                      <a:r>
                        <a:rPr sz="1300" b="0">
                          <a:solidFill>
                            <a:srgbClr val="1F1F1F"/>
                          </a:solidFill>
                          <a:latin typeface="Calibri"/>
                        </a:rPr>
                        <a:t>composto por esta parte</a:t>
                      </a:r>
                    </a:p>
                    <a:p>
                      <a:pPr algn="l">
                        <a:lnSpc>
                          <a:spcPct val="100000"/>
                        </a:lnSpc>
                        <a:spcBef>
                          <a:spcPts val="0"/>
                        </a:spcBef>
                        <a:spcAft>
                          <a:spcPts val="0"/>
                        </a:spcAft>
                      </a:pPr>
                      <a:r>
                        <a:rPr sz="1300" b="0">
                          <a:solidFill>
                            <a:srgbClr val="1F1F1F"/>
                          </a:solidFill>
                          <a:latin typeface="Calibri"/>
                        </a:rPr>
                        <a:t>geral, um ou mais</a:t>
                      </a:r>
                    </a:p>
                    <a:p>
                      <a:pPr algn="l">
                        <a:lnSpc>
                          <a:spcPct val="100000"/>
                        </a:lnSpc>
                        <a:spcBef>
                          <a:spcPts val="0"/>
                        </a:spcBef>
                        <a:spcAft>
                          <a:spcPts val="0"/>
                        </a:spcAft>
                      </a:pPr>
                      <a:r>
                        <a:rPr sz="1300" b="0">
                          <a:solidFill>
                            <a:srgbClr val="1F1F1F"/>
                          </a:solidFill>
                          <a:latin typeface="Calibri"/>
                        </a:rPr>
                        <a:t>anexos, conforme o</a:t>
                      </a:r>
                    </a:p>
                    <a:p>
                      <a:pPr algn="l">
                        <a:lnSpc>
                          <a:spcPct val="100000"/>
                        </a:lnSpc>
                        <a:spcBef>
                          <a:spcPts val="0"/>
                        </a:spcBef>
                        <a:spcAft>
                          <a:spcPts val="0"/>
                        </a:spcAft>
                      </a:pPr>
                      <a:r>
                        <a:rPr sz="1300" b="0">
                          <a:solidFill>
                            <a:srgbClr val="1F1F1F"/>
                          </a:solidFill>
                          <a:latin typeface="Calibri"/>
                        </a:rPr>
                        <a:t>número de classes aqui</a:t>
                      </a:r>
                    </a:p>
                    <a:p>
                      <a:pPr algn="l">
                        <a:lnSpc>
                          <a:spcPct val="100000"/>
                        </a:lnSpc>
                        <a:spcBef>
                          <a:spcPts val="0"/>
                        </a:spcBef>
                        <a:spcAft>
                          <a:spcPts val="0"/>
                        </a:spcAft>
                      </a:pPr>
                      <a:r>
                        <a:rPr sz="1300" b="0">
                          <a:solidFill>
                            <a:srgbClr val="1F1F1F"/>
                          </a:solidFill>
                          <a:latin typeface="Calibri"/>
                        </a:rPr>
                        <a:t>previsto e respectivos</a:t>
                      </a:r>
                    </a:p>
                    <a:p>
                      <a:pPr algn="l">
                        <a:lnSpc>
                          <a:spcPct val="100000"/>
                        </a:lnSpc>
                        <a:spcBef>
                          <a:spcPts val="0"/>
                        </a:spcBef>
                        <a:spcAft>
                          <a:spcPts val="0"/>
                        </a:spcAft>
                      </a:pPr>
                      <a:r>
                        <a:rPr sz="1300" b="0">
                          <a:solidFill>
                            <a:srgbClr val="1F1F1F"/>
                          </a:solidFill>
                          <a:latin typeface="Calibri"/>
                        </a:rPr>
                        <a:t>apêndices relativos a</a:t>
                      </a:r>
                    </a:p>
                    <a:p>
                      <a:pPr algn="l">
                        <a:lnSpc>
                          <a:spcPct val="100000"/>
                        </a:lnSpc>
                        <a:spcBef>
                          <a:spcPts val="0"/>
                        </a:spcBef>
                        <a:spcAft>
                          <a:spcPts val="0"/>
                        </a:spcAft>
                      </a:pPr>
                      <a:r>
                        <a:rPr sz="1300" b="0">
                          <a:solidFill>
                            <a:srgbClr val="1F1F1F"/>
                          </a:solidFill>
                          <a:latin typeface="Calibri"/>
                        </a:rPr>
                        <a:t>cada subclasse de</a:t>
                      </a:r>
                    </a:p>
                    <a:p>
                      <a:pPr algn="l">
                        <a:lnSpc>
                          <a:spcPct val="100000"/>
                        </a:lnSpc>
                        <a:spcBef>
                          <a:spcPts val="0"/>
                        </a:spcBef>
                        <a:spcAft>
                          <a:spcPts val="0"/>
                        </a:spcAft>
                      </a:pPr>
                      <a:r>
                        <a:rPr sz="1300" b="0">
                          <a:solidFill>
                            <a:srgbClr val="1F1F1F"/>
                          </a:solidFill>
                          <a:latin typeface="Calibri"/>
                        </a:rPr>
                        <a:t>cotas, conforme</a:t>
                      </a:r>
                    </a:p>
                    <a:p>
                      <a:pPr algn="l">
                        <a:lnSpc>
                          <a:spcPct val="100000"/>
                        </a:lnSpc>
                        <a:spcBef>
                          <a:spcPts val="0"/>
                        </a:spcBef>
                        <a:spcAft>
                          <a:spcPts val="0"/>
                        </a:spcAft>
                      </a:pPr>
                      <a:r>
                        <a:rPr sz="1300" b="0">
                          <a:solidFill>
                            <a:srgbClr val="1F1F1F"/>
                          </a:solidFill>
                          <a:latin typeface="Calibri"/>
                        </a:rPr>
                        <a:t>aplicável</a:t>
                      </a:r>
                    </a:p>
                    <a:p>
                      <a:pPr algn="l">
                        <a:lnSpc>
                          <a:spcPct val="100000"/>
                        </a:lnSpc>
                        <a:spcBef>
                          <a:spcPts val="0"/>
                        </a:spcBef>
                        <a:spcAft>
                          <a:spcPts val="0"/>
                        </a:spcAft>
                      </a:pPr>
                      <a:r>
                        <a:rPr sz="1300" b="0">
                          <a:solidFill>
                            <a:srgbClr val="1F1F1F"/>
                          </a:solidFill>
                          <a:latin typeface="Calibri"/>
                        </a:rPr>
                        <a:t>(respectivamente,</a:t>
                      </a:r>
                    </a:p>
                    <a:p>
                      <a:pPr algn="l">
                        <a:lnSpc>
                          <a:spcPct val="100000"/>
                        </a:lnSpc>
                        <a:spcBef>
                          <a:spcPts val="0"/>
                        </a:spcBef>
                        <a:spcAft>
                          <a:spcPts val="0"/>
                        </a:spcAft>
                      </a:pPr>
                      <a:r>
                        <a:rPr sz="1300" b="0">
                          <a:solidFill>
                            <a:srgbClr val="1F1F1F"/>
                          </a:solidFill>
                          <a:latin typeface="Calibri"/>
                        </a:rPr>
                        <a:t>“Regulamento”, “Parte</a:t>
                      </a:r>
                    </a:p>
                    <a:p>
                      <a:pPr algn="l">
                        <a:lnSpc>
                          <a:spcPct val="100000"/>
                        </a:lnSpc>
                        <a:spcBef>
                          <a:spcPts val="0"/>
                        </a:spcBef>
                        <a:spcAft>
                          <a:spcPts val="0"/>
                        </a:spcAft>
                      </a:pPr>
                      <a:r>
                        <a:rPr sz="1300" b="0">
                          <a:solidFill>
                            <a:srgbClr val="1F1F1F"/>
                          </a:solidFill>
                          <a:latin typeface="Calibri"/>
                        </a:rPr>
                        <a:t>Geral”, “Anexos” e</a:t>
                      </a:r>
                    </a:p>
                    <a:p>
                      <a:pPr algn="l">
                        <a:lnSpc>
                          <a:spcPct val="100000"/>
                        </a:lnSpc>
                        <a:spcBef>
                          <a:spcPts val="0"/>
                        </a:spcBef>
                        <a:spcAft>
                          <a:spcPts val="0"/>
                        </a:spcAft>
                      </a:pPr>
                      <a:r>
                        <a:rPr sz="1300" b="0">
                          <a:solidFill>
                            <a:srgbClr val="1F1F1F"/>
                          </a:solidFill>
                          <a:latin typeface="Calibri"/>
                        </a:rPr>
                        <a:t>“Apêndices”).</a:t>
                      </a:r>
                    </a:p>
                    <a:p>
                      <a:pPr algn="l">
                        <a:lnSpc>
                          <a:spcPct val="100000"/>
                        </a:lnSpc>
                        <a:spcBef>
                          <a:spcPts val="0"/>
                        </a:spcBef>
                        <a:spcAft>
                          <a:spcPts val="0"/>
                        </a:spcAft>
                      </a:pPr>
                      <a:r>
                        <a:rPr sz="1300" b="0">
                          <a:solidFill>
                            <a:srgbClr val="1F1F1F"/>
                          </a:solidFill>
                          <a:latin typeface="Calibri"/>
                        </a:rPr>
                        <a:t>Denominação da Classe</a:t>
                      </a:r>
                    </a:p>
                    <a:p>
                      <a:pPr algn="l">
                        <a:lnSpc>
                          <a:spcPct val="100000"/>
                        </a:lnSpc>
                        <a:spcBef>
                          <a:spcPts val="0"/>
                        </a:spcBef>
                        <a:spcAft>
                          <a:spcPts val="0"/>
                        </a:spcAft>
                      </a:pPr>
                      <a:r>
                        <a:rPr sz="1300" b="0">
                          <a:solidFill>
                            <a:srgbClr val="1F1F1F"/>
                          </a:solidFill>
                          <a:latin typeface="Calibri"/>
                        </a:rPr>
                        <a:t>Anexo CLASSE ÚNICA DE</a:t>
                      </a:r>
                    </a:p>
                    <a:p>
                      <a:pPr algn="l">
                        <a:lnSpc>
                          <a:spcPct val="100000"/>
                        </a:lnSpc>
                        <a:spcBef>
                          <a:spcPts val="0"/>
                        </a:spcBef>
                        <a:spcAft>
                          <a:spcPts val="0"/>
                        </a:spcAft>
                      </a:pPr>
                      <a:r>
                        <a:rPr sz="1300" b="0">
                          <a:solidFill>
                            <a:srgbClr val="1F1F1F"/>
                          </a:solidFill>
                          <a:latin typeface="Calibri"/>
                        </a:rPr>
                        <a:t>RESPONSABILIDADE</a:t>
                      </a:r>
                    </a:p>
                    <a:p>
                      <a:pPr algn="l">
                        <a:lnSpc>
                          <a:spcPct val="100000"/>
                        </a:lnSpc>
                        <a:spcBef>
                          <a:spcPts val="0"/>
                        </a:spcBef>
                        <a:spcAft>
                          <a:spcPts val="0"/>
                        </a:spcAft>
                      </a:pPr>
                      <a:r>
                        <a:rPr sz="1300" b="0">
                          <a:solidFill>
                            <a:srgbClr val="1F1F1F"/>
                          </a:solidFill>
                          <a:latin typeface="Calibri"/>
                        </a:rPr>
                        <a:t>LIMITADA DO PLGN</a:t>
                      </a:r>
                    </a:p>
                    <a:p>
                      <a:pPr algn="l">
                        <a:lnSpc>
                          <a:spcPct val="100000"/>
                        </a:lnSpc>
                        <a:spcBef>
                          <a:spcPts val="0"/>
                        </a:spcBef>
                        <a:spcAft>
                          <a:spcPts val="0"/>
                        </a:spcAft>
                      </a:pPr>
                      <a:r>
                        <a:rPr sz="1300" b="0">
                          <a:solidFill>
                            <a:srgbClr val="1F1F1F"/>
                          </a:solidFill>
                          <a:latin typeface="Calibri"/>
                        </a:rPr>
                        <a:t>MARKETPLACE FUNDO DE</a:t>
                      </a:r>
                    </a:p>
                    <a:p>
                      <a:pPr algn="l">
                        <a:lnSpc>
                          <a:spcPct val="100000"/>
                        </a:lnSpc>
                        <a:spcBef>
                          <a:spcPts val="0"/>
                        </a:spcBef>
                        <a:spcAft>
                          <a:spcPts val="0"/>
                        </a:spcAft>
                      </a:pPr>
                      <a:r>
                        <a:rPr sz="1300" b="0">
                          <a:solidFill>
                            <a:srgbClr val="1F1F1F"/>
                          </a:solidFill>
                          <a:latin typeface="Calibri"/>
                        </a:rPr>
                        <a:t>INVESTIMENTO EM Anexo</a:t>
                      </a:r>
                    </a:p>
                    <a:p>
                      <a:pPr algn="l">
                        <a:lnSpc>
                          <a:spcPct val="100000"/>
                        </a:lnSpc>
                        <a:spcBef>
                          <a:spcPts val="0"/>
                        </a:spcBef>
                        <a:spcAft>
                          <a:spcPts val="0"/>
                        </a:spcAft>
                      </a:pPr>
                      <a:r>
                        <a:rPr sz="1300" b="0">
                          <a:solidFill>
                            <a:srgbClr val="1F1F1F"/>
                          </a:solidFill>
                          <a:latin typeface="Calibri"/>
                        </a:rPr>
                        <a:t>Único (“Anexo”) COTAS</a:t>
                      </a:r>
                    </a:p>
                    <a:p>
                      <a:pPr algn="l">
                        <a:lnSpc>
                          <a:spcPct val="100000"/>
                        </a:lnSpc>
                        <a:spcBef>
                          <a:spcPts val="0"/>
                        </a:spcBef>
                        <a:spcAft>
                          <a:spcPts val="0"/>
                        </a:spcAft>
                      </a:pPr>
                      <a:r>
                        <a:rPr sz="1300" b="0">
                          <a:solidFill>
                            <a:srgbClr val="1F1F1F"/>
                          </a:solidFill>
                          <a:latin typeface="Calibri"/>
                        </a:rPr>
                        <a:t>DE FUNDO DE</a:t>
                      </a:r>
                    </a:p>
                    <a:p>
                      <a:pPr algn="l">
                        <a:lnSpc>
                          <a:spcPct val="100000"/>
                        </a:lnSpc>
                        <a:spcBef>
                          <a:spcPts val="0"/>
                        </a:spcBef>
                        <a:spcAft>
                          <a:spcPts val="0"/>
                        </a:spcAft>
                      </a:pPr>
                      <a:r>
                        <a:rPr sz="1300" b="0">
                          <a:solidFill>
                            <a:srgbClr val="1F1F1F"/>
                          </a:solidFill>
                          <a:latin typeface="Calibri"/>
                        </a:rPr>
                        <a:t>INVESTIMENTO EM</a:t>
                      </a:r>
                    </a:p>
                    <a:p>
                      <a:pPr algn="l">
                        <a:lnSpc>
                          <a:spcPct val="100000"/>
                        </a:lnSpc>
                        <a:spcBef>
                          <a:spcPts val="0"/>
                        </a:spcBef>
                        <a:spcAft>
                          <a:spcPts val="0"/>
                        </a:spcAft>
                      </a:pPr>
                      <a:r>
                        <a:rPr sz="1300" b="0">
                          <a:solidFill>
                            <a:srgbClr val="1F1F1F"/>
                          </a:solidFill>
                          <a:latin typeface="Calibri"/>
                        </a:rPr>
                        <a:t>DIREITOS CREDITÓRIOS</a:t>
                      </a:r>
                    </a:p>
                    <a:p>
                      <a:pPr algn="l">
                        <a:lnSpc>
                          <a:spcPct val="100000"/>
                        </a:lnSpc>
                        <a:spcBef>
                          <a:spcPts val="0"/>
                        </a:spcBef>
                        <a:spcAft>
                          <a:spcPts val="0"/>
                        </a:spcAft>
                      </a:pPr>
                      <a:r>
                        <a:rPr sz="1300" b="0">
                          <a:solidFill>
                            <a:srgbClr val="1F1F1F"/>
                          </a:solidFill>
                          <a:latin typeface="Calibri"/>
                        </a:rPr>
                        <a:t>(“Classe” ou “Classe</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19/160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Alocação e perímetro</a:t>
            </a:r>
          </a:p>
        </p:txBody>
      </p:sp>
      <p:graphicFrame>
        <p:nvGraphicFramePr>
          <p:cNvPr id="3" name="Table 2"/>
          <p:cNvGraphicFramePr>
            <a:graphicFrameLocks noGrp="1"/>
          </p:cNvGraphicFramePr>
          <p:nvPr/>
        </p:nvGraphicFramePr>
        <p:xfrm>
          <a:off x="438912" y="932688"/>
          <a:ext cx="11313868" cy="5253228"/>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4782312">
                <a:tc>
                  <a:txBody>
                    <a:bodyPr wrap="square">
                      <a:noAutofit/>
                    </a:bodyPr>
                    <a:lstStyle/>
                    <a:p>
                      <a:pPr algn="l">
                        <a:lnSpc>
                          <a:spcPct val="100000"/>
                        </a:lnSpc>
                        <a:spcBef>
                          <a:spcPts val="0"/>
                        </a:spcBef>
                        <a:spcAft>
                          <a:spcPts val="0"/>
                        </a:spcAft>
                      </a:pPr>
                      <a:r>
                        <a:rPr sz="1300" b="1">
                          <a:solidFill>
                            <a:srgbClr val="1F1F1F"/>
                          </a:solidFill>
                          <a:latin typeface="Calibri"/>
                        </a:rPr>
                        <a:t>Classe, subclasse e</a:t>
                      </a:r>
                    </a:p>
                    <a:p>
                      <a:pPr algn="l">
                        <a:lnSpc>
                          <a:spcPct val="100000"/>
                        </a:lnSpc>
                        <a:spcBef>
                          <a:spcPts val="0"/>
                        </a:spcBef>
                        <a:spcAft>
                          <a:spcPts val="0"/>
                        </a:spcAft>
                      </a:pPr>
                      <a:r>
                        <a:rPr sz="1300" b="1">
                          <a:solidFill>
                            <a:srgbClr val="1F1F1F"/>
                          </a:solidFill>
                          <a:latin typeface="Calibri"/>
                        </a:rPr>
                        <a:t>responsabilidade</a:t>
                      </a:r>
                    </a:p>
                    <a:p>
                      <a:pPr algn="l">
                        <a:lnSpc>
                          <a:spcPct val="100000"/>
                        </a:lnSpc>
                        <a:spcBef>
                          <a:spcPts val="0"/>
                        </a:spcBef>
                        <a:spcAft>
                          <a:spcPts val="0"/>
                        </a:spcAft>
                      </a:pPr>
                      <a:r>
                        <a:rPr sz="1300" b="1">
                          <a:solidFill>
                            <a:srgbClr val="1F1F1F"/>
                          </a:solidFill>
                          <a:latin typeface="Calibri"/>
                        </a:rPr>
                        <a:t>(continuação)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ATA DA ASSEMBLEIA</a:t>
                      </a:r>
                    </a:p>
                    <a:p>
                      <a:pPr algn="l">
                        <a:lnSpc>
                          <a:spcPct val="100000"/>
                        </a:lnSpc>
                        <a:spcBef>
                          <a:spcPts val="0"/>
                        </a:spcBef>
                        <a:spcAft>
                          <a:spcPts val="0"/>
                        </a:spcAft>
                      </a:pPr>
                      <a:r>
                        <a:rPr sz="1300" b="0">
                          <a:solidFill>
                            <a:srgbClr val="1F1F1F"/>
                          </a:solidFill>
                          <a:latin typeface="Calibri"/>
                        </a:rPr>
                        <a:t>ESPECIAL DE COTISTAS</a:t>
                      </a:r>
                    </a:p>
                    <a:p>
                      <a:pPr algn="l">
                        <a:lnSpc>
                          <a:spcPct val="100000"/>
                        </a:lnSpc>
                        <a:spcBef>
                          <a:spcPts val="0"/>
                        </a:spcBef>
                        <a:spcAft>
                          <a:spcPts val="0"/>
                        </a:spcAft>
                      </a:pPr>
                      <a:r>
                        <a:rPr sz="1300" b="0">
                          <a:solidFill>
                            <a:srgbClr val="1F1F1F"/>
                          </a:solidFill>
                          <a:latin typeface="Calibri"/>
                        </a:rPr>
                        <a:t>CLASSE ÚNICA DE</a:t>
                      </a:r>
                    </a:p>
                    <a:p>
                      <a:pPr algn="l">
                        <a:lnSpc>
                          <a:spcPct val="100000"/>
                        </a:lnSpc>
                        <a:spcBef>
                          <a:spcPts val="0"/>
                        </a:spcBef>
                        <a:spcAft>
                          <a:spcPts val="0"/>
                        </a:spcAft>
                      </a:pPr>
                      <a:r>
                        <a:rPr sz="1300" b="0">
                          <a:solidFill>
                            <a:srgbClr val="1F1F1F"/>
                          </a:solidFill>
                          <a:latin typeface="Calibri"/>
                        </a:rPr>
                        <a:t>RESPONSABILIDADE</a:t>
                      </a:r>
                    </a:p>
                    <a:p>
                      <a:pPr algn="l">
                        <a:lnSpc>
                          <a:spcPct val="100000"/>
                        </a:lnSpc>
                        <a:spcBef>
                          <a:spcPts val="0"/>
                        </a:spcBef>
                        <a:spcAft>
                          <a:spcPts val="0"/>
                        </a:spcAft>
                      </a:pPr>
                      <a:r>
                        <a:rPr sz="1300" b="0">
                          <a:solidFill>
                            <a:srgbClr val="1F1F1F"/>
                          </a:solidFill>
                          <a:latin typeface="Calibri"/>
                        </a:rPr>
                        <a:t>LIMITADA DO CONSIGNADO</a:t>
                      </a:r>
                    </a:p>
                    <a:p>
                      <a:pPr algn="l">
                        <a:lnSpc>
                          <a:spcPct val="100000"/>
                        </a:lnSpc>
                        <a:spcBef>
                          <a:spcPts val="0"/>
                        </a:spcBef>
                        <a:spcAft>
                          <a:spcPts val="0"/>
                        </a:spcAft>
                      </a:pPr>
                      <a:r>
                        <a:rPr sz="1300" b="0">
                          <a:solidFill>
                            <a:srgbClr val="1F1F1F"/>
                          </a:solidFill>
                          <a:latin typeface="Calibri"/>
                        </a:rPr>
                        <a:t>DELTA RECEIVABLES I</a:t>
                      </a:r>
                    </a:p>
                    <a:p>
                      <a:pPr algn="l">
                        <a:lnSpc>
                          <a:spcPct val="100000"/>
                        </a:lnSpc>
                        <a:spcBef>
                          <a:spcPts val="0"/>
                        </a:spcBef>
                        <a:spcAft>
                          <a:spcPts val="0"/>
                        </a:spcAft>
                      </a:pPr>
                      <a:r>
                        <a:rPr sz="1300" b="0">
                          <a:solidFill>
                            <a:srgbClr val="1F1F1F"/>
                          </a:solidFill>
                          <a:latin typeface="Calibri"/>
                        </a:rPr>
                        <a:t>FUNDO DE INVESTIMENTO</a:t>
                      </a:r>
                    </a:p>
                    <a:p>
                      <a:pPr algn="l">
                        <a:lnSpc>
                          <a:spcPct val="100000"/>
                        </a:lnSpc>
                        <a:spcBef>
                          <a:spcPts val="0"/>
                        </a:spcBef>
                        <a:spcAft>
                          <a:spcPts val="0"/>
                        </a:spcAft>
                      </a:pPr>
                      <a:r>
                        <a:rPr sz="1300" b="0">
                          <a:solidFill>
                            <a:srgbClr val="1F1F1F"/>
                          </a:solidFill>
                          <a:latin typeface="Calibri"/>
                        </a:rPr>
                        <a:t>EM DIREITOS CREDITÓRIOS</a:t>
                      </a:r>
                    </a:p>
                    <a:p>
                      <a:pPr algn="l">
                        <a:lnSpc>
                          <a:spcPct val="100000"/>
                        </a:lnSpc>
                        <a:spcBef>
                          <a:spcPts val="0"/>
                        </a:spcBef>
                        <a:spcAft>
                          <a:spcPts val="0"/>
                        </a:spcAft>
                      </a:pPr>
                      <a:r>
                        <a:rPr sz="1300" b="0">
                          <a:solidFill>
                            <a:srgbClr val="1F1F1F"/>
                          </a:solidFill>
                          <a:latin typeface="Calibri"/>
                        </a:rPr>
                        <a:t>CNPJ nº</a:t>
                      </a:r>
                    </a:p>
                    <a:p>
                      <a:pPr algn="l">
                        <a:lnSpc>
                          <a:spcPct val="100000"/>
                        </a:lnSpc>
                        <a:spcBef>
                          <a:spcPts val="0"/>
                        </a:spcBef>
                        <a:spcAft>
                          <a:spcPts val="0"/>
                        </a:spcAft>
                      </a:pPr>
                      <a:r>
                        <a:rPr sz="1300" b="0">
                          <a:solidFill>
                            <a:srgbClr val="1F1F1F"/>
                          </a:solidFill>
                          <a:latin typeface="Calibri"/>
                        </a:rPr>
                        <a:t>54.871.427/0001-94</a:t>
                      </a:r>
                    </a:p>
                    <a:p>
                      <a:pPr algn="l">
                        <a:lnSpc>
                          <a:spcPct val="100000"/>
                        </a:lnSpc>
                        <a:spcBef>
                          <a:spcPts val="0"/>
                        </a:spcBef>
                        <a:spcAft>
                          <a:spcPts val="0"/>
                        </a:spcAft>
                      </a:pPr>
                      <a:r>
                        <a:rPr sz="1300" b="0">
                          <a:solidFill>
                            <a:srgbClr val="1F1F1F"/>
                          </a:solidFill>
                          <a:latin typeface="Calibri"/>
                        </a:rPr>
                        <a:t>(“Classe Única” e</a:t>
                      </a:r>
                    </a:p>
                    <a:p>
                      <a:pPr algn="l">
                        <a:lnSpc>
                          <a:spcPct val="100000"/>
                        </a:lnSpc>
                        <a:spcBef>
                          <a:spcPts val="0"/>
                        </a:spcBef>
                        <a:spcAft>
                          <a:spcPts val="0"/>
                        </a:spcAft>
                      </a:pPr>
                      <a:r>
                        <a:rPr sz="1300" b="0">
                          <a:solidFill>
                            <a:srgbClr val="1F1F1F"/>
                          </a:solidFill>
                          <a:latin typeface="Calibri"/>
                        </a:rPr>
                        <a:t>“Fundo”,</a:t>
                      </a:r>
                    </a:p>
                    <a:p>
                      <a:pPr algn="l">
                        <a:lnSpc>
                          <a:spcPct val="100000"/>
                        </a:lnSpc>
                        <a:spcBef>
                          <a:spcPts val="0"/>
                        </a:spcBef>
                        <a:spcAft>
                          <a:spcPts val="0"/>
                        </a:spcAft>
                      </a:pPr>
                      <a:r>
                        <a:rPr sz="1300" b="0">
                          <a:solidFill>
                            <a:srgbClr val="1F1F1F"/>
                          </a:solidFill>
                          <a:latin typeface="Calibri"/>
                        </a:rPr>
                        <a:t>respectivamente)</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erência, à Classe, de f</a:t>
                      </a:r>
                    </a:p>
                    <a:p>
                      <a:pPr algn="l">
                        <a:lnSpc>
                          <a:spcPct val="100000"/>
                        </a:lnSpc>
                        <a:spcBef>
                          <a:spcPts val="0"/>
                        </a:spcBef>
                        <a:spcAft>
                          <a:spcPts val="0"/>
                        </a:spcAft>
                      </a:pPr>
                      <a:r>
                        <a:rPr sz="1300" b="0">
                          <a:solidFill>
                            <a:srgbClr val="1F1F1F"/>
                          </a:solidFill>
                          <a:latin typeface="Calibri"/>
                        </a:rPr>
                        <a:t>orma definitiva, sem</a:t>
                      </a:r>
                    </a:p>
                    <a:p>
                      <a:pPr algn="l">
                        <a:lnSpc>
                          <a:spcPct val="100000"/>
                        </a:lnSpc>
                        <a:spcBef>
                          <a:spcPts val="0"/>
                        </a:spcBef>
                        <a:spcAft>
                          <a:spcPts val="0"/>
                        </a:spcAft>
                      </a:pPr>
                      <a:r>
                        <a:rPr sz="1300" b="0">
                          <a:solidFill>
                            <a:srgbClr val="1F1F1F"/>
                          </a:solidFill>
                          <a:latin typeface="Calibri"/>
                        </a:rPr>
                        <a:t>coobrigação do</a:t>
                      </a:r>
                    </a:p>
                    <a:p>
                      <a:pPr algn="l">
                        <a:lnSpc>
                          <a:spcPct val="100000"/>
                        </a:lnSpc>
                        <a:spcBef>
                          <a:spcPts val="0"/>
                        </a:spcBef>
                        <a:spcAft>
                          <a:spcPts val="0"/>
                        </a:spcAft>
                      </a:pPr>
                      <a:r>
                        <a:rPr sz="1300" b="0">
                          <a:solidFill>
                            <a:srgbClr val="1F1F1F"/>
                          </a:solidFill>
                          <a:latin typeface="Calibri"/>
                        </a:rPr>
                        <a:t>Endossante, da plena</a:t>
                      </a:r>
                    </a:p>
                    <a:p>
                      <a:pPr algn="l">
                        <a:lnSpc>
                          <a:spcPct val="100000"/>
                        </a:lnSpc>
                        <a:spcBef>
                          <a:spcPts val="0"/>
                        </a:spcBef>
                        <a:spcAft>
                          <a:spcPts val="0"/>
                        </a:spcAft>
                      </a:pPr>
                      <a:r>
                        <a:rPr sz="1300" b="0">
                          <a:solidFill>
                            <a:srgbClr val="1F1F1F"/>
                          </a:solidFill>
                          <a:latin typeface="Calibri"/>
                        </a:rPr>
                        <a:t>titularidade desse</a:t>
                      </a:r>
                    </a:p>
                    <a:p>
                      <a:pPr algn="l">
                        <a:lnSpc>
                          <a:spcPct val="100000"/>
                        </a:lnSpc>
                        <a:spcBef>
                          <a:spcPts val="0"/>
                        </a:spcBef>
                        <a:spcAft>
                          <a:spcPts val="0"/>
                        </a:spcAft>
                      </a:pPr>
                      <a:r>
                        <a:rPr sz="1300" b="0">
                          <a:solidFill>
                            <a:srgbClr val="1F1F1F"/>
                          </a:solidFill>
                          <a:latin typeface="Calibri"/>
                        </a:rPr>
                        <a:t>Direito Creditório,</a:t>
                      </a:r>
                    </a:p>
                    <a:p>
                      <a:pPr algn="l">
                        <a:lnSpc>
                          <a:spcPct val="100000"/>
                        </a:lnSpc>
                        <a:spcBef>
                          <a:spcPts val="0"/>
                        </a:spcBef>
                        <a:spcAft>
                          <a:spcPts val="0"/>
                        </a:spcAft>
                      </a:pPr>
                      <a:r>
                        <a:rPr sz="1300" b="0">
                          <a:solidFill>
                            <a:srgbClr val="1F1F1F"/>
                          </a:solidFill>
                          <a:latin typeface="Calibri"/>
                        </a:rPr>
                        <a:t>juntamente com todos os</a:t>
                      </a:r>
                    </a:p>
                    <a:p>
                      <a:pPr algn="l">
                        <a:lnSpc>
                          <a:spcPct val="100000"/>
                        </a:lnSpc>
                        <a:spcBef>
                          <a:spcPts val="0"/>
                        </a:spcBef>
                        <a:spcAft>
                          <a:spcPts val="0"/>
                        </a:spcAft>
                      </a:pPr>
                      <a:r>
                        <a:rPr sz="1300" b="0">
                          <a:solidFill>
                            <a:srgbClr val="1F1F1F"/>
                          </a:solidFill>
                          <a:latin typeface="Calibri"/>
                        </a:rPr>
                        <a:t>direitos, privilégios,</a:t>
                      </a:r>
                    </a:p>
                    <a:p>
                      <a:pPr algn="l">
                        <a:lnSpc>
                          <a:spcPct val="100000"/>
                        </a:lnSpc>
                        <a:spcBef>
                          <a:spcPts val="0"/>
                        </a:spcBef>
                        <a:spcAft>
                          <a:spcPts val="0"/>
                        </a:spcAft>
                      </a:pPr>
                      <a:r>
                        <a:rPr sz="1300" b="0">
                          <a:solidFill>
                            <a:srgbClr val="1F1F1F"/>
                          </a:solidFill>
                          <a:latin typeface="Calibri"/>
                        </a:rPr>
                        <a:t>pref erências,</a:t>
                      </a:r>
                    </a:p>
                    <a:p>
                      <a:pPr algn="l">
                        <a:lnSpc>
                          <a:spcPct val="100000"/>
                        </a:lnSpc>
                        <a:spcBef>
                          <a:spcPts val="0"/>
                        </a:spcBef>
                        <a:spcAft>
                          <a:spcPts val="0"/>
                        </a:spcAft>
                      </a:pPr>
                      <a:r>
                        <a:rPr sz="1300" b="0">
                          <a:solidFill>
                            <a:srgbClr val="1F1F1F"/>
                          </a:solidFill>
                          <a:latin typeface="Calibri"/>
                        </a:rPr>
                        <a:t>prerrogativas,</a:t>
                      </a:r>
                    </a:p>
                    <a:p>
                      <a:pPr algn="l">
                        <a:lnSpc>
                          <a:spcPct val="100000"/>
                        </a:lnSpc>
                        <a:spcBef>
                          <a:spcPts val="0"/>
                        </a:spcBef>
                        <a:spcAft>
                          <a:spcPts val="0"/>
                        </a:spcAft>
                      </a:pPr>
                      <a:r>
                        <a:rPr sz="1300" b="0">
                          <a:solidFill>
                            <a:srgbClr val="1F1F1F"/>
                          </a:solidFill>
                          <a:latin typeface="Calibri"/>
                        </a:rPr>
                        <a:t>garantias e ações a ele</a:t>
                      </a:r>
                    </a:p>
                    <a:p>
                      <a:pPr algn="l">
                        <a:lnSpc>
                          <a:spcPct val="100000"/>
                        </a:lnSpc>
                        <a:spcBef>
                          <a:spcPts val="0"/>
                        </a:spcBef>
                        <a:spcAft>
                          <a:spcPts val="0"/>
                        </a:spcAft>
                      </a:pPr>
                      <a:r>
                        <a:rPr sz="1300" b="0">
                          <a:solidFill>
                            <a:srgbClr val="1F1F1F"/>
                          </a:solidFill>
                          <a:latin typeface="Calibri"/>
                        </a:rPr>
                        <a:t>relacionados, bem como</a:t>
                      </a:r>
                    </a:p>
                    <a:p>
                      <a:pPr algn="l">
                        <a:lnSpc>
                          <a:spcPct val="100000"/>
                        </a:lnSpc>
                        <a:spcBef>
                          <a:spcPts val="0"/>
                        </a:spcBef>
                        <a:spcAft>
                          <a:spcPts val="0"/>
                        </a:spcAft>
                      </a:pPr>
                      <a:r>
                        <a:rPr sz="1300" b="0">
                          <a:solidFill>
                            <a:srgbClr val="1F1F1F"/>
                          </a:solidFill>
                          <a:latin typeface="Calibri"/>
                        </a:rPr>
                        <a:t>correção monetária,</a:t>
                      </a:r>
                    </a:p>
                    <a:p>
                      <a:pPr algn="l">
                        <a:lnSpc>
                          <a:spcPct val="100000"/>
                        </a:lnSpc>
                        <a:spcBef>
                          <a:spcPts val="0"/>
                        </a:spcBef>
                        <a:spcAft>
                          <a:spcPts val="0"/>
                        </a:spcAft>
                      </a:pPr>
                      <a:r>
                        <a:rPr sz="1300" b="0">
                          <a:solidFill>
                            <a:srgbClr val="1F1F1F"/>
                          </a:solidFill>
                          <a:latin typeface="Calibri"/>
                        </a:rPr>
                        <a:t>juros e encargos, sem</a:t>
                      </a:r>
                    </a:p>
                    <a:p>
                      <a:pPr algn="l">
                        <a:lnSpc>
                          <a:spcPct val="100000"/>
                        </a:lnSpc>
                        <a:spcBef>
                          <a:spcPts val="0"/>
                        </a:spcBef>
                        <a:spcAft>
                          <a:spcPts val="0"/>
                        </a:spcAft>
                      </a:pPr>
                      <a:r>
                        <a:rPr sz="1300" b="0">
                          <a:solidFill>
                            <a:srgbClr val="1F1F1F"/>
                          </a:solidFill>
                          <a:latin typeface="Calibri"/>
                        </a:rPr>
                        <a:t>prejuízo do direito da</a:t>
                      </a:r>
                    </a:p>
                    <a:p>
                      <a:pPr algn="l">
                        <a:lnSpc>
                          <a:spcPct val="100000"/>
                        </a:lnSpc>
                        <a:spcBef>
                          <a:spcPts val="0"/>
                        </a:spcBef>
                        <a:spcAft>
                          <a:spcPts val="0"/>
                        </a:spcAft>
                      </a:pPr>
                      <a:r>
                        <a:rPr sz="1300" b="0">
                          <a:solidFill>
                            <a:srgbClr val="1F1F1F"/>
                          </a:solidFill>
                          <a:latin typeface="Calibri"/>
                        </a:rPr>
                        <a:t>Classe (i) de exigir a</a:t>
                      </a:r>
                    </a:p>
                    <a:p>
                      <a:pPr algn="l">
                        <a:lnSpc>
                          <a:spcPct val="100000"/>
                        </a:lnSpc>
                        <a:spcBef>
                          <a:spcPts val="0"/>
                        </a:spcBef>
                        <a:spcAft>
                          <a:spcPts val="0"/>
                        </a:spcAft>
                      </a:pPr>
                      <a:r>
                        <a:rPr sz="1300" b="0">
                          <a:solidFill>
                            <a:srgbClr val="1F1F1F"/>
                          </a:solidFill>
                          <a:latin typeface="Calibri"/>
                        </a:rPr>
                        <a:t>recompra compulsória do</a:t>
                      </a:r>
                    </a:p>
                    <a:p>
                      <a:pPr algn="l">
                        <a:lnSpc>
                          <a:spcPct val="100000"/>
                        </a:lnSpc>
                        <a:spcBef>
                          <a:spcPts val="0"/>
                        </a:spcBef>
                        <a:spcAft>
                          <a:spcPts val="0"/>
                        </a:spcAft>
                      </a:pPr>
                      <a:r>
                        <a:rPr sz="1300" b="0">
                          <a:solidFill>
                            <a:srgbClr val="1F1F1F"/>
                          </a:solidFill>
                          <a:latin typeface="Calibri"/>
                        </a:rPr>
                        <a:t>respectivo Direito</a:t>
                      </a:r>
                    </a:p>
                    <a:p>
                      <a:pPr algn="l">
                        <a:lnSpc>
                          <a:spcPct val="100000"/>
                        </a:lnSpc>
                        <a:spcBef>
                          <a:spcPts val="0"/>
                        </a:spcBef>
                        <a:spcAft>
                          <a:spcPts val="0"/>
                        </a:spcAft>
                      </a:pPr>
                      <a:r>
                        <a:rPr sz="1300" b="0">
                          <a:solidFill>
                            <a:srgbClr val="1F1F1F"/>
                          </a:solidFill>
                          <a:latin typeface="Calibri"/>
                        </a:rPr>
                        <a:t>Creditório, de acordo</a:t>
                      </a:r>
                    </a:p>
                    <a:p>
                      <a:pPr algn="l">
                        <a:lnSpc>
                          <a:spcPct val="100000"/>
                        </a:lnSpc>
                        <a:spcBef>
                          <a:spcPts val="0"/>
                        </a:spcBef>
                        <a:spcAft>
                          <a:spcPts val="0"/>
                        </a:spcAft>
                      </a:pPr>
                      <a:r>
                        <a:rPr sz="1300" b="0">
                          <a:solidFill>
                            <a:srgbClr val="1F1F1F"/>
                          </a:solidFill>
                          <a:latin typeface="Calibri"/>
                        </a:rPr>
                        <a:t>com os termos do</a:t>
                      </a:r>
                    </a:p>
                    <a:p>
                      <a:pPr algn="l">
                        <a:lnSpc>
                          <a:spcPct val="100000"/>
                        </a:lnSpc>
                        <a:spcBef>
                          <a:spcPts val="0"/>
                        </a:spcBef>
                        <a:spcAft>
                          <a:spcPts val="0"/>
                        </a:spcAft>
                      </a:pPr>
                      <a:r>
                        <a:rPr sz="1300" b="0">
                          <a:solidFill>
                            <a:srgbClr val="1F1F1F"/>
                          </a:solidFill>
                          <a:latin typeface="Calibri"/>
                        </a:rPr>
                        <a:t>Contrato de Endosso; ou</a:t>
                      </a:r>
                    </a:p>
                    <a:p>
                      <a:pPr algn="l">
                        <a:lnSpc>
                          <a:spcPct val="100000"/>
                        </a:lnSpc>
                        <a:spcBef>
                          <a:spcPts val="0"/>
                        </a:spcBef>
                        <a:spcAft>
                          <a:spcPts val="0"/>
                        </a:spcAft>
                      </a:pPr>
                      <a:r>
                        <a:rPr sz="1300" b="0">
                          <a:solidFill>
                            <a:srgbClr val="1F1F1F"/>
                          </a:solidFill>
                          <a:latin typeface="Calibri"/>
                        </a:rPr>
                        <a:t>(ii) de vender Direitos</a:t>
                      </a:r>
                    </a:p>
                    <a:p>
                      <a:pPr algn="l">
                        <a:lnSpc>
                          <a:spcPct val="100000"/>
                        </a:lnSpc>
                        <a:spcBef>
                          <a:spcPts val="0"/>
                        </a:spcBef>
                        <a:spcAft>
                          <a:spcPts val="0"/>
                        </a:spcAft>
                      </a:pPr>
                      <a:r>
                        <a:rPr sz="1300" b="0">
                          <a:solidFill>
                            <a:srgbClr val="1F1F1F"/>
                          </a:solidFill>
                          <a:latin typeface="Calibri"/>
                        </a:rPr>
                        <a:t>Creditórios ao Agente</a:t>
                      </a:r>
                    </a:p>
                    <a:p>
                      <a:pPr algn="l">
                        <a:lnSpc>
                          <a:spcPct val="100000"/>
                        </a:lnSpc>
                        <a:spcBef>
                          <a:spcPts val="0"/>
                        </a:spcBef>
                        <a:spcAft>
                          <a:spcPts val="0"/>
                        </a:spcAft>
                      </a:pPr>
                      <a:r>
                        <a:rPr sz="1300" b="0">
                          <a:solidFill>
                            <a:srgbClr val="1F1F1F"/>
                          </a:solidFill>
                          <a:latin typeface="Calibri"/>
                        </a:rPr>
                        <a:t>de Retenção/Cobrança</a:t>
                      </a:r>
                    </a:p>
                    <a:p>
                      <a:pPr algn="l">
                        <a:lnSpc>
                          <a:spcPct val="100000"/>
                        </a:lnSpc>
                        <a:spcBef>
                          <a:spcPts val="0"/>
                        </a:spcBef>
                        <a:spcAft>
                          <a:spcPts val="0"/>
                        </a:spcAft>
                      </a:pPr>
                      <a:r>
                        <a:rPr sz="1300" b="0">
                          <a:solidFill>
                            <a:srgbClr val="1F1F1F"/>
                          </a:solidFill>
                          <a:latin typeface="Calibri"/>
                        </a:rPr>
                        <a:t>(opção de venda), em</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Única”)</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20/160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Alocação e perímetro</a:t>
            </a:r>
          </a:p>
        </p:txBody>
      </p:sp>
      <p:graphicFrame>
        <p:nvGraphicFramePr>
          <p:cNvPr id="3" name="Table 2"/>
          <p:cNvGraphicFramePr>
            <a:graphicFrameLocks noGrp="1"/>
          </p:cNvGraphicFramePr>
          <p:nvPr/>
        </p:nvGraphicFramePr>
        <p:xfrm>
          <a:off x="438912" y="932688"/>
          <a:ext cx="11313868" cy="3566160"/>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3095244">
                <a:tc>
                  <a:txBody>
                    <a:bodyPr wrap="square">
                      <a:noAutofit/>
                    </a:bodyPr>
                    <a:lstStyle/>
                    <a:p>
                      <a:pPr algn="l">
                        <a:lnSpc>
                          <a:spcPct val="100000"/>
                        </a:lnSpc>
                        <a:spcBef>
                          <a:spcPts val="0"/>
                        </a:spcBef>
                        <a:spcAft>
                          <a:spcPts val="0"/>
                        </a:spcAft>
                      </a:pPr>
                      <a:r>
                        <a:rPr sz="1300" b="1">
                          <a:solidFill>
                            <a:srgbClr val="1F1F1F"/>
                          </a:solidFill>
                          <a:latin typeface="Calibri"/>
                        </a:rPr>
                        <a:t>Classe, subclasse e</a:t>
                      </a:r>
                    </a:p>
                    <a:p>
                      <a:pPr algn="l">
                        <a:lnSpc>
                          <a:spcPct val="100000"/>
                        </a:lnSpc>
                        <a:spcBef>
                          <a:spcPts val="0"/>
                        </a:spcBef>
                        <a:spcAft>
                          <a:spcPts val="0"/>
                        </a:spcAft>
                      </a:pPr>
                      <a:r>
                        <a:rPr sz="1300" b="1">
                          <a:solidFill>
                            <a:srgbClr val="1F1F1F"/>
                          </a:solidFill>
                          <a:latin typeface="Calibri"/>
                        </a:rPr>
                        <a:t>responsabilidade</a:t>
                      </a:r>
                    </a:p>
                    <a:p>
                      <a:pPr algn="l">
                        <a:lnSpc>
                          <a:spcPct val="100000"/>
                        </a:lnSpc>
                        <a:spcBef>
                          <a:spcPts val="0"/>
                        </a:spcBef>
                        <a:spcAft>
                          <a:spcPts val="0"/>
                        </a:spcAft>
                      </a:pPr>
                      <a:r>
                        <a:rPr sz="1300" b="1">
                          <a:solidFill>
                            <a:srgbClr val="1F1F1F"/>
                          </a:solidFill>
                          <a:latin typeface="Calibri"/>
                        </a:rPr>
                        <a:t>(continuação)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ambos os casos</a:t>
                      </a:r>
                    </a:p>
                    <a:p>
                      <a:pPr algn="l">
                        <a:lnSpc>
                          <a:spcPct val="100000"/>
                        </a:lnSpc>
                        <a:spcBef>
                          <a:spcPts val="0"/>
                        </a:spcBef>
                        <a:spcAft>
                          <a:spcPts val="0"/>
                        </a:spcAft>
                      </a:pPr>
                      <a:r>
                        <a:rPr sz="1300" b="0">
                          <a:solidFill>
                            <a:srgbClr val="1F1F1F"/>
                          </a:solidFill>
                          <a:latin typeface="Calibri"/>
                        </a:rPr>
                        <a:t>estritamente nos termos</a:t>
                      </a:r>
                    </a:p>
                    <a:p>
                      <a:pPr algn="l">
                        <a:lnSpc>
                          <a:spcPct val="100000"/>
                        </a:lnSpc>
                        <a:spcBef>
                          <a:spcPts val="0"/>
                        </a:spcBef>
                        <a:spcAft>
                          <a:spcPts val="0"/>
                        </a:spcAft>
                      </a:pPr>
                      <a:r>
                        <a:rPr sz="1300" b="0">
                          <a:solidFill>
                            <a:srgbClr val="1F1F1F"/>
                          </a:solidFill>
                          <a:latin typeface="Calibri"/>
                        </a:rPr>
                        <a:t>do Contrato de Endosso.</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Anexo I ao Regulamento</a:t>
                      </a:r>
                    </a:p>
                    <a:p>
                      <a:pPr algn="l">
                        <a:lnSpc>
                          <a:spcPct val="100000"/>
                        </a:lnSpc>
                        <a:spcBef>
                          <a:spcPts val="0"/>
                        </a:spcBef>
                        <a:spcAft>
                          <a:spcPts val="0"/>
                        </a:spcAft>
                      </a:pPr>
                      <a:r>
                        <a:rPr sz="1300" b="0">
                          <a:solidFill>
                            <a:srgbClr val="1F1F1F"/>
                          </a:solidFill>
                          <a:latin typeface="Calibri"/>
                        </a:rPr>
                        <a:t>CLASSE ÚNICA DO MT I</a:t>
                      </a:r>
                    </a:p>
                    <a:p>
                      <a:pPr algn="l">
                        <a:lnSpc>
                          <a:spcPct val="100000"/>
                        </a:lnSpc>
                        <a:spcBef>
                          <a:spcPts val="0"/>
                        </a:spcBef>
                        <a:spcAft>
                          <a:spcPts val="0"/>
                        </a:spcAft>
                      </a:pPr>
                      <a:r>
                        <a:rPr sz="1300" b="0">
                          <a:solidFill>
                            <a:srgbClr val="1F1F1F"/>
                          </a:solidFill>
                          <a:latin typeface="Calibri"/>
                        </a:rPr>
                        <a:t>CONSIGNADO PRIVADO I</a:t>
                      </a:r>
                    </a:p>
                    <a:p>
                      <a:pPr algn="l">
                        <a:lnSpc>
                          <a:spcPct val="100000"/>
                        </a:lnSpc>
                        <a:spcBef>
                          <a:spcPts val="0"/>
                        </a:spcBef>
                        <a:spcAft>
                          <a:spcPts val="0"/>
                        </a:spcAft>
                      </a:pPr>
                      <a:r>
                        <a:rPr sz="1300" b="0">
                          <a:solidFill>
                            <a:srgbClr val="1F1F1F"/>
                          </a:solidFill>
                          <a:latin typeface="Calibri"/>
                        </a:rPr>
                        <a:t>FUNDO DE INVESTIMENTO</a:t>
                      </a:r>
                    </a:p>
                    <a:p>
                      <a:pPr algn="l">
                        <a:lnSpc>
                          <a:spcPct val="100000"/>
                        </a:lnSpc>
                        <a:spcBef>
                          <a:spcPts val="0"/>
                        </a:spcBef>
                        <a:spcAft>
                          <a:spcPts val="0"/>
                        </a:spcAft>
                      </a:pPr>
                      <a:r>
                        <a:rPr sz="1300" b="0">
                          <a:solidFill>
                            <a:srgbClr val="1F1F1F"/>
                          </a:solidFill>
                          <a:latin typeface="Calibri"/>
                        </a:rPr>
                        <a:t>EM DIREITOS CREDITÓRIOS</a:t>
                      </a:r>
                    </a:p>
                    <a:p>
                      <a:pPr algn="l">
                        <a:lnSpc>
                          <a:spcPct val="100000"/>
                        </a:lnSpc>
                        <a:spcBef>
                          <a:spcPts val="0"/>
                        </a:spcBef>
                        <a:spcAft>
                          <a:spcPts val="0"/>
                        </a:spcAft>
                      </a:pPr>
                      <a:r>
                        <a:rPr sz="1300" b="0">
                          <a:solidFill>
                            <a:srgbClr val="1F1F1F"/>
                          </a:solidFill>
                          <a:latin typeface="Calibri"/>
                        </a:rPr>
                        <a:t>RESPONSABILIDADE</a:t>
                      </a:r>
                    </a:p>
                    <a:p>
                      <a:pPr algn="l">
                        <a:lnSpc>
                          <a:spcPct val="100000"/>
                        </a:lnSpc>
                        <a:spcBef>
                          <a:spcPts val="0"/>
                        </a:spcBef>
                        <a:spcAft>
                          <a:spcPts val="0"/>
                        </a:spcAft>
                      </a:pPr>
                      <a:r>
                        <a:rPr sz="1300" b="0">
                          <a:solidFill>
                            <a:srgbClr val="1F1F1F"/>
                          </a:solidFill>
                          <a:latin typeface="Calibri"/>
                        </a:rPr>
                        <a:t>LIMITADA (ii) alterar</a:t>
                      </a:r>
                    </a:p>
                    <a:p>
                      <a:pPr algn="l">
                        <a:lnSpc>
                          <a:spcPct val="100000"/>
                        </a:lnSpc>
                        <a:spcBef>
                          <a:spcPts val="0"/>
                        </a:spcBef>
                        <a:spcAft>
                          <a:spcPts val="0"/>
                        </a:spcAft>
                      </a:pPr>
                      <a:r>
                        <a:rPr sz="1300" b="0">
                          <a:solidFill>
                            <a:srgbClr val="1F1F1F"/>
                          </a:solidFill>
                          <a:latin typeface="Calibri"/>
                        </a:rPr>
                        <a:t>este Anexo I e seus</a:t>
                      </a:r>
                    </a:p>
                    <a:p>
                      <a:pPr algn="l">
                        <a:lnSpc>
                          <a:spcPct val="100000"/>
                        </a:lnSpc>
                        <a:spcBef>
                          <a:spcPts val="0"/>
                        </a:spcBef>
                        <a:spcAft>
                          <a:spcPts val="0"/>
                        </a:spcAft>
                      </a:pPr>
                      <a:r>
                        <a:rPr sz="1300" b="0">
                          <a:solidFill>
                            <a:srgbClr val="1F1F1F"/>
                          </a:solidFill>
                          <a:latin typeface="Calibri"/>
                        </a:rPr>
                        <a:t>complementos, incluindo</a:t>
                      </a:r>
                    </a:p>
                    <a:p>
                      <a:pPr algn="l">
                        <a:lnSpc>
                          <a:spcPct val="100000"/>
                        </a:lnSpc>
                        <a:spcBef>
                          <a:spcPts val="0"/>
                        </a:spcBef>
                        <a:spcAft>
                          <a:spcPts val="0"/>
                        </a:spcAft>
                      </a:pPr>
                      <a:r>
                        <a:rPr sz="1300" b="0">
                          <a:solidFill>
                            <a:srgbClr val="1F1F1F"/>
                          </a:solidFill>
                          <a:latin typeface="Calibri"/>
                        </a:rPr>
                        <a:t>mas não se limitando</a:t>
                      </a:r>
                    </a:p>
                    <a:p>
                      <a:pPr algn="l">
                        <a:lnSpc>
                          <a:spcPct val="100000"/>
                        </a:lnSpc>
                        <a:spcBef>
                          <a:spcPts val="0"/>
                        </a:spcBef>
                        <a:spcAft>
                          <a:spcPts val="0"/>
                        </a:spcAft>
                      </a:pPr>
                      <a:r>
                        <a:rPr sz="1300" b="0">
                          <a:solidFill>
                            <a:srgbClr val="1F1F1F"/>
                          </a:solidFill>
                          <a:latin typeface="Calibri"/>
                        </a:rPr>
                        <a:t>aos Apêndices de cada</a:t>
                      </a:r>
                    </a:p>
                    <a:p>
                      <a:pPr algn="l">
                        <a:lnSpc>
                          <a:spcPct val="100000"/>
                        </a:lnSpc>
                        <a:spcBef>
                          <a:spcPts val="0"/>
                        </a:spcBef>
                        <a:spcAft>
                          <a:spcPts val="0"/>
                        </a:spcAft>
                      </a:pPr>
                      <a:r>
                        <a:rPr sz="1300" b="0">
                          <a:solidFill>
                            <a:srgbClr val="1F1F1F"/>
                          </a:solidFill>
                          <a:latin typeface="Calibri"/>
                        </a:rPr>
                        <a:t>uma das subclasses;.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21/160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Alocação e perímetro</a:t>
            </a:r>
          </a:p>
        </p:txBody>
      </p:sp>
      <p:graphicFrame>
        <p:nvGraphicFramePr>
          <p:cNvPr id="3" name="Table 2"/>
          <p:cNvGraphicFramePr>
            <a:graphicFrameLocks noGrp="1"/>
          </p:cNvGraphicFramePr>
          <p:nvPr/>
        </p:nvGraphicFramePr>
        <p:xfrm>
          <a:off x="438912" y="932688"/>
          <a:ext cx="11313868" cy="5253228"/>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4782312">
                <a:tc>
                  <a:txBody>
                    <a:bodyPr wrap="square">
                      <a:noAutofit/>
                    </a:bodyPr>
                    <a:lstStyle/>
                    <a:p>
                      <a:pPr algn="l">
                        <a:lnSpc>
                          <a:spcPct val="100000"/>
                        </a:lnSpc>
                        <a:spcBef>
                          <a:spcPts val="0"/>
                        </a:spcBef>
                        <a:spcAft>
                          <a:spcPts val="0"/>
                        </a:spcAft>
                      </a:pPr>
                      <a:r>
                        <a:rPr sz="1300" b="1">
                          <a:solidFill>
                            <a:srgbClr val="1F1F1F"/>
                          </a:solidFill>
                          <a:latin typeface="Calibri"/>
                        </a:rPr>
                        <a:t>Adaptação à Resolução</a:t>
                      </a:r>
                    </a:p>
                    <a:p>
                      <a:pPr algn="l">
                        <a:lnSpc>
                          <a:spcPct val="100000"/>
                        </a:lnSpc>
                        <a:spcBef>
                          <a:spcPts val="0"/>
                        </a:spcBef>
                        <a:spcAft>
                          <a:spcPts val="0"/>
                        </a:spcAft>
                      </a:pPr>
                      <a:r>
                        <a:rPr sz="1300" b="1">
                          <a:solidFill>
                            <a:srgbClr val="1F1F1F"/>
                          </a:solidFill>
                          <a:latin typeface="Calibri"/>
                        </a:rPr>
                        <a:t>CVM 175</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Regulamento sob Parte</a:t>
                      </a:r>
                    </a:p>
                    <a:p>
                      <a:pPr algn="l">
                        <a:lnSpc>
                          <a:spcPct val="100000"/>
                        </a:lnSpc>
                        <a:spcBef>
                          <a:spcPts val="0"/>
                        </a:spcBef>
                        <a:spcAft>
                          <a:spcPts val="0"/>
                        </a:spcAft>
                      </a:pPr>
                      <a:r>
                        <a:rPr sz="1300" b="0">
                          <a:solidFill>
                            <a:srgbClr val="1F1F1F"/>
                          </a:solidFill>
                          <a:latin typeface="Calibri"/>
                        </a:rPr>
                        <a:t>Geral e Anexo Normativo</a:t>
                      </a:r>
                    </a:p>
                    <a:p>
                      <a:pPr algn="l">
                        <a:lnSpc>
                          <a:spcPct val="100000"/>
                        </a:lnSpc>
                        <a:spcBef>
                          <a:spcPts val="0"/>
                        </a:spcBef>
                        <a:spcAft>
                          <a:spcPts val="0"/>
                        </a:spcAft>
                      </a:pPr>
                      <a:r>
                        <a:rPr sz="1300" b="0">
                          <a:solidFill>
                            <a:srgbClr val="1F1F1F"/>
                          </a:solidFill>
                          <a:latin typeface="Calibri"/>
                        </a:rPr>
                        <a:t>II da Resolução CVM</a:t>
                      </a:r>
                    </a:p>
                    <a:p>
                      <a:pPr algn="l">
                        <a:lnSpc>
                          <a:spcPct val="100000"/>
                        </a:lnSpc>
                        <a:spcBef>
                          <a:spcPts val="0"/>
                        </a:spcBef>
                        <a:spcAft>
                          <a:spcPts val="0"/>
                        </a:spcAft>
                      </a:pPr>
                      <a:r>
                        <a:rPr sz="1300" b="0">
                          <a:solidFill>
                            <a:srgbClr val="1F1F1F"/>
                          </a:solidFill>
                          <a:latin typeface="Calibri"/>
                        </a:rPr>
                        <a:t>175; classe única com</a:t>
                      </a:r>
                    </a:p>
                    <a:p>
                      <a:pPr algn="l">
                        <a:lnSpc>
                          <a:spcPct val="100000"/>
                        </a:lnSpc>
                        <a:spcBef>
                          <a:spcPts val="0"/>
                        </a:spcBef>
                        <a:spcAft>
                          <a:spcPts val="0"/>
                        </a:spcAft>
                      </a:pPr>
                      <a:r>
                        <a:rPr sz="1300" b="0">
                          <a:solidFill>
                            <a:srgbClr val="1F1F1F"/>
                          </a:solidFill>
                          <a:latin typeface="Calibri"/>
                        </a:rPr>
                        <a:t>responsabilidade</a:t>
                      </a:r>
                    </a:p>
                    <a:p>
                      <a:pPr algn="l">
                        <a:lnSpc>
                          <a:spcPct val="100000"/>
                        </a:lnSpc>
                        <a:spcBef>
                          <a:spcPts val="0"/>
                        </a:spcBef>
                        <a:spcAft>
                          <a:spcPts val="0"/>
                        </a:spcAft>
                      </a:pPr>
                      <a:r>
                        <a:rPr sz="1300" b="0">
                          <a:solidFill>
                            <a:srgbClr val="1F1F1F"/>
                          </a:solidFill>
                          <a:latin typeface="Calibri"/>
                        </a:rPr>
                        <a:t>limitada ao capital</a:t>
                      </a:r>
                    </a:p>
                    <a:p>
                      <a:pPr algn="l">
                        <a:lnSpc>
                          <a:spcPct val="100000"/>
                        </a:lnSpc>
                        <a:spcBef>
                          <a:spcPts val="0"/>
                        </a:spcBef>
                        <a:spcAft>
                          <a:spcPts val="0"/>
                        </a:spcAft>
                      </a:pPr>
                      <a:r>
                        <a:rPr sz="1300" b="0">
                          <a:solidFill>
                            <a:srgbClr val="1F1F1F"/>
                          </a:solidFill>
                          <a:latin typeface="Calibri"/>
                        </a:rPr>
                        <a:t>subscrito.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Classe única fechada,</a:t>
                      </a:r>
                    </a:p>
                    <a:p>
                      <a:pPr algn="l">
                        <a:lnSpc>
                          <a:spcPct val="100000"/>
                        </a:lnSpc>
                        <a:spcBef>
                          <a:spcPts val="0"/>
                        </a:spcBef>
                        <a:spcAft>
                          <a:spcPts val="0"/>
                        </a:spcAft>
                      </a:pPr>
                      <a:r>
                        <a:rPr sz="1300" b="0">
                          <a:solidFill>
                            <a:srgbClr val="1F1F1F"/>
                          </a:solidFill>
                          <a:latin typeface="Calibri"/>
                        </a:rPr>
                        <a:t>de prazo indeterminado,</a:t>
                      </a:r>
                    </a:p>
                    <a:p>
                      <a:pPr algn="l">
                        <a:lnSpc>
                          <a:spcPct val="100000"/>
                        </a:lnSpc>
                        <a:spcBef>
                          <a:spcPts val="0"/>
                        </a:spcBef>
                        <a:spcAft>
                          <a:spcPts val="0"/>
                        </a:spcAft>
                      </a:pPr>
                      <a:r>
                        <a:rPr sz="1300" b="0">
                          <a:solidFill>
                            <a:srgbClr val="1F1F1F"/>
                          </a:solidFill>
                          <a:latin typeface="Calibri"/>
                        </a:rPr>
                        <a:t>com subclasses</a:t>
                      </a:r>
                    </a:p>
                    <a:p>
                      <a:pPr algn="l">
                        <a:lnSpc>
                          <a:spcPct val="100000"/>
                        </a:lnSpc>
                        <a:spcBef>
                          <a:spcPts val="0"/>
                        </a:spcBef>
                        <a:spcAft>
                          <a:spcPts val="0"/>
                        </a:spcAft>
                      </a:pPr>
                      <a:r>
                        <a:rPr sz="1300" b="0">
                          <a:solidFill>
                            <a:srgbClr val="1F1F1F"/>
                          </a:solidFill>
                          <a:latin typeface="Calibri"/>
                        </a:rPr>
                        <a:t>Sênior/Subordinada.</a:t>
                      </a:r>
                    </a:p>
                    <a:p>
                      <a:pPr algn="l">
                        <a:lnSpc>
                          <a:spcPct val="100000"/>
                        </a:lnSpc>
                        <a:spcBef>
                          <a:spcPts val="0"/>
                        </a:spcBef>
                        <a:spcAft>
                          <a:spcPts val="0"/>
                        </a:spcAft>
                      </a:pPr>
                      <a:r>
                        <a:rPr sz="1300" b="0">
                          <a:solidFill>
                            <a:srgbClr val="1F1F1F"/>
                          </a:solidFill>
                          <a:latin typeface="Calibri"/>
                        </a:rPr>
                        <a:t>Responsabilidade do</a:t>
                      </a:r>
                    </a:p>
                    <a:p>
                      <a:pPr algn="l">
                        <a:lnSpc>
                          <a:spcPct val="100000"/>
                        </a:lnSpc>
                        <a:spcBef>
                          <a:spcPts val="0"/>
                        </a:spcBef>
                        <a:spcAft>
                          <a:spcPts val="0"/>
                        </a:spcAft>
                      </a:pPr>
                      <a:r>
                        <a:rPr sz="1300" b="0">
                          <a:solidFill>
                            <a:srgbClr val="1F1F1F"/>
                          </a:solidFill>
                          <a:latin typeface="Calibri"/>
                        </a:rPr>
                        <a:t>cotista limitada ao</a:t>
                      </a:r>
                    </a:p>
                    <a:p>
                      <a:pPr algn="l">
                        <a:lnSpc>
                          <a:spcPct val="100000"/>
                        </a:lnSpc>
                        <a:spcBef>
                          <a:spcPts val="0"/>
                        </a:spcBef>
                        <a:spcAft>
                          <a:spcPts val="0"/>
                        </a:spcAft>
                      </a:pPr>
                      <a:r>
                        <a:rPr sz="1300" b="0">
                          <a:solidFill>
                            <a:srgbClr val="1F1F1F"/>
                          </a:solidFill>
                          <a:latin typeface="Calibri"/>
                        </a:rPr>
                        <a:t>subscrito; Parte Geral,</a:t>
                      </a:r>
                    </a:p>
                    <a:p>
                      <a:pPr algn="l">
                        <a:lnSpc>
                          <a:spcPct val="100000"/>
                        </a:lnSpc>
                        <a:spcBef>
                          <a:spcPts val="0"/>
                        </a:spcBef>
                        <a:spcAft>
                          <a:spcPts val="0"/>
                        </a:spcAft>
                      </a:pPr>
                      <a:r>
                        <a:rPr sz="1300" b="0">
                          <a:solidFill>
                            <a:srgbClr val="1F1F1F"/>
                          </a:solidFill>
                          <a:latin typeface="Calibri"/>
                        </a:rPr>
                        <a:t>Anexo I, Apêndices e</a:t>
                      </a:r>
                    </a:p>
                    <a:p>
                      <a:pPr algn="l">
                        <a:lnSpc>
                          <a:spcPct val="100000"/>
                        </a:lnSpc>
                        <a:spcBef>
                          <a:spcPts val="0"/>
                        </a:spcBef>
                        <a:spcAft>
                          <a:spcPts val="0"/>
                        </a:spcAft>
                      </a:pPr>
                      <a:r>
                        <a:rPr sz="1300" b="0">
                          <a:solidFill>
                            <a:srgbClr val="1F1F1F"/>
                          </a:solidFill>
                          <a:latin typeface="Calibri"/>
                        </a:rPr>
                        <a:t>Suplementos.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AGC de 20/03/2026</a:t>
                      </a:r>
                    </a:p>
                    <a:p>
                      <a:pPr algn="l">
                        <a:lnSpc>
                          <a:spcPct val="100000"/>
                        </a:lnSpc>
                        <a:spcBef>
                          <a:spcPts val="0"/>
                        </a:spcBef>
                        <a:spcAft>
                          <a:spcPts val="0"/>
                        </a:spcAft>
                      </a:pPr>
                      <a:r>
                        <a:rPr sz="1300" b="0">
                          <a:solidFill>
                            <a:srgbClr val="1F1F1F"/>
                          </a:solidFill>
                          <a:latin typeface="Calibri"/>
                        </a:rPr>
                        <a:t>transformou FIDC em</a:t>
                      </a:r>
                    </a:p>
                    <a:p>
                      <a:pPr algn="l">
                        <a:lnSpc>
                          <a:spcPct val="100000"/>
                        </a:lnSpc>
                        <a:spcBef>
                          <a:spcPts val="0"/>
                        </a:spcBef>
                        <a:spcAft>
                          <a:spcPts val="0"/>
                        </a:spcAft>
                      </a:pPr>
                      <a:r>
                        <a:rPr sz="1300" b="0">
                          <a:solidFill>
                            <a:srgbClr val="1F1F1F"/>
                          </a:solidFill>
                          <a:latin typeface="Calibri"/>
                        </a:rPr>
                        <a:t>FIAGRO, sob Parte Geral</a:t>
                      </a:r>
                    </a:p>
                    <a:p>
                      <a:pPr algn="l">
                        <a:lnSpc>
                          <a:spcPct val="100000"/>
                        </a:lnSpc>
                        <a:spcBef>
                          <a:spcPts val="0"/>
                        </a:spcBef>
                        <a:spcAft>
                          <a:spcPts val="0"/>
                        </a:spcAft>
                      </a:pPr>
                      <a:r>
                        <a:rPr sz="1300" b="0">
                          <a:solidFill>
                            <a:srgbClr val="1F1F1F"/>
                          </a:solidFill>
                          <a:latin typeface="Calibri"/>
                        </a:rPr>
                        <a:t>e Anexo Normativo VI da</a:t>
                      </a:r>
                    </a:p>
                    <a:p>
                      <a:pPr algn="l">
                        <a:lnSpc>
                          <a:spcPct val="100000"/>
                        </a:lnSpc>
                        <a:spcBef>
                          <a:spcPts val="0"/>
                        </a:spcBef>
                        <a:spcAft>
                          <a:spcPts val="0"/>
                        </a:spcAft>
                      </a:pPr>
                      <a:r>
                        <a:rPr sz="1300" b="0">
                          <a:solidFill>
                            <a:srgbClr val="1F1F1F"/>
                          </a:solidFill>
                          <a:latin typeface="Calibri"/>
                        </a:rPr>
                        <a:t>Resolução CVM 175, com</a:t>
                      </a:r>
                    </a:p>
                    <a:p>
                      <a:pPr algn="l">
                        <a:lnSpc>
                          <a:spcPct val="100000"/>
                        </a:lnSpc>
                        <a:spcBef>
                          <a:spcPts val="0"/>
                        </a:spcBef>
                        <a:spcAft>
                          <a:spcPts val="0"/>
                        </a:spcAft>
                      </a:pPr>
                      <a:r>
                        <a:rPr sz="1300" b="0">
                          <a:solidFill>
                            <a:srgbClr val="1F1F1F"/>
                          </a:solidFill>
                          <a:latin typeface="Calibri"/>
                        </a:rPr>
                        <a:t>aplicação subsidiária</a:t>
                      </a:r>
                    </a:p>
                    <a:p>
                      <a:pPr algn="l">
                        <a:lnSpc>
                          <a:spcPct val="100000"/>
                        </a:lnSpc>
                        <a:spcBef>
                          <a:spcPts val="0"/>
                        </a:spcBef>
                        <a:spcAft>
                          <a:spcPts val="0"/>
                        </a:spcAft>
                      </a:pPr>
                      <a:r>
                        <a:rPr sz="1300" b="0">
                          <a:solidFill>
                            <a:srgbClr val="1F1F1F"/>
                          </a:solidFill>
                          <a:latin typeface="Calibri"/>
                        </a:rPr>
                        <a:t>do Anexo II.</a:t>
                      </a:r>
                    </a:p>
                    <a:p>
                      <a:pPr algn="l">
                        <a:lnSpc>
                          <a:spcPct val="100000"/>
                        </a:lnSpc>
                        <a:spcBef>
                          <a:spcPts val="0"/>
                        </a:spcBef>
                        <a:spcAft>
                          <a:spcPts val="0"/>
                        </a:spcAft>
                      </a:pPr>
                      <a:r>
                        <a:rPr sz="1300" b="0">
                          <a:solidFill>
                            <a:srgbClr val="1F1F1F"/>
                          </a:solidFill>
                          <a:latin typeface="Calibri"/>
                        </a:rPr>
                        <a:t>Consolidado vigente no</a:t>
                      </a:r>
                    </a:p>
                    <a:p>
                      <a:pPr algn="l">
                        <a:lnSpc>
                          <a:spcPct val="100000"/>
                        </a:lnSpc>
                        <a:spcBef>
                          <a:spcPts val="0"/>
                        </a:spcBef>
                        <a:spcAft>
                          <a:spcPts val="0"/>
                        </a:spcAft>
                      </a:pPr>
                      <a:r>
                        <a:rPr sz="1300" b="0">
                          <a:solidFill>
                            <a:srgbClr val="1F1F1F"/>
                          </a:solidFill>
                          <a:latin typeface="Calibri"/>
                        </a:rPr>
                        <a:t>fechamento de</a:t>
                      </a:r>
                    </a:p>
                    <a:p>
                      <a:pPr algn="l">
                        <a:lnSpc>
                          <a:spcPct val="100000"/>
                        </a:lnSpc>
                        <a:spcBef>
                          <a:spcPts val="0"/>
                        </a:spcBef>
                        <a:spcAft>
                          <a:spcPts val="0"/>
                        </a:spcAft>
                      </a:pPr>
                      <a:r>
                        <a:rPr sz="1300" b="0">
                          <a:solidFill>
                            <a:srgbClr val="1F1F1F"/>
                          </a:solidFill>
                          <a:latin typeface="Calibri"/>
                        </a:rPr>
                        <a:t>23/03/2026; mesmo CNPJ</a:t>
                      </a:r>
                    </a:p>
                    <a:p>
                      <a:pPr algn="l">
                        <a:lnSpc>
                          <a:spcPct val="100000"/>
                        </a:lnSpc>
                        <a:spcBef>
                          <a:spcPts val="0"/>
                        </a:spcBef>
                        <a:spcAft>
                          <a:spcPts val="0"/>
                        </a:spcAft>
                      </a:pPr>
                      <a:r>
                        <a:rPr sz="1300" b="0">
                          <a:solidFill>
                            <a:srgbClr val="1F1F1F"/>
                          </a:solidFill>
                          <a:latin typeface="Calibri"/>
                        </a:rPr>
                        <a:t>62.696.791/0001-93.</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4.11 Nos termos dos</a:t>
                      </a:r>
                    </a:p>
                    <a:p>
                      <a:pPr algn="l">
                        <a:lnSpc>
                          <a:spcPct val="100000"/>
                        </a:lnSpc>
                        <a:spcBef>
                          <a:spcPts val="0"/>
                        </a:spcBef>
                        <a:spcAft>
                          <a:spcPts val="0"/>
                        </a:spcAft>
                      </a:pPr>
                      <a:r>
                        <a:rPr sz="1300" b="0">
                          <a:solidFill>
                            <a:srgbClr val="1F1F1F"/>
                          </a:solidFill>
                          <a:latin typeface="Calibri"/>
                        </a:rPr>
                        <a:t>artigos 45, parágrafo</a:t>
                      </a:r>
                    </a:p>
                    <a:p>
                      <a:pPr algn="l">
                        <a:lnSpc>
                          <a:spcPct val="100000"/>
                        </a:lnSpc>
                        <a:spcBef>
                          <a:spcPts val="0"/>
                        </a:spcBef>
                        <a:spcAft>
                          <a:spcPts val="0"/>
                        </a:spcAft>
                      </a:pPr>
                      <a:r>
                        <a:rPr sz="1300" b="0">
                          <a:solidFill>
                            <a:srgbClr val="1F1F1F"/>
                          </a:solidFill>
                          <a:latin typeface="Calibri"/>
                        </a:rPr>
                        <a:t>7º, e 47 parágrafo</a:t>
                      </a:r>
                    </a:p>
                    <a:p>
                      <a:pPr algn="l">
                        <a:lnSpc>
                          <a:spcPct val="100000"/>
                        </a:lnSpc>
                        <a:spcBef>
                          <a:spcPts val="0"/>
                        </a:spcBef>
                        <a:spcAft>
                          <a:spcPts val="0"/>
                        </a:spcAft>
                      </a:pPr>
                      <a:r>
                        <a:rPr sz="1300" b="0">
                          <a:solidFill>
                            <a:srgbClr val="1F1F1F"/>
                          </a:solidFill>
                          <a:latin typeface="Calibri"/>
                        </a:rPr>
                        <a:t>único do Anexo</a:t>
                      </a:r>
                    </a:p>
                    <a:p>
                      <a:pPr algn="l">
                        <a:lnSpc>
                          <a:spcPct val="100000"/>
                        </a:lnSpc>
                        <a:spcBef>
                          <a:spcPts val="0"/>
                        </a:spcBef>
                        <a:spcAft>
                          <a:spcPts val="0"/>
                        </a:spcAft>
                      </a:pPr>
                      <a:r>
                        <a:rPr sz="1300" b="0">
                          <a:solidFill>
                            <a:srgbClr val="1F1F1F"/>
                          </a:solidFill>
                          <a:latin typeface="Calibri"/>
                        </a:rPr>
                        <a:t>Normativo II à</a:t>
                      </a:r>
                    </a:p>
                    <a:p>
                      <a:pPr algn="l">
                        <a:lnSpc>
                          <a:spcPct val="100000"/>
                        </a:lnSpc>
                        <a:spcBef>
                          <a:spcPts val="0"/>
                        </a:spcBef>
                        <a:spcAft>
                          <a:spcPts val="0"/>
                        </a:spcAft>
                      </a:pPr>
                      <a:r>
                        <a:rPr sz="1300" b="0">
                          <a:solidFill>
                            <a:srgbClr val="1F1F1F"/>
                          </a:solidFill>
                          <a:latin typeface="Calibri"/>
                        </a:rPr>
                        <a:t>Resolução CVM 175, uma</a:t>
                      </a:r>
                    </a:p>
                    <a:p>
                      <a:pPr algn="l">
                        <a:lnSpc>
                          <a:spcPct val="100000"/>
                        </a:lnSpc>
                        <a:spcBef>
                          <a:spcPts val="0"/>
                        </a:spcBef>
                        <a:spcAft>
                          <a:spcPts val="0"/>
                        </a:spcAft>
                      </a:pPr>
                      <a:r>
                        <a:rPr sz="1300" b="0">
                          <a:solidFill>
                            <a:srgbClr val="1F1F1F"/>
                          </a:solidFill>
                          <a:latin typeface="Calibri"/>
                        </a:rPr>
                        <a:t>vez que as Cotas são</a:t>
                      </a:r>
                    </a:p>
                    <a:p>
                      <a:pPr algn="l">
                        <a:lnSpc>
                          <a:spcPct val="100000"/>
                        </a:lnSpc>
                        <a:spcBef>
                          <a:spcPts val="0"/>
                        </a:spcBef>
                        <a:spcAft>
                          <a:spcPts val="0"/>
                        </a:spcAft>
                      </a:pPr>
                      <a:r>
                        <a:rPr sz="1300" b="0">
                          <a:solidFill>
                            <a:srgbClr val="1F1F1F"/>
                          </a:solidFill>
                          <a:latin typeface="Calibri"/>
                        </a:rPr>
                        <a:t>destinadas</a:t>
                      </a:r>
                    </a:p>
                    <a:p>
                      <a:pPr algn="l">
                        <a:lnSpc>
                          <a:spcPct val="100000"/>
                        </a:lnSpc>
                        <a:spcBef>
                          <a:spcPts val="0"/>
                        </a:spcBef>
                        <a:spcAft>
                          <a:spcPts val="0"/>
                        </a:spcAft>
                      </a:pPr>
                      <a:r>
                        <a:rPr sz="1300" b="0">
                          <a:solidFill>
                            <a:srgbClr val="1F1F1F"/>
                          </a:solidFill>
                          <a:latin typeface="Calibri"/>
                        </a:rPr>
                        <a:t>exclusivamente a</a:t>
                      </a:r>
                    </a:p>
                    <a:p>
                      <a:pPr algn="l">
                        <a:lnSpc>
                          <a:spcPct val="100000"/>
                        </a:lnSpc>
                        <a:spcBef>
                          <a:spcPts val="0"/>
                        </a:spcBef>
                        <a:spcAft>
                          <a:spcPts val="0"/>
                        </a:spcAft>
                      </a:pPr>
                      <a:r>
                        <a:rPr sz="1300" b="0">
                          <a:solidFill>
                            <a:srgbClr val="1F1F1F"/>
                          </a:solidFill>
                          <a:latin typeface="Calibri"/>
                        </a:rPr>
                        <a:t>Investidores</a:t>
                      </a:r>
                    </a:p>
                    <a:p>
                      <a:pPr algn="l">
                        <a:lnSpc>
                          <a:spcPct val="100000"/>
                        </a:lnSpc>
                        <a:spcBef>
                          <a:spcPts val="0"/>
                        </a:spcBef>
                        <a:spcAft>
                          <a:spcPts val="0"/>
                        </a:spcAft>
                      </a:pPr>
                      <a:r>
                        <a:rPr sz="1300" b="0">
                          <a:solidFill>
                            <a:srgbClr val="1F1F1F"/>
                          </a:solidFill>
                          <a:latin typeface="Calibri"/>
                        </a:rPr>
                        <a:t>Profissionais, a Classe</a:t>
                      </a:r>
                    </a:p>
                    <a:p>
                      <a:pPr algn="l">
                        <a:lnSpc>
                          <a:spcPct val="100000"/>
                        </a:lnSpc>
                        <a:spcBef>
                          <a:spcPts val="0"/>
                        </a:spcBef>
                        <a:spcAft>
                          <a:spcPts val="0"/>
                        </a:spcAft>
                      </a:pPr>
                      <a:r>
                        <a:rPr sz="1300" b="0">
                          <a:solidFill>
                            <a:srgbClr val="1F1F1F"/>
                          </a:solidFill>
                          <a:latin typeface="Calibri"/>
                        </a:rPr>
                        <a:t>poderá ter até 100%</a:t>
                      </a:r>
                    </a:p>
                    <a:p>
                      <a:pPr algn="l">
                        <a:lnSpc>
                          <a:spcPct val="100000"/>
                        </a:lnSpc>
                        <a:spcBef>
                          <a:spcPts val="0"/>
                        </a:spcBef>
                        <a:spcAft>
                          <a:spcPts val="0"/>
                        </a:spcAft>
                      </a:pPr>
                      <a:r>
                        <a:rPr sz="1300" b="0">
                          <a:solidFill>
                            <a:srgbClr val="1F1F1F"/>
                          </a:solidFill>
                          <a:latin typeface="Calibri"/>
                        </a:rPr>
                        <a:t>(cem por cento) de seu</a:t>
                      </a:r>
                    </a:p>
                    <a:p>
                      <a:pPr algn="l">
                        <a:lnSpc>
                          <a:spcPct val="100000"/>
                        </a:lnSpc>
                        <a:spcBef>
                          <a:spcPts val="0"/>
                        </a:spcBef>
                        <a:spcAft>
                          <a:spcPts val="0"/>
                        </a:spcAft>
                      </a:pPr>
                      <a:r>
                        <a:rPr sz="1300" b="0">
                          <a:solidFill>
                            <a:srgbClr val="1F1F1F"/>
                          </a:solidFill>
                          <a:latin typeface="Calibri"/>
                        </a:rPr>
                        <a:t>Patrimônio Líquido</a:t>
                      </a:r>
                    </a:p>
                    <a:p>
                      <a:pPr algn="l">
                        <a:lnSpc>
                          <a:spcPct val="100000"/>
                        </a:lnSpc>
                        <a:spcBef>
                          <a:spcPts val="0"/>
                        </a:spcBef>
                        <a:spcAft>
                          <a:spcPts val="0"/>
                        </a:spcAft>
                      </a:pPr>
                      <a:r>
                        <a:rPr sz="1300" b="0">
                          <a:solidFill>
                            <a:srgbClr val="1F1F1F"/>
                          </a:solidFill>
                          <a:latin typeface="Calibri"/>
                        </a:rPr>
                        <a:t>alocado em Cotas da</a:t>
                      </a:r>
                    </a:p>
                    <a:p>
                      <a:pPr algn="l">
                        <a:lnSpc>
                          <a:spcPct val="100000"/>
                        </a:lnSpc>
                        <a:spcBef>
                          <a:spcPts val="0"/>
                        </a:spcBef>
                        <a:spcAft>
                          <a:spcPts val="0"/>
                        </a:spcAft>
                      </a:pPr>
                      <a:r>
                        <a:rPr sz="1300" b="0">
                          <a:solidFill>
                            <a:srgbClr val="1F1F1F"/>
                          </a:solidFill>
                          <a:latin typeface="Calibri"/>
                        </a:rPr>
                        <a:t>Classe Investida, as</a:t>
                      </a:r>
                    </a:p>
                    <a:p>
                      <a:pPr algn="l">
                        <a:lnSpc>
                          <a:spcPct val="100000"/>
                        </a:lnSpc>
                        <a:spcBef>
                          <a:spcPts val="0"/>
                        </a:spcBef>
                        <a:spcAft>
                          <a:spcPts val="0"/>
                        </a:spcAft>
                      </a:pPr>
                      <a:r>
                        <a:rPr sz="1300" b="0">
                          <a:solidFill>
                            <a:srgbClr val="1F1F1F"/>
                          </a:solidFill>
                          <a:latin typeface="Calibri"/>
                        </a:rPr>
                        <a:t>quais são emitidas pela</a:t>
                      </a:r>
                    </a:p>
                    <a:p>
                      <a:pPr algn="l">
                        <a:lnSpc>
                          <a:spcPct val="100000"/>
                        </a:lnSpc>
                        <a:spcBef>
                          <a:spcPts val="0"/>
                        </a:spcBef>
                        <a:spcAft>
                          <a:spcPts val="0"/>
                        </a:spcAft>
                      </a:pPr>
                      <a:r>
                        <a:rPr sz="1300" b="0">
                          <a:solidFill>
                            <a:srgbClr val="1F1F1F"/>
                          </a:solidFill>
                          <a:latin typeface="Calibri"/>
                        </a:rPr>
                        <a:t>Classe Investida.</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Não obstante, em</a:t>
                      </a:r>
                    </a:p>
                    <a:p>
                      <a:pPr algn="l">
                        <a:lnSpc>
                          <a:spcPct val="100000"/>
                        </a:lnSpc>
                        <a:spcBef>
                          <a:spcPts val="0"/>
                        </a:spcBef>
                        <a:spcAft>
                          <a:spcPts val="0"/>
                        </a:spcAft>
                      </a:pPr>
                      <a:r>
                        <a:rPr sz="1300" b="0">
                          <a:solidFill>
                            <a:srgbClr val="1F1F1F"/>
                          </a:solidFill>
                          <a:latin typeface="Calibri"/>
                        </a:rPr>
                        <a:t>cenário extraordinário</a:t>
                      </a:r>
                    </a:p>
                    <a:p>
                      <a:pPr algn="l">
                        <a:lnSpc>
                          <a:spcPct val="100000"/>
                        </a:lnSpc>
                        <a:spcBef>
                          <a:spcPts val="0"/>
                        </a:spcBef>
                        <a:spcAft>
                          <a:spcPts val="0"/>
                        </a:spcAft>
                      </a:pPr>
                      <a:r>
                        <a:rPr sz="1300" b="0">
                          <a:solidFill>
                            <a:srgbClr val="1F1F1F"/>
                          </a:solidFill>
                          <a:latin typeface="Calibri"/>
                        </a:rPr>
                        <a:t>conforme descrito no</a:t>
                      </a:r>
                    </a:p>
                    <a:p>
                      <a:pPr algn="l">
                        <a:lnSpc>
                          <a:spcPct val="100000"/>
                        </a:lnSpc>
                        <a:spcBef>
                          <a:spcPts val="0"/>
                        </a:spcBef>
                        <a:spcAft>
                          <a:spcPts val="0"/>
                        </a:spcAft>
                      </a:pPr>
                      <a:r>
                        <a:rPr sz="1300" b="0">
                          <a:solidFill>
                            <a:srgbClr val="1F1F1F"/>
                          </a:solidFill>
                          <a:latin typeface="Calibri"/>
                        </a:rPr>
                        <a:t>item 15.1.1 (iii), e</a:t>
                      </a:r>
                    </a:p>
                    <a:p>
                      <a:pPr algn="l">
                        <a:lnSpc>
                          <a:spcPct val="100000"/>
                        </a:lnSpc>
                        <a:spcBef>
                          <a:spcPts val="0"/>
                        </a:spcBef>
                        <a:spcAft>
                          <a:spcPts val="0"/>
                        </a:spcAft>
                      </a:pPr>
                      <a:r>
                        <a:rPr sz="1300" b="0">
                          <a:solidFill>
                            <a:srgbClr val="1F1F1F"/>
                          </a:solidFill>
                          <a:latin typeface="Calibri"/>
                        </a:rPr>
                        <a:t>para fins de</a:t>
                      </a:r>
                    </a:p>
                    <a:p>
                      <a:pPr algn="l">
                        <a:lnSpc>
                          <a:spcPct val="100000"/>
                        </a:lnSpc>
                        <a:spcBef>
                          <a:spcPts val="0"/>
                        </a:spcBef>
                        <a:spcAft>
                          <a:spcPts val="0"/>
                        </a:spcAft>
                      </a:pPr>
                      <a:r>
                        <a:rPr sz="1300" b="0">
                          <a:solidFill>
                            <a:srgbClr val="1F1F1F"/>
                          </a:solidFill>
                          <a:latin typeface="Calibri"/>
                        </a:rPr>
                        <a:t>atendimento ao artigo</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22/160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Alocação e perímetro</a:t>
            </a:r>
          </a:p>
        </p:txBody>
      </p:sp>
      <p:graphicFrame>
        <p:nvGraphicFramePr>
          <p:cNvPr id="3" name="Table 2"/>
          <p:cNvGraphicFramePr>
            <a:graphicFrameLocks noGrp="1"/>
          </p:cNvGraphicFramePr>
          <p:nvPr/>
        </p:nvGraphicFramePr>
        <p:xfrm>
          <a:off x="438912" y="932688"/>
          <a:ext cx="11313868" cy="5253228"/>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4782312">
                <a:tc>
                  <a:txBody>
                    <a:bodyPr wrap="square">
                      <a:noAutofit/>
                    </a:bodyPr>
                    <a:lstStyle/>
                    <a:p>
                      <a:pPr algn="l">
                        <a:lnSpc>
                          <a:spcPct val="100000"/>
                        </a:lnSpc>
                        <a:spcBef>
                          <a:spcPts val="0"/>
                        </a:spcBef>
                        <a:spcAft>
                          <a:spcPts val="0"/>
                        </a:spcAft>
                      </a:pPr>
                      <a:r>
                        <a:rPr sz="1300" b="1">
                          <a:solidFill>
                            <a:srgbClr val="1F1F1F"/>
                          </a:solidFill>
                          <a:latin typeface="Calibri"/>
                        </a:rPr>
                        <a:t>Adaptação à Resolução</a:t>
                      </a:r>
                    </a:p>
                    <a:p>
                      <a:pPr algn="l">
                        <a:lnSpc>
                          <a:spcPct val="100000"/>
                        </a:lnSpc>
                        <a:spcBef>
                          <a:spcPts val="0"/>
                        </a:spcBef>
                        <a:spcAft>
                          <a:spcPts val="0"/>
                        </a:spcAft>
                      </a:pPr>
                      <a:r>
                        <a:rPr sz="1300" b="1">
                          <a:solidFill>
                            <a:srgbClr val="1F1F1F"/>
                          </a:solidFill>
                          <a:latin typeface="Calibri"/>
                        </a:rPr>
                        <a:t>CVM 175 (continuação)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98 da parte geral da</a:t>
                      </a:r>
                    </a:p>
                    <a:p>
                      <a:pPr algn="l">
                        <a:lnSpc>
                          <a:spcPct val="100000"/>
                        </a:lnSpc>
                        <a:spcBef>
                          <a:spcPts val="0"/>
                        </a:spcBef>
                        <a:spcAft>
                          <a:spcPts val="0"/>
                        </a:spcAft>
                      </a:pPr>
                      <a:r>
                        <a:rPr sz="1300" b="0">
                          <a:solidFill>
                            <a:srgbClr val="1F1F1F"/>
                          </a:solidFill>
                          <a:latin typeface="Calibri"/>
                        </a:rPr>
                        <a:t>Resolução CVM 175, a</a:t>
                      </a:r>
                    </a:p>
                    <a:p>
                      <a:pPr algn="l">
                        <a:lnSpc>
                          <a:spcPct val="100000"/>
                        </a:lnSpc>
                        <a:spcBef>
                          <a:spcPts val="0"/>
                        </a:spcBef>
                        <a:spcAft>
                          <a:spcPts val="0"/>
                        </a:spcAft>
                      </a:pPr>
                      <a:r>
                        <a:rPr sz="1300" b="0">
                          <a:solidFill>
                            <a:srgbClr val="1F1F1F"/>
                          </a:solidFill>
                          <a:latin typeface="Calibri"/>
                        </a:rPr>
                        <a:t>taxa máxima de</a:t>
                      </a:r>
                    </a:p>
                    <a:p>
                      <a:pPr algn="l">
                        <a:lnSpc>
                          <a:spcPct val="100000"/>
                        </a:lnSpc>
                        <a:spcBef>
                          <a:spcPts val="0"/>
                        </a:spcBef>
                        <a:spcAft>
                          <a:spcPts val="0"/>
                        </a:spcAft>
                      </a:pPr>
                      <a:r>
                        <a:rPr sz="1300" b="0">
                          <a:solidFill>
                            <a:srgbClr val="1F1F1F"/>
                          </a:solidFill>
                          <a:latin typeface="Calibri"/>
                        </a:rPr>
                        <a:t>administração</a:t>
                      </a:r>
                    </a:p>
                    <a:p>
                      <a:pPr algn="l">
                        <a:lnSpc>
                          <a:spcPct val="100000"/>
                        </a:lnSpc>
                        <a:spcBef>
                          <a:spcPts val="0"/>
                        </a:spcBef>
                        <a:spcAft>
                          <a:spcPts val="0"/>
                        </a:spcAft>
                      </a:pPr>
                      <a:r>
                        <a:rPr sz="1300" b="0">
                          <a:solidFill>
                            <a:srgbClr val="1F1F1F"/>
                          </a:solidFill>
                          <a:latin typeface="Calibri"/>
                        </a:rPr>
                        <a:t>corresponderá ao valor</a:t>
                      </a:r>
                    </a:p>
                    <a:p>
                      <a:pPr algn="l">
                        <a:lnSpc>
                          <a:spcPct val="100000"/>
                        </a:lnSpc>
                        <a:spcBef>
                          <a:spcPts val="0"/>
                        </a:spcBef>
                        <a:spcAft>
                          <a:spcPts val="0"/>
                        </a:spcAft>
                      </a:pPr>
                      <a:r>
                        <a:rPr sz="1300" b="0">
                          <a:solidFill>
                            <a:srgbClr val="1F1F1F"/>
                          </a:solidFill>
                          <a:latin typeface="Calibri"/>
                        </a:rPr>
                        <a:t>da Taxa Mínima de</a:t>
                      </a:r>
                    </a:p>
                    <a:p>
                      <a:pPr algn="l">
                        <a:lnSpc>
                          <a:spcPct val="100000"/>
                        </a:lnSpc>
                        <a:spcBef>
                          <a:spcPts val="0"/>
                        </a:spcBef>
                        <a:spcAft>
                          <a:spcPts val="0"/>
                        </a:spcAft>
                      </a:pPr>
                      <a:r>
                        <a:rPr sz="1300" b="0">
                          <a:solidFill>
                            <a:srgbClr val="1F1F1F"/>
                          </a:solidFill>
                          <a:latin typeface="Calibri"/>
                        </a:rPr>
                        <a:t>Administração acrescida</a:t>
                      </a:r>
                    </a:p>
                    <a:p>
                      <a:pPr algn="l">
                        <a:lnSpc>
                          <a:spcPct val="100000"/>
                        </a:lnSpc>
                        <a:spcBef>
                          <a:spcPts val="0"/>
                        </a:spcBef>
                        <a:spcAft>
                          <a:spcPts val="0"/>
                        </a:spcAft>
                      </a:pPr>
                      <a:r>
                        <a:rPr sz="1300" b="0">
                          <a:solidFill>
                            <a:srgbClr val="1F1F1F"/>
                          </a:solidFill>
                          <a:latin typeface="Calibri"/>
                        </a:rPr>
                        <a:t>de até 0,10% (dez</a:t>
                      </a:r>
                    </a:p>
                    <a:p>
                      <a:pPr algn="l">
                        <a:lnSpc>
                          <a:spcPct val="100000"/>
                        </a:lnSpc>
                        <a:spcBef>
                          <a:spcPts val="0"/>
                        </a:spcBef>
                        <a:spcAft>
                          <a:spcPts val="0"/>
                        </a:spcAft>
                      </a:pPr>
                      <a:r>
                        <a:rPr sz="1300" b="0">
                          <a:solidFill>
                            <a:srgbClr val="1F1F1F"/>
                          </a:solidFill>
                          <a:latin typeface="Calibri"/>
                        </a:rPr>
                        <a:t>centésimos por cento)</a:t>
                      </a:r>
                    </a:p>
                    <a:p>
                      <a:pPr algn="l">
                        <a:lnSpc>
                          <a:spcPct val="100000"/>
                        </a:lnSpc>
                        <a:spcBef>
                          <a:spcPts val="0"/>
                        </a:spcBef>
                        <a:spcAft>
                          <a:spcPts val="0"/>
                        </a:spcAft>
                      </a:pPr>
                      <a:r>
                        <a:rPr sz="1300" b="0">
                          <a:solidFill>
                            <a:srgbClr val="1F1F1F"/>
                          </a:solidFill>
                          <a:latin typeface="Calibri"/>
                        </a:rPr>
                        <a:t>ao ano incidente sobre</a:t>
                      </a:r>
                    </a:p>
                    <a:p>
                      <a:pPr algn="l">
                        <a:lnSpc>
                          <a:spcPct val="100000"/>
                        </a:lnSpc>
                        <a:spcBef>
                          <a:spcPts val="0"/>
                        </a:spcBef>
                        <a:spcAft>
                          <a:spcPts val="0"/>
                        </a:spcAft>
                      </a:pPr>
                      <a:r>
                        <a:rPr sz="1300" b="0">
                          <a:solidFill>
                            <a:srgbClr val="1F1F1F"/>
                          </a:solidFill>
                          <a:latin typeface="Calibri"/>
                        </a:rPr>
                        <a:t>o patrimônio líquido da</a:t>
                      </a:r>
                    </a:p>
                    <a:p>
                      <a:pPr algn="l">
                        <a:lnSpc>
                          <a:spcPct val="100000"/>
                        </a:lnSpc>
                        <a:spcBef>
                          <a:spcPts val="0"/>
                        </a:spcBef>
                        <a:spcAft>
                          <a:spcPts val="0"/>
                        </a:spcAft>
                      </a:pPr>
                      <a:r>
                        <a:rPr sz="1300" b="0">
                          <a:solidFill>
                            <a:srgbClr val="1F1F1F"/>
                          </a:solidFill>
                          <a:latin typeface="Calibri"/>
                        </a:rPr>
                        <a:t>Classe Investida,</a:t>
                      </a:r>
                    </a:p>
                    <a:p>
                      <a:pPr algn="l">
                        <a:lnSpc>
                          <a:spcPct val="100000"/>
                        </a:lnSpc>
                        <a:spcBef>
                          <a:spcPts val="0"/>
                        </a:spcBef>
                        <a:spcAft>
                          <a:spcPts val="0"/>
                        </a:spcAft>
                      </a:pPr>
                      <a:r>
                        <a:rPr sz="1300" b="0">
                          <a:solidFill>
                            <a:srgbClr val="1F1F1F"/>
                          </a:solidFill>
                          <a:latin typeface="Calibri"/>
                        </a:rPr>
                        <a:t>compreendendo a taxa de</a:t>
                      </a:r>
                    </a:p>
                    <a:p>
                      <a:pPr algn="l">
                        <a:lnSpc>
                          <a:spcPct val="100000"/>
                        </a:lnSpc>
                        <a:spcBef>
                          <a:spcPts val="0"/>
                        </a:spcBef>
                        <a:spcAft>
                          <a:spcPts val="0"/>
                        </a:spcAft>
                      </a:pPr>
                      <a:r>
                        <a:rPr sz="1300" b="0">
                          <a:solidFill>
                            <a:srgbClr val="1F1F1F"/>
                          </a:solidFill>
                          <a:latin typeface="Calibri"/>
                        </a:rPr>
                        <a:t>administração da Classe</a:t>
                      </a:r>
                    </a:p>
                    <a:p>
                      <a:pPr algn="l">
                        <a:lnSpc>
                          <a:spcPct val="100000"/>
                        </a:lnSpc>
                        <a:spcBef>
                          <a:spcPts val="0"/>
                        </a:spcBef>
                        <a:spcAft>
                          <a:spcPts val="0"/>
                        </a:spcAft>
                      </a:pPr>
                      <a:r>
                        <a:rPr sz="1300" b="0">
                          <a:solidFill>
                            <a:srgbClr val="1F1F1F"/>
                          </a:solidFill>
                          <a:latin typeface="Calibri"/>
                        </a:rPr>
                        <a:t>Investida geridos por</a:t>
                      </a:r>
                    </a:p>
                    <a:p>
                      <a:pPr algn="l">
                        <a:lnSpc>
                          <a:spcPct val="100000"/>
                        </a:lnSpc>
                        <a:spcBef>
                          <a:spcPts val="0"/>
                        </a:spcBef>
                        <a:spcAft>
                          <a:spcPts val="0"/>
                        </a:spcAft>
                      </a:pPr>
                      <a:r>
                        <a:rPr sz="1300" b="0">
                          <a:solidFill>
                            <a:srgbClr val="1F1F1F"/>
                          </a:solidFill>
                          <a:latin typeface="Calibri"/>
                        </a:rPr>
                        <a:t>partes relacionadas ao</a:t>
                      </a:r>
                    </a:p>
                    <a:p>
                      <a:pPr algn="l">
                        <a:lnSpc>
                          <a:spcPct val="100000"/>
                        </a:lnSpc>
                        <a:spcBef>
                          <a:spcPts val="0"/>
                        </a:spcBef>
                        <a:spcAft>
                          <a:spcPts val="0"/>
                        </a:spcAft>
                      </a:pPr>
                      <a:r>
                        <a:rPr sz="1300" b="0">
                          <a:solidFill>
                            <a:srgbClr val="1F1F1F"/>
                          </a:solidFill>
                          <a:latin typeface="Calibri"/>
                        </a:rPr>
                        <a:t>GESTOR, cujas cotas não</a:t>
                      </a:r>
                    </a:p>
                    <a:p>
                      <a:pPr algn="l">
                        <a:lnSpc>
                          <a:spcPct val="100000"/>
                        </a:lnSpc>
                        <a:spcBef>
                          <a:spcPts val="0"/>
                        </a:spcBef>
                        <a:spcAft>
                          <a:spcPts val="0"/>
                        </a:spcAft>
                      </a:pPr>
                      <a:r>
                        <a:rPr sz="1300" b="0">
                          <a:solidFill>
                            <a:srgbClr val="1F1F1F"/>
                          </a:solidFill>
                          <a:latin typeface="Calibri"/>
                        </a:rPr>
                        <a:t>estão admitidas à</a:t>
                      </a:r>
                    </a:p>
                    <a:p>
                      <a:pPr algn="l">
                        <a:lnSpc>
                          <a:spcPct val="100000"/>
                        </a:lnSpc>
                        <a:spcBef>
                          <a:spcPts val="0"/>
                        </a:spcBef>
                        <a:spcAft>
                          <a:spcPts val="0"/>
                        </a:spcAft>
                      </a:pPr>
                      <a:r>
                        <a:rPr sz="1300" b="0">
                          <a:solidFill>
                            <a:srgbClr val="1F1F1F"/>
                          </a:solidFill>
                          <a:latin typeface="Calibri"/>
                        </a:rPr>
                        <a:t>negociação em mercado</a:t>
                      </a:r>
                    </a:p>
                    <a:p>
                      <a:pPr algn="l">
                        <a:lnSpc>
                          <a:spcPct val="100000"/>
                        </a:lnSpc>
                        <a:spcBef>
                          <a:spcPts val="0"/>
                        </a:spcBef>
                        <a:spcAft>
                          <a:spcPts val="0"/>
                        </a:spcAft>
                      </a:pPr>
                      <a:r>
                        <a:rPr sz="1300" b="0">
                          <a:solidFill>
                            <a:srgbClr val="1F1F1F"/>
                          </a:solidFill>
                          <a:latin typeface="Calibri"/>
                        </a:rPr>
                        <a:t>organizado, conforme</a:t>
                      </a:r>
                    </a:p>
                    <a:p>
                      <a:pPr algn="l">
                        <a:lnSpc>
                          <a:spcPct val="100000"/>
                        </a:lnSpc>
                        <a:spcBef>
                          <a:spcPts val="0"/>
                        </a:spcBef>
                        <a:spcAft>
                          <a:spcPts val="0"/>
                        </a:spcAft>
                      </a:pPr>
                      <a:r>
                        <a:rPr sz="1300" b="0">
                          <a:solidFill>
                            <a:srgbClr val="1F1F1F"/>
                          </a:solidFill>
                          <a:latin typeface="Calibri"/>
                        </a:rPr>
                        <a:t>prevista no regulamento</a:t>
                      </a:r>
                    </a:p>
                    <a:p>
                      <a:pPr algn="l">
                        <a:lnSpc>
                          <a:spcPct val="100000"/>
                        </a:lnSpc>
                        <a:spcBef>
                          <a:spcPts val="0"/>
                        </a:spcBef>
                        <a:spcAft>
                          <a:spcPts val="0"/>
                        </a:spcAft>
                      </a:pPr>
                      <a:r>
                        <a:rPr sz="1300" b="0">
                          <a:solidFill>
                            <a:srgbClr val="1F1F1F"/>
                          </a:solidFill>
                          <a:latin typeface="Calibri"/>
                        </a:rPr>
                        <a:t>da Classe Investida</a:t>
                      </a:r>
                    </a:p>
                    <a:p>
                      <a:pPr algn="l">
                        <a:lnSpc>
                          <a:spcPct val="100000"/>
                        </a:lnSpc>
                        <a:spcBef>
                          <a:spcPts val="0"/>
                        </a:spcBef>
                        <a:spcAft>
                          <a:spcPts val="0"/>
                        </a:spcAft>
                      </a:pPr>
                      <a:r>
                        <a:rPr sz="1300" b="0">
                          <a:solidFill>
                            <a:srgbClr val="1F1F1F"/>
                          </a:solidFill>
                          <a:latin typeface="Calibri"/>
                        </a:rPr>
                        <a:t>(“Taxa Máxima de</a:t>
                      </a:r>
                    </a:p>
                    <a:p>
                      <a:pPr algn="l">
                        <a:lnSpc>
                          <a:spcPct val="100000"/>
                        </a:lnSpc>
                        <a:spcBef>
                          <a:spcPts val="0"/>
                        </a:spcBef>
                        <a:spcAft>
                          <a:spcPts val="0"/>
                        </a:spcAft>
                      </a:pPr>
                      <a:r>
                        <a:rPr sz="1300" b="0">
                          <a:solidFill>
                            <a:srgbClr val="1F1F1F"/>
                          </a:solidFill>
                          <a:latin typeface="Calibri"/>
                        </a:rPr>
                        <a:t>Administração” e,</a:t>
                      </a:r>
                    </a:p>
                    <a:p>
                      <a:pPr algn="l">
                        <a:lnSpc>
                          <a:spcPct val="100000"/>
                        </a:lnSpc>
                        <a:spcBef>
                          <a:spcPts val="0"/>
                        </a:spcBef>
                        <a:spcAft>
                          <a:spcPts val="0"/>
                        </a:spcAft>
                      </a:pPr>
                      <a:r>
                        <a:rPr sz="1300" b="0">
                          <a:solidFill>
                            <a:srgbClr val="1F1F1F"/>
                          </a:solidFill>
                          <a:latin typeface="Calibri"/>
                        </a:rPr>
                        <a:t>quando referida em</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23/160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Alocação e perímetro</a:t>
            </a:r>
          </a:p>
        </p:txBody>
      </p:sp>
      <p:graphicFrame>
        <p:nvGraphicFramePr>
          <p:cNvPr id="3" name="Table 2"/>
          <p:cNvGraphicFramePr>
            <a:graphicFrameLocks noGrp="1"/>
          </p:cNvGraphicFramePr>
          <p:nvPr/>
        </p:nvGraphicFramePr>
        <p:xfrm>
          <a:off x="438912" y="932688"/>
          <a:ext cx="11313868" cy="2628900"/>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2157984">
                <a:tc>
                  <a:txBody>
                    <a:bodyPr wrap="square">
                      <a:noAutofit/>
                    </a:bodyPr>
                    <a:lstStyle/>
                    <a:p>
                      <a:pPr algn="l">
                        <a:lnSpc>
                          <a:spcPct val="100000"/>
                        </a:lnSpc>
                        <a:spcBef>
                          <a:spcPts val="0"/>
                        </a:spcBef>
                        <a:spcAft>
                          <a:spcPts val="0"/>
                        </a:spcAft>
                      </a:pPr>
                      <a:r>
                        <a:rPr sz="1300" b="1">
                          <a:solidFill>
                            <a:srgbClr val="1F1F1F"/>
                          </a:solidFill>
                          <a:latin typeface="Calibri"/>
                        </a:rPr>
                        <a:t>Adaptação à Resolução</a:t>
                      </a:r>
                    </a:p>
                    <a:p>
                      <a:pPr algn="l">
                        <a:lnSpc>
                          <a:spcPct val="100000"/>
                        </a:lnSpc>
                        <a:spcBef>
                          <a:spcPts val="0"/>
                        </a:spcBef>
                        <a:spcAft>
                          <a:spcPts val="0"/>
                        </a:spcAft>
                      </a:pPr>
                      <a:r>
                        <a:rPr sz="1300" b="1">
                          <a:solidFill>
                            <a:srgbClr val="1F1F1F"/>
                          </a:solidFill>
                          <a:latin typeface="Calibri"/>
                        </a:rPr>
                        <a:t>CVM 175 (continuação)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conjunto com a Taxa</a:t>
                      </a:r>
                    </a:p>
                    <a:p>
                      <a:pPr algn="l">
                        <a:lnSpc>
                          <a:spcPct val="100000"/>
                        </a:lnSpc>
                        <a:spcBef>
                          <a:spcPts val="0"/>
                        </a:spcBef>
                        <a:spcAft>
                          <a:spcPts val="0"/>
                        </a:spcAft>
                      </a:pPr>
                      <a:r>
                        <a:rPr sz="1300" b="0">
                          <a:solidFill>
                            <a:srgbClr val="1F1F1F"/>
                          </a:solidFill>
                          <a:latin typeface="Calibri"/>
                        </a:rPr>
                        <a:t>Mínima de</a:t>
                      </a:r>
                    </a:p>
                    <a:p>
                      <a:pPr algn="l">
                        <a:lnSpc>
                          <a:spcPct val="100000"/>
                        </a:lnSpc>
                        <a:spcBef>
                          <a:spcPts val="0"/>
                        </a:spcBef>
                        <a:spcAft>
                          <a:spcPts val="0"/>
                        </a:spcAft>
                      </a:pPr>
                      <a:r>
                        <a:rPr sz="1300" b="0">
                          <a:solidFill>
                            <a:srgbClr val="1F1F1F"/>
                          </a:solidFill>
                          <a:latin typeface="Calibri"/>
                        </a:rPr>
                        <a:t>Administração, como</a:t>
                      </a:r>
                    </a:p>
                    <a:p>
                      <a:pPr algn="l">
                        <a:lnSpc>
                          <a:spcPct val="100000"/>
                        </a:lnSpc>
                        <a:spcBef>
                          <a:spcPts val="0"/>
                        </a:spcBef>
                        <a:spcAft>
                          <a:spcPts val="0"/>
                        </a:spcAft>
                      </a:pPr>
                      <a:r>
                        <a:rPr sz="1300" b="0">
                          <a:solidFill>
                            <a:srgbClr val="1F1F1F"/>
                          </a:solidFill>
                          <a:latin typeface="Calibri"/>
                        </a:rPr>
                        <a:t>“Taxa de</a:t>
                      </a:r>
                    </a:p>
                    <a:p>
                      <a:pPr algn="l">
                        <a:lnSpc>
                          <a:spcPct val="100000"/>
                        </a:lnSpc>
                        <a:spcBef>
                          <a:spcPts val="0"/>
                        </a:spcBef>
                        <a:spcAft>
                          <a:spcPts val="0"/>
                        </a:spcAft>
                      </a:pPr>
                      <a:r>
                        <a:rPr sz="1300" b="0">
                          <a:solidFill>
                            <a:srgbClr val="1F1F1F"/>
                          </a:solidFill>
                          <a:latin typeface="Calibri"/>
                        </a:rPr>
                        <a:t>Administração”). Caso a</a:t>
                      </a:r>
                    </a:p>
                    <a:p>
                      <a:pPr algn="l">
                        <a:lnSpc>
                          <a:spcPct val="100000"/>
                        </a:lnSpc>
                        <a:spcBef>
                          <a:spcPts val="0"/>
                        </a:spcBef>
                        <a:spcAft>
                          <a:spcPts val="0"/>
                        </a:spcAft>
                      </a:pPr>
                      <a:r>
                        <a:rPr sz="1300" b="0">
                          <a:solidFill>
                            <a:srgbClr val="1F1F1F"/>
                          </a:solidFill>
                          <a:latin typeface="Calibri"/>
                        </a:rPr>
                        <a:t>taxa de administração</a:t>
                      </a:r>
                    </a:p>
                    <a:p>
                      <a:pPr algn="l">
                        <a:lnSpc>
                          <a:spcPct val="100000"/>
                        </a:lnSpc>
                        <a:spcBef>
                          <a:spcPts val="0"/>
                        </a:spcBef>
                        <a:spcAft>
                          <a:spcPts val="0"/>
                        </a:spcAft>
                      </a:pPr>
                      <a:r>
                        <a:rPr sz="1300" b="0">
                          <a:solidFill>
                            <a:srgbClr val="1F1F1F"/>
                          </a:solidFill>
                          <a:latin typeface="Calibri"/>
                        </a:rPr>
                        <a:t>da Classe Investida não</a:t>
                      </a:r>
                    </a:p>
                    <a:p>
                      <a:pPr algn="l">
                        <a:lnSpc>
                          <a:spcPct val="100000"/>
                        </a:lnSpc>
                        <a:spcBef>
                          <a:spcPts val="0"/>
                        </a:spcBef>
                        <a:spcAft>
                          <a:spcPts val="0"/>
                        </a:spcAft>
                      </a:pPr>
                      <a:r>
                        <a:rPr sz="1300" b="0">
                          <a:solidFill>
                            <a:srgbClr val="1F1F1F"/>
                          </a:solidFill>
                          <a:latin typeface="Calibri"/>
                        </a:rPr>
                        <a:t>se enquadre no disposto</a:t>
                      </a:r>
                    </a:p>
                    <a:p>
                      <a:pPr algn="l">
                        <a:lnSpc>
                          <a:spcPct val="100000"/>
                        </a:lnSpc>
                        <a:spcBef>
                          <a:spcPts val="0"/>
                        </a:spcBef>
                        <a:spcAft>
                          <a:spcPts val="0"/>
                        </a:spcAft>
                      </a:pPr>
                      <a:r>
                        <a:rPr sz="1300" b="0">
                          <a:solidFill>
                            <a:srgbClr val="1F1F1F"/>
                          </a:solidFill>
                          <a:latin typeface="Calibri"/>
                        </a:rPr>
                        <a:t>acima, estará disposta</a:t>
                      </a:r>
                    </a:p>
                    <a:p>
                      <a:pPr algn="l">
                        <a:lnSpc>
                          <a:spcPct val="100000"/>
                        </a:lnSpc>
                        <a:spcBef>
                          <a:spcPts val="0"/>
                        </a:spcBef>
                        <a:spcAft>
                          <a:spcPts val="0"/>
                        </a:spcAft>
                      </a:pPr>
                      <a:r>
                        <a:rPr sz="1300" b="0">
                          <a:solidFill>
                            <a:srgbClr val="1F1F1F"/>
                          </a:solidFill>
                          <a:latin typeface="Calibri"/>
                        </a:rPr>
                        <a:t>no regulamento da</a:t>
                      </a:r>
                    </a:p>
                    <a:p>
                      <a:pPr algn="l">
                        <a:lnSpc>
                          <a:spcPct val="100000"/>
                        </a:lnSpc>
                        <a:spcBef>
                          <a:spcPts val="0"/>
                        </a:spcBef>
                        <a:spcAft>
                          <a:spcPts val="0"/>
                        </a:spcAft>
                      </a:pPr>
                      <a:r>
                        <a:rPr sz="1300" b="0">
                          <a:solidFill>
                            <a:srgbClr val="1F1F1F"/>
                          </a:solidFill>
                          <a:latin typeface="Calibri"/>
                        </a:rPr>
                        <a:t>Classe Investida.</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24/160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Alocação e perímetro</a:t>
            </a:r>
          </a:p>
        </p:txBody>
      </p:sp>
      <p:graphicFrame>
        <p:nvGraphicFramePr>
          <p:cNvPr id="3" name="Table 2"/>
          <p:cNvGraphicFramePr>
            <a:graphicFrameLocks noGrp="1"/>
          </p:cNvGraphicFramePr>
          <p:nvPr/>
        </p:nvGraphicFramePr>
        <p:xfrm>
          <a:off x="438912" y="932688"/>
          <a:ext cx="11313868" cy="5253228"/>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4782312">
                <a:tc>
                  <a:txBody>
                    <a:bodyPr wrap="square">
                      <a:noAutofit/>
                    </a:bodyPr>
                    <a:lstStyle/>
                    <a:p>
                      <a:pPr algn="l">
                        <a:lnSpc>
                          <a:spcPct val="100000"/>
                        </a:lnSpc>
                        <a:spcBef>
                          <a:spcPts val="0"/>
                        </a:spcBef>
                        <a:spcAft>
                          <a:spcPts val="0"/>
                        </a:spcAft>
                      </a:pPr>
                      <a:r>
                        <a:rPr sz="1300" b="1">
                          <a:solidFill>
                            <a:srgbClr val="1F1F1F"/>
                          </a:solidFill>
                          <a:latin typeface="Calibri"/>
                        </a:rPr>
                        <a:t>Duração e público-alvo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O Consignado Delta</a:t>
                      </a:r>
                    </a:p>
                    <a:p>
                      <a:pPr algn="l">
                        <a:lnSpc>
                          <a:spcPct val="100000"/>
                        </a:lnSpc>
                        <a:spcBef>
                          <a:spcPts val="0"/>
                        </a:spcBef>
                        <a:spcAft>
                          <a:spcPts val="0"/>
                        </a:spcAft>
                      </a:pPr>
                      <a:r>
                        <a:rPr sz="1300" b="0">
                          <a:solidFill>
                            <a:srgbClr val="1F1F1F"/>
                          </a:solidFill>
                          <a:latin typeface="Calibri"/>
                        </a:rPr>
                        <a:t>Receivables I Fundo de</a:t>
                      </a:r>
                    </a:p>
                    <a:p>
                      <a:pPr algn="l">
                        <a:lnSpc>
                          <a:spcPct val="100000"/>
                        </a:lnSpc>
                        <a:spcBef>
                          <a:spcPts val="0"/>
                        </a:spcBef>
                        <a:spcAft>
                          <a:spcPts val="0"/>
                        </a:spcAft>
                      </a:pPr>
                      <a:r>
                        <a:rPr sz="1300" b="0">
                          <a:solidFill>
                            <a:srgbClr val="1F1F1F"/>
                          </a:solidFill>
                          <a:latin typeface="Calibri"/>
                        </a:rPr>
                        <a:t>Investimento em</a:t>
                      </a:r>
                    </a:p>
                    <a:p>
                      <a:pPr algn="l">
                        <a:lnSpc>
                          <a:spcPct val="100000"/>
                        </a:lnSpc>
                        <a:spcBef>
                          <a:spcPts val="0"/>
                        </a:spcBef>
                        <a:spcAft>
                          <a:spcPts val="0"/>
                        </a:spcAft>
                      </a:pPr>
                      <a:r>
                        <a:rPr sz="1300" b="0">
                          <a:solidFill>
                            <a:srgbClr val="1F1F1F"/>
                          </a:solidFill>
                          <a:latin typeface="Calibri"/>
                        </a:rPr>
                        <a:t>Direitos Creditórios</a:t>
                      </a:r>
                    </a:p>
                    <a:p>
                      <a:pPr algn="l">
                        <a:lnSpc>
                          <a:spcPct val="100000"/>
                        </a:lnSpc>
                        <a:spcBef>
                          <a:spcPts val="0"/>
                        </a:spcBef>
                        <a:spcAft>
                          <a:spcPts val="0"/>
                        </a:spcAft>
                      </a:pPr>
                      <a:r>
                        <a:rPr sz="1300" b="0">
                          <a:solidFill>
                            <a:srgbClr val="1F1F1F"/>
                          </a:solidFill>
                          <a:latin typeface="Calibri"/>
                        </a:rPr>
                        <a:t>possui uma classe única</a:t>
                      </a:r>
                    </a:p>
                    <a:p>
                      <a:pPr algn="l">
                        <a:lnSpc>
                          <a:spcPct val="100000"/>
                        </a:lnSpc>
                        <a:spcBef>
                          <a:spcPts val="0"/>
                        </a:spcBef>
                        <a:spcAft>
                          <a:spcPts val="0"/>
                        </a:spcAft>
                      </a:pPr>
                      <a:r>
                        <a:rPr sz="1300" b="0">
                          <a:solidFill>
                            <a:srgbClr val="1F1F1F"/>
                          </a:solidFill>
                          <a:latin typeface="Calibri"/>
                        </a:rPr>
                        <a:t>de cotas, denominada</a:t>
                      </a:r>
                    </a:p>
                    <a:p>
                      <a:pPr algn="l">
                        <a:lnSpc>
                          <a:spcPct val="100000"/>
                        </a:lnSpc>
                        <a:spcBef>
                          <a:spcPts val="0"/>
                        </a:spcBef>
                        <a:spcAft>
                          <a:spcPts val="0"/>
                        </a:spcAft>
                      </a:pPr>
                      <a:r>
                        <a:rPr sz="1300" b="0">
                          <a:solidFill>
                            <a:srgbClr val="1F1F1F"/>
                          </a:solidFill>
                          <a:latin typeface="Calibri"/>
                        </a:rPr>
                        <a:t>Classe Única de</a:t>
                      </a:r>
                    </a:p>
                    <a:p>
                      <a:pPr algn="l">
                        <a:lnSpc>
                          <a:spcPct val="100000"/>
                        </a:lnSpc>
                        <a:spcBef>
                          <a:spcPts val="0"/>
                        </a:spcBef>
                        <a:spcAft>
                          <a:spcPts val="0"/>
                        </a:spcAft>
                      </a:pPr>
                      <a:r>
                        <a:rPr sz="1300" b="0">
                          <a:solidFill>
                            <a:srgbClr val="1F1F1F"/>
                          </a:solidFill>
                          <a:latin typeface="Calibri"/>
                        </a:rPr>
                        <a:t>Responsabilidade</a:t>
                      </a:r>
                    </a:p>
                    <a:p>
                      <a:pPr algn="l">
                        <a:lnSpc>
                          <a:spcPct val="100000"/>
                        </a:lnSpc>
                        <a:spcBef>
                          <a:spcPts val="0"/>
                        </a:spcBef>
                        <a:spcAft>
                          <a:spcPts val="0"/>
                        </a:spcAft>
                      </a:pPr>
                      <a:r>
                        <a:rPr sz="1300" b="0">
                          <a:solidFill>
                            <a:srgbClr val="1F1F1F"/>
                          </a:solidFill>
                          <a:latin typeface="Calibri"/>
                        </a:rPr>
                        <a:t>Limitada do Consignado</a:t>
                      </a:r>
                    </a:p>
                    <a:p>
                      <a:pPr algn="l">
                        <a:lnSpc>
                          <a:spcPct val="100000"/>
                        </a:lnSpc>
                        <a:spcBef>
                          <a:spcPts val="0"/>
                        </a:spcBef>
                        <a:spcAft>
                          <a:spcPts val="0"/>
                        </a:spcAft>
                      </a:pPr>
                      <a:r>
                        <a:rPr sz="1300" b="0">
                          <a:solidFill>
                            <a:srgbClr val="1F1F1F"/>
                          </a:solidFill>
                          <a:latin typeface="Calibri"/>
                        </a:rPr>
                        <a:t>Delta Receivables I</a:t>
                      </a:r>
                    </a:p>
                    <a:p>
                      <a:pPr algn="l">
                        <a:lnSpc>
                          <a:spcPct val="100000"/>
                        </a:lnSpc>
                        <a:spcBef>
                          <a:spcPts val="0"/>
                        </a:spcBef>
                        <a:spcAft>
                          <a:spcPts val="0"/>
                        </a:spcAft>
                      </a:pPr>
                      <a:r>
                        <a:rPr sz="1300" b="0">
                          <a:solidFill>
                            <a:srgbClr val="1F1F1F"/>
                          </a:solidFill>
                          <a:latin typeface="Calibri"/>
                        </a:rPr>
                        <a:t>Fundo de Investimento</a:t>
                      </a:r>
                    </a:p>
                    <a:p>
                      <a:pPr algn="l">
                        <a:lnSpc>
                          <a:spcPct val="100000"/>
                        </a:lnSpc>
                        <a:spcBef>
                          <a:spcPts val="0"/>
                        </a:spcBef>
                        <a:spcAft>
                          <a:spcPts val="0"/>
                        </a:spcAft>
                      </a:pPr>
                      <a:r>
                        <a:rPr sz="1300" b="0">
                          <a:solidFill>
                            <a:srgbClr val="1F1F1F"/>
                          </a:solidFill>
                          <a:latin typeface="Calibri"/>
                        </a:rPr>
                        <a:t>em Direitos Creditórios</a:t>
                      </a:r>
                    </a:p>
                    <a:p>
                      <a:pPr algn="l">
                        <a:lnSpc>
                          <a:spcPct val="100000"/>
                        </a:lnSpc>
                        <a:spcBef>
                          <a:spcPts val="0"/>
                        </a:spcBef>
                        <a:spcAft>
                          <a:spcPts val="0"/>
                        </a:spcAft>
                      </a:pPr>
                      <a:r>
                        <a:rPr sz="1300" b="0">
                          <a:solidFill>
                            <a:srgbClr val="1F1F1F"/>
                          </a:solidFill>
                          <a:latin typeface="Calibri"/>
                        </a:rPr>
                        <a:t>(“Classe”). A Classe</a:t>
                      </a:r>
                    </a:p>
                    <a:p>
                      <a:pPr algn="l">
                        <a:lnSpc>
                          <a:spcPct val="100000"/>
                        </a:lnSpc>
                        <a:spcBef>
                          <a:spcPts val="0"/>
                        </a:spcBef>
                        <a:spcAft>
                          <a:spcPts val="0"/>
                        </a:spcAft>
                      </a:pPr>
                      <a:r>
                        <a:rPr sz="1300" b="0">
                          <a:solidFill>
                            <a:srgbClr val="1F1F1F"/>
                          </a:solidFill>
                          <a:latin typeface="Calibri"/>
                        </a:rPr>
                        <a:t>foi constituída em 19</a:t>
                      </a:r>
                    </a:p>
                    <a:p>
                      <a:pPr algn="l">
                        <a:lnSpc>
                          <a:spcPct val="100000"/>
                        </a:lnSpc>
                        <a:spcBef>
                          <a:spcPts val="0"/>
                        </a:spcBef>
                        <a:spcAft>
                          <a:spcPts val="0"/>
                        </a:spcAft>
                      </a:pPr>
                      <a:r>
                        <a:rPr sz="1300" b="0">
                          <a:solidFill>
                            <a:srgbClr val="1F1F1F"/>
                          </a:solidFill>
                          <a:latin typeface="Calibri"/>
                        </a:rPr>
                        <a:t>de abril de 2024, sob a</a:t>
                      </a:r>
                    </a:p>
                    <a:p>
                      <a:pPr algn="l">
                        <a:lnSpc>
                          <a:spcPct val="100000"/>
                        </a:lnSpc>
                        <a:spcBef>
                          <a:spcPts val="0"/>
                        </a:spcBef>
                        <a:spcAft>
                          <a:spcPts val="0"/>
                        </a:spcAft>
                      </a:pPr>
                      <a:r>
                        <a:rPr sz="1300" b="0">
                          <a:solidFill>
                            <a:srgbClr val="1F1F1F"/>
                          </a:solidFill>
                          <a:latin typeface="Calibri"/>
                        </a:rPr>
                        <a:t>forma de condomínio</a:t>
                      </a:r>
                    </a:p>
                    <a:p>
                      <a:pPr algn="l">
                        <a:lnSpc>
                          <a:spcPct val="100000"/>
                        </a:lnSpc>
                        <a:spcBef>
                          <a:spcPts val="0"/>
                        </a:spcBef>
                        <a:spcAft>
                          <a:spcPts val="0"/>
                        </a:spcAft>
                      </a:pPr>
                      <a:r>
                        <a:rPr sz="1300" b="0">
                          <a:solidFill>
                            <a:srgbClr val="1F1F1F"/>
                          </a:solidFill>
                          <a:latin typeface="Calibri"/>
                        </a:rPr>
                        <a:t>fechado e iniciou suas</a:t>
                      </a:r>
                    </a:p>
                    <a:p>
                      <a:pPr algn="l">
                        <a:lnSpc>
                          <a:spcPct val="100000"/>
                        </a:lnSpc>
                        <a:spcBef>
                          <a:spcPts val="0"/>
                        </a:spcBef>
                        <a:spcAft>
                          <a:spcPts val="0"/>
                        </a:spcAft>
                      </a:pPr>
                      <a:r>
                        <a:rPr sz="1300" b="0">
                          <a:solidFill>
                            <a:srgbClr val="1F1F1F"/>
                          </a:solidFill>
                          <a:latin typeface="Calibri"/>
                        </a:rPr>
                        <a:t>operações em 27 de maio</a:t>
                      </a:r>
                    </a:p>
                    <a:p>
                      <a:pPr algn="l">
                        <a:lnSpc>
                          <a:spcPct val="100000"/>
                        </a:lnSpc>
                        <a:spcBef>
                          <a:spcPts val="0"/>
                        </a:spcBef>
                        <a:spcAft>
                          <a:spcPts val="0"/>
                        </a:spcAft>
                      </a:pPr>
                      <a:r>
                        <a:rPr sz="1300" b="0">
                          <a:solidFill>
                            <a:srgbClr val="1F1F1F"/>
                          </a:solidFill>
                          <a:latin typeface="Calibri"/>
                        </a:rPr>
                        <a:t>de 2024. A Classe</a:t>
                      </a:r>
                    </a:p>
                    <a:p>
                      <a:pPr algn="l">
                        <a:lnSpc>
                          <a:spcPct val="100000"/>
                        </a:lnSpc>
                        <a:spcBef>
                          <a:spcPts val="0"/>
                        </a:spcBef>
                        <a:spcAft>
                          <a:spcPts val="0"/>
                        </a:spcAft>
                      </a:pPr>
                      <a:r>
                        <a:rPr sz="1300" b="0">
                          <a:solidFill>
                            <a:srgbClr val="1F1F1F"/>
                          </a:solidFill>
                          <a:latin typeface="Calibri"/>
                        </a:rPr>
                        <a:t>possui prazo de duração</a:t>
                      </a:r>
                    </a:p>
                    <a:p>
                      <a:pPr algn="l">
                        <a:lnSpc>
                          <a:spcPct val="100000"/>
                        </a:lnSpc>
                        <a:spcBef>
                          <a:spcPts val="0"/>
                        </a:spcBef>
                        <a:spcAft>
                          <a:spcPts val="0"/>
                        </a:spcAft>
                      </a:pPr>
                      <a:r>
                        <a:rPr sz="1300" b="0">
                          <a:solidFill>
                            <a:srgbClr val="1F1F1F"/>
                          </a:solidFill>
                          <a:latin typeface="Calibri"/>
                        </a:rPr>
                        <a:t>Indeterminado.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1. Contexto operacional</a:t>
                      </a:r>
                    </a:p>
                    <a:p>
                      <a:pPr algn="l">
                        <a:lnSpc>
                          <a:spcPct val="100000"/>
                        </a:lnSpc>
                        <a:spcBef>
                          <a:spcPts val="0"/>
                        </a:spcBef>
                        <a:spcAft>
                          <a:spcPts val="0"/>
                        </a:spcAft>
                      </a:pPr>
                      <a:r>
                        <a:rPr sz="1300" b="0">
                          <a:solidFill>
                            <a:srgbClr val="1F1F1F"/>
                          </a:solidFill>
                          <a:latin typeface="Calibri"/>
                        </a:rPr>
                        <a:t>O MT Consignado Privado</a:t>
                      </a:r>
                    </a:p>
                    <a:p>
                      <a:pPr algn="l">
                        <a:lnSpc>
                          <a:spcPct val="100000"/>
                        </a:lnSpc>
                        <a:spcBef>
                          <a:spcPts val="0"/>
                        </a:spcBef>
                        <a:spcAft>
                          <a:spcPts val="0"/>
                        </a:spcAft>
                      </a:pPr>
                      <a:r>
                        <a:rPr sz="1300" b="0">
                          <a:solidFill>
                            <a:srgbClr val="1F1F1F"/>
                          </a:solidFill>
                          <a:latin typeface="Calibri"/>
                        </a:rPr>
                        <a:t>I Fundo de Investimento</a:t>
                      </a:r>
                    </a:p>
                    <a:p>
                      <a:pPr algn="l">
                        <a:lnSpc>
                          <a:spcPct val="100000"/>
                        </a:lnSpc>
                        <a:spcBef>
                          <a:spcPts val="0"/>
                        </a:spcBef>
                        <a:spcAft>
                          <a:spcPts val="0"/>
                        </a:spcAft>
                      </a:pPr>
                      <a:r>
                        <a:rPr sz="1300" b="0">
                          <a:solidFill>
                            <a:srgbClr val="1F1F1F"/>
                          </a:solidFill>
                          <a:latin typeface="Calibri"/>
                        </a:rPr>
                        <a:t>em Direitos Creditórios</a:t>
                      </a:r>
                    </a:p>
                    <a:p>
                      <a:pPr algn="l">
                        <a:lnSpc>
                          <a:spcPct val="100000"/>
                        </a:lnSpc>
                        <a:spcBef>
                          <a:spcPts val="0"/>
                        </a:spcBef>
                        <a:spcAft>
                          <a:spcPts val="0"/>
                        </a:spcAft>
                      </a:pPr>
                      <a:r>
                        <a:rPr sz="1300" b="0">
                          <a:solidFill>
                            <a:srgbClr val="1F1F1F"/>
                          </a:solidFill>
                          <a:latin typeface="Calibri"/>
                        </a:rPr>
                        <a:t>(“Fundo”) possui uma</a:t>
                      </a:r>
                    </a:p>
                    <a:p>
                      <a:pPr algn="l">
                        <a:lnSpc>
                          <a:spcPct val="100000"/>
                        </a:lnSpc>
                        <a:spcBef>
                          <a:spcPts val="0"/>
                        </a:spcBef>
                        <a:spcAft>
                          <a:spcPts val="0"/>
                        </a:spcAft>
                      </a:pPr>
                      <a:r>
                        <a:rPr sz="1300" b="0">
                          <a:solidFill>
                            <a:srgbClr val="1F1F1F"/>
                          </a:solidFill>
                          <a:latin typeface="Calibri"/>
                        </a:rPr>
                        <a:t>classe única de cotas,</a:t>
                      </a:r>
                    </a:p>
                    <a:p>
                      <a:pPr algn="l">
                        <a:lnSpc>
                          <a:spcPct val="100000"/>
                        </a:lnSpc>
                        <a:spcBef>
                          <a:spcPts val="0"/>
                        </a:spcBef>
                        <a:spcAft>
                          <a:spcPts val="0"/>
                        </a:spcAft>
                      </a:pPr>
                      <a:r>
                        <a:rPr sz="1300" b="0">
                          <a:solidFill>
                            <a:srgbClr val="1F1F1F"/>
                          </a:solidFill>
                          <a:latin typeface="Calibri"/>
                        </a:rPr>
                        <a:t>denominada Classe Única</a:t>
                      </a:r>
                    </a:p>
                    <a:p>
                      <a:pPr algn="l">
                        <a:lnSpc>
                          <a:spcPct val="100000"/>
                        </a:lnSpc>
                        <a:spcBef>
                          <a:spcPts val="0"/>
                        </a:spcBef>
                        <a:spcAft>
                          <a:spcPts val="0"/>
                        </a:spcAft>
                      </a:pPr>
                      <a:r>
                        <a:rPr sz="1300" b="0">
                          <a:solidFill>
                            <a:srgbClr val="1F1F1F"/>
                          </a:solidFill>
                          <a:latin typeface="Calibri"/>
                        </a:rPr>
                        <a:t>do MT I Consignado</a:t>
                      </a:r>
                    </a:p>
                    <a:p>
                      <a:pPr algn="l">
                        <a:lnSpc>
                          <a:spcPct val="100000"/>
                        </a:lnSpc>
                        <a:spcBef>
                          <a:spcPts val="0"/>
                        </a:spcBef>
                        <a:spcAft>
                          <a:spcPts val="0"/>
                        </a:spcAft>
                      </a:pPr>
                      <a:r>
                        <a:rPr sz="1300" b="0">
                          <a:solidFill>
                            <a:srgbClr val="1F1F1F"/>
                          </a:solidFill>
                          <a:latin typeface="Calibri"/>
                        </a:rPr>
                        <a:t>Privado I Fundo de</a:t>
                      </a:r>
                    </a:p>
                    <a:p>
                      <a:pPr algn="l">
                        <a:lnSpc>
                          <a:spcPct val="100000"/>
                        </a:lnSpc>
                        <a:spcBef>
                          <a:spcPts val="0"/>
                        </a:spcBef>
                        <a:spcAft>
                          <a:spcPts val="0"/>
                        </a:spcAft>
                      </a:pPr>
                      <a:r>
                        <a:rPr sz="1300" b="0">
                          <a:solidFill>
                            <a:srgbClr val="1F1F1F"/>
                          </a:solidFill>
                          <a:latin typeface="Calibri"/>
                        </a:rPr>
                        <a:t>Investimento em</a:t>
                      </a:r>
                    </a:p>
                    <a:p>
                      <a:pPr algn="l">
                        <a:lnSpc>
                          <a:spcPct val="100000"/>
                        </a:lnSpc>
                        <a:spcBef>
                          <a:spcPts val="0"/>
                        </a:spcBef>
                        <a:spcAft>
                          <a:spcPts val="0"/>
                        </a:spcAft>
                      </a:pPr>
                      <a:r>
                        <a:rPr sz="1300" b="0">
                          <a:solidFill>
                            <a:srgbClr val="1F1F1F"/>
                          </a:solidFill>
                          <a:latin typeface="Calibri"/>
                        </a:rPr>
                        <a:t>Direitos Creditórios</a:t>
                      </a:r>
                    </a:p>
                    <a:p>
                      <a:pPr algn="l">
                        <a:lnSpc>
                          <a:spcPct val="100000"/>
                        </a:lnSpc>
                        <a:spcBef>
                          <a:spcPts val="0"/>
                        </a:spcBef>
                        <a:spcAft>
                          <a:spcPts val="0"/>
                        </a:spcAft>
                      </a:pPr>
                      <a:r>
                        <a:rPr sz="1300" b="0">
                          <a:solidFill>
                            <a:srgbClr val="1F1F1F"/>
                          </a:solidFill>
                          <a:latin typeface="Calibri"/>
                        </a:rPr>
                        <a:t>Responsabilidade</a:t>
                      </a:r>
                    </a:p>
                    <a:p>
                      <a:pPr algn="l">
                        <a:lnSpc>
                          <a:spcPct val="100000"/>
                        </a:lnSpc>
                        <a:spcBef>
                          <a:spcPts val="0"/>
                        </a:spcBef>
                        <a:spcAft>
                          <a:spcPts val="0"/>
                        </a:spcAft>
                      </a:pPr>
                      <a:r>
                        <a:rPr sz="1300" b="0">
                          <a:solidFill>
                            <a:srgbClr val="1F1F1F"/>
                          </a:solidFill>
                          <a:latin typeface="Calibri"/>
                        </a:rPr>
                        <a:t>Limitada (“Classe”). A</a:t>
                      </a:r>
                    </a:p>
                    <a:p>
                      <a:pPr algn="l">
                        <a:lnSpc>
                          <a:spcPct val="100000"/>
                        </a:lnSpc>
                        <a:spcBef>
                          <a:spcPts val="0"/>
                        </a:spcBef>
                        <a:spcAft>
                          <a:spcPts val="0"/>
                        </a:spcAft>
                      </a:pPr>
                      <a:r>
                        <a:rPr sz="1300" b="0">
                          <a:solidFill>
                            <a:srgbClr val="1F1F1F"/>
                          </a:solidFill>
                          <a:latin typeface="Calibri"/>
                        </a:rPr>
                        <a:t>Classe foi constituída</a:t>
                      </a:r>
                    </a:p>
                    <a:p>
                      <a:pPr algn="l">
                        <a:lnSpc>
                          <a:spcPct val="100000"/>
                        </a:lnSpc>
                        <a:spcBef>
                          <a:spcPts val="0"/>
                        </a:spcBef>
                        <a:spcAft>
                          <a:spcPts val="0"/>
                        </a:spcAft>
                      </a:pPr>
                      <a:r>
                        <a:rPr sz="1300" b="0">
                          <a:solidFill>
                            <a:srgbClr val="1F1F1F"/>
                          </a:solidFill>
                          <a:latin typeface="Calibri"/>
                        </a:rPr>
                        <a:t>em 20 de março de 2025,</a:t>
                      </a:r>
                    </a:p>
                    <a:p>
                      <a:pPr algn="l">
                        <a:lnSpc>
                          <a:spcPct val="100000"/>
                        </a:lnSpc>
                        <a:spcBef>
                          <a:spcPts val="0"/>
                        </a:spcBef>
                        <a:spcAft>
                          <a:spcPts val="0"/>
                        </a:spcAft>
                      </a:pPr>
                      <a:r>
                        <a:rPr sz="1300" b="0">
                          <a:solidFill>
                            <a:srgbClr val="1F1F1F"/>
                          </a:solidFill>
                          <a:latin typeface="Calibri"/>
                        </a:rPr>
                        <a:t>sob a forma de</a:t>
                      </a:r>
                    </a:p>
                    <a:p>
                      <a:pPr algn="l">
                        <a:lnSpc>
                          <a:spcPct val="100000"/>
                        </a:lnSpc>
                        <a:spcBef>
                          <a:spcPts val="0"/>
                        </a:spcBef>
                        <a:spcAft>
                          <a:spcPts val="0"/>
                        </a:spcAft>
                      </a:pPr>
                      <a:r>
                        <a:rPr sz="1300" b="0">
                          <a:solidFill>
                            <a:srgbClr val="1F1F1F"/>
                          </a:solidFill>
                          <a:latin typeface="Calibri"/>
                        </a:rPr>
                        <a:t>condomínio fechado e</a:t>
                      </a:r>
                    </a:p>
                    <a:p>
                      <a:pPr algn="l">
                        <a:lnSpc>
                          <a:spcPct val="100000"/>
                        </a:lnSpc>
                        <a:spcBef>
                          <a:spcPts val="0"/>
                        </a:spcBef>
                        <a:spcAft>
                          <a:spcPts val="0"/>
                        </a:spcAft>
                      </a:pPr>
                      <a:r>
                        <a:rPr sz="1300" b="0">
                          <a:solidFill>
                            <a:srgbClr val="1F1F1F"/>
                          </a:solidFill>
                          <a:latin typeface="Calibri"/>
                        </a:rPr>
                        <a:t>iniciou suas operações</a:t>
                      </a:r>
                    </a:p>
                    <a:p>
                      <a:pPr algn="l">
                        <a:lnSpc>
                          <a:spcPct val="100000"/>
                        </a:lnSpc>
                        <a:spcBef>
                          <a:spcPts val="0"/>
                        </a:spcBef>
                        <a:spcAft>
                          <a:spcPts val="0"/>
                        </a:spcAft>
                      </a:pPr>
                      <a:r>
                        <a:rPr sz="1300" b="0">
                          <a:solidFill>
                            <a:srgbClr val="1F1F1F"/>
                          </a:solidFill>
                          <a:latin typeface="Calibri"/>
                        </a:rPr>
                        <a:t>em 21 de março de 2025.</a:t>
                      </a:r>
                    </a:p>
                    <a:p>
                      <a:pPr algn="l">
                        <a:lnSpc>
                          <a:spcPct val="100000"/>
                        </a:lnSpc>
                        <a:spcBef>
                          <a:spcPts val="0"/>
                        </a:spcBef>
                        <a:spcAft>
                          <a:spcPts val="0"/>
                        </a:spcAft>
                      </a:pPr>
                      <a:r>
                        <a:rPr sz="1300" b="0">
                          <a:solidFill>
                            <a:srgbClr val="1F1F1F"/>
                          </a:solidFill>
                          <a:latin typeface="Calibri"/>
                        </a:rPr>
                        <a:t>A Classe possui prazo</a:t>
                      </a:r>
                    </a:p>
                    <a:p>
                      <a:pPr algn="l">
                        <a:lnSpc>
                          <a:spcPct val="100000"/>
                        </a:lnSpc>
                        <a:spcBef>
                          <a:spcPts val="0"/>
                        </a:spcBef>
                        <a:spcAft>
                          <a:spcPts val="0"/>
                        </a:spcAft>
                      </a:pPr>
                      <a:r>
                        <a:rPr sz="1300" b="0">
                          <a:solidFill>
                            <a:srgbClr val="1F1F1F"/>
                          </a:solidFill>
                          <a:latin typeface="Calibri"/>
                        </a:rPr>
                        <a:t>de duração</a:t>
                      </a:r>
                    </a:p>
                    <a:p>
                      <a:pPr algn="l">
                        <a:lnSpc>
                          <a:spcPct val="100000"/>
                        </a:lnSpc>
                        <a:spcBef>
                          <a:spcPts val="0"/>
                        </a:spcBef>
                        <a:spcAft>
                          <a:spcPts val="0"/>
                        </a:spcAft>
                      </a:pPr>
                      <a:r>
                        <a:rPr sz="1300" b="0">
                          <a:solidFill>
                            <a:srgbClr val="1F1F1F"/>
                          </a:solidFill>
                          <a:latin typeface="Calibri"/>
                        </a:rPr>
                        <a:t>indeterminado.</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(ii) Riscos do mercado</a:t>
                      </a:r>
                    </a:p>
                    <a:p>
                      <a:pPr algn="l">
                        <a:lnSpc>
                          <a:spcPct val="100000"/>
                        </a:lnSpc>
                        <a:spcBef>
                          <a:spcPts val="0"/>
                        </a:spcBef>
                        <a:spcAft>
                          <a:spcPts val="0"/>
                        </a:spcAft>
                      </a:pPr>
                      <a:r>
                        <a:rPr sz="1300" b="0">
                          <a:solidFill>
                            <a:srgbClr val="1F1F1F"/>
                          </a:solidFill>
                          <a:latin typeface="Calibri"/>
                        </a:rPr>
                        <a:t>secundário: A Classe é</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8.8.1 As Chamadas de</a:t>
                      </a:r>
                    </a:p>
                    <a:p>
                      <a:pPr algn="l">
                        <a:lnSpc>
                          <a:spcPct val="100000"/>
                        </a:lnSpc>
                        <a:spcBef>
                          <a:spcPts val="0"/>
                        </a:spcBef>
                        <a:spcAft>
                          <a:spcPts val="0"/>
                        </a:spcAft>
                      </a:pPr>
                      <a:r>
                        <a:rPr sz="1300" b="0">
                          <a:solidFill>
                            <a:srgbClr val="1F1F1F"/>
                          </a:solidFill>
                          <a:latin typeface="Calibri"/>
                        </a:rPr>
                        <a:t>Capital para a</a:t>
                      </a:r>
                    </a:p>
                    <a:p>
                      <a:pPr algn="l">
                        <a:lnSpc>
                          <a:spcPct val="100000"/>
                        </a:lnSpc>
                        <a:spcBef>
                          <a:spcPts val="0"/>
                        </a:spcBef>
                        <a:spcAft>
                          <a:spcPts val="0"/>
                        </a:spcAft>
                      </a:pPr>
                      <a:r>
                        <a:rPr sz="1300" b="0">
                          <a:solidFill>
                            <a:srgbClr val="1F1F1F"/>
                          </a:solidFill>
                          <a:latin typeface="Calibri"/>
                        </a:rPr>
                        <a:t>realização de</a:t>
                      </a:r>
                    </a:p>
                    <a:p>
                      <a:pPr algn="l">
                        <a:lnSpc>
                          <a:spcPct val="100000"/>
                        </a:lnSpc>
                        <a:spcBef>
                          <a:spcPts val="0"/>
                        </a:spcBef>
                        <a:spcAft>
                          <a:spcPts val="0"/>
                        </a:spcAft>
                      </a:pPr>
                      <a:r>
                        <a:rPr sz="1300" b="0">
                          <a:solidFill>
                            <a:srgbClr val="1F1F1F"/>
                          </a:solidFill>
                          <a:latin typeface="Calibri"/>
                        </a:rPr>
                        <a:t>investimentos serão</a:t>
                      </a:r>
                    </a:p>
                    <a:p>
                      <a:pPr algn="l">
                        <a:lnSpc>
                          <a:spcPct val="100000"/>
                        </a:lnSpc>
                        <a:spcBef>
                          <a:spcPts val="0"/>
                        </a:spcBef>
                        <a:spcAft>
                          <a:spcPts val="0"/>
                        </a:spcAft>
                      </a:pPr>
                      <a:r>
                        <a:rPr sz="1300" b="0">
                          <a:solidFill>
                            <a:srgbClr val="1F1F1F"/>
                          </a:solidFill>
                          <a:latin typeface="Calibri"/>
                        </a:rPr>
                        <a:t>realizadas a qualquer</a:t>
                      </a:r>
                    </a:p>
                    <a:p>
                      <a:pPr algn="l">
                        <a:lnSpc>
                          <a:spcPct val="100000"/>
                        </a:lnSpc>
                        <a:spcBef>
                          <a:spcPts val="0"/>
                        </a:spcBef>
                        <a:spcAft>
                          <a:spcPts val="0"/>
                        </a:spcAft>
                      </a:pPr>
                      <a:r>
                        <a:rPr sz="1300" b="0">
                          <a:solidFill>
                            <a:srgbClr val="1F1F1F"/>
                          </a:solidFill>
                          <a:latin typeface="Calibri"/>
                        </a:rPr>
                        <a:t>momento durante o</a:t>
                      </a:r>
                    </a:p>
                    <a:p>
                      <a:pPr algn="l">
                        <a:lnSpc>
                          <a:spcPct val="100000"/>
                        </a:lnSpc>
                        <a:spcBef>
                          <a:spcPts val="0"/>
                        </a:spcBef>
                        <a:spcAft>
                          <a:spcPts val="0"/>
                        </a:spcAft>
                      </a:pPr>
                      <a:r>
                        <a:rPr sz="1300" b="0">
                          <a:solidFill>
                            <a:srgbClr val="1F1F1F"/>
                          </a:solidFill>
                          <a:latin typeface="Calibri"/>
                        </a:rPr>
                        <a:t>Período de Investimento</a:t>
                      </a:r>
                    </a:p>
                    <a:p>
                      <a:pPr algn="l">
                        <a:lnSpc>
                          <a:spcPct val="100000"/>
                        </a:lnSpc>
                        <a:spcBef>
                          <a:spcPts val="0"/>
                        </a:spcBef>
                        <a:spcAft>
                          <a:spcPts val="0"/>
                        </a:spcAft>
                      </a:pPr>
                      <a:r>
                        <a:rPr sz="1300" b="0">
                          <a:solidFill>
                            <a:srgbClr val="1F1F1F"/>
                          </a:solidFill>
                          <a:latin typeface="Calibri"/>
                        </a:rPr>
                        <a:t>e estarão limitadas ao</a:t>
                      </a:r>
                    </a:p>
                    <a:p>
                      <a:pPr algn="l">
                        <a:lnSpc>
                          <a:spcPct val="100000"/>
                        </a:lnSpc>
                        <a:spcBef>
                          <a:spcPts val="0"/>
                        </a:spcBef>
                        <a:spcAft>
                          <a:spcPts val="0"/>
                        </a:spcAft>
                      </a:pPr>
                      <a:r>
                        <a:rPr sz="1300" b="0">
                          <a:solidFill>
                            <a:srgbClr val="1F1F1F"/>
                          </a:solidFill>
                          <a:latin typeface="Calibri"/>
                        </a:rPr>
                        <a:t>valor do capital</a:t>
                      </a:r>
                    </a:p>
                    <a:p>
                      <a:pPr algn="l">
                        <a:lnSpc>
                          <a:spcPct val="100000"/>
                        </a:lnSpc>
                        <a:spcBef>
                          <a:spcPts val="0"/>
                        </a:spcBef>
                        <a:spcAft>
                          <a:spcPts val="0"/>
                        </a:spcAft>
                      </a:pPr>
                      <a:r>
                        <a:rPr sz="1300" b="0">
                          <a:solidFill>
                            <a:srgbClr val="1F1F1F"/>
                          </a:solidFill>
                          <a:latin typeface="Calibri"/>
                        </a:rPr>
                        <a:t>subscrito de cada</a:t>
                      </a:r>
                    </a:p>
                    <a:p>
                      <a:pPr algn="l">
                        <a:lnSpc>
                          <a:spcPct val="100000"/>
                        </a:lnSpc>
                        <a:spcBef>
                          <a:spcPts val="0"/>
                        </a:spcBef>
                        <a:spcAft>
                          <a:spcPts val="0"/>
                        </a:spcAft>
                      </a:pPr>
                      <a:r>
                        <a:rPr sz="1300" b="0">
                          <a:solidFill>
                            <a:srgbClr val="1F1F1F"/>
                          </a:solidFill>
                          <a:latin typeface="Calibri"/>
                        </a:rPr>
                        <a:t>Cotista. As Chamadas de</a:t>
                      </a:r>
                    </a:p>
                    <a:p>
                      <a:pPr algn="l">
                        <a:lnSpc>
                          <a:spcPct val="100000"/>
                        </a:lnSpc>
                        <a:spcBef>
                          <a:spcPts val="0"/>
                        </a:spcBef>
                        <a:spcAft>
                          <a:spcPts val="0"/>
                        </a:spcAft>
                      </a:pPr>
                      <a:r>
                        <a:rPr sz="1300" b="0">
                          <a:solidFill>
                            <a:srgbClr val="1F1F1F"/>
                          </a:solidFill>
                          <a:latin typeface="Calibri"/>
                        </a:rPr>
                        <a:t>Capital para o</a:t>
                      </a:r>
                    </a:p>
                    <a:p>
                      <a:pPr algn="l">
                        <a:lnSpc>
                          <a:spcPct val="100000"/>
                        </a:lnSpc>
                        <a:spcBef>
                          <a:spcPts val="0"/>
                        </a:spcBef>
                        <a:spcAft>
                          <a:spcPts val="0"/>
                        </a:spcAft>
                      </a:pPr>
                      <a:r>
                        <a:rPr sz="1300" b="0">
                          <a:solidFill>
                            <a:srgbClr val="1F1F1F"/>
                          </a:solidFill>
                          <a:latin typeface="Calibri"/>
                        </a:rPr>
                        <a:t>pagamento de despesas e</a:t>
                      </a:r>
                    </a:p>
                    <a:p>
                      <a:pPr algn="l">
                        <a:lnSpc>
                          <a:spcPct val="100000"/>
                        </a:lnSpc>
                        <a:spcBef>
                          <a:spcPts val="0"/>
                        </a:spcBef>
                        <a:spcAft>
                          <a:spcPts val="0"/>
                        </a:spcAft>
                      </a:pPr>
                      <a:r>
                        <a:rPr sz="1300" b="0">
                          <a:solidFill>
                            <a:srgbClr val="1F1F1F"/>
                          </a:solidFill>
                          <a:latin typeface="Calibri"/>
                        </a:rPr>
                        <a:t>encargos do Fundo</a:t>
                      </a:r>
                    </a:p>
                    <a:p>
                      <a:pPr algn="l">
                        <a:lnSpc>
                          <a:spcPct val="100000"/>
                        </a:lnSpc>
                        <a:spcBef>
                          <a:spcPts val="0"/>
                        </a:spcBef>
                        <a:spcAft>
                          <a:spcPts val="0"/>
                        </a:spcAft>
                      </a:pPr>
                      <a:r>
                        <a:rPr sz="1300" b="0">
                          <a:solidFill>
                            <a:srgbClr val="1F1F1F"/>
                          </a:solidFill>
                          <a:latin typeface="Calibri"/>
                        </a:rPr>
                        <a:t>poderão ser realizadas</a:t>
                      </a:r>
                    </a:p>
                    <a:p>
                      <a:pPr algn="l">
                        <a:lnSpc>
                          <a:spcPct val="100000"/>
                        </a:lnSpc>
                        <a:spcBef>
                          <a:spcPts val="0"/>
                        </a:spcBef>
                        <a:spcAft>
                          <a:spcPts val="0"/>
                        </a:spcAft>
                      </a:pPr>
                      <a:r>
                        <a:rPr sz="1300" b="0">
                          <a:solidFill>
                            <a:srgbClr val="1F1F1F"/>
                          </a:solidFill>
                          <a:latin typeface="Calibri"/>
                        </a:rPr>
                        <a:t>a qualquer momento</a:t>
                      </a:r>
                    </a:p>
                    <a:p>
                      <a:pPr algn="l">
                        <a:lnSpc>
                          <a:spcPct val="100000"/>
                        </a:lnSpc>
                        <a:spcBef>
                          <a:spcPts val="0"/>
                        </a:spcBef>
                        <a:spcAft>
                          <a:spcPts val="0"/>
                        </a:spcAft>
                      </a:pPr>
                      <a:r>
                        <a:rPr sz="1300" b="0">
                          <a:solidFill>
                            <a:srgbClr val="1F1F1F"/>
                          </a:solidFill>
                          <a:latin typeface="Calibri"/>
                        </a:rPr>
                        <a:t>durante o Prazo de</a:t>
                      </a:r>
                    </a:p>
                    <a:p>
                      <a:pPr algn="l">
                        <a:lnSpc>
                          <a:spcPct val="100000"/>
                        </a:lnSpc>
                        <a:spcBef>
                          <a:spcPts val="0"/>
                        </a:spcBef>
                        <a:spcAft>
                          <a:spcPts val="0"/>
                        </a:spcAft>
                      </a:pPr>
                      <a:r>
                        <a:rPr sz="1300" b="0">
                          <a:solidFill>
                            <a:srgbClr val="1F1F1F"/>
                          </a:solidFill>
                          <a:latin typeface="Calibri"/>
                        </a:rPr>
                        <a:t>Duração, mas não</a:t>
                      </a:r>
                    </a:p>
                    <a:p>
                      <a:pPr algn="l">
                        <a:lnSpc>
                          <a:spcPct val="100000"/>
                        </a:lnSpc>
                        <a:spcBef>
                          <a:spcPts val="0"/>
                        </a:spcBef>
                        <a:spcAft>
                          <a:spcPts val="0"/>
                        </a:spcAft>
                      </a:pPr>
                      <a:r>
                        <a:rPr sz="1300" b="0">
                          <a:solidFill>
                            <a:srgbClr val="1F1F1F"/>
                          </a:solidFill>
                          <a:latin typeface="Calibri"/>
                        </a:rPr>
                        <a:t>estarão limitadas ao</a:t>
                      </a:r>
                    </a:p>
                    <a:p>
                      <a:pPr algn="l">
                        <a:lnSpc>
                          <a:spcPct val="100000"/>
                        </a:lnSpc>
                        <a:spcBef>
                          <a:spcPts val="0"/>
                        </a:spcBef>
                        <a:spcAft>
                          <a:spcPts val="0"/>
                        </a:spcAft>
                      </a:pPr>
                      <a:r>
                        <a:rPr sz="1300" b="0">
                          <a:solidFill>
                            <a:srgbClr val="1F1F1F"/>
                          </a:solidFill>
                          <a:latin typeface="Calibri"/>
                        </a:rPr>
                        <a:t>valor do capital</a:t>
                      </a:r>
                    </a:p>
                    <a:p>
                      <a:pPr algn="l">
                        <a:lnSpc>
                          <a:spcPct val="100000"/>
                        </a:lnSpc>
                        <a:spcBef>
                          <a:spcPts val="0"/>
                        </a:spcBef>
                        <a:spcAft>
                          <a:spcPts val="0"/>
                        </a:spcAft>
                      </a:pPr>
                      <a:r>
                        <a:rPr sz="1300" b="0">
                          <a:solidFill>
                            <a:srgbClr val="1F1F1F"/>
                          </a:solidFill>
                          <a:latin typeface="Calibri"/>
                        </a:rPr>
                        <a:t>subscrito de cada</a:t>
                      </a:r>
                    </a:p>
                    <a:p>
                      <a:pPr algn="l">
                        <a:lnSpc>
                          <a:spcPct val="100000"/>
                        </a:lnSpc>
                        <a:spcBef>
                          <a:spcPts val="0"/>
                        </a:spcBef>
                        <a:spcAft>
                          <a:spcPts val="0"/>
                        </a:spcAft>
                      </a:pPr>
                      <a:r>
                        <a:rPr sz="1300" b="0">
                          <a:solidFill>
                            <a:srgbClr val="1F1F1F"/>
                          </a:solidFill>
                          <a:latin typeface="Calibri"/>
                        </a:rPr>
                        <a:t>Cotista.</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9.5.1 Ao f inal do</a:t>
                      </a:r>
                    </a:p>
                    <a:p>
                      <a:pPr algn="l">
                        <a:lnSpc>
                          <a:spcPct val="100000"/>
                        </a:lnSpc>
                        <a:spcBef>
                          <a:spcPts val="0"/>
                        </a:spcBef>
                        <a:spcAft>
                          <a:spcPts val="0"/>
                        </a:spcAft>
                      </a:pPr>
                      <a:r>
                        <a:rPr sz="1300" b="0">
                          <a:solidFill>
                            <a:srgbClr val="1F1F1F"/>
                          </a:solidFill>
                          <a:latin typeface="Calibri"/>
                        </a:rPr>
                        <a:t>Prazo de Duração ou</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4.1 Nos termos do Anexo</a:t>
                      </a:r>
                    </a:p>
                    <a:p>
                      <a:pPr algn="l">
                        <a:lnSpc>
                          <a:spcPct val="100000"/>
                        </a:lnSpc>
                        <a:spcBef>
                          <a:spcPts val="0"/>
                        </a:spcBef>
                        <a:spcAft>
                          <a:spcPts val="0"/>
                        </a:spcAft>
                      </a:pPr>
                      <a:r>
                        <a:rPr sz="1300" b="0">
                          <a:solidFill>
                            <a:srgbClr val="1F1F1F"/>
                          </a:solidFill>
                          <a:latin typeface="Calibri"/>
                        </a:rPr>
                        <a:t>da Classe, aprovar: (i)</a:t>
                      </a:r>
                    </a:p>
                    <a:p>
                      <a:pPr algn="l">
                        <a:lnSpc>
                          <a:spcPct val="100000"/>
                        </a:lnSpc>
                        <a:spcBef>
                          <a:spcPts val="0"/>
                        </a:spcBef>
                        <a:spcAft>
                          <a:spcPts val="0"/>
                        </a:spcAft>
                      </a:pPr>
                      <a:r>
                        <a:rPr sz="1300" b="0">
                          <a:solidFill>
                            <a:srgbClr val="1F1F1F"/>
                          </a:solidFill>
                          <a:latin typeface="Calibri"/>
                        </a:rPr>
                        <a:t>a liquidação da</a:t>
                      </a:r>
                    </a:p>
                    <a:p>
                      <a:pPr algn="l">
                        <a:lnSpc>
                          <a:spcPct val="100000"/>
                        </a:lnSpc>
                        <a:spcBef>
                          <a:spcPts val="0"/>
                        </a:spcBef>
                        <a:spcAft>
                          <a:spcPts val="0"/>
                        </a:spcAft>
                      </a:pPr>
                      <a:r>
                        <a:rPr sz="1300" b="0">
                          <a:solidFill>
                            <a:srgbClr val="1F1F1F"/>
                          </a:solidFill>
                          <a:latin typeface="Calibri"/>
                        </a:rPr>
                        <a:t>Subclasse A da Classe,</a:t>
                      </a:r>
                    </a:p>
                    <a:p>
                      <a:pPr algn="l">
                        <a:lnSpc>
                          <a:spcPct val="100000"/>
                        </a:lnSpc>
                        <a:spcBef>
                          <a:spcPts val="0"/>
                        </a:spcBef>
                        <a:spcAft>
                          <a:spcPts val="0"/>
                        </a:spcAft>
                      </a:pPr>
                      <a:r>
                        <a:rPr sz="1300" b="0">
                          <a:solidFill>
                            <a:srgbClr val="1F1F1F"/>
                          </a:solidFill>
                          <a:latin typeface="Calibri"/>
                        </a:rPr>
                        <a:t>considerando o</a:t>
                      </a:r>
                    </a:p>
                    <a:p>
                      <a:pPr algn="l">
                        <a:lnSpc>
                          <a:spcPct val="100000"/>
                        </a:lnSpc>
                        <a:spcBef>
                          <a:spcPts val="0"/>
                        </a:spcBef>
                        <a:spcAft>
                          <a:spcPts val="0"/>
                        </a:spcAft>
                      </a:pPr>
                      <a:r>
                        <a:rPr sz="1300" b="0">
                          <a:solidFill>
                            <a:srgbClr val="1F1F1F"/>
                          </a:solidFill>
                          <a:latin typeface="Calibri"/>
                        </a:rPr>
                        <a:t>encerramento do seu</a:t>
                      </a:r>
                    </a:p>
                    <a:p>
                      <a:pPr algn="l">
                        <a:lnSpc>
                          <a:spcPct val="100000"/>
                        </a:lnSpc>
                        <a:spcBef>
                          <a:spcPts val="0"/>
                        </a:spcBef>
                        <a:spcAft>
                          <a:spcPts val="0"/>
                        </a:spcAft>
                      </a:pPr>
                      <a:r>
                        <a:rPr sz="1300" b="0">
                          <a:solidFill>
                            <a:srgbClr val="1F1F1F"/>
                          </a:solidFill>
                          <a:latin typeface="Calibri"/>
                        </a:rPr>
                        <a:t>prazo de duração, por</a:t>
                      </a:r>
                    </a:p>
                    <a:p>
                      <a:pPr algn="l">
                        <a:lnSpc>
                          <a:spcPct val="100000"/>
                        </a:lnSpc>
                        <a:spcBef>
                          <a:spcPts val="0"/>
                        </a:spcBef>
                        <a:spcAft>
                          <a:spcPts val="0"/>
                        </a:spcAft>
                      </a:pPr>
                      <a:r>
                        <a:rPr sz="1300" b="0">
                          <a:solidFill>
                            <a:srgbClr val="1F1F1F"/>
                          </a:solidFill>
                          <a:latin typeface="Calibri"/>
                        </a:rPr>
                        <a:t>meio do resgate</a:t>
                      </a:r>
                    </a:p>
                    <a:p>
                      <a:pPr algn="l">
                        <a:lnSpc>
                          <a:spcPct val="100000"/>
                        </a:lnSpc>
                        <a:spcBef>
                          <a:spcPts val="0"/>
                        </a:spcBef>
                        <a:spcAft>
                          <a:spcPts val="0"/>
                        </a:spcAft>
                      </a:pPr>
                      <a:r>
                        <a:rPr sz="1300" b="0">
                          <a:solidFill>
                            <a:srgbClr val="1F1F1F"/>
                          </a:solidFill>
                          <a:latin typeface="Calibri"/>
                        </a:rPr>
                        <a:t>integral de Cotas da</a:t>
                      </a:r>
                    </a:p>
                    <a:p>
                      <a:pPr algn="l">
                        <a:lnSpc>
                          <a:spcPct val="100000"/>
                        </a:lnSpc>
                        <a:spcBef>
                          <a:spcPts val="0"/>
                        </a:spcBef>
                        <a:spcAft>
                          <a:spcPts val="0"/>
                        </a:spcAft>
                      </a:pPr>
                      <a:r>
                        <a:rPr sz="1300" b="0">
                          <a:solidFill>
                            <a:srgbClr val="1F1F1F"/>
                          </a:solidFill>
                          <a:latin typeface="Calibri"/>
                        </a:rPr>
                        <a:t>Subclasse A com entrega</a:t>
                      </a:r>
                    </a:p>
                    <a:p>
                      <a:pPr algn="l">
                        <a:lnSpc>
                          <a:spcPct val="100000"/>
                        </a:lnSpc>
                        <a:spcBef>
                          <a:spcPts val="0"/>
                        </a:spcBef>
                        <a:spcAft>
                          <a:spcPts val="0"/>
                        </a:spcAft>
                      </a:pPr>
                      <a:r>
                        <a:rPr sz="1300" b="0">
                          <a:solidFill>
                            <a:srgbClr val="1F1F1F"/>
                          </a:solidFill>
                          <a:latin typeface="Calibri"/>
                        </a:rPr>
                        <a:t>de financeiro aos</a:t>
                      </a:r>
                    </a:p>
                    <a:p>
                      <a:pPr algn="l">
                        <a:lnSpc>
                          <a:spcPct val="100000"/>
                        </a:lnSpc>
                        <a:spcBef>
                          <a:spcPts val="0"/>
                        </a:spcBef>
                        <a:spcAft>
                          <a:spcPts val="0"/>
                        </a:spcAft>
                      </a:pPr>
                      <a:r>
                        <a:rPr sz="1300" b="0">
                          <a:solidFill>
                            <a:srgbClr val="1F1F1F"/>
                          </a:solidFill>
                          <a:latin typeface="Calibri"/>
                        </a:rPr>
                        <a:t>Cotistas.</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25/160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Alocação e perímetro</a:t>
            </a:r>
          </a:p>
        </p:txBody>
      </p:sp>
      <p:graphicFrame>
        <p:nvGraphicFramePr>
          <p:cNvPr id="3" name="Table 2"/>
          <p:cNvGraphicFramePr>
            <a:graphicFrameLocks noGrp="1"/>
          </p:cNvGraphicFramePr>
          <p:nvPr/>
        </p:nvGraphicFramePr>
        <p:xfrm>
          <a:off x="438912" y="932688"/>
          <a:ext cx="11313868" cy="5253228"/>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4782312">
                <a:tc>
                  <a:txBody>
                    <a:bodyPr wrap="square">
                      <a:noAutofit/>
                    </a:bodyPr>
                    <a:lstStyle/>
                    <a:p>
                      <a:pPr algn="l">
                        <a:lnSpc>
                          <a:spcPct val="100000"/>
                        </a:lnSpc>
                        <a:spcBef>
                          <a:spcPts val="0"/>
                        </a:spcBef>
                        <a:spcAft>
                          <a:spcPts val="0"/>
                        </a:spcAft>
                      </a:pPr>
                      <a:r>
                        <a:rPr sz="1300" b="1">
                          <a:solidFill>
                            <a:srgbClr val="1F1F1F"/>
                          </a:solidFill>
                          <a:latin typeface="Calibri"/>
                        </a:rPr>
                        <a:t>Duração e público-alvo</a:t>
                      </a:r>
                    </a:p>
                    <a:p>
                      <a:pPr algn="l">
                        <a:lnSpc>
                          <a:spcPct val="100000"/>
                        </a:lnSpc>
                        <a:spcBef>
                          <a:spcPts val="0"/>
                        </a:spcBef>
                        <a:spcAft>
                          <a:spcPts val="0"/>
                        </a:spcAft>
                      </a:pPr>
                      <a:r>
                        <a:rPr sz="1300" b="1">
                          <a:solidFill>
                            <a:srgbClr val="1F1F1F"/>
                          </a:solidFill>
                          <a:latin typeface="Calibri"/>
                        </a:rPr>
                        <a:t>(continuação)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constituída sob a forma</a:t>
                      </a:r>
                    </a:p>
                    <a:p>
                      <a:pPr algn="l">
                        <a:lnSpc>
                          <a:spcPct val="100000"/>
                        </a:lnSpc>
                        <a:spcBef>
                          <a:spcPts val="0"/>
                        </a:spcBef>
                        <a:spcAft>
                          <a:spcPts val="0"/>
                        </a:spcAft>
                      </a:pPr>
                      <a:r>
                        <a:rPr sz="1300" b="0">
                          <a:solidFill>
                            <a:srgbClr val="1F1F1F"/>
                          </a:solidFill>
                          <a:latin typeface="Calibri"/>
                        </a:rPr>
                        <a:t>de condomínio fechado,</a:t>
                      </a:r>
                    </a:p>
                    <a:p>
                      <a:pPr algn="l">
                        <a:lnSpc>
                          <a:spcPct val="100000"/>
                        </a:lnSpc>
                        <a:spcBef>
                          <a:spcPts val="0"/>
                        </a:spcBef>
                        <a:spcAft>
                          <a:spcPts val="0"/>
                        </a:spcAft>
                      </a:pPr>
                      <a:r>
                        <a:rPr sz="1300" b="0">
                          <a:solidFill>
                            <a:srgbClr val="1F1F1F"/>
                          </a:solidFill>
                          <a:latin typeface="Calibri"/>
                        </a:rPr>
                        <a:t>de modo que as Cotas</a:t>
                      </a:r>
                    </a:p>
                    <a:p>
                      <a:pPr algn="l">
                        <a:lnSpc>
                          <a:spcPct val="100000"/>
                        </a:lnSpc>
                        <a:spcBef>
                          <a:spcPts val="0"/>
                        </a:spcBef>
                        <a:spcAft>
                          <a:spcPts val="0"/>
                        </a:spcAft>
                      </a:pPr>
                      <a:r>
                        <a:rPr sz="1300" b="0">
                          <a:solidFill>
                            <a:srgbClr val="1F1F1F"/>
                          </a:solidFill>
                          <a:latin typeface="Calibri"/>
                        </a:rPr>
                        <a:t>Subordinadas somente</a:t>
                      </a:r>
                    </a:p>
                    <a:p>
                      <a:pPr algn="l">
                        <a:lnSpc>
                          <a:spcPct val="100000"/>
                        </a:lnSpc>
                        <a:spcBef>
                          <a:spcPts val="0"/>
                        </a:spcBef>
                        <a:spcAft>
                          <a:spcPts val="0"/>
                        </a:spcAft>
                      </a:pPr>
                      <a:r>
                        <a:rPr sz="1300" b="0">
                          <a:solidFill>
                            <a:srgbClr val="1F1F1F"/>
                          </a:solidFill>
                          <a:latin typeface="Calibri"/>
                        </a:rPr>
                        <a:t>serão resgatadas em</a:t>
                      </a:r>
                    </a:p>
                    <a:p>
                      <a:pPr algn="l">
                        <a:lnSpc>
                          <a:spcPct val="100000"/>
                        </a:lnSpc>
                        <a:spcBef>
                          <a:spcPts val="0"/>
                        </a:spcBef>
                        <a:spcAft>
                          <a:spcPts val="0"/>
                        </a:spcAft>
                      </a:pPr>
                      <a:r>
                        <a:rPr sz="1300" b="0">
                          <a:solidFill>
                            <a:srgbClr val="1F1F1F"/>
                          </a:solidFill>
                          <a:latin typeface="Calibri"/>
                        </a:rPr>
                        <a:t>virtude da liquidação</a:t>
                      </a:r>
                    </a:p>
                    <a:p>
                      <a:pPr algn="l">
                        <a:lnSpc>
                          <a:spcPct val="100000"/>
                        </a:lnSpc>
                        <a:spcBef>
                          <a:spcPts val="0"/>
                        </a:spcBef>
                        <a:spcAft>
                          <a:spcPts val="0"/>
                        </a:spcAft>
                      </a:pPr>
                      <a:r>
                        <a:rPr sz="1300" b="0">
                          <a:solidFill>
                            <a:srgbClr val="1F1F1F"/>
                          </a:solidFill>
                          <a:latin typeface="Calibri"/>
                        </a:rPr>
                        <a:t>da Classe e as Cotas</a:t>
                      </a:r>
                    </a:p>
                    <a:p>
                      <a:pPr algn="l">
                        <a:lnSpc>
                          <a:spcPct val="100000"/>
                        </a:lnSpc>
                        <a:spcBef>
                          <a:spcPts val="0"/>
                        </a:spcBef>
                        <a:spcAft>
                          <a:spcPts val="0"/>
                        </a:spcAft>
                      </a:pPr>
                      <a:r>
                        <a:rPr sz="1300" b="0">
                          <a:solidFill>
                            <a:srgbClr val="1F1F1F"/>
                          </a:solidFill>
                          <a:latin typeface="Calibri"/>
                        </a:rPr>
                        <a:t>Seniores ao término do</a:t>
                      </a:r>
                    </a:p>
                    <a:p>
                      <a:pPr algn="l">
                        <a:lnSpc>
                          <a:spcPct val="100000"/>
                        </a:lnSpc>
                        <a:spcBef>
                          <a:spcPts val="0"/>
                        </a:spcBef>
                        <a:spcAft>
                          <a:spcPts val="0"/>
                        </a:spcAft>
                      </a:pPr>
                      <a:r>
                        <a:rPr sz="1300" b="0">
                          <a:solidFill>
                            <a:srgbClr val="1F1F1F"/>
                          </a:solidFill>
                          <a:latin typeface="Calibri"/>
                        </a:rPr>
                        <a:t>seu prazo de duração,</a:t>
                      </a:r>
                    </a:p>
                    <a:p>
                      <a:pPr algn="l">
                        <a:lnSpc>
                          <a:spcPct val="100000"/>
                        </a:lnSpc>
                        <a:spcBef>
                          <a:spcPts val="0"/>
                        </a:spcBef>
                        <a:spcAft>
                          <a:spcPts val="0"/>
                        </a:spcAft>
                      </a:pPr>
                      <a:r>
                        <a:rPr sz="1300" b="0">
                          <a:solidFill>
                            <a:srgbClr val="1F1F1F"/>
                          </a:solidFill>
                          <a:latin typeface="Calibri"/>
                        </a:rPr>
                        <a:t>conforme estabelecidos</a:t>
                      </a:r>
                    </a:p>
                    <a:p>
                      <a:pPr algn="l">
                        <a:lnSpc>
                          <a:spcPct val="100000"/>
                        </a:lnSpc>
                        <a:spcBef>
                          <a:spcPts val="0"/>
                        </a:spcBef>
                        <a:spcAft>
                          <a:spcPts val="0"/>
                        </a:spcAft>
                      </a:pPr>
                      <a:r>
                        <a:rPr sz="1300" b="0">
                          <a:solidFill>
                            <a:srgbClr val="1F1F1F"/>
                          </a:solidFill>
                          <a:latin typeface="Calibri"/>
                        </a:rPr>
                        <a:t>nos respectivos</a:t>
                      </a:r>
                    </a:p>
                    <a:p>
                      <a:pPr algn="l">
                        <a:lnSpc>
                          <a:spcPct val="100000"/>
                        </a:lnSpc>
                        <a:spcBef>
                          <a:spcPts val="0"/>
                        </a:spcBef>
                        <a:spcAft>
                          <a:spcPts val="0"/>
                        </a:spcAft>
                      </a:pPr>
                      <a:r>
                        <a:rPr sz="1300" b="0">
                          <a:solidFill>
                            <a:srgbClr val="1F1F1F"/>
                          </a:solidFill>
                          <a:latin typeface="Calibri"/>
                        </a:rPr>
                        <a:t>Suplementos.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quando da liquidação</a:t>
                      </a:r>
                    </a:p>
                    <a:p>
                      <a:pPr algn="l">
                        <a:lnSpc>
                          <a:spcPct val="100000"/>
                        </a:lnSpc>
                        <a:spcBef>
                          <a:spcPts val="0"/>
                        </a:spcBef>
                        <a:spcAft>
                          <a:spcPts val="0"/>
                        </a:spcAft>
                      </a:pPr>
                      <a:r>
                        <a:rPr sz="1300" b="0">
                          <a:solidFill>
                            <a:srgbClr val="1F1F1F"/>
                          </a:solidFill>
                          <a:latin typeface="Calibri"/>
                        </a:rPr>
                        <a:t>antecipada da Classe,</a:t>
                      </a:r>
                    </a:p>
                    <a:p>
                      <a:pPr algn="l">
                        <a:lnSpc>
                          <a:spcPct val="100000"/>
                        </a:lnSpc>
                        <a:spcBef>
                          <a:spcPts val="0"/>
                        </a:spcBef>
                        <a:spcAft>
                          <a:spcPts val="0"/>
                        </a:spcAft>
                      </a:pPr>
                      <a:r>
                        <a:rPr sz="1300" b="0">
                          <a:solidFill>
                            <a:srgbClr val="1F1F1F"/>
                          </a:solidFill>
                          <a:latin typeface="Calibri"/>
                        </a:rPr>
                        <a:t>todas as Cotas deverão</a:t>
                      </a:r>
                    </a:p>
                    <a:p>
                      <a:pPr algn="l">
                        <a:lnSpc>
                          <a:spcPct val="100000"/>
                        </a:lnSpc>
                        <a:spcBef>
                          <a:spcPts val="0"/>
                        </a:spcBef>
                        <a:spcAft>
                          <a:spcPts val="0"/>
                        </a:spcAft>
                      </a:pPr>
                      <a:r>
                        <a:rPr sz="1300" b="0">
                          <a:solidFill>
                            <a:srgbClr val="1F1F1F"/>
                          </a:solidFill>
                          <a:latin typeface="Calibri"/>
                        </a:rPr>
                        <a:t>ter seu valor</a:t>
                      </a:r>
                    </a:p>
                    <a:p>
                      <a:pPr algn="l">
                        <a:lnSpc>
                          <a:spcPct val="100000"/>
                        </a:lnSpc>
                        <a:spcBef>
                          <a:spcPts val="0"/>
                        </a:spcBef>
                        <a:spcAft>
                          <a:spcPts val="0"/>
                        </a:spcAft>
                      </a:pPr>
                      <a:r>
                        <a:rPr sz="1300" b="0">
                          <a:solidFill>
                            <a:srgbClr val="1F1F1F"/>
                          </a:solidFill>
                          <a:latin typeface="Calibri"/>
                        </a:rPr>
                        <a:t>integralmente</a:t>
                      </a:r>
                    </a:p>
                    <a:p>
                      <a:pPr algn="l">
                        <a:lnSpc>
                          <a:spcPct val="100000"/>
                        </a:lnSpc>
                        <a:spcBef>
                          <a:spcPts val="0"/>
                        </a:spcBef>
                        <a:spcAft>
                          <a:spcPts val="0"/>
                        </a:spcAft>
                      </a:pPr>
                      <a:r>
                        <a:rPr sz="1300" b="0">
                          <a:solidFill>
                            <a:srgbClr val="1F1F1F"/>
                          </a:solidFill>
                          <a:latin typeface="Calibri"/>
                        </a:rPr>
                        <a:t>amortizado. Não havendo</a:t>
                      </a:r>
                    </a:p>
                    <a:p>
                      <a:pPr algn="l">
                        <a:lnSpc>
                          <a:spcPct val="100000"/>
                        </a:lnSpc>
                        <a:spcBef>
                          <a:spcPts val="0"/>
                        </a:spcBef>
                        <a:spcAft>
                          <a:spcPts val="0"/>
                        </a:spcAft>
                      </a:pPr>
                      <a:r>
                        <a:rPr sz="1300" b="0">
                          <a:solidFill>
                            <a:srgbClr val="1F1F1F"/>
                          </a:solidFill>
                          <a:latin typeface="Calibri"/>
                        </a:rPr>
                        <a:t>recursos em moeda</a:t>
                      </a:r>
                    </a:p>
                    <a:p>
                      <a:pPr algn="l">
                        <a:lnSpc>
                          <a:spcPct val="100000"/>
                        </a:lnSpc>
                        <a:spcBef>
                          <a:spcPts val="0"/>
                        </a:spcBef>
                        <a:spcAft>
                          <a:spcPts val="0"/>
                        </a:spcAft>
                      </a:pPr>
                      <a:r>
                        <a:rPr sz="1300" b="0">
                          <a:solidFill>
                            <a:srgbClr val="1F1F1F"/>
                          </a:solidFill>
                          <a:latin typeface="Calibri"/>
                        </a:rPr>
                        <a:t>corrente nacional</a:t>
                      </a:r>
                    </a:p>
                    <a:p>
                      <a:pPr algn="l">
                        <a:lnSpc>
                          <a:spcPct val="100000"/>
                        </a:lnSpc>
                        <a:spcBef>
                          <a:spcPts val="0"/>
                        </a:spcBef>
                        <a:spcAft>
                          <a:spcPts val="0"/>
                        </a:spcAft>
                      </a:pPr>
                      <a:r>
                        <a:rPr sz="1300" b="0">
                          <a:solidFill>
                            <a:srgbClr val="1F1F1F"/>
                          </a:solidFill>
                          <a:latin typeface="Calibri"/>
                        </a:rPr>
                        <a:t>suficientes para</a:t>
                      </a:r>
                    </a:p>
                    <a:p>
                      <a:pPr algn="l">
                        <a:lnSpc>
                          <a:spcPct val="100000"/>
                        </a:lnSpc>
                        <a:spcBef>
                          <a:spcPts val="0"/>
                        </a:spcBef>
                        <a:spcAft>
                          <a:spcPts val="0"/>
                        </a:spcAft>
                      </a:pPr>
                      <a:r>
                        <a:rPr sz="1300" b="0">
                          <a:solidFill>
                            <a:srgbClr val="1F1F1F"/>
                          </a:solidFill>
                          <a:latin typeface="Calibri"/>
                        </a:rPr>
                        <a:t>realizar o pagamento da</a:t>
                      </a:r>
                    </a:p>
                    <a:p>
                      <a:pPr algn="l">
                        <a:lnSpc>
                          <a:spcPct val="100000"/>
                        </a:lnSpc>
                        <a:spcBef>
                          <a:spcPts val="0"/>
                        </a:spcBef>
                        <a:spcAft>
                          <a:spcPts val="0"/>
                        </a:spcAft>
                      </a:pPr>
                      <a:r>
                        <a:rPr sz="1300" b="0">
                          <a:solidFill>
                            <a:srgbClr val="1F1F1F"/>
                          </a:solidFill>
                          <a:latin typeface="Calibri"/>
                        </a:rPr>
                        <a:t>amortização total das</a:t>
                      </a:r>
                    </a:p>
                    <a:p>
                      <a:pPr algn="l">
                        <a:lnSpc>
                          <a:spcPct val="100000"/>
                        </a:lnSpc>
                        <a:spcBef>
                          <a:spcPts val="0"/>
                        </a:spcBef>
                        <a:spcAft>
                          <a:spcPts val="0"/>
                        </a:spcAft>
                      </a:pPr>
                      <a:r>
                        <a:rPr sz="1300" b="0">
                          <a:solidFill>
                            <a:srgbClr val="1F1F1F"/>
                          </a:solidFill>
                          <a:latin typeface="Calibri"/>
                        </a:rPr>
                        <a:t>Cotas em circulação à</a:t>
                      </a:r>
                    </a:p>
                    <a:p>
                      <a:pPr algn="l">
                        <a:lnSpc>
                          <a:spcPct val="100000"/>
                        </a:lnSpc>
                        <a:spcBef>
                          <a:spcPts val="0"/>
                        </a:spcBef>
                        <a:spcAft>
                          <a:spcPts val="0"/>
                        </a:spcAft>
                      </a:pPr>
                      <a:r>
                        <a:rPr sz="1300" b="0">
                          <a:solidFill>
                            <a:srgbClr val="1F1F1F"/>
                          </a:solidFill>
                          <a:latin typeface="Calibri"/>
                        </a:rPr>
                        <a:t>época da liquidação da</a:t>
                      </a:r>
                    </a:p>
                    <a:p>
                      <a:pPr algn="l">
                        <a:lnSpc>
                          <a:spcPct val="100000"/>
                        </a:lnSpc>
                        <a:spcBef>
                          <a:spcPts val="0"/>
                        </a:spcBef>
                        <a:spcAft>
                          <a:spcPts val="0"/>
                        </a:spcAft>
                      </a:pPr>
                      <a:r>
                        <a:rPr sz="1300" b="0">
                          <a:solidFill>
                            <a:srgbClr val="1F1F1F"/>
                          </a:solidFill>
                          <a:latin typeface="Calibri"/>
                        </a:rPr>
                        <a:t>Classe, o Administrador</a:t>
                      </a:r>
                    </a:p>
                    <a:p>
                      <a:pPr algn="l">
                        <a:lnSpc>
                          <a:spcPct val="100000"/>
                        </a:lnSpc>
                        <a:spcBef>
                          <a:spcPts val="0"/>
                        </a:spcBef>
                        <a:spcAft>
                          <a:spcPts val="0"/>
                        </a:spcAft>
                      </a:pPr>
                      <a:r>
                        <a:rPr sz="1300" b="0">
                          <a:solidFill>
                            <a:srgbClr val="1F1F1F"/>
                          </a:solidFill>
                          <a:latin typeface="Calibri"/>
                        </a:rPr>
                        <a:t>deverá convocar a</a:t>
                      </a:r>
                    </a:p>
                    <a:p>
                      <a:pPr algn="l">
                        <a:lnSpc>
                          <a:spcPct val="100000"/>
                        </a:lnSpc>
                        <a:spcBef>
                          <a:spcPts val="0"/>
                        </a:spcBef>
                        <a:spcAft>
                          <a:spcPts val="0"/>
                        </a:spcAft>
                      </a:pPr>
                      <a:r>
                        <a:rPr sz="1300" b="0">
                          <a:solidFill>
                            <a:srgbClr val="1F1F1F"/>
                          </a:solidFill>
                          <a:latin typeface="Calibri"/>
                        </a:rPr>
                        <a:t>Assembleia Especial de</a:t>
                      </a:r>
                    </a:p>
                    <a:p>
                      <a:pPr algn="l">
                        <a:lnSpc>
                          <a:spcPct val="100000"/>
                        </a:lnSpc>
                        <a:spcBef>
                          <a:spcPts val="0"/>
                        </a:spcBef>
                        <a:spcAft>
                          <a:spcPts val="0"/>
                        </a:spcAft>
                      </a:pPr>
                      <a:r>
                        <a:rPr sz="1300" b="0">
                          <a:solidFill>
                            <a:srgbClr val="1F1F1F"/>
                          </a:solidFill>
                          <a:latin typeface="Calibri"/>
                        </a:rPr>
                        <a:t>Cotistas a fim de</a:t>
                      </a:r>
                    </a:p>
                    <a:p>
                      <a:pPr algn="l">
                        <a:lnSpc>
                          <a:spcPct val="100000"/>
                        </a:lnSpc>
                        <a:spcBef>
                          <a:spcPts val="0"/>
                        </a:spcBef>
                        <a:spcAft>
                          <a:spcPts val="0"/>
                        </a:spcAft>
                      </a:pPr>
                      <a:r>
                        <a:rPr sz="1300" b="0">
                          <a:solidFill>
                            <a:srgbClr val="1F1F1F"/>
                          </a:solidFill>
                          <a:latin typeface="Calibri"/>
                        </a:rPr>
                        <a:t>deliberar sobre a</a:t>
                      </a:r>
                    </a:p>
                    <a:p>
                      <a:pPr algn="l">
                        <a:lnSpc>
                          <a:spcPct val="100000"/>
                        </a:lnSpc>
                        <a:spcBef>
                          <a:spcPts val="0"/>
                        </a:spcBef>
                        <a:spcAft>
                          <a:spcPts val="0"/>
                        </a:spcAft>
                      </a:pPr>
                      <a:r>
                        <a:rPr sz="1300" b="0">
                          <a:solidFill>
                            <a:srgbClr val="1F1F1F"/>
                          </a:solidFill>
                          <a:latin typeface="Calibri"/>
                        </a:rPr>
                        <a:t>prorrogação do Prazo de</a:t>
                      </a:r>
                    </a:p>
                    <a:p>
                      <a:pPr algn="l">
                        <a:lnSpc>
                          <a:spcPct val="100000"/>
                        </a:lnSpc>
                        <a:spcBef>
                          <a:spcPts val="0"/>
                        </a:spcBef>
                        <a:spcAft>
                          <a:spcPts val="0"/>
                        </a:spcAft>
                      </a:pPr>
                      <a:r>
                        <a:rPr sz="1300" b="0">
                          <a:solidFill>
                            <a:srgbClr val="1F1F1F"/>
                          </a:solidFill>
                          <a:latin typeface="Calibri"/>
                        </a:rPr>
                        <a:t>Duração ou o resgate de</a:t>
                      </a:r>
                    </a:p>
                    <a:p>
                      <a:pPr algn="l">
                        <a:lnSpc>
                          <a:spcPct val="100000"/>
                        </a:lnSpc>
                        <a:spcBef>
                          <a:spcPts val="0"/>
                        </a:spcBef>
                        <a:spcAft>
                          <a:spcPts val="0"/>
                        </a:spcAft>
                      </a:pPr>
                      <a:r>
                        <a:rPr sz="1300" b="0">
                          <a:solidFill>
                            <a:srgbClr val="1F1F1F"/>
                          </a:solidFill>
                          <a:latin typeface="Calibri"/>
                        </a:rPr>
                        <a:t>Cotas em Direitos</a:t>
                      </a:r>
                    </a:p>
                    <a:p>
                      <a:pPr algn="l">
                        <a:lnSpc>
                          <a:spcPct val="100000"/>
                        </a:lnSpc>
                        <a:spcBef>
                          <a:spcPts val="0"/>
                        </a:spcBef>
                        <a:spcAft>
                          <a:spcPts val="0"/>
                        </a:spcAft>
                      </a:pPr>
                      <a:r>
                        <a:rPr sz="1300" b="0">
                          <a:solidFill>
                            <a:srgbClr val="1F1F1F"/>
                          </a:solidFill>
                          <a:latin typeface="Calibri"/>
                        </a:rPr>
                        <a:t>Creditórios do</a:t>
                      </a:r>
                    </a:p>
                    <a:p>
                      <a:pPr algn="l">
                        <a:lnSpc>
                          <a:spcPct val="100000"/>
                        </a:lnSpc>
                        <a:spcBef>
                          <a:spcPts val="0"/>
                        </a:spcBef>
                        <a:spcAft>
                          <a:spcPts val="0"/>
                        </a:spcAft>
                      </a:pPr>
                      <a:r>
                        <a:rPr sz="1300" b="0">
                          <a:solidFill>
                            <a:srgbClr val="1F1F1F"/>
                          </a:solidFill>
                          <a:latin typeface="Calibri"/>
                        </a:rPr>
                        <a:t>Agronegócio e/ou Outros</a:t>
                      </a:r>
                    </a:p>
                    <a:p>
                      <a:pPr algn="l">
                        <a:lnSpc>
                          <a:spcPct val="100000"/>
                        </a:lnSpc>
                        <a:spcBef>
                          <a:spcPts val="0"/>
                        </a:spcBef>
                        <a:spcAft>
                          <a:spcPts val="0"/>
                        </a:spcAft>
                      </a:pPr>
                      <a:r>
                        <a:rPr sz="1300" b="0">
                          <a:solidFill>
                            <a:srgbClr val="1F1F1F"/>
                          </a:solidFill>
                          <a:latin typeface="Calibri"/>
                        </a:rPr>
                        <a:t>Ativos . 10 ASSEMBLEIA</a:t>
                      </a:r>
                    </a:p>
                    <a:p>
                      <a:pPr algn="l">
                        <a:lnSpc>
                          <a:spcPct val="100000"/>
                        </a:lnSpc>
                        <a:spcBef>
                          <a:spcPts val="0"/>
                        </a:spcBef>
                        <a:spcAft>
                          <a:spcPts val="0"/>
                        </a:spcAft>
                      </a:pPr>
                      <a:r>
                        <a:rPr sz="1300" b="0">
                          <a:solidFill>
                            <a:srgbClr val="1F1F1F"/>
                          </a:solidFill>
                          <a:latin typeface="Calibri"/>
                        </a:rPr>
                        <a:t>ESPECIAL DE COTISTAS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26/160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Alocação e perímetro</a:t>
            </a:r>
          </a:p>
        </p:txBody>
      </p:sp>
      <p:graphicFrame>
        <p:nvGraphicFramePr>
          <p:cNvPr id="3" name="Table 2"/>
          <p:cNvGraphicFramePr>
            <a:graphicFrameLocks noGrp="1"/>
          </p:cNvGraphicFramePr>
          <p:nvPr/>
        </p:nvGraphicFramePr>
        <p:xfrm>
          <a:off x="438912" y="932688"/>
          <a:ext cx="11313868" cy="2441447"/>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1970531">
                <a:tc>
                  <a:txBody>
                    <a:bodyPr wrap="square">
                      <a:noAutofit/>
                    </a:bodyPr>
                    <a:lstStyle/>
                    <a:p>
                      <a:pPr algn="l">
                        <a:lnSpc>
                          <a:spcPct val="100000"/>
                        </a:lnSpc>
                        <a:spcBef>
                          <a:spcPts val="0"/>
                        </a:spcBef>
                        <a:spcAft>
                          <a:spcPts val="0"/>
                        </a:spcAft>
                      </a:pPr>
                      <a:r>
                        <a:rPr sz="1300" b="1">
                          <a:solidFill>
                            <a:srgbClr val="1F1F1F"/>
                          </a:solidFill>
                          <a:latin typeface="Calibri"/>
                        </a:rPr>
                        <a:t>Duração e público-alvo</a:t>
                      </a:r>
                    </a:p>
                    <a:p>
                      <a:pPr algn="l">
                        <a:lnSpc>
                          <a:spcPct val="100000"/>
                        </a:lnSpc>
                        <a:spcBef>
                          <a:spcPts val="0"/>
                        </a:spcBef>
                        <a:spcAft>
                          <a:spcPts val="0"/>
                        </a:spcAft>
                      </a:pPr>
                      <a:r>
                        <a:rPr sz="1300" b="1">
                          <a:solidFill>
                            <a:srgbClr val="1F1F1F"/>
                          </a:solidFill>
                          <a:latin typeface="Calibri"/>
                        </a:rPr>
                        <a:t>(continuação)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11.1 A Classe será</a:t>
                      </a:r>
                    </a:p>
                    <a:p>
                      <a:pPr algn="l">
                        <a:lnSpc>
                          <a:spcPct val="100000"/>
                        </a:lnSpc>
                        <a:spcBef>
                          <a:spcPts val="0"/>
                        </a:spcBef>
                        <a:spcAft>
                          <a:spcPts val="0"/>
                        </a:spcAft>
                      </a:pPr>
                      <a:r>
                        <a:rPr sz="1300" b="0">
                          <a:solidFill>
                            <a:srgbClr val="1F1F1F"/>
                          </a:solidFill>
                          <a:latin typeface="Calibri"/>
                        </a:rPr>
                        <a:t>liquidada (i) em caso</a:t>
                      </a:r>
                    </a:p>
                    <a:p>
                      <a:pPr algn="l">
                        <a:lnSpc>
                          <a:spcPct val="100000"/>
                        </a:lnSpc>
                        <a:spcBef>
                          <a:spcPts val="0"/>
                        </a:spcBef>
                        <a:spcAft>
                          <a:spcPts val="0"/>
                        </a:spcAft>
                      </a:pPr>
                      <a:r>
                        <a:rPr sz="1300" b="0">
                          <a:solidFill>
                            <a:srgbClr val="1F1F1F"/>
                          </a:solidFill>
                          <a:latin typeface="Calibri"/>
                        </a:rPr>
                        <a:t>da liquidação</a:t>
                      </a:r>
                    </a:p>
                    <a:p>
                      <a:pPr algn="l">
                        <a:lnSpc>
                          <a:spcPct val="100000"/>
                        </a:lnSpc>
                        <a:spcBef>
                          <a:spcPts val="0"/>
                        </a:spcBef>
                        <a:spcAft>
                          <a:spcPts val="0"/>
                        </a:spcAft>
                      </a:pPr>
                      <a:r>
                        <a:rPr sz="1300" b="0">
                          <a:solidFill>
                            <a:srgbClr val="1F1F1F"/>
                          </a:solidFill>
                          <a:latin typeface="Calibri"/>
                        </a:rPr>
                        <a:t>antecipada deliberada</a:t>
                      </a:r>
                    </a:p>
                    <a:p>
                      <a:pPr algn="l">
                        <a:lnSpc>
                          <a:spcPct val="100000"/>
                        </a:lnSpc>
                        <a:spcBef>
                          <a:spcPts val="0"/>
                        </a:spcBef>
                        <a:spcAft>
                          <a:spcPts val="0"/>
                        </a:spcAft>
                      </a:pPr>
                      <a:r>
                        <a:rPr sz="1300" b="0">
                          <a:solidFill>
                            <a:srgbClr val="1F1F1F"/>
                          </a:solidFill>
                          <a:latin typeface="Calibri"/>
                        </a:rPr>
                        <a:t>em Assembleia Especial</a:t>
                      </a:r>
                    </a:p>
                    <a:p>
                      <a:pPr algn="l">
                        <a:lnSpc>
                          <a:spcPct val="100000"/>
                        </a:lnSpc>
                        <a:spcBef>
                          <a:spcPts val="0"/>
                        </a:spcBef>
                        <a:spcAft>
                          <a:spcPts val="0"/>
                        </a:spcAft>
                      </a:pPr>
                      <a:r>
                        <a:rPr sz="1300" b="0">
                          <a:solidFill>
                            <a:srgbClr val="1F1F1F"/>
                          </a:solidFill>
                          <a:latin typeface="Calibri"/>
                        </a:rPr>
                        <a:t>de Cotistas; ou (ii)</a:t>
                      </a:r>
                    </a:p>
                    <a:p>
                      <a:pPr algn="l">
                        <a:lnSpc>
                          <a:spcPct val="100000"/>
                        </a:lnSpc>
                        <a:spcBef>
                          <a:spcPts val="0"/>
                        </a:spcBef>
                        <a:spcAft>
                          <a:spcPts val="0"/>
                        </a:spcAft>
                      </a:pPr>
                      <a:r>
                        <a:rPr sz="1300" b="0">
                          <a:solidFill>
                            <a:srgbClr val="1F1F1F"/>
                          </a:solidFill>
                          <a:latin typeface="Calibri"/>
                        </a:rPr>
                        <a:t>pelo encerramento do</a:t>
                      </a:r>
                    </a:p>
                    <a:p>
                      <a:pPr algn="l">
                        <a:lnSpc>
                          <a:spcPct val="100000"/>
                        </a:lnSpc>
                        <a:spcBef>
                          <a:spcPts val="0"/>
                        </a:spcBef>
                        <a:spcAft>
                          <a:spcPts val="0"/>
                        </a:spcAft>
                      </a:pPr>
                      <a:r>
                        <a:rPr sz="1300" b="0">
                          <a:solidFill>
                            <a:srgbClr val="1F1F1F"/>
                          </a:solidFill>
                          <a:latin typeface="Calibri"/>
                        </a:rPr>
                        <a:t>Prazo de Duração da</a:t>
                      </a:r>
                    </a:p>
                    <a:p>
                      <a:pPr algn="l">
                        <a:lnSpc>
                          <a:spcPct val="100000"/>
                        </a:lnSpc>
                        <a:spcBef>
                          <a:spcPts val="0"/>
                        </a:spcBef>
                        <a:spcAft>
                          <a:spcPts val="0"/>
                        </a:spcAft>
                      </a:pPr>
                      <a:r>
                        <a:rPr sz="1300" b="0">
                          <a:solidFill>
                            <a:srgbClr val="1F1F1F"/>
                          </a:solidFill>
                          <a:latin typeface="Calibri"/>
                        </a:rPr>
                        <a:t>Classe.</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27/160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Alocação e perímetro</a:t>
            </a:r>
          </a:p>
        </p:txBody>
      </p:sp>
      <p:graphicFrame>
        <p:nvGraphicFramePr>
          <p:cNvPr id="3" name="Table 2"/>
          <p:cNvGraphicFramePr>
            <a:graphicFrameLocks noGrp="1"/>
          </p:cNvGraphicFramePr>
          <p:nvPr/>
        </p:nvGraphicFramePr>
        <p:xfrm>
          <a:off x="438912" y="932688"/>
          <a:ext cx="11313870" cy="4242815"/>
        </p:xfrm>
        <a:graphic>
          <a:graphicData uri="http://schemas.openxmlformats.org/drawingml/2006/table">
            <a:tbl>
              <a:tblPr>
                <a:tableStyleId>{5C22544A-7EE6-4342-B048-85BDC9FD1C3A}</a:tableStyleId>
              </a:tblPr>
              <a:tblGrid>
                <a:gridCol w="2331720"/>
                <a:gridCol w="4491075"/>
                <a:gridCol w="4491075"/>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V CDT 1 · 62552447000120</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Global CP · 63953620000165</a:t>
                      </a:r>
                    </a:p>
                  </a:txBody>
                  <a:tcPr marL="91440" marR="91440" marT="41148" marB="41148" anchor="ctr">
                    <a:solidFill>
                      <a:srgbClr val="F7F7F7"/>
                    </a:solidFill>
                    <a:lnL>
                      <a:noFill/>
                    </a:lnL>
                    <a:lnR>
                      <a:noFill/>
                    </a:lnR>
                    <a:lnT>
                      <a:noFill/>
                    </a:lnT>
                    <a:lnB w="6350">
                      <a:solidFill>
                        <a:srgbClr val="D9DEE5"/>
                      </a:solidFill>
                    </a:lnB>
                  </a:tcPr>
                </a:tc>
              </a:tr>
              <a:tr h="845819">
                <a:tc>
                  <a:txBody>
                    <a:bodyPr wrap="square">
                      <a:noAutofit/>
                    </a:bodyPr>
                    <a:lstStyle/>
                    <a:p>
                      <a:pPr algn="l">
                        <a:lnSpc>
                          <a:spcPct val="100000"/>
                        </a:lnSpc>
                        <a:spcBef>
                          <a:spcPts val="0"/>
                        </a:spcBef>
                        <a:spcAft>
                          <a:spcPts val="0"/>
                        </a:spcAft>
                      </a:pPr>
                      <a:r>
                        <a:rPr sz="1300" b="1">
                          <a:solidFill>
                            <a:srgbClr val="1F1F1F"/>
                          </a:solidFill>
                          <a:latin typeface="Calibri"/>
                        </a:rPr>
                        <a:t>Alocação mínima</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Após 180 dias da primeira integralização: DC≥50%</a:t>
                      </a:r>
                    </a:p>
                    <a:p>
                      <a:pPr algn="l">
                        <a:lnSpc>
                          <a:spcPct val="100000"/>
                        </a:lnSpc>
                        <a:spcBef>
                          <a:spcPts val="0"/>
                        </a:spcBef>
                        <a:spcAft>
                          <a:spcPts val="0"/>
                        </a:spcAft>
                      </a:pPr>
                      <a:r>
                        <a:rPr sz="1300" b="0">
                          <a:solidFill>
                            <a:srgbClr val="1F1F1F"/>
                          </a:solidFill>
                          <a:latin typeface="Calibri"/>
                        </a:rPr>
                        <a:t>PL para fins regulatórios.</a:t>
                      </a:r>
                    </a:p>
                    <a:p>
                      <a:pPr algn="l">
                        <a:lnSpc>
                          <a:spcPct val="100000"/>
                        </a:lnSpc>
                        <a:spcBef>
                          <a:spcPts val="0"/>
                        </a:spcBef>
                        <a:spcAft>
                          <a:spcPts val="0"/>
                        </a:spcAft>
                      </a:pPr>
                      <a:r>
                        <a:rPr sz="1300" b="0">
                          <a:solidFill>
                            <a:srgbClr val="1F1F1F"/>
                          </a:solidFill>
                          <a:latin typeface="Calibri"/>
                        </a:rPr>
                        <a:t>IME 08/2026 · 104,36% · Comparação não</a:t>
                      </a:r>
                    </a:p>
                    <a:p>
                      <a:pPr algn="l">
                        <a:lnSpc>
                          <a:spcPct val="100000"/>
                        </a:lnSpc>
                        <a:spcBef>
                          <a:spcPts val="0"/>
                        </a:spcBef>
                        <a:spcAft>
                          <a:spcPts val="0"/>
                        </a:spcAft>
                      </a:pPr>
                      <a:r>
                        <a:rPr sz="1300" b="0">
                          <a:solidFill>
                            <a:srgbClr val="1F1F1F"/>
                          </a:solidFill>
                          <a:latin typeface="Calibri"/>
                        </a:rPr>
                        <a:t>reproduzível</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Após 180 dias do início: direitos creditórios</a:t>
                      </a:r>
                    </a:p>
                    <a:p>
                      <a:pPr algn="l">
                        <a:lnSpc>
                          <a:spcPct val="100000"/>
                        </a:lnSpc>
                        <a:spcBef>
                          <a:spcPts val="0"/>
                        </a:spcBef>
                        <a:spcAft>
                          <a:spcPts val="0"/>
                        </a:spcAft>
                      </a:pPr>
                      <a:r>
                        <a:rPr sz="1300" b="0">
                          <a:solidFill>
                            <a:srgbClr val="1F1F1F"/>
                          </a:solidFill>
                          <a:latin typeface="Calibri"/>
                        </a:rPr>
                        <a:t>≥50% do PL para fins regulatórios.</a:t>
                      </a:r>
                    </a:p>
                    <a:p>
                      <a:pPr algn="l">
                        <a:lnSpc>
                          <a:spcPct val="100000"/>
                        </a:lnSpc>
                        <a:spcBef>
                          <a:spcPts val="0"/>
                        </a:spcBef>
                        <a:spcAft>
                          <a:spcPts val="0"/>
                        </a:spcAft>
                      </a:pPr>
                      <a:r>
                        <a:rPr sz="1300" b="0">
                          <a:solidFill>
                            <a:srgbClr val="1F1F1F"/>
                          </a:solidFill>
                          <a:latin typeface="Calibri"/>
                        </a:rPr>
                        <a:t>IME 08/2026 · 93,29% · Comparação não</a:t>
                      </a:r>
                    </a:p>
                    <a:p>
                      <a:pPr algn="l">
                        <a:lnSpc>
                          <a:spcPct val="100000"/>
                        </a:lnSpc>
                        <a:spcBef>
                          <a:spcPts val="0"/>
                        </a:spcBef>
                        <a:spcAft>
                          <a:spcPts val="0"/>
                        </a:spcAft>
                      </a:pPr>
                      <a:r>
                        <a:rPr sz="1300" b="0">
                          <a:solidFill>
                            <a:srgbClr val="1F1F1F"/>
                          </a:solidFill>
                          <a:latin typeface="Calibri"/>
                        </a:rPr>
                        <a:t>reproduzível</a:t>
                      </a:r>
                    </a:p>
                  </a:txBody>
                  <a:tcPr marL="91440" marR="91440" marT="41148" marB="41148" anchor="ctr">
                    <a:solidFill>
                      <a:srgbClr val="FFFFFF"/>
                    </a:solidFill>
                    <a:lnL>
                      <a:noFill/>
                    </a:lnL>
                    <a:lnR>
                      <a:noFill/>
                    </a:lnR>
                    <a:lnT>
                      <a:noFill/>
                    </a:lnT>
                    <a:lnB>
                      <a:noFill/>
                    </a:lnB>
                  </a:tcPr>
                </a:tc>
              </a:tr>
              <a:tr h="1220724">
                <a:tc>
                  <a:txBody>
                    <a:bodyPr wrap="square">
                      <a:noAutofit/>
                    </a:bodyPr>
                    <a:lstStyle/>
                    <a:p>
                      <a:pPr algn="l">
                        <a:lnSpc>
                          <a:spcPct val="100000"/>
                        </a:lnSpc>
                        <a:spcBef>
                          <a:spcPts val="0"/>
                        </a:spcBef>
                        <a:spcAft>
                          <a:spcPts val="0"/>
                        </a:spcAft>
                      </a:pPr>
                      <a:r>
                        <a:rPr sz="1300" b="1">
                          <a:solidFill>
                            <a:srgbClr val="1F1F1F"/>
                          </a:solidFill>
                          <a:latin typeface="Calibri"/>
                        </a:rPr>
                        <a:t>Alocação para tratamento</a:t>
                      </a:r>
                    </a:p>
                    <a:p>
                      <a:pPr algn="l">
                        <a:lnSpc>
                          <a:spcPct val="100000"/>
                        </a:lnSpc>
                        <a:spcBef>
                          <a:spcPts val="0"/>
                        </a:spcBef>
                        <a:spcAft>
                          <a:spcPts val="0"/>
                        </a:spcAft>
                      </a:pPr>
                      <a:r>
                        <a:rPr sz="1300" b="1">
                          <a:solidFill>
                            <a:srgbClr val="1F1F1F"/>
                          </a:solidFill>
                          <a:latin typeface="Calibri"/>
                        </a:rPr>
                        <a:t>tributário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Após 180 dias da primeira integralização: DC≥67%</a:t>
                      </a:r>
                    </a:p>
                    <a:p>
                      <a:pPr algn="l">
                        <a:lnSpc>
                          <a:spcPct val="100000"/>
                        </a:lnSpc>
                        <a:spcBef>
                          <a:spcPts val="0"/>
                        </a:spcBef>
                        <a:spcAft>
                          <a:spcPts val="0"/>
                        </a:spcAft>
                      </a:pPr>
                      <a:r>
                        <a:rPr sz="1300" b="0">
                          <a:solidFill>
                            <a:srgbClr val="1F1F1F"/>
                          </a:solidFill>
                          <a:latin typeface="Calibri"/>
                        </a:rPr>
                        <a:t>PL para tratamento tributário. Desenquadramento</a:t>
                      </a:r>
                    </a:p>
                    <a:p>
                      <a:pPr algn="l">
                        <a:lnSpc>
                          <a:spcPct val="100000"/>
                        </a:lnSpc>
                        <a:spcBef>
                          <a:spcPts val="0"/>
                        </a:spcBef>
                        <a:spcAft>
                          <a:spcPts val="0"/>
                        </a:spcAft>
                      </a:pPr>
                      <a:r>
                        <a:rPr sz="1300" b="0">
                          <a:solidFill>
                            <a:srgbClr val="1F1F1F"/>
                          </a:solidFill>
                          <a:latin typeface="Calibri"/>
                        </a:rPr>
                        <a:t>segue Lei 14.754/CMN 5.111, separado do piso</a:t>
                      </a:r>
                    </a:p>
                    <a:p>
                      <a:pPr algn="l">
                        <a:lnSpc>
                          <a:spcPct val="100000"/>
                        </a:lnSpc>
                        <a:spcBef>
                          <a:spcPts val="0"/>
                        </a:spcBef>
                        <a:spcAft>
                          <a:spcPts val="0"/>
                        </a:spcAft>
                      </a:pPr>
                      <a:r>
                        <a:rPr sz="1300" b="0">
                          <a:solidFill>
                            <a:srgbClr val="1F1F1F"/>
                          </a:solidFill>
                          <a:latin typeface="Calibri"/>
                        </a:rPr>
                        <a:t>regulatório.</a:t>
                      </a:r>
                    </a:p>
                    <a:p>
                      <a:pPr algn="l">
                        <a:lnSpc>
                          <a:spcPct val="100000"/>
                        </a:lnSpc>
                        <a:spcBef>
                          <a:spcPts val="0"/>
                        </a:spcBef>
                        <a:spcAft>
                          <a:spcPts val="0"/>
                        </a:spcAft>
                      </a:pPr>
                      <a:r>
                        <a:rPr sz="1300" b="0">
                          <a:solidFill>
                            <a:srgbClr val="1F1F1F"/>
                          </a:solidFill>
                          <a:latin typeface="Calibri"/>
                        </a:rPr>
                        <a:t>IME 08/2026 · 104,36% · Comparação não</a:t>
                      </a:r>
                    </a:p>
                    <a:p>
                      <a:pPr algn="l">
                        <a:lnSpc>
                          <a:spcPct val="100000"/>
                        </a:lnSpc>
                        <a:spcBef>
                          <a:spcPts val="0"/>
                        </a:spcBef>
                        <a:spcAft>
                          <a:spcPts val="0"/>
                        </a:spcAft>
                      </a:pPr>
                      <a:r>
                        <a:rPr sz="1300" b="0">
                          <a:solidFill>
                            <a:srgbClr val="1F1F1F"/>
                          </a:solidFill>
                          <a:latin typeface="Calibri"/>
                        </a:rPr>
                        <a:t>reproduzível</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Após 180 dias do início: direitos creditórios</a:t>
                      </a:r>
                    </a:p>
                    <a:p>
                      <a:pPr algn="l">
                        <a:lnSpc>
                          <a:spcPct val="100000"/>
                        </a:lnSpc>
                        <a:spcBef>
                          <a:spcPts val="0"/>
                        </a:spcBef>
                        <a:spcAft>
                          <a:spcPts val="0"/>
                        </a:spcAft>
                      </a:pPr>
                      <a:r>
                        <a:rPr sz="1300" b="0">
                          <a:solidFill>
                            <a:srgbClr val="1F1F1F"/>
                          </a:solidFill>
                          <a:latin typeface="Calibri"/>
                        </a:rPr>
                        <a:t>≥67% do PL para fins tributários.</a:t>
                      </a:r>
                    </a:p>
                    <a:p>
                      <a:pPr algn="l">
                        <a:lnSpc>
                          <a:spcPct val="100000"/>
                        </a:lnSpc>
                        <a:spcBef>
                          <a:spcPts val="0"/>
                        </a:spcBef>
                        <a:spcAft>
                          <a:spcPts val="0"/>
                        </a:spcAft>
                      </a:pPr>
                      <a:r>
                        <a:rPr sz="1300" b="0">
                          <a:solidFill>
                            <a:srgbClr val="1F1F1F"/>
                          </a:solidFill>
                          <a:latin typeface="Calibri"/>
                        </a:rPr>
                        <a:t>IME 08/2026 · 93,29% · Comparação não</a:t>
                      </a:r>
                    </a:p>
                    <a:p>
                      <a:pPr algn="l">
                        <a:lnSpc>
                          <a:spcPct val="100000"/>
                        </a:lnSpc>
                        <a:spcBef>
                          <a:spcPts val="0"/>
                        </a:spcBef>
                        <a:spcAft>
                          <a:spcPts val="0"/>
                        </a:spcAft>
                      </a:pPr>
                      <a:r>
                        <a:rPr sz="1300" b="0">
                          <a:solidFill>
                            <a:srgbClr val="1F1F1F"/>
                          </a:solidFill>
                          <a:latin typeface="Calibri"/>
                        </a:rPr>
                        <a:t>reproduzível</a:t>
                      </a:r>
                    </a:p>
                  </a:txBody>
                  <a:tcPr marL="91440" marR="91440" marT="41148" marB="41148" anchor="ctr">
                    <a:solidFill>
                      <a:srgbClr val="FFFFFF"/>
                    </a:solidFill>
                    <a:lnL>
                      <a:noFill/>
                    </a:lnL>
                    <a:lnR>
                      <a:noFill/>
                    </a:lnR>
                    <a:lnT>
                      <a:noFill/>
                    </a:lnT>
                    <a:lnB>
                      <a:noFill/>
                    </a:lnB>
                  </a:tcPr>
                </a:tc>
              </a:tr>
              <a:tr h="1783080">
                <a:tc>
                  <a:txBody>
                    <a:bodyPr wrap="square">
                      <a:noAutofit/>
                    </a:bodyPr>
                    <a:lstStyle/>
                    <a:p>
                      <a:pPr algn="l">
                        <a:lnSpc>
                          <a:spcPct val="100000"/>
                        </a:lnSpc>
                        <a:spcBef>
                          <a:spcPts val="0"/>
                        </a:spcBef>
                        <a:spcAft>
                          <a:spcPts val="0"/>
                        </a:spcAft>
                      </a:pPr>
                      <a:r>
                        <a:rPr sz="1300" b="1">
                          <a:solidFill>
                            <a:srgbClr val="1F1F1F"/>
                          </a:solidFill>
                          <a:latin typeface="Calibri"/>
                        </a:rPr>
                        <a:t>Classes investidas e</a:t>
                      </a:r>
                    </a:p>
                    <a:p>
                      <a:pPr algn="l">
                        <a:lnSpc>
                          <a:spcPct val="100000"/>
                        </a:lnSpc>
                        <a:spcBef>
                          <a:spcPts val="0"/>
                        </a:spcBef>
                        <a:spcAft>
                          <a:spcPts val="0"/>
                        </a:spcAft>
                      </a:pPr>
                      <a:r>
                        <a:rPr sz="1300" b="1">
                          <a:solidFill>
                            <a:srgbClr val="1F1F1F"/>
                          </a:solidFill>
                          <a:latin typeface="Calibri"/>
                        </a:rPr>
                        <a:t>limites do FIC</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(d) operações compromissadas, desde que</a:t>
                      </a:r>
                    </a:p>
                    <a:p>
                      <a:pPr algn="l">
                        <a:lnSpc>
                          <a:spcPct val="100000"/>
                        </a:lnSpc>
                        <a:spcBef>
                          <a:spcPts val="0"/>
                        </a:spcBef>
                        <a:spcAft>
                          <a:spcPts val="0"/>
                        </a:spcAft>
                      </a:pPr>
                      <a:r>
                        <a:rPr sz="1300" b="0">
                          <a:solidFill>
                            <a:srgbClr val="1F1F1F"/>
                          </a:solidFill>
                          <a:latin typeface="Calibri"/>
                        </a:rPr>
                        <a:t>lastreadas nos títulos mencionados nas alíneas</a:t>
                      </a:r>
                    </a:p>
                    <a:p>
                      <a:pPr algn="l">
                        <a:lnSpc>
                          <a:spcPct val="100000"/>
                        </a:lnSpc>
                        <a:spcBef>
                          <a:spcPts val="0"/>
                        </a:spcBef>
                        <a:spcAft>
                          <a:spcPts val="0"/>
                        </a:spcAft>
                      </a:pPr>
                      <a:r>
                        <a:rPr sz="1300" b="0">
                          <a:solidFill>
                            <a:srgbClr val="1F1F1F"/>
                          </a:solidFill>
                          <a:latin typeface="Calibri"/>
                        </a:rPr>
                        <a:t>(b) e (c) acima; e (e) cotas do BTG Pactual</a:t>
                      </a:r>
                    </a:p>
                    <a:p>
                      <a:pPr algn="l">
                        <a:lnSpc>
                          <a:spcPct val="100000"/>
                        </a:lnSpc>
                        <a:spcBef>
                          <a:spcPts val="0"/>
                        </a:spcBef>
                        <a:spcAft>
                          <a:spcPts val="0"/>
                        </a:spcAft>
                      </a:pPr>
                      <a:r>
                        <a:rPr sz="1300" b="0">
                          <a:solidFill>
                            <a:srgbClr val="1F1F1F"/>
                          </a:solidFill>
                          <a:latin typeface="Calibri"/>
                        </a:rPr>
                        <a:t>Tesouro Selic Fundo de Investimento Renda Fixa</a:t>
                      </a:r>
                    </a:p>
                    <a:p>
                      <a:pPr algn="l">
                        <a:lnSpc>
                          <a:spcPct val="100000"/>
                        </a:lnSpc>
                        <a:spcBef>
                          <a:spcPts val="0"/>
                        </a:spcBef>
                        <a:spcAft>
                          <a:spcPts val="0"/>
                        </a:spcAft>
                      </a:pPr>
                      <a:r>
                        <a:rPr sz="1300" b="0">
                          <a:solidFill>
                            <a:srgbClr val="1F1F1F"/>
                          </a:solidFill>
                          <a:latin typeface="Calibri"/>
                        </a:rPr>
                        <a:t>Ref erenciado DI, inscrito no CNPJ sob o nº</a:t>
                      </a:r>
                    </a:p>
                    <a:p>
                      <a:pPr algn="l">
                        <a:lnSpc>
                          <a:spcPct val="100000"/>
                        </a:lnSpc>
                        <a:spcBef>
                          <a:spcPts val="0"/>
                        </a:spcBef>
                        <a:spcAft>
                          <a:spcPts val="0"/>
                        </a:spcAft>
                      </a:pPr>
                      <a:r>
                        <a:rPr sz="1300" b="0">
                          <a:solidFill>
                            <a:srgbClr val="1F1F1F"/>
                          </a:solidFill>
                          <a:latin typeface="Calibri"/>
                        </a:rPr>
                        <a:t>09.215.250/0001-13; observados todos os limites</a:t>
                      </a:r>
                    </a:p>
                    <a:p>
                      <a:pPr algn="l">
                        <a:lnSpc>
                          <a:spcPct val="100000"/>
                        </a:lnSpc>
                        <a:spcBef>
                          <a:spcPts val="0"/>
                        </a:spcBef>
                        <a:spcAft>
                          <a:spcPts val="0"/>
                        </a:spcAft>
                      </a:pPr>
                      <a:r>
                        <a:rPr sz="1300" b="0">
                          <a:solidFill>
                            <a:srgbClr val="1F1F1F"/>
                          </a:solidFill>
                          <a:latin typeface="Calibri"/>
                        </a:rPr>
                        <a:t>de composição e diversificação da carteira da</a:t>
                      </a:r>
                    </a:p>
                    <a:p>
                      <a:pPr algn="l">
                        <a:lnSpc>
                          <a:spcPct val="100000"/>
                        </a:lnSpc>
                        <a:spcBef>
                          <a:spcPts val="0"/>
                        </a:spcBef>
                        <a:spcAft>
                          <a:spcPts val="0"/>
                        </a:spcAft>
                      </a:pPr>
                      <a:r>
                        <a:rPr sz="1300" b="0">
                          <a:solidFill>
                            <a:srgbClr val="1F1F1F"/>
                          </a:solidFill>
                          <a:latin typeface="Calibri"/>
                        </a:rPr>
                        <a:t>Classe (“Carteira”), estabelecidos neste</a:t>
                      </a:r>
                    </a:p>
                    <a:p>
                      <a:pPr algn="l">
                        <a:lnSpc>
                          <a:spcPct val="100000"/>
                        </a:lnSpc>
                        <a:spcBef>
                          <a:spcPts val="0"/>
                        </a:spcBef>
                        <a:spcAft>
                          <a:spcPts val="0"/>
                        </a:spcAft>
                      </a:pPr>
                      <a:r>
                        <a:rPr sz="1300" b="0">
                          <a:solidFill>
                            <a:srgbClr val="1F1F1F"/>
                          </a:solidFill>
                          <a:latin typeface="Calibri"/>
                        </a:rPr>
                        <a:t>Regulamento e na regulamentação aplicável.</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28/160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Alocação e perímetro</a:t>
            </a:r>
          </a:p>
        </p:txBody>
      </p:sp>
      <p:graphicFrame>
        <p:nvGraphicFramePr>
          <p:cNvPr id="3" name="Table 2"/>
          <p:cNvGraphicFramePr>
            <a:graphicFrameLocks noGrp="1"/>
          </p:cNvGraphicFramePr>
          <p:nvPr/>
        </p:nvGraphicFramePr>
        <p:xfrm>
          <a:off x="438912" y="932688"/>
          <a:ext cx="11313870" cy="4238244"/>
        </p:xfrm>
        <a:graphic>
          <a:graphicData uri="http://schemas.openxmlformats.org/drawingml/2006/table">
            <a:tbl>
              <a:tblPr>
                <a:tableStyleId>{5C22544A-7EE6-4342-B048-85BDC9FD1C3A}</a:tableStyleId>
              </a:tblPr>
              <a:tblGrid>
                <a:gridCol w="2331720"/>
                <a:gridCol w="4491075"/>
                <a:gridCol w="4491075"/>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V CDT 1 · 62552447000120</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Global CP · 63953620000165</a:t>
                      </a:r>
                    </a:p>
                  </a:txBody>
                  <a:tcPr marL="91440" marR="91440" marT="41148" marB="41148" anchor="ctr">
                    <a:solidFill>
                      <a:srgbClr val="F7F7F7"/>
                    </a:solidFill>
                    <a:lnL>
                      <a:noFill/>
                    </a:lnL>
                    <a:lnR>
                      <a:noFill/>
                    </a:lnR>
                    <a:lnT>
                      <a:noFill/>
                    </a:lnT>
                    <a:lnB w="6350">
                      <a:solidFill>
                        <a:srgbClr val="D9DEE5"/>
                      </a:solidFill>
                    </a:lnB>
                  </a:tcPr>
                </a:tc>
              </a:tr>
              <a:tr h="3845052">
                <a:tc>
                  <a:txBody>
                    <a:bodyPr wrap="square">
                      <a:noAutofit/>
                    </a:bodyPr>
                    <a:lstStyle/>
                    <a:p>
                      <a:pPr algn="l">
                        <a:lnSpc>
                          <a:spcPct val="100000"/>
                        </a:lnSpc>
                        <a:spcBef>
                          <a:spcPts val="0"/>
                        </a:spcBef>
                        <a:spcAft>
                          <a:spcPts val="0"/>
                        </a:spcAft>
                      </a:pPr>
                      <a:r>
                        <a:rPr sz="1300" b="1">
                          <a:solidFill>
                            <a:srgbClr val="1F1F1F"/>
                          </a:solidFill>
                          <a:latin typeface="Calibri"/>
                        </a:rPr>
                        <a:t>Classe, subclasse e</a:t>
                      </a:r>
                    </a:p>
                    <a:p>
                      <a:pPr algn="l">
                        <a:lnSpc>
                          <a:spcPct val="100000"/>
                        </a:lnSpc>
                        <a:spcBef>
                          <a:spcPts val="0"/>
                        </a:spcBef>
                        <a:spcAft>
                          <a:spcPts val="0"/>
                        </a:spcAft>
                      </a:pPr>
                      <a:r>
                        <a:rPr sz="1300" b="1">
                          <a:solidFill>
                            <a:srgbClr val="1F1F1F"/>
                          </a:solidFill>
                          <a:latin typeface="Calibri"/>
                        </a:rPr>
                        <a:t>responsabilidade</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1.3 Durante o seu prazo de duração, o Fundo, por</a:t>
                      </a:r>
                    </a:p>
                    <a:p>
                      <a:pPr algn="l">
                        <a:lnSpc>
                          <a:spcPct val="100000"/>
                        </a:lnSpc>
                        <a:spcBef>
                          <a:spcPts val="0"/>
                        </a:spcBef>
                        <a:spcAft>
                          <a:spcPts val="0"/>
                        </a:spcAft>
                      </a:pPr>
                      <a:r>
                        <a:rPr sz="1300" b="0">
                          <a:solidFill>
                            <a:srgbClr val="1F1F1F"/>
                          </a:solidFill>
                          <a:latin typeface="Calibri"/>
                        </a:rPr>
                        <a:t>ato conjunto dos Prestadores de Serviços</a:t>
                      </a:r>
                    </a:p>
                    <a:p>
                      <a:pPr algn="l">
                        <a:lnSpc>
                          <a:spcPct val="100000"/>
                        </a:lnSpc>
                        <a:spcBef>
                          <a:spcPts val="0"/>
                        </a:spcBef>
                        <a:spcAft>
                          <a:spcPts val="0"/>
                        </a:spcAft>
                      </a:pPr>
                      <a:r>
                        <a:rPr sz="1300" b="0">
                          <a:solidFill>
                            <a:srgbClr val="1F1F1F"/>
                          </a:solidFill>
                          <a:latin typeface="Calibri"/>
                        </a:rPr>
                        <a:t>Essenciais, poderá constituir diferentes Classes</a:t>
                      </a:r>
                    </a:p>
                    <a:p>
                      <a:pPr algn="l">
                        <a:lnSpc>
                          <a:spcPct val="100000"/>
                        </a:lnSpc>
                        <a:spcBef>
                          <a:spcPts val="0"/>
                        </a:spcBef>
                        <a:spcAft>
                          <a:spcPts val="0"/>
                        </a:spcAft>
                      </a:pPr>
                      <a:r>
                        <a:rPr sz="1300" b="0">
                          <a:solidFill>
                            <a:srgbClr val="1F1F1F"/>
                          </a:solidFill>
                          <a:latin typeface="Calibri"/>
                        </a:rPr>
                        <a:t>e Subclasses , sendo que cada Classe terá</a:t>
                      </a:r>
                    </a:p>
                    <a:p>
                      <a:pPr algn="l">
                        <a:lnSpc>
                          <a:spcPct val="100000"/>
                        </a:lnSpc>
                        <a:spcBef>
                          <a:spcPts val="0"/>
                        </a:spcBef>
                        <a:spcAft>
                          <a:spcPts val="0"/>
                        </a:spcAft>
                      </a:pPr>
                      <a:r>
                        <a:rPr sz="1300" b="0">
                          <a:solidFill>
                            <a:srgbClr val="1F1F1F"/>
                          </a:solidFill>
                          <a:latin typeface="Calibri"/>
                        </a:rPr>
                        <a:t>patrimônio segregado e</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1.1 V CDT 1 FUNDO DE INVESTIMENTO EM DIREITOS</a:t>
                      </a:r>
                    </a:p>
                    <a:p>
                      <a:pPr algn="l">
                        <a:lnSpc>
                          <a:spcPct val="100000"/>
                        </a:lnSpc>
                        <a:spcBef>
                          <a:spcPts val="0"/>
                        </a:spcBef>
                        <a:spcAft>
                          <a:spcPts val="0"/>
                        </a:spcAft>
                      </a:pPr>
                      <a:r>
                        <a:rPr sz="1300" b="0">
                          <a:solidFill>
                            <a:srgbClr val="1F1F1F"/>
                          </a:solidFill>
                          <a:latin typeface="Calibri"/>
                        </a:rPr>
                        <a:t>CREDITÓRIOS RESPONSABILIDADE LIMITADA (“Fundo”),</a:t>
                      </a:r>
                    </a:p>
                    <a:p>
                      <a:pPr algn="l">
                        <a:lnSpc>
                          <a:spcPct val="100000"/>
                        </a:lnSpc>
                        <a:spcBef>
                          <a:spcPts val="0"/>
                        </a:spcBef>
                        <a:spcAft>
                          <a:spcPts val="0"/>
                        </a:spcAft>
                      </a:pPr>
                      <a:r>
                        <a:rPr sz="1300" b="0">
                          <a:solidFill>
                            <a:srgbClr val="1F1F1F"/>
                          </a:solidFill>
                          <a:latin typeface="Calibri"/>
                        </a:rPr>
                        <a:t>regido pela Lei n.º 10.406, de 10 de janeiro de</a:t>
                      </a:r>
                    </a:p>
                    <a:p>
                      <a:pPr algn="l">
                        <a:lnSpc>
                          <a:spcPct val="100000"/>
                        </a:lnSpc>
                        <a:spcBef>
                          <a:spcPts val="0"/>
                        </a:spcBef>
                        <a:spcAft>
                          <a:spcPts val="0"/>
                        </a:spcAft>
                      </a:pPr>
                      <a:r>
                        <a:rPr sz="1300" b="0">
                          <a:solidFill>
                            <a:srgbClr val="1F1F1F"/>
                          </a:solidFill>
                          <a:latin typeface="Calibri"/>
                        </a:rPr>
                        <a:t>2002, conforme alterada (“Código Civil”), pela</a:t>
                      </a:r>
                    </a:p>
                    <a:p>
                      <a:pPr algn="l">
                        <a:lnSpc>
                          <a:spcPct val="100000"/>
                        </a:lnSpc>
                        <a:spcBef>
                          <a:spcPts val="0"/>
                        </a:spcBef>
                        <a:spcAft>
                          <a:spcPts val="0"/>
                        </a:spcAft>
                      </a:pPr>
                      <a:r>
                        <a:rPr sz="1300" b="0">
                          <a:solidFill>
                            <a:srgbClr val="1F1F1F"/>
                          </a:solidFill>
                          <a:latin typeface="Calibri"/>
                        </a:rPr>
                        <a:t>Resolução da Comissão de Valores Mobiliários</a:t>
                      </a:r>
                    </a:p>
                    <a:p>
                      <a:pPr algn="l">
                        <a:lnSpc>
                          <a:spcPct val="100000"/>
                        </a:lnSpc>
                        <a:spcBef>
                          <a:spcPts val="0"/>
                        </a:spcBef>
                        <a:spcAft>
                          <a:spcPts val="0"/>
                        </a:spcAft>
                      </a:pPr>
                      <a:r>
                        <a:rPr sz="1300" b="0">
                          <a:solidFill>
                            <a:srgbClr val="1F1F1F"/>
                          </a:solidFill>
                          <a:latin typeface="Calibri"/>
                        </a:rPr>
                        <a:t>(“CVM”) n.º 175, de 23 de dezembro de 2022, conf</a:t>
                      </a:r>
                    </a:p>
                    <a:p>
                      <a:pPr algn="l">
                        <a:lnSpc>
                          <a:spcPct val="100000"/>
                        </a:lnSpc>
                        <a:spcBef>
                          <a:spcPts val="0"/>
                        </a:spcBef>
                        <a:spcAft>
                          <a:spcPts val="0"/>
                        </a:spcAft>
                      </a:pPr>
                      <a:r>
                        <a:rPr sz="1300" b="0">
                          <a:solidFill>
                            <a:srgbClr val="1F1F1F"/>
                          </a:solidFill>
                          <a:latin typeface="Calibri"/>
                        </a:rPr>
                        <a:t>orme alterada (“Resolução CVM 175”), que inclui</a:t>
                      </a:r>
                    </a:p>
                    <a:p>
                      <a:pPr algn="l">
                        <a:lnSpc>
                          <a:spcPct val="100000"/>
                        </a:lnSpc>
                        <a:spcBef>
                          <a:spcPts val="0"/>
                        </a:spcBef>
                        <a:spcAft>
                          <a:spcPts val="0"/>
                        </a:spcAft>
                      </a:pPr>
                      <a:r>
                        <a:rPr sz="1300" b="0">
                          <a:solidFill>
                            <a:srgbClr val="1F1F1F"/>
                          </a:solidFill>
                          <a:latin typeface="Calibri"/>
                        </a:rPr>
                        <a:t>sua Parte Geral (“Parte Geral da Resolução CVM</a:t>
                      </a:r>
                    </a:p>
                    <a:p>
                      <a:pPr algn="l">
                        <a:lnSpc>
                          <a:spcPct val="100000"/>
                        </a:lnSpc>
                        <a:spcBef>
                          <a:spcPts val="0"/>
                        </a:spcBef>
                        <a:spcAft>
                          <a:spcPts val="0"/>
                        </a:spcAft>
                      </a:pPr>
                      <a:r>
                        <a:rPr sz="1300" b="0">
                          <a:solidFill>
                            <a:srgbClr val="1F1F1F"/>
                          </a:solidFill>
                          <a:latin typeface="Calibri"/>
                        </a:rPr>
                        <a:t>175”) e seu Anexo Normativo II (“Anexo Normativo</a:t>
                      </a:r>
                    </a:p>
                    <a:p>
                      <a:pPr algn="l">
                        <a:lnSpc>
                          <a:spcPct val="100000"/>
                        </a:lnSpc>
                        <a:spcBef>
                          <a:spcPts val="0"/>
                        </a:spcBef>
                        <a:spcAft>
                          <a:spcPts val="0"/>
                        </a:spcAft>
                      </a:pPr>
                      <a:r>
                        <a:rPr sz="1300" b="0">
                          <a:solidFill>
                            <a:srgbClr val="1F1F1F"/>
                          </a:solidFill>
                          <a:latin typeface="Calibri"/>
                        </a:rPr>
                        <a:t>II”) terá como principais características:</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CLASSE ÚNICA DO V CDT 1 FUNDO DE INVESTIMENTO EM</a:t>
                      </a:r>
                    </a:p>
                    <a:p>
                      <a:pPr algn="l">
                        <a:lnSpc>
                          <a:spcPct val="100000"/>
                        </a:lnSpc>
                        <a:spcBef>
                          <a:spcPts val="0"/>
                        </a:spcBef>
                        <a:spcAft>
                          <a:spcPts val="0"/>
                        </a:spcAft>
                      </a:pPr>
                      <a:r>
                        <a:rPr sz="1300" b="0">
                          <a:solidFill>
                            <a:srgbClr val="1F1F1F"/>
                          </a:solidFill>
                          <a:latin typeface="Calibri"/>
                        </a:rPr>
                        <a:t>DIREITOS CREDITÓRIOS Anexo I (“Anexo I”)</a:t>
                      </a:r>
                    </a:p>
                    <a:p>
                      <a:pPr algn="l">
                        <a:lnSpc>
                          <a:spcPct val="100000"/>
                        </a:lnSpc>
                        <a:spcBef>
                          <a:spcPts val="0"/>
                        </a:spcBef>
                        <a:spcAft>
                          <a:spcPts val="0"/>
                        </a:spcAft>
                      </a:pPr>
                      <a:r>
                        <a:rPr sz="1300" b="0">
                          <a:solidFill>
                            <a:srgbClr val="1F1F1F"/>
                          </a:solidFill>
                          <a:latin typeface="Calibri"/>
                        </a:rPr>
                        <a:t>RESPONSABILIDADE LIMITADA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Classe Consignado Privado tem Sênior/Subordinada.</a:t>
                      </a:r>
                    </a:p>
                    <a:p>
                      <a:pPr algn="l">
                        <a:lnSpc>
                          <a:spcPct val="100000"/>
                        </a:lnSpc>
                        <a:spcBef>
                          <a:spcPts val="0"/>
                        </a:spcBef>
                        <a:spcAft>
                          <a:spcPts val="0"/>
                        </a:spcAft>
                      </a:pPr>
                      <a:r>
                        <a:rPr sz="1300" b="0">
                          <a:solidFill>
                            <a:srgbClr val="1F1F1F"/>
                          </a:solidFill>
                          <a:latin typeface="Calibri"/>
                        </a:rPr>
                        <a:t>Cláusula 2.1 limita responsabilidade ao</a:t>
                      </a:r>
                    </a:p>
                    <a:p>
                      <a:pPr algn="l">
                        <a:lnSpc>
                          <a:spcPct val="100000"/>
                        </a:lnSpc>
                        <a:spcBef>
                          <a:spcPts val="0"/>
                        </a:spcBef>
                        <a:spcAft>
                          <a:spcPts val="0"/>
                        </a:spcAft>
                      </a:pPr>
                      <a:r>
                        <a:rPr sz="1300" b="0">
                          <a:solidFill>
                            <a:srgbClr val="1F1F1F"/>
                          </a:solidFill>
                          <a:latin typeface="Calibri"/>
                        </a:rPr>
                        <a:t>subscrito; cláusula 6.7.1 permite chamadas para</a:t>
                      </a:r>
                    </a:p>
                    <a:p>
                      <a:pPr algn="l">
                        <a:lnSpc>
                          <a:spcPct val="100000"/>
                        </a:lnSpc>
                        <a:spcBef>
                          <a:spcPts val="0"/>
                        </a:spcBef>
                        <a:spcAft>
                          <a:spcPts val="0"/>
                        </a:spcAft>
                      </a:pPr>
                      <a:r>
                        <a:rPr sz="1300" b="0">
                          <a:solidFill>
                            <a:srgbClr val="1F1F1F"/>
                          </a:solidFill>
                          <a:latin typeface="Calibri"/>
                        </a:rPr>
                        <a:t>encargos acima do subscrito.; Conflito entre</a:t>
                      </a:r>
                    </a:p>
                    <a:p>
                      <a:pPr algn="l">
                        <a:lnSpc>
                          <a:spcPct val="100000"/>
                        </a:lnSpc>
                        <a:spcBef>
                          <a:spcPts val="0"/>
                        </a:spcBef>
                        <a:spcAft>
                          <a:spcPts val="0"/>
                        </a:spcAft>
                      </a:pPr>
                      <a:r>
                        <a:rPr sz="1300" b="0">
                          <a:solidFill>
                            <a:srgbClr val="1F1F1F"/>
                          </a:solidFill>
                          <a:latin typeface="Calibri"/>
                        </a:rPr>
                        <a:t>versões</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29/160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Alocação e perímetro</a:t>
            </a:r>
          </a:p>
        </p:txBody>
      </p:sp>
      <p:graphicFrame>
        <p:nvGraphicFramePr>
          <p:cNvPr id="3" name="Table 2"/>
          <p:cNvGraphicFramePr>
            <a:graphicFrameLocks noGrp="1"/>
          </p:cNvGraphicFramePr>
          <p:nvPr/>
        </p:nvGraphicFramePr>
        <p:xfrm>
          <a:off x="438912" y="932688"/>
          <a:ext cx="11313870" cy="1426463"/>
        </p:xfrm>
        <a:graphic>
          <a:graphicData uri="http://schemas.openxmlformats.org/drawingml/2006/table">
            <a:tbl>
              <a:tblPr>
                <a:tableStyleId>{5C22544A-7EE6-4342-B048-85BDC9FD1C3A}</a:tableStyleId>
              </a:tblPr>
              <a:tblGrid>
                <a:gridCol w="2331720"/>
                <a:gridCol w="4491075"/>
                <a:gridCol w="4491075"/>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V CDT 1 · 62552447000120</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Global CP · 63953620000165</a:t>
                      </a:r>
                    </a:p>
                  </a:txBody>
                  <a:tcPr marL="91440" marR="91440" marT="41148" marB="41148" anchor="ctr">
                    <a:solidFill>
                      <a:srgbClr val="F7F7F7"/>
                    </a:solidFill>
                    <a:lnL>
                      <a:noFill/>
                    </a:lnL>
                    <a:lnR>
                      <a:noFill/>
                    </a:lnR>
                    <a:lnT>
                      <a:noFill/>
                    </a:lnT>
                    <a:lnB w="6350">
                      <a:solidFill>
                        <a:srgbClr val="D9DEE5"/>
                      </a:solidFill>
                    </a:lnB>
                  </a:tcPr>
                </a:tc>
              </a:tr>
              <a:tr h="1033271">
                <a:tc>
                  <a:txBody>
                    <a:bodyPr wrap="square">
                      <a:noAutofit/>
                    </a:bodyPr>
                    <a:lstStyle/>
                    <a:p>
                      <a:pPr algn="l">
                        <a:lnSpc>
                          <a:spcPct val="100000"/>
                        </a:lnSpc>
                        <a:spcBef>
                          <a:spcPts val="0"/>
                        </a:spcBef>
                        <a:spcAft>
                          <a:spcPts val="0"/>
                        </a:spcAft>
                      </a:pPr>
                      <a:r>
                        <a:rPr sz="1300" b="1">
                          <a:solidFill>
                            <a:srgbClr val="1F1F1F"/>
                          </a:solidFill>
                          <a:latin typeface="Calibri"/>
                        </a:rPr>
                        <a:t>Adaptação à Resolução</a:t>
                      </a:r>
                    </a:p>
                    <a:p>
                      <a:pPr algn="l">
                        <a:lnSpc>
                          <a:spcPct val="100000"/>
                        </a:lnSpc>
                        <a:spcBef>
                          <a:spcPts val="0"/>
                        </a:spcBef>
                        <a:spcAft>
                          <a:spcPts val="0"/>
                        </a:spcAft>
                      </a:pPr>
                      <a:r>
                        <a:rPr sz="1300" b="1">
                          <a:solidFill>
                            <a:srgbClr val="1F1F1F"/>
                          </a:solidFill>
                          <a:latin typeface="Calibri"/>
                        </a:rPr>
                        <a:t>CVM 175</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Parte Geral e Anexo Normativo II da Resolução CVM</a:t>
                      </a:r>
                    </a:p>
                    <a:p>
                      <a:pPr algn="l">
                        <a:lnSpc>
                          <a:spcPct val="100000"/>
                        </a:lnSpc>
                        <a:spcBef>
                          <a:spcPts val="0"/>
                        </a:spcBef>
                        <a:spcAft>
                          <a:spcPts val="0"/>
                        </a:spcAft>
                      </a:pPr>
                      <a:r>
                        <a:rPr sz="1300" b="0">
                          <a:solidFill>
                            <a:srgbClr val="1F1F1F"/>
                          </a:solidFill>
                          <a:latin typeface="Calibri"/>
                        </a:rPr>
                        <a:t>175; Anexo I mais específico prevalece sobre</a:t>
                      </a:r>
                    </a:p>
                    <a:p>
                      <a:pPr algn="l">
                        <a:lnSpc>
                          <a:spcPct val="100000"/>
                        </a:lnSpc>
                        <a:spcBef>
                          <a:spcPts val="0"/>
                        </a:spcBef>
                        <a:spcAft>
                          <a:spcPts val="0"/>
                        </a:spcAft>
                      </a:pPr>
                      <a:r>
                        <a:rPr sz="1300" b="0">
                          <a:solidFill>
                            <a:srgbClr val="1F1F1F"/>
                          </a:solidFill>
                          <a:latin typeface="Calibri"/>
                        </a:rPr>
                        <a:t>Parte Geral pela cláusula 1.6(v). Classe única</a:t>
                      </a:r>
                    </a:p>
                    <a:p>
                      <a:pPr algn="l">
                        <a:lnSpc>
                          <a:spcPct val="100000"/>
                        </a:lnSpc>
                        <a:spcBef>
                          <a:spcPts val="0"/>
                        </a:spcBef>
                        <a:spcAft>
                          <a:spcPts val="0"/>
                        </a:spcAft>
                      </a:pPr>
                      <a:r>
                        <a:rPr sz="1300" b="0">
                          <a:solidFill>
                            <a:srgbClr val="1F1F1F"/>
                          </a:solidFill>
                          <a:latin typeface="Calibri"/>
                        </a:rPr>
                        <a:t>sem subclasse nesta versão.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Anexo I específico da Classe Consignado Privado,</a:t>
                      </a:r>
                    </a:p>
                    <a:p>
                      <a:pPr algn="l">
                        <a:lnSpc>
                          <a:spcPct val="100000"/>
                        </a:lnSpc>
                        <a:spcBef>
                          <a:spcPts val="0"/>
                        </a:spcBef>
                        <a:spcAft>
                          <a:spcPts val="0"/>
                        </a:spcAft>
                      </a:pPr>
                      <a:r>
                        <a:rPr sz="1300" b="0">
                          <a:solidFill>
                            <a:srgbClr val="1F1F1F"/>
                          </a:solidFill>
                          <a:latin typeface="Calibri"/>
                        </a:rPr>
                        <a:t>com apêndices Sênior/Subordinada sob Resolução</a:t>
                      </a:r>
                    </a:p>
                    <a:p>
                      <a:pPr algn="l">
                        <a:lnSpc>
                          <a:spcPct val="100000"/>
                        </a:lnSpc>
                        <a:spcBef>
                          <a:spcPts val="0"/>
                        </a:spcBef>
                        <a:spcAft>
                          <a:spcPts val="0"/>
                        </a:spcAft>
                      </a:pPr>
                      <a:r>
                        <a:rPr sz="1300" b="0">
                          <a:solidFill>
                            <a:srgbClr val="1F1F1F"/>
                          </a:solidFill>
                          <a:latin typeface="Calibri"/>
                        </a:rPr>
                        <a:t>CVM 175. CNPJ da classe 63953620000165;</a:t>
                      </a:r>
                    </a:p>
                    <a:p>
                      <a:pPr algn="l">
                        <a:lnSpc>
                          <a:spcPct val="100000"/>
                        </a:lnSpc>
                        <a:spcBef>
                          <a:spcPts val="0"/>
                        </a:spcBef>
                        <a:spcAft>
                          <a:spcPts val="0"/>
                        </a:spcAft>
                      </a:pPr>
                      <a:r>
                        <a:rPr sz="1300" b="0">
                          <a:solidFill>
                            <a:srgbClr val="1F1F1F"/>
                          </a:solidFill>
                          <a:latin typeface="Calibri"/>
                        </a:rPr>
                        <a:t>guarda-chuva 63953619000130 contém outras</a:t>
                      </a:r>
                    </a:p>
                    <a:p>
                      <a:pPr algn="l">
                        <a:lnSpc>
                          <a:spcPct val="100000"/>
                        </a:lnSpc>
                        <a:spcBef>
                          <a:spcPts val="0"/>
                        </a:spcBef>
                        <a:spcAft>
                          <a:spcPts val="0"/>
                        </a:spcAft>
                      </a:pPr>
                      <a:r>
                        <a:rPr sz="1300" b="0">
                          <a:solidFill>
                            <a:srgbClr val="1F1F1F"/>
                          </a:solidFill>
                          <a:latin typeface="Calibri"/>
                        </a:rPr>
                        <a:t>classes.</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30/160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Alocação e perímetro</a:t>
            </a:r>
          </a:p>
        </p:txBody>
      </p:sp>
      <p:graphicFrame>
        <p:nvGraphicFramePr>
          <p:cNvPr id="3" name="Table 2"/>
          <p:cNvGraphicFramePr>
            <a:graphicFrameLocks noGrp="1"/>
          </p:cNvGraphicFramePr>
          <p:nvPr/>
        </p:nvGraphicFramePr>
        <p:xfrm>
          <a:off x="438912" y="932688"/>
          <a:ext cx="11313870" cy="5175504"/>
        </p:xfrm>
        <a:graphic>
          <a:graphicData uri="http://schemas.openxmlformats.org/drawingml/2006/table">
            <a:tbl>
              <a:tblPr>
                <a:tableStyleId>{5C22544A-7EE6-4342-B048-85BDC9FD1C3A}</a:tableStyleId>
              </a:tblPr>
              <a:tblGrid>
                <a:gridCol w="2331720"/>
                <a:gridCol w="4491075"/>
                <a:gridCol w="4491075"/>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V CDT 1 · 62552447000120</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Global CP · 63953620000165</a:t>
                      </a:r>
                    </a:p>
                  </a:txBody>
                  <a:tcPr marL="91440" marR="91440" marT="41148" marB="41148" anchor="ctr">
                    <a:solidFill>
                      <a:srgbClr val="F7F7F7"/>
                    </a:solidFill>
                    <a:lnL>
                      <a:noFill/>
                    </a:lnL>
                    <a:lnR>
                      <a:noFill/>
                    </a:lnR>
                    <a:lnT>
                      <a:noFill/>
                    </a:lnT>
                    <a:lnB w="6350">
                      <a:solidFill>
                        <a:srgbClr val="D9DEE5"/>
                      </a:solidFill>
                    </a:lnB>
                  </a:tcPr>
                </a:tc>
              </a:tr>
              <a:tr h="4782312">
                <a:tc>
                  <a:txBody>
                    <a:bodyPr wrap="square">
                      <a:noAutofit/>
                    </a:bodyPr>
                    <a:lstStyle/>
                    <a:p>
                      <a:pPr algn="l">
                        <a:lnSpc>
                          <a:spcPct val="100000"/>
                        </a:lnSpc>
                        <a:spcBef>
                          <a:spcPts val="0"/>
                        </a:spcBef>
                        <a:spcAft>
                          <a:spcPts val="0"/>
                        </a:spcAft>
                      </a:pPr>
                      <a:r>
                        <a:rPr sz="1300" b="1">
                          <a:solidFill>
                            <a:srgbClr val="1F1F1F"/>
                          </a:solidFill>
                          <a:latin typeface="Calibri"/>
                        </a:rPr>
                        <a:t>Duração e público-alvo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10.4 Tendo em vista que a Classe é exclusivamente</a:t>
                      </a:r>
                    </a:p>
                    <a:p>
                      <a:pPr algn="l">
                        <a:lnSpc>
                          <a:spcPct val="100000"/>
                        </a:lnSpc>
                        <a:spcBef>
                          <a:spcPts val="0"/>
                        </a:spcBef>
                        <a:spcAft>
                          <a:spcPts val="0"/>
                        </a:spcAft>
                      </a:pPr>
                      <a:r>
                        <a:rPr sz="1300" b="0">
                          <a:solidFill>
                            <a:srgbClr val="1F1F1F"/>
                          </a:solidFill>
                          <a:latin typeface="Calibri"/>
                        </a:rPr>
                        <a:t>destinada a Investidores Profissionais, não serão</a:t>
                      </a:r>
                    </a:p>
                    <a:p>
                      <a:pPr algn="l">
                        <a:lnSpc>
                          <a:spcPct val="100000"/>
                        </a:lnSpc>
                        <a:spcBef>
                          <a:spcPts val="0"/>
                        </a:spcBef>
                        <a:spcAft>
                          <a:spcPts val="0"/>
                        </a:spcAft>
                      </a:pPr>
                      <a:r>
                        <a:rPr sz="1300" b="0">
                          <a:solidFill>
                            <a:srgbClr val="1F1F1F"/>
                          </a:solidFill>
                          <a:latin typeface="Calibri"/>
                        </a:rPr>
                        <a:t>aplicáveis as vedações ao direito a voto em</a:t>
                      </a:r>
                    </a:p>
                    <a:p>
                      <a:pPr algn="l">
                        <a:lnSpc>
                          <a:spcPct val="100000"/>
                        </a:lnSpc>
                        <a:spcBef>
                          <a:spcPts val="0"/>
                        </a:spcBef>
                        <a:spcAft>
                          <a:spcPts val="0"/>
                        </a:spcAft>
                      </a:pPr>
                      <a:r>
                        <a:rPr sz="1300" b="0">
                          <a:solidFill>
                            <a:srgbClr val="1F1F1F"/>
                          </a:solidFill>
                          <a:latin typeface="Calibri"/>
                        </a:rPr>
                        <a:t>assembleia de cotistas dispostas no artigo 78 da</a:t>
                      </a:r>
                    </a:p>
                    <a:p>
                      <a:pPr algn="l">
                        <a:lnSpc>
                          <a:spcPct val="100000"/>
                        </a:lnSpc>
                        <a:spcBef>
                          <a:spcPts val="0"/>
                        </a:spcBef>
                        <a:spcAft>
                          <a:spcPts val="0"/>
                        </a:spcAft>
                      </a:pPr>
                      <a:r>
                        <a:rPr sz="1300" b="0">
                          <a:solidFill>
                            <a:srgbClr val="1F1F1F"/>
                          </a:solidFill>
                          <a:latin typeface="Calibri"/>
                        </a:rPr>
                        <a:t>Resolução CVM 175, conf orme disposto no artigo</a:t>
                      </a:r>
                    </a:p>
                    <a:p>
                      <a:pPr algn="l">
                        <a:lnSpc>
                          <a:spcPct val="100000"/>
                        </a:lnSpc>
                        <a:spcBef>
                          <a:spcPts val="0"/>
                        </a:spcBef>
                        <a:spcAft>
                          <a:spcPts val="0"/>
                        </a:spcAft>
                      </a:pPr>
                      <a:r>
                        <a:rPr sz="1300" b="0">
                          <a:solidFill>
                            <a:srgbClr val="1F1F1F"/>
                          </a:solidFill>
                          <a:latin typeface="Calibri"/>
                        </a:rPr>
                        <a:t>114 da ref erida Resolução.</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Uma vez que o Prazo de Duração da Classe é</a:t>
                      </a:r>
                    </a:p>
                    <a:p>
                      <a:pPr algn="l">
                        <a:lnSpc>
                          <a:spcPct val="100000"/>
                        </a:lnSpc>
                        <a:spcBef>
                          <a:spcPts val="0"/>
                        </a:spcBef>
                        <a:spcAft>
                          <a:spcPts val="0"/>
                        </a:spcAft>
                      </a:pPr>
                      <a:r>
                        <a:rPr sz="1300" b="0">
                          <a:solidFill>
                            <a:srgbClr val="1F1F1F"/>
                          </a:solidFill>
                          <a:latin typeface="Calibri"/>
                        </a:rPr>
                        <a:t>indeterminado, o Cotista titular das Cotas não</a:t>
                      </a:r>
                    </a:p>
                    <a:p>
                      <a:pPr algn="l">
                        <a:lnSpc>
                          <a:spcPct val="100000"/>
                        </a:lnSpc>
                        <a:spcBef>
                          <a:spcPts val="0"/>
                        </a:spcBef>
                        <a:spcAft>
                          <a:spcPts val="0"/>
                        </a:spcAft>
                      </a:pPr>
                      <a:r>
                        <a:rPr sz="1300" b="0">
                          <a:solidFill>
                            <a:srgbClr val="1F1F1F"/>
                          </a:solidFill>
                          <a:latin typeface="Calibri"/>
                        </a:rPr>
                        <a:t>terá liquidez em seu investimento na Classe,</a:t>
                      </a:r>
                    </a:p>
                    <a:p>
                      <a:pPr algn="l">
                        <a:lnSpc>
                          <a:spcPct val="100000"/>
                        </a:lnSpc>
                        <a:spcBef>
                          <a:spcPts val="0"/>
                        </a:spcBef>
                        <a:spcAft>
                          <a:spcPts val="0"/>
                        </a:spcAft>
                      </a:pPr>
                      <a:r>
                        <a:rPr sz="1300" b="0">
                          <a:solidFill>
                            <a:srgbClr val="1F1F1F"/>
                          </a:solidFill>
                          <a:latin typeface="Calibri"/>
                        </a:rPr>
                        <a:t>exceto (a) por ocasião das Amortizações e dos</a:t>
                      </a:r>
                    </a:p>
                    <a:p>
                      <a:pPr algn="l">
                        <a:lnSpc>
                          <a:spcPct val="100000"/>
                        </a:lnSpc>
                        <a:spcBef>
                          <a:spcPts val="0"/>
                        </a:spcBef>
                        <a:spcAft>
                          <a:spcPts val="0"/>
                        </a:spcAft>
                      </a:pPr>
                      <a:r>
                        <a:rPr sz="1300" b="0">
                          <a:solidFill>
                            <a:srgbClr val="1F1F1F"/>
                          </a:solidFill>
                          <a:latin typeface="Calibri"/>
                        </a:rPr>
                        <a:t>resgates, nos termos deste Regulamento; (b) por</a:t>
                      </a:r>
                    </a:p>
                    <a:p>
                      <a:pPr algn="l">
                        <a:lnSpc>
                          <a:spcPct val="100000"/>
                        </a:lnSpc>
                        <a:spcBef>
                          <a:spcPts val="0"/>
                        </a:spcBef>
                        <a:spcAft>
                          <a:spcPts val="0"/>
                        </a:spcAft>
                      </a:pPr>
                      <a:r>
                        <a:rPr sz="1300" b="0">
                          <a:solidFill>
                            <a:srgbClr val="1F1F1F"/>
                          </a:solidFill>
                          <a:latin typeface="Calibri"/>
                        </a:rPr>
                        <a:t>meio da alienação de suas Cotas no mercado</a:t>
                      </a:r>
                    </a:p>
                    <a:p>
                      <a:pPr algn="l">
                        <a:lnSpc>
                          <a:spcPct val="100000"/>
                        </a:lnSpc>
                        <a:spcBef>
                          <a:spcPts val="0"/>
                        </a:spcBef>
                        <a:spcAft>
                          <a:spcPts val="0"/>
                        </a:spcAft>
                      </a:pPr>
                      <a:r>
                        <a:rPr sz="1300" b="0">
                          <a:solidFill>
                            <a:srgbClr val="1F1F1F"/>
                          </a:solidFill>
                          <a:latin typeface="Calibri"/>
                        </a:rPr>
                        <a:t>secundário; ou (c) na liquidação antecipada do</a:t>
                      </a:r>
                    </a:p>
                    <a:p>
                      <a:pPr algn="l">
                        <a:lnSpc>
                          <a:spcPct val="100000"/>
                        </a:lnSpc>
                        <a:spcBef>
                          <a:spcPts val="0"/>
                        </a:spcBef>
                        <a:spcAft>
                          <a:spcPts val="0"/>
                        </a:spcAft>
                      </a:pPr>
                      <a:r>
                        <a:rPr sz="1300" b="0">
                          <a:solidFill>
                            <a:srgbClr val="1F1F1F"/>
                          </a:solidFill>
                          <a:latin typeface="Calibri"/>
                        </a:rPr>
                        <a:t>FUNDO ou da Classe.</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1.3 Durante o seu prazo de duração, o Fundo, por</a:t>
                      </a:r>
                    </a:p>
                    <a:p>
                      <a:pPr algn="l">
                        <a:lnSpc>
                          <a:spcPct val="100000"/>
                        </a:lnSpc>
                        <a:spcBef>
                          <a:spcPts val="0"/>
                        </a:spcBef>
                        <a:spcAft>
                          <a:spcPts val="0"/>
                        </a:spcAft>
                      </a:pPr>
                      <a:r>
                        <a:rPr sz="1300" b="0">
                          <a:solidFill>
                            <a:srgbClr val="1F1F1F"/>
                          </a:solidFill>
                          <a:latin typeface="Calibri"/>
                        </a:rPr>
                        <a:t>ato conjunto dos Prestadores de Serviços</a:t>
                      </a:r>
                    </a:p>
                    <a:p>
                      <a:pPr algn="l">
                        <a:lnSpc>
                          <a:spcPct val="100000"/>
                        </a:lnSpc>
                        <a:spcBef>
                          <a:spcPts val="0"/>
                        </a:spcBef>
                        <a:spcAft>
                          <a:spcPts val="0"/>
                        </a:spcAft>
                      </a:pPr>
                      <a:r>
                        <a:rPr sz="1300" b="0">
                          <a:solidFill>
                            <a:srgbClr val="1F1F1F"/>
                          </a:solidFill>
                          <a:latin typeface="Calibri"/>
                        </a:rPr>
                        <a:t>Essenciais, poderá constituir diferentes Classes</a:t>
                      </a:r>
                    </a:p>
                    <a:p>
                      <a:pPr algn="l">
                        <a:lnSpc>
                          <a:spcPct val="100000"/>
                        </a:lnSpc>
                        <a:spcBef>
                          <a:spcPts val="0"/>
                        </a:spcBef>
                        <a:spcAft>
                          <a:spcPts val="0"/>
                        </a:spcAft>
                      </a:pPr>
                      <a:r>
                        <a:rPr sz="1300" b="0">
                          <a:solidFill>
                            <a:srgbClr val="1F1F1F"/>
                          </a:solidFill>
                          <a:latin typeface="Calibri"/>
                        </a:rPr>
                        <a:t>e Subclasses , sendo que cada Classe terá</a:t>
                      </a:r>
                    </a:p>
                    <a:p>
                      <a:pPr algn="l">
                        <a:lnSpc>
                          <a:spcPct val="100000"/>
                        </a:lnSpc>
                        <a:spcBef>
                          <a:spcPts val="0"/>
                        </a:spcBef>
                        <a:spcAft>
                          <a:spcPts val="0"/>
                        </a:spcAft>
                      </a:pPr>
                      <a:r>
                        <a:rPr sz="1300" b="0">
                          <a:solidFill>
                            <a:srgbClr val="1F1F1F"/>
                          </a:solidFill>
                          <a:latin typeface="Calibri"/>
                        </a:rPr>
                        <a:t>patrimônio segregado e</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Investidores profissionais, conforme definidos no</a:t>
                      </a:r>
                    </a:p>
                    <a:p>
                      <a:pPr algn="l">
                        <a:lnSpc>
                          <a:spcPct val="100000"/>
                        </a:lnSpc>
                        <a:spcBef>
                          <a:spcPts val="0"/>
                        </a:spcBef>
                        <a:spcAft>
                          <a:spcPts val="0"/>
                        </a:spcAft>
                      </a:pPr>
                      <a:r>
                        <a:rPr sz="1300" b="0">
                          <a:solidFill>
                            <a:srgbClr val="1F1F1F"/>
                          </a:solidFill>
                          <a:latin typeface="Calibri"/>
                        </a:rPr>
                        <a:t>art. 11 da Resolução CVM nº Público-Alvo 30, de</a:t>
                      </a:r>
                    </a:p>
                    <a:p>
                      <a:pPr algn="l">
                        <a:lnSpc>
                          <a:spcPct val="100000"/>
                        </a:lnSpc>
                        <a:spcBef>
                          <a:spcPts val="0"/>
                        </a:spcBef>
                        <a:spcAft>
                          <a:spcPts val="0"/>
                        </a:spcAft>
                      </a:pPr>
                      <a:r>
                        <a:rPr sz="1300" b="0">
                          <a:solidFill>
                            <a:srgbClr val="1F1F1F"/>
                          </a:solidFill>
                          <a:latin typeface="Calibri"/>
                        </a:rPr>
                        <a:t>11 de maio de 2021, conforme alterada</a:t>
                      </a:r>
                    </a:p>
                    <a:p>
                      <a:pPr algn="l">
                        <a:lnSpc>
                          <a:spcPct val="100000"/>
                        </a:lnSpc>
                        <a:spcBef>
                          <a:spcPts val="0"/>
                        </a:spcBef>
                        <a:spcAft>
                          <a:spcPts val="0"/>
                        </a:spcAft>
                      </a:pPr>
                      <a:r>
                        <a:rPr sz="1300" b="0">
                          <a:solidFill>
                            <a:srgbClr val="1F1F1F"/>
                          </a:solidFill>
                          <a:latin typeface="Calibri"/>
                        </a:rPr>
                        <a:t>(“Investidores Profissionais” e “Resolução CVM</a:t>
                      </a:r>
                    </a:p>
                    <a:p>
                      <a:pPr algn="l">
                        <a:lnSpc>
                          <a:spcPct val="100000"/>
                        </a:lnSpc>
                        <a:spcBef>
                          <a:spcPts val="0"/>
                        </a:spcBef>
                        <a:spcAft>
                          <a:spcPts val="0"/>
                        </a:spcAft>
                      </a:pPr>
                      <a:r>
                        <a:rPr sz="1300" b="0">
                          <a:solidFill>
                            <a:srgbClr val="1F1F1F"/>
                          </a:solidFill>
                          <a:latin typeface="Calibri"/>
                        </a:rPr>
                        <a:t>30”, respectivamente) Banco BTG Pactual S.A.,</a:t>
                      </a:r>
                    </a:p>
                    <a:p>
                      <a:pPr algn="l">
                        <a:lnSpc>
                          <a:spcPct val="100000"/>
                        </a:lnSpc>
                        <a:spcBef>
                          <a:spcPts val="0"/>
                        </a:spcBef>
                        <a:spcAft>
                          <a:spcPts val="0"/>
                        </a:spcAft>
                      </a:pPr>
                      <a:r>
                        <a:rPr sz="1300" b="0">
                          <a:solidFill>
                            <a:srgbClr val="1F1F1F"/>
                          </a:solidFill>
                          <a:latin typeface="Calibri"/>
                        </a:rPr>
                        <a:t>instituição financeira, com sede no município e</a:t>
                      </a:r>
                    </a:p>
                    <a:p>
                      <a:pPr algn="l">
                        <a:lnSpc>
                          <a:spcPct val="100000"/>
                        </a:lnSpc>
                        <a:spcBef>
                          <a:spcPts val="0"/>
                        </a:spcBef>
                        <a:spcAft>
                          <a:spcPts val="0"/>
                        </a:spcAft>
                      </a:pPr>
                      <a:r>
                        <a:rPr sz="1300" b="0">
                          <a:solidFill>
                            <a:srgbClr val="1F1F1F"/>
                          </a:solidFill>
                          <a:latin typeface="Calibri"/>
                        </a:rPr>
                        <a:t>Estado do Rio de Janeiro, na Praia de Botafogo,</a:t>
                      </a:r>
                    </a:p>
                    <a:p>
                      <a:pPr algn="l">
                        <a:lnSpc>
                          <a:spcPct val="100000"/>
                        </a:lnSpc>
                        <a:spcBef>
                          <a:spcPts val="0"/>
                        </a:spcBef>
                        <a:spcAft>
                          <a:spcPts val="0"/>
                        </a:spcAft>
                      </a:pPr>
                      <a:r>
                        <a:rPr sz="1300" b="0">
                          <a:solidFill>
                            <a:srgbClr val="1F1F1F"/>
                          </a:solidFill>
                          <a:latin typeface="Calibri"/>
                        </a:rPr>
                        <a:t>nº 501, 5º andar (parte), Torre Corcovado,</a:t>
                      </a:r>
                    </a:p>
                    <a:p>
                      <a:pPr algn="l">
                        <a:lnSpc>
                          <a:spcPct val="100000"/>
                        </a:lnSpc>
                        <a:spcBef>
                          <a:spcPts val="0"/>
                        </a:spcBef>
                        <a:spcAft>
                          <a:spcPts val="0"/>
                        </a:spcAft>
                      </a:pPr>
                      <a:r>
                        <a:rPr sz="1300" b="0">
                          <a:solidFill>
                            <a:srgbClr val="1F1F1F"/>
                          </a:solidFill>
                          <a:latin typeface="Calibri"/>
                        </a:rPr>
                        <a:t>Custódia da Classe e Tesouraria Botafogo, CEP</a:t>
                      </a:r>
                    </a:p>
                    <a:p>
                      <a:pPr algn="l">
                        <a:lnSpc>
                          <a:spcPct val="100000"/>
                        </a:lnSpc>
                        <a:spcBef>
                          <a:spcPts val="0"/>
                        </a:spcBef>
                        <a:spcAft>
                          <a:spcPts val="0"/>
                        </a:spcAft>
                      </a:pPr>
                      <a:r>
                        <a:rPr sz="1300" b="0">
                          <a:solidFill>
                            <a:srgbClr val="1F1F1F"/>
                          </a:solidFill>
                          <a:latin typeface="Calibri"/>
                        </a:rPr>
                        <a:t>22250-040, inscrita no CNPJ sob o nº</a:t>
                      </a:r>
                    </a:p>
                    <a:p>
                      <a:pPr algn="l">
                        <a:lnSpc>
                          <a:spcPct val="100000"/>
                        </a:lnSpc>
                        <a:spcBef>
                          <a:spcPts val="0"/>
                        </a:spcBef>
                        <a:spcAft>
                          <a:spcPts val="0"/>
                        </a:spcAft>
                      </a:pPr>
                      <a:r>
                        <a:rPr sz="1300" b="0">
                          <a:solidFill>
                            <a:srgbClr val="1F1F1F"/>
                          </a:solidFill>
                          <a:latin typeface="Calibri"/>
                        </a:rPr>
                        <a:t>30.306.294/0001-45 e credenciado como</a:t>
                      </a:r>
                    </a:p>
                    <a:p>
                      <a:pPr algn="l">
                        <a:lnSpc>
                          <a:spcPct val="100000"/>
                        </a:lnSpc>
                        <a:spcBef>
                          <a:spcPts val="0"/>
                        </a:spcBef>
                        <a:spcAft>
                          <a:spcPts val="0"/>
                        </a:spcAft>
                      </a:pPr>
                      <a:r>
                        <a:rPr sz="1300" b="0">
                          <a:solidFill>
                            <a:srgbClr val="1F1F1F"/>
                          </a:solidFill>
                          <a:latin typeface="Calibri"/>
                        </a:rPr>
                        <a:t>custodiante, de acordo com o Ato Declaratório nº</a:t>
                      </a:r>
                    </a:p>
                    <a:p>
                      <a:pPr algn="l">
                        <a:lnSpc>
                          <a:spcPct val="100000"/>
                        </a:lnSpc>
                        <a:spcBef>
                          <a:spcPts val="0"/>
                        </a:spcBef>
                        <a:spcAft>
                          <a:spcPts val="0"/>
                        </a:spcAft>
                      </a:pPr>
                      <a:r>
                        <a:rPr sz="1300" b="0">
                          <a:solidFill>
                            <a:srgbClr val="1F1F1F"/>
                          </a:solidFill>
                          <a:latin typeface="Calibri"/>
                        </a:rPr>
                        <a:t>7.204, de 25 de abril de 2003 (“Custodiante”).</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6.7.1 As Chamadas de Capital para a realização de</a:t>
                      </a:r>
                    </a:p>
                    <a:p>
                      <a:pPr algn="l">
                        <a:lnSpc>
                          <a:spcPct val="100000"/>
                        </a:lnSpc>
                        <a:spcBef>
                          <a:spcPts val="0"/>
                        </a:spcBef>
                        <a:spcAft>
                          <a:spcPts val="0"/>
                        </a:spcAft>
                      </a:pPr>
                      <a:r>
                        <a:rPr sz="1300" b="0">
                          <a:solidFill>
                            <a:srgbClr val="1F1F1F"/>
                          </a:solidFill>
                          <a:latin typeface="Calibri"/>
                        </a:rPr>
                        <a:t>investimentos serão realizadas a qualquer momento</a:t>
                      </a:r>
                    </a:p>
                    <a:p>
                      <a:pPr algn="l">
                        <a:lnSpc>
                          <a:spcPct val="100000"/>
                        </a:lnSpc>
                        <a:spcBef>
                          <a:spcPts val="0"/>
                        </a:spcBef>
                        <a:spcAft>
                          <a:spcPts val="0"/>
                        </a:spcAft>
                      </a:pPr>
                      <a:r>
                        <a:rPr sz="1300" b="0">
                          <a:solidFill>
                            <a:srgbClr val="1F1F1F"/>
                          </a:solidFill>
                          <a:latin typeface="Calibri"/>
                        </a:rPr>
                        <a:t>durante o Período de Investimento e estarão</a:t>
                      </a:r>
                    </a:p>
                    <a:p>
                      <a:pPr algn="l">
                        <a:lnSpc>
                          <a:spcPct val="100000"/>
                        </a:lnSpc>
                        <a:spcBef>
                          <a:spcPts val="0"/>
                        </a:spcBef>
                        <a:spcAft>
                          <a:spcPts val="0"/>
                        </a:spcAft>
                      </a:pPr>
                      <a:r>
                        <a:rPr sz="1300" b="0">
                          <a:solidFill>
                            <a:srgbClr val="1F1F1F"/>
                          </a:solidFill>
                          <a:latin typeface="Calibri"/>
                        </a:rPr>
                        <a:t>limitadas ao valor do capital subscrito de cada</a:t>
                      </a:r>
                    </a:p>
                    <a:p>
                      <a:pPr algn="l">
                        <a:lnSpc>
                          <a:spcPct val="100000"/>
                        </a:lnSpc>
                        <a:spcBef>
                          <a:spcPts val="0"/>
                        </a:spcBef>
                        <a:spcAft>
                          <a:spcPts val="0"/>
                        </a:spcAft>
                      </a:pPr>
                      <a:r>
                        <a:rPr sz="1300" b="0">
                          <a:solidFill>
                            <a:srgbClr val="1F1F1F"/>
                          </a:solidFill>
                          <a:latin typeface="Calibri"/>
                        </a:rPr>
                        <a:t>Cotista. As Chamadas de Capital para o pagamento</a:t>
                      </a:r>
                    </a:p>
                    <a:p>
                      <a:pPr algn="l">
                        <a:lnSpc>
                          <a:spcPct val="100000"/>
                        </a:lnSpc>
                        <a:spcBef>
                          <a:spcPts val="0"/>
                        </a:spcBef>
                        <a:spcAft>
                          <a:spcPts val="0"/>
                        </a:spcAft>
                      </a:pPr>
                      <a:r>
                        <a:rPr sz="1300" b="0">
                          <a:solidFill>
                            <a:srgbClr val="1F1F1F"/>
                          </a:solidFill>
                          <a:latin typeface="Calibri"/>
                        </a:rPr>
                        <a:t>de despesas e encargos do Fundo, com exceção de</a:t>
                      </a:r>
                    </a:p>
                    <a:p>
                      <a:pPr algn="l">
                        <a:lnSpc>
                          <a:spcPct val="100000"/>
                        </a:lnSpc>
                        <a:spcBef>
                          <a:spcPts val="0"/>
                        </a:spcBef>
                        <a:spcAft>
                          <a:spcPts val="0"/>
                        </a:spcAft>
                      </a:pPr>
                      <a:r>
                        <a:rPr sz="1300" b="0">
                          <a:solidFill>
                            <a:srgbClr val="1F1F1F"/>
                          </a:solidFill>
                          <a:latin typeface="Calibri"/>
                        </a:rPr>
                        <a:t>despesas relacionadas à instrumentos de</a:t>
                      </a:r>
                    </a:p>
                    <a:p>
                      <a:pPr algn="l">
                        <a:lnSpc>
                          <a:spcPct val="100000"/>
                        </a:lnSpc>
                        <a:spcBef>
                          <a:spcPts val="0"/>
                        </a:spcBef>
                        <a:spcAft>
                          <a:spcPts val="0"/>
                        </a:spcAft>
                      </a:pPr>
                      <a:r>
                        <a:rPr sz="1300" b="0">
                          <a:solidFill>
                            <a:srgbClr val="1F1F1F"/>
                          </a:solidFill>
                          <a:latin typeface="Calibri"/>
                        </a:rPr>
                        <a:t>derivativos e/ou Encargos não previstos no âmbito</a:t>
                      </a:r>
                    </a:p>
                    <a:p>
                      <a:pPr algn="l">
                        <a:lnSpc>
                          <a:spcPct val="100000"/>
                        </a:lnSpc>
                        <a:spcBef>
                          <a:spcPts val="0"/>
                        </a:spcBef>
                        <a:spcAft>
                          <a:spcPts val="0"/>
                        </a:spcAft>
                      </a:pPr>
                      <a:r>
                        <a:rPr sz="1300" b="0">
                          <a:solidFill>
                            <a:srgbClr val="1F1F1F"/>
                          </a:solidFill>
                          <a:latin typeface="Calibri"/>
                        </a:rPr>
                        <a:t>deste regulamento, poderão ser realizadas a</a:t>
                      </a:r>
                    </a:p>
                    <a:p>
                      <a:pPr algn="l">
                        <a:lnSpc>
                          <a:spcPct val="100000"/>
                        </a:lnSpc>
                        <a:spcBef>
                          <a:spcPts val="0"/>
                        </a:spcBef>
                        <a:spcAft>
                          <a:spcPts val="0"/>
                        </a:spcAft>
                      </a:pPr>
                      <a:r>
                        <a:rPr sz="1300" b="0">
                          <a:solidFill>
                            <a:srgbClr val="1F1F1F"/>
                          </a:solidFill>
                          <a:latin typeface="Calibri"/>
                        </a:rPr>
                        <a:t>qualquer momento durante o Prazo de Duração, mas</a:t>
                      </a:r>
                    </a:p>
                    <a:p>
                      <a:pPr algn="l">
                        <a:lnSpc>
                          <a:spcPct val="100000"/>
                        </a:lnSpc>
                        <a:spcBef>
                          <a:spcPts val="0"/>
                        </a:spcBef>
                        <a:spcAft>
                          <a:spcPts val="0"/>
                        </a:spcAft>
                      </a:pPr>
                      <a:r>
                        <a:rPr sz="1300" b="0">
                          <a:solidFill>
                            <a:srgbClr val="1F1F1F"/>
                          </a:solidFill>
                          <a:latin typeface="Calibri"/>
                        </a:rPr>
                        <a:t>não estarão limitadas ao valor do capital</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31/160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Alocação e perímetro</a:t>
            </a:r>
          </a:p>
        </p:txBody>
      </p:sp>
      <p:graphicFrame>
        <p:nvGraphicFramePr>
          <p:cNvPr id="3" name="Table 2"/>
          <p:cNvGraphicFramePr>
            <a:graphicFrameLocks noGrp="1"/>
          </p:cNvGraphicFramePr>
          <p:nvPr/>
        </p:nvGraphicFramePr>
        <p:xfrm>
          <a:off x="438912" y="932688"/>
          <a:ext cx="11313870" cy="864108"/>
        </p:xfrm>
        <a:graphic>
          <a:graphicData uri="http://schemas.openxmlformats.org/drawingml/2006/table">
            <a:tbl>
              <a:tblPr>
                <a:tableStyleId>{5C22544A-7EE6-4342-B048-85BDC9FD1C3A}</a:tableStyleId>
              </a:tblPr>
              <a:tblGrid>
                <a:gridCol w="2331720"/>
                <a:gridCol w="4491075"/>
                <a:gridCol w="4491075"/>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V CDT 1 · 62552447000120</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Global CP · 63953620000165</a:t>
                      </a:r>
                    </a:p>
                  </a:txBody>
                  <a:tcPr marL="91440" marR="91440" marT="41148" marB="41148" anchor="ctr">
                    <a:solidFill>
                      <a:srgbClr val="F7F7F7"/>
                    </a:solidFill>
                    <a:lnL>
                      <a:noFill/>
                    </a:lnL>
                    <a:lnR>
                      <a:noFill/>
                    </a:lnR>
                    <a:lnT>
                      <a:noFill/>
                    </a:lnT>
                    <a:lnB w="6350">
                      <a:solidFill>
                        <a:srgbClr val="D9DEE5"/>
                      </a:solidFill>
                    </a:lnB>
                  </a:tcPr>
                </a:tc>
              </a:tr>
              <a:tr h="470916">
                <a:tc>
                  <a:txBody>
                    <a:bodyPr wrap="square">
                      <a:noAutofit/>
                    </a:bodyPr>
                    <a:lstStyle/>
                    <a:p>
                      <a:pPr algn="l">
                        <a:lnSpc>
                          <a:spcPct val="100000"/>
                        </a:lnSpc>
                        <a:spcBef>
                          <a:spcPts val="0"/>
                        </a:spcBef>
                        <a:spcAft>
                          <a:spcPts val="0"/>
                        </a:spcAft>
                      </a:pPr>
                      <a:r>
                        <a:rPr sz="1300" b="1">
                          <a:solidFill>
                            <a:srgbClr val="1F1F1F"/>
                          </a:solidFill>
                          <a:latin typeface="Calibri"/>
                        </a:rPr>
                        <a:t>Duração e público-alvo</a:t>
                      </a:r>
                    </a:p>
                    <a:p>
                      <a:pPr algn="l">
                        <a:lnSpc>
                          <a:spcPct val="100000"/>
                        </a:lnSpc>
                        <a:spcBef>
                          <a:spcPts val="0"/>
                        </a:spcBef>
                        <a:spcAft>
                          <a:spcPts val="0"/>
                        </a:spcAft>
                      </a:pPr>
                      <a:r>
                        <a:rPr sz="1300" b="1">
                          <a:solidFill>
                            <a:srgbClr val="1F1F1F"/>
                          </a:solidFill>
                          <a:latin typeface="Calibri"/>
                        </a:rPr>
                        <a:t>(continuação)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subscrito de cada Cotista.</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32/160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Proteção por camada</a:t>
            </a:r>
          </a:p>
        </p:txBody>
      </p:sp>
      <p:graphicFrame>
        <p:nvGraphicFramePr>
          <p:cNvPr id="3" name="Table 2"/>
          <p:cNvGraphicFramePr>
            <a:graphicFrameLocks noGrp="1"/>
          </p:cNvGraphicFramePr>
          <p:nvPr/>
        </p:nvGraphicFramePr>
        <p:xfrm>
          <a:off x="438912" y="932688"/>
          <a:ext cx="11313868" cy="3474720"/>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2532888">
                <a:tc>
                  <a:txBody>
                    <a:bodyPr wrap="square">
                      <a:noAutofit/>
                    </a:bodyPr>
                    <a:lstStyle/>
                    <a:p>
                      <a:pPr algn="l">
                        <a:lnSpc>
                          <a:spcPct val="100000"/>
                        </a:lnSpc>
                        <a:spcBef>
                          <a:spcPts val="0"/>
                        </a:spcBef>
                        <a:spcAft>
                          <a:spcPts val="0"/>
                        </a:spcAft>
                      </a:pPr>
                      <a:r>
                        <a:rPr sz="1300" b="1">
                          <a:solidFill>
                            <a:srgbClr val="1F1F1F"/>
                          </a:solidFill>
                          <a:latin typeface="Calibri"/>
                        </a:rPr>
                        <a:t>Subordinação mínima</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Classe com subclasse e</a:t>
                      </a:r>
                    </a:p>
                    <a:p>
                      <a:pPr algn="l">
                        <a:lnSpc>
                          <a:spcPct val="100000"/>
                        </a:lnSpc>
                        <a:spcBef>
                          <a:spcPts val="0"/>
                        </a:spcBef>
                        <a:spcAft>
                          <a:spcPts val="0"/>
                        </a:spcAft>
                      </a:pPr>
                      <a:r>
                        <a:rPr sz="1300" b="0">
                          <a:solidFill>
                            <a:srgbClr val="1F1F1F"/>
                          </a:solidFill>
                          <a:latin typeface="Calibri"/>
                        </a:rPr>
                        <a:t>série únicas; todas as</a:t>
                      </a:r>
                    </a:p>
                    <a:p>
                      <a:pPr algn="l">
                        <a:lnSpc>
                          <a:spcPct val="100000"/>
                        </a:lnSpc>
                        <a:spcBef>
                          <a:spcPts val="0"/>
                        </a:spcBef>
                        <a:spcAft>
                          <a:spcPts val="0"/>
                        </a:spcAft>
                      </a:pPr>
                      <a:r>
                        <a:rPr sz="1300" b="0">
                          <a:solidFill>
                            <a:srgbClr val="1F1F1F"/>
                          </a:solidFill>
                          <a:latin typeface="Calibri"/>
                        </a:rPr>
                        <a:t>cotas são pari passu,</a:t>
                      </a:r>
                    </a:p>
                    <a:p>
                      <a:pPr algn="l">
                        <a:lnSpc>
                          <a:spcPct val="100000"/>
                        </a:lnSpc>
                        <a:spcBef>
                          <a:spcPts val="0"/>
                        </a:spcBef>
                        <a:spcAft>
                          <a:spcPts val="0"/>
                        </a:spcAft>
                      </a:pPr>
                      <a:r>
                        <a:rPr sz="1300" b="0">
                          <a:solidFill>
                            <a:srgbClr val="1F1F1F"/>
                          </a:solidFill>
                          <a:latin typeface="Calibri"/>
                        </a:rPr>
                        <a:t>sem preferência,</a:t>
                      </a:r>
                    </a:p>
                    <a:p>
                      <a:pPr algn="l">
                        <a:lnSpc>
                          <a:spcPct val="100000"/>
                        </a:lnSpc>
                        <a:spcBef>
                          <a:spcPts val="0"/>
                        </a:spcBef>
                        <a:spcAft>
                          <a:spcPts val="0"/>
                        </a:spcAft>
                      </a:pPr>
                      <a:r>
                        <a:rPr sz="1300" b="0">
                          <a:solidFill>
                            <a:srgbClr val="1F1F1F"/>
                          </a:solidFill>
                          <a:latin typeface="Calibri"/>
                        </a:rPr>
                        <a:t>prioridade ou</a:t>
                      </a:r>
                    </a:p>
                    <a:p>
                      <a:pPr algn="l">
                        <a:lnSpc>
                          <a:spcPct val="100000"/>
                        </a:lnSpc>
                        <a:spcBef>
                          <a:spcPts val="0"/>
                        </a:spcBef>
                        <a:spcAft>
                          <a:spcPts val="0"/>
                        </a:spcAft>
                      </a:pPr>
                      <a:r>
                        <a:rPr sz="1300" b="0">
                          <a:solidFill>
                            <a:srgbClr val="1F1F1F"/>
                          </a:solidFill>
                          <a:latin typeface="Calibri"/>
                        </a:rPr>
                        <a:t>subordinação entre</a:t>
                      </a:r>
                    </a:p>
                    <a:p>
                      <a:pPr algn="l">
                        <a:lnSpc>
                          <a:spcPct val="100000"/>
                        </a:lnSpc>
                        <a:spcBef>
                          <a:spcPts val="0"/>
                        </a:spcBef>
                        <a:spcAft>
                          <a:spcPts val="0"/>
                        </a:spcAft>
                      </a:pPr>
                      <a:r>
                        <a:rPr sz="1300" b="0">
                          <a:solidFill>
                            <a:srgbClr val="1F1F1F"/>
                          </a:solidFill>
                          <a:latin typeface="Calibri"/>
                        </a:rPr>
                        <a:t>titulares.</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PL das cotas</a:t>
                      </a:r>
                    </a:p>
                    <a:p>
                      <a:pPr algn="l">
                        <a:lnSpc>
                          <a:spcPct val="100000"/>
                        </a:lnSpc>
                        <a:spcBef>
                          <a:spcPts val="0"/>
                        </a:spcBef>
                        <a:spcAft>
                          <a:spcPts val="0"/>
                        </a:spcAft>
                      </a:pPr>
                      <a:r>
                        <a:rPr sz="1300" b="0">
                          <a:solidFill>
                            <a:srgbClr val="1F1F1F"/>
                          </a:solidFill>
                          <a:latin typeface="Calibri"/>
                        </a:rPr>
                        <a:t>subordinadas/PL da</a:t>
                      </a:r>
                    </a:p>
                    <a:p>
                      <a:pPr algn="l">
                        <a:lnSpc>
                          <a:spcPct val="100000"/>
                        </a:lnSpc>
                        <a:spcBef>
                          <a:spcPts val="0"/>
                        </a:spcBef>
                        <a:spcAft>
                          <a:spcPts val="0"/>
                        </a:spcAft>
                      </a:pPr>
                      <a:r>
                        <a:rPr sz="1300" b="0">
                          <a:solidFill>
                            <a:srgbClr val="1F1F1F"/>
                          </a:solidFill>
                          <a:latin typeface="Calibri"/>
                        </a:rPr>
                        <a:t>classe ≥5%, apurado a</a:t>
                      </a:r>
                    </a:p>
                    <a:p>
                      <a:pPr algn="l">
                        <a:lnSpc>
                          <a:spcPct val="100000"/>
                        </a:lnSpc>
                        <a:spcBef>
                          <a:spcPts val="0"/>
                        </a:spcBef>
                        <a:spcAft>
                          <a:spcPts val="0"/>
                        </a:spcAft>
                      </a:pPr>
                      <a:r>
                        <a:rPr sz="1300" b="0">
                          <a:solidFill>
                            <a:srgbClr val="1F1F1F"/>
                          </a:solidFill>
                          <a:latin typeface="Calibri"/>
                        </a:rPr>
                        <a:t>cada dia útil enquanto</a:t>
                      </a:r>
                    </a:p>
                    <a:p>
                      <a:pPr algn="l">
                        <a:lnSpc>
                          <a:spcPct val="100000"/>
                        </a:lnSpc>
                        <a:spcBef>
                          <a:spcPts val="0"/>
                        </a:spcBef>
                        <a:spcAft>
                          <a:spcPts val="0"/>
                        </a:spcAft>
                      </a:pPr>
                      <a:r>
                        <a:rPr sz="1300" b="0">
                          <a:solidFill>
                            <a:srgbClr val="1F1F1F"/>
                          </a:solidFill>
                          <a:latin typeface="Calibri"/>
                        </a:rPr>
                        <a:t>houver sênior.</a:t>
                      </a:r>
                    </a:p>
                    <a:p>
                      <a:pPr algn="l">
                        <a:lnSpc>
                          <a:spcPct val="100000"/>
                        </a:lnSpc>
                        <a:spcBef>
                          <a:spcPts val="0"/>
                        </a:spcBef>
                        <a:spcAft>
                          <a:spcPts val="0"/>
                        </a:spcAft>
                      </a:pPr>
                      <a:r>
                        <a:rPr sz="1300" b="0">
                          <a:solidFill>
                            <a:srgbClr val="1F1F1F"/>
                          </a:solidFill>
                          <a:latin typeface="Calibri"/>
                        </a:rPr>
                        <a:t>Desenquadramento</a:t>
                      </a:r>
                    </a:p>
                    <a:p>
                      <a:pPr algn="l">
                        <a:lnSpc>
                          <a:spcPct val="100000"/>
                        </a:lnSpc>
                        <a:spcBef>
                          <a:spcPts val="0"/>
                        </a:spcBef>
                        <a:spcAft>
                          <a:spcPts val="0"/>
                        </a:spcAft>
                      </a:pPr>
                      <a:r>
                        <a:rPr sz="1300" b="0">
                          <a:solidFill>
                            <a:srgbClr val="1F1F1F"/>
                          </a:solidFill>
                          <a:latin typeface="Calibri"/>
                        </a:rPr>
                        <a:t>suspende compras até o</a:t>
                      </a:r>
                    </a:p>
                    <a:p>
                      <a:pPr algn="l">
                        <a:lnSpc>
                          <a:spcPct val="100000"/>
                        </a:lnSpc>
                        <a:spcBef>
                          <a:spcPts val="0"/>
                        </a:spcBef>
                        <a:spcAft>
                          <a:spcPts val="0"/>
                        </a:spcAft>
                      </a:pPr>
                      <a:r>
                        <a:rPr sz="1300" b="0">
                          <a:solidFill>
                            <a:srgbClr val="1F1F1F"/>
                          </a:solidFill>
                          <a:latin typeface="Calibri"/>
                        </a:rPr>
                        <a:t>dia útil seguinte e</a:t>
                      </a:r>
                    </a:p>
                    <a:p>
                      <a:pPr algn="l">
                        <a:lnSpc>
                          <a:spcPct val="100000"/>
                        </a:lnSpc>
                        <a:spcBef>
                          <a:spcPts val="0"/>
                        </a:spcBef>
                        <a:spcAft>
                          <a:spcPts val="0"/>
                        </a:spcAft>
                      </a:pPr>
                      <a:r>
                        <a:rPr sz="1300" b="0">
                          <a:solidFill>
                            <a:srgbClr val="1F1F1F"/>
                          </a:solidFill>
                          <a:latin typeface="Calibri"/>
                        </a:rPr>
                        <a:t>exige comunicação à</a:t>
                      </a:r>
                    </a:p>
                    <a:p>
                      <a:pPr algn="l">
                        <a:lnSpc>
                          <a:spcPct val="100000"/>
                        </a:lnSpc>
                        <a:spcBef>
                          <a:spcPts val="0"/>
                        </a:spcBef>
                        <a:spcAft>
                          <a:spcPts val="0"/>
                        </a:spcAft>
                      </a:pPr>
                      <a:r>
                        <a:rPr sz="1300" b="0">
                          <a:solidFill>
                            <a:srgbClr val="1F1F1F"/>
                          </a:solidFill>
                          <a:latin typeface="Calibri"/>
                        </a:rPr>
                        <a:t>sênior/subordinadas.</a:t>
                      </a:r>
                    </a:p>
                    <a:p>
                      <a:pPr algn="l">
                        <a:lnSpc>
                          <a:spcPct val="100000"/>
                        </a:lnSpc>
                        <a:spcBef>
                          <a:spcPts val="0"/>
                        </a:spcBef>
                        <a:spcAft>
                          <a:spcPts val="0"/>
                        </a:spcAft>
                      </a:pPr>
                      <a:r>
                        <a:rPr sz="1300" b="0">
                          <a:solidFill>
                            <a:srgbClr val="1F1F1F"/>
                          </a:solidFill>
                          <a:latin typeface="Calibri"/>
                        </a:rPr>
                        <a:t>IME 08/2026 · 8,65% ·</a:t>
                      </a:r>
                    </a:p>
                    <a:p>
                      <a:pPr algn="l">
                        <a:lnSpc>
                          <a:spcPct val="100000"/>
                        </a:lnSpc>
                        <a:spcBef>
                          <a:spcPts val="0"/>
                        </a:spcBef>
                        <a:spcAft>
                          <a:spcPts val="0"/>
                        </a:spcAft>
                      </a:pPr>
                      <a:r>
                        <a:rPr sz="1300" b="0">
                          <a:solidFill>
                            <a:srgbClr val="1F1F1F"/>
                          </a:solidFill>
                          <a:latin typeface="Calibri"/>
                        </a:rPr>
                        <a:t>Comparação não</a:t>
                      </a:r>
                    </a:p>
                    <a:p>
                      <a:pPr algn="l">
                        <a:lnSpc>
                          <a:spcPct val="100000"/>
                        </a:lnSpc>
                        <a:spcBef>
                          <a:spcPts val="0"/>
                        </a:spcBef>
                        <a:spcAft>
                          <a:spcPts val="0"/>
                        </a:spcAft>
                      </a:pPr>
                      <a:r>
                        <a:rPr sz="1300" b="0">
                          <a:solidFill>
                            <a:srgbClr val="1F1F1F"/>
                          </a:solidFill>
                          <a:latin typeface="Calibri"/>
                        </a:rPr>
                        <a:t>reproduzível</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Após a primeira</a:t>
                      </a:r>
                    </a:p>
                    <a:p>
                      <a:pPr algn="l">
                        <a:lnSpc>
                          <a:spcPct val="100000"/>
                        </a:lnSpc>
                        <a:spcBef>
                          <a:spcPts val="0"/>
                        </a:spcBef>
                        <a:spcAft>
                          <a:spcPts val="0"/>
                        </a:spcAft>
                      </a:pPr>
                      <a:r>
                        <a:rPr sz="1300" b="0">
                          <a:solidFill>
                            <a:srgbClr val="1F1F1F"/>
                          </a:solidFill>
                          <a:latin typeface="Calibri"/>
                        </a:rPr>
                        <a:t>integralização sênior:</a:t>
                      </a:r>
                    </a:p>
                    <a:p>
                      <a:pPr algn="l">
                        <a:lnSpc>
                          <a:spcPct val="100000"/>
                        </a:lnSpc>
                        <a:spcBef>
                          <a:spcPts val="0"/>
                        </a:spcBef>
                        <a:spcAft>
                          <a:spcPts val="0"/>
                        </a:spcAft>
                      </a:pPr>
                      <a:r>
                        <a:rPr sz="1300" b="0">
                          <a:solidFill>
                            <a:srgbClr val="1F1F1F"/>
                          </a:solidFill>
                          <a:latin typeface="Calibri"/>
                        </a:rPr>
                        <a:t>(valor das mezanino +</a:t>
                      </a:r>
                    </a:p>
                    <a:p>
                      <a:pPr algn="l">
                        <a:lnSpc>
                          <a:spcPct val="100000"/>
                        </a:lnSpc>
                        <a:spcBef>
                          <a:spcPts val="0"/>
                        </a:spcBef>
                        <a:spcAft>
                          <a:spcPts val="0"/>
                        </a:spcAft>
                      </a:pPr>
                      <a:r>
                        <a:rPr sz="1300" b="0">
                          <a:solidFill>
                            <a:srgbClr val="1F1F1F"/>
                          </a:solidFill>
                          <a:latin typeface="Calibri"/>
                        </a:rPr>
                        <a:t>subordinadas júnior)/PL</a:t>
                      </a:r>
                    </a:p>
                    <a:p>
                      <a:pPr algn="l">
                        <a:lnSpc>
                          <a:spcPct val="100000"/>
                        </a:lnSpc>
                        <a:spcBef>
                          <a:spcPts val="0"/>
                        </a:spcBef>
                        <a:spcAft>
                          <a:spcPts val="0"/>
                        </a:spcAft>
                      </a:pPr>
                      <a:r>
                        <a:rPr sz="1300" b="0">
                          <a:solidFill>
                            <a:srgbClr val="1F1F1F"/>
                          </a:solidFill>
                          <a:latin typeface="Calibri"/>
                        </a:rPr>
                        <a:t>≥5%, apurado a cada dia</a:t>
                      </a:r>
                    </a:p>
                    <a:p>
                      <a:pPr algn="l">
                        <a:lnSpc>
                          <a:spcPct val="100000"/>
                        </a:lnSpc>
                        <a:spcBef>
                          <a:spcPts val="0"/>
                        </a:spcBef>
                        <a:spcAft>
                          <a:spcPts val="0"/>
                        </a:spcAft>
                      </a:pPr>
                      <a:r>
                        <a:rPr sz="1300" b="0">
                          <a:solidFill>
                            <a:srgbClr val="1F1F1F"/>
                          </a:solidFill>
                          <a:latin typeface="Calibri"/>
                        </a:rPr>
                        <a:t>útil.</a:t>
                      </a:r>
                    </a:p>
                    <a:p>
                      <a:pPr algn="l">
                        <a:lnSpc>
                          <a:spcPct val="100000"/>
                        </a:lnSpc>
                        <a:spcBef>
                          <a:spcPts val="0"/>
                        </a:spcBef>
                        <a:spcAft>
                          <a:spcPts val="0"/>
                        </a:spcAft>
                      </a:pPr>
                      <a:r>
                        <a:rPr sz="1300" b="0">
                          <a:solidFill>
                            <a:srgbClr val="1F1F1F"/>
                          </a:solidFill>
                          <a:latin typeface="Calibri"/>
                        </a:rPr>
                        <a:t>IME 08/2026 · Dado IME</a:t>
                      </a:r>
                    </a:p>
                    <a:p>
                      <a:pPr algn="l">
                        <a:lnSpc>
                          <a:spcPct val="100000"/>
                        </a:lnSpc>
                        <a:spcBef>
                          <a:spcPts val="0"/>
                        </a:spcBef>
                        <a:spcAft>
                          <a:spcPts val="0"/>
                        </a:spcAft>
                      </a:pPr>
                      <a:r>
                        <a:rPr sz="1300" b="0">
                          <a:solidFill>
                            <a:srgbClr val="1F1F1F"/>
                          </a:solidFill>
                          <a:latin typeface="Calibri"/>
                        </a:rPr>
                        <a:t>indisponível</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A/B/C diferem</a:t>
                      </a:r>
                    </a:p>
                    <a:p>
                      <a:pPr algn="l">
                        <a:lnSpc>
                          <a:spcPct val="100000"/>
                        </a:lnSpc>
                        <a:spcBef>
                          <a:spcPts val="0"/>
                        </a:spcBef>
                        <a:spcAft>
                          <a:spcPts val="0"/>
                        </a:spcAft>
                      </a:pPr>
                      <a:r>
                        <a:rPr sz="1300" b="0">
                          <a:solidFill>
                            <a:srgbClr val="1F1F1F"/>
                          </a:solidFill>
                          <a:latin typeface="Calibri"/>
                        </a:rPr>
                        <a:t>exclusivamente por</a:t>
                      </a:r>
                    </a:p>
                    <a:p>
                      <a:pPr algn="l">
                        <a:lnSpc>
                          <a:spcPct val="100000"/>
                        </a:lnSpc>
                        <a:spcBef>
                          <a:spcPts val="0"/>
                        </a:spcBef>
                        <a:spcAft>
                          <a:spcPts val="0"/>
                        </a:spcAft>
                      </a:pPr>
                      <a:r>
                        <a:rPr sz="1300" b="0">
                          <a:solidFill>
                            <a:srgbClr val="1F1F1F"/>
                          </a:solidFill>
                          <a:latin typeface="Calibri"/>
                        </a:rPr>
                        <a:t>prazos de duração; não</a:t>
                      </a:r>
                    </a:p>
                    <a:p>
                      <a:pPr algn="l">
                        <a:lnSpc>
                          <a:spcPct val="100000"/>
                        </a:lnSpc>
                        <a:spcBef>
                          <a:spcPts val="0"/>
                        </a:spcBef>
                        <a:spcAft>
                          <a:spcPts val="0"/>
                        </a:spcAft>
                      </a:pPr>
                      <a:r>
                        <a:rPr sz="1300" b="0">
                          <a:solidFill>
                            <a:srgbClr val="1F1F1F"/>
                          </a:solidFill>
                          <a:latin typeface="Calibri"/>
                        </a:rPr>
                        <a:t>há subordinação entre</a:t>
                      </a:r>
                    </a:p>
                    <a:p>
                      <a:pPr algn="l">
                        <a:lnSpc>
                          <a:spcPct val="100000"/>
                        </a:lnSpc>
                        <a:spcBef>
                          <a:spcPts val="0"/>
                        </a:spcBef>
                        <a:spcAft>
                          <a:spcPts val="0"/>
                        </a:spcAft>
                      </a:pPr>
                      <a:r>
                        <a:rPr sz="1300" b="0">
                          <a:solidFill>
                            <a:srgbClr val="1F1F1F"/>
                          </a:solidFill>
                          <a:latin typeface="Calibri"/>
                        </a:rPr>
                        <a:t>as subclasses do PLGN.</a:t>
                      </a:r>
                    </a:p>
                    <a:p>
                      <a:pPr algn="l">
                        <a:lnSpc>
                          <a:spcPct val="100000"/>
                        </a:lnSpc>
                        <a:spcBef>
                          <a:spcPts val="0"/>
                        </a:spcBef>
                        <a:spcAft>
                          <a:spcPts val="0"/>
                        </a:spcAft>
                      </a:pPr>
                      <a:r>
                        <a:rPr sz="1300" b="0">
                          <a:solidFill>
                            <a:srgbClr val="1F1F1F"/>
                          </a:solidFill>
                          <a:latin typeface="Calibri"/>
                        </a:rPr>
                        <a:t>Exposição adquirida é</a:t>
                      </a:r>
                    </a:p>
                    <a:p>
                      <a:pPr algn="l">
                        <a:lnSpc>
                          <a:spcPct val="100000"/>
                        </a:lnSpc>
                        <a:spcBef>
                          <a:spcPts val="0"/>
                        </a:spcBef>
                        <a:spcAft>
                          <a:spcPts val="0"/>
                        </a:spcAft>
                      </a:pPr>
                      <a:r>
                        <a:rPr sz="1300" b="0">
                          <a:solidFill>
                            <a:srgbClr val="1F1F1F"/>
                          </a:solidFill>
                          <a:latin typeface="Calibri"/>
                        </a:rPr>
                        <a:t>mezanino do investido.</a:t>
                      </a:r>
                    </a:p>
                  </a:txBody>
                  <a:tcPr marL="91440" marR="91440" marT="41148" marB="41148" anchor="ctr">
                    <a:solidFill>
                      <a:srgbClr val="FFFFFF"/>
                    </a:solidFill>
                    <a:lnL>
                      <a:noFill/>
                    </a:lnL>
                    <a:lnR>
                      <a:noFill/>
                    </a:lnR>
                    <a:lnT>
                      <a:noFill/>
                    </a:lnT>
                    <a:lnB>
                      <a:noFill/>
                    </a:lnB>
                  </a:tcPr>
                </a:tc>
              </a:tr>
              <a:tr h="470916">
                <a:tc>
                  <a:txBody>
                    <a:bodyPr wrap="square">
                      <a:noAutofit/>
                    </a:bodyPr>
                    <a:lstStyle/>
                    <a:p>
                      <a:pPr algn="l">
                        <a:lnSpc>
                          <a:spcPct val="100000"/>
                        </a:lnSpc>
                        <a:spcBef>
                          <a:spcPts val="0"/>
                        </a:spcBef>
                        <a:spcAft>
                          <a:spcPts val="0"/>
                        </a:spcAft>
                      </a:pPr>
                      <a:r>
                        <a:rPr sz="1300" b="1">
                          <a:solidFill>
                            <a:srgbClr val="1F1F1F"/>
                          </a:solidFill>
                          <a:latin typeface="Calibri"/>
                        </a:rPr>
                        <a:t>Razões de cobertura por</a:t>
                      </a:r>
                    </a:p>
                    <a:p>
                      <a:pPr algn="l">
                        <a:lnSpc>
                          <a:spcPct val="100000"/>
                        </a:lnSpc>
                        <a:spcBef>
                          <a:spcPts val="0"/>
                        </a:spcBef>
                        <a:spcAft>
                          <a:spcPts val="0"/>
                        </a:spcAft>
                      </a:pPr>
                      <a:r>
                        <a:rPr sz="1300" b="1">
                          <a:solidFill>
                            <a:srgbClr val="1F1F1F"/>
                          </a:solidFill>
                          <a:latin typeface="Calibri"/>
                        </a:rPr>
                        <a:t>camada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33/160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Proteção por camada</a:t>
            </a:r>
          </a:p>
        </p:txBody>
      </p:sp>
      <p:graphicFrame>
        <p:nvGraphicFramePr>
          <p:cNvPr id="3" name="Table 2"/>
          <p:cNvGraphicFramePr>
            <a:graphicFrameLocks noGrp="1"/>
          </p:cNvGraphicFramePr>
          <p:nvPr/>
        </p:nvGraphicFramePr>
        <p:xfrm>
          <a:off x="438912" y="932688"/>
          <a:ext cx="11313868" cy="3191255"/>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2720339">
                <a:tc>
                  <a:txBody>
                    <a:bodyPr wrap="square">
                      <a:noAutofit/>
                    </a:bodyPr>
                    <a:lstStyle/>
                    <a:p>
                      <a:pPr algn="l">
                        <a:lnSpc>
                          <a:spcPct val="100000"/>
                        </a:lnSpc>
                        <a:spcBef>
                          <a:spcPts val="0"/>
                        </a:spcBef>
                        <a:spcAft>
                          <a:spcPts val="0"/>
                        </a:spcAft>
                      </a:pPr>
                      <a:r>
                        <a:rPr sz="1300" b="1">
                          <a:solidFill>
                            <a:srgbClr val="1F1F1F"/>
                          </a:solidFill>
                          <a:latin typeface="Calibri"/>
                        </a:rPr>
                        <a:t>Liberação e amortização</a:t>
                      </a:r>
                    </a:p>
                    <a:p>
                      <a:pPr algn="l">
                        <a:lnSpc>
                          <a:spcPct val="100000"/>
                        </a:lnSpc>
                        <a:spcBef>
                          <a:spcPts val="0"/>
                        </a:spcBef>
                        <a:spcAft>
                          <a:spcPts val="0"/>
                        </a:spcAft>
                      </a:pPr>
                      <a:r>
                        <a:rPr sz="1300" b="1">
                          <a:solidFill>
                            <a:srgbClr val="1F1F1F"/>
                          </a:solidFill>
                          <a:latin typeface="Calibri"/>
                        </a:rPr>
                        <a:t>da júnior</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Amortização subordinada</a:t>
                      </a:r>
                    </a:p>
                    <a:p>
                      <a:pPr algn="l">
                        <a:lnSpc>
                          <a:spcPct val="100000"/>
                        </a:lnSpc>
                        <a:spcBef>
                          <a:spcPts val="0"/>
                        </a:spcBef>
                        <a:spcAft>
                          <a:spcPts val="0"/>
                        </a:spcAft>
                      </a:pPr>
                      <a:r>
                        <a:rPr sz="1300" b="0">
                          <a:solidFill>
                            <a:srgbClr val="1F1F1F"/>
                          </a:solidFill>
                          <a:latin typeface="Calibri"/>
                        </a:rPr>
                        <a:t>exige índice cumprido,</a:t>
                      </a:r>
                    </a:p>
                    <a:p>
                      <a:pPr algn="l">
                        <a:lnSpc>
                          <a:spcPct val="100000"/>
                        </a:lnSpc>
                        <a:spcBef>
                          <a:spcPts val="0"/>
                        </a:spcBef>
                        <a:spcAft>
                          <a:spcPts val="0"/>
                        </a:spcAft>
                      </a:pPr>
                      <a:r>
                        <a:rPr sz="1300" b="0">
                          <a:solidFill>
                            <a:srgbClr val="1F1F1F"/>
                          </a:solidFill>
                          <a:latin typeface="Calibri"/>
                        </a:rPr>
                        <a:t>ausência de</a:t>
                      </a:r>
                    </a:p>
                    <a:p>
                      <a:pPr algn="l">
                        <a:lnSpc>
                          <a:spcPct val="100000"/>
                        </a:lnSpc>
                        <a:spcBef>
                          <a:spcPts val="0"/>
                        </a:spcBef>
                        <a:spcAft>
                          <a:spcPts val="0"/>
                        </a:spcAft>
                      </a:pPr>
                      <a:r>
                        <a:rPr sz="1300" b="0">
                          <a:solidFill>
                            <a:srgbClr val="1F1F1F"/>
                          </a:solidFill>
                          <a:latin typeface="Calibri"/>
                        </a:rPr>
                        <a:t>avaliação/liquidação e</a:t>
                      </a:r>
                    </a:p>
                    <a:p>
                      <a:pPr algn="l">
                        <a:lnSpc>
                          <a:spcPct val="100000"/>
                        </a:lnSpc>
                        <a:spcBef>
                          <a:spcPts val="0"/>
                        </a:spcBef>
                        <a:spcAft>
                          <a:spcPts val="0"/>
                        </a:spcAft>
                      </a:pPr>
                      <a:r>
                        <a:rPr sz="1300" b="0">
                          <a:solidFill>
                            <a:srgbClr val="1F1F1F"/>
                          </a:solidFill>
                          <a:latin typeface="Calibri"/>
                        </a:rPr>
                        <a:t>ausência de</a:t>
                      </a:r>
                    </a:p>
                    <a:p>
                      <a:pPr algn="l">
                        <a:lnSpc>
                          <a:spcPct val="100000"/>
                        </a:lnSpc>
                        <a:spcBef>
                          <a:spcPts val="0"/>
                        </a:spcBef>
                        <a:spcAft>
                          <a:spcPts val="0"/>
                        </a:spcAft>
                      </a:pPr>
                      <a:r>
                        <a:rPr sz="1300" b="0">
                          <a:solidFill>
                            <a:srgbClr val="1F1F1F"/>
                          </a:solidFill>
                          <a:latin typeface="Calibri"/>
                        </a:rPr>
                        <a:t>inadimplemento</a:t>
                      </a:r>
                    </a:p>
                    <a:p>
                      <a:pPr algn="l">
                        <a:lnSpc>
                          <a:spcPct val="100000"/>
                        </a:lnSpc>
                        <a:spcBef>
                          <a:spcPts val="0"/>
                        </a:spcBef>
                        <a:spcAft>
                          <a:spcPts val="0"/>
                        </a:spcAft>
                      </a:pPr>
                      <a:r>
                        <a:rPr sz="1300" b="0">
                          <a:solidFill>
                            <a:srgbClr val="1F1F1F"/>
                          </a:solidFill>
                          <a:latin typeface="Calibri"/>
                        </a:rPr>
                        <a:t>pecuniário do agente;</a:t>
                      </a:r>
                    </a:p>
                    <a:p>
                      <a:pPr algn="l">
                        <a:lnSpc>
                          <a:spcPct val="100000"/>
                        </a:lnSpc>
                        <a:spcBef>
                          <a:spcPts val="0"/>
                        </a:spcBef>
                        <a:spcAft>
                          <a:spcPts val="0"/>
                        </a:spcAft>
                      </a:pPr>
                      <a:r>
                        <a:rPr sz="1300" b="0">
                          <a:solidFill>
                            <a:srgbClr val="1F1F1F"/>
                          </a:solidFill>
                          <a:latin typeface="Calibri"/>
                        </a:rPr>
                        <a:t>resgate subordinado</a:t>
                      </a:r>
                    </a:p>
                    <a:p>
                      <a:pPr algn="l">
                        <a:lnSpc>
                          <a:spcPct val="100000"/>
                        </a:lnSpc>
                        <a:spcBef>
                          <a:spcPts val="0"/>
                        </a:spcBef>
                        <a:spcAft>
                          <a:spcPts val="0"/>
                        </a:spcAft>
                      </a:pPr>
                      <a:r>
                        <a:rPr sz="1300" b="0">
                          <a:solidFill>
                            <a:srgbClr val="1F1F1F"/>
                          </a:solidFill>
                          <a:latin typeface="Calibri"/>
                        </a:rPr>
                        <a:t>somente na liquidação.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Excesso de júnior/PL</a:t>
                      </a:r>
                    </a:p>
                    <a:p>
                      <a:pPr algn="l">
                        <a:lnSpc>
                          <a:spcPct val="100000"/>
                        </a:lnSpc>
                        <a:spcBef>
                          <a:spcPts val="0"/>
                        </a:spcBef>
                        <a:spcAft>
                          <a:spcPts val="0"/>
                        </a:spcAft>
                      </a:pPr>
                      <a:r>
                        <a:rPr sz="1300" b="0">
                          <a:solidFill>
                            <a:srgbClr val="1F1F1F"/>
                          </a:solidFill>
                          <a:latin typeface="Calibri"/>
                        </a:rPr>
                        <a:t>acima do índice de</a:t>
                      </a:r>
                    </a:p>
                    <a:p>
                      <a:pPr algn="l">
                        <a:lnSpc>
                          <a:spcPct val="100000"/>
                        </a:lnSpc>
                        <a:spcBef>
                          <a:spcPts val="0"/>
                        </a:spcBef>
                        <a:spcAft>
                          <a:spcPts val="0"/>
                        </a:spcAft>
                      </a:pPr>
                      <a:r>
                        <a:rPr sz="1300" b="0">
                          <a:solidFill>
                            <a:srgbClr val="1F1F1F"/>
                          </a:solidFill>
                          <a:latin typeface="Calibri"/>
                        </a:rPr>
                        <a:t>subordinação pode ser</a:t>
                      </a:r>
                    </a:p>
                    <a:p>
                      <a:pPr algn="l">
                        <a:lnSpc>
                          <a:spcPct val="100000"/>
                        </a:lnSpc>
                        <a:spcBef>
                          <a:spcPts val="0"/>
                        </a:spcBef>
                        <a:spcAft>
                          <a:spcPts val="0"/>
                        </a:spcAft>
                      </a:pPr>
                      <a:r>
                        <a:rPr sz="1300" b="0">
                          <a:solidFill>
                            <a:srgbClr val="1F1F1F"/>
                          </a:solidFill>
                          <a:latin typeface="Calibri"/>
                        </a:rPr>
                        <a:t>amortizado com maioria</a:t>
                      </a:r>
                    </a:p>
                    <a:p>
                      <a:pPr algn="l">
                        <a:lnSpc>
                          <a:spcPct val="100000"/>
                        </a:lnSpc>
                        <a:spcBef>
                          <a:spcPts val="0"/>
                        </a:spcBef>
                        <a:spcAft>
                          <a:spcPts val="0"/>
                        </a:spcAft>
                      </a:pPr>
                      <a:r>
                        <a:rPr sz="1300" b="0">
                          <a:solidFill>
                            <a:srgbClr val="1F1F1F"/>
                          </a:solidFill>
                          <a:latin typeface="Calibri"/>
                        </a:rPr>
                        <a:t>da júnior e da sênior,</a:t>
                      </a:r>
                    </a:p>
                    <a:p>
                      <a:pPr algn="l">
                        <a:lnSpc>
                          <a:spcPct val="100000"/>
                        </a:lnSpc>
                        <a:spcBef>
                          <a:spcPts val="0"/>
                        </a:spcBef>
                        <a:spcAft>
                          <a:spcPts val="0"/>
                        </a:spcAft>
                      </a:pPr>
                      <a:r>
                        <a:rPr sz="1300" b="0">
                          <a:solidFill>
                            <a:srgbClr val="1F1F1F"/>
                          </a:solidFill>
                          <a:latin typeface="Calibri"/>
                        </a:rPr>
                        <a:t>respeitando waterfall,</a:t>
                      </a:r>
                    </a:p>
                    <a:p>
                      <a:pPr algn="l">
                        <a:lnSpc>
                          <a:spcPct val="100000"/>
                        </a:lnSpc>
                        <a:spcBef>
                          <a:spcPts val="0"/>
                        </a:spcBef>
                        <a:spcAft>
                          <a:spcPts val="0"/>
                        </a:spcAft>
                      </a:pPr>
                      <a:r>
                        <a:rPr sz="1300" b="0">
                          <a:solidFill>
                            <a:srgbClr val="1F1F1F"/>
                          </a:solidFill>
                          <a:latin typeface="Calibri"/>
                        </a:rPr>
                        <a:t>ausência de obrigações</a:t>
                      </a:r>
                    </a:p>
                    <a:p>
                      <a:pPr algn="l">
                        <a:lnSpc>
                          <a:spcPct val="100000"/>
                        </a:lnSpc>
                        <a:spcBef>
                          <a:spcPts val="0"/>
                        </a:spcBef>
                        <a:spcAft>
                          <a:spcPts val="0"/>
                        </a:spcAft>
                      </a:pPr>
                      <a:r>
                        <a:rPr sz="1300" b="0">
                          <a:solidFill>
                            <a:srgbClr val="1F1F1F"/>
                          </a:solidFill>
                          <a:latin typeface="Calibri"/>
                        </a:rPr>
                        <a:t>vencidas/eventos,</a:t>
                      </a:r>
                    </a:p>
                    <a:p>
                      <a:pPr algn="l">
                        <a:lnSpc>
                          <a:spcPct val="100000"/>
                        </a:lnSpc>
                        <a:spcBef>
                          <a:spcPts val="0"/>
                        </a:spcBef>
                        <a:spcAft>
                          <a:spcPts val="0"/>
                        </a:spcAft>
                      </a:pPr>
                      <a:r>
                        <a:rPr sz="1300" b="0">
                          <a:solidFill>
                            <a:srgbClr val="1F1F1F"/>
                          </a:solidFill>
                          <a:latin typeface="Calibri"/>
                        </a:rPr>
                        <a:t>liquidez suficiente e</a:t>
                      </a:r>
                    </a:p>
                    <a:p>
                      <a:pPr algn="l">
                        <a:lnSpc>
                          <a:spcPct val="100000"/>
                        </a:lnSpc>
                        <a:spcBef>
                          <a:spcPts val="0"/>
                        </a:spcBef>
                        <a:spcAft>
                          <a:spcPts val="0"/>
                        </a:spcAft>
                      </a:pPr>
                      <a:r>
                        <a:rPr sz="1300" b="0">
                          <a:solidFill>
                            <a:srgbClr val="1F1F1F"/>
                          </a:solidFill>
                          <a:latin typeface="Calibri"/>
                        </a:rPr>
                        <a:t>índices. Júnior também</a:t>
                      </a:r>
                    </a:p>
                    <a:p>
                      <a:pPr algn="l">
                        <a:lnSpc>
                          <a:spcPct val="100000"/>
                        </a:lnSpc>
                        <a:spcBef>
                          <a:spcPts val="0"/>
                        </a:spcBef>
                        <a:spcAft>
                          <a:spcPts val="0"/>
                        </a:spcAft>
                      </a:pPr>
                      <a:r>
                        <a:rPr sz="1300" b="0">
                          <a:solidFill>
                            <a:srgbClr val="1F1F1F"/>
                          </a:solidFill>
                          <a:latin typeface="Calibri"/>
                        </a:rPr>
                        <a:t>participa em 50% do</a:t>
                      </a:r>
                    </a:p>
                    <a:p>
                      <a:pPr algn="l">
                        <a:lnSpc>
                          <a:spcPct val="100000"/>
                        </a:lnSpc>
                        <a:spcBef>
                          <a:spcPts val="0"/>
                        </a:spcBef>
                        <a:spcAft>
                          <a:spcPts val="0"/>
                        </a:spcAft>
                      </a:pPr>
                      <a:r>
                        <a:rPr sz="1300" b="0">
                          <a:solidFill>
                            <a:srgbClr val="1F1F1F"/>
                          </a:solidFill>
                          <a:latin typeface="Calibri"/>
                        </a:rPr>
                        <a:t>excesso previsto após</a:t>
                      </a:r>
                    </a:p>
                    <a:p>
                      <a:pPr algn="l">
                        <a:lnSpc>
                          <a:spcPct val="100000"/>
                        </a:lnSpc>
                        <a:spcBef>
                          <a:spcPts val="0"/>
                        </a:spcBef>
                        <a:spcAft>
                          <a:spcPts val="0"/>
                        </a:spcAft>
                      </a:pPr>
                      <a:r>
                        <a:rPr sz="1300" b="0">
                          <a:solidFill>
                            <a:srgbClr val="1F1F1F"/>
                          </a:solidFill>
                          <a:latin typeface="Calibri"/>
                        </a:rPr>
                        <a:t>sua amortização</a:t>
                      </a:r>
                    </a:p>
                    <a:p>
                      <a:pPr algn="l">
                        <a:lnSpc>
                          <a:spcPct val="100000"/>
                        </a:lnSpc>
                        <a:spcBef>
                          <a:spcPts val="0"/>
                        </a:spcBef>
                        <a:spcAft>
                          <a:spcPts val="0"/>
                        </a:spcAft>
                      </a:pPr>
                      <a:r>
                        <a:rPr sz="1300" b="0">
                          <a:solidFill>
                            <a:srgbClr val="1F1F1F"/>
                          </a:solidFill>
                          <a:latin typeface="Calibri"/>
                        </a:rPr>
                        <a:t>programada.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34/160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Proteção por camada</a:t>
            </a:r>
          </a:p>
        </p:txBody>
      </p:sp>
      <p:graphicFrame>
        <p:nvGraphicFramePr>
          <p:cNvPr id="3" name="Table 2"/>
          <p:cNvGraphicFramePr>
            <a:graphicFrameLocks noGrp="1"/>
          </p:cNvGraphicFramePr>
          <p:nvPr/>
        </p:nvGraphicFramePr>
        <p:xfrm>
          <a:off x="438912" y="932688"/>
          <a:ext cx="11313868" cy="3099816"/>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283464">
                <a:tc>
                  <a:txBody>
                    <a:bodyPr wrap="square">
                      <a:noAutofit/>
                    </a:bodyPr>
                    <a:lstStyle/>
                    <a:p>
                      <a:pPr algn="l">
                        <a:lnSpc>
                          <a:spcPct val="100000"/>
                        </a:lnSpc>
                        <a:spcBef>
                          <a:spcPts val="0"/>
                        </a:spcBef>
                        <a:spcAft>
                          <a:spcPts val="0"/>
                        </a:spcAft>
                      </a:pPr>
                      <a:r>
                        <a:rPr sz="1300" b="1">
                          <a:solidFill>
                            <a:srgbClr val="1F1F1F"/>
                          </a:solidFill>
                          <a:latin typeface="Calibri"/>
                        </a:rPr>
                        <a:t>Reserva de liquidez</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a:noFill/>
                    </a:lnB>
                  </a:tcPr>
                </a:tc>
              </a:tr>
              <a:tr h="2345436">
                <a:tc>
                  <a:txBody>
                    <a:bodyPr wrap="square">
                      <a:noAutofit/>
                    </a:bodyPr>
                    <a:lstStyle/>
                    <a:p>
                      <a:pPr algn="l">
                        <a:lnSpc>
                          <a:spcPct val="100000"/>
                        </a:lnSpc>
                        <a:spcBef>
                          <a:spcPts val="0"/>
                        </a:spcBef>
                        <a:spcAft>
                          <a:spcPts val="0"/>
                        </a:spcAft>
                      </a:pPr>
                      <a:r>
                        <a:rPr sz="1300" b="1">
                          <a:solidFill>
                            <a:srgbClr val="1F1F1F"/>
                          </a:solidFill>
                          <a:latin typeface="Calibri"/>
                        </a:rPr>
                        <a:t>Reserva de despesas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Ao final de cada dia</a:t>
                      </a:r>
                    </a:p>
                    <a:p>
                      <a:pPr algn="l">
                        <a:lnSpc>
                          <a:spcPct val="100000"/>
                        </a:lnSpc>
                        <a:spcBef>
                          <a:spcPts val="0"/>
                        </a:spcBef>
                        <a:spcAft>
                          <a:spcPts val="0"/>
                        </a:spcAft>
                      </a:pPr>
                      <a:r>
                        <a:rPr sz="1300" b="0">
                          <a:solidFill>
                            <a:srgbClr val="1F1F1F"/>
                          </a:solidFill>
                          <a:latin typeface="Calibri"/>
                        </a:rPr>
                        <a:t>útil, reserva igual aos</a:t>
                      </a:r>
                    </a:p>
                    <a:p>
                      <a:pPr algn="l">
                        <a:lnSpc>
                          <a:spcPct val="100000"/>
                        </a:lnSpc>
                        <a:spcBef>
                          <a:spcPts val="0"/>
                        </a:spcBef>
                        <a:spcAft>
                          <a:spcPts val="0"/>
                        </a:spcAft>
                      </a:pPr>
                      <a:r>
                        <a:rPr sz="1300" b="0">
                          <a:solidFill>
                            <a:srgbClr val="1F1F1F"/>
                          </a:solidFill>
                          <a:latin typeface="Calibri"/>
                        </a:rPr>
                        <a:t>encargos estimados dos</a:t>
                      </a:r>
                    </a:p>
                    <a:p>
                      <a:pPr algn="l">
                        <a:lnSpc>
                          <a:spcPct val="100000"/>
                        </a:lnSpc>
                        <a:spcBef>
                          <a:spcPts val="0"/>
                        </a:spcBef>
                        <a:spcAft>
                          <a:spcPts val="0"/>
                        </a:spcAft>
                      </a:pPr>
                      <a:r>
                        <a:rPr sz="1300" b="0">
                          <a:solidFill>
                            <a:srgbClr val="1F1F1F"/>
                          </a:solidFill>
                          <a:latin typeface="Calibri"/>
                        </a:rPr>
                        <a:t>seis meses calendário</a:t>
                      </a:r>
                    </a:p>
                    <a:p>
                      <a:pPr algn="l">
                        <a:lnSpc>
                          <a:spcPct val="100000"/>
                        </a:lnSpc>
                        <a:spcBef>
                          <a:spcPts val="0"/>
                        </a:spcBef>
                        <a:spcAft>
                          <a:spcPts val="0"/>
                        </a:spcAft>
                      </a:pPr>
                      <a:r>
                        <a:rPr sz="1300" b="0">
                          <a:solidFill>
                            <a:srgbClr val="1F1F1F"/>
                          </a:solidFill>
                          <a:latin typeface="Calibri"/>
                        </a:rPr>
                        <a:t>imediatamente</a:t>
                      </a:r>
                    </a:p>
                    <a:p>
                      <a:pPr algn="l">
                        <a:lnSpc>
                          <a:spcPct val="100000"/>
                        </a:lnSpc>
                        <a:spcBef>
                          <a:spcPts val="0"/>
                        </a:spcBef>
                        <a:spcAft>
                          <a:spcPts val="0"/>
                        </a:spcAft>
                      </a:pPr>
                      <a:r>
                        <a:rPr sz="1300" b="0">
                          <a:solidFill>
                            <a:srgbClr val="1F1F1F"/>
                          </a:solidFill>
                          <a:latin typeface="Calibri"/>
                        </a:rPr>
                        <a:t>seguintes. A reserva é</a:t>
                      </a:r>
                    </a:p>
                    <a:p>
                      <a:pPr algn="l">
                        <a:lnSpc>
                          <a:spcPct val="100000"/>
                        </a:lnSpc>
                        <a:spcBef>
                          <a:spcPts val="0"/>
                        </a:spcBef>
                        <a:spcAft>
                          <a:spcPts val="0"/>
                        </a:spcAft>
                      </a:pPr>
                      <a:r>
                        <a:rPr sz="1300" b="0">
                          <a:solidFill>
                            <a:srgbClr val="1F1F1F"/>
                          </a:solidFill>
                          <a:latin typeface="Calibri"/>
                        </a:rPr>
                        <a:t>o segundo item de</a:t>
                      </a:r>
                    </a:p>
                    <a:p>
                      <a:pPr algn="l">
                        <a:lnSpc>
                          <a:spcPct val="100000"/>
                        </a:lnSpc>
                        <a:spcBef>
                          <a:spcPts val="0"/>
                        </a:spcBef>
                        <a:spcAft>
                          <a:spcPts val="0"/>
                        </a:spcAft>
                      </a:pPr>
                      <a:r>
                        <a:rPr sz="1300" b="0">
                          <a:solidFill>
                            <a:srgbClr val="1F1F1F"/>
                          </a:solidFill>
                          <a:latin typeface="Calibri"/>
                        </a:rPr>
                        <a:t>prioridade, depois dos</a:t>
                      </a:r>
                    </a:p>
                    <a:p>
                      <a:pPr algn="l">
                        <a:lnSpc>
                          <a:spcPct val="100000"/>
                        </a:lnSpc>
                        <a:spcBef>
                          <a:spcPts val="0"/>
                        </a:spcBef>
                        <a:spcAft>
                          <a:spcPts val="0"/>
                        </a:spcAft>
                      </a:pPr>
                      <a:r>
                        <a:rPr sz="1300" b="0">
                          <a:solidFill>
                            <a:srgbClr val="1F1F1F"/>
                          </a:solidFill>
                          <a:latin typeface="Calibri"/>
                        </a:rPr>
                        <a:t>encargos correntes.</a:t>
                      </a:r>
                    </a:p>
                    <a:p>
                      <a:pPr algn="l">
                        <a:lnSpc>
                          <a:spcPct val="100000"/>
                        </a:lnSpc>
                        <a:spcBef>
                          <a:spcPts val="0"/>
                        </a:spcBef>
                        <a:spcAft>
                          <a:spcPts val="0"/>
                        </a:spcAft>
                      </a:pPr>
                      <a:r>
                        <a:rPr sz="1300" b="0">
                          <a:solidFill>
                            <a:srgbClr val="1F1F1F"/>
                          </a:solidFill>
                          <a:latin typeface="Calibri"/>
                        </a:rPr>
                        <a:t>IME 08/2026 ·</a:t>
                      </a:r>
                    </a:p>
                    <a:p>
                      <a:pPr algn="l">
                        <a:lnSpc>
                          <a:spcPct val="100000"/>
                        </a:lnSpc>
                        <a:spcBef>
                          <a:spcPts val="0"/>
                        </a:spcBef>
                        <a:spcAft>
                          <a:spcPts val="0"/>
                        </a:spcAft>
                      </a:pPr>
                      <a:r>
                        <a:rPr sz="1300" b="0">
                          <a:solidFill>
                            <a:srgbClr val="1F1F1F"/>
                          </a:solidFill>
                          <a:latin typeface="Calibri"/>
                        </a:rPr>
                        <a:t>Comparação não</a:t>
                      </a:r>
                    </a:p>
                    <a:p>
                      <a:pPr algn="l">
                        <a:lnSpc>
                          <a:spcPct val="100000"/>
                        </a:lnSpc>
                        <a:spcBef>
                          <a:spcPts val="0"/>
                        </a:spcBef>
                        <a:spcAft>
                          <a:spcPts val="0"/>
                        </a:spcAft>
                      </a:pPr>
                      <a:r>
                        <a:rPr sz="1300" b="0">
                          <a:solidFill>
                            <a:srgbClr val="1F1F1F"/>
                          </a:solidFill>
                          <a:latin typeface="Calibri"/>
                        </a:rPr>
                        <a:t>reproduzível</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Reserva mantida em</a:t>
                      </a:r>
                    </a:p>
                    <a:p>
                      <a:pPr algn="l">
                        <a:lnSpc>
                          <a:spcPct val="100000"/>
                        </a:lnSpc>
                        <a:spcBef>
                          <a:spcPts val="0"/>
                        </a:spcBef>
                        <a:spcAft>
                          <a:spcPts val="0"/>
                        </a:spcAft>
                      </a:pPr>
                      <a:r>
                        <a:rPr sz="1300" b="0">
                          <a:solidFill>
                            <a:srgbClr val="1F1F1F"/>
                          </a:solidFill>
                          <a:latin typeface="Calibri"/>
                        </a:rPr>
                        <a:t>liquidez,</a:t>
                      </a:r>
                    </a:p>
                    <a:p>
                      <a:pPr algn="l">
                        <a:lnSpc>
                          <a:spcPct val="100000"/>
                        </a:lnSpc>
                        <a:spcBef>
                          <a:spcPts val="0"/>
                        </a:spcBef>
                        <a:spcAft>
                          <a:spcPts val="0"/>
                        </a:spcAft>
                      </a:pPr>
                      <a:r>
                        <a:rPr sz="1300" b="0">
                          <a:solidFill>
                            <a:srgbClr val="1F1F1F"/>
                          </a:solidFill>
                          <a:latin typeface="Calibri"/>
                        </a:rPr>
                        <a:t>constituída/recomposta</a:t>
                      </a:r>
                    </a:p>
                    <a:p>
                      <a:pPr algn="l">
                        <a:lnSpc>
                          <a:spcPct val="100000"/>
                        </a:lnSpc>
                        <a:spcBef>
                          <a:spcPts val="0"/>
                        </a:spcBef>
                        <a:spcAft>
                          <a:spcPts val="0"/>
                        </a:spcAft>
                      </a:pPr>
                      <a:r>
                        <a:rPr sz="1300" b="0">
                          <a:solidFill>
                            <a:srgbClr val="1F1F1F"/>
                          </a:solidFill>
                          <a:latin typeface="Calibri"/>
                        </a:rPr>
                        <a:t>ao final de cada dia</a:t>
                      </a:r>
                    </a:p>
                    <a:p>
                      <a:pPr algn="l">
                        <a:lnSpc>
                          <a:spcPct val="100000"/>
                        </a:lnSpc>
                        <a:spcBef>
                          <a:spcPts val="0"/>
                        </a:spcBef>
                        <a:spcAft>
                          <a:spcPts val="0"/>
                        </a:spcAft>
                      </a:pPr>
                      <a:r>
                        <a:rPr sz="1300" b="0">
                          <a:solidFill>
                            <a:srgbClr val="1F1F1F"/>
                          </a:solidFill>
                          <a:latin typeface="Calibri"/>
                        </a:rPr>
                        <a:t>útil para encargos</a:t>
                      </a:r>
                    </a:p>
                    <a:p>
                      <a:pPr algn="l">
                        <a:lnSpc>
                          <a:spcPct val="100000"/>
                        </a:lnSpc>
                        <a:spcBef>
                          <a:spcPts val="0"/>
                        </a:spcBef>
                        <a:spcAft>
                          <a:spcPts val="0"/>
                        </a:spcAft>
                      </a:pPr>
                      <a:r>
                        <a:rPr sz="1300" b="0">
                          <a:solidFill>
                            <a:srgbClr val="1F1F1F"/>
                          </a:solidFill>
                          <a:latin typeface="Calibri"/>
                        </a:rPr>
                        <a:t>estimados dos 3 meses</a:t>
                      </a:r>
                    </a:p>
                    <a:p>
                      <a:pPr algn="l">
                        <a:lnSpc>
                          <a:spcPct val="100000"/>
                        </a:lnSpc>
                        <a:spcBef>
                          <a:spcPts val="0"/>
                        </a:spcBef>
                        <a:spcAft>
                          <a:spcPts val="0"/>
                        </a:spcAft>
                      </a:pPr>
                      <a:r>
                        <a:rPr sz="1300" b="0">
                          <a:solidFill>
                            <a:srgbClr val="1F1F1F"/>
                          </a:solidFill>
                          <a:latin typeface="Calibri"/>
                        </a:rPr>
                        <a:t>calendário seguintes.</a:t>
                      </a:r>
                    </a:p>
                    <a:p>
                      <a:pPr algn="l">
                        <a:lnSpc>
                          <a:spcPct val="100000"/>
                        </a:lnSpc>
                        <a:spcBef>
                          <a:spcPts val="0"/>
                        </a:spcBef>
                        <a:spcAft>
                          <a:spcPts val="0"/>
                        </a:spcAft>
                      </a:pPr>
                      <a:r>
                        <a:rPr sz="1300" b="0">
                          <a:solidFill>
                            <a:srgbClr val="1F1F1F"/>
                          </a:solidFill>
                          <a:latin typeface="Calibri"/>
                        </a:rPr>
                        <a:t>IME 08/2026 ·</a:t>
                      </a:r>
                    </a:p>
                    <a:p>
                      <a:pPr algn="l">
                        <a:lnSpc>
                          <a:spcPct val="100000"/>
                        </a:lnSpc>
                        <a:spcBef>
                          <a:spcPts val="0"/>
                        </a:spcBef>
                        <a:spcAft>
                          <a:spcPts val="0"/>
                        </a:spcAft>
                      </a:pPr>
                      <a:r>
                        <a:rPr sz="1300" b="0">
                          <a:solidFill>
                            <a:srgbClr val="1F1F1F"/>
                          </a:solidFill>
                          <a:latin typeface="Calibri"/>
                        </a:rPr>
                        <a:t>Referência agregada:</a:t>
                      </a:r>
                    </a:p>
                    <a:p>
                      <a:pPr algn="l">
                        <a:lnSpc>
                          <a:spcPct val="100000"/>
                        </a:lnSpc>
                        <a:spcBef>
                          <a:spcPts val="0"/>
                        </a:spcBef>
                        <a:spcAft>
                          <a:spcPts val="0"/>
                        </a:spcAft>
                      </a:pPr>
                      <a:r>
                        <a:rPr sz="1300" b="0">
                          <a:solidFill>
                            <a:srgbClr val="1F1F1F"/>
                          </a:solidFill>
                          <a:latin typeface="Calibri"/>
                        </a:rPr>
                        <a:t>0,00 · Comparação não</a:t>
                      </a:r>
                    </a:p>
                    <a:p>
                      <a:pPr algn="l">
                        <a:lnSpc>
                          <a:spcPct val="100000"/>
                        </a:lnSpc>
                        <a:spcBef>
                          <a:spcPts val="0"/>
                        </a:spcBef>
                        <a:spcAft>
                          <a:spcPts val="0"/>
                        </a:spcAft>
                      </a:pPr>
                      <a:r>
                        <a:rPr sz="1300" b="0">
                          <a:solidFill>
                            <a:srgbClr val="1F1F1F"/>
                          </a:solidFill>
                          <a:latin typeface="Calibri"/>
                        </a:rPr>
                        <a:t>reproduzível</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35/160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Proteção por camada</a:t>
            </a:r>
          </a:p>
        </p:txBody>
      </p:sp>
      <p:graphicFrame>
        <p:nvGraphicFramePr>
          <p:cNvPr id="3" name="Table 2"/>
          <p:cNvGraphicFramePr>
            <a:graphicFrameLocks noGrp="1"/>
          </p:cNvGraphicFramePr>
          <p:nvPr/>
        </p:nvGraphicFramePr>
        <p:xfrm>
          <a:off x="438912" y="932688"/>
          <a:ext cx="11313870" cy="2555746"/>
        </p:xfrm>
        <a:graphic>
          <a:graphicData uri="http://schemas.openxmlformats.org/drawingml/2006/table">
            <a:tbl>
              <a:tblPr>
                <a:tableStyleId>{5C22544A-7EE6-4342-B048-85BDC9FD1C3A}</a:tableStyleId>
              </a:tblPr>
              <a:tblGrid>
                <a:gridCol w="2331720"/>
                <a:gridCol w="4491075"/>
                <a:gridCol w="4491075"/>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V CDT 1 · 62552447000120</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Global CP · 63953620000165</a:t>
                      </a:r>
                    </a:p>
                  </a:txBody>
                  <a:tcPr marL="91440" marR="91440" marT="41148" marB="41148" anchor="ctr">
                    <a:solidFill>
                      <a:srgbClr val="F7F7F7"/>
                    </a:solidFill>
                    <a:lnL>
                      <a:noFill/>
                    </a:lnL>
                    <a:lnR>
                      <a:noFill/>
                    </a:lnR>
                    <a:lnT>
                      <a:noFill/>
                    </a:lnT>
                    <a:lnB w="6350">
                      <a:solidFill>
                        <a:srgbClr val="D9DEE5"/>
                      </a:solidFill>
                    </a:lnB>
                  </a:tcPr>
                </a:tc>
              </a:tr>
              <a:tr h="845819">
                <a:tc>
                  <a:txBody>
                    <a:bodyPr wrap="square">
                      <a:noAutofit/>
                    </a:bodyPr>
                    <a:lstStyle/>
                    <a:p>
                      <a:pPr algn="l">
                        <a:lnSpc>
                          <a:spcPct val="100000"/>
                        </a:lnSpc>
                        <a:spcBef>
                          <a:spcPts val="0"/>
                        </a:spcBef>
                        <a:spcAft>
                          <a:spcPts val="0"/>
                        </a:spcAft>
                      </a:pPr>
                      <a:r>
                        <a:rPr sz="1300" b="1">
                          <a:solidFill>
                            <a:srgbClr val="1F1F1F"/>
                          </a:solidFill>
                          <a:latin typeface="Calibri"/>
                        </a:rPr>
                        <a:t>Subordinação mínima</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Classe sem subclasse; cotistas pari passu, sem</a:t>
                      </a:r>
                    </a:p>
                    <a:p>
                      <a:pPr algn="l">
                        <a:lnSpc>
                          <a:spcPct val="100000"/>
                        </a:lnSpc>
                        <a:spcBef>
                          <a:spcPts val="0"/>
                        </a:spcBef>
                        <a:spcAft>
                          <a:spcPts val="0"/>
                        </a:spcAft>
                      </a:pPr>
                      <a:r>
                        <a:rPr sz="1300" b="0">
                          <a:solidFill>
                            <a:srgbClr val="1F1F1F"/>
                          </a:solidFill>
                          <a:latin typeface="Calibri"/>
                        </a:rPr>
                        <a:t>preferência, prioridade ou subordinação. Nova</a:t>
                      </a:r>
                    </a:p>
                    <a:p>
                      <a:pPr algn="l">
                        <a:lnSpc>
                          <a:spcPct val="100000"/>
                        </a:lnSpc>
                        <a:spcBef>
                          <a:spcPts val="0"/>
                        </a:spcBef>
                        <a:spcAft>
                          <a:spcPts val="0"/>
                        </a:spcAft>
                      </a:pPr>
                      <a:r>
                        <a:rPr sz="1300" b="0">
                          <a:solidFill>
                            <a:srgbClr val="1F1F1F"/>
                          </a:solidFill>
                          <a:latin typeface="Calibri"/>
                        </a:rPr>
                        <a:t>divisão em subclasses exige aprovação assemblear.</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Enquanto houver sênior, subordinadas/PL ≥1%,</a:t>
                      </a:r>
                    </a:p>
                    <a:p>
                      <a:pPr algn="l">
                        <a:lnSpc>
                          <a:spcPct val="100000"/>
                        </a:lnSpc>
                        <a:spcBef>
                          <a:spcPts val="0"/>
                        </a:spcBef>
                        <a:spcAft>
                          <a:spcPts val="0"/>
                        </a:spcAft>
                      </a:pPr>
                      <a:r>
                        <a:rPr sz="1300" b="0">
                          <a:solidFill>
                            <a:srgbClr val="1F1F1F"/>
                          </a:solidFill>
                          <a:latin typeface="Calibri"/>
                        </a:rPr>
                        <a:t>apurado diariamente pelo administrador após</a:t>
                      </a:r>
                    </a:p>
                    <a:p>
                      <a:pPr algn="l">
                        <a:lnSpc>
                          <a:spcPct val="100000"/>
                        </a:lnSpc>
                        <a:spcBef>
                          <a:spcPts val="0"/>
                        </a:spcBef>
                        <a:spcAft>
                          <a:spcPts val="0"/>
                        </a:spcAft>
                      </a:pPr>
                      <a:r>
                        <a:rPr sz="1300" b="0">
                          <a:solidFill>
                            <a:srgbClr val="1F1F1F"/>
                          </a:solidFill>
                          <a:latin typeface="Calibri"/>
                        </a:rPr>
                        <a:t>primeira integralização sênior.</a:t>
                      </a:r>
                    </a:p>
                    <a:p>
                      <a:pPr algn="l">
                        <a:lnSpc>
                          <a:spcPct val="100000"/>
                        </a:lnSpc>
                        <a:spcBef>
                          <a:spcPts val="0"/>
                        </a:spcBef>
                        <a:spcAft>
                          <a:spcPts val="0"/>
                        </a:spcAft>
                      </a:pPr>
                      <a:r>
                        <a:rPr sz="1300" b="0">
                          <a:solidFill>
                            <a:srgbClr val="1F1F1F"/>
                          </a:solidFill>
                          <a:latin typeface="Calibri"/>
                        </a:rPr>
                        <a:t>IME 08/2026 · 3,70% · Comparação não reproduzível</a:t>
                      </a:r>
                    </a:p>
                  </a:txBody>
                  <a:tcPr marL="91440" marR="91440" marT="41148" marB="41148" anchor="ctr">
                    <a:solidFill>
                      <a:srgbClr val="FFFFFF"/>
                    </a:solidFill>
                    <a:lnL>
                      <a:noFill/>
                    </a:lnL>
                    <a:lnR>
                      <a:noFill/>
                    </a:lnR>
                    <a:lnT>
                      <a:noFill/>
                    </a:lnT>
                    <a:lnB>
                      <a:noFill/>
                    </a:lnB>
                  </a:tcPr>
                </a:tc>
              </a:tr>
              <a:tr h="470916">
                <a:tc>
                  <a:txBody>
                    <a:bodyPr wrap="square">
                      <a:noAutofit/>
                    </a:bodyPr>
                    <a:lstStyle/>
                    <a:p>
                      <a:pPr algn="l">
                        <a:lnSpc>
                          <a:spcPct val="100000"/>
                        </a:lnSpc>
                        <a:spcBef>
                          <a:spcPts val="0"/>
                        </a:spcBef>
                        <a:spcAft>
                          <a:spcPts val="0"/>
                        </a:spcAft>
                      </a:pPr>
                      <a:r>
                        <a:rPr sz="1300" b="1">
                          <a:solidFill>
                            <a:srgbClr val="1F1F1F"/>
                          </a:solidFill>
                          <a:latin typeface="Calibri"/>
                        </a:rPr>
                        <a:t>Razões de cobertura por</a:t>
                      </a:r>
                    </a:p>
                    <a:p>
                      <a:pPr algn="l">
                        <a:lnSpc>
                          <a:spcPct val="100000"/>
                        </a:lnSpc>
                        <a:spcBef>
                          <a:spcPts val="0"/>
                        </a:spcBef>
                        <a:spcAft>
                          <a:spcPts val="0"/>
                        </a:spcAft>
                      </a:pPr>
                      <a:r>
                        <a:rPr sz="1300" b="1">
                          <a:solidFill>
                            <a:srgbClr val="1F1F1F"/>
                          </a:solidFill>
                          <a:latin typeface="Calibri"/>
                        </a:rPr>
                        <a:t>camada</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a:noFill/>
                    </a:lnB>
                  </a:tcPr>
                </a:tc>
              </a:tr>
              <a:tr h="845819">
                <a:tc>
                  <a:txBody>
                    <a:bodyPr wrap="square">
                      <a:noAutofit/>
                    </a:bodyPr>
                    <a:lstStyle/>
                    <a:p>
                      <a:pPr algn="l">
                        <a:lnSpc>
                          <a:spcPct val="100000"/>
                        </a:lnSpc>
                        <a:spcBef>
                          <a:spcPts val="0"/>
                        </a:spcBef>
                        <a:spcAft>
                          <a:spcPts val="0"/>
                        </a:spcAft>
                      </a:pPr>
                      <a:r>
                        <a:rPr sz="1300" b="1">
                          <a:solidFill>
                            <a:srgbClr val="1F1F1F"/>
                          </a:solidFill>
                          <a:latin typeface="Calibri"/>
                        </a:rPr>
                        <a:t>Liberação e amortização</a:t>
                      </a:r>
                    </a:p>
                    <a:p>
                      <a:pPr algn="l">
                        <a:lnSpc>
                          <a:spcPct val="100000"/>
                        </a:lnSpc>
                        <a:spcBef>
                          <a:spcPts val="0"/>
                        </a:spcBef>
                        <a:spcAft>
                          <a:spcPts val="0"/>
                        </a:spcAft>
                      </a:pPr>
                      <a:r>
                        <a:rPr sz="1300" b="1">
                          <a:solidFill>
                            <a:srgbClr val="1F1F1F"/>
                          </a:solidFill>
                          <a:latin typeface="Calibri"/>
                        </a:rPr>
                        <a:t>da júnior</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Extração pendente</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Liberação extraordinária do excedente à razão</a:t>
                      </a:r>
                    </a:p>
                    <a:p>
                      <a:pPr algn="l">
                        <a:lnSpc>
                          <a:spcPct val="100000"/>
                        </a:lnSpc>
                        <a:spcBef>
                          <a:spcPts val="0"/>
                        </a:spcBef>
                        <a:spcAft>
                          <a:spcPts val="0"/>
                        </a:spcAft>
                      </a:pPr>
                      <a:r>
                        <a:rPr sz="1300" b="0">
                          <a:solidFill>
                            <a:srgbClr val="1F1F1F"/>
                          </a:solidFill>
                          <a:latin typeface="Calibri"/>
                        </a:rPr>
                        <a:t>subordinadas/PL &gt;10%. Exige ordem de pagamentos,</a:t>
                      </a:r>
                    </a:p>
                    <a:p>
                      <a:pPr algn="l">
                        <a:lnSpc>
                          <a:spcPct val="100000"/>
                        </a:lnSpc>
                        <a:spcBef>
                          <a:spcPts val="0"/>
                        </a:spcBef>
                        <a:spcAft>
                          <a:spcPts val="0"/>
                        </a:spcAft>
                      </a:pPr>
                      <a:r>
                        <a:rPr sz="1300" b="0">
                          <a:solidFill>
                            <a:srgbClr val="1F1F1F"/>
                          </a:solidFill>
                          <a:latin typeface="Calibri"/>
                        </a:rPr>
                        <a:t>obrigações em dia, ausência de eventos, liquidez</a:t>
                      </a:r>
                    </a:p>
                    <a:p>
                      <a:pPr algn="l">
                        <a:lnSpc>
                          <a:spcPct val="100000"/>
                        </a:lnSpc>
                        <a:spcBef>
                          <a:spcPts val="0"/>
                        </a:spcBef>
                        <a:spcAft>
                          <a:spcPts val="0"/>
                        </a:spcAft>
                      </a:pPr>
                      <a:r>
                        <a:rPr sz="1300" b="0">
                          <a:solidFill>
                            <a:srgbClr val="1F1F1F"/>
                          </a:solidFill>
                          <a:latin typeface="Calibri"/>
                        </a:rPr>
                        <a:t>suficiente e índices mantidos.</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36/160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Proteção por camada</a:t>
            </a:r>
          </a:p>
        </p:txBody>
      </p:sp>
      <p:graphicFrame>
        <p:nvGraphicFramePr>
          <p:cNvPr id="3" name="Table 2"/>
          <p:cNvGraphicFramePr>
            <a:graphicFrameLocks noGrp="1"/>
          </p:cNvGraphicFramePr>
          <p:nvPr/>
        </p:nvGraphicFramePr>
        <p:xfrm>
          <a:off x="438912" y="932688"/>
          <a:ext cx="11313870" cy="3209542"/>
        </p:xfrm>
        <a:graphic>
          <a:graphicData uri="http://schemas.openxmlformats.org/drawingml/2006/table">
            <a:tbl>
              <a:tblPr>
                <a:tableStyleId>{5C22544A-7EE6-4342-B048-85BDC9FD1C3A}</a:tableStyleId>
              </a:tblPr>
              <a:tblGrid>
                <a:gridCol w="2331720"/>
                <a:gridCol w="4491075"/>
                <a:gridCol w="4491075"/>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V CDT 1 · 62552447000120</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Global CP · 63953620000165</a:t>
                      </a:r>
                    </a:p>
                  </a:txBody>
                  <a:tcPr marL="91440" marR="91440" marT="41148" marB="41148" anchor="ctr">
                    <a:solidFill>
                      <a:srgbClr val="F7F7F7"/>
                    </a:solidFill>
                    <a:lnL>
                      <a:noFill/>
                    </a:lnL>
                    <a:lnR>
                      <a:noFill/>
                    </a:lnR>
                    <a:lnT>
                      <a:noFill/>
                    </a:lnT>
                    <a:lnB w="6350">
                      <a:solidFill>
                        <a:srgbClr val="D9DEE5"/>
                      </a:solidFill>
                    </a:lnB>
                  </a:tcPr>
                </a:tc>
              </a:tr>
              <a:tr h="1408175">
                <a:tc>
                  <a:txBody>
                    <a:bodyPr wrap="square">
                      <a:noAutofit/>
                    </a:bodyPr>
                    <a:lstStyle/>
                    <a:p>
                      <a:pPr algn="l">
                        <a:lnSpc>
                          <a:spcPct val="100000"/>
                        </a:lnSpc>
                        <a:spcBef>
                          <a:spcPts val="0"/>
                        </a:spcBef>
                        <a:spcAft>
                          <a:spcPts val="0"/>
                        </a:spcAft>
                      </a:pPr>
                      <a:r>
                        <a:rPr sz="1300" b="1">
                          <a:solidFill>
                            <a:srgbClr val="1F1F1F"/>
                          </a:solidFill>
                          <a:latin typeface="Calibri"/>
                        </a:rPr>
                        <a:t>Reserva de liquidez</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Reserva exclusivamente com capital sênior durante</a:t>
                      </a:r>
                    </a:p>
                    <a:p>
                      <a:pPr algn="l">
                        <a:lnSpc>
                          <a:spcPct val="100000"/>
                        </a:lnSpc>
                        <a:spcBef>
                          <a:spcPts val="0"/>
                        </a:spcBef>
                        <a:spcAft>
                          <a:spcPts val="0"/>
                        </a:spcAft>
                      </a:pPr>
                      <a:r>
                        <a:rPr sz="1300" b="0">
                          <a:solidFill>
                            <a:srgbClr val="1F1F1F"/>
                          </a:solidFill>
                          <a:latin typeface="Calibri"/>
                        </a:rPr>
                        <a:t>o investimento: R$ 150 milhões no numeral,</a:t>
                      </a:r>
                    </a:p>
                    <a:p>
                      <a:pPr algn="l">
                        <a:lnSpc>
                          <a:spcPct val="100000"/>
                        </a:lnSpc>
                        <a:spcBef>
                          <a:spcPts val="0"/>
                        </a:spcBef>
                        <a:spcAft>
                          <a:spcPts val="0"/>
                        </a:spcAft>
                      </a:pPr>
                      <a:r>
                        <a:rPr sz="1300" b="0">
                          <a:solidFill>
                            <a:srgbClr val="1F1F1F"/>
                          </a:solidFill>
                          <a:latin typeface="Calibri"/>
                        </a:rPr>
                        <a:t>acrescidos diariamente do rendimento. Utilização</a:t>
                      </a:r>
                    </a:p>
                    <a:p>
                      <a:pPr algn="l">
                        <a:lnSpc>
                          <a:spcPct val="100000"/>
                        </a:lnSpc>
                        <a:spcBef>
                          <a:spcPts val="0"/>
                        </a:spcBef>
                        <a:spcAft>
                          <a:spcPts val="0"/>
                        </a:spcAft>
                      </a:pPr>
                      <a:r>
                        <a:rPr sz="1300" b="0">
                          <a:solidFill>
                            <a:srgbClr val="1F1F1F"/>
                          </a:solidFill>
                          <a:latin typeface="Calibri"/>
                        </a:rPr>
                        <a:t>depende de AGC com maioria de cada subclasse;</a:t>
                      </a:r>
                    </a:p>
                    <a:p>
                      <a:pPr algn="l">
                        <a:lnSpc>
                          <a:spcPct val="100000"/>
                        </a:lnSpc>
                        <a:spcBef>
                          <a:spcPts val="0"/>
                        </a:spcBef>
                        <a:spcAft>
                          <a:spcPts val="0"/>
                        </a:spcAft>
                      </a:pPr>
                      <a:r>
                        <a:rPr sz="1300" b="0">
                          <a:solidFill>
                            <a:srgbClr val="1F1F1F"/>
                          </a:solidFill>
                          <a:latin typeface="Calibri"/>
                        </a:rPr>
                        <a:t>após investimento entra na waterfall.</a:t>
                      </a:r>
                    </a:p>
                    <a:p>
                      <a:pPr algn="l">
                        <a:lnSpc>
                          <a:spcPct val="100000"/>
                        </a:lnSpc>
                        <a:spcBef>
                          <a:spcPts val="0"/>
                        </a:spcBef>
                        <a:spcAft>
                          <a:spcPts val="0"/>
                        </a:spcAft>
                      </a:pPr>
                      <a:r>
                        <a:rPr sz="1300" b="0">
                          <a:solidFill>
                            <a:srgbClr val="1F1F1F"/>
                          </a:solidFill>
                          <a:latin typeface="Calibri"/>
                        </a:rPr>
                        <a:t>IME 08/2026 · Referência agregada: 10.000,00 ·</a:t>
                      </a:r>
                    </a:p>
                    <a:p>
                      <a:pPr algn="l">
                        <a:lnSpc>
                          <a:spcPct val="100000"/>
                        </a:lnSpc>
                        <a:spcBef>
                          <a:spcPts val="0"/>
                        </a:spcBef>
                        <a:spcAft>
                          <a:spcPts val="0"/>
                        </a:spcAft>
                      </a:pPr>
                      <a:r>
                        <a:rPr sz="1300" b="0">
                          <a:solidFill>
                            <a:srgbClr val="1F1F1F"/>
                          </a:solidFill>
                          <a:latin typeface="Calibri"/>
                        </a:rPr>
                        <a:t>Comparação não reproduzível</a:t>
                      </a:r>
                    </a:p>
                  </a:txBody>
                  <a:tcPr marL="91440" marR="91440" marT="41148" marB="41148" anchor="ctr">
                    <a:solidFill>
                      <a:srgbClr val="FFFFFF"/>
                    </a:solidFill>
                    <a:lnL>
                      <a:noFill/>
                    </a:lnL>
                    <a:lnR>
                      <a:noFill/>
                    </a:lnR>
                    <a:lnT>
                      <a:noFill/>
                    </a:lnT>
                    <a:lnB>
                      <a:noFill/>
                    </a:lnB>
                  </a:tcPr>
                </a:tc>
              </a:tr>
              <a:tr h="1408175">
                <a:tc>
                  <a:txBody>
                    <a:bodyPr wrap="square">
                      <a:noAutofit/>
                    </a:bodyPr>
                    <a:lstStyle/>
                    <a:p>
                      <a:pPr algn="l">
                        <a:lnSpc>
                          <a:spcPct val="100000"/>
                        </a:lnSpc>
                        <a:spcBef>
                          <a:spcPts val="0"/>
                        </a:spcBef>
                        <a:spcAft>
                          <a:spcPts val="0"/>
                        </a:spcAft>
                      </a:pPr>
                      <a:r>
                        <a:rPr sz="1300" b="1">
                          <a:solidFill>
                            <a:srgbClr val="1F1F1F"/>
                          </a:solidFill>
                          <a:latin typeface="Calibri"/>
                        </a:rPr>
                        <a:t>Reserva de despesas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Reserva de caixa em ativos</a:t>
                      </a:r>
                    </a:p>
                    <a:p>
                      <a:pPr algn="l">
                        <a:lnSpc>
                          <a:spcPct val="100000"/>
                        </a:lnSpc>
                        <a:spcBef>
                          <a:spcPts val="0"/>
                        </a:spcBef>
                        <a:spcAft>
                          <a:spcPts val="0"/>
                        </a:spcAft>
                      </a:pPr>
                      <a:r>
                        <a:rPr sz="1300" b="0">
                          <a:solidFill>
                            <a:srgbClr val="1F1F1F"/>
                          </a:solidFill>
                          <a:latin typeface="Calibri"/>
                        </a:rPr>
                        <a:t>financeiros/disponibilidades para despesas fixas</a:t>
                      </a:r>
                    </a:p>
                    <a:p>
                      <a:pPr algn="l">
                        <a:lnSpc>
                          <a:spcPct val="100000"/>
                        </a:lnSpc>
                        <a:spcBef>
                          <a:spcPts val="0"/>
                        </a:spcBef>
                        <a:spcAft>
                          <a:spcPts val="0"/>
                        </a:spcAft>
                      </a:pPr>
                      <a:r>
                        <a:rPr sz="1300" b="0">
                          <a:solidFill>
                            <a:srgbClr val="1F1F1F"/>
                          </a:solidFill>
                          <a:latin typeface="Calibri"/>
                        </a:rPr>
                        <a:t>e periódicas estimadas dos próximos 6 meses.</a:t>
                      </a:r>
                    </a:p>
                    <a:p>
                      <a:pPr algn="l">
                        <a:lnSpc>
                          <a:spcPct val="100000"/>
                        </a:lnSpc>
                        <a:spcBef>
                          <a:spcPts val="0"/>
                        </a:spcBef>
                        <a:spcAft>
                          <a:spcPts val="0"/>
                        </a:spcAft>
                      </a:pPr>
                      <a:r>
                        <a:rPr sz="1300" b="0">
                          <a:solidFill>
                            <a:srgbClr val="1F1F1F"/>
                          </a:solidFill>
                          <a:latin typeface="Calibri"/>
                        </a:rPr>
                        <a:t>Reconstituição precede amortizações e compras de</a:t>
                      </a:r>
                    </a:p>
                    <a:p>
                      <a:pPr algn="l">
                        <a:lnSpc>
                          <a:spcPct val="100000"/>
                        </a:lnSpc>
                        <a:spcBef>
                          <a:spcPts val="0"/>
                        </a:spcBef>
                        <a:spcAft>
                          <a:spcPts val="0"/>
                        </a:spcAft>
                      </a:pPr>
                      <a:r>
                        <a:rPr sz="1300" b="0">
                          <a:solidFill>
                            <a:srgbClr val="1F1F1F"/>
                          </a:solidFill>
                          <a:latin typeface="Calibri"/>
                        </a:rPr>
                        <a:t>DC.</a:t>
                      </a:r>
                    </a:p>
                    <a:p>
                      <a:pPr algn="l">
                        <a:lnSpc>
                          <a:spcPct val="100000"/>
                        </a:lnSpc>
                        <a:spcBef>
                          <a:spcPts val="0"/>
                        </a:spcBef>
                        <a:spcAft>
                          <a:spcPts val="0"/>
                        </a:spcAft>
                      </a:pPr>
                      <a:r>
                        <a:rPr sz="1300" b="0">
                          <a:solidFill>
                            <a:srgbClr val="1F1F1F"/>
                          </a:solidFill>
                          <a:latin typeface="Calibri"/>
                        </a:rPr>
                        <a:t>IME 08/2026 · Referência agregada: 0,00 ·</a:t>
                      </a:r>
                    </a:p>
                    <a:p>
                      <a:pPr algn="l">
                        <a:lnSpc>
                          <a:spcPct val="100000"/>
                        </a:lnSpc>
                        <a:spcBef>
                          <a:spcPts val="0"/>
                        </a:spcBef>
                        <a:spcAft>
                          <a:spcPts val="0"/>
                        </a:spcAft>
                      </a:pPr>
                      <a:r>
                        <a:rPr sz="1300" b="0">
                          <a:solidFill>
                            <a:srgbClr val="1F1F1F"/>
                          </a:solidFill>
                          <a:latin typeface="Calibri"/>
                        </a:rPr>
                        <a:t>Comparação não reproduzível</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37/160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Qualidade da carteira</a:t>
            </a:r>
          </a:p>
        </p:txBody>
      </p:sp>
      <p:graphicFrame>
        <p:nvGraphicFramePr>
          <p:cNvPr id="3" name="Table 2"/>
          <p:cNvGraphicFramePr>
            <a:graphicFrameLocks noGrp="1"/>
          </p:cNvGraphicFramePr>
          <p:nvPr/>
        </p:nvGraphicFramePr>
        <p:xfrm>
          <a:off x="438912" y="932688"/>
          <a:ext cx="11313868" cy="4507992"/>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3095244">
                <a:tc>
                  <a:txBody>
                    <a:bodyPr wrap="square">
                      <a:noAutofit/>
                    </a:bodyPr>
                    <a:lstStyle/>
                    <a:p>
                      <a:pPr algn="l">
                        <a:lnSpc>
                          <a:spcPct val="100000"/>
                        </a:lnSpc>
                        <a:spcBef>
                          <a:spcPts val="0"/>
                        </a:spcBef>
                        <a:spcAft>
                          <a:spcPts val="0"/>
                        </a:spcAft>
                      </a:pPr>
                      <a:r>
                        <a:rPr sz="1300" b="1">
                          <a:solidFill>
                            <a:srgbClr val="1F1F1F"/>
                          </a:solidFill>
                          <a:latin typeface="Calibri"/>
                        </a:rPr>
                        <a:t>Metodologia de PDD e</a:t>
                      </a:r>
                    </a:p>
                    <a:p>
                      <a:pPr algn="l">
                        <a:lnSpc>
                          <a:spcPct val="100000"/>
                        </a:lnSpc>
                        <a:spcBef>
                          <a:spcPts val="0"/>
                        </a:spcBef>
                        <a:spcAft>
                          <a:spcPts val="0"/>
                        </a:spcAft>
                      </a:pPr>
                      <a:r>
                        <a:rPr sz="1300" b="1">
                          <a:solidFill>
                            <a:srgbClr val="1F1F1F"/>
                          </a:solidFill>
                          <a:latin typeface="Calibri"/>
                        </a:rPr>
                        <a:t>curva por atraso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PDD/perdas conforme</a:t>
                      </a:r>
                    </a:p>
                    <a:p>
                      <a:pPr algn="l">
                        <a:lnSpc>
                          <a:spcPct val="100000"/>
                        </a:lnSpc>
                        <a:spcBef>
                          <a:spcPts val="0"/>
                        </a:spcBef>
                        <a:spcAft>
                          <a:spcPts val="0"/>
                        </a:spcAft>
                      </a:pPr>
                      <a:r>
                        <a:rPr sz="1300" b="0">
                          <a:solidFill>
                            <a:srgbClr val="1F1F1F"/>
                          </a:solidFill>
                          <a:latin typeface="Calibri"/>
                        </a:rPr>
                        <a:t>ICVM 489, reduzindo o</a:t>
                      </a:r>
                    </a:p>
                    <a:p>
                      <a:pPr algn="l">
                        <a:lnSpc>
                          <a:spcPct val="100000"/>
                        </a:lnSpc>
                        <a:spcBef>
                          <a:spcPts val="0"/>
                        </a:spcBef>
                        <a:spcAft>
                          <a:spcPts val="0"/>
                        </a:spcAft>
                      </a:pPr>
                      <a:r>
                        <a:rPr sz="1300" b="0">
                          <a:solidFill>
                            <a:srgbClr val="1F1F1F"/>
                          </a:solidFill>
                          <a:latin typeface="Calibri"/>
                        </a:rPr>
                        <a:t>saldo dos ativos.</a:t>
                      </a:r>
                    </a:p>
                    <a:p>
                      <a:pPr algn="l">
                        <a:lnSpc>
                          <a:spcPct val="100000"/>
                        </a:lnSpc>
                        <a:spcBef>
                          <a:spcPts val="0"/>
                        </a:spcBef>
                        <a:spcAft>
                          <a:spcPts val="0"/>
                        </a:spcAft>
                      </a:pPr>
                      <a:r>
                        <a:rPr sz="1300" b="0">
                          <a:solidFill>
                            <a:srgbClr val="1F1F1F"/>
                          </a:solidFill>
                          <a:latin typeface="Calibri"/>
                        </a:rPr>
                        <a:t>Créditos do mesmo</a:t>
                      </a:r>
                    </a:p>
                    <a:p>
                      <a:pPr algn="l">
                        <a:lnSpc>
                          <a:spcPct val="100000"/>
                        </a:lnSpc>
                        <a:spcBef>
                          <a:spcPts val="0"/>
                        </a:spcBef>
                        <a:spcAft>
                          <a:spcPts val="0"/>
                        </a:spcAft>
                      </a:pPr>
                      <a:r>
                        <a:rPr sz="1300" b="0">
                          <a:solidFill>
                            <a:srgbClr val="1F1F1F"/>
                          </a:solidFill>
                          <a:latin typeface="Calibri"/>
                        </a:rPr>
                        <a:t>devedor seguem o art.</a:t>
                      </a:r>
                    </a:p>
                    <a:p>
                      <a:pPr algn="l">
                        <a:lnSpc>
                          <a:spcPct val="100000"/>
                        </a:lnSpc>
                        <a:spcBef>
                          <a:spcPts val="0"/>
                        </a:spcBef>
                        <a:spcAft>
                          <a:spcPts val="0"/>
                        </a:spcAft>
                      </a:pPr>
                      <a:r>
                        <a:rPr sz="1300" b="0">
                          <a:solidFill>
                            <a:srgbClr val="1F1F1F"/>
                          </a:solidFill>
                          <a:latin typeface="Calibri"/>
                        </a:rPr>
                        <a:t>13 e a metodologia dos</a:t>
                      </a:r>
                    </a:p>
                    <a:p>
                      <a:pPr algn="l">
                        <a:lnSpc>
                          <a:spcPct val="100000"/>
                        </a:lnSpc>
                        <a:spcBef>
                          <a:spcPts val="0"/>
                        </a:spcBef>
                        <a:spcAft>
                          <a:spcPts val="0"/>
                        </a:spcAft>
                      </a:pPr>
                      <a:r>
                        <a:rPr sz="1300" b="0">
                          <a:solidFill>
                            <a:srgbClr val="1F1F1F"/>
                          </a:solidFill>
                          <a:latin typeface="Calibri"/>
                        </a:rPr>
                        <a:t>manuais do administrado</a:t>
                      </a:r>
                    </a:p>
                    <a:p>
                      <a:pPr algn="l">
                        <a:lnSpc>
                          <a:spcPct val="100000"/>
                        </a:lnSpc>
                        <a:spcBef>
                          <a:spcPts val="0"/>
                        </a:spcBef>
                        <a:spcAft>
                          <a:spcPts val="0"/>
                        </a:spcAft>
                      </a:pPr>
                      <a:r>
                        <a:rPr sz="1300" b="0">
                          <a:solidFill>
                            <a:srgbClr val="1F1F1F"/>
                          </a:solidFill>
                          <a:latin typeface="Calibri"/>
                        </a:rPr>
                        <a:t>r/custodiante. O</a:t>
                      </a:r>
                    </a:p>
                    <a:p>
                      <a:pPr algn="l">
                        <a:lnSpc>
                          <a:spcPct val="100000"/>
                        </a:lnSpc>
                        <a:spcBef>
                          <a:spcPts val="0"/>
                        </a:spcBef>
                        <a:spcAft>
                          <a:spcPts val="0"/>
                        </a:spcAft>
                      </a:pPr>
                      <a:r>
                        <a:rPr sz="1300" b="0">
                          <a:solidFill>
                            <a:srgbClr val="1F1F1F"/>
                          </a:solidFill>
                          <a:latin typeface="Calibri"/>
                        </a:rPr>
                        <a:t>regulamento não fornece</a:t>
                      </a:r>
                    </a:p>
                    <a:p>
                      <a:pPr algn="l">
                        <a:lnSpc>
                          <a:spcPct val="100000"/>
                        </a:lnSpc>
                        <a:spcBef>
                          <a:spcPts val="0"/>
                        </a:spcBef>
                        <a:spcAft>
                          <a:spcPts val="0"/>
                        </a:spcAft>
                      </a:pPr>
                      <a:r>
                        <a:rPr sz="1300" b="0">
                          <a:solidFill>
                            <a:srgbClr val="1F1F1F"/>
                          </a:solidFill>
                          <a:latin typeface="Calibri"/>
                        </a:rPr>
                        <a:t>uma curva percentual de</a:t>
                      </a:r>
                    </a:p>
                    <a:p>
                      <a:pPr algn="l">
                        <a:lnSpc>
                          <a:spcPct val="100000"/>
                        </a:lnSpc>
                        <a:spcBef>
                          <a:spcPts val="0"/>
                        </a:spcBef>
                        <a:spcAft>
                          <a:spcPts val="0"/>
                        </a:spcAft>
                      </a:pPr>
                      <a:r>
                        <a:rPr sz="1300" b="0">
                          <a:solidFill>
                            <a:srgbClr val="1F1F1F"/>
                          </a:solidFill>
                          <a:latin typeface="Calibri"/>
                        </a:rPr>
                        <a:t>PDD por dias de atraso.</a:t>
                      </a:r>
                    </a:p>
                    <a:p>
                      <a:pPr algn="l">
                        <a:lnSpc>
                          <a:spcPct val="100000"/>
                        </a:lnSpc>
                        <a:spcBef>
                          <a:spcPts val="0"/>
                        </a:spcBef>
                        <a:spcAft>
                          <a:spcPts val="0"/>
                        </a:spcAft>
                      </a:pPr>
                      <a:r>
                        <a:rPr sz="1300" b="0">
                          <a:solidFill>
                            <a:srgbClr val="1F1F1F"/>
                          </a:solidFill>
                          <a:latin typeface="Calibri"/>
                        </a:rPr>
                        <a:t>IME 08/2026 ·</a:t>
                      </a:r>
                    </a:p>
                    <a:p>
                      <a:pPr algn="l">
                        <a:lnSpc>
                          <a:spcPct val="100000"/>
                        </a:lnSpc>
                        <a:spcBef>
                          <a:spcPts val="0"/>
                        </a:spcBef>
                        <a:spcAft>
                          <a:spcPts val="0"/>
                        </a:spcAft>
                      </a:pPr>
                      <a:r>
                        <a:rPr sz="1300" b="0">
                          <a:solidFill>
                            <a:srgbClr val="1F1F1F"/>
                          </a:solidFill>
                          <a:latin typeface="Calibri"/>
                        </a:rPr>
                        <a:t>Referência agregada:</a:t>
                      </a:r>
                    </a:p>
                    <a:p>
                      <a:pPr algn="l">
                        <a:lnSpc>
                          <a:spcPct val="100000"/>
                        </a:lnSpc>
                        <a:spcBef>
                          <a:spcPts val="0"/>
                        </a:spcBef>
                        <a:spcAft>
                          <a:spcPts val="0"/>
                        </a:spcAft>
                      </a:pPr>
                      <a:r>
                        <a:rPr sz="1300" b="0">
                          <a:solidFill>
                            <a:srgbClr val="1F1F1F"/>
                          </a:solidFill>
                          <a:latin typeface="Calibri"/>
                        </a:rPr>
                        <a:t>0,40% · Comparação não</a:t>
                      </a:r>
                    </a:p>
                    <a:p>
                      <a:pPr algn="l">
                        <a:lnSpc>
                          <a:spcPct val="100000"/>
                        </a:lnSpc>
                        <a:spcBef>
                          <a:spcPts val="0"/>
                        </a:spcBef>
                        <a:spcAft>
                          <a:spcPts val="0"/>
                        </a:spcAft>
                      </a:pPr>
                      <a:r>
                        <a:rPr sz="1300" b="0">
                          <a:solidFill>
                            <a:srgbClr val="1F1F1F"/>
                          </a:solidFill>
                          <a:latin typeface="Calibri"/>
                        </a:rPr>
                        <a:t>reproduzível</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PDD quando há evidência</a:t>
                      </a:r>
                    </a:p>
                    <a:p>
                      <a:pPr algn="l">
                        <a:lnSpc>
                          <a:spcPct val="100000"/>
                        </a:lnSpc>
                        <a:spcBef>
                          <a:spcPts val="0"/>
                        </a:spcBef>
                        <a:spcAft>
                          <a:spcPts val="0"/>
                        </a:spcAft>
                      </a:pPr>
                      <a:r>
                        <a:rPr sz="1300" b="0">
                          <a:solidFill>
                            <a:srgbClr val="1F1F1F"/>
                          </a:solidFill>
                          <a:latin typeface="Calibri"/>
                        </a:rPr>
                        <a:t>de redução do valor</a:t>
                      </a:r>
                    </a:p>
                    <a:p>
                      <a:pPr algn="l">
                        <a:lnSpc>
                          <a:spcPct val="100000"/>
                        </a:lnSpc>
                        <a:spcBef>
                          <a:spcPts val="0"/>
                        </a:spcBef>
                        <a:spcAft>
                          <a:spcPts val="0"/>
                        </a:spcAft>
                      </a:pPr>
                      <a:r>
                        <a:rPr sz="1300" b="0">
                          <a:solidFill>
                            <a:srgbClr val="1F1F1F"/>
                          </a:solidFill>
                          <a:latin typeface="Calibri"/>
                        </a:rPr>
                        <a:t>recuperável. Créditos</a:t>
                      </a:r>
                    </a:p>
                    <a:p>
                      <a:pPr algn="l">
                        <a:lnSpc>
                          <a:spcPct val="100000"/>
                        </a:lnSpc>
                        <a:spcBef>
                          <a:spcPts val="0"/>
                        </a:spcBef>
                        <a:spcAft>
                          <a:spcPts val="0"/>
                        </a:spcAft>
                      </a:pPr>
                      <a:r>
                        <a:rPr sz="1300" b="0">
                          <a:solidFill>
                            <a:srgbClr val="1F1F1F"/>
                          </a:solidFill>
                          <a:latin typeface="Calibri"/>
                        </a:rPr>
                        <a:t>sem mercado ativo</a:t>
                      </a:r>
                    </a:p>
                    <a:p>
                      <a:pPr algn="l">
                        <a:lnSpc>
                          <a:spcPct val="100000"/>
                        </a:lnSpc>
                        <a:spcBef>
                          <a:spcPts val="0"/>
                        </a:spcBef>
                        <a:spcAft>
                          <a:spcPts val="0"/>
                        </a:spcAft>
                      </a:pPr>
                      <a:r>
                        <a:rPr sz="1300" b="0">
                          <a:solidFill>
                            <a:srgbClr val="1F1F1F"/>
                          </a:solidFill>
                          <a:latin typeface="Calibri"/>
                        </a:rPr>
                        <a:t>avaliados diariamente</a:t>
                      </a:r>
                    </a:p>
                    <a:p>
                      <a:pPr algn="l">
                        <a:lnSpc>
                          <a:spcPct val="100000"/>
                        </a:lnSpc>
                        <a:spcBef>
                          <a:spcPts val="0"/>
                        </a:spcBef>
                        <a:spcAft>
                          <a:spcPts val="0"/>
                        </a:spcAft>
                      </a:pPr>
                      <a:r>
                        <a:rPr sz="1300" b="0">
                          <a:solidFill>
                            <a:srgbClr val="1F1F1F"/>
                          </a:solidFill>
                          <a:latin typeface="Calibri"/>
                        </a:rPr>
                        <a:t>conforme ICVM 489.</a:t>
                      </a:r>
                    </a:p>
                    <a:p>
                      <a:pPr algn="l">
                        <a:lnSpc>
                          <a:spcPct val="100000"/>
                        </a:lnSpc>
                        <a:spcBef>
                          <a:spcPts val="0"/>
                        </a:spcBef>
                        <a:spcAft>
                          <a:spcPts val="0"/>
                        </a:spcAft>
                      </a:pPr>
                      <a:r>
                        <a:rPr sz="1300" b="0">
                          <a:solidFill>
                            <a:srgbClr val="1F1F1F"/>
                          </a:solidFill>
                          <a:latin typeface="Calibri"/>
                        </a:rPr>
                        <a:t>Provisões reduzem o</a:t>
                      </a:r>
                    </a:p>
                    <a:p>
                      <a:pPr algn="l">
                        <a:lnSpc>
                          <a:spcPct val="100000"/>
                        </a:lnSpc>
                        <a:spcBef>
                          <a:spcPts val="0"/>
                        </a:spcBef>
                        <a:spcAft>
                          <a:spcPts val="0"/>
                        </a:spcAft>
                      </a:pPr>
                      <a:r>
                        <a:rPr sz="1300" b="0">
                          <a:solidFill>
                            <a:srgbClr val="1F1F1F"/>
                          </a:solidFill>
                          <a:latin typeface="Calibri"/>
                        </a:rPr>
                        <a:t>saldo; perdas do mesmo</a:t>
                      </a:r>
                    </a:p>
                    <a:p>
                      <a:pPr algn="l">
                        <a:lnSpc>
                          <a:spcPct val="100000"/>
                        </a:lnSpc>
                        <a:spcBef>
                          <a:spcPts val="0"/>
                        </a:spcBef>
                        <a:spcAft>
                          <a:spcPts val="0"/>
                        </a:spcAft>
                      </a:pPr>
                      <a:r>
                        <a:rPr sz="1300" b="0">
                          <a:solidFill>
                            <a:srgbClr val="1F1F1F"/>
                          </a:solidFill>
                          <a:latin typeface="Calibri"/>
                        </a:rPr>
                        <a:t>devedor seguem o</a:t>
                      </a:r>
                    </a:p>
                    <a:p>
                      <a:pPr algn="l">
                        <a:lnSpc>
                          <a:spcPct val="100000"/>
                        </a:lnSpc>
                        <a:spcBef>
                          <a:spcPts val="0"/>
                        </a:spcBef>
                        <a:spcAft>
                          <a:spcPts val="0"/>
                        </a:spcAft>
                      </a:pPr>
                      <a:r>
                        <a:rPr sz="1300" b="0">
                          <a:solidFill>
                            <a:srgbClr val="1F1F1F"/>
                          </a:solidFill>
                          <a:latin typeface="Calibri"/>
                        </a:rPr>
                        <a:t>art.13, admitida</a:t>
                      </a:r>
                    </a:p>
                    <a:p>
                      <a:pPr algn="l">
                        <a:lnSpc>
                          <a:spcPct val="100000"/>
                        </a:lnSpc>
                        <a:spcBef>
                          <a:spcPts val="0"/>
                        </a:spcBef>
                        <a:spcAft>
                          <a:spcPts val="0"/>
                        </a:spcAft>
                      </a:pPr>
                      <a:r>
                        <a:rPr sz="1300" b="0">
                          <a:solidFill>
                            <a:srgbClr val="1F1F1F"/>
                          </a:solidFill>
                          <a:latin typeface="Calibri"/>
                        </a:rPr>
                        <a:t>análise</a:t>
                      </a:r>
                    </a:p>
                    <a:p>
                      <a:pPr algn="l">
                        <a:lnSpc>
                          <a:spcPct val="100000"/>
                        </a:lnSpc>
                        <a:spcBef>
                          <a:spcPts val="0"/>
                        </a:spcBef>
                        <a:spcAft>
                          <a:spcPts val="0"/>
                        </a:spcAft>
                      </a:pPr>
                      <a:r>
                        <a:rPr sz="1300" b="0">
                          <a:solidFill>
                            <a:srgbClr val="1F1F1F"/>
                          </a:solidFill>
                          <a:latin typeface="Calibri"/>
                        </a:rPr>
                        <a:t>individualizada.</a:t>
                      </a:r>
                    </a:p>
                    <a:p>
                      <a:pPr algn="l">
                        <a:lnSpc>
                          <a:spcPct val="100000"/>
                        </a:lnSpc>
                        <a:spcBef>
                          <a:spcPts val="0"/>
                        </a:spcBef>
                        <a:spcAft>
                          <a:spcPts val="0"/>
                        </a:spcAft>
                      </a:pPr>
                      <a:r>
                        <a:rPr sz="1300" b="0">
                          <a:solidFill>
                            <a:srgbClr val="1F1F1F"/>
                          </a:solidFill>
                          <a:latin typeface="Calibri"/>
                        </a:rPr>
                        <a:t>IME 08/2026 ·</a:t>
                      </a:r>
                    </a:p>
                    <a:p>
                      <a:pPr algn="l">
                        <a:lnSpc>
                          <a:spcPct val="100000"/>
                        </a:lnSpc>
                        <a:spcBef>
                          <a:spcPts val="0"/>
                        </a:spcBef>
                        <a:spcAft>
                          <a:spcPts val="0"/>
                        </a:spcAft>
                      </a:pPr>
                      <a:r>
                        <a:rPr sz="1300" b="0">
                          <a:solidFill>
                            <a:srgbClr val="1F1F1F"/>
                          </a:solidFill>
                          <a:latin typeface="Calibri"/>
                        </a:rPr>
                        <a:t>Referência agregada:</a:t>
                      </a:r>
                    </a:p>
                    <a:p>
                      <a:pPr algn="l">
                        <a:lnSpc>
                          <a:spcPct val="100000"/>
                        </a:lnSpc>
                        <a:spcBef>
                          <a:spcPts val="0"/>
                        </a:spcBef>
                        <a:spcAft>
                          <a:spcPts val="0"/>
                        </a:spcAft>
                      </a:pPr>
                      <a:r>
                        <a:rPr sz="1300" b="0">
                          <a:solidFill>
                            <a:srgbClr val="1F1F1F"/>
                          </a:solidFill>
                          <a:latin typeface="Calibri"/>
                        </a:rPr>
                        <a:t>19,01% · Comparação não</a:t>
                      </a:r>
                    </a:p>
                    <a:p>
                      <a:pPr algn="l">
                        <a:lnSpc>
                          <a:spcPct val="100000"/>
                        </a:lnSpc>
                        <a:spcBef>
                          <a:spcPts val="0"/>
                        </a:spcBef>
                        <a:spcAft>
                          <a:spcPts val="0"/>
                        </a:spcAft>
                      </a:pPr>
                      <a:r>
                        <a:rPr sz="1300" b="0">
                          <a:solidFill>
                            <a:srgbClr val="1F1F1F"/>
                          </a:solidFill>
                          <a:latin typeface="Calibri"/>
                        </a:rPr>
                        <a:t>reproduzível</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Cotas</a:t>
                      </a:r>
                    </a:p>
                    <a:p>
                      <a:pPr algn="l">
                        <a:lnSpc>
                          <a:spcPct val="100000"/>
                        </a:lnSpc>
                        <a:spcBef>
                          <a:spcPts val="0"/>
                        </a:spcBef>
                        <a:spcAft>
                          <a:spcPts val="0"/>
                        </a:spcAft>
                      </a:pPr>
                      <a:r>
                        <a:rPr sz="1300" b="0">
                          <a:solidFill>
                            <a:srgbClr val="1F1F1F"/>
                          </a:solidFill>
                          <a:latin typeface="Calibri"/>
                        </a:rPr>
                        <a:t>investidas/liquidez</a:t>
                      </a:r>
                    </a:p>
                    <a:p>
                      <a:pPr algn="l">
                        <a:lnSpc>
                          <a:spcPct val="100000"/>
                        </a:lnSpc>
                        <a:spcBef>
                          <a:spcPts val="0"/>
                        </a:spcBef>
                        <a:spcAft>
                          <a:spcPts val="0"/>
                        </a:spcAft>
                      </a:pPr>
                      <a:r>
                        <a:rPr sz="1300" b="0">
                          <a:solidFill>
                            <a:srgbClr val="1F1F1F"/>
                          </a:solidFill>
                          <a:latin typeface="Calibri"/>
                        </a:rPr>
                        <a:t>avaliadas diariamente</a:t>
                      </a:r>
                    </a:p>
                    <a:p>
                      <a:pPr algn="l">
                        <a:lnSpc>
                          <a:spcPct val="100000"/>
                        </a:lnSpc>
                        <a:spcBef>
                          <a:spcPts val="0"/>
                        </a:spcBef>
                        <a:spcAft>
                          <a:spcPts val="0"/>
                        </a:spcAft>
                      </a:pPr>
                      <a:r>
                        <a:rPr sz="1300" b="0">
                          <a:solidFill>
                            <a:srgbClr val="1F1F1F"/>
                          </a:solidFill>
                          <a:latin typeface="Calibri"/>
                        </a:rPr>
                        <a:t>pelo manual do</a:t>
                      </a:r>
                    </a:p>
                    <a:p>
                      <a:pPr algn="l">
                        <a:lnSpc>
                          <a:spcPct val="100000"/>
                        </a:lnSpc>
                        <a:spcBef>
                          <a:spcPts val="0"/>
                        </a:spcBef>
                        <a:spcAft>
                          <a:spcPts val="0"/>
                        </a:spcAft>
                      </a:pPr>
                      <a:r>
                        <a:rPr sz="1300" b="0">
                          <a:solidFill>
                            <a:srgbClr val="1F1F1F"/>
                          </a:solidFill>
                          <a:latin typeface="Calibri"/>
                        </a:rPr>
                        <a:t>administrador. PDD e</a:t>
                      </a:r>
                    </a:p>
                    <a:p>
                      <a:pPr algn="l">
                        <a:lnSpc>
                          <a:spcPct val="100000"/>
                        </a:lnSpc>
                        <a:spcBef>
                          <a:spcPts val="0"/>
                        </a:spcBef>
                        <a:spcAft>
                          <a:spcPts val="0"/>
                        </a:spcAft>
                      </a:pPr>
                      <a:r>
                        <a:rPr sz="1300" b="0">
                          <a:solidFill>
                            <a:srgbClr val="1F1F1F"/>
                          </a:solidFill>
                          <a:latin typeface="Calibri"/>
                        </a:rPr>
                        <a:t>perdas conforme sua</a:t>
                      </a:r>
                    </a:p>
                    <a:p>
                      <a:pPr algn="l">
                        <a:lnSpc>
                          <a:spcPct val="100000"/>
                        </a:lnSpc>
                        <a:spcBef>
                          <a:spcPts val="0"/>
                        </a:spcBef>
                        <a:spcAft>
                          <a:spcPts val="0"/>
                        </a:spcAft>
                      </a:pPr>
                      <a:r>
                        <a:rPr sz="1300" b="0">
                          <a:solidFill>
                            <a:srgbClr val="1F1F1F"/>
                          </a:solidFill>
                          <a:latin typeface="Calibri"/>
                        </a:rPr>
                        <a:t>política e ICVM 489</a:t>
                      </a:r>
                    </a:p>
                    <a:p>
                      <a:pPr algn="l">
                        <a:lnSpc>
                          <a:spcPct val="100000"/>
                        </a:lnSpc>
                        <a:spcBef>
                          <a:spcPts val="0"/>
                        </a:spcBef>
                        <a:spcAft>
                          <a:spcPts val="0"/>
                        </a:spcAft>
                      </a:pPr>
                      <a:r>
                        <a:rPr sz="1300" b="0">
                          <a:solidFill>
                            <a:srgbClr val="1F1F1F"/>
                          </a:solidFill>
                          <a:latin typeface="Calibri"/>
                        </a:rPr>
                        <a:t>reduzem o saldo desses</a:t>
                      </a:r>
                    </a:p>
                    <a:p>
                      <a:pPr algn="l">
                        <a:lnSpc>
                          <a:spcPct val="100000"/>
                        </a:lnSpc>
                        <a:spcBef>
                          <a:spcPts val="0"/>
                        </a:spcBef>
                        <a:spcAft>
                          <a:spcPts val="0"/>
                        </a:spcAft>
                      </a:pPr>
                      <a:r>
                        <a:rPr sz="1300" b="0">
                          <a:solidFill>
                            <a:srgbClr val="1F1F1F"/>
                          </a:solidFill>
                          <a:latin typeface="Calibri"/>
                        </a:rPr>
                        <a:t>ativos; art.13 orienta</a:t>
                      </a:r>
                    </a:p>
                    <a:p>
                      <a:pPr algn="l">
                        <a:lnSpc>
                          <a:spcPct val="100000"/>
                        </a:lnSpc>
                        <a:spcBef>
                          <a:spcPts val="0"/>
                        </a:spcBef>
                        <a:spcAft>
                          <a:spcPts val="0"/>
                        </a:spcAft>
                      </a:pPr>
                      <a:r>
                        <a:rPr sz="1300" b="0">
                          <a:solidFill>
                            <a:srgbClr val="1F1F1F"/>
                          </a:solidFill>
                          <a:latin typeface="Calibri"/>
                        </a:rPr>
                        <a:t>a avaliação das perdas.</a:t>
                      </a:r>
                    </a:p>
                    <a:p>
                      <a:pPr algn="l">
                        <a:lnSpc>
                          <a:spcPct val="100000"/>
                        </a:lnSpc>
                        <a:spcBef>
                          <a:spcPts val="0"/>
                        </a:spcBef>
                        <a:spcAft>
                          <a:spcPts val="0"/>
                        </a:spcAft>
                      </a:pPr>
                      <a:r>
                        <a:rPr sz="1300" b="0">
                          <a:solidFill>
                            <a:srgbClr val="1F1F1F"/>
                          </a:solidFill>
                          <a:latin typeface="Calibri"/>
                        </a:rPr>
                        <a:t>IME 08/2026 ·</a:t>
                      </a:r>
                    </a:p>
                    <a:p>
                      <a:pPr algn="l">
                        <a:lnSpc>
                          <a:spcPct val="100000"/>
                        </a:lnSpc>
                        <a:spcBef>
                          <a:spcPts val="0"/>
                        </a:spcBef>
                        <a:spcAft>
                          <a:spcPts val="0"/>
                        </a:spcAft>
                      </a:pPr>
                      <a:r>
                        <a:rPr sz="1300" b="0">
                          <a:solidFill>
                            <a:srgbClr val="1F1F1F"/>
                          </a:solidFill>
                          <a:latin typeface="Calibri"/>
                        </a:rPr>
                        <a:t>Comparação não</a:t>
                      </a:r>
                    </a:p>
                    <a:p>
                      <a:pPr algn="l">
                        <a:lnSpc>
                          <a:spcPct val="100000"/>
                        </a:lnSpc>
                        <a:spcBef>
                          <a:spcPts val="0"/>
                        </a:spcBef>
                        <a:spcAft>
                          <a:spcPts val="0"/>
                        </a:spcAft>
                      </a:pPr>
                      <a:r>
                        <a:rPr sz="1300" b="0">
                          <a:solidFill>
                            <a:srgbClr val="1F1F1F"/>
                          </a:solidFill>
                          <a:latin typeface="Calibri"/>
                        </a:rPr>
                        <a:t>reproduzível</a:t>
                      </a:r>
                    </a:p>
                  </a:txBody>
                  <a:tcPr marL="91440" marR="91440" marT="41148" marB="41148" anchor="ctr">
                    <a:solidFill>
                      <a:srgbClr val="FFFFFF"/>
                    </a:solidFill>
                    <a:lnL>
                      <a:noFill/>
                    </a:lnL>
                    <a:lnR>
                      <a:noFill/>
                    </a:lnR>
                    <a:lnT>
                      <a:noFill/>
                    </a:lnT>
                    <a:lnB>
                      <a:noFill/>
                    </a:lnB>
                  </a:tcPr>
                </a:tc>
              </a:tr>
              <a:tr h="470916">
                <a:tc>
                  <a:txBody>
                    <a:bodyPr wrap="square">
                      <a:noAutofit/>
                    </a:bodyPr>
                    <a:lstStyle/>
                    <a:p>
                      <a:pPr algn="l">
                        <a:lnSpc>
                          <a:spcPct val="100000"/>
                        </a:lnSpc>
                        <a:spcBef>
                          <a:spcPts val="0"/>
                        </a:spcBef>
                        <a:spcAft>
                          <a:spcPts val="0"/>
                        </a:spcAft>
                      </a:pPr>
                      <a:r>
                        <a:rPr sz="1300" b="1">
                          <a:solidFill>
                            <a:srgbClr val="1F1F1F"/>
                          </a:solidFill>
                          <a:latin typeface="Calibri"/>
                        </a:rPr>
                        <a:t>Gatilhos de atraso e</a:t>
                      </a:r>
                    </a:p>
                    <a:p>
                      <a:pPr algn="l">
                        <a:lnSpc>
                          <a:spcPct val="100000"/>
                        </a:lnSpc>
                        <a:spcBef>
                          <a:spcPts val="0"/>
                        </a:spcBef>
                        <a:spcAft>
                          <a:spcPts val="0"/>
                        </a:spcAft>
                      </a:pPr>
                      <a:r>
                        <a:rPr sz="1300" b="1">
                          <a:solidFill>
                            <a:srgbClr val="1F1F1F"/>
                          </a:solidFill>
                          <a:latin typeface="Calibri"/>
                        </a:rPr>
                        <a:t>rolagem</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a:noFill/>
                    </a:lnB>
                  </a:tcPr>
                </a:tc>
              </a:tr>
              <a:tr h="470916">
                <a:tc>
                  <a:txBody>
                    <a:bodyPr wrap="square">
                      <a:noAutofit/>
                    </a:bodyPr>
                    <a:lstStyle/>
                    <a:p>
                      <a:pPr algn="l">
                        <a:lnSpc>
                          <a:spcPct val="100000"/>
                        </a:lnSpc>
                        <a:spcBef>
                          <a:spcPts val="0"/>
                        </a:spcBef>
                        <a:spcAft>
                          <a:spcPts val="0"/>
                        </a:spcAft>
                      </a:pPr>
                      <a:r>
                        <a:rPr sz="1300" b="1">
                          <a:solidFill>
                            <a:srgbClr val="1F1F1F"/>
                          </a:solidFill>
                          <a:latin typeface="Calibri"/>
                        </a:rPr>
                        <a:t>Diluição, cancelamento e</a:t>
                      </a:r>
                    </a:p>
                    <a:p>
                      <a:pPr algn="l">
                        <a:lnSpc>
                          <a:spcPct val="100000"/>
                        </a:lnSpc>
                        <a:spcBef>
                          <a:spcPts val="0"/>
                        </a:spcBef>
                        <a:spcAft>
                          <a:spcPts val="0"/>
                        </a:spcAft>
                      </a:pPr>
                      <a:r>
                        <a:rPr sz="1300" b="1">
                          <a:solidFill>
                            <a:srgbClr val="1F1F1F"/>
                          </a:solidFill>
                          <a:latin typeface="Calibri"/>
                        </a:rPr>
                        <a:t>chargeback</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38/160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Qualidade da carteira</a:t>
            </a:r>
          </a:p>
        </p:txBody>
      </p:sp>
      <p:graphicFrame>
        <p:nvGraphicFramePr>
          <p:cNvPr id="3" name="Table 2"/>
          <p:cNvGraphicFramePr>
            <a:graphicFrameLocks noGrp="1"/>
          </p:cNvGraphicFramePr>
          <p:nvPr/>
        </p:nvGraphicFramePr>
        <p:xfrm>
          <a:off x="438912" y="932688"/>
          <a:ext cx="11313868" cy="5253228"/>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4782312">
                <a:tc>
                  <a:txBody>
                    <a:bodyPr wrap="square">
                      <a:noAutofit/>
                    </a:bodyPr>
                    <a:lstStyle/>
                    <a:p>
                      <a:pPr algn="l">
                        <a:lnSpc>
                          <a:spcPct val="100000"/>
                        </a:lnSpc>
                        <a:spcBef>
                          <a:spcPts val="0"/>
                        </a:spcBef>
                        <a:spcAft>
                          <a:spcPts val="0"/>
                        </a:spcAft>
                      </a:pPr>
                      <a:r>
                        <a:rPr sz="1300" b="1">
                          <a:solidFill>
                            <a:srgbClr val="1F1F1F"/>
                          </a:solidFill>
                          <a:latin typeface="Calibri"/>
                        </a:rPr>
                        <a:t>Recompra e indenização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4.12 Os recursos</a:t>
                      </a:r>
                    </a:p>
                    <a:p>
                      <a:pPr algn="l">
                        <a:lnSpc>
                          <a:spcPct val="100000"/>
                        </a:lnSpc>
                        <a:spcBef>
                          <a:spcPts val="0"/>
                        </a:spcBef>
                        <a:spcAft>
                          <a:spcPts val="0"/>
                        </a:spcAft>
                      </a:pPr>
                      <a:r>
                        <a:rPr sz="1300" b="0">
                          <a:solidFill>
                            <a:srgbClr val="1F1F1F"/>
                          </a:solidFill>
                          <a:latin typeface="Calibri"/>
                        </a:rPr>
                        <a:t>recebidos pela Classe</a:t>
                      </a:r>
                    </a:p>
                    <a:p>
                      <a:pPr algn="l">
                        <a:lnSpc>
                          <a:spcPct val="100000"/>
                        </a:lnSpc>
                        <a:spcBef>
                          <a:spcPts val="0"/>
                        </a:spcBef>
                        <a:spcAft>
                          <a:spcPts val="0"/>
                        </a:spcAft>
                      </a:pPr>
                      <a:r>
                        <a:rPr sz="1300" b="0">
                          <a:solidFill>
                            <a:srgbClr val="1F1F1F"/>
                          </a:solidFill>
                          <a:latin typeface="Calibri"/>
                        </a:rPr>
                        <a:t>em razão da liquidação</a:t>
                      </a:r>
                    </a:p>
                    <a:p>
                      <a:pPr algn="l">
                        <a:lnSpc>
                          <a:spcPct val="100000"/>
                        </a:lnSpc>
                        <a:spcBef>
                          <a:spcPts val="0"/>
                        </a:spcBef>
                        <a:spcAft>
                          <a:spcPts val="0"/>
                        </a:spcAft>
                      </a:pPr>
                      <a:r>
                        <a:rPr sz="1300" b="0">
                          <a:solidFill>
                            <a:srgbClr val="1F1F1F"/>
                          </a:solidFill>
                          <a:latin typeface="Calibri"/>
                        </a:rPr>
                        <a:t>dos Direitos</a:t>
                      </a:r>
                    </a:p>
                    <a:p>
                      <a:pPr algn="l">
                        <a:lnSpc>
                          <a:spcPct val="100000"/>
                        </a:lnSpc>
                        <a:spcBef>
                          <a:spcPts val="0"/>
                        </a:spcBef>
                        <a:spcAft>
                          <a:spcPts val="0"/>
                        </a:spcAft>
                      </a:pPr>
                      <a:r>
                        <a:rPr sz="1300" b="0">
                          <a:solidFill>
                            <a:srgbClr val="1F1F1F"/>
                          </a:solidFill>
                          <a:latin typeface="Calibri"/>
                        </a:rPr>
                        <a:t>Creditórios, a qualquer</a:t>
                      </a:r>
                    </a:p>
                    <a:p>
                      <a:pPr algn="l">
                        <a:lnSpc>
                          <a:spcPct val="100000"/>
                        </a:lnSpc>
                        <a:spcBef>
                          <a:spcPts val="0"/>
                        </a:spcBef>
                        <a:spcAft>
                          <a:spcPts val="0"/>
                        </a:spcAft>
                      </a:pPr>
                      <a:r>
                        <a:rPr sz="1300" b="0">
                          <a:solidFill>
                            <a:srgbClr val="1F1F1F"/>
                          </a:solidFill>
                          <a:latin typeface="Calibri"/>
                        </a:rPr>
                        <a:t>título, incluindo</a:t>
                      </a:r>
                    </a:p>
                    <a:p>
                      <a:pPr algn="l">
                        <a:lnSpc>
                          <a:spcPct val="100000"/>
                        </a:lnSpc>
                        <a:spcBef>
                          <a:spcPts val="0"/>
                        </a:spcBef>
                        <a:spcAft>
                          <a:spcPts val="0"/>
                        </a:spcAft>
                      </a:pPr>
                      <a:r>
                        <a:rPr sz="1300" b="0">
                          <a:solidFill>
                            <a:srgbClr val="1F1F1F"/>
                          </a:solidFill>
                          <a:latin typeface="Calibri"/>
                        </a:rPr>
                        <a:t>pagamento regular ou</a:t>
                      </a:r>
                    </a:p>
                    <a:p>
                      <a:pPr algn="l">
                        <a:lnSpc>
                          <a:spcPct val="100000"/>
                        </a:lnSpc>
                        <a:spcBef>
                          <a:spcPts val="0"/>
                        </a:spcBef>
                        <a:spcAft>
                          <a:spcPts val="0"/>
                        </a:spcAft>
                      </a:pPr>
                      <a:r>
                        <a:rPr sz="1300" b="0">
                          <a:solidFill>
                            <a:srgbClr val="1F1F1F"/>
                          </a:solidFill>
                          <a:latin typeface="Calibri"/>
                        </a:rPr>
                        <a:t>por excussão de</a:t>
                      </a:r>
                    </a:p>
                    <a:p>
                      <a:pPr algn="l">
                        <a:lnSpc>
                          <a:spcPct val="100000"/>
                        </a:lnSpc>
                        <a:spcBef>
                          <a:spcPts val="0"/>
                        </a:spcBef>
                        <a:spcAft>
                          <a:spcPts val="0"/>
                        </a:spcAft>
                      </a:pPr>
                      <a:r>
                        <a:rPr sz="1300" b="0">
                          <a:solidFill>
                            <a:srgbClr val="1F1F1F"/>
                          </a:solidFill>
                          <a:latin typeface="Calibri"/>
                        </a:rPr>
                        <a:t>garantia, alienação,</a:t>
                      </a:r>
                    </a:p>
                    <a:p>
                      <a:pPr algn="l">
                        <a:lnSpc>
                          <a:spcPct val="100000"/>
                        </a:lnSpc>
                        <a:spcBef>
                          <a:spcPts val="0"/>
                        </a:spcBef>
                        <a:spcAft>
                          <a:spcPts val="0"/>
                        </a:spcAft>
                      </a:pPr>
                      <a:r>
                        <a:rPr sz="1300" b="0">
                          <a:solidFill>
                            <a:srgbClr val="1F1F1F"/>
                          </a:solidFill>
                          <a:latin typeface="Calibri"/>
                        </a:rPr>
                        <a:t>recompra, indenização</a:t>
                      </a:r>
                    </a:p>
                    <a:p>
                      <a:pPr algn="l">
                        <a:lnSpc>
                          <a:spcPct val="100000"/>
                        </a:lnSpc>
                        <a:spcBef>
                          <a:spcPts val="0"/>
                        </a:spcBef>
                        <a:spcAft>
                          <a:spcPts val="0"/>
                        </a:spcAft>
                      </a:pPr>
                      <a:r>
                        <a:rPr sz="1300" b="0">
                          <a:solidFill>
                            <a:srgbClr val="1F1F1F"/>
                          </a:solidFill>
                          <a:latin typeface="Calibri"/>
                        </a:rPr>
                        <a:t>pelo Cedente e/ou</a:t>
                      </a:r>
                    </a:p>
                    <a:p>
                      <a:pPr algn="l">
                        <a:lnSpc>
                          <a:spcPct val="100000"/>
                        </a:lnSpc>
                        <a:spcBef>
                          <a:spcPts val="0"/>
                        </a:spcBef>
                        <a:spcAft>
                          <a:spcPts val="0"/>
                        </a:spcAft>
                      </a:pPr>
                      <a:r>
                        <a:rPr sz="1300" b="0">
                          <a:solidFill>
                            <a:srgbClr val="1F1F1F"/>
                          </a:solidFill>
                          <a:latin typeface="Calibri"/>
                        </a:rPr>
                        <a:t>desinvestimento de</a:t>
                      </a:r>
                    </a:p>
                    <a:p>
                      <a:pPr algn="l">
                        <a:lnSpc>
                          <a:spcPct val="100000"/>
                        </a:lnSpc>
                        <a:spcBef>
                          <a:spcPts val="0"/>
                        </a:spcBef>
                        <a:spcAft>
                          <a:spcPts val="0"/>
                        </a:spcAft>
                      </a:pPr>
                      <a:r>
                        <a:rPr sz="1300" b="0">
                          <a:solidFill>
                            <a:srgbClr val="1F1F1F"/>
                          </a:solidFill>
                          <a:latin typeface="Calibri"/>
                        </a:rPr>
                        <a:t>Ativo Recuperado, serão</a:t>
                      </a:r>
                    </a:p>
                    <a:p>
                      <a:pPr algn="l">
                        <a:lnSpc>
                          <a:spcPct val="100000"/>
                        </a:lnSpc>
                        <a:spcBef>
                          <a:spcPts val="0"/>
                        </a:spcBef>
                        <a:spcAft>
                          <a:spcPts val="0"/>
                        </a:spcAft>
                      </a:pPr>
                      <a:r>
                        <a:rPr sz="1300" b="0">
                          <a:solidFill>
                            <a:srgbClr val="1F1F1F"/>
                          </a:solidFill>
                          <a:latin typeface="Calibri"/>
                        </a:rPr>
                        <a:t>destinados a aquisição</a:t>
                      </a:r>
                    </a:p>
                    <a:p>
                      <a:pPr algn="l">
                        <a:lnSpc>
                          <a:spcPct val="100000"/>
                        </a:lnSpc>
                        <a:spcBef>
                          <a:spcPts val="0"/>
                        </a:spcBef>
                        <a:spcAft>
                          <a:spcPts val="0"/>
                        </a:spcAft>
                      </a:pPr>
                      <a:r>
                        <a:rPr sz="1300" b="0">
                          <a:solidFill>
                            <a:srgbClr val="1F1F1F"/>
                          </a:solidFill>
                          <a:latin typeface="Calibri"/>
                        </a:rPr>
                        <a:t>de Direitos Creditórios</a:t>
                      </a:r>
                    </a:p>
                    <a:p>
                      <a:pPr algn="l">
                        <a:lnSpc>
                          <a:spcPct val="100000"/>
                        </a:lnSpc>
                        <a:spcBef>
                          <a:spcPts val="0"/>
                        </a:spcBef>
                        <a:spcAft>
                          <a:spcPts val="0"/>
                        </a:spcAft>
                      </a:pPr>
                      <a:r>
                        <a:rPr sz="1300" b="0">
                          <a:solidFill>
                            <a:srgbClr val="1F1F1F"/>
                          </a:solidFill>
                          <a:latin typeface="Calibri"/>
                        </a:rPr>
                        <a:t>até o montante de R$</a:t>
                      </a:r>
                    </a:p>
                    <a:p>
                      <a:pPr algn="l">
                        <a:lnSpc>
                          <a:spcPct val="100000"/>
                        </a:lnSpc>
                        <a:spcBef>
                          <a:spcPts val="0"/>
                        </a:spcBef>
                        <a:spcAft>
                          <a:spcPts val="0"/>
                        </a:spcAft>
                      </a:pPr>
                      <a:r>
                        <a:rPr sz="1300" b="0">
                          <a:solidFill>
                            <a:srgbClr val="1F1F1F"/>
                          </a:solidFill>
                          <a:latin typeface="Calibri"/>
                        </a:rPr>
                        <a:t>250.000.000,00</a:t>
                      </a:r>
                    </a:p>
                    <a:p>
                      <a:pPr algn="l">
                        <a:lnSpc>
                          <a:spcPct val="100000"/>
                        </a:lnSpc>
                        <a:spcBef>
                          <a:spcPts val="0"/>
                        </a:spcBef>
                        <a:spcAft>
                          <a:spcPts val="0"/>
                        </a:spcAft>
                      </a:pPr>
                      <a:r>
                        <a:rPr sz="1300" b="0">
                          <a:solidFill>
                            <a:srgbClr val="1F1F1F"/>
                          </a:solidFill>
                          <a:latin typeface="Calibri"/>
                        </a:rPr>
                        <a:t>(duzentos e cinquenta</a:t>
                      </a:r>
                    </a:p>
                    <a:p>
                      <a:pPr algn="l">
                        <a:lnSpc>
                          <a:spcPct val="100000"/>
                        </a:lnSpc>
                        <a:spcBef>
                          <a:spcPts val="0"/>
                        </a:spcBef>
                        <a:spcAft>
                          <a:spcPts val="0"/>
                        </a:spcAft>
                      </a:pPr>
                      <a:r>
                        <a:rPr sz="1300" b="0">
                          <a:solidFill>
                            <a:srgbClr val="1F1F1F"/>
                          </a:solidFill>
                          <a:latin typeface="Calibri"/>
                        </a:rPr>
                        <a:t>milhões de reais),</a:t>
                      </a:r>
                    </a:p>
                    <a:p>
                      <a:pPr algn="l">
                        <a:lnSpc>
                          <a:spcPct val="100000"/>
                        </a:lnSpc>
                        <a:spcBef>
                          <a:spcPts val="0"/>
                        </a:spcBef>
                        <a:spcAft>
                          <a:spcPts val="0"/>
                        </a:spcAft>
                      </a:pPr>
                      <a:r>
                        <a:rPr sz="1300" b="0">
                          <a:solidFill>
                            <a:srgbClr val="1F1F1F"/>
                          </a:solidFill>
                          <a:latin typeface="Calibri"/>
                        </a:rPr>
                        <a:t>sendo certo que os</a:t>
                      </a:r>
                    </a:p>
                    <a:p>
                      <a:pPr algn="l">
                        <a:lnSpc>
                          <a:spcPct val="100000"/>
                        </a:lnSpc>
                        <a:spcBef>
                          <a:spcPts val="0"/>
                        </a:spcBef>
                        <a:spcAft>
                          <a:spcPts val="0"/>
                        </a:spcAft>
                      </a:pPr>
                      <a:r>
                        <a:rPr sz="1300" b="0">
                          <a:solidFill>
                            <a:srgbClr val="1F1F1F"/>
                          </a:solidFill>
                          <a:latin typeface="Calibri"/>
                        </a:rPr>
                        <a:t>recursos recebidos pela</a:t>
                      </a:r>
                    </a:p>
                    <a:p>
                      <a:pPr algn="l">
                        <a:lnSpc>
                          <a:spcPct val="100000"/>
                        </a:lnSpc>
                        <a:spcBef>
                          <a:spcPts val="0"/>
                        </a:spcBef>
                        <a:spcAft>
                          <a:spcPts val="0"/>
                        </a:spcAft>
                      </a:pPr>
                      <a:r>
                        <a:rPr sz="1300" b="0">
                          <a:solidFill>
                            <a:srgbClr val="1F1F1F"/>
                          </a:solidFill>
                          <a:latin typeface="Calibri"/>
                        </a:rPr>
                        <a:t>Classe após a aquisição</a:t>
                      </a:r>
                    </a:p>
                    <a:p>
                      <a:pPr algn="l">
                        <a:lnSpc>
                          <a:spcPct val="100000"/>
                        </a:lnSpc>
                        <a:spcBef>
                          <a:spcPts val="0"/>
                        </a:spcBef>
                        <a:spcAft>
                          <a:spcPts val="0"/>
                        </a:spcAft>
                      </a:pPr>
                      <a:r>
                        <a:rPr sz="1300" b="0">
                          <a:solidFill>
                            <a:srgbClr val="1F1F1F"/>
                          </a:solidFill>
                          <a:latin typeface="Calibri"/>
                        </a:rPr>
                        <a:t>em tal montante não</a:t>
                      </a:r>
                    </a:p>
                    <a:p>
                      <a:pPr algn="l">
                        <a:lnSpc>
                          <a:spcPct val="100000"/>
                        </a:lnSpc>
                        <a:spcBef>
                          <a:spcPts val="0"/>
                        </a:spcBef>
                        <a:spcAft>
                          <a:spcPts val="0"/>
                        </a:spcAft>
                      </a:pPr>
                      <a:r>
                        <a:rPr sz="1300" b="0">
                          <a:solidFill>
                            <a:srgbClr val="1F1F1F"/>
                          </a:solidFill>
                          <a:latin typeface="Calibri"/>
                        </a:rPr>
                        <a:t>poderão ser destinados</a:t>
                      </a:r>
                    </a:p>
                    <a:p>
                      <a:pPr algn="l">
                        <a:lnSpc>
                          <a:spcPct val="100000"/>
                        </a:lnSpc>
                        <a:spcBef>
                          <a:spcPts val="0"/>
                        </a:spcBef>
                        <a:spcAft>
                          <a:spcPts val="0"/>
                        </a:spcAft>
                      </a:pPr>
                      <a:r>
                        <a:rPr sz="1300" b="0">
                          <a:solidFill>
                            <a:srgbClr val="1F1F1F"/>
                          </a:solidFill>
                          <a:latin typeface="Calibri"/>
                        </a:rPr>
                        <a:t>à aquisição pela Classe</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Para evitar qualquer</a:t>
                      </a:r>
                    </a:p>
                    <a:p>
                      <a:pPr algn="l">
                        <a:lnSpc>
                          <a:spcPct val="100000"/>
                        </a:lnSpc>
                        <a:spcBef>
                          <a:spcPts val="0"/>
                        </a:spcBef>
                        <a:spcAft>
                          <a:spcPts val="0"/>
                        </a:spcAft>
                      </a:pPr>
                      <a:r>
                        <a:rPr sz="1300" b="0">
                          <a:solidFill>
                            <a:srgbClr val="1F1F1F"/>
                          </a:solidFill>
                          <a:latin typeface="Calibri"/>
                        </a:rPr>
                        <a:t>dúvida, as Partes</a:t>
                      </a:r>
                    </a:p>
                    <a:p>
                      <a:pPr algn="l">
                        <a:lnSpc>
                          <a:spcPct val="100000"/>
                        </a:lnSpc>
                        <a:spcBef>
                          <a:spcPts val="0"/>
                        </a:spcBef>
                        <a:spcAft>
                          <a:spcPts val="0"/>
                        </a:spcAft>
                      </a:pPr>
                      <a:r>
                        <a:rPr sz="1300" b="0">
                          <a:solidFill>
                            <a:srgbClr val="1F1F1F"/>
                          </a:solidFill>
                          <a:latin typeface="Calibri"/>
                        </a:rPr>
                        <a:t>concordam que a</a:t>
                      </a:r>
                    </a:p>
                    <a:p>
                      <a:pPr algn="l">
                        <a:lnSpc>
                          <a:spcPct val="100000"/>
                        </a:lnSpc>
                        <a:spcBef>
                          <a:spcPts val="0"/>
                        </a:spcBef>
                        <a:spcAft>
                          <a:spcPts val="0"/>
                        </a:spcAft>
                      </a:pPr>
                      <a:r>
                        <a:rPr sz="1300" b="0">
                          <a:solidFill>
                            <a:srgbClr val="1F1F1F"/>
                          </a:solidFill>
                          <a:latin typeface="Calibri"/>
                        </a:rPr>
                        <a:t>remuneração</a:t>
                      </a:r>
                    </a:p>
                    <a:p>
                      <a:pPr algn="l">
                        <a:lnSpc>
                          <a:spcPct val="100000"/>
                        </a:lnSpc>
                        <a:spcBef>
                          <a:spcPts val="0"/>
                        </a:spcBef>
                        <a:spcAft>
                          <a:spcPts val="0"/>
                        </a:spcAft>
                      </a:pPr>
                      <a:r>
                        <a:rPr sz="1300" b="0">
                          <a:solidFill>
                            <a:srgbClr val="1F1F1F"/>
                          </a:solidFill>
                          <a:latin typeface="Calibri"/>
                        </a:rPr>
                        <a:t>estabelecida neste item</a:t>
                      </a:r>
                    </a:p>
                    <a:p>
                      <a:pPr algn="l">
                        <a:lnSpc>
                          <a:spcPct val="100000"/>
                        </a:lnSpc>
                        <a:spcBef>
                          <a:spcPts val="0"/>
                        </a:spcBef>
                        <a:spcAft>
                          <a:spcPts val="0"/>
                        </a:spcAft>
                      </a:pPr>
                      <a:r>
                        <a:rPr sz="1300" b="0">
                          <a:solidFill>
                            <a:srgbClr val="1F1F1F"/>
                          </a:solidFill>
                          <a:latin typeface="Calibri"/>
                        </a:rPr>
                        <a:t>não será devida ao</a:t>
                      </a:r>
                    </a:p>
                    <a:p>
                      <a:pPr algn="l">
                        <a:lnSpc>
                          <a:spcPct val="100000"/>
                        </a:lnSpc>
                        <a:spcBef>
                          <a:spcPts val="0"/>
                        </a:spcBef>
                        <a:spcAft>
                          <a:spcPts val="0"/>
                        </a:spcAft>
                      </a:pPr>
                      <a:r>
                        <a:rPr sz="1300" b="0">
                          <a:solidFill>
                            <a:srgbClr val="1F1F1F"/>
                          </a:solidFill>
                          <a:latin typeface="Calibri"/>
                        </a:rPr>
                        <a:t>Agente de</a:t>
                      </a:r>
                    </a:p>
                    <a:p>
                      <a:pPr algn="l">
                        <a:lnSpc>
                          <a:spcPct val="100000"/>
                        </a:lnSpc>
                        <a:spcBef>
                          <a:spcPts val="0"/>
                        </a:spcBef>
                        <a:spcAft>
                          <a:spcPts val="0"/>
                        </a:spcAft>
                      </a:pPr>
                      <a:r>
                        <a:rPr sz="1300" b="0">
                          <a:solidFill>
                            <a:srgbClr val="1F1F1F"/>
                          </a:solidFill>
                          <a:latin typeface="Calibri"/>
                        </a:rPr>
                        <a:t>Retenção/Cobrança no</a:t>
                      </a:r>
                    </a:p>
                    <a:p>
                      <a:pPr algn="l">
                        <a:lnSpc>
                          <a:spcPct val="100000"/>
                        </a:lnSpc>
                        <a:spcBef>
                          <a:spcPts val="0"/>
                        </a:spcBef>
                        <a:spcAft>
                          <a:spcPts val="0"/>
                        </a:spcAft>
                      </a:pPr>
                      <a:r>
                        <a:rPr sz="1300" b="0">
                          <a:solidFill>
                            <a:srgbClr val="1F1F1F"/>
                          </a:solidFill>
                          <a:latin typeface="Calibri"/>
                        </a:rPr>
                        <a:t>caso de venda de</a:t>
                      </a:r>
                    </a:p>
                    <a:p>
                      <a:pPr algn="l">
                        <a:lnSpc>
                          <a:spcPct val="100000"/>
                        </a:lnSpc>
                        <a:spcBef>
                          <a:spcPts val="0"/>
                        </a:spcBef>
                        <a:spcAft>
                          <a:spcPts val="0"/>
                        </a:spcAft>
                      </a:pPr>
                      <a:r>
                        <a:rPr sz="1300" b="0">
                          <a:solidFill>
                            <a:srgbClr val="1F1F1F"/>
                          </a:solidFill>
                          <a:latin typeface="Calibri"/>
                        </a:rPr>
                        <a:t>Direitos Creditórios</a:t>
                      </a:r>
                    </a:p>
                    <a:p>
                      <a:pPr algn="l">
                        <a:lnSpc>
                          <a:spcPct val="100000"/>
                        </a:lnSpc>
                        <a:spcBef>
                          <a:spcPts val="0"/>
                        </a:spcBef>
                        <a:spcAft>
                          <a:spcPts val="0"/>
                        </a:spcAft>
                      </a:pPr>
                      <a:r>
                        <a:rPr sz="1300" b="0">
                          <a:solidFill>
                            <a:srgbClr val="1F1F1F"/>
                          </a:solidFill>
                          <a:latin typeface="Calibri"/>
                        </a:rPr>
                        <a:t>Elegíveis no contexto</a:t>
                      </a:r>
                    </a:p>
                    <a:p>
                      <a:pPr algn="l">
                        <a:lnSpc>
                          <a:spcPct val="100000"/>
                        </a:lnSpc>
                        <a:spcBef>
                          <a:spcPts val="0"/>
                        </a:spcBef>
                        <a:spcAft>
                          <a:spcPts val="0"/>
                        </a:spcAft>
                      </a:pPr>
                      <a:r>
                        <a:rPr sz="1300" b="0">
                          <a:solidFill>
                            <a:srgbClr val="1F1F1F"/>
                          </a:solidFill>
                          <a:latin typeface="Calibri"/>
                        </a:rPr>
                        <a:t>de uma portabilidade da</a:t>
                      </a:r>
                    </a:p>
                    <a:p>
                      <a:pPr algn="l">
                        <a:lnSpc>
                          <a:spcPct val="100000"/>
                        </a:lnSpc>
                        <a:spcBef>
                          <a:spcPts val="0"/>
                        </a:spcBef>
                        <a:spcAft>
                          <a:spcPts val="0"/>
                        </a:spcAft>
                      </a:pPr>
                      <a:r>
                        <a:rPr sz="1300" b="0">
                          <a:solidFill>
                            <a:srgbClr val="1F1F1F"/>
                          </a:solidFill>
                          <a:latin typeface="Calibri"/>
                        </a:rPr>
                        <a:t>respectiva CCB para</a:t>
                      </a:r>
                    </a:p>
                    <a:p>
                      <a:pPr algn="l">
                        <a:lnSpc>
                          <a:spcPct val="100000"/>
                        </a:lnSpc>
                        <a:spcBef>
                          <a:spcPts val="0"/>
                        </a:spcBef>
                        <a:spcAft>
                          <a:spcPts val="0"/>
                        </a:spcAft>
                      </a:pPr>
                      <a:r>
                        <a:rPr sz="1300" b="0">
                          <a:solidFill>
                            <a:srgbClr val="1F1F1F"/>
                          </a:solidFill>
                          <a:latin typeface="Calibri"/>
                        </a:rPr>
                        <a:t>outra instituição f</a:t>
                      </a:r>
                    </a:p>
                    <a:p>
                      <a:pPr algn="l">
                        <a:lnSpc>
                          <a:spcPct val="100000"/>
                        </a:lnSpc>
                        <a:spcBef>
                          <a:spcPts val="0"/>
                        </a:spcBef>
                        <a:spcAft>
                          <a:spcPts val="0"/>
                        </a:spcAft>
                      </a:pPr>
                      <a:r>
                        <a:rPr sz="1300" b="0">
                          <a:solidFill>
                            <a:srgbClr val="1F1F1F"/>
                          </a:solidFill>
                          <a:latin typeface="Calibri"/>
                        </a:rPr>
                        <a:t>inanceira, ou na</a:t>
                      </a:r>
                    </a:p>
                    <a:p>
                      <a:pPr algn="l">
                        <a:lnSpc>
                          <a:spcPct val="100000"/>
                        </a:lnSpc>
                        <a:spcBef>
                          <a:spcPts val="0"/>
                        </a:spcBef>
                        <a:spcAft>
                          <a:spcPts val="0"/>
                        </a:spcAft>
                      </a:pPr>
                      <a:r>
                        <a:rPr sz="1300" b="0">
                          <a:solidFill>
                            <a:srgbClr val="1F1F1F"/>
                          </a:solidFill>
                          <a:latin typeface="Calibri"/>
                        </a:rPr>
                        <a:t>ocorrência de um evento</a:t>
                      </a:r>
                    </a:p>
                    <a:p>
                      <a:pPr algn="l">
                        <a:lnSpc>
                          <a:spcPct val="100000"/>
                        </a:lnSpc>
                        <a:spcBef>
                          <a:spcPts val="0"/>
                        </a:spcBef>
                        <a:spcAft>
                          <a:spcPts val="0"/>
                        </a:spcAft>
                      </a:pPr>
                      <a:r>
                        <a:rPr sz="1300" b="0">
                          <a:solidFill>
                            <a:srgbClr val="1F1F1F"/>
                          </a:solidFill>
                          <a:latin typeface="Calibri"/>
                        </a:rPr>
                        <a:t>de recompra</a:t>
                      </a:r>
                    </a:p>
                    <a:p>
                      <a:pPr algn="l">
                        <a:lnSpc>
                          <a:spcPct val="100000"/>
                        </a:lnSpc>
                        <a:spcBef>
                          <a:spcPts val="0"/>
                        </a:spcBef>
                        <a:spcAft>
                          <a:spcPts val="0"/>
                        </a:spcAft>
                      </a:pPr>
                      <a:r>
                        <a:rPr sz="1300" b="0">
                          <a:solidFill>
                            <a:srgbClr val="1F1F1F"/>
                          </a:solidFill>
                          <a:latin typeface="Calibri"/>
                        </a:rPr>
                        <a:t>compulstória ou de um</a:t>
                      </a:r>
                    </a:p>
                    <a:p>
                      <a:pPr algn="l">
                        <a:lnSpc>
                          <a:spcPct val="100000"/>
                        </a:lnSpc>
                        <a:spcBef>
                          <a:spcPts val="0"/>
                        </a:spcBef>
                        <a:spcAft>
                          <a:spcPts val="0"/>
                        </a:spcAft>
                      </a:pPr>
                      <a:r>
                        <a:rPr sz="1300" b="0">
                          <a:solidFill>
                            <a:srgbClr val="1F1F1F"/>
                          </a:solidFill>
                          <a:latin typeface="Calibri"/>
                        </a:rPr>
                        <a:t>evento de opção de</a:t>
                      </a:r>
                    </a:p>
                    <a:p>
                      <a:pPr algn="l">
                        <a:lnSpc>
                          <a:spcPct val="100000"/>
                        </a:lnSpc>
                        <a:spcBef>
                          <a:spcPts val="0"/>
                        </a:spcBef>
                        <a:spcAft>
                          <a:spcPts val="0"/>
                        </a:spcAft>
                      </a:pPr>
                      <a:r>
                        <a:rPr sz="1300" b="0">
                          <a:solidFill>
                            <a:srgbClr val="1F1F1F"/>
                          </a:solidFill>
                          <a:latin typeface="Calibri"/>
                        </a:rPr>
                        <a:t>venda, de acordo com os</a:t>
                      </a:r>
                    </a:p>
                    <a:p>
                      <a:pPr algn="l">
                        <a:lnSpc>
                          <a:spcPct val="100000"/>
                        </a:lnSpc>
                        <a:spcBef>
                          <a:spcPts val="0"/>
                        </a:spcBef>
                        <a:spcAft>
                          <a:spcPts val="0"/>
                        </a:spcAft>
                      </a:pPr>
                      <a:r>
                        <a:rPr sz="1300" b="0">
                          <a:solidFill>
                            <a:srgbClr val="1F1F1F"/>
                          </a:solidFill>
                          <a:latin typeface="Calibri"/>
                        </a:rPr>
                        <a:t>termos do respectivo</a:t>
                      </a:r>
                    </a:p>
                    <a:p>
                      <a:pPr algn="l">
                        <a:lnSpc>
                          <a:spcPct val="100000"/>
                        </a:lnSpc>
                        <a:spcBef>
                          <a:spcPts val="0"/>
                        </a:spcBef>
                        <a:spcAft>
                          <a:spcPts val="0"/>
                        </a:spcAft>
                      </a:pPr>
                      <a:r>
                        <a:rPr sz="1300" b="0">
                          <a:solidFill>
                            <a:srgbClr val="1F1F1F"/>
                          </a:solidFill>
                          <a:latin typeface="Calibri"/>
                        </a:rPr>
                        <a:t>Contrato de Endosso.</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Anexo I ao Regulamento</a:t>
                      </a:r>
                    </a:p>
                    <a:p>
                      <a:pPr algn="l">
                        <a:lnSpc>
                          <a:spcPct val="100000"/>
                        </a:lnSpc>
                        <a:spcBef>
                          <a:spcPts val="0"/>
                        </a:spcBef>
                        <a:spcAft>
                          <a:spcPts val="0"/>
                        </a:spcAft>
                      </a:pPr>
                      <a:r>
                        <a:rPr sz="1300" b="0">
                          <a:solidFill>
                            <a:srgbClr val="1F1F1F"/>
                          </a:solidFill>
                          <a:latin typeface="Calibri"/>
                        </a:rPr>
                        <a:t>CLASSE ÚNICA DO MT I</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5.1 Os recursos</a:t>
                      </a:r>
                    </a:p>
                    <a:p>
                      <a:pPr algn="l">
                        <a:lnSpc>
                          <a:spcPct val="100000"/>
                        </a:lnSpc>
                        <a:spcBef>
                          <a:spcPts val="0"/>
                        </a:spcBef>
                        <a:spcAft>
                          <a:spcPts val="0"/>
                        </a:spcAft>
                      </a:pPr>
                      <a:r>
                        <a:rPr sz="1300" b="0">
                          <a:solidFill>
                            <a:srgbClr val="1F1F1F"/>
                          </a:solidFill>
                          <a:latin typeface="Calibri"/>
                        </a:rPr>
                        <a:t>recebidos pela Classe</a:t>
                      </a:r>
                    </a:p>
                    <a:p>
                      <a:pPr algn="l">
                        <a:lnSpc>
                          <a:spcPct val="100000"/>
                        </a:lnSpc>
                        <a:spcBef>
                          <a:spcPts val="0"/>
                        </a:spcBef>
                        <a:spcAft>
                          <a:spcPts val="0"/>
                        </a:spcAft>
                      </a:pPr>
                      <a:r>
                        <a:rPr sz="1300" b="0">
                          <a:solidFill>
                            <a:srgbClr val="1F1F1F"/>
                          </a:solidFill>
                          <a:latin typeface="Calibri"/>
                        </a:rPr>
                        <a:t>em razão da liquidação</a:t>
                      </a:r>
                    </a:p>
                    <a:p>
                      <a:pPr algn="l">
                        <a:lnSpc>
                          <a:spcPct val="100000"/>
                        </a:lnSpc>
                        <a:spcBef>
                          <a:spcPts val="0"/>
                        </a:spcBef>
                        <a:spcAft>
                          <a:spcPts val="0"/>
                        </a:spcAft>
                      </a:pPr>
                      <a:r>
                        <a:rPr sz="1300" b="0">
                          <a:solidFill>
                            <a:srgbClr val="1F1F1F"/>
                          </a:solidFill>
                          <a:latin typeface="Calibri"/>
                        </a:rPr>
                        <a:t>dos Direitos</a:t>
                      </a:r>
                    </a:p>
                    <a:p>
                      <a:pPr algn="l">
                        <a:lnSpc>
                          <a:spcPct val="100000"/>
                        </a:lnSpc>
                        <a:spcBef>
                          <a:spcPts val="0"/>
                        </a:spcBef>
                        <a:spcAft>
                          <a:spcPts val="0"/>
                        </a:spcAft>
                      </a:pPr>
                      <a:r>
                        <a:rPr sz="1300" b="0">
                          <a:solidFill>
                            <a:srgbClr val="1F1F1F"/>
                          </a:solidFill>
                          <a:latin typeface="Calibri"/>
                        </a:rPr>
                        <a:t>Creditórios do</a:t>
                      </a:r>
                    </a:p>
                    <a:p>
                      <a:pPr algn="l">
                        <a:lnSpc>
                          <a:spcPct val="100000"/>
                        </a:lnSpc>
                        <a:spcBef>
                          <a:spcPts val="0"/>
                        </a:spcBef>
                        <a:spcAft>
                          <a:spcPts val="0"/>
                        </a:spcAft>
                      </a:pPr>
                      <a:r>
                        <a:rPr sz="1300" b="0">
                          <a:solidFill>
                            <a:srgbClr val="1F1F1F"/>
                          </a:solidFill>
                          <a:latin typeface="Calibri"/>
                        </a:rPr>
                        <a:t>Agronegócio e/ou dos</a:t>
                      </a:r>
                    </a:p>
                    <a:p>
                      <a:pPr algn="l">
                        <a:lnSpc>
                          <a:spcPct val="100000"/>
                        </a:lnSpc>
                        <a:spcBef>
                          <a:spcPts val="0"/>
                        </a:spcBef>
                        <a:spcAft>
                          <a:spcPts val="0"/>
                        </a:spcAft>
                      </a:pPr>
                      <a:r>
                        <a:rPr sz="1300" b="0">
                          <a:solidFill>
                            <a:srgbClr val="1F1F1F"/>
                          </a:solidFill>
                          <a:latin typeface="Calibri"/>
                        </a:rPr>
                        <a:t>Outros Ativos, a</a:t>
                      </a:r>
                    </a:p>
                    <a:p>
                      <a:pPr algn="l">
                        <a:lnSpc>
                          <a:spcPct val="100000"/>
                        </a:lnSpc>
                        <a:spcBef>
                          <a:spcPts val="0"/>
                        </a:spcBef>
                        <a:spcAft>
                          <a:spcPts val="0"/>
                        </a:spcAft>
                      </a:pPr>
                      <a:r>
                        <a:rPr sz="1300" b="0">
                          <a:solidFill>
                            <a:srgbClr val="1F1F1F"/>
                          </a:solidFill>
                          <a:latin typeface="Calibri"/>
                        </a:rPr>
                        <a:t>qualquer título,</a:t>
                      </a:r>
                    </a:p>
                    <a:p>
                      <a:pPr algn="l">
                        <a:lnSpc>
                          <a:spcPct val="100000"/>
                        </a:lnSpc>
                        <a:spcBef>
                          <a:spcPts val="0"/>
                        </a:spcBef>
                        <a:spcAft>
                          <a:spcPts val="0"/>
                        </a:spcAft>
                      </a:pPr>
                      <a:r>
                        <a:rPr sz="1300" b="0">
                          <a:solidFill>
                            <a:srgbClr val="1F1F1F"/>
                          </a:solidFill>
                          <a:latin typeface="Calibri"/>
                        </a:rPr>
                        <a:t>incluindo pagamento</a:t>
                      </a:r>
                    </a:p>
                    <a:p>
                      <a:pPr algn="l">
                        <a:lnSpc>
                          <a:spcPct val="100000"/>
                        </a:lnSpc>
                        <a:spcBef>
                          <a:spcPts val="0"/>
                        </a:spcBef>
                        <a:spcAft>
                          <a:spcPts val="0"/>
                        </a:spcAft>
                      </a:pPr>
                      <a:r>
                        <a:rPr sz="1300" b="0">
                          <a:solidFill>
                            <a:srgbClr val="1F1F1F"/>
                          </a:solidFill>
                          <a:latin typeface="Calibri"/>
                        </a:rPr>
                        <a:t>regular ou por excussão</a:t>
                      </a:r>
                    </a:p>
                    <a:p>
                      <a:pPr algn="l">
                        <a:lnSpc>
                          <a:spcPct val="100000"/>
                        </a:lnSpc>
                        <a:spcBef>
                          <a:spcPts val="0"/>
                        </a:spcBef>
                        <a:spcAft>
                          <a:spcPts val="0"/>
                        </a:spcAft>
                      </a:pPr>
                      <a:r>
                        <a:rPr sz="1300" b="0">
                          <a:solidFill>
                            <a:srgbClr val="1F1F1F"/>
                          </a:solidFill>
                          <a:latin typeface="Calibri"/>
                        </a:rPr>
                        <a:t>de garantia, alienação,</a:t>
                      </a:r>
                    </a:p>
                    <a:p>
                      <a:pPr algn="l">
                        <a:lnSpc>
                          <a:spcPct val="100000"/>
                        </a:lnSpc>
                        <a:spcBef>
                          <a:spcPts val="0"/>
                        </a:spcBef>
                        <a:spcAft>
                          <a:spcPts val="0"/>
                        </a:spcAft>
                      </a:pPr>
                      <a:r>
                        <a:rPr sz="1300" b="0">
                          <a:solidFill>
                            <a:srgbClr val="1F1F1F"/>
                          </a:solidFill>
                          <a:latin typeface="Calibri"/>
                        </a:rPr>
                        <a:t>recompra, indenização</a:t>
                      </a:r>
                    </a:p>
                    <a:p>
                      <a:pPr algn="l">
                        <a:lnSpc>
                          <a:spcPct val="100000"/>
                        </a:lnSpc>
                        <a:spcBef>
                          <a:spcPts val="0"/>
                        </a:spcBef>
                        <a:spcAft>
                          <a:spcPts val="0"/>
                        </a:spcAft>
                      </a:pPr>
                      <a:r>
                        <a:rPr sz="1300" b="0">
                          <a:solidFill>
                            <a:srgbClr val="1F1F1F"/>
                          </a:solidFill>
                          <a:latin typeface="Calibri"/>
                        </a:rPr>
                        <a:t>pelo cedente e/ou</a:t>
                      </a:r>
                    </a:p>
                    <a:p>
                      <a:pPr algn="l">
                        <a:lnSpc>
                          <a:spcPct val="100000"/>
                        </a:lnSpc>
                        <a:spcBef>
                          <a:spcPts val="0"/>
                        </a:spcBef>
                        <a:spcAft>
                          <a:spcPts val="0"/>
                        </a:spcAft>
                      </a:pPr>
                      <a:r>
                        <a:rPr sz="1300" b="0">
                          <a:solidFill>
                            <a:srgbClr val="1F1F1F"/>
                          </a:solidFill>
                          <a:latin typeface="Calibri"/>
                        </a:rPr>
                        <a:t>desinvestimento de</a:t>
                      </a:r>
                    </a:p>
                    <a:p>
                      <a:pPr algn="l">
                        <a:lnSpc>
                          <a:spcPct val="100000"/>
                        </a:lnSpc>
                        <a:spcBef>
                          <a:spcPts val="0"/>
                        </a:spcBef>
                        <a:spcAft>
                          <a:spcPts val="0"/>
                        </a:spcAft>
                      </a:pPr>
                      <a:r>
                        <a:rPr sz="1300" b="0">
                          <a:solidFill>
                            <a:srgbClr val="1F1F1F"/>
                          </a:solidFill>
                          <a:latin typeface="Calibri"/>
                        </a:rPr>
                        <a:t>Direitos Creditórios do</a:t>
                      </a:r>
                    </a:p>
                    <a:p>
                      <a:pPr algn="l">
                        <a:lnSpc>
                          <a:spcPct val="100000"/>
                        </a:lnSpc>
                        <a:spcBef>
                          <a:spcPts val="0"/>
                        </a:spcBef>
                        <a:spcAft>
                          <a:spcPts val="0"/>
                        </a:spcAft>
                      </a:pPr>
                      <a:r>
                        <a:rPr sz="1300" b="0">
                          <a:solidFill>
                            <a:srgbClr val="1F1F1F"/>
                          </a:solidFill>
                          <a:latin typeface="Calibri"/>
                        </a:rPr>
                        <a:t>Agronegócio e/ou dos</a:t>
                      </a:r>
                    </a:p>
                    <a:p>
                      <a:pPr algn="l">
                        <a:lnSpc>
                          <a:spcPct val="100000"/>
                        </a:lnSpc>
                        <a:spcBef>
                          <a:spcPts val="0"/>
                        </a:spcBef>
                        <a:spcAft>
                          <a:spcPts val="0"/>
                        </a:spcAft>
                      </a:pPr>
                      <a:r>
                        <a:rPr sz="1300" b="0">
                          <a:solidFill>
                            <a:srgbClr val="1F1F1F"/>
                          </a:solidFill>
                          <a:latin typeface="Calibri"/>
                        </a:rPr>
                        <a:t>Outros Ativos, poderão</a:t>
                      </a:r>
                    </a:p>
                    <a:p>
                      <a:pPr algn="l">
                        <a:lnSpc>
                          <a:spcPct val="100000"/>
                        </a:lnSpc>
                        <a:spcBef>
                          <a:spcPts val="0"/>
                        </a:spcBef>
                        <a:spcAft>
                          <a:spcPts val="0"/>
                        </a:spcAft>
                      </a:pPr>
                      <a:r>
                        <a:rPr sz="1300" b="0">
                          <a:solidFill>
                            <a:srgbClr val="1F1F1F"/>
                          </a:solidFill>
                          <a:latin typeface="Calibri"/>
                        </a:rPr>
                        <a:t>ser destinados à</a:t>
                      </a:r>
                    </a:p>
                    <a:p>
                      <a:pPr algn="l">
                        <a:lnSpc>
                          <a:spcPct val="100000"/>
                        </a:lnSpc>
                        <a:spcBef>
                          <a:spcPts val="0"/>
                        </a:spcBef>
                        <a:spcAft>
                          <a:spcPts val="0"/>
                        </a:spcAft>
                      </a:pPr>
                      <a:r>
                        <a:rPr sz="1300" b="0">
                          <a:solidFill>
                            <a:srgbClr val="1F1F1F"/>
                          </a:solidFill>
                          <a:latin typeface="Calibri"/>
                        </a:rPr>
                        <a:t>aquisição pela Classe</a:t>
                      </a:r>
                    </a:p>
                    <a:p>
                      <a:pPr algn="l">
                        <a:lnSpc>
                          <a:spcPct val="100000"/>
                        </a:lnSpc>
                        <a:spcBef>
                          <a:spcPts val="0"/>
                        </a:spcBef>
                        <a:spcAft>
                          <a:spcPts val="0"/>
                        </a:spcAft>
                      </a:pPr>
                      <a:r>
                        <a:rPr sz="1300" b="0">
                          <a:solidFill>
                            <a:srgbClr val="1F1F1F"/>
                          </a:solidFill>
                          <a:latin typeface="Calibri"/>
                        </a:rPr>
                        <a:t>de novos Direitos</a:t>
                      </a:r>
                    </a:p>
                    <a:p>
                      <a:pPr algn="l">
                        <a:lnSpc>
                          <a:spcPct val="100000"/>
                        </a:lnSpc>
                        <a:spcBef>
                          <a:spcPts val="0"/>
                        </a:spcBef>
                        <a:spcAft>
                          <a:spcPts val="0"/>
                        </a:spcAft>
                      </a:pPr>
                      <a:r>
                        <a:rPr sz="1300" b="0">
                          <a:solidFill>
                            <a:srgbClr val="1F1F1F"/>
                          </a:solidFill>
                          <a:latin typeface="Calibri"/>
                        </a:rPr>
                        <a:t>Creditórios do</a:t>
                      </a:r>
                    </a:p>
                    <a:p>
                      <a:pPr algn="l">
                        <a:lnSpc>
                          <a:spcPct val="100000"/>
                        </a:lnSpc>
                        <a:spcBef>
                          <a:spcPts val="0"/>
                        </a:spcBef>
                        <a:spcAft>
                          <a:spcPts val="0"/>
                        </a:spcAft>
                      </a:pPr>
                      <a:r>
                        <a:rPr sz="1300" b="0">
                          <a:solidFill>
                            <a:srgbClr val="1F1F1F"/>
                          </a:solidFill>
                          <a:latin typeface="Calibri"/>
                        </a:rPr>
                        <a:t>Agronegócio e/ou dos</a:t>
                      </a:r>
                    </a:p>
                    <a:p>
                      <a:pPr algn="l">
                        <a:lnSpc>
                          <a:spcPct val="100000"/>
                        </a:lnSpc>
                        <a:spcBef>
                          <a:spcPts val="0"/>
                        </a:spcBef>
                        <a:spcAft>
                          <a:spcPts val="0"/>
                        </a:spcAft>
                      </a:pPr>
                      <a:r>
                        <a:rPr sz="1300" b="0">
                          <a:solidFill>
                            <a:srgbClr val="1F1F1F"/>
                          </a:solidFill>
                          <a:latin typeface="Calibri"/>
                        </a:rPr>
                        <a:t>Outros Ativos e/ou</a:t>
                      </a:r>
                    </a:p>
                    <a:p>
                      <a:pPr algn="l">
                        <a:lnSpc>
                          <a:spcPct val="100000"/>
                        </a:lnSpc>
                        <a:spcBef>
                          <a:spcPts val="0"/>
                        </a:spcBef>
                        <a:spcAft>
                          <a:spcPts val="0"/>
                        </a:spcAft>
                      </a:pPr>
                      <a:r>
                        <a:rPr sz="1300" b="0">
                          <a:solidFill>
                            <a:srgbClr val="1F1F1F"/>
                          </a:solidFill>
                          <a:latin typeface="Calibri"/>
                        </a:rPr>
                        <a:t>destinados ao resgate</a:t>
                      </a:r>
                    </a:p>
                    <a:p>
                      <a:pPr algn="l">
                        <a:lnSpc>
                          <a:spcPct val="100000"/>
                        </a:lnSpc>
                        <a:spcBef>
                          <a:spcPts val="0"/>
                        </a:spcBef>
                        <a:spcAft>
                          <a:spcPts val="0"/>
                        </a:spcAft>
                      </a:pPr>
                      <a:r>
                        <a:rPr sz="1300" b="0">
                          <a:solidFill>
                            <a:srgbClr val="1F1F1F"/>
                          </a:solidFill>
                          <a:latin typeface="Calibri"/>
                        </a:rPr>
                        <a:t>das Cotas, conf orme</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39/160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Qualidade da carteira</a:t>
            </a:r>
          </a:p>
        </p:txBody>
      </p:sp>
      <p:graphicFrame>
        <p:nvGraphicFramePr>
          <p:cNvPr id="3" name="Table 2"/>
          <p:cNvGraphicFramePr>
            <a:graphicFrameLocks noGrp="1"/>
          </p:cNvGraphicFramePr>
          <p:nvPr/>
        </p:nvGraphicFramePr>
        <p:xfrm>
          <a:off x="438912" y="932688"/>
          <a:ext cx="11313868" cy="5253228"/>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4782312">
                <a:tc>
                  <a:txBody>
                    <a:bodyPr wrap="square">
                      <a:noAutofit/>
                    </a:bodyPr>
                    <a:lstStyle/>
                    <a:p>
                      <a:pPr algn="l">
                        <a:lnSpc>
                          <a:spcPct val="100000"/>
                        </a:lnSpc>
                        <a:spcBef>
                          <a:spcPts val="0"/>
                        </a:spcBef>
                        <a:spcAft>
                          <a:spcPts val="0"/>
                        </a:spcAft>
                      </a:pPr>
                      <a:r>
                        <a:rPr sz="1300" b="1">
                          <a:solidFill>
                            <a:srgbClr val="1F1F1F"/>
                          </a:solidFill>
                          <a:latin typeface="Calibri"/>
                        </a:rPr>
                        <a:t>Recompra e indenização</a:t>
                      </a:r>
                    </a:p>
                    <a:p>
                      <a:pPr algn="l">
                        <a:lnSpc>
                          <a:spcPct val="100000"/>
                        </a:lnSpc>
                        <a:spcBef>
                          <a:spcPts val="0"/>
                        </a:spcBef>
                        <a:spcAft>
                          <a:spcPts val="0"/>
                        </a:spcAft>
                      </a:pPr>
                      <a:r>
                        <a:rPr sz="1300" b="1">
                          <a:solidFill>
                            <a:srgbClr val="1F1F1F"/>
                          </a:solidFill>
                          <a:latin typeface="Calibri"/>
                        </a:rPr>
                        <a:t>(continuação)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de novos Direitos</a:t>
                      </a:r>
                    </a:p>
                    <a:p>
                      <a:pPr algn="l">
                        <a:lnSpc>
                          <a:spcPct val="100000"/>
                        </a:lnSpc>
                        <a:spcBef>
                          <a:spcPts val="0"/>
                        </a:spcBef>
                        <a:spcAft>
                          <a:spcPts val="0"/>
                        </a:spcAft>
                      </a:pPr>
                      <a:r>
                        <a:rPr sz="1300" b="0">
                          <a:solidFill>
                            <a:srgbClr val="1F1F1F"/>
                          </a:solidFill>
                          <a:latin typeface="Calibri"/>
                        </a:rPr>
                        <a:t>Creditórios,</a:t>
                      </a:r>
                    </a:p>
                    <a:p>
                      <a:pPr algn="l">
                        <a:lnSpc>
                          <a:spcPct val="100000"/>
                        </a:lnSpc>
                        <a:spcBef>
                          <a:spcPts val="0"/>
                        </a:spcBef>
                        <a:spcAft>
                          <a:spcPts val="0"/>
                        </a:spcAft>
                      </a:pPr>
                      <a:r>
                        <a:rPr sz="1300" b="0">
                          <a:solidFill>
                            <a:srgbClr val="1F1F1F"/>
                          </a:solidFill>
                          <a:latin typeface="Calibri"/>
                        </a:rPr>
                        <a:t>aplicando-se, de resto,</a:t>
                      </a:r>
                    </a:p>
                    <a:p>
                      <a:pPr algn="l">
                        <a:lnSpc>
                          <a:spcPct val="100000"/>
                        </a:lnSpc>
                        <a:spcBef>
                          <a:spcPts val="0"/>
                        </a:spcBef>
                        <a:spcAft>
                          <a:spcPts val="0"/>
                        </a:spcAft>
                      </a:pPr>
                      <a:r>
                        <a:rPr sz="1300" b="0">
                          <a:solidFill>
                            <a:srgbClr val="1F1F1F"/>
                          </a:solidFill>
                          <a:latin typeface="Calibri"/>
                        </a:rPr>
                        <a:t>o disposto no item 8.1</a:t>
                      </a:r>
                    </a:p>
                    <a:p>
                      <a:pPr algn="l">
                        <a:lnSpc>
                          <a:spcPct val="100000"/>
                        </a:lnSpc>
                        <a:spcBef>
                          <a:spcPts val="0"/>
                        </a:spcBef>
                        <a:spcAft>
                          <a:spcPts val="0"/>
                        </a:spcAft>
                      </a:pPr>
                      <a:r>
                        <a:rPr sz="1300" b="0">
                          <a:solidFill>
                            <a:srgbClr val="1F1F1F"/>
                          </a:solidFill>
                          <a:latin typeface="Calibri"/>
                        </a:rPr>
                        <a:t>abaixo no que se ref</a:t>
                      </a:r>
                    </a:p>
                    <a:p>
                      <a:pPr algn="l">
                        <a:lnSpc>
                          <a:spcPct val="100000"/>
                        </a:lnSpc>
                        <a:spcBef>
                          <a:spcPts val="0"/>
                        </a:spcBef>
                        <a:spcAft>
                          <a:spcPts val="0"/>
                        </a:spcAft>
                      </a:pPr>
                      <a:r>
                        <a:rPr sz="1300" b="0">
                          <a:solidFill>
                            <a:srgbClr val="1F1F1F"/>
                          </a:solidFill>
                          <a:latin typeface="Calibri"/>
                        </a:rPr>
                        <a:t>ere à ordem de alocação</a:t>
                      </a:r>
                    </a:p>
                    <a:p>
                      <a:pPr algn="l">
                        <a:lnSpc>
                          <a:spcPct val="100000"/>
                        </a:lnSpc>
                        <a:spcBef>
                          <a:spcPts val="0"/>
                        </a:spcBef>
                        <a:spcAft>
                          <a:spcPts val="0"/>
                        </a:spcAft>
                      </a:pPr>
                      <a:r>
                        <a:rPr sz="1300" b="0">
                          <a:solidFill>
                            <a:srgbClr val="1F1F1F"/>
                          </a:solidFill>
                          <a:latin typeface="Calibri"/>
                        </a:rPr>
                        <a:t>de tais recursos.</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4.13 Na hipótese de</a:t>
                      </a:r>
                    </a:p>
                    <a:p>
                      <a:pPr algn="l">
                        <a:lnSpc>
                          <a:spcPct val="100000"/>
                        </a:lnSpc>
                        <a:spcBef>
                          <a:spcPts val="0"/>
                        </a:spcBef>
                        <a:spcAft>
                          <a:spcPts val="0"/>
                        </a:spcAft>
                      </a:pPr>
                      <a:r>
                        <a:rPr sz="1300" b="0">
                          <a:solidFill>
                            <a:srgbClr val="1F1F1F"/>
                          </a:solidFill>
                          <a:latin typeface="Calibri"/>
                        </a:rPr>
                        <a:t>demandas judiciais e/ou</a:t>
                      </a:r>
                    </a:p>
                    <a:p>
                      <a:pPr algn="l">
                        <a:lnSpc>
                          <a:spcPct val="100000"/>
                        </a:lnSpc>
                        <a:spcBef>
                          <a:spcPts val="0"/>
                        </a:spcBef>
                        <a:spcAft>
                          <a:spcPts val="0"/>
                        </a:spcAft>
                      </a:pPr>
                      <a:r>
                        <a:rPr sz="1300" b="0">
                          <a:solidFill>
                            <a:srgbClr val="1F1F1F"/>
                          </a:solidFill>
                          <a:latin typeface="Calibri"/>
                        </a:rPr>
                        <a:t>administrativas, em que</a:t>
                      </a:r>
                    </a:p>
                    <a:p>
                      <a:pPr algn="l">
                        <a:lnSpc>
                          <a:spcPct val="100000"/>
                        </a:lnSpc>
                        <a:spcBef>
                          <a:spcPts val="0"/>
                        </a:spcBef>
                        <a:spcAft>
                          <a:spcPts val="0"/>
                        </a:spcAft>
                      </a:pPr>
                      <a:r>
                        <a:rPr sz="1300" b="0">
                          <a:solidFill>
                            <a:srgbClr val="1F1F1F"/>
                          </a:solidFill>
                          <a:latin typeface="Calibri"/>
                        </a:rPr>
                        <a:t>a causa de pedir ou</a:t>
                      </a:r>
                    </a:p>
                    <a:p>
                      <a:pPr algn="l">
                        <a:lnSpc>
                          <a:spcPct val="100000"/>
                        </a:lnSpc>
                        <a:spcBef>
                          <a:spcPts val="0"/>
                        </a:spcBef>
                        <a:spcAft>
                          <a:spcPts val="0"/>
                        </a:spcAft>
                      </a:pPr>
                      <a:r>
                        <a:rPr sz="1300" b="0">
                          <a:solidFill>
                            <a:srgbClr val="1F1F1F"/>
                          </a:solidFill>
                          <a:latin typeface="Calibri"/>
                        </a:rPr>
                        <a:t>entre os pedidos</a:t>
                      </a:r>
                    </a:p>
                    <a:p>
                      <a:pPr algn="l">
                        <a:lnSpc>
                          <a:spcPct val="100000"/>
                        </a:lnSpc>
                        <a:spcBef>
                          <a:spcPts val="0"/>
                        </a:spcBef>
                        <a:spcAft>
                          <a:spcPts val="0"/>
                        </a:spcAft>
                      </a:pPr>
                      <a:r>
                        <a:rPr sz="1300" b="0">
                          <a:solidFill>
                            <a:srgbClr val="1F1F1F"/>
                          </a:solidFill>
                          <a:latin typeface="Calibri"/>
                        </a:rPr>
                        <a:t>estejam incluídos</a:t>
                      </a:r>
                    </a:p>
                    <a:p>
                      <a:pPr algn="l">
                        <a:lnSpc>
                          <a:spcPct val="100000"/>
                        </a:lnSpc>
                        <a:spcBef>
                          <a:spcPts val="0"/>
                        </a:spcBef>
                        <a:spcAft>
                          <a:spcPts val="0"/>
                        </a:spcAft>
                      </a:pPr>
                      <a:r>
                        <a:rPr sz="1300" b="0">
                          <a:solidFill>
                            <a:srgbClr val="1F1F1F"/>
                          </a:solidFill>
                          <a:latin typeface="Calibri"/>
                        </a:rPr>
                        <a:t>qualquer um dos itens</a:t>
                      </a:r>
                    </a:p>
                    <a:p>
                      <a:pPr algn="l">
                        <a:lnSpc>
                          <a:spcPct val="100000"/>
                        </a:lnSpc>
                        <a:spcBef>
                          <a:spcPts val="0"/>
                        </a:spcBef>
                        <a:spcAft>
                          <a:spcPts val="0"/>
                        </a:spcAft>
                      </a:pPr>
                      <a:r>
                        <a:rPr sz="1300" b="0">
                          <a:solidFill>
                            <a:srgbClr val="1F1F1F"/>
                          </a:solidFill>
                          <a:latin typeface="Calibri"/>
                        </a:rPr>
                        <a:t>listados abaixo, o</a:t>
                      </a:r>
                    </a:p>
                    <a:p>
                      <a:pPr algn="l">
                        <a:lnSpc>
                          <a:spcPct val="100000"/>
                        </a:lnSpc>
                        <a:spcBef>
                          <a:spcPts val="0"/>
                        </a:spcBef>
                        <a:spcAft>
                          <a:spcPts val="0"/>
                        </a:spcAft>
                      </a:pPr>
                      <a:r>
                        <a:rPr sz="1300" b="0">
                          <a:solidFill>
                            <a:srgbClr val="1F1F1F"/>
                          </a:solidFill>
                          <a:latin typeface="Calibri"/>
                        </a:rPr>
                        <a:t>Endossante estará</a:t>
                      </a:r>
                    </a:p>
                    <a:p>
                      <a:pPr algn="l">
                        <a:lnSpc>
                          <a:spcPct val="100000"/>
                        </a:lnSpc>
                        <a:spcBef>
                          <a:spcPts val="0"/>
                        </a:spcBef>
                        <a:spcAft>
                          <a:spcPts val="0"/>
                        </a:spcAft>
                      </a:pPr>
                      <a:r>
                        <a:rPr sz="1300" b="0">
                          <a:solidFill>
                            <a:srgbClr val="1F1F1F"/>
                          </a:solidFill>
                          <a:latin typeface="Calibri"/>
                        </a:rPr>
                        <a:t>obrigado realizar a</a:t>
                      </a:r>
                    </a:p>
                    <a:p>
                      <a:pPr algn="l">
                        <a:lnSpc>
                          <a:spcPct val="100000"/>
                        </a:lnSpc>
                        <a:spcBef>
                          <a:spcPts val="0"/>
                        </a:spcBef>
                        <a:spcAft>
                          <a:spcPts val="0"/>
                        </a:spcAft>
                      </a:pPr>
                      <a:r>
                        <a:rPr sz="1300" b="0">
                          <a:solidFill>
                            <a:srgbClr val="1F1F1F"/>
                          </a:solidFill>
                          <a:latin typeface="Calibri"/>
                        </a:rPr>
                        <a:t>recompra ou indenização</a:t>
                      </a:r>
                    </a:p>
                    <a:p>
                      <a:pPr algn="l">
                        <a:lnSpc>
                          <a:spcPct val="100000"/>
                        </a:lnSpc>
                        <a:spcBef>
                          <a:spcPts val="0"/>
                        </a:spcBef>
                        <a:spcAft>
                          <a:spcPts val="0"/>
                        </a:spcAft>
                      </a:pPr>
                      <a:r>
                        <a:rPr sz="1300" b="0">
                          <a:solidFill>
                            <a:srgbClr val="1F1F1F"/>
                          </a:solidFill>
                          <a:latin typeface="Calibri"/>
                        </a:rPr>
                        <a:t>dos respectivos</a:t>
                      </a:r>
                    </a:p>
                    <a:p>
                      <a:pPr algn="l">
                        <a:lnSpc>
                          <a:spcPct val="100000"/>
                        </a:lnSpc>
                        <a:spcBef>
                          <a:spcPts val="0"/>
                        </a:spcBef>
                        <a:spcAft>
                          <a:spcPts val="0"/>
                        </a:spcAft>
                      </a:pPr>
                      <a:r>
                        <a:rPr sz="1300" b="0">
                          <a:solidFill>
                            <a:srgbClr val="1F1F1F"/>
                          </a:solidFill>
                          <a:latin typeface="Calibri"/>
                        </a:rPr>
                        <a:t>Direitos Creditórios,</a:t>
                      </a:r>
                    </a:p>
                    <a:p>
                      <a:pPr algn="l">
                        <a:lnSpc>
                          <a:spcPct val="100000"/>
                        </a:lnSpc>
                        <a:spcBef>
                          <a:spcPts val="0"/>
                        </a:spcBef>
                        <a:spcAft>
                          <a:spcPts val="0"/>
                        </a:spcAft>
                      </a:pPr>
                      <a:r>
                        <a:rPr sz="1300" b="0">
                          <a:solidFill>
                            <a:srgbClr val="1F1F1F"/>
                          </a:solidFill>
                          <a:latin typeface="Calibri"/>
                        </a:rPr>
                        <a:t>na f orma e prazos</a:t>
                      </a:r>
                    </a:p>
                    <a:p>
                      <a:pPr algn="l">
                        <a:lnSpc>
                          <a:spcPct val="100000"/>
                        </a:lnSpc>
                        <a:spcBef>
                          <a:spcPts val="0"/>
                        </a:spcBef>
                        <a:spcAft>
                          <a:spcPts val="0"/>
                        </a:spcAft>
                      </a:pPr>
                      <a:r>
                        <a:rPr sz="1300" b="0">
                          <a:solidFill>
                            <a:srgbClr val="1F1F1F"/>
                          </a:solidFill>
                          <a:latin typeface="Calibri"/>
                        </a:rPr>
                        <a:t>previstos no respectivo</a:t>
                      </a:r>
                    </a:p>
                    <a:p>
                      <a:pPr algn="l">
                        <a:lnSpc>
                          <a:spcPct val="100000"/>
                        </a:lnSpc>
                        <a:spcBef>
                          <a:spcPts val="0"/>
                        </a:spcBef>
                        <a:spcAft>
                          <a:spcPts val="0"/>
                        </a:spcAft>
                      </a:pPr>
                      <a:r>
                        <a:rPr sz="1300" b="0">
                          <a:solidFill>
                            <a:srgbClr val="1F1F1F"/>
                          </a:solidFill>
                          <a:latin typeface="Calibri"/>
                        </a:rPr>
                        <a:t>Contrato de Endosso sem</a:t>
                      </a:r>
                    </a:p>
                    <a:p>
                      <a:pPr algn="l">
                        <a:lnSpc>
                          <a:spcPct val="100000"/>
                        </a:lnSpc>
                        <a:spcBef>
                          <a:spcPts val="0"/>
                        </a:spcBef>
                        <a:spcAft>
                          <a:spcPts val="0"/>
                        </a:spcAft>
                      </a:pPr>
                      <a:r>
                        <a:rPr sz="1300" b="0">
                          <a:solidFill>
                            <a:srgbClr val="1F1F1F"/>
                          </a:solidFill>
                          <a:latin typeface="Calibri"/>
                        </a:rPr>
                        <a:t>prejuízo do previsto no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CONSIGNADO PRIVADO I</a:t>
                      </a:r>
                    </a:p>
                    <a:p>
                      <a:pPr algn="l">
                        <a:lnSpc>
                          <a:spcPct val="100000"/>
                        </a:lnSpc>
                        <a:spcBef>
                          <a:spcPts val="0"/>
                        </a:spcBef>
                        <a:spcAft>
                          <a:spcPts val="0"/>
                        </a:spcAft>
                      </a:pPr>
                      <a:r>
                        <a:rPr sz="1300" b="0">
                          <a:solidFill>
                            <a:srgbClr val="1F1F1F"/>
                          </a:solidFill>
                          <a:latin typeface="Calibri"/>
                        </a:rPr>
                        <a:t>FUNDO DE INVESTIMENTO</a:t>
                      </a:r>
                    </a:p>
                    <a:p>
                      <a:pPr algn="l">
                        <a:lnSpc>
                          <a:spcPct val="100000"/>
                        </a:lnSpc>
                        <a:spcBef>
                          <a:spcPts val="0"/>
                        </a:spcBef>
                        <a:spcAft>
                          <a:spcPts val="0"/>
                        </a:spcAft>
                      </a:pPr>
                      <a:r>
                        <a:rPr sz="1300" b="0">
                          <a:solidFill>
                            <a:srgbClr val="1F1F1F"/>
                          </a:solidFill>
                          <a:latin typeface="Calibri"/>
                        </a:rPr>
                        <a:t>EM DIREITOS CREDITÓRIOS</a:t>
                      </a:r>
                    </a:p>
                    <a:p>
                      <a:pPr algn="l">
                        <a:lnSpc>
                          <a:spcPct val="100000"/>
                        </a:lnSpc>
                        <a:spcBef>
                          <a:spcPts val="0"/>
                        </a:spcBef>
                        <a:spcAft>
                          <a:spcPts val="0"/>
                        </a:spcAft>
                      </a:pPr>
                      <a:r>
                        <a:rPr sz="1300" b="0">
                          <a:solidFill>
                            <a:srgbClr val="1F1F1F"/>
                          </a:solidFill>
                          <a:latin typeface="Calibri"/>
                        </a:rPr>
                        <a:t>RESPONSABILIDADE</a:t>
                      </a:r>
                    </a:p>
                    <a:p>
                      <a:pPr algn="l">
                        <a:lnSpc>
                          <a:spcPct val="100000"/>
                        </a:lnSpc>
                        <a:spcBef>
                          <a:spcPts val="0"/>
                        </a:spcBef>
                        <a:spcAft>
                          <a:spcPts val="0"/>
                        </a:spcAft>
                      </a:pPr>
                      <a:r>
                        <a:rPr sz="1300" b="0">
                          <a:solidFill>
                            <a:srgbClr val="1F1F1F"/>
                          </a:solidFill>
                          <a:latin typeface="Calibri"/>
                        </a:rPr>
                        <a:t>LIMITADA com a transf</a:t>
                      </a:r>
                    </a:p>
                    <a:p>
                      <a:pPr algn="l">
                        <a:lnSpc>
                          <a:spcPct val="100000"/>
                        </a:lnSpc>
                        <a:spcBef>
                          <a:spcPts val="0"/>
                        </a:spcBef>
                        <a:spcAft>
                          <a:spcPts val="0"/>
                        </a:spcAft>
                      </a:pPr>
                      <a:r>
                        <a:rPr sz="1300" b="0">
                          <a:solidFill>
                            <a:srgbClr val="1F1F1F"/>
                          </a:solidFill>
                          <a:latin typeface="Calibri"/>
                        </a:rPr>
                        <a:t>erência, à Classe, de f</a:t>
                      </a:r>
                    </a:p>
                    <a:p>
                      <a:pPr algn="l">
                        <a:lnSpc>
                          <a:spcPct val="100000"/>
                        </a:lnSpc>
                        <a:spcBef>
                          <a:spcPts val="0"/>
                        </a:spcBef>
                        <a:spcAft>
                          <a:spcPts val="0"/>
                        </a:spcAft>
                      </a:pPr>
                      <a:r>
                        <a:rPr sz="1300" b="0">
                          <a:solidFill>
                            <a:srgbClr val="1F1F1F"/>
                          </a:solidFill>
                          <a:latin typeface="Calibri"/>
                        </a:rPr>
                        <a:t>orma definitiva, sem</a:t>
                      </a:r>
                    </a:p>
                    <a:p>
                      <a:pPr algn="l">
                        <a:lnSpc>
                          <a:spcPct val="100000"/>
                        </a:lnSpc>
                        <a:spcBef>
                          <a:spcPts val="0"/>
                        </a:spcBef>
                        <a:spcAft>
                          <a:spcPts val="0"/>
                        </a:spcAft>
                      </a:pPr>
                      <a:r>
                        <a:rPr sz="1300" b="0">
                          <a:solidFill>
                            <a:srgbClr val="1F1F1F"/>
                          </a:solidFill>
                          <a:latin typeface="Calibri"/>
                        </a:rPr>
                        <a:t>coobrigação do</a:t>
                      </a:r>
                    </a:p>
                    <a:p>
                      <a:pPr algn="l">
                        <a:lnSpc>
                          <a:spcPct val="100000"/>
                        </a:lnSpc>
                        <a:spcBef>
                          <a:spcPts val="0"/>
                        </a:spcBef>
                        <a:spcAft>
                          <a:spcPts val="0"/>
                        </a:spcAft>
                      </a:pPr>
                      <a:r>
                        <a:rPr sz="1300" b="0">
                          <a:solidFill>
                            <a:srgbClr val="1F1F1F"/>
                          </a:solidFill>
                          <a:latin typeface="Calibri"/>
                        </a:rPr>
                        <a:t>Endossante, da plena</a:t>
                      </a:r>
                    </a:p>
                    <a:p>
                      <a:pPr algn="l">
                        <a:lnSpc>
                          <a:spcPct val="100000"/>
                        </a:lnSpc>
                        <a:spcBef>
                          <a:spcPts val="0"/>
                        </a:spcBef>
                        <a:spcAft>
                          <a:spcPts val="0"/>
                        </a:spcAft>
                      </a:pPr>
                      <a:r>
                        <a:rPr sz="1300" b="0">
                          <a:solidFill>
                            <a:srgbClr val="1F1F1F"/>
                          </a:solidFill>
                          <a:latin typeface="Calibri"/>
                        </a:rPr>
                        <a:t>titularidade desse</a:t>
                      </a:r>
                    </a:p>
                    <a:p>
                      <a:pPr algn="l">
                        <a:lnSpc>
                          <a:spcPct val="100000"/>
                        </a:lnSpc>
                        <a:spcBef>
                          <a:spcPts val="0"/>
                        </a:spcBef>
                        <a:spcAft>
                          <a:spcPts val="0"/>
                        </a:spcAft>
                      </a:pPr>
                      <a:r>
                        <a:rPr sz="1300" b="0">
                          <a:solidFill>
                            <a:srgbClr val="1F1F1F"/>
                          </a:solidFill>
                          <a:latin typeface="Calibri"/>
                        </a:rPr>
                        <a:t>Direito Creditório,</a:t>
                      </a:r>
                    </a:p>
                    <a:p>
                      <a:pPr algn="l">
                        <a:lnSpc>
                          <a:spcPct val="100000"/>
                        </a:lnSpc>
                        <a:spcBef>
                          <a:spcPts val="0"/>
                        </a:spcBef>
                        <a:spcAft>
                          <a:spcPts val="0"/>
                        </a:spcAft>
                      </a:pPr>
                      <a:r>
                        <a:rPr sz="1300" b="0">
                          <a:solidFill>
                            <a:srgbClr val="1F1F1F"/>
                          </a:solidFill>
                          <a:latin typeface="Calibri"/>
                        </a:rPr>
                        <a:t>juntamente com todos os</a:t>
                      </a:r>
                    </a:p>
                    <a:p>
                      <a:pPr algn="l">
                        <a:lnSpc>
                          <a:spcPct val="100000"/>
                        </a:lnSpc>
                        <a:spcBef>
                          <a:spcPts val="0"/>
                        </a:spcBef>
                        <a:spcAft>
                          <a:spcPts val="0"/>
                        </a:spcAft>
                      </a:pPr>
                      <a:r>
                        <a:rPr sz="1300" b="0">
                          <a:solidFill>
                            <a:srgbClr val="1F1F1F"/>
                          </a:solidFill>
                          <a:latin typeface="Calibri"/>
                        </a:rPr>
                        <a:t>direitos, privilégios,</a:t>
                      </a:r>
                    </a:p>
                    <a:p>
                      <a:pPr algn="l">
                        <a:lnSpc>
                          <a:spcPct val="100000"/>
                        </a:lnSpc>
                        <a:spcBef>
                          <a:spcPts val="0"/>
                        </a:spcBef>
                        <a:spcAft>
                          <a:spcPts val="0"/>
                        </a:spcAft>
                      </a:pPr>
                      <a:r>
                        <a:rPr sz="1300" b="0">
                          <a:solidFill>
                            <a:srgbClr val="1F1F1F"/>
                          </a:solidFill>
                          <a:latin typeface="Calibri"/>
                        </a:rPr>
                        <a:t>pref erências,</a:t>
                      </a:r>
                    </a:p>
                    <a:p>
                      <a:pPr algn="l">
                        <a:lnSpc>
                          <a:spcPct val="100000"/>
                        </a:lnSpc>
                        <a:spcBef>
                          <a:spcPts val="0"/>
                        </a:spcBef>
                        <a:spcAft>
                          <a:spcPts val="0"/>
                        </a:spcAft>
                      </a:pPr>
                      <a:r>
                        <a:rPr sz="1300" b="0">
                          <a:solidFill>
                            <a:srgbClr val="1F1F1F"/>
                          </a:solidFill>
                          <a:latin typeface="Calibri"/>
                        </a:rPr>
                        <a:t>prerrogativas,</a:t>
                      </a:r>
                    </a:p>
                    <a:p>
                      <a:pPr algn="l">
                        <a:lnSpc>
                          <a:spcPct val="100000"/>
                        </a:lnSpc>
                        <a:spcBef>
                          <a:spcPts val="0"/>
                        </a:spcBef>
                        <a:spcAft>
                          <a:spcPts val="0"/>
                        </a:spcAft>
                      </a:pPr>
                      <a:r>
                        <a:rPr sz="1300" b="0">
                          <a:solidFill>
                            <a:srgbClr val="1F1F1F"/>
                          </a:solidFill>
                          <a:latin typeface="Calibri"/>
                        </a:rPr>
                        <a:t>garantias e ações a ele</a:t>
                      </a:r>
                    </a:p>
                    <a:p>
                      <a:pPr algn="l">
                        <a:lnSpc>
                          <a:spcPct val="100000"/>
                        </a:lnSpc>
                        <a:spcBef>
                          <a:spcPts val="0"/>
                        </a:spcBef>
                        <a:spcAft>
                          <a:spcPts val="0"/>
                        </a:spcAft>
                      </a:pPr>
                      <a:r>
                        <a:rPr sz="1300" b="0">
                          <a:solidFill>
                            <a:srgbClr val="1F1F1F"/>
                          </a:solidFill>
                          <a:latin typeface="Calibri"/>
                        </a:rPr>
                        <a:t>relacionados, bem como</a:t>
                      </a:r>
                    </a:p>
                    <a:p>
                      <a:pPr algn="l">
                        <a:lnSpc>
                          <a:spcPct val="100000"/>
                        </a:lnSpc>
                        <a:spcBef>
                          <a:spcPts val="0"/>
                        </a:spcBef>
                        <a:spcAft>
                          <a:spcPts val="0"/>
                        </a:spcAft>
                      </a:pPr>
                      <a:r>
                        <a:rPr sz="1300" b="0">
                          <a:solidFill>
                            <a:srgbClr val="1F1F1F"/>
                          </a:solidFill>
                          <a:latin typeface="Calibri"/>
                        </a:rPr>
                        <a:t>correção monetária,</a:t>
                      </a:r>
                    </a:p>
                    <a:p>
                      <a:pPr algn="l">
                        <a:lnSpc>
                          <a:spcPct val="100000"/>
                        </a:lnSpc>
                        <a:spcBef>
                          <a:spcPts val="0"/>
                        </a:spcBef>
                        <a:spcAft>
                          <a:spcPts val="0"/>
                        </a:spcAft>
                      </a:pPr>
                      <a:r>
                        <a:rPr sz="1300" b="0">
                          <a:solidFill>
                            <a:srgbClr val="1F1F1F"/>
                          </a:solidFill>
                          <a:latin typeface="Calibri"/>
                        </a:rPr>
                        <a:t>juros e encargos, sem</a:t>
                      </a:r>
                    </a:p>
                    <a:p>
                      <a:pPr algn="l">
                        <a:lnSpc>
                          <a:spcPct val="100000"/>
                        </a:lnSpc>
                        <a:spcBef>
                          <a:spcPts val="0"/>
                        </a:spcBef>
                        <a:spcAft>
                          <a:spcPts val="0"/>
                        </a:spcAft>
                      </a:pPr>
                      <a:r>
                        <a:rPr sz="1300" b="0">
                          <a:solidFill>
                            <a:srgbClr val="1F1F1F"/>
                          </a:solidFill>
                          <a:latin typeface="Calibri"/>
                        </a:rPr>
                        <a:t>prejuízo do direito da</a:t>
                      </a:r>
                    </a:p>
                    <a:p>
                      <a:pPr algn="l">
                        <a:lnSpc>
                          <a:spcPct val="100000"/>
                        </a:lnSpc>
                        <a:spcBef>
                          <a:spcPts val="0"/>
                        </a:spcBef>
                        <a:spcAft>
                          <a:spcPts val="0"/>
                        </a:spcAft>
                      </a:pPr>
                      <a:r>
                        <a:rPr sz="1300" b="0">
                          <a:solidFill>
                            <a:srgbClr val="1F1F1F"/>
                          </a:solidFill>
                          <a:latin typeface="Calibri"/>
                        </a:rPr>
                        <a:t>Classe (i) de exigir a</a:t>
                      </a:r>
                    </a:p>
                    <a:p>
                      <a:pPr algn="l">
                        <a:lnSpc>
                          <a:spcPct val="100000"/>
                        </a:lnSpc>
                        <a:spcBef>
                          <a:spcPts val="0"/>
                        </a:spcBef>
                        <a:spcAft>
                          <a:spcPts val="0"/>
                        </a:spcAft>
                      </a:pPr>
                      <a:r>
                        <a:rPr sz="1300" b="0">
                          <a:solidFill>
                            <a:srgbClr val="1F1F1F"/>
                          </a:solidFill>
                          <a:latin typeface="Calibri"/>
                        </a:rPr>
                        <a:t>recompra compulsória do</a:t>
                      </a:r>
                    </a:p>
                    <a:p>
                      <a:pPr algn="l">
                        <a:lnSpc>
                          <a:spcPct val="100000"/>
                        </a:lnSpc>
                        <a:spcBef>
                          <a:spcPts val="0"/>
                        </a:spcBef>
                        <a:spcAft>
                          <a:spcPts val="0"/>
                        </a:spcAft>
                      </a:pPr>
                      <a:r>
                        <a:rPr sz="1300" b="0">
                          <a:solidFill>
                            <a:srgbClr val="1F1F1F"/>
                          </a:solidFill>
                          <a:latin typeface="Calibri"/>
                        </a:rPr>
                        <a:t>respectivo Direito</a:t>
                      </a:r>
                    </a:p>
                    <a:p>
                      <a:pPr algn="l">
                        <a:lnSpc>
                          <a:spcPct val="100000"/>
                        </a:lnSpc>
                        <a:spcBef>
                          <a:spcPts val="0"/>
                        </a:spcBef>
                        <a:spcAft>
                          <a:spcPts val="0"/>
                        </a:spcAft>
                      </a:pPr>
                      <a:r>
                        <a:rPr sz="1300" b="0">
                          <a:solidFill>
                            <a:srgbClr val="1F1F1F"/>
                          </a:solidFill>
                          <a:latin typeface="Calibri"/>
                        </a:rPr>
                        <a:t>Creditório, de acordo</a:t>
                      </a:r>
                    </a:p>
                    <a:p>
                      <a:pPr algn="l">
                        <a:lnSpc>
                          <a:spcPct val="100000"/>
                        </a:lnSpc>
                        <a:spcBef>
                          <a:spcPts val="0"/>
                        </a:spcBef>
                        <a:spcAft>
                          <a:spcPts val="0"/>
                        </a:spcAft>
                      </a:pPr>
                      <a:r>
                        <a:rPr sz="1300" b="0">
                          <a:solidFill>
                            <a:srgbClr val="1F1F1F"/>
                          </a:solidFill>
                          <a:latin typeface="Calibri"/>
                        </a:rPr>
                        <a:t>com os termos do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decisão do Gestor e</a:t>
                      </a:r>
                    </a:p>
                    <a:p>
                      <a:pPr algn="l">
                        <a:lnSpc>
                          <a:spcPct val="100000"/>
                        </a:lnSpc>
                        <a:spcBef>
                          <a:spcPts val="0"/>
                        </a:spcBef>
                        <a:spcAft>
                          <a:spcPts val="0"/>
                        </a:spcAft>
                      </a:pPr>
                      <a:r>
                        <a:rPr sz="1300" b="0">
                          <a:solidFill>
                            <a:srgbClr val="1F1F1F"/>
                          </a:solidFill>
                          <a:latin typeface="Calibri"/>
                        </a:rPr>
                        <a:t>desde que observada a</a:t>
                      </a:r>
                    </a:p>
                    <a:p>
                      <a:pPr algn="l">
                        <a:lnSpc>
                          <a:spcPct val="100000"/>
                        </a:lnSpc>
                        <a:spcBef>
                          <a:spcPts val="0"/>
                        </a:spcBef>
                        <a:spcAft>
                          <a:spcPts val="0"/>
                        </a:spcAft>
                      </a:pPr>
                      <a:r>
                        <a:rPr sz="1300" b="0">
                          <a:solidFill>
                            <a:srgbClr val="1F1F1F"/>
                          </a:solidFill>
                          <a:latin typeface="Calibri"/>
                        </a:rPr>
                        <a:t>ordem de alocação de</a:t>
                      </a:r>
                    </a:p>
                    <a:p>
                      <a:pPr algn="l">
                        <a:lnSpc>
                          <a:spcPct val="100000"/>
                        </a:lnSpc>
                        <a:spcBef>
                          <a:spcPts val="0"/>
                        </a:spcBef>
                        <a:spcAft>
                          <a:spcPts val="0"/>
                        </a:spcAft>
                      </a:pPr>
                      <a:r>
                        <a:rPr sz="1300" b="0">
                          <a:solidFill>
                            <a:srgbClr val="1F1F1F"/>
                          </a:solidFill>
                          <a:latin typeface="Calibri"/>
                        </a:rPr>
                        <a:t>recursos. 6 ORDEM DE</a:t>
                      </a:r>
                    </a:p>
                    <a:p>
                      <a:pPr algn="l">
                        <a:lnSpc>
                          <a:spcPct val="100000"/>
                        </a:lnSpc>
                        <a:spcBef>
                          <a:spcPts val="0"/>
                        </a:spcBef>
                        <a:spcAft>
                          <a:spcPts val="0"/>
                        </a:spcAft>
                      </a:pPr>
                      <a:r>
                        <a:rPr sz="1300" b="0">
                          <a:solidFill>
                            <a:srgbClr val="1F1F1F"/>
                          </a:solidFill>
                          <a:latin typeface="Calibri"/>
                        </a:rPr>
                        <a:t>ALOCAÇÃO DE RECURSOS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40/160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Qualidade da carteira</a:t>
            </a:r>
          </a:p>
        </p:txBody>
      </p:sp>
      <p:graphicFrame>
        <p:nvGraphicFramePr>
          <p:cNvPr id="3" name="Table 2"/>
          <p:cNvGraphicFramePr>
            <a:graphicFrameLocks noGrp="1"/>
          </p:cNvGraphicFramePr>
          <p:nvPr/>
        </p:nvGraphicFramePr>
        <p:xfrm>
          <a:off x="438912" y="932688"/>
          <a:ext cx="11313868" cy="4878324"/>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4407408">
                <a:tc>
                  <a:txBody>
                    <a:bodyPr wrap="square">
                      <a:noAutofit/>
                    </a:bodyPr>
                    <a:lstStyle/>
                    <a:p>
                      <a:pPr algn="l">
                        <a:lnSpc>
                          <a:spcPct val="100000"/>
                        </a:lnSpc>
                        <a:spcBef>
                          <a:spcPts val="0"/>
                        </a:spcBef>
                        <a:spcAft>
                          <a:spcPts val="0"/>
                        </a:spcAft>
                      </a:pPr>
                      <a:r>
                        <a:rPr sz="1300" b="1">
                          <a:solidFill>
                            <a:srgbClr val="1F1F1F"/>
                          </a:solidFill>
                          <a:latin typeface="Calibri"/>
                        </a:rPr>
                        <a:t>Recompra e indenização</a:t>
                      </a:r>
                    </a:p>
                    <a:p>
                      <a:pPr algn="l">
                        <a:lnSpc>
                          <a:spcPct val="100000"/>
                        </a:lnSpc>
                        <a:spcBef>
                          <a:spcPts val="0"/>
                        </a:spcBef>
                        <a:spcAft>
                          <a:spcPts val="0"/>
                        </a:spcAft>
                      </a:pPr>
                      <a:r>
                        <a:rPr sz="1300" b="1">
                          <a:solidFill>
                            <a:srgbClr val="1F1F1F"/>
                          </a:solidFill>
                          <a:latin typeface="Calibri"/>
                        </a:rPr>
                        <a:t>(continuação)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Artigo 295 do Código</a:t>
                      </a:r>
                    </a:p>
                    <a:p>
                      <a:pPr algn="l">
                        <a:lnSpc>
                          <a:spcPct val="100000"/>
                        </a:lnSpc>
                        <a:spcBef>
                          <a:spcPts val="0"/>
                        </a:spcBef>
                        <a:spcAft>
                          <a:spcPts val="0"/>
                        </a:spcAft>
                      </a:pPr>
                      <a:r>
                        <a:rPr sz="1300" b="0">
                          <a:solidFill>
                            <a:srgbClr val="1F1F1F"/>
                          </a:solidFill>
                          <a:latin typeface="Calibri"/>
                        </a:rPr>
                        <a:t>Civil, sendo certo que</a:t>
                      </a:r>
                    </a:p>
                    <a:p>
                      <a:pPr algn="l">
                        <a:lnSpc>
                          <a:spcPct val="100000"/>
                        </a:lnSpc>
                        <a:spcBef>
                          <a:spcPts val="0"/>
                        </a:spcBef>
                        <a:spcAft>
                          <a:spcPts val="0"/>
                        </a:spcAft>
                      </a:pPr>
                      <a:r>
                        <a:rPr sz="1300" b="0">
                          <a:solidFill>
                            <a:srgbClr val="1F1F1F"/>
                          </a:solidFill>
                          <a:latin typeface="Calibri"/>
                        </a:rPr>
                        <a:t>o GESTOR envidará seus</a:t>
                      </a:r>
                    </a:p>
                    <a:p>
                      <a:pPr algn="l">
                        <a:lnSpc>
                          <a:spcPct val="100000"/>
                        </a:lnSpc>
                        <a:spcBef>
                          <a:spcPts val="0"/>
                        </a:spcBef>
                        <a:spcAft>
                          <a:spcPts val="0"/>
                        </a:spcAft>
                      </a:pPr>
                      <a:r>
                        <a:rPr sz="1300" b="0">
                          <a:solidFill>
                            <a:srgbClr val="1F1F1F"/>
                          </a:solidFill>
                          <a:latin typeface="Calibri"/>
                        </a:rPr>
                        <a:t>melhores esf orços para</a:t>
                      </a:r>
                    </a:p>
                    <a:p>
                      <a:pPr algn="l">
                        <a:lnSpc>
                          <a:spcPct val="100000"/>
                        </a:lnSpc>
                        <a:spcBef>
                          <a:spcPts val="0"/>
                        </a:spcBef>
                        <a:spcAft>
                          <a:spcPts val="0"/>
                        </a:spcAft>
                      </a:pPr>
                      <a:r>
                        <a:rPr sz="1300" b="0">
                          <a:solidFill>
                            <a:srgbClr val="1F1F1F"/>
                          </a:solidFill>
                          <a:latin typeface="Calibri"/>
                        </a:rPr>
                        <a:t>que os Contratos de</a:t>
                      </a:r>
                    </a:p>
                    <a:p>
                      <a:pPr algn="l">
                        <a:lnSpc>
                          <a:spcPct val="100000"/>
                        </a:lnSpc>
                        <a:spcBef>
                          <a:spcPts val="0"/>
                        </a:spcBef>
                        <a:spcAft>
                          <a:spcPts val="0"/>
                        </a:spcAft>
                      </a:pPr>
                      <a:r>
                        <a:rPr sz="1300" b="0">
                          <a:solidFill>
                            <a:srgbClr val="1F1F1F"/>
                          </a:solidFill>
                          <a:latin typeface="Calibri"/>
                        </a:rPr>
                        <a:t>Endosso contenham</a:t>
                      </a:r>
                    </a:p>
                    <a:p>
                      <a:pPr algn="l">
                        <a:lnSpc>
                          <a:spcPct val="100000"/>
                        </a:lnSpc>
                        <a:spcBef>
                          <a:spcPts val="0"/>
                        </a:spcBef>
                        <a:spcAft>
                          <a:spcPts val="0"/>
                        </a:spcAft>
                      </a:pPr>
                      <a:r>
                        <a:rPr sz="1300" b="0">
                          <a:solidFill>
                            <a:srgbClr val="1F1F1F"/>
                          </a:solidFill>
                          <a:latin typeface="Calibri"/>
                        </a:rPr>
                        <a:t>substancialmente as</a:t>
                      </a:r>
                    </a:p>
                    <a:p>
                      <a:pPr algn="l">
                        <a:lnSpc>
                          <a:spcPct val="100000"/>
                        </a:lnSpc>
                        <a:spcBef>
                          <a:spcPts val="0"/>
                        </a:spcBef>
                        <a:spcAft>
                          <a:spcPts val="0"/>
                        </a:spcAft>
                      </a:pPr>
                      <a:r>
                        <a:rPr sz="1300" b="0">
                          <a:solidFill>
                            <a:srgbClr val="1F1F1F"/>
                          </a:solidFill>
                          <a:latin typeface="Calibri"/>
                        </a:rPr>
                        <a:t>hipóteses abaixo : (i)</a:t>
                      </a:r>
                    </a:p>
                    <a:p>
                      <a:pPr algn="l">
                        <a:lnSpc>
                          <a:spcPct val="100000"/>
                        </a:lnSpc>
                        <a:spcBef>
                          <a:spcPts val="0"/>
                        </a:spcBef>
                        <a:spcAft>
                          <a:spcPts val="0"/>
                        </a:spcAft>
                      </a:pPr>
                      <a:r>
                        <a:rPr sz="1300" b="0">
                          <a:solidFill>
                            <a:srgbClr val="1F1F1F"/>
                          </a:solidFill>
                          <a:latin typeface="Calibri"/>
                        </a:rPr>
                        <a:t>Vício de f ormalização</a:t>
                      </a:r>
                    </a:p>
                    <a:p>
                      <a:pPr algn="l">
                        <a:lnSpc>
                          <a:spcPct val="100000"/>
                        </a:lnSpc>
                        <a:spcBef>
                          <a:spcPts val="0"/>
                        </a:spcBef>
                        <a:spcAft>
                          <a:spcPts val="0"/>
                        </a:spcAft>
                      </a:pPr>
                      <a:r>
                        <a:rPr sz="1300" b="0">
                          <a:solidFill>
                            <a:srgbClr val="1F1F1F"/>
                          </a:solidFill>
                          <a:latin typeface="Calibri"/>
                        </a:rPr>
                        <a:t>dos CCCBs e/ou CCBs a)</a:t>
                      </a:r>
                    </a:p>
                    <a:p>
                      <a:pPr algn="l">
                        <a:lnSpc>
                          <a:spcPct val="100000"/>
                        </a:lnSpc>
                        <a:spcBef>
                          <a:spcPts val="0"/>
                        </a:spcBef>
                        <a:spcAft>
                          <a:spcPts val="0"/>
                        </a:spcAft>
                      </a:pPr>
                      <a:r>
                        <a:rPr sz="1300" b="0">
                          <a:solidFill>
                            <a:srgbClr val="1F1F1F"/>
                          </a:solidFill>
                          <a:latin typeface="Calibri"/>
                        </a:rPr>
                        <a:t>por ausência de</a:t>
                      </a:r>
                    </a:p>
                    <a:p>
                      <a:pPr algn="l">
                        <a:lnSpc>
                          <a:spcPct val="100000"/>
                        </a:lnSpc>
                        <a:spcBef>
                          <a:spcPts val="0"/>
                        </a:spcBef>
                        <a:spcAft>
                          <a:spcPts val="0"/>
                        </a:spcAft>
                      </a:pPr>
                      <a:r>
                        <a:rPr sz="1300" b="0">
                          <a:solidFill>
                            <a:srgbClr val="1F1F1F"/>
                          </a:solidFill>
                          <a:latin typeface="Calibri"/>
                        </a:rPr>
                        <a:t>qualquer dos Documentos</a:t>
                      </a:r>
                    </a:p>
                    <a:p>
                      <a:pPr algn="l">
                        <a:lnSpc>
                          <a:spcPct val="100000"/>
                        </a:lnSpc>
                        <a:spcBef>
                          <a:spcPts val="0"/>
                        </a:spcBef>
                        <a:spcAft>
                          <a:spcPts val="0"/>
                        </a:spcAft>
                      </a:pPr>
                      <a:r>
                        <a:rPr sz="1300" b="0">
                          <a:solidFill>
                            <a:srgbClr val="1F1F1F"/>
                          </a:solidFill>
                          <a:latin typeface="Calibri"/>
                        </a:rPr>
                        <a:t>Comprobatórios ou</a:t>
                      </a:r>
                    </a:p>
                    <a:p>
                      <a:pPr algn="l">
                        <a:lnSpc>
                          <a:spcPct val="100000"/>
                        </a:lnSpc>
                        <a:spcBef>
                          <a:spcPts val="0"/>
                        </a:spcBef>
                        <a:spcAft>
                          <a:spcPts val="0"/>
                        </a:spcAft>
                      </a:pPr>
                      <a:r>
                        <a:rPr sz="1300" b="0">
                          <a:solidFill>
                            <a:srgbClr val="1F1F1F"/>
                          </a:solidFill>
                          <a:latin typeface="Calibri"/>
                        </a:rPr>
                        <a:t>falsificação,</a:t>
                      </a:r>
                    </a:p>
                    <a:p>
                      <a:pPr algn="l">
                        <a:lnSpc>
                          <a:spcPct val="100000"/>
                        </a:lnSpc>
                        <a:spcBef>
                          <a:spcPts val="0"/>
                        </a:spcBef>
                        <a:spcAft>
                          <a:spcPts val="0"/>
                        </a:spcAft>
                      </a:pPr>
                      <a:r>
                        <a:rPr sz="1300" b="0">
                          <a:solidFill>
                            <a:srgbClr val="1F1F1F"/>
                          </a:solidFill>
                          <a:latin typeface="Calibri"/>
                        </a:rPr>
                        <a:t>irregularidade sou má</a:t>
                      </a:r>
                    </a:p>
                    <a:p>
                      <a:pPr algn="l">
                        <a:lnSpc>
                          <a:spcPct val="100000"/>
                        </a:lnSpc>
                        <a:spcBef>
                          <a:spcPts val="0"/>
                        </a:spcBef>
                        <a:spcAft>
                          <a:spcPts val="0"/>
                        </a:spcAft>
                      </a:pPr>
                      <a:r>
                        <a:rPr sz="1300" b="0">
                          <a:solidFill>
                            <a:srgbClr val="1F1F1F"/>
                          </a:solidFill>
                          <a:latin typeface="Calibri"/>
                        </a:rPr>
                        <a:t>formalização destes; b)</a:t>
                      </a:r>
                    </a:p>
                    <a:p>
                      <a:pPr algn="l">
                        <a:lnSpc>
                          <a:spcPct val="100000"/>
                        </a:lnSpc>
                        <a:spcBef>
                          <a:spcPts val="0"/>
                        </a:spcBef>
                        <a:spcAft>
                          <a:spcPts val="0"/>
                        </a:spcAft>
                      </a:pPr>
                      <a:r>
                        <a:rPr sz="1300" b="0">
                          <a:solidFill>
                            <a:srgbClr val="1F1F1F"/>
                          </a:solidFill>
                          <a:latin typeface="Calibri"/>
                        </a:rPr>
                        <a:t>por falta de</a:t>
                      </a:r>
                    </a:p>
                    <a:p>
                      <a:pPr algn="l">
                        <a:lnSpc>
                          <a:spcPct val="100000"/>
                        </a:lnSpc>
                        <a:spcBef>
                          <a:spcPts val="0"/>
                        </a:spcBef>
                        <a:spcAft>
                          <a:spcPts val="0"/>
                        </a:spcAft>
                      </a:pPr>
                      <a:r>
                        <a:rPr sz="1300" b="0">
                          <a:solidFill>
                            <a:srgbClr val="1F1F1F"/>
                          </a:solidFill>
                          <a:latin typeface="Calibri"/>
                        </a:rPr>
                        <a:t>recebimento do crédito</a:t>
                      </a:r>
                    </a:p>
                    <a:p>
                      <a:pPr algn="l">
                        <a:lnSpc>
                          <a:spcPct val="100000"/>
                        </a:lnSpc>
                        <a:spcBef>
                          <a:spcPts val="0"/>
                        </a:spcBef>
                        <a:spcAft>
                          <a:spcPts val="0"/>
                        </a:spcAft>
                      </a:pPr>
                      <a:r>
                        <a:rPr sz="1300" b="0">
                          <a:solidFill>
                            <a:srgbClr val="1F1F1F"/>
                          </a:solidFill>
                          <a:latin typeface="Calibri"/>
                        </a:rPr>
                        <a:t>pelo Devedor; ou, c)</a:t>
                      </a:r>
                    </a:p>
                    <a:p>
                      <a:pPr algn="l">
                        <a:lnSpc>
                          <a:spcPct val="100000"/>
                        </a:lnSpc>
                        <a:spcBef>
                          <a:spcPts val="0"/>
                        </a:spcBef>
                        <a:spcAft>
                          <a:spcPts val="0"/>
                        </a:spcAft>
                      </a:pPr>
                      <a:r>
                        <a:rPr sz="1300" b="0">
                          <a:solidFill>
                            <a:srgbClr val="1F1F1F"/>
                          </a:solidFill>
                          <a:latin typeface="Calibri"/>
                        </a:rPr>
                        <a:t>por averbação irregular</a:t>
                      </a:r>
                    </a:p>
                    <a:p>
                      <a:pPr algn="l">
                        <a:lnSpc>
                          <a:spcPct val="100000"/>
                        </a:lnSpc>
                        <a:spcBef>
                          <a:spcPts val="0"/>
                        </a:spcBef>
                        <a:spcAft>
                          <a:spcPts val="0"/>
                        </a:spcAft>
                      </a:pPr>
                      <a:r>
                        <a:rPr sz="1300" b="0">
                          <a:solidFill>
                            <a:srgbClr val="1F1F1F"/>
                          </a:solidFill>
                          <a:latin typeface="Calibri"/>
                        </a:rPr>
                        <a:t>de desconto em folha na</a:t>
                      </a:r>
                    </a:p>
                    <a:p>
                      <a:pPr algn="l">
                        <a:lnSpc>
                          <a:spcPct val="100000"/>
                        </a:lnSpc>
                        <a:spcBef>
                          <a:spcPts val="0"/>
                        </a:spcBef>
                        <a:spcAft>
                          <a:spcPts val="0"/>
                        </a:spcAft>
                      </a:pPr>
                      <a:r>
                        <a:rPr sz="1300" b="0">
                          <a:solidFill>
                            <a:srgbClr val="1F1F1F"/>
                          </a:solidFill>
                          <a:latin typeface="Calibri"/>
                        </a:rPr>
                        <a:t>margem consignável do</a:t>
                      </a:r>
                    </a:p>
                    <a:p>
                      <a:pPr algn="l">
                        <a:lnSpc>
                          <a:spcPct val="100000"/>
                        </a:lnSpc>
                        <a:spcBef>
                          <a:spcPts val="0"/>
                        </a:spcBef>
                        <a:spcAft>
                          <a:spcPts val="0"/>
                        </a:spcAft>
                      </a:pPr>
                      <a:r>
                        <a:rPr sz="1300" b="0">
                          <a:solidFill>
                            <a:srgbClr val="1F1F1F"/>
                          </a:solidFill>
                          <a:latin typeface="Calibri"/>
                        </a:rPr>
                        <a:t>Devedor;.</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Contrato de Endosso; ou</a:t>
                      </a:r>
                    </a:p>
                    <a:p>
                      <a:pPr algn="l">
                        <a:lnSpc>
                          <a:spcPct val="100000"/>
                        </a:lnSpc>
                        <a:spcBef>
                          <a:spcPts val="0"/>
                        </a:spcBef>
                        <a:spcAft>
                          <a:spcPts val="0"/>
                        </a:spcAft>
                      </a:pPr>
                      <a:r>
                        <a:rPr sz="1300" b="0">
                          <a:solidFill>
                            <a:srgbClr val="1F1F1F"/>
                          </a:solidFill>
                          <a:latin typeface="Calibri"/>
                        </a:rPr>
                        <a:t>(ii) de vender Direitos</a:t>
                      </a:r>
                    </a:p>
                    <a:p>
                      <a:pPr algn="l">
                        <a:lnSpc>
                          <a:spcPct val="100000"/>
                        </a:lnSpc>
                        <a:spcBef>
                          <a:spcPts val="0"/>
                        </a:spcBef>
                        <a:spcAft>
                          <a:spcPts val="0"/>
                        </a:spcAft>
                      </a:pPr>
                      <a:r>
                        <a:rPr sz="1300" b="0">
                          <a:solidFill>
                            <a:srgbClr val="1F1F1F"/>
                          </a:solidFill>
                          <a:latin typeface="Calibri"/>
                        </a:rPr>
                        <a:t>Creditórios ao Agente</a:t>
                      </a:r>
                    </a:p>
                    <a:p>
                      <a:pPr algn="l">
                        <a:lnSpc>
                          <a:spcPct val="100000"/>
                        </a:lnSpc>
                        <a:spcBef>
                          <a:spcPts val="0"/>
                        </a:spcBef>
                        <a:spcAft>
                          <a:spcPts val="0"/>
                        </a:spcAft>
                      </a:pPr>
                      <a:r>
                        <a:rPr sz="1300" b="0">
                          <a:solidFill>
                            <a:srgbClr val="1F1F1F"/>
                          </a:solidFill>
                          <a:latin typeface="Calibri"/>
                        </a:rPr>
                        <a:t>de Retenção/Cobrança</a:t>
                      </a:r>
                    </a:p>
                    <a:p>
                      <a:pPr algn="l">
                        <a:lnSpc>
                          <a:spcPct val="100000"/>
                        </a:lnSpc>
                        <a:spcBef>
                          <a:spcPts val="0"/>
                        </a:spcBef>
                        <a:spcAft>
                          <a:spcPts val="0"/>
                        </a:spcAft>
                      </a:pPr>
                      <a:r>
                        <a:rPr sz="1300" b="0">
                          <a:solidFill>
                            <a:srgbClr val="1F1F1F"/>
                          </a:solidFill>
                          <a:latin typeface="Calibri"/>
                        </a:rPr>
                        <a:t>(opção de venda), em</a:t>
                      </a:r>
                    </a:p>
                    <a:p>
                      <a:pPr algn="l">
                        <a:lnSpc>
                          <a:spcPct val="100000"/>
                        </a:lnSpc>
                        <a:spcBef>
                          <a:spcPts val="0"/>
                        </a:spcBef>
                        <a:spcAft>
                          <a:spcPts val="0"/>
                        </a:spcAft>
                      </a:pPr>
                      <a:r>
                        <a:rPr sz="1300" b="0">
                          <a:solidFill>
                            <a:srgbClr val="1F1F1F"/>
                          </a:solidFill>
                          <a:latin typeface="Calibri"/>
                        </a:rPr>
                        <a:t>ambos os casos</a:t>
                      </a:r>
                    </a:p>
                    <a:p>
                      <a:pPr algn="l">
                        <a:lnSpc>
                          <a:spcPct val="100000"/>
                        </a:lnSpc>
                        <a:spcBef>
                          <a:spcPts val="0"/>
                        </a:spcBef>
                        <a:spcAft>
                          <a:spcPts val="0"/>
                        </a:spcAft>
                      </a:pPr>
                      <a:r>
                        <a:rPr sz="1300" b="0">
                          <a:solidFill>
                            <a:srgbClr val="1F1F1F"/>
                          </a:solidFill>
                          <a:latin typeface="Calibri"/>
                        </a:rPr>
                        <a:t>estritamente nos termos</a:t>
                      </a:r>
                    </a:p>
                    <a:p>
                      <a:pPr algn="l">
                        <a:lnSpc>
                          <a:spcPct val="100000"/>
                        </a:lnSpc>
                        <a:spcBef>
                          <a:spcPts val="0"/>
                        </a:spcBef>
                        <a:spcAft>
                          <a:spcPts val="0"/>
                        </a:spcAft>
                      </a:pPr>
                      <a:r>
                        <a:rPr sz="1300" b="0">
                          <a:solidFill>
                            <a:srgbClr val="1F1F1F"/>
                          </a:solidFill>
                          <a:latin typeface="Calibri"/>
                        </a:rPr>
                        <a:t>do Contrato de Endosso.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41/160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Qualidade da carteira</a:t>
            </a:r>
          </a:p>
        </p:txBody>
      </p:sp>
      <p:graphicFrame>
        <p:nvGraphicFramePr>
          <p:cNvPr id="3" name="Table 2"/>
          <p:cNvGraphicFramePr>
            <a:graphicFrameLocks noGrp="1"/>
          </p:cNvGraphicFramePr>
          <p:nvPr/>
        </p:nvGraphicFramePr>
        <p:xfrm>
          <a:off x="438912" y="932688"/>
          <a:ext cx="11313868" cy="5253228"/>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4782312">
                <a:tc>
                  <a:txBody>
                    <a:bodyPr wrap="square">
                      <a:noAutofit/>
                    </a:bodyPr>
                    <a:lstStyle/>
                    <a:p>
                      <a:pPr algn="l">
                        <a:lnSpc>
                          <a:spcPct val="100000"/>
                        </a:lnSpc>
                        <a:spcBef>
                          <a:spcPts val="0"/>
                        </a:spcBef>
                        <a:spcAft>
                          <a:spcPts val="0"/>
                        </a:spcAft>
                      </a:pPr>
                      <a:r>
                        <a:rPr sz="1300" b="1">
                          <a:solidFill>
                            <a:srgbClr val="1F1F1F"/>
                          </a:solidFill>
                          <a:latin typeface="Calibri"/>
                        </a:rPr>
                        <a:t>Coobrigação e retenção</a:t>
                      </a:r>
                    </a:p>
                    <a:p>
                      <a:pPr algn="l">
                        <a:lnSpc>
                          <a:spcPct val="100000"/>
                        </a:lnSpc>
                        <a:spcBef>
                          <a:spcPts val="0"/>
                        </a:spcBef>
                        <a:spcAft>
                          <a:spcPts val="0"/>
                        </a:spcAft>
                      </a:pPr>
                      <a:r>
                        <a:rPr sz="1300" b="1">
                          <a:solidFill>
                            <a:srgbClr val="1F1F1F"/>
                          </a:solidFill>
                          <a:latin typeface="Calibri"/>
                        </a:rPr>
                        <a:t>de risco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Endosso irrevogável e</a:t>
                      </a:r>
                    </a:p>
                    <a:p>
                      <a:pPr algn="l">
                        <a:lnSpc>
                          <a:spcPct val="100000"/>
                        </a:lnSpc>
                        <a:spcBef>
                          <a:spcPts val="0"/>
                        </a:spcBef>
                        <a:spcAft>
                          <a:spcPts val="0"/>
                        </a:spcAft>
                      </a:pPr>
                      <a:r>
                        <a:rPr sz="1300" b="0">
                          <a:solidFill>
                            <a:srgbClr val="1F1F1F"/>
                          </a:solidFill>
                          <a:latin typeface="Calibri"/>
                        </a:rPr>
                        <a:t>definitivo sem</a:t>
                      </a:r>
                    </a:p>
                    <a:p>
                      <a:pPr algn="l">
                        <a:lnSpc>
                          <a:spcPct val="100000"/>
                        </a:lnSpc>
                        <a:spcBef>
                          <a:spcPts val="0"/>
                        </a:spcBef>
                        <a:spcAft>
                          <a:spcPts val="0"/>
                        </a:spcAft>
                      </a:pPr>
                      <a:r>
                        <a:rPr sz="1300" b="0">
                          <a:solidFill>
                            <a:srgbClr val="1F1F1F"/>
                          </a:solidFill>
                          <a:latin typeface="Calibri"/>
                        </a:rPr>
                        <a:t>coobrigação.</a:t>
                      </a:r>
                    </a:p>
                    <a:p>
                      <a:pPr algn="l">
                        <a:lnSpc>
                          <a:spcPct val="100000"/>
                        </a:lnSpc>
                        <a:spcBef>
                          <a:spcPts val="0"/>
                        </a:spcBef>
                        <a:spcAft>
                          <a:spcPts val="0"/>
                        </a:spcAft>
                      </a:pPr>
                      <a:r>
                        <a:rPr sz="1300" b="0">
                          <a:solidFill>
                            <a:srgbClr val="1F1F1F"/>
                          </a:solidFill>
                          <a:latin typeface="Calibri"/>
                        </a:rPr>
                        <a:t>Deterioração posterior</a:t>
                      </a:r>
                    </a:p>
                    <a:p>
                      <a:pPr algn="l">
                        <a:lnSpc>
                          <a:spcPct val="100000"/>
                        </a:lnSpc>
                        <a:spcBef>
                          <a:spcPts val="0"/>
                        </a:spcBef>
                        <a:spcAft>
                          <a:spcPts val="0"/>
                        </a:spcAft>
                      </a:pPr>
                      <a:r>
                        <a:rPr sz="1300" b="0">
                          <a:solidFill>
                            <a:srgbClr val="1F1F1F"/>
                          </a:solidFill>
                          <a:latin typeface="Calibri"/>
                        </a:rPr>
                        <a:t>da elegibilidade não</a:t>
                      </a:r>
                    </a:p>
                    <a:p>
                      <a:pPr algn="l">
                        <a:lnSpc>
                          <a:spcPct val="100000"/>
                        </a:lnSpc>
                        <a:spcBef>
                          <a:spcPts val="0"/>
                        </a:spcBef>
                        <a:spcAft>
                          <a:spcPts val="0"/>
                        </a:spcAft>
                      </a:pPr>
                      <a:r>
                        <a:rPr sz="1300" b="0">
                          <a:solidFill>
                            <a:srgbClr val="1F1F1F"/>
                          </a:solidFill>
                          <a:latin typeface="Calibri"/>
                        </a:rPr>
                        <a:t>gera regresso contra</a:t>
                      </a:r>
                    </a:p>
                    <a:p>
                      <a:pPr algn="l">
                        <a:lnSpc>
                          <a:spcPct val="100000"/>
                        </a:lnSpc>
                        <a:spcBef>
                          <a:spcPts val="0"/>
                        </a:spcBef>
                        <a:spcAft>
                          <a:spcPts val="0"/>
                        </a:spcAft>
                      </a:pPr>
                      <a:r>
                        <a:rPr sz="1300" b="0">
                          <a:solidFill>
                            <a:srgbClr val="1F1F1F"/>
                          </a:solidFill>
                          <a:latin typeface="Calibri"/>
                        </a:rPr>
                        <a:t>administrador,</a:t>
                      </a:r>
                    </a:p>
                    <a:p>
                      <a:pPr algn="l">
                        <a:lnSpc>
                          <a:spcPct val="100000"/>
                        </a:lnSpc>
                        <a:spcBef>
                          <a:spcPts val="0"/>
                        </a:spcBef>
                        <a:spcAft>
                          <a:spcPts val="0"/>
                        </a:spcAft>
                      </a:pPr>
                      <a:r>
                        <a:rPr sz="1300" b="0">
                          <a:solidFill>
                            <a:srgbClr val="1F1F1F"/>
                          </a:solidFill>
                          <a:latin typeface="Calibri"/>
                        </a:rPr>
                        <a:t>custodiante, gestor ou</a:t>
                      </a:r>
                    </a:p>
                    <a:p>
                      <a:pPr algn="l">
                        <a:lnSpc>
                          <a:spcPct val="100000"/>
                        </a:lnSpc>
                        <a:spcBef>
                          <a:spcPts val="0"/>
                        </a:spcBef>
                        <a:spcAft>
                          <a:spcPts val="0"/>
                        </a:spcAft>
                      </a:pPr>
                      <a:r>
                        <a:rPr sz="1300" b="0">
                          <a:solidFill>
                            <a:srgbClr val="1F1F1F"/>
                          </a:solidFill>
                          <a:latin typeface="Calibri"/>
                        </a:rPr>
                        <a:t>endossante. O</a:t>
                      </a:r>
                    </a:p>
                    <a:p>
                      <a:pPr algn="l">
                        <a:lnSpc>
                          <a:spcPct val="100000"/>
                        </a:lnSpc>
                        <a:spcBef>
                          <a:spcPts val="0"/>
                        </a:spcBef>
                        <a:spcAft>
                          <a:spcPts val="0"/>
                        </a:spcAft>
                      </a:pPr>
                      <a:r>
                        <a:rPr sz="1300" b="0">
                          <a:solidFill>
                            <a:srgbClr val="1F1F1F"/>
                          </a:solidFill>
                          <a:latin typeface="Calibri"/>
                        </a:rPr>
                        <a:t>endossante responde por</a:t>
                      </a:r>
                    </a:p>
                    <a:p>
                      <a:pPr algn="l">
                        <a:lnSpc>
                          <a:spcPct val="100000"/>
                        </a:lnSpc>
                        <a:spcBef>
                          <a:spcPts val="0"/>
                        </a:spcBef>
                        <a:spcAft>
                          <a:spcPts val="0"/>
                        </a:spcAft>
                      </a:pPr>
                      <a:r>
                        <a:rPr sz="1300" b="0">
                          <a:solidFill>
                            <a:srgbClr val="1F1F1F"/>
                          </a:solidFill>
                          <a:latin typeface="Calibri"/>
                        </a:rPr>
                        <a:t>existência e</a:t>
                      </a:r>
                    </a:p>
                    <a:p>
                      <a:pPr algn="l">
                        <a:lnSpc>
                          <a:spcPct val="100000"/>
                        </a:lnSpc>
                        <a:spcBef>
                          <a:spcPts val="0"/>
                        </a:spcBef>
                        <a:spcAft>
                          <a:spcPts val="0"/>
                        </a:spcAft>
                      </a:pPr>
                      <a:r>
                        <a:rPr sz="1300" b="0">
                          <a:solidFill>
                            <a:srgbClr val="1F1F1F"/>
                          </a:solidFill>
                          <a:latin typeface="Calibri"/>
                        </a:rPr>
                        <a:t>formalização, sem</a:t>
                      </a:r>
                    </a:p>
                    <a:p>
                      <a:pPr algn="l">
                        <a:lnSpc>
                          <a:spcPct val="100000"/>
                        </a:lnSpc>
                        <a:spcBef>
                          <a:spcPts val="0"/>
                        </a:spcBef>
                        <a:spcAft>
                          <a:spcPts val="0"/>
                        </a:spcAft>
                      </a:pPr>
                      <a:r>
                        <a:rPr sz="1300" b="0">
                          <a:solidFill>
                            <a:srgbClr val="1F1F1F"/>
                          </a:solidFill>
                          <a:latin typeface="Calibri"/>
                        </a:rPr>
                        <a:t>garantir o pagamento</a:t>
                      </a:r>
                    </a:p>
                    <a:p>
                      <a:pPr algn="l">
                        <a:lnSpc>
                          <a:spcPct val="100000"/>
                        </a:lnSpc>
                        <a:spcBef>
                          <a:spcPts val="0"/>
                        </a:spcBef>
                        <a:spcAft>
                          <a:spcPts val="0"/>
                        </a:spcAft>
                      </a:pPr>
                      <a:r>
                        <a:rPr sz="1300" b="0">
                          <a:solidFill>
                            <a:srgbClr val="1F1F1F"/>
                          </a:solidFill>
                          <a:latin typeface="Calibri"/>
                        </a:rPr>
                        <a:t>pelo devedor.</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Deterioração posterior</a:t>
                      </a:r>
                    </a:p>
                    <a:p>
                      <a:pPr algn="l">
                        <a:lnSpc>
                          <a:spcPct val="100000"/>
                        </a:lnSpc>
                        <a:spcBef>
                          <a:spcPts val="0"/>
                        </a:spcBef>
                        <a:spcAft>
                          <a:spcPts val="0"/>
                        </a:spcAft>
                      </a:pPr>
                      <a:r>
                        <a:rPr sz="1300" b="0">
                          <a:solidFill>
                            <a:srgbClr val="1F1F1F"/>
                          </a:solidFill>
                          <a:latin typeface="Calibri"/>
                        </a:rPr>
                        <a:t>não gera</a:t>
                      </a:r>
                    </a:p>
                    <a:p>
                      <a:pPr algn="l">
                        <a:lnSpc>
                          <a:spcPct val="100000"/>
                        </a:lnSpc>
                        <a:spcBef>
                          <a:spcPts val="0"/>
                        </a:spcBef>
                        <a:spcAft>
                          <a:spcPts val="0"/>
                        </a:spcAft>
                      </a:pPr>
                      <a:r>
                        <a:rPr sz="1300" b="0">
                          <a:solidFill>
                            <a:srgbClr val="1F1F1F"/>
                          </a:solidFill>
                          <a:latin typeface="Calibri"/>
                        </a:rPr>
                        <a:t>coobrigação/regresso,</a:t>
                      </a:r>
                    </a:p>
                    <a:p>
                      <a:pPr algn="l">
                        <a:lnSpc>
                          <a:spcPct val="100000"/>
                        </a:lnSpc>
                        <a:spcBef>
                          <a:spcPts val="0"/>
                        </a:spcBef>
                        <a:spcAft>
                          <a:spcPts val="0"/>
                        </a:spcAft>
                      </a:pPr>
                      <a:r>
                        <a:rPr sz="1300" b="0">
                          <a:solidFill>
                            <a:srgbClr val="1F1F1F"/>
                          </a:solidFill>
                          <a:latin typeface="Calibri"/>
                        </a:rPr>
                        <a:t>salvo má-fé, culpa ou</a:t>
                      </a:r>
                    </a:p>
                    <a:p>
                      <a:pPr algn="l">
                        <a:lnSpc>
                          <a:spcPct val="100000"/>
                        </a:lnSpc>
                        <a:spcBef>
                          <a:spcPts val="0"/>
                        </a:spcBef>
                        <a:spcAft>
                          <a:spcPts val="0"/>
                        </a:spcAft>
                      </a:pPr>
                      <a:r>
                        <a:rPr sz="1300" b="0">
                          <a:solidFill>
                            <a:srgbClr val="1F1F1F"/>
                          </a:solidFill>
                          <a:latin typeface="Calibri"/>
                        </a:rPr>
                        <a:t>dolo comprovados.</a:t>
                      </a:r>
                    </a:p>
                    <a:p>
                      <a:pPr algn="l">
                        <a:lnSpc>
                          <a:spcPct val="100000"/>
                        </a:lnSpc>
                        <a:spcBef>
                          <a:spcPts val="0"/>
                        </a:spcBef>
                        <a:spcAft>
                          <a:spcPts val="0"/>
                        </a:spcAft>
                      </a:pPr>
                      <a:r>
                        <a:rPr sz="1300" b="0">
                          <a:solidFill>
                            <a:srgbClr val="1F1F1F"/>
                          </a:solidFill>
                          <a:latin typeface="Calibri"/>
                        </a:rPr>
                        <a:t>Desconformidade na data</a:t>
                      </a:r>
                    </a:p>
                    <a:p>
                      <a:pPr algn="l">
                        <a:lnSpc>
                          <a:spcPct val="100000"/>
                        </a:lnSpc>
                        <a:spcBef>
                          <a:spcPts val="0"/>
                        </a:spcBef>
                        <a:spcAft>
                          <a:spcPts val="0"/>
                        </a:spcAft>
                      </a:pPr>
                      <a:r>
                        <a:rPr sz="1300" b="0">
                          <a:solidFill>
                            <a:srgbClr val="1F1F1F"/>
                          </a:solidFill>
                          <a:latin typeface="Calibri"/>
                        </a:rPr>
                        <a:t>do endosso permite</a:t>
                      </a:r>
                    </a:p>
                    <a:p>
                      <a:pPr algn="l">
                        <a:lnSpc>
                          <a:spcPct val="100000"/>
                        </a:lnSpc>
                        <a:spcBef>
                          <a:spcPts val="0"/>
                        </a:spcBef>
                        <a:spcAft>
                          <a:spcPts val="0"/>
                        </a:spcAft>
                      </a:pPr>
                      <a:r>
                        <a:rPr sz="1300" b="0">
                          <a:solidFill>
                            <a:srgbClr val="1F1F1F"/>
                          </a:solidFill>
                          <a:latin typeface="Calibri"/>
                        </a:rPr>
                        <a:t>resolução; recompra</a:t>
                      </a:r>
                    </a:p>
                    <a:p>
                      <a:pPr algn="l">
                        <a:lnSpc>
                          <a:spcPct val="100000"/>
                        </a:lnSpc>
                        <a:spcBef>
                          <a:spcPts val="0"/>
                        </a:spcBef>
                        <a:spcAft>
                          <a:spcPts val="0"/>
                        </a:spcAft>
                      </a:pPr>
                      <a:r>
                        <a:rPr sz="1300" b="0">
                          <a:solidFill>
                            <a:srgbClr val="1F1F1F"/>
                          </a:solidFill>
                          <a:latin typeface="Calibri"/>
                        </a:rPr>
                        <a:t>compulsória/opção de</a:t>
                      </a:r>
                    </a:p>
                    <a:p>
                      <a:pPr algn="l">
                        <a:lnSpc>
                          <a:spcPct val="100000"/>
                        </a:lnSpc>
                        <a:spcBef>
                          <a:spcPts val="0"/>
                        </a:spcBef>
                        <a:spcAft>
                          <a:spcPts val="0"/>
                        </a:spcAft>
                      </a:pPr>
                      <a:r>
                        <a:rPr sz="1300" b="0">
                          <a:solidFill>
                            <a:srgbClr val="1F1F1F"/>
                          </a:solidFill>
                          <a:latin typeface="Calibri"/>
                        </a:rPr>
                        <a:t>venda preservadas nos</a:t>
                      </a:r>
                    </a:p>
                    <a:p>
                      <a:pPr algn="l">
                        <a:lnSpc>
                          <a:spcPct val="100000"/>
                        </a:lnSpc>
                        <a:spcBef>
                          <a:spcPts val="0"/>
                        </a:spcBef>
                        <a:spcAft>
                          <a:spcPts val="0"/>
                        </a:spcAft>
                      </a:pPr>
                      <a:r>
                        <a:rPr sz="1300" b="0">
                          <a:solidFill>
                            <a:srgbClr val="1F1F1F"/>
                          </a:solidFill>
                          <a:latin typeface="Calibri"/>
                        </a:rPr>
                        <a:t>termos do contrato.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4.7.3 Na hipótese de</a:t>
                      </a:r>
                    </a:p>
                    <a:p>
                      <a:pPr algn="l">
                        <a:lnSpc>
                          <a:spcPct val="100000"/>
                        </a:lnSpc>
                        <a:spcBef>
                          <a:spcPts val="0"/>
                        </a:spcBef>
                        <a:spcAft>
                          <a:spcPts val="0"/>
                        </a:spcAft>
                      </a:pPr>
                      <a:r>
                        <a:rPr sz="1300" b="0">
                          <a:solidFill>
                            <a:srgbClr val="1F1F1F"/>
                          </a:solidFill>
                          <a:latin typeface="Calibri"/>
                        </a:rPr>
                        <a:t>eventuais Direitos</a:t>
                      </a:r>
                    </a:p>
                    <a:p>
                      <a:pPr algn="l">
                        <a:lnSpc>
                          <a:spcPct val="100000"/>
                        </a:lnSpc>
                        <a:spcBef>
                          <a:spcPts val="0"/>
                        </a:spcBef>
                        <a:spcAft>
                          <a:spcPts val="0"/>
                        </a:spcAft>
                      </a:pPr>
                      <a:r>
                        <a:rPr sz="1300" b="0">
                          <a:solidFill>
                            <a:srgbClr val="1F1F1F"/>
                          </a:solidFill>
                          <a:latin typeface="Calibri"/>
                        </a:rPr>
                        <a:t>Creditórios do</a:t>
                      </a:r>
                    </a:p>
                    <a:p>
                      <a:pPr algn="l">
                        <a:lnSpc>
                          <a:spcPct val="100000"/>
                        </a:lnSpc>
                        <a:spcBef>
                          <a:spcPts val="0"/>
                        </a:spcBef>
                        <a:spcAft>
                          <a:spcPts val="0"/>
                        </a:spcAft>
                      </a:pPr>
                      <a:r>
                        <a:rPr sz="1300" b="0">
                          <a:solidFill>
                            <a:srgbClr val="1F1F1F"/>
                          </a:solidFill>
                          <a:latin typeface="Calibri"/>
                        </a:rPr>
                        <a:t>Agronegócio elegíveis</a:t>
                      </a:r>
                    </a:p>
                    <a:p>
                      <a:pPr algn="l">
                        <a:lnSpc>
                          <a:spcPct val="100000"/>
                        </a:lnSpc>
                        <a:spcBef>
                          <a:spcPts val="0"/>
                        </a:spcBef>
                        <a:spcAft>
                          <a:spcPts val="0"/>
                        </a:spcAft>
                      </a:pPr>
                      <a:r>
                        <a:rPr sz="1300" b="0">
                          <a:solidFill>
                            <a:srgbClr val="1F1F1F"/>
                          </a:solidFill>
                          <a:latin typeface="Calibri"/>
                        </a:rPr>
                        <a:t>deixarem de atender a</a:t>
                      </a:r>
                    </a:p>
                    <a:p>
                      <a:pPr algn="l">
                        <a:lnSpc>
                          <a:spcPct val="100000"/>
                        </a:lnSpc>
                        <a:spcBef>
                          <a:spcPts val="0"/>
                        </a:spcBef>
                        <a:spcAft>
                          <a:spcPts val="0"/>
                        </a:spcAft>
                      </a:pPr>
                      <a:r>
                        <a:rPr sz="1300" b="0">
                          <a:solidFill>
                            <a:srgbClr val="1F1F1F"/>
                          </a:solidFill>
                          <a:latin typeface="Calibri"/>
                        </a:rPr>
                        <a:t>qualquer Critério de</a:t>
                      </a:r>
                    </a:p>
                    <a:p>
                      <a:pPr algn="l">
                        <a:lnSpc>
                          <a:spcPct val="100000"/>
                        </a:lnSpc>
                        <a:spcBef>
                          <a:spcPts val="0"/>
                        </a:spcBef>
                        <a:spcAft>
                          <a:spcPts val="0"/>
                        </a:spcAft>
                      </a:pPr>
                      <a:r>
                        <a:rPr sz="1300" b="0">
                          <a:solidFill>
                            <a:srgbClr val="1F1F1F"/>
                          </a:solidFill>
                          <a:latin typeface="Calibri"/>
                        </a:rPr>
                        <a:t>Elegibilidade após sua</a:t>
                      </a:r>
                    </a:p>
                    <a:p>
                      <a:pPr algn="l">
                        <a:lnSpc>
                          <a:spcPct val="100000"/>
                        </a:lnSpc>
                        <a:spcBef>
                          <a:spcPts val="0"/>
                        </a:spcBef>
                        <a:spcAft>
                          <a:spcPts val="0"/>
                        </a:spcAft>
                      </a:pPr>
                      <a:r>
                        <a:rPr sz="1300" b="0">
                          <a:solidFill>
                            <a:srgbClr val="1F1F1F"/>
                          </a:solidFill>
                          <a:latin typeface="Calibri"/>
                        </a:rPr>
                        <a:t>aquisição pela Classe,</a:t>
                      </a:r>
                    </a:p>
                    <a:p>
                      <a:pPr algn="l">
                        <a:lnSpc>
                          <a:spcPct val="100000"/>
                        </a:lnSpc>
                        <a:spcBef>
                          <a:spcPts val="0"/>
                        </a:spcBef>
                        <a:spcAft>
                          <a:spcPts val="0"/>
                        </a:spcAft>
                      </a:pPr>
                      <a:r>
                        <a:rPr sz="1300" b="0">
                          <a:solidFill>
                            <a:srgbClr val="1F1F1F"/>
                          </a:solidFill>
                          <a:latin typeface="Calibri"/>
                        </a:rPr>
                        <a:t>tal f ato não será</a:t>
                      </a:r>
                    </a:p>
                    <a:p>
                      <a:pPr algn="l">
                        <a:lnSpc>
                          <a:spcPct val="100000"/>
                        </a:lnSpc>
                        <a:spcBef>
                          <a:spcPts val="0"/>
                        </a:spcBef>
                        <a:spcAft>
                          <a:spcPts val="0"/>
                        </a:spcAft>
                      </a:pPr>
                      <a:r>
                        <a:rPr sz="1300" b="0">
                          <a:solidFill>
                            <a:srgbClr val="1F1F1F"/>
                          </a:solidFill>
                          <a:latin typeface="Calibri"/>
                        </a:rPr>
                        <a:t>entendido como um</a:t>
                      </a:r>
                    </a:p>
                    <a:p>
                      <a:pPr algn="l">
                        <a:lnSpc>
                          <a:spcPct val="100000"/>
                        </a:lnSpc>
                        <a:spcBef>
                          <a:spcPts val="0"/>
                        </a:spcBef>
                        <a:spcAft>
                          <a:spcPts val="0"/>
                        </a:spcAft>
                      </a:pPr>
                      <a:r>
                        <a:rPr sz="1300" b="0">
                          <a:solidFill>
                            <a:srgbClr val="1F1F1F"/>
                          </a:solidFill>
                          <a:latin typeface="Calibri"/>
                        </a:rPr>
                        <a:t>desenquadramento da</a:t>
                      </a:r>
                    </a:p>
                    <a:p>
                      <a:pPr algn="l">
                        <a:lnSpc>
                          <a:spcPct val="100000"/>
                        </a:lnSpc>
                        <a:spcBef>
                          <a:spcPts val="0"/>
                        </a:spcBef>
                        <a:spcAft>
                          <a:spcPts val="0"/>
                        </a:spcAft>
                      </a:pPr>
                      <a:r>
                        <a:rPr sz="1300" b="0">
                          <a:solidFill>
                            <a:srgbClr val="1F1F1F"/>
                          </a:solidFill>
                          <a:latin typeface="Calibri"/>
                        </a:rPr>
                        <a:t>carteira, tampouco</a:t>
                      </a:r>
                    </a:p>
                    <a:p>
                      <a:pPr algn="l">
                        <a:lnSpc>
                          <a:spcPct val="100000"/>
                        </a:lnSpc>
                        <a:spcBef>
                          <a:spcPts val="0"/>
                        </a:spcBef>
                        <a:spcAft>
                          <a:spcPts val="0"/>
                        </a:spcAft>
                      </a:pPr>
                      <a:r>
                        <a:rPr sz="1300" b="0">
                          <a:solidFill>
                            <a:srgbClr val="1F1F1F"/>
                          </a:solidFill>
                          <a:latin typeface="Calibri"/>
                        </a:rPr>
                        <a:t>haverá direito de</a:t>
                      </a:r>
                    </a:p>
                    <a:p>
                      <a:pPr algn="l">
                        <a:lnSpc>
                          <a:spcPct val="100000"/>
                        </a:lnSpc>
                        <a:spcBef>
                          <a:spcPts val="0"/>
                        </a:spcBef>
                        <a:spcAft>
                          <a:spcPts val="0"/>
                        </a:spcAft>
                      </a:pPr>
                      <a:r>
                        <a:rPr sz="1300" b="0">
                          <a:solidFill>
                            <a:srgbClr val="1F1F1F"/>
                          </a:solidFill>
                          <a:latin typeface="Calibri"/>
                        </a:rPr>
                        <a:t>regresso contra o</a:t>
                      </a:r>
                    </a:p>
                    <a:p>
                      <a:pPr algn="l">
                        <a:lnSpc>
                          <a:spcPct val="100000"/>
                        </a:lnSpc>
                        <a:spcBef>
                          <a:spcPts val="0"/>
                        </a:spcBef>
                        <a:spcAft>
                          <a:spcPts val="0"/>
                        </a:spcAft>
                      </a:pPr>
                      <a:r>
                        <a:rPr sz="1300" b="0">
                          <a:solidFill>
                            <a:srgbClr val="1F1F1F"/>
                          </a:solidFill>
                          <a:latin typeface="Calibri"/>
                        </a:rPr>
                        <a:t>Administrador e/ou o</a:t>
                      </a:r>
                    </a:p>
                    <a:p>
                      <a:pPr algn="l">
                        <a:lnSpc>
                          <a:spcPct val="100000"/>
                        </a:lnSpc>
                        <a:spcBef>
                          <a:spcPts val="0"/>
                        </a:spcBef>
                        <a:spcAft>
                          <a:spcPts val="0"/>
                        </a:spcAft>
                      </a:pPr>
                      <a:r>
                        <a:rPr sz="1300" b="0">
                          <a:solidFill>
                            <a:srgbClr val="1F1F1F"/>
                          </a:solidFill>
                          <a:latin typeface="Calibri"/>
                        </a:rPr>
                        <a:t>Gestor. Limites de</a:t>
                      </a:r>
                    </a:p>
                    <a:p>
                      <a:pPr algn="l">
                        <a:lnSpc>
                          <a:spcPct val="100000"/>
                        </a:lnSpc>
                        <a:spcBef>
                          <a:spcPts val="0"/>
                        </a:spcBef>
                        <a:spcAft>
                          <a:spcPts val="0"/>
                        </a:spcAft>
                      </a:pPr>
                      <a:r>
                        <a:rPr sz="1300" b="0">
                          <a:solidFill>
                            <a:srgbClr val="1F1F1F"/>
                          </a:solidFill>
                          <a:latin typeface="Calibri"/>
                        </a:rPr>
                        <a:t>concentração aplicáveis</a:t>
                      </a:r>
                    </a:p>
                    <a:p>
                      <a:pPr algn="l">
                        <a:lnSpc>
                          <a:spcPct val="100000"/>
                        </a:lnSpc>
                        <a:spcBef>
                          <a:spcPts val="0"/>
                        </a:spcBef>
                        <a:spcAft>
                          <a:spcPts val="0"/>
                        </a:spcAft>
                      </a:pPr>
                      <a:r>
                        <a:rPr sz="1300" b="0">
                          <a:solidFill>
                            <a:srgbClr val="1F1F1F"/>
                          </a:solidFill>
                          <a:latin typeface="Calibri"/>
                        </a:rPr>
                        <a:t>aos Direitos</a:t>
                      </a:r>
                    </a:p>
                    <a:p>
                      <a:pPr algn="l">
                        <a:lnSpc>
                          <a:spcPct val="100000"/>
                        </a:lnSpc>
                        <a:spcBef>
                          <a:spcPts val="0"/>
                        </a:spcBef>
                        <a:spcAft>
                          <a:spcPts val="0"/>
                        </a:spcAft>
                      </a:pPr>
                      <a:r>
                        <a:rPr sz="1300" b="0">
                          <a:solidFill>
                            <a:srgbClr val="1F1F1F"/>
                          </a:solidFill>
                          <a:latin typeface="Calibri"/>
                        </a:rPr>
                        <a:t>Creditórios do</a:t>
                      </a:r>
                    </a:p>
                    <a:p>
                      <a:pPr algn="l">
                        <a:lnSpc>
                          <a:spcPct val="100000"/>
                        </a:lnSpc>
                        <a:spcBef>
                          <a:spcPts val="0"/>
                        </a:spcBef>
                        <a:spcAft>
                          <a:spcPts val="0"/>
                        </a:spcAft>
                      </a:pPr>
                      <a:r>
                        <a:rPr sz="1300" b="0">
                          <a:solidFill>
                            <a:srgbClr val="1F1F1F"/>
                          </a:solidFill>
                          <a:latin typeface="Calibri"/>
                        </a:rPr>
                        <a:t>Agronegócio e fundos de</a:t>
                      </a:r>
                    </a:p>
                    <a:p>
                      <a:pPr algn="l">
                        <a:lnSpc>
                          <a:spcPct val="100000"/>
                        </a:lnSpc>
                        <a:spcBef>
                          <a:spcPts val="0"/>
                        </a:spcBef>
                        <a:spcAft>
                          <a:spcPts val="0"/>
                        </a:spcAft>
                      </a:pPr>
                      <a:r>
                        <a:rPr sz="1300" b="0">
                          <a:solidFill>
                            <a:srgbClr val="1F1F1F"/>
                          </a:solidFill>
                          <a:latin typeface="Calibri"/>
                        </a:rPr>
                        <a:t>investimento em</a:t>
                      </a:r>
                    </a:p>
                    <a:p>
                      <a:pPr algn="l">
                        <a:lnSpc>
                          <a:spcPct val="100000"/>
                        </a:lnSpc>
                        <a:spcBef>
                          <a:spcPts val="0"/>
                        </a:spcBef>
                        <a:spcAft>
                          <a:spcPts val="0"/>
                        </a:spcAft>
                      </a:pPr>
                      <a:r>
                        <a:rPr sz="1300" b="0">
                          <a:solidFill>
                            <a:srgbClr val="1F1F1F"/>
                          </a:solidFill>
                          <a:latin typeface="Calibri"/>
                        </a:rPr>
                        <a:t>Direitos Creditórios do</a:t>
                      </a:r>
                    </a:p>
                    <a:p>
                      <a:pPr algn="l">
                        <a:lnSpc>
                          <a:spcPct val="100000"/>
                        </a:lnSpc>
                        <a:spcBef>
                          <a:spcPts val="0"/>
                        </a:spcBef>
                        <a:spcAft>
                          <a:spcPts val="0"/>
                        </a:spcAft>
                      </a:pPr>
                      <a:r>
                        <a:rPr sz="1300" b="0">
                          <a:solidFill>
                            <a:srgbClr val="1F1F1F"/>
                          </a:solidFill>
                          <a:latin typeface="Calibri"/>
                        </a:rPr>
                        <a:t>Agronegócio investidos</a:t>
                      </a:r>
                    </a:p>
                    <a:p>
                      <a:pPr algn="l">
                        <a:lnSpc>
                          <a:spcPct val="100000"/>
                        </a:lnSpc>
                        <a:spcBef>
                          <a:spcPts val="0"/>
                        </a:spcBef>
                        <a:spcAft>
                          <a:spcPts val="0"/>
                        </a:spcAft>
                      </a:pPr>
                      <a:r>
                        <a:rPr sz="1300" b="0">
                          <a:solidFill>
                            <a:srgbClr val="1F1F1F"/>
                          </a:solidFill>
                          <a:latin typeface="Calibri"/>
                        </a:rPr>
                        <a:t>pela Classe</a:t>
                      </a:r>
                    </a:p>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ii) Risco de sistemas.</a:t>
                      </a:r>
                    </a:p>
                    <a:p>
                      <a:pPr algn="l">
                        <a:lnSpc>
                          <a:spcPct val="100000"/>
                        </a:lnSpc>
                        <a:spcBef>
                          <a:spcPts val="0"/>
                        </a:spcBef>
                        <a:spcAft>
                          <a:spcPts val="0"/>
                        </a:spcAft>
                      </a:pPr>
                      <a:r>
                        <a:rPr sz="1300" b="0">
                          <a:solidFill>
                            <a:srgbClr val="1F1F1F"/>
                          </a:solidFill>
                          <a:latin typeface="Calibri"/>
                        </a:rPr>
                        <a:t>Dada a complexidade</a:t>
                      </a:r>
                    </a:p>
                    <a:p>
                      <a:pPr algn="l">
                        <a:lnSpc>
                          <a:spcPct val="100000"/>
                        </a:lnSpc>
                        <a:spcBef>
                          <a:spcPts val="0"/>
                        </a:spcBef>
                        <a:spcAft>
                          <a:spcPts val="0"/>
                        </a:spcAft>
                      </a:pPr>
                      <a:r>
                        <a:rPr sz="1300" b="0">
                          <a:solidFill>
                            <a:srgbClr val="1F1F1F"/>
                          </a:solidFill>
                          <a:latin typeface="Calibri"/>
                        </a:rPr>
                        <a:t>operacional própria dos</a:t>
                      </a:r>
                    </a:p>
                    <a:p>
                      <a:pPr algn="l">
                        <a:lnSpc>
                          <a:spcPct val="100000"/>
                        </a:lnSpc>
                        <a:spcBef>
                          <a:spcPts val="0"/>
                        </a:spcBef>
                        <a:spcAft>
                          <a:spcPts val="0"/>
                        </a:spcAft>
                      </a:pPr>
                      <a:r>
                        <a:rPr sz="1300" b="0">
                          <a:solidFill>
                            <a:srgbClr val="1F1F1F"/>
                          </a:solidFill>
                          <a:latin typeface="Calibri"/>
                        </a:rPr>
                        <a:t>fundos de investimento</a:t>
                      </a:r>
                    </a:p>
                    <a:p>
                      <a:pPr algn="l">
                        <a:lnSpc>
                          <a:spcPct val="100000"/>
                        </a:lnSpc>
                        <a:spcBef>
                          <a:spcPts val="0"/>
                        </a:spcBef>
                        <a:spcAft>
                          <a:spcPts val="0"/>
                        </a:spcAft>
                      </a:pPr>
                      <a:r>
                        <a:rPr sz="1300" b="0">
                          <a:solidFill>
                            <a:srgbClr val="1F1F1F"/>
                          </a:solidFill>
                          <a:latin typeface="Calibri"/>
                        </a:rPr>
                        <a:t>em direitos</a:t>
                      </a:r>
                    </a:p>
                    <a:p>
                      <a:pPr algn="l">
                        <a:lnSpc>
                          <a:spcPct val="100000"/>
                        </a:lnSpc>
                        <a:spcBef>
                          <a:spcPts val="0"/>
                        </a:spcBef>
                        <a:spcAft>
                          <a:spcPts val="0"/>
                        </a:spcAft>
                      </a:pPr>
                      <a:r>
                        <a:rPr sz="1300" b="0">
                          <a:solidFill>
                            <a:srgbClr val="1F1F1F"/>
                          </a:solidFill>
                          <a:latin typeface="Calibri"/>
                        </a:rPr>
                        <a:t>creditórios, não há</a:t>
                      </a:r>
                    </a:p>
                    <a:p>
                      <a:pPr algn="l">
                        <a:lnSpc>
                          <a:spcPct val="100000"/>
                        </a:lnSpc>
                        <a:spcBef>
                          <a:spcPts val="0"/>
                        </a:spcBef>
                        <a:spcAft>
                          <a:spcPts val="0"/>
                        </a:spcAft>
                      </a:pPr>
                      <a:r>
                        <a:rPr sz="1300" b="0">
                          <a:solidFill>
                            <a:srgbClr val="1F1F1F"/>
                          </a:solidFill>
                          <a:latin typeface="Calibri"/>
                        </a:rPr>
                        <a:t>garantia de que as</a:t>
                      </a:r>
                    </a:p>
                    <a:p>
                      <a:pPr algn="l">
                        <a:lnSpc>
                          <a:spcPct val="100000"/>
                        </a:lnSpc>
                        <a:spcBef>
                          <a:spcPts val="0"/>
                        </a:spcBef>
                        <a:spcAft>
                          <a:spcPts val="0"/>
                        </a:spcAft>
                      </a:pPr>
                      <a:r>
                        <a:rPr sz="1300" b="0">
                          <a:solidFill>
                            <a:srgbClr val="1F1F1F"/>
                          </a:solidFill>
                          <a:latin typeface="Calibri"/>
                        </a:rPr>
                        <a:t>trocas de informações</a:t>
                      </a:r>
                    </a:p>
                    <a:p>
                      <a:pPr algn="l">
                        <a:lnSpc>
                          <a:spcPct val="100000"/>
                        </a:lnSpc>
                        <a:spcBef>
                          <a:spcPts val="0"/>
                        </a:spcBef>
                        <a:spcAft>
                          <a:spcPts val="0"/>
                        </a:spcAft>
                      </a:pPr>
                      <a:r>
                        <a:rPr sz="1300" b="0">
                          <a:solidFill>
                            <a:srgbClr val="1F1F1F"/>
                          </a:solidFill>
                          <a:latin typeface="Calibri"/>
                        </a:rPr>
                        <a:t>entre os sistemas</a:t>
                      </a:r>
                    </a:p>
                    <a:p>
                      <a:pPr algn="l">
                        <a:lnSpc>
                          <a:spcPct val="100000"/>
                        </a:lnSpc>
                        <a:spcBef>
                          <a:spcPts val="0"/>
                        </a:spcBef>
                        <a:spcAft>
                          <a:spcPts val="0"/>
                        </a:spcAft>
                      </a:pPr>
                      <a:r>
                        <a:rPr sz="1300" b="0">
                          <a:solidFill>
                            <a:srgbClr val="1F1F1F"/>
                          </a:solidFill>
                          <a:latin typeface="Calibri"/>
                        </a:rPr>
                        <a:t>eletrônicos do</a:t>
                      </a:r>
                    </a:p>
                    <a:p>
                      <a:pPr algn="l">
                        <a:lnSpc>
                          <a:spcPct val="100000"/>
                        </a:lnSpc>
                        <a:spcBef>
                          <a:spcPts val="0"/>
                        </a:spcBef>
                        <a:spcAft>
                          <a:spcPts val="0"/>
                        </a:spcAft>
                      </a:pPr>
                      <a:r>
                        <a:rPr sz="1300" b="0">
                          <a:solidFill>
                            <a:srgbClr val="1F1F1F"/>
                          </a:solidFill>
                          <a:latin typeface="Calibri"/>
                        </a:rPr>
                        <a:t>Custodiante, da</a:t>
                      </a:r>
                    </a:p>
                    <a:p>
                      <a:pPr algn="l">
                        <a:lnSpc>
                          <a:spcPct val="100000"/>
                        </a:lnSpc>
                        <a:spcBef>
                          <a:spcPts val="0"/>
                        </a:spcBef>
                        <a:spcAft>
                          <a:spcPts val="0"/>
                        </a:spcAft>
                      </a:pPr>
                      <a:r>
                        <a:rPr sz="1300" b="0">
                          <a:solidFill>
                            <a:srgbClr val="1F1F1F"/>
                          </a:solidFill>
                          <a:latin typeface="Calibri"/>
                        </a:rPr>
                        <a:t>Administradora, do</a:t>
                      </a:r>
                    </a:p>
                    <a:p>
                      <a:pPr algn="l">
                        <a:lnSpc>
                          <a:spcPct val="100000"/>
                        </a:lnSpc>
                        <a:spcBef>
                          <a:spcPts val="0"/>
                        </a:spcBef>
                        <a:spcAft>
                          <a:spcPts val="0"/>
                        </a:spcAft>
                      </a:pPr>
                      <a:r>
                        <a:rPr sz="1300" b="0">
                          <a:solidFill>
                            <a:srgbClr val="1F1F1F"/>
                          </a:solidFill>
                          <a:latin typeface="Calibri"/>
                        </a:rPr>
                        <a:t>Gestor, da Classe e,</a:t>
                      </a:r>
                    </a:p>
                    <a:p>
                      <a:pPr algn="l">
                        <a:lnSpc>
                          <a:spcPct val="100000"/>
                        </a:lnSpc>
                        <a:spcBef>
                          <a:spcPts val="0"/>
                        </a:spcBef>
                        <a:spcAft>
                          <a:spcPts val="0"/>
                        </a:spcAft>
                      </a:pPr>
                      <a:r>
                        <a:rPr sz="1300" b="0">
                          <a:solidFill>
                            <a:srgbClr val="1F1F1F"/>
                          </a:solidFill>
                          <a:latin typeface="Calibri"/>
                        </a:rPr>
                        <a:t>quando aplicável, do</a:t>
                      </a:r>
                    </a:p>
                    <a:p>
                      <a:pPr algn="l">
                        <a:lnSpc>
                          <a:spcPct val="100000"/>
                        </a:lnSpc>
                        <a:spcBef>
                          <a:spcPts val="0"/>
                        </a:spcBef>
                        <a:spcAft>
                          <a:spcPts val="0"/>
                        </a:spcAft>
                      </a:pPr>
                      <a:r>
                        <a:rPr sz="1300" b="0">
                          <a:solidFill>
                            <a:srgbClr val="1F1F1F"/>
                          </a:solidFill>
                          <a:latin typeface="Calibri"/>
                        </a:rPr>
                        <a:t>endossante, dos</a:t>
                      </a:r>
                    </a:p>
                    <a:p>
                      <a:pPr algn="l">
                        <a:lnSpc>
                          <a:spcPct val="100000"/>
                        </a:lnSpc>
                        <a:spcBef>
                          <a:spcPts val="0"/>
                        </a:spcBef>
                        <a:spcAft>
                          <a:spcPts val="0"/>
                        </a:spcAft>
                      </a:pPr>
                      <a:r>
                        <a:rPr sz="1300" b="0">
                          <a:solidFill>
                            <a:srgbClr val="1F1F1F"/>
                          </a:solidFill>
                          <a:latin typeface="Calibri"/>
                        </a:rPr>
                        <a:t>devedores e/ou</a:t>
                      </a:r>
                    </a:p>
                    <a:p>
                      <a:pPr algn="l">
                        <a:lnSpc>
                          <a:spcPct val="100000"/>
                        </a:lnSpc>
                        <a:spcBef>
                          <a:spcPts val="0"/>
                        </a:spcBef>
                        <a:spcAft>
                          <a:spcPts val="0"/>
                        </a:spcAft>
                      </a:pPr>
                      <a:r>
                        <a:rPr sz="1300" b="0">
                          <a:solidFill>
                            <a:srgbClr val="1F1F1F"/>
                          </a:solidFill>
                          <a:latin typeface="Calibri"/>
                        </a:rPr>
                        <a:t>coobrigados, conforme</a:t>
                      </a:r>
                    </a:p>
                    <a:p>
                      <a:pPr algn="l">
                        <a:lnSpc>
                          <a:spcPct val="100000"/>
                        </a:lnSpc>
                        <a:spcBef>
                          <a:spcPts val="0"/>
                        </a:spcBef>
                        <a:spcAft>
                          <a:spcPts val="0"/>
                        </a:spcAft>
                      </a:pPr>
                      <a:r>
                        <a:rPr sz="1300" b="0">
                          <a:solidFill>
                            <a:srgbClr val="1F1F1F"/>
                          </a:solidFill>
                          <a:latin typeface="Calibri"/>
                        </a:rPr>
                        <a:t>aplicável, se darão</a:t>
                      </a:r>
                    </a:p>
                    <a:p>
                      <a:pPr algn="l">
                        <a:lnSpc>
                          <a:spcPct val="100000"/>
                        </a:lnSpc>
                        <a:spcBef>
                          <a:spcPts val="0"/>
                        </a:spcBef>
                        <a:spcAft>
                          <a:spcPts val="0"/>
                        </a:spcAft>
                      </a:pPr>
                      <a:r>
                        <a:rPr sz="1300" b="0">
                          <a:solidFill>
                            <a:srgbClr val="1F1F1F"/>
                          </a:solidFill>
                          <a:latin typeface="Calibri"/>
                        </a:rPr>
                        <a:t>livres de erros. Caso</a:t>
                      </a:r>
                    </a:p>
                    <a:p>
                      <a:pPr algn="l">
                        <a:lnSpc>
                          <a:spcPct val="100000"/>
                        </a:lnSpc>
                        <a:spcBef>
                          <a:spcPts val="0"/>
                        </a:spcBef>
                        <a:spcAft>
                          <a:spcPts val="0"/>
                        </a:spcAft>
                      </a:pPr>
                      <a:r>
                        <a:rPr sz="1300" b="0">
                          <a:solidFill>
                            <a:srgbClr val="1F1F1F"/>
                          </a:solidFill>
                          <a:latin typeface="Calibri"/>
                        </a:rPr>
                        <a:t>qualquer desses riscos</a:t>
                      </a:r>
                    </a:p>
                    <a:p>
                      <a:pPr algn="l">
                        <a:lnSpc>
                          <a:spcPct val="100000"/>
                        </a:lnSpc>
                        <a:spcBef>
                          <a:spcPts val="0"/>
                        </a:spcBef>
                        <a:spcAft>
                          <a:spcPts val="0"/>
                        </a:spcAft>
                      </a:pPr>
                      <a:r>
                        <a:rPr sz="1300" b="0">
                          <a:solidFill>
                            <a:srgbClr val="1F1F1F"/>
                          </a:solidFill>
                          <a:latin typeface="Calibri"/>
                        </a:rPr>
                        <a:t>venha a se</a:t>
                      </a:r>
                    </a:p>
                    <a:p>
                      <a:pPr algn="l">
                        <a:lnSpc>
                          <a:spcPct val="100000"/>
                        </a:lnSpc>
                        <a:spcBef>
                          <a:spcPts val="0"/>
                        </a:spcBef>
                        <a:spcAft>
                          <a:spcPts val="0"/>
                        </a:spcAft>
                      </a:pPr>
                      <a:r>
                        <a:rPr sz="1300" b="0">
                          <a:solidFill>
                            <a:srgbClr val="1F1F1F"/>
                          </a:solidFill>
                          <a:latin typeface="Calibri"/>
                        </a:rPr>
                        <a:t>materializar, a</a:t>
                      </a:r>
                    </a:p>
                    <a:p>
                      <a:pPr algn="l">
                        <a:lnSpc>
                          <a:spcPct val="100000"/>
                        </a:lnSpc>
                        <a:spcBef>
                          <a:spcPts val="0"/>
                        </a:spcBef>
                        <a:spcAft>
                          <a:spcPts val="0"/>
                        </a:spcAft>
                      </a:pPr>
                      <a:r>
                        <a:rPr sz="1300" b="0">
                          <a:solidFill>
                            <a:srgbClr val="1F1F1F"/>
                          </a:solidFill>
                          <a:latin typeface="Calibri"/>
                        </a:rPr>
                        <a:t>aquisição, cobrança ou</a:t>
                      </a:r>
                    </a:p>
                    <a:p>
                      <a:pPr algn="l">
                        <a:lnSpc>
                          <a:spcPct val="100000"/>
                        </a:lnSpc>
                        <a:spcBef>
                          <a:spcPts val="0"/>
                        </a:spcBef>
                        <a:spcAft>
                          <a:spcPts val="0"/>
                        </a:spcAft>
                      </a:pPr>
                      <a:r>
                        <a:rPr sz="1300" b="0">
                          <a:solidFill>
                            <a:srgbClr val="1F1F1F"/>
                          </a:solidFill>
                          <a:latin typeface="Calibri"/>
                        </a:rPr>
                        <a:t>realização dos direitos</a:t>
                      </a:r>
                    </a:p>
                    <a:p>
                      <a:pPr algn="l">
                        <a:lnSpc>
                          <a:spcPct val="100000"/>
                        </a:lnSpc>
                        <a:spcBef>
                          <a:spcPts val="0"/>
                        </a:spcBef>
                        <a:spcAft>
                          <a:spcPts val="0"/>
                        </a:spcAft>
                      </a:pPr>
                      <a:r>
                        <a:rPr sz="1300" b="0">
                          <a:solidFill>
                            <a:srgbClr val="1F1F1F"/>
                          </a:solidFill>
                          <a:latin typeface="Calibri"/>
                        </a:rPr>
                        <a:t>creditórios poderá ser</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42/160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Qualidade da carteira</a:t>
            </a:r>
          </a:p>
        </p:txBody>
      </p:sp>
      <p:graphicFrame>
        <p:nvGraphicFramePr>
          <p:cNvPr id="3" name="Table 2"/>
          <p:cNvGraphicFramePr>
            <a:graphicFrameLocks noGrp="1"/>
          </p:cNvGraphicFramePr>
          <p:nvPr/>
        </p:nvGraphicFramePr>
        <p:xfrm>
          <a:off x="438912" y="932688"/>
          <a:ext cx="11313868" cy="5253228"/>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4782312">
                <a:tc>
                  <a:txBody>
                    <a:bodyPr wrap="square">
                      <a:noAutofit/>
                    </a:bodyPr>
                    <a:lstStyle/>
                    <a:p>
                      <a:pPr algn="l">
                        <a:lnSpc>
                          <a:spcPct val="100000"/>
                        </a:lnSpc>
                        <a:spcBef>
                          <a:spcPts val="0"/>
                        </a:spcBef>
                        <a:spcAft>
                          <a:spcPts val="0"/>
                        </a:spcAft>
                      </a:pPr>
                      <a:r>
                        <a:rPr sz="1300" b="1">
                          <a:solidFill>
                            <a:srgbClr val="1F1F1F"/>
                          </a:solidFill>
                          <a:latin typeface="Calibri"/>
                        </a:rPr>
                        <a:t>Coobrigação e retenção</a:t>
                      </a:r>
                    </a:p>
                    <a:p>
                      <a:pPr algn="l">
                        <a:lnSpc>
                          <a:spcPct val="100000"/>
                        </a:lnSpc>
                        <a:spcBef>
                          <a:spcPts val="0"/>
                        </a:spcBef>
                        <a:spcAft>
                          <a:spcPts val="0"/>
                        </a:spcAft>
                      </a:pPr>
                      <a:r>
                        <a:rPr sz="1300" b="1">
                          <a:solidFill>
                            <a:srgbClr val="1F1F1F"/>
                          </a:solidFill>
                          <a:latin typeface="Calibri"/>
                        </a:rPr>
                        <a:t>de risco (continuação)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4.9 Nos termos do Art.</a:t>
                      </a:r>
                    </a:p>
                    <a:p>
                      <a:pPr algn="l">
                        <a:lnSpc>
                          <a:spcPct val="100000"/>
                        </a:lnSpc>
                        <a:spcBef>
                          <a:spcPts val="0"/>
                        </a:spcBef>
                        <a:spcAft>
                          <a:spcPts val="0"/>
                        </a:spcAft>
                      </a:pPr>
                      <a:r>
                        <a:rPr sz="1300" b="0">
                          <a:solidFill>
                            <a:srgbClr val="1F1F1F"/>
                          </a:solidFill>
                          <a:latin typeface="Calibri"/>
                        </a:rPr>
                        <a:t>45 do Anexo Normativo</a:t>
                      </a:r>
                    </a:p>
                    <a:p>
                      <a:pPr algn="l">
                        <a:lnSpc>
                          <a:spcPct val="100000"/>
                        </a:lnSpc>
                        <a:spcBef>
                          <a:spcPts val="0"/>
                        </a:spcBef>
                        <a:spcAft>
                          <a:spcPts val="0"/>
                        </a:spcAft>
                      </a:pPr>
                      <a:r>
                        <a:rPr sz="1300" b="0">
                          <a:solidFill>
                            <a:srgbClr val="1F1F1F"/>
                          </a:solidFill>
                          <a:latin typeface="Calibri"/>
                        </a:rPr>
                        <a:t>II da Resolução CVM</a:t>
                      </a:r>
                    </a:p>
                    <a:p>
                      <a:pPr algn="l">
                        <a:lnSpc>
                          <a:spcPct val="100000"/>
                        </a:lnSpc>
                        <a:spcBef>
                          <a:spcPts val="0"/>
                        </a:spcBef>
                        <a:spcAft>
                          <a:spcPts val="0"/>
                        </a:spcAft>
                      </a:pPr>
                      <a:r>
                        <a:rPr sz="1300" b="0">
                          <a:solidFill>
                            <a:srgbClr val="1F1F1F"/>
                          </a:solidFill>
                          <a:latin typeface="Calibri"/>
                        </a:rPr>
                        <a:t>175, a Classe poderá</a:t>
                      </a:r>
                    </a:p>
                    <a:p>
                      <a:pPr algn="l">
                        <a:lnSpc>
                          <a:spcPct val="100000"/>
                        </a:lnSpc>
                        <a:spcBef>
                          <a:spcPts val="0"/>
                        </a:spcBef>
                        <a:spcAft>
                          <a:spcPts val="0"/>
                        </a:spcAft>
                      </a:pPr>
                      <a:r>
                        <a:rPr sz="1300" b="0">
                          <a:solidFill>
                            <a:srgbClr val="1F1F1F"/>
                          </a:solidFill>
                          <a:latin typeface="Calibri"/>
                        </a:rPr>
                        <a:t>ter até 100% (cem por</a:t>
                      </a:r>
                    </a:p>
                    <a:p>
                      <a:pPr algn="l">
                        <a:lnSpc>
                          <a:spcPct val="100000"/>
                        </a:lnSpc>
                        <a:spcBef>
                          <a:spcPts val="0"/>
                        </a:spcBef>
                        <a:spcAft>
                          <a:spcPts val="0"/>
                        </a:spcAft>
                      </a:pPr>
                      <a:r>
                        <a:rPr sz="1300" b="0">
                          <a:solidFill>
                            <a:srgbClr val="1F1F1F"/>
                          </a:solidFill>
                          <a:latin typeface="Calibri"/>
                        </a:rPr>
                        <a:t>cento) de seu</a:t>
                      </a:r>
                    </a:p>
                    <a:p>
                      <a:pPr algn="l">
                        <a:lnSpc>
                          <a:spcPct val="100000"/>
                        </a:lnSpc>
                        <a:spcBef>
                          <a:spcPts val="0"/>
                        </a:spcBef>
                        <a:spcAft>
                          <a:spcPts val="0"/>
                        </a:spcAft>
                      </a:pPr>
                      <a:r>
                        <a:rPr sz="1300" b="0">
                          <a:solidFill>
                            <a:srgbClr val="1F1F1F"/>
                          </a:solidFill>
                          <a:latin typeface="Calibri"/>
                        </a:rPr>
                        <a:t>Patrimônio Líquido</a:t>
                      </a:r>
                    </a:p>
                    <a:p>
                      <a:pPr algn="l">
                        <a:lnSpc>
                          <a:spcPct val="100000"/>
                        </a:lnSpc>
                        <a:spcBef>
                          <a:spcPts val="0"/>
                        </a:spcBef>
                        <a:spcAft>
                          <a:spcPts val="0"/>
                        </a:spcAft>
                      </a:pPr>
                      <a:r>
                        <a:rPr sz="1300" b="0">
                          <a:solidFill>
                            <a:srgbClr val="1F1F1F"/>
                          </a:solidFill>
                          <a:latin typeface="Calibri"/>
                        </a:rPr>
                        <a:t>alocado em Direitos</a:t>
                      </a:r>
                    </a:p>
                    <a:p>
                      <a:pPr algn="l">
                        <a:lnSpc>
                          <a:spcPct val="100000"/>
                        </a:lnSpc>
                        <a:spcBef>
                          <a:spcPts val="0"/>
                        </a:spcBef>
                        <a:spcAft>
                          <a:spcPts val="0"/>
                        </a:spcAft>
                      </a:pPr>
                      <a:r>
                        <a:rPr sz="1300" b="0">
                          <a:solidFill>
                            <a:srgbClr val="1F1F1F"/>
                          </a:solidFill>
                          <a:latin typeface="Calibri"/>
                        </a:rPr>
                        <a:t>Creditórios do</a:t>
                      </a:r>
                    </a:p>
                    <a:p>
                      <a:pPr algn="l">
                        <a:lnSpc>
                          <a:spcPct val="100000"/>
                        </a:lnSpc>
                        <a:spcBef>
                          <a:spcPts val="0"/>
                        </a:spcBef>
                        <a:spcAft>
                          <a:spcPts val="0"/>
                        </a:spcAft>
                      </a:pPr>
                      <a:r>
                        <a:rPr sz="1300" b="0">
                          <a:solidFill>
                            <a:srgbClr val="1F1F1F"/>
                          </a:solidFill>
                          <a:latin typeface="Calibri"/>
                        </a:rPr>
                        <a:t>Agronegócio, devidos</a:t>
                      </a:r>
                    </a:p>
                    <a:p>
                      <a:pPr algn="l">
                        <a:lnSpc>
                          <a:spcPct val="100000"/>
                        </a:lnSpc>
                        <a:spcBef>
                          <a:spcPts val="0"/>
                        </a:spcBef>
                        <a:spcAft>
                          <a:spcPts val="0"/>
                        </a:spcAft>
                      </a:pPr>
                      <a:r>
                        <a:rPr sz="1300" b="0">
                          <a:solidFill>
                            <a:srgbClr val="1F1F1F"/>
                          </a:solidFill>
                          <a:latin typeface="Calibri"/>
                        </a:rPr>
                        <a:t>por um mesmo Devedor</a:t>
                      </a:r>
                    </a:p>
                    <a:p>
                      <a:pPr algn="l">
                        <a:lnSpc>
                          <a:spcPct val="100000"/>
                        </a:lnSpc>
                        <a:spcBef>
                          <a:spcPts val="0"/>
                        </a:spcBef>
                        <a:spcAft>
                          <a:spcPts val="0"/>
                        </a:spcAft>
                      </a:pPr>
                      <a:r>
                        <a:rPr sz="1300" b="0">
                          <a:solidFill>
                            <a:srgbClr val="1F1F1F"/>
                          </a:solidFill>
                          <a:latin typeface="Calibri"/>
                        </a:rPr>
                        <a:t>e/ou de</a:t>
                      </a:r>
                    </a:p>
                    <a:p>
                      <a:pPr algn="l">
                        <a:lnSpc>
                          <a:spcPct val="100000"/>
                        </a:lnSpc>
                        <a:spcBef>
                          <a:spcPts val="0"/>
                        </a:spcBef>
                        <a:spcAft>
                          <a:spcPts val="0"/>
                        </a:spcAft>
                      </a:pPr>
                      <a:r>
                        <a:rPr sz="1300" b="0">
                          <a:solidFill>
                            <a:srgbClr val="1F1F1F"/>
                          </a:solidFill>
                          <a:latin typeface="Calibri"/>
                        </a:rPr>
                        <a:t>responsabilidade ou</a:t>
                      </a:r>
                    </a:p>
                    <a:p>
                      <a:pPr algn="l">
                        <a:lnSpc>
                          <a:spcPct val="100000"/>
                        </a:lnSpc>
                        <a:spcBef>
                          <a:spcPts val="0"/>
                        </a:spcBef>
                        <a:spcAft>
                          <a:spcPts val="0"/>
                        </a:spcAft>
                      </a:pPr>
                      <a:r>
                        <a:rPr sz="1300" b="0">
                          <a:solidFill>
                            <a:srgbClr val="1F1F1F"/>
                          </a:solidFill>
                          <a:latin typeface="Calibri"/>
                        </a:rPr>
                        <a:t>coobrigação de</a:t>
                      </a:r>
                    </a:p>
                    <a:p>
                      <a:pPr algn="l">
                        <a:lnSpc>
                          <a:spcPct val="100000"/>
                        </a:lnSpc>
                        <a:spcBef>
                          <a:spcPts val="0"/>
                        </a:spcBef>
                        <a:spcAft>
                          <a:spcPts val="0"/>
                        </a:spcAft>
                      </a:pPr>
                      <a:r>
                        <a:rPr sz="1300" b="0">
                          <a:solidFill>
                            <a:srgbClr val="1F1F1F"/>
                          </a:solidFill>
                          <a:latin typeface="Calibri"/>
                        </a:rPr>
                        <a:t>Devedores de um mesmo</a:t>
                      </a:r>
                    </a:p>
                    <a:p>
                      <a:pPr algn="l">
                        <a:lnSpc>
                          <a:spcPct val="100000"/>
                        </a:lnSpc>
                        <a:spcBef>
                          <a:spcPts val="0"/>
                        </a:spcBef>
                        <a:spcAft>
                          <a:spcPts val="0"/>
                        </a:spcAft>
                      </a:pPr>
                      <a:r>
                        <a:rPr sz="1300" b="0">
                          <a:solidFill>
                            <a:srgbClr val="1F1F1F"/>
                          </a:solidFill>
                          <a:latin typeface="Calibri"/>
                        </a:rPr>
                        <a:t>grupo</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Decorre da capacidade</a:t>
                      </a:r>
                    </a:p>
                    <a:p>
                      <a:pPr algn="l">
                        <a:lnSpc>
                          <a:spcPct val="100000"/>
                        </a:lnSpc>
                        <a:spcBef>
                          <a:spcPts val="0"/>
                        </a:spcBef>
                        <a:spcAft>
                          <a:spcPts val="0"/>
                        </a:spcAft>
                      </a:pPr>
                      <a:r>
                        <a:rPr sz="1300" b="0">
                          <a:solidFill>
                            <a:srgbClr val="1F1F1F"/>
                          </a:solidFill>
                          <a:latin typeface="Calibri"/>
                        </a:rPr>
                        <a:t>dos Devedores e/ou</a:t>
                      </a:r>
                    </a:p>
                    <a:p>
                      <a:pPr algn="l">
                        <a:lnSpc>
                          <a:spcPct val="100000"/>
                        </a:lnSpc>
                        <a:spcBef>
                          <a:spcPts val="0"/>
                        </a:spcBef>
                        <a:spcAft>
                          <a:spcPts val="0"/>
                        </a:spcAft>
                      </a:pPr>
                      <a:r>
                        <a:rPr sz="1300" b="0">
                          <a:solidFill>
                            <a:srgbClr val="1F1F1F"/>
                          </a:solidFill>
                          <a:latin typeface="Calibri"/>
                        </a:rPr>
                        <a:t>coobrigados, conforme</a:t>
                      </a:r>
                    </a:p>
                    <a:p>
                      <a:pPr algn="l">
                        <a:lnSpc>
                          <a:spcPct val="100000"/>
                        </a:lnSpc>
                        <a:spcBef>
                          <a:spcPts val="0"/>
                        </a:spcBef>
                        <a:spcAft>
                          <a:spcPts val="0"/>
                        </a:spcAft>
                      </a:pPr>
                      <a:r>
                        <a:rPr sz="1300" b="0">
                          <a:solidFill>
                            <a:srgbClr val="1F1F1F"/>
                          </a:solidFill>
                          <a:latin typeface="Calibri"/>
                        </a:rPr>
                        <a:t>aplicável, de honrarem</a:t>
                      </a:r>
                    </a:p>
                    <a:p>
                      <a:pPr algn="l">
                        <a:lnSpc>
                          <a:spcPct val="100000"/>
                        </a:lnSpc>
                        <a:spcBef>
                          <a:spcPts val="0"/>
                        </a:spcBef>
                        <a:spcAft>
                          <a:spcPts val="0"/>
                        </a:spcAft>
                      </a:pPr>
                      <a:r>
                        <a:rPr sz="1300" b="0">
                          <a:solidFill>
                            <a:srgbClr val="1F1F1F"/>
                          </a:solidFill>
                          <a:latin typeface="Calibri"/>
                        </a:rPr>
                        <a:t>seus compromissos</a:t>
                      </a:r>
                    </a:p>
                    <a:p>
                      <a:pPr algn="l">
                        <a:lnSpc>
                          <a:spcPct val="100000"/>
                        </a:lnSpc>
                        <a:spcBef>
                          <a:spcPts val="0"/>
                        </a:spcBef>
                        <a:spcAft>
                          <a:spcPts val="0"/>
                        </a:spcAft>
                      </a:pPr>
                      <a:r>
                        <a:rPr sz="1300" b="0">
                          <a:solidFill>
                            <a:srgbClr val="1F1F1F"/>
                          </a:solidFill>
                          <a:latin typeface="Calibri"/>
                        </a:rPr>
                        <a:t>pontual e</a:t>
                      </a:r>
                    </a:p>
                    <a:p>
                      <a:pPr algn="l">
                        <a:lnSpc>
                          <a:spcPct val="100000"/>
                        </a:lnSpc>
                        <a:spcBef>
                          <a:spcPts val="0"/>
                        </a:spcBef>
                        <a:spcAft>
                          <a:spcPts val="0"/>
                        </a:spcAft>
                      </a:pPr>
                      <a:r>
                        <a:rPr sz="1300" b="0">
                          <a:solidFill>
                            <a:srgbClr val="1F1F1F"/>
                          </a:solidFill>
                          <a:latin typeface="Calibri"/>
                        </a:rPr>
                        <a:t>integralmente, conforme</a:t>
                      </a:r>
                    </a:p>
                    <a:p>
                      <a:pPr algn="l">
                        <a:lnSpc>
                          <a:spcPct val="100000"/>
                        </a:lnSpc>
                        <a:spcBef>
                          <a:spcPts val="0"/>
                        </a:spcBef>
                        <a:spcAft>
                          <a:spcPts val="0"/>
                        </a:spcAft>
                      </a:pPr>
                      <a:r>
                        <a:rPr sz="1300" b="0">
                          <a:solidFill>
                            <a:srgbClr val="1F1F1F"/>
                          </a:solidFill>
                          <a:latin typeface="Calibri"/>
                        </a:rPr>
                        <a:t>contratados.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adversamente afetada,</a:t>
                      </a:r>
                    </a:p>
                    <a:p>
                      <a:pPr algn="l">
                        <a:lnSpc>
                          <a:spcPct val="100000"/>
                        </a:lnSpc>
                        <a:spcBef>
                          <a:spcPts val="0"/>
                        </a:spcBef>
                        <a:spcAft>
                          <a:spcPts val="0"/>
                        </a:spcAft>
                      </a:pPr>
                      <a:r>
                        <a:rPr sz="1300" b="0">
                          <a:solidFill>
                            <a:srgbClr val="1F1F1F"/>
                          </a:solidFill>
                          <a:latin typeface="Calibri"/>
                        </a:rPr>
                        <a:t>prejudicando o</a:t>
                      </a:r>
                    </a:p>
                    <a:p>
                      <a:pPr algn="l">
                        <a:lnSpc>
                          <a:spcPct val="100000"/>
                        </a:lnSpc>
                        <a:spcBef>
                          <a:spcPts val="0"/>
                        </a:spcBef>
                        <a:spcAft>
                          <a:spcPts val="0"/>
                        </a:spcAft>
                      </a:pPr>
                      <a:r>
                        <a:rPr sz="1300" b="0">
                          <a:solidFill>
                            <a:srgbClr val="1F1F1F"/>
                          </a:solidFill>
                          <a:latin typeface="Calibri"/>
                        </a:rPr>
                        <a:t>desempenho da Classe.</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43/160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Qualidade da carteira</a:t>
            </a:r>
          </a:p>
        </p:txBody>
      </p:sp>
      <p:graphicFrame>
        <p:nvGraphicFramePr>
          <p:cNvPr id="3" name="Table 2"/>
          <p:cNvGraphicFramePr>
            <a:graphicFrameLocks noGrp="1"/>
          </p:cNvGraphicFramePr>
          <p:nvPr/>
        </p:nvGraphicFramePr>
        <p:xfrm>
          <a:off x="438912" y="932688"/>
          <a:ext cx="11313870" cy="2743199"/>
        </p:xfrm>
        <a:graphic>
          <a:graphicData uri="http://schemas.openxmlformats.org/drawingml/2006/table">
            <a:tbl>
              <a:tblPr>
                <a:tableStyleId>{5C22544A-7EE6-4342-B048-85BDC9FD1C3A}</a:tableStyleId>
              </a:tblPr>
              <a:tblGrid>
                <a:gridCol w="2331720"/>
                <a:gridCol w="4491075"/>
                <a:gridCol w="4491075"/>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V CDT 1 · 62552447000120</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Global CP · 63953620000165</a:t>
                      </a:r>
                    </a:p>
                  </a:txBody>
                  <a:tcPr marL="91440" marR="91440" marT="41148" marB="41148" anchor="ctr">
                    <a:solidFill>
                      <a:srgbClr val="F7F7F7"/>
                    </a:solidFill>
                    <a:lnL>
                      <a:noFill/>
                    </a:lnL>
                    <a:lnR>
                      <a:noFill/>
                    </a:lnR>
                    <a:lnT>
                      <a:noFill/>
                    </a:lnT>
                    <a:lnB w="6350">
                      <a:solidFill>
                        <a:srgbClr val="D9DEE5"/>
                      </a:solidFill>
                    </a:lnB>
                  </a:tcPr>
                </a:tc>
              </a:tr>
              <a:tr h="1408175">
                <a:tc>
                  <a:txBody>
                    <a:bodyPr wrap="square">
                      <a:noAutofit/>
                    </a:bodyPr>
                    <a:lstStyle/>
                    <a:p>
                      <a:pPr algn="l">
                        <a:lnSpc>
                          <a:spcPct val="100000"/>
                        </a:lnSpc>
                        <a:spcBef>
                          <a:spcPts val="0"/>
                        </a:spcBef>
                        <a:spcAft>
                          <a:spcPts val="0"/>
                        </a:spcAft>
                      </a:pPr>
                      <a:r>
                        <a:rPr sz="1300" b="1">
                          <a:solidFill>
                            <a:srgbClr val="1F1F1F"/>
                          </a:solidFill>
                          <a:latin typeface="Calibri"/>
                        </a:rPr>
                        <a:t>Metodologia de PDD e</a:t>
                      </a:r>
                    </a:p>
                    <a:p>
                      <a:pPr algn="l">
                        <a:lnSpc>
                          <a:spcPct val="100000"/>
                        </a:lnSpc>
                        <a:spcBef>
                          <a:spcPts val="0"/>
                        </a:spcBef>
                        <a:spcAft>
                          <a:spcPts val="0"/>
                        </a:spcAft>
                      </a:pPr>
                      <a:r>
                        <a:rPr sz="1300" b="1">
                          <a:solidFill>
                            <a:srgbClr val="1F1F1F"/>
                          </a:solidFill>
                          <a:latin typeface="Calibri"/>
                        </a:rPr>
                        <a:t>curva por atraso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Ativos avaliados a cada DU pelos manuais do</a:t>
                      </a:r>
                    </a:p>
                    <a:p>
                      <a:pPr algn="l">
                        <a:lnSpc>
                          <a:spcPct val="100000"/>
                        </a:lnSpc>
                        <a:spcBef>
                          <a:spcPts val="0"/>
                        </a:spcBef>
                        <a:spcAft>
                          <a:spcPts val="0"/>
                        </a:spcAft>
                      </a:pPr>
                      <a:r>
                        <a:rPr sz="1300" b="0">
                          <a:solidFill>
                            <a:srgbClr val="1F1F1F"/>
                          </a:solidFill>
                          <a:latin typeface="Calibri"/>
                        </a:rPr>
                        <a:t>administrador/custodiante. PDD/perdas conforme</a:t>
                      </a:r>
                    </a:p>
                    <a:p>
                      <a:pPr algn="l">
                        <a:lnSpc>
                          <a:spcPct val="100000"/>
                        </a:lnSpc>
                        <a:spcBef>
                          <a:spcPts val="0"/>
                        </a:spcBef>
                        <a:spcAft>
                          <a:spcPts val="0"/>
                        </a:spcAft>
                      </a:pPr>
                      <a:r>
                        <a:rPr sz="1300" b="0">
                          <a:solidFill>
                            <a:srgbClr val="1F1F1F"/>
                          </a:solidFill>
                          <a:latin typeface="Calibri"/>
                        </a:rPr>
                        <a:t>ICVM 489 reduzem o saldo dos ativos; art. 13 rege</a:t>
                      </a:r>
                    </a:p>
                    <a:p>
                      <a:pPr algn="l">
                        <a:lnSpc>
                          <a:spcPct val="100000"/>
                        </a:lnSpc>
                        <a:spcBef>
                          <a:spcPts val="0"/>
                        </a:spcBef>
                        <a:spcAft>
                          <a:spcPts val="0"/>
                        </a:spcAft>
                      </a:pPr>
                      <a:r>
                        <a:rPr sz="1300" b="0">
                          <a:solidFill>
                            <a:srgbClr val="1F1F1F"/>
                          </a:solidFill>
                          <a:latin typeface="Calibri"/>
                        </a:rPr>
                        <a:t>exposição de um mesmo devedor, admitida análise</a:t>
                      </a:r>
                    </a:p>
                    <a:p>
                      <a:pPr algn="l">
                        <a:lnSpc>
                          <a:spcPct val="100000"/>
                        </a:lnSpc>
                        <a:spcBef>
                          <a:spcPts val="0"/>
                        </a:spcBef>
                        <a:spcAft>
                          <a:spcPts val="0"/>
                        </a:spcAft>
                      </a:pPr>
                      <a:r>
                        <a:rPr sz="1300" b="0">
                          <a:solidFill>
                            <a:srgbClr val="1F1F1F"/>
                          </a:solidFill>
                          <a:latin typeface="Calibri"/>
                        </a:rPr>
                        <a:t>individualizada.</a:t>
                      </a:r>
                    </a:p>
                    <a:p>
                      <a:pPr algn="l">
                        <a:lnSpc>
                          <a:spcPct val="100000"/>
                        </a:lnSpc>
                        <a:spcBef>
                          <a:spcPts val="0"/>
                        </a:spcBef>
                        <a:spcAft>
                          <a:spcPts val="0"/>
                        </a:spcAft>
                      </a:pPr>
                      <a:r>
                        <a:rPr sz="1300" b="0">
                          <a:solidFill>
                            <a:srgbClr val="1F1F1F"/>
                          </a:solidFill>
                          <a:latin typeface="Calibri"/>
                        </a:rPr>
                        <a:t>IME 08/2026 · Referência agregada: 9,64% ·</a:t>
                      </a:r>
                    </a:p>
                    <a:p>
                      <a:pPr algn="l">
                        <a:lnSpc>
                          <a:spcPct val="100000"/>
                        </a:lnSpc>
                        <a:spcBef>
                          <a:spcPts val="0"/>
                        </a:spcBef>
                        <a:spcAft>
                          <a:spcPts val="0"/>
                        </a:spcAft>
                      </a:pPr>
                      <a:r>
                        <a:rPr sz="1300" b="0">
                          <a:solidFill>
                            <a:srgbClr val="1F1F1F"/>
                          </a:solidFill>
                          <a:latin typeface="Calibri"/>
                        </a:rPr>
                        <a:t>Comparação não reproduzível</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Ativos avaliados a cada dia útil pelos manuais do</a:t>
                      </a:r>
                    </a:p>
                    <a:p>
                      <a:pPr algn="l">
                        <a:lnSpc>
                          <a:spcPct val="100000"/>
                        </a:lnSpc>
                        <a:spcBef>
                          <a:spcPts val="0"/>
                        </a:spcBef>
                        <a:spcAft>
                          <a:spcPts val="0"/>
                        </a:spcAft>
                      </a:pPr>
                      <a:r>
                        <a:rPr sz="1300" b="0">
                          <a:solidFill>
                            <a:srgbClr val="1F1F1F"/>
                          </a:solidFill>
                          <a:latin typeface="Calibri"/>
                        </a:rPr>
                        <a:t>administrador/custodiante. PDD/perdas conforme</a:t>
                      </a:r>
                    </a:p>
                    <a:p>
                      <a:pPr algn="l">
                        <a:lnSpc>
                          <a:spcPct val="100000"/>
                        </a:lnSpc>
                        <a:spcBef>
                          <a:spcPts val="0"/>
                        </a:spcBef>
                        <a:spcAft>
                          <a:spcPts val="0"/>
                        </a:spcAft>
                      </a:pPr>
                      <a:r>
                        <a:rPr sz="1300" b="0">
                          <a:solidFill>
                            <a:srgbClr val="1F1F1F"/>
                          </a:solidFill>
                          <a:latin typeface="Calibri"/>
                        </a:rPr>
                        <a:t>ICVM 489 reduzem o saldo; perdas do mesmo devedor</a:t>
                      </a:r>
                    </a:p>
                    <a:p>
                      <a:pPr algn="l">
                        <a:lnSpc>
                          <a:spcPct val="100000"/>
                        </a:lnSpc>
                        <a:spcBef>
                          <a:spcPts val="0"/>
                        </a:spcBef>
                        <a:spcAft>
                          <a:spcPts val="0"/>
                        </a:spcAft>
                      </a:pPr>
                      <a:r>
                        <a:rPr sz="1300" b="0">
                          <a:solidFill>
                            <a:srgbClr val="1F1F1F"/>
                          </a:solidFill>
                          <a:latin typeface="Calibri"/>
                        </a:rPr>
                        <a:t>seguem art.13, admitida análise individualizada.</a:t>
                      </a:r>
                    </a:p>
                    <a:p>
                      <a:pPr algn="l">
                        <a:lnSpc>
                          <a:spcPct val="100000"/>
                        </a:lnSpc>
                        <a:spcBef>
                          <a:spcPts val="0"/>
                        </a:spcBef>
                        <a:spcAft>
                          <a:spcPts val="0"/>
                        </a:spcAft>
                      </a:pPr>
                      <a:r>
                        <a:rPr sz="1300" b="0">
                          <a:solidFill>
                            <a:srgbClr val="1F1F1F"/>
                          </a:solidFill>
                          <a:latin typeface="Calibri"/>
                        </a:rPr>
                        <a:t>IME 08/2026 · Referência agregada: 5,51% ·</a:t>
                      </a:r>
                    </a:p>
                    <a:p>
                      <a:pPr algn="l">
                        <a:lnSpc>
                          <a:spcPct val="100000"/>
                        </a:lnSpc>
                        <a:spcBef>
                          <a:spcPts val="0"/>
                        </a:spcBef>
                        <a:spcAft>
                          <a:spcPts val="0"/>
                        </a:spcAft>
                      </a:pPr>
                      <a:r>
                        <a:rPr sz="1300" b="0">
                          <a:solidFill>
                            <a:srgbClr val="1F1F1F"/>
                          </a:solidFill>
                          <a:latin typeface="Calibri"/>
                        </a:rPr>
                        <a:t>Comparação não reproduzível</a:t>
                      </a:r>
                    </a:p>
                  </a:txBody>
                  <a:tcPr marL="91440" marR="91440" marT="41148" marB="41148" anchor="ctr">
                    <a:solidFill>
                      <a:srgbClr val="FFFFFF"/>
                    </a:solidFill>
                    <a:lnL>
                      <a:noFill/>
                    </a:lnL>
                    <a:lnR>
                      <a:noFill/>
                    </a:lnR>
                    <a:lnT>
                      <a:noFill/>
                    </a:lnT>
                    <a:lnB>
                      <a:noFill/>
                    </a:lnB>
                  </a:tcPr>
                </a:tc>
              </a:tr>
              <a:tr h="470916">
                <a:tc>
                  <a:txBody>
                    <a:bodyPr wrap="square">
                      <a:noAutofit/>
                    </a:bodyPr>
                    <a:lstStyle/>
                    <a:p>
                      <a:pPr algn="l">
                        <a:lnSpc>
                          <a:spcPct val="100000"/>
                        </a:lnSpc>
                        <a:spcBef>
                          <a:spcPts val="0"/>
                        </a:spcBef>
                        <a:spcAft>
                          <a:spcPts val="0"/>
                        </a:spcAft>
                      </a:pPr>
                      <a:r>
                        <a:rPr sz="1300" b="1">
                          <a:solidFill>
                            <a:srgbClr val="1F1F1F"/>
                          </a:solidFill>
                          <a:latin typeface="Calibri"/>
                        </a:rPr>
                        <a:t>Gatilhos de atraso e</a:t>
                      </a:r>
                    </a:p>
                    <a:p>
                      <a:pPr algn="l">
                        <a:lnSpc>
                          <a:spcPct val="100000"/>
                        </a:lnSpc>
                        <a:spcBef>
                          <a:spcPts val="0"/>
                        </a:spcBef>
                        <a:spcAft>
                          <a:spcPts val="0"/>
                        </a:spcAft>
                      </a:pPr>
                      <a:r>
                        <a:rPr sz="1300" b="1">
                          <a:solidFill>
                            <a:srgbClr val="1F1F1F"/>
                          </a:solidFill>
                          <a:latin typeface="Calibri"/>
                        </a:rPr>
                        <a:t>rolagem</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a:noFill/>
                    </a:lnB>
                  </a:tcPr>
                </a:tc>
              </a:tr>
              <a:tr h="470916">
                <a:tc>
                  <a:txBody>
                    <a:bodyPr wrap="square">
                      <a:noAutofit/>
                    </a:bodyPr>
                    <a:lstStyle/>
                    <a:p>
                      <a:pPr algn="l">
                        <a:lnSpc>
                          <a:spcPct val="100000"/>
                        </a:lnSpc>
                        <a:spcBef>
                          <a:spcPts val="0"/>
                        </a:spcBef>
                        <a:spcAft>
                          <a:spcPts val="0"/>
                        </a:spcAft>
                      </a:pPr>
                      <a:r>
                        <a:rPr sz="1300" b="1">
                          <a:solidFill>
                            <a:srgbClr val="1F1F1F"/>
                          </a:solidFill>
                          <a:latin typeface="Calibri"/>
                        </a:rPr>
                        <a:t>Diluição, cancelamento e</a:t>
                      </a:r>
                    </a:p>
                    <a:p>
                      <a:pPr algn="l">
                        <a:lnSpc>
                          <a:spcPct val="100000"/>
                        </a:lnSpc>
                        <a:spcBef>
                          <a:spcPts val="0"/>
                        </a:spcBef>
                        <a:spcAft>
                          <a:spcPts val="0"/>
                        </a:spcAft>
                      </a:pPr>
                      <a:r>
                        <a:rPr sz="1300" b="1">
                          <a:solidFill>
                            <a:srgbClr val="1F1F1F"/>
                          </a:solidFill>
                          <a:latin typeface="Calibri"/>
                        </a:rPr>
                        <a:t>chargeback</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44/160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Qualidade da carteira</a:t>
            </a:r>
          </a:p>
        </p:txBody>
      </p:sp>
      <p:graphicFrame>
        <p:nvGraphicFramePr>
          <p:cNvPr id="3" name="Table 2"/>
          <p:cNvGraphicFramePr>
            <a:graphicFrameLocks noGrp="1"/>
          </p:cNvGraphicFramePr>
          <p:nvPr/>
        </p:nvGraphicFramePr>
        <p:xfrm>
          <a:off x="438912" y="932688"/>
          <a:ext cx="11313870" cy="5175504"/>
        </p:xfrm>
        <a:graphic>
          <a:graphicData uri="http://schemas.openxmlformats.org/drawingml/2006/table">
            <a:tbl>
              <a:tblPr>
                <a:tableStyleId>{5C22544A-7EE6-4342-B048-85BDC9FD1C3A}</a:tableStyleId>
              </a:tblPr>
              <a:tblGrid>
                <a:gridCol w="2331720"/>
                <a:gridCol w="4491075"/>
                <a:gridCol w="4491075"/>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V CDT 1 · 62552447000120</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Global CP · 63953620000165</a:t>
                      </a:r>
                    </a:p>
                  </a:txBody>
                  <a:tcPr marL="91440" marR="91440" marT="41148" marB="41148" anchor="ctr">
                    <a:solidFill>
                      <a:srgbClr val="F7F7F7"/>
                    </a:solidFill>
                    <a:lnL>
                      <a:noFill/>
                    </a:lnL>
                    <a:lnR>
                      <a:noFill/>
                    </a:lnR>
                    <a:lnT>
                      <a:noFill/>
                    </a:lnT>
                    <a:lnB w="6350">
                      <a:solidFill>
                        <a:srgbClr val="D9DEE5"/>
                      </a:solidFill>
                    </a:lnB>
                  </a:tcPr>
                </a:tc>
              </a:tr>
              <a:tr h="4782312">
                <a:tc>
                  <a:txBody>
                    <a:bodyPr wrap="square">
                      <a:noAutofit/>
                    </a:bodyPr>
                    <a:lstStyle/>
                    <a:p>
                      <a:pPr algn="l">
                        <a:lnSpc>
                          <a:spcPct val="100000"/>
                        </a:lnSpc>
                        <a:spcBef>
                          <a:spcPts val="0"/>
                        </a:spcBef>
                        <a:spcAft>
                          <a:spcPts val="0"/>
                        </a:spcAft>
                      </a:pPr>
                      <a:r>
                        <a:rPr sz="1300" b="1">
                          <a:solidFill>
                            <a:srgbClr val="1F1F1F"/>
                          </a:solidFill>
                          <a:latin typeface="Calibri"/>
                        </a:rPr>
                        <a:t>Recompra e indenização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4.14 Os recursos recebidos pela Classe em razão</a:t>
                      </a:r>
                    </a:p>
                    <a:p>
                      <a:pPr algn="l">
                        <a:lnSpc>
                          <a:spcPct val="100000"/>
                        </a:lnSpc>
                        <a:spcBef>
                          <a:spcPts val="0"/>
                        </a:spcBef>
                        <a:spcAft>
                          <a:spcPts val="0"/>
                        </a:spcAft>
                      </a:pPr>
                      <a:r>
                        <a:rPr sz="1300" b="0">
                          <a:solidFill>
                            <a:srgbClr val="1F1F1F"/>
                          </a:solidFill>
                          <a:latin typeface="Calibri"/>
                        </a:rPr>
                        <a:t>da liquidação dos Direitos Creditórios, a</a:t>
                      </a:r>
                    </a:p>
                    <a:p>
                      <a:pPr algn="l">
                        <a:lnSpc>
                          <a:spcPct val="100000"/>
                        </a:lnSpc>
                        <a:spcBef>
                          <a:spcPts val="0"/>
                        </a:spcBef>
                        <a:spcAft>
                          <a:spcPts val="0"/>
                        </a:spcAft>
                      </a:pPr>
                      <a:r>
                        <a:rPr sz="1300" b="0">
                          <a:solidFill>
                            <a:srgbClr val="1F1F1F"/>
                          </a:solidFill>
                          <a:latin typeface="Calibri"/>
                        </a:rPr>
                        <a:t>qualquer título, incluindo pagamento regular ou</a:t>
                      </a:r>
                    </a:p>
                    <a:p>
                      <a:pPr algn="l">
                        <a:lnSpc>
                          <a:spcPct val="100000"/>
                        </a:lnSpc>
                        <a:spcBef>
                          <a:spcPts val="0"/>
                        </a:spcBef>
                        <a:spcAft>
                          <a:spcPts val="0"/>
                        </a:spcAft>
                      </a:pPr>
                      <a:r>
                        <a:rPr sz="1300" b="0">
                          <a:solidFill>
                            <a:srgbClr val="1F1F1F"/>
                          </a:solidFill>
                          <a:latin typeface="Calibri"/>
                        </a:rPr>
                        <a:t>por excussão de garantia, alienação, recompra,</a:t>
                      </a:r>
                    </a:p>
                    <a:p>
                      <a:pPr algn="l">
                        <a:lnSpc>
                          <a:spcPct val="100000"/>
                        </a:lnSpc>
                        <a:spcBef>
                          <a:spcPts val="0"/>
                        </a:spcBef>
                        <a:spcAft>
                          <a:spcPts val="0"/>
                        </a:spcAft>
                      </a:pPr>
                      <a:r>
                        <a:rPr sz="1300" b="0">
                          <a:solidFill>
                            <a:srgbClr val="1F1F1F"/>
                          </a:solidFill>
                          <a:latin typeface="Calibri"/>
                        </a:rPr>
                        <a:t>indenização pelo Endossante, poderão ser</a:t>
                      </a:r>
                    </a:p>
                    <a:p>
                      <a:pPr algn="l">
                        <a:lnSpc>
                          <a:spcPct val="100000"/>
                        </a:lnSpc>
                        <a:spcBef>
                          <a:spcPts val="0"/>
                        </a:spcBef>
                        <a:spcAft>
                          <a:spcPts val="0"/>
                        </a:spcAft>
                      </a:pPr>
                      <a:r>
                        <a:rPr sz="1300" b="0">
                          <a:solidFill>
                            <a:srgbClr val="1F1F1F"/>
                          </a:solidFill>
                          <a:latin typeface="Calibri"/>
                        </a:rPr>
                        <a:t>destinados à aquisição pela Classe de novos</a:t>
                      </a:r>
                    </a:p>
                    <a:p>
                      <a:pPr algn="l">
                        <a:lnSpc>
                          <a:spcPct val="100000"/>
                        </a:lnSpc>
                        <a:spcBef>
                          <a:spcPts val="0"/>
                        </a:spcBef>
                        <a:spcAft>
                          <a:spcPts val="0"/>
                        </a:spcAft>
                      </a:pPr>
                      <a:r>
                        <a:rPr sz="1300" b="0">
                          <a:solidFill>
                            <a:srgbClr val="1F1F1F"/>
                          </a:solidFill>
                          <a:latin typeface="Calibri"/>
                        </a:rPr>
                        <a:t>Direitos Creditórios e/ou destinados à</a:t>
                      </a:r>
                    </a:p>
                    <a:p>
                      <a:pPr algn="l">
                        <a:lnSpc>
                          <a:spcPct val="100000"/>
                        </a:lnSpc>
                        <a:spcBef>
                          <a:spcPts val="0"/>
                        </a:spcBef>
                        <a:spcAft>
                          <a:spcPts val="0"/>
                        </a:spcAft>
                      </a:pPr>
                      <a:r>
                        <a:rPr sz="1300" b="0">
                          <a:solidFill>
                            <a:srgbClr val="1F1F1F"/>
                          </a:solidFill>
                          <a:latin typeface="Calibri"/>
                        </a:rPr>
                        <a:t>Amortização, conforme decisão do Gestor e desde</a:t>
                      </a:r>
                    </a:p>
                    <a:p>
                      <a:pPr algn="l">
                        <a:lnSpc>
                          <a:spcPct val="100000"/>
                        </a:lnSpc>
                        <a:spcBef>
                          <a:spcPts val="0"/>
                        </a:spcBef>
                        <a:spcAft>
                          <a:spcPts val="0"/>
                        </a:spcAft>
                      </a:pPr>
                      <a:r>
                        <a:rPr sz="1300" b="0">
                          <a:solidFill>
                            <a:srgbClr val="1F1F1F"/>
                          </a:solidFill>
                          <a:latin typeface="Calibri"/>
                        </a:rPr>
                        <a:t>que observada a ordem de alocação de recursos def</a:t>
                      </a:r>
                    </a:p>
                    <a:p>
                      <a:pPr algn="l">
                        <a:lnSpc>
                          <a:spcPct val="100000"/>
                        </a:lnSpc>
                        <a:spcBef>
                          <a:spcPts val="0"/>
                        </a:spcBef>
                        <a:spcAft>
                          <a:spcPts val="0"/>
                        </a:spcAft>
                      </a:pPr>
                      <a:r>
                        <a:rPr sz="1300" b="0">
                          <a:solidFill>
                            <a:srgbClr val="1F1F1F"/>
                          </a:solidFill>
                          <a:latin typeface="Calibri"/>
                        </a:rPr>
                        <a:t>inida no item 8.1 abaixo. Ativos Recuperados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4.17.1 Durante o Período de Investimento, os</a:t>
                      </a:r>
                    </a:p>
                    <a:p>
                      <a:pPr algn="l">
                        <a:lnSpc>
                          <a:spcPct val="100000"/>
                        </a:lnSpc>
                        <a:spcBef>
                          <a:spcPts val="0"/>
                        </a:spcBef>
                        <a:spcAft>
                          <a:spcPts val="0"/>
                        </a:spcAft>
                      </a:pPr>
                      <a:r>
                        <a:rPr sz="1300" b="0">
                          <a:solidFill>
                            <a:srgbClr val="1F1F1F"/>
                          </a:solidFill>
                          <a:latin typeface="Calibri"/>
                        </a:rPr>
                        <a:t>recursos recebidos pela Classe em razão da</a:t>
                      </a:r>
                    </a:p>
                    <a:p>
                      <a:pPr algn="l">
                        <a:lnSpc>
                          <a:spcPct val="100000"/>
                        </a:lnSpc>
                        <a:spcBef>
                          <a:spcPts val="0"/>
                        </a:spcBef>
                        <a:spcAft>
                          <a:spcPts val="0"/>
                        </a:spcAft>
                      </a:pPr>
                      <a:r>
                        <a:rPr sz="1300" b="0">
                          <a:solidFill>
                            <a:srgbClr val="1F1F1F"/>
                          </a:solidFill>
                          <a:latin typeface="Calibri"/>
                        </a:rPr>
                        <a:t>liquidação dos Direitos Creditórios, a qualquer</a:t>
                      </a:r>
                    </a:p>
                    <a:p>
                      <a:pPr algn="l">
                        <a:lnSpc>
                          <a:spcPct val="100000"/>
                        </a:lnSpc>
                        <a:spcBef>
                          <a:spcPts val="0"/>
                        </a:spcBef>
                        <a:spcAft>
                          <a:spcPts val="0"/>
                        </a:spcAft>
                      </a:pPr>
                      <a:r>
                        <a:rPr sz="1300" b="0">
                          <a:solidFill>
                            <a:srgbClr val="1F1F1F"/>
                          </a:solidFill>
                          <a:latin typeface="Calibri"/>
                        </a:rPr>
                        <a:t>título, incluindo pagamento regular ou por</a:t>
                      </a:r>
                    </a:p>
                    <a:p>
                      <a:pPr algn="l">
                        <a:lnSpc>
                          <a:spcPct val="100000"/>
                        </a:lnSpc>
                        <a:spcBef>
                          <a:spcPts val="0"/>
                        </a:spcBef>
                        <a:spcAft>
                          <a:spcPts val="0"/>
                        </a:spcAft>
                      </a:pPr>
                      <a:r>
                        <a:rPr sz="1300" b="0">
                          <a:solidFill>
                            <a:srgbClr val="1F1F1F"/>
                          </a:solidFill>
                          <a:latin typeface="Calibri"/>
                        </a:rPr>
                        <a:t>excussão de garantia, alienação, recompra,</a:t>
                      </a:r>
                    </a:p>
                    <a:p>
                      <a:pPr algn="l">
                        <a:lnSpc>
                          <a:spcPct val="100000"/>
                        </a:lnSpc>
                        <a:spcBef>
                          <a:spcPts val="0"/>
                        </a:spcBef>
                        <a:spcAft>
                          <a:spcPts val="0"/>
                        </a:spcAft>
                      </a:pPr>
                      <a:r>
                        <a:rPr sz="1300" b="0">
                          <a:solidFill>
                            <a:srgbClr val="1F1F1F"/>
                          </a:solidFill>
                          <a:latin typeface="Calibri"/>
                        </a:rPr>
                        <a:t>indenização pelo Cedente e/ou desinvestimento de</a:t>
                      </a:r>
                    </a:p>
                    <a:p>
                      <a:pPr algn="l">
                        <a:lnSpc>
                          <a:spcPct val="100000"/>
                        </a:lnSpc>
                        <a:spcBef>
                          <a:spcPts val="0"/>
                        </a:spcBef>
                        <a:spcAft>
                          <a:spcPts val="0"/>
                        </a:spcAft>
                      </a:pPr>
                      <a:r>
                        <a:rPr sz="1300" b="0">
                          <a:solidFill>
                            <a:srgbClr val="1F1F1F"/>
                          </a:solidFill>
                          <a:latin typeface="Calibri"/>
                        </a:rPr>
                        <a:t>Ativo Recuperado, poderão ser destinados à</a:t>
                      </a:r>
                    </a:p>
                    <a:p>
                      <a:pPr algn="l">
                        <a:lnSpc>
                          <a:spcPct val="100000"/>
                        </a:lnSpc>
                        <a:spcBef>
                          <a:spcPts val="0"/>
                        </a:spcBef>
                        <a:spcAft>
                          <a:spcPts val="0"/>
                        </a:spcAft>
                      </a:pPr>
                      <a:r>
                        <a:rPr sz="1300" b="0">
                          <a:solidFill>
                            <a:srgbClr val="1F1F1F"/>
                          </a:solidFill>
                          <a:latin typeface="Calibri"/>
                        </a:rPr>
                        <a:t>aquisição pela Classe de novos Direitos</a:t>
                      </a:r>
                    </a:p>
                    <a:p>
                      <a:pPr algn="l">
                        <a:lnSpc>
                          <a:spcPct val="100000"/>
                        </a:lnSpc>
                        <a:spcBef>
                          <a:spcPts val="0"/>
                        </a:spcBef>
                        <a:spcAft>
                          <a:spcPts val="0"/>
                        </a:spcAft>
                      </a:pPr>
                      <a:r>
                        <a:rPr sz="1300" b="0">
                          <a:solidFill>
                            <a:srgbClr val="1F1F1F"/>
                          </a:solidFill>
                          <a:latin typeface="Calibri"/>
                        </a:rPr>
                        <a:t>Creditórios e/ou destinados à Amortização das</a:t>
                      </a:r>
                    </a:p>
                    <a:p>
                      <a:pPr algn="l">
                        <a:lnSpc>
                          <a:spcPct val="100000"/>
                        </a:lnSpc>
                        <a:spcBef>
                          <a:spcPts val="0"/>
                        </a:spcBef>
                        <a:spcAft>
                          <a:spcPts val="0"/>
                        </a:spcAft>
                      </a:pPr>
                      <a:r>
                        <a:rPr sz="1300" b="0">
                          <a:solidFill>
                            <a:srgbClr val="1F1F1F"/>
                          </a:solidFill>
                          <a:latin typeface="Calibri"/>
                        </a:rPr>
                        <a:t>Cotas, observado que (i) a aquisição de novos</a:t>
                      </a:r>
                    </a:p>
                    <a:p>
                      <a:pPr algn="l">
                        <a:lnSpc>
                          <a:spcPct val="100000"/>
                        </a:lnSpc>
                        <a:spcBef>
                          <a:spcPts val="0"/>
                        </a:spcBef>
                        <a:spcAft>
                          <a:spcPts val="0"/>
                        </a:spcAft>
                      </a:pPr>
                      <a:r>
                        <a:rPr sz="1300" b="0">
                          <a:solidFill>
                            <a:srgbClr val="1F1F1F"/>
                          </a:solidFill>
                          <a:latin typeface="Calibri"/>
                        </a:rPr>
                        <a:t>Direitos Creditórios dependerá, em qualquer</a:t>
                      </a:r>
                    </a:p>
                    <a:p>
                      <a:pPr algn="l">
                        <a:lnSpc>
                          <a:spcPct val="100000"/>
                        </a:lnSpc>
                        <a:spcBef>
                          <a:spcPts val="0"/>
                        </a:spcBef>
                        <a:spcAft>
                          <a:spcPts val="0"/>
                        </a:spcAft>
                      </a:pPr>
                      <a:r>
                        <a:rPr sz="1300" b="0">
                          <a:solidFill>
                            <a:srgbClr val="1F1F1F"/>
                          </a:solidFill>
                          <a:latin typeface="Calibri"/>
                        </a:rPr>
                        <a:t>hipótese, de oferta realizada pelo Endossante; e</a:t>
                      </a:r>
                    </a:p>
                    <a:p>
                      <a:pPr algn="l">
                        <a:lnSpc>
                          <a:spcPct val="100000"/>
                        </a:lnSpc>
                        <a:spcBef>
                          <a:spcPts val="0"/>
                        </a:spcBef>
                        <a:spcAft>
                          <a:spcPts val="0"/>
                        </a:spcAft>
                      </a:pPr>
                      <a:r>
                        <a:rPr sz="1300" b="0">
                          <a:solidFill>
                            <a:srgbClr val="1F1F1F"/>
                          </a:solidFill>
                          <a:latin typeface="Calibri"/>
                        </a:rPr>
                        <a:t>(ii) a destinação dos recursos à Amortização das</a:t>
                      </a:r>
                    </a:p>
                    <a:p>
                      <a:pPr algn="l">
                        <a:lnSpc>
                          <a:spcPct val="100000"/>
                        </a:lnSpc>
                        <a:spcBef>
                          <a:spcPts val="0"/>
                        </a:spcBef>
                        <a:spcAft>
                          <a:spcPts val="0"/>
                        </a:spcAft>
                      </a:pPr>
                      <a:r>
                        <a:rPr sz="1300" b="0">
                          <a:solidFill>
                            <a:srgbClr val="1F1F1F"/>
                          </a:solidFill>
                          <a:latin typeface="Calibri"/>
                        </a:rPr>
                        <a:t>Cotas será realizada nos termos do item 7.2,</a:t>
                      </a:r>
                    </a:p>
                    <a:p>
                      <a:pPr algn="l">
                        <a:lnSpc>
                          <a:spcPct val="100000"/>
                        </a:lnSpc>
                        <a:spcBef>
                          <a:spcPts val="0"/>
                        </a:spcBef>
                        <a:spcAft>
                          <a:spcPts val="0"/>
                        </a:spcAft>
                      </a:pPr>
                      <a:r>
                        <a:rPr sz="1300" b="0">
                          <a:solidFill>
                            <a:srgbClr val="1F1F1F"/>
                          </a:solidFill>
                          <a:latin typeface="Calibri"/>
                        </a:rPr>
                        <a:t>observada a ordem de alocação definida no item</a:t>
                      </a:r>
                    </a:p>
                    <a:p>
                      <a:pPr algn="l">
                        <a:lnSpc>
                          <a:spcPct val="100000"/>
                        </a:lnSpc>
                        <a:spcBef>
                          <a:spcPts val="0"/>
                        </a:spcBef>
                        <a:spcAft>
                          <a:spcPts val="0"/>
                        </a:spcAft>
                      </a:pPr>
                      <a:r>
                        <a:rPr sz="1300" b="0">
                          <a:solidFill>
                            <a:srgbClr val="1F1F1F"/>
                          </a:solidFill>
                          <a:latin typeface="Calibri"/>
                        </a:rPr>
                        <a:t>8.1 do presente Anexo.</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4.17.2 Encerrado o Período de Investimento, os</a:t>
                      </a:r>
                    </a:p>
                    <a:p>
                      <a:pPr algn="l">
                        <a:lnSpc>
                          <a:spcPct val="100000"/>
                        </a:lnSpc>
                        <a:spcBef>
                          <a:spcPts val="0"/>
                        </a:spcBef>
                        <a:spcAft>
                          <a:spcPts val="0"/>
                        </a:spcAft>
                      </a:pPr>
                      <a:r>
                        <a:rPr sz="1300" b="0">
                          <a:solidFill>
                            <a:srgbClr val="1F1F1F"/>
                          </a:solidFill>
                          <a:latin typeface="Calibri"/>
                        </a:rPr>
                        <a:t>recursos recebidos pela Classe em razão da</a:t>
                      </a:r>
                    </a:p>
                    <a:p>
                      <a:pPr algn="l">
                        <a:lnSpc>
                          <a:spcPct val="100000"/>
                        </a:lnSpc>
                        <a:spcBef>
                          <a:spcPts val="0"/>
                        </a:spcBef>
                        <a:spcAft>
                          <a:spcPts val="0"/>
                        </a:spcAft>
                      </a:pPr>
                      <a:r>
                        <a:rPr sz="1300" b="0">
                          <a:solidFill>
                            <a:srgbClr val="1F1F1F"/>
                          </a:solidFill>
                          <a:latin typeface="Calibri"/>
                        </a:rPr>
                        <a:t>liquidação dos Direitos Creditórios, a qualquer</a:t>
                      </a:r>
                    </a:p>
                    <a:p>
                      <a:pPr algn="l">
                        <a:lnSpc>
                          <a:spcPct val="100000"/>
                        </a:lnSpc>
                        <a:spcBef>
                          <a:spcPts val="0"/>
                        </a:spcBef>
                        <a:spcAft>
                          <a:spcPts val="0"/>
                        </a:spcAft>
                      </a:pPr>
                      <a:r>
                        <a:rPr sz="1300" b="0">
                          <a:solidFill>
                            <a:srgbClr val="1F1F1F"/>
                          </a:solidFill>
                          <a:latin typeface="Calibri"/>
                        </a:rPr>
                        <a:t>título, incluindo pagamento regular ou por</a:t>
                      </a:r>
                    </a:p>
                    <a:p>
                      <a:pPr algn="l">
                        <a:lnSpc>
                          <a:spcPct val="100000"/>
                        </a:lnSpc>
                        <a:spcBef>
                          <a:spcPts val="0"/>
                        </a:spcBef>
                        <a:spcAft>
                          <a:spcPts val="0"/>
                        </a:spcAft>
                      </a:pPr>
                      <a:r>
                        <a:rPr sz="1300" b="0">
                          <a:solidFill>
                            <a:srgbClr val="1F1F1F"/>
                          </a:solidFill>
                          <a:latin typeface="Calibri"/>
                        </a:rPr>
                        <a:t>excussão de garantia, alienação, recompra,</a:t>
                      </a:r>
                    </a:p>
                    <a:p>
                      <a:pPr algn="l">
                        <a:lnSpc>
                          <a:spcPct val="100000"/>
                        </a:lnSpc>
                        <a:spcBef>
                          <a:spcPts val="0"/>
                        </a:spcBef>
                        <a:spcAft>
                          <a:spcPts val="0"/>
                        </a:spcAft>
                      </a:pPr>
                      <a:r>
                        <a:rPr sz="1300" b="0">
                          <a:solidFill>
                            <a:srgbClr val="1F1F1F"/>
                          </a:solidFill>
                          <a:latin typeface="Calibri"/>
                        </a:rPr>
                        <a:t>indenização pelo Cedente e/ou desinvestimento de</a:t>
                      </a:r>
                    </a:p>
                    <a:p>
                      <a:pPr algn="l">
                        <a:lnSpc>
                          <a:spcPct val="100000"/>
                        </a:lnSpc>
                        <a:spcBef>
                          <a:spcPts val="0"/>
                        </a:spcBef>
                        <a:spcAft>
                          <a:spcPts val="0"/>
                        </a:spcAft>
                      </a:pPr>
                      <a:r>
                        <a:rPr sz="1300" b="0">
                          <a:solidFill>
                            <a:srgbClr val="1F1F1F"/>
                          </a:solidFill>
                          <a:latin typeface="Calibri"/>
                        </a:rPr>
                        <a:t>Ativo Recuperado, não poderão ser destinados à</a:t>
                      </a:r>
                    </a:p>
                    <a:p>
                      <a:pPr algn="l">
                        <a:lnSpc>
                          <a:spcPct val="100000"/>
                        </a:lnSpc>
                        <a:spcBef>
                          <a:spcPts val="0"/>
                        </a:spcBef>
                        <a:spcAft>
                          <a:spcPts val="0"/>
                        </a:spcAft>
                      </a:pPr>
                      <a:r>
                        <a:rPr sz="1300" b="0">
                          <a:solidFill>
                            <a:srgbClr val="1F1F1F"/>
                          </a:solidFill>
                          <a:latin typeface="Calibri"/>
                        </a:rPr>
                        <a:t>aquisição pela Classe de novos Direitos</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45/160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Qualidade da carteira</a:t>
            </a:r>
          </a:p>
        </p:txBody>
      </p:sp>
      <p:graphicFrame>
        <p:nvGraphicFramePr>
          <p:cNvPr id="3" name="Table 2"/>
          <p:cNvGraphicFramePr>
            <a:graphicFrameLocks noGrp="1"/>
          </p:cNvGraphicFramePr>
          <p:nvPr/>
        </p:nvGraphicFramePr>
        <p:xfrm>
          <a:off x="438912" y="932688"/>
          <a:ext cx="11313870" cy="2084831"/>
        </p:xfrm>
        <a:graphic>
          <a:graphicData uri="http://schemas.openxmlformats.org/drawingml/2006/table">
            <a:tbl>
              <a:tblPr>
                <a:tableStyleId>{5C22544A-7EE6-4342-B048-85BDC9FD1C3A}</a:tableStyleId>
              </a:tblPr>
              <a:tblGrid>
                <a:gridCol w="2331720"/>
                <a:gridCol w="4491075"/>
                <a:gridCol w="4491075"/>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V CDT 1 · 62552447000120</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Global CP · 63953620000165</a:t>
                      </a:r>
                    </a:p>
                  </a:txBody>
                  <a:tcPr marL="91440" marR="91440" marT="41148" marB="41148" anchor="ctr">
                    <a:solidFill>
                      <a:srgbClr val="F7F7F7"/>
                    </a:solidFill>
                    <a:lnL>
                      <a:noFill/>
                    </a:lnL>
                    <a:lnR>
                      <a:noFill/>
                    </a:lnR>
                    <a:lnT>
                      <a:noFill/>
                    </a:lnT>
                    <a:lnB w="6350">
                      <a:solidFill>
                        <a:srgbClr val="D9DEE5"/>
                      </a:solidFill>
                    </a:lnB>
                  </a:tcPr>
                </a:tc>
              </a:tr>
              <a:tr h="658368">
                <a:tc>
                  <a:txBody>
                    <a:bodyPr wrap="square">
                      <a:noAutofit/>
                    </a:bodyPr>
                    <a:lstStyle/>
                    <a:p>
                      <a:pPr algn="l">
                        <a:lnSpc>
                          <a:spcPct val="100000"/>
                        </a:lnSpc>
                        <a:spcBef>
                          <a:spcPts val="0"/>
                        </a:spcBef>
                        <a:spcAft>
                          <a:spcPts val="0"/>
                        </a:spcAft>
                      </a:pPr>
                      <a:r>
                        <a:rPr sz="1300" b="1">
                          <a:solidFill>
                            <a:srgbClr val="1F1F1F"/>
                          </a:solidFill>
                          <a:latin typeface="Calibri"/>
                        </a:rPr>
                        <a:t>Recompra e indenização</a:t>
                      </a:r>
                    </a:p>
                    <a:p>
                      <a:pPr algn="l">
                        <a:lnSpc>
                          <a:spcPct val="100000"/>
                        </a:lnSpc>
                        <a:spcBef>
                          <a:spcPts val="0"/>
                        </a:spcBef>
                        <a:spcAft>
                          <a:spcPts val="0"/>
                        </a:spcAft>
                      </a:pPr>
                      <a:r>
                        <a:rPr sz="1300" b="1">
                          <a:solidFill>
                            <a:srgbClr val="1F1F1F"/>
                          </a:solidFill>
                          <a:latin typeface="Calibri"/>
                        </a:rPr>
                        <a:t>(continuação)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Creditórios, aplicando-se, de resto, o disposto</a:t>
                      </a:r>
                    </a:p>
                    <a:p>
                      <a:pPr algn="l">
                        <a:lnSpc>
                          <a:spcPct val="100000"/>
                        </a:lnSpc>
                        <a:spcBef>
                          <a:spcPts val="0"/>
                        </a:spcBef>
                        <a:spcAft>
                          <a:spcPts val="0"/>
                        </a:spcAft>
                      </a:pPr>
                      <a:r>
                        <a:rPr sz="1300" b="0">
                          <a:solidFill>
                            <a:srgbClr val="1F1F1F"/>
                          </a:solidFill>
                          <a:latin typeface="Calibri"/>
                        </a:rPr>
                        <a:t>no item 8.1 abaixo no que se refere à ordem de</a:t>
                      </a:r>
                    </a:p>
                    <a:p>
                      <a:pPr algn="l">
                        <a:lnSpc>
                          <a:spcPct val="100000"/>
                        </a:lnSpc>
                        <a:spcBef>
                          <a:spcPts val="0"/>
                        </a:spcBef>
                        <a:spcAft>
                          <a:spcPts val="0"/>
                        </a:spcAft>
                      </a:pPr>
                      <a:r>
                        <a:rPr sz="1300" b="0">
                          <a:solidFill>
                            <a:srgbClr val="1F1F1F"/>
                          </a:solidFill>
                          <a:latin typeface="Calibri"/>
                        </a:rPr>
                        <a:t>alocação de tais recursos.</a:t>
                      </a:r>
                    </a:p>
                  </a:txBody>
                  <a:tcPr marL="91440" marR="91440" marT="41148" marB="41148" anchor="ctr">
                    <a:solidFill>
                      <a:srgbClr val="FFFFFF"/>
                    </a:solidFill>
                    <a:lnL>
                      <a:noFill/>
                    </a:lnL>
                    <a:lnR>
                      <a:noFill/>
                    </a:lnR>
                    <a:lnT>
                      <a:noFill/>
                    </a:lnT>
                    <a:lnB>
                      <a:noFill/>
                    </a:lnB>
                  </a:tcPr>
                </a:tc>
              </a:tr>
              <a:tr h="1033271">
                <a:tc>
                  <a:txBody>
                    <a:bodyPr wrap="square">
                      <a:noAutofit/>
                    </a:bodyPr>
                    <a:lstStyle/>
                    <a:p>
                      <a:pPr algn="l">
                        <a:lnSpc>
                          <a:spcPct val="100000"/>
                        </a:lnSpc>
                        <a:spcBef>
                          <a:spcPts val="0"/>
                        </a:spcBef>
                        <a:spcAft>
                          <a:spcPts val="0"/>
                        </a:spcAft>
                      </a:pPr>
                      <a:r>
                        <a:rPr sz="1300" b="1">
                          <a:solidFill>
                            <a:srgbClr val="1F1F1F"/>
                          </a:solidFill>
                          <a:latin typeface="Calibri"/>
                        </a:rPr>
                        <a:t>Coobrigação e retenção</a:t>
                      </a:r>
                    </a:p>
                    <a:p>
                      <a:pPr algn="l">
                        <a:lnSpc>
                          <a:spcPct val="100000"/>
                        </a:lnSpc>
                        <a:spcBef>
                          <a:spcPts val="0"/>
                        </a:spcBef>
                        <a:spcAft>
                          <a:spcPts val="0"/>
                        </a:spcAft>
                      </a:pPr>
                      <a:r>
                        <a:rPr sz="1300" b="1">
                          <a:solidFill>
                            <a:srgbClr val="1F1F1F"/>
                          </a:solidFill>
                          <a:latin typeface="Calibri"/>
                        </a:rPr>
                        <a:t>de risco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Endosso em preto irrevogável, definitivo e sem</a:t>
                      </a:r>
                    </a:p>
                    <a:p>
                      <a:pPr algn="l">
                        <a:lnSpc>
                          <a:spcPct val="100000"/>
                        </a:lnSpc>
                        <a:spcBef>
                          <a:spcPts val="0"/>
                        </a:spcBef>
                        <a:spcAft>
                          <a:spcPts val="0"/>
                        </a:spcAft>
                      </a:pPr>
                      <a:r>
                        <a:rPr sz="1300" b="0">
                          <a:solidFill>
                            <a:srgbClr val="1F1F1F"/>
                          </a:solidFill>
                          <a:latin typeface="Calibri"/>
                        </a:rPr>
                        <a:t>coobrigação do endossante; preservados direitos</a:t>
                      </a:r>
                    </a:p>
                    <a:p>
                      <a:pPr algn="l">
                        <a:lnSpc>
                          <a:spcPct val="100000"/>
                        </a:lnSpc>
                        <a:spcBef>
                          <a:spcPts val="0"/>
                        </a:spcBef>
                        <a:spcAft>
                          <a:spcPts val="0"/>
                        </a:spcAft>
                      </a:pPr>
                      <a:r>
                        <a:rPr sz="1300" b="0">
                          <a:solidFill>
                            <a:srgbClr val="1F1F1F"/>
                          </a:solidFill>
                          <a:latin typeface="Calibri"/>
                        </a:rPr>
                        <a:t>de resolver endosso ou vender créditos ao agente</a:t>
                      </a:r>
                    </a:p>
                    <a:p>
                      <a:pPr algn="l">
                        <a:lnSpc>
                          <a:spcPct val="100000"/>
                        </a:lnSpc>
                        <a:spcBef>
                          <a:spcPts val="0"/>
                        </a:spcBef>
                        <a:spcAft>
                          <a:spcPts val="0"/>
                        </a:spcAft>
                      </a:pPr>
                      <a:r>
                        <a:rPr sz="1300" b="0">
                          <a:solidFill>
                            <a:srgbClr val="1F1F1F"/>
                          </a:solidFill>
                          <a:latin typeface="Calibri"/>
                        </a:rPr>
                        <a:t>nos termos dos contratos.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Sem coobrigação/regresso contra endossante,</a:t>
                      </a:r>
                    </a:p>
                    <a:p>
                      <a:pPr algn="l">
                        <a:lnSpc>
                          <a:spcPct val="100000"/>
                        </a:lnSpc>
                        <a:spcBef>
                          <a:spcPts val="0"/>
                        </a:spcBef>
                        <a:spcAft>
                          <a:spcPts val="0"/>
                        </a:spcAft>
                      </a:pPr>
                      <a:r>
                        <a:rPr sz="1300" b="0">
                          <a:solidFill>
                            <a:srgbClr val="1F1F1F"/>
                          </a:solidFill>
                          <a:latin typeface="Calibri"/>
                        </a:rPr>
                        <a:t>administrador, gestor, custodiante/agente, salvo</a:t>
                      </a:r>
                    </a:p>
                    <a:p>
                      <a:pPr algn="l">
                        <a:lnSpc>
                          <a:spcPct val="100000"/>
                        </a:lnSpc>
                        <a:spcBef>
                          <a:spcPts val="0"/>
                        </a:spcBef>
                        <a:spcAft>
                          <a:spcPts val="0"/>
                        </a:spcAft>
                      </a:pPr>
                      <a:r>
                        <a:rPr sz="1300" b="0">
                          <a:solidFill>
                            <a:srgbClr val="1F1F1F"/>
                          </a:solidFill>
                          <a:latin typeface="Calibri"/>
                        </a:rPr>
                        <a:t>má-fé, culpa ou dolo comprovados. Direitos de</a:t>
                      </a:r>
                    </a:p>
                    <a:p>
                      <a:pPr algn="l">
                        <a:lnSpc>
                          <a:spcPct val="100000"/>
                        </a:lnSpc>
                        <a:spcBef>
                          <a:spcPts val="0"/>
                        </a:spcBef>
                        <a:spcAft>
                          <a:spcPts val="0"/>
                        </a:spcAft>
                      </a:pPr>
                      <a:r>
                        <a:rPr sz="1300" b="0">
                          <a:solidFill>
                            <a:srgbClr val="1F1F1F"/>
                          </a:solidFill>
                          <a:latin typeface="Calibri"/>
                        </a:rPr>
                        <a:t>recompra/opção de venda preservados conforme</a:t>
                      </a:r>
                    </a:p>
                    <a:p>
                      <a:pPr algn="l">
                        <a:lnSpc>
                          <a:spcPct val="100000"/>
                        </a:lnSpc>
                        <a:spcBef>
                          <a:spcPts val="0"/>
                        </a:spcBef>
                        <a:spcAft>
                          <a:spcPts val="0"/>
                        </a:spcAft>
                      </a:pPr>
                      <a:r>
                        <a:rPr sz="1300" b="0">
                          <a:solidFill>
                            <a:srgbClr val="1F1F1F"/>
                          </a:solidFill>
                          <a:latin typeface="Calibri"/>
                        </a:rPr>
                        <a:t>contrato.</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46/160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Eventos e cura</a:t>
            </a:r>
          </a:p>
        </p:txBody>
      </p:sp>
      <p:graphicFrame>
        <p:nvGraphicFramePr>
          <p:cNvPr id="3" name="Table 2"/>
          <p:cNvGraphicFramePr>
            <a:graphicFrameLocks noGrp="1"/>
          </p:cNvGraphicFramePr>
          <p:nvPr/>
        </p:nvGraphicFramePr>
        <p:xfrm>
          <a:off x="438912" y="932688"/>
          <a:ext cx="11313868" cy="4128515"/>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3657599">
                <a:tc>
                  <a:txBody>
                    <a:bodyPr wrap="square">
                      <a:noAutofit/>
                    </a:bodyPr>
                    <a:lstStyle/>
                    <a:p>
                      <a:pPr algn="l">
                        <a:lnSpc>
                          <a:spcPct val="100000"/>
                        </a:lnSpc>
                        <a:spcBef>
                          <a:spcPts val="0"/>
                        </a:spcBef>
                        <a:spcAft>
                          <a:spcPts val="0"/>
                        </a:spcAft>
                      </a:pPr>
                      <a:r>
                        <a:rPr sz="1300" b="1">
                          <a:solidFill>
                            <a:srgbClr val="1F1F1F"/>
                          </a:solidFill>
                          <a:latin typeface="Calibri"/>
                        </a:rPr>
                        <a:t>Eventos de avaliação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RAET/intervenção/liquid</a:t>
                      </a:r>
                    </a:p>
                    <a:p>
                      <a:pPr algn="l">
                        <a:lnSpc>
                          <a:spcPct val="100000"/>
                        </a:lnSpc>
                        <a:spcBef>
                          <a:spcPts val="0"/>
                        </a:spcBef>
                        <a:spcAft>
                          <a:spcPts val="0"/>
                        </a:spcAft>
                      </a:pPr>
                      <a:r>
                        <a:rPr sz="1300" b="0">
                          <a:solidFill>
                            <a:srgbClr val="1F1F1F"/>
                          </a:solidFill>
                          <a:latin typeface="Calibri"/>
                        </a:rPr>
                        <a:t>ação do endossante ou</a:t>
                      </a:r>
                    </a:p>
                    <a:p>
                      <a:pPr algn="l">
                        <a:lnSpc>
                          <a:spcPct val="100000"/>
                        </a:lnSpc>
                        <a:spcBef>
                          <a:spcPts val="0"/>
                        </a:spcBef>
                        <a:spcAft>
                          <a:spcPts val="0"/>
                        </a:spcAft>
                      </a:pPr>
                      <a:r>
                        <a:rPr sz="1300" b="0">
                          <a:solidFill>
                            <a:srgbClr val="1F1F1F"/>
                          </a:solidFill>
                          <a:latin typeface="Calibri"/>
                        </a:rPr>
                        <a:t>agente de garantias;</a:t>
                      </a:r>
                    </a:p>
                    <a:p>
                      <a:pPr algn="l">
                        <a:lnSpc>
                          <a:spcPct val="100000"/>
                        </a:lnSpc>
                        <a:spcBef>
                          <a:spcPts val="0"/>
                        </a:spcBef>
                        <a:spcAft>
                          <a:spcPts val="0"/>
                        </a:spcAft>
                      </a:pPr>
                      <a:r>
                        <a:rPr sz="1300" b="0">
                          <a:solidFill>
                            <a:srgbClr val="1F1F1F"/>
                          </a:solidFill>
                          <a:latin typeface="Calibri"/>
                        </a:rPr>
                        <a:t>obrigações do</a:t>
                      </a:r>
                    </a:p>
                    <a:p>
                      <a:pPr algn="l">
                        <a:lnSpc>
                          <a:spcPct val="100000"/>
                        </a:lnSpc>
                        <a:spcBef>
                          <a:spcPts val="0"/>
                        </a:spcBef>
                        <a:spcAft>
                          <a:spcPts val="0"/>
                        </a:spcAft>
                      </a:pPr>
                      <a:r>
                        <a:rPr sz="1300" b="0">
                          <a:solidFill>
                            <a:srgbClr val="1F1F1F"/>
                          </a:solidFill>
                          <a:latin typeface="Calibri"/>
                        </a:rPr>
                        <a:t>endossante não sanadas</a:t>
                      </a:r>
                    </a:p>
                    <a:p>
                      <a:pPr algn="l">
                        <a:lnSpc>
                          <a:spcPct val="100000"/>
                        </a:lnSpc>
                        <a:spcBef>
                          <a:spcPts val="0"/>
                        </a:spcBef>
                        <a:spcAft>
                          <a:spcPts val="0"/>
                        </a:spcAft>
                      </a:pPr>
                      <a:r>
                        <a:rPr sz="1300" b="0">
                          <a:solidFill>
                            <a:srgbClr val="1F1F1F"/>
                          </a:solidFill>
                          <a:latin typeface="Calibri"/>
                        </a:rPr>
                        <a:t>em 10 dias úteis da</a:t>
                      </a:r>
                    </a:p>
                    <a:p>
                      <a:pPr algn="l">
                        <a:lnSpc>
                          <a:spcPct val="100000"/>
                        </a:lnSpc>
                        <a:spcBef>
                          <a:spcPts val="0"/>
                        </a:spcBef>
                        <a:spcAft>
                          <a:spcPts val="0"/>
                        </a:spcAft>
                      </a:pPr>
                      <a:r>
                        <a:rPr sz="1300" b="0">
                          <a:solidFill>
                            <a:srgbClr val="1F1F1F"/>
                          </a:solidFill>
                          <a:latin typeface="Calibri"/>
                        </a:rPr>
                        <a:t>notificação;</a:t>
                      </a:r>
                    </a:p>
                    <a:p>
                      <a:pPr algn="l">
                        <a:lnSpc>
                          <a:spcPct val="100000"/>
                        </a:lnSpc>
                        <a:spcBef>
                          <a:spcPts val="0"/>
                        </a:spcBef>
                        <a:spcAft>
                          <a:spcPts val="0"/>
                        </a:spcAft>
                      </a:pPr>
                      <a:r>
                        <a:rPr sz="1300" b="0">
                          <a:solidFill>
                            <a:srgbClr val="1F1F1F"/>
                          </a:solidFill>
                          <a:latin typeface="Calibri"/>
                        </a:rPr>
                        <a:t>comprovantes não</a:t>
                      </a:r>
                    </a:p>
                    <a:p>
                      <a:pPr algn="l">
                        <a:lnSpc>
                          <a:spcPct val="100000"/>
                        </a:lnSpc>
                        <a:spcBef>
                          <a:spcPts val="0"/>
                        </a:spcBef>
                        <a:spcAft>
                          <a:spcPts val="0"/>
                        </a:spcAft>
                      </a:pPr>
                      <a:r>
                        <a:rPr sz="1300" b="0">
                          <a:solidFill>
                            <a:srgbClr val="1F1F1F"/>
                          </a:solidFill>
                          <a:latin typeface="Calibri"/>
                        </a:rPr>
                        <a:t>entregues em 2 dias</a:t>
                      </a:r>
                    </a:p>
                    <a:p>
                      <a:pPr algn="l">
                        <a:lnSpc>
                          <a:spcPct val="100000"/>
                        </a:lnSpc>
                        <a:spcBef>
                          <a:spcPts val="0"/>
                        </a:spcBef>
                        <a:spcAft>
                          <a:spcPts val="0"/>
                        </a:spcAft>
                      </a:pPr>
                      <a:r>
                        <a:rPr sz="1300" b="0">
                          <a:solidFill>
                            <a:srgbClr val="1F1F1F"/>
                          </a:solidFill>
                          <a:latin typeface="Calibri"/>
                        </a:rPr>
                        <a:t>úteis; falha de</a:t>
                      </a:r>
                    </a:p>
                    <a:p>
                      <a:pPr algn="l">
                        <a:lnSpc>
                          <a:spcPct val="100000"/>
                        </a:lnSpc>
                        <a:spcBef>
                          <a:spcPts val="0"/>
                        </a:spcBef>
                        <a:spcAft>
                          <a:spcPts val="0"/>
                        </a:spcAft>
                      </a:pPr>
                      <a:r>
                        <a:rPr sz="1300" b="0">
                          <a:solidFill>
                            <a:srgbClr val="1F1F1F"/>
                          </a:solidFill>
                          <a:latin typeface="Calibri"/>
                        </a:rPr>
                        <a:t>prestador em 10 dias</a:t>
                      </a:r>
                    </a:p>
                    <a:p>
                      <a:pPr algn="l">
                        <a:lnSpc>
                          <a:spcPct val="100000"/>
                        </a:lnSpc>
                        <a:spcBef>
                          <a:spcPts val="0"/>
                        </a:spcBef>
                        <a:spcAft>
                          <a:spcPts val="0"/>
                        </a:spcAft>
                      </a:pPr>
                      <a:r>
                        <a:rPr sz="1300" b="0">
                          <a:solidFill>
                            <a:srgbClr val="1F1F1F"/>
                          </a:solidFill>
                          <a:latin typeface="Calibri"/>
                        </a:rPr>
                        <a:t>úteis; perda de</a:t>
                      </a:r>
                    </a:p>
                    <a:p>
                      <a:pPr algn="l">
                        <a:lnSpc>
                          <a:spcPct val="100000"/>
                        </a:lnSpc>
                        <a:spcBef>
                          <a:spcPts val="0"/>
                        </a:spcBef>
                        <a:spcAft>
                          <a:spcPts val="0"/>
                        </a:spcAft>
                      </a:pPr>
                      <a:r>
                        <a:rPr sz="1300" b="0">
                          <a:solidFill>
                            <a:srgbClr val="1F1F1F"/>
                          </a:solidFill>
                          <a:latin typeface="Calibri"/>
                        </a:rPr>
                        <a:t>validade do</a:t>
                      </a:r>
                    </a:p>
                    <a:p>
                      <a:pPr algn="l">
                        <a:lnSpc>
                          <a:spcPct val="100000"/>
                        </a:lnSpc>
                        <a:spcBef>
                          <a:spcPts val="0"/>
                        </a:spcBef>
                        <a:spcAft>
                          <a:spcPts val="0"/>
                        </a:spcAft>
                      </a:pPr>
                      <a:r>
                        <a:rPr sz="1300" b="0">
                          <a:solidFill>
                            <a:srgbClr val="1F1F1F"/>
                          </a:solidFill>
                          <a:latin typeface="Calibri"/>
                        </a:rPr>
                        <a:t>endosso/convênio e</a:t>
                      </a:r>
                    </a:p>
                    <a:p>
                      <a:pPr algn="l">
                        <a:lnSpc>
                          <a:spcPct val="100000"/>
                        </a:lnSpc>
                        <a:spcBef>
                          <a:spcPts val="0"/>
                        </a:spcBef>
                        <a:spcAft>
                          <a:spcPts val="0"/>
                        </a:spcAft>
                      </a:pPr>
                      <a:r>
                        <a:rPr sz="1300" b="0">
                          <a:solidFill>
                            <a:srgbClr val="1F1F1F"/>
                          </a:solidFill>
                          <a:latin typeface="Calibri"/>
                        </a:rPr>
                        <a:t>eventos de conduta.</a:t>
                      </a:r>
                    </a:p>
                    <a:p>
                      <a:pPr algn="l">
                        <a:lnSpc>
                          <a:spcPct val="100000"/>
                        </a:lnSpc>
                        <a:spcBef>
                          <a:spcPts val="0"/>
                        </a:spcBef>
                        <a:spcAft>
                          <a:spcPts val="0"/>
                        </a:spcAft>
                      </a:pPr>
                      <a:r>
                        <a:rPr sz="1300" b="0">
                          <a:solidFill>
                            <a:srgbClr val="1F1F1F"/>
                          </a:solidFill>
                          <a:latin typeface="Calibri"/>
                        </a:rPr>
                        <a:t>Interrompe</a:t>
                      </a:r>
                    </a:p>
                    <a:p>
                      <a:pPr algn="l">
                        <a:lnSpc>
                          <a:spcPct val="100000"/>
                        </a:lnSpc>
                        <a:spcBef>
                          <a:spcPts val="0"/>
                        </a:spcBef>
                        <a:spcAft>
                          <a:spcPts val="0"/>
                        </a:spcAft>
                      </a:pPr>
                      <a:r>
                        <a:rPr sz="1300" b="0">
                          <a:solidFill>
                            <a:srgbClr val="1F1F1F"/>
                          </a:solidFill>
                          <a:latin typeface="Calibri"/>
                        </a:rPr>
                        <a:t>imediatamente novas</a:t>
                      </a:r>
                    </a:p>
                    <a:p>
                      <a:pPr algn="l">
                        <a:lnSpc>
                          <a:spcPct val="100000"/>
                        </a:lnSpc>
                        <a:spcBef>
                          <a:spcPts val="0"/>
                        </a:spcBef>
                        <a:spcAft>
                          <a:spcPts val="0"/>
                        </a:spcAft>
                      </a:pPr>
                      <a:r>
                        <a:rPr sz="1300" b="0">
                          <a:solidFill>
                            <a:srgbClr val="1F1F1F"/>
                          </a:solidFill>
                          <a:latin typeface="Calibri"/>
                        </a:rPr>
                        <a:t>aquisições até cura ou</a:t>
                      </a:r>
                    </a:p>
                    <a:p>
                      <a:pPr algn="l">
                        <a:lnSpc>
                          <a:spcPct val="100000"/>
                        </a:lnSpc>
                        <a:spcBef>
                          <a:spcPts val="0"/>
                        </a:spcBef>
                        <a:spcAft>
                          <a:spcPts val="0"/>
                        </a:spcAft>
                      </a:pPr>
                      <a:r>
                        <a:rPr sz="1300" b="0">
                          <a:solidFill>
                            <a:srgbClr val="1F1F1F"/>
                          </a:solidFill>
                          <a:latin typeface="Calibri"/>
                        </a:rPr>
                        <a:t>decisão da AGC.</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RAET/intervenção do</a:t>
                      </a:r>
                    </a:p>
                    <a:p>
                      <a:pPr algn="l">
                        <a:lnSpc>
                          <a:spcPct val="100000"/>
                        </a:lnSpc>
                        <a:spcBef>
                          <a:spcPts val="0"/>
                        </a:spcBef>
                        <a:spcAft>
                          <a:spcPts val="0"/>
                        </a:spcAft>
                      </a:pPr>
                      <a:r>
                        <a:rPr sz="1300" b="0">
                          <a:solidFill>
                            <a:srgbClr val="1F1F1F"/>
                          </a:solidFill>
                          <a:latin typeface="Calibri"/>
                        </a:rPr>
                        <a:t>endossante; índice fora</a:t>
                      </a:r>
                    </a:p>
                    <a:p>
                      <a:pPr algn="l">
                        <a:lnSpc>
                          <a:spcPct val="100000"/>
                        </a:lnSpc>
                        <a:spcBef>
                          <a:spcPts val="0"/>
                        </a:spcBef>
                        <a:spcAft>
                          <a:spcPts val="0"/>
                        </a:spcAft>
                      </a:pPr>
                      <a:r>
                        <a:rPr sz="1300" b="0">
                          <a:solidFill>
                            <a:srgbClr val="1F1F1F"/>
                          </a:solidFill>
                          <a:latin typeface="Calibri"/>
                        </a:rPr>
                        <a:t>por 10 dias úteis;</a:t>
                      </a:r>
                    </a:p>
                    <a:p>
                      <a:pPr algn="l">
                        <a:lnSpc>
                          <a:spcPct val="100000"/>
                        </a:lnSpc>
                        <a:spcBef>
                          <a:spcPts val="0"/>
                        </a:spcBef>
                        <a:spcAft>
                          <a:spcPts val="0"/>
                        </a:spcAft>
                      </a:pPr>
                      <a:r>
                        <a:rPr sz="1300" b="0">
                          <a:solidFill>
                            <a:srgbClr val="1F1F1F"/>
                          </a:solidFill>
                          <a:latin typeface="Calibri"/>
                        </a:rPr>
                        <a:t>descumprimentos com</a:t>
                      </a:r>
                    </a:p>
                    <a:p>
                      <a:pPr algn="l">
                        <a:lnSpc>
                          <a:spcPct val="100000"/>
                        </a:lnSpc>
                        <a:spcBef>
                          <a:spcPts val="0"/>
                        </a:spcBef>
                        <a:spcAft>
                          <a:spcPts val="0"/>
                        </a:spcAft>
                      </a:pPr>
                      <a:r>
                        <a:rPr sz="1300" b="0">
                          <a:solidFill>
                            <a:srgbClr val="1F1F1F"/>
                          </a:solidFill>
                          <a:latin typeface="Calibri"/>
                        </a:rPr>
                        <a:t>curas de 2/10 dias</a:t>
                      </a:r>
                    </a:p>
                    <a:p>
                      <a:pPr algn="l">
                        <a:lnSpc>
                          <a:spcPct val="100000"/>
                        </a:lnSpc>
                        <a:spcBef>
                          <a:spcPts val="0"/>
                        </a:spcBef>
                        <a:spcAft>
                          <a:spcPts val="0"/>
                        </a:spcAft>
                      </a:pPr>
                      <a:r>
                        <a:rPr sz="1300" b="0">
                          <a:solidFill>
                            <a:srgbClr val="1F1F1F"/>
                          </a:solidFill>
                          <a:latin typeface="Calibri"/>
                        </a:rPr>
                        <a:t>úteis; perda de</a:t>
                      </a:r>
                    </a:p>
                    <a:p>
                      <a:pPr algn="l">
                        <a:lnSpc>
                          <a:spcPct val="100000"/>
                        </a:lnSpc>
                        <a:spcBef>
                          <a:spcPts val="0"/>
                        </a:spcBef>
                        <a:spcAft>
                          <a:spcPts val="0"/>
                        </a:spcAft>
                      </a:pPr>
                      <a:r>
                        <a:rPr sz="1300" b="0">
                          <a:solidFill>
                            <a:srgbClr val="1F1F1F"/>
                          </a:solidFill>
                          <a:latin typeface="Calibri"/>
                        </a:rPr>
                        <a:t>titularidade</a:t>
                      </a:r>
                    </a:p>
                    <a:p>
                      <a:pPr algn="l">
                        <a:lnSpc>
                          <a:spcPct val="100000"/>
                        </a:lnSpc>
                        <a:spcBef>
                          <a:spcPts val="0"/>
                        </a:spcBef>
                        <a:spcAft>
                          <a:spcPts val="0"/>
                        </a:spcAft>
                      </a:pPr>
                      <a:r>
                        <a:rPr sz="1300" b="0">
                          <a:solidFill>
                            <a:srgbClr val="1F1F1F"/>
                          </a:solidFill>
                          <a:latin typeface="Calibri"/>
                        </a:rPr>
                        <a:t>subordinada pelo</a:t>
                      </a:r>
                    </a:p>
                    <a:p>
                      <a:pPr algn="l">
                        <a:lnSpc>
                          <a:spcPct val="100000"/>
                        </a:lnSpc>
                        <a:spcBef>
                          <a:spcPts val="0"/>
                        </a:spcBef>
                        <a:spcAft>
                          <a:spcPts val="0"/>
                        </a:spcAft>
                      </a:pPr>
                      <a:r>
                        <a:rPr sz="1300" b="0">
                          <a:solidFill>
                            <a:srgbClr val="1F1F1F"/>
                          </a:solidFill>
                          <a:latin typeface="Calibri"/>
                        </a:rPr>
                        <a:t>público-alvo; atraso</a:t>
                      </a:r>
                    </a:p>
                    <a:p>
                      <a:pPr algn="l">
                        <a:lnSpc>
                          <a:spcPct val="100000"/>
                        </a:lnSpc>
                        <a:spcBef>
                          <a:spcPts val="0"/>
                        </a:spcBef>
                        <a:spcAft>
                          <a:spcPts val="0"/>
                        </a:spcAft>
                      </a:pPr>
                      <a:r>
                        <a:rPr sz="1300" b="0">
                          <a:solidFill>
                            <a:srgbClr val="1F1F1F"/>
                          </a:solidFill>
                          <a:latin typeface="Calibri"/>
                        </a:rPr>
                        <a:t>sênior não sanado em 2</a:t>
                      </a:r>
                    </a:p>
                    <a:p>
                      <a:pPr algn="l">
                        <a:lnSpc>
                          <a:spcPct val="100000"/>
                        </a:lnSpc>
                        <a:spcBef>
                          <a:spcPts val="0"/>
                        </a:spcBef>
                        <a:spcAft>
                          <a:spcPts val="0"/>
                        </a:spcAft>
                      </a:pPr>
                      <a:r>
                        <a:rPr sz="1300" b="0">
                          <a:solidFill>
                            <a:srgbClr val="1F1F1F"/>
                          </a:solidFill>
                          <a:latin typeface="Calibri"/>
                        </a:rPr>
                        <a:t>dias úteis; amortização</a:t>
                      </a:r>
                    </a:p>
                    <a:p>
                      <a:pPr algn="l">
                        <a:lnSpc>
                          <a:spcPct val="100000"/>
                        </a:lnSpc>
                        <a:spcBef>
                          <a:spcPts val="0"/>
                        </a:spcBef>
                        <a:spcAft>
                          <a:spcPts val="0"/>
                        </a:spcAft>
                      </a:pPr>
                      <a:r>
                        <a:rPr sz="1300" b="0">
                          <a:solidFill>
                            <a:srgbClr val="1F1F1F"/>
                          </a:solidFill>
                          <a:latin typeface="Calibri"/>
                        </a:rPr>
                        <a:t>subordinada indevida.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Anexo referido não</a:t>
                      </a:r>
                    </a:p>
                    <a:p>
                      <a:pPr algn="l">
                        <a:lnSpc>
                          <a:spcPct val="100000"/>
                        </a:lnSpc>
                        <a:spcBef>
                          <a:spcPts val="0"/>
                        </a:spcBef>
                        <a:spcAft>
                          <a:spcPts val="0"/>
                        </a:spcAft>
                      </a:pPr>
                      <a:r>
                        <a:rPr sz="1300" b="0">
                          <a:solidFill>
                            <a:srgbClr val="1F1F1F"/>
                          </a:solidFill>
                          <a:latin typeface="Calibri"/>
                        </a:rPr>
                        <a:t>obtido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Prestadores notificados</a:t>
                      </a:r>
                    </a:p>
                    <a:p>
                      <a:pPr algn="l">
                        <a:lnSpc>
                          <a:spcPct val="100000"/>
                        </a:lnSpc>
                        <a:spcBef>
                          <a:spcPts val="0"/>
                        </a:spcBef>
                        <a:spcAft>
                          <a:spcPts val="0"/>
                        </a:spcAft>
                      </a:pPr>
                      <a:r>
                        <a:rPr sz="1300" b="0">
                          <a:solidFill>
                            <a:srgbClr val="1F1F1F"/>
                          </a:solidFill>
                          <a:latin typeface="Calibri"/>
                        </a:rPr>
                        <a:t>sem cura em 5 dias</a:t>
                      </a:r>
                    </a:p>
                    <a:p>
                      <a:pPr algn="l">
                        <a:lnSpc>
                          <a:spcPct val="100000"/>
                        </a:lnSpc>
                        <a:spcBef>
                          <a:spcPts val="0"/>
                        </a:spcBef>
                        <a:spcAft>
                          <a:spcPts val="0"/>
                        </a:spcAft>
                      </a:pPr>
                      <a:r>
                        <a:rPr sz="1300" b="0">
                          <a:solidFill>
                            <a:srgbClr val="1F1F1F"/>
                          </a:solidFill>
                          <a:latin typeface="Calibri"/>
                        </a:rPr>
                        <a:t>úteis; aquisição</a:t>
                      </a:r>
                    </a:p>
                    <a:p>
                      <a:pPr algn="l">
                        <a:lnSpc>
                          <a:spcPct val="100000"/>
                        </a:lnSpc>
                        <a:spcBef>
                          <a:spcPts val="0"/>
                        </a:spcBef>
                        <a:spcAft>
                          <a:spcPts val="0"/>
                        </a:spcAft>
                      </a:pPr>
                      <a:r>
                        <a:rPr sz="1300" b="0">
                          <a:solidFill>
                            <a:srgbClr val="1F1F1F"/>
                          </a:solidFill>
                          <a:latin typeface="Calibri"/>
                        </a:rPr>
                        <a:t>inelegível não</a:t>
                      </a:r>
                    </a:p>
                    <a:p>
                      <a:pPr algn="l">
                        <a:lnSpc>
                          <a:spcPct val="100000"/>
                        </a:lnSpc>
                        <a:spcBef>
                          <a:spcPts val="0"/>
                        </a:spcBef>
                        <a:spcAft>
                          <a:spcPts val="0"/>
                        </a:spcAft>
                      </a:pPr>
                      <a:r>
                        <a:rPr sz="1300" b="0">
                          <a:solidFill>
                            <a:srgbClr val="1F1F1F"/>
                          </a:solidFill>
                          <a:latin typeface="Calibri"/>
                        </a:rPr>
                        <a:t>revertida em 30 dias;</a:t>
                      </a:r>
                    </a:p>
                    <a:p>
                      <a:pPr algn="l">
                        <a:lnSpc>
                          <a:spcPct val="100000"/>
                        </a:lnSpc>
                        <a:spcBef>
                          <a:spcPts val="0"/>
                        </a:spcBef>
                        <a:spcAft>
                          <a:spcPts val="0"/>
                        </a:spcAft>
                      </a:pPr>
                      <a:r>
                        <a:rPr sz="1300" b="0">
                          <a:solidFill>
                            <a:srgbClr val="1F1F1F"/>
                          </a:solidFill>
                          <a:latin typeface="Calibri"/>
                        </a:rPr>
                        <a:t>reserva não</a:t>
                      </a:r>
                    </a:p>
                    <a:p>
                      <a:pPr algn="l">
                        <a:lnSpc>
                          <a:spcPct val="100000"/>
                        </a:lnSpc>
                        <a:spcBef>
                          <a:spcPts val="0"/>
                        </a:spcBef>
                        <a:spcAft>
                          <a:spcPts val="0"/>
                        </a:spcAft>
                      </a:pPr>
                      <a:r>
                        <a:rPr sz="1300" b="0">
                          <a:solidFill>
                            <a:srgbClr val="1F1F1F"/>
                          </a:solidFill>
                          <a:latin typeface="Calibri"/>
                        </a:rPr>
                        <a:t>constituída/recomposta;</a:t>
                      </a:r>
                    </a:p>
                    <a:p>
                      <a:pPr algn="l">
                        <a:lnSpc>
                          <a:spcPct val="100000"/>
                        </a:lnSpc>
                        <a:spcBef>
                          <a:spcPts val="0"/>
                        </a:spcBef>
                        <a:spcAft>
                          <a:spcPts val="0"/>
                        </a:spcAft>
                      </a:pPr>
                      <a:r>
                        <a:rPr sz="1300" b="0">
                          <a:solidFill>
                            <a:srgbClr val="1F1F1F"/>
                          </a:solidFill>
                          <a:latin typeface="Calibri"/>
                        </a:rPr>
                        <a:t>política descumprida no</a:t>
                      </a:r>
                    </a:p>
                    <a:p>
                      <a:pPr algn="l">
                        <a:lnSpc>
                          <a:spcPct val="100000"/>
                        </a:lnSpc>
                        <a:spcBef>
                          <a:spcPts val="0"/>
                        </a:spcBef>
                        <a:spcAft>
                          <a:spcPts val="0"/>
                        </a:spcAft>
                      </a:pPr>
                      <a:r>
                        <a:rPr sz="1300" b="0">
                          <a:solidFill>
                            <a:srgbClr val="1F1F1F"/>
                          </a:solidFill>
                          <a:latin typeface="Calibri"/>
                        </a:rPr>
                        <a:t>fechamento por 15 dias</a:t>
                      </a:r>
                    </a:p>
                    <a:p>
                      <a:pPr algn="l">
                        <a:lnSpc>
                          <a:spcPct val="100000"/>
                        </a:lnSpc>
                        <a:spcBef>
                          <a:spcPts val="0"/>
                        </a:spcBef>
                        <a:spcAft>
                          <a:spcPts val="0"/>
                        </a:spcAft>
                      </a:pPr>
                      <a:r>
                        <a:rPr sz="1300" b="0">
                          <a:solidFill>
                            <a:srgbClr val="1F1F1F"/>
                          </a:solidFill>
                          <a:latin typeface="Calibri"/>
                        </a:rPr>
                        <a:t>consecutivos; renúncia</a:t>
                      </a:r>
                    </a:p>
                    <a:p>
                      <a:pPr algn="l">
                        <a:lnSpc>
                          <a:spcPct val="100000"/>
                        </a:lnSpc>
                        <a:spcBef>
                          <a:spcPts val="0"/>
                        </a:spcBef>
                        <a:spcAft>
                          <a:spcPts val="0"/>
                        </a:spcAft>
                      </a:pPr>
                      <a:r>
                        <a:rPr sz="1300" b="0">
                          <a:solidFill>
                            <a:srgbClr val="1F1F1F"/>
                          </a:solidFill>
                          <a:latin typeface="Calibri"/>
                        </a:rPr>
                        <a:t>sem providências</a:t>
                      </a:r>
                    </a:p>
                    <a:p>
                      <a:pPr algn="l">
                        <a:lnSpc>
                          <a:spcPct val="100000"/>
                        </a:lnSpc>
                        <a:spcBef>
                          <a:spcPts val="0"/>
                        </a:spcBef>
                        <a:spcAft>
                          <a:spcPts val="0"/>
                        </a:spcAft>
                      </a:pPr>
                      <a:r>
                        <a:rPr sz="1300" b="0">
                          <a:solidFill>
                            <a:srgbClr val="1F1F1F"/>
                          </a:solidFill>
                          <a:latin typeface="Calibri"/>
                        </a:rPr>
                        <a:t>tempestivas.</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47/160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Eventos e cura</a:t>
            </a:r>
          </a:p>
        </p:txBody>
      </p:sp>
      <p:graphicFrame>
        <p:nvGraphicFramePr>
          <p:cNvPr id="3" name="Table 2"/>
          <p:cNvGraphicFramePr>
            <a:graphicFrameLocks noGrp="1"/>
          </p:cNvGraphicFramePr>
          <p:nvPr/>
        </p:nvGraphicFramePr>
        <p:xfrm>
          <a:off x="438912" y="932688"/>
          <a:ext cx="11313868" cy="3378707"/>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2907791">
                <a:tc>
                  <a:txBody>
                    <a:bodyPr wrap="square">
                      <a:noAutofit/>
                    </a:bodyPr>
                    <a:lstStyle/>
                    <a:p>
                      <a:pPr algn="l">
                        <a:lnSpc>
                          <a:spcPct val="100000"/>
                        </a:lnSpc>
                        <a:spcBef>
                          <a:spcPts val="0"/>
                        </a:spcBef>
                        <a:spcAft>
                          <a:spcPts val="0"/>
                        </a:spcAft>
                      </a:pPr>
                      <a:r>
                        <a:rPr sz="1300" b="1">
                          <a:solidFill>
                            <a:srgbClr val="1F1F1F"/>
                          </a:solidFill>
                          <a:latin typeface="Calibri"/>
                        </a:rPr>
                        <a:t>Eventos de liquidação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Liquidação se AGC</a:t>
                      </a:r>
                    </a:p>
                    <a:p>
                      <a:pPr algn="l">
                        <a:lnSpc>
                          <a:spcPct val="100000"/>
                        </a:lnSpc>
                        <a:spcBef>
                          <a:spcPts val="0"/>
                        </a:spcBef>
                        <a:spcAft>
                          <a:spcPts val="0"/>
                        </a:spcAft>
                      </a:pPr>
                      <a:r>
                        <a:rPr sz="1300" b="0">
                          <a:solidFill>
                            <a:srgbClr val="1F1F1F"/>
                          </a:solidFill>
                          <a:latin typeface="Calibri"/>
                        </a:rPr>
                        <a:t>converter evento de</a:t>
                      </a:r>
                    </a:p>
                    <a:p>
                      <a:pPr algn="l">
                        <a:lnSpc>
                          <a:spcPct val="100000"/>
                        </a:lnSpc>
                        <a:spcBef>
                          <a:spcPts val="0"/>
                        </a:spcBef>
                        <a:spcAft>
                          <a:spcPts val="0"/>
                        </a:spcAft>
                      </a:pPr>
                      <a:r>
                        <a:rPr sz="1300" b="0">
                          <a:solidFill>
                            <a:srgbClr val="1F1F1F"/>
                          </a:solidFill>
                          <a:latin typeface="Calibri"/>
                        </a:rPr>
                        <a:t>avaliação ou deliberar</a:t>
                      </a:r>
                    </a:p>
                    <a:p>
                      <a:pPr algn="l">
                        <a:lnSpc>
                          <a:spcPct val="100000"/>
                        </a:lnSpc>
                        <a:spcBef>
                          <a:spcPts val="0"/>
                        </a:spcBef>
                        <a:spcAft>
                          <a:spcPts val="0"/>
                        </a:spcAft>
                      </a:pPr>
                      <a:r>
                        <a:rPr sz="1300" b="0">
                          <a:solidFill>
                            <a:srgbClr val="1F1F1F"/>
                          </a:solidFill>
                          <a:latin typeface="Calibri"/>
                        </a:rPr>
                        <a:t>liquidação;</a:t>
                      </a:r>
                    </a:p>
                    <a:p>
                      <a:pPr algn="l">
                        <a:lnSpc>
                          <a:spcPct val="100000"/>
                        </a:lnSpc>
                        <a:spcBef>
                          <a:spcPts val="0"/>
                        </a:spcBef>
                        <a:spcAft>
                          <a:spcPts val="0"/>
                        </a:spcAft>
                      </a:pPr>
                      <a:r>
                        <a:rPr sz="1300" b="0">
                          <a:solidFill>
                            <a:srgbClr val="1F1F1F"/>
                          </a:solidFill>
                          <a:latin typeface="Calibri"/>
                        </a:rPr>
                        <a:t>renúncia/cessão de</a:t>
                      </a:r>
                    </a:p>
                    <a:p>
                      <a:pPr algn="l">
                        <a:lnSpc>
                          <a:spcPct val="100000"/>
                        </a:lnSpc>
                        <a:spcBef>
                          <a:spcPts val="0"/>
                        </a:spcBef>
                        <a:spcAft>
                          <a:spcPts val="0"/>
                        </a:spcAft>
                      </a:pPr>
                      <a:r>
                        <a:rPr sz="1300" b="0">
                          <a:solidFill>
                            <a:srgbClr val="1F1F1F"/>
                          </a:solidFill>
                          <a:latin typeface="Calibri"/>
                        </a:rPr>
                        <a:t>administrador, gestor</a:t>
                      </a:r>
                    </a:p>
                    <a:p>
                      <a:pPr algn="l">
                        <a:lnSpc>
                          <a:spcPct val="100000"/>
                        </a:lnSpc>
                        <a:spcBef>
                          <a:spcPts val="0"/>
                        </a:spcBef>
                        <a:spcAft>
                          <a:spcPts val="0"/>
                        </a:spcAft>
                      </a:pPr>
                      <a:r>
                        <a:rPr sz="1300" b="0">
                          <a:solidFill>
                            <a:srgbClr val="1F1F1F"/>
                          </a:solidFill>
                          <a:latin typeface="Calibri"/>
                        </a:rPr>
                        <a:t>ou custodiante sem</a:t>
                      </a:r>
                    </a:p>
                    <a:p>
                      <a:pPr algn="l">
                        <a:lnSpc>
                          <a:spcPct val="100000"/>
                        </a:lnSpc>
                        <a:spcBef>
                          <a:spcPts val="0"/>
                        </a:spcBef>
                        <a:spcAft>
                          <a:spcPts val="0"/>
                        </a:spcAft>
                      </a:pPr>
                      <a:r>
                        <a:rPr sz="1300" b="0">
                          <a:solidFill>
                            <a:srgbClr val="1F1F1F"/>
                          </a:solidFill>
                          <a:latin typeface="Calibri"/>
                        </a:rPr>
                        <a:t>substituto; ou PL</a:t>
                      </a:r>
                    </a:p>
                    <a:p>
                      <a:pPr algn="l">
                        <a:lnSpc>
                          <a:spcPct val="100000"/>
                        </a:lnSpc>
                        <a:spcBef>
                          <a:spcPts val="0"/>
                        </a:spcBef>
                        <a:spcAft>
                          <a:spcPts val="0"/>
                        </a:spcAft>
                      </a:pPr>
                      <a:r>
                        <a:rPr sz="1300" b="0">
                          <a:solidFill>
                            <a:srgbClr val="1F1F1F"/>
                          </a:solidFill>
                          <a:latin typeface="Calibri"/>
                        </a:rPr>
                        <a:t>diário &lt;R$ 1 milhão por</a:t>
                      </a:r>
                    </a:p>
                    <a:p>
                      <a:pPr algn="l">
                        <a:lnSpc>
                          <a:spcPct val="100000"/>
                        </a:lnSpc>
                        <a:spcBef>
                          <a:spcPts val="0"/>
                        </a:spcBef>
                        <a:spcAft>
                          <a:spcPts val="0"/>
                        </a:spcAft>
                      </a:pPr>
                      <a:r>
                        <a:rPr sz="1300" b="0">
                          <a:solidFill>
                            <a:srgbClr val="1F1F1F"/>
                          </a:solidFill>
                          <a:latin typeface="Calibri"/>
                        </a:rPr>
                        <a:t>90 dias consecutivos,</a:t>
                      </a:r>
                    </a:p>
                    <a:p>
                      <a:pPr algn="l">
                        <a:lnSpc>
                          <a:spcPct val="100000"/>
                        </a:lnSpc>
                        <a:spcBef>
                          <a:spcPts val="0"/>
                        </a:spcBef>
                        <a:spcAft>
                          <a:spcPts val="0"/>
                        </a:spcAft>
                      </a:pPr>
                      <a:r>
                        <a:rPr sz="1300" b="0">
                          <a:solidFill>
                            <a:srgbClr val="1F1F1F"/>
                          </a:solidFill>
                          <a:latin typeface="Calibri"/>
                        </a:rPr>
                        <a:t>após os primeiros 90</a:t>
                      </a:r>
                    </a:p>
                    <a:p>
                      <a:pPr algn="l">
                        <a:lnSpc>
                          <a:spcPct val="100000"/>
                        </a:lnSpc>
                        <a:spcBef>
                          <a:spcPts val="0"/>
                        </a:spcBef>
                        <a:spcAft>
                          <a:spcPts val="0"/>
                        </a:spcAft>
                      </a:pPr>
                      <a:r>
                        <a:rPr sz="1300" b="0">
                          <a:solidFill>
                            <a:srgbClr val="1F1F1F"/>
                          </a:solidFill>
                          <a:latin typeface="Calibri"/>
                        </a:rPr>
                        <a:t>dias de atividade. AGC</a:t>
                      </a:r>
                    </a:p>
                    <a:p>
                      <a:pPr algn="l">
                        <a:lnSpc>
                          <a:spcPct val="100000"/>
                        </a:lnSpc>
                        <a:spcBef>
                          <a:spcPts val="0"/>
                        </a:spcBef>
                        <a:spcAft>
                          <a:spcPts val="0"/>
                        </a:spcAft>
                      </a:pPr>
                      <a:r>
                        <a:rPr sz="1300" b="0">
                          <a:solidFill>
                            <a:srgbClr val="1F1F1F"/>
                          </a:solidFill>
                          <a:latin typeface="Calibri"/>
                        </a:rPr>
                        <a:t>de avaliação não</a:t>
                      </a:r>
                    </a:p>
                    <a:p>
                      <a:pPr algn="l">
                        <a:lnSpc>
                          <a:spcPct val="100000"/>
                        </a:lnSpc>
                        <a:spcBef>
                          <a:spcPts val="0"/>
                        </a:spcBef>
                        <a:spcAft>
                          <a:spcPts val="0"/>
                        </a:spcAft>
                      </a:pPr>
                      <a:r>
                        <a:rPr sz="1300" b="0">
                          <a:solidFill>
                            <a:srgbClr val="1F1F1F"/>
                          </a:solidFill>
                          <a:latin typeface="Calibri"/>
                        </a:rPr>
                        <a:t>instalada também inicia</a:t>
                      </a:r>
                    </a:p>
                    <a:p>
                      <a:pPr algn="l">
                        <a:lnSpc>
                          <a:spcPct val="100000"/>
                        </a:lnSpc>
                        <a:spcBef>
                          <a:spcPts val="0"/>
                        </a:spcBef>
                        <a:spcAft>
                          <a:spcPts val="0"/>
                        </a:spcAft>
                      </a:pPr>
                      <a:r>
                        <a:rPr sz="1300" b="0">
                          <a:solidFill>
                            <a:srgbClr val="1F1F1F"/>
                          </a:solidFill>
                          <a:latin typeface="Calibri"/>
                        </a:rPr>
                        <a:t>liquidação.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Essenciais/custodiante</a:t>
                      </a:r>
                    </a:p>
                    <a:p>
                      <a:pPr algn="l">
                        <a:lnSpc>
                          <a:spcPct val="100000"/>
                        </a:lnSpc>
                        <a:spcBef>
                          <a:spcPts val="0"/>
                        </a:spcBef>
                        <a:spcAft>
                          <a:spcPts val="0"/>
                        </a:spcAft>
                      </a:pPr>
                      <a:r>
                        <a:rPr sz="1300" b="0">
                          <a:solidFill>
                            <a:srgbClr val="1F1F1F"/>
                          </a:solidFill>
                          <a:latin typeface="Calibri"/>
                        </a:rPr>
                        <a:t>sem substituto, decisão</a:t>
                      </a:r>
                    </a:p>
                    <a:p>
                      <a:pPr algn="l">
                        <a:lnSpc>
                          <a:spcPct val="100000"/>
                        </a:lnSpc>
                        <a:spcBef>
                          <a:spcPts val="0"/>
                        </a:spcBef>
                        <a:spcAft>
                          <a:spcPts val="0"/>
                        </a:spcAft>
                      </a:pPr>
                      <a:r>
                        <a:rPr sz="1300" b="0">
                          <a:solidFill>
                            <a:srgbClr val="1F1F1F"/>
                          </a:solidFill>
                          <a:latin typeface="Calibri"/>
                        </a:rPr>
                        <a:t>AGC/CVM, intervenção,</a:t>
                      </a:r>
                    </a:p>
                    <a:p>
                      <a:pPr algn="l">
                        <a:lnSpc>
                          <a:spcPct val="100000"/>
                        </a:lnSpc>
                        <a:spcBef>
                          <a:spcPts val="0"/>
                        </a:spcBef>
                        <a:spcAft>
                          <a:spcPts val="0"/>
                        </a:spcAft>
                      </a:pPr>
                      <a:r>
                        <a:rPr sz="1300" b="0">
                          <a:solidFill>
                            <a:srgbClr val="1F1F1F"/>
                          </a:solidFill>
                          <a:latin typeface="Calibri"/>
                        </a:rPr>
                        <a:t>PL diário &lt;R$ 1 milhão</a:t>
                      </a:r>
                    </a:p>
                    <a:p>
                      <a:pPr algn="l">
                        <a:lnSpc>
                          <a:spcPct val="100000"/>
                        </a:lnSpc>
                        <a:spcBef>
                          <a:spcPts val="0"/>
                        </a:spcBef>
                        <a:spcAft>
                          <a:spcPts val="0"/>
                        </a:spcAft>
                      </a:pPr>
                      <a:r>
                        <a:rPr sz="1300" b="0">
                          <a:solidFill>
                            <a:srgbClr val="1F1F1F"/>
                          </a:solidFill>
                          <a:latin typeface="Calibri"/>
                        </a:rPr>
                        <a:t>por 90 dias</a:t>
                      </a:r>
                    </a:p>
                    <a:p>
                      <a:pPr algn="l">
                        <a:lnSpc>
                          <a:spcPct val="100000"/>
                        </a:lnSpc>
                        <a:spcBef>
                          <a:spcPts val="0"/>
                        </a:spcBef>
                        <a:spcAft>
                          <a:spcPts val="0"/>
                        </a:spcAft>
                      </a:pPr>
                      <a:r>
                        <a:rPr sz="1300" b="0">
                          <a:solidFill>
                            <a:srgbClr val="1F1F1F"/>
                          </a:solidFill>
                          <a:latin typeface="Calibri"/>
                        </a:rPr>
                        <a:t>consecutivos após 90</a:t>
                      </a:r>
                    </a:p>
                    <a:p>
                      <a:pPr algn="l">
                        <a:lnSpc>
                          <a:spcPct val="100000"/>
                        </a:lnSpc>
                        <a:spcBef>
                          <a:spcPts val="0"/>
                        </a:spcBef>
                        <a:spcAft>
                          <a:spcPts val="0"/>
                        </a:spcAft>
                      </a:pPr>
                      <a:r>
                        <a:rPr sz="1300" b="0">
                          <a:solidFill>
                            <a:srgbClr val="1F1F1F"/>
                          </a:solidFill>
                          <a:latin typeface="Calibri"/>
                        </a:rPr>
                        <a:t>dias iniciais e</a:t>
                      </a:r>
                    </a:p>
                    <a:p>
                      <a:pPr algn="l">
                        <a:lnSpc>
                          <a:spcPct val="100000"/>
                        </a:lnSpc>
                        <a:spcBef>
                          <a:spcPts val="0"/>
                        </a:spcBef>
                        <a:spcAft>
                          <a:spcPts val="0"/>
                        </a:spcAft>
                      </a:pPr>
                      <a:r>
                        <a:rPr sz="1300" b="0">
                          <a:solidFill>
                            <a:srgbClr val="1F1F1F"/>
                          </a:solidFill>
                          <a:latin typeface="Calibri"/>
                        </a:rPr>
                        <a:t>impossibilidade de</a:t>
                      </a:r>
                    </a:p>
                    <a:p>
                      <a:pPr algn="l">
                        <a:lnSpc>
                          <a:spcPct val="100000"/>
                        </a:lnSpc>
                        <a:spcBef>
                          <a:spcPts val="0"/>
                        </a:spcBef>
                        <a:spcAft>
                          <a:spcPts val="0"/>
                        </a:spcAft>
                      </a:pPr>
                      <a:r>
                        <a:rPr sz="1300" b="0">
                          <a:solidFill>
                            <a:srgbClr val="1F1F1F"/>
                          </a:solidFill>
                          <a:latin typeface="Calibri"/>
                        </a:rPr>
                        <a:t>adquirir direitos</a:t>
                      </a:r>
                    </a:p>
                    <a:p>
                      <a:pPr algn="l">
                        <a:lnSpc>
                          <a:spcPct val="100000"/>
                        </a:lnSpc>
                        <a:spcBef>
                          <a:spcPts val="0"/>
                        </a:spcBef>
                        <a:spcAft>
                          <a:spcPts val="0"/>
                        </a:spcAft>
                      </a:pPr>
                      <a:r>
                        <a:rPr sz="1300" b="0">
                          <a:solidFill>
                            <a:srgbClr val="1F1F1F"/>
                          </a:solidFill>
                          <a:latin typeface="Calibri"/>
                        </a:rPr>
                        <a:t>permitidos.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Liquidação por decisão</a:t>
                      </a:r>
                    </a:p>
                    <a:p>
                      <a:pPr algn="l">
                        <a:lnSpc>
                          <a:spcPct val="100000"/>
                        </a:lnSpc>
                        <a:spcBef>
                          <a:spcPts val="0"/>
                        </a:spcBef>
                        <a:spcAft>
                          <a:spcPts val="0"/>
                        </a:spcAft>
                      </a:pPr>
                      <a:r>
                        <a:rPr sz="1300" b="0">
                          <a:solidFill>
                            <a:srgbClr val="1F1F1F"/>
                          </a:solidFill>
                          <a:latin typeface="Calibri"/>
                        </a:rPr>
                        <a:t>da AGC ou término do</a:t>
                      </a:r>
                    </a:p>
                    <a:p>
                      <a:pPr algn="l">
                        <a:lnSpc>
                          <a:spcPct val="100000"/>
                        </a:lnSpc>
                        <a:spcBef>
                          <a:spcPts val="0"/>
                        </a:spcBef>
                        <a:spcAft>
                          <a:spcPts val="0"/>
                        </a:spcAft>
                      </a:pPr>
                      <a:r>
                        <a:rPr sz="1300" b="0">
                          <a:solidFill>
                            <a:srgbClr val="1F1F1F"/>
                          </a:solidFill>
                          <a:latin typeface="Calibri"/>
                        </a:rPr>
                        <a:t>prazo da classe. Venda</a:t>
                      </a:r>
                    </a:p>
                    <a:p>
                      <a:pPr algn="l">
                        <a:lnSpc>
                          <a:spcPct val="100000"/>
                        </a:lnSpc>
                        <a:spcBef>
                          <a:spcPts val="0"/>
                        </a:spcBef>
                        <a:spcAft>
                          <a:spcPts val="0"/>
                        </a:spcAft>
                      </a:pPr>
                      <a:r>
                        <a:rPr sz="1300" b="0">
                          <a:solidFill>
                            <a:srgbClr val="1F1F1F"/>
                          </a:solidFill>
                          <a:latin typeface="Calibri"/>
                        </a:rPr>
                        <a:t>dos ativos e</a:t>
                      </a:r>
                    </a:p>
                    <a:p>
                      <a:pPr algn="l">
                        <a:lnSpc>
                          <a:spcPct val="100000"/>
                        </a:lnSpc>
                        <a:spcBef>
                          <a:spcPts val="0"/>
                        </a:spcBef>
                        <a:spcAft>
                          <a:spcPts val="0"/>
                        </a:spcAft>
                      </a:pPr>
                      <a:r>
                        <a:rPr sz="1300" b="0">
                          <a:solidFill>
                            <a:srgbClr val="1F1F1F"/>
                          </a:solidFill>
                          <a:latin typeface="Calibri"/>
                        </a:rPr>
                        <a:t>amortização até</a:t>
                      </a:r>
                    </a:p>
                    <a:p>
                      <a:pPr algn="l">
                        <a:lnSpc>
                          <a:spcPct val="100000"/>
                        </a:lnSpc>
                        <a:spcBef>
                          <a:spcPts val="0"/>
                        </a:spcBef>
                        <a:spcAft>
                          <a:spcPts val="0"/>
                        </a:spcAft>
                      </a:pPr>
                      <a:r>
                        <a:rPr sz="1300" b="0">
                          <a:solidFill>
                            <a:srgbClr val="1F1F1F"/>
                          </a:solidFill>
                          <a:latin typeface="Calibri"/>
                        </a:rPr>
                        <a:t>recursos disponíveis;</a:t>
                      </a:r>
                    </a:p>
                    <a:p>
                      <a:pPr algn="l">
                        <a:lnSpc>
                          <a:spcPct val="100000"/>
                        </a:lnSpc>
                        <a:spcBef>
                          <a:spcPts val="0"/>
                        </a:spcBef>
                        <a:spcAft>
                          <a:spcPts val="0"/>
                        </a:spcAft>
                      </a:pPr>
                      <a:r>
                        <a:rPr sz="1300" b="0">
                          <a:solidFill>
                            <a:srgbClr val="1F1F1F"/>
                          </a:solidFill>
                          <a:latin typeface="Calibri"/>
                        </a:rPr>
                        <a:t>pode haver dação em</a:t>
                      </a:r>
                    </a:p>
                    <a:p>
                      <a:pPr algn="l">
                        <a:lnSpc>
                          <a:spcPct val="100000"/>
                        </a:lnSpc>
                        <a:spcBef>
                          <a:spcPts val="0"/>
                        </a:spcBef>
                        <a:spcAft>
                          <a:spcPts val="0"/>
                        </a:spcAft>
                      </a:pPr>
                      <a:r>
                        <a:rPr sz="1300" b="0">
                          <a:solidFill>
                            <a:srgbClr val="1F1F1F"/>
                          </a:solidFill>
                          <a:latin typeface="Calibri"/>
                        </a:rPr>
                        <a:t>pagamento/condomínio.</a:t>
                      </a:r>
                    </a:p>
                    <a:p>
                      <a:pPr algn="l">
                        <a:lnSpc>
                          <a:spcPct val="100000"/>
                        </a:lnSpc>
                        <a:spcBef>
                          <a:spcPts val="0"/>
                        </a:spcBef>
                        <a:spcAft>
                          <a:spcPts val="0"/>
                        </a:spcAft>
                      </a:pPr>
                      <a:r>
                        <a:rPr sz="1300" b="0">
                          <a:solidFill>
                            <a:srgbClr val="1F1F1F"/>
                          </a:solidFill>
                          <a:latin typeface="Calibri"/>
                        </a:rPr>
                        <a:t>Divisão do patrimônio</a:t>
                      </a:r>
                    </a:p>
                    <a:p>
                      <a:pPr algn="l">
                        <a:lnSpc>
                          <a:spcPct val="100000"/>
                        </a:lnSpc>
                        <a:spcBef>
                          <a:spcPts val="0"/>
                        </a:spcBef>
                        <a:spcAft>
                          <a:spcPts val="0"/>
                        </a:spcAft>
                      </a:pPr>
                      <a:r>
                        <a:rPr sz="1300" b="0">
                          <a:solidFill>
                            <a:srgbClr val="1F1F1F"/>
                          </a:solidFill>
                          <a:latin typeface="Calibri"/>
                        </a:rPr>
                        <a:t>em até 180 dias</a:t>
                      </a:r>
                    </a:p>
                    <a:p>
                      <a:pPr algn="l">
                        <a:lnSpc>
                          <a:spcPct val="100000"/>
                        </a:lnSpc>
                        <a:spcBef>
                          <a:spcPts val="0"/>
                        </a:spcBef>
                        <a:spcAft>
                          <a:spcPts val="0"/>
                        </a:spcAft>
                      </a:pPr>
                      <a:r>
                        <a:rPr sz="1300" b="0">
                          <a:solidFill>
                            <a:srgbClr val="1F1F1F"/>
                          </a:solidFill>
                          <a:latin typeface="Calibri"/>
                        </a:rPr>
                        <a:t>corridos da decisão ou</a:t>
                      </a:r>
                    </a:p>
                    <a:p>
                      <a:pPr algn="l">
                        <a:lnSpc>
                          <a:spcPct val="100000"/>
                        </a:lnSpc>
                        <a:spcBef>
                          <a:spcPts val="0"/>
                        </a:spcBef>
                        <a:spcAft>
                          <a:spcPts val="0"/>
                        </a:spcAft>
                      </a:pPr>
                      <a:r>
                        <a:rPr sz="1300" b="0">
                          <a:solidFill>
                            <a:srgbClr val="1F1F1F"/>
                          </a:solidFill>
                          <a:latin typeface="Calibri"/>
                        </a:rPr>
                        <a:t>término.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Prestador</a:t>
                      </a:r>
                    </a:p>
                    <a:p>
                      <a:pPr algn="l">
                        <a:lnSpc>
                          <a:spcPct val="100000"/>
                        </a:lnSpc>
                        <a:spcBef>
                          <a:spcPts val="0"/>
                        </a:spcBef>
                        <a:spcAft>
                          <a:spcPts val="0"/>
                        </a:spcAft>
                      </a:pPr>
                      <a:r>
                        <a:rPr sz="1300" b="0">
                          <a:solidFill>
                            <a:srgbClr val="1F1F1F"/>
                          </a:solidFill>
                          <a:latin typeface="Calibri"/>
                        </a:rPr>
                        <a:t>essencial/custodiante</a:t>
                      </a:r>
                    </a:p>
                    <a:p>
                      <a:pPr algn="l">
                        <a:lnSpc>
                          <a:spcPct val="100000"/>
                        </a:lnSpc>
                        <a:spcBef>
                          <a:spcPts val="0"/>
                        </a:spcBef>
                        <a:spcAft>
                          <a:spcPts val="0"/>
                        </a:spcAft>
                      </a:pPr>
                      <a:r>
                        <a:rPr sz="1300" b="0">
                          <a:solidFill>
                            <a:srgbClr val="1F1F1F"/>
                          </a:solidFill>
                          <a:latin typeface="Calibri"/>
                        </a:rPr>
                        <a:t>sem substituto, decisão</a:t>
                      </a:r>
                    </a:p>
                    <a:p>
                      <a:pPr algn="l">
                        <a:lnSpc>
                          <a:spcPct val="100000"/>
                        </a:lnSpc>
                        <a:spcBef>
                          <a:spcPts val="0"/>
                        </a:spcBef>
                        <a:spcAft>
                          <a:spcPts val="0"/>
                        </a:spcAft>
                      </a:pPr>
                      <a:r>
                        <a:rPr sz="1300" b="0">
                          <a:solidFill>
                            <a:srgbClr val="1F1F1F"/>
                          </a:solidFill>
                          <a:latin typeface="Calibri"/>
                        </a:rPr>
                        <a:t>CVM/AGC e intervenção</a:t>
                      </a:r>
                    </a:p>
                    <a:p>
                      <a:pPr algn="l">
                        <a:lnSpc>
                          <a:spcPct val="100000"/>
                        </a:lnSpc>
                        <a:spcBef>
                          <a:spcPts val="0"/>
                        </a:spcBef>
                        <a:spcAft>
                          <a:spcPts val="0"/>
                        </a:spcAft>
                      </a:pPr>
                      <a:r>
                        <a:rPr sz="1300" b="0">
                          <a:solidFill>
                            <a:srgbClr val="1F1F1F"/>
                          </a:solidFill>
                          <a:latin typeface="Calibri"/>
                        </a:rPr>
                        <a:t>sem substituição. PL</a:t>
                      </a:r>
                    </a:p>
                    <a:p>
                      <a:pPr algn="l">
                        <a:lnSpc>
                          <a:spcPct val="100000"/>
                        </a:lnSpc>
                        <a:spcBef>
                          <a:spcPts val="0"/>
                        </a:spcBef>
                        <a:spcAft>
                          <a:spcPts val="0"/>
                        </a:spcAft>
                      </a:pPr>
                      <a:r>
                        <a:rPr sz="1300" b="0">
                          <a:solidFill>
                            <a:srgbClr val="1F1F1F"/>
                          </a:solidFill>
                          <a:latin typeface="Calibri"/>
                        </a:rPr>
                        <a:t>diário &lt;R$ 1 milhão por</a:t>
                      </a:r>
                    </a:p>
                    <a:p>
                      <a:pPr algn="l">
                        <a:lnSpc>
                          <a:spcPct val="100000"/>
                        </a:lnSpc>
                        <a:spcBef>
                          <a:spcPts val="0"/>
                        </a:spcBef>
                        <a:spcAft>
                          <a:spcPts val="0"/>
                        </a:spcAft>
                      </a:pPr>
                      <a:r>
                        <a:rPr sz="1300" b="0">
                          <a:solidFill>
                            <a:srgbClr val="1F1F1F"/>
                          </a:solidFill>
                          <a:latin typeface="Calibri"/>
                        </a:rPr>
                        <a:t>90 dias consecutivos</a:t>
                      </a:r>
                    </a:p>
                    <a:p>
                      <a:pPr algn="l">
                        <a:lnSpc>
                          <a:spcPct val="100000"/>
                        </a:lnSpc>
                        <a:spcBef>
                          <a:spcPts val="0"/>
                        </a:spcBef>
                        <a:spcAft>
                          <a:spcPts val="0"/>
                        </a:spcAft>
                      </a:pPr>
                      <a:r>
                        <a:rPr sz="1300" b="0">
                          <a:solidFill>
                            <a:srgbClr val="1F1F1F"/>
                          </a:solidFill>
                          <a:latin typeface="Calibri"/>
                        </a:rPr>
                        <a:t>após 90 dias da</a:t>
                      </a:r>
                    </a:p>
                    <a:p>
                      <a:pPr algn="l">
                        <a:lnSpc>
                          <a:spcPct val="100000"/>
                        </a:lnSpc>
                        <a:spcBef>
                          <a:spcPts val="0"/>
                        </a:spcBef>
                        <a:spcAft>
                          <a:spcPts val="0"/>
                        </a:spcAft>
                      </a:pPr>
                      <a:r>
                        <a:rPr sz="1300" b="0">
                          <a:solidFill>
                            <a:srgbClr val="1F1F1F"/>
                          </a:solidFill>
                          <a:latin typeface="Calibri"/>
                        </a:rPr>
                        <a:t>primeira</a:t>
                      </a:r>
                    </a:p>
                    <a:p>
                      <a:pPr algn="l">
                        <a:lnSpc>
                          <a:spcPct val="100000"/>
                        </a:lnSpc>
                        <a:spcBef>
                          <a:spcPts val="0"/>
                        </a:spcBef>
                        <a:spcAft>
                          <a:spcPts val="0"/>
                        </a:spcAft>
                      </a:pPr>
                      <a:r>
                        <a:rPr sz="1300" b="0">
                          <a:solidFill>
                            <a:srgbClr val="1F1F1F"/>
                          </a:solidFill>
                          <a:latin typeface="Calibri"/>
                        </a:rPr>
                        <a:t>integralização.</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48/160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Eventos e cura</a:t>
            </a:r>
          </a:p>
        </p:txBody>
      </p:sp>
      <p:graphicFrame>
        <p:nvGraphicFramePr>
          <p:cNvPr id="3" name="Table 2"/>
          <p:cNvGraphicFramePr>
            <a:graphicFrameLocks noGrp="1"/>
          </p:cNvGraphicFramePr>
          <p:nvPr/>
        </p:nvGraphicFramePr>
        <p:xfrm>
          <a:off x="438912" y="932688"/>
          <a:ext cx="11313868" cy="3566160"/>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3095244">
                <a:tc>
                  <a:txBody>
                    <a:bodyPr wrap="square">
                      <a:noAutofit/>
                    </a:bodyPr>
                    <a:lstStyle/>
                    <a:p>
                      <a:pPr algn="l">
                        <a:lnSpc>
                          <a:spcPct val="100000"/>
                        </a:lnSpc>
                        <a:spcBef>
                          <a:spcPts val="0"/>
                        </a:spcBef>
                        <a:spcAft>
                          <a:spcPts val="0"/>
                        </a:spcAft>
                      </a:pPr>
                      <a:r>
                        <a:rPr sz="1300" b="1">
                          <a:solidFill>
                            <a:srgbClr val="1F1F1F"/>
                          </a:solidFill>
                          <a:latin typeface="Calibri"/>
                        </a:rPr>
                        <a:t>Prazos de cura e</a:t>
                      </a:r>
                    </a:p>
                    <a:p>
                      <a:pPr algn="l">
                        <a:lnSpc>
                          <a:spcPct val="100000"/>
                        </a:lnSpc>
                        <a:spcBef>
                          <a:spcPts val="0"/>
                        </a:spcBef>
                        <a:spcAft>
                          <a:spcPts val="0"/>
                        </a:spcAft>
                      </a:pPr>
                      <a:r>
                        <a:rPr sz="1300" b="1">
                          <a:solidFill>
                            <a:srgbClr val="1F1F1F"/>
                          </a:solidFill>
                          <a:latin typeface="Calibri"/>
                        </a:rPr>
                        <a:t>reincidência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Endossante: 10 dias</a:t>
                      </a:r>
                    </a:p>
                    <a:p>
                      <a:pPr algn="l">
                        <a:lnSpc>
                          <a:spcPct val="100000"/>
                        </a:lnSpc>
                        <a:spcBef>
                          <a:spcPts val="0"/>
                        </a:spcBef>
                        <a:spcAft>
                          <a:spcPts val="0"/>
                        </a:spcAft>
                      </a:pPr>
                      <a:r>
                        <a:rPr sz="1300" b="0">
                          <a:solidFill>
                            <a:srgbClr val="1F1F1F"/>
                          </a:solidFill>
                          <a:latin typeface="Calibri"/>
                        </a:rPr>
                        <a:t>úteis da notificação</a:t>
                      </a:r>
                    </a:p>
                    <a:p>
                      <a:pPr algn="l">
                        <a:lnSpc>
                          <a:spcPct val="100000"/>
                        </a:lnSpc>
                        <a:spcBef>
                          <a:spcPts val="0"/>
                        </a:spcBef>
                        <a:spcAft>
                          <a:spcPts val="0"/>
                        </a:spcAft>
                      </a:pPr>
                      <a:r>
                        <a:rPr sz="1300" b="0">
                          <a:solidFill>
                            <a:srgbClr val="1F1F1F"/>
                          </a:solidFill>
                          <a:latin typeface="Calibri"/>
                        </a:rPr>
                        <a:t>para obrigações gerais.</a:t>
                      </a:r>
                    </a:p>
                    <a:p>
                      <a:pPr algn="l">
                        <a:lnSpc>
                          <a:spcPct val="100000"/>
                        </a:lnSpc>
                        <a:spcBef>
                          <a:spcPts val="0"/>
                        </a:spcBef>
                        <a:spcAft>
                          <a:spcPts val="0"/>
                        </a:spcAft>
                      </a:pPr>
                      <a:r>
                        <a:rPr sz="1300" b="0">
                          <a:solidFill>
                            <a:srgbClr val="1F1F1F"/>
                          </a:solidFill>
                          <a:latin typeface="Calibri"/>
                        </a:rPr>
                        <a:t>Documentos</a:t>
                      </a:r>
                    </a:p>
                    <a:p>
                      <a:pPr algn="l">
                        <a:lnSpc>
                          <a:spcPct val="100000"/>
                        </a:lnSpc>
                        <a:spcBef>
                          <a:spcPts val="0"/>
                        </a:spcBef>
                        <a:spcAft>
                          <a:spcPts val="0"/>
                        </a:spcAft>
                      </a:pPr>
                      <a:r>
                        <a:rPr sz="1300" b="0">
                          <a:solidFill>
                            <a:srgbClr val="1F1F1F"/>
                          </a:solidFill>
                          <a:latin typeface="Calibri"/>
                        </a:rPr>
                        <a:t>comprobatórios: 2 dias</a:t>
                      </a:r>
                    </a:p>
                    <a:p>
                      <a:pPr algn="l">
                        <a:lnSpc>
                          <a:spcPct val="100000"/>
                        </a:lnSpc>
                        <a:spcBef>
                          <a:spcPts val="0"/>
                        </a:spcBef>
                        <a:spcAft>
                          <a:spcPts val="0"/>
                        </a:spcAft>
                      </a:pPr>
                      <a:r>
                        <a:rPr sz="1300" b="0">
                          <a:solidFill>
                            <a:srgbClr val="1F1F1F"/>
                          </a:solidFill>
                          <a:latin typeface="Calibri"/>
                        </a:rPr>
                        <a:t>úteis. Prestadores: 10</a:t>
                      </a:r>
                    </a:p>
                    <a:p>
                      <a:pPr algn="l">
                        <a:lnSpc>
                          <a:spcPct val="100000"/>
                        </a:lnSpc>
                        <a:spcBef>
                          <a:spcPts val="0"/>
                        </a:spcBef>
                        <a:spcAft>
                          <a:spcPts val="0"/>
                        </a:spcAft>
                      </a:pPr>
                      <a:r>
                        <a:rPr sz="1300" b="0">
                          <a:solidFill>
                            <a:srgbClr val="1F1F1F"/>
                          </a:solidFill>
                          <a:latin typeface="Calibri"/>
                        </a:rPr>
                        <a:t>dias úteis. Arquivos de</a:t>
                      </a:r>
                    </a:p>
                    <a:p>
                      <a:pPr algn="l">
                        <a:lnSpc>
                          <a:spcPct val="100000"/>
                        </a:lnSpc>
                        <a:spcBef>
                          <a:spcPts val="0"/>
                        </a:spcBef>
                        <a:spcAft>
                          <a:spcPts val="0"/>
                        </a:spcAft>
                      </a:pPr>
                      <a:r>
                        <a:rPr sz="1300" b="0">
                          <a:solidFill>
                            <a:srgbClr val="1F1F1F"/>
                          </a:solidFill>
                          <a:latin typeface="Calibri"/>
                        </a:rPr>
                        <a:t>posição/liquidação:</a:t>
                      </a:r>
                    </a:p>
                    <a:p>
                      <a:pPr algn="l">
                        <a:lnSpc>
                          <a:spcPct val="100000"/>
                        </a:lnSpc>
                        <a:spcBef>
                          <a:spcPts val="0"/>
                        </a:spcBef>
                        <a:spcAft>
                          <a:spcPts val="0"/>
                        </a:spcAft>
                      </a:pPr>
                      <a:r>
                        <a:rPr sz="1300" b="0">
                          <a:solidFill>
                            <a:srgbClr val="1F1F1F"/>
                          </a:solidFill>
                          <a:latin typeface="Calibri"/>
                        </a:rPr>
                        <a:t>prazo do respectivo</a:t>
                      </a:r>
                    </a:p>
                    <a:p>
                      <a:pPr algn="l">
                        <a:lnSpc>
                          <a:spcPct val="100000"/>
                        </a:lnSpc>
                        <a:spcBef>
                          <a:spcPts val="0"/>
                        </a:spcBef>
                        <a:spcAft>
                          <a:spcPts val="0"/>
                        </a:spcAft>
                      </a:pPr>
                      <a:r>
                        <a:rPr sz="1300" b="0">
                          <a:solidFill>
                            <a:srgbClr val="1F1F1F"/>
                          </a:solidFill>
                          <a:latin typeface="Calibri"/>
                        </a:rPr>
                        <a:t>Contrato de Endosso,</a:t>
                      </a:r>
                    </a:p>
                    <a:p>
                      <a:pPr algn="l">
                        <a:lnSpc>
                          <a:spcPct val="100000"/>
                        </a:lnSpc>
                        <a:spcBef>
                          <a:spcPts val="0"/>
                        </a:spcBef>
                        <a:spcAft>
                          <a:spcPts val="0"/>
                        </a:spcAft>
                      </a:pPr>
                      <a:r>
                        <a:rPr sz="1300" b="0">
                          <a:solidFill>
                            <a:srgbClr val="1F1F1F"/>
                          </a:solidFill>
                          <a:latin typeface="Calibri"/>
                        </a:rPr>
                        <a:t>sem prazo numérico</a:t>
                      </a:r>
                    </a:p>
                    <a:p>
                      <a:pPr algn="l">
                        <a:lnSpc>
                          <a:spcPct val="100000"/>
                        </a:lnSpc>
                        <a:spcBef>
                          <a:spcPts val="0"/>
                        </a:spcBef>
                        <a:spcAft>
                          <a:spcPts val="0"/>
                        </a:spcAft>
                      </a:pPr>
                      <a:r>
                        <a:rPr sz="1300" b="0">
                          <a:solidFill>
                            <a:srgbClr val="1F1F1F"/>
                          </a:solidFill>
                          <a:latin typeface="Calibri"/>
                        </a:rPr>
                        <a:t>reproduzido no</a:t>
                      </a:r>
                    </a:p>
                    <a:p>
                      <a:pPr algn="l">
                        <a:lnSpc>
                          <a:spcPct val="100000"/>
                        </a:lnSpc>
                        <a:spcBef>
                          <a:spcPts val="0"/>
                        </a:spcBef>
                        <a:spcAft>
                          <a:spcPts val="0"/>
                        </a:spcAft>
                      </a:pPr>
                      <a:r>
                        <a:rPr sz="1300" b="0">
                          <a:solidFill>
                            <a:srgbClr val="1F1F1F"/>
                          </a:solidFill>
                          <a:latin typeface="Calibri"/>
                        </a:rPr>
                        <a:t>regulamento.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Subordinados manifestam</a:t>
                      </a:r>
                    </a:p>
                    <a:p>
                      <a:pPr algn="l">
                        <a:lnSpc>
                          <a:spcPct val="100000"/>
                        </a:lnSpc>
                        <a:spcBef>
                          <a:spcPts val="0"/>
                        </a:spcBef>
                        <a:spcAft>
                          <a:spcPts val="0"/>
                        </a:spcAft>
                      </a:pPr>
                      <a:r>
                        <a:rPr sz="1300" b="0">
                          <a:solidFill>
                            <a:srgbClr val="1F1F1F"/>
                          </a:solidFill>
                          <a:latin typeface="Calibri"/>
                        </a:rPr>
                        <a:t>aporte em 3 dias úteis</a:t>
                      </a:r>
                    </a:p>
                    <a:p>
                      <a:pPr algn="l">
                        <a:lnSpc>
                          <a:spcPct val="100000"/>
                        </a:lnSpc>
                        <a:spcBef>
                          <a:spcPts val="0"/>
                        </a:spcBef>
                        <a:spcAft>
                          <a:spcPts val="0"/>
                        </a:spcAft>
                      </a:pPr>
                      <a:r>
                        <a:rPr sz="1300" b="0">
                          <a:solidFill>
                            <a:srgbClr val="1F1F1F"/>
                          </a:solidFill>
                          <a:latin typeface="Calibri"/>
                        </a:rPr>
                        <a:t>da comunicação e</a:t>
                      </a:r>
                    </a:p>
                    <a:p>
                      <a:pPr algn="l">
                        <a:lnSpc>
                          <a:spcPct val="100000"/>
                        </a:lnSpc>
                        <a:spcBef>
                          <a:spcPts val="0"/>
                        </a:spcBef>
                        <a:spcAft>
                          <a:spcPts val="0"/>
                        </a:spcAft>
                      </a:pPr>
                      <a:r>
                        <a:rPr sz="1300" b="0">
                          <a:solidFill>
                            <a:srgbClr val="1F1F1F"/>
                          </a:solidFill>
                          <a:latin typeface="Calibri"/>
                        </a:rPr>
                        <a:t>integralizam em 10 dias</a:t>
                      </a:r>
                    </a:p>
                    <a:p>
                      <a:pPr algn="l">
                        <a:lnSpc>
                          <a:spcPct val="100000"/>
                        </a:lnSpc>
                        <a:spcBef>
                          <a:spcPts val="0"/>
                        </a:spcBef>
                        <a:spcAft>
                          <a:spcPts val="0"/>
                        </a:spcAft>
                      </a:pPr>
                      <a:r>
                        <a:rPr sz="1300" b="0">
                          <a:solidFill>
                            <a:srgbClr val="1F1F1F"/>
                          </a:solidFill>
                          <a:latin typeface="Calibri"/>
                        </a:rPr>
                        <a:t>úteis subsequentes.</a:t>
                      </a:r>
                    </a:p>
                    <a:p>
                      <a:pPr algn="l">
                        <a:lnSpc>
                          <a:spcPct val="100000"/>
                        </a:lnSpc>
                        <a:spcBef>
                          <a:spcPts val="0"/>
                        </a:spcBef>
                        <a:spcAft>
                          <a:spcPts val="0"/>
                        </a:spcAft>
                      </a:pPr>
                      <a:r>
                        <a:rPr sz="1300" b="0">
                          <a:solidFill>
                            <a:srgbClr val="1F1F1F"/>
                          </a:solidFill>
                          <a:latin typeface="Calibri"/>
                        </a:rPr>
                        <a:t>Índice fora por 10 dias</a:t>
                      </a:r>
                    </a:p>
                    <a:p>
                      <a:pPr algn="l">
                        <a:lnSpc>
                          <a:spcPct val="100000"/>
                        </a:lnSpc>
                        <a:spcBef>
                          <a:spcPts val="0"/>
                        </a:spcBef>
                        <a:spcAft>
                          <a:spcPts val="0"/>
                        </a:spcAft>
                      </a:pPr>
                      <a:r>
                        <a:rPr sz="1300" b="0">
                          <a:solidFill>
                            <a:srgbClr val="1F1F1F"/>
                          </a:solidFill>
                          <a:latin typeface="Calibri"/>
                        </a:rPr>
                        <a:t>úteis consecutivos gera</a:t>
                      </a:r>
                    </a:p>
                    <a:p>
                      <a:pPr algn="l">
                        <a:lnSpc>
                          <a:spcPct val="100000"/>
                        </a:lnSpc>
                        <a:spcBef>
                          <a:spcPts val="0"/>
                        </a:spcBef>
                        <a:spcAft>
                          <a:spcPts val="0"/>
                        </a:spcAft>
                      </a:pPr>
                      <a:r>
                        <a:rPr sz="1300" b="0">
                          <a:solidFill>
                            <a:srgbClr val="1F1F1F"/>
                          </a:solidFill>
                          <a:latin typeface="Calibri"/>
                        </a:rPr>
                        <a:t>avaliação. Falta de</a:t>
                      </a:r>
                    </a:p>
                    <a:p>
                      <a:pPr algn="l">
                        <a:lnSpc>
                          <a:spcPct val="100000"/>
                        </a:lnSpc>
                        <a:spcBef>
                          <a:spcPts val="0"/>
                        </a:spcBef>
                        <a:spcAft>
                          <a:spcPts val="0"/>
                        </a:spcAft>
                      </a:pPr>
                      <a:r>
                        <a:rPr sz="1300" b="0">
                          <a:solidFill>
                            <a:srgbClr val="1F1F1F"/>
                          </a:solidFill>
                          <a:latin typeface="Calibri"/>
                        </a:rPr>
                        <a:t>arquivos</a:t>
                      </a:r>
                    </a:p>
                    <a:p>
                      <a:pPr algn="l">
                        <a:lnSpc>
                          <a:spcPct val="100000"/>
                        </a:lnSpc>
                        <a:spcBef>
                          <a:spcPts val="0"/>
                        </a:spcBef>
                        <a:spcAft>
                          <a:spcPts val="0"/>
                        </a:spcAft>
                      </a:pPr>
                      <a:r>
                        <a:rPr sz="1300" b="0">
                          <a:solidFill>
                            <a:srgbClr val="1F1F1F"/>
                          </a:solidFill>
                          <a:latin typeface="Calibri"/>
                        </a:rPr>
                        <a:t>Dataprev/lastro e</a:t>
                      </a:r>
                    </a:p>
                    <a:p>
                      <a:pPr algn="l">
                        <a:lnSpc>
                          <a:spcPct val="100000"/>
                        </a:lnSpc>
                        <a:spcBef>
                          <a:spcPts val="0"/>
                        </a:spcBef>
                        <a:spcAft>
                          <a:spcPts val="0"/>
                        </a:spcAft>
                      </a:pPr>
                      <a:r>
                        <a:rPr sz="1300" b="0">
                          <a:solidFill>
                            <a:srgbClr val="1F1F1F"/>
                          </a:solidFill>
                          <a:latin typeface="Calibri"/>
                        </a:rPr>
                        <a:t>atraso sênior: 2 dias</a:t>
                      </a:r>
                    </a:p>
                    <a:p>
                      <a:pPr algn="l">
                        <a:lnSpc>
                          <a:spcPct val="100000"/>
                        </a:lnSpc>
                        <a:spcBef>
                          <a:spcPts val="0"/>
                        </a:spcBef>
                        <a:spcAft>
                          <a:spcPts val="0"/>
                        </a:spcAft>
                      </a:pPr>
                      <a:r>
                        <a:rPr sz="1300" b="0">
                          <a:solidFill>
                            <a:srgbClr val="1F1F1F"/>
                          </a:solidFill>
                          <a:latin typeface="Calibri"/>
                        </a:rPr>
                        <a:t>úteis. Outros</a:t>
                      </a:r>
                    </a:p>
                    <a:p>
                      <a:pPr algn="l">
                        <a:lnSpc>
                          <a:spcPct val="100000"/>
                        </a:lnSpc>
                        <a:spcBef>
                          <a:spcPts val="0"/>
                        </a:spcBef>
                        <a:spcAft>
                          <a:spcPts val="0"/>
                        </a:spcAft>
                      </a:pPr>
                      <a:r>
                        <a:rPr sz="1300" b="0">
                          <a:solidFill>
                            <a:srgbClr val="1F1F1F"/>
                          </a:solidFill>
                          <a:latin typeface="Calibri"/>
                        </a:rPr>
                        <a:t>descumprimentos de endo</a:t>
                      </a:r>
                    </a:p>
                    <a:p>
                      <a:pPr algn="l">
                        <a:lnSpc>
                          <a:spcPct val="100000"/>
                        </a:lnSpc>
                        <a:spcBef>
                          <a:spcPts val="0"/>
                        </a:spcBef>
                        <a:spcAft>
                          <a:spcPts val="0"/>
                        </a:spcAft>
                      </a:pPr>
                      <a:r>
                        <a:rPr sz="1300" b="0">
                          <a:solidFill>
                            <a:srgbClr val="1F1F1F"/>
                          </a:solidFill>
                          <a:latin typeface="Calibri"/>
                        </a:rPr>
                        <a:t>ssante/agentes/prestado</a:t>
                      </a:r>
                    </a:p>
                    <a:p>
                      <a:pPr algn="l">
                        <a:lnSpc>
                          <a:spcPct val="100000"/>
                        </a:lnSpc>
                        <a:spcBef>
                          <a:spcPts val="0"/>
                        </a:spcBef>
                        <a:spcAft>
                          <a:spcPts val="0"/>
                        </a:spcAft>
                      </a:pPr>
                      <a:r>
                        <a:rPr sz="1300" b="0">
                          <a:solidFill>
                            <a:srgbClr val="1F1F1F"/>
                          </a:solidFill>
                          <a:latin typeface="Calibri"/>
                        </a:rPr>
                        <a:t>res: 10 dias úteis da</a:t>
                      </a:r>
                    </a:p>
                    <a:p>
                      <a:pPr algn="l">
                        <a:lnSpc>
                          <a:spcPct val="100000"/>
                        </a:lnSpc>
                        <a:spcBef>
                          <a:spcPts val="0"/>
                        </a:spcBef>
                        <a:spcAft>
                          <a:spcPts val="0"/>
                        </a:spcAft>
                      </a:pPr>
                      <a:r>
                        <a:rPr sz="1300" b="0">
                          <a:solidFill>
                            <a:srgbClr val="1F1F1F"/>
                          </a:solidFill>
                          <a:latin typeface="Calibri"/>
                        </a:rPr>
                        <a:t>notificação.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5 dias úteis para</a:t>
                      </a:r>
                    </a:p>
                    <a:p>
                      <a:pPr algn="l">
                        <a:lnSpc>
                          <a:spcPct val="100000"/>
                        </a:lnSpc>
                        <a:spcBef>
                          <a:spcPts val="0"/>
                        </a:spcBef>
                        <a:spcAft>
                          <a:spcPts val="0"/>
                        </a:spcAft>
                      </a:pPr>
                      <a:r>
                        <a:rPr sz="1300" b="0">
                          <a:solidFill>
                            <a:srgbClr val="1F1F1F"/>
                          </a:solidFill>
                          <a:latin typeface="Calibri"/>
                        </a:rPr>
                        <a:t>deveres de prestadores;</a:t>
                      </a:r>
                    </a:p>
                    <a:p>
                      <a:pPr algn="l">
                        <a:lnSpc>
                          <a:spcPct val="100000"/>
                        </a:lnSpc>
                        <a:spcBef>
                          <a:spcPts val="0"/>
                        </a:spcBef>
                        <a:spcAft>
                          <a:spcPts val="0"/>
                        </a:spcAft>
                      </a:pPr>
                      <a:r>
                        <a:rPr sz="1300" b="0">
                          <a:solidFill>
                            <a:srgbClr val="1F1F1F"/>
                          </a:solidFill>
                          <a:latin typeface="Calibri"/>
                        </a:rPr>
                        <a:t>30 dias para desfazer</a:t>
                      </a:r>
                    </a:p>
                    <a:p>
                      <a:pPr algn="l">
                        <a:lnSpc>
                          <a:spcPct val="100000"/>
                        </a:lnSpc>
                        <a:spcBef>
                          <a:spcPts val="0"/>
                        </a:spcBef>
                        <a:spcAft>
                          <a:spcPts val="0"/>
                        </a:spcAft>
                      </a:pPr>
                      <a:r>
                        <a:rPr sz="1300" b="0">
                          <a:solidFill>
                            <a:srgbClr val="1F1F1F"/>
                          </a:solidFill>
                          <a:latin typeface="Calibri"/>
                        </a:rPr>
                        <a:t>aquisição inelegível;</a:t>
                      </a:r>
                    </a:p>
                    <a:p>
                      <a:pPr algn="l">
                        <a:lnSpc>
                          <a:spcPct val="100000"/>
                        </a:lnSpc>
                        <a:spcBef>
                          <a:spcPts val="0"/>
                        </a:spcBef>
                        <a:spcAft>
                          <a:spcPts val="0"/>
                        </a:spcAft>
                      </a:pPr>
                      <a:r>
                        <a:rPr sz="1300" b="0">
                          <a:solidFill>
                            <a:srgbClr val="1F1F1F"/>
                          </a:solidFill>
                          <a:latin typeface="Calibri"/>
                        </a:rPr>
                        <a:t>15 dias consecutivos de</a:t>
                      </a:r>
                    </a:p>
                    <a:p>
                      <a:pPr algn="l">
                        <a:lnSpc>
                          <a:spcPct val="100000"/>
                        </a:lnSpc>
                        <a:spcBef>
                          <a:spcPts val="0"/>
                        </a:spcBef>
                        <a:spcAft>
                          <a:spcPts val="0"/>
                        </a:spcAft>
                      </a:pPr>
                      <a:r>
                        <a:rPr sz="1300" b="0">
                          <a:solidFill>
                            <a:srgbClr val="1F1F1F"/>
                          </a:solidFill>
                          <a:latin typeface="Calibri"/>
                        </a:rPr>
                        <a:t>descumprimento da</a:t>
                      </a:r>
                    </a:p>
                    <a:p>
                      <a:pPr algn="l">
                        <a:lnSpc>
                          <a:spcPct val="100000"/>
                        </a:lnSpc>
                        <a:spcBef>
                          <a:spcPts val="0"/>
                        </a:spcBef>
                        <a:spcAft>
                          <a:spcPts val="0"/>
                        </a:spcAft>
                      </a:pPr>
                      <a:r>
                        <a:rPr sz="1300" b="0">
                          <a:solidFill>
                            <a:srgbClr val="1F1F1F"/>
                          </a:solidFill>
                          <a:latin typeface="Calibri"/>
                        </a:rPr>
                        <a:t>política geram</a:t>
                      </a:r>
                    </a:p>
                    <a:p>
                      <a:pPr algn="l">
                        <a:lnSpc>
                          <a:spcPct val="100000"/>
                        </a:lnSpc>
                        <a:spcBef>
                          <a:spcPts val="0"/>
                        </a:spcBef>
                        <a:spcAft>
                          <a:spcPts val="0"/>
                        </a:spcAft>
                      </a:pPr>
                      <a:r>
                        <a:rPr sz="1300" b="0">
                          <a:solidFill>
                            <a:srgbClr val="1F1F1F"/>
                          </a:solidFill>
                          <a:latin typeface="Calibri"/>
                        </a:rPr>
                        <a:t>avaliação. Novas</a:t>
                      </a:r>
                    </a:p>
                    <a:p>
                      <a:pPr algn="l">
                        <a:lnSpc>
                          <a:spcPct val="100000"/>
                        </a:lnSpc>
                        <a:spcBef>
                          <a:spcPts val="0"/>
                        </a:spcBef>
                        <a:spcAft>
                          <a:spcPts val="0"/>
                        </a:spcAft>
                      </a:pPr>
                      <a:r>
                        <a:rPr sz="1300" b="0">
                          <a:solidFill>
                            <a:srgbClr val="1F1F1F"/>
                          </a:solidFill>
                          <a:latin typeface="Calibri"/>
                        </a:rPr>
                        <a:t>compras/amortizações</a:t>
                      </a:r>
                    </a:p>
                    <a:p>
                      <a:pPr algn="l">
                        <a:lnSpc>
                          <a:spcPct val="100000"/>
                        </a:lnSpc>
                        <a:spcBef>
                          <a:spcPts val="0"/>
                        </a:spcBef>
                        <a:spcAft>
                          <a:spcPts val="0"/>
                        </a:spcAft>
                      </a:pPr>
                      <a:r>
                        <a:rPr sz="1300" b="0">
                          <a:solidFill>
                            <a:srgbClr val="1F1F1F"/>
                          </a:solidFill>
                          <a:latin typeface="Calibri"/>
                        </a:rPr>
                        <a:t>extraordinárias param</a:t>
                      </a:r>
                    </a:p>
                    <a:p>
                      <a:pPr algn="l">
                        <a:lnSpc>
                          <a:spcPct val="100000"/>
                        </a:lnSpc>
                        <a:spcBef>
                          <a:spcPts val="0"/>
                        </a:spcBef>
                        <a:spcAft>
                          <a:spcPts val="0"/>
                        </a:spcAft>
                      </a:pPr>
                      <a:r>
                        <a:rPr sz="1300" b="0">
                          <a:solidFill>
                            <a:srgbClr val="1F1F1F"/>
                          </a:solidFill>
                          <a:latin typeface="Calibri"/>
                        </a:rPr>
                        <a:t>durante o evento.</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49/160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Eventos e cura</a:t>
            </a:r>
          </a:p>
        </p:txBody>
      </p:sp>
      <p:graphicFrame>
        <p:nvGraphicFramePr>
          <p:cNvPr id="3" name="Table 2"/>
          <p:cNvGraphicFramePr>
            <a:graphicFrameLocks noGrp="1"/>
          </p:cNvGraphicFramePr>
          <p:nvPr/>
        </p:nvGraphicFramePr>
        <p:xfrm>
          <a:off x="438912" y="932688"/>
          <a:ext cx="11313868" cy="2628900"/>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2157984">
                <a:tc>
                  <a:txBody>
                    <a:bodyPr wrap="square">
                      <a:noAutofit/>
                    </a:bodyPr>
                    <a:lstStyle/>
                    <a:p>
                      <a:pPr algn="l">
                        <a:lnSpc>
                          <a:spcPct val="100000"/>
                        </a:lnSpc>
                        <a:spcBef>
                          <a:spcPts val="0"/>
                        </a:spcBef>
                        <a:spcAft>
                          <a:spcPts val="0"/>
                        </a:spcAft>
                      </a:pPr>
                      <a:r>
                        <a:rPr sz="1300" b="1">
                          <a:solidFill>
                            <a:srgbClr val="1F1F1F"/>
                          </a:solidFill>
                          <a:latin typeface="Calibri"/>
                        </a:rPr>
                        <a:t>Cross default e</a:t>
                      </a:r>
                    </a:p>
                    <a:p>
                      <a:pPr algn="l">
                        <a:lnSpc>
                          <a:spcPct val="100000"/>
                        </a:lnSpc>
                        <a:spcBef>
                          <a:spcPts val="0"/>
                        </a:spcBef>
                        <a:spcAft>
                          <a:spcPts val="0"/>
                        </a:spcAft>
                      </a:pPr>
                      <a:r>
                        <a:rPr sz="1300" b="1">
                          <a:solidFill>
                            <a:srgbClr val="1F1F1F"/>
                          </a:solidFill>
                          <a:latin typeface="Calibri"/>
                        </a:rPr>
                        <a:t>insolvência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10.1 As seguintes</a:t>
                      </a:r>
                    </a:p>
                    <a:p>
                      <a:pPr algn="l">
                        <a:lnSpc>
                          <a:spcPct val="100000"/>
                        </a:lnSpc>
                        <a:spcBef>
                          <a:spcPts val="0"/>
                        </a:spcBef>
                        <a:spcAft>
                          <a:spcPts val="0"/>
                        </a:spcAft>
                      </a:pPr>
                      <a:r>
                        <a:rPr sz="1300" b="0">
                          <a:solidFill>
                            <a:srgbClr val="1F1F1F"/>
                          </a:solidFill>
                          <a:latin typeface="Calibri"/>
                        </a:rPr>
                        <a:t>hipóteses são</a:t>
                      </a:r>
                    </a:p>
                    <a:p>
                      <a:pPr algn="l">
                        <a:lnSpc>
                          <a:spcPct val="100000"/>
                        </a:lnSpc>
                        <a:spcBef>
                          <a:spcPts val="0"/>
                        </a:spcBef>
                        <a:spcAft>
                          <a:spcPts val="0"/>
                        </a:spcAft>
                      </a:pPr>
                      <a:r>
                        <a:rPr sz="1300" b="0">
                          <a:solidFill>
                            <a:srgbClr val="1F1F1F"/>
                          </a:solidFill>
                          <a:latin typeface="Calibri"/>
                        </a:rPr>
                        <a:t>consideradas Eventos de</a:t>
                      </a:r>
                    </a:p>
                    <a:p>
                      <a:pPr algn="l">
                        <a:lnSpc>
                          <a:spcPct val="100000"/>
                        </a:lnSpc>
                        <a:spcBef>
                          <a:spcPts val="0"/>
                        </a:spcBef>
                        <a:spcAft>
                          <a:spcPts val="0"/>
                        </a:spcAft>
                      </a:pPr>
                      <a:r>
                        <a:rPr sz="1300" b="0">
                          <a:solidFill>
                            <a:srgbClr val="1F1F1F"/>
                          </a:solidFill>
                          <a:latin typeface="Calibri"/>
                        </a:rPr>
                        <a:t>Avaliação: (i) em caso</a:t>
                      </a:r>
                    </a:p>
                    <a:p>
                      <a:pPr algn="l">
                        <a:lnSpc>
                          <a:spcPct val="100000"/>
                        </a:lnSpc>
                        <a:spcBef>
                          <a:spcPts val="0"/>
                        </a:spcBef>
                        <a:spcAft>
                          <a:spcPts val="0"/>
                        </a:spcAft>
                      </a:pPr>
                      <a:r>
                        <a:rPr sz="1300" b="0">
                          <a:solidFill>
                            <a:srgbClr val="1F1F1F"/>
                          </a:solidFill>
                          <a:latin typeface="Calibri"/>
                        </a:rPr>
                        <a:t>de regime de</a:t>
                      </a:r>
                    </a:p>
                    <a:p>
                      <a:pPr algn="l">
                        <a:lnSpc>
                          <a:spcPct val="100000"/>
                        </a:lnSpc>
                        <a:spcBef>
                          <a:spcPts val="0"/>
                        </a:spcBef>
                        <a:spcAft>
                          <a:spcPts val="0"/>
                        </a:spcAft>
                      </a:pPr>
                      <a:r>
                        <a:rPr sz="1300" b="0">
                          <a:solidFill>
                            <a:srgbClr val="1F1F1F"/>
                          </a:solidFill>
                          <a:latin typeface="Calibri"/>
                        </a:rPr>
                        <a:t>administração especial</a:t>
                      </a:r>
                    </a:p>
                    <a:p>
                      <a:pPr algn="l">
                        <a:lnSpc>
                          <a:spcPct val="100000"/>
                        </a:lnSpc>
                        <a:spcBef>
                          <a:spcPts val="0"/>
                        </a:spcBef>
                        <a:spcAft>
                          <a:spcPts val="0"/>
                        </a:spcAft>
                      </a:pPr>
                      <a:r>
                        <a:rPr sz="1300" b="0">
                          <a:solidFill>
                            <a:srgbClr val="1F1F1F"/>
                          </a:solidFill>
                          <a:latin typeface="Calibri"/>
                        </a:rPr>
                        <a:t>temporária - RAET,</a:t>
                      </a:r>
                    </a:p>
                    <a:p>
                      <a:pPr algn="l">
                        <a:lnSpc>
                          <a:spcPct val="100000"/>
                        </a:lnSpc>
                        <a:spcBef>
                          <a:spcPts val="0"/>
                        </a:spcBef>
                        <a:spcAft>
                          <a:spcPts val="0"/>
                        </a:spcAft>
                      </a:pPr>
                      <a:r>
                        <a:rPr sz="1300" b="0">
                          <a:solidFill>
                            <a:srgbClr val="1F1F1F"/>
                          </a:solidFill>
                          <a:latin typeface="Calibri"/>
                        </a:rPr>
                        <a:t>intervenção ou</a:t>
                      </a:r>
                    </a:p>
                    <a:p>
                      <a:pPr algn="l">
                        <a:lnSpc>
                          <a:spcPct val="100000"/>
                        </a:lnSpc>
                        <a:spcBef>
                          <a:spcPts val="0"/>
                        </a:spcBef>
                        <a:spcAft>
                          <a:spcPts val="0"/>
                        </a:spcAft>
                      </a:pPr>
                      <a:r>
                        <a:rPr sz="1300" b="0">
                          <a:solidFill>
                            <a:srgbClr val="1F1F1F"/>
                          </a:solidFill>
                          <a:latin typeface="Calibri"/>
                        </a:rPr>
                        <a:t>liquidação</a:t>
                      </a:r>
                    </a:p>
                    <a:p>
                      <a:pPr algn="l">
                        <a:lnSpc>
                          <a:spcPct val="100000"/>
                        </a:lnSpc>
                        <a:spcBef>
                          <a:spcPts val="0"/>
                        </a:spcBef>
                        <a:spcAft>
                          <a:spcPts val="0"/>
                        </a:spcAft>
                      </a:pPr>
                      <a:r>
                        <a:rPr sz="1300" b="0">
                          <a:solidFill>
                            <a:srgbClr val="1F1F1F"/>
                          </a:solidFill>
                          <a:latin typeface="Calibri"/>
                        </a:rPr>
                        <a:t>extrajudicial do</a:t>
                      </a:r>
                    </a:p>
                    <a:p>
                      <a:pPr algn="l">
                        <a:lnSpc>
                          <a:spcPct val="100000"/>
                        </a:lnSpc>
                        <a:spcBef>
                          <a:spcPts val="0"/>
                        </a:spcBef>
                        <a:spcAft>
                          <a:spcPts val="0"/>
                        </a:spcAft>
                      </a:pPr>
                      <a:r>
                        <a:rPr sz="1300" b="0">
                          <a:solidFill>
                            <a:srgbClr val="1F1F1F"/>
                          </a:solidFill>
                          <a:latin typeface="Calibri"/>
                        </a:rPr>
                        <a:t>Endossante;.</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50/160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Eventos e cura</a:t>
            </a:r>
          </a:p>
        </p:txBody>
      </p:sp>
      <p:graphicFrame>
        <p:nvGraphicFramePr>
          <p:cNvPr id="3" name="Table 2"/>
          <p:cNvGraphicFramePr>
            <a:graphicFrameLocks noGrp="1"/>
          </p:cNvGraphicFramePr>
          <p:nvPr/>
        </p:nvGraphicFramePr>
        <p:xfrm>
          <a:off x="438912" y="932688"/>
          <a:ext cx="11313868" cy="5253228"/>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4782312">
                <a:tc>
                  <a:txBody>
                    <a:bodyPr wrap="square">
                      <a:noAutofit/>
                    </a:bodyPr>
                    <a:lstStyle/>
                    <a:p>
                      <a:pPr algn="l">
                        <a:lnSpc>
                          <a:spcPct val="100000"/>
                        </a:lnSpc>
                        <a:spcBef>
                          <a:spcPts val="0"/>
                        </a:spcBef>
                        <a:spcAft>
                          <a:spcPts val="0"/>
                        </a:spcAft>
                      </a:pPr>
                      <a:r>
                        <a:rPr sz="1300" b="1">
                          <a:solidFill>
                            <a:srgbClr val="1F1F1F"/>
                          </a:solidFill>
                          <a:latin typeface="Calibri"/>
                        </a:rPr>
                        <a:t>Gatilhos de avaliação e</a:t>
                      </a:r>
                    </a:p>
                    <a:p>
                      <a:pPr algn="l">
                        <a:lnSpc>
                          <a:spcPct val="100000"/>
                        </a:lnSpc>
                        <a:spcBef>
                          <a:spcPts val="0"/>
                        </a:spcBef>
                        <a:spcAft>
                          <a:spcPts val="0"/>
                        </a:spcAft>
                      </a:pPr>
                      <a:r>
                        <a:rPr sz="1300" b="1">
                          <a:solidFill>
                            <a:srgbClr val="1F1F1F"/>
                          </a:solidFill>
                          <a:latin typeface="Calibri"/>
                        </a:rPr>
                        <a:t>liquidação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Evento de avaliação ou</a:t>
                      </a:r>
                    </a:p>
                    <a:p>
                      <a:pPr algn="l">
                        <a:lnSpc>
                          <a:spcPct val="100000"/>
                        </a:lnSpc>
                        <a:spcBef>
                          <a:spcPts val="0"/>
                        </a:spcBef>
                        <a:spcAft>
                          <a:spcPts val="0"/>
                        </a:spcAft>
                      </a:pPr>
                      <a:r>
                        <a:rPr sz="1300" b="0">
                          <a:solidFill>
                            <a:srgbClr val="1F1F1F"/>
                          </a:solidFill>
                          <a:latin typeface="Calibri"/>
                        </a:rPr>
                        <a:t>liquidação: (xiv)</a:t>
                      </a:r>
                    </a:p>
                    <a:p>
                      <a:pPr algn="l">
                        <a:lnSpc>
                          <a:spcPct val="100000"/>
                        </a:lnSpc>
                        <a:spcBef>
                          <a:spcPts val="0"/>
                        </a:spcBef>
                        <a:spcAft>
                          <a:spcPts val="0"/>
                        </a:spcAft>
                      </a:pPr>
                      <a:r>
                        <a:rPr sz="1300" b="0">
                          <a:solidFill>
                            <a:srgbClr val="1F1F1F"/>
                          </a:solidFill>
                          <a:latin typeface="Calibri"/>
                        </a:rPr>
                        <a:t>pedido de declaração</a:t>
                      </a:r>
                    </a:p>
                    <a:p>
                      <a:pPr algn="l">
                        <a:lnSpc>
                          <a:spcPct val="100000"/>
                        </a:lnSpc>
                        <a:spcBef>
                          <a:spcPts val="0"/>
                        </a:spcBef>
                        <a:spcAft>
                          <a:spcPts val="0"/>
                        </a:spcAft>
                      </a:pPr>
                      <a:r>
                        <a:rPr sz="1300" b="0">
                          <a:solidFill>
                            <a:srgbClr val="1F1F1F"/>
                          </a:solidFill>
                          <a:latin typeface="Calibri"/>
                        </a:rPr>
                        <a:t>judicial de insolvência</a:t>
                      </a:r>
                    </a:p>
                    <a:p>
                      <a:pPr algn="l">
                        <a:lnSpc>
                          <a:spcPct val="100000"/>
                        </a:lnSpc>
                        <a:spcBef>
                          <a:spcPts val="0"/>
                        </a:spcBef>
                        <a:spcAft>
                          <a:spcPts val="0"/>
                        </a:spcAft>
                      </a:pPr>
                      <a:r>
                        <a:rPr sz="1300" b="0">
                          <a:solidFill>
                            <a:srgbClr val="1F1F1F"/>
                          </a:solidFill>
                          <a:latin typeface="Calibri"/>
                        </a:rPr>
                        <a:t>da Classe. CAPÍTULO 11</a:t>
                      </a:r>
                    </a:p>
                    <a:p>
                      <a:pPr algn="l">
                        <a:lnSpc>
                          <a:spcPct val="100000"/>
                        </a:lnSpc>
                        <a:spcBef>
                          <a:spcPts val="0"/>
                        </a:spcBef>
                        <a:spcAft>
                          <a:spcPts val="0"/>
                        </a:spcAft>
                      </a:pPr>
                      <a:r>
                        <a:rPr sz="1300" b="0">
                          <a:solidFill>
                            <a:srgbClr val="1F1F1F"/>
                          </a:solidFill>
                          <a:latin typeface="Calibri"/>
                        </a:rPr>
                        <a:t>– EVENTOS DE AVALIAÇÃO,</a:t>
                      </a:r>
                    </a:p>
                    <a:p>
                      <a:pPr algn="l">
                        <a:lnSpc>
                          <a:spcPct val="100000"/>
                        </a:lnSpc>
                        <a:spcBef>
                          <a:spcPts val="0"/>
                        </a:spcBef>
                        <a:spcAft>
                          <a:spcPts val="0"/>
                        </a:spcAft>
                      </a:pPr>
                      <a:r>
                        <a:rPr sz="1300" b="0">
                          <a:solidFill>
                            <a:srgbClr val="1F1F1F"/>
                          </a:solidFill>
                          <a:latin typeface="Calibri"/>
                        </a:rPr>
                        <a:t>EVENTOS DE LIQUIDAÇÃO,</a:t>
                      </a:r>
                    </a:p>
                    <a:p>
                      <a:pPr algn="l">
                        <a:lnSpc>
                          <a:spcPct val="100000"/>
                        </a:lnSpc>
                        <a:spcBef>
                          <a:spcPts val="0"/>
                        </a:spcBef>
                        <a:spcAft>
                          <a:spcPts val="0"/>
                        </a:spcAft>
                      </a:pPr>
                      <a:r>
                        <a:rPr sz="1300" b="0">
                          <a:solidFill>
                            <a:srgbClr val="1F1F1F"/>
                          </a:solidFill>
                          <a:latin typeface="Calibri"/>
                        </a:rPr>
                        <a:t>E PROCEDIMENTOS DE</a:t>
                      </a:r>
                    </a:p>
                    <a:p>
                      <a:pPr algn="l">
                        <a:lnSpc>
                          <a:spcPct val="100000"/>
                        </a:lnSpc>
                        <a:spcBef>
                          <a:spcPts val="0"/>
                        </a:spcBef>
                        <a:spcAft>
                          <a:spcPts val="0"/>
                        </a:spcAft>
                      </a:pPr>
                      <a:r>
                        <a:rPr sz="1300" b="0">
                          <a:solidFill>
                            <a:srgbClr val="1F1F1F"/>
                          </a:solidFill>
                          <a:latin typeface="Calibri"/>
                        </a:rPr>
                        <a:t>LIQUIDAÇÃO ANTECIPADA</a:t>
                      </a:r>
                    </a:p>
                    <a:p>
                      <a:pPr algn="l">
                        <a:lnSpc>
                          <a:spcPct val="100000"/>
                        </a:lnSpc>
                        <a:spcBef>
                          <a:spcPts val="0"/>
                        </a:spcBef>
                        <a:spcAft>
                          <a:spcPts val="0"/>
                        </a:spcAft>
                      </a:pPr>
                      <a:r>
                        <a:rPr sz="1300" b="0">
                          <a:solidFill>
                            <a:srgbClr val="1F1F1F"/>
                          </a:solidFill>
                          <a:latin typeface="Calibri"/>
                        </a:rPr>
                        <a:t>Eventos de Avaliação</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11.2 Os seguintes</a:t>
                      </a:r>
                    </a:p>
                    <a:p>
                      <a:pPr algn="l">
                        <a:lnSpc>
                          <a:spcPct val="100000"/>
                        </a:lnSpc>
                        <a:spcBef>
                          <a:spcPts val="0"/>
                        </a:spcBef>
                        <a:spcAft>
                          <a:spcPts val="0"/>
                        </a:spcAft>
                      </a:pPr>
                      <a:r>
                        <a:rPr sz="1300" b="0">
                          <a:solidFill>
                            <a:srgbClr val="1F1F1F"/>
                          </a:solidFill>
                          <a:latin typeface="Calibri"/>
                        </a:rPr>
                        <a:t>eventos obrigarão o</a:t>
                      </a:r>
                    </a:p>
                    <a:p>
                      <a:pPr algn="l">
                        <a:lnSpc>
                          <a:spcPct val="100000"/>
                        </a:lnSpc>
                        <a:spcBef>
                          <a:spcPts val="0"/>
                        </a:spcBef>
                        <a:spcAft>
                          <a:spcPts val="0"/>
                        </a:spcAft>
                      </a:pPr>
                      <a:r>
                        <a:rPr sz="1300" b="0">
                          <a:solidFill>
                            <a:srgbClr val="1F1F1F"/>
                          </a:solidFill>
                          <a:latin typeface="Calibri"/>
                        </a:rPr>
                        <a:t>ADMINISTRADOR a</a:t>
                      </a:r>
                    </a:p>
                    <a:p>
                      <a:pPr algn="l">
                        <a:lnSpc>
                          <a:spcPct val="100000"/>
                        </a:lnSpc>
                        <a:spcBef>
                          <a:spcPts val="0"/>
                        </a:spcBef>
                        <a:spcAft>
                          <a:spcPts val="0"/>
                        </a:spcAft>
                      </a:pPr>
                      <a:r>
                        <a:rPr sz="1300" b="0">
                          <a:solidFill>
                            <a:srgbClr val="1F1F1F"/>
                          </a:solidFill>
                          <a:latin typeface="Calibri"/>
                        </a:rPr>
                        <a:t>verificar se o</a:t>
                      </a:r>
                    </a:p>
                    <a:p>
                      <a:pPr algn="l">
                        <a:lnSpc>
                          <a:spcPct val="100000"/>
                        </a:lnSpc>
                        <a:spcBef>
                          <a:spcPts val="0"/>
                        </a:spcBef>
                        <a:spcAft>
                          <a:spcPts val="0"/>
                        </a:spcAft>
                      </a:pPr>
                      <a:r>
                        <a:rPr sz="1300" b="0">
                          <a:solidFill>
                            <a:srgbClr val="1F1F1F"/>
                          </a:solidFill>
                          <a:latin typeface="Calibri"/>
                        </a:rPr>
                        <a:t>Patrimônio Líquido da</a:t>
                      </a:r>
                    </a:p>
                    <a:p>
                      <a:pPr algn="l">
                        <a:lnSpc>
                          <a:spcPct val="100000"/>
                        </a:lnSpc>
                        <a:spcBef>
                          <a:spcPts val="0"/>
                        </a:spcBef>
                        <a:spcAft>
                          <a:spcPts val="0"/>
                        </a:spcAft>
                      </a:pPr>
                      <a:r>
                        <a:rPr sz="1300" b="0">
                          <a:solidFill>
                            <a:srgbClr val="1F1F1F"/>
                          </a:solidFill>
                          <a:latin typeface="Calibri"/>
                        </a:rPr>
                        <a:t>Classe está negativo:</a:t>
                      </a:r>
                    </a:p>
                    <a:p>
                      <a:pPr algn="l">
                        <a:lnSpc>
                          <a:spcPct val="100000"/>
                        </a:lnSpc>
                        <a:spcBef>
                          <a:spcPts val="0"/>
                        </a:spcBef>
                        <a:spcAft>
                          <a:spcPts val="0"/>
                        </a:spcAft>
                      </a:pPr>
                      <a:r>
                        <a:rPr sz="1300" b="0">
                          <a:solidFill>
                            <a:srgbClr val="1F1F1F"/>
                          </a:solidFill>
                          <a:latin typeface="Calibri"/>
                        </a:rPr>
                        <a:t>(i) qualquer pedido de</a:t>
                      </a:r>
                    </a:p>
                    <a:p>
                      <a:pPr algn="l">
                        <a:lnSpc>
                          <a:spcPct val="100000"/>
                        </a:lnSpc>
                        <a:spcBef>
                          <a:spcPts val="0"/>
                        </a:spcBef>
                        <a:spcAft>
                          <a:spcPts val="0"/>
                        </a:spcAft>
                      </a:pPr>
                      <a:r>
                        <a:rPr sz="1300" b="0">
                          <a:solidFill>
                            <a:srgbClr val="1F1F1F"/>
                          </a:solidFill>
                          <a:latin typeface="Calibri"/>
                        </a:rPr>
                        <a:t>declaração judicial de</a:t>
                      </a:r>
                    </a:p>
                    <a:p>
                      <a:pPr algn="l">
                        <a:lnSpc>
                          <a:spcPct val="100000"/>
                        </a:lnSpc>
                        <a:spcBef>
                          <a:spcPts val="0"/>
                        </a:spcBef>
                        <a:spcAft>
                          <a:spcPts val="0"/>
                        </a:spcAft>
                      </a:pPr>
                      <a:r>
                        <a:rPr sz="1300" b="0">
                          <a:solidFill>
                            <a:srgbClr val="1F1F1F"/>
                          </a:solidFill>
                          <a:latin typeface="Calibri"/>
                        </a:rPr>
                        <a:t>insolvência da Classe;</a:t>
                      </a:r>
                    </a:p>
                    <a:p>
                      <a:pPr algn="l">
                        <a:lnSpc>
                          <a:spcPct val="100000"/>
                        </a:lnSpc>
                        <a:spcBef>
                          <a:spcPts val="0"/>
                        </a:spcBef>
                        <a:spcAft>
                          <a:spcPts val="0"/>
                        </a:spcAft>
                      </a:pPr>
                      <a:r>
                        <a:rPr sz="1300" b="0">
                          <a:solidFill>
                            <a:srgbClr val="1F1F1F"/>
                          </a:solidFill>
                          <a:latin typeface="Calibri"/>
                        </a:rPr>
                        <a:t>e (ii) na ocorrência de</a:t>
                      </a:r>
                    </a:p>
                    <a:p>
                      <a:pPr algn="l">
                        <a:lnSpc>
                          <a:spcPct val="100000"/>
                        </a:lnSpc>
                        <a:spcBef>
                          <a:spcPts val="0"/>
                        </a:spcBef>
                        <a:spcAft>
                          <a:spcPts val="0"/>
                        </a:spcAft>
                      </a:pPr>
                      <a:r>
                        <a:rPr sz="1300" b="0">
                          <a:solidFill>
                            <a:srgbClr val="1F1F1F"/>
                          </a:solidFill>
                          <a:latin typeface="Calibri"/>
                        </a:rPr>
                        <a:t>quaisquer dos Eventos</a:t>
                      </a:r>
                    </a:p>
                    <a:p>
                      <a:pPr algn="l">
                        <a:lnSpc>
                          <a:spcPct val="100000"/>
                        </a:lnSpc>
                        <a:spcBef>
                          <a:spcPts val="0"/>
                        </a:spcBef>
                        <a:spcAft>
                          <a:spcPts val="0"/>
                        </a:spcAft>
                      </a:pPr>
                      <a:r>
                        <a:rPr sz="1300" b="0">
                          <a:solidFill>
                            <a:srgbClr val="1F1F1F"/>
                          </a:solidFill>
                          <a:latin typeface="Calibri"/>
                        </a:rPr>
                        <a:t>de Avaliação e/ou</a:t>
                      </a:r>
                    </a:p>
                    <a:p>
                      <a:pPr algn="l">
                        <a:lnSpc>
                          <a:spcPct val="100000"/>
                        </a:lnSpc>
                        <a:spcBef>
                          <a:spcPts val="0"/>
                        </a:spcBef>
                        <a:spcAft>
                          <a:spcPts val="0"/>
                        </a:spcAft>
                      </a:pPr>
                      <a:r>
                        <a:rPr sz="1300" b="0">
                          <a:solidFill>
                            <a:srgbClr val="1F1F1F"/>
                          </a:solidFill>
                          <a:latin typeface="Calibri"/>
                        </a:rPr>
                        <a:t>Eventos de Liquidação .</a:t>
                      </a:r>
                    </a:p>
                    <a:p>
                      <a:pPr algn="l">
                        <a:lnSpc>
                          <a:spcPct val="100000"/>
                        </a:lnSpc>
                        <a:spcBef>
                          <a:spcPts val="0"/>
                        </a:spcBef>
                        <a:spcAft>
                          <a:spcPts val="0"/>
                        </a:spcAft>
                      </a:pPr>
                      <a:r>
                        <a:rPr sz="1300" b="0">
                          <a:solidFill>
                            <a:srgbClr val="1F1F1F"/>
                          </a:solidFill>
                          <a:latin typeface="Calibri"/>
                        </a:rPr>
                        <a:t>Eventos de Liquidação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Evento de avaliação ou</a:t>
                      </a:r>
                    </a:p>
                    <a:p>
                      <a:pPr algn="l">
                        <a:lnSpc>
                          <a:spcPct val="100000"/>
                        </a:lnSpc>
                        <a:spcBef>
                          <a:spcPts val="0"/>
                        </a:spcBef>
                        <a:spcAft>
                          <a:spcPts val="0"/>
                        </a:spcAft>
                      </a:pPr>
                      <a:r>
                        <a:rPr sz="1300" b="0">
                          <a:solidFill>
                            <a:srgbClr val="1F1F1F"/>
                          </a:solidFill>
                          <a:latin typeface="Calibri"/>
                        </a:rPr>
                        <a:t>liquidação: (iii)</a:t>
                      </a:r>
                    </a:p>
                    <a:p>
                      <a:pPr algn="l">
                        <a:lnSpc>
                          <a:spcPct val="100000"/>
                        </a:lnSpc>
                        <a:spcBef>
                          <a:spcPts val="0"/>
                        </a:spcBef>
                        <a:spcAft>
                          <a:spcPts val="0"/>
                        </a:spcAft>
                      </a:pPr>
                      <a:r>
                        <a:rPr sz="1300" b="0">
                          <a:solidFill>
                            <a:srgbClr val="1F1F1F"/>
                          </a:solidFill>
                          <a:latin typeface="Calibri"/>
                        </a:rPr>
                        <a:t>inadimplência de</a:t>
                      </a:r>
                    </a:p>
                    <a:p>
                      <a:pPr algn="l">
                        <a:lnSpc>
                          <a:spcPct val="100000"/>
                        </a:lnSpc>
                        <a:spcBef>
                          <a:spcPts val="0"/>
                        </a:spcBef>
                        <a:spcAft>
                          <a:spcPts val="0"/>
                        </a:spcAft>
                      </a:pPr>
                      <a:r>
                        <a:rPr sz="1300" b="0">
                          <a:solidFill>
                            <a:srgbClr val="1F1F1F"/>
                          </a:solidFill>
                          <a:latin typeface="Calibri"/>
                        </a:rPr>
                        <a:t>obrigações financeiras</a:t>
                      </a:r>
                    </a:p>
                    <a:p>
                      <a:pPr algn="l">
                        <a:lnSpc>
                          <a:spcPct val="100000"/>
                        </a:lnSpc>
                        <a:spcBef>
                          <a:spcPts val="0"/>
                        </a:spcBef>
                        <a:spcAft>
                          <a:spcPts val="0"/>
                        </a:spcAft>
                      </a:pPr>
                      <a:r>
                        <a:rPr sz="1300" b="0">
                          <a:solidFill>
                            <a:srgbClr val="1F1F1F"/>
                          </a:solidFill>
                          <a:latin typeface="Calibri"/>
                        </a:rPr>
                        <a:t>de devedor e/ou emissor</a:t>
                      </a:r>
                    </a:p>
                    <a:p>
                      <a:pPr algn="l">
                        <a:lnSpc>
                          <a:spcPct val="100000"/>
                        </a:lnSpc>
                        <a:spcBef>
                          <a:spcPts val="0"/>
                        </a:spcBef>
                        <a:spcAft>
                          <a:spcPts val="0"/>
                        </a:spcAft>
                      </a:pPr>
                      <a:r>
                        <a:rPr sz="1300" b="0">
                          <a:solidFill>
                            <a:srgbClr val="1F1F1F"/>
                          </a:solidFill>
                          <a:latin typeface="Calibri"/>
                        </a:rPr>
                        <a:t>de ativos detidos pela</a:t>
                      </a:r>
                    </a:p>
                    <a:p>
                      <a:pPr algn="l">
                        <a:lnSpc>
                          <a:spcPct val="100000"/>
                        </a:lnSpc>
                        <a:spcBef>
                          <a:spcPts val="0"/>
                        </a:spcBef>
                        <a:spcAft>
                          <a:spcPts val="0"/>
                        </a:spcAft>
                      </a:pPr>
                      <a:r>
                        <a:rPr sz="1300" b="0">
                          <a:solidFill>
                            <a:srgbClr val="1F1F1F"/>
                          </a:solidFill>
                          <a:latin typeface="Calibri"/>
                        </a:rPr>
                        <a:t>Classe que representem</a:t>
                      </a:r>
                    </a:p>
                    <a:p>
                      <a:pPr algn="l">
                        <a:lnSpc>
                          <a:spcPct val="100000"/>
                        </a:lnSpc>
                        <a:spcBef>
                          <a:spcPts val="0"/>
                        </a:spcBef>
                        <a:spcAft>
                          <a:spcPts val="0"/>
                        </a:spcAft>
                      </a:pPr>
                      <a:r>
                        <a:rPr sz="1300" b="0">
                          <a:solidFill>
                            <a:srgbClr val="1F1F1F"/>
                          </a:solidFill>
                          <a:latin typeface="Calibri"/>
                        </a:rPr>
                        <a:t>mais de 25% (vinte e</a:t>
                      </a:r>
                    </a:p>
                    <a:p>
                      <a:pPr algn="l">
                        <a:lnSpc>
                          <a:spcPct val="100000"/>
                        </a:lnSpc>
                        <a:spcBef>
                          <a:spcPts val="0"/>
                        </a:spcBef>
                        <a:spcAft>
                          <a:spcPts val="0"/>
                        </a:spcAft>
                      </a:pPr>
                      <a:r>
                        <a:rPr sz="1300" b="0">
                          <a:solidFill>
                            <a:srgbClr val="1F1F1F"/>
                          </a:solidFill>
                          <a:latin typeface="Calibri"/>
                        </a:rPr>
                        <a:t>cinco por cento)de seu</a:t>
                      </a:r>
                    </a:p>
                    <a:p>
                      <a:pPr algn="l">
                        <a:lnSpc>
                          <a:spcPct val="100000"/>
                        </a:lnSpc>
                        <a:spcBef>
                          <a:spcPts val="0"/>
                        </a:spcBef>
                        <a:spcAft>
                          <a:spcPts val="0"/>
                        </a:spcAft>
                      </a:pPr>
                      <a:r>
                        <a:rPr sz="1300" b="0">
                          <a:solidFill>
                            <a:srgbClr val="1F1F1F"/>
                          </a:solidFill>
                          <a:latin typeface="Calibri"/>
                        </a:rPr>
                        <a:t>Patrimônio Líquido;</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Evento de avaliação ou</a:t>
                      </a:r>
                    </a:p>
                    <a:p>
                      <a:pPr algn="l">
                        <a:lnSpc>
                          <a:spcPct val="100000"/>
                        </a:lnSpc>
                        <a:spcBef>
                          <a:spcPts val="0"/>
                        </a:spcBef>
                        <a:spcAft>
                          <a:spcPts val="0"/>
                        </a:spcAft>
                      </a:pPr>
                      <a:r>
                        <a:rPr sz="1300" b="0">
                          <a:solidFill>
                            <a:srgbClr val="1F1F1F"/>
                          </a:solidFill>
                          <a:latin typeface="Calibri"/>
                        </a:rPr>
                        <a:t>liquidação: (ii) na</a:t>
                      </a:r>
                    </a:p>
                    <a:p>
                      <a:pPr algn="l">
                        <a:lnSpc>
                          <a:spcPct val="100000"/>
                        </a:lnSpc>
                        <a:spcBef>
                          <a:spcPts val="0"/>
                        </a:spcBef>
                        <a:spcAft>
                          <a:spcPts val="0"/>
                        </a:spcAft>
                      </a:pPr>
                      <a:r>
                        <a:rPr sz="1300" b="0">
                          <a:solidFill>
                            <a:srgbClr val="1F1F1F"/>
                          </a:solidFill>
                          <a:latin typeface="Calibri"/>
                        </a:rPr>
                        <a:t>hipótese de resilição</a:t>
                      </a:r>
                    </a:p>
                    <a:p>
                      <a:pPr algn="l">
                        <a:lnSpc>
                          <a:spcPct val="100000"/>
                        </a:lnSpc>
                        <a:spcBef>
                          <a:spcPts val="0"/>
                        </a:spcBef>
                        <a:spcAft>
                          <a:spcPts val="0"/>
                        </a:spcAft>
                      </a:pPr>
                      <a:r>
                        <a:rPr sz="1300" b="0">
                          <a:solidFill>
                            <a:srgbClr val="1F1F1F"/>
                          </a:solidFill>
                          <a:latin typeface="Calibri"/>
                        </a:rPr>
                        <a:t>do Contrato de Custódia</a:t>
                      </a:r>
                    </a:p>
                    <a:p>
                      <a:pPr algn="l">
                        <a:lnSpc>
                          <a:spcPct val="100000"/>
                        </a:lnSpc>
                        <a:spcBef>
                          <a:spcPts val="0"/>
                        </a:spcBef>
                        <a:spcAft>
                          <a:spcPts val="0"/>
                        </a:spcAft>
                      </a:pPr>
                      <a:r>
                        <a:rPr sz="1300" b="0">
                          <a:solidFill>
                            <a:srgbClr val="1F1F1F"/>
                          </a:solidFill>
                          <a:latin typeface="Calibri"/>
                        </a:rPr>
                        <a:t>ou renúncia do</a:t>
                      </a:r>
                    </a:p>
                    <a:p>
                      <a:pPr algn="l">
                        <a:lnSpc>
                          <a:spcPct val="100000"/>
                        </a:lnSpc>
                        <a:spcBef>
                          <a:spcPts val="0"/>
                        </a:spcBef>
                        <a:spcAft>
                          <a:spcPts val="0"/>
                        </a:spcAft>
                      </a:pPr>
                      <a:r>
                        <a:rPr sz="1300" b="0">
                          <a:solidFill>
                            <a:srgbClr val="1F1F1F"/>
                          </a:solidFill>
                          <a:latin typeface="Calibri"/>
                        </a:rPr>
                        <a:t>Custodiante, sem que</a:t>
                      </a:r>
                    </a:p>
                    <a:p>
                      <a:pPr algn="l">
                        <a:lnSpc>
                          <a:spcPct val="100000"/>
                        </a:lnSpc>
                        <a:spcBef>
                          <a:spcPts val="0"/>
                        </a:spcBef>
                        <a:spcAft>
                          <a:spcPts val="0"/>
                        </a:spcAft>
                      </a:pPr>
                      <a:r>
                        <a:rPr sz="1300" b="0">
                          <a:solidFill>
                            <a:srgbClr val="1F1F1F"/>
                          </a:solidFill>
                          <a:latin typeface="Calibri"/>
                        </a:rPr>
                        <a:t>tenha havido sua</a:t>
                      </a:r>
                    </a:p>
                    <a:p>
                      <a:pPr algn="l">
                        <a:lnSpc>
                          <a:spcPct val="100000"/>
                        </a:lnSpc>
                        <a:spcBef>
                          <a:spcPts val="0"/>
                        </a:spcBef>
                        <a:spcAft>
                          <a:spcPts val="0"/>
                        </a:spcAft>
                      </a:pPr>
                      <a:r>
                        <a:rPr sz="1300" b="0">
                          <a:solidFill>
                            <a:srgbClr val="1F1F1F"/>
                          </a:solidFill>
                          <a:latin typeface="Calibri"/>
                        </a:rPr>
                        <a:t>substituição por outra</a:t>
                      </a:r>
                    </a:p>
                    <a:p>
                      <a:pPr algn="l">
                        <a:lnSpc>
                          <a:spcPct val="100000"/>
                        </a:lnSpc>
                        <a:spcBef>
                          <a:spcPts val="0"/>
                        </a:spcBef>
                        <a:spcAft>
                          <a:spcPts val="0"/>
                        </a:spcAft>
                      </a:pPr>
                      <a:r>
                        <a:rPr sz="1300" b="0">
                          <a:solidFill>
                            <a:srgbClr val="1F1F1F"/>
                          </a:solidFill>
                          <a:latin typeface="Calibri"/>
                        </a:rPr>
                        <a:t>instituição, de acordo</a:t>
                      </a:r>
                    </a:p>
                    <a:p>
                      <a:pPr algn="l">
                        <a:lnSpc>
                          <a:spcPct val="100000"/>
                        </a:lnSpc>
                        <a:spcBef>
                          <a:spcPts val="0"/>
                        </a:spcBef>
                        <a:spcAft>
                          <a:spcPts val="0"/>
                        </a:spcAft>
                      </a:pPr>
                      <a:r>
                        <a:rPr sz="1300" b="0">
                          <a:solidFill>
                            <a:srgbClr val="1F1F1F"/>
                          </a:solidFill>
                          <a:latin typeface="Calibri"/>
                        </a:rPr>
                        <a:t>com os procedimentos</a:t>
                      </a:r>
                    </a:p>
                    <a:p>
                      <a:pPr algn="l">
                        <a:lnSpc>
                          <a:spcPct val="100000"/>
                        </a:lnSpc>
                        <a:spcBef>
                          <a:spcPts val="0"/>
                        </a:spcBef>
                        <a:spcAft>
                          <a:spcPts val="0"/>
                        </a:spcAft>
                      </a:pPr>
                      <a:r>
                        <a:rPr sz="1300" b="0">
                          <a:solidFill>
                            <a:srgbClr val="1F1F1F"/>
                          </a:solidFill>
                          <a:latin typeface="Calibri"/>
                        </a:rPr>
                        <a:t>estabelecidos neste</a:t>
                      </a:r>
                    </a:p>
                    <a:p>
                      <a:pPr algn="l">
                        <a:lnSpc>
                          <a:spcPct val="100000"/>
                        </a:lnSpc>
                        <a:spcBef>
                          <a:spcPts val="0"/>
                        </a:spcBef>
                        <a:spcAft>
                          <a:spcPts val="0"/>
                        </a:spcAft>
                      </a:pPr>
                      <a:r>
                        <a:rPr sz="1300" b="0">
                          <a:solidFill>
                            <a:srgbClr val="1F1F1F"/>
                          </a:solidFill>
                          <a:latin typeface="Calibri"/>
                        </a:rPr>
                        <a:t>Regulamento; (vi) em</a:t>
                      </a:r>
                    </a:p>
                    <a:p>
                      <a:pPr algn="l">
                        <a:lnSpc>
                          <a:spcPct val="100000"/>
                        </a:lnSpc>
                        <a:spcBef>
                          <a:spcPts val="0"/>
                        </a:spcBef>
                        <a:spcAft>
                          <a:spcPts val="0"/>
                        </a:spcAft>
                      </a:pPr>
                      <a:r>
                        <a:rPr sz="1300" b="0">
                          <a:solidFill>
                            <a:srgbClr val="1F1F1F"/>
                          </a:solidFill>
                          <a:latin typeface="Calibri"/>
                        </a:rPr>
                        <a:t>caso de regime de</a:t>
                      </a:r>
                    </a:p>
                    <a:p>
                      <a:pPr algn="l">
                        <a:lnSpc>
                          <a:spcPct val="100000"/>
                        </a:lnSpc>
                        <a:spcBef>
                          <a:spcPts val="0"/>
                        </a:spcBef>
                        <a:spcAft>
                          <a:spcPts val="0"/>
                        </a:spcAft>
                      </a:pPr>
                      <a:r>
                        <a:rPr sz="1300" b="0">
                          <a:solidFill>
                            <a:srgbClr val="1F1F1F"/>
                          </a:solidFill>
                          <a:latin typeface="Calibri"/>
                        </a:rPr>
                        <a:t>administração especial</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Extração pendente</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Evento de avaliação ou</a:t>
                      </a:r>
                    </a:p>
                    <a:p>
                      <a:pPr algn="l">
                        <a:lnSpc>
                          <a:spcPct val="100000"/>
                        </a:lnSpc>
                        <a:spcBef>
                          <a:spcPts val="0"/>
                        </a:spcBef>
                        <a:spcAft>
                          <a:spcPts val="0"/>
                        </a:spcAft>
                      </a:pPr>
                      <a:r>
                        <a:rPr sz="1300" b="0">
                          <a:solidFill>
                            <a:srgbClr val="1F1F1F"/>
                          </a:solidFill>
                          <a:latin typeface="Calibri"/>
                        </a:rPr>
                        <a:t>liquidação: (xii)</a:t>
                      </a:r>
                    </a:p>
                    <a:p>
                      <a:pPr algn="l">
                        <a:lnSpc>
                          <a:spcPct val="100000"/>
                        </a:lnSpc>
                        <a:spcBef>
                          <a:spcPts val="0"/>
                        </a:spcBef>
                        <a:spcAft>
                          <a:spcPts val="0"/>
                        </a:spcAft>
                      </a:pPr>
                      <a:r>
                        <a:rPr sz="1300" b="0">
                          <a:solidFill>
                            <a:srgbClr val="1F1F1F"/>
                          </a:solidFill>
                          <a:latin typeface="Calibri"/>
                        </a:rPr>
                        <a:t>deliberar sobre o plano</a:t>
                      </a:r>
                    </a:p>
                    <a:p>
                      <a:pPr algn="l">
                        <a:lnSpc>
                          <a:spcPct val="100000"/>
                        </a:lnSpc>
                        <a:spcBef>
                          <a:spcPts val="0"/>
                        </a:spcBef>
                        <a:spcAft>
                          <a:spcPts val="0"/>
                        </a:spcAft>
                      </a:pPr>
                      <a:r>
                        <a:rPr sz="1300" b="0">
                          <a:solidFill>
                            <a:srgbClr val="1F1F1F"/>
                          </a:solidFill>
                          <a:latin typeface="Calibri"/>
                        </a:rPr>
                        <a:t>de resolução do</a:t>
                      </a:r>
                    </a:p>
                    <a:p>
                      <a:pPr algn="l">
                        <a:lnSpc>
                          <a:spcPct val="100000"/>
                        </a:lnSpc>
                        <a:spcBef>
                          <a:spcPts val="0"/>
                        </a:spcBef>
                        <a:spcAft>
                          <a:spcPts val="0"/>
                        </a:spcAft>
                      </a:pPr>
                      <a:r>
                        <a:rPr sz="1300" b="0">
                          <a:solidFill>
                            <a:srgbClr val="1F1F1F"/>
                          </a:solidFill>
                          <a:latin typeface="Calibri"/>
                        </a:rPr>
                        <a:t>Patrimônio Líquido</a:t>
                      </a:r>
                    </a:p>
                    <a:p>
                      <a:pPr algn="l">
                        <a:lnSpc>
                          <a:spcPct val="100000"/>
                        </a:lnSpc>
                        <a:spcBef>
                          <a:spcPts val="0"/>
                        </a:spcBef>
                        <a:spcAft>
                          <a:spcPts val="0"/>
                        </a:spcAft>
                      </a:pPr>
                      <a:r>
                        <a:rPr sz="1300" b="0">
                          <a:solidFill>
                            <a:srgbClr val="1F1F1F"/>
                          </a:solidFill>
                          <a:latin typeface="Calibri"/>
                        </a:rPr>
                        <a:t>Maioria do total das</a:t>
                      </a:r>
                    </a:p>
                    <a:p>
                      <a:pPr algn="l">
                        <a:lnSpc>
                          <a:spcPct val="100000"/>
                        </a:lnSpc>
                        <a:spcBef>
                          <a:spcPts val="0"/>
                        </a:spcBef>
                        <a:spcAft>
                          <a:spcPts val="0"/>
                        </a:spcAft>
                      </a:pPr>
                      <a:r>
                        <a:rPr sz="1300" b="0">
                          <a:solidFill>
                            <a:srgbClr val="1F1F1F"/>
                          </a:solidFill>
                          <a:latin typeface="Calibri"/>
                        </a:rPr>
                        <a:t>Cotas emitidas negativo</a:t>
                      </a:r>
                    </a:p>
                    <a:p>
                      <a:pPr algn="l">
                        <a:lnSpc>
                          <a:spcPct val="100000"/>
                        </a:lnSpc>
                        <a:spcBef>
                          <a:spcPts val="0"/>
                        </a:spcBef>
                        <a:spcAft>
                          <a:spcPts val="0"/>
                        </a:spcAft>
                      </a:pPr>
                      <a:r>
                        <a:rPr sz="1300" b="0">
                          <a:solidFill>
                            <a:srgbClr val="1F1F1F"/>
                          </a:solidFill>
                          <a:latin typeface="Calibri"/>
                        </a:rPr>
                        <a:t>da Classe, nos termos</a:t>
                      </a:r>
                    </a:p>
                    <a:p>
                      <a:pPr algn="l">
                        <a:lnSpc>
                          <a:spcPct val="100000"/>
                        </a:lnSpc>
                        <a:spcBef>
                          <a:spcPts val="0"/>
                        </a:spcBef>
                        <a:spcAft>
                          <a:spcPts val="0"/>
                        </a:spcAft>
                      </a:pPr>
                      <a:r>
                        <a:rPr sz="1300" b="0">
                          <a:solidFill>
                            <a:srgbClr val="1F1F1F"/>
                          </a:solidFill>
                          <a:latin typeface="Calibri"/>
                        </a:rPr>
                        <a:t>da Resolução CVM 175; e</a:t>
                      </a:r>
                    </a:p>
                    <a:p>
                      <a:pPr algn="l">
                        <a:lnSpc>
                          <a:spcPct val="100000"/>
                        </a:lnSpc>
                        <a:spcBef>
                          <a:spcPts val="0"/>
                        </a:spcBef>
                        <a:spcAft>
                          <a:spcPts val="0"/>
                        </a:spcAft>
                      </a:pPr>
                      <a:r>
                        <a:rPr sz="1300" b="0">
                          <a:solidFill>
                            <a:srgbClr val="1F1F1F"/>
                          </a:solidFill>
                          <a:latin typeface="Calibri"/>
                        </a:rPr>
                        <a:t>(xiii) deliberar sobre</a:t>
                      </a:r>
                    </a:p>
                    <a:p>
                      <a:pPr algn="l">
                        <a:lnSpc>
                          <a:spcPct val="100000"/>
                        </a:lnSpc>
                        <a:spcBef>
                          <a:spcPts val="0"/>
                        </a:spcBef>
                        <a:spcAft>
                          <a:spcPts val="0"/>
                        </a:spcAft>
                      </a:pPr>
                      <a:r>
                        <a:rPr sz="1300" b="0">
                          <a:solidFill>
                            <a:srgbClr val="1F1F1F"/>
                          </a:solidFill>
                          <a:latin typeface="Calibri"/>
                        </a:rPr>
                        <a:t>o pedido de declaração</a:t>
                      </a:r>
                    </a:p>
                    <a:p>
                      <a:pPr algn="l">
                        <a:lnSpc>
                          <a:spcPct val="100000"/>
                        </a:lnSpc>
                        <a:spcBef>
                          <a:spcPts val="0"/>
                        </a:spcBef>
                        <a:spcAft>
                          <a:spcPts val="0"/>
                        </a:spcAft>
                      </a:pPr>
                      <a:r>
                        <a:rPr sz="1300" b="0">
                          <a:solidFill>
                            <a:srgbClr val="1F1F1F"/>
                          </a:solidFill>
                          <a:latin typeface="Calibri"/>
                        </a:rPr>
                        <a:t>judicial de 90%</a:t>
                      </a:r>
                    </a:p>
                    <a:p>
                      <a:pPr algn="l">
                        <a:lnSpc>
                          <a:spcPct val="100000"/>
                        </a:lnSpc>
                        <a:spcBef>
                          <a:spcPts val="0"/>
                        </a:spcBef>
                        <a:spcAft>
                          <a:spcPts val="0"/>
                        </a:spcAft>
                      </a:pPr>
                      <a:r>
                        <a:rPr sz="1300" b="0">
                          <a:solidFill>
                            <a:srgbClr val="1F1F1F"/>
                          </a:solidFill>
                          <a:latin typeface="Calibri"/>
                        </a:rPr>
                        <a:t>(noventa por cento) do</a:t>
                      </a:r>
                    </a:p>
                    <a:p>
                      <a:pPr algn="l">
                        <a:lnSpc>
                          <a:spcPct val="100000"/>
                        </a:lnSpc>
                        <a:spcBef>
                          <a:spcPts val="0"/>
                        </a:spcBef>
                        <a:spcAft>
                          <a:spcPts val="0"/>
                        </a:spcAft>
                      </a:pPr>
                      <a:r>
                        <a:rPr sz="1300" b="0">
                          <a:solidFill>
                            <a:srgbClr val="1F1F1F"/>
                          </a:solidFill>
                          <a:latin typeface="Calibri"/>
                        </a:rPr>
                        <a:t>total das Cotas</a:t>
                      </a:r>
                    </a:p>
                    <a:p>
                      <a:pPr algn="l">
                        <a:lnSpc>
                          <a:spcPct val="100000"/>
                        </a:lnSpc>
                        <a:spcBef>
                          <a:spcPts val="0"/>
                        </a:spcBef>
                        <a:spcAft>
                          <a:spcPts val="0"/>
                        </a:spcAft>
                      </a:pPr>
                      <a:r>
                        <a:rPr sz="1300" b="0">
                          <a:solidFill>
                            <a:srgbClr val="1F1F1F"/>
                          </a:solidFill>
                          <a:latin typeface="Calibri"/>
                        </a:rPr>
                        <a:t>insolvência da Classe.</a:t>
                      </a:r>
                    </a:p>
                    <a:p>
                      <a:pPr algn="l">
                        <a:lnSpc>
                          <a:spcPct val="100000"/>
                        </a:lnSpc>
                        <a:spcBef>
                          <a:spcPts val="0"/>
                        </a:spcBef>
                        <a:spcAft>
                          <a:spcPts val="0"/>
                        </a:spcAft>
                      </a:pPr>
                      <a:r>
                        <a:rPr sz="1300" b="0">
                          <a:solidFill>
                            <a:srgbClr val="1F1F1F"/>
                          </a:solidFill>
                          <a:latin typeface="Calibri"/>
                        </a:rPr>
                        <a:t>emitidas</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51/160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Eventos e cura</a:t>
            </a:r>
          </a:p>
        </p:txBody>
      </p:sp>
      <p:graphicFrame>
        <p:nvGraphicFramePr>
          <p:cNvPr id="3" name="Table 2"/>
          <p:cNvGraphicFramePr>
            <a:graphicFrameLocks noGrp="1"/>
          </p:cNvGraphicFramePr>
          <p:nvPr/>
        </p:nvGraphicFramePr>
        <p:xfrm>
          <a:off x="438912" y="932688"/>
          <a:ext cx="11313868" cy="5253228"/>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4782312">
                <a:tc>
                  <a:txBody>
                    <a:bodyPr wrap="square">
                      <a:noAutofit/>
                    </a:bodyPr>
                    <a:lstStyle/>
                    <a:p>
                      <a:pPr algn="l">
                        <a:lnSpc>
                          <a:spcPct val="100000"/>
                        </a:lnSpc>
                        <a:spcBef>
                          <a:spcPts val="0"/>
                        </a:spcBef>
                        <a:spcAft>
                          <a:spcPts val="0"/>
                        </a:spcAft>
                      </a:pPr>
                      <a:r>
                        <a:rPr sz="1300" b="1">
                          <a:solidFill>
                            <a:srgbClr val="1F1F1F"/>
                          </a:solidFill>
                          <a:latin typeface="Calibri"/>
                        </a:rPr>
                        <a:t>Gatilhos de avaliação e</a:t>
                      </a:r>
                    </a:p>
                    <a:p>
                      <a:pPr algn="l">
                        <a:lnSpc>
                          <a:spcPct val="100000"/>
                        </a:lnSpc>
                        <a:spcBef>
                          <a:spcPts val="0"/>
                        </a:spcBef>
                        <a:spcAft>
                          <a:spcPts val="0"/>
                        </a:spcAft>
                      </a:pPr>
                      <a:r>
                        <a:rPr sz="1300" b="1">
                          <a:solidFill>
                            <a:srgbClr val="1F1F1F"/>
                          </a:solidFill>
                          <a:latin typeface="Calibri"/>
                        </a:rPr>
                        <a:t>liquidação (continuação)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temporária - RAET,</a:t>
                      </a:r>
                    </a:p>
                    <a:p>
                      <a:pPr algn="l">
                        <a:lnSpc>
                          <a:spcPct val="100000"/>
                        </a:lnSpc>
                        <a:spcBef>
                          <a:spcPts val="0"/>
                        </a:spcBef>
                        <a:spcAft>
                          <a:spcPts val="0"/>
                        </a:spcAft>
                      </a:pPr>
                      <a:r>
                        <a:rPr sz="1300" b="0">
                          <a:solidFill>
                            <a:srgbClr val="1F1F1F"/>
                          </a:solidFill>
                          <a:latin typeface="Calibri"/>
                        </a:rPr>
                        <a:t>intervenção ou</a:t>
                      </a:r>
                    </a:p>
                    <a:p>
                      <a:pPr algn="l">
                        <a:lnSpc>
                          <a:spcPct val="100000"/>
                        </a:lnSpc>
                        <a:spcBef>
                          <a:spcPts val="0"/>
                        </a:spcBef>
                        <a:spcAft>
                          <a:spcPts val="0"/>
                        </a:spcAft>
                      </a:pPr>
                      <a:r>
                        <a:rPr sz="1300" b="0">
                          <a:solidFill>
                            <a:srgbClr val="1F1F1F"/>
                          </a:solidFill>
                          <a:latin typeface="Calibri"/>
                        </a:rPr>
                        <a:t>liquidação</a:t>
                      </a:r>
                    </a:p>
                    <a:p>
                      <a:pPr algn="l">
                        <a:lnSpc>
                          <a:spcPct val="100000"/>
                        </a:lnSpc>
                        <a:spcBef>
                          <a:spcPts val="0"/>
                        </a:spcBef>
                        <a:spcAft>
                          <a:spcPts val="0"/>
                        </a:spcAft>
                      </a:pPr>
                      <a:r>
                        <a:rPr sz="1300" b="0">
                          <a:solidFill>
                            <a:srgbClr val="1F1F1F"/>
                          </a:solidFill>
                          <a:latin typeface="Calibri"/>
                        </a:rPr>
                        <a:t>extrajudicial, conforme</a:t>
                      </a:r>
                    </a:p>
                    <a:p>
                      <a:pPr algn="l">
                        <a:lnSpc>
                          <a:spcPct val="100000"/>
                        </a:lnSpc>
                        <a:spcBef>
                          <a:spcPts val="0"/>
                        </a:spcBef>
                        <a:spcAft>
                          <a:spcPts val="0"/>
                        </a:spcAft>
                      </a:pPr>
                      <a:r>
                        <a:rPr sz="1300" b="0">
                          <a:solidFill>
                            <a:srgbClr val="1F1F1F"/>
                          </a:solidFill>
                          <a:latin typeface="Calibri"/>
                        </a:rPr>
                        <a:t>aplicável, do</a:t>
                      </a:r>
                    </a:p>
                    <a:p>
                      <a:pPr algn="l">
                        <a:lnSpc>
                          <a:spcPct val="100000"/>
                        </a:lnSpc>
                        <a:spcBef>
                          <a:spcPts val="0"/>
                        </a:spcBef>
                        <a:spcAft>
                          <a:spcPts val="0"/>
                        </a:spcAft>
                      </a:pPr>
                      <a:r>
                        <a:rPr sz="1300" b="0">
                          <a:solidFill>
                            <a:srgbClr val="1F1F1F"/>
                          </a:solidFill>
                          <a:latin typeface="Calibri"/>
                        </a:rPr>
                        <a:t>Custodiante,</a:t>
                      </a:r>
                    </a:p>
                    <a:p>
                      <a:pPr algn="l">
                        <a:lnSpc>
                          <a:spcPct val="100000"/>
                        </a:lnSpc>
                        <a:spcBef>
                          <a:spcPts val="0"/>
                        </a:spcBef>
                        <a:spcAft>
                          <a:spcPts val="0"/>
                        </a:spcAft>
                      </a:pPr>
                      <a:r>
                        <a:rPr sz="1300" b="0">
                          <a:solidFill>
                            <a:srgbClr val="1F1F1F"/>
                          </a:solidFill>
                          <a:latin typeface="Calibri"/>
                        </a:rPr>
                        <a:t>Administrador, ou</a:t>
                      </a:r>
                    </a:p>
                    <a:p>
                      <a:pPr algn="l">
                        <a:lnSpc>
                          <a:spcPct val="100000"/>
                        </a:lnSpc>
                        <a:spcBef>
                          <a:spcPts val="0"/>
                        </a:spcBef>
                        <a:spcAft>
                          <a:spcPts val="0"/>
                        </a:spcAft>
                      </a:pPr>
                      <a:r>
                        <a:rPr sz="1300" b="0">
                          <a:solidFill>
                            <a:srgbClr val="1F1F1F"/>
                          </a:solidFill>
                          <a:latin typeface="Calibri"/>
                        </a:rPr>
                        <a:t>Gestor, sem a sua ef</a:t>
                      </a:r>
                    </a:p>
                    <a:p>
                      <a:pPr algn="l">
                        <a:lnSpc>
                          <a:spcPct val="100000"/>
                        </a:lnSpc>
                        <a:spcBef>
                          <a:spcPts val="0"/>
                        </a:spcBef>
                        <a:spcAft>
                          <a:spcPts val="0"/>
                        </a:spcAft>
                      </a:pPr>
                      <a:r>
                        <a:rPr sz="1300" b="0">
                          <a:solidFill>
                            <a:srgbClr val="1F1F1F"/>
                          </a:solidFill>
                          <a:latin typeface="Calibri"/>
                        </a:rPr>
                        <a:t>etiva substituição nos</a:t>
                      </a:r>
                    </a:p>
                    <a:p>
                      <a:pPr algn="l">
                        <a:lnSpc>
                          <a:spcPct val="100000"/>
                        </a:lnSpc>
                        <a:spcBef>
                          <a:spcPts val="0"/>
                        </a:spcBef>
                        <a:spcAft>
                          <a:spcPts val="0"/>
                        </a:spcAft>
                      </a:pPr>
                      <a:r>
                        <a:rPr sz="1300" b="0">
                          <a:solidFill>
                            <a:srgbClr val="1F1F1F"/>
                          </a:solidFill>
                          <a:latin typeface="Calibri"/>
                        </a:rPr>
                        <a:t>termos deste</a:t>
                      </a:r>
                    </a:p>
                    <a:p>
                      <a:pPr algn="l">
                        <a:lnSpc>
                          <a:spcPct val="100000"/>
                        </a:lnSpc>
                        <a:spcBef>
                          <a:spcPts val="0"/>
                        </a:spcBef>
                        <a:spcAft>
                          <a:spcPts val="0"/>
                        </a:spcAft>
                      </a:pPr>
                      <a:r>
                        <a:rPr sz="1300" b="0">
                          <a:solidFill>
                            <a:srgbClr val="1F1F1F"/>
                          </a:solidFill>
                          <a:latin typeface="Calibri"/>
                        </a:rPr>
                        <a:t>Regulamento;</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Evento de avaliação ou</a:t>
                      </a:r>
                    </a:p>
                    <a:p>
                      <a:pPr algn="l">
                        <a:lnSpc>
                          <a:spcPct val="100000"/>
                        </a:lnSpc>
                        <a:spcBef>
                          <a:spcPts val="0"/>
                        </a:spcBef>
                        <a:spcAft>
                          <a:spcPts val="0"/>
                        </a:spcAft>
                      </a:pPr>
                      <a:r>
                        <a:rPr sz="1300" b="0">
                          <a:solidFill>
                            <a:srgbClr val="1F1F1F"/>
                          </a:solidFill>
                          <a:latin typeface="Calibri"/>
                        </a:rPr>
                        <a:t>liquidação: (c) f raude</a:t>
                      </a:r>
                    </a:p>
                    <a:p>
                      <a:pPr algn="l">
                        <a:lnSpc>
                          <a:spcPct val="100000"/>
                        </a:lnSpc>
                        <a:spcBef>
                          <a:spcPts val="0"/>
                        </a:spcBef>
                        <a:spcAft>
                          <a:spcPts val="0"/>
                        </a:spcAft>
                      </a:pPr>
                      <a:r>
                        <a:rPr sz="1300" b="0">
                          <a:solidFill>
                            <a:srgbClr val="1F1F1F"/>
                          </a:solidFill>
                          <a:latin typeface="Calibri"/>
                        </a:rPr>
                        <a:t>à execução f iscal, se</a:t>
                      </a:r>
                    </a:p>
                    <a:p>
                      <a:pPr algn="l">
                        <a:lnSpc>
                          <a:spcPct val="100000"/>
                        </a:lnSpc>
                        <a:spcBef>
                          <a:spcPts val="0"/>
                        </a:spcBef>
                        <a:spcAft>
                          <a:spcPts val="0"/>
                        </a:spcAft>
                      </a:pPr>
                      <a:r>
                        <a:rPr sz="1300" b="0">
                          <a:solidFill>
                            <a:srgbClr val="1F1F1F"/>
                          </a:solidFill>
                          <a:latin typeface="Calibri"/>
                        </a:rPr>
                        <a:t>o Endossante, ao</a:t>
                      </a:r>
                    </a:p>
                    <a:p>
                      <a:pPr algn="l">
                        <a:lnSpc>
                          <a:spcPct val="100000"/>
                        </a:lnSpc>
                        <a:spcBef>
                          <a:spcPts val="0"/>
                        </a:spcBef>
                        <a:spcAft>
                          <a:spcPts val="0"/>
                        </a:spcAft>
                      </a:pPr>
                      <a:r>
                        <a:rPr sz="1300" b="0">
                          <a:solidFill>
                            <a:srgbClr val="1F1F1F"/>
                          </a:solidFill>
                          <a:latin typeface="Calibri"/>
                        </a:rPr>
                        <a:t>celebrar o endosso de</a:t>
                      </a:r>
                    </a:p>
                    <a:p>
                      <a:pPr algn="l">
                        <a:lnSpc>
                          <a:spcPct val="100000"/>
                        </a:lnSpc>
                        <a:spcBef>
                          <a:spcPts val="0"/>
                        </a:spcBef>
                        <a:spcAft>
                          <a:spcPts val="0"/>
                        </a:spcAft>
                      </a:pPr>
                      <a:r>
                        <a:rPr sz="1300" b="0">
                          <a:solidFill>
                            <a:srgbClr val="1F1F1F"/>
                          </a:solidFill>
                          <a:latin typeface="Calibri"/>
                        </a:rPr>
                        <a:t>crédito, como</a:t>
                      </a:r>
                    </a:p>
                    <a:p>
                      <a:pPr algn="l">
                        <a:lnSpc>
                          <a:spcPct val="100000"/>
                        </a:lnSpc>
                        <a:spcBef>
                          <a:spcPts val="0"/>
                        </a:spcBef>
                        <a:spcAft>
                          <a:spcPts val="0"/>
                        </a:spcAft>
                      </a:pPr>
                      <a:r>
                        <a:rPr sz="1300" b="0">
                          <a:solidFill>
                            <a:srgbClr val="1F1F1F"/>
                          </a:solidFill>
                          <a:latin typeface="Calibri"/>
                        </a:rPr>
                        <a:t>contribuinte por débito</a:t>
                      </a:r>
                    </a:p>
                    <a:p>
                      <a:pPr algn="l">
                        <a:lnSpc>
                          <a:spcPct val="100000"/>
                        </a:lnSpc>
                        <a:spcBef>
                          <a:spcPts val="0"/>
                        </a:spcBef>
                        <a:spcAft>
                          <a:spcPts val="0"/>
                        </a:spcAft>
                      </a:pPr>
                      <a:r>
                        <a:rPr sz="1300" b="0">
                          <a:solidFill>
                            <a:srgbClr val="1F1F1F"/>
                          </a:solidFill>
                          <a:latin typeface="Calibri"/>
                        </a:rPr>
                        <a:t>à Fazenda Pública, e</a:t>
                      </a:r>
                    </a:p>
                    <a:p>
                      <a:pPr algn="l">
                        <a:lnSpc>
                          <a:spcPct val="100000"/>
                        </a:lnSpc>
                        <a:spcBef>
                          <a:spcPts val="0"/>
                        </a:spcBef>
                        <a:spcAft>
                          <a:spcPts val="0"/>
                        </a:spcAft>
                      </a:pPr>
                      <a:r>
                        <a:rPr sz="1300" b="0">
                          <a:solidFill>
                            <a:srgbClr val="1F1F1F"/>
                          </a:solidFill>
                          <a:latin typeface="Calibri"/>
                        </a:rPr>
                        <a:t>crédito f iscal</a:t>
                      </a:r>
                    </a:p>
                    <a:p>
                      <a:pPr algn="l">
                        <a:lnSpc>
                          <a:spcPct val="100000"/>
                        </a:lnSpc>
                        <a:spcBef>
                          <a:spcPts val="0"/>
                        </a:spcBef>
                        <a:spcAft>
                          <a:spcPts val="0"/>
                        </a:spcAft>
                      </a:pPr>
                      <a:r>
                        <a:rPr sz="1300" b="0">
                          <a:solidFill>
                            <a:srgbClr val="1F1F1F"/>
                          </a:solidFill>
                          <a:latin typeface="Calibri"/>
                        </a:rPr>
                        <a:t>regularmente inscrito</a:t>
                      </a:r>
                    </a:p>
                    <a:p>
                      <a:pPr algn="l">
                        <a:lnSpc>
                          <a:spcPct val="100000"/>
                        </a:lnSpc>
                        <a:spcBef>
                          <a:spcPts val="0"/>
                        </a:spcBef>
                        <a:spcAft>
                          <a:spcPts val="0"/>
                        </a:spcAft>
                      </a:pPr>
                      <a:r>
                        <a:rPr sz="1300" b="0">
                          <a:solidFill>
                            <a:srgbClr val="1F1F1F"/>
                          </a:solidFill>
                          <a:latin typeface="Calibri"/>
                        </a:rPr>
                        <a:t>na dívida ativa, não</a:t>
                      </a:r>
                    </a:p>
                    <a:p>
                      <a:pPr algn="l">
                        <a:lnSpc>
                          <a:spcPct val="100000"/>
                        </a:lnSpc>
                        <a:spcBef>
                          <a:spcPts val="0"/>
                        </a:spcBef>
                        <a:spcAft>
                          <a:spcPts val="0"/>
                        </a:spcAft>
                      </a:pPr>
                      <a:r>
                        <a:rPr sz="1300" b="0">
                          <a:solidFill>
                            <a:srgbClr val="1F1F1F"/>
                          </a:solidFill>
                          <a:latin typeface="Calibri"/>
                        </a:rPr>
                        <a:t>tiver ativos para</a:t>
                      </a:r>
                    </a:p>
                    <a:p>
                      <a:pPr algn="l">
                        <a:lnSpc>
                          <a:spcPct val="100000"/>
                        </a:lnSpc>
                        <a:spcBef>
                          <a:spcPts val="0"/>
                        </a:spcBef>
                        <a:spcAft>
                          <a:spcPts val="0"/>
                        </a:spcAft>
                      </a:pPr>
                      <a:r>
                        <a:rPr sz="1300" b="0">
                          <a:solidFill>
                            <a:srgbClr val="1F1F1F"/>
                          </a:solidFill>
                          <a:latin typeface="Calibri"/>
                        </a:rPr>
                        <a:t>pagamento total da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52/160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Eventos e cura</a:t>
            </a:r>
          </a:p>
        </p:txBody>
      </p:sp>
      <p:graphicFrame>
        <p:nvGraphicFramePr>
          <p:cNvPr id="3" name="Table 2"/>
          <p:cNvGraphicFramePr>
            <a:graphicFrameLocks noGrp="1"/>
          </p:cNvGraphicFramePr>
          <p:nvPr/>
        </p:nvGraphicFramePr>
        <p:xfrm>
          <a:off x="438912" y="932688"/>
          <a:ext cx="11313868" cy="3191255"/>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2720339">
                <a:tc>
                  <a:txBody>
                    <a:bodyPr wrap="square">
                      <a:noAutofit/>
                    </a:bodyPr>
                    <a:lstStyle/>
                    <a:p>
                      <a:pPr algn="l">
                        <a:lnSpc>
                          <a:spcPct val="100000"/>
                        </a:lnSpc>
                        <a:spcBef>
                          <a:spcPts val="0"/>
                        </a:spcBef>
                        <a:spcAft>
                          <a:spcPts val="0"/>
                        </a:spcAft>
                      </a:pPr>
                      <a:r>
                        <a:rPr sz="1300" b="1">
                          <a:solidFill>
                            <a:srgbClr val="1F1F1F"/>
                          </a:solidFill>
                          <a:latin typeface="Calibri"/>
                        </a:rPr>
                        <a:t>Gatilhos de avaliação e</a:t>
                      </a:r>
                    </a:p>
                    <a:p>
                      <a:pPr algn="l">
                        <a:lnSpc>
                          <a:spcPct val="100000"/>
                        </a:lnSpc>
                        <a:spcBef>
                          <a:spcPts val="0"/>
                        </a:spcBef>
                        <a:spcAft>
                          <a:spcPts val="0"/>
                        </a:spcAft>
                      </a:pPr>
                      <a:r>
                        <a:rPr sz="1300" b="1">
                          <a:solidFill>
                            <a:srgbClr val="1F1F1F"/>
                          </a:solidFill>
                          <a:latin typeface="Calibri"/>
                        </a:rPr>
                        <a:t>liquidação (continuação)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dívida f iscal.</a:t>
                      </a:r>
                    </a:p>
                    <a:p>
                      <a:pPr algn="l">
                        <a:lnSpc>
                          <a:spcPct val="100000"/>
                        </a:lnSpc>
                        <a:spcBef>
                          <a:spcPts val="0"/>
                        </a:spcBef>
                        <a:spcAft>
                          <a:spcPts val="0"/>
                        </a:spcAft>
                      </a:pPr>
                      <a:r>
                        <a:rPr sz="1300" b="0">
                          <a:solidFill>
                            <a:srgbClr val="1F1F1F"/>
                          </a:solidFill>
                          <a:latin typeface="Calibri"/>
                        </a:rPr>
                        <a:t>Entretanto, o</a:t>
                      </a:r>
                    </a:p>
                    <a:p>
                      <a:pPr algn="l">
                        <a:lnSpc>
                          <a:spcPct val="100000"/>
                        </a:lnSpc>
                        <a:spcBef>
                          <a:spcPts val="0"/>
                        </a:spcBef>
                        <a:spcAft>
                          <a:spcPts val="0"/>
                        </a:spcAft>
                      </a:pPr>
                      <a:r>
                        <a:rPr sz="1300" b="0">
                          <a:solidFill>
                            <a:srgbClr val="1F1F1F"/>
                          </a:solidFill>
                          <a:latin typeface="Calibri"/>
                        </a:rPr>
                        <a:t>Administrador, o</a:t>
                      </a:r>
                    </a:p>
                    <a:p>
                      <a:pPr algn="l">
                        <a:lnSpc>
                          <a:spcPct val="100000"/>
                        </a:lnSpc>
                        <a:spcBef>
                          <a:spcPts val="0"/>
                        </a:spcBef>
                        <a:spcAft>
                          <a:spcPts val="0"/>
                        </a:spcAft>
                      </a:pPr>
                      <a:r>
                        <a:rPr sz="1300" b="0">
                          <a:solidFill>
                            <a:srgbClr val="1F1F1F"/>
                          </a:solidFill>
                          <a:latin typeface="Calibri"/>
                        </a:rPr>
                        <a:t>Custodiante, o Gestor e</a:t>
                      </a:r>
                    </a:p>
                    <a:p>
                      <a:pPr algn="l">
                        <a:lnSpc>
                          <a:spcPct val="100000"/>
                        </a:lnSpc>
                        <a:spcBef>
                          <a:spcPts val="0"/>
                        </a:spcBef>
                        <a:spcAft>
                          <a:spcPts val="0"/>
                        </a:spcAft>
                      </a:pPr>
                      <a:r>
                        <a:rPr sz="1300" b="0">
                          <a:solidFill>
                            <a:srgbClr val="1F1F1F"/>
                          </a:solidFill>
                          <a:latin typeface="Calibri"/>
                        </a:rPr>
                        <a:t>o Agente de Retenção/</a:t>
                      </a:r>
                    </a:p>
                    <a:p>
                      <a:pPr algn="l">
                        <a:lnSpc>
                          <a:spcPct val="100000"/>
                        </a:lnSpc>
                        <a:spcBef>
                          <a:spcPts val="0"/>
                        </a:spcBef>
                        <a:spcAft>
                          <a:spcPts val="0"/>
                        </a:spcAft>
                      </a:pPr>
                      <a:r>
                        <a:rPr sz="1300" b="0">
                          <a:solidFill>
                            <a:srgbClr val="1F1F1F"/>
                          </a:solidFill>
                          <a:latin typeface="Calibri"/>
                        </a:rPr>
                        <a:t>Cobrança não verif</a:t>
                      </a:r>
                    </a:p>
                    <a:p>
                      <a:pPr algn="l">
                        <a:lnSpc>
                          <a:spcPct val="100000"/>
                        </a:lnSpc>
                        <a:spcBef>
                          <a:spcPts val="0"/>
                        </a:spcBef>
                        <a:spcAft>
                          <a:spcPts val="0"/>
                        </a:spcAft>
                      </a:pPr>
                      <a:r>
                        <a:rPr sz="1300" b="0">
                          <a:solidFill>
                            <a:srgbClr val="1F1F1F"/>
                          </a:solidFill>
                          <a:latin typeface="Calibri"/>
                        </a:rPr>
                        <a:t>icarão os eventos acima</a:t>
                      </a:r>
                    </a:p>
                    <a:p>
                      <a:pPr algn="l">
                        <a:lnSpc>
                          <a:spcPct val="100000"/>
                        </a:lnSpc>
                        <a:spcBef>
                          <a:spcPts val="0"/>
                        </a:spcBef>
                        <a:spcAft>
                          <a:spcPts val="0"/>
                        </a:spcAft>
                      </a:pPr>
                      <a:r>
                        <a:rPr sz="1300" b="0">
                          <a:solidFill>
                            <a:srgbClr val="1F1F1F"/>
                          </a:solidFill>
                          <a:latin typeface="Calibri"/>
                        </a:rPr>
                        <a:t>no endosso de Direito</a:t>
                      </a:r>
                    </a:p>
                    <a:p>
                      <a:pPr algn="l">
                        <a:lnSpc>
                          <a:spcPct val="100000"/>
                        </a:lnSpc>
                        <a:spcBef>
                          <a:spcPts val="0"/>
                        </a:spcBef>
                        <a:spcAft>
                          <a:spcPts val="0"/>
                        </a:spcAft>
                      </a:pPr>
                      <a:r>
                        <a:rPr sz="1300" b="0">
                          <a:solidFill>
                            <a:srgbClr val="1F1F1F"/>
                          </a:solidFill>
                          <a:latin typeface="Calibri"/>
                        </a:rPr>
                        <a:t>Creditório e não serão</a:t>
                      </a:r>
                    </a:p>
                    <a:p>
                      <a:pPr algn="l">
                        <a:lnSpc>
                          <a:spcPct val="100000"/>
                        </a:lnSpc>
                        <a:spcBef>
                          <a:spcPts val="0"/>
                        </a:spcBef>
                        <a:spcAft>
                          <a:spcPts val="0"/>
                        </a:spcAft>
                      </a:pPr>
                      <a:r>
                        <a:rPr sz="1300" b="0">
                          <a:solidFill>
                            <a:srgbClr val="1F1F1F"/>
                          </a:solidFill>
                          <a:latin typeface="Calibri"/>
                        </a:rPr>
                        <a:t>responsabilizados em</a:t>
                      </a:r>
                    </a:p>
                    <a:p>
                      <a:pPr algn="l">
                        <a:lnSpc>
                          <a:spcPct val="100000"/>
                        </a:lnSpc>
                        <a:spcBef>
                          <a:spcPts val="0"/>
                        </a:spcBef>
                        <a:spcAft>
                          <a:spcPts val="0"/>
                        </a:spcAft>
                      </a:pPr>
                      <a:r>
                        <a:rPr sz="1300" b="0">
                          <a:solidFill>
                            <a:srgbClr val="1F1F1F"/>
                          </a:solidFill>
                          <a:latin typeface="Calibri"/>
                        </a:rPr>
                        <a:t>caso de invalidação ou</a:t>
                      </a:r>
                    </a:p>
                    <a:p>
                      <a:pPr algn="l">
                        <a:lnSpc>
                          <a:spcPct val="100000"/>
                        </a:lnSpc>
                        <a:spcBef>
                          <a:spcPts val="0"/>
                        </a:spcBef>
                        <a:spcAft>
                          <a:spcPts val="0"/>
                        </a:spcAft>
                      </a:pPr>
                      <a:r>
                        <a:rPr sz="1300" b="0">
                          <a:solidFill>
                            <a:srgbClr val="1F1F1F"/>
                          </a:solidFill>
                          <a:latin typeface="Calibri"/>
                        </a:rPr>
                        <a:t>inef icácia do endosso</a:t>
                      </a:r>
                    </a:p>
                    <a:p>
                      <a:pPr algn="l">
                        <a:lnSpc>
                          <a:spcPct val="100000"/>
                        </a:lnSpc>
                        <a:spcBef>
                          <a:spcPts val="0"/>
                        </a:spcBef>
                        <a:spcAft>
                          <a:spcPts val="0"/>
                        </a:spcAft>
                      </a:pPr>
                      <a:r>
                        <a:rPr sz="1300" b="0">
                          <a:solidFill>
                            <a:srgbClr val="1F1F1F"/>
                          </a:solidFill>
                          <a:latin typeface="Calibri"/>
                        </a:rPr>
                        <a:t>de um Direito</a:t>
                      </a:r>
                    </a:p>
                    <a:p>
                      <a:pPr algn="l">
                        <a:lnSpc>
                          <a:spcPct val="100000"/>
                        </a:lnSpc>
                        <a:spcBef>
                          <a:spcPts val="0"/>
                        </a:spcBef>
                        <a:spcAft>
                          <a:spcPts val="0"/>
                        </a:spcAft>
                      </a:pPr>
                      <a:r>
                        <a:rPr sz="1300" b="0">
                          <a:solidFill>
                            <a:srgbClr val="1F1F1F"/>
                          </a:solidFill>
                          <a:latin typeface="Calibri"/>
                        </a:rPr>
                        <a:t>Creditório à Classe.</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53/160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Eventos e cura</a:t>
            </a:r>
          </a:p>
        </p:txBody>
      </p:sp>
      <p:graphicFrame>
        <p:nvGraphicFramePr>
          <p:cNvPr id="3" name="Table 2"/>
          <p:cNvGraphicFramePr>
            <a:graphicFrameLocks noGrp="1"/>
          </p:cNvGraphicFramePr>
          <p:nvPr/>
        </p:nvGraphicFramePr>
        <p:xfrm>
          <a:off x="438912" y="932688"/>
          <a:ext cx="11313870" cy="3680458"/>
        </p:xfrm>
        <a:graphic>
          <a:graphicData uri="http://schemas.openxmlformats.org/drawingml/2006/table">
            <a:tbl>
              <a:tblPr>
                <a:tableStyleId>{5C22544A-7EE6-4342-B048-85BDC9FD1C3A}</a:tableStyleId>
              </a:tblPr>
              <a:tblGrid>
                <a:gridCol w="2331720"/>
                <a:gridCol w="4491075"/>
                <a:gridCol w="4491075"/>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V CDT 1 · 62552447000120</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Global CP · 63953620000165</a:t>
                      </a:r>
                    </a:p>
                  </a:txBody>
                  <a:tcPr marL="91440" marR="91440" marT="41148" marB="41148" anchor="ctr">
                    <a:solidFill>
                      <a:srgbClr val="F7F7F7"/>
                    </a:solidFill>
                    <a:lnL>
                      <a:noFill/>
                    </a:lnL>
                    <a:lnR>
                      <a:noFill/>
                    </a:lnR>
                    <a:lnT>
                      <a:noFill/>
                    </a:lnT>
                    <a:lnB w="6350">
                      <a:solidFill>
                        <a:srgbClr val="D9DEE5"/>
                      </a:solidFill>
                    </a:lnB>
                  </a:tcPr>
                </a:tc>
              </a:tr>
              <a:tr h="1220724">
                <a:tc>
                  <a:txBody>
                    <a:bodyPr wrap="square">
                      <a:noAutofit/>
                    </a:bodyPr>
                    <a:lstStyle/>
                    <a:p>
                      <a:pPr algn="l">
                        <a:lnSpc>
                          <a:spcPct val="100000"/>
                        </a:lnSpc>
                        <a:spcBef>
                          <a:spcPts val="0"/>
                        </a:spcBef>
                        <a:spcAft>
                          <a:spcPts val="0"/>
                        </a:spcAft>
                      </a:pPr>
                      <a:r>
                        <a:rPr sz="1300" b="1">
                          <a:solidFill>
                            <a:srgbClr val="1F1F1F"/>
                          </a:solidFill>
                          <a:latin typeface="Calibri"/>
                        </a:rPr>
                        <a:t>Eventos de avaliação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Inclui RAET/intervenção do endossante/agentes;</a:t>
                      </a:r>
                    </a:p>
                    <a:p>
                      <a:pPr algn="l">
                        <a:lnSpc>
                          <a:spcPct val="100000"/>
                        </a:lnSpc>
                        <a:spcBef>
                          <a:spcPts val="0"/>
                        </a:spcBef>
                        <a:spcAft>
                          <a:spcPts val="0"/>
                        </a:spcAft>
                      </a:pPr>
                      <a:r>
                        <a:rPr sz="1300" b="0">
                          <a:solidFill>
                            <a:srgbClr val="1F1F1F"/>
                          </a:solidFill>
                          <a:latin typeface="Calibri"/>
                        </a:rPr>
                        <a:t>não entrega de arquivos Dataprev/CEF/lastro;</a:t>
                      </a:r>
                    </a:p>
                    <a:p>
                      <a:pPr algn="l">
                        <a:lnSpc>
                          <a:spcPct val="100000"/>
                        </a:lnSpc>
                        <a:spcBef>
                          <a:spcPts val="0"/>
                        </a:spcBef>
                        <a:spcAft>
                          <a:spcPts val="0"/>
                        </a:spcAft>
                      </a:pPr>
                      <a:r>
                        <a:rPr sz="1300" b="0">
                          <a:solidFill>
                            <a:srgbClr val="1F1F1F"/>
                          </a:solidFill>
                          <a:latin typeface="Calibri"/>
                        </a:rPr>
                        <a:t>descumprimentos de agentes/prestadores e repasses</a:t>
                      </a:r>
                    </a:p>
                    <a:p>
                      <a:pPr algn="l">
                        <a:lnSpc>
                          <a:spcPct val="100000"/>
                        </a:lnSpc>
                        <a:spcBef>
                          <a:spcPts val="0"/>
                        </a:spcBef>
                        <a:spcAft>
                          <a:spcPts val="0"/>
                        </a:spcAft>
                      </a:pPr>
                      <a:r>
                        <a:rPr sz="1300" b="0">
                          <a:solidFill>
                            <a:srgbClr val="1F1F1F"/>
                          </a:solidFill>
                          <a:latin typeface="Calibri"/>
                        </a:rPr>
                        <a:t>não sanados/justificados em 5 DU da notificação;</a:t>
                      </a:r>
                    </a:p>
                    <a:p>
                      <a:pPr algn="l">
                        <a:lnSpc>
                          <a:spcPct val="100000"/>
                        </a:lnSpc>
                        <a:spcBef>
                          <a:spcPts val="0"/>
                        </a:spcBef>
                        <a:spcAft>
                          <a:spcPts val="0"/>
                        </a:spcAft>
                      </a:pPr>
                      <a:r>
                        <a:rPr sz="1300" b="0">
                          <a:solidFill>
                            <a:srgbClr val="1F1F1F"/>
                          </a:solidFill>
                          <a:latin typeface="Calibri"/>
                        </a:rPr>
                        <a:t>invalidade de contratos e perda de autorizações.</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RAET/intervenção do endossante; subordinação fora</a:t>
                      </a:r>
                    </a:p>
                    <a:p>
                      <a:pPr algn="l">
                        <a:lnSpc>
                          <a:spcPct val="100000"/>
                        </a:lnSpc>
                        <a:spcBef>
                          <a:spcPts val="0"/>
                        </a:spcBef>
                        <a:spcAft>
                          <a:spcPts val="0"/>
                        </a:spcAft>
                      </a:pPr>
                      <a:r>
                        <a:rPr sz="1300" b="0">
                          <a:solidFill>
                            <a:srgbClr val="1F1F1F"/>
                          </a:solidFill>
                          <a:latin typeface="Calibri"/>
                        </a:rPr>
                        <a:t>por 10 dias úteis; obrigações de</a:t>
                      </a:r>
                    </a:p>
                    <a:p>
                      <a:pPr algn="l">
                        <a:lnSpc>
                          <a:spcPct val="100000"/>
                        </a:lnSpc>
                        <a:spcBef>
                          <a:spcPts val="0"/>
                        </a:spcBef>
                        <a:spcAft>
                          <a:spcPts val="0"/>
                        </a:spcAft>
                      </a:pPr>
                      <a:r>
                        <a:rPr sz="1300" b="0">
                          <a:solidFill>
                            <a:srgbClr val="1F1F1F"/>
                          </a:solidFill>
                          <a:latin typeface="Calibri"/>
                        </a:rPr>
                        <a:t>endossante/prestadores por 10 dias úteis;</a:t>
                      </a:r>
                    </a:p>
                    <a:p>
                      <a:pPr algn="l">
                        <a:lnSpc>
                          <a:spcPct val="100000"/>
                        </a:lnSpc>
                        <a:spcBef>
                          <a:spcPts val="0"/>
                        </a:spcBef>
                        <a:spcAft>
                          <a:spcPts val="0"/>
                        </a:spcAft>
                      </a:pPr>
                      <a:r>
                        <a:rPr sz="1300" b="0">
                          <a:solidFill>
                            <a:srgbClr val="1F1F1F"/>
                          </a:solidFill>
                          <a:latin typeface="Calibri"/>
                        </a:rPr>
                        <a:t>arquivos Dataprev/lastro por 2 dias úteis. Também</a:t>
                      </a:r>
                    </a:p>
                    <a:p>
                      <a:pPr algn="l">
                        <a:lnSpc>
                          <a:spcPct val="100000"/>
                        </a:lnSpc>
                        <a:spcBef>
                          <a:spcPts val="0"/>
                        </a:spcBef>
                        <a:spcAft>
                          <a:spcPts val="0"/>
                        </a:spcAft>
                      </a:pPr>
                      <a:r>
                        <a:rPr sz="1300" b="0">
                          <a:solidFill>
                            <a:srgbClr val="1F1F1F"/>
                          </a:solidFill>
                          <a:latin typeface="Calibri"/>
                        </a:rPr>
                        <a:t>atraso sênior e eventos de cobrança/contratuais</a:t>
                      </a:r>
                    </a:p>
                    <a:p>
                      <a:pPr algn="l">
                        <a:lnSpc>
                          <a:spcPct val="100000"/>
                        </a:lnSpc>
                        <a:spcBef>
                          <a:spcPts val="0"/>
                        </a:spcBef>
                        <a:spcAft>
                          <a:spcPts val="0"/>
                        </a:spcAft>
                      </a:pPr>
                      <a:r>
                        <a:rPr sz="1300" b="0">
                          <a:solidFill>
                            <a:srgbClr val="1F1F1F"/>
                          </a:solidFill>
                          <a:latin typeface="Calibri"/>
                        </a:rPr>
                        <a:t>nas cláusulas seguintes.</a:t>
                      </a:r>
                    </a:p>
                  </a:txBody>
                  <a:tcPr marL="91440" marR="91440" marT="41148" marB="41148" anchor="ctr">
                    <a:solidFill>
                      <a:srgbClr val="FFFFFF"/>
                    </a:solidFill>
                    <a:lnL>
                      <a:noFill/>
                    </a:lnL>
                    <a:lnR>
                      <a:noFill/>
                    </a:lnR>
                    <a:lnT>
                      <a:noFill/>
                    </a:lnT>
                    <a:lnB>
                      <a:noFill/>
                    </a:lnB>
                  </a:tcPr>
                </a:tc>
              </a:tr>
              <a:tr h="1033271">
                <a:tc>
                  <a:txBody>
                    <a:bodyPr wrap="square">
                      <a:noAutofit/>
                    </a:bodyPr>
                    <a:lstStyle/>
                    <a:p>
                      <a:pPr algn="l">
                        <a:lnSpc>
                          <a:spcPct val="100000"/>
                        </a:lnSpc>
                        <a:spcBef>
                          <a:spcPts val="0"/>
                        </a:spcBef>
                        <a:spcAft>
                          <a:spcPts val="0"/>
                        </a:spcAft>
                      </a:pPr>
                      <a:r>
                        <a:rPr sz="1300" b="1">
                          <a:solidFill>
                            <a:srgbClr val="1F1F1F"/>
                          </a:solidFill>
                          <a:latin typeface="Calibri"/>
                        </a:rPr>
                        <a:t>Eventos de liquidação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PL diário&lt;R$ 1 milhão por 90 dias consecutivos</a:t>
                      </a:r>
                    </a:p>
                    <a:p>
                      <a:pPr algn="l">
                        <a:lnSpc>
                          <a:spcPct val="100000"/>
                        </a:lnSpc>
                        <a:spcBef>
                          <a:spcPts val="0"/>
                        </a:spcBef>
                        <a:spcAft>
                          <a:spcPts val="0"/>
                        </a:spcAft>
                      </a:pPr>
                      <a:r>
                        <a:rPr sz="1300" b="0">
                          <a:solidFill>
                            <a:srgbClr val="1F1F1F"/>
                          </a:solidFill>
                          <a:latin typeface="Calibri"/>
                        </a:rPr>
                        <a:t>após 90 dias iniciais; incapacidade de pagar</a:t>
                      </a:r>
                    </a:p>
                    <a:p>
                      <a:pPr algn="l">
                        <a:lnSpc>
                          <a:spcPct val="100000"/>
                        </a:lnSpc>
                        <a:spcBef>
                          <a:spcPts val="0"/>
                        </a:spcBef>
                        <a:spcAft>
                          <a:spcPts val="0"/>
                        </a:spcAft>
                      </a:pPr>
                      <a:r>
                        <a:rPr sz="1300" b="0">
                          <a:solidFill>
                            <a:srgbClr val="1F1F1F"/>
                          </a:solidFill>
                          <a:latin typeface="Calibri"/>
                        </a:rPr>
                        <a:t>encargos no vencimento; impossibilidade de</a:t>
                      </a:r>
                    </a:p>
                    <a:p>
                      <a:pPr algn="l">
                        <a:lnSpc>
                          <a:spcPct val="100000"/>
                        </a:lnSpc>
                        <a:spcBef>
                          <a:spcPts val="0"/>
                        </a:spcBef>
                        <a:spcAft>
                          <a:spcPts val="0"/>
                        </a:spcAft>
                      </a:pPr>
                      <a:r>
                        <a:rPr sz="1300" b="0">
                          <a:solidFill>
                            <a:srgbClr val="1F1F1F"/>
                          </a:solidFill>
                          <a:latin typeface="Calibri"/>
                        </a:rPr>
                        <a:t>adquirir créditos permitidos; prestadores sem</a:t>
                      </a:r>
                    </a:p>
                    <a:p>
                      <a:pPr algn="l">
                        <a:lnSpc>
                          <a:spcPct val="100000"/>
                        </a:lnSpc>
                        <a:spcBef>
                          <a:spcPts val="0"/>
                        </a:spcBef>
                        <a:spcAft>
                          <a:spcPts val="0"/>
                        </a:spcAft>
                      </a:pPr>
                      <a:r>
                        <a:rPr sz="1300" b="0">
                          <a:solidFill>
                            <a:srgbClr val="1F1F1F"/>
                          </a:solidFill>
                          <a:latin typeface="Calibri"/>
                        </a:rPr>
                        <a:t>substituto, decisão AGC ou CVM.</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PL diário &lt;R$ 1 milhão por 90 dias consecutivos</a:t>
                      </a:r>
                    </a:p>
                    <a:p>
                      <a:pPr algn="l">
                        <a:lnSpc>
                          <a:spcPct val="100000"/>
                        </a:lnSpc>
                        <a:spcBef>
                          <a:spcPts val="0"/>
                        </a:spcBef>
                        <a:spcAft>
                          <a:spcPts val="0"/>
                        </a:spcAft>
                      </a:pPr>
                      <a:r>
                        <a:rPr sz="1300" b="0">
                          <a:solidFill>
                            <a:srgbClr val="1F1F1F"/>
                          </a:solidFill>
                          <a:latin typeface="Calibri"/>
                        </a:rPr>
                        <a:t>após 90 dias iniciais; falta de liquidez para</a:t>
                      </a:r>
                    </a:p>
                    <a:p>
                      <a:pPr algn="l">
                        <a:lnSpc>
                          <a:spcPct val="100000"/>
                        </a:lnSpc>
                        <a:spcBef>
                          <a:spcPts val="0"/>
                        </a:spcBef>
                        <a:spcAft>
                          <a:spcPts val="0"/>
                        </a:spcAft>
                      </a:pPr>
                      <a:r>
                        <a:rPr sz="1300" b="0">
                          <a:solidFill>
                            <a:srgbClr val="1F1F1F"/>
                          </a:solidFill>
                          <a:latin typeface="Calibri"/>
                        </a:rPr>
                        <a:t>encargos; essenciais/custodiante sem substituto;</a:t>
                      </a:r>
                    </a:p>
                    <a:p>
                      <a:pPr algn="l">
                        <a:lnSpc>
                          <a:spcPct val="100000"/>
                        </a:lnSpc>
                        <a:spcBef>
                          <a:spcPts val="0"/>
                        </a:spcBef>
                        <a:spcAft>
                          <a:spcPts val="0"/>
                        </a:spcAft>
                      </a:pPr>
                      <a:r>
                        <a:rPr sz="1300" b="0">
                          <a:solidFill>
                            <a:srgbClr val="1F1F1F"/>
                          </a:solidFill>
                          <a:latin typeface="Calibri"/>
                        </a:rPr>
                        <a:t>decisão AGC/CVM/intervenção.</a:t>
                      </a:r>
                    </a:p>
                  </a:txBody>
                  <a:tcPr marL="91440" marR="91440" marT="41148" marB="41148" anchor="ctr">
                    <a:solidFill>
                      <a:srgbClr val="FFFFFF"/>
                    </a:solidFill>
                    <a:lnL>
                      <a:noFill/>
                    </a:lnL>
                    <a:lnR>
                      <a:noFill/>
                    </a:lnR>
                    <a:lnT>
                      <a:noFill/>
                    </a:lnT>
                    <a:lnB>
                      <a:noFill/>
                    </a:lnB>
                  </a:tcPr>
                </a:tc>
              </a:tr>
              <a:tr h="1033271">
                <a:tc>
                  <a:txBody>
                    <a:bodyPr wrap="square">
                      <a:noAutofit/>
                    </a:bodyPr>
                    <a:lstStyle/>
                    <a:p>
                      <a:pPr algn="l">
                        <a:lnSpc>
                          <a:spcPct val="100000"/>
                        </a:lnSpc>
                        <a:spcBef>
                          <a:spcPts val="0"/>
                        </a:spcBef>
                        <a:spcAft>
                          <a:spcPts val="0"/>
                        </a:spcAft>
                      </a:pPr>
                      <a:r>
                        <a:rPr sz="1300" b="1">
                          <a:solidFill>
                            <a:srgbClr val="1F1F1F"/>
                          </a:solidFill>
                          <a:latin typeface="Calibri"/>
                        </a:rPr>
                        <a:t>Prazos de cura e</a:t>
                      </a:r>
                    </a:p>
                    <a:p>
                      <a:pPr algn="l">
                        <a:lnSpc>
                          <a:spcPct val="100000"/>
                        </a:lnSpc>
                        <a:spcBef>
                          <a:spcPts val="0"/>
                        </a:spcBef>
                        <a:spcAft>
                          <a:spcPts val="0"/>
                        </a:spcAft>
                      </a:pPr>
                      <a:r>
                        <a:rPr sz="1300" b="1">
                          <a:solidFill>
                            <a:srgbClr val="1F1F1F"/>
                          </a:solidFill>
                          <a:latin typeface="Calibri"/>
                        </a:rPr>
                        <a:t>reincidência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Descumprimentos de endossante, agentes e</a:t>
                      </a:r>
                    </a:p>
                    <a:p>
                      <a:pPr algn="l">
                        <a:lnSpc>
                          <a:spcPct val="100000"/>
                        </a:lnSpc>
                        <a:spcBef>
                          <a:spcPts val="0"/>
                        </a:spcBef>
                        <a:spcAft>
                          <a:spcPts val="0"/>
                        </a:spcAft>
                      </a:pPr>
                      <a:r>
                        <a:rPr sz="1300" b="0">
                          <a:solidFill>
                            <a:srgbClr val="1F1F1F"/>
                          </a:solidFill>
                          <a:latin typeface="Calibri"/>
                        </a:rPr>
                        <a:t>prestadores: 5 DU da notificação. Falha</a:t>
                      </a:r>
                    </a:p>
                    <a:p>
                      <a:pPr algn="l">
                        <a:lnSpc>
                          <a:spcPct val="100000"/>
                        </a:lnSpc>
                        <a:spcBef>
                          <a:spcPts val="0"/>
                        </a:spcBef>
                        <a:spcAft>
                          <a:spcPts val="0"/>
                        </a:spcAft>
                      </a:pPr>
                      <a:r>
                        <a:rPr sz="1300" b="0">
                          <a:solidFill>
                            <a:srgbClr val="1F1F1F"/>
                          </a:solidFill>
                          <a:latin typeface="Calibri"/>
                        </a:rPr>
                        <a:t>operacional na integralização: 2 DU do vencimento</a:t>
                      </a:r>
                    </a:p>
                    <a:p>
                      <a:pPr algn="l">
                        <a:lnSpc>
                          <a:spcPct val="100000"/>
                        </a:lnSpc>
                        <a:spcBef>
                          <a:spcPts val="0"/>
                        </a:spcBef>
                        <a:spcAft>
                          <a:spcPts val="0"/>
                        </a:spcAft>
                      </a:pPr>
                      <a:r>
                        <a:rPr sz="1300" b="0">
                          <a:solidFill>
                            <a:srgbClr val="1F1F1F"/>
                          </a:solidFill>
                          <a:latin typeface="Calibri"/>
                        </a:rPr>
                        <a:t>sem multa/mora. Eventos de avaliação interrompem</a:t>
                      </a:r>
                    </a:p>
                    <a:p>
                      <a:pPr algn="l">
                        <a:lnSpc>
                          <a:spcPct val="100000"/>
                        </a:lnSpc>
                        <a:spcBef>
                          <a:spcPts val="0"/>
                        </a:spcBef>
                        <a:spcAft>
                          <a:spcPts val="0"/>
                        </a:spcAft>
                      </a:pPr>
                      <a:r>
                        <a:rPr sz="1300" b="0">
                          <a:solidFill>
                            <a:srgbClr val="1F1F1F"/>
                          </a:solidFill>
                          <a:latin typeface="Calibri"/>
                        </a:rPr>
                        <a:t>novas aquisições até cura/decisão AGC.</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Índice fora por 10 dias úteis e obrigações do</a:t>
                      </a:r>
                    </a:p>
                    <a:p>
                      <a:pPr algn="l">
                        <a:lnSpc>
                          <a:spcPct val="100000"/>
                        </a:lnSpc>
                        <a:spcBef>
                          <a:spcPts val="0"/>
                        </a:spcBef>
                        <a:spcAft>
                          <a:spcPts val="0"/>
                        </a:spcAft>
                      </a:pPr>
                      <a:r>
                        <a:rPr sz="1300" b="0">
                          <a:solidFill>
                            <a:srgbClr val="1F1F1F"/>
                          </a:solidFill>
                          <a:latin typeface="Calibri"/>
                        </a:rPr>
                        <a:t>endossante por 10 dias úteis geram avaliação;</a:t>
                      </a:r>
                    </a:p>
                    <a:p>
                      <a:pPr algn="l">
                        <a:lnSpc>
                          <a:spcPct val="100000"/>
                        </a:lnSpc>
                        <a:spcBef>
                          <a:spcPts val="0"/>
                        </a:spcBef>
                        <a:spcAft>
                          <a:spcPts val="0"/>
                        </a:spcAft>
                      </a:pPr>
                      <a:r>
                        <a:rPr sz="1300" b="0">
                          <a:solidFill>
                            <a:srgbClr val="1F1F1F"/>
                          </a:solidFill>
                          <a:latin typeface="Calibri"/>
                        </a:rPr>
                        <a:t>arquivos Dataprev/lastro: 2 dias úteis. Cotista</a:t>
                      </a:r>
                    </a:p>
                    <a:p>
                      <a:pPr algn="l">
                        <a:lnSpc>
                          <a:spcPct val="100000"/>
                        </a:lnSpc>
                        <a:spcBef>
                          <a:spcPts val="0"/>
                        </a:spcBef>
                        <a:spcAft>
                          <a:spcPts val="0"/>
                        </a:spcAft>
                      </a:pPr>
                      <a:r>
                        <a:rPr sz="1300" b="0">
                          <a:solidFill>
                            <a:srgbClr val="1F1F1F"/>
                          </a:solidFill>
                          <a:latin typeface="Calibri"/>
                        </a:rPr>
                        <a:t>inadimplente: 5 dias úteis da notificação. IME</a:t>
                      </a:r>
                    </a:p>
                    <a:p>
                      <a:pPr algn="l">
                        <a:lnSpc>
                          <a:spcPct val="100000"/>
                        </a:lnSpc>
                        <a:spcBef>
                          <a:spcPts val="0"/>
                        </a:spcBef>
                        <a:spcAft>
                          <a:spcPts val="0"/>
                        </a:spcAft>
                      </a:pPr>
                      <a:r>
                        <a:rPr sz="1300" b="0">
                          <a:solidFill>
                            <a:srgbClr val="1F1F1F"/>
                          </a:solidFill>
                          <a:latin typeface="Calibri"/>
                        </a:rPr>
                        <a:t>mensal não comprova série diária de cura.</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54/160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Eventos e cura</a:t>
            </a:r>
          </a:p>
        </p:txBody>
      </p:sp>
      <p:graphicFrame>
        <p:nvGraphicFramePr>
          <p:cNvPr id="3" name="Table 2"/>
          <p:cNvGraphicFramePr>
            <a:graphicFrameLocks noGrp="1"/>
          </p:cNvGraphicFramePr>
          <p:nvPr/>
        </p:nvGraphicFramePr>
        <p:xfrm>
          <a:off x="438912" y="932688"/>
          <a:ext cx="11313870" cy="2176272"/>
        </p:xfrm>
        <a:graphic>
          <a:graphicData uri="http://schemas.openxmlformats.org/drawingml/2006/table">
            <a:tbl>
              <a:tblPr>
                <a:tableStyleId>{5C22544A-7EE6-4342-B048-85BDC9FD1C3A}</a:tableStyleId>
              </a:tblPr>
              <a:tblGrid>
                <a:gridCol w="2331720"/>
                <a:gridCol w="4491075"/>
                <a:gridCol w="4491075"/>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V CDT 1 · 62552447000120</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Global CP · 63953620000165</a:t>
                      </a:r>
                    </a:p>
                  </a:txBody>
                  <a:tcPr marL="91440" marR="91440" marT="41148" marB="41148" anchor="ctr">
                    <a:solidFill>
                      <a:srgbClr val="F7F7F7"/>
                    </a:solidFill>
                    <a:lnL>
                      <a:noFill/>
                    </a:lnL>
                    <a:lnR>
                      <a:noFill/>
                    </a:lnR>
                    <a:lnT>
                      <a:noFill/>
                    </a:lnT>
                    <a:lnB w="6350">
                      <a:solidFill>
                        <a:srgbClr val="D9DEE5"/>
                      </a:solidFill>
                    </a:lnB>
                  </a:tcPr>
                </a:tc>
              </a:tr>
              <a:tr h="1783080">
                <a:tc>
                  <a:txBody>
                    <a:bodyPr wrap="square">
                      <a:noAutofit/>
                    </a:bodyPr>
                    <a:lstStyle/>
                    <a:p>
                      <a:pPr algn="l">
                        <a:lnSpc>
                          <a:spcPct val="100000"/>
                        </a:lnSpc>
                        <a:spcBef>
                          <a:spcPts val="0"/>
                        </a:spcBef>
                        <a:spcAft>
                          <a:spcPts val="0"/>
                        </a:spcAft>
                      </a:pPr>
                      <a:r>
                        <a:rPr sz="1300" b="1">
                          <a:solidFill>
                            <a:srgbClr val="1F1F1F"/>
                          </a:solidFill>
                          <a:latin typeface="Calibri"/>
                        </a:rPr>
                        <a:t>Cross default e</a:t>
                      </a:r>
                    </a:p>
                    <a:p>
                      <a:pPr algn="l">
                        <a:lnSpc>
                          <a:spcPct val="100000"/>
                        </a:lnSpc>
                        <a:spcBef>
                          <a:spcPts val="0"/>
                        </a:spcBef>
                        <a:spcAft>
                          <a:spcPts val="0"/>
                        </a:spcAft>
                      </a:pPr>
                      <a:r>
                        <a:rPr sz="1300" b="1">
                          <a:solidFill>
                            <a:srgbClr val="1F1F1F"/>
                          </a:solidFill>
                          <a:latin typeface="Calibri"/>
                        </a:rPr>
                        <a:t>insolvência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11.1 As seguintes hipóteses são consideradas</a:t>
                      </a:r>
                    </a:p>
                    <a:p>
                      <a:pPr algn="l">
                        <a:lnSpc>
                          <a:spcPct val="100000"/>
                        </a:lnSpc>
                        <a:spcBef>
                          <a:spcPts val="0"/>
                        </a:spcBef>
                        <a:spcAft>
                          <a:spcPts val="0"/>
                        </a:spcAft>
                      </a:pPr>
                      <a:r>
                        <a:rPr sz="1300" b="0">
                          <a:solidFill>
                            <a:srgbClr val="1F1F1F"/>
                          </a:solidFill>
                          <a:latin typeface="Calibri"/>
                        </a:rPr>
                        <a:t>eventos de avaliação (“Eventos de Avaliação”):</a:t>
                      </a:r>
                    </a:p>
                    <a:p>
                      <a:pPr algn="l">
                        <a:lnSpc>
                          <a:spcPct val="100000"/>
                        </a:lnSpc>
                        <a:spcBef>
                          <a:spcPts val="0"/>
                        </a:spcBef>
                        <a:spcAft>
                          <a:spcPts val="0"/>
                        </a:spcAft>
                      </a:pPr>
                      <a:r>
                        <a:rPr sz="1300" b="0">
                          <a:solidFill>
                            <a:srgbClr val="1F1F1F"/>
                          </a:solidFill>
                          <a:latin typeface="Calibri"/>
                        </a:rPr>
                        <a:t>(i) em caso de regime de administração especial</a:t>
                      </a:r>
                    </a:p>
                    <a:p>
                      <a:pPr algn="l">
                        <a:lnSpc>
                          <a:spcPct val="100000"/>
                        </a:lnSpc>
                        <a:spcBef>
                          <a:spcPts val="0"/>
                        </a:spcBef>
                        <a:spcAft>
                          <a:spcPts val="0"/>
                        </a:spcAft>
                      </a:pPr>
                      <a:r>
                        <a:rPr sz="1300" b="0">
                          <a:solidFill>
                            <a:srgbClr val="1F1F1F"/>
                          </a:solidFill>
                          <a:latin typeface="Calibri"/>
                        </a:rPr>
                        <a:t>temporária - RAET, intervenção ou liquidação</a:t>
                      </a:r>
                    </a:p>
                    <a:p>
                      <a:pPr algn="l">
                        <a:lnSpc>
                          <a:spcPct val="100000"/>
                        </a:lnSpc>
                        <a:spcBef>
                          <a:spcPts val="0"/>
                        </a:spcBef>
                        <a:spcAft>
                          <a:spcPts val="0"/>
                        </a:spcAft>
                      </a:pPr>
                      <a:r>
                        <a:rPr sz="1300" b="0">
                          <a:solidFill>
                            <a:srgbClr val="1F1F1F"/>
                          </a:solidFill>
                          <a:latin typeface="Calibri"/>
                        </a:rPr>
                        <a:t>extrajudicial do Endossante, da instituição f</a:t>
                      </a:r>
                    </a:p>
                    <a:p>
                      <a:pPr algn="l">
                        <a:lnSpc>
                          <a:spcPct val="100000"/>
                        </a:lnSpc>
                        <a:spcBef>
                          <a:spcPts val="0"/>
                        </a:spcBef>
                        <a:spcAft>
                          <a:spcPts val="0"/>
                        </a:spcAft>
                      </a:pPr>
                      <a:r>
                        <a:rPr sz="1300" b="0">
                          <a:solidFill>
                            <a:srgbClr val="1F1F1F"/>
                          </a:solidFill>
                          <a:latin typeface="Calibri"/>
                        </a:rPr>
                        <a:t>inanceira prestadora dos serviços de agente de</a:t>
                      </a:r>
                    </a:p>
                    <a:p>
                      <a:pPr algn="l">
                        <a:lnSpc>
                          <a:spcPct val="100000"/>
                        </a:lnSpc>
                        <a:spcBef>
                          <a:spcPts val="0"/>
                        </a:spcBef>
                        <a:spcAft>
                          <a:spcPts val="0"/>
                        </a:spcAft>
                      </a:pPr>
                      <a:r>
                        <a:rPr sz="1300" b="0">
                          <a:solidFill>
                            <a:srgbClr val="1F1F1F"/>
                          </a:solidFill>
                          <a:latin typeface="Calibri"/>
                        </a:rPr>
                        <a:t>conta vinculada à Classe (“Agente de Conta</a:t>
                      </a:r>
                    </a:p>
                    <a:p>
                      <a:pPr algn="l">
                        <a:lnSpc>
                          <a:spcPct val="100000"/>
                        </a:lnSpc>
                        <a:spcBef>
                          <a:spcPts val="0"/>
                        </a:spcBef>
                        <a:spcAft>
                          <a:spcPts val="0"/>
                        </a:spcAft>
                      </a:pPr>
                      <a:r>
                        <a:rPr sz="1300" b="0">
                          <a:solidFill>
                            <a:srgbClr val="1F1F1F"/>
                          </a:solidFill>
                          <a:latin typeface="Calibri"/>
                        </a:rPr>
                        <a:t>Vinculada”) e/ou do Agente de Retenção e</a:t>
                      </a:r>
                    </a:p>
                    <a:p>
                      <a:pPr algn="l">
                        <a:lnSpc>
                          <a:spcPct val="100000"/>
                        </a:lnSpc>
                        <a:spcBef>
                          <a:spcPts val="0"/>
                        </a:spcBef>
                        <a:spcAft>
                          <a:spcPts val="0"/>
                        </a:spcAft>
                      </a:pPr>
                      <a:r>
                        <a:rPr sz="1300" b="0">
                          <a:solidFill>
                            <a:srgbClr val="1F1F1F"/>
                          </a:solidFill>
                          <a:latin typeface="Calibri"/>
                        </a:rPr>
                        <a:t>Cobrança;.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11.1 As seguintes hipóteses são consideradas</a:t>
                      </a:r>
                    </a:p>
                    <a:p>
                      <a:pPr algn="l">
                        <a:lnSpc>
                          <a:spcPct val="100000"/>
                        </a:lnSpc>
                        <a:spcBef>
                          <a:spcPts val="0"/>
                        </a:spcBef>
                        <a:spcAft>
                          <a:spcPts val="0"/>
                        </a:spcAft>
                      </a:pPr>
                      <a:r>
                        <a:rPr sz="1300" b="0">
                          <a:solidFill>
                            <a:srgbClr val="1F1F1F"/>
                          </a:solidFill>
                          <a:latin typeface="Calibri"/>
                        </a:rPr>
                        <a:t>eventos de avaliação (“Eventos de Avaliação”):</a:t>
                      </a:r>
                    </a:p>
                    <a:p>
                      <a:pPr algn="l">
                        <a:lnSpc>
                          <a:spcPct val="100000"/>
                        </a:lnSpc>
                        <a:spcBef>
                          <a:spcPts val="0"/>
                        </a:spcBef>
                        <a:spcAft>
                          <a:spcPts val="0"/>
                        </a:spcAft>
                      </a:pPr>
                      <a:r>
                        <a:rPr sz="1300" b="0">
                          <a:solidFill>
                            <a:srgbClr val="1F1F1F"/>
                          </a:solidFill>
                          <a:latin typeface="Calibri"/>
                        </a:rPr>
                        <a:t>(i) em caso de regime de administração especial</a:t>
                      </a:r>
                    </a:p>
                    <a:p>
                      <a:pPr algn="l">
                        <a:lnSpc>
                          <a:spcPct val="100000"/>
                        </a:lnSpc>
                        <a:spcBef>
                          <a:spcPts val="0"/>
                        </a:spcBef>
                        <a:spcAft>
                          <a:spcPts val="0"/>
                        </a:spcAft>
                      </a:pPr>
                      <a:r>
                        <a:rPr sz="1300" b="0">
                          <a:solidFill>
                            <a:srgbClr val="1F1F1F"/>
                          </a:solidFill>
                          <a:latin typeface="Calibri"/>
                        </a:rPr>
                        <a:t>temporária - RAET, intervenção ou liquidação</a:t>
                      </a:r>
                    </a:p>
                    <a:p>
                      <a:pPr algn="l">
                        <a:lnSpc>
                          <a:spcPct val="100000"/>
                        </a:lnSpc>
                        <a:spcBef>
                          <a:spcPts val="0"/>
                        </a:spcBef>
                        <a:spcAft>
                          <a:spcPts val="0"/>
                        </a:spcAft>
                      </a:pPr>
                      <a:r>
                        <a:rPr sz="1300" b="0">
                          <a:solidFill>
                            <a:srgbClr val="1F1F1F"/>
                          </a:solidFill>
                          <a:latin typeface="Calibri"/>
                        </a:rPr>
                        <a:t>extrajudicial do Endossante;.</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55/160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Eventos e cura</a:t>
            </a:r>
          </a:p>
        </p:txBody>
      </p:sp>
      <p:graphicFrame>
        <p:nvGraphicFramePr>
          <p:cNvPr id="3" name="Table 2"/>
          <p:cNvGraphicFramePr>
            <a:graphicFrameLocks noGrp="1"/>
          </p:cNvGraphicFramePr>
          <p:nvPr/>
        </p:nvGraphicFramePr>
        <p:xfrm>
          <a:off x="438912" y="932688"/>
          <a:ext cx="11313870" cy="4050791"/>
        </p:xfrm>
        <a:graphic>
          <a:graphicData uri="http://schemas.openxmlformats.org/drawingml/2006/table">
            <a:tbl>
              <a:tblPr>
                <a:tableStyleId>{5C22544A-7EE6-4342-B048-85BDC9FD1C3A}</a:tableStyleId>
              </a:tblPr>
              <a:tblGrid>
                <a:gridCol w="2331720"/>
                <a:gridCol w="4491075"/>
                <a:gridCol w="4491075"/>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V CDT 1 · 62552447000120</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Global CP · 63953620000165</a:t>
                      </a:r>
                    </a:p>
                  </a:txBody>
                  <a:tcPr marL="91440" marR="91440" marT="41148" marB="41148" anchor="ctr">
                    <a:solidFill>
                      <a:srgbClr val="F7F7F7"/>
                    </a:solidFill>
                    <a:lnL>
                      <a:noFill/>
                    </a:lnL>
                    <a:lnR>
                      <a:noFill/>
                    </a:lnR>
                    <a:lnT>
                      <a:noFill/>
                    </a:lnT>
                    <a:lnB w="6350">
                      <a:solidFill>
                        <a:srgbClr val="D9DEE5"/>
                      </a:solidFill>
                    </a:lnB>
                  </a:tcPr>
                </a:tc>
              </a:tr>
              <a:tr h="3657599">
                <a:tc>
                  <a:txBody>
                    <a:bodyPr wrap="square">
                      <a:noAutofit/>
                    </a:bodyPr>
                    <a:lstStyle/>
                    <a:p>
                      <a:pPr algn="l">
                        <a:lnSpc>
                          <a:spcPct val="100000"/>
                        </a:lnSpc>
                        <a:spcBef>
                          <a:spcPts val="0"/>
                        </a:spcBef>
                        <a:spcAft>
                          <a:spcPts val="0"/>
                        </a:spcAft>
                      </a:pPr>
                      <a:r>
                        <a:rPr sz="1300" b="1">
                          <a:solidFill>
                            <a:srgbClr val="1F1F1F"/>
                          </a:solidFill>
                          <a:latin typeface="Calibri"/>
                        </a:rPr>
                        <a:t>Gatilhos de avaliação e</a:t>
                      </a:r>
                    </a:p>
                    <a:p>
                      <a:pPr algn="l">
                        <a:lnSpc>
                          <a:spcPct val="100000"/>
                        </a:lnSpc>
                        <a:spcBef>
                          <a:spcPts val="0"/>
                        </a:spcBef>
                        <a:spcAft>
                          <a:spcPts val="0"/>
                        </a:spcAft>
                      </a:pPr>
                      <a:r>
                        <a:rPr sz="1300" b="1">
                          <a:solidFill>
                            <a:srgbClr val="1F1F1F"/>
                          </a:solidFill>
                          <a:latin typeface="Calibri"/>
                        </a:rPr>
                        <a:t>liquidação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Evento de avaliação ou liquidação: (i) em caso de</a:t>
                      </a:r>
                    </a:p>
                    <a:p>
                      <a:pPr algn="l">
                        <a:lnSpc>
                          <a:spcPct val="100000"/>
                        </a:lnSpc>
                        <a:spcBef>
                          <a:spcPts val="0"/>
                        </a:spcBef>
                        <a:spcAft>
                          <a:spcPts val="0"/>
                        </a:spcAft>
                      </a:pPr>
                      <a:r>
                        <a:rPr sz="1300" b="0">
                          <a:solidFill>
                            <a:srgbClr val="1F1F1F"/>
                          </a:solidFill>
                          <a:latin typeface="Calibri"/>
                        </a:rPr>
                        <a:t>regime de administração especial temporária -</a:t>
                      </a:r>
                    </a:p>
                    <a:p>
                      <a:pPr algn="l">
                        <a:lnSpc>
                          <a:spcPct val="100000"/>
                        </a:lnSpc>
                        <a:spcBef>
                          <a:spcPts val="0"/>
                        </a:spcBef>
                        <a:spcAft>
                          <a:spcPts val="0"/>
                        </a:spcAft>
                      </a:pPr>
                      <a:r>
                        <a:rPr sz="1300" b="0">
                          <a:solidFill>
                            <a:srgbClr val="1F1F1F"/>
                          </a:solidFill>
                          <a:latin typeface="Calibri"/>
                        </a:rPr>
                        <a:t>RAET, intervenção ou liquidação extrajudicial do</a:t>
                      </a:r>
                    </a:p>
                    <a:p>
                      <a:pPr algn="l">
                        <a:lnSpc>
                          <a:spcPct val="100000"/>
                        </a:lnSpc>
                        <a:spcBef>
                          <a:spcPts val="0"/>
                        </a:spcBef>
                        <a:spcAft>
                          <a:spcPts val="0"/>
                        </a:spcAft>
                      </a:pPr>
                      <a:r>
                        <a:rPr sz="1300" b="0">
                          <a:solidFill>
                            <a:srgbClr val="1F1F1F"/>
                          </a:solidFill>
                          <a:latin typeface="Calibri"/>
                        </a:rPr>
                        <a:t>Endossante, da instituição f inanceira prestadora</a:t>
                      </a:r>
                    </a:p>
                    <a:p>
                      <a:pPr algn="l">
                        <a:lnSpc>
                          <a:spcPct val="100000"/>
                        </a:lnSpc>
                        <a:spcBef>
                          <a:spcPts val="0"/>
                        </a:spcBef>
                        <a:spcAft>
                          <a:spcPts val="0"/>
                        </a:spcAft>
                      </a:pPr>
                      <a:r>
                        <a:rPr sz="1300" b="0">
                          <a:solidFill>
                            <a:srgbClr val="1F1F1F"/>
                          </a:solidFill>
                          <a:latin typeface="Calibri"/>
                        </a:rPr>
                        <a:t>dos serviços de agente de conta vinculada à</a:t>
                      </a:r>
                    </a:p>
                    <a:p>
                      <a:pPr algn="l">
                        <a:lnSpc>
                          <a:spcPct val="100000"/>
                        </a:lnSpc>
                        <a:spcBef>
                          <a:spcPts val="0"/>
                        </a:spcBef>
                        <a:spcAft>
                          <a:spcPts val="0"/>
                        </a:spcAft>
                      </a:pPr>
                      <a:r>
                        <a:rPr sz="1300" b="0">
                          <a:solidFill>
                            <a:srgbClr val="1F1F1F"/>
                          </a:solidFill>
                          <a:latin typeface="Calibri"/>
                        </a:rPr>
                        <a:t>Classe (“Agente de Conta Vinculada”) e/ou do</a:t>
                      </a:r>
                    </a:p>
                    <a:p>
                      <a:pPr algn="l">
                        <a:lnSpc>
                          <a:spcPct val="100000"/>
                        </a:lnSpc>
                        <a:spcBef>
                          <a:spcPts val="0"/>
                        </a:spcBef>
                        <a:spcAft>
                          <a:spcPts val="0"/>
                        </a:spcAft>
                      </a:pPr>
                      <a:r>
                        <a:rPr sz="1300" b="0">
                          <a:solidFill>
                            <a:srgbClr val="1F1F1F"/>
                          </a:solidFill>
                          <a:latin typeface="Calibri"/>
                        </a:rPr>
                        <a:t>Agente de Retenção e Cobrança; (ii) não</a:t>
                      </a:r>
                    </a:p>
                    <a:p>
                      <a:pPr algn="l">
                        <a:lnSpc>
                          <a:spcPct val="100000"/>
                        </a:lnSpc>
                        <a:spcBef>
                          <a:spcPts val="0"/>
                        </a:spcBef>
                        <a:spcAft>
                          <a:spcPts val="0"/>
                        </a:spcAft>
                      </a:pPr>
                      <a:r>
                        <a:rPr sz="1300" b="0">
                          <a:solidFill>
                            <a:srgbClr val="1F1F1F"/>
                          </a:solidFill>
                          <a:latin typeface="Calibri"/>
                        </a:rPr>
                        <a:t>cumprimento, pelo Endossante, de qualquer de suas</a:t>
                      </a:r>
                    </a:p>
                    <a:p>
                      <a:pPr algn="l">
                        <a:lnSpc>
                          <a:spcPct val="100000"/>
                        </a:lnSpc>
                        <a:spcBef>
                          <a:spcPts val="0"/>
                        </a:spcBef>
                        <a:spcAft>
                          <a:spcPts val="0"/>
                        </a:spcAft>
                      </a:pPr>
                      <a:r>
                        <a:rPr sz="1300" b="0">
                          <a:solidFill>
                            <a:srgbClr val="1F1F1F"/>
                          </a:solidFill>
                          <a:latin typeface="Calibri"/>
                        </a:rPr>
                        <a:t>obrigações estabelecidas nos Contratos de</a:t>
                      </a:r>
                    </a:p>
                    <a:p>
                      <a:pPr algn="l">
                        <a:lnSpc>
                          <a:spcPct val="100000"/>
                        </a:lnSpc>
                        <a:spcBef>
                          <a:spcPts val="0"/>
                        </a:spcBef>
                        <a:spcAft>
                          <a:spcPts val="0"/>
                        </a:spcAft>
                      </a:pPr>
                      <a:r>
                        <a:rPr sz="1300" b="0">
                          <a:solidFill>
                            <a:srgbClr val="1F1F1F"/>
                          </a:solidFill>
                          <a:latin typeface="Calibri"/>
                        </a:rPr>
                        <a:t>Endosso, no Regulamento ou neste Anexo I, desde</a:t>
                      </a:r>
                    </a:p>
                    <a:p>
                      <a:pPr algn="l">
                        <a:lnSpc>
                          <a:spcPct val="100000"/>
                        </a:lnSpc>
                        <a:spcBef>
                          <a:spcPts val="0"/>
                        </a:spcBef>
                        <a:spcAft>
                          <a:spcPts val="0"/>
                        </a:spcAft>
                      </a:pPr>
                      <a:r>
                        <a:rPr sz="1300" b="0">
                          <a:solidFill>
                            <a:srgbClr val="1F1F1F"/>
                          </a:solidFill>
                          <a:latin typeface="Calibri"/>
                        </a:rPr>
                        <a:t>que esse não cumprimento não seja devidamente</a:t>
                      </a:r>
                    </a:p>
                    <a:p>
                      <a:pPr algn="l">
                        <a:lnSpc>
                          <a:spcPct val="100000"/>
                        </a:lnSpc>
                        <a:spcBef>
                          <a:spcPts val="0"/>
                        </a:spcBef>
                        <a:spcAft>
                          <a:spcPts val="0"/>
                        </a:spcAft>
                      </a:pPr>
                      <a:r>
                        <a:rPr sz="1300" b="0">
                          <a:solidFill>
                            <a:srgbClr val="1F1F1F"/>
                          </a:solidFill>
                          <a:latin typeface="Calibri"/>
                        </a:rPr>
                        <a:t>sanado ou justificado dentro de 5 (cinco) Dias</a:t>
                      </a:r>
                    </a:p>
                    <a:p>
                      <a:pPr algn="l">
                        <a:lnSpc>
                          <a:spcPct val="100000"/>
                        </a:lnSpc>
                        <a:spcBef>
                          <a:spcPts val="0"/>
                        </a:spcBef>
                        <a:spcAft>
                          <a:spcPts val="0"/>
                        </a:spcAft>
                      </a:pPr>
                      <a:r>
                        <a:rPr sz="1300" b="0">
                          <a:solidFill>
                            <a:srgbClr val="1F1F1F"/>
                          </a:solidFill>
                          <a:latin typeface="Calibri"/>
                        </a:rPr>
                        <a:t>Úteis a partir do recebimento, pelo Endossante,</a:t>
                      </a:r>
                    </a:p>
                    <a:p>
                      <a:pPr algn="l">
                        <a:lnSpc>
                          <a:spcPct val="100000"/>
                        </a:lnSpc>
                        <a:spcBef>
                          <a:spcPts val="0"/>
                        </a:spcBef>
                        <a:spcAft>
                          <a:spcPts val="0"/>
                        </a:spcAft>
                      </a:pPr>
                      <a:r>
                        <a:rPr sz="1300" b="0">
                          <a:solidFill>
                            <a:srgbClr val="1F1F1F"/>
                          </a:solidFill>
                          <a:latin typeface="Calibri"/>
                        </a:rPr>
                        <a:t>de notificação, por escrito, enviada pelo</a:t>
                      </a:r>
                    </a:p>
                    <a:p>
                      <a:pPr algn="l">
                        <a:lnSpc>
                          <a:spcPct val="100000"/>
                        </a:lnSpc>
                        <a:spcBef>
                          <a:spcPts val="0"/>
                        </a:spcBef>
                        <a:spcAft>
                          <a:spcPts val="0"/>
                        </a:spcAft>
                      </a:pPr>
                      <a:r>
                        <a:rPr sz="1300" b="0">
                          <a:solidFill>
                            <a:srgbClr val="1F1F1F"/>
                          </a:solidFill>
                          <a:latin typeface="Calibri"/>
                        </a:rPr>
                        <a:t>Administrador, inf ormando-o da ocorrência do</a:t>
                      </a:r>
                    </a:p>
                    <a:p>
                      <a:pPr algn="l">
                        <a:lnSpc>
                          <a:spcPct val="100000"/>
                        </a:lnSpc>
                        <a:spcBef>
                          <a:spcPts val="0"/>
                        </a:spcBef>
                        <a:spcAft>
                          <a:spcPts val="0"/>
                        </a:spcAft>
                      </a:pPr>
                      <a:r>
                        <a:rPr sz="1300" b="0">
                          <a:solidFill>
                            <a:srgbClr val="1F1F1F"/>
                          </a:solidFill>
                          <a:latin typeface="Calibri"/>
                        </a:rPr>
                        <a:t>respectivo evento;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Evento de avaliação ou liquidação: (iv) deliberar</a:t>
                      </a:r>
                    </a:p>
                    <a:p>
                      <a:pPr algn="l">
                        <a:lnSpc>
                          <a:spcPct val="100000"/>
                        </a:lnSpc>
                        <a:spcBef>
                          <a:spcPts val="0"/>
                        </a:spcBef>
                        <a:spcAft>
                          <a:spcPts val="0"/>
                        </a:spcAft>
                      </a:pPr>
                      <a:r>
                        <a:rPr sz="1300" b="0">
                          <a:solidFill>
                            <a:srgbClr val="1F1F1F"/>
                          </a:solidFill>
                          <a:latin typeface="Calibri"/>
                        </a:rPr>
                        <a:t>sobre elevação da Taxa de Administração e/ou Taxa</a:t>
                      </a:r>
                    </a:p>
                    <a:p>
                      <a:pPr algn="l">
                        <a:lnSpc>
                          <a:spcPct val="100000"/>
                        </a:lnSpc>
                        <a:spcBef>
                          <a:spcPts val="0"/>
                        </a:spcBef>
                        <a:spcAft>
                          <a:spcPts val="0"/>
                        </a:spcAft>
                      </a:pPr>
                      <a:r>
                        <a:rPr sz="1300" b="0">
                          <a:solidFill>
                            <a:srgbClr val="1F1F1F"/>
                          </a:solidFill>
                          <a:latin typeface="Calibri"/>
                        </a:rPr>
                        <a:t>de Maioria das Cotas da de cada Gestão, inclusive</a:t>
                      </a:r>
                    </a:p>
                    <a:p>
                      <a:pPr algn="l">
                        <a:lnSpc>
                          <a:spcPct val="100000"/>
                        </a:lnSpc>
                        <a:spcBef>
                          <a:spcPts val="0"/>
                        </a:spcBef>
                        <a:spcAft>
                          <a:spcPts val="0"/>
                        </a:spcAft>
                      </a:pPr>
                      <a:r>
                        <a:rPr sz="1300" b="0">
                          <a:solidFill>
                            <a:srgbClr val="1F1F1F"/>
                          </a:solidFill>
                          <a:latin typeface="Calibri"/>
                        </a:rPr>
                        <a:t>na hipótese de restabelecimento de taxa que tenha</a:t>
                      </a:r>
                    </a:p>
                    <a:p>
                      <a:pPr algn="l">
                        <a:lnSpc>
                          <a:spcPct val="100000"/>
                        </a:lnSpc>
                        <a:spcBef>
                          <a:spcPts val="0"/>
                        </a:spcBef>
                        <a:spcAft>
                          <a:spcPts val="0"/>
                        </a:spcAft>
                      </a:pPr>
                      <a:r>
                        <a:rPr sz="1300" b="0">
                          <a:solidFill>
                            <a:srgbClr val="1F1F1F"/>
                          </a:solidFill>
                          <a:latin typeface="Calibri"/>
                        </a:rPr>
                        <a:t>Subclasse sido objeto de redução; (xv) plano de</a:t>
                      </a:r>
                    </a:p>
                    <a:p>
                      <a:pPr algn="l">
                        <a:lnSpc>
                          <a:spcPct val="100000"/>
                        </a:lnSpc>
                        <a:spcBef>
                          <a:spcPts val="0"/>
                        </a:spcBef>
                        <a:spcAft>
                          <a:spcPts val="0"/>
                        </a:spcAft>
                      </a:pPr>
                      <a:r>
                        <a:rPr sz="1300" b="0">
                          <a:solidFill>
                            <a:srgbClr val="1F1F1F"/>
                          </a:solidFill>
                          <a:latin typeface="Calibri"/>
                        </a:rPr>
                        <a:t>resolução do Patrimônio Líquido negativo da</a:t>
                      </a:r>
                    </a:p>
                    <a:p>
                      <a:pPr algn="l">
                        <a:lnSpc>
                          <a:spcPct val="100000"/>
                        </a:lnSpc>
                        <a:spcBef>
                          <a:spcPts val="0"/>
                        </a:spcBef>
                        <a:spcAft>
                          <a:spcPts val="0"/>
                        </a:spcAft>
                      </a:pPr>
                      <a:r>
                        <a:rPr sz="1300" b="0">
                          <a:solidFill>
                            <a:srgbClr val="1F1F1F"/>
                          </a:solidFill>
                          <a:latin typeface="Calibri"/>
                        </a:rPr>
                        <a:t>Classe, Maioria das Cotas presentes nos termos da</a:t>
                      </a:r>
                    </a:p>
                    <a:p>
                      <a:pPr algn="l">
                        <a:lnSpc>
                          <a:spcPct val="100000"/>
                        </a:lnSpc>
                        <a:spcBef>
                          <a:spcPts val="0"/>
                        </a:spcBef>
                        <a:spcAft>
                          <a:spcPts val="0"/>
                        </a:spcAft>
                      </a:pPr>
                      <a:r>
                        <a:rPr sz="1300" b="0">
                          <a:solidFill>
                            <a:srgbClr val="1F1F1F"/>
                          </a:solidFill>
                          <a:latin typeface="Calibri"/>
                        </a:rPr>
                        <a:t>Resolução CVM 175; e</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10.8 As deliberações que tenham por objeto o</a:t>
                      </a:r>
                    </a:p>
                    <a:p>
                      <a:pPr algn="l">
                        <a:lnSpc>
                          <a:spcPct val="100000"/>
                        </a:lnSpc>
                        <a:spcBef>
                          <a:spcPts val="0"/>
                        </a:spcBef>
                        <a:spcAft>
                          <a:spcPts val="0"/>
                        </a:spcAft>
                      </a:pPr>
                      <a:r>
                        <a:rPr sz="1300" b="0">
                          <a:solidFill>
                            <a:srgbClr val="1F1F1F"/>
                          </a:solidFill>
                          <a:latin typeface="Calibri"/>
                        </a:rPr>
                        <a:t>aumento do Índice de Subordinação Sênior apenas</a:t>
                      </a:r>
                    </a:p>
                    <a:p>
                      <a:pPr algn="l">
                        <a:lnSpc>
                          <a:spcPct val="100000"/>
                        </a:lnSpc>
                        <a:spcBef>
                          <a:spcPts val="0"/>
                        </a:spcBef>
                        <a:spcAft>
                          <a:spcPts val="0"/>
                        </a:spcAft>
                      </a:pPr>
                      <a:r>
                        <a:rPr sz="1300" b="0">
                          <a:solidFill>
                            <a:srgbClr val="1F1F1F"/>
                          </a:solidFill>
                          <a:latin typeface="Calibri"/>
                        </a:rPr>
                        <a:t>serão aprovadas se assim deliberado: (i) pelos</a:t>
                      </a:r>
                    </a:p>
                    <a:p>
                      <a:pPr algn="l">
                        <a:lnSpc>
                          <a:spcPct val="100000"/>
                        </a:lnSpc>
                        <a:spcBef>
                          <a:spcPts val="0"/>
                        </a:spcBef>
                        <a:spcAft>
                          <a:spcPts val="0"/>
                        </a:spcAft>
                      </a:pPr>
                      <a:r>
                        <a:rPr sz="1300" b="0">
                          <a:solidFill>
                            <a:srgbClr val="1F1F1F"/>
                          </a:solidFill>
                          <a:latin typeface="Calibri"/>
                        </a:rPr>
                        <a:t>votos dos titulares da maioria das Cotas em</a:t>
                      </a:r>
                    </a:p>
                    <a:p>
                      <a:pPr algn="l">
                        <a:lnSpc>
                          <a:spcPct val="100000"/>
                        </a:lnSpc>
                        <a:spcBef>
                          <a:spcPts val="0"/>
                        </a:spcBef>
                        <a:spcAft>
                          <a:spcPts val="0"/>
                        </a:spcAft>
                      </a:pPr>
                      <a:r>
                        <a:rPr sz="1300" b="0">
                          <a:solidFill>
                            <a:srgbClr val="1F1F1F"/>
                          </a:solidFill>
                          <a:latin typeface="Calibri"/>
                        </a:rPr>
                        <a:t>circulação de cada uma das Séries de Cotas</a:t>
                      </a:r>
                    </a:p>
                    <a:p>
                      <a:pPr algn="l">
                        <a:lnSpc>
                          <a:spcPct val="100000"/>
                        </a:lnSpc>
                        <a:spcBef>
                          <a:spcPts val="0"/>
                        </a:spcBef>
                        <a:spcAft>
                          <a:spcPts val="0"/>
                        </a:spcAft>
                      </a:pPr>
                      <a:r>
                        <a:rPr sz="1300" b="0">
                          <a:solidFill>
                            <a:srgbClr val="1F1F1F"/>
                          </a:solidFill>
                          <a:latin typeface="Calibri"/>
                        </a:rPr>
                        <a:t>Seniores; e (ii) pelo votos dos titulares da</a:t>
                      </a:r>
                    </a:p>
                    <a:p>
                      <a:pPr algn="l">
                        <a:lnSpc>
                          <a:spcPct val="100000"/>
                        </a:lnSpc>
                        <a:spcBef>
                          <a:spcPts val="0"/>
                        </a:spcBef>
                        <a:spcAft>
                          <a:spcPts val="0"/>
                        </a:spcAft>
                      </a:pPr>
                      <a:r>
                        <a:rPr sz="1300" b="0">
                          <a:solidFill>
                            <a:srgbClr val="1F1F1F"/>
                          </a:solidFill>
                          <a:latin typeface="Calibri"/>
                        </a:rPr>
                        <a:t>maioria Cotas Subordinadas em circulação.</a:t>
                      </a:r>
                    </a:p>
                    <a:p>
                      <a:pPr algn="l">
                        <a:lnSpc>
                          <a:spcPct val="100000"/>
                        </a:lnSpc>
                        <a:spcBef>
                          <a:spcPts val="0"/>
                        </a:spcBef>
                        <a:spcAft>
                          <a:spcPts val="0"/>
                        </a:spcAft>
                      </a:pPr>
                      <a:r>
                        <a:rPr sz="1300" b="0">
                          <a:solidFill>
                            <a:srgbClr val="1F1F1F"/>
                          </a:solidFill>
                          <a:latin typeface="Calibri"/>
                        </a:rPr>
                        <a:t>CAPÍTULO 11 – EVENTOS DE AVALIAÇÃO, EVENTOS DE</a:t>
                      </a:r>
                    </a:p>
                    <a:p>
                      <a:pPr algn="l">
                        <a:lnSpc>
                          <a:spcPct val="100000"/>
                        </a:lnSpc>
                        <a:spcBef>
                          <a:spcPts val="0"/>
                        </a:spcBef>
                        <a:spcAft>
                          <a:spcPts val="0"/>
                        </a:spcAft>
                      </a:pPr>
                      <a:r>
                        <a:rPr sz="1300" b="0">
                          <a:solidFill>
                            <a:srgbClr val="1F1F1F"/>
                          </a:solidFill>
                          <a:latin typeface="Calibri"/>
                        </a:rPr>
                        <a:t>LIQUIDAÇÃO, E PROCEDIMENTOS DE LIQUIDAÇÃO Eventos</a:t>
                      </a:r>
                    </a:p>
                    <a:p>
                      <a:pPr algn="l">
                        <a:lnSpc>
                          <a:spcPct val="100000"/>
                        </a:lnSpc>
                        <a:spcBef>
                          <a:spcPts val="0"/>
                        </a:spcBef>
                        <a:spcAft>
                          <a:spcPts val="0"/>
                        </a:spcAft>
                      </a:pPr>
                      <a:r>
                        <a:rPr sz="1300" b="0">
                          <a:solidFill>
                            <a:srgbClr val="1F1F1F"/>
                          </a:solidFill>
                          <a:latin typeface="Calibri"/>
                        </a:rPr>
                        <a:t>de Avaliação</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56/160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Fluxo de caixa e prazo</a:t>
            </a:r>
          </a:p>
        </p:txBody>
      </p:sp>
      <p:graphicFrame>
        <p:nvGraphicFramePr>
          <p:cNvPr id="3" name="Table 2"/>
          <p:cNvGraphicFramePr>
            <a:graphicFrameLocks noGrp="1"/>
          </p:cNvGraphicFramePr>
          <p:nvPr/>
        </p:nvGraphicFramePr>
        <p:xfrm>
          <a:off x="438912" y="932688"/>
          <a:ext cx="11313868" cy="2816352"/>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2345436">
                <a:tc>
                  <a:txBody>
                    <a:bodyPr wrap="square">
                      <a:noAutofit/>
                    </a:bodyPr>
                    <a:lstStyle/>
                    <a:p>
                      <a:pPr algn="l">
                        <a:lnSpc>
                          <a:spcPct val="100000"/>
                        </a:lnSpc>
                        <a:spcBef>
                          <a:spcPts val="0"/>
                        </a:spcBef>
                        <a:spcAft>
                          <a:spcPts val="0"/>
                        </a:spcAft>
                      </a:pPr>
                      <a:r>
                        <a:rPr sz="1300" b="1">
                          <a:solidFill>
                            <a:srgbClr val="1F1F1F"/>
                          </a:solidFill>
                          <a:latin typeface="Calibri"/>
                        </a:rPr>
                        <a:t>Ordem de alocação de</a:t>
                      </a:r>
                    </a:p>
                    <a:p>
                      <a:pPr algn="l">
                        <a:lnSpc>
                          <a:spcPct val="100000"/>
                        </a:lnSpc>
                        <a:spcBef>
                          <a:spcPts val="0"/>
                        </a:spcBef>
                        <a:spcAft>
                          <a:spcPts val="0"/>
                        </a:spcAft>
                      </a:pPr>
                      <a:r>
                        <a:rPr sz="1300" b="1">
                          <a:solidFill>
                            <a:srgbClr val="1F1F1F"/>
                          </a:solidFill>
                          <a:latin typeface="Calibri"/>
                        </a:rPr>
                        <a:t>recursos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Diariamente: encargos →</a:t>
                      </a:r>
                    </a:p>
                    <a:p>
                      <a:pPr algn="l">
                        <a:lnSpc>
                          <a:spcPct val="100000"/>
                        </a:lnSpc>
                        <a:spcBef>
                          <a:spcPts val="0"/>
                        </a:spcBef>
                        <a:spcAft>
                          <a:spcPts val="0"/>
                        </a:spcAft>
                      </a:pPr>
                      <a:r>
                        <a:rPr sz="1300" b="0">
                          <a:solidFill>
                            <a:srgbClr val="1F1F1F"/>
                          </a:solidFill>
                          <a:latin typeface="Calibri"/>
                        </a:rPr>
                        <a:t>resgate de dissidentes</a:t>
                      </a:r>
                    </a:p>
                    <a:p>
                      <a:pPr algn="l">
                        <a:lnSpc>
                          <a:spcPct val="100000"/>
                        </a:lnSpc>
                        <a:spcBef>
                          <a:spcPts val="0"/>
                        </a:spcBef>
                        <a:spcAft>
                          <a:spcPts val="0"/>
                        </a:spcAft>
                      </a:pPr>
                      <a:r>
                        <a:rPr sz="1300" b="0">
                          <a:solidFill>
                            <a:srgbClr val="1F1F1F"/>
                          </a:solidFill>
                          <a:latin typeface="Calibri"/>
                        </a:rPr>
                        <a:t>→ amortização/resgate</a:t>
                      </a:r>
                    </a:p>
                    <a:p>
                      <a:pPr algn="l">
                        <a:lnSpc>
                          <a:spcPct val="100000"/>
                        </a:lnSpc>
                        <a:spcBef>
                          <a:spcPts val="0"/>
                        </a:spcBef>
                        <a:spcAft>
                          <a:spcPts val="0"/>
                        </a:spcAft>
                      </a:pPr>
                      <a:r>
                        <a:rPr sz="1300" b="0">
                          <a:solidFill>
                            <a:srgbClr val="1F1F1F"/>
                          </a:solidFill>
                          <a:latin typeface="Calibri"/>
                        </a:rPr>
                        <a:t>de cotas → compra de</a:t>
                      </a:r>
                    </a:p>
                    <a:p>
                      <a:pPr algn="l">
                        <a:lnSpc>
                          <a:spcPct val="100000"/>
                        </a:lnSpc>
                        <a:spcBef>
                          <a:spcPts val="0"/>
                        </a:spcBef>
                        <a:spcAft>
                          <a:spcPts val="0"/>
                        </a:spcAft>
                      </a:pPr>
                      <a:r>
                        <a:rPr sz="1300" b="0">
                          <a:solidFill>
                            <a:srgbClr val="1F1F1F"/>
                          </a:solidFill>
                          <a:latin typeface="Calibri"/>
                        </a:rPr>
                        <a:t>direitos → ativos de</a:t>
                      </a:r>
                    </a:p>
                    <a:p>
                      <a:pPr algn="l">
                        <a:lnSpc>
                          <a:spcPct val="100000"/>
                        </a:lnSpc>
                        <a:spcBef>
                          <a:spcPts val="0"/>
                        </a:spcBef>
                        <a:spcAft>
                          <a:spcPts val="0"/>
                        </a:spcAft>
                      </a:pPr>
                      <a:r>
                        <a:rPr sz="1300" b="0">
                          <a:solidFill>
                            <a:srgbClr val="1F1F1F"/>
                          </a:solidFill>
                          <a:latin typeface="Calibri"/>
                        </a:rPr>
                        <a:t>liquidez. Na liquidação</a:t>
                      </a:r>
                    </a:p>
                    <a:p>
                      <a:pPr algn="l">
                        <a:lnSpc>
                          <a:spcPct val="100000"/>
                        </a:lnSpc>
                        <a:spcBef>
                          <a:spcPts val="0"/>
                        </a:spcBef>
                        <a:spcAft>
                          <a:spcPts val="0"/>
                        </a:spcAft>
                      </a:pPr>
                      <a:r>
                        <a:rPr sz="1300" b="0">
                          <a:solidFill>
                            <a:srgbClr val="1F1F1F"/>
                          </a:solidFill>
                          <a:latin typeface="Calibri"/>
                        </a:rPr>
                        <a:t>antecipada: encargos →</a:t>
                      </a:r>
                    </a:p>
                    <a:p>
                      <a:pPr algn="l">
                        <a:lnSpc>
                          <a:spcPct val="100000"/>
                        </a:lnSpc>
                        <a:spcBef>
                          <a:spcPts val="0"/>
                        </a:spcBef>
                        <a:spcAft>
                          <a:spcPts val="0"/>
                        </a:spcAft>
                      </a:pPr>
                      <a:r>
                        <a:rPr sz="1300" b="0">
                          <a:solidFill>
                            <a:srgbClr val="1F1F1F"/>
                          </a:solidFill>
                          <a:latin typeface="Calibri"/>
                        </a:rPr>
                        <a:t>resgate das cotas.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Investimento: encargos</a:t>
                      </a:r>
                    </a:p>
                    <a:p>
                      <a:pPr algn="l">
                        <a:lnSpc>
                          <a:spcPct val="100000"/>
                        </a:lnSpc>
                        <a:spcBef>
                          <a:spcPts val="0"/>
                        </a:spcBef>
                        <a:spcAft>
                          <a:spcPts val="0"/>
                        </a:spcAft>
                      </a:pPr>
                      <a:r>
                        <a:rPr sz="1300" b="0">
                          <a:solidFill>
                            <a:srgbClr val="1F1F1F"/>
                          </a:solidFill>
                          <a:latin typeface="Calibri"/>
                        </a:rPr>
                        <a:t>→ derivativos → compra</a:t>
                      </a:r>
                    </a:p>
                    <a:p>
                      <a:pPr algn="l">
                        <a:lnSpc>
                          <a:spcPct val="100000"/>
                        </a:lnSpc>
                        <a:spcBef>
                          <a:spcPts val="0"/>
                        </a:spcBef>
                        <a:spcAft>
                          <a:spcPts val="0"/>
                        </a:spcAft>
                      </a:pPr>
                      <a:r>
                        <a:rPr sz="1300" b="0">
                          <a:solidFill>
                            <a:srgbClr val="1F1F1F"/>
                          </a:solidFill>
                          <a:latin typeface="Calibri"/>
                        </a:rPr>
                        <a:t>de direitos → liquidez.</a:t>
                      </a:r>
                    </a:p>
                    <a:p>
                      <a:pPr algn="l">
                        <a:lnSpc>
                          <a:spcPct val="100000"/>
                        </a:lnSpc>
                        <a:spcBef>
                          <a:spcPts val="0"/>
                        </a:spcBef>
                        <a:spcAft>
                          <a:spcPts val="0"/>
                        </a:spcAft>
                      </a:pPr>
                      <a:r>
                        <a:rPr sz="1300" b="0">
                          <a:solidFill>
                            <a:srgbClr val="1F1F1F"/>
                          </a:solidFill>
                          <a:latin typeface="Calibri"/>
                        </a:rPr>
                        <a:t>Após 24 meses: encargos</a:t>
                      </a:r>
                    </a:p>
                    <a:p>
                      <a:pPr algn="l">
                        <a:lnSpc>
                          <a:spcPct val="100000"/>
                        </a:lnSpc>
                        <a:spcBef>
                          <a:spcPts val="0"/>
                        </a:spcBef>
                        <a:spcAft>
                          <a:spcPts val="0"/>
                        </a:spcAft>
                      </a:pPr>
                      <a:r>
                        <a:rPr sz="1300" b="0">
                          <a:solidFill>
                            <a:srgbClr val="1F1F1F"/>
                          </a:solidFill>
                          <a:latin typeface="Calibri"/>
                        </a:rPr>
                        <a:t>→ derivativos →</a:t>
                      </a:r>
                    </a:p>
                    <a:p>
                      <a:pPr algn="l">
                        <a:lnSpc>
                          <a:spcPct val="100000"/>
                        </a:lnSpc>
                        <a:spcBef>
                          <a:spcPts val="0"/>
                        </a:spcBef>
                        <a:spcAft>
                          <a:spcPts val="0"/>
                        </a:spcAft>
                      </a:pPr>
                      <a:r>
                        <a:rPr sz="1300" b="0">
                          <a:solidFill>
                            <a:srgbClr val="1F1F1F"/>
                          </a:solidFill>
                          <a:latin typeface="Calibri"/>
                        </a:rPr>
                        <a:t>amortização sênior →</a:t>
                      </a:r>
                    </a:p>
                    <a:p>
                      <a:pPr algn="l">
                        <a:lnSpc>
                          <a:spcPct val="100000"/>
                        </a:lnSpc>
                        <a:spcBef>
                          <a:spcPts val="0"/>
                        </a:spcBef>
                        <a:spcAft>
                          <a:spcPts val="0"/>
                        </a:spcAft>
                      </a:pPr>
                      <a:r>
                        <a:rPr sz="1300" b="0">
                          <a:solidFill>
                            <a:srgbClr val="1F1F1F"/>
                          </a:solidFill>
                          <a:latin typeface="Calibri"/>
                        </a:rPr>
                        <a:t>subordinadas conforme</a:t>
                      </a:r>
                    </a:p>
                    <a:p>
                      <a:pPr algn="l">
                        <a:lnSpc>
                          <a:spcPct val="100000"/>
                        </a:lnSpc>
                        <a:spcBef>
                          <a:spcPts val="0"/>
                        </a:spcBef>
                        <a:spcAft>
                          <a:spcPts val="0"/>
                        </a:spcAft>
                      </a:pPr>
                      <a:r>
                        <a:rPr sz="1300" b="0">
                          <a:solidFill>
                            <a:srgbClr val="1F1F1F"/>
                          </a:solidFill>
                          <a:latin typeface="Calibri"/>
                        </a:rPr>
                        <a:t>PL relativo e índice →</a:t>
                      </a:r>
                    </a:p>
                    <a:p>
                      <a:pPr algn="l">
                        <a:lnSpc>
                          <a:spcPct val="100000"/>
                        </a:lnSpc>
                        <a:spcBef>
                          <a:spcPts val="0"/>
                        </a:spcBef>
                        <a:spcAft>
                          <a:spcPts val="0"/>
                        </a:spcAft>
                      </a:pPr>
                      <a:r>
                        <a:rPr sz="1300" b="0">
                          <a:solidFill>
                            <a:srgbClr val="1F1F1F"/>
                          </a:solidFill>
                          <a:latin typeface="Calibri"/>
                        </a:rPr>
                        <a:t>liquidez. Liquidação:</a:t>
                      </a:r>
                    </a:p>
                    <a:p>
                      <a:pPr algn="l">
                        <a:lnSpc>
                          <a:spcPct val="100000"/>
                        </a:lnSpc>
                        <a:spcBef>
                          <a:spcPts val="0"/>
                        </a:spcBef>
                        <a:spcAft>
                          <a:spcPts val="0"/>
                        </a:spcAft>
                      </a:pPr>
                      <a:r>
                        <a:rPr sz="1300" b="0">
                          <a:solidFill>
                            <a:srgbClr val="1F1F1F"/>
                          </a:solidFill>
                          <a:latin typeface="Calibri"/>
                        </a:rPr>
                        <a:t>pagamento integral da</a:t>
                      </a:r>
                    </a:p>
                    <a:p>
                      <a:pPr algn="l">
                        <a:lnSpc>
                          <a:spcPct val="100000"/>
                        </a:lnSpc>
                        <a:spcBef>
                          <a:spcPts val="0"/>
                        </a:spcBef>
                        <a:spcAft>
                          <a:spcPts val="0"/>
                        </a:spcAft>
                      </a:pPr>
                      <a:r>
                        <a:rPr sz="1300" b="0">
                          <a:solidFill>
                            <a:srgbClr val="1F1F1F"/>
                          </a:solidFill>
                          <a:latin typeface="Calibri"/>
                        </a:rPr>
                        <a:t>sênior antes das</a:t>
                      </a:r>
                    </a:p>
                    <a:p>
                      <a:pPr algn="l">
                        <a:lnSpc>
                          <a:spcPct val="100000"/>
                        </a:lnSpc>
                        <a:spcBef>
                          <a:spcPts val="0"/>
                        </a:spcBef>
                        <a:spcAft>
                          <a:spcPts val="0"/>
                        </a:spcAft>
                      </a:pPr>
                      <a:r>
                        <a:rPr sz="1300" b="0">
                          <a:solidFill>
                            <a:srgbClr val="1F1F1F"/>
                          </a:solidFill>
                          <a:latin typeface="Calibri"/>
                        </a:rPr>
                        <a:t>subordinadas.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Diariamente: encargos →</a:t>
                      </a:r>
                    </a:p>
                    <a:p>
                      <a:pPr algn="l">
                        <a:lnSpc>
                          <a:spcPct val="100000"/>
                        </a:lnSpc>
                        <a:spcBef>
                          <a:spcPts val="0"/>
                        </a:spcBef>
                        <a:spcAft>
                          <a:spcPts val="0"/>
                        </a:spcAft>
                      </a:pPr>
                      <a:r>
                        <a:rPr sz="1300" b="0">
                          <a:solidFill>
                            <a:srgbClr val="1F1F1F"/>
                          </a:solidFill>
                          <a:latin typeface="Calibri"/>
                        </a:rPr>
                        <a:t>reserva de seis meses →</a:t>
                      </a:r>
                    </a:p>
                    <a:p>
                      <a:pPr algn="l">
                        <a:lnSpc>
                          <a:spcPct val="100000"/>
                        </a:lnSpc>
                        <a:spcBef>
                          <a:spcPts val="0"/>
                        </a:spcBef>
                        <a:spcAft>
                          <a:spcPts val="0"/>
                        </a:spcAft>
                      </a:pPr>
                      <a:r>
                        <a:rPr sz="1300" b="0">
                          <a:solidFill>
                            <a:srgbClr val="1F1F1F"/>
                          </a:solidFill>
                          <a:latin typeface="Calibri"/>
                        </a:rPr>
                        <a:t>amortização/resgate</a:t>
                      </a:r>
                    </a:p>
                    <a:p>
                      <a:pPr algn="l">
                        <a:lnSpc>
                          <a:spcPct val="100000"/>
                        </a:lnSpc>
                        <a:spcBef>
                          <a:spcPts val="0"/>
                        </a:spcBef>
                        <a:spcAft>
                          <a:spcPts val="0"/>
                        </a:spcAft>
                      </a:pPr>
                      <a:r>
                        <a:rPr sz="1300" b="0">
                          <a:solidFill>
                            <a:srgbClr val="1F1F1F"/>
                          </a:solidFill>
                          <a:latin typeface="Calibri"/>
                        </a:rPr>
                        <a:t>sênior → mezanino →</a:t>
                      </a:r>
                    </a:p>
                    <a:p>
                      <a:pPr algn="l">
                        <a:lnSpc>
                          <a:spcPct val="100000"/>
                        </a:lnSpc>
                        <a:spcBef>
                          <a:spcPts val="0"/>
                        </a:spcBef>
                        <a:spcAft>
                          <a:spcPts val="0"/>
                        </a:spcAft>
                      </a:pPr>
                      <a:r>
                        <a:rPr sz="1300" b="0">
                          <a:solidFill>
                            <a:srgbClr val="1F1F1F"/>
                          </a:solidFill>
                          <a:latin typeface="Calibri"/>
                        </a:rPr>
                        <a:t>compra de</a:t>
                      </a:r>
                    </a:p>
                    <a:p>
                      <a:pPr algn="l">
                        <a:lnSpc>
                          <a:spcPct val="100000"/>
                        </a:lnSpc>
                        <a:spcBef>
                          <a:spcPts val="0"/>
                        </a:spcBef>
                        <a:spcAft>
                          <a:spcPts val="0"/>
                        </a:spcAft>
                      </a:pPr>
                      <a:r>
                        <a:rPr sz="1300" b="0">
                          <a:solidFill>
                            <a:srgbClr val="1F1F1F"/>
                          </a:solidFill>
                          <a:latin typeface="Calibri"/>
                        </a:rPr>
                        <a:t>direitos/outros ativos</a:t>
                      </a:r>
                    </a:p>
                    <a:p>
                      <a:pPr algn="l">
                        <a:lnSpc>
                          <a:spcPct val="100000"/>
                        </a:lnSpc>
                        <a:spcBef>
                          <a:spcPts val="0"/>
                        </a:spcBef>
                        <a:spcAft>
                          <a:spcPts val="0"/>
                        </a:spcAft>
                      </a:pPr>
                      <a:r>
                        <a:rPr sz="1300" b="0">
                          <a:solidFill>
                            <a:srgbClr val="1F1F1F"/>
                          </a:solidFill>
                          <a:latin typeface="Calibri"/>
                        </a:rPr>
                        <a:t>→ amortização/resgate</a:t>
                      </a:r>
                    </a:p>
                    <a:p>
                      <a:pPr algn="l">
                        <a:lnSpc>
                          <a:spcPct val="100000"/>
                        </a:lnSpc>
                        <a:spcBef>
                          <a:spcPts val="0"/>
                        </a:spcBef>
                        <a:spcAft>
                          <a:spcPts val="0"/>
                        </a:spcAft>
                      </a:pPr>
                      <a:r>
                        <a:rPr sz="1300" b="0">
                          <a:solidFill>
                            <a:srgbClr val="1F1F1F"/>
                          </a:solidFill>
                          <a:latin typeface="Calibri"/>
                        </a:rPr>
                        <a:t>júnior → ativos de</a:t>
                      </a:r>
                    </a:p>
                    <a:p>
                      <a:pPr algn="l">
                        <a:lnSpc>
                          <a:spcPct val="100000"/>
                        </a:lnSpc>
                        <a:spcBef>
                          <a:spcPts val="0"/>
                        </a:spcBef>
                        <a:spcAft>
                          <a:spcPts val="0"/>
                        </a:spcAft>
                      </a:pPr>
                      <a:r>
                        <a:rPr sz="1300" b="0">
                          <a:solidFill>
                            <a:srgbClr val="1F1F1F"/>
                          </a:solidFill>
                          <a:latin typeface="Calibri"/>
                        </a:rPr>
                        <a:t>liquidez.</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Diariamente: encargos →</a:t>
                      </a:r>
                    </a:p>
                    <a:p>
                      <a:pPr algn="l">
                        <a:lnSpc>
                          <a:spcPct val="100000"/>
                        </a:lnSpc>
                        <a:spcBef>
                          <a:spcPts val="0"/>
                        </a:spcBef>
                        <a:spcAft>
                          <a:spcPts val="0"/>
                        </a:spcAft>
                      </a:pPr>
                      <a:r>
                        <a:rPr sz="1300" b="0">
                          <a:solidFill>
                            <a:srgbClr val="1F1F1F"/>
                          </a:solidFill>
                          <a:latin typeface="Calibri"/>
                        </a:rPr>
                        <a:t>reserva de 3 meses →</a:t>
                      </a:r>
                    </a:p>
                    <a:p>
                      <a:pPr algn="l">
                        <a:lnSpc>
                          <a:spcPct val="100000"/>
                        </a:lnSpc>
                        <a:spcBef>
                          <a:spcPts val="0"/>
                        </a:spcBef>
                        <a:spcAft>
                          <a:spcPts val="0"/>
                        </a:spcAft>
                      </a:pPr>
                      <a:r>
                        <a:rPr sz="1300" b="0">
                          <a:solidFill>
                            <a:srgbClr val="1F1F1F"/>
                          </a:solidFill>
                          <a:latin typeface="Calibri"/>
                        </a:rPr>
                        <a:t>resgate de dissidentes</a:t>
                      </a:r>
                    </a:p>
                    <a:p>
                      <a:pPr algn="l">
                        <a:lnSpc>
                          <a:spcPct val="100000"/>
                        </a:lnSpc>
                        <a:spcBef>
                          <a:spcPts val="0"/>
                        </a:spcBef>
                        <a:spcAft>
                          <a:spcPts val="0"/>
                        </a:spcAft>
                      </a:pPr>
                      <a:r>
                        <a:rPr sz="1300" b="0">
                          <a:solidFill>
                            <a:srgbClr val="1F1F1F"/>
                          </a:solidFill>
                          <a:latin typeface="Calibri"/>
                        </a:rPr>
                        <a:t>→ amortização/resgate</a:t>
                      </a:r>
                    </a:p>
                    <a:p>
                      <a:pPr algn="l">
                        <a:lnSpc>
                          <a:spcPct val="100000"/>
                        </a:lnSpc>
                        <a:spcBef>
                          <a:spcPts val="0"/>
                        </a:spcBef>
                        <a:spcAft>
                          <a:spcPts val="0"/>
                        </a:spcAft>
                      </a:pPr>
                      <a:r>
                        <a:rPr sz="1300" b="0">
                          <a:solidFill>
                            <a:srgbClr val="1F1F1F"/>
                          </a:solidFill>
                          <a:latin typeface="Calibri"/>
                        </a:rPr>
                        <a:t>ordinário → liquidez.</a:t>
                      </a:r>
                    </a:p>
                    <a:p>
                      <a:pPr algn="l">
                        <a:lnSpc>
                          <a:spcPct val="100000"/>
                        </a:lnSpc>
                        <a:spcBef>
                          <a:spcPts val="0"/>
                        </a:spcBef>
                        <a:spcAft>
                          <a:spcPts val="0"/>
                        </a:spcAft>
                      </a:pPr>
                      <a:r>
                        <a:rPr sz="1300" b="0">
                          <a:solidFill>
                            <a:srgbClr val="1F1F1F"/>
                          </a:solidFill>
                          <a:latin typeface="Calibri"/>
                        </a:rPr>
                        <a:t>Na liquidação</a:t>
                      </a:r>
                    </a:p>
                    <a:p>
                      <a:pPr algn="l">
                        <a:lnSpc>
                          <a:spcPct val="100000"/>
                        </a:lnSpc>
                        <a:spcBef>
                          <a:spcPts val="0"/>
                        </a:spcBef>
                        <a:spcAft>
                          <a:spcPts val="0"/>
                        </a:spcAft>
                      </a:pPr>
                      <a:r>
                        <a:rPr sz="1300" b="0">
                          <a:solidFill>
                            <a:srgbClr val="1F1F1F"/>
                          </a:solidFill>
                          <a:latin typeface="Calibri"/>
                        </a:rPr>
                        <a:t>antecipada: encargos →</a:t>
                      </a:r>
                    </a:p>
                    <a:p>
                      <a:pPr algn="l">
                        <a:lnSpc>
                          <a:spcPct val="100000"/>
                        </a:lnSpc>
                        <a:spcBef>
                          <a:spcPts val="0"/>
                        </a:spcBef>
                        <a:spcAft>
                          <a:spcPts val="0"/>
                        </a:spcAft>
                      </a:pPr>
                      <a:r>
                        <a:rPr sz="1300" b="0">
                          <a:solidFill>
                            <a:srgbClr val="1F1F1F"/>
                          </a:solidFill>
                          <a:latin typeface="Calibri"/>
                        </a:rPr>
                        <a:t>resgate das cotas.</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57/160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Fluxo de caixa e prazo</a:t>
            </a:r>
          </a:p>
        </p:txBody>
      </p:sp>
      <p:graphicFrame>
        <p:nvGraphicFramePr>
          <p:cNvPr id="3" name="Table 2"/>
          <p:cNvGraphicFramePr>
            <a:graphicFrameLocks noGrp="1"/>
          </p:cNvGraphicFramePr>
          <p:nvPr/>
        </p:nvGraphicFramePr>
        <p:xfrm>
          <a:off x="438912" y="932688"/>
          <a:ext cx="11313868" cy="3003804"/>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2532888">
                <a:tc>
                  <a:txBody>
                    <a:bodyPr wrap="square">
                      <a:noAutofit/>
                    </a:bodyPr>
                    <a:lstStyle/>
                    <a:p>
                      <a:pPr algn="l">
                        <a:lnSpc>
                          <a:spcPct val="100000"/>
                        </a:lnSpc>
                        <a:spcBef>
                          <a:spcPts val="0"/>
                        </a:spcBef>
                        <a:spcAft>
                          <a:spcPts val="0"/>
                        </a:spcAft>
                      </a:pPr>
                      <a:r>
                        <a:rPr sz="1300" b="1">
                          <a:solidFill>
                            <a:srgbClr val="1F1F1F"/>
                          </a:solidFill>
                          <a:latin typeface="Calibri"/>
                        </a:rPr>
                        <a:t>Pró-rata, sequencial e</a:t>
                      </a:r>
                    </a:p>
                    <a:p>
                      <a:pPr algn="l">
                        <a:lnSpc>
                          <a:spcPct val="100000"/>
                        </a:lnSpc>
                        <a:spcBef>
                          <a:spcPts val="0"/>
                        </a:spcBef>
                        <a:spcAft>
                          <a:spcPts val="0"/>
                        </a:spcAft>
                      </a:pPr>
                      <a:r>
                        <a:rPr sz="1300" b="1">
                          <a:solidFill>
                            <a:srgbClr val="1F1F1F"/>
                          </a:solidFill>
                          <a:latin typeface="Calibri"/>
                        </a:rPr>
                        <a:t>aceleração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Resgate sênior precede</a:t>
                      </a:r>
                    </a:p>
                    <a:p>
                      <a:pPr algn="l">
                        <a:lnSpc>
                          <a:spcPct val="100000"/>
                        </a:lnSpc>
                        <a:spcBef>
                          <a:spcPts val="0"/>
                        </a:spcBef>
                        <a:spcAft>
                          <a:spcPts val="0"/>
                        </a:spcAft>
                      </a:pPr>
                      <a:r>
                        <a:rPr sz="1300" b="0">
                          <a:solidFill>
                            <a:srgbClr val="1F1F1F"/>
                          </a:solidFill>
                          <a:latin typeface="Calibri"/>
                        </a:rPr>
                        <a:t>o da júnior, com</a:t>
                      </a:r>
                    </a:p>
                    <a:p>
                      <a:pPr algn="l">
                        <a:lnSpc>
                          <a:spcPct val="100000"/>
                        </a:lnSpc>
                        <a:spcBef>
                          <a:spcPts val="0"/>
                        </a:spcBef>
                        <a:spcAft>
                          <a:spcPts val="0"/>
                        </a:spcAft>
                      </a:pPr>
                      <a:r>
                        <a:rPr sz="1300" b="0">
                          <a:solidFill>
                            <a:srgbClr val="1F1F1F"/>
                          </a:solidFill>
                          <a:latin typeface="Calibri"/>
                        </a:rPr>
                        <a:t>exceção expressa para o</a:t>
                      </a:r>
                    </a:p>
                    <a:p>
                      <a:pPr algn="l">
                        <a:lnSpc>
                          <a:spcPct val="100000"/>
                        </a:lnSpc>
                        <a:spcBef>
                          <a:spcPts val="0"/>
                        </a:spcBef>
                        <a:spcAft>
                          <a:spcPts val="0"/>
                        </a:spcAft>
                      </a:pPr>
                      <a:r>
                        <a:rPr sz="1300" b="0">
                          <a:solidFill>
                            <a:srgbClr val="1F1F1F"/>
                          </a:solidFill>
                          <a:latin typeface="Calibri"/>
                        </a:rPr>
                        <a:t>que o Anexo I permitir.</a:t>
                      </a:r>
                    </a:p>
                    <a:p>
                      <a:pPr algn="l">
                        <a:lnSpc>
                          <a:spcPct val="100000"/>
                        </a:lnSpc>
                        <a:spcBef>
                          <a:spcPts val="0"/>
                        </a:spcBef>
                        <a:spcAft>
                          <a:spcPts val="0"/>
                        </a:spcAft>
                      </a:pPr>
                      <a:r>
                        <a:rPr sz="1300" b="0">
                          <a:solidFill>
                            <a:srgbClr val="1F1F1F"/>
                          </a:solidFill>
                          <a:latin typeface="Calibri"/>
                        </a:rPr>
                        <a:t>Na liquidação da</a:t>
                      </a:r>
                    </a:p>
                    <a:p>
                      <a:pPr algn="l">
                        <a:lnSpc>
                          <a:spcPct val="100000"/>
                        </a:lnSpc>
                        <a:spcBef>
                          <a:spcPts val="0"/>
                        </a:spcBef>
                        <a:spcAft>
                          <a:spcPts val="0"/>
                        </a:spcAft>
                      </a:pPr>
                      <a:r>
                        <a:rPr sz="1300" b="0">
                          <a:solidFill>
                            <a:srgbClr val="1F1F1F"/>
                          </a:solidFill>
                          <a:latin typeface="Calibri"/>
                        </a:rPr>
                        <a:t>classe, Anexo I 11.2.1</a:t>
                      </a:r>
                    </a:p>
                    <a:p>
                      <a:pPr algn="l">
                        <a:lnSpc>
                          <a:spcPct val="100000"/>
                        </a:lnSpc>
                        <a:spcBef>
                          <a:spcPts val="0"/>
                        </a:spcBef>
                        <a:spcAft>
                          <a:spcPts val="0"/>
                        </a:spcAft>
                      </a:pPr>
                      <a:r>
                        <a:rPr sz="1300" b="0">
                          <a:solidFill>
                            <a:srgbClr val="1F1F1F"/>
                          </a:solidFill>
                          <a:latin typeface="Calibri"/>
                        </a:rPr>
                        <a:t>determina partilha</a:t>
                      </a:r>
                    </a:p>
                    <a:p>
                      <a:pPr algn="l">
                        <a:lnSpc>
                          <a:spcPct val="100000"/>
                        </a:lnSpc>
                        <a:spcBef>
                          <a:spcPts val="0"/>
                        </a:spcBef>
                        <a:spcAft>
                          <a:spcPts val="0"/>
                        </a:spcAft>
                      </a:pPr>
                      <a:r>
                        <a:rPr sz="1300" b="0">
                          <a:solidFill>
                            <a:srgbClr val="1F1F1F"/>
                          </a:solidFill>
                          <a:latin typeface="Calibri"/>
                        </a:rPr>
                        <a:t>proporcional ao número</a:t>
                      </a:r>
                    </a:p>
                    <a:p>
                      <a:pPr algn="l">
                        <a:lnSpc>
                          <a:spcPct val="100000"/>
                        </a:lnSpc>
                        <a:spcBef>
                          <a:spcPts val="0"/>
                        </a:spcBef>
                        <a:spcAft>
                          <a:spcPts val="0"/>
                        </a:spcAft>
                      </a:pPr>
                      <a:r>
                        <a:rPr sz="1300" b="0">
                          <a:solidFill>
                            <a:srgbClr val="1F1F1F"/>
                          </a:solidFill>
                          <a:latin typeface="Calibri"/>
                        </a:rPr>
                        <a:t>de cotas, deduzidas</a:t>
                      </a:r>
                    </a:p>
                    <a:p>
                      <a:pPr algn="l">
                        <a:lnSpc>
                          <a:spcPct val="100000"/>
                        </a:lnSpc>
                        <a:spcBef>
                          <a:spcPts val="0"/>
                        </a:spcBef>
                        <a:spcAft>
                          <a:spcPts val="0"/>
                        </a:spcAft>
                      </a:pPr>
                      <a:r>
                        <a:rPr sz="1300" b="0">
                          <a:solidFill>
                            <a:srgbClr val="1F1F1F"/>
                          </a:solidFill>
                          <a:latin typeface="Calibri"/>
                        </a:rPr>
                        <a:t>despesas, sem</a:t>
                      </a:r>
                    </a:p>
                    <a:p>
                      <a:pPr algn="l">
                        <a:lnSpc>
                          <a:spcPct val="100000"/>
                        </a:lnSpc>
                        <a:spcBef>
                          <a:spcPts val="0"/>
                        </a:spcBef>
                        <a:spcAft>
                          <a:spcPts val="0"/>
                        </a:spcAft>
                      </a:pPr>
                      <a:r>
                        <a:rPr sz="1300" b="0">
                          <a:solidFill>
                            <a:srgbClr val="1F1F1F"/>
                          </a:solidFill>
                          <a:latin typeface="Calibri"/>
                        </a:rPr>
                        <a:t>preferência, prioridade</a:t>
                      </a:r>
                    </a:p>
                    <a:p>
                      <a:pPr algn="l">
                        <a:lnSpc>
                          <a:spcPct val="100000"/>
                        </a:lnSpc>
                        <a:spcBef>
                          <a:spcPts val="0"/>
                        </a:spcBef>
                        <a:spcAft>
                          <a:spcPts val="0"/>
                        </a:spcAft>
                      </a:pPr>
                      <a:r>
                        <a:rPr sz="1300" b="0">
                          <a:solidFill>
                            <a:srgbClr val="1F1F1F"/>
                          </a:solidFill>
                          <a:latin typeface="Calibri"/>
                        </a:rPr>
                        <a:t>ou subordinação entre</a:t>
                      </a:r>
                    </a:p>
                    <a:p>
                      <a:pPr algn="l">
                        <a:lnSpc>
                          <a:spcPct val="100000"/>
                        </a:lnSpc>
                        <a:spcBef>
                          <a:spcPts val="0"/>
                        </a:spcBef>
                        <a:spcAft>
                          <a:spcPts val="0"/>
                        </a:spcAft>
                      </a:pPr>
                      <a:r>
                        <a:rPr sz="1300" b="0">
                          <a:solidFill>
                            <a:srgbClr val="1F1F1F"/>
                          </a:solidFill>
                          <a:latin typeface="Calibri"/>
                        </a:rPr>
                        <a:t>cotistas.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58/160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Fluxo de caixa e prazo</a:t>
            </a:r>
          </a:p>
        </p:txBody>
      </p:sp>
      <p:graphicFrame>
        <p:nvGraphicFramePr>
          <p:cNvPr id="3" name="Table 2"/>
          <p:cNvGraphicFramePr>
            <a:graphicFrameLocks noGrp="1"/>
          </p:cNvGraphicFramePr>
          <p:nvPr/>
        </p:nvGraphicFramePr>
        <p:xfrm>
          <a:off x="438912" y="932688"/>
          <a:ext cx="11313868" cy="4411980"/>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1783080">
                <a:tc>
                  <a:txBody>
                    <a:bodyPr wrap="square">
                      <a:noAutofit/>
                    </a:bodyPr>
                    <a:lstStyle/>
                    <a:p>
                      <a:pPr algn="l">
                        <a:lnSpc>
                          <a:spcPct val="100000"/>
                        </a:lnSpc>
                        <a:spcBef>
                          <a:spcPts val="0"/>
                        </a:spcBef>
                        <a:spcAft>
                          <a:spcPts val="0"/>
                        </a:spcAft>
                      </a:pPr>
                      <a:r>
                        <a:rPr sz="1300" b="1">
                          <a:solidFill>
                            <a:srgbClr val="1F1F1F"/>
                          </a:solidFill>
                          <a:latin typeface="Calibri"/>
                        </a:rPr>
                        <a:t>Revolvência e</a:t>
                      </a:r>
                    </a:p>
                    <a:p>
                      <a:pPr algn="l">
                        <a:lnSpc>
                          <a:spcPct val="100000"/>
                        </a:lnSpc>
                        <a:spcBef>
                          <a:spcPts val="0"/>
                        </a:spcBef>
                        <a:spcAft>
                          <a:spcPts val="0"/>
                        </a:spcAft>
                      </a:pPr>
                      <a:r>
                        <a:rPr sz="1300" b="1">
                          <a:solidFill>
                            <a:srgbClr val="1F1F1F"/>
                          </a:solidFill>
                          <a:latin typeface="Calibri"/>
                        </a:rPr>
                        <a:t>desinvestimento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Recebimentos podem</a:t>
                      </a:r>
                    </a:p>
                    <a:p>
                      <a:pPr algn="l">
                        <a:lnSpc>
                          <a:spcPct val="100000"/>
                        </a:lnSpc>
                        <a:spcBef>
                          <a:spcPts val="0"/>
                        </a:spcBef>
                        <a:spcAft>
                          <a:spcPts val="0"/>
                        </a:spcAft>
                      </a:pPr>
                      <a:r>
                        <a:rPr sz="1300" b="0">
                          <a:solidFill>
                            <a:srgbClr val="1F1F1F"/>
                          </a:solidFill>
                          <a:latin typeface="Calibri"/>
                        </a:rPr>
                        <a:t>comprar novos direitos</a:t>
                      </a:r>
                    </a:p>
                    <a:p>
                      <a:pPr algn="l">
                        <a:lnSpc>
                          <a:spcPct val="100000"/>
                        </a:lnSpc>
                        <a:spcBef>
                          <a:spcPts val="0"/>
                        </a:spcBef>
                        <a:spcAft>
                          <a:spcPts val="0"/>
                        </a:spcAft>
                      </a:pPr>
                      <a:r>
                        <a:rPr sz="1300" b="0">
                          <a:solidFill>
                            <a:srgbClr val="1F1F1F"/>
                          </a:solidFill>
                          <a:latin typeface="Calibri"/>
                        </a:rPr>
                        <a:t>até que as aquisições</a:t>
                      </a:r>
                    </a:p>
                    <a:p>
                      <a:pPr algn="l">
                        <a:lnSpc>
                          <a:spcPct val="100000"/>
                        </a:lnSpc>
                        <a:spcBef>
                          <a:spcPts val="0"/>
                        </a:spcBef>
                        <a:spcAft>
                          <a:spcPts val="0"/>
                        </a:spcAft>
                      </a:pPr>
                      <a:r>
                        <a:rPr sz="1300" b="0">
                          <a:solidFill>
                            <a:srgbClr val="1F1F1F"/>
                          </a:solidFill>
                          <a:latin typeface="Calibri"/>
                        </a:rPr>
                        <a:t>acumuladas atinjam R$</a:t>
                      </a:r>
                    </a:p>
                    <a:p>
                      <a:pPr algn="l">
                        <a:lnSpc>
                          <a:spcPct val="100000"/>
                        </a:lnSpc>
                        <a:spcBef>
                          <a:spcPts val="0"/>
                        </a:spcBef>
                        <a:spcAft>
                          <a:spcPts val="0"/>
                        </a:spcAft>
                      </a:pPr>
                      <a:r>
                        <a:rPr sz="1300" b="0">
                          <a:solidFill>
                            <a:srgbClr val="1F1F1F"/>
                          </a:solidFill>
                          <a:latin typeface="Calibri"/>
                        </a:rPr>
                        <a:t>250 milhões. Após esse</a:t>
                      </a:r>
                    </a:p>
                    <a:p>
                      <a:pPr algn="l">
                        <a:lnSpc>
                          <a:spcPct val="100000"/>
                        </a:lnSpc>
                        <a:spcBef>
                          <a:spcPts val="0"/>
                        </a:spcBef>
                        <a:spcAft>
                          <a:spcPts val="0"/>
                        </a:spcAft>
                      </a:pPr>
                      <a:r>
                        <a:rPr sz="1300" b="0">
                          <a:solidFill>
                            <a:srgbClr val="1F1F1F"/>
                          </a:solidFill>
                          <a:latin typeface="Calibri"/>
                        </a:rPr>
                        <a:t>montante, cessam novas</a:t>
                      </a:r>
                    </a:p>
                    <a:p>
                      <a:pPr algn="l">
                        <a:lnSpc>
                          <a:spcPct val="100000"/>
                        </a:lnSpc>
                        <a:spcBef>
                          <a:spcPts val="0"/>
                        </a:spcBef>
                        <a:spcAft>
                          <a:spcPts val="0"/>
                        </a:spcAft>
                      </a:pPr>
                      <a:r>
                        <a:rPr sz="1300" b="0">
                          <a:solidFill>
                            <a:srgbClr val="1F1F1F"/>
                          </a:solidFill>
                          <a:latin typeface="Calibri"/>
                        </a:rPr>
                        <a:t>aquisições.</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Investimento por 24</a:t>
                      </a:r>
                    </a:p>
                    <a:p>
                      <a:pPr algn="l">
                        <a:lnSpc>
                          <a:spcPct val="100000"/>
                        </a:lnSpc>
                        <a:spcBef>
                          <a:spcPts val="0"/>
                        </a:spcBef>
                        <a:spcAft>
                          <a:spcPts val="0"/>
                        </a:spcAft>
                      </a:pPr>
                      <a:r>
                        <a:rPr sz="1300" b="0">
                          <a:solidFill>
                            <a:srgbClr val="1F1F1F"/>
                          </a:solidFill>
                          <a:latin typeface="Calibri"/>
                        </a:rPr>
                        <a:t>meses da primeira</a:t>
                      </a:r>
                    </a:p>
                    <a:p>
                      <a:pPr algn="l">
                        <a:lnSpc>
                          <a:spcPct val="100000"/>
                        </a:lnSpc>
                        <a:spcBef>
                          <a:spcPts val="0"/>
                        </a:spcBef>
                        <a:spcAft>
                          <a:spcPts val="0"/>
                        </a:spcAft>
                      </a:pPr>
                      <a:r>
                        <a:rPr sz="1300" b="0">
                          <a:solidFill>
                            <a:srgbClr val="1F1F1F"/>
                          </a:solidFill>
                          <a:latin typeface="Calibri"/>
                        </a:rPr>
                        <a:t>integralização; admite</a:t>
                      </a:r>
                    </a:p>
                    <a:p>
                      <a:pPr algn="l">
                        <a:lnSpc>
                          <a:spcPct val="100000"/>
                        </a:lnSpc>
                        <a:spcBef>
                          <a:spcPts val="0"/>
                        </a:spcBef>
                        <a:spcAft>
                          <a:spcPts val="0"/>
                        </a:spcAft>
                      </a:pPr>
                      <a:r>
                        <a:rPr sz="1300" b="0">
                          <a:solidFill>
                            <a:srgbClr val="1F1F1F"/>
                          </a:solidFill>
                          <a:latin typeface="Calibri"/>
                        </a:rPr>
                        <a:t>reinvestimento em novos</a:t>
                      </a:r>
                    </a:p>
                    <a:p>
                      <a:pPr algn="l">
                        <a:lnSpc>
                          <a:spcPct val="100000"/>
                        </a:lnSpc>
                        <a:spcBef>
                          <a:spcPts val="0"/>
                        </a:spcBef>
                        <a:spcAft>
                          <a:spcPts val="0"/>
                        </a:spcAft>
                      </a:pPr>
                      <a:r>
                        <a:rPr sz="1300" b="0">
                          <a:solidFill>
                            <a:srgbClr val="1F1F1F"/>
                          </a:solidFill>
                          <a:latin typeface="Calibri"/>
                        </a:rPr>
                        <a:t>direitos. Depois,</a:t>
                      </a:r>
                    </a:p>
                    <a:p>
                      <a:pPr algn="l">
                        <a:lnSpc>
                          <a:spcPct val="100000"/>
                        </a:lnSpc>
                        <a:spcBef>
                          <a:spcPts val="0"/>
                        </a:spcBef>
                        <a:spcAft>
                          <a:spcPts val="0"/>
                        </a:spcAft>
                      </a:pPr>
                      <a:r>
                        <a:rPr sz="1300" b="0">
                          <a:solidFill>
                            <a:srgbClr val="1F1F1F"/>
                          </a:solidFill>
                          <a:latin typeface="Calibri"/>
                        </a:rPr>
                        <a:t>inicia amortização</a:t>
                      </a:r>
                    </a:p>
                    <a:p>
                      <a:pPr algn="l">
                        <a:lnSpc>
                          <a:spcPct val="100000"/>
                        </a:lnSpc>
                        <a:spcBef>
                          <a:spcPts val="0"/>
                        </a:spcBef>
                        <a:spcAft>
                          <a:spcPts val="0"/>
                        </a:spcAft>
                      </a:pPr>
                      <a:r>
                        <a:rPr sz="1300" b="0">
                          <a:solidFill>
                            <a:srgbClr val="1F1F1F"/>
                          </a:solidFill>
                          <a:latin typeface="Calibri"/>
                        </a:rPr>
                        <a:t>mensal em caixa com</a:t>
                      </a:r>
                    </a:p>
                    <a:p>
                      <a:pPr algn="l">
                        <a:lnSpc>
                          <a:spcPct val="100000"/>
                        </a:lnSpc>
                        <a:spcBef>
                          <a:spcPts val="0"/>
                        </a:spcBef>
                        <a:spcAft>
                          <a:spcPts val="0"/>
                        </a:spcAft>
                      </a:pPr>
                      <a:r>
                        <a:rPr sz="1300" b="0">
                          <a:solidFill>
                            <a:srgbClr val="1F1F1F"/>
                          </a:solidFill>
                          <a:latin typeface="Calibri"/>
                        </a:rPr>
                        <a:t>índice de subordinação</a:t>
                      </a:r>
                    </a:p>
                    <a:p>
                      <a:pPr algn="l">
                        <a:lnSpc>
                          <a:spcPct val="100000"/>
                        </a:lnSpc>
                        <a:spcBef>
                          <a:spcPts val="0"/>
                        </a:spcBef>
                        <a:spcAft>
                          <a:spcPts val="0"/>
                        </a:spcAft>
                      </a:pPr>
                      <a:r>
                        <a:rPr sz="1300" b="0">
                          <a:solidFill>
                            <a:srgbClr val="1F1F1F"/>
                          </a:solidFill>
                          <a:latin typeface="Calibri"/>
                        </a:rPr>
                        <a:t>atendido.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Gestor pode reinvestir</a:t>
                      </a:r>
                    </a:p>
                    <a:p>
                      <a:pPr algn="l">
                        <a:lnSpc>
                          <a:spcPct val="100000"/>
                        </a:lnSpc>
                        <a:spcBef>
                          <a:spcPts val="0"/>
                        </a:spcBef>
                        <a:spcAft>
                          <a:spcPts val="0"/>
                        </a:spcAft>
                      </a:pPr>
                      <a:r>
                        <a:rPr sz="1300" b="0">
                          <a:solidFill>
                            <a:srgbClr val="1F1F1F"/>
                          </a:solidFill>
                          <a:latin typeface="Calibri"/>
                        </a:rPr>
                        <a:t>recebimentos, inclusive</a:t>
                      </a:r>
                    </a:p>
                    <a:p>
                      <a:pPr algn="l">
                        <a:lnSpc>
                          <a:spcPct val="100000"/>
                        </a:lnSpc>
                        <a:spcBef>
                          <a:spcPts val="0"/>
                        </a:spcBef>
                        <a:spcAft>
                          <a:spcPts val="0"/>
                        </a:spcAft>
                      </a:pPr>
                      <a:r>
                        <a:rPr sz="1300" b="0">
                          <a:solidFill>
                            <a:srgbClr val="1F1F1F"/>
                          </a:solidFill>
                          <a:latin typeface="Calibri"/>
                        </a:rPr>
                        <a:t>recuperações/excussão/a</a:t>
                      </a:r>
                    </a:p>
                    <a:p>
                      <a:pPr algn="l">
                        <a:lnSpc>
                          <a:spcPct val="100000"/>
                        </a:lnSpc>
                        <a:spcBef>
                          <a:spcPts val="0"/>
                        </a:spcBef>
                        <a:spcAft>
                          <a:spcPts val="0"/>
                        </a:spcAft>
                      </a:pPr>
                      <a:r>
                        <a:rPr sz="1300" b="0">
                          <a:solidFill>
                            <a:srgbClr val="1F1F1F"/>
                          </a:solidFill>
                          <a:latin typeface="Calibri"/>
                        </a:rPr>
                        <a:t>lienação/recompra, em</a:t>
                      </a:r>
                    </a:p>
                    <a:p>
                      <a:pPr algn="l">
                        <a:lnSpc>
                          <a:spcPct val="100000"/>
                        </a:lnSpc>
                        <a:spcBef>
                          <a:spcPts val="0"/>
                        </a:spcBef>
                        <a:spcAft>
                          <a:spcPts val="0"/>
                        </a:spcAft>
                      </a:pPr>
                      <a:r>
                        <a:rPr sz="1300" b="0">
                          <a:solidFill>
                            <a:srgbClr val="1F1F1F"/>
                          </a:solidFill>
                          <a:latin typeface="Calibri"/>
                        </a:rPr>
                        <a:t>novos direitos ou</a:t>
                      </a:r>
                    </a:p>
                    <a:p>
                      <a:pPr algn="l">
                        <a:lnSpc>
                          <a:spcPct val="100000"/>
                        </a:lnSpc>
                        <a:spcBef>
                          <a:spcPts val="0"/>
                        </a:spcBef>
                        <a:spcAft>
                          <a:spcPts val="0"/>
                        </a:spcAft>
                      </a:pPr>
                      <a:r>
                        <a:rPr sz="1300" b="0">
                          <a:solidFill>
                            <a:srgbClr val="1F1F1F"/>
                          </a:solidFill>
                          <a:latin typeface="Calibri"/>
                        </a:rPr>
                        <a:t>Outros Ativos, ou</a:t>
                      </a:r>
                    </a:p>
                    <a:p>
                      <a:pPr algn="l">
                        <a:lnSpc>
                          <a:spcPct val="100000"/>
                        </a:lnSpc>
                        <a:spcBef>
                          <a:spcPts val="0"/>
                        </a:spcBef>
                        <a:spcAft>
                          <a:spcPts val="0"/>
                        </a:spcAft>
                      </a:pPr>
                      <a:r>
                        <a:rPr sz="1300" b="0">
                          <a:solidFill>
                            <a:srgbClr val="1F1F1F"/>
                          </a:solidFill>
                          <a:latin typeface="Calibri"/>
                        </a:rPr>
                        <a:t>direcioná-los ao</a:t>
                      </a:r>
                    </a:p>
                    <a:p>
                      <a:pPr algn="l">
                        <a:lnSpc>
                          <a:spcPct val="100000"/>
                        </a:lnSpc>
                        <a:spcBef>
                          <a:spcPts val="0"/>
                        </a:spcBef>
                        <a:spcAft>
                          <a:spcPts val="0"/>
                        </a:spcAft>
                      </a:pPr>
                      <a:r>
                        <a:rPr sz="1300" b="0">
                          <a:solidFill>
                            <a:srgbClr val="1F1F1F"/>
                          </a:solidFill>
                          <a:latin typeface="Calibri"/>
                        </a:rPr>
                        <a:t>resgate, respeitando a</a:t>
                      </a:r>
                    </a:p>
                    <a:p>
                      <a:pPr algn="l">
                        <a:lnSpc>
                          <a:spcPct val="100000"/>
                        </a:lnSpc>
                        <a:spcBef>
                          <a:spcPts val="0"/>
                        </a:spcBef>
                        <a:spcAft>
                          <a:spcPts val="0"/>
                        </a:spcAft>
                      </a:pPr>
                      <a:r>
                        <a:rPr sz="1300" b="0">
                          <a:solidFill>
                            <a:srgbClr val="1F1F1F"/>
                          </a:solidFill>
                          <a:latin typeface="Calibri"/>
                        </a:rPr>
                        <a:t>waterfall.</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Recebimentos da classe</a:t>
                      </a:r>
                    </a:p>
                    <a:p>
                      <a:pPr algn="l">
                        <a:lnSpc>
                          <a:spcPct val="100000"/>
                        </a:lnSpc>
                        <a:spcBef>
                          <a:spcPts val="0"/>
                        </a:spcBef>
                        <a:spcAft>
                          <a:spcPts val="0"/>
                        </a:spcAft>
                      </a:pPr>
                      <a:r>
                        <a:rPr sz="1300" b="0">
                          <a:solidFill>
                            <a:srgbClr val="1F1F1F"/>
                          </a:solidFill>
                          <a:latin typeface="Calibri"/>
                        </a:rPr>
                        <a:t>investida destinam-se à</a:t>
                      </a:r>
                    </a:p>
                    <a:p>
                      <a:pPr algn="l">
                        <a:lnSpc>
                          <a:spcPct val="100000"/>
                        </a:lnSpc>
                        <a:spcBef>
                          <a:spcPts val="0"/>
                        </a:spcBef>
                        <a:spcAft>
                          <a:spcPts val="0"/>
                        </a:spcAft>
                      </a:pPr>
                      <a:r>
                        <a:rPr sz="1300" b="0">
                          <a:solidFill>
                            <a:srgbClr val="1F1F1F"/>
                          </a:solidFill>
                          <a:latin typeface="Calibri"/>
                        </a:rPr>
                        <a:t>amortização/resgate por</a:t>
                      </a:r>
                    </a:p>
                    <a:p>
                      <a:pPr algn="l">
                        <a:lnSpc>
                          <a:spcPct val="100000"/>
                        </a:lnSpc>
                        <a:spcBef>
                          <a:spcPts val="0"/>
                        </a:spcBef>
                        <a:spcAft>
                          <a:spcPts val="0"/>
                        </a:spcAft>
                      </a:pPr>
                      <a:r>
                        <a:rPr sz="1300" b="0">
                          <a:solidFill>
                            <a:srgbClr val="1F1F1F"/>
                          </a:solidFill>
                          <a:latin typeface="Calibri"/>
                        </a:rPr>
                        <a:t>decisão do gestor,</a:t>
                      </a:r>
                    </a:p>
                    <a:p>
                      <a:pPr algn="l">
                        <a:lnSpc>
                          <a:spcPct val="100000"/>
                        </a:lnSpc>
                        <a:spcBef>
                          <a:spcPts val="0"/>
                        </a:spcBef>
                        <a:spcAft>
                          <a:spcPts val="0"/>
                        </a:spcAft>
                      </a:pPr>
                      <a:r>
                        <a:rPr sz="1300" b="0">
                          <a:solidFill>
                            <a:srgbClr val="1F1F1F"/>
                          </a:solidFill>
                          <a:latin typeface="Calibri"/>
                        </a:rPr>
                        <a:t>podendo cobrir</a:t>
                      </a:r>
                    </a:p>
                    <a:p>
                      <a:pPr algn="l">
                        <a:lnSpc>
                          <a:spcPct val="100000"/>
                        </a:lnSpc>
                        <a:spcBef>
                          <a:spcPts val="0"/>
                        </a:spcBef>
                        <a:spcAft>
                          <a:spcPts val="0"/>
                        </a:spcAft>
                      </a:pPr>
                      <a:r>
                        <a:rPr sz="1300" b="0">
                          <a:solidFill>
                            <a:srgbClr val="1F1F1F"/>
                          </a:solidFill>
                          <a:latin typeface="Calibri"/>
                        </a:rPr>
                        <a:t>encargos/despesas</a:t>
                      </a:r>
                    </a:p>
                    <a:p>
                      <a:pPr algn="l">
                        <a:lnSpc>
                          <a:spcPct val="100000"/>
                        </a:lnSpc>
                        <a:spcBef>
                          <a:spcPts val="0"/>
                        </a:spcBef>
                        <a:spcAft>
                          <a:spcPts val="0"/>
                        </a:spcAft>
                      </a:pPr>
                      <a:r>
                        <a:rPr sz="1300" b="0">
                          <a:solidFill>
                            <a:srgbClr val="1F1F1F"/>
                          </a:solidFill>
                          <a:latin typeface="Calibri"/>
                        </a:rPr>
                        <a:t>extraordinárias do FIC</a:t>
                      </a:r>
                    </a:p>
                    <a:p>
                      <a:pPr algn="l">
                        <a:lnSpc>
                          <a:spcPct val="100000"/>
                        </a:lnSpc>
                        <a:spcBef>
                          <a:spcPts val="0"/>
                        </a:spcBef>
                        <a:spcAft>
                          <a:spcPts val="0"/>
                        </a:spcAft>
                      </a:pPr>
                      <a:r>
                        <a:rPr sz="1300" b="0">
                          <a:solidFill>
                            <a:srgbClr val="1F1F1F"/>
                          </a:solidFill>
                          <a:latin typeface="Calibri"/>
                        </a:rPr>
                        <a:t>ou investido.</a:t>
                      </a:r>
                    </a:p>
                  </a:txBody>
                  <a:tcPr marL="91440" marR="91440" marT="41148" marB="41148" anchor="ctr">
                    <a:solidFill>
                      <a:srgbClr val="FFFFFF"/>
                    </a:solidFill>
                    <a:lnL>
                      <a:noFill/>
                    </a:lnL>
                    <a:lnR>
                      <a:noFill/>
                    </a:lnR>
                    <a:lnT>
                      <a:noFill/>
                    </a:lnT>
                    <a:lnB>
                      <a:noFill/>
                    </a:lnB>
                  </a:tcPr>
                </a:tc>
              </a:tr>
              <a:tr h="2157984">
                <a:tc>
                  <a:txBody>
                    <a:bodyPr wrap="square">
                      <a:noAutofit/>
                    </a:bodyPr>
                    <a:lstStyle/>
                    <a:p>
                      <a:pPr algn="l">
                        <a:lnSpc>
                          <a:spcPct val="100000"/>
                        </a:lnSpc>
                        <a:spcBef>
                          <a:spcPts val="0"/>
                        </a:spcBef>
                        <a:spcAft>
                          <a:spcPts val="0"/>
                        </a:spcAft>
                      </a:pPr>
                      <a:r>
                        <a:rPr sz="1300" b="1">
                          <a:solidFill>
                            <a:srgbClr val="1F1F1F"/>
                          </a:solidFill>
                          <a:latin typeface="Calibri"/>
                        </a:rPr>
                        <a:t>Cessões, preço e</a:t>
                      </a:r>
                    </a:p>
                    <a:p>
                      <a:pPr algn="l">
                        <a:lnSpc>
                          <a:spcPct val="100000"/>
                        </a:lnSpc>
                        <a:spcBef>
                          <a:spcPts val="0"/>
                        </a:spcBef>
                        <a:spcAft>
                          <a:spcPts val="0"/>
                        </a:spcAft>
                      </a:pPr>
                      <a:r>
                        <a:rPr sz="1300" b="1">
                          <a:solidFill>
                            <a:srgbClr val="1F1F1F"/>
                          </a:solidFill>
                          <a:latin typeface="Calibri"/>
                        </a:rPr>
                        <a:t>carteira residual</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4.22 A Classe poderá</a:t>
                      </a:r>
                    </a:p>
                    <a:p>
                      <a:pPr algn="l">
                        <a:lnSpc>
                          <a:spcPct val="100000"/>
                        </a:lnSpc>
                        <a:spcBef>
                          <a:spcPts val="0"/>
                        </a:spcBef>
                        <a:spcAft>
                          <a:spcPts val="0"/>
                        </a:spcAft>
                      </a:pPr>
                      <a:r>
                        <a:rPr sz="1300" b="0">
                          <a:solidFill>
                            <a:srgbClr val="1F1F1F"/>
                          </a:solidFill>
                          <a:latin typeface="Calibri"/>
                        </a:rPr>
                        <a:t>participar de operações</a:t>
                      </a:r>
                    </a:p>
                    <a:p>
                      <a:pPr algn="l">
                        <a:lnSpc>
                          <a:spcPct val="100000"/>
                        </a:lnSpc>
                        <a:spcBef>
                          <a:spcPts val="0"/>
                        </a:spcBef>
                        <a:spcAft>
                          <a:spcPts val="0"/>
                        </a:spcAft>
                      </a:pPr>
                      <a:r>
                        <a:rPr sz="1300" b="0">
                          <a:solidFill>
                            <a:srgbClr val="1F1F1F"/>
                          </a:solidFill>
                          <a:latin typeface="Calibri"/>
                        </a:rPr>
                        <a:t>de securitização por</a:t>
                      </a:r>
                    </a:p>
                    <a:p>
                      <a:pPr algn="l">
                        <a:lnSpc>
                          <a:spcPct val="100000"/>
                        </a:lnSpc>
                        <a:spcBef>
                          <a:spcPts val="0"/>
                        </a:spcBef>
                        <a:spcAft>
                          <a:spcPts val="0"/>
                        </a:spcAft>
                      </a:pPr>
                      <a:r>
                        <a:rPr sz="1300" b="0">
                          <a:solidFill>
                            <a:srgbClr val="1F1F1F"/>
                          </a:solidFill>
                          <a:latin typeface="Calibri"/>
                        </a:rPr>
                        <a:t>meio de cessão de</a:t>
                      </a:r>
                    </a:p>
                    <a:p>
                      <a:pPr algn="l">
                        <a:lnSpc>
                          <a:spcPct val="100000"/>
                        </a:lnSpc>
                        <a:spcBef>
                          <a:spcPts val="0"/>
                        </a:spcBef>
                        <a:spcAft>
                          <a:spcPts val="0"/>
                        </a:spcAft>
                      </a:pPr>
                      <a:r>
                        <a:rPr sz="1300" b="0">
                          <a:solidFill>
                            <a:srgbClr val="1F1F1F"/>
                          </a:solidFill>
                          <a:latin typeface="Calibri"/>
                        </a:rPr>
                        <a:t>direitos creditórios de</a:t>
                      </a:r>
                    </a:p>
                    <a:p>
                      <a:pPr algn="l">
                        <a:lnSpc>
                          <a:spcPct val="100000"/>
                        </a:lnSpc>
                        <a:spcBef>
                          <a:spcPts val="0"/>
                        </a:spcBef>
                        <a:spcAft>
                          <a:spcPts val="0"/>
                        </a:spcAft>
                      </a:pPr>
                      <a:r>
                        <a:rPr sz="1300" b="0">
                          <a:solidFill>
                            <a:srgbClr val="1F1F1F"/>
                          </a:solidFill>
                          <a:latin typeface="Calibri"/>
                        </a:rPr>
                        <a:t>que seja titular,</a:t>
                      </a:r>
                    </a:p>
                    <a:p>
                      <a:pPr algn="l">
                        <a:lnSpc>
                          <a:spcPct val="100000"/>
                        </a:lnSpc>
                        <a:spcBef>
                          <a:spcPts val="0"/>
                        </a:spcBef>
                        <a:spcAft>
                          <a:spcPts val="0"/>
                        </a:spcAft>
                      </a:pPr>
                      <a:r>
                        <a:rPr sz="1300" b="0">
                          <a:solidFill>
                            <a:srgbClr val="1F1F1F"/>
                          </a:solidFill>
                          <a:latin typeface="Calibri"/>
                        </a:rPr>
                        <a:t>incluindo,</a:t>
                      </a:r>
                    </a:p>
                    <a:p>
                      <a:pPr algn="l">
                        <a:lnSpc>
                          <a:spcPct val="100000"/>
                        </a:lnSpc>
                        <a:spcBef>
                          <a:spcPts val="0"/>
                        </a:spcBef>
                        <a:spcAft>
                          <a:spcPts val="0"/>
                        </a:spcAft>
                      </a:pPr>
                      <a:r>
                        <a:rPr sz="1300" b="0">
                          <a:solidFill>
                            <a:srgbClr val="1F1F1F"/>
                          </a:solidFill>
                          <a:latin typeface="Calibri"/>
                        </a:rPr>
                        <a:t>exemplificativamente,</a:t>
                      </a:r>
                    </a:p>
                    <a:p>
                      <a:pPr algn="l">
                        <a:lnSpc>
                          <a:spcPct val="100000"/>
                        </a:lnSpc>
                        <a:spcBef>
                          <a:spcPts val="0"/>
                        </a:spcBef>
                        <a:spcAft>
                          <a:spcPts val="0"/>
                        </a:spcAft>
                      </a:pPr>
                      <a:r>
                        <a:rPr sz="1300" b="0">
                          <a:solidFill>
                            <a:srgbClr val="1F1F1F"/>
                          </a:solidFill>
                          <a:latin typeface="Calibri"/>
                        </a:rPr>
                        <a:t>créditos de locação,</a:t>
                      </a:r>
                    </a:p>
                    <a:p>
                      <a:pPr algn="l">
                        <a:lnSpc>
                          <a:spcPct val="100000"/>
                        </a:lnSpc>
                        <a:spcBef>
                          <a:spcPts val="0"/>
                        </a:spcBef>
                        <a:spcAft>
                          <a:spcPts val="0"/>
                        </a:spcAft>
                      </a:pPr>
                      <a:r>
                        <a:rPr sz="1300" b="0">
                          <a:solidFill>
                            <a:srgbClr val="1F1F1F"/>
                          </a:solidFill>
                          <a:latin typeface="Calibri"/>
                        </a:rPr>
                        <a:t>venda ou direito real</a:t>
                      </a:r>
                    </a:p>
                    <a:p>
                      <a:pPr algn="l">
                        <a:lnSpc>
                          <a:spcPct val="100000"/>
                        </a:lnSpc>
                        <a:spcBef>
                          <a:spcPts val="0"/>
                        </a:spcBef>
                        <a:spcAft>
                          <a:spcPts val="0"/>
                        </a:spcAft>
                      </a:pPr>
                      <a:r>
                        <a:rPr sz="1300" b="0">
                          <a:solidFill>
                            <a:srgbClr val="1F1F1F"/>
                          </a:solidFill>
                          <a:latin typeface="Calibri"/>
                        </a:rPr>
                        <a:t>de superfície.</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Extração pendente</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59/160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Fluxo de caixa e prazo</a:t>
            </a:r>
          </a:p>
        </p:txBody>
      </p:sp>
      <p:graphicFrame>
        <p:nvGraphicFramePr>
          <p:cNvPr id="3" name="Table 2"/>
          <p:cNvGraphicFramePr>
            <a:graphicFrameLocks noGrp="1"/>
          </p:cNvGraphicFramePr>
          <p:nvPr/>
        </p:nvGraphicFramePr>
        <p:xfrm>
          <a:off x="438912" y="932688"/>
          <a:ext cx="11313868" cy="3570732"/>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2532888">
                <a:tc>
                  <a:txBody>
                    <a:bodyPr wrap="square">
                      <a:noAutofit/>
                    </a:bodyPr>
                    <a:lstStyle/>
                    <a:p>
                      <a:pPr algn="l">
                        <a:lnSpc>
                          <a:spcPct val="100000"/>
                        </a:lnSpc>
                        <a:spcBef>
                          <a:spcPts val="0"/>
                        </a:spcBef>
                        <a:spcAft>
                          <a:spcPts val="0"/>
                        </a:spcAft>
                      </a:pPr>
                      <a:r>
                        <a:rPr sz="1300" b="1">
                          <a:solidFill>
                            <a:srgbClr val="1F1F1F"/>
                          </a:solidFill>
                          <a:latin typeface="Calibri"/>
                        </a:rPr>
                        <a:t>Juros, amortização e</a:t>
                      </a:r>
                    </a:p>
                    <a:p>
                      <a:pPr algn="l">
                        <a:lnSpc>
                          <a:spcPct val="100000"/>
                        </a:lnSpc>
                        <a:spcBef>
                          <a:spcPts val="0"/>
                        </a:spcBef>
                        <a:spcAft>
                          <a:spcPts val="0"/>
                        </a:spcAft>
                      </a:pPr>
                      <a:r>
                        <a:rPr sz="1300" b="1">
                          <a:solidFill>
                            <a:srgbClr val="1F1F1F"/>
                          </a:solidFill>
                          <a:latin typeface="Calibri"/>
                        </a:rPr>
                        <a:t>vencimento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Amortizações a qualquer</a:t>
                      </a:r>
                    </a:p>
                    <a:p>
                      <a:pPr algn="l">
                        <a:lnSpc>
                          <a:spcPct val="100000"/>
                        </a:lnSpc>
                        <a:spcBef>
                          <a:spcPts val="0"/>
                        </a:spcBef>
                        <a:spcAft>
                          <a:spcPts val="0"/>
                        </a:spcAft>
                      </a:pPr>
                      <a:r>
                        <a:rPr sz="1300" b="0">
                          <a:solidFill>
                            <a:srgbClr val="1F1F1F"/>
                          </a:solidFill>
                          <a:latin typeface="Calibri"/>
                        </a:rPr>
                        <a:t>tempo, por orientação</a:t>
                      </a:r>
                    </a:p>
                    <a:p>
                      <a:pPr algn="l">
                        <a:lnSpc>
                          <a:spcPct val="100000"/>
                        </a:lnSpc>
                        <a:spcBef>
                          <a:spcPts val="0"/>
                        </a:spcBef>
                        <a:spcAft>
                          <a:spcPts val="0"/>
                        </a:spcAft>
                      </a:pPr>
                      <a:r>
                        <a:rPr sz="1300" b="0">
                          <a:solidFill>
                            <a:srgbClr val="1F1F1F"/>
                          </a:solidFill>
                          <a:latin typeface="Calibri"/>
                        </a:rPr>
                        <a:t>do gestor e/ou AGC e</a:t>
                      </a:r>
                    </a:p>
                    <a:p>
                      <a:pPr algn="l">
                        <a:lnSpc>
                          <a:spcPct val="100000"/>
                        </a:lnSpc>
                        <a:spcBef>
                          <a:spcPts val="0"/>
                        </a:spcBef>
                        <a:spcAft>
                          <a:spcPts val="0"/>
                        </a:spcAft>
                      </a:pPr>
                      <a:r>
                        <a:rPr sz="1300" b="0">
                          <a:solidFill>
                            <a:srgbClr val="1F1F1F"/>
                          </a:solidFill>
                          <a:latin typeface="Calibri"/>
                        </a:rPr>
                        <a:t>conforme recursos,</a:t>
                      </a:r>
                    </a:p>
                    <a:p>
                      <a:pPr algn="l">
                        <a:lnSpc>
                          <a:spcPct val="100000"/>
                        </a:lnSpc>
                        <a:spcBef>
                          <a:spcPts val="0"/>
                        </a:spcBef>
                        <a:spcAft>
                          <a:spcPts val="0"/>
                        </a:spcAft>
                      </a:pPr>
                      <a:r>
                        <a:rPr sz="1300" b="0">
                          <a:solidFill>
                            <a:srgbClr val="1F1F1F"/>
                          </a:solidFill>
                          <a:latin typeface="Calibri"/>
                        </a:rPr>
                        <a:t>proporcionais a todas</a:t>
                      </a:r>
                    </a:p>
                    <a:p>
                      <a:pPr algn="l">
                        <a:lnSpc>
                          <a:spcPct val="100000"/>
                        </a:lnSpc>
                        <a:spcBef>
                          <a:spcPts val="0"/>
                        </a:spcBef>
                        <a:spcAft>
                          <a:spcPts val="0"/>
                        </a:spcAft>
                      </a:pPr>
                      <a:r>
                        <a:rPr sz="1300" b="0">
                          <a:solidFill>
                            <a:srgbClr val="1F1F1F"/>
                          </a:solidFill>
                          <a:latin typeface="Calibri"/>
                        </a:rPr>
                        <a:t>as cotas. Resgate</a:t>
                      </a:r>
                    </a:p>
                    <a:p>
                      <a:pPr algn="l">
                        <a:lnSpc>
                          <a:spcPct val="100000"/>
                        </a:lnSpc>
                        <a:spcBef>
                          <a:spcPts val="0"/>
                        </a:spcBef>
                        <a:spcAft>
                          <a:spcPts val="0"/>
                        </a:spcAft>
                      </a:pPr>
                      <a:r>
                        <a:rPr sz="1300" b="0">
                          <a:solidFill>
                            <a:srgbClr val="1F1F1F"/>
                          </a:solidFill>
                          <a:latin typeface="Calibri"/>
                        </a:rPr>
                        <a:t>somente na liquidação</a:t>
                      </a:r>
                    </a:p>
                    <a:p>
                      <a:pPr algn="l">
                        <a:lnSpc>
                          <a:spcPct val="100000"/>
                        </a:lnSpc>
                        <a:spcBef>
                          <a:spcPts val="0"/>
                        </a:spcBef>
                        <a:spcAft>
                          <a:spcPts val="0"/>
                        </a:spcAft>
                      </a:pPr>
                      <a:r>
                        <a:rPr sz="1300" b="0">
                          <a:solidFill>
                            <a:srgbClr val="1F1F1F"/>
                          </a:solidFill>
                          <a:latin typeface="Calibri"/>
                        </a:rPr>
                        <a:t>da classe. Cota apurada</a:t>
                      </a:r>
                    </a:p>
                    <a:p>
                      <a:pPr algn="l">
                        <a:lnSpc>
                          <a:spcPct val="100000"/>
                        </a:lnSpc>
                        <a:spcBef>
                          <a:spcPts val="0"/>
                        </a:spcBef>
                        <a:spcAft>
                          <a:spcPts val="0"/>
                        </a:spcAft>
                      </a:pPr>
                      <a:r>
                        <a:rPr sz="1300" b="0">
                          <a:solidFill>
                            <a:srgbClr val="1F1F1F"/>
                          </a:solidFill>
                          <a:latin typeface="Calibri"/>
                        </a:rPr>
                        <a:t>no último dia útil de</a:t>
                      </a:r>
                    </a:p>
                    <a:p>
                      <a:pPr algn="l">
                        <a:lnSpc>
                          <a:spcPct val="100000"/>
                        </a:lnSpc>
                        <a:spcBef>
                          <a:spcPts val="0"/>
                        </a:spcBef>
                        <a:spcAft>
                          <a:spcPts val="0"/>
                        </a:spcAft>
                      </a:pPr>
                      <a:r>
                        <a:rPr sz="1300" b="0">
                          <a:solidFill>
                            <a:srgbClr val="1F1F1F"/>
                          </a:solidFill>
                          <a:latin typeface="Calibri"/>
                        </a:rPr>
                        <a:t>cada mês.</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Desde janeiro/2026,</a:t>
                      </a:r>
                    </a:p>
                    <a:p>
                      <a:pPr algn="l">
                        <a:lnSpc>
                          <a:spcPct val="100000"/>
                        </a:lnSpc>
                        <a:spcBef>
                          <a:spcPts val="0"/>
                        </a:spcBef>
                        <a:spcAft>
                          <a:spcPts val="0"/>
                        </a:spcAft>
                      </a:pPr>
                      <a:r>
                        <a:rPr sz="1300" b="0">
                          <a:solidFill>
                            <a:srgbClr val="1F1F1F"/>
                          </a:solidFill>
                          <a:latin typeface="Calibri"/>
                        </a:rPr>
                        <a:t>benchmark sênior</a:t>
                      </a:r>
                    </a:p>
                    <a:p>
                      <a:pPr algn="l">
                        <a:lnSpc>
                          <a:spcPct val="100000"/>
                        </a:lnSpc>
                        <a:spcBef>
                          <a:spcPts val="0"/>
                        </a:spcBef>
                        <a:spcAft>
                          <a:spcPts val="0"/>
                        </a:spcAft>
                      </a:pPr>
                      <a:r>
                        <a:rPr sz="1300" b="0">
                          <a:solidFill>
                            <a:srgbClr val="1F1F1F"/>
                          </a:solidFill>
                          <a:latin typeface="Calibri"/>
                        </a:rPr>
                        <a:t>amortizado</a:t>
                      </a:r>
                    </a:p>
                    <a:p>
                      <a:pPr algn="l">
                        <a:lnSpc>
                          <a:spcPct val="100000"/>
                        </a:lnSpc>
                        <a:spcBef>
                          <a:spcPts val="0"/>
                        </a:spcBef>
                        <a:spcAft>
                          <a:spcPts val="0"/>
                        </a:spcAft>
                      </a:pPr>
                      <a:r>
                        <a:rPr sz="1300" b="0">
                          <a:solidFill>
                            <a:srgbClr val="1F1F1F"/>
                          </a:solidFill>
                          <a:latin typeface="Calibri"/>
                        </a:rPr>
                        <a:t>semestralmente no</a:t>
                      </a:r>
                    </a:p>
                    <a:p>
                      <a:pPr algn="l">
                        <a:lnSpc>
                          <a:spcPct val="100000"/>
                        </a:lnSpc>
                        <a:spcBef>
                          <a:spcPts val="0"/>
                        </a:spcBef>
                        <a:spcAft>
                          <a:spcPts val="0"/>
                        </a:spcAft>
                      </a:pPr>
                      <a:r>
                        <a:rPr sz="1300" b="0">
                          <a:solidFill>
                            <a:srgbClr val="1F1F1F"/>
                          </a:solidFill>
                          <a:latin typeface="Calibri"/>
                        </a:rPr>
                        <a:t>último dia útil de</a:t>
                      </a:r>
                    </a:p>
                    <a:p>
                      <a:pPr algn="l">
                        <a:lnSpc>
                          <a:spcPct val="100000"/>
                        </a:lnSpc>
                        <a:spcBef>
                          <a:spcPts val="0"/>
                        </a:spcBef>
                        <a:spcAft>
                          <a:spcPts val="0"/>
                        </a:spcAft>
                      </a:pPr>
                      <a:r>
                        <a:rPr sz="1300" b="0">
                          <a:solidFill>
                            <a:srgbClr val="1F1F1F"/>
                          </a:solidFill>
                          <a:latin typeface="Calibri"/>
                        </a:rPr>
                        <a:t>janeiro e julho;</a:t>
                      </a:r>
                    </a:p>
                    <a:p>
                      <a:pPr algn="l">
                        <a:lnSpc>
                          <a:spcPct val="100000"/>
                        </a:lnSpc>
                        <a:spcBef>
                          <a:spcPts val="0"/>
                        </a:spcBef>
                        <a:spcAft>
                          <a:spcPts val="0"/>
                        </a:spcAft>
                      </a:pPr>
                      <a:r>
                        <a:rPr sz="1300" b="0">
                          <a:solidFill>
                            <a:srgbClr val="1F1F1F"/>
                          </a:solidFill>
                          <a:latin typeface="Calibri"/>
                        </a:rPr>
                        <a:t>insuficiência acumula</a:t>
                      </a:r>
                    </a:p>
                    <a:p>
                      <a:pPr algn="l">
                        <a:lnSpc>
                          <a:spcPct val="100000"/>
                        </a:lnSpc>
                        <a:spcBef>
                          <a:spcPts val="0"/>
                        </a:spcBef>
                        <a:spcAft>
                          <a:spcPts val="0"/>
                        </a:spcAft>
                      </a:pPr>
                      <a:r>
                        <a:rPr sz="1300" b="0">
                          <a:solidFill>
                            <a:srgbClr val="1F1F1F"/>
                          </a:solidFill>
                          <a:latin typeface="Calibri"/>
                        </a:rPr>
                        <a:t>para a data seguinte.</a:t>
                      </a:r>
                    </a:p>
                    <a:p>
                      <a:pPr algn="l">
                        <a:lnSpc>
                          <a:spcPct val="100000"/>
                        </a:lnSpc>
                        <a:spcBef>
                          <a:spcPts val="0"/>
                        </a:spcBef>
                        <a:spcAft>
                          <a:spcPts val="0"/>
                        </a:spcAft>
                      </a:pPr>
                      <a:r>
                        <a:rPr sz="1300" b="0">
                          <a:solidFill>
                            <a:srgbClr val="1F1F1F"/>
                          </a:solidFill>
                          <a:latin typeface="Calibri"/>
                        </a:rPr>
                        <a:t>Júnior amortizada nas</a:t>
                      </a:r>
                    </a:p>
                    <a:p>
                      <a:pPr algn="l">
                        <a:lnSpc>
                          <a:spcPct val="100000"/>
                        </a:lnSpc>
                        <a:spcBef>
                          <a:spcPts val="0"/>
                        </a:spcBef>
                        <a:spcAft>
                          <a:spcPts val="0"/>
                        </a:spcAft>
                      </a:pPr>
                      <a:r>
                        <a:rPr sz="1300" b="0">
                          <a:solidFill>
                            <a:srgbClr val="1F1F1F"/>
                          </a:solidFill>
                          <a:latin typeface="Calibri"/>
                        </a:rPr>
                        <a:t>mesmas datas nas</a:t>
                      </a:r>
                    </a:p>
                    <a:p>
                      <a:pPr algn="l">
                        <a:lnSpc>
                          <a:spcPct val="100000"/>
                        </a:lnSpc>
                        <a:spcBef>
                          <a:spcPts val="0"/>
                        </a:spcBef>
                        <a:spcAft>
                          <a:spcPts val="0"/>
                        </a:spcAft>
                      </a:pPr>
                      <a:r>
                        <a:rPr sz="1300" b="0">
                          <a:solidFill>
                            <a:srgbClr val="1F1F1F"/>
                          </a:solidFill>
                          <a:latin typeface="Calibri"/>
                        </a:rPr>
                        <a:t>condições do apêndice.</a:t>
                      </a:r>
                    </a:p>
                    <a:p>
                      <a:pPr algn="l">
                        <a:lnSpc>
                          <a:spcPct val="100000"/>
                        </a:lnSpc>
                        <a:spcBef>
                          <a:spcPts val="0"/>
                        </a:spcBef>
                        <a:spcAft>
                          <a:spcPts val="0"/>
                        </a:spcAft>
                      </a:pPr>
                      <a:r>
                        <a:rPr sz="1300" b="0">
                          <a:solidFill>
                            <a:srgbClr val="1F1F1F"/>
                          </a:solidFill>
                          <a:latin typeface="Calibri"/>
                        </a:rPr>
                        <a:t>Classe fechada, com</a:t>
                      </a:r>
                    </a:p>
                    <a:p>
                      <a:pPr algn="l">
                        <a:lnSpc>
                          <a:spcPct val="100000"/>
                        </a:lnSpc>
                        <a:spcBef>
                          <a:spcPts val="0"/>
                        </a:spcBef>
                        <a:spcAft>
                          <a:spcPts val="0"/>
                        </a:spcAft>
                      </a:pPr>
                      <a:r>
                        <a:rPr sz="1300" b="0">
                          <a:solidFill>
                            <a:srgbClr val="1F1F1F"/>
                          </a:solidFill>
                          <a:latin typeface="Calibri"/>
                        </a:rPr>
                        <a:t>prazo indeterminado.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Subclasse A vence em</a:t>
                      </a:r>
                    </a:p>
                    <a:p>
                      <a:pPr algn="l">
                        <a:lnSpc>
                          <a:spcPct val="100000"/>
                        </a:lnSpc>
                        <a:spcBef>
                          <a:spcPts val="0"/>
                        </a:spcBef>
                        <a:spcAft>
                          <a:spcPts val="0"/>
                        </a:spcAft>
                      </a:pPr>
                      <a:r>
                        <a:rPr sz="1300" b="0">
                          <a:solidFill>
                            <a:srgbClr val="1F1F1F"/>
                          </a:solidFill>
                          <a:latin typeface="Calibri"/>
                        </a:rPr>
                        <a:t>19/06/2026; C em</a:t>
                      </a:r>
                    </a:p>
                    <a:p>
                      <a:pPr algn="l">
                        <a:lnSpc>
                          <a:spcPct val="100000"/>
                        </a:lnSpc>
                        <a:spcBef>
                          <a:spcPts val="0"/>
                        </a:spcBef>
                        <a:spcAft>
                          <a:spcPts val="0"/>
                        </a:spcAft>
                      </a:pPr>
                      <a:r>
                        <a:rPr sz="1300" b="0">
                          <a:solidFill>
                            <a:srgbClr val="1F1F1F"/>
                          </a:solidFill>
                          <a:latin typeface="Calibri"/>
                        </a:rPr>
                        <a:t>19/06/2027; B em</a:t>
                      </a:r>
                    </a:p>
                    <a:p>
                      <a:pPr algn="l">
                        <a:lnSpc>
                          <a:spcPct val="100000"/>
                        </a:lnSpc>
                        <a:spcBef>
                          <a:spcPts val="0"/>
                        </a:spcBef>
                        <a:spcAft>
                          <a:spcPts val="0"/>
                        </a:spcAft>
                      </a:pPr>
                      <a:r>
                        <a:rPr sz="1300" b="0">
                          <a:solidFill>
                            <a:srgbClr val="1F1F1F"/>
                          </a:solidFill>
                          <a:latin typeface="Calibri"/>
                        </a:rPr>
                        <a:t>19/06/2028. Pagamentos</a:t>
                      </a:r>
                    </a:p>
                    <a:p>
                      <a:pPr algn="l">
                        <a:lnSpc>
                          <a:spcPct val="100000"/>
                        </a:lnSpc>
                        <a:spcBef>
                          <a:spcPts val="0"/>
                        </a:spcBef>
                        <a:spcAft>
                          <a:spcPts val="0"/>
                        </a:spcAft>
                      </a:pPr>
                      <a:r>
                        <a:rPr sz="1300" b="0">
                          <a:solidFill>
                            <a:srgbClr val="1F1F1F"/>
                          </a:solidFill>
                          <a:latin typeface="Calibri"/>
                        </a:rPr>
                        <a:t>pela cota do 2º dia</a:t>
                      </a:r>
                    </a:p>
                    <a:p>
                      <a:pPr algn="l">
                        <a:lnSpc>
                          <a:spcPct val="100000"/>
                        </a:lnSpc>
                        <a:spcBef>
                          <a:spcPts val="0"/>
                        </a:spcBef>
                        <a:spcAft>
                          <a:spcPts val="0"/>
                        </a:spcAft>
                      </a:pPr>
                      <a:r>
                        <a:rPr sz="1300" b="0">
                          <a:solidFill>
                            <a:srgbClr val="1F1F1F"/>
                          </a:solidFill>
                          <a:latin typeface="Calibri"/>
                        </a:rPr>
                        <a:t>útil anterior; se</a:t>
                      </a:r>
                    </a:p>
                    <a:p>
                      <a:pPr algn="l">
                        <a:lnSpc>
                          <a:spcPct val="100000"/>
                        </a:lnSpc>
                        <a:spcBef>
                          <a:spcPts val="0"/>
                        </a:spcBef>
                        <a:spcAft>
                          <a:spcPts val="0"/>
                        </a:spcAft>
                      </a:pPr>
                      <a:r>
                        <a:rPr sz="1300" b="0">
                          <a:solidFill>
                            <a:srgbClr val="1F1F1F"/>
                          </a:solidFill>
                          <a:latin typeface="Calibri"/>
                        </a:rPr>
                        <a:t>feriado/fim de semana,</a:t>
                      </a:r>
                    </a:p>
                    <a:p>
                      <a:pPr algn="l">
                        <a:lnSpc>
                          <a:spcPct val="100000"/>
                        </a:lnSpc>
                        <a:spcBef>
                          <a:spcPts val="0"/>
                        </a:spcBef>
                        <a:spcAft>
                          <a:spcPts val="0"/>
                        </a:spcAft>
                      </a:pPr>
                      <a:r>
                        <a:rPr sz="1300" b="0">
                          <a:solidFill>
                            <a:srgbClr val="1F1F1F"/>
                          </a:solidFill>
                          <a:latin typeface="Calibri"/>
                        </a:rPr>
                        <a:t>no 1º dia útil seguinte</a:t>
                      </a:r>
                    </a:p>
                    <a:p>
                      <a:pPr algn="l">
                        <a:lnSpc>
                          <a:spcPct val="100000"/>
                        </a:lnSpc>
                        <a:spcBef>
                          <a:spcPts val="0"/>
                        </a:spcBef>
                        <a:spcAft>
                          <a:spcPts val="0"/>
                        </a:spcAft>
                      </a:pPr>
                      <a:r>
                        <a:rPr sz="1300" b="0">
                          <a:solidFill>
                            <a:srgbClr val="1F1F1F"/>
                          </a:solidFill>
                          <a:latin typeface="Calibri"/>
                        </a:rPr>
                        <a:t>pela cota do dia útil</a:t>
                      </a:r>
                    </a:p>
                    <a:p>
                      <a:pPr algn="l">
                        <a:lnSpc>
                          <a:spcPct val="100000"/>
                        </a:lnSpc>
                        <a:spcBef>
                          <a:spcPts val="0"/>
                        </a:spcBef>
                        <a:spcAft>
                          <a:spcPts val="0"/>
                        </a:spcAft>
                      </a:pPr>
                      <a:r>
                        <a:rPr sz="1300" b="0">
                          <a:solidFill>
                            <a:srgbClr val="1F1F1F"/>
                          </a:solidFill>
                          <a:latin typeface="Calibri"/>
                        </a:rPr>
                        <a:t>anterior.</a:t>
                      </a:r>
                    </a:p>
                  </a:txBody>
                  <a:tcPr marL="91440" marR="91440" marT="41148" marB="41148" anchor="ctr">
                    <a:solidFill>
                      <a:srgbClr val="FFFFFF"/>
                    </a:solidFill>
                    <a:lnL>
                      <a:noFill/>
                    </a:lnL>
                    <a:lnR>
                      <a:noFill/>
                    </a:lnR>
                    <a:lnT>
                      <a:noFill/>
                    </a:lnT>
                    <a:lnB>
                      <a:noFill/>
                    </a:lnB>
                  </a:tcPr>
                </a:tc>
              </a:tr>
              <a:tr h="283464">
                <a:tc>
                  <a:txBody>
                    <a:bodyPr wrap="square">
                      <a:noAutofit/>
                    </a:bodyPr>
                    <a:lstStyle/>
                    <a:p>
                      <a:pPr algn="l">
                        <a:lnSpc>
                          <a:spcPct val="100000"/>
                        </a:lnSpc>
                        <a:spcBef>
                          <a:spcPts val="0"/>
                        </a:spcBef>
                        <a:spcAft>
                          <a:spcPts val="0"/>
                        </a:spcAft>
                      </a:pPr>
                      <a:r>
                        <a:rPr sz="1300" b="1">
                          <a:solidFill>
                            <a:srgbClr val="1F1F1F"/>
                          </a:solidFill>
                          <a:latin typeface="Calibri"/>
                        </a:rPr>
                        <a:t>Carência das cotas</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a:noFill/>
                    </a:lnB>
                  </a:tcPr>
                </a:tc>
              </a:tr>
              <a:tr h="283464">
                <a:tc>
                  <a:txBody>
                    <a:bodyPr wrap="square">
                      <a:noAutofit/>
                    </a:bodyPr>
                    <a:lstStyle/>
                    <a:p>
                      <a:pPr algn="l">
                        <a:lnSpc>
                          <a:spcPct val="100000"/>
                        </a:lnSpc>
                        <a:spcBef>
                          <a:spcPts val="0"/>
                        </a:spcBef>
                        <a:spcAft>
                          <a:spcPts val="0"/>
                        </a:spcAft>
                      </a:pPr>
                      <a:r>
                        <a:rPr sz="1300" b="1">
                          <a:solidFill>
                            <a:srgbClr val="1F1F1F"/>
                          </a:solidFill>
                          <a:latin typeface="Calibri"/>
                        </a:rPr>
                        <a:t>Vencimento das cotas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Extração pendente</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Extração pendente</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60/160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Fluxo de caixa e prazo</a:t>
            </a:r>
          </a:p>
        </p:txBody>
      </p:sp>
      <p:graphicFrame>
        <p:nvGraphicFramePr>
          <p:cNvPr id="3" name="Table 2"/>
          <p:cNvGraphicFramePr>
            <a:graphicFrameLocks noGrp="1"/>
          </p:cNvGraphicFramePr>
          <p:nvPr/>
        </p:nvGraphicFramePr>
        <p:xfrm>
          <a:off x="438912" y="932688"/>
          <a:ext cx="11313870" cy="5001765"/>
        </p:xfrm>
        <a:graphic>
          <a:graphicData uri="http://schemas.openxmlformats.org/drawingml/2006/table">
            <a:tbl>
              <a:tblPr>
                <a:tableStyleId>{5C22544A-7EE6-4342-B048-85BDC9FD1C3A}</a:tableStyleId>
              </a:tblPr>
              <a:tblGrid>
                <a:gridCol w="2331720"/>
                <a:gridCol w="4491075"/>
                <a:gridCol w="4491075"/>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V CDT 1 · 62552447000120</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Global CP · 63953620000165</a:t>
                      </a:r>
                    </a:p>
                  </a:txBody>
                  <a:tcPr marL="91440" marR="91440" marT="41148" marB="41148" anchor="ctr">
                    <a:solidFill>
                      <a:srgbClr val="F7F7F7"/>
                    </a:solidFill>
                    <a:lnL>
                      <a:noFill/>
                    </a:lnL>
                    <a:lnR>
                      <a:noFill/>
                    </a:lnR>
                    <a:lnT>
                      <a:noFill/>
                    </a:lnT>
                    <a:lnB w="6350">
                      <a:solidFill>
                        <a:srgbClr val="D9DEE5"/>
                      </a:solidFill>
                    </a:lnB>
                  </a:tcPr>
                </a:tc>
              </a:tr>
              <a:tr h="1033271">
                <a:tc>
                  <a:txBody>
                    <a:bodyPr wrap="square">
                      <a:noAutofit/>
                    </a:bodyPr>
                    <a:lstStyle/>
                    <a:p>
                      <a:pPr algn="l">
                        <a:lnSpc>
                          <a:spcPct val="100000"/>
                        </a:lnSpc>
                        <a:spcBef>
                          <a:spcPts val="0"/>
                        </a:spcBef>
                        <a:spcAft>
                          <a:spcPts val="0"/>
                        </a:spcAft>
                      </a:pPr>
                      <a:r>
                        <a:rPr sz="1300" b="1">
                          <a:solidFill>
                            <a:srgbClr val="1F1F1F"/>
                          </a:solidFill>
                          <a:latin typeface="Calibri"/>
                        </a:rPr>
                        <a:t>Ordem de alocação de</a:t>
                      </a:r>
                    </a:p>
                    <a:p>
                      <a:pPr algn="l">
                        <a:lnSpc>
                          <a:spcPct val="100000"/>
                        </a:lnSpc>
                        <a:spcBef>
                          <a:spcPts val="0"/>
                        </a:spcBef>
                        <a:spcAft>
                          <a:spcPts val="0"/>
                        </a:spcAft>
                      </a:pPr>
                      <a:r>
                        <a:rPr sz="1300" b="1">
                          <a:solidFill>
                            <a:srgbClr val="1F1F1F"/>
                          </a:solidFill>
                          <a:latin typeface="Calibri"/>
                        </a:rPr>
                        <a:t>recursos</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A cada DU: encargos/despesas adicionais →</a:t>
                      </a:r>
                    </a:p>
                    <a:p>
                      <a:pPr algn="l">
                        <a:lnSpc>
                          <a:spcPct val="100000"/>
                        </a:lnSpc>
                        <a:spcBef>
                          <a:spcPts val="0"/>
                        </a:spcBef>
                        <a:spcAft>
                          <a:spcPts val="0"/>
                        </a:spcAft>
                      </a:pPr>
                      <a:r>
                        <a:rPr sz="1300" b="0">
                          <a:solidFill>
                            <a:srgbClr val="1F1F1F"/>
                          </a:solidFill>
                          <a:latin typeface="Calibri"/>
                        </a:rPr>
                        <a:t>recomposição da reserva 6 meses →</a:t>
                      </a:r>
                    </a:p>
                    <a:p>
                      <a:pPr algn="l">
                        <a:lnSpc>
                          <a:spcPct val="100000"/>
                        </a:lnSpc>
                        <a:spcBef>
                          <a:spcPts val="0"/>
                        </a:spcBef>
                        <a:spcAft>
                          <a:spcPts val="0"/>
                        </a:spcAft>
                      </a:pPr>
                      <a:r>
                        <a:rPr sz="1300" b="0">
                          <a:solidFill>
                            <a:srgbClr val="1F1F1F"/>
                          </a:solidFill>
                          <a:latin typeface="Calibri"/>
                        </a:rPr>
                        <a:t>amortização/resgate → compra DC → ativos</a:t>
                      </a:r>
                    </a:p>
                    <a:p>
                      <a:pPr algn="l">
                        <a:lnSpc>
                          <a:spcPct val="100000"/>
                        </a:lnSpc>
                        <a:spcBef>
                          <a:spcPts val="0"/>
                        </a:spcBef>
                        <a:spcAft>
                          <a:spcPts val="0"/>
                        </a:spcAft>
                      </a:pPr>
                      <a:r>
                        <a:rPr sz="1300" b="0">
                          <a:solidFill>
                            <a:srgbClr val="1F1F1F"/>
                          </a:solidFill>
                          <a:latin typeface="Calibri"/>
                        </a:rPr>
                        <a:t>financeiros. Pagamentos às cotas proporcionais,</a:t>
                      </a:r>
                    </a:p>
                    <a:p>
                      <a:pPr algn="l">
                        <a:lnSpc>
                          <a:spcPct val="100000"/>
                        </a:lnSpc>
                        <a:spcBef>
                          <a:spcPts val="0"/>
                        </a:spcBef>
                        <a:spcAft>
                          <a:spcPts val="0"/>
                        </a:spcAft>
                      </a:pPr>
                      <a:r>
                        <a:rPr sz="1300" b="0">
                          <a:solidFill>
                            <a:srgbClr val="1F1F1F"/>
                          </a:solidFill>
                          <a:latin typeface="Calibri"/>
                        </a:rPr>
                        <a:t>sem preferência.</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Encargos → reserva de caixa → derivativos →</a:t>
                      </a:r>
                    </a:p>
                    <a:p>
                      <a:pPr algn="l">
                        <a:lnSpc>
                          <a:spcPct val="100000"/>
                        </a:lnSpc>
                        <a:spcBef>
                          <a:spcPts val="0"/>
                        </a:spcBef>
                        <a:spcAft>
                          <a:spcPts val="0"/>
                        </a:spcAft>
                      </a:pPr>
                      <a:r>
                        <a:rPr sz="1300" b="0">
                          <a:solidFill>
                            <a:srgbClr val="1F1F1F"/>
                          </a:solidFill>
                          <a:latin typeface="Calibri"/>
                        </a:rPr>
                        <a:t>rentabilidade adicional sênior → compras de</a:t>
                      </a:r>
                    </a:p>
                    <a:p>
                      <a:pPr algn="l">
                        <a:lnSpc>
                          <a:spcPct val="100000"/>
                        </a:lnSpc>
                        <a:spcBef>
                          <a:spcPts val="0"/>
                        </a:spcBef>
                        <a:spcAft>
                          <a:spcPts val="0"/>
                        </a:spcAft>
                      </a:pPr>
                      <a:r>
                        <a:rPr sz="1300" b="0">
                          <a:solidFill>
                            <a:srgbClr val="1F1F1F"/>
                          </a:solidFill>
                          <a:latin typeface="Calibri"/>
                        </a:rPr>
                        <a:t>direitos durante investimento → benchmark sênior</a:t>
                      </a:r>
                    </a:p>
                    <a:p>
                      <a:pPr algn="l">
                        <a:lnSpc>
                          <a:spcPct val="100000"/>
                        </a:lnSpc>
                        <a:spcBef>
                          <a:spcPts val="0"/>
                        </a:spcBef>
                        <a:spcAft>
                          <a:spcPts val="0"/>
                        </a:spcAft>
                      </a:pPr>
                      <a:r>
                        <a:rPr sz="1300" b="0">
                          <a:solidFill>
                            <a:srgbClr val="1F1F1F"/>
                          </a:solidFill>
                          <a:latin typeface="Calibri"/>
                        </a:rPr>
                        <a:t>→ principal sênior → subordinadas com razão-alvo</a:t>
                      </a:r>
                    </a:p>
                    <a:p>
                      <a:pPr algn="l">
                        <a:lnSpc>
                          <a:spcPct val="100000"/>
                        </a:lnSpc>
                        <a:spcBef>
                          <a:spcPts val="0"/>
                        </a:spcBef>
                        <a:spcAft>
                          <a:spcPts val="0"/>
                        </a:spcAft>
                      </a:pPr>
                      <a:r>
                        <a:rPr sz="1300" b="0">
                          <a:solidFill>
                            <a:srgbClr val="1F1F1F"/>
                          </a:solidFill>
                          <a:latin typeface="Calibri"/>
                        </a:rPr>
                        <a:t>10% → liquidez.</a:t>
                      </a:r>
                    </a:p>
                  </a:txBody>
                  <a:tcPr marL="91440" marR="91440" marT="41148" marB="41148" anchor="ctr">
                    <a:solidFill>
                      <a:srgbClr val="FFFFFF"/>
                    </a:solidFill>
                    <a:lnL>
                      <a:noFill/>
                    </a:lnL>
                    <a:lnR>
                      <a:noFill/>
                    </a:lnR>
                    <a:lnT>
                      <a:noFill/>
                    </a:lnT>
                    <a:lnB>
                      <a:noFill/>
                    </a:lnB>
                  </a:tcPr>
                </a:tc>
              </a:tr>
              <a:tr h="470916">
                <a:tc>
                  <a:txBody>
                    <a:bodyPr wrap="square">
                      <a:noAutofit/>
                    </a:bodyPr>
                    <a:lstStyle/>
                    <a:p>
                      <a:pPr algn="l">
                        <a:lnSpc>
                          <a:spcPct val="100000"/>
                        </a:lnSpc>
                        <a:spcBef>
                          <a:spcPts val="0"/>
                        </a:spcBef>
                        <a:spcAft>
                          <a:spcPts val="0"/>
                        </a:spcAft>
                      </a:pPr>
                      <a:r>
                        <a:rPr sz="1300" b="1">
                          <a:solidFill>
                            <a:srgbClr val="1F1F1F"/>
                          </a:solidFill>
                          <a:latin typeface="Calibri"/>
                        </a:rPr>
                        <a:t>Pró-rata, sequencial e</a:t>
                      </a:r>
                    </a:p>
                    <a:p>
                      <a:pPr algn="l">
                        <a:lnSpc>
                          <a:spcPct val="100000"/>
                        </a:lnSpc>
                        <a:spcBef>
                          <a:spcPts val="0"/>
                        </a:spcBef>
                        <a:spcAft>
                          <a:spcPts val="0"/>
                        </a:spcAft>
                      </a:pPr>
                      <a:r>
                        <a:rPr sz="1300" b="1">
                          <a:solidFill>
                            <a:srgbClr val="1F1F1F"/>
                          </a:solidFill>
                          <a:latin typeface="Calibri"/>
                        </a:rPr>
                        <a:t>aceleração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a:noFill/>
                    </a:lnB>
                  </a:tcPr>
                </a:tc>
              </a:tr>
              <a:tr h="1033271">
                <a:tc>
                  <a:txBody>
                    <a:bodyPr wrap="square">
                      <a:noAutofit/>
                    </a:bodyPr>
                    <a:lstStyle/>
                    <a:p>
                      <a:pPr algn="l">
                        <a:lnSpc>
                          <a:spcPct val="100000"/>
                        </a:lnSpc>
                        <a:spcBef>
                          <a:spcPts val="0"/>
                        </a:spcBef>
                        <a:spcAft>
                          <a:spcPts val="0"/>
                        </a:spcAft>
                      </a:pPr>
                      <a:r>
                        <a:rPr sz="1300" b="1">
                          <a:solidFill>
                            <a:srgbClr val="1F1F1F"/>
                          </a:solidFill>
                          <a:latin typeface="Calibri"/>
                        </a:rPr>
                        <a:t>Revolvência e</a:t>
                      </a:r>
                    </a:p>
                    <a:p>
                      <a:pPr algn="l">
                        <a:lnSpc>
                          <a:spcPct val="100000"/>
                        </a:lnSpc>
                        <a:spcBef>
                          <a:spcPts val="0"/>
                        </a:spcBef>
                        <a:spcAft>
                          <a:spcPts val="0"/>
                        </a:spcAft>
                      </a:pPr>
                      <a:r>
                        <a:rPr sz="1300" b="1">
                          <a:solidFill>
                            <a:srgbClr val="1F1F1F"/>
                          </a:solidFill>
                          <a:latin typeface="Calibri"/>
                        </a:rPr>
                        <a:t>desinvestimento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Investimento da primeira integralização até</a:t>
                      </a:r>
                    </a:p>
                    <a:p>
                      <a:pPr algn="l">
                        <a:lnSpc>
                          <a:spcPct val="100000"/>
                        </a:lnSpc>
                        <a:spcBef>
                          <a:spcPts val="0"/>
                        </a:spcBef>
                        <a:spcAft>
                          <a:spcPts val="0"/>
                        </a:spcAft>
                      </a:pPr>
                      <a:r>
                        <a:rPr sz="1300" b="0">
                          <a:solidFill>
                            <a:srgbClr val="1F1F1F"/>
                          </a:solidFill>
                          <a:latin typeface="Calibri"/>
                        </a:rPr>
                        <a:t>29/06/2031; permite reinvestir pagamentos ou</a:t>
                      </a:r>
                    </a:p>
                    <a:p>
                      <a:pPr algn="l">
                        <a:lnSpc>
                          <a:spcPct val="100000"/>
                        </a:lnSpc>
                        <a:spcBef>
                          <a:spcPts val="0"/>
                        </a:spcBef>
                        <a:spcAft>
                          <a:spcPts val="0"/>
                        </a:spcAft>
                      </a:pPr>
                      <a:r>
                        <a:rPr sz="1300" b="0">
                          <a:solidFill>
                            <a:srgbClr val="1F1F1F"/>
                          </a:solidFill>
                          <a:latin typeface="Calibri"/>
                        </a:rPr>
                        <a:t>amortizar. Depois, novas compras somente por</a:t>
                      </a:r>
                    </a:p>
                    <a:p>
                      <a:pPr algn="l">
                        <a:lnSpc>
                          <a:spcPct val="100000"/>
                        </a:lnSpc>
                        <a:spcBef>
                          <a:spcPts val="0"/>
                        </a:spcBef>
                        <a:spcAft>
                          <a:spcPts val="0"/>
                        </a:spcAft>
                      </a:pPr>
                      <a:r>
                        <a:rPr sz="1300" b="0">
                          <a:solidFill>
                            <a:srgbClr val="1F1F1F"/>
                          </a:solidFill>
                          <a:latin typeface="Calibri"/>
                        </a:rPr>
                        <a:t>compromissos anteriores, preservação de</a:t>
                      </a:r>
                    </a:p>
                    <a:p>
                      <a:pPr algn="l">
                        <a:lnSpc>
                          <a:spcPct val="100000"/>
                        </a:lnSpc>
                        <a:spcBef>
                          <a:spcPts val="0"/>
                        </a:spcBef>
                        <a:spcAft>
                          <a:spcPts val="0"/>
                        </a:spcAft>
                      </a:pPr>
                      <a:r>
                        <a:rPr sz="1300" b="0">
                          <a:solidFill>
                            <a:srgbClr val="1F1F1F"/>
                          </a:solidFill>
                          <a:latin typeface="Calibri"/>
                        </a:rPr>
                        <a:t>investimentos ou recomendação e aprovação da AGC.</a:t>
                      </a:r>
                    </a:p>
                  </a:txBody>
                  <a:tcPr marL="91440" marR="91440" marT="41148" marB="41148" anchor="ctr">
                    <a:solidFill>
                      <a:srgbClr val="FFFFFF"/>
                    </a:solidFill>
                    <a:lnL>
                      <a:noFill/>
                    </a:lnL>
                    <a:lnR>
                      <a:noFill/>
                    </a:lnR>
                    <a:lnT>
                      <a:noFill/>
                    </a:lnT>
                    <a:lnB>
                      <a:noFill/>
                    </a:lnB>
                  </a:tcPr>
                </a:tc>
              </a:tr>
              <a:tr h="470916">
                <a:tc>
                  <a:txBody>
                    <a:bodyPr wrap="square">
                      <a:noAutofit/>
                    </a:bodyPr>
                    <a:lstStyle/>
                    <a:p>
                      <a:pPr algn="l">
                        <a:lnSpc>
                          <a:spcPct val="100000"/>
                        </a:lnSpc>
                        <a:spcBef>
                          <a:spcPts val="0"/>
                        </a:spcBef>
                        <a:spcAft>
                          <a:spcPts val="0"/>
                        </a:spcAft>
                      </a:pPr>
                      <a:r>
                        <a:rPr sz="1300" b="1">
                          <a:solidFill>
                            <a:srgbClr val="1F1F1F"/>
                          </a:solidFill>
                          <a:latin typeface="Calibri"/>
                        </a:rPr>
                        <a:t>Cessões, preço e</a:t>
                      </a:r>
                    </a:p>
                    <a:p>
                      <a:pPr algn="l">
                        <a:lnSpc>
                          <a:spcPct val="100000"/>
                        </a:lnSpc>
                        <a:spcBef>
                          <a:spcPts val="0"/>
                        </a:spcBef>
                        <a:spcAft>
                          <a:spcPts val="0"/>
                        </a:spcAft>
                      </a:pPr>
                      <a:r>
                        <a:rPr sz="1300" b="1">
                          <a:solidFill>
                            <a:srgbClr val="1F1F1F"/>
                          </a:solidFill>
                          <a:latin typeface="Calibri"/>
                        </a:rPr>
                        <a:t>carteira residual</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a:noFill/>
                    </a:lnB>
                  </a:tcPr>
                </a:tc>
              </a:tr>
              <a:tr h="1033271">
                <a:tc>
                  <a:txBody>
                    <a:bodyPr wrap="square">
                      <a:noAutofit/>
                    </a:bodyPr>
                    <a:lstStyle/>
                    <a:p>
                      <a:pPr algn="l">
                        <a:lnSpc>
                          <a:spcPct val="100000"/>
                        </a:lnSpc>
                        <a:spcBef>
                          <a:spcPts val="0"/>
                        </a:spcBef>
                        <a:spcAft>
                          <a:spcPts val="0"/>
                        </a:spcAft>
                      </a:pPr>
                      <a:r>
                        <a:rPr sz="1300" b="1">
                          <a:solidFill>
                            <a:srgbClr val="1F1F1F"/>
                          </a:solidFill>
                          <a:latin typeface="Calibri"/>
                        </a:rPr>
                        <a:t>Juros, amortização e</a:t>
                      </a:r>
                    </a:p>
                    <a:p>
                      <a:pPr algn="l">
                        <a:lnSpc>
                          <a:spcPct val="100000"/>
                        </a:lnSpc>
                        <a:spcBef>
                          <a:spcPts val="0"/>
                        </a:spcBef>
                        <a:spcAft>
                          <a:spcPts val="0"/>
                        </a:spcAft>
                      </a:pPr>
                      <a:r>
                        <a:rPr sz="1300" b="1">
                          <a:solidFill>
                            <a:srgbClr val="1F1F1F"/>
                          </a:solidFill>
                          <a:latin typeface="Calibri"/>
                        </a:rPr>
                        <a:t>vencimento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Sênior: benchmark trimestral no 5º dia útil</a:t>
                      </a:r>
                    </a:p>
                    <a:p>
                      <a:pPr algn="l">
                        <a:lnSpc>
                          <a:spcPct val="100000"/>
                        </a:lnSpc>
                        <a:spcBef>
                          <a:spcPts val="0"/>
                        </a:spcBef>
                        <a:spcAft>
                          <a:spcPts val="0"/>
                        </a:spcAft>
                      </a:pPr>
                      <a:r>
                        <a:rPr sz="1300" b="0">
                          <a:solidFill>
                            <a:srgbClr val="1F1F1F"/>
                          </a:solidFill>
                          <a:latin typeface="Calibri"/>
                        </a:rPr>
                        <a:t>durante investimento; depois,</a:t>
                      </a:r>
                    </a:p>
                    <a:p>
                      <a:pPr algn="l">
                        <a:lnSpc>
                          <a:spcPct val="100000"/>
                        </a:lnSpc>
                        <a:spcBef>
                          <a:spcPts val="0"/>
                        </a:spcBef>
                        <a:spcAft>
                          <a:spcPts val="0"/>
                        </a:spcAft>
                      </a:pPr>
                      <a:r>
                        <a:rPr sz="1300" b="0">
                          <a:solidFill>
                            <a:srgbClr val="1F1F1F"/>
                          </a:solidFill>
                          <a:latin typeface="Calibri"/>
                        </a:rPr>
                        <a:t>principal+rendimento em regime de caixa.</a:t>
                      </a:r>
                    </a:p>
                    <a:p>
                      <a:pPr algn="l">
                        <a:lnSpc>
                          <a:spcPct val="100000"/>
                        </a:lnSpc>
                        <a:spcBef>
                          <a:spcPts val="0"/>
                        </a:spcBef>
                        <a:spcAft>
                          <a:spcPts val="0"/>
                        </a:spcAft>
                      </a:pPr>
                      <a:r>
                        <a:rPr sz="1300" b="0">
                          <a:solidFill>
                            <a:srgbClr val="1F1F1F"/>
                          </a:solidFill>
                          <a:latin typeface="Calibri"/>
                        </a:rPr>
                        <a:t>Subordinada sujeita ao índice-alvo; periodicidade</a:t>
                      </a:r>
                    </a:p>
                    <a:p>
                      <a:pPr algn="l">
                        <a:lnSpc>
                          <a:spcPct val="100000"/>
                        </a:lnSpc>
                        <a:spcBef>
                          <a:spcPts val="0"/>
                        </a:spcBef>
                        <a:spcAft>
                          <a:spcPts val="0"/>
                        </a:spcAft>
                      </a:pPr>
                      <a:r>
                        <a:rPr sz="1300" b="0">
                          <a:solidFill>
                            <a:srgbClr val="1F1F1F"/>
                          </a:solidFill>
                          <a:latin typeface="Calibri"/>
                        </a:rPr>
                        <a:t>consta como “[trimestral]”.</a:t>
                      </a:r>
                    </a:p>
                  </a:txBody>
                  <a:tcPr marL="91440" marR="91440" marT="41148" marB="41148" anchor="ctr">
                    <a:solidFill>
                      <a:srgbClr val="FFFFFF"/>
                    </a:solidFill>
                    <a:lnL>
                      <a:noFill/>
                    </a:lnL>
                    <a:lnR>
                      <a:noFill/>
                    </a:lnR>
                    <a:lnT>
                      <a:noFill/>
                    </a:lnT>
                    <a:lnB>
                      <a:noFill/>
                    </a:lnB>
                  </a:tcPr>
                </a:tc>
              </a:tr>
              <a:tr h="283464">
                <a:tc>
                  <a:txBody>
                    <a:bodyPr wrap="square">
                      <a:noAutofit/>
                    </a:bodyPr>
                    <a:lstStyle/>
                    <a:p>
                      <a:pPr algn="l">
                        <a:lnSpc>
                          <a:spcPct val="100000"/>
                        </a:lnSpc>
                        <a:spcBef>
                          <a:spcPts val="0"/>
                        </a:spcBef>
                        <a:spcAft>
                          <a:spcPts val="0"/>
                        </a:spcAft>
                      </a:pPr>
                      <a:r>
                        <a:rPr sz="1300" b="1">
                          <a:solidFill>
                            <a:srgbClr val="1F1F1F"/>
                          </a:solidFill>
                          <a:latin typeface="Calibri"/>
                        </a:rPr>
                        <a:t>Carência das cotas</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a:noFill/>
                    </a:lnB>
                  </a:tcPr>
                </a:tc>
              </a:tr>
              <a:tr h="283464">
                <a:tc>
                  <a:txBody>
                    <a:bodyPr wrap="square">
                      <a:noAutofit/>
                    </a:bodyPr>
                    <a:lstStyle/>
                    <a:p>
                      <a:pPr algn="l">
                        <a:lnSpc>
                          <a:spcPct val="100000"/>
                        </a:lnSpc>
                        <a:spcBef>
                          <a:spcPts val="0"/>
                        </a:spcBef>
                        <a:spcAft>
                          <a:spcPts val="0"/>
                        </a:spcAft>
                      </a:pPr>
                      <a:r>
                        <a:rPr sz="1300" b="1">
                          <a:solidFill>
                            <a:srgbClr val="1F1F1F"/>
                          </a:solidFill>
                          <a:latin typeface="Calibri"/>
                        </a:rPr>
                        <a:t>Vencimento das cotas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61/160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Garantias e operação</a:t>
            </a:r>
          </a:p>
        </p:txBody>
      </p:sp>
      <p:graphicFrame>
        <p:nvGraphicFramePr>
          <p:cNvPr id="3" name="Table 2"/>
          <p:cNvGraphicFramePr>
            <a:graphicFrameLocks noGrp="1"/>
          </p:cNvGraphicFramePr>
          <p:nvPr/>
        </p:nvGraphicFramePr>
        <p:xfrm>
          <a:off x="438912" y="932688"/>
          <a:ext cx="11313868" cy="3662171"/>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2720339">
                <a:tc>
                  <a:txBody>
                    <a:bodyPr wrap="square">
                      <a:noAutofit/>
                    </a:bodyPr>
                    <a:lstStyle/>
                    <a:p>
                      <a:pPr algn="l">
                        <a:lnSpc>
                          <a:spcPct val="100000"/>
                        </a:lnSpc>
                        <a:spcBef>
                          <a:spcPts val="0"/>
                        </a:spcBef>
                        <a:spcAft>
                          <a:spcPts val="0"/>
                        </a:spcAft>
                      </a:pPr>
                      <a:r>
                        <a:rPr sz="1300" b="1">
                          <a:solidFill>
                            <a:srgbClr val="1F1F1F"/>
                          </a:solidFill>
                          <a:latin typeface="Calibri"/>
                        </a:rPr>
                        <a:t>Garantias e constituição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Em 02 de fevereiro de</a:t>
                      </a:r>
                    </a:p>
                    <a:p>
                      <a:pPr algn="l">
                        <a:lnSpc>
                          <a:spcPct val="100000"/>
                        </a:lnSpc>
                        <a:spcBef>
                          <a:spcPts val="0"/>
                        </a:spcBef>
                        <a:spcAft>
                          <a:spcPts val="0"/>
                        </a:spcAft>
                      </a:pPr>
                      <a:r>
                        <a:rPr sz="1300" b="0">
                          <a:solidFill>
                            <a:srgbClr val="1F1F1F"/>
                          </a:solidFill>
                          <a:latin typeface="Calibri"/>
                        </a:rPr>
                        <a:t>2026, a Classe não</a:t>
                      </a:r>
                    </a:p>
                    <a:p>
                      <a:pPr algn="l">
                        <a:lnSpc>
                          <a:spcPct val="100000"/>
                        </a:lnSpc>
                        <a:spcBef>
                          <a:spcPts val="0"/>
                        </a:spcBef>
                        <a:spcAft>
                          <a:spcPts val="0"/>
                        </a:spcAft>
                      </a:pPr>
                      <a:r>
                        <a:rPr sz="1300" b="0">
                          <a:solidFill>
                            <a:srgbClr val="1F1F1F"/>
                          </a:solidFill>
                          <a:latin typeface="Calibri"/>
                        </a:rPr>
                        <a:t>possuía garantias reais</a:t>
                      </a:r>
                    </a:p>
                    <a:p>
                      <a:pPr algn="l">
                        <a:lnSpc>
                          <a:spcPct val="100000"/>
                        </a:lnSpc>
                        <a:spcBef>
                          <a:spcPts val="0"/>
                        </a:spcBef>
                        <a:spcAft>
                          <a:spcPts val="0"/>
                        </a:spcAft>
                      </a:pPr>
                      <a:r>
                        <a:rPr sz="1300" b="0">
                          <a:solidFill>
                            <a:srgbClr val="1F1F1F"/>
                          </a:solidFill>
                          <a:latin typeface="Calibri"/>
                        </a:rPr>
                        <a:t>ou fidejussórias, pela</a:t>
                      </a:r>
                    </a:p>
                    <a:p>
                      <a:pPr algn="l">
                        <a:lnSpc>
                          <a:spcPct val="100000"/>
                        </a:lnSpc>
                        <a:spcBef>
                          <a:spcPts val="0"/>
                        </a:spcBef>
                        <a:spcAft>
                          <a:spcPts val="0"/>
                        </a:spcAft>
                      </a:pPr>
                      <a:r>
                        <a:rPr sz="1300" b="0">
                          <a:solidFill>
                            <a:srgbClr val="1F1F1F"/>
                          </a:solidFill>
                          <a:latin typeface="Calibri"/>
                        </a:rPr>
                        <a:t>liquidação dos direitos</a:t>
                      </a:r>
                    </a:p>
                    <a:p>
                      <a:pPr algn="l">
                        <a:lnSpc>
                          <a:spcPct val="100000"/>
                        </a:lnSpc>
                        <a:spcBef>
                          <a:spcPts val="0"/>
                        </a:spcBef>
                        <a:spcAft>
                          <a:spcPts val="0"/>
                        </a:spcAft>
                      </a:pPr>
                      <a:r>
                        <a:rPr sz="1300" b="0">
                          <a:solidFill>
                            <a:srgbClr val="1F1F1F"/>
                          </a:solidFill>
                          <a:latin typeface="Calibri"/>
                        </a:rPr>
                        <a:t>creditórios.</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Em 08 de maio de 2026,</a:t>
                      </a:r>
                    </a:p>
                    <a:p>
                      <a:pPr algn="l">
                        <a:lnSpc>
                          <a:spcPct val="100000"/>
                        </a:lnSpc>
                        <a:spcBef>
                          <a:spcPts val="0"/>
                        </a:spcBef>
                        <a:spcAft>
                          <a:spcPts val="0"/>
                        </a:spcAft>
                      </a:pPr>
                      <a:r>
                        <a:rPr sz="1300" b="0">
                          <a:solidFill>
                            <a:srgbClr val="1F1F1F"/>
                          </a:solidFill>
                          <a:latin typeface="Calibri"/>
                        </a:rPr>
                        <a:t>a Classe não possuía</a:t>
                      </a:r>
                    </a:p>
                    <a:p>
                      <a:pPr algn="l">
                        <a:lnSpc>
                          <a:spcPct val="100000"/>
                        </a:lnSpc>
                        <a:spcBef>
                          <a:spcPts val="0"/>
                        </a:spcBef>
                        <a:spcAft>
                          <a:spcPts val="0"/>
                        </a:spcAft>
                      </a:pPr>
                      <a:r>
                        <a:rPr sz="1300" b="0">
                          <a:solidFill>
                            <a:srgbClr val="1F1F1F"/>
                          </a:solidFill>
                          <a:latin typeface="Calibri"/>
                        </a:rPr>
                        <a:t>garantias reais ou</a:t>
                      </a:r>
                    </a:p>
                    <a:p>
                      <a:pPr algn="l">
                        <a:lnSpc>
                          <a:spcPct val="100000"/>
                        </a:lnSpc>
                        <a:spcBef>
                          <a:spcPts val="0"/>
                        </a:spcBef>
                        <a:spcAft>
                          <a:spcPts val="0"/>
                        </a:spcAft>
                      </a:pPr>
                      <a:r>
                        <a:rPr sz="1300" b="0">
                          <a:solidFill>
                            <a:srgbClr val="1F1F1F"/>
                          </a:solidFill>
                          <a:latin typeface="Calibri"/>
                        </a:rPr>
                        <a:t>fidejussórias, pela</a:t>
                      </a:r>
                    </a:p>
                    <a:p>
                      <a:pPr algn="l">
                        <a:lnSpc>
                          <a:spcPct val="100000"/>
                        </a:lnSpc>
                        <a:spcBef>
                          <a:spcPts val="0"/>
                        </a:spcBef>
                        <a:spcAft>
                          <a:spcPts val="0"/>
                        </a:spcAft>
                      </a:pPr>
                      <a:r>
                        <a:rPr sz="1300" b="0">
                          <a:solidFill>
                            <a:srgbClr val="1F1F1F"/>
                          </a:solidFill>
                          <a:latin typeface="Calibri"/>
                        </a:rPr>
                        <a:t>liquidação dos Direitos</a:t>
                      </a:r>
                    </a:p>
                    <a:p>
                      <a:pPr algn="l">
                        <a:lnSpc>
                          <a:spcPct val="100000"/>
                        </a:lnSpc>
                        <a:spcBef>
                          <a:spcPts val="0"/>
                        </a:spcBef>
                        <a:spcAft>
                          <a:spcPts val="0"/>
                        </a:spcAft>
                      </a:pPr>
                      <a:r>
                        <a:rPr sz="1300" b="0">
                          <a:solidFill>
                            <a:srgbClr val="1F1F1F"/>
                          </a:solidFill>
                          <a:latin typeface="Calibri"/>
                        </a:rPr>
                        <a:t>Creditórios.</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Direitos podem possuir</a:t>
                      </a:r>
                    </a:p>
                    <a:p>
                      <a:pPr algn="l">
                        <a:lnSpc>
                          <a:spcPct val="100000"/>
                        </a:lnSpc>
                        <a:spcBef>
                          <a:spcPts val="0"/>
                        </a:spcBef>
                        <a:spcAft>
                          <a:spcPts val="0"/>
                        </a:spcAft>
                      </a:pPr>
                      <a:r>
                        <a:rPr sz="1300" b="0">
                          <a:solidFill>
                            <a:srgbClr val="1F1F1F"/>
                          </a:solidFill>
                          <a:latin typeface="Calibri"/>
                        </a:rPr>
                        <a:t>ou não garantias</a:t>
                      </a:r>
                    </a:p>
                    <a:p>
                      <a:pPr algn="l">
                        <a:lnSpc>
                          <a:spcPct val="100000"/>
                        </a:lnSpc>
                        <a:spcBef>
                          <a:spcPts val="0"/>
                        </a:spcBef>
                        <a:spcAft>
                          <a:spcPts val="0"/>
                        </a:spcAft>
                      </a:pPr>
                      <a:r>
                        <a:rPr sz="1300" b="0">
                          <a:solidFill>
                            <a:srgbClr val="1F1F1F"/>
                          </a:solidFill>
                          <a:latin typeface="Calibri"/>
                        </a:rPr>
                        <a:t>reais/pessoais. Imóveis</a:t>
                      </a:r>
                    </a:p>
                    <a:p>
                      <a:pPr algn="l">
                        <a:lnSpc>
                          <a:spcPct val="100000"/>
                        </a:lnSpc>
                        <a:spcBef>
                          <a:spcPts val="0"/>
                        </a:spcBef>
                        <a:spcAft>
                          <a:spcPts val="0"/>
                        </a:spcAft>
                      </a:pPr>
                      <a:r>
                        <a:rPr sz="1300" b="0">
                          <a:solidFill>
                            <a:srgbClr val="1F1F1F"/>
                          </a:solidFill>
                          <a:latin typeface="Calibri"/>
                        </a:rPr>
                        <a:t>rurais podem ingressar</a:t>
                      </a:r>
                    </a:p>
                    <a:p>
                      <a:pPr algn="l">
                        <a:lnSpc>
                          <a:spcPct val="100000"/>
                        </a:lnSpc>
                        <a:spcBef>
                          <a:spcPts val="0"/>
                        </a:spcBef>
                        <a:spcAft>
                          <a:spcPts val="0"/>
                        </a:spcAft>
                      </a:pPr>
                      <a:r>
                        <a:rPr sz="1300" b="0">
                          <a:solidFill>
                            <a:srgbClr val="1F1F1F"/>
                          </a:solidFill>
                          <a:latin typeface="Calibri"/>
                        </a:rPr>
                        <a:t>onerados; classe pode</a:t>
                      </a:r>
                    </a:p>
                    <a:p>
                      <a:pPr algn="l">
                        <a:lnSpc>
                          <a:spcPct val="100000"/>
                        </a:lnSpc>
                        <a:spcBef>
                          <a:spcPts val="0"/>
                        </a:spcBef>
                        <a:spcAft>
                          <a:spcPts val="0"/>
                        </a:spcAft>
                      </a:pPr>
                      <a:r>
                        <a:rPr sz="1300" b="0">
                          <a:solidFill>
                            <a:srgbClr val="1F1F1F"/>
                          </a:solidFill>
                          <a:latin typeface="Calibri"/>
                        </a:rPr>
                        <a:t>prestar</a:t>
                      </a:r>
                    </a:p>
                    <a:p>
                      <a:pPr algn="l">
                        <a:lnSpc>
                          <a:spcPct val="100000"/>
                        </a:lnSpc>
                        <a:spcBef>
                          <a:spcPts val="0"/>
                        </a:spcBef>
                        <a:spcAft>
                          <a:spcPts val="0"/>
                        </a:spcAft>
                      </a:pPr>
                      <a:r>
                        <a:rPr sz="1300" b="0">
                          <a:solidFill>
                            <a:srgbClr val="1F1F1F"/>
                          </a:solidFill>
                          <a:latin typeface="Calibri"/>
                        </a:rPr>
                        <a:t>fiança/aval/aceite ou</a:t>
                      </a:r>
                    </a:p>
                    <a:p>
                      <a:pPr algn="l">
                        <a:lnSpc>
                          <a:spcPct val="100000"/>
                        </a:lnSpc>
                        <a:spcBef>
                          <a:spcPts val="0"/>
                        </a:spcBef>
                        <a:spcAft>
                          <a:spcPts val="0"/>
                        </a:spcAft>
                      </a:pPr>
                      <a:r>
                        <a:rPr sz="1300" b="0">
                          <a:solidFill>
                            <a:srgbClr val="1F1F1F"/>
                          </a:solidFill>
                          <a:latin typeface="Calibri"/>
                        </a:rPr>
                        <a:t>onerar imóveis para</a:t>
                      </a:r>
                    </a:p>
                    <a:p>
                      <a:pPr algn="l">
                        <a:lnSpc>
                          <a:spcPct val="100000"/>
                        </a:lnSpc>
                        <a:spcBef>
                          <a:spcPts val="0"/>
                        </a:spcBef>
                        <a:spcAft>
                          <a:spcPts val="0"/>
                        </a:spcAft>
                      </a:pPr>
                      <a:r>
                        <a:rPr sz="1300" b="0">
                          <a:solidFill>
                            <a:srgbClr val="1F1F1F"/>
                          </a:solidFill>
                          <a:latin typeface="Calibri"/>
                        </a:rPr>
                        <a:t>obrigações ligadas à</a:t>
                      </a:r>
                    </a:p>
                    <a:p>
                      <a:pPr algn="l">
                        <a:lnSpc>
                          <a:spcPct val="100000"/>
                        </a:lnSpc>
                        <a:spcBef>
                          <a:spcPts val="0"/>
                        </a:spcBef>
                        <a:spcAft>
                          <a:spcPts val="0"/>
                        </a:spcAft>
                      </a:pPr>
                      <a:r>
                        <a:rPr sz="1300" b="0">
                          <a:solidFill>
                            <a:srgbClr val="1F1F1F"/>
                          </a:solidFill>
                          <a:latin typeface="Calibri"/>
                        </a:rPr>
                        <a:t>sua carteira. Não há</a:t>
                      </a:r>
                    </a:p>
                    <a:p>
                      <a:pPr algn="l">
                        <a:lnSpc>
                          <a:spcPct val="100000"/>
                        </a:lnSpc>
                        <a:spcBef>
                          <a:spcPts val="0"/>
                        </a:spcBef>
                        <a:spcAft>
                          <a:spcPts val="0"/>
                        </a:spcAft>
                      </a:pPr>
                      <a:r>
                        <a:rPr sz="1300" b="0">
                          <a:solidFill>
                            <a:srgbClr val="1F1F1F"/>
                          </a:solidFill>
                          <a:latin typeface="Calibri"/>
                        </a:rPr>
                        <a:t>garantia do</a:t>
                      </a:r>
                    </a:p>
                    <a:p>
                      <a:pPr algn="l">
                        <a:lnSpc>
                          <a:spcPct val="100000"/>
                        </a:lnSpc>
                        <a:spcBef>
                          <a:spcPts val="0"/>
                        </a:spcBef>
                        <a:spcAft>
                          <a:spcPts val="0"/>
                        </a:spcAft>
                      </a:pPr>
                      <a:r>
                        <a:rPr sz="1300" b="0">
                          <a:solidFill>
                            <a:srgbClr val="1F1F1F"/>
                          </a:solidFill>
                          <a:latin typeface="Calibri"/>
                        </a:rPr>
                        <a:t>administrador, gestor,</a:t>
                      </a:r>
                    </a:p>
                    <a:p>
                      <a:pPr algn="l">
                        <a:lnSpc>
                          <a:spcPct val="100000"/>
                        </a:lnSpc>
                        <a:spcBef>
                          <a:spcPts val="0"/>
                        </a:spcBef>
                        <a:spcAft>
                          <a:spcPts val="0"/>
                        </a:spcAft>
                      </a:pPr>
                      <a:r>
                        <a:rPr sz="1300" b="0">
                          <a:solidFill>
                            <a:srgbClr val="1F1F1F"/>
                          </a:solidFill>
                          <a:latin typeface="Calibri"/>
                        </a:rPr>
                        <a:t>custodiante ou FGC para</a:t>
                      </a:r>
                    </a:p>
                    <a:p>
                      <a:pPr algn="l">
                        <a:lnSpc>
                          <a:spcPct val="100000"/>
                        </a:lnSpc>
                        <a:spcBef>
                          <a:spcPts val="0"/>
                        </a:spcBef>
                        <a:spcAft>
                          <a:spcPts val="0"/>
                        </a:spcAft>
                      </a:pPr>
                      <a:r>
                        <a:rPr sz="1300" b="0">
                          <a:solidFill>
                            <a:srgbClr val="1F1F1F"/>
                          </a:solidFill>
                          <a:latin typeface="Calibri"/>
                        </a:rPr>
                        <a:t>as cotas.</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a:noFill/>
                    </a:lnB>
                  </a:tcPr>
                </a:tc>
              </a:tr>
              <a:tr h="470916">
                <a:tc>
                  <a:txBody>
                    <a:bodyPr wrap="square">
                      <a:noAutofit/>
                    </a:bodyPr>
                    <a:lstStyle/>
                    <a:p>
                      <a:pPr algn="l">
                        <a:lnSpc>
                          <a:spcPct val="100000"/>
                        </a:lnSpc>
                        <a:spcBef>
                          <a:spcPts val="0"/>
                        </a:spcBef>
                        <a:spcAft>
                          <a:spcPts val="0"/>
                        </a:spcAft>
                      </a:pPr>
                      <a:r>
                        <a:rPr sz="1300" b="1">
                          <a:solidFill>
                            <a:srgbClr val="1F1F1F"/>
                          </a:solidFill>
                          <a:latin typeface="Calibri"/>
                        </a:rPr>
                        <a:t>Registro, execução e</a:t>
                      </a:r>
                    </a:p>
                    <a:p>
                      <a:pPr algn="l">
                        <a:lnSpc>
                          <a:spcPct val="100000"/>
                        </a:lnSpc>
                        <a:spcBef>
                          <a:spcPts val="0"/>
                        </a:spcBef>
                        <a:spcAft>
                          <a:spcPts val="0"/>
                        </a:spcAft>
                      </a:pPr>
                      <a:r>
                        <a:rPr sz="1300" b="1">
                          <a:solidFill>
                            <a:srgbClr val="1F1F1F"/>
                          </a:solidFill>
                          <a:latin typeface="Calibri"/>
                        </a:rPr>
                        <a:t>recuperação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Extração pendente</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62/160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Garantias e operação</a:t>
            </a:r>
          </a:p>
        </p:txBody>
      </p:sp>
      <p:graphicFrame>
        <p:nvGraphicFramePr>
          <p:cNvPr id="3" name="Table 2"/>
          <p:cNvGraphicFramePr>
            <a:graphicFrameLocks noGrp="1"/>
          </p:cNvGraphicFramePr>
          <p:nvPr/>
        </p:nvGraphicFramePr>
        <p:xfrm>
          <a:off x="438912" y="932688"/>
          <a:ext cx="11313868" cy="5253228"/>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4782312">
                <a:tc>
                  <a:txBody>
                    <a:bodyPr wrap="square">
                      <a:noAutofit/>
                    </a:bodyPr>
                    <a:lstStyle/>
                    <a:p>
                      <a:pPr algn="l">
                        <a:lnSpc>
                          <a:spcPct val="100000"/>
                        </a:lnSpc>
                        <a:spcBef>
                          <a:spcPts val="0"/>
                        </a:spcBef>
                        <a:spcAft>
                          <a:spcPts val="0"/>
                        </a:spcAft>
                      </a:pPr>
                      <a:r>
                        <a:rPr sz="1300" b="1">
                          <a:solidFill>
                            <a:srgbClr val="1F1F1F"/>
                          </a:solidFill>
                          <a:latin typeface="Calibri"/>
                        </a:rPr>
                        <a:t>Cobrança e servicing</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Após a comunicação da</a:t>
                      </a:r>
                    </a:p>
                    <a:p>
                      <a:pPr algn="l">
                        <a:lnSpc>
                          <a:spcPct val="100000"/>
                        </a:lnSpc>
                        <a:spcBef>
                          <a:spcPts val="0"/>
                        </a:spcBef>
                        <a:spcAft>
                          <a:spcPts val="0"/>
                        </a:spcAft>
                      </a:pPr>
                      <a:r>
                        <a:rPr sz="1300" b="0">
                          <a:solidFill>
                            <a:srgbClr val="1F1F1F"/>
                          </a:solidFill>
                          <a:latin typeface="Calibri"/>
                        </a:rPr>
                        <a:t>desaverbação:</a:t>
                      </a:r>
                    </a:p>
                    <a:p>
                      <a:pPr algn="l">
                        <a:lnSpc>
                          <a:spcPct val="100000"/>
                        </a:lnSpc>
                        <a:spcBef>
                          <a:spcPts val="0"/>
                        </a:spcBef>
                        <a:spcAft>
                          <a:spcPts val="0"/>
                        </a:spcAft>
                      </a:pPr>
                      <a:r>
                        <a:rPr sz="1300" b="0">
                          <a:solidFill>
                            <a:srgbClr val="1F1F1F"/>
                          </a:solidFill>
                          <a:latin typeface="Calibri"/>
                        </a:rPr>
                        <a:t>repescagem diária em</a:t>
                      </a:r>
                    </a:p>
                    <a:p>
                      <a:pPr algn="l">
                        <a:lnSpc>
                          <a:spcPct val="100000"/>
                        </a:lnSpc>
                        <a:spcBef>
                          <a:spcPts val="0"/>
                        </a:spcBef>
                        <a:spcAft>
                          <a:spcPts val="0"/>
                        </a:spcAft>
                      </a:pPr>
                      <a:r>
                        <a:rPr sz="1300" b="0">
                          <a:solidFill>
                            <a:srgbClr val="1F1F1F"/>
                          </a:solidFill>
                          <a:latin typeface="Calibri"/>
                        </a:rPr>
                        <a:t>conta. A partir de 31</a:t>
                      </a:r>
                    </a:p>
                    <a:p>
                      <a:pPr algn="l">
                        <a:lnSpc>
                          <a:spcPct val="100000"/>
                        </a:lnSpc>
                        <a:spcBef>
                          <a:spcPts val="0"/>
                        </a:spcBef>
                        <a:spcAft>
                          <a:spcPts val="0"/>
                        </a:spcAft>
                      </a:pPr>
                      <a:r>
                        <a:rPr sz="1300" b="0">
                          <a:solidFill>
                            <a:srgbClr val="1F1F1F"/>
                          </a:solidFill>
                          <a:latin typeface="Calibri"/>
                        </a:rPr>
                        <a:t>dias: notificação,</a:t>
                      </a:r>
                    </a:p>
                    <a:p>
                      <a:pPr algn="l">
                        <a:lnSpc>
                          <a:spcPct val="100000"/>
                        </a:lnSpc>
                        <a:spcBef>
                          <a:spcPts val="0"/>
                        </a:spcBef>
                        <a:spcAft>
                          <a:spcPts val="0"/>
                        </a:spcAft>
                      </a:pPr>
                      <a:r>
                        <a:rPr sz="1300" b="0">
                          <a:solidFill>
                            <a:srgbClr val="1F1F1F"/>
                          </a:solidFill>
                          <a:latin typeface="Calibri"/>
                        </a:rPr>
                        <a:t>negativação SERASA e</a:t>
                      </a:r>
                    </a:p>
                    <a:p>
                      <a:pPr algn="l">
                        <a:lnSpc>
                          <a:spcPct val="100000"/>
                        </a:lnSpc>
                        <a:spcBef>
                          <a:spcPts val="0"/>
                        </a:spcBef>
                        <a:spcAft>
                          <a:spcPts val="0"/>
                        </a:spcAft>
                      </a:pPr>
                      <a:r>
                        <a:rPr sz="1300" b="0">
                          <a:solidFill>
                            <a:srgbClr val="1F1F1F"/>
                          </a:solidFill>
                          <a:latin typeface="Calibri"/>
                        </a:rPr>
                        <a:t>cobrança terceirizada;</a:t>
                      </a:r>
                    </a:p>
                    <a:p>
                      <a:pPr algn="l">
                        <a:lnSpc>
                          <a:spcPct val="100000"/>
                        </a:lnSpc>
                        <a:spcBef>
                          <a:spcPts val="0"/>
                        </a:spcBef>
                        <a:spcAft>
                          <a:spcPts val="0"/>
                        </a:spcAft>
                      </a:pPr>
                      <a:r>
                        <a:rPr sz="1300" b="0">
                          <a:solidFill>
                            <a:srgbClr val="1F1F1F"/>
                          </a:solidFill>
                          <a:latin typeface="Calibri"/>
                        </a:rPr>
                        <a:t>a partir de 60 dias:</a:t>
                      </a:r>
                    </a:p>
                    <a:p>
                      <a:pPr algn="l">
                        <a:lnSpc>
                          <a:spcPct val="100000"/>
                        </a:lnSpc>
                        <a:spcBef>
                          <a:spcPts val="0"/>
                        </a:spcBef>
                        <a:spcAft>
                          <a:spcPts val="0"/>
                        </a:spcAft>
                      </a:pPr>
                      <a:r>
                        <a:rPr sz="1300" b="0">
                          <a:solidFill>
                            <a:srgbClr val="1F1F1F"/>
                          </a:solidFill>
                          <a:latin typeface="Calibri"/>
                        </a:rPr>
                        <a:t>protesto. Desconto do</a:t>
                      </a:r>
                    </a:p>
                    <a:p>
                      <a:pPr algn="l">
                        <a:lnSpc>
                          <a:spcPct val="100000"/>
                        </a:lnSpc>
                        <a:spcBef>
                          <a:spcPts val="0"/>
                        </a:spcBef>
                        <a:spcAft>
                          <a:spcPts val="0"/>
                        </a:spcAft>
                      </a:pPr>
                      <a:r>
                        <a:rPr sz="1300" b="0">
                          <a:solidFill>
                            <a:srgbClr val="1F1F1F"/>
                          </a:solidFill>
                          <a:latin typeface="Calibri"/>
                        </a:rPr>
                        <a:t>principal: 0% até 180</a:t>
                      </a:r>
                    </a:p>
                    <a:p>
                      <a:pPr algn="l">
                        <a:lnSpc>
                          <a:spcPct val="100000"/>
                        </a:lnSpc>
                        <a:spcBef>
                          <a:spcPts val="0"/>
                        </a:spcBef>
                        <a:spcAft>
                          <a:spcPts val="0"/>
                        </a:spcAft>
                      </a:pPr>
                      <a:r>
                        <a:rPr sz="1300" b="0">
                          <a:solidFill>
                            <a:srgbClr val="1F1F1F"/>
                          </a:solidFill>
                          <a:latin typeface="Calibri"/>
                        </a:rPr>
                        <a:t>dias, 20% em 181–270,</a:t>
                      </a:r>
                    </a:p>
                    <a:p>
                      <a:pPr algn="l">
                        <a:lnSpc>
                          <a:spcPct val="100000"/>
                        </a:lnSpc>
                        <a:spcBef>
                          <a:spcPts val="0"/>
                        </a:spcBef>
                        <a:spcAft>
                          <a:spcPts val="0"/>
                        </a:spcAft>
                      </a:pPr>
                      <a:r>
                        <a:rPr sz="1300" b="0">
                          <a:solidFill>
                            <a:srgbClr val="1F1F1F"/>
                          </a:solidFill>
                          <a:latin typeface="Calibri"/>
                        </a:rPr>
                        <a:t>30% em 271–360 e 50%</a:t>
                      </a:r>
                    </a:p>
                    <a:p>
                      <a:pPr algn="l">
                        <a:lnSpc>
                          <a:spcPct val="100000"/>
                        </a:lnSpc>
                        <a:spcBef>
                          <a:spcPts val="0"/>
                        </a:spcBef>
                        <a:spcAft>
                          <a:spcPts val="0"/>
                        </a:spcAft>
                      </a:pPr>
                      <a:r>
                        <a:rPr sz="1300" b="0">
                          <a:solidFill>
                            <a:srgbClr val="1F1F1F"/>
                          </a:solidFill>
                          <a:latin typeface="Calibri"/>
                        </a:rPr>
                        <a:t>acima de 360 dias.</a:t>
                      </a:r>
                    </a:p>
                    <a:p>
                      <a:pPr algn="l">
                        <a:lnSpc>
                          <a:spcPct val="100000"/>
                        </a:lnSpc>
                        <a:spcBef>
                          <a:spcPts val="0"/>
                        </a:spcBef>
                        <a:spcAft>
                          <a:spcPts val="0"/>
                        </a:spcAft>
                      </a:pPr>
                      <a:r>
                        <a:rPr sz="1300" b="0">
                          <a:solidFill>
                            <a:srgbClr val="1F1F1F"/>
                          </a:solidFill>
                          <a:latin typeface="Calibri"/>
                        </a:rPr>
                        <a:t>Comissões por faixa:</a:t>
                      </a:r>
                    </a:p>
                    <a:p>
                      <a:pPr algn="l">
                        <a:lnSpc>
                          <a:spcPct val="100000"/>
                        </a:lnSpc>
                        <a:spcBef>
                          <a:spcPts val="0"/>
                        </a:spcBef>
                        <a:spcAft>
                          <a:spcPts val="0"/>
                        </a:spcAft>
                      </a:pPr>
                      <a:r>
                        <a:rPr sz="1300" b="0">
                          <a:solidFill>
                            <a:srgbClr val="1F1F1F"/>
                          </a:solidFill>
                          <a:latin typeface="Calibri"/>
                        </a:rPr>
                        <a:t>12%, 15%, 20%, 25% e</a:t>
                      </a:r>
                    </a:p>
                    <a:p>
                      <a:pPr algn="l">
                        <a:lnSpc>
                          <a:spcPct val="100000"/>
                        </a:lnSpc>
                        <a:spcBef>
                          <a:spcPts val="0"/>
                        </a:spcBef>
                        <a:spcAft>
                          <a:spcPts val="0"/>
                        </a:spcAft>
                      </a:pPr>
                      <a:r>
                        <a:rPr sz="1300" b="0">
                          <a:solidFill>
                            <a:srgbClr val="1F1F1F"/>
                          </a:solidFill>
                          <a:latin typeface="Calibri"/>
                        </a:rPr>
                        <a:t>35%.</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A cobrança ativa será</a:t>
                      </a:r>
                    </a:p>
                    <a:p>
                      <a:pPr algn="l">
                        <a:lnSpc>
                          <a:spcPct val="100000"/>
                        </a:lnSpc>
                        <a:spcBef>
                          <a:spcPts val="0"/>
                        </a:spcBef>
                        <a:spcAft>
                          <a:spcPts val="0"/>
                        </a:spcAft>
                      </a:pPr>
                      <a:r>
                        <a:rPr sz="1300" b="0">
                          <a:solidFill>
                            <a:srgbClr val="1F1F1F"/>
                          </a:solidFill>
                          <a:latin typeface="Calibri"/>
                        </a:rPr>
                        <a:t>mantida até que a</a:t>
                      </a:r>
                    </a:p>
                    <a:p>
                      <a:pPr algn="l">
                        <a:lnSpc>
                          <a:spcPct val="100000"/>
                        </a:lnSpc>
                        <a:spcBef>
                          <a:spcPts val="0"/>
                        </a:spcBef>
                        <a:spcAft>
                          <a:spcPts val="0"/>
                        </a:spcAft>
                      </a:pPr>
                      <a:r>
                        <a:rPr sz="1300" b="0">
                          <a:solidFill>
                            <a:srgbClr val="1F1F1F"/>
                          </a:solidFill>
                          <a:latin typeface="Calibri"/>
                        </a:rPr>
                        <a:t>Escrituração seja</a:t>
                      </a:r>
                    </a:p>
                    <a:p>
                      <a:pPr algn="l">
                        <a:lnSpc>
                          <a:spcPct val="100000"/>
                        </a:lnSpc>
                        <a:spcBef>
                          <a:spcPts val="0"/>
                        </a:spcBef>
                        <a:spcAft>
                          <a:spcPts val="0"/>
                        </a:spcAft>
                      </a:pPr>
                      <a:r>
                        <a:rPr sz="1300" b="0">
                          <a:solidFill>
                            <a:srgbClr val="1F1F1F"/>
                          </a:solidFill>
                          <a:latin typeface="Calibri"/>
                        </a:rPr>
                        <a:t>realizada e/ou até que</a:t>
                      </a:r>
                    </a:p>
                    <a:p>
                      <a:pPr algn="l">
                        <a:lnSpc>
                          <a:spcPct val="100000"/>
                        </a:lnSpc>
                        <a:spcBef>
                          <a:spcPts val="0"/>
                        </a:spcBef>
                        <a:spcAft>
                          <a:spcPts val="0"/>
                        </a:spcAft>
                      </a:pPr>
                      <a:r>
                        <a:rPr sz="1300" b="0">
                          <a:solidFill>
                            <a:srgbClr val="1F1F1F"/>
                          </a:solidFill>
                          <a:latin typeface="Calibri"/>
                        </a:rPr>
                        <a:t>o Devedor retome o</a:t>
                      </a:r>
                    </a:p>
                    <a:p>
                      <a:pPr algn="l">
                        <a:lnSpc>
                          <a:spcPct val="100000"/>
                        </a:lnSpc>
                        <a:spcBef>
                          <a:spcPts val="0"/>
                        </a:spcBef>
                        <a:spcAft>
                          <a:spcPts val="0"/>
                        </a:spcAft>
                      </a:pPr>
                      <a:r>
                        <a:rPr sz="1300" b="0">
                          <a:solidFill>
                            <a:srgbClr val="1F1F1F"/>
                          </a:solidFill>
                          <a:latin typeface="Calibri"/>
                        </a:rPr>
                        <a:t>vínculo empregatício,</a:t>
                      </a:r>
                    </a:p>
                    <a:p>
                      <a:pPr algn="l">
                        <a:lnSpc>
                          <a:spcPct val="100000"/>
                        </a:lnSpc>
                        <a:spcBef>
                          <a:spcPts val="0"/>
                        </a:spcBef>
                        <a:spcAft>
                          <a:spcPts val="0"/>
                        </a:spcAft>
                      </a:pPr>
                      <a:r>
                        <a:rPr sz="1300" b="0">
                          <a:solidFill>
                            <a:srgbClr val="1F1F1F"/>
                          </a:solidFill>
                          <a:latin typeface="Calibri"/>
                        </a:rPr>
                        <a:t>observado o disposto</a:t>
                      </a:r>
                    </a:p>
                    <a:p>
                      <a:pPr algn="l">
                        <a:lnSpc>
                          <a:spcPct val="100000"/>
                        </a:lnSpc>
                        <a:spcBef>
                          <a:spcPts val="0"/>
                        </a:spcBef>
                        <a:spcAft>
                          <a:spcPts val="0"/>
                        </a:spcAft>
                      </a:pPr>
                      <a:r>
                        <a:rPr sz="1300" b="0">
                          <a:solidFill>
                            <a:srgbClr val="1F1F1F"/>
                          </a:solidFill>
                          <a:latin typeface="Calibri"/>
                        </a:rPr>
                        <a:t>abaixo: (i) As medidas</a:t>
                      </a:r>
                    </a:p>
                    <a:p>
                      <a:pPr algn="l">
                        <a:lnSpc>
                          <a:spcPct val="100000"/>
                        </a:lnSpc>
                        <a:spcBef>
                          <a:spcPts val="0"/>
                        </a:spcBef>
                        <a:spcAft>
                          <a:spcPts val="0"/>
                        </a:spcAft>
                      </a:pPr>
                      <a:r>
                        <a:rPr sz="1300" b="0">
                          <a:solidFill>
                            <a:srgbClr val="1F1F1F"/>
                          </a:solidFill>
                          <a:latin typeface="Calibri"/>
                        </a:rPr>
                        <a:t>adotadas pelo Agente de</a:t>
                      </a:r>
                    </a:p>
                    <a:p>
                      <a:pPr algn="l">
                        <a:lnSpc>
                          <a:spcPct val="100000"/>
                        </a:lnSpc>
                        <a:spcBef>
                          <a:spcPts val="0"/>
                        </a:spcBef>
                        <a:spcAft>
                          <a:spcPts val="0"/>
                        </a:spcAft>
                      </a:pPr>
                      <a:r>
                        <a:rPr sz="1300" b="0">
                          <a:solidFill>
                            <a:srgbClr val="1F1F1F"/>
                          </a:solidFill>
                          <a:latin typeface="Calibri"/>
                        </a:rPr>
                        <a:t>Retenção/Cobrança</a:t>
                      </a:r>
                    </a:p>
                    <a:p>
                      <a:pPr algn="l">
                        <a:lnSpc>
                          <a:spcPct val="100000"/>
                        </a:lnSpc>
                        <a:spcBef>
                          <a:spcPts val="0"/>
                        </a:spcBef>
                        <a:spcAft>
                          <a:spcPts val="0"/>
                        </a:spcAft>
                      </a:pPr>
                      <a:r>
                        <a:rPr sz="1300" b="0">
                          <a:solidFill>
                            <a:srgbClr val="1F1F1F"/>
                          </a:solidFill>
                          <a:latin typeface="Calibri"/>
                        </a:rPr>
                        <a:t>deverão observar a</a:t>
                      </a:r>
                    </a:p>
                    <a:p>
                      <a:pPr algn="l">
                        <a:lnSpc>
                          <a:spcPct val="100000"/>
                        </a:lnSpc>
                        <a:spcBef>
                          <a:spcPts val="0"/>
                        </a:spcBef>
                        <a:spcAft>
                          <a:spcPts val="0"/>
                        </a:spcAft>
                      </a:pPr>
                      <a:r>
                        <a:rPr sz="1300" b="0">
                          <a:solidFill>
                            <a:srgbClr val="1F1F1F"/>
                          </a:solidFill>
                          <a:latin typeface="Calibri"/>
                        </a:rPr>
                        <a:t>política de cobrança</a:t>
                      </a:r>
                    </a:p>
                    <a:p>
                      <a:pPr algn="l">
                        <a:lnSpc>
                          <a:spcPct val="100000"/>
                        </a:lnSpc>
                        <a:spcBef>
                          <a:spcPts val="0"/>
                        </a:spcBef>
                        <a:spcAft>
                          <a:spcPts val="0"/>
                        </a:spcAft>
                      </a:pPr>
                      <a:r>
                        <a:rPr sz="1300" b="0">
                          <a:solidFill>
                            <a:srgbClr val="1F1F1F"/>
                          </a:solidFill>
                          <a:latin typeface="Calibri"/>
                        </a:rPr>
                        <a:t>adotada pelo</a:t>
                      </a:r>
                    </a:p>
                    <a:p>
                      <a:pPr algn="l">
                        <a:lnSpc>
                          <a:spcPct val="100000"/>
                        </a:lnSpc>
                        <a:spcBef>
                          <a:spcPts val="0"/>
                        </a:spcBef>
                        <a:spcAft>
                          <a:spcPts val="0"/>
                        </a:spcAft>
                      </a:pPr>
                      <a:r>
                        <a:rPr sz="1300" b="0">
                          <a:solidFill>
                            <a:srgbClr val="1F1F1F"/>
                          </a:solidFill>
                          <a:latin typeface="Calibri"/>
                        </a:rPr>
                        <a:t>Custodiante; e (ii) Uma</a:t>
                      </a:r>
                    </a:p>
                    <a:p>
                      <a:pPr algn="l">
                        <a:lnSpc>
                          <a:spcPct val="100000"/>
                        </a:lnSpc>
                        <a:spcBef>
                          <a:spcPts val="0"/>
                        </a:spcBef>
                        <a:spcAft>
                          <a:spcPts val="0"/>
                        </a:spcAft>
                      </a:pPr>
                      <a:r>
                        <a:rPr sz="1300" b="0">
                          <a:solidFill>
                            <a:srgbClr val="1F1F1F"/>
                          </a:solidFill>
                          <a:latin typeface="Calibri"/>
                        </a:rPr>
                        <a:t>vez retomado o vínculo</a:t>
                      </a:r>
                    </a:p>
                    <a:p>
                      <a:pPr algn="l">
                        <a:lnSpc>
                          <a:spcPct val="100000"/>
                        </a:lnSpc>
                        <a:spcBef>
                          <a:spcPts val="0"/>
                        </a:spcBef>
                        <a:spcAft>
                          <a:spcPts val="0"/>
                        </a:spcAft>
                      </a:pPr>
                      <a:r>
                        <a:rPr sz="1300" b="0">
                          <a:solidFill>
                            <a:srgbClr val="1F1F1F"/>
                          </a:solidFill>
                          <a:latin typeface="Calibri"/>
                        </a:rPr>
                        <a:t>empregatício, o Agente</a:t>
                      </a:r>
                    </a:p>
                    <a:p>
                      <a:pPr algn="l">
                        <a:lnSpc>
                          <a:spcPct val="100000"/>
                        </a:lnSpc>
                        <a:spcBef>
                          <a:spcPts val="0"/>
                        </a:spcBef>
                        <a:spcAft>
                          <a:spcPts val="0"/>
                        </a:spcAft>
                      </a:pPr>
                      <a:r>
                        <a:rPr sz="1300" b="0">
                          <a:solidFill>
                            <a:srgbClr val="1F1F1F"/>
                          </a:solidFill>
                          <a:latin typeface="Calibri"/>
                        </a:rPr>
                        <a:t>de Retenção/Cobrança</a:t>
                      </a:r>
                    </a:p>
                    <a:p>
                      <a:pPr algn="l">
                        <a:lnSpc>
                          <a:spcPct val="100000"/>
                        </a:lnSpc>
                        <a:spcBef>
                          <a:spcPts val="0"/>
                        </a:spcBef>
                        <a:spcAft>
                          <a:spcPts val="0"/>
                        </a:spcAft>
                      </a:pPr>
                      <a:r>
                        <a:rPr sz="1300" b="0">
                          <a:solidFill>
                            <a:srgbClr val="1F1F1F"/>
                          </a:solidFill>
                          <a:latin typeface="Calibri"/>
                        </a:rPr>
                        <a:t>deverá aditar a CCB</a:t>
                      </a:r>
                    </a:p>
                    <a:p>
                      <a:pPr algn="l">
                        <a:lnSpc>
                          <a:spcPct val="100000"/>
                        </a:lnSpc>
                        <a:spcBef>
                          <a:spcPts val="0"/>
                        </a:spcBef>
                        <a:spcAft>
                          <a:spcPts val="0"/>
                        </a:spcAft>
                      </a:pPr>
                      <a:r>
                        <a:rPr sz="1300" b="0">
                          <a:solidFill>
                            <a:srgbClr val="1F1F1F"/>
                          </a:solidFill>
                          <a:latin typeface="Calibri"/>
                        </a:rPr>
                        <a:t>e/ou realizar o</a:t>
                      </a:r>
                    </a:p>
                    <a:p>
                      <a:pPr algn="l">
                        <a:lnSpc>
                          <a:spcPct val="100000"/>
                        </a:lnSpc>
                        <a:spcBef>
                          <a:spcPts val="0"/>
                        </a:spcBef>
                        <a:spcAft>
                          <a:spcPts val="0"/>
                        </a:spcAft>
                      </a:pPr>
                      <a:r>
                        <a:rPr sz="1300" b="0">
                          <a:solidFill>
                            <a:srgbClr val="1F1F1F"/>
                          </a:solidFill>
                          <a:latin typeface="Calibri"/>
                        </a:rPr>
                        <a:t>Processo de</a:t>
                      </a:r>
                    </a:p>
                    <a:p>
                      <a:pPr algn="l">
                        <a:lnSpc>
                          <a:spcPct val="100000"/>
                        </a:lnSpc>
                        <a:spcBef>
                          <a:spcPts val="0"/>
                        </a:spcBef>
                        <a:spcAft>
                          <a:spcPts val="0"/>
                        </a:spcAft>
                      </a:pPr>
                      <a:r>
                        <a:rPr sz="1300" b="0">
                          <a:solidFill>
                            <a:srgbClr val="1F1F1F"/>
                          </a:solidFill>
                          <a:latin typeface="Calibri"/>
                        </a:rPr>
                        <a:t>Reinicialização</a:t>
                      </a:r>
                    </a:p>
                    <a:p>
                      <a:pPr algn="l">
                        <a:lnSpc>
                          <a:spcPct val="100000"/>
                        </a:lnSpc>
                        <a:spcBef>
                          <a:spcPts val="0"/>
                        </a:spcBef>
                        <a:spcAft>
                          <a:spcPts val="0"/>
                        </a:spcAft>
                      </a:pPr>
                      <a:r>
                        <a:rPr sz="1300" b="0">
                          <a:solidFill>
                            <a:srgbClr val="1F1F1F"/>
                          </a:solidFill>
                          <a:latin typeface="Calibri"/>
                        </a:rPr>
                        <a:t>(conforme detalhado no</a:t>
                      </a:r>
                    </a:p>
                    <a:p>
                      <a:pPr algn="l">
                        <a:lnSpc>
                          <a:spcPct val="100000"/>
                        </a:lnSpc>
                        <a:spcBef>
                          <a:spcPts val="0"/>
                        </a:spcBef>
                        <a:spcAft>
                          <a:spcPts val="0"/>
                        </a:spcAft>
                      </a:pPr>
                      <a:r>
                        <a:rPr sz="1300" b="0">
                          <a:solidFill>
                            <a:srgbClr val="1F1F1F"/>
                          </a:solidFill>
                          <a:latin typeface="Calibri"/>
                        </a:rPr>
                        <a:t>Contrato de Endosso).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7.7. Falhas de</a:t>
                      </a:r>
                    </a:p>
                    <a:p>
                      <a:pPr algn="l">
                        <a:lnSpc>
                          <a:spcPct val="100000"/>
                        </a:lnSpc>
                        <a:spcBef>
                          <a:spcPts val="0"/>
                        </a:spcBef>
                        <a:spcAft>
                          <a:spcPts val="0"/>
                        </a:spcAft>
                      </a:pPr>
                      <a:r>
                        <a:rPr sz="1300" b="0">
                          <a:solidFill>
                            <a:srgbClr val="1F1F1F"/>
                          </a:solidFill>
                          <a:latin typeface="Calibri"/>
                        </a:rPr>
                        <a:t>Cobrança. A cobrança</a:t>
                      </a:r>
                    </a:p>
                    <a:p>
                      <a:pPr algn="l">
                        <a:lnSpc>
                          <a:spcPct val="100000"/>
                        </a:lnSpc>
                        <a:spcBef>
                          <a:spcPts val="0"/>
                        </a:spcBef>
                        <a:spcAft>
                          <a:spcPts val="0"/>
                        </a:spcAft>
                      </a:pPr>
                      <a:r>
                        <a:rPr sz="1300" b="0">
                          <a:solidFill>
                            <a:srgbClr val="1F1F1F"/>
                          </a:solidFill>
                          <a:latin typeface="Calibri"/>
                        </a:rPr>
                        <a:t>dos Direitos</a:t>
                      </a:r>
                    </a:p>
                    <a:p>
                      <a:pPr algn="l">
                        <a:lnSpc>
                          <a:spcPct val="100000"/>
                        </a:lnSpc>
                        <a:spcBef>
                          <a:spcPts val="0"/>
                        </a:spcBef>
                        <a:spcAft>
                          <a:spcPts val="0"/>
                        </a:spcAft>
                      </a:pPr>
                      <a:r>
                        <a:rPr sz="1300" b="0">
                          <a:solidFill>
                            <a:srgbClr val="1F1F1F"/>
                          </a:solidFill>
                          <a:latin typeface="Calibri"/>
                        </a:rPr>
                        <a:t>Creditórios do</a:t>
                      </a:r>
                    </a:p>
                    <a:p>
                      <a:pPr algn="l">
                        <a:lnSpc>
                          <a:spcPct val="100000"/>
                        </a:lnSpc>
                        <a:spcBef>
                          <a:spcPts val="0"/>
                        </a:spcBef>
                        <a:spcAft>
                          <a:spcPts val="0"/>
                        </a:spcAft>
                      </a:pPr>
                      <a:r>
                        <a:rPr sz="1300" b="0">
                          <a:solidFill>
                            <a:srgbClr val="1F1F1F"/>
                          </a:solidFill>
                          <a:latin typeface="Calibri"/>
                        </a:rPr>
                        <a:t>Agronegócio</a:t>
                      </a:r>
                    </a:p>
                    <a:p>
                      <a:pPr algn="l">
                        <a:lnSpc>
                          <a:spcPct val="100000"/>
                        </a:lnSpc>
                        <a:spcBef>
                          <a:spcPts val="0"/>
                        </a:spcBef>
                        <a:spcAft>
                          <a:spcPts val="0"/>
                        </a:spcAft>
                      </a:pPr>
                      <a:r>
                        <a:rPr sz="1300" b="0">
                          <a:solidFill>
                            <a:srgbClr val="1F1F1F"/>
                          </a:solidFill>
                          <a:latin typeface="Calibri"/>
                        </a:rPr>
                        <a:t>Inadimplidos de</a:t>
                      </a:r>
                    </a:p>
                    <a:p>
                      <a:pPr algn="l">
                        <a:lnSpc>
                          <a:spcPct val="100000"/>
                        </a:lnSpc>
                        <a:spcBef>
                          <a:spcPts val="0"/>
                        </a:spcBef>
                        <a:spcAft>
                          <a:spcPts val="0"/>
                        </a:spcAft>
                      </a:pPr>
                      <a:r>
                        <a:rPr sz="1300" b="0">
                          <a:solidFill>
                            <a:srgbClr val="1F1F1F"/>
                          </a:solidFill>
                          <a:latin typeface="Calibri"/>
                        </a:rPr>
                        <a:t>titularidade da Classe</a:t>
                      </a:r>
                    </a:p>
                    <a:p>
                      <a:pPr algn="l">
                        <a:lnSpc>
                          <a:spcPct val="100000"/>
                        </a:lnSpc>
                        <a:spcBef>
                          <a:spcPts val="0"/>
                        </a:spcBef>
                        <a:spcAft>
                          <a:spcPts val="0"/>
                        </a:spcAft>
                      </a:pPr>
                      <a:r>
                        <a:rPr sz="1300" b="0">
                          <a:solidFill>
                            <a:srgbClr val="1F1F1F"/>
                          </a:solidFill>
                          <a:latin typeface="Calibri"/>
                        </a:rPr>
                        <a:t>depende da atuação</a:t>
                      </a:r>
                    </a:p>
                    <a:p>
                      <a:pPr algn="l">
                        <a:lnSpc>
                          <a:spcPct val="100000"/>
                        </a:lnSpc>
                        <a:spcBef>
                          <a:spcPts val="0"/>
                        </a:spcBef>
                        <a:spcAft>
                          <a:spcPts val="0"/>
                        </a:spcAft>
                      </a:pPr>
                      <a:r>
                        <a:rPr sz="1300" b="0">
                          <a:solidFill>
                            <a:srgbClr val="1F1F1F"/>
                          </a:solidFill>
                          <a:latin typeface="Calibri"/>
                        </a:rPr>
                        <a:t>diligente do agente de</a:t>
                      </a:r>
                    </a:p>
                    <a:p>
                      <a:pPr algn="l">
                        <a:lnSpc>
                          <a:spcPct val="100000"/>
                        </a:lnSpc>
                        <a:spcBef>
                          <a:spcPts val="0"/>
                        </a:spcBef>
                        <a:spcAft>
                          <a:spcPts val="0"/>
                        </a:spcAft>
                      </a:pPr>
                      <a:r>
                        <a:rPr sz="1300" b="0">
                          <a:solidFill>
                            <a:srgbClr val="1F1F1F"/>
                          </a:solidFill>
                          <a:latin typeface="Calibri"/>
                        </a:rPr>
                        <a:t>cobrança. Qualquer f</a:t>
                      </a:r>
                    </a:p>
                    <a:p>
                      <a:pPr algn="l">
                        <a:lnSpc>
                          <a:spcPct val="100000"/>
                        </a:lnSpc>
                        <a:spcBef>
                          <a:spcPts val="0"/>
                        </a:spcBef>
                        <a:spcAft>
                          <a:spcPts val="0"/>
                        </a:spcAft>
                      </a:pPr>
                      <a:r>
                        <a:rPr sz="1300" b="0">
                          <a:solidFill>
                            <a:srgbClr val="1F1F1F"/>
                          </a:solidFill>
                          <a:latin typeface="Calibri"/>
                        </a:rPr>
                        <a:t>alha de procedimento ou</a:t>
                      </a:r>
                    </a:p>
                    <a:p>
                      <a:pPr algn="l">
                        <a:lnSpc>
                          <a:spcPct val="100000"/>
                        </a:lnSpc>
                        <a:spcBef>
                          <a:spcPts val="0"/>
                        </a:spcBef>
                        <a:spcAft>
                          <a:spcPts val="0"/>
                        </a:spcAft>
                      </a:pPr>
                      <a:r>
                        <a:rPr sz="1300" b="0">
                          <a:solidFill>
                            <a:srgbClr val="1F1F1F"/>
                          </a:solidFill>
                          <a:latin typeface="Calibri"/>
                        </a:rPr>
                        <a:t>ineficiência do agente</a:t>
                      </a:r>
                    </a:p>
                    <a:p>
                      <a:pPr algn="l">
                        <a:lnSpc>
                          <a:spcPct val="100000"/>
                        </a:lnSpc>
                        <a:spcBef>
                          <a:spcPts val="0"/>
                        </a:spcBef>
                        <a:spcAft>
                          <a:spcPts val="0"/>
                        </a:spcAft>
                      </a:pPr>
                      <a:r>
                        <a:rPr sz="1300" b="0">
                          <a:solidFill>
                            <a:srgbClr val="1F1F1F"/>
                          </a:solidFill>
                          <a:latin typeface="Calibri"/>
                        </a:rPr>
                        <a:t>de cobrança poderá</a:t>
                      </a:r>
                    </a:p>
                    <a:p>
                      <a:pPr algn="l">
                        <a:lnSpc>
                          <a:spcPct val="100000"/>
                        </a:lnSpc>
                        <a:spcBef>
                          <a:spcPts val="0"/>
                        </a:spcBef>
                        <a:spcAft>
                          <a:spcPts val="0"/>
                        </a:spcAft>
                      </a:pPr>
                      <a:r>
                        <a:rPr sz="1300" b="0">
                          <a:solidFill>
                            <a:srgbClr val="1F1F1F"/>
                          </a:solidFill>
                          <a:latin typeface="Calibri"/>
                        </a:rPr>
                        <a:t>acarretar menor</a:t>
                      </a:r>
                    </a:p>
                    <a:p>
                      <a:pPr algn="l">
                        <a:lnSpc>
                          <a:spcPct val="100000"/>
                        </a:lnSpc>
                        <a:spcBef>
                          <a:spcPts val="0"/>
                        </a:spcBef>
                        <a:spcAft>
                          <a:spcPts val="0"/>
                        </a:spcAft>
                      </a:pPr>
                      <a:r>
                        <a:rPr sz="1300" b="0">
                          <a:solidFill>
                            <a:srgbClr val="1F1F1F"/>
                          </a:solidFill>
                          <a:latin typeface="Calibri"/>
                        </a:rPr>
                        <a:t>recebimento dos</a:t>
                      </a:r>
                    </a:p>
                    <a:p>
                      <a:pPr algn="l">
                        <a:lnSpc>
                          <a:spcPct val="100000"/>
                        </a:lnSpc>
                        <a:spcBef>
                          <a:spcPts val="0"/>
                        </a:spcBef>
                        <a:spcAft>
                          <a:spcPts val="0"/>
                        </a:spcAft>
                      </a:pPr>
                      <a:r>
                        <a:rPr sz="1300" b="0">
                          <a:solidFill>
                            <a:srgbClr val="1F1F1F"/>
                          </a:solidFill>
                          <a:latin typeface="Calibri"/>
                        </a:rPr>
                        <a:t>recursos devidos pelos</a:t>
                      </a:r>
                    </a:p>
                    <a:p>
                      <a:pPr algn="l">
                        <a:lnSpc>
                          <a:spcPct val="100000"/>
                        </a:lnSpc>
                        <a:spcBef>
                          <a:spcPts val="0"/>
                        </a:spcBef>
                        <a:spcAft>
                          <a:spcPts val="0"/>
                        </a:spcAft>
                      </a:pPr>
                      <a:r>
                        <a:rPr sz="1300" b="0">
                          <a:solidFill>
                            <a:srgbClr val="1F1F1F"/>
                          </a:solidFill>
                          <a:latin typeface="Calibri"/>
                        </a:rPr>
                        <a:t>Devedores, levando à</a:t>
                      </a:r>
                    </a:p>
                    <a:p>
                      <a:pPr algn="l">
                        <a:lnSpc>
                          <a:spcPct val="100000"/>
                        </a:lnSpc>
                        <a:spcBef>
                          <a:spcPts val="0"/>
                        </a:spcBef>
                        <a:spcAft>
                          <a:spcPts val="0"/>
                        </a:spcAft>
                      </a:pPr>
                      <a:r>
                        <a:rPr sz="1300" b="0">
                          <a:solidFill>
                            <a:srgbClr val="1F1F1F"/>
                          </a:solidFill>
                          <a:latin typeface="Calibri"/>
                        </a:rPr>
                        <a:t>queda da rentabilidade</a:t>
                      </a:r>
                    </a:p>
                    <a:p>
                      <a:pPr algn="l">
                        <a:lnSpc>
                          <a:spcPct val="100000"/>
                        </a:lnSpc>
                        <a:spcBef>
                          <a:spcPts val="0"/>
                        </a:spcBef>
                        <a:spcAft>
                          <a:spcPts val="0"/>
                        </a:spcAft>
                      </a:pPr>
                      <a:r>
                        <a:rPr sz="1300" b="0">
                          <a:solidFill>
                            <a:srgbClr val="1F1F1F"/>
                          </a:solidFill>
                          <a:latin typeface="Calibri"/>
                        </a:rPr>
                        <a:t>da Classe.</a:t>
                      </a:r>
                    </a:p>
                    <a:p>
                      <a:pPr algn="l">
                        <a:lnSpc>
                          <a:spcPct val="100000"/>
                        </a:lnSpc>
                        <a:spcBef>
                          <a:spcPts val="0"/>
                        </a:spcBef>
                        <a:spcAft>
                          <a:spcPts val="0"/>
                        </a:spcAft>
                      </a:pPr>
                      <a:r>
                        <a:rPr sz="1300" b="0">
                          <a:solidFill>
                            <a:srgbClr val="1F1F1F"/>
                          </a:solidFill>
                          <a:latin typeface="Calibri"/>
                        </a:rPr>
                        <a:t>Adicionalmente, nada</a:t>
                      </a:r>
                    </a:p>
                    <a:p>
                      <a:pPr algn="l">
                        <a:lnSpc>
                          <a:spcPct val="100000"/>
                        </a:lnSpc>
                        <a:spcBef>
                          <a:spcPts val="0"/>
                        </a:spcBef>
                        <a:spcAft>
                          <a:spcPts val="0"/>
                        </a:spcAft>
                      </a:pPr>
                      <a:r>
                        <a:rPr sz="1300" b="0">
                          <a:solidFill>
                            <a:srgbClr val="1F1F1F"/>
                          </a:solidFill>
                          <a:latin typeface="Calibri"/>
                        </a:rPr>
                        <a:t>garante que a cobrança</a:t>
                      </a:r>
                    </a:p>
                    <a:p>
                      <a:pPr algn="l">
                        <a:lnSpc>
                          <a:spcPct val="100000"/>
                        </a:lnSpc>
                        <a:spcBef>
                          <a:spcPts val="0"/>
                        </a:spcBef>
                        <a:spcAft>
                          <a:spcPts val="0"/>
                        </a:spcAft>
                      </a:pPr>
                      <a:r>
                        <a:rPr sz="1300" b="0">
                          <a:solidFill>
                            <a:srgbClr val="1F1F1F"/>
                          </a:solidFill>
                          <a:latin typeface="Calibri"/>
                        </a:rPr>
                        <a:t>judicial dos Direitos</a:t>
                      </a:r>
                    </a:p>
                    <a:p>
                      <a:pPr algn="l">
                        <a:lnSpc>
                          <a:spcPct val="100000"/>
                        </a:lnSpc>
                        <a:spcBef>
                          <a:spcPts val="0"/>
                        </a:spcBef>
                        <a:spcAft>
                          <a:spcPts val="0"/>
                        </a:spcAft>
                      </a:pPr>
                      <a:r>
                        <a:rPr sz="1300" b="0">
                          <a:solidFill>
                            <a:srgbClr val="1F1F1F"/>
                          </a:solidFill>
                          <a:latin typeface="Calibri"/>
                        </a:rPr>
                        <a:t>Creditórios do</a:t>
                      </a:r>
                    </a:p>
                    <a:p>
                      <a:pPr algn="l">
                        <a:lnSpc>
                          <a:spcPct val="100000"/>
                        </a:lnSpc>
                        <a:spcBef>
                          <a:spcPts val="0"/>
                        </a:spcBef>
                        <a:spcAft>
                          <a:spcPts val="0"/>
                        </a:spcAft>
                      </a:pPr>
                      <a:r>
                        <a:rPr sz="1300" b="0">
                          <a:solidFill>
                            <a:srgbClr val="1F1F1F"/>
                          </a:solidFill>
                          <a:latin typeface="Calibri"/>
                        </a:rPr>
                        <a:t>Agronegócio</a:t>
                      </a:r>
                    </a:p>
                    <a:p>
                      <a:pPr algn="l">
                        <a:lnSpc>
                          <a:spcPct val="100000"/>
                        </a:lnSpc>
                        <a:spcBef>
                          <a:spcPts val="0"/>
                        </a:spcBef>
                        <a:spcAft>
                          <a:spcPts val="0"/>
                        </a:spcAft>
                      </a:pPr>
                      <a:r>
                        <a:rPr sz="1300" b="0">
                          <a:solidFill>
                            <a:srgbClr val="1F1F1F"/>
                          </a:solidFill>
                          <a:latin typeface="Calibri"/>
                        </a:rPr>
                        <a:t>Inadimplidos levará à</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Extração pendente</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63/160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Garantias e operação</a:t>
            </a:r>
          </a:p>
        </p:txBody>
      </p:sp>
      <p:graphicFrame>
        <p:nvGraphicFramePr>
          <p:cNvPr id="3" name="Table 2"/>
          <p:cNvGraphicFramePr>
            <a:graphicFrameLocks noGrp="1"/>
          </p:cNvGraphicFramePr>
          <p:nvPr/>
        </p:nvGraphicFramePr>
        <p:xfrm>
          <a:off x="438912" y="932688"/>
          <a:ext cx="11313868" cy="3941064"/>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3470148">
                <a:tc>
                  <a:txBody>
                    <a:bodyPr wrap="square">
                      <a:noAutofit/>
                    </a:bodyPr>
                    <a:lstStyle/>
                    <a:p>
                      <a:pPr algn="l">
                        <a:lnSpc>
                          <a:spcPct val="100000"/>
                        </a:lnSpc>
                        <a:spcBef>
                          <a:spcPts val="0"/>
                        </a:spcBef>
                        <a:spcAft>
                          <a:spcPts val="0"/>
                        </a:spcAft>
                      </a:pPr>
                      <a:r>
                        <a:rPr sz="1300" b="1">
                          <a:solidFill>
                            <a:srgbClr val="1F1F1F"/>
                          </a:solidFill>
                          <a:latin typeface="Calibri"/>
                        </a:rPr>
                        <a:t>Cobrança e servicing</a:t>
                      </a:r>
                    </a:p>
                    <a:p>
                      <a:pPr algn="l">
                        <a:lnSpc>
                          <a:spcPct val="100000"/>
                        </a:lnSpc>
                        <a:spcBef>
                          <a:spcPts val="0"/>
                        </a:spcBef>
                        <a:spcAft>
                          <a:spcPts val="0"/>
                        </a:spcAft>
                      </a:pPr>
                      <a:r>
                        <a:rPr sz="1300" b="1">
                          <a:solidFill>
                            <a:srgbClr val="1F1F1F"/>
                          </a:solidFill>
                          <a:latin typeface="Calibri"/>
                        </a:rPr>
                        <a:t>(continuação)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recuperação total dos</a:t>
                      </a:r>
                    </a:p>
                    <a:p>
                      <a:pPr algn="l">
                        <a:lnSpc>
                          <a:spcPct val="100000"/>
                        </a:lnSpc>
                        <a:spcBef>
                          <a:spcPts val="0"/>
                        </a:spcBef>
                        <a:spcAft>
                          <a:spcPts val="0"/>
                        </a:spcAft>
                      </a:pPr>
                      <a:r>
                        <a:rPr sz="1300" b="0">
                          <a:solidFill>
                            <a:srgbClr val="1F1F1F"/>
                          </a:solidFill>
                          <a:latin typeface="Calibri"/>
                        </a:rPr>
                        <a:t>Direitos Creditórios do</a:t>
                      </a:r>
                    </a:p>
                    <a:p>
                      <a:pPr algn="l">
                        <a:lnSpc>
                          <a:spcPct val="100000"/>
                        </a:lnSpc>
                        <a:spcBef>
                          <a:spcPts val="0"/>
                        </a:spcBef>
                        <a:spcAft>
                          <a:spcPts val="0"/>
                        </a:spcAft>
                      </a:pPr>
                      <a:r>
                        <a:rPr sz="1300" b="0">
                          <a:solidFill>
                            <a:srgbClr val="1F1F1F"/>
                          </a:solidFill>
                          <a:latin typeface="Calibri"/>
                        </a:rPr>
                        <a:t>Agronegócio</a:t>
                      </a:r>
                    </a:p>
                    <a:p>
                      <a:pPr algn="l">
                        <a:lnSpc>
                          <a:spcPct val="100000"/>
                        </a:lnSpc>
                        <a:spcBef>
                          <a:spcPts val="0"/>
                        </a:spcBef>
                        <a:spcAft>
                          <a:spcPts val="0"/>
                        </a:spcAft>
                      </a:pPr>
                      <a:r>
                        <a:rPr sz="1300" b="0">
                          <a:solidFill>
                            <a:srgbClr val="1F1F1F"/>
                          </a:solidFill>
                          <a:latin typeface="Calibri"/>
                        </a:rPr>
                        <a:t>Inadimplidos, o que</a:t>
                      </a:r>
                    </a:p>
                    <a:p>
                      <a:pPr algn="l">
                        <a:lnSpc>
                          <a:spcPct val="100000"/>
                        </a:lnSpc>
                        <a:spcBef>
                          <a:spcPts val="0"/>
                        </a:spcBef>
                        <a:spcAft>
                          <a:spcPts val="0"/>
                        </a:spcAft>
                      </a:pPr>
                      <a:r>
                        <a:rPr sz="1300" b="0">
                          <a:solidFill>
                            <a:srgbClr val="1F1F1F"/>
                          </a:solidFill>
                          <a:latin typeface="Calibri"/>
                        </a:rPr>
                        <a:t>poderá implicar perdas</a:t>
                      </a:r>
                    </a:p>
                    <a:p>
                      <a:pPr algn="l">
                        <a:lnSpc>
                          <a:spcPct val="100000"/>
                        </a:lnSpc>
                        <a:spcBef>
                          <a:spcPts val="0"/>
                        </a:spcBef>
                        <a:spcAft>
                          <a:spcPts val="0"/>
                        </a:spcAft>
                      </a:pPr>
                      <a:r>
                        <a:rPr sz="1300" b="0">
                          <a:solidFill>
                            <a:srgbClr val="1F1F1F"/>
                          </a:solidFill>
                          <a:latin typeface="Calibri"/>
                        </a:rPr>
                        <a:t>patrimoniais à Classe e</a:t>
                      </a:r>
                    </a:p>
                    <a:p>
                      <a:pPr algn="l">
                        <a:lnSpc>
                          <a:spcPct val="100000"/>
                        </a:lnSpc>
                        <a:spcBef>
                          <a:spcPts val="0"/>
                        </a:spcBef>
                        <a:spcAft>
                          <a:spcPts val="0"/>
                        </a:spcAft>
                      </a:pPr>
                      <a:r>
                        <a:rPr sz="1300" b="0">
                          <a:solidFill>
                            <a:srgbClr val="1F1F1F"/>
                          </a:solidFill>
                          <a:latin typeface="Calibri"/>
                        </a:rPr>
                        <a:t>aos Cotistas.</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3.2 Sem prejuízo de</a:t>
                      </a:r>
                    </a:p>
                    <a:p>
                      <a:pPr algn="l">
                        <a:lnSpc>
                          <a:spcPct val="100000"/>
                        </a:lnSpc>
                        <a:spcBef>
                          <a:spcPts val="0"/>
                        </a:spcBef>
                        <a:spcAft>
                          <a:spcPts val="0"/>
                        </a:spcAft>
                      </a:pPr>
                      <a:r>
                        <a:rPr sz="1300" b="0">
                          <a:solidFill>
                            <a:srgbClr val="1F1F1F"/>
                          </a:solidFill>
                          <a:latin typeface="Calibri"/>
                        </a:rPr>
                        <a:t>outras despesas que</a:t>
                      </a:r>
                    </a:p>
                    <a:p>
                      <a:pPr algn="l">
                        <a:lnSpc>
                          <a:spcPct val="100000"/>
                        </a:lnSpc>
                        <a:spcBef>
                          <a:spcPts val="0"/>
                        </a:spcBef>
                        <a:spcAft>
                          <a:spcPts val="0"/>
                        </a:spcAft>
                      </a:pPr>
                      <a:r>
                        <a:rPr sz="1300" b="0">
                          <a:solidFill>
                            <a:srgbClr val="1F1F1F"/>
                          </a:solidFill>
                          <a:latin typeface="Calibri"/>
                        </a:rPr>
                        <a:t>venham a ser aprovadas</a:t>
                      </a:r>
                    </a:p>
                    <a:p>
                      <a:pPr algn="l">
                        <a:lnSpc>
                          <a:spcPct val="100000"/>
                        </a:lnSpc>
                        <a:spcBef>
                          <a:spcPts val="0"/>
                        </a:spcBef>
                        <a:spcAft>
                          <a:spcPts val="0"/>
                        </a:spcAft>
                      </a:pPr>
                      <a:r>
                        <a:rPr sz="1300" b="0">
                          <a:solidFill>
                            <a:srgbClr val="1F1F1F"/>
                          </a:solidFill>
                          <a:latin typeface="Calibri"/>
                        </a:rPr>
                        <a:t>em Assembleia Especial,</a:t>
                      </a:r>
                    </a:p>
                    <a:p>
                      <a:pPr algn="l">
                        <a:lnSpc>
                          <a:spcPct val="100000"/>
                        </a:lnSpc>
                        <a:spcBef>
                          <a:spcPts val="0"/>
                        </a:spcBef>
                        <a:spcAft>
                          <a:spcPts val="0"/>
                        </a:spcAft>
                      </a:pPr>
                      <a:r>
                        <a:rPr sz="1300" b="0">
                          <a:solidFill>
                            <a:srgbClr val="1F1F1F"/>
                          </a:solidFill>
                          <a:latin typeface="Calibri"/>
                        </a:rPr>
                        <a:t>são Encargos da Classe:</a:t>
                      </a:r>
                    </a:p>
                    <a:p>
                      <a:pPr algn="l">
                        <a:lnSpc>
                          <a:spcPct val="100000"/>
                        </a:lnSpc>
                        <a:spcBef>
                          <a:spcPts val="0"/>
                        </a:spcBef>
                        <a:spcAft>
                          <a:spcPts val="0"/>
                        </a:spcAft>
                      </a:pPr>
                      <a:r>
                        <a:rPr sz="1300" b="0">
                          <a:solidFill>
                            <a:srgbClr val="1F1F1F"/>
                          </a:solidFill>
                          <a:latin typeface="Calibri"/>
                        </a:rPr>
                        <a:t>(i) despesas com</a:t>
                      </a:r>
                    </a:p>
                    <a:p>
                      <a:pPr algn="l">
                        <a:lnSpc>
                          <a:spcPct val="100000"/>
                        </a:lnSpc>
                        <a:spcBef>
                          <a:spcPts val="0"/>
                        </a:spcBef>
                        <a:spcAft>
                          <a:spcPts val="0"/>
                        </a:spcAft>
                      </a:pPr>
                      <a:r>
                        <a:rPr sz="1300" b="0">
                          <a:solidFill>
                            <a:srgbClr val="1F1F1F"/>
                          </a:solidFill>
                          <a:latin typeface="Calibri"/>
                        </a:rPr>
                        <a:t>consultoria</a:t>
                      </a:r>
                    </a:p>
                    <a:p>
                      <a:pPr algn="l">
                        <a:lnSpc>
                          <a:spcPct val="100000"/>
                        </a:lnSpc>
                        <a:spcBef>
                          <a:spcPts val="0"/>
                        </a:spcBef>
                        <a:spcAft>
                          <a:spcPts val="0"/>
                        </a:spcAft>
                      </a:pPr>
                      <a:r>
                        <a:rPr sz="1300" b="0">
                          <a:solidFill>
                            <a:srgbClr val="1F1F1F"/>
                          </a:solidFill>
                          <a:latin typeface="Calibri"/>
                        </a:rPr>
                        <a:t>especializada; (ii)</a:t>
                      </a:r>
                    </a:p>
                    <a:p>
                      <a:pPr algn="l">
                        <a:lnSpc>
                          <a:spcPct val="100000"/>
                        </a:lnSpc>
                        <a:spcBef>
                          <a:spcPts val="0"/>
                        </a:spcBef>
                        <a:spcAft>
                          <a:spcPts val="0"/>
                        </a:spcAft>
                      </a:pPr>
                      <a:r>
                        <a:rPr sz="1300" b="0">
                          <a:solidFill>
                            <a:srgbClr val="1F1F1F"/>
                          </a:solidFill>
                          <a:latin typeface="Calibri"/>
                        </a:rPr>
                        <a:t>despesas com agente de</a:t>
                      </a:r>
                    </a:p>
                    <a:p>
                      <a:pPr algn="l">
                        <a:lnSpc>
                          <a:spcPct val="100000"/>
                        </a:lnSpc>
                        <a:spcBef>
                          <a:spcPts val="0"/>
                        </a:spcBef>
                        <a:spcAft>
                          <a:spcPts val="0"/>
                        </a:spcAft>
                      </a:pPr>
                      <a:r>
                        <a:rPr sz="1300" b="0">
                          <a:solidFill>
                            <a:srgbClr val="1F1F1F"/>
                          </a:solidFill>
                          <a:latin typeface="Calibri"/>
                        </a:rPr>
                        <a:t>cobrança.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64/160</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Garantias e operação</a:t>
            </a:r>
          </a:p>
        </p:txBody>
      </p:sp>
      <p:graphicFrame>
        <p:nvGraphicFramePr>
          <p:cNvPr id="3" name="Table 2"/>
          <p:cNvGraphicFramePr>
            <a:graphicFrameLocks noGrp="1"/>
          </p:cNvGraphicFramePr>
          <p:nvPr/>
        </p:nvGraphicFramePr>
        <p:xfrm>
          <a:off x="438912" y="932688"/>
          <a:ext cx="11313868" cy="5253228"/>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4782312">
                <a:tc>
                  <a:txBody>
                    <a:bodyPr wrap="square">
                      <a:noAutofit/>
                    </a:bodyPr>
                    <a:lstStyle/>
                    <a:p>
                      <a:pPr algn="l">
                        <a:lnSpc>
                          <a:spcPct val="100000"/>
                        </a:lnSpc>
                        <a:spcBef>
                          <a:spcPts val="0"/>
                        </a:spcBef>
                        <a:spcAft>
                          <a:spcPts val="0"/>
                        </a:spcAft>
                      </a:pPr>
                      <a:r>
                        <a:rPr sz="1300" b="1">
                          <a:solidFill>
                            <a:srgbClr val="1F1F1F"/>
                          </a:solidFill>
                          <a:latin typeface="Calibri"/>
                        </a:rPr>
                        <a:t>Conta de arrecadação e</a:t>
                      </a:r>
                    </a:p>
                    <a:p>
                      <a:pPr algn="l">
                        <a:lnSpc>
                          <a:spcPct val="100000"/>
                        </a:lnSpc>
                        <a:spcBef>
                          <a:spcPts val="0"/>
                        </a:spcBef>
                        <a:spcAft>
                          <a:spcPts val="0"/>
                        </a:spcAft>
                      </a:pPr>
                      <a:r>
                        <a:rPr sz="1300" b="1">
                          <a:solidFill>
                            <a:srgbClr val="1F1F1F"/>
                          </a:solidFill>
                          <a:latin typeface="Calibri"/>
                        </a:rPr>
                        <a:t>risco de trânsito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Folha, débito em conta</a:t>
                      </a:r>
                    </a:p>
                    <a:p>
                      <a:pPr algn="l">
                        <a:lnSpc>
                          <a:spcPct val="100000"/>
                        </a:lnSpc>
                        <a:spcBef>
                          <a:spcPts val="0"/>
                        </a:spcBef>
                        <a:spcAft>
                          <a:spcPts val="0"/>
                        </a:spcAft>
                      </a:pPr>
                      <a:r>
                        <a:rPr sz="1300" b="0">
                          <a:solidFill>
                            <a:srgbClr val="1F1F1F"/>
                          </a:solidFill>
                          <a:latin typeface="Calibri"/>
                        </a:rPr>
                        <a:t>do devedor e pagamentos</a:t>
                      </a:r>
                    </a:p>
                    <a:p>
                      <a:pPr algn="l">
                        <a:lnSpc>
                          <a:spcPct val="100000"/>
                        </a:lnSpc>
                        <a:spcBef>
                          <a:spcPts val="0"/>
                        </a:spcBef>
                        <a:spcAft>
                          <a:spcPts val="0"/>
                        </a:spcAft>
                      </a:pPr>
                      <a:r>
                        <a:rPr sz="1300" b="0">
                          <a:solidFill>
                            <a:srgbClr val="1F1F1F"/>
                          </a:solidFill>
                          <a:latin typeface="Calibri"/>
                        </a:rPr>
                        <a:t>de sinistros são</a:t>
                      </a:r>
                    </a:p>
                    <a:p>
                      <a:pPr algn="l">
                        <a:lnSpc>
                          <a:spcPct val="100000"/>
                        </a:lnSpc>
                        <a:spcBef>
                          <a:spcPts val="0"/>
                        </a:spcBef>
                        <a:spcAft>
                          <a:spcPts val="0"/>
                        </a:spcAft>
                      </a:pPr>
                      <a:r>
                        <a:rPr sz="1300" b="0">
                          <a:solidFill>
                            <a:srgbClr val="1F1F1F"/>
                          </a:solidFill>
                          <a:latin typeface="Calibri"/>
                        </a:rPr>
                        <a:t>conciliados e</a:t>
                      </a:r>
                    </a:p>
                    <a:p>
                      <a:pPr algn="l">
                        <a:lnSpc>
                          <a:spcPct val="100000"/>
                        </a:lnSpc>
                        <a:spcBef>
                          <a:spcPts val="0"/>
                        </a:spcBef>
                        <a:spcAft>
                          <a:spcPts val="0"/>
                        </a:spcAft>
                      </a:pPr>
                      <a:r>
                        <a:rPr sz="1300" b="0">
                          <a:solidFill>
                            <a:srgbClr val="1F1F1F"/>
                          </a:solidFill>
                          <a:latin typeface="Calibri"/>
                        </a:rPr>
                        <a:t>repassados pelo</a:t>
                      </a:r>
                    </a:p>
                    <a:p>
                      <a:pPr algn="l">
                        <a:lnSpc>
                          <a:spcPct val="100000"/>
                        </a:lnSpc>
                        <a:spcBef>
                          <a:spcPts val="0"/>
                        </a:spcBef>
                        <a:spcAft>
                          <a:spcPts val="0"/>
                        </a:spcAft>
                      </a:pPr>
                      <a:r>
                        <a:rPr sz="1300" b="0">
                          <a:solidFill>
                            <a:srgbClr val="1F1F1F"/>
                          </a:solidFill>
                          <a:latin typeface="Calibri"/>
                        </a:rPr>
                        <a:t>endossante para a conta</a:t>
                      </a:r>
                    </a:p>
                    <a:p>
                      <a:pPr algn="l">
                        <a:lnSpc>
                          <a:spcPct val="100000"/>
                        </a:lnSpc>
                        <a:spcBef>
                          <a:spcPts val="0"/>
                        </a:spcBef>
                        <a:spcAft>
                          <a:spcPts val="0"/>
                        </a:spcAft>
                      </a:pPr>
                      <a:r>
                        <a:rPr sz="1300" b="0">
                          <a:solidFill>
                            <a:srgbClr val="1F1F1F"/>
                          </a:solidFill>
                          <a:latin typeface="Calibri"/>
                        </a:rPr>
                        <a:t>corrente da classe.</a:t>
                      </a:r>
                    </a:p>
                    <a:p>
                      <a:pPr algn="l">
                        <a:lnSpc>
                          <a:spcPct val="100000"/>
                        </a:lnSpc>
                        <a:spcBef>
                          <a:spcPts val="0"/>
                        </a:spcBef>
                        <a:spcAft>
                          <a:spcPts val="0"/>
                        </a:spcAft>
                      </a:pPr>
                      <a:r>
                        <a:rPr sz="1300" b="0">
                          <a:solidFill>
                            <a:srgbClr val="1F1F1F"/>
                          </a:solidFill>
                          <a:latin typeface="Calibri"/>
                        </a:rPr>
                        <a:t>Gestor/custodiante</a:t>
                      </a:r>
                    </a:p>
                    <a:p>
                      <a:pPr algn="l">
                        <a:lnSpc>
                          <a:spcPct val="100000"/>
                        </a:lnSpc>
                        <a:spcBef>
                          <a:spcPts val="0"/>
                        </a:spcBef>
                        <a:spcAft>
                          <a:spcPts val="0"/>
                        </a:spcAft>
                      </a:pPr>
                      <a:r>
                        <a:rPr sz="1300" b="0">
                          <a:solidFill>
                            <a:srgbClr val="1F1F1F"/>
                          </a:solidFill>
                          <a:latin typeface="Calibri"/>
                        </a:rPr>
                        <a:t>monitoram Arquivo de</a:t>
                      </a:r>
                    </a:p>
                    <a:p>
                      <a:pPr algn="l">
                        <a:lnSpc>
                          <a:spcPct val="100000"/>
                        </a:lnSpc>
                        <a:spcBef>
                          <a:spcPts val="0"/>
                        </a:spcBef>
                        <a:spcAft>
                          <a:spcPts val="0"/>
                        </a:spcAft>
                      </a:pPr>
                      <a:r>
                        <a:rPr sz="1300" b="0">
                          <a:solidFill>
                            <a:srgbClr val="1F1F1F"/>
                          </a:solidFill>
                          <a:latin typeface="Calibri"/>
                        </a:rPr>
                        <a:t>Liquidação, Relatório</a:t>
                      </a:r>
                    </a:p>
                    <a:p>
                      <a:pPr algn="l">
                        <a:lnSpc>
                          <a:spcPct val="100000"/>
                        </a:lnSpc>
                        <a:spcBef>
                          <a:spcPts val="0"/>
                        </a:spcBef>
                        <a:spcAft>
                          <a:spcPts val="0"/>
                        </a:spcAft>
                      </a:pPr>
                      <a:r>
                        <a:rPr sz="1300" b="0">
                          <a:solidFill>
                            <a:srgbClr val="1F1F1F"/>
                          </a:solidFill>
                          <a:latin typeface="Calibri"/>
                        </a:rPr>
                        <a:t>de Repasse e sistema de</a:t>
                      </a:r>
                    </a:p>
                    <a:p>
                      <a:pPr algn="l">
                        <a:lnSpc>
                          <a:spcPct val="100000"/>
                        </a:lnSpc>
                        <a:spcBef>
                          <a:spcPts val="0"/>
                        </a:spcBef>
                        <a:spcAft>
                          <a:spcPts val="0"/>
                        </a:spcAft>
                      </a:pPr>
                      <a:r>
                        <a:rPr sz="1300" b="0">
                          <a:solidFill>
                            <a:srgbClr val="1F1F1F"/>
                          </a:solidFill>
                          <a:latin typeface="Calibri"/>
                        </a:rPr>
                        <a:t>consignação.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14.2.1 Os valores</a:t>
                      </a:r>
                    </a:p>
                    <a:p>
                      <a:pPr algn="l">
                        <a:lnSpc>
                          <a:spcPct val="100000"/>
                        </a:lnSpc>
                        <a:spcBef>
                          <a:spcPts val="0"/>
                        </a:spcBef>
                        <a:spcAft>
                          <a:spcPts val="0"/>
                        </a:spcAft>
                      </a:pPr>
                      <a:r>
                        <a:rPr sz="1300" b="0">
                          <a:solidFill>
                            <a:srgbClr val="1F1F1F"/>
                          </a:solidFill>
                          <a:latin typeface="Calibri"/>
                        </a:rPr>
                        <a:t>indicados nos Arquivos</a:t>
                      </a:r>
                    </a:p>
                    <a:p>
                      <a:pPr algn="l">
                        <a:lnSpc>
                          <a:spcPct val="100000"/>
                        </a:lnSpc>
                        <a:spcBef>
                          <a:spcPts val="0"/>
                        </a:spcBef>
                        <a:spcAft>
                          <a:spcPts val="0"/>
                        </a:spcAft>
                      </a:pPr>
                      <a:r>
                        <a:rPr sz="1300" b="0">
                          <a:solidFill>
                            <a:srgbClr val="1F1F1F"/>
                          </a:solidFill>
                          <a:latin typeface="Calibri"/>
                        </a:rPr>
                        <a:t>Dataprev em relação aos</a:t>
                      </a:r>
                    </a:p>
                    <a:p>
                      <a:pPr algn="l">
                        <a:lnSpc>
                          <a:spcPct val="100000"/>
                        </a:lnSpc>
                        <a:spcBef>
                          <a:spcPts val="0"/>
                        </a:spcBef>
                        <a:spcAft>
                          <a:spcPts val="0"/>
                        </a:spcAft>
                      </a:pPr>
                      <a:r>
                        <a:rPr sz="1300" b="0">
                          <a:solidFill>
                            <a:srgbClr val="1F1F1F"/>
                          </a:solidFill>
                          <a:latin typeface="Calibri"/>
                        </a:rPr>
                        <a:t>Direitos Creditórios</a:t>
                      </a:r>
                    </a:p>
                    <a:p>
                      <a:pPr algn="l">
                        <a:lnSpc>
                          <a:spcPct val="100000"/>
                        </a:lnSpc>
                        <a:spcBef>
                          <a:spcPts val="0"/>
                        </a:spcBef>
                        <a:spcAft>
                          <a:spcPts val="0"/>
                        </a:spcAft>
                      </a:pPr>
                      <a:r>
                        <a:rPr sz="1300" b="0">
                          <a:solidFill>
                            <a:srgbClr val="1F1F1F"/>
                          </a:solidFill>
                          <a:latin typeface="Calibri"/>
                        </a:rPr>
                        <a:t>endossados à Classe e</a:t>
                      </a:r>
                    </a:p>
                    <a:p>
                      <a:pPr algn="l">
                        <a:lnSpc>
                          <a:spcPct val="100000"/>
                        </a:lnSpc>
                        <a:spcBef>
                          <a:spcPts val="0"/>
                        </a:spcBef>
                        <a:spcAft>
                          <a:spcPts val="0"/>
                        </a:spcAft>
                      </a:pPr>
                      <a:r>
                        <a:rPr sz="1300" b="0">
                          <a:solidFill>
                            <a:srgbClr val="1F1F1F"/>
                          </a:solidFill>
                          <a:latin typeface="Calibri"/>
                        </a:rPr>
                        <a:t>depositados mensalmente</a:t>
                      </a:r>
                    </a:p>
                    <a:p>
                      <a:pPr algn="l">
                        <a:lnSpc>
                          <a:spcPct val="100000"/>
                        </a:lnSpc>
                        <a:spcBef>
                          <a:spcPts val="0"/>
                        </a:spcBef>
                        <a:spcAft>
                          <a:spcPts val="0"/>
                        </a:spcAft>
                      </a:pPr>
                      <a:r>
                        <a:rPr sz="1300" b="0">
                          <a:solidFill>
                            <a:srgbClr val="1F1F1F"/>
                          </a:solidFill>
                          <a:latin typeface="Calibri"/>
                        </a:rPr>
                        <a:t>pela CEF na Conta</a:t>
                      </a:r>
                    </a:p>
                    <a:p>
                      <a:pPr algn="l">
                        <a:lnSpc>
                          <a:spcPct val="100000"/>
                        </a:lnSpc>
                        <a:spcBef>
                          <a:spcPts val="0"/>
                        </a:spcBef>
                        <a:spcAft>
                          <a:spcPts val="0"/>
                        </a:spcAft>
                      </a:pPr>
                      <a:r>
                        <a:rPr sz="1300" b="0">
                          <a:solidFill>
                            <a:srgbClr val="1F1F1F"/>
                          </a:solidFill>
                          <a:latin typeface="Calibri"/>
                        </a:rPr>
                        <a:t>Vinculada serão</a:t>
                      </a:r>
                    </a:p>
                    <a:p>
                      <a:pPr algn="l">
                        <a:lnSpc>
                          <a:spcPct val="100000"/>
                        </a:lnSpc>
                        <a:spcBef>
                          <a:spcPts val="0"/>
                        </a:spcBef>
                        <a:spcAft>
                          <a:spcPts val="0"/>
                        </a:spcAft>
                      </a:pPr>
                      <a:r>
                        <a:rPr sz="1300" b="0">
                          <a:solidFill>
                            <a:srgbClr val="1F1F1F"/>
                          </a:solidFill>
                          <a:latin typeface="Calibri"/>
                        </a:rPr>
                        <a:t>cobrados/recebidos da</a:t>
                      </a:r>
                    </a:p>
                    <a:p>
                      <a:pPr algn="l">
                        <a:lnSpc>
                          <a:spcPct val="100000"/>
                        </a:lnSpc>
                        <a:spcBef>
                          <a:spcPts val="0"/>
                        </a:spcBef>
                        <a:spcAft>
                          <a:spcPts val="0"/>
                        </a:spcAft>
                      </a:pPr>
                      <a:r>
                        <a:rPr sz="1300" b="0">
                          <a:solidFill>
                            <a:srgbClr val="1F1F1F"/>
                          </a:solidFill>
                          <a:latin typeface="Calibri"/>
                        </a:rPr>
                        <a:t>seguinte f orma: (i)</a:t>
                      </a:r>
                    </a:p>
                    <a:p>
                      <a:pPr algn="l">
                        <a:lnSpc>
                          <a:spcPct val="100000"/>
                        </a:lnSpc>
                        <a:spcBef>
                          <a:spcPts val="0"/>
                        </a:spcBef>
                        <a:spcAft>
                          <a:spcPts val="0"/>
                        </a:spcAft>
                      </a:pPr>
                      <a:r>
                        <a:rPr sz="1300" b="0">
                          <a:solidFill>
                            <a:srgbClr val="1F1F1F"/>
                          </a:solidFill>
                          <a:latin typeface="Calibri"/>
                        </a:rPr>
                        <a:t>mensalmente, após o</a:t>
                      </a:r>
                    </a:p>
                    <a:p>
                      <a:pPr algn="l">
                        <a:lnSpc>
                          <a:spcPct val="100000"/>
                        </a:lnSpc>
                        <a:spcBef>
                          <a:spcPts val="0"/>
                        </a:spcBef>
                        <a:spcAft>
                          <a:spcPts val="0"/>
                        </a:spcAft>
                      </a:pPr>
                      <a:r>
                        <a:rPr sz="1300" b="0">
                          <a:solidFill>
                            <a:srgbClr val="1F1F1F"/>
                          </a:solidFill>
                          <a:latin typeface="Calibri"/>
                        </a:rPr>
                        <a:t>processamento da f olha</a:t>
                      </a:r>
                    </a:p>
                    <a:p>
                      <a:pPr algn="l">
                        <a:lnSpc>
                          <a:spcPct val="100000"/>
                        </a:lnSpc>
                        <a:spcBef>
                          <a:spcPts val="0"/>
                        </a:spcBef>
                        <a:spcAft>
                          <a:spcPts val="0"/>
                        </a:spcAft>
                      </a:pPr>
                      <a:r>
                        <a:rPr sz="1300" b="0">
                          <a:solidFill>
                            <a:srgbClr val="1F1F1F"/>
                          </a:solidFill>
                          <a:latin typeface="Calibri"/>
                        </a:rPr>
                        <a:t>de pagamento dos</a:t>
                      </a:r>
                    </a:p>
                    <a:p>
                      <a:pPr algn="l">
                        <a:lnSpc>
                          <a:spcPct val="100000"/>
                        </a:lnSpc>
                        <a:spcBef>
                          <a:spcPts val="0"/>
                        </a:spcBef>
                        <a:spcAft>
                          <a:spcPts val="0"/>
                        </a:spcAft>
                      </a:pPr>
                      <a:r>
                        <a:rPr sz="1300" b="0">
                          <a:solidFill>
                            <a:srgbClr val="1F1F1F"/>
                          </a:solidFill>
                          <a:latin typeface="Calibri"/>
                        </a:rPr>
                        <a:t>Devedores, a Dataprev</a:t>
                      </a:r>
                    </a:p>
                    <a:p>
                      <a:pPr algn="l">
                        <a:lnSpc>
                          <a:spcPct val="100000"/>
                        </a:lnSpc>
                        <a:spcBef>
                          <a:spcPts val="0"/>
                        </a:spcBef>
                        <a:spcAft>
                          <a:spcPts val="0"/>
                        </a:spcAft>
                      </a:pPr>
                      <a:r>
                        <a:rPr sz="1300" b="0">
                          <a:solidFill>
                            <a:srgbClr val="1F1F1F"/>
                          </a:solidFill>
                          <a:latin typeface="Calibri"/>
                        </a:rPr>
                        <a:t>enviará os Arquivos</a:t>
                      </a:r>
                    </a:p>
                    <a:p>
                      <a:pPr algn="l">
                        <a:lnSpc>
                          <a:spcPct val="100000"/>
                        </a:lnSpc>
                        <a:spcBef>
                          <a:spcPts val="0"/>
                        </a:spcBef>
                        <a:spcAft>
                          <a:spcPts val="0"/>
                        </a:spcAft>
                      </a:pPr>
                      <a:r>
                        <a:rPr sz="1300" b="0">
                          <a:solidFill>
                            <a:srgbClr val="1F1F1F"/>
                          </a:solidFill>
                          <a:latin typeface="Calibri"/>
                        </a:rPr>
                        <a:t>Dataprev ao</a:t>
                      </a:r>
                    </a:p>
                    <a:p>
                      <a:pPr algn="l">
                        <a:lnSpc>
                          <a:spcPct val="100000"/>
                        </a:lnSpc>
                        <a:spcBef>
                          <a:spcPts val="0"/>
                        </a:spcBef>
                        <a:spcAft>
                          <a:spcPts val="0"/>
                        </a:spcAft>
                      </a:pPr>
                      <a:r>
                        <a:rPr sz="1300" b="0">
                          <a:solidFill>
                            <a:srgbClr val="1F1F1F"/>
                          </a:solidFill>
                          <a:latin typeface="Calibri"/>
                        </a:rPr>
                        <a:t>Endossante;.</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Em caso de intervenção</a:t>
                      </a:r>
                    </a:p>
                    <a:p>
                      <a:pPr algn="l">
                        <a:lnSpc>
                          <a:spcPct val="100000"/>
                        </a:lnSpc>
                        <a:spcBef>
                          <a:spcPts val="0"/>
                        </a:spcBef>
                        <a:spcAft>
                          <a:spcPts val="0"/>
                        </a:spcAft>
                      </a:pPr>
                      <a:r>
                        <a:rPr sz="1300" b="0">
                          <a:solidFill>
                            <a:srgbClr val="1F1F1F"/>
                          </a:solidFill>
                          <a:latin typeface="Calibri"/>
                        </a:rPr>
                        <a:t>ou liquidação</a:t>
                      </a:r>
                    </a:p>
                    <a:p>
                      <a:pPr algn="l">
                        <a:lnSpc>
                          <a:spcPct val="100000"/>
                        </a:lnSpc>
                        <a:spcBef>
                          <a:spcPts val="0"/>
                        </a:spcBef>
                        <a:spcAft>
                          <a:spcPts val="0"/>
                        </a:spcAft>
                      </a:pPr>
                      <a:r>
                        <a:rPr sz="1300" b="0">
                          <a:solidFill>
                            <a:srgbClr val="1F1F1F"/>
                          </a:solidFill>
                          <a:latin typeface="Calibri"/>
                        </a:rPr>
                        <a:t>extrajudicial das</a:t>
                      </a:r>
                    </a:p>
                    <a:p>
                      <a:pPr algn="l">
                        <a:lnSpc>
                          <a:spcPct val="100000"/>
                        </a:lnSpc>
                        <a:spcBef>
                          <a:spcPts val="0"/>
                        </a:spcBef>
                        <a:spcAft>
                          <a:spcPts val="0"/>
                        </a:spcAft>
                      </a:pPr>
                      <a:r>
                        <a:rPr sz="1300" b="0">
                          <a:solidFill>
                            <a:srgbClr val="1F1F1F"/>
                          </a:solidFill>
                          <a:latin typeface="Calibri"/>
                        </a:rPr>
                        <a:t>instituições f</a:t>
                      </a:r>
                    </a:p>
                    <a:p>
                      <a:pPr algn="l">
                        <a:lnSpc>
                          <a:spcPct val="100000"/>
                        </a:lnSpc>
                        <a:spcBef>
                          <a:spcPts val="0"/>
                        </a:spcBef>
                        <a:spcAft>
                          <a:spcPts val="0"/>
                        </a:spcAft>
                      </a:pPr>
                      <a:r>
                        <a:rPr sz="1300" b="0">
                          <a:solidFill>
                            <a:srgbClr val="1F1F1F"/>
                          </a:solidFill>
                          <a:latin typeface="Calibri"/>
                        </a:rPr>
                        <a:t>inanceiras onde a Conta</a:t>
                      </a:r>
                    </a:p>
                    <a:p>
                      <a:pPr algn="l">
                        <a:lnSpc>
                          <a:spcPct val="100000"/>
                        </a:lnSpc>
                        <a:spcBef>
                          <a:spcPts val="0"/>
                        </a:spcBef>
                        <a:spcAft>
                          <a:spcPts val="0"/>
                        </a:spcAft>
                      </a:pPr>
                      <a:r>
                        <a:rPr sz="1300" b="0">
                          <a:solidFill>
                            <a:srgbClr val="1F1F1F"/>
                          </a:solidFill>
                          <a:latin typeface="Calibri"/>
                        </a:rPr>
                        <a:t>de Cobrança da Classe e</a:t>
                      </a:r>
                    </a:p>
                    <a:p>
                      <a:pPr algn="l">
                        <a:lnSpc>
                          <a:spcPct val="100000"/>
                        </a:lnSpc>
                        <a:spcBef>
                          <a:spcPts val="0"/>
                        </a:spcBef>
                        <a:spcAft>
                          <a:spcPts val="0"/>
                        </a:spcAft>
                      </a:pPr>
                      <a:r>
                        <a:rPr sz="1300" b="0">
                          <a:solidFill>
                            <a:srgbClr val="1F1F1F"/>
                          </a:solidFill>
                          <a:latin typeface="Calibri"/>
                        </a:rPr>
                        <a:t>a Conta de Movimentação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65/160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Garantias e operação</a:t>
            </a:r>
          </a:p>
        </p:txBody>
      </p:sp>
      <p:graphicFrame>
        <p:nvGraphicFramePr>
          <p:cNvPr id="3" name="Table 2"/>
          <p:cNvGraphicFramePr>
            <a:graphicFrameLocks noGrp="1"/>
          </p:cNvGraphicFramePr>
          <p:nvPr/>
        </p:nvGraphicFramePr>
        <p:xfrm>
          <a:off x="438912" y="932688"/>
          <a:ext cx="11313868" cy="5161786"/>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1970531">
                <a:tc>
                  <a:txBody>
                    <a:bodyPr wrap="square">
                      <a:noAutofit/>
                    </a:bodyPr>
                    <a:lstStyle/>
                    <a:p>
                      <a:pPr algn="l">
                        <a:lnSpc>
                          <a:spcPct val="100000"/>
                        </a:lnSpc>
                        <a:spcBef>
                          <a:spcPts val="0"/>
                        </a:spcBef>
                        <a:spcAft>
                          <a:spcPts val="0"/>
                        </a:spcAft>
                      </a:pPr>
                      <a:r>
                        <a:rPr sz="1300" b="1">
                          <a:solidFill>
                            <a:srgbClr val="1F1F1F"/>
                          </a:solidFill>
                          <a:latin typeface="Calibri"/>
                        </a:rPr>
                        <a:t>Conta de arrecadação e</a:t>
                      </a:r>
                    </a:p>
                    <a:p>
                      <a:pPr algn="l">
                        <a:lnSpc>
                          <a:spcPct val="100000"/>
                        </a:lnSpc>
                        <a:spcBef>
                          <a:spcPts val="0"/>
                        </a:spcBef>
                        <a:spcAft>
                          <a:spcPts val="0"/>
                        </a:spcAft>
                      </a:pPr>
                      <a:r>
                        <a:rPr sz="1300" b="1">
                          <a:solidFill>
                            <a:srgbClr val="1F1F1F"/>
                          </a:solidFill>
                          <a:latin typeface="Calibri"/>
                        </a:rPr>
                        <a:t>risco de trânsito</a:t>
                      </a:r>
                    </a:p>
                    <a:p>
                      <a:pPr algn="l">
                        <a:lnSpc>
                          <a:spcPct val="100000"/>
                        </a:lnSpc>
                        <a:spcBef>
                          <a:spcPts val="0"/>
                        </a:spcBef>
                        <a:spcAft>
                          <a:spcPts val="0"/>
                        </a:spcAft>
                      </a:pPr>
                      <a:r>
                        <a:rPr sz="1300" b="1">
                          <a:solidFill>
                            <a:srgbClr val="1F1F1F"/>
                          </a:solidFill>
                          <a:latin typeface="Calibri"/>
                        </a:rPr>
                        <a:t>(continuação)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da Classe são mantidas,</a:t>
                      </a:r>
                    </a:p>
                    <a:p>
                      <a:pPr algn="l">
                        <a:lnSpc>
                          <a:spcPct val="100000"/>
                        </a:lnSpc>
                        <a:spcBef>
                          <a:spcPts val="0"/>
                        </a:spcBef>
                        <a:spcAft>
                          <a:spcPts val="0"/>
                        </a:spcAft>
                      </a:pPr>
                      <a:r>
                        <a:rPr sz="1300" b="0">
                          <a:solidFill>
                            <a:srgbClr val="1F1F1F"/>
                          </a:solidFill>
                          <a:latin typeface="Calibri"/>
                        </a:rPr>
                        <a:t>os fundos nelas</a:t>
                      </a:r>
                    </a:p>
                    <a:p>
                      <a:pPr algn="l">
                        <a:lnSpc>
                          <a:spcPct val="100000"/>
                        </a:lnSpc>
                        <a:spcBef>
                          <a:spcPts val="0"/>
                        </a:spcBef>
                        <a:spcAft>
                          <a:spcPts val="0"/>
                        </a:spcAft>
                      </a:pPr>
                      <a:r>
                        <a:rPr sz="1300" b="0">
                          <a:solidFill>
                            <a:srgbClr val="1F1F1F"/>
                          </a:solidFill>
                          <a:latin typeface="Calibri"/>
                        </a:rPr>
                        <a:t>depositados poderão ser</a:t>
                      </a:r>
                    </a:p>
                    <a:p>
                      <a:pPr algn="l">
                        <a:lnSpc>
                          <a:spcPct val="100000"/>
                        </a:lnSpc>
                        <a:spcBef>
                          <a:spcPts val="0"/>
                        </a:spcBef>
                        <a:spcAft>
                          <a:spcPts val="0"/>
                        </a:spcAft>
                      </a:pPr>
                      <a:r>
                        <a:rPr sz="1300" b="0">
                          <a:solidFill>
                            <a:srgbClr val="1F1F1F"/>
                          </a:solidFill>
                          <a:latin typeface="Calibri"/>
                        </a:rPr>
                        <a:t>bloqueados e</a:t>
                      </a:r>
                    </a:p>
                    <a:p>
                      <a:pPr algn="l">
                        <a:lnSpc>
                          <a:spcPct val="100000"/>
                        </a:lnSpc>
                        <a:spcBef>
                          <a:spcPts val="0"/>
                        </a:spcBef>
                        <a:spcAft>
                          <a:spcPts val="0"/>
                        </a:spcAft>
                      </a:pPr>
                      <a:r>
                        <a:rPr sz="1300" b="0">
                          <a:solidFill>
                            <a:srgbClr val="1F1F1F"/>
                          </a:solidFill>
                          <a:latin typeface="Calibri"/>
                        </a:rPr>
                        <a:t>recuperados pela Classe</a:t>
                      </a:r>
                    </a:p>
                    <a:p>
                      <a:pPr algn="l">
                        <a:lnSpc>
                          <a:spcPct val="100000"/>
                        </a:lnSpc>
                        <a:spcBef>
                          <a:spcPts val="0"/>
                        </a:spcBef>
                        <a:spcAft>
                          <a:spcPts val="0"/>
                        </a:spcAft>
                      </a:pPr>
                      <a:r>
                        <a:rPr sz="1300" b="0">
                          <a:solidFill>
                            <a:srgbClr val="1F1F1F"/>
                          </a:solidFill>
                          <a:latin typeface="Calibri"/>
                        </a:rPr>
                        <a:t>somente através de uma</a:t>
                      </a:r>
                    </a:p>
                    <a:p>
                      <a:pPr algn="l">
                        <a:lnSpc>
                          <a:spcPct val="100000"/>
                        </a:lnSpc>
                        <a:spcBef>
                          <a:spcPts val="0"/>
                        </a:spcBef>
                        <a:spcAft>
                          <a:spcPts val="0"/>
                        </a:spcAft>
                      </a:pPr>
                      <a:r>
                        <a:rPr sz="1300" b="0">
                          <a:solidFill>
                            <a:srgbClr val="1F1F1F"/>
                          </a:solidFill>
                          <a:latin typeface="Calibri"/>
                        </a:rPr>
                        <a:t>ordem judicial, o que</a:t>
                      </a:r>
                    </a:p>
                    <a:p>
                      <a:pPr algn="l">
                        <a:lnSpc>
                          <a:spcPct val="100000"/>
                        </a:lnSpc>
                        <a:spcBef>
                          <a:spcPts val="0"/>
                        </a:spcBef>
                        <a:spcAft>
                          <a:spcPts val="0"/>
                        </a:spcAft>
                      </a:pPr>
                      <a:r>
                        <a:rPr sz="1300" b="0">
                          <a:solidFill>
                            <a:srgbClr val="1F1F1F"/>
                          </a:solidFill>
                          <a:latin typeface="Calibri"/>
                        </a:rPr>
                        <a:t>af etaria seu retorno e</a:t>
                      </a:r>
                    </a:p>
                    <a:p>
                      <a:pPr algn="l">
                        <a:lnSpc>
                          <a:spcPct val="100000"/>
                        </a:lnSpc>
                        <a:spcBef>
                          <a:spcPts val="0"/>
                        </a:spcBef>
                        <a:spcAft>
                          <a:spcPts val="0"/>
                        </a:spcAft>
                      </a:pPr>
                      <a:r>
                        <a:rPr sz="1300" b="0">
                          <a:solidFill>
                            <a:srgbClr val="1F1F1F"/>
                          </a:solidFill>
                          <a:latin typeface="Calibri"/>
                        </a:rPr>
                        <a:t>poderia causar perda de</a:t>
                      </a:r>
                    </a:p>
                    <a:p>
                      <a:pPr algn="l">
                        <a:lnSpc>
                          <a:spcPct val="100000"/>
                        </a:lnSpc>
                        <a:spcBef>
                          <a:spcPts val="0"/>
                        </a:spcBef>
                        <a:spcAft>
                          <a:spcPts val="0"/>
                        </a:spcAft>
                      </a:pPr>
                      <a:r>
                        <a:rPr sz="1300" b="0">
                          <a:solidFill>
                            <a:srgbClr val="1F1F1F"/>
                          </a:solidFill>
                          <a:latin typeface="Calibri"/>
                        </a:rPr>
                        <a:t>parte de seus ativos.</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a:noFill/>
                    </a:lnB>
                  </a:tcPr>
                </a:tc>
              </a:tr>
              <a:tr h="2720339">
                <a:tc>
                  <a:txBody>
                    <a:bodyPr wrap="square">
                      <a:noAutofit/>
                    </a:bodyPr>
                    <a:lstStyle/>
                    <a:p>
                      <a:pPr algn="l">
                        <a:lnSpc>
                          <a:spcPct val="100000"/>
                        </a:lnSpc>
                        <a:spcBef>
                          <a:spcPts val="0"/>
                        </a:spcBef>
                        <a:spcAft>
                          <a:spcPts val="0"/>
                        </a:spcAft>
                      </a:pPr>
                      <a:r>
                        <a:rPr sz="1300" b="1">
                          <a:solidFill>
                            <a:srgbClr val="1F1F1F"/>
                          </a:solidFill>
                          <a:latin typeface="Calibri"/>
                        </a:rPr>
                        <a:t>Verificação de lastro e</a:t>
                      </a:r>
                    </a:p>
                    <a:p>
                      <a:pPr algn="l">
                        <a:lnSpc>
                          <a:spcPct val="100000"/>
                        </a:lnSpc>
                        <a:spcBef>
                          <a:spcPts val="0"/>
                        </a:spcBef>
                        <a:spcAft>
                          <a:spcPts val="0"/>
                        </a:spcAft>
                      </a:pPr>
                      <a:r>
                        <a:rPr sz="1300" b="1">
                          <a:solidFill>
                            <a:srgbClr val="1F1F1F"/>
                          </a:solidFill>
                          <a:latin typeface="Calibri"/>
                        </a:rPr>
                        <a:t>amostragem</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Verificação integral do</a:t>
                      </a:r>
                    </a:p>
                    <a:p>
                      <a:pPr algn="l">
                        <a:lnSpc>
                          <a:spcPct val="100000"/>
                        </a:lnSpc>
                        <a:spcBef>
                          <a:spcPts val="0"/>
                        </a:spcBef>
                        <a:spcAft>
                          <a:spcPts val="0"/>
                        </a:spcAft>
                      </a:pPr>
                      <a:r>
                        <a:rPr sz="1300" b="0">
                          <a:solidFill>
                            <a:srgbClr val="1F1F1F"/>
                          </a:solidFill>
                          <a:latin typeface="Calibri"/>
                        </a:rPr>
                        <a:t>lastro na aquisição e,</a:t>
                      </a:r>
                    </a:p>
                    <a:p>
                      <a:pPr algn="l">
                        <a:lnSpc>
                          <a:spcPct val="100000"/>
                        </a:lnSpc>
                        <a:spcBef>
                          <a:spcPts val="0"/>
                        </a:spcBef>
                        <a:spcAft>
                          <a:spcPts val="0"/>
                        </a:spcAft>
                      </a:pPr>
                      <a:r>
                        <a:rPr sz="1300" b="0">
                          <a:solidFill>
                            <a:srgbClr val="1F1F1F"/>
                          </a:solidFill>
                          <a:latin typeface="Calibri"/>
                        </a:rPr>
                        <a:t>trimestralmente, dos</a:t>
                      </a:r>
                    </a:p>
                    <a:p>
                      <a:pPr algn="l">
                        <a:lnSpc>
                          <a:spcPct val="100000"/>
                        </a:lnSpc>
                        <a:spcBef>
                          <a:spcPts val="0"/>
                        </a:spcBef>
                        <a:spcAft>
                          <a:spcPts val="0"/>
                        </a:spcAft>
                      </a:pPr>
                      <a:r>
                        <a:rPr sz="1300" b="0">
                          <a:solidFill>
                            <a:srgbClr val="1F1F1F"/>
                          </a:solidFill>
                          <a:latin typeface="Calibri"/>
                        </a:rPr>
                        <a:t>créditos inadimplidos</a:t>
                      </a:r>
                    </a:p>
                    <a:p>
                      <a:pPr algn="l">
                        <a:lnSpc>
                          <a:spcPct val="100000"/>
                        </a:lnSpc>
                        <a:spcBef>
                          <a:spcPts val="0"/>
                        </a:spcBef>
                        <a:spcAft>
                          <a:spcPts val="0"/>
                        </a:spcAft>
                      </a:pPr>
                      <a:r>
                        <a:rPr sz="1300" b="0">
                          <a:solidFill>
                            <a:srgbClr val="1F1F1F"/>
                          </a:solidFill>
                          <a:latin typeface="Calibri"/>
                        </a:rPr>
                        <a:t>ou substituídos.</a:t>
                      </a:r>
                    </a:p>
                    <a:p>
                      <a:pPr algn="l">
                        <a:lnSpc>
                          <a:spcPct val="100000"/>
                        </a:lnSpc>
                        <a:spcBef>
                          <a:spcPts val="0"/>
                        </a:spcBef>
                        <a:spcAft>
                          <a:spcPts val="0"/>
                        </a:spcAft>
                      </a:pPr>
                      <a:r>
                        <a:rPr sz="1300" b="0">
                          <a:solidFill>
                            <a:srgbClr val="1F1F1F"/>
                          </a:solidFill>
                          <a:latin typeface="Calibri"/>
                        </a:rPr>
                        <a:t>Entrega: 50 casos</a:t>
                      </a:r>
                    </a:p>
                    <a:p>
                      <a:pPr algn="l">
                        <a:lnSpc>
                          <a:spcPct val="100000"/>
                        </a:lnSpc>
                        <a:spcBef>
                          <a:spcPts val="0"/>
                        </a:spcBef>
                        <a:spcAft>
                          <a:spcPts val="0"/>
                        </a:spcAft>
                      </a:pPr>
                      <a:r>
                        <a:rPr sz="1300" b="0">
                          <a:solidFill>
                            <a:srgbClr val="1F1F1F"/>
                          </a:solidFill>
                          <a:latin typeface="Calibri"/>
                        </a:rPr>
                        <a:t>solicitados em 10 dias;</a:t>
                      </a:r>
                    </a:p>
                    <a:p>
                      <a:pPr algn="l">
                        <a:lnSpc>
                          <a:spcPct val="100000"/>
                        </a:lnSpc>
                        <a:spcBef>
                          <a:spcPts val="0"/>
                        </a:spcBef>
                        <a:spcAft>
                          <a:spcPts val="0"/>
                        </a:spcAft>
                      </a:pPr>
                      <a:r>
                        <a:rPr sz="1300" b="0">
                          <a:solidFill>
                            <a:srgbClr val="1F1F1F"/>
                          </a:solidFill>
                          <a:latin typeface="Calibri"/>
                        </a:rPr>
                        <a:t>restante digital e</a:t>
                      </a:r>
                    </a:p>
                    <a:p>
                      <a:pPr algn="l">
                        <a:lnSpc>
                          <a:spcPct val="100000"/>
                        </a:lnSpc>
                        <a:spcBef>
                          <a:spcPts val="0"/>
                        </a:spcBef>
                        <a:spcAft>
                          <a:spcPts val="0"/>
                        </a:spcAft>
                      </a:pPr>
                      <a:r>
                        <a:rPr sz="1300" b="0">
                          <a:solidFill>
                            <a:srgbClr val="1F1F1F"/>
                          </a:solidFill>
                          <a:latin typeface="Calibri"/>
                        </a:rPr>
                        <a:t>físico dos já</a:t>
                      </a:r>
                    </a:p>
                    <a:p>
                      <a:pPr algn="l">
                        <a:lnSpc>
                          <a:spcPct val="100000"/>
                        </a:lnSpc>
                        <a:spcBef>
                          <a:spcPts val="0"/>
                        </a:spcBef>
                        <a:spcAft>
                          <a:spcPts val="0"/>
                        </a:spcAft>
                      </a:pPr>
                      <a:r>
                        <a:rPr sz="1300" b="0">
                          <a:solidFill>
                            <a:srgbClr val="1F1F1F"/>
                          </a:solidFill>
                          <a:latin typeface="Calibri"/>
                        </a:rPr>
                        <a:t>inadimplidos em 90</a:t>
                      </a:r>
                    </a:p>
                    <a:p>
                      <a:pPr algn="l">
                        <a:lnSpc>
                          <a:spcPct val="100000"/>
                        </a:lnSpc>
                        <a:spcBef>
                          <a:spcPts val="0"/>
                        </a:spcBef>
                        <a:spcAft>
                          <a:spcPts val="0"/>
                        </a:spcAft>
                      </a:pPr>
                      <a:r>
                        <a:rPr sz="1300" b="0">
                          <a:solidFill>
                            <a:srgbClr val="1F1F1F"/>
                          </a:solidFill>
                          <a:latin typeface="Calibri"/>
                        </a:rPr>
                        <a:t>dias; restante físico</a:t>
                      </a:r>
                    </a:p>
                    <a:p>
                      <a:pPr algn="l">
                        <a:lnSpc>
                          <a:spcPct val="100000"/>
                        </a:lnSpc>
                        <a:spcBef>
                          <a:spcPts val="0"/>
                        </a:spcBef>
                        <a:spcAft>
                          <a:spcPts val="0"/>
                        </a:spcAft>
                      </a:pPr>
                      <a:r>
                        <a:rPr sz="1300" b="0">
                          <a:solidFill>
                            <a:srgbClr val="1F1F1F"/>
                          </a:solidFill>
                          <a:latin typeface="Calibri"/>
                        </a:rPr>
                        <a:t>em 180 dias. Vícios de</a:t>
                      </a:r>
                    </a:p>
                    <a:p>
                      <a:pPr algn="l">
                        <a:lnSpc>
                          <a:spcPct val="100000"/>
                        </a:lnSpc>
                        <a:spcBef>
                          <a:spcPts val="0"/>
                        </a:spcBef>
                        <a:spcAft>
                          <a:spcPts val="0"/>
                        </a:spcAft>
                      </a:pPr>
                      <a:r>
                        <a:rPr sz="1300" b="0">
                          <a:solidFill>
                            <a:srgbClr val="1F1F1F"/>
                          </a:solidFill>
                          <a:latin typeface="Calibri"/>
                        </a:rPr>
                        <a:t>lastro são comunicados</a:t>
                      </a:r>
                    </a:p>
                    <a:p>
                      <a:pPr algn="l">
                        <a:lnSpc>
                          <a:spcPct val="100000"/>
                        </a:lnSpc>
                        <a:spcBef>
                          <a:spcPts val="0"/>
                        </a:spcBef>
                        <a:spcAft>
                          <a:spcPts val="0"/>
                        </a:spcAft>
                      </a:pPr>
                      <a:r>
                        <a:rPr sz="1300" b="0">
                          <a:solidFill>
                            <a:srgbClr val="1F1F1F"/>
                          </a:solidFill>
                          <a:latin typeface="Calibri"/>
                        </a:rPr>
                        <a:t>em até 5 dias úteis.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Trimestral: amostra</a:t>
                      </a:r>
                    </a:p>
                    <a:p>
                      <a:pPr algn="l">
                        <a:lnSpc>
                          <a:spcPct val="100000"/>
                        </a:lnSpc>
                        <a:spcBef>
                          <a:spcPts val="0"/>
                        </a:spcBef>
                        <a:spcAft>
                          <a:spcPts val="0"/>
                        </a:spcAft>
                      </a:pPr>
                      <a:r>
                        <a:rPr sz="1300" b="0">
                          <a:solidFill>
                            <a:srgbClr val="1F1F1F"/>
                          </a:solidFill>
                          <a:latin typeface="Calibri"/>
                        </a:rPr>
                        <a:t>aleatória simples,</a:t>
                      </a:r>
                    </a:p>
                    <a:p>
                      <a:pPr algn="l">
                        <a:lnSpc>
                          <a:spcPct val="100000"/>
                        </a:lnSpc>
                        <a:spcBef>
                          <a:spcPts val="0"/>
                        </a:spcBef>
                        <a:spcAft>
                          <a:spcPts val="0"/>
                        </a:spcAft>
                      </a:pPr>
                      <a:r>
                        <a:rPr sz="1300" b="0">
                          <a:solidFill>
                            <a:srgbClr val="1F1F1F"/>
                          </a:solidFill>
                          <a:latin typeface="Calibri"/>
                        </a:rPr>
                        <a:t>confiança 95%, erro 5%,</a:t>
                      </a:r>
                    </a:p>
                    <a:p>
                      <a:pPr algn="l">
                        <a:lnSpc>
                          <a:spcPct val="100000"/>
                        </a:lnSpc>
                        <a:spcBef>
                          <a:spcPts val="0"/>
                        </a:spcBef>
                        <a:spcAft>
                          <a:spcPts val="0"/>
                        </a:spcAft>
                      </a:pPr>
                      <a:r>
                        <a:rPr sz="1300" b="0">
                          <a:solidFill>
                            <a:srgbClr val="1F1F1F"/>
                          </a:solidFill>
                          <a:latin typeface="Calibri"/>
                        </a:rPr>
                        <a:t>distribuição binomial</a:t>
                      </a:r>
                    </a:p>
                    <a:p>
                      <a:pPr algn="l">
                        <a:lnSpc>
                          <a:spcPct val="100000"/>
                        </a:lnSpc>
                        <a:spcBef>
                          <a:spcPts val="0"/>
                        </a:spcBef>
                        <a:spcAft>
                          <a:spcPts val="0"/>
                        </a:spcAft>
                      </a:pPr>
                      <a:r>
                        <a:rPr sz="1300" b="0">
                          <a:solidFill>
                            <a:srgbClr val="1F1F1F"/>
                          </a:solidFill>
                          <a:latin typeface="Calibri"/>
                        </a:rPr>
                        <a:t>aproximada à normal. In</a:t>
                      </a:r>
                    </a:p>
                    <a:p>
                      <a:pPr algn="l">
                        <a:lnSpc>
                          <a:spcPct val="100000"/>
                        </a:lnSpc>
                        <a:spcBef>
                          <a:spcPts val="0"/>
                        </a:spcBef>
                        <a:spcAft>
                          <a:spcPts val="0"/>
                        </a:spcAft>
                      </a:pPr>
                      <a:r>
                        <a:rPr sz="1300" b="0">
                          <a:solidFill>
                            <a:srgbClr val="1F1F1F"/>
                          </a:solidFill>
                          <a:latin typeface="Calibri"/>
                        </a:rPr>
                        <a:t>adimplidos/substituídos</a:t>
                      </a:r>
                    </a:p>
                    <a:p>
                      <a:pPr algn="l">
                        <a:lnSpc>
                          <a:spcPct val="100000"/>
                        </a:lnSpc>
                        <a:spcBef>
                          <a:spcPts val="0"/>
                        </a:spcBef>
                        <a:spcAft>
                          <a:spcPts val="0"/>
                        </a:spcAft>
                      </a:pPr>
                      <a:r>
                        <a:rPr sz="1300" b="0">
                          <a:solidFill>
                            <a:srgbClr val="1F1F1F"/>
                          </a:solidFill>
                          <a:latin typeface="Calibri"/>
                        </a:rPr>
                        <a:t>do trimestre analisados</a:t>
                      </a:r>
                    </a:p>
                    <a:p>
                      <a:pPr algn="l">
                        <a:lnSpc>
                          <a:spcPct val="100000"/>
                        </a:lnSpc>
                        <a:spcBef>
                          <a:spcPts val="0"/>
                        </a:spcBef>
                        <a:spcAft>
                          <a:spcPts val="0"/>
                        </a:spcAft>
                      </a:pPr>
                      <a:r>
                        <a:rPr sz="1300" b="0">
                          <a:solidFill>
                            <a:srgbClr val="1F1F1F"/>
                          </a:solidFill>
                          <a:latin typeface="Calibri"/>
                        </a:rPr>
                        <a:t>integralmente.</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Custodiante pode</a:t>
                      </a:r>
                    </a:p>
                    <a:p>
                      <a:pPr algn="l">
                        <a:lnSpc>
                          <a:spcPct val="100000"/>
                        </a:lnSpc>
                        <a:spcBef>
                          <a:spcPts val="0"/>
                        </a:spcBef>
                        <a:spcAft>
                          <a:spcPts val="0"/>
                        </a:spcAft>
                      </a:pPr>
                      <a:r>
                        <a:rPr sz="1300" b="0">
                          <a:solidFill>
                            <a:srgbClr val="1F1F1F"/>
                          </a:solidFill>
                          <a:latin typeface="Calibri"/>
                        </a:rPr>
                        <a:t>verificar lastro por</a:t>
                      </a:r>
                    </a:p>
                    <a:p>
                      <a:pPr algn="l">
                        <a:lnSpc>
                          <a:spcPct val="100000"/>
                        </a:lnSpc>
                        <a:spcBef>
                          <a:spcPts val="0"/>
                        </a:spcBef>
                        <a:spcAft>
                          <a:spcPts val="0"/>
                        </a:spcAft>
                      </a:pPr>
                      <a:r>
                        <a:rPr sz="1300" b="0">
                          <a:solidFill>
                            <a:srgbClr val="1F1F1F"/>
                          </a:solidFill>
                          <a:latin typeface="Calibri"/>
                        </a:rPr>
                        <a:t>amostragem; inadimplido</a:t>
                      </a:r>
                    </a:p>
                    <a:p>
                      <a:pPr algn="l">
                        <a:lnSpc>
                          <a:spcPct val="100000"/>
                        </a:lnSpc>
                        <a:spcBef>
                          <a:spcPts val="0"/>
                        </a:spcBef>
                        <a:spcAft>
                          <a:spcPts val="0"/>
                        </a:spcAft>
                      </a:pPr>
                      <a:r>
                        <a:rPr sz="1300" b="0">
                          <a:solidFill>
                            <a:srgbClr val="1F1F1F"/>
                          </a:solidFill>
                          <a:latin typeface="Calibri"/>
                        </a:rPr>
                        <a:t>s/substituídos têm</a:t>
                      </a:r>
                    </a:p>
                    <a:p>
                      <a:pPr algn="l">
                        <a:lnSpc>
                          <a:spcPct val="100000"/>
                        </a:lnSpc>
                        <a:spcBef>
                          <a:spcPts val="0"/>
                        </a:spcBef>
                        <a:spcAft>
                          <a:spcPts val="0"/>
                        </a:spcAft>
                      </a:pPr>
                      <a:r>
                        <a:rPr sz="1300" b="0">
                          <a:solidFill>
                            <a:srgbClr val="1F1F1F"/>
                          </a:solidFill>
                          <a:latin typeface="Calibri"/>
                        </a:rPr>
                        <a:t>verificação individual</a:t>
                      </a:r>
                    </a:p>
                    <a:p>
                      <a:pPr algn="l">
                        <a:lnSpc>
                          <a:spcPct val="100000"/>
                        </a:lnSpc>
                        <a:spcBef>
                          <a:spcPts val="0"/>
                        </a:spcBef>
                        <a:spcAft>
                          <a:spcPts val="0"/>
                        </a:spcAft>
                      </a:pPr>
                      <a:r>
                        <a:rPr sz="1300" b="0">
                          <a:solidFill>
                            <a:srgbClr val="1F1F1F"/>
                          </a:solidFill>
                          <a:latin typeface="Calibri"/>
                        </a:rPr>
                        <a:t>e integral no</a:t>
                      </a:r>
                    </a:p>
                    <a:p>
                      <a:pPr algn="l">
                        <a:lnSpc>
                          <a:spcPct val="100000"/>
                        </a:lnSpc>
                        <a:spcBef>
                          <a:spcPts val="0"/>
                        </a:spcBef>
                        <a:spcAft>
                          <a:spcPts val="0"/>
                        </a:spcAft>
                      </a:pPr>
                      <a:r>
                        <a:rPr sz="1300" b="0">
                          <a:solidFill>
                            <a:srgbClr val="1F1F1F"/>
                          </a:solidFill>
                          <a:latin typeface="Calibri"/>
                        </a:rPr>
                        <a:t>trimestre. Comunica</a:t>
                      </a:r>
                    </a:p>
                    <a:p>
                      <a:pPr algn="l">
                        <a:lnSpc>
                          <a:spcPct val="100000"/>
                        </a:lnSpc>
                        <a:spcBef>
                          <a:spcPts val="0"/>
                        </a:spcBef>
                        <a:spcAft>
                          <a:spcPts val="0"/>
                        </a:spcAft>
                      </a:pPr>
                      <a:r>
                        <a:rPr sz="1300" b="0">
                          <a:solidFill>
                            <a:srgbClr val="1F1F1F"/>
                          </a:solidFill>
                          <a:latin typeface="Calibri"/>
                        </a:rPr>
                        <a:t>vícios em até 5 dias</a:t>
                      </a:r>
                    </a:p>
                    <a:p>
                      <a:pPr algn="l">
                        <a:lnSpc>
                          <a:spcPct val="100000"/>
                        </a:lnSpc>
                        <a:spcBef>
                          <a:spcPts val="0"/>
                        </a:spcBef>
                        <a:spcAft>
                          <a:spcPts val="0"/>
                        </a:spcAft>
                      </a:pPr>
                      <a:r>
                        <a:rPr sz="1300" b="0">
                          <a:solidFill>
                            <a:srgbClr val="1F1F1F"/>
                          </a:solidFill>
                          <a:latin typeface="Calibri"/>
                        </a:rPr>
                        <a:t>úteis. A amostragem</a:t>
                      </a:r>
                    </a:p>
                    <a:p>
                      <a:pPr algn="l">
                        <a:lnSpc>
                          <a:spcPct val="100000"/>
                        </a:lnSpc>
                        <a:spcBef>
                          <a:spcPts val="0"/>
                        </a:spcBef>
                        <a:spcAft>
                          <a:spcPts val="0"/>
                        </a:spcAft>
                      </a:pPr>
                      <a:r>
                        <a:rPr sz="1300" b="0">
                          <a:solidFill>
                            <a:srgbClr val="1F1F1F"/>
                          </a:solidFill>
                          <a:latin typeface="Calibri"/>
                        </a:rPr>
                        <a:t>remete ao Complemento</a:t>
                      </a:r>
                    </a:p>
                    <a:p>
                      <a:pPr algn="l">
                        <a:lnSpc>
                          <a:spcPct val="100000"/>
                        </a:lnSpc>
                        <a:spcBef>
                          <a:spcPts val="0"/>
                        </a:spcBef>
                        <a:spcAft>
                          <a:spcPts val="0"/>
                        </a:spcAft>
                      </a:pPr>
                      <a:r>
                        <a:rPr sz="1300" b="0">
                          <a:solidFill>
                            <a:srgbClr val="1F1F1F"/>
                          </a:solidFill>
                          <a:latin typeface="Calibri"/>
                        </a:rPr>
                        <a:t>II.</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No FIC, comprovantes</a:t>
                      </a:r>
                    </a:p>
                    <a:p>
                      <a:pPr algn="l">
                        <a:lnSpc>
                          <a:spcPct val="100000"/>
                        </a:lnSpc>
                        <a:spcBef>
                          <a:spcPts val="0"/>
                        </a:spcBef>
                        <a:spcAft>
                          <a:spcPts val="0"/>
                        </a:spcAft>
                      </a:pPr>
                      <a:r>
                        <a:rPr sz="1300" b="0">
                          <a:solidFill>
                            <a:srgbClr val="1F1F1F"/>
                          </a:solidFill>
                          <a:latin typeface="Calibri"/>
                        </a:rPr>
                        <a:t>são das cotas</a:t>
                      </a:r>
                    </a:p>
                    <a:p>
                      <a:pPr algn="l">
                        <a:lnSpc>
                          <a:spcPct val="100000"/>
                        </a:lnSpc>
                        <a:spcBef>
                          <a:spcPts val="0"/>
                        </a:spcBef>
                        <a:spcAft>
                          <a:spcPts val="0"/>
                        </a:spcAft>
                      </a:pPr>
                      <a:r>
                        <a:rPr sz="1300" b="0">
                          <a:solidFill>
                            <a:srgbClr val="1F1F1F"/>
                          </a:solidFill>
                          <a:latin typeface="Calibri"/>
                        </a:rPr>
                        <a:t>investidas. Cotas inadi</a:t>
                      </a:r>
                    </a:p>
                    <a:p>
                      <a:pPr algn="l">
                        <a:lnSpc>
                          <a:spcPct val="100000"/>
                        </a:lnSpc>
                        <a:spcBef>
                          <a:spcPts val="0"/>
                        </a:spcBef>
                        <a:spcAft>
                          <a:spcPts val="0"/>
                        </a:spcAft>
                      </a:pPr>
                      <a:r>
                        <a:rPr sz="1300" b="0">
                          <a:solidFill>
                            <a:srgbClr val="1F1F1F"/>
                          </a:solidFill>
                          <a:latin typeface="Calibri"/>
                        </a:rPr>
                        <a:t>mplidas/substituídas</a:t>
                      </a:r>
                    </a:p>
                    <a:p>
                      <a:pPr algn="l">
                        <a:lnSpc>
                          <a:spcPct val="100000"/>
                        </a:lnSpc>
                        <a:spcBef>
                          <a:spcPts val="0"/>
                        </a:spcBef>
                        <a:spcAft>
                          <a:spcPts val="0"/>
                        </a:spcAft>
                      </a:pPr>
                      <a:r>
                        <a:rPr sz="1300" b="0">
                          <a:solidFill>
                            <a:srgbClr val="1F1F1F"/>
                          </a:solidFill>
                          <a:latin typeface="Calibri"/>
                        </a:rPr>
                        <a:t>verificadas</a:t>
                      </a:r>
                    </a:p>
                    <a:p>
                      <a:pPr algn="l">
                        <a:lnSpc>
                          <a:spcPct val="100000"/>
                        </a:lnSpc>
                        <a:spcBef>
                          <a:spcPts val="0"/>
                        </a:spcBef>
                        <a:spcAft>
                          <a:spcPts val="0"/>
                        </a:spcAft>
                      </a:pPr>
                      <a:r>
                        <a:rPr sz="1300" b="0">
                          <a:solidFill>
                            <a:srgbClr val="1F1F1F"/>
                          </a:solidFill>
                          <a:latin typeface="Calibri"/>
                        </a:rPr>
                        <a:t>integralmente no</a:t>
                      </a:r>
                    </a:p>
                    <a:p>
                      <a:pPr algn="l">
                        <a:lnSpc>
                          <a:spcPct val="100000"/>
                        </a:lnSpc>
                        <a:spcBef>
                          <a:spcPts val="0"/>
                        </a:spcBef>
                        <a:spcAft>
                          <a:spcPts val="0"/>
                        </a:spcAft>
                      </a:pPr>
                      <a:r>
                        <a:rPr sz="1300" b="0">
                          <a:solidFill>
                            <a:srgbClr val="1F1F1F"/>
                          </a:solidFill>
                          <a:latin typeface="Calibri"/>
                        </a:rPr>
                        <a:t>trimestre; vícios</a:t>
                      </a:r>
                    </a:p>
                    <a:p>
                      <a:pPr algn="l">
                        <a:lnSpc>
                          <a:spcPct val="100000"/>
                        </a:lnSpc>
                        <a:spcBef>
                          <a:spcPts val="0"/>
                        </a:spcBef>
                        <a:spcAft>
                          <a:spcPts val="0"/>
                        </a:spcAft>
                      </a:pPr>
                      <a:r>
                        <a:rPr sz="1300" b="0">
                          <a:solidFill>
                            <a:srgbClr val="1F1F1F"/>
                          </a:solidFill>
                          <a:latin typeface="Calibri"/>
                        </a:rPr>
                        <a:t>comunicados em 5 dias</a:t>
                      </a:r>
                    </a:p>
                    <a:p>
                      <a:pPr algn="l">
                        <a:lnSpc>
                          <a:spcPct val="100000"/>
                        </a:lnSpc>
                        <a:spcBef>
                          <a:spcPts val="0"/>
                        </a:spcBef>
                        <a:spcAft>
                          <a:spcPts val="0"/>
                        </a:spcAft>
                      </a:pPr>
                      <a:r>
                        <a:rPr sz="1300" b="0">
                          <a:solidFill>
                            <a:srgbClr val="1F1F1F"/>
                          </a:solidFill>
                          <a:latin typeface="Calibri"/>
                        </a:rPr>
                        <a:t>úteis.</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66/160</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Garantias e operação</a:t>
            </a:r>
          </a:p>
        </p:txBody>
      </p:sp>
      <p:graphicFrame>
        <p:nvGraphicFramePr>
          <p:cNvPr id="3" name="Table 2"/>
          <p:cNvGraphicFramePr>
            <a:graphicFrameLocks noGrp="1"/>
          </p:cNvGraphicFramePr>
          <p:nvPr/>
        </p:nvGraphicFramePr>
        <p:xfrm>
          <a:off x="438912" y="932688"/>
          <a:ext cx="11313870" cy="3771899"/>
        </p:xfrm>
        <a:graphic>
          <a:graphicData uri="http://schemas.openxmlformats.org/drawingml/2006/table">
            <a:tbl>
              <a:tblPr>
                <a:tableStyleId>{5C22544A-7EE6-4342-B048-85BDC9FD1C3A}</a:tableStyleId>
              </a:tblPr>
              <a:tblGrid>
                <a:gridCol w="2331720"/>
                <a:gridCol w="4491075"/>
                <a:gridCol w="4491075"/>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V CDT 1 · 62552447000120</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Global CP · 63953620000165</a:t>
                      </a:r>
                    </a:p>
                  </a:txBody>
                  <a:tcPr marL="91440" marR="91440" marT="41148" marB="41148" anchor="ctr">
                    <a:solidFill>
                      <a:srgbClr val="F7F7F7"/>
                    </a:solidFill>
                    <a:lnL>
                      <a:noFill/>
                    </a:lnL>
                    <a:lnR>
                      <a:noFill/>
                    </a:lnR>
                    <a:lnT>
                      <a:noFill/>
                    </a:lnT>
                    <a:lnB w="6350">
                      <a:solidFill>
                        <a:srgbClr val="D9DEE5"/>
                      </a:solidFill>
                    </a:lnB>
                  </a:tcPr>
                </a:tc>
              </a:tr>
              <a:tr h="2907791">
                <a:tc>
                  <a:txBody>
                    <a:bodyPr wrap="square">
                      <a:noAutofit/>
                    </a:bodyPr>
                    <a:lstStyle/>
                    <a:p>
                      <a:pPr algn="l">
                        <a:lnSpc>
                          <a:spcPct val="100000"/>
                        </a:lnSpc>
                        <a:spcBef>
                          <a:spcPts val="0"/>
                        </a:spcBef>
                        <a:spcAft>
                          <a:spcPts val="0"/>
                        </a:spcAft>
                      </a:pPr>
                      <a:r>
                        <a:rPr sz="1300" b="1">
                          <a:solidFill>
                            <a:srgbClr val="1F1F1F"/>
                          </a:solidFill>
                          <a:latin typeface="Calibri"/>
                        </a:rPr>
                        <a:t>Garantias e constituição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Consignado: FGTS/multa rescisória nos percentuais</a:t>
                      </a:r>
                    </a:p>
                    <a:p>
                      <a:pPr algn="l">
                        <a:lnSpc>
                          <a:spcPct val="100000"/>
                        </a:lnSpc>
                        <a:spcBef>
                          <a:spcPts val="0"/>
                        </a:spcBef>
                        <a:spcAft>
                          <a:spcPts val="0"/>
                        </a:spcAft>
                      </a:pPr>
                      <a:r>
                        <a:rPr sz="1300" b="0">
                          <a:solidFill>
                            <a:srgbClr val="1F1F1F"/>
                          </a:solidFill>
                          <a:latin typeface="Calibri"/>
                        </a:rPr>
                        <a:t>legais, quando operacionalmente disponível. FGTS:</a:t>
                      </a:r>
                    </a:p>
                    <a:p>
                      <a:pPr algn="l">
                        <a:lnSpc>
                          <a:spcPct val="100000"/>
                        </a:lnSpc>
                        <a:spcBef>
                          <a:spcPts val="0"/>
                        </a:spcBef>
                        <a:spcAft>
                          <a:spcPts val="0"/>
                        </a:spcAft>
                      </a:pPr>
                      <a:r>
                        <a:rPr sz="1300" b="0">
                          <a:solidFill>
                            <a:srgbClr val="1F1F1F"/>
                          </a:solidFill>
                          <a:latin typeface="Calibri"/>
                        </a:rPr>
                        <a:t>cessão fiduciária de saque-aniversário.</a:t>
                      </a:r>
                    </a:p>
                    <a:p>
                      <a:pPr algn="l">
                        <a:lnSpc>
                          <a:spcPct val="100000"/>
                        </a:lnSpc>
                        <a:spcBef>
                          <a:spcPts val="0"/>
                        </a:spcBef>
                        <a:spcAft>
                          <a:spcPts val="0"/>
                        </a:spcAft>
                      </a:pPr>
                      <a:r>
                        <a:rPr sz="1300" b="0">
                          <a:solidFill>
                            <a:srgbClr val="1F1F1F"/>
                          </a:solidFill>
                          <a:latin typeface="Calibri"/>
                        </a:rPr>
                        <a:t>Refinanciamento livre pode ficar sem esses</a:t>
                      </a:r>
                    </a:p>
                    <a:p>
                      <a:pPr algn="l">
                        <a:lnSpc>
                          <a:spcPct val="100000"/>
                        </a:lnSpc>
                        <a:spcBef>
                          <a:spcPts val="0"/>
                        </a:spcBef>
                        <a:spcAft>
                          <a:spcPts val="0"/>
                        </a:spcAft>
                      </a:pPr>
                      <a:r>
                        <a:rPr sz="1300" b="0">
                          <a:solidFill>
                            <a:srgbClr val="1F1F1F"/>
                          </a:solidFill>
                          <a:latin typeface="Calibri"/>
                        </a:rPr>
                        <a:t>lastros. Cotas sem garantia de prestadores,</a:t>
                      </a:r>
                    </a:p>
                    <a:p>
                      <a:pPr algn="l">
                        <a:lnSpc>
                          <a:spcPct val="100000"/>
                        </a:lnSpc>
                        <a:spcBef>
                          <a:spcPts val="0"/>
                        </a:spcBef>
                        <a:spcAft>
                          <a:spcPts val="0"/>
                        </a:spcAft>
                      </a:pPr>
                      <a:r>
                        <a:rPr sz="1300" b="0">
                          <a:solidFill>
                            <a:srgbClr val="1F1F1F"/>
                          </a:solidFill>
                          <a:latin typeface="Calibri"/>
                        </a:rPr>
                        <a:t>seguros ou FGC.</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i) Alienação de direitos creditórios No período</a:t>
                      </a:r>
                    </a:p>
                    <a:p>
                      <a:pPr algn="l">
                        <a:lnSpc>
                          <a:spcPct val="100000"/>
                        </a:lnSpc>
                        <a:spcBef>
                          <a:spcPts val="0"/>
                        </a:spcBef>
                        <a:spcAft>
                          <a:spcPts val="0"/>
                        </a:spcAft>
                      </a:pPr>
                      <a:r>
                        <a:rPr sz="1300" b="0">
                          <a:solidFill>
                            <a:srgbClr val="1F1F1F"/>
                          </a:solidFill>
                          <a:latin typeface="Calibri"/>
                        </a:rPr>
                        <a:t>em findo em 15 de maio de 2026, não houve</a:t>
                      </a:r>
                    </a:p>
                    <a:p>
                      <a:pPr algn="l">
                        <a:lnSpc>
                          <a:spcPct val="100000"/>
                        </a:lnSpc>
                        <a:spcBef>
                          <a:spcPts val="0"/>
                        </a:spcBef>
                        <a:spcAft>
                          <a:spcPts val="0"/>
                        </a:spcAft>
                      </a:pPr>
                      <a:r>
                        <a:rPr sz="1300" b="0">
                          <a:solidFill>
                            <a:srgbClr val="1F1F1F"/>
                          </a:solidFill>
                          <a:latin typeface="Calibri"/>
                        </a:rPr>
                        <a:t>recompra de direitos creditórios inadimplentes.</a:t>
                      </a:r>
                    </a:p>
                    <a:p>
                      <a:pPr algn="l">
                        <a:lnSpc>
                          <a:spcPct val="100000"/>
                        </a:lnSpc>
                        <a:spcBef>
                          <a:spcPts val="0"/>
                        </a:spcBef>
                        <a:spcAft>
                          <a:spcPts val="0"/>
                        </a:spcAft>
                      </a:pPr>
                      <a:r>
                        <a:rPr sz="1300" b="0">
                          <a:solidFill>
                            <a:srgbClr val="1F1F1F"/>
                          </a:solidFill>
                          <a:latin typeface="Calibri"/>
                        </a:rPr>
                        <a:t>j) Garantias Em 15 de maio de 2026, a Classe não</a:t>
                      </a:r>
                    </a:p>
                    <a:p>
                      <a:pPr algn="l">
                        <a:lnSpc>
                          <a:spcPct val="100000"/>
                        </a:lnSpc>
                        <a:spcBef>
                          <a:spcPts val="0"/>
                        </a:spcBef>
                        <a:spcAft>
                          <a:spcPts val="0"/>
                        </a:spcAft>
                      </a:pPr>
                      <a:r>
                        <a:rPr sz="1300" b="0">
                          <a:solidFill>
                            <a:srgbClr val="1F1F1F"/>
                          </a:solidFill>
                          <a:latin typeface="Calibri"/>
                        </a:rPr>
                        <a:t>possuía garantias reais ou fidejussórias, pela</a:t>
                      </a:r>
                    </a:p>
                    <a:p>
                      <a:pPr algn="l">
                        <a:lnSpc>
                          <a:spcPct val="100000"/>
                        </a:lnSpc>
                        <a:spcBef>
                          <a:spcPts val="0"/>
                        </a:spcBef>
                        <a:spcAft>
                          <a:spcPts val="0"/>
                        </a:spcAft>
                      </a:pPr>
                      <a:r>
                        <a:rPr sz="1300" b="0">
                          <a:solidFill>
                            <a:srgbClr val="1F1F1F"/>
                          </a:solidFill>
                          <a:latin typeface="Calibri"/>
                        </a:rPr>
                        <a:t>liquidação dos direitos creditórios. 7. Riscos</a:t>
                      </a:r>
                    </a:p>
                    <a:p>
                      <a:pPr algn="l">
                        <a:lnSpc>
                          <a:spcPct val="100000"/>
                        </a:lnSpc>
                        <a:spcBef>
                          <a:spcPts val="0"/>
                        </a:spcBef>
                        <a:spcAft>
                          <a:spcPts val="0"/>
                        </a:spcAft>
                      </a:pPr>
                      <a:r>
                        <a:rPr sz="1300" b="0">
                          <a:solidFill>
                            <a:srgbClr val="1F1F1F"/>
                          </a:solidFill>
                          <a:latin typeface="Calibri"/>
                        </a:rPr>
                        <a:t>Não obstante o emprego pela Administradora e pela</a:t>
                      </a:r>
                    </a:p>
                    <a:p>
                      <a:pPr algn="l">
                        <a:lnSpc>
                          <a:spcPct val="100000"/>
                        </a:lnSpc>
                        <a:spcBef>
                          <a:spcPts val="0"/>
                        </a:spcBef>
                        <a:spcAft>
                          <a:spcPts val="0"/>
                        </a:spcAft>
                      </a:pPr>
                      <a:r>
                        <a:rPr sz="1300" b="0">
                          <a:solidFill>
                            <a:srgbClr val="1F1F1F"/>
                          </a:solidFill>
                          <a:latin typeface="Calibri"/>
                        </a:rPr>
                        <a:t>Gestora de plena diligência e da boa prática de</a:t>
                      </a:r>
                    </a:p>
                    <a:p>
                      <a:pPr algn="l">
                        <a:lnSpc>
                          <a:spcPct val="100000"/>
                        </a:lnSpc>
                        <a:spcBef>
                          <a:spcPts val="0"/>
                        </a:spcBef>
                        <a:spcAft>
                          <a:spcPts val="0"/>
                        </a:spcAft>
                      </a:pPr>
                      <a:r>
                        <a:rPr sz="1300" b="0">
                          <a:solidFill>
                            <a:srgbClr val="1F1F1F"/>
                          </a:solidFill>
                          <a:latin typeface="Calibri"/>
                        </a:rPr>
                        <a:t>administração e gestão da Classe, da estrita</a:t>
                      </a:r>
                    </a:p>
                    <a:p>
                      <a:pPr algn="l">
                        <a:lnSpc>
                          <a:spcPct val="100000"/>
                        </a:lnSpc>
                        <a:spcBef>
                          <a:spcPts val="0"/>
                        </a:spcBef>
                        <a:spcAft>
                          <a:spcPts val="0"/>
                        </a:spcAft>
                      </a:pPr>
                      <a:r>
                        <a:rPr sz="1300" b="0">
                          <a:solidFill>
                            <a:srgbClr val="1F1F1F"/>
                          </a:solidFill>
                          <a:latin typeface="Calibri"/>
                        </a:rPr>
                        <a:t>observância da política de investimento, das</a:t>
                      </a:r>
                    </a:p>
                    <a:p>
                      <a:pPr algn="l">
                        <a:lnSpc>
                          <a:spcPct val="100000"/>
                        </a:lnSpc>
                        <a:spcBef>
                          <a:spcPts val="0"/>
                        </a:spcBef>
                        <a:spcAft>
                          <a:spcPts val="0"/>
                        </a:spcAft>
                      </a:pPr>
                      <a:r>
                        <a:rPr sz="1300" b="0">
                          <a:solidFill>
                            <a:srgbClr val="1F1F1F"/>
                          </a:solidFill>
                          <a:latin typeface="Calibri"/>
                        </a:rPr>
                        <a:t>regras legais e regulamentares aplicáveis à sua</a:t>
                      </a:r>
                    </a:p>
                    <a:p>
                      <a:pPr algn="l">
                        <a:lnSpc>
                          <a:spcPct val="100000"/>
                        </a:lnSpc>
                        <a:spcBef>
                          <a:spcPts val="0"/>
                        </a:spcBef>
                        <a:spcAft>
                          <a:spcPts val="0"/>
                        </a:spcAft>
                      </a:pPr>
                      <a:r>
                        <a:rPr sz="1300" b="0">
                          <a:solidFill>
                            <a:srgbClr val="1F1F1F"/>
                          </a:solidFill>
                          <a:latin typeface="Calibri"/>
                        </a:rPr>
                        <a:t>administração e gestão, a Classe estará sujeita</a:t>
                      </a:r>
                    </a:p>
                    <a:p>
                      <a:pPr algn="l">
                        <a:lnSpc>
                          <a:spcPct val="100000"/>
                        </a:lnSpc>
                        <a:spcBef>
                          <a:spcPts val="0"/>
                        </a:spcBef>
                        <a:spcAft>
                          <a:spcPts val="0"/>
                        </a:spcAft>
                      </a:pPr>
                      <a:r>
                        <a:rPr sz="1300" b="0">
                          <a:solidFill>
                            <a:srgbClr val="1F1F1F"/>
                          </a:solidFill>
                          <a:latin typeface="Calibri"/>
                        </a:rPr>
                        <a:t>aos riscos inerentes aos bens e direitos</a:t>
                      </a:r>
                    </a:p>
                    <a:p>
                      <a:pPr algn="l">
                        <a:lnSpc>
                          <a:spcPct val="100000"/>
                        </a:lnSpc>
                        <a:spcBef>
                          <a:spcPts val="0"/>
                        </a:spcBef>
                        <a:spcAft>
                          <a:spcPts val="0"/>
                        </a:spcAft>
                      </a:pPr>
                      <a:r>
                        <a:rPr sz="1300" b="0">
                          <a:solidFill>
                            <a:srgbClr val="1F1F1F"/>
                          </a:solidFill>
                          <a:latin typeface="Calibri"/>
                        </a:rPr>
                        <a:t>integrantes de sua Carteira, além dos fatores de</a:t>
                      </a:r>
                    </a:p>
                    <a:p>
                      <a:pPr algn="l">
                        <a:lnSpc>
                          <a:spcPct val="100000"/>
                        </a:lnSpc>
                        <a:spcBef>
                          <a:spcPts val="0"/>
                        </a:spcBef>
                        <a:spcAft>
                          <a:spcPts val="0"/>
                        </a:spcAft>
                      </a:pPr>
                      <a:r>
                        <a:rPr sz="1300" b="0">
                          <a:solidFill>
                            <a:srgbClr val="1F1F1F"/>
                          </a:solidFill>
                          <a:latin typeface="Calibri"/>
                        </a:rPr>
                        <a:t>risco identificados abaixo.</a:t>
                      </a:r>
                    </a:p>
                  </a:txBody>
                  <a:tcPr marL="91440" marR="91440" marT="41148" marB="41148" anchor="ctr">
                    <a:solidFill>
                      <a:srgbClr val="FFFFFF"/>
                    </a:solidFill>
                    <a:lnL>
                      <a:noFill/>
                    </a:lnL>
                    <a:lnR>
                      <a:noFill/>
                    </a:lnR>
                    <a:lnT>
                      <a:noFill/>
                    </a:lnT>
                    <a:lnB>
                      <a:noFill/>
                    </a:lnB>
                  </a:tcPr>
                </a:tc>
              </a:tr>
              <a:tr h="470916">
                <a:tc>
                  <a:txBody>
                    <a:bodyPr wrap="square">
                      <a:noAutofit/>
                    </a:bodyPr>
                    <a:lstStyle/>
                    <a:p>
                      <a:pPr algn="l">
                        <a:lnSpc>
                          <a:spcPct val="100000"/>
                        </a:lnSpc>
                        <a:spcBef>
                          <a:spcPts val="0"/>
                        </a:spcBef>
                        <a:spcAft>
                          <a:spcPts val="0"/>
                        </a:spcAft>
                      </a:pPr>
                      <a:r>
                        <a:rPr sz="1300" b="1">
                          <a:solidFill>
                            <a:srgbClr val="1F1F1F"/>
                          </a:solidFill>
                          <a:latin typeface="Calibri"/>
                        </a:rPr>
                        <a:t>Registro, execução e</a:t>
                      </a:r>
                    </a:p>
                    <a:p>
                      <a:pPr algn="l">
                        <a:lnSpc>
                          <a:spcPct val="100000"/>
                        </a:lnSpc>
                        <a:spcBef>
                          <a:spcPts val="0"/>
                        </a:spcBef>
                        <a:spcAft>
                          <a:spcPts val="0"/>
                        </a:spcAft>
                      </a:pPr>
                      <a:r>
                        <a:rPr sz="1300" b="1">
                          <a:solidFill>
                            <a:srgbClr val="1F1F1F"/>
                          </a:solidFill>
                          <a:latin typeface="Calibri"/>
                        </a:rPr>
                        <a:t>recuperação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67/160</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Garantias e operação</a:t>
            </a:r>
          </a:p>
        </p:txBody>
      </p:sp>
      <p:graphicFrame>
        <p:nvGraphicFramePr>
          <p:cNvPr id="3" name="Table 2"/>
          <p:cNvGraphicFramePr>
            <a:graphicFrameLocks noGrp="1"/>
          </p:cNvGraphicFramePr>
          <p:nvPr/>
        </p:nvGraphicFramePr>
        <p:xfrm>
          <a:off x="438912" y="932688"/>
          <a:ext cx="11313870" cy="5175504"/>
        </p:xfrm>
        <a:graphic>
          <a:graphicData uri="http://schemas.openxmlformats.org/drawingml/2006/table">
            <a:tbl>
              <a:tblPr>
                <a:tableStyleId>{5C22544A-7EE6-4342-B048-85BDC9FD1C3A}</a:tableStyleId>
              </a:tblPr>
              <a:tblGrid>
                <a:gridCol w="2331720"/>
                <a:gridCol w="4491075"/>
                <a:gridCol w="4491075"/>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V CDT 1 · 62552447000120</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Global CP · 63953620000165</a:t>
                      </a:r>
                    </a:p>
                  </a:txBody>
                  <a:tcPr marL="91440" marR="91440" marT="41148" marB="41148" anchor="ctr">
                    <a:solidFill>
                      <a:srgbClr val="F7F7F7"/>
                    </a:solidFill>
                    <a:lnL>
                      <a:noFill/>
                    </a:lnL>
                    <a:lnR>
                      <a:noFill/>
                    </a:lnR>
                    <a:lnT>
                      <a:noFill/>
                    </a:lnT>
                    <a:lnB w="6350">
                      <a:solidFill>
                        <a:srgbClr val="D9DEE5"/>
                      </a:solidFill>
                    </a:lnB>
                  </a:tcPr>
                </a:tc>
              </a:tr>
              <a:tr h="4782312">
                <a:tc>
                  <a:txBody>
                    <a:bodyPr wrap="square">
                      <a:noAutofit/>
                    </a:bodyPr>
                    <a:lstStyle/>
                    <a:p>
                      <a:pPr algn="l">
                        <a:lnSpc>
                          <a:spcPct val="100000"/>
                        </a:lnSpc>
                        <a:spcBef>
                          <a:spcPts val="0"/>
                        </a:spcBef>
                        <a:spcAft>
                          <a:spcPts val="0"/>
                        </a:spcAft>
                      </a:pPr>
                      <a:r>
                        <a:rPr sz="1300" b="1">
                          <a:solidFill>
                            <a:srgbClr val="1F1F1F"/>
                          </a:solidFill>
                          <a:latin typeface="Calibri"/>
                        </a:rPr>
                        <a:t>Cobrança e servicing</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integrantes do conglomerado econômico de</a:t>
                      </a:r>
                    </a:p>
                    <a:p>
                      <a:pPr algn="l">
                        <a:lnSpc>
                          <a:spcPct val="100000"/>
                        </a:lnSpc>
                        <a:spcBef>
                          <a:spcPts val="0"/>
                        </a:spcBef>
                        <a:spcAft>
                          <a:spcPts val="0"/>
                        </a:spcAft>
                      </a:pPr>
                      <a:r>
                        <a:rPr sz="1300" b="0">
                          <a:solidFill>
                            <a:srgbClr val="1F1F1F"/>
                          </a:solidFill>
                          <a:latin typeface="Calibri"/>
                        </a:rPr>
                        <a:t>instituições f inanceiras classificadas como S1</a:t>
                      </a:r>
                    </a:p>
                    <a:p>
                      <a:pPr algn="l">
                        <a:lnSpc>
                          <a:spcPct val="100000"/>
                        </a:lnSpc>
                        <a:spcBef>
                          <a:spcPts val="0"/>
                        </a:spcBef>
                        <a:spcAft>
                          <a:spcPts val="0"/>
                        </a:spcAft>
                      </a:pPr>
                      <a:r>
                        <a:rPr sz="1300" b="0">
                          <a:solidFill>
                            <a:srgbClr val="1F1F1F"/>
                          </a:solidFill>
                          <a:latin typeface="Calibri"/>
                        </a:rPr>
                        <a:t>pelo Banco Central do Brasil (“BACEN” e</a:t>
                      </a:r>
                    </a:p>
                    <a:p>
                      <a:pPr algn="l">
                        <a:lnSpc>
                          <a:spcPct val="100000"/>
                        </a:lnSpc>
                        <a:spcBef>
                          <a:spcPts val="0"/>
                        </a:spcBef>
                        <a:spcAft>
                          <a:spcPts val="0"/>
                        </a:spcAft>
                      </a:pPr>
                      <a:r>
                        <a:rPr sz="1300" b="0">
                          <a:solidFill>
                            <a:srgbClr val="1F1F1F"/>
                          </a:solidFill>
                          <a:latin typeface="Calibri"/>
                        </a:rPr>
                        <a:t>“Instituições Financeiras S1”, respectivamente),</a:t>
                      </a:r>
                    </a:p>
                    <a:p>
                      <a:pPr algn="l">
                        <a:lnSpc>
                          <a:spcPct val="100000"/>
                        </a:lnSpc>
                        <a:spcBef>
                          <a:spcPts val="0"/>
                        </a:spcBef>
                        <a:spcAft>
                          <a:spcPts val="0"/>
                        </a:spcAft>
                      </a:pPr>
                      <a:r>
                        <a:rPr sz="1300" b="0">
                          <a:solidFill>
                            <a:srgbClr val="1F1F1F"/>
                          </a:solidFill>
                          <a:latin typeface="Calibri"/>
                        </a:rPr>
                        <a:t>desde que não representem títulos de emissão ou</a:t>
                      </a:r>
                    </a:p>
                    <a:p>
                      <a:pPr algn="l">
                        <a:lnSpc>
                          <a:spcPct val="100000"/>
                        </a:lnSpc>
                        <a:spcBef>
                          <a:spcPts val="0"/>
                        </a:spcBef>
                        <a:spcAft>
                          <a:spcPts val="0"/>
                        </a:spcAft>
                      </a:pPr>
                      <a:r>
                        <a:rPr sz="1300" b="0">
                          <a:solidFill>
                            <a:srgbClr val="1F1F1F"/>
                          </a:solidFill>
                          <a:latin typeface="Calibri"/>
                        </a:rPr>
                        <a:t>coobrigação de instituições financeiras, bem como</a:t>
                      </a:r>
                    </a:p>
                    <a:p>
                      <a:pPr algn="l">
                        <a:lnSpc>
                          <a:spcPct val="100000"/>
                        </a:lnSpc>
                        <a:spcBef>
                          <a:spcPts val="0"/>
                        </a:spcBef>
                        <a:spcAft>
                          <a:spcPts val="0"/>
                        </a:spcAft>
                      </a:pPr>
                      <a:r>
                        <a:rPr sz="1300" b="0">
                          <a:solidFill>
                            <a:srgbClr val="1F1F1F"/>
                          </a:solidFill>
                          <a:latin typeface="Calibri"/>
                        </a:rPr>
                        <a:t>cotas de f undos de investimento que invistam</a:t>
                      </a:r>
                    </a:p>
                    <a:p>
                      <a:pPr algn="l">
                        <a:lnSpc>
                          <a:spcPct val="100000"/>
                        </a:lnSpc>
                        <a:spcBef>
                          <a:spcPts val="0"/>
                        </a:spcBef>
                        <a:spcAft>
                          <a:spcPts val="0"/>
                        </a:spcAft>
                      </a:pPr>
                      <a:r>
                        <a:rPr sz="1300" b="0">
                          <a:solidFill>
                            <a:srgbClr val="1F1F1F"/>
                          </a:solidFill>
                          <a:latin typeface="Calibri"/>
                        </a:rPr>
                        <a:t>preponderantemente nestes direitos, títulos e/ou</a:t>
                      </a:r>
                    </a:p>
                    <a:p>
                      <a:pPr algn="l">
                        <a:lnSpc>
                          <a:spcPct val="100000"/>
                        </a:lnSpc>
                        <a:spcBef>
                          <a:spcPts val="0"/>
                        </a:spcBef>
                        <a:spcAft>
                          <a:spcPts val="0"/>
                        </a:spcAft>
                      </a:pPr>
                      <a:r>
                        <a:rPr sz="1300" b="0">
                          <a:solidFill>
                            <a:srgbClr val="1F1F1F"/>
                          </a:solidFill>
                          <a:latin typeface="Calibri"/>
                        </a:rPr>
                        <a:t>valores mobiliários; e (d) “Direitos Creditórios</a:t>
                      </a:r>
                    </a:p>
                    <a:p>
                      <a:pPr algn="l">
                        <a:lnSpc>
                          <a:spcPct val="100000"/>
                        </a:lnSpc>
                        <a:spcBef>
                          <a:spcPts val="0"/>
                        </a:spcBef>
                        <a:spcAft>
                          <a:spcPts val="0"/>
                        </a:spcAft>
                      </a:pPr>
                      <a:r>
                        <a:rPr sz="1300" b="0">
                          <a:solidFill>
                            <a:srgbClr val="1F1F1F"/>
                          </a:solidFill>
                          <a:latin typeface="Calibri"/>
                        </a:rPr>
                        <a:t>Refinanciamento Livre”, na forma de CCBs</a:t>
                      </a:r>
                    </a:p>
                    <a:p>
                      <a:pPr algn="l">
                        <a:lnSpc>
                          <a:spcPct val="100000"/>
                        </a:lnSpc>
                        <a:spcBef>
                          <a:spcPts val="0"/>
                        </a:spcBef>
                        <a:spcAft>
                          <a:spcPts val="0"/>
                        </a:spcAft>
                      </a:pPr>
                      <a:r>
                        <a:rPr sz="1300" b="0">
                          <a:solidFill>
                            <a:srgbClr val="1F1F1F"/>
                          </a:solidFill>
                          <a:latin typeface="Calibri"/>
                        </a:rPr>
                        <a:t>originadas no âmbito de um refinanciamento, de</a:t>
                      </a:r>
                    </a:p>
                    <a:p>
                      <a:pPr algn="l">
                        <a:lnSpc>
                          <a:spcPct val="100000"/>
                        </a:lnSpc>
                        <a:spcBef>
                          <a:spcPts val="0"/>
                        </a:spcBef>
                        <a:spcAft>
                          <a:spcPts val="0"/>
                        </a:spcAft>
                      </a:pPr>
                      <a:r>
                        <a:rPr sz="1300" b="0">
                          <a:solidFill>
                            <a:srgbClr val="1F1F1F"/>
                          </a:solidFill>
                          <a:latin typeface="Calibri"/>
                        </a:rPr>
                        <a:t>acordo com a política de cobrança vigente, de</a:t>
                      </a:r>
                    </a:p>
                    <a:p>
                      <a:pPr algn="l">
                        <a:lnSpc>
                          <a:spcPct val="100000"/>
                        </a:lnSpc>
                        <a:spcBef>
                          <a:spcPts val="0"/>
                        </a:spcBef>
                        <a:spcAft>
                          <a:spcPts val="0"/>
                        </a:spcAft>
                      </a:pPr>
                      <a:r>
                        <a:rPr sz="1300" b="0">
                          <a:solidFill>
                            <a:srgbClr val="1F1F1F"/>
                          </a:solidFill>
                          <a:latin typeface="Calibri"/>
                        </a:rPr>
                        <a:t>Direitos Creditórios Consignado Privado e de</a:t>
                      </a:r>
                    </a:p>
                    <a:p>
                      <a:pPr algn="l">
                        <a:lnSpc>
                          <a:spcPct val="100000"/>
                        </a:lnSpc>
                        <a:spcBef>
                          <a:spcPts val="0"/>
                        </a:spcBef>
                        <a:spcAft>
                          <a:spcPts val="0"/>
                        </a:spcAft>
                      </a:pPr>
                      <a:r>
                        <a:rPr sz="1300" b="0">
                          <a:solidFill>
                            <a:srgbClr val="1F1F1F"/>
                          </a:solidFill>
                          <a:latin typeface="Calibri"/>
                        </a:rPr>
                        <a:t>Direitos Creditórios FGTS, que não contem com o</a:t>
                      </a:r>
                    </a:p>
                    <a:p>
                      <a:pPr algn="l">
                        <a:lnSpc>
                          <a:spcPct val="100000"/>
                        </a:lnSpc>
                        <a:spcBef>
                          <a:spcPts val="0"/>
                        </a:spcBef>
                        <a:spcAft>
                          <a:spcPts val="0"/>
                        </a:spcAft>
                      </a:pPr>
                      <a:r>
                        <a:rPr sz="1300" b="0">
                          <a:solidFill>
                            <a:srgbClr val="1F1F1F"/>
                          </a:solidFill>
                          <a:latin typeface="Calibri"/>
                        </a:rPr>
                        <a:t>lastro de Consignação ou de cessão f iduciária do</a:t>
                      </a:r>
                    </a:p>
                    <a:p>
                      <a:pPr algn="l">
                        <a:lnSpc>
                          <a:spcPct val="100000"/>
                        </a:lnSpc>
                        <a:spcBef>
                          <a:spcPts val="0"/>
                        </a:spcBef>
                        <a:spcAft>
                          <a:spcPts val="0"/>
                        </a:spcAft>
                      </a:pPr>
                      <a:r>
                        <a:rPr sz="1300" b="0">
                          <a:solidFill>
                            <a:srgbClr val="1F1F1F"/>
                          </a:solidFill>
                          <a:latin typeface="Calibri"/>
                        </a:rPr>
                        <a:t>Saque-Aniversário, respectivamente; e (ii)</a:t>
                      </a:r>
                    </a:p>
                    <a:p>
                      <a:pPr algn="l">
                        <a:lnSpc>
                          <a:spcPct val="100000"/>
                        </a:lnSpc>
                        <a:spcBef>
                          <a:spcPts val="0"/>
                        </a:spcBef>
                        <a:spcAft>
                          <a:spcPts val="0"/>
                        </a:spcAft>
                      </a:pPr>
                      <a:r>
                        <a:rPr sz="1300" b="0">
                          <a:solidFill>
                            <a:srgbClr val="1F1F1F"/>
                          </a:solidFill>
                          <a:latin typeface="Calibri"/>
                        </a:rPr>
                        <a:t>“Ativos Financeiros”, assim entendidos como, em</a:t>
                      </a:r>
                    </a:p>
                    <a:p>
                      <a:pPr algn="l">
                        <a:lnSpc>
                          <a:spcPct val="100000"/>
                        </a:lnSpc>
                        <a:spcBef>
                          <a:spcPts val="0"/>
                        </a:spcBef>
                        <a:spcAft>
                          <a:spcPts val="0"/>
                        </a:spcAft>
                      </a:pPr>
                      <a:r>
                        <a:rPr sz="1300" b="0">
                          <a:solidFill>
                            <a:srgbClr val="1F1F1F"/>
                          </a:solidFill>
                          <a:latin typeface="Calibri"/>
                        </a:rPr>
                        <a:t>conjunto: (a) moeda corrente nacional; (b)</a:t>
                      </a:r>
                    </a:p>
                    <a:p>
                      <a:pPr algn="l">
                        <a:lnSpc>
                          <a:spcPct val="100000"/>
                        </a:lnSpc>
                        <a:spcBef>
                          <a:spcPts val="0"/>
                        </a:spcBef>
                        <a:spcAft>
                          <a:spcPts val="0"/>
                        </a:spcAft>
                      </a:pPr>
                      <a:r>
                        <a:rPr sz="1300" b="0">
                          <a:solidFill>
                            <a:srgbClr val="1F1F1F"/>
                          </a:solidFill>
                          <a:latin typeface="Calibri"/>
                        </a:rPr>
                        <a:t>títulos públicos f ederais;.</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(c) atendam, pro forma, na Data de Aquisição, aos</a:t>
                      </a:r>
                    </a:p>
                    <a:p>
                      <a:pPr algn="l">
                        <a:lnSpc>
                          <a:spcPct val="100000"/>
                        </a:lnSpc>
                        <a:spcBef>
                          <a:spcPts val="0"/>
                        </a:spcBef>
                        <a:spcAft>
                          <a:spcPts val="0"/>
                        </a:spcAft>
                      </a:pPr>
                      <a:r>
                        <a:rPr sz="1300" b="0">
                          <a:solidFill>
                            <a:srgbClr val="1F1F1F"/>
                          </a:solidFill>
                          <a:latin typeface="Calibri"/>
                        </a:rPr>
                        <a:t>limites de concentração definidos no Capítulo 4</a:t>
                      </a:r>
                    </a:p>
                    <a:p>
                      <a:pPr algn="l">
                        <a:lnSpc>
                          <a:spcPct val="100000"/>
                        </a:lnSpc>
                        <a:spcBef>
                          <a:spcPts val="0"/>
                        </a:spcBef>
                        <a:spcAft>
                          <a:spcPts val="0"/>
                        </a:spcAft>
                      </a:pPr>
                      <a:r>
                        <a:rPr sz="1300" b="0">
                          <a:solidFill>
                            <a:srgbClr val="1F1F1F"/>
                          </a:solidFill>
                          <a:latin typeface="Calibri"/>
                        </a:rPr>
                        <a:t>deste Anexo I; (d) não haver disposição legal ou</a:t>
                      </a:r>
                    </a:p>
                    <a:p>
                      <a:pPr algn="l">
                        <a:lnSpc>
                          <a:spcPct val="100000"/>
                        </a:lnSpc>
                        <a:spcBef>
                          <a:spcPts val="0"/>
                        </a:spcBef>
                        <a:spcAft>
                          <a:spcPts val="0"/>
                        </a:spcAft>
                      </a:pPr>
                      <a:r>
                        <a:rPr sz="1300" b="0">
                          <a:solidFill>
                            <a:srgbClr val="1F1F1F"/>
                          </a:solidFill>
                          <a:latin typeface="Calibri"/>
                        </a:rPr>
                        <a:t>regulamentar aprovada, ou ordem judicial ou</a:t>
                      </a:r>
                    </a:p>
                    <a:p>
                      <a:pPr algn="l">
                        <a:lnSpc>
                          <a:spcPct val="100000"/>
                        </a:lnSpc>
                        <a:spcBef>
                          <a:spcPts val="0"/>
                        </a:spcBef>
                        <a:spcAft>
                          <a:spcPts val="0"/>
                        </a:spcAft>
                      </a:pPr>
                      <a:r>
                        <a:rPr sz="1300" b="0">
                          <a:solidFill>
                            <a:srgbClr val="1F1F1F"/>
                          </a:solidFill>
                          <a:latin typeface="Calibri"/>
                        </a:rPr>
                        <a:t>administrativa emitida, que tenha como objetivo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4.25 É vedada qualquer forma de antecipação de</a:t>
                      </a:r>
                    </a:p>
                    <a:p>
                      <a:pPr algn="l">
                        <a:lnSpc>
                          <a:spcPct val="100000"/>
                        </a:lnSpc>
                        <a:spcBef>
                          <a:spcPts val="0"/>
                        </a:spcBef>
                        <a:spcAft>
                          <a:spcPts val="0"/>
                        </a:spcAft>
                      </a:pPr>
                      <a:r>
                        <a:rPr sz="1300" b="0">
                          <a:solidFill>
                            <a:srgbClr val="1F1F1F"/>
                          </a:solidFill>
                          <a:latin typeface="Calibri"/>
                        </a:rPr>
                        <a:t>recursos às Cedentes/aos Endossantes para</a:t>
                      </a:r>
                    </a:p>
                    <a:p>
                      <a:pPr algn="l">
                        <a:lnSpc>
                          <a:spcPct val="100000"/>
                        </a:lnSpc>
                        <a:spcBef>
                          <a:spcPts val="0"/>
                        </a:spcBef>
                        <a:spcAft>
                          <a:spcPts val="0"/>
                        </a:spcAft>
                      </a:pPr>
                      <a:r>
                        <a:rPr sz="1300" b="0">
                          <a:solidFill>
                            <a:srgbClr val="1F1F1F"/>
                          </a:solidFill>
                          <a:latin typeface="Calibri"/>
                        </a:rPr>
                        <a:t>posterior reembolso pela Classe, seja pelo</a:t>
                      </a:r>
                    </a:p>
                    <a:p>
                      <a:pPr algn="l">
                        <a:lnSpc>
                          <a:spcPct val="100000"/>
                        </a:lnSpc>
                        <a:spcBef>
                          <a:spcPts val="0"/>
                        </a:spcBef>
                        <a:spcAft>
                          <a:spcPts val="0"/>
                        </a:spcAft>
                      </a:pPr>
                      <a:r>
                        <a:rPr sz="1300" b="0">
                          <a:solidFill>
                            <a:srgbClr val="1F1F1F"/>
                          </a:solidFill>
                          <a:latin typeface="Calibri"/>
                        </a:rPr>
                        <a:t>Administrador, Gestor, Custodiante, Consultora ou</a:t>
                      </a:r>
                    </a:p>
                    <a:p>
                      <a:pPr algn="l">
                        <a:lnSpc>
                          <a:spcPct val="100000"/>
                        </a:lnSpc>
                        <a:spcBef>
                          <a:spcPts val="0"/>
                        </a:spcBef>
                        <a:spcAft>
                          <a:spcPts val="0"/>
                        </a:spcAft>
                      </a:pPr>
                      <a:r>
                        <a:rPr sz="1300" b="0">
                          <a:solidFill>
                            <a:srgbClr val="1F1F1F"/>
                          </a:solidFill>
                          <a:latin typeface="Calibri"/>
                        </a:rPr>
                        <a:t>Agente de Cobrança.</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68/160</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Garantias e operação</a:t>
            </a:r>
          </a:p>
        </p:txBody>
      </p:sp>
      <p:graphicFrame>
        <p:nvGraphicFramePr>
          <p:cNvPr id="3" name="Table 2"/>
          <p:cNvGraphicFramePr>
            <a:graphicFrameLocks noGrp="1"/>
          </p:cNvGraphicFramePr>
          <p:nvPr/>
        </p:nvGraphicFramePr>
        <p:xfrm>
          <a:off x="438912" y="932688"/>
          <a:ext cx="11313870" cy="2084832"/>
        </p:xfrm>
        <a:graphic>
          <a:graphicData uri="http://schemas.openxmlformats.org/drawingml/2006/table">
            <a:tbl>
              <a:tblPr>
                <a:tableStyleId>{5C22544A-7EE6-4342-B048-85BDC9FD1C3A}</a:tableStyleId>
              </a:tblPr>
              <a:tblGrid>
                <a:gridCol w="2331720"/>
                <a:gridCol w="4491075"/>
                <a:gridCol w="4491075"/>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V CDT 1 · 62552447000120</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Global CP · 63953620000165</a:t>
                      </a:r>
                    </a:p>
                  </a:txBody>
                  <a:tcPr marL="91440" marR="91440" marT="41148" marB="41148" anchor="ctr">
                    <a:solidFill>
                      <a:srgbClr val="F7F7F7"/>
                    </a:solidFill>
                    <a:lnL>
                      <a:noFill/>
                    </a:lnL>
                    <a:lnR>
                      <a:noFill/>
                    </a:lnR>
                    <a:lnT>
                      <a:noFill/>
                    </a:lnT>
                    <a:lnB w="6350">
                      <a:solidFill>
                        <a:srgbClr val="D9DEE5"/>
                      </a:solidFill>
                    </a:lnB>
                  </a:tcPr>
                </a:tc>
              </a:tr>
              <a:tr h="1220724">
                <a:tc>
                  <a:txBody>
                    <a:bodyPr wrap="square">
                      <a:noAutofit/>
                    </a:bodyPr>
                    <a:lstStyle/>
                    <a:p>
                      <a:pPr algn="l">
                        <a:lnSpc>
                          <a:spcPct val="100000"/>
                        </a:lnSpc>
                        <a:spcBef>
                          <a:spcPts val="0"/>
                        </a:spcBef>
                        <a:spcAft>
                          <a:spcPts val="0"/>
                        </a:spcAft>
                      </a:pPr>
                      <a:r>
                        <a:rPr sz="1300" b="1">
                          <a:solidFill>
                            <a:srgbClr val="1F1F1F"/>
                          </a:solidFill>
                          <a:latin typeface="Calibri"/>
                        </a:rPr>
                        <a:t>Cobrança e servicing</a:t>
                      </a:r>
                    </a:p>
                    <a:p>
                      <a:pPr algn="l">
                        <a:lnSpc>
                          <a:spcPct val="100000"/>
                        </a:lnSpc>
                        <a:spcBef>
                          <a:spcPts val="0"/>
                        </a:spcBef>
                        <a:spcAft>
                          <a:spcPts val="0"/>
                        </a:spcAft>
                      </a:pPr>
                      <a:r>
                        <a:rPr sz="1300" b="1">
                          <a:solidFill>
                            <a:srgbClr val="1F1F1F"/>
                          </a:solidFill>
                          <a:latin typeface="Calibri"/>
                        </a:rPr>
                        <a:t>(continuação)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impedir ou impor limites ou exigências adicionais</a:t>
                      </a:r>
                    </a:p>
                    <a:p>
                      <a:pPr algn="l">
                        <a:lnSpc>
                          <a:spcPct val="100000"/>
                        </a:lnSpc>
                        <a:spcBef>
                          <a:spcPts val="0"/>
                        </a:spcBef>
                        <a:spcAft>
                          <a:spcPts val="0"/>
                        </a:spcAft>
                      </a:pPr>
                      <a:r>
                        <a:rPr sz="1300" b="0">
                          <a:solidFill>
                            <a:srgbClr val="1F1F1F"/>
                          </a:solidFill>
                          <a:latin typeface="Calibri"/>
                        </a:rPr>
                        <a:t>para o endosso de Direitos Creditórios</a:t>
                      </a:r>
                    </a:p>
                    <a:p>
                      <a:pPr algn="l">
                        <a:lnSpc>
                          <a:spcPct val="100000"/>
                        </a:lnSpc>
                        <a:spcBef>
                          <a:spcPts val="0"/>
                        </a:spcBef>
                        <a:spcAft>
                          <a:spcPts val="0"/>
                        </a:spcAft>
                      </a:pPr>
                      <a:r>
                        <a:rPr sz="1300" b="0">
                          <a:solidFill>
                            <a:srgbClr val="1F1F1F"/>
                          </a:solidFill>
                          <a:latin typeface="Calibri"/>
                        </a:rPr>
                        <a:t>decorrentes de transações dedutíveis da f olha de</a:t>
                      </a:r>
                    </a:p>
                    <a:p>
                      <a:pPr algn="l">
                        <a:lnSpc>
                          <a:spcPct val="100000"/>
                        </a:lnSpc>
                        <a:spcBef>
                          <a:spcPts val="0"/>
                        </a:spcBef>
                        <a:spcAft>
                          <a:spcPts val="0"/>
                        </a:spcAft>
                      </a:pPr>
                      <a:r>
                        <a:rPr sz="1300" b="0">
                          <a:solidFill>
                            <a:srgbClr val="1F1F1F"/>
                          </a:solidFill>
                          <a:latin typeface="Calibri"/>
                        </a:rPr>
                        <a:t>pagamento a f undos de investimento; (e) atendam</a:t>
                      </a:r>
                    </a:p>
                    <a:p>
                      <a:pPr algn="l">
                        <a:lnSpc>
                          <a:spcPct val="100000"/>
                        </a:lnSpc>
                        <a:spcBef>
                          <a:spcPts val="0"/>
                        </a:spcBef>
                        <a:spcAft>
                          <a:spcPts val="0"/>
                        </a:spcAft>
                      </a:pPr>
                      <a:r>
                        <a:rPr sz="1300" b="0">
                          <a:solidFill>
                            <a:srgbClr val="1F1F1F"/>
                          </a:solidFill>
                          <a:latin typeface="Calibri"/>
                        </a:rPr>
                        <a:t>à Política de Crédito e, conforme aplicável, à</a:t>
                      </a:r>
                    </a:p>
                    <a:p>
                      <a:pPr algn="l">
                        <a:lnSpc>
                          <a:spcPct val="100000"/>
                        </a:lnSpc>
                        <a:spcBef>
                          <a:spcPts val="0"/>
                        </a:spcBef>
                        <a:spcAft>
                          <a:spcPts val="0"/>
                        </a:spcAft>
                      </a:pPr>
                      <a:r>
                        <a:rPr sz="1300" b="0">
                          <a:solidFill>
                            <a:srgbClr val="1F1F1F"/>
                          </a:solidFill>
                          <a:latin typeface="Calibri"/>
                        </a:rPr>
                        <a:t>Política de Cobrança; e</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a:noFill/>
                    </a:lnB>
                  </a:tcPr>
                </a:tc>
              </a:tr>
              <a:tr h="470916">
                <a:tc>
                  <a:txBody>
                    <a:bodyPr wrap="square">
                      <a:noAutofit/>
                    </a:bodyPr>
                    <a:lstStyle/>
                    <a:p>
                      <a:pPr algn="l">
                        <a:lnSpc>
                          <a:spcPct val="100000"/>
                        </a:lnSpc>
                        <a:spcBef>
                          <a:spcPts val="0"/>
                        </a:spcBef>
                        <a:spcAft>
                          <a:spcPts val="0"/>
                        </a:spcAft>
                      </a:pPr>
                      <a:r>
                        <a:rPr sz="1300" b="1">
                          <a:solidFill>
                            <a:srgbClr val="1F1F1F"/>
                          </a:solidFill>
                          <a:latin typeface="Calibri"/>
                        </a:rPr>
                        <a:t>Conta de arrecadação e</a:t>
                      </a:r>
                    </a:p>
                    <a:p>
                      <a:pPr algn="l">
                        <a:lnSpc>
                          <a:spcPct val="100000"/>
                        </a:lnSpc>
                        <a:spcBef>
                          <a:spcPts val="0"/>
                        </a:spcBef>
                        <a:spcAft>
                          <a:spcPts val="0"/>
                        </a:spcAft>
                      </a:pPr>
                      <a:r>
                        <a:rPr sz="1300" b="1">
                          <a:solidFill>
                            <a:srgbClr val="1F1F1F"/>
                          </a:solidFill>
                          <a:latin typeface="Calibri"/>
                        </a:rPr>
                        <a:t>risco de trânsito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Extração pendente</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Extração pendente</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69/160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Garantias e operação</a:t>
            </a:r>
          </a:p>
        </p:txBody>
      </p:sp>
      <p:graphicFrame>
        <p:nvGraphicFramePr>
          <p:cNvPr id="3" name="Table 2"/>
          <p:cNvGraphicFramePr>
            <a:graphicFrameLocks noGrp="1"/>
          </p:cNvGraphicFramePr>
          <p:nvPr/>
        </p:nvGraphicFramePr>
        <p:xfrm>
          <a:off x="438912" y="932688"/>
          <a:ext cx="11313870" cy="5175504"/>
        </p:xfrm>
        <a:graphic>
          <a:graphicData uri="http://schemas.openxmlformats.org/drawingml/2006/table">
            <a:tbl>
              <a:tblPr>
                <a:tableStyleId>{5C22544A-7EE6-4342-B048-85BDC9FD1C3A}</a:tableStyleId>
              </a:tblPr>
              <a:tblGrid>
                <a:gridCol w="2331720"/>
                <a:gridCol w="4491075"/>
                <a:gridCol w="4491075"/>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V CDT 1 · 62552447000120</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Global CP · 63953620000165</a:t>
                      </a:r>
                    </a:p>
                  </a:txBody>
                  <a:tcPr marL="91440" marR="91440" marT="41148" marB="41148" anchor="ctr">
                    <a:solidFill>
                      <a:srgbClr val="F7F7F7"/>
                    </a:solidFill>
                    <a:lnL>
                      <a:noFill/>
                    </a:lnL>
                    <a:lnR>
                      <a:noFill/>
                    </a:lnR>
                    <a:lnT>
                      <a:noFill/>
                    </a:lnT>
                    <a:lnB w="6350">
                      <a:solidFill>
                        <a:srgbClr val="D9DEE5"/>
                      </a:solidFill>
                    </a:lnB>
                  </a:tcPr>
                </a:tc>
              </a:tr>
              <a:tr h="4782312">
                <a:tc>
                  <a:txBody>
                    <a:bodyPr wrap="square">
                      <a:noAutofit/>
                    </a:bodyPr>
                    <a:lstStyle/>
                    <a:p>
                      <a:pPr algn="l">
                        <a:lnSpc>
                          <a:spcPct val="100000"/>
                        </a:lnSpc>
                        <a:spcBef>
                          <a:spcPts val="0"/>
                        </a:spcBef>
                        <a:spcAft>
                          <a:spcPts val="0"/>
                        </a:spcAft>
                      </a:pPr>
                      <a:r>
                        <a:rPr sz="1300" b="1">
                          <a:solidFill>
                            <a:srgbClr val="1F1F1F"/>
                          </a:solidFill>
                          <a:latin typeface="Calibri"/>
                        </a:rPr>
                        <a:t>Verificação de lastro e</a:t>
                      </a:r>
                    </a:p>
                    <a:p>
                      <a:pPr algn="l">
                        <a:lnSpc>
                          <a:spcPct val="100000"/>
                        </a:lnSpc>
                        <a:spcBef>
                          <a:spcPts val="0"/>
                        </a:spcBef>
                        <a:spcAft>
                          <a:spcPts val="0"/>
                        </a:spcAft>
                      </a:pPr>
                      <a:r>
                        <a:rPr sz="1300" b="1">
                          <a:solidFill>
                            <a:srgbClr val="1F1F1F"/>
                          </a:solidFill>
                          <a:latin typeface="Calibri"/>
                        </a:rPr>
                        <a:t>amostragem</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Verificação trimestral: amostra aleatória</a:t>
                      </a:r>
                    </a:p>
                    <a:p>
                      <a:pPr algn="l">
                        <a:lnSpc>
                          <a:spcPct val="100000"/>
                        </a:lnSpc>
                        <a:spcBef>
                          <a:spcPts val="0"/>
                        </a:spcBef>
                        <a:spcAft>
                          <a:spcPts val="0"/>
                        </a:spcAft>
                      </a:pPr>
                      <a:r>
                        <a:rPr sz="1300" b="0">
                          <a:solidFill>
                            <a:srgbClr val="1F1F1F"/>
                          </a:solidFill>
                          <a:latin typeface="Calibri"/>
                        </a:rPr>
                        <a:t>simples, distribuição binomial aproximada à</a:t>
                      </a:r>
                    </a:p>
                    <a:p>
                      <a:pPr algn="l">
                        <a:lnSpc>
                          <a:spcPct val="100000"/>
                        </a:lnSpc>
                        <a:spcBef>
                          <a:spcPts val="0"/>
                        </a:spcBef>
                        <a:spcAft>
                          <a:spcPts val="0"/>
                        </a:spcAft>
                      </a:pPr>
                      <a:r>
                        <a:rPr sz="1300" b="0">
                          <a:solidFill>
                            <a:srgbClr val="1F1F1F"/>
                          </a:solidFill>
                          <a:latin typeface="Calibri"/>
                        </a:rPr>
                        <a:t>normal, confiança 95%, margem de erro 5%;</a:t>
                      </a:r>
                    </a:p>
                    <a:p>
                      <a:pPr algn="l">
                        <a:lnSpc>
                          <a:spcPct val="100000"/>
                        </a:lnSpc>
                        <a:spcBef>
                          <a:spcPts val="0"/>
                        </a:spcBef>
                        <a:spcAft>
                          <a:spcPts val="0"/>
                        </a:spcAft>
                      </a:pPr>
                      <a:r>
                        <a:rPr sz="1300" b="0">
                          <a:solidFill>
                            <a:srgbClr val="1F1F1F"/>
                          </a:solidFill>
                          <a:latin typeface="Calibri"/>
                        </a:rPr>
                        <a:t>créditos inadimplidos/substituídos do trimestre</a:t>
                      </a:r>
                    </a:p>
                    <a:p>
                      <a:pPr algn="l">
                        <a:lnSpc>
                          <a:spcPct val="100000"/>
                        </a:lnSpc>
                        <a:spcBef>
                          <a:spcPts val="0"/>
                        </a:spcBef>
                        <a:spcAft>
                          <a:spcPts val="0"/>
                        </a:spcAft>
                      </a:pPr>
                      <a:r>
                        <a:rPr sz="1300" b="0">
                          <a:solidFill>
                            <a:srgbClr val="1F1F1F"/>
                          </a:solidFill>
                          <a:latin typeface="Calibri"/>
                        </a:rPr>
                        <a:t>verificados integralmente. Vícios comunicados em</a:t>
                      </a:r>
                    </a:p>
                    <a:p>
                      <a:pPr algn="l">
                        <a:lnSpc>
                          <a:spcPct val="100000"/>
                        </a:lnSpc>
                        <a:spcBef>
                          <a:spcPts val="0"/>
                        </a:spcBef>
                        <a:spcAft>
                          <a:spcPts val="0"/>
                        </a:spcAft>
                      </a:pPr>
                      <a:r>
                        <a:rPr sz="1300" b="0">
                          <a:solidFill>
                            <a:srgbClr val="1F1F1F"/>
                          </a:solidFill>
                          <a:latin typeface="Calibri"/>
                        </a:rPr>
                        <a:t>5 DU.</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Complemento II (Ao Anexo I) PARÂMETROS PARA A</a:t>
                      </a:r>
                    </a:p>
                    <a:p>
                      <a:pPr algn="l">
                        <a:lnSpc>
                          <a:spcPct val="100000"/>
                        </a:lnSpc>
                        <a:spcBef>
                          <a:spcPts val="0"/>
                        </a:spcBef>
                        <a:spcAft>
                          <a:spcPts val="0"/>
                        </a:spcAft>
                      </a:pPr>
                      <a:r>
                        <a:rPr sz="1300" b="0">
                          <a:solidFill>
                            <a:srgbClr val="1F1F1F"/>
                          </a:solidFill>
                          <a:latin typeface="Calibri"/>
                        </a:rPr>
                        <a:t>VERIFICAÇÃO DO LASTRO POR AMOSTRAGEM 1. O Gestor</a:t>
                      </a:r>
                    </a:p>
                    <a:p>
                      <a:pPr algn="l">
                        <a:lnSpc>
                          <a:spcPct val="100000"/>
                        </a:lnSpc>
                        <a:spcBef>
                          <a:spcPts val="0"/>
                        </a:spcBef>
                        <a:spcAft>
                          <a:spcPts val="0"/>
                        </a:spcAft>
                      </a:pPr>
                      <a:r>
                        <a:rPr sz="1300" b="0">
                          <a:solidFill>
                            <a:srgbClr val="1F1F1F"/>
                          </a:solidFill>
                          <a:latin typeface="Calibri"/>
                        </a:rPr>
                        <a:t>deverá realizar a verificação dos Documentos</a:t>
                      </a:r>
                    </a:p>
                    <a:p>
                      <a:pPr algn="l">
                        <a:lnSpc>
                          <a:spcPct val="100000"/>
                        </a:lnSpc>
                        <a:spcBef>
                          <a:spcPts val="0"/>
                        </a:spcBef>
                        <a:spcAft>
                          <a:spcPts val="0"/>
                        </a:spcAft>
                      </a:pPr>
                      <a:r>
                        <a:rPr sz="1300" b="0">
                          <a:solidFill>
                            <a:srgbClr val="1F1F1F"/>
                          </a:solidFill>
                          <a:latin typeface="Calibri"/>
                        </a:rPr>
                        <a:t>Comprobatórios relativos aos Direitos Creditórios</a:t>
                      </a:r>
                    </a:p>
                    <a:p>
                      <a:pPr algn="l">
                        <a:lnSpc>
                          <a:spcPct val="100000"/>
                        </a:lnSpc>
                        <a:spcBef>
                          <a:spcPts val="0"/>
                        </a:spcBef>
                        <a:spcAft>
                          <a:spcPts val="0"/>
                        </a:spcAft>
                      </a:pPr>
                      <a:r>
                        <a:rPr sz="1300" b="0">
                          <a:solidFill>
                            <a:srgbClr val="1F1F1F"/>
                          </a:solidFill>
                          <a:latin typeface="Calibri"/>
                        </a:rPr>
                        <a:t>adquiridos pela Classe trimestralmente; sendo</a:t>
                      </a:r>
                    </a:p>
                    <a:p>
                      <a:pPr algn="l">
                        <a:lnSpc>
                          <a:spcPct val="100000"/>
                        </a:lnSpc>
                        <a:spcBef>
                          <a:spcPts val="0"/>
                        </a:spcBef>
                        <a:spcAft>
                          <a:spcPts val="0"/>
                        </a:spcAft>
                      </a:pPr>
                      <a:r>
                        <a:rPr sz="1300" b="0">
                          <a:solidFill>
                            <a:srgbClr val="1F1F1F"/>
                          </a:solidFill>
                          <a:latin typeface="Calibri"/>
                        </a:rPr>
                        <a:t>certo que o Endossante e/ou o Agente de</a:t>
                      </a:r>
                    </a:p>
                    <a:p>
                      <a:pPr algn="l">
                        <a:lnSpc>
                          <a:spcPct val="100000"/>
                        </a:lnSpc>
                        <a:spcBef>
                          <a:spcPts val="0"/>
                        </a:spcBef>
                        <a:spcAft>
                          <a:spcPts val="0"/>
                        </a:spcAft>
                      </a:pPr>
                      <a:r>
                        <a:rPr sz="1300" b="0">
                          <a:solidFill>
                            <a:srgbClr val="1F1F1F"/>
                          </a:solidFill>
                          <a:latin typeface="Calibri"/>
                        </a:rPr>
                        <a:t>Retenção/Cobrança, conforme o caso, deverão</a:t>
                      </a:r>
                    </a:p>
                    <a:p>
                      <a:pPr algn="l">
                        <a:lnSpc>
                          <a:spcPct val="100000"/>
                        </a:lnSpc>
                        <a:spcBef>
                          <a:spcPts val="0"/>
                        </a:spcBef>
                        <a:spcAft>
                          <a:spcPts val="0"/>
                        </a:spcAft>
                      </a:pPr>
                      <a:r>
                        <a:rPr sz="1300" b="0">
                          <a:solidFill>
                            <a:srgbClr val="1F1F1F"/>
                          </a:solidFill>
                          <a:latin typeface="Calibri"/>
                        </a:rPr>
                        <a:t>enviar os Documentos Comprobatórios para o</a:t>
                      </a:r>
                    </a:p>
                    <a:p>
                      <a:pPr algn="l">
                        <a:lnSpc>
                          <a:spcPct val="100000"/>
                        </a:lnSpc>
                        <a:spcBef>
                          <a:spcPts val="0"/>
                        </a:spcBef>
                        <a:spcAft>
                          <a:spcPts val="0"/>
                        </a:spcAft>
                      </a:pPr>
                      <a:r>
                        <a:rPr sz="1300" b="0">
                          <a:solidFill>
                            <a:srgbClr val="1F1F1F"/>
                          </a:solidFill>
                          <a:latin typeface="Calibri"/>
                        </a:rPr>
                        <a:t>Gestor, conforme definido nos itens conforme</a:t>
                      </a:r>
                    </a:p>
                    <a:p>
                      <a:pPr algn="l">
                        <a:lnSpc>
                          <a:spcPct val="100000"/>
                        </a:lnSpc>
                        <a:spcBef>
                          <a:spcPts val="0"/>
                        </a:spcBef>
                        <a:spcAft>
                          <a:spcPts val="0"/>
                        </a:spcAft>
                      </a:pPr>
                      <a:r>
                        <a:rPr sz="1300" b="0">
                          <a:solidFill>
                            <a:srgbClr val="1F1F1F"/>
                          </a:solidFill>
                          <a:latin typeface="Calibri"/>
                        </a:rPr>
                        <a:t>definido nos itens 11.16 e</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11.17 do Anexo I. 2. Observado o disposto no</a:t>
                      </a:r>
                    </a:p>
                    <a:p>
                      <a:pPr algn="l">
                        <a:lnSpc>
                          <a:spcPct val="100000"/>
                        </a:lnSpc>
                        <a:spcBef>
                          <a:spcPts val="0"/>
                        </a:spcBef>
                        <a:spcAft>
                          <a:spcPts val="0"/>
                        </a:spcAft>
                      </a:pPr>
                      <a:r>
                        <a:rPr sz="1300" b="0">
                          <a:solidFill>
                            <a:srgbClr val="1F1F1F"/>
                          </a:solidFill>
                          <a:latin typeface="Calibri"/>
                        </a:rPr>
                        <a:t>inciso (i) do item 3 abaixo, numa data-base</a:t>
                      </a:r>
                    </a:p>
                    <a:p>
                      <a:pPr algn="l">
                        <a:lnSpc>
                          <a:spcPct val="100000"/>
                        </a:lnSpc>
                        <a:spcBef>
                          <a:spcPts val="0"/>
                        </a:spcBef>
                        <a:spcAft>
                          <a:spcPts val="0"/>
                        </a:spcAft>
                      </a:pPr>
                      <a:r>
                        <a:rPr sz="1300" b="0">
                          <a:solidFill>
                            <a:srgbClr val="1F1F1F"/>
                          </a:solidFill>
                          <a:latin typeface="Calibri"/>
                        </a:rPr>
                        <a:t>pré-estabelecida, será selecionada uma amostra</a:t>
                      </a:r>
                    </a:p>
                    <a:p>
                      <a:pPr algn="l">
                        <a:lnSpc>
                          <a:spcPct val="100000"/>
                        </a:lnSpc>
                        <a:spcBef>
                          <a:spcPts val="0"/>
                        </a:spcBef>
                        <a:spcAft>
                          <a:spcPts val="0"/>
                        </a:spcAft>
                      </a:pPr>
                      <a:r>
                        <a:rPr sz="1300" b="0">
                          <a:solidFill>
                            <a:srgbClr val="1F1F1F"/>
                          </a:solidFill>
                          <a:latin typeface="Calibri"/>
                        </a:rPr>
                        <a:t>aleatória simples para a determinação de um</a:t>
                      </a:r>
                    </a:p>
                    <a:p>
                      <a:pPr algn="l">
                        <a:lnSpc>
                          <a:spcPct val="100000"/>
                        </a:lnSpc>
                        <a:spcBef>
                          <a:spcPts val="0"/>
                        </a:spcBef>
                        <a:spcAft>
                          <a:spcPts val="0"/>
                        </a:spcAft>
                      </a:pPr>
                      <a:r>
                        <a:rPr sz="1300" b="0">
                          <a:solidFill>
                            <a:srgbClr val="1F1F1F"/>
                          </a:solidFill>
                          <a:latin typeface="Calibri"/>
                        </a:rPr>
                        <a:t>intervalo de confiança para a proporção de</a:t>
                      </a:r>
                    </a:p>
                    <a:p>
                      <a:pPr algn="l">
                        <a:lnSpc>
                          <a:spcPct val="100000"/>
                        </a:lnSpc>
                        <a:spcBef>
                          <a:spcPts val="0"/>
                        </a:spcBef>
                        <a:spcAft>
                          <a:spcPts val="0"/>
                        </a:spcAft>
                      </a:pPr>
                      <a:r>
                        <a:rPr sz="1300" b="0">
                          <a:solidFill>
                            <a:srgbClr val="1F1F1F"/>
                          </a:solidFill>
                          <a:latin typeface="Calibri"/>
                        </a:rPr>
                        <a:t>eventuais falhas, baseado numa distribuição</a:t>
                      </a:r>
                    </a:p>
                    <a:p>
                      <a:pPr algn="l">
                        <a:lnSpc>
                          <a:spcPct val="100000"/>
                        </a:lnSpc>
                        <a:spcBef>
                          <a:spcPts val="0"/>
                        </a:spcBef>
                        <a:spcAft>
                          <a:spcPts val="0"/>
                        </a:spcAft>
                      </a:pPr>
                      <a:r>
                        <a:rPr sz="1300" b="0">
                          <a:solidFill>
                            <a:srgbClr val="1F1F1F"/>
                          </a:solidFill>
                          <a:latin typeface="Calibri"/>
                        </a:rPr>
                        <a:t>binomial aproximada a uma distribuição normal com</a:t>
                      </a:r>
                    </a:p>
                    <a:p>
                      <a:pPr algn="l">
                        <a:lnSpc>
                          <a:spcPct val="100000"/>
                        </a:lnSpc>
                        <a:spcBef>
                          <a:spcPts val="0"/>
                        </a:spcBef>
                        <a:spcAft>
                          <a:spcPts val="0"/>
                        </a:spcAft>
                      </a:pPr>
                      <a:r>
                        <a:rPr sz="1300" b="0">
                          <a:solidFill>
                            <a:srgbClr val="1F1F1F"/>
                          </a:solidFill>
                          <a:latin typeface="Calibri"/>
                        </a:rPr>
                        <a:t>95% (noventa e cinco por cento) de nível de</a:t>
                      </a:r>
                    </a:p>
                    <a:p>
                      <a:pPr algn="l">
                        <a:lnSpc>
                          <a:spcPct val="100000"/>
                        </a:lnSpc>
                        <a:spcBef>
                          <a:spcPts val="0"/>
                        </a:spcBef>
                        <a:spcAft>
                          <a:spcPts val="0"/>
                        </a:spcAft>
                      </a:pPr>
                      <a:r>
                        <a:rPr sz="1300" b="0">
                          <a:solidFill>
                            <a:srgbClr val="1F1F1F"/>
                          </a:solidFill>
                          <a:latin typeface="Calibri"/>
                        </a:rPr>
                        <a:t>confiança, visando a uma margem de erro de 5%</a:t>
                      </a:r>
                    </a:p>
                    <a:p>
                      <a:pPr algn="l">
                        <a:lnSpc>
                          <a:spcPct val="100000"/>
                        </a:lnSpc>
                        <a:spcBef>
                          <a:spcPts val="0"/>
                        </a:spcBef>
                        <a:spcAft>
                          <a:spcPts val="0"/>
                        </a:spcAft>
                      </a:pPr>
                      <a:r>
                        <a:rPr sz="1300" b="0">
                          <a:solidFill>
                            <a:srgbClr val="1F1F1F"/>
                          </a:solidFill>
                          <a:latin typeface="Calibri"/>
                        </a:rPr>
                        <a:t>(cinco por cento), independentemente do cedente</a:t>
                      </a:r>
                    </a:p>
                    <a:p>
                      <a:pPr algn="l">
                        <a:lnSpc>
                          <a:spcPct val="100000"/>
                        </a:lnSpc>
                        <a:spcBef>
                          <a:spcPts val="0"/>
                        </a:spcBef>
                        <a:spcAft>
                          <a:spcPts val="0"/>
                        </a:spcAft>
                      </a:pPr>
                      <a:r>
                        <a:rPr sz="1300" b="0">
                          <a:solidFill>
                            <a:srgbClr val="1F1F1F"/>
                          </a:solidFill>
                          <a:latin typeface="Calibri"/>
                        </a:rPr>
                        <a:t>dos Direitos Creditórios. 3. O escopo da análise</a:t>
                      </a:r>
                    </a:p>
                    <a:p>
                      <a:pPr algn="l">
                        <a:lnSpc>
                          <a:spcPct val="100000"/>
                        </a:lnSpc>
                        <a:spcBef>
                          <a:spcPts val="0"/>
                        </a:spcBef>
                        <a:spcAft>
                          <a:spcPts val="0"/>
                        </a:spcAft>
                      </a:pPr>
                      <a:r>
                        <a:rPr sz="1300" b="0">
                          <a:solidFill>
                            <a:srgbClr val="1F1F1F"/>
                          </a:solidFill>
                          <a:latin typeface="Calibri"/>
                        </a:rPr>
                        <a:t>da documentação que evidencia o lastro dos</a:t>
                      </a:r>
                    </a:p>
                    <a:p>
                      <a:pPr algn="l">
                        <a:lnSpc>
                          <a:spcPct val="100000"/>
                        </a:lnSpc>
                        <a:spcBef>
                          <a:spcPts val="0"/>
                        </a:spcBef>
                        <a:spcAft>
                          <a:spcPts val="0"/>
                        </a:spcAft>
                      </a:pPr>
                      <a:r>
                        <a:rPr sz="1300" b="0">
                          <a:solidFill>
                            <a:srgbClr val="1F1F1F"/>
                          </a:solidFill>
                          <a:latin typeface="Calibri"/>
                        </a:rPr>
                        <a:t>Direitos Creditórios contempla a verificação da</a:t>
                      </a:r>
                    </a:p>
                    <a:p>
                      <a:pPr algn="l">
                        <a:lnSpc>
                          <a:spcPct val="100000"/>
                        </a:lnSpc>
                        <a:spcBef>
                          <a:spcPts val="0"/>
                        </a:spcBef>
                        <a:spcAft>
                          <a:spcPts val="0"/>
                        </a:spcAft>
                      </a:pPr>
                      <a:r>
                        <a:rPr sz="1300" b="0">
                          <a:solidFill>
                            <a:srgbClr val="1F1F1F"/>
                          </a:solidFill>
                          <a:latin typeface="Calibri"/>
                        </a:rPr>
                        <a:t>existência dos respectivos Documentos</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70/160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Garantias e operação</a:t>
            </a:r>
          </a:p>
        </p:txBody>
      </p:sp>
      <p:graphicFrame>
        <p:nvGraphicFramePr>
          <p:cNvPr id="3" name="Table 2"/>
          <p:cNvGraphicFramePr>
            <a:graphicFrameLocks noGrp="1"/>
          </p:cNvGraphicFramePr>
          <p:nvPr/>
        </p:nvGraphicFramePr>
        <p:xfrm>
          <a:off x="438912" y="932688"/>
          <a:ext cx="11313870" cy="2551176"/>
        </p:xfrm>
        <a:graphic>
          <a:graphicData uri="http://schemas.openxmlformats.org/drawingml/2006/table">
            <a:tbl>
              <a:tblPr>
                <a:tableStyleId>{5C22544A-7EE6-4342-B048-85BDC9FD1C3A}</a:tableStyleId>
              </a:tblPr>
              <a:tblGrid>
                <a:gridCol w="2331720"/>
                <a:gridCol w="4491075"/>
                <a:gridCol w="4491075"/>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V CDT 1 · 62552447000120</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Global CP · 63953620000165</a:t>
                      </a:r>
                    </a:p>
                  </a:txBody>
                  <a:tcPr marL="91440" marR="91440" marT="41148" marB="41148" anchor="ctr">
                    <a:solidFill>
                      <a:srgbClr val="F7F7F7"/>
                    </a:solidFill>
                    <a:lnL>
                      <a:noFill/>
                    </a:lnL>
                    <a:lnR>
                      <a:noFill/>
                    </a:lnR>
                    <a:lnT>
                      <a:noFill/>
                    </a:lnT>
                    <a:lnB w="6350">
                      <a:solidFill>
                        <a:srgbClr val="D9DEE5"/>
                      </a:solidFill>
                    </a:lnB>
                  </a:tcPr>
                </a:tc>
              </a:tr>
              <a:tr h="2157984">
                <a:tc>
                  <a:txBody>
                    <a:bodyPr wrap="square">
                      <a:noAutofit/>
                    </a:bodyPr>
                    <a:lstStyle/>
                    <a:p>
                      <a:pPr algn="l">
                        <a:lnSpc>
                          <a:spcPct val="100000"/>
                        </a:lnSpc>
                        <a:spcBef>
                          <a:spcPts val="0"/>
                        </a:spcBef>
                        <a:spcAft>
                          <a:spcPts val="0"/>
                        </a:spcAft>
                      </a:pPr>
                      <a:r>
                        <a:rPr sz="1300" b="1">
                          <a:solidFill>
                            <a:srgbClr val="1F1F1F"/>
                          </a:solidFill>
                          <a:latin typeface="Calibri"/>
                        </a:rPr>
                        <a:t>Verificação de lastro e</a:t>
                      </a:r>
                    </a:p>
                    <a:p>
                      <a:pPr algn="l">
                        <a:lnSpc>
                          <a:spcPct val="100000"/>
                        </a:lnSpc>
                        <a:spcBef>
                          <a:spcPts val="0"/>
                        </a:spcBef>
                        <a:spcAft>
                          <a:spcPts val="0"/>
                        </a:spcAft>
                      </a:pPr>
                      <a:r>
                        <a:rPr sz="1300" b="1">
                          <a:solidFill>
                            <a:srgbClr val="1F1F1F"/>
                          </a:solidFill>
                          <a:latin typeface="Calibri"/>
                        </a:rPr>
                        <a:t>amostragem (continuação)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Comprobatórios, conforme abaixo discriminado: i.</a:t>
                      </a:r>
                    </a:p>
                    <a:p>
                      <a:pPr algn="l">
                        <a:lnSpc>
                          <a:spcPct val="100000"/>
                        </a:lnSpc>
                        <a:spcBef>
                          <a:spcPts val="0"/>
                        </a:spcBef>
                        <a:spcAft>
                          <a:spcPts val="0"/>
                        </a:spcAft>
                      </a:pPr>
                      <a:r>
                        <a:rPr sz="1300" b="0">
                          <a:solidFill>
                            <a:srgbClr val="1F1F1F"/>
                          </a:solidFill>
                          <a:latin typeface="Calibri"/>
                        </a:rPr>
                        <a:t>obtenção de base de dados analítica por Direitos</a:t>
                      </a:r>
                    </a:p>
                    <a:p>
                      <a:pPr algn="l">
                        <a:lnSpc>
                          <a:spcPct val="100000"/>
                        </a:lnSpc>
                        <a:spcBef>
                          <a:spcPts val="0"/>
                        </a:spcBef>
                        <a:spcAft>
                          <a:spcPts val="0"/>
                        </a:spcAft>
                      </a:pPr>
                      <a:r>
                        <a:rPr sz="1300" b="0">
                          <a:solidFill>
                            <a:srgbClr val="1F1F1F"/>
                          </a:solidFill>
                          <a:latin typeface="Calibri"/>
                        </a:rPr>
                        <a:t>Creditórios integrantes da Carteira; ii. seleção</a:t>
                      </a:r>
                    </a:p>
                    <a:p>
                      <a:pPr algn="l">
                        <a:lnSpc>
                          <a:spcPct val="100000"/>
                        </a:lnSpc>
                        <a:spcBef>
                          <a:spcPts val="0"/>
                        </a:spcBef>
                        <a:spcAft>
                          <a:spcPts val="0"/>
                        </a:spcAft>
                      </a:pPr>
                      <a:r>
                        <a:rPr sz="1300" b="0">
                          <a:solidFill>
                            <a:srgbClr val="1F1F1F"/>
                          </a:solidFill>
                          <a:latin typeface="Calibri"/>
                        </a:rPr>
                        <a:t>de uma amostra de acordo com as fórmulas abaixo.</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Riscos Operacionais (i) Risco de irregularidade</a:t>
                      </a:r>
                    </a:p>
                    <a:p>
                      <a:pPr algn="l">
                        <a:lnSpc>
                          <a:spcPct val="100000"/>
                        </a:lnSpc>
                        <a:spcBef>
                          <a:spcPts val="0"/>
                        </a:spcBef>
                        <a:spcAft>
                          <a:spcPts val="0"/>
                        </a:spcAft>
                      </a:pPr>
                      <a:r>
                        <a:rPr sz="1300" b="0">
                          <a:solidFill>
                            <a:srgbClr val="1F1F1F"/>
                          </a:solidFill>
                          <a:latin typeface="Calibri"/>
                        </a:rPr>
                        <a:t>dos Documentos Comprobatórios e/ou Documentos</a:t>
                      </a:r>
                    </a:p>
                    <a:p>
                      <a:pPr algn="l">
                        <a:lnSpc>
                          <a:spcPct val="100000"/>
                        </a:lnSpc>
                        <a:spcBef>
                          <a:spcPts val="0"/>
                        </a:spcBef>
                        <a:spcAft>
                          <a:spcPts val="0"/>
                        </a:spcAft>
                      </a:pPr>
                      <a:r>
                        <a:rPr sz="1300" b="0">
                          <a:solidFill>
                            <a:srgbClr val="1F1F1F"/>
                          </a:solidFill>
                          <a:latin typeface="Calibri"/>
                        </a:rPr>
                        <a:t>Suporte: o Gestor, ou terceiro por ele</a:t>
                      </a:r>
                    </a:p>
                    <a:p>
                      <a:pPr algn="l">
                        <a:lnSpc>
                          <a:spcPct val="100000"/>
                        </a:lnSpc>
                        <a:spcBef>
                          <a:spcPts val="0"/>
                        </a:spcBef>
                        <a:spcAft>
                          <a:spcPts val="0"/>
                        </a:spcAft>
                      </a:pPr>
                      <a:r>
                        <a:rPr sz="1300" b="0">
                          <a:solidFill>
                            <a:srgbClr val="1F1F1F"/>
                          </a:solidFill>
                          <a:latin typeface="Calibri"/>
                        </a:rPr>
                        <a:t>contratado, deverá realizar a verificação da</a:t>
                      </a:r>
                    </a:p>
                    <a:p>
                      <a:pPr algn="l">
                        <a:lnSpc>
                          <a:spcPct val="100000"/>
                        </a:lnSpc>
                        <a:spcBef>
                          <a:spcPts val="0"/>
                        </a:spcBef>
                        <a:spcAft>
                          <a:spcPts val="0"/>
                        </a:spcAft>
                      </a:pPr>
                      <a:r>
                        <a:rPr sz="1300" b="0">
                          <a:solidFill>
                            <a:srgbClr val="1F1F1F"/>
                          </a:solidFill>
                          <a:latin typeface="Calibri"/>
                        </a:rPr>
                        <a:t>regularidade dos Documentos Comprobatórios e</a:t>
                      </a:r>
                    </a:p>
                    <a:p>
                      <a:pPr algn="l">
                        <a:lnSpc>
                          <a:spcPct val="100000"/>
                        </a:lnSpc>
                        <a:spcBef>
                          <a:spcPts val="0"/>
                        </a:spcBef>
                        <a:spcAft>
                          <a:spcPts val="0"/>
                        </a:spcAft>
                      </a:pPr>
                      <a:r>
                        <a:rPr sz="1300" b="0">
                          <a:solidFill>
                            <a:srgbClr val="1F1F1F"/>
                          </a:solidFill>
                          <a:latin typeface="Calibri"/>
                        </a:rPr>
                        <a:t>Documentos Suporte.</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71/160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Hedge e prestadores</a:t>
            </a:r>
          </a:p>
        </p:txBody>
      </p:sp>
      <p:graphicFrame>
        <p:nvGraphicFramePr>
          <p:cNvPr id="3" name="Table 2"/>
          <p:cNvGraphicFramePr>
            <a:graphicFrameLocks noGrp="1"/>
          </p:cNvGraphicFramePr>
          <p:nvPr/>
        </p:nvGraphicFramePr>
        <p:xfrm>
          <a:off x="438912" y="932688"/>
          <a:ext cx="11313868" cy="5253228"/>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4782312">
                <a:tc>
                  <a:txBody>
                    <a:bodyPr wrap="square">
                      <a:noAutofit/>
                    </a:bodyPr>
                    <a:lstStyle/>
                    <a:p>
                      <a:pPr algn="l">
                        <a:lnSpc>
                          <a:spcPct val="100000"/>
                        </a:lnSpc>
                        <a:spcBef>
                          <a:spcPts val="0"/>
                        </a:spcBef>
                        <a:spcAft>
                          <a:spcPts val="0"/>
                        </a:spcAft>
                      </a:pPr>
                      <a:r>
                        <a:rPr sz="1300" b="1">
                          <a:solidFill>
                            <a:srgbClr val="1F1F1F"/>
                          </a:solidFill>
                          <a:latin typeface="Calibri"/>
                        </a:rPr>
                        <a:t>Finalidade e limites de</a:t>
                      </a:r>
                    </a:p>
                    <a:p>
                      <a:pPr algn="l">
                        <a:lnSpc>
                          <a:spcPct val="100000"/>
                        </a:lnSpc>
                        <a:spcBef>
                          <a:spcPts val="0"/>
                        </a:spcBef>
                        <a:spcAft>
                          <a:spcPts val="0"/>
                        </a:spcAft>
                      </a:pPr>
                      <a:r>
                        <a:rPr sz="1300" b="1">
                          <a:solidFill>
                            <a:srgbClr val="1F1F1F"/>
                          </a:solidFill>
                          <a:latin typeface="Calibri"/>
                        </a:rPr>
                        <a:t>derivativos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Derivativos</a:t>
                      </a:r>
                    </a:p>
                    <a:p>
                      <a:pPr algn="l">
                        <a:lnSpc>
                          <a:spcPct val="100000"/>
                        </a:lnSpc>
                        <a:spcBef>
                          <a:spcPts val="0"/>
                        </a:spcBef>
                        <a:spcAft>
                          <a:spcPts val="0"/>
                        </a:spcAft>
                      </a:pPr>
                      <a:r>
                        <a:rPr sz="1300" b="0">
                          <a:solidFill>
                            <a:srgbClr val="1F1F1F"/>
                          </a:solidFill>
                          <a:latin typeface="Calibri"/>
                        </a:rPr>
                        <a:t>exclusivamente para</a:t>
                      </a:r>
                    </a:p>
                    <a:p>
                      <a:pPr algn="l">
                        <a:lnSpc>
                          <a:spcPct val="100000"/>
                        </a:lnSpc>
                        <a:spcBef>
                          <a:spcPts val="0"/>
                        </a:spcBef>
                        <a:spcAft>
                          <a:spcPts val="0"/>
                        </a:spcAft>
                      </a:pPr>
                      <a:r>
                        <a:rPr sz="1300" b="0">
                          <a:solidFill>
                            <a:srgbClr val="1F1F1F"/>
                          </a:solidFill>
                          <a:latin typeface="Calibri"/>
                        </a:rPr>
                        <a:t>proteção ou troca de</a:t>
                      </a:r>
                    </a:p>
                    <a:p>
                      <a:pPr algn="l">
                        <a:lnSpc>
                          <a:spcPct val="100000"/>
                        </a:lnSpc>
                        <a:spcBef>
                          <a:spcPts val="0"/>
                        </a:spcBef>
                        <a:spcAft>
                          <a:spcPts val="0"/>
                        </a:spcAft>
                      </a:pPr>
                      <a:r>
                        <a:rPr sz="1300" b="0">
                          <a:solidFill>
                            <a:srgbClr val="1F1F1F"/>
                          </a:solidFill>
                          <a:latin typeface="Calibri"/>
                        </a:rPr>
                        <a:t>indexador, sem aportes</a:t>
                      </a:r>
                    </a:p>
                    <a:p>
                      <a:pPr algn="l">
                        <a:lnSpc>
                          <a:spcPct val="100000"/>
                        </a:lnSpc>
                        <a:spcBef>
                          <a:spcPts val="0"/>
                        </a:spcBef>
                        <a:spcAft>
                          <a:spcPts val="0"/>
                        </a:spcAft>
                      </a:pPr>
                      <a:r>
                        <a:rPr sz="1300" b="0">
                          <a:solidFill>
                            <a:srgbClr val="1F1F1F"/>
                          </a:solidFill>
                          <a:latin typeface="Calibri"/>
                        </a:rPr>
                        <a:t>de capital adicionais.</a:t>
                      </a:r>
                    </a:p>
                    <a:p>
                      <a:pPr algn="l">
                        <a:lnSpc>
                          <a:spcPct val="100000"/>
                        </a:lnSpc>
                        <a:spcBef>
                          <a:spcPts val="0"/>
                        </a:spcBef>
                        <a:spcAft>
                          <a:spcPts val="0"/>
                        </a:spcAft>
                      </a:pPr>
                      <a:r>
                        <a:rPr sz="1300" b="0">
                          <a:solidFill>
                            <a:srgbClr val="1F1F1F"/>
                          </a:solidFill>
                          <a:latin typeface="Calibri"/>
                        </a:rPr>
                        <a:t>Day trade vedado.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4.9 Sem prejuízo de</a:t>
                      </a:r>
                    </a:p>
                    <a:p>
                      <a:pPr algn="l">
                        <a:lnSpc>
                          <a:spcPct val="100000"/>
                        </a:lnSpc>
                        <a:spcBef>
                          <a:spcPts val="0"/>
                        </a:spcBef>
                        <a:spcAft>
                          <a:spcPts val="0"/>
                        </a:spcAft>
                      </a:pPr>
                      <a:r>
                        <a:rPr sz="1300" b="0">
                          <a:solidFill>
                            <a:srgbClr val="1F1F1F"/>
                          </a:solidFill>
                          <a:latin typeface="Calibri"/>
                        </a:rPr>
                        <a:t>limites mais</a:t>
                      </a:r>
                    </a:p>
                    <a:p>
                      <a:pPr algn="l">
                        <a:lnSpc>
                          <a:spcPct val="100000"/>
                        </a:lnSpc>
                        <a:spcBef>
                          <a:spcPts val="0"/>
                        </a:spcBef>
                        <a:spcAft>
                          <a:spcPts val="0"/>
                        </a:spcAft>
                      </a:pPr>
                      <a:r>
                        <a:rPr sz="1300" b="0">
                          <a:solidFill>
                            <a:srgbClr val="1F1F1F"/>
                          </a:solidFill>
                          <a:latin typeface="Calibri"/>
                        </a:rPr>
                        <a:t>restritivos definidos</a:t>
                      </a:r>
                    </a:p>
                    <a:p>
                      <a:pPr algn="l">
                        <a:lnSpc>
                          <a:spcPct val="100000"/>
                        </a:lnSpc>
                        <a:spcBef>
                          <a:spcPts val="0"/>
                        </a:spcBef>
                        <a:spcAft>
                          <a:spcPts val="0"/>
                        </a:spcAft>
                      </a:pPr>
                      <a:r>
                        <a:rPr sz="1300" b="0">
                          <a:solidFill>
                            <a:srgbClr val="1F1F1F"/>
                          </a:solidFill>
                          <a:latin typeface="Calibri"/>
                        </a:rPr>
                        <a:t>neste Regulamento, o</a:t>
                      </a:r>
                    </a:p>
                    <a:p>
                      <a:pPr algn="l">
                        <a:lnSpc>
                          <a:spcPct val="100000"/>
                        </a:lnSpc>
                        <a:spcBef>
                          <a:spcPts val="0"/>
                        </a:spcBef>
                        <a:spcAft>
                          <a:spcPts val="0"/>
                        </a:spcAft>
                      </a:pPr>
                      <a:r>
                        <a:rPr sz="1300" b="0">
                          <a:solidFill>
                            <a:srgbClr val="1F1F1F"/>
                          </a:solidFill>
                          <a:latin typeface="Calibri"/>
                        </a:rPr>
                        <a:t>Gestor deverá observar,</a:t>
                      </a:r>
                    </a:p>
                    <a:p>
                      <a:pPr algn="l">
                        <a:lnSpc>
                          <a:spcPct val="100000"/>
                        </a:lnSpc>
                        <a:spcBef>
                          <a:spcPts val="0"/>
                        </a:spcBef>
                        <a:spcAft>
                          <a:spcPts val="0"/>
                        </a:spcAft>
                      </a:pPr>
                      <a:r>
                        <a:rPr sz="1300" b="0">
                          <a:solidFill>
                            <a:srgbClr val="1F1F1F"/>
                          </a:solidFill>
                          <a:latin typeface="Calibri"/>
                        </a:rPr>
                        <a:t>ainda, os seguintes</a:t>
                      </a:r>
                    </a:p>
                    <a:p>
                      <a:pPr algn="l">
                        <a:lnSpc>
                          <a:spcPct val="100000"/>
                        </a:lnSpc>
                        <a:spcBef>
                          <a:spcPts val="0"/>
                        </a:spcBef>
                        <a:spcAft>
                          <a:spcPts val="0"/>
                        </a:spcAft>
                      </a:pPr>
                      <a:r>
                        <a:rPr sz="1300" b="0">
                          <a:solidFill>
                            <a:srgbClr val="1F1F1F"/>
                          </a:solidFill>
                          <a:latin typeface="Calibri"/>
                        </a:rPr>
                        <a:t>limites de concentração</a:t>
                      </a:r>
                    </a:p>
                    <a:p>
                      <a:pPr algn="l">
                        <a:lnSpc>
                          <a:spcPct val="100000"/>
                        </a:lnSpc>
                        <a:spcBef>
                          <a:spcPts val="0"/>
                        </a:spcBef>
                        <a:spcAft>
                          <a:spcPts val="0"/>
                        </a:spcAft>
                      </a:pPr>
                      <a:r>
                        <a:rPr sz="1300" b="0">
                          <a:solidFill>
                            <a:srgbClr val="1F1F1F"/>
                          </a:solidFill>
                          <a:latin typeface="Calibri"/>
                        </a:rPr>
                        <a:t>para a composição da</a:t>
                      </a:r>
                    </a:p>
                    <a:p>
                      <a:pPr algn="l">
                        <a:lnSpc>
                          <a:spcPct val="100000"/>
                        </a:lnSpc>
                        <a:spcBef>
                          <a:spcPts val="0"/>
                        </a:spcBef>
                        <a:spcAft>
                          <a:spcPts val="0"/>
                        </a:spcAft>
                      </a:pPr>
                      <a:r>
                        <a:rPr sz="1300" b="0">
                          <a:solidFill>
                            <a:srgbClr val="1F1F1F"/>
                          </a:solidFill>
                          <a:latin typeface="Calibri"/>
                        </a:rPr>
                        <a:t>Carteira: (i ) Até 100%</a:t>
                      </a:r>
                    </a:p>
                    <a:p>
                      <a:pPr algn="l">
                        <a:lnSpc>
                          <a:spcPct val="100000"/>
                        </a:lnSpc>
                        <a:spcBef>
                          <a:spcPts val="0"/>
                        </a:spcBef>
                        <a:spcAft>
                          <a:spcPts val="0"/>
                        </a:spcAft>
                      </a:pPr>
                      <a:r>
                        <a:rPr sz="1300" b="0">
                          <a:solidFill>
                            <a:srgbClr val="1F1F1F"/>
                          </a:solidFill>
                          <a:latin typeface="Calibri"/>
                        </a:rPr>
                        <a:t>(cem por cento) da</a:t>
                      </a:r>
                    </a:p>
                    <a:p>
                      <a:pPr algn="l">
                        <a:lnSpc>
                          <a:spcPct val="100000"/>
                        </a:lnSpc>
                        <a:spcBef>
                          <a:spcPts val="0"/>
                        </a:spcBef>
                        <a:spcAft>
                          <a:spcPts val="0"/>
                        </a:spcAft>
                      </a:pPr>
                      <a:r>
                        <a:rPr sz="1300" b="0">
                          <a:solidFill>
                            <a:srgbClr val="1F1F1F"/>
                          </a:solidFill>
                          <a:latin typeface="Calibri"/>
                        </a:rPr>
                        <a:t>parcela do Patrimônio</a:t>
                      </a:r>
                    </a:p>
                    <a:p>
                      <a:pPr algn="l">
                        <a:lnSpc>
                          <a:spcPct val="100000"/>
                        </a:lnSpc>
                        <a:spcBef>
                          <a:spcPts val="0"/>
                        </a:spcBef>
                        <a:spcAft>
                          <a:spcPts val="0"/>
                        </a:spcAft>
                      </a:pPr>
                      <a:r>
                        <a:rPr sz="1300" b="0">
                          <a:solidFill>
                            <a:srgbClr val="1F1F1F"/>
                          </a:solidFill>
                          <a:latin typeface="Calibri"/>
                        </a:rPr>
                        <a:t>Líquido investida em</a:t>
                      </a:r>
                    </a:p>
                    <a:p>
                      <a:pPr algn="l">
                        <a:lnSpc>
                          <a:spcPct val="100000"/>
                        </a:lnSpc>
                        <a:spcBef>
                          <a:spcPts val="0"/>
                        </a:spcBef>
                        <a:spcAft>
                          <a:spcPts val="0"/>
                        </a:spcAft>
                      </a:pPr>
                      <a:r>
                        <a:rPr sz="1300" b="0">
                          <a:solidFill>
                            <a:srgbClr val="1F1F1F"/>
                          </a:solidFill>
                          <a:latin typeface="Calibri"/>
                        </a:rPr>
                        <a:t>Ativos Financeiros de</a:t>
                      </a:r>
                    </a:p>
                    <a:p>
                      <a:pPr algn="l">
                        <a:lnSpc>
                          <a:spcPct val="100000"/>
                        </a:lnSpc>
                        <a:spcBef>
                          <a:spcPts val="0"/>
                        </a:spcBef>
                        <a:spcAft>
                          <a:spcPts val="0"/>
                        </a:spcAft>
                      </a:pPr>
                      <a:r>
                        <a:rPr sz="1300" b="0">
                          <a:solidFill>
                            <a:srgbClr val="1F1F1F"/>
                          </a:solidFill>
                          <a:latin typeface="Calibri"/>
                        </a:rPr>
                        <a:t>Liquidez poderá ser</a:t>
                      </a:r>
                    </a:p>
                    <a:p>
                      <a:pPr algn="l">
                        <a:lnSpc>
                          <a:spcPct val="100000"/>
                        </a:lnSpc>
                        <a:spcBef>
                          <a:spcPts val="0"/>
                        </a:spcBef>
                        <a:spcAft>
                          <a:spcPts val="0"/>
                        </a:spcAft>
                      </a:pPr>
                      <a:r>
                        <a:rPr sz="1300" b="0">
                          <a:solidFill>
                            <a:srgbClr val="1F1F1F"/>
                          </a:solidFill>
                          <a:latin typeface="Calibri"/>
                        </a:rPr>
                        <a:t>alocada em Ativos</a:t>
                      </a:r>
                    </a:p>
                    <a:p>
                      <a:pPr algn="l">
                        <a:lnSpc>
                          <a:spcPct val="100000"/>
                        </a:lnSpc>
                        <a:spcBef>
                          <a:spcPts val="0"/>
                        </a:spcBef>
                        <a:spcAft>
                          <a:spcPts val="0"/>
                        </a:spcAft>
                      </a:pPr>
                      <a:r>
                        <a:rPr sz="1300" b="0">
                          <a:solidFill>
                            <a:srgbClr val="1F1F1F"/>
                          </a:solidFill>
                          <a:latin typeface="Calibri"/>
                        </a:rPr>
                        <a:t>Financeiros de Liquidez</a:t>
                      </a:r>
                    </a:p>
                    <a:p>
                      <a:pPr algn="l">
                        <a:lnSpc>
                          <a:spcPct val="100000"/>
                        </a:lnSpc>
                        <a:spcBef>
                          <a:spcPts val="0"/>
                        </a:spcBef>
                        <a:spcAft>
                          <a:spcPts val="0"/>
                        </a:spcAft>
                      </a:pPr>
                      <a:r>
                        <a:rPr sz="1300" b="0">
                          <a:solidFill>
                            <a:srgbClr val="1F1F1F"/>
                          </a:solidFill>
                          <a:latin typeface="Calibri"/>
                        </a:rPr>
                        <a:t>de emissão ou que</a:t>
                      </a:r>
                    </a:p>
                    <a:p>
                      <a:pPr algn="l">
                        <a:lnSpc>
                          <a:spcPct val="100000"/>
                        </a:lnSpc>
                        <a:spcBef>
                          <a:spcPts val="0"/>
                        </a:spcBef>
                        <a:spcAft>
                          <a:spcPts val="0"/>
                        </a:spcAft>
                      </a:pPr>
                      <a:r>
                        <a:rPr sz="1300" b="0">
                          <a:solidFill>
                            <a:srgbClr val="1F1F1F"/>
                          </a:solidFill>
                          <a:latin typeface="Calibri"/>
                        </a:rPr>
                        <a:t>envolvam retenção de</a:t>
                      </a:r>
                    </a:p>
                    <a:p>
                      <a:pPr algn="l">
                        <a:lnSpc>
                          <a:spcPct val="100000"/>
                        </a:lnSpc>
                        <a:spcBef>
                          <a:spcPts val="0"/>
                        </a:spcBef>
                        <a:spcAft>
                          <a:spcPts val="0"/>
                        </a:spcAft>
                      </a:pPr>
                      <a:r>
                        <a:rPr sz="1300" b="0">
                          <a:solidFill>
                            <a:srgbClr val="1F1F1F"/>
                          </a:solidFill>
                          <a:latin typeface="Calibri"/>
                        </a:rPr>
                        <a:t>risco por parte do</a:t>
                      </a:r>
                    </a:p>
                    <a:p>
                      <a:pPr algn="l">
                        <a:lnSpc>
                          <a:spcPct val="100000"/>
                        </a:lnSpc>
                        <a:spcBef>
                          <a:spcPts val="0"/>
                        </a:spcBef>
                        <a:spcAft>
                          <a:spcPts val="0"/>
                        </a:spcAft>
                      </a:pPr>
                      <a:r>
                        <a:rPr sz="1300" b="0">
                          <a:solidFill>
                            <a:srgbClr val="1F1F1F"/>
                          </a:solidFill>
                          <a:latin typeface="Calibri"/>
                        </a:rPr>
                        <a:t>Administrador, Gestor,</a:t>
                      </a:r>
                    </a:p>
                    <a:p>
                      <a:pPr algn="l">
                        <a:lnSpc>
                          <a:spcPct val="100000"/>
                        </a:lnSpc>
                        <a:spcBef>
                          <a:spcPts val="0"/>
                        </a:spcBef>
                        <a:spcAft>
                          <a:spcPts val="0"/>
                        </a:spcAft>
                      </a:pPr>
                      <a:r>
                        <a:rPr sz="1300" b="0">
                          <a:solidFill>
                            <a:srgbClr val="1F1F1F"/>
                          </a:solidFill>
                          <a:latin typeface="Calibri"/>
                        </a:rPr>
                        <a:t>e/ou suas partes</a:t>
                      </a:r>
                    </a:p>
                    <a:p>
                      <a:pPr algn="l">
                        <a:lnSpc>
                          <a:spcPct val="100000"/>
                        </a:lnSpc>
                        <a:spcBef>
                          <a:spcPts val="0"/>
                        </a:spcBef>
                        <a:spcAft>
                          <a:spcPts val="0"/>
                        </a:spcAft>
                      </a:pPr>
                      <a:r>
                        <a:rPr sz="1300" b="0">
                          <a:solidFill>
                            <a:srgbClr val="1F1F1F"/>
                          </a:solidFill>
                          <a:latin typeface="Calibri"/>
                        </a:rPr>
                        <a:t>relacionadas; e (ii)</a:t>
                      </a:r>
                    </a:p>
                    <a:p>
                      <a:pPr algn="l">
                        <a:lnSpc>
                          <a:spcPct val="100000"/>
                        </a:lnSpc>
                        <a:spcBef>
                          <a:spcPts val="0"/>
                        </a:spcBef>
                        <a:spcAft>
                          <a:spcPts val="0"/>
                        </a:spcAft>
                      </a:pPr>
                      <a:r>
                        <a:rPr sz="1300" b="0">
                          <a:solidFill>
                            <a:srgbClr val="1F1F1F"/>
                          </a:solidFill>
                          <a:latin typeface="Calibri"/>
                        </a:rPr>
                        <a:t>Até 100% (cem por</a:t>
                      </a:r>
                    </a:p>
                    <a:p>
                      <a:pPr algn="l">
                        <a:lnSpc>
                          <a:spcPct val="100000"/>
                        </a:lnSpc>
                        <a:spcBef>
                          <a:spcPts val="0"/>
                        </a:spcBef>
                        <a:spcAft>
                          <a:spcPts val="0"/>
                        </a:spcAft>
                      </a:pPr>
                      <a:r>
                        <a:rPr sz="1300" b="0">
                          <a:solidFill>
                            <a:srgbClr val="1F1F1F"/>
                          </a:solidFill>
                          <a:latin typeface="Calibri"/>
                        </a:rPr>
                        <a:t>cento) da parcela do</a:t>
                      </a:r>
                    </a:p>
                    <a:p>
                      <a:pPr algn="l">
                        <a:lnSpc>
                          <a:spcPct val="100000"/>
                        </a:lnSpc>
                        <a:spcBef>
                          <a:spcPts val="0"/>
                        </a:spcBef>
                        <a:spcAft>
                          <a:spcPts val="0"/>
                        </a:spcAft>
                      </a:pPr>
                      <a:r>
                        <a:rPr sz="1300" b="0">
                          <a:solidFill>
                            <a:srgbClr val="1F1F1F"/>
                          </a:solidFill>
                          <a:latin typeface="Calibri"/>
                        </a:rPr>
                        <a:t>Patrimônio Líquido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Derivativos somente</a:t>
                      </a:r>
                    </a:p>
                    <a:p>
                      <a:pPr algn="l">
                        <a:lnSpc>
                          <a:spcPct val="100000"/>
                        </a:lnSpc>
                        <a:spcBef>
                          <a:spcPts val="0"/>
                        </a:spcBef>
                        <a:spcAft>
                          <a:spcPts val="0"/>
                        </a:spcAft>
                      </a:pPr>
                      <a:r>
                        <a:rPr sz="1300" b="0">
                          <a:solidFill>
                            <a:srgbClr val="1F1F1F"/>
                          </a:solidFill>
                          <a:latin typeface="Calibri"/>
                        </a:rPr>
                        <a:t>para proteção</a:t>
                      </a:r>
                    </a:p>
                    <a:p>
                      <a:pPr algn="l">
                        <a:lnSpc>
                          <a:spcPct val="100000"/>
                        </a:lnSpc>
                        <a:spcBef>
                          <a:spcPts val="0"/>
                        </a:spcBef>
                        <a:spcAft>
                          <a:spcPts val="0"/>
                        </a:spcAft>
                      </a:pPr>
                      <a:r>
                        <a:rPr sz="1300" b="0">
                          <a:solidFill>
                            <a:srgbClr val="1F1F1F"/>
                          </a:solidFill>
                          <a:latin typeface="Calibri"/>
                        </a:rPr>
                        <a:t>patrimonial; exposição</a:t>
                      </a:r>
                    </a:p>
                    <a:p>
                      <a:pPr algn="l">
                        <a:lnSpc>
                          <a:spcPct val="100000"/>
                        </a:lnSpc>
                        <a:spcBef>
                          <a:spcPts val="0"/>
                        </a:spcBef>
                        <a:spcAft>
                          <a:spcPts val="0"/>
                        </a:spcAft>
                      </a:pPr>
                      <a:r>
                        <a:rPr sz="1300" b="0">
                          <a:solidFill>
                            <a:srgbClr val="1F1F1F"/>
                          </a:solidFill>
                          <a:latin typeface="Calibri"/>
                        </a:rPr>
                        <a:t>máxima igual ao PL.</a:t>
                      </a:r>
                    </a:p>
                    <a:p>
                      <a:pPr algn="l">
                        <a:lnSpc>
                          <a:spcPct val="100000"/>
                        </a:lnSpc>
                        <a:spcBef>
                          <a:spcPts val="0"/>
                        </a:spcBef>
                        <a:spcAft>
                          <a:spcPts val="0"/>
                        </a:spcAft>
                      </a:pPr>
                      <a:r>
                        <a:rPr sz="1300" b="0">
                          <a:solidFill>
                            <a:srgbClr val="1F1F1F"/>
                          </a:solidFill>
                          <a:latin typeface="Calibri"/>
                        </a:rPr>
                        <a:t>Aplicação de recursos</a:t>
                      </a:r>
                    </a:p>
                    <a:p>
                      <a:pPr algn="l">
                        <a:lnSpc>
                          <a:spcPct val="100000"/>
                        </a:lnSpc>
                        <a:spcBef>
                          <a:spcPts val="0"/>
                        </a:spcBef>
                        <a:spcAft>
                          <a:spcPts val="0"/>
                        </a:spcAft>
                      </a:pPr>
                      <a:r>
                        <a:rPr sz="1300" b="0">
                          <a:solidFill>
                            <a:srgbClr val="1F1F1F"/>
                          </a:solidFill>
                          <a:latin typeface="Calibri"/>
                        </a:rPr>
                        <a:t>no exterior é vedada.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4.21 A Classe poderá</a:t>
                      </a:r>
                    </a:p>
                    <a:p>
                      <a:pPr algn="l">
                        <a:lnSpc>
                          <a:spcPct val="100000"/>
                        </a:lnSpc>
                        <a:spcBef>
                          <a:spcPts val="0"/>
                        </a:spcBef>
                        <a:spcAft>
                          <a:spcPts val="0"/>
                        </a:spcAft>
                      </a:pPr>
                      <a:r>
                        <a:rPr sz="1300" b="0">
                          <a:solidFill>
                            <a:srgbClr val="1F1F1F"/>
                          </a:solidFill>
                          <a:latin typeface="Calibri"/>
                        </a:rPr>
                        <a:t>utilizar instrumentos</a:t>
                      </a:r>
                    </a:p>
                    <a:p>
                      <a:pPr algn="l">
                        <a:lnSpc>
                          <a:spcPct val="100000"/>
                        </a:lnSpc>
                        <a:spcBef>
                          <a:spcPts val="0"/>
                        </a:spcBef>
                        <a:spcAft>
                          <a:spcPts val="0"/>
                        </a:spcAft>
                      </a:pPr>
                      <a:r>
                        <a:rPr sz="1300" b="0">
                          <a:solidFill>
                            <a:srgbClr val="1F1F1F"/>
                          </a:solidFill>
                          <a:latin typeface="Calibri"/>
                        </a:rPr>
                        <a:t>derivativos, desde que</a:t>
                      </a:r>
                    </a:p>
                    <a:p>
                      <a:pPr algn="l">
                        <a:lnSpc>
                          <a:spcPct val="100000"/>
                        </a:lnSpc>
                        <a:spcBef>
                          <a:spcPts val="0"/>
                        </a:spcBef>
                        <a:spcAft>
                          <a:spcPts val="0"/>
                        </a:spcAft>
                      </a:pPr>
                      <a:r>
                        <a:rPr sz="1300" b="0">
                          <a:solidFill>
                            <a:srgbClr val="1F1F1F"/>
                          </a:solidFill>
                          <a:latin typeface="Calibri"/>
                        </a:rPr>
                        <a:t>com o objetivo de</a:t>
                      </a:r>
                    </a:p>
                    <a:p>
                      <a:pPr algn="l">
                        <a:lnSpc>
                          <a:spcPct val="100000"/>
                        </a:lnSpc>
                        <a:spcBef>
                          <a:spcPts val="0"/>
                        </a:spcBef>
                        <a:spcAft>
                          <a:spcPts val="0"/>
                        </a:spcAft>
                      </a:pPr>
                      <a:r>
                        <a:rPr sz="1300" b="0">
                          <a:solidFill>
                            <a:srgbClr val="1F1F1F"/>
                          </a:solidFill>
                          <a:latin typeface="Calibri"/>
                        </a:rPr>
                        <a:t>proteção patrimonial,</a:t>
                      </a:r>
                    </a:p>
                    <a:p>
                      <a:pPr algn="l">
                        <a:lnSpc>
                          <a:spcPct val="100000"/>
                        </a:lnSpc>
                        <a:spcBef>
                          <a:spcPts val="0"/>
                        </a:spcBef>
                        <a:spcAft>
                          <a:spcPts val="0"/>
                        </a:spcAft>
                      </a:pPr>
                      <a:r>
                        <a:rPr sz="1300" b="0">
                          <a:solidFill>
                            <a:srgbClr val="1F1F1F"/>
                          </a:solidFill>
                          <a:latin typeface="Calibri"/>
                        </a:rPr>
                        <a:t>ou, desde que não</a:t>
                      </a:r>
                    </a:p>
                    <a:p>
                      <a:pPr algn="l">
                        <a:lnSpc>
                          <a:spcPct val="100000"/>
                        </a:lnSpc>
                        <a:spcBef>
                          <a:spcPts val="0"/>
                        </a:spcBef>
                        <a:spcAft>
                          <a:spcPts val="0"/>
                        </a:spcAft>
                      </a:pPr>
                      <a:r>
                        <a:rPr sz="1300" b="0">
                          <a:solidFill>
                            <a:srgbClr val="1F1F1F"/>
                          </a:solidFill>
                          <a:latin typeface="Calibri"/>
                        </a:rPr>
                        <a:t>resulte em exposição a</a:t>
                      </a:r>
                    </a:p>
                    <a:p>
                      <a:pPr algn="l">
                        <a:lnSpc>
                          <a:spcPct val="100000"/>
                        </a:lnSpc>
                        <a:spcBef>
                          <a:spcPts val="0"/>
                        </a:spcBef>
                        <a:spcAft>
                          <a:spcPts val="0"/>
                        </a:spcAft>
                      </a:pPr>
                      <a:r>
                        <a:rPr sz="1300" b="0">
                          <a:solidFill>
                            <a:srgbClr val="1F1F1F"/>
                          </a:solidFill>
                          <a:latin typeface="Calibri"/>
                        </a:rPr>
                        <a:t>risco de capital,</a:t>
                      </a:r>
                    </a:p>
                    <a:p>
                      <a:pPr algn="l">
                        <a:lnSpc>
                          <a:spcPct val="100000"/>
                        </a:lnSpc>
                        <a:spcBef>
                          <a:spcPts val="0"/>
                        </a:spcBef>
                        <a:spcAft>
                          <a:spcPts val="0"/>
                        </a:spcAft>
                      </a:pPr>
                      <a:r>
                        <a:rPr sz="1300" b="0">
                          <a:solidFill>
                            <a:srgbClr val="1F1F1F"/>
                          </a:solidFill>
                          <a:latin typeface="Calibri"/>
                        </a:rPr>
                        <a:t>conforme definida no</a:t>
                      </a:r>
                    </a:p>
                    <a:p>
                      <a:pPr algn="l">
                        <a:lnSpc>
                          <a:spcPct val="100000"/>
                        </a:lnSpc>
                        <a:spcBef>
                          <a:spcPts val="0"/>
                        </a:spcBef>
                        <a:spcAft>
                          <a:spcPts val="0"/>
                        </a:spcAft>
                      </a:pPr>
                      <a:r>
                        <a:rPr sz="1300" b="0">
                          <a:solidFill>
                            <a:srgbClr val="1F1F1F"/>
                          </a:solidFill>
                          <a:latin typeface="Calibri"/>
                        </a:rPr>
                        <a:t>inciso XXIV do Art. 3º</a:t>
                      </a:r>
                    </a:p>
                    <a:p>
                      <a:pPr algn="l">
                        <a:lnSpc>
                          <a:spcPct val="100000"/>
                        </a:lnSpc>
                        <a:spcBef>
                          <a:spcPts val="0"/>
                        </a:spcBef>
                        <a:spcAft>
                          <a:spcPts val="0"/>
                        </a:spcAft>
                      </a:pPr>
                      <a:r>
                        <a:rPr sz="1300" b="0">
                          <a:solidFill>
                            <a:srgbClr val="1F1F1F"/>
                          </a:solidFill>
                          <a:latin typeface="Calibri"/>
                        </a:rPr>
                        <a:t>da parte geral da</a:t>
                      </a:r>
                    </a:p>
                    <a:p>
                      <a:pPr algn="l">
                        <a:lnSpc>
                          <a:spcPct val="100000"/>
                        </a:lnSpc>
                        <a:spcBef>
                          <a:spcPts val="0"/>
                        </a:spcBef>
                        <a:spcAft>
                          <a:spcPts val="0"/>
                        </a:spcAft>
                      </a:pPr>
                      <a:r>
                        <a:rPr sz="1300" b="0">
                          <a:solidFill>
                            <a:srgbClr val="1F1F1F"/>
                          </a:solidFill>
                          <a:latin typeface="Calibri"/>
                        </a:rPr>
                        <a:t>Resolução CVM 175 ou em</a:t>
                      </a:r>
                    </a:p>
                    <a:p>
                      <a:pPr algn="l">
                        <a:lnSpc>
                          <a:spcPct val="100000"/>
                        </a:lnSpc>
                        <a:spcBef>
                          <a:spcPts val="0"/>
                        </a:spcBef>
                        <a:spcAft>
                          <a:spcPts val="0"/>
                        </a:spcAft>
                      </a:pPr>
                      <a:r>
                        <a:rPr sz="1300" b="0">
                          <a:solidFill>
                            <a:srgbClr val="1F1F1F"/>
                          </a:solidFill>
                          <a:latin typeface="Calibri"/>
                        </a:rPr>
                        <a:t>troca de indexador a</a:t>
                      </a:r>
                    </a:p>
                    <a:p>
                      <a:pPr algn="l">
                        <a:lnSpc>
                          <a:spcPct val="100000"/>
                        </a:lnSpc>
                        <a:spcBef>
                          <a:spcPts val="0"/>
                        </a:spcBef>
                        <a:spcAft>
                          <a:spcPts val="0"/>
                        </a:spcAft>
                      </a:pPr>
                      <a:r>
                        <a:rPr sz="1300" b="0">
                          <a:solidFill>
                            <a:srgbClr val="1F1F1F"/>
                          </a:solidFill>
                          <a:latin typeface="Calibri"/>
                        </a:rPr>
                        <a:t>que os ativos estão</a:t>
                      </a:r>
                    </a:p>
                    <a:p>
                      <a:pPr algn="l">
                        <a:lnSpc>
                          <a:spcPct val="100000"/>
                        </a:lnSpc>
                        <a:spcBef>
                          <a:spcPts val="0"/>
                        </a:spcBef>
                        <a:spcAft>
                          <a:spcPts val="0"/>
                        </a:spcAft>
                      </a:pPr>
                      <a:r>
                        <a:rPr sz="1300" b="0">
                          <a:solidFill>
                            <a:srgbClr val="1F1F1F"/>
                          </a:solidFill>
                          <a:latin typeface="Calibri"/>
                        </a:rPr>
                        <a:t>indexados.</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(xxii) Operações com</a:t>
                      </a:r>
                    </a:p>
                    <a:p>
                      <a:pPr algn="l">
                        <a:lnSpc>
                          <a:spcPct val="100000"/>
                        </a:lnSpc>
                        <a:spcBef>
                          <a:spcPts val="0"/>
                        </a:spcBef>
                        <a:spcAft>
                          <a:spcPts val="0"/>
                        </a:spcAft>
                      </a:pPr>
                      <a:r>
                        <a:rPr sz="1300" b="0">
                          <a:solidFill>
                            <a:srgbClr val="1F1F1F"/>
                          </a:solidFill>
                          <a:latin typeface="Calibri"/>
                        </a:rPr>
                        <a:t>derivativos. A Classe</a:t>
                      </a:r>
                    </a:p>
                    <a:p>
                      <a:pPr algn="l">
                        <a:lnSpc>
                          <a:spcPct val="100000"/>
                        </a:lnSpc>
                        <a:spcBef>
                          <a:spcPts val="0"/>
                        </a:spcBef>
                        <a:spcAft>
                          <a:spcPts val="0"/>
                        </a:spcAft>
                      </a:pPr>
                      <a:r>
                        <a:rPr sz="1300" b="0">
                          <a:solidFill>
                            <a:srgbClr val="1F1F1F"/>
                          </a:solidFill>
                          <a:latin typeface="Calibri"/>
                        </a:rPr>
                        <a:t>poderá realizar</a:t>
                      </a:r>
                    </a:p>
                    <a:p>
                      <a:pPr algn="l">
                        <a:lnSpc>
                          <a:spcPct val="100000"/>
                        </a:lnSpc>
                        <a:spcBef>
                          <a:spcPts val="0"/>
                        </a:spcBef>
                        <a:spcAft>
                          <a:spcPts val="0"/>
                        </a:spcAft>
                      </a:pPr>
                      <a:r>
                        <a:rPr sz="1300" b="0">
                          <a:solidFill>
                            <a:srgbClr val="1F1F1F"/>
                          </a:solidFill>
                          <a:latin typeface="Calibri"/>
                        </a:rPr>
                        <a:t>operações com</a:t>
                      </a:r>
                    </a:p>
                    <a:p>
                      <a:pPr algn="l">
                        <a:lnSpc>
                          <a:spcPct val="100000"/>
                        </a:lnSpc>
                        <a:spcBef>
                          <a:spcPts val="0"/>
                        </a:spcBef>
                        <a:spcAft>
                          <a:spcPts val="0"/>
                        </a:spcAft>
                      </a:pPr>
                      <a:r>
                        <a:rPr sz="1300" b="0">
                          <a:solidFill>
                            <a:srgbClr val="1F1F1F"/>
                          </a:solidFill>
                          <a:latin typeface="Calibri"/>
                        </a:rPr>
                        <a:t>derivativos</a:t>
                      </a:r>
                    </a:p>
                    <a:p>
                      <a:pPr algn="l">
                        <a:lnSpc>
                          <a:spcPct val="100000"/>
                        </a:lnSpc>
                        <a:spcBef>
                          <a:spcPts val="0"/>
                        </a:spcBef>
                        <a:spcAft>
                          <a:spcPts val="0"/>
                        </a:spcAft>
                      </a:pPr>
                      <a:r>
                        <a:rPr sz="1300" b="0">
                          <a:solidFill>
                            <a:srgbClr val="1F1F1F"/>
                          </a:solidFill>
                          <a:latin typeface="Calibri"/>
                        </a:rPr>
                        <a:t>exclusivamente com o</a:t>
                      </a:r>
                    </a:p>
                    <a:p>
                      <a:pPr algn="l">
                        <a:lnSpc>
                          <a:spcPct val="100000"/>
                        </a:lnSpc>
                        <a:spcBef>
                          <a:spcPts val="0"/>
                        </a:spcBef>
                        <a:spcAft>
                          <a:spcPts val="0"/>
                        </a:spcAft>
                      </a:pPr>
                      <a:r>
                        <a:rPr sz="1300" b="0">
                          <a:solidFill>
                            <a:srgbClr val="1F1F1F"/>
                          </a:solidFill>
                          <a:latin typeface="Calibri"/>
                        </a:rPr>
                        <a:t>objetivo de proteção</a:t>
                      </a:r>
                    </a:p>
                    <a:p>
                      <a:pPr algn="l">
                        <a:lnSpc>
                          <a:spcPct val="100000"/>
                        </a:lnSpc>
                        <a:spcBef>
                          <a:spcPts val="0"/>
                        </a:spcBef>
                        <a:spcAft>
                          <a:spcPts val="0"/>
                        </a:spcAft>
                      </a:pPr>
                      <a:r>
                        <a:rPr sz="1300" b="0">
                          <a:solidFill>
                            <a:srgbClr val="1F1F1F"/>
                          </a:solidFill>
                          <a:latin typeface="Calibri"/>
                        </a:rPr>
                        <a:t>patrimonial. As</a:t>
                      </a:r>
                    </a:p>
                    <a:p>
                      <a:pPr algn="l">
                        <a:lnSpc>
                          <a:spcPct val="100000"/>
                        </a:lnSpc>
                        <a:spcBef>
                          <a:spcPts val="0"/>
                        </a:spcBef>
                        <a:spcAft>
                          <a:spcPts val="0"/>
                        </a:spcAft>
                      </a:pPr>
                      <a:r>
                        <a:rPr sz="1300" b="0">
                          <a:solidFill>
                            <a:srgbClr val="1F1F1F"/>
                          </a:solidFill>
                          <a:latin typeface="Calibri"/>
                        </a:rPr>
                        <a:t>operações com</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72/160</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Hedge e prestadores</a:t>
            </a:r>
          </a:p>
        </p:txBody>
      </p:sp>
      <p:graphicFrame>
        <p:nvGraphicFramePr>
          <p:cNvPr id="3" name="Table 2"/>
          <p:cNvGraphicFramePr>
            <a:graphicFrameLocks noGrp="1"/>
          </p:cNvGraphicFramePr>
          <p:nvPr/>
        </p:nvGraphicFramePr>
        <p:xfrm>
          <a:off x="438912" y="932688"/>
          <a:ext cx="11313868" cy="5253228"/>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4782312">
                <a:tc>
                  <a:txBody>
                    <a:bodyPr wrap="square">
                      <a:noAutofit/>
                    </a:bodyPr>
                    <a:lstStyle/>
                    <a:p>
                      <a:pPr algn="l">
                        <a:lnSpc>
                          <a:spcPct val="100000"/>
                        </a:lnSpc>
                        <a:spcBef>
                          <a:spcPts val="0"/>
                        </a:spcBef>
                        <a:spcAft>
                          <a:spcPts val="0"/>
                        </a:spcAft>
                      </a:pPr>
                      <a:r>
                        <a:rPr sz="1300" b="1">
                          <a:solidFill>
                            <a:srgbClr val="1F1F1F"/>
                          </a:solidFill>
                          <a:latin typeface="Calibri"/>
                        </a:rPr>
                        <a:t>Finalidade e limites de</a:t>
                      </a:r>
                    </a:p>
                    <a:p>
                      <a:pPr algn="l">
                        <a:lnSpc>
                          <a:spcPct val="100000"/>
                        </a:lnSpc>
                        <a:spcBef>
                          <a:spcPts val="0"/>
                        </a:spcBef>
                        <a:spcAft>
                          <a:spcPts val="0"/>
                        </a:spcAft>
                      </a:pPr>
                      <a:r>
                        <a:rPr sz="1300" b="1">
                          <a:solidFill>
                            <a:srgbClr val="1F1F1F"/>
                          </a:solidFill>
                          <a:latin typeface="Calibri"/>
                        </a:rPr>
                        <a:t>derivativos</a:t>
                      </a:r>
                    </a:p>
                    <a:p>
                      <a:pPr algn="l">
                        <a:lnSpc>
                          <a:spcPct val="100000"/>
                        </a:lnSpc>
                        <a:spcBef>
                          <a:spcPts val="0"/>
                        </a:spcBef>
                        <a:spcAft>
                          <a:spcPts val="0"/>
                        </a:spcAft>
                      </a:pPr>
                      <a:r>
                        <a:rPr sz="1300" b="1">
                          <a:solidFill>
                            <a:srgbClr val="1F1F1F"/>
                          </a:solidFill>
                          <a:latin typeface="Calibri"/>
                        </a:rPr>
                        <a:t>(continuação)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investida em operações</a:t>
                      </a:r>
                    </a:p>
                    <a:p>
                      <a:pPr algn="l">
                        <a:lnSpc>
                          <a:spcPct val="100000"/>
                        </a:lnSpc>
                        <a:spcBef>
                          <a:spcPts val="0"/>
                        </a:spcBef>
                        <a:spcAft>
                          <a:spcPts val="0"/>
                        </a:spcAft>
                      </a:pPr>
                      <a:r>
                        <a:rPr sz="1300" b="0">
                          <a:solidFill>
                            <a:srgbClr val="1F1F1F"/>
                          </a:solidFill>
                          <a:latin typeface="Calibri"/>
                        </a:rPr>
                        <a:t>com derivativos poderá</a:t>
                      </a:r>
                    </a:p>
                    <a:p>
                      <a:pPr algn="l">
                        <a:lnSpc>
                          <a:spcPct val="100000"/>
                        </a:lnSpc>
                        <a:spcBef>
                          <a:spcPts val="0"/>
                        </a:spcBef>
                        <a:spcAft>
                          <a:spcPts val="0"/>
                        </a:spcAft>
                      </a:pPr>
                      <a:r>
                        <a:rPr sz="1300" b="0">
                          <a:solidFill>
                            <a:srgbClr val="1F1F1F"/>
                          </a:solidFill>
                          <a:latin typeface="Calibri"/>
                        </a:rPr>
                        <a:t>ser alocada em</a:t>
                      </a:r>
                    </a:p>
                    <a:p>
                      <a:pPr algn="l">
                        <a:lnSpc>
                          <a:spcPct val="100000"/>
                        </a:lnSpc>
                        <a:spcBef>
                          <a:spcPts val="0"/>
                        </a:spcBef>
                        <a:spcAft>
                          <a:spcPts val="0"/>
                        </a:spcAft>
                      </a:pPr>
                      <a:r>
                        <a:rPr sz="1300" b="0">
                          <a:solidFill>
                            <a:srgbClr val="1F1F1F"/>
                          </a:solidFill>
                          <a:latin typeface="Calibri"/>
                        </a:rPr>
                        <a:t>derivativos nos quais,</a:t>
                      </a:r>
                    </a:p>
                    <a:p>
                      <a:pPr algn="l">
                        <a:lnSpc>
                          <a:spcPct val="100000"/>
                        </a:lnSpc>
                        <a:spcBef>
                          <a:spcPts val="0"/>
                        </a:spcBef>
                        <a:spcAft>
                          <a:spcPts val="0"/>
                        </a:spcAft>
                      </a:pPr>
                      <a:r>
                        <a:rPr sz="1300" b="0">
                          <a:solidFill>
                            <a:srgbClr val="1F1F1F"/>
                          </a:solidFill>
                          <a:latin typeface="Calibri"/>
                        </a:rPr>
                        <a:t>inexistindo contraparte</a:t>
                      </a:r>
                    </a:p>
                    <a:p>
                      <a:pPr algn="l">
                        <a:lnSpc>
                          <a:spcPct val="100000"/>
                        </a:lnSpc>
                        <a:spcBef>
                          <a:spcPts val="0"/>
                        </a:spcBef>
                        <a:spcAft>
                          <a:spcPts val="0"/>
                        </a:spcAft>
                      </a:pPr>
                      <a:r>
                        <a:rPr sz="1300" b="0">
                          <a:solidFill>
                            <a:srgbClr val="1F1F1F"/>
                          </a:solidFill>
                          <a:latin typeface="Calibri"/>
                        </a:rPr>
                        <a:t>central, se tenha como</a:t>
                      </a:r>
                    </a:p>
                    <a:p>
                      <a:pPr algn="l">
                        <a:lnSpc>
                          <a:spcPct val="100000"/>
                        </a:lnSpc>
                        <a:spcBef>
                          <a:spcPts val="0"/>
                        </a:spcBef>
                        <a:spcAft>
                          <a:spcPts val="0"/>
                        </a:spcAft>
                      </a:pPr>
                      <a:r>
                        <a:rPr sz="1300" b="0">
                          <a:solidFill>
                            <a:srgbClr val="1F1F1F"/>
                          </a:solidFill>
                          <a:latin typeface="Calibri"/>
                        </a:rPr>
                        <a:t>contraparte o Gestor</a:t>
                      </a:r>
                    </a:p>
                    <a:p>
                      <a:pPr algn="l">
                        <a:lnSpc>
                          <a:spcPct val="100000"/>
                        </a:lnSpc>
                        <a:spcBef>
                          <a:spcPts val="0"/>
                        </a:spcBef>
                        <a:spcAft>
                          <a:spcPts val="0"/>
                        </a:spcAft>
                      </a:pPr>
                      <a:r>
                        <a:rPr sz="1300" b="0">
                          <a:solidFill>
                            <a:srgbClr val="1F1F1F"/>
                          </a:solidFill>
                          <a:latin typeface="Calibri"/>
                        </a:rPr>
                        <a:t>e/ou suas partes</a:t>
                      </a:r>
                    </a:p>
                    <a:p>
                      <a:pPr algn="l">
                        <a:lnSpc>
                          <a:spcPct val="100000"/>
                        </a:lnSpc>
                        <a:spcBef>
                          <a:spcPts val="0"/>
                        </a:spcBef>
                        <a:spcAft>
                          <a:spcPts val="0"/>
                        </a:spcAft>
                      </a:pPr>
                      <a:r>
                        <a:rPr sz="1300" b="0">
                          <a:solidFill>
                            <a:srgbClr val="1F1F1F"/>
                          </a:solidFill>
                          <a:latin typeface="Calibri"/>
                        </a:rPr>
                        <a:t>relacionadas.</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4.15 A Classe poderá</a:t>
                      </a:r>
                    </a:p>
                    <a:p>
                      <a:pPr algn="l">
                        <a:lnSpc>
                          <a:spcPct val="100000"/>
                        </a:lnSpc>
                        <a:spcBef>
                          <a:spcPts val="0"/>
                        </a:spcBef>
                        <a:spcAft>
                          <a:spcPts val="0"/>
                        </a:spcAft>
                      </a:pPr>
                      <a:r>
                        <a:rPr sz="1300" b="0">
                          <a:solidFill>
                            <a:srgbClr val="1F1F1F"/>
                          </a:solidFill>
                          <a:latin typeface="Calibri"/>
                        </a:rPr>
                        <a:t>utilizar instrumentos</a:t>
                      </a:r>
                    </a:p>
                    <a:p>
                      <a:pPr algn="l">
                        <a:lnSpc>
                          <a:spcPct val="100000"/>
                        </a:lnSpc>
                        <a:spcBef>
                          <a:spcPts val="0"/>
                        </a:spcBef>
                        <a:spcAft>
                          <a:spcPts val="0"/>
                        </a:spcAft>
                      </a:pPr>
                      <a:r>
                        <a:rPr sz="1300" b="0">
                          <a:solidFill>
                            <a:srgbClr val="1F1F1F"/>
                          </a:solidFill>
                          <a:latin typeface="Calibri"/>
                        </a:rPr>
                        <a:t>derivativos, observados</a:t>
                      </a:r>
                    </a:p>
                    <a:p>
                      <a:pPr algn="l">
                        <a:lnSpc>
                          <a:spcPct val="100000"/>
                        </a:lnSpc>
                        <a:spcBef>
                          <a:spcPts val="0"/>
                        </a:spcBef>
                        <a:spcAft>
                          <a:spcPts val="0"/>
                        </a:spcAft>
                      </a:pPr>
                      <a:r>
                        <a:rPr sz="1300" b="0">
                          <a:solidFill>
                            <a:srgbClr val="1F1F1F"/>
                          </a:solidFill>
                          <a:latin typeface="Calibri"/>
                        </a:rPr>
                        <a:t>os limites de</a:t>
                      </a:r>
                    </a:p>
                    <a:p>
                      <a:pPr algn="l">
                        <a:lnSpc>
                          <a:spcPct val="100000"/>
                        </a:lnSpc>
                        <a:spcBef>
                          <a:spcPts val="0"/>
                        </a:spcBef>
                        <a:spcAft>
                          <a:spcPts val="0"/>
                        </a:spcAft>
                      </a:pPr>
                      <a:r>
                        <a:rPr sz="1300" b="0">
                          <a:solidFill>
                            <a:srgbClr val="1F1F1F"/>
                          </a:solidFill>
                          <a:latin typeface="Calibri"/>
                        </a:rPr>
                        <a:t>concentração previstos</a:t>
                      </a:r>
                    </a:p>
                    <a:p>
                      <a:pPr algn="l">
                        <a:lnSpc>
                          <a:spcPct val="100000"/>
                        </a:lnSpc>
                        <a:spcBef>
                          <a:spcPts val="0"/>
                        </a:spcBef>
                        <a:spcAft>
                          <a:spcPts val="0"/>
                        </a:spcAft>
                      </a:pPr>
                      <a:r>
                        <a:rPr sz="1300" b="0">
                          <a:solidFill>
                            <a:srgbClr val="1F1F1F"/>
                          </a:solidFill>
                          <a:latin typeface="Calibri"/>
                        </a:rPr>
                        <a:t>neste Regulamento,</a:t>
                      </a:r>
                    </a:p>
                    <a:p>
                      <a:pPr algn="l">
                        <a:lnSpc>
                          <a:spcPct val="100000"/>
                        </a:lnSpc>
                        <a:spcBef>
                          <a:spcPts val="0"/>
                        </a:spcBef>
                        <a:spcAft>
                          <a:spcPts val="0"/>
                        </a:spcAft>
                      </a:pPr>
                      <a:r>
                        <a:rPr sz="1300" b="0">
                          <a:solidFill>
                            <a:srgbClr val="1F1F1F"/>
                          </a:solidFill>
                          <a:latin typeface="Calibri"/>
                        </a:rPr>
                        <a:t>desde que com o</a:t>
                      </a:r>
                    </a:p>
                    <a:p>
                      <a:pPr algn="l">
                        <a:lnSpc>
                          <a:spcPct val="100000"/>
                        </a:lnSpc>
                        <a:spcBef>
                          <a:spcPts val="0"/>
                        </a:spcBef>
                        <a:spcAft>
                          <a:spcPts val="0"/>
                        </a:spcAft>
                      </a:pPr>
                      <a:r>
                        <a:rPr sz="1300" b="0">
                          <a:solidFill>
                            <a:srgbClr val="1F1F1F"/>
                          </a:solidFill>
                          <a:latin typeface="Calibri"/>
                        </a:rPr>
                        <a:t>objetivo de proteção</a:t>
                      </a:r>
                    </a:p>
                    <a:p>
                      <a:pPr algn="l">
                        <a:lnSpc>
                          <a:spcPct val="100000"/>
                        </a:lnSpc>
                        <a:spcBef>
                          <a:spcPts val="0"/>
                        </a:spcBef>
                        <a:spcAft>
                          <a:spcPts val="0"/>
                        </a:spcAft>
                      </a:pPr>
                      <a:r>
                        <a:rPr sz="1300" b="0">
                          <a:solidFill>
                            <a:srgbClr val="1F1F1F"/>
                          </a:solidFill>
                          <a:latin typeface="Calibri"/>
                        </a:rPr>
                        <a:t>patrimonial, ou, desde</a:t>
                      </a:r>
                    </a:p>
                    <a:p>
                      <a:pPr algn="l">
                        <a:lnSpc>
                          <a:spcPct val="100000"/>
                        </a:lnSpc>
                        <a:spcBef>
                          <a:spcPts val="0"/>
                        </a:spcBef>
                        <a:spcAft>
                          <a:spcPts val="0"/>
                        </a:spcAft>
                      </a:pPr>
                      <a:r>
                        <a:rPr sz="1300" b="0">
                          <a:solidFill>
                            <a:srgbClr val="1F1F1F"/>
                          </a:solidFill>
                          <a:latin typeface="Calibri"/>
                        </a:rPr>
                        <a:t>que não resulte em</a:t>
                      </a:r>
                    </a:p>
                    <a:p>
                      <a:pPr algn="l">
                        <a:lnSpc>
                          <a:spcPct val="100000"/>
                        </a:lnSpc>
                        <a:spcBef>
                          <a:spcPts val="0"/>
                        </a:spcBef>
                        <a:spcAft>
                          <a:spcPts val="0"/>
                        </a:spcAft>
                      </a:pPr>
                      <a:r>
                        <a:rPr sz="1300" b="0">
                          <a:solidFill>
                            <a:srgbClr val="1F1F1F"/>
                          </a:solidFill>
                          <a:latin typeface="Calibri"/>
                        </a:rPr>
                        <a:t>exposição a risco de</a:t>
                      </a:r>
                    </a:p>
                    <a:p>
                      <a:pPr algn="l">
                        <a:lnSpc>
                          <a:spcPct val="100000"/>
                        </a:lnSpc>
                        <a:spcBef>
                          <a:spcPts val="0"/>
                        </a:spcBef>
                        <a:spcAft>
                          <a:spcPts val="0"/>
                        </a:spcAft>
                      </a:pPr>
                      <a:r>
                        <a:rPr sz="1300" b="0">
                          <a:solidFill>
                            <a:srgbClr val="1F1F1F"/>
                          </a:solidFill>
                          <a:latin typeface="Calibri"/>
                        </a:rPr>
                        <a:t>capital, conforme</a:t>
                      </a:r>
                    </a:p>
                    <a:p>
                      <a:pPr algn="l">
                        <a:lnSpc>
                          <a:spcPct val="100000"/>
                        </a:lnSpc>
                        <a:spcBef>
                          <a:spcPts val="0"/>
                        </a:spcBef>
                        <a:spcAft>
                          <a:spcPts val="0"/>
                        </a:spcAft>
                      </a:pPr>
                      <a:r>
                        <a:rPr sz="1300" b="0">
                          <a:solidFill>
                            <a:srgbClr val="1F1F1F"/>
                          </a:solidFill>
                          <a:latin typeface="Calibri"/>
                        </a:rPr>
                        <a:t>definida no inciso XXIV</a:t>
                      </a:r>
                    </a:p>
                    <a:p>
                      <a:pPr algn="l">
                        <a:lnSpc>
                          <a:spcPct val="100000"/>
                        </a:lnSpc>
                        <a:spcBef>
                          <a:spcPts val="0"/>
                        </a:spcBef>
                        <a:spcAft>
                          <a:spcPts val="0"/>
                        </a:spcAft>
                      </a:pPr>
                      <a:r>
                        <a:rPr sz="1300" b="0">
                          <a:solidFill>
                            <a:srgbClr val="1F1F1F"/>
                          </a:solidFill>
                          <a:latin typeface="Calibri"/>
                        </a:rPr>
                        <a:t>do Art. 3º da parte</a:t>
                      </a:r>
                    </a:p>
                    <a:p>
                      <a:pPr algn="l">
                        <a:lnSpc>
                          <a:spcPct val="100000"/>
                        </a:lnSpc>
                        <a:spcBef>
                          <a:spcPts val="0"/>
                        </a:spcBef>
                        <a:spcAft>
                          <a:spcPts val="0"/>
                        </a:spcAft>
                      </a:pPr>
                      <a:r>
                        <a:rPr sz="1300" b="0">
                          <a:solidFill>
                            <a:srgbClr val="1F1F1F"/>
                          </a:solidFill>
                          <a:latin typeface="Calibri"/>
                        </a:rPr>
                        <a:t>geral da Resolução CVM</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derivativos, pela sua</a:t>
                      </a:r>
                    </a:p>
                    <a:p>
                      <a:pPr algn="l">
                        <a:lnSpc>
                          <a:spcPct val="100000"/>
                        </a:lnSpc>
                        <a:spcBef>
                          <a:spcPts val="0"/>
                        </a:spcBef>
                        <a:spcAft>
                          <a:spcPts val="0"/>
                        </a:spcAft>
                      </a:pPr>
                      <a:r>
                        <a:rPr sz="1300" b="0">
                          <a:solidFill>
                            <a:srgbClr val="1F1F1F"/>
                          </a:solidFill>
                          <a:latin typeface="Calibri"/>
                        </a:rPr>
                        <a:t>própria natureza,</a:t>
                      </a:r>
                    </a:p>
                    <a:p>
                      <a:pPr algn="l">
                        <a:lnSpc>
                          <a:spcPct val="100000"/>
                        </a:lnSpc>
                        <a:spcBef>
                          <a:spcPts val="0"/>
                        </a:spcBef>
                        <a:spcAft>
                          <a:spcPts val="0"/>
                        </a:spcAft>
                      </a:pPr>
                      <a:r>
                        <a:rPr sz="1300" b="0">
                          <a:solidFill>
                            <a:srgbClr val="1F1F1F"/>
                          </a:solidFill>
                          <a:latin typeface="Calibri"/>
                        </a:rPr>
                        <a:t>acrescentam riscos à</a:t>
                      </a:r>
                    </a:p>
                    <a:p>
                      <a:pPr algn="l">
                        <a:lnSpc>
                          <a:spcPct val="100000"/>
                        </a:lnSpc>
                        <a:spcBef>
                          <a:spcPts val="0"/>
                        </a:spcBef>
                        <a:spcAft>
                          <a:spcPts val="0"/>
                        </a:spcAft>
                      </a:pPr>
                      <a:r>
                        <a:rPr sz="1300" b="0">
                          <a:solidFill>
                            <a:srgbClr val="1F1F1F"/>
                          </a:solidFill>
                          <a:latin typeface="Calibri"/>
                        </a:rPr>
                        <a:t>Carteira e poderão</a:t>
                      </a:r>
                    </a:p>
                    <a:p>
                      <a:pPr algn="l">
                        <a:lnSpc>
                          <a:spcPct val="100000"/>
                        </a:lnSpc>
                        <a:spcBef>
                          <a:spcPts val="0"/>
                        </a:spcBef>
                        <a:spcAft>
                          <a:spcPts val="0"/>
                        </a:spcAft>
                      </a:pPr>
                      <a:r>
                        <a:rPr sz="1300" b="0">
                          <a:solidFill>
                            <a:srgbClr val="1F1F1F"/>
                          </a:solidFill>
                          <a:latin typeface="Calibri"/>
                        </a:rPr>
                        <a:t>afetar negativamente a</a:t>
                      </a:r>
                    </a:p>
                    <a:p>
                      <a:pPr algn="l">
                        <a:lnSpc>
                          <a:spcPct val="100000"/>
                        </a:lnSpc>
                        <a:spcBef>
                          <a:spcPts val="0"/>
                        </a:spcBef>
                        <a:spcAft>
                          <a:spcPts val="0"/>
                        </a:spcAft>
                      </a:pPr>
                      <a:r>
                        <a:rPr sz="1300" b="0">
                          <a:solidFill>
                            <a:srgbClr val="1F1F1F"/>
                          </a:solidFill>
                          <a:latin typeface="Calibri"/>
                        </a:rPr>
                        <a:t>sua rentabilidade, até</a:t>
                      </a:r>
                    </a:p>
                    <a:p>
                      <a:pPr algn="l">
                        <a:lnSpc>
                          <a:spcPct val="100000"/>
                        </a:lnSpc>
                        <a:spcBef>
                          <a:spcPts val="0"/>
                        </a:spcBef>
                        <a:spcAft>
                          <a:spcPts val="0"/>
                        </a:spcAft>
                      </a:pPr>
                      <a:r>
                        <a:rPr sz="1300" b="0">
                          <a:solidFill>
                            <a:srgbClr val="1F1F1F"/>
                          </a:solidFill>
                          <a:latin typeface="Calibri"/>
                        </a:rPr>
                        <a:t>o limite do Patrimônio</a:t>
                      </a:r>
                    </a:p>
                    <a:p>
                      <a:pPr algn="l">
                        <a:lnSpc>
                          <a:spcPct val="100000"/>
                        </a:lnSpc>
                        <a:spcBef>
                          <a:spcPts val="0"/>
                        </a:spcBef>
                        <a:spcAft>
                          <a:spcPts val="0"/>
                        </a:spcAft>
                      </a:pPr>
                      <a:r>
                        <a:rPr sz="1300" b="0">
                          <a:solidFill>
                            <a:srgbClr val="1F1F1F"/>
                          </a:solidFill>
                          <a:latin typeface="Calibri"/>
                        </a:rPr>
                        <a:t>Líquido.</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73/160</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Hedge e prestadores</a:t>
            </a:r>
          </a:p>
        </p:txBody>
      </p:sp>
      <p:graphicFrame>
        <p:nvGraphicFramePr>
          <p:cNvPr id="3" name="Table 2"/>
          <p:cNvGraphicFramePr>
            <a:graphicFrameLocks noGrp="1"/>
          </p:cNvGraphicFramePr>
          <p:nvPr/>
        </p:nvGraphicFramePr>
        <p:xfrm>
          <a:off x="438912" y="932688"/>
          <a:ext cx="11313868" cy="1975103"/>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1033271">
                <a:tc>
                  <a:txBody>
                    <a:bodyPr wrap="square">
                      <a:noAutofit/>
                    </a:bodyPr>
                    <a:lstStyle/>
                    <a:p>
                      <a:pPr algn="l">
                        <a:lnSpc>
                          <a:spcPct val="100000"/>
                        </a:lnSpc>
                        <a:spcBef>
                          <a:spcPts val="0"/>
                        </a:spcBef>
                        <a:spcAft>
                          <a:spcPts val="0"/>
                        </a:spcAft>
                      </a:pPr>
                      <a:r>
                        <a:rPr sz="1300" b="1">
                          <a:solidFill>
                            <a:srgbClr val="1F1F1F"/>
                          </a:solidFill>
                          <a:latin typeface="Calibri"/>
                        </a:rPr>
                        <a:t>Finalidade e limites de</a:t>
                      </a:r>
                    </a:p>
                    <a:p>
                      <a:pPr algn="l">
                        <a:lnSpc>
                          <a:spcPct val="100000"/>
                        </a:lnSpc>
                        <a:spcBef>
                          <a:spcPts val="0"/>
                        </a:spcBef>
                        <a:spcAft>
                          <a:spcPts val="0"/>
                        </a:spcAft>
                      </a:pPr>
                      <a:r>
                        <a:rPr sz="1300" b="1">
                          <a:solidFill>
                            <a:srgbClr val="1F1F1F"/>
                          </a:solidFill>
                          <a:latin typeface="Calibri"/>
                        </a:rPr>
                        <a:t>derivativos</a:t>
                      </a:r>
                    </a:p>
                    <a:p>
                      <a:pPr algn="l">
                        <a:lnSpc>
                          <a:spcPct val="100000"/>
                        </a:lnSpc>
                        <a:spcBef>
                          <a:spcPts val="0"/>
                        </a:spcBef>
                        <a:spcAft>
                          <a:spcPts val="0"/>
                        </a:spcAft>
                      </a:pPr>
                      <a:r>
                        <a:rPr sz="1300" b="1">
                          <a:solidFill>
                            <a:srgbClr val="1F1F1F"/>
                          </a:solidFill>
                          <a:latin typeface="Calibri"/>
                        </a:rPr>
                        <a:t>(continuação)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175, troca de indexador</a:t>
                      </a:r>
                    </a:p>
                    <a:p>
                      <a:pPr algn="l">
                        <a:lnSpc>
                          <a:spcPct val="100000"/>
                        </a:lnSpc>
                        <a:spcBef>
                          <a:spcPts val="0"/>
                        </a:spcBef>
                        <a:spcAft>
                          <a:spcPts val="0"/>
                        </a:spcAft>
                      </a:pPr>
                      <a:r>
                        <a:rPr sz="1300" b="0">
                          <a:solidFill>
                            <a:srgbClr val="1F1F1F"/>
                          </a:solidFill>
                          <a:latin typeface="Calibri"/>
                        </a:rPr>
                        <a:t>a que os ativos estão</a:t>
                      </a:r>
                    </a:p>
                    <a:p>
                      <a:pPr algn="l">
                        <a:lnSpc>
                          <a:spcPct val="100000"/>
                        </a:lnSpc>
                        <a:spcBef>
                          <a:spcPts val="0"/>
                        </a:spcBef>
                        <a:spcAft>
                          <a:spcPts val="0"/>
                        </a:spcAft>
                      </a:pPr>
                      <a:r>
                        <a:rPr sz="1300" b="0">
                          <a:solidFill>
                            <a:srgbClr val="1F1F1F"/>
                          </a:solidFill>
                          <a:latin typeface="Calibri"/>
                        </a:rPr>
                        <a:t>indexados e o índice de</a:t>
                      </a:r>
                    </a:p>
                    <a:p>
                      <a:pPr algn="l">
                        <a:lnSpc>
                          <a:spcPct val="100000"/>
                        </a:lnSpc>
                        <a:spcBef>
                          <a:spcPts val="0"/>
                        </a:spcBef>
                        <a:spcAft>
                          <a:spcPts val="0"/>
                        </a:spcAft>
                      </a:pPr>
                      <a:r>
                        <a:rPr sz="1300" b="0">
                          <a:solidFill>
                            <a:srgbClr val="1F1F1F"/>
                          </a:solidFill>
                          <a:latin typeface="Calibri"/>
                        </a:rPr>
                        <a:t>ref erência de cada</a:t>
                      </a:r>
                    </a:p>
                    <a:p>
                      <a:pPr algn="l">
                        <a:lnSpc>
                          <a:spcPct val="100000"/>
                        </a:lnSpc>
                        <a:spcBef>
                          <a:spcPts val="0"/>
                        </a:spcBef>
                        <a:spcAft>
                          <a:spcPts val="0"/>
                        </a:spcAft>
                      </a:pPr>
                      <a:r>
                        <a:rPr sz="1300" b="0">
                          <a:solidFill>
                            <a:srgbClr val="1F1F1F"/>
                          </a:solidFill>
                          <a:latin typeface="Calibri"/>
                        </a:rPr>
                        <a:t>Subclasse.</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a:noFill/>
                    </a:lnB>
                  </a:tcPr>
                </a:tc>
              </a:tr>
              <a:tr h="470916">
                <a:tc>
                  <a:txBody>
                    <a:bodyPr wrap="square">
                      <a:noAutofit/>
                    </a:bodyPr>
                    <a:lstStyle/>
                    <a:p>
                      <a:pPr algn="l">
                        <a:lnSpc>
                          <a:spcPct val="100000"/>
                        </a:lnSpc>
                        <a:spcBef>
                          <a:spcPts val="0"/>
                        </a:spcBef>
                        <a:spcAft>
                          <a:spcPts val="0"/>
                        </a:spcAft>
                      </a:pPr>
                      <a:r>
                        <a:rPr sz="1300" b="1">
                          <a:solidFill>
                            <a:srgbClr val="1F1F1F"/>
                          </a:solidFill>
                          <a:latin typeface="Calibri"/>
                        </a:rPr>
                        <a:t>Prioridade do hedge e</a:t>
                      </a:r>
                    </a:p>
                    <a:p>
                      <a:pPr algn="l">
                        <a:lnSpc>
                          <a:spcPct val="100000"/>
                        </a:lnSpc>
                        <a:spcBef>
                          <a:spcPts val="0"/>
                        </a:spcBef>
                        <a:spcAft>
                          <a:spcPts val="0"/>
                        </a:spcAft>
                      </a:pPr>
                      <a:r>
                        <a:rPr sz="1300" b="1">
                          <a:solidFill>
                            <a:srgbClr val="1F1F1F"/>
                          </a:solidFill>
                          <a:latin typeface="Calibri"/>
                        </a:rPr>
                        <a:t>reserva de MTM</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74/160</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Hedge e prestadores</a:t>
            </a:r>
          </a:p>
        </p:txBody>
      </p:sp>
      <p:graphicFrame>
        <p:nvGraphicFramePr>
          <p:cNvPr id="3" name="Table 2"/>
          <p:cNvGraphicFramePr>
            <a:graphicFrameLocks noGrp="1"/>
          </p:cNvGraphicFramePr>
          <p:nvPr/>
        </p:nvGraphicFramePr>
        <p:xfrm>
          <a:off x="438912" y="932688"/>
          <a:ext cx="11313868" cy="5253228"/>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4782312">
                <a:tc>
                  <a:txBody>
                    <a:bodyPr wrap="square">
                      <a:noAutofit/>
                    </a:bodyPr>
                    <a:lstStyle/>
                    <a:p>
                      <a:pPr algn="l">
                        <a:lnSpc>
                          <a:spcPct val="100000"/>
                        </a:lnSpc>
                        <a:spcBef>
                          <a:spcPts val="0"/>
                        </a:spcBef>
                        <a:spcAft>
                          <a:spcPts val="0"/>
                        </a:spcAft>
                      </a:pPr>
                      <a:r>
                        <a:rPr sz="1300" b="1">
                          <a:solidFill>
                            <a:srgbClr val="1F1F1F"/>
                          </a:solidFill>
                          <a:latin typeface="Calibri"/>
                        </a:rPr>
                        <a:t>Administrador, gestor e</a:t>
                      </a:r>
                    </a:p>
                    <a:p>
                      <a:pPr algn="l">
                        <a:lnSpc>
                          <a:spcPct val="100000"/>
                        </a:lnSpc>
                        <a:spcBef>
                          <a:spcPts val="0"/>
                        </a:spcBef>
                        <a:spcAft>
                          <a:spcPts val="0"/>
                        </a:spcAft>
                      </a:pPr>
                      <a:r>
                        <a:rPr sz="1300" b="1">
                          <a:solidFill>
                            <a:srgbClr val="1F1F1F"/>
                          </a:solidFill>
                          <a:latin typeface="Calibri"/>
                        </a:rPr>
                        <a:t>custodiante</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BTG Pactual Serviços</a:t>
                      </a:r>
                    </a:p>
                    <a:p>
                      <a:pPr algn="l">
                        <a:lnSpc>
                          <a:spcPct val="100000"/>
                        </a:lnSpc>
                        <a:spcBef>
                          <a:spcPts val="0"/>
                        </a:spcBef>
                        <a:spcAft>
                          <a:spcPts val="0"/>
                        </a:spcAft>
                      </a:pPr>
                      <a:r>
                        <a:rPr sz="1300" b="0">
                          <a:solidFill>
                            <a:srgbClr val="1F1F1F"/>
                          </a:solidFill>
                          <a:latin typeface="Calibri"/>
                        </a:rPr>
                        <a:t>Financeiros S.A.</a:t>
                      </a:r>
                    </a:p>
                    <a:p>
                      <a:pPr algn="l">
                        <a:lnSpc>
                          <a:spcPct val="100000"/>
                        </a:lnSpc>
                        <a:spcBef>
                          <a:spcPts val="0"/>
                        </a:spcBef>
                        <a:spcAft>
                          <a:spcPts val="0"/>
                        </a:spcAft>
                      </a:pPr>
                      <a:r>
                        <a:rPr sz="1300" b="0">
                          <a:solidFill>
                            <a:srgbClr val="1F1F1F"/>
                          </a:solidFill>
                          <a:latin typeface="Calibri"/>
                        </a:rPr>
                        <a:t>Distribuidora de</a:t>
                      </a:r>
                    </a:p>
                    <a:p>
                      <a:pPr algn="l">
                        <a:lnSpc>
                          <a:spcPct val="100000"/>
                        </a:lnSpc>
                        <a:spcBef>
                          <a:spcPts val="0"/>
                        </a:spcBef>
                        <a:spcAft>
                          <a:spcPts val="0"/>
                        </a:spcAft>
                      </a:pPr>
                      <a:r>
                        <a:rPr sz="1300" b="0">
                          <a:solidFill>
                            <a:srgbClr val="1F1F1F"/>
                          </a:solidFill>
                          <a:latin typeface="Calibri"/>
                        </a:rPr>
                        <a:t>Títulos e Valores</a:t>
                      </a:r>
                    </a:p>
                    <a:p>
                      <a:pPr algn="l">
                        <a:lnSpc>
                          <a:spcPct val="100000"/>
                        </a:lnSpc>
                        <a:spcBef>
                          <a:spcPts val="0"/>
                        </a:spcBef>
                        <a:spcAft>
                          <a:spcPts val="0"/>
                        </a:spcAft>
                      </a:pPr>
                      <a:r>
                        <a:rPr sz="1300" b="0">
                          <a:solidFill>
                            <a:srgbClr val="1F1F1F"/>
                          </a:solidFill>
                          <a:latin typeface="Calibri"/>
                        </a:rPr>
                        <a:t>Mobiliários,</a:t>
                      </a:r>
                    </a:p>
                    <a:p>
                      <a:pPr algn="l">
                        <a:lnSpc>
                          <a:spcPct val="100000"/>
                        </a:lnSpc>
                        <a:spcBef>
                          <a:spcPts val="0"/>
                        </a:spcBef>
                        <a:spcAft>
                          <a:spcPts val="0"/>
                        </a:spcAft>
                      </a:pPr>
                      <a:r>
                        <a:rPr sz="1300" b="0">
                          <a:solidFill>
                            <a:srgbClr val="1F1F1F"/>
                          </a:solidFill>
                          <a:latin typeface="Calibri"/>
                        </a:rPr>
                        <a:t>instituição f</a:t>
                      </a:r>
                    </a:p>
                    <a:p>
                      <a:pPr algn="l">
                        <a:lnSpc>
                          <a:spcPct val="100000"/>
                        </a:lnSpc>
                        <a:spcBef>
                          <a:spcPts val="0"/>
                        </a:spcBef>
                        <a:spcAft>
                          <a:spcPts val="0"/>
                        </a:spcAft>
                      </a:pPr>
                      <a:r>
                        <a:rPr sz="1300" b="0">
                          <a:solidFill>
                            <a:srgbClr val="1F1F1F"/>
                          </a:solidFill>
                          <a:latin typeface="Calibri"/>
                        </a:rPr>
                        <a:t>inanceira, com sede na</a:t>
                      </a:r>
                    </a:p>
                    <a:p>
                      <a:pPr algn="l">
                        <a:lnSpc>
                          <a:spcPct val="100000"/>
                        </a:lnSpc>
                        <a:spcBef>
                          <a:spcPts val="0"/>
                        </a:spcBef>
                        <a:spcAft>
                          <a:spcPts val="0"/>
                        </a:spcAft>
                      </a:pPr>
                      <a:r>
                        <a:rPr sz="1300" b="0">
                          <a:solidFill>
                            <a:srgbClr val="1F1F1F"/>
                          </a:solidFill>
                          <a:latin typeface="Calibri"/>
                        </a:rPr>
                        <a:t>Cidade e Estado do Rio</a:t>
                      </a:r>
                    </a:p>
                    <a:p>
                      <a:pPr algn="l">
                        <a:lnSpc>
                          <a:spcPct val="100000"/>
                        </a:lnSpc>
                        <a:spcBef>
                          <a:spcPts val="0"/>
                        </a:spcBef>
                        <a:spcAft>
                          <a:spcPts val="0"/>
                        </a:spcAft>
                      </a:pPr>
                      <a:r>
                        <a:rPr sz="1300" b="0">
                          <a:solidFill>
                            <a:srgbClr val="1F1F1F"/>
                          </a:solidFill>
                          <a:latin typeface="Calibri"/>
                        </a:rPr>
                        <a:t>de Janeiro, na Praia de</a:t>
                      </a:r>
                    </a:p>
                    <a:p>
                      <a:pPr algn="l">
                        <a:lnSpc>
                          <a:spcPct val="100000"/>
                        </a:lnSpc>
                        <a:spcBef>
                          <a:spcPts val="0"/>
                        </a:spcBef>
                        <a:spcAft>
                          <a:spcPts val="0"/>
                        </a:spcAft>
                      </a:pPr>
                      <a:r>
                        <a:rPr sz="1300" b="0">
                          <a:solidFill>
                            <a:srgbClr val="1F1F1F"/>
                          </a:solidFill>
                          <a:latin typeface="Calibri"/>
                        </a:rPr>
                        <a:t>Botafogo, nº 501, 5º</a:t>
                      </a:r>
                    </a:p>
                    <a:p>
                      <a:pPr algn="l">
                        <a:lnSpc>
                          <a:spcPct val="100000"/>
                        </a:lnSpc>
                        <a:spcBef>
                          <a:spcPts val="0"/>
                        </a:spcBef>
                        <a:spcAft>
                          <a:spcPts val="0"/>
                        </a:spcAft>
                      </a:pPr>
                      <a:r>
                        <a:rPr sz="1300" b="0">
                          <a:solidFill>
                            <a:srgbClr val="1F1F1F"/>
                          </a:solidFill>
                          <a:latin typeface="Calibri"/>
                        </a:rPr>
                        <a:t>andar (parte), Torre</a:t>
                      </a:r>
                    </a:p>
                    <a:p>
                      <a:pPr algn="l">
                        <a:lnSpc>
                          <a:spcPct val="100000"/>
                        </a:lnSpc>
                        <a:spcBef>
                          <a:spcPts val="0"/>
                        </a:spcBef>
                        <a:spcAft>
                          <a:spcPts val="0"/>
                        </a:spcAft>
                      </a:pPr>
                      <a:r>
                        <a:rPr sz="1300" b="0">
                          <a:solidFill>
                            <a:srgbClr val="1F1F1F"/>
                          </a:solidFill>
                          <a:latin typeface="Calibri"/>
                        </a:rPr>
                        <a:t>Corcovado,</a:t>
                      </a:r>
                    </a:p>
                    <a:p>
                      <a:pPr algn="l">
                        <a:lnSpc>
                          <a:spcPct val="100000"/>
                        </a:lnSpc>
                        <a:spcBef>
                          <a:spcPts val="0"/>
                        </a:spcBef>
                        <a:spcAft>
                          <a:spcPts val="0"/>
                        </a:spcAft>
                      </a:pPr>
                      <a:r>
                        <a:rPr sz="1300" b="0">
                          <a:solidFill>
                            <a:srgbClr val="1F1F1F"/>
                          </a:solidFill>
                          <a:latin typeface="Calibri"/>
                        </a:rPr>
                        <a:t>ADMINISTRADOR Botafogo,</a:t>
                      </a:r>
                    </a:p>
                    <a:p>
                      <a:pPr algn="l">
                        <a:lnSpc>
                          <a:spcPct val="100000"/>
                        </a:lnSpc>
                        <a:spcBef>
                          <a:spcPts val="0"/>
                        </a:spcBef>
                        <a:spcAft>
                          <a:spcPts val="0"/>
                        </a:spcAft>
                      </a:pPr>
                      <a:r>
                        <a:rPr sz="1300" b="0">
                          <a:solidFill>
                            <a:srgbClr val="1F1F1F"/>
                          </a:solidFill>
                          <a:latin typeface="Calibri"/>
                        </a:rPr>
                        <a:t>CEP 22250-040, inscrita</a:t>
                      </a:r>
                    </a:p>
                    <a:p>
                      <a:pPr algn="l">
                        <a:lnSpc>
                          <a:spcPct val="100000"/>
                        </a:lnSpc>
                        <a:spcBef>
                          <a:spcPts val="0"/>
                        </a:spcBef>
                        <a:spcAft>
                          <a:spcPts val="0"/>
                        </a:spcAft>
                      </a:pPr>
                      <a:r>
                        <a:rPr sz="1300" b="0">
                          <a:solidFill>
                            <a:srgbClr val="1F1F1F"/>
                          </a:solidFill>
                          <a:latin typeface="Calibri"/>
                        </a:rPr>
                        <a:t>no CNPJ sob o nº</a:t>
                      </a:r>
                    </a:p>
                    <a:p>
                      <a:pPr algn="l">
                        <a:lnSpc>
                          <a:spcPct val="100000"/>
                        </a:lnSpc>
                        <a:spcBef>
                          <a:spcPts val="0"/>
                        </a:spcBef>
                        <a:spcAft>
                          <a:spcPts val="0"/>
                        </a:spcAft>
                      </a:pPr>
                      <a:r>
                        <a:rPr sz="1300" b="0">
                          <a:solidFill>
                            <a:srgbClr val="1F1F1F"/>
                          </a:solidFill>
                          <a:latin typeface="Calibri"/>
                        </a:rPr>
                        <a:t>59.281.253/0001-23 e</a:t>
                      </a:r>
                    </a:p>
                    <a:p>
                      <a:pPr algn="l">
                        <a:lnSpc>
                          <a:spcPct val="100000"/>
                        </a:lnSpc>
                        <a:spcBef>
                          <a:spcPts val="0"/>
                        </a:spcBef>
                        <a:spcAft>
                          <a:spcPts val="0"/>
                        </a:spcAft>
                      </a:pPr>
                      <a:r>
                        <a:rPr sz="1300" b="0">
                          <a:solidFill>
                            <a:srgbClr val="1F1F1F"/>
                          </a:solidFill>
                          <a:latin typeface="Calibri"/>
                        </a:rPr>
                        <a:t>credenciada como</a:t>
                      </a:r>
                    </a:p>
                    <a:p>
                      <a:pPr algn="l">
                        <a:lnSpc>
                          <a:spcPct val="100000"/>
                        </a:lnSpc>
                        <a:spcBef>
                          <a:spcPts val="0"/>
                        </a:spcBef>
                        <a:spcAft>
                          <a:spcPts val="0"/>
                        </a:spcAft>
                      </a:pPr>
                      <a:r>
                        <a:rPr sz="1300" b="0">
                          <a:solidFill>
                            <a:srgbClr val="1F1F1F"/>
                          </a:solidFill>
                          <a:latin typeface="Calibri"/>
                        </a:rPr>
                        <a:t>administradora de</a:t>
                      </a:r>
                    </a:p>
                    <a:p>
                      <a:pPr algn="l">
                        <a:lnSpc>
                          <a:spcPct val="100000"/>
                        </a:lnSpc>
                        <a:spcBef>
                          <a:spcPts val="0"/>
                        </a:spcBef>
                        <a:spcAft>
                          <a:spcPts val="0"/>
                        </a:spcAft>
                      </a:pPr>
                      <a:r>
                        <a:rPr sz="1300" b="0">
                          <a:solidFill>
                            <a:srgbClr val="1F1F1F"/>
                          </a:solidFill>
                          <a:latin typeface="Calibri"/>
                        </a:rPr>
                        <a:t>carteira, de acordo com</a:t>
                      </a:r>
                    </a:p>
                    <a:p>
                      <a:pPr algn="l">
                        <a:lnSpc>
                          <a:spcPct val="100000"/>
                        </a:lnSpc>
                        <a:spcBef>
                          <a:spcPts val="0"/>
                        </a:spcBef>
                        <a:spcAft>
                          <a:spcPts val="0"/>
                        </a:spcAft>
                      </a:pPr>
                      <a:r>
                        <a:rPr sz="1300" b="0">
                          <a:solidFill>
                            <a:srgbClr val="1F1F1F"/>
                          </a:solidFill>
                          <a:latin typeface="Calibri"/>
                        </a:rPr>
                        <a:t>o Ato Declaratório CVM</a:t>
                      </a:r>
                    </a:p>
                    <a:p>
                      <a:pPr algn="l">
                        <a:lnSpc>
                          <a:spcPct val="100000"/>
                        </a:lnSpc>
                        <a:spcBef>
                          <a:spcPts val="0"/>
                        </a:spcBef>
                        <a:spcAft>
                          <a:spcPts val="0"/>
                        </a:spcAft>
                      </a:pPr>
                      <a:r>
                        <a:rPr sz="1300" b="0">
                          <a:solidFill>
                            <a:srgbClr val="1F1F1F"/>
                          </a:solidFill>
                          <a:latin typeface="Calibri"/>
                        </a:rPr>
                        <a:t>nº 8.695, de 20 de</a:t>
                      </a:r>
                    </a:p>
                    <a:p>
                      <a:pPr algn="l">
                        <a:lnSpc>
                          <a:spcPct val="100000"/>
                        </a:lnSpc>
                        <a:spcBef>
                          <a:spcPts val="0"/>
                        </a:spcBef>
                        <a:spcAft>
                          <a:spcPts val="0"/>
                        </a:spcAft>
                      </a:pPr>
                      <a:r>
                        <a:rPr sz="1300" b="0">
                          <a:solidFill>
                            <a:srgbClr val="1F1F1F"/>
                          </a:solidFill>
                          <a:latin typeface="Calibri"/>
                        </a:rPr>
                        <a:t>março de 2006</a:t>
                      </a:r>
                    </a:p>
                    <a:p>
                      <a:pPr algn="l">
                        <a:lnSpc>
                          <a:spcPct val="100000"/>
                        </a:lnSpc>
                        <a:spcBef>
                          <a:spcPts val="0"/>
                        </a:spcBef>
                        <a:spcAft>
                          <a:spcPts val="0"/>
                        </a:spcAft>
                      </a:pPr>
                      <a:r>
                        <a:rPr sz="1300" b="0">
                          <a:solidFill>
                            <a:srgbClr val="1F1F1F"/>
                          </a:solidFill>
                          <a:latin typeface="Calibri"/>
                        </a:rPr>
                        <a:t>(“ADMINISTRADOR”).</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Banco BTG Pactual S.A.,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BTG Pactual Asset</a:t>
                      </a:r>
                    </a:p>
                    <a:p>
                      <a:pPr algn="l">
                        <a:lnSpc>
                          <a:spcPct val="100000"/>
                        </a:lnSpc>
                        <a:spcBef>
                          <a:spcPts val="0"/>
                        </a:spcBef>
                        <a:spcAft>
                          <a:spcPts val="0"/>
                        </a:spcAft>
                      </a:pPr>
                      <a:r>
                        <a:rPr sz="1300" b="0">
                          <a:solidFill>
                            <a:srgbClr val="1F1F1F"/>
                          </a:solidFill>
                          <a:latin typeface="Calibri"/>
                        </a:rPr>
                        <a:t>Management S.A.</a:t>
                      </a:r>
                    </a:p>
                    <a:p>
                      <a:pPr algn="l">
                        <a:lnSpc>
                          <a:spcPct val="100000"/>
                        </a:lnSpc>
                        <a:spcBef>
                          <a:spcPts val="0"/>
                        </a:spcBef>
                        <a:spcAft>
                          <a:spcPts val="0"/>
                        </a:spcAft>
                      </a:pPr>
                      <a:r>
                        <a:rPr sz="1300" b="0">
                          <a:solidFill>
                            <a:srgbClr val="1F1F1F"/>
                          </a:solidFill>
                          <a:latin typeface="Calibri"/>
                        </a:rPr>
                        <a:t>Distribuidora de</a:t>
                      </a:r>
                    </a:p>
                    <a:p>
                      <a:pPr algn="l">
                        <a:lnSpc>
                          <a:spcPct val="100000"/>
                        </a:lnSpc>
                        <a:spcBef>
                          <a:spcPts val="0"/>
                        </a:spcBef>
                        <a:spcAft>
                          <a:spcPts val="0"/>
                        </a:spcAft>
                      </a:pPr>
                      <a:r>
                        <a:rPr sz="1300" b="0">
                          <a:solidFill>
                            <a:srgbClr val="1F1F1F"/>
                          </a:solidFill>
                          <a:latin typeface="Calibri"/>
                        </a:rPr>
                        <a:t>Títulos e Valores</a:t>
                      </a:r>
                    </a:p>
                    <a:p>
                      <a:pPr algn="l">
                        <a:lnSpc>
                          <a:spcPct val="100000"/>
                        </a:lnSpc>
                        <a:spcBef>
                          <a:spcPts val="0"/>
                        </a:spcBef>
                        <a:spcAft>
                          <a:spcPts val="0"/>
                        </a:spcAft>
                      </a:pPr>
                      <a:r>
                        <a:rPr sz="1300" b="0">
                          <a:solidFill>
                            <a:srgbClr val="1F1F1F"/>
                          </a:solidFill>
                          <a:latin typeface="Calibri"/>
                        </a:rPr>
                        <a:t>Mobiliários, sociedade</a:t>
                      </a:r>
                    </a:p>
                    <a:p>
                      <a:pPr algn="l">
                        <a:lnSpc>
                          <a:spcPct val="100000"/>
                        </a:lnSpc>
                        <a:spcBef>
                          <a:spcPts val="0"/>
                        </a:spcBef>
                        <a:spcAft>
                          <a:spcPts val="0"/>
                        </a:spcAft>
                      </a:pPr>
                      <a:r>
                        <a:rPr sz="1300" b="0">
                          <a:solidFill>
                            <a:srgbClr val="1F1F1F"/>
                          </a:solidFill>
                          <a:latin typeface="Calibri"/>
                        </a:rPr>
                        <a:t>anônima, com sede no</a:t>
                      </a:r>
                    </a:p>
                    <a:p>
                      <a:pPr algn="l">
                        <a:lnSpc>
                          <a:spcPct val="100000"/>
                        </a:lnSpc>
                        <a:spcBef>
                          <a:spcPts val="0"/>
                        </a:spcBef>
                        <a:spcAft>
                          <a:spcPts val="0"/>
                        </a:spcAft>
                      </a:pPr>
                      <a:r>
                        <a:rPr sz="1300" b="0">
                          <a:solidFill>
                            <a:srgbClr val="1F1F1F"/>
                          </a:solidFill>
                          <a:latin typeface="Calibri"/>
                        </a:rPr>
                        <a:t>município do Rio de</a:t>
                      </a:r>
                    </a:p>
                    <a:p>
                      <a:pPr algn="l">
                        <a:lnSpc>
                          <a:spcPct val="100000"/>
                        </a:lnSpc>
                        <a:spcBef>
                          <a:spcPts val="0"/>
                        </a:spcBef>
                        <a:spcAft>
                          <a:spcPts val="0"/>
                        </a:spcAft>
                      </a:pPr>
                      <a:r>
                        <a:rPr sz="1300" b="0">
                          <a:solidFill>
                            <a:srgbClr val="1F1F1F"/>
                          </a:solidFill>
                          <a:latin typeface="Calibri"/>
                        </a:rPr>
                        <a:t>Janeiro, Estado do Rio</a:t>
                      </a:r>
                    </a:p>
                    <a:p>
                      <a:pPr algn="l">
                        <a:lnSpc>
                          <a:spcPct val="100000"/>
                        </a:lnSpc>
                        <a:spcBef>
                          <a:spcPts val="0"/>
                        </a:spcBef>
                        <a:spcAft>
                          <a:spcPts val="0"/>
                        </a:spcAft>
                      </a:pPr>
                      <a:r>
                        <a:rPr sz="1300" b="0">
                          <a:solidFill>
                            <a:srgbClr val="1F1F1F"/>
                          </a:solidFill>
                          <a:latin typeface="Calibri"/>
                        </a:rPr>
                        <a:t>de Janeiro, na Praia de</a:t>
                      </a:r>
                    </a:p>
                    <a:p>
                      <a:pPr algn="l">
                        <a:lnSpc>
                          <a:spcPct val="100000"/>
                        </a:lnSpc>
                        <a:spcBef>
                          <a:spcPts val="0"/>
                        </a:spcBef>
                        <a:spcAft>
                          <a:spcPts val="0"/>
                        </a:spcAft>
                      </a:pPr>
                      <a:r>
                        <a:rPr sz="1300" b="0">
                          <a:solidFill>
                            <a:srgbClr val="1F1F1F"/>
                          </a:solidFill>
                          <a:latin typeface="Calibri"/>
                        </a:rPr>
                        <a:t>Botafogo, nº 501, Torre</a:t>
                      </a:r>
                    </a:p>
                    <a:p>
                      <a:pPr algn="l">
                        <a:lnSpc>
                          <a:spcPct val="100000"/>
                        </a:lnSpc>
                        <a:spcBef>
                          <a:spcPts val="0"/>
                        </a:spcBef>
                        <a:spcAft>
                          <a:spcPts val="0"/>
                        </a:spcAft>
                      </a:pPr>
                      <a:r>
                        <a:rPr sz="1300" b="0">
                          <a:solidFill>
                            <a:srgbClr val="1F1F1F"/>
                          </a:solidFill>
                          <a:latin typeface="Calibri"/>
                        </a:rPr>
                        <a:t>Corcovado, 5º andar</a:t>
                      </a:r>
                    </a:p>
                    <a:p>
                      <a:pPr algn="l">
                        <a:lnSpc>
                          <a:spcPct val="100000"/>
                        </a:lnSpc>
                        <a:spcBef>
                          <a:spcPts val="0"/>
                        </a:spcBef>
                        <a:spcAft>
                          <a:spcPts val="0"/>
                        </a:spcAft>
                      </a:pPr>
                      <a:r>
                        <a:rPr sz="1300" b="0">
                          <a:solidFill>
                            <a:srgbClr val="1F1F1F"/>
                          </a:solidFill>
                          <a:latin typeface="Calibri"/>
                        </a:rPr>
                        <a:t>(parte), CEP</a:t>
                      </a:r>
                    </a:p>
                    <a:p>
                      <a:pPr algn="l">
                        <a:lnSpc>
                          <a:spcPct val="100000"/>
                        </a:lnSpc>
                        <a:spcBef>
                          <a:spcPts val="0"/>
                        </a:spcBef>
                        <a:spcAft>
                          <a:spcPts val="0"/>
                        </a:spcAft>
                      </a:pPr>
                      <a:r>
                        <a:rPr sz="1300" b="0">
                          <a:solidFill>
                            <a:srgbClr val="1F1F1F"/>
                          </a:solidFill>
                          <a:latin typeface="Calibri"/>
                        </a:rPr>
                        <a:t>22.250-040, inscrita no</a:t>
                      </a:r>
                    </a:p>
                    <a:p>
                      <a:pPr algn="l">
                        <a:lnSpc>
                          <a:spcPct val="100000"/>
                        </a:lnSpc>
                        <a:spcBef>
                          <a:spcPts val="0"/>
                        </a:spcBef>
                        <a:spcAft>
                          <a:spcPts val="0"/>
                        </a:spcAft>
                      </a:pPr>
                      <a:r>
                        <a:rPr sz="1300" b="0">
                          <a:solidFill>
                            <a:srgbClr val="1F1F1F"/>
                          </a:solidFill>
                          <a:latin typeface="Calibri"/>
                        </a:rPr>
                        <a:t>CNPJ sob o nº</a:t>
                      </a:r>
                    </a:p>
                    <a:p>
                      <a:pPr algn="l">
                        <a:lnSpc>
                          <a:spcPct val="100000"/>
                        </a:lnSpc>
                        <a:spcBef>
                          <a:spcPts val="0"/>
                        </a:spcBef>
                        <a:spcAft>
                          <a:spcPts val="0"/>
                        </a:spcAft>
                      </a:pPr>
                      <a:r>
                        <a:rPr sz="1300" b="0">
                          <a:solidFill>
                            <a:srgbClr val="1F1F1F"/>
                          </a:solidFill>
                          <a:latin typeface="Calibri"/>
                        </a:rPr>
                        <a:t>29.650.082/0001-00,</a:t>
                      </a:r>
                    </a:p>
                    <a:p>
                      <a:pPr algn="l">
                        <a:lnSpc>
                          <a:spcPct val="100000"/>
                        </a:lnSpc>
                        <a:spcBef>
                          <a:spcPts val="0"/>
                        </a:spcBef>
                        <a:spcAft>
                          <a:spcPts val="0"/>
                        </a:spcAft>
                      </a:pPr>
                      <a:r>
                        <a:rPr sz="1300" b="0">
                          <a:solidFill>
                            <a:srgbClr val="1F1F1F"/>
                          </a:solidFill>
                          <a:latin typeface="Calibri"/>
                        </a:rPr>
                        <a:t>GESTOR devidamente</a:t>
                      </a:r>
                    </a:p>
                    <a:p>
                      <a:pPr algn="l">
                        <a:lnSpc>
                          <a:spcPct val="100000"/>
                        </a:lnSpc>
                        <a:spcBef>
                          <a:spcPts val="0"/>
                        </a:spcBef>
                        <a:spcAft>
                          <a:spcPts val="0"/>
                        </a:spcAft>
                      </a:pPr>
                      <a:r>
                        <a:rPr sz="1300" b="0">
                          <a:solidFill>
                            <a:srgbClr val="1F1F1F"/>
                          </a:solidFill>
                          <a:latin typeface="Calibri"/>
                        </a:rPr>
                        <a:t>credenciada junto à CVM</a:t>
                      </a:r>
                    </a:p>
                    <a:p>
                      <a:pPr algn="l">
                        <a:lnSpc>
                          <a:spcPct val="100000"/>
                        </a:lnSpc>
                        <a:spcBef>
                          <a:spcPts val="0"/>
                        </a:spcBef>
                        <a:spcAft>
                          <a:spcPts val="0"/>
                        </a:spcAft>
                      </a:pPr>
                      <a:r>
                        <a:rPr sz="1300" b="0">
                          <a:solidFill>
                            <a:srgbClr val="1F1F1F"/>
                          </a:solidFill>
                          <a:latin typeface="Calibri"/>
                        </a:rPr>
                        <a:t>para operar como</a:t>
                      </a:r>
                    </a:p>
                    <a:p>
                      <a:pPr algn="l">
                        <a:lnSpc>
                          <a:spcPct val="100000"/>
                        </a:lnSpc>
                        <a:spcBef>
                          <a:spcPts val="0"/>
                        </a:spcBef>
                        <a:spcAft>
                          <a:spcPts val="0"/>
                        </a:spcAft>
                      </a:pPr>
                      <a:r>
                        <a:rPr sz="1300" b="0">
                          <a:solidFill>
                            <a:srgbClr val="1F1F1F"/>
                          </a:solidFill>
                          <a:latin typeface="Calibri"/>
                        </a:rPr>
                        <a:t>administradora de</a:t>
                      </a:r>
                    </a:p>
                    <a:p>
                      <a:pPr algn="l">
                        <a:lnSpc>
                          <a:spcPct val="100000"/>
                        </a:lnSpc>
                        <a:spcBef>
                          <a:spcPts val="0"/>
                        </a:spcBef>
                        <a:spcAft>
                          <a:spcPts val="0"/>
                        </a:spcAft>
                      </a:pPr>
                      <a:r>
                        <a:rPr sz="1300" b="0">
                          <a:solidFill>
                            <a:srgbClr val="1F1F1F"/>
                          </a:solidFill>
                          <a:latin typeface="Calibri"/>
                        </a:rPr>
                        <a:t>carteira de valores</a:t>
                      </a:r>
                    </a:p>
                    <a:p>
                      <a:pPr algn="l">
                        <a:lnSpc>
                          <a:spcPct val="100000"/>
                        </a:lnSpc>
                        <a:spcBef>
                          <a:spcPts val="0"/>
                        </a:spcBef>
                        <a:spcAft>
                          <a:spcPts val="0"/>
                        </a:spcAft>
                      </a:pPr>
                      <a:r>
                        <a:rPr sz="1300" b="0">
                          <a:solidFill>
                            <a:srgbClr val="1F1F1F"/>
                          </a:solidFill>
                          <a:latin typeface="Calibri"/>
                        </a:rPr>
                        <a:t>mobiliários nos termos</a:t>
                      </a:r>
                    </a:p>
                    <a:p>
                      <a:pPr algn="l">
                        <a:lnSpc>
                          <a:spcPct val="100000"/>
                        </a:lnSpc>
                        <a:spcBef>
                          <a:spcPts val="0"/>
                        </a:spcBef>
                        <a:spcAft>
                          <a:spcPts val="0"/>
                        </a:spcAft>
                      </a:pPr>
                      <a:r>
                        <a:rPr sz="1300" b="0">
                          <a:solidFill>
                            <a:srgbClr val="1F1F1F"/>
                          </a:solidFill>
                          <a:latin typeface="Calibri"/>
                        </a:rPr>
                        <a:t>do Ato Declaratório CVM</a:t>
                      </a:r>
                    </a:p>
                    <a:p>
                      <a:pPr algn="l">
                        <a:lnSpc>
                          <a:spcPct val="100000"/>
                        </a:lnSpc>
                        <a:spcBef>
                          <a:spcPts val="0"/>
                        </a:spcBef>
                        <a:spcAft>
                          <a:spcPts val="0"/>
                        </a:spcAft>
                      </a:pPr>
                      <a:r>
                        <a:rPr sz="1300" b="0">
                          <a:solidFill>
                            <a:srgbClr val="1F1F1F"/>
                          </a:solidFill>
                          <a:latin typeface="Calibri"/>
                        </a:rPr>
                        <a:t>nº 5.968, de 10 de maio</a:t>
                      </a:r>
                    </a:p>
                    <a:p>
                      <a:pPr algn="l">
                        <a:lnSpc>
                          <a:spcPct val="100000"/>
                        </a:lnSpc>
                        <a:spcBef>
                          <a:spcPts val="0"/>
                        </a:spcBef>
                        <a:spcAft>
                          <a:spcPts val="0"/>
                        </a:spcAft>
                      </a:pPr>
                      <a:r>
                        <a:rPr sz="1300" b="0">
                          <a:solidFill>
                            <a:srgbClr val="1F1F1F"/>
                          </a:solidFill>
                          <a:latin typeface="Calibri"/>
                        </a:rPr>
                        <a:t>de 2000 (“Gestor” e,</a:t>
                      </a:r>
                    </a:p>
                    <a:p>
                      <a:pPr algn="l">
                        <a:lnSpc>
                          <a:spcPct val="100000"/>
                        </a:lnSpc>
                        <a:spcBef>
                          <a:spcPts val="0"/>
                        </a:spcBef>
                        <a:spcAft>
                          <a:spcPts val="0"/>
                        </a:spcAft>
                      </a:pPr>
                      <a:r>
                        <a:rPr sz="1300" b="0">
                          <a:solidFill>
                            <a:srgbClr val="1F1F1F"/>
                          </a:solidFill>
                          <a:latin typeface="Calibri"/>
                        </a:rPr>
                        <a:t>quando referido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BTG Pactual Asset</a:t>
                      </a:r>
                    </a:p>
                    <a:p>
                      <a:pPr algn="l">
                        <a:lnSpc>
                          <a:spcPct val="100000"/>
                        </a:lnSpc>
                        <a:spcBef>
                          <a:spcPts val="0"/>
                        </a:spcBef>
                        <a:spcAft>
                          <a:spcPts val="0"/>
                        </a:spcAft>
                      </a:pPr>
                      <a:r>
                        <a:rPr sz="1300" b="0">
                          <a:solidFill>
                            <a:srgbClr val="1F1F1F"/>
                          </a:solidFill>
                          <a:latin typeface="Calibri"/>
                        </a:rPr>
                        <a:t>Management S.A.</a:t>
                      </a:r>
                    </a:p>
                    <a:p>
                      <a:pPr algn="l">
                        <a:lnSpc>
                          <a:spcPct val="100000"/>
                        </a:lnSpc>
                        <a:spcBef>
                          <a:spcPts val="0"/>
                        </a:spcBef>
                        <a:spcAft>
                          <a:spcPts val="0"/>
                        </a:spcAft>
                      </a:pPr>
                      <a:r>
                        <a:rPr sz="1300" b="0">
                          <a:solidFill>
                            <a:srgbClr val="1F1F1F"/>
                          </a:solidFill>
                          <a:latin typeface="Calibri"/>
                        </a:rPr>
                        <a:t>Distribuidora de</a:t>
                      </a:r>
                    </a:p>
                    <a:p>
                      <a:pPr algn="l">
                        <a:lnSpc>
                          <a:spcPct val="100000"/>
                        </a:lnSpc>
                        <a:spcBef>
                          <a:spcPts val="0"/>
                        </a:spcBef>
                        <a:spcAft>
                          <a:spcPts val="0"/>
                        </a:spcAft>
                      </a:pPr>
                      <a:r>
                        <a:rPr sz="1300" b="0">
                          <a:solidFill>
                            <a:srgbClr val="1F1F1F"/>
                          </a:solidFill>
                          <a:latin typeface="Calibri"/>
                        </a:rPr>
                        <a:t>Títulos e Valores</a:t>
                      </a:r>
                    </a:p>
                    <a:p>
                      <a:pPr algn="l">
                        <a:lnSpc>
                          <a:spcPct val="100000"/>
                        </a:lnSpc>
                        <a:spcBef>
                          <a:spcPts val="0"/>
                        </a:spcBef>
                        <a:spcAft>
                          <a:spcPts val="0"/>
                        </a:spcAft>
                      </a:pPr>
                      <a:r>
                        <a:rPr sz="1300" b="0">
                          <a:solidFill>
                            <a:srgbClr val="1F1F1F"/>
                          </a:solidFill>
                          <a:latin typeface="Calibri"/>
                        </a:rPr>
                        <a:t>Mobiliários, com sede</a:t>
                      </a:r>
                    </a:p>
                    <a:p>
                      <a:pPr algn="l">
                        <a:lnSpc>
                          <a:spcPct val="100000"/>
                        </a:lnSpc>
                        <a:spcBef>
                          <a:spcPts val="0"/>
                        </a:spcBef>
                        <a:spcAft>
                          <a:spcPts val="0"/>
                        </a:spcAft>
                      </a:pPr>
                      <a:r>
                        <a:rPr sz="1300" b="0">
                          <a:solidFill>
                            <a:srgbClr val="1F1F1F"/>
                          </a:solidFill>
                          <a:latin typeface="Calibri"/>
                        </a:rPr>
                        <a:t>no município e Estado</a:t>
                      </a:r>
                    </a:p>
                    <a:p>
                      <a:pPr algn="l">
                        <a:lnSpc>
                          <a:spcPct val="100000"/>
                        </a:lnSpc>
                        <a:spcBef>
                          <a:spcPts val="0"/>
                        </a:spcBef>
                        <a:spcAft>
                          <a:spcPts val="0"/>
                        </a:spcAft>
                      </a:pPr>
                      <a:r>
                        <a:rPr sz="1300" b="0">
                          <a:solidFill>
                            <a:srgbClr val="1F1F1F"/>
                          </a:solidFill>
                          <a:latin typeface="Calibri"/>
                        </a:rPr>
                        <a:t>do Rio de Janeiro, na</a:t>
                      </a:r>
                    </a:p>
                    <a:p>
                      <a:pPr algn="l">
                        <a:lnSpc>
                          <a:spcPct val="100000"/>
                        </a:lnSpc>
                        <a:spcBef>
                          <a:spcPts val="0"/>
                        </a:spcBef>
                        <a:spcAft>
                          <a:spcPts val="0"/>
                        </a:spcAft>
                      </a:pPr>
                      <a:r>
                        <a:rPr sz="1300" b="0">
                          <a:solidFill>
                            <a:srgbClr val="1F1F1F"/>
                          </a:solidFill>
                          <a:latin typeface="Calibri"/>
                        </a:rPr>
                        <a:t>Praia de Botafogo, nº</a:t>
                      </a:r>
                    </a:p>
                    <a:p>
                      <a:pPr algn="l">
                        <a:lnSpc>
                          <a:spcPct val="100000"/>
                        </a:lnSpc>
                        <a:spcBef>
                          <a:spcPts val="0"/>
                        </a:spcBef>
                        <a:spcAft>
                          <a:spcPts val="0"/>
                        </a:spcAft>
                      </a:pPr>
                      <a:r>
                        <a:rPr sz="1300" b="0">
                          <a:solidFill>
                            <a:srgbClr val="1F1F1F"/>
                          </a:solidFill>
                          <a:latin typeface="Calibri"/>
                        </a:rPr>
                        <a:t>501, Torre Corcovado,</a:t>
                      </a:r>
                    </a:p>
                    <a:p>
                      <a:pPr algn="l">
                        <a:lnSpc>
                          <a:spcPct val="100000"/>
                        </a:lnSpc>
                        <a:spcBef>
                          <a:spcPts val="0"/>
                        </a:spcBef>
                        <a:spcAft>
                          <a:spcPts val="0"/>
                        </a:spcAft>
                      </a:pPr>
                      <a:r>
                        <a:rPr sz="1300" b="0">
                          <a:solidFill>
                            <a:srgbClr val="1F1F1F"/>
                          </a:solidFill>
                          <a:latin typeface="Calibri"/>
                        </a:rPr>
                        <a:t>5º andar (parte),</a:t>
                      </a:r>
                    </a:p>
                    <a:p>
                      <a:pPr algn="l">
                        <a:lnSpc>
                          <a:spcPct val="100000"/>
                        </a:lnSpc>
                        <a:spcBef>
                          <a:spcPts val="0"/>
                        </a:spcBef>
                        <a:spcAft>
                          <a:spcPts val="0"/>
                        </a:spcAft>
                      </a:pPr>
                      <a:r>
                        <a:rPr sz="1300" b="0">
                          <a:solidFill>
                            <a:srgbClr val="1F1F1F"/>
                          </a:solidFill>
                          <a:latin typeface="Calibri"/>
                        </a:rPr>
                        <a:t>Botafogo, inscrito no</a:t>
                      </a:r>
                    </a:p>
                    <a:p>
                      <a:pPr algn="l">
                        <a:lnSpc>
                          <a:spcPct val="100000"/>
                        </a:lnSpc>
                        <a:spcBef>
                          <a:spcPts val="0"/>
                        </a:spcBef>
                        <a:spcAft>
                          <a:spcPts val="0"/>
                        </a:spcAft>
                      </a:pPr>
                      <a:r>
                        <a:rPr sz="1300" b="0">
                          <a:solidFill>
                            <a:srgbClr val="1F1F1F"/>
                          </a:solidFill>
                          <a:latin typeface="Calibri"/>
                        </a:rPr>
                        <a:t>CNPJ sob o nº</a:t>
                      </a:r>
                    </a:p>
                    <a:p>
                      <a:pPr algn="l">
                        <a:lnSpc>
                          <a:spcPct val="100000"/>
                        </a:lnSpc>
                        <a:spcBef>
                          <a:spcPts val="0"/>
                        </a:spcBef>
                        <a:spcAft>
                          <a:spcPts val="0"/>
                        </a:spcAft>
                      </a:pPr>
                      <a:r>
                        <a:rPr sz="1300" b="0">
                          <a:solidFill>
                            <a:srgbClr val="1F1F1F"/>
                          </a:solidFill>
                          <a:latin typeface="Calibri"/>
                        </a:rPr>
                        <a:t>29.650.082/0001-00,</a:t>
                      </a:r>
                    </a:p>
                    <a:p>
                      <a:pPr algn="l">
                        <a:lnSpc>
                          <a:spcPct val="100000"/>
                        </a:lnSpc>
                        <a:spcBef>
                          <a:spcPts val="0"/>
                        </a:spcBef>
                        <a:spcAft>
                          <a:spcPts val="0"/>
                        </a:spcAft>
                      </a:pPr>
                      <a:r>
                        <a:rPr sz="1300" b="0">
                          <a:solidFill>
                            <a:srgbClr val="1F1F1F"/>
                          </a:solidFill>
                          <a:latin typeface="Calibri"/>
                        </a:rPr>
                        <a:t>autorizado à prestação</a:t>
                      </a:r>
                    </a:p>
                    <a:p>
                      <a:pPr algn="l">
                        <a:lnSpc>
                          <a:spcPct val="100000"/>
                        </a:lnSpc>
                        <a:spcBef>
                          <a:spcPts val="0"/>
                        </a:spcBef>
                        <a:spcAft>
                          <a:spcPts val="0"/>
                        </a:spcAft>
                      </a:pPr>
                      <a:r>
                        <a:rPr sz="1300" b="0">
                          <a:solidFill>
                            <a:srgbClr val="1F1F1F"/>
                          </a:solidFill>
                          <a:latin typeface="Calibri"/>
                        </a:rPr>
                        <a:t>dos serviços de Gestor</a:t>
                      </a:r>
                    </a:p>
                    <a:p>
                      <a:pPr algn="l">
                        <a:lnSpc>
                          <a:spcPct val="100000"/>
                        </a:lnSpc>
                        <a:spcBef>
                          <a:spcPts val="0"/>
                        </a:spcBef>
                        <a:spcAft>
                          <a:spcPts val="0"/>
                        </a:spcAft>
                      </a:pPr>
                      <a:r>
                        <a:rPr sz="1300" b="0">
                          <a:solidFill>
                            <a:srgbClr val="1F1F1F"/>
                          </a:solidFill>
                          <a:latin typeface="Calibri"/>
                        </a:rPr>
                        <a:t>administração de</a:t>
                      </a:r>
                    </a:p>
                    <a:p>
                      <a:pPr algn="l">
                        <a:lnSpc>
                          <a:spcPct val="100000"/>
                        </a:lnSpc>
                        <a:spcBef>
                          <a:spcPts val="0"/>
                        </a:spcBef>
                        <a:spcAft>
                          <a:spcPts val="0"/>
                        </a:spcAft>
                      </a:pPr>
                      <a:r>
                        <a:rPr sz="1300" b="0">
                          <a:solidFill>
                            <a:srgbClr val="1F1F1F"/>
                          </a:solidFill>
                          <a:latin typeface="Calibri"/>
                        </a:rPr>
                        <a:t>carteira de títulos e</a:t>
                      </a:r>
                    </a:p>
                    <a:p>
                      <a:pPr algn="l">
                        <a:lnSpc>
                          <a:spcPct val="100000"/>
                        </a:lnSpc>
                        <a:spcBef>
                          <a:spcPts val="0"/>
                        </a:spcBef>
                        <a:spcAft>
                          <a:spcPts val="0"/>
                        </a:spcAft>
                      </a:pPr>
                      <a:r>
                        <a:rPr sz="1300" b="0">
                          <a:solidFill>
                            <a:srgbClr val="1F1F1F"/>
                          </a:solidFill>
                          <a:latin typeface="Calibri"/>
                        </a:rPr>
                        <a:t>valores mobiliários de</a:t>
                      </a:r>
                    </a:p>
                    <a:p>
                      <a:pPr algn="l">
                        <a:lnSpc>
                          <a:spcPct val="100000"/>
                        </a:lnSpc>
                        <a:spcBef>
                          <a:spcPts val="0"/>
                        </a:spcBef>
                        <a:spcAft>
                          <a:spcPts val="0"/>
                        </a:spcAft>
                      </a:pPr>
                      <a:r>
                        <a:rPr sz="1300" b="0">
                          <a:solidFill>
                            <a:srgbClr val="1F1F1F"/>
                          </a:solidFill>
                          <a:latin typeface="Calibri"/>
                        </a:rPr>
                        <a:t>acordo com o Ato</a:t>
                      </a:r>
                    </a:p>
                    <a:p>
                      <a:pPr algn="l">
                        <a:lnSpc>
                          <a:spcPct val="100000"/>
                        </a:lnSpc>
                        <a:spcBef>
                          <a:spcPts val="0"/>
                        </a:spcBef>
                        <a:spcAft>
                          <a:spcPts val="0"/>
                        </a:spcAft>
                      </a:pPr>
                      <a:r>
                        <a:rPr sz="1300" b="0">
                          <a:solidFill>
                            <a:srgbClr val="1F1F1F"/>
                          </a:solidFill>
                          <a:latin typeface="Calibri"/>
                        </a:rPr>
                        <a:t>Declaratório nº 5.968,</a:t>
                      </a:r>
                    </a:p>
                    <a:p>
                      <a:pPr algn="l">
                        <a:lnSpc>
                          <a:spcPct val="100000"/>
                        </a:lnSpc>
                        <a:spcBef>
                          <a:spcPts val="0"/>
                        </a:spcBef>
                        <a:spcAft>
                          <a:spcPts val="0"/>
                        </a:spcAft>
                      </a:pPr>
                      <a:r>
                        <a:rPr sz="1300" b="0">
                          <a:solidFill>
                            <a:srgbClr val="1F1F1F"/>
                          </a:solidFill>
                          <a:latin typeface="Calibri"/>
                        </a:rPr>
                        <a:t>de 10 de maio de 2000</a:t>
                      </a:r>
                    </a:p>
                    <a:p>
                      <a:pPr algn="l">
                        <a:lnSpc>
                          <a:spcPct val="100000"/>
                        </a:lnSpc>
                        <a:spcBef>
                          <a:spcPts val="0"/>
                        </a:spcBef>
                        <a:spcAft>
                          <a:spcPts val="0"/>
                        </a:spcAft>
                      </a:pPr>
                      <a:r>
                        <a:rPr sz="1300" b="0">
                          <a:solidFill>
                            <a:srgbClr val="1F1F1F"/>
                          </a:solidFill>
                          <a:latin typeface="Calibri"/>
                        </a:rPr>
                        <a:t>(“Gestor” e, quando ref</a:t>
                      </a:r>
                    </a:p>
                    <a:p>
                      <a:pPr algn="l">
                        <a:lnSpc>
                          <a:spcPct val="100000"/>
                        </a:lnSpc>
                        <a:spcBef>
                          <a:spcPts val="0"/>
                        </a:spcBef>
                        <a:spcAft>
                          <a:spcPts val="0"/>
                        </a:spcAft>
                      </a:pPr>
                      <a:r>
                        <a:rPr sz="1300" b="0">
                          <a:solidFill>
                            <a:srgbClr val="1F1F1F"/>
                          </a:solidFill>
                          <a:latin typeface="Calibri"/>
                        </a:rPr>
                        <a:t>erido conjuntamente com</a:t>
                      </a:r>
                    </a:p>
                    <a:p>
                      <a:pPr algn="l">
                        <a:lnSpc>
                          <a:spcPct val="100000"/>
                        </a:lnSpc>
                        <a:spcBef>
                          <a:spcPts val="0"/>
                        </a:spcBef>
                        <a:spcAft>
                          <a:spcPts val="0"/>
                        </a:spcAft>
                      </a:pPr>
                      <a:r>
                        <a:rPr sz="1300" b="0">
                          <a:solidFill>
                            <a:srgbClr val="1F1F1F"/>
                          </a:solidFill>
                          <a:latin typeface="Calibri"/>
                        </a:rPr>
                        <a:t>o Administrador, os</a:t>
                      </a:r>
                    </a:p>
                    <a:p>
                      <a:pPr algn="l">
                        <a:lnSpc>
                          <a:spcPct val="100000"/>
                        </a:lnSpc>
                        <a:spcBef>
                          <a:spcPts val="0"/>
                        </a:spcBef>
                        <a:spcAft>
                          <a:spcPts val="0"/>
                        </a:spcAft>
                      </a:pPr>
                      <a:r>
                        <a:rPr sz="1300" b="0">
                          <a:solidFill>
                            <a:srgbClr val="1F1F1F"/>
                          </a:solidFill>
                          <a:latin typeface="Calibri"/>
                        </a:rPr>
                        <a:t>“Prestadores de</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Polígono Capital Ltda.,</a:t>
                      </a:r>
                    </a:p>
                    <a:p>
                      <a:pPr algn="l">
                        <a:lnSpc>
                          <a:spcPct val="100000"/>
                        </a:lnSpc>
                        <a:spcBef>
                          <a:spcPts val="0"/>
                        </a:spcBef>
                        <a:spcAft>
                          <a:spcPts val="0"/>
                        </a:spcAft>
                      </a:pPr>
                      <a:r>
                        <a:rPr sz="1300" b="0">
                          <a:solidFill>
                            <a:srgbClr val="1F1F1F"/>
                          </a:solidFill>
                          <a:latin typeface="Calibri"/>
                        </a:rPr>
                        <a:t>sociedade de</a:t>
                      </a:r>
                    </a:p>
                    <a:p>
                      <a:pPr algn="l">
                        <a:lnSpc>
                          <a:spcPct val="100000"/>
                        </a:lnSpc>
                        <a:spcBef>
                          <a:spcPts val="0"/>
                        </a:spcBef>
                        <a:spcAft>
                          <a:spcPts val="0"/>
                        </a:spcAft>
                      </a:pPr>
                      <a:r>
                        <a:rPr sz="1300" b="0">
                          <a:solidFill>
                            <a:srgbClr val="1F1F1F"/>
                          </a:solidFill>
                          <a:latin typeface="Calibri"/>
                        </a:rPr>
                        <a:t>responsabilidade</a:t>
                      </a:r>
                    </a:p>
                    <a:p>
                      <a:pPr algn="l">
                        <a:lnSpc>
                          <a:spcPct val="100000"/>
                        </a:lnSpc>
                        <a:spcBef>
                          <a:spcPts val="0"/>
                        </a:spcBef>
                        <a:spcAft>
                          <a:spcPts val="0"/>
                        </a:spcAft>
                      </a:pPr>
                      <a:r>
                        <a:rPr sz="1300" b="0">
                          <a:solidFill>
                            <a:srgbClr val="1F1F1F"/>
                          </a:solidFill>
                          <a:latin typeface="Calibri"/>
                        </a:rPr>
                        <a:t>limitada, com sede no</a:t>
                      </a:r>
                    </a:p>
                    <a:p>
                      <a:pPr algn="l">
                        <a:lnSpc>
                          <a:spcPct val="100000"/>
                        </a:lnSpc>
                        <a:spcBef>
                          <a:spcPts val="0"/>
                        </a:spcBef>
                        <a:spcAft>
                          <a:spcPts val="0"/>
                        </a:spcAft>
                      </a:pPr>
                      <a:r>
                        <a:rPr sz="1300" b="0">
                          <a:solidFill>
                            <a:srgbClr val="1F1F1F"/>
                          </a:solidFill>
                          <a:latin typeface="Calibri"/>
                        </a:rPr>
                        <a:t>município e estado de</a:t>
                      </a:r>
                    </a:p>
                    <a:p>
                      <a:pPr algn="l">
                        <a:lnSpc>
                          <a:spcPct val="100000"/>
                        </a:lnSpc>
                        <a:spcBef>
                          <a:spcPts val="0"/>
                        </a:spcBef>
                        <a:spcAft>
                          <a:spcPts val="0"/>
                        </a:spcAft>
                      </a:pPr>
                      <a:r>
                        <a:rPr sz="1300" b="0">
                          <a:solidFill>
                            <a:srgbClr val="1F1F1F"/>
                          </a:solidFill>
                          <a:latin typeface="Calibri"/>
                        </a:rPr>
                        <a:t>São Paulo, na Avenida</a:t>
                      </a:r>
                    </a:p>
                    <a:p>
                      <a:pPr algn="l">
                        <a:lnSpc>
                          <a:spcPct val="100000"/>
                        </a:lnSpc>
                        <a:spcBef>
                          <a:spcPts val="0"/>
                        </a:spcBef>
                        <a:spcAft>
                          <a:spcPts val="0"/>
                        </a:spcAft>
                      </a:pPr>
                      <a:r>
                        <a:rPr sz="1300" b="0">
                          <a:solidFill>
                            <a:srgbClr val="1F1F1F"/>
                          </a:solidFill>
                          <a:latin typeface="Calibri"/>
                        </a:rPr>
                        <a:t>Brigadeiro Faria Lima,</a:t>
                      </a:r>
                    </a:p>
                    <a:p>
                      <a:pPr algn="l">
                        <a:lnSpc>
                          <a:spcPct val="100000"/>
                        </a:lnSpc>
                        <a:spcBef>
                          <a:spcPts val="0"/>
                        </a:spcBef>
                        <a:spcAft>
                          <a:spcPts val="0"/>
                        </a:spcAft>
                      </a:pPr>
                      <a:r>
                        <a:rPr sz="1300" b="0">
                          <a:solidFill>
                            <a:srgbClr val="1F1F1F"/>
                          </a:solidFill>
                          <a:latin typeface="Calibri"/>
                        </a:rPr>
                        <a:t>n° 2601, 12º andar,</a:t>
                      </a:r>
                    </a:p>
                    <a:p>
                      <a:pPr algn="l">
                        <a:lnSpc>
                          <a:spcPct val="100000"/>
                        </a:lnSpc>
                        <a:spcBef>
                          <a:spcPts val="0"/>
                        </a:spcBef>
                        <a:spcAft>
                          <a:spcPts val="0"/>
                        </a:spcAft>
                      </a:pPr>
                      <a:r>
                        <a:rPr sz="1300" b="0">
                          <a:solidFill>
                            <a:srgbClr val="1F1F1F"/>
                          </a:solidFill>
                          <a:latin typeface="Calibri"/>
                        </a:rPr>
                        <a:t>Jardim Paulistano, CEP</a:t>
                      </a:r>
                    </a:p>
                    <a:p>
                      <a:pPr algn="l">
                        <a:lnSpc>
                          <a:spcPct val="100000"/>
                        </a:lnSpc>
                        <a:spcBef>
                          <a:spcPts val="0"/>
                        </a:spcBef>
                        <a:spcAft>
                          <a:spcPts val="0"/>
                        </a:spcAft>
                      </a:pPr>
                      <a:r>
                        <a:rPr sz="1300" b="0">
                          <a:solidFill>
                            <a:srgbClr val="1F1F1F"/>
                          </a:solidFill>
                          <a:latin typeface="Calibri"/>
                        </a:rPr>
                        <a:t>01452-000, inscrita no</a:t>
                      </a:r>
                    </a:p>
                    <a:p>
                      <a:pPr algn="l">
                        <a:lnSpc>
                          <a:spcPct val="100000"/>
                        </a:lnSpc>
                        <a:spcBef>
                          <a:spcPts val="0"/>
                        </a:spcBef>
                        <a:spcAft>
                          <a:spcPts val="0"/>
                        </a:spcAft>
                      </a:pPr>
                      <a:r>
                        <a:rPr sz="1300" b="0">
                          <a:solidFill>
                            <a:srgbClr val="1F1F1F"/>
                          </a:solidFill>
                          <a:latin typeface="Calibri"/>
                        </a:rPr>
                        <a:t>CNPJ sob nº</a:t>
                      </a:r>
                    </a:p>
                    <a:p>
                      <a:pPr algn="l">
                        <a:lnSpc>
                          <a:spcPct val="100000"/>
                        </a:lnSpc>
                        <a:spcBef>
                          <a:spcPts val="0"/>
                        </a:spcBef>
                        <a:spcAft>
                          <a:spcPts val="0"/>
                        </a:spcAft>
                      </a:pPr>
                      <a:r>
                        <a:rPr sz="1300" b="0">
                          <a:solidFill>
                            <a:srgbClr val="1F1F1F"/>
                          </a:solidFill>
                          <a:latin typeface="Calibri"/>
                        </a:rPr>
                        <a:t>43.241.789/0001-85 e</a:t>
                      </a:r>
                    </a:p>
                    <a:p>
                      <a:pPr algn="l">
                        <a:lnSpc>
                          <a:spcPct val="100000"/>
                        </a:lnSpc>
                        <a:spcBef>
                          <a:spcPts val="0"/>
                        </a:spcBef>
                        <a:spcAft>
                          <a:spcPts val="0"/>
                        </a:spcAft>
                      </a:pPr>
                      <a:r>
                        <a:rPr sz="1300" b="0">
                          <a:solidFill>
                            <a:srgbClr val="1F1F1F"/>
                          </a:solidFill>
                          <a:latin typeface="Calibri"/>
                        </a:rPr>
                        <a:t>GESTOR autorizada à</a:t>
                      </a:r>
                    </a:p>
                    <a:p>
                      <a:pPr algn="l">
                        <a:lnSpc>
                          <a:spcPct val="100000"/>
                        </a:lnSpc>
                        <a:spcBef>
                          <a:spcPts val="0"/>
                        </a:spcBef>
                        <a:spcAft>
                          <a:spcPts val="0"/>
                        </a:spcAft>
                      </a:pPr>
                      <a:r>
                        <a:rPr sz="1300" b="0">
                          <a:solidFill>
                            <a:srgbClr val="1F1F1F"/>
                          </a:solidFill>
                          <a:latin typeface="Calibri"/>
                        </a:rPr>
                        <a:t>prestação do serviço de</a:t>
                      </a:r>
                    </a:p>
                    <a:p>
                      <a:pPr algn="l">
                        <a:lnSpc>
                          <a:spcPct val="100000"/>
                        </a:lnSpc>
                        <a:spcBef>
                          <a:spcPts val="0"/>
                        </a:spcBef>
                        <a:spcAft>
                          <a:spcPts val="0"/>
                        </a:spcAft>
                      </a:pPr>
                      <a:r>
                        <a:rPr sz="1300" b="0">
                          <a:solidFill>
                            <a:srgbClr val="1F1F1F"/>
                          </a:solidFill>
                          <a:latin typeface="Calibri"/>
                        </a:rPr>
                        <a:t>administração de</a:t>
                      </a:r>
                    </a:p>
                    <a:p>
                      <a:pPr algn="l">
                        <a:lnSpc>
                          <a:spcPct val="100000"/>
                        </a:lnSpc>
                        <a:spcBef>
                          <a:spcPts val="0"/>
                        </a:spcBef>
                        <a:spcAft>
                          <a:spcPts val="0"/>
                        </a:spcAft>
                      </a:pPr>
                      <a:r>
                        <a:rPr sz="1300" b="0">
                          <a:solidFill>
                            <a:srgbClr val="1F1F1F"/>
                          </a:solidFill>
                          <a:latin typeface="Calibri"/>
                        </a:rPr>
                        <a:t>carteiras de valores</a:t>
                      </a:r>
                    </a:p>
                    <a:p>
                      <a:pPr algn="l">
                        <a:lnSpc>
                          <a:spcPct val="100000"/>
                        </a:lnSpc>
                        <a:spcBef>
                          <a:spcPts val="0"/>
                        </a:spcBef>
                        <a:spcAft>
                          <a:spcPts val="0"/>
                        </a:spcAft>
                      </a:pPr>
                      <a:r>
                        <a:rPr sz="1300" b="0">
                          <a:solidFill>
                            <a:srgbClr val="1F1F1F"/>
                          </a:solidFill>
                          <a:latin typeface="Calibri"/>
                        </a:rPr>
                        <a:t>mobiliários pela CVM,</a:t>
                      </a:r>
                    </a:p>
                    <a:p>
                      <a:pPr algn="l">
                        <a:lnSpc>
                          <a:spcPct val="100000"/>
                        </a:lnSpc>
                        <a:spcBef>
                          <a:spcPts val="0"/>
                        </a:spcBef>
                        <a:spcAft>
                          <a:spcPts val="0"/>
                        </a:spcAft>
                      </a:pPr>
                      <a:r>
                        <a:rPr sz="1300" b="0">
                          <a:solidFill>
                            <a:srgbClr val="1F1F1F"/>
                          </a:solidFill>
                          <a:latin typeface="Calibri"/>
                        </a:rPr>
                        <a:t>de acordo com o Ato</a:t>
                      </a:r>
                    </a:p>
                    <a:p>
                      <a:pPr algn="l">
                        <a:lnSpc>
                          <a:spcPct val="100000"/>
                        </a:lnSpc>
                        <a:spcBef>
                          <a:spcPts val="0"/>
                        </a:spcBef>
                        <a:spcAft>
                          <a:spcPts val="0"/>
                        </a:spcAft>
                      </a:pPr>
                      <a:r>
                        <a:rPr sz="1300" b="0">
                          <a:solidFill>
                            <a:srgbClr val="1F1F1F"/>
                          </a:solidFill>
                          <a:latin typeface="Calibri"/>
                        </a:rPr>
                        <a:t>Declaratório CVM nº</a:t>
                      </a:r>
                    </a:p>
                    <a:p>
                      <a:pPr algn="l">
                        <a:lnSpc>
                          <a:spcPct val="100000"/>
                        </a:lnSpc>
                        <a:spcBef>
                          <a:spcPts val="0"/>
                        </a:spcBef>
                        <a:spcAft>
                          <a:spcPts val="0"/>
                        </a:spcAft>
                      </a:pPr>
                      <a:r>
                        <a:rPr sz="1300" b="0">
                          <a:solidFill>
                            <a:srgbClr val="1F1F1F"/>
                          </a:solidFill>
                          <a:latin typeface="Calibri"/>
                        </a:rPr>
                        <a:t>19.368, expedido em 7</a:t>
                      </a:r>
                    </a:p>
                    <a:p>
                      <a:pPr algn="l">
                        <a:lnSpc>
                          <a:spcPct val="100000"/>
                        </a:lnSpc>
                        <a:spcBef>
                          <a:spcPts val="0"/>
                        </a:spcBef>
                        <a:spcAft>
                          <a:spcPts val="0"/>
                        </a:spcAft>
                      </a:pPr>
                      <a:r>
                        <a:rPr sz="1300" b="0">
                          <a:solidFill>
                            <a:srgbClr val="1F1F1F"/>
                          </a:solidFill>
                          <a:latin typeface="Calibri"/>
                        </a:rPr>
                        <a:t>de dezembro de 2021</a:t>
                      </a:r>
                    </a:p>
                    <a:p>
                      <a:pPr algn="l">
                        <a:lnSpc>
                          <a:spcPct val="100000"/>
                        </a:lnSpc>
                        <a:spcBef>
                          <a:spcPts val="0"/>
                        </a:spcBef>
                        <a:spcAft>
                          <a:spcPts val="0"/>
                        </a:spcAft>
                      </a:pPr>
                      <a:r>
                        <a:rPr sz="1300" b="0">
                          <a:solidFill>
                            <a:srgbClr val="1F1F1F"/>
                          </a:solidFill>
                          <a:latin typeface="Calibri"/>
                        </a:rPr>
                        <a:t>(“GESTOR” e, quando</a:t>
                      </a:r>
                    </a:p>
                    <a:p>
                      <a:pPr algn="l">
                        <a:lnSpc>
                          <a:spcPct val="100000"/>
                        </a:lnSpc>
                        <a:spcBef>
                          <a:spcPts val="0"/>
                        </a:spcBef>
                        <a:spcAft>
                          <a:spcPts val="0"/>
                        </a:spcAft>
                      </a:pPr>
                      <a:r>
                        <a:rPr sz="1300" b="0">
                          <a:solidFill>
                            <a:srgbClr val="1F1F1F"/>
                          </a:solidFill>
                          <a:latin typeface="Calibri"/>
                        </a:rPr>
                        <a:t>referido conjuntamente</a:t>
                      </a:r>
                    </a:p>
                    <a:p>
                      <a:pPr algn="l">
                        <a:lnSpc>
                          <a:spcPct val="100000"/>
                        </a:lnSpc>
                        <a:spcBef>
                          <a:spcPts val="0"/>
                        </a:spcBef>
                        <a:spcAft>
                          <a:spcPts val="0"/>
                        </a:spcAft>
                      </a:pPr>
                      <a:r>
                        <a:rPr sz="1300" b="0">
                          <a:solidFill>
                            <a:srgbClr val="1F1F1F"/>
                          </a:solidFill>
                          <a:latin typeface="Calibri"/>
                        </a:rPr>
                        <a:t>e indistintamente com o</a:t>
                      </a:r>
                    </a:p>
                    <a:p>
                      <a:pPr algn="l">
                        <a:lnSpc>
                          <a:spcPct val="100000"/>
                        </a:lnSpc>
                        <a:spcBef>
                          <a:spcPts val="0"/>
                        </a:spcBef>
                        <a:spcAft>
                          <a:spcPts val="0"/>
                        </a:spcAft>
                      </a:pPr>
                      <a:r>
                        <a:rPr sz="1300" b="0">
                          <a:solidFill>
                            <a:srgbClr val="1F1F1F"/>
                          </a:solidFill>
                          <a:latin typeface="Calibri"/>
                        </a:rPr>
                        <a:t>ADMINISTRADOR, os</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75/160</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Hedge e prestadores</a:t>
            </a:r>
          </a:p>
        </p:txBody>
      </p:sp>
      <p:graphicFrame>
        <p:nvGraphicFramePr>
          <p:cNvPr id="3" name="Table 2"/>
          <p:cNvGraphicFramePr>
            <a:graphicFrameLocks noGrp="1"/>
          </p:cNvGraphicFramePr>
          <p:nvPr/>
        </p:nvGraphicFramePr>
        <p:xfrm>
          <a:off x="438912" y="932688"/>
          <a:ext cx="11313868" cy="5253228"/>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4782312">
                <a:tc>
                  <a:txBody>
                    <a:bodyPr wrap="square">
                      <a:noAutofit/>
                    </a:bodyPr>
                    <a:lstStyle/>
                    <a:p>
                      <a:pPr algn="l">
                        <a:lnSpc>
                          <a:spcPct val="100000"/>
                        </a:lnSpc>
                        <a:spcBef>
                          <a:spcPts val="0"/>
                        </a:spcBef>
                        <a:spcAft>
                          <a:spcPts val="0"/>
                        </a:spcAft>
                      </a:pPr>
                      <a:r>
                        <a:rPr sz="1300" b="1">
                          <a:solidFill>
                            <a:srgbClr val="1F1F1F"/>
                          </a:solidFill>
                          <a:latin typeface="Calibri"/>
                        </a:rPr>
                        <a:t>Administrador, gestor e</a:t>
                      </a:r>
                    </a:p>
                    <a:p>
                      <a:pPr algn="l">
                        <a:lnSpc>
                          <a:spcPct val="100000"/>
                        </a:lnSpc>
                        <a:spcBef>
                          <a:spcPts val="0"/>
                        </a:spcBef>
                        <a:spcAft>
                          <a:spcPts val="0"/>
                        </a:spcAft>
                      </a:pPr>
                      <a:r>
                        <a:rPr sz="1300" b="1">
                          <a:solidFill>
                            <a:srgbClr val="1F1F1F"/>
                          </a:solidFill>
                          <a:latin typeface="Calibri"/>
                        </a:rPr>
                        <a:t>custodiante</a:t>
                      </a:r>
                    </a:p>
                    <a:p>
                      <a:pPr algn="l">
                        <a:lnSpc>
                          <a:spcPct val="100000"/>
                        </a:lnSpc>
                        <a:spcBef>
                          <a:spcPts val="0"/>
                        </a:spcBef>
                        <a:spcAft>
                          <a:spcPts val="0"/>
                        </a:spcAft>
                      </a:pPr>
                      <a:r>
                        <a:rPr sz="1300" b="1">
                          <a:solidFill>
                            <a:srgbClr val="1F1F1F"/>
                          </a:solidFill>
                          <a:latin typeface="Calibri"/>
                        </a:rPr>
                        <a:t>(continuação)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instituição f</a:t>
                      </a:r>
                    </a:p>
                    <a:p>
                      <a:pPr algn="l">
                        <a:lnSpc>
                          <a:spcPct val="100000"/>
                        </a:lnSpc>
                        <a:spcBef>
                          <a:spcPts val="0"/>
                        </a:spcBef>
                        <a:spcAft>
                          <a:spcPts val="0"/>
                        </a:spcAft>
                      </a:pPr>
                      <a:r>
                        <a:rPr sz="1300" b="0">
                          <a:solidFill>
                            <a:srgbClr val="1F1F1F"/>
                          </a:solidFill>
                          <a:latin typeface="Calibri"/>
                        </a:rPr>
                        <a:t>inanceira, com sede na</a:t>
                      </a:r>
                    </a:p>
                    <a:p>
                      <a:pPr algn="l">
                        <a:lnSpc>
                          <a:spcPct val="100000"/>
                        </a:lnSpc>
                        <a:spcBef>
                          <a:spcPts val="0"/>
                        </a:spcBef>
                        <a:spcAft>
                          <a:spcPts val="0"/>
                        </a:spcAft>
                      </a:pPr>
                      <a:r>
                        <a:rPr sz="1300" b="0">
                          <a:solidFill>
                            <a:srgbClr val="1F1F1F"/>
                          </a:solidFill>
                          <a:latin typeface="Calibri"/>
                        </a:rPr>
                        <a:t>Cidade e Estado do Rio</a:t>
                      </a:r>
                    </a:p>
                    <a:p>
                      <a:pPr algn="l">
                        <a:lnSpc>
                          <a:spcPct val="100000"/>
                        </a:lnSpc>
                        <a:spcBef>
                          <a:spcPts val="0"/>
                        </a:spcBef>
                        <a:spcAft>
                          <a:spcPts val="0"/>
                        </a:spcAft>
                      </a:pPr>
                      <a:r>
                        <a:rPr sz="1300" b="0">
                          <a:solidFill>
                            <a:srgbClr val="1F1F1F"/>
                          </a:solidFill>
                          <a:latin typeface="Calibri"/>
                        </a:rPr>
                        <a:t>de Janeiro, na Praia de</a:t>
                      </a:r>
                    </a:p>
                    <a:p>
                      <a:pPr algn="l">
                        <a:lnSpc>
                          <a:spcPct val="100000"/>
                        </a:lnSpc>
                        <a:spcBef>
                          <a:spcPts val="0"/>
                        </a:spcBef>
                        <a:spcAft>
                          <a:spcPts val="0"/>
                        </a:spcAft>
                      </a:pPr>
                      <a:r>
                        <a:rPr sz="1300" b="0">
                          <a:solidFill>
                            <a:srgbClr val="1F1F1F"/>
                          </a:solidFill>
                          <a:latin typeface="Calibri"/>
                        </a:rPr>
                        <a:t>Botafogo, nº 501, 5º</a:t>
                      </a:r>
                    </a:p>
                    <a:p>
                      <a:pPr algn="l">
                        <a:lnSpc>
                          <a:spcPct val="100000"/>
                        </a:lnSpc>
                        <a:spcBef>
                          <a:spcPts val="0"/>
                        </a:spcBef>
                        <a:spcAft>
                          <a:spcPts val="0"/>
                        </a:spcAft>
                      </a:pPr>
                      <a:r>
                        <a:rPr sz="1300" b="0">
                          <a:solidFill>
                            <a:srgbClr val="1F1F1F"/>
                          </a:solidFill>
                          <a:latin typeface="Calibri"/>
                        </a:rPr>
                        <a:t>andar (parte), Custódia</a:t>
                      </a:r>
                    </a:p>
                    <a:p>
                      <a:pPr algn="l">
                        <a:lnSpc>
                          <a:spcPct val="100000"/>
                        </a:lnSpc>
                        <a:spcBef>
                          <a:spcPts val="0"/>
                        </a:spcBef>
                        <a:spcAft>
                          <a:spcPts val="0"/>
                        </a:spcAft>
                      </a:pPr>
                      <a:r>
                        <a:rPr sz="1300" b="0">
                          <a:solidFill>
                            <a:srgbClr val="1F1F1F"/>
                          </a:solidFill>
                          <a:latin typeface="Calibri"/>
                        </a:rPr>
                        <a:t>Torre Corcovado,</a:t>
                      </a:r>
                    </a:p>
                    <a:p>
                      <a:pPr algn="l">
                        <a:lnSpc>
                          <a:spcPct val="100000"/>
                        </a:lnSpc>
                        <a:spcBef>
                          <a:spcPts val="0"/>
                        </a:spcBef>
                        <a:spcAft>
                          <a:spcPts val="0"/>
                        </a:spcAft>
                      </a:pPr>
                      <a:r>
                        <a:rPr sz="1300" b="0">
                          <a:solidFill>
                            <a:srgbClr val="1F1F1F"/>
                          </a:solidFill>
                          <a:latin typeface="Calibri"/>
                        </a:rPr>
                        <a:t>Botafogo, CEP</a:t>
                      </a:r>
                    </a:p>
                    <a:p>
                      <a:pPr algn="l">
                        <a:lnSpc>
                          <a:spcPct val="100000"/>
                        </a:lnSpc>
                        <a:spcBef>
                          <a:spcPts val="0"/>
                        </a:spcBef>
                        <a:spcAft>
                          <a:spcPts val="0"/>
                        </a:spcAft>
                      </a:pPr>
                      <a:r>
                        <a:rPr sz="1300" b="0">
                          <a:solidFill>
                            <a:srgbClr val="1F1F1F"/>
                          </a:solidFill>
                          <a:latin typeface="Calibri"/>
                        </a:rPr>
                        <a:t>22250-040, inscrita no</a:t>
                      </a:r>
                    </a:p>
                    <a:p>
                      <a:pPr algn="l">
                        <a:lnSpc>
                          <a:spcPct val="100000"/>
                        </a:lnSpc>
                        <a:spcBef>
                          <a:spcPts val="0"/>
                        </a:spcBef>
                        <a:spcAft>
                          <a:spcPts val="0"/>
                        </a:spcAft>
                      </a:pPr>
                      <a:r>
                        <a:rPr sz="1300" b="0">
                          <a:solidFill>
                            <a:srgbClr val="1F1F1F"/>
                          </a:solidFill>
                          <a:latin typeface="Calibri"/>
                        </a:rPr>
                        <a:t>CNPJ sob o nº</a:t>
                      </a:r>
                    </a:p>
                    <a:p>
                      <a:pPr algn="l">
                        <a:lnSpc>
                          <a:spcPct val="100000"/>
                        </a:lnSpc>
                        <a:spcBef>
                          <a:spcPts val="0"/>
                        </a:spcBef>
                        <a:spcAft>
                          <a:spcPts val="0"/>
                        </a:spcAft>
                      </a:pPr>
                      <a:r>
                        <a:rPr sz="1300" b="0">
                          <a:solidFill>
                            <a:srgbClr val="1F1F1F"/>
                          </a:solidFill>
                          <a:latin typeface="Calibri"/>
                        </a:rPr>
                        <a:t>30.306.294/0001-45 e</a:t>
                      </a:r>
                    </a:p>
                    <a:p>
                      <a:pPr algn="l">
                        <a:lnSpc>
                          <a:spcPct val="100000"/>
                        </a:lnSpc>
                        <a:spcBef>
                          <a:spcPts val="0"/>
                        </a:spcBef>
                        <a:spcAft>
                          <a:spcPts val="0"/>
                        </a:spcAft>
                      </a:pPr>
                      <a:r>
                        <a:rPr sz="1300" b="0">
                          <a:solidFill>
                            <a:srgbClr val="1F1F1F"/>
                          </a:solidFill>
                          <a:latin typeface="Calibri"/>
                        </a:rPr>
                        <a:t>credenciado como</a:t>
                      </a:r>
                    </a:p>
                    <a:p>
                      <a:pPr algn="l">
                        <a:lnSpc>
                          <a:spcPct val="100000"/>
                        </a:lnSpc>
                        <a:spcBef>
                          <a:spcPts val="0"/>
                        </a:spcBef>
                        <a:spcAft>
                          <a:spcPts val="0"/>
                        </a:spcAft>
                      </a:pPr>
                      <a:r>
                        <a:rPr sz="1300" b="0">
                          <a:solidFill>
                            <a:srgbClr val="1F1F1F"/>
                          </a:solidFill>
                          <a:latin typeface="Calibri"/>
                        </a:rPr>
                        <a:t>custodiante, de acordo</a:t>
                      </a:r>
                    </a:p>
                    <a:p>
                      <a:pPr algn="l">
                        <a:lnSpc>
                          <a:spcPct val="100000"/>
                        </a:lnSpc>
                        <a:spcBef>
                          <a:spcPts val="0"/>
                        </a:spcBef>
                        <a:spcAft>
                          <a:spcPts val="0"/>
                        </a:spcAft>
                      </a:pPr>
                      <a:r>
                        <a:rPr sz="1300" b="0">
                          <a:solidFill>
                            <a:srgbClr val="1F1F1F"/>
                          </a:solidFill>
                          <a:latin typeface="Calibri"/>
                        </a:rPr>
                        <a:t>com o Ato Declaratório</a:t>
                      </a:r>
                    </a:p>
                    <a:p>
                      <a:pPr algn="l">
                        <a:lnSpc>
                          <a:spcPct val="100000"/>
                        </a:lnSpc>
                        <a:spcBef>
                          <a:spcPts val="0"/>
                        </a:spcBef>
                        <a:spcAft>
                          <a:spcPts val="0"/>
                        </a:spcAft>
                      </a:pPr>
                      <a:r>
                        <a:rPr sz="1300" b="0">
                          <a:solidFill>
                            <a:srgbClr val="1F1F1F"/>
                          </a:solidFill>
                          <a:latin typeface="Calibri"/>
                        </a:rPr>
                        <a:t>nº 7.204, de 25 de</a:t>
                      </a:r>
                    </a:p>
                    <a:p>
                      <a:pPr algn="l">
                        <a:lnSpc>
                          <a:spcPct val="100000"/>
                        </a:lnSpc>
                        <a:spcBef>
                          <a:spcPts val="0"/>
                        </a:spcBef>
                        <a:spcAft>
                          <a:spcPts val="0"/>
                        </a:spcAft>
                      </a:pPr>
                      <a:r>
                        <a:rPr sz="1300" b="0">
                          <a:solidFill>
                            <a:srgbClr val="1F1F1F"/>
                          </a:solidFill>
                          <a:latin typeface="Calibri"/>
                        </a:rPr>
                        <a:t>abril de 2003</a:t>
                      </a:r>
                    </a:p>
                    <a:p>
                      <a:pPr algn="l">
                        <a:lnSpc>
                          <a:spcPct val="100000"/>
                        </a:lnSpc>
                        <a:spcBef>
                          <a:spcPts val="0"/>
                        </a:spcBef>
                        <a:spcAft>
                          <a:spcPts val="0"/>
                        </a:spcAft>
                      </a:pPr>
                      <a:r>
                        <a:rPr sz="1300" b="0">
                          <a:solidFill>
                            <a:srgbClr val="1F1F1F"/>
                          </a:solidFill>
                          <a:latin typeface="Calibri"/>
                        </a:rPr>
                        <a:t>(“CUSTODIANTE”).</a:t>
                      </a:r>
                    </a:p>
                    <a:p>
                      <a:pPr algn="l">
                        <a:lnSpc>
                          <a:spcPct val="100000"/>
                        </a:lnSpc>
                        <a:spcBef>
                          <a:spcPts val="0"/>
                        </a:spcBef>
                        <a:spcAft>
                          <a:spcPts val="0"/>
                        </a:spcAft>
                      </a:pPr>
                      <a:r>
                        <a:rPr sz="1300" b="0">
                          <a:solidFill>
                            <a:srgbClr val="1F1F1F"/>
                          </a:solidFill>
                          <a:latin typeface="Calibri"/>
                        </a:rPr>
                        <a:t>Tesouraria,</a:t>
                      </a:r>
                    </a:p>
                    <a:p>
                      <a:pPr algn="l">
                        <a:lnSpc>
                          <a:spcPct val="100000"/>
                        </a:lnSpc>
                        <a:spcBef>
                          <a:spcPts val="0"/>
                        </a:spcBef>
                        <a:spcAft>
                          <a:spcPts val="0"/>
                        </a:spcAft>
                      </a:pPr>
                      <a:r>
                        <a:rPr sz="1300" b="0">
                          <a:solidFill>
                            <a:srgbClr val="1F1F1F"/>
                          </a:solidFill>
                          <a:latin typeface="Calibri"/>
                        </a:rPr>
                        <a:t>Controladoria e</a:t>
                      </a:r>
                    </a:p>
                    <a:p>
                      <a:pPr algn="l">
                        <a:lnSpc>
                          <a:spcPct val="100000"/>
                        </a:lnSpc>
                        <a:spcBef>
                          <a:spcPts val="0"/>
                        </a:spcBef>
                        <a:spcAft>
                          <a:spcPts val="0"/>
                        </a:spcAft>
                      </a:pPr>
                      <a:r>
                        <a:rPr sz="1300" b="0">
                          <a:solidFill>
                            <a:srgbClr val="1F1F1F"/>
                          </a:solidFill>
                          <a:latin typeface="Calibri"/>
                        </a:rPr>
                        <a:t>ADMINISTRADOR.</a:t>
                      </a:r>
                    </a:p>
                    <a:p>
                      <a:pPr algn="l">
                        <a:lnSpc>
                          <a:spcPct val="100000"/>
                        </a:lnSpc>
                        <a:spcBef>
                          <a:spcPts val="0"/>
                        </a:spcBef>
                        <a:spcAft>
                          <a:spcPts val="0"/>
                        </a:spcAft>
                      </a:pPr>
                      <a:r>
                        <a:rPr sz="1300" b="0">
                          <a:solidFill>
                            <a:srgbClr val="1F1F1F"/>
                          </a:solidFill>
                          <a:latin typeface="Calibri"/>
                        </a:rPr>
                        <a:t>Escrituração Subclasses</a:t>
                      </a:r>
                    </a:p>
                    <a:p>
                      <a:pPr algn="l">
                        <a:lnSpc>
                          <a:spcPct val="100000"/>
                        </a:lnSpc>
                        <a:spcBef>
                          <a:spcPts val="0"/>
                        </a:spcBef>
                        <a:spcAft>
                          <a:spcPts val="0"/>
                        </a:spcAft>
                      </a:pPr>
                      <a:r>
                        <a:rPr sz="1300" b="0">
                          <a:solidFill>
                            <a:srgbClr val="1F1F1F"/>
                          </a:solidFill>
                          <a:latin typeface="Calibri"/>
                        </a:rPr>
                        <a:t>Única.</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“ADMINISTRADOR”: BTG</a:t>
                      </a:r>
                    </a:p>
                    <a:p>
                      <a:pPr algn="l">
                        <a:lnSpc>
                          <a:spcPct val="100000"/>
                        </a:lnSpc>
                        <a:spcBef>
                          <a:spcPts val="0"/>
                        </a:spcBef>
                        <a:spcAft>
                          <a:spcPts val="0"/>
                        </a:spcAft>
                      </a:pPr>
                      <a:r>
                        <a:rPr sz="1300" b="0">
                          <a:solidFill>
                            <a:srgbClr val="1F1F1F"/>
                          </a:solidFill>
                          <a:latin typeface="Calibri"/>
                        </a:rPr>
                        <a:t>Pactual Serviços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conjuntamente e</a:t>
                      </a:r>
                    </a:p>
                    <a:p>
                      <a:pPr algn="l">
                        <a:lnSpc>
                          <a:spcPct val="100000"/>
                        </a:lnSpc>
                        <a:spcBef>
                          <a:spcPts val="0"/>
                        </a:spcBef>
                        <a:spcAft>
                          <a:spcPts val="0"/>
                        </a:spcAft>
                      </a:pPr>
                      <a:r>
                        <a:rPr sz="1300" b="0">
                          <a:solidFill>
                            <a:srgbClr val="1F1F1F"/>
                          </a:solidFill>
                          <a:latin typeface="Calibri"/>
                        </a:rPr>
                        <a:t>indistintamente com o</a:t>
                      </a:r>
                    </a:p>
                    <a:p>
                      <a:pPr algn="l">
                        <a:lnSpc>
                          <a:spcPct val="100000"/>
                        </a:lnSpc>
                        <a:spcBef>
                          <a:spcPts val="0"/>
                        </a:spcBef>
                        <a:spcAft>
                          <a:spcPts val="0"/>
                        </a:spcAft>
                      </a:pPr>
                      <a:r>
                        <a:rPr sz="1300" b="0">
                          <a:solidFill>
                            <a:srgbClr val="1F1F1F"/>
                          </a:solidFill>
                          <a:latin typeface="Calibri"/>
                        </a:rPr>
                        <a:t>Administrador, os</a:t>
                      </a:r>
                    </a:p>
                    <a:p>
                      <a:pPr algn="l">
                        <a:lnSpc>
                          <a:spcPct val="100000"/>
                        </a:lnSpc>
                        <a:spcBef>
                          <a:spcPts val="0"/>
                        </a:spcBef>
                        <a:spcAft>
                          <a:spcPts val="0"/>
                        </a:spcAft>
                      </a:pPr>
                      <a:r>
                        <a:rPr sz="1300" b="0">
                          <a:solidFill>
                            <a:srgbClr val="1F1F1F"/>
                          </a:solidFill>
                          <a:latin typeface="Calibri"/>
                        </a:rPr>
                        <a:t>“Prestadores de</a:t>
                      </a:r>
                    </a:p>
                    <a:p>
                      <a:pPr algn="l">
                        <a:lnSpc>
                          <a:spcPct val="100000"/>
                        </a:lnSpc>
                        <a:spcBef>
                          <a:spcPts val="0"/>
                        </a:spcBef>
                        <a:spcAft>
                          <a:spcPts val="0"/>
                        </a:spcAft>
                      </a:pPr>
                      <a:r>
                        <a:rPr sz="1300" b="0">
                          <a:solidFill>
                            <a:srgbClr val="1F1F1F"/>
                          </a:solidFill>
                          <a:latin typeface="Calibri"/>
                        </a:rPr>
                        <a:t>Serviços Essenciais”).</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“Gestor”: a BTG Pactual</a:t>
                      </a:r>
                    </a:p>
                    <a:p>
                      <a:pPr algn="l">
                        <a:lnSpc>
                          <a:spcPct val="100000"/>
                        </a:lnSpc>
                        <a:spcBef>
                          <a:spcPts val="0"/>
                        </a:spcBef>
                        <a:spcAft>
                          <a:spcPts val="0"/>
                        </a:spcAft>
                      </a:pPr>
                      <a:r>
                        <a:rPr sz="1300" b="0">
                          <a:solidFill>
                            <a:srgbClr val="1F1F1F"/>
                          </a:solidFill>
                          <a:latin typeface="Calibri"/>
                        </a:rPr>
                        <a:t>Asset Management S.A.</a:t>
                      </a:r>
                    </a:p>
                    <a:p>
                      <a:pPr algn="l">
                        <a:lnSpc>
                          <a:spcPct val="100000"/>
                        </a:lnSpc>
                        <a:spcBef>
                          <a:spcPts val="0"/>
                        </a:spcBef>
                        <a:spcAft>
                          <a:spcPts val="0"/>
                        </a:spcAft>
                      </a:pPr>
                      <a:r>
                        <a:rPr sz="1300" b="0">
                          <a:solidFill>
                            <a:srgbClr val="1F1F1F"/>
                          </a:solidFill>
                          <a:latin typeface="Calibri"/>
                        </a:rPr>
                        <a:t>Distribuidora de</a:t>
                      </a:r>
                    </a:p>
                    <a:p>
                      <a:pPr algn="l">
                        <a:lnSpc>
                          <a:spcPct val="100000"/>
                        </a:lnSpc>
                        <a:spcBef>
                          <a:spcPts val="0"/>
                        </a:spcBef>
                        <a:spcAft>
                          <a:spcPts val="0"/>
                        </a:spcAft>
                      </a:pPr>
                      <a:r>
                        <a:rPr sz="1300" b="0">
                          <a:solidFill>
                            <a:srgbClr val="1F1F1F"/>
                          </a:solidFill>
                          <a:latin typeface="Calibri"/>
                        </a:rPr>
                        <a:t>Títulos e Valores</a:t>
                      </a:r>
                    </a:p>
                    <a:p>
                      <a:pPr algn="l">
                        <a:lnSpc>
                          <a:spcPct val="100000"/>
                        </a:lnSpc>
                        <a:spcBef>
                          <a:spcPts val="0"/>
                        </a:spcBef>
                        <a:spcAft>
                          <a:spcPts val="0"/>
                        </a:spcAft>
                      </a:pPr>
                      <a:r>
                        <a:rPr sz="1300" b="0">
                          <a:solidFill>
                            <a:srgbClr val="1F1F1F"/>
                          </a:solidFill>
                          <a:latin typeface="Calibri"/>
                        </a:rPr>
                        <a:t>Mobiliários, sociedade</a:t>
                      </a:r>
                    </a:p>
                    <a:p>
                      <a:pPr algn="l">
                        <a:lnSpc>
                          <a:spcPct val="100000"/>
                        </a:lnSpc>
                        <a:spcBef>
                          <a:spcPts val="0"/>
                        </a:spcBef>
                        <a:spcAft>
                          <a:spcPts val="0"/>
                        </a:spcAft>
                      </a:pPr>
                      <a:r>
                        <a:rPr sz="1300" b="0">
                          <a:solidFill>
                            <a:srgbClr val="1F1F1F"/>
                          </a:solidFill>
                          <a:latin typeface="Calibri"/>
                        </a:rPr>
                        <a:t>anônima, com sede no</a:t>
                      </a:r>
                    </a:p>
                    <a:p>
                      <a:pPr algn="l">
                        <a:lnSpc>
                          <a:spcPct val="100000"/>
                        </a:lnSpc>
                        <a:spcBef>
                          <a:spcPts val="0"/>
                        </a:spcBef>
                        <a:spcAft>
                          <a:spcPts val="0"/>
                        </a:spcAft>
                      </a:pPr>
                      <a:r>
                        <a:rPr sz="1300" b="0">
                          <a:solidFill>
                            <a:srgbClr val="1F1F1F"/>
                          </a:solidFill>
                          <a:latin typeface="Calibri"/>
                        </a:rPr>
                        <a:t>município do Rio de</a:t>
                      </a:r>
                    </a:p>
                    <a:p>
                      <a:pPr algn="l">
                        <a:lnSpc>
                          <a:spcPct val="100000"/>
                        </a:lnSpc>
                        <a:spcBef>
                          <a:spcPts val="0"/>
                        </a:spcBef>
                        <a:spcAft>
                          <a:spcPts val="0"/>
                        </a:spcAft>
                      </a:pPr>
                      <a:r>
                        <a:rPr sz="1300" b="0">
                          <a:solidFill>
                            <a:srgbClr val="1F1F1F"/>
                          </a:solidFill>
                          <a:latin typeface="Calibri"/>
                        </a:rPr>
                        <a:t>Janeiro, Estado do Rio</a:t>
                      </a:r>
                    </a:p>
                    <a:p>
                      <a:pPr algn="l">
                        <a:lnSpc>
                          <a:spcPct val="100000"/>
                        </a:lnSpc>
                        <a:spcBef>
                          <a:spcPts val="0"/>
                        </a:spcBef>
                        <a:spcAft>
                          <a:spcPts val="0"/>
                        </a:spcAft>
                      </a:pPr>
                      <a:r>
                        <a:rPr sz="1300" b="0">
                          <a:solidFill>
                            <a:srgbClr val="1F1F1F"/>
                          </a:solidFill>
                          <a:latin typeface="Calibri"/>
                        </a:rPr>
                        <a:t>de Janeiro, na Praia de</a:t>
                      </a:r>
                    </a:p>
                    <a:p>
                      <a:pPr algn="l">
                        <a:lnSpc>
                          <a:spcPct val="100000"/>
                        </a:lnSpc>
                        <a:spcBef>
                          <a:spcPts val="0"/>
                        </a:spcBef>
                        <a:spcAft>
                          <a:spcPts val="0"/>
                        </a:spcAft>
                      </a:pPr>
                      <a:r>
                        <a:rPr sz="1300" b="0">
                          <a:solidFill>
                            <a:srgbClr val="1F1F1F"/>
                          </a:solidFill>
                          <a:latin typeface="Calibri"/>
                        </a:rPr>
                        <a:t>Botafogo, nº 501, Torre</a:t>
                      </a:r>
                    </a:p>
                    <a:p>
                      <a:pPr algn="l">
                        <a:lnSpc>
                          <a:spcPct val="100000"/>
                        </a:lnSpc>
                        <a:spcBef>
                          <a:spcPts val="0"/>
                        </a:spcBef>
                        <a:spcAft>
                          <a:spcPts val="0"/>
                        </a:spcAft>
                      </a:pPr>
                      <a:r>
                        <a:rPr sz="1300" b="0">
                          <a:solidFill>
                            <a:srgbClr val="1F1F1F"/>
                          </a:solidFill>
                          <a:latin typeface="Calibri"/>
                        </a:rPr>
                        <a:t>Corcovado, 5º andar</a:t>
                      </a:r>
                    </a:p>
                    <a:p>
                      <a:pPr algn="l">
                        <a:lnSpc>
                          <a:spcPct val="100000"/>
                        </a:lnSpc>
                        <a:spcBef>
                          <a:spcPts val="0"/>
                        </a:spcBef>
                        <a:spcAft>
                          <a:spcPts val="0"/>
                        </a:spcAft>
                      </a:pPr>
                      <a:r>
                        <a:rPr sz="1300" b="0">
                          <a:solidFill>
                            <a:srgbClr val="1F1F1F"/>
                          </a:solidFill>
                          <a:latin typeface="Calibri"/>
                        </a:rPr>
                        <a:t>(parte), CEP</a:t>
                      </a:r>
                    </a:p>
                    <a:p>
                      <a:pPr algn="l">
                        <a:lnSpc>
                          <a:spcPct val="100000"/>
                        </a:lnSpc>
                        <a:spcBef>
                          <a:spcPts val="0"/>
                        </a:spcBef>
                        <a:spcAft>
                          <a:spcPts val="0"/>
                        </a:spcAft>
                      </a:pPr>
                      <a:r>
                        <a:rPr sz="1300" b="0">
                          <a:solidFill>
                            <a:srgbClr val="1F1F1F"/>
                          </a:solidFill>
                          <a:latin typeface="Calibri"/>
                        </a:rPr>
                        <a:t>22.250-040, inscrita no</a:t>
                      </a:r>
                    </a:p>
                    <a:p>
                      <a:pPr algn="l">
                        <a:lnSpc>
                          <a:spcPct val="100000"/>
                        </a:lnSpc>
                        <a:spcBef>
                          <a:spcPts val="0"/>
                        </a:spcBef>
                        <a:spcAft>
                          <a:spcPts val="0"/>
                        </a:spcAft>
                      </a:pPr>
                      <a:r>
                        <a:rPr sz="1300" b="0">
                          <a:solidFill>
                            <a:srgbClr val="1F1F1F"/>
                          </a:solidFill>
                          <a:latin typeface="Calibri"/>
                        </a:rPr>
                        <a:t>CNPJ sob o nº</a:t>
                      </a:r>
                    </a:p>
                    <a:p>
                      <a:pPr algn="l">
                        <a:lnSpc>
                          <a:spcPct val="100000"/>
                        </a:lnSpc>
                        <a:spcBef>
                          <a:spcPts val="0"/>
                        </a:spcBef>
                        <a:spcAft>
                          <a:spcPts val="0"/>
                        </a:spcAft>
                      </a:pPr>
                      <a:r>
                        <a:rPr sz="1300" b="0">
                          <a:solidFill>
                            <a:srgbClr val="1F1F1F"/>
                          </a:solidFill>
                          <a:latin typeface="Calibri"/>
                        </a:rPr>
                        <a:t>29.650.082/0001-00,</a:t>
                      </a:r>
                    </a:p>
                    <a:p>
                      <a:pPr algn="l">
                        <a:lnSpc>
                          <a:spcPct val="100000"/>
                        </a:lnSpc>
                        <a:spcBef>
                          <a:spcPts val="0"/>
                        </a:spcBef>
                        <a:spcAft>
                          <a:spcPts val="0"/>
                        </a:spcAft>
                      </a:pPr>
                      <a:r>
                        <a:rPr sz="1300" b="0">
                          <a:solidFill>
                            <a:srgbClr val="1F1F1F"/>
                          </a:solidFill>
                          <a:latin typeface="Calibri"/>
                        </a:rPr>
                        <a:t>devidamente credenciada</a:t>
                      </a:r>
                    </a:p>
                    <a:p>
                      <a:pPr algn="l">
                        <a:lnSpc>
                          <a:spcPct val="100000"/>
                        </a:lnSpc>
                        <a:spcBef>
                          <a:spcPts val="0"/>
                        </a:spcBef>
                        <a:spcAft>
                          <a:spcPts val="0"/>
                        </a:spcAft>
                      </a:pPr>
                      <a:r>
                        <a:rPr sz="1300" b="0">
                          <a:solidFill>
                            <a:srgbClr val="1F1F1F"/>
                          </a:solidFill>
                          <a:latin typeface="Calibri"/>
                        </a:rPr>
                        <a:t>junto à CVM para operar</a:t>
                      </a:r>
                    </a:p>
                    <a:p>
                      <a:pPr algn="l">
                        <a:lnSpc>
                          <a:spcPct val="100000"/>
                        </a:lnSpc>
                        <a:spcBef>
                          <a:spcPts val="0"/>
                        </a:spcBef>
                        <a:spcAft>
                          <a:spcPts val="0"/>
                        </a:spcAft>
                      </a:pPr>
                      <a:r>
                        <a:rPr sz="1300" b="0">
                          <a:solidFill>
                            <a:srgbClr val="1F1F1F"/>
                          </a:solidFill>
                          <a:latin typeface="Calibri"/>
                        </a:rPr>
                        <a:t>como administrador de</a:t>
                      </a:r>
                    </a:p>
                    <a:p>
                      <a:pPr algn="l">
                        <a:lnSpc>
                          <a:spcPct val="100000"/>
                        </a:lnSpc>
                        <a:spcBef>
                          <a:spcPts val="0"/>
                        </a:spcBef>
                        <a:spcAft>
                          <a:spcPts val="0"/>
                        </a:spcAft>
                      </a:pPr>
                      <a:r>
                        <a:rPr sz="1300" b="0">
                          <a:solidFill>
                            <a:srgbClr val="1F1F1F"/>
                          </a:solidFill>
                          <a:latin typeface="Calibri"/>
                        </a:rPr>
                        <a:t>carteira de valores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Serviços Essenciais”).</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BTG Pactual Serviços</a:t>
                      </a:r>
                    </a:p>
                    <a:p>
                      <a:pPr algn="l">
                        <a:lnSpc>
                          <a:spcPct val="100000"/>
                        </a:lnSpc>
                        <a:spcBef>
                          <a:spcPts val="0"/>
                        </a:spcBef>
                        <a:spcAft>
                          <a:spcPts val="0"/>
                        </a:spcAft>
                      </a:pPr>
                      <a:r>
                        <a:rPr sz="1300" b="0">
                          <a:solidFill>
                            <a:srgbClr val="1F1F1F"/>
                          </a:solidFill>
                          <a:latin typeface="Calibri"/>
                        </a:rPr>
                        <a:t>Financeiros S.A.</a:t>
                      </a:r>
                    </a:p>
                    <a:p>
                      <a:pPr algn="l">
                        <a:lnSpc>
                          <a:spcPct val="100000"/>
                        </a:lnSpc>
                        <a:spcBef>
                          <a:spcPts val="0"/>
                        </a:spcBef>
                        <a:spcAft>
                          <a:spcPts val="0"/>
                        </a:spcAft>
                      </a:pPr>
                      <a:r>
                        <a:rPr sz="1300" b="0">
                          <a:solidFill>
                            <a:srgbClr val="1F1F1F"/>
                          </a:solidFill>
                          <a:latin typeface="Calibri"/>
                        </a:rPr>
                        <a:t>Distribuidora de</a:t>
                      </a:r>
                    </a:p>
                    <a:p>
                      <a:pPr algn="l">
                        <a:lnSpc>
                          <a:spcPct val="100000"/>
                        </a:lnSpc>
                        <a:spcBef>
                          <a:spcPts val="0"/>
                        </a:spcBef>
                        <a:spcAft>
                          <a:spcPts val="0"/>
                        </a:spcAft>
                      </a:pPr>
                      <a:r>
                        <a:rPr sz="1300" b="0">
                          <a:solidFill>
                            <a:srgbClr val="1F1F1F"/>
                          </a:solidFill>
                          <a:latin typeface="Calibri"/>
                        </a:rPr>
                        <a:t>Títulos e Valores</a:t>
                      </a:r>
                    </a:p>
                    <a:p>
                      <a:pPr algn="l">
                        <a:lnSpc>
                          <a:spcPct val="100000"/>
                        </a:lnSpc>
                        <a:spcBef>
                          <a:spcPts val="0"/>
                        </a:spcBef>
                        <a:spcAft>
                          <a:spcPts val="0"/>
                        </a:spcAft>
                      </a:pPr>
                      <a:r>
                        <a:rPr sz="1300" b="0">
                          <a:solidFill>
                            <a:srgbClr val="1F1F1F"/>
                          </a:solidFill>
                          <a:latin typeface="Calibri"/>
                        </a:rPr>
                        <a:t>Mobiliários, sociedade</a:t>
                      </a:r>
                    </a:p>
                    <a:p>
                      <a:pPr algn="l">
                        <a:lnSpc>
                          <a:spcPct val="100000"/>
                        </a:lnSpc>
                        <a:spcBef>
                          <a:spcPts val="0"/>
                        </a:spcBef>
                        <a:spcAft>
                          <a:spcPts val="0"/>
                        </a:spcAft>
                      </a:pPr>
                      <a:r>
                        <a:rPr sz="1300" b="0">
                          <a:solidFill>
                            <a:srgbClr val="1F1F1F"/>
                          </a:solidFill>
                          <a:latin typeface="Calibri"/>
                        </a:rPr>
                        <a:t>anônima, com sede no</a:t>
                      </a:r>
                    </a:p>
                    <a:p>
                      <a:pPr algn="l">
                        <a:lnSpc>
                          <a:spcPct val="100000"/>
                        </a:lnSpc>
                        <a:spcBef>
                          <a:spcPts val="0"/>
                        </a:spcBef>
                        <a:spcAft>
                          <a:spcPts val="0"/>
                        </a:spcAft>
                      </a:pPr>
                      <a:r>
                        <a:rPr sz="1300" b="0">
                          <a:solidFill>
                            <a:srgbClr val="1F1F1F"/>
                          </a:solidFill>
                          <a:latin typeface="Calibri"/>
                        </a:rPr>
                        <a:t>município e Estado do</a:t>
                      </a:r>
                    </a:p>
                    <a:p>
                      <a:pPr algn="l">
                        <a:lnSpc>
                          <a:spcPct val="100000"/>
                        </a:lnSpc>
                        <a:spcBef>
                          <a:spcPts val="0"/>
                        </a:spcBef>
                        <a:spcAft>
                          <a:spcPts val="0"/>
                        </a:spcAft>
                      </a:pPr>
                      <a:r>
                        <a:rPr sz="1300" b="0">
                          <a:solidFill>
                            <a:srgbClr val="1F1F1F"/>
                          </a:solidFill>
                          <a:latin typeface="Calibri"/>
                        </a:rPr>
                        <a:t>Rio de Janeiro, na</a:t>
                      </a:r>
                    </a:p>
                    <a:p>
                      <a:pPr algn="l">
                        <a:lnSpc>
                          <a:spcPct val="100000"/>
                        </a:lnSpc>
                        <a:spcBef>
                          <a:spcPts val="0"/>
                        </a:spcBef>
                        <a:spcAft>
                          <a:spcPts val="0"/>
                        </a:spcAft>
                      </a:pPr>
                      <a:r>
                        <a:rPr sz="1300" b="0">
                          <a:solidFill>
                            <a:srgbClr val="1F1F1F"/>
                          </a:solidFill>
                          <a:latin typeface="Calibri"/>
                        </a:rPr>
                        <a:t>Praia de Botafogo, nº</a:t>
                      </a:r>
                    </a:p>
                    <a:p>
                      <a:pPr algn="l">
                        <a:lnSpc>
                          <a:spcPct val="100000"/>
                        </a:lnSpc>
                        <a:spcBef>
                          <a:spcPts val="0"/>
                        </a:spcBef>
                        <a:spcAft>
                          <a:spcPts val="0"/>
                        </a:spcAft>
                      </a:pPr>
                      <a:r>
                        <a:rPr sz="1300" b="0">
                          <a:solidFill>
                            <a:srgbClr val="1F1F1F"/>
                          </a:solidFill>
                          <a:latin typeface="Calibri"/>
                        </a:rPr>
                        <a:t>501, 5º andar (parte),</a:t>
                      </a:r>
                    </a:p>
                    <a:p>
                      <a:pPr algn="l">
                        <a:lnSpc>
                          <a:spcPct val="100000"/>
                        </a:lnSpc>
                        <a:spcBef>
                          <a:spcPts val="0"/>
                        </a:spcBef>
                        <a:spcAft>
                          <a:spcPts val="0"/>
                        </a:spcAft>
                      </a:pPr>
                      <a:r>
                        <a:rPr sz="1300" b="0">
                          <a:solidFill>
                            <a:srgbClr val="1F1F1F"/>
                          </a:solidFill>
                          <a:latin typeface="Calibri"/>
                        </a:rPr>
                        <a:t>Torre Corcovado,</a:t>
                      </a:r>
                    </a:p>
                    <a:p>
                      <a:pPr algn="l">
                        <a:lnSpc>
                          <a:spcPct val="100000"/>
                        </a:lnSpc>
                        <a:spcBef>
                          <a:spcPts val="0"/>
                        </a:spcBef>
                        <a:spcAft>
                          <a:spcPts val="0"/>
                        </a:spcAft>
                      </a:pPr>
                      <a:r>
                        <a:rPr sz="1300" b="0">
                          <a:solidFill>
                            <a:srgbClr val="1F1F1F"/>
                          </a:solidFill>
                          <a:latin typeface="Calibri"/>
                        </a:rPr>
                        <a:t>Administrador Botafogo,</a:t>
                      </a:r>
                    </a:p>
                    <a:p>
                      <a:pPr algn="l">
                        <a:lnSpc>
                          <a:spcPct val="100000"/>
                        </a:lnSpc>
                        <a:spcBef>
                          <a:spcPts val="0"/>
                        </a:spcBef>
                        <a:spcAft>
                          <a:spcPts val="0"/>
                        </a:spcAft>
                      </a:pPr>
                      <a:r>
                        <a:rPr sz="1300" b="0">
                          <a:solidFill>
                            <a:srgbClr val="1F1F1F"/>
                          </a:solidFill>
                          <a:latin typeface="Calibri"/>
                        </a:rPr>
                        <a:t>CEP 22250-040, inscrita</a:t>
                      </a:r>
                    </a:p>
                    <a:p>
                      <a:pPr algn="l">
                        <a:lnSpc>
                          <a:spcPct val="100000"/>
                        </a:lnSpc>
                        <a:spcBef>
                          <a:spcPts val="0"/>
                        </a:spcBef>
                        <a:spcAft>
                          <a:spcPts val="0"/>
                        </a:spcAft>
                      </a:pPr>
                      <a:r>
                        <a:rPr sz="1300" b="0">
                          <a:solidFill>
                            <a:srgbClr val="1F1F1F"/>
                          </a:solidFill>
                          <a:latin typeface="Calibri"/>
                        </a:rPr>
                        <a:t>no CNPJ sob o nº</a:t>
                      </a:r>
                    </a:p>
                    <a:p>
                      <a:pPr algn="l">
                        <a:lnSpc>
                          <a:spcPct val="100000"/>
                        </a:lnSpc>
                        <a:spcBef>
                          <a:spcPts val="0"/>
                        </a:spcBef>
                        <a:spcAft>
                          <a:spcPts val="0"/>
                        </a:spcAft>
                      </a:pPr>
                      <a:r>
                        <a:rPr sz="1300" b="0">
                          <a:solidFill>
                            <a:srgbClr val="1F1F1F"/>
                          </a:solidFill>
                          <a:latin typeface="Calibri"/>
                        </a:rPr>
                        <a:t>59.281.253/0001-23 e</a:t>
                      </a:r>
                    </a:p>
                    <a:p>
                      <a:pPr algn="l">
                        <a:lnSpc>
                          <a:spcPct val="100000"/>
                        </a:lnSpc>
                        <a:spcBef>
                          <a:spcPts val="0"/>
                        </a:spcBef>
                        <a:spcAft>
                          <a:spcPts val="0"/>
                        </a:spcAft>
                      </a:pPr>
                      <a:r>
                        <a:rPr sz="1300" b="0">
                          <a:solidFill>
                            <a:srgbClr val="1F1F1F"/>
                          </a:solidFill>
                          <a:latin typeface="Calibri"/>
                        </a:rPr>
                        <a:t>credenciada como</a:t>
                      </a:r>
                    </a:p>
                    <a:p>
                      <a:pPr algn="l">
                        <a:lnSpc>
                          <a:spcPct val="100000"/>
                        </a:lnSpc>
                        <a:spcBef>
                          <a:spcPts val="0"/>
                        </a:spcBef>
                        <a:spcAft>
                          <a:spcPts val="0"/>
                        </a:spcAft>
                      </a:pPr>
                      <a:r>
                        <a:rPr sz="1300" b="0">
                          <a:solidFill>
                            <a:srgbClr val="1F1F1F"/>
                          </a:solidFill>
                          <a:latin typeface="Calibri"/>
                        </a:rPr>
                        <a:t>Administradora de</a:t>
                      </a:r>
                    </a:p>
                    <a:p>
                      <a:pPr algn="l">
                        <a:lnSpc>
                          <a:spcPct val="100000"/>
                        </a:lnSpc>
                        <a:spcBef>
                          <a:spcPts val="0"/>
                        </a:spcBef>
                        <a:spcAft>
                          <a:spcPts val="0"/>
                        </a:spcAft>
                      </a:pPr>
                      <a:r>
                        <a:rPr sz="1300" b="0">
                          <a:solidFill>
                            <a:srgbClr val="1F1F1F"/>
                          </a:solidFill>
                          <a:latin typeface="Calibri"/>
                        </a:rPr>
                        <a:t>carteira, de acordo com</a:t>
                      </a:r>
                    </a:p>
                    <a:p>
                      <a:pPr algn="l">
                        <a:lnSpc>
                          <a:spcPct val="100000"/>
                        </a:lnSpc>
                        <a:spcBef>
                          <a:spcPts val="0"/>
                        </a:spcBef>
                        <a:spcAft>
                          <a:spcPts val="0"/>
                        </a:spcAft>
                      </a:pPr>
                      <a:r>
                        <a:rPr sz="1300" b="0">
                          <a:solidFill>
                            <a:srgbClr val="1F1F1F"/>
                          </a:solidFill>
                          <a:latin typeface="Calibri"/>
                        </a:rPr>
                        <a:t>o Ato Declaratório CVM</a:t>
                      </a:r>
                    </a:p>
                    <a:p>
                      <a:pPr algn="l">
                        <a:lnSpc>
                          <a:spcPct val="100000"/>
                        </a:lnSpc>
                        <a:spcBef>
                          <a:spcPts val="0"/>
                        </a:spcBef>
                        <a:spcAft>
                          <a:spcPts val="0"/>
                        </a:spcAft>
                      </a:pPr>
                      <a:r>
                        <a:rPr sz="1300" b="0">
                          <a:solidFill>
                            <a:srgbClr val="1F1F1F"/>
                          </a:solidFill>
                          <a:latin typeface="Calibri"/>
                        </a:rPr>
                        <a:t>nº 8.695, de 20 de</a:t>
                      </a:r>
                    </a:p>
                    <a:p>
                      <a:pPr algn="l">
                        <a:lnSpc>
                          <a:spcPct val="100000"/>
                        </a:lnSpc>
                        <a:spcBef>
                          <a:spcPts val="0"/>
                        </a:spcBef>
                        <a:spcAft>
                          <a:spcPts val="0"/>
                        </a:spcAft>
                      </a:pPr>
                      <a:r>
                        <a:rPr sz="1300" b="0">
                          <a:solidFill>
                            <a:srgbClr val="1F1F1F"/>
                          </a:solidFill>
                          <a:latin typeface="Calibri"/>
                        </a:rPr>
                        <a:t>março de 2006</a:t>
                      </a:r>
                    </a:p>
                    <a:p>
                      <a:pPr algn="l">
                        <a:lnSpc>
                          <a:spcPct val="100000"/>
                        </a:lnSpc>
                        <a:spcBef>
                          <a:spcPts val="0"/>
                        </a:spcBef>
                        <a:spcAft>
                          <a:spcPts val="0"/>
                        </a:spcAft>
                      </a:pPr>
                      <a:r>
                        <a:rPr sz="1300" b="0">
                          <a:solidFill>
                            <a:srgbClr val="1F1F1F"/>
                          </a:solidFill>
                          <a:latin typeface="Calibri"/>
                        </a:rPr>
                        <a:t>(“Administrador”),</a:t>
                      </a:r>
                    </a:p>
                    <a:p>
                      <a:pPr algn="l">
                        <a:lnSpc>
                          <a:spcPct val="100000"/>
                        </a:lnSpc>
                        <a:spcBef>
                          <a:spcPts val="0"/>
                        </a:spcBef>
                        <a:spcAft>
                          <a:spcPts val="0"/>
                        </a:spcAft>
                      </a:pPr>
                      <a:r>
                        <a:rPr sz="1300" b="0">
                          <a:solidFill>
                            <a:srgbClr val="1F1F1F"/>
                          </a:solidFill>
                          <a:latin typeface="Calibri"/>
                        </a:rPr>
                        <a:t>responsável pela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“Prestadores de</a:t>
                      </a:r>
                    </a:p>
                    <a:p>
                      <a:pPr algn="l">
                        <a:lnSpc>
                          <a:spcPct val="100000"/>
                        </a:lnSpc>
                        <a:spcBef>
                          <a:spcPts val="0"/>
                        </a:spcBef>
                        <a:spcAft>
                          <a:spcPts val="0"/>
                        </a:spcAft>
                      </a:pPr>
                      <a:r>
                        <a:rPr sz="1300" b="0">
                          <a:solidFill>
                            <a:srgbClr val="1F1F1F"/>
                          </a:solidFill>
                          <a:latin typeface="Calibri"/>
                        </a:rPr>
                        <a:t>Serviços Essenciais”).</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BTG Pactual Serviços</a:t>
                      </a:r>
                    </a:p>
                    <a:p>
                      <a:pPr algn="l">
                        <a:lnSpc>
                          <a:spcPct val="100000"/>
                        </a:lnSpc>
                        <a:spcBef>
                          <a:spcPts val="0"/>
                        </a:spcBef>
                        <a:spcAft>
                          <a:spcPts val="0"/>
                        </a:spcAft>
                      </a:pPr>
                      <a:r>
                        <a:rPr sz="1300" b="0">
                          <a:solidFill>
                            <a:srgbClr val="1F1F1F"/>
                          </a:solidFill>
                          <a:latin typeface="Calibri"/>
                        </a:rPr>
                        <a:t>Financeiros S.A.</a:t>
                      </a:r>
                    </a:p>
                    <a:p>
                      <a:pPr algn="l">
                        <a:lnSpc>
                          <a:spcPct val="100000"/>
                        </a:lnSpc>
                        <a:spcBef>
                          <a:spcPts val="0"/>
                        </a:spcBef>
                        <a:spcAft>
                          <a:spcPts val="0"/>
                        </a:spcAft>
                      </a:pPr>
                      <a:r>
                        <a:rPr sz="1300" b="0">
                          <a:solidFill>
                            <a:srgbClr val="1F1F1F"/>
                          </a:solidFill>
                          <a:latin typeface="Calibri"/>
                        </a:rPr>
                        <a:t>Distribuidora de</a:t>
                      </a:r>
                    </a:p>
                    <a:p>
                      <a:pPr algn="l">
                        <a:lnSpc>
                          <a:spcPct val="100000"/>
                        </a:lnSpc>
                        <a:spcBef>
                          <a:spcPts val="0"/>
                        </a:spcBef>
                        <a:spcAft>
                          <a:spcPts val="0"/>
                        </a:spcAft>
                      </a:pPr>
                      <a:r>
                        <a:rPr sz="1300" b="0">
                          <a:solidFill>
                            <a:srgbClr val="1F1F1F"/>
                          </a:solidFill>
                          <a:latin typeface="Calibri"/>
                        </a:rPr>
                        <a:t>Títulos e Valores</a:t>
                      </a:r>
                    </a:p>
                    <a:p>
                      <a:pPr algn="l">
                        <a:lnSpc>
                          <a:spcPct val="100000"/>
                        </a:lnSpc>
                        <a:spcBef>
                          <a:spcPts val="0"/>
                        </a:spcBef>
                        <a:spcAft>
                          <a:spcPts val="0"/>
                        </a:spcAft>
                      </a:pPr>
                      <a:r>
                        <a:rPr sz="1300" b="0">
                          <a:solidFill>
                            <a:srgbClr val="1F1F1F"/>
                          </a:solidFill>
                          <a:latin typeface="Calibri"/>
                        </a:rPr>
                        <a:t>Mobiliários, sociedade</a:t>
                      </a:r>
                    </a:p>
                    <a:p>
                      <a:pPr algn="l">
                        <a:lnSpc>
                          <a:spcPct val="100000"/>
                        </a:lnSpc>
                        <a:spcBef>
                          <a:spcPts val="0"/>
                        </a:spcBef>
                        <a:spcAft>
                          <a:spcPts val="0"/>
                        </a:spcAft>
                      </a:pPr>
                      <a:r>
                        <a:rPr sz="1300" b="0">
                          <a:solidFill>
                            <a:srgbClr val="1F1F1F"/>
                          </a:solidFill>
                          <a:latin typeface="Calibri"/>
                        </a:rPr>
                        <a:t>anônima, com sede no</a:t>
                      </a:r>
                    </a:p>
                    <a:p>
                      <a:pPr algn="l">
                        <a:lnSpc>
                          <a:spcPct val="100000"/>
                        </a:lnSpc>
                        <a:spcBef>
                          <a:spcPts val="0"/>
                        </a:spcBef>
                        <a:spcAft>
                          <a:spcPts val="0"/>
                        </a:spcAft>
                      </a:pPr>
                      <a:r>
                        <a:rPr sz="1300" b="0">
                          <a:solidFill>
                            <a:srgbClr val="1F1F1F"/>
                          </a:solidFill>
                          <a:latin typeface="Calibri"/>
                        </a:rPr>
                        <a:t>município e estado do</a:t>
                      </a:r>
                    </a:p>
                    <a:p>
                      <a:pPr algn="l">
                        <a:lnSpc>
                          <a:spcPct val="100000"/>
                        </a:lnSpc>
                        <a:spcBef>
                          <a:spcPts val="0"/>
                        </a:spcBef>
                        <a:spcAft>
                          <a:spcPts val="0"/>
                        </a:spcAft>
                      </a:pPr>
                      <a:r>
                        <a:rPr sz="1300" b="0">
                          <a:solidFill>
                            <a:srgbClr val="1F1F1F"/>
                          </a:solidFill>
                          <a:latin typeface="Calibri"/>
                        </a:rPr>
                        <a:t>Rio de Janeiro, na</a:t>
                      </a:r>
                    </a:p>
                    <a:p>
                      <a:pPr algn="l">
                        <a:lnSpc>
                          <a:spcPct val="100000"/>
                        </a:lnSpc>
                        <a:spcBef>
                          <a:spcPts val="0"/>
                        </a:spcBef>
                        <a:spcAft>
                          <a:spcPts val="0"/>
                        </a:spcAft>
                      </a:pPr>
                      <a:r>
                        <a:rPr sz="1300" b="0">
                          <a:solidFill>
                            <a:srgbClr val="1F1F1F"/>
                          </a:solidFill>
                          <a:latin typeface="Calibri"/>
                        </a:rPr>
                        <a:t>Praia de Botafogo, nº</a:t>
                      </a:r>
                    </a:p>
                    <a:p>
                      <a:pPr algn="l">
                        <a:lnSpc>
                          <a:spcPct val="100000"/>
                        </a:lnSpc>
                        <a:spcBef>
                          <a:spcPts val="0"/>
                        </a:spcBef>
                        <a:spcAft>
                          <a:spcPts val="0"/>
                        </a:spcAft>
                      </a:pPr>
                      <a:r>
                        <a:rPr sz="1300" b="0">
                          <a:solidFill>
                            <a:srgbClr val="1F1F1F"/>
                          </a:solidFill>
                          <a:latin typeface="Calibri"/>
                        </a:rPr>
                        <a:t>501, 5º andar (parte),</a:t>
                      </a:r>
                    </a:p>
                    <a:p>
                      <a:pPr algn="l">
                        <a:lnSpc>
                          <a:spcPct val="100000"/>
                        </a:lnSpc>
                        <a:spcBef>
                          <a:spcPts val="0"/>
                        </a:spcBef>
                        <a:spcAft>
                          <a:spcPts val="0"/>
                        </a:spcAft>
                      </a:pPr>
                      <a:r>
                        <a:rPr sz="1300" b="0">
                          <a:solidFill>
                            <a:srgbClr val="1F1F1F"/>
                          </a:solidFill>
                          <a:latin typeface="Calibri"/>
                        </a:rPr>
                        <a:t>Torre Corcovado,</a:t>
                      </a:r>
                    </a:p>
                    <a:p>
                      <a:pPr algn="l">
                        <a:lnSpc>
                          <a:spcPct val="100000"/>
                        </a:lnSpc>
                        <a:spcBef>
                          <a:spcPts val="0"/>
                        </a:spcBef>
                        <a:spcAft>
                          <a:spcPts val="0"/>
                        </a:spcAft>
                      </a:pPr>
                      <a:r>
                        <a:rPr sz="1300" b="0">
                          <a:solidFill>
                            <a:srgbClr val="1F1F1F"/>
                          </a:solidFill>
                          <a:latin typeface="Calibri"/>
                        </a:rPr>
                        <a:t>Botafogo, CEP</a:t>
                      </a:r>
                    </a:p>
                    <a:p>
                      <a:pPr algn="l">
                        <a:lnSpc>
                          <a:spcPct val="100000"/>
                        </a:lnSpc>
                        <a:spcBef>
                          <a:spcPts val="0"/>
                        </a:spcBef>
                        <a:spcAft>
                          <a:spcPts val="0"/>
                        </a:spcAft>
                      </a:pPr>
                      <a:r>
                        <a:rPr sz="1300" b="0">
                          <a:solidFill>
                            <a:srgbClr val="1F1F1F"/>
                          </a:solidFill>
                          <a:latin typeface="Calibri"/>
                        </a:rPr>
                        <a:t>22250-040, inscrita</a:t>
                      </a:r>
                    </a:p>
                    <a:p>
                      <a:pPr algn="l">
                        <a:lnSpc>
                          <a:spcPct val="100000"/>
                        </a:lnSpc>
                        <a:spcBef>
                          <a:spcPts val="0"/>
                        </a:spcBef>
                        <a:spcAft>
                          <a:spcPts val="0"/>
                        </a:spcAft>
                      </a:pPr>
                      <a:r>
                        <a:rPr sz="1300" b="0">
                          <a:solidFill>
                            <a:srgbClr val="1F1F1F"/>
                          </a:solidFill>
                          <a:latin typeface="Calibri"/>
                        </a:rPr>
                        <a:t>ADMINISTRADOR no</a:t>
                      </a:r>
                    </a:p>
                    <a:p>
                      <a:pPr algn="l">
                        <a:lnSpc>
                          <a:spcPct val="100000"/>
                        </a:lnSpc>
                        <a:spcBef>
                          <a:spcPts val="0"/>
                        </a:spcBef>
                        <a:spcAft>
                          <a:spcPts val="0"/>
                        </a:spcAft>
                      </a:pPr>
                      <a:r>
                        <a:rPr sz="1300" b="0">
                          <a:solidFill>
                            <a:srgbClr val="1F1F1F"/>
                          </a:solidFill>
                          <a:latin typeface="Calibri"/>
                        </a:rPr>
                        <a:t>Cadastro Nacional da</a:t>
                      </a:r>
                    </a:p>
                    <a:p>
                      <a:pPr algn="l">
                        <a:lnSpc>
                          <a:spcPct val="100000"/>
                        </a:lnSpc>
                        <a:spcBef>
                          <a:spcPts val="0"/>
                        </a:spcBef>
                        <a:spcAft>
                          <a:spcPts val="0"/>
                        </a:spcAft>
                      </a:pPr>
                      <a:r>
                        <a:rPr sz="1300" b="0">
                          <a:solidFill>
                            <a:srgbClr val="1F1F1F"/>
                          </a:solidFill>
                          <a:latin typeface="Calibri"/>
                        </a:rPr>
                        <a:t>Pessoa Jurídica</a:t>
                      </a:r>
                    </a:p>
                    <a:p>
                      <a:pPr algn="l">
                        <a:lnSpc>
                          <a:spcPct val="100000"/>
                        </a:lnSpc>
                        <a:spcBef>
                          <a:spcPts val="0"/>
                        </a:spcBef>
                        <a:spcAft>
                          <a:spcPts val="0"/>
                        </a:spcAft>
                      </a:pPr>
                      <a:r>
                        <a:rPr sz="1300" b="0">
                          <a:solidFill>
                            <a:srgbClr val="1F1F1F"/>
                          </a:solidFill>
                          <a:latin typeface="Calibri"/>
                        </a:rPr>
                        <a:t>(“CNPJ”) sob o nº</a:t>
                      </a:r>
                    </a:p>
                    <a:p>
                      <a:pPr algn="l">
                        <a:lnSpc>
                          <a:spcPct val="100000"/>
                        </a:lnSpc>
                        <a:spcBef>
                          <a:spcPts val="0"/>
                        </a:spcBef>
                        <a:spcAft>
                          <a:spcPts val="0"/>
                        </a:spcAft>
                      </a:pPr>
                      <a:r>
                        <a:rPr sz="1300" b="0">
                          <a:solidFill>
                            <a:srgbClr val="1F1F1F"/>
                          </a:solidFill>
                          <a:latin typeface="Calibri"/>
                        </a:rPr>
                        <a:t>59.281.253/0001-23 e</a:t>
                      </a:r>
                    </a:p>
                    <a:p>
                      <a:pPr algn="l">
                        <a:lnSpc>
                          <a:spcPct val="100000"/>
                        </a:lnSpc>
                        <a:spcBef>
                          <a:spcPts val="0"/>
                        </a:spcBef>
                        <a:spcAft>
                          <a:spcPts val="0"/>
                        </a:spcAft>
                      </a:pPr>
                      <a:r>
                        <a:rPr sz="1300" b="0">
                          <a:solidFill>
                            <a:srgbClr val="1F1F1F"/>
                          </a:solidFill>
                          <a:latin typeface="Calibri"/>
                        </a:rPr>
                        <a:t>credenciada como</a:t>
                      </a:r>
                    </a:p>
                    <a:p>
                      <a:pPr algn="l">
                        <a:lnSpc>
                          <a:spcPct val="100000"/>
                        </a:lnSpc>
                        <a:spcBef>
                          <a:spcPts val="0"/>
                        </a:spcBef>
                        <a:spcAft>
                          <a:spcPts val="0"/>
                        </a:spcAft>
                      </a:pPr>
                      <a:r>
                        <a:rPr sz="1300" b="0">
                          <a:solidFill>
                            <a:srgbClr val="1F1F1F"/>
                          </a:solidFill>
                          <a:latin typeface="Calibri"/>
                        </a:rPr>
                        <a:t>administradora de</a:t>
                      </a:r>
                    </a:p>
                    <a:p>
                      <a:pPr algn="l">
                        <a:lnSpc>
                          <a:spcPct val="100000"/>
                        </a:lnSpc>
                        <a:spcBef>
                          <a:spcPts val="0"/>
                        </a:spcBef>
                        <a:spcAft>
                          <a:spcPts val="0"/>
                        </a:spcAft>
                      </a:pPr>
                      <a:r>
                        <a:rPr sz="1300" b="0">
                          <a:solidFill>
                            <a:srgbClr val="1F1F1F"/>
                          </a:solidFill>
                          <a:latin typeface="Calibri"/>
                        </a:rPr>
                        <a:t>carteira, de acordo com</a:t>
                      </a:r>
                    </a:p>
                    <a:p>
                      <a:pPr algn="l">
                        <a:lnSpc>
                          <a:spcPct val="100000"/>
                        </a:lnSpc>
                        <a:spcBef>
                          <a:spcPts val="0"/>
                        </a:spcBef>
                        <a:spcAft>
                          <a:spcPts val="0"/>
                        </a:spcAft>
                      </a:pPr>
                      <a:r>
                        <a:rPr sz="1300" b="0">
                          <a:solidFill>
                            <a:srgbClr val="1F1F1F"/>
                          </a:solidFill>
                          <a:latin typeface="Calibri"/>
                        </a:rPr>
                        <a:t>o Ato Declaratório CVM</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76/160</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Hedge e prestadores</a:t>
            </a:r>
          </a:p>
        </p:txBody>
      </p:sp>
      <p:graphicFrame>
        <p:nvGraphicFramePr>
          <p:cNvPr id="3" name="Table 2"/>
          <p:cNvGraphicFramePr>
            <a:graphicFrameLocks noGrp="1"/>
          </p:cNvGraphicFramePr>
          <p:nvPr/>
        </p:nvGraphicFramePr>
        <p:xfrm>
          <a:off x="438912" y="932688"/>
          <a:ext cx="11313868" cy="5253228"/>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4782312">
                <a:tc>
                  <a:txBody>
                    <a:bodyPr wrap="square">
                      <a:noAutofit/>
                    </a:bodyPr>
                    <a:lstStyle/>
                    <a:p>
                      <a:pPr algn="l">
                        <a:lnSpc>
                          <a:spcPct val="100000"/>
                        </a:lnSpc>
                        <a:spcBef>
                          <a:spcPts val="0"/>
                        </a:spcBef>
                        <a:spcAft>
                          <a:spcPts val="0"/>
                        </a:spcAft>
                      </a:pPr>
                      <a:r>
                        <a:rPr sz="1300" b="1">
                          <a:solidFill>
                            <a:srgbClr val="1F1F1F"/>
                          </a:solidFill>
                          <a:latin typeface="Calibri"/>
                        </a:rPr>
                        <a:t>Administrador, gestor e</a:t>
                      </a:r>
                    </a:p>
                    <a:p>
                      <a:pPr algn="l">
                        <a:lnSpc>
                          <a:spcPct val="100000"/>
                        </a:lnSpc>
                        <a:spcBef>
                          <a:spcPts val="0"/>
                        </a:spcBef>
                        <a:spcAft>
                          <a:spcPts val="0"/>
                        </a:spcAft>
                      </a:pPr>
                      <a:r>
                        <a:rPr sz="1300" b="1">
                          <a:solidFill>
                            <a:srgbClr val="1F1F1F"/>
                          </a:solidFill>
                          <a:latin typeface="Calibri"/>
                        </a:rPr>
                        <a:t>custodiante</a:t>
                      </a:r>
                    </a:p>
                    <a:p>
                      <a:pPr algn="l">
                        <a:lnSpc>
                          <a:spcPct val="100000"/>
                        </a:lnSpc>
                        <a:spcBef>
                          <a:spcPts val="0"/>
                        </a:spcBef>
                        <a:spcAft>
                          <a:spcPts val="0"/>
                        </a:spcAft>
                      </a:pPr>
                      <a:r>
                        <a:rPr sz="1300" b="1">
                          <a:solidFill>
                            <a:srgbClr val="1F1F1F"/>
                          </a:solidFill>
                          <a:latin typeface="Calibri"/>
                        </a:rPr>
                        <a:t>(continuação)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Financeiros S.A.</a:t>
                      </a:r>
                    </a:p>
                    <a:p>
                      <a:pPr algn="l">
                        <a:lnSpc>
                          <a:spcPct val="100000"/>
                        </a:lnSpc>
                        <a:spcBef>
                          <a:spcPts val="0"/>
                        </a:spcBef>
                        <a:spcAft>
                          <a:spcPts val="0"/>
                        </a:spcAft>
                      </a:pPr>
                      <a:r>
                        <a:rPr sz="1300" b="0">
                          <a:solidFill>
                            <a:srgbClr val="1F1F1F"/>
                          </a:solidFill>
                          <a:latin typeface="Calibri"/>
                        </a:rPr>
                        <a:t>Distribuidora de</a:t>
                      </a:r>
                    </a:p>
                    <a:p>
                      <a:pPr algn="l">
                        <a:lnSpc>
                          <a:spcPct val="100000"/>
                        </a:lnSpc>
                        <a:spcBef>
                          <a:spcPts val="0"/>
                        </a:spcBef>
                        <a:spcAft>
                          <a:spcPts val="0"/>
                        </a:spcAft>
                      </a:pPr>
                      <a:r>
                        <a:rPr sz="1300" b="0">
                          <a:solidFill>
                            <a:srgbClr val="1F1F1F"/>
                          </a:solidFill>
                          <a:latin typeface="Calibri"/>
                        </a:rPr>
                        <a:t>Títulos e Valores</a:t>
                      </a:r>
                    </a:p>
                    <a:p>
                      <a:pPr algn="l">
                        <a:lnSpc>
                          <a:spcPct val="100000"/>
                        </a:lnSpc>
                        <a:spcBef>
                          <a:spcPts val="0"/>
                        </a:spcBef>
                        <a:spcAft>
                          <a:spcPts val="0"/>
                        </a:spcAft>
                      </a:pPr>
                      <a:r>
                        <a:rPr sz="1300" b="0">
                          <a:solidFill>
                            <a:srgbClr val="1F1F1F"/>
                          </a:solidFill>
                          <a:latin typeface="Calibri"/>
                        </a:rPr>
                        <a:t>Mobiliários,</a:t>
                      </a:r>
                    </a:p>
                    <a:p>
                      <a:pPr algn="l">
                        <a:lnSpc>
                          <a:spcPct val="100000"/>
                        </a:lnSpc>
                        <a:spcBef>
                          <a:spcPts val="0"/>
                        </a:spcBef>
                        <a:spcAft>
                          <a:spcPts val="0"/>
                        </a:spcAft>
                      </a:pPr>
                      <a:r>
                        <a:rPr sz="1300" b="0">
                          <a:solidFill>
                            <a:srgbClr val="1F1F1F"/>
                          </a:solidFill>
                          <a:latin typeface="Calibri"/>
                        </a:rPr>
                        <a:t>instituição com sede no</a:t>
                      </a:r>
                    </a:p>
                    <a:p>
                      <a:pPr algn="l">
                        <a:lnSpc>
                          <a:spcPct val="100000"/>
                        </a:lnSpc>
                        <a:spcBef>
                          <a:spcPts val="0"/>
                        </a:spcBef>
                        <a:spcAft>
                          <a:spcPts val="0"/>
                        </a:spcAft>
                      </a:pPr>
                      <a:r>
                        <a:rPr sz="1300" b="0">
                          <a:solidFill>
                            <a:srgbClr val="1F1F1F"/>
                          </a:solidFill>
                          <a:latin typeface="Calibri"/>
                        </a:rPr>
                        <a:t>Município do Rio de</a:t>
                      </a:r>
                    </a:p>
                    <a:p>
                      <a:pPr algn="l">
                        <a:lnSpc>
                          <a:spcPct val="100000"/>
                        </a:lnSpc>
                        <a:spcBef>
                          <a:spcPts val="0"/>
                        </a:spcBef>
                        <a:spcAft>
                          <a:spcPts val="0"/>
                        </a:spcAft>
                      </a:pPr>
                      <a:r>
                        <a:rPr sz="1300" b="0">
                          <a:solidFill>
                            <a:srgbClr val="1F1F1F"/>
                          </a:solidFill>
                          <a:latin typeface="Calibri"/>
                        </a:rPr>
                        <a:t>Janeiro, Estado do Rio</a:t>
                      </a:r>
                    </a:p>
                    <a:p>
                      <a:pPr algn="l">
                        <a:lnSpc>
                          <a:spcPct val="100000"/>
                        </a:lnSpc>
                        <a:spcBef>
                          <a:spcPts val="0"/>
                        </a:spcBef>
                        <a:spcAft>
                          <a:spcPts val="0"/>
                        </a:spcAft>
                      </a:pPr>
                      <a:r>
                        <a:rPr sz="1300" b="0">
                          <a:solidFill>
                            <a:srgbClr val="1F1F1F"/>
                          </a:solidFill>
                          <a:latin typeface="Calibri"/>
                        </a:rPr>
                        <a:t>de Janeiro, à Praia de</a:t>
                      </a:r>
                    </a:p>
                    <a:p>
                      <a:pPr algn="l">
                        <a:lnSpc>
                          <a:spcPct val="100000"/>
                        </a:lnSpc>
                        <a:spcBef>
                          <a:spcPts val="0"/>
                        </a:spcBef>
                        <a:spcAft>
                          <a:spcPts val="0"/>
                        </a:spcAft>
                      </a:pPr>
                      <a:r>
                        <a:rPr sz="1300" b="0">
                          <a:solidFill>
                            <a:srgbClr val="1F1F1F"/>
                          </a:solidFill>
                          <a:latin typeface="Calibri"/>
                        </a:rPr>
                        <a:t>Botafogo, nº 501, 5º</a:t>
                      </a:r>
                    </a:p>
                    <a:p>
                      <a:pPr algn="l">
                        <a:lnSpc>
                          <a:spcPct val="100000"/>
                        </a:lnSpc>
                        <a:spcBef>
                          <a:spcPts val="0"/>
                        </a:spcBef>
                        <a:spcAft>
                          <a:spcPts val="0"/>
                        </a:spcAft>
                      </a:pPr>
                      <a:r>
                        <a:rPr sz="1300" b="0">
                          <a:solidFill>
                            <a:srgbClr val="1F1F1F"/>
                          </a:solidFill>
                          <a:latin typeface="Calibri"/>
                        </a:rPr>
                        <a:t>andar – parte, inscrita</a:t>
                      </a:r>
                    </a:p>
                    <a:p>
                      <a:pPr algn="l">
                        <a:lnSpc>
                          <a:spcPct val="100000"/>
                        </a:lnSpc>
                        <a:spcBef>
                          <a:spcPts val="0"/>
                        </a:spcBef>
                        <a:spcAft>
                          <a:spcPts val="0"/>
                        </a:spcAft>
                      </a:pPr>
                      <a:r>
                        <a:rPr sz="1300" b="0">
                          <a:solidFill>
                            <a:srgbClr val="1F1F1F"/>
                          </a:solidFill>
                          <a:latin typeface="Calibri"/>
                        </a:rPr>
                        <a:t>no CNPJ sob o nº</a:t>
                      </a:r>
                    </a:p>
                    <a:p>
                      <a:pPr algn="l">
                        <a:lnSpc>
                          <a:spcPct val="100000"/>
                        </a:lnSpc>
                        <a:spcBef>
                          <a:spcPts val="0"/>
                        </a:spcBef>
                        <a:spcAft>
                          <a:spcPts val="0"/>
                        </a:spcAft>
                      </a:pPr>
                      <a:r>
                        <a:rPr sz="1300" b="0">
                          <a:solidFill>
                            <a:srgbClr val="1F1F1F"/>
                          </a:solidFill>
                          <a:latin typeface="Calibri"/>
                        </a:rPr>
                        <a:t>59.281.253/0001-23,</a:t>
                      </a:r>
                    </a:p>
                    <a:p>
                      <a:pPr algn="l">
                        <a:lnSpc>
                          <a:spcPct val="100000"/>
                        </a:lnSpc>
                        <a:spcBef>
                          <a:spcPts val="0"/>
                        </a:spcBef>
                        <a:spcAft>
                          <a:spcPts val="0"/>
                        </a:spcAft>
                      </a:pPr>
                      <a:r>
                        <a:rPr sz="1300" b="0">
                          <a:solidFill>
                            <a:srgbClr val="1F1F1F"/>
                          </a:solidFill>
                          <a:latin typeface="Calibri"/>
                        </a:rPr>
                        <a:t>autorizada a funcionar</a:t>
                      </a:r>
                    </a:p>
                    <a:p>
                      <a:pPr algn="l">
                        <a:lnSpc>
                          <a:spcPct val="100000"/>
                        </a:lnSpc>
                        <a:spcBef>
                          <a:spcPts val="0"/>
                        </a:spcBef>
                        <a:spcAft>
                          <a:spcPts val="0"/>
                        </a:spcAft>
                      </a:pPr>
                      <a:r>
                        <a:rPr sz="1300" b="0">
                          <a:solidFill>
                            <a:srgbClr val="1F1F1F"/>
                          </a:solidFill>
                          <a:latin typeface="Calibri"/>
                        </a:rPr>
                        <a:t>pelo BACEN e autorizada</a:t>
                      </a:r>
                    </a:p>
                    <a:p>
                      <a:pPr algn="l">
                        <a:lnSpc>
                          <a:spcPct val="100000"/>
                        </a:lnSpc>
                        <a:spcBef>
                          <a:spcPts val="0"/>
                        </a:spcBef>
                        <a:spcAft>
                          <a:spcPts val="0"/>
                        </a:spcAft>
                      </a:pPr>
                      <a:r>
                        <a:rPr sz="1300" b="0">
                          <a:solidFill>
                            <a:srgbClr val="1F1F1F"/>
                          </a:solidFill>
                          <a:latin typeface="Calibri"/>
                        </a:rPr>
                        <a:t>pela CVM para a</a:t>
                      </a:r>
                    </a:p>
                    <a:p>
                      <a:pPr algn="l">
                        <a:lnSpc>
                          <a:spcPct val="100000"/>
                        </a:lnSpc>
                        <a:spcBef>
                          <a:spcPts val="0"/>
                        </a:spcBef>
                        <a:spcAft>
                          <a:spcPts val="0"/>
                        </a:spcAft>
                      </a:pPr>
                      <a:r>
                        <a:rPr sz="1300" b="0">
                          <a:solidFill>
                            <a:srgbClr val="1F1F1F"/>
                          </a:solidFill>
                          <a:latin typeface="Calibri"/>
                        </a:rPr>
                        <a:t>atividade de</a:t>
                      </a:r>
                    </a:p>
                    <a:p>
                      <a:pPr algn="l">
                        <a:lnSpc>
                          <a:spcPct val="100000"/>
                        </a:lnSpc>
                        <a:spcBef>
                          <a:spcPts val="0"/>
                        </a:spcBef>
                        <a:spcAft>
                          <a:spcPts val="0"/>
                        </a:spcAft>
                      </a:pPr>
                      <a:r>
                        <a:rPr sz="1300" b="0">
                          <a:solidFill>
                            <a:srgbClr val="1F1F1F"/>
                          </a:solidFill>
                          <a:latin typeface="Calibri"/>
                        </a:rPr>
                        <a:t>administração de</a:t>
                      </a:r>
                    </a:p>
                    <a:p>
                      <a:pPr algn="l">
                        <a:lnSpc>
                          <a:spcPct val="100000"/>
                        </a:lnSpc>
                        <a:spcBef>
                          <a:spcPts val="0"/>
                        </a:spcBef>
                        <a:spcAft>
                          <a:spcPts val="0"/>
                        </a:spcAft>
                      </a:pPr>
                      <a:r>
                        <a:rPr sz="1300" b="0">
                          <a:solidFill>
                            <a:srgbClr val="1F1F1F"/>
                          </a:solidFill>
                          <a:latin typeface="Calibri"/>
                        </a:rPr>
                        <a:t>carteiras de valores</a:t>
                      </a:r>
                    </a:p>
                    <a:p>
                      <a:pPr algn="l">
                        <a:lnSpc>
                          <a:spcPct val="100000"/>
                        </a:lnSpc>
                        <a:spcBef>
                          <a:spcPts val="0"/>
                        </a:spcBef>
                        <a:spcAft>
                          <a:spcPts val="0"/>
                        </a:spcAft>
                      </a:pPr>
                      <a:r>
                        <a:rPr sz="1300" b="0">
                          <a:solidFill>
                            <a:srgbClr val="1F1F1F"/>
                          </a:solidFill>
                          <a:latin typeface="Calibri"/>
                        </a:rPr>
                        <a:t>mobiliários, de acordo</a:t>
                      </a:r>
                    </a:p>
                    <a:p>
                      <a:pPr algn="l">
                        <a:lnSpc>
                          <a:spcPct val="100000"/>
                        </a:lnSpc>
                        <a:spcBef>
                          <a:spcPts val="0"/>
                        </a:spcBef>
                        <a:spcAft>
                          <a:spcPts val="0"/>
                        </a:spcAft>
                      </a:pPr>
                      <a:r>
                        <a:rPr sz="1300" b="0">
                          <a:solidFill>
                            <a:srgbClr val="1F1F1F"/>
                          </a:solidFill>
                          <a:latin typeface="Calibri"/>
                        </a:rPr>
                        <a:t>com o Ato Declaratório</a:t>
                      </a:r>
                    </a:p>
                    <a:p>
                      <a:pPr algn="l">
                        <a:lnSpc>
                          <a:spcPct val="100000"/>
                        </a:lnSpc>
                        <a:spcBef>
                          <a:spcPts val="0"/>
                        </a:spcBef>
                        <a:spcAft>
                          <a:spcPts val="0"/>
                        </a:spcAft>
                      </a:pPr>
                      <a:r>
                        <a:rPr sz="1300" b="0">
                          <a:solidFill>
                            <a:srgbClr val="1F1F1F"/>
                          </a:solidFill>
                          <a:latin typeface="Calibri"/>
                        </a:rPr>
                        <a:t>nº 8.695, de 20 de</a:t>
                      </a:r>
                    </a:p>
                    <a:p>
                      <a:pPr algn="l">
                        <a:lnSpc>
                          <a:spcPct val="100000"/>
                        </a:lnSpc>
                        <a:spcBef>
                          <a:spcPts val="0"/>
                        </a:spcBef>
                        <a:spcAft>
                          <a:spcPts val="0"/>
                        </a:spcAft>
                      </a:pPr>
                      <a:r>
                        <a:rPr sz="1300" b="0">
                          <a:solidFill>
                            <a:srgbClr val="1F1F1F"/>
                          </a:solidFill>
                          <a:latin typeface="Calibri"/>
                        </a:rPr>
                        <a:t>março de 2006, ou seu</a:t>
                      </a:r>
                    </a:p>
                    <a:p>
                      <a:pPr algn="l">
                        <a:lnSpc>
                          <a:spcPct val="100000"/>
                        </a:lnSpc>
                        <a:spcBef>
                          <a:spcPts val="0"/>
                        </a:spcBef>
                        <a:spcAft>
                          <a:spcPts val="0"/>
                        </a:spcAft>
                      </a:pPr>
                      <a:r>
                        <a:rPr sz="1300" b="0">
                          <a:solidFill>
                            <a:srgbClr val="1F1F1F"/>
                          </a:solidFill>
                          <a:latin typeface="Calibri"/>
                        </a:rPr>
                        <a:t>sucessor a qualquer</a:t>
                      </a:r>
                    </a:p>
                    <a:p>
                      <a:pPr algn="l">
                        <a:lnSpc>
                          <a:spcPct val="100000"/>
                        </a:lnSpc>
                        <a:spcBef>
                          <a:spcPts val="0"/>
                        </a:spcBef>
                        <a:spcAft>
                          <a:spcPts val="0"/>
                        </a:spcAft>
                      </a:pPr>
                      <a:r>
                        <a:rPr sz="1300" b="0">
                          <a:solidFill>
                            <a:srgbClr val="1F1F1F"/>
                          </a:solidFill>
                          <a:latin typeface="Calibri"/>
                        </a:rPr>
                        <a:t>título ;</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mobiliários nos termos</a:t>
                      </a:r>
                    </a:p>
                    <a:p>
                      <a:pPr algn="l">
                        <a:lnSpc>
                          <a:spcPct val="100000"/>
                        </a:lnSpc>
                        <a:spcBef>
                          <a:spcPts val="0"/>
                        </a:spcBef>
                        <a:spcAft>
                          <a:spcPts val="0"/>
                        </a:spcAft>
                      </a:pPr>
                      <a:r>
                        <a:rPr sz="1300" b="0">
                          <a:solidFill>
                            <a:srgbClr val="1F1F1F"/>
                          </a:solidFill>
                          <a:latin typeface="Calibri"/>
                        </a:rPr>
                        <a:t>do Ato Declaratório CVM</a:t>
                      </a:r>
                    </a:p>
                    <a:p>
                      <a:pPr algn="l">
                        <a:lnSpc>
                          <a:spcPct val="100000"/>
                        </a:lnSpc>
                        <a:spcBef>
                          <a:spcPts val="0"/>
                        </a:spcBef>
                        <a:spcAft>
                          <a:spcPts val="0"/>
                        </a:spcAft>
                      </a:pPr>
                      <a:r>
                        <a:rPr sz="1300" b="0">
                          <a:solidFill>
                            <a:srgbClr val="1F1F1F"/>
                          </a:solidFill>
                          <a:latin typeface="Calibri"/>
                        </a:rPr>
                        <a:t>nº 5.968, de 10 de maio</a:t>
                      </a:r>
                    </a:p>
                    <a:p>
                      <a:pPr algn="l">
                        <a:lnSpc>
                          <a:spcPct val="100000"/>
                        </a:lnSpc>
                        <a:spcBef>
                          <a:spcPts val="0"/>
                        </a:spcBef>
                        <a:spcAft>
                          <a:spcPts val="0"/>
                        </a:spcAft>
                      </a:pPr>
                      <a:r>
                        <a:rPr sz="1300" b="0">
                          <a:solidFill>
                            <a:srgbClr val="1F1F1F"/>
                          </a:solidFill>
                          <a:latin typeface="Calibri"/>
                        </a:rPr>
                        <a:t>de 2000;</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administração f</a:t>
                      </a:r>
                    </a:p>
                    <a:p>
                      <a:pPr algn="l">
                        <a:lnSpc>
                          <a:spcPct val="100000"/>
                        </a:lnSpc>
                        <a:spcBef>
                          <a:spcPts val="0"/>
                        </a:spcBef>
                        <a:spcAft>
                          <a:spcPts val="0"/>
                        </a:spcAft>
                      </a:pPr>
                      <a:r>
                        <a:rPr sz="1300" b="0">
                          <a:solidFill>
                            <a:srgbClr val="1F1F1F"/>
                          </a:solidFill>
                          <a:latin typeface="Calibri"/>
                        </a:rPr>
                        <a:t>iduciária.</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Banco BTG Pactual S.A.,</a:t>
                      </a:r>
                    </a:p>
                    <a:p>
                      <a:pPr algn="l">
                        <a:lnSpc>
                          <a:spcPct val="100000"/>
                        </a:lnSpc>
                        <a:spcBef>
                          <a:spcPts val="0"/>
                        </a:spcBef>
                        <a:spcAft>
                          <a:spcPts val="0"/>
                        </a:spcAft>
                      </a:pPr>
                      <a:r>
                        <a:rPr sz="1300" b="0">
                          <a:solidFill>
                            <a:srgbClr val="1F1F1F"/>
                          </a:solidFill>
                          <a:latin typeface="Calibri"/>
                        </a:rPr>
                        <a:t>instituição financeira,</a:t>
                      </a:r>
                    </a:p>
                    <a:p>
                      <a:pPr algn="l">
                        <a:lnSpc>
                          <a:spcPct val="100000"/>
                        </a:lnSpc>
                        <a:spcBef>
                          <a:spcPts val="0"/>
                        </a:spcBef>
                        <a:spcAft>
                          <a:spcPts val="0"/>
                        </a:spcAft>
                      </a:pPr>
                      <a:r>
                        <a:rPr sz="1300" b="0">
                          <a:solidFill>
                            <a:srgbClr val="1F1F1F"/>
                          </a:solidFill>
                          <a:latin typeface="Calibri"/>
                        </a:rPr>
                        <a:t>com sede no município e</a:t>
                      </a:r>
                    </a:p>
                    <a:p>
                      <a:pPr algn="l">
                        <a:lnSpc>
                          <a:spcPct val="100000"/>
                        </a:lnSpc>
                        <a:spcBef>
                          <a:spcPts val="0"/>
                        </a:spcBef>
                        <a:spcAft>
                          <a:spcPts val="0"/>
                        </a:spcAft>
                      </a:pPr>
                      <a:r>
                        <a:rPr sz="1300" b="0">
                          <a:solidFill>
                            <a:srgbClr val="1F1F1F"/>
                          </a:solidFill>
                          <a:latin typeface="Calibri"/>
                        </a:rPr>
                        <a:t>Estado do Rio de</a:t>
                      </a:r>
                    </a:p>
                    <a:p>
                      <a:pPr algn="l">
                        <a:lnSpc>
                          <a:spcPct val="100000"/>
                        </a:lnSpc>
                        <a:spcBef>
                          <a:spcPts val="0"/>
                        </a:spcBef>
                        <a:spcAft>
                          <a:spcPts val="0"/>
                        </a:spcAft>
                      </a:pPr>
                      <a:r>
                        <a:rPr sz="1300" b="0">
                          <a:solidFill>
                            <a:srgbClr val="1F1F1F"/>
                          </a:solidFill>
                          <a:latin typeface="Calibri"/>
                        </a:rPr>
                        <a:t>Janeiro, na Praia de</a:t>
                      </a:r>
                    </a:p>
                    <a:p>
                      <a:pPr algn="l">
                        <a:lnSpc>
                          <a:spcPct val="100000"/>
                        </a:lnSpc>
                        <a:spcBef>
                          <a:spcPts val="0"/>
                        </a:spcBef>
                        <a:spcAft>
                          <a:spcPts val="0"/>
                        </a:spcAft>
                      </a:pPr>
                      <a:r>
                        <a:rPr sz="1300" b="0">
                          <a:solidFill>
                            <a:srgbClr val="1F1F1F"/>
                          </a:solidFill>
                          <a:latin typeface="Calibri"/>
                        </a:rPr>
                        <a:t>Botafogo, nº 501, 5º</a:t>
                      </a:r>
                    </a:p>
                    <a:p>
                      <a:pPr algn="l">
                        <a:lnSpc>
                          <a:spcPct val="100000"/>
                        </a:lnSpc>
                        <a:spcBef>
                          <a:spcPts val="0"/>
                        </a:spcBef>
                        <a:spcAft>
                          <a:spcPts val="0"/>
                        </a:spcAft>
                      </a:pPr>
                      <a:r>
                        <a:rPr sz="1300" b="0">
                          <a:solidFill>
                            <a:srgbClr val="1F1F1F"/>
                          </a:solidFill>
                          <a:latin typeface="Calibri"/>
                        </a:rPr>
                        <a:t>andar (parte), Custódia</a:t>
                      </a:r>
                    </a:p>
                    <a:p>
                      <a:pPr algn="l">
                        <a:lnSpc>
                          <a:spcPct val="100000"/>
                        </a:lnSpc>
                        <a:spcBef>
                          <a:spcPts val="0"/>
                        </a:spcBef>
                        <a:spcAft>
                          <a:spcPts val="0"/>
                        </a:spcAft>
                      </a:pPr>
                      <a:r>
                        <a:rPr sz="1300" b="0">
                          <a:solidFill>
                            <a:srgbClr val="1F1F1F"/>
                          </a:solidFill>
                          <a:latin typeface="Calibri"/>
                        </a:rPr>
                        <a:t>e Tesouraria Torre</a:t>
                      </a:r>
                    </a:p>
                    <a:p>
                      <a:pPr algn="l">
                        <a:lnSpc>
                          <a:spcPct val="100000"/>
                        </a:lnSpc>
                        <a:spcBef>
                          <a:spcPts val="0"/>
                        </a:spcBef>
                        <a:spcAft>
                          <a:spcPts val="0"/>
                        </a:spcAft>
                      </a:pPr>
                      <a:r>
                        <a:rPr sz="1300" b="0">
                          <a:solidFill>
                            <a:srgbClr val="1F1F1F"/>
                          </a:solidFill>
                          <a:latin typeface="Calibri"/>
                        </a:rPr>
                        <a:t>Corcovado, Botafogo,</a:t>
                      </a:r>
                    </a:p>
                    <a:p>
                      <a:pPr algn="l">
                        <a:lnSpc>
                          <a:spcPct val="100000"/>
                        </a:lnSpc>
                        <a:spcBef>
                          <a:spcPts val="0"/>
                        </a:spcBef>
                        <a:spcAft>
                          <a:spcPts val="0"/>
                        </a:spcAft>
                      </a:pPr>
                      <a:r>
                        <a:rPr sz="1300" b="0">
                          <a:solidFill>
                            <a:srgbClr val="1F1F1F"/>
                          </a:solidFill>
                          <a:latin typeface="Calibri"/>
                        </a:rPr>
                        <a:t>CEP 22250-040, inscrita</a:t>
                      </a:r>
                    </a:p>
                    <a:p>
                      <a:pPr algn="l">
                        <a:lnSpc>
                          <a:spcPct val="100000"/>
                        </a:lnSpc>
                        <a:spcBef>
                          <a:spcPts val="0"/>
                        </a:spcBef>
                        <a:spcAft>
                          <a:spcPts val="0"/>
                        </a:spcAft>
                      </a:pPr>
                      <a:r>
                        <a:rPr sz="1300" b="0">
                          <a:solidFill>
                            <a:srgbClr val="1F1F1F"/>
                          </a:solidFill>
                          <a:latin typeface="Calibri"/>
                        </a:rPr>
                        <a:t>no CNPJ sob o nº</a:t>
                      </a:r>
                    </a:p>
                    <a:p>
                      <a:pPr algn="l">
                        <a:lnSpc>
                          <a:spcPct val="100000"/>
                        </a:lnSpc>
                        <a:spcBef>
                          <a:spcPts val="0"/>
                        </a:spcBef>
                        <a:spcAft>
                          <a:spcPts val="0"/>
                        </a:spcAft>
                      </a:pPr>
                      <a:r>
                        <a:rPr sz="1300" b="0">
                          <a:solidFill>
                            <a:srgbClr val="1F1F1F"/>
                          </a:solidFill>
                          <a:latin typeface="Calibri"/>
                        </a:rPr>
                        <a:t>30.306.294/0001-45 e</a:t>
                      </a:r>
                    </a:p>
                    <a:p>
                      <a:pPr algn="l">
                        <a:lnSpc>
                          <a:spcPct val="100000"/>
                        </a:lnSpc>
                        <a:spcBef>
                          <a:spcPts val="0"/>
                        </a:spcBef>
                        <a:spcAft>
                          <a:spcPts val="0"/>
                        </a:spcAft>
                      </a:pPr>
                      <a:r>
                        <a:rPr sz="1300" b="0">
                          <a:solidFill>
                            <a:srgbClr val="1F1F1F"/>
                          </a:solidFill>
                          <a:latin typeface="Calibri"/>
                        </a:rPr>
                        <a:t>credenciada como</a:t>
                      </a:r>
                    </a:p>
                    <a:p>
                      <a:pPr algn="l">
                        <a:lnSpc>
                          <a:spcPct val="100000"/>
                        </a:lnSpc>
                        <a:spcBef>
                          <a:spcPts val="0"/>
                        </a:spcBef>
                        <a:spcAft>
                          <a:spcPts val="0"/>
                        </a:spcAft>
                      </a:pPr>
                      <a:r>
                        <a:rPr sz="1300" b="0">
                          <a:solidFill>
                            <a:srgbClr val="1F1F1F"/>
                          </a:solidFill>
                          <a:latin typeface="Calibri"/>
                        </a:rPr>
                        <a:t>custodiante, de acordo</a:t>
                      </a:r>
                    </a:p>
                    <a:p>
                      <a:pPr algn="l">
                        <a:lnSpc>
                          <a:spcPct val="100000"/>
                        </a:lnSpc>
                        <a:spcBef>
                          <a:spcPts val="0"/>
                        </a:spcBef>
                        <a:spcAft>
                          <a:spcPts val="0"/>
                        </a:spcAft>
                      </a:pPr>
                      <a:r>
                        <a:rPr sz="1300" b="0">
                          <a:solidFill>
                            <a:srgbClr val="1F1F1F"/>
                          </a:solidFill>
                          <a:latin typeface="Calibri"/>
                        </a:rPr>
                        <a:t>com o Ato Declaratório</a:t>
                      </a:r>
                    </a:p>
                    <a:p>
                      <a:pPr algn="l">
                        <a:lnSpc>
                          <a:spcPct val="100000"/>
                        </a:lnSpc>
                        <a:spcBef>
                          <a:spcPts val="0"/>
                        </a:spcBef>
                        <a:spcAft>
                          <a:spcPts val="0"/>
                        </a:spcAft>
                      </a:pPr>
                      <a:r>
                        <a:rPr sz="1300" b="0">
                          <a:solidFill>
                            <a:srgbClr val="1F1F1F"/>
                          </a:solidFill>
                          <a:latin typeface="Calibri"/>
                        </a:rPr>
                        <a:t>nº 7.204, de 25 de</a:t>
                      </a:r>
                    </a:p>
                    <a:p>
                      <a:pPr algn="l">
                        <a:lnSpc>
                          <a:spcPct val="100000"/>
                        </a:lnSpc>
                        <a:spcBef>
                          <a:spcPts val="0"/>
                        </a:spcBef>
                        <a:spcAft>
                          <a:spcPts val="0"/>
                        </a:spcAft>
                      </a:pPr>
                      <a:r>
                        <a:rPr sz="1300" b="0">
                          <a:solidFill>
                            <a:srgbClr val="1F1F1F"/>
                          </a:solidFill>
                          <a:latin typeface="Calibri"/>
                        </a:rPr>
                        <a:t>abril de 2003</a:t>
                      </a:r>
                    </a:p>
                    <a:p>
                      <a:pPr algn="l">
                        <a:lnSpc>
                          <a:spcPct val="100000"/>
                        </a:lnSpc>
                        <a:spcBef>
                          <a:spcPts val="0"/>
                        </a:spcBef>
                        <a:spcAft>
                          <a:spcPts val="0"/>
                        </a:spcAft>
                      </a:pPr>
                      <a:r>
                        <a:rPr sz="1300" b="0">
                          <a:solidFill>
                            <a:srgbClr val="1F1F1F"/>
                          </a:solidFill>
                          <a:latin typeface="Calibri"/>
                        </a:rPr>
                        <a:t>(“Custodiante”).</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nº 8.695, de 20 de</a:t>
                      </a:r>
                    </a:p>
                    <a:p>
                      <a:pPr algn="l">
                        <a:lnSpc>
                          <a:spcPct val="100000"/>
                        </a:lnSpc>
                        <a:spcBef>
                          <a:spcPts val="0"/>
                        </a:spcBef>
                        <a:spcAft>
                          <a:spcPts val="0"/>
                        </a:spcAft>
                      </a:pPr>
                      <a:r>
                        <a:rPr sz="1300" b="0">
                          <a:solidFill>
                            <a:srgbClr val="1F1F1F"/>
                          </a:solidFill>
                          <a:latin typeface="Calibri"/>
                        </a:rPr>
                        <a:t>março de 2006</a:t>
                      </a:r>
                    </a:p>
                    <a:p>
                      <a:pPr algn="l">
                        <a:lnSpc>
                          <a:spcPct val="100000"/>
                        </a:lnSpc>
                        <a:spcBef>
                          <a:spcPts val="0"/>
                        </a:spcBef>
                        <a:spcAft>
                          <a:spcPts val="0"/>
                        </a:spcAft>
                      </a:pPr>
                      <a:r>
                        <a:rPr sz="1300" b="0">
                          <a:solidFill>
                            <a:srgbClr val="1F1F1F"/>
                          </a:solidFill>
                          <a:latin typeface="Calibri"/>
                        </a:rPr>
                        <a:t>(“ADMINISTRADOR”).</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“ADMINISTRADOR”: BTG</a:t>
                      </a:r>
                    </a:p>
                    <a:p>
                      <a:pPr algn="l">
                        <a:lnSpc>
                          <a:spcPct val="100000"/>
                        </a:lnSpc>
                        <a:spcBef>
                          <a:spcPts val="0"/>
                        </a:spcBef>
                        <a:spcAft>
                          <a:spcPts val="0"/>
                        </a:spcAft>
                      </a:pPr>
                      <a:r>
                        <a:rPr sz="1300" b="0">
                          <a:solidFill>
                            <a:srgbClr val="1F1F1F"/>
                          </a:solidFill>
                          <a:latin typeface="Calibri"/>
                        </a:rPr>
                        <a:t>Pactual Serviços</a:t>
                      </a:r>
                    </a:p>
                    <a:p>
                      <a:pPr algn="l">
                        <a:lnSpc>
                          <a:spcPct val="100000"/>
                        </a:lnSpc>
                        <a:spcBef>
                          <a:spcPts val="0"/>
                        </a:spcBef>
                        <a:spcAft>
                          <a:spcPts val="0"/>
                        </a:spcAft>
                      </a:pPr>
                      <a:r>
                        <a:rPr sz="1300" b="0">
                          <a:solidFill>
                            <a:srgbClr val="1F1F1F"/>
                          </a:solidFill>
                          <a:latin typeface="Calibri"/>
                        </a:rPr>
                        <a:t>Financeiros S.A.</a:t>
                      </a:r>
                    </a:p>
                    <a:p>
                      <a:pPr algn="l">
                        <a:lnSpc>
                          <a:spcPct val="100000"/>
                        </a:lnSpc>
                        <a:spcBef>
                          <a:spcPts val="0"/>
                        </a:spcBef>
                        <a:spcAft>
                          <a:spcPts val="0"/>
                        </a:spcAft>
                      </a:pPr>
                      <a:r>
                        <a:rPr sz="1300" b="0">
                          <a:solidFill>
                            <a:srgbClr val="1F1F1F"/>
                          </a:solidFill>
                          <a:latin typeface="Calibri"/>
                        </a:rPr>
                        <a:t>Distribuidora de</a:t>
                      </a:r>
                    </a:p>
                    <a:p>
                      <a:pPr algn="l">
                        <a:lnSpc>
                          <a:spcPct val="100000"/>
                        </a:lnSpc>
                        <a:spcBef>
                          <a:spcPts val="0"/>
                        </a:spcBef>
                        <a:spcAft>
                          <a:spcPts val="0"/>
                        </a:spcAft>
                      </a:pPr>
                      <a:r>
                        <a:rPr sz="1300" b="0">
                          <a:solidFill>
                            <a:srgbClr val="1F1F1F"/>
                          </a:solidFill>
                          <a:latin typeface="Calibri"/>
                        </a:rPr>
                        <a:t>Títulos e Valores</a:t>
                      </a:r>
                    </a:p>
                    <a:p>
                      <a:pPr algn="l">
                        <a:lnSpc>
                          <a:spcPct val="100000"/>
                        </a:lnSpc>
                        <a:spcBef>
                          <a:spcPts val="0"/>
                        </a:spcBef>
                        <a:spcAft>
                          <a:spcPts val="0"/>
                        </a:spcAft>
                      </a:pPr>
                      <a:r>
                        <a:rPr sz="1300" b="0">
                          <a:solidFill>
                            <a:srgbClr val="1F1F1F"/>
                          </a:solidFill>
                          <a:latin typeface="Calibri"/>
                        </a:rPr>
                        <a:t>Mobiliários,</a:t>
                      </a:r>
                    </a:p>
                    <a:p>
                      <a:pPr algn="l">
                        <a:lnSpc>
                          <a:spcPct val="100000"/>
                        </a:lnSpc>
                        <a:spcBef>
                          <a:spcPts val="0"/>
                        </a:spcBef>
                        <a:spcAft>
                          <a:spcPts val="0"/>
                        </a:spcAft>
                      </a:pPr>
                      <a:r>
                        <a:rPr sz="1300" b="0">
                          <a:solidFill>
                            <a:srgbClr val="1F1F1F"/>
                          </a:solidFill>
                          <a:latin typeface="Calibri"/>
                        </a:rPr>
                        <a:t>instituição com sede no</a:t>
                      </a:r>
                    </a:p>
                    <a:p>
                      <a:pPr algn="l">
                        <a:lnSpc>
                          <a:spcPct val="100000"/>
                        </a:lnSpc>
                        <a:spcBef>
                          <a:spcPts val="0"/>
                        </a:spcBef>
                        <a:spcAft>
                          <a:spcPts val="0"/>
                        </a:spcAft>
                      </a:pPr>
                      <a:r>
                        <a:rPr sz="1300" b="0">
                          <a:solidFill>
                            <a:srgbClr val="1F1F1F"/>
                          </a:solidFill>
                          <a:latin typeface="Calibri"/>
                        </a:rPr>
                        <a:t>Município do Rio de</a:t>
                      </a:r>
                    </a:p>
                    <a:p>
                      <a:pPr algn="l">
                        <a:lnSpc>
                          <a:spcPct val="100000"/>
                        </a:lnSpc>
                        <a:spcBef>
                          <a:spcPts val="0"/>
                        </a:spcBef>
                        <a:spcAft>
                          <a:spcPts val="0"/>
                        </a:spcAft>
                      </a:pPr>
                      <a:r>
                        <a:rPr sz="1300" b="0">
                          <a:solidFill>
                            <a:srgbClr val="1F1F1F"/>
                          </a:solidFill>
                          <a:latin typeface="Calibri"/>
                        </a:rPr>
                        <a:t>Janeiro, Estado do Rio</a:t>
                      </a:r>
                    </a:p>
                    <a:p>
                      <a:pPr algn="l">
                        <a:lnSpc>
                          <a:spcPct val="100000"/>
                        </a:lnSpc>
                        <a:spcBef>
                          <a:spcPts val="0"/>
                        </a:spcBef>
                        <a:spcAft>
                          <a:spcPts val="0"/>
                        </a:spcAft>
                      </a:pPr>
                      <a:r>
                        <a:rPr sz="1300" b="0">
                          <a:solidFill>
                            <a:srgbClr val="1F1F1F"/>
                          </a:solidFill>
                          <a:latin typeface="Calibri"/>
                        </a:rPr>
                        <a:t>de Janeiro, à Praia de</a:t>
                      </a:r>
                    </a:p>
                    <a:p>
                      <a:pPr algn="l">
                        <a:lnSpc>
                          <a:spcPct val="100000"/>
                        </a:lnSpc>
                        <a:spcBef>
                          <a:spcPts val="0"/>
                        </a:spcBef>
                        <a:spcAft>
                          <a:spcPts val="0"/>
                        </a:spcAft>
                      </a:pPr>
                      <a:r>
                        <a:rPr sz="1300" b="0">
                          <a:solidFill>
                            <a:srgbClr val="1F1F1F"/>
                          </a:solidFill>
                          <a:latin typeface="Calibri"/>
                        </a:rPr>
                        <a:t>Botafogo, nº 501, 5º</a:t>
                      </a:r>
                    </a:p>
                    <a:p>
                      <a:pPr algn="l">
                        <a:lnSpc>
                          <a:spcPct val="100000"/>
                        </a:lnSpc>
                        <a:spcBef>
                          <a:spcPts val="0"/>
                        </a:spcBef>
                        <a:spcAft>
                          <a:spcPts val="0"/>
                        </a:spcAft>
                      </a:pPr>
                      <a:r>
                        <a:rPr sz="1300" b="0">
                          <a:solidFill>
                            <a:srgbClr val="1F1F1F"/>
                          </a:solidFill>
                          <a:latin typeface="Calibri"/>
                        </a:rPr>
                        <a:t>andar – parte, inscrita</a:t>
                      </a:r>
                    </a:p>
                    <a:p>
                      <a:pPr algn="l">
                        <a:lnSpc>
                          <a:spcPct val="100000"/>
                        </a:lnSpc>
                        <a:spcBef>
                          <a:spcPts val="0"/>
                        </a:spcBef>
                        <a:spcAft>
                          <a:spcPts val="0"/>
                        </a:spcAft>
                      </a:pPr>
                      <a:r>
                        <a:rPr sz="1300" b="0">
                          <a:solidFill>
                            <a:srgbClr val="1F1F1F"/>
                          </a:solidFill>
                          <a:latin typeface="Calibri"/>
                        </a:rPr>
                        <a:t>no CNPJ sob o nº</a:t>
                      </a:r>
                    </a:p>
                    <a:p>
                      <a:pPr algn="l">
                        <a:lnSpc>
                          <a:spcPct val="100000"/>
                        </a:lnSpc>
                        <a:spcBef>
                          <a:spcPts val="0"/>
                        </a:spcBef>
                        <a:spcAft>
                          <a:spcPts val="0"/>
                        </a:spcAft>
                      </a:pPr>
                      <a:r>
                        <a:rPr sz="1300" b="0">
                          <a:solidFill>
                            <a:srgbClr val="1F1F1F"/>
                          </a:solidFill>
                          <a:latin typeface="Calibri"/>
                        </a:rPr>
                        <a:t>59.281.253/0001-23,</a:t>
                      </a:r>
                    </a:p>
                    <a:p>
                      <a:pPr algn="l">
                        <a:lnSpc>
                          <a:spcPct val="100000"/>
                        </a:lnSpc>
                        <a:spcBef>
                          <a:spcPts val="0"/>
                        </a:spcBef>
                        <a:spcAft>
                          <a:spcPts val="0"/>
                        </a:spcAft>
                      </a:pPr>
                      <a:r>
                        <a:rPr sz="1300" b="0">
                          <a:solidFill>
                            <a:srgbClr val="1F1F1F"/>
                          </a:solidFill>
                          <a:latin typeface="Calibri"/>
                        </a:rPr>
                        <a:t>autorizada a funcionar</a:t>
                      </a:r>
                    </a:p>
                    <a:p>
                      <a:pPr algn="l">
                        <a:lnSpc>
                          <a:spcPct val="100000"/>
                        </a:lnSpc>
                        <a:spcBef>
                          <a:spcPts val="0"/>
                        </a:spcBef>
                        <a:spcAft>
                          <a:spcPts val="0"/>
                        </a:spcAft>
                      </a:pPr>
                      <a:r>
                        <a:rPr sz="1300" b="0">
                          <a:solidFill>
                            <a:srgbClr val="1F1F1F"/>
                          </a:solidFill>
                          <a:latin typeface="Calibri"/>
                        </a:rPr>
                        <a:t>pelo BACEN e autorizada</a:t>
                      </a:r>
                    </a:p>
                    <a:p>
                      <a:pPr algn="l">
                        <a:lnSpc>
                          <a:spcPct val="100000"/>
                        </a:lnSpc>
                        <a:spcBef>
                          <a:spcPts val="0"/>
                        </a:spcBef>
                        <a:spcAft>
                          <a:spcPts val="0"/>
                        </a:spcAft>
                      </a:pPr>
                      <a:r>
                        <a:rPr sz="1300" b="0">
                          <a:solidFill>
                            <a:srgbClr val="1F1F1F"/>
                          </a:solidFill>
                          <a:latin typeface="Calibri"/>
                        </a:rPr>
                        <a:t>pela CVM para a</a:t>
                      </a:r>
                    </a:p>
                    <a:p>
                      <a:pPr algn="l">
                        <a:lnSpc>
                          <a:spcPct val="100000"/>
                        </a:lnSpc>
                        <a:spcBef>
                          <a:spcPts val="0"/>
                        </a:spcBef>
                        <a:spcAft>
                          <a:spcPts val="0"/>
                        </a:spcAft>
                      </a:pPr>
                      <a:r>
                        <a:rPr sz="1300" b="0">
                          <a:solidFill>
                            <a:srgbClr val="1F1F1F"/>
                          </a:solidFill>
                          <a:latin typeface="Calibri"/>
                        </a:rPr>
                        <a:t>atividade de</a:t>
                      </a:r>
                    </a:p>
                    <a:p>
                      <a:pPr algn="l">
                        <a:lnSpc>
                          <a:spcPct val="100000"/>
                        </a:lnSpc>
                        <a:spcBef>
                          <a:spcPts val="0"/>
                        </a:spcBef>
                        <a:spcAft>
                          <a:spcPts val="0"/>
                        </a:spcAft>
                      </a:pPr>
                      <a:r>
                        <a:rPr sz="1300" b="0">
                          <a:solidFill>
                            <a:srgbClr val="1F1F1F"/>
                          </a:solidFill>
                          <a:latin typeface="Calibri"/>
                        </a:rPr>
                        <a:t>administração de</a:t>
                      </a:r>
                    </a:p>
                    <a:p>
                      <a:pPr algn="l">
                        <a:lnSpc>
                          <a:spcPct val="100000"/>
                        </a:lnSpc>
                        <a:spcBef>
                          <a:spcPts val="0"/>
                        </a:spcBef>
                        <a:spcAft>
                          <a:spcPts val="0"/>
                        </a:spcAft>
                      </a:pPr>
                      <a:r>
                        <a:rPr sz="1300" b="0">
                          <a:solidFill>
                            <a:srgbClr val="1F1F1F"/>
                          </a:solidFill>
                          <a:latin typeface="Calibri"/>
                        </a:rPr>
                        <a:t>carteiras de valores</a:t>
                      </a:r>
                    </a:p>
                    <a:p>
                      <a:pPr algn="l">
                        <a:lnSpc>
                          <a:spcPct val="100000"/>
                        </a:lnSpc>
                        <a:spcBef>
                          <a:spcPts val="0"/>
                        </a:spcBef>
                        <a:spcAft>
                          <a:spcPts val="0"/>
                        </a:spcAft>
                      </a:pPr>
                      <a:r>
                        <a:rPr sz="1300" b="0">
                          <a:solidFill>
                            <a:srgbClr val="1F1F1F"/>
                          </a:solidFill>
                          <a:latin typeface="Calibri"/>
                        </a:rPr>
                        <a:t>mobiliários, de acordo</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77/160</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Hedge e prestadores</a:t>
            </a:r>
          </a:p>
        </p:txBody>
      </p:sp>
      <p:graphicFrame>
        <p:nvGraphicFramePr>
          <p:cNvPr id="3" name="Table 2"/>
          <p:cNvGraphicFramePr>
            <a:graphicFrameLocks noGrp="1"/>
          </p:cNvGraphicFramePr>
          <p:nvPr/>
        </p:nvGraphicFramePr>
        <p:xfrm>
          <a:off x="438912" y="932688"/>
          <a:ext cx="11313868" cy="1504187"/>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1033271">
                <a:tc>
                  <a:txBody>
                    <a:bodyPr wrap="square">
                      <a:noAutofit/>
                    </a:bodyPr>
                    <a:lstStyle/>
                    <a:p>
                      <a:pPr algn="l">
                        <a:lnSpc>
                          <a:spcPct val="100000"/>
                        </a:lnSpc>
                        <a:spcBef>
                          <a:spcPts val="0"/>
                        </a:spcBef>
                        <a:spcAft>
                          <a:spcPts val="0"/>
                        </a:spcAft>
                      </a:pPr>
                      <a:r>
                        <a:rPr sz="1300" b="1">
                          <a:solidFill>
                            <a:srgbClr val="1F1F1F"/>
                          </a:solidFill>
                          <a:latin typeface="Calibri"/>
                        </a:rPr>
                        <a:t>Administrador, gestor e</a:t>
                      </a:r>
                    </a:p>
                    <a:p>
                      <a:pPr algn="l">
                        <a:lnSpc>
                          <a:spcPct val="100000"/>
                        </a:lnSpc>
                        <a:spcBef>
                          <a:spcPts val="0"/>
                        </a:spcBef>
                        <a:spcAft>
                          <a:spcPts val="0"/>
                        </a:spcAft>
                      </a:pPr>
                      <a:r>
                        <a:rPr sz="1300" b="1">
                          <a:solidFill>
                            <a:srgbClr val="1F1F1F"/>
                          </a:solidFill>
                          <a:latin typeface="Calibri"/>
                        </a:rPr>
                        <a:t>custodiante</a:t>
                      </a:r>
                    </a:p>
                    <a:p>
                      <a:pPr algn="l">
                        <a:lnSpc>
                          <a:spcPct val="100000"/>
                        </a:lnSpc>
                        <a:spcBef>
                          <a:spcPts val="0"/>
                        </a:spcBef>
                        <a:spcAft>
                          <a:spcPts val="0"/>
                        </a:spcAft>
                      </a:pPr>
                      <a:r>
                        <a:rPr sz="1300" b="1">
                          <a:solidFill>
                            <a:srgbClr val="1F1F1F"/>
                          </a:solidFill>
                          <a:latin typeface="Calibri"/>
                        </a:rPr>
                        <a:t>(continuação)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com o Ato Declaratório</a:t>
                      </a:r>
                    </a:p>
                    <a:p>
                      <a:pPr algn="l">
                        <a:lnSpc>
                          <a:spcPct val="100000"/>
                        </a:lnSpc>
                        <a:spcBef>
                          <a:spcPts val="0"/>
                        </a:spcBef>
                        <a:spcAft>
                          <a:spcPts val="0"/>
                        </a:spcAft>
                      </a:pPr>
                      <a:r>
                        <a:rPr sz="1300" b="0">
                          <a:solidFill>
                            <a:srgbClr val="1F1F1F"/>
                          </a:solidFill>
                          <a:latin typeface="Calibri"/>
                        </a:rPr>
                        <a:t>nº 8.695, de 20 de</a:t>
                      </a:r>
                    </a:p>
                    <a:p>
                      <a:pPr algn="l">
                        <a:lnSpc>
                          <a:spcPct val="100000"/>
                        </a:lnSpc>
                        <a:spcBef>
                          <a:spcPts val="0"/>
                        </a:spcBef>
                        <a:spcAft>
                          <a:spcPts val="0"/>
                        </a:spcAft>
                      </a:pPr>
                      <a:r>
                        <a:rPr sz="1300" b="0">
                          <a:solidFill>
                            <a:srgbClr val="1F1F1F"/>
                          </a:solidFill>
                          <a:latin typeface="Calibri"/>
                        </a:rPr>
                        <a:t>março de 2006, ou seu</a:t>
                      </a:r>
                    </a:p>
                    <a:p>
                      <a:pPr algn="l">
                        <a:lnSpc>
                          <a:spcPct val="100000"/>
                        </a:lnSpc>
                        <a:spcBef>
                          <a:spcPts val="0"/>
                        </a:spcBef>
                        <a:spcAft>
                          <a:spcPts val="0"/>
                        </a:spcAft>
                      </a:pPr>
                      <a:r>
                        <a:rPr sz="1300" b="0">
                          <a:solidFill>
                            <a:srgbClr val="1F1F1F"/>
                          </a:solidFill>
                          <a:latin typeface="Calibri"/>
                        </a:rPr>
                        <a:t>sucessor a qualquer</a:t>
                      </a:r>
                    </a:p>
                    <a:p>
                      <a:pPr algn="l">
                        <a:lnSpc>
                          <a:spcPct val="100000"/>
                        </a:lnSpc>
                        <a:spcBef>
                          <a:spcPts val="0"/>
                        </a:spcBef>
                        <a:spcAft>
                          <a:spcPts val="0"/>
                        </a:spcAft>
                      </a:pPr>
                      <a:r>
                        <a:rPr sz="1300" b="0">
                          <a:solidFill>
                            <a:srgbClr val="1F1F1F"/>
                          </a:solidFill>
                          <a:latin typeface="Calibri"/>
                        </a:rPr>
                        <a:t>título;</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78/160</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Hedge e prestadores</a:t>
            </a:r>
          </a:p>
        </p:txBody>
      </p:sp>
      <p:graphicFrame>
        <p:nvGraphicFramePr>
          <p:cNvPr id="3" name="Table 2"/>
          <p:cNvGraphicFramePr>
            <a:graphicFrameLocks noGrp="1"/>
          </p:cNvGraphicFramePr>
          <p:nvPr/>
        </p:nvGraphicFramePr>
        <p:xfrm>
          <a:off x="438912" y="932688"/>
          <a:ext cx="11313868" cy="5253228"/>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4782312">
                <a:tc>
                  <a:txBody>
                    <a:bodyPr wrap="square">
                      <a:noAutofit/>
                    </a:bodyPr>
                    <a:lstStyle/>
                    <a:p>
                      <a:pPr algn="l">
                        <a:lnSpc>
                          <a:spcPct val="100000"/>
                        </a:lnSpc>
                        <a:spcBef>
                          <a:spcPts val="0"/>
                        </a:spcBef>
                        <a:spcAft>
                          <a:spcPts val="0"/>
                        </a:spcAft>
                      </a:pPr>
                      <a:r>
                        <a:rPr sz="1300" b="1">
                          <a:solidFill>
                            <a:srgbClr val="1F1F1F"/>
                          </a:solidFill>
                          <a:latin typeface="Calibri"/>
                        </a:rPr>
                        <a:t>Substituição de</a:t>
                      </a:r>
                    </a:p>
                    <a:p>
                      <a:pPr algn="l">
                        <a:lnSpc>
                          <a:spcPct val="100000"/>
                        </a:lnSpc>
                        <a:spcBef>
                          <a:spcPts val="0"/>
                        </a:spcBef>
                        <a:spcAft>
                          <a:spcPts val="0"/>
                        </a:spcAft>
                      </a:pPr>
                      <a:r>
                        <a:rPr sz="1300" b="1">
                          <a:solidFill>
                            <a:srgbClr val="1F1F1F"/>
                          </a:solidFill>
                          <a:latin typeface="Calibri"/>
                        </a:rPr>
                        <a:t>prestadores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Extração pendente</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12.10 Na hipótese de</a:t>
                      </a:r>
                    </a:p>
                    <a:p>
                      <a:pPr algn="l">
                        <a:lnSpc>
                          <a:spcPct val="100000"/>
                        </a:lnSpc>
                        <a:spcBef>
                          <a:spcPts val="0"/>
                        </a:spcBef>
                        <a:spcAft>
                          <a:spcPts val="0"/>
                        </a:spcAft>
                      </a:pPr>
                      <a:r>
                        <a:rPr sz="1300" b="0">
                          <a:solidFill>
                            <a:srgbClr val="1F1F1F"/>
                          </a:solidFill>
                          <a:latin typeface="Calibri"/>
                        </a:rPr>
                        <a:t>renúncia, o</a:t>
                      </a:r>
                    </a:p>
                    <a:p>
                      <a:pPr algn="l">
                        <a:lnSpc>
                          <a:spcPct val="100000"/>
                        </a:lnSpc>
                        <a:spcBef>
                          <a:spcPts val="0"/>
                        </a:spcBef>
                        <a:spcAft>
                          <a:spcPts val="0"/>
                        </a:spcAft>
                      </a:pPr>
                      <a:r>
                        <a:rPr sz="1300" b="0">
                          <a:solidFill>
                            <a:srgbClr val="1F1F1F"/>
                          </a:solidFill>
                          <a:latin typeface="Calibri"/>
                        </a:rPr>
                        <a:t>Administrador fica</a:t>
                      </a:r>
                    </a:p>
                    <a:p>
                      <a:pPr algn="l">
                        <a:lnSpc>
                          <a:spcPct val="100000"/>
                        </a:lnSpc>
                        <a:spcBef>
                          <a:spcPts val="0"/>
                        </a:spcBef>
                        <a:spcAft>
                          <a:spcPts val="0"/>
                        </a:spcAft>
                      </a:pPr>
                      <a:r>
                        <a:rPr sz="1300" b="0">
                          <a:solidFill>
                            <a:srgbClr val="1F1F1F"/>
                          </a:solidFill>
                          <a:latin typeface="Calibri"/>
                        </a:rPr>
                        <a:t>obrigado a permanecer</a:t>
                      </a:r>
                    </a:p>
                    <a:p>
                      <a:pPr algn="l">
                        <a:lnSpc>
                          <a:spcPct val="100000"/>
                        </a:lnSpc>
                        <a:spcBef>
                          <a:spcPts val="0"/>
                        </a:spcBef>
                        <a:spcAft>
                          <a:spcPts val="0"/>
                        </a:spcAft>
                      </a:pPr>
                      <a:r>
                        <a:rPr sz="1300" b="0">
                          <a:solidFill>
                            <a:srgbClr val="1F1F1F"/>
                          </a:solidFill>
                          <a:latin typeface="Calibri"/>
                        </a:rPr>
                        <a:t>no exercício de suas</a:t>
                      </a:r>
                    </a:p>
                    <a:p>
                      <a:pPr algn="l">
                        <a:lnSpc>
                          <a:spcPct val="100000"/>
                        </a:lnSpc>
                        <a:spcBef>
                          <a:spcPts val="0"/>
                        </a:spcBef>
                        <a:spcAft>
                          <a:spcPts val="0"/>
                        </a:spcAft>
                      </a:pPr>
                      <a:r>
                        <a:rPr sz="1300" b="0">
                          <a:solidFill>
                            <a:srgbClr val="1F1F1F"/>
                          </a:solidFill>
                          <a:latin typeface="Calibri"/>
                        </a:rPr>
                        <a:t>funções até a</a:t>
                      </a:r>
                    </a:p>
                    <a:p>
                      <a:pPr algn="l">
                        <a:lnSpc>
                          <a:spcPct val="100000"/>
                        </a:lnSpc>
                        <a:spcBef>
                          <a:spcPts val="0"/>
                        </a:spcBef>
                        <a:spcAft>
                          <a:spcPts val="0"/>
                        </a:spcAft>
                      </a:pPr>
                      <a:r>
                        <a:rPr sz="1300" b="0">
                          <a:solidFill>
                            <a:srgbClr val="1F1F1F"/>
                          </a:solidFill>
                          <a:latin typeface="Calibri"/>
                        </a:rPr>
                        <a:t>averbação, no cartório</a:t>
                      </a:r>
                    </a:p>
                    <a:p>
                      <a:pPr algn="l">
                        <a:lnSpc>
                          <a:spcPct val="100000"/>
                        </a:lnSpc>
                        <a:spcBef>
                          <a:spcPts val="0"/>
                        </a:spcBef>
                        <a:spcAft>
                          <a:spcPts val="0"/>
                        </a:spcAft>
                      </a:pPr>
                      <a:r>
                        <a:rPr sz="1300" b="0">
                          <a:solidFill>
                            <a:srgbClr val="1F1F1F"/>
                          </a:solidFill>
                          <a:latin typeface="Calibri"/>
                        </a:rPr>
                        <a:t>de registro de imóveis,</a:t>
                      </a:r>
                    </a:p>
                    <a:p>
                      <a:pPr algn="l">
                        <a:lnSpc>
                          <a:spcPct val="100000"/>
                        </a:lnSpc>
                        <a:spcBef>
                          <a:spcPts val="0"/>
                        </a:spcBef>
                        <a:spcAft>
                          <a:spcPts val="0"/>
                        </a:spcAft>
                      </a:pPr>
                      <a:r>
                        <a:rPr sz="1300" b="0">
                          <a:solidFill>
                            <a:srgbClr val="1F1F1F"/>
                          </a:solidFill>
                          <a:latin typeface="Calibri"/>
                        </a:rPr>
                        <a:t>nas matrículas</a:t>
                      </a:r>
                    </a:p>
                    <a:p>
                      <a:pPr algn="l">
                        <a:lnSpc>
                          <a:spcPct val="100000"/>
                        </a:lnSpc>
                        <a:spcBef>
                          <a:spcPts val="0"/>
                        </a:spcBef>
                        <a:spcAft>
                          <a:spcPts val="0"/>
                        </a:spcAft>
                      </a:pPr>
                      <a:r>
                        <a:rPr sz="1300" b="0">
                          <a:solidFill>
                            <a:srgbClr val="1F1F1F"/>
                          </a:solidFill>
                          <a:latin typeface="Calibri"/>
                        </a:rPr>
                        <a:t>referentes aos bens</a:t>
                      </a:r>
                    </a:p>
                    <a:p>
                      <a:pPr algn="l">
                        <a:lnSpc>
                          <a:spcPct val="100000"/>
                        </a:lnSpc>
                        <a:spcBef>
                          <a:spcPts val="0"/>
                        </a:spcBef>
                        <a:spcAft>
                          <a:spcPts val="0"/>
                        </a:spcAft>
                      </a:pPr>
                      <a:r>
                        <a:rPr sz="1300" b="0">
                          <a:solidFill>
                            <a:srgbClr val="1F1F1F"/>
                          </a:solidFill>
                          <a:latin typeface="Calibri"/>
                        </a:rPr>
                        <a:t>imóveis e direitos</a:t>
                      </a:r>
                    </a:p>
                    <a:p>
                      <a:pPr algn="l">
                        <a:lnSpc>
                          <a:spcPct val="100000"/>
                        </a:lnSpc>
                        <a:spcBef>
                          <a:spcPts val="0"/>
                        </a:spcBef>
                        <a:spcAft>
                          <a:spcPts val="0"/>
                        </a:spcAft>
                      </a:pPr>
                      <a:r>
                        <a:rPr sz="1300" b="0">
                          <a:solidFill>
                            <a:srgbClr val="1F1F1F"/>
                          </a:solidFill>
                          <a:latin typeface="Calibri"/>
                        </a:rPr>
                        <a:t>integrantes da carteira</a:t>
                      </a:r>
                    </a:p>
                    <a:p>
                      <a:pPr algn="l">
                        <a:lnSpc>
                          <a:spcPct val="100000"/>
                        </a:lnSpc>
                        <a:spcBef>
                          <a:spcPts val="0"/>
                        </a:spcBef>
                        <a:spcAft>
                          <a:spcPts val="0"/>
                        </a:spcAft>
                      </a:pPr>
                      <a:r>
                        <a:rPr sz="1300" b="0">
                          <a:solidFill>
                            <a:srgbClr val="1F1F1F"/>
                          </a:solidFill>
                          <a:latin typeface="Calibri"/>
                        </a:rPr>
                        <a:t>de ativos, da ata da</a:t>
                      </a:r>
                    </a:p>
                    <a:p>
                      <a:pPr algn="l">
                        <a:lnSpc>
                          <a:spcPct val="100000"/>
                        </a:lnSpc>
                        <a:spcBef>
                          <a:spcPts val="0"/>
                        </a:spcBef>
                        <a:spcAft>
                          <a:spcPts val="0"/>
                        </a:spcAft>
                      </a:pPr>
                      <a:r>
                        <a:rPr sz="1300" b="0">
                          <a:solidFill>
                            <a:srgbClr val="1F1F1F"/>
                          </a:solidFill>
                          <a:latin typeface="Calibri"/>
                        </a:rPr>
                        <a:t>assembleia de Cotistas</a:t>
                      </a:r>
                    </a:p>
                    <a:p>
                      <a:pPr algn="l">
                        <a:lnSpc>
                          <a:spcPct val="100000"/>
                        </a:lnSpc>
                        <a:spcBef>
                          <a:spcPts val="0"/>
                        </a:spcBef>
                        <a:spcAft>
                          <a:spcPts val="0"/>
                        </a:spcAft>
                      </a:pPr>
                      <a:r>
                        <a:rPr sz="1300" b="0">
                          <a:solidFill>
                            <a:srgbClr val="1F1F1F"/>
                          </a:solidFill>
                          <a:latin typeface="Calibri"/>
                        </a:rPr>
                        <a:t>que eleger seu</a:t>
                      </a:r>
                    </a:p>
                    <a:p>
                      <a:pPr algn="l">
                        <a:lnSpc>
                          <a:spcPct val="100000"/>
                        </a:lnSpc>
                        <a:spcBef>
                          <a:spcPts val="0"/>
                        </a:spcBef>
                        <a:spcAft>
                          <a:spcPts val="0"/>
                        </a:spcAft>
                      </a:pPr>
                      <a:r>
                        <a:rPr sz="1300" b="0">
                          <a:solidFill>
                            <a:srgbClr val="1F1F1F"/>
                          </a:solidFill>
                          <a:latin typeface="Calibri"/>
                        </a:rPr>
                        <a:t>substituto e sucessor</a:t>
                      </a:r>
                    </a:p>
                    <a:p>
                      <a:pPr algn="l">
                        <a:lnSpc>
                          <a:spcPct val="100000"/>
                        </a:lnSpc>
                        <a:spcBef>
                          <a:spcPts val="0"/>
                        </a:spcBef>
                        <a:spcAft>
                          <a:spcPts val="0"/>
                        </a:spcAft>
                      </a:pPr>
                      <a:r>
                        <a:rPr sz="1300" b="0">
                          <a:solidFill>
                            <a:srgbClr val="1F1F1F"/>
                          </a:solidFill>
                          <a:latin typeface="Calibri"/>
                        </a:rPr>
                        <a:t>na propriedade f</a:t>
                      </a:r>
                    </a:p>
                    <a:p>
                      <a:pPr algn="l">
                        <a:lnSpc>
                          <a:spcPct val="100000"/>
                        </a:lnSpc>
                        <a:spcBef>
                          <a:spcPts val="0"/>
                        </a:spcBef>
                        <a:spcAft>
                          <a:spcPts val="0"/>
                        </a:spcAft>
                      </a:pPr>
                      <a:r>
                        <a:rPr sz="1300" b="0">
                          <a:solidFill>
                            <a:srgbClr val="1F1F1F"/>
                          </a:solidFill>
                          <a:latin typeface="Calibri"/>
                        </a:rPr>
                        <a:t>iduciária desses bens e</a:t>
                      </a:r>
                    </a:p>
                    <a:p>
                      <a:pPr algn="l">
                        <a:lnSpc>
                          <a:spcPct val="100000"/>
                        </a:lnSpc>
                        <a:spcBef>
                          <a:spcPts val="0"/>
                        </a:spcBef>
                        <a:spcAft>
                          <a:spcPts val="0"/>
                        </a:spcAft>
                      </a:pPr>
                      <a:r>
                        <a:rPr sz="1300" b="0">
                          <a:solidFill>
                            <a:srgbClr val="1F1F1F"/>
                          </a:solidFill>
                          <a:latin typeface="Calibri"/>
                        </a:rPr>
                        <a:t>direitos.</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12.10.1 É f acultado</a:t>
                      </a:r>
                    </a:p>
                    <a:p>
                      <a:pPr algn="l">
                        <a:lnSpc>
                          <a:spcPct val="100000"/>
                        </a:lnSpc>
                        <a:spcBef>
                          <a:spcPts val="0"/>
                        </a:spcBef>
                        <a:spcAft>
                          <a:spcPts val="0"/>
                        </a:spcAft>
                      </a:pPr>
                      <a:r>
                        <a:rPr sz="1300" b="0">
                          <a:solidFill>
                            <a:srgbClr val="1F1F1F"/>
                          </a:solidFill>
                          <a:latin typeface="Calibri"/>
                        </a:rPr>
                        <a:t>aos Cotistas que</a:t>
                      </a:r>
                    </a:p>
                    <a:p>
                      <a:pPr algn="l">
                        <a:lnSpc>
                          <a:spcPct val="100000"/>
                        </a:lnSpc>
                        <a:spcBef>
                          <a:spcPts val="0"/>
                        </a:spcBef>
                        <a:spcAft>
                          <a:spcPts val="0"/>
                        </a:spcAft>
                      </a:pPr>
                      <a:r>
                        <a:rPr sz="1300" b="0">
                          <a:solidFill>
                            <a:srgbClr val="1F1F1F"/>
                          </a:solidFill>
                          <a:latin typeface="Calibri"/>
                        </a:rPr>
                        <a:t>detenham ao menos 5%</a:t>
                      </a:r>
                    </a:p>
                    <a:p>
                      <a:pPr algn="l">
                        <a:lnSpc>
                          <a:spcPct val="100000"/>
                        </a:lnSpc>
                        <a:spcBef>
                          <a:spcPts val="0"/>
                        </a:spcBef>
                        <a:spcAft>
                          <a:spcPts val="0"/>
                        </a:spcAft>
                      </a:pPr>
                      <a:r>
                        <a:rPr sz="1300" b="0">
                          <a:solidFill>
                            <a:srgbClr val="1F1F1F"/>
                          </a:solidFill>
                          <a:latin typeface="Calibri"/>
                        </a:rPr>
                        <a:t>(cinco por cento) das</a:t>
                      </a:r>
                    </a:p>
                    <a:p>
                      <a:pPr algn="l">
                        <a:lnSpc>
                          <a:spcPct val="100000"/>
                        </a:lnSpc>
                        <a:spcBef>
                          <a:spcPts val="0"/>
                        </a:spcBef>
                        <a:spcAft>
                          <a:spcPts val="0"/>
                        </a:spcAft>
                      </a:pPr>
                      <a:r>
                        <a:rPr sz="1300" b="0">
                          <a:solidFill>
                            <a:srgbClr val="1F1F1F"/>
                          </a:solidFill>
                          <a:latin typeface="Calibri"/>
                        </a:rPr>
                        <a:t>Cotas emitidas, 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79/160</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Hedge e prestadores</a:t>
            </a:r>
          </a:p>
        </p:txBody>
      </p:sp>
      <p:graphicFrame>
        <p:nvGraphicFramePr>
          <p:cNvPr id="3" name="Table 2"/>
          <p:cNvGraphicFramePr>
            <a:graphicFrameLocks noGrp="1"/>
          </p:cNvGraphicFramePr>
          <p:nvPr/>
        </p:nvGraphicFramePr>
        <p:xfrm>
          <a:off x="438912" y="932688"/>
          <a:ext cx="11313868" cy="2066544"/>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1595628">
                <a:tc>
                  <a:txBody>
                    <a:bodyPr wrap="square">
                      <a:noAutofit/>
                    </a:bodyPr>
                    <a:lstStyle/>
                    <a:p>
                      <a:pPr algn="l">
                        <a:lnSpc>
                          <a:spcPct val="100000"/>
                        </a:lnSpc>
                        <a:spcBef>
                          <a:spcPts val="0"/>
                        </a:spcBef>
                        <a:spcAft>
                          <a:spcPts val="0"/>
                        </a:spcAft>
                      </a:pPr>
                      <a:r>
                        <a:rPr sz="1300" b="1">
                          <a:solidFill>
                            <a:srgbClr val="1F1F1F"/>
                          </a:solidFill>
                          <a:latin typeface="Calibri"/>
                        </a:rPr>
                        <a:t>Substituição de</a:t>
                      </a:r>
                    </a:p>
                    <a:p>
                      <a:pPr algn="l">
                        <a:lnSpc>
                          <a:spcPct val="100000"/>
                        </a:lnSpc>
                        <a:spcBef>
                          <a:spcPts val="0"/>
                        </a:spcBef>
                        <a:spcAft>
                          <a:spcPts val="0"/>
                        </a:spcAft>
                      </a:pPr>
                      <a:r>
                        <a:rPr sz="1300" b="1">
                          <a:solidFill>
                            <a:srgbClr val="1F1F1F"/>
                          </a:solidFill>
                          <a:latin typeface="Calibri"/>
                        </a:rPr>
                        <a:t>prestadores</a:t>
                      </a:r>
                    </a:p>
                    <a:p>
                      <a:pPr algn="l">
                        <a:lnSpc>
                          <a:spcPct val="100000"/>
                        </a:lnSpc>
                        <a:spcBef>
                          <a:spcPts val="0"/>
                        </a:spcBef>
                        <a:spcAft>
                          <a:spcPts val="0"/>
                        </a:spcAft>
                      </a:pPr>
                      <a:r>
                        <a:rPr sz="1300" b="1">
                          <a:solidFill>
                            <a:srgbClr val="1F1F1F"/>
                          </a:solidFill>
                          <a:latin typeface="Calibri"/>
                        </a:rPr>
                        <a:t>(continuação)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convocação da</a:t>
                      </a:r>
                    </a:p>
                    <a:p>
                      <a:pPr algn="l">
                        <a:lnSpc>
                          <a:spcPct val="100000"/>
                        </a:lnSpc>
                        <a:spcBef>
                          <a:spcPts val="0"/>
                        </a:spcBef>
                        <a:spcAft>
                          <a:spcPts val="0"/>
                        </a:spcAft>
                      </a:pPr>
                      <a:r>
                        <a:rPr sz="1300" b="0">
                          <a:solidFill>
                            <a:srgbClr val="1F1F1F"/>
                          </a:solidFill>
                          <a:latin typeface="Calibri"/>
                        </a:rPr>
                        <a:t>assembleia de Cotistas</a:t>
                      </a:r>
                    </a:p>
                    <a:p>
                      <a:pPr algn="l">
                        <a:lnSpc>
                          <a:spcPct val="100000"/>
                        </a:lnSpc>
                        <a:spcBef>
                          <a:spcPts val="0"/>
                        </a:spcBef>
                        <a:spcAft>
                          <a:spcPts val="0"/>
                        </a:spcAft>
                      </a:pPr>
                      <a:r>
                        <a:rPr sz="1300" b="0">
                          <a:solidFill>
                            <a:srgbClr val="1F1F1F"/>
                          </a:solidFill>
                          <a:latin typeface="Calibri"/>
                        </a:rPr>
                        <a:t>prevista no item 12.4</a:t>
                      </a:r>
                    </a:p>
                    <a:p>
                      <a:pPr algn="l">
                        <a:lnSpc>
                          <a:spcPct val="100000"/>
                        </a:lnSpc>
                        <a:spcBef>
                          <a:spcPts val="0"/>
                        </a:spcBef>
                        <a:spcAft>
                          <a:spcPts val="0"/>
                        </a:spcAft>
                      </a:pPr>
                      <a:r>
                        <a:rPr sz="1300" b="0">
                          <a:solidFill>
                            <a:srgbClr val="1F1F1F"/>
                          </a:solidFill>
                          <a:latin typeface="Calibri"/>
                        </a:rPr>
                        <a:t>acima, caso o</a:t>
                      </a:r>
                    </a:p>
                    <a:p>
                      <a:pPr algn="l">
                        <a:lnSpc>
                          <a:spcPct val="100000"/>
                        </a:lnSpc>
                        <a:spcBef>
                          <a:spcPts val="0"/>
                        </a:spcBef>
                        <a:spcAft>
                          <a:spcPts val="0"/>
                        </a:spcAft>
                      </a:pPr>
                      <a:r>
                        <a:rPr sz="1300" b="0">
                          <a:solidFill>
                            <a:srgbClr val="1F1F1F"/>
                          </a:solidFill>
                          <a:latin typeface="Calibri"/>
                        </a:rPr>
                        <a:t>Administrador não a</a:t>
                      </a:r>
                    </a:p>
                    <a:p>
                      <a:pPr algn="l">
                        <a:lnSpc>
                          <a:spcPct val="100000"/>
                        </a:lnSpc>
                        <a:spcBef>
                          <a:spcPts val="0"/>
                        </a:spcBef>
                        <a:spcAft>
                          <a:spcPts val="0"/>
                        </a:spcAft>
                      </a:pPr>
                      <a:r>
                        <a:rPr sz="1300" b="0">
                          <a:solidFill>
                            <a:srgbClr val="1F1F1F"/>
                          </a:solidFill>
                          <a:latin typeface="Calibri"/>
                        </a:rPr>
                        <a:t>convoque, no prazo de</a:t>
                      </a:r>
                    </a:p>
                    <a:p>
                      <a:pPr algn="l">
                        <a:lnSpc>
                          <a:spcPct val="100000"/>
                        </a:lnSpc>
                        <a:spcBef>
                          <a:spcPts val="0"/>
                        </a:spcBef>
                        <a:spcAft>
                          <a:spcPts val="0"/>
                        </a:spcAft>
                      </a:pPr>
                      <a:r>
                        <a:rPr sz="1300" b="0">
                          <a:solidFill>
                            <a:srgbClr val="1F1F1F"/>
                          </a:solidFill>
                          <a:latin typeface="Calibri"/>
                        </a:rPr>
                        <a:t>10 (dez) dias contados</a:t>
                      </a:r>
                    </a:p>
                    <a:p>
                      <a:pPr algn="l">
                        <a:lnSpc>
                          <a:spcPct val="100000"/>
                        </a:lnSpc>
                        <a:spcBef>
                          <a:spcPts val="0"/>
                        </a:spcBef>
                        <a:spcAft>
                          <a:spcPts val="0"/>
                        </a:spcAft>
                      </a:pPr>
                      <a:r>
                        <a:rPr sz="1300" b="0">
                          <a:solidFill>
                            <a:srgbClr val="1F1F1F"/>
                          </a:solidFill>
                          <a:latin typeface="Calibri"/>
                        </a:rPr>
                        <a:t>da renúncia.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80/160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Hedge e prestadores</a:t>
            </a:r>
          </a:p>
        </p:txBody>
      </p:sp>
      <p:graphicFrame>
        <p:nvGraphicFramePr>
          <p:cNvPr id="3" name="Table 2"/>
          <p:cNvGraphicFramePr>
            <a:graphicFrameLocks noGrp="1"/>
          </p:cNvGraphicFramePr>
          <p:nvPr/>
        </p:nvGraphicFramePr>
        <p:xfrm>
          <a:off x="438912" y="932688"/>
          <a:ext cx="11313868" cy="4503420"/>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4032504">
                <a:tc>
                  <a:txBody>
                    <a:bodyPr wrap="square">
                      <a:noAutofit/>
                    </a:bodyPr>
                    <a:lstStyle/>
                    <a:p>
                      <a:pPr algn="l">
                        <a:lnSpc>
                          <a:spcPct val="100000"/>
                        </a:lnSpc>
                        <a:spcBef>
                          <a:spcPts val="0"/>
                        </a:spcBef>
                        <a:spcAft>
                          <a:spcPts val="0"/>
                        </a:spcAft>
                      </a:pPr>
                      <a:r>
                        <a:rPr sz="1300" b="1">
                          <a:solidFill>
                            <a:srgbClr val="1F1F1F"/>
                          </a:solidFill>
                          <a:latin typeface="Calibri"/>
                        </a:rPr>
                        <a:t>Rating por subclasse e</a:t>
                      </a:r>
                    </a:p>
                    <a:p>
                      <a:pPr algn="l">
                        <a:lnSpc>
                          <a:spcPct val="100000"/>
                        </a:lnSpc>
                        <a:spcBef>
                          <a:spcPts val="0"/>
                        </a:spcBef>
                        <a:spcAft>
                          <a:spcPts val="0"/>
                        </a:spcAft>
                      </a:pPr>
                      <a:r>
                        <a:rPr sz="1300" b="1">
                          <a:solidFill>
                            <a:srgbClr val="1F1F1F"/>
                          </a:solidFill>
                          <a:latin typeface="Calibri"/>
                        </a:rPr>
                        <a:t>downgrade</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Cotas não classificadas</a:t>
                      </a:r>
                    </a:p>
                    <a:p>
                      <a:pPr algn="l">
                        <a:lnSpc>
                          <a:spcPct val="100000"/>
                        </a:lnSpc>
                        <a:spcBef>
                          <a:spcPts val="0"/>
                        </a:spcBef>
                        <a:spcAft>
                          <a:spcPts val="0"/>
                        </a:spcAft>
                      </a:pPr>
                      <a:r>
                        <a:rPr sz="1300" b="0">
                          <a:solidFill>
                            <a:srgbClr val="1F1F1F"/>
                          </a:solidFill>
                          <a:latin typeface="Calibri"/>
                        </a:rPr>
                        <a:t>por agência de rating;</a:t>
                      </a:r>
                    </a:p>
                    <a:p>
                      <a:pPr algn="l">
                        <a:lnSpc>
                          <a:spcPct val="100000"/>
                        </a:lnSpc>
                        <a:spcBef>
                          <a:spcPts val="0"/>
                        </a:spcBef>
                        <a:spcAft>
                          <a:spcPts val="0"/>
                        </a:spcAft>
                      </a:pPr>
                      <a:r>
                        <a:rPr sz="1300" b="0">
                          <a:solidFill>
                            <a:srgbClr val="1F1F1F"/>
                          </a:solidFill>
                          <a:latin typeface="Calibri"/>
                        </a:rPr>
                        <a:t>classe não destinada ao</a:t>
                      </a:r>
                    </a:p>
                    <a:p>
                      <a:pPr algn="l">
                        <a:lnSpc>
                          <a:spcPct val="100000"/>
                        </a:lnSpc>
                        <a:spcBef>
                          <a:spcPts val="0"/>
                        </a:spcBef>
                        <a:spcAft>
                          <a:spcPts val="0"/>
                        </a:spcAft>
                      </a:pPr>
                      <a:r>
                        <a:rPr sz="1300" b="0">
                          <a:solidFill>
                            <a:srgbClr val="1F1F1F"/>
                          </a:solidFill>
                          <a:latin typeface="Calibri"/>
                        </a:rPr>
                        <a:t>público em geral.</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As Cotas Seniores</a:t>
                      </a:r>
                    </a:p>
                    <a:p>
                      <a:pPr algn="l">
                        <a:lnSpc>
                          <a:spcPct val="100000"/>
                        </a:lnSpc>
                        <a:spcBef>
                          <a:spcPts val="0"/>
                        </a:spcBef>
                        <a:spcAft>
                          <a:spcPts val="0"/>
                        </a:spcAft>
                      </a:pPr>
                      <a:r>
                        <a:rPr sz="1300" b="0">
                          <a:solidFill>
                            <a:srgbClr val="1F1F1F"/>
                          </a:solidFill>
                          <a:latin typeface="Calibri"/>
                        </a:rPr>
                        <a:t>poderão ser objeto de</a:t>
                      </a:r>
                    </a:p>
                    <a:p>
                      <a:pPr algn="l">
                        <a:lnSpc>
                          <a:spcPct val="100000"/>
                        </a:lnSpc>
                        <a:spcBef>
                          <a:spcPts val="0"/>
                        </a:spcBef>
                        <a:spcAft>
                          <a:spcPts val="0"/>
                        </a:spcAft>
                      </a:pPr>
                      <a:r>
                        <a:rPr sz="1300" b="0">
                          <a:solidFill>
                            <a:srgbClr val="1F1F1F"/>
                          </a:solidFill>
                          <a:latin typeface="Calibri"/>
                        </a:rPr>
                        <a:t>classificação de risco</a:t>
                      </a:r>
                    </a:p>
                    <a:p>
                      <a:pPr algn="l">
                        <a:lnSpc>
                          <a:spcPct val="100000"/>
                        </a:lnSpc>
                        <a:spcBef>
                          <a:spcPts val="0"/>
                        </a:spcBef>
                        <a:spcAft>
                          <a:spcPts val="0"/>
                        </a:spcAft>
                      </a:pPr>
                      <a:r>
                        <a:rPr sz="1300" b="0">
                          <a:solidFill>
                            <a:srgbClr val="1F1F1F"/>
                          </a:solidFill>
                          <a:latin typeface="Calibri"/>
                        </a:rPr>
                        <a:t>(rating) por Agência</a:t>
                      </a:r>
                    </a:p>
                    <a:p>
                      <a:pPr algn="l">
                        <a:lnSpc>
                          <a:spcPct val="100000"/>
                        </a:lnSpc>
                        <a:spcBef>
                          <a:spcPts val="0"/>
                        </a:spcBef>
                        <a:spcAft>
                          <a:spcPts val="0"/>
                        </a:spcAft>
                      </a:pPr>
                      <a:r>
                        <a:rPr sz="1300" b="0">
                          <a:solidFill>
                            <a:srgbClr val="1F1F1F"/>
                          </a:solidFill>
                          <a:latin typeface="Calibri"/>
                        </a:rPr>
                        <a:t>Classificadora de Risco</a:t>
                      </a:r>
                    </a:p>
                    <a:p>
                      <a:pPr algn="l">
                        <a:lnSpc>
                          <a:spcPct val="100000"/>
                        </a:lnSpc>
                        <a:spcBef>
                          <a:spcPts val="0"/>
                        </a:spcBef>
                        <a:spcAft>
                          <a:spcPts val="0"/>
                        </a:spcAft>
                      </a:pPr>
                      <a:r>
                        <a:rPr sz="1300" b="0">
                          <a:solidFill>
                            <a:srgbClr val="1F1F1F"/>
                          </a:solidFill>
                          <a:latin typeface="Calibri"/>
                        </a:rPr>
                        <a:t>em funcionamento no</a:t>
                      </a:r>
                    </a:p>
                    <a:p>
                      <a:pPr algn="l">
                        <a:lnSpc>
                          <a:spcPct val="100000"/>
                        </a:lnSpc>
                        <a:spcBef>
                          <a:spcPts val="0"/>
                        </a:spcBef>
                        <a:spcAft>
                          <a:spcPts val="0"/>
                        </a:spcAft>
                      </a:pPr>
                      <a:r>
                        <a:rPr sz="1300" b="0">
                          <a:solidFill>
                            <a:srgbClr val="1F1F1F"/>
                          </a:solidFill>
                          <a:latin typeface="Calibri"/>
                        </a:rPr>
                        <a:t>país.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1.2. As Cotas</a:t>
                      </a:r>
                    </a:p>
                    <a:p>
                      <a:pPr algn="l">
                        <a:lnSpc>
                          <a:spcPct val="100000"/>
                        </a:lnSpc>
                        <a:spcBef>
                          <a:spcPts val="0"/>
                        </a:spcBef>
                        <a:spcAft>
                          <a:spcPts val="0"/>
                        </a:spcAft>
                      </a:pPr>
                      <a:r>
                        <a:rPr sz="1300" b="0">
                          <a:solidFill>
                            <a:srgbClr val="1F1F1F"/>
                          </a:solidFill>
                          <a:latin typeface="Calibri"/>
                        </a:rPr>
                        <a:t>Subordinadas Juniores</a:t>
                      </a:r>
                    </a:p>
                    <a:p>
                      <a:pPr algn="l">
                        <a:lnSpc>
                          <a:spcPct val="100000"/>
                        </a:lnSpc>
                        <a:spcBef>
                          <a:spcPts val="0"/>
                        </a:spcBef>
                        <a:spcAft>
                          <a:spcPts val="0"/>
                        </a:spcAft>
                      </a:pPr>
                      <a:r>
                        <a:rPr sz="1300" b="0">
                          <a:solidFill>
                            <a:srgbClr val="1F1F1F"/>
                          </a:solidFill>
                          <a:latin typeface="Calibri"/>
                        </a:rPr>
                        <a:t>serão subscritas e</a:t>
                      </a:r>
                    </a:p>
                    <a:p>
                      <a:pPr algn="l">
                        <a:lnSpc>
                          <a:spcPct val="100000"/>
                        </a:lnSpc>
                        <a:spcBef>
                          <a:spcPts val="0"/>
                        </a:spcBef>
                        <a:spcAft>
                          <a:spcPts val="0"/>
                        </a:spcAft>
                      </a:pPr>
                      <a:r>
                        <a:rPr sz="1300" b="0">
                          <a:solidFill>
                            <a:srgbClr val="1F1F1F"/>
                          </a:solidFill>
                          <a:latin typeface="Calibri"/>
                        </a:rPr>
                        <a:t>integralizadas por um</a:t>
                      </a:r>
                    </a:p>
                    <a:p>
                      <a:pPr algn="l">
                        <a:lnSpc>
                          <a:spcPct val="100000"/>
                        </a:lnSpc>
                        <a:spcBef>
                          <a:spcPts val="0"/>
                        </a:spcBef>
                        <a:spcAft>
                          <a:spcPts val="0"/>
                        </a:spcAft>
                      </a:pPr>
                      <a:r>
                        <a:rPr sz="1300" b="0">
                          <a:solidFill>
                            <a:srgbClr val="1F1F1F"/>
                          </a:solidFill>
                          <a:latin typeface="Calibri"/>
                        </a:rPr>
                        <a:t>único Cotista e/ou por</a:t>
                      </a:r>
                    </a:p>
                    <a:p>
                      <a:pPr algn="l">
                        <a:lnSpc>
                          <a:spcPct val="100000"/>
                        </a:lnSpc>
                        <a:spcBef>
                          <a:spcPts val="0"/>
                        </a:spcBef>
                        <a:spcAft>
                          <a:spcPts val="0"/>
                        </a:spcAft>
                      </a:pPr>
                      <a:r>
                        <a:rPr sz="1300" b="0">
                          <a:solidFill>
                            <a:srgbClr val="1F1F1F"/>
                          </a:solidFill>
                          <a:latin typeface="Calibri"/>
                        </a:rPr>
                        <a:t>Cotistas vinculados por</a:t>
                      </a:r>
                    </a:p>
                    <a:p>
                      <a:pPr algn="l">
                        <a:lnSpc>
                          <a:spcPct val="100000"/>
                        </a:lnSpc>
                        <a:spcBef>
                          <a:spcPts val="0"/>
                        </a:spcBef>
                        <a:spcAft>
                          <a:spcPts val="0"/>
                        </a:spcAft>
                      </a:pPr>
                      <a:r>
                        <a:rPr sz="1300" b="0">
                          <a:solidFill>
                            <a:srgbClr val="1F1F1F"/>
                          </a:solidFill>
                          <a:latin typeface="Calibri"/>
                        </a:rPr>
                        <a:t>interesse único e</a:t>
                      </a:r>
                    </a:p>
                    <a:p>
                      <a:pPr algn="l">
                        <a:lnSpc>
                          <a:spcPct val="100000"/>
                        </a:lnSpc>
                        <a:spcBef>
                          <a:spcPts val="0"/>
                        </a:spcBef>
                        <a:spcAft>
                          <a:spcPts val="0"/>
                        </a:spcAft>
                      </a:pPr>
                      <a:r>
                        <a:rPr sz="1300" b="0">
                          <a:solidFill>
                            <a:srgbClr val="1F1F1F"/>
                          </a:solidFill>
                          <a:latin typeface="Calibri"/>
                        </a:rPr>
                        <a:t>indissociável, de forma</a:t>
                      </a:r>
                    </a:p>
                    <a:p>
                      <a:pPr algn="l">
                        <a:lnSpc>
                          <a:spcPct val="100000"/>
                        </a:lnSpc>
                        <a:spcBef>
                          <a:spcPts val="0"/>
                        </a:spcBef>
                        <a:spcAft>
                          <a:spcPts val="0"/>
                        </a:spcAft>
                      </a:pPr>
                      <a:r>
                        <a:rPr sz="1300" b="0">
                          <a:solidFill>
                            <a:srgbClr val="1F1F1F"/>
                          </a:solidFill>
                          <a:latin typeface="Calibri"/>
                        </a:rPr>
                        <a:t>que serão objeto de</a:t>
                      </a:r>
                    </a:p>
                    <a:p>
                      <a:pPr algn="l">
                        <a:lnSpc>
                          <a:spcPct val="100000"/>
                        </a:lnSpc>
                        <a:spcBef>
                          <a:spcPts val="0"/>
                        </a:spcBef>
                        <a:spcAft>
                          <a:spcPts val="0"/>
                        </a:spcAft>
                      </a:pPr>
                      <a:r>
                        <a:rPr sz="1300" b="0">
                          <a:solidFill>
                            <a:srgbClr val="1F1F1F"/>
                          </a:solidFill>
                          <a:latin typeface="Calibri"/>
                        </a:rPr>
                        <a:t>colocação privada, nos</a:t>
                      </a:r>
                    </a:p>
                    <a:p>
                      <a:pPr algn="l">
                        <a:lnSpc>
                          <a:spcPct val="100000"/>
                        </a:lnSpc>
                        <a:spcBef>
                          <a:spcPts val="0"/>
                        </a:spcBef>
                        <a:spcAft>
                          <a:spcPts val="0"/>
                        </a:spcAft>
                      </a:pPr>
                      <a:r>
                        <a:rPr sz="1300" b="0">
                          <a:solidFill>
                            <a:srgbClr val="1F1F1F"/>
                          </a:solidFill>
                          <a:latin typeface="Calibri"/>
                        </a:rPr>
                        <a:t>termos do Compromisso</a:t>
                      </a:r>
                    </a:p>
                    <a:p>
                      <a:pPr algn="l">
                        <a:lnSpc>
                          <a:spcPct val="100000"/>
                        </a:lnSpc>
                        <a:spcBef>
                          <a:spcPts val="0"/>
                        </a:spcBef>
                        <a:spcAft>
                          <a:spcPts val="0"/>
                        </a:spcAft>
                      </a:pPr>
                      <a:r>
                        <a:rPr sz="1300" b="0">
                          <a:solidFill>
                            <a:srgbClr val="1F1F1F"/>
                          </a:solidFill>
                          <a:latin typeface="Calibri"/>
                        </a:rPr>
                        <a:t>de Investimento a ser f</a:t>
                      </a:r>
                    </a:p>
                    <a:p>
                      <a:pPr algn="l">
                        <a:lnSpc>
                          <a:spcPct val="100000"/>
                        </a:lnSpc>
                        <a:spcBef>
                          <a:spcPts val="0"/>
                        </a:spcBef>
                        <a:spcAft>
                          <a:spcPts val="0"/>
                        </a:spcAft>
                      </a:pPr>
                      <a:r>
                        <a:rPr sz="1300" b="0">
                          <a:solidFill>
                            <a:srgbClr val="1F1F1F"/>
                          </a:solidFill>
                          <a:latin typeface="Calibri"/>
                        </a:rPr>
                        <a:t>irmado pelo Cotista,</a:t>
                      </a:r>
                    </a:p>
                    <a:p>
                      <a:pPr algn="l">
                        <a:lnSpc>
                          <a:spcPct val="100000"/>
                        </a:lnSpc>
                        <a:spcBef>
                          <a:spcPts val="0"/>
                        </a:spcBef>
                        <a:spcAft>
                          <a:spcPts val="0"/>
                        </a:spcAft>
                      </a:pPr>
                      <a:r>
                        <a:rPr sz="1300" b="0">
                          <a:solidFill>
                            <a:srgbClr val="1F1F1F"/>
                          </a:solidFill>
                          <a:latin typeface="Calibri"/>
                        </a:rPr>
                        <a:t>dispensadas da</a:t>
                      </a:r>
                    </a:p>
                    <a:p>
                      <a:pPr algn="l">
                        <a:lnSpc>
                          <a:spcPct val="100000"/>
                        </a:lnSpc>
                        <a:spcBef>
                          <a:spcPts val="0"/>
                        </a:spcBef>
                        <a:spcAft>
                          <a:spcPts val="0"/>
                        </a:spcAft>
                      </a:pPr>
                      <a:r>
                        <a:rPr sz="1300" b="0">
                          <a:solidFill>
                            <a:srgbClr val="1F1F1F"/>
                          </a:solidFill>
                          <a:latin typeface="Calibri"/>
                        </a:rPr>
                        <a:t>classificação de risco</a:t>
                      </a:r>
                    </a:p>
                    <a:p>
                      <a:pPr algn="l">
                        <a:lnSpc>
                          <a:spcPct val="100000"/>
                        </a:lnSpc>
                        <a:spcBef>
                          <a:spcPts val="0"/>
                        </a:spcBef>
                        <a:spcAft>
                          <a:spcPts val="0"/>
                        </a:spcAft>
                      </a:pPr>
                      <a:r>
                        <a:rPr sz="1300" b="0">
                          <a:solidFill>
                            <a:srgbClr val="1F1F1F"/>
                          </a:solidFill>
                          <a:latin typeface="Calibri"/>
                        </a:rPr>
                        <a:t>e não terão parâmetro</a:t>
                      </a:r>
                    </a:p>
                    <a:p>
                      <a:pPr algn="l">
                        <a:lnSpc>
                          <a:spcPct val="100000"/>
                        </a:lnSpc>
                        <a:spcBef>
                          <a:spcPts val="0"/>
                        </a:spcBef>
                        <a:spcAft>
                          <a:spcPts val="0"/>
                        </a:spcAft>
                      </a:pPr>
                      <a:r>
                        <a:rPr sz="1300" b="0">
                          <a:solidFill>
                            <a:srgbClr val="1F1F1F"/>
                          </a:solidFill>
                          <a:latin typeface="Calibri"/>
                        </a:rPr>
                        <a:t>de remuneração def</a:t>
                      </a:r>
                    </a:p>
                    <a:p>
                      <a:pPr algn="l">
                        <a:lnSpc>
                          <a:spcPct val="100000"/>
                        </a:lnSpc>
                        <a:spcBef>
                          <a:spcPts val="0"/>
                        </a:spcBef>
                        <a:spcAft>
                          <a:spcPts val="0"/>
                        </a:spcAft>
                      </a:pPr>
                      <a:r>
                        <a:rPr sz="1300" b="0">
                          <a:solidFill>
                            <a:srgbClr val="1F1F1F"/>
                          </a:solidFill>
                          <a:latin typeface="Calibri"/>
                        </a:rPr>
                        <a:t>inido. 2. Emissão,</a:t>
                      </a:r>
                    </a:p>
                    <a:p>
                      <a:pPr algn="l">
                        <a:lnSpc>
                          <a:spcPct val="100000"/>
                        </a:lnSpc>
                        <a:spcBef>
                          <a:spcPts val="0"/>
                        </a:spcBef>
                        <a:spcAft>
                          <a:spcPts val="0"/>
                        </a:spcAft>
                      </a:pPr>
                      <a:r>
                        <a:rPr sz="1300" b="0">
                          <a:solidFill>
                            <a:srgbClr val="1F1F1F"/>
                          </a:solidFill>
                          <a:latin typeface="Calibri"/>
                        </a:rPr>
                        <a:t>Subscrição e</a:t>
                      </a:r>
                    </a:p>
                    <a:p>
                      <a:pPr algn="l">
                        <a:lnSpc>
                          <a:spcPct val="100000"/>
                        </a:lnSpc>
                        <a:spcBef>
                          <a:spcPts val="0"/>
                        </a:spcBef>
                        <a:spcAft>
                          <a:spcPts val="0"/>
                        </a:spcAft>
                      </a:pPr>
                      <a:r>
                        <a:rPr sz="1300" b="0">
                          <a:solidFill>
                            <a:srgbClr val="1F1F1F"/>
                          </a:solidFill>
                          <a:latin typeface="Calibri"/>
                        </a:rPr>
                        <a:t>Integralização das</a:t>
                      </a:r>
                    </a:p>
                    <a:p>
                      <a:pPr algn="l">
                        <a:lnSpc>
                          <a:spcPct val="100000"/>
                        </a:lnSpc>
                        <a:spcBef>
                          <a:spcPts val="0"/>
                        </a:spcBef>
                        <a:spcAft>
                          <a:spcPts val="0"/>
                        </a:spcAft>
                      </a:pPr>
                      <a:r>
                        <a:rPr sz="1300" b="0">
                          <a:solidFill>
                            <a:srgbClr val="1F1F1F"/>
                          </a:solidFill>
                          <a:latin typeface="Calibri"/>
                        </a:rPr>
                        <a:t>Cotas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Termo de Adesão declara</a:t>
                      </a:r>
                    </a:p>
                    <a:p>
                      <a:pPr algn="l">
                        <a:lnSpc>
                          <a:spcPct val="100000"/>
                        </a:lnSpc>
                        <a:spcBef>
                          <a:spcPts val="0"/>
                        </a:spcBef>
                        <a:spcAft>
                          <a:spcPts val="0"/>
                        </a:spcAft>
                      </a:pPr>
                      <a:r>
                        <a:rPr sz="1300" b="0">
                          <a:solidFill>
                            <a:srgbClr val="1F1F1F"/>
                          </a:solidFill>
                          <a:latin typeface="Calibri"/>
                        </a:rPr>
                        <a:t>ciência da ausência de</a:t>
                      </a:r>
                    </a:p>
                    <a:p>
                      <a:pPr algn="l">
                        <a:lnSpc>
                          <a:spcPct val="100000"/>
                        </a:lnSpc>
                        <a:spcBef>
                          <a:spcPts val="0"/>
                        </a:spcBef>
                        <a:spcAft>
                          <a:spcPts val="0"/>
                        </a:spcAft>
                      </a:pPr>
                      <a:r>
                        <a:rPr sz="1300" b="0">
                          <a:solidFill>
                            <a:srgbClr val="1F1F1F"/>
                          </a:solidFill>
                          <a:latin typeface="Calibri"/>
                        </a:rPr>
                        <a:t>classificação de risco</a:t>
                      </a:r>
                    </a:p>
                    <a:p>
                      <a:pPr algn="l">
                        <a:lnSpc>
                          <a:spcPct val="100000"/>
                        </a:lnSpc>
                        <a:spcBef>
                          <a:spcPts val="0"/>
                        </a:spcBef>
                        <a:spcAft>
                          <a:spcPts val="0"/>
                        </a:spcAft>
                      </a:pPr>
                      <a:r>
                        <a:rPr sz="1300" b="0">
                          <a:solidFill>
                            <a:srgbClr val="1F1F1F"/>
                          </a:solidFill>
                          <a:latin typeface="Calibri"/>
                        </a:rPr>
                        <a:t>das cotas subscritas.</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81/160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Hedge e prestadores</a:t>
            </a:r>
          </a:p>
        </p:txBody>
      </p:sp>
      <p:graphicFrame>
        <p:nvGraphicFramePr>
          <p:cNvPr id="3" name="Table 2"/>
          <p:cNvGraphicFramePr>
            <a:graphicFrameLocks noGrp="1"/>
          </p:cNvGraphicFramePr>
          <p:nvPr/>
        </p:nvGraphicFramePr>
        <p:xfrm>
          <a:off x="438912" y="932688"/>
          <a:ext cx="11313870" cy="1335024"/>
        </p:xfrm>
        <a:graphic>
          <a:graphicData uri="http://schemas.openxmlformats.org/drawingml/2006/table">
            <a:tbl>
              <a:tblPr>
                <a:tableStyleId>{5C22544A-7EE6-4342-B048-85BDC9FD1C3A}</a:tableStyleId>
              </a:tblPr>
              <a:tblGrid>
                <a:gridCol w="2331720"/>
                <a:gridCol w="4491075"/>
                <a:gridCol w="4491075"/>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V CDT 1 · 62552447000120</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Global CP · 63953620000165</a:t>
                      </a:r>
                    </a:p>
                  </a:txBody>
                  <a:tcPr marL="91440" marR="91440" marT="41148" marB="41148" anchor="ctr">
                    <a:solidFill>
                      <a:srgbClr val="F7F7F7"/>
                    </a:solidFill>
                    <a:lnL>
                      <a:noFill/>
                    </a:lnL>
                    <a:lnR>
                      <a:noFill/>
                    </a:lnR>
                    <a:lnT>
                      <a:noFill/>
                    </a:lnT>
                    <a:lnB w="6350">
                      <a:solidFill>
                        <a:srgbClr val="D9DEE5"/>
                      </a:solidFill>
                    </a:lnB>
                  </a:tcPr>
                </a:tc>
              </a:tr>
              <a:tr h="470916">
                <a:tc>
                  <a:txBody>
                    <a:bodyPr wrap="square">
                      <a:noAutofit/>
                    </a:bodyPr>
                    <a:lstStyle/>
                    <a:p>
                      <a:pPr algn="l">
                        <a:lnSpc>
                          <a:spcPct val="100000"/>
                        </a:lnSpc>
                        <a:spcBef>
                          <a:spcPts val="0"/>
                        </a:spcBef>
                        <a:spcAft>
                          <a:spcPts val="0"/>
                        </a:spcAft>
                      </a:pPr>
                      <a:r>
                        <a:rPr sz="1300" b="1">
                          <a:solidFill>
                            <a:srgbClr val="1F1F1F"/>
                          </a:solidFill>
                          <a:latin typeface="Calibri"/>
                        </a:rPr>
                        <a:t>Finalidade e limites de</a:t>
                      </a:r>
                    </a:p>
                    <a:p>
                      <a:pPr algn="l">
                        <a:lnSpc>
                          <a:spcPct val="100000"/>
                        </a:lnSpc>
                        <a:spcBef>
                          <a:spcPts val="0"/>
                        </a:spcBef>
                        <a:spcAft>
                          <a:spcPts val="0"/>
                        </a:spcAft>
                      </a:pPr>
                      <a:r>
                        <a:rPr sz="1300" b="1">
                          <a:solidFill>
                            <a:srgbClr val="1F1F1F"/>
                          </a:solidFill>
                          <a:latin typeface="Calibri"/>
                        </a:rPr>
                        <a:t>derivativos</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Derivativos restritos a proteção patrimonial ou</a:t>
                      </a:r>
                    </a:p>
                    <a:p>
                      <a:pPr algn="l">
                        <a:lnSpc>
                          <a:spcPct val="100000"/>
                        </a:lnSpc>
                        <a:spcBef>
                          <a:spcPts val="0"/>
                        </a:spcBef>
                        <a:spcAft>
                          <a:spcPts val="0"/>
                        </a:spcAft>
                      </a:pPr>
                      <a:r>
                        <a:rPr sz="1300" b="0">
                          <a:solidFill>
                            <a:srgbClr val="1F1F1F"/>
                          </a:solidFill>
                          <a:latin typeface="Calibri"/>
                        </a:rPr>
                        <a:t>troca de indexador sem risco de capital.</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Extração pendente</a:t>
                      </a:r>
                    </a:p>
                  </a:txBody>
                  <a:tcPr marL="91440" marR="91440" marT="41148" marB="41148" anchor="ctr">
                    <a:solidFill>
                      <a:srgbClr val="FFFFFF"/>
                    </a:solidFill>
                    <a:lnL>
                      <a:noFill/>
                    </a:lnL>
                    <a:lnR>
                      <a:noFill/>
                    </a:lnR>
                    <a:lnT>
                      <a:noFill/>
                    </a:lnT>
                    <a:lnB>
                      <a:noFill/>
                    </a:lnB>
                  </a:tcPr>
                </a:tc>
              </a:tr>
              <a:tr h="470916">
                <a:tc>
                  <a:txBody>
                    <a:bodyPr wrap="square">
                      <a:noAutofit/>
                    </a:bodyPr>
                    <a:lstStyle/>
                    <a:p>
                      <a:pPr algn="l">
                        <a:lnSpc>
                          <a:spcPct val="100000"/>
                        </a:lnSpc>
                        <a:spcBef>
                          <a:spcPts val="0"/>
                        </a:spcBef>
                        <a:spcAft>
                          <a:spcPts val="0"/>
                        </a:spcAft>
                      </a:pPr>
                      <a:r>
                        <a:rPr sz="1300" b="1">
                          <a:solidFill>
                            <a:srgbClr val="1F1F1F"/>
                          </a:solidFill>
                          <a:latin typeface="Calibri"/>
                        </a:rPr>
                        <a:t>Prioridade do hedge e</a:t>
                      </a:r>
                    </a:p>
                    <a:p>
                      <a:pPr algn="l">
                        <a:lnSpc>
                          <a:spcPct val="100000"/>
                        </a:lnSpc>
                        <a:spcBef>
                          <a:spcPts val="0"/>
                        </a:spcBef>
                        <a:spcAft>
                          <a:spcPts val="0"/>
                        </a:spcAft>
                      </a:pPr>
                      <a:r>
                        <a:rPr sz="1300" b="1">
                          <a:solidFill>
                            <a:srgbClr val="1F1F1F"/>
                          </a:solidFill>
                          <a:latin typeface="Calibri"/>
                        </a:rPr>
                        <a:t>reserva de MTM</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82/160</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Hedge e prestadores</a:t>
            </a:r>
          </a:p>
        </p:txBody>
      </p:sp>
      <p:graphicFrame>
        <p:nvGraphicFramePr>
          <p:cNvPr id="3" name="Table 2"/>
          <p:cNvGraphicFramePr>
            <a:graphicFrameLocks noGrp="1"/>
          </p:cNvGraphicFramePr>
          <p:nvPr/>
        </p:nvGraphicFramePr>
        <p:xfrm>
          <a:off x="438912" y="932688"/>
          <a:ext cx="11313870" cy="5175504"/>
        </p:xfrm>
        <a:graphic>
          <a:graphicData uri="http://schemas.openxmlformats.org/drawingml/2006/table">
            <a:tbl>
              <a:tblPr>
                <a:tableStyleId>{5C22544A-7EE6-4342-B048-85BDC9FD1C3A}</a:tableStyleId>
              </a:tblPr>
              <a:tblGrid>
                <a:gridCol w="2331720"/>
                <a:gridCol w="4491075"/>
                <a:gridCol w="4491075"/>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V CDT 1 · 62552447000120</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Global CP · 63953620000165</a:t>
                      </a:r>
                    </a:p>
                  </a:txBody>
                  <a:tcPr marL="91440" marR="91440" marT="41148" marB="41148" anchor="ctr">
                    <a:solidFill>
                      <a:srgbClr val="F7F7F7"/>
                    </a:solidFill>
                    <a:lnL>
                      <a:noFill/>
                    </a:lnL>
                    <a:lnR>
                      <a:noFill/>
                    </a:lnR>
                    <a:lnT>
                      <a:noFill/>
                    </a:lnT>
                    <a:lnB w="6350">
                      <a:solidFill>
                        <a:srgbClr val="D9DEE5"/>
                      </a:solidFill>
                    </a:lnB>
                  </a:tcPr>
                </a:tc>
              </a:tr>
              <a:tr h="4782312">
                <a:tc>
                  <a:txBody>
                    <a:bodyPr wrap="square">
                      <a:noAutofit/>
                    </a:bodyPr>
                    <a:lstStyle/>
                    <a:p>
                      <a:pPr algn="l">
                        <a:lnSpc>
                          <a:spcPct val="100000"/>
                        </a:lnSpc>
                        <a:spcBef>
                          <a:spcPts val="0"/>
                        </a:spcBef>
                        <a:spcAft>
                          <a:spcPts val="0"/>
                        </a:spcAft>
                      </a:pPr>
                      <a:r>
                        <a:rPr sz="1300" b="1">
                          <a:solidFill>
                            <a:srgbClr val="1F1F1F"/>
                          </a:solidFill>
                          <a:latin typeface="Calibri"/>
                        </a:rPr>
                        <a:t>Administrador, gestor e</a:t>
                      </a:r>
                    </a:p>
                    <a:p>
                      <a:pPr algn="l">
                        <a:lnSpc>
                          <a:spcPct val="100000"/>
                        </a:lnSpc>
                        <a:spcBef>
                          <a:spcPts val="0"/>
                        </a:spcBef>
                        <a:spcAft>
                          <a:spcPts val="0"/>
                        </a:spcAft>
                      </a:pPr>
                      <a:r>
                        <a:rPr sz="1300" b="1">
                          <a:solidFill>
                            <a:srgbClr val="1F1F1F"/>
                          </a:solidFill>
                          <a:latin typeface="Calibri"/>
                        </a:rPr>
                        <a:t>custodiante</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BTG Pactual Asset Management S.A. Distribuidora</a:t>
                      </a:r>
                    </a:p>
                    <a:p>
                      <a:pPr algn="l">
                        <a:lnSpc>
                          <a:spcPct val="100000"/>
                        </a:lnSpc>
                        <a:spcBef>
                          <a:spcPts val="0"/>
                        </a:spcBef>
                        <a:spcAft>
                          <a:spcPts val="0"/>
                        </a:spcAft>
                      </a:pPr>
                      <a:r>
                        <a:rPr sz="1300" b="0">
                          <a:solidFill>
                            <a:srgbClr val="1F1F1F"/>
                          </a:solidFill>
                          <a:latin typeface="Calibri"/>
                        </a:rPr>
                        <a:t>de Títulos e Valores Mobiliários, sociedade</a:t>
                      </a:r>
                    </a:p>
                    <a:p>
                      <a:pPr algn="l">
                        <a:lnSpc>
                          <a:spcPct val="100000"/>
                        </a:lnSpc>
                        <a:spcBef>
                          <a:spcPts val="0"/>
                        </a:spcBef>
                        <a:spcAft>
                          <a:spcPts val="0"/>
                        </a:spcAft>
                      </a:pPr>
                      <a:r>
                        <a:rPr sz="1300" b="0">
                          <a:solidFill>
                            <a:srgbClr val="1F1F1F"/>
                          </a:solidFill>
                          <a:latin typeface="Calibri"/>
                        </a:rPr>
                        <a:t>anônima, com sede no município e Estado do Rio de</a:t>
                      </a:r>
                    </a:p>
                    <a:p>
                      <a:pPr algn="l">
                        <a:lnSpc>
                          <a:spcPct val="100000"/>
                        </a:lnSpc>
                        <a:spcBef>
                          <a:spcPts val="0"/>
                        </a:spcBef>
                        <a:spcAft>
                          <a:spcPts val="0"/>
                        </a:spcAft>
                      </a:pPr>
                      <a:r>
                        <a:rPr sz="1300" b="0">
                          <a:solidFill>
                            <a:srgbClr val="1F1F1F"/>
                          </a:solidFill>
                          <a:latin typeface="Calibri"/>
                        </a:rPr>
                        <a:t>Janeiro, na Praia de Botafogo, n.º 501, 5º andar</a:t>
                      </a:r>
                    </a:p>
                    <a:p>
                      <a:pPr algn="l">
                        <a:lnSpc>
                          <a:spcPct val="100000"/>
                        </a:lnSpc>
                        <a:spcBef>
                          <a:spcPts val="0"/>
                        </a:spcBef>
                        <a:spcAft>
                          <a:spcPts val="0"/>
                        </a:spcAft>
                      </a:pPr>
                      <a:r>
                        <a:rPr sz="1300" b="0">
                          <a:solidFill>
                            <a:srgbClr val="1F1F1F"/>
                          </a:solidFill>
                          <a:latin typeface="Calibri"/>
                        </a:rPr>
                        <a:t>(parte), Torre Corcovado, bairro Botafogo, CEP</a:t>
                      </a:r>
                    </a:p>
                    <a:p>
                      <a:pPr algn="l">
                        <a:lnSpc>
                          <a:spcPct val="100000"/>
                        </a:lnSpc>
                        <a:spcBef>
                          <a:spcPts val="0"/>
                        </a:spcBef>
                        <a:spcAft>
                          <a:spcPts val="0"/>
                        </a:spcAft>
                      </a:pPr>
                      <a:r>
                        <a:rPr sz="1300" b="0">
                          <a:solidFill>
                            <a:srgbClr val="1F1F1F"/>
                          </a:solidFill>
                          <a:latin typeface="Calibri"/>
                        </a:rPr>
                        <a:t>22250-040, inscrita no CNPJ sob o n.º</a:t>
                      </a:r>
                    </a:p>
                    <a:p>
                      <a:pPr algn="l">
                        <a:lnSpc>
                          <a:spcPct val="100000"/>
                        </a:lnSpc>
                        <a:spcBef>
                          <a:spcPts val="0"/>
                        </a:spcBef>
                        <a:spcAft>
                          <a:spcPts val="0"/>
                        </a:spcAft>
                      </a:pPr>
                      <a:r>
                        <a:rPr sz="1300" b="0">
                          <a:solidFill>
                            <a:srgbClr val="1F1F1F"/>
                          </a:solidFill>
                          <a:latin typeface="Calibri"/>
                        </a:rPr>
                        <a:t>29.650.082/0001-00 e Gestor credenciada como</a:t>
                      </a:r>
                    </a:p>
                    <a:p>
                      <a:pPr algn="l">
                        <a:lnSpc>
                          <a:spcPct val="100000"/>
                        </a:lnSpc>
                        <a:spcBef>
                          <a:spcPts val="0"/>
                        </a:spcBef>
                        <a:spcAft>
                          <a:spcPts val="0"/>
                        </a:spcAft>
                      </a:pPr>
                      <a:r>
                        <a:rPr sz="1300" b="0">
                          <a:solidFill>
                            <a:srgbClr val="1F1F1F"/>
                          </a:solidFill>
                          <a:latin typeface="Calibri"/>
                        </a:rPr>
                        <a:t>administradora de carteira de valores mobiliários</a:t>
                      </a:r>
                    </a:p>
                    <a:p>
                      <a:pPr algn="l">
                        <a:lnSpc>
                          <a:spcPct val="100000"/>
                        </a:lnSpc>
                        <a:spcBef>
                          <a:spcPts val="0"/>
                        </a:spcBef>
                        <a:spcAft>
                          <a:spcPts val="0"/>
                        </a:spcAft>
                      </a:pPr>
                      <a:r>
                        <a:rPr sz="1300" b="0">
                          <a:solidFill>
                            <a:srgbClr val="1F1F1F"/>
                          </a:solidFill>
                          <a:latin typeface="Calibri"/>
                        </a:rPr>
                        <a:t>, categoria gestor de recursos, de acordo com o</a:t>
                      </a:r>
                    </a:p>
                    <a:p>
                      <a:pPr algn="l">
                        <a:lnSpc>
                          <a:spcPct val="100000"/>
                        </a:lnSpc>
                        <a:spcBef>
                          <a:spcPts val="0"/>
                        </a:spcBef>
                        <a:spcAft>
                          <a:spcPts val="0"/>
                        </a:spcAft>
                      </a:pPr>
                      <a:r>
                        <a:rPr sz="1300" b="0">
                          <a:solidFill>
                            <a:srgbClr val="1F1F1F"/>
                          </a:solidFill>
                          <a:latin typeface="Calibri"/>
                        </a:rPr>
                        <a:t>Ato Declaratório CVM n.º 5.968, de 10 de maio de</a:t>
                      </a:r>
                    </a:p>
                    <a:p>
                      <a:pPr algn="l">
                        <a:lnSpc>
                          <a:spcPct val="100000"/>
                        </a:lnSpc>
                        <a:spcBef>
                          <a:spcPts val="0"/>
                        </a:spcBef>
                        <a:spcAft>
                          <a:spcPts val="0"/>
                        </a:spcAft>
                      </a:pPr>
                      <a:r>
                        <a:rPr sz="1300" b="0">
                          <a:solidFill>
                            <a:srgbClr val="1F1F1F"/>
                          </a:solidFill>
                          <a:latin typeface="Calibri"/>
                        </a:rPr>
                        <a:t>2000 (“Gestor” e, quando ref erido conjuntamente</a:t>
                      </a:r>
                    </a:p>
                    <a:p>
                      <a:pPr algn="l">
                        <a:lnSpc>
                          <a:spcPct val="100000"/>
                        </a:lnSpc>
                        <a:spcBef>
                          <a:spcPts val="0"/>
                        </a:spcBef>
                        <a:spcAft>
                          <a:spcPts val="0"/>
                        </a:spcAft>
                      </a:pPr>
                      <a:r>
                        <a:rPr sz="1300" b="0">
                          <a:solidFill>
                            <a:srgbClr val="1F1F1F"/>
                          </a:solidFill>
                          <a:latin typeface="Calibri"/>
                        </a:rPr>
                        <a:t>e indistintamente com o Administrador,</a:t>
                      </a:r>
                    </a:p>
                    <a:p>
                      <a:pPr algn="l">
                        <a:lnSpc>
                          <a:spcPct val="100000"/>
                        </a:lnSpc>
                        <a:spcBef>
                          <a:spcPts val="0"/>
                        </a:spcBef>
                        <a:spcAft>
                          <a:spcPts val="0"/>
                        </a:spcAft>
                      </a:pPr>
                      <a:r>
                        <a:rPr sz="1300" b="0">
                          <a:solidFill>
                            <a:srgbClr val="1F1F1F"/>
                          </a:solidFill>
                          <a:latin typeface="Calibri"/>
                        </a:rPr>
                        <a:t>“Prestadores de Serviços Essenciais”).</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BTG Pactual Serviços Financeiros S.A.</a:t>
                      </a:r>
                    </a:p>
                    <a:p>
                      <a:pPr algn="l">
                        <a:lnSpc>
                          <a:spcPct val="100000"/>
                        </a:lnSpc>
                        <a:spcBef>
                          <a:spcPts val="0"/>
                        </a:spcBef>
                        <a:spcAft>
                          <a:spcPts val="0"/>
                        </a:spcAft>
                      </a:pPr>
                      <a:r>
                        <a:rPr sz="1300" b="0">
                          <a:solidFill>
                            <a:srgbClr val="1F1F1F"/>
                          </a:solidFill>
                          <a:latin typeface="Calibri"/>
                        </a:rPr>
                        <a:t>Distribuidora de Títulos e Valores Mobiliários,</a:t>
                      </a:r>
                    </a:p>
                    <a:p>
                      <a:pPr algn="l">
                        <a:lnSpc>
                          <a:spcPct val="100000"/>
                        </a:lnSpc>
                        <a:spcBef>
                          <a:spcPts val="0"/>
                        </a:spcBef>
                        <a:spcAft>
                          <a:spcPts val="0"/>
                        </a:spcAft>
                      </a:pPr>
                      <a:r>
                        <a:rPr sz="1300" b="0">
                          <a:solidFill>
                            <a:srgbClr val="1F1F1F"/>
                          </a:solidFill>
                          <a:latin typeface="Calibri"/>
                        </a:rPr>
                        <a:t>sociedade anônima, com sede no município e Estado</a:t>
                      </a:r>
                    </a:p>
                    <a:p>
                      <a:pPr algn="l">
                        <a:lnSpc>
                          <a:spcPct val="100000"/>
                        </a:lnSpc>
                        <a:spcBef>
                          <a:spcPts val="0"/>
                        </a:spcBef>
                        <a:spcAft>
                          <a:spcPts val="0"/>
                        </a:spcAft>
                      </a:pPr>
                      <a:r>
                        <a:rPr sz="1300" b="0">
                          <a:solidFill>
                            <a:srgbClr val="1F1F1F"/>
                          </a:solidFill>
                          <a:latin typeface="Calibri"/>
                        </a:rPr>
                        <a:t>do Rio de Janeiro, na Praia de Botafogo, n.º 501,</a:t>
                      </a:r>
                    </a:p>
                    <a:p>
                      <a:pPr algn="l">
                        <a:lnSpc>
                          <a:spcPct val="100000"/>
                        </a:lnSpc>
                        <a:spcBef>
                          <a:spcPts val="0"/>
                        </a:spcBef>
                        <a:spcAft>
                          <a:spcPts val="0"/>
                        </a:spcAft>
                      </a:pPr>
                      <a:r>
                        <a:rPr sz="1300" b="0">
                          <a:solidFill>
                            <a:srgbClr val="1F1F1F"/>
                          </a:solidFill>
                          <a:latin typeface="Calibri"/>
                        </a:rPr>
                        <a:t>5º andar (parte), Torre Corcovado, bairro</a:t>
                      </a:r>
                    </a:p>
                    <a:p>
                      <a:pPr algn="l">
                        <a:lnSpc>
                          <a:spcPct val="100000"/>
                        </a:lnSpc>
                        <a:spcBef>
                          <a:spcPts val="0"/>
                        </a:spcBef>
                        <a:spcAft>
                          <a:spcPts val="0"/>
                        </a:spcAft>
                      </a:pPr>
                      <a:r>
                        <a:rPr sz="1300" b="0">
                          <a:solidFill>
                            <a:srgbClr val="1F1F1F"/>
                          </a:solidFill>
                          <a:latin typeface="Calibri"/>
                        </a:rPr>
                        <a:t>Administrador Botafogo, CEP 22250-040, inscrita</a:t>
                      </a:r>
                    </a:p>
                    <a:p>
                      <a:pPr algn="l">
                        <a:lnSpc>
                          <a:spcPct val="100000"/>
                        </a:lnSpc>
                        <a:spcBef>
                          <a:spcPts val="0"/>
                        </a:spcBef>
                        <a:spcAft>
                          <a:spcPts val="0"/>
                        </a:spcAft>
                      </a:pPr>
                      <a:r>
                        <a:rPr sz="1300" b="0">
                          <a:solidFill>
                            <a:srgbClr val="1F1F1F"/>
                          </a:solidFill>
                          <a:latin typeface="Calibri"/>
                        </a:rPr>
                        <a:t>no CNPJ sob o n.º 59.281.253/0001-23 e</a:t>
                      </a:r>
                    </a:p>
                    <a:p>
                      <a:pPr algn="l">
                        <a:lnSpc>
                          <a:spcPct val="100000"/>
                        </a:lnSpc>
                        <a:spcBef>
                          <a:spcPts val="0"/>
                        </a:spcBef>
                        <a:spcAft>
                          <a:spcPts val="0"/>
                        </a:spcAft>
                      </a:pPr>
                      <a:r>
                        <a:rPr sz="1300" b="0">
                          <a:solidFill>
                            <a:srgbClr val="1F1F1F"/>
                          </a:solidFill>
                          <a:latin typeface="Calibri"/>
                        </a:rPr>
                        <a:t>credenciada como administradora de carteira de</a:t>
                      </a:r>
                    </a:p>
                    <a:p>
                      <a:pPr algn="l">
                        <a:lnSpc>
                          <a:spcPct val="100000"/>
                        </a:lnSpc>
                        <a:spcBef>
                          <a:spcPts val="0"/>
                        </a:spcBef>
                        <a:spcAft>
                          <a:spcPts val="0"/>
                        </a:spcAft>
                      </a:pPr>
                      <a:r>
                        <a:rPr sz="1300" b="0">
                          <a:solidFill>
                            <a:srgbClr val="1F1F1F"/>
                          </a:solidFill>
                          <a:latin typeface="Calibri"/>
                        </a:rPr>
                        <a:t>valores mobiliários, categoria administrador</a:t>
                      </a:r>
                    </a:p>
                    <a:p>
                      <a:pPr algn="l">
                        <a:lnSpc>
                          <a:spcPct val="100000"/>
                        </a:lnSpc>
                        <a:spcBef>
                          <a:spcPts val="0"/>
                        </a:spcBef>
                        <a:spcAft>
                          <a:spcPts val="0"/>
                        </a:spcAft>
                      </a:pPr>
                      <a:r>
                        <a:rPr sz="1300" b="0">
                          <a:solidFill>
                            <a:srgbClr val="1F1F1F"/>
                          </a:solidFill>
                          <a:latin typeface="Calibri"/>
                        </a:rPr>
                        <a:t>fiduciário, de acordo com o Ato Declaratório CVM</a:t>
                      </a:r>
                    </a:p>
                    <a:p>
                      <a:pPr algn="l">
                        <a:lnSpc>
                          <a:spcPct val="100000"/>
                        </a:lnSpc>
                        <a:spcBef>
                          <a:spcPts val="0"/>
                        </a:spcBef>
                        <a:spcAft>
                          <a:spcPts val="0"/>
                        </a:spcAft>
                      </a:pPr>
                      <a:r>
                        <a:rPr sz="1300" b="0">
                          <a:solidFill>
                            <a:srgbClr val="1F1F1F"/>
                          </a:solidFill>
                          <a:latin typeface="Calibri"/>
                        </a:rPr>
                        <a:t>n.º 8.695, de 20 de março de 2006</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Extração pendente</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83/160</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Hedge e prestadores</a:t>
            </a:r>
          </a:p>
        </p:txBody>
      </p:sp>
      <p:graphicFrame>
        <p:nvGraphicFramePr>
          <p:cNvPr id="3" name="Table 2"/>
          <p:cNvGraphicFramePr>
            <a:graphicFrameLocks noGrp="1"/>
          </p:cNvGraphicFramePr>
          <p:nvPr/>
        </p:nvGraphicFramePr>
        <p:xfrm>
          <a:off x="438912" y="932688"/>
          <a:ext cx="11313870" cy="3867912"/>
        </p:xfrm>
        <a:graphic>
          <a:graphicData uri="http://schemas.openxmlformats.org/drawingml/2006/table">
            <a:tbl>
              <a:tblPr>
                <a:tableStyleId>{5C22544A-7EE6-4342-B048-85BDC9FD1C3A}</a:tableStyleId>
              </a:tblPr>
              <a:tblGrid>
                <a:gridCol w="2331720"/>
                <a:gridCol w="4491075"/>
                <a:gridCol w="4491075"/>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V CDT 1 · 62552447000120</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Global CP · 63953620000165</a:t>
                      </a:r>
                    </a:p>
                  </a:txBody>
                  <a:tcPr marL="91440" marR="91440" marT="41148" marB="41148" anchor="ctr">
                    <a:solidFill>
                      <a:srgbClr val="F7F7F7"/>
                    </a:solidFill>
                    <a:lnL>
                      <a:noFill/>
                    </a:lnL>
                    <a:lnR>
                      <a:noFill/>
                    </a:lnR>
                    <a:lnT>
                      <a:noFill/>
                    </a:lnT>
                    <a:lnB w="6350">
                      <a:solidFill>
                        <a:srgbClr val="D9DEE5"/>
                      </a:solidFill>
                    </a:lnB>
                  </a:tcPr>
                </a:tc>
              </a:tr>
              <a:tr h="2345436">
                <a:tc>
                  <a:txBody>
                    <a:bodyPr wrap="square">
                      <a:noAutofit/>
                    </a:bodyPr>
                    <a:lstStyle/>
                    <a:p>
                      <a:pPr algn="l">
                        <a:lnSpc>
                          <a:spcPct val="100000"/>
                        </a:lnSpc>
                        <a:spcBef>
                          <a:spcPts val="0"/>
                        </a:spcBef>
                        <a:spcAft>
                          <a:spcPts val="0"/>
                        </a:spcAft>
                      </a:pPr>
                      <a:r>
                        <a:rPr sz="1300" b="1">
                          <a:solidFill>
                            <a:srgbClr val="1F1F1F"/>
                          </a:solidFill>
                          <a:latin typeface="Calibri"/>
                        </a:rPr>
                        <a:t>Administrador, gestor e</a:t>
                      </a:r>
                    </a:p>
                    <a:p>
                      <a:pPr algn="l">
                        <a:lnSpc>
                          <a:spcPct val="100000"/>
                        </a:lnSpc>
                        <a:spcBef>
                          <a:spcPts val="0"/>
                        </a:spcBef>
                        <a:spcAft>
                          <a:spcPts val="0"/>
                        </a:spcAft>
                      </a:pPr>
                      <a:r>
                        <a:rPr sz="1300" b="1">
                          <a:solidFill>
                            <a:srgbClr val="1F1F1F"/>
                          </a:solidFill>
                          <a:latin typeface="Calibri"/>
                        </a:rPr>
                        <a:t>custodiante</a:t>
                      </a:r>
                    </a:p>
                    <a:p>
                      <a:pPr algn="l">
                        <a:lnSpc>
                          <a:spcPct val="100000"/>
                        </a:lnSpc>
                        <a:spcBef>
                          <a:spcPts val="0"/>
                        </a:spcBef>
                        <a:spcAft>
                          <a:spcPts val="0"/>
                        </a:spcAft>
                      </a:pPr>
                      <a:r>
                        <a:rPr sz="1300" b="1">
                          <a:solidFill>
                            <a:srgbClr val="1F1F1F"/>
                          </a:solidFill>
                          <a:latin typeface="Calibri"/>
                        </a:rPr>
                        <a:t>(continuação)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(“Administrador”).</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A Administradora, BTG PACTUAL SERVIÇOS</a:t>
                      </a:r>
                    </a:p>
                    <a:p>
                      <a:pPr algn="l">
                        <a:lnSpc>
                          <a:spcPct val="100000"/>
                        </a:lnSpc>
                        <a:spcBef>
                          <a:spcPts val="0"/>
                        </a:spcBef>
                        <a:spcAft>
                          <a:spcPts val="0"/>
                        </a:spcAft>
                      </a:pPr>
                      <a:r>
                        <a:rPr sz="1300" b="0">
                          <a:solidFill>
                            <a:srgbClr val="1F1F1F"/>
                          </a:solidFill>
                          <a:latin typeface="Calibri"/>
                        </a:rPr>
                        <a:t>FINANCEIROS S.A. DTVM, com sede na Praia de</a:t>
                      </a:r>
                    </a:p>
                    <a:p>
                      <a:pPr algn="l">
                        <a:lnSpc>
                          <a:spcPct val="100000"/>
                        </a:lnSpc>
                        <a:spcBef>
                          <a:spcPts val="0"/>
                        </a:spcBef>
                        <a:spcAft>
                          <a:spcPts val="0"/>
                        </a:spcAft>
                      </a:pPr>
                      <a:r>
                        <a:rPr sz="1300" b="0">
                          <a:solidFill>
                            <a:srgbClr val="1F1F1F"/>
                          </a:solidFill>
                          <a:latin typeface="Calibri"/>
                        </a:rPr>
                        <a:t>Botafogo, n.º 501, 5º andar (parte), na Cidade e</a:t>
                      </a:r>
                    </a:p>
                    <a:p>
                      <a:pPr algn="l">
                        <a:lnSpc>
                          <a:spcPct val="100000"/>
                        </a:lnSpc>
                        <a:spcBef>
                          <a:spcPts val="0"/>
                        </a:spcBef>
                        <a:spcAft>
                          <a:spcPts val="0"/>
                        </a:spcAft>
                      </a:pPr>
                      <a:r>
                        <a:rPr sz="1300" b="0">
                          <a:solidFill>
                            <a:srgbClr val="1F1F1F"/>
                          </a:solidFill>
                          <a:latin typeface="Calibri"/>
                        </a:rPr>
                        <a:t>Estado do Rio de Janeiro, e inscrita no CNPJ sob</a:t>
                      </a:r>
                    </a:p>
                    <a:p>
                      <a:pPr algn="l">
                        <a:lnSpc>
                          <a:spcPct val="100000"/>
                        </a:lnSpc>
                        <a:spcBef>
                          <a:spcPts val="0"/>
                        </a:spcBef>
                        <a:spcAft>
                          <a:spcPts val="0"/>
                        </a:spcAft>
                      </a:pPr>
                      <a:r>
                        <a:rPr sz="1300" b="0">
                          <a:solidFill>
                            <a:srgbClr val="1F1F1F"/>
                          </a:solidFill>
                          <a:latin typeface="Calibri"/>
                        </a:rPr>
                        <a:t>o número 59.281.253/0001-23, na qualidade de</a:t>
                      </a:r>
                    </a:p>
                    <a:p>
                      <a:pPr algn="l">
                        <a:lnSpc>
                          <a:spcPct val="100000"/>
                        </a:lnSpc>
                        <a:spcBef>
                          <a:spcPts val="0"/>
                        </a:spcBef>
                        <a:spcAft>
                          <a:spcPts val="0"/>
                        </a:spcAft>
                      </a:pPr>
                      <a:r>
                        <a:rPr sz="1300" b="0">
                          <a:solidFill>
                            <a:srgbClr val="1F1F1F"/>
                          </a:solidFill>
                          <a:latin typeface="Calibri"/>
                        </a:rPr>
                        <a:t>administradora da V CDT 1 FUNDO DE INVESTIMENTO</a:t>
                      </a:r>
                    </a:p>
                    <a:p>
                      <a:pPr algn="l">
                        <a:lnSpc>
                          <a:spcPct val="100000"/>
                        </a:lnSpc>
                        <a:spcBef>
                          <a:spcPts val="0"/>
                        </a:spcBef>
                        <a:spcAft>
                          <a:spcPts val="0"/>
                        </a:spcAft>
                      </a:pPr>
                      <a:r>
                        <a:rPr sz="1300" b="0">
                          <a:solidFill>
                            <a:srgbClr val="1F1F1F"/>
                          </a:solidFill>
                          <a:latin typeface="Calibri"/>
                        </a:rPr>
                        <a:t>EM DIREITOS CREDITÓRIOS RESPONSABILIDADE</a:t>
                      </a:r>
                    </a:p>
                    <a:p>
                      <a:pPr algn="l">
                        <a:lnSpc>
                          <a:spcPct val="100000"/>
                        </a:lnSpc>
                        <a:spcBef>
                          <a:spcPts val="0"/>
                        </a:spcBef>
                        <a:spcAft>
                          <a:spcPts val="0"/>
                        </a:spcAft>
                      </a:pPr>
                      <a:r>
                        <a:rPr sz="1300" b="0">
                          <a:solidFill>
                            <a:srgbClr val="1F1F1F"/>
                          </a:solidFill>
                          <a:latin typeface="Calibri"/>
                        </a:rPr>
                        <a:t>LIMITADA, inscrita no CNPJ/MF sob o número</a:t>
                      </a:r>
                    </a:p>
                    <a:p>
                      <a:pPr algn="l">
                        <a:lnSpc>
                          <a:spcPct val="100000"/>
                        </a:lnSpc>
                        <a:spcBef>
                          <a:spcPts val="0"/>
                        </a:spcBef>
                        <a:spcAft>
                          <a:spcPts val="0"/>
                        </a:spcAft>
                      </a:pPr>
                      <a:r>
                        <a:rPr sz="1300" b="0">
                          <a:solidFill>
                            <a:srgbClr val="1F1F1F"/>
                          </a:solidFill>
                          <a:latin typeface="Calibri"/>
                        </a:rPr>
                        <a:t>62.552.447/0001-20 ("Classe"), serve-se da</a:t>
                      </a:r>
                    </a:p>
                    <a:p>
                      <a:pPr algn="l">
                        <a:lnSpc>
                          <a:spcPct val="100000"/>
                        </a:lnSpc>
                        <a:spcBef>
                          <a:spcPts val="0"/>
                        </a:spcBef>
                        <a:spcAft>
                          <a:spcPts val="0"/>
                        </a:spcAft>
                      </a:pPr>
                      <a:r>
                        <a:rPr sz="1300" b="0">
                          <a:solidFill>
                            <a:srgbClr val="1F1F1F"/>
                          </a:solidFill>
                          <a:latin typeface="Calibri"/>
                        </a:rPr>
                        <a:t>presente para:</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a:noFill/>
                    </a:lnB>
                  </a:tcPr>
                </a:tc>
              </a:tr>
              <a:tr h="470916">
                <a:tc>
                  <a:txBody>
                    <a:bodyPr wrap="square">
                      <a:noAutofit/>
                    </a:bodyPr>
                    <a:lstStyle/>
                    <a:p>
                      <a:pPr algn="l">
                        <a:lnSpc>
                          <a:spcPct val="100000"/>
                        </a:lnSpc>
                        <a:spcBef>
                          <a:spcPts val="0"/>
                        </a:spcBef>
                        <a:spcAft>
                          <a:spcPts val="0"/>
                        </a:spcAft>
                      </a:pPr>
                      <a:r>
                        <a:rPr sz="1300" b="1">
                          <a:solidFill>
                            <a:srgbClr val="1F1F1F"/>
                          </a:solidFill>
                          <a:latin typeface="Calibri"/>
                        </a:rPr>
                        <a:t>Substituição de</a:t>
                      </a:r>
                    </a:p>
                    <a:p>
                      <a:pPr algn="l">
                        <a:lnSpc>
                          <a:spcPct val="100000"/>
                        </a:lnSpc>
                        <a:spcBef>
                          <a:spcPts val="0"/>
                        </a:spcBef>
                        <a:spcAft>
                          <a:spcPts val="0"/>
                        </a:spcAft>
                      </a:pPr>
                      <a:r>
                        <a:rPr sz="1300" b="1">
                          <a:solidFill>
                            <a:srgbClr val="1F1F1F"/>
                          </a:solidFill>
                          <a:latin typeface="Calibri"/>
                        </a:rPr>
                        <a:t>prestadores</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Extração pendente</a:t>
                      </a:r>
                    </a:p>
                  </a:txBody>
                  <a:tcPr marL="91440" marR="91440" marT="41148" marB="41148" anchor="ctr">
                    <a:solidFill>
                      <a:srgbClr val="FFFFFF"/>
                    </a:solidFill>
                    <a:lnL>
                      <a:noFill/>
                    </a:lnL>
                    <a:lnR>
                      <a:noFill/>
                    </a:lnR>
                    <a:lnT>
                      <a:noFill/>
                    </a:lnT>
                    <a:lnB>
                      <a:noFill/>
                    </a:lnB>
                  </a:tcPr>
                </a:tc>
              </a:tr>
              <a:tr h="658368">
                <a:tc>
                  <a:txBody>
                    <a:bodyPr wrap="square">
                      <a:noAutofit/>
                    </a:bodyPr>
                    <a:lstStyle/>
                    <a:p>
                      <a:pPr algn="l">
                        <a:lnSpc>
                          <a:spcPct val="100000"/>
                        </a:lnSpc>
                        <a:spcBef>
                          <a:spcPts val="0"/>
                        </a:spcBef>
                        <a:spcAft>
                          <a:spcPts val="0"/>
                        </a:spcAft>
                      </a:pPr>
                      <a:r>
                        <a:rPr sz="1300" b="1">
                          <a:solidFill>
                            <a:srgbClr val="1F1F1F"/>
                          </a:solidFill>
                          <a:latin typeface="Calibri"/>
                        </a:rPr>
                        <a:t>Rating por subclasse e</a:t>
                      </a:r>
                    </a:p>
                    <a:p>
                      <a:pPr algn="l">
                        <a:lnSpc>
                          <a:spcPct val="100000"/>
                        </a:lnSpc>
                        <a:spcBef>
                          <a:spcPts val="0"/>
                        </a:spcBef>
                        <a:spcAft>
                          <a:spcPts val="0"/>
                        </a:spcAft>
                      </a:pPr>
                      <a:r>
                        <a:rPr sz="1300" b="1">
                          <a:solidFill>
                            <a:srgbClr val="1F1F1F"/>
                          </a:solidFill>
                          <a:latin typeface="Calibri"/>
                        </a:rPr>
                        <a:t>downgrade</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Cotas não serão objeto de classificação de risco.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Facultativo: gestor e cotistas subordinados</a:t>
                      </a:r>
                    </a:p>
                    <a:p>
                      <a:pPr algn="l">
                        <a:lnSpc>
                          <a:spcPct val="100000"/>
                        </a:lnSpc>
                        <a:spcBef>
                          <a:spcPts val="0"/>
                        </a:spcBef>
                        <a:spcAft>
                          <a:spcPts val="0"/>
                        </a:spcAft>
                      </a:pPr>
                      <a:r>
                        <a:rPr sz="1300" b="0">
                          <a:solidFill>
                            <a:srgbClr val="1F1F1F"/>
                          </a:solidFill>
                          <a:latin typeface="Calibri"/>
                        </a:rPr>
                        <a:t>precisam concordar em AGC. Nenhuma agência/nota</a:t>
                      </a:r>
                    </a:p>
                    <a:p>
                      <a:pPr algn="l">
                        <a:lnSpc>
                          <a:spcPct val="100000"/>
                        </a:lnSpc>
                        <a:spcBef>
                          <a:spcPts val="0"/>
                        </a:spcBef>
                        <a:spcAft>
                          <a:spcPts val="0"/>
                        </a:spcAft>
                      </a:pPr>
                      <a:r>
                        <a:rPr sz="1300" b="0">
                          <a:solidFill>
                            <a:srgbClr val="1F1F1F"/>
                          </a:solidFill>
                          <a:latin typeface="Calibri"/>
                        </a:rPr>
                        <a:t>atual deduzida dessa condição.</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84/160</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Emissões e custos</a:t>
            </a:r>
          </a:p>
        </p:txBody>
      </p:sp>
      <p:graphicFrame>
        <p:nvGraphicFramePr>
          <p:cNvPr id="3" name="Table 2"/>
          <p:cNvGraphicFramePr>
            <a:graphicFrameLocks noGrp="1"/>
          </p:cNvGraphicFramePr>
          <p:nvPr/>
        </p:nvGraphicFramePr>
        <p:xfrm>
          <a:off x="438912" y="932688"/>
          <a:ext cx="11313868" cy="3191255"/>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2720339">
                <a:tc>
                  <a:txBody>
                    <a:bodyPr wrap="square">
                      <a:noAutofit/>
                    </a:bodyPr>
                    <a:lstStyle/>
                    <a:p>
                      <a:pPr algn="l">
                        <a:lnSpc>
                          <a:spcPct val="100000"/>
                        </a:lnSpc>
                        <a:spcBef>
                          <a:spcPts val="0"/>
                        </a:spcBef>
                        <a:spcAft>
                          <a:spcPts val="0"/>
                        </a:spcAft>
                      </a:pPr>
                      <a:r>
                        <a:rPr sz="1300" b="1">
                          <a:solidFill>
                            <a:srgbClr val="1F1F1F"/>
                          </a:solidFill>
                          <a:latin typeface="Calibri"/>
                        </a:rPr>
                        <a:t>Remuneração por</a:t>
                      </a:r>
                    </a:p>
                    <a:p>
                      <a:pPr algn="l">
                        <a:lnSpc>
                          <a:spcPct val="100000"/>
                        </a:lnSpc>
                        <a:spcBef>
                          <a:spcPts val="0"/>
                        </a:spcBef>
                        <a:spcAft>
                          <a:spcPts val="0"/>
                        </a:spcAft>
                      </a:pPr>
                      <a:r>
                        <a:rPr sz="1300" b="1">
                          <a:solidFill>
                            <a:srgbClr val="1F1F1F"/>
                          </a:solidFill>
                          <a:latin typeface="Calibri"/>
                        </a:rPr>
                        <a:t>subclasse e série</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Primeira sênior: CDI +</a:t>
                      </a:r>
                    </a:p>
                    <a:p>
                      <a:pPr algn="l">
                        <a:lnSpc>
                          <a:spcPct val="100000"/>
                        </a:lnSpc>
                        <a:spcBef>
                          <a:spcPts val="0"/>
                        </a:spcBef>
                        <a:spcAft>
                          <a:spcPts val="0"/>
                        </a:spcAft>
                      </a:pPr>
                      <a:r>
                        <a:rPr sz="1300" b="0">
                          <a:solidFill>
                            <a:srgbClr val="1F1F1F"/>
                          </a:solidFill>
                          <a:latin typeface="Calibri"/>
                        </a:rPr>
                        <a:t>spread de 4, 80% a.a.,</a:t>
                      </a:r>
                    </a:p>
                    <a:p>
                      <a:pPr algn="l">
                        <a:lnSpc>
                          <a:spcPct val="100000"/>
                        </a:lnSpc>
                        <a:spcBef>
                          <a:spcPts val="0"/>
                        </a:spcBef>
                        <a:spcAft>
                          <a:spcPts val="0"/>
                        </a:spcAft>
                      </a:pPr>
                      <a:r>
                        <a:rPr sz="1300" b="0">
                          <a:solidFill>
                            <a:srgbClr val="1F1F1F"/>
                          </a:solidFill>
                          <a:latin typeface="Calibri"/>
                        </a:rPr>
                        <a:t>acrescido de 15% do</a:t>
                      </a:r>
                    </a:p>
                    <a:p>
                      <a:pPr algn="l">
                        <a:lnSpc>
                          <a:spcPct val="100000"/>
                        </a:lnSpc>
                        <a:spcBef>
                          <a:spcPts val="0"/>
                        </a:spcBef>
                        <a:spcAft>
                          <a:spcPts val="0"/>
                        </a:spcAft>
                      </a:pPr>
                      <a:r>
                        <a:rPr sz="1300" b="0">
                          <a:solidFill>
                            <a:srgbClr val="1F1F1F"/>
                          </a:solidFill>
                          <a:latin typeface="Calibri"/>
                        </a:rPr>
                        <a:t>excesso de spread</a:t>
                      </a:r>
                    </a:p>
                    <a:p>
                      <a:pPr algn="l">
                        <a:lnSpc>
                          <a:spcPct val="100000"/>
                        </a:lnSpc>
                        <a:spcBef>
                          <a:spcPts val="0"/>
                        </a:spcBef>
                        <a:spcAft>
                          <a:spcPts val="0"/>
                        </a:spcAft>
                      </a:pPr>
                      <a:r>
                        <a:rPr sz="1300" b="0">
                          <a:solidFill>
                            <a:srgbClr val="1F1F1F"/>
                          </a:solidFill>
                          <a:latin typeface="Calibri"/>
                        </a:rPr>
                        <a:t>subordinado, com teto</a:t>
                      </a:r>
                    </a:p>
                    <a:p>
                      <a:pPr algn="l">
                        <a:lnSpc>
                          <a:spcPct val="100000"/>
                        </a:lnSpc>
                        <a:spcBef>
                          <a:spcPts val="0"/>
                        </a:spcBef>
                        <a:spcAft>
                          <a:spcPts val="0"/>
                        </a:spcAft>
                      </a:pPr>
                      <a:r>
                        <a:rPr sz="1300" b="0">
                          <a:solidFill>
                            <a:srgbClr val="1F1F1F"/>
                          </a:solidFill>
                          <a:latin typeface="Calibri"/>
                        </a:rPr>
                        <a:t>CDI +6, 00% a.a.</a:t>
                      </a:r>
                    </a:p>
                    <a:p>
                      <a:pPr algn="l">
                        <a:lnSpc>
                          <a:spcPct val="100000"/>
                        </a:lnSpc>
                        <a:spcBef>
                          <a:spcPts val="0"/>
                        </a:spcBef>
                        <a:spcAft>
                          <a:spcPts val="0"/>
                        </a:spcAft>
                      </a:pPr>
                      <a:r>
                        <a:rPr sz="1300" b="0">
                          <a:solidFill>
                            <a:srgbClr val="1F1F1F"/>
                          </a:solidFill>
                          <a:latin typeface="Calibri"/>
                        </a:rPr>
                        <a:t>Adicional apurado</a:t>
                      </a:r>
                    </a:p>
                    <a:p>
                      <a:pPr algn="l">
                        <a:lnSpc>
                          <a:spcPct val="100000"/>
                        </a:lnSpc>
                        <a:spcBef>
                          <a:spcPts val="0"/>
                        </a:spcBef>
                        <a:spcAft>
                          <a:spcPts val="0"/>
                        </a:spcAft>
                      </a:pPr>
                      <a:r>
                        <a:rPr sz="1300" b="0">
                          <a:solidFill>
                            <a:srgbClr val="1F1F1F"/>
                          </a:solidFill>
                          <a:latin typeface="Calibri"/>
                        </a:rPr>
                        <a:t>mensalmente e pago em a</a:t>
                      </a:r>
                    </a:p>
                    <a:p>
                      <a:pPr algn="l">
                        <a:lnSpc>
                          <a:spcPct val="100000"/>
                        </a:lnSpc>
                        <a:spcBef>
                          <a:spcPts val="0"/>
                        </a:spcBef>
                        <a:spcAft>
                          <a:spcPts val="0"/>
                        </a:spcAft>
                      </a:pPr>
                      <a:r>
                        <a:rPr sz="1300" b="0">
                          <a:solidFill>
                            <a:srgbClr val="1F1F1F"/>
                          </a:solidFill>
                          <a:latin typeface="Calibri"/>
                        </a:rPr>
                        <a:t>mortização/encerramento</a:t>
                      </a:r>
                    </a:p>
                    <a:p>
                      <a:pPr algn="l">
                        <a:lnSpc>
                          <a:spcPct val="100000"/>
                        </a:lnSpc>
                        <a:spcBef>
                          <a:spcPts val="0"/>
                        </a:spcBef>
                        <a:spcAft>
                          <a:spcPts val="0"/>
                        </a:spcAft>
                      </a:pPr>
                      <a:r>
                        <a:rPr sz="1300" b="0">
                          <a:solidFill>
                            <a:srgbClr val="1F1F1F"/>
                          </a:solidFill>
                          <a:latin typeface="Calibri"/>
                        </a:rPr>
                        <a:t>.</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Sênior: 100% da</a:t>
                      </a:r>
                    </a:p>
                    <a:p>
                      <a:pPr algn="l">
                        <a:lnSpc>
                          <a:spcPct val="100000"/>
                        </a:lnSpc>
                        <a:spcBef>
                          <a:spcPts val="0"/>
                        </a:spcBef>
                        <a:spcAft>
                          <a:spcPts val="0"/>
                        </a:spcAft>
                      </a:pPr>
                      <a:r>
                        <a:rPr sz="1300" b="0">
                          <a:solidFill>
                            <a:srgbClr val="1F1F1F"/>
                          </a:solidFill>
                          <a:latin typeface="Calibri"/>
                        </a:rPr>
                        <a:t>variação positiva do</a:t>
                      </a:r>
                    </a:p>
                    <a:p>
                      <a:pPr algn="l">
                        <a:lnSpc>
                          <a:spcPct val="100000"/>
                        </a:lnSpc>
                        <a:spcBef>
                          <a:spcPts val="0"/>
                        </a:spcBef>
                        <a:spcAft>
                          <a:spcPts val="0"/>
                        </a:spcAft>
                      </a:pPr>
                      <a:r>
                        <a:rPr sz="1300" b="0">
                          <a:solidFill>
                            <a:srgbClr val="1F1F1F"/>
                          </a:solidFill>
                          <a:latin typeface="Calibri"/>
                        </a:rPr>
                        <a:t>CDI +4, 5% a.a., teto</a:t>
                      </a:r>
                    </a:p>
                    <a:p>
                      <a:pPr algn="l">
                        <a:lnSpc>
                          <a:spcPct val="100000"/>
                        </a:lnSpc>
                        <a:spcBef>
                          <a:spcPts val="0"/>
                        </a:spcBef>
                        <a:spcAft>
                          <a:spcPts val="0"/>
                        </a:spcAft>
                      </a:pPr>
                      <a:r>
                        <a:rPr sz="1300" b="0">
                          <a:solidFill>
                            <a:srgbClr val="1F1F1F"/>
                          </a:solidFill>
                          <a:latin typeface="Calibri"/>
                        </a:rPr>
                        <a:t>de sua remuneração.</a:t>
                      </a:r>
                    </a:p>
                    <a:p>
                      <a:pPr algn="l">
                        <a:lnSpc>
                          <a:spcPct val="100000"/>
                        </a:lnSpc>
                        <a:spcBef>
                          <a:spcPts val="0"/>
                        </a:spcBef>
                        <a:spcAft>
                          <a:spcPts val="0"/>
                        </a:spcAft>
                      </a:pPr>
                      <a:r>
                        <a:rPr sz="1300" b="0">
                          <a:solidFill>
                            <a:srgbClr val="1F1F1F"/>
                          </a:solidFill>
                          <a:latin typeface="Calibri"/>
                        </a:rPr>
                        <a:t>Júnior: amortização</a:t>
                      </a:r>
                    </a:p>
                    <a:p>
                      <a:pPr algn="l">
                        <a:lnSpc>
                          <a:spcPct val="100000"/>
                        </a:lnSpc>
                        <a:spcBef>
                          <a:spcPts val="0"/>
                        </a:spcBef>
                        <a:spcAft>
                          <a:spcPts val="0"/>
                        </a:spcAft>
                      </a:pPr>
                      <a:r>
                        <a:rPr sz="1300" b="0">
                          <a:solidFill>
                            <a:srgbClr val="1F1F1F"/>
                          </a:solidFill>
                          <a:latin typeface="Calibri"/>
                        </a:rPr>
                        <a:t>programada semestral</a:t>
                      </a:r>
                    </a:p>
                    <a:p>
                      <a:pPr algn="l">
                        <a:lnSpc>
                          <a:spcPct val="100000"/>
                        </a:lnSpc>
                        <a:spcBef>
                          <a:spcPts val="0"/>
                        </a:spcBef>
                        <a:spcAft>
                          <a:spcPts val="0"/>
                        </a:spcAft>
                      </a:pPr>
                      <a:r>
                        <a:rPr sz="1300" b="0">
                          <a:solidFill>
                            <a:srgbClr val="1F1F1F"/>
                          </a:solidFill>
                          <a:latin typeface="Calibri"/>
                        </a:rPr>
                        <a:t>limitada ao CDI</a:t>
                      </a:r>
                    </a:p>
                    <a:p>
                      <a:pPr algn="l">
                        <a:lnSpc>
                          <a:spcPct val="100000"/>
                        </a:lnSpc>
                        <a:spcBef>
                          <a:spcPts val="0"/>
                        </a:spcBef>
                        <a:spcAft>
                          <a:spcPts val="0"/>
                        </a:spcAft>
                      </a:pPr>
                      <a:r>
                        <a:rPr sz="1300" b="0">
                          <a:solidFill>
                            <a:srgbClr val="1F1F1F"/>
                          </a:solidFill>
                          <a:latin typeface="Calibri"/>
                        </a:rPr>
                        <a:t>positivo +4, 50% a.a.</a:t>
                      </a:r>
                    </a:p>
                    <a:p>
                      <a:pPr algn="l">
                        <a:lnSpc>
                          <a:spcPct val="100000"/>
                        </a:lnSpc>
                        <a:spcBef>
                          <a:spcPts val="0"/>
                        </a:spcBef>
                        <a:spcAft>
                          <a:spcPts val="0"/>
                        </a:spcAft>
                      </a:pPr>
                      <a:r>
                        <a:rPr sz="1300" b="0">
                          <a:solidFill>
                            <a:srgbClr val="1F1F1F"/>
                          </a:solidFill>
                          <a:latin typeface="Calibri"/>
                        </a:rPr>
                        <a:t>nos termos da fórmula</a:t>
                      </a:r>
                    </a:p>
                    <a:p>
                      <a:pPr algn="l">
                        <a:lnSpc>
                          <a:spcPct val="100000"/>
                        </a:lnSpc>
                        <a:spcBef>
                          <a:spcPts val="0"/>
                        </a:spcBef>
                        <a:spcAft>
                          <a:spcPts val="0"/>
                        </a:spcAft>
                      </a:pPr>
                      <a:r>
                        <a:rPr sz="1300" b="0">
                          <a:solidFill>
                            <a:srgbClr val="1F1F1F"/>
                          </a:solidFill>
                          <a:latin typeface="Calibri"/>
                        </a:rPr>
                        <a:t>do apêndice; excesso</a:t>
                      </a:r>
                    </a:p>
                    <a:p>
                      <a:pPr algn="l">
                        <a:lnSpc>
                          <a:spcPct val="100000"/>
                        </a:lnSpc>
                        <a:spcBef>
                          <a:spcPts val="0"/>
                        </a:spcBef>
                        <a:spcAft>
                          <a:spcPts val="0"/>
                        </a:spcAft>
                      </a:pPr>
                      <a:r>
                        <a:rPr sz="1300" b="0">
                          <a:solidFill>
                            <a:srgbClr val="1F1F1F"/>
                          </a:solidFill>
                          <a:latin typeface="Calibri"/>
                        </a:rPr>
                        <a:t>remanescente é dividido</a:t>
                      </a:r>
                    </a:p>
                    <a:p>
                      <a:pPr algn="l">
                        <a:lnSpc>
                          <a:spcPct val="100000"/>
                        </a:lnSpc>
                        <a:spcBef>
                          <a:spcPts val="0"/>
                        </a:spcBef>
                        <a:spcAft>
                          <a:spcPts val="0"/>
                        </a:spcAft>
                      </a:pPr>
                      <a:r>
                        <a:rPr sz="1300" b="0">
                          <a:solidFill>
                            <a:srgbClr val="1F1F1F"/>
                          </a:solidFill>
                          <a:latin typeface="Calibri"/>
                        </a:rPr>
                        <a:t>50% para sênior e 50%</a:t>
                      </a:r>
                    </a:p>
                    <a:p>
                      <a:pPr algn="l">
                        <a:lnSpc>
                          <a:spcPct val="100000"/>
                        </a:lnSpc>
                        <a:spcBef>
                          <a:spcPts val="0"/>
                        </a:spcBef>
                        <a:spcAft>
                          <a:spcPts val="0"/>
                        </a:spcAft>
                      </a:pPr>
                      <a:r>
                        <a:rPr sz="1300" b="0">
                          <a:solidFill>
                            <a:srgbClr val="1F1F1F"/>
                          </a:solidFill>
                          <a:latin typeface="Calibri"/>
                        </a:rPr>
                        <a:t>para júnior nas</a:t>
                      </a:r>
                    </a:p>
                    <a:p>
                      <a:pPr algn="l">
                        <a:lnSpc>
                          <a:spcPct val="100000"/>
                        </a:lnSpc>
                        <a:spcBef>
                          <a:spcPts val="0"/>
                        </a:spcBef>
                        <a:spcAft>
                          <a:spcPts val="0"/>
                        </a:spcAft>
                      </a:pPr>
                      <a:r>
                        <a:rPr sz="1300" b="0">
                          <a:solidFill>
                            <a:srgbClr val="1F1F1F"/>
                          </a:solidFill>
                          <a:latin typeface="Calibri"/>
                        </a:rPr>
                        <a:t>condições previstas.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85/160</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Emissões e custos</a:t>
            </a:r>
          </a:p>
        </p:txBody>
      </p:sp>
      <p:graphicFrame>
        <p:nvGraphicFramePr>
          <p:cNvPr id="3" name="Table 2"/>
          <p:cNvGraphicFramePr>
            <a:graphicFrameLocks noGrp="1"/>
          </p:cNvGraphicFramePr>
          <p:nvPr/>
        </p:nvGraphicFramePr>
        <p:xfrm>
          <a:off x="438912" y="932688"/>
          <a:ext cx="11313868" cy="5253228"/>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4782312">
                <a:tc>
                  <a:txBody>
                    <a:bodyPr wrap="square">
                      <a:noAutofit/>
                    </a:bodyPr>
                    <a:lstStyle/>
                    <a:p>
                      <a:pPr algn="l">
                        <a:lnSpc>
                          <a:spcPct val="100000"/>
                        </a:lnSpc>
                        <a:spcBef>
                          <a:spcPts val="0"/>
                        </a:spcBef>
                        <a:spcAft>
                          <a:spcPts val="0"/>
                        </a:spcAft>
                      </a:pPr>
                      <a:r>
                        <a:rPr sz="1300" b="1">
                          <a:solidFill>
                            <a:srgbClr val="1F1F1F"/>
                          </a:solidFill>
                          <a:latin typeface="Calibri"/>
                        </a:rPr>
                        <a:t>Volume, VNU e emissão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Informações da Oferta</a:t>
                      </a:r>
                    </a:p>
                    <a:p>
                      <a:pPr algn="l">
                        <a:lnSpc>
                          <a:spcPct val="100000"/>
                        </a:lnSpc>
                        <a:spcBef>
                          <a:spcPts val="0"/>
                        </a:spcBef>
                        <a:spcAft>
                          <a:spcPts val="0"/>
                        </a:spcAft>
                      </a:pPr>
                      <a:r>
                        <a:rPr sz="1300" b="0">
                          <a:solidFill>
                            <a:srgbClr val="1F1F1F"/>
                          </a:solidFill>
                          <a:latin typeface="Calibri"/>
                        </a:rPr>
                        <a:t>Valor Bruto da 2ª</a:t>
                      </a:r>
                    </a:p>
                    <a:p>
                      <a:pPr algn="l">
                        <a:lnSpc>
                          <a:spcPct val="100000"/>
                        </a:lnSpc>
                        <a:spcBef>
                          <a:spcPts val="0"/>
                        </a:spcBef>
                        <a:spcAft>
                          <a:spcPts val="0"/>
                        </a:spcAft>
                      </a:pPr>
                      <a:r>
                        <a:rPr sz="1300" b="0">
                          <a:solidFill>
                            <a:srgbClr val="1F1F1F"/>
                          </a:solidFill>
                          <a:latin typeface="Calibri"/>
                        </a:rPr>
                        <a:t>Quantidade de Cotas</a:t>
                      </a:r>
                    </a:p>
                    <a:p>
                      <a:pPr algn="l">
                        <a:lnSpc>
                          <a:spcPct val="100000"/>
                        </a:lnSpc>
                        <a:spcBef>
                          <a:spcPts val="0"/>
                        </a:spcBef>
                        <a:spcAft>
                          <a:spcPts val="0"/>
                        </a:spcAft>
                      </a:pPr>
                      <a:r>
                        <a:rPr sz="1300" b="0">
                          <a:solidFill>
                            <a:srgbClr val="1F1F1F"/>
                          </a:solidFill>
                          <a:latin typeface="Calibri"/>
                        </a:rPr>
                        <a:t>Preço de Emissão da</a:t>
                      </a:r>
                    </a:p>
                    <a:p>
                      <a:pPr algn="l">
                        <a:lnSpc>
                          <a:spcPct val="100000"/>
                        </a:lnSpc>
                        <a:spcBef>
                          <a:spcPts val="0"/>
                        </a:spcBef>
                        <a:spcAft>
                          <a:spcPts val="0"/>
                        </a:spcAft>
                      </a:pPr>
                      <a:r>
                        <a:rPr sz="1300" b="0">
                          <a:solidFill>
                            <a:srgbClr val="1F1F1F"/>
                          </a:solidFill>
                          <a:latin typeface="Calibri"/>
                        </a:rPr>
                        <a:t>Cota Emissão emitidas</a:t>
                      </a:r>
                    </a:p>
                    <a:p>
                      <a:pPr algn="l">
                        <a:lnSpc>
                          <a:spcPct val="100000"/>
                        </a:lnSpc>
                        <a:spcBef>
                          <a:spcPts val="0"/>
                        </a:spcBef>
                        <a:spcAft>
                          <a:spcPts val="0"/>
                        </a:spcAft>
                      </a:pPr>
                      <a:r>
                        <a:rPr sz="1300" b="0">
                          <a:solidFill>
                            <a:srgbClr val="1F1F1F"/>
                          </a:solidFill>
                          <a:latin typeface="Calibri"/>
                        </a:rPr>
                        <a:t>R$ 55.000.000,00 55.000</a:t>
                      </a:r>
                    </a:p>
                    <a:p>
                      <a:pPr algn="l">
                        <a:lnSpc>
                          <a:spcPct val="100000"/>
                        </a:lnSpc>
                        <a:spcBef>
                          <a:spcPts val="0"/>
                        </a:spcBef>
                        <a:spcAft>
                          <a:spcPts val="0"/>
                        </a:spcAft>
                      </a:pPr>
                      <a:r>
                        <a:rPr sz="1300" b="0">
                          <a:solidFill>
                            <a:srgbClr val="1F1F1F"/>
                          </a:solidFill>
                          <a:latin typeface="Calibri"/>
                        </a:rPr>
                        <a:t>R$ 1.000,00</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Extração pendente</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2ª emissão de</a:t>
                      </a:r>
                    </a:p>
                    <a:p>
                      <a:pPr algn="l">
                        <a:lnSpc>
                          <a:spcPct val="100000"/>
                        </a:lnSpc>
                        <a:spcBef>
                          <a:spcPts val="0"/>
                        </a:spcBef>
                        <a:spcAft>
                          <a:spcPts val="0"/>
                        </a:spcAft>
                      </a:pPr>
                      <a:r>
                        <a:rPr sz="1300" b="0">
                          <a:solidFill>
                            <a:srgbClr val="1F1F1F"/>
                          </a:solidFill>
                          <a:latin typeface="Calibri"/>
                        </a:rPr>
                        <a:t>27/03/2026: até 150.000</a:t>
                      </a:r>
                    </a:p>
                    <a:p>
                      <a:pPr algn="l">
                        <a:lnSpc>
                          <a:spcPct val="100000"/>
                        </a:lnSpc>
                        <a:spcBef>
                          <a:spcPts val="0"/>
                        </a:spcBef>
                        <a:spcAft>
                          <a:spcPts val="0"/>
                        </a:spcAft>
                      </a:pPr>
                      <a:r>
                        <a:rPr sz="1300" b="0">
                          <a:solidFill>
                            <a:srgbClr val="1F1F1F"/>
                          </a:solidFill>
                          <a:latin typeface="Calibri"/>
                        </a:rPr>
                        <a:t>cotas seniores×R$</a:t>
                      </a:r>
                    </a:p>
                    <a:p>
                      <a:pPr algn="l">
                        <a:lnSpc>
                          <a:spcPct val="100000"/>
                        </a:lnSpc>
                        <a:spcBef>
                          <a:spcPts val="0"/>
                        </a:spcBef>
                        <a:spcAft>
                          <a:spcPts val="0"/>
                        </a:spcAft>
                      </a:pPr>
                      <a:r>
                        <a:rPr sz="1300" b="0">
                          <a:solidFill>
                            <a:srgbClr val="1F1F1F"/>
                          </a:solidFill>
                          <a:latin typeface="Calibri"/>
                        </a:rPr>
                        <a:t>1.000=R$ 150 milhões;</a:t>
                      </a:r>
                    </a:p>
                    <a:p>
                      <a:pPr algn="l">
                        <a:lnSpc>
                          <a:spcPct val="100000"/>
                        </a:lnSpc>
                        <a:spcBef>
                          <a:spcPts val="0"/>
                        </a:spcBef>
                        <a:spcAft>
                          <a:spcPts val="0"/>
                        </a:spcAft>
                      </a:pPr>
                      <a:r>
                        <a:rPr sz="1300" b="0">
                          <a:solidFill>
                            <a:srgbClr val="1F1F1F"/>
                          </a:solidFill>
                          <a:latin typeface="Calibri"/>
                        </a:rPr>
                        <a:t>até 20.000 cotas</a:t>
                      </a:r>
                    </a:p>
                    <a:p>
                      <a:pPr algn="l">
                        <a:lnSpc>
                          <a:spcPct val="100000"/>
                        </a:lnSpc>
                        <a:spcBef>
                          <a:spcPts val="0"/>
                        </a:spcBef>
                        <a:spcAft>
                          <a:spcPts val="0"/>
                        </a:spcAft>
                      </a:pPr>
                      <a:r>
                        <a:rPr sz="1300" b="0">
                          <a:solidFill>
                            <a:srgbClr val="1F1F1F"/>
                          </a:solidFill>
                          <a:latin typeface="Calibri"/>
                        </a:rPr>
                        <a:t>júnior×R$ 1.000=R$ 20</a:t>
                      </a:r>
                    </a:p>
                    <a:p>
                      <a:pPr algn="l">
                        <a:lnSpc>
                          <a:spcPct val="100000"/>
                        </a:lnSpc>
                        <a:spcBef>
                          <a:spcPts val="0"/>
                        </a:spcBef>
                        <a:spcAft>
                          <a:spcPts val="0"/>
                        </a:spcAft>
                      </a:pPr>
                      <a:r>
                        <a:rPr sz="1300" b="0">
                          <a:solidFill>
                            <a:srgbClr val="1F1F1F"/>
                          </a:solidFill>
                          <a:latin typeface="Calibri"/>
                        </a:rPr>
                        <a:t>milhões. Colocação</a:t>
                      </a:r>
                    </a:p>
                    <a:p>
                      <a:pPr algn="l">
                        <a:lnSpc>
                          <a:spcPct val="100000"/>
                        </a:lnSpc>
                        <a:spcBef>
                          <a:spcPts val="0"/>
                        </a:spcBef>
                        <a:spcAft>
                          <a:spcPts val="0"/>
                        </a:spcAft>
                      </a:pPr>
                      <a:r>
                        <a:rPr sz="1300" b="0">
                          <a:solidFill>
                            <a:srgbClr val="1F1F1F"/>
                          </a:solidFill>
                          <a:latin typeface="Calibri"/>
                        </a:rPr>
                        <a:t>privada, subscrição até</a:t>
                      </a:r>
                    </a:p>
                    <a:p>
                      <a:pPr algn="l">
                        <a:lnSpc>
                          <a:spcPct val="100000"/>
                        </a:lnSpc>
                        <a:spcBef>
                          <a:spcPts val="0"/>
                        </a:spcBef>
                        <a:spcAft>
                          <a:spcPts val="0"/>
                        </a:spcAft>
                      </a:pPr>
                      <a:r>
                        <a:rPr sz="1300" b="0">
                          <a:solidFill>
                            <a:srgbClr val="1F1F1F"/>
                          </a:solidFill>
                          <a:latin typeface="Calibri"/>
                        </a:rPr>
                        <a:t>180 dias; sênior</a:t>
                      </a:r>
                    </a:p>
                    <a:p>
                      <a:pPr algn="l">
                        <a:lnSpc>
                          <a:spcPct val="100000"/>
                        </a:lnSpc>
                        <a:spcBef>
                          <a:spcPts val="0"/>
                        </a:spcBef>
                        <a:spcAft>
                          <a:spcPts val="0"/>
                        </a:spcAft>
                      </a:pPr>
                      <a:r>
                        <a:rPr sz="1300" b="0">
                          <a:solidFill>
                            <a:srgbClr val="1F1F1F"/>
                          </a:solidFill>
                          <a:latin typeface="Calibri"/>
                        </a:rPr>
                        <a:t>integralizada via</a:t>
                      </a:r>
                    </a:p>
                    <a:p>
                      <a:pPr algn="l">
                        <a:lnSpc>
                          <a:spcPct val="100000"/>
                        </a:lnSpc>
                        <a:spcBef>
                          <a:spcPts val="0"/>
                        </a:spcBef>
                        <a:spcAft>
                          <a:spcPts val="0"/>
                        </a:spcAft>
                      </a:pPr>
                      <a:r>
                        <a:rPr sz="1300" b="0">
                          <a:solidFill>
                            <a:srgbClr val="1F1F1F"/>
                          </a:solidFill>
                          <a:latin typeface="Calibri"/>
                        </a:rPr>
                        <a:t>chamadas de capital,</a:t>
                      </a:r>
                    </a:p>
                    <a:p>
                      <a:pPr algn="l">
                        <a:lnSpc>
                          <a:spcPct val="100000"/>
                        </a:lnSpc>
                        <a:spcBef>
                          <a:spcPts val="0"/>
                        </a:spcBef>
                        <a:spcAft>
                          <a:spcPts val="0"/>
                        </a:spcAft>
                      </a:pPr>
                      <a:r>
                        <a:rPr sz="1300" b="0">
                          <a:solidFill>
                            <a:srgbClr val="1F1F1F"/>
                          </a:solidFill>
                          <a:latin typeface="Calibri"/>
                        </a:rPr>
                        <a:t>júnior à vista.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5.13.2 Caso um Cotista</a:t>
                      </a:r>
                    </a:p>
                    <a:p>
                      <a:pPr algn="l">
                        <a:lnSpc>
                          <a:spcPct val="100000"/>
                        </a:lnSpc>
                        <a:spcBef>
                          <a:spcPts val="0"/>
                        </a:spcBef>
                        <a:spcAft>
                          <a:spcPts val="0"/>
                        </a:spcAft>
                      </a:pPr>
                      <a:r>
                        <a:rPr sz="1300" b="0">
                          <a:solidFill>
                            <a:srgbClr val="1F1F1F"/>
                          </a:solidFill>
                          <a:latin typeface="Calibri"/>
                        </a:rPr>
                        <a:t>do Fundo pretenda</a:t>
                      </a:r>
                    </a:p>
                    <a:p>
                      <a:pPr algn="l">
                        <a:lnSpc>
                          <a:spcPct val="100000"/>
                        </a:lnSpc>
                        <a:spcBef>
                          <a:spcPts val="0"/>
                        </a:spcBef>
                        <a:spcAft>
                          <a:spcPts val="0"/>
                        </a:spcAft>
                      </a:pPr>
                      <a:r>
                        <a:rPr sz="1300" b="0">
                          <a:solidFill>
                            <a:srgbClr val="1F1F1F"/>
                          </a:solidFill>
                          <a:latin typeface="Calibri"/>
                        </a:rPr>
                        <a:t>transferir suas Cotas</a:t>
                      </a:r>
                    </a:p>
                    <a:p>
                      <a:pPr algn="l">
                        <a:lnSpc>
                          <a:spcPct val="100000"/>
                        </a:lnSpc>
                        <a:spcBef>
                          <a:spcPts val="0"/>
                        </a:spcBef>
                        <a:spcAft>
                          <a:spcPts val="0"/>
                        </a:spcAft>
                      </a:pPr>
                      <a:r>
                        <a:rPr sz="1300" b="0">
                          <a:solidFill>
                            <a:srgbClr val="1F1F1F"/>
                          </a:solidFill>
                          <a:latin typeface="Calibri"/>
                        </a:rPr>
                        <a:t>para terceiros</a:t>
                      </a:r>
                    </a:p>
                    <a:p>
                      <a:pPr algn="l">
                        <a:lnSpc>
                          <a:spcPct val="100000"/>
                        </a:lnSpc>
                        <a:spcBef>
                          <a:spcPts val="0"/>
                        </a:spcBef>
                        <a:spcAft>
                          <a:spcPts val="0"/>
                        </a:spcAft>
                      </a:pPr>
                      <a:r>
                        <a:rPr sz="1300" b="0">
                          <a:solidFill>
                            <a:srgbClr val="1F1F1F"/>
                          </a:solidFill>
                          <a:latin typeface="Calibri"/>
                        </a:rPr>
                        <a:t>(“Cotista Vendedor”),</a:t>
                      </a:r>
                    </a:p>
                    <a:p>
                      <a:pPr algn="l">
                        <a:lnSpc>
                          <a:spcPct val="100000"/>
                        </a:lnSpc>
                        <a:spcBef>
                          <a:spcPts val="0"/>
                        </a:spcBef>
                        <a:spcAft>
                          <a:spcPts val="0"/>
                        </a:spcAft>
                      </a:pPr>
                      <a:r>
                        <a:rPr sz="1300" b="0">
                          <a:solidFill>
                            <a:srgbClr val="1F1F1F"/>
                          </a:solidFill>
                          <a:latin typeface="Calibri"/>
                        </a:rPr>
                        <a:t>deverá notificar</a:t>
                      </a:r>
                    </a:p>
                    <a:p>
                      <a:pPr algn="l">
                        <a:lnSpc>
                          <a:spcPct val="100000"/>
                        </a:lnSpc>
                        <a:spcBef>
                          <a:spcPts val="0"/>
                        </a:spcBef>
                        <a:spcAft>
                          <a:spcPts val="0"/>
                        </a:spcAft>
                      </a:pPr>
                      <a:r>
                        <a:rPr sz="1300" b="0">
                          <a:solidFill>
                            <a:srgbClr val="1F1F1F"/>
                          </a:solidFill>
                          <a:latin typeface="Calibri"/>
                        </a:rPr>
                        <a:t>previamente o GESTOR,</a:t>
                      </a:r>
                    </a:p>
                    <a:p>
                      <a:pPr algn="l">
                        <a:lnSpc>
                          <a:spcPct val="100000"/>
                        </a:lnSpc>
                        <a:spcBef>
                          <a:spcPts val="0"/>
                        </a:spcBef>
                        <a:spcAft>
                          <a:spcPts val="0"/>
                        </a:spcAft>
                      </a:pPr>
                      <a:r>
                        <a:rPr sz="1300" b="0">
                          <a:solidFill>
                            <a:srgbClr val="1F1F1F"/>
                          </a:solidFill>
                          <a:latin typeface="Calibri"/>
                        </a:rPr>
                        <a:t>via e-mail,</a:t>
                      </a:r>
                    </a:p>
                    <a:p>
                      <a:pPr algn="l">
                        <a:lnSpc>
                          <a:spcPct val="100000"/>
                        </a:lnSpc>
                        <a:spcBef>
                          <a:spcPts val="0"/>
                        </a:spcBef>
                        <a:spcAft>
                          <a:spcPts val="0"/>
                        </a:spcAft>
                      </a:pPr>
                      <a:r>
                        <a:rPr sz="1300" b="0">
                          <a:solidFill>
                            <a:srgbClr val="1F1F1F"/>
                          </a:solidFill>
                          <a:latin typeface="Calibri"/>
                        </a:rPr>
                        <a:t>manifestando sua</a:t>
                      </a:r>
                    </a:p>
                    <a:p>
                      <a:pPr algn="l">
                        <a:lnSpc>
                          <a:spcPct val="100000"/>
                        </a:lnSpc>
                        <a:spcBef>
                          <a:spcPts val="0"/>
                        </a:spcBef>
                        <a:spcAft>
                          <a:spcPts val="0"/>
                        </a:spcAft>
                      </a:pPr>
                      <a:r>
                        <a:rPr sz="1300" b="0">
                          <a:solidFill>
                            <a:srgbClr val="1F1F1F"/>
                          </a:solidFill>
                          <a:latin typeface="Calibri"/>
                        </a:rPr>
                        <a:t>proposta de alienação</a:t>
                      </a:r>
                    </a:p>
                    <a:p>
                      <a:pPr algn="l">
                        <a:lnSpc>
                          <a:spcPct val="100000"/>
                        </a:lnSpc>
                        <a:spcBef>
                          <a:spcPts val="0"/>
                        </a:spcBef>
                        <a:spcAft>
                          <a:spcPts val="0"/>
                        </a:spcAft>
                      </a:pPr>
                      <a:r>
                        <a:rPr sz="1300" b="0">
                          <a:solidFill>
                            <a:srgbClr val="1F1F1F"/>
                          </a:solidFill>
                          <a:latin typeface="Calibri"/>
                        </a:rPr>
                        <a:t>de Cotas, a qual deve</a:t>
                      </a:r>
                    </a:p>
                    <a:p>
                      <a:pPr algn="l">
                        <a:lnSpc>
                          <a:spcPct val="100000"/>
                        </a:lnSpc>
                        <a:spcBef>
                          <a:spcPts val="0"/>
                        </a:spcBef>
                        <a:spcAft>
                          <a:spcPts val="0"/>
                        </a:spcAft>
                      </a:pPr>
                      <a:r>
                        <a:rPr sz="1300" b="0">
                          <a:solidFill>
                            <a:srgbClr val="1F1F1F"/>
                          </a:solidFill>
                          <a:latin typeface="Calibri"/>
                        </a:rPr>
                        <a:t>incluir o interessado</a:t>
                      </a:r>
                    </a:p>
                    <a:p>
                      <a:pPr algn="l">
                        <a:lnSpc>
                          <a:spcPct val="100000"/>
                        </a:lnSpc>
                        <a:spcBef>
                          <a:spcPts val="0"/>
                        </a:spcBef>
                        <a:spcAft>
                          <a:spcPts val="0"/>
                        </a:spcAft>
                      </a:pPr>
                      <a:r>
                        <a:rPr sz="1300" b="0">
                          <a:solidFill>
                            <a:srgbClr val="1F1F1F"/>
                          </a:solidFill>
                          <a:latin typeface="Calibri"/>
                        </a:rPr>
                        <a:t>na aquisição e a</a:t>
                      </a:r>
                    </a:p>
                    <a:p>
                      <a:pPr algn="l">
                        <a:lnSpc>
                          <a:spcPct val="100000"/>
                        </a:lnSpc>
                        <a:spcBef>
                          <a:spcPts val="0"/>
                        </a:spcBef>
                        <a:spcAft>
                          <a:spcPts val="0"/>
                        </a:spcAft>
                      </a:pPr>
                      <a:r>
                        <a:rPr sz="1300" b="0">
                          <a:solidFill>
                            <a:srgbClr val="1F1F1F"/>
                          </a:solidFill>
                          <a:latin typeface="Calibri"/>
                        </a:rPr>
                        <a:t>quantidade de Cotas a</a:t>
                      </a:r>
                    </a:p>
                    <a:p>
                      <a:pPr algn="l">
                        <a:lnSpc>
                          <a:spcPct val="100000"/>
                        </a:lnSpc>
                        <a:spcBef>
                          <a:spcPts val="0"/>
                        </a:spcBef>
                        <a:spcAft>
                          <a:spcPts val="0"/>
                        </a:spcAft>
                      </a:pPr>
                      <a:r>
                        <a:rPr sz="1300" b="0">
                          <a:solidFill>
                            <a:srgbClr val="1F1F1F"/>
                          </a:solidFill>
                          <a:latin typeface="Calibri"/>
                        </a:rPr>
                        <a:t>serem alienadas e o</a:t>
                      </a:r>
                    </a:p>
                    <a:p>
                      <a:pPr algn="l">
                        <a:lnSpc>
                          <a:spcPct val="100000"/>
                        </a:lnSpc>
                        <a:spcBef>
                          <a:spcPts val="0"/>
                        </a:spcBef>
                        <a:spcAft>
                          <a:spcPts val="0"/>
                        </a:spcAft>
                      </a:pPr>
                      <a:r>
                        <a:rPr sz="1300" b="0">
                          <a:solidFill>
                            <a:srgbClr val="1F1F1F"/>
                          </a:solidFill>
                          <a:latin typeface="Calibri"/>
                        </a:rPr>
                        <a:t>preço para tal</a:t>
                      </a:r>
                    </a:p>
                    <a:p>
                      <a:pPr algn="l">
                        <a:lnSpc>
                          <a:spcPct val="100000"/>
                        </a:lnSpc>
                        <a:spcBef>
                          <a:spcPts val="0"/>
                        </a:spcBef>
                        <a:spcAft>
                          <a:spcPts val="0"/>
                        </a:spcAft>
                      </a:pPr>
                      <a:r>
                        <a:rPr sz="1300" b="0">
                          <a:solidFill>
                            <a:srgbClr val="1F1F1F"/>
                          </a:solidFill>
                          <a:latin typeface="Calibri"/>
                        </a:rPr>
                        <a:t>alienação (“Proposta de</a:t>
                      </a:r>
                    </a:p>
                    <a:p>
                      <a:pPr algn="l">
                        <a:lnSpc>
                          <a:spcPct val="100000"/>
                        </a:lnSpc>
                        <a:spcBef>
                          <a:spcPts val="0"/>
                        </a:spcBef>
                        <a:spcAft>
                          <a:spcPts val="0"/>
                        </a:spcAft>
                      </a:pPr>
                      <a:r>
                        <a:rPr sz="1300" b="0">
                          <a:solidFill>
                            <a:srgbClr val="1F1F1F"/>
                          </a:solidFill>
                          <a:latin typeface="Calibri"/>
                        </a:rPr>
                        <a:t>Venda”). O GESTOR</a:t>
                      </a:r>
                    </a:p>
                    <a:p>
                      <a:pPr algn="l">
                        <a:lnSpc>
                          <a:spcPct val="100000"/>
                        </a:lnSpc>
                        <a:spcBef>
                          <a:spcPts val="0"/>
                        </a:spcBef>
                        <a:spcAft>
                          <a:spcPts val="0"/>
                        </a:spcAft>
                      </a:pPr>
                      <a:r>
                        <a:rPr sz="1300" b="0">
                          <a:solidFill>
                            <a:srgbClr val="1F1F1F"/>
                          </a:solidFill>
                          <a:latin typeface="Calibri"/>
                        </a:rPr>
                        <a:t>deverá manifestar</a:t>
                      </a:r>
                    </a:p>
                    <a:p>
                      <a:pPr algn="l">
                        <a:lnSpc>
                          <a:spcPct val="100000"/>
                        </a:lnSpc>
                        <a:spcBef>
                          <a:spcPts val="0"/>
                        </a:spcBef>
                        <a:spcAft>
                          <a:spcPts val="0"/>
                        </a:spcAft>
                      </a:pPr>
                      <a:r>
                        <a:rPr sz="1300" b="0">
                          <a:solidFill>
                            <a:srgbClr val="1F1F1F"/>
                          </a:solidFill>
                          <a:latin typeface="Calibri"/>
                        </a:rPr>
                        <a:t>aprovação para</a:t>
                      </a:r>
                    </a:p>
                    <a:p>
                      <a:pPr algn="l">
                        <a:lnSpc>
                          <a:spcPct val="100000"/>
                        </a:lnSpc>
                        <a:spcBef>
                          <a:spcPts val="0"/>
                        </a:spcBef>
                        <a:spcAft>
                          <a:spcPts val="0"/>
                        </a:spcAft>
                      </a:pPr>
                      <a:r>
                        <a:rPr sz="1300" b="0">
                          <a:solidFill>
                            <a:srgbClr val="1F1F1F"/>
                          </a:solidFill>
                          <a:latin typeface="Calibri"/>
                        </a:rPr>
                        <a:t>alienação das Cotas</a:t>
                      </a:r>
                    </a:p>
                    <a:p>
                      <a:pPr algn="l">
                        <a:lnSpc>
                          <a:spcPct val="100000"/>
                        </a:lnSpc>
                        <a:spcBef>
                          <a:spcPts val="0"/>
                        </a:spcBef>
                        <a:spcAft>
                          <a:spcPts val="0"/>
                        </a:spcAft>
                      </a:pPr>
                      <a:r>
                        <a:rPr sz="1300" b="0">
                          <a:solidFill>
                            <a:srgbClr val="1F1F1F"/>
                          </a:solidFill>
                          <a:latin typeface="Calibri"/>
                        </a:rPr>
                        <a:t>objeto da Proposta de</a:t>
                      </a:r>
                    </a:p>
                    <a:p>
                      <a:pPr algn="l">
                        <a:lnSpc>
                          <a:spcPct val="100000"/>
                        </a:lnSpc>
                        <a:spcBef>
                          <a:spcPts val="0"/>
                        </a:spcBef>
                        <a:spcAft>
                          <a:spcPts val="0"/>
                        </a:spcAft>
                      </a:pPr>
                      <a:r>
                        <a:rPr sz="1300" b="0">
                          <a:solidFill>
                            <a:srgbClr val="1F1F1F"/>
                          </a:solidFill>
                          <a:latin typeface="Calibri"/>
                        </a:rPr>
                        <a:t>Venda (“Cotas Objeto”)</a:t>
                      </a:r>
                    </a:p>
                    <a:p>
                      <a:pPr algn="l">
                        <a:lnSpc>
                          <a:spcPct val="100000"/>
                        </a:lnSpc>
                        <a:spcBef>
                          <a:spcPts val="0"/>
                        </a:spcBef>
                        <a:spcAft>
                          <a:spcPts val="0"/>
                        </a:spcAft>
                      </a:pPr>
                      <a:r>
                        <a:rPr sz="1300" b="0">
                          <a:solidFill>
                            <a:srgbClr val="1F1F1F"/>
                          </a:solidFill>
                          <a:latin typeface="Calibri"/>
                        </a:rPr>
                        <a:t>em até 5 (cinco) Dias</a:t>
                      </a:r>
                    </a:p>
                    <a:p>
                      <a:pPr algn="l">
                        <a:lnSpc>
                          <a:spcPct val="100000"/>
                        </a:lnSpc>
                        <a:spcBef>
                          <a:spcPts val="0"/>
                        </a:spcBef>
                        <a:spcAft>
                          <a:spcPts val="0"/>
                        </a:spcAft>
                      </a:pPr>
                      <a:r>
                        <a:rPr sz="1300" b="0">
                          <a:solidFill>
                            <a:srgbClr val="1F1F1F"/>
                          </a:solidFill>
                          <a:latin typeface="Calibri"/>
                        </a:rPr>
                        <a:t>Úteis, observado que a</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86/160</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Emissões e custos</a:t>
            </a:r>
          </a:p>
        </p:txBody>
      </p:sp>
      <p:graphicFrame>
        <p:nvGraphicFramePr>
          <p:cNvPr id="3" name="Table 2"/>
          <p:cNvGraphicFramePr>
            <a:graphicFrameLocks noGrp="1"/>
          </p:cNvGraphicFramePr>
          <p:nvPr/>
        </p:nvGraphicFramePr>
        <p:xfrm>
          <a:off x="438912" y="932688"/>
          <a:ext cx="11313868" cy="5253228"/>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4782312">
                <a:tc>
                  <a:txBody>
                    <a:bodyPr wrap="square">
                      <a:noAutofit/>
                    </a:bodyPr>
                    <a:lstStyle/>
                    <a:p>
                      <a:pPr algn="l">
                        <a:lnSpc>
                          <a:spcPct val="100000"/>
                        </a:lnSpc>
                        <a:spcBef>
                          <a:spcPts val="0"/>
                        </a:spcBef>
                        <a:spcAft>
                          <a:spcPts val="0"/>
                        </a:spcAft>
                      </a:pPr>
                      <a:r>
                        <a:rPr sz="1300" b="1">
                          <a:solidFill>
                            <a:srgbClr val="1F1F1F"/>
                          </a:solidFill>
                          <a:latin typeface="Calibri"/>
                        </a:rPr>
                        <a:t>Volume, VNU e emissão</a:t>
                      </a:r>
                    </a:p>
                    <a:p>
                      <a:pPr algn="l">
                        <a:lnSpc>
                          <a:spcPct val="100000"/>
                        </a:lnSpc>
                        <a:spcBef>
                          <a:spcPts val="0"/>
                        </a:spcBef>
                        <a:spcAft>
                          <a:spcPts val="0"/>
                        </a:spcAft>
                      </a:pPr>
                      <a:r>
                        <a:rPr sz="1300" b="1">
                          <a:solidFill>
                            <a:srgbClr val="1F1F1F"/>
                          </a:solidFill>
                          <a:latin typeface="Calibri"/>
                        </a:rPr>
                        <a:t>(continuação)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ausência de aprovação</a:t>
                      </a:r>
                    </a:p>
                    <a:p>
                      <a:pPr algn="l">
                        <a:lnSpc>
                          <a:spcPct val="100000"/>
                        </a:lnSpc>
                        <a:spcBef>
                          <a:spcPts val="0"/>
                        </a:spcBef>
                        <a:spcAft>
                          <a:spcPts val="0"/>
                        </a:spcAft>
                      </a:pPr>
                      <a:r>
                        <a:rPr sz="1300" b="0">
                          <a:solidFill>
                            <a:srgbClr val="1F1F1F"/>
                          </a:solidFill>
                          <a:latin typeface="Calibri"/>
                        </a:rPr>
                        <a:t>deverá ser entendida</a:t>
                      </a:r>
                    </a:p>
                    <a:p>
                      <a:pPr algn="l">
                        <a:lnSpc>
                          <a:spcPct val="100000"/>
                        </a:lnSpc>
                        <a:spcBef>
                          <a:spcPts val="0"/>
                        </a:spcBef>
                        <a:spcAft>
                          <a:spcPts val="0"/>
                        </a:spcAft>
                      </a:pPr>
                      <a:r>
                        <a:rPr sz="1300" b="0">
                          <a:solidFill>
                            <a:srgbClr val="1F1F1F"/>
                          </a:solidFill>
                          <a:latin typeface="Calibri"/>
                        </a:rPr>
                        <a:t>como aprovação tácita à</a:t>
                      </a:r>
                    </a:p>
                    <a:p>
                      <a:pPr algn="l">
                        <a:lnSpc>
                          <a:spcPct val="100000"/>
                        </a:lnSpc>
                        <a:spcBef>
                          <a:spcPts val="0"/>
                        </a:spcBef>
                        <a:spcAft>
                          <a:spcPts val="0"/>
                        </a:spcAft>
                      </a:pPr>
                      <a:r>
                        <a:rPr sz="1300" b="0">
                          <a:solidFill>
                            <a:srgbClr val="1F1F1F"/>
                          </a:solidFill>
                          <a:latin typeface="Calibri"/>
                        </a:rPr>
                        <a:t>alienação das Cotas</a:t>
                      </a:r>
                    </a:p>
                    <a:p>
                      <a:pPr algn="l">
                        <a:lnSpc>
                          <a:spcPct val="100000"/>
                        </a:lnSpc>
                        <a:spcBef>
                          <a:spcPts val="0"/>
                        </a:spcBef>
                        <a:spcAft>
                          <a:spcPts val="0"/>
                        </a:spcAft>
                      </a:pPr>
                      <a:r>
                        <a:rPr sz="1300" b="0">
                          <a:solidFill>
                            <a:srgbClr val="1F1F1F"/>
                          </a:solidFill>
                          <a:latin typeface="Calibri"/>
                        </a:rPr>
                        <a:t>Objeto.</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(xxi) Ausência de</a:t>
                      </a:r>
                    </a:p>
                    <a:p>
                      <a:pPr algn="l">
                        <a:lnSpc>
                          <a:spcPct val="100000"/>
                        </a:lnSpc>
                        <a:spcBef>
                          <a:spcPts val="0"/>
                        </a:spcBef>
                        <a:spcAft>
                          <a:spcPts val="0"/>
                        </a:spcAft>
                      </a:pPr>
                      <a:r>
                        <a:rPr sz="1300" b="0">
                          <a:solidFill>
                            <a:srgbClr val="1F1F1F"/>
                          </a:solidFill>
                          <a:latin typeface="Calibri"/>
                        </a:rPr>
                        <a:t>propriedade direta dos</a:t>
                      </a:r>
                    </a:p>
                    <a:p>
                      <a:pPr algn="l">
                        <a:lnSpc>
                          <a:spcPct val="100000"/>
                        </a:lnSpc>
                        <a:spcBef>
                          <a:spcPts val="0"/>
                        </a:spcBef>
                        <a:spcAft>
                          <a:spcPts val="0"/>
                        </a:spcAft>
                      </a:pPr>
                      <a:r>
                        <a:rPr sz="1300" b="0">
                          <a:solidFill>
                            <a:srgbClr val="1F1F1F"/>
                          </a:solidFill>
                          <a:latin typeface="Calibri"/>
                        </a:rPr>
                        <a:t>ativos. Os direitos dos</a:t>
                      </a:r>
                    </a:p>
                    <a:p>
                      <a:pPr algn="l">
                        <a:lnSpc>
                          <a:spcPct val="100000"/>
                        </a:lnSpc>
                        <a:spcBef>
                          <a:spcPts val="0"/>
                        </a:spcBef>
                        <a:spcAft>
                          <a:spcPts val="0"/>
                        </a:spcAft>
                      </a:pPr>
                      <a:r>
                        <a:rPr sz="1300" b="0">
                          <a:solidFill>
                            <a:srgbClr val="1F1F1F"/>
                          </a:solidFill>
                          <a:latin typeface="Calibri"/>
                        </a:rPr>
                        <a:t>Cotistas serão</a:t>
                      </a:r>
                    </a:p>
                    <a:p>
                      <a:pPr algn="l">
                        <a:lnSpc>
                          <a:spcPct val="100000"/>
                        </a:lnSpc>
                        <a:spcBef>
                          <a:spcPts val="0"/>
                        </a:spcBef>
                        <a:spcAft>
                          <a:spcPts val="0"/>
                        </a:spcAft>
                      </a:pPr>
                      <a:r>
                        <a:rPr sz="1300" b="0">
                          <a:solidFill>
                            <a:srgbClr val="1F1F1F"/>
                          </a:solidFill>
                          <a:latin typeface="Calibri"/>
                        </a:rPr>
                        <a:t>exercidos sobre todos</a:t>
                      </a:r>
                    </a:p>
                    <a:p>
                      <a:pPr algn="l">
                        <a:lnSpc>
                          <a:spcPct val="100000"/>
                        </a:lnSpc>
                        <a:spcBef>
                          <a:spcPts val="0"/>
                        </a:spcBef>
                        <a:spcAft>
                          <a:spcPts val="0"/>
                        </a:spcAft>
                      </a:pPr>
                      <a:r>
                        <a:rPr sz="1300" b="0">
                          <a:solidFill>
                            <a:srgbClr val="1F1F1F"/>
                          </a:solidFill>
                          <a:latin typeface="Calibri"/>
                        </a:rPr>
                        <a:t>os ativos da Carteira</a:t>
                      </a:r>
                    </a:p>
                    <a:p>
                      <a:pPr algn="l">
                        <a:lnSpc>
                          <a:spcPct val="100000"/>
                        </a:lnSpc>
                        <a:spcBef>
                          <a:spcPts val="0"/>
                        </a:spcBef>
                        <a:spcAft>
                          <a:spcPts val="0"/>
                        </a:spcAft>
                      </a:pPr>
                      <a:r>
                        <a:rPr sz="1300" b="0">
                          <a:solidFill>
                            <a:srgbClr val="1F1F1F"/>
                          </a:solidFill>
                          <a:latin typeface="Calibri"/>
                        </a:rPr>
                        <a:t>de modo não</a:t>
                      </a:r>
                    </a:p>
                    <a:p>
                      <a:pPr algn="l">
                        <a:lnSpc>
                          <a:spcPct val="100000"/>
                        </a:lnSpc>
                        <a:spcBef>
                          <a:spcPts val="0"/>
                        </a:spcBef>
                        <a:spcAft>
                          <a:spcPts val="0"/>
                        </a:spcAft>
                      </a:pPr>
                      <a:r>
                        <a:rPr sz="1300" b="0">
                          <a:solidFill>
                            <a:srgbClr val="1F1F1F"/>
                          </a:solidFill>
                          <a:latin typeface="Calibri"/>
                        </a:rPr>
                        <a:t>individualizado,</a:t>
                      </a:r>
                    </a:p>
                    <a:p>
                      <a:pPr algn="l">
                        <a:lnSpc>
                          <a:spcPct val="100000"/>
                        </a:lnSpc>
                        <a:spcBef>
                          <a:spcPts val="0"/>
                        </a:spcBef>
                        <a:spcAft>
                          <a:spcPts val="0"/>
                        </a:spcAft>
                      </a:pPr>
                      <a:r>
                        <a:rPr sz="1300" b="0">
                          <a:solidFill>
                            <a:srgbClr val="1F1F1F"/>
                          </a:solidFill>
                          <a:latin typeface="Calibri"/>
                        </a:rPr>
                        <a:t>proporcionalmente à</a:t>
                      </a:r>
                    </a:p>
                    <a:p>
                      <a:pPr algn="l">
                        <a:lnSpc>
                          <a:spcPct val="100000"/>
                        </a:lnSpc>
                        <a:spcBef>
                          <a:spcPts val="0"/>
                        </a:spcBef>
                        <a:spcAft>
                          <a:spcPts val="0"/>
                        </a:spcAft>
                      </a:pPr>
                      <a:r>
                        <a:rPr sz="1300" b="0">
                          <a:solidFill>
                            <a:srgbClr val="1F1F1F"/>
                          </a:solidFill>
                          <a:latin typeface="Calibri"/>
                        </a:rPr>
                        <a:t>quantidade de Cotas</a:t>
                      </a:r>
                    </a:p>
                    <a:p>
                      <a:pPr algn="l">
                        <a:lnSpc>
                          <a:spcPct val="100000"/>
                        </a:lnSpc>
                        <a:spcBef>
                          <a:spcPts val="0"/>
                        </a:spcBef>
                        <a:spcAft>
                          <a:spcPts val="0"/>
                        </a:spcAft>
                      </a:pPr>
                      <a:r>
                        <a:rPr sz="1300" b="0">
                          <a:solidFill>
                            <a:srgbClr val="1F1F1F"/>
                          </a:solidFill>
                          <a:latin typeface="Calibri"/>
                        </a:rPr>
                        <a:t>detidas por cada um.</a:t>
                      </a:r>
                    </a:p>
                    <a:p>
                      <a:pPr algn="l">
                        <a:lnSpc>
                          <a:spcPct val="100000"/>
                        </a:lnSpc>
                        <a:spcBef>
                          <a:spcPts val="0"/>
                        </a:spcBef>
                        <a:spcAft>
                          <a:spcPts val="0"/>
                        </a:spcAft>
                      </a:pPr>
                      <a:r>
                        <a:rPr sz="1300" b="0">
                          <a:solidFill>
                            <a:srgbClr val="1F1F1F"/>
                          </a:solidFill>
                          <a:latin typeface="Calibri"/>
                        </a:rPr>
                        <a:t>Portanto, os Cotistas</a:t>
                      </a:r>
                    </a:p>
                    <a:p>
                      <a:pPr algn="l">
                        <a:lnSpc>
                          <a:spcPct val="100000"/>
                        </a:lnSpc>
                        <a:spcBef>
                          <a:spcPts val="0"/>
                        </a:spcBef>
                        <a:spcAft>
                          <a:spcPts val="0"/>
                        </a:spcAft>
                      </a:pPr>
                      <a:r>
                        <a:rPr sz="1300" b="0">
                          <a:solidFill>
                            <a:srgbClr val="1F1F1F"/>
                          </a:solidFill>
                          <a:latin typeface="Calibri"/>
                        </a:rPr>
                        <a:t>não terão qualquer</a:t>
                      </a:r>
                    </a:p>
                    <a:p>
                      <a:pPr algn="l">
                        <a:lnSpc>
                          <a:spcPct val="100000"/>
                        </a:lnSpc>
                        <a:spcBef>
                          <a:spcPts val="0"/>
                        </a:spcBef>
                        <a:spcAft>
                          <a:spcPts val="0"/>
                        </a:spcAft>
                      </a:pPr>
                      <a:r>
                        <a:rPr sz="1300" b="0">
                          <a:solidFill>
                            <a:srgbClr val="1F1F1F"/>
                          </a:solidFill>
                          <a:latin typeface="Calibri"/>
                        </a:rPr>
                        <a:t>direito de propriedade</a:t>
                      </a:r>
                    </a:p>
                    <a:p>
                      <a:pPr algn="l">
                        <a:lnSpc>
                          <a:spcPct val="100000"/>
                        </a:lnSpc>
                        <a:spcBef>
                          <a:spcPts val="0"/>
                        </a:spcBef>
                        <a:spcAft>
                          <a:spcPts val="0"/>
                        </a:spcAft>
                      </a:pPr>
                      <a:r>
                        <a:rPr sz="1300" b="0">
                          <a:solidFill>
                            <a:srgbClr val="1F1F1F"/>
                          </a:solidFill>
                          <a:latin typeface="Calibri"/>
                        </a:rPr>
                        <a:t>direta sobre as Cotas</a:t>
                      </a:r>
                    </a:p>
                    <a:p>
                      <a:pPr algn="l">
                        <a:lnSpc>
                          <a:spcPct val="100000"/>
                        </a:lnSpc>
                        <a:spcBef>
                          <a:spcPts val="0"/>
                        </a:spcBef>
                        <a:spcAft>
                          <a:spcPts val="0"/>
                        </a:spcAft>
                      </a:pPr>
                      <a:r>
                        <a:rPr sz="1300" b="0">
                          <a:solidFill>
                            <a:srgbClr val="1F1F1F"/>
                          </a:solidFill>
                          <a:latin typeface="Calibri"/>
                        </a:rPr>
                        <a:t>da Classe Investida e</a:t>
                      </a:r>
                    </a:p>
                    <a:p>
                      <a:pPr algn="l">
                        <a:lnSpc>
                          <a:spcPct val="100000"/>
                        </a:lnSpc>
                        <a:spcBef>
                          <a:spcPts val="0"/>
                        </a:spcBef>
                        <a:spcAft>
                          <a:spcPts val="0"/>
                        </a:spcAft>
                      </a:pPr>
                      <a:r>
                        <a:rPr sz="1300" b="0">
                          <a:solidFill>
                            <a:srgbClr val="1F1F1F"/>
                          </a:solidFill>
                          <a:latin typeface="Calibri"/>
                        </a:rPr>
                        <a:t>os Ativos Financeiros</a:t>
                      </a:r>
                    </a:p>
                    <a:p>
                      <a:pPr algn="l">
                        <a:lnSpc>
                          <a:spcPct val="100000"/>
                        </a:lnSpc>
                        <a:spcBef>
                          <a:spcPts val="0"/>
                        </a:spcBef>
                        <a:spcAft>
                          <a:spcPts val="0"/>
                        </a:spcAft>
                      </a:pPr>
                      <a:r>
                        <a:rPr sz="1300" b="0">
                          <a:solidFill>
                            <a:srgbClr val="1F1F1F"/>
                          </a:solidFill>
                          <a:latin typeface="Calibri"/>
                        </a:rPr>
                        <a:t>de Liquidez integrantes</a:t>
                      </a:r>
                    </a:p>
                    <a:p>
                      <a:pPr algn="l">
                        <a:lnSpc>
                          <a:spcPct val="100000"/>
                        </a:lnSpc>
                        <a:spcBef>
                          <a:spcPts val="0"/>
                        </a:spcBef>
                        <a:spcAft>
                          <a:spcPts val="0"/>
                        </a:spcAft>
                      </a:pPr>
                      <a:r>
                        <a:rPr sz="1300" b="0">
                          <a:solidFill>
                            <a:srgbClr val="1F1F1F"/>
                          </a:solidFill>
                          <a:latin typeface="Calibri"/>
                        </a:rPr>
                        <a:t>da Carteira, ou mesmo</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87/160</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Emissões e custos</a:t>
            </a:r>
          </a:p>
        </p:txBody>
      </p:sp>
      <p:graphicFrame>
        <p:nvGraphicFramePr>
          <p:cNvPr id="3" name="Table 2"/>
          <p:cNvGraphicFramePr>
            <a:graphicFrameLocks noGrp="1"/>
          </p:cNvGraphicFramePr>
          <p:nvPr/>
        </p:nvGraphicFramePr>
        <p:xfrm>
          <a:off x="438912" y="932688"/>
          <a:ext cx="11313868" cy="3474718"/>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1033271">
                <a:tc>
                  <a:txBody>
                    <a:bodyPr wrap="square">
                      <a:noAutofit/>
                    </a:bodyPr>
                    <a:lstStyle/>
                    <a:p>
                      <a:pPr algn="l">
                        <a:lnSpc>
                          <a:spcPct val="100000"/>
                        </a:lnSpc>
                        <a:spcBef>
                          <a:spcPts val="0"/>
                        </a:spcBef>
                        <a:spcAft>
                          <a:spcPts val="0"/>
                        </a:spcAft>
                      </a:pPr>
                      <a:r>
                        <a:rPr sz="1300" b="1">
                          <a:solidFill>
                            <a:srgbClr val="1F1F1F"/>
                          </a:solidFill>
                          <a:latin typeface="Calibri"/>
                        </a:rPr>
                        <a:t>Volume, VNU e emissão</a:t>
                      </a:r>
                    </a:p>
                    <a:p>
                      <a:pPr algn="l">
                        <a:lnSpc>
                          <a:spcPct val="100000"/>
                        </a:lnSpc>
                        <a:spcBef>
                          <a:spcPts val="0"/>
                        </a:spcBef>
                        <a:spcAft>
                          <a:spcPts val="0"/>
                        </a:spcAft>
                      </a:pPr>
                      <a:r>
                        <a:rPr sz="1300" b="1">
                          <a:solidFill>
                            <a:srgbClr val="1F1F1F"/>
                          </a:solidFill>
                          <a:latin typeface="Calibri"/>
                        </a:rPr>
                        <a:t>(continuação)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sobre os direitos</a:t>
                      </a:r>
                    </a:p>
                    <a:p>
                      <a:pPr algn="l">
                        <a:lnSpc>
                          <a:spcPct val="100000"/>
                        </a:lnSpc>
                        <a:spcBef>
                          <a:spcPts val="0"/>
                        </a:spcBef>
                        <a:spcAft>
                          <a:spcPts val="0"/>
                        </a:spcAft>
                      </a:pPr>
                      <a:r>
                        <a:rPr sz="1300" b="0">
                          <a:solidFill>
                            <a:srgbClr val="1F1F1F"/>
                          </a:solidFill>
                          <a:latin typeface="Calibri"/>
                        </a:rPr>
                        <a:t>creditórios e os ativos</a:t>
                      </a:r>
                    </a:p>
                    <a:p>
                      <a:pPr algn="l">
                        <a:lnSpc>
                          <a:spcPct val="100000"/>
                        </a:lnSpc>
                        <a:spcBef>
                          <a:spcPts val="0"/>
                        </a:spcBef>
                        <a:spcAft>
                          <a:spcPts val="0"/>
                        </a:spcAft>
                      </a:pPr>
                      <a:r>
                        <a:rPr sz="1300" b="0">
                          <a:solidFill>
                            <a:srgbClr val="1F1F1F"/>
                          </a:solidFill>
                          <a:latin typeface="Calibri"/>
                        </a:rPr>
                        <a:t>financeiros de liquidez</a:t>
                      </a:r>
                    </a:p>
                    <a:p>
                      <a:pPr algn="l">
                        <a:lnSpc>
                          <a:spcPct val="100000"/>
                        </a:lnSpc>
                        <a:spcBef>
                          <a:spcPts val="0"/>
                        </a:spcBef>
                        <a:spcAft>
                          <a:spcPts val="0"/>
                        </a:spcAft>
                      </a:pPr>
                      <a:r>
                        <a:rPr sz="1300" b="0">
                          <a:solidFill>
                            <a:srgbClr val="1F1F1F"/>
                          </a:solidFill>
                          <a:latin typeface="Calibri"/>
                        </a:rPr>
                        <a:t>integrantes da carteira</a:t>
                      </a:r>
                    </a:p>
                    <a:p>
                      <a:pPr algn="l">
                        <a:lnSpc>
                          <a:spcPct val="100000"/>
                        </a:lnSpc>
                        <a:spcBef>
                          <a:spcPts val="0"/>
                        </a:spcBef>
                        <a:spcAft>
                          <a:spcPts val="0"/>
                        </a:spcAft>
                      </a:pPr>
                      <a:r>
                        <a:rPr sz="1300" b="0">
                          <a:solidFill>
                            <a:srgbClr val="1F1F1F"/>
                          </a:solidFill>
                          <a:latin typeface="Calibri"/>
                        </a:rPr>
                        <a:t>da Classe Investida.</a:t>
                      </a:r>
                    </a:p>
                  </a:txBody>
                  <a:tcPr marL="91440" marR="91440" marT="41148" marB="41148" anchor="ctr">
                    <a:solidFill>
                      <a:srgbClr val="FFFFFF"/>
                    </a:solidFill>
                    <a:lnL>
                      <a:noFill/>
                    </a:lnL>
                    <a:lnR>
                      <a:noFill/>
                    </a:lnR>
                    <a:lnT>
                      <a:noFill/>
                    </a:lnT>
                    <a:lnB>
                      <a:noFill/>
                    </a:lnB>
                  </a:tcPr>
                </a:tc>
              </a:tr>
              <a:tr h="1970531">
                <a:tc>
                  <a:txBody>
                    <a:bodyPr wrap="square">
                      <a:noAutofit/>
                    </a:bodyPr>
                    <a:lstStyle/>
                    <a:p>
                      <a:pPr algn="l">
                        <a:lnSpc>
                          <a:spcPct val="100000"/>
                        </a:lnSpc>
                        <a:spcBef>
                          <a:spcPts val="0"/>
                        </a:spcBef>
                        <a:spcAft>
                          <a:spcPts val="0"/>
                        </a:spcAft>
                      </a:pPr>
                      <a:r>
                        <a:rPr sz="1300" b="1">
                          <a:solidFill>
                            <a:srgbClr val="1F1F1F"/>
                          </a:solidFill>
                          <a:latin typeface="Calibri"/>
                        </a:rPr>
                        <a:t>Administração: taxa,</a:t>
                      </a:r>
                    </a:p>
                    <a:p>
                      <a:pPr algn="l">
                        <a:lnSpc>
                          <a:spcPct val="100000"/>
                        </a:lnSpc>
                        <a:spcBef>
                          <a:spcPts val="0"/>
                        </a:spcBef>
                        <a:spcAft>
                          <a:spcPts val="0"/>
                        </a:spcAft>
                      </a:pPr>
                      <a:r>
                        <a:rPr sz="1300" b="1">
                          <a:solidFill>
                            <a:srgbClr val="1F1F1F"/>
                          </a:solidFill>
                          <a:latin typeface="Calibri"/>
                        </a:rPr>
                        <a:t>base e mínimo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0, 10% a.a. sobre PL;</a:t>
                      </a:r>
                    </a:p>
                    <a:p>
                      <a:pPr algn="l">
                        <a:lnSpc>
                          <a:spcPct val="100000"/>
                        </a:lnSpc>
                        <a:spcBef>
                          <a:spcPts val="0"/>
                        </a:spcBef>
                        <a:spcAft>
                          <a:spcPts val="0"/>
                        </a:spcAft>
                      </a:pPr>
                      <a:r>
                        <a:rPr sz="1300" b="0">
                          <a:solidFill>
                            <a:srgbClr val="1F1F1F"/>
                          </a:solidFill>
                          <a:latin typeface="Calibri"/>
                        </a:rPr>
                        <a:t>mínimo R$ 10 mil/mês.</a:t>
                      </a:r>
                    </a:p>
                    <a:p>
                      <a:pPr algn="l">
                        <a:lnSpc>
                          <a:spcPct val="100000"/>
                        </a:lnSpc>
                        <a:spcBef>
                          <a:spcPts val="0"/>
                        </a:spcBef>
                        <a:spcAft>
                          <a:spcPts val="0"/>
                        </a:spcAft>
                      </a:pPr>
                      <a:r>
                        <a:rPr sz="1300" b="0">
                          <a:solidFill>
                            <a:srgbClr val="1F1F1F"/>
                          </a:solidFill>
                          <a:latin typeface="Calibri"/>
                        </a:rPr>
                        <a:t>Mínimo corrigido pela</a:t>
                      </a:r>
                    </a:p>
                    <a:p>
                      <a:pPr algn="l">
                        <a:lnSpc>
                          <a:spcPct val="100000"/>
                        </a:lnSpc>
                        <a:spcBef>
                          <a:spcPts val="0"/>
                        </a:spcBef>
                        <a:spcAft>
                          <a:spcPts val="0"/>
                        </a:spcAft>
                      </a:pPr>
                      <a:r>
                        <a:rPr sz="1300" b="0">
                          <a:solidFill>
                            <a:srgbClr val="1F1F1F"/>
                          </a:solidFill>
                          <a:latin typeface="Calibri"/>
                        </a:rPr>
                        <a:t>variação positiva do</a:t>
                      </a:r>
                    </a:p>
                    <a:p>
                      <a:pPr algn="l">
                        <a:lnSpc>
                          <a:spcPct val="100000"/>
                        </a:lnSpc>
                        <a:spcBef>
                          <a:spcPts val="0"/>
                        </a:spcBef>
                        <a:spcAft>
                          <a:spcPts val="0"/>
                        </a:spcAft>
                      </a:pPr>
                      <a:r>
                        <a:rPr sz="1300" b="0">
                          <a:solidFill>
                            <a:srgbClr val="1F1F1F"/>
                          </a:solidFill>
                          <a:latin typeface="Calibri"/>
                        </a:rPr>
                        <a:t>IGP-M a cada 12 meses</a:t>
                      </a:r>
                    </a:p>
                    <a:p>
                      <a:pPr algn="l">
                        <a:lnSpc>
                          <a:spcPct val="100000"/>
                        </a:lnSpc>
                        <a:spcBef>
                          <a:spcPts val="0"/>
                        </a:spcBef>
                        <a:spcAft>
                          <a:spcPts val="0"/>
                        </a:spcAft>
                      </a:pPr>
                      <a:r>
                        <a:rPr sz="1300" b="0">
                          <a:solidFill>
                            <a:srgbClr val="1F1F1F"/>
                          </a:solidFill>
                          <a:latin typeface="Calibri"/>
                        </a:rPr>
                        <a:t>desde o mês da primeira</a:t>
                      </a:r>
                    </a:p>
                    <a:p>
                      <a:pPr algn="l">
                        <a:lnSpc>
                          <a:spcPct val="100000"/>
                        </a:lnSpc>
                        <a:spcBef>
                          <a:spcPts val="0"/>
                        </a:spcBef>
                        <a:spcAft>
                          <a:spcPts val="0"/>
                        </a:spcAft>
                      </a:pPr>
                      <a:r>
                        <a:rPr sz="1300" b="0">
                          <a:solidFill>
                            <a:srgbClr val="1F1F1F"/>
                          </a:solidFill>
                          <a:latin typeface="Calibri"/>
                        </a:rPr>
                        <a:t>integralização.</a:t>
                      </a:r>
                    </a:p>
                    <a:p>
                      <a:pPr algn="l">
                        <a:lnSpc>
                          <a:spcPct val="100000"/>
                        </a:lnSpc>
                        <a:spcBef>
                          <a:spcPts val="0"/>
                        </a:spcBef>
                        <a:spcAft>
                          <a:spcPts val="0"/>
                        </a:spcAft>
                      </a:pPr>
                      <a:r>
                        <a:rPr sz="1300" b="0">
                          <a:solidFill>
                            <a:srgbClr val="1F1F1F"/>
                          </a:solidFill>
                          <a:latin typeface="Calibri"/>
                        </a:rPr>
                        <a:t>Apropriação diária</a:t>
                      </a:r>
                    </a:p>
                    <a:p>
                      <a:pPr algn="l">
                        <a:lnSpc>
                          <a:spcPct val="100000"/>
                        </a:lnSpc>
                        <a:spcBef>
                          <a:spcPts val="0"/>
                        </a:spcBef>
                        <a:spcAft>
                          <a:spcPts val="0"/>
                        </a:spcAft>
                      </a:pPr>
                      <a:r>
                        <a:rPr sz="1300" b="0">
                          <a:solidFill>
                            <a:srgbClr val="1F1F1F"/>
                          </a:solidFill>
                          <a:latin typeface="Calibri"/>
                        </a:rPr>
                        <a:t>1/252 e pagamento até o</a:t>
                      </a:r>
                    </a:p>
                    <a:p>
                      <a:pPr algn="l">
                        <a:lnSpc>
                          <a:spcPct val="100000"/>
                        </a:lnSpc>
                        <a:spcBef>
                          <a:spcPts val="0"/>
                        </a:spcBef>
                        <a:spcAft>
                          <a:spcPts val="0"/>
                        </a:spcAft>
                      </a:pPr>
                      <a:r>
                        <a:rPr sz="1300" b="0">
                          <a:solidFill>
                            <a:srgbClr val="1F1F1F"/>
                          </a:solidFill>
                          <a:latin typeface="Calibri"/>
                        </a:rPr>
                        <a:t>5º dia útil seguinte.</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0, 40% a.a. sobre PL,</a:t>
                      </a:r>
                    </a:p>
                    <a:p>
                      <a:pPr algn="l">
                        <a:lnSpc>
                          <a:spcPct val="100000"/>
                        </a:lnSpc>
                        <a:spcBef>
                          <a:spcPts val="0"/>
                        </a:spcBef>
                        <a:spcAft>
                          <a:spcPts val="0"/>
                        </a:spcAft>
                      </a:pPr>
                      <a:r>
                        <a:rPr sz="1300" b="0">
                          <a:solidFill>
                            <a:srgbClr val="1F1F1F"/>
                          </a:solidFill>
                          <a:latin typeface="Calibri"/>
                        </a:rPr>
                        <a:t>incluindo gestão,</a:t>
                      </a:r>
                    </a:p>
                    <a:p>
                      <a:pPr algn="l">
                        <a:lnSpc>
                          <a:spcPct val="100000"/>
                        </a:lnSpc>
                        <a:spcBef>
                          <a:spcPts val="0"/>
                        </a:spcBef>
                        <a:spcAft>
                          <a:spcPts val="0"/>
                        </a:spcAft>
                      </a:pPr>
                      <a:r>
                        <a:rPr sz="1300" b="0">
                          <a:solidFill>
                            <a:srgbClr val="1F1F1F"/>
                          </a:solidFill>
                          <a:latin typeface="Calibri"/>
                        </a:rPr>
                        <a:t>escrituração e</a:t>
                      </a:r>
                    </a:p>
                    <a:p>
                      <a:pPr algn="l">
                        <a:lnSpc>
                          <a:spcPct val="100000"/>
                        </a:lnSpc>
                        <a:spcBef>
                          <a:spcPts val="0"/>
                        </a:spcBef>
                        <a:spcAft>
                          <a:spcPts val="0"/>
                        </a:spcAft>
                      </a:pPr>
                      <a:r>
                        <a:rPr sz="1300" b="0">
                          <a:solidFill>
                            <a:srgbClr val="1F1F1F"/>
                          </a:solidFill>
                          <a:latin typeface="Calibri"/>
                        </a:rPr>
                        <a:t>controladoria. Mínimo</a:t>
                      </a:r>
                    </a:p>
                    <a:p>
                      <a:pPr algn="l">
                        <a:lnSpc>
                          <a:spcPct val="100000"/>
                        </a:lnSpc>
                        <a:spcBef>
                          <a:spcPts val="0"/>
                        </a:spcBef>
                        <a:spcAft>
                          <a:spcPts val="0"/>
                        </a:spcAft>
                      </a:pPr>
                      <a:r>
                        <a:rPr sz="1300" b="0">
                          <a:solidFill>
                            <a:srgbClr val="1F1F1F"/>
                          </a:solidFill>
                          <a:latin typeface="Calibri"/>
                        </a:rPr>
                        <a:t>R$ 20 mil/mês,</a:t>
                      </a:r>
                    </a:p>
                    <a:p>
                      <a:pPr algn="l">
                        <a:lnSpc>
                          <a:spcPct val="100000"/>
                        </a:lnSpc>
                        <a:spcBef>
                          <a:spcPts val="0"/>
                        </a:spcBef>
                        <a:spcAft>
                          <a:spcPts val="0"/>
                        </a:spcAft>
                      </a:pPr>
                      <a:r>
                        <a:rPr sz="1300" b="0">
                          <a:solidFill>
                            <a:srgbClr val="1F1F1F"/>
                          </a:solidFill>
                          <a:latin typeface="Calibri"/>
                        </a:rPr>
                        <a:t>reajustado pelo IPCA</a:t>
                      </a:r>
                    </a:p>
                    <a:p>
                      <a:pPr algn="l">
                        <a:lnSpc>
                          <a:spcPct val="100000"/>
                        </a:lnSpc>
                        <a:spcBef>
                          <a:spcPts val="0"/>
                        </a:spcBef>
                        <a:spcAft>
                          <a:spcPts val="0"/>
                        </a:spcAft>
                      </a:pPr>
                      <a:r>
                        <a:rPr sz="1300" b="0">
                          <a:solidFill>
                            <a:srgbClr val="1F1F1F"/>
                          </a:solidFill>
                          <a:latin typeface="Calibri"/>
                        </a:rPr>
                        <a:t>positivo em janeiro.</a:t>
                      </a:r>
                    </a:p>
                    <a:p>
                      <a:pPr algn="l">
                        <a:lnSpc>
                          <a:spcPct val="100000"/>
                        </a:lnSpc>
                        <a:spcBef>
                          <a:spcPts val="0"/>
                        </a:spcBef>
                        <a:spcAft>
                          <a:spcPts val="0"/>
                        </a:spcAft>
                      </a:pPr>
                      <a:r>
                        <a:rPr sz="1300" b="0">
                          <a:solidFill>
                            <a:srgbClr val="1F1F1F"/>
                          </a:solidFill>
                          <a:latin typeface="Calibri"/>
                        </a:rPr>
                        <a:t>Provisão diária 1/252 e</a:t>
                      </a:r>
                    </a:p>
                    <a:p>
                      <a:pPr algn="l">
                        <a:lnSpc>
                          <a:spcPct val="100000"/>
                        </a:lnSpc>
                        <a:spcBef>
                          <a:spcPts val="0"/>
                        </a:spcBef>
                        <a:spcAft>
                          <a:spcPts val="0"/>
                        </a:spcAft>
                      </a:pPr>
                      <a:r>
                        <a:rPr sz="1300" b="0">
                          <a:solidFill>
                            <a:srgbClr val="1F1F1F"/>
                          </a:solidFill>
                          <a:latin typeface="Calibri"/>
                        </a:rPr>
                        <a:t>pagamento no 5º dia</a:t>
                      </a:r>
                    </a:p>
                    <a:p>
                      <a:pPr algn="l">
                        <a:lnSpc>
                          <a:spcPct val="100000"/>
                        </a:lnSpc>
                        <a:spcBef>
                          <a:spcPts val="0"/>
                        </a:spcBef>
                        <a:spcAft>
                          <a:spcPts val="0"/>
                        </a:spcAft>
                      </a:pPr>
                      <a:r>
                        <a:rPr sz="1300" b="0">
                          <a:solidFill>
                            <a:srgbClr val="1F1F1F"/>
                          </a:solidFill>
                          <a:latin typeface="Calibri"/>
                        </a:rPr>
                        <a:t>útil do mês seguinte.</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0, 10% a.a.; mínimo R$</a:t>
                      </a:r>
                    </a:p>
                    <a:p>
                      <a:pPr algn="l">
                        <a:lnSpc>
                          <a:spcPct val="100000"/>
                        </a:lnSpc>
                        <a:spcBef>
                          <a:spcPts val="0"/>
                        </a:spcBef>
                        <a:spcAft>
                          <a:spcPts val="0"/>
                        </a:spcAft>
                      </a:pPr>
                      <a:r>
                        <a:rPr sz="1300" b="0">
                          <a:solidFill>
                            <a:srgbClr val="1F1F1F"/>
                          </a:solidFill>
                          <a:latin typeface="Calibri"/>
                        </a:rPr>
                        <a:t>10 mil/mês, corrigido</a:t>
                      </a:r>
                    </a:p>
                    <a:p>
                      <a:pPr algn="l">
                        <a:lnSpc>
                          <a:spcPct val="100000"/>
                        </a:lnSpc>
                        <a:spcBef>
                          <a:spcPts val="0"/>
                        </a:spcBef>
                        <a:spcAft>
                          <a:spcPts val="0"/>
                        </a:spcAft>
                      </a:pPr>
                      <a:r>
                        <a:rPr sz="1300" b="0">
                          <a:solidFill>
                            <a:srgbClr val="1F1F1F"/>
                          </a:solidFill>
                          <a:latin typeface="Calibri"/>
                        </a:rPr>
                        <a:t>anualmente em janeiro</a:t>
                      </a:r>
                    </a:p>
                    <a:p>
                      <a:pPr algn="l">
                        <a:lnSpc>
                          <a:spcPct val="100000"/>
                        </a:lnSpc>
                        <a:spcBef>
                          <a:spcPts val="0"/>
                        </a:spcBef>
                        <a:spcAft>
                          <a:spcPts val="0"/>
                        </a:spcAft>
                      </a:pPr>
                      <a:r>
                        <a:rPr sz="1300" b="0">
                          <a:solidFill>
                            <a:srgbClr val="1F1F1F"/>
                          </a:solidFill>
                          <a:latin typeface="Calibri"/>
                        </a:rPr>
                        <a:t>pela variação positiva</a:t>
                      </a:r>
                    </a:p>
                    <a:p>
                      <a:pPr algn="l">
                        <a:lnSpc>
                          <a:spcPct val="100000"/>
                        </a:lnSpc>
                        <a:spcBef>
                          <a:spcPts val="0"/>
                        </a:spcBef>
                        <a:spcAft>
                          <a:spcPts val="0"/>
                        </a:spcAft>
                      </a:pPr>
                      <a:r>
                        <a:rPr sz="1300" b="0">
                          <a:solidFill>
                            <a:srgbClr val="1F1F1F"/>
                          </a:solidFill>
                          <a:latin typeface="Calibri"/>
                        </a:rPr>
                        <a:t>do IGP-M. Pagamento até</a:t>
                      </a:r>
                    </a:p>
                    <a:p>
                      <a:pPr algn="l">
                        <a:lnSpc>
                          <a:spcPct val="100000"/>
                        </a:lnSpc>
                        <a:spcBef>
                          <a:spcPts val="0"/>
                        </a:spcBef>
                        <a:spcAft>
                          <a:spcPts val="0"/>
                        </a:spcAft>
                      </a:pPr>
                      <a:r>
                        <a:rPr sz="1300" b="0">
                          <a:solidFill>
                            <a:srgbClr val="1F1F1F"/>
                          </a:solidFill>
                          <a:latin typeface="Calibri"/>
                        </a:rPr>
                        <a:t>o 5º dia útil do mês</a:t>
                      </a:r>
                    </a:p>
                    <a:p>
                      <a:pPr algn="l">
                        <a:lnSpc>
                          <a:spcPct val="100000"/>
                        </a:lnSpc>
                        <a:spcBef>
                          <a:spcPts val="0"/>
                        </a:spcBef>
                        <a:spcAft>
                          <a:spcPts val="0"/>
                        </a:spcAft>
                      </a:pPr>
                      <a:r>
                        <a:rPr sz="1300" b="0">
                          <a:solidFill>
                            <a:srgbClr val="1F1F1F"/>
                          </a:solidFill>
                          <a:latin typeface="Calibri"/>
                        </a:rPr>
                        <a:t>seguinte; base 1/12</a:t>
                      </a:r>
                    </a:p>
                    <a:p>
                      <a:pPr algn="l">
                        <a:lnSpc>
                          <a:spcPct val="100000"/>
                        </a:lnSpc>
                        <a:spcBef>
                          <a:spcPts val="0"/>
                        </a:spcBef>
                        <a:spcAft>
                          <a:spcPts val="0"/>
                        </a:spcAft>
                      </a:pPr>
                      <a:r>
                        <a:rPr sz="1300" b="0">
                          <a:solidFill>
                            <a:srgbClr val="1F1F1F"/>
                          </a:solidFill>
                          <a:latin typeface="Calibri"/>
                        </a:rPr>
                        <a:t>prevista na tabela.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Mínimo R$ 10 mil/mês,</a:t>
                      </a:r>
                    </a:p>
                    <a:p>
                      <a:pPr algn="l">
                        <a:lnSpc>
                          <a:spcPct val="100000"/>
                        </a:lnSpc>
                        <a:spcBef>
                          <a:spcPts val="0"/>
                        </a:spcBef>
                        <a:spcAft>
                          <a:spcPts val="0"/>
                        </a:spcAft>
                      </a:pPr>
                      <a:r>
                        <a:rPr sz="1300" b="0">
                          <a:solidFill>
                            <a:srgbClr val="1F1F1F"/>
                          </a:solidFill>
                          <a:latin typeface="Calibri"/>
                        </a:rPr>
                        <a:t>corrigido em janeiro</a:t>
                      </a:r>
                    </a:p>
                    <a:p>
                      <a:pPr algn="l">
                        <a:lnSpc>
                          <a:spcPct val="100000"/>
                        </a:lnSpc>
                        <a:spcBef>
                          <a:spcPts val="0"/>
                        </a:spcBef>
                        <a:spcAft>
                          <a:spcPts val="0"/>
                        </a:spcAft>
                      </a:pPr>
                      <a:r>
                        <a:rPr sz="1300" b="0">
                          <a:solidFill>
                            <a:srgbClr val="1F1F1F"/>
                          </a:solidFill>
                          <a:latin typeface="Calibri"/>
                        </a:rPr>
                        <a:t>pelo IGP-M positivo. Em</a:t>
                      </a:r>
                    </a:p>
                    <a:p>
                      <a:pPr algn="l">
                        <a:lnSpc>
                          <a:spcPct val="100000"/>
                        </a:lnSpc>
                        <a:spcBef>
                          <a:spcPts val="0"/>
                        </a:spcBef>
                        <a:spcAft>
                          <a:spcPts val="0"/>
                        </a:spcAft>
                      </a:pPr>
                      <a:r>
                        <a:rPr sz="1300" b="0">
                          <a:solidFill>
                            <a:srgbClr val="1F1F1F"/>
                          </a:solidFill>
                          <a:latin typeface="Calibri"/>
                        </a:rPr>
                        <a:t>cenário extraordinário,</a:t>
                      </a:r>
                    </a:p>
                    <a:p>
                      <a:pPr algn="l">
                        <a:lnSpc>
                          <a:spcPct val="100000"/>
                        </a:lnSpc>
                        <a:spcBef>
                          <a:spcPts val="0"/>
                        </a:spcBef>
                        <a:spcAft>
                          <a:spcPts val="0"/>
                        </a:spcAft>
                      </a:pPr>
                      <a:r>
                        <a:rPr sz="1300" b="0">
                          <a:solidFill>
                            <a:srgbClr val="1F1F1F"/>
                          </a:solidFill>
                          <a:latin typeface="Calibri"/>
                        </a:rPr>
                        <a:t>taxa máxima é o mínimo</a:t>
                      </a:r>
                    </a:p>
                    <a:p>
                      <a:pPr algn="l">
                        <a:lnSpc>
                          <a:spcPct val="100000"/>
                        </a:lnSpc>
                        <a:spcBef>
                          <a:spcPts val="0"/>
                        </a:spcBef>
                        <a:spcAft>
                          <a:spcPts val="0"/>
                        </a:spcAft>
                      </a:pPr>
                      <a:r>
                        <a:rPr sz="1300" b="0">
                          <a:solidFill>
                            <a:srgbClr val="1F1F1F"/>
                          </a:solidFill>
                          <a:latin typeface="Calibri"/>
                        </a:rPr>
                        <a:t>mais até 0, 10% a.a.</a:t>
                      </a:r>
                    </a:p>
                    <a:p>
                      <a:pPr algn="l">
                        <a:lnSpc>
                          <a:spcPct val="100000"/>
                        </a:lnSpc>
                        <a:spcBef>
                          <a:spcPts val="0"/>
                        </a:spcBef>
                        <a:spcAft>
                          <a:spcPts val="0"/>
                        </a:spcAft>
                      </a:pPr>
                      <a:r>
                        <a:rPr sz="1300" b="0">
                          <a:solidFill>
                            <a:srgbClr val="1F1F1F"/>
                          </a:solidFill>
                          <a:latin typeface="Calibri"/>
                        </a:rPr>
                        <a:t>sobre PL da classe</a:t>
                      </a:r>
                    </a:p>
                    <a:p>
                      <a:pPr algn="l">
                        <a:lnSpc>
                          <a:spcPct val="100000"/>
                        </a:lnSpc>
                        <a:spcBef>
                          <a:spcPts val="0"/>
                        </a:spcBef>
                        <a:spcAft>
                          <a:spcPts val="0"/>
                        </a:spcAft>
                      </a:pPr>
                      <a:r>
                        <a:rPr sz="1300" b="0">
                          <a:solidFill>
                            <a:srgbClr val="1F1F1F"/>
                          </a:solidFill>
                          <a:latin typeface="Calibri"/>
                        </a:rPr>
                        <a:t>investida, incluindo</a:t>
                      </a:r>
                    </a:p>
                    <a:p>
                      <a:pPr algn="l">
                        <a:lnSpc>
                          <a:spcPct val="100000"/>
                        </a:lnSpc>
                        <a:spcBef>
                          <a:spcPts val="0"/>
                        </a:spcBef>
                        <a:spcAft>
                          <a:spcPts val="0"/>
                        </a:spcAft>
                      </a:pPr>
                      <a:r>
                        <a:rPr sz="1300" b="0">
                          <a:solidFill>
                            <a:srgbClr val="1F1F1F"/>
                          </a:solidFill>
                          <a:latin typeface="Calibri"/>
                        </a:rPr>
                        <a:t>administração daquele</a:t>
                      </a:r>
                    </a:p>
                    <a:p>
                      <a:pPr algn="l">
                        <a:lnSpc>
                          <a:spcPct val="100000"/>
                        </a:lnSpc>
                        <a:spcBef>
                          <a:spcPts val="0"/>
                        </a:spcBef>
                        <a:spcAft>
                          <a:spcPts val="0"/>
                        </a:spcAft>
                      </a:pPr>
                      <a:r>
                        <a:rPr sz="1300" b="0">
                          <a:solidFill>
                            <a:srgbClr val="1F1F1F"/>
                          </a:solidFill>
                          <a:latin typeface="Calibri"/>
                        </a:rPr>
                        <a:t>investido.</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88/160</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Emissões e custos</a:t>
            </a:r>
          </a:p>
        </p:txBody>
      </p:sp>
      <p:graphicFrame>
        <p:nvGraphicFramePr>
          <p:cNvPr id="3" name="Table 2"/>
          <p:cNvGraphicFramePr>
            <a:graphicFrameLocks noGrp="1"/>
          </p:cNvGraphicFramePr>
          <p:nvPr/>
        </p:nvGraphicFramePr>
        <p:xfrm>
          <a:off x="438912" y="932688"/>
          <a:ext cx="11313868" cy="3287266"/>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1970531">
                <a:tc>
                  <a:txBody>
                    <a:bodyPr wrap="square">
                      <a:noAutofit/>
                    </a:bodyPr>
                    <a:lstStyle/>
                    <a:p>
                      <a:pPr algn="l">
                        <a:lnSpc>
                          <a:spcPct val="100000"/>
                        </a:lnSpc>
                        <a:spcBef>
                          <a:spcPts val="0"/>
                        </a:spcBef>
                        <a:spcAft>
                          <a:spcPts val="0"/>
                        </a:spcAft>
                      </a:pPr>
                      <a:r>
                        <a:rPr sz="1300" b="1">
                          <a:solidFill>
                            <a:srgbClr val="1F1F1F"/>
                          </a:solidFill>
                          <a:latin typeface="Calibri"/>
                        </a:rPr>
                        <a:t>Gestão: taxa, base e</a:t>
                      </a:r>
                    </a:p>
                    <a:p>
                      <a:pPr algn="l">
                        <a:lnSpc>
                          <a:spcPct val="100000"/>
                        </a:lnSpc>
                        <a:spcBef>
                          <a:spcPts val="0"/>
                        </a:spcBef>
                        <a:spcAft>
                          <a:spcPts val="0"/>
                        </a:spcAft>
                      </a:pPr>
                      <a:r>
                        <a:rPr sz="1300" b="1">
                          <a:solidFill>
                            <a:srgbClr val="1F1F1F"/>
                          </a:solidFill>
                          <a:latin typeface="Calibri"/>
                        </a:rPr>
                        <a:t>mínimo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0, 20% a.a. sobre PL;</a:t>
                      </a:r>
                    </a:p>
                    <a:p>
                      <a:pPr algn="l">
                        <a:lnSpc>
                          <a:spcPct val="100000"/>
                        </a:lnSpc>
                        <a:spcBef>
                          <a:spcPts val="0"/>
                        </a:spcBef>
                        <a:spcAft>
                          <a:spcPts val="0"/>
                        </a:spcAft>
                      </a:pPr>
                      <a:r>
                        <a:rPr sz="1300" b="0">
                          <a:solidFill>
                            <a:srgbClr val="1F1F1F"/>
                          </a:solidFill>
                          <a:latin typeface="Calibri"/>
                        </a:rPr>
                        <a:t>mínimo R$ 15 mil/mês,</a:t>
                      </a:r>
                    </a:p>
                    <a:p>
                      <a:pPr algn="l">
                        <a:lnSpc>
                          <a:spcPct val="100000"/>
                        </a:lnSpc>
                        <a:spcBef>
                          <a:spcPts val="0"/>
                        </a:spcBef>
                        <a:spcAft>
                          <a:spcPts val="0"/>
                        </a:spcAft>
                      </a:pPr>
                      <a:r>
                        <a:rPr sz="1300" b="0">
                          <a:solidFill>
                            <a:srgbClr val="1F1F1F"/>
                          </a:solidFill>
                          <a:latin typeface="Calibri"/>
                        </a:rPr>
                        <a:t>corrigido pela variação</a:t>
                      </a:r>
                    </a:p>
                    <a:p>
                      <a:pPr algn="l">
                        <a:lnSpc>
                          <a:spcPct val="100000"/>
                        </a:lnSpc>
                        <a:spcBef>
                          <a:spcPts val="0"/>
                        </a:spcBef>
                        <a:spcAft>
                          <a:spcPts val="0"/>
                        </a:spcAft>
                      </a:pPr>
                      <a:r>
                        <a:rPr sz="1300" b="0">
                          <a:solidFill>
                            <a:srgbClr val="1F1F1F"/>
                          </a:solidFill>
                          <a:latin typeface="Calibri"/>
                        </a:rPr>
                        <a:t>positiva do IGP-M a</a:t>
                      </a:r>
                    </a:p>
                    <a:p>
                      <a:pPr algn="l">
                        <a:lnSpc>
                          <a:spcPct val="100000"/>
                        </a:lnSpc>
                        <a:spcBef>
                          <a:spcPts val="0"/>
                        </a:spcBef>
                        <a:spcAft>
                          <a:spcPts val="0"/>
                        </a:spcAft>
                      </a:pPr>
                      <a:r>
                        <a:rPr sz="1300" b="0">
                          <a:solidFill>
                            <a:srgbClr val="1F1F1F"/>
                          </a:solidFill>
                          <a:latin typeface="Calibri"/>
                        </a:rPr>
                        <a:t>cada 12 meses desde a</a:t>
                      </a:r>
                    </a:p>
                    <a:p>
                      <a:pPr algn="l">
                        <a:lnSpc>
                          <a:spcPct val="100000"/>
                        </a:lnSpc>
                        <a:spcBef>
                          <a:spcPts val="0"/>
                        </a:spcBef>
                        <a:spcAft>
                          <a:spcPts val="0"/>
                        </a:spcAft>
                      </a:pPr>
                      <a:r>
                        <a:rPr sz="1300" b="0">
                          <a:solidFill>
                            <a:srgbClr val="1F1F1F"/>
                          </a:solidFill>
                          <a:latin typeface="Calibri"/>
                        </a:rPr>
                        <a:t>primeira</a:t>
                      </a:r>
                    </a:p>
                    <a:p>
                      <a:pPr algn="l">
                        <a:lnSpc>
                          <a:spcPct val="100000"/>
                        </a:lnSpc>
                        <a:spcBef>
                          <a:spcPts val="0"/>
                        </a:spcBef>
                        <a:spcAft>
                          <a:spcPts val="0"/>
                        </a:spcAft>
                      </a:pPr>
                      <a:r>
                        <a:rPr sz="1300" b="0">
                          <a:solidFill>
                            <a:srgbClr val="1F1F1F"/>
                          </a:solidFill>
                          <a:latin typeface="Calibri"/>
                        </a:rPr>
                        <a:t>integralização.</a:t>
                      </a:r>
                    </a:p>
                    <a:p>
                      <a:pPr algn="l">
                        <a:lnSpc>
                          <a:spcPct val="100000"/>
                        </a:lnSpc>
                        <a:spcBef>
                          <a:spcPts val="0"/>
                        </a:spcBef>
                        <a:spcAft>
                          <a:spcPts val="0"/>
                        </a:spcAft>
                      </a:pPr>
                      <a:r>
                        <a:rPr sz="1300" b="0">
                          <a:solidFill>
                            <a:srgbClr val="1F1F1F"/>
                          </a:solidFill>
                          <a:latin typeface="Calibri"/>
                        </a:rPr>
                        <a:t>Apropriação diária</a:t>
                      </a:r>
                    </a:p>
                    <a:p>
                      <a:pPr algn="l">
                        <a:lnSpc>
                          <a:spcPct val="100000"/>
                        </a:lnSpc>
                        <a:spcBef>
                          <a:spcPts val="0"/>
                        </a:spcBef>
                        <a:spcAft>
                          <a:spcPts val="0"/>
                        </a:spcAft>
                      </a:pPr>
                      <a:r>
                        <a:rPr sz="1300" b="0">
                          <a:solidFill>
                            <a:srgbClr val="1F1F1F"/>
                          </a:solidFill>
                          <a:latin typeface="Calibri"/>
                        </a:rPr>
                        <a:t>1/252; pagamento até o</a:t>
                      </a:r>
                    </a:p>
                    <a:p>
                      <a:pPr algn="l">
                        <a:lnSpc>
                          <a:spcPct val="100000"/>
                        </a:lnSpc>
                        <a:spcBef>
                          <a:spcPts val="0"/>
                        </a:spcBef>
                        <a:spcAft>
                          <a:spcPts val="0"/>
                        </a:spcAft>
                      </a:pPr>
                      <a:r>
                        <a:rPr sz="1300" b="0">
                          <a:solidFill>
                            <a:srgbClr val="1F1F1F"/>
                          </a:solidFill>
                          <a:latin typeface="Calibri"/>
                        </a:rPr>
                        <a:t>5º dia útil seguinte.</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0% a.a. sobre PL,</a:t>
                      </a:r>
                    </a:p>
                    <a:p>
                      <a:pPr algn="l">
                        <a:lnSpc>
                          <a:spcPct val="100000"/>
                        </a:lnSpc>
                        <a:spcBef>
                          <a:spcPts val="0"/>
                        </a:spcBef>
                        <a:spcAft>
                          <a:spcPts val="0"/>
                        </a:spcAft>
                      </a:pPr>
                      <a:r>
                        <a:rPr sz="1300" b="0">
                          <a:solidFill>
                            <a:srgbClr val="1F1F1F"/>
                          </a:solidFill>
                          <a:latin typeface="Calibri"/>
                        </a:rPr>
                        <a:t>apropriada diariamente</a:t>
                      </a:r>
                    </a:p>
                    <a:p>
                      <a:pPr algn="l">
                        <a:lnSpc>
                          <a:spcPct val="100000"/>
                        </a:lnSpc>
                        <a:spcBef>
                          <a:spcPts val="0"/>
                        </a:spcBef>
                        <a:spcAft>
                          <a:spcPts val="0"/>
                        </a:spcAft>
                      </a:pPr>
                      <a:r>
                        <a:rPr sz="1300" b="0">
                          <a:solidFill>
                            <a:srgbClr val="1F1F1F"/>
                          </a:solidFill>
                          <a:latin typeface="Calibri"/>
                        </a:rPr>
                        <a:t>na base 252 e paga</a:t>
                      </a:r>
                    </a:p>
                    <a:p>
                      <a:pPr algn="l">
                        <a:lnSpc>
                          <a:spcPct val="100000"/>
                        </a:lnSpc>
                        <a:spcBef>
                          <a:spcPts val="0"/>
                        </a:spcBef>
                        <a:spcAft>
                          <a:spcPts val="0"/>
                        </a:spcAft>
                      </a:pPr>
                      <a:r>
                        <a:rPr sz="1300" b="0">
                          <a:solidFill>
                            <a:srgbClr val="1F1F1F"/>
                          </a:solidFill>
                          <a:latin typeface="Calibri"/>
                        </a:rPr>
                        <a:t>mensalmente até o 5º</a:t>
                      </a:r>
                    </a:p>
                    <a:p>
                      <a:pPr algn="l">
                        <a:lnSpc>
                          <a:spcPct val="100000"/>
                        </a:lnSpc>
                        <a:spcBef>
                          <a:spcPts val="0"/>
                        </a:spcBef>
                        <a:spcAft>
                          <a:spcPts val="0"/>
                        </a:spcAft>
                      </a:pPr>
                      <a:r>
                        <a:rPr sz="1300" b="0">
                          <a:solidFill>
                            <a:srgbClr val="1F1F1F"/>
                          </a:solidFill>
                          <a:latin typeface="Calibri"/>
                        </a:rPr>
                        <a:t>dia útil seguinte.</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Ordinária: 0, 50% a.a.</a:t>
                      </a:r>
                    </a:p>
                    <a:p>
                      <a:pPr algn="l">
                        <a:lnSpc>
                          <a:spcPct val="100000"/>
                        </a:lnSpc>
                        <a:spcBef>
                          <a:spcPts val="0"/>
                        </a:spcBef>
                        <a:spcAft>
                          <a:spcPts val="0"/>
                        </a:spcAft>
                      </a:pPr>
                      <a:r>
                        <a:rPr sz="1300" b="0">
                          <a:solidFill>
                            <a:srgbClr val="1F1F1F"/>
                          </a:solidFill>
                          <a:latin typeface="Calibri"/>
                        </a:rPr>
                        <a:t>sobre PL do FIC, mínimo</a:t>
                      </a:r>
                    </a:p>
                    <a:p>
                      <a:pPr algn="l">
                        <a:lnSpc>
                          <a:spcPct val="100000"/>
                        </a:lnSpc>
                        <a:spcBef>
                          <a:spcPts val="0"/>
                        </a:spcBef>
                        <a:spcAft>
                          <a:spcPts val="0"/>
                        </a:spcAft>
                      </a:pPr>
                      <a:r>
                        <a:rPr sz="1300" b="0">
                          <a:solidFill>
                            <a:srgbClr val="1F1F1F"/>
                          </a:solidFill>
                          <a:latin typeface="Calibri"/>
                        </a:rPr>
                        <a:t>R$ 40 mil/mês corrigido</a:t>
                      </a:r>
                    </a:p>
                    <a:p>
                      <a:pPr algn="l">
                        <a:lnSpc>
                          <a:spcPct val="100000"/>
                        </a:lnSpc>
                        <a:spcBef>
                          <a:spcPts val="0"/>
                        </a:spcBef>
                        <a:spcAft>
                          <a:spcPts val="0"/>
                        </a:spcAft>
                      </a:pPr>
                      <a:r>
                        <a:rPr sz="1300" b="0">
                          <a:solidFill>
                            <a:srgbClr val="1F1F1F"/>
                          </a:solidFill>
                          <a:latin typeface="Calibri"/>
                        </a:rPr>
                        <a:t>pelo IPCA positivo.</a:t>
                      </a:r>
                    </a:p>
                    <a:p>
                      <a:pPr algn="l">
                        <a:lnSpc>
                          <a:spcPct val="100000"/>
                        </a:lnSpc>
                        <a:spcBef>
                          <a:spcPts val="0"/>
                        </a:spcBef>
                        <a:spcAft>
                          <a:spcPts val="0"/>
                        </a:spcAft>
                      </a:pPr>
                      <a:r>
                        <a:rPr sz="1300" b="0">
                          <a:solidFill>
                            <a:srgbClr val="1F1F1F"/>
                          </a:solidFill>
                          <a:latin typeface="Calibri"/>
                        </a:rPr>
                        <a:t>Extraordinária: 1, 25%</a:t>
                      </a:r>
                    </a:p>
                    <a:p>
                      <a:pPr algn="l">
                        <a:lnSpc>
                          <a:spcPct val="100000"/>
                        </a:lnSpc>
                        <a:spcBef>
                          <a:spcPts val="0"/>
                        </a:spcBef>
                        <a:spcAft>
                          <a:spcPts val="0"/>
                        </a:spcAft>
                      </a:pPr>
                      <a:r>
                        <a:rPr sz="1300" b="0">
                          <a:solidFill>
                            <a:srgbClr val="1F1F1F"/>
                          </a:solidFill>
                          <a:latin typeface="Calibri"/>
                        </a:rPr>
                        <a:t>do valor efetivamente</a:t>
                      </a:r>
                    </a:p>
                    <a:p>
                      <a:pPr algn="l">
                        <a:lnSpc>
                          <a:spcPct val="100000"/>
                        </a:lnSpc>
                        <a:spcBef>
                          <a:spcPts val="0"/>
                        </a:spcBef>
                        <a:spcAft>
                          <a:spcPts val="0"/>
                        </a:spcAft>
                      </a:pPr>
                      <a:r>
                        <a:rPr sz="1300" b="0">
                          <a:solidFill>
                            <a:srgbClr val="1F1F1F"/>
                          </a:solidFill>
                          <a:latin typeface="Calibri"/>
                        </a:rPr>
                        <a:t>integralizado em cada</a:t>
                      </a:r>
                    </a:p>
                    <a:p>
                      <a:pPr algn="l">
                        <a:lnSpc>
                          <a:spcPct val="100000"/>
                        </a:lnSpc>
                        <a:spcBef>
                          <a:spcPts val="0"/>
                        </a:spcBef>
                        <a:spcAft>
                          <a:spcPts val="0"/>
                        </a:spcAft>
                      </a:pPr>
                      <a:r>
                        <a:rPr sz="1300" b="0">
                          <a:solidFill>
                            <a:srgbClr val="1F1F1F"/>
                          </a:solidFill>
                          <a:latin typeface="Calibri"/>
                        </a:rPr>
                        <a:t>chamada, paga no dia</a:t>
                      </a:r>
                    </a:p>
                    <a:p>
                      <a:pPr algn="l">
                        <a:lnSpc>
                          <a:spcPct val="100000"/>
                        </a:lnSpc>
                        <a:spcBef>
                          <a:spcPts val="0"/>
                        </a:spcBef>
                        <a:spcAft>
                          <a:spcPts val="0"/>
                        </a:spcAft>
                      </a:pPr>
                      <a:r>
                        <a:rPr sz="1300" b="0">
                          <a:solidFill>
                            <a:srgbClr val="1F1F1F"/>
                          </a:solidFill>
                          <a:latin typeface="Calibri"/>
                        </a:rPr>
                        <a:t>útil seguinte.</a:t>
                      </a:r>
                    </a:p>
                  </a:txBody>
                  <a:tcPr marL="91440" marR="91440" marT="41148" marB="41148" anchor="ctr">
                    <a:solidFill>
                      <a:srgbClr val="FFFFFF"/>
                    </a:solidFill>
                    <a:lnL>
                      <a:noFill/>
                    </a:lnL>
                    <a:lnR>
                      <a:noFill/>
                    </a:lnR>
                    <a:lnT>
                      <a:noFill/>
                    </a:lnT>
                    <a:lnB>
                      <a:noFill/>
                    </a:lnB>
                  </a:tcPr>
                </a:tc>
              </a:tr>
              <a:tr h="845819">
                <a:tc>
                  <a:txBody>
                    <a:bodyPr wrap="square">
                      <a:noAutofit/>
                    </a:bodyPr>
                    <a:lstStyle/>
                    <a:p>
                      <a:pPr algn="l">
                        <a:lnSpc>
                          <a:spcPct val="100000"/>
                        </a:lnSpc>
                        <a:spcBef>
                          <a:spcPts val="0"/>
                        </a:spcBef>
                        <a:spcAft>
                          <a:spcPts val="0"/>
                        </a:spcAft>
                      </a:pPr>
                      <a:r>
                        <a:rPr sz="1300" b="1">
                          <a:solidFill>
                            <a:srgbClr val="1F1F1F"/>
                          </a:solidFill>
                          <a:latin typeface="Calibri"/>
                        </a:rPr>
                        <a:t>Performance: benchmark e</a:t>
                      </a:r>
                    </a:p>
                    <a:p>
                      <a:pPr algn="l">
                        <a:lnSpc>
                          <a:spcPct val="100000"/>
                        </a:lnSpc>
                        <a:spcBef>
                          <a:spcPts val="0"/>
                        </a:spcBef>
                        <a:spcAft>
                          <a:spcPts val="0"/>
                        </a:spcAft>
                      </a:pPr>
                      <a:r>
                        <a:rPr sz="1300" b="1">
                          <a:solidFill>
                            <a:srgbClr val="1F1F1F"/>
                          </a:solidFill>
                          <a:latin typeface="Calibri"/>
                        </a:rPr>
                        <a:t>apuração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Taxas de performance,</a:t>
                      </a:r>
                    </a:p>
                    <a:p>
                      <a:pPr algn="l">
                        <a:lnSpc>
                          <a:spcPct val="100000"/>
                        </a:lnSpc>
                        <a:spcBef>
                          <a:spcPts val="0"/>
                        </a:spcBef>
                        <a:spcAft>
                          <a:spcPts val="0"/>
                        </a:spcAft>
                      </a:pPr>
                      <a:r>
                        <a:rPr sz="1300" b="0">
                          <a:solidFill>
                            <a:srgbClr val="1F1F1F"/>
                          </a:solidFill>
                          <a:latin typeface="Calibri"/>
                        </a:rPr>
                        <a:t>ingresso e saída não</a:t>
                      </a:r>
                    </a:p>
                    <a:p>
                      <a:pPr algn="l">
                        <a:lnSpc>
                          <a:spcPct val="100000"/>
                        </a:lnSpc>
                        <a:spcBef>
                          <a:spcPts val="0"/>
                        </a:spcBef>
                        <a:spcAft>
                          <a:spcPts val="0"/>
                        </a:spcAft>
                      </a:pPr>
                      <a:r>
                        <a:rPr sz="1300" b="0">
                          <a:solidFill>
                            <a:srgbClr val="1F1F1F"/>
                          </a:solidFill>
                          <a:latin typeface="Calibri"/>
                        </a:rPr>
                        <a:t>cobradas.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Sem taxas de</a:t>
                      </a:r>
                    </a:p>
                    <a:p>
                      <a:pPr algn="l">
                        <a:lnSpc>
                          <a:spcPct val="100000"/>
                        </a:lnSpc>
                        <a:spcBef>
                          <a:spcPts val="0"/>
                        </a:spcBef>
                        <a:spcAft>
                          <a:spcPts val="0"/>
                        </a:spcAft>
                      </a:pPr>
                      <a:r>
                        <a:rPr sz="1300" b="0">
                          <a:solidFill>
                            <a:srgbClr val="1F1F1F"/>
                          </a:solidFill>
                          <a:latin typeface="Calibri"/>
                        </a:rPr>
                        <a:t>performance, ingresso</a:t>
                      </a:r>
                    </a:p>
                    <a:p>
                      <a:pPr algn="l">
                        <a:lnSpc>
                          <a:spcPct val="100000"/>
                        </a:lnSpc>
                        <a:spcBef>
                          <a:spcPts val="0"/>
                        </a:spcBef>
                        <a:spcAft>
                          <a:spcPts val="0"/>
                        </a:spcAft>
                      </a:pPr>
                      <a:r>
                        <a:rPr sz="1300" b="0">
                          <a:solidFill>
                            <a:srgbClr val="1F1F1F"/>
                          </a:solidFill>
                          <a:latin typeface="Calibri"/>
                        </a:rPr>
                        <a:t>ou saída.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Taxa de performance não</a:t>
                      </a:r>
                    </a:p>
                    <a:p>
                      <a:pPr algn="l">
                        <a:lnSpc>
                          <a:spcPct val="100000"/>
                        </a:lnSpc>
                        <a:spcBef>
                          <a:spcPts val="0"/>
                        </a:spcBef>
                        <a:spcAft>
                          <a:spcPts val="0"/>
                        </a:spcAft>
                      </a:pPr>
                      <a:r>
                        <a:rPr sz="1300" b="0">
                          <a:solidFill>
                            <a:srgbClr val="1F1F1F"/>
                          </a:solidFill>
                          <a:latin typeface="Calibri"/>
                        </a:rPr>
                        <a:t>devida. Taxa de</a:t>
                      </a:r>
                    </a:p>
                    <a:p>
                      <a:pPr algn="l">
                        <a:lnSpc>
                          <a:spcPct val="100000"/>
                        </a:lnSpc>
                        <a:spcBef>
                          <a:spcPts val="0"/>
                        </a:spcBef>
                        <a:spcAft>
                          <a:spcPts val="0"/>
                        </a:spcAft>
                      </a:pPr>
                      <a:r>
                        <a:rPr sz="1300" b="0">
                          <a:solidFill>
                            <a:srgbClr val="1F1F1F"/>
                          </a:solidFill>
                          <a:latin typeface="Calibri"/>
                        </a:rPr>
                        <a:t>ingresso também não</a:t>
                      </a:r>
                    </a:p>
                    <a:p>
                      <a:pPr algn="l">
                        <a:lnSpc>
                          <a:spcPct val="100000"/>
                        </a:lnSpc>
                        <a:spcBef>
                          <a:spcPts val="0"/>
                        </a:spcBef>
                        <a:spcAft>
                          <a:spcPts val="0"/>
                        </a:spcAft>
                      </a:pPr>
                      <a:r>
                        <a:rPr sz="1300" b="0">
                          <a:solidFill>
                            <a:srgbClr val="1F1F1F"/>
                          </a:solidFill>
                          <a:latin typeface="Calibri"/>
                        </a:rPr>
                        <a:t>cobrada.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Sem taxas de</a:t>
                      </a:r>
                    </a:p>
                    <a:p>
                      <a:pPr algn="l">
                        <a:lnSpc>
                          <a:spcPct val="100000"/>
                        </a:lnSpc>
                        <a:spcBef>
                          <a:spcPts val="0"/>
                        </a:spcBef>
                        <a:spcAft>
                          <a:spcPts val="0"/>
                        </a:spcAft>
                      </a:pPr>
                      <a:r>
                        <a:rPr sz="1300" b="0">
                          <a:solidFill>
                            <a:srgbClr val="1F1F1F"/>
                          </a:solidFill>
                          <a:latin typeface="Calibri"/>
                        </a:rPr>
                        <a:t>performance, ingresso</a:t>
                      </a:r>
                    </a:p>
                    <a:p>
                      <a:pPr algn="l">
                        <a:lnSpc>
                          <a:spcPct val="100000"/>
                        </a:lnSpc>
                        <a:spcBef>
                          <a:spcPts val="0"/>
                        </a:spcBef>
                        <a:spcAft>
                          <a:spcPts val="0"/>
                        </a:spcAft>
                      </a:pPr>
                      <a:r>
                        <a:rPr sz="1300" b="0">
                          <a:solidFill>
                            <a:srgbClr val="1F1F1F"/>
                          </a:solidFill>
                          <a:latin typeface="Calibri"/>
                        </a:rPr>
                        <a:t>ou saída.</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89/160</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Emissões e custos</a:t>
            </a:r>
          </a:p>
        </p:txBody>
      </p:sp>
      <p:graphicFrame>
        <p:nvGraphicFramePr>
          <p:cNvPr id="3" name="Table 2"/>
          <p:cNvGraphicFramePr>
            <a:graphicFrameLocks noGrp="1"/>
          </p:cNvGraphicFramePr>
          <p:nvPr/>
        </p:nvGraphicFramePr>
        <p:xfrm>
          <a:off x="438912" y="932688"/>
          <a:ext cx="11313868" cy="2441447"/>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1970531">
                <a:tc>
                  <a:txBody>
                    <a:bodyPr wrap="square">
                      <a:noAutofit/>
                    </a:bodyPr>
                    <a:lstStyle/>
                    <a:p>
                      <a:pPr algn="l">
                        <a:lnSpc>
                          <a:spcPct val="100000"/>
                        </a:lnSpc>
                        <a:spcBef>
                          <a:spcPts val="0"/>
                        </a:spcBef>
                        <a:spcAft>
                          <a:spcPts val="0"/>
                        </a:spcAft>
                      </a:pPr>
                      <a:r>
                        <a:rPr sz="1300" b="1">
                          <a:solidFill>
                            <a:srgbClr val="1F1F1F"/>
                          </a:solidFill>
                          <a:latin typeface="Calibri"/>
                        </a:rPr>
                        <a:t>Custódia, escrituração e</a:t>
                      </a:r>
                    </a:p>
                    <a:p>
                      <a:pPr algn="l">
                        <a:lnSpc>
                          <a:spcPct val="100000"/>
                        </a:lnSpc>
                        <a:spcBef>
                          <a:spcPts val="0"/>
                        </a:spcBef>
                        <a:spcAft>
                          <a:spcPts val="0"/>
                        </a:spcAft>
                      </a:pPr>
                      <a:r>
                        <a:rPr sz="1300" b="1">
                          <a:solidFill>
                            <a:srgbClr val="1F1F1F"/>
                          </a:solidFill>
                          <a:latin typeface="Calibri"/>
                        </a:rPr>
                        <a:t>encargos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Taxa máxima de custódia</a:t>
                      </a:r>
                    </a:p>
                    <a:p>
                      <a:pPr algn="l">
                        <a:lnSpc>
                          <a:spcPct val="100000"/>
                        </a:lnSpc>
                        <a:spcBef>
                          <a:spcPts val="0"/>
                        </a:spcBef>
                        <a:spcAft>
                          <a:spcPts val="0"/>
                        </a:spcAft>
                      </a:pPr>
                      <a:r>
                        <a:rPr sz="1300" b="0">
                          <a:solidFill>
                            <a:srgbClr val="1F1F1F"/>
                          </a:solidFill>
                          <a:latin typeface="Calibri"/>
                        </a:rPr>
                        <a:t>de 0% a.a. Remuneração</a:t>
                      </a:r>
                    </a:p>
                    <a:p>
                      <a:pPr algn="l">
                        <a:lnSpc>
                          <a:spcPct val="100000"/>
                        </a:lnSpc>
                        <a:spcBef>
                          <a:spcPts val="0"/>
                        </a:spcBef>
                        <a:spcAft>
                          <a:spcPts val="0"/>
                        </a:spcAft>
                      </a:pPr>
                      <a:r>
                        <a:rPr sz="1300" b="0">
                          <a:solidFill>
                            <a:srgbClr val="1F1F1F"/>
                          </a:solidFill>
                          <a:latin typeface="Calibri"/>
                        </a:rPr>
                        <a:t>do agente de</a:t>
                      </a:r>
                    </a:p>
                    <a:p>
                      <a:pPr algn="l">
                        <a:lnSpc>
                          <a:spcPct val="100000"/>
                        </a:lnSpc>
                        <a:spcBef>
                          <a:spcPts val="0"/>
                        </a:spcBef>
                        <a:spcAft>
                          <a:spcPts val="0"/>
                        </a:spcAft>
                      </a:pPr>
                      <a:r>
                        <a:rPr sz="1300" b="0">
                          <a:solidFill>
                            <a:srgbClr val="1F1F1F"/>
                          </a:solidFill>
                          <a:latin typeface="Calibri"/>
                        </a:rPr>
                        <a:t>retenção/cobrança</a:t>
                      </a:r>
                    </a:p>
                    <a:p>
                      <a:pPr algn="l">
                        <a:lnSpc>
                          <a:spcPct val="100000"/>
                        </a:lnSpc>
                        <a:spcBef>
                          <a:spcPts val="0"/>
                        </a:spcBef>
                        <a:spcAft>
                          <a:spcPts val="0"/>
                        </a:spcAft>
                      </a:pPr>
                      <a:r>
                        <a:rPr sz="1300" b="0">
                          <a:solidFill>
                            <a:srgbClr val="1F1F1F"/>
                          </a:solidFill>
                          <a:latin typeface="Calibri"/>
                        </a:rPr>
                        <a:t>definida no respectivo</a:t>
                      </a:r>
                    </a:p>
                    <a:p>
                      <a:pPr algn="l">
                        <a:lnSpc>
                          <a:spcPct val="100000"/>
                        </a:lnSpc>
                        <a:spcBef>
                          <a:spcPts val="0"/>
                        </a:spcBef>
                        <a:spcAft>
                          <a:spcPts val="0"/>
                        </a:spcAft>
                      </a:pPr>
                      <a:r>
                        <a:rPr sz="1300" b="0">
                          <a:solidFill>
                            <a:srgbClr val="1F1F1F"/>
                          </a:solidFill>
                          <a:latin typeface="Calibri"/>
                        </a:rPr>
                        <a:t>contrato.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Custódia de 0% a.a.</a:t>
                      </a:r>
                    </a:p>
                    <a:p>
                      <a:pPr algn="l">
                        <a:lnSpc>
                          <a:spcPct val="100000"/>
                        </a:lnSpc>
                        <a:spcBef>
                          <a:spcPts val="0"/>
                        </a:spcBef>
                        <a:spcAft>
                          <a:spcPts val="0"/>
                        </a:spcAft>
                      </a:pPr>
                      <a:r>
                        <a:rPr sz="1300" b="0">
                          <a:solidFill>
                            <a:srgbClr val="1F1F1F"/>
                          </a:solidFill>
                          <a:latin typeface="Calibri"/>
                        </a:rPr>
                        <a:t>Retenção/cobrança é</a:t>
                      </a:r>
                    </a:p>
                    <a:p>
                      <a:pPr algn="l">
                        <a:lnSpc>
                          <a:spcPct val="100000"/>
                        </a:lnSpc>
                        <a:spcBef>
                          <a:spcPts val="0"/>
                        </a:spcBef>
                        <a:spcAft>
                          <a:spcPts val="0"/>
                        </a:spcAft>
                      </a:pPr>
                      <a:r>
                        <a:rPr sz="1300" b="0">
                          <a:solidFill>
                            <a:srgbClr val="1F1F1F"/>
                          </a:solidFill>
                          <a:latin typeface="Calibri"/>
                        </a:rPr>
                        <a:t>encargo adicional: RAC</a:t>
                      </a:r>
                    </a:p>
                    <a:p>
                      <a:pPr algn="l">
                        <a:lnSpc>
                          <a:spcPct val="100000"/>
                        </a:lnSpc>
                        <a:spcBef>
                          <a:spcPts val="0"/>
                        </a:spcBef>
                        <a:spcAft>
                          <a:spcPts val="0"/>
                        </a:spcAft>
                      </a:pPr>
                      <a:r>
                        <a:rPr sz="1300" b="0">
                          <a:solidFill>
                            <a:srgbClr val="1F1F1F"/>
                          </a:solidFill>
                          <a:latin typeface="Calibri"/>
                        </a:rPr>
                        <a:t>de 4% a.a. sobre</a:t>
                      </a:r>
                    </a:p>
                    <a:p>
                      <a:pPr algn="l">
                        <a:lnSpc>
                          <a:spcPct val="100000"/>
                        </a:lnSpc>
                        <a:spcBef>
                          <a:spcPts val="0"/>
                        </a:spcBef>
                        <a:spcAft>
                          <a:spcPts val="0"/>
                        </a:spcAft>
                      </a:pPr>
                      <a:r>
                        <a:rPr sz="1300" b="0">
                          <a:solidFill>
                            <a:srgbClr val="1F1F1F"/>
                          </a:solidFill>
                          <a:latin typeface="Calibri"/>
                        </a:rPr>
                        <a:t>fórmula própria da</a:t>
                      </a:r>
                    </a:p>
                    <a:p>
                      <a:pPr algn="l">
                        <a:lnSpc>
                          <a:spcPct val="100000"/>
                        </a:lnSpc>
                        <a:spcBef>
                          <a:spcPts val="0"/>
                        </a:spcBef>
                        <a:spcAft>
                          <a:spcPts val="0"/>
                        </a:spcAft>
                      </a:pPr>
                      <a:r>
                        <a:rPr sz="1300" b="0">
                          <a:solidFill>
                            <a:srgbClr val="1F1F1F"/>
                          </a:solidFill>
                          <a:latin typeface="Calibri"/>
                        </a:rPr>
                        <a:t>Carteira Elegível.</a:t>
                      </a:r>
                    </a:p>
                    <a:p>
                      <a:pPr algn="l">
                        <a:lnSpc>
                          <a:spcPct val="100000"/>
                        </a:lnSpc>
                        <a:spcBef>
                          <a:spcPts val="0"/>
                        </a:spcBef>
                        <a:spcAft>
                          <a:spcPts val="0"/>
                        </a:spcAft>
                      </a:pPr>
                      <a:r>
                        <a:rPr sz="1300" b="0">
                          <a:solidFill>
                            <a:srgbClr val="1F1F1F"/>
                          </a:solidFill>
                          <a:latin typeface="Calibri"/>
                        </a:rPr>
                        <a:t>Venda da carteira gera</a:t>
                      </a:r>
                    </a:p>
                    <a:p>
                      <a:pPr algn="l">
                        <a:lnSpc>
                          <a:spcPct val="100000"/>
                        </a:lnSpc>
                        <a:spcBef>
                          <a:spcPts val="0"/>
                        </a:spcBef>
                        <a:spcAft>
                          <a:spcPts val="0"/>
                        </a:spcAft>
                      </a:pPr>
                      <a:r>
                        <a:rPr sz="1300" b="0">
                          <a:solidFill>
                            <a:srgbClr val="1F1F1F"/>
                          </a:solidFill>
                          <a:latin typeface="Calibri"/>
                        </a:rPr>
                        <a:t>remuneração antecipada</a:t>
                      </a:r>
                    </a:p>
                    <a:p>
                      <a:pPr algn="l">
                        <a:lnSpc>
                          <a:spcPct val="100000"/>
                        </a:lnSpc>
                        <a:spcBef>
                          <a:spcPts val="0"/>
                        </a:spcBef>
                        <a:spcAft>
                          <a:spcPts val="0"/>
                        </a:spcAft>
                      </a:pPr>
                      <a:r>
                        <a:rPr sz="1300" b="0">
                          <a:solidFill>
                            <a:srgbClr val="1F1F1F"/>
                          </a:solidFill>
                          <a:latin typeface="Calibri"/>
                        </a:rPr>
                        <a:t>de RAC × preço × anos</a:t>
                      </a:r>
                    </a:p>
                    <a:p>
                      <a:pPr algn="l">
                        <a:lnSpc>
                          <a:spcPct val="100000"/>
                        </a:lnSpc>
                        <a:spcBef>
                          <a:spcPts val="0"/>
                        </a:spcBef>
                        <a:spcAft>
                          <a:spcPts val="0"/>
                        </a:spcAft>
                      </a:pPr>
                      <a:r>
                        <a:rPr sz="1300" b="0">
                          <a:solidFill>
                            <a:srgbClr val="1F1F1F"/>
                          </a:solidFill>
                          <a:latin typeface="Calibri"/>
                        </a:rPr>
                        <a:t>restantes.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Custódia máxima 0% a.a.</a:t>
                      </a:r>
                    </a:p>
                    <a:p>
                      <a:pPr algn="l">
                        <a:lnSpc>
                          <a:spcPct val="100000"/>
                        </a:lnSpc>
                        <a:spcBef>
                          <a:spcPts val="0"/>
                        </a:spcBef>
                        <a:spcAft>
                          <a:spcPts val="0"/>
                        </a:spcAft>
                      </a:pPr>
                      <a:r>
                        <a:rPr sz="1300" b="0">
                          <a:solidFill>
                            <a:srgbClr val="1F1F1F"/>
                          </a:solidFill>
                          <a:latin typeface="Calibri"/>
                        </a:rPr>
                        <a:t>sobre PL. Distribuição</a:t>
                      </a:r>
                    </a:p>
                    <a:p>
                      <a:pPr algn="l">
                        <a:lnSpc>
                          <a:spcPct val="100000"/>
                        </a:lnSpc>
                        <a:spcBef>
                          <a:spcPts val="0"/>
                        </a:spcBef>
                        <a:spcAft>
                          <a:spcPts val="0"/>
                        </a:spcAft>
                      </a:pPr>
                      <a:r>
                        <a:rPr sz="1300" b="0">
                          <a:solidFill>
                            <a:srgbClr val="1F1F1F"/>
                          </a:solidFill>
                          <a:latin typeface="Calibri"/>
                        </a:rPr>
                        <a:t>máxima 0, 9% a.a. sobre</a:t>
                      </a:r>
                    </a:p>
                    <a:p>
                      <a:pPr algn="l">
                        <a:lnSpc>
                          <a:spcPct val="100000"/>
                        </a:lnSpc>
                        <a:spcBef>
                          <a:spcPts val="0"/>
                        </a:spcBef>
                        <a:spcAft>
                          <a:spcPts val="0"/>
                        </a:spcAft>
                      </a:pPr>
                      <a:r>
                        <a:rPr sz="1300" b="0">
                          <a:solidFill>
                            <a:srgbClr val="1F1F1F"/>
                          </a:solidFill>
                          <a:latin typeface="Calibri"/>
                        </a:rPr>
                        <a:t>PL, limitada a 4, 5% do</a:t>
                      </a:r>
                    </a:p>
                    <a:p>
                      <a:pPr algn="l">
                        <a:lnSpc>
                          <a:spcPct val="100000"/>
                        </a:lnSpc>
                        <a:spcBef>
                          <a:spcPts val="0"/>
                        </a:spcBef>
                        <a:spcAft>
                          <a:spcPts val="0"/>
                        </a:spcAft>
                      </a:pPr>
                      <a:r>
                        <a:rPr sz="1300" b="0">
                          <a:solidFill>
                            <a:srgbClr val="1F1F1F"/>
                          </a:solidFill>
                          <a:latin typeface="Calibri"/>
                        </a:rPr>
                        <a:t>captado na oferta;</a:t>
                      </a:r>
                    </a:p>
                    <a:p>
                      <a:pPr algn="l">
                        <a:lnSpc>
                          <a:spcPct val="100000"/>
                        </a:lnSpc>
                        <a:spcBef>
                          <a:spcPts val="0"/>
                        </a:spcBef>
                        <a:spcAft>
                          <a:spcPts val="0"/>
                        </a:spcAft>
                      </a:pPr>
                      <a:r>
                        <a:rPr sz="1300" b="0">
                          <a:solidFill>
                            <a:srgbClr val="1F1F1F"/>
                          </a:solidFill>
                          <a:latin typeface="Calibri"/>
                        </a:rPr>
                        <a:t>provisionamento diário</a:t>
                      </a:r>
                    </a:p>
                    <a:p>
                      <a:pPr algn="l">
                        <a:lnSpc>
                          <a:spcPct val="100000"/>
                        </a:lnSpc>
                        <a:spcBef>
                          <a:spcPts val="0"/>
                        </a:spcBef>
                        <a:spcAft>
                          <a:spcPts val="0"/>
                        </a:spcAft>
                      </a:pPr>
                      <a:r>
                        <a:rPr sz="1300" b="0">
                          <a:solidFill>
                            <a:srgbClr val="1F1F1F"/>
                          </a:solidFill>
                          <a:latin typeface="Calibri"/>
                        </a:rPr>
                        <a:t>1/252 e pagamento até o</a:t>
                      </a:r>
                    </a:p>
                    <a:p>
                      <a:pPr algn="l">
                        <a:lnSpc>
                          <a:spcPct val="100000"/>
                        </a:lnSpc>
                        <a:spcBef>
                          <a:spcPts val="0"/>
                        </a:spcBef>
                        <a:spcAft>
                          <a:spcPts val="0"/>
                        </a:spcAft>
                      </a:pPr>
                      <a:r>
                        <a:rPr sz="1300" b="0">
                          <a:solidFill>
                            <a:srgbClr val="1F1F1F"/>
                          </a:solidFill>
                          <a:latin typeface="Calibri"/>
                        </a:rPr>
                        <a:t>10º dia útil do mês</a:t>
                      </a:r>
                    </a:p>
                    <a:p>
                      <a:pPr algn="l">
                        <a:lnSpc>
                          <a:spcPct val="100000"/>
                        </a:lnSpc>
                        <a:spcBef>
                          <a:spcPts val="0"/>
                        </a:spcBef>
                        <a:spcAft>
                          <a:spcPts val="0"/>
                        </a:spcAft>
                      </a:pPr>
                      <a:r>
                        <a:rPr sz="1300" b="0">
                          <a:solidFill>
                            <a:srgbClr val="1F1F1F"/>
                          </a:solidFill>
                          <a:latin typeface="Calibri"/>
                        </a:rPr>
                        <a:t>seguinte.</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Custódia de 0% a.a.</a:t>
                      </a:r>
                    </a:p>
                    <a:p>
                      <a:pPr algn="l">
                        <a:lnSpc>
                          <a:spcPct val="100000"/>
                        </a:lnSpc>
                        <a:spcBef>
                          <a:spcPts val="0"/>
                        </a:spcBef>
                        <a:spcAft>
                          <a:spcPts val="0"/>
                        </a:spcAft>
                      </a:pPr>
                      <a:r>
                        <a:rPr sz="1300" b="0">
                          <a:solidFill>
                            <a:srgbClr val="1F1F1F"/>
                          </a:solidFill>
                          <a:latin typeface="Calibri"/>
                        </a:rPr>
                        <a:t>Distribuição remunerada</a:t>
                      </a:r>
                    </a:p>
                    <a:p>
                      <a:pPr algn="l">
                        <a:lnSpc>
                          <a:spcPct val="100000"/>
                        </a:lnSpc>
                        <a:spcBef>
                          <a:spcPts val="0"/>
                        </a:spcBef>
                        <a:spcAft>
                          <a:spcPts val="0"/>
                        </a:spcAft>
                      </a:pPr>
                      <a:r>
                        <a:rPr sz="1300" b="0">
                          <a:solidFill>
                            <a:srgbClr val="1F1F1F"/>
                          </a:solidFill>
                          <a:latin typeface="Calibri"/>
                        </a:rPr>
                        <a:t>pontualmente nos</a:t>
                      </a:r>
                    </a:p>
                    <a:p>
                      <a:pPr algn="l">
                        <a:lnSpc>
                          <a:spcPct val="100000"/>
                        </a:lnSpc>
                        <a:spcBef>
                          <a:spcPts val="0"/>
                        </a:spcBef>
                        <a:spcAft>
                          <a:spcPts val="0"/>
                        </a:spcAft>
                      </a:pPr>
                      <a:r>
                        <a:rPr sz="1300" b="0">
                          <a:solidFill>
                            <a:srgbClr val="1F1F1F"/>
                          </a:solidFill>
                          <a:latin typeface="Calibri"/>
                        </a:rPr>
                        <a:t>documentos de cada</a:t>
                      </a:r>
                    </a:p>
                    <a:p>
                      <a:pPr algn="l">
                        <a:lnSpc>
                          <a:spcPct val="100000"/>
                        </a:lnSpc>
                        <a:spcBef>
                          <a:spcPts val="0"/>
                        </a:spcBef>
                        <a:spcAft>
                          <a:spcPts val="0"/>
                        </a:spcAft>
                      </a:pPr>
                      <a:r>
                        <a:rPr sz="1300" b="0">
                          <a:solidFill>
                            <a:srgbClr val="1F1F1F"/>
                          </a:solidFill>
                          <a:latin typeface="Calibri"/>
                        </a:rPr>
                        <a:t>oferta, sem taxa máxima</a:t>
                      </a:r>
                    </a:p>
                    <a:p>
                      <a:pPr algn="l">
                        <a:lnSpc>
                          <a:spcPct val="100000"/>
                        </a:lnSpc>
                        <a:spcBef>
                          <a:spcPts val="0"/>
                        </a:spcBef>
                        <a:spcAft>
                          <a:spcPts val="0"/>
                        </a:spcAft>
                      </a:pPr>
                      <a:r>
                        <a:rPr sz="1300" b="0">
                          <a:solidFill>
                            <a:srgbClr val="1F1F1F"/>
                          </a:solidFill>
                          <a:latin typeface="Calibri"/>
                        </a:rPr>
                        <a:t>contínua comum.</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90/160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Emissões e custos</a:t>
            </a:r>
          </a:p>
        </p:txBody>
      </p:sp>
      <p:graphicFrame>
        <p:nvGraphicFramePr>
          <p:cNvPr id="3" name="Table 2"/>
          <p:cNvGraphicFramePr>
            <a:graphicFrameLocks noGrp="1"/>
          </p:cNvGraphicFramePr>
          <p:nvPr/>
        </p:nvGraphicFramePr>
        <p:xfrm>
          <a:off x="438912" y="932688"/>
          <a:ext cx="11313868" cy="5253228"/>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4782312">
                <a:tc>
                  <a:txBody>
                    <a:bodyPr wrap="square">
                      <a:noAutofit/>
                    </a:bodyPr>
                    <a:lstStyle/>
                    <a:p>
                      <a:pPr algn="l">
                        <a:lnSpc>
                          <a:spcPct val="100000"/>
                        </a:lnSpc>
                        <a:spcBef>
                          <a:spcPts val="0"/>
                        </a:spcBef>
                        <a:spcAft>
                          <a:spcPts val="0"/>
                        </a:spcAft>
                      </a:pPr>
                      <a:r>
                        <a:rPr sz="1300" b="1">
                          <a:solidFill>
                            <a:srgbClr val="1F1F1F"/>
                          </a:solidFill>
                          <a:latin typeface="Calibri"/>
                        </a:rPr>
                        <a:t>Classes e séries de</a:t>
                      </a:r>
                    </a:p>
                    <a:p>
                      <a:pPr algn="l">
                        <a:lnSpc>
                          <a:spcPct val="100000"/>
                        </a:lnSpc>
                        <a:spcBef>
                          <a:spcPts val="0"/>
                        </a:spcBef>
                        <a:spcAft>
                          <a:spcPts val="0"/>
                        </a:spcAft>
                      </a:pPr>
                      <a:r>
                        <a:rPr sz="1300" b="1">
                          <a:solidFill>
                            <a:srgbClr val="1F1F1F"/>
                          </a:solidFill>
                          <a:latin typeface="Calibri"/>
                        </a:rPr>
                        <a:t>cotas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Durante o período de</a:t>
                      </a:r>
                    </a:p>
                    <a:p>
                      <a:pPr algn="l">
                        <a:lnSpc>
                          <a:spcPct val="100000"/>
                        </a:lnSpc>
                        <a:spcBef>
                          <a:spcPts val="0"/>
                        </a:spcBef>
                        <a:spcAft>
                          <a:spcPts val="0"/>
                        </a:spcAft>
                      </a:pPr>
                      <a:r>
                        <a:rPr sz="1300" b="0">
                          <a:solidFill>
                            <a:srgbClr val="1F1F1F"/>
                          </a:solidFill>
                          <a:latin typeface="Calibri"/>
                        </a:rPr>
                        <a:t>investimento, a</a:t>
                      </a:r>
                    </a:p>
                    <a:p>
                      <a:pPr algn="l">
                        <a:lnSpc>
                          <a:spcPct val="100000"/>
                        </a:lnSpc>
                        <a:spcBef>
                          <a:spcPts val="0"/>
                        </a:spcBef>
                        <a:spcAft>
                          <a:spcPts val="0"/>
                        </a:spcAft>
                      </a:pPr>
                      <a:r>
                        <a:rPr sz="1300" b="0">
                          <a:solidFill>
                            <a:srgbClr val="1F1F1F"/>
                          </a:solidFill>
                          <a:latin typeface="Calibri"/>
                        </a:rPr>
                        <a:t>Administradora poderá</a:t>
                      </a:r>
                    </a:p>
                    <a:p>
                      <a:pPr algn="l">
                        <a:lnSpc>
                          <a:spcPct val="100000"/>
                        </a:lnSpc>
                        <a:spcBef>
                          <a:spcPts val="0"/>
                        </a:spcBef>
                        <a:spcAft>
                          <a:spcPts val="0"/>
                        </a:spcAft>
                      </a:pPr>
                      <a:r>
                        <a:rPr sz="1300" b="0">
                          <a:solidFill>
                            <a:srgbClr val="1F1F1F"/>
                          </a:solidFill>
                          <a:latin typeface="Calibri"/>
                        </a:rPr>
                        <a:t>deliberar por realizar</a:t>
                      </a:r>
                    </a:p>
                    <a:p>
                      <a:pPr algn="l">
                        <a:lnSpc>
                          <a:spcPct val="100000"/>
                        </a:lnSpc>
                        <a:spcBef>
                          <a:spcPts val="0"/>
                        </a:spcBef>
                        <a:spcAft>
                          <a:spcPts val="0"/>
                        </a:spcAft>
                      </a:pPr>
                      <a:r>
                        <a:rPr sz="1300" b="0">
                          <a:solidFill>
                            <a:srgbClr val="1F1F1F"/>
                          </a:solidFill>
                          <a:latin typeface="Calibri"/>
                        </a:rPr>
                        <a:t>novas emissões de cotas</a:t>
                      </a:r>
                    </a:p>
                    <a:p>
                      <a:pPr algn="l">
                        <a:lnSpc>
                          <a:spcPct val="100000"/>
                        </a:lnSpc>
                        <a:spcBef>
                          <a:spcPts val="0"/>
                        </a:spcBef>
                        <a:spcAft>
                          <a:spcPts val="0"/>
                        </a:spcAft>
                      </a:pPr>
                      <a:r>
                        <a:rPr sz="1300" b="0">
                          <a:solidFill>
                            <a:srgbClr val="1F1F1F"/>
                          </a:solidFill>
                          <a:latin typeface="Calibri"/>
                        </a:rPr>
                        <a:t>subordinadas, sem a</a:t>
                      </a:r>
                    </a:p>
                    <a:p>
                      <a:pPr algn="l">
                        <a:lnSpc>
                          <a:spcPct val="100000"/>
                        </a:lnSpc>
                        <a:spcBef>
                          <a:spcPts val="0"/>
                        </a:spcBef>
                        <a:spcAft>
                          <a:spcPts val="0"/>
                        </a:spcAft>
                      </a:pPr>
                      <a:r>
                        <a:rPr sz="1300" b="0">
                          <a:solidFill>
                            <a:srgbClr val="1F1F1F"/>
                          </a:solidFill>
                          <a:latin typeface="Calibri"/>
                        </a:rPr>
                        <a:t>necessidade de</a:t>
                      </a:r>
                    </a:p>
                    <a:p>
                      <a:pPr algn="l">
                        <a:lnSpc>
                          <a:spcPct val="100000"/>
                        </a:lnSpc>
                        <a:spcBef>
                          <a:spcPts val="0"/>
                        </a:spcBef>
                        <a:spcAft>
                          <a:spcPts val="0"/>
                        </a:spcAft>
                      </a:pPr>
                      <a:r>
                        <a:rPr sz="1300" b="0">
                          <a:solidFill>
                            <a:srgbClr val="1F1F1F"/>
                          </a:solidFill>
                          <a:latin typeface="Calibri"/>
                        </a:rPr>
                        <a:t>aprovação em Assembleia</a:t>
                      </a:r>
                    </a:p>
                    <a:p>
                      <a:pPr algn="l">
                        <a:lnSpc>
                          <a:spcPct val="100000"/>
                        </a:lnSpc>
                        <a:spcBef>
                          <a:spcPts val="0"/>
                        </a:spcBef>
                        <a:spcAft>
                          <a:spcPts val="0"/>
                        </a:spcAft>
                      </a:pPr>
                      <a:r>
                        <a:rPr sz="1300" b="0">
                          <a:solidFill>
                            <a:srgbClr val="1F1F1F"/>
                          </a:solidFill>
                          <a:latin typeface="Calibri"/>
                        </a:rPr>
                        <a:t>Especial de Cotistas ou</a:t>
                      </a:r>
                    </a:p>
                    <a:p>
                      <a:pPr algn="l">
                        <a:lnSpc>
                          <a:spcPct val="100000"/>
                        </a:lnSpc>
                        <a:spcBef>
                          <a:spcPts val="0"/>
                        </a:spcBef>
                        <a:spcAft>
                          <a:spcPts val="0"/>
                        </a:spcAft>
                      </a:pPr>
                      <a:r>
                        <a:rPr sz="1300" b="0">
                          <a:solidFill>
                            <a:srgbClr val="1F1F1F"/>
                          </a:solidFill>
                          <a:latin typeface="Calibri"/>
                        </a:rPr>
                        <a:t>alteração do</a:t>
                      </a:r>
                    </a:p>
                    <a:p>
                      <a:pPr algn="l">
                        <a:lnSpc>
                          <a:spcPct val="100000"/>
                        </a:lnSpc>
                        <a:spcBef>
                          <a:spcPts val="0"/>
                        </a:spcBef>
                        <a:spcAft>
                          <a:spcPts val="0"/>
                        </a:spcAft>
                      </a:pPr>
                      <a:r>
                        <a:rPr sz="1300" b="0">
                          <a:solidFill>
                            <a:srgbClr val="1F1F1F"/>
                          </a:solidFill>
                          <a:latin typeface="Calibri"/>
                        </a:rPr>
                        <a:t>Regulamento, limitadas</a:t>
                      </a:r>
                    </a:p>
                    <a:p>
                      <a:pPr algn="l">
                        <a:lnSpc>
                          <a:spcPct val="100000"/>
                        </a:lnSpc>
                        <a:spcBef>
                          <a:spcPts val="0"/>
                        </a:spcBef>
                        <a:spcAft>
                          <a:spcPts val="0"/>
                        </a:spcAft>
                      </a:pPr>
                      <a:r>
                        <a:rPr sz="1300" b="0">
                          <a:solidFill>
                            <a:srgbClr val="1F1F1F"/>
                          </a:solidFill>
                          <a:latin typeface="Calibri"/>
                        </a:rPr>
                        <a:t>ao montante máximo de</a:t>
                      </a:r>
                    </a:p>
                    <a:p>
                      <a:pPr algn="l">
                        <a:lnSpc>
                          <a:spcPct val="100000"/>
                        </a:lnSpc>
                        <a:spcBef>
                          <a:spcPts val="0"/>
                        </a:spcBef>
                        <a:spcAft>
                          <a:spcPts val="0"/>
                        </a:spcAft>
                      </a:pPr>
                      <a:r>
                        <a:rPr sz="1300" b="0">
                          <a:solidFill>
                            <a:srgbClr val="1F1F1F"/>
                          </a:solidFill>
                          <a:latin typeface="Calibri"/>
                        </a:rPr>
                        <a:t>R$ 50.000 (cinquenta</a:t>
                      </a:r>
                    </a:p>
                    <a:p>
                      <a:pPr algn="l">
                        <a:lnSpc>
                          <a:spcPct val="100000"/>
                        </a:lnSpc>
                        <a:spcBef>
                          <a:spcPts val="0"/>
                        </a:spcBef>
                        <a:spcAft>
                          <a:spcPts val="0"/>
                        </a:spcAft>
                      </a:pPr>
                      <a:r>
                        <a:rPr sz="1300" b="0">
                          <a:solidFill>
                            <a:srgbClr val="1F1F1F"/>
                          </a:solidFill>
                          <a:latin typeface="Calibri"/>
                        </a:rPr>
                        <a:t>milhões de reais) de</a:t>
                      </a:r>
                    </a:p>
                    <a:p>
                      <a:pPr algn="l">
                        <a:lnSpc>
                          <a:spcPct val="100000"/>
                        </a:lnSpc>
                        <a:spcBef>
                          <a:spcPts val="0"/>
                        </a:spcBef>
                        <a:spcAft>
                          <a:spcPts val="0"/>
                        </a:spcAft>
                      </a:pPr>
                      <a:r>
                        <a:rPr sz="1300" b="0">
                          <a:solidFill>
                            <a:srgbClr val="1F1F1F"/>
                          </a:solidFill>
                          <a:latin typeface="Calibri"/>
                        </a:rPr>
                        <a:t>cotas seniores, e o</a:t>
                      </a:r>
                    </a:p>
                    <a:p>
                      <a:pPr algn="l">
                        <a:lnSpc>
                          <a:spcPct val="100000"/>
                        </a:lnSpc>
                        <a:spcBef>
                          <a:spcPts val="0"/>
                        </a:spcBef>
                        <a:spcAft>
                          <a:spcPts val="0"/>
                        </a:spcAft>
                      </a:pPr>
                      <a:r>
                        <a:rPr sz="1300" b="0">
                          <a:solidFill>
                            <a:srgbClr val="1F1F1F"/>
                          </a:solidFill>
                          <a:latin typeface="Calibri"/>
                        </a:rPr>
                        <a:t>montante proporcional</a:t>
                      </a:r>
                    </a:p>
                    <a:p>
                      <a:pPr algn="l">
                        <a:lnSpc>
                          <a:spcPct val="100000"/>
                        </a:lnSpc>
                        <a:spcBef>
                          <a:spcPts val="0"/>
                        </a:spcBef>
                        <a:spcAft>
                          <a:spcPts val="0"/>
                        </a:spcAft>
                      </a:pPr>
                      <a:r>
                        <a:rPr sz="1300" b="0">
                          <a:solidFill>
                            <a:srgbClr val="1F1F1F"/>
                          </a:solidFill>
                          <a:latin typeface="Calibri"/>
                        </a:rPr>
                        <a:t>para as demais Cotas</a:t>
                      </a:r>
                    </a:p>
                    <a:p>
                      <a:pPr algn="l">
                        <a:lnSpc>
                          <a:spcPct val="100000"/>
                        </a:lnSpc>
                        <a:spcBef>
                          <a:spcPts val="0"/>
                        </a:spcBef>
                        <a:spcAft>
                          <a:spcPts val="0"/>
                        </a:spcAft>
                      </a:pPr>
                      <a:r>
                        <a:rPr sz="1300" b="0">
                          <a:solidFill>
                            <a:srgbClr val="1F1F1F"/>
                          </a:solidFill>
                          <a:latin typeface="Calibri"/>
                        </a:rPr>
                        <a:t>(“Capital Autorizado”),</a:t>
                      </a:r>
                    </a:p>
                    <a:p>
                      <a:pPr algn="l">
                        <a:lnSpc>
                          <a:spcPct val="100000"/>
                        </a:lnSpc>
                        <a:spcBef>
                          <a:spcPts val="0"/>
                        </a:spcBef>
                        <a:spcAft>
                          <a:spcPts val="0"/>
                        </a:spcAft>
                      </a:pPr>
                      <a:r>
                        <a:rPr sz="1300" b="0">
                          <a:solidFill>
                            <a:srgbClr val="1F1F1F"/>
                          </a:solidFill>
                          <a:latin typeface="Calibri"/>
                        </a:rPr>
                        <a:t>desde que: (a) não</a:t>
                      </a:r>
                    </a:p>
                    <a:p>
                      <a:pPr algn="l">
                        <a:lnSpc>
                          <a:spcPct val="100000"/>
                        </a:lnSpc>
                        <a:spcBef>
                          <a:spcPts val="0"/>
                        </a:spcBef>
                        <a:spcAft>
                          <a:spcPts val="0"/>
                        </a:spcAft>
                      </a:pPr>
                      <a:r>
                        <a:rPr sz="1300" b="0">
                          <a:solidFill>
                            <a:srgbClr val="1F1F1F"/>
                          </a:solidFill>
                          <a:latin typeface="Calibri"/>
                        </a:rPr>
                        <a:t>esteja em curso um</a:t>
                      </a:r>
                    </a:p>
                    <a:p>
                      <a:pPr algn="l">
                        <a:lnSpc>
                          <a:spcPct val="100000"/>
                        </a:lnSpc>
                        <a:spcBef>
                          <a:spcPts val="0"/>
                        </a:spcBef>
                        <a:spcAft>
                          <a:spcPts val="0"/>
                        </a:spcAft>
                      </a:pPr>
                      <a:r>
                        <a:rPr sz="1300" b="0">
                          <a:solidFill>
                            <a:srgbClr val="1F1F1F"/>
                          </a:solidFill>
                          <a:latin typeface="Calibri"/>
                        </a:rPr>
                        <a:t>evento de avaliação</a:t>
                      </a:r>
                    </a:p>
                    <a:p>
                      <a:pPr algn="l">
                        <a:lnSpc>
                          <a:spcPct val="100000"/>
                        </a:lnSpc>
                        <a:spcBef>
                          <a:spcPts val="0"/>
                        </a:spcBef>
                        <a:spcAft>
                          <a:spcPts val="0"/>
                        </a:spcAft>
                      </a:pPr>
                      <a:r>
                        <a:rPr sz="1300" b="0">
                          <a:solidFill>
                            <a:srgbClr val="1F1F1F"/>
                          </a:solidFill>
                          <a:latin typeface="Calibri"/>
                        </a:rPr>
                        <a:t>e/ou evento de</a:t>
                      </a:r>
                    </a:p>
                    <a:p>
                      <a:pPr algn="l">
                        <a:lnSpc>
                          <a:spcPct val="100000"/>
                        </a:lnSpc>
                        <a:spcBef>
                          <a:spcPts val="0"/>
                        </a:spcBef>
                        <a:spcAft>
                          <a:spcPts val="0"/>
                        </a:spcAft>
                      </a:pPr>
                      <a:r>
                        <a:rPr sz="1300" b="0">
                          <a:solidFill>
                            <a:srgbClr val="1F1F1F"/>
                          </a:solidFill>
                          <a:latin typeface="Calibri"/>
                        </a:rPr>
                        <a:t>liquidação; (b) a</a:t>
                      </a:r>
                    </a:p>
                    <a:p>
                      <a:pPr algn="l">
                        <a:lnSpc>
                          <a:spcPct val="100000"/>
                        </a:lnSpc>
                        <a:spcBef>
                          <a:spcPts val="0"/>
                        </a:spcBef>
                        <a:spcAft>
                          <a:spcPts val="0"/>
                        </a:spcAft>
                      </a:pPr>
                      <a:r>
                        <a:rPr sz="1300" b="0">
                          <a:solidFill>
                            <a:srgbClr val="1F1F1F"/>
                          </a:solidFill>
                          <a:latin typeface="Calibri"/>
                        </a:rPr>
                        <a:t>emissão pretendida não</a:t>
                      </a:r>
                    </a:p>
                    <a:p>
                      <a:pPr algn="l">
                        <a:lnSpc>
                          <a:spcPct val="100000"/>
                        </a:lnSpc>
                        <a:spcBef>
                          <a:spcPts val="0"/>
                        </a:spcBef>
                        <a:spcAft>
                          <a:spcPts val="0"/>
                        </a:spcAft>
                      </a:pPr>
                      <a:r>
                        <a:rPr sz="1300" b="0">
                          <a:solidFill>
                            <a:srgbClr val="1F1F1F"/>
                          </a:solidFill>
                          <a:latin typeface="Calibri"/>
                        </a:rPr>
                        <a:t>acarrete 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20.000 (vinte mil)</a:t>
                      </a:r>
                    </a:p>
                    <a:p>
                      <a:pPr algn="l">
                        <a:lnSpc>
                          <a:spcPct val="100000"/>
                        </a:lnSpc>
                        <a:spcBef>
                          <a:spcPts val="0"/>
                        </a:spcBef>
                        <a:spcAft>
                          <a:spcPts val="0"/>
                        </a:spcAft>
                      </a:pPr>
                      <a:r>
                        <a:rPr sz="1300" b="0">
                          <a:solidFill>
                            <a:srgbClr val="1F1F1F"/>
                          </a:solidFill>
                          <a:latin typeface="Calibri"/>
                        </a:rPr>
                        <a:t>Cotas Subordinadas</a:t>
                      </a:r>
                    </a:p>
                    <a:p>
                      <a:pPr algn="l">
                        <a:lnSpc>
                          <a:spcPct val="100000"/>
                        </a:lnSpc>
                        <a:spcBef>
                          <a:spcPts val="0"/>
                        </a:spcBef>
                        <a:spcAft>
                          <a:spcPts val="0"/>
                        </a:spcAft>
                      </a:pPr>
                      <a:r>
                        <a:rPr sz="1300" b="0">
                          <a:solidFill>
                            <a:srgbClr val="1F1F1F"/>
                          </a:solidFill>
                          <a:latin typeface="Calibri"/>
                        </a:rPr>
                        <a:t>Júnior, com valor</a:t>
                      </a:r>
                    </a:p>
                    <a:p>
                      <a:pPr algn="l">
                        <a:lnSpc>
                          <a:spcPct val="100000"/>
                        </a:lnSpc>
                        <a:spcBef>
                          <a:spcPts val="0"/>
                        </a:spcBef>
                        <a:spcAft>
                          <a:spcPts val="0"/>
                        </a:spcAft>
                      </a:pPr>
                      <a:r>
                        <a:rPr sz="1300" b="0">
                          <a:solidFill>
                            <a:srgbClr val="1F1F1F"/>
                          </a:solidFill>
                          <a:latin typeface="Calibri"/>
                        </a:rPr>
                        <a:t>nominal unitário de R$</a:t>
                      </a:r>
                    </a:p>
                    <a:p>
                      <a:pPr algn="l">
                        <a:lnSpc>
                          <a:spcPct val="100000"/>
                        </a:lnSpc>
                        <a:spcBef>
                          <a:spcPts val="0"/>
                        </a:spcBef>
                        <a:spcAft>
                          <a:spcPts val="0"/>
                        </a:spcAft>
                      </a:pPr>
                      <a:r>
                        <a:rPr sz="1300" b="0">
                          <a:solidFill>
                            <a:srgbClr val="1F1F1F"/>
                          </a:solidFill>
                          <a:latin typeface="Calibri"/>
                        </a:rPr>
                        <a:t>1.000,00 (mil reais),</a:t>
                      </a:r>
                    </a:p>
                    <a:p>
                      <a:pPr algn="l">
                        <a:lnSpc>
                          <a:spcPct val="100000"/>
                        </a:lnSpc>
                        <a:spcBef>
                          <a:spcPts val="0"/>
                        </a:spcBef>
                        <a:spcAft>
                          <a:spcPts val="0"/>
                        </a:spcAft>
                      </a:pPr>
                      <a:r>
                        <a:rPr sz="1300" b="0">
                          <a:solidFill>
                            <a:srgbClr val="1F1F1F"/>
                          </a:solidFill>
                          <a:latin typeface="Calibri"/>
                        </a:rPr>
                        <a:t>perfazendo o montante</a:t>
                      </a:r>
                    </a:p>
                    <a:p>
                      <a:pPr algn="l">
                        <a:lnSpc>
                          <a:spcPct val="100000"/>
                        </a:lnSpc>
                        <a:spcBef>
                          <a:spcPts val="0"/>
                        </a:spcBef>
                        <a:spcAft>
                          <a:spcPts val="0"/>
                        </a:spcAft>
                      </a:pPr>
                      <a:r>
                        <a:rPr sz="1300" b="0">
                          <a:solidFill>
                            <a:srgbClr val="1F1F1F"/>
                          </a:solidFill>
                          <a:latin typeface="Calibri"/>
                        </a:rPr>
                        <a:t>total de R$</a:t>
                      </a:r>
                    </a:p>
                    <a:p>
                      <a:pPr algn="l">
                        <a:lnSpc>
                          <a:spcPct val="100000"/>
                        </a:lnSpc>
                        <a:spcBef>
                          <a:spcPts val="0"/>
                        </a:spcBef>
                        <a:spcAft>
                          <a:spcPts val="0"/>
                        </a:spcAft>
                      </a:pPr>
                      <a:r>
                        <a:rPr sz="1300" b="0">
                          <a:solidFill>
                            <a:srgbClr val="1F1F1F"/>
                          </a:solidFill>
                          <a:latin typeface="Calibri"/>
                        </a:rPr>
                        <a:t>20.000.000,00 (vinte</a:t>
                      </a:r>
                    </a:p>
                    <a:p>
                      <a:pPr algn="l">
                        <a:lnSpc>
                          <a:spcPct val="100000"/>
                        </a:lnSpc>
                        <a:spcBef>
                          <a:spcPts val="0"/>
                        </a:spcBef>
                        <a:spcAft>
                          <a:spcPts val="0"/>
                        </a:spcAft>
                      </a:pPr>
                      <a:r>
                        <a:rPr sz="1300" b="0">
                          <a:solidFill>
                            <a:srgbClr val="1F1F1F"/>
                          </a:solidFill>
                          <a:latin typeface="Calibri"/>
                        </a:rPr>
                        <a:t>milhões de reais), as</a:t>
                      </a:r>
                    </a:p>
                    <a:p>
                      <a:pPr algn="l">
                        <a:lnSpc>
                          <a:spcPct val="100000"/>
                        </a:lnSpc>
                        <a:spcBef>
                          <a:spcPts val="0"/>
                        </a:spcBef>
                        <a:spcAft>
                          <a:spcPts val="0"/>
                        </a:spcAft>
                      </a:pPr>
                      <a:r>
                        <a:rPr sz="1300" b="0">
                          <a:solidFill>
                            <a:srgbClr val="1F1F1F"/>
                          </a:solidFill>
                          <a:latin typeface="Calibri"/>
                        </a:rPr>
                        <a:t>quais serão objeto de</a:t>
                      </a:r>
                    </a:p>
                    <a:p>
                      <a:pPr algn="l">
                        <a:lnSpc>
                          <a:spcPct val="100000"/>
                        </a:lnSpc>
                        <a:spcBef>
                          <a:spcPts val="0"/>
                        </a:spcBef>
                        <a:spcAft>
                          <a:spcPts val="0"/>
                        </a:spcAft>
                      </a:pPr>
                      <a:r>
                        <a:rPr sz="1300" b="0">
                          <a:solidFill>
                            <a:srgbClr val="1F1F1F"/>
                          </a:solidFill>
                          <a:latin typeface="Calibri"/>
                        </a:rPr>
                        <a:t>colocação privada, de</a:t>
                      </a:r>
                    </a:p>
                    <a:p>
                      <a:pPr algn="l">
                        <a:lnSpc>
                          <a:spcPct val="100000"/>
                        </a:lnSpc>
                        <a:spcBef>
                          <a:spcPts val="0"/>
                        </a:spcBef>
                        <a:spcAft>
                          <a:spcPts val="0"/>
                        </a:spcAft>
                      </a:pPr>
                      <a:r>
                        <a:rPr sz="1300" b="0">
                          <a:solidFill>
                            <a:srgbClr val="1F1F1F"/>
                          </a:solidFill>
                          <a:latin typeface="Calibri"/>
                        </a:rPr>
                        <a:t>acordo com os termos e</a:t>
                      </a:r>
                    </a:p>
                    <a:p>
                      <a:pPr algn="l">
                        <a:lnSpc>
                          <a:spcPct val="100000"/>
                        </a:lnSpc>
                        <a:spcBef>
                          <a:spcPts val="0"/>
                        </a:spcBef>
                        <a:spcAft>
                          <a:spcPts val="0"/>
                        </a:spcAft>
                      </a:pPr>
                      <a:r>
                        <a:rPr sz="1300" b="0">
                          <a:solidFill>
                            <a:srgbClr val="1F1F1F"/>
                          </a:solidFill>
                          <a:latin typeface="Calibri"/>
                        </a:rPr>
                        <a:t>condições definidos no</a:t>
                      </a:r>
                    </a:p>
                    <a:p>
                      <a:pPr algn="l">
                        <a:lnSpc>
                          <a:spcPct val="100000"/>
                        </a:lnSpc>
                        <a:spcBef>
                          <a:spcPts val="0"/>
                        </a:spcBef>
                        <a:spcAft>
                          <a:spcPts val="0"/>
                        </a:spcAft>
                      </a:pPr>
                      <a:r>
                        <a:rPr sz="1300" b="0">
                          <a:solidFill>
                            <a:srgbClr val="1F1F1F"/>
                          </a:solidFill>
                          <a:latin typeface="Calibri"/>
                        </a:rPr>
                        <a:t>Apêndice da Subclasse</a:t>
                      </a:r>
                    </a:p>
                    <a:p>
                      <a:pPr algn="l">
                        <a:lnSpc>
                          <a:spcPct val="100000"/>
                        </a:lnSpc>
                        <a:spcBef>
                          <a:spcPts val="0"/>
                        </a:spcBef>
                        <a:spcAft>
                          <a:spcPts val="0"/>
                        </a:spcAft>
                      </a:pPr>
                      <a:r>
                        <a:rPr sz="1300" b="0">
                          <a:solidFill>
                            <a:srgbClr val="1F1F1F"/>
                          </a:solidFill>
                          <a:latin typeface="Calibri"/>
                        </a:rPr>
                        <a:t>Subordinada Júnior</a:t>
                      </a:r>
                    </a:p>
                    <a:p>
                      <a:pPr algn="l">
                        <a:lnSpc>
                          <a:spcPct val="100000"/>
                        </a:lnSpc>
                        <a:spcBef>
                          <a:spcPts val="0"/>
                        </a:spcBef>
                        <a:spcAft>
                          <a:spcPts val="0"/>
                        </a:spcAft>
                      </a:pPr>
                      <a:r>
                        <a:rPr sz="1300" b="0">
                          <a:solidFill>
                            <a:srgbClr val="1F1F1F"/>
                          </a:solidFill>
                          <a:latin typeface="Calibri"/>
                        </a:rPr>
                        <a:t>constante do Anexo I</a:t>
                      </a:r>
                    </a:p>
                    <a:p>
                      <a:pPr algn="l">
                        <a:lnSpc>
                          <a:spcPct val="100000"/>
                        </a:lnSpc>
                        <a:spcBef>
                          <a:spcPts val="0"/>
                        </a:spcBef>
                        <a:spcAft>
                          <a:spcPts val="0"/>
                        </a:spcAft>
                      </a:pPr>
                      <a:r>
                        <a:rPr sz="1300" b="0">
                          <a:solidFill>
                            <a:srgbClr val="1F1F1F"/>
                          </a:solidFill>
                          <a:latin typeface="Calibri"/>
                        </a:rPr>
                        <a:t>Regulamento e descritas</a:t>
                      </a:r>
                    </a:p>
                    <a:p>
                      <a:pPr algn="l">
                        <a:lnSpc>
                          <a:spcPct val="100000"/>
                        </a:lnSpc>
                        <a:spcBef>
                          <a:spcPts val="0"/>
                        </a:spcBef>
                        <a:spcAft>
                          <a:spcPts val="0"/>
                        </a:spcAft>
                      </a:pPr>
                      <a:r>
                        <a:rPr sz="1300" b="0">
                          <a:solidFill>
                            <a:srgbClr val="1F1F1F"/>
                          </a:solidFill>
                          <a:latin typeface="Calibri"/>
                        </a:rPr>
                        <a:t>abaixo (“2ª Emissão da</a:t>
                      </a:r>
                    </a:p>
                    <a:p>
                      <a:pPr algn="l">
                        <a:lnSpc>
                          <a:spcPct val="100000"/>
                        </a:lnSpc>
                        <a:spcBef>
                          <a:spcPts val="0"/>
                        </a:spcBef>
                        <a:spcAft>
                          <a:spcPts val="0"/>
                        </a:spcAft>
                      </a:pPr>
                      <a:r>
                        <a:rPr sz="1300" b="0">
                          <a:solidFill>
                            <a:srgbClr val="1F1F1F"/>
                          </a:solidFill>
                          <a:latin typeface="Calibri"/>
                        </a:rPr>
                        <a:t>Subclasse Subordinada</a:t>
                      </a:r>
                    </a:p>
                    <a:p>
                      <a:pPr algn="l">
                        <a:lnSpc>
                          <a:spcPct val="100000"/>
                        </a:lnSpc>
                        <a:spcBef>
                          <a:spcPts val="0"/>
                        </a:spcBef>
                        <a:spcAft>
                          <a:spcPts val="0"/>
                        </a:spcAft>
                      </a:pPr>
                      <a:r>
                        <a:rPr sz="1300" b="0">
                          <a:solidFill>
                            <a:srgbClr val="1F1F1F"/>
                          </a:solidFill>
                          <a:latin typeface="Calibri"/>
                        </a:rPr>
                        <a:t>Júnior”):</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2. Aprovar a 2ª</a:t>
                      </a:r>
                    </a:p>
                    <a:p>
                      <a:pPr algn="l">
                        <a:lnSpc>
                          <a:spcPct val="100000"/>
                        </a:lnSpc>
                        <a:spcBef>
                          <a:spcPts val="0"/>
                        </a:spcBef>
                        <a:spcAft>
                          <a:spcPts val="0"/>
                        </a:spcAft>
                      </a:pPr>
                      <a:r>
                        <a:rPr sz="1300" b="0">
                          <a:solidFill>
                            <a:srgbClr val="1F1F1F"/>
                          </a:solidFill>
                          <a:latin typeface="Calibri"/>
                        </a:rPr>
                        <a:t>(segunda) emissão da</a:t>
                      </a:r>
                    </a:p>
                    <a:p>
                      <a:pPr algn="l">
                        <a:lnSpc>
                          <a:spcPct val="100000"/>
                        </a:lnSpc>
                        <a:spcBef>
                          <a:spcPts val="0"/>
                        </a:spcBef>
                        <a:spcAft>
                          <a:spcPts val="0"/>
                        </a:spcAft>
                      </a:pPr>
                      <a:r>
                        <a:rPr sz="1300" b="0">
                          <a:solidFill>
                            <a:srgbClr val="1F1F1F"/>
                          </a:solidFill>
                          <a:latin typeface="Calibri"/>
                        </a:rPr>
                        <a:t>Subclasse Sênior da</a:t>
                      </a:r>
                    </a:p>
                    <a:p>
                      <a:pPr algn="l">
                        <a:lnSpc>
                          <a:spcPct val="100000"/>
                        </a:lnSpc>
                        <a:spcBef>
                          <a:spcPts val="0"/>
                        </a:spcBef>
                        <a:spcAft>
                          <a:spcPts val="0"/>
                        </a:spcAft>
                      </a:pPr>
                      <a:r>
                        <a:rPr sz="1300" b="0">
                          <a:solidFill>
                            <a:srgbClr val="1F1F1F"/>
                          </a:solidFill>
                          <a:latin typeface="Calibri"/>
                        </a:rPr>
                        <a:t>Classe, composta por</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Tendo em vista a</a:t>
                      </a:r>
                    </a:p>
                    <a:p>
                      <a:pPr algn="l">
                        <a:lnSpc>
                          <a:spcPct val="100000"/>
                        </a:lnSpc>
                        <a:spcBef>
                          <a:spcPts val="0"/>
                        </a:spcBef>
                        <a:spcAft>
                          <a:spcPts val="0"/>
                        </a:spcAft>
                      </a:pPr>
                      <a:r>
                        <a:rPr sz="1300" b="0">
                          <a:solidFill>
                            <a:srgbClr val="1F1F1F"/>
                          </a:solidFill>
                          <a:latin typeface="Calibri"/>
                        </a:rPr>
                        <a:t>estrutura da Classe</a:t>
                      </a:r>
                    </a:p>
                    <a:p>
                      <a:pPr algn="l">
                        <a:lnSpc>
                          <a:spcPct val="100000"/>
                        </a:lnSpc>
                        <a:spcBef>
                          <a:spcPts val="0"/>
                        </a:spcBef>
                        <a:spcAft>
                          <a:spcPts val="0"/>
                        </a:spcAft>
                      </a:pPr>
                      <a:r>
                        <a:rPr sz="1300" b="0">
                          <a:solidFill>
                            <a:srgbClr val="1F1F1F"/>
                          </a:solidFill>
                          <a:latin typeface="Calibri"/>
                        </a:rPr>
                        <a:t>Investida – que emitiu</a:t>
                      </a:r>
                    </a:p>
                    <a:p>
                      <a:pPr algn="l">
                        <a:lnSpc>
                          <a:spcPct val="100000"/>
                        </a:lnSpc>
                        <a:spcBef>
                          <a:spcPts val="0"/>
                        </a:spcBef>
                        <a:spcAft>
                          <a:spcPts val="0"/>
                        </a:spcAft>
                      </a:pPr>
                      <a:r>
                        <a:rPr sz="1300" b="0">
                          <a:solidFill>
                            <a:srgbClr val="1F1F1F"/>
                          </a:solidFill>
                          <a:latin typeface="Calibri"/>
                        </a:rPr>
                        <a:t>cotas sêniores, cotas</a:t>
                      </a:r>
                    </a:p>
                    <a:p>
                      <a:pPr algn="l">
                        <a:lnSpc>
                          <a:spcPct val="100000"/>
                        </a:lnSpc>
                        <a:spcBef>
                          <a:spcPts val="0"/>
                        </a:spcBef>
                        <a:spcAft>
                          <a:spcPts val="0"/>
                        </a:spcAft>
                      </a:pPr>
                      <a:r>
                        <a:rPr sz="1300" b="0">
                          <a:solidFill>
                            <a:srgbClr val="1F1F1F"/>
                          </a:solidFill>
                          <a:latin typeface="Calibri"/>
                        </a:rPr>
                        <a:t>subordinadas mezanino e</a:t>
                      </a:r>
                    </a:p>
                    <a:p>
                      <a:pPr algn="l">
                        <a:lnSpc>
                          <a:spcPct val="100000"/>
                        </a:lnSpc>
                        <a:spcBef>
                          <a:spcPts val="0"/>
                        </a:spcBef>
                        <a:spcAft>
                          <a:spcPts val="0"/>
                        </a:spcAft>
                      </a:pPr>
                      <a:r>
                        <a:rPr sz="1300" b="0">
                          <a:solidFill>
                            <a:srgbClr val="1F1F1F"/>
                          </a:solidFill>
                          <a:latin typeface="Calibri"/>
                        </a:rPr>
                        <a:t>cotas subordinadas</a:t>
                      </a:r>
                    </a:p>
                    <a:p>
                      <a:pPr algn="l">
                        <a:lnSpc>
                          <a:spcPct val="100000"/>
                        </a:lnSpc>
                        <a:spcBef>
                          <a:spcPts val="0"/>
                        </a:spcBef>
                        <a:spcAft>
                          <a:spcPts val="0"/>
                        </a:spcAft>
                      </a:pPr>
                      <a:r>
                        <a:rPr sz="1300" b="0">
                          <a:solidFill>
                            <a:srgbClr val="1F1F1F"/>
                          </a:solidFill>
                          <a:latin typeface="Calibri"/>
                        </a:rPr>
                        <a:t>júnior – em situação</a:t>
                      </a:r>
                    </a:p>
                    <a:p>
                      <a:pPr algn="l">
                        <a:lnSpc>
                          <a:spcPct val="100000"/>
                        </a:lnSpc>
                        <a:spcBef>
                          <a:spcPts val="0"/>
                        </a:spcBef>
                        <a:spcAft>
                          <a:spcPts val="0"/>
                        </a:spcAft>
                      </a:pPr>
                      <a:r>
                        <a:rPr sz="1300" b="0">
                          <a:solidFill>
                            <a:srgbClr val="1F1F1F"/>
                          </a:solidFill>
                          <a:latin typeface="Calibri"/>
                        </a:rPr>
                        <a:t>ordinária os encargos</a:t>
                      </a:r>
                    </a:p>
                    <a:p>
                      <a:pPr algn="l">
                        <a:lnSpc>
                          <a:spcPct val="100000"/>
                        </a:lnSpc>
                        <a:spcBef>
                          <a:spcPts val="0"/>
                        </a:spcBef>
                        <a:spcAft>
                          <a:spcPts val="0"/>
                        </a:spcAft>
                      </a:pPr>
                      <a:r>
                        <a:rPr sz="1300" b="0">
                          <a:solidFill>
                            <a:srgbClr val="1F1F1F"/>
                          </a:solidFill>
                          <a:latin typeface="Calibri"/>
                        </a:rPr>
                        <a:t>da Classe Investida são</a:t>
                      </a:r>
                    </a:p>
                    <a:p>
                      <a:pPr algn="l">
                        <a:lnSpc>
                          <a:spcPct val="100000"/>
                        </a:lnSpc>
                        <a:spcBef>
                          <a:spcPts val="0"/>
                        </a:spcBef>
                        <a:spcAft>
                          <a:spcPts val="0"/>
                        </a:spcAft>
                      </a:pPr>
                      <a:r>
                        <a:rPr sz="1300" b="0">
                          <a:solidFill>
                            <a:srgbClr val="1F1F1F"/>
                          </a:solidFill>
                          <a:latin typeface="Calibri"/>
                        </a:rPr>
                        <a:t>arcados pelas cotas</a:t>
                      </a:r>
                    </a:p>
                    <a:p>
                      <a:pPr algn="l">
                        <a:lnSpc>
                          <a:spcPct val="100000"/>
                        </a:lnSpc>
                        <a:spcBef>
                          <a:spcPts val="0"/>
                        </a:spcBef>
                        <a:spcAft>
                          <a:spcPts val="0"/>
                        </a:spcAft>
                      </a:pPr>
                      <a:r>
                        <a:rPr sz="1300" b="0">
                          <a:solidFill>
                            <a:srgbClr val="1F1F1F"/>
                          </a:solidFill>
                          <a:latin typeface="Calibri"/>
                        </a:rPr>
                        <a:t>subordinadas júnior,</a:t>
                      </a:r>
                    </a:p>
                    <a:p>
                      <a:pPr algn="l">
                        <a:lnSpc>
                          <a:spcPct val="100000"/>
                        </a:lnSpc>
                        <a:spcBef>
                          <a:spcPts val="0"/>
                        </a:spcBef>
                        <a:spcAft>
                          <a:spcPts val="0"/>
                        </a:spcAft>
                      </a:pPr>
                      <a:r>
                        <a:rPr sz="1300" b="0">
                          <a:solidFill>
                            <a:srgbClr val="1F1F1F"/>
                          </a:solidFill>
                          <a:latin typeface="Calibri"/>
                        </a:rPr>
                        <a:t>que se subordinam às</a:t>
                      </a:r>
                    </a:p>
                    <a:p>
                      <a:pPr algn="l">
                        <a:lnSpc>
                          <a:spcPct val="100000"/>
                        </a:lnSpc>
                        <a:spcBef>
                          <a:spcPts val="0"/>
                        </a:spcBef>
                        <a:spcAft>
                          <a:spcPts val="0"/>
                        </a:spcAft>
                      </a:pPr>
                      <a:r>
                        <a:rPr sz="1300" b="0">
                          <a:solidFill>
                            <a:srgbClr val="1F1F1F"/>
                          </a:solidFill>
                          <a:latin typeface="Calibri"/>
                        </a:rPr>
                        <a:t>cotas subordinadas</a:t>
                      </a:r>
                    </a:p>
                    <a:p>
                      <a:pPr algn="l">
                        <a:lnSpc>
                          <a:spcPct val="100000"/>
                        </a:lnSpc>
                        <a:spcBef>
                          <a:spcPts val="0"/>
                        </a:spcBef>
                        <a:spcAft>
                          <a:spcPts val="0"/>
                        </a:spcAft>
                      </a:pPr>
                      <a:r>
                        <a:rPr sz="1300" b="0">
                          <a:solidFill>
                            <a:srgbClr val="1F1F1F"/>
                          </a:solidFill>
                          <a:latin typeface="Calibri"/>
                        </a:rPr>
                        <a:t>mezanino e às cotas</a:t>
                      </a:r>
                    </a:p>
                    <a:p>
                      <a:pPr algn="l">
                        <a:lnSpc>
                          <a:spcPct val="100000"/>
                        </a:lnSpc>
                        <a:spcBef>
                          <a:spcPts val="0"/>
                        </a:spcBef>
                        <a:spcAft>
                          <a:spcPts val="0"/>
                        </a:spcAft>
                      </a:pPr>
                      <a:r>
                        <a:rPr sz="1300" b="0">
                          <a:solidFill>
                            <a:srgbClr val="1F1F1F"/>
                          </a:solidFill>
                          <a:latin typeface="Calibri"/>
                        </a:rPr>
                        <a:t>sêniores para fins de</a:t>
                      </a:r>
                    </a:p>
                    <a:p>
                      <a:pPr algn="l">
                        <a:lnSpc>
                          <a:spcPct val="100000"/>
                        </a:lnSpc>
                        <a:spcBef>
                          <a:spcPts val="0"/>
                        </a:spcBef>
                        <a:spcAft>
                          <a:spcPts val="0"/>
                        </a:spcAft>
                      </a:pPr>
                      <a:r>
                        <a:rPr sz="1300" b="0">
                          <a:solidFill>
                            <a:srgbClr val="1F1F1F"/>
                          </a:solidFill>
                          <a:latin typeface="Calibri"/>
                        </a:rPr>
                        <a:t>amortização, resgate e</a:t>
                      </a:r>
                    </a:p>
                    <a:p>
                      <a:pPr algn="l">
                        <a:lnSpc>
                          <a:spcPct val="100000"/>
                        </a:lnSpc>
                        <a:spcBef>
                          <a:spcPts val="0"/>
                        </a:spcBef>
                        <a:spcAft>
                          <a:spcPts val="0"/>
                        </a:spcAft>
                      </a:pPr>
                      <a:r>
                        <a:rPr sz="1300" b="0">
                          <a:solidFill>
                            <a:srgbClr val="1F1F1F"/>
                          </a:solidFill>
                          <a:latin typeface="Calibri"/>
                        </a:rPr>
                        <a:t>distribuição de</a:t>
                      </a:r>
                    </a:p>
                    <a:p>
                      <a:pPr algn="l">
                        <a:lnSpc>
                          <a:spcPct val="100000"/>
                        </a:lnSpc>
                        <a:spcBef>
                          <a:spcPts val="0"/>
                        </a:spcBef>
                        <a:spcAft>
                          <a:spcPts val="0"/>
                        </a:spcAft>
                      </a:pPr>
                      <a:r>
                        <a:rPr sz="1300" b="0">
                          <a:solidFill>
                            <a:srgbClr val="1F1F1F"/>
                          </a:solidFill>
                          <a:latin typeface="Calibri"/>
                        </a:rPr>
                        <a:t>rendimentos, não</a:t>
                      </a:r>
                    </a:p>
                    <a:p>
                      <a:pPr algn="l">
                        <a:lnSpc>
                          <a:spcPct val="100000"/>
                        </a:lnSpc>
                        <a:spcBef>
                          <a:spcPts val="0"/>
                        </a:spcBef>
                        <a:spcAft>
                          <a:spcPts val="0"/>
                        </a:spcAft>
                      </a:pPr>
                      <a:r>
                        <a:rPr sz="1300" b="0">
                          <a:solidFill>
                            <a:srgbClr val="1F1F1F"/>
                          </a:solidFill>
                          <a:latin typeface="Calibri"/>
                        </a:rPr>
                        <a:t>impactando, portanto,</a:t>
                      </a:r>
                    </a:p>
                    <a:p>
                      <a:pPr algn="l">
                        <a:lnSpc>
                          <a:spcPct val="100000"/>
                        </a:lnSpc>
                        <a:spcBef>
                          <a:spcPts val="0"/>
                        </a:spcBef>
                        <a:spcAft>
                          <a:spcPts val="0"/>
                        </a:spcAft>
                      </a:pPr>
                      <a:r>
                        <a:rPr sz="1300" b="0">
                          <a:solidFill>
                            <a:srgbClr val="1F1F1F"/>
                          </a:solidFill>
                          <a:latin typeface="Calibri"/>
                        </a:rPr>
                        <a:t>as Cotas da Classe</a:t>
                      </a:r>
                    </a:p>
                    <a:p>
                      <a:pPr algn="l">
                        <a:lnSpc>
                          <a:spcPct val="100000"/>
                        </a:lnSpc>
                        <a:spcBef>
                          <a:spcPts val="0"/>
                        </a:spcBef>
                        <a:spcAft>
                          <a:spcPts val="0"/>
                        </a:spcAft>
                      </a:pPr>
                      <a:r>
                        <a:rPr sz="1300" b="0">
                          <a:solidFill>
                            <a:srgbClr val="1F1F1F"/>
                          </a:solidFill>
                          <a:latin typeface="Calibri"/>
                        </a:rPr>
                        <a:t>Investida.</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4.1. Aprovar a</a:t>
                      </a:r>
                    </a:p>
                    <a:p>
                      <a:pPr algn="l">
                        <a:lnSpc>
                          <a:spcPct val="100000"/>
                        </a:lnSpc>
                        <a:spcBef>
                          <a:spcPts val="0"/>
                        </a:spcBef>
                        <a:spcAft>
                          <a:spcPts val="0"/>
                        </a:spcAft>
                      </a:pPr>
                      <a:r>
                        <a:rPr sz="1300" b="0">
                          <a:solidFill>
                            <a:srgbClr val="1F1F1F"/>
                          </a:solidFill>
                          <a:latin typeface="Calibri"/>
                        </a:rPr>
                        <a:t>alteração do Anexo I da</a:t>
                      </a:r>
                    </a:p>
                    <a:p>
                      <a:pPr algn="l">
                        <a:lnSpc>
                          <a:spcPct val="100000"/>
                        </a:lnSpc>
                        <a:spcBef>
                          <a:spcPts val="0"/>
                        </a:spcBef>
                        <a:spcAft>
                          <a:spcPts val="0"/>
                        </a:spcAft>
                      </a:pPr>
                      <a:r>
                        <a:rPr sz="1300" b="0">
                          <a:solidFill>
                            <a:srgbClr val="1F1F1F"/>
                          </a:solidFill>
                          <a:latin typeface="Calibri"/>
                        </a:rPr>
                        <a:t>Classe Única para a</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91/160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Emissões e custos</a:t>
            </a:r>
          </a:p>
        </p:txBody>
      </p:sp>
      <p:graphicFrame>
        <p:nvGraphicFramePr>
          <p:cNvPr id="3" name="Table 2"/>
          <p:cNvGraphicFramePr>
            <a:graphicFrameLocks noGrp="1"/>
          </p:cNvGraphicFramePr>
          <p:nvPr/>
        </p:nvGraphicFramePr>
        <p:xfrm>
          <a:off x="438912" y="932688"/>
          <a:ext cx="11313868" cy="5253228"/>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4782312">
                <a:tc>
                  <a:txBody>
                    <a:bodyPr wrap="square">
                      <a:noAutofit/>
                    </a:bodyPr>
                    <a:lstStyle/>
                    <a:p>
                      <a:pPr algn="l">
                        <a:lnSpc>
                          <a:spcPct val="100000"/>
                        </a:lnSpc>
                        <a:spcBef>
                          <a:spcPts val="0"/>
                        </a:spcBef>
                        <a:spcAft>
                          <a:spcPts val="0"/>
                        </a:spcAft>
                      </a:pPr>
                      <a:r>
                        <a:rPr sz="1300" b="1">
                          <a:solidFill>
                            <a:srgbClr val="1F1F1F"/>
                          </a:solidFill>
                          <a:latin typeface="Calibri"/>
                        </a:rPr>
                        <a:t>Classes e séries de</a:t>
                      </a:r>
                    </a:p>
                    <a:p>
                      <a:pPr algn="l">
                        <a:lnSpc>
                          <a:spcPct val="100000"/>
                        </a:lnSpc>
                        <a:spcBef>
                          <a:spcPts val="0"/>
                        </a:spcBef>
                        <a:spcAft>
                          <a:spcPts val="0"/>
                        </a:spcAft>
                      </a:pPr>
                      <a:r>
                        <a:rPr sz="1300" b="1">
                          <a:solidFill>
                            <a:srgbClr val="1F1F1F"/>
                          </a:solidFill>
                          <a:latin typeface="Calibri"/>
                        </a:rPr>
                        <a:t>cotas (continuação)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desenquadramento do</a:t>
                      </a:r>
                    </a:p>
                    <a:p>
                      <a:pPr algn="l">
                        <a:lnSpc>
                          <a:spcPct val="100000"/>
                        </a:lnSpc>
                        <a:spcBef>
                          <a:spcPts val="0"/>
                        </a:spcBef>
                        <a:spcAft>
                          <a:spcPts val="0"/>
                        </a:spcAft>
                      </a:pPr>
                      <a:r>
                        <a:rPr sz="1300" b="0">
                          <a:solidFill>
                            <a:srgbClr val="1F1F1F"/>
                          </a:solidFill>
                          <a:latin typeface="Calibri"/>
                        </a:rPr>
                        <a:t>índice de</a:t>
                      </a:r>
                    </a:p>
                    <a:p>
                      <a:pPr algn="l">
                        <a:lnSpc>
                          <a:spcPct val="100000"/>
                        </a:lnSpc>
                        <a:spcBef>
                          <a:spcPts val="0"/>
                        </a:spcBef>
                        <a:spcAft>
                          <a:spcPts val="0"/>
                        </a:spcAft>
                      </a:pPr>
                      <a:r>
                        <a:rPr sz="1300" b="0">
                          <a:solidFill>
                            <a:srgbClr val="1F1F1F"/>
                          </a:solidFill>
                          <a:latin typeface="Calibri"/>
                        </a:rPr>
                        <a:t>subordinação;.</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01/12/2025 a Nota</a:t>
                      </a:r>
                    </a:p>
                    <a:p>
                      <a:pPr algn="l">
                        <a:lnSpc>
                          <a:spcPct val="100000"/>
                        </a:lnSpc>
                        <a:spcBef>
                          <a:spcPts val="0"/>
                        </a:spcBef>
                        <a:spcAft>
                          <a:spcPts val="0"/>
                        </a:spcAft>
                      </a:pPr>
                      <a:r>
                        <a:rPr sz="1300" b="0">
                          <a:solidFill>
                            <a:srgbClr val="1F1F1F"/>
                          </a:solidFill>
                          <a:latin typeface="Calibri"/>
                        </a:rPr>
                        <a:t>08/05/2026 Patrimônio</a:t>
                      </a:r>
                    </a:p>
                    <a:p>
                      <a:pPr algn="l">
                        <a:lnSpc>
                          <a:spcPct val="100000"/>
                        </a:lnSpc>
                        <a:spcBef>
                          <a:spcPts val="0"/>
                        </a:spcBef>
                        <a:spcAft>
                          <a:spcPts val="0"/>
                        </a:spcAft>
                      </a:pPr>
                      <a:r>
                        <a:rPr sz="1300" b="0">
                          <a:solidFill>
                            <a:srgbClr val="1F1F1F"/>
                          </a:solidFill>
                          <a:latin typeface="Calibri"/>
                        </a:rPr>
                        <a:t>líquido no início do</a:t>
                      </a:r>
                    </a:p>
                    <a:p>
                      <a:pPr algn="l">
                        <a:lnSpc>
                          <a:spcPct val="100000"/>
                        </a:lnSpc>
                        <a:spcBef>
                          <a:spcPts val="0"/>
                        </a:spcBef>
                        <a:spcAft>
                          <a:spcPts val="0"/>
                        </a:spcAft>
                      </a:pPr>
                      <a:r>
                        <a:rPr sz="1300" b="0">
                          <a:solidFill>
                            <a:srgbClr val="1F1F1F"/>
                          </a:solidFill>
                          <a:latin typeface="Calibri"/>
                        </a:rPr>
                        <a:t>período Total de</a:t>
                      </a:r>
                    </a:p>
                    <a:p>
                      <a:pPr algn="l">
                        <a:lnSpc>
                          <a:spcPct val="100000"/>
                        </a:lnSpc>
                        <a:spcBef>
                          <a:spcPts val="0"/>
                        </a:spcBef>
                        <a:spcAft>
                          <a:spcPts val="0"/>
                        </a:spcAft>
                      </a:pPr>
                      <a:r>
                        <a:rPr sz="1300" b="0">
                          <a:solidFill>
                            <a:srgbClr val="1F1F1F"/>
                          </a:solidFill>
                          <a:latin typeface="Calibri"/>
                        </a:rPr>
                        <a:t>493.487,7492 cotas</a:t>
                      </a:r>
                    </a:p>
                    <a:p>
                      <a:pPr algn="l">
                        <a:lnSpc>
                          <a:spcPct val="100000"/>
                        </a:lnSpc>
                        <a:spcBef>
                          <a:spcPts val="0"/>
                        </a:spcBef>
                        <a:spcAft>
                          <a:spcPts val="0"/>
                        </a:spcAft>
                      </a:pPr>
                      <a:r>
                        <a:rPr sz="1300" b="0">
                          <a:solidFill>
                            <a:srgbClr val="1F1F1F"/>
                          </a:solidFill>
                          <a:latin typeface="Calibri"/>
                        </a:rPr>
                        <a:t>sêniores a R$</a:t>
                      </a:r>
                    </a:p>
                    <a:p>
                      <a:pPr algn="l">
                        <a:lnSpc>
                          <a:spcPct val="100000"/>
                        </a:lnSpc>
                        <a:spcBef>
                          <a:spcPts val="0"/>
                        </a:spcBef>
                        <a:spcAft>
                          <a:spcPts val="0"/>
                        </a:spcAft>
                      </a:pPr>
                      <a:r>
                        <a:rPr sz="1300" b="0">
                          <a:solidFill>
                            <a:srgbClr val="1F1F1F"/>
                          </a:solidFill>
                          <a:latin typeface="Calibri"/>
                        </a:rPr>
                        <a:t>1.136,5211 560.859</a:t>
                      </a:r>
                    </a:p>
                    <a:p>
                      <a:pPr algn="l">
                        <a:lnSpc>
                          <a:spcPct val="100000"/>
                        </a:lnSpc>
                        <a:spcBef>
                          <a:spcPts val="0"/>
                        </a:spcBef>
                        <a:spcAft>
                          <a:spcPts val="0"/>
                        </a:spcAft>
                      </a:pPr>
                      <a:r>
                        <a:rPr sz="1300" b="0">
                          <a:solidFill>
                            <a:srgbClr val="1F1F1F"/>
                          </a:solidFill>
                          <a:latin typeface="Calibri"/>
                        </a:rPr>
                        <a:t>Total de 2.329.794,7852</a:t>
                      </a:r>
                    </a:p>
                    <a:p>
                      <a:pPr algn="l">
                        <a:lnSpc>
                          <a:spcPct val="100000"/>
                        </a:lnSpc>
                        <a:spcBef>
                          <a:spcPts val="0"/>
                        </a:spcBef>
                        <a:spcAft>
                          <a:spcPts val="0"/>
                        </a:spcAft>
                      </a:pPr>
                      <a:r>
                        <a:rPr sz="1300" b="0">
                          <a:solidFill>
                            <a:srgbClr val="1F1F1F"/>
                          </a:solidFill>
                          <a:latin typeface="Calibri"/>
                        </a:rPr>
                        <a:t>cotas sêniores 2 a R$</a:t>
                      </a:r>
                    </a:p>
                    <a:p>
                      <a:pPr algn="l">
                        <a:lnSpc>
                          <a:spcPct val="100000"/>
                        </a:lnSpc>
                        <a:spcBef>
                          <a:spcPts val="0"/>
                        </a:spcBef>
                        <a:spcAft>
                          <a:spcPts val="0"/>
                        </a:spcAft>
                      </a:pPr>
                      <a:r>
                        <a:rPr sz="1300" b="0">
                          <a:solidFill>
                            <a:srgbClr val="1F1F1F"/>
                          </a:solidFill>
                          <a:latin typeface="Calibri"/>
                        </a:rPr>
                        <a:t>1.141,3012 2.658.998</a:t>
                      </a:r>
                    </a:p>
                    <a:p>
                      <a:pPr algn="l">
                        <a:lnSpc>
                          <a:spcPct val="100000"/>
                        </a:lnSpc>
                        <a:spcBef>
                          <a:spcPts val="0"/>
                        </a:spcBef>
                        <a:spcAft>
                          <a:spcPts val="0"/>
                        </a:spcAft>
                      </a:pPr>
                      <a:r>
                        <a:rPr sz="1300" b="0">
                          <a:solidFill>
                            <a:srgbClr val="1F1F1F"/>
                          </a:solidFill>
                          <a:latin typeface="Calibri"/>
                        </a:rPr>
                        <a:t>Total de 954,2302 cotas</a:t>
                      </a:r>
                    </a:p>
                    <a:p>
                      <a:pPr algn="l">
                        <a:lnSpc>
                          <a:spcPct val="100000"/>
                        </a:lnSpc>
                        <a:spcBef>
                          <a:spcPts val="0"/>
                        </a:spcBef>
                        <a:spcAft>
                          <a:spcPts val="0"/>
                        </a:spcAft>
                      </a:pPr>
                      <a:r>
                        <a:rPr sz="1300" b="0">
                          <a:solidFill>
                            <a:srgbClr val="1F1F1F"/>
                          </a:solidFill>
                          <a:latin typeface="Calibri"/>
                        </a:rPr>
                        <a:t>subordinadas a R$</a:t>
                      </a:r>
                    </a:p>
                    <a:p>
                      <a:pPr algn="l">
                        <a:lnSpc>
                          <a:spcPct val="100000"/>
                        </a:lnSpc>
                        <a:spcBef>
                          <a:spcPts val="0"/>
                        </a:spcBef>
                        <a:spcAft>
                          <a:spcPts val="0"/>
                        </a:spcAft>
                      </a:pPr>
                      <a:r>
                        <a:rPr sz="1300" b="0">
                          <a:solidFill>
                            <a:srgbClr val="1F1F1F"/>
                          </a:solidFill>
                          <a:latin typeface="Calibri"/>
                        </a:rPr>
                        <a:t>150.939,4087 144.031</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Patrimônio líquido no</a:t>
                      </a:r>
                    </a:p>
                    <a:p>
                      <a:pPr algn="l">
                        <a:lnSpc>
                          <a:spcPct val="100000"/>
                        </a:lnSpc>
                        <a:spcBef>
                          <a:spcPts val="0"/>
                        </a:spcBef>
                        <a:spcAft>
                          <a:spcPts val="0"/>
                        </a:spcAft>
                      </a:pPr>
                      <a:r>
                        <a:rPr sz="1300" b="0">
                          <a:solidFill>
                            <a:srgbClr val="1F1F1F"/>
                          </a:solidFill>
                          <a:latin typeface="Calibri"/>
                        </a:rPr>
                        <a:t>final do período Total</a:t>
                      </a:r>
                    </a:p>
                    <a:p>
                      <a:pPr algn="l">
                        <a:lnSpc>
                          <a:spcPct val="100000"/>
                        </a:lnSpc>
                        <a:spcBef>
                          <a:spcPts val="0"/>
                        </a:spcBef>
                        <a:spcAft>
                          <a:spcPts val="0"/>
                        </a:spcAft>
                      </a:pPr>
                      <a:r>
                        <a:rPr sz="1300" b="0">
                          <a:solidFill>
                            <a:srgbClr val="1F1F1F"/>
                          </a:solidFill>
                          <a:latin typeface="Calibri"/>
                        </a:rPr>
                        <a:t>de 2.865.592,8479 cotas</a:t>
                      </a:r>
                    </a:p>
                    <a:p>
                      <a:pPr algn="l">
                        <a:lnSpc>
                          <a:spcPct val="100000"/>
                        </a:lnSpc>
                        <a:spcBef>
                          <a:spcPts val="0"/>
                        </a:spcBef>
                        <a:spcAft>
                          <a:spcPts val="0"/>
                        </a:spcAft>
                      </a:pPr>
                      <a:r>
                        <a:rPr sz="1300" b="0">
                          <a:solidFill>
                            <a:srgbClr val="1F1F1F"/>
                          </a:solidFill>
                          <a:latin typeface="Calibri"/>
                        </a:rPr>
                        <a:t>a R$ 1.285,7151</a:t>
                      </a:r>
                    </a:p>
                    <a:p>
                      <a:pPr algn="l">
                        <a:lnSpc>
                          <a:spcPct val="100000"/>
                        </a:lnSpc>
                        <a:spcBef>
                          <a:spcPts val="0"/>
                        </a:spcBef>
                        <a:spcAft>
                          <a:spcPts val="0"/>
                        </a:spcAft>
                      </a:pPr>
                      <a:r>
                        <a:rPr sz="1300" b="0">
                          <a:solidFill>
                            <a:srgbClr val="1F1F1F"/>
                          </a:solidFill>
                          <a:latin typeface="Calibri"/>
                        </a:rPr>
                        <a:t>3.672.765 Total de</a:t>
                      </a:r>
                    </a:p>
                    <a:p>
                      <a:pPr algn="l">
                        <a:lnSpc>
                          <a:spcPct val="100000"/>
                        </a:lnSpc>
                        <a:spcBef>
                          <a:spcPts val="0"/>
                        </a:spcBef>
                        <a:spcAft>
                          <a:spcPts val="0"/>
                        </a:spcAft>
                      </a:pPr>
                      <a:r>
                        <a:rPr sz="1300" b="0">
                          <a:solidFill>
                            <a:srgbClr val="1F1F1F"/>
                          </a:solidFill>
                          <a:latin typeface="Calibri"/>
                        </a:rPr>
                        <a:t>493.487,7492 cotas</a:t>
                      </a:r>
                    </a:p>
                    <a:p>
                      <a:pPr algn="l">
                        <a:lnSpc>
                          <a:spcPct val="100000"/>
                        </a:lnSpc>
                        <a:spcBef>
                          <a:spcPts val="0"/>
                        </a:spcBef>
                        <a:spcAft>
                          <a:spcPts val="0"/>
                        </a:spcAft>
                      </a:pPr>
                      <a:r>
                        <a:rPr sz="1300" b="0">
                          <a:solidFill>
                            <a:srgbClr val="1F1F1F"/>
                          </a:solidFill>
                          <a:latin typeface="Calibri"/>
                        </a:rPr>
                        <a:t>sêniores a R$</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até 150.000 (cento e</a:t>
                      </a:r>
                    </a:p>
                    <a:p>
                      <a:pPr algn="l">
                        <a:lnSpc>
                          <a:spcPct val="100000"/>
                        </a:lnSpc>
                        <a:spcBef>
                          <a:spcPts val="0"/>
                        </a:spcBef>
                        <a:spcAft>
                          <a:spcPts val="0"/>
                        </a:spcAft>
                      </a:pPr>
                      <a:r>
                        <a:rPr sz="1300" b="0">
                          <a:solidFill>
                            <a:srgbClr val="1F1F1F"/>
                          </a:solidFill>
                          <a:latin typeface="Calibri"/>
                        </a:rPr>
                        <a:t>cinquenta mil) Cotas</a:t>
                      </a:r>
                    </a:p>
                    <a:p>
                      <a:pPr algn="l">
                        <a:lnSpc>
                          <a:spcPct val="100000"/>
                        </a:lnSpc>
                        <a:spcBef>
                          <a:spcPts val="0"/>
                        </a:spcBef>
                        <a:spcAft>
                          <a:spcPts val="0"/>
                        </a:spcAft>
                      </a:pPr>
                      <a:r>
                        <a:rPr sz="1300" b="0">
                          <a:solidFill>
                            <a:srgbClr val="1F1F1F"/>
                          </a:solidFill>
                          <a:latin typeface="Calibri"/>
                        </a:rPr>
                        <a:t>Seniores, com valor</a:t>
                      </a:r>
                    </a:p>
                    <a:p>
                      <a:pPr algn="l">
                        <a:lnSpc>
                          <a:spcPct val="100000"/>
                        </a:lnSpc>
                        <a:spcBef>
                          <a:spcPts val="0"/>
                        </a:spcBef>
                        <a:spcAft>
                          <a:spcPts val="0"/>
                        </a:spcAft>
                      </a:pPr>
                      <a:r>
                        <a:rPr sz="1300" b="0">
                          <a:solidFill>
                            <a:srgbClr val="1F1F1F"/>
                          </a:solidFill>
                          <a:latin typeface="Calibri"/>
                        </a:rPr>
                        <a:t>nominal unitário de R$</a:t>
                      </a:r>
                    </a:p>
                    <a:p>
                      <a:pPr algn="l">
                        <a:lnSpc>
                          <a:spcPct val="100000"/>
                        </a:lnSpc>
                        <a:spcBef>
                          <a:spcPts val="0"/>
                        </a:spcBef>
                        <a:spcAft>
                          <a:spcPts val="0"/>
                        </a:spcAft>
                      </a:pPr>
                      <a:r>
                        <a:rPr sz="1300" b="0">
                          <a:solidFill>
                            <a:srgbClr val="1F1F1F"/>
                          </a:solidFill>
                          <a:latin typeface="Calibri"/>
                        </a:rPr>
                        <a:t>1.000,00 (mil reais),</a:t>
                      </a:r>
                    </a:p>
                    <a:p>
                      <a:pPr algn="l">
                        <a:lnSpc>
                          <a:spcPct val="100000"/>
                        </a:lnSpc>
                        <a:spcBef>
                          <a:spcPts val="0"/>
                        </a:spcBef>
                        <a:spcAft>
                          <a:spcPts val="0"/>
                        </a:spcAft>
                      </a:pPr>
                      <a:r>
                        <a:rPr sz="1300" b="0">
                          <a:solidFill>
                            <a:srgbClr val="1F1F1F"/>
                          </a:solidFill>
                          <a:latin typeface="Calibri"/>
                        </a:rPr>
                        <a:t>perfazendo o montante</a:t>
                      </a:r>
                    </a:p>
                    <a:p>
                      <a:pPr algn="l">
                        <a:lnSpc>
                          <a:spcPct val="100000"/>
                        </a:lnSpc>
                        <a:spcBef>
                          <a:spcPts val="0"/>
                        </a:spcBef>
                        <a:spcAft>
                          <a:spcPts val="0"/>
                        </a:spcAft>
                      </a:pPr>
                      <a:r>
                        <a:rPr sz="1300" b="0">
                          <a:solidFill>
                            <a:srgbClr val="1F1F1F"/>
                          </a:solidFill>
                          <a:latin typeface="Calibri"/>
                        </a:rPr>
                        <a:t>total de R$</a:t>
                      </a:r>
                    </a:p>
                    <a:p>
                      <a:pPr algn="l">
                        <a:lnSpc>
                          <a:spcPct val="100000"/>
                        </a:lnSpc>
                        <a:spcBef>
                          <a:spcPts val="0"/>
                        </a:spcBef>
                        <a:spcAft>
                          <a:spcPts val="0"/>
                        </a:spcAft>
                      </a:pPr>
                      <a:r>
                        <a:rPr sz="1300" b="0">
                          <a:solidFill>
                            <a:srgbClr val="1F1F1F"/>
                          </a:solidFill>
                          <a:latin typeface="Calibri"/>
                        </a:rPr>
                        <a:t>150.000.000,00 (cento e</a:t>
                      </a:r>
                    </a:p>
                    <a:p>
                      <a:pPr algn="l">
                        <a:lnSpc>
                          <a:spcPct val="100000"/>
                        </a:lnSpc>
                        <a:spcBef>
                          <a:spcPts val="0"/>
                        </a:spcBef>
                        <a:spcAft>
                          <a:spcPts val="0"/>
                        </a:spcAft>
                      </a:pPr>
                      <a:r>
                        <a:rPr sz="1300" b="0">
                          <a:solidFill>
                            <a:srgbClr val="1F1F1F"/>
                          </a:solidFill>
                          <a:latin typeface="Calibri"/>
                        </a:rPr>
                        <a:t>cinquenta milhões de</a:t>
                      </a:r>
                    </a:p>
                    <a:p>
                      <a:pPr algn="l">
                        <a:lnSpc>
                          <a:spcPct val="100000"/>
                        </a:lnSpc>
                        <a:spcBef>
                          <a:spcPts val="0"/>
                        </a:spcBef>
                        <a:spcAft>
                          <a:spcPts val="0"/>
                        </a:spcAft>
                      </a:pPr>
                      <a:r>
                        <a:rPr sz="1300" b="0">
                          <a:solidFill>
                            <a:srgbClr val="1F1F1F"/>
                          </a:solidFill>
                          <a:latin typeface="Calibri"/>
                        </a:rPr>
                        <a:t>reais), as quais serão</a:t>
                      </a:r>
                    </a:p>
                    <a:p>
                      <a:pPr algn="l">
                        <a:lnSpc>
                          <a:spcPct val="100000"/>
                        </a:lnSpc>
                        <a:spcBef>
                          <a:spcPts val="0"/>
                        </a:spcBef>
                        <a:spcAft>
                          <a:spcPts val="0"/>
                        </a:spcAft>
                      </a:pPr>
                      <a:r>
                        <a:rPr sz="1300" b="0">
                          <a:solidFill>
                            <a:srgbClr val="1F1F1F"/>
                          </a:solidFill>
                          <a:latin typeface="Calibri"/>
                        </a:rPr>
                        <a:t>objeto de colocação</a:t>
                      </a:r>
                    </a:p>
                    <a:p>
                      <a:pPr algn="l">
                        <a:lnSpc>
                          <a:spcPct val="100000"/>
                        </a:lnSpc>
                        <a:spcBef>
                          <a:spcPts val="0"/>
                        </a:spcBef>
                        <a:spcAft>
                          <a:spcPts val="0"/>
                        </a:spcAft>
                      </a:pPr>
                      <a:r>
                        <a:rPr sz="1300" b="0">
                          <a:solidFill>
                            <a:srgbClr val="1F1F1F"/>
                          </a:solidFill>
                          <a:latin typeface="Calibri"/>
                        </a:rPr>
                        <a:t>privada, de acordo com</a:t>
                      </a:r>
                    </a:p>
                    <a:p>
                      <a:pPr algn="l">
                        <a:lnSpc>
                          <a:spcPct val="100000"/>
                        </a:lnSpc>
                        <a:spcBef>
                          <a:spcPts val="0"/>
                        </a:spcBef>
                        <a:spcAft>
                          <a:spcPts val="0"/>
                        </a:spcAft>
                      </a:pPr>
                      <a:r>
                        <a:rPr sz="1300" b="0">
                          <a:solidFill>
                            <a:srgbClr val="1F1F1F"/>
                          </a:solidFill>
                          <a:latin typeface="Calibri"/>
                        </a:rPr>
                        <a:t>os termos e condições</a:t>
                      </a:r>
                    </a:p>
                    <a:p>
                      <a:pPr algn="l">
                        <a:lnSpc>
                          <a:spcPct val="100000"/>
                        </a:lnSpc>
                        <a:spcBef>
                          <a:spcPts val="0"/>
                        </a:spcBef>
                        <a:spcAft>
                          <a:spcPts val="0"/>
                        </a:spcAft>
                      </a:pPr>
                      <a:r>
                        <a:rPr sz="1300" b="0">
                          <a:solidFill>
                            <a:srgbClr val="1F1F1F"/>
                          </a:solidFill>
                          <a:latin typeface="Calibri"/>
                        </a:rPr>
                        <a:t>descritos no Apêndice</a:t>
                      </a:r>
                    </a:p>
                    <a:p>
                      <a:pPr algn="l">
                        <a:lnSpc>
                          <a:spcPct val="100000"/>
                        </a:lnSpc>
                        <a:spcBef>
                          <a:spcPts val="0"/>
                        </a:spcBef>
                        <a:spcAft>
                          <a:spcPts val="0"/>
                        </a:spcAft>
                      </a:pPr>
                      <a:r>
                        <a:rPr sz="1300" b="0">
                          <a:solidFill>
                            <a:srgbClr val="1F1F1F"/>
                          </a:solidFill>
                          <a:latin typeface="Calibri"/>
                        </a:rPr>
                        <a:t>da Subclasse Sênior</a:t>
                      </a:r>
                    </a:p>
                    <a:p>
                      <a:pPr algn="l">
                        <a:lnSpc>
                          <a:spcPct val="100000"/>
                        </a:lnSpc>
                        <a:spcBef>
                          <a:spcPts val="0"/>
                        </a:spcBef>
                        <a:spcAft>
                          <a:spcPts val="0"/>
                        </a:spcAft>
                      </a:pPr>
                      <a:r>
                        <a:rPr sz="1300" b="0">
                          <a:solidFill>
                            <a:srgbClr val="1F1F1F"/>
                          </a:solidFill>
                          <a:latin typeface="Calibri"/>
                        </a:rPr>
                        <a:t>constante do Anexo I</a:t>
                      </a:r>
                    </a:p>
                    <a:p>
                      <a:pPr algn="l">
                        <a:lnSpc>
                          <a:spcPct val="100000"/>
                        </a:lnSpc>
                        <a:spcBef>
                          <a:spcPts val="0"/>
                        </a:spcBef>
                        <a:spcAft>
                          <a:spcPts val="0"/>
                        </a:spcAft>
                      </a:pPr>
                      <a:r>
                        <a:rPr sz="1300" b="0">
                          <a:solidFill>
                            <a:srgbClr val="1F1F1F"/>
                          </a:solidFill>
                          <a:latin typeface="Calibri"/>
                        </a:rPr>
                        <a:t>Regulamento e descritas</a:t>
                      </a:r>
                    </a:p>
                    <a:p>
                      <a:pPr algn="l">
                        <a:lnSpc>
                          <a:spcPct val="100000"/>
                        </a:lnSpc>
                        <a:spcBef>
                          <a:spcPts val="0"/>
                        </a:spcBef>
                        <a:spcAft>
                          <a:spcPts val="0"/>
                        </a:spcAft>
                      </a:pPr>
                      <a:r>
                        <a:rPr sz="1300" b="0">
                          <a:solidFill>
                            <a:srgbClr val="1F1F1F"/>
                          </a:solidFill>
                          <a:latin typeface="Calibri"/>
                        </a:rPr>
                        <a:t>abaixo (“2ª Emissão da</a:t>
                      </a:r>
                    </a:p>
                    <a:p>
                      <a:pPr algn="l">
                        <a:lnSpc>
                          <a:spcPct val="100000"/>
                        </a:lnSpc>
                        <a:spcBef>
                          <a:spcPts val="0"/>
                        </a:spcBef>
                        <a:spcAft>
                          <a:spcPts val="0"/>
                        </a:spcAft>
                      </a:pPr>
                      <a:r>
                        <a:rPr sz="1300" b="0">
                          <a:solidFill>
                            <a:srgbClr val="1F1F1F"/>
                          </a:solidFill>
                          <a:latin typeface="Calibri"/>
                        </a:rPr>
                        <a:t>Subclasse Sênior”):</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d) Forma de</a:t>
                      </a:r>
                    </a:p>
                    <a:p>
                      <a:pPr algn="l">
                        <a:lnSpc>
                          <a:spcPct val="100000"/>
                        </a:lnSpc>
                        <a:spcBef>
                          <a:spcPts val="0"/>
                        </a:spcBef>
                        <a:spcAft>
                          <a:spcPts val="0"/>
                        </a:spcAft>
                      </a:pPr>
                      <a:r>
                        <a:rPr sz="1300" b="0">
                          <a:solidFill>
                            <a:srgbClr val="1F1F1F"/>
                          </a:solidFill>
                          <a:latin typeface="Calibri"/>
                        </a:rPr>
                        <a:t>Integralização: as</a:t>
                      </a:r>
                    </a:p>
                    <a:p>
                      <a:pPr algn="l">
                        <a:lnSpc>
                          <a:spcPct val="100000"/>
                        </a:lnSpc>
                        <a:spcBef>
                          <a:spcPts val="0"/>
                        </a:spcBef>
                        <a:spcAft>
                          <a:spcPts val="0"/>
                        </a:spcAft>
                      </a:pPr>
                      <a:r>
                        <a:rPr sz="1300" b="0">
                          <a:solidFill>
                            <a:srgbClr val="1F1F1F"/>
                          </a:solidFill>
                          <a:latin typeface="Calibri"/>
                        </a:rPr>
                        <a:t>Cotas Subordinadas</a:t>
                      </a:r>
                    </a:p>
                    <a:p>
                      <a:pPr algn="l">
                        <a:lnSpc>
                          <a:spcPct val="100000"/>
                        </a:lnSpc>
                        <a:spcBef>
                          <a:spcPts val="0"/>
                        </a:spcBef>
                        <a:spcAft>
                          <a:spcPts val="0"/>
                        </a:spcAft>
                      </a:pPr>
                      <a:r>
                        <a:rPr sz="1300" b="0">
                          <a:solidFill>
                            <a:srgbClr val="1F1F1F"/>
                          </a:solidFill>
                          <a:latin typeface="Calibri"/>
                        </a:rPr>
                        <a:t>Júnior serão</a:t>
                      </a:r>
                    </a:p>
                    <a:p>
                      <a:pPr algn="l">
                        <a:lnSpc>
                          <a:spcPct val="100000"/>
                        </a:lnSpc>
                        <a:spcBef>
                          <a:spcPts val="0"/>
                        </a:spcBef>
                        <a:spcAft>
                          <a:spcPts val="0"/>
                        </a:spcAft>
                      </a:pPr>
                      <a:r>
                        <a:rPr sz="1300" b="0">
                          <a:solidFill>
                            <a:srgbClr val="1F1F1F"/>
                          </a:solidFill>
                          <a:latin typeface="Calibri"/>
                        </a:rPr>
                        <a:t>integralizadas à vista,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reorganização do</a:t>
                      </a:r>
                    </a:p>
                    <a:p>
                      <a:pPr algn="l">
                        <a:lnSpc>
                          <a:spcPct val="100000"/>
                        </a:lnSpc>
                        <a:spcBef>
                          <a:spcPts val="0"/>
                        </a:spcBef>
                        <a:spcAft>
                          <a:spcPts val="0"/>
                        </a:spcAft>
                      </a:pPr>
                      <a:r>
                        <a:rPr sz="1300" b="0">
                          <a:solidFill>
                            <a:srgbClr val="1F1F1F"/>
                          </a:solidFill>
                          <a:latin typeface="Calibri"/>
                        </a:rPr>
                        <a:t>passivo de sua</a:t>
                      </a:r>
                    </a:p>
                    <a:p>
                      <a:pPr algn="l">
                        <a:lnSpc>
                          <a:spcPct val="100000"/>
                        </a:lnSpc>
                        <a:spcBef>
                          <a:spcPts val="0"/>
                        </a:spcBef>
                        <a:spcAft>
                          <a:spcPts val="0"/>
                        </a:spcAft>
                      </a:pPr>
                      <a:r>
                        <a:rPr sz="1300" b="0">
                          <a:solidFill>
                            <a:srgbClr val="1F1F1F"/>
                          </a:solidFill>
                          <a:latin typeface="Calibri"/>
                        </a:rPr>
                        <a:t>subclasse única em</a:t>
                      </a:r>
                    </a:p>
                    <a:p>
                      <a:pPr algn="l">
                        <a:lnSpc>
                          <a:spcPct val="100000"/>
                        </a:lnSpc>
                        <a:spcBef>
                          <a:spcPts val="0"/>
                        </a:spcBef>
                        <a:spcAft>
                          <a:spcPts val="0"/>
                        </a:spcAft>
                      </a:pPr>
                      <a:r>
                        <a:rPr sz="1300" b="0">
                          <a:solidFill>
                            <a:srgbClr val="1F1F1F"/>
                          </a:solidFill>
                          <a:latin typeface="Calibri"/>
                        </a:rPr>
                        <a:t>novas subclasses, quais</a:t>
                      </a:r>
                    </a:p>
                    <a:p>
                      <a:pPr algn="l">
                        <a:lnSpc>
                          <a:spcPct val="100000"/>
                        </a:lnSpc>
                        <a:spcBef>
                          <a:spcPts val="0"/>
                        </a:spcBef>
                        <a:spcAft>
                          <a:spcPts val="0"/>
                        </a:spcAft>
                      </a:pPr>
                      <a:r>
                        <a:rPr sz="1300" b="0">
                          <a:solidFill>
                            <a:srgbClr val="1F1F1F"/>
                          </a:solidFill>
                          <a:latin typeface="Calibri"/>
                        </a:rPr>
                        <a:t>sejam, subclasse A</a:t>
                      </a:r>
                    </a:p>
                    <a:p>
                      <a:pPr algn="l">
                        <a:lnSpc>
                          <a:spcPct val="100000"/>
                        </a:lnSpc>
                        <a:spcBef>
                          <a:spcPts val="0"/>
                        </a:spcBef>
                        <a:spcAft>
                          <a:spcPts val="0"/>
                        </a:spcAft>
                      </a:pPr>
                      <a:r>
                        <a:rPr sz="1300" b="0">
                          <a:solidFill>
                            <a:srgbClr val="1F1F1F"/>
                          </a:solidFill>
                          <a:latin typeface="Calibri"/>
                        </a:rPr>
                        <a:t>(“Subclasse A”),</a:t>
                      </a:r>
                    </a:p>
                    <a:p>
                      <a:pPr algn="l">
                        <a:lnSpc>
                          <a:spcPct val="100000"/>
                        </a:lnSpc>
                        <a:spcBef>
                          <a:spcPts val="0"/>
                        </a:spcBef>
                        <a:spcAft>
                          <a:spcPts val="0"/>
                        </a:spcAft>
                      </a:pPr>
                      <a:r>
                        <a:rPr sz="1300" b="0">
                          <a:solidFill>
                            <a:srgbClr val="1F1F1F"/>
                          </a:solidFill>
                          <a:latin typeface="Calibri"/>
                        </a:rPr>
                        <a:t>subclasse B (“Subclasse</a:t>
                      </a:r>
                    </a:p>
                    <a:p>
                      <a:pPr algn="l">
                        <a:lnSpc>
                          <a:spcPct val="100000"/>
                        </a:lnSpc>
                        <a:spcBef>
                          <a:spcPts val="0"/>
                        </a:spcBef>
                        <a:spcAft>
                          <a:spcPts val="0"/>
                        </a:spcAft>
                      </a:pPr>
                      <a:r>
                        <a:rPr sz="1300" b="0">
                          <a:solidFill>
                            <a:srgbClr val="1F1F1F"/>
                          </a:solidFill>
                          <a:latin typeface="Calibri"/>
                        </a:rPr>
                        <a:t>B”) e subclasse C</a:t>
                      </a:r>
                    </a:p>
                    <a:p>
                      <a:pPr algn="l">
                        <a:lnSpc>
                          <a:spcPct val="100000"/>
                        </a:lnSpc>
                        <a:spcBef>
                          <a:spcPts val="0"/>
                        </a:spcBef>
                        <a:spcAft>
                          <a:spcPts val="0"/>
                        </a:spcAft>
                      </a:pPr>
                      <a:r>
                        <a:rPr sz="1300" b="0">
                          <a:solidFill>
                            <a:srgbClr val="1F1F1F"/>
                          </a:solidFill>
                          <a:latin typeface="Calibri"/>
                        </a:rPr>
                        <a:t>(“Subclasse C” e,</a:t>
                      </a:r>
                    </a:p>
                    <a:p>
                      <a:pPr algn="l">
                        <a:lnSpc>
                          <a:spcPct val="100000"/>
                        </a:lnSpc>
                        <a:spcBef>
                          <a:spcPts val="0"/>
                        </a:spcBef>
                        <a:spcAft>
                          <a:spcPts val="0"/>
                        </a:spcAft>
                      </a:pPr>
                      <a:r>
                        <a:rPr sz="1300" b="0">
                          <a:solidFill>
                            <a:srgbClr val="1F1F1F"/>
                          </a:solidFill>
                          <a:latin typeface="Calibri"/>
                        </a:rPr>
                        <a:t>quando em conjunto com</a:t>
                      </a:r>
                    </a:p>
                    <a:p>
                      <a:pPr algn="l">
                        <a:lnSpc>
                          <a:spcPct val="100000"/>
                        </a:lnSpc>
                        <a:spcBef>
                          <a:spcPts val="0"/>
                        </a:spcBef>
                        <a:spcAft>
                          <a:spcPts val="0"/>
                        </a:spcAft>
                      </a:pPr>
                      <a:r>
                        <a:rPr sz="1300" b="0">
                          <a:solidFill>
                            <a:srgbClr val="1F1F1F"/>
                          </a:solidFill>
                          <a:latin typeface="Calibri"/>
                        </a:rPr>
                        <a:t>a Subclasse A e a</a:t>
                      </a:r>
                    </a:p>
                    <a:p>
                      <a:pPr algn="l">
                        <a:lnSpc>
                          <a:spcPct val="100000"/>
                        </a:lnSpc>
                        <a:spcBef>
                          <a:spcPts val="0"/>
                        </a:spcBef>
                        <a:spcAft>
                          <a:spcPts val="0"/>
                        </a:spcAft>
                      </a:pPr>
                      <a:r>
                        <a:rPr sz="1300" b="0">
                          <a:solidFill>
                            <a:srgbClr val="1F1F1F"/>
                          </a:solidFill>
                          <a:latin typeface="Calibri"/>
                        </a:rPr>
                        <a:t>Subclasse B, as</a:t>
                      </a:r>
                    </a:p>
                    <a:p>
                      <a:pPr algn="l">
                        <a:lnSpc>
                          <a:spcPct val="100000"/>
                        </a:lnSpc>
                        <a:spcBef>
                          <a:spcPts val="0"/>
                        </a:spcBef>
                        <a:spcAft>
                          <a:spcPts val="0"/>
                        </a:spcAft>
                      </a:pPr>
                      <a:r>
                        <a:rPr sz="1300" b="0">
                          <a:solidFill>
                            <a:srgbClr val="1F1F1F"/>
                          </a:solidFill>
                          <a:latin typeface="Calibri"/>
                        </a:rPr>
                        <a:t>“Subclasses”),</a:t>
                      </a:r>
                    </a:p>
                    <a:p>
                      <a:pPr algn="l">
                        <a:lnSpc>
                          <a:spcPct val="100000"/>
                        </a:lnSpc>
                        <a:spcBef>
                          <a:spcPts val="0"/>
                        </a:spcBef>
                        <a:spcAft>
                          <a:spcPts val="0"/>
                        </a:spcAft>
                      </a:pPr>
                      <a:r>
                        <a:rPr sz="1300" b="0">
                          <a:solidFill>
                            <a:srgbClr val="1F1F1F"/>
                          </a:solidFill>
                          <a:latin typeface="Calibri"/>
                        </a:rPr>
                        <a:t>considerando que serão</a:t>
                      </a:r>
                    </a:p>
                    <a:p>
                      <a:pPr algn="l">
                        <a:lnSpc>
                          <a:spcPct val="100000"/>
                        </a:lnSpc>
                        <a:spcBef>
                          <a:spcPts val="0"/>
                        </a:spcBef>
                        <a:spcAft>
                          <a:spcPts val="0"/>
                        </a:spcAft>
                      </a:pPr>
                      <a:r>
                        <a:rPr sz="1300" b="0">
                          <a:solidFill>
                            <a:srgbClr val="1F1F1F"/>
                          </a:solidFill>
                          <a:latin typeface="Calibri"/>
                        </a:rPr>
                        <a:t>mantidas as condições</a:t>
                      </a:r>
                    </a:p>
                    <a:p>
                      <a:pPr algn="l">
                        <a:lnSpc>
                          <a:spcPct val="100000"/>
                        </a:lnSpc>
                        <a:spcBef>
                          <a:spcPts val="0"/>
                        </a:spcBef>
                        <a:spcAft>
                          <a:spcPts val="0"/>
                        </a:spcAft>
                      </a:pPr>
                      <a:r>
                        <a:rPr sz="1300" b="0">
                          <a:solidFill>
                            <a:srgbClr val="1F1F1F"/>
                          </a:solidFill>
                          <a:latin typeface="Calibri"/>
                        </a:rPr>
                        <a:t>de investimento</a:t>
                      </a:r>
                    </a:p>
                    <a:p>
                      <a:pPr algn="l">
                        <a:lnSpc>
                          <a:spcPct val="100000"/>
                        </a:lnSpc>
                        <a:spcBef>
                          <a:spcPts val="0"/>
                        </a:spcBef>
                        <a:spcAft>
                          <a:spcPts val="0"/>
                        </a:spcAft>
                      </a:pPr>
                      <a:r>
                        <a:rPr sz="1300" b="0">
                          <a:solidFill>
                            <a:srgbClr val="1F1F1F"/>
                          </a:solidFill>
                          <a:latin typeface="Calibri"/>
                        </a:rPr>
                        <a:t>originalmente pactuadas</a:t>
                      </a:r>
                    </a:p>
                    <a:p>
                      <a:pPr algn="l">
                        <a:lnSpc>
                          <a:spcPct val="100000"/>
                        </a:lnSpc>
                        <a:spcBef>
                          <a:spcPts val="0"/>
                        </a:spcBef>
                        <a:spcAft>
                          <a:spcPts val="0"/>
                        </a:spcAft>
                      </a:pPr>
                      <a:r>
                        <a:rPr sz="1300" b="0">
                          <a:solidFill>
                            <a:srgbClr val="1F1F1F"/>
                          </a:solidFill>
                          <a:latin typeface="Calibri"/>
                        </a:rPr>
                        <a:t>com os cotistas, como</a:t>
                      </a:r>
                    </a:p>
                    <a:p>
                      <a:pPr algn="l">
                        <a:lnSpc>
                          <a:spcPct val="100000"/>
                        </a:lnSpc>
                        <a:spcBef>
                          <a:spcPts val="0"/>
                        </a:spcBef>
                        <a:spcAft>
                          <a:spcPts val="0"/>
                        </a:spcAft>
                      </a:pPr>
                      <a:r>
                        <a:rPr sz="1300" b="0">
                          <a:solidFill>
                            <a:srgbClr val="1F1F1F"/>
                          </a:solidFill>
                          <a:latin typeface="Calibri"/>
                        </a:rPr>
                        <a:t>critérios de aplicação,</a:t>
                      </a:r>
                    </a:p>
                    <a:p>
                      <a:pPr algn="l">
                        <a:lnSpc>
                          <a:spcPct val="100000"/>
                        </a:lnSpc>
                        <a:spcBef>
                          <a:spcPts val="0"/>
                        </a:spcBef>
                        <a:spcAft>
                          <a:spcPts val="0"/>
                        </a:spcAft>
                      </a:pPr>
                      <a:r>
                        <a:rPr sz="1300" b="0">
                          <a:solidFill>
                            <a:srgbClr val="1F1F1F"/>
                          </a:solidFill>
                          <a:latin typeface="Calibri"/>
                        </a:rPr>
                        <a:t>resgate, amortização e</a:t>
                      </a:r>
                    </a:p>
                    <a:p>
                      <a:pPr algn="l">
                        <a:lnSpc>
                          <a:spcPct val="100000"/>
                        </a:lnSpc>
                        <a:spcBef>
                          <a:spcPts val="0"/>
                        </a:spcBef>
                        <a:spcAft>
                          <a:spcPts val="0"/>
                        </a:spcAft>
                      </a:pPr>
                      <a:r>
                        <a:rPr sz="1300" b="0">
                          <a:solidFill>
                            <a:srgbClr val="1F1F1F"/>
                          </a:solidFill>
                          <a:latin typeface="Calibri"/>
                        </a:rPr>
                        <a:t>política de</a:t>
                      </a:r>
                    </a:p>
                    <a:p>
                      <a:pPr algn="l">
                        <a:lnSpc>
                          <a:spcPct val="100000"/>
                        </a:lnSpc>
                        <a:spcBef>
                          <a:spcPts val="0"/>
                        </a:spcBef>
                        <a:spcAft>
                          <a:spcPts val="0"/>
                        </a:spcAft>
                      </a:pPr>
                      <a:r>
                        <a:rPr sz="1300" b="0">
                          <a:solidFill>
                            <a:srgbClr val="1F1F1F"/>
                          </a:solidFill>
                          <a:latin typeface="Calibri"/>
                        </a:rPr>
                        <a:t>investimento da Classe</a:t>
                      </a:r>
                    </a:p>
                    <a:p>
                      <a:pPr algn="l">
                        <a:lnSpc>
                          <a:spcPct val="100000"/>
                        </a:lnSpc>
                        <a:spcBef>
                          <a:spcPts val="0"/>
                        </a:spcBef>
                        <a:spcAft>
                          <a:spcPts val="0"/>
                        </a:spcAft>
                      </a:pPr>
                      <a:r>
                        <a:rPr sz="1300" b="0">
                          <a:solidFill>
                            <a:srgbClr val="1F1F1F"/>
                          </a:solidFill>
                          <a:latin typeface="Calibri"/>
                        </a:rPr>
                        <a:t>Única, diferindo- se,</a:t>
                      </a:r>
                    </a:p>
                    <a:p>
                      <a:pPr algn="l">
                        <a:lnSpc>
                          <a:spcPct val="100000"/>
                        </a:lnSpc>
                        <a:spcBef>
                          <a:spcPts val="0"/>
                        </a:spcBef>
                        <a:spcAft>
                          <a:spcPts val="0"/>
                        </a:spcAft>
                      </a:pPr>
                      <a:r>
                        <a:rPr sz="1300" b="0">
                          <a:solidFill>
                            <a:srgbClr val="1F1F1F"/>
                          </a:solidFill>
                          <a:latin typeface="Calibri"/>
                        </a:rPr>
                        <a:t>exclusivamente, em</a:t>
                      </a:r>
                    </a:p>
                    <a:p>
                      <a:pPr algn="l">
                        <a:lnSpc>
                          <a:spcPct val="100000"/>
                        </a:lnSpc>
                        <a:spcBef>
                          <a:spcPts val="0"/>
                        </a:spcBef>
                        <a:spcAft>
                          <a:spcPts val="0"/>
                        </a:spcAft>
                      </a:pPr>
                      <a:r>
                        <a:rPr sz="1300" b="0">
                          <a:solidFill>
                            <a:srgbClr val="1F1F1F"/>
                          </a:solidFill>
                          <a:latin typeface="Calibri"/>
                        </a:rPr>
                        <a:t>relação ao prazo de</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92/160</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Emissões e custos</a:t>
            </a:r>
          </a:p>
        </p:txBody>
      </p:sp>
      <p:graphicFrame>
        <p:nvGraphicFramePr>
          <p:cNvPr id="3" name="Table 2"/>
          <p:cNvGraphicFramePr>
            <a:graphicFrameLocks noGrp="1"/>
          </p:cNvGraphicFramePr>
          <p:nvPr/>
        </p:nvGraphicFramePr>
        <p:xfrm>
          <a:off x="438912" y="932688"/>
          <a:ext cx="11313868" cy="1879091"/>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1408175">
                <a:tc>
                  <a:txBody>
                    <a:bodyPr wrap="square">
                      <a:noAutofit/>
                    </a:bodyPr>
                    <a:lstStyle/>
                    <a:p>
                      <a:pPr algn="l">
                        <a:lnSpc>
                          <a:spcPct val="100000"/>
                        </a:lnSpc>
                        <a:spcBef>
                          <a:spcPts val="0"/>
                        </a:spcBef>
                        <a:spcAft>
                          <a:spcPts val="0"/>
                        </a:spcAft>
                      </a:pPr>
                      <a:r>
                        <a:rPr sz="1300" b="1">
                          <a:solidFill>
                            <a:srgbClr val="1F1F1F"/>
                          </a:solidFill>
                          <a:latin typeface="Calibri"/>
                        </a:rPr>
                        <a:t>Classes e séries de</a:t>
                      </a:r>
                    </a:p>
                    <a:p>
                      <a:pPr algn="l">
                        <a:lnSpc>
                          <a:spcPct val="100000"/>
                        </a:lnSpc>
                        <a:spcBef>
                          <a:spcPts val="0"/>
                        </a:spcBef>
                        <a:spcAft>
                          <a:spcPts val="0"/>
                        </a:spcAft>
                      </a:pPr>
                      <a:r>
                        <a:rPr sz="1300" b="1">
                          <a:solidFill>
                            <a:srgbClr val="1F1F1F"/>
                          </a:solidFill>
                          <a:latin typeface="Calibri"/>
                        </a:rPr>
                        <a:t>cotas (continuação)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1.230,3042 607.141</a:t>
                      </a:r>
                    </a:p>
                    <a:p>
                      <a:pPr algn="l">
                        <a:lnSpc>
                          <a:spcPct val="100000"/>
                        </a:lnSpc>
                        <a:spcBef>
                          <a:spcPts val="0"/>
                        </a:spcBef>
                        <a:spcAft>
                          <a:spcPts val="0"/>
                        </a:spcAft>
                      </a:pPr>
                      <a:r>
                        <a:rPr sz="1300" b="0">
                          <a:solidFill>
                            <a:srgbClr val="1F1F1F"/>
                          </a:solidFill>
                          <a:latin typeface="Calibri"/>
                        </a:rPr>
                        <a:t>Total de 2.362.150,8684</a:t>
                      </a:r>
                    </a:p>
                    <a:p>
                      <a:pPr algn="l">
                        <a:lnSpc>
                          <a:spcPct val="100000"/>
                        </a:lnSpc>
                        <a:spcBef>
                          <a:spcPts val="0"/>
                        </a:spcBef>
                        <a:spcAft>
                          <a:spcPts val="0"/>
                        </a:spcAft>
                      </a:pPr>
                      <a:r>
                        <a:rPr sz="1300" b="0">
                          <a:solidFill>
                            <a:srgbClr val="1F1F1F"/>
                          </a:solidFill>
                          <a:latin typeface="Calibri"/>
                        </a:rPr>
                        <a:t>cotas sêniores 2 a R$</a:t>
                      </a:r>
                    </a:p>
                    <a:p>
                      <a:pPr algn="l">
                        <a:lnSpc>
                          <a:spcPct val="100000"/>
                        </a:lnSpc>
                        <a:spcBef>
                          <a:spcPts val="0"/>
                        </a:spcBef>
                        <a:spcAft>
                          <a:spcPts val="0"/>
                        </a:spcAft>
                      </a:pPr>
                      <a:r>
                        <a:rPr sz="1300" b="0">
                          <a:solidFill>
                            <a:srgbClr val="1F1F1F"/>
                          </a:solidFill>
                          <a:latin typeface="Calibri"/>
                        </a:rPr>
                        <a:t>1.236,9918 2.921.961</a:t>
                      </a:r>
                    </a:p>
                    <a:p>
                      <a:pPr algn="l">
                        <a:lnSpc>
                          <a:spcPct val="100000"/>
                        </a:lnSpc>
                        <a:spcBef>
                          <a:spcPts val="0"/>
                        </a:spcBef>
                        <a:spcAft>
                          <a:spcPts val="0"/>
                        </a:spcAft>
                      </a:pPr>
                      <a:r>
                        <a:rPr sz="1300" b="0">
                          <a:solidFill>
                            <a:srgbClr val="1F1F1F"/>
                          </a:solidFill>
                          <a:latin typeface="Calibri"/>
                        </a:rPr>
                        <a:t>Total de 954,2302 cotas</a:t>
                      </a:r>
                    </a:p>
                    <a:p>
                      <a:pPr algn="l">
                        <a:lnSpc>
                          <a:spcPct val="100000"/>
                        </a:lnSpc>
                        <a:spcBef>
                          <a:spcPts val="0"/>
                        </a:spcBef>
                        <a:spcAft>
                          <a:spcPts val="0"/>
                        </a:spcAft>
                      </a:pPr>
                      <a:r>
                        <a:rPr sz="1300" b="0">
                          <a:solidFill>
                            <a:srgbClr val="1F1F1F"/>
                          </a:solidFill>
                          <a:latin typeface="Calibri"/>
                        </a:rPr>
                        <a:t>subordinadas a R$</a:t>
                      </a:r>
                    </a:p>
                    <a:p>
                      <a:pPr algn="l">
                        <a:lnSpc>
                          <a:spcPct val="100000"/>
                        </a:lnSpc>
                        <a:spcBef>
                          <a:spcPts val="0"/>
                        </a:spcBef>
                        <a:spcAft>
                          <a:spcPts val="0"/>
                        </a:spcAft>
                      </a:pPr>
                      <a:r>
                        <a:rPr sz="1300" b="0">
                          <a:solidFill>
                            <a:srgbClr val="1F1F1F"/>
                          </a:solidFill>
                          <a:latin typeface="Calibri"/>
                        </a:rPr>
                        <a:t>150.554,2733 143.663</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junto ao seu respectivo</a:t>
                      </a:r>
                    </a:p>
                    <a:p>
                      <a:pPr algn="l">
                        <a:lnSpc>
                          <a:spcPct val="100000"/>
                        </a:lnSpc>
                        <a:spcBef>
                          <a:spcPts val="0"/>
                        </a:spcBef>
                        <a:spcAft>
                          <a:spcPts val="0"/>
                        </a:spcAft>
                      </a:pPr>
                      <a:r>
                        <a:rPr sz="1300" b="0">
                          <a:solidFill>
                            <a:srgbClr val="1F1F1F"/>
                          </a:solidFill>
                          <a:latin typeface="Calibri"/>
                        </a:rPr>
                        <a:t>agente de custódia e/ou</a:t>
                      </a:r>
                    </a:p>
                    <a:p>
                      <a:pPr algn="l">
                        <a:lnSpc>
                          <a:spcPct val="100000"/>
                        </a:lnSpc>
                        <a:spcBef>
                          <a:spcPts val="0"/>
                        </a:spcBef>
                        <a:spcAft>
                          <a:spcPts val="0"/>
                        </a:spcAft>
                      </a:pPr>
                      <a:r>
                        <a:rPr sz="1300" b="0">
                          <a:solidFill>
                            <a:srgbClr val="1F1F1F"/>
                          </a:solidFill>
                          <a:latin typeface="Calibri"/>
                        </a:rPr>
                        <a:t>da Administradora na</a:t>
                      </a:r>
                    </a:p>
                    <a:p>
                      <a:pPr algn="l">
                        <a:lnSpc>
                          <a:spcPct val="100000"/>
                        </a:lnSpc>
                        <a:spcBef>
                          <a:spcPts val="0"/>
                        </a:spcBef>
                        <a:spcAft>
                          <a:spcPts val="0"/>
                        </a:spcAft>
                      </a:pPr>
                      <a:r>
                        <a:rPr sz="1300" b="0">
                          <a:solidFill>
                            <a:srgbClr val="1F1F1F"/>
                          </a:solidFill>
                          <a:latin typeface="Calibri"/>
                        </a:rPr>
                        <a:t>qualidade de</a:t>
                      </a:r>
                    </a:p>
                    <a:p>
                      <a:pPr algn="l">
                        <a:lnSpc>
                          <a:spcPct val="100000"/>
                        </a:lnSpc>
                        <a:spcBef>
                          <a:spcPts val="0"/>
                        </a:spcBef>
                        <a:spcAft>
                          <a:spcPts val="0"/>
                        </a:spcAft>
                      </a:pPr>
                      <a:r>
                        <a:rPr sz="1300" b="0">
                          <a:solidFill>
                            <a:srgbClr val="1F1F1F"/>
                          </a:solidFill>
                          <a:latin typeface="Calibri"/>
                        </a:rPr>
                        <a:t>escriturador das cotas;</a:t>
                      </a:r>
                    </a:p>
                    <a:p>
                      <a:pPr algn="l">
                        <a:lnSpc>
                          <a:spcPct val="100000"/>
                        </a:lnSpc>
                        <a:spcBef>
                          <a:spcPts val="0"/>
                        </a:spcBef>
                        <a:spcAft>
                          <a:spcPts val="0"/>
                        </a:spcAft>
                      </a:pPr>
                      <a:r>
                        <a:rPr sz="1300" b="0">
                          <a:solidFill>
                            <a:srgbClr val="1F1F1F"/>
                          </a:solidFill>
                          <a:latin typeface="Calibri"/>
                        </a:rPr>
                        <a:t>e</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duração cada Subclasse.</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93/160</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Emissões e custos</a:t>
            </a:r>
          </a:p>
        </p:txBody>
      </p:sp>
      <p:graphicFrame>
        <p:nvGraphicFramePr>
          <p:cNvPr id="3" name="Table 2"/>
          <p:cNvGraphicFramePr>
            <a:graphicFrameLocks noGrp="1"/>
          </p:cNvGraphicFramePr>
          <p:nvPr/>
        </p:nvGraphicFramePr>
        <p:xfrm>
          <a:off x="438912" y="932688"/>
          <a:ext cx="11313868" cy="5253228"/>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4782312">
                <a:tc>
                  <a:txBody>
                    <a:bodyPr wrap="square">
                      <a:noAutofit/>
                    </a:bodyPr>
                    <a:lstStyle/>
                    <a:p>
                      <a:pPr algn="l">
                        <a:lnSpc>
                          <a:spcPct val="100000"/>
                        </a:lnSpc>
                        <a:spcBef>
                          <a:spcPts val="0"/>
                        </a:spcBef>
                        <a:spcAft>
                          <a:spcPts val="0"/>
                        </a:spcAft>
                      </a:pPr>
                      <a:r>
                        <a:rPr sz="1300" b="1">
                          <a:solidFill>
                            <a:srgbClr val="1F1F1F"/>
                          </a:solidFill>
                          <a:latin typeface="Calibri"/>
                        </a:rPr>
                        <a:t>Ofertas e colocação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4.1. Aprovar a nova</a:t>
                      </a:r>
                    </a:p>
                    <a:p>
                      <a:pPr algn="l">
                        <a:lnSpc>
                          <a:spcPct val="100000"/>
                        </a:lnSpc>
                        <a:spcBef>
                          <a:spcPts val="0"/>
                        </a:spcBef>
                        <a:spcAft>
                          <a:spcPts val="0"/>
                        </a:spcAft>
                      </a:pPr>
                      <a:r>
                        <a:rPr sz="1300" b="0">
                          <a:solidFill>
                            <a:srgbClr val="1F1F1F"/>
                          </a:solidFill>
                          <a:latin typeface="Calibri"/>
                        </a:rPr>
                        <a:t>emissão de Cotas pela</a:t>
                      </a:r>
                    </a:p>
                    <a:p>
                      <a:pPr algn="l">
                        <a:lnSpc>
                          <a:spcPct val="100000"/>
                        </a:lnSpc>
                        <a:spcBef>
                          <a:spcPts val="0"/>
                        </a:spcBef>
                        <a:spcAft>
                          <a:spcPts val="0"/>
                        </a:spcAft>
                      </a:pPr>
                      <a:r>
                        <a:rPr sz="1300" b="0">
                          <a:solidFill>
                            <a:srgbClr val="1F1F1F"/>
                          </a:solidFill>
                          <a:latin typeface="Calibri"/>
                        </a:rPr>
                        <a:t>Classe, todas</a:t>
                      </a:r>
                    </a:p>
                    <a:p>
                      <a:pPr algn="l">
                        <a:lnSpc>
                          <a:spcPct val="100000"/>
                        </a:lnSpc>
                        <a:spcBef>
                          <a:spcPts val="0"/>
                        </a:spcBef>
                        <a:spcAft>
                          <a:spcPts val="0"/>
                        </a:spcAft>
                      </a:pPr>
                      <a:r>
                        <a:rPr sz="1300" b="0">
                          <a:solidFill>
                            <a:srgbClr val="1F1F1F"/>
                          </a:solidFill>
                          <a:latin typeface="Calibri"/>
                        </a:rPr>
                        <a:t>nominativas e</a:t>
                      </a:r>
                    </a:p>
                    <a:p>
                      <a:pPr algn="l">
                        <a:lnSpc>
                          <a:spcPct val="100000"/>
                        </a:lnSpc>
                        <a:spcBef>
                          <a:spcPts val="0"/>
                        </a:spcBef>
                        <a:spcAft>
                          <a:spcPts val="0"/>
                        </a:spcAft>
                      </a:pPr>
                      <a:r>
                        <a:rPr sz="1300" b="0">
                          <a:solidFill>
                            <a:srgbClr val="1F1F1F"/>
                          </a:solidFill>
                          <a:latin typeface="Calibri"/>
                        </a:rPr>
                        <a:t>escriturais, com preço</a:t>
                      </a:r>
                    </a:p>
                    <a:p>
                      <a:pPr algn="l">
                        <a:lnSpc>
                          <a:spcPct val="100000"/>
                        </a:lnSpc>
                        <a:spcBef>
                          <a:spcPts val="0"/>
                        </a:spcBef>
                        <a:spcAft>
                          <a:spcPts val="0"/>
                        </a:spcAft>
                      </a:pPr>
                      <a:r>
                        <a:rPr sz="1300" b="0">
                          <a:solidFill>
                            <a:srgbClr val="1F1F1F"/>
                          </a:solidFill>
                          <a:latin typeface="Calibri"/>
                        </a:rPr>
                        <a:t>unitário de emissão</a:t>
                      </a:r>
                    </a:p>
                    <a:p>
                      <a:pPr algn="l">
                        <a:lnSpc>
                          <a:spcPct val="100000"/>
                        </a:lnSpc>
                        <a:spcBef>
                          <a:spcPts val="0"/>
                        </a:spcBef>
                        <a:spcAft>
                          <a:spcPts val="0"/>
                        </a:spcAft>
                      </a:pPr>
                      <a:r>
                        <a:rPr sz="1300" b="0">
                          <a:solidFill>
                            <a:srgbClr val="1F1F1F"/>
                          </a:solidFill>
                          <a:latin typeface="Calibri"/>
                        </a:rPr>
                        <a:t>correspondente ao valor</a:t>
                      </a:r>
                    </a:p>
                    <a:p>
                      <a:pPr algn="l">
                        <a:lnSpc>
                          <a:spcPct val="100000"/>
                        </a:lnSpc>
                        <a:spcBef>
                          <a:spcPts val="0"/>
                        </a:spcBef>
                        <a:spcAft>
                          <a:spcPts val="0"/>
                        </a:spcAft>
                      </a:pPr>
                      <a:r>
                        <a:rPr sz="1300" b="0">
                          <a:solidFill>
                            <a:srgbClr val="1F1F1F"/>
                          </a:solidFill>
                          <a:latin typeface="Calibri"/>
                        </a:rPr>
                        <a:t>das Cotas da Classe em</a:t>
                      </a:r>
                    </a:p>
                    <a:p>
                      <a:pPr algn="l">
                        <a:lnSpc>
                          <a:spcPct val="100000"/>
                        </a:lnSpc>
                        <a:spcBef>
                          <a:spcPts val="0"/>
                        </a:spcBef>
                        <a:spcAft>
                          <a:spcPts val="0"/>
                        </a:spcAft>
                      </a:pPr>
                      <a:r>
                        <a:rPr sz="1300" b="0">
                          <a:solidFill>
                            <a:srgbClr val="1F1F1F"/>
                          </a:solidFill>
                          <a:latin typeface="Calibri"/>
                        </a:rPr>
                        <a:t>circulação quando na</a:t>
                      </a:r>
                    </a:p>
                    <a:p>
                      <a:pPr algn="l">
                        <a:lnSpc>
                          <a:spcPct val="100000"/>
                        </a:lnSpc>
                        <a:spcBef>
                          <a:spcPts val="0"/>
                        </a:spcBef>
                        <a:spcAft>
                          <a:spcPts val="0"/>
                        </a:spcAft>
                      </a:pPr>
                      <a:r>
                        <a:rPr sz="1300" b="0">
                          <a:solidFill>
                            <a:srgbClr val="1F1F1F"/>
                          </a:solidFill>
                          <a:latin typeface="Calibri"/>
                        </a:rPr>
                        <a:t>data de aprovação da</a:t>
                      </a:r>
                    </a:p>
                    <a:p>
                      <a:pPr algn="l">
                        <a:lnSpc>
                          <a:spcPct val="100000"/>
                        </a:lnSpc>
                        <a:spcBef>
                          <a:spcPts val="0"/>
                        </a:spcBef>
                        <a:spcAft>
                          <a:spcPts val="0"/>
                        </a:spcAft>
                      </a:pPr>
                      <a:r>
                        <a:rPr sz="1300" b="0">
                          <a:solidFill>
                            <a:srgbClr val="1F1F1F"/>
                          </a:solidFill>
                          <a:latin typeface="Calibri"/>
                        </a:rPr>
                        <a:t>Nova Emissão,</a:t>
                      </a:r>
                    </a:p>
                    <a:p>
                      <a:pPr algn="l">
                        <a:lnSpc>
                          <a:spcPct val="100000"/>
                        </a:lnSpc>
                        <a:spcBef>
                          <a:spcPts val="0"/>
                        </a:spcBef>
                        <a:spcAft>
                          <a:spcPts val="0"/>
                        </a:spcAft>
                      </a:pPr>
                      <a:r>
                        <a:rPr sz="1300" b="0">
                          <a:solidFill>
                            <a:srgbClr val="1F1F1F"/>
                          </a:solidFill>
                          <a:latin typeface="Calibri"/>
                        </a:rPr>
                        <a:t>perfazendo o montante</a:t>
                      </a:r>
                    </a:p>
                    <a:p>
                      <a:pPr algn="l">
                        <a:lnSpc>
                          <a:spcPct val="100000"/>
                        </a:lnSpc>
                        <a:spcBef>
                          <a:spcPts val="0"/>
                        </a:spcBef>
                        <a:spcAft>
                          <a:spcPts val="0"/>
                        </a:spcAft>
                      </a:pPr>
                      <a:r>
                        <a:rPr sz="1300" b="0">
                          <a:solidFill>
                            <a:srgbClr val="1F1F1F"/>
                          </a:solidFill>
                          <a:latin typeface="Calibri"/>
                        </a:rPr>
                        <a:t>total de emissão de até</a:t>
                      </a:r>
                    </a:p>
                    <a:p>
                      <a:pPr algn="l">
                        <a:lnSpc>
                          <a:spcPct val="100000"/>
                        </a:lnSpc>
                        <a:spcBef>
                          <a:spcPts val="0"/>
                        </a:spcBef>
                        <a:spcAft>
                          <a:spcPts val="0"/>
                        </a:spcAft>
                      </a:pPr>
                      <a:r>
                        <a:rPr sz="1300" b="0">
                          <a:solidFill>
                            <a:srgbClr val="1F1F1F"/>
                          </a:solidFill>
                          <a:latin typeface="Calibri"/>
                        </a:rPr>
                        <a:t>R$ 650.000.000</a:t>
                      </a:r>
                    </a:p>
                    <a:p>
                      <a:pPr algn="l">
                        <a:lnSpc>
                          <a:spcPct val="100000"/>
                        </a:lnSpc>
                        <a:spcBef>
                          <a:spcPts val="0"/>
                        </a:spcBef>
                        <a:spcAft>
                          <a:spcPts val="0"/>
                        </a:spcAft>
                      </a:pPr>
                      <a:r>
                        <a:rPr sz="1300" b="0">
                          <a:solidFill>
                            <a:srgbClr val="1F1F1F"/>
                          </a:solidFill>
                          <a:latin typeface="Calibri"/>
                        </a:rPr>
                        <a:t>(seiscentos e cinquenta</a:t>
                      </a:r>
                    </a:p>
                    <a:p>
                      <a:pPr algn="l">
                        <a:lnSpc>
                          <a:spcPct val="100000"/>
                        </a:lnSpc>
                        <a:spcBef>
                          <a:spcPts val="0"/>
                        </a:spcBef>
                        <a:spcAft>
                          <a:spcPts val="0"/>
                        </a:spcAft>
                      </a:pPr>
                      <a:r>
                        <a:rPr sz="1300" b="0">
                          <a:solidFill>
                            <a:srgbClr val="1F1F1F"/>
                          </a:solidFill>
                          <a:latin typeface="Calibri"/>
                        </a:rPr>
                        <a:t>milhões de reais),</a:t>
                      </a:r>
                    </a:p>
                    <a:p>
                      <a:pPr algn="l">
                        <a:lnSpc>
                          <a:spcPct val="100000"/>
                        </a:lnSpc>
                        <a:spcBef>
                          <a:spcPts val="0"/>
                        </a:spcBef>
                        <a:spcAft>
                          <a:spcPts val="0"/>
                        </a:spcAft>
                      </a:pPr>
                      <a:r>
                        <a:rPr sz="1300" b="0">
                          <a:solidFill>
                            <a:srgbClr val="1F1F1F"/>
                          </a:solidFill>
                          <a:latin typeface="Calibri"/>
                        </a:rPr>
                        <a:t>conforme as</a:t>
                      </a:r>
                    </a:p>
                    <a:p>
                      <a:pPr algn="l">
                        <a:lnSpc>
                          <a:spcPct val="100000"/>
                        </a:lnSpc>
                        <a:spcBef>
                          <a:spcPts val="0"/>
                        </a:spcBef>
                        <a:spcAft>
                          <a:spcPts val="0"/>
                        </a:spcAft>
                      </a:pPr>
                      <a:r>
                        <a:rPr sz="1300" b="0">
                          <a:solidFill>
                            <a:srgbClr val="1F1F1F"/>
                          </a:solidFill>
                          <a:latin typeface="Calibri"/>
                        </a:rPr>
                        <a:t>características</a:t>
                      </a:r>
                    </a:p>
                    <a:p>
                      <a:pPr algn="l">
                        <a:lnSpc>
                          <a:spcPct val="100000"/>
                        </a:lnSpc>
                        <a:spcBef>
                          <a:spcPts val="0"/>
                        </a:spcBef>
                        <a:spcAft>
                          <a:spcPts val="0"/>
                        </a:spcAft>
                      </a:pPr>
                      <a:r>
                        <a:rPr sz="1300" b="0">
                          <a:solidFill>
                            <a:srgbClr val="1F1F1F"/>
                          </a:solidFill>
                          <a:latin typeface="Calibri"/>
                        </a:rPr>
                        <a:t>constantes do</a:t>
                      </a:r>
                    </a:p>
                    <a:p>
                      <a:pPr algn="l">
                        <a:lnSpc>
                          <a:spcPct val="100000"/>
                        </a:lnSpc>
                        <a:spcBef>
                          <a:spcPts val="0"/>
                        </a:spcBef>
                        <a:spcAft>
                          <a:spcPts val="0"/>
                        </a:spcAft>
                      </a:pPr>
                      <a:r>
                        <a:rPr sz="1300" b="0">
                          <a:solidFill>
                            <a:srgbClr val="1F1F1F"/>
                          </a:solidFill>
                          <a:latin typeface="Calibri"/>
                        </a:rPr>
                        <a:t>Regulamento e do Anexo</a:t>
                      </a:r>
                    </a:p>
                    <a:p>
                      <a:pPr algn="l">
                        <a:lnSpc>
                          <a:spcPct val="100000"/>
                        </a:lnSpc>
                        <a:spcBef>
                          <a:spcPts val="0"/>
                        </a:spcBef>
                        <a:spcAft>
                          <a:spcPts val="0"/>
                        </a:spcAft>
                      </a:pPr>
                      <a:r>
                        <a:rPr sz="1300" b="0">
                          <a:solidFill>
                            <a:srgbClr val="1F1F1F"/>
                          </a:solidFill>
                          <a:latin typeface="Calibri"/>
                        </a:rPr>
                        <a:t>da Classe (“Novas</a:t>
                      </a:r>
                    </a:p>
                    <a:p>
                      <a:pPr algn="l">
                        <a:lnSpc>
                          <a:spcPct val="100000"/>
                        </a:lnSpc>
                        <a:spcBef>
                          <a:spcPts val="0"/>
                        </a:spcBef>
                        <a:spcAft>
                          <a:spcPts val="0"/>
                        </a:spcAft>
                      </a:pPr>
                      <a:r>
                        <a:rPr sz="1300" b="0">
                          <a:solidFill>
                            <a:srgbClr val="1F1F1F"/>
                          </a:solidFill>
                          <a:latin typeface="Calibri"/>
                        </a:rPr>
                        <a:t>Cotas” e “Nova</a:t>
                      </a:r>
                    </a:p>
                    <a:p>
                      <a:pPr algn="l">
                        <a:lnSpc>
                          <a:spcPct val="100000"/>
                        </a:lnSpc>
                        <a:spcBef>
                          <a:spcPts val="0"/>
                        </a:spcBef>
                        <a:spcAft>
                          <a:spcPts val="0"/>
                        </a:spcAft>
                      </a:pPr>
                      <a:r>
                        <a:rPr sz="1300" b="0">
                          <a:solidFill>
                            <a:srgbClr val="1F1F1F"/>
                          </a:solidFill>
                          <a:latin typeface="Calibri"/>
                        </a:rPr>
                        <a:t>Emissão”,</a:t>
                      </a:r>
                    </a:p>
                    <a:p>
                      <a:pPr algn="l">
                        <a:lnSpc>
                          <a:spcPct val="100000"/>
                        </a:lnSpc>
                        <a:spcBef>
                          <a:spcPts val="0"/>
                        </a:spcBef>
                        <a:spcAft>
                          <a:spcPts val="0"/>
                        </a:spcAft>
                      </a:pPr>
                      <a:r>
                        <a:rPr sz="1300" b="0">
                          <a:solidFill>
                            <a:srgbClr val="1F1F1F"/>
                          </a:solidFill>
                          <a:latin typeface="Calibri"/>
                        </a:rPr>
                        <a:t>respectivamente), e</a:t>
                      </a:r>
                    </a:p>
                    <a:p>
                      <a:pPr algn="l">
                        <a:lnSpc>
                          <a:spcPct val="100000"/>
                        </a:lnSpc>
                        <a:spcBef>
                          <a:spcPts val="0"/>
                        </a:spcBef>
                        <a:spcAft>
                          <a:spcPts val="0"/>
                        </a:spcAft>
                      </a:pPr>
                      <a:r>
                        <a:rPr sz="1300" b="0">
                          <a:solidFill>
                            <a:srgbClr val="1F1F1F"/>
                          </a:solidFill>
                          <a:latin typeface="Calibri"/>
                        </a:rPr>
                        <a:t>descritas abaixo: (i)</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Taxa Máxima de</a:t>
                      </a:r>
                    </a:p>
                    <a:p>
                      <a:pPr algn="l">
                        <a:lnSpc>
                          <a:spcPct val="100000"/>
                        </a:lnSpc>
                        <a:spcBef>
                          <a:spcPts val="0"/>
                        </a:spcBef>
                        <a:spcAft>
                          <a:spcPts val="0"/>
                        </a:spcAft>
                      </a:pPr>
                      <a:r>
                        <a:rPr sz="1300" b="0">
                          <a:solidFill>
                            <a:srgbClr val="1F1F1F"/>
                          </a:solidFill>
                          <a:latin typeface="Calibri"/>
                        </a:rPr>
                        <a:t>Distribuição A</a:t>
                      </a:r>
                    </a:p>
                    <a:p>
                      <a:pPr algn="l">
                        <a:lnSpc>
                          <a:spcPct val="100000"/>
                        </a:lnSpc>
                        <a:spcBef>
                          <a:spcPts val="0"/>
                        </a:spcBef>
                        <a:spcAft>
                          <a:spcPts val="0"/>
                        </a:spcAft>
                      </a:pPr>
                      <a:r>
                        <a:rPr sz="1300" b="0">
                          <a:solidFill>
                            <a:srgbClr val="1F1F1F"/>
                          </a:solidFill>
                          <a:latin typeface="Calibri"/>
                        </a:rPr>
                        <a:t>remuneração da</a:t>
                      </a:r>
                    </a:p>
                    <a:p>
                      <a:pPr algn="l">
                        <a:lnSpc>
                          <a:spcPct val="100000"/>
                        </a:lnSpc>
                        <a:spcBef>
                          <a:spcPts val="0"/>
                        </a:spcBef>
                        <a:spcAft>
                          <a:spcPts val="0"/>
                        </a:spcAft>
                      </a:pPr>
                      <a:r>
                        <a:rPr sz="1300" b="0">
                          <a:solidFill>
                            <a:srgbClr val="1F1F1F"/>
                          </a:solidFill>
                          <a:latin typeface="Calibri"/>
                        </a:rPr>
                        <a:t>instituição</a:t>
                      </a:r>
                    </a:p>
                    <a:p>
                      <a:pPr algn="l">
                        <a:lnSpc>
                          <a:spcPct val="100000"/>
                        </a:lnSpc>
                        <a:spcBef>
                          <a:spcPts val="0"/>
                        </a:spcBef>
                        <a:spcAft>
                          <a:spcPts val="0"/>
                        </a:spcAft>
                      </a:pPr>
                      <a:r>
                        <a:rPr sz="1300" b="0">
                          <a:solidFill>
                            <a:srgbClr val="1F1F1F"/>
                          </a:solidFill>
                          <a:latin typeface="Calibri"/>
                        </a:rPr>
                        <a:t>intermediária líder e</a:t>
                      </a:r>
                    </a:p>
                    <a:p>
                      <a:pPr algn="l">
                        <a:lnSpc>
                          <a:spcPct val="100000"/>
                        </a:lnSpc>
                        <a:spcBef>
                          <a:spcPts val="0"/>
                        </a:spcBef>
                        <a:spcAft>
                          <a:spcPts val="0"/>
                        </a:spcAft>
                      </a:pPr>
                      <a:r>
                        <a:rPr sz="1300" b="0">
                          <a:solidFill>
                            <a:srgbClr val="1F1F1F"/>
                          </a:solidFill>
                          <a:latin typeface="Calibri"/>
                        </a:rPr>
                        <a:t>de eventuais</a:t>
                      </a:r>
                    </a:p>
                    <a:p>
                      <a:pPr algn="l">
                        <a:lnSpc>
                          <a:spcPct val="100000"/>
                        </a:lnSpc>
                        <a:spcBef>
                          <a:spcPts val="0"/>
                        </a:spcBef>
                        <a:spcAft>
                          <a:spcPts val="0"/>
                        </a:spcAft>
                      </a:pPr>
                      <a:r>
                        <a:rPr sz="1300" b="0">
                          <a:solidFill>
                            <a:srgbClr val="1F1F1F"/>
                          </a:solidFill>
                          <a:latin typeface="Calibri"/>
                        </a:rPr>
                        <a:t>distribuidores</a:t>
                      </a:r>
                    </a:p>
                    <a:p>
                      <a:pPr algn="l">
                        <a:lnSpc>
                          <a:spcPct val="100000"/>
                        </a:lnSpc>
                        <a:spcBef>
                          <a:spcPts val="0"/>
                        </a:spcBef>
                        <a:spcAft>
                          <a:spcPts val="0"/>
                        </a:spcAft>
                      </a:pPr>
                      <a:r>
                        <a:rPr sz="1300" b="0">
                          <a:solidFill>
                            <a:srgbClr val="1F1F1F"/>
                          </a:solidFill>
                          <a:latin typeface="Calibri"/>
                        </a:rPr>
                        <a:t>contratados para os</a:t>
                      </a:r>
                    </a:p>
                    <a:p>
                      <a:pPr algn="l">
                        <a:lnSpc>
                          <a:spcPct val="100000"/>
                        </a:lnSpc>
                        <a:spcBef>
                          <a:spcPts val="0"/>
                        </a:spcBef>
                        <a:spcAft>
                          <a:spcPts val="0"/>
                        </a:spcAft>
                      </a:pPr>
                      <a:r>
                        <a:rPr sz="1300" b="0">
                          <a:solidFill>
                            <a:srgbClr val="1F1F1F"/>
                          </a:solidFill>
                          <a:latin typeface="Calibri"/>
                        </a:rPr>
                        <a:t>serviços de</a:t>
                      </a:r>
                    </a:p>
                    <a:p>
                      <a:pPr algn="l">
                        <a:lnSpc>
                          <a:spcPct val="100000"/>
                        </a:lnSpc>
                        <a:spcBef>
                          <a:spcPts val="0"/>
                        </a:spcBef>
                        <a:spcAft>
                          <a:spcPts val="0"/>
                        </a:spcAft>
                      </a:pPr>
                      <a:r>
                        <a:rPr sz="1300" b="0">
                          <a:solidFill>
                            <a:srgbClr val="1F1F1F"/>
                          </a:solidFill>
                          <a:latin typeface="Calibri"/>
                        </a:rPr>
                        <a:t>distribuição das Cotas</a:t>
                      </a:r>
                    </a:p>
                    <a:p>
                      <a:pPr algn="l">
                        <a:lnSpc>
                          <a:spcPct val="100000"/>
                        </a:lnSpc>
                        <a:spcBef>
                          <a:spcPts val="0"/>
                        </a:spcBef>
                        <a:spcAft>
                          <a:spcPts val="0"/>
                        </a:spcAft>
                      </a:pPr>
                      <a:r>
                        <a:rPr sz="1300" b="0">
                          <a:solidFill>
                            <a:srgbClr val="1F1F1F"/>
                          </a:solidFill>
                          <a:latin typeface="Calibri"/>
                        </a:rPr>
                        <a:t>da Classe será prevista</a:t>
                      </a:r>
                    </a:p>
                    <a:p>
                      <a:pPr algn="l">
                        <a:lnSpc>
                          <a:spcPct val="100000"/>
                        </a:lnSpc>
                        <a:spcBef>
                          <a:spcPts val="0"/>
                        </a:spcBef>
                        <a:spcAft>
                          <a:spcPts val="0"/>
                        </a:spcAft>
                      </a:pPr>
                      <a:r>
                        <a:rPr sz="1300" b="0">
                          <a:solidFill>
                            <a:srgbClr val="1F1F1F"/>
                          </a:solidFill>
                          <a:latin typeface="Calibri"/>
                        </a:rPr>
                        <a:t>nos documentos da</a:t>
                      </a:r>
                    </a:p>
                    <a:p>
                      <a:pPr algn="l">
                        <a:lnSpc>
                          <a:spcPct val="100000"/>
                        </a:lnSpc>
                        <a:spcBef>
                          <a:spcPts val="0"/>
                        </a:spcBef>
                        <a:spcAft>
                          <a:spcPts val="0"/>
                        </a:spcAft>
                      </a:pPr>
                      <a:r>
                        <a:rPr sz="1300" b="0">
                          <a:solidFill>
                            <a:srgbClr val="1F1F1F"/>
                          </a:solidFill>
                          <a:latin typeface="Calibri"/>
                        </a:rPr>
                        <a:t>respectiva of erta,</a:t>
                      </a:r>
                    </a:p>
                    <a:p>
                      <a:pPr algn="l">
                        <a:lnSpc>
                          <a:spcPct val="100000"/>
                        </a:lnSpc>
                        <a:spcBef>
                          <a:spcPts val="0"/>
                        </a:spcBef>
                        <a:spcAft>
                          <a:spcPts val="0"/>
                        </a:spcAft>
                      </a:pPr>
                      <a:r>
                        <a:rPr sz="1300" b="0">
                          <a:solidFill>
                            <a:srgbClr val="1F1F1F"/>
                          </a:solidFill>
                          <a:latin typeface="Calibri"/>
                        </a:rPr>
                        <a:t>conforme estabelecido</a:t>
                      </a:r>
                    </a:p>
                    <a:p>
                      <a:pPr algn="l">
                        <a:lnSpc>
                          <a:spcPct val="100000"/>
                        </a:lnSpc>
                        <a:spcBef>
                          <a:spcPts val="0"/>
                        </a:spcBef>
                        <a:spcAft>
                          <a:spcPts val="0"/>
                        </a:spcAft>
                      </a:pPr>
                      <a:r>
                        <a:rPr sz="1300" b="0">
                          <a:solidFill>
                            <a:srgbClr val="1F1F1F"/>
                          </a:solidFill>
                          <a:latin typeface="Calibri"/>
                        </a:rPr>
                        <a:t>na Resolução CVM 160 e</a:t>
                      </a:r>
                    </a:p>
                    <a:p>
                      <a:pPr algn="l">
                        <a:lnSpc>
                          <a:spcPct val="100000"/>
                        </a:lnSpc>
                        <a:spcBef>
                          <a:spcPts val="0"/>
                        </a:spcBef>
                        <a:spcAft>
                          <a:spcPts val="0"/>
                        </a:spcAft>
                      </a:pPr>
                      <a:r>
                        <a:rPr sz="1300" b="0">
                          <a:solidFill>
                            <a:srgbClr val="1F1F1F"/>
                          </a:solidFill>
                          <a:latin typeface="Calibri"/>
                        </a:rPr>
                        <a:t>deverá observar uma</a:t>
                      </a:r>
                    </a:p>
                    <a:p>
                      <a:pPr algn="l">
                        <a:lnSpc>
                          <a:spcPct val="100000"/>
                        </a:lnSpc>
                        <a:spcBef>
                          <a:spcPts val="0"/>
                        </a:spcBef>
                        <a:spcAft>
                          <a:spcPts val="0"/>
                        </a:spcAft>
                      </a:pPr>
                      <a:r>
                        <a:rPr sz="1300" b="0">
                          <a:solidFill>
                            <a:srgbClr val="1F1F1F"/>
                          </a:solidFill>
                          <a:latin typeface="Calibri"/>
                        </a:rPr>
                        <a:t>taxa máxima de</a:t>
                      </a:r>
                    </a:p>
                    <a:p>
                      <a:pPr algn="l">
                        <a:lnSpc>
                          <a:spcPct val="100000"/>
                        </a:lnSpc>
                        <a:spcBef>
                          <a:spcPts val="0"/>
                        </a:spcBef>
                        <a:spcAft>
                          <a:spcPts val="0"/>
                        </a:spcAft>
                      </a:pPr>
                      <a:r>
                        <a:rPr sz="1300" b="0">
                          <a:solidFill>
                            <a:srgbClr val="1F1F1F"/>
                          </a:solidFill>
                          <a:latin typeface="Calibri"/>
                        </a:rPr>
                        <a:t>distribuição</a:t>
                      </a:r>
                    </a:p>
                    <a:p>
                      <a:pPr algn="l">
                        <a:lnSpc>
                          <a:spcPct val="100000"/>
                        </a:lnSpc>
                        <a:spcBef>
                          <a:spcPts val="0"/>
                        </a:spcBef>
                        <a:spcAft>
                          <a:spcPts val="0"/>
                        </a:spcAft>
                      </a:pPr>
                      <a:r>
                        <a:rPr sz="1300" b="0">
                          <a:solidFill>
                            <a:srgbClr val="1F1F1F"/>
                          </a:solidFill>
                          <a:latin typeface="Calibri"/>
                        </a:rPr>
                        <a:t>equivalente a 0,9%</a:t>
                      </a:r>
                    </a:p>
                    <a:p>
                      <a:pPr algn="l">
                        <a:lnSpc>
                          <a:spcPct val="100000"/>
                        </a:lnSpc>
                        <a:spcBef>
                          <a:spcPts val="0"/>
                        </a:spcBef>
                        <a:spcAft>
                          <a:spcPts val="0"/>
                        </a:spcAft>
                      </a:pPr>
                      <a:r>
                        <a:rPr sz="1300" b="0">
                          <a:solidFill>
                            <a:srgbClr val="1F1F1F"/>
                          </a:solidFill>
                          <a:latin typeface="Calibri"/>
                        </a:rPr>
                        <a:t>(nove décimos por</a:t>
                      </a:r>
                    </a:p>
                    <a:p>
                      <a:pPr algn="l">
                        <a:lnSpc>
                          <a:spcPct val="100000"/>
                        </a:lnSpc>
                        <a:spcBef>
                          <a:spcPts val="0"/>
                        </a:spcBef>
                        <a:spcAft>
                          <a:spcPts val="0"/>
                        </a:spcAft>
                      </a:pPr>
                      <a:r>
                        <a:rPr sz="1300" b="0">
                          <a:solidFill>
                            <a:srgbClr val="1F1F1F"/>
                          </a:solidFill>
                          <a:latin typeface="Calibri"/>
                        </a:rPr>
                        <a:t>cento) ao ano aplicado</a:t>
                      </a:r>
                    </a:p>
                    <a:p>
                      <a:pPr algn="l">
                        <a:lnSpc>
                          <a:spcPct val="100000"/>
                        </a:lnSpc>
                        <a:spcBef>
                          <a:spcPts val="0"/>
                        </a:spcBef>
                        <a:spcAft>
                          <a:spcPts val="0"/>
                        </a:spcAft>
                      </a:pPr>
                      <a:r>
                        <a:rPr sz="1300" b="0">
                          <a:solidFill>
                            <a:srgbClr val="1F1F1F"/>
                          </a:solidFill>
                          <a:latin typeface="Calibri"/>
                        </a:rPr>
                        <a:t>sobre o Patrimônio</a:t>
                      </a:r>
                    </a:p>
                    <a:p>
                      <a:pPr algn="l">
                        <a:lnSpc>
                          <a:spcPct val="100000"/>
                        </a:lnSpc>
                        <a:spcBef>
                          <a:spcPts val="0"/>
                        </a:spcBef>
                        <a:spcAft>
                          <a:spcPts val="0"/>
                        </a:spcAft>
                      </a:pPr>
                      <a:r>
                        <a:rPr sz="1300" b="0">
                          <a:solidFill>
                            <a:srgbClr val="1F1F1F"/>
                          </a:solidFill>
                          <a:latin typeface="Calibri"/>
                        </a:rPr>
                        <a:t>Anexo I ao Regulamento</a:t>
                      </a:r>
                    </a:p>
                    <a:p>
                      <a:pPr algn="l">
                        <a:lnSpc>
                          <a:spcPct val="100000"/>
                        </a:lnSpc>
                        <a:spcBef>
                          <a:spcPts val="0"/>
                        </a:spcBef>
                        <a:spcAft>
                          <a:spcPts val="0"/>
                        </a:spcAft>
                      </a:pPr>
                      <a:r>
                        <a:rPr sz="1300" b="0">
                          <a:solidFill>
                            <a:srgbClr val="1F1F1F"/>
                          </a:solidFill>
                          <a:latin typeface="Calibri"/>
                        </a:rPr>
                        <a:t>Líquido, observado o</a:t>
                      </a:r>
                    </a:p>
                    <a:p>
                      <a:pPr algn="l">
                        <a:lnSpc>
                          <a:spcPct val="100000"/>
                        </a:lnSpc>
                        <a:spcBef>
                          <a:spcPts val="0"/>
                        </a:spcBef>
                        <a:spcAft>
                          <a:spcPts val="0"/>
                        </a:spcAft>
                      </a:pPr>
                      <a:r>
                        <a:rPr sz="1300" b="0">
                          <a:solidFill>
                            <a:srgbClr val="1F1F1F"/>
                          </a:solidFill>
                          <a:latin typeface="Calibri"/>
                        </a:rPr>
                        <a:t>limite máximo de 4,5%</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12.9 Inclui-se entre as</a:t>
                      </a:r>
                    </a:p>
                    <a:p>
                      <a:pPr algn="l">
                        <a:lnSpc>
                          <a:spcPct val="100000"/>
                        </a:lnSpc>
                        <a:spcBef>
                          <a:spcPts val="0"/>
                        </a:spcBef>
                        <a:spcAft>
                          <a:spcPts val="0"/>
                        </a:spcAft>
                      </a:pPr>
                      <a:r>
                        <a:rPr sz="1300" b="0">
                          <a:solidFill>
                            <a:srgbClr val="1F1F1F"/>
                          </a:solidFill>
                          <a:latin typeface="Calibri"/>
                        </a:rPr>
                        <a:t>obrigações do GESTOR,</a:t>
                      </a:r>
                    </a:p>
                    <a:p>
                      <a:pPr algn="l">
                        <a:lnSpc>
                          <a:spcPct val="100000"/>
                        </a:lnSpc>
                        <a:spcBef>
                          <a:spcPts val="0"/>
                        </a:spcBef>
                        <a:spcAft>
                          <a:spcPts val="0"/>
                        </a:spcAft>
                      </a:pPr>
                      <a:r>
                        <a:rPr sz="1300" b="0">
                          <a:solidFill>
                            <a:srgbClr val="1F1F1F"/>
                          </a:solidFill>
                          <a:latin typeface="Calibri"/>
                        </a:rPr>
                        <a:t>contratar, em nome da</a:t>
                      </a:r>
                    </a:p>
                    <a:p>
                      <a:pPr algn="l">
                        <a:lnSpc>
                          <a:spcPct val="100000"/>
                        </a:lnSpc>
                        <a:spcBef>
                          <a:spcPts val="0"/>
                        </a:spcBef>
                        <a:spcAft>
                          <a:spcPts val="0"/>
                        </a:spcAft>
                      </a:pPr>
                      <a:r>
                        <a:rPr sz="1300" b="0">
                          <a:solidFill>
                            <a:srgbClr val="1F1F1F"/>
                          </a:solidFill>
                          <a:latin typeface="Calibri"/>
                        </a:rPr>
                        <a:t>Classe, se necessário,</a:t>
                      </a:r>
                    </a:p>
                    <a:p>
                      <a:pPr algn="l">
                        <a:lnSpc>
                          <a:spcPct val="100000"/>
                        </a:lnSpc>
                        <a:spcBef>
                          <a:spcPts val="0"/>
                        </a:spcBef>
                        <a:spcAft>
                          <a:spcPts val="0"/>
                        </a:spcAft>
                      </a:pPr>
                      <a:r>
                        <a:rPr sz="1300" b="0">
                          <a:solidFill>
                            <a:srgbClr val="1F1F1F"/>
                          </a:solidFill>
                          <a:latin typeface="Calibri"/>
                        </a:rPr>
                        <a:t>com terceiros</a:t>
                      </a:r>
                    </a:p>
                    <a:p>
                      <a:pPr algn="l">
                        <a:lnSpc>
                          <a:spcPct val="100000"/>
                        </a:lnSpc>
                        <a:spcBef>
                          <a:spcPts val="0"/>
                        </a:spcBef>
                        <a:spcAft>
                          <a:spcPts val="0"/>
                        </a:spcAft>
                      </a:pPr>
                      <a:r>
                        <a:rPr sz="1300" b="0">
                          <a:solidFill>
                            <a:srgbClr val="1F1F1F"/>
                          </a:solidFill>
                          <a:latin typeface="Calibri"/>
                        </a:rPr>
                        <a:t>devidamente habilitados</a:t>
                      </a:r>
                    </a:p>
                    <a:p>
                      <a:pPr algn="l">
                        <a:lnSpc>
                          <a:spcPct val="100000"/>
                        </a:lnSpc>
                        <a:spcBef>
                          <a:spcPts val="0"/>
                        </a:spcBef>
                        <a:spcAft>
                          <a:spcPts val="0"/>
                        </a:spcAft>
                      </a:pPr>
                      <a:r>
                        <a:rPr sz="1300" b="0">
                          <a:solidFill>
                            <a:srgbClr val="1F1F1F"/>
                          </a:solidFill>
                          <a:latin typeface="Calibri"/>
                        </a:rPr>
                        <a:t>e autorizados, os</a:t>
                      </a:r>
                    </a:p>
                    <a:p>
                      <a:pPr algn="l">
                        <a:lnSpc>
                          <a:spcPct val="100000"/>
                        </a:lnSpc>
                        <a:spcBef>
                          <a:spcPts val="0"/>
                        </a:spcBef>
                        <a:spcAft>
                          <a:spcPts val="0"/>
                        </a:spcAft>
                      </a:pPr>
                      <a:r>
                        <a:rPr sz="1300" b="0">
                          <a:solidFill>
                            <a:srgbClr val="1F1F1F"/>
                          </a:solidFill>
                          <a:latin typeface="Calibri"/>
                        </a:rPr>
                        <a:t>serviços de</a:t>
                      </a:r>
                    </a:p>
                    <a:p>
                      <a:pPr algn="l">
                        <a:lnSpc>
                          <a:spcPct val="100000"/>
                        </a:lnSpc>
                        <a:spcBef>
                          <a:spcPts val="0"/>
                        </a:spcBef>
                        <a:spcAft>
                          <a:spcPts val="0"/>
                        </a:spcAft>
                      </a:pPr>
                      <a:r>
                        <a:rPr sz="1300" b="0">
                          <a:solidFill>
                            <a:srgbClr val="1F1F1F"/>
                          </a:solidFill>
                          <a:latin typeface="Calibri"/>
                        </a:rPr>
                        <a:t>distribuição das Cotas.</a:t>
                      </a:r>
                    </a:p>
                    <a:p>
                      <a:pPr algn="l">
                        <a:lnSpc>
                          <a:spcPct val="100000"/>
                        </a:lnSpc>
                        <a:spcBef>
                          <a:spcPts val="0"/>
                        </a:spcBef>
                        <a:spcAft>
                          <a:spcPts val="0"/>
                        </a:spcAft>
                      </a:pPr>
                      <a:r>
                        <a:rPr sz="1300" b="0">
                          <a:solidFill>
                            <a:srgbClr val="1F1F1F"/>
                          </a:solidFill>
                          <a:latin typeface="Calibri"/>
                        </a:rPr>
                        <a:t>A distribuição pública</a:t>
                      </a:r>
                    </a:p>
                    <a:p>
                      <a:pPr algn="l">
                        <a:lnSpc>
                          <a:spcPct val="100000"/>
                        </a:lnSpc>
                        <a:spcBef>
                          <a:spcPts val="0"/>
                        </a:spcBef>
                        <a:spcAft>
                          <a:spcPts val="0"/>
                        </a:spcAft>
                      </a:pPr>
                      <a:r>
                        <a:rPr sz="1300" b="0">
                          <a:solidFill>
                            <a:srgbClr val="1F1F1F"/>
                          </a:solidFill>
                          <a:latin typeface="Calibri"/>
                        </a:rPr>
                        <a:t>das Cotas deverá ser</a:t>
                      </a:r>
                    </a:p>
                    <a:p>
                      <a:pPr algn="l">
                        <a:lnSpc>
                          <a:spcPct val="100000"/>
                        </a:lnSpc>
                        <a:spcBef>
                          <a:spcPts val="0"/>
                        </a:spcBef>
                        <a:spcAft>
                          <a:spcPts val="0"/>
                        </a:spcAft>
                      </a:pPr>
                      <a:r>
                        <a:rPr sz="1300" b="0">
                          <a:solidFill>
                            <a:srgbClr val="1F1F1F"/>
                          </a:solidFill>
                          <a:latin typeface="Calibri"/>
                        </a:rPr>
                        <a:t>realizada por</a:t>
                      </a:r>
                    </a:p>
                    <a:p>
                      <a:pPr algn="l">
                        <a:lnSpc>
                          <a:spcPct val="100000"/>
                        </a:lnSpc>
                        <a:spcBef>
                          <a:spcPts val="0"/>
                        </a:spcBef>
                        <a:spcAft>
                          <a:spcPts val="0"/>
                        </a:spcAft>
                      </a:pPr>
                      <a:r>
                        <a:rPr sz="1300" b="0">
                          <a:solidFill>
                            <a:srgbClr val="1F1F1F"/>
                          </a:solidFill>
                          <a:latin typeface="Calibri"/>
                        </a:rPr>
                        <a:t>distribuidores</a:t>
                      </a:r>
                    </a:p>
                    <a:p>
                      <a:pPr algn="l">
                        <a:lnSpc>
                          <a:spcPct val="100000"/>
                        </a:lnSpc>
                        <a:spcBef>
                          <a:spcPts val="0"/>
                        </a:spcBef>
                        <a:spcAft>
                          <a:spcPts val="0"/>
                        </a:spcAft>
                      </a:pPr>
                      <a:r>
                        <a:rPr sz="1300" b="0">
                          <a:solidFill>
                            <a:srgbClr val="1F1F1F"/>
                          </a:solidFill>
                          <a:latin typeface="Calibri"/>
                        </a:rPr>
                        <a:t>devidamente autorizados</a:t>
                      </a:r>
                    </a:p>
                    <a:p>
                      <a:pPr algn="l">
                        <a:lnSpc>
                          <a:spcPct val="100000"/>
                        </a:lnSpc>
                        <a:spcBef>
                          <a:spcPts val="0"/>
                        </a:spcBef>
                        <a:spcAft>
                          <a:spcPts val="0"/>
                        </a:spcAft>
                      </a:pPr>
                      <a:r>
                        <a:rPr sz="1300" b="0">
                          <a:solidFill>
                            <a:srgbClr val="1F1F1F"/>
                          </a:solidFill>
                          <a:latin typeface="Calibri"/>
                        </a:rPr>
                        <a:t>pela CVM, nos termos da</a:t>
                      </a:r>
                    </a:p>
                    <a:p>
                      <a:pPr algn="l">
                        <a:lnSpc>
                          <a:spcPct val="100000"/>
                        </a:lnSpc>
                        <a:spcBef>
                          <a:spcPts val="0"/>
                        </a:spcBef>
                        <a:spcAft>
                          <a:spcPts val="0"/>
                        </a:spcAft>
                      </a:pPr>
                      <a:r>
                        <a:rPr sz="1300" b="0">
                          <a:solidFill>
                            <a:srgbClr val="1F1F1F"/>
                          </a:solidFill>
                          <a:latin typeface="Calibri"/>
                        </a:rPr>
                        <a:t>regulamentação</a:t>
                      </a:r>
                    </a:p>
                    <a:p>
                      <a:pPr algn="l">
                        <a:lnSpc>
                          <a:spcPct val="100000"/>
                        </a:lnSpc>
                        <a:spcBef>
                          <a:spcPts val="0"/>
                        </a:spcBef>
                        <a:spcAft>
                          <a:spcPts val="0"/>
                        </a:spcAft>
                      </a:pPr>
                      <a:r>
                        <a:rPr sz="1300" b="0">
                          <a:solidFill>
                            <a:srgbClr val="1F1F1F"/>
                          </a:solidFill>
                          <a:latin typeface="Calibri"/>
                        </a:rPr>
                        <a:t>aplicável.</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94/160</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Emissões e custos</a:t>
            </a:r>
          </a:p>
        </p:txBody>
      </p:sp>
      <p:graphicFrame>
        <p:nvGraphicFramePr>
          <p:cNvPr id="3" name="Table 2"/>
          <p:cNvGraphicFramePr>
            <a:graphicFrameLocks noGrp="1"/>
          </p:cNvGraphicFramePr>
          <p:nvPr/>
        </p:nvGraphicFramePr>
        <p:xfrm>
          <a:off x="438912" y="932688"/>
          <a:ext cx="11313868" cy="2441447"/>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1970531">
                <a:tc>
                  <a:txBody>
                    <a:bodyPr wrap="square">
                      <a:noAutofit/>
                    </a:bodyPr>
                    <a:lstStyle/>
                    <a:p>
                      <a:pPr algn="l">
                        <a:lnSpc>
                          <a:spcPct val="100000"/>
                        </a:lnSpc>
                        <a:spcBef>
                          <a:spcPts val="0"/>
                        </a:spcBef>
                        <a:spcAft>
                          <a:spcPts val="0"/>
                        </a:spcAft>
                      </a:pPr>
                      <a:r>
                        <a:rPr sz="1300" b="1">
                          <a:solidFill>
                            <a:srgbClr val="1F1F1F"/>
                          </a:solidFill>
                          <a:latin typeface="Calibri"/>
                        </a:rPr>
                        <a:t>Ofertas e colocação</a:t>
                      </a:r>
                    </a:p>
                    <a:p>
                      <a:pPr algn="l">
                        <a:lnSpc>
                          <a:spcPct val="100000"/>
                        </a:lnSpc>
                        <a:spcBef>
                          <a:spcPts val="0"/>
                        </a:spcBef>
                        <a:spcAft>
                          <a:spcPts val="0"/>
                        </a:spcAft>
                      </a:pPr>
                      <a:r>
                        <a:rPr sz="1300" b="1">
                          <a:solidFill>
                            <a:srgbClr val="1F1F1F"/>
                          </a:solidFill>
                          <a:latin typeface="Calibri"/>
                        </a:rPr>
                        <a:t>(continuação)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Rito: as Novas Cotas</a:t>
                      </a:r>
                    </a:p>
                    <a:p>
                      <a:pPr algn="l">
                        <a:lnSpc>
                          <a:spcPct val="100000"/>
                        </a:lnSpc>
                        <a:spcBef>
                          <a:spcPts val="0"/>
                        </a:spcBef>
                        <a:spcAft>
                          <a:spcPts val="0"/>
                        </a:spcAft>
                      </a:pPr>
                      <a:r>
                        <a:rPr sz="1300" b="0">
                          <a:solidFill>
                            <a:srgbClr val="1F1F1F"/>
                          </a:solidFill>
                          <a:latin typeface="Calibri"/>
                        </a:rPr>
                        <a:t>não serão objeto de</a:t>
                      </a:r>
                    </a:p>
                    <a:p>
                      <a:pPr algn="l">
                        <a:lnSpc>
                          <a:spcPct val="100000"/>
                        </a:lnSpc>
                        <a:spcBef>
                          <a:spcPts val="0"/>
                        </a:spcBef>
                        <a:spcAft>
                          <a:spcPts val="0"/>
                        </a:spcAft>
                      </a:pPr>
                      <a:r>
                        <a:rPr sz="1300" b="0">
                          <a:solidFill>
                            <a:srgbClr val="1F1F1F"/>
                          </a:solidFill>
                          <a:latin typeface="Calibri"/>
                        </a:rPr>
                        <a:t>oferta pública,</a:t>
                      </a:r>
                    </a:p>
                    <a:p>
                      <a:pPr algn="l">
                        <a:lnSpc>
                          <a:spcPct val="100000"/>
                        </a:lnSpc>
                        <a:spcBef>
                          <a:spcPts val="0"/>
                        </a:spcBef>
                        <a:spcAft>
                          <a:spcPts val="0"/>
                        </a:spcAft>
                      </a:pPr>
                      <a:r>
                        <a:rPr sz="1300" b="0">
                          <a:solidFill>
                            <a:srgbClr val="1F1F1F"/>
                          </a:solidFill>
                          <a:latin typeface="Calibri"/>
                        </a:rPr>
                        <a:t>conforme facultado pelo</a:t>
                      </a:r>
                    </a:p>
                    <a:p>
                      <a:pPr algn="l">
                        <a:lnSpc>
                          <a:spcPct val="100000"/>
                        </a:lnSpc>
                        <a:spcBef>
                          <a:spcPts val="0"/>
                        </a:spcBef>
                        <a:spcAft>
                          <a:spcPts val="0"/>
                        </a:spcAft>
                      </a:pPr>
                      <a:r>
                        <a:rPr sz="1300" b="0">
                          <a:solidFill>
                            <a:srgbClr val="1F1F1F"/>
                          </a:solidFill>
                          <a:latin typeface="Calibri"/>
                        </a:rPr>
                        <a:t>artigo 8º, inciso IV,</a:t>
                      </a:r>
                    </a:p>
                    <a:p>
                      <a:pPr algn="l">
                        <a:lnSpc>
                          <a:spcPct val="100000"/>
                        </a:lnSpc>
                        <a:spcBef>
                          <a:spcPts val="0"/>
                        </a:spcBef>
                        <a:spcAft>
                          <a:spcPts val="0"/>
                        </a:spcAft>
                      </a:pPr>
                      <a:r>
                        <a:rPr sz="1300" b="0">
                          <a:solidFill>
                            <a:srgbClr val="1F1F1F"/>
                          </a:solidFill>
                          <a:latin typeface="Calibri"/>
                        </a:rPr>
                        <a:t>da Resolução CVM nº</a:t>
                      </a:r>
                    </a:p>
                    <a:p>
                      <a:pPr algn="l">
                        <a:lnSpc>
                          <a:spcPct val="100000"/>
                        </a:lnSpc>
                        <a:spcBef>
                          <a:spcPts val="0"/>
                        </a:spcBef>
                        <a:spcAft>
                          <a:spcPts val="0"/>
                        </a:spcAft>
                      </a:pPr>
                      <a:r>
                        <a:rPr sz="1300" b="0">
                          <a:solidFill>
                            <a:srgbClr val="1F1F1F"/>
                          </a:solidFill>
                          <a:latin typeface="Calibri"/>
                        </a:rPr>
                        <a:t>160, uma vez que a</a:t>
                      </a:r>
                    </a:p>
                    <a:p>
                      <a:pPr algn="l">
                        <a:lnSpc>
                          <a:spcPct val="100000"/>
                        </a:lnSpc>
                        <a:spcBef>
                          <a:spcPts val="0"/>
                        </a:spcBef>
                        <a:spcAft>
                          <a:spcPts val="0"/>
                        </a:spcAft>
                      </a:pPr>
                      <a:r>
                        <a:rPr sz="1300" b="0">
                          <a:solidFill>
                            <a:srgbClr val="1F1F1F"/>
                          </a:solidFill>
                          <a:latin typeface="Calibri"/>
                        </a:rPr>
                        <a:t>Classe se enquadra nos</a:t>
                      </a:r>
                    </a:p>
                    <a:p>
                      <a:pPr algn="l">
                        <a:lnSpc>
                          <a:spcPct val="100000"/>
                        </a:lnSpc>
                        <a:spcBef>
                          <a:spcPts val="0"/>
                        </a:spcBef>
                        <a:spcAft>
                          <a:spcPts val="0"/>
                        </a:spcAft>
                      </a:pPr>
                      <a:r>
                        <a:rPr sz="1300" b="0">
                          <a:solidFill>
                            <a:srgbClr val="1F1F1F"/>
                          </a:solidFill>
                          <a:latin typeface="Calibri"/>
                        </a:rPr>
                        <a:t>requisitos do referido</a:t>
                      </a:r>
                    </a:p>
                    <a:p>
                      <a:pPr algn="l">
                        <a:lnSpc>
                          <a:spcPct val="100000"/>
                        </a:lnSpc>
                        <a:spcBef>
                          <a:spcPts val="0"/>
                        </a:spcBef>
                        <a:spcAft>
                          <a:spcPts val="0"/>
                        </a:spcAft>
                      </a:pPr>
                      <a:r>
                        <a:rPr sz="1300" b="0">
                          <a:solidFill>
                            <a:srgbClr val="1F1F1F"/>
                          </a:solidFill>
                          <a:latin typeface="Calibri"/>
                        </a:rPr>
                        <a:t>dispositivo;.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(quatro inteiros e</a:t>
                      </a:r>
                    </a:p>
                    <a:p>
                      <a:pPr algn="l">
                        <a:lnSpc>
                          <a:spcPct val="100000"/>
                        </a:lnSpc>
                        <a:spcBef>
                          <a:spcPts val="0"/>
                        </a:spcBef>
                        <a:spcAft>
                          <a:spcPts val="0"/>
                        </a:spcAft>
                      </a:pPr>
                      <a:r>
                        <a:rPr sz="1300" b="0">
                          <a:solidFill>
                            <a:srgbClr val="1F1F1F"/>
                          </a:solidFill>
                          <a:latin typeface="Calibri"/>
                        </a:rPr>
                        <a:t>cinquenta centésimos</a:t>
                      </a:r>
                    </a:p>
                    <a:p>
                      <a:pPr algn="l">
                        <a:lnSpc>
                          <a:spcPct val="100000"/>
                        </a:lnSpc>
                        <a:spcBef>
                          <a:spcPts val="0"/>
                        </a:spcBef>
                        <a:spcAft>
                          <a:spcPts val="0"/>
                        </a:spcAft>
                      </a:pPr>
                      <a:r>
                        <a:rPr sz="1300" b="0">
                          <a:solidFill>
                            <a:srgbClr val="1F1F1F"/>
                          </a:solidFill>
                          <a:latin typeface="Calibri"/>
                        </a:rPr>
                        <a:t>por cento) do volume</a:t>
                      </a:r>
                    </a:p>
                    <a:p>
                      <a:pPr algn="l">
                        <a:lnSpc>
                          <a:spcPct val="100000"/>
                        </a:lnSpc>
                        <a:spcBef>
                          <a:spcPts val="0"/>
                        </a:spcBef>
                        <a:spcAft>
                          <a:spcPts val="0"/>
                        </a:spcAft>
                      </a:pPr>
                      <a:r>
                        <a:rPr sz="1300" b="0">
                          <a:solidFill>
                            <a:srgbClr val="1F1F1F"/>
                          </a:solidFill>
                          <a:latin typeface="Calibri"/>
                        </a:rPr>
                        <a:t>captado na respectiva</a:t>
                      </a:r>
                    </a:p>
                    <a:p>
                      <a:pPr algn="l">
                        <a:lnSpc>
                          <a:spcPct val="100000"/>
                        </a:lnSpc>
                        <a:spcBef>
                          <a:spcPts val="0"/>
                        </a:spcBef>
                        <a:spcAft>
                          <a:spcPts val="0"/>
                        </a:spcAft>
                      </a:pPr>
                      <a:r>
                        <a:rPr sz="1300" b="0">
                          <a:solidFill>
                            <a:srgbClr val="1F1F1F"/>
                          </a:solidFill>
                          <a:latin typeface="Calibri"/>
                        </a:rPr>
                        <a:t>oferta (“Taxa Máxima de</a:t>
                      </a:r>
                    </a:p>
                    <a:p>
                      <a:pPr algn="l">
                        <a:lnSpc>
                          <a:spcPct val="100000"/>
                        </a:lnSpc>
                        <a:spcBef>
                          <a:spcPts val="0"/>
                        </a:spcBef>
                        <a:spcAft>
                          <a:spcPts val="0"/>
                        </a:spcAft>
                      </a:pPr>
                      <a:r>
                        <a:rPr sz="1300" b="0">
                          <a:solidFill>
                            <a:srgbClr val="1F1F1F"/>
                          </a:solidFill>
                          <a:latin typeface="Calibri"/>
                        </a:rPr>
                        <a:t>Distribuição”).A Taxa</a:t>
                      </a:r>
                    </a:p>
                    <a:p>
                      <a:pPr algn="l">
                        <a:lnSpc>
                          <a:spcPct val="100000"/>
                        </a:lnSpc>
                        <a:spcBef>
                          <a:spcPts val="0"/>
                        </a:spcBef>
                        <a:spcAft>
                          <a:spcPts val="0"/>
                        </a:spcAft>
                      </a:pPr>
                      <a:r>
                        <a:rPr sz="1300" b="0">
                          <a:solidFill>
                            <a:srgbClr val="1F1F1F"/>
                          </a:solidFill>
                          <a:latin typeface="Calibri"/>
                        </a:rPr>
                        <a:t>Máxima de</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95/160</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Emissões e custos</a:t>
            </a:r>
          </a:p>
        </p:txBody>
      </p:sp>
      <p:graphicFrame>
        <p:nvGraphicFramePr>
          <p:cNvPr id="3" name="Table 2"/>
          <p:cNvGraphicFramePr>
            <a:graphicFrameLocks noGrp="1"/>
          </p:cNvGraphicFramePr>
          <p:nvPr/>
        </p:nvGraphicFramePr>
        <p:xfrm>
          <a:off x="438912" y="932688"/>
          <a:ext cx="11313870" cy="5175504"/>
        </p:xfrm>
        <a:graphic>
          <a:graphicData uri="http://schemas.openxmlformats.org/drawingml/2006/table">
            <a:tbl>
              <a:tblPr>
                <a:tableStyleId>{5C22544A-7EE6-4342-B048-85BDC9FD1C3A}</a:tableStyleId>
              </a:tblPr>
              <a:tblGrid>
                <a:gridCol w="2331720"/>
                <a:gridCol w="4491075"/>
                <a:gridCol w="4491075"/>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V CDT 1 · 62552447000120</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Global CP · 63953620000165</a:t>
                      </a:r>
                    </a:p>
                  </a:txBody>
                  <a:tcPr marL="91440" marR="91440" marT="41148" marB="41148" anchor="ctr">
                    <a:solidFill>
                      <a:srgbClr val="F7F7F7"/>
                    </a:solidFill>
                    <a:lnL>
                      <a:noFill/>
                    </a:lnL>
                    <a:lnR>
                      <a:noFill/>
                    </a:lnR>
                    <a:lnT>
                      <a:noFill/>
                    </a:lnT>
                    <a:lnB w="6350">
                      <a:solidFill>
                        <a:srgbClr val="D9DEE5"/>
                      </a:solidFill>
                    </a:lnB>
                  </a:tcPr>
                </a:tc>
              </a:tr>
              <a:tr h="4782312">
                <a:tc>
                  <a:txBody>
                    <a:bodyPr wrap="square">
                      <a:noAutofit/>
                    </a:bodyPr>
                    <a:lstStyle/>
                    <a:p>
                      <a:pPr algn="l">
                        <a:lnSpc>
                          <a:spcPct val="100000"/>
                        </a:lnSpc>
                        <a:spcBef>
                          <a:spcPts val="0"/>
                        </a:spcBef>
                        <a:spcAft>
                          <a:spcPts val="0"/>
                        </a:spcAft>
                      </a:pPr>
                      <a:r>
                        <a:rPr sz="1300" b="1">
                          <a:solidFill>
                            <a:srgbClr val="1F1F1F"/>
                          </a:solidFill>
                          <a:latin typeface="Calibri"/>
                        </a:rPr>
                        <a:t>Remuneração por</a:t>
                      </a:r>
                    </a:p>
                    <a:p>
                      <a:pPr algn="l">
                        <a:lnSpc>
                          <a:spcPct val="100000"/>
                        </a:lnSpc>
                        <a:spcBef>
                          <a:spcPts val="0"/>
                        </a:spcBef>
                        <a:spcAft>
                          <a:spcPts val="0"/>
                        </a:spcAft>
                      </a:pPr>
                      <a:r>
                        <a:rPr sz="1300" b="1">
                          <a:solidFill>
                            <a:srgbClr val="1F1F1F"/>
                          </a:solidFill>
                          <a:latin typeface="Calibri"/>
                        </a:rPr>
                        <a:t>subclasse e série</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1.2. Benchmark Sênior. A Classe buscará atingir,</a:t>
                      </a:r>
                    </a:p>
                    <a:p>
                      <a:pPr algn="l">
                        <a:lnSpc>
                          <a:spcPct val="100000"/>
                        </a:lnSpc>
                        <a:spcBef>
                          <a:spcPts val="0"/>
                        </a:spcBef>
                        <a:spcAft>
                          <a:spcPts val="0"/>
                        </a:spcAft>
                      </a:pPr>
                      <a:r>
                        <a:rPr sz="1300" b="0">
                          <a:solidFill>
                            <a:srgbClr val="1F1F1F"/>
                          </a:solidFill>
                          <a:latin typeface="Calibri"/>
                        </a:rPr>
                        <a:t>para as Cotas Seniores, o Benchmark Sênior, qual</a:t>
                      </a:r>
                    </a:p>
                    <a:p>
                      <a:pPr algn="l">
                        <a:lnSpc>
                          <a:spcPct val="100000"/>
                        </a:lnSpc>
                        <a:spcBef>
                          <a:spcPts val="0"/>
                        </a:spcBef>
                        <a:spcAft>
                          <a:spcPts val="0"/>
                        </a:spcAft>
                      </a:pPr>
                      <a:r>
                        <a:rPr sz="1300" b="0">
                          <a:solidFill>
                            <a:srgbClr val="1F1F1F"/>
                          </a:solidFill>
                          <a:latin typeface="Calibri"/>
                        </a:rPr>
                        <a:t>seja, (a) para a parcela do Patrimônio Líquido</a:t>
                      </a:r>
                    </a:p>
                    <a:p>
                      <a:pPr algn="l">
                        <a:lnSpc>
                          <a:spcPct val="100000"/>
                        </a:lnSpc>
                        <a:spcBef>
                          <a:spcPts val="0"/>
                        </a:spcBef>
                        <a:spcAft>
                          <a:spcPts val="0"/>
                        </a:spcAft>
                      </a:pPr>
                      <a:r>
                        <a:rPr sz="1300" b="0">
                          <a:solidFill>
                            <a:srgbClr val="1F1F1F"/>
                          </a:solidFill>
                          <a:latin typeface="Calibri"/>
                        </a:rPr>
                        <a:t>alocado em Direitos Creditórios Consignado</a:t>
                      </a:r>
                    </a:p>
                    <a:p>
                      <a:pPr algn="l">
                        <a:lnSpc>
                          <a:spcPct val="100000"/>
                        </a:lnSpc>
                        <a:spcBef>
                          <a:spcPts val="0"/>
                        </a:spcBef>
                        <a:spcAft>
                          <a:spcPts val="0"/>
                        </a:spcAft>
                      </a:pPr>
                      <a:r>
                        <a:rPr sz="1300" b="0">
                          <a:solidFill>
                            <a:srgbClr val="1F1F1F"/>
                          </a:solidFill>
                          <a:latin typeface="Calibri"/>
                        </a:rPr>
                        <a:t>Privado e/ou Ativos de Liquidez MT, a variação</a:t>
                      </a:r>
                    </a:p>
                    <a:p>
                      <a:pPr algn="l">
                        <a:lnSpc>
                          <a:spcPct val="100000"/>
                        </a:lnSpc>
                        <a:spcBef>
                          <a:spcPts val="0"/>
                        </a:spcBef>
                        <a:spcAft>
                          <a:spcPts val="0"/>
                        </a:spcAft>
                      </a:pPr>
                      <a:r>
                        <a:rPr sz="1300" b="0">
                          <a:solidFill>
                            <a:srgbClr val="1F1F1F"/>
                          </a:solidFill>
                          <a:latin typeface="Calibri"/>
                        </a:rPr>
                        <a:t>positiva do CDI acrescida de 1,50% (um inteiro e</a:t>
                      </a:r>
                    </a:p>
                    <a:p>
                      <a:pPr algn="l">
                        <a:lnSpc>
                          <a:spcPct val="100000"/>
                        </a:lnSpc>
                        <a:spcBef>
                          <a:spcPts val="0"/>
                        </a:spcBef>
                        <a:spcAft>
                          <a:spcPts val="0"/>
                        </a:spcAft>
                      </a:pPr>
                      <a:r>
                        <a:rPr sz="1300" b="0">
                          <a:solidFill>
                            <a:srgbClr val="1F1F1F"/>
                          </a:solidFill>
                          <a:latin typeface="Calibri"/>
                        </a:rPr>
                        <a:t>cinco décimos por cento) ao ano, (b) para a</a:t>
                      </a:r>
                    </a:p>
                    <a:p>
                      <a:pPr algn="l">
                        <a:lnSpc>
                          <a:spcPct val="100000"/>
                        </a:lnSpc>
                        <a:spcBef>
                          <a:spcPts val="0"/>
                        </a:spcBef>
                        <a:spcAft>
                          <a:spcPts val="0"/>
                        </a:spcAft>
                      </a:pPr>
                      <a:r>
                        <a:rPr sz="1300" b="0">
                          <a:solidFill>
                            <a:srgbClr val="1F1F1F"/>
                          </a:solidFill>
                          <a:latin typeface="Calibri"/>
                        </a:rPr>
                        <a:t>parcela do Patrimônio Líquido alocado em Ativos</a:t>
                      </a:r>
                    </a:p>
                    <a:p>
                      <a:pPr algn="l">
                        <a:lnSpc>
                          <a:spcPct val="100000"/>
                        </a:lnSpc>
                        <a:spcBef>
                          <a:spcPts val="0"/>
                        </a:spcBef>
                        <a:spcAft>
                          <a:spcPts val="0"/>
                        </a:spcAft>
                      </a:pPr>
                      <a:r>
                        <a:rPr sz="1300" b="0">
                          <a:solidFill>
                            <a:srgbClr val="1F1F1F"/>
                          </a:solidFill>
                          <a:latin typeface="Calibri"/>
                        </a:rPr>
                        <a:t>de Liquidez e/ou Direitos Creditórios TVM, a</a:t>
                      </a:r>
                    </a:p>
                    <a:p>
                      <a:pPr algn="l">
                        <a:lnSpc>
                          <a:spcPct val="100000"/>
                        </a:lnSpc>
                        <a:spcBef>
                          <a:spcPts val="0"/>
                        </a:spcBef>
                        <a:spcAft>
                          <a:spcPts val="0"/>
                        </a:spcAft>
                      </a:pPr>
                      <a:r>
                        <a:rPr sz="1300" b="0">
                          <a:solidFill>
                            <a:srgbClr val="1F1F1F"/>
                          </a:solidFill>
                          <a:latin typeface="Calibri"/>
                        </a:rPr>
                        <a:t>variação positiva do CDI.</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Adicionalmente ao Benchmark Sênior, as Cotas</a:t>
                      </a:r>
                    </a:p>
                    <a:p>
                      <a:pPr algn="l">
                        <a:lnSpc>
                          <a:spcPct val="100000"/>
                        </a:lnSpc>
                        <a:spcBef>
                          <a:spcPts val="0"/>
                        </a:spcBef>
                        <a:spcAft>
                          <a:spcPts val="0"/>
                        </a:spcAft>
                      </a:pPr>
                      <a:r>
                        <a:rPr sz="1300" b="0">
                          <a:solidFill>
                            <a:srgbClr val="1F1F1F"/>
                          </a:solidFill>
                          <a:latin typeface="Calibri"/>
                        </a:rPr>
                        <a:t>Seniores efetivamente integralizadas farão jus a</a:t>
                      </a:r>
                    </a:p>
                    <a:p>
                      <a:pPr algn="l">
                        <a:lnSpc>
                          <a:spcPct val="100000"/>
                        </a:lnSpc>
                        <a:spcBef>
                          <a:spcPts val="0"/>
                        </a:spcBef>
                        <a:spcAft>
                          <a:spcPts val="0"/>
                        </a:spcAft>
                      </a:pPr>
                      <a:r>
                        <a:rPr sz="1300" b="0">
                          <a:solidFill>
                            <a:srgbClr val="1F1F1F"/>
                          </a:solidFill>
                          <a:latin typeface="Calibri"/>
                        </a:rPr>
                        <a:t>uma rentabilidade adicional equivalente a 0,38%</a:t>
                      </a:r>
                    </a:p>
                    <a:p>
                      <a:pPr algn="l">
                        <a:lnSpc>
                          <a:spcPct val="100000"/>
                        </a:lnSpc>
                        <a:spcBef>
                          <a:spcPts val="0"/>
                        </a:spcBef>
                        <a:spcAft>
                          <a:spcPts val="0"/>
                        </a:spcAft>
                      </a:pPr>
                      <a:r>
                        <a:rPr sz="1300" b="0">
                          <a:solidFill>
                            <a:srgbClr val="1F1F1F"/>
                          </a:solidFill>
                          <a:latin typeface="Calibri"/>
                        </a:rPr>
                        <a:t>(trinta e oito centésimos por cento) incidente</a:t>
                      </a:r>
                    </a:p>
                    <a:p>
                      <a:pPr algn="l">
                        <a:lnSpc>
                          <a:spcPct val="100000"/>
                        </a:lnSpc>
                        <a:spcBef>
                          <a:spcPts val="0"/>
                        </a:spcBef>
                        <a:spcAft>
                          <a:spcPts val="0"/>
                        </a:spcAft>
                      </a:pPr>
                      <a:r>
                        <a:rPr sz="1300" b="0">
                          <a:solidFill>
                            <a:srgbClr val="1F1F1F"/>
                          </a:solidFill>
                          <a:latin typeface="Calibri"/>
                        </a:rPr>
                        <a:t>sobre o montante financeiro integralizado pelo</a:t>
                      </a:r>
                    </a:p>
                    <a:p>
                      <a:pPr algn="l">
                        <a:lnSpc>
                          <a:spcPct val="100000"/>
                        </a:lnSpc>
                        <a:spcBef>
                          <a:spcPts val="0"/>
                        </a:spcBef>
                        <a:spcAft>
                          <a:spcPts val="0"/>
                        </a:spcAft>
                      </a:pPr>
                      <a:r>
                        <a:rPr sz="1300" b="0">
                          <a:solidFill>
                            <a:srgbClr val="1F1F1F"/>
                          </a:solidFill>
                          <a:latin typeface="Calibri"/>
                        </a:rPr>
                        <a:t>respectivo Cotista das Cotas Seniores</a:t>
                      </a:r>
                    </a:p>
                    <a:p>
                      <a:pPr algn="l">
                        <a:lnSpc>
                          <a:spcPct val="100000"/>
                        </a:lnSpc>
                        <a:spcBef>
                          <a:spcPts val="0"/>
                        </a:spcBef>
                        <a:spcAft>
                          <a:spcPts val="0"/>
                        </a:spcAft>
                      </a:pPr>
                      <a:r>
                        <a:rPr sz="1300" b="0">
                          <a:solidFill>
                            <a:srgbClr val="1F1F1F"/>
                          </a:solidFill>
                          <a:latin typeface="Calibri"/>
                        </a:rPr>
                        <a:t>(“Rentabilidade Adicional Sênior”), a ser paga a</a:t>
                      </a:r>
                    </a:p>
                    <a:p>
                      <a:pPr algn="l">
                        <a:lnSpc>
                          <a:spcPct val="100000"/>
                        </a:lnSpc>
                        <a:spcBef>
                          <a:spcPts val="0"/>
                        </a:spcBef>
                        <a:spcAft>
                          <a:spcPts val="0"/>
                        </a:spcAft>
                      </a:pPr>
                      <a:r>
                        <a:rPr sz="1300" b="0">
                          <a:solidFill>
                            <a:srgbClr val="1F1F1F"/>
                          </a:solidFill>
                          <a:latin typeface="Calibri"/>
                        </a:rPr>
                        <a:t>cada Cotista Sênior, em uma única parcela, em até</a:t>
                      </a:r>
                    </a:p>
                    <a:p>
                      <a:pPr algn="l">
                        <a:lnSpc>
                          <a:spcPct val="100000"/>
                        </a:lnSpc>
                        <a:spcBef>
                          <a:spcPts val="0"/>
                        </a:spcBef>
                        <a:spcAft>
                          <a:spcPts val="0"/>
                        </a:spcAft>
                      </a:pPr>
                      <a:r>
                        <a:rPr sz="1300" b="0">
                          <a:solidFill>
                            <a:srgbClr val="1F1F1F"/>
                          </a:solidFill>
                          <a:latin typeface="Calibri"/>
                        </a:rPr>
                        <a:t>40 (quarenta) dias corridos após a integralização</a:t>
                      </a:r>
                    </a:p>
                    <a:p>
                      <a:pPr algn="l">
                        <a:lnSpc>
                          <a:spcPct val="100000"/>
                        </a:lnSpc>
                        <a:spcBef>
                          <a:spcPts val="0"/>
                        </a:spcBef>
                        <a:spcAft>
                          <a:spcPts val="0"/>
                        </a:spcAft>
                      </a:pPr>
                      <a:r>
                        <a:rPr sz="1300" b="0">
                          <a:solidFill>
                            <a:srgbClr val="1F1F1F"/>
                          </a:solidFill>
                          <a:latin typeface="Calibri"/>
                        </a:rPr>
                        <a:t>das respectivas Cotas Seniores, sendo</a:t>
                      </a:r>
                    </a:p>
                    <a:p>
                      <a:pPr algn="l">
                        <a:lnSpc>
                          <a:spcPct val="100000"/>
                        </a:lnSpc>
                        <a:spcBef>
                          <a:spcPts val="0"/>
                        </a:spcBef>
                        <a:spcAft>
                          <a:spcPts val="0"/>
                        </a:spcAft>
                      </a:pPr>
                      <a:r>
                        <a:rPr sz="1300" b="0">
                          <a:solidFill>
                            <a:srgbClr val="1F1F1F"/>
                          </a:solidFill>
                          <a:latin typeface="Calibri"/>
                        </a:rPr>
                        <a:t>automaticamente ajustada em caso de alteração da</a:t>
                      </a:r>
                    </a:p>
                    <a:p>
                      <a:pPr algn="l">
                        <a:lnSpc>
                          <a:spcPct val="100000"/>
                        </a:lnSpc>
                        <a:spcBef>
                          <a:spcPts val="0"/>
                        </a:spcBef>
                        <a:spcAft>
                          <a:spcPts val="0"/>
                        </a:spcAft>
                      </a:pPr>
                      <a:r>
                        <a:rPr sz="1300" b="0">
                          <a:solidFill>
                            <a:srgbClr val="1F1F1F"/>
                          </a:solidFill>
                          <a:latin typeface="Calibri"/>
                        </a:rPr>
                        <a:t>alíquota ou da forma de incidência do IOF, e</a:t>
                      </a:r>
                    </a:p>
                    <a:p>
                      <a:pPr algn="l">
                        <a:lnSpc>
                          <a:spcPct val="100000"/>
                        </a:lnSpc>
                        <a:spcBef>
                          <a:spcPts val="0"/>
                        </a:spcBef>
                        <a:spcAft>
                          <a:spcPts val="0"/>
                        </a:spcAft>
                      </a:pPr>
                      <a:r>
                        <a:rPr sz="1300" b="0">
                          <a:solidFill>
                            <a:srgbClr val="1F1F1F"/>
                          </a:solidFill>
                          <a:latin typeface="Calibri"/>
                        </a:rPr>
                        <a:t>deixando de ser devida na hipótese de sua</a:t>
                      </a:r>
                    </a:p>
                    <a:p>
                      <a:pPr algn="l">
                        <a:lnSpc>
                          <a:spcPct val="100000"/>
                        </a:lnSpc>
                        <a:spcBef>
                          <a:spcPts val="0"/>
                        </a:spcBef>
                        <a:spcAft>
                          <a:spcPts val="0"/>
                        </a:spcAft>
                      </a:pPr>
                      <a:r>
                        <a:rPr sz="1300" b="0">
                          <a:solidFill>
                            <a:srgbClr val="1F1F1F"/>
                          </a:solidFill>
                          <a:latin typeface="Calibri"/>
                        </a:rPr>
                        <a:t>extinção. 2. Emissão, Subscrição e Integralização</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96/160</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Emissões e custos</a:t>
            </a:r>
          </a:p>
        </p:txBody>
      </p:sp>
      <p:graphicFrame>
        <p:nvGraphicFramePr>
          <p:cNvPr id="3" name="Table 2"/>
          <p:cNvGraphicFramePr>
            <a:graphicFrameLocks noGrp="1"/>
          </p:cNvGraphicFramePr>
          <p:nvPr/>
        </p:nvGraphicFramePr>
        <p:xfrm>
          <a:off x="438912" y="932688"/>
          <a:ext cx="11313870" cy="1051560"/>
        </p:xfrm>
        <a:graphic>
          <a:graphicData uri="http://schemas.openxmlformats.org/drawingml/2006/table">
            <a:tbl>
              <a:tblPr>
                <a:tableStyleId>{5C22544A-7EE6-4342-B048-85BDC9FD1C3A}</a:tableStyleId>
              </a:tblPr>
              <a:tblGrid>
                <a:gridCol w="2331720"/>
                <a:gridCol w="4491075"/>
                <a:gridCol w="4491075"/>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V CDT 1 · 62552447000120</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Global CP · 63953620000165</a:t>
                      </a:r>
                    </a:p>
                  </a:txBody>
                  <a:tcPr marL="91440" marR="91440" marT="41148" marB="41148" anchor="ctr">
                    <a:solidFill>
                      <a:srgbClr val="F7F7F7"/>
                    </a:solidFill>
                    <a:lnL>
                      <a:noFill/>
                    </a:lnL>
                    <a:lnR>
                      <a:noFill/>
                    </a:lnR>
                    <a:lnT>
                      <a:noFill/>
                    </a:lnT>
                    <a:lnB w="6350">
                      <a:solidFill>
                        <a:srgbClr val="D9DEE5"/>
                      </a:solidFill>
                    </a:lnB>
                  </a:tcPr>
                </a:tc>
              </a:tr>
              <a:tr h="658368">
                <a:tc>
                  <a:txBody>
                    <a:bodyPr wrap="square">
                      <a:noAutofit/>
                    </a:bodyPr>
                    <a:lstStyle/>
                    <a:p>
                      <a:pPr algn="l">
                        <a:lnSpc>
                          <a:spcPct val="100000"/>
                        </a:lnSpc>
                        <a:spcBef>
                          <a:spcPts val="0"/>
                        </a:spcBef>
                        <a:spcAft>
                          <a:spcPts val="0"/>
                        </a:spcAft>
                      </a:pPr>
                      <a:r>
                        <a:rPr sz="1300" b="1">
                          <a:solidFill>
                            <a:srgbClr val="1F1F1F"/>
                          </a:solidFill>
                          <a:latin typeface="Calibri"/>
                        </a:rPr>
                        <a:t>Remuneração por</a:t>
                      </a:r>
                    </a:p>
                    <a:p>
                      <a:pPr algn="l">
                        <a:lnSpc>
                          <a:spcPct val="100000"/>
                        </a:lnSpc>
                        <a:spcBef>
                          <a:spcPts val="0"/>
                        </a:spcBef>
                        <a:spcAft>
                          <a:spcPts val="0"/>
                        </a:spcAft>
                      </a:pPr>
                      <a:r>
                        <a:rPr sz="1300" b="1">
                          <a:solidFill>
                            <a:srgbClr val="1F1F1F"/>
                          </a:solidFill>
                          <a:latin typeface="Calibri"/>
                        </a:rPr>
                        <a:t>subclasse e série</a:t>
                      </a:r>
                    </a:p>
                    <a:p>
                      <a:pPr algn="l">
                        <a:lnSpc>
                          <a:spcPct val="100000"/>
                        </a:lnSpc>
                        <a:spcBef>
                          <a:spcPts val="0"/>
                        </a:spcBef>
                        <a:spcAft>
                          <a:spcPts val="0"/>
                        </a:spcAft>
                      </a:pPr>
                      <a:r>
                        <a:rPr sz="1300" b="1">
                          <a:solidFill>
                            <a:srgbClr val="1F1F1F"/>
                          </a:solidFill>
                          <a:latin typeface="Calibri"/>
                        </a:rPr>
                        <a:t>(continuação)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das Cotas.</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97/160</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Emissões e custos</a:t>
            </a:r>
          </a:p>
        </p:txBody>
      </p:sp>
      <p:graphicFrame>
        <p:nvGraphicFramePr>
          <p:cNvPr id="3" name="Table 2"/>
          <p:cNvGraphicFramePr>
            <a:graphicFrameLocks noGrp="1"/>
          </p:cNvGraphicFramePr>
          <p:nvPr/>
        </p:nvGraphicFramePr>
        <p:xfrm>
          <a:off x="438912" y="932688"/>
          <a:ext cx="11313870" cy="5175504"/>
        </p:xfrm>
        <a:graphic>
          <a:graphicData uri="http://schemas.openxmlformats.org/drawingml/2006/table">
            <a:tbl>
              <a:tblPr>
                <a:tableStyleId>{5C22544A-7EE6-4342-B048-85BDC9FD1C3A}</a:tableStyleId>
              </a:tblPr>
              <a:tblGrid>
                <a:gridCol w="2331720"/>
                <a:gridCol w="4491075"/>
                <a:gridCol w="4491075"/>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V CDT 1 · 62552447000120</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Global CP · 63953620000165</a:t>
                      </a:r>
                    </a:p>
                  </a:txBody>
                  <a:tcPr marL="91440" marR="91440" marT="41148" marB="41148" anchor="ctr">
                    <a:solidFill>
                      <a:srgbClr val="F7F7F7"/>
                    </a:solidFill>
                    <a:lnL>
                      <a:noFill/>
                    </a:lnL>
                    <a:lnR>
                      <a:noFill/>
                    </a:lnR>
                    <a:lnT>
                      <a:noFill/>
                    </a:lnT>
                    <a:lnB w="6350">
                      <a:solidFill>
                        <a:srgbClr val="D9DEE5"/>
                      </a:solidFill>
                    </a:lnB>
                  </a:tcPr>
                </a:tc>
              </a:tr>
              <a:tr h="4782312">
                <a:tc>
                  <a:txBody>
                    <a:bodyPr wrap="square">
                      <a:noAutofit/>
                    </a:bodyPr>
                    <a:lstStyle/>
                    <a:p>
                      <a:pPr algn="l">
                        <a:lnSpc>
                          <a:spcPct val="100000"/>
                        </a:lnSpc>
                        <a:spcBef>
                          <a:spcPts val="0"/>
                        </a:spcBef>
                        <a:spcAft>
                          <a:spcPts val="0"/>
                        </a:spcAft>
                      </a:pPr>
                      <a:r>
                        <a:rPr sz="1300" b="1">
                          <a:solidFill>
                            <a:srgbClr val="1F1F1F"/>
                          </a:solidFill>
                          <a:latin typeface="Calibri"/>
                        </a:rPr>
                        <a:t>Volume, VNU e emissão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a) Rito: as cotas objeto da Segunda Emissão não</a:t>
                      </a:r>
                    </a:p>
                    <a:p>
                      <a:pPr algn="l">
                        <a:lnSpc>
                          <a:spcPct val="100000"/>
                        </a:lnSpc>
                        <a:spcBef>
                          <a:spcPts val="0"/>
                        </a:spcBef>
                        <a:spcAft>
                          <a:spcPts val="0"/>
                        </a:spcAft>
                      </a:pPr>
                      <a:r>
                        <a:rPr sz="1300" b="0">
                          <a:solidFill>
                            <a:srgbClr val="1F1F1F"/>
                          </a:solidFill>
                          <a:latin typeface="Calibri"/>
                        </a:rPr>
                        <a:t>estão sujeitas a regulamentação de oferta de</a:t>
                      </a:r>
                    </a:p>
                    <a:p>
                      <a:pPr algn="l">
                        <a:lnSpc>
                          <a:spcPct val="100000"/>
                        </a:lnSpc>
                        <a:spcBef>
                          <a:spcPts val="0"/>
                        </a:spcBef>
                        <a:spcAft>
                          <a:spcPts val="0"/>
                        </a:spcAft>
                      </a:pPr>
                      <a:r>
                        <a:rPr sz="1300" b="0">
                          <a:solidFill>
                            <a:srgbClr val="1F1F1F"/>
                          </a:solidFill>
                          <a:latin typeface="Calibri"/>
                        </a:rPr>
                        <a:t>valores mobiliários, conforme facultado pelo Art.</a:t>
                      </a:r>
                    </a:p>
                    <a:p>
                      <a:pPr algn="l">
                        <a:lnSpc>
                          <a:spcPct val="100000"/>
                        </a:lnSpc>
                        <a:spcBef>
                          <a:spcPts val="0"/>
                        </a:spcBef>
                        <a:spcAft>
                          <a:spcPts val="0"/>
                        </a:spcAft>
                      </a:pPr>
                      <a:r>
                        <a:rPr sz="1300" b="0">
                          <a:solidFill>
                            <a:srgbClr val="1F1F1F"/>
                          </a:solidFill>
                          <a:latin typeface="Calibri"/>
                        </a:rPr>
                        <a:t>8º, inciso II, da Resolução CVM nº 160, de 13 de</a:t>
                      </a:r>
                    </a:p>
                    <a:p>
                      <a:pPr algn="l">
                        <a:lnSpc>
                          <a:spcPct val="100000"/>
                        </a:lnSpc>
                        <a:spcBef>
                          <a:spcPts val="0"/>
                        </a:spcBef>
                        <a:spcAft>
                          <a:spcPts val="0"/>
                        </a:spcAft>
                      </a:pPr>
                      <a:r>
                        <a:rPr sz="1300" b="0">
                          <a:solidFill>
                            <a:srgbClr val="1F1F1F"/>
                          </a:solidFill>
                          <a:latin typeface="Calibri"/>
                        </a:rPr>
                        <a:t>julho de 2022; b) Preço de Emissão: R$ 1.000,00</a:t>
                      </a:r>
                    </a:p>
                    <a:p>
                      <a:pPr algn="l">
                        <a:lnSpc>
                          <a:spcPct val="100000"/>
                        </a:lnSpc>
                        <a:spcBef>
                          <a:spcPts val="0"/>
                        </a:spcBef>
                        <a:spcAft>
                          <a:spcPts val="0"/>
                        </a:spcAft>
                      </a:pPr>
                      <a:r>
                        <a:rPr sz="1300" b="0">
                          <a:solidFill>
                            <a:srgbClr val="1F1F1F"/>
                          </a:solidFill>
                          <a:latin typeface="Calibri"/>
                        </a:rPr>
                        <a:t>(mil reais); c) Quantidade de Cotas: 10.000 (dez</a:t>
                      </a:r>
                    </a:p>
                    <a:p>
                      <a:pPr algn="l">
                        <a:lnSpc>
                          <a:spcPct val="100000"/>
                        </a:lnSpc>
                        <a:spcBef>
                          <a:spcPts val="0"/>
                        </a:spcBef>
                        <a:spcAft>
                          <a:spcPts val="0"/>
                        </a:spcAft>
                      </a:pPr>
                      <a:r>
                        <a:rPr sz="1300" b="0">
                          <a:solidFill>
                            <a:srgbClr val="1F1F1F"/>
                          </a:solidFill>
                          <a:latin typeface="Calibri"/>
                        </a:rPr>
                        <a:t>mil) Cotas; d) Preço de Integralização: será o</a:t>
                      </a:r>
                    </a:p>
                    <a:p>
                      <a:pPr algn="l">
                        <a:lnSpc>
                          <a:spcPct val="100000"/>
                        </a:lnSpc>
                        <a:spcBef>
                          <a:spcPts val="0"/>
                        </a:spcBef>
                        <a:spcAft>
                          <a:spcPts val="0"/>
                        </a:spcAft>
                      </a:pPr>
                      <a:r>
                        <a:rPr sz="1300" b="0">
                          <a:solidFill>
                            <a:srgbClr val="1F1F1F"/>
                          </a:solidFill>
                          <a:latin typeface="Calibri"/>
                        </a:rPr>
                        <a:t>valor da Cota vigente na data de integralização,</a:t>
                      </a:r>
                    </a:p>
                    <a:p>
                      <a:pPr algn="l">
                        <a:lnSpc>
                          <a:spcPct val="100000"/>
                        </a:lnSpc>
                        <a:spcBef>
                          <a:spcPts val="0"/>
                        </a:spcBef>
                        <a:spcAft>
                          <a:spcPts val="0"/>
                        </a:spcAft>
                      </a:pPr>
                      <a:r>
                        <a:rPr sz="1300" b="0">
                          <a:solidFill>
                            <a:srgbClr val="1F1F1F"/>
                          </a:solidFill>
                          <a:latin typeface="Calibri"/>
                        </a:rPr>
                        <a:t>nos termos do respectivo boletim de subscrição;</a:t>
                      </a:r>
                    </a:p>
                    <a:p>
                      <a:pPr algn="l">
                        <a:lnSpc>
                          <a:spcPct val="100000"/>
                        </a:lnSpc>
                        <a:spcBef>
                          <a:spcPts val="0"/>
                        </a:spcBef>
                        <a:spcAft>
                          <a:spcPts val="0"/>
                        </a:spcAft>
                      </a:pPr>
                      <a:r>
                        <a:rPr sz="1300" b="0">
                          <a:solidFill>
                            <a:srgbClr val="1F1F1F"/>
                          </a:solidFill>
                          <a:latin typeface="Calibri"/>
                        </a:rPr>
                        <a:t>e) Forma de Integralização: as Cotas serão</a:t>
                      </a:r>
                    </a:p>
                    <a:p>
                      <a:pPr algn="l">
                        <a:lnSpc>
                          <a:spcPct val="100000"/>
                        </a:lnSpc>
                        <a:spcBef>
                          <a:spcPts val="0"/>
                        </a:spcBef>
                        <a:spcAft>
                          <a:spcPts val="0"/>
                        </a:spcAft>
                      </a:pPr>
                      <a:r>
                        <a:rPr sz="1300" b="0">
                          <a:solidFill>
                            <a:srgbClr val="1F1F1F"/>
                          </a:solidFill>
                          <a:latin typeface="Calibri"/>
                        </a:rPr>
                        <a:t>integralizadas à vista, em moeda corrente</a:t>
                      </a:r>
                    </a:p>
                    <a:p>
                      <a:pPr algn="l">
                        <a:lnSpc>
                          <a:spcPct val="100000"/>
                        </a:lnSpc>
                        <a:spcBef>
                          <a:spcPts val="0"/>
                        </a:spcBef>
                        <a:spcAft>
                          <a:spcPts val="0"/>
                        </a:spcAft>
                      </a:pPr>
                      <a:r>
                        <a:rPr sz="1300" b="0">
                          <a:solidFill>
                            <a:srgbClr val="1F1F1F"/>
                          </a:solidFill>
                          <a:latin typeface="Calibri"/>
                        </a:rPr>
                        <a:t>nacional, junto ao seu respectivo agente de</a:t>
                      </a:r>
                    </a:p>
                    <a:p>
                      <a:pPr algn="l">
                        <a:lnSpc>
                          <a:spcPct val="100000"/>
                        </a:lnSpc>
                        <a:spcBef>
                          <a:spcPts val="0"/>
                        </a:spcBef>
                        <a:spcAft>
                          <a:spcPts val="0"/>
                        </a:spcAft>
                      </a:pPr>
                      <a:r>
                        <a:rPr sz="1300" b="0">
                          <a:solidFill>
                            <a:srgbClr val="1F1F1F"/>
                          </a:solidFill>
                          <a:latin typeface="Calibri"/>
                        </a:rPr>
                        <a:t>custódia e/ou da Administradora na qualidade de</a:t>
                      </a:r>
                    </a:p>
                    <a:p>
                      <a:pPr algn="l">
                        <a:lnSpc>
                          <a:spcPct val="100000"/>
                        </a:lnSpc>
                        <a:spcBef>
                          <a:spcPts val="0"/>
                        </a:spcBef>
                        <a:spcAft>
                          <a:spcPts val="0"/>
                        </a:spcAft>
                      </a:pPr>
                      <a:r>
                        <a:rPr sz="1300" b="0">
                          <a:solidFill>
                            <a:srgbClr val="1F1F1F"/>
                          </a:solidFill>
                          <a:latin typeface="Calibri"/>
                        </a:rPr>
                        <a:t>escriturador das cotas; f) Período de colocação:</a:t>
                      </a:r>
                    </a:p>
                    <a:p>
                      <a:pPr algn="l">
                        <a:lnSpc>
                          <a:spcPct val="100000"/>
                        </a:lnSpc>
                        <a:spcBef>
                          <a:spcPts val="0"/>
                        </a:spcBef>
                        <a:spcAft>
                          <a:spcPts val="0"/>
                        </a:spcAft>
                      </a:pPr>
                      <a:r>
                        <a:rPr sz="1300" b="0">
                          <a:solidFill>
                            <a:srgbClr val="1F1F1F"/>
                          </a:solidFill>
                          <a:latin typeface="Calibri"/>
                        </a:rPr>
                        <a:t>a subscrição das Cotas, objeto da Segunda</a:t>
                      </a:r>
                    </a:p>
                    <a:p>
                      <a:pPr algn="l">
                        <a:lnSpc>
                          <a:spcPct val="100000"/>
                        </a:lnSpc>
                        <a:spcBef>
                          <a:spcPts val="0"/>
                        </a:spcBef>
                        <a:spcAft>
                          <a:spcPts val="0"/>
                        </a:spcAft>
                      </a:pPr>
                      <a:r>
                        <a:rPr sz="1300" b="0">
                          <a:solidFill>
                            <a:srgbClr val="1F1F1F"/>
                          </a:solidFill>
                          <a:latin typeface="Calibri"/>
                        </a:rPr>
                        <a:t>Emissão, deverão ser realizadas no prazo máximo</a:t>
                      </a:r>
                    </a:p>
                    <a:p>
                      <a:pPr algn="l">
                        <a:lnSpc>
                          <a:spcPct val="100000"/>
                        </a:lnSpc>
                        <a:spcBef>
                          <a:spcPts val="0"/>
                        </a:spcBef>
                        <a:spcAft>
                          <a:spcPts val="0"/>
                        </a:spcAft>
                      </a:pPr>
                      <a:r>
                        <a:rPr sz="1300" b="0">
                          <a:solidFill>
                            <a:srgbClr val="1F1F1F"/>
                          </a:solidFill>
                          <a:latin typeface="Calibri"/>
                        </a:rPr>
                        <a:t>de 180 (cento e oitenta) dias, contados da data</a:t>
                      </a:r>
                    </a:p>
                    <a:p>
                      <a:pPr algn="l">
                        <a:lnSpc>
                          <a:spcPct val="100000"/>
                        </a:lnSpc>
                        <a:spcBef>
                          <a:spcPts val="0"/>
                        </a:spcBef>
                        <a:spcAft>
                          <a:spcPts val="0"/>
                        </a:spcAft>
                      </a:pPr>
                      <a:r>
                        <a:rPr sz="1300" b="0">
                          <a:solidFill>
                            <a:srgbClr val="1F1F1F"/>
                          </a:solidFill>
                          <a:latin typeface="Calibri"/>
                        </a:rPr>
                        <a:t>de efeitos do presente instrumento.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15.000.000 (quinze bilhões de reais), , a serem</a:t>
                      </a:r>
                    </a:p>
                    <a:p>
                      <a:pPr algn="l">
                        <a:lnSpc>
                          <a:spcPct val="100000"/>
                        </a:lnSpc>
                        <a:spcBef>
                          <a:spcPts val="0"/>
                        </a:spcBef>
                        <a:spcAft>
                          <a:spcPts val="0"/>
                        </a:spcAft>
                      </a:pPr>
                      <a:r>
                        <a:rPr sz="1300" b="0">
                          <a:solidFill>
                            <a:srgbClr val="1F1F1F"/>
                          </a:solidFill>
                          <a:latin typeface="Calibri"/>
                        </a:rPr>
                        <a:t>objeto de colocação privada, nos termos do</a:t>
                      </a:r>
                    </a:p>
                    <a:p>
                      <a:pPr algn="l">
                        <a:lnSpc>
                          <a:spcPct val="100000"/>
                        </a:lnSpc>
                        <a:spcBef>
                          <a:spcPts val="0"/>
                        </a:spcBef>
                        <a:spcAft>
                          <a:spcPts val="0"/>
                        </a:spcAft>
                      </a:pPr>
                      <a:r>
                        <a:rPr sz="1300" b="0">
                          <a:solidFill>
                            <a:srgbClr val="1F1F1F"/>
                          </a:solidFill>
                          <a:latin typeface="Calibri"/>
                        </a:rPr>
                        <a:t>Regulamento, da Resolução CVM 175 e do respectivo</a:t>
                      </a:r>
                    </a:p>
                    <a:p>
                      <a:pPr algn="l">
                        <a:lnSpc>
                          <a:spcPct val="100000"/>
                        </a:lnSpc>
                        <a:spcBef>
                          <a:spcPts val="0"/>
                        </a:spcBef>
                        <a:spcAft>
                          <a:spcPts val="0"/>
                        </a:spcAft>
                      </a:pPr>
                      <a:r>
                        <a:rPr sz="1300" b="0">
                          <a:solidFill>
                            <a:srgbClr val="1F1F1F"/>
                          </a:solidFill>
                          <a:latin typeface="Calibri"/>
                        </a:rPr>
                        <a:t>boletim de subscrição nos seguintes termos: a.</a:t>
                      </a:r>
                    </a:p>
                    <a:p>
                      <a:pPr algn="l">
                        <a:lnSpc>
                          <a:spcPct val="100000"/>
                        </a:lnSpc>
                        <a:spcBef>
                          <a:spcPts val="0"/>
                        </a:spcBef>
                        <a:spcAft>
                          <a:spcPts val="0"/>
                        </a:spcAft>
                      </a:pPr>
                      <a:r>
                        <a:rPr sz="1300" b="0">
                          <a:solidFill>
                            <a:srgbClr val="1F1F1F"/>
                          </a:solidFill>
                          <a:latin typeface="Calibri"/>
                        </a:rPr>
                        <a:t>Montante Total da Colocação Privada: R$</a:t>
                      </a:r>
                    </a:p>
                    <a:p>
                      <a:pPr algn="l">
                        <a:lnSpc>
                          <a:spcPct val="100000"/>
                        </a:lnSpc>
                        <a:spcBef>
                          <a:spcPts val="0"/>
                        </a:spcBef>
                        <a:spcAft>
                          <a:spcPts val="0"/>
                        </a:spcAft>
                      </a:pPr>
                      <a:r>
                        <a:rPr sz="1300" b="0">
                          <a:solidFill>
                            <a:srgbClr val="1F1F1F"/>
                          </a:solidFill>
                          <a:latin typeface="Calibri"/>
                        </a:rPr>
                        <a:t>15.000.000 (quinze bilhões de reais) b.</a:t>
                      </a:r>
                    </a:p>
                    <a:p>
                      <a:pPr algn="l">
                        <a:lnSpc>
                          <a:spcPct val="100000"/>
                        </a:lnSpc>
                        <a:spcBef>
                          <a:spcPts val="0"/>
                        </a:spcBef>
                        <a:spcAft>
                          <a:spcPts val="0"/>
                        </a:spcAft>
                      </a:pPr>
                      <a:r>
                        <a:rPr sz="1300" b="0">
                          <a:solidFill>
                            <a:srgbClr val="1F1F1F"/>
                          </a:solidFill>
                          <a:latin typeface="Calibri"/>
                        </a:rPr>
                        <a:t>Quantidade de Cotas: 15.000.000 (quinze milhões)</a:t>
                      </a:r>
                    </a:p>
                    <a:p>
                      <a:pPr algn="l">
                        <a:lnSpc>
                          <a:spcPct val="100000"/>
                        </a:lnSpc>
                        <a:spcBef>
                          <a:spcPts val="0"/>
                        </a:spcBef>
                        <a:spcAft>
                          <a:spcPts val="0"/>
                        </a:spcAft>
                      </a:pPr>
                      <a:r>
                        <a:rPr sz="1300" b="0">
                          <a:solidFill>
                            <a:srgbClr val="1F1F1F"/>
                          </a:solidFill>
                          <a:latin typeface="Calibri"/>
                        </a:rPr>
                        <a:t>de Cotas Seniores; c. Preço de Emissão (Valor</a:t>
                      </a:r>
                    </a:p>
                    <a:p>
                      <a:pPr algn="l">
                        <a:lnSpc>
                          <a:spcPct val="100000"/>
                        </a:lnSpc>
                        <a:spcBef>
                          <a:spcPts val="0"/>
                        </a:spcBef>
                        <a:spcAft>
                          <a:spcPts val="0"/>
                        </a:spcAft>
                      </a:pPr>
                      <a:r>
                        <a:rPr sz="1300" b="0">
                          <a:solidFill>
                            <a:srgbClr val="1F1F1F"/>
                          </a:solidFill>
                          <a:latin typeface="Calibri"/>
                        </a:rPr>
                        <a:t>Unitário): R$ 1 (mil reais); d. Forma e Preço de</a:t>
                      </a:r>
                    </a:p>
                    <a:p>
                      <a:pPr algn="l">
                        <a:lnSpc>
                          <a:spcPct val="100000"/>
                        </a:lnSpc>
                        <a:spcBef>
                          <a:spcPts val="0"/>
                        </a:spcBef>
                        <a:spcAft>
                          <a:spcPts val="0"/>
                        </a:spcAft>
                      </a:pPr>
                      <a:r>
                        <a:rPr sz="1300" b="0">
                          <a:solidFill>
                            <a:srgbClr val="1F1F1F"/>
                          </a:solidFill>
                          <a:latin typeface="Calibri"/>
                        </a:rPr>
                        <a:t>Integralização: as Cotas serão integralizadas na</a:t>
                      </a:r>
                    </a:p>
                    <a:p>
                      <a:pPr algn="l">
                        <a:lnSpc>
                          <a:spcPct val="100000"/>
                        </a:lnSpc>
                        <a:spcBef>
                          <a:spcPts val="0"/>
                        </a:spcBef>
                        <a:spcAft>
                          <a:spcPts val="0"/>
                        </a:spcAft>
                      </a:pPr>
                      <a:r>
                        <a:rPr sz="1300" b="0">
                          <a:solidFill>
                            <a:srgbClr val="1F1F1F"/>
                          </a:solidFill>
                          <a:latin typeface="Calibri"/>
                        </a:rPr>
                        <a:t>forma prevista no Boletim de Subscrição; e. Prazo</a:t>
                      </a:r>
                    </a:p>
                    <a:p>
                      <a:pPr algn="l">
                        <a:lnSpc>
                          <a:spcPct val="100000"/>
                        </a:lnSpc>
                        <a:spcBef>
                          <a:spcPts val="0"/>
                        </a:spcBef>
                        <a:spcAft>
                          <a:spcPts val="0"/>
                        </a:spcAft>
                      </a:pPr>
                      <a:r>
                        <a:rPr sz="1300" b="0">
                          <a:solidFill>
                            <a:srgbClr val="1F1F1F"/>
                          </a:solidFill>
                          <a:latin typeface="Calibri"/>
                        </a:rPr>
                        <a:t>da Colocação Privada: as Cotas serão colocadas em</a:t>
                      </a:r>
                    </a:p>
                    <a:p>
                      <a:pPr algn="l">
                        <a:lnSpc>
                          <a:spcPct val="100000"/>
                        </a:lnSpc>
                        <a:spcBef>
                          <a:spcPts val="0"/>
                        </a:spcBef>
                        <a:spcAft>
                          <a:spcPts val="0"/>
                        </a:spcAft>
                      </a:pPr>
                      <a:r>
                        <a:rPr sz="1300" b="0">
                          <a:solidFill>
                            <a:srgbClr val="1F1F1F"/>
                          </a:solidFill>
                          <a:latin typeface="Calibri"/>
                        </a:rPr>
                        <a:t>até 180 (cento e oitenta) dias da data deste IPA.</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Em Instrumento Particular de Alteração do MT</a:t>
                      </a:r>
                    </a:p>
                    <a:p>
                      <a:pPr algn="l">
                        <a:lnSpc>
                          <a:spcPct val="100000"/>
                        </a:lnSpc>
                        <a:spcBef>
                          <a:spcPts val="0"/>
                        </a:spcBef>
                        <a:spcAft>
                          <a:spcPts val="0"/>
                        </a:spcAft>
                      </a:pPr>
                      <a:r>
                        <a:rPr sz="1300" b="0">
                          <a:solidFill>
                            <a:srgbClr val="1F1F1F"/>
                          </a:solidFill>
                          <a:latin typeface="Calibri"/>
                        </a:rPr>
                        <a:t>Global Fundo de Investimento em Direitos</a:t>
                      </a:r>
                    </a:p>
                    <a:p>
                      <a:pPr algn="l">
                        <a:lnSpc>
                          <a:spcPct val="100000"/>
                        </a:lnSpc>
                        <a:spcBef>
                          <a:spcPts val="0"/>
                        </a:spcBef>
                        <a:spcAft>
                          <a:spcPts val="0"/>
                        </a:spcAft>
                      </a:pPr>
                      <a:r>
                        <a:rPr sz="1300" b="0">
                          <a:solidFill>
                            <a:srgbClr val="1F1F1F"/>
                          </a:solidFill>
                          <a:latin typeface="Calibri"/>
                        </a:rPr>
                        <a:t>Creditórios, realizada em 08 de janeiro de 2026,</a:t>
                      </a:r>
                    </a:p>
                    <a:p>
                      <a:pPr algn="l">
                        <a:lnSpc>
                          <a:spcPct val="100000"/>
                        </a:lnSpc>
                        <a:spcBef>
                          <a:spcPts val="0"/>
                        </a:spcBef>
                        <a:spcAft>
                          <a:spcPts val="0"/>
                        </a:spcAft>
                      </a:pPr>
                      <a:r>
                        <a:rPr sz="1300" b="0">
                          <a:solidFill>
                            <a:srgbClr val="1F1F1F"/>
                          </a:solidFill>
                          <a:latin typeface="Calibri"/>
                        </a:rPr>
                        <a:t>foram deliberadas as seguintes matérias: (i)</a:t>
                      </a:r>
                    </a:p>
                    <a:p>
                      <a:pPr algn="l">
                        <a:lnSpc>
                          <a:spcPct val="100000"/>
                        </a:lnSpc>
                        <a:spcBef>
                          <a:spcPts val="0"/>
                        </a:spcBef>
                        <a:spcAft>
                          <a:spcPts val="0"/>
                        </a:spcAft>
                      </a:pPr>
                      <a:r>
                        <a:rPr sz="1300" b="0">
                          <a:solidFill>
                            <a:srgbClr val="1F1F1F"/>
                          </a:solidFill>
                          <a:latin typeface="Calibri"/>
                        </a:rPr>
                        <a:t>Alterar regulamento vigente da classe em relação</a:t>
                      </a:r>
                    </a:p>
                    <a:p>
                      <a:pPr algn="l">
                        <a:lnSpc>
                          <a:spcPct val="100000"/>
                        </a:lnSpc>
                        <a:spcBef>
                          <a:spcPts val="0"/>
                        </a:spcBef>
                        <a:spcAft>
                          <a:spcPts val="0"/>
                        </a:spcAft>
                      </a:pPr>
                      <a:r>
                        <a:rPr sz="1300" b="0">
                          <a:solidFill>
                            <a:srgbClr val="1F1F1F"/>
                          </a:solidFill>
                          <a:latin typeface="Calibri"/>
                        </a:rPr>
                        <a:t>aos itens 4.17.1, 6.8 e o Capítulo 13, (b)</a:t>
                      </a:r>
                    </a:p>
                    <a:p>
                      <a:pPr algn="l">
                        <a:lnSpc>
                          <a:spcPct val="100000"/>
                        </a:lnSpc>
                        <a:spcBef>
                          <a:spcPts val="0"/>
                        </a:spcBef>
                        <a:spcAft>
                          <a:spcPts val="0"/>
                        </a:spcAft>
                      </a:pPr>
                      <a:r>
                        <a:rPr sz="1300" b="0">
                          <a:solidFill>
                            <a:srgbClr val="1F1F1F"/>
                          </a:solidFill>
                          <a:latin typeface="Calibri"/>
                        </a:rPr>
                        <a:t>incluir o item 3.1, 8.1.(ii), 8.2, 8.2.1, e</a:t>
                      </a:r>
                    </a:p>
                    <a:p>
                      <a:pPr algn="l">
                        <a:lnSpc>
                          <a:spcPct val="100000"/>
                        </a:lnSpc>
                        <a:spcBef>
                          <a:spcPts val="0"/>
                        </a:spcBef>
                        <a:spcAft>
                          <a:spcPts val="0"/>
                        </a:spcAft>
                      </a:pPr>
                      <a:r>
                        <a:rPr sz="1300" b="0">
                          <a:solidFill>
                            <a:srgbClr val="1F1F1F"/>
                          </a:solidFill>
                          <a:latin typeface="Calibri"/>
                        </a:rPr>
                        <a:t>10.2.(xvii); e (c) excluir os itens 6.8.1, 6.8.2,</a:t>
                      </a:r>
                    </a:p>
                    <a:p>
                      <a:pPr algn="l">
                        <a:lnSpc>
                          <a:spcPct val="100000"/>
                        </a:lnSpc>
                        <a:spcBef>
                          <a:spcPts val="0"/>
                        </a:spcBef>
                        <a:spcAft>
                          <a:spcPts val="0"/>
                        </a:spcAft>
                      </a:pPr>
                      <a:r>
                        <a:rPr sz="1300" b="0">
                          <a:solidFill>
                            <a:srgbClr val="1F1F1F"/>
                          </a:solidFill>
                          <a:latin typeface="Calibri"/>
                        </a:rPr>
                        <a:t>(ii) Aprovar a 1ª (primeira) emissão de cotas</a:t>
                      </a:r>
                    </a:p>
                    <a:p>
                      <a:pPr algn="l">
                        <a:lnSpc>
                          <a:spcPct val="100000"/>
                        </a:lnSpc>
                        <a:spcBef>
                          <a:spcPts val="0"/>
                        </a:spcBef>
                        <a:spcAft>
                          <a:spcPts val="0"/>
                        </a:spcAft>
                      </a:pPr>
                      <a:r>
                        <a:rPr sz="1300" b="0">
                          <a:solidFill>
                            <a:srgbClr val="1F1F1F"/>
                          </a:solidFill>
                          <a:latin typeface="Calibri"/>
                        </a:rPr>
                        <a:t>seniores das Classes (“Cotas Seniores”), em</a:t>
                      </a:r>
                    </a:p>
                    <a:p>
                      <a:pPr algn="l">
                        <a:lnSpc>
                          <a:spcPct val="100000"/>
                        </a:lnSpc>
                        <a:spcBef>
                          <a:spcPts val="0"/>
                        </a:spcBef>
                        <a:spcAft>
                          <a:spcPts val="0"/>
                        </a:spcAft>
                      </a:pPr>
                      <a:r>
                        <a:rPr sz="1300" b="0">
                          <a:solidFill>
                            <a:srgbClr val="1F1F1F"/>
                          </a:solidFill>
                          <a:latin typeface="Calibri"/>
                        </a:rPr>
                        <a:t>sistema de vasos comunicantes entre as Classes,</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98/160</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Emissões e custos</a:t>
            </a:r>
          </a:p>
        </p:txBody>
      </p:sp>
      <p:graphicFrame>
        <p:nvGraphicFramePr>
          <p:cNvPr id="3" name="Table 2"/>
          <p:cNvGraphicFramePr>
            <a:graphicFrameLocks noGrp="1"/>
          </p:cNvGraphicFramePr>
          <p:nvPr/>
        </p:nvGraphicFramePr>
        <p:xfrm>
          <a:off x="438912" y="932688"/>
          <a:ext cx="11313870" cy="4146802"/>
        </p:xfrm>
        <a:graphic>
          <a:graphicData uri="http://schemas.openxmlformats.org/drawingml/2006/table">
            <a:tbl>
              <a:tblPr>
                <a:tableStyleId>{5C22544A-7EE6-4342-B048-85BDC9FD1C3A}</a:tableStyleId>
              </a:tblPr>
              <a:tblGrid>
                <a:gridCol w="2331720"/>
                <a:gridCol w="4491075"/>
                <a:gridCol w="4491075"/>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V CDT 1 · 62552447000120</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Global CP · 63953620000165</a:t>
                      </a:r>
                    </a:p>
                  </a:txBody>
                  <a:tcPr marL="91440" marR="91440" marT="41148" marB="41148" anchor="ctr">
                    <a:solidFill>
                      <a:srgbClr val="F7F7F7"/>
                    </a:solidFill>
                    <a:lnL>
                      <a:noFill/>
                    </a:lnL>
                    <a:lnR>
                      <a:noFill/>
                    </a:lnR>
                    <a:lnT>
                      <a:noFill/>
                    </a:lnT>
                    <a:lnB w="6350">
                      <a:solidFill>
                        <a:srgbClr val="D9DEE5"/>
                      </a:solidFill>
                    </a:lnB>
                  </a:tcPr>
                </a:tc>
              </a:tr>
              <a:tr h="2907791">
                <a:tc>
                  <a:txBody>
                    <a:bodyPr wrap="square">
                      <a:noAutofit/>
                    </a:bodyPr>
                    <a:lstStyle/>
                    <a:p>
                      <a:pPr algn="l">
                        <a:lnSpc>
                          <a:spcPct val="100000"/>
                        </a:lnSpc>
                        <a:spcBef>
                          <a:spcPts val="0"/>
                        </a:spcBef>
                        <a:spcAft>
                          <a:spcPts val="0"/>
                        </a:spcAft>
                      </a:pPr>
                      <a:r>
                        <a:rPr sz="1300" b="1">
                          <a:solidFill>
                            <a:srgbClr val="1F1F1F"/>
                          </a:solidFill>
                          <a:latin typeface="Calibri"/>
                        </a:rPr>
                        <a:t>Volume, VNU e emissão</a:t>
                      </a:r>
                    </a:p>
                    <a:p>
                      <a:pPr algn="l">
                        <a:lnSpc>
                          <a:spcPct val="100000"/>
                        </a:lnSpc>
                        <a:spcBef>
                          <a:spcPts val="0"/>
                        </a:spcBef>
                        <a:spcAft>
                          <a:spcPts val="0"/>
                        </a:spcAft>
                      </a:pPr>
                      <a:r>
                        <a:rPr sz="1300" b="1">
                          <a:solidFill>
                            <a:srgbClr val="1F1F1F"/>
                          </a:solidFill>
                          <a:latin typeface="Calibri"/>
                        </a:rPr>
                        <a:t>(continuação)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de forma que a quantidade de Cotas Seniores</a:t>
                      </a:r>
                    </a:p>
                    <a:p>
                      <a:pPr algn="l">
                        <a:lnSpc>
                          <a:spcPct val="100000"/>
                        </a:lnSpc>
                        <a:spcBef>
                          <a:spcPts val="0"/>
                        </a:spcBef>
                        <a:spcAft>
                          <a:spcPts val="0"/>
                        </a:spcAft>
                      </a:pPr>
                      <a:r>
                        <a:rPr sz="1300" b="0">
                          <a:solidFill>
                            <a:srgbClr val="1F1F1F"/>
                          </a:solidFill>
                          <a:latin typeface="Calibri"/>
                        </a:rPr>
                        <a:t>integralizadas em uma das Classes será deduzida</a:t>
                      </a:r>
                    </a:p>
                    <a:p>
                      <a:pPr algn="l">
                        <a:lnSpc>
                          <a:spcPct val="100000"/>
                        </a:lnSpc>
                        <a:spcBef>
                          <a:spcPts val="0"/>
                        </a:spcBef>
                        <a:spcAft>
                          <a:spcPts val="0"/>
                        </a:spcAft>
                      </a:pPr>
                      <a:r>
                        <a:rPr sz="1300" b="0">
                          <a:solidFill>
                            <a:srgbClr val="1F1F1F"/>
                          </a:solidFill>
                          <a:latin typeface="Calibri"/>
                        </a:rPr>
                        <a:t>da quantidade de Cotas Seniores disponíveis para</a:t>
                      </a:r>
                    </a:p>
                    <a:p>
                      <a:pPr algn="l">
                        <a:lnSpc>
                          <a:spcPct val="100000"/>
                        </a:lnSpc>
                        <a:spcBef>
                          <a:spcPts val="0"/>
                        </a:spcBef>
                        <a:spcAft>
                          <a:spcPts val="0"/>
                        </a:spcAft>
                      </a:pPr>
                      <a:r>
                        <a:rPr sz="1300" b="0">
                          <a:solidFill>
                            <a:srgbClr val="1F1F1F"/>
                          </a:solidFill>
                          <a:latin typeface="Calibri"/>
                        </a:rPr>
                        <a:t>integralização nas demais Classes, no montante</a:t>
                      </a:r>
                    </a:p>
                    <a:p>
                      <a:pPr algn="l">
                        <a:lnSpc>
                          <a:spcPct val="100000"/>
                        </a:lnSpc>
                        <a:spcBef>
                          <a:spcPts val="0"/>
                        </a:spcBef>
                        <a:spcAft>
                          <a:spcPts val="0"/>
                        </a:spcAft>
                      </a:pPr>
                      <a:r>
                        <a:rPr sz="1300" b="0">
                          <a:solidFill>
                            <a:srgbClr val="1F1F1F"/>
                          </a:solidFill>
                          <a:latin typeface="Calibri"/>
                        </a:rPr>
                        <a:t>total de R$.</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f. Montante Total da Colocação Privada: R$ 7.000</a:t>
                      </a:r>
                    </a:p>
                    <a:p>
                      <a:pPr algn="l">
                        <a:lnSpc>
                          <a:spcPct val="100000"/>
                        </a:lnSpc>
                        <a:spcBef>
                          <a:spcPts val="0"/>
                        </a:spcBef>
                        <a:spcAft>
                          <a:spcPts val="0"/>
                        </a:spcAft>
                      </a:pPr>
                      <a:r>
                        <a:rPr sz="1300" b="0">
                          <a:solidFill>
                            <a:srgbClr val="1F1F1F"/>
                          </a:solidFill>
                          <a:latin typeface="Calibri"/>
                        </a:rPr>
                        <a:t>(sete milhões de reais); g. Quantidade de Cotas:</a:t>
                      </a:r>
                    </a:p>
                    <a:p>
                      <a:pPr algn="l">
                        <a:lnSpc>
                          <a:spcPct val="100000"/>
                        </a:lnSpc>
                        <a:spcBef>
                          <a:spcPts val="0"/>
                        </a:spcBef>
                        <a:spcAft>
                          <a:spcPts val="0"/>
                        </a:spcAft>
                      </a:pPr>
                      <a:r>
                        <a:rPr sz="1300" b="0">
                          <a:solidFill>
                            <a:srgbClr val="1F1F1F"/>
                          </a:solidFill>
                          <a:latin typeface="Calibri"/>
                        </a:rPr>
                        <a:t>7.000 (sete mil) de Cotas Subordinadas CP h.</a:t>
                      </a:r>
                    </a:p>
                    <a:p>
                      <a:pPr algn="l">
                        <a:lnSpc>
                          <a:spcPct val="100000"/>
                        </a:lnSpc>
                        <a:spcBef>
                          <a:spcPts val="0"/>
                        </a:spcBef>
                        <a:spcAft>
                          <a:spcPts val="0"/>
                        </a:spcAft>
                      </a:pPr>
                      <a:r>
                        <a:rPr sz="1300" b="0">
                          <a:solidFill>
                            <a:srgbClr val="1F1F1F"/>
                          </a:solidFill>
                          <a:latin typeface="Calibri"/>
                        </a:rPr>
                        <a:t>Preço de Emissão (Valor Unitário): R$ 1 (mil</a:t>
                      </a:r>
                    </a:p>
                    <a:p>
                      <a:pPr algn="l">
                        <a:lnSpc>
                          <a:spcPct val="100000"/>
                        </a:lnSpc>
                        <a:spcBef>
                          <a:spcPts val="0"/>
                        </a:spcBef>
                        <a:spcAft>
                          <a:spcPts val="0"/>
                        </a:spcAft>
                      </a:pPr>
                      <a:r>
                        <a:rPr sz="1300" b="0">
                          <a:solidFill>
                            <a:srgbClr val="1F1F1F"/>
                          </a:solidFill>
                          <a:latin typeface="Calibri"/>
                        </a:rPr>
                        <a:t>reais); i. Forma e Preço de Integralização: as</a:t>
                      </a:r>
                    </a:p>
                    <a:p>
                      <a:pPr algn="l">
                        <a:lnSpc>
                          <a:spcPct val="100000"/>
                        </a:lnSpc>
                        <a:spcBef>
                          <a:spcPts val="0"/>
                        </a:spcBef>
                        <a:spcAft>
                          <a:spcPts val="0"/>
                        </a:spcAft>
                      </a:pPr>
                      <a:r>
                        <a:rPr sz="1300" b="0">
                          <a:solidFill>
                            <a:srgbClr val="1F1F1F"/>
                          </a:solidFill>
                          <a:latin typeface="Calibri"/>
                        </a:rPr>
                        <a:t>Cotas serão integralizadas na forma prevista no</a:t>
                      </a:r>
                    </a:p>
                    <a:p>
                      <a:pPr algn="l">
                        <a:lnSpc>
                          <a:spcPct val="100000"/>
                        </a:lnSpc>
                        <a:spcBef>
                          <a:spcPts val="0"/>
                        </a:spcBef>
                        <a:spcAft>
                          <a:spcPts val="0"/>
                        </a:spcAft>
                      </a:pPr>
                      <a:r>
                        <a:rPr sz="1300" b="0">
                          <a:solidFill>
                            <a:srgbClr val="1F1F1F"/>
                          </a:solidFill>
                          <a:latin typeface="Calibri"/>
                        </a:rPr>
                        <a:t>Boletim de Subscrição; j. Prazo da Colocação</a:t>
                      </a:r>
                    </a:p>
                    <a:p>
                      <a:pPr algn="l">
                        <a:lnSpc>
                          <a:spcPct val="100000"/>
                        </a:lnSpc>
                        <a:spcBef>
                          <a:spcPts val="0"/>
                        </a:spcBef>
                        <a:spcAft>
                          <a:spcPts val="0"/>
                        </a:spcAft>
                      </a:pPr>
                      <a:r>
                        <a:rPr sz="1300" b="0">
                          <a:solidFill>
                            <a:srgbClr val="1F1F1F"/>
                          </a:solidFill>
                          <a:latin typeface="Calibri"/>
                        </a:rPr>
                        <a:t>Privada: as Cotas serão colocadas em até 180</a:t>
                      </a:r>
                    </a:p>
                    <a:p>
                      <a:pPr algn="l">
                        <a:lnSpc>
                          <a:spcPct val="100000"/>
                        </a:lnSpc>
                        <a:spcBef>
                          <a:spcPts val="0"/>
                        </a:spcBef>
                        <a:spcAft>
                          <a:spcPts val="0"/>
                        </a:spcAft>
                      </a:pPr>
                      <a:r>
                        <a:rPr sz="1300" b="0">
                          <a:solidFill>
                            <a:srgbClr val="1F1F1F"/>
                          </a:solidFill>
                          <a:latin typeface="Calibri"/>
                        </a:rPr>
                        <a:t>(cento e oitenta) dias da data deste IPA.</a:t>
                      </a:r>
                    </a:p>
                  </a:txBody>
                  <a:tcPr marL="91440" marR="91440" marT="41148" marB="41148" anchor="ctr">
                    <a:solidFill>
                      <a:srgbClr val="FFFFFF"/>
                    </a:solidFill>
                    <a:lnL>
                      <a:noFill/>
                    </a:lnL>
                    <a:lnR>
                      <a:noFill/>
                    </a:lnR>
                    <a:lnT>
                      <a:noFill/>
                    </a:lnT>
                    <a:lnB>
                      <a:noFill/>
                    </a:lnB>
                  </a:tcPr>
                </a:tc>
              </a:tr>
              <a:tr h="845819">
                <a:tc>
                  <a:txBody>
                    <a:bodyPr wrap="square">
                      <a:noAutofit/>
                    </a:bodyPr>
                    <a:lstStyle/>
                    <a:p>
                      <a:pPr algn="l">
                        <a:lnSpc>
                          <a:spcPct val="100000"/>
                        </a:lnSpc>
                        <a:spcBef>
                          <a:spcPts val="0"/>
                        </a:spcBef>
                        <a:spcAft>
                          <a:spcPts val="0"/>
                        </a:spcAft>
                      </a:pPr>
                      <a:r>
                        <a:rPr sz="1300" b="1">
                          <a:solidFill>
                            <a:srgbClr val="1F1F1F"/>
                          </a:solidFill>
                          <a:latin typeface="Calibri"/>
                        </a:rPr>
                        <a:t>Administração: taxa,</a:t>
                      </a:r>
                    </a:p>
                    <a:p>
                      <a:pPr algn="l">
                        <a:lnSpc>
                          <a:spcPct val="100000"/>
                        </a:lnSpc>
                        <a:spcBef>
                          <a:spcPts val="0"/>
                        </a:spcBef>
                        <a:spcAft>
                          <a:spcPts val="0"/>
                        </a:spcAft>
                      </a:pPr>
                      <a:r>
                        <a:rPr sz="1300" b="1">
                          <a:solidFill>
                            <a:srgbClr val="1F1F1F"/>
                          </a:solidFill>
                          <a:latin typeface="Calibri"/>
                        </a:rPr>
                        <a:t>base e mínimo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Taxa global sobre PL: 0, 90% a.a. até R$ 150 mi;</a:t>
                      </a:r>
                    </a:p>
                    <a:p>
                      <a:pPr algn="l">
                        <a:lnSpc>
                          <a:spcPct val="100000"/>
                        </a:lnSpc>
                        <a:spcBef>
                          <a:spcPts val="0"/>
                        </a:spcBef>
                        <a:spcAft>
                          <a:spcPts val="0"/>
                        </a:spcAft>
                      </a:pPr>
                      <a:r>
                        <a:rPr sz="1300" b="0">
                          <a:solidFill>
                            <a:srgbClr val="1F1F1F"/>
                          </a:solidFill>
                          <a:latin typeface="Calibri"/>
                        </a:rPr>
                        <a:t>0, 80% até R$ 500 mi; 0, 75% até R$ 1 bi; 0, 65%</a:t>
                      </a:r>
                    </a:p>
                    <a:p>
                      <a:pPr algn="l">
                        <a:lnSpc>
                          <a:spcPct val="100000"/>
                        </a:lnSpc>
                        <a:spcBef>
                          <a:spcPts val="0"/>
                        </a:spcBef>
                        <a:spcAft>
                          <a:spcPts val="0"/>
                        </a:spcAft>
                      </a:pPr>
                      <a:r>
                        <a:rPr sz="1300" b="0">
                          <a:solidFill>
                            <a:srgbClr val="1F1F1F"/>
                          </a:solidFill>
                          <a:latin typeface="Calibri"/>
                        </a:rPr>
                        <a:t>acima R$ 1 bi. Mínimo R$ 50 mil/mês, ajuste em</a:t>
                      </a:r>
                    </a:p>
                    <a:p>
                      <a:pPr algn="l">
                        <a:lnSpc>
                          <a:spcPct val="100000"/>
                        </a:lnSpc>
                        <a:spcBef>
                          <a:spcPts val="0"/>
                        </a:spcBef>
                        <a:spcAft>
                          <a:spcPts val="0"/>
                        </a:spcAft>
                      </a:pPr>
                      <a:r>
                        <a:rPr sz="1300" b="0">
                          <a:solidFill>
                            <a:srgbClr val="1F1F1F"/>
                          </a:solidFill>
                          <a:latin typeface="Calibri"/>
                        </a:rPr>
                        <a:t>janeiro por IGP-M positivo; pagamento até 5º DU.</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0, 05% a.a. sobre PL alocado em DC Consignado</a:t>
                      </a:r>
                    </a:p>
                    <a:p>
                      <a:pPr algn="l">
                        <a:lnSpc>
                          <a:spcPct val="100000"/>
                        </a:lnSpc>
                        <a:spcBef>
                          <a:spcPts val="0"/>
                        </a:spcBef>
                        <a:spcAft>
                          <a:spcPts val="0"/>
                        </a:spcAft>
                      </a:pPr>
                      <a:r>
                        <a:rPr sz="1300" b="0">
                          <a:solidFill>
                            <a:srgbClr val="1F1F1F"/>
                          </a:solidFill>
                          <a:latin typeface="Calibri"/>
                        </a:rPr>
                        <a:t>Privado/Ativos de Liquidez MT. Mínimo R$</a:t>
                      </a:r>
                    </a:p>
                    <a:p>
                      <a:pPr algn="l">
                        <a:lnSpc>
                          <a:spcPct val="100000"/>
                        </a:lnSpc>
                        <a:spcBef>
                          <a:spcPts val="0"/>
                        </a:spcBef>
                        <a:spcAft>
                          <a:spcPts val="0"/>
                        </a:spcAft>
                      </a:pPr>
                      <a:r>
                        <a:rPr sz="1300" b="0">
                          <a:solidFill>
                            <a:srgbClr val="1F1F1F"/>
                          </a:solidFill>
                          <a:latin typeface="Calibri"/>
                        </a:rPr>
                        <a:t>2.500/mês, reajuste IGP-M positivo em janeiro;</a:t>
                      </a:r>
                    </a:p>
                    <a:p>
                      <a:pPr algn="l">
                        <a:lnSpc>
                          <a:spcPct val="100000"/>
                        </a:lnSpc>
                        <a:spcBef>
                          <a:spcPts val="0"/>
                        </a:spcBef>
                        <a:spcAft>
                          <a:spcPts val="0"/>
                        </a:spcAft>
                      </a:pPr>
                      <a:r>
                        <a:rPr sz="1300" b="0">
                          <a:solidFill>
                            <a:srgbClr val="1F1F1F"/>
                          </a:solidFill>
                          <a:latin typeface="Calibri"/>
                        </a:rPr>
                        <a:t>base 252 dias úteis e pagamento no 5º dia útil.</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99/160</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Emissões e custos</a:t>
            </a:r>
          </a:p>
        </p:txBody>
      </p:sp>
      <p:graphicFrame>
        <p:nvGraphicFramePr>
          <p:cNvPr id="3" name="Table 2"/>
          <p:cNvGraphicFramePr>
            <a:graphicFrameLocks noGrp="1"/>
          </p:cNvGraphicFramePr>
          <p:nvPr/>
        </p:nvGraphicFramePr>
        <p:xfrm>
          <a:off x="438912" y="932688"/>
          <a:ext cx="11313870" cy="5088634"/>
        </p:xfrm>
        <a:graphic>
          <a:graphicData uri="http://schemas.openxmlformats.org/drawingml/2006/table">
            <a:tbl>
              <a:tblPr>
                <a:tableStyleId>{5C22544A-7EE6-4342-B048-85BDC9FD1C3A}</a:tableStyleId>
              </a:tblPr>
              <a:tblGrid>
                <a:gridCol w="2331720"/>
                <a:gridCol w="4491075"/>
                <a:gridCol w="4491075"/>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V CDT 1 · 62552447000120</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Global CP · 63953620000165</a:t>
                      </a:r>
                    </a:p>
                  </a:txBody>
                  <a:tcPr marL="91440" marR="91440" marT="41148" marB="41148" anchor="ctr">
                    <a:solidFill>
                      <a:srgbClr val="F7F7F7"/>
                    </a:solidFill>
                    <a:lnL>
                      <a:noFill/>
                    </a:lnL>
                    <a:lnR>
                      <a:noFill/>
                    </a:lnR>
                    <a:lnT>
                      <a:noFill/>
                    </a:lnT>
                    <a:lnB w="6350">
                      <a:solidFill>
                        <a:srgbClr val="D9DEE5"/>
                      </a:solidFill>
                    </a:lnB>
                  </a:tcPr>
                </a:tc>
              </a:tr>
              <a:tr h="845819">
                <a:tc>
                  <a:txBody>
                    <a:bodyPr wrap="square">
                      <a:noAutofit/>
                    </a:bodyPr>
                    <a:lstStyle/>
                    <a:p>
                      <a:pPr algn="l">
                        <a:lnSpc>
                          <a:spcPct val="100000"/>
                        </a:lnSpc>
                        <a:spcBef>
                          <a:spcPts val="0"/>
                        </a:spcBef>
                        <a:spcAft>
                          <a:spcPts val="0"/>
                        </a:spcAft>
                      </a:pPr>
                      <a:r>
                        <a:rPr sz="1300" b="1">
                          <a:solidFill>
                            <a:srgbClr val="1F1F1F"/>
                          </a:solidFill>
                          <a:latin typeface="Calibri"/>
                        </a:rPr>
                        <a:t>Gestão: taxa, base e</a:t>
                      </a:r>
                    </a:p>
                    <a:p>
                      <a:pPr algn="l">
                        <a:lnSpc>
                          <a:spcPct val="100000"/>
                        </a:lnSpc>
                        <a:spcBef>
                          <a:spcPts val="0"/>
                        </a:spcBef>
                        <a:spcAft>
                          <a:spcPts val="0"/>
                        </a:spcAft>
                      </a:pPr>
                      <a:r>
                        <a:rPr sz="1300" b="1">
                          <a:solidFill>
                            <a:srgbClr val="1F1F1F"/>
                          </a:solidFill>
                          <a:latin typeface="Calibri"/>
                        </a:rPr>
                        <a:t>mínimo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0, 05% a.a. sobre PL alocado em DC Consignado</a:t>
                      </a:r>
                    </a:p>
                    <a:p>
                      <a:pPr algn="l">
                        <a:lnSpc>
                          <a:spcPct val="100000"/>
                        </a:lnSpc>
                        <a:spcBef>
                          <a:spcPts val="0"/>
                        </a:spcBef>
                        <a:spcAft>
                          <a:spcPts val="0"/>
                        </a:spcAft>
                      </a:pPr>
                      <a:r>
                        <a:rPr sz="1300" b="0">
                          <a:solidFill>
                            <a:srgbClr val="1F1F1F"/>
                          </a:solidFill>
                          <a:latin typeface="Calibri"/>
                        </a:rPr>
                        <a:t>Privado/Ativos de Liquidez MT. Mínimo R$</a:t>
                      </a:r>
                    </a:p>
                    <a:p>
                      <a:pPr algn="l">
                        <a:lnSpc>
                          <a:spcPct val="100000"/>
                        </a:lnSpc>
                        <a:spcBef>
                          <a:spcPts val="0"/>
                        </a:spcBef>
                        <a:spcAft>
                          <a:spcPts val="0"/>
                        </a:spcAft>
                      </a:pPr>
                      <a:r>
                        <a:rPr sz="1300" b="0">
                          <a:solidFill>
                            <a:srgbClr val="1F1F1F"/>
                          </a:solidFill>
                          <a:latin typeface="Calibri"/>
                        </a:rPr>
                        <a:t>2.500/mês, reajuste IGP-M positivo em janeiro;</a:t>
                      </a:r>
                    </a:p>
                    <a:p>
                      <a:pPr algn="l">
                        <a:lnSpc>
                          <a:spcPct val="100000"/>
                        </a:lnSpc>
                        <a:spcBef>
                          <a:spcPts val="0"/>
                        </a:spcBef>
                        <a:spcAft>
                          <a:spcPts val="0"/>
                        </a:spcAft>
                      </a:pPr>
                      <a:r>
                        <a:rPr sz="1300" b="0">
                          <a:solidFill>
                            <a:srgbClr val="1F1F1F"/>
                          </a:solidFill>
                          <a:latin typeface="Calibri"/>
                        </a:rPr>
                        <a:t>base 252 dias úteis e pagamento no 5º dia útil.</a:t>
                      </a:r>
                    </a:p>
                  </a:txBody>
                  <a:tcPr marL="91440" marR="91440" marT="41148" marB="41148" anchor="ctr">
                    <a:solidFill>
                      <a:srgbClr val="FFFFFF"/>
                    </a:solidFill>
                    <a:lnL>
                      <a:noFill/>
                    </a:lnL>
                    <a:lnR>
                      <a:noFill/>
                    </a:lnR>
                    <a:lnT>
                      <a:noFill/>
                    </a:lnT>
                    <a:lnB>
                      <a:noFill/>
                    </a:lnB>
                  </a:tcPr>
                </a:tc>
              </a:tr>
              <a:tr h="470916">
                <a:tc>
                  <a:txBody>
                    <a:bodyPr wrap="square">
                      <a:noAutofit/>
                    </a:bodyPr>
                    <a:lstStyle/>
                    <a:p>
                      <a:pPr algn="l">
                        <a:lnSpc>
                          <a:spcPct val="100000"/>
                        </a:lnSpc>
                        <a:spcBef>
                          <a:spcPts val="0"/>
                        </a:spcBef>
                        <a:spcAft>
                          <a:spcPts val="0"/>
                        </a:spcAft>
                      </a:pPr>
                      <a:r>
                        <a:rPr sz="1300" b="1">
                          <a:solidFill>
                            <a:srgbClr val="1F1F1F"/>
                          </a:solidFill>
                          <a:latin typeface="Calibri"/>
                        </a:rPr>
                        <a:t>Performance: benchmark e</a:t>
                      </a:r>
                    </a:p>
                    <a:p>
                      <a:pPr algn="l">
                        <a:lnSpc>
                          <a:spcPct val="100000"/>
                        </a:lnSpc>
                        <a:spcBef>
                          <a:spcPts val="0"/>
                        </a:spcBef>
                        <a:spcAft>
                          <a:spcPts val="0"/>
                        </a:spcAft>
                      </a:pPr>
                      <a:r>
                        <a:rPr sz="1300" b="1">
                          <a:solidFill>
                            <a:srgbClr val="1F1F1F"/>
                          </a:solidFill>
                          <a:latin typeface="Calibri"/>
                        </a:rPr>
                        <a:t>apuração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Classe não paga taxa de performance nem taxa de</a:t>
                      </a:r>
                    </a:p>
                    <a:p>
                      <a:pPr algn="l">
                        <a:lnSpc>
                          <a:spcPct val="100000"/>
                        </a:lnSpc>
                        <a:spcBef>
                          <a:spcPts val="0"/>
                        </a:spcBef>
                        <a:spcAft>
                          <a:spcPts val="0"/>
                        </a:spcAft>
                      </a:pPr>
                      <a:r>
                        <a:rPr sz="1300" b="0">
                          <a:solidFill>
                            <a:srgbClr val="1F1F1F"/>
                          </a:solidFill>
                          <a:latin typeface="Calibri"/>
                        </a:rPr>
                        <a:t>ingresso.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Sem taxas de performance ou ingresso; custódia</a:t>
                      </a:r>
                    </a:p>
                    <a:p>
                      <a:pPr algn="l">
                        <a:lnSpc>
                          <a:spcPct val="100000"/>
                        </a:lnSpc>
                        <a:spcBef>
                          <a:spcPts val="0"/>
                        </a:spcBef>
                        <a:spcAft>
                          <a:spcPts val="0"/>
                        </a:spcAft>
                      </a:pPr>
                      <a:r>
                        <a:rPr sz="1300" b="0">
                          <a:solidFill>
                            <a:srgbClr val="1F1F1F"/>
                          </a:solidFill>
                          <a:latin typeface="Calibri"/>
                        </a:rPr>
                        <a:t>máxima 0% a.a. e distribuição não cobrada.</a:t>
                      </a:r>
                    </a:p>
                  </a:txBody>
                  <a:tcPr marL="91440" marR="91440" marT="41148" marB="41148" anchor="ctr">
                    <a:solidFill>
                      <a:srgbClr val="FFFFFF"/>
                    </a:solidFill>
                    <a:lnL>
                      <a:noFill/>
                    </a:lnL>
                    <a:lnR>
                      <a:noFill/>
                    </a:lnR>
                    <a:lnT>
                      <a:noFill/>
                    </a:lnT>
                    <a:lnB>
                      <a:noFill/>
                    </a:lnB>
                  </a:tcPr>
                </a:tc>
              </a:tr>
              <a:tr h="470916">
                <a:tc>
                  <a:txBody>
                    <a:bodyPr wrap="square">
                      <a:noAutofit/>
                    </a:bodyPr>
                    <a:lstStyle/>
                    <a:p>
                      <a:pPr algn="l">
                        <a:lnSpc>
                          <a:spcPct val="100000"/>
                        </a:lnSpc>
                        <a:spcBef>
                          <a:spcPts val="0"/>
                        </a:spcBef>
                        <a:spcAft>
                          <a:spcPts val="0"/>
                        </a:spcAft>
                      </a:pPr>
                      <a:r>
                        <a:rPr sz="1300" b="1">
                          <a:solidFill>
                            <a:srgbClr val="1F1F1F"/>
                          </a:solidFill>
                          <a:latin typeface="Calibri"/>
                        </a:rPr>
                        <a:t>Custódia, escrituração e</a:t>
                      </a:r>
                    </a:p>
                    <a:p>
                      <a:pPr algn="l">
                        <a:lnSpc>
                          <a:spcPct val="100000"/>
                        </a:lnSpc>
                        <a:spcBef>
                          <a:spcPts val="0"/>
                        </a:spcBef>
                        <a:spcAft>
                          <a:spcPts val="0"/>
                        </a:spcAft>
                      </a:pPr>
                      <a:r>
                        <a:rPr sz="1300" b="1">
                          <a:solidFill>
                            <a:srgbClr val="1F1F1F"/>
                          </a:solidFill>
                          <a:latin typeface="Calibri"/>
                        </a:rPr>
                        <a:t>encargos</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a:noFill/>
                    </a:lnB>
                  </a:tcPr>
                </a:tc>
              </a:tr>
              <a:tr h="2907791">
                <a:tc>
                  <a:txBody>
                    <a:bodyPr wrap="square">
                      <a:noAutofit/>
                    </a:bodyPr>
                    <a:lstStyle/>
                    <a:p>
                      <a:pPr algn="l">
                        <a:lnSpc>
                          <a:spcPct val="100000"/>
                        </a:lnSpc>
                        <a:spcBef>
                          <a:spcPts val="0"/>
                        </a:spcBef>
                        <a:spcAft>
                          <a:spcPts val="0"/>
                        </a:spcAft>
                      </a:pPr>
                      <a:r>
                        <a:rPr sz="1300" b="1">
                          <a:solidFill>
                            <a:srgbClr val="1F1F1F"/>
                          </a:solidFill>
                          <a:latin typeface="Calibri"/>
                        </a:rPr>
                        <a:t>Classes e séries de</a:t>
                      </a:r>
                    </a:p>
                    <a:p>
                      <a:pPr algn="l">
                        <a:lnSpc>
                          <a:spcPct val="100000"/>
                        </a:lnSpc>
                        <a:spcBef>
                          <a:spcPts val="0"/>
                        </a:spcBef>
                        <a:spcAft>
                          <a:spcPts val="0"/>
                        </a:spcAft>
                      </a:pPr>
                      <a:r>
                        <a:rPr sz="1300" b="1">
                          <a:solidFill>
                            <a:srgbClr val="1F1F1F"/>
                          </a:solidFill>
                          <a:latin typeface="Calibri"/>
                        </a:rPr>
                        <a:t>cotas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4.1. Aprovar a realização da incorporação das</a:t>
                      </a:r>
                    </a:p>
                    <a:p>
                      <a:pPr algn="l">
                        <a:lnSpc>
                          <a:spcPct val="100000"/>
                        </a:lnSpc>
                        <a:spcBef>
                          <a:spcPts val="0"/>
                        </a:spcBef>
                        <a:spcAft>
                          <a:spcPts val="0"/>
                        </a:spcAft>
                      </a:pPr>
                      <a:r>
                        <a:rPr sz="1300" b="0">
                          <a:solidFill>
                            <a:srgbClr val="1F1F1F"/>
                          </a:solidFill>
                          <a:latin typeface="Calibri"/>
                        </a:rPr>
                        <a:t>parcelas cindidas descritas no Anexo I à presente</a:t>
                      </a:r>
                    </a:p>
                    <a:p>
                      <a:pPr algn="l">
                        <a:lnSpc>
                          <a:spcPct val="100000"/>
                        </a:lnSpc>
                        <a:spcBef>
                          <a:spcPts val="0"/>
                        </a:spcBef>
                        <a:spcAft>
                          <a:spcPts val="0"/>
                        </a:spcAft>
                      </a:pPr>
                      <a:r>
                        <a:rPr sz="1300" b="0">
                          <a:solidFill>
                            <a:srgbClr val="1F1F1F"/>
                          </a:solidFill>
                          <a:latin typeface="Calibri"/>
                        </a:rPr>
                        <a:t>ata (“Parcelas Cindidas”), com base no fechamento</a:t>
                      </a:r>
                    </a:p>
                    <a:p>
                      <a:pPr algn="l">
                        <a:lnSpc>
                          <a:spcPct val="100000"/>
                        </a:lnSpc>
                        <a:spcBef>
                          <a:spcPts val="0"/>
                        </a:spcBef>
                        <a:spcAft>
                          <a:spcPts val="0"/>
                        </a:spcAft>
                      </a:pPr>
                      <a:r>
                        <a:rPr sz="1300" b="0">
                          <a:solidFill>
                            <a:srgbClr val="1F1F1F"/>
                          </a:solidFill>
                          <a:latin typeface="Calibri"/>
                        </a:rPr>
                        <a:t>de 28 de agosto de 2026 (“Data Base”),</a:t>
                      </a:r>
                    </a:p>
                    <a:p>
                      <a:pPr algn="l">
                        <a:lnSpc>
                          <a:spcPct val="100000"/>
                        </a:lnSpc>
                        <a:spcBef>
                          <a:spcPts val="0"/>
                        </a:spcBef>
                        <a:spcAft>
                          <a:spcPts val="0"/>
                        </a:spcAft>
                      </a:pPr>
                      <a:r>
                        <a:rPr sz="1300" b="0">
                          <a:solidFill>
                            <a:srgbClr val="1F1F1F"/>
                          </a:solidFill>
                          <a:latin typeface="Calibri"/>
                        </a:rPr>
                        <a:t>condicionada à aprovação da cisão da CLASSE ÚNICA</a:t>
                      </a:r>
                    </a:p>
                    <a:p>
                      <a:pPr algn="l">
                        <a:lnSpc>
                          <a:spcPct val="100000"/>
                        </a:lnSpc>
                        <a:spcBef>
                          <a:spcPts val="0"/>
                        </a:spcBef>
                        <a:spcAft>
                          <a:spcPts val="0"/>
                        </a:spcAft>
                      </a:pPr>
                      <a:r>
                        <a:rPr sz="1300" b="0">
                          <a:solidFill>
                            <a:srgbClr val="1F1F1F"/>
                          </a:solidFill>
                          <a:latin typeface="Calibri"/>
                        </a:rPr>
                        <a:t>DO MT CONSIGNADO PRIVADO I FUNDO DE INVESTIMENTO</a:t>
                      </a:r>
                    </a:p>
                    <a:p>
                      <a:pPr algn="l">
                        <a:lnSpc>
                          <a:spcPct val="100000"/>
                        </a:lnSpc>
                        <a:spcBef>
                          <a:spcPts val="0"/>
                        </a:spcBef>
                        <a:spcAft>
                          <a:spcPts val="0"/>
                        </a:spcAft>
                      </a:pPr>
                      <a:r>
                        <a:rPr sz="1300" b="0">
                          <a:solidFill>
                            <a:srgbClr val="1F1F1F"/>
                          </a:solidFill>
                          <a:latin typeface="Calibri"/>
                        </a:rPr>
                        <a:t>EM DIREITOS CREDITÓRIOS RESPONSABILIDADE</a:t>
                      </a:r>
                    </a:p>
                    <a:p>
                      <a:pPr algn="l">
                        <a:lnSpc>
                          <a:spcPct val="100000"/>
                        </a:lnSpc>
                        <a:spcBef>
                          <a:spcPts val="0"/>
                        </a:spcBef>
                        <a:spcAft>
                          <a:spcPts val="0"/>
                        </a:spcAft>
                      </a:pPr>
                      <a:r>
                        <a:rPr sz="1300" b="0">
                          <a:solidFill>
                            <a:srgbClr val="1F1F1F"/>
                          </a:solidFill>
                          <a:latin typeface="Calibri"/>
                        </a:rPr>
                        <a:t>LIMITADA, inscrita no CNPJ sob o nº</a:t>
                      </a:r>
                    </a:p>
                    <a:p>
                      <a:pPr algn="l">
                        <a:lnSpc>
                          <a:spcPct val="100000"/>
                        </a:lnSpc>
                        <a:spcBef>
                          <a:spcPts val="0"/>
                        </a:spcBef>
                        <a:spcAft>
                          <a:spcPts val="0"/>
                        </a:spcAft>
                      </a:pPr>
                      <a:r>
                        <a:rPr sz="1300" b="0">
                          <a:solidFill>
                            <a:srgbClr val="1F1F1F"/>
                          </a:solidFill>
                          <a:latin typeface="Calibri"/>
                        </a:rPr>
                        <a:t>60.010.416/0001-12 (“Classe Cindida”), com a</a:t>
                      </a:r>
                    </a:p>
                    <a:p>
                      <a:pPr algn="l">
                        <a:lnSpc>
                          <a:spcPct val="100000"/>
                        </a:lnSpc>
                        <a:spcBef>
                          <a:spcPts val="0"/>
                        </a:spcBef>
                        <a:spcAft>
                          <a:spcPts val="0"/>
                        </a:spcAft>
                      </a:pPr>
                      <a:r>
                        <a:rPr sz="1300" b="0">
                          <a:solidFill>
                            <a:srgbClr val="1F1F1F"/>
                          </a:solidFill>
                          <a:latin typeface="Calibri"/>
                        </a:rPr>
                        <a:t>subsequente incorporação da respectiva Parcela</a:t>
                      </a:r>
                    </a:p>
                    <a:p>
                      <a:pPr algn="l">
                        <a:lnSpc>
                          <a:spcPct val="100000"/>
                        </a:lnSpc>
                        <a:spcBef>
                          <a:spcPts val="0"/>
                        </a:spcBef>
                        <a:spcAft>
                          <a:spcPts val="0"/>
                        </a:spcAft>
                      </a:pPr>
                      <a:r>
                        <a:rPr sz="1300" b="0">
                          <a:solidFill>
                            <a:srgbClr val="1F1F1F"/>
                          </a:solidFill>
                          <a:latin typeface="Calibri"/>
                        </a:rPr>
                        <a:t>Cindida, emitindo-se cotas seniores da Classe, a</a:t>
                      </a:r>
                    </a:p>
                    <a:p>
                      <a:pPr algn="l">
                        <a:lnSpc>
                          <a:spcPct val="100000"/>
                        </a:lnSpc>
                        <a:spcBef>
                          <a:spcPts val="0"/>
                        </a:spcBef>
                        <a:spcAft>
                          <a:spcPts val="0"/>
                        </a:spcAft>
                      </a:pPr>
                      <a:r>
                        <a:rPr sz="1300" b="0">
                          <a:solidFill>
                            <a:srgbClr val="1F1F1F"/>
                          </a:solidFill>
                          <a:latin typeface="Calibri"/>
                        </a:rPr>
                        <a:t>serem atribuídas integralmente aos cotistas da</a:t>
                      </a:r>
                    </a:p>
                    <a:p>
                      <a:pPr algn="l">
                        <a:lnSpc>
                          <a:spcPct val="100000"/>
                        </a:lnSpc>
                        <a:spcBef>
                          <a:spcPts val="0"/>
                        </a:spcBef>
                        <a:spcAft>
                          <a:spcPts val="0"/>
                        </a:spcAft>
                      </a:pPr>
                      <a:r>
                        <a:rPr sz="1300" b="0">
                          <a:solidFill>
                            <a:srgbClr val="1F1F1F"/>
                          </a:solidFill>
                          <a:latin typeface="Calibri"/>
                        </a:rPr>
                        <a:t>Classe Cindida, no valor da respectiva Parcela</a:t>
                      </a:r>
                    </a:p>
                    <a:p>
                      <a:pPr algn="l">
                        <a:lnSpc>
                          <a:spcPct val="100000"/>
                        </a:lnSpc>
                        <a:spcBef>
                          <a:spcPts val="0"/>
                        </a:spcBef>
                        <a:spcAft>
                          <a:spcPts val="0"/>
                        </a:spcAft>
                      </a:pPr>
                      <a:r>
                        <a:rPr sz="1300" b="0">
                          <a:solidFill>
                            <a:srgbClr val="1F1F1F"/>
                          </a:solidFill>
                          <a:latin typeface="Calibri"/>
                        </a:rPr>
                        <a:t>Cindida, na Data-Base, de acordo com o valor das</a:t>
                      </a:r>
                    </a:p>
                    <a:p>
                      <a:pPr algn="l">
                        <a:lnSpc>
                          <a:spcPct val="100000"/>
                        </a:lnSpc>
                        <a:spcBef>
                          <a:spcPts val="0"/>
                        </a:spcBef>
                        <a:spcAft>
                          <a:spcPts val="0"/>
                        </a:spcAft>
                      </a:pPr>
                      <a:r>
                        <a:rPr sz="1300" b="0">
                          <a:solidFill>
                            <a:srgbClr val="1F1F1F"/>
                          </a:solidFill>
                          <a:latin typeface="Calibri"/>
                        </a:rPr>
                        <a:t>cotas da Classe na mesma data.</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100/160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Emissões e custos</a:t>
            </a:r>
          </a:p>
        </p:txBody>
      </p:sp>
      <p:graphicFrame>
        <p:nvGraphicFramePr>
          <p:cNvPr id="3" name="Table 2"/>
          <p:cNvGraphicFramePr>
            <a:graphicFrameLocks noGrp="1"/>
          </p:cNvGraphicFramePr>
          <p:nvPr/>
        </p:nvGraphicFramePr>
        <p:xfrm>
          <a:off x="438912" y="932688"/>
          <a:ext cx="11313870" cy="2363723"/>
        </p:xfrm>
        <a:graphic>
          <a:graphicData uri="http://schemas.openxmlformats.org/drawingml/2006/table">
            <a:tbl>
              <a:tblPr>
                <a:tableStyleId>{5C22544A-7EE6-4342-B048-85BDC9FD1C3A}</a:tableStyleId>
              </a:tblPr>
              <a:tblGrid>
                <a:gridCol w="2331720"/>
                <a:gridCol w="4491075"/>
                <a:gridCol w="4491075"/>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V CDT 1 · 62552447000120</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Global CP · 63953620000165</a:t>
                      </a:r>
                    </a:p>
                  </a:txBody>
                  <a:tcPr marL="91440" marR="91440" marT="41148" marB="41148" anchor="ctr">
                    <a:solidFill>
                      <a:srgbClr val="F7F7F7"/>
                    </a:solidFill>
                    <a:lnL>
                      <a:noFill/>
                    </a:lnL>
                    <a:lnR>
                      <a:noFill/>
                    </a:lnR>
                    <a:lnT>
                      <a:noFill/>
                    </a:lnT>
                    <a:lnB w="6350">
                      <a:solidFill>
                        <a:srgbClr val="D9DEE5"/>
                      </a:solidFill>
                    </a:lnB>
                  </a:tcPr>
                </a:tc>
              </a:tr>
              <a:tr h="1970531">
                <a:tc>
                  <a:txBody>
                    <a:bodyPr wrap="square">
                      <a:noAutofit/>
                    </a:bodyPr>
                    <a:lstStyle/>
                    <a:p>
                      <a:pPr algn="l">
                        <a:lnSpc>
                          <a:spcPct val="100000"/>
                        </a:lnSpc>
                        <a:spcBef>
                          <a:spcPts val="0"/>
                        </a:spcBef>
                        <a:spcAft>
                          <a:spcPts val="0"/>
                        </a:spcAft>
                      </a:pPr>
                      <a:r>
                        <a:rPr sz="1300" b="1">
                          <a:solidFill>
                            <a:srgbClr val="1F1F1F"/>
                          </a:solidFill>
                          <a:latin typeface="Calibri"/>
                        </a:rPr>
                        <a:t>Ofertas e colocação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6.9 As Cotas poderão ser objeto de oferta pública</a:t>
                      </a:r>
                    </a:p>
                    <a:p>
                      <a:pPr algn="l">
                        <a:lnSpc>
                          <a:spcPct val="100000"/>
                        </a:lnSpc>
                        <a:spcBef>
                          <a:spcPts val="0"/>
                        </a:spcBef>
                        <a:spcAft>
                          <a:spcPts val="0"/>
                        </a:spcAft>
                      </a:pPr>
                      <a:r>
                        <a:rPr sz="1300" b="0">
                          <a:solidFill>
                            <a:srgbClr val="1F1F1F"/>
                          </a:solidFill>
                          <a:latin typeface="Calibri"/>
                        </a:rPr>
                        <a:t>a ser realizada nos termos da Resolução CVM 160</a:t>
                      </a:r>
                    </a:p>
                    <a:p>
                      <a:pPr algn="l">
                        <a:lnSpc>
                          <a:spcPct val="100000"/>
                        </a:lnSpc>
                        <a:spcBef>
                          <a:spcPts val="0"/>
                        </a:spcBef>
                        <a:spcAft>
                          <a:spcPts val="0"/>
                        </a:spcAft>
                      </a:pPr>
                      <a:r>
                        <a:rPr sz="1300" b="0">
                          <a:solidFill>
                            <a:srgbClr val="1F1F1F"/>
                          </a:solidFill>
                          <a:latin typeface="Calibri"/>
                        </a:rPr>
                        <a:t>(“Oferta”) e/ou poderão ser colocadas de forma</a:t>
                      </a:r>
                    </a:p>
                    <a:p>
                      <a:pPr algn="l">
                        <a:lnSpc>
                          <a:spcPct val="100000"/>
                        </a:lnSpc>
                        <a:spcBef>
                          <a:spcPts val="0"/>
                        </a:spcBef>
                        <a:spcAft>
                          <a:spcPts val="0"/>
                        </a:spcAft>
                      </a:pPr>
                      <a:r>
                        <a:rPr sz="1300" b="0">
                          <a:solidFill>
                            <a:srgbClr val="1F1F1F"/>
                          </a:solidFill>
                          <a:latin typeface="Calibri"/>
                        </a:rPr>
                        <a:t>privada (“Colocação Privada”), bem como segundo</a:t>
                      </a:r>
                    </a:p>
                    <a:p>
                      <a:pPr algn="l">
                        <a:lnSpc>
                          <a:spcPct val="100000"/>
                        </a:lnSpc>
                        <a:spcBef>
                          <a:spcPts val="0"/>
                        </a:spcBef>
                        <a:spcAft>
                          <a:spcPts val="0"/>
                        </a:spcAft>
                      </a:pPr>
                      <a:r>
                        <a:rPr sz="1300" b="0">
                          <a:solidFill>
                            <a:srgbClr val="1F1F1F"/>
                          </a:solidFill>
                          <a:latin typeface="Calibri"/>
                        </a:rPr>
                        <a:t>outros ritos que venham a ser previstos pela</a:t>
                      </a:r>
                    </a:p>
                    <a:p>
                      <a:pPr algn="l">
                        <a:lnSpc>
                          <a:spcPct val="100000"/>
                        </a:lnSpc>
                        <a:spcBef>
                          <a:spcPts val="0"/>
                        </a:spcBef>
                        <a:spcAft>
                          <a:spcPts val="0"/>
                        </a:spcAft>
                      </a:pPr>
                      <a:r>
                        <a:rPr sz="1300" b="0">
                          <a:solidFill>
                            <a:srgbClr val="1F1F1F"/>
                          </a:solidFill>
                          <a:latin typeface="Calibri"/>
                        </a:rPr>
                        <a:t>regulamentação. As Cotas deverão ser emitidas e</a:t>
                      </a:r>
                    </a:p>
                    <a:p>
                      <a:pPr algn="l">
                        <a:lnSpc>
                          <a:spcPct val="100000"/>
                        </a:lnSpc>
                        <a:spcBef>
                          <a:spcPts val="0"/>
                        </a:spcBef>
                        <a:spcAft>
                          <a:spcPts val="0"/>
                        </a:spcAft>
                      </a:pPr>
                      <a:r>
                        <a:rPr sz="1300" b="0">
                          <a:solidFill>
                            <a:srgbClr val="1F1F1F"/>
                          </a:solidFill>
                          <a:latin typeface="Calibri"/>
                        </a:rPr>
                        <a:t>subscritas dentro do prazo e nos termos e</a:t>
                      </a:r>
                    </a:p>
                    <a:p>
                      <a:pPr algn="l">
                        <a:lnSpc>
                          <a:spcPct val="100000"/>
                        </a:lnSpc>
                        <a:spcBef>
                          <a:spcPts val="0"/>
                        </a:spcBef>
                        <a:spcAft>
                          <a:spcPts val="0"/>
                        </a:spcAft>
                      </a:pPr>
                      <a:r>
                        <a:rPr sz="1300" b="0">
                          <a:solidFill>
                            <a:srgbClr val="1F1F1F"/>
                          </a:solidFill>
                          <a:latin typeface="Calibri"/>
                        </a:rPr>
                        <a:t>condições da legislação aplicável, do presente</a:t>
                      </a:r>
                    </a:p>
                    <a:p>
                      <a:pPr algn="l">
                        <a:lnSpc>
                          <a:spcPct val="100000"/>
                        </a:lnSpc>
                        <a:spcBef>
                          <a:spcPts val="0"/>
                        </a:spcBef>
                        <a:spcAft>
                          <a:spcPts val="0"/>
                        </a:spcAft>
                      </a:pPr>
                      <a:r>
                        <a:rPr sz="1300" b="0">
                          <a:solidFill>
                            <a:srgbClr val="1F1F1F"/>
                          </a:solidFill>
                          <a:latin typeface="Calibri"/>
                        </a:rPr>
                        <a:t>Anexo e dos respectivos Boletins de Subscrição</a:t>
                      </a:r>
                    </a:p>
                    <a:p>
                      <a:pPr algn="l">
                        <a:lnSpc>
                          <a:spcPct val="100000"/>
                        </a:lnSpc>
                        <a:spcBef>
                          <a:spcPts val="0"/>
                        </a:spcBef>
                        <a:spcAft>
                          <a:spcPts val="0"/>
                        </a:spcAft>
                      </a:pPr>
                      <a:r>
                        <a:rPr sz="1300" b="0">
                          <a:solidFill>
                            <a:srgbClr val="1F1F1F"/>
                          </a:solidFill>
                          <a:latin typeface="Calibri"/>
                        </a:rPr>
                        <a:t>e/ou Compromissos de Investimento.</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101/160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Governança e alterações</a:t>
            </a:r>
          </a:p>
        </p:txBody>
      </p:sp>
      <p:graphicFrame>
        <p:nvGraphicFramePr>
          <p:cNvPr id="3" name="Table 2"/>
          <p:cNvGraphicFramePr>
            <a:graphicFrameLocks noGrp="1"/>
          </p:cNvGraphicFramePr>
          <p:nvPr/>
        </p:nvGraphicFramePr>
        <p:xfrm>
          <a:off x="438912" y="932688"/>
          <a:ext cx="11313868" cy="5065776"/>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4594860">
                <a:tc>
                  <a:txBody>
                    <a:bodyPr wrap="square">
                      <a:noAutofit/>
                    </a:bodyPr>
                    <a:lstStyle/>
                    <a:p>
                      <a:pPr algn="l">
                        <a:lnSpc>
                          <a:spcPct val="100000"/>
                        </a:lnSpc>
                        <a:spcBef>
                          <a:spcPts val="0"/>
                        </a:spcBef>
                        <a:spcAft>
                          <a:spcPts val="0"/>
                        </a:spcAft>
                      </a:pPr>
                      <a:r>
                        <a:rPr sz="1300" b="1">
                          <a:solidFill>
                            <a:srgbClr val="1F1F1F"/>
                          </a:solidFill>
                          <a:latin typeface="Calibri"/>
                        </a:rPr>
                        <a:t>Quóruns e matérias</a:t>
                      </a:r>
                    </a:p>
                    <a:p>
                      <a:pPr algn="l">
                        <a:lnSpc>
                          <a:spcPct val="100000"/>
                        </a:lnSpc>
                        <a:spcBef>
                          <a:spcPts val="0"/>
                        </a:spcBef>
                        <a:spcAft>
                          <a:spcPts val="0"/>
                        </a:spcAft>
                      </a:pPr>
                      <a:r>
                        <a:rPr sz="1300" b="1">
                          <a:solidFill>
                            <a:srgbClr val="1F1F1F"/>
                          </a:solidFill>
                          <a:latin typeface="Calibri"/>
                        </a:rPr>
                        <a:t>reservadas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Regra geral: maioria</a:t>
                      </a:r>
                    </a:p>
                    <a:p>
                      <a:pPr algn="l">
                        <a:lnSpc>
                          <a:spcPct val="100000"/>
                        </a:lnSpc>
                        <a:spcBef>
                          <a:spcPts val="0"/>
                        </a:spcBef>
                        <a:spcAft>
                          <a:spcPts val="0"/>
                        </a:spcAft>
                      </a:pPr>
                      <a:r>
                        <a:rPr sz="1300" b="0">
                          <a:solidFill>
                            <a:srgbClr val="1F1F1F"/>
                          </a:solidFill>
                          <a:latin typeface="Calibri"/>
                        </a:rPr>
                        <a:t>dos votos presentes.</a:t>
                      </a:r>
                    </a:p>
                    <a:p>
                      <a:pPr algn="l">
                        <a:lnSpc>
                          <a:spcPct val="100000"/>
                        </a:lnSpc>
                        <a:spcBef>
                          <a:spcPts val="0"/>
                        </a:spcBef>
                        <a:spcAft>
                          <a:spcPts val="0"/>
                        </a:spcAft>
                      </a:pPr>
                      <a:r>
                        <a:rPr sz="1300" b="0">
                          <a:solidFill>
                            <a:srgbClr val="1F1F1F"/>
                          </a:solidFill>
                          <a:latin typeface="Calibri"/>
                        </a:rPr>
                        <a:t>DFs, alteração da Parte</a:t>
                      </a:r>
                    </a:p>
                    <a:p>
                      <a:pPr algn="l">
                        <a:lnSpc>
                          <a:spcPct val="100000"/>
                        </a:lnSpc>
                        <a:spcBef>
                          <a:spcPts val="0"/>
                        </a:spcBef>
                        <a:spcAft>
                          <a:spcPts val="0"/>
                        </a:spcAft>
                      </a:pPr>
                      <a:r>
                        <a:rPr sz="1300" b="0">
                          <a:solidFill>
                            <a:srgbClr val="1F1F1F"/>
                          </a:solidFill>
                          <a:latin typeface="Calibri"/>
                        </a:rPr>
                        <a:t>Geral, substituição dos</a:t>
                      </a:r>
                    </a:p>
                    <a:p>
                      <a:pPr algn="l">
                        <a:lnSpc>
                          <a:spcPct val="100000"/>
                        </a:lnSpc>
                        <a:spcBef>
                          <a:spcPts val="0"/>
                        </a:spcBef>
                        <a:spcAft>
                          <a:spcPts val="0"/>
                        </a:spcAft>
                      </a:pPr>
                      <a:r>
                        <a:rPr sz="1300" b="0">
                          <a:solidFill>
                            <a:srgbClr val="1F1F1F"/>
                          </a:solidFill>
                          <a:latin typeface="Calibri"/>
                        </a:rPr>
                        <a:t>essenciais, mudanças de</a:t>
                      </a:r>
                    </a:p>
                    <a:p>
                      <a:pPr algn="l">
                        <a:lnSpc>
                          <a:spcPct val="100000"/>
                        </a:lnSpc>
                        <a:spcBef>
                          <a:spcPts val="0"/>
                        </a:spcBef>
                        <a:spcAft>
                          <a:spcPts val="0"/>
                        </a:spcAft>
                      </a:pPr>
                      <a:r>
                        <a:rPr sz="1300" b="0">
                          <a:solidFill>
                            <a:srgbClr val="1F1F1F"/>
                          </a:solidFill>
                          <a:latin typeface="Calibri"/>
                        </a:rPr>
                        <a:t>quórum, novas</a:t>
                      </a:r>
                    </a:p>
                    <a:p>
                      <a:pPr algn="l">
                        <a:lnSpc>
                          <a:spcPct val="100000"/>
                        </a:lnSpc>
                        <a:spcBef>
                          <a:spcPts val="0"/>
                        </a:spcBef>
                        <a:spcAft>
                          <a:spcPts val="0"/>
                        </a:spcAft>
                      </a:pPr>
                      <a:r>
                        <a:rPr sz="1300" b="0">
                          <a:solidFill>
                            <a:srgbClr val="1F1F1F"/>
                          </a:solidFill>
                          <a:latin typeface="Calibri"/>
                        </a:rPr>
                        <a:t>cobranças, liquidação,</a:t>
                      </a:r>
                    </a:p>
                    <a:p>
                      <a:pPr algn="l">
                        <a:lnSpc>
                          <a:spcPct val="100000"/>
                        </a:lnSpc>
                        <a:spcBef>
                          <a:spcPts val="0"/>
                        </a:spcBef>
                        <a:spcAft>
                          <a:spcPts val="0"/>
                        </a:spcAft>
                      </a:pPr>
                      <a:r>
                        <a:rPr sz="1300" b="0">
                          <a:solidFill>
                            <a:srgbClr val="1F1F1F"/>
                          </a:solidFill>
                          <a:latin typeface="Calibri"/>
                        </a:rPr>
                        <a:t>plano de PL negativo e</a:t>
                      </a:r>
                    </a:p>
                    <a:p>
                      <a:pPr algn="l">
                        <a:lnSpc>
                          <a:spcPct val="100000"/>
                        </a:lnSpc>
                        <a:spcBef>
                          <a:spcPts val="0"/>
                        </a:spcBef>
                        <a:spcAft>
                          <a:spcPts val="0"/>
                        </a:spcAft>
                      </a:pPr>
                      <a:r>
                        <a:rPr sz="1300" b="0">
                          <a:solidFill>
                            <a:srgbClr val="1F1F1F"/>
                          </a:solidFill>
                          <a:latin typeface="Calibri"/>
                        </a:rPr>
                        <a:t>insolvência exigem</a:t>
                      </a:r>
                    </a:p>
                    <a:p>
                      <a:pPr algn="l">
                        <a:lnSpc>
                          <a:spcPct val="100000"/>
                        </a:lnSpc>
                        <a:spcBef>
                          <a:spcPts val="0"/>
                        </a:spcBef>
                        <a:spcAft>
                          <a:spcPts val="0"/>
                        </a:spcAft>
                      </a:pPr>
                      <a:r>
                        <a:rPr sz="1300" b="0">
                          <a:solidFill>
                            <a:srgbClr val="1F1F1F"/>
                          </a:solidFill>
                          <a:latin typeface="Calibri"/>
                        </a:rPr>
                        <a:t>maioria das cotas em</a:t>
                      </a:r>
                    </a:p>
                    <a:p>
                      <a:pPr algn="l">
                        <a:lnSpc>
                          <a:spcPct val="100000"/>
                        </a:lnSpc>
                        <a:spcBef>
                          <a:spcPts val="0"/>
                        </a:spcBef>
                        <a:spcAft>
                          <a:spcPts val="0"/>
                        </a:spcAft>
                      </a:pPr>
                      <a:r>
                        <a:rPr sz="1300" b="0">
                          <a:solidFill>
                            <a:srgbClr val="1F1F1F"/>
                          </a:solidFill>
                          <a:latin typeface="Calibri"/>
                        </a:rPr>
                        <a:t>circulação, na primeira</a:t>
                      </a:r>
                    </a:p>
                    <a:p>
                      <a:pPr algn="l">
                        <a:lnSpc>
                          <a:spcPct val="100000"/>
                        </a:lnSpc>
                        <a:spcBef>
                          <a:spcPts val="0"/>
                        </a:spcBef>
                        <a:spcAft>
                          <a:spcPts val="0"/>
                        </a:spcAft>
                      </a:pPr>
                      <a:r>
                        <a:rPr sz="1300" b="0">
                          <a:solidFill>
                            <a:srgbClr val="1F1F1F"/>
                          </a:solidFill>
                          <a:latin typeface="Calibri"/>
                        </a:rPr>
                        <a:t>ou segunda convocação.</a:t>
                      </a:r>
                    </a:p>
                    <a:p>
                      <a:pPr algn="l">
                        <a:lnSpc>
                          <a:spcPct val="100000"/>
                        </a:lnSpc>
                        <a:spcBef>
                          <a:spcPts val="0"/>
                        </a:spcBef>
                        <a:spcAft>
                          <a:spcPts val="0"/>
                        </a:spcAft>
                      </a:pPr>
                      <a:r>
                        <a:rPr sz="1300" b="0">
                          <a:solidFill>
                            <a:srgbClr val="1F1F1F"/>
                          </a:solidFill>
                          <a:latin typeface="Calibri"/>
                        </a:rPr>
                        <a:t>Regras procedimentais</a:t>
                      </a:r>
                    </a:p>
                    <a:p>
                      <a:pPr algn="l">
                        <a:lnSpc>
                          <a:spcPct val="100000"/>
                        </a:lnSpc>
                        <a:spcBef>
                          <a:spcPts val="0"/>
                        </a:spcBef>
                        <a:spcAft>
                          <a:spcPts val="0"/>
                        </a:spcAft>
                      </a:pPr>
                      <a:r>
                        <a:rPr sz="1300" b="0">
                          <a:solidFill>
                            <a:srgbClr val="1F1F1F"/>
                          </a:solidFill>
                          <a:latin typeface="Calibri"/>
                        </a:rPr>
                        <a:t>gerais aplicadas à AGC</a:t>
                      </a:r>
                    </a:p>
                    <a:p>
                      <a:pPr algn="l">
                        <a:lnSpc>
                          <a:spcPct val="100000"/>
                        </a:lnSpc>
                        <a:spcBef>
                          <a:spcPts val="0"/>
                        </a:spcBef>
                        <a:spcAft>
                          <a:spcPts val="0"/>
                        </a:spcAft>
                      </a:pPr>
                      <a:r>
                        <a:rPr sz="1300" b="0">
                          <a:solidFill>
                            <a:srgbClr val="1F1F1F"/>
                          </a:solidFill>
                          <a:latin typeface="Calibri"/>
                        </a:rPr>
                        <a:t>especial.</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Unanimidade das cotas</a:t>
                      </a:r>
                    </a:p>
                    <a:p>
                      <a:pPr algn="l">
                        <a:lnSpc>
                          <a:spcPct val="100000"/>
                        </a:lnSpc>
                        <a:spcBef>
                          <a:spcPts val="0"/>
                        </a:spcBef>
                        <a:spcAft>
                          <a:spcPts val="0"/>
                        </a:spcAft>
                      </a:pPr>
                      <a:r>
                        <a:rPr sz="1300" b="0">
                          <a:solidFill>
                            <a:srgbClr val="1F1F1F"/>
                          </a:solidFill>
                          <a:latin typeface="Calibri"/>
                        </a:rPr>
                        <a:t>em circulação para</a:t>
                      </a:r>
                    </a:p>
                    <a:p>
                      <a:pPr algn="l">
                        <a:lnSpc>
                          <a:spcPct val="100000"/>
                        </a:lnSpc>
                        <a:spcBef>
                          <a:spcPts val="0"/>
                        </a:spcBef>
                        <a:spcAft>
                          <a:spcPts val="0"/>
                        </a:spcAft>
                      </a:pPr>
                      <a:r>
                        <a:rPr sz="1300" b="0">
                          <a:solidFill>
                            <a:srgbClr val="1F1F1F"/>
                          </a:solidFill>
                          <a:latin typeface="Calibri"/>
                        </a:rPr>
                        <a:t>alterações do Anexo,</a:t>
                      </a:r>
                    </a:p>
                    <a:p>
                      <a:pPr algn="l">
                        <a:lnSpc>
                          <a:spcPct val="100000"/>
                        </a:lnSpc>
                        <a:spcBef>
                          <a:spcPts val="0"/>
                        </a:spcBef>
                        <a:spcAft>
                          <a:spcPts val="0"/>
                        </a:spcAft>
                      </a:pPr>
                      <a:r>
                        <a:rPr sz="1300" b="0">
                          <a:solidFill>
                            <a:srgbClr val="1F1F1F"/>
                          </a:solidFill>
                          <a:latin typeface="Calibri"/>
                        </a:rPr>
                        <a:t>troca de</a:t>
                      </a:r>
                    </a:p>
                    <a:p>
                      <a:pPr algn="l">
                        <a:lnSpc>
                          <a:spcPct val="100000"/>
                        </a:lnSpc>
                        <a:spcBef>
                          <a:spcPts val="0"/>
                        </a:spcBef>
                        <a:spcAft>
                          <a:spcPts val="0"/>
                        </a:spcAft>
                      </a:pPr>
                      <a:r>
                        <a:rPr sz="1300" b="0">
                          <a:solidFill>
                            <a:srgbClr val="1F1F1F"/>
                          </a:solidFill>
                          <a:latin typeface="Calibri"/>
                        </a:rPr>
                        <a:t>essenciais/custodiante,</a:t>
                      </a:r>
                    </a:p>
                    <a:p>
                      <a:pPr algn="l">
                        <a:lnSpc>
                          <a:spcPct val="100000"/>
                        </a:lnSpc>
                        <a:spcBef>
                          <a:spcPts val="0"/>
                        </a:spcBef>
                        <a:spcAft>
                          <a:spcPts val="0"/>
                        </a:spcAft>
                      </a:pPr>
                      <a:r>
                        <a:rPr sz="1300" b="0">
                          <a:solidFill>
                            <a:srgbClr val="1F1F1F"/>
                          </a:solidFill>
                          <a:latin typeface="Calibri"/>
                        </a:rPr>
                        <a:t>taxas, reorganização/li</a:t>
                      </a:r>
                    </a:p>
                    <a:p>
                      <a:pPr algn="l">
                        <a:lnSpc>
                          <a:spcPct val="100000"/>
                        </a:lnSpc>
                        <a:spcBef>
                          <a:spcPts val="0"/>
                        </a:spcBef>
                        <a:spcAft>
                          <a:spcPts val="0"/>
                        </a:spcAft>
                      </a:pPr>
                      <a:r>
                        <a:rPr sz="1300" b="0">
                          <a:solidFill>
                            <a:srgbClr val="1F1F1F"/>
                          </a:solidFill>
                          <a:latin typeface="Calibri"/>
                        </a:rPr>
                        <a:t>quidação, garantias,</a:t>
                      </a:r>
                    </a:p>
                    <a:p>
                      <a:pPr algn="l">
                        <a:lnSpc>
                          <a:spcPct val="100000"/>
                        </a:lnSpc>
                        <a:spcBef>
                          <a:spcPts val="0"/>
                        </a:spcBef>
                        <a:spcAft>
                          <a:spcPts val="0"/>
                        </a:spcAft>
                      </a:pPr>
                      <a:r>
                        <a:rPr sz="1300" b="0">
                          <a:solidFill>
                            <a:srgbClr val="1F1F1F"/>
                          </a:solidFill>
                          <a:latin typeface="Calibri"/>
                        </a:rPr>
                        <a:t>direitos das cotas,</a:t>
                      </a:r>
                    </a:p>
                    <a:p>
                      <a:pPr algn="l">
                        <a:lnSpc>
                          <a:spcPct val="100000"/>
                        </a:lnSpc>
                        <a:spcBef>
                          <a:spcPts val="0"/>
                        </a:spcBef>
                        <a:spcAft>
                          <a:spcPts val="0"/>
                        </a:spcAft>
                      </a:pPr>
                      <a:r>
                        <a:rPr sz="1300" b="0">
                          <a:solidFill>
                            <a:srgbClr val="1F1F1F"/>
                          </a:solidFill>
                          <a:latin typeface="Calibri"/>
                        </a:rPr>
                        <a:t>política/elegibilidade,</a:t>
                      </a:r>
                    </a:p>
                    <a:p>
                      <a:pPr algn="l">
                        <a:lnSpc>
                          <a:spcPct val="100000"/>
                        </a:lnSpc>
                        <a:spcBef>
                          <a:spcPts val="0"/>
                        </a:spcBef>
                        <a:spcAft>
                          <a:spcPts val="0"/>
                        </a:spcAft>
                      </a:pPr>
                      <a:r>
                        <a:rPr sz="1300" b="0">
                          <a:solidFill>
                            <a:srgbClr val="1F1F1F"/>
                          </a:solidFill>
                          <a:latin typeface="Calibri"/>
                        </a:rPr>
                        <a:t>eventos e insolvência.</a:t>
                      </a:r>
                    </a:p>
                    <a:p>
                      <a:pPr algn="l">
                        <a:lnSpc>
                          <a:spcPct val="100000"/>
                        </a:lnSpc>
                        <a:spcBef>
                          <a:spcPts val="0"/>
                        </a:spcBef>
                        <a:spcAft>
                          <a:spcPts val="0"/>
                        </a:spcAft>
                      </a:pPr>
                      <a:r>
                        <a:rPr sz="1300" b="0">
                          <a:solidFill>
                            <a:srgbClr val="1F1F1F"/>
                          </a:solidFill>
                          <a:latin typeface="Calibri"/>
                        </a:rPr>
                        <a:t>Demais matérias por</a:t>
                      </a:r>
                    </a:p>
                    <a:p>
                      <a:pPr algn="l">
                        <a:lnSpc>
                          <a:spcPct val="100000"/>
                        </a:lnSpc>
                        <a:spcBef>
                          <a:spcPts val="0"/>
                        </a:spcBef>
                        <a:spcAft>
                          <a:spcPts val="0"/>
                        </a:spcAft>
                      </a:pPr>
                      <a:r>
                        <a:rPr sz="1300" b="0">
                          <a:solidFill>
                            <a:srgbClr val="1F1F1F"/>
                          </a:solidFill>
                          <a:latin typeface="Calibri"/>
                        </a:rPr>
                        <a:t>maioria das cotas</a:t>
                      </a:r>
                    </a:p>
                    <a:p>
                      <a:pPr algn="l">
                        <a:lnSpc>
                          <a:spcPct val="100000"/>
                        </a:lnSpc>
                        <a:spcBef>
                          <a:spcPts val="0"/>
                        </a:spcBef>
                        <a:spcAft>
                          <a:spcPts val="0"/>
                        </a:spcAft>
                      </a:pPr>
                      <a:r>
                        <a:rPr sz="1300" b="0">
                          <a:solidFill>
                            <a:srgbClr val="1F1F1F"/>
                          </a:solidFill>
                          <a:latin typeface="Calibri"/>
                        </a:rPr>
                        <a:t>emitidas.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Alteração do Anexo,</a:t>
                      </a:r>
                    </a:p>
                    <a:p>
                      <a:pPr algn="l">
                        <a:lnSpc>
                          <a:spcPct val="100000"/>
                        </a:lnSpc>
                        <a:spcBef>
                          <a:spcPts val="0"/>
                        </a:spcBef>
                        <a:spcAft>
                          <a:spcPts val="0"/>
                        </a:spcAft>
                      </a:pPr>
                      <a:r>
                        <a:rPr sz="1300" b="0">
                          <a:solidFill>
                            <a:srgbClr val="1F1F1F"/>
                          </a:solidFill>
                          <a:latin typeface="Calibri"/>
                        </a:rPr>
                        <a:t>substituição de adminis</a:t>
                      </a:r>
                    </a:p>
                    <a:p>
                      <a:pPr algn="l">
                        <a:lnSpc>
                          <a:spcPct val="100000"/>
                        </a:lnSpc>
                        <a:spcBef>
                          <a:spcPts val="0"/>
                        </a:spcBef>
                        <a:spcAft>
                          <a:spcPts val="0"/>
                        </a:spcAft>
                      </a:pPr>
                      <a:r>
                        <a:rPr sz="1300" b="0">
                          <a:solidFill>
                            <a:srgbClr val="1F1F1F"/>
                          </a:solidFill>
                          <a:latin typeface="Calibri"/>
                        </a:rPr>
                        <a:t>trador/gestor/cogestora</a:t>
                      </a:r>
                    </a:p>
                    <a:p>
                      <a:pPr algn="l">
                        <a:lnSpc>
                          <a:spcPct val="100000"/>
                        </a:lnSpc>
                        <a:spcBef>
                          <a:spcPts val="0"/>
                        </a:spcBef>
                        <a:spcAft>
                          <a:spcPts val="0"/>
                        </a:spcAft>
                      </a:pPr>
                      <a:r>
                        <a:rPr sz="1300" b="0">
                          <a:solidFill>
                            <a:srgbClr val="1F1F1F"/>
                          </a:solidFill>
                          <a:latin typeface="Calibri"/>
                        </a:rPr>
                        <a:t>, reorganização/liquida</a:t>
                      </a:r>
                    </a:p>
                    <a:p>
                      <a:pPr algn="l">
                        <a:lnSpc>
                          <a:spcPct val="100000"/>
                        </a:lnSpc>
                        <a:spcBef>
                          <a:spcPts val="0"/>
                        </a:spcBef>
                        <a:spcAft>
                          <a:spcPts val="0"/>
                        </a:spcAft>
                      </a:pPr>
                      <a:r>
                        <a:rPr sz="1300" b="0">
                          <a:solidFill>
                            <a:srgbClr val="1F1F1F"/>
                          </a:solidFill>
                          <a:latin typeface="Calibri"/>
                        </a:rPr>
                        <a:t>ção, laudos, conflitos</a:t>
                      </a:r>
                    </a:p>
                    <a:p>
                      <a:pPr algn="l">
                        <a:lnSpc>
                          <a:spcPct val="100000"/>
                        </a:lnSpc>
                        <a:spcBef>
                          <a:spcPts val="0"/>
                        </a:spcBef>
                        <a:spcAft>
                          <a:spcPts val="0"/>
                        </a:spcAft>
                      </a:pPr>
                      <a:r>
                        <a:rPr sz="1300" b="0">
                          <a:solidFill>
                            <a:srgbClr val="1F1F1F"/>
                          </a:solidFill>
                          <a:latin typeface="Calibri"/>
                        </a:rPr>
                        <a:t>e taxas: maioria das</a:t>
                      </a:r>
                    </a:p>
                    <a:p>
                      <a:pPr algn="l">
                        <a:lnSpc>
                          <a:spcPct val="100000"/>
                        </a:lnSpc>
                        <a:spcBef>
                          <a:spcPts val="0"/>
                        </a:spcBef>
                        <a:spcAft>
                          <a:spcPts val="0"/>
                        </a:spcAft>
                      </a:pPr>
                      <a:r>
                        <a:rPr sz="1300" b="0">
                          <a:solidFill>
                            <a:srgbClr val="1F1F1F"/>
                          </a:solidFill>
                          <a:latin typeface="Calibri"/>
                        </a:rPr>
                        <a:t>cotas subscritas e voto</a:t>
                      </a:r>
                    </a:p>
                    <a:p>
                      <a:pPr algn="l">
                        <a:lnSpc>
                          <a:spcPct val="100000"/>
                        </a:lnSpc>
                        <a:spcBef>
                          <a:spcPts val="0"/>
                        </a:spcBef>
                        <a:spcAft>
                          <a:spcPts val="0"/>
                        </a:spcAft>
                      </a:pPr>
                      <a:r>
                        <a:rPr sz="1300" b="0">
                          <a:solidFill>
                            <a:srgbClr val="1F1F1F"/>
                          </a:solidFill>
                          <a:latin typeface="Calibri"/>
                        </a:rPr>
                        <a:t>afirmativo da maioria</a:t>
                      </a:r>
                    </a:p>
                    <a:p>
                      <a:pPr algn="l">
                        <a:lnSpc>
                          <a:spcPct val="100000"/>
                        </a:lnSpc>
                        <a:spcBef>
                          <a:spcPts val="0"/>
                        </a:spcBef>
                        <a:spcAft>
                          <a:spcPts val="0"/>
                        </a:spcAft>
                      </a:pPr>
                      <a:r>
                        <a:rPr sz="1300" b="0">
                          <a:solidFill>
                            <a:srgbClr val="1F1F1F"/>
                          </a:solidFill>
                          <a:latin typeface="Calibri"/>
                        </a:rPr>
                        <a:t>da sênior subscrita.</a:t>
                      </a:r>
                    </a:p>
                    <a:p>
                      <a:pPr algn="l">
                        <a:lnSpc>
                          <a:spcPct val="100000"/>
                        </a:lnSpc>
                        <a:spcBef>
                          <a:spcPts val="0"/>
                        </a:spcBef>
                        <a:spcAft>
                          <a:spcPts val="0"/>
                        </a:spcAft>
                      </a:pPr>
                      <a:r>
                        <a:rPr sz="1300" b="0">
                          <a:solidFill>
                            <a:srgbClr val="1F1F1F"/>
                          </a:solidFill>
                          <a:latin typeface="Calibri"/>
                        </a:rPr>
                        <a:t>Novas emissões acima do</a:t>
                      </a:r>
                    </a:p>
                    <a:p>
                      <a:pPr algn="l">
                        <a:lnSpc>
                          <a:spcPct val="100000"/>
                        </a:lnSpc>
                        <a:spcBef>
                          <a:spcPts val="0"/>
                        </a:spcBef>
                        <a:spcAft>
                          <a:spcPts val="0"/>
                        </a:spcAft>
                      </a:pPr>
                      <a:r>
                        <a:rPr sz="1300" b="0">
                          <a:solidFill>
                            <a:srgbClr val="1F1F1F"/>
                          </a:solidFill>
                          <a:latin typeface="Calibri"/>
                        </a:rPr>
                        <a:t>capital autorizado e</a:t>
                      </a:r>
                    </a:p>
                    <a:p>
                      <a:pPr algn="l">
                        <a:lnSpc>
                          <a:spcPct val="100000"/>
                        </a:lnSpc>
                        <a:spcBef>
                          <a:spcPts val="0"/>
                        </a:spcBef>
                        <a:spcAft>
                          <a:spcPts val="0"/>
                        </a:spcAft>
                      </a:pPr>
                      <a:r>
                        <a:rPr sz="1300" b="0">
                          <a:solidFill>
                            <a:srgbClr val="1F1F1F"/>
                          </a:solidFill>
                          <a:latin typeface="Calibri"/>
                        </a:rPr>
                        <a:t>plano de PL</a:t>
                      </a:r>
                    </a:p>
                    <a:p>
                      <a:pPr algn="l">
                        <a:lnSpc>
                          <a:spcPct val="100000"/>
                        </a:lnSpc>
                        <a:spcBef>
                          <a:spcPts val="0"/>
                        </a:spcBef>
                        <a:spcAft>
                          <a:spcPts val="0"/>
                        </a:spcAft>
                      </a:pPr>
                      <a:r>
                        <a:rPr sz="1300" b="0">
                          <a:solidFill>
                            <a:srgbClr val="1F1F1F"/>
                          </a:solidFill>
                          <a:latin typeface="Calibri"/>
                        </a:rPr>
                        <a:t>negativo/insolvência:</a:t>
                      </a:r>
                    </a:p>
                    <a:p>
                      <a:pPr algn="l">
                        <a:lnSpc>
                          <a:spcPct val="100000"/>
                        </a:lnSpc>
                        <a:spcBef>
                          <a:spcPts val="0"/>
                        </a:spcBef>
                        <a:spcAft>
                          <a:spcPts val="0"/>
                        </a:spcAft>
                      </a:pPr>
                      <a:r>
                        <a:rPr sz="1300" b="0">
                          <a:solidFill>
                            <a:srgbClr val="1F1F1F"/>
                          </a:solidFill>
                          <a:latin typeface="Calibri"/>
                        </a:rPr>
                        <a:t>maioria simples com</a:t>
                      </a:r>
                    </a:p>
                    <a:p>
                      <a:pPr algn="l">
                        <a:lnSpc>
                          <a:spcPct val="100000"/>
                        </a:lnSpc>
                        <a:spcBef>
                          <a:spcPts val="0"/>
                        </a:spcBef>
                        <a:spcAft>
                          <a:spcPts val="0"/>
                        </a:spcAft>
                      </a:pPr>
                      <a:r>
                        <a:rPr sz="1300" b="0">
                          <a:solidFill>
                            <a:srgbClr val="1F1F1F"/>
                          </a:solidFill>
                          <a:latin typeface="Calibri"/>
                        </a:rPr>
                        <a:t>maioria sênior.</a:t>
                      </a:r>
                    </a:p>
                    <a:p>
                      <a:pPr algn="l">
                        <a:lnSpc>
                          <a:spcPct val="100000"/>
                        </a:lnSpc>
                        <a:spcBef>
                          <a:spcPts val="0"/>
                        </a:spcBef>
                        <a:spcAft>
                          <a:spcPts val="0"/>
                        </a:spcAft>
                      </a:pPr>
                      <a:r>
                        <a:rPr sz="1300" b="0">
                          <a:solidFill>
                            <a:srgbClr val="1F1F1F"/>
                          </a:solidFill>
                          <a:latin typeface="Calibri"/>
                        </a:rPr>
                        <a:t>Benchmark exige maioria</a:t>
                      </a:r>
                    </a:p>
                    <a:p>
                      <a:pPr algn="l">
                        <a:lnSpc>
                          <a:spcPct val="100000"/>
                        </a:lnSpc>
                        <a:spcBef>
                          <a:spcPts val="0"/>
                        </a:spcBef>
                        <a:spcAft>
                          <a:spcPts val="0"/>
                        </a:spcAft>
                      </a:pPr>
                      <a:r>
                        <a:rPr sz="1300" b="0">
                          <a:solidFill>
                            <a:srgbClr val="1F1F1F"/>
                          </a:solidFill>
                          <a:latin typeface="Calibri"/>
                        </a:rPr>
                        <a:t>da camada afetada e</a:t>
                      </a:r>
                    </a:p>
                    <a:p>
                      <a:pPr algn="l">
                        <a:lnSpc>
                          <a:spcPct val="100000"/>
                        </a:lnSpc>
                        <a:spcBef>
                          <a:spcPts val="0"/>
                        </a:spcBef>
                        <a:spcAft>
                          <a:spcPts val="0"/>
                        </a:spcAft>
                      </a:pPr>
                      <a:r>
                        <a:rPr sz="1300" b="0">
                          <a:solidFill>
                            <a:srgbClr val="1F1F1F"/>
                          </a:solidFill>
                          <a:latin typeface="Calibri"/>
                        </a:rPr>
                        <a:t>subordinadas; aumento</a:t>
                      </a:r>
                    </a:p>
                    <a:p>
                      <a:pPr algn="l">
                        <a:lnSpc>
                          <a:spcPct val="100000"/>
                        </a:lnSpc>
                        <a:spcBef>
                          <a:spcPts val="0"/>
                        </a:spcBef>
                        <a:spcAft>
                          <a:spcPts val="0"/>
                        </a:spcAft>
                      </a:pPr>
                      <a:r>
                        <a:rPr sz="1300" b="0">
                          <a:solidFill>
                            <a:srgbClr val="1F1F1F"/>
                          </a:solidFill>
                          <a:latin typeface="Calibri"/>
                        </a:rPr>
                        <a:t>do índice depende da</a:t>
                      </a:r>
                    </a:p>
                    <a:p>
                      <a:pPr algn="l">
                        <a:lnSpc>
                          <a:spcPct val="100000"/>
                        </a:lnSpc>
                        <a:spcBef>
                          <a:spcPts val="0"/>
                        </a:spcBef>
                        <a:spcAft>
                          <a:spcPts val="0"/>
                        </a:spcAft>
                      </a:pPr>
                      <a:r>
                        <a:rPr sz="1300" b="0">
                          <a:solidFill>
                            <a:srgbClr val="1F1F1F"/>
                          </a:solidFill>
                          <a:latin typeface="Calibri"/>
                        </a:rPr>
                        <a:t>maioria simples das</a:t>
                      </a:r>
                    </a:p>
                    <a:p>
                      <a:pPr algn="l">
                        <a:lnSpc>
                          <a:spcPct val="100000"/>
                        </a:lnSpc>
                        <a:spcBef>
                          <a:spcPts val="0"/>
                        </a:spcBef>
                        <a:spcAft>
                          <a:spcPts val="0"/>
                        </a:spcAft>
                      </a:pPr>
                      <a:r>
                        <a:rPr sz="1300" b="0">
                          <a:solidFill>
                            <a:srgbClr val="1F1F1F"/>
                          </a:solidFill>
                          <a:latin typeface="Calibri"/>
                        </a:rPr>
                        <a:t>subordinadas;</a:t>
                      </a:r>
                    </a:p>
                    <a:p>
                      <a:pPr algn="l">
                        <a:lnSpc>
                          <a:spcPct val="100000"/>
                        </a:lnSpc>
                        <a:spcBef>
                          <a:spcPts val="0"/>
                        </a:spcBef>
                        <a:spcAft>
                          <a:spcPts val="0"/>
                        </a:spcAft>
                      </a:pPr>
                      <a:r>
                        <a:rPr sz="1300" b="0">
                          <a:solidFill>
                            <a:srgbClr val="1F1F1F"/>
                          </a:solidFill>
                          <a:latin typeface="Calibri"/>
                        </a:rPr>
                        <a:t>diminuição exige também</a:t>
                      </a:r>
                    </a:p>
                    <a:p>
                      <a:pPr algn="l">
                        <a:lnSpc>
                          <a:spcPct val="100000"/>
                        </a:lnSpc>
                        <a:spcBef>
                          <a:spcPts val="0"/>
                        </a:spcBef>
                        <a:spcAft>
                          <a:spcPts val="0"/>
                        </a:spcAft>
                      </a:pPr>
                      <a:r>
                        <a:rPr sz="1300" b="0">
                          <a:solidFill>
                            <a:srgbClr val="1F1F1F"/>
                          </a:solidFill>
                          <a:latin typeface="Calibri"/>
                        </a:rPr>
                        <a:t>maioria das séries</a:t>
                      </a:r>
                    </a:p>
                    <a:p>
                      <a:pPr algn="l">
                        <a:lnSpc>
                          <a:spcPct val="100000"/>
                        </a:lnSpc>
                        <a:spcBef>
                          <a:spcPts val="0"/>
                        </a:spcBef>
                        <a:spcAft>
                          <a:spcPts val="0"/>
                        </a:spcAft>
                      </a:pPr>
                      <a:r>
                        <a:rPr sz="1300" b="0">
                          <a:solidFill>
                            <a:srgbClr val="1F1F1F"/>
                          </a:solidFill>
                          <a:latin typeface="Calibri"/>
                        </a:rPr>
                        <a:t>seniores.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90% das cotas emitidas</a:t>
                      </a:r>
                    </a:p>
                    <a:p>
                      <a:pPr algn="l">
                        <a:lnSpc>
                          <a:spcPct val="100000"/>
                        </a:lnSpc>
                        <a:spcBef>
                          <a:spcPts val="0"/>
                        </a:spcBef>
                        <a:spcAft>
                          <a:spcPts val="0"/>
                        </a:spcAft>
                      </a:pPr>
                      <a:r>
                        <a:rPr sz="1300" b="0">
                          <a:solidFill>
                            <a:srgbClr val="1F1F1F"/>
                          </a:solidFill>
                          <a:latin typeface="Calibri"/>
                        </a:rPr>
                        <a:t>para substituir</a:t>
                      </a:r>
                    </a:p>
                    <a:p>
                      <a:pPr algn="l">
                        <a:lnSpc>
                          <a:spcPct val="100000"/>
                        </a:lnSpc>
                        <a:spcBef>
                          <a:spcPts val="0"/>
                        </a:spcBef>
                        <a:spcAft>
                          <a:spcPts val="0"/>
                        </a:spcAft>
                      </a:pPr>
                      <a:r>
                        <a:rPr sz="1300" b="0">
                          <a:solidFill>
                            <a:srgbClr val="1F1F1F"/>
                          </a:solidFill>
                          <a:latin typeface="Calibri"/>
                        </a:rPr>
                        <a:t>essenciais,</a:t>
                      </a:r>
                    </a:p>
                    <a:p>
                      <a:pPr algn="l">
                        <a:lnSpc>
                          <a:spcPct val="100000"/>
                        </a:lnSpc>
                        <a:spcBef>
                          <a:spcPts val="0"/>
                        </a:spcBef>
                        <a:spcAft>
                          <a:spcPts val="0"/>
                        </a:spcAft>
                      </a:pPr>
                      <a:r>
                        <a:rPr sz="1300" b="0">
                          <a:solidFill>
                            <a:srgbClr val="1F1F1F"/>
                          </a:solidFill>
                          <a:latin typeface="Calibri"/>
                        </a:rPr>
                        <a:t>reorganizar, mudar</a:t>
                      </a:r>
                    </a:p>
                    <a:p>
                      <a:pPr algn="l">
                        <a:lnSpc>
                          <a:spcPct val="100000"/>
                        </a:lnSpc>
                        <a:spcBef>
                          <a:spcPts val="0"/>
                        </a:spcBef>
                        <a:spcAft>
                          <a:spcPts val="0"/>
                        </a:spcAft>
                      </a:pPr>
                      <a:r>
                        <a:rPr sz="1300" b="0">
                          <a:solidFill>
                            <a:srgbClr val="1F1F1F"/>
                          </a:solidFill>
                          <a:latin typeface="Calibri"/>
                        </a:rPr>
                        <a:t>direitos, política/eleg</a:t>
                      </a:r>
                    </a:p>
                    <a:p>
                      <a:pPr algn="l">
                        <a:lnSpc>
                          <a:spcPct val="100000"/>
                        </a:lnSpc>
                        <a:spcBef>
                          <a:spcPts val="0"/>
                        </a:spcBef>
                        <a:spcAft>
                          <a:spcPts val="0"/>
                        </a:spcAft>
                      </a:pPr>
                      <a:r>
                        <a:rPr sz="1300" b="0">
                          <a:solidFill>
                            <a:srgbClr val="1F1F1F"/>
                          </a:solidFill>
                          <a:latin typeface="Calibri"/>
                        </a:rPr>
                        <a:t>ibilidade/eventos ou</a:t>
                      </a:r>
                    </a:p>
                    <a:p>
                      <a:pPr algn="l">
                        <a:lnSpc>
                          <a:spcPct val="100000"/>
                        </a:lnSpc>
                        <a:spcBef>
                          <a:spcPts val="0"/>
                        </a:spcBef>
                        <a:spcAft>
                          <a:spcPts val="0"/>
                        </a:spcAft>
                      </a:pPr>
                      <a:r>
                        <a:rPr sz="1300" b="0">
                          <a:solidFill>
                            <a:srgbClr val="1F1F1F"/>
                          </a:solidFill>
                          <a:latin typeface="Calibri"/>
                        </a:rPr>
                        <a:t>insolvência. Maioria</a:t>
                      </a:r>
                    </a:p>
                    <a:p>
                      <a:pPr algn="l">
                        <a:lnSpc>
                          <a:spcPct val="100000"/>
                        </a:lnSpc>
                        <a:spcBef>
                          <a:spcPts val="0"/>
                        </a:spcBef>
                        <a:spcAft>
                          <a:spcPts val="0"/>
                        </a:spcAft>
                      </a:pPr>
                      <a:r>
                        <a:rPr sz="1300" b="0">
                          <a:solidFill>
                            <a:srgbClr val="1F1F1F"/>
                          </a:solidFill>
                          <a:latin typeface="Calibri"/>
                        </a:rPr>
                        <a:t>das emitidas para DFs,</a:t>
                      </a:r>
                    </a:p>
                    <a:p>
                      <a:pPr algn="l">
                        <a:lnSpc>
                          <a:spcPct val="100000"/>
                        </a:lnSpc>
                        <a:spcBef>
                          <a:spcPts val="0"/>
                        </a:spcBef>
                        <a:spcAft>
                          <a:spcPts val="0"/>
                        </a:spcAft>
                      </a:pPr>
                      <a:r>
                        <a:rPr sz="1300" b="0">
                          <a:solidFill>
                            <a:srgbClr val="1F1F1F"/>
                          </a:solidFill>
                          <a:latin typeface="Calibri"/>
                        </a:rPr>
                        <a:t>taxas, plano/liquidação</a:t>
                      </a:r>
                    </a:p>
                    <a:p>
                      <a:pPr algn="l">
                        <a:lnSpc>
                          <a:spcPct val="100000"/>
                        </a:lnSpc>
                        <a:spcBef>
                          <a:spcPts val="0"/>
                        </a:spcBef>
                        <a:spcAft>
                          <a:spcPts val="0"/>
                        </a:spcAft>
                      </a:pPr>
                      <a:r>
                        <a:rPr sz="1300" b="0">
                          <a:solidFill>
                            <a:srgbClr val="1F1F1F"/>
                          </a:solidFill>
                          <a:latin typeface="Calibri"/>
                        </a:rPr>
                        <a:t>por evento e emissões</a:t>
                      </a:r>
                    </a:p>
                    <a:p>
                      <a:pPr algn="l">
                        <a:lnSpc>
                          <a:spcPct val="100000"/>
                        </a:lnSpc>
                        <a:spcBef>
                          <a:spcPts val="0"/>
                        </a:spcBef>
                        <a:spcAft>
                          <a:spcPts val="0"/>
                        </a:spcAft>
                      </a:pPr>
                      <a:r>
                        <a:rPr sz="1300" b="0">
                          <a:solidFill>
                            <a:srgbClr val="1F1F1F"/>
                          </a:solidFill>
                          <a:latin typeface="Calibri"/>
                        </a:rPr>
                        <a:t>fora do capital</a:t>
                      </a:r>
                    </a:p>
                    <a:p>
                      <a:pPr algn="l">
                        <a:lnSpc>
                          <a:spcPct val="100000"/>
                        </a:lnSpc>
                        <a:spcBef>
                          <a:spcPts val="0"/>
                        </a:spcBef>
                        <a:spcAft>
                          <a:spcPts val="0"/>
                        </a:spcAft>
                      </a:pPr>
                      <a:r>
                        <a:rPr sz="1300" b="0">
                          <a:solidFill>
                            <a:srgbClr val="1F1F1F"/>
                          </a:solidFill>
                          <a:latin typeface="Calibri"/>
                        </a:rPr>
                        <a:t>autorizado.</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102/160</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Governança e alterações</a:t>
            </a:r>
          </a:p>
        </p:txBody>
      </p:sp>
      <p:graphicFrame>
        <p:nvGraphicFramePr>
          <p:cNvPr id="3" name="Table 2"/>
          <p:cNvGraphicFramePr>
            <a:graphicFrameLocks noGrp="1"/>
          </p:cNvGraphicFramePr>
          <p:nvPr/>
        </p:nvGraphicFramePr>
        <p:xfrm>
          <a:off x="438912" y="932688"/>
          <a:ext cx="11313868" cy="5253228"/>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4782312">
                <a:tc>
                  <a:txBody>
                    <a:bodyPr wrap="square">
                      <a:noAutofit/>
                    </a:bodyPr>
                    <a:lstStyle/>
                    <a:p>
                      <a:pPr algn="l">
                        <a:lnSpc>
                          <a:spcPct val="100000"/>
                        </a:lnSpc>
                        <a:spcBef>
                          <a:spcPts val="0"/>
                        </a:spcBef>
                        <a:spcAft>
                          <a:spcPts val="0"/>
                        </a:spcAft>
                      </a:pPr>
                      <a:r>
                        <a:rPr sz="1300" b="1">
                          <a:solidFill>
                            <a:srgbClr val="1F1F1F"/>
                          </a:solidFill>
                          <a:latin typeface="Calibri"/>
                        </a:rPr>
                        <a:t>Partes relacionadas e</a:t>
                      </a:r>
                    </a:p>
                    <a:p>
                      <a:pPr algn="l">
                        <a:lnSpc>
                          <a:spcPct val="100000"/>
                        </a:lnSpc>
                        <a:spcBef>
                          <a:spcPts val="0"/>
                        </a:spcBef>
                        <a:spcAft>
                          <a:spcPts val="0"/>
                        </a:spcAft>
                      </a:pPr>
                      <a:r>
                        <a:rPr sz="1300" b="1">
                          <a:solidFill>
                            <a:srgbClr val="1F1F1F"/>
                          </a:solidFill>
                          <a:latin typeface="Calibri"/>
                        </a:rPr>
                        <a:t>conflitos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4.10 Nos termos do Art.</a:t>
                      </a:r>
                    </a:p>
                    <a:p>
                      <a:pPr algn="l">
                        <a:lnSpc>
                          <a:spcPct val="100000"/>
                        </a:lnSpc>
                        <a:spcBef>
                          <a:spcPts val="0"/>
                        </a:spcBef>
                        <a:spcAft>
                          <a:spcPts val="0"/>
                        </a:spcAft>
                      </a:pPr>
                      <a:r>
                        <a:rPr sz="1300" b="0">
                          <a:solidFill>
                            <a:srgbClr val="1F1F1F"/>
                          </a:solidFill>
                          <a:latin typeface="Calibri"/>
                        </a:rPr>
                        <a:t>45, §7º, inciso II, do</a:t>
                      </a:r>
                    </a:p>
                    <a:p>
                      <a:pPr algn="l">
                        <a:lnSpc>
                          <a:spcPct val="100000"/>
                        </a:lnSpc>
                        <a:spcBef>
                          <a:spcPts val="0"/>
                        </a:spcBef>
                        <a:spcAft>
                          <a:spcPts val="0"/>
                        </a:spcAft>
                      </a:pPr>
                      <a:r>
                        <a:rPr sz="1300" b="0">
                          <a:solidFill>
                            <a:srgbClr val="1F1F1F"/>
                          </a:solidFill>
                          <a:latin typeface="Calibri"/>
                        </a:rPr>
                        <a:t>Anexo Normativo II da</a:t>
                      </a:r>
                    </a:p>
                    <a:p>
                      <a:pPr algn="l">
                        <a:lnSpc>
                          <a:spcPct val="100000"/>
                        </a:lnSpc>
                        <a:spcBef>
                          <a:spcPts val="0"/>
                        </a:spcBef>
                        <a:spcAft>
                          <a:spcPts val="0"/>
                        </a:spcAft>
                      </a:pPr>
                      <a:r>
                        <a:rPr sz="1300" b="0">
                          <a:solidFill>
                            <a:srgbClr val="1F1F1F"/>
                          </a:solidFill>
                          <a:latin typeface="Calibri"/>
                        </a:rPr>
                        <a:t>Resolução CVM 175, a</a:t>
                      </a:r>
                    </a:p>
                    <a:p>
                      <a:pPr algn="l">
                        <a:lnSpc>
                          <a:spcPct val="100000"/>
                        </a:lnSpc>
                        <a:spcBef>
                          <a:spcPts val="0"/>
                        </a:spcBef>
                        <a:spcAft>
                          <a:spcPts val="0"/>
                        </a:spcAft>
                      </a:pPr>
                      <a:r>
                        <a:rPr sz="1300" b="0">
                          <a:solidFill>
                            <a:srgbClr val="1F1F1F"/>
                          </a:solidFill>
                          <a:latin typeface="Calibri"/>
                        </a:rPr>
                        <a:t>Classe poderá ter até</a:t>
                      </a:r>
                    </a:p>
                    <a:p>
                      <a:pPr algn="l">
                        <a:lnSpc>
                          <a:spcPct val="100000"/>
                        </a:lnSpc>
                        <a:spcBef>
                          <a:spcPts val="0"/>
                        </a:spcBef>
                        <a:spcAft>
                          <a:spcPts val="0"/>
                        </a:spcAft>
                      </a:pPr>
                      <a:r>
                        <a:rPr sz="1300" b="0">
                          <a:solidFill>
                            <a:srgbClr val="1F1F1F"/>
                          </a:solidFill>
                          <a:latin typeface="Calibri"/>
                        </a:rPr>
                        <a:t>100% (cem por cento) de</a:t>
                      </a:r>
                    </a:p>
                    <a:p>
                      <a:pPr algn="l">
                        <a:lnSpc>
                          <a:spcPct val="100000"/>
                        </a:lnSpc>
                        <a:spcBef>
                          <a:spcPts val="0"/>
                        </a:spcBef>
                        <a:spcAft>
                          <a:spcPts val="0"/>
                        </a:spcAft>
                      </a:pPr>
                      <a:r>
                        <a:rPr sz="1300" b="0">
                          <a:solidFill>
                            <a:srgbClr val="1F1F1F"/>
                          </a:solidFill>
                          <a:latin typeface="Calibri"/>
                        </a:rPr>
                        <a:t>seu Patrimônio Líquido</a:t>
                      </a:r>
                    </a:p>
                    <a:p>
                      <a:pPr algn="l">
                        <a:lnSpc>
                          <a:spcPct val="100000"/>
                        </a:lnSpc>
                        <a:spcBef>
                          <a:spcPts val="0"/>
                        </a:spcBef>
                        <a:spcAft>
                          <a:spcPts val="0"/>
                        </a:spcAft>
                      </a:pPr>
                      <a:r>
                        <a:rPr sz="1300" b="0">
                          <a:solidFill>
                            <a:srgbClr val="1F1F1F"/>
                          </a:solidFill>
                          <a:latin typeface="Calibri"/>
                        </a:rPr>
                        <a:t>alocado em Direitos</a:t>
                      </a:r>
                    </a:p>
                    <a:p>
                      <a:pPr algn="l">
                        <a:lnSpc>
                          <a:spcPct val="100000"/>
                        </a:lnSpc>
                        <a:spcBef>
                          <a:spcPts val="0"/>
                        </a:spcBef>
                        <a:spcAft>
                          <a:spcPts val="0"/>
                        </a:spcAft>
                      </a:pPr>
                      <a:r>
                        <a:rPr sz="1300" b="0">
                          <a:solidFill>
                            <a:srgbClr val="1F1F1F"/>
                          </a:solidFill>
                          <a:latin typeface="Calibri"/>
                        </a:rPr>
                        <a:t>Creditórios,</a:t>
                      </a:r>
                    </a:p>
                    <a:p>
                      <a:pPr algn="l">
                        <a:lnSpc>
                          <a:spcPct val="100000"/>
                        </a:lnSpc>
                        <a:spcBef>
                          <a:spcPts val="0"/>
                        </a:spcBef>
                        <a:spcAft>
                          <a:spcPts val="0"/>
                        </a:spcAft>
                      </a:pPr>
                      <a:r>
                        <a:rPr sz="1300" b="0">
                          <a:solidFill>
                            <a:srgbClr val="1F1F1F"/>
                          </a:solidFill>
                          <a:latin typeface="Calibri"/>
                        </a:rPr>
                        <a:t>derivativos, observado</a:t>
                      </a:r>
                    </a:p>
                    <a:p>
                      <a:pPr algn="l">
                        <a:lnSpc>
                          <a:spcPct val="100000"/>
                        </a:lnSpc>
                        <a:spcBef>
                          <a:spcPts val="0"/>
                        </a:spcBef>
                        <a:spcAft>
                          <a:spcPts val="0"/>
                        </a:spcAft>
                      </a:pPr>
                      <a:r>
                        <a:rPr sz="1300" b="0">
                          <a:solidFill>
                            <a:srgbClr val="1F1F1F"/>
                          </a:solidFill>
                          <a:latin typeface="Calibri"/>
                        </a:rPr>
                        <a:t>o disposto no item 4.15</a:t>
                      </a:r>
                    </a:p>
                    <a:p>
                      <a:pPr algn="l">
                        <a:lnSpc>
                          <a:spcPct val="100000"/>
                        </a:lnSpc>
                        <a:spcBef>
                          <a:spcPts val="0"/>
                        </a:spcBef>
                        <a:spcAft>
                          <a:spcPts val="0"/>
                        </a:spcAft>
                      </a:pPr>
                      <a:r>
                        <a:rPr sz="1300" b="0">
                          <a:solidFill>
                            <a:srgbClr val="1F1F1F"/>
                          </a:solidFill>
                          <a:latin typeface="Calibri"/>
                        </a:rPr>
                        <a:t>abaixo e Ativos</a:t>
                      </a:r>
                    </a:p>
                    <a:p>
                      <a:pPr algn="l">
                        <a:lnSpc>
                          <a:spcPct val="100000"/>
                        </a:lnSpc>
                        <a:spcBef>
                          <a:spcPts val="0"/>
                        </a:spcBef>
                        <a:spcAft>
                          <a:spcPts val="0"/>
                        </a:spcAft>
                      </a:pPr>
                      <a:r>
                        <a:rPr sz="1300" b="0">
                          <a:solidFill>
                            <a:srgbClr val="1F1F1F"/>
                          </a:solidFill>
                          <a:latin typeface="Calibri"/>
                        </a:rPr>
                        <a:t>Financeiros de Liquidez</a:t>
                      </a:r>
                    </a:p>
                    <a:p>
                      <a:pPr algn="l">
                        <a:lnSpc>
                          <a:spcPct val="100000"/>
                        </a:lnSpc>
                        <a:spcBef>
                          <a:spcPts val="0"/>
                        </a:spcBef>
                        <a:spcAft>
                          <a:spcPts val="0"/>
                        </a:spcAft>
                      </a:pPr>
                      <a:r>
                        <a:rPr sz="1300" b="0">
                          <a:solidFill>
                            <a:srgbClr val="1F1F1F"/>
                          </a:solidFill>
                          <a:latin typeface="Calibri"/>
                        </a:rPr>
                        <a:t>devidos por um mesmo</a:t>
                      </a:r>
                    </a:p>
                    <a:p>
                      <a:pPr algn="l">
                        <a:lnSpc>
                          <a:spcPct val="100000"/>
                        </a:lnSpc>
                        <a:spcBef>
                          <a:spcPts val="0"/>
                        </a:spcBef>
                        <a:spcAft>
                          <a:spcPts val="0"/>
                        </a:spcAft>
                      </a:pPr>
                      <a:r>
                        <a:rPr sz="1300" b="0">
                          <a:solidFill>
                            <a:srgbClr val="1F1F1F"/>
                          </a:solidFill>
                          <a:latin typeface="Calibri"/>
                        </a:rPr>
                        <a:t>Devedor e/ou de</a:t>
                      </a:r>
                    </a:p>
                    <a:p>
                      <a:pPr algn="l">
                        <a:lnSpc>
                          <a:spcPct val="100000"/>
                        </a:lnSpc>
                        <a:spcBef>
                          <a:spcPts val="0"/>
                        </a:spcBef>
                        <a:spcAft>
                          <a:spcPts val="0"/>
                        </a:spcAft>
                      </a:pPr>
                      <a:r>
                        <a:rPr sz="1300" b="0">
                          <a:solidFill>
                            <a:srgbClr val="1F1F1F"/>
                          </a:solidFill>
                          <a:latin typeface="Calibri"/>
                        </a:rPr>
                        <a:t>responsabilidade ou</a:t>
                      </a:r>
                    </a:p>
                    <a:p>
                      <a:pPr algn="l">
                        <a:lnSpc>
                          <a:spcPct val="100000"/>
                        </a:lnSpc>
                        <a:spcBef>
                          <a:spcPts val="0"/>
                        </a:spcBef>
                        <a:spcAft>
                          <a:spcPts val="0"/>
                        </a:spcAft>
                      </a:pPr>
                      <a:r>
                        <a:rPr sz="1300" b="0">
                          <a:solidFill>
                            <a:srgbClr val="1F1F1F"/>
                          </a:solidFill>
                          <a:latin typeface="Calibri"/>
                        </a:rPr>
                        <a:t>coobrigação de</a:t>
                      </a:r>
                    </a:p>
                    <a:p>
                      <a:pPr algn="l">
                        <a:lnSpc>
                          <a:spcPct val="100000"/>
                        </a:lnSpc>
                        <a:spcBef>
                          <a:spcPts val="0"/>
                        </a:spcBef>
                        <a:spcAft>
                          <a:spcPts val="0"/>
                        </a:spcAft>
                      </a:pPr>
                      <a:r>
                        <a:rPr sz="1300" b="0">
                          <a:solidFill>
                            <a:srgbClr val="1F1F1F"/>
                          </a:solidFill>
                          <a:latin typeface="Calibri"/>
                        </a:rPr>
                        <a:t>Devedores de um mesmo</a:t>
                      </a:r>
                    </a:p>
                    <a:p>
                      <a:pPr algn="l">
                        <a:lnSpc>
                          <a:spcPct val="100000"/>
                        </a:lnSpc>
                        <a:spcBef>
                          <a:spcPts val="0"/>
                        </a:spcBef>
                        <a:spcAft>
                          <a:spcPts val="0"/>
                        </a:spcAft>
                      </a:pPr>
                      <a:r>
                        <a:rPr sz="1300" b="0">
                          <a:solidFill>
                            <a:srgbClr val="1F1F1F"/>
                          </a:solidFill>
                          <a:latin typeface="Calibri"/>
                        </a:rPr>
                        <a:t>Grupo Econômico e/ou de</a:t>
                      </a:r>
                    </a:p>
                    <a:p>
                      <a:pPr algn="l">
                        <a:lnSpc>
                          <a:spcPct val="100000"/>
                        </a:lnSpc>
                        <a:spcBef>
                          <a:spcPts val="0"/>
                        </a:spcBef>
                        <a:spcAft>
                          <a:spcPts val="0"/>
                        </a:spcAft>
                      </a:pPr>
                      <a:r>
                        <a:rPr sz="1300" b="0">
                          <a:solidFill>
                            <a:srgbClr val="1F1F1F"/>
                          </a:solidFill>
                          <a:latin typeface="Calibri"/>
                        </a:rPr>
                        <a:t>um mesmo Devedor,</a:t>
                      </a:r>
                    </a:p>
                    <a:p>
                      <a:pPr algn="l">
                        <a:lnSpc>
                          <a:spcPct val="100000"/>
                        </a:lnSpc>
                        <a:spcBef>
                          <a:spcPts val="0"/>
                        </a:spcBef>
                        <a:spcAft>
                          <a:spcPts val="0"/>
                        </a:spcAft>
                      </a:pPr>
                      <a:r>
                        <a:rPr sz="1300" b="0">
                          <a:solidFill>
                            <a:srgbClr val="1F1F1F"/>
                          </a:solidFill>
                          <a:latin typeface="Calibri"/>
                        </a:rPr>
                        <a:t>individualmente</a:t>
                      </a:r>
                    </a:p>
                    <a:p>
                      <a:pPr algn="l">
                        <a:lnSpc>
                          <a:spcPct val="100000"/>
                        </a:lnSpc>
                        <a:spcBef>
                          <a:spcPts val="0"/>
                        </a:spcBef>
                        <a:spcAft>
                          <a:spcPts val="0"/>
                        </a:spcAft>
                      </a:pPr>
                      <a:r>
                        <a:rPr sz="1300" b="0">
                          <a:solidFill>
                            <a:srgbClr val="1F1F1F"/>
                          </a:solidFill>
                          <a:latin typeface="Calibri"/>
                        </a:rPr>
                        <a:t>considerado, ainda que</a:t>
                      </a:r>
                    </a:p>
                    <a:p>
                      <a:pPr algn="l">
                        <a:lnSpc>
                          <a:spcPct val="100000"/>
                        </a:lnSpc>
                        <a:spcBef>
                          <a:spcPts val="0"/>
                        </a:spcBef>
                        <a:spcAft>
                          <a:spcPts val="0"/>
                        </a:spcAft>
                      </a:pPr>
                      <a:r>
                        <a:rPr sz="1300" b="0">
                          <a:solidFill>
                            <a:srgbClr val="1F1F1F"/>
                          </a:solidFill>
                          <a:latin typeface="Calibri"/>
                        </a:rPr>
                        <a:t>devidos e/ou de</a:t>
                      </a:r>
                    </a:p>
                    <a:p>
                      <a:pPr algn="l">
                        <a:lnSpc>
                          <a:spcPct val="100000"/>
                        </a:lnSpc>
                        <a:spcBef>
                          <a:spcPts val="0"/>
                        </a:spcBef>
                        <a:spcAft>
                          <a:spcPts val="0"/>
                        </a:spcAft>
                      </a:pPr>
                      <a:r>
                        <a:rPr sz="1300" b="0">
                          <a:solidFill>
                            <a:srgbClr val="1F1F1F"/>
                          </a:solidFill>
                          <a:latin typeface="Calibri"/>
                        </a:rPr>
                        <a:t>responsabilidade ou</a:t>
                      </a:r>
                    </a:p>
                    <a:p>
                      <a:pPr algn="l">
                        <a:lnSpc>
                          <a:spcPct val="100000"/>
                        </a:lnSpc>
                        <a:spcBef>
                          <a:spcPts val="0"/>
                        </a:spcBef>
                        <a:spcAft>
                          <a:spcPts val="0"/>
                        </a:spcAft>
                      </a:pPr>
                      <a:r>
                        <a:rPr sz="1300" b="0">
                          <a:solidFill>
                            <a:srgbClr val="1F1F1F"/>
                          </a:solidFill>
                          <a:latin typeface="Calibri"/>
                        </a:rPr>
                        <a:t>coobrigação dos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4.8 Nos termos do Art.</a:t>
                      </a:r>
                    </a:p>
                    <a:p>
                      <a:pPr algn="l">
                        <a:lnSpc>
                          <a:spcPct val="100000"/>
                        </a:lnSpc>
                        <a:spcBef>
                          <a:spcPts val="0"/>
                        </a:spcBef>
                        <a:spcAft>
                          <a:spcPts val="0"/>
                        </a:spcAft>
                      </a:pPr>
                      <a:r>
                        <a:rPr sz="1300" b="0">
                          <a:solidFill>
                            <a:srgbClr val="1F1F1F"/>
                          </a:solidFill>
                          <a:latin typeface="Calibri"/>
                        </a:rPr>
                        <a:t>45, §7º, inciso II, do</a:t>
                      </a:r>
                    </a:p>
                    <a:p>
                      <a:pPr algn="l">
                        <a:lnSpc>
                          <a:spcPct val="100000"/>
                        </a:lnSpc>
                        <a:spcBef>
                          <a:spcPts val="0"/>
                        </a:spcBef>
                        <a:spcAft>
                          <a:spcPts val="0"/>
                        </a:spcAft>
                      </a:pPr>
                      <a:r>
                        <a:rPr sz="1300" b="0">
                          <a:solidFill>
                            <a:srgbClr val="1F1F1F"/>
                          </a:solidFill>
                          <a:latin typeface="Calibri"/>
                        </a:rPr>
                        <a:t>Anexo Normativo II da</a:t>
                      </a:r>
                    </a:p>
                    <a:p>
                      <a:pPr algn="l">
                        <a:lnSpc>
                          <a:spcPct val="100000"/>
                        </a:lnSpc>
                        <a:spcBef>
                          <a:spcPts val="0"/>
                        </a:spcBef>
                        <a:spcAft>
                          <a:spcPts val="0"/>
                        </a:spcAft>
                      </a:pPr>
                      <a:r>
                        <a:rPr sz="1300" b="0">
                          <a:solidFill>
                            <a:srgbClr val="1F1F1F"/>
                          </a:solidFill>
                          <a:latin typeface="Calibri"/>
                        </a:rPr>
                        <a:t>Resolução CVM 175, a</a:t>
                      </a:r>
                    </a:p>
                    <a:p>
                      <a:pPr algn="l">
                        <a:lnSpc>
                          <a:spcPct val="100000"/>
                        </a:lnSpc>
                        <a:spcBef>
                          <a:spcPts val="0"/>
                        </a:spcBef>
                        <a:spcAft>
                          <a:spcPts val="0"/>
                        </a:spcAft>
                      </a:pPr>
                      <a:r>
                        <a:rPr sz="1300" b="0">
                          <a:solidFill>
                            <a:srgbClr val="1F1F1F"/>
                          </a:solidFill>
                          <a:latin typeface="Calibri"/>
                        </a:rPr>
                        <a:t>Classe poderá ter até</a:t>
                      </a:r>
                    </a:p>
                    <a:p>
                      <a:pPr algn="l">
                        <a:lnSpc>
                          <a:spcPct val="100000"/>
                        </a:lnSpc>
                        <a:spcBef>
                          <a:spcPts val="0"/>
                        </a:spcBef>
                        <a:spcAft>
                          <a:spcPts val="0"/>
                        </a:spcAft>
                      </a:pPr>
                      <a:r>
                        <a:rPr sz="1300" b="0">
                          <a:solidFill>
                            <a:srgbClr val="1F1F1F"/>
                          </a:solidFill>
                          <a:latin typeface="Calibri"/>
                        </a:rPr>
                        <a:t>100% (cem por cento) de</a:t>
                      </a:r>
                    </a:p>
                    <a:p>
                      <a:pPr algn="l">
                        <a:lnSpc>
                          <a:spcPct val="100000"/>
                        </a:lnSpc>
                        <a:spcBef>
                          <a:spcPts val="0"/>
                        </a:spcBef>
                        <a:spcAft>
                          <a:spcPts val="0"/>
                        </a:spcAft>
                      </a:pPr>
                      <a:r>
                        <a:rPr sz="1300" b="0">
                          <a:solidFill>
                            <a:srgbClr val="1F1F1F"/>
                          </a:solidFill>
                          <a:latin typeface="Calibri"/>
                        </a:rPr>
                        <a:t>seu Patrimônio Líquido</a:t>
                      </a:r>
                    </a:p>
                    <a:p>
                      <a:pPr algn="l">
                        <a:lnSpc>
                          <a:spcPct val="100000"/>
                        </a:lnSpc>
                        <a:spcBef>
                          <a:spcPts val="0"/>
                        </a:spcBef>
                        <a:spcAft>
                          <a:spcPts val="0"/>
                        </a:spcAft>
                      </a:pPr>
                      <a:r>
                        <a:rPr sz="1300" b="0">
                          <a:solidFill>
                            <a:srgbClr val="1F1F1F"/>
                          </a:solidFill>
                          <a:latin typeface="Calibri"/>
                        </a:rPr>
                        <a:t>alocado em Direitos</a:t>
                      </a:r>
                    </a:p>
                    <a:p>
                      <a:pPr algn="l">
                        <a:lnSpc>
                          <a:spcPct val="100000"/>
                        </a:lnSpc>
                        <a:spcBef>
                          <a:spcPts val="0"/>
                        </a:spcBef>
                        <a:spcAft>
                          <a:spcPts val="0"/>
                        </a:spcAft>
                      </a:pPr>
                      <a:r>
                        <a:rPr sz="1300" b="0">
                          <a:solidFill>
                            <a:srgbClr val="1F1F1F"/>
                          </a:solidFill>
                          <a:latin typeface="Calibri"/>
                        </a:rPr>
                        <a:t>Creditórios,</a:t>
                      </a:r>
                    </a:p>
                    <a:p>
                      <a:pPr algn="l">
                        <a:lnSpc>
                          <a:spcPct val="100000"/>
                        </a:lnSpc>
                        <a:spcBef>
                          <a:spcPts val="0"/>
                        </a:spcBef>
                        <a:spcAft>
                          <a:spcPts val="0"/>
                        </a:spcAft>
                      </a:pPr>
                      <a:r>
                        <a:rPr sz="1300" b="0">
                          <a:solidFill>
                            <a:srgbClr val="1F1F1F"/>
                          </a:solidFill>
                          <a:latin typeface="Calibri"/>
                        </a:rPr>
                        <a:t>derivativos, observado</a:t>
                      </a:r>
                    </a:p>
                    <a:p>
                      <a:pPr algn="l">
                        <a:lnSpc>
                          <a:spcPct val="100000"/>
                        </a:lnSpc>
                        <a:spcBef>
                          <a:spcPts val="0"/>
                        </a:spcBef>
                        <a:spcAft>
                          <a:spcPts val="0"/>
                        </a:spcAft>
                      </a:pPr>
                      <a:r>
                        <a:rPr sz="1300" b="0">
                          <a:solidFill>
                            <a:srgbClr val="1F1F1F"/>
                          </a:solidFill>
                          <a:latin typeface="Calibri"/>
                        </a:rPr>
                        <a:t>o disposto no item 4.15</a:t>
                      </a:r>
                    </a:p>
                    <a:p>
                      <a:pPr algn="l">
                        <a:lnSpc>
                          <a:spcPct val="100000"/>
                        </a:lnSpc>
                        <a:spcBef>
                          <a:spcPts val="0"/>
                        </a:spcBef>
                        <a:spcAft>
                          <a:spcPts val="0"/>
                        </a:spcAft>
                      </a:pPr>
                      <a:r>
                        <a:rPr sz="1300" b="0">
                          <a:solidFill>
                            <a:srgbClr val="1F1F1F"/>
                          </a:solidFill>
                          <a:latin typeface="Calibri"/>
                        </a:rPr>
                        <a:t>abaixo, e Ativos</a:t>
                      </a:r>
                    </a:p>
                    <a:p>
                      <a:pPr algn="l">
                        <a:lnSpc>
                          <a:spcPct val="100000"/>
                        </a:lnSpc>
                        <a:spcBef>
                          <a:spcPts val="0"/>
                        </a:spcBef>
                        <a:spcAft>
                          <a:spcPts val="0"/>
                        </a:spcAft>
                      </a:pPr>
                      <a:r>
                        <a:rPr sz="1300" b="0">
                          <a:solidFill>
                            <a:srgbClr val="1F1F1F"/>
                          </a:solidFill>
                          <a:latin typeface="Calibri"/>
                        </a:rPr>
                        <a:t>Financeiros de Liquidez</a:t>
                      </a:r>
                    </a:p>
                    <a:p>
                      <a:pPr algn="l">
                        <a:lnSpc>
                          <a:spcPct val="100000"/>
                        </a:lnSpc>
                        <a:spcBef>
                          <a:spcPts val="0"/>
                        </a:spcBef>
                        <a:spcAft>
                          <a:spcPts val="0"/>
                        </a:spcAft>
                      </a:pPr>
                      <a:r>
                        <a:rPr sz="1300" b="0">
                          <a:solidFill>
                            <a:srgbClr val="1F1F1F"/>
                          </a:solidFill>
                          <a:latin typeface="Calibri"/>
                        </a:rPr>
                        <a:t>devidos por um mesmo</a:t>
                      </a:r>
                    </a:p>
                    <a:p>
                      <a:pPr algn="l">
                        <a:lnSpc>
                          <a:spcPct val="100000"/>
                        </a:lnSpc>
                        <a:spcBef>
                          <a:spcPts val="0"/>
                        </a:spcBef>
                        <a:spcAft>
                          <a:spcPts val="0"/>
                        </a:spcAft>
                      </a:pPr>
                      <a:r>
                        <a:rPr sz="1300" b="0">
                          <a:solidFill>
                            <a:srgbClr val="1F1F1F"/>
                          </a:solidFill>
                          <a:latin typeface="Calibri"/>
                        </a:rPr>
                        <a:t>Devedor e/ou de</a:t>
                      </a:r>
                    </a:p>
                    <a:p>
                      <a:pPr algn="l">
                        <a:lnSpc>
                          <a:spcPct val="100000"/>
                        </a:lnSpc>
                        <a:spcBef>
                          <a:spcPts val="0"/>
                        </a:spcBef>
                        <a:spcAft>
                          <a:spcPts val="0"/>
                        </a:spcAft>
                      </a:pPr>
                      <a:r>
                        <a:rPr sz="1300" b="0">
                          <a:solidFill>
                            <a:srgbClr val="1F1F1F"/>
                          </a:solidFill>
                          <a:latin typeface="Calibri"/>
                        </a:rPr>
                        <a:t>responsabilidade ou</a:t>
                      </a:r>
                    </a:p>
                    <a:p>
                      <a:pPr algn="l">
                        <a:lnSpc>
                          <a:spcPct val="100000"/>
                        </a:lnSpc>
                        <a:spcBef>
                          <a:spcPts val="0"/>
                        </a:spcBef>
                        <a:spcAft>
                          <a:spcPts val="0"/>
                        </a:spcAft>
                      </a:pPr>
                      <a:r>
                        <a:rPr sz="1300" b="0">
                          <a:solidFill>
                            <a:srgbClr val="1F1F1F"/>
                          </a:solidFill>
                          <a:latin typeface="Calibri"/>
                        </a:rPr>
                        <a:t>coobrigação de</a:t>
                      </a:r>
                    </a:p>
                    <a:p>
                      <a:pPr algn="l">
                        <a:lnSpc>
                          <a:spcPct val="100000"/>
                        </a:lnSpc>
                        <a:spcBef>
                          <a:spcPts val="0"/>
                        </a:spcBef>
                        <a:spcAft>
                          <a:spcPts val="0"/>
                        </a:spcAft>
                      </a:pPr>
                      <a:r>
                        <a:rPr sz="1300" b="0">
                          <a:solidFill>
                            <a:srgbClr val="1F1F1F"/>
                          </a:solidFill>
                          <a:latin typeface="Calibri"/>
                        </a:rPr>
                        <a:t>Devedores de um mesmo</a:t>
                      </a:r>
                    </a:p>
                    <a:p>
                      <a:pPr algn="l">
                        <a:lnSpc>
                          <a:spcPct val="100000"/>
                        </a:lnSpc>
                        <a:spcBef>
                          <a:spcPts val="0"/>
                        </a:spcBef>
                        <a:spcAft>
                          <a:spcPts val="0"/>
                        </a:spcAft>
                      </a:pPr>
                      <a:r>
                        <a:rPr sz="1300" b="0">
                          <a:solidFill>
                            <a:srgbClr val="1F1F1F"/>
                          </a:solidFill>
                          <a:latin typeface="Calibri"/>
                        </a:rPr>
                        <a:t>Grupo Econômico e/ou de</a:t>
                      </a:r>
                    </a:p>
                    <a:p>
                      <a:pPr algn="l">
                        <a:lnSpc>
                          <a:spcPct val="100000"/>
                        </a:lnSpc>
                        <a:spcBef>
                          <a:spcPts val="0"/>
                        </a:spcBef>
                        <a:spcAft>
                          <a:spcPts val="0"/>
                        </a:spcAft>
                      </a:pPr>
                      <a:r>
                        <a:rPr sz="1300" b="0">
                          <a:solidFill>
                            <a:srgbClr val="1F1F1F"/>
                          </a:solidFill>
                          <a:latin typeface="Calibri"/>
                        </a:rPr>
                        <a:t>um mesmo Devedor,</a:t>
                      </a:r>
                    </a:p>
                    <a:p>
                      <a:pPr algn="l">
                        <a:lnSpc>
                          <a:spcPct val="100000"/>
                        </a:lnSpc>
                        <a:spcBef>
                          <a:spcPts val="0"/>
                        </a:spcBef>
                        <a:spcAft>
                          <a:spcPts val="0"/>
                        </a:spcAft>
                      </a:pPr>
                      <a:r>
                        <a:rPr sz="1300" b="0">
                          <a:solidFill>
                            <a:srgbClr val="1F1F1F"/>
                          </a:solidFill>
                          <a:latin typeface="Calibri"/>
                        </a:rPr>
                        <a:t>individualmente</a:t>
                      </a:r>
                    </a:p>
                    <a:p>
                      <a:pPr algn="l">
                        <a:lnSpc>
                          <a:spcPct val="100000"/>
                        </a:lnSpc>
                        <a:spcBef>
                          <a:spcPts val="0"/>
                        </a:spcBef>
                        <a:spcAft>
                          <a:spcPts val="0"/>
                        </a:spcAft>
                      </a:pPr>
                      <a:r>
                        <a:rPr sz="1300" b="0">
                          <a:solidFill>
                            <a:srgbClr val="1F1F1F"/>
                          </a:solidFill>
                          <a:latin typeface="Calibri"/>
                        </a:rPr>
                        <a:t>considerado, ainda que</a:t>
                      </a:r>
                    </a:p>
                    <a:p>
                      <a:pPr algn="l">
                        <a:lnSpc>
                          <a:spcPct val="100000"/>
                        </a:lnSpc>
                        <a:spcBef>
                          <a:spcPts val="0"/>
                        </a:spcBef>
                        <a:spcAft>
                          <a:spcPts val="0"/>
                        </a:spcAft>
                      </a:pPr>
                      <a:r>
                        <a:rPr sz="1300" b="0">
                          <a:solidFill>
                            <a:srgbClr val="1F1F1F"/>
                          </a:solidFill>
                          <a:latin typeface="Calibri"/>
                        </a:rPr>
                        <a:t>devidos e/ou de</a:t>
                      </a:r>
                    </a:p>
                    <a:p>
                      <a:pPr algn="l">
                        <a:lnSpc>
                          <a:spcPct val="100000"/>
                        </a:lnSpc>
                        <a:spcBef>
                          <a:spcPts val="0"/>
                        </a:spcBef>
                        <a:spcAft>
                          <a:spcPts val="0"/>
                        </a:spcAft>
                      </a:pPr>
                      <a:r>
                        <a:rPr sz="1300" b="0">
                          <a:solidFill>
                            <a:srgbClr val="1F1F1F"/>
                          </a:solidFill>
                          <a:latin typeface="Calibri"/>
                        </a:rPr>
                        <a:t>responsabilidade ou</a:t>
                      </a:r>
                    </a:p>
                    <a:p>
                      <a:pPr algn="l">
                        <a:lnSpc>
                          <a:spcPct val="100000"/>
                        </a:lnSpc>
                        <a:spcBef>
                          <a:spcPts val="0"/>
                        </a:spcBef>
                        <a:spcAft>
                          <a:spcPts val="0"/>
                        </a:spcAft>
                      </a:pPr>
                      <a:r>
                        <a:rPr sz="1300" b="0">
                          <a:solidFill>
                            <a:srgbClr val="1F1F1F"/>
                          </a:solidFill>
                          <a:latin typeface="Calibri"/>
                        </a:rPr>
                        <a:t>coobrigação dos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4.10 Sem prejuízo de</a:t>
                      </a:r>
                    </a:p>
                    <a:p>
                      <a:pPr algn="l">
                        <a:lnSpc>
                          <a:spcPct val="100000"/>
                        </a:lnSpc>
                        <a:spcBef>
                          <a:spcPts val="0"/>
                        </a:spcBef>
                        <a:spcAft>
                          <a:spcPts val="0"/>
                        </a:spcAft>
                      </a:pPr>
                      <a:r>
                        <a:rPr sz="1300" b="0">
                          <a:solidFill>
                            <a:srgbClr val="1F1F1F"/>
                          </a:solidFill>
                          <a:latin typeface="Calibri"/>
                        </a:rPr>
                        <a:t>limites mais</a:t>
                      </a:r>
                    </a:p>
                    <a:p>
                      <a:pPr algn="l">
                        <a:lnSpc>
                          <a:spcPct val="100000"/>
                        </a:lnSpc>
                        <a:spcBef>
                          <a:spcPts val="0"/>
                        </a:spcBef>
                        <a:spcAft>
                          <a:spcPts val="0"/>
                        </a:spcAft>
                      </a:pPr>
                      <a:r>
                        <a:rPr sz="1300" b="0">
                          <a:solidFill>
                            <a:srgbClr val="1F1F1F"/>
                          </a:solidFill>
                          <a:latin typeface="Calibri"/>
                        </a:rPr>
                        <a:t>restritivos definidos</a:t>
                      </a:r>
                    </a:p>
                    <a:p>
                      <a:pPr algn="l">
                        <a:lnSpc>
                          <a:spcPct val="100000"/>
                        </a:lnSpc>
                        <a:spcBef>
                          <a:spcPts val="0"/>
                        </a:spcBef>
                        <a:spcAft>
                          <a:spcPts val="0"/>
                        </a:spcAft>
                      </a:pPr>
                      <a:r>
                        <a:rPr sz="1300" b="0">
                          <a:solidFill>
                            <a:srgbClr val="1F1F1F"/>
                          </a:solidFill>
                          <a:latin typeface="Calibri"/>
                        </a:rPr>
                        <a:t>neste Anexo, o Gestor</a:t>
                      </a:r>
                    </a:p>
                    <a:p>
                      <a:pPr algn="l">
                        <a:lnSpc>
                          <a:spcPct val="100000"/>
                        </a:lnSpc>
                        <a:spcBef>
                          <a:spcPts val="0"/>
                        </a:spcBef>
                        <a:spcAft>
                          <a:spcPts val="0"/>
                        </a:spcAft>
                      </a:pPr>
                      <a:r>
                        <a:rPr sz="1300" b="0">
                          <a:solidFill>
                            <a:srgbClr val="1F1F1F"/>
                          </a:solidFill>
                          <a:latin typeface="Calibri"/>
                        </a:rPr>
                        <a:t>deverá observar, ainda,</a:t>
                      </a:r>
                    </a:p>
                    <a:p>
                      <a:pPr algn="l">
                        <a:lnSpc>
                          <a:spcPct val="100000"/>
                        </a:lnSpc>
                        <a:spcBef>
                          <a:spcPts val="0"/>
                        </a:spcBef>
                        <a:spcAft>
                          <a:spcPts val="0"/>
                        </a:spcAft>
                      </a:pPr>
                      <a:r>
                        <a:rPr sz="1300" b="0">
                          <a:solidFill>
                            <a:srgbClr val="1F1F1F"/>
                          </a:solidFill>
                          <a:latin typeface="Calibri"/>
                        </a:rPr>
                        <a:t>os seguintes limites de</a:t>
                      </a:r>
                    </a:p>
                    <a:p>
                      <a:pPr algn="l">
                        <a:lnSpc>
                          <a:spcPct val="100000"/>
                        </a:lnSpc>
                        <a:spcBef>
                          <a:spcPts val="0"/>
                        </a:spcBef>
                        <a:spcAft>
                          <a:spcPts val="0"/>
                        </a:spcAft>
                      </a:pPr>
                      <a:r>
                        <a:rPr sz="1300" b="0">
                          <a:solidFill>
                            <a:srgbClr val="1F1F1F"/>
                          </a:solidFill>
                          <a:latin typeface="Calibri"/>
                        </a:rPr>
                        <a:t>concentração: (i) A</a:t>
                      </a:r>
                    </a:p>
                    <a:p>
                      <a:pPr algn="l">
                        <a:lnSpc>
                          <a:spcPct val="100000"/>
                        </a:lnSpc>
                        <a:spcBef>
                          <a:spcPts val="0"/>
                        </a:spcBef>
                        <a:spcAft>
                          <a:spcPts val="0"/>
                        </a:spcAft>
                      </a:pPr>
                      <a:r>
                        <a:rPr sz="1300" b="0">
                          <a:solidFill>
                            <a:srgbClr val="1F1F1F"/>
                          </a:solidFill>
                          <a:latin typeface="Calibri"/>
                        </a:rPr>
                        <a:t>Classe poderá, direta</a:t>
                      </a:r>
                    </a:p>
                    <a:p>
                      <a:pPr algn="l">
                        <a:lnSpc>
                          <a:spcPct val="100000"/>
                        </a:lnSpc>
                        <a:spcBef>
                          <a:spcPts val="0"/>
                        </a:spcBef>
                        <a:spcAft>
                          <a:spcPts val="0"/>
                        </a:spcAft>
                      </a:pPr>
                      <a:r>
                        <a:rPr sz="1300" b="0">
                          <a:solidFill>
                            <a:srgbClr val="1F1F1F"/>
                          </a:solidFill>
                          <a:latin typeface="Calibri"/>
                        </a:rPr>
                        <a:t>ou indiretamente, ter</a:t>
                      </a:r>
                    </a:p>
                    <a:p>
                      <a:pPr algn="l">
                        <a:lnSpc>
                          <a:spcPct val="100000"/>
                        </a:lnSpc>
                        <a:spcBef>
                          <a:spcPts val="0"/>
                        </a:spcBef>
                        <a:spcAft>
                          <a:spcPts val="0"/>
                        </a:spcAft>
                      </a:pPr>
                      <a:r>
                        <a:rPr sz="1300" b="0">
                          <a:solidFill>
                            <a:srgbClr val="1F1F1F"/>
                          </a:solidFill>
                          <a:latin typeface="Calibri"/>
                        </a:rPr>
                        <a:t>até 100% (cem por</a:t>
                      </a:r>
                    </a:p>
                    <a:p>
                      <a:pPr algn="l">
                        <a:lnSpc>
                          <a:spcPct val="100000"/>
                        </a:lnSpc>
                        <a:spcBef>
                          <a:spcPts val="0"/>
                        </a:spcBef>
                        <a:spcAft>
                          <a:spcPts val="0"/>
                        </a:spcAft>
                      </a:pPr>
                      <a:r>
                        <a:rPr sz="1300" b="0">
                          <a:solidFill>
                            <a:srgbClr val="1F1F1F"/>
                          </a:solidFill>
                          <a:latin typeface="Calibri"/>
                        </a:rPr>
                        <a:t>cento) do Patrimônio</a:t>
                      </a:r>
                    </a:p>
                    <a:p>
                      <a:pPr algn="l">
                        <a:lnSpc>
                          <a:spcPct val="100000"/>
                        </a:lnSpc>
                        <a:spcBef>
                          <a:spcPts val="0"/>
                        </a:spcBef>
                        <a:spcAft>
                          <a:spcPts val="0"/>
                        </a:spcAft>
                      </a:pPr>
                      <a:r>
                        <a:rPr sz="1300" b="0">
                          <a:solidFill>
                            <a:srgbClr val="1F1F1F"/>
                          </a:solidFill>
                          <a:latin typeface="Calibri"/>
                        </a:rPr>
                        <a:t>Líquido representado</a:t>
                      </a:r>
                    </a:p>
                    <a:p>
                      <a:pPr algn="l">
                        <a:lnSpc>
                          <a:spcPct val="100000"/>
                        </a:lnSpc>
                        <a:spcBef>
                          <a:spcPts val="0"/>
                        </a:spcBef>
                        <a:spcAft>
                          <a:spcPts val="0"/>
                        </a:spcAft>
                      </a:pPr>
                      <a:r>
                        <a:rPr sz="1300" b="0">
                          <a:solidFill>
                            <a:srgbClr val="1F1F1F"/>
                          </a:solidFill>
                          <a:latin typeface="Calibri"/>
                        </a:rPr>
                        <a:t>por Direitos</a:t>
                      </a:r>
                    </a:p>
                    <a:p>
                      <a:pPr algn="l">
                        <a:lnSpc>
                          <a:spcPct val="100000"/>
                        </a:lnSpc>
                        <a:spcBef>
                          <a:spcPts val="0"/>
                        </a:spcBef>
                        <a:spcAft>
                          <a:spcPts val="0"/>
                        </a:spcAft>
                      </a:pPr>
                      <a:r>
                        <a:rPr sz="1300" b="0">
                          <a:solidFill>
                            <a:srgbClr val="1F1F1F"/>
                          </a:solidFill>
                          <a:latin typeface="Calibri"/>
                        </a:rPr>
                        <a:t>Creditórios do</a:t>
                      </a:r>
                    </a:p>
                    <a:p>
                      <a:pPr algn="l">
                        <a:lnSpc>
                          <a:spcPct val="100000"/>
                        </a:lnSpc>
                        <a:spcBef>
                          <a:spcPts val="0"/>
                        </a:spcBef>
                        <a:spcAft>
                          <a:spcPts val="0"/>
                        </a:spcAft>
                      </a:pPr>
                      <a:r>
                        <a:rPr sz="1300" b="0">
                          <a:solidFill>
                            <a:srgbClr val="1F1F1F"/>
                          </a:solidFill>
                          <a:latin typeface="Calibri"/>
                        </a:rPr>
                        <a:t>Agronegócio originados</a:t>
                      </a:r>
                    </a:p>
                    <a:p>
                      <a:pPr algn="l">
                        <a:lnSpc>
                          <a:spcPct val="100000"/>
                        </a:lnSpc>
                        <a:spcBef>
                          <a:spcPts val="0"/>
                        </a:spcBef>
                        <a:spcAft>
                          <a:spcPts val="0"/>
                        </a:spcAft>
                      </a:pPr>
                      <a:r>
                        <a:rPr sz="1300" b="0">
                          <a:solidFill>
                            <a:srgbClr val="1F1F1F"/>
                          </a:solidFill>
                          <a:latin typeface="Calibri"/>
                        </a:rPr>
                        <a:t>ou cedidos pelo</a:t>
                      </a:r>
                    </a:p>
                    <a:p>
                      <a:pPr algn="l">
                        <a:lnSpc>
                          <a:spcPct val="100000"/>
                        </a:lnSpc>
                        <a:spcBef>
                          <a:spcPts val="0"/>
                        </a:spcBef>
                        <a:spcAft>
                          <a:spcPts val="0"/>
                        </a:spcAft>
                      </a:pPr>
                      <a:r>
                        <a:rPr sz="1300" b="0">
                          <a:solidFill>
                            <a:srgbClr val="1F1F1F"/>
                          </a:solidFill>
                          <a:latin typeface="Calibri"/>
                        </a:rPr>
                        <a:t>Administrador, Gestor</a:t>
                      </a:r>
                    </a:p>
                    <a:p>
                      <a:pPr algn="l">
                        <a:lnSpc>
                          <a:spcPct val="100000"/>
                        </a:lnSpc>
                        <a:spcBef>
                          <a:spcPts val="0"/>
                        </a:spcBef>
                        <a:spcAft>
                          <a:spcPts val="0"/>
                        </a:spcAft>
                      </a:pPr>
                      <a:r>
                        <a:rPr sz="1300" b="0">
                          <a:solidFill>
                            <a:srgbClr val="1F1F1F"/>
                          </a:solidFill>
                          <a:latin typeface="Calibri"/>
                        </a:rPr>
                        <a:t>e/ou suas partes</a:t>
                      </a:r>
                    </a:p>
                    <a:p>
                      <a:pPr algn="l">
                        <a:lnSpc>
                          <a:spcPct val="100000"/>
                        </a:lnSpc>
                        <a:spcBef>
                          <a:spcPts val="0"/>
                        </a:spcBef>
                        <a:spcAft>
                          <a:spcPts val="0"/>
                        </a:spcAft>
                      </a:pPr>
                      <a:r>
                        <a:rPr sz="1300" b="0">
                          <a:solidFill>
                            <a:srgbClr val="1F1F1F"/>
                          </a:solidFill>
                          <a:latin typeface="Calibri"/>
                        </a:rPr>
                        <a:t>relacionadas, tal como</a:t>
                      </a:r>
                    </a:p>
                    <a:p>
                      <a:pPr algn="l">
                        <a:lnSpc>
                          <a:spcPct val="100000"/>
                        </a:lnSpc>
                        <a:spcBef>
                          <a:spcPts val="0"/>
                        </a:spcBef>
                        <a:spcAft>
                          <a:spcPts val="0"/>
                        </a:spcAft>
                      </a:pPr>
                      <a:r>
                        <a:rPr sz="1300" b="0">
                          <a:solidFill>
                            <a:srgbClr val="1F1F1F"/>
                          </a:solidFill>
                          <a:latin typeface="Calibri"/>
                        </a:rPr>
                        <a:t>definidas pelas regras</a:t>
                      </a:r>
                    </a:p>
                    <a:p>
                      <a:pPr algn="l">
                        <a:lnSpc>
                          <a:spcPct val="100000"/>
                        </a:lnSpc>
                        <a:spcBef>
                          <a:spcPts val="0"/>
                        </a:spcBef>
                        <a:spcAft>
                          <a:spcPts val="0"/>
                        </a:spcAft>
                      </a:pPr>
                      <a:r>
                        <a:rPr sz="1300" b="0">
                          <a:solidFill>
                            <a:srgbClr val="1F1F1F"/>
                          </a:solidFill>
                          <a:latin typeface="Calibri"/>
                        </a:rPr>
                        <a:t>contábeis que tratam</a:t>
                      </a:r>
                    </a:p>
                    <a:p>
                      <a:pPr algn="l">
                        <a:lnSpc>
                          <a:spcPct val="100000"/>
                        </a:lnSpc>
                        <a:spcBef>
                          <a:spcPts val="0"/>
                        </a:spcBef>
                        <a:spcAft>
                          <a:spcPts val="0"/>
                        </a:spcAft>
                      </a:pPr>
                      <a:r>
                        <a:rPr sz="1300" b="0">
                          <a:solidFill>
                            <a:srgbClr val="1F1F1F"/>
                          </a:solidFill>
                          <a:latin typeface="Calibri"/>
                        </a:rPr>
                        <a:t>desse assunto, desde</a:t>
                      </a:r>
                    </a:p>
                    <a:p>
                      <a:pPr algn="l">
                        <a:lnSpc>
                          <a:spcPct val="100000"/>
                        </a:lnSpc>
                        <a:spcBef>
                          <a:spcPts val="0"/>
                        </a:spcBef>
                        <a:spcAft>
                          <a:spcPts val="0"/>
                        </a:spcAft>
                      </a:pPr>
                      <a:r>
                        <a:rPr sz="1300" b="0">
                          <a:solidFill>
                            <a:srgbClr val="1F1F1F"/>
                          </a:solidFill>
                          <a:latin typeface="Calibri"/>
                        </a:rPr>
                        <a:t>que (a) o Gest or, a</a:t>
                      </a:r>
                    </a:p>
                    <a:p>
                      <a:pPr algn="l">
                        <a:lnSpc>
                          <a:spcPct val="100000"/>
                        </a:lnSpc>
                        <a:spcBef>
                          <a:spcPts val="0"/>
                        </a:spcBef>
                        <a:spcAft>
                          <a:spcPts val="0"/>
                        </a:spcAft>
                      </a:pPr>
                      <a:r>
                        <a:rPr sz="1300" b="0">
                          <a:solidFill>
                            <a:srgbClr val="1F1F1F"/>
                          </a:solidFill>
                          <a:latin typeface="Calibri"/>
                        </a:rPr>
                        <a:t>entidade registradora e</a:t>
                      </a:r>
                    </a:p>
                    <a:p>
                      <a:pPr algn="l">
                        <a:lnSpc>
                          <a:spcPct val="100000"/>
                        </a:lnSpc>
                        <a:spcBef>
                          <a:spcPts val="0"/>
                        </a:spcBef>
                        <a:spcAft>
                          <a:spcPts val="0"/>
                        </a:spcAft>
                      </a:pPr>
                      <a:r>
                        <a:rPr sz="1300" b="0">
                          <a:solidFill>
                            <a:srgbClr val="1F1F1F"/>
                          </a:solidFill>
                          <a:latin typeface="Calibri"/>
                        </a:rPr>
                        <a:t>o Custodiante dos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4.12.1 A Classe poderá</a:t>
                      </a:r>
                    </a:p>
                    <a:p>
                      <a:pPr algn="l">
                        <a:lnSpc>
                          <a:spcPct val="100000"/>
                        </a:lnSpc>
                        <a:spcBef>
                          <a:spcPts val="0"/>
                        </a:spcBef>
                        <a:spcAft>
                          <a:spcPts val="0"/>
                        </a:spcAft>
                      </a:pPr>
                      <a:r>
                        <a:rPr sz="1300" b="0">
                          <a:solidFill>
                            <a:srgbClr val="1F1F1F"/>
                          </a:solidFill>
                          <a:latin typeface="Calibri"/>
                        </a:rPr>
                        <a:t>ter até 100% (cem por</a:t>
                      </a:r>
                    </a:p>
                    <a:p>
                      <a:pPr algn="l">
                        <a:lnSpc>
                          <a:spcPct val="100000"/>
                        </a:lnSpc>
                        <a:spcBef>
                          <a:spcPts val="0"/>
                        </a:spcBef>
                        <a:spcAft>
                          <a:spcPts val="0"/>
                        </a:spcAft>
                      </a:pPr>
                      <a:r>
                        <a:rPr sz="1300" b="0">
                          <a:solidFill>
                            <a:srgbClr val="1F1F1F"/>
                          </a:solidFill>
                          <a:latin typeface="Calibri"/>
                        </a:rPr>
                        <a:t>cento) do Patrimônio</a:t>
                      </a:r>
                    </a:p>
                    <a:p>
                      <a:pPr algn="l">
                        <a:lnSpc>
                          <a:spcPct val="100000"/>
                        </a:lnSpc>
                        <a:spcBef>
                          <a:spcPts val="0"/>
                        </a:spcBef>
                        <a:spcAft>
                          <a:spcPts val="0"/>
                        </a:spcAft>
                      </a:pPr>
                      <a:r>
                        <a:rPr sz="1300" b="0">
                          <a:solidFill>
                            <a:srgbClr val="1F1F1F"/>
                          </a:solidFill>
                          <a:latin typeface="Calibri"/>
                        </a:rPr>
                        <a:t>Líquido representado</a:t>
                      </a:r>
                    </a:p>
                    <a:p>
                      <a:pPr algn="l">
                        <a:lnSpc>
                          <a:spcPct val="100000"/>
                        </a:lnSpc>
                        <a:spcBef>
                          <a:spcPts val="0"/>
                        </a:spcBef>
                        <a:spcAft>
                          <a:spcPts val="0"/>
                        </a:spcAft>
                      </a:pPr>
                      <a:r>
                        <a:rPr sz="1300" b="0">
                          <a:solidFill>
                            <a:srgbClr val="1F1F1F"/>
                          </a:solidFill>
                          <a:latin typeface="Calibri"/>
                        </a:rPr>
                        <a:t>por Cotas da Classe</a:t>
                      </a:r>
                    </a:p>
                    <a:p>
                      <a:pPr algn="l">
                        <a:lnSpc>
                          <a:spcPct val="100000"/>
                        </a:lnSpc>
                        <a:spcBef>
                          <a:spcPts val="0"/>
                        </a:spcBef>
                        <a:spcAft>
                          <a:spcPts val="0"/>
                        </a:spcAft>
                      </a:pPr>
                      <a:r>
                        <a:rPr sz="1300" b="0">
                          <a:solidFill>
                            <a:srgbClr val="1F1F1F"/>
                          </a:solidFill>
                          <a:latin typeface="Calibri"/>
                        </a:rPr>
                        <a:t>Investida administrados</a:t>
                      </a:r>
                    </a:p>
                    <a:p>
                      <a:pPr algn="l">
                        <a:lnSpc>
                          <a:spcPct val="100000"/>
                        </a:lnSpc>
                        <a:spcBef>
                          <a:spcPts val="0"/>
                        </a:spcBef>
                        <a:spcAft>
                          <a:spcPts val="0"/>
                        </a:spcAft>
                      </a:pPr>
                      <a:r>
                        <a:rPr sz="1300" b="0">
                          <a:solidFill>
                            <a:srgbClr val="1F1F1F"/>
                          </a:solidFill>
                          <a:latin typeface="Calibri"/>
                        </a:rPr>
                        <a:t>pelo ADMINISTRADOR, e</a:t>
                      </a:r>
                    </a:p>
                    <a:p>
                      <a:pPr algn="l">
                        <a:lnSpc>
                          <a:spcPct val="100000"/>
                        </a:lnSpc>
                        <a:spcBef>
                          <a:spcPts val="0"/>
                        </a:spcBef>
                        <a:spcAft>
                          <a:spcPts val="0"/>
                        </a:spcAft>
                      </a:pPr>
                      <a:r>
                        <a:rPr sz="1300" b="0">
                          <a:solidFill>
                            <a:srgbClr val="1F1F1F"/>
                          </a:solidFill>
                          <a:latin typeface="Calibri"/>
                        </a:rPr>
                        <a:t>geridos ou cogeridos</a:t>
                      </a:r>
                    </a:p>
                    <a:p>
                      <a:pPr algn="l">
                        <a:lnSpc>
                          <a:spcPct val="100000"/>
                        </a:lnSpc>
                        <a:spcBef>
                          <a:spcPts val="0"/>
                        </a:spcBef>
                        <a:spcAft>
                          <a:spcPts val="0"/>
                        </a:spcAft>
                      </a:pPr>
                      <a:r>
                        <a:rPr sz="1300" b="0">
                          <a:solidFill>
                            <a:srgbClr val="1F1F1F"/>
                          </a:solidFill>
                          <a:latin typeface="Calibri"/>
                        </a:rPr>
                        <a:t>pelo GESTOR e/ou suas</a:t>
                      </a:r>
                    </a:p>
                    <a:p>
                      <a:pPr algn="l">
                        <a:lnSpc>
                          <a:spcPct val="100000"/>
                        </a:lnSpc>
                        <a:spcBef>
                          <a:spcPts val="0"/>
                        </a:spcBef>
                        <a:spcAft>
                          <a:spcPts val="0"/>
                        </a:spcAft>
                      </a:pPr>
                      <a:r>
                        <a:rPr sz="1300" b="0">
                          <a:solidFill>
                            <a:srgbClr val="1F1F1F"/>
                          </a:solidFill>
                          <a:latin typeface="Calibri"/>
                        </a:rPr>
                        <a:t>partes relacionadas.</a:t>
                      </a:r>
                    </a:p>
                    <a:p>
                      <a:pPr algn="l">
                        <a:lnSpc>
                          <a:spcPct val="100000"/>
                        </a:lnSpc>
                        <a:spcBef>
                          <a:spcPts val="0"/>
                        </a:spcBef>
                        <a:spcAft>
                          <a:spcPts val="0"/>
                        </a:spcAft>
                      </a:pPr>
                      <a:r>
                        <a:rPr sz="1300" b="0">
                          <a:solidFill>
                            <a:srgbClr val="1F1F1F"/>
                          </a:solidFill>
                          <a:latin typeface="Calibri"/>
                        </a:rPr>
                        <a:t>Revolvência da Carteira</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Não obstante, em</a:t>
                      </a:r>
                    </a:p>
                    <a:p>
                      <a:pPr algn="l">
                        <a:lnSpc>
                          <a:spcPct val="100000"/>
                        </a:lnSpc>
                        <a:spcBef>
                          <a:spcPts val="0"/>
                        </a:spcBef>
                        <a:spcAft>
                          <a:spcPts val="0"/>
                        </a:spcAft>
                      </a:pPr>
                      <a:r>
                        <a:rPr sz="1300" b="0">
                          <a:solidFill>
                            <a:srgbClr val="1F1F1F"/>
                          </a:solidFill>
                          <a:latin typeface="Calibri"/>
                        </a:rPr>
                        <a:t>cenário extraordinário</a:t>
                      </a:r>
                    </a:p>
                    <a:p>
                      <a:pPr algn="l">
                        <a:lnSpc>
                          <a:spcPct val="100000"/>
                        </a:lnSpc>
                        <a:spcBef>
                          <a:spcPts val="0"/>
                        </a:spcBef>
                        <a:spcAft>
                          <a:spcPts val="0"/>
                        </a:spcAft>
                      </a:pPr>
                      <a:r>
                        <a:rPr sz="1300" b="0">
                          <a:solidFill>
                            <a:srgbClr val="1F1F1F"/>
                          </a:solidFill>
                          <a:latin typeface="Calibri"/>
                        </a:rPr>
                        <a:t>conforme descrito no</a:t>
                      </a:r>
                    </a:p>
                    <a:p>
                      <a:pPr algn="l">
                        <a:lnSpc>
                          <a:spcPct val="100000"/>
                        </a:lnSpc>
                        <a:spcBef>
                          <a:spcPts val="0"/>
                        </a:spcBef>
                        <a:spcAft>
                          <a:spcPts val="0"/>
                        </a:spcAft>
                      </a:pPr>
                      <a:r>
                        <a:rPr sz="1300" b="0">
                          <a:solidFill>
                            <a:srgbClr val="1F1F1F"/>
                          </a:solidFill>
                          <a:latin typeface="Calibri"/>
                        </a:rPr>
                        <a:t>item 15.1.1 (iii), e</a:t>
                      </a:r>
                    </a:p>
                    <a:p>
                      <a:pPr algn="l">
                        <a:lnSpc>
                          <a:spcPct val="100000"/>
                        </a:lnSpc>
                        <a:spcBef>
                          <a:spcPts val="0"/>
                        </a:spcBef>
                        <a:spcAft>
                          <a:spcPts val="0"/>
                        </a:spcAft>
                      </a:pPr>
                      <a:r>
                        <a:rPr sz="1300" b="0">
                          <a:solidFill>
                            <a:srgbClr val="1F1F1F"/>
                          </a:solidFill>
                          <a:latin typeface="Calibri"/>
                        </a:rPr>
                        <a:t>para fins de</a:t>
                      </a:r>
                    </a:p>
                    <a:p>
                      <a:pPr algn="l">
                        <a:lnSpc>
                          <a:spcPct val="100000"/>
                        </a:lnSpc>
                        <a:spcBef>
                          <a:spcPts val="0"/>
                        </a:spcBef>
                        <a:spcAft>
                          <a:spcPts val="0"/>
                        </a:spcAft>
                      </a:pPr>
                      <a:r>
                        <a:rPr sz="1300" b="0">
                          <a:solidFill>
                            <a:srgbClr val="1F1F1F"/>
                          </a:solidFill>
                          <a:latin typeface="Calibri"/>
                        </a:rPr>
                        <a:t>atendimento ao artigo</a:t>
                      </a:r>
                    </a:p>
                    <a:p>
                      <a:pPr algn="l">
                        <a:lnSpc>
                          <a:spcPct val="100000"/>
                        </a:lnSpc>
                        <a:spcBef>
                          <a:spcPts val="0"/>
                        </a:spcBef>
                        <a:spcAft>
                          <a:spcPts val="0"/>
                        </a:spcAft>
                      </a:pPr>
                      <a:r>
                        <a:rPr sz="1300" b="0">
                          <a:solidFill>
                            <a:srgbClr val="1F1F1F"/>
                          </a:solidFill>
                          <a:latin typeface="Calibri"/>
                        </a:rPr>
                        <a:t>98 da parte geral da</a:t>
                      </a:r>
                    </a:p>
                    <a:p>
                      <a:pPr algn="l">
                        <a:lnSpc>
                          <a:spcPct val="100000"/>
                        </a:lnSpc>
                        <a:spcBef>
                          <a:spcPts val="0"/>
                        </a:spcBef>
                        <a:spcAft>
                          <a:spcPts val="0"/>
                        </a:spcAft>
                      </a:pPr>
                      <a:r>
                        <a:rPr sz="1300" b="0">
                          <a:solidFill>
                            <a:srgbClr val="1F1F1F"/>
                          </a:solidFill>
                          <a:latin typeface="Calibri"/>
                        </a:rPr>
                        <a:t>Resolução CVM 175, a</a:t>
                      </a:r>
                    </a:p>
                    <a:p>
                      <a:pPr algn="l">
                        <a:lnSpc>
                          <a:spcPct val="100000"/>
                        </a:lnSpc>
                        <a:spcBef>
                          <a:spcPts val="0"/>
                        </a:spcBef>
                        <a:spcAft>
                          <a:spcPts val="0"/>
                        </a:spcAft>
                      </a:pPr>
                      <a:r>
                        <a:rPr sz="1300" b="0">
                          <a:solidFill>
                            <a:srgbClr val="1F1F1F"/>
                          </a:solidFill>
                          <a:latin typeface="Calibri"/>
                        </a:rPr>
                        <a:t>taxa máxima de</a:t>
                      </a:r>
                    </a:p>
                    <a:p>
                      <a:pPr algn="l">
                        <a:lnSpc>
                          <a:spcPct val="100000"/>
                        </a:lnSpc>
                        <a:spcBef>
                          <a:spcPts val="0"/>
                        </a:spcBef>
                        <a:spcAft>
                          <a:spcPts val="0"/>
                        </a:spcAft>
                      </a:pPr>
                      <a:r>
                        <a:rPr sz="1300" b="0">
                          <a:solidFill>
                            <a:srgbClr val="1F1F1F"/>
                          </a:solidFill>
                          <a:latin typeface="Calibri"/>
                        </a:rPr>
                        <a:t>administração</a:t>
                      </a:r>
                    </a:p>
                    <a:p>
                      <a:pPr algn="l">
                        <a:lnSpc>
                          <a:spcPct val="100000"/>
                        </a:lnSpc>
                        <a:spcBef>
                          <a:spcPts val="0"/>
                        </a:spcBef>
                        <a:spcAft>
                          <a:spcPts val="0"/>
                        </a:spcAft>
                      </a:pPr>
                      <a:r>
                        <a:rPr sz="1300" b="0">
                          <a:solidFill>
                            <a:srgbClr val="1F1F1F"/>
                          </a:solidFill>
                          <a:latin typeface="Calibri"/>
                        </a:rPr>
                        <a:t>corresponderá ao valor</a:t>
                      </a:r>
                    </a:p>
                    <a:p>
                      <a:pPr algn="l">
                        <a:lnSpc>
                          <a:spcPct val="100000"/>
                        </a:lnSpc>
                        <a:spcBef>
                          <a:spcPts val="0"/>
                        </a:spcBef>
                        <a:spcAft>
                          <a:spcPts val="0"/>
                        </a:spcAft>
                      </a:pPr>
                      <a:r>
                        <a:rPr sz="1300" b="0">
                          <a:solidFill>
                            <a:srgbClr val="1F1F1F"/>
                          </a:solidFill>
                          <a:latin typeface="Calibri"/>
                        </a:rPr>
                        <a:t>da Taxa Mínima de</a:t>
                      </a:r>
                    </a:p>
                    <a:p>
                      <a:pPr algn="l">
                        <a:lnSpc>
                          <a:spcPct val="100000"/>
                        </a:lnSpc>
                        <a:spcBef>
                          <a:spcPts val="0"/>
                        </a:spcBef>
                        <a:spcAft>
                          <a:spcPts val="0"/>
                        </a:spcAft>
                      </a:pPr>
                      <a:r>
                        <a:rPr sz="1300" b="0">
                          <a:solidFill>
                            <a:srgbClr val="1F1F1F"/>
                          </a:solidFill>
                          <a:latin typeface="Calibri"/>
                        </a:rPr>
                        <a:t>Administração acrescida</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103/160</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Governança e alterações</a:t>
            </a:r>
          </a:p>
        </p:txBody>
      </p:sp>
      <p:graphicFrame>
        <p:nvGraphicFramePr>
          <p:cNvPr id="3" name="Table 2"/>
          <p:cNvGraphicFramePr>
            <a:graphicFrameLocks noGrp="1"/>
          </p:cNvGraphicFramePr>
          <p:nvPr/>
        </p:nvGraphicFramePr>
        <p:xfrm>
          <a:off x="438912" y="932688"/>
          <a:ext cx="11313868" cy="5253228"/>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4782312">
                <a:tc>
                  <a:txBody>
                    <a:bodyPr wrap="square">
                      <a:noAutofit/>
                    </a:bodyPr>
                    <a:lstStyle/>
                    <a:p>
                      <a:pPr algn="l">
                        <a:lnSpc>
                          <a:spcPct val="100000"/>
                        </a:lnSpc>
                        <a:spcBef>
                          <a:spcPts val="0"/>
                        </a:spcBef>
                        <a:spcAft>
                          <a:spcPts val="0"/>
                        </a:spcAft>
                      </a:pPr>
                      <a:r>
                        <a:rPr sz="1300" b="1">
                          <a:solidFill>
                            <a:srgbClr val="1F1F1F"/>
                          </a:solidFill>
                          <a:latin typeface="Calibri"/>
                        </a:rPr>
                        <a:t>Partes relacionadas e</a:t>
                      </a:r>
                    </a:p>
                    <a:p>
                      <a:pPr algn="l">
                        <a:lnSpc>
                          <a:spcPct val="100000"/>
                        </a:lnSpc>
                        <a:spcBef>
                          <a:spcPts val="0"/>
                        </a:spcBef>
                        <a:spcAft>
                          <a:spcPts val="0"/>
                        </a:spcAft>
                      </a:pPr>
                      <a:r>
                        <a:rPr sz="1300" b="1">
                          <a:solidFill>
                            <a:srgbClr val="1F1F1F"/>
                          </a:solidFill>
                          <a:latin typeface="Calibri"/>
                        </a:rPr>
                        <a:t>conflitos (continuação)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Prestadores de Serviço</a:t>
                      </a:r>
                    </a:p>
                    <a:p>
                      <a:pPr algn="l">
                        <a:lnSpc>
                          <a:spcPct val="100000"/>
                        </a:lnSpc>
                        <a:spcBef>
                          <a:spcPts val="0"/>
                        </a:spcBef>
                        <a:spcAft>
                          <a:spcPts val="0"/>
                        </a:spcAft>
                      </a:pPr>
                      <a:r>
                        <a:rPr sz="1300" b="0">
                          <a:solidFill>
                            <a:srgbClr val="1F1F1F"/>
                          </a:solidFill>
                          <a:latin typeface="Calibri"/>
                        </a:rPr>
                        <a:t>Essenciais, outros</a:t>
                      </a:r>
                    </a:p>
                    <a:p>
                      <a:pPr algn="l">
                        <a:lnSpc>
                          <a:spcPct val="100000"/>
                        </a:lnSpc>
                        <a:spcBef>
                          <a:spcPts val="0"/>
                        </a:spcBef>
                        <a:spcAft>
                          <a:spcPts val="0"/>
                        </a:spcAft>
                      </a:pPr>
                      <a:r>
                        <a:rPr sz="1300" b="0">
                          <a:solidFill>
                            <a:srgbClr val="1F1F1F"/>
                          </a:solidFill>
                          <a:latin typeface="Calibri"/>
                        </a:rPr>
                        <a:t>prestadores de serviço</a:t>
                      </a:r>
                    </a:p>
                    <a:p>
                      <a:pPr algn="l">
                        <a:lnSpc>
                          <a:spcPct val="100000"/>
                        </a:lnSpc>
                        <a:spcBef>
                          <a:spcPts val="0"/>
                        </a:spcBef>
                        <a:spcAft>
                          <a:spcPts val="0"/>
                        </a:spcAft>
                      </a:pPr>
                      <a:r>
                        <a:rPr sz="1300" b="0">
                          <a:solidFill>
                            <a:srgbClr val="1F1F1F"/>
                          </a:solidFill>
                          <a:latin typeface="Calibri"/>
                        </a:rPr>
                        <a:t>da Classe, e/ou suas</a:t>
                      </a:r>
                    </a:p>
                    <a:p>
                      <a:pPr algn="l">
                        <a:lnSpc>
                          <a:spcPct val="100000"/>
                        </a:lnSpc>
                        <a:spcBef>
                          <a:spcPts val="0"/>
                        </a:spcBef>
                        <a:spcAft>
                          <a:spcPts val="0"/>
                        </a:spcAft>
                      </a:pPr>
                      <a:r>
                        <a:rPr sz="1300" b="0">
                          <a:solidFill>
                            <a:srgbClr val="1F1F1F"/>
                          </a:solidFill>
                          <a:latin typeface="Calibri"/>
                        </a:rPr>
                        <a:t>Partes Relacionadas.</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4.11 A Classe poderá,</a:t>
                      </a:r>
                    </a:p>
                    <a:p>
                      <a:pPr algn="l">
                        <a:lnSpc>
                          <a:spcPct val="100000"/>
                        </a:lnSpc>
                        <a:spcBef>
                          <a:spcPts val="0"/>
                        </a:spcBef>
                        <a:spcAft>
                          <a:spcPts val="0"/>
                        </a:spcAft>
                      </a:pPr>
                      <a:r>
                        <a:rPr sz="1300" b="0">
                          <a:solidFill>
                            <a:srgbClr val="1F1F1F"/>
                          </a:solidFill>
                          <a:latin typeface="Calibri"/>
                        </a:rPr>
                        <a:t>direta ou indiretamente</a:t>
                      </a:r>
                    </a:p>
                    <a:p>
                      <a:pPr algn="l">
                        <a:lnSpc>
                          <a:spcPct val="100000"/>
                        </a:lnSpc>
                        <a:spcBef>
                          <a:spcPts val="0"/>
                        </a:spcBef>
                        <a:spcAft>
                          <a:spcPts val="0"/>
                        </a:spcAft>
                      </a:pPr>
                      <a:r>
                        <a:rPr sz="1300" b="0">
                          <a:solidFill>
                            <a:srgbClr val="1F1F1F"/>
                          </a:solidFill>
                          <a:latin typeface="Calibri"/>
                        </a:rPr>
                        <a:t>e, nos termos da</a:t>
                      </a:r>
                    </a:p>
                    <a:p>
                      <a:pPr algn="l">
                        <a:lnSpc>
                          <a:spcPct val="100000"/>
                        </a:lnSpc>
                        <a:spcBef>
                          <a:spcPts val="0"/>
                        </a:spcBef>
                        <a:spcAft>
                          <a:spcPts val="0"/>
                        </a:spcAft>
                      </a:pPr>
                      <a:r>
                        <a:rPr sz="1300" b="0">
                          <a:solidFill>
                            <a:srgbClr val="1F1F1F"/>
                          </a:solidFill>
                          <a:latin typeface="Calibri"/>
                        </a:rPr>
                        <a:t>legislação aplicável:</a:t>
                      </a:r>
                    </a:p>
                    <a:p>
                      <a:pPr algn="l">
                        <a:lnSpc>
                          <a:spcPct val="100000"/>
                        </a:lnSpc>
                        <a:spcBef>
                          <a:spcPts val="0"/>
                        </a:spcBef>
                        <a:spcAft>
                          <a:spcPts val="0"/>
                        </a:spcAft>
                      </a:pPr>
                      <a:r>
                        <a:rPr sz="1300" b="0">
                          <a:solidFill>
                            <a:srgbClr val="1F1F1F"/>
                          </a:solidFill>
                          <a:latin typeface="Calibri"/>
                        </a:rPr>
                        <a:t>(i) adquirir Direitos</a:t>
                      </a:r>
                    </a:p>
                    <a:p>
                      <a:pPr algn="l">
                        <a:lnSpc>
                          <a:spcPct val="100000"/>
                        </a:lnSpc>
                        <a:spcBef>
                          <a:spcPts val="0"/>
                        </a:spcBef>
                        <a:spcAft>
                          <a:spcPts val="0"/>
                        </a:spcAft>
                      </a:pPr>
                      <a:r>
                        <a:rPr sz="1300" b="0">
                          <a:solidFill>
                            <a:srgbClr val="1F1F1F"/>
                          </a:solidFill>
                          <a:latin typeface="Calibri"/>
                        </a:rPr>
                        <a:t>Creditórios que sejam</a:t>
                      </a:r>
                    </a:p>
                    <a:p>
                      <a:pPr algn="l">
                        <a:lnSpc>
                          <a:spcPct val="100000"/>
                        </a:lnSpc>
                        <a:spcBef>
                          <a:spcPts val="0"/>
                        </a:spcBef>
                        <a:spcAft>
                          <a:spcPts val="0"/>
                        </a:spcAft>
                      </a:pPr>
                      <a:r>
                        <a:rPr sz="1300" b="0">
                          <a:solidFill>
                            <a:srgbClr val="1F1F1F"/>
                          </a:solidFill>
                          <a:latin typeface="Calibri"/>
                        </a:rPr>
                        <a:t>cedidos e/ou originados</a:t>
                      </a:r>
                    </a:p>
                    <a:p>
                      <a:pPr algn="l">
                        <a:lnSpc>
                          <a:spcPct val="100000"/>
                        </a:lnSpc>
                        <a:spcBef>
                          <a:spcPts val="0"/>
                        </a:spcBef>
                        <a:spcAft>
                          <a:spcPts val="0"/>
                        </a:spcAft>
                      </a:pPr>
                      <a:r>
                        <a:rPr sz="1300" b="0">
                          <a:solidFill>
                            <a:srgbClr val="1F1F1F"/>
                          </a:solidFill>
                          <a:latin typeface="Calibri"/>
                        </a:rPr>
                        <a:t>pelo ADMINISTRADOR e/ou</a:t>
                      </a:r>
                    </a:p>
                    <a:p>
                      <a:pPr algn="l">
                        <a:lnSpc>
                          <a:spcPct val="100000"/>
                        </a:lnSpc>
                        <a:spcBef>
                          <a:spcPts val="0"/>
                        </a:spcBef>
                        <a:spcAft>
                          <a:spcPts val="0"/>
                        </a:spcAft>
                      </a:pPr>
                      <a:r>
                        <a:rPr sz="1300" b="0">
                          <a:solidFill>
                            <a:srgbClr val="1F1F1F"/>
                          </a:solidFill>
                          <a:latin typeface="Calibri"/>
                        </a:rPr>
                        <a:t>pelo GESTOR, ou partes</a:t>
                      </a:r>
                    </a:p>
                    <a:p>
                      <a:pPr algn="l">
                        <a:lnSpc>
                          <a:spcPct val="100000"/>
                        </a:lnSpc>
                        <a:spcBef>
                          <a:spcPts val="0"/>
                        </a:spcBef>
                        <a:spcAft>
                          <a:spcPts val="0"/>
                        </a:spcAft>
                      </a:pPr>
                      <a:r>
                        <a:rPr sz="1300" b="0">
                          <a:solidFill>
                            <a:srgbClr val="1F1F1F"/>
                          </a:solidFill>
                          <a:latin typeface="Calibri"/>
                        </a:rPr>
                        <a:t>a eles relacionadas,</a:t>
                      </a:r>
                    </a:p>
                    <a:p>
                      <a:pPr algn="l">
                        <a:lnSpc>
                          <a:spcPct val="100000"/>
                        </a:lnSpc>
                        <a:spcBef>
                          <a:spcPts val="0"/>
                        </a:spcBef>
                        <a:spcAft>
                          <a:spcPts val="0"/>
                        </a:spcAft>
                      </a:pPr>
                      <a:r>
                        <a:rPr sz="1300" b="0">
                          <a:solidFill>
                            <a:srgbClr val="1F1F1F"/>
                          </a:solidFill>
                          <a:latin typeface="Calibri"/>
                        </a:rPr>
                        <a:t>tal como definidas</a:t>
                      </a:r>
                    </a:p>
                    <a:p>
                      <a:pPr algn="l">
                        <a:lnSpc>
                          <a:spcPct val="100000"/>
                        </a:lnSpc>
                        <a:spcBef>
                          <a:spcPts val="0"/>
                        </a:spcBef>
                        <a:spcAft>
                          <a:spcPts val="0"/>
                        </a:spcAft>
                      </a:pPr>
                      <a:r>
                        <a:rPr sz="1300" b="0">
                          <a:solidFill>
                            <a:srgbClr val="1F1F1F"/>
                          </a:solidFill>
                          <a:latin typeface="Calibri"/>
                        </a:rPr>
                        <a:t>pelas regras contábeis</a:t>
                      </a:r>
                    </a:p>
                    <a:p>
                      <a:pPr algn="l">
                        <a:lnSpc>
                          <a:spcPct val="100000"/>
                        </a:lnSpc>
                        <a:spcBef>
                          <a:spcPts val="0"/>
                        </a:spcBef>
                        <a:spcAft>
                          <a:spcPts val="0"/>
                        </a:spcAft>
                      </a:pPr>
                      <a:r>
                        <a:rPr sz="1300" b="0">
                          <a:solidFill>
                            <a:srgbClr val="1F1F1F"/>
                          </a:solidFill>
                          <a:latin typeface="Calibri"/>
                        </a:rPr>
                        <a:t>que tratam desse</a:t>
                      </a:r>
                    </a:p>
                    <a:p>
                      <a:pPr algn="l">
                        <a:lnSpc>
                          <a:spcPct val="100000"/>
                        </a:lnSpc>
                        <a:spcBef>
                          <a:spcPts val="0"/>
                        </a:spcBef>
                        <a:spcAft>
                          <a:spcPts val="0"/>
                        </a:spcAft>
                      </a:pPr>
                      <a:r>
                        <a:rPr sz="1300" b="0">
                          <a:solidFill>
                            <a:srgbClr val="1F1F1F"/>
                          </a:solidFill>
                          <a:latin typeface="Calibri"/>
                        </a:rPr>
                        <a:t>assunto; e (ii) ceder</a:t>
                      </a:r>
                    </a:p>
                    <a:p>
                      <a:pPr algn="l">
                        <a:lnSpc>
                          <a:spcPct val="100000"/>
                        </a:lnSpc>
                        <a:spcBef>
                          <a:spcPts val="0"/>
                        </a:spcBef>
                        <a:spcAft>
                          <a:spcPts val="0"/>
                        </a:spcAft>
                      </a:pPr>
                      <a:r>
                        <a:rPr sz="1300" b="0">
                          <a:solidFill>
                            <a:srgbClr val="1F1F1F"/>
                          </a:solidFill>
                          <a:latin typeface="Calibri"/>
                        </a:rPr>
                        <a:t>Direitos Creditórios a</a:t>
                      </a:r>
                    </a:p>
                    <a:p>
                      <a:pPr algn="l">
                        <a:lnSpc>
                          <a:spcPct val="100000"/>
                        </a:lnSpc>
                        <a:spcBef>
                          <a:spcPts val="0"/>
                        </a:spcBef>
                        <a:spcAft>
                          <a:spcPts val="0"/>
                        </a:spcAft>
                      </a:pPr>
                      <a:r>
                        <a:rPr sz="1300" b="0">
                          <a:solidFill>
                            <a:srgbClr val="1F1F1F"/>
                          </a:solidFill>
                          <a:latin typeface="Calibri"/>
                        </a:rPr>
                        <a:t>qualquer das pessoas,</a:t>
                      </a:r>
                    </a:p>
                    <a:p>
                      <a:pPr algn="l">
                        <a:lnSpc>
                          <a:spcPct val="100000"/>
                        </a:lnSpc>
                        <a:spcBef>
                          <a:spcPts val="0"/>
                        </a:spcBef>
                        <a:spcAft>
                          <a:spcPts val="0"/>
                        </a:spcAft>
                      </a:pPr>
                      <a:r>
                        <a:rPr sz="1300" b="0">
                          <a:solidFill>
                            <a:srgbClr val="1F1F1F"/>
                          </a:solidFill>
                          <a:latin typeface="Calibri"/>
                        </a:rPr>
                        <a:t>fundos de investimento</a:t>
                      </a:r>
                    </a:p>
                    <a:p>
                      <a:pPr algn="l">
                        <a:lnSpc>
                          <a:spcPct val="100000"/>
                        </a:lnSpc>
                        <a:spcBef>
                          <a:spcPts val="0"/>
                        </a:spcBef>
                        <a:spcAft>
                          <a:spcPts val="0"/>
                        </a:spcAft>
                      </a:pPr>
                      <a:r>
                        <a:rPr sz="1300" b="0">
                          <a:solidFill>
                            <a:srgbClr val="1F1F1F"/>
                          </a:solidFill>
                          <a:latin typeface="Calibri"/>
                        </a:rPr>
                        <a:t>ou entidades referidas</a:t>
                      </a:r>
                    </a:p>
                    <a:p>
                      <a:pPr algn="l">
                        <a:lnSpc>
                          <a:spcPct val="100000"/>
                        </a:lnSpc>
                        <a:spcBef>
                          <a:spcPts val="0"/>
                        </a:spcBef>
                        <a:spcAft>
                          <a:spcPts val="0"/>
                        </a:spcAft>
                      </a:pPr>
                      <a:r>
                        <a:rPr sz="1300" b="0">
                          <a:solidFill>
                            <a:srgbClr val="1F1F1F"/>
                          </a:solidFill>
                          <a:latin typeface="Calibri"/>
                        </a:rPr>
                        <a:t>no item (i) acima,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Prestadores de Serviço</a:t>
                      </a:r>
                    </a:p>
                    <a:p>
                      <a:pPr algn="l">
                        <a:lnSpc>
                          <a:spcPct val="100000"/>
                        </a:lnSpc>
                        <a:spcBef>
                          <a:spcPts val="0"/>
                        </a:spcBef>
                        <a:spcAft>
                          <a:spcPts val="0"/>
                        </a:spcAft>
                      </a:pPr>
                      <a:r>
                        <a:rPr sz="1300" b="0">
                          <a:solidFill>
                            <a:srgbClr val="1F1F1F"/>
                          </a:solidFill>
                          <a:latin typeface="Calibri"/>
                        </a:rPr>
                        <a:t>Essenciais, outros</a:t>
                      </a:r>
                    </a:p>
                    <a:p>
                      <a:pPr algn="l">
                        <a:lnSpc>
                          <a:spcPct val="100000"/>
                        </a:lnSpc>
                        <a:spcBef>
                          <a:spcPts val="0"/>
                        </a:spcBef>
                        <a:spcAft>
                          <a:spcPts val="0"/>
                        </a:spcAft>
                      </a:pPr>
                      <a:r>
                        <a:rPr sz="1300" b="0">
                          <a:solidFill>
                            <a:srgbClr val="1F1F1F"/>
                          </a:solidFill>
                          <a:latin typeface="Calibri"/>
                        </a:rPr>
                        <a:t>prestadores de serviço</a:t>
                      </a:r>
                    </a:p>
                    <a:p>
                      <a:pPr algn="l">
                        <a:lnSpc>
                          <a:spcPct val="100000"/>
                        </a:lnSpc>
                        <a:spcBef>
                          <a:spcPts val="0"/>
                        </a:spcBef>
                        <a:spcAft>
                          <a:spcPts val="0"/>
                        </a:spcAft>
                      </a:pPr>
                      <a:r>
                        <a:rPr sz="1300" b="0">
                          <a:solidFill>
                            <a:srgbClr val="1F1F1F"/>
                          </a:solidFill>
                          <a:latin typeface="Calibri"/>
                        </a:rPr>
                        <a:t>da Classe, e/ou suas</a:t>
                      </a:r>
                    </a:p>
                    <a:p>
                      <a:pPr algn="l">
                        <a:lnSpc>
                          <a:spcPct val="100000"/>
                        </a:lnSpc>
                        <a:spcBef>
                          <a:spcPts val="0"/>
                        </a:spcBef>
                        <a:spcAft>
                          <a:spcPts val="0"/>
                        </a:spcAft>
                      </a:pPr>
                      <a:r>
                        <a:rPr sz="1300" b="0">
                          <a:solidFill>
                            <a:srgbClr val="1F1F1F"/>
                          </a:solidFill>
                          <a:latin typeface="Calibri"/>
                        </a:rPr>
                        <a:t>Partes Relacionadas.</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4.9 Sem prejuízo de</a:t>
                      </a:r>
                    </a:p>
                    <a:p>
                      <a:pPr algn="l">
                        <a:lnSpc>
                          <a:spcPct val="100000"/>
                        </a:lnSpc>
                        <a:spcBef>
                          <a:spcPts val="0"/>
                        </a:spcBef>
                        <a:spcAft>
                          <a:spcPts val="0"/>
                        </a:spcAft>
                      </a:pPr>
                      <a:r>
                        <a:rPr sz="1300" b="0">
                          <a:solidFill>
                            <a:srgbClr val="1F1F1F"/>
                          </a:solidFill>
                          <a:latin typeface="Calibri"/>
                        </a:rPr>
                        <a:t>limites mais</a:t>
                      </a:r>
                    </a:p>
                    <a:p>
                      <a:pPr algn="l">
                        <a:lnSpc>
                          <a:spcPct val="100000"/>
                        </a:lnSpc>
                        <a:spcBef>
                          <a:spcPts val="0"/>
                        </a:spcBef>
                        <a:spcAft>
                          <a:spcPts val="0"/>
                        </a:spcAft>
                      </a:pPr>
                      <a:r>
                        <a:rPr sz="1300" b="0">
                          <a:solidFill>
                            <a:srgbClr val="1F1F1F"/>
                          </a:solidFill>
                          <a:latin typeface="Calibri"/>
                        </a:rPr>
                        <a:t>restritivos definidos</a:t>
                      </a:r>
                    </a:p>
                    <a:p>
                      <a:pPr algn="l">
                        <a:lnSpc>
                          <a:spcPct val="100000"/>
                        </a:lnSpc>
                        <a:spcBef>
                          <a:spcPts val="0"/>
                        </a:spcBef>
                        <a:spcAft>
                          <a:spcPts val="0"/>
                        </a:spcAft>
                      </a:pPr>
                      <a:r>
                        <a:rPr sz="1300" b="0">
                          <a:solidFill>
                            <a:srgbClr val="1F1F1F"/>
                          </a:solidFill>
                          <a:latin typeface="Calibri"/>
                        </a:rPr>
                        <a:t>neste Regulamento, o</a:t>
                      </a:r>
                    </a:p>
                    <a:p>
                      <a:pPr algn="l">
                        <a:lnSpc>
                          <a:spcPct val="100000"/>
                        </a:lnSpc>
                        <a:spcBef>
                          <a:spcPts val="0"/>
                        </a:spcBef>
                        <a:spcAft>
                          <a:spcPts val="0"/>
                        </a:spcAft>
                      </a:pPr>
                      <a:r>
                        <a:rPr sz="1300" b="0">
                          <a:solidFill>
                            <a:srgbClr val="1F1F1F"/>
                          </a:solidFill>
                          <a:latin typeface="Calibri"/>
                        </a:rPr>
                        <a:t>Gestor deverá observar,</a:t>
                      </a:r>
                    </a:p>
                    <a:p>
                      <a:pPr algn="l">
                        <a:lnSpc>
                          <a:spcPct val="100000"/>
                        </a:lnSpc>
                        <a:spcBef>
                          <a:spcPts val="0"/>
                        </a:spcBef>
                        <a:spcAft>
                          <a:spcPts val="0"/>
                        </a:spcAft>
                      </a:pPr>
                      <a:r>
                        <a:rPr sz="1300" b="0">
                          <a:solidFill>
                            <a:srgbClr val="1F1F1F"/>
                          </a:solidFill>
                          <a:latin typeface="Calibri"/>
                        </a:rPr>
                        <a:t>ainda, os seguintes</a:t>
                      </a:r>
                    </a:p>
                    <a:p>
                      <a:pPr algn="l">
                        <a:lnSpc>
                          <a:spcPct val="100000"/>
                        </a:lnSpc>
                        <a:spcBef>
                          <a:spcPts val="0"/>
                        </a:spcBef>
                        <a:spcAft>
                          <a:spcPts val="0"/>
                        </a:spcAft>
                      </a:pPr>
                      <a:r>
                        <a:rPr sz="1300" b="0">
                          <a:solidFill>
                            <a:srgbClr val="1F1F1F"/>
                          </a:solidFill>
                          <a:latin typeface="Calibri"/>
                        </a:rPr>
                        <a:t>limites de concentração</a:t>
                      </a:r>
                    </a:p>
                    <a:p>
                      <a:pPr algn="l">
                        <a:lnSpc>
                          <a:spcPct val="100000"/>
                        </a:lnSpc>
                        <a:spcBef>
                          <a:spcPts val="0"/>
                        </a:spcBef>
                        <a:spcAft>
                          <a:spcPts val="0"/>
                        </a:spcAft>
                      </a:pPr>
                      <a:r>
                        <a:rPr sz="1300" b="0">
                          <a:solidFill>
                            <a:srgbClr val="1F1F1F"/>
                          </a:solidFill>
                          <a:latin typeface="Calibri"/>
                        </a:rPr>
                        <a:t>para a composição da</a:t>
                      </a:r>
                    </a:p>
                    <a:p>
                      <a:pPr algn="l">
                        <a:lnSpc>
                          <a:spcPct val="100000"/>
                        </a:lnSpc>
                        <a:spcBef>
                          <a:spcPts val="0"/>
                        </a:spcBef>
                        <a:spcAft>
                          <a:spcPts val="0"/>
                        </a:spcAft>
                      </a:pPr>
                      <a:r>
                        <a:rPr sz="1300" b="0">
                          <a:solidFill>
                            <a:srgbClr val="1F1F1F"/>
                          </a:solidFill>
                          <a:latin typeface="Calibri"/>
                        </a:rPr>
                        <a:t>Carteira: (i ) Até 100%</a:t>
                      </a:r>
                    </a:p>
                    <a:p>
                      <a:pPr algn="l">
                        <a:lnSpc>
                          <a:spcPct val="100000"/>
                        </a:lnSpc>
                        <a:spcBef>
                          <a:spcPts val="0"/>
                        </a:spcBef>
                        <a:spcAft>
                          <a:spcPts val="0"/>
                        </a:spcAft>
                      </a:pPr>
                      <a:r>
                        <a:rPr sz="1300" b="0">
                          <a:solidFill>
                            <a:srgbClr val="1F1F1F"/>
                          </a:solidFill>
                          <a:latin typeface="Calibri"/>
                        </a:rPr>
                        <a:t>(cem por cento) da</a:t>
                      </a:r>
                    </a:p>
                    <a:p>
                      <a:pPr algn="l">
                        <a:lnSpc>
                          <a:spcPct val="100000"/>
                        </a:lnSpc>
                        <a:spcBef>
                          <a:spcPts val="0"/>
                        </a:spcBef>
                        <a:spcAft>
                          <a:spcPts val="0"/>
                        </a:spcAft>
                      </a:pPr>
                      <a:r>
                        <a:rPr sz="1300" b="0">
                          <a:solidFill>
                            <a:srgbClr val="1F1F1F"/>
                          </a:solidFill>
                          <a:latin typeface="Calibri"/>
                        </a:rPr>
                        <a:t>parcela do Patrimônio</a:t>
                      </a:r>
                    </a:p>
                    <a:p>
                      <a:pPr algn="l">
                        <a:lnSpc>
                          <a:spcPct val="100000"/>
                        </a:lnSpc>
                        <a:spcBef>
                          <a:spcPts val="0"/>
                        </a:spcBef>
                        <a:spcAft>
                          <a:spcPts val="0"/>
                        </a:spcAft>
                      </a:pPr>
                      <a:r>
                        <a:rPr sz="1300" b="0">
                          <a:solidFill>
                            <a:srgbClr val="1F1F1F"/>
                          </a:solidFill>
                          <a:latin typeface="Calibri"/>
                        </a:rPr>
                        <a:t>Líquido investida em</a:t>
                      </a:r>
                    </a:p>
                    <a:p>
                      <a:pPr algn="l">
                        <a:lnSpc>
                          <a:spcPct val="100000"/>
                        </a:lnSpc>
                        <a:spcBef>
                          <a:spcPts val="0"/>
                        </a:spcBef>
                        <a:spcAft>
                          <a:spcPts val="0"/>
                        </a:spcAft>
                      </a:pPr>
                      <a:r>
                        <a:rPr sz="1300" b="0">
                          <a:solidFill>
                            <a:srgbClr val="1F1F1F"/>
                          </a:solidFill>
                          <a:latin typeface="Calibri"/>
                        </a:rPr>
                        <a:t>Ativos Financeiros de</a:t>
                      </a:r>
                    </a:p>
                    <a:p>
                      <a:pPr algn="l">
                        <a:lnSpc>
                          <a:spcPct val="100000"/>
                        </a:lnSpc>
                        <a:spcBef>
                          <a:spcPts val="0"/>
                        </a:spcBef>
                        <a:spcAft>
                          <a:spcPts val="0"/>
                        </a:spcAft>
                      </a:pPr>
                      <a:r>
                        <a:rPr sz="1300" b="0">
                          <a:solidFill>
                            <a:srgbClr val="1F1F1F"/>
                          </a:solidFill>
                          <a:latin typeface="Calibri"/>
                        </a:rPr>
                        <a:t>Liquidez poderá ser</a:t>
                      </a:r>
                    </a:p>
                    <a:p>
                      <a:pPr algn="l">
                        <a:lnSpc>
                          <a:spcPct val="100000"/>
                        </a:lnSpc>
                        <a:spcBef>
                          <a:spcPts val="0"/>
                        </a:spcBef>
                        <a:spcAft>
                          <a:spcPts val="0"/>
                        </a:spcAft>
                      </a:pPr>
                      <a:r>
                        <a:rPr sz="1300" b="0">
                          <a:solidFill>
                            <a:srgbClr val="1F1F1F"/>
                          </a:solidFill>
                          <a:latin typeface="Calibri"/>
                        </a:rPr>
                        <a:t>alocada em Ativos</a:t>
                      </a:r>
                    </a:p>
                    <a:p>
                      <a:pPr algn="l">
                        <a:lnSpc>
                          <a:spcPct val="100000"/>
                        </a:lnSpc>
                        <a:spcBef>
                          <a:spcPts val="0"/>
                        </a:spcBef>
                        <a:spcAft>
                          <a:spcPts val="0"/>
                        </a:spcAft>
                      </a:pPr>
                      <a:r>
                        <a:rPr sz="1300" b="0">
                          <a:solidFill>
                            <a:srgbClr val="1F1F1F"/>
                          </a:solidFill>
                          <a:latin typeface="Calibri"/>
                        </a:rPr>
                        <a:t>Financeiros de Liquidez</a:t>
                      </a:r>
                    </a:p>
                    <a:p>
                      <a:pPr algn="l">
                        <a:lnSpc>
                          <a:spcPct val="100000"/>
                        </a:lnSpc>
                        <a:spcBef>
                          <a:spcPts val="0"/>
                        </a:spcBef>
                        <a:spcAft>
                          <a:spcPts val="0"/>
                        </a:spcAft>
                      </a:pPr>
                      <a:r>
                        <a:rPr sz="1300" b="0">
                          <a:solidFill>
                            <a:srgbClr val="1F1F1F"/>
                          </a:solidFill>
                          <a:latin typeface="Calibri"/>
                        </a:rPr>
                        <a:t>de emissão ou que</a:t>
                      </a:r>
                    </a:p>
                    <a:p>
                      <a:pPr algn="l">
                        <a:lnSpc>
                          <a:spcPct val="100000"/>
                        </a:lnSpc>
                        <a:spcBef>
                          <a:spcPts val="0"/>
                        </a:spcBef>
                        <a:spcAft>
                          <a:spcPts val="0"/>
                        </a:spcAft>
                      </a:pPr>
                      <a:r>
                        <a:rPr sz="1300" b="0">
                          <a:solidFill>
                            <a:srgbClr val="1F1F1F"/>
                          </a:solidFill>
                          <a:latin typeface="Calibri"/>
                        </a:rPr>
                        <a:t>envolvam retenção de</a:t>
                      </a:r>
                    </a:p>
                    <a:p>
                      <a:pPr algn="l">
                        <a:lnSpc>
                          <a:spcPct val="100000"/>
                        </a:lnSpc>
                        <a:spcBef>
                          <a:spcPts val="0"/>
                        </a:spcBef>
                        <a:spcAft>
                          <a:spcPts val="0"/>
                        </a:spcAft>
                      </a:pPr>
                      <a:r>
                        <a:rPr sz="1300" b="0">
                          <a:solidFill>
                            <a:srgbClr val="1F1F1F"/>
                          </a:solidFill>
                          <a:latin typeface="Calibri"/>
                        </a:rPr>
                        <a:t>risco por parte do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Direitos Creditórios do</a:t>
                      </a:r>
                    </a:p>
                    <a:p>
                      <a:pPr algn="l">
                        <a:lnSpc>
                          <a:spcPct val="100000"/>
                        </a:lnSpc>
                        <a:spcBef>
                          <a:spcPts val="0"/>
                        </a:spcBef>
                        <a:spcAft>
                          <a:spcPts val="0"/>
                        </a:spcAft>
                      </a:pPr>
                      <a:r>
                        <a:rPr sz="1300" b="0">
                          <a:solidFill>
                            <a:srgbClr val="1F1F1F"/>
                          </a:solidFill>
                          <a:latin typeface="Calibri"/>
                        </a:rPr>
                        <a:t>Agronegócio não sejam</a:t>
                      </a:r>
                    </a:p>
                    <a:p>
                      <a:pPr algn="l">
                        <a:lnSpc>
                          <a:spcPct val="100000"/>
                        </a:lnSpc>
                        <a:spcBef>
                          <a:spcPts val="0"/>
                        </a:spcBef>
                        <a:spcAft>
                          <a:spcPts val="0"/>
                        </a:spcAft>
                      </a:pPr>
                      <a:r>
                        <a:rPr sz="1300" b="0">
                          <a:solidFill>
                            <a:srgbClr val="1F1F1F"/>
                          </a:solidFill>
                          <a:latin typeface="Calibri"/>
                        </a:rPr>
                        <a:t>partes relacionadas</a:t>
                      </a:r>
                    </a:p>
                    <a:p>
                      <a:pPr algn="l">
                        <a:lnSpc>
                          <a:spcPct val="100000"/>
                        </a:lnSpc>
                        <a:spcBef>
                          <a:spcPts val="0"/>
                        </a:spcBef>
                        <a:spcAft>
                          <a:spcPts val="0"/>
                        </a:spcAft>
                      </a:pPr>
                      <a:r>
                        <a:rPr sz="1300" b="0">
                          <a:solidFill>
                            <a:srgbClr val="1F1F1F"/>
                          </a:solidFill>
                          <a:latin typeface="Calibri"/>
                        </a:rPr>
                        <a:t>entre si; e (b) a</a:t>
                      </a:r>
                    </a:p>
                    <a:p>
                      <a:pPr algn="l">
                        <a:lnSpc>
                          <a:spcPct val="100000"/>
                        </a:lnSpc>
                        <a:spcBef>
                          <a:spcPts val="0"/>
                        </a:spcBef>
                        <a:spcAft>
                          <a:spcPts val="0"/>
                        </a:spcAft>
                      </a:pPr>
                      <a:r>
                        <a:rPr sz="1300" b="0">
                          <a:solidFill>
                            <a:srgbClr val="1F1F1F"/>
                          </a:solidFill>
                          <a:latin typeface="Calibri"/>
                        </a:rPr>
                        <a:t>entidade registradora e</a:t>
                      </a:r>
                    </a:p>
                    <a:p>
                      <a:pPr algn="l">
                        <a:lnSpc>
                          <a:spcPct val="100000"/>
                        </a:lnSpc>
                        <a:spcBef>
                          <a:spcPts val="0"/>
                        </a:spcBef>
                        <a:spcAft>
                          <a:spcPts val="0"/>
                        </a:spcAft>
                      </a:pPr>
                      <a:r>
                        <a:rPr sz="1300" b="0">
                          <a:solidFill>
                            <a:srgbClr val="1F1F1F"/>
                          </a:solidFill>
                          <a:latin typeface="Calibri"/>
                        </a:rPr>
                        <a:t>o Custodiante dos</a:t>
                      </a:r>
                    </a:p>
                    <a:p>
                      <a:pPr algn="l">
                        <a:lnSpc>
                          <a:spcPct val="100000"/>
                        </a:lnSpc>
                        <a:spcBef>
                          <a:spcPts val="0"/>
                        </a:spcBef>
                        <a:spcAft>
                          <a:spcPts val="0"/>
                        </a:spcAft>
                      </a:pPr>
                      <a:r>
                        <a:rPr sz="1300" b="0">
                          <a:solidFill>
                            <a:srgbClr val="1F1F1F"/>
                          </a:solidFill>
                          <a:latin typeface="Calibri"/>
                        </a:rPr>
                        <a:t>Direitos Creditórios do</a:t>
                      </a:r>
                    </a:p>
                    <a:p>
                      <a:pPr algn="l">
                        <a:lnSpc>
                          <a:spcPct val="100000"/>
                        </a:lnSpc>
                        <a:spcBef>
                          <a:spcPts val="0"/>
                        </a:spcBef>
                        <a:spcAft>
                          <a:spcPts val="0"/>
                        </a:spcAft>
                      </a:pPr>
                      <a:r>
                        <a:rPr sz="1300" b="0">
                          <a:solidFill>
                            <a:srgbClr val="1F1F1F"/>
                          </a:solidFill>
                          <a:latin typeface="Calibri"/>
                        </a:rPr>
                        <a:t>Agronegócio não sejam</a:t>
                      </a:r>
                    </a:p>
                    <a:p>
                      <a:pPr algn="l">
                        <a:lnSpc>
                          <a:spcPct val="100000"/>
                        </a:lnSpc>
                        <a:spcBef>
                          <a:spcPts val="0"/>
                        </a:spcBef>
                        <a:spcAft>
                          <a:spcPts val="0"/>
                        </a:spcAft>
                      </a:pPr>
                      <a:r>
                        <a:rPr sz="1300" b="0">
                          <a:solidFill>
                            <a:srgbClr val="1F1F1F"/>
                          </a:solidFill>
                          <a:latin typeface="Calibri"/>
                        </a:rPr>
                        <a:t>partes relacionadas ao</a:t>
                      </a:r>
                    </a:p>
                    <a:p>
                      <a:pPr algn="l">
                        <a:lnSpc>
                          <a:spcPct val="100000"/>
                        </a:lnSpc>
                        <a:spcBef>
                          <a:spcPts val="0"/>
                        </a:spcBef>
                        <a:spcAft>
                          <a:spcPts val="0"/>
                        </a:spcAft>
                      </a:pPr>
                      <a:r>
                        <a:rPr sz="1300" b="0">
                          <a:solidFill>
                            <a:srgbClr val="1F1F1F"/>
                          </a:solidFill>
                          <a:latin typeface="Calibri"/>
                        </a:rPr>
                        <a:t>originador ou Cedente.</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Caso a Classe adquira</a:t>
                      </a:r>
                    </a:p>
                    <a:p>
                      <a:pPr algn="l">
                        <a:lnSpc>
                          <a:spcPct val="100000"/>
                        </a:lnSpc>
                        <a:spcBef>
                          <a:spcPts val="0"/>
                        </a:spcBef>
                        <a:spcAft>
                          <a:spcPts val="0"/>
                        </a:spcAft>
                      </a:pPr>
                      <a:r>
                        <a:rPr sz="1300" b="0">
                          <a:solidFill>
                            <a:srgbClr val="1F1F1F"/>
                          </a:solidFill>
                          <a:latin typeface="Calibri"/>
                        </a:rPr>
                        <a:t>cotas de f undos de</a:t>
                      </a:r>
                    </a:p>
                    <a:p>
                      <a:pPr algn="l">
                        <a:lnSpc>
                          <a:spcPct val="100000"/>
                        </a:lnSpc>
                        <a:spcBef>
                          <a:spcPts val="0"/>
                        </a:spcBef>
                        <a:spcAft>
                          <a:spcPts val="0"/>
                        </a:spcAft>
                      </a:pPr>
                      <a:r>
                        <a:rPr sz="1300" b="0">
                          <a:solidFill>
                            <a:srgbClr val="1F1F1F"/>
                          </a:solidFill>
                          <a:latin typeface="Calibri"/>
                        </a:rPr>
                        <a:t>investimento em</a:t>
                      </a:r>
                    </a:p>
                    <a:p>
                      <a:pPr algn="l">
                        <a:lnSpc>
                          <a:spcPct val="100000"/>
                        </a:lnSpc>
                        <a:spcBef>
                          <a:spcPts val="0"/>
                        </a:spcBef>
                        <a:spcAft>
                          <a:spcPts val="0"/>
                        </a:spcAft>
                      </a:pPr>
                      <a:r>
                        <a:rPr sz="1300" b="0">
                          <a:solidFill>
                            <a:srgbClr val="1F1F1F"/>
                          </a:solidFill>
                          <a:latin typeface="Calibri"/>
                        </a:rPr>
                        <a:t>Direitos Creditórios do</a:t>
                      </a:r>
                    </a:p>
                    <a:p>
                      <a:pPr algn="l">
                        <a:lnSpc>
                          <a:spcPct val="100000"/>
                        </a:lnSpc>
                        <a:spcBef>
                          <a:spcPts val="0"/>
                        </a:spcBef>
                        <a:spcAft>
                          <a:spcPts val="0"/>
                        </a:spcAft>
                      </a:pPr>
                      <a:r>
                        <a:rPr sz="1300" b="0">
                          <a:solidFill>
                            <a:srgbClr val="1F1F1F"/>
                          </a:solidFill>
                          <a:latin typeface="Calibri"/>
                        </a:rPr>
                        <a:t>Agronegócio no âmbito</a:t>
                      </a:r>
                    </a:p>
                    <a:p>
                      <a:pPr algn="l">
                        <a:lnSpc>
                          <a:spcPct val="100000"/>
                        </a:lnSpc>
                        <a:spcBef>
                          <a:spcPts val="0"/>
                        </a:spcBef>
                        <a:spcAft>
                          <a:spcPts val="0"/>
                        </a:spcAft>
                      </a:pPr>
                      <a:r>
                        <a:rPr sz="1300" b="0">
                          <a:solidFill>
                            <a:srgbClr val="1F1F1F"/>
                          </a:solidFill>
                          <a:latin typeface="Calibri"/>
                        </a:rPr>
                        <a:t>dos outros f undos</a:t>
                      </a:r>
                    </a:p>
                    <a:p>
                      <a:pPr algn="l">
                        <a:lnSpc>
                          <a:spcPct val="100000"/>
                        </a:lnSpc>
                        <a:spcBef>
                          <a:spcPts val="0"/>
                        </a:spcBef>
                        <a:spcAft>
                          <a:spcPts val="0"/>
                        </a:spcAft>
                      </a:pPr>
                      <a:r>
                        <a:rPr sz="1300" b="0">
                          <a:solidFill>
                            <a:srgbClr val="1F1F1F"/>
                          </a:solidFill>
                          <a:latin typeface="Calibri"/>
                        </a:rPr>
                        <a:t>investidos, para f ins</a:t>
                      </a:r>
                    </a:p>
                    <a:p>
                      <a:pPr algn="l">
                        <a:lnSpc>
                          <a:spcPct val="100000"/>
                        </a:lnSpc>
                        <a:spcBef>
                          <a:spcPts val="0"/>
                        </a:spcBef>
                        <a:spcAft>
                          <a:spcPts val="0"/>
                        </a:spcAft>
                      </a:pPr>
                      <a:r>
                        <a:rPr sz="1300" b="0">
                          <a:solidFill>
                            <a:srgbClr val="1F1F1F"/>
                          </a:solidFill>
                          <a:latin typeface="Calibri"/>
                        </a:rPr>
                        <a:t>de apuração do limite</a:t>
                      </a:r>
                    </a:p>
                    <a:p>
                      <a:pPr algn="l">
                        <a:lnSpc>
                          <a:spcPct val="100000"/>
                        </a:lnSpc>
                        <a:spcBef>
                          <a:spcPts val="0"/>
                        </a:spcBef>
                        <a:spcAft>
                          <a:spcPts val="0"/>
                        </a:spcAft>
                      </a:pPr>
                      <a:r>
                        <a:rPr sz="1300" b="0">
                          <a:solidFill>
                            <a:srgbClr val="1F1F1F"/>
                          </a:solidFill>
                          <a:latin typeface="Calibri"/>
                        </a:rPr>
                        <a:t>previsto neste item, o</a:t>
                      </a:r>
                    </a:p>
                    <a:p>
                      <a:pPr algn="l">
                        <a:lnSpc>
                          <a:spcPct val="100000"/>
                        </a:lnSpc>
                        <a:spcBef>
                          <a:spcPts val="0"/>
                        </a:spcBef>
                        <a:spcAft>
                          <a:spcPts val="0"/>
                        </a:spcAft>
                      </a:pPr>
                      <a:r>
                        <a:rPr sz="1300" b="0">
                          <a:solidFill>
                            <a:srgbClr val="1F1F1F"/>
                          </a:solidFill>
                          <a:latin typeface="Calibri"/>
                        </a:rPr>
                        <a:t>Gestor deverá assegurar</a:t>
                      </a:r>
                    </a:p>
                    <a:p>
                      <a:pPr algn="l">
                        <a:lnSpc>
                          <a:spcPct val="100000"/>
                        </a:lnSpc>
                        <a:spcBef>
                          <a:spcPts val="0"/>
                        </a:spcBef>
                        <a:spcAft>
                          <a:spcPts val="0"/>
                        </a:spcAft>
                      </a:pPr>
                      <a:r>
                        <a:rPr sz="1300" b="0">
                          <a:solidFill>
                            <a:srgbClr val="1F1F1F"/>
                          </a:solidFill>
                          <a:latin typeface="Calibri"/>
                        </a:rPr>
                        <a:t>que, na consolidação</a:t>
                      </a:r>
                    </a:p>
                    <a:p>
                      <a:pPr algn="l">
                        <a:lnSpc>
                          <a:spcPct val="100000"/>
                        </a:lnSpc>
                        <a:spcBef>
                          <a:spcPts val="0"/>
                        </a:spcBef>
                        <a:spcAft>
                          <a:spcPts val="0"/>
                        </a:spcAft>
                      </a:pPr>
                      <a:r>
                        <a:rPr sz="1300" b="0">
                          <a:solidFill>
                            <a:srgbClr val="1F1F1F"/>
                          </a:solidFill>
                          <a:latin typeface="Calibri"/>
                        </a:rPr>
                        <a:t>das aplicações da</a:t>
                      </a:r>
                    </a:p>
                    <a:p>
                      <a:pPr algn="l">
                        <a:lnSpc>
                          <a:spcPct val="100000"/>
                        </a:lnSpc>
                        <a:spcBef>
                          <a:spcPts val="0"/>
                        </a:spcBef>
                        <a:spcAft>
                          <a:spcPts val="0"/>
                        </a:spcAft>
                      </a:pPr>
                      <a:r>
                        <a:rPr sz="1300" b="0">
                          <a:solidFill>
                            <a:srgbClr val="1F1F1F"/>
                          </a:solidFill>
                          <a:latin typeface="Calibri"/>
                        </a:rPr>
                        <a:t>Classe com as dos f</a:t>
                      </a:r>
                    </a:p>
                    <a:p>
                      <a:pPr algn="l">
                        <a:lnSpc>
                          <a:spcPct val="100000"/>
                        </a:lnSpc>
                        <a:spcBef>
                          <a:spcPts val="0"/>
                        </a:spcBef>
                        <a:spcAft>
                          <a:spcPts val="0"/>
                        </a:spcAft>
                      </a:pPr>
                      <a:r>
                        <a:rPr sz="1300" b="0">
                          <a:solidFill>
                            <a:srgbClr val="1F1F1F"/>
                          </a:solidFill>
                          <a:latin typeface="Calibri"/>
                        </a:rPr>
                        <a:t>undos investidos, 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de até 0,10% (dez</a:t>
                      </a:r>
                    </a:p>
                    <a:p>
                      <a:pPr algn="l">
                        <a:lnSpc>
                          <a:spcPct val="100000"/>
                        </a:lnSpc>
                        <a:spcBef>
                          <a:spcPts val="0"/>
                        </a:spcBef>
                        <a:spcAft>
                          <a:spcPts val="0"/>
                        </a:spcAft>
                      </a:pPr>
                      <a:r>
                        <a:rPr sz="1300" b="0">
                          <a:solidFill>
                            <a:srgbClr val="1F1F1F"/>
                          </a:solidFill>
                          <a:latin typeface="Calibri"/>
                        </a:rPr>
                        <a:t>centésimos por cento)</a:t>
                      </a:r>
                    </a:p>
                    <a:p>
                      <a:pPr algn="l">
                        <a:lnSpc>
                          <a:spcPct val="100000"/>
                        </a:lnSpc>
                        <a:spcBef>
                          <a:spcPts val="0"/>
                        </a:spcBef>
                        <a:spcAft>
                          <a:spcPts val="0"/>
                        </a:spcAft>
                      </a:pPr>
                      <a:r>
                        <a:rPr sz="1300" b="0">
                          <a:solidFill>
                            <a:srgbClr val="1F1F1F"/>
                          </a:solidFill>
                          <a:latin typeface="Calibri"/>
                        </a:rPr>
                        <a:t>ao ano incidente sobre</a:t>
                      </a:r>
                    </a:p>
                    <a:p>
                      <a:pPr algn="l">
                        <a:lnSpc>
                          <a:spcPct val="100000"/>
                        </a:lnSpc>
                        <a:spcBef>
                          <a:spcPts val="0"/>
                        </a:spcBef>
                        <a:spcAft>
                          <a:spcPts val="0"/>
                        </a:spcAft>
                      </a:pPr>
                      <a:r>
                        <a:rPr sz="1300" b="0">
                          <a:solidFill>
                            <a:srgbClr val="1F1F1F"/>
                          </a:solidFill>
                          <a:latin typeface="Calibri"/>
                        </a:rPr>
                        <a:t>o patrimônio líquido da</a:t>
                      </a:r>
                    </a:p>
                    <a:p>
                      <a:pPr algn="l">
                        <a:lnSpc>
                          <a:spcPct val="100000"/>
                        </a:lnSpc>
                        <a:spcBef>
                          <a:spcPts val="0"/>
                        </a:spcBef>
                        <a:spcAft>
                          <a:spcPts val="0"/>
                        </a:spcAft>
                      </a:pPr>
                      <a:r>
                        <a:rPr sz="1300" b="0">
                          <a:solidFill>
                            <a:srgbClr val="1F1F1F"/>
                          </a:solidFill>
                          <a:latin typeface="Calibri"/>
                        </a:rPr>
                        <a:t>Classe Investida,</a:t>
                      </a:r>
                    </a:p>
                    <a:p>
                      <a:pPr algn="l">
                        <a:lnSpc>
                          <a:spcPct val="100000"/>
                        </a:lnSpc>
                        <a:spcBef>
                          <a:spcPts val="0"/>
                        </a:spcBef>
                        <a:spcAft>
                          <a:spcPts val="0"/>
                        </a:spcAft>
                      </a:pPr>
                      <a:r>
                        <a:rPr sz="1300" b="0">
                          <a:solidFill>
                            <a:srgbClr val="1F1F1F"/>
                          </a:solidFill>
                          <a:latin typeface="Calibri"/>
                        </a:rPr>
                        <a:t>compreendendo a taxa de</a:t>
                      </a:r>
                    </a:p>
                    <a:p>
                      <a:pPr algn="l">
                        <a:lnSpc>
                          <a:spcPct val="100000"/>
                        </a:lnSpc>
                        <a:spcBef>
                          <a:spcPts val="0"/>
                        </a:spcBef>
                        <a:spcAft>
                          <a:spcPts val="0"/>
                        </a:spcAft>
                      </a:pPr>
                      <a:r>
                        <a:rPr sz="1300" b="0">
                          <a:solidFill>
                            <a:srgbClr val="1F1F1F"/>
                          </a:solidFill>
                          <a:latin typeface="Calibri"/>
                        </a:rPr>
                        <a:t>administração da Classe</a:t>
                      </a:r>
                    </a:p>
                    <a:p>
                      <a:pPr algn="l">
                        <a:lnSpc>
                          <a:spcPct val="100000"/>
                        </a:lnSpc>
                        <a:spcBef>
                          <a:spcPts val="0"/>
                        </a:spcBef>
                        <a:spcAft>
                          <a:spcPts val="0"/>
                        </a:spcAft>
                      </a:pPr>
                      <a:r>
                        <a:rPr sz="1300" b="0">
                          <a:solidFill>
                            <a:srgbClr val="1F1F1F"/>
                          </a:solidFill>
                          <a:latin typeface="Calibri"/>
                        </a:rPr>
                        <a:t>Investida geridos por</a:t>
                      </a:r>
                    </a:p>
                    <a:p>
                      <a:pPr algn="l">
                        <a:lnSpc>
                          <a:spcPct val="100000"/>
                        </a:lnSpc>
                        <a:spcBef>
                          <a:spcPts val="0"/>
                        </a:spcBef>
                        <a:spcAft>
                          <a:spcPts val="0"/>
                        </a:spcAft>
                      </a:pPr>
                      <a:r>
                        <a:rPr sz="1300" b="0">
                          <a:solidFill>
                            <a:srgbClr val="1F1F1F"/>
                          </a:solidFill>
                          <a:latin typeface="Calibri"/>
                        </a:rPr>
                        <a:t>partes relacionadas ao</a:t>
                      </a:r>
                    </a:p>
                    <a:p>
                      <a:pPr algn="l">
                        <a:lnSpc>
                          <a:spcPct val="100000"/>
                        </a:lnSpc>
                        <a:spcBef>
                          <a:spcPts val="0"/>
                        </a:spcBef>
                        <a:spcAft>
                          <a:spcPts val="0"/>
                        </a:spcAft>
                      </a:pPr>
                      <a:r>
                        <a:rPr sz="1300" b="0">
                          <a:solidFill>
                            <a:srgbClr val="1F1F1F"/>
                          </a:solidFill>
                          <a:latin typeface="Calibri"/>
                        </a:rPr>
                        <a:t>GESTOR, cujas cotas não</a:t>
                      </a:r>
                    </a:p>
                    <a:p>
                      <a:pPr algn="l">
                        <a:lnSpc>
                          <a:spcPct val="100000"/>
                        </a:lnSpc>
                        <a:spcBef>
                          <a:spcPts val="0"/>
                        </a:spcBef>
                        <a:spcAft>
                          <a:spcPts val="0"/>
                        </a:spcAft>
                      </a:pPr>
                      <a:r>
                        <a:rPr sz="1300" b="0">
                          <a:solidFill>
                            <a:srgbClr val="1F1F1F"/>
                          </a:solidFill>
                          <a:latin typeface="Calibri"/>
                        </a:rPr>
                        <a:t>estão admitidas à</a:t>
                      </a:r>
                    </a:p>
                    <a:p>
                      <a:pPr algn="l">
                        <a:lnSpc>
                          <a:spcPct val="100000"/>
                        </a:lnSpc>
                        <a:spcBef>
                          <a:spcPts val="0"/>
                        </a:spcBef>
                        <a:spcAft>
                          <a:spcPts val="0"/>
                        </a:spcAft>
                      </a:pPr>
                      <a:r>
                        <a:rPr sz="1300" b="0">
                          <a:solidFill>
                            <a:srgbClr val="1F1F1F"/>
                          </a:solidFill>
                          <a:latin typeface="Calibri"/>
                        </a:rPr>
                        <a:t>negociação em mercado</a:t>
                      </a:r>
                    </a:p>
                    <a:p>
                      <a:pPr algn="l">
                        <a:lnSpc>
                          <a:spcPct val="100000"/>
                        </a:lnSpc>
                        <a:spcBef>
                          <a:spcPts val="0"/>
                        </a:spcBef>
                        <a:spcAft>
                          <a:spcPts val="0"/>
                        </a:spcAft>
                      </a:pPr>
                      <a:r>
                        <a:rPr sz="1300" b="0">
                          <a:solidFill>
                            <a:srgbClr val="1F1F1F"/>
                          </a:solidFill>
                          <a:latin typeface="Calibri"/>
                        </a:rPr>
                        <a:t>organizado, conforme</a:t>
                      </a:r>
                    </a:p>
                    <a:p>
                      <a:pPr algn="l">
                        <a:lnSpc>
                          <a:spcPct val="100000"/>
                        </a:lnSpc>
                        <a:spcBef>
                          <a:spcPts val="0"/>
                        </a:spcBef>
                        <a:spcAft>
                          <a:spcPts val="0"/>
                        </a:spcAft>
                      </a:pPr>
                      <a:r>
                        <a:rPr sz="1300" b="0">
                          <a:solidFill>
                            <a:srgbClr val="1F1F1F"/>
                          </a:solidFill>
                          <a:latin typeface="Calibri"/>
                        </a:rPr>
                        <a:t>prevista no regulamento</a:t>
                      </a:r>
                    </a:p>
                    <a:p>
                      <a:pPr algn="l">
                        <a:lnSpc>
                          <a:spcPct val="100000"/>
                        </a:lnSpc>
                        <a:spcBef>
                          <a:spcPts val="0"/>
                        </a:spcBef>
                        <a:spcAft>
                          <a:spcPts val="0"/>
                        </a:spcAft>
                      </a:pPr>
                      <a:r>
                        <a:rPr sz="1300" b="0">
                          <a:solidFill>
                            <a:srgbClr val="1F1F1F"/>
                          </a:solidFill>
                          <a:latin typeface="Calibri"/>
                        </a:rPr>
                        <a:t>da Classe Investida</a:t>
                      </a:r>
                    </a:p>
                    <a:p>
                      <a:pPr algn="l">
                        <a:lnSpc>
                          <a:spcPct val="100000"/>
                        </a:lnSpc>
                        <a:spcBef>
                          <a:spcPts val="0"/>
                        </a:spcBef>
                        <a:spcAft>
                          <a:spcPts val="0"/>
                        </a:spcAft>
                      </a:pPr>
                      <a:r>
                        <a:rPr sz="1300" b="0">
                          <a:solidFill>
                            <a:srgbClr val="1F1F1F"/>
                          </a:solidFill>
                          <a:latin typeface="Calibri"/>
                        </a:rPr>
                        <a:t>(“Taxa Máxima de</a:t>
                      </a:r>
                    </a:p>
                    <a:p>
                      <a:pPr algn="l">
                        <a:lnSpc>
                          <a:spcPct val="100000"/>
                        </a:lnSpc>
                        <a:spcBef>
                          <a:spcPts val="0"/>
                        </a:spcBef>
                        <a:spcAft>
                          <a:spcPts val="0"/>
                        </a:spcAft>
                      </a:pPr>
                      <a:r>
                        <a:rPr sz="1300" b="0">
                          <a:solidFill>
                            <a:srgbClr val="1F1F1F"/>
                          </a:solidFill>
                          <a:latin typeface="Calibri"/>
                        </a:rPr>
                        <a:t>Administração” e,</a:t>
                      </a:r>
                    </a:p>
                    <a:p>
                      <a:pPr algn="l">
                        <a:lnSpc>
                          <a:spcPct val="100000"/>
                        </a:lnSpc>
                        <a:spcBef>
                          <a:spcPts val="0"/>
                        </a:spcBef>
                        <a:spcAft>
                          <a:spcPts val="0"/>
                        </a:spcAft>
                      </a:pPr>
                      <a:r>
                        <a:rPr sz="1300" b="0">
                          <a:solidFill>
                            <a:srgbClr val="1F1F1F"/>
                          </a:solidFill>
                          <a:latin typeface="Calibri"/>
                        </a:rPr>
                        <a:t>quando referida em</a:t>
                      </a:r>
                    </a:p>
                    <a:p>
                      <a:pPr algn="l">
                        <a:lnSpc>
                          <a:spcPct val="100000"/>
                        </a:lnSpc>
                        <a:spcBef>
                          <a:spcPts val="0"/>
                        </a:spcBef>
                        <a:spcAft>
                          <a:spcPts val="0"/>
                        </a:spcAft>
                      </a:pPr>
                      <a:r>
                        <a:rPr sz="1300" b="0">
                          <a:solidFill>
                            <a:srgbClr val="1F1F1F"/>
                          </a:solidFill>
                          <a:latin typeface="Calibri"/>
                        </a:rPr>
                        <a:t>conjunto com a Taxa</a:t>
                      </a:r>
                    </a:p>
                    <a:p>
                      <a:pPr algn="l">
                        <a:lnSpc>
                          <a:spcPct val="100000"/>
                        </a:lnSpc>
                        <a:spcBef>
                          <a:spcPts val="0"/>
                        </a:spcBef>
                        <a:spcAft>
                          <a:spcPts val="0"/>
                        </a:spcAft>
                      </a:pPr>
                      <a:r>
                        <a:rPr sz="1300" b="0">
                          <a:solidFill>
                            <a:srgbClr val="1F1F1F"/>
                          </a:solidFill>
                          <a:latin typeface="Calibri"/>
                        </a:rPr>
                        <a:t>Mínima de</a:t>
                      </a:r>
                    </a:p>
                    <a:p>
                      <a:pPr algn="l">
                        <a:lnSpc>
                          <a:spcPct val="100000"/>
                        </a:lnSpc>
                        <a:spcBef>
                          <a:spcPts val="0"/>
                        </a:spcBef>
                        <a:spcAft>
                          <a:spcPts val="0"/>
                        </a:spcAft>
                      </a:pPr>
                      <a:r>
                        <a:rPr sz="1300" b="0">
                          <a:solidFill>
                            <a:srgbClr val="1F1F1F"/>
                          </a:solidFill>
                          <a:latin typeface="Calibri"/>
                        </a:rPr>
                        <a:t>Administração, como</a:t>
                      </a:r>
                    </a:p>
                    <a:p>
                      <a:pPr algn="l">
                        <a:lnSpc>
                          <a:spcPct val="100000"/>
                        </a:lnSpc>
                        <a:spcBef>
                          <a:spcPts val="0"/>
                        </a:spcBef>
                        <a:spcAft>
                          <a:spcPts val="0"/>
                        </a:spcAft>
                      </a:pPr>
                      <a:r>
                        <a:rPr sz="1300" b="0">
                          <a:solidFill>
                            <a:srgbClr val="1F1F1F"/>
                          </a:solidFill>
                          <a:latin typeface="Calibri"/>
                        </a:rPr>
                        <a:t>“Taxa de</a:t>
                      </a:r>
                    </a:p>
                    <a:p>
                      <a:pPr algn="l">
                        <a:lnSpc>
                          <a:spcPct val="100000"/>
                        </a:lnSpc>
                        <a:spcBef>
                          <a:spcPts val="0"/>
                        </a:spcBef>
                        <a:spcAft>
                          <a:spcPts val="0"/>
                        </a:spcAft>
                      </a:pPr>
                      <a:r>
                        <a:rPr sz="1300" b="0">
                          <a:solidFill>
                            <a:srgbClr val="1F1F1F"/>
                          </a:solidFill>
                          <a:latin typeface="Calibri"/>
                        </a:rPr>
                        <a:t>Administração”). Caso a</a:t>
                      </a:r>
                    </a:p>
                    <a:p>
                      <a:pPr algn="l">
                        <a:lnSpc>
                          <a:spcPct val="100000"/>
                        </a:lnSpc>
                        <a:spcBef>
                          <a:spcPts val="0"/>
                        </a:spcBef>
                        <a:spcAft>
                          <a:spcPts val="0"/>
                        </a:spcAft>
                      </a:pPr>
                      <a:r>
                        <a:rPr sz="1300" b="0">
                          <a:solidFill>
                            <a:srgbClr val="1F1F1F"/>
                          </a:solidFill>
                          <a:latin typeface="Calibri"/>
                        </a:rPr>
                        <a:t>taxa de administração</a:t>
                      </a:r>
                    </a:p>
                    <a:p>
                      <a:pPr algn="l">
                        <a:lnSpc>
                          <a:spcPct val="100000"/>
                        </a:lnSpc>
                        <a:spcBef>
                          <a:spcPts val="0"/>
                        </a:spcBef>
                        <a:spcAft>
                          <a:spcPts val="0"/>
                        </a:spcAft>
                      </a:pPr>
                      <a:r>
                        <a:rPr sz="1300" b="0">
                          <a:solidFill>
                            <a:srgbClr val="1F1F1F"/>
                          </a:solidFill>
                          <a:latin typeface="Calibri"/>
                        </a:rPr>
                        <a:t>da Classe Investida não</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104/160</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Governança e alterações</a:t>
            </a:r>
          </a:p>
        </p:txBody>
      </p:sp>
      <p:graphicFrame>
        <p:nvGraphicFramePr>
          <p:cNvPr id="3" name="Table 2"/>
          <p:cNvGraphicFramePr>
            <a:graphicFrameLocks noGrp="1"/>
          </p:cNvGraphicFramePr>
          <p:nvPr/>
        </p:nvGraphicFramePr>
        <p:xfrm>
          <a:off x="438912" y="932688"/>
          <a:ext cx="11313868" cy="5253228"/>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4782312">
                <a:tc>
                  <a:txBody>
                    <a:bodyPr wrap="square">
                      <a:noAutofit/>
                    </a:bodyPr>
                    <a:lstStyle/>
                    <a:p>
                      <a:pPr algn="l">
                        <a:lnSpc>
                          <a:spcPct val="100000"/>
                        </a:lnSpc>
                        <a:spcBef>
                          <a:spcPts val="0"/>
                        </a:spcBef>
                        <a:spcAft>
                          <a:spcPts val="0"/>
                        </a:spcAft>
                      </a:pPr>
                      <a:r>
                        <a:rPr sz="1300" b="1">
                          <a:solidFill>
                            <a:srgbClr val="1F1F1F"/>
                          </a:solidFill>
                          <a:latin typeface="Calibri"/>
                        </a:rPr>
                        <a:t>Partes relacionadas e</a:t>
                      </a:r>
                    </a:p>
                    <a:p>
                      <a:pPr algn="l">
                        <a:lnSpc>
                          <a:spcPct val="100000"/>
                        </a:lnSpc>
                        <a:spcBef>
                          <a:spcPts val="0"/>
                        </a:spcBef>
                        <a:spcAft>
                          <a:spcPts val="0"/>
                        </a:spcAft>
                      </a:pPr>
                      <a:r>
                        <a:rPr sz="1300" b="1">
                          <a:solidFill>
                            <a:srgbClr val="1F1F1F"/>
                          </a:solidFill>
                          <a:latin typeface="Calibri"/>
                        </a:rPr>
                        <a:t>conflitos (continuação)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desde que (i) o</a:t>
                      </a:r>
                    </a:p>
                    <a:p>
                      <a:pPr algn="l">
                        <a:lnSpc>
                          <a:spcPct val="100000"/>
                        </a:lnSpc>
                        <a:spcBef>
                          <a:spcPts val="0"/>
                        </a:spcBef>
                        <a:spcAft>
                          <a:spcPts val="0"/>
                        </a:spcAft>
                      </a:pPr>
                      <a:r>
                        <a:rPr sz="1300" b="0">
                          <a:solidFill>
                            <a:srgbClr val="1F1F1F"/>
                          </a:solidFill>
                          <a:latin typeface="Calibri"/>
                        </a:rPr>
                        <a:t>ADMINISTRADOR, GESTOR,</a:t>
                      </a:r>
                    </a:p>
                    <a:p>
                      <a:pPr algn="l">
                        <a:lnSpc>
                          <a:spcPct val="100000"/>
                        </a:lnSpc>
                        <a:spcBef>
                          <a:spcPts val="0"/>
                        </a:spcBef>
                        <a:spcAft>
                          <a:spcPts val="0"/>
                        </a:spcAft>
                      </a:pPr>
                      <a:r>
                        <a:rPr sz="1300" b="0">
                          <a:solidFill>
                            <a:srgbClr val="1F1F1F"/>
                          </a:solidFill>
                          <a:latin typeface="Calibri"/>
                        </a:rPr>
                        <a:t>a entidade registradora</a:t>
                      </a:r>
                    </a:p>
                    <a:p>
                      <a:pPr algn="l">
                        <a:lnSpc>
                          <a:spcPct val="100000"/>
                        </a:lnSpc>
                        <a:spcBef>
                          <a:spcPts val="0"/>
                        </a:spcBef>
                        <a:spcAft>
                          <a:spcPts val="0"/>
                        </a:spcAft>
                      </a:pPr>
                      <a:r>
                        <a:rPr sz="1300" b="0">
                          <a:solidFill>
                            <a:srgbClr val="1F1F1F"/>
                          </a:solidFill>
                          <a:latin typeface="Calibri"/>
                        </a:rPr>
                        <a:t>e o CUSTODIANTE de</a:t>
                      </a:r>
                    </a:p>
                    <a:p>
                      <a:pPr algn="l">
                        <a:lnSpc>
                          <a:spcPct val="100000"/>
                        </a:lnSpc>
                        <a:spcBef>
                          <a:spcPts val="0"/>
                        </a:spcBef>
                        <a:spcAft>
                          <a:spcPts val="0"/>
                        </a:spcAft>
                      </a:pPr>
                      <a:r>
                        <a:rPr sz="1300" b="0">
                          <a:solidFill>
                            <a:srgbClr val="1F1F1F"/>
                          </a:solidFill>
                          <a:latin typeface="Calibri"/>
                        </a:rPr>
                        <a:t>Direitos Creditórios</a:t>
                      </a:r>
                    </a:p>
                    <a:p>
                      <a:pPr algn="l">
                        <a:lnSpc>
                          <a:spcPct val="100000"/>
                        </a:lnSpc>
                        <a:spcBef>
                          <a:spcPts val="0"/>
                        </a:spcBef>
                        <a:spcAft>
                          <a:spcPts val="0"/>
                        </a:spcAft>
                      </a:pPr>
                      <a:r>
                        <a:rPr sz="1300" b="0">
                          <a:solidFill>
                            <a:srgbClr val="1F1F1F"/>
                          </a:solidFill>
                          <a:latin typeface="Calibri"/>
                        </a:rPr>
                        <a:t>não sejam partes</a:t>
                      </a:r>
                    </a:p>
                    <a:p>
                      <a:pPr algn="l">
                        <a:lnSpc>
                          <a:spcPct val="100000"/>
                        </a:lnSpc>
                        <a:spcBef>
                          <a:spcPts val="0"/>
                        </a:spcBef>
                        <a:spcAft>
                          <a:spcPts val="0"/>
                        </a:spcAft>
                      </a:pPr>
                      <a:r>
                        <a:rPr sz="1300" b="0">
                          <a:solidFill>
                            <a:srgbClr val="1F1F1F"/>
                          </a:solidFill>
                          <a:latin typeface="Calibri"/>
                        </a:rPr>
                        <a:t>relacionadas entre si;</a:t>
                      </a:r>
                    </a:p>
                    <a:p>
                      <a:pPr algn="l">
                        <a:lnSpc>
                          <a:spcPct val="100000"/>
                        </a:lnSpc>
                        <a:spcBef>
                          <a:spcPts val="0"/>
                        </a:spcBef>
                        <a:spcAft>
                          <a:spcPts val="0"/>
                        </a:spcAft>
                      </a:pPr>
                      <a:r>
                        <a:rPr sz="1300" b="0">
                          <a:solidFill>
                            <a:srgbClr val="1F1F1F"/>
                          </a:solidFill>
                          <a:latin typeface="Calibri"/>
                        </a:rPr>
                        <a:t>e (ii) a entidade</a:t>
                      </a:r>
                    </a:p>
                    <a:p>
                      <a:pPr algn="l">
                        <a:lnSpc>
                          <a:spcPct val="100000"/>
                        </a:lnSpc>
                        <a:spcBef>
                          <a:spcPts val="0"/>
                        </a:spcBef>
                        <a:spcAft>
                          <a:spcPts val="0"/>
                        </a:spcAft>
                      </a:pPr>
                      <a:r>
                        <a:rPr sz="1300" b="0">
                          <a:solidFill>
                            <a:srgbClr val="1F1F1F"/>
                          </a:solidFill>
                          <a:latin typeface="Calibri"/>
                        </a:rPr>
                        <a:t>registradora e o</a:t>
                      </a:r>
                    </a:p>
                    <a:p>
                      <a:pPr algn="l">
                        <a:lnSpc>
                          <a:spcPct val="100000"/>
                        </a:lnSpc>
                        <a:spcBef>
                          <a:spcPts val="0"/>
                        </a:spcBef>
                        <a:spcAft>
                          <a:spcPts val="0"/>
                        </a:spcAft>
                      </a:pPr>
                      <a:r>
                        <a:rPr sz="1300" b="0">
                          <a:solidFill>
                            <a:srgbClr val="1F1F1F"/>
                          </a:solidFill>
                          <a:latin typeface="Calibri"/>
                        </a:rPr>
                        <a:t>CUSTODIANTE dos</a:t>
                      </a:r>
                    </a:p>
                    <a:p>
                      <a:pPr algn="l">
                        <a:lnSpc>
                          <a:spcPct val="100000"/>
                        </a:lnSpc>
                        <a:spcBef>
                          <a:spcPts val="0"/>
                        </a:spcBef>
                        <a:spcAft>
                          <a:spcPts val="0"/>
                        </a:spcAft>
                      </a:pPr>
                      <a:r>
                        <a:rPr sz="1300" b="0">
                          <a:solidFill>
                            <a:srgbClr val="1F1F1F"/>
                          </a:solidFill>
                          <a:latin typeface="Calibri"/>
                        </a:rPr>
                        <a:t>Direitos Creditórios</a:t>
                      </a:r>
                    </a:p>
                    <a:p>
                      <a:pPr algn="l">
                        <a:lnSpc>
                          <a:spcPct val="100000"/>
                        </a:lnSpc>
                        <a:spcBef>
                          <a:spcPts val="0"/>
                        </a:spcBef>
                        <a:spcAft>
                          <a:spcPts val="0"/>
                        </a:spcAft>
                      </a:pPr>
                      <a:r>
                        <a:rPr sz="1300" b="0">
                          <a:solidFill>
                            <a:srgbClr val="1F1F1F"/>
                          </a:solidFill>
                          <a:latin typeface="Calibri"/>
                        </a:rPr>
                        <a:t>não sejam partes</a:t>
                      </a:r>
                    </a:p>
                    <a:p>
                      <a:pPr algn="l">
                        <a:lnSpc>
                          <a:spcPct val="100000"/>
                        </a:lnSpc>
                        <a:spcBef>
                          <a:spcPts val="0"/>
                        </a:spcBef>
                        <a:spcAft>
                          <a:spcPts val="0"/>
                        </a:spcAft>
                      </a:pPr>
                      <a:r>
                        <a:rPr sz="1300" b="0">
                          <a:solidFill>
                            <a:srgbClr val="1F1F1F"/>
                          </a:solidFill>
                          <a:latin typeface="Calibri"/>
                        </a:rPr>
                        <a:t>relacionadas ao</a:t>
                      </a:r>
                    </a:p>
                    <a:p>
                      <a:pPr algn="l">
                        <a:lnSpc>
                          <a:spcPct val="100000"/>
                        </a:lnSpc>
                        <a:spcBef>
                          <a:spcPts val="0"/>
                        </a:spcBef>
                        <a:spcAft>
                          <a:spcPts val="0"/>
                        </a:spcAft>
                      </a:pPr>
                      <a:r>
                        <a:rPr sz="1300" b="0">
                          <a:solidFill>
                            <a:srgbClr val="1F1F1F"/>
                          </a:solidFill>
                          <a:latin typeface="Calibri"/>
                        </a:rPr>
                        <a:t>originador ou Cedente.</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12.21 O GESTOR, em nome</a:t>
                      </a:r>
                    </a:p>
                    <a:p>
                      <a:pPr algn="l">
                        <a:lnSpc>
                          <a:spcPct val="100000"/>
                        </a:lnSpc>
                        <a:spcBef>
                          <a:spcPts val="0"/>
                        </a:spcBef>
                        <a:spcAft>
                          <a:spcPts val="0"/>
                        </a:spcAft>
                      </a:pPr>
                      <a:r>
                        <a:rPr sz="1300" b="0">
                          <a:solidFill>
                            <a:srgbClr val="1F1F1F"/>
                          </a:solidFill>
                          <a:latin typeface="Calibri"/>
                        </a:rPr>
                        <a:t>da Classe, poderá</a:t>
                      </a:r>
                    </a:p>
                    <a:p>
                      <a:pPr algn="l">
                        <a:lnSpc>
                          <a:spcPct val="100000"/>
                        </a:lnSpc>
                        <a:spcBef>
                          <a:spcPts val="0"/>
                        </a:spcBef>
                        <a:spcAft>
                          <a:spcPts val="0"/>
                        </a:spcAft>
                      </a:pPr>
                      <a:r>
                        <a:rPr sz="1300" b="0">
                          <a:solidFill>
                            <a:srgbClr val="1F1F1F"/>
                          </a:solidFill>
                          <a:latin typeface="Calibri"/>
                        </a:rPr>
                        <a:t>contratar um ou mais</a:t>
                      </a:r>
                    </a:p>
                    <a:p>
                      <a:pPr algn="l">
                        <a:lnSpc>
                          <a:spcPct val="100000"/>
                        </a:lnSpc>
                        <a:spcBef>
                          <a:spcPts val="0"/>
                        </a:spcBef>
                        <a:spcAft>
                          <a:spcPts val="0"/>
                        </a:spcAft>
                      </a:pPr>
                      <a:r>
                        <a:rPr sz="1300" b="0">
                          <a:solidFill>
                            <a:srgbClr val="1F1F1F"/>
                          </a:solidFill>
                          <a:latin typeface="Calibri"/>
                        </a:rPr>
                        <a:t>terceiros para a</a:t>
                      </a:r>
                    </a:p>
                    <a:p>
                      <a:pPr algn="l">
                        <a:lnSpc>
                          <a:spcPct val="100000"/>
                        </a:lnSpc>
                        <a:spcBef>
                          <a:spcPts val="0"/>
                        </a:spcBef>
                        <a:spcAft>
                          <a:spcPts val="0"/>
                        </a:spcAft>
                      </a:pPr>
                      <a:r>
                        <a:rPr sz="1300" b="0">
                          <a:solidFill>
                            <a:srgbClr val="1F1F1F"/>
                          </a:solidFill>
                          <a:latin typeface="Calibri"/>
                        </a:rPr>
                        <a:t>prestação de serviços</a:t>
                      </a:r>
                    </a:p>
                    <a:p>
                      <a:pPr algn="l">
                        <a:lnSpc>
                          <a:spcPct val="100000"/>
                        </a:lnSpc>
                        <a:spcBef>
                          <a:spcPts val="0"/>
                        </a:spcBef>
                        <a:spcAft>
                          <a:spcPts val="0"/>
                        </a:spcAft>
                      </a:pPr>
                      <a:r>
                        <a:rPr sz="1300" b="0">
                          <a:solidFill>
                            <a:srgbClr val="1F1F1F"/>
                          </a:solidFill>
                          <a:latin typeface="Calibri"/>
                        </a:rPr>
                        <a:t>de Agente de Cobrança</a:t>
                      </a:r>
                    </a:p>
                    <a:p>
                      <a:pPr algn="l">
                        <a:lnSpc>
                          <a:spcPct val="100000"/>
                        </a:lnSpc>
                        <a:spcBef>
                          <a:spcPts val="0"/>
                        </a:spcBef>
                        <a:spcAft>
                          <a:spcPts val="0"/>
                        </a:spcAft>
                      </a:pPr>
                      <a:r>
                        <a:rPr sz="1300" b="0">
                          <a:solidFill>
                            <a:srgbClr val="1F1F1F"/>
                          </a:solidFill>
                          <a:latin typeface="Calibri"/>
                        </a:rPr>
                        <a:t>de Direitos Creditórios</a:t>
                      </a:r>
                    </a:p>
                    <a:p>
                      <a:pPr algn="l">
                        <a:lnSpc>
                          <a:spcPct val="100000"/>
                        </a:lnSpc>
                        <a:spcBef>
                          <a:spcPts val="0"/>
                        </a:spcBef>
                        <a:spcAft>
                          <a:spcPts val="0"/>
                        </a:spcAft>
                      </a:pPr>
                      <a:r>
                        <a:rPr sz="1300" b="0">
                          <a:solidFill>
                            <a:srgbClr val="1F1F1F"/>
                          </a:solidFill>
                          <a:latin typeface="Calibri"/>
                        </a:rPr>
                        <a:t>Inadimplidos, os quais</a:t>
                      </a:r>
                    </a:p>
                    <a:p>
                      <a:pPr algn="l">
                        <a:lnSpc>
                          <a:spcPct val="100000"/>
                        </a:lnSpc>
                        <a:spcBef>
                          <a:spcPts val="0"/>
                        </a:spcBef>
                        <a:spcAft>
                          <a:spcPts val="0"/>
                        </a:spcAft>
                      </a:pPr>
                      <a:r>
                        <a:rPr sz="1300" b="0">
                          <a:solidFill>
                            <a:srgbClr val="1F1F1F"/>
                          </a:solidFill>
                          <a:latin typeface="Calibri"/>
                        </a:rPr>
                        <a:t>poderão ser partes</a:t>
                      </a:r>
                    </a:p>
                    <a:p>
                      <a:pPr algn="l">
                        <a:lnSpc>
                          <a:spcPct val="100000"/>
                        </a:lnSpc>
                        <a:spcBef>
                          <a:spcPts val="0"/>
                        </a:spcBef>
                        <a:spcAft>
                          <a:spcPts val="0"/>
                        </a:spcAft>
                      </a:pPr>
                      <a:r>
                        <a:rPr sz="1300" b="0">
                          <a:solidFill>
                            <a:srgbClr val="1F1F1F"/>
                          </a:solidFill>
                          <a:latin typeface="Calibri"/>
                        </a:rPr>
                        <a:t>relacionadas ou</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Administrador, Gestor,</a:t>
                      </a:r>
                    </a:p>
                    <a:p>
                      <a:pPr algn="l">
                        <a:lnSpc>
                          <a:spcPct val="100000"/>
                        </a:lnSpc>
                        <a:spcBef>
                          <a:spcPts val="0"/>
                        </a:spcBef>
                        <a:spcAft>
                          <a:spcPts val="0"/>
                        </a:spcAft>
                      </a:pPr>
                      <a:r>
                        <a:rPr sz="1300" b="0">
                          <a:solidFill>
                            <a:srgbClr val="1F1F1F"/>
                          </a:solidFill>
                          <a:latin typeface="Calibri"/>
                        </a:rPr>
                        <a:t>e/ou suas partes</a:t>
                      </a:r>
                    </a:p>
                    <a:p>
                      <a:pPr algn="l">
                        <a:lnSpc>
                          <a:spcPct val="100000"/>
                        </a:lnSpc>
                        <a:spcBef>
                          <a:spcPts val="0"/>
                        </a:spcBef>
                        <a:spcAft>
                          <a:spcPts val="0"/>
                        </a:spcAft>
                      </a:pPr>
                      <a:r>
                        <a:rPr sz="1300" b="0">
                          <a:solidFill>
                            <a:srgbClr val="1F1F1F"/>
                          </a:solidFill>
                          <a:latin typeface="Calibri"/>
                        </a:rPr>
                        <a:t>relacionadas; e (ii)</a:t>
                      </a:r>
                    </a:p>
                    <a:p>
                      <a:pPr algn="l">
                        <a:lnSpc>
                          <a:spcPct val="100000"/>
                        </a:lnSpc>
                        <a:spcBef>
                          <a:spcPts val="0"/>
                        </a:spcBef>
                        <a:spcAft>
                          <a:spcPts val="0"/>
                        </a:spcAft>
                      </a:pPr>
                      <a:r>
                        <a:rPr sz="1300" b="0">
                          <a:solidFill>
                            <a:srgbClr val="1F1F1F"/>
                          </a:solidFill>
                          <a:latin typeface="Calibri"/>
                        </a:rPr>
                        <a:t>Até 100% (cem por</a:t>
                      </a:r>
                    </a:p>
                    <a:p>
                      <a:pPr algn="l">
                        <a:lnSpc>
                          <a:spcPct val="100000"/>
                        </a:lnSpc>
                        <a:spcBef>
                          <a:spcPts val="0"/>
                        </a:spcBef>
                        <a:spcAft>
                          <a:spcPts val="0"/>
                        </a:spcAft>
                      </a:pPr>
                      <a:r>
                        <a:rPr sz="1300" b="0">
                          <a:solidFill>
                            <a:srgbClr val="1F1F1F"/>
                          </a:solidFill>
                          <a:latin typeface="Calibri"/>
                        </a:rPr>
                        <a:t>cento) da parcela do</a:t>
                      </a:r>
                    </a:p>
                    <a:p>
                      <a:pPr algn="l">
                        <a:lnSpc>
                          <a:spcPct val="100000"/>
                        </a:lnSpc>
                        <a:spcBef>
                          <a:spcPts val="0"/>
                        </a:spcBef>
                        <a:spcAft>
                          <a:spcPts val="0"/>
                        </a:spcAft>
                      </a:pPr>
                      <a:r>
                        <a:rPr sz="1300" b="0">
                          <a:solidFill>
                            <a:srgbClr val="1F1F1F"/>
                          </a:solidFill>
                          <a:latin typeface="Calibri"/>
                        </a:rPr>
                        <a:t>Patrimônio Líquido</a:t>
                      </a:r>
                    </a:p>
                    <a:p>
                      <a:pPr algn="l">
                        <a:lnSpc>
                          <a:spcPct val="100000"/>
                        </a:lnSpc>
                        <a:spcBef>
                          <a:spcPts val="0"/>
                        </a:spcBef>
                        <a:spcAft>
                          <a:spcPts val="0"/>
                        </a:spcAft>
                      </a:pPr>
                      <a:r>
                        <a:rPr sz="1300" b="0">
                          <a:solidFill>
                            <a:srgbClr val="1F1F1F"/>
                          </a:solidFill>
                          <a:latin typeface="Calibri"/>
                        </a:rPr>
                        <a:t>investida em operações</a:t>
                      </a:r>
                    </a:p>
                    <a:p>
                      <a:pPr algn="l">
                        <a:lnSpc>
                          <a:spcPct val="100000"/>
                        </a:lnSpc>
                        <a:spcBef>
                          <a:spcPts val="0"/>
                        </a:spcBef>
                        <a:spcAft>
                          <a:spcPts val="0"/>
                        </a:spcAft>
                      </a:pPr>
                      <a:r>
                        <a:rPr sz="1300" b="0">
                          <a:solidFill>
                            <a:srgbClr val="1F1F1F"/>
                          </a:solidFill>
                          <a:latin typeface="Calibri"/>
                        </a:rPr>
                        <a:t>com derivativos poderá</a:t>
                      </a:r>
                    </a:p>
                    <a:p>
                      <a:pPr algn="l">
                        <a:lnSpc>
                          <a:spcPct val="100000"/>
                        </a:lnSpc>
                        <a:spcBef>
                          <a:spcPts val="0"/>
                        </a:spcBef>
                        <a:spcAft>
                          <a:spcPts val="0"/>
                        </a:spcAft>
                      </a:pPr>
                      <a:r>
                        <a:rPr sz="1300" b="0">
                          <a:solidFill>
                            <a:srgbClr val="1F1F1F"/>
                          </a:solidFill>
                          <a:latin typeface="Calibri"/>
                        </a:rPr>
                        <a:t>ser alocada em</a:t>
                      </a:r>
                    </a:p>
                    <a:p>
                      <a:pPr algn="l">
                        <a:lnSpc>
                          <a:spcPct val="100000"/>
                        </a:lnSpc>
                        <a:spcBef>
                          <a:spcPts val="0"/>
                        </a:spcBef>
                        <a:spcAft>
                          <a:spcPts val="0"/>
                        </a:spcAft>
                      </a:pPr>
                      <a:r>
                        <a:rPr sz="1300" b="0">
                          <a:solidFill>
                            <a:srgbClr val="1F1F1F"/>
                          </a:solidFill>
                          <a:latin typeface="Calibri"/>
                        </a:rPr>
                        <a:t>derivativos nos quais,</a:t>
                      </a:r>
                    </a:p>
                    <a:p>
                      <a:pPr algn="l">
                        <a:lnSpc>
                          <a:spcPct val="100000"/>
                        </a:lnSpc>
                        <a:spcBef>
                          <a:spcPts val="0"/>
                        </a:spcBef>
                        <a:spcAft>
                          <a:spcPts val="0"/>
                        </a:spcAft>
                      </a:pPr>
                      <a:r>
                        <a:rPr sz="1300" b="0">
                          <a:solidFill>
                            <a:srgbClr val="1F1F1F"/>
                          </a:solidFill>
                          <a:latin typeface="Calibri"/>
                        </a:rPr>
                        <a:t>inexistindo contraparte</a:t>
                      </a:r>
                    </a:p>
                    <a:p>
                      <a:pPr algn="l">
                        <a:lnSpc>
                          <a:spcPct val="100000"/>
                        </a:lnSpc>
                        <a:spcBef>
                          <a:spcPts val="0"/>
                        </a:spcBef>
                        <a:spcAft>
                          <a:spcPts val="0"/>
                        </a:spcAft>
                      </a:pPr>
                      <a:r>
                        <a:rPr sz="1300" b="0">
                          <a:solidFill>
                            <a:srgbClr val="1F1F1F"/>
                          </a:solidFill>
                          <a:latin typeface="Calibri"/>
                        </a:rPr>
                        <a:t>central, se tenha como</a:t>
                      </a:r>
                    </a:p>
                    <a:p>
                      <a:pPr algn="l">
                        <a:lnSpc>
                          <a:spcPct val="100000"/>
                        </a:lnSpc>
                        <a:spcBef>
                          <a:spcPts val="0"/>
                        </a:spcBef>
                        <a:spcAft>
                          <a:spcPts val="0"/>
                        </a:spcAft>
                      </a:pPr>
                      <a:r>
                        <a:rPr sz="1300" b="0">
                          <a:solidFill>
                            <a:srgbClr val="1F1F1F"/>
                          </a:solidFill>
                          <a:latin typeface="Calibri"/>
                        </a:rPr>
                        <a:t>contraparte o Gestor</a:t>
                      </a:r>
                    </a:p>
                    <a:p>
                      <a:pPr algn="l">
                        <a:lnSpc>
                          <a:spcPct val="100000"/>
                        </a:lnSpc>
                        <a:spcBef>
                          <a:spcPts val="0"/>
                        </a:spcBef>
                        <a:spcAft>
                          <a:spcPts val="0"/>
                        </a:spcAft>
                      </a:pPr>
                      <a:r>
                        <a:rPr sz="1300" b="0">
                          <a:solidFill>
                            <a:srgbClr val="1F1F1F"/>
                          </a:solidFill>
                          <a:latin typeface="Calibri"/>
                        </a:rPr>
                        <a:t>e/ou suas partes</a:t>
                      </a:r>
                    </a:p>
                    <a:p>
                      <a:pPr algn="l">
                        <a:lnSpc>
                          <a:spcPct val="100000"/>
                        </a:lnSpc>
                        <a:spcBef>
                          <a:spcPts val="0"/>
                        </a:spcBef>
                        <a:spcAft>
                          <a:spcPts val="0"/>
                        </a:spcAft>
                      </a:pPr>
                      <a:r>
                        <a:rPr sz="1300" b="0">
                          <a:solidFill>
                            <a:srgbClr val="1F1F1F"/>
                          </a:solidFill>
                          <a:latin typeface="Calibri"/>
                        </a:rPr>
                        <a:t>relacionadas.</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4.12.1. Após o término</a:t>
                      </a:r>
                    </a:p>
                    <a:p>
                      <a:pPr algn="l">
                        <a:lnSpc>
                          <a:spcPct val="100000"/>
                        </a:lnSpc>
                        <a:spcBef>
                          <a:spcPts val="0"/>
                        </a:spcBef>
                        <a:spcAft>
                          <a:spcPts val="0"/>
                        </a:spcAft>
                      </a:pPr>
                      <a:r>
                        <a:rPr sz="1300" b="0">
                          <a:solidFill>
                            <a:srgbClr val="1F1F1F"/>
                          </a:solidFill>
                          <a:latin typeface="Calibri"/>
                        </a:rPr>
                        <a:t>do Período de</a:t>
                      </a:r>
                    </a:p>
                    <a:p>
                      <a:pPr algn="l">
                        <a:lnSpc>
                          <a:spcPct val="100000"/>
                        </a:lnSpc>
                        <a:spcBef>
                          <a:spcPts val="0"/>
                        </a:spcBef>
                        <a:spcAft>
                          <a:spcPts val="0"/>
                        </a:spcAft>
                      </a:pPr>
                      <a:r>
                        <a:rPr sz="1300" b="0">
                          <a:solidFill>
                            <a:srgbClr val="1F1F1F"/>
                          </a:solidFill>
                          <a:latin typeface="Calibri"/>
                        </a:rPr>
                        <a:t>Investimento, a Classe</a:t>
                      </a:r>
                    </a:p>
                    <a:p>
                      <a:pPr algn="l">
                        <a:lnSpc>
                          <a:spcPct val="100000"/>
                        </a:lnSpc>
                        <a:spcBef>
                          <a:spcPts val="0"/>
                        </a:spcBef>
                        <a:spcAft>
                          <a:spcPts val="0"/>
                        </a:spcAft>
                      </a:pPr>
                      <a:r>
                        <a:rPr sz="1300" b="0">
                          <a:solidFill>
                            <a:srgbClr val="1F1F1F"/>
                          </a:solidFill>
                          <a:latin typeface="Calibri"/>
                        </a:rPr>
                        <a:t>utilizará os recursos</a:t>
                      </a:r>
                    </a:p>
                    <a:p>
                      <a:pPr algn="l">
                        <a:lnSpc>
                          <a:spcPct val="100000"/>
                        </a:lnSpc>
                        <a:spcBef>
                          <a:spcPts val="0"/>
                        </a:spcBef>
                        <a:spcAft>
                          <a:spcPts val="0"/>
                        </a:spcAft>
                      </a:pPr>
                      <a:r>
                        <a:rPr sz="1300" b="0">
                          <a:solidFill>
                            <a:srgbClr val="1F1F1F"/>
                          </a:solidFill>
                          <a:latin typeface="Calibri"/>
                        </a:rPr>
                        <a:t>provenientes do</a:t>
                      </a:r>
                    </a:p>
                    <a:p>
                      <a:pPr algn="l">
                        <a:lnSpc>
                          <a:spcPct val="100000"/>
                        </a:lnSpc>
                        <a:spcBef>
                          <a:spcPts val="0"/>
                        </a:spcBef>
                        <a:spcAft>
                          <a:spcPts val="0"/>
                        </a:spcAft>
                      </a:pPr>
                      <a:r>
                        <a:rPr sz="1300" b="0">
                          <a:solidFill>
                            <a:srgbClr val="1F1F1F"/>
                          </a:solidFill>
                          <a:latin typeface="Calibri"/>
                        </a:rPr>
                        <a:t>pagamento dos Direitos</a:t>
                      </a:r>
                    </a:p>
                    <a:p>
                      <a:pPr algn="l">
                        <a:lnSpc>
                          <a:spcPct val="100000"/>
                        </a:lnSpc>
                        <a:spcBef>
                          <a:spcPts val="0"/>
                        </a:spcBef>
                        <a:spcAft>
                          <a:spcPts val="0"/>
                        </a:spcAft>
                      </a:pPr>
                      <a:r>
                        <a:rPr sz="1300" b="0">
                          <a:solidFill>
                            <a:srgbClr val="1F1F1F"/>
                          </a:solidFill>
                          <a:latin typeface="Calibri"/>
                        </a:rPr>
                        <a:t>Creditórios e demais</a:t>
                      </a:r>
                    </a:p>
                    <a:p>
                      <a:pPr algn="l">
                        <a:lnSpc>
                          <a:spcPct val="100000"/>
                        </a:lnSpc>
                        <a:spcBef>
                          <a:spcPts val="0"/>
                        </a:spcBef>
                        <a:spcAft>
                          <a:spcPts val="0"/>
                        </a:spcAft>
                      </a:pPr>
                      <a:r>
                        <a:rPr sz="1300" b="0">
                          <a:solidFill>
                            <a:srgbClr val="1F1F1F"/>
                          </a:solidFill>
                          <a:latin typeface="Calibri"/>
                        </a:rPr>
                        <a:t>aplicações para</a:t>
                      </a:r>
                    </a:p>
                    <a:p>
                      <a:pPr algn="l">
                        <a:lnSpc>
                          <a:spcPct val="100000"/>
                        </a:lnSpc>
                        <a:spcBef>
                          <a:spcPts val="0"/>
                        </a:spcBef>
                        <a:spcAft>
                          <a:spcPts val="0"/>
                        </a:spcAft>
                      </a:pPr>
                      <a:r>
                        <a:rPr sz="1300" b="0">
                          <a:solidFill>
                            <a:srgbClr val="1F1F1F"/>
                          </a:solidFill>
                          <a:latin typeface="Calibri"/>
                        </a:rPr>
                        <a:t>amortização das Cotas,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limite permanece</a:t>
                      </a:r>
                    </a:p>
                    <a:p>
                      <a:pPr algn="l">
                        <a:lnSpc>
                          <a:spcPct val="100000"/>
                        </a:lnSpc>
                        <a:spcBef>
                          <a:spcPts val="0"/>
                        </a:spcBef>
                        <a:spcAft>
                          <a:spcPts val="0"/>
                        </a:spcAft>
                      </a:pPr>
                      <a:r>
                        <a:rPr sz="1300" b="0">
                          <a:solidFill>
                            <a:srgbClr val="1F1F1F"/>
                          </a:solidFill>
                          <a:latin typeface="Calibri"/>
                        </a:rPr>
                        <a:t>observado, f icando</a:t>
                      </a:r>
                    </a:p>
                    <a:p>
                      <a:pPr algn="l">
                        <a:lnSpc>
                          <a:spcPct val="100000"/>
                        </a:lnSpc>
                        <a:spcBef>
                          <a:spcPts val="0"/>
                        </a:spcBef>
                        <a:spcAft>
                          <a:spcPts val="0"/>
                        </a:spcAft>
                      </a:pPr>
                      <a:r>
                        <a:rPr sz="1300" b="0">
                          <a:solidFill>
                            <a:srgbClr val="1F1F1F"/>
                          </a:solidFill>
                          <a:latin typeface="Calibri"/>
                        </a:rPr>
                        <a:t>dispensada a</a:t>
                      </a:r>
                    </a:p>
                    <a:p>
                      <a:pPr algn="l">
                        <a:lnSpc>
                          <a:spcPct val="100000"/>
                        </a:lnSpc>
                        <a:spcBef>
                          <a:spcPts val="0"/>
                        </a:spcBef>
                        <a:spcAft>
                          <a:spcPts val="0"/>
                        </a:spcAft>
                      </a:pPr>
                      <a:r>
                        <a:rPr sz="1300" b="0">
                          <a:solidFill>
                            <a:srgbClr val="1F1F1F"/>
                          </a:solidFill>
                          <a:latin typeface="Calibri"/>
                        </a:rPr>
                        <a:t>consolidação no caso de</a:t>
                      </a:r>
                    </a:p>
                    <a:p>
                      <a:pPr algn="l">
                        <a:lnSpc>
                          <a:spcPct val="100000"/>
                        </a:lnSpc>
                        <a:spcBef>
                          <a:spcPts val="0"/>
                        </a:spcBef>
                        <a:spcAft>
                          <a:spcPts val="0"/>
                        </a:spcAft>
                      </a:pPr>
                      <a:r>
                        <a:rPr sz="1300" b="0">
                          <a:solidFill>
                            <a:srgbClr val="1F1F1F"/>
                          </a:solidFill>
                          <a:latin typeface="Calibri"/>
                        </a:rPr>
                        <a:t>aplicações em fundos</a:t>
                      </a:r>
                    </a:p>
                    <a:p>
                      <a:pPr algn="l">
                        <a:lnSpc>
                          <a:spcPct val="100000"/>
                        </a:lnSpc>
                        <a:spcBef>
                          <a:spcPts val="0"/>
                        </a:spcBef>
                        <a:spcAft>
                          <a:spcPts val="0"/>
                        </a:spcAft>
                      </a:pPr>
                      <a:r>
                        <a:rPr sz="1300" b="0">
                          <a:solidFill>
                            <a:srgbClr val="1F1F1F"/>
                          </a:solidFill>
                          <a:latin typeface="Calibri"/>
                        </a:rPr>
                        <a:t>investidos geridos por</a:t>
                      </a:r>
                    </a:p>
                    <a:p>
                      <a:pPr algn="l">
                        <a:lnSpc>
                          <a:spcPct val="100000"/>
                        </a:lnSpc>
                        <a:spcBef>
                          <a:spcPts val="0"/>
                        </a:spcBef>
                        <a:spcAft>
                          <a:spcPts val="0"/>
                        </a:spcAft>
                      </a:pPr>
                      <a:r>
                        <a:rPr sz="1300" b="0">
                          <a:solidFill>
                            <a:srgbClr val="1F1F1F"/>
                          </a:solidFill>
                          <a:latin typeface="Calibri"/>
                        </a:rPr>
                        <a:t>terceiros que não sejam</a:t>
                      </a:r>
                    </a:p>
                    <a:p>
                      <a:pPr algn="l">
                        <a:lnSpc>
                          <a:spcPct val="100000"/>
                        </a:lnSpc>
                        <a:spcBef>
                          <a:spcPts val="0"/>
                        </a:spcBef>
                        <a:spcAft>
                          <a:spcPts val="0"/>
                        </a:spcAft>
                      </a:pPr>
                      <a:r>
                        <a:rPr sz="1300" b="0">
                          <a:solidFill>
                            <a:srgbClr val="1F1F1F"/>
                          </a:solidFill>
                          <a:latin typeface="Calibri"/>
                        </a:rPr>
                        <a:t>partes relacionadas ao</a:t>
                      </a:r>
                    </a:p>
                    <a:p>
                      <a:pPr algn="l">
                        <a:lnSpc>
                          <a:spcPct val="100000"/>
                        </a:lnSpc>
                        <a:spcBef>
                          <a:spcPts val="0"/>
                        </a:spcBef>
                        <a:spcAft>
                          <a:spcPts val="0"/>
                        </a:spcAft>
                      </a:pPr>
                      <a:r>
                        <a:rPr sz="1300" b="0">
                          <a:solidFill>
                            <a:srgbClr val="1F1F1F"/>
                          </a:solidFill>
                          <a:latin typeface="Calibri"/>
                        </a:rPr>
                        <a:t>Gestor.</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4.21.1 Sem prejuízo do</a:t>
                      </a:r>
                    </a:p>
                    <a:p>
                      <a:pPr algn="l">
                        <a:lnSpc>
                          <a:spcPct val="100000"/>
                        </a:lnSpc>
                        <a:spcBef>
                          <a:spcPts val="0"/>
                        </a:spcBef>
                        <a:spcAft>
                          <a:spcPts val="0"/>
                        </a:spcAft>
                      </a:pPr>
                      <a:r>
                        <a:rPr sz="1300" b="0">
                          <a:solidFill>
                            <a:srgbClr val="1F1F1F"/>
                          </a:solidFill>
                          <a:latin typeface="Calibri"/>
                        </a:rPr>
                        <a:t>disposto acima, poderá</a:t>
                      </a:r>
                    </a:p>
                    <a:p>
                      <a:pPr algn="l">
                        <a:lnSpc>
                          <a:spcPct val="100000"/>
                        </a:lnSpc>
                        <a:spcBef>
                          <a:spcPts val="0"/>
                        </a:spcBef>
                        <a:spcAft>
                          <a:spcPts val="0"/>
                        </a:spcAft>
                      </a:pPr>
                      <a:r>
                        <a:rPr sz="1300" b="0">
                          <a:solidFill>
                            <a:srgbClr val="1F1F1F"/>
                          </a:solidFill>
                          <a:latin typeface="Calibri"/>
                        </a:rPr>
                        <a:t>ser contratado terceiro</a:t>
                      </a:r>
                    </a:p>
                    <a:p>
                      <a:pPr algn="l">
                        <a:lnSpc>
                          <a:spcPct val="100000"/>
                        </a:lnSpc>
                        <a:spcBef>
                          <a:spcPts val="0"/>
                        </a:spcBef>
                        <a:spcAft>
                          <a:spcPts val="0"/>
                        </a:spcAft>
                      </a:pPr>
                      <a:r>
                        <a:rPr sz="1300" b="0">
                          <a:solidFill>
                            <a:srgbClr val="1F1F1F"/>
                          </a:solidFill>
                          <a:latin typeface="Calibri"/>
                        </a:rPr>
                        <a:t>especializado para o</a:t>
                      </a:r>
                    </a:p>
                    <a:p>
                      <a:pPr algn="l">
                        <a:lnSpc>
                          <a:spcPct val="100000"/>
                        </a:lnSpc>
                        <a:spcBef>
                          <a:spcPts val="0"/>
                        </a:spcBef>
                        <a:spcAft>
                          <a:spcPts val="0"/>
                        </a:spcAft>
                      </a:pPr>
                      <a:r>
                        <a:rPr sz="1300" b="0">
                          <a:solidFill>
                            <a:srgbClr val="1F1F1F"/>
                          </a:solidFill>
                          <a:latin typeface="Calibri"/>
                        </a:rPr>
                        <a:t>gerenciamento das</a:t>
                      </a:r>
                    </a:p>
                    <a:p>
                      <a:pPr algn="l">
                        <a:lnSpc>
                          <a:spcPct val="100000"/>
                        </a:lnSpc>
                        <a:spcBef>
                          <a:spcPts val="0"/>
                        </a:spcBef>
                        <a:spcAft>
                          <a:spcPts val="0"/>
                        </a:spcAft>
                      </a:pPr>
                      <a:r>
                        <a:rPr sz="1300" b="0">
                          <a:solidFill>
                            <a:srgbClr val="1F1F1F"/>
                          </a:solidFill>
                          <a:latin typeface="Calibri"/>
                        </a:rPr>
                        <a:t>obras, para controle</a:t>
                      </a:r>
                    </a:p>
                    <a:p>
                      <a:pPr algn="l">
                        <a:lnSpc>
                          <a:spcPct val="100000"/>
                        </a:lnSpc>
                        <a:spcBef>
                          <a:spcPts val="0"/>
                        </a:spcBef>
                        <a:spcAft>
                          <a:spcPts val="0"/>
                        </a:spcAft>
                      </a:pPr>
                      <a:r>
                        <a:rPr sz="1300" b="0">
                          <a:solidFill>
                            <a:srgbClr val="1F1F1F"/>
                          </a:solidFill>
                          <a:latin typeface="Calibri"/>
                        </a:rPr>
                        <a:t>dos desembolsos,</a:t>
                      </a:r>
                    </a:p>
                    <a:p>
                      <a:pPr algn="l">
                        <a:lnSpc>
                          <a:spcPct val="100000"/>
                        </a:lnSpc>
                        <a:spcBef>
                          <a:spcPts val="0"/>
                        </a:spcBef>
                        <a:spcAft>
                          <a:spcPts val="0"/>
                        </a:spcAft>
                      </a:pPr>
                      <a:r>
                        <a:rPr sz="1300" b="0">
                          <a:solidFill>
                            <a:srgbClr val="1F1F1F"/>
                          </a:solidFill>
                          <a:latin typeface="Calibri"/>
                        </a:rPr>
                        <a:t>conforme medições</a:t>
                      </a:r>
                    </a:p>
                    <a:p>
                      <a:pPr algn="l">
                        <a:lnSpc>
                          <a:spcPct val="100000"/>
                        </a:lnSpc>
                        <a:spcBef>
                          <a:spcPts val="0"/>
                        </a:spcBef>
                        <a:spcAft>
                          <a:spcPts val="0"/>
                        </a:spcAft>
                      </a:pPr>
                      <a:r>
                        <a:rPr sz="1300" b="0">
                          <a:solidFill>
                            <a:srgbClr val="1F1F1F"/>
                          </a:solidFill>
                          <a:latin typeface="Calibri"/>
                        </a:rPr>
                        <a:t>durante a etapa de</a:t>
                      </a:r>
                    </a:p>
                    <a:p>
                      <a:pPr algn="l">
                        <a:lnSpc>
                          <a:spcPct val="100000"/>
                        </a:lnSpc>
                        <a:spcBef>
                          <a:spcPts val="0"/>
                        </a:spcBef>
                        <a:spcAft>
                          <a:spcPts val="0"/>
                        </a:spcAft>
                      </a:pPr>
                      <a:r>
                        <a:rPr sz="1300" b="0">
                          <a:solidFill>
                            <a:srgbClr val="1F1F1F"/>
                          </a:solidFill>
                          <a:latin typeface="Calibri"/>
                        </a:rPr>
                        <a:t>desenvolvimento e</a:t>
                      </a:r>
                    </a:p>
                    <a:p>
                      <a:pPr algn="l">
                        <a:lnSpc>
                          <a:spcPct val="100000"/>
                        </a:lnSpc>
                        <a:spcBef>
                          <a:spcPts val="0"/>
                        </a:spcBef>
                        <a:spcAft>
                          <a:spcPts val="0"/>
                        </a:spcAft>
                      </a:pPr>
                      <a:r>
                        <a:rPr sz="1300" b="0">
                          <a:solidFill>
                            <a:srgbClr val="1F1F1F"/>
                          </a:solidFill>
                          <a:latin typeface="Calibri"/>
                        </a:rPr>
                        <a:t>construção dos Ativos</a:t>
                      </a:r>
                    </a:p>
                    <a:p>
                      <a:pPr algn="l">
                        <a:lnSpc>
                          <a:spcPct val="100000"/>
                        </a:lnSpc>
                        <a:spcBef>
                          <a:spcPts val="0"/>
                        </a:spcBef>
                        <a:spcAft>
                          <a:spcPts val="0"/>
                        </a:spcAft>
                      </a:pPr>
                      <a:r>
                        <a:rPr sz="1300" b="0">
                          <a:solidFill>
                            <a:srgbClr val="1F1F1F"/>
                          </a:solidFill>
                          <a:latin typeface="Calibri"/>
                        </a:rPr>
                        <a:t>Imobiliários do</a:t>
                      </a:r>
                    </a:p>
                    <a:p>
                      <a:pPr algn="l">
                        <a:lnSpc>
                          <a:spcPct val="100000"/>
                        </a:lnSpc>
                        <a:spcBef>
                          <a:spcPts val="0"/>
                        </a:spcBef>
                        <a:spcAft>
                          <a:spcPts val="0"/>
                        </a:spcAft>
                      </a:pPr>
                      <a:r>
                        <a:rPr sz="1300" b="0">
                          <a:solidFill>
                            <a:srgbClr val="1F1F1F"/>
                          </a:solidFill>
                          <a:latin typeface="Calibri"/>
                        </a:rPr>
                        <a:t>Agronegócio, sendo</a:t>
                      </a:r>
                    </a:p>
                    <a:p>
                      <a:pPr algn="l">
                        <a:lnSpc>
                          <a:spcPct val="100000"/>
                        </a:lnSpc>
                        <a:spcBef>
                          <a:spcPts val="0"/>
                        </a:spcBef>
                        <a:spcAft>
                          <a:spcPts val="0"/>
                        </a:spcAft>
                      </a:pPr>
                      <a:r>
                        <a:rPr sz="1300" b="0">
                          <a:solidFill>
                            <a:srgbClr val="1F1F1F"/>
                          </a:solidFill>
                          <a:latin typeface="Calibri"/>
                        </a:rPr>
                        <a:t>certo que, caso haja a</a:t>
                      </a:r>
                    </a:p>
                    <a:p>
                      <a:pPr algn="l">
                        <a:lnSpc>
                          <a:spcPct val="100000"/>
                        </a:lnSpc>
                        <a:spcBef>
                          <a:spcPts val="0"/>
                        </a:spcBef>
                        <a:spcAft>
                          <a:spcPts val="0"/>
                        </a:spcAft>
                      </a:pPr>
                      <a:r>
                        <a:rPr sz="1300" b="0">
                          <a:solidFill>
                            <a:srgbClr val="1F1F1F"/>
                          </a:solidFill>
                          <a:latin typeface="Calibri"/>
                        </a:rPr>
                        <a:t>contratação de</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se enquadre no disposto</a:t>
                      </a:r>
                    </a:p>
                    <a:p>
                      <a:pPr algn="l">
                        <a:lnSpc>
                          <a:spcPct val="100000"/>
                        </a:lnSpc>
                        <a:spcBef>
                          <a:spcPts val="0"/>
                        </a:spcBef>
                        <a:spcAft>
                          <a:spcPts val="0"/>
                        </a:spcAft>
                      </a:pPr>
                      <a:r>
                        <a:rPr sz="1300" b="0">
                          <a:solidFill>
                            <a:srgbClr val="1F1F1F"/>
                          </a:solidFill>
                          <a:latin typeface="Calibri"/>
                        </a:rPr>
                        <a:t>acima, estará disposta</a:t>
                      </a:r>
                    </a:p>
                    <a:p>
                      <a:pPr algn="l">
                        <a:lnSpc>
                          <a:spcPct val="100000"/>
                        </a:lnSpc>
                        <a:spcBef>
                          <a:spcPts val="0"/>
                        </a:spcBef>
                        <a:spcAft>
                          <a:spcPts val="0"/>
                        </a:spcAft>
                      </a:pPr>
                      <a:r>
                        <a:rPr sz="1300" b="0">
                          <a:solidFill>
                            <a:srgbClr val="1F1F1F"/>
                          </a:solidFill>
                          <a:latin typeface="Calibri"/>
                        </a:rPr>
                        <a:t>no regulamento da</a:t>
                      </a:r>
                    </a:p>
                    <a:p>
                      <a:pPr algn="l">
                        <a:lnSpc>
                          <a:spcPct val="100000"/>
                        </a:lnSpc>
                        <a:spcBef>
                          <a:spcPts val="0"/>
                        </a:spcBef>
                        <a:spcAft>
                          <a:spcPts val="0"/>
                        </a:spcAft>
                      </a:pPr>
                      <a:r>
                        <a:rPr sz="1300" b="0">
                          <a:solidFill>
                            <a:srgbClr val="1F1F1F"/>
                          </a:solidFill>
                          <a:latin typeface="Calibri"/>
                        </a:rPr>
                        <a:t>Classe Investida.</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(ix) Possibilidade de</a:t>
                      </a:r>
                    </a:p>
                    <a:p>
                      <a:pPr algn="l">
                        <a:lnSpc>
                          <a:spcPct val="100000"/>
                        </a:lnSpc>
                        <a:spcBef>
                          <a:spcPts val="0"/>
                        </a:spcBef>
                        <a:spcAft>
                          <a:spcPts val="0"/>
                        </a:spcAft>
                      </a:pPr>
                      <a:r>
                        <a:rPr sz="1300" b="0">
                          <a:solidFill>
                            <a:srgbClr val="1F1F1F"/>
                          </a:solidFill>
                          <a:latin typeface="Calibri"/>
                        </a:rPr>
                        <a:t>conflito de interesses.</a:t>
                      </a:r>
                    </a:p>
                    <a:p>
                      <a:pPr algn="l">
                        <a:lnSpc>
                          <a:spcPct val="100000"/>
                        </a:lnSpc>
                        <a:spcBef>
                          <a:spcPts val="0"/>
                        </a:spcBef>
                        <a:spcAft>
                          <a:spcPts val="0"/>
                        </a:spcAft>
                      </a:pPr>
                      <a:r>
                        <a:rPr sz="1300" b="0">
                          <a:solidFill>
                            <a:srgbClr val="1F1F1F"/>
                          </a:solidFill>
                          <a:latin typeface="Calibri"/>
                        </a:rPr>
                        <a:t>As Cotas poderão ser</a:t>
                      </a:r>
                    </a:p>
                    <a:p>
                      <a:pPr algn="l">
                        <a:lnSpc>
                          <a:spcPct val="100000"/>
                        </a:lnSpc>
                        <a:spcBef>
                          <a:spcPts val="0"/>
                        </a:spcBef>
                        <a:spcAft>
                          <a:spcPts val="0"/>
                        </a:spcAft>
                      </a:pPr>
                      <a:r>
                        <a:rPr sz="1300" b="0">
                          <a:solidFill>
                            <a:srgbClr val="1F1F1F"/>
                          </a:solidFill>
                          <a:latin typeface="Calibri"/>
                        </a:rPr>
                        <a:t>adquiridas por</a:t>
                      </a:r>
                    </a:p>
                    <a:p>
                      <a:pPr algn="l">
                        <a:lnSpc>
                          <a:spcPct val="100000"/>
                        </a:lnSpc>
                        <a:spcBef>
                          <a:spcPts val="0"/>
                        </a:spcBef>
                        <a:spcAft>
                          <a:spcPts val="0"/>
                        </a:spcAft>
                      </a:pPr>
                      <a:r>
                        <a:rPr sz="1300" b="0">
                          <a:solidFill>
                            <a:srgbClr val="1F1F1F"/>
                          </a:solidFill>
                          <a:latin typeface="Calibri"/>
                        </a:rPr>
                        <a:t>investidores que sejam</a:t>
                      </a:r>
                    </a:p>
                    <a:p>
                      <a:pPr algn="l">
                        <a:lnSpc>
                          <a:spcPct val="100000"/>
                        </a:lnSpc>
                        <a:spcBef>
                          <a:spcPts val="0"/>
                        </a:spcBef>
                        <a:spcAft>
                          <a:spcPts val="0"/>
                        </a:spcAft>
                      </a:pPr>
                      <a:r>
                        <a:rPr sz="1300" b="0">
                          <a:solidFill>
                            <a:srgbClr val="1F1F1F"/>
                          </a:solidFill>
                          <a:latin typeface="Calibri"/>
                        </a:rPr>
                        <a:t>partes relacionadas à</a:t>
                      </a:r>
                    </a:p>
                    <a:p>
                      <a:pPr algn="l">
                        <a:lnSpc>
                          <a:spcPct val="100000"/>
                        </a:lnSpc>
                        <a:spcBef>
                          <a:spcPts val="0"/>
                        </a:spcBef>
                        <a:spcAft>
                          <a:spcPts val="0"/>
                        </a:spcAft>
                      </a:pPr>
                      <a:r>
                        <a:rPr sz="1300" b="0">
                          <a:solidFill>
                            <a:srgbClr val="1F1F1F"/>
                          </a:solidFill>
                          <a:latin typeface="Calibri"/>
                        </a:rPr>
                        <a:t>Classe Investida ou aos</a:t>
                      </a:r>
                    </a:p>
                    <a:p>
                      <a:pPr algn="l">
                        <a:lnSpc>
                          <a:spcPct val="100000"/>
                        </a:lnSpc>
                        <a:spcBef>
                          <a:spcPts val="0"/>
                        </a:spcBef>
                        <a:spcAft>
                          <a:spcPts val="0"/>
                        </a:spcAft>
                      </a:pPr>
                      <a:r>
                        <a:rPr sz="1300" b="0">
                          <a:solidFill>
                            <a:srgbClr val="1F1F1F"/>
                          </a:solidFill>
                          <a:latin typeface="Calibri"/>
                        </a:rPr>
                        <a:t>prestadores de serviços</a:t>
                      </a:r>
                    </a:p>
                    <a:p>
                      <a:pPr algn="l">
                        <a:lnSpc>
                          <a:spcPct val="100000"/>
                        </a:lnSpc>
                        <a:spcBef>
                          <a:spcPts val="0"/>
                        </a:spcBef>
                        <a:spcAft>
                          <a:spcPts val="0"/>
                        </a:spcAft>
                      </a:pPr>
                      <a:r>
                        <a:rPr sz="1300" b="0">
                          <a:solidFill>
                            <a:srgbClr val="1F1F1F"/>
                          </a:solidFill>
                          <a:latin typeface="Calibri"/>
                        </a:rPr>
                        <a:t>da Classe Investida.</a:t>
                      </a:r>
                    </a:p>
                    <a:p>
                      <a:pPr algn="l">
                        <a:lnSpc>
                          <a:spcPct val="100000"/>
                        </a:lnSpc>
                        <a:spcBef>
                          <a:spcPts val="0"/>
                        </a:spcBef>
                        <a:spcAft>
                          <a:spcPts val="0"/>
                        </a:spcAft>
                      </a:pPr>
                      <a:r>
                        <a:rPr sz="1300" b="0">
                          <a:solidFill>
                            <a:srgbClr val="1F1F1F"/>
                          </a:solidFill>
                          <a:latin typeface="Calibri"/>
                        </a:rPr>
                        <a:t>Nessa hipótese, poderá</a:t>
                      </a:r>
                    </a:p>
                    <a:p>
                      <a:pPr algn="l">
                        <a:lnSpc>
                          <a:spcPct val="100000"/>
                        </a:lnSpc>
                        <a:spcBef>
                          <a:spcPts val="0"/>
                        </a:spcBef>
                        <a:spcAft>
                          <a:spcPts val="0"/>
                        </a:spcAft>
                      </a:pPr>
                      <a:r>
                        <a:rPr sz="1300" b="0">
                          <a:solidFill>
                            <a:srgbClr val="1F1F1F"/>
                          </a:solidFill>
                          <a:latin typeface="Calibri"/>
                        </a:rPr>
                        <a:t>haver situações de</a:t>
                      </a:r>
                    </a:p>
                    <a:p>
                      <a:pPr algn="l">
                        <a:lnSpc>
                          <a:spcPct val="100000"/>
                        </a:lnSpc>
                        <a:spcBef>
                          <a:spcPts val="0"/>
                        </a:spcBef>
                        <a:spcAft>
                          <a:spcPts val="0"/>
                        </a:spcAft>
                      </a:pPr>
                      <a:r>
                        <a:rPr sz="1300" b="0">
                          <a:solidFill>
                            <a:srgbClr val="1F1F1F"/>
                          </a:solidFill>
                          <a:latin typeface="Calibri"/>
                        </a:rPr>
                        <a:t>conflito de interesses</a:t>
                      </a:r>
                    </a:p>
                    <a:p>
                      <a:pPr algn="l">
                        <a:lnSpc>
                          <a:spcPct val="100000"/>
                        </a:lnSpc>
                        <a:spcBef>
                          <a:spcPts val="0"/>
                        </a:spcBef>
                        <a:spcAft>
                          <a:spcPts val="0"/>
                        </a:spcAft>
                      </a:pPr>
                      <a:r>
                        <a:rPr sz="1300" b="0">
                          <a:solidFill>
                            <a:srgbClr val="1F1F1F"/>
                          </a:solidFill>
                          <a:latin typeface="Calibri"/>
                        </a:rPr>
                        <a:t>entre os interesses</a:t>
                      </a:r>
                    </a:p>
                    <a:p>
                      <a:pPr algn="l">
                        <a:lnSpc>
                          <a:spcPct val="100000"/>
                        </a:lnSpc>
                        <a:spcBef>
                          <a:spcPts val="0"/>
                        </a:spcBef>
                        <a:spcAft>
                          <a:spcPts val="0"/>
                        </a:spcAft>
                      </a:pPr>
                      <a:r>
                        <a:rPr sz="1300" b="0">
                          <a:solidFill>
                            <a:srgbClr val="1F1F1F"/>
                          </a:solidFill>
                          <a:latin typeface="Calibri"/>
                        </a:rPr>
                        <a:t>desses investidores e o</a:t>
                      </a:r>
                    </a:p>
                    <a:p>
                      <a:pPr algn="l">
                        <a:lnSpc>
                          <a:spcPct val="100000"/>
                        </a:lnSpc>
                        <a:spcBef>
                          <a:spcPts val="0"/>
                        </a:spcBef>
                        <a:spcAft>
                          <a:spcPts val="0"/>
                        </a:spcAft>
                      </a:pPr>
                      <a:r>
                        <a:rPr sz="1300" b="0">
                          <a:solidFill>
                            <a:srgbClr val="1F1F1F"/>
                          </a:solidFill>
                          <a:latin typeface="Calibri"/>
                        </a:rPr>
                        <a:t>interesse dos demais</a:t>
                      </a:r>
                    </a:p>
                    <a:p>
                      <a:pPr algn="l">
                        <a:lnSpc>
                          <a:spcPct val="100000"/>
                        </a:lnSpc>
                        <a:spcBef>
                          <a:spcPts val="0"/>
                        </a:spcBef>
                        <a:spcAft>
                          <a:spcPts val="0"/>
                        </a:spcAft>
                      </a:pPr>
                      <a:r>
                        <a:rPr sz="1300" b="0">
                          <a:solidFill>
                            <a:srgbClr val="1F1F1F"/>
                          </a:solidFill>
                          <a:latin typeface="Calibri"/>
                        </a:rPr>
                        <a:t>Cotistas, podendo</a:t>
                      </a:r>
                    </a:p>
                    <a:p>
                      <a:pPr algn="l">
                        <a:lnSpc>
                          <a:spcPct val="100000"/>
                        </a:lnSpc>
                        <a:spcBef>
                          <a:spcPts val="0"/>
                        </a:spcBef>
                        <a:spcAft>
                          <a:spcPts val="0"/>
                        </a:spcAft>
                      </a:pPr>
                      <a:r>
                        <a:rPr sz="1300" b="0">
                          <a:solidFill>
                            <a:srgbClr val="1F1F1F"/>
                          </a:solidFill>
                          <a:latin typeface="Calibri"/>
                        </a:rPr>
                        <a:t>qualquer desses</a:t>
                      </a:r>
                    </a:p>
                    <a:p>
                      <a:pPr algn="l">
                        <a:lnSpc>
                          <a:spcPct val="100000"/>
                        </a:lnSpc>
                        <a:spcBef>
                          <a:spcPts val="0"/>
                        </a:spcBef>
                        <a:spcAft>
                          <a:spcPts val="0"/>
                        </a:spcAft>
                      </a:pPr>
                      <a:r>
                        <a:rPr sz="1300" b="0">
                          <a:solidFill>
                            <a:srgbClr val="1F1F1F"/>
                          </a:solidFill>
                          <a:latin typeface="Calibri"/>
                        </a:rPr>
                        <a:t>investidores,</a:t>
                      </a:r>
                    </a:p>
                    <a:p>
                      <a:pPr algn="l">
                        <a:lnSpc>
                          <a:spcPct val="100000"/>
                        </a:lnSpc>
                        <a:spcBef>
                          <a:spcPts val="0"/>
                        </a:spcBef>
                        <a:spcAft>
                          <a:spcPts val="0"/>
                        </a:spcAft>
                      </a:pPr>
                      <a:r>
                        <a:rPr sz="1300" b="0">
                          <a:solidFill>
                            <a:srgbClr val="1F1F1F"/>
                          </a:solidFill>
                          <a:latin typeface="Calibri"/>
                        </a:rPr>
                        <a:t>inclusive, aprovar</a:t>
                      </a:r>
                    </a:p>
                    <a:p>
                      <a:pPr algn="l">
                        <a:lnSpc>
                          <a:spcPct val="100000"/>
                        </a:lnSpc>
                        <a:spcBef>
                          <a:spcPts val="0"/>
                        </a:spcBef>
                        <a:spcAft>
                          <a:spcPts val="0"/>
                        </a:spcAft>
                      </a:pPr>
                      <a:r>
                        <a:rPr sz="1300" b="0">
                          <a:solidFill>
                            <a:srgbClr val="1F1F1F"/>
                          </a:solidFill>
                          <a:latin typeface="Calibri"/>
                        </a:rPr>
                        <a:t>deliberações contrárias</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105/160</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Governança e alterações</a:t>
            </a:r>
          </a:p>
        </p:txBody>
      </p:sp>
      <p:graphicFrame>
        <p:nvGraphicFramePr>
          <p:cNvPr id="3" name="Table 2"/>
          <p:cNvGraphicFramePr>
            <a:graphicFrameLocks noGrp="1"/>
          </p:cNvGraphicFramePr>
          <p:nvPr/>
        </p:nvGraphicFramePr>
        <p:xfrm>
          <a:off x="438912" y="932688"/>
          <a:ext cx="11313868" cy="3753612"/>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3282696">
                <a:tc>
                  <a:txBody>
                    <a:bodyPr wrap="square">
                      <a:noAutofit/>
                    </a:bodyPr>
                    <a:lstStyle/>
                    <a:p>
                      <a:pPr algn="l">
                        <a:lnSpc>
                          <a:spcPct val="100000"/>
                        </a:lnSpc>
                        <a:spcBef>
                          <a:spcPts val="0"/>
                        </a:spcBef>
                        <a:spcAft>
                          <a:spcPts val="0"/>
                        </a:spcAft>
                      </a:pPr>
                      <a:r>
                        <a:rPr sz="1300" b="1">
                          <a:solidFill>
                            <a:srgbClr val="1F1F1F"/>
                          </a:solidFill>
                          <a:latin typeface="Calibri"/>
                        </a:rPr>
                        <a:t>Partes relacionadas e</a:t>
                      </a:r>
                    </a:p>
                    <a:p>
                      <a:pPr algn="l">
                        <a:lnSpc>
                          <a:spcPct val="100000"/>
                        </a:lnSpc>
                        <a:spcBef>
                          <a:spcPts val="0"/>
                        </a:spcBef>
                        <a:spcAft>
                          <a:spcPts val="0"/>
                        </a:spcAft>
                      </a:pPr>
                      <a:r>
                        <a:rPr sz="1300" b="1">
                          <a:solidFill>
                            <a:srgbClr val="1F1F1F"/>
                          </a:solidFill>
                          <a:latin typeface="Calibri"/>
                        </a:rPr>
                        <a:t>conflitos (continuação)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integrar o grupo do</a:t>
                      </a:r>
                    </a:p>
                    <a:p>
                      <a:pPr algn="l">
                        <a:lnSpc>
                          <a:spcPct val="100000"/>
                        </a:lnSpc>
                        <a:spcBef>
                          <a:spcPts val="0"/>
                        </a:spcBef>
                        <a:spcAft>
                          <a:spcPts val="0"/>
                        </a:spcAft>
                      </a:pPr>
                      <a:r>
                        <a:rPr sz="1300" b="0">
                          <a:solidFill>
                            <a:srgbClr val="1F1F1F"/>
                          </a:solidFill>
                          <a:latin typeface="Calibri"/>
                        </a:rPr>
                        <a:t>ADMINISTRADOR ou dos</a:t>
                      </a:r>
                    </a:p>
                    <a:p>
                      <a:pPr algn="l">
                        <a:lnSpc>
                          <a:spcPct val="100000"/>
                        </a:lnSpc>
                        <a:spcBef>
                          <a:spcPts val="0"/>
                        </a:spcBef>
                        <a:spcAft>
                          <a:spcPts val="0"/>
                        </a:spcAft>
                      </a:pPr>
                      <a:r>
                        <a:rPr sz="1300" b="0">
                          <a:solidFill>
                            <a:srgbClr val="1F1F1F"/>
                          </a:solidFill>
                          <a:latin typeface="Calibri"/>
                        </a:rPr>
                        <a:t>demais prestadores de</a:t>
                      </a:r>
                    </a:p>
                    <a:p>
                      <a:pPr algn="l">
                        <a:lnSpc>
                          <a:spcPct val="100000"/>
                        </a:lnSpc>
                        <a:spcBef>
                          <a:spcPts val="0"/>
                        </a:spcBef>
                        <a:spcAft>
                          <a:spcPts val="0"/>
                        </a:spcAft>
                      </a:pPr>
                      <a:r>
                        <a:rPr sz="1300" b="0">
                          <a:solidFill>
                            <a:srgbClr val="1F1F1F"/>
                          </a:solidFill>
                          <a:latin typeface="Calibri"/>
                        </a:rPr>
                        <a:t>serviços da Classe. ]</a:t>
                      </a:r>
                    </a:p>
                    <a:p>
                      <a:pPr algn="l">
                        <a:lnSpc>
                          <a:spcPct val="100000"/>
                        </a:lnSpc>
                        <a:spcBef>
                          <a:spcPts val="0"/>
                        </a:spcBef>
                        <a:spcAft>
                          <a:spcPts val="0"/>
                        </a:spcAft>
                      </a:pPr>
                      <a:r>
                        <a:rPr sz="1300" b="0">
                          <a:solidFill>
                            <a:srgbClr val="1F1F1F"/>
                          </a:solidFill>
                          <a:latin typeface="Calibri"/>
                        </a:rPr>
                        <a:t>Serão atribuições do</a:t>
                      </a:r>
                    </a:p>
                    <a:p>
                      <a:pPr algn="l">
                        <a:lnSpc>
                          <a:spcPct val="100000"/>
                        </a:lnSpc>
                        <a:spcBef>
                          <a:spcPts val="0"/>
                        </a:spcBef>
                        <a:spcAft>
                          <a:spcPts val="0"/>
                        </a:spcAft>
                      </a:pPr>
                      <a:r>
                        <a:rPr sz="1300" b="0">
                          <a:solidFill>
                            <a:srgbClr val="1F1F1F"/>
                          </a:solidFill>
                          <a:latin typeface="Calibri"/>
                        </a:rPr>
                        <a:t>Agente de Cobrança,</a:t>
                      </a:r>
                    </a:p>
                    <a:p>
                      <a:pPr algn="l">
                        <a:lnSpc>
                          <a:spcPct val="100000"/>
                        </a:lnSpc>
                        <a:spcBef>
                          <a:spcPts val="0"/>
                        </a:spcBef>
                        <a:spcAft>
                          <a:spcPts val="0"/>
                        </a:spcAft>
                      </a:pPr>
                      <a:r>
                        <a:rPr sz="1300" b="0">
                          <a:solidFill>
                            <a:srgbClr val="1F1F1F"/>
                          </a:solidFill>
                          <a:latin typeface="Calibri"/>
                        </a:rPr>
                        <a:t>observado o disposto</a:t>
                      </a:r>
                    </a:p>
                    <a:p>
                      <a:pPr algn="l">
                        <a:lnSpc>
                          <a:spcPct val="100000"/>
                        </a:lnSpc>
                        <a:spcBef>
                          <a:spcPts val="0"/>
                        </a:spcBef>
                        <a:spcAft>
                          <a:spcPts val="0"/>
                        </a:spcAft>
                      </a:pPr>
                      <a:r>
                        <a:rPr sz="1300" b="0">
                          <a:solidFill>
                            <a:srgbClr val="1F1F1F"/>
                          </a:solidFill>
                          <a:latin typeface="Calibri"/>
                        </a:rPr>
                        <a:t>neste Regulamento e na</a:t>
                      </a:r>
                    </a:p>
                    <a:p>
                      <a:pPr algn="l">
                        <a:lnSpc>
                          <a:spcPct val="100000"/>
                        </a:lnSpc>
                        <a:spcBef>
                          <a:spcPts val="0"/>
                        </a:spcBef>
                        <a:spcAft>
                          <a:spcPts val="0"/>
                        </a:spcAft>
                      </a:pPr>
                      <a:r>
                        <a:rPr sz="1300" b="0">
                          <a:solidFill>
                            <a:srgbClr val="1F1F1F"/>
                          </a:solidFill>
                          <a:latin typeface="Calibri"/>
                        </a:rPr>
                        <a:t>regulamentação</a:t>
                      </a:r>
                    </a:p>
                    <a:p>
                      <a:pPr algn="l">
                        <a:lnSpc>
                          <a:spcPct val="100000"/>
                        </a:lnSpc>
                        <a:spcBef>
                          <a:spcPts val="0"/>
                        </a:spcBef>
                        <a:spcAft>
                          <a:spcPts val="0"/>
                        </a:spcAft>
                      </a:pPr>
                      <a:r>
                        <a:rPr sz="1300" b="0">
                          <a:solidFill>
                            <a:srgbClr val="1F1F1F"/>
                          </a:solidFill>
                          <a:latin typeface="Calibri"/>
                        </a:rPr>
                        <a:t>aplicável: (i) sempre</a:t>
                      </a:r>
                    </a:p>
                    <a:p>
                      <a:pPr algn="l">
                        <a:lnSpc>
                          <a:spcPct val="100000"/>
                        </a:lnSpc>
                        <a:spcBef>
                          <a:spcPts val="0"/>
                        </a:spcBef>
                        <a:spcAft>
                          <a:spcPts val="0"/>
                        </a:spcAft>
                      </a:pPr>
                      <a:r>
                        <a:rPr sz="1300" b="0">
                          <a:solidFill>
                            <a:srgbClr val="1F1F1F"/>
                          </a:solidFill>
                          <a:latin typeface="Calibri"/>
                        </a:rPr>
                        <a:t>que necessário,</a:t>
                      </a:r>
                    </a:p>
                    <a:p>
                      <a:pPr algn="l">
                        <a:lnSpc>
                          <a:spcPct val="100000"/>
                        </a:lnSpc>
                        <a:spcBef>
                          <a:spcPts val="0"/>
                        </a:spcBef>
                        <a:spcAft>
                          <a:spcPts val="0"/>
                        </a:spcAft>
                      </a:pPr>
                      <a:r>
                        <a:rPr sz="1300" b="0">
                          <a:solidFill>
                            <a:srgbClr val="1F1F1F"/>
                          </a:solidFill>
                          <a:latin typeface="Calibri"/>
                        </a:rPr>
                        <a:t>notificar os Devedores</a:t>
                      </a:r>
                    </a:p>
                    <a:p>
                      <a:pPr algn="l">
                        <a:lnSpc>
                          <a:spcPct val="100000"/>
                        </a:lnSpc>
                        <a:spcBef>
                          <a:spcPts val="0"/>
                        </a:spcBef>
                        <a:spcAft>
                          <a:spcPts val="0"/>
                        </a:spcAft>
                      </a:pPr>
                      <a:r>
                        <a:rPr sz="1300" b="0">
                          <a:solidFill>
                            <a:srgbClr val="1F1F1F"/>
                          </a:solidFill>
                          <a:latin typeface="Calibri"/>
                        </a:rPr>
                        <a:t>sobre a cessão dos</a:t>
                      </a:r>
                    </a:p>
                    <a:p>
                      <a:pPr algn="l">
                        <a:lnSpc>
                          <a:spcPct val="100000"/>
                        </a:lnSpc>
                        <a:spcBef>
                          <a:spcPts val="0"/>
                        </a:spcBef>
                        <a:spcAft>
                          <a:spcPts val="0"/>
                        </a:spcAft>
                      </a:pPr>
                      <a:r>
                        <a:rPr sz="1300" b="0">
                          <a:solidFill>
                            <a:srgbClr val="1F1F1F"/>
                          </a:solidFill>
                          <a:latin typeface="Calibri"/>
                        </a:rPr>
                        <a:t>Direitos Creditórios à</a:t>
                      </a:r>
                    </a:p>
                    <a:p>
                      <a:pPr algn="l">
                        <a:lnSpc>
                          <a:spcPct val="100000"/>
                        </a:lnSpc>
                        <a:spcBef>
                          <a:spcPts val="0"/>
                        </a:spcBef>
                        <a:spcAft>
                          <a:spcPts val="0"/>
                        </a:spcAft>
                      </a:pPr>
                      <a:r>
                        <a:rPr sz="1300" b="0">
                          <a:solidFill>
                            <a:srgbClr val="1F1F1F"/>
                          </a:solidFill>
                          <a:latin typeface="Calibri"/>
                        </a:rPr>
                        <a:t>Classe, nos termos do</a:t>
                      </a:r>
                    </a:p>
                    <a:p>
                      <a:pPr algn="l">
                        <a:lnSpc>
                          <a:spcPct val="100000"/>
                        </a:lnSpc>
                        <a:spcBef>
                          <a:spcPts val="0"/>
                        </a:spcBef>
                        <a:spcAft>
                          <a:spcPts val="0"/>
                        </a:spcAft>
                      </a:pPr>
                      <a:r>
                        <a:rPr sz="1300" b="0">
                          <a:solidFill>
                            <a:srgbClr val="1F1F1F"/>
                          </a:solidFill>
                          <a:latin typeface="Calibri"/>
                        </a:rPr>
                        <a:t>Art. 290 do Código</a:t>
                      </a:r>
                    </a:p>
                    <a:p>
                      <a:pPr algn="l">
                        <a:lnSpc>
                          <a:spcPct val="100000"/>
                        </a:lnSpc>
                        <a:spcBef>
                          <a:spcPts val="0"/>
                        </a:spcBef>
                        <a:spcAft>
                          <a:spcPts val="0"/>
                        </a:spcAft>
                      </a:pPr>
                      <a:r>
                        <a:rPr sz="1300" b="0">
                          <a:solidFill>
                            <a:srgbClr val="1F1F1F"/>
                          </a:solidFill>
                          <a:latin typeface="Calibri"/>
                        </a:rPr>
                        <a:t>Civil;.</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observada a ordem de</a:t>
                      </a:r>
                    </a:p>
                    <a:p>
                      <a:pPr algn="l">
                        <a:lnSpc>
                          <a:spcPct val="100000"/>
                        </a:lnSpc>
                        <a:spcBef>
                          <a:spcPts val="0"/>
                        </a:spcBef>
                        <a:spcAft>
                          <a:spcPts val="0"/>
                        </a:spcAft>
                      </a:pPr>
                      <a:r>
                        <a:rPr sz="1300" b="0">
                          <a:solidFill>
                            <a:srgbClr val="1F1F1F"/>
                          </a:solidFill>
                          <a:latin typeface="Calibri"/>
                        </a:rPr>
                        <a:t>alocação de recursos</a:t>
                      </a:r>
                    </a:p>
                    <a:p>
                      <a:pPr algn="l">
                        <a:lnSpc>
                          <a:spcPct val="100000"/>
                        </a:lnSpc>
                        <a:spcBef>
                          <a:spcPts val="0"/>
                        </a:spcBef>
                        <a:spcAft>
                          <a:spcPts val="0"/>
                        </a:spcAft>
                      </a:pPr>
                      <a:r>
                        <a:rPr sz="1300" b="0">
                          <a:solidFill>
                            <a:srgbClr val="1F1F1F"/>
                          </a:solidFill>
                          <a:latin typeface="Calibri"/>
                        </a:rPr>
                        <a:t>def inida no Capítulo 7</a:t>
                      </a:r>
                    </a:p>
                    <a:p>
                      <a:pPr algn="l">
                        <a:lnSpc>
                          <a:spcPct val="100000"/>
                        </a:lnSpc>
                        <a:spcBef>
                          <a:spcPts val="0"/>
                        </a:spcBef>
                        <a:spcAft>
                          <a:spcPts val="0"/>
                        </a:spcAft>
                      </a:pPr>
                      <a:r>
                        <a:rPr sz="1300" b="0">
                          <a:solidFill>
                            <a:srgbClr val="1F1F1F"/>
                          </a:solidFill>
                          <a:latin typeface="Calibri"/>
                        </a:rPr>
                        <a:t>abaixo. Regras,</a:t>
                      </a:r>
                    </a:p>
                    <a:p>
                      <a:pPr algn="l">
                        <a:lnSpc>
                          <a:spcPct val="100000"/>
                        </a:lnSpc>
                        <a:spcBef>
                          <a:spcPts val="0"/>
                        </a:spcBef>
                        <a:spcAft>
                          <a:spcPts val="0"/>
                        </a:spcAft>
                      </a:pPr>
                      <a:r>
                        <a:rPr sz="1300" b="0">
                          <a:solidFill>
                            <a:srgbClr val="1F1F1F"/>
                          </a:solidFill>
                          <a:latin typeface="Calibri"/>
                        </a:rPr>
                        <a:t>procedimentos e limites</a:t>
                      </a:r>
                    </a:p>
                    <a:p>
                      <a:pPr algn="l">
                        <a:lnSpc>
                          <a:spcPct val="100000"/>
                        </a:lnSpc>
                        <a:spcBef>
                          <a:spcPts val="0"/>
                        </a:spcBef>
                        <a:spcAft>
                          <a:spcPts val="0"/>
                        </a:spcAft>
                      </a:pPr>
                      <a:r>
                        <a:rPr sz="1300" b="0">
                          <a:solidFill>
                            <a:srgbClr val="1F1F1F"/>
                          </a:solidFill>
                          <a:latin typeface="Calibri"/>
                        </a:rPr>
                        <a:t>para efetuar cessão de</a:t>
                      </a:r>
                    </a:p>
                    <a:p>
                      <a:pPr algn="l">
                        <a:lnSpc>
                          <a:spcPct val="100000"/>
                        </a:lnSpc>
                        <a:spcBef>
                          <a:spcPts val="0"/>
                        </a:spcBef>
                        <a:spcAft>
                          <a:spcPts val="0"/>
                        </a:spcAft>
                      </a:pPr>
                      <a:r>
                        <a:rPr sz="1300" b="0">
                          <a:solidFill>
                            <a:srgbClr val="1F1F1F"/>
                          </a:solidFill>
                          <a:latin typeface="Calibri"/>
                        </a:rPr>
                        <a:t>direitos creditórios</a:t>
                      </a:r>
                    </a:p>
                    <a:p>
                      <a:pPr algn="l">
                        <a:lnSpc>
                          <a:spcPct val="100000"/>
                        </a:lnSpc>
                        <a:spcBef>
                          <a:spcPts val="0"/>
                        </a:spcBef>
                        <a:spcAft>
                          <a:spcPts val="0"/>
                        </a:spcAft>
                      </a:pPr>
                      <a:r>
                        <a:rPr sz="1300" b="0">
                          <a:solidFill>
                            <a:srgbClr val="1F1F1F"/>
                          </a:solidFill>
                          <a:latin typeface="Calibri"/>
                        </a:rPr>
                        <a:t>para o cedente e suas</a:t>
                      </a:r>
                    </a:p>
                    <a:p>
                      <a:pPr algn="l">
                        <a:lnSpc>
                          <a:spcPct val="100000"/>
                        </a:lnSpc>
                        <a:spcBef>
                          <a:spcPts val="0"/>
                        </a:spcBef>
                        <a:spcAft>
                          <a:spcPts val="0"/>
                        </a:spcAft>
                      </a:pPr>
                      <a:r>
                        <a:rPr sz="1300" b="0">
                          <a:solidFill>
                            <a:srgbClr val="1F1F1F"/>
                          </a:solidFill>
                          <a:latin typeface="Calibri"/>
                        </a:rPr>
                        <a:t>partes relacionadas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terceiros em situação</a:t>
                      </a:r>
                    </a:p>
                    <a:p>
                      <a:pPr algn="l">
                        <a:lnSpc>
                          <a:spcPct val="100000"/>
                        </a:lnSpc>
                        <a:spcBef>
                          <a:spcPts val="0"/>
                        </a:spcBef>
                        <a:spcAft>
                          <a:spcPts val="0"/>
                        </a:spcAft>
                      </a:pPr>
                      <a:r>
                        <a:rPr sz="1300" b="0">
                          <a:solidFill>
                            <a:srgbClr val="1F1F1F"/>
                          </a:solidFill>
                          <a:latin typeface="Calibri"/>
                        </a:rPr>
                        <a:t>de conflito de</a:t>
                      </a:r>
                    </a:p>
                    <a:p>
                      <a:pPr algn="l">
                        <a:lnSpc>
                          <a:spcPct val="100000"/>
                        </a:lnSpc>
                        <a:spcBef>
                          <a:spcPts val="0"/>
                        </a:spcBef>
                        <a:spcAft>
                          <a:spcPts val="0"/>
                        </a:spcAft>
                      </a:pPr>
                      <a:r>
                        <a:rPr sz="1300" b="0">
                          <a:solidFill>
                            <a:srgbClr val="1F1F1F"/>
                          </a:solidFill>
                          <a:latin typeface="Calibri"/>
                        </a:rPr>
                        <a:t>interesses, deverá ser</a:t>
                      </a:r>
                    </a:p>
                    <a:p>
                      <a:pPr algn="l">
                        <a:lnSpc>
                          <a:spcPct val="100000"/>
                        </a:lnSpc>
                        <a:spcBef>
                          <a:spcPts val="0"/>
                        </a:spcBef>
                        <a:spcAft>
                          <a:spcPts val="0"/>
                        </a:spcAft>
                      </a:pPr>
                      <a:r>
                        <a:rPr sz="1300" b="0">
                          <a:solidFill>
                            <a:srgbClr val="1F1F1F"/>
                          </a:solidFill>
                          <a:latin typeface="Calibri"/>
                        </a:rPr>
                        <a:t>aprovado em assembleia</a:t>
                      </a:r>
                    </a:p>
                    <a:p>
                      <a:pPr algn="l">
                        <a:lnSpc>
                          <a:spcPct val="100000"/>
                        </a:lnSpc>
                        <a:spcBef>
                          <a:spcPts val="0"/>
                        </a:spcBef>
                        <a:spcAft>
                          <a:spcPts val="0"/>
                        </a:spcAft>
                      </a:pPr>
                      <a:r>
                        <a:rPr sz="1300" b="0">
                          <a:solidFill>
                            <a:srgbClr val="1F1F1F"/>
                          </a:solidFill>
                          <a:latin typeface="Calibri"/>
                        </a:rPr>
                        <a:t>de Cotistas.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aos interesses dos</a:t>
                      </a:r>
                    </a:p>
                    <a:p>
                      <a:pPr algn="l">
                        <a:lnSpc>
                          <a:spcPct val="100000"/>
                        </a:lnSpc>
                        <a:spcBef>
                          <a:spcPts val="0"/>
                        </a:spcBef>
                        <a:spcAft>
                          <a:spcPts val="0"/>
                        </a:spcAft>
                      </a:pPr>
                      <a:r>
                        <a:rPr sz="1300" b="0">
                          <a:solidFill>
                            <a:srgbClr val="1F1F1F"/>
                          </a:solidFill>
                          <a:latin typeface="Calibri"/>
                        </a:rPr>
                        <a:t>demais Cotistas caso</a:t>
                      </a:r>
                    </a:p>
                    <a:p>
                      <a:pPr algn="l">
                        <a:lnSpc>
                          <a:spcPct val="100000"/>
                        </a:lnSpc>
                        <a:spcBef>
                          <a:spcPts val="0"/>
                        </a:spcBef>
                        <a:spcAft>
                          <a:spcPts val="0"/>
                        </a:spcAft>
                      </a:pPr>
                      <a:r>
                        <a:rPr sz="1300" b="0">
                          <a:solidFill>
                            <a:srgbClr val="1F1F1F"/>
                          </a:solidFill>
                          <a:latin typeface="Calibri"/>
                        </a:rPr>
                        <a:t>sejam titulares da</a:t>
                      </a:r>
                    </a:p>
                    <a:p>
                      <a:pPr algn="l">
                        <a:lnSpc>
                          <a:spcPct val="100000"/>
                        </a:lnSpc>
                        <a:spcBef>
                          <a:spcPts val="0"/>
                        </a:spcBef>
                        <a:spcAft>
                          <a:spcPts val="0"/>
                        </a:spcAft>
                      </a:pPr>
                      <a:r>
                        <a:rPr sz="1300" b="0">
                          <a:solidFill>
                            <a:srgbClr val="1F1F1F"/>
                          </a:solidFill>
                          <a:latin typeface="Calibri"/>
                        </a:rPr>
                        <a:t>maioria das Cotas</a:t>
                      </a:r>
                    </a:p>
                    <a:p>
                      <a:pPr algn="l">
                        <a:lnSpc>
                          <a:spcPct val="100000"/>
                        </a:lnSpc>
                        <a:spcBef>
                          <a:spcPts val="0"/>
                        </a:spcBef>
                        <a:spcAft>
                          <a:spcPts val="0"/>
                        </a:spcAft>
                      </a:pPr>
                      <a:r>
                        <a:rPr sz="1300" b="0">
                          <a:solidFill>
                            <a:srgbClr val="1F1F1F"/>
                          </a:solidFill>
                          <a:latin typeface="Calibri"/>
                        </a:rPr>
                        <a:t>presentes às</a:t>
                      </a:r>
                    </a:p>
                    <a:p>
                      <a:pPr algn="l">
                        <a:lnSpc>
                          <a:spcPct val="100000"/>
                        </a:lnSpc>
                        <a:spcBef>
                          <a:spcPts val="0"/>
                        </a:spcBef>
                        <a:spcAft>
                          <a:spcPts val="0"/>
                        </a:spcAft>
                      </a:pPr>
                      <a:r>
                        <a:rPr sz="1300" b="0">
                          <a:solidFill>
                            <a:srgbClr val="1F1F1F"/>
                          </a:solidFill>
                          <a:latin typeface="Calibri"/>
                        </a:rPr>
                        <a:t>Assembleias de</a:t>
                      </a:r>
                    </a:p>
                    <a:p>
                      <a:pPr algn="l">
                        <a:lnSpc>
                          <a:spcPct val="100000"/>
                        </a:lnSpc>
                        <a:spcBef>
                          <a:spcPts val="0"/>
                        </a:spcBef>
                        <a:spcAft>
                          <a:spcPts val="0"/>
                        </a:spcAft>
                      </a:pPr>
                      <a:r>
                        <a:rPr sz="1300" b="0">
                          <a:solidFill>
                            <a:srgbClr val="1F1F1F"/>
                          </a:solidFill>
                          <a:latin typeface="Calibri"/>
                        </a:rPr>
                        <a:t>Cotistas.</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106/160</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Governança e alterações</a:t>
            </a:r>
          </a:p>
        </p:txBody>
      </p:sp>
      <p:graphicFrame>
        <p:nvGraphicFramePr>
          <p:cNvPr id="3" name="Table 2"/>
          <p:cNvGraphicFramePr>
            <a:graphicFrameLocks noGrp="1"/>
          </p:cNvGraphicFramePr>
          <p:nvPr/>
        </p:nvGraphicFramePr>
        <p:xfrm>
          <a:off x="438912" y="932688"/>
          <a:ext cx="11313868" cy="5253228"/>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4782312">
                <a:tc>
                  <a:txBody>
                    <a:bodyPr wrap="square">
                      <a:noAutofit/>
                    </a:bodyPr>
                    <a:lstStyle/>
                    <a:p>
                      <a:pPr algn="l">
                        <a:lnSpc>
                          <a:spcPct val="100000"/>
                        </a:lnSpc>
                        <a:spcBef>
                          <a:spcPts val="0"/>
                        </a:spcBef>
                        <a:spcAft>
                          <a:spcPts val="0"/>
                        </a:spcAft>
                      </a:pPr>
                      <a:r>
                        <a:rPr sz="1300" b="1">
                          <a:solidFill>
                            <a:srgbClr val="1F1F1F"/>
                          </a:solidFill>
                          <a:latin typeface="Calibri"/>
                        </a:rPr>
                        <a:t>Histórico de alterações</a:t>
                      </a:r>
                    </a:p>
                    <a:p>
                      <a:pPr algn="l">
                        <a:lnSpc>
                          <a:spcPct val="100000"/>
                        </a:lnSpc>
                        <a:spcBef>
                          <a:spcPts val="0"/>
                        </a:spcBef>
                        <a:spcAft>
                          <a:spcPts val="0"/>
                        </a:spcAft>
                      </a:pPr>
                      <a:r>
                        <a:rPr sz="1300" b="1">
                          <a:solidFill>
                            <a:srgbClr val="1F1F1F"/>
                          </a:solidFill>
                          <a:latin typeface="Calibri"/>
                        </a:rPr>
                        <a:t>materiais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AGC de 28/05/2024</a:t>
                      </a:r>
                    </a:p>
                    <a:p>
                      <a:pPr algn="l">
                        <a:lnSpc>
                          <a:spcPct val="100000"/>
                        </a:lnSpc>
                        <a:spcBef>
                          <a:spcPts val="0"/>
                        </a:spcBef>
                        <a:spcAft>
                          <a:spcPts val="0"/>
                        </a:spcAft>
                      </a:pPr>
                      <a:r>
                        <a:rPr sz="1300" b="0">
                          <a:solidFill>
                            <a:srgbClr val="1F1F1F"/>
                          </a:solidFill>
                          <a:latin typeface="Calibri"/>
                        </a:rPr>
                        <a:t>reformou o Anexo I para</a:t>
                      </a:r>
                    </a:p>
                    <a:p>
                      <a:pPr algn="l">
                        <a:lnSpc>
                          <a:spcPct val="100000"/>
                        </a:lnSpc>
                        <a:spcBef>
                          <a:spcPts val="0"/>
                        </a:spcBef>
                        <a:spcAft>
                          <a:spcPts val="0"/>
                        </a:spcAft>
                      </a:pPr>
                      <a:r>
                        <a:rPr sz="1300" b="0">
                          <a:solidFill>
                            <a:srgbClr val="1F1F1F"/>
                          </a:solidFill>
                          <a:latin typeface="Calibri"/>
                        </a:rPr>
                        <a:t>CCCBs e alterou</a:t>
                      </a:r>
                    </a:p>
                    <a:p>
                      <a:pPr algn="l">
                        <a:lnSpc>
                          <a:spcPct val="100000"/>
                        </a:lnSpc>
                        <a:spcBef>
                          <a:spcPts val="0"/>
                        </a:spcBef>
                        <a:spcAft>
                          <a:spcPts val="0"/>
                        </a:spcAft>
                      </a:pPr>
                      <a:r>
                        <a:rPr sz="1300" b="0">
                          <a:solidFill>
                            <a:srgbClr val="1F1F1F"/>
                          </a:solidFill>
                          <a:latin typeface="Calibri"/>
                        </a:rPr>
                        <a:t>política,</a:t>
                      </a:r>
                    </a:p>
                    <a:p>
                      <a:pPr algn="l">
                        <a:lnSpc>
                          <a:spcPct val="100000"/>
                        </a:lnSpc>
                        <a:spcBef>
                          <a:spcPts val="0"/>
                        </a:spcBef>
                        <a:spcAft>
                          <a:spcPts val="0"/>
                        </a:spcAft>
                      </a:pPr>
                      <a:r>
                        <a:rPr sz="1300" b="0">
                          <a:solidFill>
                            <a:srgbClr val="1F1F1F"/>
                          </a:solidFill>
                          <a:latin typeface="Calibri"/>
                        </a:rPr>
                        <a:t>elegibilidade, endosso</a:t>
                      </a:r>
                    </a:p>
                    <a:p>
                      <a:pPr algn="l">
                        <a:lnSpc>
                          <a:spcPct val="100000"/>
                        </a:lnSpc>
                        <a:spcBef>
                          <a:spcPts val="0"/>
                        </a:spcBef>
                        <a:spcAft>
                          <a:spcPts val="0"/>
                        </a:spcAft>
                      </a:pPr>
                      <a:r>
                        <a:rPr sz="1300" b="0">
                          <a:solidFill>
                            <a:srgbClr val="1F1F1F"/>
                          </a:solidFill>
                          <a:latin typeface="Calibri"/>
                        </a:rPr>
                        <a:t>e lastro; aprovou</a:t>
                      </a:r>
                    </a:p>
                    <a:p>
                      <a:pPr algn="l">
                        <a:lnSpc>
                          <a:spcPct val="100000"/>
                        </a:lnSpc>
                        <a:spcBef>
                          <a:spcPts val="0"/>
                        </a:spcBef>
                        <a:spcAft>
                          <a:spcPts val="0"/>
                        </a:spcAft>
                      </a:pPr>
                      <a:r>
                        <a:rPr sz="1300" b="0">
                          <a:solidFill>
                            <a:srgbClr val="1F1F1F"/>
                          </a:solidFill>
                          <a:latin typeface="Calibri"/>
                        </a:rPr>
                        <a:t>consolidação com</a:t>
                      </a:r>
                    </a:p>
                    <a:p>
                      <a:pPr algn="l">
                        <a:lnSpc>
                          <a:spcPct val="100000"/>
                        </a:lnSpc>
                        <a:spcBef>
                          <a:spcPts val="0"/>
                        </a:spcBef>
                        <a:spcAft>
                          <a:spcPts val="0"/>
                        </a:spcAft>
                      </a:pPr>
                      <a:r>
                        <a:rPr sz="1300" b="0">
                          <a:solidFill>
                            <a:srgbClr val="1F1F1F"/>
                          </a:solidFill>
                          <a:latin typeface="Calibri"/>
                        </a:rPr>
                        <a:t>efeitos retroativos à</a:t>
                      </a:r>
                    </a:p>
                    <a:p>
                      <a:pPr algn="l">
                        <a:lnSpc>
                          <a:spcPct val="100000"/>
                        </a:lnSpc>
                        <a:spcBef>
                          <a:spcPts val="0"/>
                        </a:spcBef>
                        <a:spcAft>
                          <a:spcPts val="0"/>
                        </a:spcAft>
                      </a:pPr>
                      <a:r>
                        <a:rPr sz="1300" b="0">
                          <a:solidFill>
                            <a:srgbClr val="1F1F1F"/>
                          </a:solidFill>
                          <a:latin typeface="Calibri"/>
                        </a:rPr>
                        <a:t>abertura de 28/05/2024.</a:t>
                      </a:r>
                    </a:p>
                    <a:p>
                      <a:pPr algn="l">
                        <a:lnSpc>
                          <a:spcPct val="100000"/>
                        </a:lnSpc>
                        <a:spcBef>
                          <a:spcPts val="0"/>
                        </a:spcBef>
                        <a:spcAft>
                          <a:spcPts val="0"/>
                        </a:spcAft>
                      </a:pPr>
                      <a:r>
                        <a:rPr sz="1300" b="0">
                          <a:solidFill>
                            <a:srgbClr val="1F1F1F"/>
                          </a:solidFill>
                          <a:latin typeface="Calibri"/>
                        </a:rPr>
                        <a:t>O regulamento 670691</a:t>
                      </a:r>
                    </a:p>
                    <a:p>
                      <a:pPr algn="l">
                        <a:lnSpc>
                          <a:spcPct val="100000"/>
                        </a:lnSpc>
                        <a:spcBef>
                          <a:spcPts val="0"/>
                        </a:spcBef>
                        <a:spcAft>
                          <a:spcPts val="0"/>
                        </a:spcAft>
                      </a:pPr>
                      <a:r>
                        <a:rPr sz="1300" b="0">
                          <a:solidFill>
                            <a:srgbClr val="1F1F1F"/>
                          </a:solidFill>
                          <a:latin typeface="Calibri"/>
                        </a:rPr>
                        <a:t>está catalogado com</a:t>
                      </a:r>
                    </a:p>
                    <a:p>
                      <a:pPr algn="l">
                        <a:lnSpc>
                          <a:spcPct val="100000"/>
                        </a:lnSpc>
                        <a:spcBef>
                          <a:spcPts val="0"/>
                        </a:spcBef>
                        <a:spcAft>
                          <a:spcPts val="0"/>
                        </a:spcAft>
                      </a:pPr>
                      <a:r>
                        <a:rPr sz="1300" b="0">
                          <a:solidFill>
                            <a:srgbClr val="1F1F1F"/>
                          </a:solidFill>
                          <a:latin typeface="Calibri"/>
                        </a:rPr>
                        <a:t>referência 28/04/2024,</a:t>
                      </a:r>
                    </a:p>
                    <a:p>
                      <a:pPr algn="l">
                        <a:lnSpc>
                          <a:spcPct val="100000"/>
                        </a:lnSpc>
                        <a:spcBef>
                          <a:spcPts val="0"/>
                        </a:spcBef>
                        <a:spcAft>
                          <a:spcPts val="0"/>
                        </a:spcAft>
                      </a:pPr>
                      <a:r>
                        <a:rPr sz="1300" b="0">
                          <a:solidFill>
                            <a:srgbClr val="1F1F1F"/>
                          </a:solidFill>
                          <a:latin typeface="Calibri"/>
                        </a:rPr>
                        <a:t>anterior ao ato que</a:t>
                      </a:r>
                    </a:p>
                    <a:p>
                      <a:pPr algn="l">
                        <a:lnSpc>
                          <a:spcPct val="100000"/>
                        </a:lnSpc>
                        <a:spcBef>
                          <a:spcPts val="0"/>
                        </a:spcBef>
                        <a:spcAft>
                          <a:spcPts val="0"/>
                        </a:spcAft>
                      </a:pPr>
                      <a:r>
                        <a:rPr sz="1300" b="0">
                          <a:solidFill>
                            <a:srgbClr val="1F1F1F"/>
                          </a:solidFill>
                          <a:latin typeface="Calibri"/>
                        </a:rPr>
                        <a:t>descreve sua reforma.;</a:t>
                      </a:r>
                    </a:p>
                    <a:p>
                      <a:pPr algn="l">
                        <a:lnSpc>
                          <a:spcPct val="100000"/>
                        </a:lnSpc>
                        <a:spcBef>
                          <a:spcPts val="0"/>
                        </a:spcBef>
                        <a:spcAft>
                          <a:spcPts val="0"/>
                        </a:spcAft>
                      </a:pPr>
                      <a:r>
                        <a:rPr sz="1300" b="0">
                          <a:solidFill>
                            <a:srgbClr val="1F1F1F"/>
                          </a:solidFill>
                          <a:latin typeface="Calibri"/>
                        </a:rPr>
                        <a:t>Conflito entre versões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Durante o período de</a:t>
                      </a:r>
                    </a:p>
                    <a:p>
                      <a:pPr algn="l">
                        <a:lnSpc>
                          <a:spcPct val="100000"/>
                        </a:lnSpc>
                        <a:spcBef>
                          <a:spcPts val="0"/>
                        </a:spcBef>
                        <a:spcAft>
                          <a:spcPts val="0"/>
                        </a:spcAft>
                      </a:pPr>
                      <a:r>
                        <a:rPr sz="1300" b="0">
                          <a:solidFill>
                            <a:srgbClr val="1F1F1F"/>
                          </a:solidFill>
                          <a:latin typeface="Calibri"/>
                        </a:rPr>
                        <a:t>investimento, a</a:t>
                      </a:r>
                    </a:p>
                    <a:p>
                      <a:pPr algn="l">
                        <a:lnSpc>
                          <a:spcPct val="100000"/>
                        </a:lnSpc>
                        <a:spcBef>
                          <a:spcPts val="0"/>
                        </a:spcBef>
                        <a:spcAft>
                          <a:spcPts val="0"/>
                        </a:spcAft>
                      </a:pPr>
                      <a:r>
                        <a:rPr sz="1300" b="0">
                          <a:solidFill>
                            <a:srgbClr val="1F1F1F"/>
                          </a:solidFill>
                          <a:latin typeface="Calibri"/>
                        </a:rPr>
                        <a:t>Administradora poderá</a:t>
                      </a:r>
                    </a:p>
                    <a:p>
                      <a:pPr algn="l">
                        <a:lnSpc>
                          <a:spcPct val="100000"/>
                        </a:lnSpc>
                        <a:spcBef>
                          <a:spcPts val="0"/>
                        </a:spcBef>
                        <a:spcAft>
                          <a:spcPts val="0"/>
                        </a:spcAft>
                      </a:pPr>
                      <a:r>
                        <a:rPr sz="1300" b="0">
                          <a:solidFill>
                            <a:srgbClr val="1F1F1F"/>
                          </a:solidFill>
                          <a:latin typeface="Calibri"/>
                        </a:rPr>
                        <a:t>deliberar por realizar</a:t>
                      </a:r>
                    </a:p>
                    <a:p>
                      <a:pPr algn="l">
                        <a:lnSpc>
                          <a:spcPct val="100000"/>
                        </a:lnSpc>
                        <a:spcBef>
                          <a:spcPts val="0"/>
                        </a:spcBef>
                        <a:spcAft>
                          <a:spcPts val="0"/>
                        </a:spcAft>
                      </a:pPr>
                      <a:r>
                        <a:rPr sz="1300" b="0">
                          <a:solidFill>
                            <a:srgbClr val="1F1F1F"/>
                          </a:solidFill>
                          <a:latin typeface="Calibri"/>
                        </a:rPr>
                        <a:t>novas emissões de Cotas</a:t>
                      </a:r>
                    </a:p>
                    <a:p>
                      <a:pPr algn="l">
                        <a:lnSpc>
                          <a:spcPct val="100000"/>
                        </a:lnSpc>
                        <a:spcBef>
                          <a:spcPts val="0"/>
                        </a:spcBef>
                        <a:spcAft>
                          <a:spcPts val="0"/>
                        </a:spcAft>
                      </a:pPr>
                      <a:r>
                        <a:rPr sz="1300" b="0">
                          <a:solidFill>
                            <a:srgbClr val="1F1F1F"/>
                          </a:solidFill>
                          <a:latin typeface="Calibri"/>
                        </a:rPr>
                        <a:t>Seniores, sem a</a:t>
                      </a:r>
                    </a:p>
                    <a:p>
                      <a:pPr algn="l">
                        <a:lnSpc>
                          <a:spcPct val="100000"/>
                        </a:lnSpc>
                        <a:spcBef>
                          <a:spcPts val="0"/>
                        </a:spcBef>
                        <a:spcAft>
                          <a:spcPts val="0"/>
                        </a:spcAft>
                      </a:pPr>
                      <a:r>
                        <a:rPr sz="1300" b="0">
                          <a:solidFill>
                            <a:srgbClr val="1F1F1F"/>
                          </a:solidFill>
                          <a:latin typeface="Calibri"/>
                        </a:rPr>
                        <a:t>necessidade de</a:t>
                      </a:r>
                    </a:p>
                    <a:p>
                      <a:pPr algn="l">
                        <a:lnSpc>
                          <a:spcPct val="100000"/>
                        </a:lnSpc>
                        <a:spcBef>
                          <a:spcPts val="0"/>
                        </a:spcBef>
                        <a:spcAft>
                          <a:spcPts val="0"/>
                        </a:spcAft>
                      </a:pPr>
                      <a:r>
                        <a:rPr sz="1300" b="0">
                          <a:solidFill>
                            <a:srgbClr val="1F1F1F"/>
                          </a:solidFill>
                          <a:latin typeface="Calibri"/>
                        </a:rPr>
                        <a:t>aprovação em Assembleia</a:t>
                      </a:r>
                    </a:p>
                    <a:p>
                      <a:pPr algn="l">
                        <a:lnSpc>
                          <a:spcPct val="100000"/>
                        </a:lnSpc>
                        <a:spcBef>
                          <a:spcPts val="0"/>
                        </a:spcBef>
                        <a:spcAft>
                          <a:spcPts val="0"/>
                        </a:spcAft>
                      </a:pPr>
                      <a:r>
                        <a:rPr sz="1300" b="0">
                          <a:solidFill>
                            <a:srgbClr val="1F1F1F"/>
                          </a:solidFill>
                          <a:latin typeface="Calibri"/>
                        </a:rPr>
                        <a:t>Especial de Cotistas ou</a:t>
                      </a:r>
                    </a:p>
                    <a:p>
                      <a:pPr algn="l">
                        <a:lnSpc>
                          <a:spcPct val="100000"/>
                        </a:lnSpc>
                        <a:spcBef>
                          <a:spcPts val="0"/>
                        </a:spcBef>
                        <a:spcAft>
                          <a:spcPts val="0"/>
                        </a:spcAft>
                      </a:pPr>
                      <a:r>
                        <a:rPr sz="1300" b="0">
                          <a:solidFill>
                            <a:srgbClr val="1F1F1F"/>
                          </a:solidFill>
                          <a:latin typeface="Calibri"/>
                        </a:rPr>
                        <a:t>alteração do</a:t>
                      </a:r>
                    </a:p>
                    <a:p>
                      <a:pPr algn="l">
                        <a:lnSpc>
                          <a:spcPct val="100000"/>
                        </a:lnSpc>
                        <a:spcBef>
                          <a:spcPts val="0"/>
                        </a:spcBef>
                        <a:spcAft>
                          <a:spcPts val="0"/>
                        </a:spcAft>
                      </a:pPr>
                      <a:r>
                        <a:rPr sz="1300" b="0">
                          <a:solidFill>
                            <a:srgbClr val="1F1F1F"/>
                          </a:solidFill>
                          <a:latin typeface="Calibri"/>
                        </a:rPr>
                        <a:t>Regulamento, limitadas</a:t>
                      </a:r>
                    </a:p>
                    <a:p>
                      <a:pPr algn="l">
                        <a:lnSpc>
                          <a:spcPct val="100000"/>
                        </a:lnSpc>
                        <a:spcBef>
                          <a:spcPts val="0"/>
                        </a:spcBef>
                        <a:spcAft>
                          <a:spcPts val="0"/>
                        </a:spcAft>
                      </a:pPr>
                      <a:r>
                        <a:rPr sz="1300" b="0">
                          <a:solidFill>
                            <a:srgbClr val="1F1F1F"/>
                          </a:solidFill>
                          <a:latin typeface="Calibri"/>
                        </a:rPr>
                        <a:t>ao montante máximo de</a:t>
                      </a:r>
                    </a:p>
                    <a:p>
                      <a:pPr algn="l">
                        <a:lnSpc>
                          <a:spcPct val="100000"/>
                        </a:lnSpc>
                        <a:spcBef>
                          <a:spcPts val="0"/>
                        </a:spcBef>
                        <a:spcAft>
                          <a:spcPts val="0"/>
                        </a:spcAft>
                      </a:pPr>
                      <a:r>
                        <a:rPr sz="1300" b="0">
                          <a:solidFill>
                            <a:srgbClr val="1F1F1F"/>
                          </a:solidFill>
                          <a:latin typeface="Calibri"/>
                        </a:rPr>
                        <a:t>R$ 1.000.000 (um bilhão</a:t>
                      </a:r>
                    </a:p>
                    <a:p>
                      <a:pPr algn="l">
                        <a:lnSpc>
                          <a:spcPct val="100000"/>
                        </a:lnSpc>
                        <a:spcBef>
                          <a:spcPts val="0"/>
                        </a:spcBef>
                        <a:spcAft>
                          <a:spcPts val="0"/>
                        </a:spcAft>
                      </a:pPr>
                      <a:r>
                        <a:rPr sz="1300" b="0">
                          <a:solidFill>
                            <a:srgbClr val="1F1F1F"/>
                          </a:solidFill>
                          <a:latin typeface="Calibri"/>
                        </a:rPr>
                        <a:t>de reais) de cotas</a:t>
                      </a:r>
                    </a:p>
                    <a:p>
                      <a:pPr algn="l">
                        <a:lnSpc>
                          <a:spcPct val="100000"/>
                        </a:lnSpc>
                        <a:spcBef>
                          <a:spcPts val="0"/>
                        </a:spcBef>
                        <a:spcAft>
                          <a:spcPts val="0"/>
                        </a:spcAft>
                      </a:pPr>
                      <a:r>
                        <a:rPr sz="1300" b="0">
                          <a:solidFill>
                            <a:srgbClr val="1F1F1F"/>
                          </a:solidFill>
                          <a:latin typeface="Calibri"/>
                        </a:rPr>
                        <a:t>seniores, e o montante</a:t>
                      </a:r>
                    </a:p>
                    <a:p>
                      <a:pPr algn="l">
                        <a:lnSpc>
                          <a:spcPct val="100000"/>
                        </a:lnSpc>
                        <a:spcBef>
                          <a:spcPts val="0"/>
                        </a:spcBef>
                        <a:spcAft>
                          <a:spcPts val="0"/>
                        </a:spcAft>
                      </a:pPr>
                      <a:r>
                        <a:rPr sz="1300" b="0">
                          <a:solidFill>
                            <a:srgbClr val="1F1F1F"/>
                          </a:solidFill>
                          <a:latin typeface="Calibri"/>
                        </a:rPr>
                        <a:t>proporcional para as</a:t>
                      </a:r>
                    </a:p>
                    <a:p>
                      <a:pPr algn="l">
                        <a:lnSpc>
                          <a:spcPct val="100000"/>
                        </a:lnSpc>
                        <a:spcBef>
                          <a:spcPts val="0"/>
                        </a:spcBef>
                        <a:spcAft>
                          <a:spcPts val="0"/>
                        </a:spcAft>
                      </a:pPr>
                      <a:r>
                        <a:rPr sz="1300" b="0">
                          <a:solidFill>
                            <a:srgbClr val="1F1F1F"/>
                          </a:solidFill>
                          <a:latin typeface="Calibri"/>
                        </a:rPr>
                        <a:t>demais Cotas (“Capital</a:t>
                      </a:r>
                    </a:p>
                    <a:p>
                      <a:pPr algn="l">
                        <a:lnSpc>
                          <a:spcPct val="100000"/>
                        </a:lnSpc>
                        <a:spcBef>
                          <a:spcPts val="0"/>
                        </a:spcBef>
                        <a:spcAft>
                          <a:spcPts val="0"/>
                        </a:spcAft>
                      </a:pPr>
                      <a:r>
                        <a:rPr sz="1300" b="0">
                          <a:solidFill>
                            <a:srgbClr val="1F1F1F"/>
                          </a:solidFill>
                          <a:latin typeface="Calibri"/>
                        </a:rPr>
                        <a:t>Autorizado”), desde</a:t>
                      </a:r>
                    </a:p>
                    <a:p>
                      <a:pPr algn="l">
                        <a:lnSpc>
                          <a:spcPct val="100000"/>
                        </a:lnSpc>
                        <a:spcBef>
                          <a:spcPts val="0"/>
                        </a:spcBef>
                        <a:spcAft>
                          <a:spcPts val="0"/>
                        </a:spcAft>
                      </a:pPr>
                      <a:r>
                        <a:rPr sz="1300" b="0">
                          <a:solidFill>
                            <a:srgbClr val="1F1F1F"/>
                          </a:solidFill>
                          <a:latin typeface="Calibri"/>
                        </a:rPr>
                        <a:t>que: (a) não esteja em</a:t>
                      </a:r>
                    </a:p>
                    <a:p>
                      <a:pPr algn="l">
                        <a:lnSpc>
                          <a:spcPct val="100000"/>
                        </a:lnSpc>
                        <a:spcBef>
                          <a:spcPts val="0"/>
                        </a:spcBef>
                        <a:spcAft>
                          <a:spcPts val="0"/>
                        </a:spcAft>
                      </a:pPr>
                      <a:r>
                        <a:rPr sz="1300" b="0">
                          <a:solidFill>
                            <a:srgbClr val="1F1F1F"/>
                          </a:solidFill>
                          <a:latin typeface="Calibri"/>
                        </a:rPr>
                        <a:t>curso um evento de</a:t>
                      </a:r>
                    </a:p>
                    <a:p>
                      <a:pPr algn="l">
                        <a:lnSpc>
                          <a:spcPct val="100000"/>
                        </a:lnSpc>
                        <a:spcBef>
                          <a:spcPts val="0"/>
                        </a:spcBef>
                        <a:spcAft>
                          <a:spcPts val="0"/>
                        </a:spcAft>
                      </a:pPr>
                      <a:r>
                        <a:rPr sz="1300" b="0">
                          <a:solidFill>
                            <a:srgbClr val="1F1F1F"/>
                          </a:solidFill>
                          <a:latin typeface="Calibri"/>
                        </a:rPr>
                        <a:t>avaliação e/ou evento</a:t>
                      </a:r>
                    </a:p>
                    <a:p>
                      <a:pPr algn="l">
                        <a:lnSpc>
                          <a:spcPct val="100000"/>
                        </a:lnSpc>
                        <a:spcBef>
                          <a:spcPts val="0"/>
                        </a:spcBef>
                        <a:spcAft>
                          <a:spcPts val="0"/>
                        </a:spcAft>
                      </a:pPr>
                      <a:r>
                        <a:rPr sz="1300" b="0">
                          <a:solidFill>
                            <a:srgbClr val="1F1F1F"/>
                          </a:solidFill>
                          <a:latin typeface="Calibri"/>
                        </a:rPr>
                        <a:t>de liquidação; (b) a</a:t>
                      </a:r>
                    </a:p>
                    <a:p>
                      <a:pPr algn="l">
                        <a:lnSpc>
                          <a:spcPct val="100000"/>
                        </a:lnSpc>
                        <a:spcBef>
                          <a:spcPts val="0"/>
                        </a:spcBef>
                        <a:spcAft>
                          <a:spcPts val="0"/>
                        </a:spcAft>
                      </a:pPr>
                      <a:r>
                        <a:rPr sz="1300" b="0">
                          <a:solidFill>
                            <a:srgbClr val="1F1F1F"/>
                          </a:solidFill>
                          <a:latin typeface="Calibri"/>
                        </a:rPr>
                        <a:t>emissão pretendida não</a:t>
                      </a:r>
                    </a:p>
                    <a:p>
                      <a:pPr algn="l">
                        <a:lnSpc>
                          <a:spcPct val="100000"/>
                        </a:lnSpc>
                        <a:spcBef>
                          <a:spcPts val="0"/>
                        </a:spcBef>
                        <a:spcAft>
                          <a:spcPts val="0"/>
                        </a:spcAft>
                      </a:pPr>
                      <a:r>
                        <a:rPr sz="1300" b="0">
                          <a:solidFill>
                            <a:srgbClr val="1F1F1F"/>
                          </a:solidFill>
                          <a:latin typeface="Calibri"/>
                        </a:rPr>
                        <a:t>acarrete o</a:t>
                      </a:r>
                    </a:p>
                    <a:p>
                      <a:pPr algn="l">
                        <a:lnSpc>
                          <a:spcPct val="100000"/>
                        </a:lnSpc>
                        <a:spcBef>
                          <a:spcPts val="0"/>
                        </a:spcBef>
                        <a:spcAft>
                          <a:spcPts val="0"/>
                        </a:spcAft>
                      </a:pPr>
                      <a:r>
                        <a:rPr sz="1300" b="0">
                          <a:solidFill>
                            <a:srgbClr val="1F1F1F"/>
                          </a:solidFill>
                          <a:latin typeface="Calibri"/>
                        </a:rPr>
                        <a:t>desenquadramento do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20/03/2026: reforma</a:t>
                      </a:r>
                    </a:p>
                    <a:p>
                      <a:pPr algn="l">
                        <a:lnSpc>
                          <a:spcPct val="100000"/>
                        </a:lnSpc>
                        <a:spcBef>
                          <a:spcPts val="0"/>
                        </a:spcBef>
                        <a:spcAft>
                          <a:spcPts val="0"/>
                        </a:spcAft>
                      </a:pPr>
                      <a:r>
                        <a:rPr sz="1300" b="0">
                          <a:solidFill>
                            <a:srgbClr val="1F1F1F"/>
                          </a:solidFill>
                          <a:latin typeface="Calibri"/>
                        </a:rPr>
                        <a:t>integral para FIAGRO;</a:t>
                      </a:r>
                    </a:p>
                    <a:p>
                      <a:pPr algn="l">
                        <a:lnSpc>
                          <a:spcPct val="100000"/>
                        </a:lnSpc>
                        <a:spcBef>
                          <a:spcPts val="0"/>
                        </a:spcBef>
                        <a:spcAft>
                          <a:spcPts val="0"/>
                        </a:spcAft>
                      </a:pPr>
                      <a:r>
                        <a:rPr sz="1300" b="0">
                          <a:solidFill>
                            <a:srgbClr val="1F1F1F"/>
                          </a:solidFill>
                          <a:latin typeface="Calibri"/>
                        </a:rPr>
                        <a:t>amplia mandato para</a:t>
                      </a:r>
                    </a:p>
                    <a:p>
                      <a:pPr algn="l">
                        <a:lnSpc>
                          <a:spcPct val="100000"/>
                        </a:lnSpc>
                        <a:spcBef>
                          <a:spcPts val="0"/>
                        </a:spcBef>
                        <a:spcAft>
                          <a:spcPts val="0"/>
                        </a:spcAft>
                      </a:pPr>
                      <a:r>
                        <a:rPr sz="1300" b="0">
                          <a:solidFill>
                            <a:srgbClr val="1F1F1F"/>
                          </a:solidFill>
                          <a:latin typeface="Calibri"/>
                        </a:rPr>
                        <a:t>direitos, imóveis,</a:t>
                      </a:r>
                    </a:p>
                    <a:p>
                      <a:pPr algn="l">
                        <a:lnSpc>
                          <a:spcPct val="100000"/>
                        </a:lnSpc>
                        <a:spcBef>
                          <a:spcPts val="0"/>
                        </a:spcBef>
                        <a:spcAft>
                          <a:spcPts val="0"/>
                        </a:spcAft>
                      </a:pPr>
                      <a:r>
                        <a:rPr sz="1300" b="0">
                          <a:solidFill>
                            <a:srgbClr val="1F1F1F"/>
                          </a:solidFill>
                          <a:latin typeface="Calibri"/>
                        </a:rPr>
                        <a:t>participações e ativos</a:t>
                      </a:r>
                    </a:p>
                    <a:p>
                      <a:pPr algn="l">
                        <a:lnSpc>
                          <a:spcPct val="100000"/>
                        </a:lnSpc>
                        <a:spcBef>
                          <a:spcPts val="0"/>
                        </a:spcBef>
                        <a:spcAft>
                          <a:spcPts val="0"/>
                        </a:spcAft>
                      </a:pPr>
                      <a:r>
                        <a:rPr sz="1300" b="0">
                          <a:solidFill>
                            <a:srgbClr val="1F1F1F"/>
                          </a:solidFill>
                          <a:latin typeface="Calibri"/>
                        </a:rPr>
                        <a:t>financeiros do</a:t>
                      </a:r>
                    </a:p>
                    <a:p>
                      <a:pPr algn="l">
                        <a:lnSpc>
                          <a:spcPct val="100000"/>
                        </a:lnSpc>
                        <a:spcBef>
                          <a:spcPts val="0"/>
                        </a:spcBef>
                        <a:spcAft>
                          <a:spcPts val="0"/>
                        </a:spcAft>
                      </a:pPr>
                      <a:r>
                        <a:rPr sz="1300" b="0">
                          <a:solidFill>
                            <a:srgbClr val="1F1F1F"/>
                          </a:solidFill>
                          <a:latin typeface="Calibri"/>
                        </a:rPr>
                        <a:t>agronegócio, inclui</a:t>
                      </a:r>
                    </a:p>
                    <a:p>
                      <a:pPr algn="l">
                        <a:lnSpc>
                          <a:spcPct val="100000"/>
                        </a:lnSpc>
                        <a:spcBef>
                          <a:spcPts val="0"/>
                        </a:spcBef>
                        <a:spcAft>
                          <a:spcPts val="0"/>
                        </a:spcAft>
                      </a:pPr>
                      <a:r>
                        <a:rPr sz="1300" b="0">
                          <a:solidFill>
                            <a:srgbClr val="1F1F1F"/>
                          </a:solidFill>
                          <a:latin typeface="Calibri"/>
                        </a:rPr>
                        <a:t>cogestora e recompra de</a:t>
                      </a:r>
                    </a:p>
                    <a:p>
                      <a:pPr algn="l">
                        <a:lnSpc>
                          <a:spcPct val="100000"/>
                        </a:lnSpc>
                        <a:spcBef>
                          <a:spcPts val="0"/>
                        </a:spcBef>
                        <a:spcAft>
                          <a:spcPts val="0"/>
                        </a:spcAft>
                      </a:pPr>
                      <a:r>
                        <a:rPr sz="1300" b="0">
                          <a:solidFill>
                            <a:srgbClr val="1F1F1F"/>
                          </a:solidFill>
                          <a:latin typeface="Calibri"/>
                        </a:rPr>
                        <a:t>cotas. Vigência no</a:t>
                      </a:r>
                    </a:p>
                    <a:p>
                      <a:pPr algn="l">
                        <a:lnSpc>
                          <a:spcPct val="100000"/>
                        </a:lnSpc>
                        <a:spcBef>
                          <a:spcPts val="0"/>
                        </a:spcBef>
                        <a:spcAft>
                          <a:spcPts val="0"/>
                        </a:spcAft>
                      </a:pPr>
                      <a:r>
                        <a:rPr sz="1300" b="0">
                          <a:solidFill>
                            <a:srgbClr val="1F1F1F"/>
                          </a:solidFill>
                          <a:latin typeface="Calibri"/>
                        </a:rPr>
                        <a:t>fechamento de</a:t>
                      </a:r>
                    </a:p>
                    <a:p>
                      <a:pPr algn="l">
                        <a:lnSpc>
                          <a:spcPct val="100000"/>
                        </a:lnSpc>
                        <a:spcBef>
                          <a:spcPts val="0"/>
                        </a:spcBef>
                        <a:spcAft>
                          <a:spcPts val="0"/>
                        </a:spcAft>
                      </a:pPr>
                      <a:r>
                        <a:rPr sz="1300" b="0">
                          <a:solidFill>
                            <a:srgbClr val="1F1F1F"/>
                          </a:solidFill>
                          <a:latin typeface="Calibri"/>
                        </a:rPr>
                        <a:t>23/03/2026. Em</a:t>
                      </a:r>
                    </a:p>
                    <a:p>
                      <a:pPr algn="l">
                        <a:lnSpc>
                          <a:spcPct val="100000"/>
                        </a:lnSpc>
                        <a:spcBef>
                          <a:spcPts val="0"/>
                        </a:spcBef>
                        <a:spcAft>
                          <a:spcPts val="0"/>
                        </a:spcAft>
                      </a:pPr>
                      <a:r>
                        <a:rPr sz="1300" b="0">
                          <a:solidFill>
                            <a:srgbClr val="1F1F1F"/>
                          </a:solidFill>
                          <a:latin typeface="Calibri"/>
                        </a:rPr>
                        <a:t>27/03/2026, nova</a:t>
                      </a:r>
                    </a:p>
                    <a:p>
                      <a:pPr algn="l">
                        <a:lnSpc>
                          <a:spcPct val="100000"/>
                        </a:lnSpc>
                        <a:spcBef>
                          <a:spcPts val="0"/>
                        </a:spcBef>
                        <a:spcAft>
                          <a:spcPts val="0"/>
                        </a:spcAft>
                      </a:pPr>
                      <a:r>
                        <a:rPr sz="1300" b="0">
                          <a:solidFill>
                            <a:srgbClr val="1F1F1F"/>
                          </a:solidFill>
                          <a:latin typeface="Calibri"/>
                        </a:rPr>
                        <a:t>emissão privada sênior</a:t>
                      </a:r>
                    </a:p>
                    <a:p>
                      <a:pPr algn="l">
                        <a:lnSpc>
                          <a:spcPct val="100000"/>
                        </a:lnSpc>
                        <a:spcBef>
                          <a:spcPts val="0"/>
                        </a:spcBef>
                        <a:spcAft>
                          <a:spcPts val="0"/>
                        </a:spcAft>
                      </a:pPr>
                      <a:r>
                        <a:rPr sz="1300" b="0">
                          <a:solidFill>
                            <a:srgbClr val="1F1F1F"/>
                          </a:solidFill>
                          <a:latin typeface="Calibri"/>
                        </a:rPr>
                        <a:t>de até R$ 150 milhões e</a:t>
                      </a:r>
                    </a:p>
                    <a:p>
                      <a:pPr algn="l">
                        <a:lnSpc>
                          <a:spcPct val="100000"/>
                        </a:lnSpc>
                        <a:spcBef>
                          <a:spcPts val="0"/>
                        </a:spcBef>
                        <a:spcAft>
                          <a:spcPts val="0"/>
                        </a:spcAft>
                      </a:pPr>
                      <a:r>
                        <a:rPr sz="1300" b="0">
                          <a:solidFill>
                            <a:srgbClr val="1F1F1F"/>
                          </a:solidFill>
                          <a:latin typeface="Calibri"/>
                        </a:rPr>
                        <a:t>júnior de até R$ 20</a:t>
                      </a:r>
                    </a:p>
                    <a:p>
                      <a:pPr algn="l">
                        <a:lnSpc>
                          <a:spcPct val="100000"/>
                        </a:lnSpc>
                        <a:spcBef>
                          <a:spcPts val="0"/>
                        </a:spcBef>
                        <a:spcAft>
                          <a:spcPts val="0"/>
                        </a:spcAft>
                      </a:pPr>
                      <a:r>
                        <a:rPr sz="1300" b="0">
                          <a:solidFill>
                            <a:srgbClr val="1F1F1F"/>
                          </a:solidFill>
                          <a:latin typeface="Calibri"/>
                        </a:rPr>
                        <a:t>milhões; saldos não</a:t>
                      </a:r>
                    </a:p>
                    <a:p>
                      <a:pPr algn="l">
                        <a:lnSpc>
                          <a:spcPct val="100000"/>
                        </a:lnSpc>
                        <a:spcBef>
                          <a:spcPts val="0"/>
                        </a:spcBef>
                        <a:spcAft>
                          <a:spcPts val="0"/>
                        </a:spcAft>
                      </a:pPr>
                      <a:r>
                        <a:rPr sz="1300" b="0">
                          <a:solidFill>
                            <a:srgbClr val="1F1F1F"/>
                          </a:solidFill>
                          <a:latin typeface="Calibri"/>
                        </a:rPr>
                        <a:t>colocados anteriores</a:t>
                      </a:r>
                    </a:p>
                    <a:p>
                      <a:pPr algn="l">
                        <a:lnSpc>
                          <a:spcPct val="100000"/>
                        </a:lnSpc>
                        <a:spcBef>
                          <a:spcPts val="0"/>
                        </a:spcBef>
                        <a:spcAft>
                          <a:spcPts val="0"/>
                        </a:spcAft>
                      </a:pPr>
                      <a:r>
                        <a:rPr sz="1300" b="0">
                          <a:solidFill>
                            <a:srgbClr val="1F1F1F"/>
                          </a:solidFill>
                          <a:latin typeface="Calibri"/>
                        </a:rPr>
                        <a:t>cancelados.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107/160</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Governança e alterações</a:t>
            </a:r>
          </a:p>
        </p:txBody>
      </p:sp>
      <p:graphicFrame>
        <p:nvGraphicFramePr>
          <p:cNvPr id="3" name="Table 2"/>
          <p:cNvGraphicFramePr>
            <a:graphicFrameLocks noGrp="1"/>
          </p:cNvGraphicFramePr>
          <p:nvPr/>
        </p:nvGraphicFramePr>
        <p:xfrm>
          <a:off x="438912" y="932688"/>
          <a:ext cx="11313868" cy="5253228"/>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4782312">
                <a:tc>
                  <a:txBody>
                    <a:bodyPr wrap="square">
                      <a:noAutofit/>
                    </a:bodyPr>
                    <a:lstStyle/>
                    <a:p>
                      <a:pPr algn="l">
                        <a:lnSpc>
                          <a:spcPct val="100000"/>
                        </a:lnSpc>
                        <a:spcBef>
                          <a:spcPts val="0"/>
                        </a:spcBef>
                        <a:spcAft>
                          <a:spcPts val="0"/>
                        </a:spcAft>
                      </a:pPr>
                      <a:r>
                        <a:rPr sz="1300" b="1">
                          <a:solidFill>
                            <a:srgbClr val="1F1F1F"/>
                          </a:solidFill>
                          <a:latin typeface="Calibri"/>
                        </a:rPr>
                        <a:t>Histórico de alterações</a:t>
                      </a:r>
                    </a:p>
                    <a:p>
                      <a:pPr algn="l">
                        <a:lnSpc>
                          <a:spcPct val="100000"/>
                        </a:lnSpc>
                        <a:spcBef>
                          <a:spcPts val="0"/>
                        </a:spcBef>
                        <a:spcAft>
                          <a:spcPts val="0"/>
                        </a:spcAft>
                      </a:pPr>
                      <a:r>
                        <a:rPr sz="1300" b="1">
                          <a:solidFill>
                            <a:srgbClr val="1F1F1F"/>
                          </a:solidFill>
                          <a:latin typeface="Calibri"/>
                        </a:rPr>
                        <a:t>materiais (continuação)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índice de</a:t>
                      </a:r>
                    </a:p>
                    <a:p>
                      <a:pPr algn="l">
                        <a:lnSpc>
                          <a:spcPct val="100000"/>
                        </a:lnSpc>
                        <a:spcBef>
                          <a:spcPts val="0"/>
                        </a:spcBef>
                        <a:spcAft>
                          <a:spcPts val="0"/>
                        </a:spcAft>
                      </a:pPr>
                      <a:r>
                        <a:rPr sz="1300" b="0">
                          <a:solidFill>
                            <a:srgbClr val="1F1F1F"/>
                          </a:solidFill>
                          <a:latin typeface="Calibri"/>
                        </a:rPr>
                        <a:t>subordinação;.</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Durante o período de</a:t>
                      </a:r>
                    </a:p>
                    <a:p>
                      <a:pPr algn="l">
                        <a:lnSpc>
                          <a:spcPct val="100000"/>
                        </a:lnSpc>
                        <a:spcBef>
                          <a:spcPts val="0"/>
                        </a:spcBef>
                        <a:spcAft>
                          <a:spcPts val="0"/>
                        </a:spcAft>
                      </a:pPr>
                      <a:r>
                        <a:rPr sz="1300" b="0">
                          <a:solidFill>
                            <a:srgbClr val="1F1F1F"/>
                          </a:solidFill>
                          <a:latin typeface="Calibri"/>
                        </a:rPr>
                        <a:t>investimento, a</a:t>
                      </a:r>
                    </a:p>
                    <a:p>
                      <a:pPr algn="l">
                        <a:lnSpc>
                          <a:spcPct val="100000"/>
                        </a:lnSpc>
                        <a:spcBef>
                          <a:spcPts val="0"/>
                        </a:spcBef>
                        <a:spcAft>
                          <a:spcPts val="0"/>
                        </a:spcAft>
                      </a:pPr>
                      <a:r>
                        <a:rPr sz="1300" b="0">
                          <a:solidFill>
                            <a:srgbClr val="1F1F1F"/>
                          </a:solidFill>
                          <a:latin typeface="Calibri"/>
                        </a:rPr>
                        <a:t>Administradora poderá</a:t>
                      </a:r>
                    </a:p>
                    <a:p>
                      <a:pPr algn="l">
                        <a:lnSpc>
                          <a:spcPct val="100000"/>
                        </a:lnSpc>
                        <a:spcBef>
                          <a:spcPts val="0"/>
                        </a:spcBef>
                        <a:spcAft>
                          <a:spcPts val="0"/>
                        </a:spcAft>
                      </a:pPr>
                      <a:r>
                        <a:rPr sz="1300" b="0">
                          <a:solidFill>
                            <a:srgbClr val="1F1F1F"/>
                          </a:solidFill>
                          <a:latin typeface="Calibri"/>
                        </a:rPr>
                        <a:t>deliberar por realizar</a:t>
                      </a:r>
                    </a:p>
                    <a:p>
                      <a:pPr algn="l">
                        <a:lnSpc>
                          <a:spcPct val="100000"/>
                        </a:lnSpc>
                        <a:spcBef>
                          <a:spcPts val="0"/>
                        </a:spcBef>
                        <a:spcAft>
                          <a:spcPts val="0"/>
                        </a:spcAft>
                      </a:pPr>
                      <a:r>
                        <a:rPr sz="1300" b="0">
                          <a:solidFill>
                            <a:srgbClr val="1F1F1F"/>
                          </a:solidFill>
                          <a:latin typeface="Calibri"/>
                        </a:rPr>
                        <a:t>novas emissões de cotas</a:t>
                      </a:r>
                    </a:p>
                    <a:p>
                      <a:pPr algn="l">
                        <a:lnSpc>
                          <a:spcPct val="100000"/>
                        </a:lnSpc>
                        <a:spcBef>
                          <a:spcPts val="0"/>
                        </a:spcBef>
                        <a:spcAft>
                          <a:spcPts val="0"/>
                        </a:spcAft>
                      </a:pPr>
                      <a:r>
                        <a:rPr sz="1300" b="0">
                          <a:solidFill>
                            <a:srgbClr val="1F1F1F"/>
                          </a:solidFill>
                          <a:latin typeface="Calibri"/>
                        </a:rPr>
                        <a:t>subordinadas, sem a</a:t>
                      </a:r>
                    </a:p>
                    <a:p>
                      <a:pPr algn="l">
                        <a:lnSpc>
                          <a:spcPct val="100000"/>
                        </a:lnSpc>
                        <a:spcBef>
                          <a:spcPts val="0"/>
                        </a:spcBef>
                        <a:spcAft>
                          <a:spcPts val="0"/>
                        </a:spcAft>
                      </a:pPr>
                      <a:r>
                        <a:rPr sz="1300" b="0">
                          <a:solidFill>
                            <a:srgbClr val="1F1F1F"/>
                          </a:solidFill>
                          <a:latin typeface="Calibri"/>
                        </a:rPr>
                        <a:t>necessidade de</a:t>
                      </a:r>
                    </a:p>
                    <a:p>
                      <a:pPr algn="l">
                        <a:lnSpc>
                          <a:spcPct val="100000"/>
                        </a:lnSpc>
                        <a:spcBef>
                          <a:spcPts val="0"/>
                        </a:spcBef>
                        <a:spcAft>
                          <a:spcPts val="0"/>
                        </a:spcAft>
                      </a:pPr>
                      <a:r>
                        <a:rPr sz="1300" b="0">
                          <a:solidFill>
                            <a:srgbClr val="1F1F1F"/>
                          </a:solidFill>
                          <a:latin typeface="Calibri"/>
                        </a:rPr>
                        <a:t>aprovação em Assembleia</a:t>
                      </a:r>
                    </a:p>
                    <a:p>
                      <a:pPr algn="l">
                        <a:lnSpc>
                          <a:spcPct val="100000"/>
                        </a:lnSpc>
                        <a:spcBef>
                          <a:spcPts val="0"/>
                        </a:spcBef>
                        <a:spcAft>
                          <a:spcPts val="0"/>
                        </a:spcAft>
                      </a:pPr>
                      <a:r>
                        <a:rPr sz="1300" b="0">
                          <a:solidFill>
                            <a:srgbClr val="1F1F1F"/>
                          </a:solidFill>
                          <a:latin typeface="Calibri"/>
                        </a:rPr>
                        <a:t>Especial de Cotistas ou</a:t>
                      </a:r>
                    </a:p>
                    <a:p>
                      <a:pPr algn="l">
                        <a:lnSpc>
                          <a:spcPct val="100000"/>
                        </a:lnSpc>
                        <a:spcBef>
                          <a:spcPts val="0"/>
                        </a:spcBef>
                        <a:spcAft>
                          <a:spcPts val="0"/>
                        </a:spcAft>
                      </a:pPr>
                      <a:r>
                        <a:rPr sz="1300" b="0">
                          <a:solidFill>
                            <a:srgbClr val="1F1F1F"/>
                          </a:solidFill>
                          <a:latin typeface="Calibri"/>
                        </a:rPr>
                        <a:t>alteração do</a:t>
                      </a:r>
                    </a:p>
                    <a:p>
                      <a:pPr algn="l">
                        <a:lnSpc>
                          <a:spcPct val="100000"/>
                        </a:lnSpc>
                        <a:spcBef>
                          <a:spcPts val="0"/>
                        </a:spcBef>
                        <a:spcAft>
                          <a:spcPts val="0"/>
                        </a:spcAft>
                      </a:pPr>
                      <a:r>
                        <a:rPr sz="1300" b="0">
                          <a:solidFill>
                            <a:srgbClr val="1F1F1F"/>
                          </a:solidFill>
                          <a:latin typeface="Calibri"/>
                        </a:rPr>
                        <a:t>Regulamento, limitadas</a:t>
                      </a:r>
                    </a:p>
                    <a:p>
                      <a:pPr algn="l">
                        <a:lnSpc>
                          <a:spcPct val="100000"/>
                        </a:lnSpc>
                        <a:spcBef>
                          <a:spcPts val="0"/>
                        </a:spcBef>
                        <a:spcAft>
                          <a:spcPts val="0"/>
                        </a:spcAft>
                      </a:pPr>
                      <a:r>
                        <a:rPr sz="1300" b="0">
                          <a:solidFill>
                            <a:srgbClr val="1F1F1F"/>
                          </a:solidFill>
                          <a:latin typeface="Calibri"/>
                        </a:rPr>
                        <a:t>ao montante máximo de</a:t>
                      </a:r>
                    </a:p>
                    <a:p>
                      <a:pPr algn="l">
                        <a:lnSpc>
                          <a:spcPct val="100000"/>
                        </a:lnSpc>
                        <a:spcBef>
                          <a:spcPts val="0"/>
                        </a:spcBef>
                        <a:spcAft>
                          <a:spcPts val="0"/>
                        </a:spcAft>
                      </a:pPr>
                      <a:r>
                        <a:rPr sz="1300" b="0">
                          <a:solidFill>
                            <a:srgbClr val="1F1F1F"/>
                          </a:solidFill>
                          <a:latin typeface="Calibri"/>
                        </a:rPr>
                        <a:t>R$ 50.000 (cinquenta</a:t>
                      </a:r>
                    </a:p>
                    <a:p>
                      <a:pPr algn="l">
                        <a:lnSpc>
                          <a:spcPct val="100000"/>
                        </a:lnSpc>
                        <a:spcBef>
                          <a:spcPts val="0"/>
                        </a:spcBef>
                        <a:spcAft>
                          <a:spcPts val="0"/>
                        </a:spcAft>
                      </a:pPr>
                      <a:r>
                        <a:rPr sz="1300" b="0">
                          <a:solidFill>
                            <a:srgbClr val="1F1F1F"/>
                          </a:solidFill>
                          <a:latin typeface="Calibri"/>
                        </a:rPr>
                        <a:t>milhões de reais) de</a:t>
                      </a:r>
                    </a:p>
                    <a:p>
                      <a:pPr algn="l">
                        <a:lnSpc>
                          <a:spcPct val="100000"/>
                        </a:lnSpc>
                        <a:spcBef>
                          <a:spcPts val="0"/>
                        </a:spcBef>
                        <a:spcAft>
                          <a:spcPts val="0"/>
                        </a:spcAft>
                      </a:pPr>
                      <a:r>
                        <a:rPr sz="1300" b="0">
                          <a:solidFill>
                            <a:srgbClr val="1F1F1F"/>
                          </a:solidFill>
                          <a:latin typeface="Calibri"/>
                        </a:rPr>
                        <a:t>cotas seniores, e o</a:t>
                      </a:r>
                    </a:p>
                    <a:p>
                      <a:pPr algn="l">
                        <a:lnSpc>
                          <a:spcPct val="100000"/>
                        </a:lnSpc>
                        <a:spcBef>
                          <a:spcPts val="0"/>
                        </a:spcBef>
                        <a:spcAft>
                          <a:spcPts val="0"/>
                        </a:spcAft>
                      </a:pPr>
                      <a:r>
                        <a:rPr sz="1300" b="0">
                          <a:solidFill>
                            <a:srgbClr val="1F1F1F"/>
                          </a:solidFill>
                          <a:latin typeface="Calibri"/>
                        </a:rPr>
                        <a:t>montante proporcional</a:t>
                      </a:r>
                    </a:p>
                    <a:p>
                      <a:pPr algn="l">
                        <a:lnSpc>
                          <a:spcPct val="100000"/>
                        </a:lnSpc>
                        <a:spcBef>
                          <a:spcPts val="0"/>
                        </a:spcBef>
                        <a:spcAft>
                          <a:spcPts val="0"/>
                        </a:spcAft>
                      </a:pPr>
                      <a:r>
                        <a:rPr sz="1300" b="0">
                          <a:solidFill>
                            <a:srgbClr val="1F1F1F"/>
                          </a:solidFill>
                          <a:latin typeface="Calibri"/>
                        </a:rPr>
                        <a:t>para as demais Cotas</a:t>
                      </a:r>
                    </a:p>
                    <a:p>
                      <a:pPr algn="l">
                        <a:lnSpc>
                          <a:spcPct val="100000"/>
                        </a:lnSpc>
                        <a:spcBef>
                          <a:spcPts val="0"/>
                        </a:spcBef>
                        <a:spcAft>
                          <a:spcPts val="0"/>
                        </a:spcAft>
                      </a:pPr>
                      <a:r>
                        <a:rPr sz="1300" b="0">
                          <a:solidFill>
                            <a:srgbClr val="1F1F1F"/>
                          </a:solidFill>
                          <a:latin typeface="Calibri"/>
                        </a:rPr>
                        <a:t>(“Capital Autorizado”),</a:t>
                      </a:r>
                    </a:p>
                    <a:p>
                      <a:pPr algn="l">
                        <a:lnSpc>
                          <a:spcPct val="100000"/>
                        </a:lnSpc>
                        <a:spcBef>
                          <a:spcPts val="0"/>
                        </a:spcBef>
                        <a:spcAft>
                          <a:spcPts val="0"/>
                        </a:spcAft>
                      </a:pPr>
                      <a:r>
                        <a:rPr sz="1300" b="0">
                          <a:solidFill>
                            <a:srgbClr val="1F1F1F"/>
                          </a:solidFill>
                          <a:latin typeface="Calibri"/>
                        </a:rPr>
                        <a:t>desde que: (a) não</a:t>
                      </a:r>
                    </a:p>
                    <a:p>
                      <a:pPr algn="l">
                        <a:lnSpc>
                          <a:spcPct val="100000"/>
                        </a:lnSpc>
                        <a:spcBef>
                          <a:spcPts val="0"/>
                        </a:spcBef>
                        <a:spcAft>
                          <a:spcPts val="0"/>
                        </a:spcAft>
                      </a:pPr>
                      <a:r>
                        <a:rPr sz="1300" b="0">
                          <a:solidFill>
                            <a:srgbClr val="1F1F1F"/>
                          </a:solidFill>
                          <a:latin typeface="Calibri"/>
                        </a:rPr>
                        <a:t>esteja em curso um</a:t>
                      </a:r>
                    </a:p>
                    <a:p>
                      <a:pPr algn="l">
                        <a:lnSpc>
                          <a:spcPct val="100000"/>
                        </a:lnSpc>
                        <a:spcBef>
                          <a:spcPts val="0"/>
                        </a:spcBef>
                        <a:spcAft>
                          <a:spcPts val="0"/>
                        </a:spcAft>
                      </a:pPr>
                      <a:r>
                        <a:rPr sz="1300" b="0">
                          <a:solidFill>
                            <a:srgbClr val="1F1F1F"/>
                          </a:solidFill>
                          <a:latin typeface="Calibri"/>
                        </a:rPr>
                        <a:t>evento de avaliação</a:t>
                      </a:r>
                    </a:p>
                    <a:p>
                      <a:pPr algn="l">
                        <a:lnSpc>
                          <a:spcPct val="100000"/>
                        </a:lnSpc>
                        <a:spcBef>
                          <a:spcPts val="0"/>
                        </a:spcBef>
                        <a:spcAft>
                          <a:spcPts val="0"/>
                        </a:spcAft>
                      </a:pPr>
                      <a:r>
                        <a:rPr sz="1300" b="0">
                          <a:solidFill>
                            <a:srgbClr val="1F1F1F"/>
                          </a:solidFill>
                          <a:latin typeface="Calibri"/>
                        </a:rPr>
                        <a:t>e/ou evento de</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108/160</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Governança e alterações</a:t>
            </a:r>
          </a:p>
        </p:txBody>
      </p:sp>
      <p:graphicFrame>
        <p:nvGraphicFramePr>
          <p:cNvPr id="3" name="Table 2"/>
          <p:cNvGraphicFramePr>
            <a:graphicFrameLocks noGrp="1"/>
          </p:cNvGraphicFramePr>
          <p:nvPr/>
        </p:nvGraphicFramePr>
        <p:xfrm>
          <a:off x="438912" y="932688"/>
          <a:ext cx="11313868" cy="1691640"/>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1220724">
                <a:tc>
                  <a:txBody>
                    <a:bodyPr wrap="square">
                      <a:noAutofit/>
                    </a:bodyPr>
                    <a:lstStyle/>
                    <a:p>
                      <a:pPr algn="l">
                        <a:lnSpc>
                          <a:spcPct val="100000"/>
                        </a:lnSpc>
                        <a:spcBef>
                          <a:spcPts val="0"/>
                        </a:spcBef>
                        <a:spcAft>
                          <a:spcPts val="0"/>
                        </a:spcAft>
                      </a:pPr>
                      <a:r>
                        <a:rPr sz="1300" b="1">
                          <a:solidFill>
                            <a:srgbClr val="1F1F1F"/>
                          </a:solidFill>
                          <a:latin typeface="Calibri"/>
                        </a:rPr>
                        <a:t>Histórico de alterações</a:t>
                      </a:r>
                    </a:p>
                    <a:p>
                      <a:pPr algn="l">
                        <a:lnSpc>
                          <a:spcPct val="100000"/>
                        </a:lnSpc>
                        <a:spcBef>
                          <a:spcPts val="0"/>
                        </a:spcBef>
                        <a:spcAft>
                          <a:spcPts val="0"/>
                        </a:spcAft>
                      </a:pPr>
                      <a:r>
                        <a:rPr sz="1300" b="1">
                          <a:solidFill>
                            <a:srgbClr val="1F1F1F"/>
                          </a:solidFill>
                          <a:latin typeface="Calibri"/>
                        </a:rPr>
                        <a:t>materiais (continuação)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liquidação; (b) a</a:t>
                      </a:r>
                    </a:p>
                    <a:p>
                      <a:pPr algn="l">
                        <a:lnSpc>
                          <a:spcPct val="100000"/>
                        </a:lnSpc>
                        <a:spcBef>
                          <a:spcPts val="0"/>
                        </a:spcBef>
                        <a:spcAft>
                          <a:spcPts val="0"/>
                        </a:spcAft>
                      </a:pPr>
                      <a:r>
                        <a:rPr sz="1300" b="0">
                          <a:solidFill>
                            <a:srgbClr val="1F1F1F"/>
                          </a:solidFill>
                          <a:latin typeface="Calibri"/>
                        </a:rPr>
                        <a:t>emissão pretendida não</a:t>
                      </a:r>
                    </a:p>
                    <a:p>
                      <a:pPr algn="l">
                        <a:lnSpc>
                          <a:spcPct val="100000"/>
                        </a:lnSpc>
                        <a:spcBef>
                          <a:spcPts val="0"/>
                        </a:spcBef>
                        <a:spcAft>
                          <a:spcPts val="0"/>
                        </a:spcAft>
                      </a:pPr>
                      <a:r>
                        <a:rPr sz="1300" b="0">
                          <a:solidFill>
                            <a:srgbClr val="1F1F1F"/>
                          </a:solidFill>
                          <a:latin typeface="Calibri"/>
                        </a:rPr>
                        <a:t>acarrete o</a:t>
                      </a:r>
                    </a:p>
                    <a:p>
                      <a:pPr algn="l">
                        <a:lnSpc>
                          <a:spcPct val="100000"/>
                        </a:lnSpc>
                        <a:spcBef>
                          <a:spcPts val="0"/>
                        </a:spcBef>
                        <a:spcAft>
                          <a:spcPts val="0"/>
                        </a:spcAft>
                      </a:pPr>
                      <a:r>
                        <a:rPr sz="1300" b="0">
                          <a:solidFill>
                            <a:srgbClr val="1F1F1F"/>
                          </a:solidFill>
                          <a:latin typeface="Calibri"/>
                        </a:rPr>
                        <a:t>desenquadramento do</a:t>
                      </a:r>
                    </a:p>
                    <a:p>
                      <a:pPr algn="l">
                        <a:lnSpc>
                          <a:spcPct val="100000"/>
                        </a:lnSpc>
                        <a:spcBef>
                          <a:spcPts val="0"/>
                        </a:spcBef>
                        <a:spcAft>
                          <a:spcPts val="0"/>
                        </a:spcAft>
                      </a:pPr>
                      <a:r>
                        <a:rPr sz="1300" b="0">
                          <a:solidFill>
                            <a:srgbClr val="1F1F1F"/>
                          </a:solidFill>
                          <a:latin typeface="Calibri"/>
                        </a:rPr>
                        <a:t>índice de</a:t>
                      </a:r>
                    </a:p>
                    <a:p>
                      <a:pPr algn="l">
                        <a:lnSpc>
                          <a:spcPct val="100000"/>
                        </a:lnSpc>
                        <a:spcBef>
                          <a:spcPts val="0"/>
                        </a:spcBef>
                        <a:spcAft>
                          <a:spcPts val="0"/>
                        </a:spcAft>
                      </a:pPr>
                      <a:r>
                        <a:rPr sz="1300" b="0">
                          <a:solidFill>
                            <a:srgbClr val="1F1F1F"/>
                          </a:solidFill>
                          <a:latin typeface="Calibri"/>
                        </a:rPr>
                        <a:t>subordinação;.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109/160</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Governança e alterações</a:t>
            </a:r>
          </a:p>
        </p:txBody>
      </p:sp>
      <p:graphicFrame>
        <p:nvGraphicFramePr>
          <p:cNvPr id="3" name="Table 2"/>
          <p:cNvGraphicFramePr>
            <a:graphicFrameLocks noGrp="1"/>
          </p:cNvGraphicFramePr>
          <p:nvPr/>
        </p:nvGraphicFramePr>
        <p:xfrm>
          <a:off x="438912" y="932688"/>
          <a:ext cx="11313868" cy="5253228"/>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4782312">
                <a:tc>
                  <a:txBody>
                    <a:bodyPr wrap="square">
                      <a:noAutofit/>
                    </a:bodyPr>
                    <a:lstStyle/>
                    <a:p>
                      <a:pPr algn="l">
                        <a:lnSpc>
                          <a:spcPct val="100000"/>
                        </a:lnSpc>
                        <a:spcBef>
                          <a:spcPts val="0"/>
                        </a:spcBef>
                        <a:spcAft>
                          <a:spcPts val="0"/>
                        </a:spcAft>
                      </a:pPr>
                      <a:r>
                        <a:rPr sz="1300" b="1">
                          <a:solidFill>
                            <a:srgbClr val="1F1F1F"/>
                          </a:solidFill>
                          <a:latin typeface="Calibri"/>
                        </a:rPr>
                        <a:t>Auditor independente e</a:t>
                      </a:r>
                    </a:p>
                    <a:p>
                      <a:pPr algn="l">
                        <a:lnSpc>
                          <a:spcPct val="100000"/>
                        </a:lnSpc>
                        <a:spcBef>
                          <a:spcPts val="0"/>
                        </a:spcBef>
                        <a:spcAft>
                          <a:spcPts val="0"/>
                        </a:spcAft>
                      </a:pPr>
                      <a:r>
                        <a:rPr sz="1300" b="1">
                          <a:solidFill>
                            <a:srgbClr val="1F1F1F"/>
                          </a:solidFill>
                          <a:latin typeface="Calibri"/>
                        </a:rPr>
                        <a:t>DFs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x) Possibilidade de</a:t>
                      </a:r>
                    </a:p>
                    <a:p>
                      <a:pPr algn="l">
                        <a:lnSpc>
                          <a:spcPct val="100000"/>
                        </a:lnSpc>
                        <a:spcBef>
                          <a:spcPts val="0"/>
                        </a:spcBef>
                        <a:spcAft>
                          <a:spcPts val="0"/>
                        </a:spcAft>
                      </a:pPr>
                      <a:r>
                        <a:rPr sz="1300" b="0">
                          <a:solidFill>
                            <a:srgbClr val="1F1F1F"/>
                          </a:solidFill>
                          <a:latin typeface="Calibri"/>
                        </a:rPr>
                        <a:t>aquisição de Direitos</a:t>
                      </a:r>
                    </a:p>
                    <a:p>
                      <a:pPr algn="l">
                        <a:lnSpc>
                          <a:spcPct val="100000"/>
                        </a:lnSpc>
                        <a:spcBef>
                          <a:spcPts val="0"/>
                        </a:spcBef>
                        <a:spcAft>
                          <a:spcPts val="0"/>
                        </a:spcAft>
                      </a:pPr>
                      <a:r>
                        <a:rPr sz="1300" b="0">
                          <a:solidFill>
                            <a:srgbClr val="1F1F1F"/>
                          </a:solidFill>
                          <a:latin typeface="Calibri"/>
                        </a:rPr>
                        <a:t>Creditórios cedidos por</a:t>
                      </a:r>
                    </a:p>
                    <a:p>
                      <a:pPr algn="l">
                        <a:lnSpc>
                          <a:spcPct val="100000"/>
                        </a:lnSpc>
                        <a:spcBef>
                          <a:spcPts val="0"/>
                        </a:spcBef>
                        <a:spcAft>
                          <a:spcPts val="0"/>
                        </a:spcAft>
                      </a:pPr>
                      <a:r>
                        <a:rPr sz="1300" b="0">
                          <a:solidFill>
                            <a:srgbClr val="1F1F1F"/>
                          </a:solidFill>
                          <a:latin typeface="Calibri"/>
                        </a:rPr>
                        <a:t>Endossante e/ou devidos</a:t>
                      </a:r>
                    </a:p>
                    <a:p>
                      <a:pPr algn="l">
                        <a:lnSpc>
                          <a:spcPct val="100000"/>
                        </a:lnSpc>
                        <a:spcBef>
                          <a:spcPts val="0"/>
                        </a:spcBef>
                        <a:spcAft>
                          <a:spcPts val="0"/>
                        </a:spcAft>
                      </a:pPr>
                      <a:r>
                        <a:rPr sz="1300" b="0">
                          <a:solidFill>
                            <a:srgbClr val="1F1F1F"/>
                          </a:solidFill>
                          <a:latin typeface="Calibri"/>
                        </a:rPr>
                        <a:t>por Devedores cujas</a:t>
                      </a:r>
                    </a:p>
                    <a:p>
                      <a:pPr algn="l">
                        <a:lnSpc>
                          <a:spcPct val="100000"/>
                        </a:lnSpc>
                        <a:spcBef>
                          <a:spcPts val="0"/>
                        </a:spcBef>
                        <a:spcAft>
                          <a:spcPts val="0"/>
                        </a:spcAft>
                      </a:pPr>
                      <a:r>
                        <a:rPr sz="1300" b="0">
                          <a:solidFill>
                            <a:srgbClr val="1F1F1F"/>
                          </a:solidFill>
                          <a:latin typeface="Calibri"/>
                        </a:rPr>
                        <a:t>demonstrações</a:t>
                      </a:r>
                    </a:p>
                    <a:p>
                      <a:pPr algn="l">
                        <a:lnSpc>
                          <a:spcPct val="100000"/>
                        </a:lnSpc>
                        <a:spcBef>
                          <a:spcPts val="0"/>
                        </a:spcBef>
                        <a:spcAft>
                          <a:spcPts val="0"/>
                        </a:spcAft>
                      </a:pPr>
                      <a:r>
                        <a:rPr sz="1300" b="0">
                          <a:solidFill>
                            <a:srgbClr val="1F1F1F"/>
                          </a:solidFill>
                          <a:latin typeface="Calibri"/>
                        </a:rPr>
                        <a:t>financeiras não sejam</a:t>
                      </a:r>
                    </a:p>
                    <a:p>
                      <a:pPr algn="l">
                        <a:lnSpc>
                          <a:spcPct val="100000"/>
                        </a:lnSpc>
                        <a:spcBef>
                          <a:spcPts val="0"/>
                        </a:spcBef>
                        <a:spcAft>
                          <a:spcPts val="0"/>
                        </a:spcAft>
                      </a:pPr>
                      <a:r>
                        <a:rPr sz="1300" b="0">
                          <a:solidFill>
                            <a:srgbClr val="1F1F1F"/>
                          </a:solidFill>
                          <a:latin typeface="Calibri"/>
                        </a:rPr>
                        <a:t>auditadas. A Classe,</a:t>
                      </a:r>
                    </a:p>
                    <a:p>
                      <a:pPr algn="l">
                        <a:lnSpc>
                          <a:spcPct val="100000"/>
                        </a:lnSpc>
                        <a:spcBef>
                          <a:spcPts val="0"/>
                        </a:spcBef>
                        <a:spcAft>
                          <a:spcPts val="0"/>
                        </a:spcAft>
                      </a:pPr>
                      <a:r>
                        <a:rPr sz="1300" b="0">
                          <a:solidFill>
                            <a:srgbClr val="1F1F1F"/>
                          </a:solidFill>
                          <a:latin typeface="Calibri"/>
                        </a:rPr>
                        <a:t>desde que sejam</a:t>
                      </a:r>
                    </a:p>
                    <a:p>
                      <a:pPr algn="l">
                        <a:lnSpc>
                          <a:spcPct val="100000"/>
                        </a:lnSpc>
                        <a:spcBef>
                          <a:spcPts val="0"/>
                        </a:spcBef>
                        <a:spcAft>
                          <a:spcPts val="0"/>
                        </a:spcAft>
                      </a:pPr>
                      <a:r>
                        <a:rPr sz="1300" b="0">
                          <a:solidFill>
                            <a:srgbClr val="1F1F1F"/>
                          </a:solidFill>
                          <a:latin typeface="Calibri"/>
                        </a:rPr>
                        <a:t>respeitados os limites</a:t>
                      </a:r>
                    </a:p>
                    <a:p>
                      <a:pPr algn="l">
                        <a:lnSpc>
                          <a:spcPct val="100000"/>
                        </a:lnSpc>
                        <a:spcBef>
                          <a:spcPts val="0"/>
                        </a:spcBef>
                        <a:spcAft>
                          <a:spcPts val="0"/>
                        </a:spcAft>
                      </a:pPr>
                      <a:r>
                        <a:rPr sz="1300" b="0">
                          <a:solidFill>
                            <a:srgbClr val="1F1F1F"/>
                          </a:solidFill>
                          <a:latin typeface="Calibri"/>
                        </a:rPr>
                        <a:t>de concentração</a:t>
                      </a:r>
                    </a:p>
                    <a:p>
                      <a:pPr algn="l">
                        <a:lnSpc>
                          <a:spcPct val="100000"/>
                        </a:lnSpc>
                        <a:spcBef>
                          <a:spcPts val="0"/>
                        </a:spcBef>
                        <a:spcAft>
                          <a:spcPts val="0"/>
                        </a:spcAft>
                      </a:pPr>
                      <a:r>
                        <a:rPr sz="1300" b="0">
                          <a:solidFill>
                            <a:srgbClr val="1F1F1F"/>
                          </a:solidFill>
                          <a:latin typeface="Calibri"/>
                        </a:rPr>
                        <a:t>previstos no</a:t>
                      </a:r>
                    </a:p>
                    <a:p>
                      <a:pPr algn="l">
                        <a:lnSpc>
                          <a:spcPct val="100000"/>
                        </a:lnSpc>
                        <a:spcBef>
                          <a:spcPts val="0"/>
                        </a:spcBef>
                        <a:spcAft>
                          <a:spcPts val="0"/>
                        </a:spcAft>
                      </a:pPr>
                      <a:r>
                        <a:rPr sz="1300" b="0">
                          <a:solidFill>
                            <a:srgbClr val="1F1F1F"/>
                          </a:solidFill>
                          <a:latin typeface="Calibri"/>
                        </a:rPr>
                        <a:t>Regulamento, poderá</a:t>
                      </a:r>
                    </a:p>
                    <a:p>
                      <a:pPr algn="l">
                        <a:lnSpc>
                          <a:spcPct val="100000"/>
                        </a:lnSpc>
                        <a:spcBef>
                          <a:spcPts val="0"/>
                        </a:spcBef>
                        <a:spcAft>
                          <a:spcPts val="0"/>
                        </a:spcAft>
                      </a:pPr>
                      <a:r>
                        <a:rPr sz="1300" b="0">
                          <a:solidFill>
                            <a:srgbClr val="1F1F1F"/>
                          </a:solidFill>
                          <a:latin typeface="Calibri"/>
                        </a:rPr>
                        <a:t>manter a qualquer tempo</a:t>
                      </a:r>
                    </a:p>
                    <a:p>
                      <a:pPr algn="l">
                        <a:lnSpc>
                          <a:spcPct val="100000"/>
                        </a:lnSpc>
                        <a:spcBef>
                          <a:spcPts val="0"/>
                        </a:spcBef>
                        <a:spcAft>
                          <a:spcPts val="0"/>
                        </a:spcAft>
                      </a:pPr>
                      <a:r>
                        <a:rPr sz="1300" b="0">
                          <a:solidFill>
                            <a:srgbClr val="1F1F1F"/>
                          </a:solidFill>
                          <a:latin typeface="Calibri"/>
                        </a:rPr>
                        <a:t>em sua Carteira,</a:t>
                      </a:r>
                    </a:p>
                    <a:p>
                      <a:pPr algn="l">
                        <a:lnSpc>
                          <a:spcPct val="100000"/>
                        </a:lnSpc>
                        <a:spcBef>
                          <a:spcPts val="0"/>
                        </a:spcBef>
                        <a:spcAft>
                          <a:spcPts val="0"/>
                        </a:spcAft>
                      </a:pPr>
                      <a:r>
                        <a:rPr sz="1300" b="0">
                          <a:solidFill>
                            <a:srgbClr val="1F1F1F"/>
                          </a:solidFill>
                          <a:latin typeface="Calibri"/>
                        </a:rPr>
                        <a:t>Direitos Creditórios</a:t>
                      </a:r>
                    </a:p>
                    <a:p>
                      <a:pPr algn="l">
                        <a:lnSpc>
                          <a:spcPct val="100000"/>
                        </a:lnSpc>
                        <a:spcBef>
                          <a:spcPts val="0"/>
                        </a:spcBef>
                        <a:spcAft>
                          <a:spcPts val="0"/>
                        </a:spcAft>
                      </a:pPr>
                      <a:r>
                        <a:rPr sz="1300" b="0">
                          <a:solidFill>
                            <a:srgbClr val="1F1F1F"/>
                          </a:solidFill>
                          <a:latin typeface="Calibri"/>
                        </a:rPr>
                        <a:t>cedidos por Endossante</a:t>
                      </a:r>
                    </a:p>
                    <a:p>
                      <a:pPr algn="l">
                        <a:lnSpc>
                          <a:spcPct val="100000"/>
                        </a:lnSpc>
                        <a:spcBef>
                          <a:spcPts val="0"/>
                        </a:spcBef>
                        <a:spcAft>
                          <a:spcPts val="0"/>
                        </a:spcAft>
                      </a:pPr>
                      <a:r>
                        <a:rPr sz="1300" b="0">
                          <a:solidFill>
                            <a:srgbClr val="1F1F1F"/>
                          </a:solidFill>
                          <a:latin typeface="Calibri"/>
                        </a:rPr>
                        <a:t>e/ou devidos por</a:t>
                      </a:r>
                    </a:p>
                    <a:p>
                      <a:pPr algn="l">
                        <a:lnSpc>
                          <a:spcPct val="100000"/>
                        </a:lnSpc>
                        <a:spcBef>
                          <a:spcPts val="0"/>
                        </a:spcBef>
                        <a:spcAft>
                          <a:spcPts val="0"/>
                        </a:spcAft>
                      </a:pPr>
                      <a:r>
                        <a:rPr sz="1300" b="0">
                          <a:solidFill>
                            <a:srgbClr val="1F1F1F"/>
                          </a:solidFill>
                          <a:latin typeface="Calibri"/>
                        </a:rPr>
                        <a:t>Devedores cujas</a:t>
                      </a:r>
                    </a:p>
                    <a:p>
                      <a:pPr algn="l">
                        <a:lnSpc>
                          <a:spcPct val="100000"/>
                        </a:lnSpc>
                        <a:spcBef>
                          <a:spcPts val="0"/>
                        </a:spcBef>
                        <a:spcAft>
                          <a:spcPts val="0"/>
                        </a:spcAft>
                      </a:pPr>
                      <a:r>
                        <a:rPr sz="1300" b="0">
                          <a:solidFill>
                            <a:srgbClr val="1F1F1F"/>
                          </a:solidFill>
                          <a:latin typeface="Calibri"/>
                        </a:rPr>
                        <a:t>demonstrações</a:t>
                      </a:r>
                    </a:p>
                    <a:p>
                      <a:pPr algn="l">
                        <a:lnSpc>
                          <a:spcPct val="100000"/>
                        </a:lnSpc>
                        <a:spcBef>
                          <a:spcPts val="0"/>
                        </a:spcBef>
                        <a:spcAft>
                          <a:spcPts val="0"/>
                        </a:spcAft>
                      </a:pPr>
                      <a:r>
                        <a:rPr sz="1300" b="0">
                          <a:solidFill>
                            <a:srgbClr val="1F1F1F"/>
                          </a:solidFill>
                          <a:latin typeface="Calibri"/>
                        </a:rPr>
                        <a:t>financeiras não sejam</a:t>
                      </a:r>
                    </a:p>
                    <a:p>
                      <a:pPr algn="l">
                        <a:lnSpc>
                          <a:spcPct val="100000"/>
                        </a:lnSpc>
                        <a:spcBef>
                          <a:spcPts val="0"/>
                        </a:spcBef>
                        <a:spcAft>
                          <a:spcPts val="0"/>
                        </a:spcAft>
                      </a:pPr>
                      <a:r>
                        <a:rPr sz="1300" b="0">
                          <a:solidFill>
                            <a:srgbClr val="1F1F1F"/>
                          </a:solidFill>
                          <a:latin typeface="Calibri"/>
                        </a:rPr>
                        <a:t>auditadas por Auditor</a:t>
                      </a:r>
                    </a:p>
                    <a:p>
                      <a:pPr algn="l">
                        <a:lnSpc>
                          <a:spcPct val="100000"/>
                        </a:lnSpc>
                        <a:spcBef>
                          <a:spcPts val="0"/>
                        </a:spcBef>
                        <a:spcAft>
                          <a:spcPts val="0"/>
                        </a:spcAft>
                      </a:pPr>
                      <a:r>
                        <a:rPr sz="1300" b="0">
                          <a:solidFill>
                            <a:srgbClr val="1F1F1F"/>
                          </a:solidFill>
                          <a:latin typeface="Calibri"/>
                        </a:rPr>
                        <a:t>Independente registrado</a:t>
                      </a:r>
                    </a:p>
                    <a:p>
                      <a:pPr algn="l">
                        <a:lnSpc>
                          <a:spcPct val="100000"/>
                        </a:lnSpc>
                        <a:spcBef>
                          <a:spcPts val="0"/>
                        </a:spcBef>
                        <a:spcAft>
                          <a:spcPts val="0"/>
                        </a:spcAft>
                      </a:pPr>
                      <a:r>
                        <a:rPr sz="1300" b="0">
                          <a:solidFill>
                            <a:srgbClr val="1F1F1F"/>
                          </a:solidFill>
                          <a:latin typeface="Calibri"/>
                        </a:rPr>
                        <a:t>na</a:t>
                      </a:r>
                    </a:p>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(d) Fica a</a:t>
                      </a:r>
                    </a:p>
                    <a:p>
                      <a:pPr algn="l">
                        <a:lnSpc>
                          <a:spcPct val="100000"/>
                        </a:lnSpc>
                        <a:spcBef>
                          <a:spcPts val="0"/>
                        </a:spcBef>
                        <a:spcAft>
                          <a:spcPts val="0"/>
                        </a:spcAft>
                      </a:pPr>
                      <a:r>
                        <a:rPr sz="1300" b="0">
                          <a:solidFill>
                            <a:srgbClr val="1F1F1F"/>
                          </a:solidFill>
                          <a:latin typeface="Calibri"/>
                        </a:rPr>
                        <a:t>Administradora</a:t>
                      </a:r>
                    </a:p>
                    <a:p>
                      <a:pPr algn="l">
                        <a:lnSpc>
                          <a:spcPct val="100000"/>
                        </a:lnSpc>
                        <a:spcBef>
                          <a:spcPts val="0"/>
                        </a:spcBef>
                        <a:spcAft>
                          <a:spcPts val="0"/>
                        </a:spcAft>
                      </a:pPr>
                      <a:r>
                        <a:rPr sz="1300" b="0">
                          <a:solidFill>
                            <a:srgbClr val="1F1F1F"/>
                          </a:solidFill>
                          <a:latin typeface="Calibri"/>
                        </a:rPr>
                        <a:t>autorizada a levantar,</a:t>
                      </a:r>
                    </a:p>
                    <a:p>
                      <a:pPr algn="l">
                        <a:lnSpc>
                          <a:spcPct val="100000"/>
                        </a:lnSpc>
                        <a:spcBef>
                          <a:spcPts val="0"/>
                        </a:spcBef>
                        <a:spcAft>
                          <a:spcPts val="0"/>
                        </a:spcAft>
                      </a:pPr>
                      <a:r>
                        <a:rPr sz="1300" b="0">
                          <a:solidFill>
                            <a:srgbClr val="1F1F1F"/>
                          </a:solidFill>
                          <a:latin typeface="Calibri"/>
                        </a:rPr>
                        <a:t>na Data da Cisão,</a:t>
                      </a:r>
                    </a:p>
                    <a:p>
                      <a:pPr algn="l">
                        <a:lnSpc>
                          <a:spcPct val="100000"/>
                        </a:lnSpc>
                        <a:spcBef>
                          <a:spcPts val="0"/>
                        </a:spcBef>
                        <a:spcAft>
                          <a:spcPts val="0"/>
                        </a:spcAft>
                      </a:pPr>
                      <a:r>
                        <a:rPr sz="1300" b="0">
                          <a:solidFill>
                            <a:srgbClr val="1F1F1F"/>
                          </a:solidFill>
                          <a:latin typeface="Calibri"/>
                        </a:rPr>
                        <a:t>demonstrações contábeis</a:t>
                      </a:r>
                    </a:p>
                    <a:p>
                      <a:pPr algn="l">
                        <a:lnSpc>
                          <a:spcPct val="100000"/>
                        </a:lnSpc>
                        <a:spcBef>
                          <a:spcPts val="0"/>
                        </a:spcBef>
                        <a:spcAft>
                          <a:spcPts val="0"/>
                        </a:spcAft>
                      </a:pPr>
                      <a:r>
                        <a:rPr sz="1300" b="0">
                          <a:solidFill>
                            <a:srgbClr val="1F1F1F"/>
                          </a:solidFill>
                          <a:latin typeface="Calibri"/>
                        </a:rPr>
                        <a:t>da Classe, as quais</a:t>
                      </a:r>
                    </a:p>
                    <a:p>
                      <a:pPr algn="l">
                        <a:lnSpc>
                          <a:spcPct val="100000"/>
                        </a:lnSpc>
                        <a:spcBef>
                          <a:spcPts val="0"/>
                        </a:spcBef>
                        <a:spcAft>
                          <a:spcPts val="0"/>
                        </a:spcAft>
                      </a:pPr>
                      <a:r>
                        <a:rPr sz="1300" b="0">
                          <a:solidFill>
                            <a:srgbClr val="1F1F1F"/>
                          </a:solidFill>
                          <a:latin typeface="Calibri"/>
                        </a:rPr>
                        <a:t>darão suporte à</a:t>
                      </a:r>
                    </a:p>
                    <a:p>
                      <a:pPr algn="l">
                        <a:lnSpc>
                          <a:spcPct val="100000"/>
                        </a:lnSpc>
                        <a:spcBef>
                          <a:spcPts val="0"/>
                        </a:spcBef>
                        <a:spcAft>
                          <a:spcPts val="0"/>
                        </a:spcAft>
                      </a:pPr>
                      <a:r>
                        <a:rPr sz="1300" b="0">
                          <a:solidFill>
                            <a:srgbClr val="1F1F1F"/>
                          </a:solidFill>
                          <a:latin typeface="Calibri"/>
                        </a:rPr>
                        <a:t>realização da Cisão ora</a:t>
                      </a:r>
                    </a:p>
                    <a:p>
                      <a:pPr algn="l">
                        <a:lnSpc>
                          <a:spcPct val="100000"/>
                        </a:lnSpc>
                        <a:spcBef>
                          <a:spcPts val="0"/>
                        </a:spcBef>
                        <a:spcAft>
                          <a:spcPts val="0"/>
                        </a:spcAft>
                      </a:pPr>
                      <a:r>
                        <a:rPr sz="1300" b="0">
                          <a:solidFill>
                            <a:srgbClr val="1F1F1F"/>
                          </a:solidFill>
                          <a:latin typeface="Calibri"/>
                        </a:rPr>
                        <a:t>deliberada. As</a:t>
                      </a:r>
                    </a:p>
                    <a:p>
                      <a:pPr algn="l">
                        <a:lnSpc>
                          <a:spcPct val="100000"/>
                        </a:lnSpc>
                        <a:spcBef>
                          <a:spcPts val="0"/>
                        </a:spcBef>
                        <a:spcAft>
                          <a:spcPts val="0"/>
                        </a:spcAft>
                      </a:pPr>
                      <a:r>
                        <a:rPr sz="1300" b="0">
                          <a:solidFill>
                            <a:srgbClr val="1F1F1F"/>
                          </a:solidFill>
                          <a:latin typeface="Calibri"/>
                        </a:rPr>
                        <a:t>demonstrações contábeis</a:t>
                      </a:r>
                    </a:p>
                    <a:p>
                      <a:pPr algn="l">
                        <a:lnSpc>
                          <a:spcPct val="100000"/>
                        </a:lnSpc>
                        <a:spcBef>
                          <a:spcPts val="0"/>
                        </a:spcBef>
                        <a:spcAft>
                          <a:spcPts val="0"/>
                        </a:spcAft>
                      </a:pPr>
                      <a:r>
                        <a:rPr sz="1300" b="0">
                          <a:solidFill>
                            <a:srgbClr val="1F1F1F"/>
                          </a:solidFill>
                          <a:latin typeface="Calibri"/>
                        </a:rPr>
                        <a:t>deverão ser auditadas,</a:t>
                      </a:r>
                    </a:p>
                    <a:p>
                      <a:pPr algn="l">
                        <a:lnSpc>
                          <a:spcPct val="100000"/>
                        </a:lnSpc>
                        <a:spcBef>
                          <a:spcPts val="0"/>
                        </a:spcBef>
                        <a:spcAft>
                          <a:spcPts val="0"/>
                        </a:spcAft>
                      </a:pPr>
                      <a:r>
                        <a:rPr sz="1300" b="0">
                          <a:solidFill>
                            <a:srgbClr val="1F1F1F"/>
                          </a:solidFill>
                          <a:latin typeface="Calibri"/>
                        </a:rPr>
                        <a:t>em conformidade com o</a:t>
                      </a:r>
                    </a:p>
                    <a:p>
                      <a:pPr algn="l">
                        <a:lnSpc>
                          <a:spcPct val="100000"/>
                        </a:lnSpc>
                        <a:spcBef>
                          <a:spcPts val="0"/>
                        </a:spcBef>
                        <a:spcAft>
                          <a:spcPts val="0"/>
                        </a:spcAft>
                      </a:pPr>
                      <a:r>
                        <a:rPr sz="1300" b="0">
                          <a:solidFill>
                            <a:srgbClr val="1F1F1F"/>
                          </a:solidFill>
                          <a:latin typeface="Calibri"/>
                        </a:rPr>
                        <a:t>art. 120, da Parte</a:t>
                      </a:r>
                    </a:p>
                    <a:p>
                      <a:pPr algn="l">
                        <a:lnSpc>
                          <a:spcPct val="100000"/>
                        </a:lnSpc>
                        <a:spcBef>
                          <a:spcPts val="0"/>
                        </a:spcBef>
                        <a:spcAft>
                          <a:spcPts val="0"/>
                        </a:spcAft>
                      </a:pPr>
                      <a:r>
                        <a:rPr sz="1300" b="0">
                          <a:solidFill>
                            <a:srgbClr val="1F1F1F"/>
                          </a:solidFill>
                          <a:latin typeface="Calibri"/>
                        </a:rPr>
                        <a:t>Geral, da Resolução CVM</a:t>
                      </a:r>
                    </a:p>
                    <a:p>
                      <a:pPr algn="l">
                        <a:lnSpc>
                          <a:spcPct val="100000"/>
                        </a:lnSpc>
                        <a:spcBef>
                          <a:spcPts val="0"/>
                        </a:spcBef>
                        <a:spcAft>
                          <a:spcPts val="0"/>
                        </a:spcAft>
                      </a:pPr>
                      <a:r>
                        <a:rPr sz="1300" b="0">
                          <a:solidFill>
                            <a:srgbClr val="1F1F1F"/>
                          </a:solidFill>
                          <a:latin typeface="Calibri"/>
                        </a:rPr>
                        <a:t>175;</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4.1.7 As demonstrações</a:t>
                      </a:r>
                    </a:p>
                    <a:p>
                      <a:pPr algn="l">
                        <a:lnSpc>
                          <a:spcPct val="100000"/>
                        </a:lnSpc>
                        <a:spcBef>
                          <a:spcPts val="0"/>
                        </a:spcBef>
                        <a:spcAft>
                          <a:spcPts val="0"/>
                        </a:spcAft>
                      </a:pPr>
                      <a:r>
                        <a:rPr sz="1300" b="0">
                          <a:solidFill>
                            <a:srgbClr val="1F1F1F"/>
                          </a:solidFill>
                          <a:latin typeface="Calibri"/>
                        </a:rPr>
                        <a:t>contábeis cujo</a:t>
                      </a:r>
                    </a:p>
                    <a:p>
                      <a:pPr algn="l">
                        <a:lnSpc>
                          <a:spcPct val="100000"/>
                        </a:lnSpc>
                        <a:spcBef>
                          <a:spcPts val="0"/>
                        </a:spcBef>
                        <a:spcAft>
                          <a:spcPts val="0"/>
                        </a:spcAft>
                      </a:pPr>
                      <a:r>
                        <a:rPr sz="1300" b="0">
                          <a:solidFill>
                            <a:srgbClr val="1F1F1F"/>
                          </a:solidFill>
                          <a:latin typeface="Calibri"/>
                        </a:rPr>
                        <a:t>relatório de auditoria</a:t>
                      </a:r>
                    </a:p>
                    <a:p>
                      <a:pPr algn="l">
                        <a:lnSpc>
                          <a:spcPct val="100000"/>
                        </a:lnSpc>
                        <a:spcBef>
                          <a:spcPts val="0"/>
                        </a:spcBef>
                        <a:spcAft>
                          <a:spcPts val="0"/>
                        </a:spcAft>
                      </a:pPr>
                      <a:r>
                        <a:rPr sz="1300" b="0">
                          <a:solidFill>
                            <a:srgbClr val="1F1F1F"/>
                          </a:solidFill>
                          <a:latin typeface="Calibri"/>
                        </a:rPr>
                        <a:t>não contiver opinião</a:t>
                      </a:r>
                    </a:p>
                    <a:p>
                      <a:pPr algn="l">
                        <a:lnSpc>
                          <a:spcPct val="100000"/>
                        </a:lnSpc>
                        <a:spcBef>
                          <a:spcPts val="0"/>
                        </a:spcBef>
                        <a:spcAft>
                          <a:spcPts val="0"/>
                        </a:spcAft>
                      </a:pPr>
                      <a:r>
                        <a:rPr sz="1300" b="0">
                          <a:solidFill>
                            <a:srgbClr val="1F1F1F"/>
                          </a:solidFill>
                          <a:latin typeface="Calibri"/>
                        </a:rPr>
                        <a:t>modificada podem ser</a:t>
                      </a:r>
                    </a:p>
                    <a:p>
                      <a:pPr algn="l">
                        <a:lnSpc>
                          <a:spcPct val="100000"/>
                        </a:lnSpc>
                        <a:spcBef>
                          <a:spcPts val="0"/>
                        </a:spcBef>
                        <a:spcAft>
                          <a:spcPts val="0"/>
                        </a:spcAft>
                      </a:pPr>
                      <a:r>
                        <a:rPr sz="1300" b="0">
                          <a:solidFill>
                            <a:srgbClr val="1F1F1F"/>
                          </a:solidFill>
                          <a:latin typeface="Calibri"/>
                        </a:rPr>
                        <a:t>consideradas</a:t>
                      </a:r>
                    </a:p>
                    <a:p>
                      <a:pPr algn="l">
                        <a:lnSpc>
                          <a:spcPct val="100000"/>
                        </a:lnSpc>
                        <a:spcBef>
                          <a:spcPts val="0"/>
                        </a:spcBef>
                        <a:spcAft>
                          <a:spcPts val="0"/>
                        </a:spcAft>
                      </a:pPr>
                      <a:r>
                        <a:rPr sz="1300" b="0">
                          <a:solidFill>
                            <a:srgbClr val="1F1F1F"/>
                          </a:solidFill>
                          <a:latin typeface="Calibri"/>
                        </a:rPr>
                        <a:t>automaticamente</a:t>
                      </a:r>
                    </a:p>
                    <a:p>
                      <a:pPr algn="l">
                        <a:lnSpc>
                          <a:spcPct val="100000"/>
                        </a:lnSpc>
                        <a:spcBef>
                          <a:spcPts val="0"/>
                        </a:spcBef>
                        <a:spcAft>
                          <a:spcPts val="0"/>
                        </a:spcAft>
                      </a:pPr>
                      <a:r>
                        <a:rPr sz="1300" b="0">
                          <a:solidFill>
                            <a:srgbClr val="1F1F1F"/>
                          </a:solidFill>
                          <a:latin typeface="Calibri"/>
                        </a:rPr>
                        <a:t>aprovadas caso a</a:t>
                      </a:r>
                    </a:p>
                    <a:p>
                      <a:pPr algn="l">
                        <a:lnSpc>
                          <a:spcPct val="100000"/>
                        </a:lnSpc>
                        <a:spcBef>
                          <a:spcPts val="0"/>
                        </a:spcBef>
                        <a:spcAft>
                          <a:spcPts val="0"/>
                        </a:spcAft>
                      </a:pPr>
                      <a:r>
                        <a:rPr sz="1300" b="0">
                          <a:solidFill>
                            <a:srgbClr val="1F1F1F"/>
                          </a:solidFill>
                          <a:latin typeface="Calibri"/>
                        </a:rPr>
                        <a:t>assembleia</a:t>
                      </a:r>
                    </a:p>
                    <a:p>
                      <a:pPr algn="l">
                        <a:lnSpc>
                          <a:spcPct val="100000"/>
                        </a:lnSpc>
                        <a:spcBef>
                          <a:spcPts val="0"/>
                        </a:spcBef>
                        <a:spcAft>
                          <a:spcPts val="0"/>
                        </a:spcAft>
                      </a:pPr>
                      <a:r>
                        <a:rPr sz="1300" b="0">
                          <a:solidFill>
                            <a:srgbClr val="1F1F1F"/>
                          </a:solidFill>
                          <a:latin typeface="Calibri"/>
                        </a:rPr>
                        <a:t>correspondente não seja</a:t>
                      </a:r>
                    </a:p>
                    <a:p>
                      <a:pPr algn="l">
                        <a:lnSpc>
                          <a:spcPct val="100000"/>
                        </a:lnSpc>
                        <a:spcBef>
                          <a:spcPts val="0"/>
                        </a:spcBef>
                        <a:spcAft>
                          <a:spcPts val="0"/>
                        </a:spcAft>
                      </a:pPr>
                      <a:r>
                        <a:rPr sz="1300" b="0">
                          <a:solidFill>
                            <a:srgbClr val="1F1F1F"/>
                          </a:solidFill>
                          <a:latin typeface="Calibri"/>
                        </a:rPr>
                        <a:t>instalada em virtude do</a:t>
                      </a:r>
                    </a:p>
                    <a:p>
                      <a:pPr algn="l">
                        <a:lnSpc>
                          <a:spcPct val="100000"/>
                        </a:lnSpc>
                        <a:spcBef>
                          <a:spcPts val="0"/>
                        </a:spcBef>
                        <a:spcAft>
                          <a:spcPts val="0"/>
                        </a:spcAft>
                      </a:pPr>
                      <a:r>
                        <a:rPr sz="1300" b="0">
                          <a:solidFill>
                            <a:srgbClr val="1F1F1F"/>
                          </a:solidFill>
                          <a:latin typeface="Calibri"/>
                        </a:rPr>
                        <a:t>não comparecimento de</a:t>
                      </a:r>
                    </a:p>
                    <a:p>
                      <a:pPr algn="l">
                        <a:lnSpc>
                          <a:spcPct val="100000"/>
                        </a:lnSpc>
                        <a:spcBef>
                          <a:spcPts val="0"/>
                        </a:spcBef>
                        <a:spcAft>
                          <a:spcPts val="0"/>
                        </a:spcAft>
                      </a:pPr>
                      <a:r>
                        <a:rPr sz="1300" b="0">
                          <a:solidFill>
                            <a:srgbClr val="1F1F1F"/>
                          </a:solidFill>
                          <a:latin typeface="Calibri"/>
                        </a:rPr>
                        <a:t>quaisquer Cotistas.</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10.12 O representante</a:t>
                      </a:r>
                    </a:p>
                    <a:p>
                      <a:pPr algn="l">
                        <a:lnSpc>
                          <a:spcPct val="100000"/>
                        </a:lnSpc>
                        <a:spcBef>
                          <a:spcPts val="0"/>
                        </a:spcBef>
                        <a:spcAft>
                          <a:spcPts val="0"/>
                        </a:spcAft>
                      </a:pPr>
                      <a:r>
                        <a:rPr sz="1300" b="0">
                          <a:solidFill>
                            <a:srgbClr val="1F1F1F"/>
                          </a:solidFill>
                          <a:latin typeface="Calibri"/>
                        </a:rPr>
                        <a:t>dos Cotistas será</a:t>
                      </a:r>
                    </a:p>
                    <a:p>
                      <a:pPr algn="l">
                        <a:lnSpc>
                          <a:spcPct val="100000"/>
                        </a:lnSpc>
                        <a:spcBef>
                          <a:spcPts val="0"/>
                        </a:spcBef>
                        <a:spcAft>
                          <a:spcPts val="0"/>
                        </a:spcAft>
                      </a:pPr>
                      <a:r>
                        <a:rPr sz="1300" b="0">
                          <a:solidFill>
                            <a:srgbClr val="1F1F1F"/>
                          </a:solidFill>
                          <a:latin typeface="Calibri"/>
                        </a:rPr>
                        <a:t>eleito com prazo de</a:t>
                      </a:r>
                    </a:p>
                    <a:p>
                      <a:pPr algn="l">
                        <a:lnSpc>
                          <a:spcPct val="100000"/>
                        </a:lnSpc>
                        <a:spcBef>
                          <a:spcPts val="0"/>
                        </a:spcBef>
                        <a:spcAft>
                          <a:spcPts val="0"/>
                        </a:spcAft>
                      </a:pPr>
                      <a:r>
                        <a:rPr sz="1300" b="0">
                          <a:solidFill>
                            <a:srgbClr val="1F1F1F"/>
                          </a:solidFill>
                          <a:latin typeface="Calibri"/>
                        </a:rPr>
                        <a:t>mandato a se encerrar</a:t>
                      </a:r>
                    </a:p>
                    <a:p>
                      <a:pPr algn="l">
                        <a:lnSpc>
                          <a:spcPct val="100000"/>
                        </a:lnSpc>
                        <a:spcBef>
                          <a:spcPts val="0"/>
                        </a:spcBef>
                        <a:spcAft>
                          <a:spcPts val="0"/>
                        </a:spcAft>
                      </a:pPr>
                      <a:r>
                        <a:rPr sz="1300" b="0">
                          <a:solidFill>
                            <a:srgbClr val="1F1F1F"/>
                          </a:solidFill>
                          <a:latin typeface="Calibri"/>
                        </a:rPr>
                        <a:t>na próxima Assembleia</a:t>
                      </a:r>
                    </a:p>
                    <a:p>
                      <a:pPr algn="l">
                        <a:lnSpc>
                          <a:spcPct val="100000"/>
                        </a:lnSpc>
                        <a:spcBef>
                          <a:spcPts val="0"/>
                        </a:spcBef>
                        <a:spcAft>
                          <a:spcPts val="0"/>
                        </a:spcAft>
                      </a:pPr>
                      <a:r>
                        <a:rPr sz="1300" b="0">
                          <a:solidFill>
                            <a:srgbClr val="1F1F1F"/>
                          </a:solidFill>
                          <a:latin typeface="Calibri"/>
                        </a:rPr>
                        <a:t>de Cotistas que</a:t>
                      </a:r>
                    </a:p>
                    <a:p>
                      <a:pPr algn="l">
                        <a:lnSpc>
                          <a:spcPct val="100000"/>
                        </a:lnSpc>
                        <a:spcBef>
                          <a:spcPts val="0"/>
                        </a:spcBef>
                        <a:spcAft>
                          <a:spcPts val="0"/>
                        </a:spcAft>
                      </a:pPr>
                      <a:r>
                        <a:rPr sz="1300" b="0">
                          <a:solidFill>
                            <a:srgbClr val="1F1F1F"/>
                          </a:solidFill>
                          <a:latin typeface="Calibri"/>
                        </a:rPr>
                        <a:t>deliberar sobre a</a:t>
                      </a:r>
                    </a:p>
                    <a:p>
                      <a:pPr algn="l">
                        <a:lnSpc>
                          <a:spcPct val="100000"/>
                        </a:lnSpc>
                        <a:spcBef>
                          <a:spcPts val="0"/>
                        </a:spcBef>
                        <a:spcAft>
                          <a:spcPts val="0"/>
                        </a:spcAft>
                      </a:pPr>
                      <a:r>
                        <a:rPr sz="1300" b="0">
                          <a:solidFill>
                            <a:srgbClr val="1F1F1F"/>
                          </a:solidFill>
                          <a:latin typeface="Calibri"/>
                        </a:rPr>
                        <a:t>aprovação de</a:t>
                      </a:r>
                    </a:p>
                    <a:p>
                      <a:pPr algn="l">
                        <a:lnSpc>
                          <a:spcPct val="100000"/>
                        </a:lnSpc>
                        <a:spcBef>
                          <a:spcPts val="0"/>
                        </a:spcBef>
                        <a:spcAft>
                          <a:spcPts val="0"/>
                        </a:spcAft>
                      </a:pPr>
                      <a:r>
                        <a:rPr sz="1300" b="0">
                          <a:solidFill>
                            <a:srgbClr val="1F1F1F"/>
                          </a:solidFill>
                          <a:latin typeface="Calibri"/>
                        </a:rPr>
                        <a:t>demonstrações contábeis</a:t>
                      </a:r>
                    </a:p>
                    <a:p>
                      <a:pPr algn="l">
                        <a:lnSpc>
                          <a:spcPct val="100000"/>
                        </a:lnSpc>
                        <a:spcBef>
                          <a:spcPts val="0"/>
                        </a:spcBef>
                        <a:spcAft>
                          <a:spcPts val="0"/>
                        </a:spcAft>
                      </a:pPr>
                      <a:r>
                        <a:rPr sz="1300" b="0">
                          <a:solidFill>
                            <a:srgbClr val="1F1F1F"/>
                          </a:solidFill>
                          <a:latin typeface="Calibri"/>
                        </a:rPr>
                        <a:t>do Fundo, sendo</a:t>
                      </a:r>
                    </a:p>
                    <a:p>
                      <a:pPr algn="l">
                        <a:lnSpc>
                          <a:spcPct val="100000"/>
                        </a:lnSpc>
                        <a:spcBef>
                          <a:spcPts val="0"/>
                        </a:spcBef>
                        <a:spcAft>
                          <a:spcPts val="0"/>
                        </a:spcAft>
                      </a:pPr>
                      <a:r>
                        <a:rPr sz="1300" b="0">
                          <a:solidFill>
                            <a:srgbClr val="1F1F1F"/>
                          </a:solidFill>
                          <a:latin typeface="Calibri"/>
                        </a:rPr>
                        <a:t>permitida a reeleição.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12.3 Incluem-se entre</a:t>
                      </a:r>
                    </a:p>
                    <a:p>
                      <a:pPr algn="l">
                        <a:lnSpc>
                          <a:spcPct val="100000"/>
                        </a:lnSpc>
                        <a:spcBef>
                          <a:spcPts val="0"/>
                        </a:spcBef>
                        <a:spcAft>
                          <a:spcPts val="0"/>
                        </a:spcAft>
                      </a:pPr>
                      <a:r>
                        <a:rPr sz="1300" b="0">
                          <a:solidFill>
                            <a:srgbClr val="1F1F1F"/>
                          </a:solidFill>
                          <a:latin typeface="Calibri"/>
                        </a:rPr>
                        <a:t>as obrigações do</a:t>
                      </a:r>
                    </a:p>
                    <a:p>
                      <a:pPr algn="l">
                        <a:lnSpc>
                          <a:spcPct val="100000"/>
                        </a:lnSpc>
                        <a:spcBef>
                          <a:spcPts val="0"/>
                        </a:spcBef>
                        <a:spcAft>
                          <a:spcPts val="0"/>
                        </a:spcAft>
                      </a:pPr>
                      <a:r>
                        <a:rPr sz="1300" b="0">
                          <a:solidFill>
                            <a:srgbClr val="1F1F1F"/>
                          </a:solidFill>
                          <a:latin typeface="Calibri"/>
                        </a:rPr>
                        <a:t>ADMINISTRADOR, sem</a:t>
                      </a:r>
                    </a:p>
                    <a:p>
                      <a:pPr algn="l">
                        <a:lnSpc>
                          <a:spcPct val="100000"/>
                        </a:lnSpc>
                        <a:spcBef>
                          <a:spcPts val="0"/>
                        </a:spcBef>
                        <a:spcAft>
                          <a:spcPts val="0"/>
                        </a:spcAft>
                      </a:pPr>
                      <a:r>
                        <a:rPr sz="1300" b="0">
                          <a:solidFill>
                            <a:srgbClr val="1F1F1F"/>
                          </a:solidFill>
                          <a:latin typeface="Calibri"/>
                        </a:rPr>
                        <a:t>prejuízo de outras</a:t>
                      </a:r>
                    </a:p>
                    <a:p>
                      <a:pPr algn="l">
                        <a:lnSpc>
                          <a:spcPct val="100000"/>
                        </a:lnSpc>
                        <a:spcBef>
                          <a:spcPts val="0"/>
                        </a:spcBef>
                        <a:spcAft>
                          <a:spcPts val="0"/>
                        </a:spcAft>
                      </a:pPr>
                      <a:r>
                        <a:rPr sz="1300" b="0">
                          <a:solidFill>
                            <a:srgbClr val="1F1F1F"/>
                          </a:solidFill>
                          <a:latin typeface="Calibri"/>
                        </a:rPr>
                        <a:t>previstas na</a:t>
                      </a:r>
                    </a:p>
                    <a:p>
                      <a:pPr algn="l">
                        <a:lnSpc>
                          <a:spcPct val="100000"/>
                        </a:lnSpc>
                        <a:spcBef>
                          <a:spcPts val="0"/>
                        </a:spcBef>
                        <a:spcAft>
                          <a:spcPts val="0"/>
                        </a:spcAft>
                      </a:pPr>
                      <a:r>
                        <a:rPr sz="1300" b="0">
                          <a:solidFill>
                            <a:srgbClr val="1F1F1F"/>
                          </a:solidFill>
                          <a:latin typeface="Calibri"/>
                        </a:rPr>
                        <a:t>regulamentação: (i) sem</a:t>
                      </a:r>
                    </a:p>
                    <a:p>
                      <a:pPr algn="l">
                        <a:lnSpc>
                          <a:spcPct val="100000"/>
                        </a:lnSpc>
                        <a:spcBef>
                          <a:spcPts val="0"/>
                        </a:spcBef>
                        <a:spcAft>
                          <a:spcPts val="0"/>
                        </a:spcAft>
                      </a:pPr>
                      <a:r>
                        <a:rPr sz="1300" b="0">
                          <a:solidFill>
                            <a:srgbClr val="1F1F1F"/>
                          </a:solidFill>
                          <a:latin typeface="Calibri"/>
                        </a:rPr>
                        <a:t>prejuízo da observância</a:t>
                      </a:r>
                    </a:p>
                    <a:p>
                      <a:pPr algn="l">
                        <a:lnSpc>
                          <a:spcPct val="100000"/>
                        </a:lnSpc>
                        <a:spcBef>
                          <a:spcPts val="0"/>
                        </a:spcBef>
                        <a:spcAft>
                          <a:spcPts val="0"/>
                        </a:spcAft>
                      </a:pPr>
                      <a:r>
                        <a:rPr sz="1300" b="0">
                          <a:solidFill>
                            <a:srgbClr val="1F1F1F"/>
                          </a:solidFill>
                          <a:latin typeface="Calibri"/>
                        </a:rPr>
                        <a:t>dos procedimentos</a:t>
                      </a:r>
                    </a:p>
                    <a:p>
                      <a:pPr algn="l">
                        <a:lnSpc>
                          <a:spcPct val="100000"/>
                        </a:lnSpc>
                        <a:spcBef>
                          <a:spcPts val="0"/>
                        </a:spcBef>
                        <a:spcAft>
                          <a:spcPts val="0"/>
                        </a:spcAft>
                      </a:pPr>
                      <a:r>
                        <a:rPr sz="1300" b="0">
                          <a:solidFill>
                            <a:srgbClr val="1F1F1F"/>
                          </a:solidFill>
                          <a:latin typeface="Calibri"/>
                        </a:rPr>
                        <a:t>relativos às</a:t>
                      </a:r>
                    </a:p>
                    <a:p>
                      <a:pPr algn="l">
                        <a:lnSpc>
                          <a:spcPct val="100000"/>
                        </a:lnSpc>
                        <a:spcBef>
                          <a:spcPts val="0"/>
                        </a:spcBef>
                        <a:spcAft>
                          <a:spcPts val="0"/>
                        </a:spcAft>
                      </a:pPr>
                      <a:r>
                        <a:rPr sz="1300" b="0">
                          <a:solidFill>
                            <a:srgbClr val="1F1F1F"/>
                          </a:solidFill>
                          <a:latin typeface="Calibri"/>
                        </a:rPr>
                        <a:t>demonstrações</a:t>
                      </a:r>
                    </a:p>
                    <a:p>
                      <a:pPr algn="l">
                        <a:lnSpc>
                          <a:spcPct val="100000"/>
                        </a:lnSpc>
                        <a:spcBef>
                          <a:spcPts val="0"/>
                        </a:spcBef>
                        <a:spcAft>
                          <a:spcPts val="0"/>
                        </a:spcAft>
                      </a:pPr>
                      <a:r>
                        <a:rPr sz="1300" b="0">
                          <a:solidFill>
                            <a:srgbClr val="1F1F1F"/>
                          </a:solidFill>
                          <a:latin typeface="Calibri"/>
                        </a:rPr>
                        <a:t>contábeis, manter,</a:t>
                      </a:r>
                    </a:p>
                    <a:p>
                      <a:pPr algn="l">
                        <a:lnSpc>
                          <a:spcPct val="100000"/>
                        </a:lnSpc>
                        <a:spcBef>
                          <a:spcPts val="0"/>
                        </a:spcBef>
                        <a:spcAft>
                          <a:spcPts val="0"/>
                        </a:spcAft>
                      </a:pPr>
                      <a:r>
                        <a:rPr sz="1300" b="0">
                          <a:solidFill>
                            <a:srgbClr val="1F1F1F"/>
                          </a:solidFill>
                          <a:latin typeface="Calibri"/>
                        </a:rPr>
                        <a:t>separadamente,</a:t>
                      </a:r>
                    </a:p>
                    <a:p>
                      <a:pPr algn="l">
                        <a:lnSpc>
                          <a:spcPct val="100000"/>
                        </a:lnSpc>
                        <a:spcBef>
                          <a:spcPts val="0"/>
                        </a:spcBef>
                        <a:spcAft>
                          <a:spcPts val="0"/>
                        </a:spcAft>
                      </a:pPr>
                      <a:r>
                        <a:rPr sz="1300" b="0">
                          <a:solidFill>
                            <a:srgbClr val="1F1F1F"/>
                          </a:solidFill>
                          <a:latin typeface="Calibri"/>
                        </a:rPr>
                        <a:t>registros com</a:t>
                      </a:r>
                    </a:p>
                    <a:p>
                      <a:pPr algn="l">
                        <a:lnSpc>
                          <a:spcPct val="100000"/>
                        </a:lnSpc>
                        <a:spcBef>
                          <a:spcPts val="0"/>
                        </a:spcBef>
                        <a:spcAft>
                          <a:spcPts val="0"/>
                        </a:spcAft>
                      </a:pPr>
                      <a:r>
                        <a:rPr sz="1300" b="0">
                          <a:solidFill>
                            <a:srgbClr val="1F1F1F"/>
                          </a:solidFill>
                          <a:latin typeface="Calibri"/>
                        </a:rPr>
                        <a:t>informações completas</a:t>
                      </a:r>
                    </a:p>
                    <a:p>
                      <a:pPr algn="l">
                        <a:lnSpc>
                          <a:spcPct val="100000"/>
                        </a:lnSpc>
                        <a:spcBef>
                          <a:spcPts val="0"/>
                        </a:spcBef>
                        <a:spcAft>
                          <a:spcPts val="0"/>
                        </a:spcAft>
                      </a:pPr>
                      <a:r>
                        <a:rPr sz="1300" b="0">
                          <a:solidFill>
                            <a:srgbClr val="1F1F1F"/>
                          </a:solidFill>
                          <a:latin typeface="Calibri"/>
                        </a:rPr>
                        <a:t>sobre toda e qualquer</a:t>
                      </a:r>
                    </a:p>
                    <a:p>
                      <a:pPr algn="l">
                        <a:lnSpc>
                          <a:spcPct val="100000"/>
                        </a:lnSpc>
                        <a:spcBef>
                          <a:spcPts val="0"/>
                        </a:spcBef>
                        <a:spcAft>
                          <a:spcPts val="0"/>
                        </a:spcAft>
                      </a:pPr>
                      <a:r>
                        <a:rPr sz="1300" b="0">
                          <a:solidFill>
                            <a:srgbClr val="1F1F1F"/>
                          </a:solidFill>
                          <a:latin typeface="Calibri"/>
                        </a:rPr>
                        <a:t>modalidade de</a:t>
                      </a:r>
                    </a:p>
                    <a:p>
                      <a:pPr algn="l">
                        <a:lnSpc>
                          <a:spcPct val="100000"/>
                        </a:lnSpc>
                        <a:spcBef>
                          <a:spcPts val="0"/>
                        </a:spcBef>
                        <a:spcAft>
                          <a:spcPts val="0"/>
                        </a:spcAft>
                      </a:pPr>
                      <a:r>
                        <a:rPr sz="1300" b="0">
                          <a:solidFill>
                            <a:srgbClr val="1F1F1F"/>
                          </a:solidFill>
                          <a:latin typeface="Calibri"/>
                        </a:rPr>
                        <a:t>negociação realizada</a:t>
                      </a:r>
                    </a:p>
                    <a:p>
                      <a:pPr algn="l">
                        <a:lnSpc>
                          <a:spcPct val="100000"/>
                        </a:lnSpc>
                        <a:spcBef>
                          <a:spcPts val="0"/>
                        </a:spcBef>
                        <a:spcAft>
                          <a:spcPts val="0"/>
                        </a:spcAft>
                      </a:pPr>
                      <a:r>
                        <a:rPr sz="1300" b="0">
                          <a:solidFill>
                            <a:srgbClr val="1F1F1F"/>
                          </a:solidFill>
                          <a:latin typeface="Calibri"/>
                        </a:rPr>
                        <a:t>entre o ADMINISTRADOR,</a:t>
                      </a:r>
                    </a:p>
                    <a:p>
                      <a:pPr algn="l">
                        <a:lnSpc>
                          <a:spcPct val="100000"/>
                        </a:lnSpc>
                        <a:spcBef>
                          <a:spcPts val="0"/>
                        </a:spcBef>
                        <a:spcAft>
                          <a:spcPts val="0"/>
                        </a:spcAft>
                      </a:pPr>
                      <a:r>
                        <a:rPr sz="1300" b="0">
                          <a:solidFill>
                            <a:srgbClr val="1F1F1F"/>
                          </a:solidFill>
                          <a:latin typeface="Calibri"/>
                        </a:rPr>
                        <a:t>GESTOR, CUSTODIANTE,</a:t>
                      </a:r>
                    </a:p>
                    <a:p>
                      <a:pPr algn="l">
                        <a:lnSpc>
                          <a:spcPct val="100000"/>
                        </a:lnSpc>
                        <a:spcBef>
                          <a:spcPts val="0"/>
                        </a:spcBef>
                        <a:spcAft>
                          <a:spcPts val="0"/>
                        </a:spcAft>
                      </a:pPr>
                      <a:r>
                        <a:rPr sz="1300" b="0">
                          <a:solidFill>
                            <a:srgbClr val="1F1F1F"/>
                          </a:solidFill>
                          <a:latin typeface="Calibri"/>
                        </a:rPr>
                        <a:t>e/ou suas respectivas</a:t>
                      </a:r>
                    </a:p>
                    <a:p>
                      <a:pPr algn="l">
                        <a:lnSpc>
                          <a:spcPct val="100000"/>
                        </a:lnSpc>
                        <a:spcBef>
                          <a:spcPts val="0"/>
                        </a:spcBef>
                        <a:spcAft>
                          <a:spcPts val="0"/>
                        </a:spcAft>
                      </a:pPr>
                      <a:r>
                        <a:rPr sz="1300" b="0">
                          <a:solidFill>
                            <a:srgbClr val="1F1F1F"/>
                          </a:solidFill>
                          <a:latin typeface="Calibri"/>
                        </a:rPr>
                        <a:t>partes relacionadas,</a:t>
                      </a:r>
                    </a:p>
                    <a:p>
                      <a:pPr algn="l">
                        <a:lnSpc>
                          <a:spcPct val="100000"/>
                        </a:lnSpc>
                        <a:spcBef>
                          <a:spcPts val="0"/>
                        </a:spcBef>
                        <a:spcAft>
                          <a:spcPts val="0"/>
                        </a:spcAft>
                      </a:pPr>
                      <a:r>
                        <a:rPr sz="1300" b="0">
                          <a:solidFill>
                            <a:srgbClr val="1F1F1F"/>
                          </a:solidFill>
                          <a:latin typeface="Calibri"/>
                        </a:rPr>
                        <a:t>tais como definidas</a:t>
                      </a:r>
                    </a:p>
                    <a:p>
                      <a:pPr algn="l">
                        <a:lnSpc>
                          <a:spcPct val="100000"/>
                        </a:lnSpc>
                        <a:spcBef>
                          <a:spcPts val="0"/>
                        </a:spcBef>
                        <a:spcAft>
                          <a:spcPts val="0"/>
                        </a:spcAft>
                      </a:pPr>
                      <a:r>
                        <a:rPr sz="1300" b="0">
                          <a:solidFill>
                            <a:srgbClr val="1F1F1F"/>
                          </a:solidFill>
                          <a:latin typeface="Calibri"/>
                        </a:rPr>
                        <a:t>pelas regras contábeis</a:t>
                      </a:r>
                    </a:p>
                    <a:p>
                      <a:pPr algn="l">
                        <a:lnSpc>
                          <a:spcPct val="100000"/>
                        </a:lnSpc>
                        <a:spcBef>
                          <a:spcPts val="0"/>
                        </a:spcBef>
                        <a:spcAft>
                          <a:spcPts val="0"/>
                        </a:spcAft>
                      </a:pPr>
                      <a:r>
                        <a:rPr sz="1300" b="0">
                          <a:solidFill>
                            <a:srgbClr val="1F1F1F"/>
                          </a:solidFill>
                          <a:latin typeface="Calibri"/>
                        </a:rPr>
                        <a:t>que tratam desse</a:t>
                      </a:r>
                    </a:p>
                    <a:p>
                      <a:pPr algn="l">
                        <a:lnSpc>
                          <a:spcPct val="100000"/>
                        </a:lnSpc>
                        <a:spcBef>
                          <a:spcPts val="0"/>
                        </a:spcBef>
                        <a:spcAft>
                          <a:spcPts val="0"/>
                        </a:spcAft>
                      </a:pPr>
                      <a:r>
                        <a:rPr sz="1300" b="0">
                          <a:solidFill>
                            <a:srgbClr val="1F1F1F"/>
                          </a:solidFill>
                          <a:latin typeface="Calibri"/>
                        </a:rPr>
                        <a:t>assunto, de um lado; e</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110/160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Governança e alterações</a:t>
            </a:r>
          </a:p>
        </p:txBody>
      </p:sp>
      <p:graphicFrame>
        <p:nvGraphicFramePr>
          <p:cNvPr id="3" name="Table 2"/>
          <p:cNvGraphicFramePr>
            <a:graphicFrameLocks noGrp="1"/>
          </p:cNvGraphicFramePr>
          <p:nvPr/>
        </p:nvGraphicFramePr>
        <p:xfrm>
          <a:off x="438912" y="932688"/>
          <a:ext cx="11313868" cy="5253228"/>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4782312">
                <a:tc>
                  <a:txBody>
                    <a:bodyPr wrap="square">
                      <a:noAutofit/>
                    </a:bodyPr>
                    <a:lstStyle/>
                    <a:p>
                      <a:pPr algn="l">
                        <a:lnSpc>
                          <a:spcPct val="100000"/>
                        </a:lnSpc>
                        <a:spcBef>
                          <a:spcPts val="0"/>
                        </a:spcBef>
                        <a:spcAft>
                          <a:spcPts val="0"/>
                        </a:spcAft>
                      </a:pPr>
                      <a:r>
                        <a:rPr sz="1300" b="1">
                          <a:solidFill>
                            <a:srgbClr val="1F1F1F"/>
                          </a:solidFill>
                          <a:latin typeface="Calibri"/>
                        </a:rPr>
                        <a:t>Auditor independente e</a:t>
                      </a:r>
                    </a:p>
                    <a:p>
                      <a:pPr algn="l">
                        <a:lnSpc>
                          <a:spcPct val="100000"/>
                        </a:lnSpc>
                        <a:spcBef>
                          <a:spcPts val="0"/>
                        </a:spcBef>
                        <a:spcAft>
                          <a:spcPts val="0"/>
                        </a:spcAft>
                      </a:pPr>
                      <a:r>
                        <a:rPr sz="1300" b="1">
                          <a:solidFill>
                            <a:srgbClr val="1F1F1F"/>
                          </a:solidFill>
                          <a:latin typeface="Calibri"/>
                        </a:rPr>
                        <a:t>DFs (continuação)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Classe Única de</a:t>
                      </a:r>
                    </a:p>
                    <a:p>
                      <a:pPr algn="l">
                        <a:lnSpc>
                          <a:spcPct val="100000"/>
                        </a:lnSpc>
                        <a:spcBef>
                          <a:spcPts val="0"/>
                        </a:spcBef>
                        <a:spcAft>
                          <a:spcPts val="0"/>
                        </a:spcAft>
                      </a:pPr>
                      <a:r>
                        <a:rPr sz="1300" b="0">
                          <a:solidFill>
                            <a:srgbClr val="1F1F1F"/>
                          </a:solidFill>
                          <a:latin typeface="Calibri"/>
                        </a:rPr>
                        <a:t>Responsabilidade</a:t>
                      </a:r>
                    </a:p>
                    <a:p>
                      <a:pPr algn="l">
                        <a:lnSpc>
                          <a:spcPct val="100000"/>
                        </a:lnSpc>
                        <a:spcBef>
                          <a:spcPts val="0"/>
                        </a:spcBef>
                        <a:spcAft>
                          <a:spcPts val="0"/>
                        </a:spcAft>
                      </a:pPr>
                      <a:r>
                        <a:rPr sz="1300" b="0">
                          <a:solidFill>
                            <a:srgbClr val="1F1F1F"/>
                          </a:solidFill>
                          <a:latin typeface="Calibri"/>
                        </a:rPr>
                        <a:t>Limitada do Consignado</a:t>
                      </a:r>
                    </a:p>
                    <a:p>
                      <a:pPr algn="l">
                        <a:lnSpc>
                          <a:spcPct val="100000"/>
                        </a:lnSpc>
                        <a:spcBef>
                          <a:spcPts val="0"/>
                        </a:spcBef>
                        <a:spcAft>
                          <a:spcPts val="0"/>
                        </a:spcAft>
                      </a:pPr>
                      <a:r>
                        <a:rPr sz="1300" b="0">
                          <a:solidFill>
                            <a:srgbClr val="1F1F1F"/>
                          </a:solidFill>
                          <a:latin typeface="Calibri"/>
                        </a:rPr>
                        <a:t>Delta Receivables I</a:t>
                      </a:r>
                    </a:p>
                    <a:p>
                      <a:pPr algn="l">
                        <a:lnSpc>
                          <a:spcPct val="100000"/>
                        </a:lnSpc>
                        <a:spcBef>
                          <a:spcPts val="0"/>
                        </a:spcBef>
                        <a:spcAft>
                          <a:spcPts val="0"/>
                        </a:spcAft>
                      </a:pPr>
                      <a:r>
                        <a:rPr sz="1300" b="0">
                          <a:solidFill>
                            <a:srgbClr val="1F1F1F"/>
                          </a:solidFill>
                          <a:latin typeface="Calibri"/>
                        </a:rPr>
                        <a:t>Fundo de Investimento</a:t>
                      </a:r>
                    </a:p>
                    <a:p>
                      <a:pPr algn="l">
                        <a:lnSpc>
                          <a:spcPct val="100000"/>
                        </a:lnSpc>
                        <a:spcBef>
                          <a:spcPts val="0"/>
                        </a:spcBef>
                        <a:spcAft>
                          <a:spcPts val="0"/>
                        </a:spcAft>
                      </a:pPr>
                      <a:r>
                        <a:rPr sz="1300" b="0">
                          <a:solidFill>
                            <a:srgbClr val="1F1F1F"/>
                          </a:solidFill>
                          <a:latin typeface="Calibri"/>
                        </a:rPr>
                        <a:t>em Direitos Creditórios</a:t>
                      </a:r>
                    </a:p>
                    <a:p>
                      <a:pPr algn="l">
                        <a:lnSpc>
                          <a:spcPct val="100000"/>
                        </a:lnSpc>
                        <a:spcBef>
                          <a:spcPts val="0"/>
                        </a:spcBef>
                        <a:spcAft>
                          <a:spcPts val="0"/>
                        </a:spcAft>
                      </a:pPr>
                      <a:r>
                        <a:rPr sz="1300" b="0">
                          <a:solidFill>
                            <a:srgbClr val="1F1F1F"/>
                          </a:solidFill>
                          <a:latin typeface="Calibri"/>
                        </a:rPr>
                        <a:t>Demonstrações</a:t>
                      </a:r>
                    </a:p>
                    <a:p>
                      <a:pPr algn="l">
                        <a:lnSpc>
                          <a:spcPct val="100000"/>
                        </a:lnSpc>
                        <a:spcBef>
                          <a:spcPts val="0"/>
                        </a:spcBef>
                        <a:spcAft>
                          <a:spcPts val="0"/>
                        </a:spcAft>
                      </a:pPr>
                      <a:r>
                        <a:rPr sz="1300" b="0">
                          <a:solidFill>
                            <a:srgbClr val="1F1F1F"/>
                          </a:solidFill>
                          <a:latin typeface="Calibri"/>
                        </a:rPr>
                        <a:t>financeiras em 2 de</a:t>
                      </a:r>
                    </a:p>
                    <a:p>
                      <a:pPr algn="l">
                        <a:lnSpc>
                          <a:spcPct val="100000"/>
                        </a:lnSpc>
                        <a:spcBef>
                          <a:spcPts val="0"/>
                        </a:spcBef>
                        <a:spcAft>
                          <a:spcPts val="0"/>
                        </a:spcAft>
                      </a:pPr>
                      <a:r>
                        <a:rPr sz="1300" b="0">
                          <a:solidFill>
                            <a:srgbClr val="1F1F1F"/>
                          </a:solidFill>
                          <a:latin typeface="Calibri"/>
                        </a:rPr>
                        <a:t>fevereiro de 2026 (data</a:t>
                      </a:r>
                    </a:p>
                    <a:p>
                      <a:pPr algn="l">
                        <a:lnSpc>
                          <a:spcPct val="100000"/>
                        </a:lnSpc>
                        <a:spcBef>
                          <a:spcPts val="0"/>
                        </a:spcBef>
                        <a:spcAft>
                          <a:spcPts val="0"/>
                        </a:spcAft>
                      </a:pPr>
                      <a:r>
                        <a:rPr sz="1300" b="0">
                          <a:solidFill>
                            <a:srgbClr val="1F1F1F"/>
                          </a:solidFill>
                          <a:latin typeface="Calibri"/>
                        </a:rPr>
                        <a:t>da incorporação da</a:t>
                      </a:r>
                    </a:p>
                    <a:p>
                      <a:pPr algn="l">
                        <a:lnSpc>
                          <a:spcPct val="100000"/>
                        </a:lnSpc>
                        <a:spcBef>
                          <a:spcPts val="0"/>
                        </a:spcBef>
                        <a:spcAft>
                          <a:spcPts val="0"/>
                        </a:spcAft>
                      </a:pPr>
                      <a:r>
                        <a:rPr sz="1300" b="0">
                          <a:solidFill>
                            <a:srgbClr val="1F1F1F"/>
                          </a:solidFill>
                          <a:latin typeface="Calibri"/>
                        </a:rPr>
                        <a:t>Classe)</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Examinamos as</a:t>
                      </a:r>
                    </a:p>
                    <a:p>
                      <a:pPr algn="l">
                        <a:lnSpc>
                          <a:spcPct val="100000"/>
                        </a:lnSpc>
                        <a:spcBef>
                          <a:spcPts val="0"/>
                        </a:spcBef>
                        <a:spcAft>
                          <a:spcPts val="0"/>
                        </a:spcAft>
                      </a:pPr>
                      <a:r>
                        <a:rPr sz="1300" b="0">
                          <a:solidFill>
                            <a:srgbClr val="1F1F1F"/>
                          </a:solidFill>
                          <a:latin typeface="Calibri"/>
                        </a:rPr>
                        <a:t>demonstrações</a:t>
                      </a:r>
                    </a:p>
                    <a:p>
                      <a:pPr algn="l">
                        <a:lnSpc>
                          <a:spcPct val="100000"/>
                        </a:lnSpc>
                        <a:spcBef>
                          <a:spcPts val="0"/>
                        </a:spcBef>
                        <a:spcAft>
                          <a:spcPts val="0"/>
                        </a:spcAft>
                      </a:pPr>
                      <a:r>
                        <a:rPr sz="1300" b="0">
                          <a:solidFill>
                            <a:srgbClr val="1F1F1F"/>
                          </a:solidFill>
                          <a:latin typeface="Calibri"/>
                        </a:rPr>
                        <a:t>financeiras da Classe</a:t>
                      </a:r>
                    </a:p>
                    <a:p>
                      <a:pPr algn="l">
                        <a:lnSpc>
                          <a:spcPct val="100000"/>
                        </a:lnSpc>
                        <a:spcBef>
                          <a:spcPts val="0"/>
                        </a:spcBef>
                        <a:spcAft>
                          <a:spcPts val="0"/>
                        </a:spcAft>
                      </a:pPr>
                      <a:r>
                        <a:rPr sz="1300" b="0">
                          <a:solidFill>
                            <a:srgbClr val="1F1F1F"/>
                          </a:solidFill>
                          <a:latin typeface="Calibri"/>
                        </a:rPr>
                        <a:t>Única de</a:t>
                      </a:r>
                    </a:p>
                    <a:p>
                      <a:pPr algn="l">
                        <a:lnSpc>
                          <a:spcPct val="100000"/>
                        </a:lnSpc>
                        <a:spcBef>
                          <a:spcPts val="0"/>
                        </a:spcBef>
                        <a:spcAft>
                          <a:spcPts val="0"/>
                        </a:spcAft>
                      </a:pPr>
                      <a:r>
                        <a:rPr sz="1300" b="0">
                          <a:solidFill>
                            <a:srgbClr val="1F1F1F"/>
                          </a:solidFill>
                          <a:latin typeface="Calibri"/>
                        </a:rPr>
                        <a:t>Responsabilidade</a:t>
                      </a:r>
                    </a:p>
                    <a:p>
                      <a:pPr algn="l">
                        <a:lnSpc>
                          <a:spcPct val="100000"/>
                        </a:lnSpc>
                        <a:spcBef>
                          <a:spcPts val="0"/>
                        </a:spcBef>
                        <a:spcAft>
                          <a:spcPts val="0"/>
                        </a:spcAft>
                      </a:pPr>
                      <a:r>
                        <a:rPr sz="1300" b="0">
                          <a:solidFill>
                            <a:srgbClr val="1F1F1F"/>
                          </a:solidFill>
                          <a:latin typeface="Calibri"/>
                        </a:rPr>
                        <a:t>Limitada do Consignado</a:t>
                      </a:r>
                    </a:p>
                    <a:p>
                      <a:pPr algn="l">
                        <a:lnSpc>
                          <a:spcPct val="100000"/>
                        </a:lnSpc>
                        <a:spcBef>
                          <a:spcPts val="0"/>
                        </a:spcBef>
                        <a:spcAft>
                          <a:spcPts val="0"/>
                        </a:spcAft>
                      </a:pPr>
                      <a:r>
                        <a:rPr sz="1300" b="0">
                          <a:solidFill>
                            <a:srgbClr val="1F1F1F"/>
                          </a:solidFill>
                          <a:latin typeface="Calibri"/>
                        </a:rPr>
                        <a:t>Delta Receivables I</a:t>
                      </a:r>
                    </a:p>
                    <a:p>
                      <a:pPr algn="l">
                        <a:lnSpc>
                          <a:spcPct val="100000"/>
                        </a:lnSpc>
                        <a:spcBef>
                          <a:spcPts val="0"/>
                        </a:spcBef>
                        <a:spcAft>
                          <a:spcPts val="0"/>
                        </a:spcAft>
                      </a:pPr>
                      <a:r>
                        <a:rPr sz="1300" b="0">
                          <a:solidFill>
                            <a:srgbClr val="1F1F1F"/>
                          </a:solidFill>
                          <a:latin typeface="Calibri"/>
                        </a:rPr>
                        <a:t>Fundo de Investimento</a:t>
                      </a:r>
                    </a:p>
                    <a:p>
                      <a:pPr algn="l">
                        <a:lnSpc>
                          <a:spcPct val="100000"/>
                        </a:lnSpc>
                        <a:spcBef>
                          <a:spcPts val="0"/>
                        </a:spcBef>
                        <a:spcAft>
                          <a:spcPts val="0"/>
                        </a:spcAft>
                      </a:pPr>
                      <a:r>
                        <a:rPr sz="1300" b="0">
                          <a:solidFill>
                            <a:srgbClr val="1F1F1F"/>
                          </a:solidFill>
                          <a:latin typeface="Calibri"/>
                        </a:rPr>
                        <a:t>em Direitos Creditórios</a:t>
                      </a:r>
                    </a:p>
                    <a:p>
                      <a:pPr algn="l">
                        <a:lnSpc>
                          <a:spcPct val="100000"/>
                        </a:lnSpc>
                        <a:spcBef>
                          <a:spcPts val="0"/>
                        </a:spcBef>
                        <a:spcAft>
                          <a:spcPts val="0"/>
                        </a:spcAft>
                      </a:pPr>
                      <a:r>
                        <a:rPr sz="1300" b="0">
                          <a:solidFill>
                            <a:srgbClr val="1F1F1F"/>
                          </a:solidFill>
                          <a:latin typeface="Calibri"/>
                        </a:rPr>
                        <a:t>(“Classe”),</a:t>
                      </a:r>
                    </a:p>
                    <a:p>
                      <a:pPr algn="l">
                        <a:lnSpc>
                          <a:spcPct val="100000"/>
                        </a:lnSpc>
                        <a:spcBef>
                          <a:spcPts val="0"/>
                        </a:spcBef>
                        <a:spcAft>
                          <a:spcPts val="0"/>
                        </a:spcAft>
                      </a:pPr>
                      <a:r>
                        <a:rPr sz="1300" b="0">
                          <a:solidFill>
                            <a:srgbClr val="1F1F1F"/>
                          </a:solidFill>
                          <a:latin typeface="Calibri"/>
                        </a:rPr>
                        <a:t>administrada pela BTG</a:t>
                      </a:r>
                    </a:p>
                    <a:p>
                      <a:pPr algn="l">
                        <a:lnSpc>
                          <a:spcPct val="100000"/>
                        </a:lnSpc>
                        <a:spcBef>
                          <a:spcPts val="0"/>
                        </a:spcBef>
                        <a:spcAft>
                          <a:spcPts val="0"/>
                        </a:spcAft>
                      </a:pPr>
                      <a:r>
                        <a:rPr sz="1300" b="0">
                          <a:solidFill>
                            <a:srgbClr val="1F1F1F"/>
                          </a:solidFill>
                          <a:latin typeface="Calibri"/>
                        </a:rPr>
                        <a:t>Pactual Serviços</a:t>
                      </a:r>
                    </a:p>
                    <a:p>
                      <a:pPr algn="l">
                        <a:lnSpc>
                          <a:spcPct val="100000"/>
                        </a:lnSpc>
                        <a:spcBef>
                          <a:spcPts val="0"/>
                        </a:spcBef>
                        <a:spcAft>
                          <a:spcPts val="0"/>
                        </a:spcAft>
                      </a:pPr>
                      <a:r>
                        <a:rPr sz="1300" b="0">
                          <a:solidFill>
                            <a:srgbClr val="1F1F1F"/>
                          </a:solidFill>
                          <a:latin typeface="Calibri"/>
                        </a:rPr>
                        <a:t>Financeiros S.A.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a Classe, de outro;.</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4.6.1 As deliberações</a:t>
                      </a:r>
                    </a:p>
                    <a:p>
                      <a:pPr algn="l">
                        <a:lnSpc>
                          <a:spcPct val="100000"/>
                        </a:lnSpc>
                        <a:spcBef>
                          <a:spcPts val="0"/>
                        </a:spcBef>
                        <a:spcAft>
                          <a:spcPts val="0"/>
                        </a:spcAft>
                      </a:pPr>
                      <a:r>
                        <a:rPr sz="1300" b="0">
                          <a:solidFill>
                            <a:srgbClr val="1F1F1F"/>
                          </a:solidFill>
                          <a:latin typeface="Calibri"/>
                        </a:rPr>
                        <a:t>relativas às matérias</a:t>
                      </a:r>
                    </a:p>
                    <a:p>
                      <a:pPr algn="l">
                        <a:lnSpc>
                          <a:spcPct val="100000"/>
                        </a:lnSpc>
                        <a:spcBef>
                          <a:spcPts val="0"/>
                        </a:spcBef>
                        <a:spcAft>
                          <a:spcPts val="0"/>
                        </a:spcAft>
                      </a:pPr>
                      <a:r>
                        <a:rPr sz="1300" b="0">
                          <a:solidFill>
                            <a:srgbClr val="1F1F1F"/>
                          </a:solidFill>
                          <a:latin typeface="Calibri"/>
                        </a:rPr>
                        <a:t>elencadas nos incisos</a:t>
                      </a:r>
                    </a:p>
                    <a:p>
                      <a:pPr algn="l">
                        <a:lnSpc>
                          <a:spcPct val="100000"/>
                        </a:lnSpc>
                        <a:spcBef>
                          <a:spcPts val="0"/>
                        </a:spcBef>
                        <a:spcAft>
                          <a:spcPts val="0"/>
                        </a:spcAft>
                      </a:pPr>
                      <a:r>
                        <a:rPr sz="1300" b="0">
                          <a:solidFill>
                            <a:srgbClr val="1F1F1F"/>
                          </a:solidFill>
                          <a:latin typeface="Calibri"/>
                        </a:rPr>
                        <a:t>abaixo serão tomadas,</a:t>
                      </a:r>
                    </a:p>
                    <a:p>
                      <a:pPr algn="l">
                        <a:lnSpc>
                          <a:spcPct val="100000"/>
                        </a:lnSpc>
                        <a:spcBef>
                          <a:spcPts val="0"/>
                        </a:spcBef>
                        <a:spcAft>
                          <a:spcPts val="0"/>
                        </a:spcAft>
                      </a:pPr>
                      <a:r>
                        <a:rPr sz="1300" b="0">
                          <a:solidFill>
                            <a:srgbClr val="1F1F1F"/>
                          </a:solidFill>
                          <a:latin typeface="Calibri"/>
                        </a:rPr>
                        <a:t>em primeira convocação</a:t>
                      </a:r>
                    </a:p>
                    <a:p>
                      <a:pPr algn="l">
                        <a:lnSpc>
                          <a:spcPct val="100000"/>
                        </a:lnSpc>
                        <a:spcBef>
                          <a:spcPts val="0"/>
                        </a:spcBef>
                        <a:spcAft>
                          <a:spcPts val="0"/>
                        </a:spcAft>
                      </a:pPr>
                      <a:r>
                        <a:rPr sz="1300" b="0">
                          <a:solidFill>
                            <a:srgbClr val="1F1F1F"/>
                          </a:solidFill>
                          <a:latin typeface="Calibri"/>
                        </a:rPr>
                        <a:t>ou em segunda</a:t>
                      </a:r>
                    </a:p>
                    <a:p>
                      <a:pPr algn="l">
                        <a:lnSpc>
                          <a:spcPct val="100000"/>
                        </a:lnSpc>
                        <a:spcBef>
                          <a:spcPts val="0"/>
                        </a:spcBef>
                        <a:spcAft>
                          <a:spcPts val="0"/>
                        </a:spcAft>
                      </a:pPr>
                      <a:r>
                        <a:rPr sz="1300" b="0">
                          <a:solidFill>
                            <a:srgbClr val="1F1F1F"/>
                          </a:solidFill>
                          <a:latin typeface="Calibri"/>
                        </a:rPr>
                        <a:t>convocação, conforme os</a:t>
                      </a:r>
                    </a:p>
                    <a:p>
                      <a:pPr algn="l">
                        <a:lnSpc>
                          <a:spcPct val="100000"/>
                        </a:lnSpc>
                        <a:spcBef>
                          <a:spcPts val="0"/>
                        </a:spcBef>
                        <a:spcAft>
                          <a:spcPts val="0"/>
                        </a:spcAft>
                      </a:pPr>
                      <a:r>
                        <a:rPr sz="1300" b="0">
                          <a:solidFill>
                            <a:srgbClr val="1F1F1F"/>
                          </a:solidFill>
                          <a:latin typeface="Calibri"/>
                        </a:rPr>
                        <a:t>quóruns dispostos</a:t>
                      </a:r>
                    </a:p>
                    <a:p>
                      <a:pPr algn="l">
                        <a:lnSpc>
                          <a:spcPct val="100000"/>
                        </a:lnSpc>
                        <a:spcBef>
                          <a:spcPts val="0"/>
                        </a:spcBef>
                        <a:spcAft>
                          <a:spcPts val="0"/>
                        </a:spcAft>
                      </a:pPr>
                      <a:r>
                        <a:rPr sz="1300" b="0">
                          <a:solidFill>
                            <a:srgbClr val="1F1F1F"/>
                          </a:solidFill>
                          <a:latin typeface="Calibri"/>
                        </a:rPr>
                        <a:t>abaixo, em sede</a:t>
                      </a:r>
                    </a:p>
                    <a:p>
                      <a:pPr algn="l">
                        <a:lnSpc>
                          <a:spcPct val="100000"/>
                        </a:lnSpc>
                        <a:spcBef>
                          <a:spcPts val="0"/>
                        </a:spcBef>
                        <a:spcAft>
                          <a:spcPts val="0"/>
                        </a:spcAft>
                      </a:pPr>
                      <a:r>
                        <a:rPr sz="1300" b="0">
                          <a:solidFill>
                            <a:srgbClr val="1F1F1F"/>
                          </a:solidFill>
                          <a:latin typeface="Calibri"/>
                        </a:rPr>
                        <a:t>assembleia geral de</a:t>
                      </a:r>
                    </a:p>
                    <a:p>
                      <a:pPr algn="l">
                        <a:lnSpc>
                          <a:spcPct val="100000"/>
                        </a:lnSpc>
                        <a:spcBef>
                          <a:spcPts val="0"/>
                        </a:spcBef>
                        <a:spcAft>
                          <a:spcPts val="0"/>
                        </a:spcAft>
                      </a:pPr>
                      <a:r>
                        <a:rPr sz="1300" b="0">
                          <a:solidFill>
                            <a:srgbClr val="1F1F1F"/>
                          </a:solidFill>
                          <a:latin typeface="Calibri"/>
                        </a:rPr>
                        <a:t>cotistas ou de</a:t>
                      </a:r>
                    </a:p>
                    <a:p>
                      <a:pPr algn="l">
                        <a:lnSpc>
                          <a:spcPct val="100000"/>
                        </a:lnSpc>
                        <a:spcBef>
                          <a:spcPts val="0"/>
                        </a:spcBef>
                        <a:spcAft>
                          <a:spcPts val="0"/>
                        </a:spcAft>
                      </a:pPr>
                      <a:r>
                        <a:rPr sz="1300" b="0">
                          <a:solidFill>
                            <a:srgbClr val="1F1F1F"/>
                          </a:solidFill>
                          <a:latin typeface="Calibri"/>
                        </a:rPr>
                        <a:t>assembleia especial de</a:t>
                      </a:r>
                    </a:p>
                    <a:p>
                      <a:pPr algn="l">
                        <a:lnSpc>
                          <a:spcPct val="100000"/>
                        </a:lnSpc>
                        <a:spcBef>
                          <a:spcPts val="0"/>
                        </a:spcBef>
                        <a:spcAft>
                          <a:spcPts val="0"/>
                        </a:spcAft>
                      </a:pPr>
                      <a:r>
                        <a:rPr sz="1300" b="0">
                          <a:solidFill>
                            <a:srgbClr val="1F1F1F"/>
                          </a:solidFill>
                          <a:latin typeface="Calibri"/>
                        </a:rPr>
                        <a:t>cotistas, conforme o</a:t>
                      </a:r>
                    </a:p>
                    <a:p>
                      <a:pPr algn="l">
                        <a:lnSpc>
                          <a:spcPct val="100000"/>
                        </a:lnSpc>
                        <a:spcBef>
                          <a:spcPts val="0"/>
                        </a:spcBef>
                        <a:spcAft>
                          <a:spcPts val="0"/>
                        </a:spcAft>
                      </a:pPr>
                      <a:r>
                        <a:rPr sz="1300" b="0">
                          <a:solidFill>
                            <a:srgbClr val="1F1F1F"/>
                          </a:solidFill>
                          <a:latin typeface="Calibri"/>
                        </a:rPr>
                        <a:t>caso: MATÉRIA SUJEITA À</a:t>
                      </a:r>
                    </a:p>
                    <a:p>
                      <a:pPr algn="l">
                        <a:lnSpc>
                          <a:spcPct val="100000"/>
                        </a:lnSpc>
                        <a:spcBef>
                          <a:spcPts val="0"/>
                        </a:spcBef>
                        <a:spcAft>
                          <a:spcPts val="0"/>
                        </a:spcAft>
                      </a:pPr>
                      <a:r>
                        <a:rPr sz="1300" b="0">
                          <a:solidFill>
                            <a:srgbClr val="1F1F1F"/>
                          </a:solidFill>
                          <a:latin typeface="Calibri"/>
                        </a:rPr>
                        <a:t>APROVAÇÃO QUÓRUM DE</a:t>
                      </a:r>
                    </a:p>
                    <a:p>
                      <a:pPr algn="l">
                        <a:lnSpc>
                          <a:spcPct val="100000"/>
                        </a:lnSpc>
                        <a:spcBef>
                          <a:spcPts val="0"/>
                        </a:spcBef>
                        <a:spcAft>
                          <a:spcPts val="0"/>
                        </a:spcAft>
                      </a:pPr>
                      <a:r>
                        <a:rPr sz="1300" b="0">
                          <a:solidFill>
                            <a:srgbClr val="1F1F1F"/>
                          </a:solidFill>
                          <a:latin typeface="Calibri"/>
                        </a:rPr>
                        <a:t>DELIBERAÇÃO (i)</a:t>
                      </a:r>
                    </a:p>
                    <a:p>
                      <a:pPr algn="l">
                        <a:lnSpc>
                          <a:spcPct val="100000"/>
                        </a:lnSpc>
                        <a:spcBef>
                          <a:spcPts val="0"/>
                        </a:spcBef>
                        <a:spcAft>
                          <a:spcPts val="0"/>
                        </a:spcAft>
                      </a:pPr>
                      <a:r>
                        <a:rPr sz="1300" b="0">
                          <a:solidFill>
                            <a:srgbClr val="1F1F1F"/>
                          </a:solidFill>
                          <a:latin typeface="Calibri"/>
                        </a:rPr>
                        <a:t>aprovação das</a:t>
                      </a:r>
                    </a:p>
                    <a:p>
                      <a:pPr algn="l">
                        <a:lnSpc>
                          <a:spcPct val="100000"/>
                        </a:lnSpc>
                        <a:spcBef>
                          <a:spcPts val="0"/>
                        </a:spcBef>
                        <a:spcAft>
                          <a:spcPts val="0"/>
                        </a:spcAft>
                      </a:pPr>
                      <a:r>
                        <a:rPr sz="1300" b="0">
                          <a:solidFill>
                            <a:srgbClr val="1F1F1F"/>
                          </a:solidFill>
                          <a:latin typeface="Calibri"/>
                        </a:rPr>
                        <a:t>demonstrações contábeis</a:t>
                      </a:r>
                    </a:p>
                    <a:p>
                      <a:pPr algn="l">
                        <a:lnSpc>
                          <a:spcPct val="100000"/>
                        </a:lnSpc>
                        <a:spcBef>
                          <a:spcPts val="0"/>
                        </a:spcBef>
                        <a:spcAft>
                          <a:spcPts val="0"/>
                        </a:spcAft>
                      </a:pPr>
                      <a:r>
                        <a:rPr sz="1300" b="0">
                          <a:solidFill>
                            <a:srgbClr val="1F1F1F"/>
                          </a:solidFill>
                          <a:latin typeface="Calibri"/>
                        </a:rPr>
                        <a:t>do FUNDO; Maioria do</a:t>
                      </a:r>
                    </a:p>
                    <a:p>
                      <a:pPr algn="l">
                        <a:lnSpc>
                          <a:spcPct val="100000"/>
                        </a:lnSpc>
                        <a:spcBef>
                          <a:spcPts val="0"/>
                        </a:spcBef>
                        <a:spcAft>
                          <a:spcPts val="0"/>
                        </a:spcAft>
                      </a:pPr>
                      <a:r>
                        <a:rPr sz="1300" b="0">
                          <a:solidFill>
                            <a:srgbClr val="1F1F1F"/>
                          </a:solidFill>
                          <a:latin typeface="Calibri"/>
                        </a:rPr>
                        <a:t>total das Cotas</a:t>
                      </a:r>
                    </a:p>
                    <a:p>
                      <a:pPr algn="l">
                        <a:lnSpc>
                          <a:spcPct val="100000"/>
                        </a:lnSpc>
                        <a:spcBef>
                          <a:spcPts val="0"/>
                        </a:spcBef>
                        <a:spcAft>
                          <a:spcPts val="0"/>
                        </a:spcAft>
                      </a:pPr>
                      <a:r>
                        <a:rPr sz="1300" b="0">
                          <a:solidFill>
                            <a:srgbClr val="1F1F1F"/>
                          </a:solidFill>
                          <a:latin typeface="Calibri"/>
                        </a:rPr>
                        <a:t>emitidas</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111/160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Governança e alterações</a:t>
            </a:r>
          </a:p>
        </p:txBody>
      </p:sp>
      <p:graphicFrame>
        <p:nvGraphicFramePr>
          <p:cNvPr id="3" name="Table 2"/>
          <p:cNvGraphicFramePr>
            <a:graphicFrameLocks noGrp="1"/>
          </p:cNvGraphicFramePr>
          <p:nvPr/>
        </p:nvGraphicFramePr>
        <p:xfrm>
          <a:off x="438912" y="932688"/>
          <a:ext cx="11313868" cy="5253228"/>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4782312">
                <a:tc>
                  <a:txBody>
                    <a:bodyPr wrap="square">
                      <a:noAutofit/>
                    </a:bodyPr>
                    <a:lstStyle/>
                    <a:p>
                      <a:pPr algn="l">
                        <a:lnSpc>
                          <a:spcPct val="100000"/>
                        </a:lnSpc>
                        <a:spcBef>
                          <a:spcPts val="0"/>
                        </a:spcBef>
                        <a:spcAft>
                          <a:spcPts val="0"/>
                        </a:spcAft>
                      </a:pPr>
                      <a:r>
                        <a:rPr sz="1300" b="1">
                          <a:solidFill>
                            <a:srgbClr val="1F1F1F"/>
                          </a:solidFill>
                          <a:latin typeface="Calibri"/>
                        </a:rPr>
                        <a:t>Auditor independente e</a:t>
                      </a:r>
                    </a:p>
                    <a:p>
                      <a:pPr algn="l">
                        <a:lnSpc>
                          <a:spcPct val="100000"/>
                        </a:lnSpc>
                        <a:spcBef>
                          <a:spcPts val="0"/>
                        </a:spcBef>
                        <a:spcAft>
                          <a:spcPts val="0"/>
                        </a:spcAft>
                      </a:pPr>
                      <a:r>
                        <a:rPr sz="1300" b="1">
                          <a:solidFill>
                            <a:srgbClr val="1F1F1F"/>
                          </a:solidFill>
                          <a:latin typeface="Calibri"/>
                        </a:rPr>
                        <a:t>DFs (continuação)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Distribuidora de</a:t>
                      </a:r>
                    </a:p>
                    <a:p>
                      <a:pPr algn="l">
                        <a:lnSpc>
                          <a:spcPct val="100000"/>
                        </a:lnSpc>
                        <a:spcBef>
                          <a:spcPts val="0"/>
                        </a:spcBef>
                        <a:spcAft>
                          <a:spcPts val="0"/>
                        </a:spcAft>
                      </a:pPr>
                      <a:r>
                        <a:rPr sz="1300" b="0">
                          <a:solidFill>
                            <a:srgbClr val="1F1F1F"/>
                          </a:solidFill>
                          <a:latin typeface="Calibri"/>
                        </a:rPr>
                        <a:t>Títulos e Valores</a:t>
                      </a:r>
                    </a:p>
                    <a:p>
                      <a:pPr algn="l">
                        <a:lnSpc>
                          <a:spcPct val="100000"/>
                        </a:lnSpc>
                        <a:spcBef>
                          <a:spcPts val="0"/>
                        </a:spcBef>
                        <a:spcAft>
                          <a:spcPts val="0"/>
                        </a:spcAft>
                      </a:pPr>
                      <a:r>
                        <a:rPr sz="1300" b="0">
                          <a:solidFill>
                            <a:srgbClr val="1F1F1F"/>
                          </a:solidFill>
                          <a:latin typeface="Calibri"/>
                        </a:rPr>
                        <a:t>Mobiliários</a:t>
                      </a:r>
                    </a:p>
                    <a:p>
                      <a:pPr algn="l">
                        <a:lnSpc>
                          <a:spcPct val="100000"/>
                        </a:lnSpc>
                        <a:spcBef>
                          <a:spcPts val="0"/>
                        </a:spcBef>
                        <a:spcAft>
                          <a:spcPts val="0"/>
                        </a:spcAft>
                      </a:pPr>
                      <a:r>
                        <a:rPr sz="1300" b="0">
                          <a:solidFill>
                            <a:srgbClr val="1F1F1F"/>
                          </a:solidFill>
                          <a:latin typeface="Calibri"/>
                        </a:rPr>
                        <a:t>(“Administradora”), que</a:t>
                      </a:r>
                    </a:p>
                    <a:p>
                      <a:pPr algn="l">
                        <a:lnSpc>
                          <a:spcPct val="100000"/>
                        </a:lnSpc>
                        <a:spcBef>
                          <a:spcPts val="0"/>
                        </a:spcBef>
                        <a:spcAft>
                          <a:spcPts val="0"/>
                        </a:spcAft>
                      </a:pPr>
                      <a:r>
                        <a:rPr sz="1300" b="0">
                          <a:solidFill>
                            <a:srgbClr val="1F1F1F"/>
                          </a:solidFill>
                          <a:latin typeface="Calibri"/>
                        </a:rPr>
                        <a:t>compreendem a</a:t>
                      </a:r>
                    </a:p>
                    <a:p>
                      <a:pPr algn="l">
                        <a:lnSpc>
                          <a:spcPct val="100000"/>
                        </a:lnSpc>
                        <a:spcBef>
                          <a:spcPts val="0"/>
                        </a:spcBef>
                        <a:spcAft>
                          <a:spcPts val="0"/>
                        </a:spcAft>
                      </a:pPr>
                      <a:r>
                        <a:rPr sz="1300" b="0">
                          <a:solidFill>
                            <a:srgbClr val="1F1F1F"/>
                          </a:solidFill>
                          <a:latin typeface="Calibri"/>
                        </a:rPr>
                        <a:t>demonstração da posição</a:t>
                      </a:r>
                    </a:p>
                    <a:p>
                      <a:pPr algn="l">
                        <a:lnSpc>
                          <a:spcPct val="100000"/>
                        </a:lnSpc>
                        <a:spcBef>
                          <a:spcPts val="0"/>
                        </a:spcBef>
                        <a:spcAft>
                          <a:spcPts val="0"/>
                        </a:spcAft>
                      </a:pPr>
                      <a:r>
                        <a:rPr sz="1300" b="0">
                          <a:solidFill>
                            <a:srgbClr val="1F1F1F"/>
                          </a:solidFill>
                          <a:latin typeface="Calibri"/>
                        </a:rPr>
                        <a:t>financeira em 2 de</a:t>
                      </a:r>
                    </a:p>
                    <a:p>
                      <a:pPr algn="l">
                        <a:lnSpc>
                          <a:spcPct val="100000"/>
                        </a:lnSpc>
                        <a:spcBef>
                          <a:spcPts val="0"/>
                        </a:spcBef>
                        <a:spcAft>
                          <a:spcPts val="0"/>
                        </a:spcAft>
                      </a:pPr>
                      <a:r>
                        <a:rPr sz="1300" b="0">
                          <a:solidFill>
                            <a:srgbClr val="1F1F1F"/>
                          </a:solidFill>
                          <a:latin typeface="Calibri"/>
                        </a:rPr>
                        <a:t>fevereiro de 2026 e as</a:t>
                      </a:r>
                    </a:p>
                    <a:p>
                      <a:pPr algn="l">
                        <a:lnSpc>
                          <a:spcPct val="100000"/>
                        </a:lnSpc>
                        <a:spcBef>
                          <a:spcPts val="0"/>
                        </a:spcBef>
                        <a:spcAft>
                          <a:spcPts val="0"/>
                        </a:spcAft>
                      </a:pPr>
                      <a:r>
                        <a:rPr sz="1300" b="0">
                          <a:solidFill>
                            <a:srgbClr val="1F1F1F"/>
                          </a:solidFill>
                          <a:latin typeface="Calibri"/>
                        </a:rPr>
                        <a:t>respectivas</a:t>
                      </a:r>
                    </a:p>
                    <a:p>
                      <a:pPr algn="l">
                        <a:lnSpc>
                          <a:spcPct val="100000"/>
                        </a:lnSpc>
                        <a:spcBef>
                          <a:spcPts val="0"/>
                        </a:spcBef>
                        <a:spcAft>
                          <a:spcPts val="0"/>
                        </a:spcAft>
                      </a:pPr>
                      <a:r>
                        <a:rPr sz="1300" b="0">
                          <a:solidFill>
                            <a:srgbClr val="1F1F1F"/>
                          </a:solidFill>
                          <a:latin typeface="Calibri"/>
                        </a:rPr>
                        <a:t>demonstrações do</a:t>
                      </a:r>
                    </a:p>
                    <a:p>
                      <a:pPr algn="l">
                        <a:lnSpc>
                          <a:spcPct val="100000"/>
                        </a:lnSpc>
                        <a:spcBef>
                          <a:spcPts val="0"/>
                        </a:spcBef>
                        <a:spcAft>
                          <a:spcPts val="0"/>
                        </a:spcAft>
                      </a:pPr>
                      <a:r>
                        <a:rPr sz="1300" b="0">
                          <a:solidFill>
                            <a:srgbClr val="1F1F1F"/>
                          </a:solidFill>
                          <a:latin typeface="Calibri"/>
                        </a:rPr>
                        <a:t>resultado e do</a:t>
                      </a:r>
                    </a:p>
                    <a:p>
                      <a:pPr algn="l">
                        <a:lnSpc>
                          <a:spcPct val="100000"/>
                        </a:lnSpc>
                        <a:spcBef>
                          <a:spcPts val="0"/>
                        </a:spcBef>
                        <a:spcAft>
                          <a:spcPts val="0"/>
                        </a:spcAft>
                      </a:pPr>
                      <a:r>
                        <a:rPr sz="1300" b="0">
                          <a:solidFill>
                            <a:srgbClr val="1F1F1F"/>
                          </a:solidFill>
                          <a:latin typeface="Calibri"/>
                        </a:rPr>
                        <a:t>resultado abrangente,</a:t>
                      </a:r>
                    </a:p>
                    <a:p>
                      <a:pPr algn="l">
                        <a:lnSpc>
                          <a:spcPct val="100000"/>
                        </a:lnSpc>
                        <a:spcBef>
                          <a:spcPts val="0"/>
                        </a:spcBef>
                        <a:spcAft>
                          <a:spcPts val="0"/>
                        </a:spcAft>
                      </a:pPr>
                      <a:r>
                        <a:rPr sz="1300" b="0">
                          <a:solidFill>
                            <a:srgbClr val="1F1F1F"/>
                          </a:solidFill>
                          <a:latin typeface="Calibri"/>
                        </a:rPr>
                        <a:t>das evoluções do</a:t>
                      </a:r>
                    </a:p>
                    <a:p>
                      <a:pPr algn="l">
                        <a:lnSpc>
                          <a:spcPct val="100000"/>
                        </a:lnSpc>
                        <a:spcBef>
                          <a:spcPts val="0"/>
                        </a:spcBef>
                        <a:spcAft>
                          <a:spcPts val="0"/>
                        </a:spcAft>
                      </a:pPr>
                      <a:r>
                        <a:rPr sz="1300" b="0">
                          <a:solidFill>
                            <a:srgbClr val="1F1F1F"/>
                          </a:solidFill>
                          <a:latin typeface="Calibri"/>
                        </a:rPr>
                        <a:t>patrimônio líquido e</a:t>
                      </a:r>
                    </a:p>
                    <a:p>
                      <a:pPr algn="l">
                        <a:lnSpc>
                          <a:spcPct val="100000"/>
                        </a:lnSpc>
                        <a:spcBef>
                          <a:spcPts val="0"/>
                        </a:spcBef>
                        <a:spcAft>
                          <a:spcPts val="0"/>
                        </a:spcAft>
                      </a:pPr>
                      <a:r>
                        <a:rPr sz="1300" b="0">
                          <a:solidFill>
                            <a:srgbClr val="1F1F1F"/>
                          </a:solidFill>
                          <a:latin typeface="Calibri"/>
                        </a:rPr>
                        <a:t>dos fluxos de caixa</a:t>
                      </a:r>
                    </a:p>
                    <a:p>
                      <a:pPr algn="l">
                        <a:lnSpc>
                          <a:spcPct val="100000"/>
                        </a:lnSpc>
                        <a:spcBef>
                          <a:spcPts val="0"/>
                        </a:spcBef>
                        <a:spcAft>
                          <a:spcPts val="0"/>
                        </a:spcAft>
                      </a:pPr>
                      <a:r>
                        <a:rPr sz="1300" b="0">
                          <a:solidFill>
                            <a:srgbClr val="1F1F1F"/>
                          </a:solidFill>
                          <a:latin typeface="Calibri"/>
                        </a:rPr>
                        <a:t>para o período de 1° de</a:t>
                      </a:r>
                    </a:p>
                    <a:p>
                      <a:pPr algn="l">
                        <a:lnSpc>
                          <a:spcPct val="100000"/>
                        </a:lnSpc>
                        <a:spcBef>
                          <a:spcPts val="0"/>
                        </a:spcBef>
                        <a:spcAft>
                          <a:spcPts val="0"/>
                        </a:spcAft>
                      </a:pPr>
                      <a:r>
                        <a:rPr sz="1300" b="0">
                          <a:solidFill>
                            <a:srgbClr val="1F1F1F"/>
                          </a:solidFill>
                          <a:latin typeface="Calibri"/>
                        </a:rPr>
                        <a:t>janeiro de 2026 (data</a:t>
                      </a:r>
                    </a:p>
                    <a:p>
                      <a:pPr algn="l">
                        <a:lnSpc>
                          <a:spcPct val="100000"/>
                        </a:lnSpc>
                        <a:spcBef>
                          <a:spcPts val="0"/>
                        </a:spcBef>
                        <a:spcAft>
                          <a:spcPts val="0"/>
                        </a:spcAft>
                      </a:pPr>
                      <a:r>
                        <a:rPr sz="1300" b="0">
                          <a:solidFill>
                            <a:srgbClr val="1F1F1F"/>
                          </a:solidFill>
                          <a:latin typeface="Calibri"/>
                        </a:rPr>
                        <a:t>de início do exercício</a:t>
                      </a:r>
                    </a:p>
                    <a:p>
                      <a:pPr algn="l">
                        <a:lnSpc>
                          <a:spcPct val="100000"/>
                        </a:lnSpc>
                        <a:spcBef>
                          <a:spcPts val="0"/>
                        </a:spcBef>
                        <a:spcAft>
                          <a:spcPts val="0"/>
                        </a:spcAft>
                      </a:pPr>
                      <a:r>
                        <a:rPr sz="1300" b="0">
                          <a:solidFill>
                            <a:srgbClr val="1F1F1F"/>
                          </a:solidFill>
                          <a:latin typeface="Calibri"/>
                        </a:rPr>
                        <a:t>social da Classe) a 2</a:t>
                      </a:r>
                    </a:p>
                    <a:p>
                      <a:pPr algn="l">
                        <a:lnSpc>
                          <a:spcPct val="100000"/>
                        </a:lnSpc>
                        <a:spcBef>
                          <a:spcPts val="0"/>
                        </a:spcBef>
                        <a:spcAft>
                          <a:spcPts val="0"/>
                        </a:spcAft>
                      </a:pPr>
                      <a:r>
                        <a:rPr sz="1300" b="0">
                          <a:solidFill>
                            <a:srgbClr val="1F1F1F"/>
                          </a:solidFill>
                          <a:latin typeface="Calibri"/>
                        </a:rPr>
                        <a:t>de fevereiro de 2026</a:t>
                      </a:r>
                    </a:p>
                    <a:p>
                      <a:pPr algn="l">
                        <a:lnSpc>
                          <a:spcPct val="100000"/>
                        </a:lnSpc>
                        <a:spcBef>
                          <a:spcPts val="0"/>
                        </a:spcBef>
                        <a:spcAft>
                          <a:spcPts val="0"/>
                        </a:spcAft>
                      </a:pPr>
                      <a:r>
                        <a:rPr sz="1300" b="0">
                          <a:solidFill>
                            <a:srgbClr val="1F1F1F"/>
                          </a:solidFill>
                          <a:latin typeface="Calibri"/>
                        </a:rPr>
                        <a:t>(data da incorporação</a:t>
                      </a:r>
                    </a:p>
                    <a:p>
                      <a:pPr algn="l">
                        <a:lnSpc>
                          <a:spcPct val="100000"/>
                        </a:lnSpc>
                        <a:spcBef>
                          <a:spcPts val="0"/>
                        </a:spcBef>
                        <a:spcAft>
                          <a:spcPts val="0"/>
                        </a:spcAft>
                      </a:pPr>
                      <a:r>
                        <a:rPr sz="1300" b="0">
                          <a:solidFill>
                            <a:srgbClr val="1F1F1F"/>
                          </a:solidFill>
                          <a:latin typeface="Calibri"/>
                        </a:rPr>
                        <a:t>da Classe), bem como as</a:t>
                      </a:r>
                    </a:p>
                    <a:p>
                      <a:pPr algn="l">
                        <a:lnSpc>
                          <a:spcPct val="100000"/>
                        </a:lnSpc>
                        <a:spcBef>
                          <a:spcPts val="0"/>
                        </a:spcBef>
                        <a:spcAft>
                          <a:spcPts val="0"/>
                        </a:spcAft>
                      </a:pPr>
                      <a:r>
                        <a:rPr sz="1300" b="0">
                          <a:solidFill>
                            <a:srgbClr val="1F1F1F"/>
                          </a:solidFill>
                          <a:latin typeface="Calibri"/>
                        </a:rPr>
                        <a:t>correspondentes notas</a:t>
                      </a:r>
                    </a:p>
                    <a:p>
                      <a:pPr algn="l">
                        <a:lnSpc>
                          <a:spcPct val="100000"/>
                        </a:lnSpc>
                        <a:spcBef>
                          <a:spcPts val="0"/>
                        </a:spcBef>
                        <a:spcAft>
                          <a:spcPts val="0"/>
                        </a:spcAft>
                      </a:pPr>
                      <a:r>
                        <a:rPr sz="1300" b="0">
                          <a:solidFill>
                            <a:srgbClr val="1F1F1F"/>
                          </a:solidFill>
                          <a:latin typeface="Calibri"/>
                        </a:rPr>
                        <a:t>explicativas, incluindo</a:t>
                      </a:r>
                    </a:p>
                    <a:p>
                      <a:pPr algn="l">
                        <a:lnSpc>
                          <a:spcPct val="100000"/>
                        </a:lnSpc>
                        <a:spcBef>
                          <a:spcPts val="0"/>
                        </a:spcBef>
                        <a:spcAft>
                          <a:spcPts val="0"/>
                        </a:spcAft>
                      </a:pPr>
                      <a:r>
                        <a:rPr sz="1300" b="0">
                          <a:solidFill>
                            <a:srgbClr val="1F1F1F"/>
                          </a:solidFill>
                          <a:latin typeface="Calibri"/>
                        </a:rPr>
                        <a:t>as políticas contábeis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112/160</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Governança e alterações</a:t>
            </a:r>
          </a:p>
        </p:txBody>
      </p:sp>
      <p:graphicFrame>
        <p:nvGraphicFramePr>
          <p:cNvPr id="3" name="Table 2"/>
          <p:cNvGraphicFramePr>
            <a:graphicFrameLocks noGrp="1"/>
          </p:cNvGraphicFramePr>
          <p:nvPr/>
        </p:nvGraphicFramePr>
        <p:xfrm>
          <a:off x="438912" y="932688"/>
          <a:ext cx="11313868" cy="1129284"/>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658368">
                <a:tc>
                  <a:txBody>
                    <a:bodyPr wrap="square">
                      <a:noAutofit/>
                    </a:bodyPr>
                    <a:lstStyle/>
                    <a:p>
                      <a:pPr algn="l">
                        <a:lnSpc>
                          <a:spcPct val="100000"/>
                        </a:lnSpc>
                        <a:spcBef>
                          <a:spcPts val="0"/>
                        </a:spcBef>
                        <a:spcAft>
                          <a:spcPts val="0"/>
                        </a:spcAft>
                      </a:pPr>
                      <a:r>
                        <a:rPr sz="1300" b="1">
                          <a:solidFill>
                            <a:srgbClr val="1F1F1F"/>
                          </a:solidFill>
                          <a:latin typeface="Calibri"/>
                        </a:rPr>
                        <a:t>Auditor independente e</a:t>
                      </a:r>
                    </a:p>
                    <a:p>
                      <a:pPr algn="l">
                        <a:lnSpc>
                          <a:spcPct val="100000"/>
                        </a:lnSpc>
                        <a:spcBef>
                          <a:spcPts val="0"/>
                        </a:spcBef>
                        <a:spcAft>
                          <a:spcPts val="0"/>
                        </a:spcAft>
                      </a:pPr>
                      <a:r>
                        <a:rPr sz="1300" b="1">
                          <a:solidFill>
                            <a:srgbClr val="1F1F1F"/>
                          </a:solidFill>
                          <a:latin typeface="Calibri"/>
                        </a:rPr>
                        <a:t>DFs (continuação)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materiais e outras</a:t>
                      </a:r>
                    </a:p>
                    <a:p>
                      <a:pPr algn="l">
                        <a:lnSpc>
                          <a:spcPct val="100000"/>
                        </a:lnSpc>
                        <a:spcBef>
                          <a:spcPts val="0"/>
                        </a:spcBef>
                        <a:spcAft>
                          <a:spcPts val="0"/>
                        </a:spcAft>
                      </a:pPr>
                      <a:r>
                        <a:rPr sz="1300" b="0">
                          <a:solidFill>
                            <a:srgbClr val="1F1F1F"/>
                          </a:solidFill>
                          <a:latin typeface="Calibri"/>
                        </a:rPr>
                        <a:t>informações</a:t>
                      </a:r>
                    </a:p>
                    <a:p>
                      <a:pPr algn="l">
                        <a:lnSpc>
                          <a:spcPct val="100000"/>
                        </a:lnSpc>
                        <a:spcBef>
                          <a:spcPts val="0"/>
                        </a:spcBef>
                        <a:spcAft>
                          <a:spcPts val="0"/>
                        </a:spcAft>
                      </a:pPr>
                      <a:r>
                        <a:rPr sz="1300" b="0">
                          <a:solidFill>
                            <a:srgbClr val="1F1F1F"/>
                          </a:solidFill>
                          <a:latin typeface="Calibri"/>
                        </a:rPr>
                        <a:t>elucidativas.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113/160</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Governança e alterações</a:t>
            </a:r>
          </a:p>
        </p:txBody>
      </p:sp>
      <p:graphicFrame>
        <p:nvGraphicFramePr>
          <p:cNvPr id="3" name="Table 2"/>
          <p:cNvGraphicFramePr>
            <a:graphicFrameLocks noGrp="1"/>
          </p:cNvGraphicFramePr>
          <p:nvPr/>
        </p:nvGraphicFramePr>
        <p:xfrm>
          <a:off x="438912" y="932688"/>
          <a:ext cx="11313870" cy="1426463"/>
        </p:xfrm>
        <a:graphic>
          <a:graphicData uri="http://schemas.openxmlformats.org/drawingml/2006/table">
            <a:tbl>
              <a:tblPr>
                <a:tableStyleId>{5C22544A-7EE6-4342-B048-85BDC9FD1C3A}</a:tableStyleId>
              </a:tblPr>
              <a:tblGrid>
                <a:gridCol w="2331720"/>
                <a:gridCol w="4491075"/>
                <a:gridCol w="4491075"/>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V CDT 1 · 62552447000120</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Global CP · 63953620000165</a:t>
                      </a:r>
                    </a:p>
                  </a:txBody>
                  <a:tcPr marL="91440" marR="91440" marT="41148" marB="41148" anchor="ctr">
                    <a:solidFill>
                      <a:srgbClr val="F7F7F7"/>
                    </a:solidFill>
                    <a:lnL>
                      <a:noFill/>
                    </a:lnL>
                    <a:lnR>
                      <a:noFill/>
                    </a:lnR>
                    <a:lnT>
                      <a:noFill/>
                    </a:lnT>
                    <a:lnB w="6350">
                      <a:solidFill>
                        <a:srgbClr val="D9DEE5"/>
                      </a:solidFill>
                    </a:lnB>
                  </a:tcPr>
                </a:tc>
              </a:tr>
              <a:tr h="1033271">
                <a:tc>
                  <a:txBody>
                    <a:bodyPr wrap="square">
                      <a:noAutofit/>
                    </a:bodyPr>
                    <a:lstStyle/>
                    <a:p>
                      <a:pPr algn="l">
                        <a:lnSpc>
                          <a:spcPct val="100000"/>
                        </a:lnSpc>
                        <a:spcBef>
                          <a:spcPts val="0"/>
                        </a:spcBef>
                        <a:spcAft>
                          <a:spcPts val="0"/>
                        </a:spcAft>
                      </a:pPr>
                      <a:r>
                        <a:rPr sz="1300" b="1">
                          <a:solidFill>
                            <a:srgbClr val="1F1F1F"/>
                          </a:solidFill>
                          <a:latin typeface="Calibri"/>
                        </a:rPr>
                        <a:t>Quóruns e matérias</a:t>
                      </a:r>
                    </a:p>
                    <a:p>
                      <a:pPr algn="l">
                        <a:lnSpc>
                          <a:spcPct val="100000"/>
                        </a:lnSpc>
                        <a:spcBef>
                          <a:spcPts val="0"/>
                        </a:spcBef>
                        <a:spcAft>
                          <a:spcPts val="0"/>
                        </a:spcAft>
                      </a:pPr>
                      <a:r>
                        <a:rPr sz="1300" b="1">
                          <a:solidFill>
                            <a:srgbClr val="1F1F1F"/>
                          </a:solidFill>
                          <a:latin typeface="Calibri"/>
                        </a:rPr>
                        <a:t>reservadas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Unanimidade dos cotistas para substituir</a:t>
                      </a:r>
                    </a:p>
                    <a:p>
                      <a:pPr algn="l">
                        <a:lnSpc>
                          <a:spcPct val="100000"/>
                        </a:lnSpc>
                        <a:spcBef>
                          <a:spcPts val="0"/>
                        </a:spcBef>
                        <a:spcAft>
                          <a:spcPts val="0"/>
                        </a:spcAft>
                      </a:pPr>
                      <a:r>
                        <a:rPr sz="1300" b="0">
                          <a:solidFill>
                            <a:srgbClr val="1F1F1F"/>
                          </a:solidFill>
                          <a:latin typeface="Calibri"/>
                        </a:rPr>
                        <a:t>prestadores essenciais, elevar taxa global,</a:t>
                      </a:r>
                    </a:p>
                    <a:p>
                      <a:pPr algn="l">
                        <a:lnSpc>
                          <a:spcPct val="100000"/>
                        </a:lnSpc>
                        <a:spcBef>
                          <a:spcPts val="0"/>
                        </a:spcBef>
                        <a:spcAft>
                          <a:spcPts val="0"/>
                        </a:spcAft>
                      </a:pPr>
                      <a:r>
                        <a:rPr sz="1300" b="0">
                          <a:solidFill>
                            <a:srgbClr val="1F1F1F"/>
                          </a:solidFill>
                          <a:latin typeface="Calibri"/>
                        </a:rPr>
                        <a:t>reorganizar/liquidar, prestar garantia, mudar</a:t>
                      </a:r>
                    </a:p>
                    <a:p>
                      <a:pPr algn="l">
                        <a:lnSpc>
                          <a:spcPct val="100000"/>
                        </a:lnSpc>
                        <a:spcBef>
                          <a:spcPts val="0"/>
                        </a:spcBef>
                        <a:spcAft>
                          <a:spcPts val="0"/>
                        </a:spcAft>
                      </a:pPr>
                      <a:r>
                        <a:rPr sz="1300" b="0">
                          <a:solidFill>
                            <a:srgbClr val="1F1F1F"/>
                          </a:solidFill>
                          <a:latin typeface="Calibri"/>
                        </a:rPr>
                        <a:t>características das cotas, novas emissões,</a:t>
                      </a:r>
                    </a:p>
                    <a:p>
                      <a:pPr algn="l">
                        <a:lnSpc>
                          <a:spcPct val="100000"/>
                        </a:lnSpc>
                        <a:spcBef>
                          <a:spcPts val="0"/>
                        </a:spcBef>
                        <a:spcAft>
                          <a:spcPts val="0"/>
                        </a:spcAft>
                      </a:pPr>
                      <a:r>
                        <a:rPr sz="1300" b="0">
                          <a:solidFill>
                            <a:srgbClr val="1F1F1F"/>
                          </a:solidFill>
                          <a:latin typeface="Calibri"/>
                        </a:rPr>
                        <a:t>política, elegibilidade e eventos.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Maioria de cada subclasse para política/elegibili</a:t>
                      </a:r>
                    </a:p>
                    <a:p>
                      <a:pPr algn="l">
                        <a:lnSpc>
                          <a:spcPct val="100000"/>
                        </a:lnSpc>
                        <a:spcBef>
                          <a:spcPts val="0"/>
                        </a:spcBef>
                        <a:spcAft>
                          <a:spcPts val="0"/>
                        </a:spcAft>
                      </a:pPr>
                      <a:r>
                        <a:rPr sz="1300" b="0">
                          <a:solidFill>
                            <a:srgbClr val="1F1F1F"/>
                          </a:solidFill>
                          <a:latin typeface="Calibri"/>
                        </a:rPr>
                        <a:t>dade/contratos/taxas/reorganização e uso da</a:t>
                      </a:r>
                    </a:p>
                    <a:p>
                      <a:pPr algn="l">
                        <a:lnSpc>
                          <a:spcPct val="100000"/>
                        </a:lnSpc>
                        <a:spcBef>
                          <a:spcPts val="0"/>
                        </a:spcBef>
                        <a:spcAft>
                          <a:spcPts val="0"/>
                        </a:spcAft>
                      </a:pPr>
                      <a:r>
                        <a:rPr sz="1300" b="0">
                          <a:solidFill>
                            <a:srgbClr val="1F1F1F"/>
                          </a:solidFill>
                          <a:latin typeface="Calibri"/>
                        </a:rPr>
                        <a:t>reserva. Essenciais: maioria da classe. Mudança</a:t>
                      </a:r>
                    </a:p>
                    <a:p>
                      <a:pPr algn="l">
                        <a:lnSpc>
                          <a:spcPct val="100000"/>
                        </a:lnSpc>
                        <a:spcBef>
                          <a:spcPts val="0"/>
                        </a:spcBef>
                        <a:spcAft>
                          <a:spcPts val="0"/>
                        </a:spcAft>
                      </a:pPr>
                      <a:r>
                        <a:rPr sz="1300" b="0">
                          <a:solidFill>
                            <a:srgbClr val="1F1F1F"/>
                          </a:solidFill>
                          <a:latin typeface="Calibri"/>
                        </a:rPr>
                        <a:t>de benchmark exige maioria sênior afetada e</a:t>
                      </a:r>
                    </a:p>
                    <a:p>
                      <a:pPr algn="l">
                        <a:lnSpc>
                          <a:spcPct val="100000"/>
                        </a:lnSpc>
                        <a:spcBef>
                          <a:spcPts val="0"/>
                        </a:spcBef>
                        <a:spcAft>
                          <a:spcPts val="0"/>
                        </a:spcAft>
                      </a:pPr>
                      <a:r>
                        <a:rPr sz="1300" b="0">
                          <a:solidFill>
                            <a:srgbClr val="1F1F1F"/>
                          </a:solidFill>
                          <a:latin typeface="Calibri"/>
                        </a:rPr>
                        <a:t>subordinadas.</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114/160</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Governança e alterações</a:t>
            </a:r>
          </a:p>
        </p:txBody>
      </p:sp>
      <p:graphicFrame>
        <p:nvGraphicFramePr>
          <p:cNvPr id="3" name="Table 2"/>
          <p:cNvGraphicFramePr>
            <a:graphicFrameLocks noGrp="1"/>
          </p:cNvGraphicFramePr>
          <p:nvPr/>
        </p:nvGraphicFramePr>
        <p:xfrm>
          <a:off x="438912" y="932688"/>
          <a:ext cx="11313870" cy="5175504"/>
        </p:xfrm>
        <a:graphic>
          <a:graphicData uri="http://schemas.openxmlformats.org/drawingml/2006/table">
            <a:tbl>
              <a:tblPr>
                <a:tableStyleId>{5C22544A-7EE6-4342-B048-85BDC9FD1C3A}</a:tableStyleId>
              </a:tblPr>
              <a:tblGrid>
                <a:gridCol w="2331720"/>
                <a:gridCol w="4491075"/>
                <a:gridCol w="4491075"/>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V CDT 1 · 62552447000120</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Global CP · 63953620000165</a:t>
                      </a:r>
                    </a:p>
                  </a:txBody>
                  <a:tcPr marL="91440" marR="91440" marT="41148" marB="41148" anchor="ctr">
                    <a:solidFill>
                      <a:srgbClr val="F7F7F7"/>
                    </a:solidFill>
                    <a:lnL>
                      <a:noFill/>
                    </a:lnL>
                    <a:lnR>
                      <a:noFill/>
                    </a:lnR>
                    <a:lnT>
                      <a:noFill/>
                    </a:lnT>
                    <a:lnB w="6350">
                      <a:solidFill>
                        <a:srgbClr val="D9DEE5"/>
                      </a:solidFill>
                    </a:lnB>
                  </a:tcPr>
                </a:tc>
              </a:tr>
              <a:tr h="4782312">
                <a:tc>
                  <a:txBody>
                    <a:bodyPr wrap="square">
                      <a:noAutofit/>
                    </a:bodyPr>
                    <a:lstStyle/>
                    <a:p>
                      <a:pPr algn="l">
                        <a:lnSpc>
                          <a:spcPct val="100000"/>
                        </a:lnSpc>
                        <a:spcBef>
                          <a:spcPts val="0"/>
                        </a:spcBef>
                        <a:spcAft>
                          <a:spcPts val="0"/>
                        </a:spcAft>
                      </a:pPr>
                      <a:r>
                        <a:rPr sz="1300" b="1">
                          <a:solidFill>
                            <a:srgbClr val="1F1F1F"/>
                          </a:solidFill>
                          <a:latin typeface="Calibri"/>
                        </a:rPr>
                        <a:t>Partes relacionadas e</a:t>
                      </a:r>
                    </a:p>
                    <a:p>
                      <a:pPr algn="l">
                        <a:lnSpc>
                          <a:spcPct val="100000"/>
                        </a:lnSpc>
                        <a:spcBef>
                          <a:spcPts val="0"/>
                        </a:spcBef>
                        <a:spcAft>
                          <a:spcPts val="0"/>
                        </a:spcAft>
                      </a:pPr>
                      <a:r>
                        <a:rPr sz="1300" b="1">
                          <a:solidFill>
                            <a:srgbClr val="1F1F1F"/>
                          </a:solidFill>
                          <a:latin typeface="Calibri"/>
                        </a:rPr>
                        <a:t>conflitos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4.10 Nos termos do art. 45, §7º, inciso II, do</a:t>
                      </a:r>
                    </a:p>
                    <a:p>
                      <a:pPr algn="l">
                        <a:lnSpc>
                          <a:spcPct val="100000"/>
                        </a:lnSpc>
                        <a:spcBef>
                          <a:spcPts val="0"/>
                        </a:spcBef>
                        <a:spcAft>
                          <a:spcPts val="0"/>
                        </a:spcAft>
                      </a:pPr>
                      <a:r>
                        <a:rPr sz="1300" b="0">
                          <a:solidFill>
                            <a:srgbClr val="1F1F1F"/>
                          </a:solidFill>
                          <a:latin typeface="Calibri"/>
                        </a:rPr>
                        <a:t>Anexo Normativo II, a Classe poderá ter até 100%</a:t>
                      </a:r>
                    </a:p>
                    <a:p>
                      <a:pPr algn="l">
                        <a:lnSpc>
                          <a:spcPct val="100000"/>
                        </a:lnSpc>
                        <a:spcBef>
                          <a:spcPts val="0"/>
                        </a:spcBef>
                        <a:spcAft>
                          <a:spcPts val="0"/>
                        </a:spcAft>
                      </a:pPr>
                      <a:r>
                        <a:rPr sz="1300" b="0">
                          <a:solidFill>
                            <a:srgbClr val="1F1F1F"/>
                          </a:solidFill>
                          <a:latin typeface="Calibri"/>
                        </a:rPr>
                        <a:t>(cem por cento) de seu Patrimônio Líquido alocado</a:t>
                      </a:r>
                    </a:p>
                    <a:p>
                      <a:pPr algn="l">
                        <a:lnSpc>
                          <a:spcPct val="100000"/>
                        </a:lnSpc>
                        <a:spcBef>
                          <a:spcPts val="0"/>
                        </a:spcBef>
                        <a:spcAft>
                          <a:spcPts val="0"/>
                        </a:spcAft>
                      </a:pPr>
                      <a:r>
                        <a:rPr sz="1300" b="0">
                          <a:solidFill>
                            <a:srgbClr val="1F1F1F"/>
                          </a:solidFill>
                          <a:latin typeface="Calibri"/>
                        </a:rPr>
                        <a:t>em Direitos Creditórios, derivativos, observado o</a:t>
                      </a:r>
                    </a:p>
                    <a:p>
                      <a:pPr algn="l">
                        <a:lnSpc>
                          <a:spcPct val="100000"/>
                        </a:lnSpc>
                        <a:spcBef>
                          <a:spcPts val="0"/>
                        </a:spcBef>
                        <a:spcAft>
                          <a:spcPts val="0"/>
                        </a:spcAft>
                      </a:pPr>
                      <a:r>
                        <a:rPr sz="1300" b="0">
                          <a:solidFill>
                            <a:srgbClr val="1F1F1F"/>
                          </a:solidFill>
                          <a:latin typeface="Calibri"/>
                        </a:rPr>
                        <a:t>disposto abaixo, e Ativos Financeiros devidos por</a:t>
                      </a:r>
                    </a:p>
                    <a:p>
                      <a:pPr algn="l">
                        <a:lnSpc>
                          <a:spcPct val="100000"/>
                        </a:lnSpc>
                        <a:spcBef>
                          <a:spcPts val="0"/>
                        </a:spcBef>
                        <a:spcAft>
                          <a:spcPts val="0"/>
                        </a:spcAft>
                      </a:pPr>
                      <a:r>
                        <a:rPr sz="1300" b="0">
                          <a:solidFill>
                            <a:srgbClr val="1F1F1F"/>
                          </a:solidFill>
                          <a:latin typeface="Calibri"/>
                        </a:rPr>
                        <a:t>um mesmo Devedor e/ou de responsabilidade ou</a:t>
                      </a:r>
                    </a:p>
                    <a:p>
                      <a:pPr algn="l">
                        <a:lnSpc>
                          <a:spcPct val="100000"/>
                        </a:lnSpc>
                        <a:spcBef>
                          <a:spcPts val="0"/>
                        </a:spcBef>
                        <a:spcAft>
                          <a:spcPts val="0"/>
                        </a:spcAft>
                      </a:pPr>
                      <a:r>
                        <a:rPr sz="1300" b="0">
                          <a:solidFill>
                            <a:srgbClr val="1F1F1F"/>
                          </a:solidFill>
                          <a:latin typeface="Calibri"/>
                        </a:rPr>
                        <a:t>coobrigação de Devedores de um mesmo grupo</a:t>
                      </a:r>
                    </a:p>
                    <a:p>
                      <a:pPr algn="l">
                        <a:lnSpc>
                          <a:spcPct val="100000"/>
                        </a:lnSpc>
                        <a:spcBef>
                          <a:spcPts val="0"/>
                        </a:spcBef>
                        <a:spcAft>
                          <a:spcPts val="0"/>
                        </a:spcAft>
                      </a:pPr>
                      <a:r>
                        <a:rPr sz="1300" b="0">
                          <a:solidFill>
                            <a:srgbClr val="1F1F1F"/>
                          </a:solidFill>
                          <a:latin typeface="Calibri"/>
                        </a:rPr>
                        <a:t>econômico e/ou de um mesmo Devedor,</a:t>
                      </a:r>
                    </a:p>
                    <a:p>
                      <a:pPr algn="l">
                        <a:lnSpc>
                          <a:spcPct val="100000"/>
                        </a:lnSpc>
                        <a:spcBef>
                          <a:spcPts val="0"/>
                        </a:spcBef>
                        <a:spcAft>
                          <a:spcPts val="0"/>
                        </a:spcAft>
                      </a:pPr>
                      <a:r>
                        <a:rPr sz="1300" b="0">
                          <a:solidFill>
                            <a:srgbClr val="1F1F1F"/>
                          </a:solidFill>
                          <a:latin typeface="Calibri"/>
                        </a:rPr>
                        <a:t>individualmente considerado, ainda que devidos</a:t>
                      </a:r>
                    </a:p>
                    <a:p>
                      <a:pPr algn="l">
                        <a:lnSpc>
                          <a:spcPct val="100000"/>
                        </a:lnSpc>
                        <a:spcBef>
                          <a:spcPts val="0"/>
                        </a:spcBef>
                        <a:spcAft>
                          <a:spcPts val="0"/>
                        </a:spcAft>
                      </a:pPr>
                      <a:r>
                        <a:rPr sz="1300" b="0">
                          <a:solidFill>
                            <a:srgbClr val="1F1F1F"/>
                          </a:solidFill>
                          <a:latin typeface="Calibri"/>
                        </a:rPr>
                        <a:t>e/ou de responsabilidade ou coobrigação dos</a:t>
                      </a:r>
                    </a:p>
                    <a:p>
                      <a:pPr algn="l">
                        <a:lnSpc>
                          <a:spcPct val="100000"/>
                        </a:lnSpc>
                        <a:spcBef>
                          <a:spcPts val="0"/>
                        </a:spcBef>
                        <a:spcAft>
                          <a:spcPts val="0"/>
                        </a:spcAft>
                      </a:pPr>
                      <a:r>
                        <a:rPr sz="1300" b="0">
                          <a:solidFill>
                            <a:srgbClr val="1F1F1F"/>
                          </a:solidFill>
                          <a:latin typeface="Calibri"/>
                        </a:rPr>
                        <a:t>Prestadores de Serviço Essenciais, outros</a:t>
                      </a:r>
                    </a:p>
                    <a:p>
                      <a:pPr algn="l">
                        <a:lnSpc>
                          <a:spcPct val="100000"/>
                        </a:lnSpc>
                        <a:spcBef>
                          <a:spcPts val="0"/>
                        </a:spcBef>
                        <a:spcAft>
                          <a:spcPts val="0"/>
                        </a:spcAft>
                      </a:pPr>
                      <a:r>
                        <a:rPr sz="1300" b="0">
                          <a:solidFill>
                            <a:srgbClr val="1F1F1F"/>
                          </a:solidFill>
                          <a:latin typeface="Calibri"/>
                        </a:rPr>
                        <a:t>prestadores de serviço da Classe, e/ou suas</a:t>
                      </a:r>
                    </a:p>
                    <a:p>
                      <a:pPr algn="l">
                        <a:lnSpc>
                          <a:spcPct val="100000"/>
                        </a:lnSpc>
                        <a:spcBef>
                          <a:spcPts val="0"/>
                        </a:spcBef>
                        <a:spcAft>
                          <a:spcPts val="0"/>
                        </a:spcAft>
                      </a:pPr>
                      <a:r>
                        <a:rPr sz="1300" b="0">
                          <a:solidFill>
                            <a:srgbClr val="1F1F1F"/>
                          </a:solidFill>
                          <a:latin typeface="Calibri"/>
                        </a:rPr>
                        <a:t>partes relacionadas.</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4.11 Sem prejuízo de limites mais restritivos</a:t>
                      </a:r>
                    </a:p>
                    <a:p>
                      <a:pPr algn="l">
                        <a:lnSpc>
                          <a:spcPct val="100000"/>
                        </a:lnSpc>
                        <a:spcBef>
                          <a:spcPts val="0"/>
                        </a:spcBef>
                        <a:spcAft>
                          <a:spcPts val="0"/>
                        </a:spcAft>
                      </a:pPr>
                      <a:r>
                        <a:rPr sz="1300" b="0">
                          <a:solidFill>
                            <a:srgbClr val="1F1F1F"/>
                          </a:solidFill>
                          <a:latin typeface="Calibri"/>
                        </a:rPr>
                        <a:t>definidos neste Regulamento, o Gestor deverá</a:t>
                      </a:r>
                    </a:p>
                    <a:p>
                      <a:pPr algn="l">
                        <a:lnSpc>
                          <a:spcPct val="100000"/>
                        </a:lnSpc>
                        <a:spcBef>
                          <a:spcPts val="0"/>
                        </a:spcBef>
                        <a:spcAft>
                          <a:spcPts val="0"/>
                        </a:spcAft>
                      </a:pPr>
                      <a:r>
                        <a:rPr sz="1300" b="0">
                          <a:solidFill>
                            <a:srgbClr val="1F1F1F"/>
                          </a:solidFill>
                          <a:latin typeface="Calibri"/>
                        </a:rPr>
                        <a:t>observar, ainda, os seguintes limites de</a:t>
                      </a:r>
                    </a:p>
                    <a:p>
                      <a:pPr algn="l">
                        <a:lnSpc>
                          <a:spcPct val="100000"/>
                        </a:lnSpc>
                        <a:spcBef>
                          <a:spcPts val="0"/>
                        </a:spcBef>
                        <a:spcAft>
                          <a:spcPts val="0"/>
                        </a:spcAft>
                      </a:pPr>
                      <a:r>
                        <a:rPr sz="1300" b="0">
                          <a:solidFill>
                            <a:srgbClr val="1F1F1F"/>
                          </a:solidFill>
                          <a:latin typeface="Calibri"/>
                        </a:rPr>
                        <a:t>concentração para a composição da Carteira: (i)</a:t>
                      </a:r>
                    </a:p>
                    <a:p>
                      <a:pPr algn="l">
                        <a:lnSpc>
                          <a:spcPct val="100000"/>
                        </a:lnSpc>
                        <a:spcBef>
                          <a:spcPts val="0"/>
                        </a:spcBef>
                        <a:spcAft>
                          <a:spcPts val="0"/>
                        </a:spcAft>
                      </a:pPr>
                      <a:r>
                        <a:rPr sz="1300" b="0">
                          <a:solidFill>
                            <a:srgbClr val="1F1F1F"/>
                          </a:solidFill>
                          <a:latin typeface="Calibri"/>
                        </a:rPr>
                        <a:t>Até 100% (cem por cento) da parcela do Patrimônio</a:t>
                      </a:r>
                    </a:p>
                    <a:p>
                      <a:pPr algn="l">
                        <a:lnSpc>
                          <a:spcPct val="100000"/>
                        </a:lnSpc>
                        <a:spcBef>
                          <a:spcPts val="0"/>
                        </a:spcBef>
                        <a:spcAft>
                          <a:spcPts val="0"/>
                        </a:spcAft>
                      </a:pPr>
                      <a:r>
                        <a:rPr sz="1300" b="0">
                          <a:solidFill>
                            <a:srgbClr val="1F1F1F"/>
                          </a:solidFill>
                          <a:latin typeface="Calibri"/>
                        </a:rPr>
                        <a:t>Líquido investida em Direitos Creditórios poderão</a:t>
                      </a:r>
                    </a:p>
                    <a:p>
                      <a:pPr algn="l">
                        <a:lnSpc>
                          <a:spcPct val="100000"/>
                        </a:lnSpc>
                        <a:spcBef>
                          <a:spcPts val="0"/>
                        </a:spcBef>
                        <a:spcAft>
                          <a:spcPts val="0"/>
                        </a:spcAft>
                      </a:pPr>
                      <a:r>
                        <a:rPr sz="1300" b="0">
                          <a:solidFill>
                            <a:srgbClr val="1F1F1F"/>
                          </a:solidFill>
                          <a:latin typeface="Calibri"/>
                        </a:rPr>
                        <a:t>ser alocados em Direitos Creditórios originados</a:t>
                      </a:r>
                    </a:p>
                    <a:p>
                      <a:pPr algn="l">
                        <a:lnSpc>
                          <a:spcPct val="100000"/>
                        </a:lnSpc>
                        <a:spcBef>
                          <a:spcPts val="0"/>
                        </a:spcBef>
                        <a:spcAft>
                          <a:spcPts val="0"/>
                        </a:spcAft>
                      </a:pPr>
                      <a:r>
                        <a:rPr sz="1300" b="0">
                          <a:solidFill>
                            <a:srgbClr val="1F1F1F"/>
                          </a:solidFill>
                          <a:latin typeface="Calibri"/>
                        </a:rPr>
                        <a:t>ou cedidos pelo Administrador, Gestor e/ou suas</a:t>
                      </a:r>
                    </a:p>
                    <a:p>
                      <a:pPr algn="l">
                        <a:lnSpc>
                          <a:spcPct val="100000"/>
                        </a:lnSpc>
                        <a:spcBef>
                          <a:spcPts val="0"/>
                        </a:spcBef>
                        <a:spcAft>
                          <a:spcPts val="0"/>
                        </a:spcAft>
                      </a:pPr>
                      <a:r>
                        <a:rPr sz="1300" b="0">
                          <a:solidFill>
                            <a:srgbClr val="1F1F1F"/>
                          </a:solidFill>
                          <a:latin typeface="Calibri"/>
                        </a:rPr>
                        <a:t>partes relacionadas, tal como definidas pelas</a:t>
                      </a:r>
                    </a:p>
                    <a:p>
                      <a:pPr algn="l">
                        <a:lnSpc>
                          <a:spcPct val="100000"/>
                        </a:lnSpc>
                        <a:spcBef>
                          <a:spcPts val="0"/>
                        </a:spcBef>
                        <a:spcAft>
                          <a:spcPts val="0"/>
                        </a:spcAft>
                      </a:pPr>
                      <a:r>
                        <a:rPr sz="1300" b="0">
                          <a:solidFill>
                            <a:srgbClr val="1F1F1F"/>
                          </a:solidFill>
                          <a:latin typeface="Calibri"/>
                        </a:rPr>
                        <a:t>regras contábeis que tratam desse assunto . A</a:t>
                      </a:r>
                    </a:p>
                    <a:p>
                      <a:pPr algn="l">
                        <a:lnSpc>
                          <a:spcPct val="100000"/>
                        </a:lnSpc>
                        <a:spcBef>
                          <a:spcPts val="0"/>
                        </a:spcBef>
                        <a:spcAft>
                          <a:spcPts val="0"/>
                        </a:spcAft>
                      </a:pPr>
                      <a:r>
                        <a:rPr sz="1300" b="0">
                          <a:solidFill>
                            <a:srgbClr val="1F1F1F"/>
                          </a:solidFill>
                          <a:latin typeface="Calibri"/>
                        </a:rPr>
                        <a:t>Classe também poderá ceder Direitos Creditórios 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4.14 Nos termos do Art. 45, §7º, inciso II, do</a:t>
                      </a:r>
                    </a:p>
                    <a:p>
                      <a:pPr algn="l">
                        <a:lnSpc>
                          <a:spcPct val="100000"/>
                        </a:lnSpc>
                        <a:spcBef>
                          <a:spcPts val="0"/>
                        </a:spcBef>
                        <a:spcAft>
                          <a:spcPts val="0"/>
                        </a:spcAft>
                      </a:pPr>
                      <a:r>
                        <a:rPr sz="1300" b="0">
                          <a:solidFill>
                            <a:srgbClr val="1F1F1F"/>
                          </a:solidFill>
                          <a:latin typeface="Calibri"/>
                        </a:rPr>
                        <a:t>Anexo Normativo II da Resolução CVM 175, a Classe</a:t>
                      </a:r>
                    </a:p>
                    <a:p>
                      <a:pPr algn="l">
                        <a:lnSpc>
                          <a:spcPct val="100000"/>
                        </a:lnSpc>
                        <a:spcBef>
                          <a:spcPts val="0"/>
                        </a:spcBef>
                        <a:spcAft>
                          <a:spcPts val="0"/>
                        </a:spcAft>
                      </a:pPr>
                      <a:r>
                        <a:rPr sz="1300" b="0">
                          <a:solidFill>
                            <a:srgbClr val="1F1F1F"/>
                          </a:solidFill>
                          <a:latin typeface="Calibri"/>
                        </a:rPr>
                        <a:t>poderá ter até 100% (cem por cento) de seu</a:t>
                      </a:r>
                    </a:p>
                    <a:p>
                      <a:pPr algn="l">
                        <a:lnSpc>
                          <a:spcPct val="100000"/>
                        </a:lnSpc>
                        <a:spcBef>
                          <a:spcPts val="0"/>
                        </a:spcBef>
                        <a:spcAft>
                          <a:spcPts val="0"/>
                        </a:spcAft>
                      </a:pPr>
                      <a:r>
                        <a:rPr sz="1300" b="0">
                          <a:solidFill>
                            <a:srgbClr val="1F1F1F"/>
                          </a:solidFill>
                          <a:latin typeface="Calibri"/>
                        </a:rPr>
                        <a:t>Patrimônio Líquido alocado em Direitos</a:t>
                      </a:r>
                    </a:p>
                    <a:p>
                      <a:pPr algn="l">
                        <a:lnSpc>
                          <a:spcPct val="100000"/>
                        </a:lnSpc>
                        <a:spcBef>
                          <a:spcPts val="0"/>
                        </a:spcBef>
                        <a:spcAft>
                          <a:spcPts val="0"/>
                        </a:spcAft>
                      </a:pPr>
                      <a:r>
                        <a:rPr sz="1300" b="0">
                          <a:solidFill>
                            <a:srgbClr val="1F1F1F"/>
                          </a:solidFill>
                          <a:latin typeface="Calibri"/>
                        </a:rPr>
                        <a:t>Creditórios, derivativos, observado o disposto</a:t>
                      </a:r>
                    </a:p>
                    <a:p>
                      <a:pPr algn="l">
                        <a:lnSpc>
                          <a:spcPct val="100000"/>
                        </a:lnSpc>
                        <a:spcBef>
                          <a:spcPts val="0"/>
                        </a:spcBef>
                        <a:spcAft>
                          <a:spcPts val="0"/>
                        </a:spcAft>
                      </a:pPr>
                      <a:r>
                        <a:rPr sz="1300" b="0">
                          <a:solidFill>
                            <a:srgbClr val="1F1F1F"/>
                          </a:solidFill>
                          <a:latin typeface="Calibri"/>
                        </a:rPr>
                        <a:t>neste Anexo I e Ativos Financeiros devidos por um</a:t>
                      </a:r>
                    </a:p>
                    <a:p>
                      <a:pPr algn="l">
                        <a:lnSpc>
                          <a:spcPct val="100000"/>
                        </a:lnSpc>
                        <a:spcBef>
                          <a:spcPts val="0"/>
                        </a:spcBef>
                        <a:spcAft>
                          <a:spcPts val="0"/>
                        </a:spcAft>
                      </a:pPr>
                      <a:r>
                        <a:rPr sz="1300" b="0">
                          <a:solidFill>
                            <a:srgbClr val="1F1F1F"/>
                          </a:solidFill>
                          <a:latin typeface="Calibri"/>
                        </a:rPr>
                        <a:t>mesmo Devedor e/ou de responsabilidade ou</a:t>
                      </a:r>
                    </a:p>
                    <a:p>
                      <a:pPr algn="l">
                        <a:lnSpc>
                          <a:spcPct val="100000"/>
                        </a:lnSpc>
                        <a:spcBef>
                          <a:spcPts val="0"/>
                        </a:spcBef>
                        <a:spcAft>
                          <a:spcPts val="0"/>
                        </a:spcAft>
                      </a:pPr>
                      <a:r>
                        <a:rPr sz="1300" b="0">
                          <a:solidFill>
                            <a:srgbClr val="1F1F1F"/>
                          </a:solidFill>
                          <a:latin typeface="Calibri"/>
                        </a:rPr>
                        <a:t>coobrigação de Devedores de um mesmo Grupo</a:t>
                      </a:r>
                    </a:p>
                    <a:p>
                      <a:pPr algn="l">
                        <a:lnSpc>
                          <a:spcPct val="100000"/>
                        </a:lnSpc>
                        <a:spcBef>
                          <a:spcPts val="0"/>
                        </a:spcBef>
                        <a:spcAft>
                          <a:spcPts val="0"/>
                        </a:spcAft>
                      </a:pPr>
                      <a:r>
                        <a:rPr sz="1300" b="0">
                          <a:solidFill>
                            <a:srgbClr val="1F1F1F"/>
                          </a:solidFill>
                          <a:latin typeface="Calibri"/>
                        </a:rPr>
                        <a:t>Econômico e/ou de um mesmo Devedor,</a:t>
                      </a:r>
                    </a:p>
                    <a:p>
                      <a:pPr algn="l">
                        <a:lnSpc>
                          <a:spcPct val="100000"/>
                        </a:lnSpc>
                        <a:spcBef>
                          <a:spcPts val="0"/>
                        </a:spcBef>
                        <a:spcAft>
                          <a:spcPts val="0"/>
                        </a:spcAft>
                      </a:pPr>
                      <a:r>
                        <a:rPr sz="1300" b="0">
                          <a:solidFill>
                            <a:srgbClr val="1F1F1F"/>
                          </a:solidFill>
                          <a:latin typeface="Calibri"/>
                        </a:rPr>
                        <a:t>individualmente considerado, ainda que devidos</a:t>
                      </a:r>
                    </a:p>
                    <a:p>
                      <a:pPr algn="l">
                        <a:lnSpc>
                          <a:spcPct val="100000"/>
                        </a:lnSpc>
                        <a:spcBef>
                          <a:spcPts val="0"/>
                        </a:spcBef>
                        <a:spcAft>
                          <a:spcPts val="0"/>
                        </a:spcAft>
                      </a:pPr>
                      <a:r>
                        <a:rPr sz="1300" b="0">
                          <a:solidFill>
                            <a:srgbClr val="1F1F1F"/>
                          </a:solidFill>
                          <a:latin typeface="Calibri"/>
                        </a:rPr>
                        <a:t>e/ou de responsabilidade ou coobrigação dos</a:t>
                      </a:r>
                    </a:p>
                    <a:p>
                      <a:pPr algn="l">
                        <a:lnSpc>
                          <a:spcPct val="100000"/>
                        </a:lnSpc>
                        <a:spcBef>
                          <a:spcPts val="0"/>
                        </a:spcBef>
                        <a:spcAft>
                          <a:spcPts val="0"/>
                        </a:spcAft>
                      </a:pPr>
                      <a:r>
                        <a:rPr sz="1300" b="0">
                          <a:solidFill>
                            <a:srgbClr val="1F1F1F"/>
                          </a:solidFill>
                          <a:latin typeface="Calibri"/>
                        </a:rPr>
                        <a:t>Prestadores de Serviço Essenciais, outros</a:t>
                      </a:r>
                    </a:p>
                    <a:p>
                      <a:pPr algn="l">
                        <a:lnSpc>
                          <a:spcPct val="100000"/>
                        </a:lnSpc>
                        <a:spcBef>
                          <a:spcPts val="0"/>
                        </a:spcBef>
                        <a:spcAft>
                          <a:spcPts val="0"/>
                        </a:spcAft>
                      </a:pPr>
                      <a:r>
                        <a:rPr sz="1300" b="0">
                          <a:solidFill>
                            <a:srgbClr val="1F1F1F"/>
                          </a:solidFill>
                          <a:latin typeface="Calibri"/>
                        </a:rPr>
                        <a:t>prestadores de serviço da Classe, e/ou suas</a:t>
                      </a:r>
                    </a:p>
                    <a:p>
                      <a:pPr algn="l">
                        <a:lnSpc>
                          <a:spcPct val="100000"/>
                        </a:lnSpc>
                        <a:spcBef>
                          <a:spcPts val="0"/>
                        </a:spcBef>
                        <a:spcAft>
                          <a:spcPts val="0"/>
                        </a:spcAft>
                      </a:pPr>
                      <a:r>
                        <a:rPr sz="1300" b="0">
                          <a:solidFill>
                            <a:srgbClr val="1F1F1F"/>
                          </a:solidFill>
                          <a:latin typeface="Calibri"/>
                        </a:rPr>
                        <a:t>Partes Relacionadas.</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4.21 Ainda que integrem a carteira da Classe, os</a:t>
                      </a:r>
                    </a:p>
                    <a:p>
                      <a:pPr algn="l">
                        <a:lnSpc>
                          <a:spcPct val="100000"/>
                        </a:lnSpc>
                        <a:spcBef>
                          <a:spcPts val="0"/>
                        </a:spcBef>
                        <a:spcAft>
                          <a:spcPts val="0"/>
                        </a:spcAft>
                      </a:pPr>
                      <a:r>
                        <a:rPr sz="1300" b="0">
                          <a:solidFill>
                            <a:srgbClr val="1F1F1F"/>
                          </a:solidFill>
                          <a:latin typeface="Calibri"/>
                        </a:rPr>
                        <a:t>Ativos Recuperados não serão, sob qualquer</a:t>
                      </a:r>
                    </a:p>
                    <a:p>
                      <a:pPr algn="l">
                        <a:lnSpc>
                          <a:spcPct val="100000"/>
                        </a:lnSpc>
                        <a:spcBef>
                          <a:spcPts val="0"/>
                        </a:spcBef>
                        <a:spcAft>
                          <a:spcPts val="0"/>
                        </a:spcAft>
                      </a:pPr>
                      <a:r>
                        <a:rPr sz="1300" b="0">
                          <a:solidFill>
                            <a:srgbClr val="1F1F1F"/>
                          </a:solidFill>
                          <a:latin typeface="Calibri"/>
                        </a:rPr>
                        <a:t>hipótese, adquiridos como parte da Política de</a:t>
                      </a:r>
                    </a:p>
                    <a:p>
                      <a:pPr algn="l">
                        <a:lnSpc>
                          <a:spcPct val="100000"/>
                        </a:lnSpc>
                        <a:spcBef>
                          <a:spcPts val="0"/>
                        </a:spcBef>
                        <a:spcAft>
                          <a:spcPts val="0"/>
                        </a:spcAft>
                      </a:pPr>
                      <a:r>
                        <a:rPr sz="1300" b="0">
                          <a:solidFill>
                            <a:srgbClr val="1F1F1F"/>
                          </a:solidFill>
                          <a:latin typeface="Calibri"/>
                        </a:rPr>
                        <a:t>Investimento da Classe, de forma que serão de sua</a:t>
                      </a:r>
                    </a:p>
                    <a:p>
                      <a:pPr algn="l">
                        <a:lnSpc>
                          <a:spcPct val="100000"/>
                        </a:lnSpc>
                        <a:spcBef>
                          <a:spcPts val="0"/>
                        </a:spcBef>
                        <a:spcAft>
                          <a:spcPts val="0"/>
                        </a:spcAft>
                      </a:pPr>
                      <a:r>
                        <a:rPr sz="1300" b="0">
                          <a:solidFill>
                            <a:srgbClr val="1F1F1F"/>
                          </a:solidFill>
                          <a:latin typeface="Calibri"/>
                        </a:rPr>
                        <a:t>propriedade exclusivamente, não devendo,</a:t>
                      </a:r>
                    </a:p>
                    <a:p>
                      <a:pPr algn="l">
                        <a:lnSpc>
                          <a:spcPct val="100000"/>
                        </a:lnSpc>
                        <a:spcBef>
                          <a:spcPts val="0"/>
                        </a:spcBef>
                        <a:spcAft>
                          <a:spcPts val="0"/>
                        </a:spcAft>
                      </a:pPr>
                      <a:r>
                        <a:rPr sz="1300" b="0">
                          <a:solidFill>
                            <a:srgbClr val="1F1F1F"/>
                          </a:solidFill>
                          <a:latin typeface="Calibri"/>
                        </a:rPr>
                        <a:t>portanto, ser contabilizados para fins de</a:t>
                      </a:r>
                    </a:p>
                    <a:p>
                      <a:pPr algn="l">
                        <a:lnSpc>
                          <a:spcPct val="100000"/>
                        </a:lnSpc>
                        <a:spcBef>
                          <a:spcPts val="0"/>
                        </a:spcBef>
                        <a:spcAft>
                          <a:spcPts val="0"/>
                        </a:spcAft>
                      </a:pPr>
                      <a:r>
                        <a:rPr sz="1300" b="0">
                          <a:solidFill>
                            <a:srgbClr val="1F1F1F"/>
                          </a:solidFill>
                          <a:latin typeface="Calibri"/>
                        </a:rPr>
                        <a:t>enquadramento da Classe. Regras, procedimentos e</a:t>
                      </a:r>
                    </a:p>
                    <a:p>
                      <a:pPr algn="l">
                        <a:lnSpc>
                          <a:spcPct val="100000"/>
                        </a:lnSpc>
                        <a:spcBef>
                          <a:spcPts val="0"/>
                        </a:spcBef>
                        <a:spcAft>
                          <a:spcPts val="0"/>
                        </a:spcAft>
                      </a:pPr>
                      <a:r>
                        <a:rPr sz="1300" b="0">
                          <a:solidFill>
                            <a:srgbClr val="1F1F1F"/>
                          </a:solidFill>
                          <a:latin typeface="Calibri"/>
                        </a:rPr>
                        <a:t>limites para efetuar o Endosso de Direitos</a:t>
                      </a:r>
                    </a:p>
                    <a:p>
                      <a:pPr algn="l">
                        <a:lnSpc>
                          <a:spcPct val="100000"/>
                        </a:lnSpc>
                        <a:spcBef>
                          <a:spcPts val="0"/>
                        </a:spcBef>
                        <a:spcAft>
                          <a:spcPts val="0"/>
                        </a:spcAft>
                      </a:pPr>
                      <a:r>
                        <a:rPr sz="1300" b="0">
                          <a:solidFill>
                            <a:srgbClr val="1F1F1F"/>
                          </a:solidFill>
                          <a:latin typeface="Calibri"/>
                        </a:rPr>
                        <a:t>Creditórios Crédito Consignado para o Endossante</a:t>
                      </a:r>
                    </a:p>
                    <a:p>
                      <a:pPr algn="l">
                        <a:lnSpc>
                          <a:spcPct val="100000"/>
                        </a:lnSpc>
                        <a:spcBef>
                          <a:spcPts val="0"/>
                        </a:spcBef>
                        <a:spcAft>
                          <a:spcPts val="0"/>
                        </a:spcAft>
                      </a:pPr>
                      <a:r>
                        <a:rPr sz="1300" b="0">
                          <a:solidFill>
                            <a:srgbClr val="1F1F1F"/>
                          </a:solidFill>
                          <a:latin typeface="Calibri"/>
                        </a:rPr>
                        <a:t>e suas partes relacionadas</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115/160</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Governança e alterações</a:t>
            </a:r>
          </a:p>
        </p:txBody>
      </p:sp>
      <p:graphicFrame>
        <p:nvGraphicFramePr>
          <p:cNvPr id="3" name="Table 2"/>
          <p:cNvGraphicFramePr>
            <a:graphicFrameLocks noGrp="1"/>
          </p:cNvGraphicFramePr>
          <p:nvPr/>
        </p:nvGraphicFramePr>
        <p:xfrm>
          <a:off x="438912" y="932688"/>
          <a:ext cx="11313870" cy="3863340"/>
        </p:xfrm>
        <a:graphic>
          <a:graphicData uri="http://schemas.openxmlformats.org/drawingml/2006/table">
            <a:tbl>
              <a:tblPr>
                <a:tableStyleId>{5C22544A-7EE6-4342-B048-85BDC9FD1C3A}</a:tableStyleId>
              </a:tblPr>
              <a:tblGrid>
                <a:gridCol w="2331720"/>
                <a:gridCol w="4491075"/>
                <a:gridCol w="4491075"/>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V CDT 1 · 62552447000120</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Global CP · 63953620000165</a:t>
                      </a:r>
                    </a:p>
                  </a:txBody>
                  <a:tcPr marL="91440" marR="91440" marT="41148" marB="41148" anchor="ctr">
                    <a:solidFill>
                      <a:srgbClr val="F7F7F7"/>
                    </a:solidFill>
                    <a:lnL>
                      <a:noFill/>
                    </a:lnL>
                    <a:lnR>
                      <a:noFill/>
                    </a:lnR>
                    <a:lnT>
                      <a:noFill/>
                    </a:lnT>
                    <a:lnB w="6350">
                      <a:solidFill>
                        <a:srgbClr val="D9DEE5"/>
                      </a:solidFill>
                    </a:lnB>
                  </a:tcPr>
                </a:tc>
              </a:tr>
              <a:tr h="3470148">
                <a:tc>
                  <a:txBody>
                    <a:bodyPr wrap="square">
                      <a:noAutofit/>
                    </a:bodyPr>
                    <a:lstStyle/>
                    <a:p>
                      <a:pPr algn="l">
                        <a:lnSpc>
                          <a:spcPct val="100000"/>
                        </a:lnSpc>
                        <a:spcBef>
                          <a:spcPts val="0"/>
                        </a:spcBef>
                        <a:spcAft>
                          <a:spcPts val="0"/>
                        </a:spcAft>
                      </a:pPr>
                      <a:r>
                        <a:rPr sz="1300" b="1">
                          <a:solidFill>
                            <a:srgbClr val="1F1F1F"/>
                          </a:solidFill>
                          <a:latin typeface="Calibri"/>
                        </a:rPr>
                        <a:t>Partes relacionadas e</a:t>
                      </a:r>
                    </a:p>
                    <a:p>
                      <a:pPr algn="l">
                        <a:lnSpc>
                          <a:spcPct val="100000"/>
                        </a:lnSpc>
                        <a:spcBef>
                          <a:spcPts val="0"/>
                        </a:spcBef>
                        <a:spcAft>
                          <a:spcPts val="0"/>
                        </a:spcAft>
                      </a:pPr>
                      <a:r>
                        <a:rPr sz="1300" b="1">
                          <a:solidFill>
                            <a:srgbClr val="1F1F1F"/>
                          </a:solidFill>
                          <a:latin typeface="Calibri"/>
                        </a:rPr>
                        <a:t>conflitos (continuação)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qualquer das pessoas, f undos de investimento ou</a:t>
                      </a:r>
                    </a:p>
                    <a:p>
                      <a:pPr algn="l">
                        <a:lnSpc>
                          <a:spcPct val="100000"/>
                        </a:lnSpc>
                        <a:spcBef>
                          <a:spcPts val="0"/>
                        </a:spcBef>
                        <a:spcAft>
                          <a:spcPts val="0"/>
                        </a:spcAft>
                      </a:pPr>
                      <a:r>
                        <a:rPr sz="1300" b="0">
                          <a:solidFill>
                            <a:srgbClr val="1F1F1F"/>
                          </a:solidFill>
                          <a:latin typeface="Calibri"/>
                        </a:rPr>
                        <a:t>entidades ref eridas acima, desde que a entidade</a:t>
                      </a:r>
                    </a:p>
                    <a:p>
                      <a:pPr algn="l">
                        <a:lnSpc>
                          <a:spcPct val="100000"/>
                        </a:lnSpc>
                        <a:spcBef>
                          <a:spcPts val="0"/>
                        </a:spcBef>
                        <a:spcAft>
                          <a:spcPts val="0"/>
                        </a:spcAft>
                      </a:pPr>
                      <a:r>
                        <a:rPr sz="1300" b="0">
                          <a:solidFill>
                            <a:srgbClr val="1F1F1F"/>
                          </a:solidFill>
                          <a:latin typeface="Calibri"/>
                        </a:rPr>
                        <a:t>registradora e o Custodiante dos Direitos</a:t>
                      </a:r>
                    </a:p>
                    <a:p>
                      <a:pPr algn="l">
                        <a:lnSpc>
                          <a:spcPct val="100000"/>
                        </a:lnSpc>
                        <a:spcBef>
                          <a:spcPts val="0"/>
                        </a:spcBef>
                        <a:spcAft>
                          <a:spcPts val="0"/>
                        </a:spcAft>
                      </a:pPr>
                      <a:r>
                        <a:rPr sz="1300" b="0">
                          <a:solidFill>
                            <a:srgbClr val="1F1F1F"/>
                          </a:solidFill>
                          <a:latin typeface="Calibri"/>
                        </a:rPr>
                        <a:t>Creditórios não sejam partes relacionadas ao</a:t>
                      </a:r>
                    </a:p>
                    <a:p>
                      <a:pPr algn="l">
                        <a:lnSpc>
                          <a:spcPct val="100000"/>
                        </a:lnSpc>
                        <a:spcBef>
                          <a:spcPts val="0"/>
                        </a:spcBef>
                        <a:spcAft>
                          <a:spcPts val="0"/>
                        </a:spcAft>
                      </a:pPr>
                      <a:r>
                        <a:rPr sz="1300" b="0">
                          <a:solidFill>
                            <a:srgbClr val="1F1F1F"/>
                          </a:solidFill>
                          <a:latin typeface="Calibri"/>
                        </a:rPr>
                        <a:t>Originador ou Endossante;.</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4.18 Ainda que integrem a Carteira, os Ativos</a:t>
                      </a:r>
                    </a:p>
                    <a:p>
                      <a:pPr algn="l">
                        <a:lnSpc>
                          <a:spcPct val="100000"/>
                        </a:lnSpc>
                        <a:spcBef>
                          <a:spcPts val="0"/>
                        </a:spcBef>
                        <a:spcAft>
                          <a:spcPts val="0"/>
                        </a:spcAft>
                      </a:pPr>
                      <a:r>
                        <a:rPr sz="1300" b="0">
                          <a:solidFill>
                            <a:srgbClr val="1F1F1F"/>
                          </a:solidFill>
                          <a:latin typeface="Calibri"/>
                        </a:rPr>
                        <a:t>Recuperados não serão, sob qualquer hipótese,</a:t>
                      </a:r>
                    </a:p>
                    <a:p>
                      <a:pPr algn="l">
                        <a:lnSpc>
                          <a:spcPct val="100000"/>
                        </a:lnSpc>
                        <a:spcBef>
                          <a:spcPts val="0"/>
                        </a:spcBef>
                        <a:spcAft>
                          <a:spcPts val="0"/>
                        </a:spcAft>
                      </a:pPr>
                      <a:r>
                        <a:rPr sz="1300" b="0">
                          <a:solidFill>
                            <a:srgbClr val="1F1F1F"/>
                          </a:solidFill>
                          <a:latin typeface="Calibri"/>
                        </a:rPr>
                        <a:t>adquiridos como parte da Política de</a:t>
                      </a:r>
                    </a:p>
                    <a:p>
                      <a:pPr algn="l">
                        <a:lnSpc>
                          <a:spcPct val="100000"/>
                        </a:lnSpc>
                        <a:spcBef>
                          <a:spcPts val="0"/>
                        </a:spcBef>
                        <a:spcAft>
                          <a:spcPts val="0"/>
                        </a:spcAft>
                      </a:pPr>
                      <a:r>
                        <a:rPr sz="1300" b="0">
                          <a:solidFill>
                            <a:srgbClr val="1F1F1F"/>
                          </a:solidFill>
                          <a:latin typeface="Calibri"/>
                        </a:rPr>
                        <a:t>Investimento, de forma que serão de sua</a:t>
                      </a:r>
                    </a:p>
                    <a:p>
                      <a:pPr algn="l">
                        <a:lnSpc>
                          <a:spcPct val="100000"/>
                        </a:lnSpc>
                        <a:spcBef>
                          <a:spcPts val="0"/>
                        </a:spcBef>
                        <a:spcAft>
                          <a:spcPts val="0"/>
                        </a:spcAft>
                      </a:pPr>
                      <a:r>
                        <a:rPr sz="1300" b="0">
                          <a:solidFill>
                            <a:srgbClr val="1F1F1F"/>
                          </a:solidFill>
                          <a:latin typeface="Calibri"/>
                        </a:rPr>
                        <a:t>propriedade exclusivamente, não devendo,</a:t>
                      </a:r>
                    </a:p>
                    <a:p>
                      <a:pPr algn="l">
                        <a:lnSpc>
                          <a:spcPct val="100000"/>
                        </a:lnSpc>
                        <a:spcBef>
                          <a:spcPts val="0"/>
                        </a:spcBef>
                        <a:spcAft>
                          <a:spcPts val="0"/>
                        </a:spcAft>
                      </a:pPr>
                      <a:r>
                        <a:rPr sz="1300" b="0">
                          <a:solidFill>
                            <a:srgbClr val="1F1F1F"/>
                          </a:solidFill>
                          <a:latin typeface="Calibri"/>
                        </a:rPr>
                        <a:t>portanto, ser contabilizados para f ins de</a:t>
                      </a:r>
                    </a:p>
                    <a:p>
                      <a:pPr algn="l">
                        <a:lnSpc>
                          <a:spcPct val="100000"/>
                        </a:lnSpc>
                        <a:spcBef>
                          <a:spcPts val="0"/>
                        </a:spcBef>
                        <a:spcAft>
                          <a:spcPts val="0"/>
                        </a:spcAft>
                      </a:pPr>
                      <a:r>
                        <a:rPr sz="1300" b="0">
                          <a:solidFill>
                            <a:srgbClr val="1F1F1F"/>
                          </a:solidFill>
                          <a:latin typeface="Calibri"/>
                        </a:rPr>
                        <a:t>enquadramento da Classe. Regras, procedimentos e</a:t>
                      </a:r>
                    </a:p>
                    <a:p>
                      <a:pPr algn="l">
                        <a:lnSpc>
                          <a:spcPct val="100000"/>
                        </a:lnSpc>
                        <a:spcBef>
                          <a:spcPts val="0"/>
                        </a:spcBef>
                        <a:spcAft>
                          <a:spcPts val="0"/>
                        </a:spcAft>
                      </a:pPr>
                      <a:r>
                        <a:rPr sz="1300" b="0">
                          <a:solidFill>
                            <a:srgbClr val="1F1F1F"/>
                          </a:solidFill>
                          <a:latin typeface="Calibri"/>
                        </a:rPr>
                        <a:t>limites para efetuar qualquer modalidade de</a:t>
                      </a:r>
                    </a:p>
                    <a:p>
                      <a:pPr algn="l">
                        <a:lnSpc>
                          <a:spcPct val="100000"/>
                        </a:lnSpc>
                        <a:spcBef>
                          <a:spcPts val="0"/>
                        </a:spcBef>
                        <a:spcAft>
                          <a:spcPts val="0"/>
                        </a:spcAft>
                      </a:pPr>
                      <a:r>
                        <a:rPr sz="1300" b="0">
                          <a:solidFill>
                            <a:srgbClr val="1F1F1F"/>
                          </a:solidFill>
                          <a:latin typeface="Calibri"/>
                        </a:rPr>
                        <a:t>transferência dos Direitos Creditórios,</a:t>
                      </a:r>
                    </a:p>
                    <a:p>
                      <a:pPr algn="l">
                        <a:lnSpc>
                          <a:spcPct val="100000"/>
                        </a:lnSpc>
                        <a:spcBef>
                          <a:spcPts val="0"/>
                        </a:spcBef>
                        <a:spcAft>
                          <a:spcPts val="0"/>
                        </a:spcAft>
                      </a:pPr>
                      <a:r>
                        <a:rPr sz="1300" b="0">
                          <a:solidFill>
                            <a:srgbClr val="1F1F1F"/>
                          </a:solidFill>
                          <a:latin typeface="Calibri"/>
                        </a:rPr>
                        <a:t>incluindo, sem limitação, endosso</a:t>
                      </a:r>
                    </a:p>
                    <a:p>
                      <a:pPr algn="l">
                        <a:lnSpc>
                          <a:spcPct val="100000"/>
                        </a:lnSpc>
                        <a:spcBef>
                          <a:spcPts val="0"/>
                        </a:spcBef>
                        <a:spcAft>
                          <a:spcPts val="0"/>
                        </a:spcAft>
                      </a:pPr>
                      <a:r>
                        <a:rPr sz="1300" b="0">
                          <a:solidFill>
                            <a:srgbClr val="1F1F1F"/>
                          </a:solidFill>
                          <a:latin typeface="Calibri"/>
                        </a:rPr>
                        <a:t>(“Transferência”) para o Endossante e suas partes</a:t>
                      </a:r>
                    </a:p>
                    <a:p>
                      <a:pPr algn="l">
                        <a:lnSpc>
                          <a:spcPct val="100000"/>
                        </a:lnSpc>
                        <a:spcBef>
                          <a:spcPts val="0"/>
                        </a:spcBef>
                        <a:spcAft>
                          <a:spcPts val="0"/>
                        </a:spcAft>
                      </a:pPr>
                      <a:r>
                        <a:rPr sz="1300" b="0">
                          <a:solidFill>
                            <a:srgbClr val="1F1F1F"/>
                          </a:solidFill>
                          <a:latin typeface="Calibri"/>
                        </a:rPr>
                        <a:t>relacionadas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Anexo I ao Regulamento CLASSE CONSIGNADO PRIVADO</a:t>
                      </a:r>
                    </a:p>
                    <a:p>
                      <a:pPr algn="l">
                        <a:lnSpc>
                          <a:spcPct val="100000"/>
                        </a:lnSpc>
                        <a:spcBef>
                          <a:spcPts val="0"/>
                        </a:spcBef>
                        <a:spcAft>
                          <a:spcPts val="0"/>
                        </a:spcAft>
                      </a:pPr>
                      <a:r>
                        <a:rPr sz="1300" b="0">
                          <a:solidFill>
                            <a:srgbClr val="1F1F1F"/>
                          </a:solidFill>
                          <a:latin typeface="Calibri"/>
                        </a:rPr>
                        <a:t>DO MT GLOBAL FUNDO DE INVESTIMENTO EM DIREITOS</a:t>
                      </a:r>
                    </a:p>
                    <a:p>
                      <a:pPr algn="l">
                        <a:lnSpc>
                          <a:spcPct val="100000"/>
                        </a:lnSpc>
                        <a:spcBef>
                          <a:spcPts val="0"/>
                        </a:spcBef>
                        <a:spcAft>
                          <a:spcPts val="0"/>
                        </a:spcAft>
                      </a:pPr>
                      <a:r>
                        <a:rPr sz="1300" b="0">
                          <a:solidFill>
                            <a:srgbClr val="1F1F1F"/>
                          </a:solidFill>
                          <a:latin typeface="Calibri"/>
                        </a:rPr>
                        <a:t>CREDITÓRIOS RESPONSABILIDADE LIMITADA (i) A</a:t>
                      </a:r>
                    </a:p>
                    <a:p>
                      <a:pPr algn="l">
                        <a:lnSpc>
                          <a:spcPct val="100000"/>
                        </a:lnSpc>
                        <a:spcBef>
                          <a:spcPts val="0"/>
                        </a:spcBef>
                        <a:spcAft>
                          <a:spcPts val="0"/>
                        </a:spcAft>
                      </a:pPr>
                      <a:r>
                        <a:rPr sz="1300" b="0">
                          <a:solidFill>
                            <a:srgbClr val="1F1F1F"/>
                          </a:solidFill>
                          <a:latin typeface="Calibri"/>
                        </a:rPr>
                        <a:t>Classe poderá: (a) direta ou indiretamente, ter</a:t>
                      </a:r>
                    </a:p>
                    <a:p>
                      <a:pPr algn="l">
                        <a:lnSpc>
                          <a:spcPct val="100000"/>
                        </a:lnSpc>
                        <a:spcBef>
                          <a:spcPts val="0"/>
                        </a:spcBef>
                        <a:spcAft>
                          <a:spcPts val="0"/>
                        </a:spcAft>
                      </a:pPr>
                      <a:r>
                        <a:rPr sz="1300" b="0">
                          <a:solidFill>
                            <a:srgbClr val="1F1F1F"/>
                          </a:solidFill>
                          <a:latin typeface="Calibri"/>
                        </a:rPr>
                        <a:t>até 100% (cem por cento) do Patrimônio Líquido</a:t>
                      </a:r>
                    </a:p>
                    <a:p>
                      <a:pPr algn="l">
                        <a:lnSpc>
                          <a:spcPct val="100000"/>
                        </a:lnSpc>
                        <a:spcBef>
                          <a:spcPts val="0"/>
                        </a:spcBef>
                        <a:spcAft>
                          <a:spcPts val="0"/>
                        </a:spcAft>
                      </a:pPr>
                      <a:r>
                        <a:rPr sz="1300" b="0">
                          <a:solidFill>
                            <a:srgbClr val="1F1F1F"/>
                          </a:solidFill>
                          <a:latin typeface="Calibri"/>
                        </a:rPr>
                        <a:t>representado por Direitos Creditórios originados</a:t>
                      </a:r>
                    </a:p>
                    <a:p>
                      <a:pPr algn="l">
                        <a:lnSpc>
                          <a:spcPct val="100000"/>
                        </a:lnSpc>
                        <a:spcBef>
                          <a:spcPts val="0"/>
                        </a:spcBef>
                        <a:spcAft>
                          <a:spcPts val="0"/>
                        </a:spcAft>
                      </a:pPr>
                      <a:r>
                        <a:rPr sz="1300" b="0">
                          <a:solidFill>
                            <a:srgbClr val="1F1F1F"/>
                          </a:solidFill>
                          <a:latin typeface="Calibri"/>
                        </a:rPr>
                        <a:t>ou cedidos pelo Administrador, Gestor e/ou suas</a:t>
                      </a:r>
                    </a:p>
                    <a:p>
                      <a:pPr algn="l">
                        <a:lnSpc>
                          <a:spcPct val="100000"/>
                        </a:lnSpc>
                        <a:spcBef>
                          <a:spcPts val="0"/>
                        </a:spcBef>
                        <a:spcAft>
                          <a:spcPts val="0"/>
                        </a:spcAft>
                      </a:pPr>
                      <a:r>
                        <a:rPr sz="1300" b="0">
                          <a:solidFill>
                            <a:srgbClr val="1F1F1F"/>
                          </a:solidFill>
                          <a:latin typeface="Calibri"/>
                        </a:rPr>
                        <a:t>partes relacionadas, tal como definidas pelas</a:t>
                      </a:r>
                    </a:p>
                    <a:p>
                      <a:pPr algn="l">
                        <a:lnSpc>
                          <a:spcPct val="100000"/>
                        </a:lnSpc>
                        <a:spcBef>
                          <a:spcPts val="0"/>
                        </a:spcBef>
                        <a:spcAft>
                          <a:spcPts val="0"/>
                        </a:spcAft>
                      </a:pPr>
                      <a:r>
                        <a:rPr sz="1300" b="0">
                          <a:solidFill>
                            <a:srgbClr val="1F1F1F"/>
                          </a:solidFill>
                          <a:latin typeface="Calibri"/>
                        </a:rPr>
                        <a:t>regras contábeis que tratam desse assunto; e (b)</a:t>
                      </a:r>
                    </a:p>
                    <a:p>
                      <a:pPr algn="l">
                        <a:lnSpc>
                          <a:spcPct val="100000"/>
                        </a:lnSpc>
                        <a:spcBef>
                          <a:spcPts val="0"/>
                        </a:spcBef>
                        <a:spcAft>
                          <a:spcPts val="0"/>
                        </a:spcAft>
                      </a:pPr>
                      <a:r>
                        <a:rPr sz="1300" b="0">
                          <a:solidFill>
                            <a:srgbClr val="1F1F1F"/>
                          </a:solidFill>
                          <a:latin typeface="Calibri"/>
                        </a:rPr>
                        <a:t>ceder Direitos Creditórios a qualquer das</a:t>
                      </a:r>
                    </a:p>
                    <a:p>
                      <a:pPr algn="l">
                        <a:lnSpc>
                          <a:spcPct val="100000"/>
                        </a:lnSpc>
                        <a:spcBef>
                          <a:spcPts val="0"/>
                        </a:spcBef>
                        <a:spcAft>
                          <a:spcPts val="0"/>
                        </a:spcAft>
                      </a:pPr>
                      <a:r>
                        <a:rPr sz="1300" b="0">
                          <a:solidFill>
                            <a:srgbClr val="1F1F1F"/>
                          </a:solidFill>
                          <a:latin typeface="Calibri"/>
                        </a:rPr>
                        <a:t>pessoas, fundos de investimento ou entidades</a:t>
                      </a:r>
                    </a:p>
                    <a:p>
                      <a:pPr algn="l">
                        <a:lnSpc>
                          <a:spcPct val="100000"/>
                        </a:lnSpc>
                        <a:spcBef>
                          <a:spcPts val="0"/>
                        </a:spcBef>
                        <a:spcAft>
                          <a:spcPts val="0"/>
                        </a:spcAft>
                      </a:pPr>
                      <a:r>
                        <a:rPr sz="1300" b="0">
                          <a:solidFill>
                            <a:srgbClr val="1F1F1F"/>
                          </a:solidFill>
                          <a:latin typeface="Calibri"/>
                        </a:rPr>
                        <a:t>referidas no item (a) acima, desde que a entidade</a:t>
                      </a:r>
                    </a:p>
                    <a:p>
                      <a:pPr algn="l">
                        <a:lnSpc>
                          <a:spcPct val="100000"/>
                        </a:lnSpc>
                        <a:spcBef>
                          <a:spcPts val="0"/>
                        </a:spcBef>
                        <a:spcAft>
                          <a:spcPts val="0"/>
                        </a:spcAft>
                      </a:pPr>
                      <a:r>
                        <a:rPr sz="1300" b="0">
                          <a:solidFill>
                            <a:srgbClr val="1F1F1F"/>
                          </a:solidFill>
                          <a:latin typeface="Calibri"/>
                        </a:rPr>
                        <a:t>registradora e o Custodiante dos Direitos</a:t>
                      </a:r>
                    </a:p>
                    <a:p>
                      <a:pPr algn="l">
                        <a:lnSpc>
                          <a:spcPct val="100000"/>
                        </a:lnSpc>
                        <a:spcBef>
                          <a:spcPts val="0"/>
                        </a:spcBef>
                        <a:spcAft>
                          <a:spcPts val="0"/>
                        </a:spcAft>
                      </a:pPr>
                      <a:r>
                        <a:rPr sz="1300" b="0">
                          <a:solidFill>
                            <a:srgbClr val="1F1F1F"/>
                          </a:solidFill>
                          <a:latin typeface="Calibri"/>
                        </a:rPr>
                        <a:t>Creditórios não sejam partes relacionadas ao</a:t>
                      </a:r>
                    </a:p>
                    <a:p>
                      <a:pPr algn="l">
                        <a:lnSpc>
                          <a:spcPct val="100000"/>
                        </a:lnSpc>
                        <a:spcBef>
                          <a:spcPts val="0"/>
                        </a:spcBef>
                        <a:spcAft>
                          <a:spcPts val="0"/>
                        </a:spcAft>
                      </a:pPr>
                      <a:r>
                        <a:rPr sz="1300" b="0">
                          <a:solidFill>
                            <a:srgbClr val="1F1F1F"/>
                          </a:solidFill>
                          <a:latin typeface="Calibri"/>
                        </a:rPr>
                        <a:t>originador ou Cedente.</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116/160</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Governança e alterações</a:t>
            </a:r>
          </a:p>
        </p:txBody>
      </p:sp>
      <p:graphicFrame>
        <p:nvGraphicFramePr>
          <p:cNvPr id="3" name="Table 2"/>
          <p:cNvGraphicFramePr>
            <a:graphicFrameLocks noGrp="1"/>
          </p:cNvGraphicFramePr>
          <p:nvPr/>
        </p:nvGraphicFramePr>
        <p:xfrm>
          <a:off x="438912" y="932688"/>
          <a:ext cx="11313870" cy="4238244"/>
        </p:xfrm>
        <a:graphic>
          <a:graphicData uri="http://schemas.openxmlformats.org/drawingml/2006/table">
            <a:tbl>
              <a:tblPr>
                <a:tableStyleId>{5C22544A-7EE6-4342-B048-85BDC9FD1C3A}</a:tableStyleId>
              </a:tblPr>
              <a:tblGrid>
                <a:gridCol w="2331720"/>
                <a:gridCol w="4491075"/>
                <a:gridCol w="4491075"/>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V CDT 1 · 62552447000120</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Global CP · 63953620000165</a:t>
                      </a:r>
                    </a:p>
                  </a:txBody>
                  <a:tcPr marL="91440" marR="91440" marT="41148" marB="41148" anchor="ctr">
                    <a:solidFill>
                      <a:srgbClr val="F7F7F7"/>
                    </a:solidFill>
                    <a:lnL>
                      <a:noFill/>
                    </a:lnL>
                    <a:lnR>
                      <a:noFill/>
                    </a:lnR>
                    <a:lnT>
                      <a:noFill/>
                    </a:lnT>
                    <a:lnB w="6350">
                      <a:solidFill>
                        <a:srgbClr val="D9DEE5"/>
                      </a:solidFill>
                    </a:lnB>
                  </a:tcPr>
                </a:tc>
              </a:tr>
              <a:tr h="3845052">
                <a:tc>
                  <a:txBody>
                    <a:bodyPr wrap="square">
                      <a:noAutofit/>
                    </a:bodyPr>
                    <a:lstStyle/>
                    <a:p>
                      <a:pPr algn="l">
                        <a:lnSpc>
                          <a:spcPct val="100000"/>
                        </a:lnSpc>
                        <a:spcBef>
                          <a:spcPts val="0"/>
                        </a:spcBef>
                        <a:spcAft>
                          <a:spcPts val="0"/>
                        </a:spcAft>
                      </a:pPr>
                      <a:r>
                        <a:rPr sz="1300" b="1">
                          <a:solidFill>
                            <a:srgbClr val="1F1F1F"/>
                          </a:solidFill>
                          <a:latin typeface="Calibri"/>
                        </a:rPr>
                        <a:t>Histórico de alterações</a:t>
                      </a:r>
                    </a:p>
                    <a:p>
                      <a:pPr algn="l">
                        <a:lnSpc>
                          <a:spcPct val="100000"/>
                        </a:lnSpc>
                        <a:spcBef>
                          <a:spcPts val="0"/>
                        </a:spcBef>
                        <a:spcAft>
                          <a:spcPts val="0"/>
                        </a:spcAft>
                      </a:pPr>
                      <a:r>
                        <a:rPr sz="1300" b="1">
                          <a:solidFill>
                            <a:srgbClr val="1F1F1F"/>
                          </a:solidFill>
                          <a:latin typeface="Calibri"/>
                        </a:rPr>
                        <a:t>materiais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Ato 1200625 de 21/05/2026 atualiza divulgação de</a:t>
                      </a:r>
                    </a:p>
                    <a:p>
                      <a:pPr algn="l">
                        <a:lnSpc>
                          <a:spcPct val="100000"/>
                        </a:lnSpc>
                        <a:spcBef>
                          <a:spcPts val="0"/>
                        </a:spcBef>
                        <a:spcAft>
                          <a:spcPts val="0"/>
                        </a:spcAft>
                      </a:pPr>
                      <a:r>
                        <a:rPr sz="1300" b="0">
                          <a:solidFill>
                            <a:srgbClr val="1F1F1F"/>
                          </a:solidFill>
                          <a:latin typeface="Calibri"/>
                        </a:rPr>
                        <a:t>remuneração para plataforma ANBIMA, expressamente</a:t>
                      </a:r>
                    </a:p>
                    <a:p>
                      <a:pPr algn="l">
                        <a:lnSpc>
                          <a:spcPct val="100000"/>
                        </a:lnSpc>
                        <a:spcBef>
                          <a:spcPts val="0"/>
                        </a:spcBef>
                        <a:spcAft>
                          <a:spcPts val="0"/>
                        </a:spcAft>
                      </a:pPr>
                      <a:r>
                        <a:rPr sz="1300" b="0">
                          <a:solidFill>
                            <a:srgbClr val="1F1F1F"/>
                          </a:solidFill>
                          <a:latin typeface="Calibri"/>
                        </a:rPr>
                        <a:t>sem alterar valores pagos; aprova</a:t>
                      </a:r>
                    </a:p>
                    <a:p>
                      <a:pPr algn="l">
                        <a:lnSpc>
                          <a:spcPct val="100000"/>
                        </a:lnSpc>
                        <a:spcBef>
                          <a:spcPts val="0"/>
                        </a:spcBef>
                        <a:spcAft>
                          <a:spcPts val="0"/>
                        </a:spcAft>
                      </a:pPr>
                      <a:r>
                        <a:rPr sz="1300" b="0">
                          <a:solidFill>
                            <a:srgbClr val="1F1F1F"/>
                          </a:solidFill>
                          <a:latin typeface="Calibri"/>
                        </a:rPr>
                        <a:t>regulamento/anexo consolidados 1200623.</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(vi) realizar a renegociação junto aos Devedores</a:t>
                      </a:r>
                    </a:p>
                    <a:p>
                      <a:pPr algn="l">
                        <a:lnSpc>
                          <a:spcPct val="100000"/>
                        </a:lnSpc>
                        <a:spcBef>
                          <a:spcPts val="0"/>
                        </a:spcBef>
                        <a:spcAft>
                          <a:spcPts val="0"/>
                        </a:spcAft>
                      </a:pPr>
                      <a:r>
                        <a:rPr sz="1300" b="0">
                          <a:solidFill>
                            <a:srgbClr val="1F1F1F"/>
                          </a:solidFill>
                          <a:latin typeface="Calibri"/>
                        </a:rPr>
                        <a:t>de Direitos Creditórios Inadimplidos e, caso</a:t>
                      </a:r>
                    </a:p>
                    <a:p>
                      <a:pPr algn="l">
                        <a:lnSpc>
                          <a:spcPct val="100000"/>
                        </a:lnSpc>
                        <a:spcBef>
                          <a:spcPts val="0"/>
                        </a:spcBef>
                        <a:spcAft>
                          <a:spcPts val="0"/>
                        </a:spcAft>
                      </a:pPr>
                      <a:r>
                        <a:rPr sz="1300" b="0">
                          <a:solidFill>
                            <a:srgbClr val="1F1F1F"/>
                          </a:solidFill>
                          <a:latin typeface="Calibri"/>
                        </a:rPr>
                        <a:t>aplicável, celebrar aditamento à CCB para</a:t>
                      </a:r>
                    </a:p>
                    <a:p>
                      <a:pPr algn="l">
                        <a:lnSpc>
                          <a:spcPct val="100000"/>
                        </a:lnSpc>
                        <a:spcBef>
                          <a:spcPts val="0"/>
                        </a:spcBef>
                        <a:spcAft>
                          <a:spcPts val="0"/>
                        </a:spcAft>
                      </a:pPr>
                      <a:r>
                        <a:rPr sz="1300" b="0">
                          <a:solidFill>
                            <a:srgbClr val="1F1F1F"/>
                          </a:solidFill>
                          <a:latin typeface="Calibri"/>
                        </a:rPr>
                        <a:t>refletir os novos termos, decorrentes da</a:t>
                      </a:r>
                    </a:p>
                    <a:p>
                      <a:pPr algn="l">
                        <a:lnSpc>
                          <a:spcPct val="100000"/>
                        </a:lnSpc>
                        <a:spcBef>
                          <a:spcPts val="0"/>
                        </a:spcBef>
                        <a:spcAft>
                          <a:spcPts val="0"/>
                        </a:spcAft>
                      </a:pPr>
                      <a:r>
                        <a:rPr sz="1300" b="0">
                          <a:solidFill>
                            <a:srgbClr val="1F1F1F"/>
                          </a:solidFill>
                          <a:latin typeface="Calibri"/>
                        </a:rPr>
                        <a:t>renegociação CAPÍTULO 13 – REMUNERAÇÃO DOS</a:t>
                      </a:r>
                    </a:p>
                    <a:p>
                      <a:pPr algn="l">
                        <a:lnSpc>
                          <a:spcPct val="100000"/>
                        </a:lnSpc>
                        <a:spcBef>
                          <a:spcPts val="0"/>
                        </a:spcBef>
                        <a:spcAft>
                          <a:spcPts val="0"/>
                        </a:spcAft>
                      </a:pPr>
                      <a:r>
                        <a:rPr sz="1300" b="0">
                          <a:solidFill>
                            <a:srgbClr val="1F1F1F"/>
                          </a:solidFill>
                          <a:latin typeface="Calibri"/>
                        </a:rPr>
                        <a:t>PRESTADORES DE SERVIÇOS 0,05% (cinco centésimos</a:t>
                      </a:r>
                    </a:p>
                    <a:p>
                      <a:pPr algn="l">
                        <a:lnSpc>
                          <a:spcPct val="100000"/>
                        </a:lnSpc>
                        <a:spcBef>
                          <a:spcPts val="0"/>
                        </a:spcBef>
                        <a:spcAft>
                          <a:spcPts val="0"/>
                        </a:spcAft>
                      </a:pPr>
                      <a:r>
                        <a:rPr sz="1300" b="0">
                          <a:solidFill>
                            <a:srgbClr val="1F1F1F"/>
                          </a:solidFill>
                          <a:latin typeface="Calibri"/>
                        </a:rPr>
                        <a:t>por cento) ao ano, apropriada diariamente na base</a:t>
                      </a:r>
                    </a:p>
                    <a:p>
                      <a:pPr algn="l">
                        <a:lnSpc>
                          <a:spcPct val="100000"/>
                        </a:lnSpc>
                        <a:spcBef>
                          <a:spcPts val="0"/>
                        </a:spcBef>
                        <a:spcAft>
                          <a:spcPts val="0"/>
                        </a:spcAft>
                      </a:pPr>
                      <a:r>
                        <a:rPr sz="1300" b="0">
                          <a:solidFill>
                            <a:srgbClr val="1F1F1F"/>
                          </a:solidFill>
                          <a:latin typeface="Calibri"/>
                        </a:rPr>
                        <a:t>de 252 (duzentos e cinquenta e dois) Dias Úteis,</a:t>
                      </a:r>
                    </a:p>
                    <a:p>
                      <a:pPr algn="l">
                        <a:lnSpc>
                          <a:spcPct val="100000"/>
                        </a:lnSpc>
                        <a:spcBef>
                          <a:spcPts val="0"/>
                        </a:spcBef>
                        <a:spcAft>
                          <a:spcPts val="0"/>
                        </a:spcAft>
                      </a:pPr>
                      <a:r>
                        <a:rPr sz="1300" b="0">
                          <a:solidFill>
                            <a:srgbClr val="1F1F1F"/>
                          </a:solidFill>
                          <a:latin typeface="Calibri"/>
                        </a:rPr>
                        <a:t>e paga mensalmente até o 5º (quinto) Dia Útil do</a:t>
                      </a:r>
                    </a:p>
                    <a:p>
                      <a:pPr algn="l">
                        <a:lnSpc>
                          <a:spcPct val="100000"/>
                        </a:lnSpc>
                        <a:spcBef>
                          <a:spcPts val="0"/>
                        </a:spcBef>
                        <a:spcAft>
                          <a:spcPts val="0"/>
                        </a:spcAft>
                      </a:pPr>
                      <a:r>
                        <a:rPr sz="1300" b="0">
                          <a:solidFill>
                            <a:srgbClr val="1F1F1F"/>
                          </a:solidFill>
                          <a:latin typeface="Calibri"/>
                        </a:rPr>
                        <a:t>mês subsequente ao mês que se refere, incidente</a:t>
                      </a:r>
                    </a:p>
                    <a:p>
                      <a:pPr algn="l">
                        <a:lnSpc>
                          <a:spcPct val="100000"/>
                        </a:lnSpc>
                        <a:spcBef>
                          <a:spcPts val="0"/>
                        </a:spcBef>
                        <a:spcAft>
                          <a:spcPts val="0"/>
                        </a:spcAft>
                      </a:pPr>
                      <a:r>
                        <a:rPr sz="1300" b="0">
                          <a:solidFill>
                            <a:srgbClr val="1F1F1F"/>
                          </a:solidFill>
                          <a:latin typeface="Calibri"/>
                        </a:rPr>
                        <a:t>sobre o Patrimônio Líquido da Classe alocado em</a:t>
                      </a:r>
                    </a:p>
                    <a:p>
                      <a:pPr algn="l">
                        <a:lnSpc>
                          <a:spcPct val="100000"/>
                        </a:lnSpc>
                        <a:spcBef>
                          <a:spcPts val="0"/>
                        </a:spcBef>
                        <a:spcAft>
                          <a:spcPts val="0"/>
                        </a:spcAft>
                      </a:pPr>
                      <a:r>
                        <a:rPr sz="1300" b="0">
                          <a:solidFill>
                            <a:srgbClr val="1F1F1F"/>
                          </a:solidFill>
                          <a:latin typeface="Calibri"/>
                        </a:rPr>
                        <a:t>Direitos Creditórios Consignado Privado e/ou</a:t>
                      </a:r>
                    </a:p>
                    <a:p>
                      <a:pPr algn="l">
                        <a:lnSpc>
                          <a:spcPct val="100000"/>
                        </a:lnSpc>
                        <a:spcBef>
                          <a:spcPts val="0"/>
                        </a:spcBef>
                        <a:spcAft>
                          <a:spcPts val="0"/>
                        </a:spcAft>
                      </a:pPr>
                      <a:r>
                        <a:rPr sz="1300" b="0">
                          <a:solidFill>
                            <a:srgbClr val="1F1F1F"/>
                          </a:solidFill>
                          <a:latin typeface="Calibri"/>
                        </a:rPr>
                        <a:t>Ativos de Liquidez MT, observada remuneração</a:t>
                      </a:r>
                    </a:p>
                    <a:p>
                      <a:pPr algn="l">
                        <a:lnSpc>
                          <a:spcPct val="100000"/>
                        </a:lnSpc>
                        <a:spcBef>
                          <a:spcPts val="0"/>
                        </a:spcBef>
                        <a:spcAft>
                          <a:spcPts val="0"/>
                        </a:spcAft>
                      </a:pPr>
                      <a:r>
                        <a:rPr sz="1300" b="0">
                          <a:solidFill>
                            <a:srgbClr val="1F1F1F"/>
                          </a:solidFill>
                          <a:latin typeface="Calibri"/>
                        </a:rPr>
                        <a:t>mínima mensal de R$ 2.500,00 (dois mil e</a:t>
                      </a:r>
                    </a:p>
                    <a:p>
                      <a:pPr algn="l">
                        <a:lnSpc>
                          <a:spcPct val="100000"/>
                        </a:lnSpc>
                        <a:spcBef>
                          <a:spcPts val="0"/>
                        </a:spcBef>
                        <a:spcAft>
                          <a:spcPts val="0"/>
                        </a:spcAft>
                      </a:pPr>
                      <a:r>
                        <a:rPr sz="1300" b="0">
                          <a:solidFill>
                            <a:srgbClr val="1F1F1F"/>
                          </a:solidFill>
                          <a:latin typeface="Calibri"/>
                        </a:rPr>
                        <a:t>quinhentos reais), a ser corrigida anualmente, em</a:t>
                      </a:r>
                    </a:p>
                    <a:p>
                      <a:pPr algn="l">
                        <a:lnSpc>
                          <a:spcPct val="100000"/>
                        </a:lnSpc>
                        <a:spcBef>
                          <a:spcPts val="0"/>
                        </a:spcBef>
                        <a:spcAft>
                          <a:spcPts val="0"/>
                        </a:spcAft>
                      </a:pPr>
                      <a:r>
                        <a:rPr sz="1300" b="0">
                          <a:solidFill>
                            <a:srgbClr val="1F1F1F"/>
                          </a:solidFill>
                          <a:latin typeface="Calibri"/>
                        </a:rPr>
                        <a:t>janeiro de cada ano, pela variação Taxa de</a:t>
                      </a:r>
                    </a:p>
                    <a:p>
                      <a:pPr algn="l">
                        <a:lnSpc>
                          <a:spcPct val="100000"/>
                        </a:lnSpc>
                        <a:spcBef>
                          <a:spcPts val="0"/>
                        </a:spcBef>
                        <a:spcAft>
                          <a:spcPts val="0"/>
                        </a:spcAft>
                      </a:pPr>
                      <a:r>
                        <a:rPr sz="1300" b="0">
                          <a:solidFill>
                            <a:srgbClr val="1F1F1F"/>
                          </a:solidFill>
                          <a:latin typeface="Calibri"/>
                        </a:rPr>
                        <a:t>Administração positiva do Índice Geral de Preços</a:t>
                      </a:r>
                    </a:p>
                    <a:p>
                      <a:pPr algn="l">
                        <a:lnSpc>
                          <a:spcPct val="100000"/>
                        </a:lnSpc>
                        <a:spcBef>
                          <a:spcPts val="0"/>
                        </a:spcBef>
                        <a:spcAft>
                          <a:spcPts val="0"/>
                        </a:spcAft>
                      </a:pPr>
                      <a:r>
                        <a:rPr sz="1300" b="0">
                          <a:solidFill>
                            <a:srgbClr val="1F1F1F"/>
                          </a:solidFill>
                          <a:latin typeface="Calibri"/>
                        </a:rPr>
                        <a:t>– Mercado, divulgado pela Fundação Getúlio Vargas</a:t>
                      </a:r>
                    </a:p>
                    <a:p>
                      <a:pPr algn="l">
                        <a:lnSpc>
                          <a:spcPct val="100000"/>
                        </a:lnSpc>
                        <a:spcBef>
                          <a:spcPts val="0"/>
                        </a:spcBef>
                        <a:spcAft>
                          <a:spcPts val="0"/>
                        </a:spcAft>
                      </a:pPr>
                      <a:r>
                        <a:rPr sz="1300" b="0">
                          <a:solidFill>
                            <a:srgbClr val="1F1F1F"/>
                          </a:solidFill>
                          <a:latin typeface="Calibri"/>
                        </a:rPr>
                        <a:t>(“Taxa de Administração” e “IGP-M”,</a:t>
                      </a:r>
                    </a:p>
                    <a:p>
                      <a:pPr algn="l">
                        <a:lnSpc>
                          <a:spcPct val="100000"/>
                        </a:lnSpc>
                        <a:spcBef>
                          <a:spcPts val="0"/>
                        </a:spcBef>
                        <a:spcAft>
                          <a:spcPts val="0"/>
                        </a:spcAft>
                      </a:pPr>
                      <a:r>
                        <a:rPr sz="1300" b="0">
                          <a:solidFill>
                            <a:srgbClr val="1F1F1F"/>
                          </a:solidFill>
                          <a:latin typeface="Calibri"/>
                        </a:rPr>
                        <a:t>respectivamente).</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117/160</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Governança e alterações</a:t>
            </a:r>
          </a:p>
        </p:txBody>
      </p:sp>
      <p:graphicFrame>
        <p:nvGraphicFramePr>
          <p:cNvPr id="3" name="Table 2"/>
          <p:cNvGraphicFramePr>
            <a:graphicFrameLocks noGrp="1"/>
          </p:cNvGraphicFramePr>
          <p:nvPr/>
        </p:nvGraphicFramePr>
        <p:xfrm>
          <a:off x="438912" y="932688"/>
          <a:ext cx="11313870" cy="3300983"/>
        </p:xfrm>
        <a:graphic>
          <a:graphicData uri="http://schemas.openxmlformats.org/drawingml/2006/table">
            <a:tbl>
              <a:tblPr>
                <a:tableStyleId>{5C22544A-7EE6-4342-B048-85BDC9FD1C3A}</a:tableStyleId>
              </a:tblPr>
              <a:tblGrid>
                <a:gridCol w="2331720"/>
                <a:gridCol w="4491075"/>
                <a:gridCol w="4491075"/>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V CDT 1 · 62552447000120</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Global CP · 63953620000165</a:t>
                      </a:r>
                    </a:p>
                  </a:txBody>
                  <a:tcPr marL="91440" marR="91440" marT="41148" marB="41148" anchor="ctr">
                    <a:solidFill>
                      <a:srgbClr val="F7F7F7"/>
                    </a:solidFill>
                    <a:lnL>
                      <a:noFill/>
                    </a:lnL>
                    <a:lnR>
                      <a:noFill/>
                    </a:lnR>
                    <a:lnT>
                      <a:noFill/>
                    </a:lnT>
                    <a:lnB w="6350">
                      <a:solidFill>
                        <a:srgbClr val="D9DEE5"/>
                      </a:solidFill>
                    </a:lnB>
                  </a:tcPr>
                </a:tc>
              </a:tr>
              <a:tr h="2907791">
                <a:tc>
                  <a:txBody>
                    <a:bodyPr wrap="square">
                      <a:noAutofit/>
                    </a:bodyPr>
                    <a:lstStyle/>
                    <a:p>
                      <a:pPr algn="l">
                        <a:lnSpc>
                          <a:spcPct val="100000"/>
                        </a:lnSpc>
                        <a:spcBef>
                          <a:spcPts val="0"/>
                        </a:spcBef>
                        <a:spcAft>
                          <a:spcPts val="0"/>
                        </a:spcAft>
                      </a:pPr>
                      <a:r>
                        <a:rPr sz="1300" b="1">
                          <a:solidFill>
                            <a:srgbClr val="1F1F1F"/>
                          </a:solidFill>
                          <a:latin typeface="Calibri"/>
                        </a:rPr>
                        <a:t>Auditor independente e</a:t>
                      </a:r>
                    </a:p>
                    <a:p>
                      <a:pPr algn="l">
                        <a:lnSpc>
                          <a:spcPct val="100000"/>
                        </a:lnSpc>
                        <a:spcBef>
                          <a:spcPts val="0"/>
                        </a:spcBef>
                        <a:spcAft>
                          <a:spcPts val="0"/>
                        </a:spcAft>
                      </a:pPr>
                      <a:r>
                        <a:rPr sz="1300" b="1">
                          <a:solidFill>
                            <a:srgbClr val="1F1F1F"/>
                          </a:solidFill>
                          <a:latin typeface="Calibri"/>
                        </a:rPr>
                        <a:t>DFs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4.1.6 As demonstrações contábeis cujo relatório</a:t>
                      </a:r>
                    </a:p>
                    <a:p>
                      <a:pPr algn="l">
                        <a:lnSpc>
                          <a:spcPct val="100000"/>
                        </a:lnSpc>
                        <a:spcBef>
                          <a:spcPts val="0"/>
                        </a:spcBef>
                        <a:spcAft>
                          <a:spcPts val="0"/>
                        </a:spcAft>
                      </a:pPr>
                      <a:r>
                        <a:rPr sz="1300" b="0">
                          <a:solidFill>
                            <a:srgbClr val="1F1F1F"/>
                          </a:solidFill>
                          <a:latin typeface="Calibri"/>
                        </a:rPr>
                        <a:t>de auditoria não contiver opinião modificada</a:t>
                      </a:r>
                    </a:p>
                    <a:p>
                      <a:pPr algn="l">
                        <a:lnSpc>
                          <a:spcPct val="100000"/>
                        </a:lnSpc>
                        <a:spcBef>
                          <a:spcPts val="0"/>
                        </a:spcBef>
                        <a:spcAft>
                          <a:spcPts val="0"/>
                        </a:spcAft>
                      </a:pPr>
                      <a:r>
                        <a:rPr sz="1300" b="0">
                          <a:solidFill>
                            <a:srgbClr val="1F1F1F"/>
                          </a:solidFill>
                          <a:latin typeface="Calibri"/>
                        </a:rPr>
                        <a:t>podem ser consideradas automaticamente aprovadas</a:t>
                      </a:r>
                    </a:p>
                    <a:p>
                      <a:pPr algn="l">
                        <a:lnSpc>
                          <a:spcPct val="100000"/>
                        </a:lnSpc>
                        <a:spcBef>
                          <a:spcPts val="0"/>
                        </a:spcBef>
                        <a:spcAft>
                          <a:spcPts val="0"/>
                        </a:spcAft>
                      </a:pPr>
                      <a:r>
                        <a:rPr sz="1300" b="0">
                          <a:solidFill>
                            <a:srgbClr val="1F1F1F"/>
                          </a:solidFill>
                          <a:latin typeface="Calibri"/>
                        </a:rPr>
                        <a:t>caso a Assembleia Geral correspondente não seja</a:t>
                      </a:r>
                    </a:p>
                    <a:p>
                      <a:pPr algn="l">
                        <a:lnSpc>
                          <a:spcPct val="100000"/>
                        </a:lnSpc>
                        <a:spcBef>
                          <a:spcPts val="0"/>
                        </a:spcBef>
                        <a:spcAft>
                          <a:spcPts val="0"/>
                        </a:spcAft>
                      </a:pPr>
                      <a:r>
                        <a:rPr sz="1300" b="0">
                          <a:solidFill>
                            <a:srgbClr val="1F1F1F"/>
                          </a:solidFill>
                          <a:latin typeface="Calibri"/>
                        </a:rPr>
                        <a:t>instalada em virtude do não comparecimento de</a:t>
                      </a:r>
                    </a:p>
                    <a:p>
                      <a:pPr algn="l">
                        <a:lnSpc>
                          <a:spcPct val="100000"/>
                        </a:lnSpc>
                        <a:spcBef>
                          <a:spcPts val="0"/>
                        </a:spcBef>
                        <a:spcAft>
                          <a:spcPts val="0"/>
                        </a:spcAft>
                      </a:pPr>
                      <a:r>
                        <a:rPr sz="1300" b="0">
                          <a:solidFill>
                            <a:srgbClr val="1F1F1F"/>
                          </a:solidFill>
                          <a:latin typeface="Calibri"/>
                        </a:rPr>
                        <a:t>quaisquer Cotistas.</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12.16 Os serviços de auditoria das demonstrações</a:t>
                      </a:r>
                    </a:p>
                    <a:p>
                      <a:pPr algn="l">
                        <a:lnSpc>
                          <a:spcPct val="100000"/>
                        </a:lnSpc>
                        <a:spcBef>
                          <a:spcPts val="0"/>
                        </a:spcBef>
                        <a:spcAft>
                          <a:spcPts val="0"/>
                        </a:spcAft>
                      </a:pPr>
                      <a:r>
                        <a:rPr sz="1300" b="0">
                          <a:solidFill>
                            <a:srgbClr val="1F1F1F"/>
                          </a:solidFill>
                          <a:latin typeface="Calibri"/>
                        </a:rPr>
                        <a:t>f inanceiras e demais contas da Classe serão</a:t>
                      </a:r>
                    </a:p>
                    <a:p>
                      <a:pPr algn="l">
                        <a:lnSpc>
                          <a:spcPct val="100000"/>
                        </a:lnSpc>
                        <a:spcBef>
                          <a:spcPts val="0"/>
                        </a:spcBef>
                        <a:spcAft>
                          <a:spcPts val="0"/>
                        </a:spcAft>
                      </a:pPr>
                      <a:r>
                        <a:rPr sz="1300" b="0">
                          <a:solidFill>
                            <a:srgbClr val="1F1F1F"/>
                          </a:solidFill>
                          <a:latin typeface="Calibri"/>
                        </a:rPr>
                        <a:t>prestados por Auditor Independente contratado</a:t>
                      </a:r>
                    </a:p>
                    <a:p>
                      <a:pPr algn="l">
                        <a:lnSpc>
                          <a:spcPct val="100000"/>
                        </a:lnSpc>
                        <a:spcBef>
                          <a:spcPts val="0"/>
                        </a:spcBef>
                        <a:spcAft>
                          <a:spcPts val="0"/>
                        </a:spcAft>
                      </a:pPr>
                      <a:r>
                        <a:rPr sz="1300" b="0">
                          <a:solidFill>
                            <a:srgbClr val="1F1F1F"/>
                          </a:solidFill>
                          <a:latin typeface="Calibri"/>
                        </a:rPr>
                        <a:t>pelo Administrador. Pelos serviços prestados, o</a:t>
                      </a:r>
                    </a:p>
                    <a:p>
                      <a:pPr algn="l">
                        <a:lnSpc>
                          <a:spcPct val="100000"/>
                        </a:lnSpc>
                        <a:spcBef>
                          <a:spcPts val="0"/>
                        </a:spcBef>
                        <a:spcAft>
                          <a:spcPts val="0"/>
                        </a:spcAft>
                      </a:pPr>
                      <a:r>
                        <a:rPr sz="1300" b="0">
                          <a:solidFill>
                            <a:srgbClr val="1F1F1F"/>
                          </a:solidFill>
                          <a:latin typeface="Calibri"/>
                        </a:rPr>
                        <a:t>Auditor Independente f ará jus ao recebimento de</a:t>
                      </a:r>
                    </a:p>
                    <a:p>
                      <a:pPr algn="l">
                        <a:lnSpc>
                          <a:spcPct val="100000"/>
                        </a:lnSpc>
                        <a:spcBef>
                          <a:spcPts val="0"/>
                        </a:spcBef>
                        <a:spcAft>
                          <a:spcPts val="0"/>
                        </a:spcAft>
                      </a:pPr>
                      <a:r>
                        <a:rPr sz="1300" b="0">
                          <a:solidFill>
                            <a:srgbClr val="1F1F1F"/>
                          </a:solidFill>
                          <a:latin typeface="Calibri"/>
                        </a:rPr>
                        <a:t>remuneração a ser def inida em contrato</a:t>
                      </a:r>
                    </a:p>
                    <a:p>
                      <a:pPr algn="l">
                        <a:lnSpc>
                          <a:spcPct val="100000"/>
                        </a:lnSpc>
                        <a:spcBef>
                          <a:spcPts val="0"/>
                        </a:spcBef>
                        <a:spcAft>
                          <a:spcPts val="0"/>
                        </a:spcAft>
                      </a:pPr>
                      <a:r>
                        <a:rPr sz="1300" b="0">
                          <a:solidFill>
                            <a:srgbClr val="1F1F1F"/>
                          </a:solidFill>
                          <a:latin typeface="Calibri"/>
                        </a:rPr>
                        <a:t>específico, a qual será paga pela Classe.</a:t>
                      </a:r>
                    </a:p>
                    <a:p>
                      <a:pPr algn="l">
                        <a:lnSpc>
                          <a:spcPct val="100000"/>
                        </a:lnSpc>
                        <a:spcBef>
                          <a:spcPts val="0"/>
                        </a:spcBef>
                        <a:spcAft>
                          <a:spcPts val="0"/>
                        </a:spcAft>
                      </a:pPr>
                      <a:r>
                        <a:rPr sz="1300" b="0">
                          <a:solidFill>
                            <a:srgbClr val="1F1F1F"/>
                          </a:solidFill>
                          <a:latin typeface="Calibri"/>
                        </a:rPr>
                        <a:t>CAPÍTULO 13 – TAXA GLOBAL</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Extração pendente</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118/160</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Declarações trimestrais</a:t>
            </a:r>
          </a:p>
        </p:txBody>
      </p:sp>
      <p:graphicFrame>
        <p:nvGraphicFramePr>
          <p:cNvPr id="3" name="Table 2"/>
          <p:cNvGraphicFramePr>
            <a:graphicFrameLocks noGrp="1"/>
          </p:cNvGraphicFramePr>
          <p:nvPr/>
        </p:nvGraphicFramePr>
        <p:xfrm>
          <a:off x="438912" y="932688"/>
          <a:ext cx="11313868" cy="4878324"/>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4407408">
                <a:tc>
                  <a:txBody>
                    <a:bodyPr wrap="square">
                      <a:noAutofit/>
                    </a:bodyPr>
                    <a:lstStyle/>
                    <a:p>
                      <a:pPr algn="l">
                        <a:lnSpc>
                          <a:spcPct val="100000"/>
                        </a:lnSpc>
                        <a:spcBef>
                          <a:spcPts val="0"/>
                        </a:spcBef>
                        <a:spcAft>
                          <a:spcPts val="0"/>
                        </a:spcAft>
                      </a:pPr>
                      <a:r>
                        <a:rPr sz="1300" b="1">
                          <a:solidFill>
                            <a:srgbClr val="1F1F1F"/>
                          </a:solidFill>
                          <a:latin typeface="Calibri"/>
                        </a:rPr>
                        <a:t>Resultado da verificação</a:t>
                      </a:r>
                    </a:p>
                    <a:p>
                      <a:pPr algn="l">
                        <a:lnSpc>
                          <a:spcPct val="100000"/>
                        </a:lnSpc>
                        <a:spcBef>
                          <a:spcPts val="0"/>
                        </a:spcBef>
                        <a:spcAft>
                          <a:spcPts val="0"/>
                        </a:spcAft>
                      </a:pPr>
                      <a:r>
                        <a:rPr sz="1300" b="1">
                          <a:solidFill>
                            <a:srgbClr val="1F1F1F"/>
                          </a:solidFill>
                          <a:latin typeface="Calibri"/>
                        </a:rPr>
                        <a:t>de lastro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De acordo com o</a:t>
                      </a:r>
                    </a:p>
                    <a:p>
                      <a:pPr algn="l">
                        <a:lnSpc>
                          <a:spcPct val="100000"/>
                        </a:lnSpc>
                        <a:spcBef>
                          <a:spcPts val="0"/>
                        </a:spcBef>
                        <a:spcAft>
                          <a:spcPts val="0"/>
                        </a:spcAft>
                      </a:pPr>
                      <a:r>
                        <a:rPr sz="1300" b="0">
                          <a:solidFill>
                            <a:srgbClr val="1F1F1F"/>
                          </a:solidFill>
                          <a:latin typeface="Calibri"/>
                        </a:rPr>
                        <a:t>relatório de lastro</a:t>
                      </a:r>
                    </a:p>
                    <a:p>
                      <a:pPr algn="l">
                        <a:lnSpc>
                          <a:spcPct val="100000"/>
                        </a:lnSpc>
                        <a:spcBef>
                          <a:spcPts val="0"/>
                        </a:spcBef>
                        <a:spcAft>
                          <a:spcPts val="0"/>
                        </a:spcAft>
                      </a:pPr>
                      <a:r>
                        <a:rPr sz="1300" b="0">
                          <a:solidFill>
                            <a:srgbClr val="1F1F1F"/>
                          </a:solidFill>
                          <a:latin typeface="Calibri"/>
                        </a:rPr>
                        <a:t>disponibilizado pelo</a:t>
                      </a:r>
                    </a:p>
                    <a:p>
                      <a:pPr algn="l">
                        <a:lnSpc>
                          <a:spcPct val="100000"/>
                        </a:lnSpc>
                        <a:spcBef>
                          <a:spcPts val="0"/>
                        </a:spcBef>
                        <a:spcAft>
                          <a:spcPts val="0"/>
                        </a:spcAft>
                      </a:pPr>
                      <a:r>
                        <a:rPr sz="1300" b="0">
                          <a:solidFill>
                            <a:srgbClr val="1F1F1F"/>
                          </a:solidFill>
                          <a:latin typeface="Calibri"/>
                        </a:rPr>
                        <a:t>Custodiante, não foram</a:t>
                      </a:r>
                    </a:p>
                    <a:p>
                      <a:pPr algn="l">
                        <a:lnSpc>
                          <a:spcPct val="100000"/>
                        </a:lnSpc>
                        <a:spcBef>
                          <a:spcPts val="0"/>
                        </a:spcBef>
                        <a:spcAft>
                          <a:spcPts val="0"/>
                        </a:spcAft>
                      </a:pPr>
                      <a:r>
                        <a:rPr sz="1300" b="0">
                          <a:solidFill>
                            <a:srgbClr val="1F1F1F"/>
                          </a:solidFill>
                          <a:latin typeface="Calibri"/>
                        </a:rPr>
                        <a:t>identificadas</a:t>
                      </a:r>
                    </a:p>
                    <a:p>
                      <a:pPr algn="l">
                        <a:lnSpc>
                          <a:spcPct val="100000"/>
                        </a:lnSpc>
                        <a:spcBef>
                          <a:spcPts val="0"/>
                        </a:spcBef>
                        <a:spcAft>
                          <a:spcPts val="0"/>
                        </a:spcAft>
                      </a:pPr>
                      <a:r>
                        <a:rPr sz="1300" b="0">
                          <a:solidFill>
                            <a:srgbClr val="1F1F1F"/>
                          </a:solidFill>
                          <a:latin typeface="Calibri"/>
                        </a:rPr>
                        <a:t>inconsistências</a:t>
                      </a:r>
                    </a:p>
                    <a:p>
                      <a:pPr algn="l">
                        <a:lnSpc>
                          <a:spcPct val="100000"/>
                        </a:lnSpc>
                        <a:spcBef>
                          <a:spcPts val="0"/>
                        </a:spcBef>
                        <a:spcAft>
                          <a:spcPts val="0"/>
                        </a:spcAft>
                      </a:pPr>
                      <a:r>
                        <a:rPr sz="1300" b="0">
                          <a:solidFill>
                            <a:srgbClr val="1F1F1F"/>
                          </a:solidFill>
                          <a:latin typeface="Calibri"/>
                        </a:rPr>
                        <a:t>significativas na</a:t>
                      </a:r>
                    </a:p>
                    <a:p>
                      <a:pPr algn="l">
                        <a:lnSpc>
                          <a:spcPct val="100000"/>
                        </a:lnSpc>
                        <a:spcBef>
                          <a:spcPts val="0"/>
                        </a:spcBef>
                        <a:spcAft>
                          <a:spcPts val="0"/>
                        </a:spcAft>
                      </a:pPr>
                      <a:r>
                        <a:rPr sz="1300" b="0">
                          <a:solidFill>
                            <a:srgbClr val="1F1F1F"/>
                          </a:solidFill>
                          <a:latin typeface="Calibri"/>
                        </a:rPr>
                        <a:t>verificação da</a:t>
                      </a:r>
                    </a:p>
                    <a:p>
                      <a:pPr algn="l">
                        <a:lnSpc>
                          <a:spcPct val="100000"/>
                        </a:lnSpc>
                        <a:spcBef>
                          <a:spcPts val="0"/>
                        </a:spcBef>
                        <a:spcAft>
                          <a:spcPts val="0"/>
                        </a:spcAft>
                      </a:pPr>
                      <a:r>
                        <a:rPr sz="1300" b="0">
                          <a:solidFill>
                            <a:srgbClr val="1F1F1F"/>
                          </a:solidFill>
                          <a:latin typeface="Calibri"/>
                        </a:rPr>
                        <a:t>documentação dos</a:t>
                      </a:r>
                    </a:p>
                    <a:p>
                      <a:pPr algn="l">
                        <a:lnSpc>
                          <a:spcPct val="100000"/>
                        </a:lnSpc>
                        <a:spcBef>
                          <a:spcPts val="0"/>
                        </a:spcBef>
                        <a:spcAft>
                          <a:spcPts val="0"/>
                        </a:spcAft>
                      </a:pPr>
                      <a:r>
                        <a:rPr sz="1300" b="0">
                          <a:solidFill>
                            <a:srgbClr val="1F1F1F"/>
                          </a:solidFill>
                          <a:latin typeface="Calibri"/>
                        </a:rPr>
                        <a:t>direitos creditórios do</a:t>
                      </a:r>
                    </a:p>
                    <a:p>
                      <a:pPr algn="l">
                        <a:lnSpc>
                          <a:spcPct val="100000"/>
                        </a:lnSpc>
                        <a:spcBef>
                          <a:spcPts val="0"/>
                        </a:spcBef>
                        <a:spcAft>
                          <a:spcPts val="0"/>
                        </a:spcAft>
                      </a:pPr>
                      <a:r>
                        <a:rPr sz="1300" b="0">
                          <a:solidFill>
                            <a:srgbClr val="1F1F1F"/>
                          </a:solidFill>
                          <a:latin typeface="Calibri"/>
                        </a:rPr>
                        <a:t>fundo. Todos os</a:t>
                      </a:r>
                    </a:p>
                    <a:p>
                      <a:pPr algn="l">
                        <a:lnSpc>
                          <a:spcPct val="100000"/>
                        </a:lnSpc>
                        <a:spcBef>
                          <a:spcPts val="0"/>
                        </a:spcBef>
                        <a:spcAft>
                          <a:spcPts val="0"/>
                        </a:spcAft>
                      </a:pPr>
                      <a:r>
                        <a:rPr sz="1300" b="0">
                          <a:solidFill>
                            <a:srgbClr val="1F1F1F"/>
                          </a:solidFill>
                          <a:latin typeface="Calibri"/>
                        </a:rPr>
                        <a:t>procedimentos</a:t>
                      </a:r>
                    </a:p>
                    <a:p>
                      <a:pPr algn="l">
                        <a:lnSpc>
                          <a:spcPct val="100000"/>
                        </a:lnSpc>
                        <a:spcBef>
                          <a:spcPts val="0"/>
                        </a:spcBef>
                        <a:spcAft>
                          <a:spcPts val="0"/>
                        </a:spcAft>
                      </a:pPr>
                      <a:r>
                        <a:rPr sz="1300" b="0">
                          <a:solidFill>
                            <a:srgbClr val="1F1F1F"/>
                          </a:solidFill>
                          <a:latin typeface="Calibri"/>
                        </a:rPr>
                        <a:t>realizados foram</a:t>
                      </a:r>
                    </a:p>
                    <a:p>
                      <a:pPr algn="l">
                        <a:lnSpc>
                          <a:spcPct val="100000"/>
                        </a:lnSpc>
                        <a:spcBef>
                          <a:spcPts val="0"/>
                        </a:spcBef>
                        <a:spcAft>
                          <a:spcPts val="0"/>
                        </a:spcAft>
                      </a:pPr>
                      <a:r>
                        <a:rPr sz="1300" b="0">
                          <a:solidFill>
                            <a:srgbClr val="1F1F1F"/>
                          </a:solidFill>
                          <a:latin typeface="Calibri"/>
                        </a:rPr>
                        <a:t>concluídos</a:t>
                      </a:r>
                    </a:p>
                    <a:p>
                      <a:pPr algn="l">
                        <a:lnSpc>
                          <a:spcPct val="100000"/>
                        </a:lnSpc>
                        <a:spcBef>
                          <a:spcPts val="0"/>
                        </a:spcBef>
                        <a:spcAft>
                          <a:spcPts val="0"/>
                        </a:spcAft>
                      </a:pPr>
                      <a:r>
                        <a:rPr sz="1300" b="0">
                          <a:solidFill>
                            <a:srgbClr val="1F1F1F"/>
                          </a:solidFill>
                          <a:latin typeface="Calibri"/>
                        </a:rPr>
                        <a:t>satisfatoriamente em</a:t>
                      </a:r>
                    </a:p>
                    <a:p>
                      <a:pPr algn="l">
                        <a:lnSpc>
                          <a:spcPct val="100000"/>
                        </a:lnSpc>
                        <a:spcBef>
                          <a:spcPts val="0"/>
                        </a:spcBef>
                        <a:spcAft>
                          <a:spcPts val="0"/>
                        </a:spcAft>
                      </a:pPr>
                      <a:r>
                        <a:rPr sz="1300" b="0">
                          <a:solidFill>
                            <a:srgbClr val="1F1F1F"/>
                          </a:solidFill>
                          <a:latin typeface="Calibri"/>
                        </a:rPr>
                        <a:t>atendimento à</a:t>
                      </a:r>
                    </a:p>
                    <a:p>
                      <a:pPr algn="l">
                        <a:lnSpc>
                          <a:spcPct val="100000"/>
                        </a:lnSpc>
                        <a:spcBef>
                          <a:spcPts val="0"/>
                        </a:spcBef>
                        <a:spcAft>
                          <a:spcPts val="0"/>
                        </a:spcAft>
                      </a:pPr>
                      <a:r>
                        <a:rPr sz="1300" b="0">
                          <a:solidFill>
                            <a:srgbClr val="1F1F1F"/>
                          </a:solidFill>
                          <a:latin typeface="Calibri"/>
                        </a:rPr>
                        <a:t>legislação em vigor.</a:t>
                      </a:r>
                    </a:p>
                    <a:p>
                      <a:pPr algn="l">
                        <a:lnSpc>
                          <a:spcPct val="100000"/>
                        </a:lnSpc>
                        <a:spcBef>
                          <a:spcPts val="0"/>
                        </a:spcBef>
                        <a:spcAft>
                          <a:spcPts val="0"/>
                        </a:spcAft>
                      </a:pPr>
                      <a:r>
                        <a:rPr sz="1300" b="0">
                          <a:solidFill>
                            <a:srgbClr val="1F1F1F"/>
                          </a:solidFill>
                          <a:latin typeface="Calibri"/>
                        </a:rPr>
                        <a:t>Declaração do informe</a:t>
                      </a:r>
                    </a:p>
                    <a:p>
                      <a:pPr algn="l">
                        <a:lnSpc>
                          <a:spcPct val="100000"/>
                        </a:lnSpc>
                        <a:spcBef>
                          <a:spcPts val="0"/>
                        </a:spcBef>
                        <a:spcAft>
                          <a:spcPts val="0"/>
                        </a:spcAft>
                      </a:pPr>
                      <a:r>
                        <a:rPr sz="1300" b="0">
                          <a:solidFill>
                            <a:srgbClr val="1F1F1F"/>
                          </a:solidFill>
                          <a:latin typeface="Calibri"/>
                        </a:rPr>
                        <a:t>trimestral</a:t>
                      </a:r>
                    </a:p>
                    <a:p>
                      <a:pPr algn="l">
                        <a:lnSpc>
                          <a:spcPct val="100000"/>
                        </a:lnSpc>
                        <a:spcBef>
                          <a:spcPts val="0"/>
                        </a:spcBef>
                        <a:spcAft>
                          <a:spcPts val="0"/>
                        </a:spcAft>
                      </a:pPr>
                      <a:r>
                        <a:rPr sz="1300" b="0">
                          <a:solidFill>
                            <a:srgbClr val="1F1F1F"/>
                          </a:solidFill>
                          <a:latin typeface="Calibri"/>
                        </a:rPr>
                        <a:t>2026-Q2 · Resposta</a:t>
                      </a:r>
                    </a:p>
                    <a:p>
                      <a:pPr algn="l">
                        <a:lnSpc>
                          <a:spcPct val="100000"/>
                        </a:lnSpc>
                        <a:spcBef>
                          <a:spcPts val="0"/>
                        </a:spcBef>
                        <a:spcAft>
                          <a:spcPts val="0"/>
                        </a:spcAft>
                      </a:pPr>
                      <a:r>
                        <a:rPr sz="1300" b="0">
                          <a:solidFill>
                            <a:srgbClr val="1F1F1F"/>
                          </a:solidFill>
                          <a:latin typeface="Calibri"/>
                        </a:rPr>
                        <a:t>declarada no informe; a</a:t>
                      </a:r>
                    </a:p>
                    <a:p>
                      <a:pPr algn="l">
                        <a:lnSpc>
                          <a:spcPct val="100000"/>
                        </a:lnSpc>
                        <a:spcBef>
                          <a:spcPts val="0"/>
                        </a:spcBef>
                        <a:spcAft>
                          <a:spcPts val="0"/>
                        </a:spcAft>
                      </a:pPr>
                      <a:r>
                        <a:rPr sz="1300" b="0">
                          <a:solidFill>
                            <a:srgbClr val="1F1F1F"/>
                          </a:solidFill>
                          <a:latin typeface="Calibri"/>
                        </a:rPr>
                        <a:t>cláusula permanece no</a:t>
                      </a:r>
                    </a:p>
                    <a:p>
                      <a:pPr algn="l">
                        <a:lnSpc>
                          <a:spcPct val="100000"/>
                        </a:lnSpc>
                        <a:spcBef>
                          <a:spcPts val="0"/>
                        </a:spcBef>
                        <a:spcAft>
                          <a:spcPts val="0"/>
                        </a:spcAft>
                      </a:pPr>
                      <a:r>
                        <a:rPr sz="1300" b="0">
                          <a:solidFill>
                            <a:srgbClr val="1F1F1F"/>
                          </a:solidFill>
                          <a:latin typeface="Calibri"/>
                        </a:rPr>
                        <a:t>documento normativo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De acordo com o</a:t>
                      </a:r>
                    </a:p>
                    <a:p>
                      <a:pPr algn="l">
                        <a:lnSpc>
                          <a:spcPct val="100000"/>
                        </a:lnSpc>
                        <a:spcBef>
                          <a:spcPts val="0"/>
                        </a:spcBef>
                        <a:spcAft>
                          <a:spcPts val="0"/>
                        </a:spcAft>
                      </a:pPr>
                      <a:r>
                        <a:rPr sz="1300" b="0">
                          <a:solidFill>
                            <a:srgbClr val="1F1F1F"/>
                          </a:solidFill>
                          <a:latin typeface="Calibri"/>
                        </a:rPr>
                        <a:t>relatório de lastro</a:t>
                      </a:r>
                    </a:p>
                    <a:p>
                      <a:pPr algn="l">
                        <a:lnSpc>
                          <a:spcPct val="100000"/>
                        </a:lnSpc>
                        <a:spcBef>
                          <a:spcPts val="0"/>
                        </a:spcBef>
                        <a:spcAft>
                          <a:spcPts val="0"/>
                        </a:spcAft>
                      </a:pPr>
                      <a:r>
                        <a:rPr sz="1300" b="0">
                          <a:solidFill>
                            <a:srgbClr val="1F1F1F"/>
                          </a:solidFill>
                          <a:latin typeface="Calibri"/>
                        </a:rPr>
                        <a:t>disponibilizado pelo</a:t>
                      </a:r>
                    </a:p>
                    <a:p>
                      <a:pPr algn="l">
                        <a:lnSpc>
                          <a:spcPct val="100000"/>
                        </a:lnSpc>
                        <a:spcBef>
                          <a:spcPts val="0"/>
                        </a:spcBef>
                        <a:spcAft>
                          <a:spcPts val="0"/>
                        </a:spcAft>
                      </a:pPr>
                      <a:r>
                        <a:rPr sz="1300" b="0">
                          <a:solidFill>
                            <a:srgbClr val="1F1F1F"/>
                          </a:solidFill>
                          <a:latin typeface="Calibri"/>
                        </a:rPr>
                        <a:t>Custodiante, não foram</a:t>
                      </a:r>
                    </a:p>
                    <a:p>
                      <a:pPr algn="l">
                        <a:lnSpc>
                          <a:spcPct val="100000"/>
                        </a:lnSpc>
                        <a:spcBef>
                          <a:spcPts val="0"/>
                        </a:spcBef>
                        <a:spcAft>
                          <a:spcPts val="0"/>
                        </a:spcAft>
                      </a:pPr>
                      <a:r>
                        <a:rPr sz="1300" b="0">
                          <a:solidFill>
                            <a:srgbClr val="1F1F1F"/>
                          </a:solidFill>
                          <a:latin typeface="Calibri"/>
                        </a:rPr>
                        <a:t>identificadas</a:t>
                      </a:r>
                    </a:p>
                    <a:p>
                      <a:pPr algn="l">
                        <a:lnSpc>
                          <a:spcPct val="100000"/>
                        </a:lnSpc>
                        <a:spcBef>
                          <a:spcPts val="0"/>
                        </a:spcBef>
                        <a:spcAft>
                          <a:spcPts val="0"/>
                        </a:spcAft>
                      </a:pPr>
                      <a:r>
                        <a:rPr sz="1300" b="0">
                          <a:solidFill>
                            <a:srgbClr val="1F1F1F"/>
                          </a:solidFill>
                          <a:latin typeface="Calibri"/>
                        </a:rPr>
                        <a:t>inconsistências</a:t>
                      </a:r>
                    </a:p>
                    <a:p>
                      <a:pPr algn="l">
                        <a:lnSpc>
                          <a:spcPct val="100000"/>
                        </a:lnSpc>
                        <a:spcBef>
                          <a:spcPts val="0"/>
                        </a:spcBef>
                        <a:spcAft>
                          <a:spcPts val="0"/>
                        </a:spcAft>
                      </a:pPr>
                      <a:r>
                        <a:rPr sz="1300" b="0">
                          <a:solidFill>
                            <a:srgbClr val="1F1F1F"/>
                          </a:solidFill>
                          <a:latin typeface="Calibri"/>
                        </a:rPr>
                        <a:t>significativas na</a:t>
                      </a:r>
                    </a:p>
                    <a:p>
                      <a:pPr algn="l">
                        <a:lnSpc>
                          <a:spcPct val="100000"/>
                        </a:lnSpc>
                        <a:spcBef>
                          <a:spcPts val="0"/>
                        </a:spcBef>
                        <a:spcAft>
                          <a:spcPts val="0"/>
                        </a:spcAft>
                      </a:pPr>
                      <a:r>
                        <a:rPr sz="1300" b="0">
                          <a:solidFill>
                            <a:srgbClr val="1F1F1F"/>
                          </a:solidFill>
                          <a:latin typeface="Calibri"/>
                        </a:rPr>
                        <a:t>verificação da</a:t>
                      </a:r>
                    </a:p>
                    <a:p>
                      <a:pPr algn="l">
                        <a:lnSpc>
                          <a:spcPct val="100000"/>
                        </a:lnSpc>
                        <a:spcBef>
                          <a:spcPts val="0"/>
                        </a:spcBef>
                        <a:spcAft>
                          <a:spcPts val="0"/>
                        </a:spcAft>
                      </a:pPr>
                      <a:r>
                        <a:rPr sz="1300" b="0">
                          <a:solidFill>
                            <a:srgbClr val="1F1F1F"/>
                          </a:solidFill>
                          <a:latin typeface="Calibri"/>
                        </a:rPr>
                        <a:t>documentação dos</a:t>
                      </a:r>
                    </a:p>
                    <a:p>
                      <a:pPr algn="l">
                        <a:lnSpc>
                          <a:spcPct val="100000"/>
                        </a:lnSpc>
                        <a:spcBef>
                          <a:spcPts val="0"/>
                        </a:spcBef>
                        <a:spcAft>
                          <a:spcPts val="0"/>
                        </a:spcAft>
                      </a:pPr>
                      <a:r>
                        <a:rPr sz="1300" b="0">
                          <a:solidFill>
                            <a:srgbClr val="1F1F1F"/>
                          </a:solidFill>
                          <a:latin typeface="Calibri"/>
                        </a:rPr>
                        <a:t>direitos creditórios do</a:t>
                      </a:r>
                    </a:p>
                    <a:p>
                      <a:pPr algn="l">
                        <a:lnSpc>
                          <a:spcPct val="100000"/>
                        </a:lnSpc>
                        <a:spcBef>
                          <a:spcPts val="0"/>
                        </a:spcBef>
                        <a:spcAft>
                          <a:spcPts val="0"/>
                        </a:spcAft>
                      </a:pPr>
                      <a:r>
                        <a:rPr sz="1300" b="0">
                          <a:solidFill>
                            <a:srgbClr val="1F1F1F"/>
                          </a:solidFill>
                          <a:latin typeface="Calibri"/>
                        </a:rPr>
                        <a:t>fundo. Todos os</a:t>
                      </a:r>
                    </a:p>
                    <a:p>
                      <a:pPr algn="l">
                        <a:lnSpc>
                          <a:spcPct val="100000"/>
                        </a:lnSpc>
                        <a:spcBef>
                          <a:spcPts val="0"/>
                        </a:spcBef>
                        <a:spcAft>
                          <a:spcPts val="0"/>
                        </a:spcAft>
                      </a:pPr>
                      <a:r>
                        <a:rPr sz="1300" b="0">
                          <a:solidFill>
                            <a:srgbClr val="1F1F1F"/>
                          </a:solidFill>
                          <a:latin typeface="Calibri"/>
                        </a:rPr>
                        <a:t>procedimentos</a:t>
                      </a:r>
                    </a:p>
                    <a:p>
                      <a:pPr algn="l">
                        <a:lnSpc>
                          <a:spcPct val="100000"/>
                        </a:lnSpc>
                        <a:spcBef>
                          <a:spcPts val="0"/>
                        </a:spcBef>
                        <a:spcAft>
                          <a:spcPts val="0"/>
                        </a:spcAft>
                      </a:pPr>
                      <a:r>
                        <a:rPr sz="1300" b="0">
                          <a:solidFill>
                            <a:srgbClr val="1F1F1F"/>
                          </a:solidFill>
                          <a:latin typeface="Calibri"/>
                        </a:rPr>
                        <a:t>realizados foram</a:t>
                      </a:r>
                    </a:p>
                    <a:p>
                      <a:pPr algn="l">
                        <a:lnSpc>
                          <a:spcPct val="100000"/>
                        </a:lnSpc>
                        <a:spcBef>
                          <a:spcPts val="0"/>
                        </a:spcBef>
                        <a:spcAft>
                          <a:spcPts val="0"/>
                        </a:spcAft>
                      </a:pPr>
                      <a:r>
                        <a:rPr sz="1300" b="0">
                          <a:solidFill>
                            <a:srgbClr val="1F1F1F"/>
                          </a:solidFill>
                          <a:latin typeface="Calibri"/>
                        </a:rPr>
                        <a:t>concluídos</a:t>
                      </a:r>
                    </a:p>
                    <a:p>
                      <a:pPr algn="l">
                        <a:lnSpc>
                          <a:spcPct val="100000"/>
                        </a:lnSpc>
                        <a:spcBef>
                          <a:spcPts val="0"/>
                        </a:spcBef>
                        <a:spcAft>
                          <a:spcPts val="0"/>
                        </a:spcAft>
                      </a:pPr>
                      <a:r>
                        <a:rPr sz="1300" b="0">
                          <a:solidFill>
                            <a:srgbClr val="1F1F1F"/>
                          </a:solidFill>
                          <a:latin typeface="Calibri"/>
                        </a:rPr>
                        <a:t>satisfatoriamente em</a:t>
                      </a:r>
                    </a:p>
                    <a:p>
                      <a:pPr algn="l">
                        <a:lnSpc>
                          <a:spcPct val="100000"/>
                        </a:lnSpc>
                        <a:spcBef>
                          <a:spcPts val="0"/>
                        </a:spcBef>
                        <a:spcAft>
                          <a:spcPts val="0"/>
                        </a:spcAft>
                      </a:pPr>
                      <a:r>
                        <a:rPr sz="1300" b="0">
                          <a:solidFill>
                            <a:srgbClr val="1F1F1F"/>
                          </a:solidFill>
                          <a:latin typeface="Calibri"/>
                        </a:rPr>
                        <a:t>atendimento à</a:t>
                      </a:r>
                    </a:p>
                    <a:p>
                      <a:pPr algn="l">
                        <a:lnSpc>
                          <a:spcPct val="100000"/>
                        </a:lnSpc>
                        <a:spcBef>
                          <a:spcPts val="0"/>
                        </a:spcBef>
                        <a:spcAft>
                          <a:spcPts val="0"/>
                        </a:spcAft>
                      </a:pPr>
                      <a:r>
                        <a:rPr sz="1300" b="0">
                          <a:solidFill>
                            <a:srgbClr val="1F1F1F"/>
                          </a:solidFill>
                          <a:latin typeface="Calibri"/>
                        </a:rPr>
                        <a:t>legislação em vigor.</a:t>
                      </a:r>
                    </a:p>
                    <a:p>
                      <a:pPr algn="l">
                        <a:lnSpc>
                          <a:spcPct val="100000"/>
                        </a:lnSpc>
                        <a:spcBef>
                          <a:spcPts val="0"/>
                        </a:spcBef>
                        <a:spcAft>
                          <a:spcPts val="0"/>
                        </a:spcAft>
                      </a:pPr>
                      <a:r>
                        <a:rPr sz="1300" b="0">
                          <a:solidFill>
                            <a:srgbClr val="1F1F1F"/>
                          </a:solidFill>
                          <a:latin typeface="Calibri"/>
                        </a:rPr>
                        <a:t>Declaração do informe</a:t>
                      </a:r>
                    </a:p>
                    <a:p>
                      <a:pPr algn="l">
                        <a:lnSpc>
                          <a:spcPct val="100000"/>
                        </a:lnSpc>
                        <a:spcBef>
                          <a:spcPts val="0"/>
                        </a:spcBef>
                        <a:spcAft>
                          <a:spcPts val="0"/>
                        </a:spcAft>
                      </a:pPr>
                      <a:r>
                        <a:rPr sz="1300" b="0">
                          <a:solidFill>
                            <a:srgbClr val="1F1F1F"/>
                          </a:solidFill>
                          <a:latin typeface="Calibri"/>
                        </a:rPr>
                        <a:t>trimestral</a:t>
                      </a:r>
                    </a:p>
                    <a:p>
                      <a:pPr algn="l">
                        <a:lnSpc>
                          <a:spcPct val="100000"/>
                        </a:lnSpc>
                        <a:spcBef>
                          <a:spcPts val="0"/>
                        </a:spcBef>
                        <a:spcAft>
                          <a:spcPts val="0"/>
                        </a:spcAft>
                      </a:pPr>
                      <a:r>
                        <a:rPr sz="1300" b="0">
                          <a:solidFill>
                            <a:srgbClr val="1F1F1F"/>
                          </a:solidFill>
                          <a:latin typeface="Calibri"/>
                        </a:rPr>
                        <a:t>2026-Q2 · Resposta</a:t>
                      </a:r>
                    </a:p>
                    <a:p>
                      <a:pPr algn="l">
                        <a:lnSpc>
                          <a:spcPct val="100000"/>
                        </a:lnSpc>
                        <a:spcBef>
                          <a:spcPts val="0"/>
                        </a:spcBef>
                        <a:spcAft>
                          <a:spcPts val="0"/>
                        </a:spcAft>
                      </a:pPr>
                      <a:r>
                        <a:rPr sz="1300" b="0">
                          <a:solidFill>
                            <a:srgbClr val="1F1F1F"/>
                          </a:solidFill>
                          <a:latin typeface="Calibri"/>
                        </a:rPr>
                        <a:t>declarada no informe; a</a:t>
                      </a:r>
                    </a:p>
                    <a:p>
                      <a:pPr algn="l">
                        <a:lnSpc>
                          <a:spcPct val="100000"/>
                        </a:lnSpc>
                        <a:spcBef>
                          <a:spcPts val="0"/>
                        </a:spcBef>
                        <a:spcAft>
                          <a:spcPts val="0"/>
                        </a:spcAft>
                      </a:pPr>
                      <a:r>
                        <a:rPr sz="1300" b="0">
                          <a:solidFill>
                            <a:srgbClr val="1F1F1F"/>
                          </a:solidFill>
                          <a:latin typeface="Calibri"/>
                        </a:rPr>
                        <a:t>cláusula permanece no</a:t>
                      </a:r>
                    </a:p>
                    <a:p>
                      <a:pPr algn="l">
                        <a:lnSpc>
                          <a:spcPct val="100000"/>
                        </a:lnSpc>
                        <a:spcBef>
                          <a:spcPts val="0"/>
                        </a:spcBef>
                        <a:spcAft>
                          <a:spcPts val="0"/>
                        </a:spcAft>
                      </a:pPr>
                      <a:r>
                        <a:rPr sz="1300" b="0">
                          <a:solidFill>
                            <a:srgbClr val="1F1F1F"/>
                          </a:solidFill>
                          <a:latin typeface="Calibri"/>
                        </a:rPr>
                        <a:t>documento normativo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De acordo com o</a:t>
                      </a:r>
                    </a:p>
                    <a:p>
                      <a:pPr algn="l">
                        <a:lnSpc>
                          <a:spcPct val="100000"/>
                        </a:lnSpc>
                        <a:spcBef>
                          <a:spcPts val="0"/>
                        </a:spcBef>
                        <a:spcAft>
                          <a:spcPts val="0"/>
                        </a:spcAft>
                      </a:pPr>
                      <a:r>
                        <a:rPr sz="1300" b="0">
                          <a:solidFill>
                            <a:srgbClr val="1F1F1F"/>
                          </a:solidFill>
                          <a:latin typeface="Calibri"/>
                        </a:rPr>
                        <a:t>relatório de lastro</a:t>
                      </a:r>
                    </a:p>
                    <a:p>
                      <a:pPr algn="l">
                        <a:lnSpc>
                          <a:spcPct val="100000"/>
                        </a:lnSpc>
                        <a:spcBef>
                          <a:spcPts val="0"/>
                        </a:spcBef>
                        <a:spcAft>
                          <a:spcPts val="0"/>
                        </a:spcAft>
                      </a:pPr>
                      <a:r>
                        <a:rPr sz="1300" b="0">
                          <a:solidFill>
                            <a:srgbClr val="1F1F1F"/>
                          </a:solidFill>
                          <a:latin typeface="Calibri"/>
                        </a:rPr>
                        <a:t>disponibilizado pelo</a:t>
                      </a:r>
                    </a:p>
                    <a:p>
                      <a:pPr algn="l">
                        <a:lnSpc>
                          <a:spcPct val="100000"/>
                        </a:lnSpc>
                        <a:spcBef>
                          <a:spcPts val="0"/>
                        </a:spcBef>
                        <a:spcAft>
                          <a:spcPts val="0"/>
                        </a:spcAft>
                      </a:pPr>
                      <a:r>
                        <a:rPr sz="1300" b="0">
                          <a:solidFill>
                            <a:srgbClr val="1F1F1F"/>
                          </a:solidFill>
                          <a:latin typeface="Calibri"/>
                        </a:rPr>
                        <a:t>Custodiante, não foram</a:t>
                      </a:r>
                    </a:p>
                    <a:p>
                      <a:pPr algn="l">
                        <a:lnSpc>
                          <a:spcPct val="100000"/>
                        </a:lnSpc>
                        <a:spcBef>
                          <a:spcPts val="0"/>
                        </a:spcBef>
                        <a:spcAft>
                          <a:spcPts val="0"/>
                        </a:spcAft>
                      </a:pPr>
                      <a:r>
                        <a:rPr sz="1300" b="0">
                          <a:solidFill>
                            <a:srgbClr val="1F1F1F"/>
                          </a:solidFill>
                          <a:latin typeface="Calibri"/>
                        </a:rPr>
                        <a:t>identificadas</a:t>
                      </a:r>
                    </a:p>
                    <a:p>
                      <a:pPr algn="l">
                        <a:lnSpc>
                          <a:spcPct val="100000"/>
                        </a:lnSpc>
                        <a:spcBef>
                          <a:spcPts val="0"/>
                        </a:spcBef>
                        <a:spcAft>
                          <a:spcPts val="0"/>
                        </a:spcAft>
                      </a:pPr>
                      <a:r>
                        <a:rPr sz="1300" b="0">
                          <a:solidFill>
                            <a:srgbClr val="1F1F1F"/>
                          </a:solidFill>
                          <a:latin typeface="Calibri"/>
                        </a:rPr>
                        <a:t>inconsistências</a:t>
                      </a:r>
                    </a:p>
                    <a:p>
                      <a:pPr algn="l">
                        <a:lnSpc>
                          <a:spcPct val="100000"/>
                        </a:lnSpc>
                        <a:spcBef>
                          <a:spcPts val="0"/>
                        </a:spcBef>
                        <a:spcAft>
                          <a:spcPts val="0"/>
                        </a:spcAft>
                      </a:pPr>
                      <a:r>
                        <a:rPr sz="1300" b="0">
                          <a:solidFill>
                            <a:srgbClr val="1F1F1F"/>
                          </a:solidFill>
                          <a:latin typeface="Calibri"/>
                        </a:rPr>
                        <a:t>significativas na</a:t>
                      </a:r>
                    </a:p>
                    <a:p>
                      <a:pPr algn="l">
                        <a:lnSpc>
                          <a:spcPct val="100000"/>
                        </a:lnSpc>
                        <a:spcBef>
                          <a:spcPts val="0"/>
                        </a:spcBef>
                        <a:spcAft>
                          <a:spcPts val="0"/>
                        </a:spcAft>
                      </a:pPr>
                      <a:r>
                        <a:rPr sz="1300" b="0">
                          <a:solidFill>
                            <a:srgbClr val="1F1F1F"/>
                          </a:solidFill>
                          <a:latin typeface="Calibri"/>
                        </a:rPr>
                        <a:t>verificação da</a:t>
                      </a:r>
                    </a:p>
                    <a:p>
                      <a:pPr algn="l">
                        <a:lnSpc>
                          <a:spcPct val="100000"/>
                        </a:lnSpc>
                        <a:spcBef>
                          <a:spcPts val="0"/>
                        </a:spcBef>
                        <a:spcAft>
                          <a:spcPts val="0"/>
                        </a:spcAft>
                      </a:pPr>
                      <a:r>
                        <a:rPr sz="1300" b="0">
                          <a:solidFill>
                            <a:srgbClr val="1F1F1F"/>
                          </a:solidFill>
                          <a:latin typeface="Calibri"/>
                        </a:rPr>
                        <a:t>documentação dos</a:t>
                      </a:r>
                    </a:p>
                    <a:p>
                      <a:pPr algn="l">
                        <a:lnSpc>
                          <a:spcPct val="100000"/>
                        </a:lnSpc>
                        <a:spcBef>
                          <a:spcPts val="0"/>
                        </a:spcBef>
                        <a:spcAft>
                          <a:spcPts val="0"/>
                        </a:spcAft>
                      </a:pPr>
                      <a:r>
                        <a:rPr sz="1300" b="0">
                          <a:solidFill>
                            <a:srgbClr val="1F1F1F"/>
                          </a:solidFill>
                          <a:latin typeface="Calibri"/>
                        </a:rPr>
                        <a:t>direitos creditórios do</a:t>
                      </a:r>
                    </a:p>
                    <a:p>
                      <a:pPr algn="l">
                        <a:lnSpc>
                          <a:spcPct val="100000"/>
                        </a:lnSpc>
                        <a:spcBef>
                          <a:spcPts val="0"/>
                        </a:spcBef>
                        <a:spcAft>
                          <a:spcPts val="0"/>
                        </a:spcAft>
                      </a:pPr>
                      <a:r>
                        <a:rPr sz="1300" b="0">
                          <a:solidFill>
                            <a:srgbClr val="1F1F1F"/>
                          </a:solidFill>
                          <a:latin typeface="Calibri"/>
                        </a:rPr>
                        <a:t>fundo. Todos os</a:t>
                      </a:r>
                    </a:p>
                    <a:p>
                      <a:pPr algn="l">
                        <a:lnSpc>
                          <a:spcPct val="100000"/>
                        </a:lnSpc>
                        <a:spcBef>
                          <a:spcPts val="0"/>
                        </a:spcBef>
                        <a:spcAft>
                          <a:spcPts val="0"/>
                        </a:spcAft>
                      </a:pPr>
                      <a:r>
                        <a:rPr sz="1300" b="0">
                          <a:solidFill>
                            <a:srgbClr val="1F1F1F"/>
                          </a:solidFill>
                          <a:latin typeface="Calibri"/>
                        </a:rPr>
                        <a:t>procedimentos</a:t>
                      </a:r>
                    </a:p>
                    <a:p>
                      <a:pPr algn="l">
                        <a:lnSpc>
                          <a:spcPct val="100000"/>
                        </a:lnSpc>
                        <a:spcBef>
                          <a:spcPts val="0"/>
                        </a:spcBef>
                        <a:spcAft>
                          <a:spcPts val="0"/>
                        </a:spcAft>
                      </a:pPr>
                      <a:r>
                        <a:rPr sz="1300" b="0">
                          <a:solidFill>
                            <a:srgbClr val="1F1F1F"/>
                          </a:solidFill>
                          <a:latin typeface="Calibri"/>
                        </a:rPr>
                        <a:t>realizados foram</a:t>
                      </a:r>
                    </a:p>
                    <a:p>
                      <a:pPr algn="l">
                        <a:lnSpc>
                          <a:spcPct val="100000"/>
                        </a:lnSpc>
                        <a:spcBef>
                          <a:spcPts val="0"/>
                        </a:spcBef>
                        <a:spcAft>
                          <a:spcPts val="0"/>
                        </a:spcAft>
                      </a:pPr>
                      <a:r>
                        <a:rPr sz="1300" b="0">
                          <a:solidFill>
                            <a:srgbClr val="1F1F1F"/>
                          </a:solidFill>
                          <a:latin typeface="Calibri"/>
                        </a:rPr>
                        <a:t>concluídos</a:t>
                      </a:r>
                    </a:p>
                    <a:p>
                      <a:pPr algn="l">
                        <a:lnSpc>
                          <a:spcPct val="100000"/>
                        </a:lnSpc>
                        <a:spcBef>
                          <a:spcPts val="0"/>
                        </a:spcBef>
                        <a:spcAft>
                          <a:spcPts val="0"/>
                        </a:spcAft>
                      </a:pPr>
                      <a:r>
                        <a:rPr sz="1300" b="0">
                          <a:solidFill>
                            <a:srgbClr val="1F1F1F"/>
                          </a:solidFill>
                          <a:latin typeface="Calibri"/>
                        </a:rPr>
                        <a:t>satisfatoriamente em</a:t>
                      </a:r>
                    </a:p>
                    <a:p>
                      <a:pPr algn="l">
                        <a:lnSpc>
                          <a:spcPct val="100000"/>
                        </a:lnSpc>
                        <a:spcBef>
                          <a:spcPts val="0"/>
                        </a:spcBef>
                        <a:spcAft>
                          <a:spcPts val="0"/>
                        </a:spcAft>
                      </a:pPr>
                      <a:r>
                        <a:rPr sz="1300" b="0">
                          <a:solidFill>
                            <a:srgbClr val="1F1F1F"/>
                          </a:solidFill>
                          <a:latin typeface="Calibri"/>
                        </a:rPr>
                        <a:t>atendimento à</a:t>
                      </a:r>
                    </a:p>
                    <a:p>
                      <a:pPr algn="l">
                        <a:lnSpc>
                          <a:spcPct val="100000"/>
                        </a:lnSpc>
                        <a:spcBef>
                          <a:spcPts val="0"/>
                        </a:spcBef>
                        <a:spcAft>
                          <a:spcPts val="0"/>
                        </a:spcAft>
                      </a:pPr>
                      <a:r>
                        <a:rPr sz="1300" b="0">
                          <a:solidFill>
                            <a:srgbClr val="1F1F1F"/>
                          </a:solidFill>
                          <a:latin typeface="Calibri"/>
                        </a:rPr>
                        <a:t>legislação em vigor.</a:t>
                      </a:r>
                    </a:p>
                    <a:p>
                      <a:pPr algn="l">
                        <a:lnSpc>
                          <a:spcPct val="100000"/>
                        </a:lnSpc>
                        <a:spcBef>
                          <a:spcPts val="0"/>
                        </a:spcBef>
                        <a:spcAft>
                          <a:spcPts val="0"/>
                        </a:spcAft>
                      </a:pPr>
                      <a:r>
                        <a:rPr sz="1300" b="0">
                          <a:solidFill>
                            <a:srgbClr val="1F1F1F"/>
                          </a:solidFill>
                          <a:latin typeface="Calibri"/>
                        </a:rPr>
                        <a:t>Declaração do informe</a:t>
                      </a:r>
                    </a:p>
                    <a:p>
                      <a:pPr algn="l">
                        <a:lnSpc>
                          <a:spcPct val="100000"/>
                        </a:lnSpc>
                        <a:spcBef>
                          <a:spcPts val="0"/>
                        </a:spcBef>
                        <a:spcAft>
                          <a:spcPts val="0"/>
                        </a:spcAft>
                      </a:pPr>
                      <a:r>
                        <a:rPr sz="1300" b="0">
                          <a:solidFill>
                            <a:srgbClr val="1F1F1F"/>
                          </a:solidFill>
                          <a:latin typeface="Calibri"/>
                        </a:rPr>
                        <a:t>trimestral</a:t>
                      </a:r>
                    </a:p>
                    <a:p>
                      <a:pPr algn="l">
                        <a:lnSpc>
                          <a:spcPct val="100000"/>
                        </a:lnSpc>
                        <a:spcBef>
                          <a:spcPts val="0"/>
                        </a:spcBef>
                        <a:spcAft>
                          <a:spcPts val="0"/>
                        </a:spcAft>
                      </a:pPr>
                      <a:r>
                        <a:rPr sz="1300" b="0">
                          <a:solidFill>
                            <a:srgbClr val="1F1F1F"/>
                          </a:solidFill>
                          <a:latin typeface="Calibri"/>
                        </a:rPr>
                        <a:t>2025-Q4 · Resposta</a:t>
                      </a:r>
                    </a:p>
                    <a:p>
                      <a:pPr algn="l">
                        <a:lnSpc>
                          <a:spcPct val="100000"/>
                        </a:lnSpc>
                        <a:spcBef>
                          <a:spcPts val="0"/>
                        </a:spcBef>
                        <a:spcAft>
                          <a:spcPts val="0"/>
                        </a:spcAft>
                      </a:pPr>
                      <a:r>
                        <a:rPr sz="1300" b="0">
                          <a:solidFill>
                            <a:srgbClr val="1F1F1F"/>
                          </a:solidFill>
                          <a:latin typeface="Calibri"/>
                        </a:rPr>
                        <a:t>declarada no informe; a</a:t>
                      </a:r>
                    </a:p>
                    <a:p>
                      <a:pPr algn="l">
                        <a:lnSpc>
                          <a:spcPct val="100000"/>
                        </a:lnSpc>
                        <a:spcBef>
                          <a:spcPts val="0"/>
                        </a:spcBef>
                        <a:spcAft>
                          <a:spcPts val="0"/>
                        </a:spcAft>
                      </a:pPr>
                      <a:r>
                        <a:rPr sz="1300" b="0">
                          <a:solidFill>
                            <a:srgbClr val="1F1F1F"/>
                          </a:solidFill>
                          <a:latin typeface="Calibri"/>
                        </a:rPr>
                        <a:t>cláusula permanece no</a:t>
                      </a:r>
                    </a:p>
                    <a:p>
                      <a:pPr algn="l">
                        <a:lnSpc>
                          <a:spcPct val="100000"/>
                        </a:lnSpc>
                        <a:spcBef>
                          <a:spcPts val="0"/>
                        </a:spcBef>
                        <a:spcAft>
                          <a:spcPts val="0"/>
                        </a:spcAft>
                      </a:pPr>
                      <a:r>
                        <a:rPr sz="1300" b="0">
                          <a:solidFill>
                            <a:srgbClr val="1F1F1F"/>
                          </a:solidFill>
                          <a:latin typeface="Calibri"/>
                        </a:rPr>
                        <a:t>documento normativo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Informamos que o Fundo</a:t>
                      </a:r>
                    </a:p>
                    <a:p>
                      <a:pPr algn="l">
                        <a:lnSpc>
                          <a:spcPct val="100000"/>
                        </a:lnSpc>
                        <a:spcBef>
                          <a:spcPts val="0"/>
                        </a:spcBef>
                        <a:spcAft>
                          <a:spcPts val="0"/>
                        </a:spcAft>
                      </a:pPr>
                      <a:r>
                        <a:rPr sz="1300" b="0">
                          <a:solidFill>
                            <a:srgbClr val="1F1F1F"/>
                          </a:solidFill>
                          <a:latin typeface="Calibri"/>
                        </a:rPr>
                        <a:t>dispensa a verificação</a:t>
                      </a:r>
                    </a:p>
                    <a:p>
                      <a:pPr algn="l">
                        <a:lnSpc>
                          <a:spcPct val="100000"/>
                        </a:lnSpc>
                        <a:spcBef>
                          <a:spcPts val="0"/>
                        </a:spcBef>
                        <a:spcAft>
                          <a:spcPts val="0"/>
                        </a:spcAft>
                      </a:pPr>
                      <a:r>
                        <a:rPr sz="1300" b="0">
                          <a:solidFill>
                            <a:srgbClr val="1F1F1F"/>
                          </a:solidFill>
                          <a:latin typeface="Calibri"/>
                        </a:rPr>
                        <a:t>de lastro dos direitos</a:t>
                      </a:r>
                    </a:p>
                    <a:p>
                      <a:pPr algn="l">
                        <a:lnSpc>
                          <a:spcPct val="100000"/>
                        </a:lnSpc>
                        <a:spcBef>
                          <a:spcPts val="0"/>
                        </a:spcBef>
                        <a:spcAft>
                          <a:spcPts val="0"/>
                        </a:spcAft>
                      </a:pPr>
                      <a:r>
                        <a:rPr sz="1300" b="0">
                          <a:solidFill>
                            <a:srgbClr val="1F1F1F"/>
                          </a:solidFill>
                          <a:latin typeface="Calibri"/>
                        </a:rPr>
                        <a:t>creditórios.</a:t>
                      </a:r>
                    </a:p>
                    <a:p>
                      <a:pPr algn="l">
                        <a:lnSpc>
                          <a:spcPct val="100000"/>
                        </a:lnSpc>
                        <a:spcBef>
                          <a:spcPts val="0"/>
                        </a:spcBef>
                        <a:spcAft>
                          <a:spcPts val="0"/>
                        </a:spcAft>
                      </a:pPr>
                      <a:r>
                        <a:rPr sz="1300" b="0">
                          <a:solidFill>
                            <a:srgbClr val="1F1F1F"/>
                          </a:solidFill>
                          <a:latin typeface="Calibri"/>
                        </a:rPr>
                        <a:t>Declaração do informe</a:t>
                      </a:r>
                    </a:p>
                    <a:p>
                      <a:pPr algn="l">
                        <a:lnSpc>
                          <a:spcPct val="100000"/>
                        </a:lnSpc>
                        <a:spcBef>
                          <a:spcPts val="0"/>
                        </a:spcBef>
                        <a:spcAft>
                          <a:spcPts val="0"/>
                        </a:spcAft>
                      </a:pPr>
                      <a:r>
                        <a:rPr sz="1300" b="0">
                          <a:solidFill>
                            <a:srgbClr val="1F1F1F"/>
                          </a:solidFill>
                          <a:latin typeface="Calibri"/>
                        </a:rPr>
                        <a:t>trimestral</a:t>
                      </a:r>
                    </a:p>
                    <a:p>
                      <a:pPr algn="l">
                        <a:lnSpc>
                          <a:spcPct val="100000"/>
                        </a:lnSpc>
                        <a:spcBef>
                          <a:spcPts val="0"/>
                        </a:spcBef>
                        <a:spcAft>
                          <a:spcPts val="0"/>
                        </a:spcAft>
                      </a:pPr>
                      <a:r>
                        <a:rPr sz="1300" b="0">
                          <a:solidFill>
                            <a:srgbClr val="1F1F1F"/>
                          </a:solidFill>
                          <a:latin typeface="Calibri"/>
                        </a:rPr>
                        <a:t>2026-Q2 · Resposta</a:t>
                      </a:r>
                    </a:p>
                    <a:p>
                      <a:pPr algn="l">
                        <a:lnSpc>
                          <a:spcPct val="100000"/>
                        </a:lnSpc>
                        <a:spcBef>
                          <a:spcPts val="0"/>
                        </a:spcBef>
                        <a:spcAft>
                          <a:spcPts val="0"/>
                        </a:spcAft>
                      </a:pPr>
                      <a:r>
                        <a:rPr sz="1300" b="0">
                          <a:solidFill>
                            <a:srgbClr val="1F1F1F"/>
                          </a:solidFill>
                          <a:latin typeface="Calibri"/>
                        </a:rPr>
                        <a:t>declarada no informe; a</a:t>
                      </a:r>
                    </a:p>
                    <a:p>
                      <a:pPr algn="l">
                        <a:lnSpc>
                          <a:spcPct val="100000"/>
                        </a:lnSpc>
                        <a:spcBef>
                          <a:spcPts val="0"/>
                        </a:spcBef>
                        <a:spcAft>
                          <a:spcPts val="0"/>
                        </a:spcAft>
                      </a:pPr>
                      <a:r>
                        <a:rPr sz="1300" b="0">
                          <a:solidFill>
                            <a:srgbClr val="1F1F1F"/>
                          </a:solidFill>
                          <a:latin typeface="Calibri"/>
                        </a:rPr>
                        <a:t>cláusula permanece no</a:t>
                      </a:r>
                    </a:p>
                    <a:p>
                      <a:pPr algn="l">
                        <a:lnSpc>
                          <a:spcPct val="100000"/>
                        </a:lnSpc>
                        <a:spcBef>
                          <a:spcPts val="0"/>
                        </a:spcBef>
                        <a:spcAft>
                          <a:spcPts val="0"/>
                        </a:spcAft>
                      </a:pPr>
                      <a:r>
                        <a:rPr sz="1300" b="0">
                          <a:solidFill>
                            <a:srgbClr val="1F1F1F"/>
                          </a:solidFill>
                          <a:latin typeface="Calibri"/>
                        </a:rPr>
                        <a:t>documento normativo</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119/160</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Declarações trimestrais</a:t>
            </a:r>
          </a:p>
        </p:txBody>
      </p:sp>
      <p:graphicFrame>
        <p:nvGraphicFramePr>
          <p:cNvPr id="3" name="Table 2"/>
          <p:cNvGraphicFramePr>
            <a:graphicFrameLocks noGrp="1"/>
          </p:cNvGraphicFramePr>
          <p:nvPr/>
        </p:nvGraphicFramePr>
        <p:xfrm>
          <a:off x="438912" y="932688"/>
          <a:ext cx="11313868" cy="4786884"/>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1783080">
                <a:tc>
                  <a:txBody>
                    <a:bodyPr wrap="square">
                      <a:noAutofit/>
                    </a:bodyPr>
                    <a:lstStyle/>
                    <a:p>
                      <a:pPr algn="l">
                        <a:lnSpc>
                          <a:spcPct val="100000"/>
                        </a:lnSpc>
                        <a:spcBef>
                          <a:spcPts val="0"/>
                        </a:spcBef>
                        <a:spcAft>
                          <a:spcPts val="0"/>
                        </a:spcAft>
                      </a:pPr>
                      <a:r>
                        <a:rPr sz="1300" b="1">
                          <a:solidFill>
                            <a:srgbClr val="1F1F1F"/>
                          </a:solidFill>
                          <a:latin typeface="Calibri"/>
                        </a:rPr>
                        <a:t>Registro dos direitos</a:t>
                      </a:r>
                    </a:p>
                    <a:p>
                      <a:pPr algn="l">
                        <a:lnSpc>
                          <a:spcPct val="100000"/>
                        </a:lnSpc>
                        <a:spcBef>
                          <a:spcPts val="0"/>
                        </a:spcBef>
                        <a:spcAft>
                          <a:spcPts val="0"/>
                        </a:spcAft>
                      </a:pPr>
                      <a:r>
                        <a:rPr sz="1300" b="1">
                          <a:solidFill>
                            <a:srgbClr val="1F1F1F"/>
                          </a:solidFill>
                          <a:latin typeface="Calibri"/>
                        </a:rPr>
                        <a:t>creditórios</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Todos os créditos estão</a:t>
                      </a:r>
                    </a:p>
                    <a:p>
                      <a:pPr algn="l">
                        <a:lnSpc>
                          <a:spcPct val="100000"/>
                        </a:lnSpc>
                        <a:spcBef>
                          <a:spcPts val="0"/>
                        </a:spcBef>
                        <a:spcAft>
                          <a:spcPts val="0"/>
                        </a:spcAft>
                      </a:pPr>
                      <a:r>
                        <a:rPr sz="1300" b="0">
                          <a:solidFill>
                            <a:srgbClr val="1F1F1F"/>
                          </a:solidFill>
                          <a:latin typeface="Calibri"/>
                        </a:rPr>
                        <a:t>liberados para</a:t>
                      </a:r>
                    </a:p>
                    <a:p>
                      <a:pPr algn="l">
                        <a:lnSpc>
                          <a:spcPct val="100000"/>
                        </a:lnSpc>
                        <a:spcBef>
                          <a:spcPts val="0"/>
                        </a:spcBef>
                        <a:spcAft>
                          <a:spcPts val="0"/>
                        </a:spcAft>
                      </a:pPr>
                      <a:r>
                        <a:rPr sz="1300" b="0">
                          <a:solidFill>
                            <a:srgbClr val="1F1F1F"/>
                          </a:solidFill>
                          <a:latin typeface="Calibri"/>
                        </a:rPr>
                        <a:t>registro.</a:t>
                      </a:r>
                    </a:p>
                    <a:p>
                      <a:pPr algn="l">
                        <a:lnSpc>
                          <a:spcPct val="100000"/>
                        </a:lnSpc>
                        <a:spcBef>
                          <a:spcPts val="0"/>
                        </a:spcBef>
                        <a:spcAft>
                          <a:spcPts val="0"/>
                        </a:spcAft>
                      </a:pPr>
                      <a:r>
                        <a:rPr sz="1300" b="0">
                          <a:solidFill>
                            <a:srgbClr val="1F1F1F"/>
                          </a:solidFill>
                          <a:latin typeface="Calibri"/>
                        </a:rPr>
                        <a:t>Declaração do informe</a:t>
                      </a:r>
                    </a:p>
                    <a:p>
                      <a:pPr algn="l">
                        <a:lnSpc>
                          <a:spcPct val="100000"/>
                        </a:lnSpc>
                        <a:spcBef>
                          <a:spcPts val="0"/>
                        </a:spcBef>
                        <a:spcAft>
                          <a:spcPts val="0"/>
                        </a:spcAft>
                      </a:pPr>
                      <a:r>
                        <a:rPr sz="1300" b="0">
                          <a:solidFill>
                            <a:srgbClr val="1F1F1F"/>
                          </a:solidFill>
                          <a:latin typeface="Calibri"/>
                        </a:rPr>
                        <a:t>trimestral</a:t>
                      </a:r>
                    </a:p>
                    <a:p>
                      <a:pPr algn="l">
                        <a:lnSpc>
                          <a:spcPct val="100000"/>
                        </a:lnSpc>
                        <a:spcBef>
                          <a:spcPts val="0"/>
                        </a:spcBef>
                        <a:spcAft>
                          <a:spcPts val="0"/>
                        </a:spcAft>
                      </a:pPr>
                      <a:r>
                        <a:rPr sz="1300" b="0">
                          <a:solidFill>
                            <a:srgbClr val="1F1F1F"/>
                          </a:solidFill>
                          <a:latin typeface="Calibri"/>
                        </a:rPr>
                        <a:t>2026-Q2 · Resposta</a:t>
                      </a:r>
                    </a:p>
                    <a:p>
                      <a:pPr algn="l">
                        <a:lnSpc>
                          <a:spcPct val="100000"/>
                        </a:lnSpc>
                        <a:spcBef>
                          <a:spcPts val="0"/>
                        </a:spcBef>
                        <a:spcAft>
                          <a:spcPts val="0"/>
                        </a:spcAft>
                      </a:pPr>
                      <a:r>
                        <a:rPr sz="1300" b="0">
                          <a:solidFill>
                            <a:srgbClr val="1F1F1F"/>
                          </a:solidFill>
                          <a:latin typeface="Calibri"/>
                        </a:rPr>
                        <a:t>declarada no informe; a</a:t>
                      </a:r>
                    </a:p>
                    <a:p>
                      <a:pPr algn="l">
                        <a:lnSpc>
                          <a:spcPct val="100000"/>
                        </a:lnSpc>
                        <a:spcBef>
                          <a:spcPts val="0"/>
                        </a:spcBef>
                        <a:spcAft>
                          <a:spcPts val="0"/>
                        </a:spcAft>
                      </a:pPr>
                      <a:r>
                        <a:rPr sz="1300" b="0">
                          <a:solidFill>
                            <a:srgbClr val="1F1F1F"/>
                          </a:solidFill>
                          <a:latin typeface="Calibri"/>
                        </a:rPr>
                        <a:t>cláusula permanece no</a:t>
                      </a:r>
                    </a:p>
                    <a:p>
                      <a:pPr algn="l">
                        <a:lnSpc>
                          <a:spcPct val="100000"/>
                        </a:lnSpc>
                        <a:spcBef>
                          <a:spcPts val="0"/>
                        </a:spcBef>
                        <a:spcAft>
                          <a:spcPts val="0"/>
                        </a:spcAft>
                      </a:pPr>
                      <a:r>
                        <a:rPr sz="1300" b="0">
                          <a:solidFill>
                            <a:srgbClr val="1F1F1F"/>
                          </a:solidFill>
                          <a:latin typeface="Calibri"/>
                        </a:rPr>
                        <a:t>documento normativo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Todos os créditos estão</a:t>
                      </a:r>
                    </a:p>
                    <a:p>
                      <a:pPr algn="l">
                        <a:lnSpc>
                          <a:spcPct val="100000"/>
                        </a:lnSpc>
                        <a:spcBef>
                          <a:spcPts val="0"/>
                        </a:spcBef>
                        <a:spcAft>
                          <a:spcPts val="0"/>
                        </a:spcAft>
                      </a:pPr>
                      <a:r>
                        <a:rPr sz="1300" b="0">
                          <a:solidFill>
                            <a:srgbClr val="1F1F1F"/>
                          </a:solidFill>
                          <a:latin typeface="Calibri"/>
                        </a:rPr>
                        <a:t>liberados para</a:t>
                      </a:r>
                    </a:p>
                    <a:p>
                      <a:pPr algn="l">
                        <a:lnSpc>
                          <a:spcPct val="100000"/>
                        </a:lnSpc>
                        <a:spcBef>
                          <a:spcPts val="0"/>
                        </a:spcBef>
                        <a:spcAft>
                          <a:spcPts val="0"/>
                        </a:spcAft>
                      </a:pPr>
                      <a:r>
                        <a:rPr sz="1300" b="0">
                          <a:solidFill>
                            <a:srgbClr val="1F1F1F"/>
                          </a:solidFill>
                          <a:latin typeface="Calibri"/>
                        </a:rPr>
                        <a:t>registro.</a:t>
                      </a:r>
                    </a:p>
                    <a:p>
                      <a:pPr algn="l">
                        <a:lnSpc>
                          <a:spcPct val="100000"/>
                        </a:lnSpc>
                        <a:spcBef>
                          <a:spcPts val="0"/>
                        </a:spcBef>
                        <a:spcAft>
                          <a:spcPts val="0"/>
                        </a:spcAft>
                      </a:pPr>
                      <a:r>
                        <a:rPr sz="1300" b="0">
                          <a:solidFill>
                            <a:srgbClr val="1F1F1F"/>
                          </a:solidFill>
                          <a:latin typeface="Calibri"/>
                        </a:rPr>
                        <a:t>Declaração do informe</a:t>
                      </a:r>
                    </a:p>
                    <a:p>
                      <a:pPr algn="l">
                        <a:lnSpc>
                          <a:spcPct val="100000"/>
                        </a:lnSpc>
                        <a:spcBef>
                          <a:spcPts val="0"/>
                        </a:spcBef>
                        <a:spcAft>
                          <a:spcPts val="0"/>
                        </a:spcAft>
                      </a:pPr>
                      <a:r>
                        <a:rPr sz="1300" b="0">
                          <a:solidFill>
                            <a:srgbClr val="1F1F1F"/>
                          </a:solidFill>
                          <a:latin typeface="Calibri"/>
                        </a:rPr>
                        <a:t>trimestral</a:t>
                      </a:r>
                    </a:p>
                    <a:p>
                      <a:pPr algn="l">
                        <a:lnSpc>
                          <a:spcPct val="100000"/>
                        </a:lnSpc>
                        <a:spcBef>
                          <a:spcPts val="0"/>
                        </a:spcBef>
                        <a:spcAft>
                          <a:spcPts val="0"/>
                        </a:spcAft>
                      </a:pPr>
                      <a:r>
                        <a:rPr sz="1300" b="0">
                          <a:solidFill>
                            <a:srgbClr val="1F1F1F"/>
                          </a:solidFill>
                          <a:latin typeface="Calibri"/>
                        </a:rPr>
                        <a:t>2026-Q2 · Resposta</a:t>
                      </a:r>
                    </a:p>
                    <a:p>
                      <a:pPr algn="l">
                        <a:lnSpc>
                          <a:spcPct val="100000"/>
                        </a:lnSpc>
                        <a:spcBef>
                          <a:spcPts val="0"/>
                        </a:spcBef>
                        <a:spcAft>
                          <a:spcPts val="0"/>
                        </a:spcAft>
                      </a:pPr>
                      <a:r>
                        <a:rPr sz="1300" b="0">
                          <a:solidFill>
                            <a:srgbClr val="1F1F1F"/>
                          </a:solidFill>
                          <a:latin typeface="Calibri"/>
                        </a:rPr>
                        <a:t>declarada no informe; a</a:t>
                      </a:r>
                    </a:p>
                    <a:p>
                      <a:pPr algn="l">
                        <a:lnSpc>
                          <a:spcPct val="100000"/>
                        </a:lnSpc>
                        <a:spcBef>
                          <a:spcPts val="0"/>
                        </a:spcBef>
                        <a:spcAft>
                          <a:spcPts val="0"/>
                        </a:spcAft>
                      </a:pPr>
                      <a:r>
                        <a:rPr sz="1300" b="0">
                          <a:solidFill>
                            <a:srgbClr val="1F1F1F"/>
                          </a:solidFill>
                          <a:latin typeface="Calibri"/>
                        </a:rPr>
                        <a:t>cláusula permanece no</a:t>
                      </a:r>
                    </a:p>
                    <a:p>
                      <a:pPr algn="l">
                        <a:lnSpc>
                          <a:spcPct val="100000"/>
                        </a:lnSpc>
                        <a:spcBef>
                          <a:spcPts val="0"/>
                        </a:spcBef>
                        <a:spcAft>
                          <a:spcPts val="0"/>
                        </a:spcAft>
                      </a:pPr>
                      <a:r>
                        <a:rPr sz="1300" b="0">
                          <a:solidFill>
                            <a:srgbClr val="1F1F1F"/>
                          </a:solidFill>
                          <a:latin typeface="Calibri"/>
                        </a:rPr>
                        <a:t>documento normativo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Todos os créditos estão</a:t>
                      </a:r>
                    </a:p>
                    <a:p>
                      <a:pPr algn="l">
                        <a:lnSpc>
                          <a:spcPct val="100000"/>
                        </a:lnSpc>
                        <a:spcBef>
                          <a:spcPts val="0"/>
                        </a:spcBef>
                        <a:spcAft>
                          <a:spcPts val="0"/>
                        </a:spcAft>
                      </a:pPr>
                      <a:r>
                        <a:rPr sz="1300" b="0">
                          <a:solidFill>
                            <a:srgbClr val="1F1F1F"/>
                          </a:solidFill>
                          <a:latin typeface="Calibri"/>
                        </a:rPr>
                        <a:t>liberados para</a:t>
                      </a:r>
                    </a:p>
                    <a:p>
                      <a:pPr algn="l">
                        <a:lnSpc>
                          <a:spcPct val="100000"/>
                        </a:lnSpc>
                        <a:spcBef>
                          <a:spcPts val="0"/>
                        </a:spcBef>
                        <a:spcAft>
                          <a:spcPts val="0"/>
                        </a:spcAft>
                      </a:pPr>
                      <a:r>
                        <a:rPr sz="1300" b="0">
                          <a:solidFill>
                            <a:srgbClr val="1F1F1F"/>
                          </a:solidFill>
                          <a:latin typeface="Calibri"/>
                        </a:rPr>
                        <a:t>registro.</a:t>
                      </a:r>
                    </a:p>
                    <a:p>
                      <a:pPr algn="l">
                        <a:lnSpc>
                          <a:spcPct val="100000"/>
                        </a:lnSpc>
                        <a:spcBef>
                          <a:spcPts val="0"/>
                        </a:spcBef>
                        <a:spcAft>
                          <a:spcPts val="0"/>
                        </a:spcAft>
                      </a:pPr>
                      <a:r>
                        <a:rPr sz="1300" b="0">
                          <a:solidFill>
                            <a:srgbClr val="1F1F1F"/>
                          </a:solidFill>
                          <a:latin typeface="Calibri"/>
                        </a:rPr>
                        <a:t>Declaração do informe</a:t>
                      </a:r>
                    </a:p>
                    <a:p>
                      <a:pPr algn="l">
                        <a:lnSpc>
                          <a:spcPct val="100000"/>
                        </a:lnSpc>
                        <a:spcBef>
                          <a:spcPts val="0"/>
                        </a:spcBef>
                        <a:spcAft>
                          <a:spcPts val="0"/>
                        </a:spcAft>
                      </a:pPr>
                      <a:r>
                        <a:rPr sz="1300" b="0">
                          <a:solidFill>
                            <a:srgbClr val="1F1F1F"/>
                          </a:solidFill>
                          <a:latin typeface="Calibri"/>
                        </a:rPr>
                        <a:t>trimestral</a:t>
                      </a:r>
                    </a:p>
                    <a:p>
                      <a:pPr algn="l">
                        <a:lnSpc>
                          <a:spcPct val="100000"/>
                        </a:lnSpc>
                        <a:spcBef>
                          <a:spcPts val="0"/>
                        </a:spcBef>
                        <a:spcAft>
                          <a:spcPts val="0"/>
                        </a:spcAft>
                      </a:pPr>
                      <a:r>
                        <a:rPr sz="1300" b="0">
                          <a:solidFill>
                            <a:srgbClr val="1F1F1F"/>
                          </a:solidFill>
                          <a:latin typeface="Calibri"/>
                        </a:rPr>
                        <a:t>2025-Q4 · Resposta</a:t>
                      </a:r>
                    </a:p>
                    <a:p>
                      <a:pPr algn="l">
                        <a:lnSpc>
                          <a:spcPct val="100000"/>
                        </a:lnSpc>
                        <a:spcBef>
                          <a:spcPts val="0"/>
                        </a:spcBef>
                        <a:spcAft>
                          <a:spcPts val="0"/>
                        </a:spcAft>
                      </a:pPr>
                      <a:r>
                        <a:rPr sz="1300" b="0">
                          <a:solidFill>
                            <a:srgbClr val="1F1F1F"/>
                          </a:solidFill>
                          <a:latin typeface="Calibri"/>
                        </a:rPr>
                        <a:t>declarada no informe; a</a:t>
                      </a:r>
                    </a:p>
                    <a:p>
                      <a:pPr algn="l">
                        <a:lnSpc>
                          <a:spcPct val="100000"/>
                        </a:lnSpc>
                        <a:spcBef>
                          <a:spcPts val="0"/>
                        </a:spcBef>
                        <a:spcAft>
                          <a:spcPts val="0"/>
                        </a:spcAft>
                      </a:pPr>
                      <a:r>
                        <a:rPr sz="1300" b="0">
                          <a:solidFill>
                            <a:srgbClr val="1F1F1F"/>
                          </a:solidFill>
                          <a:latin typeface="Calibri"/>
                        </a:rPr>
                        <a:t>cláusula permanece no</a:t>
                      </a:r>
                    </a:p>
                    <a:p>
                      <a:pPr algn="l">
                        <a:lnSpc>
                          <a:spcPct val="100000"/>
                        </a:lnSpc>
                        <a:spcBef>
                          <a:spcPts val="0"/>
                        </a:spcBef>
                        <a:spcAft>
                          <a:spcPts val="0"/>
                        </a:spcAft>
                      </a:pPr>
                      <a:r>
                        <a:rPr sz="1300" b="0">
                          <a:solidFill>
                            <a:srgbClr val="1F1F1F"/>
                          </a:solidFill>
                          <a:latin typeface="Calibri"/>
                        </a:rPr>
                        <a:t>documento normativo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Todos os créditos estão</a:t>
                      </a:r>
                    </a:p>
                    <a:p>
                      <a:pPr algn="l">
                        <a:lnSpc>
                          <a:spcPct val="100000"/>
                        </a:lnSpc>
                        <a:spcBef>
                          <a:spcPts val="0"/>
                        </a:spcBef>
                        <a:spcAft>
                          <a:spcPts val="0"/>
                        </a:spcAft>
                      </a:pPr>
                      <a:r>
                        <a:rPr sz="1300" b="0">
                          <a:solidFill>
                            <a:srgbClr val="1F1F1F"/>
                          </a:solidFill>
                          <a:latin typeface="Calibri"/>
                        </a:rPr>
                        <a:t>liberados para</a:t>
                      </a:r>
                    </a:p>
                    <a:p>
                      <a:pPr algn="l">
                        <a:lnSpc>
                          <a:spcPct val="100000"/>
                        </a:lnSpc>
                        <a:spcBef>
                          <a:spcPts val="0"/>
                        </a:spcBef>
                        <a:spcAft>
                          <a:spcPts val="0"/>
                        </a:spcAft>
                      </a:pPr>
                      <a:r>
                        <a:rPr sz="1300" b="0">
                          <a:solidFill>
                            <a:srgbClr val="1F1F1F"/>
                          </a:solidFill>
                          <a:latin typeface="Calibri"/>
                        </a:rPr>
                        <a:t>registro.</a:t>
                      </a:r>
                    </a:p>
                    <a:p>
                      <a:pPr algn="l">
                        <a:lnSpc>
                          <a:spcPct val="100000"/>
                        </a:lnSpc>
                        <a:spcBef>
                          <a:spcPts val="0"/>
                        </a:spcBef>
                        <a:spcAft>
                          <a:spcPts val="0"/>
                        </a:spcAft>
                      </a:pPr>
                      <a:r>
                        <a:rPr sz="1300" b="0">
                          <a:solidFill>
                            <a:srgbClr val="1F1F1F"/>
                          </a:solidFill>
                          <a:latin typeface="Calibri"/>
                        </a:rPr>
                        <a:t>Declaração do informe</a:t>
                      </a:r>
                    </a:p>
                    <a:p>
                      <a:pPr algn="l">
                        <a:lnSpc>
                          <a:spcPct val="100000"/>
                        </a:lnSpc>
                        <a:spcBef>
                          <a:spcPts val="0"/>
                        </a:spcBef>
                        <a:spcAft>
                          <a:spcPts val="0"/>
                        </a:spcAft>
                      </a:pPr>
                      <a:r>
                        <a:rPr sz="1300" b="0">
                          <a:solidFill>
                            <a:srgbClr val="1F1F1F"/>
                          </a:solidFill>
                          <a:latin typeface="Calibri"/>
                        </a:rPr>
                        <a:t>trimestral</a:t>
                      </a:r>
                    </a:p>
                    <a:p>
                      <a:pPr algn="l">
                        <a:lnSpc>
                          <a:spcPct val="100000"/>
                        </a:lnSpc>
                        <a:spcBef>
                          <a:spcPts val="0"/>
                        </a:spcBef>
                        <a:spcAft>
                          <a:spcPts val="0"/>
                        </a:spcAft>
                      </a:pPr>
                      <a:r>
                        <a:rPr sz="1300" b="0">
                          <a:solidFill>
                            <a:srgbClr val="1F1F1F"/>
                          </a:solidFill>
                          <a:latin typeface="Calibri"/>
                        </a:rPr>
                        <a:t>2026-Q2 · Resposta</a:t>
                      </a:r>
                    </a:p>
                    <a:p>
                      <a:pPr algn="l">
                        <a:lnSpc>
                          <a:spcPct val="100000"/>
                        </a:lnSpc>
                        <a:spcBef>
                          <a:spcPts val="0"/>
                        </a:spcBef>
                        <a:spcAft>
                          <a:spcPts val="0"/>
                        </a:spcAft>
                      </a:pPr>
                      <a:r>
                        <a:rPr sz="1300" b="0">
                          <a:solidFill>
                            <a:srgbClr val="1F1F1F"/>
                          </a:solidFill>
                          <a:latin typeface="Calibri"/>
                        </a:rPr>
                        <a:t>declarada no informe; a</a:t>
                      </a:r>
                    </a:p>
                    <a:p>
                      <a:pPr algn="l">
                        <a:lnSpc>
                          <a:spcPct val="100000"/>
                        </a:lnSpc>
                        <a:spcBef>
                          <a:spcPts val="0"/>
                        </a:spcBef>
                        <a:spcAft>
                          <a:spcPts val="0"/>
                        </a:spcAft>
                      </a:pPr>
                      <a:r>
                        <a:rPr sz="1300" b="0">
                          <a:solidFill>
                            <a:srgbClr val="1F1F1F"/>
                          </a:solidFill>
                          <a:latin typeface="Calibri"/>
                        </a:rPr>
                        <a:t>cláusula permanece no</a:t>
                      </a:r>
                    </a:p>
                    <a:p>
                      <a:pPr algn="l">
                        <a:lnSpc>
                          <a:spcPct val="100000"/>
                        </a:lnSpc>
                        <a:spcBef>
                          <a:spcPts val="0"/>
                        </a:spcBef>
                        <a:spcAft>
                          <a:spcPts val="0"/>
                        </a:spcAft>
                      </a:pPr>
                      <a:r>
                        <a:rPr sz="1300" b="0">
                          <a:solidFill>
                            <a:srgbClr val="1F1F1F"/>
                          </a:solidFill>
                          <a:latin typeface="Calibri"/>
                        </a:rPr>
                        <a:t>documento normativo</a:t>
                      </a:r>
                    </a:p>
                  </a:txBody>
                  <a:tcPr marL="91440" marR="91440" marT="41148" marB="41148" anchor="ctr">
                    <a:solidFill>
                      <a:srgbClr val="FFFFFF"/>
                    </a:solidFill>
                    <a:lnL>
                      <a:noFill/>
                    </a:lnL>
                    <a:lnR>
                      <a:noFill/>
                    </a:lnR>
                    <a:lnT>
                      <a:noFill/>
                    </a:lnT>
                    <a:lnB>
                      <a:noFill/>
                    </a:lnB>
                  </a:tcPr>
                </a:tc>
              </a:tr>
              <a:tr h="2532888">
                <a:tc>
                  <a:txBody>
                    <a:bodyPr wrap="square">
                      <a:noAutofit/>
                    </a:bodyPr>
                    <a:lstStyle/>
                    <a:p>
                      <a:pPr algn="l">
                        <a:lnSpc>
                          <a:spcPct val="100000"/>
                        </a:lnSpc>
                        <a:spcBef>
                          <a:spcPts val="0"/>
                        </a:spcBef>
                        <a:spcAft>
                          <a:spcPts val="0"/>
                        </a:spcAft>
                      </a:pPr>
                      <a:r>
                        <a:rPr sz="1300" b="1">
                          <a:solidFill>
                            <a:srgbClr val="1F1F1F"/>
                          </a:solidFill>
                          <a:latin typeface="Calibri"/>
                        </a:rPr>
                        <a:t>Processos judiciais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O administrador do</a:t>
                      </a:r>
                    </a:p>
                    <a:p>
                      <a:pPr algn="l">
                        <a:lnSpc>
                          <a:spcPct val="100000"/>
                        </a:lnSpc>
                        <a:spcBef>
                          <a:spcPts val="0"/>
                        </a:spcBef>
                        <a:spcAft>
                          <a:spcPts val="0"/>
                        </a:spcAft>
                      </a:pPr>
                      <a:r>
                        <a:rPr sz="1300" b="0">
                          <a:solidFill>
                            <a:srgbClr val="1F1F1F"/>
                          </a:solidFill>
                          <a:latin typeface="Calibri"/>
                        </a:rPr>
                        <a:t>fundo não tem</a:t>
                      </a:r>
                    </a:p>
                    <a:p>
                      <a:pPr algn="l">
                        <a:lnSpc>
                          <a:spcPct val="100000"/>
                        </a:lnSpc>
                        <a:spcBef>
                          <a:spcPts val="0"/>
                        </a:spcBef>
                        <a:spcAft>
                          <a:spcPts val="0"/>
                        </a:spcAft>
                      </a:pPr>
                      <a:r>
                        <a:rPr sz="1300" b="0">
                          <a:solidFill>
                            <a:srgbClr val="1F1F1F"/>
                          </a:solidFill>
                          <a:latin typeface="Calibri"/>
                        </a:rPr>
                        <a:t>conhecimento de ações</a:t>
                      </a:r>
                    </a:p>
                    <a:p>
                      <a:pPr algn="l">
                        <a:lnSpc>
                          <a:spcPct val="100000"/>
                        </a:lnSpc>
                        <a:spcBef>
                          <a:spcPts val="0"/>
                        </a:spcBef>
                        <a:spcAft>
                          <a:spcPts val="0"/>
                        </a:spcAft>
                      </a:pPr>
                      <a:r>
                        <a:rPr sz="1300" b="0">
                          <a:solidFill>
                            <a:srgbClr val="1F1F1F"/>
                          </a:solidFill>
                          <a:latin typeface="Calibri"/>
                        </a:rPr>
                        <a:t>judiciais envolvendo o</a:t>
                      </a:r>
                    </a:p>
                    <a:p>
                      <a:pPr algn="l">
                        <a:lnSpc>
                          <a:spcPct val="100000"/>
                        </a:lnSpc>
                        <a:spcBef>
                          <a:spcPts val="0"/>
                        </a:spcBef>
                        <a:spcAft>
                          <a:spcPts val="0"/>
                        </a:spcAft>
                      </a:pPr>
                      <a:r>
                        <a:rPr sz="1300" b="0">
                          <a:solidFill>
                            <a:srgbClr val="1F1F1F"/>
                          </a:solidFill>
                          <a:latin typeface="Calibri"/>
                        </a:rPr>
                        <a:t>fundo no trimestre em</a:t>
                      </a:r>
                    </a:p>
                    <a:p>
                      <a:pPr algn="l">
                        <a:lnSpc>
                          <a:spcPct val="100000"/>
                        </a:lnSpc>
                        <a:spcBef>
                          <a:spcPts val="0"/>
                        </a:spcBef>
                        <a:spcAft>
                          <a:spcPts val="0"/>
                        </a:spcAft>
                      </a:pPr>
                      <a:r>
                        <a:rPr sz="1300" b="0">
                          <a:solidFill>
                            <a:srgbClr val="1F1F1F"/>
                          </a:solidFill>
                          <a:latin typeface="Calibri"/>
                        </a:rPr>
                        <a:t>referência.</a:t>
                      </a:r>
                    </a:p>
                    <a:p>
                      <a:pPr algn="l">
                        <a:lnSpc>
                          <a:spcPct val="100000"/>
                        </a:lnSpc>
                        <a:spcBef>
                          <a:spcPts val="0"/>
                        </a:spcBef>
                        <a:spcAft>
                          <a:spcPts val="0"/>
                        </a:spcAft>
                      </a:pPr>
                      <a:r>
                        <a:rPr sz="1300" b="0">
                          <a:solidFill>
                            <a:srgbClr val="1F1F1F"/>
                          </a:solidFill>
                          <a:latin typeface="Calibri"/>
                        </a:rPr>
                        <a:t>Declaração do informe</a:t>
                      </a:r>
                    </a:p>
                    <a:p>
                      <a:pPr algn="l">
                        <a:lnSpc>
                          <a:spcPct val="100000"/>
                        </a:lnSpc>
                        <a:spcBef>
                          <a:spcPts val="0"/>
                        </a:spcBef>
                        <a:spcAft>
                          <a:spcPts val="0"/>
                        </a:spcAft>
                      </a:pPr>
                      <a:r>
                        <a:rPr sz="1300" b="0">
                          <a:solidFill>
                            <a:srgbClr val="1F1F1F"/>
                          </a:solidFill>
                          <a:latin typeface="Calibri"/>
                        </a:rPr>
                        <a:t>trimestral</a:t>
                      </a:r>
                    </a:p>
                    <a:p>
                      <a:pPr algn="l">
                        <a:lnSpc>
                          <a:spcPct val="100000"/>
                        </a:lnSpc>
                        <a:spcBef>
                          <a:spcPts val="0"/>
                        </a:spcBef>
                        <a:spcAft>
                          <a:spcPts val="0"/>
                        </a:spcAft>
                      </a:pPr>
                      <a:r>
                        <a:rPr sz="1300" b="0">
                          <a:solidFill>
                            <a:srgbClr val="1F1F1F"/>
                          </a:solidFill>
                          <a:latin typeface="Calibri"/>
                        </a:rPr>
                        <a:t>2026-Q2 · Resposta</a:t>
                      </a:r>
                    </a:p>
                    <a:p>
                      <a:pPr algn="l">
                        <a:lnSpc>
                          <a:spcPct val="100000"/>
                        </a:lnSpc>
                        <a:spcBef>
                          <a:spcPts val="0"/>
                        </a:spcBef>
                        <a:spcAft>
                          <a:spcPts val="0"/>
                        </a:spcAft>
                      </a:pPr>
                      <a:r>
                        <a:rPr sz="1300" b="0">
                          <a:solidFill>
                            <a:srgbClr val="1F1F1F"/>
                          </a:solidFill>
                          <a:latin typeface="Calibri"/>
                        </a:rPr>
                        <a:t>declarada no informe; a</a:t>
                      </a:r>
                    </a:p>
                    <a:p>
                      <a:pPr algn="l">
                        <a:lnSpc>
                          <a:spcPct val="100000"/>
                        </a:lnSpc>
                        <a:spcBef>
                          <a:spcPts val="0"/>
                        </a:spcBef>
                        <a:spcAft>
                          <a:spcPts val="0"/>
                        </a:spcAft>
                      </a:pPr>
                      <a:r>
                        <a:rPr sz="1300" b="0">
                          <a:solidFill>
                            <a:srgbClr val="1F1F1F"/>
                          </a:solidFill>
                          <a:latin typeface="Calibri"/>
                        </a:rPr>
                        <a:t>cláusula permanece no</a:t>
                      </a:r>
                    </a:p>
                    <a:p>
                      <a:pPr algn="l">
                        <a:lnSpc>
                          <a:spcPct val="100000"/>
                        </a:lnSpc>
                        <a:spcBef>
                          <a:spcPts val="0"/>
                        </a:spcBef>
                        <a:spcAft>
                          <a:spcPts val="0"/>
                        </a:spcAft>
                      </a:pPr>
                      <a:r>
                        <a:rPr sz="1300" b="0">
                          <a:solidFill>
                            <a:srgbClr val="1F1F1F"/>
                          </a:solidFill>
                          <a:latin typeface="Calibri"/>
                        </a:rPr>
                        <a:t>documento normativo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O fundo está exposto as</a:t>
                      </a:r>
                    </a:p>
                    <a:p>
                      <a:pPr algn="l">
                        <a:lnSpc>
                          <a:spcPct val="100000"/>
                        </a:lnSpc>
                        <a:spcBef>
                          <a:spcPts val="0"/>
                        </a:spcBef>
                        <a:spcAft>
                          <a:spcPts val="0"/>
                        </a:spcAft>
                      </a:pPr>
                      <a:r>
                        <a:rPr sz="1300" b="0">
                          <a:solidFill>
                            <a:srgbClr val="1F1F1F"/>
                          </a:solidFill>
                          <a:latin typeface="Calibri"/>
                        </a:rPr>
                        <a:t>ações judiciais</a:t>
                      </a:r>
                    </a:p>
                    <a:p>
                      <a:pPr algn="l">
                        <a:lnSpc>
                          <a:spcPct val="100000"/>
                        </a:lnSpc>
                        <a:spcBef>
                          <a:spcPts val="0"/>
                        </a:spcBef>
                        <a:spcAft>
                          <a:spcPts val="0"/>
                        </a:spcAft>
                      </a:pPr>
                      <a:r>
                        <a:rPr sz="1300" b="0">
                          <a:solidFill>
                            <a:srgbClr val="1F1F1F"/>
                          </a:solidFill>
                          <a:latin typeface="Calibri"/>
                        </a:rPr>
                        <a:t>listadas abaixo:</a:t>
                      </a:r>
                    </a:p>
                    <a:p>
                      <a:pPr algn="l">
                        <a:lnSpc>
                          <a:spcPct val="100000"/>
                        </a:lnSpc>
                        <a:spcBef>
                          <a:spcPts val="0"/>
                        </a:spcBef>
                        <a:spcAft>
                          <a:spcPts val="0"/>
                        </a:spcAft>
                      </a:pPr>
                      <a:r>
                        <a:rPr sz="1300" b="0">
                          <a:solidFill>
                            <a:srgbClr val="1F1F1F"/>
                          </a:solidFill>
                          <a:latin typeface="Calibri"/>
                        </a:rPr>
                        <a:t>Declaração do informe</a:t>
                      </a:r>
                    </a:p>
                    <a:p>
                      <a:pPr algn="l">
                        <a:lnSpc>
                          <a:spcPct val="100000"/>
                        </a:lnSpc>
                        <a:spcBef>
                          <a:spcPts val="0"/>
                        </a:spcBef>
                        <a:spcAft>
                          <a:spcPts val="0"/>
                        </a:spcAft>
                      </a:pPr>
                      <a:r>
                        <a:rPr sz="1300" b="0">
                          <a:solidFill>
                            <a:srgbClr val="1F1F1F"/>
                          </a:solidFill>
                          <a:latin typeface="Calibri"/>
                        </a:rPr>
                        <a:t>trimestral</a:t>
                      </a:r>
                    </a:p>
                    <a:p>
                      <a:pPr algn="l">
                        <a:lnSpc>
                          <a:spcPct val="100000"/>
                        </a:lnSpc>
                        <a:spcBef>
                          <a:spcPts val="0"/>
                        </a:spcBef>
                        <a:spcAft>
                          <a:spcPts val="0"/>
                        </a:spcAft>
                      </a:pPr>
                      <a:r>
                        <a:rPr sz="1300" b="0">
                          <a:solidFill>
                            <a:srgbClr val="1F1F1F"/>
                          </a:solidFill>
                          <a:latin typeface="Calibri"/>
                        </a:rPr>
                        <a:t>2026-Q2 · Resposta</a:t>
                      </a:r>
                    </a:p>
                    <a:p>
                      <a:pPr algn="l">
                        <a:lnSpc>
                          <a:spcPct val="100000"/>
                        </a:lnSpc>
                        <a:spcBef>
                          <a:spcPts val="0"/>
                        </a:spcBef>
                        <a:spcAft>
                          <a:spcPts val="0"/>
                        </a:spcAft>
                      </a:pPr>
                      <a:r>
                        <a:rPr sz="1300" b="0">
                          <a:solidFill>
                            <a:srgbClr val="1F1F1F"/>
                          </a:solidFill>
                          <a:latin typeface="Calibri"/>
                        </a:rPr>
                        <a:t>declarada no informe; a</a:t>
                      </a:r>
                    </a:p>
                    <a:p>
                      <a:pPr algn="l">
                        <a:lnSpc>
                          <a:spcPct val="100000"/>
                        </a:lnSpc>
                        <a:spcBef>
                          <a:spcPts val="0"/>
                        </a:spcBef>
                        <a:spcAft>
                          <a:spcPts val="0"/>
                        </a:spcAft>
                      </a:pPr>
                      <a:r>
                        <a:rPr sz="1300" b="0">
                          <a:solidFill>
                            <a:srgbClr val="1F1F1F"/>
                          </a:solidFill>
                          <a:latin typeface="Calibri"/>
                        </a:rPr>
                        <a:t>cláusula permanece no</a:t>
                      </a:r>
                    </a:p>
                    <a:p>
                      <a:pPr algn="l">
                        <a:lnSpc>
                          <a:spcPct val="100000"/>
                        </a:lnSpc>
                        <a:spcBef>
                          <a:spcPts val="0"/>
                        </a:spcBef>
                        <a:spcAft>
                          <a:spcPts val="0"/>
                        </a:spcAft>
                      </a:pPr>
                      <a:r>
                        <a:rPr sz="1300" b="0">
                          <a:solidFill>
                            <a:srgbClr val="1F1F1F"/>
                          </a:solidFill>
                          <a:latin typeface="Calibri"/>
                        </a:rPr>
                        <a:t>documento normativo · O</a:t>
                      </a:r>
                    </a:p>
                    <a:p>
                      <a:pPr algn="l">
                        <a:lnSpc>
                          <a:spcPct val="100000"/>
                        </a:lnSpc>
                        <a:spcBef>
                          <a:spcPts val="0"/>
                        </a:spcBef>
                        <a:spcAft>
                          <a:spcPts val="0"/>
                        </a:spcAft>
                      </a:pPr>
                      <a:r>
                        <a:rPr sz="1300" b="0">
                          <a:solidFill>
                            <a:srgbClr val="1F1F1F"/>
                          </a:solidFill>
                          <a:latin typeface="Calibri"/>
                        </a:rPr>
                        <a:t>informe anuncia uma</a:t>
                      </a:r>
                    </a:p>
                    <a:p>
                      <a:pPr algn="l">
                        <a:lnSpc>
                          <a:spcPct val="100000"/>
                        </a:lnSpc>
                        <a:spcBef>
                          <a:spcPts val="0"/>
                        </a:spcBef>
                        <a:spcAft>
                          <a:spcPts val="0"/>
                        </a:spcAft>
                      </a:pPr>
                      <a:r>
                        <a:rPr sz="1300" b="0">
                          <a:solidFill>
                            <a:srgbClr val="1F1F1F"/>
                          </a:solidFill>
                          <a:latin typeface="Calibri"/>
                        </a:rPr>
                        <a:t>lista, mas não</a:t>
                      </a:r>
                    </a:p>
                    <a:p>
                      <a:pPr algn="l">
                        <a:lnSpc>
                          <a:spcPct val="100000"/>
                        </a:lnSpc>
                        <a:spcBef>
                          <a:spcPts val="0"/>
                        </a:spcBef>
                        <a:spcAft>
                          <a:spcPts val="0"/>
                        </a:spcAft>
                      </a:pPr>
                      <a:r>
                        <a:rPr sz="1300" b="0">
                          <a:solidFill>
                            <a:srgbClr val="1F1F1F"/>
                          </a:solidFill>
                          <a:latin typeface="Calibri"/>
                        </a:rPr>
                        <a:t>apresenta os itens</a:t>
                      </a:r>
                    </a:p>
                    <a:p>
                      <a:pPr algn="l">
                        <a:lnSpc>
                          <a:spcPct val="100000"/>
                        </a:lnSpc>
                        <a:spcBef>
                          <a:spcPts val="0"/>
                        </a:spcBef>
                        <a:spcAft>
                          <a:spcPts val="0"/>
                        </a:spcAft>
                      </a:pPr>
                      <a:r>
                        <a:rPr sz="1300" b="0">
                          <a:solidFill>
                            <a:srgbClr val="1F1F1F"/>
                          </a:solidFill>
                          <a:latin typeface="Calibri"/>
                        </a:rPr>
                        <a:t>neste trecho.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O administrador do</a:t>
                      </a:r>
                    </a:p>
                    <a:p>
                      <a:pPr algn="l">
                        <a:lnSpc>
                          <a:spcPct val="100000"/>
                        </a:lnSpc>
                        <a:spcBef>
                          <a:spcPts val="0"/>
                        </a:spcBef>
                        <a:spcAft>
                          <a:spcPts val="0"/>
                        </a:spcAft>
                      </a:pPr>
                      <a:r>
                        <a:rPr sz="1300" b="0">
                          <a:solidFill>
                            <a:srgbClr val="1F1F1F"/>
                          </a:solidFill>
                          <a:latin typeface="Calibri"/>
                        </a:rPr>
                        <a:t>fundo não tem</a:t>
                      </a:r>
                    </a:p>
                    <a:p>
                      <a:pPr algn="l">
                        <a:lnSpc>
                          <a:spcPct val="100000"/>
                        </a:lnSpc>
                        <a:spcBef>
                          <a:spcPts val="0"/>
                        </a:spcBef>
                        <a:spcAft>
                          <a:spcPts val="0"/>
                        </a:spcAft>
                      </a:pPr>
                      <a:r>
                        <a:rPr sz="1300" b="0">
                          <a:solidFill>
                            <a:srgbClr val="1F1F1F"/>
                          </a:solidFill>
                          <a:latin typeface="Calibri"/>
                        </a:rPr>
                        <a:t>conhecimento de ações</a:t>
                      </a:r>
                    </a:p>
                    <a:p>
                      <a:pPr algn="l">
                        <a:lnSpc>
                          <a:spcPct val="100000"/>
                        </a:lnSpc>
                        <a:spcBef>
                          <a:spcPts val="0"/>
                        </a:spcBef>
                        <a:spcAft>
                          <a:spcPts val="0"/>
                        </a:spcAft>
                      </a:pPr>
                      <a:r>
                        <a:rPr sz="1300" b="0">
                          <a:solidFill>
                            <a:srgbClr val="1F1F1F"/>
                          </a:solidFill>
                          <a:latin typeface="Calibri"/>
                        </a:rPr>
                        <a:t>judiciais envolvendo o</a:t>
                      </a:r>
                    </a:p>
                    <a:p>
                      <a:pPr algn="l">
                        <a:lnSpc>
                          <a:spcPct val="100000"/>
                        </a:lnSpc>
                        <a:spcBef>
                          <a:spcPts val="0"/>
                        </a:spcBef>
                        <a:spcAft>
                          <a:spcPts val="0"/>
                        </a:spcAft>
                      </a:pPr>
                      <a:r>
                        <a:rPr sz="1300" b="0">
                          <a:solidFill>
                            <a:srgbClr val="1F1F1F"/>
                          </a:solidFill>
                          <a:latin typeface="Calibri"/>
                        </a:rPr>
                        <a:t>fundo no trimestre em</a:t>
                      </a:r>
                    </a:p>
                    <a:p>
                      <a:pPr algn="l">
                        <a:lnSpc>
                          <a:spcPct val="100000"/>
                        </a:lnSpc>
                        <a:spcBef>
                          <a:spcPts val="0"/>
                        </a:spcBef>
                        <a:spcAft>
                          <a:spcPts val="0"/>
                        </a:spcAft>
                      </a:pPr>
                      <a:r>
                        <a:rPr sz="1300" b="0">
                          <a:solidFill>
                            <a:srgbClr val="1F1F1F"/>
                          </a:solidFill>
                          <a:latin typeface="Calibri"/>
                        </a:rPr>
                        <a:t>referência.</a:t>
                      </a:r>
                    </a:p>
                    <a:p>
                      <a:pPr algn="l">
                        <a:lnSpc>
                          <a:spcPct val="100000"/>
                        </a:lnSpc>
                        <a:spcBef>
                          <a:spcPts val="0"/>
                        </a:spcBef>
                        <a:spcAft>
                          <a:spcPts val="0"/>
                        </a:spcAft>
                      </a:pPr>
                      <a:r>
                        <a:rPr sz="1300" b="0">
                          <a:solidFill>
                            <a:srgbClr val="1F1F1F"/>
                          </a:solidFill>
                          <a:latin typeface="Calibri"/>
                        </a:rPr>
                        <a:t>Declaração do informe</a:t>
                      </a:r>
                    </a:p>
                    <a:p>
                      <a:pPr algn="l">
                        <a:lnSpc>
                          <a:spcPct val="100000"/>
                        </a:lnSpc>
                        <a:spcBef>
                          <a:spcPts val="0"/>
                        </a:spcBef>
                        <a:spcAft>
                          <a:spcPts val="0"/>
                        </a:spcAft>
                      </a:pPr>
                      <a:r>
                        <a:rPr sz="1300" b="0">
                          <a:solidFill>
                            <a:srgbClr val="1F1F1F"/>
                          </a:solidFill>
                          <a:latin typeface="Calibri"/>
                        </a:rPr>
                        <a:t>trimestral</a:t>
                      </a:r>
                    </a:p>
                    <a:p>
                      <a:pPr algn="l">
                        <a:lnSpc>
                          <a:spcPct val="100000"/>
                        </a:lnSpc>
                        <a:spcBef>
                          <a:spcPts val="0"/>
                        </a:spcBef>
                        <a:spcAft>
                          <a:spcPts val="0"/>
                        </a:spcAft>
                      </a:pPr>
                      <a:r>
                        <a:rPr sz="1300" b="0">
                          <a:solidFill>
                            <a:srgbClr val="1F1F1F"/>
                          </a:solidFill>
                          <a:latin typeface="Calibri"/>
                        </a:rPr>
                        <a:t>2025-Q4 · Resposta</a:t>
                      </a:r>
                    </a:p>
                    <a:p>
                      <a:pPr algn="l">
                        <a:lnSpc>
                          <a:spcPct val="100000"/>
                        </a:lnSpc>
                        <a:spcBef>
                          <a:spcPts val="0"/>
                        </a:spcBef>
                        <a:spcAft>
                          <a:spcPts val="0"/>
                        </a:spcAft>
                      </a:pPr>
                      <a:r>
                        <a:rPr sz="1300" b="0">
                          <a:solidFill>
                            <a:srgbClr val="1F1F1F"/>
                          </a:solidFill>
                          <a:latin typeface="Calibri"/>
                        </a:rPr>
                        <a:t>declarada no informe; a</a:t>
                      </a:r>
                    </a:p>
                    <a:p>
                      <a:pPr algn="l">
                        <a:lnSpc>
                          <a:spcPct val="100000"/>
                        </a:lnSpc>
                        <a:spcBef>
                          <a:spcPts val="0"/>
                        </a:spcBef>
                        <a:spcAft>
                          <a:spcPts val="0"/>
                        </a:spcAft>
                      </a:pPr>
                      <a:r>
                        <a:rPr sz="1300" b="0">
                          <a:solidFill>
                            <a:srgbClr val="1F1F1F"/>
                          </a:solidFill>
                          <a:latin typeface="Calibri"/>
                        </a:rPr>
                        <a:t>cláusula permanece no</a:t>
                      </a:r>
                    </a:p>
                    <a:p>
                      <a:pPr algn="l">
                        <a:lnSpc>
                          <a:spcPct val="100000"/>
                        </a:lnSpc>
                        <a:spcBef>
                          <a:spcPts val="0"/>
                        </a:spcBef>
                        <a:spcAft>
                          <a:spcPts val="0"/>
                        </a:spcAft>
                      </a:pPr>
                      <a:r>
                        <a:rPr sz="1300" b="0">
                          <a:solidFill>
                            <a:srgbClr val="1F1F1F"/>
                          </a:solidFill>
                          <a:latin typeface="Calibri"/>
                        </a:rPr>
                        <a:t>documento normativo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O administrador do</a:t>
                      </a:r>
                    </a:p>
                    <a:p>
                      <a:pPr algn="l">
                        <a:lnSpc>
                          <a:spcPct val="100000"/>
                        </a:lnSpc>
                        <a:spcBef>
                          <a:spcPts val="0"/>
                        </a:spcBef>
                        <a:spcAft>
                          <a:spcPts val="0"/>
                        </a:spcAft>
                      </a:pPr>
                      <a:r>
                        <a:rPr sz="1300" b="0">
                          <a:solidFill>
                            <a:srgbClr val="1F1F1F"/>
                          </a:solidFill>
                          <a:latin typeface="Calibri"/>
                        </a:rPr>
                        <a:t>fundo não tem</a:t>
                      </a:r>
                    </a:p>
                    <a:p>
                      <a:pPr algn="l">
                        <a:lnSpc>
                          <a:spcPct val="100000"/>
                        </a:lnSpc>
                        <a:spcBef>
                          <a:spcPts val="0"/>
                        </a:spcBef>
                        <a:spcAft>
                          <a:spcPts val="0"/>
                        </a:spcAft>
                      </a:pPr>
                      <a:r>
                        <a:rPr sz="1300" b="0">
                          <a:solidFill>
                            <a:srgbClr val="1F1F1F"/>
                          </a:solidFill>
                          <a:latin typeface="Calibri"/>
                        </a:rPr>
                        <a:t>conhecimento de ações</a:t>
                      </a:r>
                    </a:p>
                    <a:p>
                      <a:pPr algn="l">
                        <a:lnSpc>
                          <a:spcPct val="100000"/>
                        </a:lnSpc>
                        <a:spcBef>
                          <a:spcPts val="0"/>
                        </a:spcBef>
                        <a:spcAft>
                          <a:spcPts val="0"/>
                        </a:spcAft>
                      </a:pPr>
                      <a:r>
                        <a:rPr sz="1300" b="0">
                          <a:solidFill>
                            <a:srgbClr val="1F1F1F"/>
                          </a:solidFill>
                          <a:latin typeface="Calibri"/>
                        </a:rPr>
                        <a:t>judiciais envolvendo o</a:t>
                      </a:r>
                    </a:p>
                    <a:p>
                      <a:pPr algn="l">
                        <a:lnSpc>
                          <a:spcPct val="100000"/>
                        </a:lnSpc>
                        <a:spcBef>
                          <a:spcPts val="0"/>
                        </a:spcBef>
                        <a:spcAft>
                          <a:spcPts val="0"/>
                        </a:spcAft>
                      </a:pPr>
                      <a:r>
                        <a:rPr sz="1300" b="0">
                          <a:solidFill>
                            <a:srgbClr val="1F1F1F"/>
                          </a:solidFill>
                          <a:latin typeface="Calibri"/>
                        </a:rPr>
                        <a:t>fundo no trimestre em</a:t>
                      </a:r>
                    </a:p>
                    <a:p>
                      <a:pPr algn="l">
                        <a:lnSpc>
                          <a:spcPct val="100000"/>
                        </a:lnSpc>
                        <a:spcBef>
                          <a:spcPts val="0"/>
                        </a:spcBef>
                        <a:spcAft>
                          <a:spcPts val="0"/>
                        </a:spcAft>
                      </a:pPr>
                      <a:r>
                        <a:rPr sz="1300" b="0">
                          <a:solidFill>
                            <a:srgbClr val="1F1F1F"/>
                          </a:solidFill>
                          <a:latin typeface="Calibri"/>
                        </a:rPr>
                        <a:t>referência.</a:t>
                      </a:r>
                    </a:p>
                    <a:p>
                      <a:pPr algn="l">
                        <a:lnSpc>
                          <a:spcPct val="100000"/>
                        </a:lnSpc>
                        <a:spcBef>
                          <a:spcPts val="0"/>
                        </a:spcBef>
                        <a:spcAft>
                          <a:spcPts val="0"/>
                        </a:spcAft>
                      </a:pPr>
                      <a:r>
                        <a:rPr sz="1300" b="0">
                          <a:solidFill>
                            <a:srgbClr val="1F1F1F"/>
                          </a:solidFill>
                          <a:latin typeface="Calibri"/>
                        </a:rPr>
                        <a:t>Declaração do informe</a:t>
                      </a:r>
                    </a:p>
                    <a:p>
                      <a:pPr algn="l">
                        <a:lnSpc>
                          <a:spcPct val="100000"/>
                        </a:lnSpc>
                        <a:spcBef>
                          <a:spcPts val="0"/>
                        </a:spcBef>
                        <a:spcAft>
                          <a:spcPts val="0"/>
                        </a:spcAft>
                      </a:pPr>
                      <a:r>
                        <a:rPr sz="1300" b="0">
                          <a:solidFill>
                            <a:srgbClr val="1F1F1F"/>
                          </a:solidFill>
                          <a:latin typeface="Calibri"/>
                        </a:rPr>
                        <a:t>trimestral</a:t>
                      </a:r>
                    </a:p>
                    <a:p>
                      <a:pPr algn="l">
                        <a:lnSpc>
                          <a:spcPct val="100000"/>
                        </a:lnSpc>
                        <a:spcBef>
                          <a:spcPts val="0"/>
                        </a:spcBef>
                        <a:spcAft>
                          <a:spcPts val="0"/>
                        </a:spcAft>
                      </a:pPr>
                      <a:r>
                        <a:rPr sz="1300" b="0">
                          <a:solidFill>
                            <a:srgbClr val="1F1F1F"/>
                          </a:solidFill>
                          <a:latin typeface="Calibri"/>
                        </a:rPr>
                        <a:t>2026-Q2 · Resposta</a:t>
                      </a:r>
                    </a:p>
                    <a:p>
                      <a:pPr algn="l">
                        <a:lnSpc>
                          <a:spcPct val="100000"/>
                        </a:lnSpc>
                        <a:spcBef>
                          <a:spcPts val="0"/>
                        </a:spcBef>
                        <a:spcAft>
                          <a:spcPts val="0"/>
                        </a:spcAft>
                      </a:pPr>
                      <a:r>
                        <a:rPr sz="1300" b="0">
                          <a:solidFill>
                            <a:srgbClr val="1F1F1F"/>
                          </a:solidFill>
                          <a:latin typeface="Calibri"/>
                        </a:rPr>
                        <a:t>declarada no informe; a</a:t>
                      </a:r>
                    </a:p>
                    <a:p>
                      <a:pPr algn="l">
                        <a:lnSpc>
                          <a:spcPct val="100000"/>
                        </a:lnSpc>
                        <a:spcBef>
                          <a:spcPts val="0"/>
                        </a:spcBef>
                        <a:spcAft>
                          <a:spcPts val="0"/>
                        </a:spcAft>
                      </a:pPr>
                      <a:r>
                        <a:rPr sz="1300" b="0">
                          <a:solidFill>
                            <a:srgbClr val="1F1F1F"/>
                          </a:solidFill>
                          <a:latin typeface="Calibri"/>
                        </a:rPr>
                        <a:t>cláusula permanece no</a:t>
                      </a:r>
                    </a:p>
                    <a:p>
                      <a:pPr algn="l">
                        <a:lnSpc>
                          <a:spcPct val="100000"/>
                        </a:lnSpc>
                        <a:spcBef>
                          <a:spcPts val="0"/>
                        </a:spcBef>
                        <a:spcAft>
                          <a:spcPts val="0"/>
                        </a:spcAft>
                      </a:pPr>
                      <a:r>
                        <a:rPr sz="1300" b="0">
                          <a:solidFill>
                            <a:srgbClr val="1F1F1F"/>
                          </a:solidFill>
                          <a:latin typeface="Calibri"/>
                        </a:rPr>
                        <a:t>documento normativo</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120/160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Declarações trimestrais</a:t>
            </a:r>
          </a:p>
        </p:txBody>
      </p:sp>
      <p:graphicFrame>
        <p:nvGraphicFramePr>
          <p:cNvPr id="3" name="Table 2"/>
          <p:cNvGraphicFramePr>
            <a:graphicFrameLocks noGrp="1"/>
          </p:cNvGraphicFramePr>
          <p:nvPr/>
        </p:nvGraphicFramePr>
        <p:xfrm>
          <a:off x="438912" y="932688"/>
          <a:ext cx="11313868" cy="5253228"/>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4782312">
                <a:tc>
                  <a:txBody>
                    <a:bodyPr wrap="square">
                      <a:noAutofit/>
                    </a:bodyPr>
                    <a:lstStyle/>
                    <a:p>
                      <a:pPr algn="l">
                        <a:lnSpc>
                          <a:spcPct val="100000"/>
                        </a:lnSpc>
                        <a:spcBef>
                          <a:spcPts val="0"/>
                        </a:spcBef>
                        <a:spcAft>
                          <a:spcPts val="0"/>
                        </a:spcAft>
                      </a:pPr>
                      <a:r>
                        <a:rPr sz="1300" b="1">
                          <a:solidFill>
                            <a:srgbClr val="1F1F1F"/>
                          </a:solidFill>
                          <a:latin typeface="Calibri"/>
                        </a:rPr>
                        <a:t>Aquisição de precatórios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O fundo não se destina</a:t>
                      </a:r>
                    </a:p>
                    <a:p>
                      <a:pPr algn="l">
                        <a:lnSpc>
                          <a:spcPct val="100000"/>
                        </a:lnSpc>
                        <a:spcBef>
                          <a:spcPts val="0"/>
                        </a:spcBef>
                        <a:spcAft>
                          <a:spcPts val="0"/>
                        </a:spcAft>
                      </a:pPr>
                      <a:r>
                        <a:rPr sz="1300" b="0">
                          <a:solidFill>
                            <a:srgbClr val="1F1F1F"/>
                          </a:solidFill>
                          <a:latin typeface="Calibri"/>
                        </a:rPr>
                        <a:t>ao público em geral. As</a:t>
                      </a:r>
                    </a:p>
                    <a:p>
                      <a:pPr algn="l">
                        <a:lnSpc>
                          <a:spcPct val="100000"/>
                        </a:lnSpc>
                        <a:spcBef>
                          <a:spcPts val="0"/>
                        </a:spcBef>
                        <a:spcAft>
                          <a:spcPts val="0"/>
                        </a:spcAft>
                      </a:pPr>
                      <a:r>
                        <a:rPr sz="1300" b="0">
                          <a:solidFill>
                            <a:srgbClr val="1F1F1F"/>
                          </a:solidFill>
                          <a:latin typeface="Calibri"/>
                        </a:rPr>
                        <a:t>informações a seguir</a:t>
                      </a:r>
                    </a:p>
                    <a:p>
                      <a:pPr algn="l">
                        <a:lnSpc>
                          <a:spcPct val="100000"/>
                        </a:lnSpc>
                        <a:spcBef>
                          <a:spcPts val="0"/>
                        </a:spcBef>
                        <a:spcAft>
                          <a:spcPts val="0"/>
                        </a:spcAft>
                      </a:pPr>
                      <a:r>
                        <a:rPr sz="1300" b="0">
                          <a:solidFill>
                            <a:srgbClr val="1F1F1F"/>
                          </a:solidFill>
                          <a:latin typeface="Calibri"/>
                        </a:rPr>
                        <a:t>são destinadas à</a:t>
                      </a:r>
                    </a:p>
                    <a:p>
                      <a:pPr algn="l">
                        <a:lnSpc>
                          <a:spcPct val="100000"/>
                        </a:lnSpc>
                        <a:spcBef>
                          <a:spcPts val="0"/>
                        </a:spcBef>
                        <a:spcAft>
                          <a:spcPts val="0"/>
                        </a:spcAft>
                      </a:pPr>
                      <a:r>
                        <a:rPr sz="1300" b="0">
                          <a:solidFill>
                            <a:srgbClr val="1F1F1F"/>
                          </a:solidFill>
                          <a:latin typeface="Calibri"/>
                        </a:rPr>
                        <a:t>apresentação do</a:t>
                      </a:r>
                    </a:p>
                    <a:p>
                      <a:pPr algn="l">
                        <a:lnSpc>
                          <a:spcPct val="100000"/>
                        </a:lnSpc>
                        <a:spcBef>
                          <a:spcPts val="0"/>
                        </a:spcBef>
                        <a:spcAft>
                          <a:spcPts val="0"/>
                        </a:spcAft>
                      </a:pPr>
                      <a:r>
                        <a:rPr sz="1300" b="0">
                          <a:solidFill>
                            <a:srgbClr val="1F1F1F"/>
                          </a:solidFill>
                          <a:latin typeface="Calibri"/>
                        </a:rPr>
                        <a:t>relatório trimestral do</a:t>
                      </a:r>
                    </a:p>
                    <a:p>
                      <a:pPr algn="l">
                        <a:lnSpc>
                          <a:spcPct val="100000"/>
                        </a:lnSpc>
                        <a:spcBef>
                          <a:spcPts val="0"/>
                        </a:spcBef>
                        <a:spcAft>
                          <a:spcPts val="0"/>
                        </a:spcAft>
                      </a:pPr>
                      <a:r>
                        <a:rPr sz="1300" b="0">
                          <a:solidFill>
                            <a:srgbClr val="1F1F1F"/>
                          </a:solidFill>
                          <a:latin typeface="Calibri"/>
                        </a:rPr>
                        <a:t>gestor.</a:t>
                      </a:r>
                    </a:p>
                    <a:p>
                      <a:pPr algn="l">
                        <a:lnSpc>
                          <a:spcPct val="100000"/>
                        </a:lnSpc>
                        <a:spcBef>
                          <a:spcPts val="0"/>
                        </a:spcBef>
                        <a:spcAft>
                          <a:spcPts val="0"/>
                        </a:spcAft>
                      </a:pPr>
                      <a:r>
                        <a:rPr sz="1300" b="0">
                          <a:solidFill>
                            <a:srgbClr val="1F1F1F"/>
                          </a:solidFill>
                          <a:latin typeface="Calibri"/>
                        </a:rPr>
                        <a:t>Declaração do informe</a:t>
                      </a:r>
                    </a:p>
                    <a:p>
                      <a:pPr algn="l">
                        <a:lnSpc>
                          <a:spcPct val="100000"/>
                        </a:lnSpc>
                        <a:spcBef>
                          <a:spcPts val="0"/>
                        </a:spcBef>
                        <a:spcAft>
                          <a:spcPts val="0"/>
                        </a:spcAft>
                      </a:pPr>
                      <a:r>
                        <a:rPr sz="1300" b="0">
                          <a:solidFill>
                            <a:srgbClr val="1F1F1F"/>
                          </a:solidFill>
                          <a:latin typeface="Calibri"/>
                        </a:rPr>
                        <a:t>trimestral</a:t>
                      </a:r>
                    </a:p>
                    <a:p>
                      <a:pPr algn="l">
                        <a:lnSpc>
                          <a:spcPct val="100000"/>
                        </a:lnSpc>
                        <a:spcBef>
                          <a:spcPts val="0"/>
                        </a:spcBef>
                        <a:spcAft>
                          <a:spcPts val="0"/>
                        </a:spcAft>
                      </a:pPr>
                      <a:r>
                        <a:rPr sz="1300" b="0">
                          <a:solidFill>
                            <a:srgbClr val="1F1F1F"/>
                          </a:solidFill>
                          <a:latin typeface="Calibri"/>
                        </a:rPr>
                        <a:t>2026-Q2 · Resposta</a:t>
                      </a:r>
                    </a:p>
                    <a:p>
                      <a:pPr algn="l">
                        <a:lnSpc>
                          <a:spcPct val="100000"/>
                        </a:lnSpc>
                        <a:spcBef>
                          <a:spcPts val="0"/>
                        </a:spcBef>
                        <a:spcAft>
                          <a:spcPts val="0"/>
                        </a:spcAft>
                      </a:pPr>
                      <a:r>
                        <a:rPr sz="1300" b="0">
                          <a:solidFill>
                            <a:srgbClr val="1F1F1F"/>
                          </a:solidFill>
                          <a:latin typeface="Calibri"/>
                        </a:rPr>
                        <a:t>declarada no informe; a</a:t>
                      </a:r>
                    </a:p>
                    <a:p>
                      <a:pPr algn="l">
                        <a:lnSpc>
                          <a:spcPct val="100000"/>
                        </a:lnSpc>
                        <a:spcBef>
                          <a:spcPts val="0"/>
                        </a:spcBef>
                        <a:spcAft>
                          <a:spcPts val="0"/>
                        </a:spcAft>
                      </a:pPr>
                      <a:r>
                        <a:rPr sz="1300" b="0">
                          <a:solidFill>
                            <a:srgbClr val="1F1F1F"/>
                          </a:solidFill>
                          <a:latin typeface="Calibri"/>
                        </a:rPr>
                        <a:t>cláusula permanece no</a:t>
                      </a:r>
                    </a:p>
                    <a:p>
                      <a:pPr algn="l">
                        <a:lnSpc>
                          <a:spcPct val="100000"/>
                        </a:lnSpc>
                        <a:spcBef>
                          <a:spcPts val="0"/>
                        </a:spcBef>
                        <a:spcAft>
                          <a:spcPts val="0"/>
                        </a:spcAft>
                      </a:pPr>
                      <a:r>
                        <a:rPr sz="1300" b="0">
                          <a:solidFill>
                            <a:srgbClr val="1F1F1F"/>
                          </a:solidFill>
                          <a:latin typeface="Calibri"/>
                        </a:rPr>
                        <a:t>documento normativo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O fundo adquiriu</a:t>
                      </a:r>
                    </a:p>
                    <a:p>
                      <a:pPr algn="l">
                        <a:lnSpc>
                          <a:spcPct val="100000"/>
                        </a:lnSpc>
                        <a:spcBef>
                          <a:spcPts val="0"/>
                        </a:spcBef>
                        <a:spcAft>
                          <a:spcPts val="0"/>
                        </a:spcAft>
                      </a:pPr>
                      <a:r>
                        <a:rPr sz="1300" b="0">
                          <a:solidFill>
                            <a:srgbClr val="1F1F1F"/>
                          </a:solidFill>
                          <a:latin typeface="Calibri"/>
                        </a:rPr>
                        <a:t>precatórios federais no</a:t>
                      </a:r>
                    </a:p>
                    <a:p>
                      <a:pPr algn="l">
                        <a:lnSpc>
                          <a:spcPct val="100000"/>
                        </a:lnSpc>
                        <a:spcBef>
                          <a:spcPts val="0"/>
                        </a:spcBef>
                        <a:spcAft>
                          <a:spcPts val="0"/>
                        </a:spcAft>
                      </a:pPr>
                      <a:r>
                        <a:rPr sz="1300" b="0">
                          <a:solidFill>
                            <a:srgbClr val="1F1F1F"/>
                          </a:solidFill>
                          <a:latin typeface="Calibri"/>
                        </a:rPr>
                        <a:t>trimestre em referência</a:t>
                      </a:r>
                    </a:p>
                    <a:p>
                      <a:pPr algn="l">
                        <a:lnSpc>
                          <a:spcPct val="100000"/>
                        </a:lnSpc>
                        <a:spcBef>
                          <a:spcPts val="0"/>
                        </a:spcBef>
                        <a:spcAft>
                          <a:spcPts val="0"/>
                        </a:spcAft>
                      </a:pPr>
                      <a:r>
                        <a:rPr sz="1300" b="0">
                          <a:solidFill>
                            <a:srgbClr val="1F1F1F"/>
                          </a:solidFill>
                          <a:latin typeface="Calibri"/>
                        </a:rPr>
                        <a:t>e está sujeito a</a:t>
                      </a:r>
                    </a:p>
                    <a:p>
                      <a:pPr algn="l">
                        <a:lnSpc>
                          <a:spcPct val="100000"/>
                        </a:lnSpc>
                        <a:spcBef>
                          <a:spcPts val="0"/>
                        </a:spcBef>
                        <a:spcAft>
                          <a:spcPts val="0"/>
                        </a:spcAft>
                      </a:pPr>
                      <a:r>
                        <a:rPr sz="1300" b="0">
                          <a:solidFill>
                            <a:srgbClr val="1F1F1F"/>
                          </a:solidFill>
                          <a:latin typeface="Calibri"/>
                        </a:rPr>
                        <a:t>eventual existência de</a:t>
                      </a:r>
                    </a:p>
                    <a:p>
                      <a:pPr algn="l">
                        <a:lnSpc>
                          <a:spcPct val="100000"/>
                        </a:lnSpc>
                        <a:spcBef>
                          <a:spcPts val="0"/>
                        </a:spcBef>
                        <a:spcAft>
                          <a:spcPts val="0"/>
                        </a:spcAft>
                      </a:pPr>
                      <a:r>
                        <a:rPr sz="1300" b="0">
                          <a:solidFill>
                            <a:srgbClr val="1F1F1F"/>
                          </a:solidFill>
                          <a:latin typeface="Calibri"/>
                        </a:rPr>
                        <a:t>impugnação judicial ou</a:t>
                      </a:r>
                    </a:p>
                    <a:p>
                      <a:pPr algn="l">
                        <a:lnSpc>
                          <a:spcPct val="100000"/>
                        </a:lnSpc>
                        <a:spcBef>
                          <a:spcPts val="0"/>
                        </a:spcBef>
                        <a:spcAft>
                          <a:spcPts val="0"/>
                        </a:spcAft>
                      </a:pPr>
                      <a:r>
                        <a:rPr sz="1300" b="0">
                          <a:solidFill>
                            <a:srgbClr val="1F1F1F"/>
                          </a:solidFill>
                          <a:latin typeface="Calibri"/>
                        </a:rPr>
                        <a:t>fatos supervenientes</a:t>
                      </a:r>
                    </a:p>
                    <a:p>
                      <a:pPr algn="l">
                        <a:lnSpc>
                          <a:spcPct val="100000"/>
                        </a:lnSpc>
                        <a:spcBef>
                          <a:spcPts val="0"/>
                        </a:spcBef>
                        <a:spcAft>
                          <a:spcPts val="0"/>
                        </a:spcAft>
                      </a:pPr>
                      <a:r>
                        <a:rPr sz="1300" b="0">
                          <a:solidFill>
                            <a:srgbClr val="1F1F1F"/>
                          </a:solidFill>
                          <a:latin typeface="Calibri"/>
                        </a:rPr>
                        <a:t>capazes de alterar a</a:t>
                      </a:r>
                    </a:p>
                    <a:p>
                      <a:pPr algn="l">
                        <a:lnSpc>
                          <a:spcPct val="100000"/>
                        </a:lnSpc>
                        <a:spcBef>
                          <a:spcPts val="0"/>
                        </a:spcBef>
                        <a:spcAft>
                          <a:spcPts val="0"/>
                        </a:spcAft>
                      </a:pPr>
                      <a:r>
                        <a:rPr sz="1300" b="0">
                          <a:solidFill>
                            <a:srgbClr val="1F1F1F"/>
                          </a:solidFill>
                          <a:latin typeface="Calibri"/>
                        </a:rPr>
                        <a:t>ordem ou o prazo de</a:t>
                      </a:r>
                    </a:p>
                    <a:p>
                      <a:pPr algn="l">
                        <a:lnSpc>
                          <a:spcPct val="100000"/>
                        </a:lnSpc>
                        <a:spcBef>
                          <a:spcPts val="0"/>
                        </a:spcBef>
                        <a:spcAft>
                          <a:spcPts val="0"/>
                        </a:spcAft>
                      </a:pPr>
                      <a:r>
                        <a:rPr sz="1300" b="0">
                          <a:solidFill>
                            <a:srgbClr val="1F1F1F"/>
                          </a:solidFill>
                          <a:latin typeface="Calibri"/>
                        </a:rPr>
                        <a:t>pagamento dos</a:t>
                      </a:r>
                    </a:p>
                    <a:p>
                      <a:pPr algn="l">
                        <a:lnSpc>
                          <a:spcPct val="100000"/>
                        </a:lnSpc>
                        <a:spcBef>
                          <a:spcPts val="0"/>
                        </a:spcBef>
                        <a:spcAft>
                          <a:spcPts val="0"/>
                        </a:spcAft>
                      </a:pPr>
                      <a:r>
                        <a:rPr sz="1300" b="0">
                          <a:solidFill>
                            <a:srgbClr val="1F1F1F"/>
                          </a:solidFill>
                          <a:latin typeface="Calibri"/>
                        </a:rPr>
                        <a:t>precatórios. As</a:t>
                      </a:r>
                    </a:p>
                    <a:p>
                      <a:pPr algn="l">
                        <a:lnSpc>
                          <a:spcPct val="100000"/>
                        </a:lnSpc>
                        <a:spcBef>
                          <a:spcPts val="0"/>
                        </a:spcBef>
                        <a:spcAft>
                          <a:spcPts val="0"/>
                        </a:spcAft>
                      </a:pPr>
                      <a:r>
                        <a:rPr sz="1300" b="0">
                          <a:solidFill>
                            <a:srgbClr val="1F1F1F"/>
                          </a:solidFill>
                          <a:latin typeface="Calibri"/>
                        </a:rPr>
                        <a:t>informações a seguir</a:t>
                      </a:r>
                    </a:p>
                    <a:p>
                      <a:pPr algn="l">
                        <a:lnSpc>
                          <a:spcPct val="100000"/>
                        </a:lnSpc>
                        <a:spcBef>
                          <a:spcPts val="0"/>
                        </a:spcBef>
                        <a:spcAft>
                          <a:spcPts val="0"/>
                        </a:spcAft>
                      </a:pPr>
                      <a:r>
                        <a:rPr sz="1300" b="0">
                          <a:solidFill>
                            <a:srgbClr val="1F1F1F"/>
                          </a:solidFill>
                          <a:latin typeface="Calibri"/>
                        </a:rPr>
                        <a:t>são destinadas à</a:t>
                      </a:r>
                    </a:p>
                    <a:p>
                      <a:pPr algn="l">
                        <a:lnSpc>
                          <a:spcPct val="100000"/>
                        </a:lnSpc>
                        <a:spcBef>
                          <a:spcPts val="0"/>
                        </a:spcBef>
                        <a:spcAft>
                          <a:spcPts val="0"/>
                        </a:spcAft>
                      </a:pPr>
                      <a:r>
                        <a:rPr sz="1300" b="0">
                          <a:solidFill>
                            <a:srgbClr val="1F1F1F"/>
                          </a:solidFill>
                          <a:latin typeface="Calibri"/>
                        </a:rPr>
                        <a:t>apresentação do</a:t>
                      </a:r>
                    </a:p>
                    <a:p>
                      <a:pPr algn="l">
                        <a:lnSpc>
                          <a:spcPct val="100000"/>
                        </a:lnSpc>
                        <a:spcBef>
                          <a:spcPts val="0"/>
                        </a:spcBef>
                        <a:spcAft>
                          <a:spcPts val="0"/>
                        </a:spcAft>
                      </a:pPr>
                      <a:r>
                        <a:rPr sz="1300" b="0">
                          <a:solidFill>
                            <a:srgbClr val="1F1F1F"/>
                          </a:solidFill>
                          <a:latin typeface="Calibri"/>
                        </a:rPr>
                        <a:t>relatório trimestral do</a:t>
                      </a:r>
                    </a:p>
                    <a:p>
                      <a:pPr algn="l">
                        <a:lnSpc>
                          <a:spcPct val="100000"/>
                        </a:lnSpc>
                        <a:spcBef>
                          <a:spcPts val="0"/>
                        </a:spcBef>
                        <a:spcAft>
                          <a:spcPts val="0"/>
                        </a:spcAft>
                      </a:pPr>
                      <a:r>
                        <a:rPr sz="1300" b="0">
                          <a:solidFill>
                            <a:srgbClr val="1F1F1F"/>
                          </a:solidFill>
                          <a:latin typeface="Calibri"/>
                        </a:rPr>
                        <a:t>gestor.</a:t>
                      </a:r>
                    </a:p>
                    <a:p>
                      <a:pPr algn="l">
                        <a:lnSpc>
                          <a:spcPct val="100000"/>
                        </a:lnSpc>
                        <a:spcBef>
                          <a:spcPts val="0"/>
                        </a:spcBef>
                        <a:spcAft>
                          <a:spcPts val="0"/>
                        </a:spcAft>
                      </a:pPr>
                      <a:r>
                        <a:rPr sz="1300" b="0">
                          <a:solidFill>
                            <a:srgbClr val="1F1F1F"/>
                          </a:solidFill>
                          <a:latin typeface="Calibri"/>
                        </a:rPr>
                        <a:t>Declaração do informe</a:t>
                      </a:r>
                    </a:p>
                    <a:p>
                      <a:pPr algn="l">
                        <a:lnSpc>
                          <a:spcPct val="100000"/>
                        </a:lnSpc>
                        <a:spcBef>
                          <a:spcPts val="0"/>
                        </a:spcBef>
                        <a:spcAft>
                          <a:spcPts val="0"/>
                        </a:spcAft>
                      </a:pPr>
                      <a:r>
                        <a:rPr sz="1300" b="0">
                          <a:solidFill>
                            <a:srgbClr val="1F1F1F"/>
                          </a:solidFill>
                          <a:latin typeface="Calibri"/>
                        </a:rPr>
                        <a:t>trimestral</a:t>
                      </a:r>
                    </a:p>
                    <a:p>
                      <a:pPr algn="l">
                        <a:lnSpc>
                          <a:spcPct val="100000"/>
                        </a:lnSpc>
                        <a:spcBef>
                          <a:spcPts val="0"/>
                        </a:spcBef>
                        <a:spcAft>
                          <a:spcPts val="0"/>
                        </a:spcAft>
                      </a:pPr>
                      <a:r>
                        <a:rPr sz="1300" b="0">
                          <a:solidFill>
                            <a:srgbClr val="1F1F1F"/>
                          </a:solidFill>
                          <a:latin typeface="Calibri"/>
                        </a:rPr>
                        <a:t>2026-Q2 · Resposta</a:t>
                      </a:r>
                    </a:p>
                    <a:p>
                      <a:pPr algn="l">
                        <a:lnSpc>
                          <a:spcPct val="100000"/>
                        </a:lnSpc>
                        <a:spcBef>
                          <a:spcPts val="0"/>
                        </a:spcBef>
                        <a:spcAft>
                          <a:spcPts val="0"/>
                        </a:spcAft>
                      </a:pPr>
                      <a:r>
                        <a:rPr sz="1300" b="0">
                          <a:solidFill>
                            <a:srgbClr val="1F1F1F"/>
                          </a:solidFill>
                          <a:latin typeface="Calibri"/>
                        </a:rPr>
                        <a:t>declarada no informe; a</a:t>
                      </a:r>
                    </a:p>
                    <a:p>
                      <a:pPr algn="l">
                        <a:lnSpc>
                          <a:spcPct val="100000"/>
                        </a:lnSpc>
                        <a:spcBef>
                          <a:spcPts val="0"/>
                        </a:spcBef>
                        <a:spcAft>
                          <a:spcPts val="0"/>
                        </a:spcAft>
                      </a:pPr>
                      <a:r>
                        <a:rPr sz="1300" b="0">
                          <a:solidFill>
                            <a:srgbClr val="1F1F1F"/>
                          </a:solidFill>
                          <a:latin typeface="Calibri"/>
                        </a:rPr>
                        <a:t>cláusula permanece no</a:t>
                      </a:r>
                    </a:p>
                    <a:p>
                      <a:pPr algn="l">
                        <a:lnSpc>
                          <a:spcPct val="100000"/>
                        </a:lnSpc>
                        <a:spcBef>
                          <a:spcPts val="0"/>
                        </a:spcBef>
                        <a:spcAft>
                          <a:spcPts val="0"/>
                        </a:spcAft>
                      </a:pPr>
                      <a:r>
                        <a:rPr sz="1300" b="0">
                          <a:solidFill>
                            <a:srgbClr val="1F1F1F"/>
                          </a:solidFill>
                          <a:latin typeface="Calibri"/>
                        </a:rPr>
                        <a:t>documento normativo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O fundo não se destina</a:t>
                      </a:r>
                    </a:p>
                    <a:p>
                      <a:pPr algn="l">
                        <a:lnSpc>
                          <a:spcPct val="100000"/>
                        </a:lnSpc>
                        <a:spcBef>
                          <a:spcPts val="0"/>
                        </a:spcBef>
                        <a:spcAft>
                          <a:spcPts val="0"/>
                        </a:spcAft>
                      </a:pPr>
                      <a:r>
                        <a:rPr sz="1300" b="0">
                          <a:solidFill>
                            <a:srgbClr val="1F1F1F"/>
                          </a:solidFill>
                          <a:latin typeface="Calibri"/>
                        </a:rPr>
                        <a:t>ao público em geral. As</a:t>
                      </a:r>
                    </a:p>
                    <a:p>
                      <a:pPr algn="l">
                        <a:lnSpc>
                          <a:spcPct val="100000"/>
                        </a:lnSpc>
                        <a:spcBef>
                          <a:spcPts val="0"/>
                        </a:spcBef>
                        <a:spcAft>
                          <a:spcPts val="0"/>
                        </a:spcAft>
                      </a:pPr>
                      <a:r>
                        <a:rPr sz="1300" b="0">
                          <a:solidFill>
                            <a:srgbClr val="1F1F1F"/>
                          </a:solidFill>
                          <a:latin typeface="Calibri"/>
                        </a:rPr>
                        <a:t>informações a seguir</a:t>
                      </a:r>
                    </a:p>
                    <a:p>
                      <a:pPr algn="l">
                        <a:lnSpc>
                          <a:spcPct val="100000"/>
                        </a:lnSpc>
                        <a:spcBef>
                          <a:spcPts val="0"/>
                        </a:spcBef>
                        <a:spcAft>
                          <a:spcPts val="0"/>
                        </a:spcAft>
                      </a:pPr>
                      <a:r>
                        <a:rPr sz="1300" b="0">
                          <a:solidFill>
                            <a:srgbClr val="1F1F1F"/>
                          </a:solidFill>
                          <a:latin typeface="Calibri"/>
                        </a:rPr>
                        <a:t>são destinadas à</a:t>
                      </a:r>
                    </a:p>
                    <a:p>
                      <a:pPr algn="l">
                        <a:lnSpc>
                          <a:spcPct val="100000"/>
                        </a:lnSpc>
                        <a:spcBef>
                          <a:spcPts val="0"/>
                        </a:spcBef>
                        <a:spcAft>
                          <a:spcPts val="0"/>
                        </a:spcAft>
                      </a:pPr>
                      <a:r>
                        <a:rPr sz="1300" b="0">
                          <a:solidFill>
                            <a:srgbClr val="1F1F1F"/>
                          </a:solidFill>
                          <a:latin typeface="Calibri"/>
                        </a:rPr>
                        <a:t>apresentação do</a:t>
                      </a:r>
                    </a:p>
                    <a:p>
                      <a:pPr algn="l">
                        <a:lnSpc>
                          <a:spcPct val="100000"/>
                        </a:lnSpc>
                        <a:spcBef>
                          <a:spcPts val="0"/>
                        </a:spcBef>
                        <a:spcAft>
                          <a:spcPts val="0"/>
                        </a:spcAft>
                      </a:pPr>
                      <a:r>
                        <a:rPr sz="1300" b="0">
                          <a:solidFill>
                            <a:srgbClr val="1F1F1F"/>
                          </a:solidFill>
                          <a:latin typeface="Calibri"/>
                        </a:rPr>
                        <a:t>relatório trimestral do</a:t>
                      </a:r>
                    </a:p>
                    <a:p>
                      <a:pPr algn="l">
                        <a:lnSpc>
                          <a:spcPct val="100000"/>
                        </a:lnSpc>
                        <a:spcBef>
                          <a:spcPts val="0"/>
                        </a:spcBef>
                        <a:spcAft>
                          <a:spcPts val="0"/>
                        </a:spcAft>
                      </a:pPr>
                      <a:r>
                        <a:rPr sz="1300" b="0">
                          <a:solidFill>
                            <a:srgbClr val="1F1F1F"/>
                          </a:solidFill>
                          <a:latin typeface="Calibri"/>
                        </a:rPr>
                        <a:t>gestor. Em atendimento</a:t>
                      </a:r>
                    </a:p>
                    <a:p>
                      <a:pPr algn="l">
                        <a:lnSpc>
                          <a:spcPct val="100000"/>
                        </a:lnSpc>
                        <a:spcBef>
                          <a:spcPts val="0"/>
                        </a:spcBef>
                        <a:spcAft>
                          <a:spcPts val="0"/>
                        </a:spcAft>
                      </a:pPr>
                      <a:r>
                        <a:rPr sz="1300" b="0">
                          <a:solidFill>
                            <a:srgbClr val="1F1F1F"/>
                          </a:solidFill>
                          <a:latin typeface="Calibri"/>
                        </a:rPr>
                        <a:t>ao parágrafo § 4º,</a:t>
                      </a:r>
                    </a:p>
                    <a:p>
                      <a:pPr algn="l">
                        <a:lnSpc>
                          <a:spcPct val="100000"/>
                        </a:lnSpc>
                        <a:spcBef>
                          <a:spcPts val="0"/>
                        </a:spcBef>
                        <a:spcAft>
                          <a:spcPts val="0"/>
                        </a:spcAft>
                      </a:pPr>
                      <a:r>
                        <a:rPr sz="1300" b="0">
                          <a:solidFill>
                            <a:srgbClr val="1F1F1F"/>
                          </a:solidFill>
                          <a:latin typeface="Calibri"/>
                        </a:rPr>
                        <a:t>inciso V, artigo 27 da</a:t>
                      </a:r>
                    </a:p>
                    <a:p>
                      <a:pPr algn="l">
                        <a:lnSpc>
                          <a:spcPct val="100000"/>
                        </a:lnSpc>
                        <a:spcBef>
                          <a:spcPts val="0"/>
                        </a:spcBef>
                        <a:spcAft>
                          <a:spcPts val="0"/>
                        </a:spcAft>
                      </a:pPr>
                      <a:r>
                        <a:rPr sz="1300" b="0">
                          <a:solidFill>
                            <a:srgbClr val="1F1F1F"/>
                          </a:solidFill>
                          <a:latin typeface="Calibri"/>
                        </a:rPr>
                        <a:t>Resolução 175,</a:t>
                      </a:r>
                    </a:p>
                    <a:p>
                      <a:pPr algn="l">
                        <a:lnSpc>
                          <a:spcPct val="100000"/>
                        </a:lnSpc>
                        <a:spcBef>
                          <a:spcPts val="0"/>
                        </a:spcBef>
                        <a:spcAft>
                          <a:spcPts val="0"/>
                        </a:spcAft>
                      </a:pPr>
                      <a:r>
                        <a:rPr sz="1300" b="0">
                          <a:solidFill>
                            <a:srgbClr val="1F1F1F"/>
                          </a:solidFill>
                          <a:latin typeface="Calibri"/>
                        </a:rPr>
                        <a:t>informamos ainda que,</a:t>
                      </a:r>
                    </a:p>
                    <a:p>
                      <a:pPr algn="l">
                        <a:lnSpc>
                          <a:spcPct val="100000"/>
                        </a:lnSpc>
                        <a:spcBef>
                          <a:spcPts val="0"/>
                        </a:spcBef>
                        <a:spcAft>
                          <a:spcPts val="0"/>
                        </a:spcAft>
                      </a:pPr>
                      <a:r>
                        <a:rPr sz="1300" b="0">
                          <a:solidFill>
                            <a:srgbClr val="1F1F1F"/>
                          </a:solidFill>
                          <a:latin typeface="Calibri"/>
                        </a:rPr>
                        <a:t>até a data de</a:t>
                      </a:r>
                    </a:p>
                    <a:p>
                      <a:pPr algn="l">
                        <a:lnSpc>
                          <a:spcPct val="100000"/>
                        </a:lnSpc>
                        <a:spcBef>
                          <a:spcPts val="0"/>
                        </a:spcBef>
                        <a:spcAft>
                          <a:spcPts val="0"/>
                        </a:spcAft>
                      </a:pPr>
                      <a:r>
                        <a:rPr sz="1300" b="0">
                          <a:solidFill>
                            <a:srgbClr val="1F1F1F"/>
                          </a:solidFill>
                          <a:latin typeface="Calibri"/>
                        </a:rPr>
                        <a:t>divulgação deste</a:t>
                      </a:r>
                    </a:p>
                    <a:p>
                      <a:pPr algn="l">
                        <a:lnSpc>
                          <a:spcPct val="100000"/>
                        </a:lnSpc>
                        <a:spcBef>
                          <a:spcPts val="0"/>
                        </a:spcBef>
                        <a:spcAft>
                          <a:spcPts val="0"/>
                        </a:spcAft>
                      </a:pPr>
                      <a:r>
                        <a:rPr sz="1300" b="0">
                          <a:solidFill>
                            <a:srgbClr val="1F1F1F"/>
                          </a:solidFill>
                          <a:latin typeface="Calibri"/>
                        </a:rPr>
                        <a:t>demonstrativo</a:t>
                      </a:r>
                    </a:p>
                    <a:p>
                      <a:pPr algn="l">
                        <a:lnSpc>
                          <a:spcPct val="100000"/>
                        </a:lnSpc>
                        <a:spcBef>
                          <a:spcPts val="0"/>
                        </a:spcBef>
                        <a:spcAft>
                          <a:spcPts val="0"/>
                        </a:spcAft>
                      </a:pPr>
                      <a:r>
                        <a:rPr sz="1300" b="0">
                          <a:solidFill>
                            <a:srgbClr val="1F1F1F"/>
                          </a:solidFill>
                          <a:latin typeface="Calibri"/>
                        </a:rPr>
                        <a:t>trimestral, o gestor</a:t>
                      </a:r>
                    </a:p>
                    <a:p>
                      <a:pPr algn="l">
                        <a:lnSpc>
                          <a:spcPct val="100000"/>
                        </a:lnSpc>
                        <a:spcBef>
                          <a:spcPts val="0"/>
                        </a:spcBef>
                        <a:spcAft>
                          <a:spcPts val="0"/>
                        </a:spcAft>
                      </a:pPr>
                      <a:r>
                        <a:rPr sz="1300" b="0">
                          <a:solidFill>
                            <a:srgbClr val="1F1F1F"/>
                          </a:solidFill>
                          <a:latin typeface="Calibri"/>
                        </a:rPr>
                        <a:t>não encaminhou ao</a:t>
                      </a:r>
                    </a:p>
                    <a:p>
                      <a:pPr algn="l">
                        <a:lnSpc>
                          <a:spcPct val="100000"/>
                        </a:lnSpc>
                        <a:spcBef>
                          <a:spcPts val="0"/>
                        </a:spcBef>
                        <a:spcAft>
                          <a:spcPts val="0"/>
                        </a:spcAft>
                      </a:pPr>
                      <a:r>
                        <a:rPr sz="1300" b="0">
                          <a:solidFill>
                            <a:srgbClr val="1F1F1F"/>
                          </a:solidFill>
                          <a:latin typeface="Calibri"/>
                        </a:rPr>
                        <a:t>administrador o</a:t>
                      </a:r>
                    </a:p>
                    <a:p>
                      <a:pPr algn="l">
                        <a:lnSpc>
                          <a:spcPct val="100000"/>
                        </a:lnSpc>
                        <a:spcBef>
                          <a:spcPts val="0"/>
                        </a:spcBef>
                        <a:spcAft>
                          <a:spcPts val="0"/>
                        </a:spcAft>
                      </a:pPr>
                      <a:r>
                        <a:rPr sz="1300" b="0">
                          <a:solidFill>
                            <a:srgbClr val="1F1F1F"/>
                          </a:solidFill>
                          <a:latin typeface="Calibri"/>
                        </a:rPr>
                        <a:t>relatório trimestral da</a:t>
                      </a:r>
                    </a:p>
                    <a:p>
                      <a:pPr algn="l">
                        <a:lnSpc>
                          <a:spcPct val="100000"/>
                        </a:lnSpc>
                        <a:spcBef>
                          <a:spcPts val="0"/>
                        </a:spcBef>
                        <a:spcAft>
                          <a:spcPts val="0"/>
                        </a:spcAft>
                      </a:pPr>
                      <a:r>
                        <a:rPr sz="1300" b="0">
                          <a:solidFill>
                            <a:srgbClr val="1F1F1F"/>
                          </a:solidFill>
                          <a:latin typeface="Calibri"/>
                        </a:rPr>
                        <a:t>gestão, conforme</a:t>
                      </a:r>
                    </a:p>
                    <a:p>
                      <a:pPr algn="l">
                        <a:lnSpc>
                          <a:spcPct val="100000"/>
                        </a:lnSpc>
                        <a:spcBef>
                          <a:spcPts val="0"/>
                        </a:spcBef>
                        <a:spcAft>
                          <a:spcPts val="0"/>
                        </a:spcAft>
                      </a:pPr>
                      <a:r>
                        <a:rPr sz="1300" b="0">
                          <a:solidFill>
                            <a:srgbClr val="1F1F1F"/>
                          </a:solidFill>
                          <a:latin typeface="Calibri"/>
                        </a:rPr>
                        <a:t>estabelecido pela</a:t>
                      </a:r>
                    </a:p>
                    <a:p>
                      <a:pPr algn="l">
                        <a:lnSpc>
                          <a:spcPct val="100000"/>
                        </a:lnSpc>
                        <a:spcBef>
                          <a:spcPts val="0"/>
                        </a:spcBef>
                        <a:spcAft>
                          <a:spcPts val="0"/>
                        </a:spcAft>
                      </a:pPr>
                      <a:r>
                        <a:rPr sz="1300" b="0">
                          <a:solidFill>
                            <a:srgbClr val="1F1F1F"/>
                          </a:solidFill>
                          <a:latin typeface="Calibri"/>
                        </a:rPr>
                        <a:t>legislação em vigor.</a:t>
                      </a:r>
                    </a:p>
                    <a:p>
                      <a:pPr algn="l">
                        <a:lnSpc>
                          <a:spcPct val="100000"/>
                        </a:lnSpc>
                        <a:spcBef>
                          <a:spcPts val="0"/>
                        </a:spcBef>
                        <a:spcAft>
                          <a:spcPts val="0"/>
                        </a:spcAft>
                      </a:pPr>
                      <a:r>
                        <a:rPr sz="1300" b="0">
                          <a:solidFill>
                            <a:srgbClr val="1F1F1F"/>
                          </a:solidFill>
                          <a:latin typeface="Calibri"/>
                        </a:rPr>
                        <a:t>Declaração do informe</a:t>
                      </a:r>
                    </a:p>
                    <a:p>
                      <a:pPr algn="l">
                        <a:lnSpc>
                          <a:spcPct val="100000"/>
                        </a:lnSpc>
                        <a:spcBef>
                          <a:spcPts val="0"/>
                        </a:spcBef>
                        <a:spcAft>
                          <a:spcPts val="0"/>
                        </a:spcAft>
                      </a:pPr>
                      <a:r>
                        <a:rPr sz="1300" b="0">
                          <a:solidFill>
                            <a:srgbClr val="1F1F1F"/>
                          </a:solidFill>
                          <a:latin typeface="Calibri"/>
                        </a:rPr>
                        <a:t>trimestral</a:t>
                      </a:r>
                    </a:p>
                    <a:p>
                      <a:pPr algn="l">
                        <a:lnSpc>
                          <a:spcPct val="100000"/>
                        </a:lnSpc>
                        <a:spcBef>
                          <a:spcPts val="0"/>
                        </a:spcBef>
                        <a:spcAft>
                          <a:spcPts val="0"/>
                        </a:spcAft>
                      </a:pPr>
                      <a:r>
                        <a:rPr sz="1300" b="0">
                          <a:solidFill>
                            <a:srgbClr val="1F1F1F"/>
                          </a:solidFill>
                          <a:latin typeface="Calibri"/>
                        </a:rPr>
                        <a:t>2025-Q4 · Resposta</a:t>
                      </a:r>
                    </a:p>
                    <a:p>
                      <a:pPr algn="l">
                        <a:lnSpc>
                          <a:spcPct val="100000"/>
                        </a:lnSpc>
                        <a:spcBef>
                          <a:spcPts val="0"/>
                        </a:spcBef>
                        <a:spcAft>
                          <a:spcPts val="0"/>
                        </a:spcAft>
                      </a:pPr>
                      <a:r>
                        <a:rPr sz="1300" b="0">
                          <a:solidFill>
                            <a:srgbClr val="1F1F1F"/>
                          </a:solidFill>
                          <a:latin typeface="Calibri"/>
                        </a:rPr>
                        <a:t>declarada no informe; 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O fundo não se destina</a:t>
                      </a:r>
                    </a:p>
                    <a:p>
                      <a:pPr algn="l">
                        <a:lnSpc>
                          <a:spcPct val="100000"/>
                        </a:lnSpc>
                        <a:spcBef>
                          <a:spcPts val="0"/>
                        </a:spcBef>
                        <a:spcAft>
                          <a:spcPts val="0"/>
                        </a:spcAft>
                      </a:pPr>
                      <a:r>
                        <a:rPr sz="1300" b="0">
                          <a:solidFill>
                            <a:srgbClr val="1F1F1F"/>
                          </a:solidFill>
                          <a:latin typeface="Calibri"/>
                        </a:rPr>
                        <a:t>ao público em geral. As</a:t>
                      </a:r>
                    </a:p>
                    <a:p>
                      <a:pPr algn="l">
                        <a:lnSpc>
                          <a:spcPct val="100000"/>
                        </a:lnSpc>
                        <a:spcBef>
                          <a:spcPts val="0"/>
                        </a:spcBef>
                        <a:spcAft>
                          <a:spcPts val="0"/>
                        </a:spcAft>
                      </a:pPr>
                      <a:r>
                        <a:rPr sz="1300" b="0">
                          <a:solidFill>
                            <a:srgbClr val="1F1F1F"/>
                          </a:solidFill>
                          <a:latin typeface="Calibri"/>
                        </a:rPr>
                        <a:t>informações a seguir</a:t>
                      </a:r>
                    </a:p>
                    <a:p>
                      <a:pPr algn="l">
                        <a:lnSpc>
                          <a:spcPct val="100000"/>
                        </a:lnSpc>
                        <a:spcBef>
                          <a:spcPts val="0"/>
                        </a:spcBef>
                        <a:spcAft>
                          <a:spcPts val="0"/>
                        </a:spcAft>
                      </a:pPr>
                      <a:r>
                        <a:rPr sz="1300" b="0">
                          <a:solidFill>
                            <a:srgbClr val="1F1F1F"/>
                          </a:solidFill>
                          <a:latin typeface="Calibri"/>
                        </a:rPr>
                        <a:t>são destinadas à</a:t>
                      </a:r>
                    </a:p>
                    <a:p>
                      <a:pPr algn="l">
                        <a:lnSpc>
                          <a:spcPct val="100000"/>
                        </a:lnSpc>
                        <a:spcBef>
                          <a:spcPts val="0"/>
                        </a:spcBef>
                        <a:spcAft>
                          <a:spcPts val="0"/>
                        </a:spcAft>
                      </a:pPr>
                      <a:r>
                        <a:rPr sz="1300" b="0">
                          <a:solidFill>
                            <a:srgbClr val="1F1F1F"/>
                          </a:solidFill>
                          <a:latin typeface="Calibri"/>
                        </a:rPr>
                        <a:t>apresentação do</a:t>
                      </a:r>
                    </a:p>
                    <a:p>
                      <a:pPr algn="l">
                        <a:lnSpc>
                          <a:spcPct val="100000"/>
                        </a:lnSpc>
                        <a:spcBef>
                          <a:spcPts val="0"/>
                        </a:spcBef>
                        <a:spcAft>
                          <a:spcPts val="0"/>
                        </a:spcAft>
                      </a:pPr>
                      <a:r>
                        <a:rPr sz="1300" b="0">
                          <a:solidFill>
                            <a:srgbClr val="1F1F1F"/>
                          </a:solidFill>
                          <a:latin typeface="Calibri"/>
                        </a:rPr>
                        <a:t>relatório trimestral do</a:t>
                      </a:r>
                    </a:p>
                    <a:p>
                      <a:pPr algn="l">
                        <a:lnSpc>
                          <a:spcPct val="100000"/>
                        </a:lnSpc>
                        <a:spcBef>
                          <a:spcPts val="0"/>
                        </a:spcBef>
                        <a:spcAft>
                          <a:spcPts val="0"/>
                        </a:spcAft>
                      </a:pPr>
                      <a:r>
                        <a:rPr sz="1300" b="0">
                          <a:solidFill>
                            <a:srgbClr val="1F1F1F"/>
                          </a:solidFill>
                          <a:latin typeface="Calibri"/>
                        </a:rPr>
                        <a:t>gestor.</a:t>
                      </a:r>
                    </a:p>
                    <a:p>
                      <a:pPr algn="l">
                        <a:lnSpc>
                          <a:spcPct val="100000"/>
                        </a:lnSpc>
                        <a:spcBef>
                          <a:spcPts val="0"/>
                        </a:spcBef>
                        <a:spcAft>
                          <a:spcPts val="0"/>
                        </a:spcAft>
                      </a:pPr>
                      <a:r>
                        <a:rPr sz="1300" b="0">
                          <a:solidFill>
                            <a:srgbClr val="1F1F1F"/>
                          </a:solidFill>
                          <a:latin typeface="Calibri"/>
                        </a:rPr>
                        <a:t>Declaração do informe</a:t>
                      </a:r>
                    </a:p>
                    <a:p>
                      <a:pPr algn="l">
                        <a:lnSpc>
                          <a:spcPct val="100000"/>
                        </a:lnSpc>
                        <a:spcBef>
                          <a:spcPts val="0"/>
                        </a:spcBef>
                        <a:spcAft>
                          <a:spcPts val="0"/>
                        </a:spcAft>
                      </a:pPr>
                      <a:r>
                        <a:rPr sz="1300" b="0">
                          <a:solidFill>
                            <a:srgbClr val="1F1F1F"/>
                          </a:solidFill>
                          <a:latin typeface="Calibri"/>
                        </a:rPr>
                        <a:t>trimestral</a:t>
                      </a:r>
                    </a:p>
                    <a:p>
                      <a:pPr algn="l">
                        <a:lnSpc>
                          <a:spcPct val="100000"/>
                        </a:lnSpc>
                        <a:spcBef>
                          <a:spcPts val="0"/>
                        </a:spcBef>
                        <a:spcAft>
                          <a:spcPts val="0"/>
                        </a:spcAft>
                      </a:pPr>
                      <a:r>
                        <a:rPr sz="1300" b="0">
                          <a:solidFill>
                            <a:srgbClr val="1F1F1F"/>
                          </a:solidFill>
                          <a:latin typeface="Calibri"/>
                        </a:rPr>
                        <a:t>2026-Q2 · Resposta</a:t>
                      </a:r>
                    </a:p>
                    <a:p>
                      <a:pPr algn="l">
                        <a:lnSpc>
                          <a:spcPct val="100000"/>
                        </a:lnSpc>
                        <a:spcBef>
                          <a:spcPts val="0"/>
                        </a:spcBef>
                        <a:spcAft>
                          <a:spcPts val="0"/>
                        </a:spcAft>
                      </a:pPr>
                      <a:r>
                        <a:rPr sz="1300" b="0">
                          <a:solidFill>
                            <a:srgbClr val="1F1F1F"/>
                          </a:solidFill>
                          <a:latin typeface="Calibri"/>
                        </a:rPr>
                        <a:t>declarada no informe; a</a:t>
                      </a:r>
                    </a:p>
                    <a:p>
                      <a:pPr algn="l">
                        <a:lnSpc>
                          <a:spcPct val="100000"/>
                        </a:lnSpc>
                        <a:spcBef>
                          <a:spcPts val="0"/>
                        </a:spcBef>
                        <a:spcAft>
                          <a:spcPts val="0"/>
                        </a:spcAft>
                      </a:pPr>
                      <a:r>
                        <a:rPr sz="1300" b="0">
                          <a:solidFill>
                            <a:srgbClr val="1F1F1F"/>
                          </a:solidFill>
                          <a:latin typeface="Calibri"/>
                        </a:rPr>
                        <a:t>cláusula permanece no</a:t>
                      </a:r>
                    </a:p>
                    <a:p>
                      <a:pPr algn="l">
                        <a:lnSpc>
                          <a:spcPct val="100000"/>
                        </a:lnSpc>
                        <a:spcBef>
                          <a:spcPts val="0"/>
                        </a:spcBef>
                        <a:spcAft>
                          <a:spcPts val="0"/>
                        </a:spcAft>
                      </a:pPr>
                      <a:r>
                        <a:rPr sz="1300" b="0">
                          <a:solidFill>
                            <a:srgbClr val="1F1F1F"/>
                          </a:solidFill>
                          <a:latin typeface="Calibri"/>
                        </a:rPr>
                        <a:t>documento normativo</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121/160</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Declarações trimestrais</a:t>
            </a:r>
          </a:p>
        </p:txBody>
      </p:sp>
      <p:graphicFrame>
        <p:nvGraphicFramePr>
          <p:cNvPr id="3" name="Table 2"/>
          <p:cNvGraphicFramePr>
            <a:graphicFrameLocks noGrp="1"/>
          </p:cNvGraphicFramePr>
          <p:nvPr/>
        </p:nvGraphicFramePr>
        <p:xfrm>
          <a:off x="438912" y="932688"/>
          <a:ext cx="11313868" cy="3662171"/>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470916">
                <a:tc>
                  <a:txBody>
                    <a:bodyPr wrap="square">
                      <a:noAutofit/>
                    </a:bodyPr>
                    <a:lstStyle/>
                    <a:p>
                      <a:pPr algn="l">
                        <a:lnSpc>
                          <a:spcPct val="100000"/>
                        </a:lnSpc>
                        <a:spcBef>
                          <a:spcPts val="0"/>
                        </a:spcBef>
                        <a:spcAft>
                          <a:spcPts val="0"/>
                        </a:spcAft>
                      </a:pPr>
                      <a:r>
                        <a:rPr sz="1300" b="1">
                          <a:solidFill>
                            <a:srgbClr val="1F1F1F"/>
                          </a:solidFill>
                          <a:latin typeface="Calibri"/>
                        </a:rPr>
                        <a:t>Aquisição de precatórios</a:t>
                      </a:r>
                    </a:p>
                    <a:p>
                      <a:pPr algn="l">
                        <a:lnSpc>
                          <a:spcPct val="100000"/>
                        </a:lnSpc>
                        <a:spcBef>
                          <a:spcPts val="0"/>
                        </a:spcBef>
                        <a:spcAft>
                          <a:spcPts val="0"/>
                        </a:spcAft>
                      </a:pPr>
                      <a:r>
                        <a:rPr sz="1300" b="1">
                          <a:solidFill>
                            <a:srgbClr val="1F1F1F"/>
                          </a:solidFill>
                          <a:latin typeface="Calibri"/>
                        </a:rPr>
                        <a:t>(continuação)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permanece no</a:t>
                      </a:r>
                    </a:p>
                    <a:p>
                      <a:pPr algn="l">
                        <a:lnSpc>
                          <a:spcPct val="100000"/>
                        </a:lnSpc>
                        <a:spcBef>
                          <a:spcPts val="0"/>
                        </a:spcBef>
                        <a:spcAft>
                          <a:spcPts val="0"/>
                        </a:spcAft>
                      </a:pPr>
                      <a:r>
                        <a:rPr sz="1300" b="0">
                          <a:solidFill>
                            <a:srgbClr val="1F1F1F"/>
                          </a:solidFill>
                          <a:latin typeface="Calibri"/>
                        </a:rPr>
                        <a:t>documento normativo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a:noFill/>
                    </a:lnB>
                  </a:tcPr>
                </a:tc>
              </a:tr>
              <a:tr h="2720339">
                <a:tc>
                  <a:txBody>
                    <a:bodyPr wrap="square">
                      <a:noAutofit/>
                    </a:bodyPr>
                    <a:lstStyle/>
                    <a:p>
                      <a:pPr algn="l">
                        <a:lnSpc>
                          <a:spcPct val="100000"/>
                        </a:lnSpc>
                        <a:spcBef>
                          <a:spcPts val="0"/>
                        </a:spcBef>
                        <a:spcAft>
                          <a:spcPts val="0"/>
                        </a:spcAft>
                      </a:pPr>
                      <a:r>
                        <a:rPr sz="1300" b="1">
                          <a:solidFill>
                            <a:srgbClr val="1F1F1F"/>
                          </a:solidFill>
                          <a:latin typeface="Calibri"/>
                        </a:rPr>
                        <a:t>Alterações da política</a:t>
                      </a:r>
                    </a:p>
                    <a:p>
                      <a:pPr algn="l">
                        <a:lnSpc>
                          <a:spcPct val="100000"/>
                        </a:lnSpc>
                        <a:spcBef>
                          <a:spcPts val="0"/>
                        </a:spcBef>
                        <a:spcAft>
                          <a:spcPts val="0"/>
                        </a:spcAft>
                      </a:pPr>
                      <a:r>
                        <a:rPr sz="1300" b="1">
                          <a:solidFill>
                            <a:srgbClr val="1F1F1F"/>
                          </a:solidFill>
                          <a:latin typeface="Calibri"/>
                        </a:rPr>
                        <a:t>de investimento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Não se aplica, pois não</a:t>
                      </a:r>
                    </a:p>
                    <a:p>
                      <a:pPr algn="l">
                        <a:lnSpc>
                          <a:spcPct val="100000"/>
                        </a:lnSpc>
                        <a:spcBef>
                          <a:spcPts val="0"/>
                        </a:spcBef>
                        <a:spcAft>
                          <a:spcPts val="0"/>
                        </a:spcAft>
                      </a:pPr>
                      <a:r>
                        <a:rPr sz="1300" b="0">
                          <a:solidFill>
                            <a:srgbClr val="1F1F1F"/>
                          </a:solidFill>
                          <a:latin typeface="Calibri"/>
                        </a:rPr>
                        <a:t>ocorreram alterações na</a:t>
                      </a:r>
                    </a:p>
                    <a:p>
                      <a:pPr algn="l">
                        <a:lnSpc>
                          <a:spcPct val="100000"/>
                        </a:lnSpc>
                        <a:spcBef>
                          <a:spcPts val="0"/>
                        </a:spcBef>
                        <a:spcAft>
                          <a:spcPts val="0"/>
                        </a:spcAft>
                      </a:pPr>
                      <a:r>
                        <a:rPr sz="1300" b="0">
                          <a:solidFill>
                            <a:srgbClr val="1F1F1F"/>
                          </a:solidFill>
                          <a:latin typeface="Calibri"/>
                        </a:rPr>
                        <a:t>política de</a:t>
                      </a:r>
                    </a:p>
                    <a:p>
                      <a:pPr algn="l">
                        <a:lnSpc>
                          <a:spcPct val="100000"/>
                        </a:lnSpc>
                        <a:spcBef>
                          <a:spcPts val="0"/>
                        </a:spcBef>
                        <a:spcAft>
                          <a:spcPts val="0"/>
                        </a:spcAft>
                      </a:pPr>
                      <a:r>
                        <a:rPr sz="1300" b="0">
                          <a:solidFill>
                            <a:srgbClr val="1F1F1F"/>
                          </a:solidFill>
                          <a:latin typeface="Calibri"/>
                        </a:rPr>
                        <a:t>investimento do fundo</a:t>
                      </a:r>
                    </a:p>
                    <a:p>
                      <a:pPr algn="l">
                        <a:lnSpc>
                          <a:spcPct val="100000"/>
                        </a:lnSpc>
                        <a:spcBef>
                          <a:spcPts val="0"/>
                        </a:spcBef>
                        <a:spcAft>
                          <a:spcPts val="0"/>
                        </a:spcAft>
                      </a:pPr>
                      <a:r>
                        <a:rPr sz="1300" b="0">
                          <a:solidFill>
                            <a:srgbClr val="1F1F1F"/>
                          </a:solidFill>
                          <a:latin typeface="Calibri"/>
                        </a:rPr>
                        <a:t>no trimestre em</a:t>
                      </a:r>
                    </a:p>
                    <a:p>
                      <a:pPr algn="l">
                        <a:lnSpc>
                          <a:spcPct val="100000"/>
                        </a:lnSpc>
                        <a:spcBef>
                          <a:spcPts val="0"/>
                        </a:spcBef>
                        <a:spcAft>
                          <a:spcPts val="0"/>
                        </a:spcAft>
                      </a:pPr>
                      <a:r>
                        <a:rPr sz="1300" b="0">
                          <a:solidFill>
                            <a:srgbClr val="1F1F1F"/>
                          </a:solidFill>
                          <a:latin typeface="Calibri"/>
                        </a:rPr>
                        <a:t>referência.</a:t>
                      </a:r>
                    </a:p>
                    <a:p>
                      <a:pPr algn="l">
                        <a:lnSpc>
                          <a:spcPct val="100000"/>
                        </a:lnSpc>
                        <a:spcBef>
                          <a:spcPts val="0"/>
                        </a:spcBef>
                        <a:spcAft>
                          <a:spcPts val="0"/>
                        </a:spcAft>
                      </a:pPr>
                      <a:r>
                        <a:rPr sz="1300" b="0">
                          <a:solidFill>
                            <a:srgbClr val="1F1F1F"/>
                          </a:solidFill>
                          <a:latin typeface="Calibri"/>
                        </a:rPr>
                        <a:t>Declaração do informe</a:t>
                      </a:r>
                    </a:p>
                    <a:p>
                      <a:pPr algn="l">
                        <a:lnSpc>
                          <a:spcPct val="100000"/>
                        </a:lnSpc>
                        <a:spcBef>
                          <a:spcPts val="0"/>
                        </a:spcBef>
                        <a:spcAft>
                          <a:spcPts val="0"/>
                        </a:spcAft>
                      </a:pPr>
                      <a:r>
                        <a:rPr sz="1300" b="0">
                          <a:solidFill>
                            <a:srgbClr val="1F1F1F"/>
                          </a:solidFill>
                          <a:latin typeface="Calibri"/>
                        </a:rPr>
                        <a:t>trimestral</a:t>
                      </a:r>
                    </a:p>
                    <a:p>
                      <a:pPr algn="l">
                        <a:lnSpc>
                          <a:spcPct val="100000"/>
                        </a:lnSpc>
                        <a:spcBef>
                          <a:spcPts val="0"/>
                        </a:spcBef>
                        <a:spcAft>
                          <a:spcPts val="0"/>
                        </a:spcAft>
                      </a:pPr>
                      <a:r>
                        <a:rPr sz="1300" b="0">
                          <a:solidFill>
                            <a:srgbClr val="1F1F1F"/>
                          </a:solidFill>
                          <a:latin typeface="Calibri"/>
                        </a:rPr>
                        <a:t>2026-Q2 · Resposta</a:t>
                      </a:r>
                    </a:p>
                    <a:p>
                      <a:pPr algn="l">
                        <a:lnSpc>
                          <a:spcPct val="100000"/>
                        </a:lnSpc>
                        <a:spcBef>
                          <a:spcPts val="0"/>
                        </a:spcBef>
                        <a:spcAft>
                          <a:spcPts val="0"/>
                        </a:spcAft>
                      </a:pPr>
                      <a:r>
                        <a:rPr sz="1300" b="0">
                          <a:solidFill>
                            <a:srgbClr val="1F1F1F"/>
                          </a:solidFill>
                          <a:latin typeface="Calibri"/>
                        </a:rPr>
                        <a:t>declarada no informe; a</a:t>
                      </a:r>
                    </a:p>
                    <a:p>
                      <a:pPr algn="l">
                        <a:lnSpc>
                          <a:spcPct val="100000"/>
                        </a:lnSpc>
                        <a:spcBef>
                          <a:spcPts val="0"/>
                        </a:spcBef>
                        <a:spcAft>
                          <a:spcPts val="0"/>
                        </a:spcAft>
                      </a:pPr>
                      <a:r>
                        <a:rPr sz="1300" b="0">
                          <a:solidFill>
                            <a:srgbClr val="1F1F1F"/>
                          </a:solidFill>
                          <a:latin typeface="Calibri"/>
                        </a:rPr>
                        <a:t>cláusula permanece no</a:t>
                      </a:r>
                    </a:p>
                    <a:p>
                      <a:pPr algn="l">
                        <a:lnSpc>
                          <a:spcPct val="100000"/>
                        </a:lnSpc>
                        <a:spcBef>
                          <a:spcPts val="0"/>
                        </a:spcBef>
                        <a:spcAft>
                          <a:spcPts val="0"/>
                        </a:spcAft>
                      </a:pPr>
                      <a:r>
                        <a:rPr sz="1300" b="0">
                          <a:solidFill>
                            <a:srgbClr val="1F1F1F"/>
                          </a:solidFill>
                          <a:latin typeface="Calibri"/>
                        </a:rPr>
                        <a:t>documento normativo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Não foram observados</a:t>
                      </a:r>
                    </a:p>
                    <a:p>
                      <a:pPr algn="l">
                        <a:lnSpc>
                          <a:spcPct val="100000"/>
                        </a:lnSpc>
                        <a:spcBef>
                          <a:spcPts val="0"/>
                        </a:spcBef>
                        <a:spcAft>
                          <a:spcPts val="0"/>
                        </a:spcAft>
                      </a:pPr>
                      <a:r>
                        <a:rPr sz="1300" b="0">
                          <a:solidFill>
                            <a:srgbClr val="1F1F1F"/>
                          </a:solidFill>
                          <a:latin typeface="Calibri"/>
                        </a:rPr>
                        <a:t>impactos significativos</a:t>
                      </a:r>
                    </a:p>
                    <a:p>
                      <a:pPr algn="l">
                        <a:lnSpc>
                          <a:spcPct val="100000"/>
                        </a:lnSpc>
                        <a:spcBef>
                          <a:spcPts val="0"/>
                        </a:spcBef>
                        <a:spcAft>
                          <a:spcPts val="0"/>
                        </a:spcAft>
                      </a:pPr>
                      <a:r>
                        <a:rPr sz="1300" b="0">
                          <a:solidFill>
                            <a:srgbClr val="1F1F1F"/>
                          </a:solidFill>
                          <a:latin typeface="Calibri"/>
                        </a:rPr>
                        <a:t>na rentabilidade do</a:t>
                      </a:r>
                    </a:p>
                    <a:p>
                      <a:pPr algn="l">
                        <a:lnSpc>
                          <a:spcPct val="100000"/>
                        </a:lnSpc>
                        <a:spcBef>
                          <a:spcPts val="0"/>
                        </a:spcBef>
                        <a:spcAft>
                          <a:spcPts val="0"/>
                        </a:spcAft>
                      </a:pPr>
                      <a:r>
                        <a:rPr sz="1300" b="0">
                          <a:solidFill>
                            <a:srgbClr val="1F1F1F"/>
                          </a:solidFill>
                          <a:latin typeface="Calibri"/>
                        </a:rPr>
                        <a:t>fundo, em função das</a:t>
                      </a:r>
                    </a:p>
                    <a:p>
                      <a:pPr algn="l">
                        <a:lnSpc>
                          <a:spcPct val="100000"/>
                        </a:lnSpc>
                        <a:spcBef>
                          <a:spcPts val="0"/>
                        </a:spcBef>
                        <a:spcAft>
                          <a:spcPts val="0"/>
                        </a:spcAft>
                      </a:pPr>
                      <a:r>
                        <a:rPr sz="1300" b="0">
                          <a:solidFill>
                            <a:srgbClr val="1F1F1F"/>
                          </a:solidFill>
                          <a:latin typeface="Calibri"/>
                        </a:rPr>
                        <a:t>alterações ocorridas em</a:t>
                      </a:r>
                    </a:p>
                    <a:p>
                      <a:pPr algn="l">
                        <a:lnSpc>
                          <a:spcPct val="100000"/>
                        </a:lnSpc>
                        <a:spcBef>
                          <a:spcPts val="0"/>
                        </a:spcBef>
                        <a:spcAft>
                          <a:spcPts val="0"/>
                        </a:spcAft>
                      </a:pPr>
                      <a:r>
                        <a:rPr sz="1300" b="0">
                          <a:solidFill>
                            <a:srgbClr val="1F1F1F"/>
                          </a:solidFill>
                          <a:latin typeface="Calibri"/>
                        </a:rPr>
                        <a:t>seu regulamento no</a:t>
                      </a:r>
                    </a:p>
                    <a:p>
                      <a:pPr algn="l">
                        <a:lnSpc>
                          <a:spcPct val="100000"/>
                        </a:lnSpc>
                        <a:spcBef>
                          <a:spcPts val="0"/>
                        </a:spcBef>
                        <a:spcAft>
                          <a:spcPts val="0"/>
                        </a:spcAft>
                      </a:pPr>
                      <a:r>
                        <a:rPr sz="1300" b="0">
                          <a:solidFill>
                            <a:srgbClr val="1F1F1F"/>
                          </a:solidFill>
                          <a:latin typeface="Calibri"/>
                        </a:rPr>
                        <a:t>trimestre em</a:t>
                      </a:r>
                    </a:p>
                    <a:p>
                      <a:pPr algn="l">
                        <a:lnSpc>
                          <a:spcPct val="100000"/>
                        </a:lnSpc>
                        <a:spcBef>
                          <a:spcPts val="0"/>
                        </a:spcBef>
                        <a:spcAft>
                          <a:spcPts val="0"/>
                        </a:spcAft>
                      </a:pPr>
                      <a:r>
                        <a:rPr sz="1300" b="0">
                          <a:solidFill>
                            <a:srgbClr val="1F1F1F"/>
                          </a:solidFill>
                          <a:latin typeface="Calibri"/>
                        </a:rPr>
                        <a:t>referência.</a:t>
                      </a:r>
                    </a:p>
                    <a:p>
                      <a:pPr algn="l">
                        <a:lnSpc>
                          <a:spcPct val="100000"/>
                        </a:lnSpc>
                        <a:spcBef>
                          <a:spcPts val="0"/>
                        </a:spcBef>
                        <a:spcAft>
                          <a:spcPts val="0"/>
                        </a:spcAft>
                      </a:pPr>
                      <a:r>
                        <a:rPr sz="1300" b="0">
                          <a:solidFill>
                            <a:srgbClr val="1F1F1F"/>
                          </a:solidFill>
                          <a:latin typeface="Calibri"/>
                        </a:rPr>
                        <a:t>Declaração do informe</a:t>
                      </a:r>
                    </a:p>
                    <a:p>
                      <a:pPr algn="l">
                        <a:lnSpc>
                          <a:spcPct val="100000"/>
                        </a:lnSpc>
                        <a:spcBef>
                          <a:spcPts val="0"/>
                        </a:spcBef>
                        <a:spcAft>
                          <a:spcPts val="0"/>
                        </a:spcAft>
                      </a:pPr>
                      <a:r>
                        <a:rPr sz="1300" b="0">
                          <a:solidFill>
                            <a:srgbClr val="1F1F1F"/>
                          </a:solidFill>
                          <a:latin typeface="Calibri"/>
                        </a:rPr>
                        <a:t>trimestral</a:t>
                      </a:r>
                    </a:p>
                    <a:p>
                      <a:pPr algn="l">
                        <a:lnSpc>
                          <a:spcPct val="100000"/>
                        </a:lnSpc>
                        <a:spcBef>
                          <a:spcPts val="0"/>
                        </a:spcBef>
                        <a:spcAft>
                          <a:spcPts val="0"/>
                        </a:spcAft>
                      </a:pPr>
                      <a:r>
                        <a:rPr sz="1300" b="0">
                          <a:solidFill>
                            <a:srgbClr val="1F1F1F"/>
                          </a:solidFill>
                          <a:latin typeface="Calibri"/>
                        </a:rPr>
                        <a:t>2026-Q2 · Resposta</a:t>
                      </a:r>
                    </a:p>
                    <a:p>
                      <a:pPr algn="l">
                        <a:lnSpc>
                          <a:spcPct val="100000"/>
                        </a:lnSpc>
                        <a:spcBef>
                          <a:spcPts val="0"/>
                        </a:spcBef>
                        <a:spcAft>
                          <a:spcPts val="0"/>
                        </a:spcAft>
                      </a:pPr>
                      <a:r>
                        <a:rPr sz="1300" b="0">
                          <a:solidFill>
                            <a:srgbClr val="1F1F1F"/>
                          </a:solidFill>
                          <a:latin typeface="Calibri"/>
                        </a:rPr>
                        <a:t>declarada no informe; a</a:t>
                      </a:r>
                    </a:p>
                    <a:p>
                      <a:pPr algn="l">
                        <a:lnSpc>
                          <a:spcPct val="100000"/>
                        </a:lnSpc>
                        <a:spcBef>
                          <a:spcPts val="0"/>
                        </a:spcBef>
                        <a:spcAft>
                          <a:spcPts val="0"/>
                        </a:spcAft>
                      </a:pPr>
                      <a:r>
                        <a:rPr sz="1300" b="0">
                          <a:solidFill>
                            <a:srgbClr val="1F1F1F"/>
                          </a:solidFill>
                          <a:latin typeface="Calibri"/>
                        </a:rPr>
                        <a:t>cláusula permanece no</a:t>
                      </a:r>
                    </a:p>
                    <a:p>
                      <a:pPr algn="l">
                        <a:lnSpc>
                          <a:spcPct val="100000"/>
                        </a:lnSpc>
                        <a:spcBef>
                          <a:spcPts val="0"/>
                        </a:spcBef>
                        <a:spcAft>
                          <a:spcPts val="0"/>
                        </a:spcAft>
                      </a:pPr>
                      <a:r>
                        <a:rPr sz="1300" b="0">
                          <a:solidFill>
                            <a:srgbClr val="1F1F1F"/>
                          </a:solidFill>
                          <a:latin typeface="Calibri"/>
                        </a:rPr>
                        <a:t>documento normativo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Declaração trimestral</a:t>
                      </a:r>
                    </a:p>
                    <a:p>
                      <a:pPr algn="l">
                        <a:lnSpc>
                          <a:spcPct val="100000"/>
                        </a:lnSpc>
                        <a:spcBef>
                          <a:spcPts val="0"/>
                        </a:spcBef>
                        <a:spcAft>
                          <a:spcPts val="0"/>
                        </a:spcAft>
                      </a:pPr>
                      <a:r>
                        <a:rPr sz="1300" b="0">
                          <a:solidFill>
                            <a:srgbClr val="1F1F1F"/>
                          </a:solidFill>
                          <a:latin typeface="Calibri"/>
                        </a:rPr>
                        <a:t>não extraída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Declaração trimestral</a:t>
                      </a:r>
                    </a:p>
                    <a:p>
                      <a:pPr algn="l">
                        <a:lnSpc>
                          <a:spcPct val="100000"/>
                        </a:lnSpc>
                        <a:spcBef>
                          <a:spcPts val="0"/>
                        </a:spcBef>
                        <a:spcAft>
                          <a:spcPts val="0"/>
                        </a:spcAft>
                      </a:pPr>
                      <a:r>
                        <a:rPr sz="1300" b="0">
                          <a:solidFill>
                            <a:srgbClr val="1F1F1F"/>
                          </a:solidFill>
                          <a:latin typeface="Calibri"/>
                        </a:rPr>
                        <a:t>não extraída</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122/160</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Declarações trimestrais</a:t>
            </a:r>
          </a:p>
        </p:txBody>
      </p:sp>
      <p:graphicFrame>
        <p:nvGraphicFramePr>
          <p:cNvPr id="3" name="Table 2"/>
          <p:cNvGraphicFramePr>
            <a:graphicFrameLocks noGrp="1"/>
          </p:cNvGraphicFramePr>
          <p:nvPr/>
        </p:nvGraphicFramePr>
        <p:xfrm>
          <a:off x="438912" y="932688"/>
          <a:ext cx="11313868" cy="5253228"/>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4782312">
                <a:tc>
                  <a:txBody>
                    <a:bodyPr wrap="square">
                      <a:noAutofit/>
                    </a:bodyPr>
                    <a:lstStyle/>
                    <a:p>
                      <a:pPr algn="l">
                        <a:lnSpc>
                          <a:spcPct val="100000"/>
                        </a:lnSpc>
                        <a:spcBef>
                          <a:spcPts val="0"/>
                        </a:spcBef>
                        <a:spcAft>
                          <a:spcPts val="0"/>
                        </a:spcAft>
                      </a:pPr>
                      <a:r>
                        <a:rPr sz="1300" b="1">
                          <a:solidFill>
                            <a:srgbClr val="1F1F1F"/>
                          </a:solidFill>
                          <a:latin typeface="Calibri"/>
                        </a:rPr>
                        <a:t>Critérios de concessão</a:t>
                      </a:r>
                    </a:p>
                    <a:p>
                      <a:pPr algn="l">
                        <a:lnSpc>
                          <a:spcPct val="100000"/>
                        </a:lnSpc>
                        <a:spcBef>
                          <a:spcPts val="0"/>
                        </a:spcBef>
                        <a:spcAft>
                          <a:spcPts val="0"/>
                        </a:spcAft>
                      </a:pPr>
                      <a:r>
                        <a:rPr sz="1300" b="1">
                          <a:solidFill>
                            <a:srgbClr val="1F1F1F"/>
                          </a:solidFill>
                          <a:latin typeface="Calibri"/>
                        </a:rPr>
                        <a:t>dos originadores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Os critérios para a</a:t>
                      </a:r>
                    </a:p>
                    <a:p>
                      <a:pPr algn="l">
                        <a:lnSpc>
                          <a:spcPct val="100000"/>
                        </a:lnSpc>
                        <a:spcBef>
                          <a:spcPts val="0"/>
                        </a:spcBef>
                        <a:spcAft>
                          <a:spcPts val="0"/>
                        </a:spcAft>
                      </a:pPr>
                      <a:r>
                        <a:rPr sz="1300" b="0">
                          <a:solidFill>
                            <a:srgbClr val="1F1F1F"/>
                          </a:solidFill>
                          <a:latin typeface="Calibri"/>
                        </a:rPr>
                        <a:t>concessão de crédito</a:t>
                      </a:r>
                    </a:p>
                    <a:p>
                      <a:pPr algn="l">
                        <a:lnSpc>
                          <a:spcPct val="100000"/>
                        </a:lnSpc>
                        <a:spcBef>
                          <a:spcPts val="0"/>
                        </a:spcBef>
                        <a:spcAft>
                          <a:spcPts val="0"/>
                        </a:spcAft>
                      </a:pPr>
                      <a:r>
                        <a:rPr sz="1300" b="0">
                          <a:solidFill>
                            <a:srgbClr val="1F1F1F"/>
                          </a:solidFill>
                          <a:latin typeface="Calibri"/>
                        </a:rPr>
                        <a:t>adotados pelos</a:t>
                      </a:r>
                    </a:p>
                    <a:p>
                      <a:pPr algn="l">
                        <a:lnSpc>
                          <a:spcPct val="100000"/>
                        </a:lnSpc>
                        <a:spcBef>
                          <a:spcPts val="0"/>
                        </a:spcBef>
                        <a:spcAft>
                          <a:spcPts val="0"/>
                        </a:spcAft>
                      </a:pPr>
                      <a:r>
                        <a:rPr sz="1300" b="0">
                          <a:solidFill>
                            <a:srgbClr val="1F1F1F"/>
                          </a:solidFill>
                          <a:latin typeface="Calibri"/>
                        </a:rPr>
                        <a:t>originadores do fundo</a:t>
                      </a:r>
                    </a:p>
                    <a:p>
                      <a:pPr algn="l">
                        <a:lnSpc>
                          <a:spcPct val="100000"/>
                        </a:lnSpc>
                        <a:spcBef>
                          <a:spcPts val="0"/>
                        </a:spcBef>
                        <a:spcAft>
                          <a:spcPts val="0"/>
                        </a:spcAft>
                      </a:pPr>
                      <a:r>
                        <a:rPr sz="1300" b="0">
                          <a:solidFill>
                            <a:srgbClr val="1F1F1F"/>
                          </a:solidFill>
                          <a:latin typeface="Calibri"/>
                        </a:rPr>
                        <a:t>não foram alterados no</a:t>
                      </a:r>
                    </a:p>
                    <a:p>
                      <a:pPr algn="l">
                        <a:lnSpc>
                          <a:spcPct val="100000"/>
                        </a:lnSpc>
                        <a:spcBef>
                          <a:spcPts val="0"/>
                        </a:spcBef>
                        <a:spcAft>
                          <a:spcPts val="0"/>
                        </a:spcAft>
                      </a:pPr>
                      <a:r>
                        <a:rPr sz="1300" b="0">
                          <a:solidFill>
                            <a:srgbClr val="1F1F1F"/>
                          </a:solidFill>
                          <a:latin typeface="Calibri"/>
                        </a:rPr>
                        <a:t>último trimestre,</a:t>
                      </a:r>
                    </a:p>
                    <a:p>
                      <a:pPr algn="l">
                        <a:lnSpc>
                          <a:spcPct val="100000"/>
                        </a:lnSpc>
                        <a:spcBef>
                          <a:spcPts val="0"/>
                        </a:spcBef>
                        <a:spcAft>
                          <a:spcPts val="0"/>
                        </a:spcAft>
                      </a:pPr>
                      <a:r>
                        <a:rPr sz="1300" b="0">
                          <a:solidFill>
                            <a:srgbClr val="1F1F1F"/>
                          </a:solidFill>
                          <a:latin typeface="Calibri"/>
                        </a:rPr>
                        <a:t>conforme descrito em</a:t>
                      </a:r>
                    </a:p>
                    <a:p>
                      <a:pPr algn="l">
                        <a:lnSpc>
                          <a:spcPct val="100000"/>
                        </a:lnSpc>
                        <a:spcBef>
                          <a:spcPts val="0"/>
                        </a:spcBef>
                        <a:spcAft>
                          <a:spcPts val="0"/>
                        </a:spcAft>
                      </a:pPr>
                      <a:r>
                        <a:rPr sz="1300" b="0">
                          <a:solidFill>
                            <a:srgbClr val="1F1F1F"/>
                          </a:solidFill>
                          <a:latin typeface="Calibri"/>
                        </a:rPr>
                        <a:t>seu regulamento.</a:t>
                      </a:r>
                    </a:p>
                    <a:p>
                      <a:pPr algn="l">
                        <a:lnSpc>
                          <a:spcPct val="100000"/>
                        </a:lnSpc>
                        <a:spcBef>
                          <a:spcPts val="0"/>
                        </a:spcBef>
                        <a:spcAft>
                          <a:spcPts val="0"/>
                        </a:spcAft>
                      </a:pPr>
                      <a:r>
                        <a:rPr sz="1300" b="0">
                          <a:solidFill>
                            <a:srgbClr val="1F1F1F"/>
                          </a:solidFill>
                          <a:latin typeface="Calibri"/>
                        </a:rPr>
                        <a:t>Declaração do informe</a:t>
                      </a:r>
                    </a:p>
                    <a:p>
                      <a:pPr algn="l">
                        <a:lnSpc>
                          <a:spcPct val="100000"/>
                        </a:lnSpc>
                        <a:spcBef>
                          <a:spcPts val="0"/>
                        </a:spcBef>
                        <a:spcAft>
                          <a:spcPts val="0"/>
                        </a:spcAft>
                      </a:pPr>
                      <a:r>
                        <a:rPr sz="1300" b="0">
                          <a:solidFill>
                            <a:srgbClr val="1F1F1F"/>
                          </a:solidFill>
                          <a:latin typeface="Calibri"/>
                        </a:rPr>
                        <a:t>trimestral</a:t>
                      </a:r>
                    </a:p>
                    <a:p>
                      <a:pPr algn="l">
                        <a:lnSpc>
                          <a:spcPct val="100000"/>
                        </a:lnSpc>
                        <a:spcBef>
                          <a:spcPts val="0"/>
                        </a:spcBef>
                        <a:spcAft>
                          <a:spcPts val="0"/>
                        </a:spcAft>
                      </a:pPr>
                      <a:r>
                        <a:rPr sz="1300" b="0">
                          <a:solidFill>
                            <a:srgbClr val="1F1F1F"/>
                          </a:solidFill>
                          <a:latin typeface="Calibri"/>
                        </a:rPr>
                        <a:t>2026-Q2 · Resposta</a:t>
                      </a:r>
                    </a:p>
                    <a:p>
                      <a:pPr algn="l">
                        <a:lnSpc>
                          <a:spcPct val="100000"/>
                        </a:lnSpc>
                        <a:spcBef>
                          <a:spcPts val="0"/>
                        </a:spcBef>
                        <a:spcAft>
                          <a:spcPts val="0"/>
                        </a:spcAft>
                      </a:pPr>
                      <a:r>
                        <a:rPr sz="1300" b="0">
                          <a:solidFill>
                            <a:srgbClr val="1F1F1F"/>
                          </a:solidFill>
                          <a:latin typeface="Calibri"/>
                        </a:rPr>
                        <a:t>declarada no informe; a</a:t>
                      </a:r>
                    </a:p>
                    <a:p>
                      <a:pPr algn="l">
                        <a:lnSpc>
                          <a:spcPct val="100000"/>
                        </a:lnSpc>
                        <a:spcBef>
                          <a:spcPts val="0"/>
                        </a:spcBef>
                        <a:spcAft>
                          <a:spcPts val="0"/>
                        </a:spcAft>
                      </a:pPr>
                      <a:r>
                        <a:rPr sz="1300" b="0">
                          <a:solidFill>
                            <a:srgbClr val="1F1F1F"/>
                          </a:solidFill>
                          <a:latin typeface="Calibri"/>
                        </a:rPr>
                        <a:t>cláusula permanece no</a:t>
                      </a:r>
                    </a:p>
                    <a:p>
                      <a:pPr algn="l">
                        <a:lnSpc>
                          <a:spcPct val="100000"/>
                        </a:lnSpc>
                        <a:spcBef>
                          <a:spcPts val="0"/>
                        </a:spcBef>
                        <a:spcAft>
                          <a:spcPts val="0"/>
                        </a:spcAft>
                      </a:pPr>
                      <a:r>
                        <a:rPr sz="1300" b="0">
                          <a:solidFill>
                            <a:srgbClr val="1F1F1F"/>
                          </a:solidFill>
                          <a:latin typeface="Calibri"/>
                        </a:rPr>
                        <a:t>documento normativo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Os critérios para a</a:t>
                      </a:r>
                    </a:p>
                    <a:p>
                      <a:pPr algn="l">
                        <a:lnSpc>
                          <a:spcPct val="100000"/>
                        </a:lnSpc>
                        <a:spcBef>
                          <a:spcPts val="0"/>
                        </a:spcBef>
                        <a:spcAft>
                          <a:spcPts val="0"/>
                        </a:spcAft>
                      </a:pPr>
                      <a:r>
                        <a:rPr sz="1300" b="0">
                          <a:solidFill>
                            <a:srgbClr val="1F1F1F"/>
                          </a:solidFill>
                          <a:latin typeface="Calibri"/>
                        </a:rPr>
                        <a:t>concessão de crédito</a:t>
                      </a:r>
                    </a:p>
                    <a:p>
                      <a:pPr algn="l">
                        <a:lnSpc>
                          <a:spcPct val="100000"/>
                        </a:lnSpc>
                        <a:spcBef>
                          <a:spcPts val="0"/>
                        </a:spcBef>
                        <a:spcAft>
                          <a:spcPts val="0"/>
                        </a:spcAft>
                      </a:pPr>
                      <a:r>
                        <a:rPr sz="1300" b="0">
                          <a:solidFill>
                            <a:srgbClr val="1F1F1F"/>
                          </a:solidFill>
                          <a:latin typeface="Calibri"/>
                        </a:rPr>
                        <a:t>adotados pelos</a:t>
                      </a:r>
                    </a:p>
                    <a:p>
                      <a:pPr algn="l">
                        <a:lnSpc>
                          <a:spcPct val="100000"/>
                        </a:lnSpc>
                        <a:spcBef>
                          <a:spcPts val="0"/>
                        </a:spcBef>
                        <a:spcAft>
                          <a:spcPts val="0"/>
                        </a:spcAft>
                      </a:pPr>
                      <a:r>
                        <a:rPr sz="1300" b="0">
                          <a:solidFill>
                            <a:srgbClr val="1F1F1F"/>
                          </a:solidFill>
                          <a:latin typeface="Calibri"/>
                        </a:rPr>
                        <a:t>originadores do fundo</a:t>
                      </a:r>
                    </a:p>
                    <a:p>
                      <a:pPr algn="l">
                        <a:lnSpc>
                          <a:spcPct val="100000"/>
                        </a:lnSpc>
                        <a:spcBef>
                          <a:spcPts val="0"/>
                        </a:spcBef>
                        <a:spcAft>
                          <a:spcPts val="0"/>
                        </a:spcAft>
                      </a:pPr>
                      <a:r>
                        <a:rPr sz="1300" b="0">
                          <a:solidFill>
                            <a:srgbClr val="1F1F1F"/>
                          </a:solidFill>
                          <a:latin typeface="Calibri"/>
                        </a:rPr>
                        <a:t>foram alterados no</a:t>
                      </a:r>
                    </a:p>
                    <a:p>
                      <a:pPr algn="l">
                        <a:lnSpc>
                          <a:spcPct val="100000"/>
                        </a:lnSpc>
                        <a:spcBef>
                          <a:spcPts val="0"/>
                        </a:spcBef>
                        <a:spcAft>
                          <a:spcPts val="0"/>
                        </a:spcAft>
                      </a:pPr>
                      <a:r>
                        <a:rPr sz="1300" b="0">
                          <a:solidFill>
                            <a:srgbClr val="1F1F1F"/>
                          </a:solidFill>
                          <a:latin typeface="Calibri"/>
                        </a:rPr>
                        <a:t>último trimestre,</a:t>
                      </a:r>
                    </a:p>
                    <a:p>
                      <a:pPr algn="l">
                        <a:lnSpc>
                          <a:spcPct val="100000"/>
                        </a:lnSpc>
                        <a:spcBef>
                          <a:spcPts val="0"/>
                        </a:spcBef>
                        <a:spcAft>
                          <a:spcPts val="0"/>
                        </a:spcAft>
                      </a:pPr>
                      <a:r>
                        <a:rPr sz="1300" b="0">
                          <a:solidFill>
                            <a:srgbClr val="1F1F1F"/>
                          </a:solidFill>
                          <a:latin typeface="Calibri"/>
                        </a:rPr>
                        <a:t>conforme descrito em</a:t>
                      </a:r>
                    </a:p>
                    <a:p>
                      <a:pPr algn="l">
                        <a:lnSpc>
                          <a:spcPct val="100000"/>
                        </a:lnSpc>
                        <a:spcBef>
                          <a:spcPts val="0"/>
                        </a:spcBef>
                        <a:spcAft>
                          <a:spcPts val="0"/>
                        </a:spcAft>
                      </a:pPr>
                      <a:r>
                        <a:rPr sz="1300" b="0">
                          <a:solidFill>
                            <a:srgbClr val="1F1F1F"/>
                          </a:solidFill>
                          <a:latin typeface="Calibri"/>
                        </a:rPr>
                        <a:t>seu regulamento.</a:t>
                      </a:r>
                    </a:p>
                    <a:p>
                      <a:pPr algn="l">
                        <a:lnSpc>
                          <a:spcPct val="100000"/>
                        </a:lnSpc>
                        <a:spcBef>
                          <a:spcPts val="0"/>
                        </a:spcBef>
                        <a:spcAft>
                          <a:spcPts val="0"/>
                        </a:spcAft>
                      </a:pPr>
                      <a:r>
                        <a:rPr sz="1300" b="0">
                          <a:solidFill>
                            <a:srgbClr val="1F1F1F"/>
                          </a:solidFill>
                          <a:latin typeface="Calibri"/>
                        </a:rPr>
                        <a:t>Declaração do informe</a:t>
                      </a:r>
                    </a:p>
                    <a:p>
                      <a:pPr algn="l">
                        <a:lnSpc>
                          <a:spcPct val="100000"/>
                        </a:lnSpc>
                        <a:spcBef>
                          <a:spcPts val="0"/>
                        </a:spcBef>
                        <a:spcAft>
                          <a:spcPts val="0"/>
                        </a:spcAft>
                      </a:pPr>
                      <a:r>
                        <a:rPr sz="1300" b="0">
                          <a:solidFill>
                            <a:srgbClr val="1F1F1F"/>
                          </a:solidFill>
                          <a:latin typeface="Calibri"/>
                        </a:rPr>
                        <a:t>trimestral</a:t>
                      </a:r>
                    </a:p>
                    <a:p>
                      <a:pPr algn="l">
                        <a:lnSpc>
                          <a:spcPct val="100000"/>
                        </a:lnSpc>
                        <a:spcBef>
                          <a:spcPts val="0"/>
                        </a:spcBef>
                        <a:spcAft>
                          <a:spcPts val="0"/>
                        </a:spcAft>
                      </a:pPr>
                      <a:r>
                        <a:rPr sz="1300" b="0">
                          <a:solidFill>
                            <a:srgbClr val="1F1F1F"/>
                          </a:solidFill>
                          <a:latin typeface="Calibri"/>
                        </a:rPr>
                        <a:t>2026-Q2 · Resposta</a:t>
                      </a:r>
                    </a:p>
                    <a:p>
                      <a:pPr algn="l">
                        <a:lnSpc>
                          <a:spcPct val="100000"/>
                        </a:lnSpc>
                        <a:spcBef>
                          <a:spcPts val="0"/>
                        </a:spcBef>
                        <a:spcAft>
                          <a:spcPts val="0"/>
                        </a:spcAft>
                      </a:pPr>
                      <a:r>
                        <a:rPr sz="1300" b="0">
                          <a:solidFill>
                            <a:srgbClr val="1F1F1F"/>
                          </a:solidFill>
                          <a:latin typeface="Calibri"/>
                        </a:rPr>
                        <a:t>declarada no informe; a</a:t>
                      </a:r>
                    </a:p>
                    <a:p>
                      <a:pPr algn="l">
                        <a:lnSpc>
                          <a:spcPct val="100000"/>
                        </a:lnSpc>
                        <a:spcBef>
                          <a:spcPts val="0"/>
                        </a:spcBef>
                        <a:spcAft>
                          <a:spcPts val="0"/>
                        </a:spcAft>
                      </a:pPr>
                      <a:r>
                        <a:rPr sz="1300" b="0">
                          <a:solidFill>
                            <a:srgbClr val="1F1F1F"/>
                          </a:solidFill>
                          <a:latin typeface="Calibri"/>
                        </a:rPr>
                        <a:t>cláusula permanece no</a:t>
                      </a:r>
                    </a:p>
                    <a:p>
                      <a:pPr algn="l">
                        <a:lnSpc>
                          <a:spcPct val="100000"/>
                        </a:lnSpc>
                        <a:spcBef>
                          <a:spcPts val="0"/>
                        </a:spcBef>
                        <a:spcAft>
                          <a:spcPts val="0"/>
                        </a:spcAft>
                      </a:pPr>
                      <a:r>
                        <a:rPr sz="1300" b="0">
                          <a:solidFill>
                            <a:srgbClr val="1F1F1F"/>
                          </a:solidFill>
                          <a:latin typeface="Calibri"/>
                        </a:rPr>
                        <a:t>documento normativo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Declaração trimestral</a:t>
                      </a:r>
                    </a:p>
                    <a:p>
                      <a:pPr algn="l">
                        <a:lnSpc>
                          <a:spcPct val="100000"/>
                        </a:lnSpc>
                        <a:spcBef>
                          <a:spcPts val="0"/>
                        </a:spcBef>
                        <a:spcAft>
                          <a:spcPts val="0"/>
                        </a:spcAft>
                      </a:pPr>
                      <a:r>
                        <a:rPr sz="1300" b="0">
                          <a:solidFill>
                            <a:srgbClr val="1F1F1F"/>
                          </a:solidFill>
                          <a:latin typeface="Calibri"/>
                        </a:rPr>
                        <a:t>não extraída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Eventuaisalteraçõesnosc</a:t>
                      </a:r>
                    </a:p>
                    <a:p>
                      <a:pPr algn="l">
                        <a:lnSpc>
                          <a:spcPct val="100000"/>
                        </a:lnSpc>
                        <a:spcBef>
                          <a:spcPts val="0"/>
                        </a:spcBef>
                        <a:spcAft>
                          <a:spcPts val="0"/>
                        </a:spcAft>
                      </a:pPr>
                      <a:r>
                        <a:rPr sz="1300" b="0">
                          <a:solidFill>
                            <a:srgbClr val="1F1F1F"/>
                          </a:solidFill>
                          <a:latin typeface="Calibri"/>
                        </a:rPr>
                        <a:t>ritériosparaaconcessãod</a:t>
                      </a:r>
                    </a:p>
                    <a:p>
                      <a:pPr algn="l">
                        <a:lnSpc>
                          <a:spcPct val="100000"/>
                        </a:lnSpc>
                        <a:spcBef>
                          <a:spcPts val="0"/>
                        </a:spcBef>
                        <a:spcAft>
                          <a:spcPts val="0"/>
                        </a:spcAft>
                      </a:pPr>
                      <a:r>
                        <a:rPr sz="1300" b="0">
                          <a:solidFill>
                            <a:srgbClr val="1F1F1F"/>
                          </a:solidFill>
                          <a:latin typeface="Calibri"/>
                        </a:rPr>
                        <a:t>ecréditoadotadosportais</a:t>
                      </a:r>
                    </a:p>
                    <a:p>
                      <a:pPr algn="l">
                        <a:lnSpc>
                          <a:spcPct val="100000"/>
                        </a:lnSpc>
                        <a:spcBef>
                          <a:spcPts val="0"/>
                        </a:spcBef>
                        <a:spcAft>
                          <a:spcPts val="0"/>
                        </a:spcAft>
                      </a:pPr>
                      <a:r>
                        <a:rPr sz="1300" b="0">
                          <a:solidFill>
                            <a:srgbClr val="1F1F1F"/>
                          </a:solidFill>
                          <a:latin typeface="Calibri"/>
                        </a:rPr>
                        <a:t>originadores,casooscrit</a:t>
                      </a:r>
                    </a:p>
                    <a:p>
                      <a:pPr algn="l">
                        <a:lnSpc>
                          <a:spcPct val="100000"/>
                        </a:lnSpc>
                        <a:spcBef>
                          <a:spcPts val="0"/>
                        </a:spcBef>
                        <a:spcAft>
                          <a:spcPts val="0"/>
                        </a:spcAft>
                      </a:pPr>
                      <a:r>
                        <a:rPr sz="1300" b="0">
                          <a:solidFill>
                            <a:srgbClr val="1F1F1F"/>
                          </a:solidFill>
                          <a:latin typeface="Calibri"/>
                        </a:rPr>
                        <a:t>ériosadotadosjátenh ams</a:t>
                      </a:r>
                    </a:p>
                    <a:p>
                      <a:pPr algn="l">
                        <a:lnSpc>
                          <a:spcPct val="100000"/>
                        </a:lnSpc>
                        <a:spcBef>
                          <a:spcPts val="0"/>
                        </a:spcBef>
                        <a:spcAft>
                          <a:spcPts val="0"/>
                        </a:spcAft>
                      </a:pPr>
                      <a:r>
                        <a:rPr sz="1300" b="0">
                          <a:solidFill>
                            <a:srgbClr val="1F1F1F"/>
                          </a:solidFill>
                          <a:latin typeface="Calibri"/>
                        </a:rPr>
                        <a:t>idodescritosnoregulamen</a:t>
                      </a:r>
                    </a:p>
                    <a:p>
                      <a:pPr algn="l">
                        <a:lnSpc>
                          <a:spcPct val="100000"/>
                        </a:lnSpc>
                        <a:spcBef>
                          <a:spcPts val="0"/>
                        </a:spcBef>
                        <a:spcAft>
                          <a:spcPts val="0"/>
                        </a:spcAft>
                      </a:pPr>
                      <a:r>
                        <a:rPr sz="1300" b="0">
                          <a:solidFill>
                            <a:srgbClr val="1F1F1F"/>
                          </a:solidFill>
                          <a:latin typeface="Calibri"/>
                        </a:rPr>
                        <a:t>toouemoutrosdemonstrati</a:t>
                      </a:r>
                    </a:p>
                    <a:p>
                      <a:pPr algn="l">
                        <a:lnSpc>
                          <a:spcPct val="100000"/>
                        </a:lnSpc>
                        <a:spcBef>
                          <a:spcPts val="0"/>
                        </a:spcBef>
                        <a:spcAft>
                          <a:spcPts val="0"/>
                        </a:spcAft>
                      </a:pPr>
                      <a:r>
                        <a:rPr sz="1300" b="0">
                          <a:solidFill>
                            <a:srgbClr val="1F1F1F"/>
                          </a:solidFill>
                          <a:latin typeface="Calibri"/>
                        </a:rPr>
                        <a:t>vostrimestrais;Resposta</a:t>
                      </a:r>
                    </a:p>
                    <a:p>
                      <a:pPr algn="l">
                        <a:lnSpc>
                          <a:spcPct val="100000"/>
                        </a:lnSpc>
                        <a:spcBef>
                          <a:spcPts val="0"/>
                        </a:spcBef>
                        <a:spcAft>
                          <a:spcPts val="0"/>
                        </a:spcAft>
                      </a:pPr>
                      <a:r>
                        <a:rPr sz="1300" b="0">
                          <a:solidFill>
                            <a:srgbClr val="1F1F1F"/>
                          </a:solidFill>
                          <a:latin typeface="Calibri"/>
                        </a:rPr>
                        <a:t>:Nãoocorreramalterações</a:t>
                      </a:r>
                    </a:p>
                    <a:p>
                      <a:pPr algn="l">
                        <a:lnSpc>
                          <a:spcPct val="100000"/>
                        </a:lnSpc>
                        <a:spcBef>
                          <a:spcPts val="0"/>
                        </a:spcBef>
                        <a:spcAft>
                          <a:spcPts val="0"/>
                        </a:spcAft>
                      </a:pPr>
                      <a:r>
                        <a:rPr sz="1300" b="0">
                          <a:solidFill>
                            <a:srgbClr val="1F1F1F"/>
                          </a:solidFill>
                          <a:latin typeface="Calibri"/>
                        </a:rPr>
                        <a:t>relevant esnoscritérios</a:t>
                      </a:r>
                    </a:p>
                    <a:p>
                      <a:pPr algn="l">
                        <a:lnSpc>
                          <a:spcPct val="100000"/>
                        </a:lnSpc>
                        <a:spcBef>
                          <a:spcPts val="0"/>
                        </a:spcBef>
                        <a:spcAft>
                          <a:spcPts val="0"/>
                        </a:spcAft>
                      </a:pPr>
                      <a:r>
                        <a:rPr sz="1300" b="0">
                          <a:solidFill>
                            <a:srgbClr val="1F1F1F"/>
                          </a:solidFill>
                          <a:latin typeface="Calibri"/>
                        </a:rPr>
                        <a:t>paraaconcessãodecrédito</a:t>
                      </a:r>
                    </a:p>
                    <a:p>
                      <a:pPr algn="l">
                        <a:lnSpc>
                          <a:spcPct val="100000"/>
                        </a:lnSpc>
                        <a:spcBef>
                          <a:spcPts val="0"/>
                        </a:spcBef>
                        <a:spcAft>
                          <a:spcPts val="0"/>
                        </a:spcAft>
                      </a:pPr>
                      <a:r>
                        <a:rPr sz="1300" b="0">
                          <a:solidFill>
                            <a:srgbClr val="1F1F1F"/>
                          </a:solidFill>
                          <a:latin typeface="Calibri"/>
                        </a:rPr>
                        <a:t>. Eventuaisalteraçõesna</a:t>
                      </a:r>
                    </a:p>
                    <a:p>
                      <a:pPr algn="l">
                        <a:lnSpc>
                          <a:spcPct val="100000"/>
                        </a:lnSpc>
                        <a:spcBef>
                          <a:spcPts val="0"/>
                        </a:spcBef>
                        <a:spcAft>
                          <a:spcPts val="0"/>
                        </a:spcAft>
                      </a:pPr>
                      <a:r>
                        <a:rPr sz="1300" b="0">
                          <a:solidFill>
                            <a:srgbClr val="1F1F1F"/>
                          </a:solidFill>
                          <a:latin typeface="Calibri"/>
                        </a:rPr>
                        <a:t>sgarantiasexistentespar</a:t>
                      </a:r>
                    </a:p>
                    <a:p>
                      <a:pPr algn="l">
                        <a:lnSpc>
                          <a:spcPct val="100000"/>
                        </a:lnSpc>
                        <a:spcBef>
                          <a:spcPts val="0"/>
                        </a:spcBef>
                        <a:spcAft>
                          <a:spcPts val="0"/>
                        </a:spcAft>
                      </a:pPr>
                      <a:r>
                        <a:rPr sz="1300" b="0">
                          <a:solidFill>
                            <a:srgbClr val="1F1F1F"/>
                          </a:solidFill>
                          <a:latin typeface="Calibri"/>
                        </a:rPr>
                        <a:t>aoconjuntodedireitoscre</a:t>
                      </a:r>
                    </a:p>
                    <a:p>
                      <a:pPr algn="l">
                        <a:lnSpc>
                          <a:spcPct val="100000"/>
                        </a:lnSpc>
                        <a:spcBef>
                          <a:spcPts val="0"/>
                        </a:spcBef>
                        <a:spcAft>
                          <a:spcPts val="0"/>
                        </a:spcAft>
                      </a:pPr>
                      <a:r>
                        <a:rPr sz="1300" b="0">
                          <a:solidFill>
                            <a:srgbClr val="1F1F1F"/>
                          </a:solidFill>
                          <a:latin typeface="Calibri"/>
                        </a:rPr>
                        <a:t>ditórios; Resposta:Nãoo</a:t>
                      </a:r>
                    </a:p>
                    <a:p>
                      <a:pPr algn="l">
                        <a:lnSpc>
                          <a:spcPct val="100000"/>
                        </a:lnSpc>
                        <a:spcBef>
                          <a:spcPts val="0"/>
                        </a:spcBef>
                        <a:spcAft>
                          <a:spcPts val="0"/>
                        </a:spcAft>
                      </a:pPr>
                      <a:r>
                        <a:rPr sz="1300" b="0">
                          <a:solidFill>
                            <a:srgbClr val="1F1F1F"/>
                          </a:solidFill>
                          <a:latin typeface="Calibri"/>
                        </a:rPr>
                        <a:t>correramalteraçõesrelev</a:t>
                      </a:r>
                    </a:p>
                    <a:p>
                      <a:pPr algn="l">
                        <a:lnSpc>
                          <a:spcPct val="100000"/>
                        </a:lnSpc>
                        <a:spcBef>
                          <a:spcPts val="0"/>
                        </a:spcBef>
                        <a:spcAft>
                          <a:spcPts val="0"/>
                        </a:spcAft>
                      </a:pPr>
                      <a:r>
                        <a:rPr sz="1300" b="0">
                          <a:solidFill>
                            <a:srgbClr val="1F1F1F"/>
                          </a:solidFill>
                          <a:latin typeface="Calibri"/>
                        </a:rPr>
                        <a:t>antesnas garantiasexist</a:t>
                      </a:r>
                    </a:p>
                    <a:p>
                      <a:pPr algn="l">
                        <a:lnSpc>
                          <a:spcPct val="100000"/>
                        </a:lnSpc>
                        <a:spcBef>
                          <a:spcPts val="0"/>
                        </a:spcBef>
                        <a:spcAft>
                          <a:spcPts val="0"/>
                        </a:spcAft>
                      </a:pPr>
                      <a:r>
                        <a:rPr sz="1300" b="0">
                          <a:solidFill>
                            <a:srgbClr val="1F1F1F"/>
                          </a:solidFill>
                          <a:latin typeface="Calibri"/>
                        </a:rPr>
                        <a:t>entesparao</a:t>
                      </a:r>
                    </a:p>
                    <a:p>
                      <a:pPr algn="l">
                        <a:lnSpc>
                          <a:spcPct val="100000"/>
                        </a:lnSpc>
                        <a:spcBef>
                          <a:spcPts val="0"/>
                        </a:spcBef>
                        <a:spcAft>
                          <a:spcPts val="0"/>
                        </a:spcAft>
                      </a:pPr>
                      <a:r>
                        <a:rPr sz="1300" b="0">
                          <a:solidFill>
                            <a:srgbClr val="1F1F1F"/>
                          </a:solidFill>
                          <a:latin typeface="Calibri"/>
                        </a:rPr>
                        <a:t>conjuntodeativos. Forma</a:t>
                      </a:r>
                    </a:p>
                    <a:p>
                      <a:pPr algn="l">
                        <a:lnSpc>
                          <a:spcPct val="100000"/>
                        </a:lnSpc>
                        <a:spcBef>
                          <a:spcPts val="0"/>
                        </a:spcBef>
                        <a:spcAft>
                          <a:spcPts val="0"/>
                        </a:spcAft>
                      </a:pPr>
                      <a:r>
                        <a:rPr sz="1300" b="0">
                          <a:solidFill>
                            <a:srgbClr val="1F1F1F"/>
                          </a:solidFill>
                          <a:latin typeface="Calibri"/>
                        </a:rPr>
                        <a:t>comoseoperouacessãodosd</a:t>
                      </a:r>
                    </a:p>
                    <a:p>
                      <a:pPr algn="l">
                        <a:lnSpc>
                          <a:spcPct val="100000"/>
                        </a:lnSpc>
                        <a:spcBef>
                          <a:spcPts val="0"/>
                        </a:spcBef>
                        <a:spcAft>
                          <a:spcPts val="0"/>
                        </a:spcAft>
                      </a:pPr>
                      <a:r>
                        <a:rPr sz="1300" b="0">
                          <a:solidFill>
                            <a:srgbClr val="1F1F1F"/>
                          </a:solidFill>
                          <a:latin typeface="Calibri"/>
                        </a:rPr>
                        <a:t>ireitoscreditórios,incl</a:t>
                      </a:r>
                    </a:p>
                    <a:p>
                      <a:pPr algn="l">
                        <a:lnSpc>
                          <a:spcPct val="100000"/>
                        </a:lnSpc>
                        <a:spcBef>
                          <a:spcPts val="0"/>
                        </a:spcBef>
                        <a:spcAft>
                          <a:spcPts val="0"/>
                        </a:spcAft>
                      </a:pPr>
                      <a:r>
                        <a:rPr sz="1300" b="0">
                          <a:solidFill>
                            <a:srgbClr val="1F1F1F"/>
                          </a:solidFill>
                          <a:latin typeface="Calibri"/>
                        </a:rPr>
                        <a:t>uindo: a)descriçãodecon</a:t>
                      </a:r>
                    </a:p>
                    <a:p>
                      <a:pPr algn="l">
                        <a:lnSpc>
                          <a:spcPct val="100000"/>
                        </a:lnSpc>
                        <a:spcBef>
                          <a:spcPts val="0"/>
                        </a:spcBef>
                        <a:spcAft>
                          <a:spcPts val="0"/>
                        </a:spcAft>
                      </a:pPr>
                      <a:r>
                        <a:rPr sz="1300" b="0">
                          <a:solidFill>
                            <a:srgbClr val="1F1F1F"/>
                          </a:solidFill>
                          <a:latin typeface="Calibri"/>
                        </a:rPr>
                        <a:t>tratosrelevantesfirmado</a:t>
                      </a:r>
                    </a:p>
                    <a:p>
                      <a:pPr algn="l">
                        <a:lnSpc>
                          <a:spcPct val="100000"/>
                        </a:lnSpc>
                        <a:spcBef>
                          <a:spcPts val="0"/>
                        </a:spcBef>
                        <a:spcAft>
                          <a:spcPts val="0"/>
                        </a:spcAft>
                      </a:pPr>
                      <a:r>
                        <a:rPr sz="1300" b="0">
                          <a:solidFill>
                            <a:srgbClr val="1F1F1F"/>
                          </a:solidFill>
                          <a:latin typeface="Calibri"/>
                        </a:rPr>
                        <a:t>scomessepropósito,sehou</a:t>
                      </a:r>
                    </a:p>
                    <a:p>
                      <a:pPr algn="l">
                        <a:lnSpc>
                          <a:spcPct val="100000"/>
                        </a:lnSpc>
                        <a:spcBef>
                          <a:spcPts val="0"/>
                        </a:spcBef>
                        <a:spcAft>
                          <a:spcPts val="0"/>
                        </a:spcAft>
                      </a:pPr>
                      <a:r>
                        <a:rPr sz="1300" b="0">
                          <a:solidFill>
                            <a:srgbClr val="1F1F1F"/>
                          </a:solidFill>
                          <a:latin typeface="Calibri"/>
                        </a:rPr>
                        <a:t>ver;eb)indicaçãodocarát</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123/160</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Declarações trimestrais</a:t>
            </a:r>
          </a:p>
        </p:txBody>
      </p:sp>
      <p:graphicFrame>
        <p:nvGraphicFramePr>
          <p:cNvPr id="3" name="Table 2"/>
          <p:cNvGraphicFramePr>
            <a:graphicFrameLocks noGrp="1"/>
          </p:cNvGraphicFramePr>
          <p:nvPr/>
        </p:nvGraphicFramePr>
        <p:xfrm>
          <a:off x="438912" y="932688"/>
          <a:ext cx="11313868" cy="5253228"/>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4782312">
                <a:tc>
                  <a:txBody>
                    <a:bodyPr wrap="square">
                      <a:noAutofit/>
                    </a:bodyPr>
                    <a:lstStyle/>
                    <a:p>
                      <a:pPr algn="l">
                        <a:lnSpc>
                          <a:spcPct val="100000"/>
                        </a:lnSpc>
                        <a:spcBef>
                          <a:spcPts val="0"/>
                        </a:spcBef>
                        <a:spcAft>
                          <a:spcPts val="0"/>
                        </a:spcAft>
                      </a:pPr>
                      <a:r>
                        <a:rPr sz="1300" b="1">
                          <a:solidFill>
                            <a:srgbClr val="1F1F1F"/>
                          </a:solidFill>
                          <a:latin typeface="Calibri"/>
                        </a:rPr>
                        <a:t>Critérios de concessão</a:t>
                      </a:r>
                    </a:p>
                    <a:p>
                      <a:pPr algn="l">
                        <a:lnSpc>
                          <a:spcPct val="100000"/>
                        </a:lnSpc>
                        <a:spcBef>
                          <a:spcPts val="0"/>
                        </a:spcBef>
                        <a:spcAft>
                          <a:spcPts val="0"/>
                        </a:spcAft>
                      </a:pPr>
                      <a:r>
                        <a:rPr sz="1300" b="1">
                          <a:solidFill>
                            <a:srgbClr val="1F1F1F"/>
                          </a:solidFill>
                          <a:latin typeface="Calibri"/>
                        </a:rPr>
                        <a:t>dos originadores</a:t>
                      </a:r>
                    </a:p>
                    <a:p>
                      <a:pPr algn="l">
                        <a:lnSpc>
                          <a:spcPct val="100000"/>
                        </a:lnSpc>
                        <a:spcBef>
                          <a:spcPts val="0"/>
                        </a:spcBef>
                        <a:spcAft>
                          <a:spcPts val="0"/>
                        </a:spcAft>
                      </a:pPr>
                      <a:r>
                        <a:rPr sz="1300" b="1">
                          <a:solidFill>
                            <a:srgbClr val="1F1F1F"/>
                          </a:solidFill>
                          <a:latin typeface="Calibri"/>
                        </a:rPr>
                        <a:t>(continuação)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er definitivo, ou não,</a:t>
                      </a:r>
                    </a:p>
                    <a:p>
                      <a:pPr algn="l">
                        <a:lnSpc>
                          <a:spcPct val="100000"/>
                        </a:lnSpc>
                        <a:spcBef>
                          <a:spcPts val="0"/>
                        </a:spcBef>
                        <a:spcAft>
                          <a:spcPts val="0"/>
                        </a:spcAft>
                      </a:pPr>
                      <a:r>
                        <a:rPr sz="1300" b="0">
                          <a:solidFill>
                            <a:srgbClr val="1F1F1F"/>
                          </a:solidFill>
                          <a:latin typeface="Calibri"/>
                        </a:rPr>
                        <a:t>da cessão de direitos</a:t>
                      </a:r>
                    </a:p>
                    <a:p>
                      <a:pPr algn="l">
                        <a:lnSpc>
                          <a:spcPct val="100000"/>
                        </a:lnSpc>
                        <a:spcBef>
                          <a:spcPts val="0"/>
                        </a:spcBef>
                        <a:spcAft>
                          <a:spcPts val="0"/>
                        </a:spcAft>
                      </a:pPr>
                      <a:r>
                        <a:rPr sz="1300" b="0">
                          <a:solidFill>
                            <a:srgbClr val="1F1F1F"/>
                          </a:solidFill>
                          <a:latin typeface="Calibri"/>
                        </a:rPr>
                        <a:t>creditórios; Resposta:A</a:t>
                      </a:r>
                    </a:p>
                    <a:p>
                      <a:pPr algn="l">
                        <a:lnSpc>
                          <a:spcPct val="100000"/>
                        </a:lnSpc>
                        <a:spcBef>
                          <a:spcPts val="0"/>
                        </a:spcBef>
                        <a:spcAft>
                          <a:spcPts val="0"/>
                        </a:spcAft>
                      </a:pPr>
                      <a:r>
                        <a:rPr sz="1300" b="0">
                          <a:solidFill>
                            <a:srgbClr val="1F1F1F"/>
                          </a:solidFill>
                          <a:latin typeface="Calibri"/>
                        </a:rPr>
                        <a:t>scessõesdedireitoscredi</a:t>
                      </a:r>
                    </a:p>
                    <a:p>
                      <a:pPr algn="l">
                        <a:lnSpc>
                          <a:spcPct val="100000"/>
                        </a:lnSpc>
                        <a:spcBef>
                          <a:spcPts val="0"/>
                        </a:spcBef>
                        <a:spcAft>
                          <a:spcPts val="0"/>
                        </a:spcAft>
                      </a:pPr>
                      <a:r>
                        <a:rPr sz="1300" b="0">
                          <a:solidFill>
                            <a:srgbClr val="1F1F1F"/>
                          </a:solidFill>
                          <a:latin typeface="Calibri"/>
                        </a:rPr>
                        <a:t>tóriosocorreramtodasdef</a:t>
                      </a:r>
                    </a:p>
                    <a:p>
                      <a:pPr algn="l">
                        <a:lnSpc>
                          <a:spcPct val="100000"/>
                        </a:lnSpc>
                        <a:spcBef>
                          <a:spcPts val="0"/>
                        </a:spcBef>
                        <a:spcAft>
                          <a:spcPts val="0"/>
                        </a:spcAft>
                      </a:pPr>
                      <a:r>
                        <a:rPr sz="1300" b="0">
                          <a:solidFill>
                            <a:srgbClr val="1F1F1F"/>
                          </a:solidFill>
                          <a:latin typeface="Calibri"/>
                        </a:rPr>
                        <a:t>ormadefinitiva,deacordo</a:t>
                      </a:r>
                    </a:p>
                    <a:p>
                      <a:pPr algn="l">
                        <a:lnSpc>
                          <a:spcPct val="100000"/>
                        </a:lnSpc>
                        <a:spcBef>
                          <a:spcPts val="0"/>
                        </a:spcBef>
                        <a:spcAft>
                          <a:spcPts val="0"/>
                        </a:spcAft>
                      </a:pPr>
                      <a:r>
                        <a:rPr sz="1300" b="0">
                          <a:solidFill>
                            <a:srgbClr val="1F1F1F"/>
                          </a:solidFill>
                          <a:latin typeface="Calibri"/>
                        </a:rPr>
                        <a:t>comodisposto no</a:t>
                      </a:r>
                    </a:p>
                    <a:p>
                      <a:pPr algn="l">
                        <a:lnSpc>
                          <a:spcPct val="100000"/>
                        </a:lnSpc>
                        <a:spcBef>
                          <a:spcPts val="0"/>
                        </a:spcBef>
                        <a:spcAft>
                          <a:spcPts val="0"/>
                        </a:spcAft>
                      </a:pPr>
                      <a:r>
                        <a:rPr sz="1300" b="0">
                          <a:solidFill>
                            <a:srgbClr val="1F1F1F"/>
                          </a:solidFill>
                          <a:latin typeface="Calibri"/>
                        </a:rPr>
                        <a:t>regulamento e/ou nos</a:t>
                      </a:r>
                    </a:p>
                    <a:p>
                      <a:pPr algn="l">
                        <a:lnSpc>
                          <a:spcPct val="100000"/>
                        </a:lnSpc>
                        <a:spcBef>
                          <a:spcPts val="0"/>
                        </a:spcBef>
                        <a:spcAft>
                          <a:spcPts val="0"/>
                        </a:spcAft>
                      </a:pPr>
                      <a:r>
                        <a:rPr sz="1300" b="0">
                          <a:solidFill>
                            <a:srgbClr val="1F1F1F"/>
                          </a:solidFill>
                          <a:latin typeface="Calibri"/>
                        </a:rPr>
                        <a:t>respectivos contratos.</a:t>
                      </a:r>
                    </a:p>
                    <a:p>
                      <a:pPr algn="l">
                        <a:lnSpc>
                          <a:spcPct val="100000"/>
                        </a:lnSpc>
                        <a:spcBef>
                          <a:spcPts val="0"/>
                        </a:spcBef>
                        <a:spcAft>
                          <a:spcPts val="0"/>
                        </a:spcAft>
                      </a:pPr>
                      <a:r>
                        <a:rPr sz="1300" b="0">
                          <a:solidFill>
                            <a:srgbClr val="1F1F1F"/>
                          </a:solidFill>
                          <a:latin typeface="Calibri"/>
                        </a:rPr>
                        <a:t>Nomedofundo:PLGNMARKETF</a:t>
                      </a:r>
                    </a:p>
                    <a:p>
                      <a:pPr algn="l">
                        <a:lnSpc>
                          <a:spcPct val="100000"/>
                        </a:lnSpc>
                        <a:spcBef>
                          <a:spcPts val="0"/>
                        </a:spcBef>
                        <a:spcAft>
                          <a:spcPts val="0"/>
                        </a:spcAft>
                      </a:pPr>
                      <a:r>
                        <a:rPr sz="1300" b="0">
                          <a:solidFill>
                            <a:srgbClr val="1F1F1F"/>
                          </a:solidFill>
                          <a:latin typeface="Calibri"/>
                        </a:rPr>
                        <a:t>CFIDC CNPJ:</a:t>
                      </a:r>
                    </a:p>
                    <a:p>
                      <a:pPr algn="l">
                        <a:lnSpc>
                          <a:spcPct val="100000"/>
                        </a:lnSpc>
                        <a:spcBef>
                          <a:spcPts val="0"/>
                        </a:spcBef>
                        <a:spcAft>
                          <a:spcPts val="0"/>
                        </a:spcAft>
                      </a:pPr>
                      <a:r>
                        <a:rPr sz="1300" b="0">
                          <a:solidFill>
                            <a:srgbClr val="1F1F1F"/>
                          </a:solidFill>
                          <a:latin typeface="Calibri"/>
                        </a:rPr>
                        <a:t>55563624000109</a:t>
                      </a:r>
                    </a:p>
                    <a:p>
                      <a:pPr algn="l">
                        <a:lnSpc>
                          <a:spcPct val="100000"/>
                        </a:lnSpc>
                        <a:spcBef>
                          <a:spcPts val="0"/>
                        </a:spcBef>
                        <a:spcAft>
                          <a:spcPts val="0"/>
                        </a:spcAft>
                      </a:pPr>
                      <a:r>
                        <a:rPr sz="1300" b="0">
                          <a:solidFill>
                            <a:srgbClr val="1F1F1F"/>
                          </a:solidFill>
                          <a:latin typeface="Calibri"/>
                        </a:rPr>
                        <a:t>Impactodoseventosdepré-</a:t>
                      </a:r>
                    </a:p>
                    <a:p>
                      <a:pPr algn="l">
                        <a:lnSpc>
                          <a:spcPct val="100000"/>
                        </a:lnSpc>
                        <a:spcBef>
                          <a:spcPts val="0"/>
                        </a:spcBef>
                        <a:spcAft>
                          <a:spcPts val="0"/>
                        </a:spcAft>
                      </a:pPr>
                      <a:r>
                        <a:rPr sz="1300" b="0">
                          <a:solidFill>
                            <a:srgbClr val="1F1F1F"/>
                          </a:solidFill>
                          <a:latin typeface="Calibri"/>
                        </a:rPr>
                        <a:t>pagamentonovalordopatri</a:t>
                      </a:r>
                    </a:p>
                    <a:p>
                      <a:pPr algn="l">
                        <a:lnSpc>
                          <a:spcPct val="100000"/>
                        </a:lnSpc>
                        <a:spcBef>
                          <a:spcPts val="0"/>
                        </a:spcBef>
                        <a:spcAft>
                          <a:spcPts val="0"/>
                        </a:spcAft>
                      </a:pPr>
                      <a:r>
                        <a:rPr sz="1300" b="0">
                          <a:solidFill>
                            <a:srgbClr val="1F1F1F"/>
                          </a:solidFill>
                          <a:latin typeface="Calibri"/>
                        </a:rPr>
                        <a:t>môniolíquidoenarentabil</a:t>
                      </a:r>
                    </a:p>
                    <a:p>
                      <a:pPr algn="l">
                        <a:lnSpc>
                          <a:spcPct val="100000"/>
                        </a:lnSpc>
                        <a:spcBef>
                          <a:spcPts val="0"/>
                        </a:spcBef>
                        <a:spcAft>
                          <a:spcPts val="0"/>
                        </a:spcAft>
                      </a:pPr>
                      <a:r>
                        <a:rPr sz="1300" b="0">
                          <a:solidFill>
                            <a:srgbClr val="1F1F1F"/>
                          </a:solidFill>
                          <a:latin typeface="Calibri"/>
                        </a:rPr>
                        <a:t>idadedacarteira;Respost</a:t>
                      </a:r>
                    </a:p>
                    <a:p>
                      <a:pPr algn="l">
                        <a:lnSpc>
                          <a:spcPct val="100000"/>
                        </a:lnSpc>
                        <a:spcBef>
                          <a:spcPts val="0"/>
                        </a:spcBef>
                        <a:spcAft>
                          <a:spcPts val="0"/>
                        </a:spcAft>
                      </a:pPr>
                      <a:r>
                        <a:rPr sz="1300" b="0">
                          <a:solidFill>
                            <a:srgbClr val="1F1F1F"/>
                          </a:solidFill>
                          <a:latin typeface="Calibri"/>
                        </a:rPr>
                        <a:t>a:Existemeventosdepré-</a:t>
                      </a:r>
                    </a:p>
                    <a:p>
                      <a:pPr algn="l">
                        <a:lnSpc>
                          <a:spcPct val="100000"/>
                        </a:lnSpc>
                        <a:spcBef>
                          <a:spcPts val="0"/>
                        </a:spcBef>
                        <a:spcAft>
                          <a:spcPts val="0"/>
                        </a:spcAft>
                      </a:pPr>
                      <a:r>
                        <a:rPr sz="1300" b="0">
                          <a:solidFill>
                            <a:srgbClr val="1F1F1F"/>
                          </a:solidFill>
                          <a:latin typeface="Calibri"/>
                        </a:rPr>
                        <a:t>pagamentoemfundospulver</a:t>
                      </a:r>
                    </a:p>
                    <a:p>
                      <a:pPr algn="l">
                        <a:lnSpc>
                          <a:spcPct val="100000"/>
                        </a:lnSpc>
                        <a:spcBef>
                          <a:spcPts val="0"/>
                        </a:spcBef>
                        <a:spcAft>
                          <a:spcPts val="0"/>
                        </a:spcAft>
                      </a:pPr>
                      <a:r>
                        <a:rPr sz="1300" b="0">
                          <a:solidFill>
                            <a:srgbClr val="1F1F1F"/>
                          </a:solidFill>
                          <a:latin typeface="Calibri"/>
                        </a:rPr>
                        <a:t>izadosnocursonormaldosn</a:t>
                      </a:r>
                    </a:p>
                    <a:p>
                      <a:pPr algn="l">
                        <a:lnSpc>
                          <a:spcPct val="100000"/>
                        </a:lnSpc>
                        <a:spcBef>
                          <a:spcPts val="0"/>
                        </a:spcBef>
                        <a:spcAft>
                          <a:spcPts val="0"/>
                        </a:spcAft>
                      </a:pPr>
                      <a:r>
                        <a:rPr sz="1300" b="0">
                          <a:solidFill>
                            <a:srgbClr val="1F1F1F"/>
                          </a:solidFill>
                          <a:latin typeface="Calibri"/>
                        </a:rPr>
                        <a:t>egócios que não geram,</a:t>
                      </a:r>
                    </a:p>
                    <a:p>
                      <a:pPr algn="l">
                        <a:lnSpc>
                          <a:spcPct val="100000"/>
                        </a:lnSpc>
                        <a:spcBef>
                          <a:spcPts val="0"/>
                        </a:spcBef>
                        <a:spcAft>
                          <a:spcPts val="0"/>
                        </a:spcAft>
                      </a:pPr>
                      <a:r>
                        <a:rPr sz="1300" b="0">
                          <a:solidFill>
                            <a:srgbClr val="1F1F1F"/>
                          </a:solidFill>
                          <a:latin typeface="Calibri"/>
                        </a:rPr>
                        <a:t>por si só, impacto</a:t>
                      </a:r>
                    </a:p>
                    <a:p>
                      <a:pPr algn="l">
                        <a:lnSpc>
                          <a:spcPct val="100000"/>
                        </a:lnSpc>
                        <a:spcBef>
                          <a:spcPts val="0"/>
                        </a:spcBef>
                        <a:spcAft>
                          <a:spcPts val="0"/>
                        </a:spcAft>
                      </a:pPr>
                      <a:r>
                        <a:rPr sz="1300" b="0">
                          <a:solidFill>
                            <a:srgbClr val="1F1F1F"/>
                          </a:solidFill>
                          <a:latin typeface="Calibri"/>
                        </a:rPr>
                        <a:t>significativo no</a:t>
                      </a:r>
                    </a:p>
                    <a:p>
                      <a:pPr algn="l">
                        <a:lnSpc>
                          <a:spcPct val="100000"/>
                        </a:lnSpc>
                        <a:spcBef>
                          <a:spcPts val="0"/>
                        </a:spcBef>
                        <a:spcAft>
                          <a:spcPts val="0"/>
                        </a:spcAft>
                      </a:pPr>
                      <a:r>
                        <a:rPr sz="1300" b="0">
                          <a:solidFill>
                            <a:srgbClr val="1F1F1F"/>
                          </a:solidFill>
                          <a:latin typeface="Calibri"/>
                        </a:rPr>
                        <a:t>patrimônio líquido e na</a:t>
                      </a:r>
                    </a:p>
                    <a:p>
                      <a:pPr algn="l">
                        <a:lnSpc>
                          <a:spcPct val="100000"/>
                        </a:lnSpc>
                        <a:spcBef>
                          <a:spcPts val="0"/>
                        </a:spcBef>
                        <a:spcAft>
                          <a:spcPts val="0"/>
                        </a:spcAft>
                      </a:pPr>
                      <a:r>
                        <a:rPr sz="1300" b="0">
                          <a:solidFill>
                            <a:srgbClr val="1F1F1F"/>
                          </a:solidFill>
                          <a:latin typeface="Calibri"/>
                        </a:rPr>
                        <a:t>rentabilidade da</a:t>
                      </a:r>
                    </a:p>
                    <a:p>
                      <a:pPr algn="l">
                        <a:lnSpc>
                          <a:spcPct val="100000"/>
                        </a:lnSpc>
                        <a:spcBef>
                          <a:spcPts val="0"/>
                        </a:spcBef>
                        <a:spcAft>
                          <a:spcPts val="0"/>
                        </a:spcAft>
                      </a:pPr>
                      <a:r>
                        <a:rPr sz="1300" b="0">
                          <a:solidFill>
                            <a:srgbClr val="1F1F1F"/>
                          </a:solidFill>
                          <a:latin typeface="Calibri"/>
                        </a:rPr>
                        <a:t>carteira.</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124/160</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Declarações trimestrais</a:t>
            </a:r>
          </a:p>
        </p:txBody>
      </p:sp>
      <p:graphicFrame>
        <p:nvGraphicFramePr>
          <p:cNvPr id="3" name="Table 2"/>
          <p:cNvGraphicFramePr>
            <a:graphicFrameLocks noGrp="1"/>
          </p:cNvGraphicFramePr>
          <p:nvPr/>
        </p:nvGraphicFramePr>
        <p:xfrm>
          <a:off x="438912" y="932688"/>
          <a:ext cx="11313868" cy="4037076"/>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1220724">
                <a:tc>
                  <a:txBody>
                    <a:bodyPr wrap="square">
                      <a:noAutofit/>
                    </a:bodyPr>
                    <a:lstStyle/>
                    <a:p>
                      <a:pPr algn="l">
                        <a:lnSpc>
                          <a:spcPct val="100000"/>
                        </a:lnSpc>
                        <a:spcBef>
                          <a:spcPts val="0"/>
                        </a:spcBef>
                        <a:spcAft>
                          <a:spcPts val="0"/>
                        </a:spcAft>
                      </a:pPr>
                      <a:r>
                        <a:rPr sz="1300" b="1">
                          <a:solidFill>
                            <a:srgbClr val="1F1F1F"/>
                          </a:solidFill>
                          <a:latin typeface="Calibri"/>
                        </a:rPr>
                        <a:t>Critérios de concessão</a:t>
                      </a:r>
                    </a:p>
                    <a:p>
                      <a:pPr algn="l">
                        <a:lnSpc>
                          <a:spcPct val="100000"/>
                        </a:lnSpc>
                        <a:spcBef>
                          <a:spcPts val="0"/>
                        </a:spcBef>
                        <a:spcAft>
                          <a:spcPts val="0"/>
                        </a:spcAft>
                      </a:pPr>
                      <a:r>
                        <a:rPr sz="1300" b="1">
                          <a:solidFill>
                            <a:srgbClr val="1F1F1F"/>
                          </a:solidFill>
                          <a:latin typeface="Calibri"/>
                        </a:rPr>
                        <a:t>dos originadores</a:t>
                      </a:r>
                    </a:p>
                    <a:p>
                      <a:pPr algn="l">
                        <a:lnSpc>
                          <a:spcPct val="100000"/>
                        </a:lnSpc>
                        <a:spcBef>
                          <a:spcPts val="0"/>
                        </a:spcBef>
                        <a:spcAft>
                          <a:spcPts val="0"/>
                        </a:spcAft>
                      </a:pPr>
                      <a:r>
                        <a:rPr sz="1300" b="1">
                          <a:solidFill>
                            <a:srgbClr val="1F1F1F"/>
                          </a:solidFill>
                          <a:latin typeface="Calibri"/>
                        </a:rPr>
                        <a:t>(continuação)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Declaração do informe</a:t>
                      </a:r>
                    </a:p>
                    <a:p>
                      <a:pPr algn="l">
                        <a:lnSpc>
                          <a:spcPct val="100000"/>
                        </a:lnSpc>
                        <a:spcBef>
                          <a:spcPts val="0"/>
                        </a:spcBef>
                        <a:spcAft>
                          <a:spcPts val="0"/>
                        </a:spcAft>
                      </a:pPr>
                      <a:r>
                        <a:rPr sz="1300" b="0">
                          <a:solidFill>
                            <a:srgbClr val="1F1F1F"/>
                          </a:solidFill>
                          <a:latin typeface="Calibri"/>
                        </a:rPr>
                        <a:t>trimestral</a:t>
                      </a:r>
                    </a:p>
                    <a:p>
                      <a:pPr algn="l">
                        <a:lnSpc>
                          <a:spcPct val="100000"/>
                        </a:lnSpc>
                        <a:spcBef>
                          <a:spcPts val="0"/>
                        </a:spcBef>
                        <a:spcAft>
                          <a:spcPts val="0"/>
                        </a:spcAft>
                      </a:pPr>
                      <a:r>
                        <a:rPr sz="1300" b="0">
                          <a:solidFill>
                            <a:srgbClr val="1F1F1F"/>
                          </a:solidFill>
                          <a:latin typeface="Calibri"/>
                        </a:rPr>
                        <a:t>2026-Q2 · Resposta</a:t>
                      </a:r>
                    </a:p>
                    <a:p>
                      <a:pPr algn="l">
                        <a:lnSpc>
                          <a:spcPct val="100000"/>
                        </a:lnSpc>
                        <a:spcBef>
                          <a:spcPts val="0"/>
                        </a:spcBef>
                        <a:spcAft>
                          <a:spcPts val="0"/>
                        </a:spcAft>
                      </a:pPr>
                      <a:r>
                        <a:rPr sz="1300" b="0">
                          <a:solidFill>
                            <a:srgbClr val="1F1F1F"/>
                          </a:solidFill>
                          <a:latin typeface="Calibri"/>
                        </a:rPr>
                        <a:t>declarada no informe; a</a:t>
                      </a:r>
                    </a:p>
                    <a:p>
                      <a:pPr algn="l">
                        <a:lnSpc>
                          <a:spcPct val="100000"/>
                        </a:lnSpc>
                        <a:spcBef>
                          <a:spcPts val="0"/>
                        </a:spcBef>
                        <a:spcAft>
                          <a:spcPts val="0"/>
                        </a:spcAft>
                      </a:pPr>
                      <a:r>
                        <a:rPr sz="1300" b="0">
                          <a:solidFill>
                            <a:srgbClr val="1F1F1F"/>
                          </a:solidFill>
                          <a:latin typeface="Calibri"/>
                        </a:rPr>
                        <a:t>cláusula permanece no</a:t>
                      </a:r>
                    </a:p>
                    <a:p>
                      <a:pPr algn="l">
                        <a:lnSpc>
                          <a:spcPct val="100000"/>
                        </a:lnSpc>
                        <a:spcBef>
                          <a:spcPts val="0"/>
                        </a:spcBef>
                        <a:spcAft>
                          <a:spcPts val="0"/>
                        </a:spcAft>
                      </a:pPr>
                      <a:r>
                        <a:rPr sz="1300" b="0">
                          <a:solidFill>
                            <a:srgbClr val="1F1F1F"/>
                          </a:solidFill>
                          <a:latin typeface="Calibri"/>
                        </a:rPr>
                        <a:t>documento normativo</a:t>
                      </a:r>
                    </a:p>
                  </a:txBody>
                  <a:tcPr marL="91440" marR="91440" marT="41148" marB="41148" anchor="ctr">
                    <a:solidFill>
                      <a:srgbClr val="FFFFFF"/>
                    </a:solidFill>
                    <a:lnL>
                      <a:noFill/>
                    </a:lnL>
                    <a:lnR>
                      <a:noFill/>
                    </a:lnR>
                    <a:lnT>
                      <a:noFill/>
                    </a:lnT>
                    <a:lnB>
                      <a:noFill/>
                    </a:lnB>
                  </a:tcPr>
                </a:tc>
              </a:tr>
              <a:tr h="2345436">
                <a:tc>
                  <a:txBody>
                    <a:bodyPr wrap="square">
                      <a:noAutofit/>
                    </a:bodyPr>
                    <a:lstStyle/>
                    <a:p>
                      <a:pPr algn="l">
                        <a:lnSpc>
                          <a:spcPct val="100000"/>
                        </a:lnSpc>
                        <a:spcBef>
                          <a:spcPts val="0"/>
                        </a:spcBef>
                        <a:spcAft>
                          <a:spcPts val="0"/>
                        </a:spcAft>
                      </a:pPr>
                      <a:r>
                        <a:rPr sz="1300" b="1">
                          <a:solidFill>
                            <a:srgbClr val="1F1F1F"/>
                          </a:solidFill>
                          <a:latin typeface="Calibri"/>
                        </a:rPr>
                        <a:t>Alterações das garantias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Não ocorreram</a:t>
                      </a:r>
                    </a:p>
                    <a:p>
                      <a:pPr algn="l">
                        <a:lnSpc>
                          <a:spcPct val="100000"/>
                        </a:lnSpc>
                        <a:spcBef>
                          <a:spcPts val="0"/>
                        </a:spcBef>
                        <a:spcAft>
                          <a:spcPts val="0"/>
                        </a:spcAft>
                      </a:pPr>
                      <a:r>
                        <a:rPr sz="1300" b="0">
                          <a:solidFill>
                            <a:srgbClr val="1F1F1F"/>
                          </a:solidFill>
                          <a:latin typeface="Calibri"/>
                        </a:rPr>
                        <a:t>alterações nas</a:t>
                      </a:r>
                    </a:p>
                    <a:p>
                      <a:pPr algn="l">
                        <a:lnSpc>
                          <a:spcPct val="100000"/>
                        </a:lnSpc>
                        <a:spcBef>
                          <a:spcPts val="0"/>
                        </a:spcBef>
                        <a:spcAft>
                          <a:spcPts val="0"/>
                        </a:spcAft>
                      </a:pPr>
                      <a:r>
                        <a:rPr sz="1300" b="0">
                          <a:solidFill>
                            <a:srgbClr val="1F1F1F"/>
                          </a:solidFill>
                          <a:latin typeface="Calibri"/>
                        </a:rPr>
                        <a:t>garantias existentes</a:t>
                      </a:r>
                    </a:p>
                    <a:p>
                      <a:pPr algn="l">
                        <a:lnSpc>
                          <a:spcPct val="100000"/>
                        </a:lnSpc>
                        <a:spcBef>
                          <a:spcPts val="0"/>
                        </a:spcBef>
                        <a:spcAft>
                          <a:spcPts val="0"/>
                        </a:spcAft>
                      </a:pPr>
                      <a:r>
                        <a:rPr sz="1300" b="0">
                          <a:solidFill>
                            <a:srgbClr val="1F1F1F"/>
                          </a:solidFill>
                          <a:latin typeface="Calibri"/>
                        </a:rPr>
                        <a:t>para o conjunto de</a:t>
                      </a:r>
                    </a:p>
                    <a:p>
                      <a:pPr algn="l">
                        <a:lnSpc>
                          <a:spcPct val="100000"/>
                        </a:lnSpc>
                        <a:spcBef>
                          <a:spcPts val="0"/>
                        </a:spcBef>
                        <a:spcAft>
                          <a:spcPts val="0"/>
                        </a:spcAft>
                      </a:pPr>
                      <a:r>
                        <a:rPr sz="1300" b="0">
                          <a:solidFill>
                            <a:srgbClr val="1F1F1F"/>
                          </a:solidFill>
                          <a:latin typeface="Calibri"/>
                        </a:rPr>
                        <a:t>direitos creditórios</a:t>
                      </a:r>
                    </a:p>
                    <a:p>
                      <a:pPr algn="l">
                        <a:lnSpc>
                          <a:spcPct val="100000"/>
                        </a:lnSpc>
                        <a:spcBef>
                          <a:spcPts val="0"/>
                        </a:spcBef>
                        <a:spcAft>
                          <a:spcPts val="0"/>
                        </a:spcAft>
                      </a:pPr>
                      <a:r>
                        <a:rPr sz="1300" b="0">
                          <a:solidFill>
                            <a:srgbClr val="1F1F1F"/>
                          </a:solidFill>
                          <a:latin typeface="Calibri"/>
                        </a:rPr>
                        <a:t>adquiridos pelo fundo.</a:t>
                      </a:r>
                    </a:p>
                    <a:p>
                      <a:pPr algn="l">
                        <a:lnSpc>
                          <a:spcPct val="100000"/>
                        </a:lnSpc>
                        <a:spcBef>
                          <a:spcPts val="0"/>
                        </a:spcBef>
                        <a:spcAft>
                          <a:spcPts val="0"/>
                        </a:spcAft>
                      </a:pPr>
                      <a:r>
                        <a:rPr sz="1300" b="0">
                          <a:solidFill>
                            <a:srgbClr val="1F1F1F"/>
                          </a:solidFill>
                          <a:latin typeface="Calibri"/>
                        </a:rPr>
                        <a:t>Declaração do informe</a:t>
                      </a:r>
                    </a:p>
                    <a:p>
                      <a:pPr algn="l">
                        <a:lnSpc>
                          <a:spcPct val="100000"/>
                        </a:lnSpc>
                        <a:spcBef>
                          <a:spcPts val="0"/>
                        </a:spcBef>
                        <a:spcAft>
                          <a:spcPts val="0"/>
                        </a:spcAft>
                      </a:pPr>
                      <a:r>
                        <a:rPr sz="1300" b="0">
                          <a:solidFill>
                            <a:srgbClr val="1F1F1F"/>
                          </a:solidFill>
                          <a:latin typeface="Calibri"/>
                        </a:rPr>
                        <a:t>trimestral</a:t>
                      </a:r>
                    </a:p>
                    <a:p>
                      <a:pPr algn="l">
                        <a:lnSpc>
                          <a:spcPct val="100000"/>
                        </a:lnSpc>
                        <a:spcBef>
                          <a:spcPts val="0"/>
                        </a:spcBef>
                        <a:spcAft>
                          <a:spcPts val="0"/>
                        </a:spcAft>
                      </a:pPr>
                      <a:r>
                        <a:rPr sz="1300" b="0">
                          <a:solidFill>
                            <a:srgbClr val="1F1F1F"/>
                          </a:solidFill>
                          <a:latin typeface="Calibri"/>
                        </a:rPr>
                        <a:t>2026-Q2 · Resposta</a:t>
                      </a:r>
                    </a:p>
                    <a:p>
                      <a:pPr algn="l">
                        <a:lnSpc>
                          <a:spcPct val="100000"/>
                        </a:lnSpc>
                        <a:spcBef>
                          <a:spcPts val="0"/>
                        </a:spcBef>
                        <a:spcAft>
                          <a:spcPts val="0"/>
                        </a:spcAft>
                      </a:pPr>
                      <a:r>
                        <a:rPr sz="1300" b="0">
                          <a:solidFill>
                            <a:srgbClr val="1F1F1F"/>
                          </a:solidFill>
                          <a:latin typeface="Calibri"/>
                        </a:rPr>
                        <a:t>declarada no informe; a</a:t>
                      </a:r>
                    </a:p>
                    <a:p>
                      <a:pPr algn="l">
                        <a:lnSpc>
                          <a:spcPct val="100000"/>
                        </a:lnSpc>
                        <a:spcBef>
                          <a:spcPts val="0"/>
                        </a:spcBef>
                        <a:spcAft>
                          <a:spcPts val="0"/>
                        </a:spcAft>
                      </a:pPr>
                      <a:r>
                        <a:rPr sz="1300" b="0">
                          <a:solidFill>
                            <a:srgbClr val="1F1F1F"/>
                          </a:solidFill>
                          <a:latin typeface="Calibri"/>
                        </a:rPr>
                        <a:t>cláusula permanece no</a:t>
                      </a:r>
                    </a:p>
                    <a:p>
                      <a:pPr algn="l">
                        <a:lnSpc>
                          <a:spcPct val="100000"/>
                        </a:lnSpc>
                        <a:spcBef>
                          <a:spcPts val="0"/>
                        </a:spcBef>
                        <a:spcAft>
                          <a:spcPts val="0"/>
                        </a:spcAft>
                      </a:pPr>
                      <a:r>
                        <a:rPr sz="1300" b="0">
                          <a:solidFill>
                            <a:srgbClr val="1F1F1F"/>
                          </a:solidFill>
                          <a:latin typeface="Calibri"/>
                        </a:rPr>
                        <a:t>documento normativo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Ocorreram alterações</a:t>
                      </a:r>
                    </a:p>
                    <a:p>
                      <a:pPr algn="l">
                        <a:lnSpc>
                          <a:spcPct val="100000"/>
                        </a:lnSpc>
                        <a:spcBef>
                          <a:spcPts val="0"/>
                        </a:spcBef>
                        <a:spcAft>
                          <a:spcPts val="0"/>
                        </a:spcAft>
                      </a:pPr>
                      <a:r>
                        <a:rPr sz="1300" b="0">
                          <a:solidFill>
                            <a:srgbClr val="1F1F1F"/>
                          </a:solidFill>
                          <a:latin typeface="Calibri"/>
                        </a:rPr>
                        <a:t>nas garantias</a:t>
                      </a:r>
                    </a:p>
                    <a:p>
                      <a:pPr algn="l">
                        <a:lnSpc>
                          <a:spcPct val="100000"/>
                        </a:lnSpc>
                        <a:spcBef>
                          <a:spcPts val="0"/>
                        </a:spcBef>
                        <a:spcAft>
                          <a:spcPts val="0"/>
                        </a:spcAft>
                      </a:pPr>
                      <a:r>
                        <a:rPr sz="1300" b="0">
                          <a:solidFill>
                            <a:srgbClr val="1F1F1F"/>
                          </a:solidFill>
                          <a:latin typeface="Calibri"/>
                        </a:rPr>
                        <a:t>existentes para o</a:t>
                      </a:r>
                    </a:p>
                    <a:p>
                      <a:pPr algn="l">
                        <a:lnSpc>
                          <a:spcPct val="100000"/>
                        </a:lnSpc>
                        <a:spcBef>
                          <a:spcPts val="0"/>
                        </a:spcBef>
                        <a:spcAft>
                          <a:spcPts val="0"/>
                        </a:spcAft>
                      </a:pPr>
                      <a:r>
                        <a:rPr sz="1300" b="0">
                          <a:solidFill>
                            <a:srgbClr val="1F1F1F"/>
                          </a:solidFill>
                          <a:latin typeface="Calibri"/>
                        </a:rPr>
                        <a:t>conjunto de direitos</a:t>
                      </a:r>
                    </a:p>
                    <a:p>
                      <a:pPr algn="l">
                        <a:lnSpc>
                          <a:spcPct val="100000"/>
                        </a:lnSpc>
                        <a:spcBef>
                          <a:spcPts val="0"/>
                        </a:spcBef>
                        <a:spcAft>
                          <a:spcPts val="0"/>
                        </a:spcAft>
                      </a:pPr>
                      <a:r>
                        <a:rPr sz="1300" b="0">
                          <a:solidFill>
                            <a:srgbClr val="1F1F1F"/>
                          </a:solidFill>
                          <a:latin typeface="Calibri"/>
                        </a:rPr>
                        <a:t>creditórios adquiridos</a:t>
                      </a:r>
                    </a:p>
                    <a:p>
                      <a:pPr algn="l">
                        <a:lnSpc>
                          <a:spcPct val="100000"/>
                        </a:lnSpc>
                        <a:spcBef>
                          <a:spcPts val="0"/>
                        </a:spcBef>
                        <a:spcAft>
                          <a:spcPts val="0"/>
                        </a:spcAft>
                      </a:pPr>
                      <a:r>
                        <a:rPr sz="1300" b="0">
                          <a:solidFill>
                            <a:srgbClr val="1F1F1F"/>
                          </a:solidFill>
                          <a:latin typeface="Calibri"/>
                        </a:rPr>
                        <a:t>pelo fundo.</a:t>
                      </a:r>
                    </a:p>
                    <a:p>
                      <a:pPr algn="l">
                        <a:lnSpc>
                          <a:spcPct val="100000"/>
                        </a:lnSpc>
                        <a:spcBef>
                          <a:spcPts val="0"/>
                        </a:spcBef>
                        <a:spcAft>
                          <a:spcPts val="0"/>
                        </a:spcAft>
                      </a:pPr>
                      <a:r>
                        <a:rPr sz="1300" b="0">
                          <a:solidFill>
                            <a:srgbClr val="1F1F1F"/>
                          </a:solidFill>
                          <a:latin typeface="Calibri"/>
                        </a:rPr>
                        <a:t>Declaração do informe</a:t>
                      </a:r>
                    </a:p>
                    <a:p>
                      <a:pPr algn="l">
                        <a:lnSpc>
                          <a:spcPct val="100000"/>
                        </a:lnSpc>
                        <a:spcBef>
                          <a:spcPts val="0"/>
                        </a:spcBef>
                        <a:spcAft>
                          <a:spcPts val="0"/>
                        </a:spcAft>
                      </a:pPr>
                      <a:r>
                        <a:rPr sz="1300" b="0">
                          <a:solidFill>
                            <a:srgbClr val="1F1F1F"/>
                          </a:solidFill>
                          <a:latin typeface="Calibri"/>
                        </a:rPr>
                        <a:t>trimestral</a:t>
                      </a:r>
                    </a:p>
                    <a:p>
                      <a:pPr algn="l">
                        <a:lnSpc>
                          <a:spcPct val="100000"/>
                        </a:lnSpc>
                        <a:spcBef>
                          <a:spcPts val="0"/>
                        </a:spcBef>
                        <a:spcAft>
                          <a:spcPts val="0"/>
                        </a:spcAft>
                      </a:pPr>
                      <a:r>
                        <a:rPr sz="1300" b="0">
                          <a:solidFill>
                            <a:srgbClr val="1F1F1F"/>
                          </a:solidFill>
                          <a:latin typeface="Calibri"/>
                        </a:rPr>
                        <a:t>2026-Q2 · Resposta</a:t>
                      </a:r>
                    </a:p>
                    <a:p>
                      <a:pPr algn="l">
                        <a:lnSpc>
                          <a:spcPct val="100000"/>
                        </a:lnSpc>
                        <a:spcBef>
                          <a:spcPts val="0"/>
                        </a:spcBef>
                        <a:spcAft>
                          <a:spcPts val="0"/>
                        </a:spcAft>
                      </a:pPr>
                      <a:r>
                        <a:rPr sz="1300" b="0">
                          <a:solidFill>
                            <a:srgbClr val="1F1F1F"/>
                          </a:solidFill>
                          <a:latin typeface="Calibri"/>
                        </a:rPr>
                        <a:t>declarada no informe; a</a:t>
                      </a:r>
                    </a:p>
                    <a:p>
                      <a:pPr algn="l">
                        <a:lnSpc>
                          <a:spcPct val="100000"/>
                        </a:lnSpc>
                        <a:spcBef>
                          <a:spcPts val="0"/>
                        </a:spcBef>
                        <a:spcAft>
                          <a:spcPts val="0"/>
                        </a:spcAft>
                      </a:pPr>
                      <a:r>
                        <a:rPr sz="1300" b="0">
                          <a:solidFill>
                            <a:srgbClr val="1F1F1F"/>
                          </a:solidFill>
                          <a:latin typeface="Calibri"/>
                        </a:rPr>
                        <a:t>cláusula permanece no</a:t>
                      </a:r>
                    </a:p>
                    <a:p>
                      <a:pPr algn="l">
                        <a:lnSpc>
                          <a:spcPct val="100000"/>
                        </a:lnSpc>
                        <a:spcBef>
                          <a:spcPts val="0"/>
                        </a:spcBef>
                        <a:spcAft>
                          <a:spcPts val="0"/>
                        </a:spcAft>
                      </a:pPr>
                      <a:r>
                        <a:rPr sz="1300" b="0">
                          <a:solidFill>
                            <a:srgbClr val="1F1F1F"/>
                          </a:solidFill>
                          <a:latin typeface="Calibri"/>
                        </a:rPr>
                        <a:t>documento normativo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Declaração trimestral</a:t>
                      </a:r>
                    </a:p>
                    <a:p>
                      <a:pPr algn="l">
                        <a:lnSpc>
                          <a:spcPct val="100000"/>
                        </a:lnSpc>
                        <a:spcBef>
                          <a:spcPts val="0"/>
                        </a:spcBef>
                        <a:spcAft>
                          <a:spcPts val="0"/>
                        </a:spcAft>
                      </a:pPr>
                      <a:r>
                        <a:rPr sz="1300" b="0">
                          <a:solidFill>
                            <a:srgbClr val="1F1F1F"/>
                          </a:solidFill>
                          <a:latin typeface="Calibri"/>
                        </a:rPr>
                        <a:t>não extraída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Declaração trimestral</a:t>
                      </a:r>
                    </a:p>
                    <a:p>
                      <a:pPr algn="l">
                        <a:lnSpc>
                          <a:spcPct val="100000"/>
                        </a:lnSpc>
                        <a:spcBef>
                          <a:spcPts val="0"/>
                        </a:spcBef>
                        <a:spcAft>
                          <a:spcPts val="0"/>
                        </a:spcAft>
                      </a:pPr>
                      <a:r>
                        <a:rPr sz="1300" b="0">
                          <a:solidFill>
                            <a:srgbClr val="1F1F1F"/>
                          </a:solidFill>
                          <a:latin typeface="Calibri"/>
                        </a:rPr>
                        <a:t>não extraída</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125/160</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Declarações trimestrais</a:t>
            </a:r>
          </a:p>
        </p:txBody>
      </p:sp>
      <p:graphicFrame>
        <p:nvGraphicFramePr>
          <p:cNvPr id="3" name="Table 2"/>
          <p:cNvGraphicFramePr>
            <a:graphicFrameLocks noGrp="1"/>
          </p:cNvGraphicFramePr>
          <p:nvPr/>
        </p:nvGraphicFramePr>
        <p:xfrm>
          <a:off x="438912" y="932688"/>
          <a:ext cx="11313868" cy="3191255"/>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2720339">
                <a:tc>
                  <a:txBody>
                    <a:bodyPr wrap="square">
                      <a:noAutofit/>
                    </a:bodyPr>
                    <a:lstStyle/>
                    <a:p>
                      <a:pPr algn="l">
                        <a:lnSpc>
                          <a:spcPct val="100000"/>
                        </a:lnSpc>
                        <a:spcBef>
                          <a:spcPts val="0"/>
                        </a:spcBef>
                        <a:spcAft>
                          <a:spcPts val="0"/>
                        </a:spcAft>
                      </a:pPr>
                      <a:r>
                        <a:rPr sz="1300" b="1">
                          <a:solidFill>
                            <a:srgbClr val="1F1F1F"/>
                          </a:solidFill>
                          <a:latin typeface="Calibri"/>
                        </a:rPr>
                        <a:t>Cessões no trimestre</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Não se aplica, visto</a:t>
                      </a:r>
                    </a:p>
                    <a:p>
                      <a:pPr algn="l">
                        <a:lnSpc>
                          <a:spcPct val="100000"/>
                        </a:lnSpc>
                        <a:spcBef>
                          <a:spcPts val="0"/>
                        </a:spcBef>
                        <a:spcAft>
                          <a:spcPts val="0"/>
                        </a:spcAft>
                      </a:pPr>
                      <a:r>
                        <a:rPr sz="1300" b="0">
                          <a:solidFill>
                            <a:srgbClr val="1F1F1F"/>
                          </a:solidFill>
                          <a:latin typeface="Calibri"/>
                        </a:rPr>
                        <a:t>que não foram emitidas</a:t>
                      </a:r>
                    </a:p>
                    <a:p>
                      <a:pPr algn="l">
                        <a:lnSpc>
                          <a:spcPct val="100000"/>
                        </a:lnSpc>
                        <a:spcBef>
                          <a:spcPts val="0"/>
                        </a:spcBef>
                        <a:spcAft>
                          <a:spcPts val="0"/>
                        </a:spcAft>
                      </a:pPr>
                      <a:r>
                        <a:rPr sz="1300" b="0">
                          <a:solidFill>
                            <a:srgbClr val="1F1F1F"/>
                          </a:solidFill>
                          <a:latin typeface="Calibri"/>
                        </a:rPr>
                        <a:t>novas cessões de</a:t>
                      </a:r>
                    </a:p>
                    <a:p>
                      <a:pPr algn="l">
                        <a:lnSpc>
                          <a:spcPct val="100000"/>
                        </a:lnSpc>
                        <a:spcBef>
                          <a:spcPts val="0"/>
                        </a:spcBef>
                        <a:spcAft>
                          <a:spcPts val="0"/>
                        </a:spcAft>
                      </a:pPr>
                      <a:r>
                        <a:rPr sz="1300" b="0">
                          <a:solidFill>
                            <a:srgbClr val="1F1F1F"/>
                          </a:solidFill>
                          <a:latin typeface="Calibri"/>
                        </a:rPr>
                        <a:t>direitos creditórios no</a:t>
                      </a:r>
                    </a:p>
                    <a:p>
                      <a:pPr algn="l">
                        <a:lnSpc>
                          <a:spcPct val="100000"/>
                        </a:lnSpc>
                        <a:spcBef>
                          <a:spcPts val="0"/>
                        </a:spcBef>
                        <a:spcAft>
                          <a:spcPts val="0"/>
                        </a:spcAft>
                      </a:pPr>
                      <a:r>
                        <a:rPr sz="1300" b="0">
                          <a:solidFill>
                            <a:srgbClr val="1F1F1F"/>
                          </a:solidFill>
                          <a:latin typeface="Calibri"/>
                        </a:rPr>
                        <a:t>período.</a:t>
                      </a:r>
                    </a:p>
                    <a:p>
                      <a:pPr algn="l">
                        <a:lnSpc>
                          <a:spcPct val="100000"/>
                        </a:lnSpc>
                        <a:spcBef>
                          <a:spcPts val="0"/>
                        </a:spcBef>
                        <a:spcAft>
                          <a:spcPts val="0"/>
                        </a:spcAft>
                      </a:pPr>
                      <a:r>
                        <a:rPr sz="1300" b="0">
                          <a:solidFill>
                            <a:srgbClr val="1F1F1F"/>
                          </a:solidFill>
                          <a:latin typeface="Calibri"/>
                        </a:rPr>
                        <a:t>Declaração do informe</a:t>
                      </a:r>
                    </a:p>
                    <a:p>
                      <a:pPr algn="l">
                        <a:lnSpc>
                          <a:spcPct val="100000"/>
                        </a:lnSpc>
                        <a:spcBef>
                          <a:spcPts val="0"/>
                        </a:spcBef>
                        <a:spcAft>
                          <a:spcPts val="0"/>
                        </a:spcAft>
                      </a:pPr>
                      <a:r>
                        <a:rPr sz="1300" b="0">
                          <a:solidFill>
                            <a:srgbClr val="1F1F1F"/>
                          </a:solidFill>
                          <a:latin typeface="Calibri"/>
                        </a:rPr>
                        <a:t>trimestral</a:t>
                      </a:r>
                    </a:p>
                    <a:p>
                      <a:pPr algn="l">
                        <a:lnSpc>
                          <a:spcPct val="100000"/>
                        </a:lnSpc>
                        <a:spcBef>
                          <a:spcPts val="0"/>
                        </a:spcBef>
                        <a:spcAft>
                          <a:spcPts val="0"/>
                        </a:spcAft>
                      </a:pPr>
                      <a:r>
                        <a:rPr sz="1300" b="0">
                          <a:solidFill>
                            <a:srgbClr val="1F1F1F"/>
                          </a:solidFill>
                          <a:latin typeface="Calibri"/>
                        </a:rPr>
                        <a:t>2026-Q2 · Resposta</a:t>
                      </a:r>
                    </a:p>
                    <a:p>
                      <a:pPr algn="l">
                        <a:lnSpc>
                          <a:spcPct val="100000"/>
                        </a:lnSpc>
                        <a:spcBef>
                          <a:spcPts val="0"/>
                        </a:spcBef>
                        <a:spcAft>
                          <a:spcPts val="0"/>
                        </a:spcAft>
                      </a:pPr>
                      <a:r>
                        <a:rPr sz="1300" b="0">
                          <a:solidFill>
                            <a:srgbClr val="1F1F1F"/>
                          </a:solidFill>
                          <a:latin typeface="Calibri"/>
                        </a:rPr>
                        <a:t>declarada no informe; a</a:t>
                      </a:r>
                    </a:p>
                    <a:p>
                      <a:pPr algn="l">
                        <a:lnSpc>
                          <a:spcPct val="100000"/>
                        </a:lnSpc>
                        <a:spcBef>
                          <a:spcPts val="0"/>
                        </a:spcBef>
                        <a:spcAft>
                          <a:spcPts val="0"/>
                        </a:spcAft>
                      </a:pPr>
                      <a:r>
                        <a:rPr sz="1300" b="0">
                          <a:solidFill>
                            <a:srgbClr val="1F1F1F"/>
                          </a:solidFill>
                          <a:latin typeface="Calibri"/>
                        </a:rPr>
                        <a:t>cláusula permanece no</a:t>
                      </a:r>
                    </a:p>
                    <a:p>
                      <a:pPr algn="l">
                        <a:lnSpc>
                          <a:spcPct val="100000"/>
                        </a:lnSpc>
                        <a:spcBef>
                          <a:spcPts val="0"/>
                        </a:spcBef>
                        <a:spcAft>
                          <a:spcPts val="0"/>
                        </a:spcAft>
                      </a:pPr>
                      <a:r>
                        <a:rPr sz="1300" b="0">
                          <a:solidFill>
                            <a:srgbClr val="1F1F1F"/>
                          </a:solidFill>
                          <a:latin typeface="Calibri"/>
                        </a:rPr>
                        <a:t>documento normativo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Ocorreram novas cessões</a:t>
                      </a:r>
                    </a:p>
                    <a:p>
                      <a:pPr algn="l">
                        <a:lnSpc>
                          <a:spcPct val="100000"/>
                        </a:lnSpc>
                        <a:spcBef>
                          <a:spcPts val="0"/>
                        </a:spcBef>
                        <a:spcAft>
                          <a:spcPts val="0"/>
                        </a:spcAft>
                      </a:pPr>
                      <a:r>
                        <a:rPr sz="1300" b="0">
                          <a:solidFill>
                            <a:srgbClr val="1F1F1F"/>
                          </a:solidFill>
                          <a:latin typeface="Calibri"/>
                        </a:rPr>
                        <a:t>de direitos creditórios</a:t>
                      </a:r>
                    </a:p>
                    <a:p>
                      <a:pPr algn="l">
                        <a:lnSpc>
                          <a:spcPct val="100000"/>
                        </a:lnSpc>
                        <a:spcBef>
                          <a:spcPts val="0"/>
                        </a:spcBef>
                        <a:spcAft>
                          <a:spcPts val="0"/>
                        </a:spcAft>
                      </a:pPr>
                      <a:r>
                        <a:rPr sz="1300" b="0">
                          <a:solidFill>
                            <a:srgbClr val="1F1F1F"/>
                          </a:solidFill>
                          <a:latin typeface="Calibri"/>
                        </a:rPr>
                        <a:t>no período em</a:t>
                      </a:r>
                    </a:p>
                    <a:p>
                      <a:pPr algn="l">
                        <a:lnSpc>
                          <a:spcPct val="100000"/>
                        </a:lnSpc>
                        <a:spcBef>
                          <a:spcPts val="0"/>
                        </a:spcBef>
                        <a:spcAft>
                          <a:spcPts val="0"/>
                        </a:spcAft>
                      </a:pPr>
                      <a:r>
                        <a:rPr sz="1300" b="0">
                          <a:solidFill>
                            <a:srgbClr val="1F1F1F"/>
                          </a:solidFill>
                          <a:latin typeface="Calibri"/>
                        </a:rPr>
                        <a:t>referência e os novos</a:t>
                      </a:r>
                    </a:p>
                    <a:p>
                      <a:pPr algn="l">
                        <a:lnSpc>
                          <a:spcPct val="100000"/>
                        </a:lnSpc>
                        <a:spcBef>
                          <a:spcPts val="0"/>
                        </a:spcBef>
                        <a:spcAft>
                          <a:spcPts val="0"/>
                        </a:spcAft>
                      </a:pPr>
                      <a:r>
                        <a:rPr sz="1300" b="0">
                          <a:solidFill>
                            <a:srgbClr val="1F1F1F"/>
                          </a:solidFill>
                          <a:latin typeface="Calibri"/>
                        </a:rPr>
                        <a:t>contratos foram</a:t>
                      </a:r>
                    </a:p>
                    <a:p>
                      <a:pPr algn="l">
                        <a:lnSpc>
                          <a:spcPct val="100000"/>
                        </a:lnSpc>
                        <a:spcBef>
                          <a:spcPts val="0"/>
                        </a:spcBef>
                        <a:spcAft>
                          <a:spcPts val="0"/>
                        </a:spcAft>
                      </a:pPr>
                      <a:r>
                        <a:rPr sz="1300" b="0">
                          <a:solidFill>
                            <a:srgbClr val="1F1F1F"/>
                          </a:solidFill>
                          <a:latin typeface="Calibri"/>
                        </a:rPr>
                        <a:t>firmados com o caráter</a:t>
                      </a:r>
                    </a:p>
                    <a:p>
                      <a:pPr algn="l">
                        <a:lnSpc>
                          <a:spcPct val="100000"/>
                        </a:lnSpc>
                        <a:spcBef>
                          <a:spcPts val="0"/>
                        </a:spcBef>
                        <a:spcAft>
                          <a:spcPts val="0"/>
                        </a:spcAft>
                      </a:pPr>
                      <a:r>
                        <a:rPr sz="1300" b="0">
                          <a:solidFill>
                            <a:srgbClr val="1F1F1F"/>
                          </a:solidFill>
                          <a:latin typeface="Calibri"/>
                        </a:rPr>
                        <a:t>definitivo para o</a:t>
                      </a:r>
                    </a:p>
                    <a:p>
                      <a:pPr algn="l">
                        <a:lnSpc>
                          <a:spcPct val="100000"/>
                        </a:lnSpc>
                        <a:spcBef>
                          <a:spcPts val="0"/>
                        </a:spcBef>
                        <a:spcAft>
                          <a:spcPts val="0"/>
                        </a:spcAft>
                      </a:pPr>
                      <a:r>
                        <a:rPr sz="1300" b="0">
                          <a:solidFill>
                            <a:srgbClr val="1F1F1F"/>
                          </a:solidFill>
                          <a:latin typeface="Calibri"/>
                        </a:rPr>
                        <a:t>fundo.</a:t>
                      </a:r>
                    </a:p>
                    <a:p>
                      <a:pPr algn="l">
                        <a:lnSpc>
                          <a:spcPct val="100000"/>
                        </a:lnSpc>
                        <a:spcBef>
                          <a:spcPts val="0"/>
                        </a:spcBef>
                        <a:spcAft>
                          <a:spcPts val="0"/>
                        </a:spcAft>
                      </a:pPr>
                      <a:r>
                        <a:rPr sz="1300" b="0">
                          <a:solidFill>
                            <a:srgbClr val="1F1F1F"/>
                          </a:solidFill>
                          <a:latin typeface="Calibri"/>
                        </a:rPr>
                        <a:t>Declaração do informe</a:t>
                      </a:r>
                    </a:p>
                    <a:p>
                      <a:pPr algn="l">
                        <a:lnSpc>
                          <a:spcPct val="100000"/>
                        </a:lnSpc>
                        <a:spcBef>
                          <a:spcPts val="0"/>
                        </a:spcBef>
                        <a:spcAft>
                          <a:spcPts val="0"/>
                        </a:spcAft>
                      </a:pPr>
                      <a:r>
                        <a:rPr sz="1300" b="0">
                          <a:solidFill>
                            <a:srgbClr val="1F1F1F"/>
                          </a:solidFill>
                          <a:latin typeface="Calibri"/>
                        </a:rPr>
                        <a:t>trimestral</a:t>
                      </a:r>
                    </a:p>
                    <a:p>
                      <a:pPr algn="l">
                        <a:lnSpc>
                          <a:spcPct val="100000"/>
                        </a:lnSpc>
                        <a:spcBef>
                          <a:spcPts val="0"/>
                        </a:spcBef>
                        <a:spcAft>
                          <a:spcPts val="0"/>
                        </a:spcAft>
                      </a:pPr>
                      <a:r>
                        <a:rPr sz="1300" b="0">
                          <a:solidFill>
                            <a:srgbClr val="1F1F1F"/>
                          </a:solidFill>
                          <a:latin typeface="Calibri"/>
                        </a:rPr>
                        <a:t>2026-Q2 · Resposta</a:t>
                      </a:r>
                    </a:p>
                    <a:p>
                      <a:pPr algn="l">
                        <a:lnSpc>
                          <a:spcPct val="100000"/>
                        </a:lnSpc>
                        <a:spcBef>
                          <a:spcPts val="0"/>
                        </a:spcBef>
                        <a:spcAft>
                          <a:spcPts val="0"/>
                        </a:spcAft>
                      </a:pPr>
                      <a:r>
                        <a:rPr sz="1300" b="0">
                          <a:solidFill>
                            <a:srgbClr val="1F1F1F"/>
                          </a:solidFill>
                          <a:latin typeface="Calibri"/>
                        </a:rPr>
                        <a:t>declarada no informe; a</a:t>
                      </a:r>
                    </a:p>
                    <a:p>
                      <a:pPr algn="l">
                        <a:lnSpc>
                          <a:spcPct val="100000"/>
                        </a:lnSpc>
                        <a:spcBef>
                          <a:spcPts val="0"/>
                        </a:spcBef>
                        <a:spcAft>
                          <a:spcPts val="0"/>
                        </a:spcAft>
                      </a:pPr>
                      <a:r>
                        <a:rPr sz="1300" b="0">
                          <a:solidFill>
                            <a:srgbClr val="1F1F1F"/>
                          </a:solidFill>
                          <a:latin typeface="Calibri"/>
                        </a:rPr>
                        <a:t>cláusula permanece no</a:t>
                      </a:r>
                    </a:p>
                    <a:p>
                      <a:pPr algn="l">
                        <a:lnSpc>
                          <a:spcPct val="100000"/>
                        </a:lnSpc>
                        <a:spcBef>
                          <a:spcPts val="0"/>
                        </a:spcBef>
                        <a:spcAft>
                          <a:spcPts val="0"/>
                        </a:spcAft>
                      </a:pPr>
                      <a:r>
                        <a:rPr sz="1300" b="0">
                          <a:solidFill>
                            <a:srgbClr val="1F1F1F"/>
                          </a:solidFill>
                          <a:latin typeface="Calibri"/>
                        </a:rPr>
                        <a:t>documento normativo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Declaração trimestral</a:t>
                      </a:r>
                    </a:p>
                    <a:p>
                      <a:pPr algn="l">
                        <a:lnSpc>
                          <a:spcPct val="100000"/>
                        </a:lnSpc>
                        <a:spcBef>
                          <a:spcPts val="0"/>
                        </a:spcBef>
                        <a:spcAft>
                          <a:spcPts val="0"/>
                        </a:spcAft>
                      </a:pPr>
                      <a:r>
                        <a:rPr sz="1300" b="0">
                          <a:solidFill>
                            <a:srgbClr val="1F1F1F"/>
                          </a:solidFill>
                          <a:latin typeface="Calibri"/>
                        </a:rPr>
                        <a:t>não extraída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Declaração trimestral</a:t>
                      </a:r>
                    </a:p>
                    <a:p>
                      <a:pPr algn="l">
                        <a:lnSpc>
                          <a:spcPct val="100000"/>
                        </a:lnSpc>
                        <a:spcBef>
                          <a:spcPts val="0"/>
                        </a:spcBef>
                        <a:spcAft>
                          <a:spcPts val="0"/>
                        </a:spcAft>
                      </a:pPr>
                      <a:r>
                        <a:rPr sz="1300" b="0">
                          <a:solidFill>
                            <a:srgbClr val="1F1F1F"/>
                          </a:solidFill>
                          <a:latin typeface="Calibri"/>
                        </a:rPr>
                        <a:t>não extraída</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126/160</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Declarações trimestrais</a:t>
            </a:r>
          </a:p>
        </p:txBody>
      </p:sp>
      <p:graphicFrame>
        <p:nvGraphicFramePr>
          <p:cNvPr id="3" name="Table 2"/>
          <p:cNvGraphicFramePr>
            <a:graphicFrameLocks noGrp="1"/>
          </p:cNvGraphicFramePr>
          <p:nvPr/>
        </p:nvGraphicFramePr>
        <p:xfrm>
          <a:off x="438912" y="932688"/>
          <a:ext cx="11313868" cy="3003804"/>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2532888">
                <a:tc>
                  <a:txBody>
                    <a:bodyPr wrap="square">
                      <a:noAutofit/>
                    </a:bodyPr>
                    <a:lstStyle/>
                    <a:p>
                      <a:pPr algn="l">
                        <a:lnSpc>
                          <a:spcPct val="100000"/>
                        </a:lnSpc>
                        <a:spcBef>
                          <a:spcPts val="0"/>
                        </a:spcBef>
                        <a:spcAft>
                          <a:spcPts val="0"/>
                        </a:spcAft>
                      </a:pPr>
                      <a:r>
                        <a:rPr sz="1300" b="1">
                          <a:solidFill>
                            <a:srgbClr val="1F1F1F"/>
                          </a:solidFill>
                          <a:latin typeface="Calibri"/>
                        </a:rPr>
                        <a:t>Eventos de pré-pagamento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Não se aplica, visto</a:t>
                      </a:r>
                    </a:p>
                    <a:p>
                      <a:pPr algn="l">
                        <a:lnSpc>
                          <a:spcPct val="100000"/>
                        </a:lnSpc>
                        <a:spcBef>
                          <a:spcPts val="0"/>
                        </a:spcBef>
                        <a:spcAft>
                          <a:spcPts val="0"/>
                        </a:spcAft>
                      </a:pPr>
                      <a:r>
                        <a:rPr sz="1300" b="0">
                          <a:solidFill>
                            <a:srgbClr val="1F1F1F"/>
                          </a:solidFill>
                          <a:latin typeface="Calibri"/>
                        </a:rPr>
                        <a:t>que não ocorreram</a:t>
                      </a:r>
                    </a:p>
                    <a:p>
                      <a:pPr algn="l">
                        <a:lnSpc>
                          <a:spcPct val="100000"/>
                        </a:lnSpc>
                        <a:spcBef>
                          <a:spcPts val="0"/>
                        </a:spcBef>
                        <a:spcAft>
                          <a:spcPts val="0"/>
                        </a:spcAft>
                      </a:pPr>
                      <a:r>
                        <a:rPr sz="1300" b="0">
                          <a:solidFill>
                            <a:srgbClr val="1F1F1F"/>
                          </a:solidFill>
                          <a:latin typeface="Calibri"/>
                        </a:rPr>
                        <a:t>eventos de</a:t>
                      </a:r>
                    </a:p>
                    <a:p>
                      <a:pPr algn="l">
                        <a:lnSpc>
                          <a:spcPct val="100000"/>
                        </a:lnSpc>
                        <a:spcBef>
                          <a:spcPts val="0"/>
                        </a:spcBef>
                        <a:spcAft>
                          <a:spcPts val="0"/>
                        </a:spcAft>
                      </a:pPr>
                      <a:r>
                        <a:rPr sz="1300" b="0">
                          <a:solidFill>
                            <a:srgbClr val="1F1F1F"/>
                          </a:solidFill>
                          <a:latin typeface="Calibri"/>
                        </a:rPr>
                        <a:t>pré-pagamento no último</a:t>
                      </a:r>
                    </a:p>
                    <a:p>
                      <a:pPr algn="l">
                        <a:lnSpc>
                          <a:spcPct val="100000"/>
                        </a:lnSpc>
                        <a:spcBef>
                          <a:spcPts val="0"/>
                        </a:spcBef>
                        <a:spcAft>
                          <a:spcPts val="0"/>
                        </a:spcAft>
                      </a:pPr>
                      <a:r>
                        <a:rPr sz="1300" b="0">
                          <a:solidFill>
                            <a:srgbClr val="1F1F1F"/>
                          </a:solidFill>
                          <a:latin typeface="Calibri"/>
                        </a:rPr>
                        <a:t>trimestre.</a:t>
                      </a:r>
                    </a:p>
                    <a:p>
                      <a:pPr algn="l">
                        <a:lnSpc>
                          <a:spcPct val="100000"/>
                        </a:lnSpc>
                        <a:spcBef>
                          <a:spcPts val="0"/>
                        </a:spcBef>
                        <a:spcAft>
                          <a:spcPts val="0"/>
                        </a:spcAft>
                      </a:pPr>
                      <a:r>
                        <a:rPr sz="1300" b="0">
                          <a:solidFill>
                            <a:srgbClr val="1F1F1F"/>
                          </a:solidFill>
                          <a:latin typeface="Calibri"/>
                        </a:rPr>
                        <a:t>Declaração do informe</a:t>
                      </a:r>
                    </a:p>
                    <a:p>
                      <a:pPr algn="l">
                        <a:lnSpc>
                          <a:spcPct val="100000"/>
                        </a:lnSpc>
                        <a:spcBef>
                          <a:spcPts val="0"/>
                        </a:spcBef>
                        <a:spcAft>
                          <a:spcPts val="0"/>
                        </a:spcAft>
                      </a:pPr>
                      <a:r>
                        <a:rPr sz="1300" b="0">
                          <a:solidFill>
                            <a:srgbClr val="1F1F1F"/>
                          </a:solidFill>
                          <a:latin typeface="Calibri"/>
                        </a:rPr>
                        <a:t>trimestral</a:t>
                      </a:r>
                    </a:p>
                    <a:p>
                      <a:pPr algn="l">
                        <a:lnSpc>
                          <a:spcPct val="100000"/>
                        </a:lnSpc>
                        <a:spcBef>
                          <a:spcPts val="0"/>
                        </a:spcBef>
                        <a:spcAft>
                          <a:spcPts val="0"/>
                        </a:spcAft>
                      </a:pPr>
                      <a:r>
                        <a:rPr sz="1300" b="0">
                          <a:solidFill>
                            <a:srgbClr val="1F1F1F"/>
                          </a:solidFill>
                          <a:latin typeface="Calibri"/>
                        </a:rPr>
                        <a:t>2026-Q2 · Resposta</a:t>
                      </a:r>
                    </a:p>
                    <a:p>
                      <a:pPr algn="l">
                        <a:lnSpc>
                          <a:spcPct val="100000"/>
                        </a:lnSpc>
                        <a:spcBef>
                          <a:spcPts val="0"/>
                        </a:spcBef>
                        <a:spcAft>
                          <a:spcPts val="0"/>
                        </a:spcAft>
                      </a:pPr>
                      <a:r>
                        <a:rPr sz="1300" b="0">
                          <a:solidFill>
                            <a:srgbClr val="1F1F1F"/>
                          </a:solidFill>
                          <a:latin typeface="Calibri"/>
                        </a:rPr>
                        <a:t>declarada no informe; a</a:t>
                      </a:r>
                    </a:p>
                    <a:p>
                      <a:pPr algn="l">
                        <a:lnSpc>
                          <a:spcPct val="100000"/>
                        </a:lnSpc>
                        <a:spcBef>
                          <a:spcPts val="0"/>
                        </a:spcBef>
                        <a:spcAft>
                          <a:spcPts val="0"/>
                        </a:spcAft>
                      </a:pPr>
                      <a:r>
                        <a:rPr sz="1300" b="0">
                          <a:solidFill>
                            <a:srgbClr val="1F1F1F"/>
                          </a:solidFill>
                          <a:latin typeface="Calibri"/>
                        </a:rPr>
                        <a:t>cláusula permanece no</a:t>
                      </a:r>
                    </a:p>
                    <a:p>
                      <a:pPr algn="l">
                        <a:lnSpc>
                          <a:spcPct val="100000"/>
                        </a:lnSpc>
                        <a:spcBef>
                          <a:spcPts val="0"/>
                        </a:spcBef>
                        <a:spcAft>
                          <a:spcPts val="0"/>
                        </a:spcAft>
                      </a:pPr>
                      <a:r>
                        <a:rPr sz="1300" b="0">
                          <a:solidFill>
                            <a:srgbClr val="1F1F1F"/>
                          </a:solidFill>
                          <a:latin typeface="Calibri"/>
                        </a:rPr>
                        <a:t>documento normativo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O fundo teve eventos de</a:t>
                      </a:r>
                    </a:p>
                    <a:p>
                      <a:pPr algn="l">
                        <a:lnSpc>
                          <a:spcPct val="100000"/>
                        </a:lnSpc>
                        <a:spcBef>
                          <a:spcPts val="0"/>
                        </a:spcBef>
                        <a:spcAft>
                          <a:spcPts val="0"/>
                        </a:spcAft>
                      </a:pPr>
                      <a:r>
                        <a:rPr sz="1300" b="0">
                          <a:solidFill>
                            <a:srgbClr val="1F1F1F"/>
                          </a:solidFill>
                          <a:latin typeface="Calibri"/>
                        </a:rPr>
                        <a:t>pré-pagamento no último</a:t>
                      </a:r>
                    </a:p>
                    <a:p>
                      <a:pPr algn="l">
                        <a:lnSpc>
                          <a:spcPct val="100000"/>
                        </a:lnSpc>
                        <a:spcBef>
                          <a:spcPts val="0"/>
                        </a:spcBef>
                        <a:spcAft>
                          <a:spcPts val="0"/>
                        </a:spcAft>
                      </a:pPr>
                      <a:r>
                        <a:rPr sz="1300" b="0">
                          <a:solidFill>
                            <a:srgbClr val="1F1F1F"/>
                          </a:solidFill>
                          <a:latin typeface="Calibri"/>
                        </a:rPr>
                        <a:t>trimestre, mas não</a:t>
                      </a:r>
                    </a:p>
                    <a:p>
                      <a:pPr algn="l">
                        <a:lnSpc>
                          <a:spcPct val="100000"/>
                        </a:lnSpc>
                        <a:spcBef>
                          <a:spcPts val="0"/>
                        </a:spcBef>
                        <a:spcAft>
                          <a:spcPts val="0"/>
                        </a:spcAft>
                      </a:pPr>
                      <a:r>
                        <a:rPr sz="1300" b="0">
                          <a:solidFill>
                            <a:srgbClr val="1F1F1F"/>
                          </a:solidFill>
                          <a:latin typeface="Calibri"/>
                        </a:rPr>
                        <a:t>foram observados</a:t>
                      </a:r>
                    </a:p>
                    <a:p>
                      <a:pPr algn="l">
                        <a:lnSpc>
                          <a:spcPct val="100000"/>
                        </a:lnSpc>
                        <a:spcBef>
                          <a:spcPts val="0"/>
                        </a:spcBef>
                        <a:spcAft>
                          <a:spcPts val="0"/>
                        </a:spcAft>
                      </a:pPr>
                      <a:r>
                        <a:rPr sz="1300" b="0">
                          <a:solidFill>
                            <a:srgbClr val="1F1F1F"/>
                          </a:solidFill>
                          <a:latin typeface="Calibri"/>
                        </a:rPr>
                        <a:t>impactos relevantes no</a:t>
                      </a:r>
                    </a:p>
                    <a:p>
                      <a:pPr algn="l">
                        <a:lnSpc>
                          <a:spcPct val="100000"/>
                        </a:lnSpc>
                        <a:spcBef>
                          <a:spcPts val="0"/>
                        </a:spcBef>
                        <a:spcAft>
                          <a:spcPts val="0"/>
                        </a:spcAft>
                      </a:pPr>
                      <a:r>
                        <a:rPr sz="1300" b="0">
                          <a:solidFill>
                            <a:srgbClr val="1F1F1F"/>
                          </a:solidFill>
                          <a:latin typeface="Calibri"/>
                        </a:rPr>
                        <a:t>patrimônio líquido e na</a:t>
                      </a:r>
                    </a:p>
                    <a:p>
                      <a:pPr algn="l">
                        <a:lnSpc>
                          <a:spcPct val="100000"/>
                        </a:lnSpc>
                        <a:spcBef>
                          <a:spcPts val="0"/>
                        </a:spcBef>
                        <a:spcAft>
                          <a:spcPts val="0"/>
                        </a:spcAft>
                      </a:pPr>
                      <a:r>
                        <a:rPr sz="1300" b="0">
                          <a:solidFill>
                            <a:srgbClr val="1F1F1F"/>
                          </a:solidFill>
                          <a:latin typeface="Calibri"/>
                        </a:rPr>
                        <a:t>carteira do fundo.</a:t>
                      </a:r>
                    </a:p>
                    <a:p>
                      <a:pPr algn="l">
                        <a:lnSpc>
                          <a:spcPct val="100000"/>
                        </a:lnSpc>
                        <a:spcBef>
                          <a:spcPts val="0"/>
                        </a:spcBef>
                        <a:spcAft>
                          <a:spcPts val="0"/>
                        </a:spcAft>
                      </a:pPr>
                      <a:r>
                        <a:rPr sz="1300" b="0">
                          <a:solidFill>
                            <a:srgbClr val="1F1F1F"/>
                          </a:solidFill>
                          <a:latin typeface="Calibri"/>
                        </a:rPr>
                        <a:t>Declaração do informe</a:t>
                      </a:r>
                    </a:p>
                    <a:p>
                      <a:pPr algn="l">
                        <a:lnSpc>
                          <a:spcPct val="100000"/>
                        </a:lnSpc>
                        <a:spcBef>
                          <a:spcPts val="0"/>
                        </a:spcBef>
                        <a:spcAft>
                          <a:spcPts val="0"/>
                        </a:spcAft>
                      </a:pPr>
                      <a:r>
                        <a:rPr sz="1300" b="0">
                          <a:solidFill>
                            <a:srgbClr val="1F1F1F"/>
                          </a:solidFill>
                          <a:latin typeface="Calibri"/>
                        </a:rPr>
                        <a:t>trimestral</a:t>
                      </a:r>
                    </a:p>
                    <a:p>
                      <a:pPr algn="l">
                        <a:lnSpc>
                          <a:spcPct val="100000"/>
                        </a:lnSpc>
                        <a:spcBef>
                          <a:spcPts val="0"/>
                        </a:spcBef>
                        <a:spcAft>
                          <a:spcPts val="0"/>
                        </a:spcAft>
                      </a:pPr>
                      <a:r>
                        <a:rPr sz="1300" b="0">
                          <a:solidFill>
                            <a:srgbClr val="1F1F1F"/>
                          </a:solidFill>
                          <a:latin typeface="Calibri"/>
                        </a:rPr>
                        <a:t>2026-Q2 · Resposta</a:t>
                      </a:r>
                    </a:p>
                    <a:p>
                      <a:pPr algn="l">
                        <a:lnSpc>
                          <a:spcPct val="100000"/>
                        </a:lnSpc>
                        <a:spcBef>
                          <a:spcPts val="0"/>
                        </a:spcBef>
                        <a:spcAft>
                          <a:spcPts val="0"/>
                        </a:spcAft>
                      </a:pPr>
                      <a:r>
                        <a:rPr sz="1300" b="0">
                          <a:solidFill>
                            <a:srgbClr val="1F1F1F"/>
                          </a:solidFill>
                          <a:latin typeface="Calibri"/>
                        </a:rPr>
                        <a:t>declarada no informe; a</a:t>
                      </a:r>
                    </a:p>
                    <a:p>
                      <a:pPr algn="l">
                        <a:lnSpc>
                          <a:spcPct val="100000"/>
                        </a:lnSpc>
                        <a:spcBef>
                          <a:spcPts val="0"/>
                        </a:spcBef>
                        <a:spcAft>
                          <a:spcPts val="0"/>
                        </a:spcAft>
                      </a:pPr>
                      <a:r>
                        <a:rPr sz="1300" b="0">
                          <a:solidFill>
                            <a:srgbClr val="1F1F1F"/>
                          </a:solidFill>
                          <a:latin typeface="Calibri"/>
                        </a:rPr>
                        <a:t>cláusula permanece no</a:t>
                      </a:r>
                    </a:p>
                    <a:p>
                      <a:pPr algn="l">
                        <a:lnSpc>
                          <a:spcPct val="100000"/>
                        </a:lnSpc>
                        <a:spcBef>
                          <a:spcPts val="0"/>
                        </a:spcBef>
                        <a:spcAft>
                          <a:spcPts val="0"/>
                        </a:spcAft>
                      </a:pPr>
                      <a:r>
                        <a:rPr sz="1300" b="0">
                          <a:solidFill>
                            <a:srgbClr val="1F1F1F"/>
                          </a:solidFill>
                          <a:latin typeface="Calibri"/>
                        </a:rPr>
                        <a:t>documento normativo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Declaração trimestral</a:t>
                      </a:r>
                    </a:p>
                    <a:p>
                      <a:pPr algn="l">
                        <a:lnSpc>
                          <a:spcPct val="100000"/>
                        </a:lnSpc>
                        <a:spcBef>
                          <a:spcPts val="0"/>
                        </a:spcBef>
                        <a:spcAft>
                          <a:spcPts val="0"/>
                        </a:spcAft>
                      </a:pPr>
                      <a:r>
                        <a:rPr sz="1300" b="0">
                          <a:solidFill>
                            <a:srgbClr val="1F1F1F"/>
                          </a:solidFill>
                          <a:latin typeface="Calibri"/>
                        </a:rPr>
                        <a:t>não extraída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Declaração trimestral</a:t>
                      </a:r>
                    </a:p>
                    <a:p>
                      <a:pPr algn="l">
                        <a:lnSpc>
                          <a:spcPct val="100000"/>
                        </a:lnSpc>
                        <a:spcBef>
                          <a:spcPts val="0"/>
                        </a:spcBef>
                        <a:spcAft>
                          <a:spcPts val="0"/>
                        </a:spcAft>
                      </a:pPr>
                      <a:r>
                        <a:rPr sz="1300" b="0">
                          <a:solidFill>
                            <a:srgbClr val="1F1F1F"/>
                          </a:solidFill>
                          <a:latin typeface="Calibri"/>
                        </a:rPr>
                        <a:t>não extraída</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127/160</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Declarações trimestrais</a:t>
            </a:r>
          </a:p>
        </p:txBody>
      </p:sp>
      <p:graphicFrame>
        <p:nvGraphicFramePr>
          <p:cNvPr id="3" name="Table 2"/>
          <p:cNvGraphicFramePr>
            <a:graphicFrameLocks noGrp="1"/>
          </p:cNvGraphicFramePr>
          <p:nvPr/>
        </p:nvGraphicFramePr>
        <p:xfrm>
          <a:off x="438912" y="932688"/>
          <a:ext cx="11313868" cy="5253228"/>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4782312">
                <a:tc>
                  <a:txBody>
                    <a:bodyPr wrap="square">
                      <a:noAutofit/>
                    </a:bodyPr>
                    <a:lstStyle/>
                    <a:p>
                      <a:pPr algn="l">
                        <a:lnSpc>
                          <a:spcPct val="100000"/>
                        </a:lnSpc>
                        <a:spcBef>
                          <a:spcPts val="0"/>
                        </a:spcBef>
                        <a:spcAft>
                          <a:spcPts val="0"/>
                        </a:spcAft>
                      </a:pPr>
                      <a:r>
                        <a:rPr sz="1300" b="1">
                          <a:solidFill>
                            <a:srgbClr val="1F1F1F"/>
                          </a:solidFill>
                          <a:latin typeface="Calibri"/>
                        </a:rPr>
                        <a:t>Alienação de direitos</a:t>
                      </a:r>
                    </a:p>
                    <a:p>
                      <a:pPr algn="l">
                        <a:lnSpc>
                          <a:spcPct val="100000"/>
                        </a:lnSpc>
                        <a:spcBef>
                          <a:spcPts val="0"/>
                        </a:spcBef>
                        <a:spcAft>
                          <a:spcPts val="0"/>
                        </a:spcAft>
                      </a:pPr>
                      <a:r>
                        <a:rPr sz="1300" b="1">
                          <a:solidFill>
                            <a:srgbClr val="1F1F1F"/>
                          </a:solidFill>
                          <a:latin typeface="Calibri"/>
                        </a:rPr>
                        <a:t>creditórios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Não se aplica, visto</a:t>
                      </a:r>
                    </a:p>
                    <a:p>
                      <a:pPr algn="l">
                        <a:lnSpc>
                          <a:spcPct val="100000"/>
                        </a:lnSpc>
                        <a:spcBef>
                          <a:spcPts val="0"/>
                        </a:spcBef>
                        <a:spcAft>
                          <a:spcPts val="0"/>
                        </a:spcAft>
                      </a:pPr>
                      <a:r>
                        <a:rPr sz="1300" b="0">
                          <a:solidFill>
                            <a:srgbClr val="1F1F1F"/>
                          </a:solidFill>
                          <a:latin typeface="Calibri"/>
                        </a:rPr>
                        <a:t>que não ocorreram</a:t>
                      </a:r>
                    </a:p>
                    <a:p>
                      <a:pPr algn="l">
                        <a:lnSpc>
                          <a:spcPct val="100000"/>
                        </a:lnSpc>
                        <a:spcBef>
                          <a:spcPts val="0"/>
                        </a:spcBef>
                        <a:spcAft>
                          <a:spcPts val="0"/>
                        </a:spcAft>
                      </a:pPr>
                      <a:r>
                        <a:rPr sz="1300" b="0">
                          <a:solidFill>
                            <a:srgbClr val="1F1F1F"/>
                          </a:solidFill>
                          <a:latin typeface="Calibri"/>
                        </a:rPr>
                        <a:t>eventos de alienação</a:t>
                      </a:r>
                    </a:p>
                    <a:p>
                      <a:pPr algn="l">
                        <a:lnSpc>
                          <a:spcPct val="100000"/>
                        </a:lnSpc>
                        <a:spcBef>
                          <a:spcPts val="0"/>
                        </a:spcBef>
                        <a:spcAft>
                          <a:spcPts val="0"/>
                        </a:spcAft>
                      </a:pPr>
                      <a:r>
                        <a:rPr sz="1300" b="0">
                          <a:solidFill>
                            <a:srgbClr val="1F1F1F"/>
                          </a:solidFill>
                          <a:latin typeface="Calibri"/>
                        </a:rPr>
                        <a:t>neste trimestre.</a:t>
                      </a:r>
                    </a:p>
                    <a:p>
                      <a:pPr algn="l">
                        <a:lnSpc>
                          <a:spcPct val="100000"/>
                        </a:lnSpc>
                        <a:spcBef>
                          <a:spcPts val="0"/>
                        </a:spcBef>
                        <a:spcAft>
                          <a:spcPts val="0"/>
                        </a:spcAft>
                      </a:pPr>
                      <a:r>
                        <a:rPr sz="1300" b="0">
                          <a:solidFill>
                            <a:srgbClr val="1F1F1F"/>
                          </a:solidFill>
                          <a:latin typeface="Calibri"/>
                        </a:rPr>
                        <a:t>Declaração do informe</a:t>
                      </a:r>
                    </a:p>
                    <a:p>
                      <a:pPr algn="l">
                        <a:lnSpc>
                          <a:spcPct val="100000"/>
                        </a:lnSpc>
                        <a:spcBef>
                          <a:spcPts val="0"/>
                        </a:spcBef>
                        <a:spcAft>
                          <a:spcPts val="0"/>
                        </a:spcAft>
                      </a:pPr>
                      <a:r>
                        <a:rPr sz="1300" b="0">
                          <a:solidFill>
                            <a:srgbClr val="1F1F1F"/>
                          </a:solidFill>
                          <a:latin typeface="Calibri"/>
                        </a:rPr>
                        <a:t>trimestral</a:t>
                      </a:r>
                    </a:p>
                    <a:p>
                      <a:pPr algn="l">
                        <a:lnSpc>
                          <a:spcPct val="100000"/>
                        </a:lnSpc>
                        <a:spcBef>
                          <a:spcPts val="0"/>
                        </a:spcBef>
                        <a:spcAft>
                          <a:spcPts val="0"/>
                        </a:spcAft>
                      </a:pPr>
                      <a:r>
                        <a:rPr sz="1300" b="0">
                          <a:solidFill>
                            <a:srgbClr val="1F1F1F"/>
                          </a:solidFill>
                          <a:latin typeface="Calibri"/>
                        </a:rPr>
                        <a:t>2026-Q2 · Resposta</a:t>
                      </a:r>
                    </a:p>
                    <a:p>
                      <a:pPr algn="l">
                        <a:lnSpc>
                          <a:spcPct val="100000"/>
                        </a:lnSpc>
                        <a:spcBef>
                          <a:spcPts val="0"/>
                        </a:spcBef>
                        <a:spcAft>
                          <a:spcPts val="0"/>
                        </a:spcAft>
                      </a:pPr>
                      <a:r>
                        <a:rPr sz="1300" b="0">
                          <a:solidFill>
                            <a:srgbClr val="1F1F1F"/>
                          </a:solidFill>
                          <a:latin typeface="Calibri"/>
                        </a:rPr>
                        <a:t>declarada no informe; a</a:t>
                      </a:r>
                    </a:p>
                    <a:p>
                      <a:pPr algn="l">
                        <a:lnSpc>
                          <a:spcPct val="100000"/>
                        </a:lnSpc>
                        <a:spcBef>
                          <a:spcPts val="0"/>
                        </a:spcBef>
                        <a:spcAft>
                          <a:spcPts val="0"/>
                        </a:spcAft>
                      </a:pPr>
                      <a:r>
                        <a:rPr sz="1300" b="0">
                          <a:solidFill>
                            <a:srgbClr val="1F1F1F"/>
                          </a:solidFill>
                          <a:latin typeface="Calibri"/>
                        </a:rPr>
                        <a:t>cláusula permanece no</a:t>
                      </a:r>
                    </a:p>
                    <a:p>
                      <a:pPr algn="l">
                        <a:lnSpc>
                          <a:spcPct val="100000"/>
                        </a:lnSpc>
                        <a:spcBef>
                          <a:spcPts val="0"/>
                        </a:spcBef>
                        <a:spcAft>
                          <a:spcPts val="0"/>
                        </a:spcAft>
                      </a:pPr>
                      <a:r>
                        <a:rPr sz="1300" b="0">
                          <a:solidFill>
                            <a:srgbClr val="1F1F1F"/>
                          </a:solidFill>
                          <a:latin typeface="Calibri"/>
                        </a:rPr>
                        <a:t>documento normativo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No trimestre base o</a:t>
                      </a:r>
                    </a:p>
                    <a:p>
                      <a:pPr algn="l">
                        <a:lnSpc>
                          <a:spcPct val="100000"/>
                        </a:lnSpc>
                        <a:spcBef>
                          <a:spcPts val="0"/>
                        </a:spcBef>
                        <a:spcAft>
                          <a:spcPts val="0"/>
                        </a:spcAft>
                      </a:pPr>
                      <a:r>
                        <a:rPr sz="1300" b="0">
                          <a:solidFill>
                            <a:srgbClr val="1F1F1F"/>
                          </a:solidFill>
                          <a:latin typeface="Calibri"/>
                        </a:rPr>
                        <a:t>fundo teve eventos de</a:t>
                      </a:r>
                    </a:p>
                    <a:p>
                      <a:pPr algn="l">
                        <a:lnSpc>
                          <a:spcPct val="100000"/>
                        </a:lnSpc>
                        <a:spcBef>
                          <a:spcPts val="0"/>
                        </a:spcBef>
                        <a:spcAft>
                          <a:spcPts val="0"/>
                        </a:spcAft>
                      </a:pPr>
                      <a:r>
                        <a:rPr sz="1300" b="0">
                          <a:solidFill>
                            <a:srgbClr val="1F1F1F"/>
                          </a:solidFill>
                          <a:latin typeface="Calibri"/>
                        </a:rPr>
                        <a:t>alienação de uma</a:t>
                      </a:r>
                    </a:p>
                    <a:p>
                      <a:pPr algn="l">
                        <a:lnSpc>
                          <a:spcPct val="100000"/>
                        </a:lnSpc>
                        <a:spcBef>
                          <a:spcPts val="0"/>
                        </a:spcBef>
                        <a:spcAft>
                          <a:spcPts val="0"/>
                        </a:spcAft>
                      </a:pPr>
                      <a:r>
                        <a:rPr sz="1300" b="0">
                          <a:solidFill>
                            <a:srgbClr val="1F1F1F"/>
                          </a:solidFill>
                          <a:latin typeface="Calibri"/>
                        </a:rPr>
                        <a:t>parcela dos direitos</a:t>
                      </a:r>
                    </a:p>
                    <a:p>
                      <a:pPr algn="l">
                        <a:lnSpc>
                          <a:spcPct val="100000"/>
                        </a:lnSpc>
                        <a:spcBef>
                          <a:spcPts val="0"/>
                        </a:spcBef>
                        <a:spcAft>
                          <a:spcPts val="0"/>
                        </a:spcAft>
                      </a:pPr>
                      <a:r>
                        <a:rPr sz="1300" b="0">
                          <a:solidFill>
                            <a:srgbClr val="1F1F1F"/>
                          </a:solidFill>
                          <a:latin typeface="Calibri"/>
                        </a:rPr>
                        <a:t>creditórios de sua</a:t>
                      </a:r>
                    </a:p>
                    <a:p>
                      <a:pPr algn="l">
                        <a:lnSpc>
                          <a:spcPct val="100000"/>
                        </a:lnSpc>
                        <a:spcBef>
                          <a:spcPts val="0"/>
                        </a:spcBef>
                        <a:spcAft>
                          <a:spcPts val="0"/>
                        </a:spcAft>
                      </a:pPr>
                      <a:r>
                        <a:rPr sz="1300" b="0">
                          <a:solidFill>
                            <a:srgbClr val="1F1F1F"/>
                          </a:solidFill>
                          <a:latin typeface="Calibri"/>
                        </a:rPr>
                        <a:t>carteira. Como</a:t>
                      </a:r>
                    </a:p>
                    <a:p>
                      <a:pPr algn="l">
                        <a:lnSpc>
                          <a:spcPct val="100000"/>
                        </a:lnSpc>
                        <a:spcBef>
                          <a:spcPts val="0"/>
                        </a:spcBef>
                        <a:spcAft>
                          <a:spcPts val="0"/>
                        </a:spcAft>
                      </a:pPr>
                      <a:r>
                        <a:rPr sz="1300" b="0">
                          <a:solidFill>
                            <a:srgbClr val="1F1F1F"/>
                          </a:solidFill>
                          <a:latin typeface="Calibri"/>
                        </a:rPr>
                        <a:t>principal motivo para a</a:t>
                      </a:r>
                    </a:p>
                    <a:p>
                      <a:pPr algn="l">
                        <a:lnSpc>
                          <a:spcPct val="100000"/>
                        </a:lnSpc>
                        <a:spcBef>
                          <a:spcPts val="0"/>
                        </a:spcBef>
                        <a:spcAft>
                          <a:spcPts val="0"/>
                        </a:spcAft>
                      </a:pPr>
                      <a:r>
                        <a:rPr sz="1300" b="0">
                          <a:solidFill>
                            <a:srgbClr val="1F1F1F"/>
                          </a:solidFill>
                          <a:latin typeface="Calibri"/>
                        </a:rPr>
                        <a:t>realização desta</a:t>
                      </a:r>
                    </a:p>
                    <a:p>
                      <a:pPr algn="l">
                        <a:lnSpc>
                          <a:spcPct val="100000"/>
                        </a:lnSpc>
                        <a:spcBef>
                          <a:spcPts val="0"/>
                        </a:spcBef>
                        <a:spcAft>
                          <a:spcPts val="0"/>
                        </a:spcAft>
                      </a:pPr>
                      <a:r>
                        <a:rPr sz="1300" b="0">
                          <a:solidFill>
                            <a:srgbClr val="1F1F1F"/>
                          </a:solidFill>
                          <a:latin typeface="Calibri"/>
                        </a:rPr>
                        <a:t>operação temos: A</a:t>
                      </a:r>
                    </a:p>
                    <a:p>
                      <a:pPr algn="l">
                        <a:lnSpc>
                          <a:spcPct val="100000"/>
                        </a:lnSpc>
                        <a:spcBef>
                          <a:spcPts val="0"/>
                        </a:spcBef>
                        <a:spcAft>
                          <a:spcPts val="0"/>
                        </a:spcAft>
                      </a:pPr>
                      <a:r>
                        <a:rPr sz="1300" b="0">
                          <a:solidFill>
                            <a:srgbClr val="1F1F1F"/>
                          </a:solidFill>
                          <a:latin typeface="Calibri"/>
                        </a:rPr>
                        <a:t>realocação de</a:t>
                      </a:r>
                    </a:p>
                    <a:p>
                      <a:pPr algn="l">
                        <a:lnSpc>
                          <a:spcPct val="100000"/>
                        </a:lnSpc>
                        <a:spcBef>
                          <a:spcPts val="0"/>
                        </a:spcBef>
                        <a:spcAft>
                          <a:spcPts val="0"/>
                        </a:spcAft>
                      </a:pPr>
                      <a:r>
                        <a:rPr sz="1300" b="0">
                          <a:solidFill>
                            <a:srgbClr val="1F1F1F"/>
                          </a:solidFill>
                          <a:latin typeface="Calibri"/>
                        </a:rPr>
                        <a:t>investimentos da</a:t>
                      </a:r>
                    </a:p>
                    <a:p>
                      <a:pPr algn="l">
                        <a:lnSpc>
                          <a:spcPct val="100000"/>
                        </a:lnSpc>
                        <a:spcBef>
                          <a:spcPts val="0"/>
                        </a:spcBef>
                        <a:spcAft>
                          <a:spcPts val="0"/>
                        </a:spcAft>
                      </a:pPr>
                      <a:r>
                        <a:rPr sz="1300" b="0">
                          <a:solidFill>
                            <a:srgbClr val="1F1F1F"/>
                          </a:solidFill>
                          <a:latin typeface="Calibri"/>
                        </a:rPr>
                        <a:t>carteira.</a:t>
                      </a:r>
                    </a:p>
                    <a:p>
                      <a:pPr algn="l">
                        <a:lnSpc>
                          <a:spcPct val="100000"/>
                        </a:lnSpc>
                        <a:spcBef>
                          <a:spcPts val="0"/>
                        </a:spcBef>
                        <a:spcAft>
                          <a:spcPts val="0"/>
                        </a:spcAft>
                      </a:pPr>
                      <a:r>
                        <a:rPr sz="1300" b="0">
                          <a:solidFill>
                            <a:srgbClr val="1F1F1F"/>
                          </a:solidFill>
                          <a:latin typeface="Calibri"/>
                        </a:rPr>
                        <a:t>Declaração do informe</a:t>
                      </a:r>
                    </a:p>
                    <a:p>
                      <a:pPr algn="l">
                        <a:lnSpc>
                          <a:spcPct val="100000"/>
                        </a:lnSpc>
                        <a:spcBef>
                          <a:spcPts val="0"/>
                        </a:spcBef>
                        <a:spcAft>
                          <a:spcPts val="0"/>
                        </a:spcAft>
                      </a:pPr>
                      <a:r>
                        <a:rPr sz="1300" b="0">
                          <a:solidFill>
                            <a:srgbClr val="1F1F1F"/>
                          </a:solidFill>
                          <a:latin typeface="Calibri"/>
                        </a:rPr>
                        <a:t>trimestral</a:t>
                      </a:r>
                    </a:p>
                    <a:p>
                      <a:pPr algn="l">
                        <a:lnSpc>
                          <a:spcPct val="100000"/>
                        </a:lnSpc>
                        <a:spcBef>
                          <a:spcPts val="0"/>
                        </a:spcBef>
                        <a:spcAft>
                          <a:spcPts val="0"/>
                        </a:spcAft>
                      </a:pPr>
                      <a:r>
                        <a:rPr sz="1300" b="0">
                          <a:solidFill>
                            <a:srgbClr val="1F1F1F"/>
                          </a:solidFill>
                          <a:latin typeface="Calibri"/>
                        </a:rPr>
                        <a:t>2026-Q2 · Resposta</a:t>
                      </a:r>
                    </a:p>
                    <a:p>
                      <a:pPr algn="l">
                        <a:lnSpc>
                          <a:spcPct val="100000"/>
                        </a:lnSpc>
                        <a:spcBef>
                          <a:spcPts val="0"/>
                        </a:spcBef>
                        <a:spcAft>
                          <a:spcPts val="0"/>
                        </a:spcAft>
                      </a:pPr>
                      <a:r>
                        <a:rPr sz="1300" b="0">
                          <a:solidFill>
                            <a:srgbClr val="1F1F1F"/>
                          </a:solidFill>
                          <a:latin typeface="Calibri"/>
                        </a:rPr>
                        <a:t>declarada no informe; a</a:t>
                      </a:r>
                    </a:p>
                    <a:p>
                      <a:pPr algn="l">
                        <a:lnSpc>
                          <a:spcPct val="100000"/>
                        </a:lnSpc>
                        <a:spcBef>
                          <a:spcPts val="0"/>
                        </a:spcBef>
                        <a:spcAft>
                          <a:spcPts val="0"/>
                        </a:spcAft>
                      </a:pPr>
                      <a:r>
                        <a:rPr sz="1300" b="0">
                          <a:solidFill>
                            <a:srgbClr val="1F1F1F"/>
                          </a:solidFill>
                          <a:latin typeface="Calibri"/>
                        </a:rPr>
                        <a:t>cláusula permanece no</a:t>
                      </a:r>
                    </a:p>
                    <a:p>
                      <a:pPr algn="l">
                        <a:lnSpc>
                          <a:spcPct val="100000"/>
                        </a:lnSpc>
                        <a:spcBef>
                          <a:spcPts val="0"/>
                        </a:spcBef>
                        <a:spcAft>
                          <a:spcPts val="0"/>
                        </a:spcAft>
                      </a:pPr>
                      <a:r>
                        <a:rPr sz="1300" b="0">
                          <a:solidFill>
                            <a:srgbClr val="1F1F1F"/>
                          </a:solidFill>
                          <a:latin typeface="Calibri"/>
                        </a:rPr>
                        <a:t>documento normativo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Declaração trimestral</a:t>
                      </a:r>
                    </a:p>
                    <a:p>
                      <a:pPr algn="l">
                        <a:lnSpc>
                          <a:spcPct val="100000"/>
                        </a:lnSpc>
                        <a:spcBef>
                          <a:spcPts val="0"/>
                        </a:spcBef>
                        <a:spcAft>
                          <a:spcPts val="0"/>
                        </a:spcAft>
                      </a:pPr>
                      <a:r>
                        <a:rPr sz="1300" b="0">
                          <a:solidFill>
                            <a:srgbClr val="1F1F1F"/>
                          </a:solidFill>
                          <a:latin typeface="Calibri"/>
                        </a:rPr>
                        <a:t>não extraída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Momentodaalienação(ante</a:t>
                      </a:r>
                    </a:p>
                    <a:p>
                      <a:pPr algn="l">
                        <a:lnSpc>
                          <a:spcPct val="100000"/>
                        </a:lnSpc>
                        <a:spcBef>
                          <a:spcPts val="0"/>
                        </a:spcBef>
                        <a:spcAft>
                          <a:spcPts val="0"/>
                        </a:spcAft>
                      </a:pPr>
                      <a:r>
                        <a:rPr sz="1300" b="0">
                          <a:solidFill>
                            <a:srgbClr val="1F1F1F"/>
                          </a:solidFill>
                          <a:latin typeface="Calibri"/>
                        </a:rPr>
                        <a:t>soudepoisdovencimento);</a:t>
                      </a:r>
                    </a:p>
                    <a:p>
                      <a:pPr algn="l">
                        <a:lnSpc>
                          <a:spcPct val="100000"/>
                        </a:lnSpc>
                        <a:spcBef>
                          <a:spcPts val="0"/>
                        </a:spcBef>
                        <a:spcAft>
                          <a:spcPts val="0"/>
                        </a:spcAft>
                      </a:pPr>
                      <a:r>
                        <a:rPr sz="1300" b="0">
                          <a:solidFill>
                            <a:srgbClr val="1F1F1F"/>
                          </a:solidFill>
                          <a:latin typeface="Calibri"/>
                        </a:rPr>
                        <a:t>Resposta: Não ocorreram</a:t>
                      </a:r>
                    </a:p>
                    <a:p>
                      <a:pPr algn="l">
                        <a:lnSpc>
                          <a:spcPct val="100000"/>
                        </a:lnSpc>
                        <a:spcBef>
                          <a:spcPts val="0"/>
                        </a:spcBef>
                        <a:spcAft>
                          <a:spcPts val="0"/>
                        </a:spcAft>
                      </a:pPr>
                      <a:r>
                        <a:rPr sz="1300" b="0">
                          <a:solidFill>
                            <a:srgbClr val="1F1F1F"/>
                          </a:solidFill>
                          <a:latin typeface="Calibri"/>
                        </a:rPr>
                        <a:t>alienação de ativos da</a:t>
                      </a:r>
                    </a:p>
                    <a:p>
                      <a:pPr algn="l">
                        <a:lnSpc>
                          <a:spcPct val="100000"/>
                        </a:lnSpc>
                        <a:spcBef>
                          <a:spcPts val="0"/>
                        </a:spcBef>
                        <a:spcAft>
                          <a:spcPts val="0"/>
                        </a:spcAft>
                      </a:pPr>
                      <a:r>
                        <a:rPr sz="1300" b="0">
                          <a:solidFill>
                            <a:srgbClr val="1F1F1F"/>
                          </a:solidFill>
                          <a:latin typeface="Calibri"/>
                        </a:rPr>
                        <a:t>carteira do Fundo,</a:t>
                      </a:r>
                    </a:p>
                    <a:p>
                      <a:pPr algn="l">
                        <a:lnSpc>
                          <a:spcPct val="100000"/>
                        </a:lnSpc>
                        <a:spcBef>
                          <a:spcPts val="0"/>
                        </a:spcBef>
                        <a:spcAft>
                          <a:spcPts val="0"/>
                        </a:spcAft>
                      </a:pPr>
                      <a:r>
                        <a:rPr sz="1300" b="0">
                          <a:solidFill>
                            <a:srgbClr val="1F1F1F"/>
                          </a:solidFill>
                          <a:latin typeface="Calibri"/>
                        </a:rPr>
                        <a:t>exceto no curso normal</a:t>
                      </a:r>
                    </a:p>
                    <a:p>
                      <a:pPr algn="l">
                        <a:lnSpc>
                          <a:spcPct val="100000"/>
                        </a:lnSpc>
                        <a:spcBef>
                          <a:spcPts val="0"/>
                        </a:spcBef>
                        <a:spcAft>
                          <a:spcPts val="0"/>
                        </a:spcAft>
                      </a:pPr>
                      <a:r>
                        <a:rPr sz="1300" b="0">
                          <a:solidFill>
                            <a:srgbClr val="1F1F1F"/>
                          </a:solidFill>
                          <a:latin typeface="Calibri"/>
                        </a:rPr>
                        <a:t>dosnegócios.</a:t>
                      </a:r>
                    </a:p>
                    <a:p>
                      <a:pPr algn="l">
                        <a:lnSpc>
                          <a:spcPct val="100000"/>
                        </a:lnSpc>
                        <a:spcBef>
                          <a:spcPts val="0"/>
                        </a:spcBef>
                        <a:spcAft>
                          <a:spcPts val="0"/>
                        </a:spcAft>
                      </a:pPr>
                      <a:r>
                        <a:rPr sz="1300" b="0">
                          <a:solidFill>
                            <a:srgbClr val="1F1F1F"/>
                          </a:solidFill>
                          <a:latin typeface="Calibri"/>
                        </a:rPr>
                        <a:t>Motivaçãodaalienação;</a:t>
                      </a:r>
                    </a:p>
                    <a:p>
                      <a:pPr algn="l">
                        <a:lnSpc>
                          <a:spcPct val="100000"/>
                        </a:lnSpc>
                        <a:spcBef>
                          <a:spcPts val="0"/>
                        </a:spcBef>
                        <a:spcAft>
                          <a:spcPts val="0"/>
                        </a:spcAft>
                      </a:pPr>
                      <a:r>
                        <a:rPr sz="1300" b="0">
                          <a:solidFill>
                            <a:srgbClr val="1F1F1F"/>
                          </a:solidFill>
                          <a:latin typeface="Calibri"/>
                        </a:rPr>
                        <a:t>Resposta: Não ocorreram</a:t>
                      </a:r>
                    </a:p>
                    <a:p>
                      <a:pPr algn="l">
                        <a:lnSpc>
                          <a:spcPct val="100000"/>
                        </a:lnSpc>
                        <a:spcBef>
                          <a:spcPts val="0"/>
                        </a:spcBef>
                        <a:spcAft>
                          <a:spcPts val="0"/>
                        </a:spcAft>
                      </a:pPr>
                      <a:r>
                        <a:rPr sz="1300" b="0">
                          <a:solidFill>
                            <a:srgbClr val="1F1F1F"/>
                          </a:solidFill>
                          <a:latin typeface="Calibri"/>
                        </a:rPr>
                        <a:t>alienação de ativos da</a:t>
                      </a:r>
                    </a:p>
                    <a:p>
                      <a:pPr algn="l">
                        <a:lnSpc>
                          <a:spcPct val="100000"/>
                        </a:lnSpc>
                        <a:spcBef>
                          <a:spcPts val="0"/>
                        </a:spcBef>
                        <a:spcAft>
                          <a:spcPts val="0"/>
                        </a:spcAft>
                      </a:pPr>
                      <a:r>
                        <a:rPr sz="1300" b="0">
                          <a:solidFill>
                            <a:srgbClr val="1F1F1F"/>
                          </a:solidFill>
                          <a:latin typeface="Calibri"/>
                        </a:rPr>
                        <a:t>carteira do Fundo,</a:t>
                      </a:r>
                    </a:p>
                    <a:p>
                      <a:pPr algn="l">
                        <a:lnSpc>
                          <a:spcPct val="100000"/>
                        </a:lnSpc>
                        <a:spcBef>
                          <a:spcPts val="0"/>
                        </a:spcBef>
                        <a:spcAft>
                          <a:spcPts val="0"/>
                        </a:spcAft>
                      </a:pPr>
                      <a:r>
                        <a:rPr sz="1300" b="0">
                          <a:solidFill>
                            <a:srgbClr val="1F1F1F"/>
                          </a:solidFill>
                          <a:latin typeface="Calibri"/>
                        </a:rPr>
                        <a:t>exceto no curso normal</a:t>
                      </a:r>
                    </a:p>
                    <a:p>
                      <a:pPr algn="l">
                        <a:lnSpc>
                          <a:spcPct val="100000"/>
                        </a:lnSpc>
                        <a:spcBef>
                          <a:spcPts val="0"/>
                        </a:spcBef>
                        <a:spcAft>
                          <a:spcPts val="0"/>
                        </a:spcAft>
                      </a:pPr>
                      <a:r>
                        <a:rPr sz="1300" b="0">
                          <a:solidFill>
                            <a:srgbClr val="1F1F1F"/>
                          </a:solidFill>
                          <a:latin typeface="Calibri"/>
                        </a:rPr>
                        <a:t>dosnegócios. Impactonov</a:t>
                      </a:r>
                    </a:p>
                    <a:p>
                      <a:pPr algn="l">
                        <a:lnSpc>
                          <a:spcPct val="100000"/>
                        </a:lnSpc>
                        <a:spcBef>
                          <a:spcPts val="0"/>
                        </a:spcBef>
                        <a:spcAft>
                          <a:spcPts val="0"/>
                        </a:spcAft>
                      </a:pPr>
                      <a:r>
                        <a:rPr sz="1300" b="0">
                          <a:solidFill>
                            <a:srgbClr val="1F1F1F"/>
                          </a:solidFill>
                          <a:latin typeface="Calibri"/>
                        </a:rPr>
                        <a:t>alordopatrimôniolíquido</a:t>
                      </a:r>
                    </a:p>
                    <a:p>
                      <a:pPr algn="l">
                        <a:lnSpc>
                          <a:spcPct val="100000"/>
                        </a:lnSpc>
                        <a:spcBef>
                          <a:spcPts val="0"/>
                        </a:spcBef>
                        <a:spcAft>
                          <a:spcPts val="0"/>
                        </a:spcAft>
                      </a:pPr>
                      <a:r>
                        <a:rPr sz="1300" b="0">
                          <a:solidFill>
                            <a:srgbClr val="1F1F1F"/>
                          </a:solidFill>
                          <a:latin typeface="Calibri"/>
                        </a:rPr>
                        <a:t>enarentabilidadedacarte</a:t>
                      </a:r>
                    </a:p>
                    <a:p>
                      <a:pPr algn="l">
                        <a:lnSpc>
                          <a:spcPct val="100000"/>
                        </a:lnSpc>
                        <a:spcBef>
                          <a:spcPts val="0"/>
                        </a:spcBef>
                        <a:spcAft>
                          <a:spcPts val="0"/>
                        </a:spcAft>
                      </a:pPr>
                      <a:r>
                        <a:rPr sz="1300" b="0">
                          <a:solidFill>
                            <a:srgbClr val="1F1F1F"/>
                          </a:solidFill>
                          <a:latin typeface="Calibri"/>
                        </a:rPr>
                        <a:t>iradeativosdeumapossíve</a:t>
                      </a:r>
                    </a:p>
                    <a:p>
                      <a:pPr algn="l">
                        <a:lnSpc>
                          <a:spcPct val="100000"/>
                        </a:lnSpc>
                        <a:spcBef>
                          <a:spcPts val="0"/>
                        </a:spcBef>
                        <a:spcAft>
                          <a:spcPts val="0"/>
                        </a:spcAft>
                      </a:pPr>
                      <a:r>
                        <a:rPr sz="1300" b="0">
                          <a:solidFill>
                            <a:srgbClr val="1F1F1F"/>
                          </a:solidFill>
                          <a:latin typeface="Calibri"/>
                        </a:rPr>
                        <a:t>l descontinuidade, a</a:t>
                      </a:r>
                    </a:p>
                    <a:p>
                      <a:pPr algn="l">
                        <a:lnSpc>
                          <a:spcPct val="100000"/>
                        </a:lnSpc>
                        <a:spcBef>
                          <a:spcPts val="0"/>
                        </a:spcBef>
                        <a:spcAft>
                          <a:spcPts val="0"/>
                        </a:spcAft>
                      </a:pPr>
                      <a:r>
                        <a:rPr sz="1300" b="0">
                          <a:solidFill>
                            <a:srgbClr val="1F1F1F"/>
                          </a:solidFill>
                          <a:latin typeface="Calibri"/>
                        </a:rPr>
                        <a:t>qualquer título, da</a:t>
                      </a:r>
                    </a:p>
                    <a:p>
                      <a:pPr algn="l">
                        <a:lnSpc>
                          <a:spcPct val="100000"/>
                        </a:lnSpc>
                        <a:spcBef>
                          <a:spcPts val="0"/>
                        </a:spcBef>
                        <a:spcAft>
                          <a:spcPts val="0"/>
                        </a:spcAft>
                      </a:pPr>
                      <a:r>
                        <a:rPr sz="1300" b="0">
                          <a:solidFill>
                            <a:srgbClr val="1F1F1F"/>
                          </a:solidFill>
                          <a:latin typeface="Calibri"/>
                        </a:rPr>
                        <a:t>originação ou cessão de</a:t>
                      </a:r>
                    </a:p>
                    <a:p>
                      <a:pPr algn="l">
                        <a:lnSpc>
                          <a:spcPct val="100000"/>
                        </a:lnSpc>
                        <a:spcBef>
                          <a:spcPts val="0"/>
                        </a:spcBef>
                        <a:spcAft>
                          <a:spcPts val="0"/>
                        </a:spcAft>
                      </a:pPr>
                      <a:r>
                        <a:rPr sz="1300" b="0">
                          <a:solidFill>
                            <a:srgbClr val="1F1F1F"/>
                          </a:solidFill>
                          <a:latin typeface="Calibri"/>
                        </a:rPr>
                        <a:t>direitos creditórios;</a:t>
                      </a:r>
                    </a:p>
                    <a:p>
                      <a:pPr algn="l">
                        <a:lnSpc>
                          <a:spcPct val="100000"/>
                        </a:lnSpc>
                        <a:spcBef>
                          <a:spcPts val="0"/>
                        </a:spcBef>
                        <a:spcAft>
                          <a:spcPts val="0"/>
                        </a:spcAft>
                      </a:pPr>
                      <a:r>
                        <a:rPr sz="1300" b="0">
                          <a:solidFill>
                            <a:srgbClr val="1F1F1F"/>
                          </a:solidFill>
                          <a:latin typeface="Calibri"/>
                        </a:rPr>
                        <a:t>Resposta:Nãohá. Informa</a:t>
                      </a:r>
                    </a:p>
                    <a:p>
                      <a:pPr algn="l">
                        <a:lnSpc>
                          <a:spcPct val="100000"/>
                        </a:lnSpc>
                        <a:spcBef>
                          <a:spcPts val="0"/>
                        </a:spcBef>
                        <a:spcAft>
                          <a:spcPts val="0"/>
                        </a:spcAft>
                      </a:pPr>
                      <a:r>
                        <a:rPr sz="1300" b="0">
                          <a:solidFill>
                            <a:srgbClr val="1F1F1F"/>
                          </a:solidFill>
                          <a:latin typeface="Calibri"/>
                        </a:rPr>
                        <a:t>çõessobrefatosocorridos</a:t>
                      </a:r>
                    </a:p>
                    <a:p>
                      <a:pPr algn="l">
                        <a:lnSpc>
                          <a:spcPct val="100000"/>
                        </a:lnSpc>
                        <a:spcBef>
                          <a:spcPts val="0"/>
                        </a:spcBef>
                        <a:spcAft>
                          <a:spcPts val="0"/>
                        </a:spcAft>
                      </a:pPr>
                      <a:r>
                        <a:rPr sz="1300" b="0">
                          <a:solidFill>
                            <a:srgbClr val="1F1F1F"/>
                          </a:solidFill>
                          <a:latin typeface="Calibri"/>
                        </a:rPr>
                        <a:t>queafetaramaregularidad</a:t>
                      </a:r>
                    </a:p>
                    <a:p>
                      <a:pPr algn="l">
                        <a:lnSpc>
                          <a:spcPct val="100000"/>
                        </a:lnSpc>
                        <a:spcBef>
                          <a:spcPts val="0"/>
                        </a:spcBef>
                        <a:spcAft>
                          <a:spcPts val="0"/>
                        </a:spcAft>
                      </a:pPr>
                      <a:r>
                        <a:rPr sz="1300" b="0">
                          <a:solidFill>
                            <a:srgbClr val="1F1F1F"/>
                          </a:solidFill>
                          <a:latin typeface="Calibri"/>
                        </a:rPr>
                        <a:t>edosfluxosfinanceirosor</a:t>
                      </a:r>
                    </a:p>
                    <a:p>
                      <a:pPr algn="l">
                        <a:lnSpc>
                          <a:spcPct val="100000"/>
                        </a:lnSpc>
                        <a:spcBef>
                          <a:spcPts val="0"/>
                        </a:spcBef>
                        <a:spcAft>
                          <a:spcPts val="0"/>
                        </a:spcAft>
                      </a:pPr>
                      <a:r>
                        <a:rPr sz="1300" b="0">
                          <a:solidFill>
                            <a:srgbClr val="1F1F1F"/>
                          </a:solidFill>
                          <a:latin typeface="Calibri"/>
                        </a:rPr>
                        <a:t>iundosdos direitoscredi</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128/160</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Declarações trimestrais</a:t>
            </a:r>
          </a:p>
        </p:txBody>
      </p:sp>
      <p:graphicFrame>
        <p:nvGraphicFramePr>
          <p:cNvPr id="3" name="Table 2"/>
          <p:cNvGraphicFramePr>
            <a:graphicFrameLocks noGrp="1"/>
          </p:cNvGraphicFramePr>
          <p:nvPr/>
        </p:nvGraphicFramePr>
        <p:xfrm>
          <a:off x="438912" y="932688"/>
          <a:ext cx="11313868" cy="3941064"/>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3470148">
                <a:tc>
                  <a:txBody>
                    <a:bodyPr wrap="square">
                      <a:noAutofit/>
                    </a:bodyPr>
                    <a:lstStyle/>
                    <a:p>
                      <a:pPr algn="l">
                        <a:lnSpc>
                          <a:spcPct val="100000"/>
                        </a:lnSpc>
                        <a:spcBef>
                          <a:spcPts val="0"/>
                        </a:spcBef>
                        <a:spcAft>
                          <a:spcPts val="0"/>
                        </a:spcAft>
                      </a:pPr>
                      <a:r>
                        <a:rPr sz="1300" b="1">
                          <a:solidFill>
                            <a:srgbClr val="1F1F1F"/>
                          </a:solidFill>
                          <a:latin typeface="Calibri"/>
                        </a:rPr>
                        <a:t>Alienação de direitos</a:t>
                      </a:r>
                    </a:p>
                    <a:p>
                      <a:pPr algn="l">
                        <a:lnSpc>
                          <a:spcPct val="100000"/>
                        </a:lnSpc>
                        <a:spcBef>
                          <a:spcPts val="0"/>
                        </a:spcBef>
                        <a:spcAft>
                          <a:spcPts val="0"/>
                        </a:spcAft>
                      </a:pPr>
                      <a:r>
                        <a:rPr sz="1300" b="1">
                          <a:solidFill>
                            <a:srgbClr val="1F1F1F"/>
                          </a:solidFill>
                          <a:latin typeface="Calibri"/>
                        </a:rPr>
                        <a:t>creditórios</a:t>
                      </a:r>
                    </a:p>
                    <a:p>
                      <a:pPr algn="l">
                        <a:lnSpc>
                          <a:spcPct val="100000"/>
                        </a:lnSpc>
                        <a:spcBef>
                          <a:spcPts val="0"/>
                        </a:spcBef>
                        <a:spcAft>
                          <a:spcPts val="0"/>
                        </a:spcAft>
                      </a:pPr>
                      <a:r>
                        <a:rPr sz="1300" b="1">
                          <a:solidFill>
                            <a:srgbClr val="1F1F1F"/>
                          </a:solidFill>
                          <a:latin typeface="Calibri"/>
                        </a:rPr>
                        <a:t>(continuação)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tórios,incluindo,masnão</a:t>
                      </a:r>
                    </a:p>
                    <a:p>
                      <a:pPr algn="l">
                        <a:lnSpc>
                          <a:spcPct val="100000"/>
                        </a:lnSpc>
                        <a:spcBef>
                          <a:spcPts val="0"/>
                        </a:spcBef>
                        <a:spcAft>
                          <a:spcPts val="0"/>
                        </a:spcAft>
                      </a:pPr>
                      <a:r>
                        <a:rPr sz="1300" b="0">
                          <a:solidFill>
                            <a:srgbClr val="1F1F1F"/>
                          </a:solidFill>
                          <a:latin typeface="Calibri"/>
                        </a:rPr>
                        <a:t>selimitando,aquaisquere</a:t>
                      </a:r>
                    </a:p>
                    <a:p>
                      <a:pPr algn="l">
                        <a:lnSpc>
                          <a:spcPct val="100000"/>
                        </a:lnSpc>
                        <a:spcBef>
                          <a:spcPts val="0"/>
                        </a:spcBef>
                        <a:spcAft>
                          <a:spcPts val="0"/>
                        </a:spcAft>
                      </a:pPr>
                      <a:r>
                        <a:rPr sz="1300" b="0">
                          <a:solidFill>
                            <a:srgbClr val="1F1F1F"/>
                          </a:solidFill>
                          <a:latin typeface="Calibri"/>
                        </a:rPr>
                        <a:t>ventosqueacarretemnaliq</a:t>
                      </a:r>
                    </a:p>
                    <a:p>
                      <a:pPr algn="l">
                        <a:lnSpc>
                          <a:spcPct val="100000"/>
                        </a:lnSpc>
                        <a:spcBef>
                          <a:spcPts val="0"/>
                        </a:spcBef>
                        <a:spcAft>
                          <a:spcPts val="0"/>
                        </a:spcAft>
                      </a:pPr>
                      <a:r>
                        <a:rPr sz="1300" b="0">
                          <a:solidFill>
                            <a:srgbClr val="1F1F1F"/>
                          </a:solidFill>
                          <a:latin typeface="Calibri"/>
                        </a:rPr>
                        <a:t>uidação ou amortização</a:t>
                      </a:r>
                    </a:p>
                    <a:p>
                      <a:pPr algn="l">
                        <a:lnSpc>
                          <a:spcPct val="100000"/>
                        </a:lnSpc>
                        <a:spcBef>
                          <a:spcPts val="0"/>
                        </a:spcBef>
                        <a:spcAft>
                          <a:spcPts val="0"/>
                        </a:spcAft>
                      </a:pPr>
                      <a:r>
                        <a:rPr sz="1300" b="0">
                          <a:solidFill>
                            <a:srgbClr val="1F1F1F"/>
                          </a:solidFill>
                          <a:latin typeface="Calibri"/>
                        </a:rPr>
                        <a:t>antecipada de direitos</a:t>
                      </a:r>
                    </a:p>
                    <a:p>
                      <a:pPr algn="l">
                        <a:lnSpc>
                          <a:spcPct val="100000"/>
                        </a:lnSpc>
                        <a:spcBef>
                          <a:spcPts val="0"/>
                        </a:spcBef>
                        <a:spcAft>
                          <a:spcPts val="0"/>
                        </a:spcAft>
                      </a:pPr>
                      <a:r>
                        <a:rPr sz="1300" b="0">
                          <a:solidFill>
                            <a:srgbClr val="1F1F1F"/>
                          </a:solidFill>
                          <a:latin typeface="Calibri"/>
                        </a:rPr>
                        <a:t>creditórios. Resposta:</a:t>
                      </a:r>
                    </a:p>
                    <a:p>
                      <a:pPr algn="l">
                        <a:lnSpc>
                          <a:spcPct val="100000"/>
                        </a:lnSpc>
                        <a:spcBef>
                          <a:spcPts val="0"/>
                        </a:spcBef>
                        <a:spcAft>
                          <a:spcPts val="0"/>
                        </a:spcAft>
                      </a:pPr>
                      <a:r>
                        <a:rPr sz="1300" b="0">
                          <a:solidFill>
                            <a:srgbClr val="1F1F1F"/>
                          </a:solidFill>
                          <a:latin typeface="Calibri"/>
                        </a:rPr>
                        <a:t>Não ocorreram eventos</a:t>
                      </a:r>
                    </a:p>
                    <a:p>
                      <a:pPr algn="l">
                        <a:lnSpc>
                          <a:spcPct val="100000"/>
                        </a:lnSpc>
                        <a:spcBef>
                          <a:spcPts val="0"/>
                        </a:spcBef>
                        <a:spcAft>
                          <a:spcPts val="0"/>
                        </a:spcAft>
                      </a:pPr>
                      <a:r>
                        <a:rPr sz="1300" b="0">
                          <a:solidFill>
                            <a:srgbClr val="1F1F1F"/>
                          </a:solidFill>
                          <a:latin typeface="Calibri"/>
                        </a:rPr>
                        <a:t>relevantes que</a:t>
                      </a:r>
                    </a:p>
                    <a:p>
                      <a:pPr algn="l">
                        <a:lnSpc>
                          <a:spcPct val="100000"/>
                        </a:lnSpc>
                        <a:spcBef>
                          <a:spcPts val="0"/>
                        </a:spcBef>
                        <a:spcAft>
                          <a:spcPts val="0"/>
                        </a:spcAft>
                      </a:pPr>
                      <a:r>
                        <a:rPr sz="1300" b="0">
                          <a:solidFill>
                            <a:srgbClr val="1F1F1F"/>
                          </a:solidFill>
                          <a:latin typeface="Calibri"/>
                        </a:rPr>
                        <a:t>acarretaram a</a:t>
                      </a:r>
                    </a:p>
                    <a:p>
                      <a:pPr algn="l">
                        <a:lnSpc>
                          <a:spcPct val="100000"/>
                        </a:lnSpc>
                        <a:spcBef>
                          <a:spcPts val="0"/>
                        </a:spcBef>
                        <a:spcAft>
                          <a:spcPts val="0"/>
                        </a:spcAft>
                      </a:pPr>
                      <a:r>
                        <a:rPr sz="1300" b="0">
                          <a:solidFill>
                            <a:srgbClr val="1F1F1F"/>
                          </a:solidFill>
                          <a:latin typeface="Calibri"/>
                        </a:rPr>
                        <a:t>regularidade dos fluxos</a:t>
                      </a:r>
                    </a:p>
                    <a:p>
                      <a:pPr algn="l">
                        <a:lnSpc>
                          <a:spcPct val="100000"/>
                        </a:lnSpc>
                        <a:spcBef>
                          <a:spcPts val="0"/>
                        </a:spcBef>
                        <a:spcAft>
                          <a:spcPts val="0"/>
                        </a:spcAft>
                      </a:pPr>
                      <a:r>
                        <a:rPr sz="1300" b="0">
                          <a:solidFill>
                            <a:srgbClr val="1F1F1F"/>
                          </a:solidFill>
                          <a:latin typeface="Calibri"/>
                        </a:rPr>
                        <a:t>financeirosoriundos dos</a:t>
                      </a:r>
                    </a:p>
                    <a:p>
                      <a:pPr algn="l">
                        <a:lnSpc>
                          <a:spcPct val="100000"/>
                        </a:lnSpc>
                        <a:spcBef>
                          <a:spcPts val="0"/>
                        </a:spcBef>
                        <a:spcAft>
                          <a:spcPts val="0"/>
                        </a:spcAft>
                      </a:pPr>
                      <a:r>
                        <a:rPr sz="1300" b="0">
                          <a:solidFill>
                            <a:srgbClr val="1F1F1F"/>
                          </a:solidFill>
                          <a:latin typeface="Calibri"/>
                        </a:rPr>
                        <a:t>direitos creditórios.</a:t>
                      </a:r>
                    </a:p>
                    <a:p>
                      <a:pPr algn="l">
                        <a:lnSpc>
                          <a:spcPct val="100000"/>
                        </a:lnSpc>
                        <a:spcBef>
                          <a:spcPts val="0"/>
                        </a:spcBef>
                        <a:spcAft>
                          <a:spcPts val="0"/>
                        </a:spcAft>
                      </a:pPr>
                      <a:r>
                        <a:rPr sz="1300" b="0">
                          <a:solidFill>
                            <a:srgbClr val="1F1F1F"/>
                          </a:solidFill>
                          <a:latin typeface="Calibri"/>
                        </a:rPr>
                        <a:t>Declaração do informe</a:t>
                      </a:r>
                    </a:p>
                    <a:p>
                      <a:pPr algn="l">
                        <a:lnSpc>
                          <a:spcPct val="100000"/>
                        </a:lnSpc>
                        <a:spcBef>
                          <a:spcPts val="0"/>
                        </a:spcBef>
                        <a:spcAft>
                          <a:spcPts val="0"/>
                        </a:spcAft>
                      </a:pPr>
                      <a:r>
                        <a:rPr sz="1300" b="0">
                          <a:solidFill>
                            <a:srgbClr val="1F1F1F"/>
                          </a:solidFill>
                          <a:latin typeface="Calibri"/>
                        </a:rPr>
                        <a:t>trimestral</a:t>
                      </a:r>
                    </a:p>
                    <a:p>
                      <a:pPr algn="l">
                        <a:lnSpc>
                          <a:spcPct val="100000"/>
                        </a:lnSpc>
                        <a:spcBef>
                          <a:spcPts val="0"/>
                        </a:spcBef>
                        <a:spcAft>
                          <a:spcPts val="0"/>
                        </a:spcAft>
                      </a:pPr>
                      <a:r>
                        <a:rPr sz="1300" b="0">
                          <a:solidFill>
                            <a:srgbClr val="1F1F1F"/>
                          </a:solidFill>
                          <a:latin typeface="Calibri"/>
                        </a:rPr>
                        <a:t>2026-Q2 · Resposta</a:t>
                      </a:r>
                    </a:p>
                    <a:p>
                      <a:pPr algn="l">
                        <a:lnSpc>
                          <a:spcPct val="100000"/>
                        </a:lnSpc>
                        <a:spcBef>
                          <a:spcPts val="0"/>
                        </a:spcBef>
                        <a:spcAft>
                          <a:spcPts val="0"/>
                        </a:spcAft>
                      </a:pPr>
                      <a:r>
                        <a:rPr sz="1300" b="0">
                          <a:solidFill>
                            <a:srgbClr val="1F1F1F"/>
                          </a:solidFill>
                          <a:latin typeface="Calibri"/>
                        </a:rPr>
                        <a:t>declarada no informe; a</a:t>
                      </a:r>
                    </a:p>
                    <a:p>
                      <a:pPr algn="l">
                        <a:lnSpc>
                          <a:spcPct val="100000"/>
                        </a:lnSpc>
                        <a:spcBef>
                          <a:spcPts val="0"/>
                        </a:spcBef>
                        <a:spcAft>
                          <a:spcPts val="0"/>
                        </a:spcAft>
                      </a:pPr>
                      <a:r>
                        <a:rPr sz="1300" b="0">
                          <a:solidFill>
                            <a:srgbClr val="1F1F1F"/>
                          </a:solidFill>
                          <a:latin typeface="Calibri"/>
                        </a:rPr>
                        <a:t>cláusula permanece no</a:t>
                      </a:r>
                    </a:p>
                    <a:p>
                      <a:pPr algn="l">
                        <a:lnSpc>
                          <a:spcPct val="100000"/>
                        </a:lnSpc>
                        <a:spcBef>
                          <a:spcPts val="0"/>
                        </a:spcBef>
                        <a:spcAft>
                          <a:spcPts val="0"/>
                        </a:spcAft>
                      </a:pPr>
                      <a:r>
                        <a:rPr sz="1300" b="0">
                          <a:solidFill>
                            <a:srgbClr val="1F1F1F"/>
                          </a:solidFill>
                          <a:latin typeface="Calibri"/>
                        </a:rPr>
                        <a:t>documento normativo</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129/160</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Declarações trimestrais</a:t>
            </a:r>
          </a:p>
        </p:txBody>
      </p:sp>
      <p:graphicFrame>
        <p:nvGraphicFramePr>
          <p:cNvPr id="3" name="Table 2"/>
          <p:cNvGraphicFramePr>
            <a:graphicFrameLocks noGrp="1"/>
          </p:cNvGraphicFramePr>
          <p:nvPr/>
        </p:nvGraphicFramePr>
        <p:xfrm>
          <a:off x="438912" y="932688"/>
          <a:ext cx="11313868" cy="4503420"/>
        </p:xfrm>
        <a:graphic>
          <a:graphicData uri="http://schemas.openxmlformats.org/drawingml/2006/table">
            <a:tbl>
              <a:tblPr>
                <a:tableStyleId>{5C22544A-7EE6-4342-B048-85BDC9FD1C3A}</a:tableStyleId>
              </a:tblPr>
              <a:tblGrid>
                <a:gridCol w="2331720"/>
                <a:gridCol w="2245537"/>
                <a:gridCol w="2245537"/>
                <a:gridCol w="2245537"/>
                <a:gridCol w="2245537"/>
              </a:tblGrid>
              <a:tr h="470916">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Delta Consig. ·</a:t>
                      </a:r>
                    </a:p>
                    <a:p>
                      <a:pPr algn="l">
                        <a:lnSpc>
                          <a:spcPct val="100000"/>
                        </a:lnSpc>
                        <a:spcBef>
                          <a:spcPts val="0"/>
                        </a:spcBef>
                        <a:spcAft>
                          <a:spcPts val="0"/>
                        </a:spcAft>
                      </a:pPr>
                      <a:r>
                        <a:rPr sz="1300" b="1">
                          <a:solidFill>
                            <a:srgbClr val="1F1F1F"/>
                          </a:solidFill>
                          <a:latin typeface="Calibri"/>
                        </a:rPr>
                        <a:t>54871427000194</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Consig. I ·</a:t>
                      </a:r>
                    </a:p>
                    <a:p>
                      <a:pPr algn="l">
                        <a:lnSpc>
                          <a:spcPct val="100000"/>
                        </a:lnSpc>
                        <a:spcBef>
                          <a:spcPts val="0"/>
                        </a:spcBef>
                        <a:spcAft>
                          <a:spcPts val="0"/>
                        </a:spcAft>
                      </a:pPr>
                      <a:r>
                        <a:rPr sz="1300" b="1">
                          <a:solidFill>
                            <a:srgbClr val="1F1F1F"/>
                          </a:solidFill>
                          <a:latin typeface="Calibri"/>
                        </a:rPr>
                        <a:t>60010416000112</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Ceres Confina ·</a:t>
                      </a:r>
                    </a:p>
                    <a:p>
                      <a:pPr algn="l">
                        <a:lnSpc>
                          <a:spcPct val="100000"/>
                        </a:lnSpc>
                        <a:spcBef>
                          <a:spcPts val="0"/>
                        </a:spcBef>
                        <a:spcAft>
                          <a:spcPts val="0"/>
                        </a:spcAft>
                      </a:pPr>
                      <a:r>
                        <a:rPr sz="1300" b="1">
                          <a:solidFill>
                            <a:srgbClr val="1F1F1F"/>
                          </a:solidFill>
                          <a:latin typeface="Calibri"/>
                        </a:rPr>
                        <a:t>62696791000193</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PLGN Marketplace ·</a:t>
                      </a:r>
                    </a:p>
                    <a:p>
                      <a:pPr algn="l">
                        <a:lnSpc>
                          <a:spcPct val="100000"/>
                        </a:lnSpc>
                        <a:spcBef>
                          <a:spcPts val="0"/>
                        </a:spcBef>
                        <a:spcAft>
                          <a:spcPts val="0"/>
                        </a:spcAft>
                      </a:pPr>
                      <a:r>
                        <a:rPr sz="1300" b="1">
                          <a:solidFill>
                            <a:srgbClr val="1F1F1F"/>
                          </a:solidFill>
                          <a:latin typeface="Calibri"/>
                        </a:rPr>
                        <a:t>55563624000109</a:t>
                      </a:r>
                    </a:p>
                  </a:txBody>
                  <a:tcPr marL="91440" marR="91440" marT="41148" marB="41148" anchor="ctr">
                    <a:solidFill>
                      <a:srgbClr val="F7F7F7"/>
                    </a:solidFill>
                    <a:lnL>
                      <a:noFill/>
                    </a:lnL>
                    <a:lnR>
                      <a:noFill/>
                    </a:lnR>
                    <a:lnT>
                      <a:noFill/>
                    </a:lnT>
                    <a:lnB w="6350">
                      <a:solidFill>
                        <a:srgbClr val="D9DEE5"/>
                      </a:solidFill>
                    </a:lnB>
                  </a:tcPr>
                </a:tc>
              </a:tr>
              <a:tr h="4032504">
                <a:tc>
                  <a:txBody>
                    <a:bodyPr wrap="square">
                      <a:noAutofit/>
                    </a:bodyPr>
                    <a:lstStyle/>
                    <a:p>
                      <a:pPr algn="l">
                        <a:lnSpc>
                          <a:spcPct val="100000"/>
                        </a:lnSpc>
                        <a:spcBef>
                          <a:spcPts val="0"/>
                        </a:spcBef>
                        <a:spcAft>
                          <a:spcPts val="0"/>
                        </a:spcAft>
                      </a:pPr>
                      <a:r>
                        <a:rPr sz="1300" b="1">
                          <a:solidFill>
                            <a:srgbClr val="1F1F1F"/>
                          </a:solidFill>
                          <a:latin typeface="Calibri"/>
                        </a:rPr>
                        <a:t>Descontinuidade de</a:t>
                      </a:r>
                    </a:p>
                    <a:p>
                      <a:pPr algn="l">
                        <a:lnSpc>
                          <a:spcPct val="100000"/>
                        </a:lnSpc>
                        <a:spcBef>
                          <a:spcPts val="0"/>
                        </a:spcBef>
                        <a:spcAft>
                          <a:spcPts val="0"/>
                        </a:spcAft>
                      </a:pPr>
                      <a:r>
                        <a:rPr sz="1300" b="1">
                          <a:solidFill>
                            <a:srgbClr val="1F1F1F"/>
                          </a:solidFill>
                          <a:latin typeface="Calibri"/>
                        </a:rPr>
                        <a:t>originação ou cessão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O regulamento do fundo</a:t>
                      </a:r>
                    </a:p>
                    <a:p>
                      <a:pPr algn="l">
                        <a:lnSpc>
                          <a:spcPct val="100000"/>
                        </a:lnSpc>
                        <a:spcBef>
                          <a:spcPts val="0"/>
                        </a:spcBef>
                        <a:spcAft>
                          <a:spcPts val="0"/>
                        </a:spcAft>
                      </a:pPr>
                      <a:r>
                        <a:rPr sz="1300" b="0">
                          <a:solidFill>
                            <a:srgbClr val="1F1F1F"/>
                          </a:solidFill>
                          <a:latin typeface="Calibri"/>
                        </a:rPr>
                        <a:t>estabelece as condições</a:t>
                      </a:r>
                    </a:p>
                    <a:p>
                      <a:pPr algn="l">
                        <a:lnSpc>
                          <a:spcPct val="100000"/>
                        </a:lnSpc>
                        <a:spcBef>
                          <a:spcPts val="0"/>
                        </a:spcBef>
                        <a:spcAft>
                          <a:spcPts val="0"/>
                        </a:spcAft>
                      </a:pPr>
                      <a:r>
                        <a:rPr sz="1300" b="0">
                          <a:solidFill>
                            <a:srgbClr val="1F1F1F"/>
                          </a:solidFill>
                          <a:latin typeface="Calibri"/>
                        </a:rPr>
                        <a:t>mínimas previstas para</a:t>
                      </a:r>
                    </a:p>
                    <a:p>
                      <a:pPr algn="l">
                        <a:lnSpc>
                          <a:spcPct val="100000"/>
                        </a:lnSpc>
                        <a:spcBef>
                          <a:spcPts val="0"/>
                        </a:spcBef>
                        <a:spcAft>
                          <a:spcPts val="0"/>
                        </a:spcAft>
                      </a:pPr>
                      <a:r>
                        <a:rPr sz="1300" b="0">
                          <a:solidFill>
                            <a:srgbClr val="1F1F1F"/>
                          </a:solidFill>
                          <a:latin typeface="Calibri"/>
                        </a:rPr>
                        <a:t>descontinuidade da</a:t>
                      </a:r>
                    </a:p>
                    <a:p>
                      <a:pPr algn="l">
                        <a:lnSpc>
                          <a:spcPct val="100000"/>
                        </a:lnSpc>
                        <a:spcBef>
                          <a:spcPts val="0"/>
                        </a:spcBef>
                        <a:spcAft>
                          <a:spcPts val="0"/>
                        </a:spcAft>
                      </a:pPr>
                      <a:r>
                        <a:rPr sz="1300" b="0">
                          <a:solidFill>
                            <a:srgbClr val="1F1F1F"/>
                          </a:solidFill>
                          <a:latin typeface="Calibri"/>
                        </a:rPr>
                        <a:t>originação ou cessão</a:t>
                      </a:r>
                    </a:p>
                    <a:p>
                      <a:pPr algn="l">
                        <a:lnSpc>
                          <a:spcPct val="100000"/>
                        </a:lnSpc>
                        <a:spcBef>
                          <a:spcPts val="0"/>
                        </a:spcBef>
                        <a:spcAft>
                          <a:spcPts val="0"/>
                        </a:spcAft>
                      </a:pPr>
                      <a:r>
                        <a:rPr sz="1300" b="0">
                          <a:solidFill>
                            <a:srgbClr val="1F1F1F"/>
                          </a:solidFill>
                          <a:latin typeface="Calibri"/>
                        </a:rPr>
                        <a:t>dos direitos</a:t>
                      </a:r>
                    </a:p>
                    <a:p>
                      <a:pPr algn="l">
                        <a:lnSpc>
                          <a:spcPct val="100000"/>
                        </a:lnSpc>
                        <a:spcBef>
                          <a:spcPts val="0"/>
                        </a:spcBef>
                        <a:spcAft>
                          <a:spcPts val="0"/>
                        </a:spcAft>
                      </a:pPr>
                      <a:r>
                        <a:rPr sz="1300" b="0">
                          <a:solidFill>
                            <a:srgbClr val="1F1F1F"/>
                          </a:solidFill>
                          <a:latin typeface="Calibri"/>
                        </a:rPr>
                        <a:t>creditórios investidos,</a:t>
                      </a:r>
                    </a:p>
                    <a:p>
                      <a:pPr algn="l">
                        <a:lnSpc>
                          <a:spcPct val="100000"/>
                        </a:lnSpc>
                        <a:spcBef>
                          <a:spcPts val="0"/>
                        </a:spcBef>
                        <a:spcAft>
                          <a:spcPts val="0"/>
                        </a:spcAft>
                      </a:pPr>
                      <a:r>
                        <a:rPr sz="1300" b="0">
                          <a:solidFill>
                            <a:srgbClr val="1F1F1F"/>
                          </a:solidFill>
                          <a:latin typeface="Calibri"/>
                        </a:rPr>
                        <a:t>sendo certo que</a:t>
                      </a:r>
                    </a:p>
                    <a:p>
                      <a:pPr algn="l">
                        <a:lnSpc>
                          <a:spcPct val="100000"/>
                        </a:lnSpc>
                        <a:spcBef>
                          <a:spcPts val="0"/>
                        </a:spcBef>
                        <a:spcAft>
                          <a:spcPts val="0"/>
                        </a:spcAft>
                      </a:pPr>
                      <a:r>
                        <a:rPr sz="1300" b="0">
                          <a:solidFill>
                            <a:srgbClr val="1F1F1F"/>
                          </a:solidFill>
                          <a:latin typeface="Calibri"/>
                        </a:rPr>
                        <a:t>quaisquer alterações</a:t>
                      </a:r>
                    </a:p>
                    <a:p>
                      <a:pPr algn="l">
                        <a:lnSpc>
                          <a:spcPct val="100000"/>
                        </a:lnSpc>
                        <a:spcBef>
                          <a:spcPts val="0"/>
                        </a:spcBef>
                        <a:spcAft>
                          <a:spcPts val="0"/>
                        </a:spcAft>
                      </a:pPr>
                      <a:r>
                        <a:rPr sz="1300" b="0">
                          <a:solidFill>
                            <a:srgbClr val="1F1F1F"/>
                          </a:solidFill>
                          <a:latin typeface="Calibri"/>
                        </a:rPr>
                        <a:t>nestes critérios serão</a:t>
                      </a:r>
                    </a:p>
                    <a:p>
                      <a:pPr algn="l">
                        <a:lnSpc>
                          <a:spcPct val="100000"/>
                        </a:lnSpc>
                        <a:spcBef>
                          <a:spcPts val="0"/>
                        </a:spcBef>
                        <a:spcAft>
                          <a:spcPts val="0"/>
                        </a:spcAft>
                      </a:pPr>
                      <a:r>
                        <a:rPr sz="1300" b="0">
                          <a:solidFill>
                            <a:srgbClr val="1F1F1F"/>
                          </a:solidFill>
                          <a:latin typeface="Calibri"/>
                        </a:rPr>
                        <a:t>divulgadas a mercado,</a:t>
                      </a:r>
                    </a:p>
                    <a:p>
                      <a:pPr algn="l">
                        <a:lnSpc>
                          <a:spcPct val="100000"/>
                        </a:lnSpc>
                        <a:spcBef>
                          <a:spcPts val="0"/>
                        </a:spcBef>
                        <a:spcAft>
                          <a:spcPts val="0"/>
                        </a:spcAft>
                      </a:pPr>
                      <a:r>
                        <a:rPr sz="1300" b="0">
                          <a:solidFill>
                            <a:srgbClr val="1F1F1F"/>
                          </a:solidFill>
                          <a:latin typeface="Calibri"/>
                        </a:rPr>
                        <a:t>por meio de fato</a:t>
                      </a:r>
                    </a:p>
                    <a:p>
                      <a:pPr algn="l">
                        <a:lnSpc>
                          <a:spcPct val="100000"/>
                        </a:lnSpc>
                        <a:spcBef>
                          <a:spcPts val="0"/>
                        </a:spcBef>
                        <a:spcAft>
                          <a:spcPts val="0"/>
                        </a:spcAft>
                      </a:pPr>
                      <a:r>
                        <a:rPr sz="1300" b="0">
                          <a:solidFill>
                            <a:srgbClr val="1F1F1F"/>
                          </a:solidFill>
                          <a:latin typeface="Calibri"/>
                        </a:rPr>
                        <a:t>relevante ou através</a:t>
                      </a:r>
                    </a:p>
                    <a:p>
                      <a:pPr algn="l">
                        <a:lnSpc>
                          <a:spcPct val="100000"/>
                        </a:lnSpc>
                        <a:spcBef>
                          <a:spcPts val="0"/>
                        </a:spcBef>
                        <a:spcAft>
                          <a:spcPts val="0"/>
                        </a:spcAft>
                      </a:pPr>
                      <a:r>
                        <a:rPr sz="1300" b="0">
                          <a:solidFill>
                            <a:srgbClr val="1F1F1F"/>
                          </a:solidFill>
                          <a:latin typeface="Calibri"/>
                        </a:rPr>
                        <a:t>dos canais oficiais de</a:t>
                      </a:r>
                    </a:p>
                    <a:p>
                      <a:pPr algn="l">
                        <a:lnSpc>
                          <a:spcPct val="100000"/>
                        </a:lnSpc>
                        <a:spcBef>
                          <a:spcPts val="0"/>
                        </a:spcBef>
                        <a:spcAft>
                          <a:spcPts val="0"/>
                        </a:spcAft>
                      </a:pPr>
                      <a:r>
                        <a:rPr sz="1300" b="0">
                          <a:solidFill>
                            <a:srgbClr val="1F1F1F"/>
                          </a:solidFill>
                          <a:latin typeface="Calibri"/>
                        </a:rPr>
                        <a:t>registro do fundo.</a:t>
                      </a:r>
                    </a:p>
                    <a:p>
                      <a:pPr algn="l">
                        <a:lnSpc>
                          <a:spcPct val="100000"/>
                        </a:lnSpc>
                        <a:spcBef>
                          <a:spcPts val="0"/>
                        </a:spcBef>
                        <a:spcAft>
                          <a:spcPts val="0"/>
                        </a:spcAft>
                      </a:pPr>
                      <a:r>
                        <a:rPr sz="1300" b="0">
                          <a:solidFill>
                            <a:srgbClr val="1F1F1F"/>
                          </a:solidFill>
                          <a:latin typeface="Calibri"/>
                        </a:rPr>
                        <a:t>Declaração do informe</a:t>
                      </a:r>
                    </a:p>
                    <a:p>
                      <a:pPr algn="l">
                        <a:lnSpc>
                          <a:spcPct val="100000"/>
                        </a:lnSpc>
                        <a:spcBef>
                          <a:spcPts val="0"/>
                        </a:spcBef>
                        <a:spcAft>
                          <a:spcPts val="0"/>
                        </a:spcAft>
                      </a:pPr>
                      <a:r>
                        <a:rPr sz="1300" b="0">
                          <a:solidFill>
                            <a:srgbClr val="1F1F1F"/>
                          </a:solidFill>
                          <a:latin typeface="Calibri"/>
                        </a:rPr>
                        <a:t>trimestral</a:t>
                      </a:r>
                    </a:p>
                    <a:p>
                      <a:pPr algn="l">
                        <a:lnSpc>
                          <a:spcPct val="100000"/>
                        </a:lnSpc>
                        <a:spcBef>
                          <a:spcPts val="0"/>
                        </a:spcBef>
                        <a:spcAft>
                          <a:spcPts val="0"/>
                        </a:spcAft>
                      </a:pPr>
                      <a:r>
                        <a:rPr sz="1300" b="0">
                          <a:solidFill>
                            <a:srgbClr val="1F1F1F"/>
                          </a:solidFill>
                          <a:latin typeface="Calibri"/>
                        </a:rPr>
                        <a:t>2026-Q2 · Resposta</a:t>
                      </a:r>
                    </a:p>
                    <a:p>
                      <a:pPr algn="l">
                        <a:lnSpc>
                          <a:spcPct val="100000"/>
                        </a:lnSpc>
                        <a:spcBef>
                          <a:spcPts val="0"/>
                        </a:spcBef>
                        <a:spcAft>
                          <a:spcPts val="0"/>
                        </a:spcAft>
                      </a:pPr>
                      <a:r>
                        <a:rPr sz="1300" b="0">
                          <a:solidFill>
                            <a:srgbClr val="1F1F1F"/>
                          </a:solidFill>
                          <a:latin typeface="Calibri"/>
                        </a:rPr>
                        <a:t>declarada no informe; a</a:t>
                      </a:r>
                    </a:p>
                    <a:p>
                      <a:pPr algn="l">
                        <a:lnSpc>
                          <a:spcPct val="100000"/>
                        </a:lnSpc>
                        <a:spcBef>
                          <a:spcPts val="0"/>
                        </a:spcBef>
                        <a:spcAft>
                          <a:spcPts val="0"/>
                        </a:spcAft>
                      </a:pPr>
                      <a:r>
                        <a:rPr sz="1300" b="0">
                          <a:solidFill>
                            <a:srgbClr val="1F1F1F"/>
                          </a:solidFill>
                          <a:latin typeface="Calibri"/>
                        </a:rPr>
                        <a:t>cláusula permanece no</a:t>
                      </a:r>
                    </a:p>
                    <a:p>
                      <a:pPr algn="l">
                        <a:lnSpc>
                          <a:spcPct val="100000"/>
                        </a:lnSpc>
                        <a:spcBef>
                          <a:spcPts val="0"/>
                        </a:spcBef>
                        <a:spcAft>
                          <a:spcPts val="0"/>
                        </a:spcAft>
                      </a:pPr>
                      <a:r>
                        <a:rPr sz="1300" b="0">
                          <a:solidFill>
                            <a:srgbClr val="1F1F1F"/>
                          </a:solidFill>
                          <a:latin typeface="Calibri"/>
                        </a:rPr>
                        <a:t>documento normativo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Foram observados</a:t>
                      </a:r>
                    </a:p>
                    <a:p>
                      <a:pPr algn="l">
                        <a:lnSpc>
                          <a:spcPct val="100000"/>
                        </a:lnSpc>
                        <a:spcBef>
                          <a:spcPts val="0"/>
                        </a:spcBef>
                        <a:spcAft>
                          <a:spcPts val="0"/>
                        </a:spcAft>
                      </a:pPr>
                      <a:r>
                        <a:rPr sz="1300" b="0">
                          <a:solidFill>
                            <a:srgbClr val="1F1F1F"/>
                          </a:solidFill>
                          <a:latin typeface="Calibri"/>
                        </a:rPr>
                        <a:t>impactos significativos</a:t>
                      </a:r>
                    </a:p>
                    <a:p>
                      <a:pPr algn="l">
                        <a:lnSpc>
                          <a:spcPct val="100000"/>
                        </a:lnSpc>
                        <a:spcBef>
                          <a:spcPts val="0"/>
                        </a:spcBef>
                        <a:spcAft>
                          <a:spcPts val="0"/>
                        </a:spcAft>
                      </a:pPr>
                      <a:r>
                        <a:rPr sz="1300" b="0">
                          <a:solidFill>
                            <a:srgbClr val="1F1F1F"/>
                          </a:solidFill>
                          <a:latin typeface="Calibri"/>
                        </a:rPr>
                        <a:t>na rentabilidade do</a:t>
                      </a:r>
                    </a:p>
                    <a:p>
                      <a:pPr algn="l">
                        <a:lnSpc>
                          <a:spcPct val="100000"/>
                        </a:lnSpc>
                        <a:spcBef>
                          <a:spcPts val="0"/>
                        </a:spcBef>
                        <a:spcAft>
                          <a:spcPts val="0"/>
                        </a:spcAft>
                      </a:pPr>
                      <a:r>
                        <a:rPr sz="1300" b="0">
                          <a:solidFill>
                            <a:srgbClr val="1F1F1F"/>
                          </a:solidFill>
                          <a:latin typeface="Calibri"/>
                        </a:rPr>
                        <a:t>fundo, em função da</a:t>
                      </a:r>
                    </a:p>
                    <a:p>
                      <a:pPr algn="l">
                        <a:lnSpc>
                          <a:spcPct val="100000"/>
                        </a:lnSpc>
                        <a:spcBef>
                          <a:spcPts val="0"/>
                        </a:spcBef>
                        <a:spcAft>
                          <a:spcPts val="0"/>
                        </a:spcAft>
                      </a:pPr>
                      <a:r>
                        <a:rPr sz="1300" b="0">
                          <a:solidFill>
                            <a:srgbClr val="1F1F1F"/>
                          </a:solidFill>
                          <a:latin typeface="Calibri"/>
                        </a:rPr>
                        <a:t>descontinuidade da</a:t>
                      </a:r>
                    </a:p>
                    <a:p>
                      <a:pPr algn="l">
                        <a:lnSpc>
                          <a:spcPct val="100000"/>
                        </a:lnSpc>
                        <a:spcBef>
                          <a:spcPts val="0"/>
                        </a:spcBef>
                        <a:spcAft>
                          <a:spcPts val="0"/>
                        </a:spcAft>
                      </a:pPr>
                      <a:r>
                        <a:rPr sz="1300" b="0">
                          <a:solidFill>
                            <a:srgbClr val="1F1F1F"/>
                          </a:solidFill>
                          <a:latin typeface="Calibri"/>
                        </a:rPr>
                        <a:t>originação de direitos</a:t>
                      </a:r>
                    </a:p>
                    <a:p>
                      <a:pPr algn="l">
                        <a:lnSpc>
                          <a:spcPct val="100000"/>
                        </a:lnSpc>
                        <a:spcBef>
                          <a:spcPts val="0"/>
                        </a:spcBef>
                        <a:spcAft>
                          <a:spcPts val="0"/>
                        </a:spcAft>
                      </a:pPr>
                      <a:r>
                        <a:rPr sz="1300" b="0">
                          <a:solidFill>
                            <a:srgbClr val="1F1F1F"/>
                          </a:solidFill>
                          <a:latin typeface="Calibri"/>
                        </a:rPr>
                        <a:t>creditórios no</a:t>
                      </a:r>
                    </a:p>
                    <a:p>
                      <a:pPr algn="l">
                        <a:lnSpc>
                          <a:spcPct val="100000"/>
                        </a:lnSpc>
                        <a:spcBef>
                          <a:spcPts val="0"/>
                        </a:spcBef>
                        <a:spcAft>
                          <a:spcPts val="0"/>
                        </a:spcAft>
                      </a:pPr>
                      <a:r>
                        <a:rPr sz="1300" b="0">
                          <a:solidFill>
                            <a:srgbClr val="1F1F1F"/>
                          </a:solidFill>
                          <a:latin typeface="Calibri"/>
                        </a:rPr>
                        <a:t>trimestre em</a:t>
                      </a:r>
                    </a:p>
                    <a:p>
                      <a:pPr algn="l">
                        <a:lnSpc>
                          <a:spcPct val="100000"/>
                        </a:lnSpc>
                        <a:spcBef>
                          <a:spcPts val="0"/>
                        </a:spcBef>
                        <a:spcAft>
                          <a:spcPts val="0"/>
                        </a:spcAft>
                      </a:pPr>
                      <a:r>
                        <a:rPr sz="1300" b="0">
                          <a:solidFill>
                            <a:srgbClr val="1F1F1F"/>
                          </a:solidFill>
                          <a:latin typeface="Calibri"/>
                        </a:rPr>
                        <a:t>referência.</a:t>
                      </a:r>
                    </a:p>
                    <a:p>
                      <a:pPr algn="l">
                        <a:lnSpc>
                          <a:spcPct val="100000"/>
                        </a:lnSpc>
                        <a:spcBef>
                          <a:spcPts val="0"/>
                        </a:spcBef>
                        <a:spcAft>
                          <a:spcPts val="0"/>
                        </a:spcAft>
                      </a:pPr>
                      <a:r>
                        <a:rPr sz="1300" b="0">
                          <a:solidFill>
                            <a:srgbClr val="1F1F1F"/>
                          </a:solidFill>
                          <a:latin typeface="Calibri"/>
                        </a:rPr>
                        <a:t>Declaração do informe</a:t>
                      </a:r>
                    </a:p>
                    <a:p>
                      <a:pPr algn="l">
                        <a:lnSpc>
                          <a:spcPct val="100000"/>
                        </a:lnSpc>
                        <a:spcBef>
                          <a:spcPts val="0"/>
                        </a:spcBef>
                        <a:spcAft>
                          <a:spcPts val="0"/>
                        </a:spcAft>
                      </a:pPr>
                      <a:r>
                        <a:rPr sz="1300" b="0">
                          <a:solidFill>
                            <a:srgbClr val="1F1F1F"/>
                          </a:solidFill>
                          <a:latin typeface="Calibri"/>
                        </a:rPr>
                        <a:t>trimestral</a:t>
                      </a:r>
                    </a:p>
                    <a:p>
                      <a:pPr algn="l">
                        <a:lnSpc>
                          <a:spcPct val="100000"/>
                        </a:lnSpc>
                        <a:spcBef>
                          <a:spcPts val="0"/>
                        </a:spcBef>
                        <a:spcAft>
                          <a:spcPts val="0"/>
                        </a:spcAft>
                      </a:pPr>
                      <a:r>
                        <a:rPr sz="1300" b="0">
                          <a:solidFill>
                            <a:srgbClr val="1F1F1F"/>
                          </a:solidFill>
                          <a:latin typeface="Calibri"/>
                        </a:rPr>
                        <a:t>2026-Q2 · Resposta</a:t>
                      </a:r>
                    </a:p>
                    <a:p>
                      <a:pPr algn="l">
                        <a:lnSpc>
                          <a:spcPct val="100000"/>
                        </a:lnSpc>
                        <a:spcBef>
                          <a:spcPts val="0"/>
                        </a:spcBef>
                        <a:spcAft>
                          <a:spcPts val="0"/>
                        </a:spcAft>
                      </a:pPr>
                      <a:r>
                        <a:rPr sz="1300" b="0">
                          <a:solidFill>
                            <a:srgbClr val="1F1F1F"/>
                          </a:solidFill>
                          <a:latin typeface="Calibri"/>
                        </a:rPr>
                        <a:t>declarada no informe; a</a:t>
                      </a:r>
                    </a:p>
                    <a:p>
                      <a:pPr algn="l">
                        <a:lnSpc>
                          <a:spcPct val="100000"/>
                        </a:lnSpc>
                        <a:spcBef>
                          <a:spcPts val="0"/>
                        </a:spcBef>
                        <a:spcAft>
                          <a:spcPts val="0"/>
                        </a:spcAft>
                      </a:pPr>
                      <a:r>
                        <a:rPr sz="1300" b="0">
                          <a:solidFill>
                            <a:srgbClr val="1F1F1F"/>
                          </a:solidFill>
                          <a:latin typeface="Calibri"/>
                        </a:rPr>
                        <a:t>cláusula permanece no</a:t>
                      </a:r>
                    </a:p>
                    <a:p>
                      <a:pPr algn="l">
                        <a:lnSpc>
                          <a:spcPct val="100000"/>
                        </a:lnSpc>
                        <a:spcBef>
                          <a:spcPts val="0"/>
                        </a:spcBef>
                        <a:spcAft>
                          <a:spcPts val="0"/>
                        </a:spcAft>
                      </a:pPr>
                      <a:r>
                        <a:rPr sz="1300" b="0">
                          <a:solidFill>
                            <a:srgbClr val="1F1F1F"/>
                          </a:solidFill>
                          <a:latin typeface="Calibri"/>
                        </a:rPr>
                        <a:t>documento normativo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Declaração trimestral</a:t>
                      </a:r>
                    </a:p>
                    <a:p>
                      <a:pPr algn="l">
                        <a:lnSpc>
                          <a:spcPct val="100000"/>
                        </a:lnSpc>
                        <a:spcBef>
                          <a:spcPts val="0"/>
                        </a:spcBef>
                        <a:spcAft>
                          <a:spcPts val="0"/>
                        </a:spcAft>
                      </a:pPr>
                      <a:r>
                        <a:rPr sz="1300" b="0">
                          <a:solidFill>
                            <a:srgbClr val="1F1F1F"/>
                          </a:solidFill>
                          <a:latin typeface="Calibri"/>
                        </a:rPr>
                        <a:t>não extraída</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Declaração trimestral</a:t>
                      </a:r>
                    </a:p>
                    <a:p>
                      <a:pPr algn="l">
                        <a:lnSpc>
                          <a:spcPct val="100000"/>
                        </a:lnSpc>
                        <a:spcBef>
                          <a:spcPts val="0"/>
                        </a:spcBef>
                        <a:spcAft>
                          <a:spcPts val="0"/>
                        </a:spcAft>
                      </a:pPr>
                      <a:r>
                        <a:rPr sz="1300" b="0">
                          <a:solidFill>
                            <a:srgbClr val="1F1F1F"/>
                          </a:solidFill>
                          <a:latin typeface="Calibri"/>
                        </a:rPr>
                        <a:t>não extraída</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130/160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Declarações trimestrais</a:t>
            </a:r>
          </a:p>
        </p:txBody>
      </p:sp>
      <p:graphicFrame>
        <p:nvGraphicFramePr>
          <p:cNvPr id="3" name="Table 2"/>
          <p:cNvGraphicFramePr>
            <a:graphicFrameLocks noGrp="1"/>
          </p:cNvGraphicFramePr>
          <p:nvPr/>
        </p:nvGraphicFramePr>
        <p:xfrm>
          <a:off x="438912" y="932688"/>
          <a:ext cx="11313870" cy="4617717"/>
        </p:xfrm>
        <a:graphic>
          <a:graphicData uri="http://schemas.openxmlformats.org/drawingml/2006/table">
            <a:tbl>
              <a:tblPr>
                <a:tableStyleId>{5C22544A-7EE6-4342-B048-85BDC9FD1C3A}</a:tableStyleId>
              </a:tblPr>
              <a:tblGrid>
                <a:gridCol w="2331720"/>
                <a:gridCol w="4491075"/>
                <a:gridCol w="4491075"/>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V CDT 1 · 62552447000120</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Global CP · 63953620000165</a:t>
                      </a:r>
                    </a:p>
                  </a:txBody>
                  <a:tcPr marL="91440" marR="91440" marT="41148" marB="41148" anchor="ctr">
                    <a:solidFill>
                      <a:srgbClr val="F7F7F7"/>
                    </a:solidFill>
                    <a:lnL>
                      <a:noFill/>
                    </a:lnL>
                    <a:lnR>
                      <a:noFill/>
                    </a:lnR>
                    <a:lnT>
                      <a:noFill/>
                    </a:lnT>
                    <a:lnB w="6350">
                      <a:solidFill>
                        <a:srgbClr val="D9DEE5"/>
                      </a:solidFill>
                    </a:lnB>
                  </a:tcPr>
                </a:tc>
              </a:tr>
              <a:tr h="1970531">
                <a:tc>
                  <a:txBody>
                    <a:bodyPr wrap="square">
                      <a:noAutofit/>
                    </a:bodyPr>
                    <a:lstStyle/>
                    <a:p>
                      <a:pPr algn="l">
                        <a:lnSpc>
                          <a:spcPct val="100000"/>
                        </a:lnSpc>
                        <a:spcBef>
                          <a:spcPts val="0"/>
                        </a:spcBef>
                        <a:spcAft>
                          <a:spcPts val="0"/>
                        </a:spcAft>
                      </a:pPr>
                      <a:r>
                        <a:rPr sz="1300" b="1">
                          <a:solidFill>
                            <a:srgbClr val="1F1F1F"/>
                          </a:solidFill>
                          <a:latin typeface="Calibri"/>
                        </a:rPr>
                        <a:t>Resultado da verificação</a:t>
                      </a:r>
                    </a:p>
                    <a:p>
                      <a:pPr algn="l">
                        <a:lnSpc>
                          <a:spcPct val="100000"/>
                        </a:lnSpc>
                        <a:spcBef>
                          <a:spcPts val="0"/>
                        </a:spcBef>
                        <a:spcAft>
                          <a:spcPts val="0"/>
                        </a:spcAft>
                      </a:pPr>
                      <a:r>
                        <a:rPr sz="1300" b="1">
                          <a:solidFill>
                            <a:srgbClr val="1F1F1F"/>
                          </a:solidFill>
                          <a:latin typeface="Calibri"/>
                        </a:rPr>
                        <a:t>de lastro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Informamos que o Fundo dispensa a verificação de</a:t>
                      </a:r>
                    </a:p>
                    <a:p>
                      <a:pPr algn="l">
                        <a:lnSpc>
                          <a:spcPct val="100000"/>
                        </a:lnSpc>
                        <a:spcBef>
                          <a:spcPts val="0"/>
                        </a:spcBef>
                        <a:spcAft>
                          <a:spcPts val="0"/>
                        </a:spcAft>
                      </a:pPr>
                      <a:r>
                        <a:rPr sz="1300" b="0">
                          <a:solidFill>
                            <a:srgbClr val="1F1F1F"/>
                          </a:solidFill>
                          <a:latin typeface="Calibri"/>
                        </a:rPr>
                        <a:t>lastro dos direitos creditórios.</a:t>
                      </a:r>
                    </a:p>
                    <a:p>
                      <a:pPr algn="l">
                        <a:lnSpc>
                          <a:spcPct val="100000"/>
                        </a:lnSpc>
                        <a:spcBef>
                          <a:spcPts val="0"/>
                        </a:spcBef>
                        <a:spcAft>
                          <a:spcPts val="0"/>
                        </a:spcAft>
                      </a:pPr>
                      <a:r>
                        <a:rPr sz="1300" b="0">
                          <a:solidFill>
                            <a:srgbClr val="1F1F1F"/>
                          </a:solidFill>
                          <a:latin typeface="Calibri"/>
                        </a:rPr>
                        <a:t>Declaração do informe trimestral</a:t>
                      </a:r>
                    </a:p>
                    <a:p>
                      <a:pPr algn="l">
                        <a:lnSpc>
                          <a:spcPct val="100000"/>
                        </a:lnSpc>
                        <a:spcBef>
                          <a:spcPts val="0"/>
                        </a:spcBef>
                        <a:spcAft>
                          <a:spcPts val="0"/>
                        </a:spcAft>
                      </a:pPr>
                      <a:r>
                        <a:rPr sz="1300" b="0">
                          <a:solidFill>
                            <a:srgbClr val="1F1F1F"/>
                          </a:solidFill>
                          <a:latin typeface="Calibri"/>
                        </a:rPr>
                        <a:t>2026-Q2 · Resposta declarada no informe; a</a:t>
                      </a:r>
                    </a:p>
                    <a:p>
                      <a:pPr algn="l">
                        <a:lnSpc>
                          <a:spcPct val="100000"/>
                        </a:lnSpc>
                        <a:spcBef>
                          <a:spcPts val="0"/>
                        </a:spcBef>
                        <a:spcAft>
                          <a:spcPts val="0"/>
                        </a:spcAft>
                      </a:pPr>
                      <a:r>
                        <a:rPr sz="1300" b="0">
                          <a:solidFill>
                            <a:srgbClr val="1F1F1F"/>
                          </a:solidFill>
                          <a:latin typeface="Calibri"/>
                        </a:rPr>
                        <a:t>cláusula permanece no documento normativo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De acordo com o relatório de lastro</a:t>
                      </a:r>
                    </a:p>
                    <a:p>
                      <a:pPr algn="l">
                        <a:lnSpc>
                          <a:spcPct val="100000"/>
                        </a:lnSpc>
                        <a:spcBef>
                          <a:spcPts val="0"/>
                        </a:spcBef>
                        <a:spcAft>
                          <a:spcPts val="0"/>
                        </a:spcAft>
                      </a:pPr>
                      <a:r>
                        <a:rPr sz="1300" b="0">
                          <a:solidFill>
                            <a:srgbClr val="1F1F1F"/>
                          </a:solidFill>
                          <a:latin typeface="Calibri"/>
                        </a:rPr>
                        <a:t>disponibilizado pelo Custodiante, não foram</a:t>
                      </a:r>
                    </a:p>
                    <a:p>
                      <a:pPr algn="l">
                        <a:lnSpc>
                          <a:spcPct val="100000"/>
                        </a:lnSpc>
                        <a:spcBef>
                          <a:spcPts val="0"/>
                        </a:spcBef>
                        <a:spcAft>
                          <a:spcPts val="0"/>
                        </a:spcAft>
                      </a:pPr>
                      <a:r>
                        <a:rPr sz="1300" b="0">
                          <a:solidFill>
                            <a:srgbClr val="1F1F1F"/>
                          </a:solidFill>
                          <a:latin typeface="Calibri"/>
                        </a:rPr>
                        <a:t>identificadas inconsistências significativas na</a:t>
                      </a:r>
                    </a:p>
                    <a:p>
                      <a:pPr algn="l">
                        <a:lnSpc>
                          <a:spcPct val="100000"/>
                        </a:lnSpc>
                        <a:spcBef>
                          <a:spcPts val="0"/>
                        </a:spcBef>
                        <a:spcAft>
                          <a:spcPts val="0"/>
                        </a:spcAft>
                      </a:pPr>
                      <a:r>
                        <a:rPr sz="1300" b="0">
                          <a:solidFill>
                            <a:srgbClr val="1F1F1F"/>
                          </a:solidFill>
                          <a:latin typeface="Calibri"/>
                        </a:rPr>
                        <a:t>verificação da documentação dos direitos</a:t>
                      </a:r>
                    </a:p>
                    <a:p>
                      <a:pPr algn="l">
                        <a:lnSpc>
                          <a:spcPct val="100000"/>
                        </a:lnSpc>
                        <a:spcBef>
                          <a:spcPts val="0"/>
                        </a:spcBef>
                        <a:spcAft>
                          <a:spcPts val="0"/>
                        </a:spcAft>
                      </a:pPr>
                      <a:r>
                        <a:rPr sz="1300" b="0">
                          <a:solidFill>
                            <a:srgbClr val="1F1F1F"/>
                          </a:solidFill>
                          <a:latin typeface="Calibri"/>
                        </a:rPr>
                        <a:t>creditórios do fundo. Todos os procedimentos</a:t>
                      </a:r>
                    </a:p>
                    <a:p>
                      <a:pPr algn="l">
                        <a:lnSpc>
                          <a:spcPct val="100000"/>
                        </a:lnSpc>
                        <a:spcBef>
                          <a:spcPts val="0"/>
                        </a:spcBef>
                        <a:spcAft>
                          <a:spcPts val="0"/>
                        </a:spcAft>
                      </a:pPr>
                      <a:r>
                        <a:rPr sz="1300" b="0">
                          <a:solidFill>
                            <a:srgbClr val="1F1F1F"/>
                          </a:solidFill>
                          <a:latin typeface="Calibri"/>
                        </a:rPr>
                        <a:t>realizados foram concluídos satisfatoriamente em</a:t>
                      </a:r>
                    </a:p>
                    <a:p>
                      <a:pPr algn="l">
                        <a:lnSpc>
                          <a:spcPct val="100000"/>
                        </a:lnSpc>
                        <a:spcBef>
                          <a:spcPts val="0"/>
                        </a:spcBef>
                        <a:spcAft>
                          <a:spcPts val="0"/>
                        </a:spcAft>
                      </a:pPr>
                      <a:r>
                        <a:rPr sz="1300" b="0">
                          <a:solidFill>
                            <a:srgbClr val="1F1F1F"/>
                          </a:solidFill>
                          <a:latin typeface="Calibri"/>
                        </a:rPr>
                        <a:t>atendimento à legislação em vigor.</a:t>
                      </a:r>
                    </a:p>
                    <a:p>
                      <a:pPr algn="l">
                        <a:lnSpc>
                          <a:spcPct val="100000"/>
                        </a:lnSpc>
                        <a:spcBef>
                          <a:spcPts val="0"/>
                        </a:spcBef>
                        <a:spcAft>
                          <a:spcPts val="0"/>
                        </a:spcAft>
                      </a:pPr>
                      <a:r>
                        <a:rPr sz="1300" b="0">
                          <a:solidFill>
                            <a:srgbClr val="1F1F1F"/>
                          </a:solidFill>
                          <a:latin typeface="Calibri"/>
                        </a:rPr>
                        <a:t>Declaração do informe trimestral</a:t>
                      </a:r>
                    </a:p>
                    <a:p>
                      <a:pPr algn="l">
                        <a:lnSpc>
                          <a:spcPct val="100000"/>
                        </a:lnSpc>
                        <a:spcBef>
                          <a:spcPts val="0"/>
                        </a:spcBef>
                        <a:spcAft>
                          <a:spcPts val="0"/>
                        </a:spcAft>
                      </a:pPr>
                      <a:r>
                        <a:rPr sz="1300" b="0">
                          <a:solidFill>
                            <a:srgbClr val="1F1F1F"/>
                          </a:solidFill>
                          <a:latin typeface="Calibri"/>
                        </a:rPr>
                        <a:t>2026-Q2 · Resposta declarada no informe; a</a:t>
                      </a:r>
                    </a:p>
                    <a:p>
                      <a:pPr algn="l">
                        <a:lnSpc>
                          <a:spcPct val="100000"/>
                        </a:lnSpc>
                        <a:spcBef>
                          <a:spcPts val="0"/>
                        </a:spcBef>
                        <a:spcAft>
                          <a:spcPts val="0"/>
                        </a:spcAft>
                      </a:pPr>
                      <a:r>
                        <a:rPr sz="1300" b="0">
                          <a:solidFill>
                            <a:srgbClr val="1F1F1F"/>
                          </a:solidFill>
                          <a:latin typeface="Calibri"/>
                        </a:rPr>
                        <a:t>cláusula permanece no documento normativo</a:t>
                      </a:r>
                    </a:p>
                  </a:txBody>
                  <a:tcPr marL="91440" marR="91440" marT="41148" marB="41148" anchor="ctr">
                    <a:solidFill>
                      <a:srgbClr val="FFFFFF"/>
                    </a:solidFill>
                    <a:lnL>
                      <a:noFill/>
                    </a:lnL>
                    <a:lnR>
                      <a:noFill/>
                    </a:lnR>
                    <a:lnT>
                      <a:noFill/>
                    </a:lnT>
                    <a:lnB>
                      <a:noFill/>
                    </a:lnB>
                  </a:tcPr>
                </a:tc>
              </a:tr>
              <a:tr h="845819">
                <a:tc>
                  <a:txBody>
                    <a:bodyPr wrap="square">
                      <a:noAutofit/>
                    </a:bodyPr>
                    <a:lstStyle/>
                    <a:p>
                      <a:pPr algn="l">
                        <a:lnSpc>
                          <a:spcPct val="100000"/>
                        </a:lnSpc>
                        <a:spcBef>
                          <a:spcPts val="0"/>
                        </a:spcBef>
                        <a:spcAft>
                          <a:spcPts val="0"/>
                        </a:spcAft>
                      </a:pPr>
                      <a:r>
                        <a:rPr sz="1300" b="1">
                          <a:solidFill>
                            <a:srgbClr val="1F1F1F"/>
                          </a:solidFill>
                          <a:latin typeface="Calibri"/>
                        </a:rPr>
                        <a:t>Registro dos direitos</a:t>
                      </a:r>
                    </a:p>
                    <a:p>
                      <a:pPr algn="l">
                        <a:lnSpc>
                          <a:spcPct val="100000"/>
                        </a:lnSpc>
                        <a:spcBef>
                          <a:spcPts val="0"/>
                        </a:spcBef>
                        <a:spcAft>
                          <a:spcPts val="0"/>
                        </a:spcAft>
                      </a:pPr>
                      <a:r>
                        <a:rPr sz="1300" b="1">
                          <a:solidFill>
                            <a:srgbClr val="1F1F1F"/>
                          </a:solidFill>
                          <a:latin typeface="Calibri"/>
                        </a:rPr>
                        <a:t>creditórios</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Todos os créditos estão liberados para registro.</a:t>
                      </a:r>
                    </a:p>
                    <a:p>
                      <a:pPr algn="l">
                        <a:lnSpc>
                          <a:spcPct val="100000"/>
                        </a:lnSpc>
                        <a:spcBef>
                          <a:spcPts val="0"/>
                        </a:spcBef>
                        <a:spcAft>
                          <a:spcPts val="0"/>
                        </a:spcAft>
                      </a:pPr>
                      <a:r>
                        <a:rPr sz="1300" b="0">
                          <a:solidFill>
                            <a:srgbClr val="1F1F1F"/>
                          </a:solidFill>
                          <a:latin typeface="Calibri"/>
                        </a:rPr>
                        <a:t>Declaração do informe trimestral</a:t>
                      </a:r>
                    </a:p>
                    <a:p>
                      <a:pPr algn="l">
                        <a:lnSpc>
                          <a:spcPct val="100000"/>
                        </a:lnSpc>
                        <a:spcBef>
                          <a:spcPts val="0"/>
                        </a:spcBef>
                        <a:spcAft>
                          <a:spcPts val="0"/>
                        </a:spcAft>
                      </a:pPr>
                      <a:r>
                        <a:rPr sz="1300" b="0">
                          <a:solidFill>
                            <a:srgbClr val="1F1F1F"/>
                          </a:solidFill>
                          <a:latin typeface="Calibri"/>
                        </a:rPr>
                        <a:t>2026-Q2 · Resposta declarada no informe; a</a:t>
                      </a:r>
                    </a:p>
                    <a:p>
                      <a:pPr algn="l">
                        <a:lnSpc>
                          <a:spcPct val="100000"/>
                        </a:lnSpc>
                        <a:spcBef>
                          <a:spcPts val="0"/>
                        </a:spcBef>
                        <a:spcAft>
                          <a:spcPts val="0"/>
                        </a:spcAft>
                      </a:pPr>
                      <a:r>
                        <a:rPr sz="1300" b="0">
                          <a:solidFill>
                            <a:srgbClr val="1F1F1F"/>
                          </a:solidFill>
                          <a:latin typeface="Calibri"/>
                        </a:rPr>
                        <a:t>cláusula permanece no documento normativo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Todos os créditos estão liberados para registro.</a:t>
                      </a:r>
                    </a:p>
                    <a:p>
                      <a:pPr algn="l">
                        <a:lnSpc>
                          <a:spcPct val="100000"/>
                        </a:lnSpc>
                        <a:spcBef>
                          <a:spcPts val="0"/>
                        </a:spcBef>
                        <a:spcAft>
                          <a:spcPts val="0"/>
                        </a:spcAft>
                      </a:pPr>
                      <a:r>
                        <a:rPr sz="1300" b="0">
                          <a:solidFill>
                            <a:srgbClr val="1F1F1F"/>
                          </a:solidFill>
                          <a:latin typeface="Calibri"/>
                        </a:rPr>
                        <a:t>Declaração do informe trimestral</a:t>
                      </a:r>
                    </a:p>
                    <a:p>
                      <a:pPr algn="l">
                        <a:lnSpc>
                          <a:spcPct val="100000"/>
                        </a:lnSpc>
                        <a:spcBef>
                          <a:spcPts val="0"/>
                        </a:spcBef>
                        <a:spcAft>
                          <a:spcPts val="0"/>
                        </a:spcAft>
                      </a:pPr>
                      <a:r>
                        <a:rPr sz="1300" b="0">
                          <a:solidFill>
                            <a:srgbClr val="1F1F1F"/>
                          </a:solidFill>
                          <a:latin typeface="Calibri"/>
                        </a:rPr>
                        <a:t>2026-Q2 · Resposta declarada no informe; a</a:t>
                      </a:r>
                    </a:p>
                    <a:p>
                      <a:pPr algn="l">
                        <a:lnSpc>
                          <a:spcPct val="100000"/>
                        </a:lnSpc>
                        <a:spcBef>
                          <a:spcPts val="0"/>
                        </a:spcBef>
                        <a:spcAft>
                          <a:spcPts val="0"/>
                        </a:spcAft>
                      </a:pPr>
                      <a:r>
                        <a:rPr sz="1300" b="0">
                          <a:solidFill>
                            <a:srgbClr val="1F1F1F"/>
                          </a:solidFill>
                          <a:latin typeface="Calibri"/>
                        </a:rPr>
                        <a:t>cláusula permanece no documento normativo</a:t>
                      </a:r>
                    </a:p>
                  </a:txBody>
                  <a:tcPr marL="91440" marR="91440" marT="41148" marB="41148" anchor="ctr">
                    <a:solidFill>
                      <a:srgbClr val="FFFFFF"/>
                    </a:solidFill>
                    <a:lnL>
                      <a:noFill/>
                    </a:lnL>
                    <a:lnR>
                      <a:noFill/>
                    </a:lnR>
                    <a:lnT>
                      <a:noFill/>
                    </a:lnT>
                    <a:lnB>
                      <a:noFill/>
                    </a:lnB>
                  </a:tcPr>
                </a:tc>
              </a:tr>
              <a:tr h="1408175">
                <a:tc>
                  <a:txBody>
                    <a:bodyPr wrap="square">
                      <a:noAutofit/>
                    </a:bodyPr>
                    <a:lstStyle/>
                    <a:p>
                      <a:pPr algn="l">
                        <a:lnSpc>
                          <a:spcPct val="100000"/>
                        </a:lnSpc>
                        <a:spcBef>
                          <a:spcPts val="0"/>
                        </a:spcBef>
                        <a:spcAft>
                          <a:spcPts val="0"/>
                        </a:spcAft>
                      </a:pPr>
                      <a:r>
                        <a:rPr sz="1300" b="1">
                          <a:solidFill>
                            <a:srgbClr val="1F1F1F"/>
                          </a:solidFill>
                          <a:latin typeface="Calibri"/>
                        </a:rPr>
                        <a:t>Processos judiciais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O administrador do fundo não tem conhecimento de</a:t>
                      </a:r>
                    </a:p>
                    <a:p>
                      <a:pPr algn="l">
                        <a:lnSpc>
                          <a:spcPct val="100000"/>
                        </a:lnSpc>
                        <a:spcBef>
                          <a:spcPts val="0"/>
                        </a:spcBef>
                        <a:spcAft>
                          <a:spcPts val="0"/>
                        </a:spcAft>
                      </a:pPr>
                      <a:r>
                        <a:rPr sz="1300" b="0">
                          <a:solidFill>
                            <a:srgbClr val="1F1F1F"/>
                          </a:solidFill>
                          <a:latin typeface="Calibri"/>
                        </a:rPr>
                        <a:t>ações judiciais envolvendo o fundo no trimestre</a:t>
                      </a:r>
                    </a:p>
                    <a:p>
                      <a:pPr algn="l">
                        <a:lnSpc>
                          <a:spcPct val="100000"/>
                        </a:lnSpc>
                        <a:spcBef>
                          <a:spcPts val="0"/>
                        </a:spcBef>
                        <a:spcAft>
                          <a:spcPts val="0"/>
                        </a:spcAft>
                      </a:pPr>
                      <a:r>
                        <a:rPr sz="1300" b="0">
                          <a:solidFill>
                            <a:srgbClr val="1F1F1F"/>
                          </a:solidFill>
                          <a:latin typeface="Calibri"/>
                        </a:rPr>
                        <a:t>em referência.</a:t>
                      </a:r>
                    </a:p>
                    <a:p>
                      <a:pPr algn="l">
                        <a:lnSpc>
                          <a:spcPct val="100000"/>
                        </a:lnSpc>
                        <a:spcBef>
                          <a:spcPts val="0"/>
                        </a:spcBef>
                        <a:spcAft>
                          <a:spcPts val="0"/>
                        </a:spcAft>
                      </a:pPr>
                      <a:r>
                        <a:rPr sz="1300" b="0">
                          <a:solidFill>
                            <a:srgbClr val="1F1F1F"/>
                          </a:solidFill>
                          <a:latin typeface="Calibri"/>
                        </a:rPr>
                        <a:t>Declaração do informe trimestral</a:t>
                      </a:r>
                    </a:p>
                    <a:p>
                      <a:pPr algn="l">
                        <a:lnSpc>
                          <a:spcPct val="100000"/>
                        </a:lnSpc>
                        <a:spcBef>
                          <a:spcPts val="0"/>
                        </a:spcBef>
                        <a:spcAft>
                          <a:spcPts val="0"/>
                        </a:spcAft>
                      </a:pPr>
                      <a:r>
                        <a:rPr sz="1300" b="0">
                          <a:solidFill>
                            <a:srgbClr val="1F1F1F"/>
                          </a:solidFill>
                          <a:latin typeface="Calibri"/>
                        </a:rPr>
                        <a:t>2026-Q2 · Resposta declarada no informe; a</a:t>
                      </a:r>
                    </a:p>
                    <a:p>
                      <a:pPr algn="l">
                        <a:lnSpc>
                          <a:spcPct val="100000"/>
                        </a:lnSpc>
                        <a:spcBef>
                          <a:spcPts val="0"/>
                        </a:spcBef>
                        <a:spcAft>
                          <a:spcPts val="0"/>
                        </a:spcAft>
                      </a:pPr>
                      <a:r>
                        <a:rPr sz="1300" b="0">
                          <a:solidFill>
                            <a:srgbClr val="1F1F1F"/>
                          </a:solidFill>
                          <a:latin typeface="Calibri"/>
                        </a:rPr>
                        <a:t>cláusula permanece no documento normativo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O fundo está exposto as ações judiciais listadas</a:t>
                      </a:r>
                    </a:p>
                    <a:p>
                      <a:pPr algn="l">
                        <a:lnSpc>
                          <a:spcPct val="100000"/>
                        </a:lnSpc>
                        <a:spcBef>
                          <a:spcPts val="0"/>
                        </a:spcBef>
                        <a:spcAft>
                          <a:spcPts val="0"/>
                        </a:spcAft>
                      </a:pPr>
                      <a:r>
                        <a:rPr sz="1300" b="0">
                          <a:solidFill>
                            <a:srgbClr val="1F1F1F"/>
                          </a:solidFill>
                          <a:latin typeface="Calibri"/>
                        </a:rPr>
                        <a:t>abaixo:</a:t>
                      </a:r>
                    </a:p>
                    <a:p>
                      <a:pPr algn="l">
                        <a:lnSpc>
                          <a:spcPct val="100000"/>
                        </a:lnSpc>
                        <a:spcBef>
                          <a:spcPts val="0"/>
                        </a:spcBef>
                        <a:spcAft>
                          <a:spcPts val="0"/>
                        </a:spcAft>
                      </a:pPr>
                      <a:r>
                        <a:rPr sz="1300" b="0">
                          <a:solidFill>
                            <a:srgbClr val="1F1F1F"/>
                          </a:solidFill>
                          <a:latin typeface="Calibri"/>
                        </a:rPr>
                        <a:t>Declaração do informe trimestral</a:t>
                      </a:r>
                    </a:p>
                    <a:p>
                      <a:pPr algn="l">
                        <a:lnSpc>
                          <a:spcPct val="100000"/>
                        </a:lnSpc>
                        <a:spcBef>
                          <a:spcPts val="0"/>
                        </a:spcBef>
                        <a:spcAft>
                          <a:spcPts val="0"/>
                        </a:spcAft>
                      </a:pPr>
                      <a:r>
                        <a:rPr sz="1300" b="0">
                          <a:solidFill>
                            <a:srgbClr val="1F1F1F"/>
                          </a:solidFill>
                          <a:latin typeface="Calibri"/>
                        </a:rPr>
                        <a:t>2026-Q2 · Resposta declarada no informe; a</a:t>
                      </a:r>
                    </a:p>
                    <a:p>
                      <a:pPr algn="l">
                        <a:lnSpc>
                          <a:spcPct val="100000"/>
                        </a:lnSpc>
                        <a:spcBef>
                          <a:spcPts val="0"/>
                        </a:spcBef>
                        <a:spcAft>
                          <a:spcPts val="0"/>
                        </a:spcAft>
                      </a:pPr>
                      <a:r>
                        <a:rPr sz="1300" b="0">
                          <a:solidFill>
                            <a:srgbClr val="1F1F1F"/>
                          </a:solidFill>
                          <a:latin typeface="Calibri"/>
                        </a:rPr>
                        <a:t>cláusula permanece no documento normativo · O</a:t>
                      </a:r>
                    </a:p>
                    <a:p>
                      <a:pPr algn="l">
                        <a:lnSpc>
                          <a:spcPct val="100000"/>
                        </a:lnSpc>
                        <a:spcBef>
                          <a:spcPts val="0"/>
                        </a:spcBef>
                        <a:spcAft>
                          <a:spcPts val="0"/>
                        </a:spcAft>
                      </a:pPr>
                      <a:r>
                        <a:rPr sz="1300" b="0">
                          <a:solidFill>
                            <a:srgbClr val="1F1F1F"/>
                          </a:solidFill>
                          <a:latin typeface="Calibri"/>
                        </a:rPr>
                        <a:t>informe anuncia uma lista, mas não apresenta os</a:t>
                      </a:r>
                    </a:p>
                    <a:p>
                      <a:pPr algn="l">
                        <a:lnSpc>
                          <a:spcPct val="100000"/>
                        </a:lnSpc>
                        <a:spcBef>
                          <a:spcPts val="0"/>
                        </a:spcBef>
                        <a:spcAft>
                          <a:spcPts val="0"/>
                        </a:spcAft>
                      </a:pPr>
                      <a:r>
                        <a:rPr sz="1300" b="0">
                          <a:solidFill>
                            <a:srgbClr val="1F1F1F"/>
                          </a:solidFill>
                          <a:latin typeface="Calibri"/>
                        </a:rPr>
                        <a:t>itens neste trecho.</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131/160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Declarações trimestrais</a:t>
            </a:r>
          </a:p>
        </p:txBody>
      </p:sp>
      <p:graphicFrame>
        <p:nvGraphicFramePr>
          <p:cNvPr id="3" name="Table 2"/>
          <p:cNvGraphicFramePr>
            <a:graphicFrameLocks noGrp="1"/>
          </p:cNvGraphicFramePr>
          <p:nvPr/>
        </p:nvGraphicFramePr>
        <p:xfrm>
          <a:off x="438912" y="932688"/>
          <a:ext cx="11313870" cy="4709158"/>
        </p:xfrm>
        <a:graphic>
          <a:graphicData uri="http://schemas.openxmlformats.org/drawingml/2006/table">
            <a:tbl>
              <a:tblPr>
                <a:tableStyleId>{5C22544A-7EE6-4342-B048-85BDC9FD1C3A}</a:tableStyleId>
              </a:tblPr>
              <a:tblGrid>
                <a:gridCol w="2331720"/>
                <a:gridCol w="4491075"/>
                <a:gridCol w="4491075"/>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V CDT 1 · 62552447000120</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Global CP · 63953620000165</a:t>
                      </a:r>
                    </a:p>
                  </a:txBody>
                  <a:tcPr marL="91440" marR="91440" marT="41148" marB="41148" anchor="ctr">
                    <a:solidFill>
                      <a:srgbClr val="F7F7F7"/>
                    </a:solidFill>
                    <a:lnL>
                      <a:noFill/>
                    </a:lnL>
                    <a:lnR>
                      <a:noFill/>
                    </a:lnR>
                    <a:lnT>
                      <a:noFill/>
                    </a:lnT>
                    <a:lnB w="6350">
                      <a:solidFill>
                        <a:srgbClr val="D9DEE5"/>
                      </a:solidFill>
                    </a:lnB>
                  </a:tcPr>
                </a:tc>
              </a:tr>
              <a:tr h="2907791">
                <a:tc>
                  <a:txBody>
                    <a:bodyPr wrap="square">
                      <a:noAutofit/>
                    </a:bodyPr>
                    <a:lstStyle/>
                    <a:p>
                      <a:pPr algn="l">
                        <a:lnSpc>
                          <a:spcPct val="100000"/>
                        </a:lnSpc>
                        <a:spcBef>
                          <a:spcPts val="0"/>
                        </a:spcBef>
                        <a:spcAft>
                          <a:spcPts val="0"/>
                        </a:spcAft>
                      </a:pPr>
                      <a:r>
                        <a:rPr sz="1300" b="1">
                          <a:solidFill>
                            <a:srgbClr val="1F1F1F"/>
                          </a:solidFill>
                          <a:latin typeface="Calibri"/>
                        </a:rPr>
                        <a:t>Aquisição de precatórios</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O fundo não se destina ao público em geral. As</a:t>
                      </a:r>
                    </a:p>
                    <a:p>
                      <a:pPr algn="l">
                        <a:lnSpc>
                          <a:spcPct val="100000"/>
                        </a:lnSpc>
                        <a:spcBef>
                          <a:spcPts val="0"/>
                        </a:spcBef>
                        <a:spcAft>
                          <a:spcPts val="0"/>
                        </a:spcAft>
                      </a:pPr>
                      <a:r>
                        <a:rPr sz="1300" b="0">
                          <a:solidFill>
                            <a:srgbClr val="1F1F1F"/>
                          </a:solidFill>
                          <a:latin typeface="Calibri"/>
                        </a:rPr>
                        <a:t>informações a seguir são destinadas à</a:t>
                      </a:r>
                    </a:p>
                    <a:p>
                      <a:pPr algn="l">
                        <a:lnSpc>
                          <a:spcPct val="100000"/>
                        </a:lnSpc>
                        <a:spcBef>
                          <a:spcPts val="0"/>
                        </a:spcBef>
                        <a:spcAft>
                          <a:spcPts val="0"/>
                        </a:spcAft>
                      </a:pPr>
                      <a:r>
                        <a:rPr sz="1300" b="0">
                          <a:solidFill>
                            <a:srgbClr val="1F1F1F"/>
                          </a:solidFill>
                          <a:latin typeface="Calibri"/>
                        </a:rPr>
                        <a:t>apresentação do relatório trimestral do gestor.</a:t>
                      </a:r>
                    </a:p>
                    <a:p>
                      <a:pPr algn="l">
                        <a:lnSpc>
                          <a:spcPct val="100000"/>
                        </a:lnSpc>
                        <a:spcBef>
                          <a:spcPts val="0"/>
                        </a:spcBef>
                        <a:spcAft>
                          <a:spcPts val="0"/>
                        </a:spcAft>
                      </a:pPr>
                      <a:r>
                        <a:rPr sz="1300" b="0">
                          <a:solidFill>
                            <a:srgbClr val="1F1F1F"/>
                          </a:solidFill>
                          <a:latin typeface="Calibri"/>
                        </a:rPr>
                        <a:t>Declaração do informe trimestral</a:t>
                      </a:r>
                    </a:p>
                    <a:p>
                      <a:pPr algn="l">
                        <a:lnSpc>
                          <a:spcPct val="100000"/>
                        </a:lnSpc>
                        <a:spcBef>
                          <a:spcPts val="0"/>
                        </a:spcBef>
                        <a:spcAft>
                          <a:spcPts val="0"/>
                        </a:spcAft>
                      </a:pPr>
                      <a:r>
                        <a:rPr sz="1300" b="0">
                          <a:solidFill>
                            <a:srgbClr val="1F1F1F"/>
                          </a:solidFill>
                          <a:latin typeface="Calibri"/>
                        </a:rPr>
                        <a:t>2026-Q2 · Resposta declarada no informe; a</a:t>
                      </a:r>
                    </a:p>
                    <a:p>
                      <a:pPr algn="l">
                        <a:lnSpc>
                          <a:spcPct val="100000"/>
                        </a:lnSpc>
                        <a:spcBef>
                          <a:spcPts val="0"/>
                        </a:spcBef>
                        <a:spcAft>
                          <a:spcPts val="0"/>
                        </a:spcAft>
                      </a:pPr>
                      <a:r>
                        <a:rPr sz="1300" b="0">
                          <a:solidFill>
                            <a:srgbClr val="1F1F1F"/>
                          </a:solidFill>
                          <a:latin typeface="Calibri"/>
                        </a:rPr>
                        <a:t>cláusula permanece no documento normativo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O fundo adquiriu precatórios federais no</a:t>
                      </a:r>
                    </a:p>
                    <a:p>
                      <a:pPr algn="l">
                        <a:lnSpc>
                          <a:spcPct val="100000"/>
                        </a:lnSpc>
                        <a:spcBef>
                          <a:spcPts val="0"/>
                        </a:spcBef>
                        <a:spcAft>
                          <a:spcPts val="0"/>
                        </a:spcAft>
                      </a:pPr>
                      <a:r>
                        <a:rPr sz="1300" b="0">
                          <a:solidFill>
                            <a:srgbClr val="1F1F1F"/>
                          </a:solidFill>
                          <a:latin typeface="Calibri"/>
                        </a:rPr>
                        <a:t>trimestre em referência e está sujeito a eventual</a:t>
                      </a:r>
                    </a:p>
                    <a:p>
                      <a:pPr algn="l">
                        <a:lnSpc>
                          <a:spcPct val="100000"/>
                        </a:lnSpc>
                        <a:spcBef>
                          <a:spcPts val="0"/>
                        </a:spcBef>
                        <a:spcAft>
                          <a:spcPts val="0"/>
                        </a:spcAft>
                      </a:pPr>
                      <a:r>
                        <a:rPr sz="1300" b="0">
                          <a:solidFill>
                            <a:srgbClr val="1F1F1F"/>
                          </a:solidFill>
                          <a:latin typeface="Calibri"/>
                        </a:rPr>
                        <a:t>existência de impugnação judicial ou fatos</a:t>
                      </a:r>
                    </a:p>
                    <a:p>
                      <a:pPr algn="l">
                        <a:lnSpc>
                          <a:spcPct val="100000"/>
                        </a:lnSpc>
                        <a:spcBef>
                          <a:spcPts val="0"/>
                        </a:spcBef>
                        <a:spcAft>
                          <a:spcPts val="0"/>
                        </a:spcAft>
                      </a:pPr>
                      <a:r>
                        <a:rPr sz="1300" b="0">
                          <a:solidFill>
                            <a:srgbClr val="1F1F1F"/>
                          </a:solidFill>
                          <a:latin typeface="Calibri"/>
                        </a:rPr>
                        <a:t>supervenientes capazes de alterar a ordem ou o</a:t>
                      </a:r>
                    </a:p>
                    <a:p>
                      <a:pPr algn="l">
                        <a:lnSpc>
                          <a:spcPct val="100000"/>
                        </a:lnSpc>
                        <a:spcBef>
                          <a:spcPts val="0"/>
                        </a:spcBef>
                        <a:spcAft>
                          <a:spcPts val="0"/>
                        </a:spcAft>
                      </a:pPr>
                      <a:r>
                        <a:rPr sz="1300" b="0">
                          <a:solidFill>
                            <a:srgbClr val="1F1F1F"/>
                          </a:solidFill>
                          <a:latin typeface="Calibri"/>
                        </a:rPr>
                        <a:t>prazo de pagamento dos precatórios. As</a:t>
                      </a:r>
                    </a:p>
                    <a:p>
                      <a:pPr algn="l">
                        <a:lnSpc>
                          <a:spcPct val="100000"/>
                        </a:lnSpc>
                        <a:spcBef>
                          <a:spcPts val="0"/>
                        </a:spcBef>
                        <a:spcAft>
                          <a:spcPts val="0"/>
                        </a:spcAft>
                      </a:pPr>
                      <a:r>
                        <a:rPr sz="1300" b="0">
                          <a:solidFill>
                            <a:srgbClr val="1F1F1F"/>
                          </a:solidFill>
                          <a:latin typeface="Calibri"/>
                        </a:rPr>
                        <a:t>informações a seguir são destinadas à</a:t>
                      </a:r>
                    </a:p>
                    <a:p>
                      <a:pPr algn="l">
                        <a:lnSpc>
                          <a:spcPct val="100000"/>
                        </a:lnSpc>
                        <a:spcBef>
                          <a:spcPts val="0"/>
                        </a:spcBef>
                        <a:spcAft>
                          <a:spcPts val="0"/>
                        </a:spcAft>
                      </a:pPr>
                      <a:r>
                        <a:rPr sz="1300" b="0">
                          <a:solidFill>
                            <a:srgbClr val="1F1F1F"/>
                          </a:solidFill>
                          <a:latin typeface="Calibri"/>
                        </a:rPr>
                        <a:t>apresentação do relatório trimestral do gestor.</a:t>
                      </a:r>
                    </a:p>
                    <a:p>
                      <a:pPr algn="l">
                        <a:lnSpc>
                          <a:spcPct val="100000"/>
                        </a:lnSpc>
                        <a:spcBef>
                          <a:spcPts val="0"/>
                        </a:spcBef>
                        <a:spcAft>
                          <a:spcPts val="0"/>
                        </a:spcAft>
                      </a:pPr>
                      <a:r>
                        <a:rPr sz="1300" b="0">
                          <a:solidFill>
                            <a:srgbClr val="1F1F1F"/>
                          </a:solidFill>
                          <a:latin typeface="Calibri"/>
                        </a:rPr>
                        <a:t>Declaração em conflito com o regulamento</a:t>
                      </a:r>
                    </a:p>
                    <a:p>
                      <a:pPr algn="l">
                        <a:lnSpc>
                          <a:spcPct val="100000"/>
                        </a:lnSpc>
                        <a:spcBef>
                          <a:spcPts val="0"/>
                        </a:spcBef>
                        <a:spcAft>
                          <a:spcPts val="0"/>
                        </a:spcAft>
                      </a:pPr>
                      <a:r>
                        <a:rPr sz="1300" b="0">
                          <a:solidFill>
                            <a:srgbClr val="1F1F1F"/>
                          </a:solidFill>
                          <a:latin typeface="Calibri"/>
                        </a:rPr>
                        <a:t>2026-Q2 · Resposta declarada no informe; a</a:t>
                      </a:r>
                    </a:p>
                    <a:p>
                      <a:pPr algn="l">
                        <a:lnSpc>
                          <a:spcPct val="100000"/>
                        </a:lnSpc>
                        <a:spcBef>
                          <a:spcPts val="0"/>
                        </a:spcBef>
                        <a:spcAft>
                          <a:spcPts val="0"/>
                        </a:spcAft>
                      </a:pPr>
                      <a:r>
                        <a:rPr sz="1300" b="0">
                          <a:solidFill>
                            <a:srgbClr val="1F1F1F"/>
                          </a:solidFill>
                          <a:latin typeface="Calibri"/>
                        </a:rPr>
                        <a:t>cláusula permanece no documento normativo · O</a:t>
                      </a:r>
                    </a:p>
                    <a:p>
                      <a:pPr algn="l">
                        <a:lnSpc>
                          <a:spcPct val="100000"/>
                        </a:lnSpc>
                        <a:spcBef>
                          <a:spcPts val="0"/>
                        </a:spcBef>
                        <a:spcAft>
                          <a:spcPts val="0"/>
                        </a:spcAft>
                      </a:pPr>
                      <a:r>
                        <a:rPr sz="1300" b="0">
                          <a:solidFill>
                            <a:srgbClr val="1F1F1F"/>
                          </a:solidFill>
                          <a:latin typeface="Calibri"/>
                        </a:rPr>
                        <a:t>informe declara aquisição de precatórios</a:t>
                      </a:r>
                    </a:p>
                    <a:p>
                      <a:pPr algn="l">
                        <a:lnSpc>
                          <a:spcPct val="100000"/>
                        </a:lnSpc>
                        <a:spcBef>
                          <a:spcPts val="0"/>
                        </a:spcBef>
                        <a:spcAft>
                          <a:spcPts val="0"/>
                        </a:spcAft>
                      </a:pPr>
                      <a:r>
                        <a:rPr sz="1300" b="0">
                          <a:solidFill>
                            <a:srgbClr val="1F1F1F"/>
                          </a:solidFill>
                          <a:latin typeface="Calibri"/>
                        </a:rPr>
                        <a:t>federais; o regulamento citado veda essa</a:t>
                      </a:r>
                    </a:p>
                    <a:p>
                      <a:pPr algn="l">
                        <a:lnSpc>
                          <a:spcPct val="100000"/>
                        </a:lnSpc>
                        <a:spcBef>
                          <a:spcPts val="0"/>
                        </a:spcBef>
                        <a:spcAft>
                          <a:spcPts val="0"/>
                        </a:spcAft>
                      </a:pPr>
                      <a:r>
                        <a:rPr sz="1300" b="0">
                          <a:solidFill>
                            <a:srgbClr val="1F1F1F"/>
                          </a:solidFill>
                          <a:latin typeface="Calibri"/>
                        </a:rPr>
                        <a:t>aquisição. Operação efetiva e vigência jurídica</a:t>
                      </a:r>
                    </a:p>
                    <a:p>
                      <a:pPr algn="l">
                        <a:lnSpc>
                          <a:spcPct val="100000"/>
                        </a:lnSpc>
                        <a:spcBef>
                          <a:spcPts val="0"/>
                        </a:spcBef>
                        <a:spcAft>
                          <a:spcPts val="0"/>
                        </a:spcAft>
                      </a:pPr>
                      <a:r>
                        <a:rPr sz="1300" b="0">
                          <a:solidFill>
                            <a:srgbClr val="1F1F1F"/>
                          </a:solidFill>
                          <a:latin typeface="Calibri"/>
                        </a:rPr>
                        <a:t>durante o trimestre não foram comprovadas por</a:t>
                      </a:r>
                    </a:p>
                    <a:p>
                      <a:pPr algn="l">
                        <a:lnSpc>
                          <a:spcPct val="100000"/>
                        </a:lnSpc>
                        <a:spcBef>
                          <a:spcPts val="0"/>
                        </a:spcBef>
                        <a:spcAft>
                          <a:spcPts val="0"/>
                        </a:spcAft>
                      </a:pPr>
                      <a:r>
                        <a:rPr sz="1300" b="0">
                          <a:solidFill>
                            <a:srgbClr val="1F1F1F"/>
                          </a:solidFill>
                          <a:latin typeface="Calibri"/>
                        </a:rPr>
                        <a:t>essas duas declarações.</a:t>
                      </a:r>
                    </a:p>
                  </a:txBody>
                  <a:tcPr marL="91440" marR="91440" marT="41148" marB="41148" anchor="ctr">
                    <a:solidFill>
                      <a:srgbClr val="FFFFFF"/>
                    </a:solidFill>
                    <a:lnL>
                      <a:noFill/>
                    </a:lnL>
                    <a:lnR>
                      <a:noFill/>
                    </a:lnR>
                    <a:lnT>
                      <a:noFill/>
                    </a:lnT>
                    <a:lnB>
                      <a:noFill/>
                    </a:lnB>
                  </a:tcPr>
                </a:tc>
              </a:tr>
              <a:tr h="1408175">
                <a:tc>
                  <a:txBody>
                    <a:bodyPr wrap="square">
                      <a:noAutofit/>
                    </a:bodyPr>
                    <a:lstStyle/>
                    <a:p>
                      <a:pPr algn="l">
                        <a:lnSpc>
                          <a:spcPct val="100000"/>
                        </a:lnSpc>
                        <a:spcBef>
                          <a:spcPts val="0"/>
                        </a:spcBef>
                        <a:spcAft>
                          <a:spcPts val="0"/>
                        </a:spcAft>
                      </a:pPr>
                      <a:r>
                        <a:rPr sz="1300" b="1">
                          <a:solidFill>
                            <a:srgbClr val="1F1F1F"/>
                          </a:solidFill>
                          <a:latin typeface="Calibri"/>
                        </a:rPr>
                        <a:t>Alterações da política</a:t>
                      </a:r>
                    </a:p>
                    <a:p>
                      <a:pPr algn="l">
                        <a:lnSpc>
                          <a:spcPct val="100000"/>
                        </a:lnSpc>
                        <a:spcBef>
                          <a:spcPts val="0"/>
                        </a:spcBef>
                        <a:spcAft>
                          <a:spcPts val="0"/>
                        </a:spcAft>
                      </a:pPr>
                      <a:r>
                        <a:rPr sz="1300" b="1">
                          <a:solidFill>
                            <a:srgbClr val="1F1F1F"/>
                          </a:solidFill>
                          <a:latin typeface="Calibri"/>
                        </a:rPr>
                        <a:t>de investimento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Não se aplica, pois não ocorreram alterações na</a:t>
                      </a:r>
                    </a:p>
                    <a:p>
                      <a:pPr algn="l">
                        <a:lnSpc>
                          <a:spcPct val="100000"/>
                        </a:lnSpc>
                        <a:spcBef>
                          <a:spcPts val="0"/>
                        </a:spcBef>
                        <a:spcAft>
                          <a:spcPts val="0"/>
                        </a:spcAft>
                      </a:pPr>
                      <a:r>
                        <a:rPr sz="1300" b="0">
                          <a:solidFill>
                            <a:srgbClr val="1F1F1F"/>
                          </a:solidFill>
                          <a:latin typeface="Calibri"/>
                        </a:rPr>
                        <a:t>política de investimento do fundo no trimestre em</a:t>
                      </a:r>
                    </a:p>
                    <a:p>
                      <a:pPr algn="l">
                        <a:lnSpc>
                          <a:spcPct val="100000"/>
                        </a:lnSpc>
                        <a:spcBef>
                          <a:spcPts val="0"/>
                        </a:spcBef>
                        <a:spcAft>
                          <a:spcPts val="0"/>
                        </a:spcAft>
                      </a:pPr>
                      <a:r>
                        <a:rPr sz="1300" b="0">
                          <a:solidFill>
                            <a:srgbClr val="1F1F1F"/>
                          </a:solidFill>
                          <a:latin typeface="Calibri"/>
                        </a:rPr>
                        <a:t>referência.</a:t>
                      </a:r>
                    </a:p>
                    <a:p>
                      <a:pPr algn="l">
                        <a:lnSpc>
                          <a:spcPct val="100000"/>
                        </a:lnSpc>
                        <a:spcBef>
                          <a:spcPts val="0"/>
                        </a:spcBef>
                        <a:spcAft>
                          <a:spcPts val="0"/>
                        </a:spcAft>
                      </a:pPr>
                      <a:r>
                        <a:rPr sz="1300" b="0">
                          <a:solidFill>
                            <a:srgbClr val="1F1F1F"/>
                          </a:solidFill>
                          <a:latin typeface="Calibri"/>
                        </a:rPr>
                        <a:t>Declaração do informe trimestral</a:t>
                      </a:r>
                    </a:p>
                    <a:p>
                      <a:pPr algn="l">
                        <a:lnSpc>
                          <a:spcPct val="100000"/>
                        </a:lnSpc>
                        <a:spcBef>
                          <a:spcPts val="0"/>
                        </a:spcBef>
                        <a:spcAft>
                          <a:spcPts val="0"/>
                        </a:spcAft>
                      </a:pPr>
                      <a:r>
                        <a:rPr sz="1300" b="0">
                          <a:solidFill>
                            <a:srgbClr val="1F1F1F"/>
                          </a:solidFill>
                          <a:latin typeface="Calibri"/>
                        </a:rPr>
                        <a:t>2026-Q2 · Resposta declarada no informe; a</a:t>
                      </a:r>
                    </a:p>
                    <a:p>
                      <a:pPr algn="l">
                        <a:lnSpc>
                          <a:spcPct val="100000"/>
                        </a:lnSpc>
                        <a:spcBef>
                          <a:spcPts val="0"/>
                        </a:spcBef>
                        <a:spcAft>
                          <a:spcPts val="0"/>
                        </a:spcAft>
                      </a:pPr>
                      <a:r>
                        <a:rPr sz="1300" b="0">
                          <a:solidFill>
                            <a:srgbClr val="1F1F1F"/>
                          </a:solidFill>
                          <a:latin typeface="Calibri"/>
                        </a:rPr>
                        <a:t>cláusula permanece no documento normativo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Não foram observados impactos significativos na</a:t>
                      </a:r>
                    </a:p>
                    <a:p>
                      <a:pPr algn="l">
                        <a:lnSpc>
                          <a:spcPct val="100000"/>
                        </a:lnSpc>
                        <a:spcBef>
                          <a:spcPts val="0"/>
                        </a:spcBef>
                        <a:spcAft>
                          <a:spcPts val="0"/>
                        </a:spcAft>
                      </a:pPr>
                      <a:r>
                        <a:rPr sz="1300" b="0">
                          <a:solidFill>
                            <a:srgbClr val="1F1F1F"/>
                          </a:solidFill>
                          <a:latin typeface="Calibri"/>
                        </a:rPr>
                        <a:t>rentabilidade do fundo, em função das alterações</a:t>
                      </a:r>
                    </a:p>
                    <a:p>
                      <a:pPr algn="l">
                        <a:lnSpc>
                          <a:spcPct val="100000"/>
                        </a:lnSpc>
                        <a:spcBef>
                          <a:spcPts val="0"/>
                        </a:spcBef>
                        <a:spcAft>
                          <a:spcPts val="0"/>
                        </a:spcAft>
                      </a:pPr>
                      <a:r>
                        <a:rPr sz="1300" b="0">
                          <a:solidFill>
                            <a:srgbClr val="1F1F1F"/>
                          </a:solidFill>
                          <a:latin typeface="Calibri"/>
                        </a:rPr>
                        <a:t>ocorridas em seu regulamento no trimestre em</a:t>
                      </a:r>
                    </a:p>
                    <a:p>
                      <a:pPr algn="l">
                        <a:lnSpc>
                          <a:spcPct val="100000"/>
                        </a:lnSpc>
                        <a:spcBef>
                          <a:spcPts val="0"/>
                        </a:spcBef>
                        <a:spcAft>
                          <a:spcPts val="0"/>
                        </a:spcAft>
                      </a:pPr>
                      <a:r>
                        <a:rPr sz="1300" b="0">
                          <a:solidFill>
                            <a:srgbClr val="1F1F1F"/>
                          </a:solidFill>
                          <a:latin typeface="Calibri"/>
                        </a:rPr>
                        <a:t>referência.</a:t>
                      </a:r>
                    </a:p>
                    <a:p>
                      <a:pPr algn="l">
                        <a:lnSpc>
                          <a:spcPct val="100000"/>
                        </a:lnSpc>
                        <a:spcBef>
                          <a:spcPts val="0"/>
                        </a:spcBef>
                        <a:spcAft>
                          <a:spcPts val="0"/>
                        </a:spcAft>
                      </a:pPr>
                      <a:r>
                        <a:rPr sz="1300" b="0">
                          <a:solidFill>
                            <a:srgbClr val="1F1F1F"/>
                          </a:solidFill>
                          <a:latin typeface="Calibri"/>
                        </a:rPr>
                        <a:t>Declaração do informe trimestral</a:t>
                      </a:r>
                    </a:p>
                    <a:p>
                      <a:pPr algn="l">
                        <a:lnSpc>
                          <a:spcPct val="100000"/>
                        </a:lnSpc>
                        <a:spcBef>
                          <a:spcPts val="0"/>
                        </a:spcBef>
                        <a:spcAft>
                          <a:spcPts val="0"/>
                        </a:spcAft>
                      </a:pPr>
                      <a:r>
                        <a:rPr sz="1300" b="0">
                          <a:solidFill>
                            <a:srgbClr val="1F1F1F"/>
                          </a:solidFill>
                          <a:latin typeface="Calibri"/>
                        </a:rPr>
                        <a:t>2026-Q2 · Resposta declarada no informe; a</a:t>
                      </a:r>
                    </a:p>
                    <a:p>
                      <a:pPr algn="l">
                        <a:lnSpc>
                          <a:spcPct val="100000"/>
                        </a:lnSpc>
                        <a:spcBef>
                          <a:spcPts val="0"/>
                        </a:spcBef>
                        <a:spcAft>
                          <a:spcPts val="0"/>
                        </a:spcAft>
                      </a:pPr>
                      <a:r>
                        <a:rPr sz="1300" b="0">
                          <a:solidFill>
                            <a:srgbClr val="1F1F1F"/>
                          </a:solidFill>
                          <a:latin typeface="Calibri"/>
                        </a:rPr>
                        <a:t>cláusula permanece no documento normativo</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132/160</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Declarações trimestrais</a:t>
            </a:r>
          </a:p>
        </p:txBody>
      </p:sp>
      <p:graphicFrame>
        <p:nvGraphicFramePr>
          <p:cNvPr id="3" name="Table 2"/>
          <p:cNvGraphicFramePr>
            <a:graphicFrameLocks noGrp="1"/>
          </p:cNvGraphicFramePr>
          <p:nvPr/>
        </p:nvGraphicFramePr>
        <p:xfrm>
          <a:off x="438912" y="932688"/>
          <a:ext cx="11313870" cy="4430266"/>
        </p:xfrm>
        <a:graphic>
          <a:graphicData uri="http://schemas.openxmlformats.org/drawingml/2006/table">
            <a:tbl>
              <a:tblPr>
                <a:tableStyleId>{5C22544A-7EE6-4342-B048-85BDC9FD1C3A}</a:tableStyleId>
              </a:tblPr>
              <a:tblGrid>
                <a:gridCol w="2331720"/>
                <a:gridCol w="4491075"/>
                <a:gridCol w="4491075"/>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V CDT 1 · 62552447000120</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Global CP · 63953620000165</a:t>
                      </a:r>
                    </a:p>
                  </a:txBody>
                  <a:tcPr marL="91440" marR="91440" marT="41148" marB="41148" anchor="ctr">
                    <a:solidFill>
                      <a:srgbClr val="F7F7F7"/>
                    </a:solidFill>
                    <a:lnL>
                      <a:noFill/>
                    </a:lnL>
                    <a:lnR>
                      <a:noFill/>
                    </a:lnR>
                    <a:lnT>
                      <a:noFill/>
                    </a:lnT>
                    <a:lnB w="6350">
                      <a:solidFill>
                        <a:srgbClr val="D9DEE5"/>
                      </a:solidFill>
                    </a:lnB>
                  </a:tcPr>
                </a:tc>
              </a:tr>
              <a:tr h="1408175">
                <a:tc>
                  <a:txBody>
                    <a:bodyPr wrap="square">
                      <a:noAutofit/>
                    </a:bodyPr>
                    <a:lstStyle/>
                    <a:p>
                      <a:pPr algn="l">
                        <a:lnSpc>
                          <a:spcPct val="100000"/>
                        </a:lnSpc>
                        <a:spcBef>
                          <a:spcPts val="0"/>
                        </a:spcBef>
                        <a:spcAft>
                          <a:spcPts val="0"/>
                        </a:spcAft>
                      </a:pPr>
                      <a:r>
                        <a:rPr sz="1300" b="1">
                          <a:solidFill>
                            <a:srgbClr val="1F1F1F"/>
                          </a:solidFill>
                          <a:latin typeface="Calibri"/>
                        </a:rPr>
                        <a:t>Critérios de concessão</a:t>
                      </a:r>
                    </a:p>
                    <a:p>
                      <a:pPr algn="l">
                        <a:lnSpc>
                          <a:spcPct val="100000"/>
                        </a:lnSpc>
                        <a:spcBef>
                          <a:spcPts val="0"/>
                        </a:spcBef>
                        <a:spcAft>
                          <a:spcPts val="0"/>
                        </a:spcAft>
                      </a:pPr>
                      <a:r>
                        <a:rPr sz="1300" b="1">
                          <a:solidFill>
                            <a:srgbClr val="1F1F1F"/>
                          </a:solidFill>
                          <a:latin typeface="Calibri"/>
                        </a:rPr>
                        <a:t>dos originadores</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Declaração trimestral não extraída</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Os critérios para a concessão de crédito adotados</a:t>
                      </a:r>
                    </a:p>
                    <a:p>
                      <a:pPr algn="l">
                        <a:lnSpc>
                          <a:spcPct val="100000"/>
                        </a:lnSpc>
                        <a:spcBef>
                          <a:spcPts val="0"/>
                        </a:spcBef>
                        <a:spcAft>
                          <a:spcPts val="0"/>
                        </a:spcAft>
                      </a:pPr>
                      <a:r>
                        <a:rPr sz="1300" b="0">
                          <a:solidFill>
                            <a:srgbClr val="1F1F1F"/>
                          </a:solidFill>
                          <a:latin typeface="Calibri"/>
                        </a:rPr>
                        <a:t>pelos originadores do fundo foram alterados no</a:t>
                      </a:r>
                    </a:p>
                    <a:p>
                      <a:pPr algn="l">
                        <a:lnSpc>
                          <a:spcPct val="100000"/>
                        </a:lnSpc>
                        <a:spcBef>
                          <a:spcPts val="0"/>
                        </a:spcBef>
                        <a:spcAft>
                          <a:spcPts val="0"/>
                        </a:spcAft>
                      </a:pPr>
                      <a:r>
                        <a:rPr sz="1300" b="0">
                          <a:solidFill>
                            <a:srgbClr val="1F1F1F"/>
                          </a:solidFill>
                          <a:latin typeface="Calibri"/>
                        </a:rPr>
                        <a:t>último trimestre, conforme descrito em seu</a:t>
                      </a:r>
                    </a:p>
                    <a:p>
                      <a:pPr algn="l">
                        <a:lnSpc>
                          <a:spcPct val="100000"/>
                        </a:lnSpc>
                        <a:spcBef>
                          <a:spcPts val="0"/>
                        </a:spcBef>
                        <a:spcAft>
                          <a:spcPts val="0"/>
                        </a:spcAft>
                      </a:pPr>
                      <a:r>
                        <a:rPr sz="1300" b="0">
                          <a:solidFill>
                            <a:srgbClr val="1F1F1F"/>
                          </a:solidFill>
                          <a:latin typeface="Calibri"/>
                        </a:rPr>
                        <a:t>regulamento.</a:t>
                      </a:r>
                    </a:p>
                    <a:p>
                      <a:pPr algn="l">
                        <a:lnSpc>
                          <a:spcPct val="100000"/>
                        </a:lnSpc>
                        <a:spcBef>
                          <a:spcPts val="0"/>
                        </a:spcBef>
                        <a:spcAft>
                          <a:spcPts val="0"/>
                        </a:spcAft>
                      </a:pPr>
                      <a:r>
                        <a:rPr sz="1300" b="0">
                          <a:solidFill>
                            <a:srgbClr val="1F1F1F"/>
                          </a:solidFill>
                          <a:latin typeface="Calibri"/>
                        </a:rPr>
                        <a:t>Declaração do informe trimestral</a:t>
                      </a:r>
                    </a:p>
                    <a:p>
                      <a:pPr algn="l">
                        <a:lnSpc>
                          <a:spcPct val="100000"/>
                        </a:lnSpc>
                        <a:spcBef>
                          <a:spcPts val="0"/>
                        </a:spcBef>
                        <a:spcAft>
                          <a:spcPts val="0"/>
                        </a:spcAft>
                      </a:pPr>
                      <a:r>
                        <a:rPr sz="1300" b="0">
                          <a:solidFill>
                            <a:srgbClr val="1F1F1F"/>
                          </a:solidFill>
                          <a:latin typeface="Calibri"/>
                        </a:rPr>
                        <a:t>2026-Q2 · Resposta declarada no informe; a</a:t>
                      </a:r>
                    </a:p>
                    <a:p>
                      <a:pPr algn="l">
                        <a:lnSpc>
                          <a:spcPct val="100000"/>
                        </a:lnSpc>
                        <a:spcBef>
                          <a:spcPts val="0"/>
                        </a:spcBef>
                        <a:spcAft>
                          <a:spcPts val="0"/>
                        </a:spcAft>
                      </a:pPr>
                      <a:r>
                        <a:rPr sz="1300" b="0">
                          <a:solidFill>
                            <a:srgbClr val="1F1F1F"/>
                          </a:solidFill>
                          <a:latin typeface="Calibri"/>
                        </a:rPr>
                        <a:t>cláusula permanece no documento normativo</a:t>
                      </a:r>
                    </a:p>
                  </a:txBody>
                  <a:tcPr marL="91440" marR="91440" marT="41148" marB="41148" anchor="ctr">
                    <a:solidFill>
                      <a:srgbClr val="FFFFFF"/>
                    </a:solidFill>
                    <a:lnL>
                      <a:noFill/>
                    </a:lnL>
                    <a:lnR>
                      <a:noFill/>
                    </a:lnR>
                    <a:lnT>
                      <a:noFill/>
                    </a:lnT>
                    <a:lnB>
                      <a:noFill/>
                    </a:lnB>
                  </a:tcPr>
                </a:tc>
              </a:tr>
              <a:tr h="1220724">
                <a:tc>
                  <a:txBody>
                    <a:bodyPr wrap="square">
                      <a:noAutofit/>
                    </a:bodyPr>
                    <a:lstStyle/>
                    <a:p>
                      <a:pPr algn="l">
                        <a:lnSpc>
                          <a:spcPct val="100000"/>
                        </a:lnSpc>
                        <a:spcBef>
                          <a:spcPts val="0"/>
                        </a:spcBef>
                        <a:spcAft>
                          <a:spcPts val="0"/>
                        </a:spcAft>
                      </a:pPr>
                      <a:r>
                        <a:rPr sz="1300" b="1">
                          <a:solidFill>
                            <a:srgbClr val="1F1F1F"/>
                          </a:solidFill>
                          <a:latin typeface="Calibri"/>
                        </a:rPr>
                        <a:t>Alterações das garantias</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Não ocorreram alterações nas garantias existentes</a:t>
                      </a:r>
                    </a:p>
                    <a:p>
                      <a:pPr algn="l">
                        <a:lnSpc>
                          <a:spcPct val="100000"/>
                        </a:lnSpc>
                        <a:spcBef>
                          <a:spcPts val="0"/>
                        </a:spcBef>
                        <a:spcAft>
                          <a:spcPts val="0"/>
                        </a:spcAft>
                      </a:pPr>
                      <a:r>
                        <a:rPr sz="1300" b="0">
                          <a:solidFill>
                            <a:srgbClr val="1F1F1F"/>
                          </a:solidFill>
                          <a:latin typeface="Calibri"/>
                        </a:rPr>
                        <a:t>para o conjunto de direitos creditórios</a:t>
                      </a:r>
                    </a:p>
                    <a:p>
                      <a:pPr algn="l">
                        <a:lnSpc>
                          <a:spcPct val="100000"/>
                        </a:lnSpc>
                        <a:spcBef>
                          <a:spcPts val="0"/>
                        </a:spcBef>
                        <a:spcAft>
                          <a:spcPts val="0"/>
                        </a:spcAft>
                      </a:pPr>
                      <a:r>
                        <a:rPr sz="1300" b="0">
                          <a:solidFill>
                            <a:srgbClr val="1F1F1F"/>
                          </a:solidFill>
                          <a:latin typeface="Calibri"/>
                        </a:rPr>
                        <a:t>adquiridos pelo fundo.</a:t>
                      </a:r>
                    </a:p>
                    <a:p>
                      <a:pPr algn="l">
                        <a:lnSpc>
                          <a:spcPct val="100000"/>
                        </a:lnSpc>
                        <a:spcBef>
                          <a:spcPts val="0"/>
                        </a:spcBef>
                        <a:spcAft>
                          <a:spcPts val="0"/>
                        </a:spcAft>
                      </a:pPr>
                      <a:r>
                        <a:rPr sz="1300" b="0">
                          <a:solidFill>
                            <a:srgbClr val="1F1F1F"/>
                          </a:solidFill>
                          <a:latin typeface="Calibri"/>
                        </a:rPr>
                        <a:t>Declaração do informe trimestral</a:t>
                      </a:r>
                    </a:p>
                    <a:p>
                      <a:pPr algn="l">
                        <a:lnSpc>
                          <a:spcPct val="100000"/>
                        </a:lnSpc>
                        <a:spcBef>
                          <a:spcPts val="0"/>
                        </a:spcBef>
                        <a:spcAft>
                          <a:spcPts val="0"/>
                        </a:spcAft>
                      </a:pPr>
                      <a:r>
                        <a:rPr sz="1300" b="0">
                          <a:solidFill>
                            <a:srgbClr val="1F1F1F"/>
                          </a:solidFill>
                          <a:latin typeface="Calibri"/>
                        </a:rPr>
                        <a:t>2026-Q2 · Resposta declarada no informe; a</a:t>
                      </a:r>
                    </a:p>
                    <a:p>
                      <a:pPr algn="l">
                        <a:lnSpc>
                          <a:spcPct val="100000"/>
                        </a:lnSpc>
                        <a:spcBef>
                          <a:spcPts val="0"/>
                        </a:spcBef>
                        <a:spcAft>
                          <a:spcPts val="0"/>
                        </a:spcAft>
                      </a:pPr>
                      <a:r>
                        <a:rPr sz="1300" b="0">
                          <a:solidFill>
                            <a:srgbClr val="1F1F1F"/>
                          </a:solidFill>
                          <a:latin typeface="Calibri"/>
                        </a:rPr>
                        <a:t>cláusula permanece no documento normativo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Ocorreram alterações nas garantias existentes</a:t>
                      </a:r>
                    </a:p>
                    <a:p>
                      <a:pPr algn="l">
                        <a:lnSpc>
                          <a:spcPct val="100000"/>
                        </a:lnSpc>
                        <a:spcBef>
                          <a:spcPts val="0"/>
                        </a:spcBef>
                        <a:spcAft>
                          <a:spcPts val="0"/>
                        </a:spcAft>
                      </a:pPr>
                      <a:r>
                        <a:rPr sz="1300" b="0">
                          <a:solidFill>
                            <a:srgbClr val="1F1F1F"/>
                          </a:solidFill>
                          <a:latin typeface="Calibri"/>
                        </a:rPr>
                        <a:t>para o conjunto de direitos creditórios</a:t>
                      </a:r>
                    </a:p>
                    <a:p>
                      <a:pPr algn="l">
                        <a:lnSpc>
                          <a:spcPct val="100000"/>
                        </a:lnSpc>
                        <a:spcBef>
                          <a:spcPts val="0"/>
                        </a:spcBef>
                        <a:spcAft>
                          <a:spcPts val="0"/>
                        </a:spcAft>
                      </a:pPr>
                      <a:r>
                        <a:rPr sz="1300" b="0">
                          <a:solidFill>
                            <a:srgbClr val="1F1F1F"/>
                          </a:solidFill>
                          <a:latin typeface="Calibri"/>
                        </a:rPr>
                        <a:t>adquiridos pelo fundo.</a:t>
                      </a:r>
                    </a:p>
                    <a:p>
                      <a:pPr algn="l">
                        <a:lnSpc>
                          <a:spcPct val="100000"/>
                        </a:lnSpc>
                        <a:spcBef>
                          <a:spcPts val="0"/>
                        </a:spcBef>
                        <a:spcAft>
                          <a:spcPts val="0"/>
                        </a:spcAft>
                      </a:pPr>
                      <a:r>
                        <a:rPr sz="1300" b="0">
                          <a:solidFill>
                            <a:srgbClr val="1F1F1F"/>
                          </a:solidFill>
                          <a:latin typeface="Calibri"/>
                        </a:rPr>
                        <a:t>Declaração do informe trimestral</a:t>
                      </a:r>
                    </a:p>
                    <a:p>
                      <a:pPr algn="l">
                        <a:lnSpc>
                          <a:spcPct val="100000"/>
                        </a:lnSpc>
                        <a:spcBef>
                          <a:spcPts val="0"/>
                        </a:spcBef>
                        <a:spcAft>
                          <a:spcPts val="0"/>
                        </a:spcAft>
                      </a:pPr>
                      <a:r>
                        <a:rPr sz="1300" b="0">
                          <a:solidFill>
                            <a:srgbClr val="1F1F1F"/>
                          </a:solidFill>
                          <a:latin typeface="Calibri"/>
                        </a:rPr>
                        <a:t>2026-Q2 · Resposta declarada no informe; a</a:t>
                      </a:r>
                    </a:p>
                    <a:p>
                      <a:pPr algn="l">
                        <a:lnSpc>
                          <a:spcPct val="100000"/>
                        </a:lnSpc>
                        <a:spcBef>
                          <a:spcPts val="0"/>
                        </a:spcBef>
                        <a:spcAft>
                          <a:spcPts val="0"/>
                        </a:spcAft>
                      </a:pPr>
                      <a:r>
                        <a:rPr sz="1300" b="0">
                          <a:solidFill>
                            <a:srgbClr val="1F1F1F"/>
                          </a:solidFill>
                          <a:latin typeface="Calibri"/>
                        </a:rPr>
                        <a:t>cláusula permanece no documento normativo</a:t>
                      </a:r>
                    </a:p>
                  </a:txBody>
                  <a:tcPr marL="91440" marR="91440" marT="41148" marB="41148" anchor="ctr">
                    <a:solidFill>
                      <a:srgbClr val="FFFFFF"/>
                    </a:solidFill>
                    <a:lnL>
                      <a:noFill/>
                    </a:lnL>
                    <a:lnR>
                      <a:noFill/>
                    </a:lnR>
                    <a:lnT>
                      <a:noFill/>
                    </a:lnT>
                    <a:lnB>
                      <a:noFill/>
                    </a:lnB>
                  </a:tcPr>
                </a:tc>
              </a:tr>
              <a:tr h="1408175">
                <a:tc>
                  <a:txBody>
                    <a:bodyPr wrap="square">
                      <a:noAutofit/>
                    </a:bodyPr>
                    <a:lstStyle/>
                    <a:p>
                      <a:pPr algn="l">
                        <a:lnSpc>
                          <a:spcPct val="100000"/>
                        </a:lnSpc>
                        <a:spcBef>
                          <a:spcPts val="0"/>
                        </a:spcBef>
                        <a:spcAft>
                          <a:spcPts val="0"/>
                        </a:spcAft>
                      </a:pPr>
                      <a:r>
                        <a:rPr sz="1300" b="1">
                          <a:solidFill>
                            <a:srgbClr val="1F1F1F"/>
                          </a:solidFill>
                          <a:latin typeface="Calibri"/>
                        </a:rPr>
                        <a:t>Cessões no trimestre</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Ocorreram novas cessões de direitos creditórios</a:t>
                      </a:r>
                    </a:p>
                    <a:p>
                      <a:pPr algn="l">
                        <a:lnSpc>
                          <a:spcPct val="100000"/>
                        </a:lnSpc>
                        <a:spcBef>
                          <a:spcPts val="0"/>
                        </a:spcBef>
                        <a:spcAft>
                          <a:spcPts val="0"/>
                        </a:spcAft>
                      </a:pPr>
                      <a:r>
                        <a:rPr sz="1300" b="0">
                          <a:solidFill>
                            <a:srgbClr val="1F1F1F"/>
                          </a:solidFill>
                          <a:latin typeface="Calibri"/>
                        </a:rPr>
                        <a:t>no período em referência e os novos contratos</a:t>
                      </a:r>
                    </a:p>
                    <a:p>
                      <a:pPr algn="l">
                        <a:lnSpc>
                          <a:spcPct val="100000"/>
                        </a:lnSpc>
                        <a:spcBef>
                          <a:spcPts val="0"/>
                        </a:spcBef>
                        <a:spcAft>
                          <a:spcPts val="0"/>
                        </a:spcAft>
                      </a:pPr>
                      <a:r>
                        <a:rPr sz="1300" b="0">
                          <a:solidFill>
                            <a:srgbClr val="1F1F1F"/>
                          </a:solidFill>
                          <a:latin typeface="Calibri"/>
                        </a:rPr>
                        <a:t>foram firmados com o caráter definitivo para o</a:t>
                      </a:r>
                    </a:p>
                    <a:p>
                      <a:pPr algn="l">
                        <a:lnSpc>
                          <a:spcPct val="100000"/>
                        </a:lnSpc>
                        <a:spcBef>
                          <a:spcPts val="0"/>
                        </a:spcBef>
                        <a:spcAft>
                          <a:spcPts val="0"/>
                        </a:spcAft>
                      </a:pPr>
                      <a:r>
                        <a:rPr sz="1300" b="0">
                          <a:solidFill>
                            <a:srgbClr val="1F1F1F"/>
                          </a:solidFill>
                          <a:latin typeface="Calibri"/>
                        </a:rPr>
                        <a:t>fundo.</a:t>
                      </a:r>
                    </a:p>
                    <a:p>
                      <a:pPr algn="l">
                        <a:lnSpc>
                          <a:spcPct val="100000"/>
                        </a:lnSpc>
                        <a:spcBef>
                          <a:spcPts val="0"/>
                        </a:spcBef>
                        <a:spcAft>
                          <a:spcPts val="0"/>
                        </a:spcAft>
                      </a:pPr>
                      <a:r>
                        <a:rPr sz="1300" b="0">
                          <a:solidFill>
                            <a:srgbClr val="1F1F1F"/>
                          </a:solidFill>
                          <a:latin typeface="Calibri"/>
                        </a:rPr>
                        <a:t>Declaração do informe trimestral</a:t>
                      </a:r>
                    </a:p>
                    <a:p>
                      <a:pPr algn="l">
                        <a:lnSpc>
                          <a:spcPct val="100000"/>
                        </a:lnSpc>
                        <a:spcBef>
                          <a:spcPts val="0"/>
                        </a:spcBef>
                        <a:spcAft>
                          <a:spcPts val="0"/>
                        </a:spcAft>
                      </a:pPr>
                      <a:r>
                        <a:rPr sz="1300" b="0">
                          <a:solidFill>
                            <a:srgbClr val="1F1F1F"/>
                          </a:solidFill>
                          <a:latin typeface="Calibri"/>
                        </a:rPr>
                        <a:t>2026-Q2 · Resposta declarada no informe; a</a:t>
                      </a:r>
                    </a:p>
                    <a:p>
                      <a:pPr algn="l">
                        <a:lnSpc>
                          <a:spcPct val="100000"/>
                        </a:lnSpc>
                        <a:spcBef>
                          <a:spcPts val="0"/>
                        </a:spcBef>
                        <a:spcAft>
                          <a:spcPts val="0"/>
                        </a:spcAft>
                      </a:pPr>
                      <a:r>
                        <a:rPr sz="1300" b="0">
                          <a:solidFill>
                            <a:srgbClr val="1F1F1F"/>
                          </a:solidFill>
                          <a:latin typeface="Calibri"/>
                        </a:rPr>
                        <a:t>cláusula permanece no documento normativo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Ocorreram novas cessões de direitos creditórios</a:t>
                      </a:r>
                    </a:p>
                    <a:p>
                      <a:pPr algn="l">
                        <a:lnSpc>
                          <a:spcPct val="100000"/>
                        </a:lnSpc>
                        <a:spcBef>
                          <a:spcPts val="0"/>
                        </a:spcBef>
                        <a:spcAft>
                          <a:spcPts val="0"/>
                        </a:spcAft>
                      </a:pPr>
                      <a:r>
                        <a:rPr sz="1300" b="0">
                          <a:solidFill>
                            <a:srgbClr val="1F1F1F"/>
                          </a:solidFill>
                          <a:latin typeface="Calibri"/>
                        </a:rPr>
                        <a:t>no período em referência e os novos contratos</a:t>
                      </a:r>
                    </a:p>
                    <a:p>
                      <a:pPr algn="l">
                        <a:lnSpc>
                          <a:spcPct val="100000"/>
                        </a:lnSpc>
                        <a:spcBef>
                          <a:spcPts val="0"/>
                        </a:spcBef>
                        <a:spcAft>
                          <a:spcPts val="0"/>
                        </a:spcAft>
                      </a:pPr>
                      <a:r>
                        <a:rPr sz="1300" b="0">
                          <a:solidFill>
                            <a:srgbClr val="1F1F1F"/>
                          </a:solidFill>
                          <a:latin typeface="Calibri"/>
                        </a:rPr>
                        <a:t>foram firmados com o caráter definitivo para o</a:t>
                      </a:r>
                    </a:p>
                    <a:p>
                      <a:pPr algn="l">
                        <a:lnSpc>
                          <a:spcPct val="100000"/>
                        </a:lnSpc>
                        <a:spcBef>
                          <a:spcPts val="0"/>
                        </a:spcBef>
                        <a:spcAft>
                          <a:spcPts val="0"/>
                        </a:spcAft>
                      </a:pPr>
                      <a:r>
                        <a:rPr sz="1300" b="0">
                          <a:solidFill>
                            <a:srgbClr val="1F1F1F"/>
                          </a:solidFill>
                          <a:latin typeface="Calibri"/>
                        </a:rPr>
                        <a:t>fundo.</a:t>
                      </a:r>
                    </a:p>
                    <a:p>
                      <a:pPr algn="l">
                        <a:lnSpc>
                          <a:spcPct val="100000"/>
                        </a:lnSpc>
                        <a:spcBef>
                          <a:spcPts val="0"/>
                        </a:spcBef>
                        <a:spcAft>
                          <a:spcPts val="0"/>
                        </a:spcAft>
                      </a:pPr>
                      <a:r>
                        <a:rPr sz="1300" b="0">
                          <a:solidFill>
                            <a:srgbClr val="1F1F1F"/>
                          </a:solidFill>
                          <a:latin typeface="Calibri"/>
                        </a:rPr>
                        <a:t>Declaração do informe trimestral</a:t>
                      </a:r>
                    </a:p>
                    <a:p>
                      <a:pPr algn="l">
                        <a:lnSpc>
                          <a:spcPct val="100000"/>
                        </a:lnSpc>
                        <a:spcBef>
                          <a:spcPts val="0"/>
                        </a:spcBef>
                        <a:spcAft>
                          <a:spcPts val="0"/>
                        </a:spcAft>
                      </a:pPr>
                      <a:r>
                        <a:rPr sz="1300" b="0">
                          <a:solidFill>
                            <a:srgbClr val="1F1F1F"/>
                          </a:solidFill>
                          <a:latin typeface="Calibri"/>
                        </a:rPr>
                        <a:t>2026-Q2 · Resposta declarada no informe; a</a:t>
                      </a:r>
                    </a:p>
                    <a:p>
                      <a:pPr algn="l">
                        <a:lnSpc>
                          <a:spcPct val="100000"/>
                        </a:lnSpc>
                        <a:spcBef>
                          <a:spcPts val="0"/>
                        </a:spcBef>
                        <a:spcAft>
                          <a:spcPts val="0"/>
                        </a:spcAft>
                      </a:pPr>
                      <a:r>
                        <a:rPr sz="1300" b="0">
                          <a:solidFill>
                            <a:srgbClr val="1F1F1F"/>
                          </a:solidFill>
                          <a:latin typeface="Calibri"/>
                        </a:rPr>
                        <a:t>cláusula permanece no documento normativo</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133/160</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Declarações trimestrais</a:t>
            </a:r>
          </a:p>
        </p:txBody>
      </p:sp>
      <p:graphicFrame>
        <p:nvGraphicFramePr>
          <p:cNvPr id="3" name="Table 2"/>
          <p:cNvGraphicFramePr>
            <a:graphicFrameLocks noGrp="1"/>
          </p:cNvGraphicFramePr>
          <p:nvPr/>
        </p:nvGraphicFramePr>
        <p:xfrm>
          <a:off x="438912" y="932688"/>
          <a:ext cx="11313870" cy="4992623"/>
        </p:xfrm>
        <a:graphic>
          <a:graphicData uri="http://schemas.openxmlformats.org/drawingml/2006/table">
            <a:tbl>
              <a:tblPr>
                <a:tableStyleId>{5C22544A-7EE6-4342-B048-85BDC9FD1C3A}</a:tableStyleId>
              </a:tblPr>
              <a:tblGrid>
                <a:gridCol w="2331720"/>
                <a:gridCol w="4491075"/>
                <a:gridCol w="4491075"/>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V CDT 1 · 62552447000120</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MT Global CP · 63953620000165</a:t>
                      </a:r>
                    </a:p>
                  </a:txBody>
                  <a:tcPr marL="91440" marR="91440" marT="41148" marB="41148" anchor="ctr">
                    <a:solidFill>
                      <a:srgbClr val="F7F7F7"/>
                    </a:solidFill>
                    <a:lnL>
                      <a:noFill/>
                    </a:lnL>
                    <a:lnR>
                      <a:noFill/>
                    </a:lnR>
                    <a:lnT>
                      <a:noFill/>
                    </a:lnT>
                    <a:lnB w="6350">
                      <a:solidFill>
                        <a:srgbClr val="D9DEE5"/>
                      </a:solidFill>
                    </a:lnB>
                  </a:tcPr>
                </a:tc>
              </a:tr>
              <a:tr h="1408175">
                <a:tc>
                  <a:txBody>
                    <a:bodyPr wrap="square">
                      <a:noAutofit/>
                    </a:bodyPr>
                    <a:lstStyle/>
                    <a:p>
                      <a:pPr algn="l">
                        <a:lnSpc>
                          <a:spcPct val="100000"/>
                        </a:lnSpc>
                        <a:spcBef>
                          <a:spcPts val="0"/>
                        </a:spcBef>
                        <a:spcAft>
                          <a:spcPts val="0"/>
                        </a:spcAft>
                      </a:pPr>
                      <a:r>
                        <a:rPr sz="1300" b="1">
                          <a:solidFill>
                            <a:srgbClr val="1F1F1F"/>
                          </a:solidFill>
                          <a:latin typeface="Calibri"/>
                        </a:rPr>
                        <a:t>Eventos de pré-pagamento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O fundo teve eventos de pré-pagamento no último</a:t>
                      </a:r>
                    </a:p>
                    <a:p>
                      <a:pPr algn="l">
                        <a:lnSpc>
                          <a:spcPct val="100000"/>
                        </a:lnSpc>
                        <a:spcBef>
                          <a:spcPts val="0"/>
                        </a:spcBef>
                        <a:spcAft>
                          <a:spcPts val="0"/>
                        </a:spcAft>
                      </a:pPr>
                      <a:r>
                        <a:rPr sz="1300" b="0">
                          <a:solidFill>
                            <a:srgbClr val="1F1F1F"/>
                          </a:solidFill>
                          <a:latin typeface="Calibri"/>
                        </a:rPr>
                        <a:t>trimestre, mas não foram observados impactos</a:t>
                      </a:r>
                    </a:p>
                    <a:p>
                      <a:pPr algn="l">
                        <a:lnSpc>
                          <a:spcPct val="100000"/>
                        </a:lnSpc>
                        <a:spcBef>
                          <a:spcPts val="0"/>
                        </a:spcBef>
                        <a:spcAft>
                          <a:spcPts val="0"/>
                        </a:spcAft>
                      </a:pPr>
                      <a:r>
                        <a:rPr sz="1300" b="0">
                          <a:solidFill>
                            <a:srgbClr val="1F1F1F"/>
                          </a:solidFill>
                          <a:latin typeface="Calibri"/>
                        </a:rPr>
                        <a:t>relevantes no patrimônio líquido e na carteira do</a:t>
                      </a:r>
                    </a:p>
                    <a:p>
                      <a:pPr algn="l">
                        <a:lnSpc>
                          <a:spcPct val="100000"/>
                        </a:lnSpc>
                        <a:spcBef>
                          <a:spcPts val="0"/>
                        </a:spcBef>
                        <a:spcAft>
                          <a:spcPts val="0"/>
                        </a:spcAft>
                      </a:pPr>
                      <a:r>
                        <a:rPr sz="1300" b="0">
                          <a:solidFill>
                            <a:srgbClr val="1F1F1F"/>
                          </a:solidFill>
                          <a:latin typeface="Calibri"/>
                        </a:rPr>
                        <a:t>fundo.</a:t>
                      </a:r>
                    </a:p>
                    <a:p>
                      <a:pPr algn="l">
                        <a:lnSpc>
                          <a:spcPct val="100000"/>
                        </a:lnSpc>
                        <a:spcBef>
                          <a:spcPts val="0"/>
                        </a:spcBef>
                        <a:spcAft>
                          <a:spcPts val="0"/>
                        </a:spcAft>
                      </a:pPr>
                      <a:r>
                        <a:rPr sz="1300" b="0">
                          <a:solidFill>
                            <a:srgbClr val="1F1F1F"/>
                          </a:solidFill>
                          <a:latin typeface="Calibri"/>
                        </a:rPr>
                        <a:t>Declaração do informe trimestral</a:t>
                      </a:r>
                    </a:p>
                    <a:p>
                      <a:pPr algn="l">
                        <a:lnSpc>
                          <a:spcPct val="100000"/>
                        </a:lnSpc>
                        <a:spcBef>
                          <a:spcPts val="0"/>
                        </a:spcBef>
                        <a:spcAft>
                          <a:spcPts val="0"/>
                        </a:spcAft>
                      </a:pPr>
                      <a:r>
                        <a:rPr sz="1300" b="0">
                          <a:solidFill>
                            <a:srgbClr val="1F1F1F"/>
                          </a:solidFill>
                          <a:latin typeface="Calibri"/>
                        </a:rPr>
                        <a:t>2026-Q2 · Resposta declarada no informe; a</a:t>
                      </a:r>
                    </a:p>
                    <a:p>
                      <a:pPr algn="l">
                        <a:lnSpc>
                          <a:spcPct val="100000"/>
                        </a:lnSpc>
                        <a:spcBef>
                          <a:spcPts val="0"/>
                        </a:spcBef>
                        <a:spcAft>
                          <a:spcPts val="0"/>
                        </a:spcAft>
                      </a:pPr>
                      <a:r>
                        <a:rPr sz="1300" b="0">
                          <a:solidFill>
                            <a:srgbClr val="1F1F1F"/>
                          </a:solidFill>
                          <a:latin typeface="Calibri"/>
                        </a:rPr>
                        <a:t>cláusula permanece no documento normativo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O fundo teve eventos de pré-pagamento no último</a:t>
                      </a:r>
                    </a:p>
                    <a:p>
                      <a:pPr algn="l">
                        <a:lnSpc>
                          <a:spcPct val="100000"/>
                        </a:lnSpc>
                        <a:spcBef>
                          <a:spcPts val="0"/>
                        </a:spcBef>
                        <a:spcAft>
                          <a:spcPts val="0"/>
                        </a:spcAft>
                      </a:pPr>
                      <a:r>
                        <a:rPr sz="1300" b="0">
                          <a:solidFill>
                            <a:srgbClr val="1F1F1F"/>
                          </a:solidFill>
                          <a:latin typeface="Calibri"/>
                        </a:rPr>
                        <a:t>trimestre, mas não foram observados impactos</a:t>
                      </a:r>
                    </a:p>
                    <a:p>
                      <a:pPr algn="l">
                        <a:lnSpc>
                          <a:spcPct val="100000"/>
                        </a:lnSpc>
                        <a:spcBef>
                          <a:spcPts val="0"/>
                        </a:spcBef>
                        <a:spcAft>
                          <a:spcPts val="0"/>
                        </a:spcAft>
                      </a:pPr>
                      <a:r>
                        <a:rPr sz="1300" b="0">
                          <a:solidFill>
                            <a:srgbClr val="1F1F1F"/>
                          </a:solidFill>
                          <a:latin typeface="Calibri"/>
                        </a:rPr>
                        <a:t>relevantes no patrimônio líquido e na carteira do</a:t>
                      </a:r>
                    </a:p>
                    <a:p>
                      <a:pPr algn="l">
                        <a:lnSpc>
                          <a:spcPct val="100000"/>
                        </a:lnSpc>
                        <a:spcBef>
                          <a:spcPts val="0"/>
                        </a:spcBef>
                        <a:spcAft>
                          <a:spcPts val="0"/>
                        </a:spcAft>
                      </a:pPr>
                      <a:r>
                        <a:rPr sz="1300" b="0">
                          <a:solidFill>
                            <a:srgbClr val="1F1F1F"/>
                          </a:solidFill>
                          <a:latin typeface="Calibri"/>
                        </a:rPr>
                        <a:t>fundo.</a:t>
                      </a:r>
                    </a:p>
                    <a:p>
                      <a:pPr algn="l">
                        <a:lnSpc>
                          <a:spcPct val="100000"/>
                        </a:lnSpc>
                        <a:spcBef>
                          <a:spcPts val="0"/>
                        </a:spcBef>
                        <a:spcAft>
                          <a:spcPts val="0"/>
                        </a:spcAft>
                      </a:pPr>
                      <a:r>
                        <a:rPr sz="1300" b="0">
                          <a:solidFill>
                            <a:srgbClr val="1F1F1F"/>
                          </a:solidFill>
                          <a:latin typeface="Calibri"/>
                        </a:rPr>
                        <a:t>Declaração do informe trimestral</a:t>
                      </a:r>
                    </a:p>
                    <a:p>
                      <a:pPr algn="l">
                        <a:lnSpc>
                          <a:spcPct val="100000"/>
                        </a:lnSpc>
                        <a:spcBef>
                          <a:spcPts val="0"/>
                        </a:spcBef>
                        <a:spcAft>
                          <a:spcPts val="0"/>
                        </a:spcAft>
                      </a:pPr>
                      <a:r>
                        <a:rPr sz="1300" b="0">
                          <a:solidFill>
                            <a:srgbClr val="1F1F1F"/>
                          </a:solidFill>
                          <a:latin typeface="Calibri"/>
                        </a:rPr>
                        <a:t>2026-Q2 · Resposta declarada no informe; a</a:t>
                      </a:r>
                    </a:p>
                    <a:p>
                      <a:pPr algn="l">
                        <a:lnSpc>
                          <a:spcPct val="100000"/>
                        </a:lnSpc>
                        <a:spcBef>
                          <a:spcPts val="0"/>
                        </a:spcBef>
                        <a:spcAft>
                          <a:spcPts val="0"/>
                        </a:spcAft>
                      </a:pPr>
                      <a:r>
                        <a:rPr sz="1300" b="0">
                          <a:solidFill>
                            <a:srgbClr val="1F1F1F"/>
                          </a:solidFill>
                          <a:latin typeface="Calibri"/>
                        </a:rPr>
                        <a:t>cláusula permanece no documento normativo</a:t>
                      </a:r>
                    </a:p>
                  </a:txBody>
                  <a:tcPr marL="91440" marR="91440" marT="41148" marB="41148" anchor="ctr">
                    <a:solidFill>
                      <a:srgbClr val="FFFFFF"/>
                    </a:solidFill>
                    <a:lnL>
                      <a:noFill/>
                    </a:lnL>
                    <a:lnR>
                      <a:noFill/>
                    </a:lnR>
                    <a:lnT>
                      <a:noFill/>
                    </a:lnT>
                    <a:lnB>
                      <a:noFill/>
                    </a:lnB>
                  </a:tcPr>
                </a:tc>
              </a:tr>
              <a:tr h="1595628">
                <a:tc>
                  <a:txBody>
                    <a:bodyPr wrap="square">
                      <a:noAutofit/>
                    </a:bodyPr>
                    <a:lstStyle/>
                    <a:p>
                      <a:pPr algn="l">
                        <a:lnSpc>
                          <a:spcPct val="100000"/>
                        </a:lnSpc>
                        <a:spcBef>
                          <a:spcPts val="0"/>
                        </a:spcBef>
                        <a:spcAft>
                          <a:spcPts val="0"/>
                        </a:spcAft>
                      </a:pPr>
                      <a:r>
                        <a:rPr sz="1300" b="1">
                          <a:solidFill>
                            <a:srgbClr val="1F1F1F"/>
                          </a:solidFill>
                          <a:latin typeface="Calibri"/>
                        </a:rPr>
                        <a:t>Alienação de direitos</a:t>
                      </a:r>
                    </a:p>
                    <a:p>
                      <a:pPr algn="l">
                        <a:lnSpc>
                          <a:spcPct val="100000"/>
                        </a:lnSpc>
                        <a:spcBef>
                          <a:spcPts val="0"/>
                        </a:spcBef>
                        <a:spcAft>
                          <a:spcPts val="0"/>
                        </a:spcAft>
                      </a:pPr>
                      <a:r>
                        <a:rPr sz="1300" b="1">
                          <a:solidFill>
                            <a:srgbClr val="1F1F1F"/>
                          </a:solidFill>
                          <a:latin typeface="Calibri"/>
                        </a:rPr>
                        <a:t>creditórios</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Não se aplica, visto que não ocorreram eventos de</a:t>
                      </a:r>
                    </a:p>
                    <a:p>
                      <a:pPr algn="l">
                        <a:lnSpc>
                          <a:spcPct val="100000"/>
                        </a:lnSpc>
                        <a:spcBef>
                          <a:spcPts val="0"/>
                        </a:spcBef>
                        <a:spcAft>
                          <a:spcPts val="0"/>
                        </a:spcAft>
                      </a:pPr>
                      <a:r>
                        <a:rPr sz="1300" b="0">
                          <a:solidFill>
                            <a:srgbClr val="1F1F1F"/>
                          </a:solidFill>
                          <a:latin typeface="Calibri"/>
                        </a:rPr>
                        <a:t>alienação neste trimestre.</a:t>
                      </a:r>
                    </a:p>
                    <a:p>
                      <a:pPr algn="l">
                        <a:lnSpc>
                          <a:spcPct val="100000"/>
                        </a:lnSpc>
                        <a:spcBef>
                          <a:spcPts val="0"/>
                        </a:spcBef>
                        <a:spcAft>
                          <a:spcPts val="0"/>
                        </a:spcAft>
                      </a:pPr>
                      <a:r>
                        <a:rPr sz="1300" b="0">
                          <a:solidFill>
                            <a:srgbClr val="1F1F1F"/>
                          </a:solidFill>
                          <a:latin typeface="Calibri"/>
                        </a:rPr>
                        <a:t>Declaração do informe trimestral</a:t>
                      </a:r>
                    </a:p>
                    <a:p>
                      <a:pPr algn="l">
                        <a:lnSpc>
                          <a:spcPct val="100000"/>
                        </a:lnSpc>
                        <a:spcBef>
                          <a:spcPts val="0"/>
                        </a:spcBef>
                        <a:spcAft>
                          <a:spcPts val="0"/>
                        </a:spcAft>
                      </a:pPr>
                      <a:r>
                        <a:rPr sz="1300" b="0">
                          <a:solidFill>
                            <a:srgbClr val="1F1F1F"/>
                          </a:solidFill>
                          <a:latin typeface="Calibri"/>
                        </a:rPr>
                        <a:t>2026-Q2 · Resposta declarada no informe; a</a:t>
                      </a:r>
                    </a:p>
                    <a:p>
                      <a:pPr algn="l">
                        <a:lnSpc>
                          <a:spcPct val="100000"/>
                        </a:lnSpc>
                        <a:spcBef>
                          <a:spcPts val="0"/>
                        </a:spcBef>
                        <a:spcAft>
                          <a:spcPts val="0"/>
                        </a:spcAft>
                      </a:pPr>
                      <a:r>
                        <a:rPr sz="1300" b="0">
                          <a:solidFill>
                            <a:srgbClr val="1F1F1F"/>
                          </a:solidFill>
                          <a:latin typeface="Calibri"/>
                        </a:rPr>
                        <a:t>cláusula permanece no documento normativo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No trimestre base o fundo teve eventos de</a:t>
                      </a:r>
                    </a:p>
                    <a:p>
                      <a:pPr algn="l">
                        <a:lnSpc>
                          <a:spcPct val="100000"/>
                        </a:lnSpc>
                        <a:spcBef>
                          <a:spcPts val="0"/>
                        </a:spcBef>
                        <a:spcAft>
                          <a:spcPts val="0"/>
                        </a:spcAft>
                      </a:pPr>
                      <a:r>
                        <a:rPr sz="1300" b="0">
                          <a:solidFill>
                            <a:srgbClr val="1F1F1F"/>
                          </a:solidFill>
                          <a:latin typeface="Calibri"/>
                        </a:rPr>
                        <a:t>alienação de uma parcela dos direitos creditórios</a:t>
                      </a:r>
                    </a:p>
                    <a:p>
                      <a:pPr algn="l">
                        <a:lnSpc>
                          <a:spcPct val="100000"/>
                        </a:lnSpc>
                        <a:spcBef>
                          <a:spcPts val="0"/>
                        </a:spcBef>
                        <a:spcAft>
                          <a:spcPts val="0"/>
                        </a:spcAft>
                      </a:pPr>
                      <a:r>
                        <a:rPr sz="1300" b="0">
                          <a:solidFill>
                            <a:srgbClr val="1F1F1F"/>
                          </a:solidFill>
                          <a:latin typeface="Calibri"/>
                        </a:rPr>
                        <a:t>de sua carteira. Como principal motivo para a</a:t>
                      </a:r>
                    </a:p>
                    <a:p>
                      <a:pPr algn="l">
                        <a:lnSpc>
                          <a:spcPct val="100000"/>
                        </a:lnSpc>
                        <a:spcBef>
                          <a:spcPts val="0"/>
                        </a:spcBef>
                        <a:spcAft>
                          <a:spcPts val="0"/>
                        </a:spcAft>
                      </a:pPr>
                      <a:r>
                        <a:rPr sz="1300" b="0">
                          <a:solidFill>
                            <a:srgbClr val="1F1F1F"/>
                          </a:solidFill>
                          <a:latin typeface="Calibri"/>
                        </a:rPr>
                        <a:t>realização desta operação temos: A realocação de</a:t>
                      </a:r>
                    </a:p>
                    <a:p>
                      <a:pPr algn="l">
                        <a:lnSpc>
                          <a:spcPct val="100000"/>
                        </a:lnSpc>
                        <a:spcBef>
                          <a:spcPts val="0"/>
                        </a:spcBef>
                        <a:spcAft>
                          <a:spcPts val="0"/>
                        </a:spcAft>
                      </a:pPr>
                      <a:r>
                        <a:rPr sz="1300" b="0">
                          <a:solidFill>
                            <a:srgbClr val="1F1F1F"/>
                          </a:solidFill>
                          <a:latin typeface="Calibri"/>
                        </a:rPr>
                        <a:t>investimentos da carteira.</a:t>
                      </a:r>
                    </a:p>
                    <a:p>
                      <a:pPr algn="l">
                        <a:lnSpc>
                          <a:spcPct val="100000"/>
                        </a:lnSpc>
                        <a:spcBef>
                          <a:spcPts val="0"/>
                        </a:spcBef>
                        <a:spcAft>
                          <a:spcPts val="0"/>
                        </a:spcAft>
                      </a:pPr>
                      <a:r>
                        <a:rPr sz="1300" b="0">
                          <a:solidFill>
                            <a:srgbClr val="1F1F1F"/>
                          </a:solidFill>
                          <a:latin typeface="Calibri"/>
                        </a:rPr>
                        <a:t>Declaração do informe trimestral</a:t>
                      </a:r>
                    </a:p>
                    <a:p>
                      <a:pPr algn="l">
                        <a:lnSpc>
                          <a:spcPct val="100000"/>
                        </a:lnSpc>
                        <a:spcBef>
                          <a:spcPts val="0"/>
                        </a:spcBef>
                        <a:spcAft>
                          <a:spcPts val="0"/>
                        </a:spcAft>
                      </a:pPr>
                      <a:r>
                        <a:rPr sz="1300" b="0">
                          <a:solidFill>
                            <a:srgbClr val="1F1F1F"/>
                          </a:solidFill>
                          <a:latin typeface="Calibri"/>
                        </a:rPr>
                        <a:t>2026-Q2 · Resposta declarada no informe; a</a:t>
                      </a:r>
                    </a:p>
                    <a:p>
                      <a:pPr algn="l">
                        <a:lnSpc>
                          <a:spcPct val="100000"/>
                        </a:lnSpc>
                        <a:spcBef>
                          <a:spcPts val="0"/>
                        </a:spcBef>
                        <a:spcAft>
                          <a:spcPts val="0"/>
                        </a:spcAft>
                      </a:pPr>
                      <a:r>
                        <a:rPr sz="1300" b="0">
                          <a:solidFill>
                            <a:srgbClr val="1F1F1F"/>
                          </a:solidFill>
                          <a:latin typeface="Calibri"/>
                        </a:rPr>
                        <a:t>cláusula permanece no documento normativo</a:t>
                      </a:r>
                    </a:p>
                  </a:txBody>
                  <a:tcPr marL="91440" marR="91440" marT="41148" marB="41148" anchor="ctr">
                    <a:solidFill>
                      <a:srgbClr val="FFFFFF"/>
                    </a:solidFill>
                    <a:lnL>
                      <a:noFill/>
                    </a:lnL>
                    <a:lnR>
                      <a:noFill/>
                    </a:lnR>
                    <a:lnT>
                      <a:noFill/>
                    </a:lnT>
                    <a:lnB>
                      <a:noFill/>
                    </a:lnB>
                  </a:tcPr>
                </a:tc>
              </a:tr>
              <a:tr h="1595628">
                <a:tc>
                  <a:txBody>
                    <a:bodyPr wrap="square">
                      <a:noAutofit/>
                    </a:bodyPr>
                    <a:lstStyle/>
                    <a:p>
                      <a:pPr algn="l">
                        <a:lnSpc>
                          <a:spcPct val="100000"/>
                        </a:lnSpc>
                        <a:spcBef>
                          <a:spcPts val="0"/>
                        </a:spcBef>
                        <a:spcAft>
                          <a:spcPts val="0"/>
                        </a:spcAft>
                      </a:pPr>
                      <a:r>
                        <a:rPr sz="1300" b="1">
                          <a:solidFill>
                            <a:srgbClr val="1F1F1F"/>
                          </a:solidFill>
                          <a:latin typeface="Calibri"/>
                        </a:rPr>
                        <a:t>Descontinuidade de</a:t>
                      </a:r>
                    </a:p>
                    <a:p>
                      <a:pPr algn="l">
                        <a:lnSpc>
                          <a:spcPct val="100000"/>
                        </a:lnSpc>
                        <a:spcBef>
                          <a:spcPts val="0"/>
                        </a:spcBef>
                        <a:spcAft>
                          <a:spcPts val="0"/>
                        </a:spcAft>
                      </a:pPr>
                      <a:r>
                        <a:rPr sz="1300" b="1">
                          <a:solidFill>
                            <a:srgbClr val="1F1F1F"/>
                          </a:solidFill>
                          <a:latin typeface="Calibri"/>
                        </a:rPr>
                        <a:t>originação ou cessão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Não se aplica, visto que não foram observados</a:t>
                      </a:r>
                    </a:p>
                    <a:p>
                      <a:pPr algn="l">
                        <a:lnSpc>
                          <a:spcPct val="100000"/>
                        </a:lnSpc>
                        <a:spcBef>
                          <a:spcPts val="0"/>
                        </a:spcBef>
                        <a:spcAft>
                          <a:spcPts val="0"/>
                        </a:spcAft>
                      </a:pPr>
                      <a:r>
                        <a:rPr sz="1300" b="0">
                          <a:solidFill>
                            <a:srgbClr val="1F1F1F"/>
                          </a:solidFill>
                          <a:latin typeface="Calibri"/>
                        </a:rPr>
                        <a:t>impactos significativos na rentabilidade do</a:t>
                      </a:r>
                    </a:p>
                    <a:p>
                      <a:pPr algn="l">
                        <a:lnSpc>
                          <a:spcPct val="100000"/>
                        </a:lnSpc>
                        <a:spcBef>
                          <a:spcPts val="0"/>
                        </a:spcBef>
                        <a:spcAft>
                          <a:spcPts val="0"/>
                        </a:spcAft>
                      </a:pPr>
                      <a:r>
                        <a:rPr sz="1300" b="0">
                          <a:solidFill>
                            <a:srgbClr val="1F1F1F"/>
                          </a:solidFill>
                          <a:latin typeface="Calibri"/>
                        </a:rPr>
                        <a:t>fundo, em função da descontinuidade da originação</a:t>
                      </a:r>
                    </a:p>
                    <a:p>
                      <a:pPr algn="l">
                        <a:lnSpc>
                          <a:spcPct val="100000"/>
                        </a:lnSpc>
                        <a:spcBef>
                          <a:spcPts val="0"/>
                        </a:spcBef>
                        <a:spcAft>
                          <a:spcPts val="0"/>
                        </a:spcAft>
                      </a:pPr>
                      <a:r>
                        <a:rPr sz="1300" b="0">
                          <a:solidFill>
                            <a:srgbClr val="1F1F1F"/>
                          </a:solidFill>
                          <a:latin typeface="Calibri"/>
                        </a:rPr>
                        <a:t>de direitos creditórios no trimestre em</a:t>
                      </a:r>
                    </a:p>
                    <a:p>
                      <a:pPr algn="l">
                        <a:lnSpc>
                          <a:spcPct val="100000"/>
                        </a:lnSpc>
                        <a:spcBef>
                          <a:spcPts val="0"/>
                        </a:spcBef>
                        <a:spcAft>
                          <a:spcPts val="0"/>
                        </a:spcAft>
                      </a:pPr>
                      <a:r>
                        <a:rPr sz="1300" b="0">
                          <a:solidFill>
                            <a:srgbClr val="1F1F1F"/>
                          </a:solidFill>
                          <a:latin typeface="Calibri"/>
                        </a:rPr>
                        <a:t>referência.</a:t>
                      </a:r>
                    </a:p>
                    <a:p>
                      <a:pPr algn="l">
                        <a:lnSpc>
                          <a:spcPct val="100000"/>
                        </a:lnSpc>
                        <a:spcBef>
                          <a:spcPts val="0"/>
                        </a:spcBef>
                        <a:spcAft>
                          <a:spcPts val="0"/>
                        </a:spcAft>
                      </a:pPr>
                      <a:r>
                        <a:rPr sz="1300" b="0">
                          <a:solidFill>
                            <a:srgbClr val="1F1F1F"/>
                          </a:solidFill>
                          <a:latin typeface="Calibri"/>
                        </a:rPr>
                        <a:t>Declaração do informe trimestral</a:t>
                      </a:r>
                    </a:p>
                    <a:p>
                      <a:pPr algn="l">
                        <a:lnSpc>
                          <a:spcPct val="100000"/>
                        </a:lnSpc>
                        <a:spcBef>
                          <a:spcPts val="0"/>
                        </a:spcBef>
                        <a:spcAft>
                          <a:spcPts val="0"/>
                        </a:spcAft>
                      </a:pPr>
                      <a:r>
                        <a:rPr sz="1300" b="0">
                          <a:solidFill>
                            <a:srgbClr val="1F1F1F"/>
                          </a:solidFill>
                          <a:latin typeface="Calibri"/>
                        </a:rPr>
                        <a:t>2026-Q2 · Resposta declarada no informe; a</a:t>
                      </a:r>
                    </a:p>
                    <a:p>
                      <a:pPr algn="l">
                        <a:lnSpc>
                          <a:spcPct val="100000"/>
                        </a:lnSpc>
                        <a:spcBef>
                          <a:spcPts val="0"/>
                        </a:spcBef>
                        <a:spcAft>
                          <a:spcPts val="0"/>
                        </a:spcAft>
                      </a:pPr>
                      <a:r>
                        <a:rPr sz="1300" b="0">
                          <a:solidFill>
                            <a:srgbClr val="1F1F1F"/>
                          </a:solidFill>
                          <a:latin typeface="Calibri"/>
                        </a:rPr>
                        <a:t>cláusula permanece no documento normativo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Foram observados impactos significativos na</a:t>
                      </a:r>
                    </a:p>
                    <a:p>
                      <a:pPr algn="l">
                        <a:lnSpc>
                          <a:spcPct val="100000"/>
                        </a:lnSpc>
                        <a:spcBef>
                          <a:spcPts val="0"/>
                        </a:spcBef>
                        <a:spcAft>
                          <a:spcPts val="0"/>
                        </a:spcAft>
                      </a:pPr>
                      <a:r>
                        <a:rPr sz="1300" b="0">
                          <a:solidFill>
                            <a:srgbClr val="1F1F1F"/>
                          </a:solidFill>
                          <a:latin typeface="Calibri"/>
                        </a:rPr>
                        <a:t>rentabilidade do fundo, em função da</a:t>
                      </a:r>
                    </a:p>
                    <a:p>
                      <a:pPr algn="l">
                        <a:lnSpc>
                          <a:spcPct val="100000"/>
                        </a:lnSpc>
                        <a:spcBef>
                          <a:spcPts val="0"/>
                        </a:spcBef>
                        <a:spcAft>
                          <a:spcPts val="0"/>
                        </a:spcAft>
                      </a:pPr>
                      <a:r>
                        <a:rPr sz="1300" b="0">
                          <a:solidFill>
                            <a:srgbClr val="1F1F1F"/>
                          </a:solidFill>
                          <a:latin typeface="Calibri"/>
                        </a:rPr>
                        <a:t>descontinuidade da originação de direitos</a:t>
                      </a:r>
                    </a:p>
                    <a:p>
                      <a:pPr algn="l">
                        <a:lnSpc>
                          <a:spcPct val="100000"/>
                        </a:lnSpc>
                        <a:spcBef>
                          <a:spcPts val="0"/>
                        </a:spcBef>
                        <a:spcAft>
                          <a:spcPts val="0"/>
                        </a:spcAft>
                      </a:pPr>
                      <a:r>
                        <a:rPr sz="1300" b="0">
                          <a:solidFill>
                            <a:srgbClr val="1F1F1F"/>
                          </a:solidFill>
                          <a:latin typeface="Calibri"/>
                        </a:rPr>
                        <a:t>creditórios no trimestre em referência.</a:t>
                      </a:r>
                    </a:p>
                    <a:p>
                      <a:pPr algn="l">
                        <a:lnSpc>
                          <a:spcPct val="100000"/>
                        </a:lnSpc>
                        <a:spcBef>
                          <a:spcPts val="0"/>
                        </a:spcBef>
                        <a:spcAft>
                          <a:spcPts val="0"/>
                        </a:spcAft>
                      </a:pPr>
                      <a:r>
                        <a:rPr sz="1300" b="0">
                          <a:solidFill>
                            <a:srgbClr val="1F1F1F"/>
                          </a:solidFill>
                          <a:latin typeface="Calibri"/>
                        </a:rPr>
                        <a:t>Declaração do informe trimestral</a:t>
                      </a:r>
                    </a:p>
                    <a:p>
                      <a:pPr algn="l">
                        <a:lnSpc>
                          <a:spcPct val="100000"/>
                        </a:lnSpc>
                        <a:spcBef>
                          <a:spcPts val="0"/>
                        </a:spcBef>
                        <a:spcAft>
                          <a:spcPts val="0"/>
                        </a:spcAft>
                      </a:pPr>
                      <a:r>
                        <a:rPr sz="1300" b="0">
                          <a:solidFill>
                            <a:srgbClr val="1F1F1F"/>
                          </a:solidFill>
                          <a:latin typeface="Calibri"/>
                        </a:rPr>
                        <a:t>2026-Q2 · Resposta declarada no informe; a</a:t>
                      </a:r>
                    </a:p>
                    <a:p>
                      <a:pPr algn="l">
                        <a:lnSpc>
                          <a:spcPct val="100000"/>
                        </a:lnSpc>
                        <a:spcBef>
                          <a:spcPts val="0"/>
                        </a:spcBef>
                        <a:spcAft>
                          <a:spcPts val="0"/>
                        </a:spcAft>
                      </a:pPr>
                      <a:r>
                        <a:rPr sz="1300" b="0">
                          <a:solidFill>
                            <a:srgbClr val="1F1F1F"/>
                          </a:solidFill>
                          <a:latin typeface="Calibri"/>
                        </a:rPr>
                        <a:t>cláusula permanece no documento normativo</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134/160</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PLGN Marketplace · vínculo CNPJ 41970012000126 · Recebíveis e aquisição</a:t>
            </a:r>
          </a:p>
        </p:txBody>
      </p:sp>
      <p:graphicFrame>
        <p:nvGraphicFramePr>
          <p:cNvPr id="3" name="Table 2"/>
          <p:cNvGraphicFramePr>
            <a:graphicFrameLocks noGrp="1"/>
          </p:cNvGraphicFramePr>
          <p:nvPr/>
        </p:nvGraphicFramePr>
        <p:xfrm>
          <a:off x="438912" y="932688"/>
          <a:ext cx="11313871" cy="3122676"/>
        </p:xfrm>
        <a:graphic>
          <a:graphicData uri="http://schemas.openxmlformats.org/drawingml/2006/table">
            <a:tbl>
              <a:tblPr>
                <a:tableStyleId>{5C22544A-7EE6-4342-B048-85BDC9FD1C3A}</a:tableStyleId>
              </a:tblPr>
              <a:tblGrid>
                <a:gridCol w="2331720"/>
                <a:gridCol w="8982151"/>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MC II · 41970012000126</a:t>
                      </a:r>
                    </a:p>
                  </a:txBody>
                  <a:tcPr marL="91440" marR="91440" marT="41148" marB="41148" anchor="ctr">
                    <a:solidFill>
                      <a:srgbClr val="F7F7F7"/>
                    </a:solidFill>
                    <a:lnL>
                      <a:noFill/>
                    </a:lnL>
                    <a:lnR>
                      <a:noFill/>
                    </a:lnR>
                    <a:lnT>
                      <a:noFill/>
                    </a:lnT>
                    <a:lnB w="6350">
                      <a:solidFill>
                        <a:srgbClr val="D9DEE5"/>
                      </a:solidFill>
                    </a:lnB>
                  </a:tcPr>
                </a:tc>
              </a:tr>
              <a:tr h="283464">
                <a:tc>
                  <a:txBody>
                    <a:bodyPr wrap="square">
                      <a:noAutofit/>
                    </a:bodyPr>
                    <a:lstStyle/>
                    <a:p>
                      <a:pPr algn="l">
                        <a:lnSpc>
                          <a:spcPct val="100000"/>
                        </a:lnSpc>
                        <a:spcBef>
                          <a:spcPts val="0"/>
                        </a:spcBef>
                        <a:spcAft>
                          <a:spcPts val="0"/>
                        </a:spcAft>
                      </a:pPr>
                      <a:r>
                        <a:rPr sz="1300" b="1">
                          <a:solidFill>
                            <a:srgbClr val="1F1F1F"/>
                          </a:solidFill>
                          <a:latin typeface="Calibri"/>
                        </a:rPr>
                        <a:t>Natureza dos recebíveis</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Extração pendente</a:t>
                      </a:r>
                    </a:p>
                  </a:txBody>
                  <a:tcPr marL="91440" marR="91440" marT="41148" marB="41148" anchor="ctr">
                    <a:solidFill>
                      <a:srgbClr val="FFFFFF"/>
                    </a:solidFill>
                    <a:lnL>
                      <a:noFill/>
                    </a:lnL>
                    <a:lnR>
                      <a:noFill/>
                    </a:lnR>
                    <a:lnT>
                      <a:noFill/>
                    </a:lnT>
                    <a:lnB>
                      <a:noFill/>
                    </a:lnB>
                  </a:tcPr>
                </a:tc>
              </a:tr>
              <a:tr h="283464">
                <a:tc>
                  <a:txBody>
                    <a:bodyPr wrap="square">
                      <a:noAutofit/>
                    </a:bodyPr>
                    <a:lstStyle/>
                    <a:p>
                      <a:pPr algn="l">
                        <a:lnSpc>
                          <a:spcPct val="100000"/>
                        </a:lnSpc>
                        <a:spcBef>
                          <a:spcPts val="0"/>
                        </a:spcBef>
                        <a:spcAft>
                          <a:spcPts val="0"/>
                        </a:spcAft>
                      </a:pPr>
                      <a:r>
                        <a:rPr sz="1300" b="1">
                          <a:solidFill>
                            <a:srgbClr val="1F1F1F"/>
                          </a:solidFill>
                          <a:latin typeface="Calibri"/>
                        </a:rPr>
                        <a:t>Originador e endossante</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Extração pendente</a:t>
                      </a:r>
                    </a:p>
                  </a:txBody>
                  <a:tcPr marL="91440" marR="91440" marT="41148" marB="41148" anchor="ctr">
                    <a:solidFill>
                      <a:srgbClr val="FFFFFF"/>
                    </a:solidFill>
                    <a:lnL>
                      <a:noFill/>
                    </a:lnL>
                    <a:lnR>
                      <a:noFill/>
                    </a:lnR>
                    <a:lnT>
                      <a:noFill/>
                    </a:lnT>
                    <a:lnB>
                      <a:noFill/>
                    </a:lnB>
                  </a:tcPr>
                </a:tc>
              </a:tr>
              <a:tr h="1220724">
                <a:tc>
                  <a:txBody>
                    <a:bodyPr wrap="square">
                      <a:noAutofit/>
                    </a:bodyPr>
                    <a:lstStyle/>
                    <a:p>
                      <a:pPr algn="l">
                        <a:lnSpc>
                          <a:spcPct val="100000"/>
                        </a:lnSpc>
                        <a:spcBef>
                          <a:spcPts val="0"/>
                        </a:spcBef>
                        <a:spcAft>
                          <a:spcPts val="0"/>
                        </a:spcAft>
                      </a:pPr>
                      <a:r>
                        <a:rPr sz="1300" b="1">
                          <a:solidFill>
                            <a:srgbClr val="1F1F1F"/>
                          </a:solidFill>
                          <a:latin typeface="Calibri"/>
                        </a:rPr>
                        <a:t>Devedor e consignação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5.1.4. Os Direitos Creditórios serão originados por CCBs emitidas no âmbito da concessão de Crédito</a:t>
                      </a:r>
                    </a:p>
                    <a:p>
                      <a:pPr algn="l">
                        <a:lnSpc>
                          <a:spcPct val="100000"/>
                        </a:lnSpc>
                        <a:spcBef>
                          <a:spcPts val="0"/>
                        </a:spcBef>
                        <a:spcAft>
                          <a:spcPts val="0"/>
                        </a:spcAft>
                      </a:pPr>
                      <a:r>
                        <a:rPr sz="1300" b="0">
                          <a:solidFill>
                            <a:srgbClr val="1F1F1F"/>
                          </a:solidFill>
                          <a:latin typeface="Calibri"/>
                        </a:rPr>
                        <a:t>Parcelado ou Empréstimo Pessoal pela Instituição Financeira MeLi aos Devedores, sendo que os</a:t>
                      </a:r>
                    </a:p>
                    <a:p>
                      <a:pPr algn="l">
                        <a:lnSpc>
                          <a:spcPct val="100000"/>
                        </a:lnSpc>
                        <a:spcBef>
                          <a:spcPts val="0"/>
                        </a:spcBef>
                        <a:spcAft>
                          <a:spcPts val="0"/>
                        </a:spcAft>
                      </a:pPr>
                      <a:r>
                        <a:rPr sz="1300" b="0">
                          <a:solidFill>
                            <a:srgbClr val="1F1F1F"/>
                          </a:solidFill>
                          <a:latin typeface="Calibri"/>
                        </a:rPr>
                        <a:t>Direitos Creditórios deverão ser representados pelos Documentos Comprobatórios.</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5.4.1.1. Os Direitos Creditórios serão individualmente representados por CCBs originadas da</a:t>
                      </a:r>
                    </a:p>
                    <a:p>
                      <a:pPr algn="l">
                        <a:lnSpc>
                          <a:spcPct val="100000"/>
                        </a:lnSpc>
                        <a:spcBef>
                          <a:spcPts val="0"/>
                        </a:spcBef>
                        <a:spcAft>
                          <a:spcPts val="0"/>
                        </a:spcAft>
                      </a:pPr>
                      <a:r>
                        <a:rPr sz="1300" b="0">
                          <a:solidFill>
                            <a:srgbClr val="1F1F1F"/>
                          </a:solidFill>
                          <a:latin typeface="Calibri"/>
                        </a:rPr>
                        <a:t>concessão de Crédito Parcelado ou Empréstimo Pessoal pela Instituição Financeira MeLi aos Devedores.</a:t>
                      </a:r>
                    </a:p>
                  </a:txBody>
                  <a:tcPr marL="91440" marR="91440" marT="41148" marB="41148" anchor="ctr">
                    <a:solidFill>
                      <a:srgbClr val="FFFFFF"/>
                    </a:solidFill>
                    <a:lnL>
                      <a:noFill/>
                    </a:lnL>
                    <a:lnR>
                      <a:noFill/>
                    </a:lnR>
                    <a:lnT>
                      <a:noFill/>
                    </a:lnT>
                    <a:lnB>
                      <a:noFill/>
                    </a:lnB>
                  </a:tcPr>
                </a:tc>
              </a:tr>
              <a:tr h="470916">
                <a:tc>
                  <a:txBody>
                    <a:bodyPr wrap="square">
                      <a:noAutofit/>
                    </a:bodyPr>
                    <a:lstStyle/>
                    <a:p>
                      <a:pPr algn="l">
                        <a:lnSpc>
                          <a:spcPct val="100000"/>
                        </a:lnSpc>
                        <a:spcBef>
                          <a:spcPts val="0"/>
                        </a:spcBef>
                        <a:spcAft>
                          <a:spcPts val="0"/>
                        </a:spcAft>
                      </a:pPr>
                      <a:r>
                        <a:rPr sz="1300" b="1">
                          <a:solidFill>
                            <a:srgbClr val="1F1F1F"/>
                          </a:solidFill>
                          <a:latin typeface="Calibri"/>
                        </a:rPr>
                        <a:t>Elegibilidade</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CCBs de crédito parcelado/empréstimo pessoal, adimplentes, com 1 a 24 parcelas futuras e amortização</a:t>
                      </a:r>
                    </a:p>
                    <a:p>
                      <a:pPr algn="l">
                        <a:lnSpc>
                          <a:spcPct val="100000"/>
                        </a:lnSpc>
                        <a:spcBef>
                          <a:spcPts val="0"/>
                        </a:spcBef>
                        <a:spcAft>
                          <a:spcPts val="0"/>
                        </a:spcAft>
                      </a:pPr>
                      <a:r>
                        <a:rPr sz="1300" b="0">
                          <a:solidFill>
                            <a:srgbClr val="1F1F1F"/>
                          </a:solidFill>
                          <a:latin typeface="Calibri"/>
                        </a:rPr>
                        <a:t>mensal. Principal original ≤R$ 30 mil para consumidor e ≤R$ 1 milhão para comerciante.</a:t>
                      </a:r>
                    </a:p>
                  </a:txBody>
                  <a:tcPr marL="91440" marR="91440" marT="41148" marB="41148" anchor="ctr">
                    <a:solidFill>
                      <a:srgbClr val="FFFFFF"/>
                    </a:solidFill>
                    <a:lnL>
                      <a:noFill/>
                    </a:lnL>
                    <a:lnR>
                      <a:noFill/>
                    </a:lnR>
                    <a:lnT>
                      <a:noFill/>
                    </a:lnT>
                    <a:lnB>
                      <a:noFill/>
                    </a:lnB>
                  </a:tcPr>
                </a:tc>
              </a:tr>
              <a:tr h="470916">
                <a:tc>
                  <a:txBody>
                    <a:bodyPr wrap="square">
                      <a:noAutofit/>
                    </a:bodyPr>
                    <a:lstStyle/>
                    <a:p>
                      <a:pPr algn="l">
                        <a:lnSpc>
                          <a:spcPct val="100000"/>
                        </a:lnSpc>
                        <a:spcBef>
                          <a:spcPts val="0"/>
                        </a:spcBef>
                        <a:spcAft>
                          <a:spcPts val="0"/>
                        </a:spcAft>
                      </a:pPr>
                      <a:r>
                        <a:rPr sz="1300" b="1">
                          <a:solidFill>
                            <a:srgbClr val="1F1F1F"/>
                          </a:solidFill>
                          <a:latin typeface="Calibri"/>
                        </a:rPr>
                        <a:t>Limites por contrato e</a:t>
                      </a:r>
                    </a:p>
                    <a:p>
                      <a:pPr algn="l">
                        <a:lnSpc>
                          <a:spcPct val="100000"/>
                        </a:lnSpc>
                        <a:spcBef>
                          <a:spcPts val="0"/>
                        </a:spcBef>
                        <a:spcAft>
                          <a:spcPts val="0"/>
                        </a:spcAft>
                      </a:pPr>
                      <a:r>
                        <a:rPr sz="1300" b="1">
                          <a:solidFill>
                            <a:srgbClr val="1F1F1F"/>
                          </a:solidFill>
                          <a:latin typeface="Calibri"/>
                        </a:rPr>
                        <a:t>devedor</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Extração pendente</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135/160</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PLGN Marketplace · vínculo CNPJ 41970012000126 · Recebíveis e aquisição</a:t>
            </a:r>
          </a:p>
        </p:txBody>
      </p:sp>
      <p:graphicFrame>
        <p:nvGraphicFramePr>
          <p:cNvPr id="3" name="Table 2"/>
          <p:cNvGraphicFramePr>
            <a:graphicFrameLocks noGrp="1"/>
          </p:cNvGraphicFramePr>
          <p:nvPr/>
        </p:nvGraphicFramePr>
        <p:xfrm>
          <a:off x="438912" y="932688"/>
          <a:ext cx="11313871" cy="5271516"/>
        </p:xfrm>
        <a:graphic>
          <a:graphicData uri="http://schemas.openxmlformats.org/drawingml/2006/table">
            <a:tbl>
              <a:tblPr>
                <a:tableStyleId>{5C22544A-7EE6-4342-B048-85BDC9FD1C3A}</a:tableStyleId>
              </a:tblPr>
              <a:tblGrid>
                <a:gridCol w="2331720"/>
                <a:gridCol w="8982151"/>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MC II · 41970012000126</a:t>
                      </a:r>
                    </a:p>
                  </a:txBody>
                  <a:tcPr marL="91440" marR="91440" marT="41148" marB="41148" anchor="ctr">
                    <a:solidFill>
                      <a:srgbClr val="F7F7F7"/>
                    </a:solidFill>
                    <a:lnL>
                      <a:noFill/>
                    </a:lnL>
                    <a:lnR>
                      <a:noFill/>
                    </a:lnR>
                    <a:lnT>
                      <a:noFill/>
                    </a:lnT>
                    <a:lnB w="6350">
                      <a:solidFill>
                        <a:srgbClr val="D9DEE5"/>
                      </a:solidFill>
                    </a:lnB>
                  </a:tcPr>
                </a:tc>
              </a:tr>
              <a:tr h="658368">
                <a:tc>
                  <a:txBody>
                    <a:bodyPr wrap="square">
                      <a:noAutofit/>
                    </a:bodyPr>
                    <a:lstStyle/>
                    <a:p>
                      <a:pPr algn="l">
                        <a:lnSpc>
                          <a:spcPct val="100000"/>
                        </a:lnSpc>
                        <a:spcBef>
                          <a:spcPts val="0"/>
                        </a:spcBef>
                        <a:spcAft>
                          <a:spcPts val="0"/>
                        </a:spcAft>
                      </a:pPr>
                      <a:r>
                        <a:rPr sz="1300" b="1">
                          <a:solidFill>
                            <a:srgbClr val="1F1F1F"/>
                          </a:solidFill>
                          <a:latin typeface="Calibri"/>
                        </a:rPr>
                        <a:t>Prazo dos créditos e</a:t>
                      </a:r>
                    </a:p>
                    <a:p>
                      <a:pPr algn="l">
                        <a:lnSpc>
                          <a:spcPct val="100000"/>
                        </a:lnSpc>
                        <a:spcBef>
                          <a:spcPts val="0"/>
                        </a:spcBef>
                        <a:spcAft>
                          <a:spcPts val="0"/>
                        </a:spcAft>
                      </a:pPr>
                      <a:r>
                        <a:rPr sz="1300" b="1">
                          <a:solidFill>
                            <a:srgbClr val="1F1F1F"/>
                          </a:solidFill>
                          <a:latin typeface="Calibri"/>
                        </a:rPr>
                        <a:t>carência</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PMP = em qualquer Data Base, o prazo médio ponderado, em anos, dos Direitos Creditórios Adquiridos</a:t>
                      </a:r>
                    </a:p>
                    <a:p>
                      <a:pPr algn="l">
                        <a:lnSpc>
                          <a:spcPct val="100000"/>
                        </a:lnSpc>
                        <a:spcBef>
                          <a:spcPts val="0"/>
                        </a:spcBef>
                        <a:spcAft>
                          <a:spcPts val="0"/>
                        </a:spcAft>
                      </a:pPr>
                      <a:r>
                        <a:rPr sz="1300" b="0">
                          <a:solidFill>
                            <a:srgbClr val="1F1F1F"/>
                          </a:solidFill>
                          <a:latin typeface="Calibri"/>
                        </a:rPr>
                        <a:t>Adimplentes, separados por tipo de produto e por prazo original, calculado na forma de planilha</a:t>
                      </a:r>
                    </a:p>
                    <a:p>
                      <a:pPr algn="l">
                        <a:lnSpc>
                          <a:spcPct val="100000"/>
                        </a:lnSpc>
                        <a:spcBef>
                          <a:spcPts val="0"/>
                        </a:spcBef>
                        <a:spcAft>
                          <a:spcPts val="0"/>
                        </a:spcAft>
                      </a:pPr>
                      <a:r>
                        <a:rPr sz="1300" b="0">
                          <a:solidFill>
                            <a:srgbClr val="1F1F1F"/>
                          </a:solidFill>
                          <a:latin typeface="Calibri"/>
                        </a:rPr>
                        <a:t>acordada entre as partes.</a:t>
                      </a:r>
                    </a:p>
                  </a:txBody>
                  <a:tcPr marL="91440" marR="91440" marT="41148" marB="41148" anchor="ctr">
                    <a:solidFill>
                      <a:srgbClr val="FFFFFF"/>
                    </a:solidFill>
                    <a:lnL>
                      <a:noFill/>
                    </a:lnL>
                    <a:lnR>
                      <a:noFill/>
                    </a:lnR>
                    <a:lnT>
                      <a:noFill/>
                    </a:lnT>
                    <a:lnB>
                      <a:noFill/>
                    </a:lnB>
                  </a:tcPr>
                </a:tc>
              </a:tr>
              <a:tr h="4219956">
                <a:tc>
                  <a:txBody>
                    <a:bodyPr wrap="square">
                      <a:noAutofit/>
                    </a:bodyPr>
                    <a:lstStyle/>
                    <a:p>
                      <a:pPr algn="l">
                        <a:lnSpc>
                          <a:spcPct val="100000"/>
                        </a:lnSpc>
                        <a:spcBef>
                          <a:spcPts val="0"/>
                        </a:spcBef>
                        <a:spcAft>
                          <a:spcPts val="0"/>
                        </a:spcAft>
                      </a:pPr>
                      <a:r>
                        <a:rPr sz="1300" b="1">
                          <a:solidFill>
                            <a:srgbClr val="1F1F1F"/>
                          </a:solidFill>
                          <a:latin typeface="Calibri"/>
                        </a:rPr>
                        <a:t>Concentração por</a:t>
                      </a:r>
                    </a:p>
                    <a:p>
                      <a:pPr algn="l">
                        <a:lnSpc>
                          <a:spcPct val="100000"/>
                        </a:lnSpc>
                        <a:spcBef>
                          <a:spcPts val="0"/>
                        </a:spcBef>
                        <a:spcAft>
                          <a:spcPts val="0"/>
                        </a:spcAft>
                      </a:pPr>
                      <a:r>
                        <a:rPr sz="1300" b="1">
                          <a:solidFill>
                            <a:srgbClr val="1F1F1F"/>
                          </a:solidFill>
                          <a:latin typeface="Calibri"/>
                        </a:rPr>
                        <a:t>devedor, cedente e grupo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5.1.1. Observado o disposto na Instrução CVM 356, o Fundo somente poderá adquirir Direitos</a:t>
                      </a:r>
                    </a:p>
                    <a:p>
                      <a:pPr algn="l">
                        <a:lnSpc>
                          <a:spcPct val="100000"/>
                        </a:lnSpc>
                        <a:spcBef>
                          <a:spcPts val="0"/>
                        </a:spcBef>
                        <a:spcAft>
                          <a:spcPts val="0"/>
                        </a:spcAft>
                      </a:pPr>
                      <a:r>
                        <a:rPr sz="1300" b="0">
                          <a:solidFill>
                            <a:srgbClr val="1F1F1F"/>
                          </a:solidFill>
                          <a:latin typeface="Calibri"/>
                        </a:rPr>
                        <a:t>Creditórios e outros ativos de um mesmo Devedor, ou de coobrigação de uma mesma pessoa ou entidade,</a:t>
                      </a:r>
                    </a:p>
                    <a:p>
                      <a:pPr algn="l">
                        <a:lnSpc>
                          <a:spcPct val="100000"/>
                        </a:lnSpc>
                        <a:spcBef>
                          <a:spcPts val="0"/>
                        </a:spcBef>
                        <a:spcAft>
                          <a:spcPts val="0"/>
                        </a:spcAft>
                      </a:pPr>
                      <a:r>
                        <a:rPr sz="1300" b="0">
                          <a:solidFill>
                            <a:srgbClr val="1F1F1F"/>
                          </a:solidFill>
                          <a:latin typeface="Calibri"/>
                        </a:rPr>
                        <a:t>no limite de 20% (vinte por cento) do Patrimônio</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5.1.3. Relativamente às sociedades empresárias responsáveis por mais de 20% (vinte por cento) dos</a:t>
                      </a:r>
                    </a:p>
                    <a:p>
                      <a:pPr algn="l">
                        <a:lnSpc>
                          <a:spcPct val="100000"/>
                        </a:lnSpc>
                        <a:spcBef>
                          <a:spcPts val="0"/>
                        </a:spcBef>
                        <a:spcAft>
                          <a:spcPts val="0"/>
                        </a:spcAft>
                      </a:pPr>
                      <a:r>
                        <a:rPr sz="1300" b="0">
                          <a:solidFill>
                            <a:srgbClr val="1F1F1F"/>
                          </a:solidFill>
                          <a:latin typeface="Calibri"/>
                        </a:rPr>
                        <a:t>Direitos Creditórios que integrem o patrimônio do Fundo, serão dispensados o arquivamento na CVM e a</a:t>
                      </a:r>
                    </a:p>
                    <a:p>
                      <a:pPr algn="l">
                        <a:lnSpc>
                          <a:spcPct val="100000"/>
                        </a:lnSpc>
                        <a:spcBef>
                          <a:spcPts val="0"/>
                        </a:spcBef>
                        <a:spcAft>
                          <a:spcPts val="0"/>
                        </a:spcAft>
                      </a:pPr>
                      <a:r>
                        <a:rPr sz="1300" b="0">
                          <a:solidFill>
                            <a:srgbClr val="1F1F1F"/>
                          </a:solidFill>
                          <a:latin typeface="Calibri"/>
                        </a:rPr>
                        <a:t>elaboração de demonstrações financeiras na forma prevista no subitem (iii) do item (1) do item 5.1.1</a:t>
                      </a:r>
                    </a:p>
                    <a:p>
                      <a:pPr algn="l">
                        <a:lnSpc>
                          <a:spcPct val="100000"/>
                        </a:lnSpc>
                        <a:spcBef>
                          <a:spcPts val="0"/>
                        </a:spcBef>
                        <a:spcAft>
                          <a:spcPts val="0"/>
                        </a:spcAft>
                      </a:pPr>
                      <a:r>
                        <a:rPr sz="1300" b="0">
                          <a:solidFill>
                            <a:srgbClr val="1F1F1F"/>
                          </a:solidFill>
                          <a:latin typeface="Calibri"/>
                        </a:rPr>
                        <a:t>acima, desde que as Cotas do Fundo: (1) sejam objeto de oferta pública de distribuição que tenha</a:t>
                      </a:r>
                    </a:p>
                    <a:p>
                      <a:pPr algn="l">
                        <a:lnSpc>
                          <a:spcPct val="100000"/>
                        </a:lnSpc>
                        <a:spcBef>
                          <a:spcPts val="0"/>
                        </a:spcBef>
                        <a:spcAft>
                          <a:spcPts val="0"/>
                        </a:spcAft>
                      </a:pPr>
                      <a:r>
                        <a:rPr sz="1300" b="0">
                          <a:solidFill>
                            <a:srgbClr val="1F1F1F"/>
                          </a:solidFill>
                          <a:latin typeface="Calibri"/>
                        </a:rPr>
                        <a:t>como público destinatário exclusivamente sociedades integrantes do mesmo grupo econômico, e seus</a:t>
                      </a:r>
                    </a:p>
                    <a:p>
                      <a:pPr algn="l">
                        <a:lnSpc>
                          <a:spcPct val="100000"/>
                        </a:lnSpc>
                        <a:spcBef>
                          <a:spcPts val="0"/>
                        </a:spcBef>
                        <a:spcAft>
                          <a:spcPts val="0"/>
                        </a:spcAft>
                      </a:pPr>
                      <a:r>
                        <a:rPr sz="1300" b="0">
                          <a:solidFill>
                            <a:srgbClr val="1F1F1F"/>
                          </a:solidFill>
                          <a:latin typeface="Calibri"/>
                        </a:rPr>
                        <a:t>respectivos administradores e acionistas controladores, sendo vedada a negociação das Cotas no</a:t>
                      </a:r>
                    </a:p>
                    <a:p>
                      <a:pPr algn="l">
                        <a:lnSpc>
                          <a:spcPct val="100000"/>
                        </a:lnSpc>
                        <a:spcBef>
                          <a:spcPts val="0"/>
                        </a:spcBef>
                        <a:spcAft>
                          <a:spcPts val="0"/>
                        </a:spcAft>
                      </a:pPr>
                      <a:r>
                        <a:rPr sz="1300" b="0">
                          <a:solidFill>
                            <a:srgbClr val="1F1F1F"/>
                          </a:solidFill>
                          <a:latin typeface="Calibri"/>
                        </a:rPr>
                        <a:t>mercado secundário; ou (2) sejam objeto de oferta pública, devendo ser negociadas no mercado</a:t>
                      </a:r>
                    </a:p>
                    <a:p>
                      <a:pPr algn="l">
                        <a:lnSpc>
                          <a:spcPct val="100000"/>
                        </a:lnSpc>
                        <a:spcBef>
                          <a:spcPts val="0"/>
                        </a:spcBef>
                        <a:spcAft>
                          <a:spcPts val="0"/>
                        </a:spcAft>
                      </a:pPr>
                      <a:r>
                        <a:rPr sz="1300" b="0">
                          <a:solidFill>
                            <a:srgbClr val="1F1F1F"/>
                          </a:solidFill>
                          <a:latin typeface="Calibri"/>
                        </a:rPr>
                        <a:t>secundário exclusivamente entre Investidores Profissionais.</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17.6.1. Sem prejuízo do disposto no item 17.6 acima, o Gestor será responsável pelas seguintes</a:t>
                      </a:r>
                    </a:p>
                    <a:p>
                      <a:pPr algn="l">
                        <a:lnSpc>
                          <a:spcPct val="100000"/>
                        </a:lnSpc>
                        <a:spcBef>
                          <a:spcPts val="0"/>
                        </a:spcBef>
                        <a:spcAft>
                          <a:spcPts val="0"/>
                        </a:spcAft>
                      </a:pPr>
                      <a:r>
                        <a:rPr sz="1300" b="0">
                          <a:solidFill>
                            <a:srgbClr val="1F1F1F"/>
                          </a:solidFill>
                          <a:latin typeface="Calibri"/>
                        </a:rPr>
                        <a:t>atividades: (i) calcular e acompanhar, na periodicidade estabelecida neste Regulamento e no Contrato</a:t>
                      </a:r>
                    </a:p>
                    <a:p>
                      <a:pPr algn="l">
                        <a:lnSpc>
                          <a:spcPct val="100000"/>
                        </a:lnSpc>
                        <a:spcBef>
                          <a:spcPts val="0"/>
                        </a:spcBef>
                        <a:spcAft>
                          <a:spcPts val="0"/>
                        </a:spcAft>
                      </a:pPr>
                      <a:r>
                        <a:rPr sz="1300" b="0">
                          <a:solidFill>
                            <a:srgbClr val="1F1F1F"/>
                          </a:solidFill>
                          <a:latin typeface="Calibri"/>
                        </a:rPr>
                        <a:t>de Gestão: a. o Índice de Inadimplência; b. a Média Móvel do Índice de Inadimplência; c. o Índice de</a:t>
                      </a:r>
                    </a:p>
                    <a:p>
                      <a:pPr algn="l">
                        <a:lnSpc>
                          <a:spcPct val="100000"/>
                        </a:lnSpc>
                        <a:spcBef>
                          <a:spcPts val="0"/>
                        </a:spcBef>
                        <a:spcAft>
                          <a:spcPts val="0"/>
                        </a:spcAft>
                      </a:pPr>
                      <a:r>
                        <a:rPr sz="1300" b="0">
                          <a:solidFill>
                            <a:srgbClr val="1F1F1F"/>
                          </a:solidFill>
                          <a:latin typeface="Calibri"/>
                        </a:rPr>
                        <a:t>Juros Excedente; d. a Média Móvel do Índice de Juros Excedente; e. o Índice Financeiro Avaliação e o</a:t>
                      </a:r>
                    </a:p>
                    <a:p>
                      <a:pPr algn="l">
                        <a:lnSpc>
                          <a:spcPct val="100000"/>
                        </a:lnSpc>
                        <a:spcBef>
                          <a:spcPts val="0"/>
                        </a:spcBef>
                        <a:spcAft>
                          <a:spcPts val="0"/>
                        </a:spcAft>
                      </a:pPr>
                      <a:r>
                        <a:rPr sz="1300" b="0">
                          <a:solidFill>
                            <a:srgbClr val="1F1F1F"/>
                          </a:solidFill>
                          <a:latin typeface="Calibri"/>
                        </a:rPr>
                        <a:t>Índice Financeiro Amortização Acelerada, com base nas informações prestadas pelo Mercado Pago no</a:t>
                      </a:r>
                    </a:p>
                    <a:p>
                      <a:pPr algn="l">
                        <a:lnSpc>
                          <a:spcPct val="100000"/>
                        </a:lnSpc>
                        <a:spcBef>
                          <a:spcPts val="0"/>
                        </a:spcBef>
                        <a:spcAft>
                          <a:spcPts val="0"/>
                        </a:spcAft>
                      </a:pPr>
                      <a:r>
                        <a:rPr sz="1300" b="0">
                          <a:solidFill>
                            <a:srgbClr val="1F1F1F"/>
                          </a:solidFill>
                          <a:latin typeface="Calibri"/>
                        </a:rPr>
                        <a:t>Relatório de Índice Financeiro; f. o atendimento da Senioridade Máxima; g. o Valor Ajustado Agregado</a:t>
                      </a:r>
                    </a:p>
                    <a:p>
                      <a:pPr algn="l">
                        <a:lnSpc>
                          <a:spcPct val="100000"/>
                        </a:lnSpc>
                        <a:spcBef>
                          <a:spcPts val="0"/>
                        </a:spcBef>
                        <a:spcAft>
                          <a:spcPts val="0"/>
                        </a:spcAft>
                      </a:pPr>
                      <a:r>
                        <a:rPr sz="1300" b="0">
                          <a:solidFill>
                            <a:srgbClr val="1F1F1F"/>
                          </a:solidFill>
                          <a:latin typeface="Calibri"/>
                        </a:rPr>
                        <a:t>dos Direitos Creditórios considerando os Limites de Concentração previstos no Anexo VI deste</a:t>
                      </a:r>
                    </a:p>
                    <a:p>
                      <a:pPr algn="l">
                        <a:lnSpc>
                          <a:spcPct val="100000"/>
                        </a:lnSpc>
                        <a:spcBef>
                          <a:spcPts val="0"/>
                        </a:spcBef>
                        <a:spcAft>
                          <a:spcPts val="0"/>
                        </a:spcAft>
                      </a:pPr>
                      <a:r>
                        <a:rPr sz="1300" b="0">
                          <a:solidFill>
                            <a:srgbClr val="1F1F1F"/>
                          </a:solidFill>
                          <a:latin typeface="Calibri"/>
                        </a:rPr>
                        <a:t>Regulamento; e.</a:t>
                      </a:r>
                    </a:p>
                    <a:p>
                      <a:pPr algn="l">
                        <a:lnSpc>
                          <a:spcPct val="100000"/>
                        </a:lnSpc>
                        <a:spcBef>
                          <a:spcPts val="0"/>
                        </a:spcBef>
                        <a:spcAft>
                          <a:spcPts val="0"/>
                        </a:spcAft>
                      </a:pPr>
                      <a:r>
                        <a:rPr sz="1300" b="0">
                          <a:solidFill>
                            <a:srgbClr val="1F1F1F"/>
                          </a:solidFill>
                          <a:latin typeface="Calibri"/>
                        </a:rPr>
                        <a:t>IME 08/2026 · Comparação não reproduzível</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136/160</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PLGN Marketplace · vínculo CNPJ 41970012000126 · Recebíveis e aquisição</a:t>
            </a:r>
          </a:p>
        </p:txBody>
      </p:sp>
      <p:graphicFrame>
        <p:nvGraphicFramePr>
          <p:cNvPr id="3" name="Table 2"/>
          <p:cNvGraphicFramePr>
            <a:graphicFrameLocks noGrp="1"/>
          </p:cNvGraphicFramePr>
          <p:nvPr/>
        </p:nvGraphicFramePr>
        <p:xfrm>
          <a:off x="438912" y="932688"/>
          <a:ext cx="11313871" cy="1239011"/>
        </p:xfrm>
        <a:graphic>
          <a:graphicData uri="http://schemas.openxmlformats.org/drawingml/2006/table">
            <a:tbl>
              <a:tblPr>
                <a:tableStyleId>{5C22544A-7EE6-4342-B048-85BDC9FD1C3A}</a:tableStyleId>
              </a:tblPr>
              <a:tblGrid>
                <a:gridCol w="2331720"/>
                <a:gridCol w="8982151"/>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MC II · 41970012000126</a:t>
                      </a:r>
                    </a:p>
                  </a:txBody>
                  <a:tcPr marL="91440" marR="91440" marT="41148" marB="41148" anchor="ctr">
                    <a:solidFill>
                      <a:srgbClr val="F7F7F7"/>
                    </a:solidFill>
                    <a:lnL>
                      <a:noFill/>
                    </a:lnL>
                    <a:lnR>
                      <a:noFill/>
                    </a:lnR>
                    <a:lnT>
                      <a:noFill/>
                    </a:lnT>
                    <a:lnB w="6350">
                      <a:solidFill>
                        <a:srgbClr val="D9DEE5"/>
                      </a:solidFill>
                    </a:lnB>
                  </a:tcPr>
                </a:tc>
              </a:tr>
              <a:tr h="845819">
                <a:tc>
                  <a:txBody>
                    <a:bodyPr wrap="square">
                      <a:noAutofit/>
                    </a:bodyPr>
                    <a:lstStyle/>
                    <a:p>
                      <a:pPr algn="l">
                        <a:lnSpc>
                          <a:spcPct val="100000"/>
                        </a:lnSpc>
                        <a:spcBef>
                          <a:spcPts val="0"/>
                        </a:spcBef>
                        <a:spcAft>
                          <a:spcPts val="0"/>
                        </a:spcAft>
                      </a:pPr>
                      <a:r>
                        <a:rPr sz="1300" b="1">
                          <a:solidFill>
                            <a:srgbClr val="1F1F1F"/>
                          </a:solidFill>
                          <a:latin typeface="Calibri"/>
                        </a:rPr>
                        <a:t>Opção de compra de</a:t>
                      </a:r>
                    </a:p>
                    <a:p>
                      <a:pPr algn="l">
                        <a:lnSpc>
                          <a:spcPct val="100000"/>
                        </a:lnSpc>
                        <a:spcBef>
                          <a:spcPts val="0"/>
                        </a:spcBef>
                        <a:spcAft>
                          <a:spcPts val="0"/>
                        </a:spcAft>
                      </a:pPr>
                      <a:r>
                        <a:rPr sz="1300" b="1">
                          <a:solidFill>
                            <a:srgbClr val="1F1F1F"/>
                          </a:solidFill>
                          <a:latin typeface="Calibri"/>
                        </a:rPr>
                        <a:t>direitos creditórios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Mercado Pago/grupo MeLi pode recomprar créditos até fim do investimento, sem desenquadrar</a:t>
                      </a:r>
                    </a:p>
                    <a:p>
                      <a:pPr algn="l">
                        <a:lnSpc>
                          <a:spcPct val="100000"/>
                        </a:lnSpc>
                        <a:spcBef>
                          <a:spcPts val="0"/>
                        </a:spcBef>
                        <a:spcAft>
                          <a:spcPts val="0"/>
                        </a:spcAft>
                      </a:pPr>
                      <a:r>
                        <a:rPr sz="1300" b="0">
                          <a:solidFill>
                            <a:srgbClr val="1F1F1F"/>
                          </a:solidFill>
                          <a:latin typeface="Calibri"/>
                        </a:rPr>
                        <a:t>senioridade nem curar StepDown. Preço: maior entre mercado e VP menos provisões. Limite 10% do</a:t>
                      </a:r>
                    </a:p>
                    <a:p>
                      <a:pPr algn="l">
                        <a:lnSpc>
                          <a:spcPct val="100000"/>
                        </a:lnSpc>
                        <a:spcBef>
                          <a:spcPts val="0"/>
                        </a:spcBef>
                        <a:spcAft>
                          <a:spcPts val="0"/>
                        </a:spcAft>
                      </a:pPr>
                      <a:r>
                        <a:rPr sz="1300" b="0">
                          <a:solidFill>
                            <a:srgbClr val="1F1F1F"/>
                          </a:solidFill>
                          <a:latin typeface="Calibri"/>
                        </a:rPr>
                        <a:t>investimento sênior máximo, com exceções para amortização integral aprovada, amortização</a:t>
                      </a:r>
                    </a:p>
                    <a:p>
                      <a:pPr algn="l">
                        <a:lnSpc>
                          <a:spcPct val="100000"/>
                        </a:lnSpc>
                        <a:spcBef>
                          <a:spcPts val="0"/>
                        </a:spcBef>
                        <a:spcAft>
                          <a:spcPts val="0"/>
                        </a:spcAft>
                      </a:pPr>
                      <a:r>
                        <a:rPr sz="1300" b="0">
                          <a:solidFill>
                            <a:srgbClr val="1F1F1F"/>
                          </a:solidFill>
                          <a:latin typeface="Calibri"/>
                        </a:rPr>
                        <a:t>extraordinária 12.4 ou atraso &gt;90dias.</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137/160</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PLGN Marketplace · vínculo CNPJ 41970012000126 · Alocação e perímetro</a:t>
            </a:r>
          </a:p>
        </p:txBody>
      </p:sp>
      <p:graphicFrame>
        <p:nvGraphicFramePr>
          <p:cNvPr id="3" name="Table 2"/>
          <p:cNvGraphicFramePr>
            <a:graphicFrameLocks noGrp="1"/>
          </p:cNvGraphicFramePr>
          <p:nvPr/>
        </p:nvGraphicFramePr>
        <p:xfrm>
          <a:off x="438912" y="932688"/>
          <a:ext cx="11313871" cy="2743200"/>
        </p:xfrm>
        <a:graphic>
          <a:graphicData uri="http://schemas.openxmlformats.org/drawingml/2006/table">
            <a:tbl>
              <a:tblPr>
                <a:tableStyleId>{5C22544A-7EE6-4342-B048-85BDC9FD1C3A}</a:tableStyleId>
              </a:tblPr>
              <a:tblGrid>
                <a:gridCol w="2331720"/>
                <a:gridCol w="8982151"/>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MC II · 41970012000126</a:t>
                      </a:r>
                    </a:p>
                  </a:txBody>
                  <a:tcPr marL="91440" marR="91440" marT="41148" marB="41148" anchor="ctr">
                    <a:solidFill>
                      <a:srgbClr val="F7F7F7"/>
                    </a:solidFill>
                    <a:lnL>
                      <a:noFill/>
                    </a:lnL>
                    <a:lnR>
                      <a:noFill/>
                    </a:lnR>
                    <a:lnT>
                      <a:noFill/>
                    </a:lnT>
                    <a:lnB w="6350">
                      <a:solidFill>
                        <a:srgbClr val="D9DEE5"/>
                      </a:solidFill>
                    </a:lnB>
                  </a:tcPr>
                </a:tc>
              </a:tr>
              <a:tr h="658368">
                <a:tc>
                  <a:txBody>
                    <a:bodyPr wrap="square">
                      <a:noAutofit/>
                    </a:bodyPr>
                    <a:lstStyle/>
                    <a:p>
                      <a:pPr algn="l">
                        <a:lnSpc>
                          <a:spcPct val="100000"/>
                        </a:lnSpc>
                        <a:spcBef>
                          <a:spcPts val="0"/>
                        </a:spcBef>
                        <a:spcAft>
                          <a:spcPts val="0"/>
                        </a:spcAft>
                      </a:pPr>
                      <a:r>
                        <a:rPr sz="1300" b="1">
                          <a:solidFill>
                            <a:srgbClr val="1F1F1F"/>
                          </a:solidFill>
                          <a:latin typeface="Calibri"/>
                        </a:rPr>
                        <a:t>Alocação mínima</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Após 180 dias da primeira integralização: ≥67% do PL em direitos definidos pelo art. 4 da Resolução</a:t>
                      </a:r>
                    </a:p>
                    <a:p>
                      <a:pPr algn="l">
                        <a:lnSpc>
                          <a:spcPct val="100000"/>
                        </a:lnSpc>
                        <a:spcBef>
                          <a:spcPts val="0"/>
                        </a:spcBef>
                        <a:spcAft>
                          <a:spcPts val="0"/>
                        </a:spcAft>
                      </a:pPr>
                      <a:r>
                        <a:rPr sz="1300" b="0">
                          <a:solidFill>
                            <a:srgbClr val="1F1F1F"/>
                          </a:solidFill>
                          <a:latin typeface="Calibri"/>
                        </a:rPr>
                        <a:t>CMN 5.111.</a:t>
                      </a:r>
                    </a:p>
                    <a:p>
                      <a:pPr algn="l">
                        <a:lnSpc>
                          <a:spcPct val="100000"/>
                        </a:lnSpc>
                        <a:spcBef>
                          <a:spcPts val="0"/>
                        </a:spcBef>
                        <a:spcAft>
                          <a:spcPts val="0"/>
                        </a:spcAft>
                      </a:pPr>
                      <a:r>
                        <a:rPr sz="1300" b="0">
                          <a:solidFill>
                            <a:srgbClr val="1F1F1F"/>
                          </a:solidFill>
                          <a:latin typeface="Calibri"/>
                        </a:rPr>
                        <a:t>IME 08/2026 · Comparação não reproduzível</a:t>
                      </a:r>
                    </a:p>
                  </a:txBody>
                  <a:tcPr marL="91440" marR="91440" marT="41148" marB="41148" anchor="ctr">
                    <a:solidFill>
                      <a:srgbClr val="FFFFFF"/>
                    </a:solidFill>
                    <a:lnL>
                      <a:noFill/>
                    </a:lnL>
                    <a:lnR>
                      <a:noFill/>
                    </a:lnR>
                    <a:lnT>
                      <a:noFill/>
                    </a:lnT>
                    <a:lnB>
                      <a:noFill/>
                    </a:lnB>
                  </a:tcPr>
                </a:tc>
              </a:tr>
              <a:tr h="1220724">
                <a:tc>
                  <a:txBody>
                    <a:bodyPr wrap="square">
                      <a:noAutofit/>
                    </a:bodyPr>
                    <a:lstStyle/>
                    <a:p>
                      <a:pPr algn="l">
                        <a:lnSpc>
                          <a:spcPct val="100000"/>
                        </a:lnSpc>
                        <a:spcBef>
                          <a:spcPts val="0"/>
                        </a:spcBef>
                        <a:spcAft>
                          <a:spcPts val="0"/>
                        </a:spcAft>
                      </a:pPr>
                      <a:r>
                        <a:rPr sz="1300" b="1">
                          <a:solidFill>
                            <a:srgbClr val="1F1F1F"/>
                          </a:solidFill>
                          <a:latin typeface="Calibri"/>
                        </a:rPr>
                        <a:t>Alocação para tratamento</a:t>
                      </a:r>
                    </a:p>
                    <a:p>
                      <a:pPr algn="l">
                        <a:lnSpc>
                          <a:spcPct val="100000"/>
                        </a:lnSpc>
                        <a:spcBef>
                          <a:spcPts val="0"/>
                        </a:spcBef>
                        <a:spcAft>
                          <a:spcPts val="0"/>
                        </a:spcAft>
                      </a:pPr>
                      <a:r>
                        <a:rPr sz="1300" b="1">
                          <a:solidFill>
                            <a:srgbClr val="1F1F1F"/>
                          </a:solidFill>
                          <a:latin typeface="Calibri"/>
                        </a:rPr>
                        <a:t>tributário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23.4. Cotistas Residentes no Brasil. Os rendimentos auferidos pelo Cotista do Fundo estarão sujeitos</a:t>
                      </a:r>
                    </a:p>
                    <a:p>
                      <a:pPr algn="l">
                        <a:lnSpc>
                          <a:spcPct val="100000"/>
                        </a:lnSpc>
                        <a:spcBef>
                          <a:spcPts val="0"/>
                        </a:spcBef>
                        <a:spcAft>
                          <a:spcPts val="0"/>
                        </a:spcAft>
                      </a:pPr>
                      <a:r>
                        <a:rPr sz="1300" b="0">
                          <a:solidFill>
                            <a:srgbClr val="1F1F1F"/>
                          </a:solidFill>
                          <a:latin typeface="Calibri"/>
                        </a:rPr>
                        <a:t>à tributação pelo IRRF, à alíquota de 15% (quinze por cento), na data da distribuição de rendimentos</a:t>
                      </a:r>
                    </a:p>
                    <a:p>
                      <a:pPr algn="l">
                        <a:lnSpc>
                          <a:spcPct val="100000"/>
                        </a:lnSpc>
                        <a:spcBef>
                          <a:spcPts val="0"/>
                        </a:spcBef>
                        <a:spcAft>
                          <a:spcPts val="0"/>
                        </a:spcAft>
                      </a:pPr>
                      <a:r>
                        <a:rPr sz="1300" b="0">
                          <a:solidFill>
                            <a:srgbClr val="1F1F1F"/>
                          </a:solidFill>
                          <a:latin typeface="Calibri"/>
                        </a:rPr>
                        <a:t>ou da amortização de Cotas, desde que o Fundo seja classificado como entidade de investimento e</a:t>
                      </a:r>
                    </a:p>
                    <a:p>
                      <a:pPr algn="l">
                        <a:lnSpc>
                          <a:spcPct val="100000"/>
                        </a:lnSpc>
                        <a:spcBef>
                          <a:spcPts val="0"/>
                        </a:spcBef>
                        <a:spcAft>
                          <a:spcPts val="0"/>
                        </a:spcAft>
                      </a:pPr>
                      <a:r>
                        <a:rPr sz="1300" b="0">
                          <a:solidFill>
                            <a:srgbClr val="1F1F1F"/>
                          </a:solidFill>
                          <a:latin typeface="Calibri"/>
                        </a:rPr>
                        <a:t>cumpra os critérios de composição da carteira com, no mínimo, 67% (sessenta e sete por cento) de</a:t>
                      </a:r>
                    </a:p>
                    <a:p>
                      <a:pPr algn="l">
                        <a:lnSpc>
                          <a:spcPct val="100000"/>
                        </a:lnSpc>
                        <a:spcBef>
                          <a:spcPts val="0"/>
                        </a:spcBef>
                        <a:spcAft>
                          <a:spcPts val="0"/>
                        </a:spcAft>
                      </a:pPr>
                      <a:r>
                        <a:rPr sz="1300" b="0">
                          <a:solidFill>
                            <a:srgbClr val="1F1F1F"/>
                          </a:solidFill>
                          <a:latin typeface="Calibri"/>
                        </a:rPr>
                        <a:t>direitos creditórios de acordo com a Lei nº 14.754 e a Resolução CMN 5.111.</a:t>
                      </a:r>
                    </a:p>
                    <a:p>
                      <a:pPr algn="l">
                        <a:lnSpc>
                          <a:spcPct val="100000"/>
                        </a:lnSpc>
                        <a:spcBef>
                          <a:spcPts val="0"/>
                        </a:spcBef>
                        <a:spcAft>
                          <a:spcPts val="0"/>
                        </a:spcAft>
                      </a:pPr>
                      <a:r>
                        <a:rPr sz="1300" b="0">
                          <a:solidFill>
                            <a:srgbClr val="1F1F1F"/>
                          </a:solidFill>
                          <a:latin typeface="Calibri"/>
                        </a:rPr>
                        <a:t>IME 08/2026 · Referência agregada: 144,32% · Comparação não reproduzível</a:t>
                      </a:r>
                    </a:p>
                  </a:txBody>
                  <a:tcPr marL="91440" marR="91440" marT="41148" marB="41148" anchor="ctr">
                    <a:solidFill>
                      <a:srgbClr val="FFFFFF"/>
                    </a:solidFill>
                    <a:lnL>
                      <a:noFill/>
                    </a:lnL>
                    <a:lnR>
                      <a:noFill/>
                    </a:lnR>
                    <a:lnT>
                      <a:noFill/>
                    </a:lnT>
                    <a:lnB>
                      <a:noFill/>
                    </a:lnB>
                  </a:tcPr>
                </a:tc>
              </a:tr>
              <a:tr h="470916">
                <a:tc>
                  <a:txBody>
                    <a:bodyPr wrap="square">
                      <a:noAutofit/>
                    </a:bodyPr>
                    <a:lstStyle/>
                    <a:p>
                      <a:pPr algn="l">
                        <a:lnSpc>
                          <a:spcPct val="100000"/>
                        </a:lnSpc>
                        <a:spcBef>
                          <a:spcPts val="0"/>
                        </a:spcBef>
                        <a:spcAft>
                          <a:spcPts val="0"/>
                        </a:spcAft>
                      </a:pPr>
                      <a:r>
                        <a:rPr sz="1300" b="1">
                          <a:solidFill>
                            <a:srgbClr val="1F1F1F"/>
                          </a:solidFill>
                          <a:latin typeface="Calibri"/>
                        </a:rPr>
                        <a:t>Classes investidas e</a:t>
                      </a:r>
                    </a:p>
                    <a:p>
                      <a:pPr algn="l">
                        <a:lnSpc>
                          <a:spcPct val="100000"/>
                        </a:lnSpc>
                        <a:spcBef>
                          <a:spcPts val="0"/>
                        </a:spcBef>
                        <a:spcAft>
                          <a:spcPts val="0"/>
                        </a:spcAft>
                      </a:pPr>
                      <a:r>
                        <a:rPr sz="1300" b="1">
                          <a:solidFill>
                            <a:srgbClr val="1F1F1F"/>
                          </a:solidFill>
                          <a:latin typeface="Calibri"/>
                        </a:rPr>
                        <a:t>look-through</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Não se aplica</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138/160</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PLGN Marketplace · vínculo CNPJ 41970012000126 · Alocação e perímetro</a:t>
            </a:r>
          </a:p>
        </p:txBody>
      </p:sp>
      <p:graphicFrame>
        <p:nvGraphicFramePr>
          <p:cNvPr id="3" name="Table 2"/>
          <p:cNvGraphicFramePr>
            <a:graphicFrameLocks noGrp="1"/>
          </p:cNvGraphicFramePr>
          <p:nvPr/>
        </p:nvGraphicFramePr>
        <p:xfrm>
          <a:off x="438912" y="932688"/>
          <a:ext cx="11313871" cy="3118104"/>
        </p:xfrm>
        <a:graphic>
          <a:graphicData uri="http://schemas.openxmlformats.org/drawingml/2006/table">
            <a:tbl>
              <a:tblPr>
                <a:tableStyleId>{5C22544A-7EE6-4342-B048-85BDC9FD1C3A}</a:tableStyleId>
              </a:tblPr>
              <a:tblGrid>
                <a:gridCol w="2331720"/>
                <a:gridCol w="8982151"/>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MC II · 41970012000126</a:t>
                      </a:r>
                    </a:p>
                  </a:txBody>
                  <a:tcPr marL="91440" marR="91440" marT="41148" marB="41148" anchor="ctr">
                    <a:solidFill>
                      <a:srgbClr val="F7F7F7"/>
                    </a:solidFill>
                    <a:lnL>
                      <a:noFill/>
                    </a:lnL>
                    <a:lnR>
                      <a:noFill/>
                    </a:lnR>
                    <a:lnT>
                      <a:noFill/>
                    </a:lnT>
                    <a:lnB w="6350">
                      <a:solidFill>
                        <a:srgbClr val="D9DEE5"/>
                      </a:solidFill>
                    </a:lnB>
                  </a:tcPr>
                </a:tc>
              </a:tr>
              <a:tr h="1595628">
                <a:tc>
                  <a:txBody>
                    <a:bodyPr wrap="square">
                      <a:noAutofit/>
                    </a:bodyPr>
                    <a:lstStyle/>
                    <a:p>
                      <a:pPr algn="l">
                        <a:lnSpc>
                          <a:spcPct val="100000"/>
                        </a:lnSpc>
                        <a:spcBef>
                          <a:spcPts val="0"/>
                        </a:spcBef>
                        <a:spcAft>
                          <a:spcPts val="0"/>
                        </a:spcAft>
                      </a:pPr>
                      <a:r>
                        <a:rPr sz="1300" b="1">
                          <a:solidFill>
                            <a:srgbClr val="1F1F1F"/>
                          </a:solidFill>
                          <a:latin typeface="Calibri"/>
                        </a:rPr>
                        <a:t>Classe, subclasse e</a:t>
                      </a:r>
                    </a:p>
                    <a:p>
                      <a:pPr algn="l">
                        <a:lnSpc>
                          <a:spcPct val="100000"/>
                        </a:lnSpc>
                        <a:spcBef>
                          <a:spcPts val="0"/>
                        </a:spcBef>
                        <a:spcAft>
                          <a:spcPts val="0"/>
                        </a:spcAft>
                      </a:pPr>
                      <a:r>
                        <a:rPr sz="1300" b="1">
                          <a:solidFill>
                            <a:srgbClr val="1F1F1F"/>
                          </a:solidFill>
                          <a:latin typeface="Calibri"/>
                        </a:rPr>
                        <a:t>responsabilidade</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1.1. O MERCADO CRÉDITO II BRASIL FUNDO DE INVESTIMENTO EM DIREITOS CREDITÓRIOS DE RESPONSABILIDADE</a:t>
                      </a:r>
                    </a:p>
                    <a:p>
                      <a:pPr algn="l">
                        <a:lnSpc>
                          <a:spcPct val="100000"/>
                        </a:lnSpc>
                        <a:spcBef>
                          <a:spcPts val="0"/>
                        </a:spcBef>
                        <a:spcAft>
                          <a:spcPts val="0"/>
                        </a:spcAft>
                      </a:pPr>
                      <a:r>
                        <a:rPr sz="1300" b="0">
                          <a:solidFill>
                            <a:srgbClr val="1F1F1F"/>
                          </a:solidFill>
                          <a:latin typeface="Calibri"/>
                        </a:rPr>
                        <a:t>LIMITADA, é um fundo de investimento em direitos creditórios constituído sob a forma de condomínio</a:t>
                      </a:r>
                    </a:p>
                    <a:p>
                      <a:pPr algn="l">
                        <a:lnSpc>
                          <a:spcPct val="100000"/>
                        </a:lnSpc>
                        <a:spcBef>
                          <a:spcPts val="0"/>
                        </a:spcBef>
                        <a:spcAft>
                          <a:spcPts val="0"/>
                        </a:spcAft>
                      </a:pPr>
                      <a:r>
                        <a:rPr sz="1300" b="0">
                          <a:solidFill>
                            <a:srgbClr val="1F1F1F"/>
                          </a:solidFill>
                          <a:latin typeface="Calibri"/>
                        </a:rPr>
                        <a:t>fechado de natureza especial, de modo que as Cotas somente serão amortizadas integralmente ao</a:t>
                      </a:r>
                    </a:p>
                    <a:p>
                      <a:pPr algn="l">
                        <a:lnSpc>
                          <a:spcPct val="100000"/>
                        </a:lnSpc>
                        <a:spcBef>
                          <a:spcPts val="0"/>
                        </a:spcBef>
                        <a:spcAft>
                          <a:spcPts val="0"/>
                        </a:spcAft>
                      </a:pPr>
                      <a:r>
                        <a:rPr sz="1300" b="0">
                          <a:solidFill>
                            <a:srgbClr val="1F1F1F"/>
                          </a:solidFill>
                          <a:latin typeface="Calibri"/>
                        </a:rPr>
                        <a:t>término do respectivo prazo de duração das respectivas Séries e/ou Subclasses de Cotas, conforme</a:t>
                      </a:r>
                    </a:p>
                    <a:p>
                      <a:pPr algn="l">
                        <a:lnSpc>
                          <a:spcPct val="100000"/>
                        </a:lnSpc>
                        <a:spcBef>
                          <a:spcPts val="0"/>
                        </a:spcBef>
                        <a:spcAft>
                          <a:spcPts val="0"/>
                        </a:spcAft>
                      </a:pPr>
                      <a:r>
                        <a:rPr sz="1300" b="0">
                          <a:solidFill>
                            <a:srgbClr val="1F1F1F"/>
                          </a:solidFill>
                          <a:latin typeface="Calibri"/>
                        </a:rPr>
                        <a:t>definidas nos respectivos Apêndices, ou em caso de liquidação do Fundo, regido pela Resolução do CMN</a:t>
                      </a:r>
                    </a:p>
                    <a:p>
                      <a:pPr algn="l">
                        <a:lnSpc>
                          <a:spcPct val="100000"/>
                        </a:lnSpc>
                        <a:spcBef>
                          <a:spcPts val="0"/>
                        </a:spcBef>
                        <a:spcAft>
                          <a:spcPts val="0"/>
                        </a:spcAft>
                      </a:pPr>
                      <a:r>
                        <a:rPr sz="1300" b="0">
                          <a:solidFill>
                            <a:srgbClr val="1F1F1F"/>
                          </a:solidFill>
                          <a:latin typeface="Calibri"/>
                        </a:rPr>
                        <a:t>n° 2.907, de 29 de novembro de 2001, conforme alterada, pela Resolução CVM 175, pelos artigos</a:t>
                      </a:r>
                    </a:p>
                    <a:p>
                      <a:pPr algn="l">
                        <a:lnSpc>
                          <a:spcPct val="100000"/>
                        </a:lnSpc>
                        <a:spcBef>
                          <a:spcPts val="0"/>
                        </a:spcBef>
                        <a:spcAft>
                          <a:spcPts val="0"/>
                        </a:spcAft>
                      </a:pPr>
                      <a:r>
                        <a:rPr sz="1300" b="0">
                          <a:solidFill>
                            <a:srgbClr val="1F1F1F"/>
                          </a:solidFill>
                          <a:latin typeface="Calibri"/>
                        </a:rPr>
                        <a:t>1.368-C a 1.368-F do Código Civil Brasileiro, pelo presente Regulamento e pelas demais disposições</a:t>
                      </a:r>
                    </a:p>
                    <a:p>
                      <a:pPr algn="l">
                        <a:lnSpc>
                          <a:spcPct val="100000"/>
                        </a:lnSpc>
                        <a:spcBef>
                          <a:spcPts val="0"/>
                        </a:spcBef>
                        <a:spcAft>
                          <a:spcPts val="0"/>
                        </a:spcAft>
                      </a:pPr>
                      <a:r>
                        <a:rPr sz="1300" b="0">
                          <a:solidFill>
                            <a:srgbClr val="1F1F1F"/>
                          </a:solidFill>
                          <a:latin typeface="Calibri"/>
                        </a:rPr>
                        <a:t>legais e regulamentares que lhe forem aplicáveis.</a:t>
                      </a:r>
                    </a:p>
                  </a:txBody>
                  <a:tcPr marL="91440" marR="91440" marT="41148" marB="41148" anchor="ctr">
                    <a:solidFill>
                      <a:srgbClr val="FFFFFF"/>
                    </a:solidFill>
                    <a:lnL>
                      <a:noFill/>
                    </a:lnL>
                    <a:lnR>
                      <a:noFill/>
                    </a:lnR>
                    <a:lnT>
                      <a:noFill/>
                    </a:lnT>
                    <a:lnB>
                      <a:noFill/>
                    </a:lnB>
                  </a:tcPr>
                </a:tc>
              </a:tr>
              <a:tr h="658368">
                <a:tc>
                  <a:txBody>
                    <a:bodyPr wrap="square">
                      <a:noAutofit/>
                    </a:bodyPr>
                    <a:lstStyle/>
                    <a:p>
                      <a:pPr algn="l">
                        <a:lnSpc>
                          <a:spcPct val="100000"/>
                        </a:lnSpc>
                        <a:spcBef>
                          <a:spcPts val="0"/>
                        </a:spcBef>
                        <a:spcAft>
                          <a:spcPts val="0"/>
                        </a:spcAft>
                      </a:pPr>
                      <a:r>
                        <a:rPr sz="1300" b="1">
                          <a:solidFill>
                            <a:srgbClr val="1F1F1F"/>
                          </a:solidFill>
                          <a:latin typeface="Calibri"/>
                        </a:rPr>
                        <a:t>Adaptação</a:t>
                      </a:r>
                    </a:p>
                    <a:p>
                      <a:pPr algn="l">
                        <a:lnSpc>
                          <a:spcPct val="100000"/>
                        </a:lnSpc>
                        <a:spcBef>
                          <a:spcPts val="0"/>
                        </a:spcBef>
                        <a:spcAft>
                          <a:spcPts val="0"/>
                        </a:spcAft>
                      </a:pPr>
                      <a:r>
                        <a:rPr sz="1300" b="1">
                          <a:solidFill>
                            <a:srgbClr val="1F1F1F"/>
                          </a:solidFill>
                          <a:latin typeface="Calibri"/>
                        </a:rPr>
                        <a:t>àResoluçãoCVM175</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Consolidado 27/08/2026: condomínio fechado sob Resolução CVM 175 e arts.1368 C–F do Código Civil,</a:t>
                      </a:r>
                    </a:p>
                    <a:p>
                      <a:pPr algn="l">
                        <a:lnSpc>
                          <a:spcPct val="100000"/>
                        </a:lnSpc>
                        <a:spcBef>
                          <a:spcPts val="0"/>
                        </a:spcBef>
                        <a:spcAft>
                          <a:spcPts val="0"/>
                        </a:spcAft>
                      </a:pPr>
                      <a:r>
                        <a:rPr sz="1300" b="0">
                          <a:solidFill>
                            <a:srgbClr val="1F1F1F"/>
                          </a:solidFill>
                          <a:latin typeface="Calibri"/>
                        </a:rPr>
                        <a:t>com subclasses sênior, MZ A/B/C e Júnior. Classificação ANBIMA financeiro/crédito pessoal pela</a:t>
                      </a:r>
                    </a:p>
                    <a:p>
                      <a:pPr algn="l">
                        <a:lnSpc>
                          <a:spcPct val="100000"/>
                        </a:lnSpc>
                        <a:spcBef>
                          <a:spcPts val="0"/>
                        </a:spcBef>
                        <a:spcAft>
                          <a:spcPts val="0"/>
                        </a:spcAft>
                      </a:pPr>
                      <a:r>
                        <a:rPr sz="1300" b="0">
                          <a:solidFill>
                            <a:srgbClr val="1F1F1F"/>
                          </a:solidFill>
                          <a:latin typeface="Calibri"/>
                        </a:rPr>
                        <a:t>referência 23/03/2026.</a:t>
                      </a:r>
                    </a:p>
                  </a:txBody>
                  <a:tcPr marL="91440" marR="91440" marT="41148" marB="41148" anchor="ctr">
                    <a:solidFill>
                      <a:srgbClr val="FFFFFF"/>
                    </a:solidFill>
                    <a:lnL>
                      <a:noFill/>
                    </a:lnL>
                    <a:lnR>
                      <a:noFill/>
                    </a:lnR>
                    <a:lnT>
                      <a:noFill/>
                    </a:lnT>
                    <a:lnB>
                      <a:noFill/>
                    </a:lnB>
                  </a:tcPr>
                </a:tc>
              </a:tr>
              <a:tr h="470916">
                <a:tc>
                  <a:txBody>
                    <a:bodyPr wrap="square">
                      <a:noAutofit/>
                    </a:bodyPr>
                    <a:lstStyle/>
                    <a:p>
                      <a:pPr algn="l">
                        <a:lnSpc>
                          <a:spcPct val="100000"/>
                        </a:lnSpc>
                        <a:spcBef>
                          <a:spcPts val="0"/>
                        </a:spcBef>
                        <a:spcAft>
                          <a:spcPts val="0"/>
                        </a:spcAft>
                      </a:pPr>
                      <a:r>
                        <a:rPr sz="1300" b="1">
                          <a:solidFill>
                            <a:srgbClr val="1F1F1F"/>
                          </a:solidFill>
                          <a:latin typeface="Calibri"/>
                        </a:rPr>
                        <a:t>Duração e público-alvo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A OFERTA É DESTINADA EXCLUSIVAMENTE A INVESTIDORES PROFISSIONAIS . NOS TERMOS DO ART. 9º DA</a:t>
                      </a:r>
                    </a:p>
                    <a:p>
                      <a:pPr algn="l">
                        <a:lnSpc>
                          <a:spcPct val="100000"/>
                        </a:lnSpc>
                        <a:spcBef>
                          <a:spcPts val="0"/>
                        </a:spcBef>
                        <a:spcAft>
                          <a:spcPts val="0"/>
                        </a:spcAft>
                      </a:pPr>
                      <a:r>
                        <a:rPr sz="1300" b="0">
                          <a:solidFill>
                            <a:srgbClr val="1F1F1F"/>
                          </a:solidFill>
                          <a:latin typeface="Calibri"/>
                        </a:rPr>
                        <a:t>RESOLUÇÃO CVM 160, FOI DISPENSADA A DIVULGAÇÃO DE PROSPECTO PARA A REALIZAÇÃO DESTA OFERTA.</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139/160</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PLGN Marketplace · vínculo CNPJ 41970012000126 · Proteção por camada</a:t>
            </a:r>
          </a:p>
        </p:txBody>
      </p:sp>
      <p:graphicFrame>
        <p:nvGraphicFramePr>
          <p:cNvPr id="3" name="Table 2"/>
          <p:cNvGraphicFramePr>
            <a:graphicFrameLocks noGrp="1"/>
          </p:cNvGraphicFramePr>
          <p:nvPr/>
        </p:nvGraphicFramePr>
        <p:xfrm>
          <a:off x="438912" y="932688"/>
          <a:ext cx="11313871" cy="3497579"/>
        </p:xfrm>
        <a:graphic>
          <a:graphicData uri="http://schemas.openxmlformats.org/drawingml/2006/table">
            <a:tbl>
              <a:tblPr>
                <a:tableStyleId>{5C22544A-7EE6-4342-B048-85BDC9FD1C3A}</a:tableStyleId>
              </a:tblPr>
              <a:tblGrid>
                <a:gridCol w="2331720"/>
                <a:gridCol w="8982151"/>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MC II · 41970012000126</a:t>
                      </a:r>
                    </a:p>
                  </a:txBody>
                  <a:tcPr marL="91440" marR="91440" marT="41148" marB="41148" anchor="ctr">
                    <a:solidFill>
                      <a:srgbClr val="F7F7F7"/>
                    </a:solidFill>
                    <a:lnL>
                      <a:noFill/>
                    </a:lnL>
                    <a:lnR>
                      <a:noFill/>
                    </a:lnR>
                    <a:lnT>
                      <a:noFill/>
                    </a:lnT>
                    <a:lnB w="6350">
                      <a:solidFill>
                        <a:srgbClr val="D9DEE5"/>
                      </a:solidFill>
                    </a:lnB>
                  </a:tcPr>
                </a:tc>
              </a:tr>
              <a:tr h="658368">
                <a:tc>
                  <a:txBody>
                    <a:bodyPr wrap="square">
                      <a:noAutofit/>
                    </a:bodyPr>
                    <a:lstStyle/>
                    <a:p>
                      <a:pPr algn="l">
                        <a:lnSpc>
                          <a:spcPct val="100000"/>
                        </a:lnSpc>
                        <a:spcBef>
                          <a:spcPts val="0"/>
                        </a:spcBef>
                        <a:spcAft>
                          <a:spcPts val="0"/>
                        </a:spcAft>
                      </a:pPr>
                      <a:r>
                        <a:rPr sz="1300" b="1">
                          <a:solidFill>
                            <a:srgbClr val="1F1F1F"/>
                          </a:solidFill>
                          <a:latin typeface="Calibri"/>
                        </a:rPr>
                        <a:t>Subordinação mínima</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MZ A: (MZ B + MZ C + Júnior)/PL ≥20%; MZ B: (MZ C + Júnior)/PL ≥15%; MZ C: Júnior/PL ≥10%. Apuração</a:t>
                      </a:r>
                    </a:p>
                    <a:p>
                      <a:pPr algn="l">
                        <a:lnSpc>
                          <a:spcPct val="100000"/>
                        </a:lnSpc>
                        <a:spcBef>
                          <a:spcPts val="0"/>
                        </a:spcBef>
                        <a:spcAft>
                          <a:spcPts val="0"/>
                        </a:spcAft>
                      </a:pPr>
                      <a:r>
                        <a:rPr sz="1300" b="0">
                          <a:solidFill>
                            <a:srgbClr val="1F1F1F"/>
                          </a:solidFill>
                          <a:latin typeface="Calibri"/>
                        </a:rPr>
                        <a:t>diária; Step Down aumenta os pisos conforme o valor da redução, sem cumulação.</a:t>
                      </a:r>
                    </a:p>
                    <a:p>
                      <a:pPr algn="l">
                        <a:lnSpc>
                          <a:spcPct val="100000"/>
                        </a:lnSpc>
                        <a:spcBef>
                          <a:spcPts val="0"/>
                        </a:spcBef>
                        <a:spcAft>
                          <a:spcPts val="0"/>
                        </a:spcAft>
                      </a:pPr>
                      <a:r>
                        <a:rPr sz="1300" b="0">
                          <a:solidFill>
                            <a:srgbClr val="1F1F1F"/>
                          </a:solidFill>
                          <a:latin typeface="Calibri"/>
                        </a:rPr>
                        <a:t>IME 08/2026 · Referência agregada: 34,60% · Comparação não reproduzível</a:t>
                      </a:r>
                    </a:p>
                  </a:txBody>
                  <a:tcPr marL="91440" marR="91440" marT="41148" marB="41148" anchor="ctr">
                    <a:solidFill>
                      <a:srgbClr val="FFFFFF"/>
                    </a:solidFill>
                    <a:lnL>
                      <a:noFill/>
                    </a:lnL>
                    <a:lnR>
                      <a:noFill/>
                    </a:lnR>
                    <a:lnT>
                      <a:noFill/>
                    </a:lnT>
                    <a:lnB>
                      <a:noFill/>
                    </a:lnB>
                  </a:tcPr>
                </a:tc>
              </a:tr>
              <a:tr h="845819">
                <a:tc>
                  <a:txBody>
                    <a:bodyPr wrap="square">
                      <a:noAutofit/>
                    </a:bodyPr>
                    <a:lstStyle/>
                    <a:p>
                      <a:pPr algn="l">
                        <a:lnSpc>
                          <a:spcPct val="100000"/>
                        </a:lnSpc>
                        <a:spcBef>
                          <a:spcPts val="0"/>
                        </a:spcBef>
                        <a:spcAft>
                          <a:spcPts val="0"/>
                        </a:spcAft>
                      </a:pPr>
                      <a:r>
                        <a:rPr sz="1300" b="1">
                          <a:solidFill>
                            <a:srgbClr val="1F1F1F"/>
                          </a:solidFill>
                          <a:latin typeface="Calibri"/>
                        </a:rPr>
                        <a:t>Razões decobertura</a:t>
                      </a:r>
                    </a:p>
                    <a:p>
                      <a:pPr algn="l">
                        <a:lnSpc>
                          <a:spcPct val="100000"/>
                        </a:lnSpc>
                        <a:spcBef>
                          <a:spcPts val="0"/>
                        </a:spcBef>
                        <a:spcAft>
                          <a:spcPts val="0"/>
                        </a:spcAft>
                      </a:pPr>
                      <a:r>
                        <a:rPr sz="1300" b="1">
                          <a:solidFill>
                            <a:srgbClr val="1F1F1F"/>
                          </a:solidFill>
                          <a:latin typeface="Calibri"/>
                        </a:rPr>
                        <a:t>porcamada</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Senioridade Máxima limita os valores seniores integralizados à Base de Investimento. Base =</a:t>
                      </a:r>
                    </a:p>
                    <a:p>
                      <a:pPr algn="l">
                        <a:lnSpc>
                          <a:spcPct val="100000"/>
                        </a:lnSpc>
                        <a:spcBef>
                          <a:spcPts val="0"/>
                        </a:spcBef>
                        <a:spcAft>
                          <a:spcPts val="0"/>
                        </a:spcAft>
                      </a:pPr>
                      <a:r>
                        <a:rPr sz="1300" b="0">
                          <a:solidFill>
                            <a:srgbClr val="1F1F1F"/>
                          </a:solidFill>
                          <a:latin typeface="Calibri"/>
                        </a:rPr>
                        <a:t>disponibilidades sem reserva + Advance Rate × principal adimplente ajustado − próximos pagamentos a</a:t>
                      </a:r>
                    </a:p>
                    <a:p>
                      <a:pPr algn="l">
                        <a:lnSpc>
                          <a:spcPct val="100000"/>
                        </a:lnSpc>
                        <a:spcBef>
                          <a:spcPts val="0"/>
                        </a:spcBef>
                        <a:spcAft>
                          <a:spcPts val="0"/>
                        </a:spcAft>
                      </a:pPr>
                      <a:r>
                        <a:rPr sz="1300" b="0">
                          <a:solidFill>
                            <a:srgbClr val="1F1F1F"/>
                          </a:solidFill>
                          <a:latin typeface="Calibri"/>
                        </a:rPr>
                        <a:t>cotistas − despesas até a próxima data de pagamento.</a:t>
                      </a:r>
                    </a:p>
                    <a:p>
                      <a:pPr algn="l">
                        <a:lnSpc>
                          <a:spcPct val="100000"/>
                        </a:lnSpc>
                        <a:spcBef>
                          <a:spcPts val="0"/>
                        </a:spcBef>
                        <a:spcAft>
                          <a:spcPts val="0"/>
                        </a:spcAft>
                      </a:pPr>
                      <a:r>
                        <a:rPr sz="1300" b="0">
                          <a:solidFill>
                            <a:srgbClr val="1F1F1F"/>
                          </a:solidFill>
                          <a:latin typeface="Calibri"/>
                        </a:rPr>
                        <a:t>IME 08/2026 · Comparação não reproduzível</a:t>
                      </a:r>
                    </a:p>
                  </a:txBody>
                  <a:tcPr marL="91440" marR="91440" marT="41148" marB="41148" anchor="ctr">
                    <a:solidFill>
                      <a:srgbClr val="FFFFFF"/>
                    </a:solidFill>
                    <a:lnL>
                      <a:noFill/>
                    </a:lnL>
                    <a:lnR>
                      <a:noFill/>
                    </a:lnR>
                    <a:lnT>
                      <a:noFill/>
                    </a:lnT>
                    <a:lnB>
                      <a:noFill/>
                    </a:lnB>
                  </a:tcPr>
                </a:tc>
              </a:tr>
              <a:tr h="658368">
                <a:tc>
                  <a:txBody>
                    <a:bodyPr wrap="square">
                      <a:noAutofit/>
                    </a:bodyPr>
                    <a:lstStyle/>
                    <a:p>
                      <a:pPr algn="l">
                        <a:lnSpc>
                          <a:spcPct val="100000"/>
                        </a:lnSpc>
                        <a:spcBef>
                          <a:spcPts val="0"/>
                        </a:spcBef>
                        <a:spcAft>
                          <a:spcPts val="0"/>
                        </a:spcAft>
                      </a:pPr>
                      <a:r>
                        <a:rPr sz="1300" b="1">
                          <a:solidFill>
                            <a:srgbClr val="1F1F1F"/>
                          </a:solidFill>
                          <a:latin typeface="Calibri"/>
                        </a:rPr>
                        <a:t>Liberação eamortização</a:t>
                      </a:r>
                    </a:p>
                    <a:p>
                      <a:pPr algn="l">
                        <a:lnSpc>
                          <a:spcPct val="100000"/>
                        </a:lnSpc>
                        <a:spcBef>
                          <a:spcPts val="0"/>
                        </a:spcBef>
                        <a:spcAft>
                          <a:spcPts val="0"/>
                        </a:spcAft>
                      </a:pPr>
                      <a:r>
                        <a:rPr sz="1300" b="1">
                          <a:solidFill>
                            <a:srgbClr val="1F1F1F"/>
                          </a:solidFill>
                          <a:latin typeface="Calibri"/>
                        </a:rPr>
                        <a:t>dajúnior</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Júnior após resgate integral de sênior/MZ, salvo amortização extraordinária: ausência de eventos,</a:t>
                      </a:r>
                    </a:p>
                    <a:p>
                      <a:pPr algn="l">
                        <a:lnSpc>
                          <a:spcPct val="100000"/>
                        </a:lnSpc>
                        <a:spcBef>
                          <a:spcPts val="0"/>
                        </a:spcBef>
                        <a:spcAft>
                          <a:spcPts val="0"/>
                        </a:spcAft>
                      </a:pPr>
                      <a:r>
                        <a:rPr sz="1300" b="0">
                          <a:solidFill>
                            <a:srgbClr val="1F1F1F"/>
                          </a:solidFill>
                          <a:latin typeface="Calibri"/>
                        </a:rPr>
                        <a:t>respeito pró-forma à Senioridade Máxima/razões MZ, Data de Pagamento própria e Certificado de Base</a:t>
                      </a:r>
                    </a:p>
                    <a:p>
                      <a:pPr algn="l">
                        <a:lnSpc>
                          <a:spcPct val="100000"/>
                        </a:lnSpc>
                        <a:spcBef>
                          <a:spcPts val="0"/>
                        </a:spcBef>
                        <a:spcAft>
                          <a:spcPts val="0"/>
                        </a:spcAft>
                      </a:pPr>
                      <a:r>
                        <a:rPr sz="1300" b="0">
                          <a:solidFill>
                            <a:srgbClr val="1F1F1F"/>
                          </a:solidFill>
                          <a:latin typeface="Calibri"/>
                        </a:rPr>
                        <a:t>enviado aos cotistas.</a:t>
                      </a:r>
                    </a:p>
                  </a:txBody>
                  <a:tcPr marL="91440" marR="91440" marT="41148" marB="41148" anchor="ctr">
                    <a:solidFill>
                      <a:srgbClr val="FFFFFF"/>
                    </a:solidFill>
                    <a:lnL>
                      <a:noFill/>
                    </a:lnL>
                    <a:lnR>
                      <a:noFill/>
                    </a:lnR>
                    <a:lnT>
                      <a:noFill/>
                    </a:lnT>
                    <a:lnB>
                      <a:noFill/>
                    </a:lnB>
                  </a:tcPr>
                </a:tc>
              </a:tr>
              <a:tr h="283464">
                <a:tc>
                  <a:txBody>
                    <a:bodyPr wrap="square">
                      <a:noAutofit/>
                    </a:bodyPr>
                    <a:lstStyle/>
                    <a:p>
                      <a:pPr algn="l">
                        <a:lnSpc>
                          <a:spcPct val="100000"/>
                        </a:lnSpc>
                        <a:spcBef>
                          <a:spcPts val="0"/>
                        </a:spcBef>
                        <a:spcAft>
                          <a:spcPts val="0"/>
                        </a:spcAft>
                      </a:pPr>
                      <a:r>
                        <a:rPr sz="1300" b="1">
                          <a:solidFill>
                            <a:srgbClr val="1F1F1F"/>
                          </a:solidFill>
                          <a:latin typeface="Calibri"/>
                        </a:rPr>
                        <a:t>Reserva de liquidez</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a:noFill/>
                    </a:lnB>
                  </a:tcPr>
                </a:tc>
              </a:tr>
              <a:tr h="658368">
                <a:tc>
                  <a:txBody>
                    <a:bodyPr wrap="square">
                      <a:noAutofit/>
                    </a:bodyPr>
                    <a:lstStyle/>
                    <a:p>
                      <a:pPr algn="l">
                        <a:lnSpc>
                          <a:spcPct val="100000"/>
                        </a:lnSpc>
                        <a:spcBef>
                          <a:spcPts val="0"/>
                        </a:spcBef>
                        <a:spcAft>
                          <a:spcPts val="0"/>
                        </a:spcAft>
                      </a:pPr>
                      <a:r>
                        <a:rPr sz="1300" b="1">
                          <a:solidFill>
                            <a:srgbClr val="1F1F1F"/>
                          </a:solidFill>
                          <a:latin typeface="Calibri"/>
                        </a:rPr>
                        <a:t>Reserva dedespesas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Reserva de 1, 05% do PL desde a primeira integralização, verificada/recomposta diariamente e mantida</a:t>
                      </a:r>
                    </a:p>
                    <a:p>
                      <a:pPr algn="l">
                        <a:lnSpc>
                          <a:spcPct val="100000"/>
                        </a:lnSpc>
                        <a:spcBef>
                          <a:spcPts val="0"/>
                        </a:spcBef>
                        <a:spcAft>
                          <a:spcPts val="0"/>
                        </a:spcAft>
                      </a:pPr>
                      <a:r>
                        <a:rPr sz="1300" b="0">
                          <a:solidFill>
                            <a:srgbClr val="1F1F1F"/>
                          </a:solidFill>
                          <a:latin typeface="Calibri"/>
                        </a:rPr>
                        <a:t>nos ativos financeiros da cláusula 5.1.7. Regra também consta na versão 19/12/2025.</a:t>
                      </a:r>
                    </a:p>
                    <a:p>
                      <a:pPr algn="l">
                        <a:lnSpc>
                          <a:spcPct val="100000"/>
                        </a:lnSpc>
                        <a:spcBef>
                          <a:spcPts val="0"/>
                        </a:spcBef>
                        <a:spcAft>
                          <a:spcPts val="0"/>
                        </a:spcAft>
                      </a:pPr>
                      <a:r>
                        <a:rPr sz="1300" b="0">
                          <a:solidFill>
                            <a:srgbClr val="1F1F1F"/>
                          </a:solidFill>
                          <a:latin typeface="Calibri"/>
                        </a:rPr>
                        <a:t>IME 08/2026 · Comparação não reproduzível</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140/160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PLGN Marketplace · vínculo CNPJ 41970012000126 · Qualidade da carteira</a:t>
            </a:r>
          </a:p>
        </p:txBody>
      </p:sp>
      <p:graphicFrame>
        <p:nvGraphicFramePr>
          <p:cNvPr id="3" name="Table 2"/>
          <p:cNvGraphicFramePr>
            <a:graphicFrameLocks noGrp="1"/>
          </p:cNvGraphicFramePr>
          <p:nvPr/>
        </p:nvGraphicFramePr>
        <p:xfrm>
          <a:off x="438912" y="932688"/>
          <a:ext cx="11313871" cy="2930651"/>
        </p:xfrm>
        <a:graphic>
          <a:graphicData uri="http://schemas.openxmlformats.org/drawingml/2006/table">
            <a:tbl>
              <a:tblPr>
                <a:tableStyleId>{5C22544A-7EE6-4342-B048-85BDC9FD1C3A}</a:tableStyleId>
              </a:tblPr>
              <a:tblGrid>
                <a:gridCol w="2331720"/>
                <a:gridCol w="8982151"/>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MC II · 41970012000126</a:t>
                      </a:r>
                    </a:p>
                  </a:txBody>
                  <a:tcPr marL="91440" marR="91440" marT="41148" marB="41148" anchor="ctr">
                    <a:solidFill>
                      <a:srgbClr val="F7F7F7"/>
                    </a:solidFill>
                    <a:lnL>
                      <a:noFill/>
                    </a:lnL>
                    <a:lnR>
                      <a:noFill/>
                    </a:lnR>
                    <a:lnT>
                      <a:noFill/>
                    </a:lnT>
                    <a:lnB w="6350">
                      <a:solidFill>
                        <a:srgbClr val="D9DEE5"/>
                      </a:solidFill>
                    </a:lnB>
                  </a:tcPr>
                </a:tc>
              </a:tr>
              <a:tr h="1408175">
                <a:tc>
                  <a:txBody>
                    <a:bodyPr wrap="square">
                      <a:noAutofit/>
                    </a:bodyPr>
                    <a:lstStyle/>
                    <a:p>
                      <a:pPr algn="l">
                        <a:lnSpc>
                          <a:spcPct val="100000"/>
                        </a:lnSpc>
                        <a:spcBef>
                          <a:spcPts val="0"/>
                        </a:spcBef>
                        <a:spcAft>
                          <a:spcPts val="0"/>
                        </a:spcAft>
                      </a:pPr>
                      <a:r>
                        <a:rPr sz="1300" b="1">
                          <a:solidFill>
                            <a:srgbClr val="1F1F1F"/>
                          </a:solidFill>
                          <a:latin typeface="Calibri"/>
                        </a:rPr>
                        <a:t>Metodologia de PDD e</a:t>
                      </a:r>
                    </a:p>
                    <a:p>
                      <a:pPr algn="l">
                        <a:lnSpc>
                          <a:spcPct val="100000"/>
                        </a:lnSpc>
                        <a:spcBef>
                          <a:spcPts val="0"/>
                        </a:spcBef>
                        <a:spcAft>
                          <a:spcPts val="0"/>
                        </a:spcAft>
                      </a:pPr>
                      <a:r>
                        <a:rPr sz="1300" b="1">
                          <a:solidFill>
                            <a:srgbClr val="1F1F1F"/>
                          </a:solidFill>
                          <a:latin typeface="Calibri"/>
                        </a:rPr>
                        <a:t>curva por atraso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Complemento XIII: base VP da carteira em atraso; efeito vagão sobre todo o contrato. Tabela inicial</a:t>
                      </a:r>
                    </a:p>
                    <a:p>
                      <a:pPr algn="l">
                        <a:lnSpc>
                          <a:spcPct val="100000"/>
                        </a:lnSpc>
                        <a:spcBef>
                          <a:spcPts val="0"/>
                        </a:spcBef>
                        <a:spcAft>
                          <a:spcPts val="0"/>
                        </a:spcAft>
                      </a:pPr>
                      <a:r>
                        <a:rPr sz="1300" b="0">
                          <a:solidFill>
                            <a:srgbClr val="1F1F1F"/>
                          </a:solidFill>
                          <a:latin typeface="Calibri"/>
                        </a:rPr>
                        <a:t>sem garantia: 0–15d 0%; 16–30d 50%; 31–60d 91%; 61–90d 95%; 91–120d 97%; 121–150d 98%; literal &gt;151d</a:t>
                      </a:r>
                    </a:p>
                    <a:p>
                      <a:pPr algn="l">
                        <a:lnSpc>
                          <a:spcPct val="100000"/>
                        </a:lnSpc>
                        <a:spcBef>
                          <a:spcPts val="0"/>
                        </a:spcBef>
                        <a:spcAft>
                          <a:spcPts val="0"/>
                        </a:spcAft>
                      </a:pPr>
                      <a:r>
                        <a:rPr sz="1300" b="0">
                          <a:solidFill>
                            <a:srgbClr val="1F1F1F"/>
                          </a:solidFill>
                          <a:latin typeface="Calibri"/>
                        </a:rPr>
                        <a:t>100%. Com garantia: 0d 0%; 1–30d 0,5%; 31–60d 5%; 61–90d 15%; 91–120d 30%; 121–150d 50%; 151–180d</a:t>
                      </a:r>
                    </a:p>
                    <a:p>
                      <a:pPr algn="l">
                        <a:lnSpc>
                          <a:spcPct val="100000"/>
                        </a:lnSpc>
                        <a:spcBef>
                          <a:spcPts val="0"/>
                        </a:spcBef>
                        <a:spcAft>
                          <a:spcPts val="0"/>
                        </a:spcAft>
                      </a:pPr>
                      <a:r>
                        <a:rPr sz="1300" b="0">
                          <a:solidFill>
                            <a:srgbClr val="1F1F1F"/>
                          </a:solidFill>
                          <a:latin typeface="Calibri"/>
                        </a:rPr>
                        <a:t>75%; literal &gt;181d 100%. Após formar histórico, percentuais resultam do produto das migrações até a</a:t>
                      </a:r>
                    </a:p>
                    <a:p>
                      <a:pPr algn="l">
                        <a:lnSpc>
                          <a:spcPct val="100000"/>
                        </a:lnSpc>
                        <a:spcBef>
                          <a:spcPts val="0"/>
                        </a:spcBef>
                        <a:spcAft>
                          <a:spcPts val="0"/>
                        </a:spcAft>
                      </a:pPr>
                      <a:r>
                        <a:rPr sz="1300" b="0">
                          <a:solidFill>
                            <a:srgbClr val="1F1F1F"/>
                          </a:solidFill>
                          <a:latin typeface="Calibri"/>
                        </a:rPr>
                        <a:t>faixa de perda, com média dos últimos 3 meses e atualização até 5º DU de cada mês. Renegociação</a:t>
                      </a:r>
                    </a:p>
                    <a:p>
                      <a:pPr algn="l">
                        <a:lnSpc>
                          <a:spcPct val="100000"/>
                        </a:lnSpc>
                        <a:spcBef>
                          <a:spcPts val="0"/>
                        </a:spcBef>
                        <a:spcAft>
                          <a:spcPts val="0"/>
                        </a:spcAft>
                      </a:pPr>
                      <a:r>
                        <a:rPr sz="1300" b="0">
                          <a:solidFill>
                            <a:srgbClr val="1F1F1F"/>
                          </a:solidFill>
                          <a:latin typeface="Calibri"/>
                        </a:rPr>
                        <a:t>preserva categoria original.</a:t>
                      </a:r>
                    </a:p>
                    <a:p>
                      <a:pPr algn="l">
                        <a:lnSpc>
                          <a:spcPct val="100000"/>
                        </a:lnSpc>
                        <a:spcBef>
                          <a:spcPts val="0"/>
                        </a:spcBef>
                        <a:spcAft>
                          <a:spcPts val="0"/>
                        </a:spcAft>
                      </a:pPr>
                      <a:r>
                        <a:rPr sz="1300" b="0">
                          <a:solidFill>
                            <a:srgbClr val="1F1F1F"/>
                          </a:solidFill>
                          <a:latin typeface="Calibri"/>
                        </a:rPr>
                        <a:t>IME 08/2026 · Referência agregada: 35,24% · Comparação não reproduzível</a:t>
                      </a:r>
                    </a:p>
                  </a:txBody>
                  <a:tcPr marL="91440" marR="91440" marT="41148" marB="41148" anchor="ctr">
                    <a:solidFill>
                      <a:srgbClr val="FFFFFF"/>
                    </a:solidFill>
                    <a:lnL>
                      <a:noFill/>
                    </a:lnL>
                    <a:lnR>
                      <a:noFill/>
                    </a:lnR>
                    <a:lnT>
                      <a:noFill/>
                    </a:lnT>
                    <a:lnB>
                      <a:noFill/>
                    </a:lnB>
                  </a:tcPr>
                </a:tc>
              </a:tr>
              <a:tr h="658368">
                <a:tc>
                  <a:txBody>
                    <a:bodyPr wrap="square">
                      <a:noAutofit/>
                    </a:bodyPr>
                    <a:lstStyle/>
                    <a:p>
                      <a:pPr algn="l">
                        <a:lnSpc>
                          <a:spcPct val="100000"/>
                        </a:lnSpc>
                        <a:spcBef>
                          <a:spcPts val="0"/>
                        </a:spcBef>
                        <a:spcAft>
                          <a:spcPts val="0"/>
                        </a:spcAft>
                      </a:pPr>
                      <a:r>
                        <a:rPr sz="1300" b="1">
                          <a:solidFill>
                            <a:srgbClr val="1F1F1F"/>
                          </a:solidFill>
                          <a:latin typeface="Calibri"/>
                        </a:rPr>
                        <a:t>Gatilhos deatraso</a:t>
                      </a:r>
                    </a:p>
                    <a:p>
                      <a:pPr algn="l">
                        <a:lnSpc>
                          <a:spcPct val="100000"/>
                        </a:lnSpc>
                        <a:spcBef>
                          <a:spcPts val="0"/>
                        </a:spcBef>
                        <a:spcAft>
                          <a:spcPts val="0"/>
                        </a:spcAft>
                      </a:pPr>
                      <a:r>
                        <a:rPr sz="1300" b="1">
                          <a:solidFill>
                            <a:srgbClr val="1F1F1F"/>
                          </a:solidFill>
                          <a:latin typeface="Calibri"/>
                        </a:rPr>
                        <a:t>erolagem</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Step Down 1: média móvel de juros excedentes ≤62, 5% ou inadimplência ≥8%; Step Down 2: juros ≤52,</a:t>
                      </a:r>
                    </a:p>
                    <a:p>
                      <a:pPr algn="l">
                        <a:lnSpc>
                          <a:spcPct val="100000"/>
                        </a:lnSpc>
                        <a:spcBef>
                          <a:spcPts val="0"/>
                        </a:spcBef>
                        <a:spcAft>
                          <a:spcPts val="0"/>
                        </a:spcAft>
                      </a:pPr>
                      <a:r>
                        <a:rPr sz="1300" b="0">
                          <a:solidFill>
                            <a:srgbClr val="1F1F1F"/>
                          </a:solidFill>
                          <a:latin typeface="Calibri"/>
                        </a:rPr>
                        <a:t>5%. Redução do Advance Rate/aumento dos pisos MZ: 5 pontos pela condição de juros do nível 1,</a:t>
                      </a:r>
                    </a:p>
                    <a:p>
                      <a:pPr algn="l">
                        <a:lnSpc>
                          <a:spcPct val="100000"/>
                        </a:lnSpc>
                        <a:spcBef>
                          <a:spcPts val="0"/>
                        </a:spcBef>
                        <a:spcAft>
                          <a:spcPts val="0"/>
                        </a:spcAft>
                      </a:pPr>
                      <a:r>
                        <a:rPr sz="1300" b="0">
                          <a:solidFill>
                            <a:srgbClr val="1F1F1F"/>
                          </a:solidFill>
                          <a:latin typeface="Calibri"/>
                        </a:rPr>
                        <a:t>inadimplência menos 8% pela condição de atraso, ou 15 pontos no nível 2; gatilhos alternativos.</a:t>
                      </a:r>
                    </a:p>
                  </a:txBody>
                  <a:tcPr marL="91440" marR="91440" marT="41148" marB="41148" anchor="ctr">
                    <a:solidFill>
                      <a:srgbClr val="FFFFFF"/>
                    </a:solidFill>
                    <a:lnL>
                      <a:noFill/>
                    </a:lnL>
                    <a:lnR>
                      <a:noFill/>
                    </a:lnR>
                    <a:lnT>
                      <a:noFill/>
                    </a:lnT>
                    <a:lnB>
                      <a:noFill/>
                    </a:lnB>
                  </a:tcPr>
                </a:tc>
              </a:tr>
              <a:tr h="470916">
                <a:tc>
                  <a:txBody>
                    <a:bodyPr wrap="square">
                      <a:noAutofit/>
                    </a:bodyPr>
                    <a:lstStyle/>
                    <a:p>
                      <a:pPr algn="l">
                        <a:lnSpc>
                          <a:spcPct val="100000"/>
                        </a:lnSpc>
                        <a:spcBef>
                          <a:spcPts val="0"/>
                        </a:spcBef>
                        <a:spcAft>
                          <a:spcPts val="0"/>
                        </a:spcAft>
                      </a:pPr>
                      <a:r>
                        <a:rPr sz="1300" b="1">
                          <a:solidFill>
                            <a:srgbClr val="1F1F1F"/>
                          </a:solidFill>
                          <a:latin typeface="Calibri"/>
                        </a:rPr>
                        <a:t>Diluição, cancelamento e</a:t>
                      </a:r>
                    </a:p>
                    <a:p>
                      <a:pPr algn="l">
                        <a:lnSpc>
                          <a:spcPct val="100000"/>
                        </a:lnSpc>
                        <a:spcBef>
                          <a:spcPts val="0"/>
                        </a:spcBef>
                        <a:spcAft>
                          <a:spcPts val="0"/>
                        </a:spcAft>
                      </a:pPr>
                      <a:r>
                        <a:rPr sz="1300" b="1">
                          <a:solidFill>
                            <a:srgbClr val="1F1F1F"/>
                          </a:solidFill>
                          <a:latin typeface="Calibri"/>
                        </a:rPr>
                        <a:t>chargeback</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141/160</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PLGN Marketplace · vínculo CNPJ 41970012000126 · Qualidade da carteira</a:t>
            </a:r>
          </a:p>
        </p:txBody>
      </p:sp>
      <p:graphicFrame>
        <p:nvGraphicFramePr>
          <p:cNvPr id="3" name="Table 2"/>
          <p:cNvGraphicFramePr>
            <a:graphicFrameLocks noGrp="1"/>
          </p:cNvGraphicFramePr>
          <p:nvPr/>
        </p:nvGraphicFramePr>
        <p:xfrm>
          <a:off x="438912" y="932688"/>
          <a:ext cx="11313871" cy="3584448"/>
        </p:xfrm>
        <a:graphic>
          <a:graphicData uri="http://schemas.openxmlformats.org/drawingml/2006/table">
            <a:tbl>
              <a:tblPr>
                <a:tableStyleId>{5C22544A-7EE6-4342-B048-85BDC9FD1C3A}</a:tableStyleId>
              </a:tblPr>
              <a:tblGrid>
                <a:gridCol w="2331720"/>
                <a:gridCol w="8982151"/>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MC II · 41970012000126</a:t>
                      </a:r>
                    </a:p>
                  </a:txBody>
                  <a:tcPr marL="91440" marR="91440" marT="41148" marB="41148" anchor="ctr">
                    <a:solidFill>
                      <a:srgbClr val="F7F7F7"/>
                    </a:solidFill>
                    <a:lnL>
                      <a:noFill/>
                    </a:lnL>
                    <a:lnR>
                      <a:noFill/>
                    </a:lnR>
                    <a:lnT>
                      <a:noFill/>
                    </a:lnT>
                    <a:lnB w="6350">
                      <a:solidFill>
                        <a:srgbClr val="D9DEE5"/>
                      </a:solidFill>
                    </a:lnB>
                  </a:tcPr>
                </a:tc>
              </a:tr>
              <a:tr h="658368">
                <a:tc>
                  <a:txBody>
                    <a:bodyPr wrap="square">
                      <a:noAutofit/>
                    </a:bodyPr>
                    <a:lstStyle/>
                    <a:p>
                      <a:pPr algn="l">
                        <a:lnSpc>
                          <a:spcPct val="100000"/>
                        </a:lnSpc>
                        <a:spcBef>
                          <a:spcPts val="0"/>
                        </a:spcBef>
                        <a:spcAft>
                          <a:spcPts val="0"/>
                        </a:spcAft>
                      </a:pPr>
                      <a:r>
                        <a:rPr sz="1300" b="1">
                          <a:solidFill>
                            <a:srgbClr val="1F1F1F"/>
                          </a:solidFill>
                          <a:latin typeface="Calibri"/>
                        </a:rPr>
                        <a:t>Recompra eindenização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Opção de compra Mercado Pago limitada a 10% do Valor Máximo de Investimento Sênior; exceções:</a:t>
                      </a:r>
                    </a:p>
                    <a:p>
                      <a:pPr algn="l">
                        <a:lnSpc>
                          <a:spcPct val="100000"/>
                        </a:lnSpc>
                        <a:spcBef>
                          <a:spcPts val="0"/>
                        </a:spcBef>
                        <a:spcAft>
                          <a:spcPts val="0"/>
                        </a:spcAft>
                      </a:pPr>
                      <a:r>
                        <a:rPr sz="1300" b="0">
                          <a:solidFill>
                            <a:srgbClr val="1F1F1F"/>
                          </a:solidFill>
                          <a:latin typeface="Calibri"/>
                        </a:rPr>
                        <a:t>amortização integral/extraordinária ou créditos vencidos há mais de 90 dias. Preço maior entre</a:t>
                      </a:r>
                    </a:p>
                    <a:p>
                      <a:pPr algn="l">
                        <a:lnSpc>
                          <a:spcPct val="100000"/>
                        </a:lnSpc>
                        <a:spcBef>
                          <a:spcPts val="0"/>
                        </a:spcBef>
                        <a:spcAft>
                          <a:spcPts val="0"/>
                        </a:spcAft>
                      </a:pPr>
                      <a:r>
                        <a:rPr sz="1300" b="0">
                          <a:solidFill>
                            <a:srgbClr val="1F1F1F"/>
                          </a:solidFill>
                          <a:latin typeface="Calibri"/>
                        </a:rPr>
                        <a:t>mercado e VP menos PDD; operação não pode sanar Step Down.</a:t>
                      </a:r>
                    </a:p>
                  </a:txBody>
                  <a:tcPr marL="91440" marR="91440" marT="41148" marB="41148" anchor="ctr">
                    <a:solidFill>
                      <a:srgbClr val="FFFFFF"/>
                    </a:solidFill>
                    <a:lnL>
                      <a:noFill/>
                    </a:lnL>
                    <a:lnR>
                      <a:noFill/>
                    </a:lnR>
                    <a:lnT>
                      <a:noFill/>
                    </a:lnT>
                    <a:lnB>
                      <a:noFill/>
                    </a:lnB>
                  </a:tcPr>
                </a:tc>
              </a:tr>
              <a:tr h="2532888">
                <a:tc>
                  <a:txBody>
                    <a:bodyPr wrap="square">
                      <a:noAutofit/>
                    </a:bodyPr>
                    <a:lstStyle/>
                    <a:p>
                      <a:pPr algn="l">
                        <a:lnSpc>
                          <a:spcPct val="100000"/>
                        </a:lnSpc>
                        <a:spcBef>
                          <a:spcPts val="0"/>
                        </a:spcBef>
                        <a:spcAft>
                          <a:spcPts val="0"/>
                        </a:spcAft>
                      </a:pPr>
                      <a:r>
                        <a:rPr sz="1300" b="1">
                          <a:solidFill>
                            <a:srgbClr val="1F1F1F"/>
                          </a:solidFill>
                          <a:latin typeface="Calibri"/>
                        </a:rPr>
                        <a:t>Coobrigação e retenção</a:t>
                      </a:r>
                    </a:p>
                    <a:p>
                      <a:pPr algn="l">
                        <a:lnSpc>
                          <a:spcPct val="100000"/>
                        </a:lnSpc>
                        <a:spcBef>
                          <a:spcPts val="0"/>
                        </a:spcBef>
                        <a:spcAft>
                          <a:spcPts val="0"/>
                        </a:spcAft>
                      </a:pPr>
                      <a:r>
                        <a:rPr sz="1300" b="1">
                          <a:solidFill>
                            <a:srgbClr val="1F1F1F"/>
                          </a:solidFill>
                          <a:latin typeface="Calibri"/>
                        </a:rPr>
                        <a:t>de risco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5.1.6.2.1. O disposto acima não caracteriza garantia ou coobrigação do Mercado Pago, que, em nenhuma</a:t>
                      </a:r>
                    </a:p>
                    <a:p>
                      <a:pPr algn="l">
                        <a:lnSpc>
                          <a:spcPct val="100000"/>
                        </a:lnSpc>
                        <a:spcBef>
                          <a:spcPts val="0"/>
                        </a:spcBef>
                        <a:spcAft>
                          <a:spcPts val="0"/>
                        </a:spcAft>
                      </a:pPr>
                      <a:r>
                        <a:rPr sz="1300" b="0">
                          <a:solidFill>
                            <a:srgbClr val="1F1F1F"/>
                          </a:solidFill>
                          <a:latin typeface="Calibri"/>
                        </a:rPr>
                        <a:t>hipótese se responsabilizou pela capacidade de pagamento e solvência dos Devedores, permanecendo tal</a:t>
                      </a:r>
                    </a:p>
                    <a:p>
                      <a:pPr algn="l">
                        <a:lnSpc>
                          <a:spcPct val="100000"/>
                        </a:lnSpc>
                        <a:spcBef>
                          <a:spcPts val="0"/>
                        </a:spcBef>
                        <a:spcAft>
                          <a:spcPts val="0"/>
                        </a:spcAft>
                      </a:pPr>
                      <a:r>
                        <a:rPr sz="1300" b="0">
                          <a:solidFill>
                            <a:srgbClr val="1F1F1F"/>
                          </a:solidFill>
                          <a:latin typeface="Calibri"/>
                        </a:rPr>
                        <a:t>risco integralmente suportado pelo Fundo.</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5.2.2.1. O não atendimento de qualquer Direito Creditório Adquirido com relação a qualquer Critério</a:t>
                      </a:r>
                    </a:p>
                    <a:p>
                      <a:pPr algn="l">
                        <a:lnSpc>
                          <a:spcPct val="100000"/>
                        </a:lnSpc>
                        <a:spcBef>
                          <a:spcPts val="0"/>
                        </a:spcBef>
                        <a:spcAft>
                          <a:spcPts val="0"/>
                        </a:spcAft>
                      </a:pPr>
                      <a:r>
                        <a:rPr sz="1300" b="0">
                          <a:solidFill>
                            <a:srgbClr val="1F1F1F"/>
                          </a:solidFill>
                          <a:latin typeface="Calibri"/>
                        </a:rPr>
                        <a:t>de Elegibilidade, por qualquer motivo ocorrido após a sua transferência ao Fundo, não obrigará a sua</a:t>
                      </a:r>
                    </a:p>
                    <a:p>
                      <a:pPr algn="l">
                        <a:lnSpc>
                          <a:spcPct val="100000"/>
                        </a:lnSpc>
                        <a:spcBef>
                          <a:spcPts val="0"/>
                        </a:spcBef>
                        <a:spcAft>
                          <a:spcPts val="0"/>
                        </a:spcAft>
                      </a:pPr>
                      <a:r>
                        <a:rPr sz="1300" b="0">
                          <a:solidFill>
                            <a:srgbClr val="1F1F1F"/>
                          </a:solidFill>
                          <a:latin typeface="Calibri"/>
                        </a:rPr>
                        <a:t>alienação pelo Fundo, nem dará ao Fundo qualquer pretensão, recurso ou direito de regresso contra os</a:t>
                      </a:r>
                    </a:p>
                    <a:p>
                      <a:pPr algn="l">
                        <a:lnSpc>
                          <a:spcPct val="100000"/>
                        </a:lnSpc>
                        <a:spcBef>
                          <a:spcPts val="0"/>
                        </a:spcBef>
                        <a:spcAft>
                          <a:spcPts val="0"/>
                        </a:spcAft>
                      </a:pPr>
                      <a:r>
                        <a:rPr sz="1300" b="0">
                          <a:solidFill>
                            <a:srgbClr val="1F1F1F"/>
                          </a:solidFill>
                          <a:latin typeface="Calibri"/>
                        </a:rPr>
                        <a:t>Endossantes, o Mercado Pago, o Administrador, o Gestor, o Custodiante ou suas Partes Relacionadas.</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5.2.6. O não atendimento de qualquer Direito Creditório Adquirido com relação a qualquer Condição de</a:t>
                      </a:r>
                    </a:p>
                    <a:p>
                      <a:pPr algn="l">
                        <a:lnSpc>
                          <a:spcPct val="100000"/>
                        </a:lnSpc>
                        <a:spcBef>
                          <a:spcPts val="0"/>
                        </a:spcBef>
                        <a:spcAft>
                          <a:spcPts val="0"/>
                        </a:spcAft>
                      </a:pPr>
                      <a:r>
                        <a:rPr sz="1300" b="0">
                          <a:solidFill>
                            <a:srgbClr val="1F1F1F"/>
                          </a:solidFill>
                          <a:latin typeface="Calibri"/>
                        </a:rPr>
                        <a:t>Cessão, por qualquer motivo ocorrido após a sua transferência ao Fundo, não obrigará a sua alienação</a:t>
                      </a:r>
                    </a:p>
                    <a:p>
                      <a:pPr algn="l">
                        <a:lnSpc>
                          <a:spcPct val="100000"/>
                        </a:lnSpc>
                        <a:spcBef>
                          <a:spcPts val="0"/>
                        </a:spcBef>
                        <a:spcAft>
                          <a:spcPts val="0"/>
                        </a:spcAft>
                      </a:pPr>
                      <a:r>
                        <a:rPr sz="1300" b="0">
                          <a:solidFill>
                            <a:srgbClr val="1F1F1F"/>
                          </a:solidFill>
                          <a:latin typeface="Calibri"/>
                        </a:rPr>
                        <a:t>pelo Fundo, nem dará ao Fundo qualquer pretensão, recurso ou direito de regresso contra os</a:t>
                      </a:r>
                    </a:p>
                    <a:p>
                      <a:pPr algn="l">
                        <a:lnSpc>
                          <a:spcPct val="100000"/>
                        </a:lnSpc>
                        <a:spcBef>
                          <a:spcPts val="0"/>
                        </a:spcBef>
                        <a:spcAft>
                          <a:spcPts val="0"/>
                        </a:spcAft>
                      </a:pPr>
                      <a:r>
                        <a:rPr sz="1300" b="0">
                          <a:solidFill>
                            <a:srgbClr val="1F1F1F"/>
                          </a:solidFill>
                          <a:latin typeface="Calibri"/>
                        </a:rPr>
                        <a:t>Endossantes, o Mercado Pago, o Administrador, o Gestor, o Custodiante ou suas Partes Relacionadas.</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142/160</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PLGN Marketplace · vínculo CNPJ 41970012000126 · Eventos e cura</a:t>
            </a:r>
          </a:p>
        </p:txBody>
      </p:sp>
      <p:graphicFrame>
        <p:nvGraphicFramePr>
          <p:cNvPr id="3" name="Table 2"/>
          <p:cNvGraphicFramePr>
            <a:graphicFrameLocks noGrp="1"/>
          </p:cNvGraphicFramePr>
          <p:nvPr/>
        </p:nvGraphicFramePr>
        <p:xfrm>
          <a:off x="438912" y="932688"/>
          <a:ext cx="11313871" cy="4055362"/>
        </p:xfrm>
        <a:graphic>
          <a:graphicData uri="http://schemas.openxmlformats.org/drawingml/2006/table">
            <a:tbl>
              <a:tblPr>
                <a:tableStyleId>{5C22544A-7EE6-4342-B048-85BDC9FD1C3A}</a:tableStyleId>
              </a:tblPr>
              <a:tblGrid>
                <a:gridCol w="2331720"/>
                <a:gridCol w="8982151"/>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MC II · 41970012000126</a:t>
                      </a:r>
                    </a:p>
                  </a:txBody>
                  <a:tcPr marL="91440" marR="91440" marT="41148" marB="41148" anchor="ctr">
                    <a:solidFill>
                      <a:srgbClr val="F7F7F7"/>
                    </a:solidFill>
                    <a:lnL>
                      <a:noFill/>
                    </a:lnL>
                    <a:lnR>
                      <a:noFill/>
                    </a:lnR>
                    <a:lnT>
                      <a:noFill/>
                    </a:lnT>
                    <a:lnB w="6350">
                      <a:solidFill>
                        <a:srgbClr val="D9DEE5"/>
                      </a:solidFill>
                    </a:lnB>
                  </a:tcPr>
                </a:tc>
              </a:tr>
              <a:tr h="1970531">
                <a:tc>
                  <a:txBody>
                    <a:bodyPr wrap="square">
                      <a:noAutofit/>
                    </a:bodyPr>
                    <a:lstStyle/>
                    <a:p>
                      <a:pPr algn="l">
                        <a:lnSpc>
                          <a:spcPct val="100000"/>
                        </a:lnSpc>
                        <a:spcBef>
                          <a:spcPts val="0"/>
                        </a:spcBef>
                        <a:spcAft>
                          <a:spcPts val="0"/>
                        </a:spcAft>
                      </a:pPr>
                      <a:r>
                        <a:rPr sz="1300" b="1">
                          <a:solidFill>
                            <a:srgbClr val="1F1F1F"/>
                          </a:solidFill>
                          <a:latin typeface="Calibri"/>
                        </a:rPr>
                        <a:t>Eventos de avaliação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31 eventos. Números principais: alocação mínima não atingida em 180d; pagamento sênior/MZ ou</a:t>
                      </a:r>
                    </a:p>
                    <a:p>
                      <a:pPr algn="l">
                        <a:lnSpc>
                          <a:spcPct val="100000"/>
                        </a:lnSpc>
                        <a:spcBef>
                          <a:spcPts val="0"/>
                        </a:spcBef>
                        <a:spcAft>
                          <a:spcPts val="0"/>
                        </a:spcAft>
                      </a:pPr>
                      <a:r>
                        <a:rPr sz="1300" b="0">
                          <a:solidFill>
                            <a:srgbClr val="1F1F1F"/>
                          </a:solidFill>
                          <a:latin typeface="Calibri"/>
                        </a:rPr>
                        <a:t>qualificado atrasado 2DU; obrigação Mercado Pago/endossante não curada no menor prazo entre contrato</a:t>
                      </a:r>
                    </a:p>
                    <a:p>
                      <a:pPr algn="l">
                        <a:lnSpc>
                          <a:spcPct val="100000"/>
                        </a:lnSpc>
                        <a:spcBef>
                          <a:spcPts val="0"/>
                        </a:spcBef>
                        <a:spcAft>
                          <a:spcPts val="0"/>
                        </a:spcAft>
                      </a:pPr>
                      <a:r>
                        <a:rPr sz="1300" b="0">
                          <a:solidFill>
                            <a:srgbClr val="1F1F1F"/>
                          </a:solidFill>
                          <a:latin typeface="Calibri"/>
                        </a:rPr>
                        <a:t>e 45d; informação falsa com contingência &gt;2% do investimento sênior, sem cura em 30d; perda de</a:t>
                      </a:r>
                    </a:p>
                    <a:p>
                      <a:pPr algn="l">
                        <a:lnSpc>
                          <a:spcPct val="100000"/>
                        </a:lnSpc>
                        <a:spcBef>
                          <a:spcPts val="0"/>
                        </a:spcBef>
                        <a:spcAft>
                          <a:spcPts val="0"/>
                        </a:spcAft>
                      </a:pPr>
                      <a:r>
                        <a:rPr sz="1300" b="0">
                          <a:solidFill>
                            <a:srgbClr val="1F1F1F"/>
                          </a:solidFill>
                          <a:latin typeface="Calibri"/>
                        </a:rPr>
                        <a:t>titularidade impactando 3,5% dos direitos; agente não substituído em 120d; cotista deixa de deter</a:t>
                      </a:r>
                    </a:p>
                    <a:p>
                      <a:pPr algn="l">
                        <a:lnSpc>
                          <a:spcPct val="100000"/>
                        </a:lnSpc>
                        <a:spcBef>
                          <a:spcPts val="0"/>
                        </a:spcBef>
                        <a:spcAft>
                          <a:spcPts val="0"/>
                        </a:spcAft>
                      </a:pPr>
                      <a:r>
                        <a:rPr sz="1300" b="0">
                          <a:solidFill>
                            <a:srgbClr val="1F1F1F"/>
                          </a:solidFill>
                          <a:latin typeface="Calibri"/>
                        </a:rPr>
                        <a:t>100% da júnior. Cross-default MeLi: principal &gt;US$25mi perante seniores/relacionadas ou &gt;US$75mi</a:t>
                      </a:r>
                    </a:p>
                    <a:p>
                      <a:pPr algn="l">
                        <a:lnSpc>
                          <a:spcPct val="100000"/>
                        </a:lnSpc>
                        <a:spcBef>
                          <a:spcPts val="0"/>
                        </a:spcBef>
                        <a:spcAft>
                          <a:spcPts val="0"/>
                        </a:spcAft>
                      </a:pPr>
                      <a:r>
                        <a:rPr sz="1300" b="0">
                          <a:solidFill>
                            <a:srgbClr val="1F1F1F"/>
                          </a:solidFill>
                          <a:latin typeface="Calibri"/>
                        </a:rPr>
                        <a:t>perante terceiros, enquanto houver sênior nas condições 11.1(xii). Condenações: Mercado Pago/IFMeLi</a:t>
                      </a:r>
                    </a:p>
                    <a:p>
                      <a:pPr algn="l">
                        <a:lnSpc>
                          <a:spcPct val="100000"/>
                        </a:lnSpc>
                        <a:spcBef>
                          <a:spcPts val="0"/>
                        </a:spcBef>
                        <a:spcAft>
                          <a:spcPts val="0"/>
                        </a:spcAft>
                      </a:pPr>
                      <a:r>
                        <a:rPr sz="1300" b="0">
                          <a:solidFill>
                            <a:srgbClr val="1F1F1F"/>
                          </a:solidFill>
                          <a:latin typeface="Calibri"/>
                        </a:rPr>
                        <a:t>&gt;US$75mi ou Fundo &gt;US$25mi. Liquidez consolidada MeLi deve ser &gt;US$100mi. Outros: conta inacessível</a:t>
                      </a:r>
                    </a:p>
                    <a:p>
                      <a:pPr algn="l">
                        <a:lnSpc>
                          <a:spcPct val="100000"/>
                        </a:lnSpc>
                        <a:spcBef>
                          <a:spcPts val="0"/>
                        </a:spcBef>
                        <a:spcAft>
                          <a:spcPts val="0"/>
                        </a:spcAft>
                      </a:pPr>
                      <a:r>
                        <a:rPr sz="1300" b="0">
                          <a:solidFill>
                            <a:srgbClr val="1F1F1F"/>
                          </a:solidFill>
                          <a:latin typeface="Calibri"/>
                        </a:rPr>
                        <a:t>por 5DU; dados da Matriz de Perdas não fornecidos em 30d; erro de informação afetando PL &gt;5% não</a:t>
                      </a:r>
                    </a:p>
                    <a:p>
                      <a:pPr algn="l">
                        <a:lnSpc>
                          <a:spcPct val="100000"/>
                        </a:lnSpc>
                        <a:spcBef>
                          <a:spcPts val="0"/>
                        </a:spcBef>
                        <a:spcAft>
                          <a:spcPts val="0"/>
                        </a:spcAft>
                      </a:pPr>
                      <a:r>
                        <a:rPr sz="1300" b="0">
                          <a:solidFill>
                            <a:srgbClr val="1F1F1F"/>
                          </a:solidFill>
                          <a:latin typeface="Calibri"/>
                        </a:rPr>
                        <a:t>sanado em 30d; relatório até 31/10 com cura 30d. Também controle, insolvência, validade contratual e</a:t>
                      </a:r>
                    </a:p>
                    <a:p>
                      <a:pPr algn="l">
                        <a:lnSpc>
                          <a:spcPct val="100000"/>
                        </a:lnSpc>
                        <a:spcBef>
                          <a:spcPts val="0"/>
                        </a:spcBef>
                        <a:spcAft>
                          <a:spcPts val="0"/>
                        </a:spcAft>
                      </a:pPr>
                      <a:r>
                        <a:rPr sz="1300" b="0">
                          <a:solidFill>
                            <a:srgbClr val="1F1F1F"/>
                          </a:solidFill>
                          <a:latin typeface="Calibri"/>
                        </a:rPr>
                        <a:t>pagamento subordinado irregular. Aquisições param; AGC convocada em 2DU decide cura ou liquidação.</a:t>
                      </a:r>
                    </a:p>
                  </a:txBody>
                  <a:tcPr marL="91440" marR="91440" marT="41148" marB="41148" anchor="ctr">
                    <a:solidFill>
                      <a:srgbClr val="FFFFFF"/>
                    </a:solidFill>
                    <a:lnL>
                      <a:noFill/>
                    </a:lnL>
                    <a:lnR>
                      <a:noFill/>
                    </a:lnR>
                    <a:lnT>
                      <a:noFill/>
                    </a:lnT>
                    <a:lnB>
                      <a:noFill/>
                    </a:lnB>
                  </a:tcPr>
                </a:tc>
              </a:tr>
              <a:tr h="658368">
                <a:tc>
                  <a:txBody>
                    <a:bodyPr wrap="square">
                      <a:noAutofit/>
                    </a:bodyPr>
                    <a:lstStyle/>
                    <a:p>
                      <a:pPr algn="l">
                        <a:lnSpc>
                          <a:spcPct val="100000"/>
                        </a:lnSpc>
                        <a:spcBef>
                          <a:spcPts val="0"/>
                        </a:spcBef>
                        <a:spcAft>
                          <a:spcPts val="0"/>
                        </a:spcAft>
                      </a:pPr>
                      <a:r>
                        <a:rPr sz="1300" b="1">
                          <a:solidFill>
                            <a:srgbClr val="1F1F1F"/>
                          </a:solidFill>
                          <a:latin typeface="Calibri"/>
                        </a:rPr>
                        <a:t>Eventos deliquidação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PL médio &lt;R$ 1 milhão por 3 meses consecutivos; administrador/gestor/custodiante sem substituto por</a:t>
                      </a:r>
                    </a:p>
                    <a:p>
                      <a:pPr algn="l">
                        <a:lnSpc>
                          <a:spcPct val="100000"/>
                        </a:lnSpc>
                        <a:spcBef>
                          <a:spcPts val="0"/>
                        </a:spcBef>
                        <a:spcAft>
                          <a:spcPts val="0"/>
                        </a:spcAft>
                      </a:pPr>
                      <a:r>
                        <a:rPr sz="1300" b="0">
                          <a:solidFill>
                            <a:srgbClr val="1F1F1F"/>
                          </a:solidFill>
                          <a:latin typeface="Calibri"/>
                        </a:rPr>
                        <a:t>180 dias; acesso à conta não restabelecido em 5 dias úteis sem redirecionamento; ilegalidade com</a:t>
                      </a:r>
                    </a:p>
                    <a:p>
                      <a:pPr algn="l">
                        <a:lnSpc>
                          <a:spcPct val="100000"/>
                        </a:lnSpc>
                        <a:spcBef>
                          <a:spcPts val="0"/>
                        </a:spcBef>
                        <a:spcAft>
                          <a:spcPts val="0"/>
                        </a:spcAft>
                      </a:pPr>
                      <a:r>
                        <a:rPr sz="1300" b="0">
                          <a:solidFill>
                            <a:srgbClr val="1F1F1F"/>
                          </a:solidFill>
                          <a:latin typeface="Calibri"/>
                        </a:rPr>
                        <a:t>compra sênior não concluída em 30 dias úteis.</a:t>
                      </a:r>
                    </a:p>
                  </a:txBody>
                  <a:tcPr marL="91440" marR="91440" marT="41148" marB="41148" anchor="ctr">
                    <a:solidFill>
                      <a:srgbClr val="FFFFFF"/>
                    </a:solidFill>
                    <a:lnL>
                      <a:noFill/>
                    </a:lnL>
                    <a:lnR>
                      <a:noFill/>
                    </a:lnR>
                    <a:lnT>
                      <a:noFill/>
                    </a:lnT>
                    <a:lnB>
                      <a:noFill/>
                    </a:lnB>
                  </a:tcPr>
                </a:tc>
              </a:tr>
              <a:tr h="1033271">
                <a:tc>
                  <a:txBody>
                    <a:bodyPr wrap="square">
                      <a:noAutofit/>
                    </a:bodyPr>
                    <a:lstStyle/>
                    <a:p>
                      <a:pPr algn="l">
                        <a:lnSpc>
                          <a:spcPct val="100000"/>
                        </a:lnSpc>
                        <a:spcBef>
                          <a:spcPts val="0"/>
                        </a:spcBef>
                        <a:spcAft>
                          <a:spcPts val="0"/>
                        </a:spcAft>
                      </a:pPr>
                      <a:r>
                        <a:rPr sz="1300" b="1">
                          <a:solidFill>
                            <a:srgbClr val="1F1F1F"/>
                          </a:solidFill>
                          <a:latin typeface="Calibri"/>
                        </a:rPr>
                        <a:t>Cura, aporte e</a:t>
                      </a:r>
                    </a:p>
                    <a:p>
                      <a:pPr algn="l">
                        <a:lnSpc>
                          <a:spcPct val="100000"/>
                        </a:lnSpc>
                        <a:spcBef>
                          <a:spcPts val="0"/>
                        </a:spcBef>
                        <a:spcAft>
                          <a:spcPts val="0"/>
                        </a:spcAft>
                      </a:pPr>
                      <a:r>
                        <a:rPr sz="1300" b="1">
                          <a:solidFill>
                            <a:srgbClr val="1F1F1F"/>
                          </a:solidFill>
                          <a:latin typeface="Calibri"/>
                        </a:rPr>
                        <a:t>recomposição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Evento informado pelo administrador e Mercado Pago/IFMeLi em 3DU da ciência. Aquisições param e AGC</a:t>
                      </a:r>
                    </a:p>
                    <a:p>
                      <a:pPr algn="l">
                        <a:lnSpc>
                          <a:spcPct val="100000"/>
                        </a:lnSpc>
                        <a:spcBef>
                          <a:spcPts val="0"/>
                        </a:spcBef>
                        <a:spcAft>
                          <a:spcPts val="0"/>
                        </a:spcAft>
                      </a:pPr>
                      <a:r>
                        <a:rPr sz="1300" b="0">
                          <a:solidFill>
                            <a:srgbClr val="1F1F1F"/>
                          </a:solidFill>
                          <a:latin typeface="Calibri"/>
                        </a:rPr>
                        <a:t>convocada em 2DU decide liquidação ou preservação. Pagamento qualificado/sênior/MZ: 2DU. Obrigações</a:t>
                      </a:r>
                    </a:p>
                    <a:p>
                      <a:pPr algn="l">
                        <a:lnSpc>
                          <a:spcPct val="100000"/>
                        </a:lnSpc>
                        <a:spcBef>
                          <a:spcPts val="0"/>
                        </a:spcBef>
                        <a:spcAft>
                          <a:spcPts val="0"/>
                        </a:spcAft>
                      </a:pPr>
                      <a:r>
                        <a:rPr sz="1300" b="0">
                          <a:solidFill>
                            <a:srgbClr val="1F1F1F"/>
                          </a:solidFill>
                          <a:latin typeface="Calibri"/>
                        </a:rPr>
                        <a:t>gerais: menor prazo entre contrato e 45dias; informações falsas: 30dias. Agente de</a:t>
                      </a:r>
                    </a:p>
                    <a:p>
                      <a:pPr algn="l">
                        <a:lnSpc>
                          <a:spcPct val="100000"/>
                        </a:lnSpc>
                        <a:spcBef>
                          <a:spcPts val="0"/>
                        </a:spcBef>
                        <a:spcAft>
                          <a:spcPts val="0"/>
                        </a:spcAft>
                      </a:pPr>
                      <a:r>
                        <a:rPr sz="1300" b="0">
                          <a:solidFill>
                            <a:srgbClr val="1F1F1F"/>
                          </a:solidFill>
                          <a:latin typeface="Calibri"/>
                        </a:rPr>
                        <a:t>cobrança/recebimento segue cura contratual e substituição em 120dias. Conta inacessível: 5DU;</a:t>
                      </a:r>
                    </a:p>
                    <a:p>
                      <a:pPr algn="l">
                        <a:lnSpc>
                          <a:spcPct val="100000"/>
                        </a:lnSpc>
                        <a:spcBef>
                          <a:spcPts val="0"/>
                        </a:spcBef>
                        <a:spcAft>
                          <a:spcPts val="0"/>
                        </a:spcAft>
                      </a:pPr>
                      <a:r>
                        <a:rPr sz="1300" b="0">
                          <a:solidFill>
                            <a:srgbClr val="1F1F1F"/>
                          </a:solidFill>
                          <a:latin typeface="Calibri"/>
                        </a:rPr>
                        <a:t>informação afetando PL &gt;5%: 30dias. Não há prazo único para todos os eventos.</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143/160</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PLGN Marketplace · vínculo CNPJ 41970012000126 · Eventos e cura</a:t>
            </a:r>
          </a:p>
        </p:txBody>
      </p:sp>
      <p:graphicFrame>
        <p:nvGraphicFramePr>
          <p:cNvPr id="3" name="Table 2"/>
          <p:cNvGraphicFramePr>
            <a:graphicFrameLocks noGrp="1"/>
          </p:cNvGraphicFramePr>
          <p:nvPr/>
        </p:nvGraphicFramePr>
        <p:xfrm>
          <a:off x="438912" y="932688"/>
          <a:ext cx="11313871" cy="3771899"/>
        </p:xfrm>
        <a:graphic>
          <a:graphicData uri="http://schemas.openxmlformats.org/drawingml/2006/table">
            <a:tbl>
              <a:tblPr>
                <a:tableStyleId>{5C22544A-7EE6-4342-B048-85BDC9FD1C3A}</a:tableStyleId>
              </a:tblPr>
              <a:tblGrid>
                <a:gridCol w="2331720"/>
                <a:gridCol w="8982151"/>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MC II · 41970012000126</a:t>
                      </a:r>
                    </a:p>
                  </a:txBody>
                  <a:tcPr marL="91440" marR="91440" marT="41148" marB="41148" anchor="ctr">
                    <a:solidFill>
                      <a:srgbClr val="F7F7F7"/>
                    </a:solidFill>
                    <a:lnL>
                      <a:noFill/>
                    </a:lnL>
                    <a:lnR>
                      <a:noFill/>
                    </a:lnR>
                    <a:lnT>
                      <a:noFill/>
                    </a:lnT>
                    <a:lnB w="6350">
                      <a:solidFill>
                        <a:srgbClr val="D9DEE5"/>
                      </a:solidFill>
                    </a:lnB>
                  </a:tcPr>
                </a:tc>
              </a:tr>
              <a:tr h="658368">
                <a:tc>
                  <a:txBody>
                    <a:bodyPr wrap="square">
                      <a:noAutofit/>
                    </a:bodyPr>
                    <a:lstStyle/>
                    <a:p>
                      <a:pPr algn="l">
                        <a:lnSpc>
                          <a:spcPct val="100000"/>
                        </a:lnSpc>
                        <a:spcBef>
                          <a:spcPts val="0"/>
                        </a:spcBef>
                        <a:spcAft>
                          <a:spcPts val="0"/>
                        </a:spcAft>
                      </a:pPr>
                      <a:r>
                        <a:rPr sz="1300" b="1">
                          <a:solidFill>
                            <a:srgbClr val="1F1F1F"/>
                          </a:solidFill>
                          <a:latin typeface="Calibri"/>
                        </a:rPr>
                        <a:t>Crossdefault</a:t>
                      </a:r>
                    </a:p>
                    <a:p>
                      <a:pPr algn="l">
                        <a:lnSpc>
                          <a:spcPct val="100000"/>
                        </a:lnSpc>
                        <a:spcBef>
                          <a:spcPts val="0"/>
                        </a:spcBef>
                        <a:spcAft>
                          <a:spcPts val="0"/>
                        </a:spcAft>
                      </a:pPr>
                      <a:r>
                        <a:rPr sz="1300" b="1">
                          <a:solidFill>
                            <a:srgbClr val="1F1F1F"/>
                          </a:solidFill>
                          <a:latin typeface="Calibri"/>
                        </a:rPr>
                        <a:t>einsolvência</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Me Li/subsidiárias relevantes: dívida inadimplida &gt;US$ 25 milhões contra cotistas</a:t>
                      </a:r>
                    </a:p>
                    <a:p>
                      <a:pPr algn="l">
                        <a:lnSpc>
                          <a:spcPct val="100000"/>
                        </a:lnSpc>
                        <a:spcBef>
                          <a:spcPts val="0"/>
                        </a:spcBef>
                        <a:spcAft>
                          <a:spcPts val="0"/>
                        </a:spcAft>
                      </a:pPr>
                      <a:r>
                        <a:rPr sz="1300" b="0">
                          <a:solidFill>
                            <a:srgbClr val="1F1F1F"/>
                          </a:solidFill>
                          <a:latin typeface="Calibri"/>
                        </a:rPr>
                        <a:t>seniores/relacionados ou &gt;US$ 75 milhões contra terceiros. Demais casos de insolvência/intervenção</a:t>
                      </a:r>
                    </a:p>
                    <a:p>
                      <a:pPr algn="l">
                        <a:lnSpc>
                          <a:spcPct val="100000"/>
                        </a:lnSpc>
                        <a:spcBef>
                          <a:spcPts val="0"/>
                        </a:spcBef>
                        <a:spcAft>
                          <a:spcPts val="0"/>
                        </a:spcAft>
                      </a:pPr>
                      <a:r>
                        <a:rPr sz="1300" b="0">
                          <a:solidFill>
                            <a:srgbClr val="1F1F1F"/>
                          </a:solidFill>
                          <a:latin typeface="Calibri"/>
                        </a:rPr>
                        <a:t>previstos na cláusula 11.1.</a:t>
                      </a:r>
                    </a:p>
                  </a:txBody>
                  <a:tcPr marL="91440" marR="91440" marT="41148" marB="41148" anchor="ctr">
                    <a:solidFill>
                      <a:srgbClr val="FFFFFF"/>
                    </a:solidFill>
                    <a:lnL>
                      <a:noFill/>
                    </a:lnL>
                    <a:lnR>
                      <a:noFill/>
                    </a:lnR>
                    <a:lnT>
                      <a:noFill/>
                    </a:lnT>
                    <a:lnB>
                      <a:noFill/>
                    </a:lnB>
                  </a:tcPr>
                </a:tc>
              </a:tr>
              <a:tr h="2720339">
                <a:tc>
                  <a:txBody>
                    <a:bodyPr wrap="square">
                      <a:noAutofit/>
                    </a:bodyPr>
                    <a:lstStyle/>
                    <a:p>
                      <a:pPr algn="l">
                        <a:lnSpc>
                          <a:spcPct val="100000"/>
                        </a:lnSpc>
                        <a:spcBef>
                          <a:spcPts val="0"/>
                        </a:spcBef>
                        <a:spcAft>
                          <a:spcPts val="0"/>
                        </a:spcAft>
                      </a:pPr>
                      <a:r>
                        <a:rPr sz="1300" b="1">
                          <a:solidFill>
                            <a:srgbClr val="1F1F1F"/>
                          </a:solidFill>
                          <a:latin typeface="Calibri"/>
                        </a:rPr>
                        <a:t>Gatilhos de avaliação e</a:t>
                      </a:r>
                    </a:p>
                    <a:p>
                      <a:pPr algn="l">
                        <a:lnSpc>
                          <a:spcPct val="100000"/>
                        </a:lnSpc>
                        <a:spcBef>
                          <a:spcPts val="0"/>
                        </a:spcBef>
                        <a:spcAft>
                          <a:spcPts val="0"/>
                        </a:spcAft>
                      </a:pPr>
                      <a:r>
                        <a:rPr sz="1300" b="1">
                          <a:solidFill>
                            <a:srgbClr val="1F1F1F"/>
                          </a:solidFill>
                          <a:latin typeface="Calibri"/>
                        </a:rPr>
                        <a:t>liquidação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Evento de avaliação ou liquidação: (i) não observância do prazo de 180 (cento e oitenta) dias</a:t>
                      </a:r>
                    </a:p>
                    <a:p>
                      <a:pPr algn="l">
                        <a:lnSpc>
                          <a:spcPct val="100000"/>
                        </a:lnSpc>
                        <a:spcBef>
                          <a:spcPts val="0"/>
                        </a:spcBef>
                        <a:spcAft>
                          <a:spcPts val="0"/>
                        </a:spcAft>
                      </a:pPr>
                      <a:r>
                        <a:rPr sz="1300" b="0">
                          <a:solidFill>
                            <a:srgbClr val="1F1F1F"/>
                          </a:solidFill>
                          <a:latin typeface="Calibri"/>
                        </a:rPr>
                        <a:t>contados da Data da Primeira Integralização de Cotas do Fundo, ou do prazo adicional concedido pela</a:t>
                      </a:r>
                    </a:p>
                    <a:p>
                      <a:pPr algn="l">
                        <a:lnSpc>
                          <a:spcPct val="100000"/>
                        </a:lnSpc>
                        <a:spcBef>
                          <a:spcPts val="0"/>
                        </a:spcBef>
                        <a:spcAft>
                          <a:spcPts val="0"/>
                        </a:spcAft>
                      </a:pPr>
                      <a:r>
                        <a:rPr sz="1300" b="0">
                          <a:solidFill>
                            <a:srgbClr val="1F1F1F"/>
                          </a:solidFill>
                          <a:latin typeface="Calibri"/>
                        </a:rPr>
                        <a:t>CVM, se for o caso, para alocação dos recursos do Fundo na aquisição de Direitos Creditórios em</a:t>
                      </a:r>
                    </a:p>
                    <a:p>
                      <a:pPr algn="l">
                        <a:lnSpc>
                          <a:spcPct val="100000"/>
                        </a:lnSpc>
                        <a:spcBef>
                          <a:spcPts val="0"/>
                        </a:spcBef>
                        <a:spcAft>
                          <a:spcPts val="0"/>
                        </a:spcAft>
                      </a:pPr>
                      <a:r>
                        <a:rPr sz="1300" b="0">
                          <a:solidFill>
                            <a:srgbClr val="1F1F1F"/>
                          </a:solidFill>
                          <a:latin typeface="Calibri"/>
                        </a:rPr>
                        <a:t>montante que corresponda a, no mínimo, a Alocação Mínima de Investimento, conforme disposto no item</a:t>
                      </a:r>
                    </a:p>
                    <a:p>
                      <a:pPr algn="l">
                        <a:lnSpc>
                          <a:spcPct val="100000"/>
                        </a:lnSpc>
                        <a:spcBef>
                          <a:spcPts val="0"/>
                        </a:spcBef>
                        <a:spcAft>
                          <a:spcPts val="0"/>
                        </a:spcAft>
                      </a:pPr>
                      <a:r>
                        <a:rPr sz="1300" b="0">
                          <a:solidFill>
                            <a:srgbClr val="1F1F1F"/>
                          </a:solidFill>
                          <a:latin typeface="Calibri"/>
                        </a:rPr>
                        <a:t>(vi) não realização de pagamento decorrente de um Evento de Pagamento Qualificado nos termos do item</a:t>
                      </a:r>
                    </a:p>
                    <a:p>
                      <a:pPr algn="l">
                        <a:lnSpc>
                          <a:spcPct val="100000"/>
                        </a:lnSpc>
                        <a:spcBef>
                          <a:spcPts val="0"/>
                        </a:spcBef>
                        <a:spcAft>
                          <a:spcPts val="0"/>
                        </a:spcAft>
                      </a:pPr>
                      <a:r>
                        <a:rPr sz="1300" b="0">
                          <a:solidFill>
                            <a:srgbClr val="1F1F1F"/>
                          </a:solidFill>
                          <a:latin typeface="Calibri"/>
                        </a:rPr>
                        <a:t>12.7, subitem (ii), observado o prazo de cura de 2 (dois) Dias Úteis contados da respectiva data</a:t>
                      </a:r>
                    </a:p>
                    <a:p>
                      <a:pPr algn="l">
                        <a:lnSpc>
                          <a:spcPct val="100000"/>
                        </a:lnSpc>
                        <a:spcBef>
                          <a:spcPts val="0"/>
                        </a:spcBef>
                        <a:spcAft>
                          <a:spcPts val="0"/>
                        </a:spcAft>
                      </a:pPr>
                      <a:r>
                        <a:rPr sz="1300" b="0">
                          <a:solidFill>
                            <a:srgbClr val="1F1F1F"/>
                          </a:solidFill>
                          <a:latin typeface="Calibri"/>
                        </a:rPr>
                        <a:t>esperada;</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Evento de avaliação ou liquidação: (ii) caso os Cotistas deliberem em Assembleia Geral de Cotistas</a:t>
                      </a:r>
                    </a:p>
                    <a:p>
                      <a:pPr algn="l">
                        <a:lnSpc>
                          <a:spcPct val="100000"/>
                        </a:lnSpc>
                        <a:spcBef>
                          <a:spcPts val="0"/>
                        </a:spcBef>
                        <a:spcAft>
                          <a:spcPts val="0"/>
                        </a:spcAft>
                      </a:pPr>
                      <a:r>
                        <a:rPr sz="1300" b="0">
                          <a:solidFill>
                            <a:srgbClr val="1F1F1F"/>
                          </a:solidFill>
                          <a:latin typeface="Calibri"/>
                        </a:rPr>
                        <a:t>pela não realização de aporte de recursos no Fundo e pela não alienação de Direitos Creditórios e/ou</a:t>
                      </a:r>
                    </a:p>
                    <a:p>
                      <a:pPr algn="l">
                        <a:lnSpc>
                          <a:spcPct val="100000"/>
                        </a:lnSpc>
                        <a:spcBef>
                          <a:spcPts val="0"/>
                        </a:spcBef>
                        <a:spcAft>
                          <a:spcPts val="0"/>
                        </a:spcAft>
                      </a:pPr>
                      <a:r>
                        <a:rPr sz="1300" b="0">
                          <a:solidFill>
                            <a:srgbClr val="1F1F1F"/>
                          </a:solidFill>
                          <a:latin typeface="Calibri"/>
                        </a:rPr>
                        <a:t>Ativos Financeiros para suprir a necessidade de recursos para pagamento de despesas e encargos do</a:t>
                      </a:r>
                    </a:p>
                    <a:p>
                      <a:pPr algn="l">
                        <a:lnSpc>
                          <a:spcPct val="100000"/>
                        </a:lnSpc>
                        <a:spcBef>
                          <a:spcPts val="0"/>
                        </a:spcBef>
                        <a:spcAft>
                          <a:spcPts val="0"/>
                        </a:spcAft>
                      </a:pPr>
                      <a:r>
                        <a:rPr sz="1300" b="0">
                          <a:solidFill>
                            <a:srgbClr val="1F1F1F"/>
                          </a:solidFill>
                          <a:latin typeface="Calibri"/>
                        </a:rPr>
                        <a:t>Fundo que não possam ser cobertos pelas Disponibilidades, quando convocados para tal deliberação;</a:t>
                      </a:r>
                    </a:p>
                    <a:p>
                      <a:pPr algn="l">
                        <a:lnSpc>
                          <a:spcPct val="100000"/>
                        </a:lnSpc>
                        <a:spcBef>
                          <a:spcPts val="0"/>
                        </a:spcBef>
                        <a:spcAft>
                          <a:spcPts val="0"/>
                        </a:spcAft>
                      </a:pPr>
                      <a:r>
                        <a:rPr sz="1300" b="0">
                          <a:solidFill>
                            <a:srgbClr val="1F1F1F"/>
                          </a:solidFill>
                          <a:latin typeface="Calibri"/>
                        </a:rPr>
                        <a:t>(iii) se, durante 3 (três) meses consecutivos, o Patrimônio Líquido do Fundo médio for inferior a</a:t>
                      </a:r>
                    </a:p>
                    <a:p>
                      <a:pPr algn="l">
                        <a:lnSpc>
                          <a:spcPct val="100000"/>
                        </a:lnSpc>
                        <a:spcBef>
                          <a:spcPts val="0"/>
                        </a:spcBef>
                        <a:spcAft>
                          <a:spcPts val="0"/>
                        </a:spcAft>
                      </a:pPr>
                      <a:r>
                        <a:rPr sz="1300" b="0">
                          <a:solidFill>
                            <a:srgbClr val="1F1F1F"/>
                          </a:solidFill>
                          <a:latin typeface="Calibri"/>
                        </a:rPr>
                        <a:t>R$1.000.000,00 (um milhão de reais);</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144/160</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PLGN Marketplace · vínculo CNPJ 41970012000126 · Fluxo de caixa e prazo</a:t>
            </a:r>
          </a:p>
        </p:txBody>
      </p:sp>
      <p:graphicFrame>
        <p:nvGraphicFramePr>
          <p:cNvPr id="3" name="Table 2"/>
          <p:cNvGraphicFramePr>
            <a:graphicFrameLocks noGrp="1"/>
          </p:cNvGraphicFramePr>
          <p:nvPr/>
        </p:nvGraphicFramePr>
        <p:xfrm>
          <a:off x="438912" y="932688"/>
          <a:ext cx="11313871" cy="4338825"/>
        </p:xfrm>
        <a:graphic>
          <a:graphicData uri="http://schemas.openxmlformats.org/drawingml/2006/table">
            <a:tbl>
              <a:tblPr>
                <a:tableStyleId>{5C22544A-7EE6-4342-B048-85BDC9FD1C3A}</a:tableStyleId>
              </a:tblPr>
              <a:tblGrid>
                <a:gridCol w="2331720"/>
                <a:gridCol w="8982151"/>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MC II · 41970012000126</a:t>
                      </a:r>
                    </a:p>
                  </a:txBody>
                  <a:tcPr marL="91440" marR="91440" marT="41148" marB="41148" anchor="ctr">
                    <a:solidFill>
                      <a:srgbClr val="F7F7F7"/>
                    </a:solidFill>
                    <a:lnL>
                      <a:noFill/>
                    </a:lnL>
                    <a:lnR>
                      <a:noFill/>
                    </a:lnR>
                    <a:lnT>
                      <a:noFill/>
                    </a:lnT>
                    <a:lnB w="6350">
                      <a:solidFill>
                        <a:srgbClr val="D9DEE5"/>
                      </a:solidFill>
                    </a:lnB>
                  </a:tcPr>
                </a:tc>
              </a:tr>
              <a:tr h="845819">
                <a:tc>
                  <a:txBody>
                    <a:bodyPr wrap="square">
                      <a:noAutofit/>
                    </a:bodyPr>
                    <a:lstStyle/>
                    <a:p>
                      <a:pPr algn="l">
                        <a:lnSpc>
                          <a:spcPct val="100000"/>
                        </a:lnSpc>
                        <a:spcBef>
                          <a:spcPts val="0"/>
                        </a:spcBef>
                        <a:spcAft>
                          <a:spcPts val="0"/>
                        </a:spcAft>
                      </a:pPr>
                      <a:r>
                        <a:rPr sz="1300" b="1">
                          <a:solidFill>
                            <a:srgbClr val="1F1F1F"/>
                          </a:solidFill>
                          <a:latin typeface="Calibri"/>
                        </a:rPr>
                        <a:t>Ordem dealocação</a:t>
                      </a:r>
                    </a:p>
                    <a:p>
                      <a:pPr algn="l">
                        <a:lnSpc>
                          <a:spcPct val="100000"/>
                        </a:lnSpc>
                        <a:spcBef>
                          <a:spcPts val="0"/>
                        </a:spcBef>
                        <a:spcAft>
                          <a:spcPts val="0"/>
                        </a:spcAft>
                      </a:pPr>
                      <a:r>
                        <a:rPr sz="1300" b="1">
                          <a:solidFill>
                            <a:srgbClr val="1F1F1F"/>
                          </a:solidFill>
                          <a:latin typeface="Calibri"/>
                        </a:rPr>
                        <a:t>derecursos</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Antes do limite de aquisição: encargos/reserva → agentes até 1% a.a. do PL → rentabilidade sênior →</a:t>
                      </a:r>
                    </a:p>
                    <a:p>
                      <a:pPr algn="l">
                        <a:lnSpc>
                          <a:spcPct val="100000"/>
                        </a:lnSpc>
                        <a:spcBef>
                          <a:spcPts val="0"/>
                        </a:spcBef>
                        <a:spcAft>
                          <a:spcPts val="0"/>
                        </a:spcAft>
                      </a:pPr>
                      <a:r>
                        <a:rPr sz="1300" b="0">
                          <a:solidFill>
                            <a:srgbClr val="1F1F1F"/>
                          </a:solidFill>
                          <a:latin typeface="Calibri"/>
                        </a:rPr>
                        <a:t>amortizações extraordinárias → rentabilidade/amortização MZ A, B, C → agentes excedentes → Júnior →</a:t>
                      </a:r>
                    </a:p>
                    <a:p>
                      <a:pPr algn="l">
                        <a:lnSpc>
                          <a:spcPct val="100000"/>
                        </a:lnSpc>
                        <a:spcBef>
                          <a:spcPts val="0"/>
                        </a:spcBef>
                        <a:spcAft>
                          <a:spcPts val="0"/>
                        </a:spcAft>
                      </a:pPr>
                      <a:r>
                        <a:rPr sz="1300" b="0">
                          <a:solidFill>
                            <a:srgbClr val="1F1F1F"/>
                          </a:solidFill>
                          <a:latin typeface="Calibri"/>
                        </a:rPr>
                        <a:t>compras de direitos/liquidez. Após limite/evento: sênior integral → MZ A integral → MZ B integral →</a:t>
                      </a:r>
                    </a:p>
                    <a:p>
                      <a:pPr algn="l">
                        <a:lnSpc>
                          <a:spcPct val="100000"/>
                        </a:lnSpc>
                        <a:spcBef>
                          <a:spcPts val="0"/>
                        </a:spcBef>
                        <a:spcAft>
                          <a:spcPts val="0"/>
                        </a:spcAft>
                      </a:pPr>
                      <a:r>
                        <a:rPr sz="1300" b="0">
                          <a:solidFill>
                            <a:srgbClr val="1F1F1F"/>
                          </a:solidFill>
                          <a:latin typeface="Calibri"/>
                        </a:rPr>
                        <a:t>MZ C integral → agentes excedentes → Júnior.</a:t>
                      </a:r>
                    </a:p>
                  </a:txBody>
                  <a:tcPr marL="91440" marR="91440" marT="41148" marB="41148" anchor="ctr">
                    <a:solidFill>
                      <a:srgbClr val="FFFFFF"/>
                    </a:solidFill>
                    <a:lnL>
                      <a:noFill/>
                    </a:lnL>
                    <a:lnR>
                      <a:noFill/>
                    </a:lnR>
                    <a:lnT>
                      <a:noFill/>
                    </a:lnT>
                    <a:lnB>
                      <a:noFill/>
                    </a:lnB>
                  </a:tcPr>
                </a:tc>
              </a:tr>
              <a:tr h="658368">
                <a:tc>
                  <a:txBody>
                    <a:bodyPr wrap="square">
                      <a:noAutofit/>
                    </a:bodyPr>
                    <a:lstStyle/>
                    <a:p>
                      <a:pPr algn="l">
                        <a:lnSpc>
                          <a:spcPct val="100000"/>
                        </a:lnSpc>
                        <a:spcBef>
                          <a:spcPts val="0"/>
                        </a:spcBef>
                        <a:spcAft>
                          <a:spcPts val="0"/>
                        </a:spcAft>
                      </a:pPr>
                      <a:r>
                        <a:rPr sz="1300" b="1">
                          <a:solidFill>
                            <a:srgbClr val="1F1F1F"/>
                          </a:solidFill>
                          <a:latin typeface="Calibri"/>
                        </a:rPr>
                        <a:t>Pró-rata, sequencial</a:t>
                      </a:r>
                    </a:p>
                    <a:p>
                      <a:pPr algn="l">
                        <a:lnSpc>
                          <a:spcPct val="100000"/>
                        </a:lnSpc>
                        <a:spcBef>
                          <a:spcPts val="0"/>
                        </a:spcBef>
                        <a:spcAft>
                          <a:spcPts val="0"/>
                        </a:spcAft>
                      </a:pPr>
                      <a:r>
                        <a:rPr sz="1300" b="1">
                          <a:solidFill>
                            <a:srgbClr val="1F1F1F"/>
                          </a:solidFill>
                          <a:latin typeface="Calibri"/>
                        </a:rPr>
                        <a:t>eaceleração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Amortização acelerada se inadimplência média móvel &gt;12, 50%, juros excedentes &lt;45%, senioridade</a:t>
                      </a:r>
                    </a:p>
                    <a:p>
                      <a:pPr algn="l">
                        <a:lnSpc>
                          <a:spcPct val="100000"/>
                        </a:lnSpc>
                        <a:spcBef>
                          <a:spcPts val="0"/>
                        </a:spcBef>
                        <a:spcAft>
                          <a:spcPts val="0"/>
                        </a:spcAft>
                      </a:pPr>
                      <a:r>
                        <a:rPr sz="1300" b="0">
                          <a:solidFill>
                            <a:srgbClr val="1F1F1F"/>
                          </a:solidFill>
                          <a:latin typeface="Calibri"/>
                        </a:rPr>
                        <a:t>desenquadrada até a próxima Data Base, evento regulatório, inadimplemento de agentes ou índice</a:t>
                      </a:r>
                    </a:p>
                    <a:p>
                      <a:pPr algn="l">
                        <a:lnSpc>
                          <a:spcPct val="100000"/>
                        </a:lnSpc>
                        <a:spcBef>
                          <a:spcPts val="0"/>
                        </a:spcBef>
                        <a:spcAft>
                          <a:spcPts val="0"/>
                        </a:spcAft>
                      </a:pPr>
                      <a:r>
                        <a:rPr sz="1300" b="0">
                          <a:solidFill>
                            <a:srgbClr val="1F1F1F"/>
                          </a:solidFill>
                          <a:latin typeface="Calibri"/>
                        </a:rPr>
                        <a:t>financeiro. Aplica waterfall sequencial da cláusula 20.3.</a:t>
                      </a:r>
                    </a:p>
                  </a:txBody>
                  <a:tcPr marL="91440" marR="91440" marT="41148" marB="41148" anchor="ctr">
                    <a:solidFill>
                      <a:srgbClr val="FFFFFF"/>
                    </a:solidFill>
                    <a:lnL>
                      <a:noFill/>
                    </a:lnL>
                    <a:lnR>
                      <a:noFill/>
                    </a:lnR>
                    <a:lnT>
                      <a:noFill/>
                    </a:lnT>
                    <a:lnB>
                      <a:noFill/>
                    </a:lnB>
                  </a:tcPr>
                </a:tc>
              </a:tr>
              <a:tr h="1033271">
                <a:tc>
                  <a:txBody>
                    <a:bodyPr wrap="square">
                      <a:noAutofit/>
                    </a:bodyPr>
                    <a:lstStyle/>
                    <a:p>
                      <a:pPr algn="l">
                        <a:lnSpc>
                          <a:spcPct val="100000"/>
                        </a:lnSpc>
                        <a:spcBef>
                          <a:spcPts val="0"/>
                        </a:spcBef>
                        <a:spcAft>
                          <a:spcPts val="0"/>
                        </a:spcAft>
                      </a:pPr>
                      <a:r>
                        <a:rPr sz="1300" b="1">
                          <a:solidFill>
                            <a:srgbClr val="1F1F1F"/>
                          </a:solidFill>
                          <a:latin typeface="Calibri"/>
                        </a:rPr>
                        <a:t>Revolvência e</a:t>
                      </a:r>
                    </a:p>
                    <a:p>
                      <a:pPr algn="l">
                        <a:lnSpc>
                          <a:spcPct val="100000"/>
                        </a:lnSpc>
                        <a:spcBef>
                          <a:spcPts val="0"/>
                        </a:spcBef>
                        <a:spcAft>
                          <a:spcPts val="0"/>
                        </a:spcAft>
                      </a:pPr>
                      <a:r>
                        <a:rPr sz="1300" b="1">
                          <a:solidFill>
                            <a:srgbClr val="1F1F1F"/>
                          </a:solidFill>
                          <a:latin typeface="Calibri"/>
                        </a:rPr>
                        <a:t>desinvestimento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10.2.2.1. A obrigação de pagamento da Compensação Extraordinária ao Cotista Sênior e/ou ao Cotista</a:t>
                      </a:r>
                    </a:p>
                    <a:p>
                      <a:pPr algn="l">
                        <a:lnSpc>
                          <a:spcPct val="100000"/>
                        </a:lnSpc>
                        <a:spcBef>
                          <a:spcPts val="0"/>
                        </a:spcBef>
                        <a:spcAft>
                          <a:spcPts val="0"/>
                        </a:spcAft>
                      </a:pPr>
                      <a:r>
                        <a:rPr sz="1300" b="0">
                          <a:solidFill>
                            <a:srgbClr val="1F1F1F"/>
                          </a:solidFill>
                          <a:latin typeface="Calibri"/>
                        </a:rPr>
                        <a:t>Subordinado Mezanino, nos termos do item 10.2.2 acima, cessará após 90 (noventa) dias contados do</a:t>
                      </a:r>
                    </a:p>
                    <a:p>
                      <a:pPr algn="l">
                        <a:lnSpc>
                          <a:spcPct val="100000"/>
                        </a:lnSpc>
                        <a:spcBef>
                          <a:spcPts val="0"/>
                        </a:spcBef>
                        <a:spcAft>
                          <a:spcPts val="0"/>
                        </a:spcAft>
                      </a:pPr>
                      <a:r>
                        <a:rPr sz="1300" b="0">
                          <a:solidFill>
                            <a:srgbClr val="1F1F1F"/>
                          </a:solidFill>
                          <a:latin typeface="Calibri"/>
                        </a:rPr>
                        <a:t>aniversário de 1 (um) ano do que ocorrer primeiro entre (i) o início do período de desinvestimento;</a:t>
                      </a:r>
                    </a:p>
                    <a:p>
                      <a:pPr algn="l">
                        <a:lnSpc>
                          <a:spcPct val="100000"/>
                        </a:lnSpc>
                        <a:spcBef>
                          <a:spcPts val="0"/>
                        </a:spcBef>
                        <a:spcAft>
                          <a:spcPts val="0"/>
                        </a:spcAft>
                      </a:pPr>
                      <a:r>
                        <a:rPr sz="1300" b="0">
                          <a:solidFill>
                            <a:srgbClr val="1F1F1F"/>
                          </a:solidFill>
                          <a:latin typeface="Calibri"/>
                        </a:rPr>
                        <a:t>(ii) a ocorrência de um Evento de Amortização Acelerada, desde que permaneça em curso; ou (iii) a</a:t>
                      </a:r>
                    </a:p>
                    <a:p>
                      <a:pPr algn="l">
                        <a:lnSpc>
                          <a:spcPct val="100000"/>
                        </a:lnSpc>
                        <a:spcBef>
                          <a:spcPts val="0"/>
                        </a:spcBef>
                        <a:spcAft>
                          <a:spcPts val="0"/>
                        </a:spcAft>
                      </a:pPr>
                      <a:r>
                        <a:rPr sz="1300" b="0">
                          <a:solidFill>
                            <a:srgbClr val="1F1F1F"/>
                          </a:solidFill>
                          <a:latin typeface="Calibri"/>
                        </a:rPr>
                        <a:t>ocorrência de um Evento de Avaliação, desde que permaneça em curso.</a:t>
                      </a:r>
                    </a:p>
                  </a:txBody>
                  <a:tcPr marL="91440" marR="91440" marT="41148" marB="41148" anchor="ctr">
                    <a:solidFill>
                      <a:srgbClr val="FFFFFF"/>
                    </a:solidFill>
                    <a:lnL>
                      <a:noFill/>
                    </a:lnL>
                    <a:lnR>
                      <a:noFill/>
                    </a:lnR>
                    <a:lnT>
                      <a:noFill/>
                    </a:lnT>
                    <a:lnB>
                      <a:noFill/>
                    </a:lnB>
                  </a:tcPr>
                </a:tc>
              </a:tr>
              <a:tr h="1408175">
                <a:tc>
                  <a:txBody>
                    <a:bodyPr wrap="square">
                      <a:noAutofit/>
                    </a:bodyPr>
                    <a:lstStyle/>
                    <a:p>
                      <a:pPr algn="l">
                        <a:lnSpc>
                          <a:spcPct val="100000"/>
                        </a:lnSpc>
                        <a:spcBef>
                          <a:spcPts val="0"/>
                        </a:spcBef>
                        <a:spcAft>
                          <a:spcPts val="0"/>
                        </a:spcAft>
                      </a:pPr>
                      <a:r>
                        <a:rPr sz="1300" b="1">
                          <a:solidFill>
                            <a:srgbClr val="1F1F1F"/>
                          </a:solidFill>
                          <a:latin typeface="Calibri"/>
                        </a:rPr>
                        <a:t>Cessões, preço e</a:t>
                      </a:r>
                    </a:p>
                    <a:p>
                      <a:pPr algn="l">
                        <a:lnSpc>
                          <a:spcPct val="100000"/>
                        </a:lnSpc>
                        <a:spcBef>
                          <a:spcPts val="0"/>
                        </a:spcBef>
                        <a:spcAft>
                          <a:spcPts val="0"/>
                        </a:spcAft>
                      </a:pPr>
                      <a:r>
                        <a:rPr sz="1300" b="1">
                          <a:solidFill>
                            <a:srgbClr val="1F1F1F"/>
                          </a:solidFill>
                          <a:latin typeface="Calibri"/>
                        </a:rPr>
                        <a:t>carteira residual</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20.3.1. Para os fins de que trata o item 20.3 acima, na hipótese de ocorrência de um Evento de</a:t>
                      </a:r>
                    </a:p>
                    <a:p>
                      <a:pPr algn="l">
                        <a:lnSpc>
                          <a:spcPct val="100000"/>
                        </a:lnSpc>
                        <a:spcBef>
                          <a:spcPts val="0"/>
                        </a:spcBef>
                        <a:spcAft>
                          <a:spcPts val="0"/>
                        </a:spcAft>
                      </a:pPr>
                      <a:r>
                        <a:rPr sz="1300" b="0">
                          <a:solidFill>
                            <a:srgbClr val="1F1F1F"/>
                          </a:solidFill>
                          <a:latin typeface="Calibri"/>
                        </a:rPr>
                        <a:t>Amortização Acelerada, de um Evento de Avaliação ou de um Evento de Liquidação do Fundo, o</a:t>
                      </a:r>
                    </a:p>
                    <a:p>
                      <a:pPr algn="l">
                        <a:lnSpc>
                          <a:spcPct val="100000"/>
                        </a:lnSpc>
                        <a:spcBef>
                          <a:spcPts val="0"/>
                        </a:spcBef>
                        <a:spcAft>
                          <a:spcPts val="0"/>
                        </a:spcAft>
                      </a:pPr>
                      <a:r>
                        <a:rPr sz="1300" b="0">
                          <a:solidFill>
                            <a:srgbClr val="1F1F1F"/>
                          </a:solidFill>
                          <a:latin typeface="Calibri"/>
                        </a:rPr>
                        <a:t>Administrador poderá, inclusive, observada a deliberação em Assembleia Geral de Cotistas, proceder</a:t>
                      </a:r>
                    </a:p>
                    <a:p>
                      <a:pPr algn="l">
                        <a:lnSpc>
                          <a:spcPct val="100000"/>
                        </a:lnSpc>
                        <a:spcBef>
                          <a:spcPts val="0"/>
                        </a:spcBef>
                        <a:spcAft>
                          <a:spcPts val="0"/>
                        </a:spcAft>
                      </a:pPr>
                      <a:r>
                        <a:rPr sz="1300" b="0">
                          <a:solidFill>
                            <a:srgbClr val="1F1F1F"/>
                          </a:solidFill>
                          <a:latin typeface="Calibri"/>
                        </a:rPr>
                        <a:t>com a alienação dos Direitos Creditórios Adquiridos e de Ativos Financeiros integrantes da Carteira,</a:t>
                      </a:r>
                    </a:p>
                    <a:p>
                      <a:pPr algn="l">
                        <a:lnSpc>
                          <a:spcPct val="100000"/>
                        </a:lnSpc>
                        <a:spcBef>
                          <a:spcPts val="0"/>
                        </a:spcBef>
                        <a:spcAft>
                          <a:spcPts val="0"/>
                        </a:spcAft>
                      </a:pPr>
                      <a:r>
                        <a:rPr sz="1300" b="0">
                          <a:solidFill>
                            <a:srgbClr val="1F1F1F"/>
                          </a:solidFill>
                          <a:latin typeface="Calibri"/>
                        </a:rPr>
                        <a:t>tendo como parâmetro a Meta de Rentabilidade Sênior e a Meta de Rentabilidade Mezanino previstas nos</a:t>
                      </a:r>
                    </a:p>
                    <a:p>
                      <a:pPr algn="l">
                        <a:lnSpc>
                          <a:spcPct val="100000"/>
                        </a:lnSpc>
                        <a:spcBef>
                          <a:spcPts val="0"/>
                        </a:spcBef>
                        <a:spcAft>
                          <a:spcPts val="0"/>
                        </a:spcAft>
                      </a:pPr>
                      <a:r>
                        <a:rPr sz="1300" b="0">
                          <a:solidFill>
                            <a:srgbClr val="1F1F1F"/>
                          </a:solidFill>
                          <a:latin typeface="Calibri"/>
                        </a:rPr>
                        <a:t>respectivos Apêndices das Cotas Seniores e Apêndices das Cotas Subordinadas Mezanino,</a:t>
                      </a:r>
                    </a:p>
                    <a:p>
                      <a:pPr algn="l">
                        <a:lnSpc>
                          <a:spcPct val="100000"/>
                        </a:lnSpc>
                        <a:spcBef>
                          <a:spcPts val="0"/>
                        </a:spcBef>
                        <a:spcAft>
                          <a:spcPts val="0"/>
                        </a:spcAft>
                      </a:pPr>
                      <a:r>
                        <a:rPr sz="1300" b="0">
                          <a:solidFill>
                            <a:srgbClr val="1F1F1F"/>
                          </a:solidFill>
                          <a:latin typeface="Calibri"/>
                        </a:rPr>
                        <a:t>respectivamente.</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145/160</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PLGN Marketplace · vínculo CNPJ 41970012000126 · Fluxo de caixa e prazo</a:t>
            </a:r>
          </a:p>
        </p:txBody>
      </p:sp>
      <p:graphicFrame>
        <p:nvGraphicFramePr>
          <p:cNvPr id="3" name="Table 2"/>
          <p:cNvGraphicFramePr>
            <a:graphicFrameLocks noGrp="1"/>
          </p:cNvGraphicFramePr>
          <p:nvPr/>
        </p:nvGraphicFramePr>
        <p:xfrm>
          <a:off x="438912" y="932688"/>
          <a:ext cx="11313871" cy="4617718"/>
        </p:xfrm>
        <a:graphic>
          <a:graphicData uri="http://schemas.openxmlformats.org/drawingml/2006/table">
            <a:tbl>
              <a:tblPr>
                <a:tableStyleId>{5C22544A-7EE6-4342-B048-85BDC9FD1C3A}</a:tableStyleId>
              </a:tblPr>
              <a:tblGrid>
                <a:gridCol w="2331720"/>
                <a:gridCol w="8982151"/>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MC II · 41970012000126</a:t>
                      </a:r>
                    </a:p>
                  </a:txBody>
                  <a:tcPr marL="91440" marR="91440" marT="41148" marB="41148" anchor="ctr">
                    <a:solidFill>
                      <a:srgbClr val="F7F7F7"/>
                    </a:solidFill>
                    <a:lnL>
                      <a:noFill/>
                    </a:lnL>
                    <a:lnR>
                      <a:noFill/>
                    </a:lnR>
                    <a:lnT>
                      <a:noFill/>
                    </a:lnT>
                    <a:lnB w="6350">
                      <a:solidFill>
                        <a:srgbClr val="D9DEE5"/>
                      </a:solidFill>
                    </a:lnB>
                  </a:tcPr>
                </a:tc>
              </a:tr>
              <a:tr h="1970531">
                <a:tc>
                  <a:txBody>
                    <a:bodyPr wrap="square">
                      <a:noAutofit/>
                    </a:bodyPr>
                    <a:lstStyle/>
                    <a:p>
                      <a:pPr algn="l">
                        <a:lnSpc>
                          <a:spcPct val="100000"/>
                        </a:lnSpc>
                        <a:spcBef>
                          <a:spcPts val="0"/>
                        </a:spcBef>
                        <a:spcAft>
                          <a:spcPts val="0"/>
                        </a:spcAft>
                      </a:pPr>
                      <a:r>
                        <a:rPr sz="1300" b="1">
                          <a:solidFill>
                            <a:srgbClr val="1F1F1F"/>
                          </a:solidFill>
                          <a:latin typeface="Calibri"/>
                        </a:rPr>
                        <a:t>Juros, amortização e</a:t>
                      </a:r>
                    </a:p>
                    <a:p>
                      <a:pPr algn="l">
                        <a:lnSpc>
                          <a:spcPct val="100000"/>
                        </a:lnSpc>
                        <a:spcBef>
                          <a:spcPts val="0"/>
                        </a:spcBef>
                        <a:spcAft>
                          <a:spcPts val="0"/>
                        </a:spcAft>
                      </a:pPr>
                      <a:r>
                        <a:rPr sz="1300" b="1">
                          <a:solidFill>
                            <a:srgbClr val="1F1F1F"/>
                          </a:solidFill>
                          <a:latin typeface="Calibri"/>
                        </a:rPr>
                        <a:t>vencimento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 Será baseada no histórico de perdas de cada safra de Direitos Creditórios, sendo considerada safra</a:t>
                      </a:r>
                    </a:p>
                    <a:p>
                      <a:pPr algn="l">
                        <a:lnSpc>
                          <a:spcPct val="100000"/>
                        </a:lnSpc>
                        <a:spcBef>
                          <a:spcPts val="0"/>
                        </a:spcBef>
                        <a:spcAft>
                          <a:spcPts val="0"/>
                        </a:spcAft>
                      </a:pPr>
                      <a:r>
                        <a:rPr sz="1300" b="0">
                          <a:solidFill>
                            <a:srgbClr val="1F1F1F"/>
                          </a:solidFill>
                          <a:latin typeface="Calibri"/>
                        </a:rPr>
                        <a:t>cada grupo de Direitos Creditórios, os Direitos Creditórios do mesmo tipo, com mesmo prazo de</a:t>
                      </a:r>
                    </a:p>
                    <a:p>
                      <a:pPr algn="l">
                        <a:lnSpc>
                          <a:spcPct val="100000"/>
                        </a:lnSpc>
                        <a:spcBef>
                          <a:spcPts val="0"/>
                        </a:spcBef>
                        <a:spcAft>
                          <a:spcPts val="0"/>
                        </a:spcAft>
                      </a:pPr>
                      <a:r>
                        <a:rPr sz="1300" b="0">
                          <a:solidFill>
                            <a:srgbClr val="1F1F1F"/>
                          </a:solidFill>
                          <a:latin typeface="Calibri"/>
                        </a:rPr>
                        <a:t>vencimento e classificação de risco (rating) ("Safra"), cujo prazo de vencimento original já tenha</a:t>
                      </a:r>
                    </a:p>
                    <a:p>
                      <a:pPr algn="l">
                        <a:lnSpc>
                          <a:spcPct val="100000"/>
                        </a:lnSpc>
                        <a:spcBef>
                          <a:spcPts val="0"/>
                        </a:spcBef>
                        <a:spcAft>
                          <a:spcPts val="0"/>
                        </a:spcAft>
                      </a:pPr>
                      <a:r>
                        <a:rPr sz="1300" b="0">
                          <a:solidFill>
                            <a:srgbClr val="1F1F1F"/>
                          </a:solidFill>
                          <a:latin typeface="Calibri"/>
                        </a:rPr>
                        <a:t>expirado ("Histórico por Safra"), sendo considerado o Histórico por Safra nos 5 (cinco) anos mais</a:t>
                      </a:r>
                    </a:p>
                    <a:p>
                      <a:pPr algn="l">
                        <a:lnSpc>
                          <a:spcPct val="100000"/>
                        </a:lnSpc>
                        <a:spcBef>
                          <a:spcPts val="0"/>
                        </a:spcBef>
                        <a:spcAft>
                          <a:spcPts val="0"/>
                        </a:spcAft>
                      </a:pPr>
                      <a:r>
                        <a:rPr sz="1300" b="0">
                          <a:solidFill>
                            <a:srgbClr val="1F1F1F"/>
                          </a:solidFill>
                          <a:latin typeface="Calibri"/>
                        </a:rPr>
                        <a:t>recentes; ● A inclusão de novos Ratings e/ou Prazos na Matriz de Perdas para qualquer um dos</a:t>
                      </a:r>
                    </a:p>
                    <a:p>
                      <a:pPr algn="l">
                        <a:lnSpc>
                          <a:spcPct val="100000"/>
                        </a:lnSpc>
                        <a:spcBef>
                          <a:spcPts val="0"/>
                        </a:spcBef>
                        <a:spcAft>
                          <a:spcPts val="0"/>
                        </a:spcAft>
                      </a:pPr>
                      <a:r>
                        <a:rPr sz="1300" b="0">
                          <a:solidFill>
                            <a:srgbClr val="1F1F1F"/>
                          </a:solidFill>
                          <a:latin typeface="Calibri"/>
                        </a:rPr>
                        <a:t>produtos (CCBs Consumidor, CCBs Comerciante e CCBs DE) deve passar pela aprovação interna dos</a:t>
                      </a:r>
                    </a:p>
                    <a:p>
                      <a:pPr algn="l">
                        <a:lnSpc>
                          <a:spcPct val="100000"/>
                        </a:lnSpc>
                        <a:spcBef>
                          <a:spcPts val="0"/>
                        </a:spcBef>
                        <a:spcAft>
                          <a:spcPts val="0"/>
                        </a:spcAft>
                      </a:pPr>
                      <a:r>
                        <a:rPr sz="1300" b="0">
                          <a:solidFill>
                            <a:srgbClr val="1F1F1F"/>
                          </a:solidFill>
                          <a:latin typeface="Calibri"/>
                        </a:rPr>
                        <a:t>Cotistas Seniores; ● Serão consideradas perdas o saldo de principal dos Direitos Creditórios</a:t>
                      </a:r>
                    </a:p>
                    <a:p>
                      <a:pPr algn="l">
                        <a:lnSpc>
                          <a:spcPct val="100000"/>
                        </a:lnSpc>
                        <a:spcBef>
                          <a:spcPts val="0"/>
                        </a:spcBef>
                        <a:spcAft>
                          <a:spcPts val="0"/>
                        </a:spcAft>
                      </a:pPr>
                      <a:r>
                        <a:rPr sz="1300" b="0">
                          <a:solidFill>
                            <a:srgbClr val="1F1F1F"/>
                          </a:solidFill>
                          <a:latin typeface="Calibri"/>
                        </a:rPr>
                        <a:t>vencidos e não pagos após 3 (três) meses da sua data de vencimento original; ● O cálculo da perda</a:t>
                      </a:r>
                    </a:p>
                    <a:p>
                      <a:pPr algn="l">
                        <a:lnSpc>
                          <a:spcPct val="100000"/>
                        </a:lnSpc>
                        <a:spcBef>
                          <a:spcPts val="0"/>
                        </a:spcBef>
                        <a:spcAft>
                          <a:spcPts val="0"/>
                        </a:spcAft>
                      </a:pPr>
                      <a:r>
                        <a:rPr sz="1300" b="0">
                          <a:solidFill>
                            <a:srgbClr val="1F1F1F"/>
                          </a:solidFill>
                          <a:latin typeface="Calibri"/>
                        </a:rPr>
                        <a:t>será atualizado semestralmente pelos Cotistas Seniores com base em informações fornecidas pelo</a:t>
                      </a:r>
                    </a:p>
                    <a:p>
                      <a:pPr algn="l">
                        <a:lnSpc>
                          <a:spcPct val="100000"/>
                        </a:lnSpc>
                        <a:spcBef>
                          <a:spcPts val="0"/>
                        </a:spcBef>
                        <a:spcAft>
                          <a:spcPts val="0"/>
                        </a:spcAft>
                      </a:pPr>
                      <a:r>
                        <a:rPr sz="1300" b="0">
                          <a:solidFill>
                            <a:srgbClr val="1F1F1F"/>
                          </a:solidFill>
                          <a:latin typeface="Calibri"/>
                        </a:rPr>
                        <a:t>Mercado Pago, que devem incluir performance histórica acumulada.</a:t>
                      </a:r>
                    </a:p>
                  </a:txBody>
                  <a:tcPr marL="91440" marR="91440" marT="41148" marB="41148" anchor="ctr">
                    <a:solidFill>
                      <a:srgbClr val="FFFFFF"/>
                    </a:solidFill>
                    <a:lnL>
                      <a:noFill/>
                    </a:lnL>
                    <a:lnR>
                      <a:noFill/>
                    </a:lnR>
                    <a:lnT>
                      <a:noFill/>
                    </a:lnT>
                    <a:lnB>
                      <a:noFill/>
                    </a:lnB>
                  </a:tcPr>
                </a:tc>
              </a:tr>
              <a:tr h="283464">
                <a:tc>
                  <a:txBody>
                    <a:bodyPr wrap="square">
                      <a:noAutofit/>
                    </a:bodyPr>
                    <a:lstStyle/>
                    <a:p>
                      <a:pPr algn="l">
                        <a:lnSpc>
                          <a:spcPct val="100000"/>
                        </a:lnSpc>
                        <a:spcBef>
                          <a:spcPts val="0"/>
                        </a:spcBef>
                        <a:spcAft>
                          <a:spcPts val="0"/>
                        </a:spcAft>
                      </a:pPr>
                      <a:r>
                        <a:rPr sz="1300" b="1">
                          <a:solidFill>
                            <a:srgbClr val="1F1F1F"/>
                          </a:solidFill>
                          <a:latin typeface="Calibri"/>
                        </a:rPr>
                        <a:t>Carência das cotas</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a:noFill/>
                    </a:lnB>
                  </a:tcPr>
                </a:tc>
              </a:tr>
              <a:tr h="1970531">
                <a:tc>
                  <a:txBody>
                    <a:bodyPr wrap="square">
                      <a:noAutofit/>
                    </a:bodyPr>
                    <a:lstStyle/>
                    <a:p>
                      <a:pPr algn="l">
                        <a:lnSpc>
                          <a:spcPct val="100000"/>
                        </a:lnSpc>
                        <a:spcBef>
                          <a:spcPts val="0"/>
                        </a:spcBef>
                        <a:spcAft>
                          <a:spcPts val="0"/>
                        </a:spcAft>
                      </a:pPr>
                      <a:r>
                        <a:rPr sz="1300" b="1">
                          <a:solidFill>
                            <a:srgbClr val="1F1F1F"/>
                          </a:solidFill>
                          <a:latin typeface="Calibri"/>
                        </a:rPr>
                        <a:t>Vencimento das cotas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 Será baseada no histórico de perdas de cada safra de Direitos Creditórios, sendo considerada safra</a:t>
                      </a:r>
                    </a:p>
                    <a:p>
                      <a:pPr algn="l">
                        <a:lnSpc>
                          <a:spcPct val="100000"/>
                        </a:lnSpc>
                        <a:spcBef>
                          <a:spcPts val="0"/>
                        </a:spcBef>
                        <a:spcAft>
                          <a:spcPts val="0"/>
                        </a:spcAft>
                      </a:pPr>
                      <a:r>
                        <a:rPr sz="1300" b="0">
                          <a:solidFill>
                            <a:srgbClr val="1F1F1F"/>
                          </a:solidFill>
                          <a:latin typeface="Calibri"/>
                        </a:rPr>
                        <a:t>cada grupo de Direitos Creditórios, os Direitos Creditórios do mesmo tipo, com mesmo prazo de</a:t>
                      </a:r>
                    </a:p>
                    <a:p>
                      <a:pPr algn="l">
                        <a:lnSpc>
                          <a:spcPct val="100000"/>
                        </a:lnSpc>
                        <a:spcBef>
                          <a:spcPts val="0"/>
                        </a:spcBef>
                        <a:spcAft>
                          <a:spcPts val="0"/>
                        </a:spcAft>
                      </a:pPr>
                      <a:r>
                        <a:rPr sz="1300" b="0">
                          <a:solidFill>
                            <a:srgbClr val="1F1F1F"/>
                          </a:solidFill>
                          <a:latin typeface="Calibri"/>
                        </a:rPr>
                        <a:t>vencimento e classificação de risco (rating) ("Safra"), cujo prazo de vencimento original já tenha</a:t>
                      </a:r>
                    </a:p>
                    <a:p>
                      <a:pPr algn="l">
                        <a:lnSpc>
                          <a:spcPct val="100000"/>
                        </a:lnSpc>
                        <a:spcBef>
                          <a:spcPts val="0"/>
                        </a:spcBef>
                        <a:spcAft>
                          <a:spcPts val="0"/>
                        </a:spcAft>
                      </a:pPr>
                      <a:r>
                        <a:rPr sz="1300" b="0">
                          <a:solidFill>
                            <a:srgbClr val="1F1F1F"/>
                          </a:solidFill>
                          <a:latin typeface="Calibri"/>
                        </a:rPr>
                        <a:t>expirado ("Histórico por Safra"), sendo considerado o Histórico por Safra nos 5 (cinco) anos mais</a:t>
                      </a:r>
                    </a:p>
                    <a:p>
                      <a:pPr algn="l">
                        <a:lnSpc>
                          <a:spcPct val="100000"/>
                        </a:lnSpc>
                        <a:spcBef>
                          <a:spcPts val="0"/>
                        </a:spcBef>
                        <a:spcAft>
                          <a:spcPts val="0"/>
                        </a:spcAft>
                      </a:pPr>
                      <a:r>
                        <a:rPr sz="1300" b="0">
                          <a:solidFill>
                            <a:srgbClr val="1F1F1F"/>
                          </a:solidFill>
                          <a:latin typeface="Calibri"/>
                        </a:rPr>
                        <a:t>recentes; ● A inclusão de novos Ratings e/ou Prazos na Matriz de Perdas para qualquer um dos</a:t>
                      </a:r>
                    </a:p>
                    <a:p>
                      <a:pPr algn="l">
                        <a:lnSpc>
                          <a:spcPct val="100000"/>
                        </a:lnSpc>
                        <a:spcBef>
                          <a:spcPts val="0"/>
                        </a:spcBef>
                        <a:spcAft>
                          <a:spcPts val="0"/>
                        </a:spcAft>
                      </a:pPr>
                      <a:r>
                        <a:rPr sz="1300" b="0">
                          <a:solidFill>
                            <a:srgbClr val="1F1F1F"/>
                          </a:solidFill>
                          <a:latin typeface="Calibri"/>
                        </a:rPr>
                        <a:t>produtos (CCBs Consumidor, CCBs Comerciante e CCBs DE) deve passar pela aprovação interna dos</a:t>
                      </a:r>
                    </a:p>
                    <a:p>
                      <a:pPr algn="l">
                        <a:lnSpc>
                          <a:spcPct val="100000"/>
                        </a:lnSpc>
                        <a:spcBef>
                          <a:spcPts val="0"/>
                        </a:spcBef>
                        <a:spcAft>
                          <a:spcPts val="0"/>
                        </a:spcAft>
                      </a:pPr>
                      <a:r>
                        <a:rPr sz="1300" b="0">
                          <a:solidFill>
                            <a:srgbClr val="1F1F1F"/>
                          </a:solidFill>
                          <a:latin typeface="Calibri"/>
                        </a:rPr>
                        <a:t>Cotistas Seniores; ● Serão consideradas perdas o saldo de principal dos Direitos Creditórios</a:t>
                      </a:r>
                    </a:p>
                    <a:p>
                      <a:pPr algn="l">
                        <a:lnSpc>
                          <a:spcPct val="100000"/>
                        </a:lnSpc>
                        <a:spcBef>
                          <a:spcPts val="0"/>
                        </a:spcBef>
                        <a:spcAft>
                          <a:spcPts val="0"/>
                        </a:spcAft>
                      </a:pPr>
                      <a:r>
                        <a:rPr sz="1300" b="0">
                          <a:solidFill>
                            <a:srgbClr val="1F1F1F"/>
                          </a:solidFill>
                          <a:latin typeface="Calibri"/>
                        </a:rPr>
                        <a:t>vencidos e não pagos após 3 (três) meses da sua data de vencimento original; ● O cálculo da perda</a:t>
                      </a:r>
                    </a:p>
                    <a:p>
                      <a:pPr algn="l">
                        <a:lnSpc>
                          <a:spcPct val="100000"/>
                        </a:lnSpc>
                        <a:spcBef>
                          <a:spcPts val="0"/>
                        </a:spcBef>
                        <a:spcAft>
                          <a:spcPts val="0"/>
                        </a:spcAft>
                      </a:pPr>
                      <a:r>
                        <a:rPr sz="1300" b="0">
                          <a:solidFill>
                            <a:srgbClr val="1F1F1F"/>
                          </a:solidFill>
                          <a:latin typeface="Calibri"/>
                        </a:rPr>
                        <a:t>será atualizado semestralmente pelos Cotistas Seniores com base em informações fornecidas pelo</a:t>
                      </a:r>
                    </a:p>
                    <a:p>
                      <a:pPr algn="l">
                        <a:lnSpc>
                          <a:spcPct val="100000"/>
                        </a:lnSpc>
                        <a:spcBef>
                          <a:spcPts val="0"/>
                        </a:spcBef>
                        <a:spcAft>
                          <a:spcPts val="0"/>
                        </a:spcAft>
                      </a:pPr>
                      <a:r>
                        <a:rPr sz="1300" b="0">
                          <a:solidFill>
                            <a:srgbClr val="1F1F1F"/>
                          </a:solidFill>
                          <a:latin typeface="Calibri"/>
                        </a:rPr>
                        <a:t>Mercado Pago, que devem incluir performance histórica acumulada.</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146/160</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PLGN Marketplace · vínculo CNPJ 41970012000126 · Garantias e operação</a:t>
            </a:r>
          </a:p>
        </p:txBody>
      </p:sp>
      <p:graphicFrame>
        <p:nvGraphicFramePr>
          <p:cNvPr id="3" name="Table 2"/>
          <p:cNvGraphicFramePr>
            <a:graphicFrameLocks noGrp="1"/>
          </p:cNvGraphicFramePr>
          <p:nvPr/>
        </p:nvGraphicFramePr>
        <p:xfrm>
          <a:off x="438912" y="932688"/>
          <a:ext cx="11313871" cy="4059936"/>
        </p:xfrm>
        <a:graphic>
          <a:graphicData uri="http://schemas.openxmlformats.org/drawingml/2006/table">
            <a:tbl>
              <a:tblPr>
                <a:tableStyleId>{5C22544A-7EE6-4342-B048-85BDC9FD1C3A}</a:tableStyleId>
              </a:tblPr>
              <a:tblGrid>
                <a:gridCol w="2331720"/>
                <a:gridCol w="8982151"/>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MC II · 41970012000126</a:t>
                      </a:r>
                    </a:p>
                  </a:txBody>
                  <a:tcPr marL="91440" marR="91440" marT="41148" marB="41148" anchor="ctr">
                    <a:solidFill>
                      <a:srgbClr val="F7F7F7"/>
                    </a:solidFill>
                    <a:lnL>
                      <a:noFill/>
                    </a:lnL>
                    <a:lnR>
                      <a:noFill/>
                    </a:lnR>
                    <a:lnT>
                      <a:noFill/>
                    </a:lnT>
                    <a:lnB w="6350">
                      <a:solidFill>
                        <a:srgbClr val="D9DEE5"/>
                      </a:solidFill>
                    </a:lnB>
                  </a:tcPr>
                </a:tc>
              </a:tr>
              <a:tr h="470916">
                <a:tc>
                  <a:txBody>
                    <a:bodyPr wrap="square">
                      <a:noAutofit/>
                    </a:bodyPr>
                    <a:lstStyle/>
                    <a:p>
                      <a:pPr algn="l">
                        <a:lnSpc>
                          <a:spcPct val="100000"/>
                        </a:lnSpc>
                        <a:spcBef>
                          <a:spcPts val="0"/>
                        </a:spcBef>
                        <a:spcAft>
                          <a:spcPts val="0"/>
                        </a:spcAft>
                      </a:pPr>
                      <a:r>
                        <a:rPr sz="1300" b="1">
                          <a:solidFill>
                            <a:srgbClr val="1F1F1F"/>
                          </a:solidFill>
                          <a:latin typeface="Calibri"/>
                        </a:rPr>
                        <a:t>Garantias econstituição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Cotas sem garantia dos prestadores, endossantes, agentes, seguros ou FGC. Proteção da estrutura</a:t>
                      </a:r>
                    </a:p>
                    <a:p>
                      <a:pPr algn="l">
                        <a:lnSpc>
                          <a:spcPct val="100000"/>
                        </a:lnSpc>
                        <a:spcBef>
                          <a:spcPts val="0"/>
                        </a:spcBef>
                        <a:spcAft>
                          <a:spcPts val="0"/>
                        </a:spcAft>
                      </a:pPr>
                      <a:r>
                        <a:rPr sz="1300" b="0">
                          <a:solidFill>
                            <a:srgbClr val="1F1F1F"/>
                          </a:solidFill>
                          <a:latin typeface="Calibri"/>
                        </a:rPr>
                        <a:t>depende das camadas e da Base de Investimento.</a:t>
                      </a:r>
                    </a:p>
                  </a:txBody>
                  <a:tcPr marL="91440" marR="91440" marT="41148" marB="41148" anchor="ctr">
                    <a:solidFill>
                      <a:srgbClr val="FFFFFF"/>
                    </a:solidFill>
                    <a:lnL>
                      <a:noFill/>
                    </a:lnL>
                    <a:lnR>
                      <a:noFill/>
                    </a:lnR>
                    <a:lnT>
                      <a:noFill/>
                    </a:lnT>
                    <a:lnB>
                      <a:noFill/>
                    </a:lnB>
                  </a:tcPr>
                </a:tc>
              </a:tr>
              <a:tr h="470916">
                <a:tc>
                  <a:txBody>
                    <a:bodyPr wrap="square">
                      <a:noAutofit/>
                    </a:bodyPr>
                    <a:lstStyle/>
                    <a:p>
                      <a:pPr algn="l">
                        <a:lnSpc>
                          <a:spcPct val="100000"/>
                        </a:lnSpc>
                        <a:spcBef>
                          <a:spcPts val="0"/>
                        </a:spcBef>
                        <a:spcAft>
                          <a:spcPts val="0"/>
                        </a:spcAft>
                      </a:pPr>
                      <a:r>
                        <a:rPr sz="1300" b="1">
                          <a:solidFill>
                            <a:srgbClr val="1F1F1F"/>
                          </a:solidFill>
                          <a:latin typeface="Calibri"/>
                        </a:rPr>
                        <a:t>Registro, execução e</a:t>
                      </a:r>
                    </a:p>
                    <a:p>
                      <a:pPr algn="l">
                        <a:lnSpc>
                          <a:spcPct val="100000"/>
                        </a:lnSpc>
                        <a:spcBef>
                          <a:spcPts val="0"/>
                        </a:spcBef>
                        <a:spcAft>
                          <a:spcPts val="0"/>
                        </a:spcAft>
                      </a:pPr>
                      <a:r>
                        <a:rPr sz="1300" b="1">
                          <a:solidFill>
                            <a:srgbClr val="1F1F1F"/>
                          </a:solidFill>
                          <a:latin typeface="Calibri"/>
                        </a:rPr>
                        <a:t>recuperação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a:noFill/>
                    </a:lnB>
                  </a:tcPr>
                </a:tc>
              </a:tr>
              <a:tr h="1783080">
                <a:tc>
                  <a:txBody>
                    <a:bodyPr wrap="square">
                      <a:noAutofit/>
                    </a:bodyPr>
                    <a:lstStyle/>
                    <a:p>
                      <a:pPr algn="l">
                        <a:lnSpc>
                          <a:spcPct val="100000"/>
                        </a:lnSpc>
                        <a:spcBef>
                          <a:spcPts val="0"/>
                        </a:spcBef>
                        <a:spcAft>
                          <a:spcPts val="0"/>
                        </a:spcAft>
                      </a:pPr>
                      <a:r>
                        <a:rPr sz="1300" b="1">
                          <a:solidFill>
                            <a:srgbClr val="1F1F1F"/>
                          </a:solidFill>
                          <a:latin typeface="Calibri"/>
                        </a:rPr>
                        <a:t>Cobrança e servicing</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Não obstante, o Fundo contratou o Agente de Cobrança para cobrança da totalidade dos Direitos</a:t>
                      </a:r>
                    </a:p>
                    <a:p>
                      <a:pPr algn="l">
                        <a:lnSpc>
                          <a:spcPct val="100000"/>
                        </a:lnSpc>
                        <a:spcBef>
                          <a:spcPts val="0"/>
                        </a:spcBef>
                        <a:spcAft>
                          <a:spcPts val="0"/>
                        </a:spcAft>
                      </a:pPr>
                      <a:r>
                        <a:rPr sz="1300" b="0">
                          <a:solidFill>
                            <a:srgbClr val="1F1F1F"/>
                          </a:solidFill>
                          <a:latin typeface="Calibri"/>
                        </a:rPr>
                        <a:t>Creditórios para Cobrança Extraordinária devidos em razão dos Direitos Creditórios.</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(ii) o somatório (a) da Taxa de Administração; (b) da Taxa de Gestão; e (c) da remuneração do Agente</a:t>
                      </a:r>
                    </a:p>
                    <a:p>
                      <a:pPr algn="l">
                        <a:lnSpc>
                          <a:spcPct val="100000"/>
                        </a:lnSpc>
                        <a:spcBef>
                          <a:spcPts val="0"/>
                        </a:spcBef>
                        <a:spcAft>
                          <a:spcPts val="0"/>
                        </a:spcAft>
                      </a:pPr>
                      <a:r>
                        <a:rPr sz="1300" b="0">
                          <a:solidFill>
                            <a:srgbClr val="1F1F1F"/>
                          </a:solidFill>
                          <a:latin typeface="Calibri"/>
                        </a:rPr>
                        <a:t>de Cobrança e da remuneração do Agente de Recebimento, bem como os demais custos de cobrança dos</a:t>
                      </a:r>
                    </a:p>
                    <a:p>
                      <a:pPr algn="l">
                        <a:lnSpc>
                          <a:spcPct val="100000"/>
                        </a:lnSpc>
                        <a:spcBef>
                          <a:spcPts val="0"/>
                        </a:spcBef>
                        <a:spcAft>
                          <a:spcPts val="0"/>
                        </a:spcAft>
                      </a:pPr>
                      <a:r>
                        <a:rPr sz="1300" b="0">
                          <a:solidFill>
                            <a:srgbClr val="1F1F1F"/>
                          </a:solidFill>
                          <a:latin typeface="Calibri"/>
                        </a:rPr>
                        <a:t>Direitos Creditórios para Cobrança Extraordinária, todos custos deste item (ii) considerados como</a:t>
                      </a:r>
                    </a:p>
                    <a:p>
                      <a:pPr algn="l">
                        <a:lnSpc>
                          <a:spcPct val="100000"/>
                        </a:lnSpc>
                        <a:spcBef>
                          <a:spcPts val="0"/>
                        </a:spcBef>
                        <a:spcAft>
                          <a:spcPts val="0"/>
                        </a:spcAft>
                      </a:pPr>
                      <a:r>
                        <a:rPr sz="1300" b="0">
                          <a:solidFill>
                            <a:srgbClr val="1F1F1F"/>
                          </a:solidFill>
                          <a:latin typeface="Calibri"/>
                        </a:rPr>
                        <a:t>percentuais anuais do Valor Agregado dos Direitos Creditórios, observado que o custo total previsto</a:t>
                      </a:r>
                    </a:p>
                    <a:p>
                      <a:pPr algn="l">
                        <a:lnSpc>
                          <a:spcPct val="100000"/>
                        </a:lnSpc>
                        <a:spcBef>
                          <a:spcPts val="0"/>
                        </a:spcBef>
                        <a:spcAft>
                          <a:spcPts val="0"/>
                        </a:spcAft>
                      </a:pPr>
                      <a:r>
                        <a:rPr sz="1300" b="0">
                          <a:solidFill>
                            <a:srgbClr val="1F1F1F"/>
                          </a:solidFill>
                          <a:latin typeface="Calibri"/>
                        </a:rPr>
                        <a:t>neste item (ii) será, para fins deste cálculo, no mínimo igual a 1,00% (um por cento) ao ano sobre o</a:t>
                      </a:r>
                    </a:p>
                    <a:p>
                      <a:pPr algn="l">
                        <a:lnSpc>
                          <a:spcPct val="100000"/>
                        </a:lnSpc>
                        <a:spcBef>
                          <a:spcPts val="0"/>
                        </a:spcBef>
                        <a:spcAft>
                          <a:spcPts val="0"/>
                        </a:spcAft>
                      </a:pPr>
                      <a:r>
                        <a:rPr sz="1300" b="0">
                          <a:solidFill>
                            <a:srgbClr val="1F1F1F"/>
                          </a:solidFill>
                          <a:latin typeface="Calibri"/>
                        </a:rPr>
                        <a:t>Valor Agregado dos Direitos Creditórios;.</a:t>
                      </a:r>
                    </a:p>
                  </a:txBody>
                  <a:tcPr marL="91440" marR="91440" marT="41148" marB="41148" anchor="ctr">
                    <a:solidFill>
                      <a:srgbClr val="FFFFFF"/>
                    </a:solidFill>
                    <a:lnL>
                      <a:noFill/>
                    </a:lnL>
                    <a:lnR>
                      <a:noFill/>
                    </a:lnR>
                    <a:lnT>
                      <a:noFill/>
                    </a:lnT>
                    <a:lnB>
                      <a:noFill/>
                    </a:lnB>
                  </a:tcPr>
                </a:tc>
              </a:tr>
              <a:tr h="470916">
                <a:tc>
                  <a:txBody>
                    <a:bodyPr wrap="square">
                      <a:noAutofit/>
                    </a:bodyPr>
                    <a:lstStyle/>
                    <a:p>
                      <a:pPr algn="l">
                        <a:lnSpc>
                          <a:spcPct val="100000"/>
                        </a:lnSpc>
                        <a:spcBef>
                          <a:spcPts val="0"/>
                        </a:spcBef>
                        <a:spcAft>
                          <a:spcPts val="0"/>
                        </a:spcAft>
                      </a:pPr>
                      <a:r>
                        <a:rPr sz="1300" b="1">
                          <a:solidFill>
                            <a:srgbClr val="1F1F1F"/>
                          </a:solidFill>
                          <a:latin typeface="Calibri"/>
                        </a:rPr>
                        <a:t>Conta de arrecadação e</a:t>
                      </a:r>
                    </a:p>
                    <a:p>
                      <a:pPr algn="l">
                        <a:lnSpc>
                          <a:spcPct val="100000"/>
                        </a:lnSpc>
                        <a:spcBef>
                          <a:spcPts val="0"/>
                        </a:spcBef>
                        <a:spcAft>
                          <a:spcPts val="0"/>
                        </a:spcAft>
                      </a:pPr>
                      <a:r>
                        <a:rPr sz="1300" b="1">
                          <a:solidFill>
                            <a:srgbClr val="1F1F1F"/>
                          </a:solidFill>
                          <a:latin typeface="Calibri"/>
                        </a:rPr>
                        <a:t>risco de trânsito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a:noFill/>
                    </a:lnB>
                  </a:tcPr>
                </a:tc>
              </a:tr>
              <a:tr h="470916">
                <a:tc>
                  <a:txBody>
                    <a:bodyPr wrap="square">
                      <a:noAutofit/>
                    </a:bodyPr>
                    <a:lstStyle/>
                    <a:p>
                      <a:pPr algn="l">
                        <a:lnSpc>
                          <a:spcPct val="100000"/>
                        </a:lnSpc>
                        <a:spcBef>
                          <a:spcPts val="0"/>
                        </a:spcBef>
                        <a:spcAft>
                          <a:spcPts val="0"/>
                        </a:spcAft>
                      </a:pPr>
                      <a:r>
                        <a:rPr sz="1300" b="1">
                          <a:solidFill>
                            <a:srgbClr val="1F1F1F"/>
                          </a:solidFill>
                          <a:latin typeface="Calibri"/>
                        </a:rPr>
                        <a:t>Verificação de lastro e</a:t>
                      </a:r>
                    </a:p>
                    <a:p>
                      <a:pPr algn="l">
                        <a:lnSpc>
                          <a:spcPct val="100000"/>
                        </a:lnSpc>
                        <a:spcBef>
                          <a:spcPts val="0"/>
                        </a:spcBef>
                        <a:spcAft>
                          <a:spcPts val="0"/>
                        </a:spcAft>
                      </a:pPr>
                      <a:r>
                        <a:rPr sz="1300" b="1">
                          <a:solidFill>
                            <a:srgbClr val="1F1F1F"/>
                          </a:solidFill>
                          <a:latin typeface="Calibri"/>
                        </a:rPr>
                        <a:t>amostragem</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Extração pendente</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147/160</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PLGN Marketplace · vínculo CNPJ 41970012000126 · Hedge e prestadores</a:t>
            </a:r>
          </a:p>
        </p:txBody>
      </p:sp>
      <p:graphicFrame>
        <p:nvGraphicFramePr>
          <p:cNvPr id="3" name="Table 2"/>
          <p:cNvGraphicFramePr>
            <a:graphicFrameLocks noGrp="1"/>
          </p:cNvGraphicFramePr>
          <p:nvPr/>
        </p:nvGraphicFramePr>
        <p:xfrm>
          <a:off x="438912" y="932688"/>
          <a:ext cx="11313871" cy="1993392"/>
        </p:xfrm>
        <a:graphic>
          <a:graphicData uri="http://schemas.openxmlformats.org/drawingml/2006/table">
            <a:tbl>
              <a:tblPr>
                <a:tableStyleId>{5C22544A-7EE6-4342-B048-85BDC9FD1C3A}</a:tableStyleId>
              </a:tblPr>
              <a:tblGrid>
                <a:gridCol w="2331720"/>
                <a:gridCol w="8982151"/>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MC II · 41970012000126</a:t>
                      </a:r>
                    </a:p>
                  </a:txBody>
                  <a:tcPr marL="91440" marR="91440" marT="41148" marB="41148" anchor="ctr">
                    <a:solidFill>
                      <a:srgbClr val="F7F7F7"/>
                    </a:solidFill>
                    <a:lnL>
                      <a:noFill/>
                    </a:lnL>
                    <a:lnR>
                      <a:noFill/>
                    </a:lnR>
                    <a:lnT>
                      <a:noFill/>
                    </a:lnT>
                    <a:lnB w="6350">
                      <a:solidFill>
                        <a:srgbClr val="D9DEE5"/>
                      </a:solidFill>
                    </a:lnB>
                  </a:tcPr>
                </a:tc>
              </a:tr>
              <a:tr h="470916">
                <a:tc>
                  <a:txBody>
                    <a:bodyPr wrap="square">
                      <a:noAutofit/>
                    </a:bodyPr>
                    <a:lstStyle/>
                    <a:p>
                      <a:pPr algn="l">
                        <a:lnSpc>
                          <a:spcPct val="100000"/>
                        </a:lnSpc>
                        <a:spcBef>
                          <a:spcPts val="0"/>
                        </a:spcBef>
                        <a:spcAft>
                          <a:spcPts val="0"/>
                        </a:spcAft>
                      </a:pPr>
                      <a:r>
                        <a:rPr sz="1300" b="1">
                          <a:solidFill>
                            <a:srgbClr val="1F1F1F"/>
                          </a:solidFill>
                          <a:latin typeface="Calibri"/>
                        </a:rPr>
                        <a:t>Finalidade elimites</a:t>
                      </a:r>
                    </a:p>
                    <a:p>
                      <a:pPr algn="l">
                        <a:lnSpc>
                          <a:spcPct val="100000"/>
                        </a:lnSpc>
                        <a:spcBef>
                          <a:spcPts val="0"/>
                        </a:spcBef>
                        <a:spcAft>
                          <a:spcPts val="0"/>
                        </a:spcAft>
                      </a:pPr>
                      <a:r>
                        <a:rPr sz="1300" b="1">
                          <a:solidFill>
                            <a:srgbClr val="1F1F1F"/>
                          </a:solidFill>
                          <a:latin typeface="Calibri"/>
                        </a:rPr>
                        <a:t>dederivativos</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Derivativos vedados em qualquer hipótese; day trade e ativos no exterior também vedados.</a:t>
                      </a:r>
                    </a:p>
                  </a:txBody>
                  <a:tcPr marL="91440" marR="91440" marT="41148" marB="41148" anchor="ctr">
                    <a:solidFill>
                      <a:srgbClr val="FFFFFF"/>
                    </a:solidFill>
                    <a:lnL>
                      <a:noFill/>
                    </a:lnL>
                    <a:lnR>
                      <a:noFill/>
                    </a:lnR>
                    <a:lnT>
                      <a:noFill/>
                    </a:lnT>
                    <a:lnB>
                      <a:noFill/>
                    </a:lnB>
                  </a:tcPr>
                </a:tc>
              </a:tr>
              <a:tr h="470916">
                <a:tc>
                  <a:txBody>
                    <a:bodyPr wrap="square">
                      <a:noAutofit/>
                    </a:bodyPr>
                    <a:lstStyle/>
                    <a:p>
                      <a:pPr algn="l">
                        <a:lnSpc>
                          <a:spcPct val="100000"/>
                        </a:lnSpc>
                        <a:spcBef>
                          <a:spcPts val="0"/>
                        </a:spcBef>
                        <a:spcAft>
                          <a:spcPts val="0"/>
                        </a:spcAft>
                      </a:pPr>
                      <a:r>
                        <a:rPr sz="1300" b="1">
                          <a:solidFill>
                            <a:srgbClr val="1F1F1F"/>
                          </a:solidFill>
                          <a:latin typeface="Calibri"/>
                        </a:rPr>
                        <a:t>Prioridade do hedge e</a:t>
                      </a:r>
                    </a:p>
                    <a:p>
                      <a:pPr algn="l">
                        <a:lnSpc>
                          <a:spcPct val="100000"/>
                        </a:lnSpc>
                        <a:spcBef>
                          <a:spcPts val="0"/>
                        </a:spcBef>
                        <a:spcAft>
                          <a:spcPts val="0"/>
                        </a:spcAft>
                      </a:pPr>
                      <a:r>
                        <a:rPr sz="1300" b="1">
                          <a:solidFill>
                            <a:srgbClr val="1F1F1F"/>
                          </a:solidFill>
                          <a:latin typeface="Calibri"/>
                        </a:rPr>
                        <a:t>reserva de MTM</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a:noFill/>
                    </a:lnB>
                  </a:tcPr>
                </a:tc>
              </a:tr>
              <a:tr h="658368">
                <a:tc>
                  <a:txBody>
                    <a:bodyPr wrap="square">
                      <a:noAutofit/>
                    </a:bodyPr>
                    <a:lstStyle/>
                    <a:p>
                      <a:pPr algn="l">
                        <a:lnSpc>
                          <a:spcPct val="100000"/>
                        </a:lnSpc>
                        <a:spcBef>
                          <a:spcPts val="0"/>
                        </a:spcBef>
                        <a:spcAft>
                          <a:spcPts val="0"/>
                        </a:spcAft>
                      </a:pPr>
                      <a:r>
                        <a:rPr sz="1300" b="1">
                          <a:solidFill>
                            <a:srgbClr val="1F1F1F"/>
                          </a:solidFill>
                          <a:latin typeface="Calibri"/>
                        </a:rPr>
                        <a:t>Administrador, gestor e</a:t>
                      </a:r>
                    </a:p>
                    <a:p>
                      <a:pPr algn="l">
                        <a:lnSpc>
                          <a:spcPct val="100000"/>
                        </a:lnSpc>
                        <a:spcBef>
                          <a:spcPts val="0"/>
                        </a:spcBef>
                        <a:spcAft>
                          <a:spcPts val="0"/>
                        </a:spcAft>
                      </a:pPr>
                      <a:r>
                        <a:rPr sz="1300" b="1">
                          <a:solidFill>
                            <a:srgbClr val="1F1F1F"/>
                          </a:solidFill>
                          <a:latin typeface="Calibri"/>
                        </a:rPr>
                        <a:t>custodiante</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Administrador: BTG Pactual Serviços Financeiros DTVM, CNPJ 59.281.253/0001-23. Gestor: Polígono</a:t>
                      </a:r>
                    </a:p>
                    <a:p>
                      <a:pPr algn="l">
                        <a:lnSpc>
                          <a:spcPct val="100000"/>
                        </a:lnSpc>
                        <a:spcBef>
                          <a:spcPts val="0"/>
                        </a:spcBef>
                        <a:spcAft>
                          <a:spcPts val="0"/>
                        </a:spcAft>
                      </a:pPr>
                      <a:r>
                        <a:rPr sz="1300" b="0">
                          <a:solidFill>
                            <a:srgbClr val="1F1F1F"/>
                          </a:solidFill>
                          <a:latin typeface="Calibri"/>
                        </a:rPr>
                        <a:t>Capital Ltda., CNPJ 43.241.789/0001-85. Custodiante: Banco BTG Pactual S.A., CNPJ</a:t>
                      </a:r>
                    </a:p>
                    <a:p>
                      <a:pPr algn="l">
                        <a:lnSpc>
                          <a:spcPct val="100000"/>
                        </a:lnSpc>
                        <a:spcBef>
                          <a:spcPts val="0"/>
                        </a:spcBef>
                        <a:spcAft>
                          <a:spcPts val="0"/>
                        </a:spcAft>
                      </a:pPr>
                      <a:r>
                        <a:rPr sz="1300" b="0">
                          <a:solidFill>
                            <a:srgbClr val="1F1F1F"/>
                          </a:solidFill>
                          <a:latin typeface="Calibri"/>
                        </a:rPr>
                        <a:t>30.306.294/0001-45. Lista de agências elegíveis não identifica rating contratado.</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148/160</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PLGN Marketplace · vínculo CNPJ 41970012000126 · Hedge e prestadores</a:t>
            </a:r>
          </a:p>
        </p:txBody>
      </p:sp>
      <p:graphicFrame>
        <p:nvGraphicFramePr>
          <p:cNvPr id="3" name="Table 2"/>
          <p:cNvGraphicFramePr>
            <a:graphicFrameLocks noGrp="1"/>
          </p:cNvGraphicFramePr>
          <p:nvPr/>
        </p:nvGraphicFramePr>
        <p:xfrm>
          <a:off x="438912" y="932688"/>
          <a:ext cx="11313871" cy="4238244"/>
        </p:xfrm>
        <a:graphic>
          <a:graphicData uri="http://schemas.openxmlformats.org/drawingml/2006/table">
            <a:tbl>
              <a:tblPr>
                <a:tableStyleId>{5C22544A-7EE6-4342-B048-85BDC9FD1C3A}</a:tableStyleId>
              </a:tblPr>
              <a:tblGrid>
                <a:gridCol w="2331720"/>
                <a:gridCol w="8982151"/>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MC II · 41970012000126</a:t>
                      </a:r>
                    </a:p>
                  </a:txBody>
                  <a:tcPr marL="91440" marR="91440" marT="41148" marB="41148" anchor="ctr">
                    <a:solidFill>
                      <a:srgbClr val="F7F7F7"/>
                    </a:solidFill>
                    <a:lnL>
                      <a:noFill/>
                    </a:lnL>
                    <a:lnR>
                      <a:noFill/>
                    </a:lnR>
                    <a:lnT>
                      <a:noFill/>
                    </a:lnT>
                    <a:lnB w="6350">
                      <a:solidFill>
                        <a:srgbClr val="D9DEE5"/>
                      </a:solidFill>
                    </a:lnB>
                  </a:tcPr>
                </a:tc>
              </a:tr>
              <a:tr h="3845052">
                <a:tc>
                  <a:txBody>
                    <a:bodyPr wrap="square">
                      <a:noAutofit/>
                    </a:bodyPr>
                    <a:lstStyle/>
                    <a:p>
                      <a:pPr algn="l">
                        <a:lnSpc>
                          <a:spcPct val="100000"/>
                        </a:lnSpc>
                        <a:spcBef>
                          <a:spcPts val="0"/>
                        </a:spcBef>
                        <a:spcAft>
                          <a:spcPts val="0"/>
                        </a:spcAft>
                      </a:pPr>
                      <a:r>
                        <a:rPr sz="1300" b="1">
                          <a:solidFill>
                            <a:srgbClr val="1F1F1F"/>
                          </a:solidFill>
                          <a:latin typeface="Calibri"/>
                        </a:rPr>
                        <a:t>Substituição de</a:t>
                      </a:r>
                    </a:p>
                    <a:p>
                      <a:pPr algn="l">
                        <a:lnSpc>
                          <a:spcPct val="100000"/>
                        </a:lnSpc>
                        <a:spcBef>
                          <a:spcPts val="0"/>
                        </a:spcBef>
                        <a:spcAft>
                          <a:spcPts val="0"/>
                        </a:spcAft>
                      </a:pPr>
                      <a:r>
                        <a:rPr sz="1300" b="1">
                          <a:solidFill>
                            <a:srgbClr val="1F1F1F"/>
                          </a:solidFill>
                          <a:latin typeface="Calibri"/>
                        </a:rPr>
                        <a:t>prestadores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17.3. Nas hipóteses de descredenciamento ou renúncia, fica o Administrador obrigado a convocar</a:t>
                      </a:r>
                    </a:p>
                    <a:p>
                      <a:pPr algn="l">
                        <a:lnSpc>
                          <a:spcPct val="100000"/>
                        </a:lnSpc>
                        <a:spcBef>
                          <a:spcPts val="0"/>
                        </a:spcBef>
                        <a:spcAft>
                          <a:spcPts val="0"/>
                        </a:spcAft>
                      </a:pPr>
                      <a:r>
                        <a:rPr sz="1300" b="0">
                          <a:solidFill>
                            <a:srgbClr val="1F1F1F"/>
                          </a:solidFill>
                          <a:latin typeface="Calibri"/>
                        </a:rPr>
                        <a:t>imediatamente a Assembleia Geral de Cotistas para eleger um substituto, a se realizar no prazo de</a:t>
                      </a:r>
                    </a:p>
                    <a:p>
                      <a:pPr algn="l">
                        <a:lnSpc>
                          <a:spcPct val="100000"/>
                        </a:lnSpc>
                        <a:spcBef>
                          <a:spcPts val="0"/>
                        </a:spcBef>
                        <a:spcAft>
                          <a:spcPts val="0"/>
                        </a:spcAft>
                      </a:pPr>
                      <a:r>
                        <a:rPr sz="1300" b="0">
                          <a:solidFill>
                            <a:srgbClr val="1F1F1F"/>
                          </a:solidFill>
                          <a:latin typeface="Calibri"/>
                        </a:rPr>
                        <a:t>até 15 (quinze) dias, sendo facultada a convocação da Assembleia Geral de Cotistas por Cotistas que</a:t>
                      </a:r>
                    </a:p>
                    <a:p>
                      <a:pPr algn="l">
                        <a:lnSpc>
                          <a:spcPct val="100000"/>
                        </a:lnSpc>
                        <a:spcBef>
                          <a:spcPts val="0"/>
                        </a:spcBef>
                        <a:spcAft>
                          <a:spcPts val="0"/>
                        </a:spcAft>
                      </a:pPr>
                      <a:r>
                        <a:rPr sz="1300" b="0">
                          <a:solidFill>
                            <a:srgbClr val="1F1F1F"/>
                          </a:solidFill>
                          <a:latin typeface="Calibri"/>
                        </a:rPr>
                        <a:t>detenham Cotas representativas de ao menos 5% (cinco por cento) do Patrimônio Líquido do Fundo.</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19.2.1. Os parâmetros para pagamento da Taxa de Gestão previstos no item 19.2 acima são válidos</a:t>
                      </a:r>
                    </a:p>
                    <a:p>
                      <a:pPr algn="l">
                        <a:lnSpc>
                          <a:spcPct val="100000"/>
                        </a:lnSpc>
                        <a:spcBef>
                          <a:spcPts val="0"/>
                        </a:spcBef>
                        <a:spcAft>
                          <a:spcPts val="0"/>
                        </a:spcAft>
                      </a:pPr>
                      <a:r>
                        <a:rPr sz="1300" b="0">
                          <a:solidFill>
                            <a:srgbClr val="1F1F1F"/>
                          </a:solidFill>
                          <a:latin typeface="Calibri"/>
                        </a:rPr>
                        <a:t>enquanto o Mercado Crédito Fundo de Investimento em Direitos Creditórios Não Padronizado estiver sob</a:t>
                      </a:r>
                    </a:p>
                    <a:p>
                      <a:pPr algn="l">
                        <a:lnSpc>
                          <a:spcPct val="100000"/>
                        </a:lnSpc>
                        <a:spcBef>
                          <a:spcPts val="0"/>
                        </a:spcBef>
                        <a:spcAft>
                          <a:spcPts val="0"/>
                        </a:spcAft>
                      </a:pPr>
                      <a:r>
                        <a:rPr sz="1300" b="0">
                          <a:solidFill>
                            <a:srgbClr val="1F1F1F"/>
                          </a:solidFill>
                          <a:latin typeface="Calibri"/>
                        </a:rPr>
                        <a:t>gestão do Gestor, sendo que, caso ocorra a sua renúncia ou substituição, o Gestor e o Administrador</a:t>
                      </a:r>
                    </a:p>
                    <a:p>
                      <a:pPr algn="l">
                        <a:lnSpc>
                          <a:spcPct val="100000"/>
                        </a:lnSpc>
                        <a:spcBef>
                          <a:spcPts val="0"/>
                        </a:spcBef>
                        <a:spcAft>
                          <a:spcPts val="0"/>
                        </a:spcAft>
                      </a:pPr>
                      <a:r>
                        <a:rPr sz="1300" b="0">
                          <a:solidFill>
                            <a:srgbClr val="1F1F1F"/>
                          </a:solidFill>
                          <a:latin typeface="Calibri"/>
                        </a:rPr>
                        <a:t>alterarão o presente Regulamento para prever os novos parâmetros a serem adotados, desde que</a:t>
                      </a:r>
                    </a:p>
                    <a:p>
                      <a:pPr algn="l">
                        <a:lnSpc>
                          <a:spcPct val="100000"/>
                        </a:lnSpc>
                        <a:spcBef>
                          <a:spcPts val="0"/>
                        </a:spcBef>
                        <a:spcAft>
                          <a:spcPts val="0"/>
                        </a:spcAft>
                      </a:pPr>
                      <a:r>
                        <a:rPr sz="1300" b="0">
                          <a:solidFill>
                            <a:srgbClr val="1F1F1F"/>
                          </a:solidFill>
                          <a:latin typeface="Calibri"/>
                        </a:rPr>
                        <a:t>respeitado o valor máximo da Taxa de Gestão equivalente a 0,20% (vinte centésimos por cento) ao ano</a:t>
                      </a:r>
                    </a:p>
                    <a:p>
                      <a:pPr algn="l">
                        <a:lnSpc>
                          <a:spcPct val="100000"/>
                        </a:lnSpc>
                        <a:spcBef>
                          <a:spcPts val="0"/>
                        </a:spcBef>
                        <a:spcAft>
                          <a:spcPts val="0"/>
                        </a:spcAft>
                      </a:pPr>
                      <a:r>
                        <a:rPr sz="1300" b="0">
                          <a:solidFill>
                            <a:srgbClr val="1F1F1F"/>
                          </a:solidFill>
                          <a:latin typeface="Calibri"/>
                        </a:rPr>
                        <a:t>sobre o Patrimônio Líquido do Fundo.</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Subclasse de Cotas presentes à AGC. Para fins de clareza, se o aumento das taxas resultar da Para</a:t>
                      </a:r>
                    </a:p>
                    <a:p>
                      <a:pPr algn="l">
                        <a:lnSpc>
                          <a:spcPct val="100000"/>
                        </a:lnSpc>
                        <a:spcBef>
                          <a:spcPts val="0"/>
                        </a:spcBef>
                        <a:spcAft>
                          <a:spcPts val="0"/>
                        </a:spcAft>
                      </a:pPr>
                      <a:r>
                        <a:rPr sz="1300" b="0">
                          <a:solidFill>
                            <a:srgbClr val="1F1F1F"/>
                          </a:solidFill>
                          <a:latin typeface="Calibri"/>
                        </a:rPr>
                        <a:t>fins de clareza, se substituição do Gestor e/ou o aumento das taxas do Administrador, caso as</a:t>
                      </a:r>
                    </a:p>
                    <a:p>
                      <a:pPr algn="l">
                        <a:lnSpc>
                          <a:spcPct val="100000"/>
                        </a:lnSpc>
                        <a:spcBef>
                          <a:spcPts val="0"/>
                        </a:spcBef>
                        <a:spcAft>
                          <a:spcPts val="0"/>
                        </a:spcAft>
                      </a:pPr>
                      <a:r>
                        <a:rPr sz="1300" b="0">
                          <a:solidFill>
                            <a:srgbClr val="1F1F1F"/>
                          </a:solidFill>
                          <a:latin typeface="Calibri"/>
                        </a:rPr>
                        <a:t>resultar da substituição Cotas Subordinadas do Gestor e/ou do Mezanino sejam detidas pelo</a:t>
                      </a:r>
                    </a:p>
                    <a:p>
                      <a:pPr algn="l">
                        <a:lnSpc>
                          <a:spcPct val="100000"/>
                        </a:lnSpc>
                        <a:spcBef>
                          <a:spcPts val="0"/>
                        </a:spcBef>
                        <a:spcAft>
                          <a:spcPts val="0"/>
                        </a:spcAft>
                      </a:pPr>
                      <a:r>
                        <a:rPr sz="1300" b="0">
                          <a:solidFill>
                            <a:srgbClr val="1F1F1F"/>
                          </a:solidFill>
                          <a:latin typeface="Calibri"/>
                        </a:rPr>
                        <a:t>Administrador, caso as Gestor e/ou pelo Cotas Subordinadas Administrador ou por Mezanino sejam</a:t>
                      </a:r>
                    </a:p>
                    <a:p>
                      <a:pPr algn="l">
                        <a:lnSpc>
                          <a:spcPct val="100000"/>
                        </a:lnSpc>
                        <a:spcBef>
                          <a:spcPts val="0"/>
                        </a:spcBef>
                        <a:spcAft>
                          <a:spcPts val="0"/>
                        </a:spcAft>
                      </a:pPr>
                      <a:r>
                        <a:rPr sz="1300" b="0">
                          <a:solidFill>
                            <a:srgbClr val="1F1F1F"/>
                          </a:solidFill>
                          <a:latin typeface="Calibri"/>
                        </a:rPr>
                        <a:t>detidas veículos de investimento pelo Gestor e/ou pelo geridos pelo Gestor e/ou pelo Administrador</a:t>
                      </a:r>
                    </a:p>
                    <a:p>
                      <a:pPr algn="l">
                        <a:lnSpc>
                          <a:spcPct val="100000"/>
                        </a:lnSpc>
                        <a:spcBef>
                          <a:spcPts val="0"/>
                        </a:spcBef>
                        <a:spcAft>
                          <a:spcPts val="0"/>
                        </a:spcAft>
                      </a:pPr>
                      <a:r>
                        <a:rPr sz="1300" b="0">
                          <a:solidFill>
                            <a:srgbClr val="1F1F1F"/>
                          </a:solidFill>
                          <a:latin typeface="Calibri"/>
                        </a:rPr>
                        <a:t>ou por Administrador, conforme o veículos de caso, estes somente poderão investimento geridos votar</a:t>
                      </a:r>
                    </a:p>
                    <a:p>
                      <a:pPr algn="l">
                        <a:lnSpc>
                          <a:spcPct val="100000"/>
                        </a:lnSpc>
                        <a:spcBef>
                          <a:spcPts val="0"/>
                        </a:spcBef>
                        <a:spcAft>
                          <a:spcPts val="0"/>
                        </a:spcAft>
                      </a:pPr>
                      <a:r>
                        <a:rPr sz="1300" b="0">
                          <a:solidFill>
                            <a:srgbClr val="1F1F1F"/>
                          </a:solidFill>
                          <a:latin typeface="Calibri"/>
                        </a:rPr>
                        <a:t>caso não estejam em pelo Gestor e/ou pelo posição de conflito de Administrador, interesses. conforme</a:t>
                      </a:r>
                    </a:p>
                    <a:p>
                      <a:pPr algn="l">
                        <a:lnSpc>
                          <a:spcPct val="100000"/>
                        </a:lnSpc>
                        <a:spcBef>
                          <a:spcPts val="0"/>
                        </a:spcBef>
                        <a:spcAft>
                          <a:spcPts val="0"/>
                        </a:spcAft>
                      </a:pPr>
                      <a:r>
                        <a:rPr sz="1300" b="0">
                          <a:solidFill>
                            <a:srgbClr val="1F1F1F"/>
                          </a:solidFill>
                          <a:latin typeface="Calibri"/>
                        </a:rPr>
                        <a:t>o caso, estes somente poderão votar caso não estejam em posição de conflito de interesses.</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149/160</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PLGN Marketplace · vínculo CNPJ 41970012000126 · Hedge e prestadores</a:t>
            </a:r>
          </a:p>
        </p:txBody>
      </p:sp>
      <p:graphicFrame>
        <p:nvGraphicFramePr>
          <p:cNvPr id="3" name="Table 2"/>
          <p:cNvGraphicFramePr>
            <a:graphicFrameLocks noGrp="1"/>
          </p:cNvGraphicFramePr>
          <p:nvPr/>
        </p:nvGraphicFramePr>
        <p:xfrm>
          <a:off x="438912" y="932688"/>
          <a:ext cx="11313871" cy="4425696"/>
        </p:xfrm>
        <a:graphic>
          <a:graphicData uri="http://schemas.openxmlformats.org/drawingml/2006/table">
            <a:tbl>
              <a:tblPr>
                <a:tableStyleId>{5C22544A-7EE6-4342-B048-85BDC9FD1C3A}</a:tableStyleId>
              </a:tblPr>
              <a:tblGrid>
                <a:gridCol w="2331720"/>
                <a:gridCol w="8982151"/>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MC II · 41970012000126</a:t>
                      </a:r>
                    </a:p>
                  </a:txBody>
                  <a:tcPr marL="91440" marR="91440" marT="41148" marB="41148" anchor="ctr">
                    <a:solidFill>
                      <a:srgbClr val="F7F7F7"/>
                    </a:solidFill>
                    <a:lnL>
                      <a:noFill/>
                    </a:lnL>
                    <a:lnR>
                      <a:noFill/>
                    </a:lnR>
                    <a:lnT>
                      <a:noFill/>
                    </a:lnT>
                    <a:lnB w="6350">
                      <a:solidFill>
                        <a:srgbClr val="D9DEE5"/>
                      </a:solidFill>
                    </a:lnB>
                  </a:tcPr>
                </a:tc>
              </a:tr>
              <a:tr h="4032504">
                <a:tc>
                  <a:txBody>
                    <a:bodyPr wrap="square">
                      <a:noAutofit/>
                    </a:bodyPr>
                    <a:lstStyle/>
                    <a:p>
                      <a:pPr algn="l">
                        <a:lnSpc>
                          <a:spcPct val="100000"/>
                        </a:lnSpc>
                        <a:spcBef>
                          <a:spcPts val="0"/>
                        </a:spcBef>
                        <a:spcAft>
                          <a:spcPts val="0"/>
                        </a:spcAft>
                      </a:pPr>
                      <a:r>
                        <a:rPr sz="1300" b="1">
                          <a:solidFill>
                            <a:srgbClr val="1F1F1F"/>
                          </a:solidFill>
                          <a:latin typeface="Calibri"/>
                        </a:rPr>
                        <a:t>Rating por subclasse e</a:t>
                      </a:r>
                    </a:p>
                    <a:p>
                      <a:pPr algn="l">
                        <a:lnSpc>
                          <a:spcPct val="100000"/>
                        </a:lnSpc>
                        <a:spcBef>
                          <a:spcPts val="0"/>
                        </a:spcBef>
                        <a:spcAft>
                          <a:spcPts val="0"/>
                        </a:spcAft>
                      </a:pPr>
                      <a:r>
                        <a:rPr sz="1300" b="1">
                          <a:solidFill>
                            <a:srgbClr val="1F1F1F"/>
                          </a:solidFill>
                          <a:latin typeface="Calibri"/>
                        </a:rPr>
                        <a:t>downgrade</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O Advance Rate Ponderado será calculado pelo Gestor com base no Valor Agregado dos Direitos</a:t>
                      </a:r>
                    </a:p>
                    <a:p>
                      <a:pPr algn="l">
                        <a:lnSpc>
                          <a:spcPct val="100000"/>
                        </a:lnSpc>
                        <a:spcBef>
                          <a:spcPts val="0"/>
                        </a:spcBef>
                        <a:spcAft>
                          <a:spcPts val="0"/>
                        </a:spcAft>
                      </a:pPr>
                      <a:r>
                        <a:rPr sz="1300" b="0">
                          <a:solidFill>
                            <a:srgbClr val="1F1F1F"/>
                          </a:solidFill>
                          <a:latin typeface="Calibri"/>
                        </a:rPr>
                        <a:t>Creditórios em cada Data Base. "Agência Classificadora de significa a agência de classificação de</a:t>
                      </a:r>
                    </a:p>
                    <a:p>
                      <a:pPr algn="l">
                        <a:lnSpc>
                          <a:spcPct val="100000"/>
                        </a:lnSpc>
                        <a:spcBef>
                          <a:spcPts val="0"/>
                        </a:spcBef>
                        <a:spcAft>
                          <a:spcPts val="0"/>
                        </a:spcAft>
                      </a:pPr>
                      <a:r>
                        <a:rPr sz="1300" b="0">
                          <a:solidFill>
                            <a:srgbClr val="1F1F1F"/>
                          </a:solidFill>
                          <a:latin typeface="Calibri"/>
                        </a:rPr>
                        <a:t>risco autorizada a Risco" prestar tais serviços junto a CVM que tenha sido contratada pelo Fundo</a:t>
                      </a:r>
                    </a:p>
                    <a:p>
                      <a:pPr algn="l">
                        <a:lnSpc>
                          <a:spcPct val="100000"/>
                        </a:lnSpc>
                        <a:spcBef>
                          <a:spcPts val="0"/>
                        </a:spcBef>
                        <a:spcAft>
                          <a:spcPts val="0"/>
                        </a:spcAft>
                      </a:pPr>
                      <a:r>
                        <a:rPr sz="1300" b="0">
                          <a:solidFill>
                            <a:srgbClr val="1F1F1F"/>
                          </a:solidFill>
                          <a:latin typeface="Calibri"/>
                        </a:rPr>
                        <a:t>para avaliação de risco das Cotas, conforme aplicável, que poderá ser escolhida pelo Gestor dentre</a:t>
                      </a:r>
                    </a:p>
                    <a:p>
                      <a:pPr algn="l">
                        <a:lnSpc>
                          <a:spcPct val="100000"/>
                        </a:lnSpc>
                        <a:spcBef>
                          <a:spcPts val="0"/>
                        </a:spcBef>
                        <a:spcAft>
                          <a:spcPts val="0"/>
                        </a:spcAft>
                      </a:pPr>
                      <a:r>
                        <a:rPr sz="1300" b="0">
                          <a:solidFill>
                            <a:srgbClr val="1F1F1F"/>
                          </a:solidFill>
                          <a:latin typeface="Calibri"/>
                        </a:rPr>
                        <a:t>as seguintes empresas: Austin Rating Serviços Financeiros Ltda., Standard &amp; Poor's Ratings do Brasil</a:t>
                      </a:r>
                    </a:p>
                    <a:p>
                      <a:pPr algn="l">
                        <a:lnSpc>
                          <a:spcPct val="100000"/>
                        </a:lnSpc>
                        <a:spcBef>
                          <a:spcPts val="0"/>
                        </a:spcBef>
                        <a:spcAft>
                          <a:spcPts val="0"/>
                        </a:spcAft>
                      </a:pPr>
                      <a:r>
                        <a:rPr sz="1300" b="0">
                          <a:solidFill>
                            <a:srgbClr val="1F1F1F"/>
                          </a:solidFill>
                          <a:latin typeface="Calibri"/>
                        </a:rPr>
                        <a:t>Ltda., Fitch Ratings Brasil Ltda., Moody's América Latina Ltda. ou Liberum Ratings Serviços</a:t>
                      </a:r>
                    </a:p>
                    <a:p>
                      <a:pPr algn="l">
                        <a:lnSpc>
                          <a:spcPct val="100000"/>
                        </a:lnSpc>
                        <a:spcBef>
                          <a:spcPts val="0"/>
                        </a:spcBef>
                        <a:spcAft>
                          <a:spcPts val="0"/>
                        </a:spcAft>
                      </a:pPr>
                      <a:r>
                        <a:rPr sz="1300" b="0">
                          <a:solidFill>
                            <a:srgbClr val="1F1F1F"/>
                          </a:solidFill>
                          <a:latin typeface="Calibri"/>
                        </a:rPr>
                        <a:t>Financeiros Ltda., caso aplicável. "Agente de Cobrança" significa o Mercado Pago, contratado para</a:t>
                      </a:r>
                    </a:p>
                    <a:p>
                      <a:pPr algn="l">
                        <a:lnSpc>
                          <a:spcPct val="100000"/>
                        </a:lnSpc>
                        <a:spcBef>
                          <a:spcPts val="0"/>
                        </a:spcBef>
                        <a:spcAft>
                          <a:spcPts val="0"/>
                        </a:spcAft>
                      </a:pPr>
                      <a:r>
                        <a:rPr sz="1300" b="0">
                          <a:solidFill>
                            <a:srgbClr val="1F1F1F"/>
                          </a:solidFill>
                          <a:latin typeface="Calibri"/>
                        </a:rPr>
                        <a:t>prestação dos serviços de cobrança dos Direitos Creditórios vencidos e não pagos, nos termos e</a:t>
                      </a:r>
                    </a:p>
                    <a:p>
                      <a:pPr algn="l">
                        <a:lnSpc>
                          <a:spcPct val="100000"/>
                        </a:lnSpc>
                        <a:spcBef>
                          <a:spcPts val="0"/>
                        </a:spcBef>
                        <a:spcAft>
                          <a:spcPts val="0"/>
                        </a:spcAft>
                      </a:pPr>
                      <a:r>
                        <a:rPr sz="1300" b="0">
                          <a:solidFill>
                            <a:srgbClr val="1F1F1F"/>
                          </a:solidFill>
                          <a:latin typeface="Calibri"/>
                        </a:rPr>
                        <a:t>condições descritos neste Regulamento e no Contrato de Cobrança. btgpactual.com.</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7.29. As Cotas Seniores e as Cotas Subordinadas Mezanino poderão ser objeto de Classificação de</a:t>
                      </a:r>
                    </a:p>
                    <a:p>
                      <a:pPr algn="l">
                        <a:lnSpc>
                          <a:spcPct val="100000"/>
                        </a:lnSpc>
                        <a:spcBef>
                          <a:spcPts val="0"/>
                        </a:spcBef>
                        <a:spcAft>
                          <a:spcPts val="0"/>
                        </a:spcAft>
                      </a:pPr>
                      <a:r>
                        <a:rPr sz="1300" b="0">
                          <a:solidFill>
                            <a:srgbClr val="1F1F1F"/>
                          </a:solidFill>
                          <a:latin typeface="Calibri"/>
                        </a:rPr>
                        <a:t>Risco realizada por Agência de Classificação de Risco. As Cotas Subordinadas Júnior não serão objeto</a:t>
                      </a:r>
                    </a:p>
                    <a:p>
                      <a:pPr algn="l">
                        <a:lnSpc>
                          <a:spcPct val="100000"/>
                        </a:lnSpc>
                        <a:spcBef>
                          <a:spcPts val="0"/>
                        </a:spcBef>
                        <a:spcAft>
                          <a:spcPts val="0"/>
                        </a:spcAft>
                      </a:pPr>
                      <a:r>
                        <a:rPr sz="1300" b="0">
                          <a:solidFill>
                            <a:srgbClr val="1F1F1F"/>
                          </a:solidFill>
                          <a:latin typeface="Calibri"/>
                        </a:rPr>
                        <a:t>de Classificação de Risco realizada por Agência Classificadora de Risco.</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(vi) Banco Citibank S.A.; ou (vii) Banco BTG Pactual S.A., desde que possua classificação de risco</a:t>
                      </a:r>
                    </a:p>
                    <a:p>
                      <a:pPr algn="l">
                        <a:lnSpc>
                          <a:spcPct val="100000"/>
                        </a:lnSpc>
                        <a:spcBef>
                          <a:spcPts val="0"/>
                        </a:spcBef>
                        <a:spcAft>
                          <a:spcPts val="0"/>
                        </a:spcAft>
                      </a:pPr>
                      <a:r>
                        <a:rPr sz="1300" b="0">
                          <a:solidFill>
                            <a:srgbClr val="1F1F1F"/>
                          </a:solidFill>
                          <a:latin typeface="Calibri"/>
                        </a:rPr>
                        <a:t>de crédito de longo prazo, atribuída pela Standard &amp; Poor's Ratings do Brasil Ltda., Fitch Ratings</a:t>
                      </a:r>
                    </a:p>
                    <a:p>
                      <a:pPr algn="l">
                        <a:lnSpc>
                          <a:spcPct val="100000"/>
                        </a:lnSpc>
                        <a:spcBef>
                          <a:spcPts val="0"/>
                        </a:spcBef>
                        <a:spcAft>
                          <a:spcPts val="0"/>
                        </a:spcAft>
                      </a:pPr>
                      <a:r>
                        <a:rPr sz="1300" b="0">
                          <a:solidFill>
                            <a:srgbClr val="1F1F1F"/>
                          </a:solidFill>
                          <a:latin typeface="Calibri"/>
                        </a:rPr>
                        <a:t>Brasil Ltda. ou Moody's América Latina Ltda, no mínimo igual ou superior ao maior entre (a) a mais</a:t>
                      </a:r>
                    </a:p>
                    <a:p>
                      <a:pPr algn="l">
                        <a:lnSpc>
                          <a:spcPct val="100000"/>
                        </a:lnSpc>
                        <a:spcBef>
                          <a:spcPts val="0"/>
                        </a:spcBef>
                        <a:spcAft>
                          <a:spcPts val="0"/>
                        </a:spcAft>
                      </a:pPr>
                      <a:r>
                        <a:rPr sz="1300" b="0">
                          <a:solidFill>
                            <a:srgbClr val="1F1F1F"/>
                          </a:solidFill>
                          <a:latin typeface="Calibri"/>
                        </a:rPr>
                        <a:t>elevada Classificação de Risco atribuída às Cotas Seniores, se houver; e (b) br.AA+. "Instrução CVM</a:t>
                      </a:r>
                    </a:p>
                    <a:p>
                      <a:pPr algn="l">
                        <a:lnSpc>
                          <a:spcPct val="100000"/>
                        </a:lnSpc>
                        <a:spcBef>
                          <a:spcPts val="0"/>
                        </a:spcBef>
                        <a:spcAft>
                          <a:spcPts val="0"/>
                        </a:spcAft>
                      </a:pPr>
                      <a:r>
                        <a:rPr sz="1300" b="0">
                          <a:solidFill>
                            <a:srgbClr val="1F1F1F"/>
                          </a:solidFill>
                          <a:latin typeface="Calibri"/>
                        </a:rPr>
                        <a:t>489" significa a Instrução da CVM nº 489, de 14 de janeiro de 2011, conforme alterada. "Janela Móvel</a:t>
                      </a:r>
                    </a:p>
                    <a:p>
                      <a:pPr algn="l">
                        <a:lnSpc>
                          <a:spcPct val="100000"/>
                        </a:lnSpc>
                        <a:spcBef>
                          <a:spcPts val="0"/>
                        </a:spcBef>
                        <a:spcAft>
                          <a:spcPts val="0"/>
                        </a:spcAft>
                      </a:pPr>
                      <a:r>
                        <a:rPr sz="1300" b="0">
                          <a:solidFill>
                            <a:srgbClr val="1F1F1F"/>
                          </a:solidFill>
                          <a:latin typeface="Calibri"/>
                        </a:rPr>
                        <a:t>de Safras" significa, em cada Data Base, o conjunto das 12 (doze) Safras de Originação mais</a:t>
                      </a:r>
                    </a:p>
                    <a:p>
                      <a:pPr algn="l">
                        <a:lnSpc>
                          <a:spcPct val="100000"/>
                        </a:lnSpc>
                        <a:spcBef>
                          <a:spcPts val="0"/>
                        </a:spcBef>
                        <a:spcAft>
                          <a:spcPts val="0"/>
                        </a:spcAft>
                      </a:pPr>
                      <a:r>
                        <a:rPr sz="1300" b="0">
                          <a:solidFill>
                            <a:srgbClr val="1F1F1F"/>
                          </a:solidFill>
                          <a:latin typeface="Calibri"/>
                        </a:rPr>
                        <a:t>recentemente originadas cujo MOB Aplicável se situe entre o MOB6 (inclusive) e o btgpactual.com.</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150/160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PLGN Marketplace · vínculo CNPJ 41970012000126 · Emissões e custos</a:t>
            </a:r>
          </a:p>
        </p:txBody>
      </p:sp>
      <p:graphicFrame>
        <p:nvGraphicFramePr>
          <p:cNvPr id="3" name="Table 2"/>
          <p:cNvGraphicFramePr>
            <a:graphicFrameLocks noGrp="1"/>
          </p:cNvGraphicFramePr>
          <p:nvPr/>
        </p:nvGraphicFramePr>
        <p:xfrm>
          <a:off x="438912" y="932688"/>
          <a:ext cx="11313871" cy="3963924"/>
        </p:xfrm>
        <a:graphic>
          <a:graphicData uri="http://schemas.openxmlformats.org/drawingml/2006/table">
            <a:tbl>
              <a:tblPr>
                <a:tableStyleId>{5C22544A-7EE6-4342-B048-85BDC9FD1C3A}</a:tableStyleId>
              </a:tblPr>
              <a:tblGrid>
                <a:gridCol w="2331720"/>
                <a:gridCol w="8982151"/>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MC II · 41970012000126</a:t>
                      </a:r>
                    </a:p>
                  </a:txBody>
                  <a:tcPr marL="91440" marR="91440" marT="41148" marB="41148" anchor="ctr">
                    <a:solidFill>
                      <a:srgbClr val="F7F7F7"/>
                    </a:solidFill>
                    <a:lnL>
                      <a:noFill/>
                    </a:lnL>
                    <a:lnR>
                      <a:noFill/>
                    </a:lnR>
                    <a:lnT>
                      <a:noFill/>
                    </a:lnT>
                    <a:lnB w="6350">
                      <a:solidFill>
                        <a:srgbClr val="D9DEE5"/>
                      </a:solidFill>
                    </a:lnB>
                  </a:tcPr>
                </a:tc>
              </a:tr>
              <a:tr h="1783080">
                <a:tc>
                  <a:txBody>
                    <a:bodyPr wrap="square">
                      <a:noAutofit/>
                    </a:bodyPr>
                    <a:lstStyle/>
                    <a:p>
                      <a:pPr algn="l">
                        <a:lnSpc>
                          <a:spcPct val="100000"/>
                        </a:lnSpc>
                        <a:spcBef>
                          <a:spcPts val="0"/>
                        </a:spcBef>
                        <a:spcAft>
                          <a:spcPts val="0"/>
                        </a:spcAft>
                      </a:pPr>
                      <a:r>
                        <a:rPr sz="1300" b="1">
                          <a:solidFill>
                            <a:srgbClr val="1F1F1F"/>
                          </a:solidFill>
                          <a:latin typeface="Calibri"/>
                        </a:rPr>
                        <a:t>Remuneração por</a:t>
                      </a:r>
                    </a:p>
                    <a:p>
                      <a:pPr algn="l">
                        <a:lnSpc>
                          <a:spcPct val="100000"/>
                        </a:lnSpc>
                        <a:spcBef>
                          <a:spcPts val="0"/>
                        </a:spcBef>
                        <a:spcAft>
                          <a:spcPts val="0"/>
                        </a:spcAft>
                      </a:pPr>
                      <a:r>
                        <a:rPr sz="1300" b="1">
                          <a:solidFill>
                            <a:srgbClr val="1F1F1F"/>
                          </a:solidFill>
                          <a:latin typeface="Calibri"/>
                        </a:rPr>
                        <a:t>subclasse e série</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(v) não realização de pagamento da Meta de Rentabilidade Sênior e/ou da Meta de Rentabilidade</a:t>
                      </a:r>
                    </a:p>
                    <a:p>
                      <a:pPr algn="l">
                        <a:lnSpc>
                          <a:spcPct val="100000"/>
                        </a:lnSpc>
                        <a:spcBef>
                          <a:spcPts val="0"/>
                        </a:spcBef>
                        <a:spcAft>
                          <a:spcPts val="0"/>
                        </a:spcAft>
                      </a:pPr>
                      <a:r>
                        <a:rPr sz="1300" b="0">
                          <a:solidFill>
                            <a:srgbClr val="1F1F1F"/>
                          </a:solidFill>
                          <a:latin typeface="Calibri"/>
                        </a:rPr>
                        <a:t>Mezanino aplicável, da Amortização de Cotas Seniores e/ou de Cotas Subordinadas Mezanino ou</a:t>
                      </a:r>
                    </a:p>
                    <a:p>
                      <a:pPr algn="l">
                        <a:lnSpc>
                          <a:spcPct val="100000"/>
                        </a:lnSpc>
                        <a:spcBef>
                          <a:spcPts val="0"/>
                        </a:spcBef>
                        <a:spcAft>
                          <a:spcPts val="0"/>
                        </a:spcAft>
                      </a:pPr>
                      <a:r>
                        <a:rPr sz="1300" b="0">
                          <a:solidFill>
                            <a:srgbClr val="1F1F1F"/>
                          </a:solidFill>
                          <a:latin typeface="Calibri"/>
                        </a:rPr>
                        <a:t>amortização integral/resgate de Cotas Seniores e/ou de Cotas Subordinadas Mezanino em até 2 (dois)</a:t>
                      </a:r>
                    </a:p>
                    <a:p>
                      <a:pPr algn="l">
                        <a:lnSpc>
                          <a:spcPct val="100000"/>
                        </a:lnSpc>
                        <a:spcBef>
                          <a:spcPts val="0"/>
                        </a:spcBef>
                        <a:spcAft>
                          <a:spcPts val="0"/>
                        </a:spcAft>
                      </a:pPr>
                      <a:r>
                        <a:rPr sz="1300" b="0">
                          <a:solidFill>
                            <a:srgbClr val="1F1F1F"/>
                          </a:solidFill>
                          <a:latin typeface="Calibri"/>
                        </a:rPr>
                        <a:t>Dias Úteis contados da esperada Data de Pagamento ou Data de Amortização Integral definidas nos</a:t>
                      </a:r>
                    </a:p>
                    <a:p>
                      <a:pPr algn="l">
                        <a:lnSpc>
                          <a:spcPct val="100000"/>
                        </a:lnSpc>
                        <a:spcBef>
                          <a:spcPts val="0"/>
                        </a:spcBef>
                        <a:spcAft>
                          <a:spcPts val="0"/>
                        </a:spcAft>
                      </a:pPr>
                      <a:r>
                        <a:rPr sz="1300" b="0">
                          <a:solidFill>
                            <a:srgbClr val="1F1F1F"/>
                          </a:solidFill>
                          <a:latin typeface="Calibri"/>
                        </a:rPr>
                        <a:t>respectivos Apêndices, conforme aplicável, observado que, após a Data Limite de Investimento em</a:t>
                      </a:r>
                    </a:p>
                    <a:p>
                      <a:pPr algn="l">
                        <a:lnSpc>
                          <a:spcPct val="100000"/>
                        </a:lnSpc>
                        <a:spcBef>
                          <a:spcPts val="0"/>
                        </a:spcBef>
                        <a:spcAft>
                          <a:spcPts val="0"/>
                        </a:spcAft>
                      </a:pPr>
                      <a:r>
                        <a:rPr sz="1300" b="0">
                          <a:solidFill>
                            <a:srgbClr val="1F1F1F"/>
                          </a:solidFill>
                          <a:latin typeface="Calibri"/>
                        </a:rPr>
                        <a:t>Direitos Creditórios e/ou em caso de Evento de Amortização Acelerada e/ou Evento de Liquidação, a</a:t>
                      </a:r>
                    </a:p>
                    <a:p>
                      <a:pPr algn="l">
                        <a:lnSpc>
                          <a:spcPct val="100000"/>
                        </a:lnSpc>
                        <a:spcBef>
                          <a:spcPts val="0"/>
                        </a:spcBef>
                        <a:spcAft>
                          <a:spcPts val="0"/>
                        </a:spcAft>
                      </a:pPr>
                      <a:r>
                        <a:rPr sz="1300" b="0">
                          <a:solidFill>
                            <a:srgbClr val="1F1F1F"/>
                          </a:solidFill>
                          <a:latin typeface="Calibri"/>
                        </a:rPr>
                        <a:t>ausência de amortização de Cotas Subordinadas Mezanino, nos termos da ordem de alocação de recursos</a:t>
                      </a:r>
                    </a:p>
                    <a:p>
                      <a:pPr algn="l">
                        <a:lnSpc>
                          <a:spcPct val="100000"/>
                        </a:lnSpc>
                        <a:spcBef>
                          <a:spcPts val="0"/>
                        </a:spcBef>
                        <a:spcAft>
                          <a:spcPts val="0"/>
                        </a:spcAft>
                      </a:pPr>
                      <a:r>
                        <a:rPr sz="1300" b="0">
                          <a:solidFill>
                            <a:srgbClr val="1F1F1F"/>
                          </a:solidFill>
                          <a:latin typeface="Calibri"/>
                        </a:rPr>
                        <a:t>prevista no item 20.3, enquanto não houver a amortização integral/resgate de todas as Cotas</a:t>
                      </a:r>
                    </a:p>
                    <a:p>
                      <a:pPr algn="l">
                        <a:lnSpc>
                          <a:spcPct val="100000"/>
                        </a:lnSpc>
                        <a:spcBef>
                          <a:spcPts val="0"/>
                        </a:spcBef>
                        <a:spcAft>
                          <a:spcPts val="0"/>
                        </a:spcAft>
                      </a:pPr>
                      <a:r>
                        <a:rPr sz="1300" b="0">
                          <a:solidFill>
                            <a:srgbClr val="1F1F1F"/>
                          </a:solidFill>
                          <a:latin typeface="Calibri"/>
                        </a:rPr>
                        <a:t>Seniores, não será considerada um Evento de Avaliação;.</a:t>
                      </a:r>
                    </a:p>
                  </a:txBody>
                  <a:tcPr marL="91440" marR="91440" marT="41148" marB="41148" anchor="ctr">
                    <a:solidFill>
                      <a:srgbClr val="FFFFFF"/>
                    </a:solidFill>
                    <a:lnL>
                      <a:noFill/>
                    </a:lnL>
                    <a:lnR>
                      <a:noFill/>
                    </a:lnR>
                    <a:lnT>
                      <a:noFill/>
                    </a:lnT>
                    <a:lnB>
                      <a:noFill/>
                    </a:lnB>
                  </a:tcPr>
                </a:tc>
              </a:tr>
              <a:tr h="658368">
                <a:tc>
                  <a:txBody>
                    <a:bodyPr wrap="square">
                      <a:noAutofit/>
                    </a:bodyPr>
                    <a:lstStyle/>
                    <a:p>
                      <a:pPr algn="l">
                        <a:lnSpc>
                          <a:spcPct val="100000"/>
                        </a:lnSpc>
                        <a:spcBef>
                          <a:spcPts val="0"/>
                        </a:spcBef>
                        <a:spcAft>
                          <a:spcPts val="0"/>
                        </a:spcAft>
                      </a:pPr>
                      <a:r>
                        <a:rPr sz="1300" b="1">
                          <a:solidFill>
                            <a:srgbClr val="1F1F1F"/>
                          </a:solidFill>
                          <a:latin typeface="Calibri"/>
                        </a:rPr>
                        <a:t>Volume, VNU e emissão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Quantidade de Cotas Será o resultado da divisão do "Valor Total das Cotas Subordinadas Mezanino A</a:t>
                      </a:r>
                    </a:p>
                    <a:p>
                      <a:pPr algn="l">
                        <a:lnSpc>
                          <a:spcPct val="100000"/>
                        </a:lnSpc>
                        <a:spcBef>
                          <a:spcPts val="0"/>
                        </a:spcBef>
                        <a:spcAft>
                          <a:spcPts val="0"/>
                        </a:spcAft>
                      </a:pPr>
                      <a:r>
                        <a:rPr sz="1300" b="0">
                          <a:solidFill>
                            <a:srgbClr val="1F1F1F"/>
                          </a:solidFill>
                          <a:latin typeface="Calibri"/>
                        </a:rPr>
                        <a:t>Subordinadas Mezanino A da Emissão" pelo "Valor Nominal Unitário de Emissão" na abertura da Data da</a:t>
                      </a:r>
                    </a:p>
                    <a:p>
                      <a:pPr algn="l">
                        <a:lnSpc>
                          <a:spcPct val="100000"/>
                        </a:lnSpc>
                        <a:spcBef>
                          <a:spcPts val="0"/>
                        </a:spcBef>
                        <a:spcAft>
                          <a:spcPts val="0"/>
                        </a:spcAft>
                      </a:pPr>
                      <a:r>
                        <a:rPr sz="1300" b="0">
                          <a:solidFill>
                            <a:srgbClr val="1F1F1F"/>
                          </a:solidFill>
                          <a:latin typeface="Calibri"/>
                        </a:rPr>
                        <a:t>Conversão. [</a:t>
                      </a:r>
                    </a:p>
                  </a:txBody>
                  <a:tcPr marL="91440" marR="91440" marT="41148" marB="41148" anchor="ctr">
                    <a:solidFill>
                      <a:srgbClr val="FFFFFF"/>
                    </a:solidFill>
                    <a:lnL>
                      <a:noFill/>
                    </a:lnL>
                    <a:lnR>
                      <a:noFill/>
                    </a:lnR>
                    <a:lnT>
                      <a:noFill/>
                    </a:lnT>
                    <a:lnB>
                      <a:noFill/>
                    </a:lnB>
                  </a:tcPr>
                </a:tc>
              </a:tr>
              <a:tr h="470916">
                <a:tc>
                  <a:txBody>
                    <a:bodyPr wrap="square">
                      <a:noAutofit/>
                    </a:bodyPr>
                    <a:lstStyle/>
                    <a:p>
                      <a:pPr algn="l">
                        <a:lnSpc>
                          <a:spcPct val="100000"/>
                        </a:lnSpc>
                        <a:spcBef>
                          <a:spcPts val="0"/>
                        </a:spcBef>
                        <a:spcAft>
                          <a:spcPts val="0"/>
                        </a:spcAft>
                      </a:pPr>
                      <a:r>
                        <a:rPr sz="1300" b="1">
                          <a:solidFill>
                            <a:srgbClr val="1F1F1F"/>
                          </a:solidFill>
                          <a:latin typeface="Calibri"/>
                        </a:rPr>
                        <a:t>Administração: taxa,</a:t>
                      </a:r>
                    </a:p>
                    <a:p>
                      <a:pPr algn="l">
                        <a:lnSpc>
                          <a:spcPct val="100000"/>
                        </a:lnSpc>
                        <a:spcBef>
                          <a:spcPts val="0"/>
                        </a:spcBef>
                        <a:spcAft>
                          <a:spcPts val="0"/>
                        </a:spcAft>
                      </a:pPr>
                      <a:r>
                        <a:rPr sz="1300" b="1">
                          <a:solidFill>
                            <a:srgbClr val="1F1F1F"/>
                          </a:solidFill>
                          <a:latin typeface="Calibri"/>
                        </a:rPr>
                        <a:t>base emínimo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0, 075% a.a. sobre PL; mínimo R$ 15 mil/mês, incluindo custódia/escrituração. Provisão diária e</a:t>
                      </a:r>
                    </a:p>
                    <a:p>
                      <a:pPr algn="l">
                        <a:lnSpc>
                          <a:spcPct val="100000"/>
                        </a:lnSpc>
                        <a:spcBef>
                          <a:spcPts val="0"/>
                        </a:spcBef>
                        <a:spcAft>
                          <a:spcPts val="0"/>
                        </a:spcAft>
                      </a:pPr>
                      <a:r>
                        <a:rPr sz="1300" b="0">
                          <a:solidFill>
                            <a:srgbClr val="1F1F1F"/>
                          </a:solidFill>
                          <a:latin typeface="Calibri"/>
                        </a:rPr>
                        <a:t>pagamento no 5º dia útil; valores fixos corrigidos anualmente pelo IPCA.</a:t>
                      </a:r>
                    </a:p>
                  </a:txBody>
                  <a:tcPr marL="91440" marR="91440" marT="41148" marB="41148" anchor="ctr">
                    <a:solidFill>
                      <a:srgbClr val="FFFFFF"/>
                    </a:solidFill>
                    <a:lnL>
                      <a:noFill/>
                    </a:lnL>
                    <a:lnR>
                      <a:noFill/>
                    </a:lnR>
                    <a:lnT>
                      <a:noFill/>
                    </a:lnT>
                    <a:lnB>
                      <a:noFill/>
                    </a:lnB>
                  </a:tcPr>
                </a:tc>
              </a:tr>
              <a:tr h="658368">
                <a:tc>
                  <a:txBody>
                    <a:bodyPr wrap="square">
                      <a:noAutofit/>
                    </a:bodyPr>
                    <a:lstStyle/>
                    <a:p>
                      <a:pPr algn="l">
                        <a:lnSpc>
                          <a:spcPct val="100000"/>
                        </a:lnSpc>
                        <a:spcBef>
                          <a:spcPts val="0"/>
                        </a:spcBef>
                        <a:spcAft>
                          <a:spcPts val="0"/>
                        </a:spcAft>
                      </a:pPr>
                      <a:r>
                        <a:rPr sz="1300" b="1">
                          <a:solidFill>
                            <a:srgbClr val="1F1F1F"/>
                          </a:solidFill>
                          <a:latin typeface="Calibri"/>
                        </a:rPr>
                        <a:t>Gestão: taxa, base</a:t>
                      </a:r>
                    </a:p>
                    <a:p>
                      <a:pPr algn="l">
                        <a:lnSpc>
                          <a:spcPct val="100000"/>
                        </a:lnSpc>
                        <a:spcBef>
                          <a:spcPts val="0"/>
                        </a:spcBef>
                        <a:spcAft>
                          <a:spcPts val="0"/>
                        </a:spcAft>
                      </a:pPr>
                      <a:r>
                        <a:rPr sz="1300" b="1">
                          <a:solidFill>
                            <a:srgbClr val="1F1F1F"/>
                          </a:solidFill>
                          <a:latin typeface="Calibri"/>
                        </a:rPr>
                        <a:t>emínimo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Percentuais por faixas da soma de PL Mercado Crédito II + Mercado Crédito 0: 0, 20% até R$ 2, 1</a:t>
                      </a:r>
                    </a:p>
                    <a:p>
                      <a:pPr algn="l">
                        <a:lnSpc>
                          <a:spcPct val="100000"/>
                        </a:lnSpc>
                        <a:spcBef>
                          <a:spcPts val="0"/>
                        </a:spcBef>
                        <a:spcAft>
                          <a:spcPts val="0"/>
                        </a:spcAft>
                      </a:pPr>
                      <a:r>
                        <a:rPr sz="1300" b="0">
                          <a:solidFill>
                            <a:srgbClr val="1F1F1F"/>
                          </a:solidFill>
                          <a:latin typeface="Calibri"/>
                        </a:rPr>
                        <a:t>bilhões; 0, 15% de 2, 1 a 2, 5 bilhões; 0, 13% de 2, 5 a 3 bilhões; 0, 10% acima de 3 bilhões. Teto</a:t>
                      </a:r>
                    </a:p>
                    <a:p>
                      <a:pPr algn="l">
                        <a:lnSpc>
                          <a:spcPct val="100000"/>
                        </a:lnSpc>
                        <a:spcBef>
                          <a:spcPts val="0"/>
                        </a:spcBef>
                        <a:spcAft>
                          <a:spcPts val="0"/>
                        </a:spcAft>
                      </a:pPr>
                      <a:r>
                        <a:rPr sz="1300" b="0">
                          <a:solidFill>
                            <a:srgbClr val="1F1F1F"/>
                          </a:solidFill>
                          <a:latin typeface="Calibri"/>
                        </a:rPr>
                        <a:t>de 0, 20% do PL próprio se o outro fundo sair da gestão.</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151/160</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PLGN Marketplace · vínculo CNPJ 41970012000126 · Emissões e custos</a:t>
            </a:r>
          </a:p>
        </p:txBody>
      </p:sp>
      <p:graphicFrame>
        <p:nvGraphicFramePr>
          <p:cNvPr id="3" name="Table 2"/>
          <p:cNvGraphicFramePr>
            <a:graphicFrameLocks noGrp="1"/>
          </p:cNvGraphicFramePr>
          <p:nvPr/>
        </p:nvGraphicFramePr>
        <p:xfrm>
          <a:off x="438912" y="932688"/>
          <a:ext cx="11313871" cy="3867912"/>
        </p:xfrm>
        <a:graphic>
          <a:graphicData uri="http://schemas.openxmlformats.org/drawingml/2006/table">
            <a:tbl>
              <a:tblPr>
                <a:tableStyleId>{5C22544A-7EE6-4342-B048-85BDC9FD1C3A}</a:tableStyleId>
              </a:tblPr>
              <a:tblGrid>
                <a:gridCol w="2331720"/>
                <a:gridCol w="8982151"/>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MC II · 41970012000126</a:t>
                      </a:r>
                    </a:p>
                  </a:txBody>
                  <a:tcPr marL="91440" marR="91440" marT="41148" marB="41148" anchor="ctr">
                    <a:solidFill>
                      <a:srgbClr val="F7F7F7"/>
                    </a:solidFill>
                    <a:lnL>
                      <a:noFill/>
                    </a:lnL>
                    <a:lnR>
                      <a:noFill/>
                    </a:lnR>
                    <a:lnT>
                      <a:noFill/>
                    </a:lnT>
                    <a:lnB w="6350">
                      <a:solidFill>
                        <a:srgbClr val="D9DEE5"/>
                      </a:solidFill>
                    </a:lnB>
                  </a:tcPr>
                </a:tc>
              </a:tr>
              <a:tr h="470916">
                <a:tc>
                  <a:txBody>
                    <a:bodyPr wrap="square">
                      <a:noAutofit/>
                    </a:bodyPr>
                    <a:lstStyle/>
                    <a:p>
                      <a:pPr algn="l">
                        <a:lnSpc>
                          <a:spcPct val="100000"/>
                        </a:lnSpc>
                        <a:spcBef>
                          <a:spcPts val="0"/>
                        </a:spcBef>
                        <a:spcAft>
                          <a:spcPts val="0"/>
                        </a:spcAft>
                      </a:pPr>
                      <a:r>
                        <a:rPr sz="1300" b="1">
                          <a:solidFill>
                            <a:srgbClr val="1F1F1F"/>
                          </a:solidFill>
                          <a:latin typeface="Calibri"/>
                        </a:rPr>
                        <a:t>Performance: benchmark</a:t>
                      </a:r>
                    </a:p>
                    <a:p>
                      <a:pPr algn="l">
                        <a:lnSpc>
                          <a:spcPct val="100000"/>
                        </a:lnSpc>
                        <a:spcBef>
                          <a:spcPts val="0"/>
                        </a:spcBef>
                        <a:spcAft>
                          <a:spcPts val="0"/>
                        </a:spcAft>
                      </a:pPr>
                      <a:r>
                        <a:rPr sz="1300" b="1">
                          <a:solidFill>
                            <a:srgbClr val="1F1F1F"/>
                          </a:solidFill>
                          <a:latin typeface="Calibri"/>
                        </a:rPr>
                        <a:t>eapuração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Cláusula não localizada</a:t>
                      </a:r>
                    </a:p>
                  </a:txBody>
                  <a:tcPr marL="91440" marR="91440" marT="41148" marB="41148" anchor="ctr">
                    <a:solidFill>
                      <a:srgbClr val="FFFFFF"/>
                    </a:solidFill>
                    <a:lnL>
                      <a:noFill/>
                    </a:lnL>
                    <a:lnR>
                      <a:noFill/>
                    </a:lnR>
                    <a:lnT>
                      <a:noFill/>
                    </a:lnT>
                    <a:lnB>
                      <a:noFill/>
                    </a:lnB>
                  </a:tcPr>
                </a:tc>
              </a:tr>
              <a:tr h="1783080">
                <a:tc>
                  <a:txBody>
                    <a:bodyPr wrap="square">
                      <a:noAutofit/>
                    </a:bodyPr>
                    <a:lstStyle/>
                    <a:p>
                      <a:pPr algn="l">
                        <a:lnSpc>
                          <a:spcPct val="100000"/>
                        </a:lnSpc>
                        <a:spcBef>
                          <a:spcPts val="0"/>
                        </a:spcBef>
                        <a:spcAft>
                          <a:spcPts val="0"/>
                        </a:spcAft>
                      </a:pPr>
                      <a:r>
                        <a:rPr sz="1300" b="1">
                          <a:solidFill>
                            <a:srgbClr val="1F1F1F"/>
                          </a:solidFill>
                          <a:latin typeface="Calibri"/>
                        </a:rPr>
                        <a:t>Custódia, escrituração e</a:t>
                      </a:r>
                    </a:p>
                    <a:p>
                      <a:pPr algn="l">
                        <a:lnSpc>
                          <a:spcPct val="100000"/>
                        </a:lnSpc>
                        <a:spcBef>
                          <a:spcPts val="0"/>
                        </a:spcBef>
                        <a:spcAft>
                          <a:spcPts val="0"/>
                        </a:spcAft>
                      </a:pPr>
                      <a:r>
                        <a:rPr sz="1300" b="1">
                          <a:solidFill>
                            <a:srgbClr val="1F1F1F"/>
                          </a:solidFill>
                          <a:latin typeface="Calibri"/>
                        </a:rPr>
                        <a:t>encargos</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20.2. Até a Data Limite de Investimento em Direitos Creditórios, e desde que não haja a ocorrência</a:t>
                      </a:r>
                    </a:p>
                    <a:p>
                      <a:pPr algn="l">
                        <a:lnSpc>
                          <a:spcPct val="100000"/>
                        </a:lnSpc>
                        <a:spcBef>
                          <a:spcPts val="0"/>
                        </a:spcBef>
                        <a:spcAft>
                          <a:spcPts val="0"/>
                        </a:spcAft>
                      </a:pPr>
                      <a:r>
                        <a:rPr sz="1300" b="0">
                          <a:solidFill>
                            <a:srgbClr val="1F1F1F"/>
                          </a:solidFill>
                          <a:latin typeface="Calibri"/>
                        </a:rPr>
                        <a:t>de um Evento de Amortização Acelerada, de um Evento de Avaliação ou de um Evento de Liquidação do</a:t>
                      </a:r>
                    </a:p>
                    <a:p>
                      <a:pPr algn="l">
                        <a:lnSpc>
                          <a:spcPct val="100000"/>
                        </a:lnSpc>
                        <a:spcBef>
                          <a:spcPts val="0"/>
                        </a:spcBef>
                        <a:spcAft>
                          <a:spcPts val="0"/>
                        </a:spcAft>
                      </a:pPr>
                      <a:r>
                        <a:rPr sz="1300" b="0">
                          <a:solidFill>
                            <a:srgbClr val="1F1F1F"/>
                          </a:solidFill>
                          <a:latin typeface="Calibri"/>
                        </a:rPr>
                        <a:t>Fundo, o Administrador deverá, em cada Dia Útil, por meio dos competentes débitos realizados na</a:t>
                      </a:r>
                    </a:p>
                    <a:p>
                      <a:pPr algn="l">
                        <a:lnSpc>
                          <a:spcPct val="100000"/>
                        </a:lnSpc>
                        <a:spcBef>
                          <a:spcPts val="0"/>
                        </a:spcBef>
                        <a:spcAft>
                          <a:spcPts val="0"/>
                        </a:spcAft>
                      </a:pPr>
                      <a:r>
                        <a:rPr sz="1300" b="0">
                          <a:solidFill>
                            <a:srgbClr val="1F1F1F"/>
                          </a:solidFill>
                          <a:latin typeface="Calibri"/>
                        </a:rPr>
                        <a:t>Conta de Pagamento, na Conta do Fundo, alocar os recursos decorrentes da integralização das Cotas e</a:t>
                      </a:r>
                    </a:p>
                    <a:p>
                      <a:pPr algn="l">
                        <a:lnSpc>
                          <a:spcPct val="100000"/>
                        </a:lnSpc>
                        <a:spcBef>
                          <a:spcPts val="0"/>
                        </a:spcBef>
                        <a:spcAft>
                          <a:spcPts val="0"/>
                        </a:spcAft>
                      </a:pPr>
                      <a:r>
                        <a:rPr sz="1300" b="0">
                          <a:solidFill>
                            <a:srgbClr val="1F1F1F"/>
                          </a:solidFill>
                          <a:latin typeface="Calibri"/>
                        </a:rPr>
                        <a:t>do recebimento de recursos provenientes da Carteira do Fundo, na seguinte ordem, conforme aplicável:</a:t>
                      </a:r>
                    </a:p>
                    <a:p>
                      <a:pPr algn="l">
                        <a:lnSpc>
                          <a:spcPct val="100000"/>
                        </a:lnSpc>
                        <a:spcBef>
                          <a:spcPts val="0"/>
                        </a:spcBef>
                        <a:spcAft>
                          <a:spcPts val="0"/>
                        </a:spcAft>
                      </a:pPr>
                      <a:r>
                        <a:rPr sz="1300" b="0">
                          <a:solidFill>
                            <a:srgbClr val="1F1F1F"/>
                          </a:solidFill>
                          <a:latin typeface="Calibri"/>
                        </a:rPr>
                        <a:t>(i) pagamento de despesas e encargos de responsabilidade do Fundo, devidos nos termos deste</a:t>
                      </a:r>
                    </a:p>
                    <a:p>
                      <a:pPr algn="l">
                        <a:lnSpc>
                          <a:spcPct val="100000"/>
                        </a:lnSpc>
                        <a:spcBef>
                          <a:spcPts val="0"/>
                        </a:spcBef>
                        <a:spcAft>
                          <a:spcPts val="0"/>
                        </a:spcAft>
                      </a:pPr>
                      <a:r>
                        <a:rPr sz="1300" b="0">
                          <a:solidFill>
                            <a:srgbClr val="1F1F1F"/>
                          </a:solidFill>
                          <a:latin typeface="Calibri"/>
                        </a:rPr>
                        <a:t>Regulamento e da legislação aplicável, incluindo a Taxa de Administração, a Taxa de Custódia e a</a:t>
                      </a:r>
                    </a:p>
                    <a:p>
                      <a:pPr algn="l">
                        <a:lnSpc>
                          <a:spcPct val="100000"/>
                        </a:lnSpc>
                        <a:spcBef>
                          <a:spcPts val="0"/>
                        </a:spcBef>
                        <a:spcAft>
                          <a:spcPts val="0"/>
                        </a:spcAft>
                      </a:pPr>
                      <a:r>
                        <a:rPr sz="1300" b="0">
                          <a:solidFill>
                            <a:srgbClr val="1F1F1F"/>
                          </a:solidFill>
                          <a:latin typeface="Calibri"/>
                        </a:rPr>
                        <a:t>Taxa de Gestão, exceto pela remuneração do Agente de Recebimento e do Agente de Cobrança e pelo</a:t>
                      </a:r>
                    </a:p>
                    <a:p>
                      <a:pPr algn="l">
                        <a:lnSpc>
                          <a:spcPct val="100000"/>
                        </a:lnSpc>
                        <a:spcBef>
                          <a:spcPts val="0"/>
                        </a:spcBef>
                        <a:spcAft>
                          <a:spcPts val="0"/>
                        </a:spcAft>
                      </a:pPr>
                      <a:r>
                        <a:rPr sz="1300" b="0">
                          <a:solidFill>
                            <a:srgbClr val="1F1F1F"/>
                          </a:solidFill>
                          <a:latin typeface="Calibri"/>
                        </a:rPr>
                        <a:t>Reembolso de Despesas do Agente de Cobrança;.</a:t>
                      </a:r>
                    </a:p>
                  </a:txBody>
                  <a:tcPr marL="91440" marR="91440" marT="41148" marB="41148" anchor="ctr">
                    <a:solidFill>
                      <a:srgbClr val="FFFFFF"/>
                    </a:solidFill>
                    <a:lnL>
                      <a:noFill/>
                    </a:lnL>
                    <a:lnR>
                      <a:noFill/>
                    </a:lnR>
                    <a:lnT>
                      <a:noFill/>
                    </a:lnT>
                    <a:lnB>
                      <a:noFill/>
                    </a:lnB>
                  </a:tcPr>
                </a:tc>
              </a:tr>
              <a:tr h="1220724">
                <a:tc>
                  <a:txBody>
                    <a:bodyPr wrap="square">
                      <a:noAutofit/>
                    </a:bodyPr>
                    <a:lstStyle/>
                    <a:p>
                      <a:pPr algn="l">
                        <a:lnSpc>
                          <a:spcPct val="100000"/>
                        </a:lnSpc>
                        <a:spcBef>
                          <a:spcPts val="0"/>
                        </a:spcBef>
                        <a:spcAft>
                          <a:spcPts val="0"/>
                        </a:spcAft>
                      </a:pPr>
                      <a:r>
                        <a:rPr sz="1300" b="1">
                          <a:solidFill>
                            <a:srgbClr val="1F1F1F"/>
                          </a:solidFill>
                          <a:latin typeface="Calibri"/>
                        </a:rPr>
                        <a:t>Classes e séries de</a:t>
                      </a:r>
                    </a:p>
                    <a:p>
                      <a:pPr algn="l">
                        <a:lnSpc>
                          <a:spcPct val="100000"/>
                        </a:lnSpc>
                        <a:spcBef>
                          <a:spcPts val="0"/>
                        </a:spcBef>
                        <a:spcAft>
                          <a:spcPts val="0"/>
                        </a:spcAft>
                      </a:pPr>
                      <a:r>
                        <a:rPr sz="1300" b="1">
                          <a:solidFill>
                            <a:srgbClr val="1F1F1F"/>
                          </a:solidFill>
                          <a:latin typeface="Calibri"/>
                        </a:rPr>
                        <a:t>cotas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Os Cotistas, por unanimidade, sem quaisquer reservas ou restrições, aprovaram (i) o aumento no</a:t>
                      </a:r>
                    </a:p>
                    <a:p>
                      <a:pPr algn="l">
                        <a:lnSpc>
                          <a:spcPct val="100000"/>
                        </a:lnSpc>
                        <a:spcBef>
                          <a:spcPts val="0"/>
                        </a:spcBef>
                        <a:spcAft>
                          <a:spcPts val="0"/>
                        </a:spcAft>
                      </a:pPr>
                      <a:r>
                        <a:rPr sz="1300" b="0">
                          <a:solidFill>
                            <a:srgbClr val="1F1F1F"/>
                          </a:solidFill>
                          <a:latin typeface="Calibri"/>
                        </a:rPr>
                        <a:t>montante da Terceira Emissão de Cotas Seniores da classe única do Fundo, conforme aprovada na</a:t>
                      </a:r>
                    </a:p>
                    <a:p>
                      <a:pPr algn="l">
                        <a:lnSpc>
                          <a:spcPct val="100000"/>
                        </a:lnSpc>
                        <a:spcBef>
                          <a:spcPts val="0"/>
                        </a:spcBef>
                        <a:spcAft>
                          <a:spcPts val="0"/>
                        </a:spcAft>
                      </a:pPr>
                      <a:r>
                        <a:rPr sz="1300" b="0">
                          <a:solidFill>
                            <a:srgbClr val="1F1F1F"/>
                          </a:solidFill>
                          <a:latin typeface="Calibri"/>
                        </a:rPr>
                        <a:t>Assembleia Geral de Cotistas realizada em 20 de agosto de 2026, no valor de R$ 145.333,56 (cento e</a:t>
                      </a:r>
                    </a:p>
                    <a:p>
                      <a:pPr algn="l">
                        <a:lnSpc>
                          <a:spcPct val="100000"/>
                        </a:lnSpc>
                        <a:spcBef>
                          <a:spcPts val="0"/>
                        </a:spcBef>
                        <a:spcAft>
                          <a:spcPts val="0"/>
                        </a:spcAft>
                      </a:pPr>
                      <a:r>
                        <a:rPr sz="1300" b="0">
                          <a:solidFill>
                            <a:srgbClr val="1F1F1F"/>
                          </a:solidFill>
                          <a:latin typeface="Calibri"/>
                        </a:rPr>
                        <a:t>quarenta e cinco mil, trezentos e trinta e três reais e cinquenta e seis centavos), passando a</a:t>
                      </a:r>
                    </a:p>
                    <a:p>
                      <a:pPr algn="l">
                        <a:lnSpc>
                          <a:spcPct val="100000"/>
                        </a:lnSpc>
                        <a:spcBef>
                          <a:spcPts val="0"/>
                        </a:spcBef>
                        <a:spcAft>
                          <a:spcPts val="0"/>
                        </a:spcAft>
                      </a:pPr>
                      <a:r>
                        <a:rPr sz="1300" b="0">
                          <a:solidFill>
                            <a:srgbClr val="1F1F1F"/>
                          </a:solidFill>
                          <a:latin typeface="Calibri"/>
                        </a:rPr>
                        <a:t>Terceira Emissão de Cotas Seniores a perfazer a quantia total de R$ 500.146.172,40 (quinhentos</a:t>
                      </a:r>
                    </a:p>
                    <a:p>
                      <a:pPr algn="l">
                        <a:lnSpc>
                          <a:spcPct val="100000"/>
                        </a:lnSpc>
                        <a:spcBef>
                          <a:spcPts val="0"/>
                        </a:spcBef>
                        <a:spcAft>
                          <a:spcPts val="0"/>
                        </a:spcAft>
                      </a:pPr>
                      <a:r>
                        <a:rPr sz="1300" b="0">
                          <a:solidFill>
                            <a:srgbClr val="1F1F1F"/>
                          </a:solidFill>
                          <a:latin typeface="Calibri"/>
                        </a:rPr>
                        <a:t>milhões, cento e quarenta e seis mil, cento e setenta e dois reais e quarenta centavos;.</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152/160</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PLGN Marketplace · vínculo CNPJ 41970012000126 · Emissões e custos</a:t>
            </a:r>
          </a:p>
        </p:txBody>
      </p:sp>
      <p:graphicFrame>
        <p:nvGraphicFramePr>
          <p:cNvPr id="3" name="Table 2"/>
          <p:cNvGraphicFramePr>
            <a:graphicFrameLocks noGrp="1"/>
          </p:cNvGraphicFramePr>
          <p:nvPr/>
        </p:nvGraphicFramePr>
        <p:xfrm>
          <a:off x="438912" y="932688"/>
          <a:ext cx="11313871" cy="3300983"/>
        </p:xfrm>
        <a:graphic>
          <a:graphicData uri="http://schemas.openxmlformats.org/drawingml/2006/table">
            <a:tbl>
              <a:tblPr>
                <a:tableStyleId>{5C22544A-7EE6-4342-B048-85BDC9FD1C3A}</a:tableStyleId>
              </a:tblPr>
              <a:tblGrid>
                <a:gridCol w="2331720"/>
                <a:gridCol w="8982151"/>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MC II · 41970012000126</a:t>
                      </a:r>
                    </a:p>
                  </a:txBody>
                  <a:tcPr marL="91440" marR="91440" marT="41148" marB="41148" anchor="ctr">
                    <a:solidFill>
                      <a:srgbClr val="F7F7F7"/>
                    </a:solidFill>
                    <a:lnL>
                      <a:noFill/>
                    </a:lnL>
                    <a:lnR>
                      <a:noFill/>
                    </a:lnR>
                    <a:lnT>
                      <a:noFill/>
                    </a:lnT>
                    <a:lnB w="6350">
                      <a:solidFill>
                        <a:srgbClr val="D9DEE5"/>
                      </a:solidFill>
                    </a:lnB>
                  </a:tcPr>
                </a:tc>
              </a:tr>
              <a:tr h="2907791">
                <a:tc>
                  <a:txBody>
                    <a:bodyPr wrap="square">
                      <a:noAutofit/>
                    </a:bodyPr>
                    <a:lstStyle/>
                    <a:p>
                      <a:pPr algn="l">
                        <a:lnSpc>
                          <a:spcPct val="100000"/>
                        </a:lnSpc>
                        <a:spcBef>
                          <a:spcPts val="0"/>
                        </a:spcBef>
                        <a:spcAft>
                          <a:spcPts val="0"/>
                        </a:spcAft>
                      </a:pPr>
                      <a:r>
                        <a:rPr sz="1300" b="1">
                          <a:solidFill>
                            <a:srgbClr val="1F1F1F"/>
                          </a:solidFill>
                          <a:latin typeface="Calibri"/>
                        </a:rPr>
                        <a:t>Ofertas e colocação</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18.8.1. Poderão ser contratados, mediante celebração de instrumento de adesão ao respectivo contrato</a:t>
                      </a:r>
                    </a:p>
                    <a:p>
                      <a:pPr algn="l">
                        <a:lnSpc>
                          <a:spcPct val="100000"/>
                        </a:lnSpc>
                        <a:spcBef>
                          <a:spcPts val="0"/>
                        </a:spcBef>
                        <a:spcAft>
                          <a:spcPts val="0"/>
                        </a:spcAft>
                      </a:pPr>
                      <a:r>
                        <a:rPr sz="1300" b="0">
                          <a:solidFill>
                            <a:srgbClr val="1F1F1F"/>
                          </a:solidFill>
                          <a:latin typeface="Calibri"/>
                        </a:rPr>
                        <a:t>de distribuição, independentemente de realização de Assembleia Geral de Cotistas, outras</a:t>
                      </a:r>
                    </a:p>
                    <a:p>
                      <a:pPr algn="l">
                        <a:lnSpc>
                          <a:spcPct val="100000"/>
                        </a:lnSpc>
                        <a:spcBef>
                          <a:spcPts val="0"/>
                        </a:spcBef>
                        <a:spcAft>
                          <a:spcPts val="0"/>
                        </a:spcAft>
                      </a:pPr>
                      <a:r>
                        <a:rPr sz="1300" b="0">
                          <a:solidFill>
                            <a:srgbClr val="1F1F1F"/>
                          </a:solidFill>
                          <a:latin typeface="Calibri"/>
                        </a:rPr>
                        <a:t>instituições integrantes do sistema de distribuição de valores mobiliários, desde que aprovadas pelo</a:t>
                      </a:r>
                    </a:p>
                    <a:p>
                      <a:pPr algn="l">
                        <a:lnSpc>
                          <a:spcPct val="100000"/>
                        </a:lnSpc>
                        <a:spcBef>
                          <a:spcPts val="0"/>
                        </a:spcBef>
                        <a:spcAft>
                          <a:spcPts val="0"/>
                        </a:spcAft>
                      </a:pPr>
                      <a:r>
                        <a:rPr sz="1300" b="0">
                          <a:solidFill>
                            <a:srgbClr val="1F1F1F"/>
                          </a:solidFill>
                          <a:latin typeface="Calibri"/>
                        </a:rPr>
                        <a:t>Coordenador Líder e pelo Gestor, para realizarem a distribuição das Cotas.</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Forma de Distribuição Oferta pública destinada a Investidores Profissionais, nos termos do artigo</a:t>
                      </a:r>
                    </a:p>
                    <a:p>
                      <a:pPr algn="l">
                        <a:lnSpc>
                          <a:spcPct val="100000"/>
                        </a:lnSpc>
                        <a:spcBef>
                          <a:spcPts val="0"/>
                        </a:spcBef>
                        <a:spcAft>
                          <a:spcPts val="0"/>
                        </a:spcAft>
                      </a:pPr>
                      <a:r>
                        <a:rPr sz="1300" b="0">
                          <a:solidFill>
                            <a:srgbClr val="1F1F1F"/>
                          </a:solidFill>
                          <a:latin typeface="Calibri"/>
                        </a:rPr>
                        <a:t>26, inciso VII, da Resolução CVM 160.</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(vii) a realização de oferta pública da Terceira Emissão de Cotas Seniores, sob o regime de melhores</a:t>
                      </a:r>
                    </a:p>
                    <a:p>
                      <a:pPr algn="l">
                        <a:lnSpc>
                          <a:spcPct val="100000"/>
                        </a:lnSpc>
                        <a:spcBef>
                          <a:spcPts val="0"/>
                        </a:spcBef>
                        <a:spcAft>
                          <a:spcPts val="0"/>
                        </a:spcAft>
                      </a:pPr>
                      <a:r>
                        <a:rPr sz="1300" b="0">
                          <a:solidFill>
                            <a:srgbClr val="1F1F1F"/>
                          </a:solidFill>
                          <a:latin typeface="Calibri"/>
                        </a:rPr>
                        <a:t>esforços de colocação, destinada a Investidores Profissionais, submetida ao rito de registro</a:t>
                      </a:r>
                    </a:p>
                    <a:p>
                      <a:pPr algn="l">
                        <a:lnSpc>
                          <a:spcPct val="100000"/>
                        </a:lnSpc>
                        <a:spcBef>
                          <a:spcPts val="0"/>
                        </a:spcBef>
                        <a:spcAft>
                          <a:spcPts val="0"/>
                        </a:spcAft>
                      </a:pPr>
                      <a:r>
                        <a:rPr sz="1300" b="0">
                          <a:solidFill>
                            <a:srgbClr val="1F1F1F"/>
                          </a:solidFill>
                          <a:latin typeface="Calibri"/>
                        </a:rPr>
                        <a:t>automático na CVM, nos termos do artigo 26, inciso VII, alínea "a", da Resolução da CVM nº 160, de</a:t>
                      </a:r>
                    </a:p>
                    <a:p>
                      <a:pPr algn="l">
                        <a:lnSpc>
                          <a:spcPct val="100000"/>
                        </a:lnSpc>
                        <a:spcBef>
                          <a:spcPts val="0"/>
                        </a:spcBef>
                        <a:spcAft>
                          <a:spcPts val="0"/>
                        </a:spcAft>
                      </a:pPr>
                      <a:r>
                        <a:rPr sz="1300" b="0">
                          <a:solidFill>
                            <a:srgbClr val="1F1F1F"/>
                          </a:solidFill>
                          <a:latin typeface="Calibri"/>
                        </a:rPr>
                        <a:t>13 de julho de 2022, bem como aprovação da contratação do Administrador para atuar como instituição</a:t>
                      </a:r>
                    </a:p>
                    <a:p>
                      <a:pPr algn="l">
                        <a:lnSpc>
                          <a:spcPct val="100000"/>
                        </a:lnSpc>
                        <a:spcBef>
                          <a:spcPts val="0"/>
                        </a:spcBef>
                        <a:spcAft>
                          <a:spcPts val="0"/>
                        </a:spcAft>
                      </a:pPr>
                      <a:r>
                        <a:rPr sz="1300" b="0">
                          <a:solidFill>
                            <a:srgbClr val="1F1F1F"/>
                          </a:solidFill>
                          <a:latin typeface="Calibri"/>
                        </a:rPr>
                        <a:t>intermediária líder da oferta pública da Terceira Emissão de Cotas Seniores, observadas as</a:t>
                      </a:r>
                    </a:p>
                    <a:p>
                      <a:pPr algn="l">
                        <a:lnSpc>
                          <a:spcPct val="100000"/>
                        </a:lnSpc>
                        <a:spcBef>
                          <a:spcPts val="0"/>
                        </a:spcBef>
                        <a:spcAft>
                          <a:spcPts val="0"/>
                        </a:spcAft>
                      </a:pPr>
                      <a:r>
                        <a:rPr sz="1300" b="0">
                          <a:solidFill>
                            <a:srgbClr val="1F1F1F"/>
                          </a:solidFill>
                          <a:latin typeface="Calibri"/>
                        </a:rPr>
                        <a:t>características constantes do Complemento IX anexo ao Regulamento da Classe (Anexo A deste</a:t>
                      </a:r>
                    </a:p>
                    <a:p>
                      <a:pPr algn="l">
                        <a:lnSpc>
                          <a:spcPct val="100000"/>
                        </a:lnSpc>
                        <a:spcBef>
                          <a:spcPts val="0"/>
                        </a:spcBef>
                        <a:spcAft>
                          <a:spcPts val="0"/>
                        </a:spcAft>
                      </a:pPr>
                      <a:r>
                        <a:rPr sz="1300" b="0">
                          <a:solidFill>
                            <a:srgbClr val="1F1F1F"/>
                          </a:solidFill>
                          <a:latin typeface="Calibri"/>
                        </a:rPr>
                        <a:t>instrumento);</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153/160</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PLGN Marketplace · vínculo CNPJ 41970012000126 · Governança e alterações</a:t>
            </a:r>
          </a:p>
        </p:txBody>
      </p:sp>
      <p:graphicFrame>
        <p:nvGraphicFramePr>
          <p:cNvPr id="3" name="Table 2"/>
          <p:cNvGraphicFramePr>
            <a:graphicFrameLocks noGrp="1"/>
          </p:cNvGraphicFramePr>
          <p:nvPr/>
        </p:nvGraphicFramePr>
        <p:xfrm>
          <a:off x="438912" y="932688"/>
          <a:ext cx="11313871" cy="3113531"/>
        </p:xfrm>
        <a:graphic>
          <a:graphicData uri="http://schemas.openxmlformats.org/drawingml/2006/table">
            <a:tbl>
              <a:tblPr>
                <a:tableStyleId>{5C22544A-7EE6-4342-B048-85BDC9FD1C3A}</a:tableStyleId>
              </a:tblPr>
              <a:tblGrid>
                <a:gridCol w="2331720"/>
                <a:gridCol w="8982151"/>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MC II · 41970012000126</a:t>
                      </a:r>
                    </a:p>
                  </a:txBody>
                  <a:tcPr marL="91440" marR="91440" marT="41148" marB="41148" anchor="ctr">
                    <a:solidFill>
                      <a:srgbClr val="F7F7F7"/>
                    </a:solidFill>
                    <a:lnL>
                      <a:noFill/>
                    </a:lnL>
                    <a:lnR>
                      <a:noFill/>
                    </a:lnR>
                    <a:lnT>
                      <a:noFill/>
                    </a:lnT>
                    <a:lnB w="6350">
                      <a:solidFill>
                        <a:srgbClr val="D9DEE5"/>
                      </a:solidFill>
                    </a:lnB>
                  </a:tcPr>
                </a:tc>
              </a:tr>
              <a:tr h="2720339">
                <a:tc>
                  <a:txBody>
                    <a:bodyPr wrap="square">
                      <a:noAutofit/>
                    </a:bodyPr>
                    <a:lstStyle/>
                    <a:p>
                      <a:pPr algn="l">
                        <a:lnSpc>
                          <a:spcPct val="100000"/>
                        </a:lnSpc>
                        <a:spcBef>
                          <a:spcPts val="0"/>
                        </a:spcBef>
                        <a:spcAft>
                          <a:spcPts val="0"/>
                        </a:spcAft>
                      </a:pPr>
                      <a:r>
                        <a:rPr sz="1300" b="1">
                          <a:solidFill>
                            <a:srgbClr val="1F1F1F"/>
                          </a:solidFill>
                          <a:latin typeface="Calibri"/>
                        </a:rPr>
                        <a:t>Quóruns e matérias</a:t>
                      </a:r>
                    </a:p>
                    <a:p>
                      <a:pPr algn="l">
                        <a:lnSpc>
                          <a:spcPct val="100000"/>
                        </a:lnSpc>
                        <a:spcBef>
                          <a:spcPts val="0"/>
                        </a:spcBef>
                        <a:spcAft>
                          <a:spcPts val="0"/>
                        </a:spcAft>
                      </a:pPr>
                      <a:r>
                        <a:rPr sz="1300" b="1">
                          <a:solidFill>
                            <a:srgbClr val="1F1F1F"/>
                          </a:solidFill>
                          <a:latin typeface="Calibri"/>
                        </a:rPr>
                        <a:t>reservadas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9.3. Nas hipóteses em que qualquer Cotista se encontre em uma situação de conflito de interesse,</a:t>
                      </a:r>
                    </a:p>
                    <a:p>
                      <a:pPr algn="l">
                        <a:lnSpc>
                          <a:spcPct val="100000"/>
                        </a:lnSpc>
                        <a:spcBef>
                          <a:spcPts val="0"/>
                        </a:spcBef>
                        <a:spcAft>
                          <a:spcPts val="0"/>
                        </a:spcAft>
                      </a:pPr>
                      <a:r>
                        <a:rPr sz="1300" b="0">
                          <a:solidFill>
                            <a:srgbClr val="1F1F1F"/>
                          </a:solidFill>
                          <a:latin typeface="Calibri"/>
                        </a:rPr>
                        <a:t>conforme definição de "conflito de interesse" prevista no item 9.3.1 abaixo, suas Cotas não serão</a:t>
                      </a:r>
                    </a:p>
                    <a:p>
                      <a:pPr algn="l">
                        <a:lnSpc>
                          <a:spcPct val="100000"/>
                        </a:lnSpc>
                        <a:spcBef>
                          <a:spcPts val="0"/>
                        </a:spcBef>
                        <a:spcAft>
                          <a:spcPts val="0"/>
                        </a:spcAft>
                      </a:pPr>
                      <a:r>
                        <a:rPr sz="1300" b="0">
                          <a:solidFill>
                            <a:srgbClr val="1F1F1F"/>
                          </a:solidFill>
                          <a:latin typeface="Calibri"/>
                        </a:rPr>
                        <a:t>consideradas para fins de cômputo do respectivo quórum de deliberação, conforme previsto no item</a:t>
                      </a:r>
                    </a:p>
                    <a:p>
                      <a:pPr algn="l">
                        <a:lnSpc>
                          <a:spcPct val="100000"/>
                        </a:lnSpc>
                        <a:spcBef>
                          <a:spcPts val="0"/>
                        </a:spcBef>
                        <a:spcAft>
                          <a:spcPts val="0"/>
                        </a:spcAft>
                      </a:pPr>
                      <a:r>
                        <a:rPr sz="1300" b="0">
                          <a:solidFill>
                            <a:srgbClr val="1F1F1F"/>
                          </a:solidFill>
                          <a:latin typeface="Calibri"/>
                        </a:rPr>
                        <a:t>9.2.</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8.6. Caso a Assembleia Geral de Cotistas não seja instalada por falta de quórum ou os Cotistas não</a:t>
                      </a:r>
                    </a:p>
                    <a:p>
                      <a:pPr algn="l">
                        <a:lnSpc>
                          <a:spcPct val="100000"/>
                        </a:lnSpc>
                        <a:spcBef>
                          <a:spcPts val="0"/>
                        </a:spcBef>
                        <a:spcAft>
                          <a:spcPts val="0"/>
                        </a:spcAft>
                      </a:pPr>
                      <a:r>
                        <a:rPr sz="1300" b="0">
                          <a:solidFill>
                            <a:srgbClr val="1F1F1F"/>
                          </a:solidFill>
                          <a:latin typeface="Calibri"/>
                        </a:rPr>
                        <a:t>deliberem em favor de qualquer possibilidade prevista no item 8.5, o Administrador deve ingressar</a:t>
                      </a:r>
                    </a:p>
                    <a:p>
                      <a:pPr algn="l">
                        <a:lnSpc>
                          <a:spcPct val="100000"/>
                        </a:lnSpc>
                        <a:spcBef>
                          <a:spcPts val="0"/>
                        </a:spcBef>
                        <a:spcAft>
                          <a:spcPts val="0"/>
                        </a:spcAft>
                      </a:pPr>
                      <a:r>
                        <a:rPr sz="1300" b="0">
                          <a:solidFill>
                            <a:srgbClr val="1F1F1F"/>
                          </a:solidFill>
                          <a:latin typeface="Calibri"/>
                        </a:rPr>
                        <a:t>com pedido de declaração judicial de insolvência do Fundo, sendo que o pedido de declaração judicial</a:t>
                      </a:r>
                    </a:p>
                    <a:p>
                      <a:pPr algn="l">
                        <a:lnSpc>
                          <a:spcPct val="100000"/>
                        </a:lnSpc>
                        <a:spcBef>
                          <a:spcPts val="0"/>
                        </a:spcBef>
                        <a:spcAft>
                          <a:spcPts val="0"/>
                        </a:spcAft>
                      </a:pPr>
                      <a:r>
                        <a:rPr sz="1300" b="0">
                          <a:solidFill>
                            <a:srgbClr val="1F1F1F"/>
                          </a:solidFill>
                          <a:latin typeface="Calibri"/>
                        </a:rPr>
                        <a:t>de insolvência constitui um Evento de Avaliação, nos termos do subitem (xxx) do item 11.1 abaixo.</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9.1 acima, caso tal alteração cause um Efeito Adverso Relevante ao Fundo, conforme notificado pelo</a:t>
                      </a:r>
                    </a:p>
                    <a:p>
                      <a:pPr algn="l">
                        <a:lnSpc>
                          <a:spcPct val="100000"/>
                        </a:lnSpc>
                        <a:spcBef>
                          <a:spcPts val="0"/>
                        </a:spcBef>
                        <a:spcAft>
                          <a:spcPts val="0"/>
                        </a:spcAft>
                      </a:pPr>
                      <a:r>
                        <a:rPr sz="1300" b="0">
                          <a:solidFill>
                            <a:srgbClr val="1F1F1F"/>
                          </a:solidFill>
                          <a:latin typeface="Calibri"/>
                        </a:rPr>
                        <a:t>Mercado Pago, pelos Cotistas Seniores ou por qualquer Cotista Subordinado Mezanino ao Administrador,</a:t>
                      </a:r>
                    </a:p>
                    <a:p>
                      <a:pPr algn="l">
                        <a:lnSpc>
                          <a:spcPct val="100000"/>
                        </a:lnSpc>
                        <a:spcBef>
                          <a:spcPts val="0"/>
                        </a:spcBef>
                        <a:spcAft>
                          <a:spcPts val="0"/>
                        </a:spcAft>
                      </a:pPr>
                      <a:r>
                        <a:rPr sz="1300" b="0">
                          <a:solidFill>
                            <a:srgbClr val="1F1F1F"/>
                          </a:solidFill>
                          <a:latin typeface="Calibri"/>
                        </a:rPr>
                        <a:t>o Administrador deverá convocar uma Assembleia Geral de Cotistas na qual os Cotistas poderão optar</a:t>
                      </a:r>
                    </a:p>
                    <a:p>
                      <a:pPr algn="l">
                        <a:lnSpc>
                          <a:spcPct val="100000"/>
                        </a:lnSpc>
                        <a:spcBef>
                          <a:spcPts val="0"/>
                        </a:spcBef>
                        <a:spcAft>
                          <a:spcPts val="0"/>
                        </a:spcAft>
                      </a:pPr>
                      <a:r>
                        <a:rPr sz="1300" b="0">
                          <a:solidFill>
                            <a:srgbClr val="1F1F1F"/>
                          </a:solidFill>
                          <a:latin typeface="Calibri"/>
                        </a:rPr>
                        <a:t>pela liquidação antecipada do Fundo, observado o quórum previsto no item 9.2 acima.</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154/160</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PLGN Marketplace · vínculo CNPJ 41970012000126 · Governança e alterações</a:t>
            </a:r>
          </a:p>
        </p:txBody>
      </p:sp>
      <p:graphicFrame>
        <p:nvGraphicFramePr>
          <p:cNvPr id="3" name="Table 2"/>
          <p:cNvGraphicFramePr>
            <a:graphicFrameLocks noGrp="1"/>
          </p:cNvGraphicFramePr>
          <p:nvPr/>
        </p:nvGraphicFramePr>
        <p:xfrm>
          <a:off x="438912" y="932688"/>
          <a:ext cx="11313871" cy="3113531"/>
        </p:xfrm>
        <a:graphic>
          <a:graphicData uri="http://schemas.openxmlformats.org/drawingml/2006/table">
            <a:tbl>
              <a:tblPr>
                <a:tableStyleId>{5C22544A-7EE6-4342-B048-85BDC9FD1C3A}</a:tableStyleId>
              </a:tblPr>
              <a:tblGrid>
                <a:gridCol w="2331720"/>
                <a:gridCol w="8982151"/>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MC II · 41970012000126</a:t>
                      </a:r>
                    </a:p>
                  </a:txBody>
                  <a:tcPr marL="91440" marR="91440" marT="41148" marB="41148" anchor="ctr">
                    <a:solidFill>
                      <a:srgbClr val="F7F7F7"/>
                    </a:solidFill>
                    <a:lnL>
                      <a:noFill/>
                    </a:lnL>
                    <a:lnR>
                      <a:noFill/>
                    </a:lnR>
                    <a:lnT>
                      <a:noFill/>
                    </a:lnT>
                    <a:lnB w="6350">
                      <a:solidFill>
                        <a:srgbClr val="D9DEE5"/>
                      </a:solidFill>
                    </a:lnB>
                  </a:tcPr>
                </a:tc>
              </a:tr>
              <a:tr h="2720339">
                <a:tc>
                  <a:txBody>
                    <a:bodyPr wrap="square">
                      <a:noAutofit/>
                    </a:bodyPr>
                    <a:lstStyle/>
                    <a:p>
                      <a:pPr algn="l">
                        <a:lnSpc>
                          <a:spcPct val="100000"/>
                        </a:lnSpc>
                        <a:spcBef>
                          <a:spcPts val="0"/>
                        </a:spcBef>
                        <a:spcAft>
                          <a:spcPts val="0"/>
                        </a:spcAft>
                      </a:pPr>
                      <a:r>
                        <a:rPr sz="1300" b="1">
                          <a:solidFill>
                            <a:srgbClr val="1F1F1F"/>
                          </a:solidFill>
                          <a:latin typeface="Calibri"/>
                        </a:rPr>
                        <a:t>Partes relacionadas e</a:t>
                      </a:r>
                    </a:p>
                    <a:p>
                      <a:pPr algn="l">
                        <a:lnSpc>
                          <a:spcPct val="100000"/>
                        </a:lnSpc>
                        <a:spcBef>
                          <a:spcPts val="0"/>
                        </a:spcBef>
                        <a:spcAft>
                          <a:spcPts val="0"/>
                        </a:spcAft>
                      </a:pPr>
                      <a:r>
                        <a:rPr sz="1300" b="1">
                          <a:solidFill>
                            <a:srgbClr val="1F1F1F"/>
                          </a:solidFill>
                          <a:latin typeface="Calibri"/>
                        </a:rPr>
                        <a:t>conflitos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(v) os Devedores não sejam Partes Relacionadas dos Endossantes e/ou da MeLi, sendo permitido, no</a:t>
                      </a:r>
                    </a:p>
                    <a:p>
                      <a:pPr algn="l">
                        <a:lnSpc>
                          <a:spcPct val="100000"/>
                        </a:lnSpc>
                        <a:spcBef>
                          <a:spcPts val="0"/>
                        </a:spcBef>
                        <a:spcAft>
                          <a:spcPts val="0"/>
                        </a:spcAft>
                      </a:pPr>
                      <a:r>
                        <a:rPr sz="1300" b="0">
                          <a:solidFill>
                            <a:srgbClr val="1F1F1F"/>
                          </a:solidFill>
                          <a:latin typeface="Calibri"/>
                        </a:rPr>
                        <a:t>entanto, Devedores que sejam funcionários do respectivo Endossante, da MeLi e/ou de suas Partes</a:t>
                      </a:r>
                    </a:p>
                    <a:p>
                      <a:pPr algn="l">
                        <a:lnSpc>
                          <a:spcPct val="100000"/>
                        </a:lnSpc>
                        <a:spcBef>
                          <a:spcPts val="0"/>
                        </a:spcBef>
                        <a:spcAft>
                          <a:spcPts val="0"/>
                        </a:spcAft>
                      </a:pPr>
                      <a:r>
                        <a:rPr sz="1300" b="0">
                          <a:solidFill>
                            <a:srgbClr val="1F1F1F"/>
                          </a:solidFill>
                          <a:latin typeface="Calibri"/>
                        </a:rPr>
                        <a:t>Relacionadas;.</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7.6. As Cotas Subordinadas Mezanino não serão objeto de distribuição pública e serão destinadas à</a:t>
                      </a:r>
                    </a:p>
                    <a:p>
                      <a:pPr algn="l">
                        <a:lnSpc>
                          <a:spcPct val="100000"/>
                        </a:lnSpc>
                        <a:spcBef>
                          <a:spcPts val="0"/>
                        </a:spcBef>
                        <a:spcAft>
                          <a:spcPts val="0"/>
                        </a:spcAft>
                      </a:pPr>
                      <a:r>
                        <a:rPr sz="1300" b="0">
                          <a:solidFill>
                            <a:srgbClr val="1F1F1F"/>
                          </a:solidFill>
                          <a:latin typeface="Calibri"/>
                        </a:rPr>
                        <a:t>subscrição de Investidores Qualificados, restringindo-se aos fundos de investimento geridos pelo</a:t>
                      </a:r>
                    </a:p>
                    <a:p>
                      <a:pPr algn="l">
                        <a:lnSpc>
                          <a:spcPct val="100000"/>
                        </a:lnSpc>
                        <a:spcBef>
                          <a:spcPts val="0"/>
                        </a:spcBef>
                        <a:spcAft>
                          <a:spcPts val="0"/>
                        </a:spcAft>
                      </a:pPr>
                      <a:r>
                        <a:rPr sz="1300" b="0">
                          <a:solidFill>
                            <a:srgbClr val="1F1F1F"/>
                          </a:solidFill>
                          <a:latin typeface="Calibri"/>
                        </a:rPr>
                        <a:t>Gestor e suas Partes Relacionadas, sendo certo que Concorrentes não poderão ser titulares de Cotas</a:t>
                      </a:r>
                    </a:p>
                    <a:p>
                      <a:pPr algn="l">
                        <a:lnSpc>
                          <a:spcPct val="100000"/>
                        </a:lnSpc>
                        <a:spcBef>
                          <a:spcPts val="0"/>
                        </a:spcBef>
                        <a:spcAft>
                          <a:spcPts val="0"/>
                        </a:spcAft>
                      </a:pPr>
                      <a:r>
                        <a:rPr sz="1300" b="0">
                          <a:solidFill>
                            <a:srgbClr val="1F1F1F"/>
                          </a:solidFill>
                          <a:latin typeface="Calibri"/>
                        </a:rPr>
                        <a:t>Subordinadas Mezanino.</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O Administrador, o Gestor, o Agente de Cobrança, os Endossantes e quaisquer de suas Partes</a:t>
                      </a:r>
                    </a:p>
                    <a:p>
                      <a:pPr algn="l">
                        <a:lnSpc>
                          <a:spcPct val="100000"/>
                        </a:lnSpc>
                        <a:spcBef>
                          <a:spcPts val="0"/>
                        </a:spcBef>
                        <a:spcAft>
                          <a:spcPts val="0"/>
                        </a:spcAft>
                      </a:pPr>
                      <a:r>
                        <a:rPr sz="1300" b="0">
                          <a:solidFill>
                            <a:srgbClr val="1F1F1F"/>
                          </a:solidFill>
                          <a:latin typeface="Calibri"/>
                        </a:rPr>
                        <a:t>Relacionadas não serão responsáveis, em conjunto ou isoladamente, por qualquer dano ou prejuízo</a:t>
                      </a:r>
                    </a:p>
                    <a:p>
                      <a:pPr algn="l">
                        <a:lnSpc>
                          <a:spcPct val="100000"/>
                        </a:lnSpc>
                        <a:spcBef>
                          <a:spcPts val="0"/>
                        </a:spcBef>
                        <a:spcAft>
                          <a:spcPts val="0"/>
                        </a:spcAft>
                      </a:pPr>
                      <a:r>
                        <a:rPr sz="1300" b="0">
                          <a:solidFill>
                            <a:srgbClr val="1F1F1F"/>
                          </a:solidFill>
                          <a:latin typeface="Calibri"/>
                        </a:rPr>
                        <a:t>sofrido pelo Fundo ou por qualquer dos Cotistas em decorrência da não propositura (ou do não</a:t>
                      </a:r>
                    </a:p>
                    <a:p>
                      <a:pPr algn="l">
                        <a:lnSpc>
                          <a:spcPct val="100000"/>
                        </a:lnSpc>
                        <a:spcBef>
                          <a:spcPts val="0"/>
                        </a:spcBef>
                        <a:spcAft>
                          <a:spcPts val="0"/>
                        </a:spcAft>
                      </a:pPr>
                      <a:r>
                        <a:rPr sz="1300" b="0">
                          <a:solidFill>
                            <a:srgbClr val="1F1F1F"/>
                          </a:solidFill>
                          <a:latin typeface="Calibri"/>
                        </a:rPr>
                        <a:t>prosseguimento), pelo Fundo, de medidas judiciais ou extrajudiciais necessárias à preservação de</a:t>
                      </a:r>
                    </a:p>
                    <a:p>
                      <a:pPr algn="l">
                        <a:lnSpc>
                          <a:spcPct val="100000"/>
                        </a:lnSpc>
                        <a:spcBef>
                          <a:spcPts val="0"/>
                        </a:spcBef>
                        <a:spcAft>
                          <a:spcPts val="0"/>
                        </a:spcAft>
                      </a:pPr>
                      <a:r>
                        <a:rPr sz="1300" b="0">
                          <a:solidFill>
                            <a:srgbClr val="1F1F1F"/>
                          </a:solidFill>
                          <a:latin typeface="Calibri"/>
                        </a:rPr>
                        <a:t>seus direitos e prerrogativas.</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155/160</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PLGN Marketplace · vínculo CNPJ 41970012000126 · Governança e alterações</a:t>
            </a:r>
          </a:p>
        </p:txBody>
      </p:sp>
      <p:graphicFrame>
        <p:nvGraphicFramePr>
          <p:cNvPr id="3" name="Table 2"/>
          <p:cNvGraphicFramePr>
            <a:graphicFrameLocks noGrp="1"/>
          </p:cNvGraphicFramePr>
          <p:nvPr/>
        </p:nvGraphicFramePr>
        <p:xfrm>
          <a:off x="438912" y="932688"/>
          <a:ext cx="11313871" cy="3584447"/>
        </p:xfrm>
        <a:graphic>
          <a:graphicData uri="http://schemas.openxmlformats.org/drawingml/2006/table">
            <a:tbl>
              <a:tblPr>
                <a:tableStyleId>{5C22544A-7EE6-4342-B048-85BDC9FD1C3A}</a:tableStyleId>
              </a:tblPr>
              <a:tblGrid>
                <a:gridCol w="2331720"/>
                <a:gridCol w="8982151"/>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MC II · 41970012000126</a:t>
                      </a:r>
                    </a:p>
                  </a:txBody>
                  <a:tcPr marL="91440" marR="91440" marT="41148" marB="41148" anchor="ctr">
                    <a:solidFill>
                      <a:srgbClr val="F7F7F7"/>
                    </a:solidFill>
                    <a:lnL>
                      <a:noFill/>
                    </a:lnL>
                    <a:lnR>
                      <a:noFill/>
                    </a:lnR>
                    <a:lnT>
                      <a:noFill/>
                    </a:lnT>
                    <a:lnB w="6350">
                      <a:solidFill>
                        <a:srgbClr val="D9DEE5"/>
                      </a:solidFill>
                    </a:lnB>
                  </a:tcPr>
                </a:tc>
              </a:tr>
              <a:tr h="1033271">
                <a:tc>
                  <a:txBody>
                    <a:bodyPr wrap="square">
                      <a:noAutofit/>
                    </a:bodyPr>
                    <a:lstStyle/>
                    <a:p>
                      <a:pPr algn="l">
                        <a:lnSpc>
                          <a:spcPct val="100000"/>
                        </a:lnSpc>
                        <a:spcBef>
                          <a:spcPts val="0"/>
                        </a:spcBef>
                        <a:spcAft>
                          <a:spcPts val="0"/>
                        </a:spcAft>
                      </a:pPr>
                      <a:r>
                        <a:rPr sz="1300" b="1">
                          <a:solidFill>
                            <a:srgbClr val="1F1F1F"/>
                          </a:solidFill>
                          <a:latin typeface="Calibri"/>
                        </a:rPr>
                        <a:t>Histórico de alterações</a:t>
                      </a:r>
                    </a:p>
                    <a:p>
                      <a:pPr algn="l">
                        <a:lnSpc>
                          <a:spcPct val="100000"/>
                        </a:lnSpc>
                        <a:spcBef>
                          <a:spcPts val="0"/>
                        </a:spcBef>
                        <a:spcAft>
                          <a:spcPts val="0"/>
                        </a:spcAft>
                      </a:pPr>
                      <a:r>
                        <a:rPr sz="1300" b="1">
                          <a:solidFill>
                            <a:srgbClr val="1F1F1F"/>
                          </a:solidFill>
                          <a:latin typeface="Calibri"/>
                        </a:rPr>
                        <a:t>materiais</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(ii) a celebração do Sétimo Aditamento ao Instrumento Particular de Compromisso de Investimento para</a:t>
                      </a:r>
                    </a:p>
                    <a:p>
                      <a:pPr algn="l">
                        <a:lnSpc>
                          <a:spcPct val="100000"/>
                        </a:lnSpc>
                        <a:spcBef>
                          <a:spcPts val="0"/>
                        </a:spcBef>
                        <a:spcAft>
                          <a:spcPts val="0"/>
                        </a:spcAft>
                      </a:pPr>
                      <a:r>
                        <a:rPr sz="1300" b="0">
                          <a:solidFill>
                            <a:srgbClr val="1F1F1F"/>
                          </a:solidFill>
                          <a:latin typeface="Calibri"/>
                        </a:rPr>
                        <a:t>Subscrição e Integralização de Cotas Seniores do FIDC Mercado Crédito II Brasil, de forma a refletir</a:t>
                      </a:r>
                    </a:p>
                    <a:p>
                      <a:pPr algn="l">
                        <a:lnSpc>
                          <a:spcPct val="100000"/>
                        </a:lnSpc>
                        <a:spcBef>
                          <a:spcPts val="0"/>
                        </a:spcBef>
                        <a:spcAft>
                          <a:spcPts val="0"/>
                        </a:spcAft>
                      </a:pPr>
                      <a:r>
                        <a:rPr sz="1300" b="0">
                          <a:solidFill>
                            <a:srgbClr val="1F1F1F"/>
                          </a:solidFill>
                          <a:latin typeface="Calibri"/>
                        </a:rPr>
                        <a:t>o aumento do volume da Terceira Emissão de Cotas Seniores, sem aumento do capital comprometido pelo</a:t>
                      </a:r>
                    </a:p>
                    <a:p>
                      <a:pPr algn="l">
                        <a:lnSpc>
                          <a:spcPct val="100000"/>
                        </a:lnSpc>
                        <a:spcBef>
                          <a:spcPts val="0"/>
                        </a:spcBef>
                        <a:spcAft>
                          <a:spcPts val="0"/>
                        </a:spcAft>
                      </a:pPr>
                      <a:r>
                        <a:rPr sz="1300" b="0">
                          <a:solidFill>
                            <a:srgbClr val="1F1F1F"/>
                          </a:solidFill>
                          <a:latin typeface="Calibri"/>
                        </a:rPr>
                        <a:t>Subscritor; e a (iii) celebração dos demais documentos necessários para refletir as alterações ora</a:t>
                      </a:r>
                    </a:p>
                    <a:p>
                      <a:pPr algn="l">
                        <a:lnSpc>
                          <a:spcPct val="100000"/>
                        </a:lnSpc>
                        <a:spcBef>
                          <a:spcPts val="0"/>
                        </a:spcBef>
                        <a:spcAft>
                          <a:spcPts val="0"/>
                        </a:spcAft>
                      </a:pPr>
                      <a:r>
                        <a:rPr sz="1300" b="0">
                          <a:solidFill>
                            <a:srgbClr val="1F1F1F"/>
                          </a:solidFill>
                          <a:latin typeface="Calibri"/>
                        </a:rPr>
                        <a:t>aprovadas.</a:t>
                      </a:r>
                    </a:p>
                  </a:txBody>
                  <a:tcPr marL="91440" marR="91440" marT="41148" marB="41148" anchor="ctr">
                    <a:solidFill>
                      <a:srgbClr val="FFFFFF"/>
                    </a:solidFill>
                    <a:lnL>
                      <a:noFill/>
                    </a:lnL>
                    <a:lnR>
                      <a:noFill/>
                    </a:lnR>
                    <a:lnT>
                      <a:noFill/>
                    </a:lnT>
                    <a:lnB>
                      <a:noFill/>
                    </a:lnB>
                  </a:tcPr>
                </a:tc>
              </a:tr>
              <a:tr h="2157984">
                <a:tc>
                  <a:txBody>
                    <a:bodyPr wrap="square">
                      <a:noAutofit/>
                    </a:bodyPr>
                    <a:lstStyle/>
                    <a:p>
                      <a:pPr algn="l">
                        <a:lnSpc>
                          <a:spcPct val="100000"/>
                        </a:lnSpc>
                        <a:spcBef>
                          <a:spcPts val="0"/>
                        </a:spcBef>
                        <a:spcAft>
                          <a:spcPts val="0"/>
                        </a:spcAft>
                      </a:pPr>
                      <a:r>
                        <a:rPr sz="1300" b="1">
                          <a:solidFill>
                            <a:srgbClr val="1F1F1F"/>
                          </a:solidFill>
                          <a:latin typeface="Calibri"/>
                        </a:rPr>
                        <a:t>Auditor independente e</a:t>
                      </a:r>
                    </a:p>
                    <a:p>
                      <a:pPr algn="l">
                        <a:lnSpc>
                          <a:spcPct val="100000"/>
                        </a:lnSpc>
                        <a:spcBef>
                          <a:spcPts val="0"/>
                        </a:spcBef>
                        <a:spcAft>
                          <a:spcPts val="0"/>
                        </a:spcAft>
                      </a:pPr>
                      <a:r>
                        <a:rPr sz="1300" b="1">
                          <a:solidFill>
                            <a:srgbClr val="1F1F1F"/>
                          </a:solidFill>
                          <a:latin typeface="Calibri"/>
                        </a:rPr>
                        <a:t>DFs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9.2.2. A Assembleia Geral de Cotistas que deliberar sobre a matéria prevista no subitem (i)do item</a:t>
                      </a:r>
                    </a:p>
                    <a:p>
                      <a:pPr algn="l">
                        <a:lnSpc>
                          <a:spcPct val="100000"/>
                        </a:lnSpc>
                        <a:spcBef>
                          <a:spcPts val="0"/>
                        </a:spcBef>
                        <a:spcAft>
                          <a:spcPts val="0"/>
                        </a:spcAft>
                      </a:pPr>
                      <a:r>
                        <a:rPr sz="1300" b="0">
                          <a:solidFill>
                            <a:srgbClr val="1F1F1F"/>
                          </a:solidFill>
                          <a:latin typeface="Calibri"/>
                        </a:rPr>
                        <a:t>9.1 acima somente pode ser realizada no mínimo 15 (quinze) dias após estarem disponíveis aos</a:t>
                      </a:r>
                    </a:p>
                    <a:p>
                      <a:pPr algn="l">
                        <a:lnSpc>
                          <a:spcPct val="100000"/>
                        </a:lnSpc>
                        <a:spcBef>
                          <a:spcPts val="0"/>
                        </a:spcBef>
                        <a:spcAft>
                          <a:spcPts val="0"/>
                        </a:spcAft>
                      </a:pPr>
                      <a:r>
                        <a:rPr sz="1300" b="0">
                          <a:solidFill>
                            <a:srgbClr val="1F1F1F"/>
                          </a:solidFill>
                          <a:latin typeface="Calibri"/>
                        </a:rPr>
                        <a:t>Cotistas as demonstrações contábeis relativas ao exercício encerrado, contendo parecer do Auditor</a:t>
                      </a:r>
                    </a:p>
                    <a:p>
                      <a:pPr algn="l">
                        <a:lnSpc>
                          <a:spcPct val="100000"/>
                        </a:lnSpc>
                        <a:spcBef>
                          <a:spcPts val="0"/>
                        </a:spcBef>
                        <a:spcAft>
                          <a:spcPts val="0"/>
                        </a:spcAft>
                      </a:pPr>
                      <a:r>
                        <a:rPr sz="1300" b="0">
                          <a:solidFill>
                            <a:srgbClr val="1F1F1F"/>
                          </a:solidFill>
                          <a:latin typeface="Calibri"/>
                        </a:rPr>
                        <a:t>Independente, observado que tal prazo pode ser dispensado na Assembleia Geral de Cotistas em que</a:t>
                      </a:r>
                    </a:p>
                    <a:p>
                      <a:pPr algn="l">
                        <a:lnSpc>
                          <a:spcPct val="100000"/>
                        </a:lnSpc>
                        <a:spcBef>
                          <a:spcPts val="0"/>
                        </a:spcBef>
                        <a:spcAft>
                          <a:spcPts val="0"/>
                        </a:spcAft>
                      </a:pPr>
                      <a:r>
                        <a:rPr sz="1300" b="0">
                          <a:solidFill>
                            <a:srgbClr val="1F1F1F"/>
                          </a:solidFill>
                          <a:latin typeface="Calibri"/>
                        </a:rPr>
                        <a:t>comparecerem todos os Cotistas.</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14.4. As demonstrações financeiras anuais do Fundo serão auditadas pelo Auditor Independente.</a:t>
                      </a:r>
                    </a:p>
                    <a:p>
                      <a:pPr algn="l">
                        <a:lnSpc>
                          <a:spcPct val="100000"/>
                        </a:lnSpc>
                        <a:spcBef>
                          <a:spcPts val="0"/>
                        </a:spcBef>
                        <a:spcAft>
                          <a:spcPts val="0"/>
                        </a:spcAft>
                      </a:pPr>
                    </a:p>
                    <a:p>
                      <a:pPr algn="l">
                        <a:lnSpc>
                          <a:spcPct val="100000"/>
                        </a:lnSpc>
                        <a:spcBef>
                          <a:spcPts val="0"/>
                        </a:spcBef>
                        <a:spcAft>
                          <a:spcPts val="0"/>
                        </a:spcAft>
                      </a:pPr>
                      <a:r>
                        <a:rPr sz="1300" b="0">
                          <a:solidFill>
                            <a:srgbClr val="1F1F1F"/>
                          </a:solidFill>
                          <a:latin typeface="Calibri"/>
                        </a:rPr>
                        <a:t>O Índice Financeiro Amortização Acelerada será calculado pelo Mercado Pago, com base nas</a:t>
                      </a:r>
                    </a:p>
                    <a:p>
                      <a:pPr algn="l">
                        <a:lnSpc>
                          <a:spcPct val="100000"/>
                        </a:lnSpc>
                        <a:spcBef>
                          <a:spcPts val="0"/>
                        </a:spcBef>
                        <a:spcAft>
                          <a:spcPts val="0"/>
                        </a:spcAft>
                      </a:pPr>
                      <a:r>
                        <a:rPr sz="1300" b="0">
                          <a:solidFill>
                            <a:srgbClr val="1F1F1F"/>
                          </a:solidFill>
                          <a:latin typeface="Calibri"/>
                        </a:rPr>
                        <a:t>demonstrações financeiras auditadas ou informações financeiras trimestrais da MeLi, e encaminhado ao</a:t>
                      </a:r>
                    </a:p>
                    <a:p>
                      <a:pPr algn="l">
                        <a:lnSpc>
                          <a:spcPct val="100000"/>
                        </a:lnSpc>
                        <a:spcBef>
                          <a:spcPts val="0"/>
                        </a:spcBef>
                        <a:spcAft>
                          <a:spcPts val="0"/>
                        </a:spcAft>
                      </a:pPr>
                      <a:r>
                        <a:rPr sz="1300" b="0">
                          <a:solidFill>
                            <a:srgbClr val="1F1F1F"/>
                          </a:solidFill>
                          <a:latin typeface="Calibri"/>
                        </a:rPr>
                        <a:t>btgpactual.com.</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156/160</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PLGN Marketplace · vínculo CNPJ 41970012000126 · Subordinação e cobertura</a:t>
            </a:r>
          </a:p>
        </p:txBody>
      </p:sp>
      <p:graphicFrame>
        <p:nvGraphicFramePr>
          <p:cNvPr id="3" name="Table 2"/>
          <p:cNvGraphicFramePr>
            <a:graphicFrameLocks noGrp="1"/>
          </p:cNvGraphicFramePr>
          <p:nvPr/>
        </p:nvGraphicFramePr>
        <p:xfrm>
          <a:off x="438912" y="932688"/>
          <a:ext cx="11313871" cy="1239011"/>
        </p:xfrm>
        <a:graphic>
          <a:graphicData uri="http://schemas.openxmlformats.org/drawingml/2006/table">
            <a:tbl>
              <a:tblPr>
                <a:tableStyleId>{5C22544A-7EE6-4342-B048-85BDC9FD1C3A}</a:tableStyleId>
              </a:tblPr>
              <a:tblGrid>
                <a:gridCol w="2331720"/>
                <a:gridCol w="8982151"/>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MC II · 41970012000126</a:t>
                      </a:r>
                    </a:p>
                  </a:txBody>
                  <a:tcPr marL="91440" marR="91440" marT="41148" marB="41148" anchor="ctr">
                    <a:solidFill>
                      <a:srgbClr val="F7F7F7"/>
                    </a:solidFill>
                    <a:lnL>
                      <a:noFill/>
                    </a:lnL>
                    <a:lnR>
                      <a:noFill/>
                    </a:lnR>
                    <a:lnT>
                      <a:noFill/>
                    </a:lnT>
                    <a:lnB w="6350">
                      <a:solidFill>
                        <a:srgbClr val="D9DEE5"/>
                      </a:solidFill>
                    </a:lnB>
                  </a:tcPr>
                </a:tc>
              </a:tr>
              <a:tr h="845819">
                <a:tc>
                  <a:txBody>
                    <a:bodyPr wrap="square">
                      <a:noAutofit/>
                    </a:bodyPr>
                    <a:lstStyle/>
                    <a:p>
                      <a:pPr algn="l">
                        <a:lnSpc>
                          <a:spcPct val="100000"/>
                        </a:lnSpc>
                        <a:spcBef>
                          <a:spcPts val="0"/>
                        </a:spcBef>
                        <a:spcAft>
                          <a:spcPts val="0"/>
                        </a:spcAft>
                      </a:pPr>
                      <a:r>
                        <a:rPr sz="1300" b="1">
                          <a:solidFill>
                            <a:srgbClr val="1F1F1F"/>
                          </a:solidFill>
                          <a:latin typeface="Calibri"/>
                        </a:rPr>
                        <a:t>Matriz de Perdas e</a:t>
                      </a:r>
                    </a:p>
                    <a:p>
                      <a:pPr algn="l">
                        <a:lnSpc>
                          <a:spcPct val="100000"/>
                        </a:lnSpc>
                        <a:spcBef>
                          <a:spcPts val="0"/>
                        </a:spcBef>
                        <a:spcAft>
                          <a:spcPts val="0"/>
                        </a:spcAft>
                      </a:pPr>
                      <a:r>
                        <a:rPr sz="1300" b="1">
                          <a:solidFill>
                            <a:srgbClr val="1F1F1F"/>
                          </a:solidFill>
                          <a:latin typeface="Calibri"/>
                        </a:rPr>
                        <a:t>Advance Rate</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Advance Rate ponderado = min(75%; 100%−[Perda Ponderada×3−Excesso Spread Líquido×Prazo Médio</a:t>
                      </a:r>
                    </a:p>
                    <a:p>
                      <a:pPr algn="l">
                        <a:lnSpc>
                          <a:spcPct val="100000"/>
                        </a:lnSpc>
                        <a:spcBef>
                          <a:spcPts val="0"/>
                        </a:spcBef>
                        <a:spcAft>
                          <a:spcPts val="0"/>
                        </a:spcAft>
                      </a:pPr>
                      <a:r>
                        <a:rPr sz="1300" b="0">
                          <a:solidFill>
                            <a:srgbClr val="1F1F1F"/>
                          </a:solidFill>
                          <a:latin typeface="Calibri"/>
                        </a:rPr>
                        <a:t>Ponderado]). Perda ponderada segmenta produto, prazo e rating. Spread líquido desconta custos</a:t>
                      </a:r>
                    </a:p>
                    <a:p>
                      <a:pPr algn="l">
                        <a:lnSpc>
                          <a:spcPct val="100000"/>
                        </a:lnSpc>
                        <a:spcBef>
                          <a:spcPts val="0"/>
                        </a:spcBef>
                        <a:spcAft>
                          <a:spcPts val="0"/>
                        </a:spcAft>
                      </a:pPr>
                      <a:r>
                        <a:rPr sz="1300" b="0">
                          <a:solidFill>
                            <a:srgbClr val="1F1F1F"/>
                          </a:solidFill>
                          <a:latin typeface="Calibri"/>
                        </a:rPr>
                        <a:t>mínimos 1%aa sobre direitos e taxa sênior estressada = benchmark+5%. StepDown reduz o Advance Rate</a:t>
                      </a:r>
                    </a:p>
                    <a:p>
                      <a:pPr algn="l">
                        <a:lnSpc>
                          <a:spcPct val="100000"/>
                        </a:lnSpc>
                        <a:spcBef>
                          <a:spcPts val="0"/>
                        </a:spcBef>
                        <a:spcAft>
                          <a:spcPts val="0"/>
                        </a:spcAft>
                      </a:pPr>
                      <a:r>
                        <a:rPr sz="1300" b="0">
                          <a:solidFill>
                            <a:srgbClr val="1F1F1F"/>
                          </a:solidFill>
                          <a:latin typeface="Calibri"/>
                        </a:rPr>
                        <a:t>pelo gatilho. Matriz contratual e PDD contábil são metodologias distintas.</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157/160</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PLGN Marketplace · vínculo CNPJ 41970012000126 · Declarações trimestrais</a:t>
            </a:r>
          </a:p>
        </p:txBody>
      </p:sp>
      <p:graphicFrame>
        <p:nvGraphicFramePr>
          <p:cNvPr id="3" name="Table 2"/>
          <p:cNvGraphicFramePr>
            <a:graphicFrameLocks noGrp="1"/>
          </p:cNvGraphicFramePr>
          <p:nvPr/>
        </p:nvGraphicFramePr>
        <p:xfrm>
          <a:off x="438912" y="932688"/>
          <a:ext cx="11313871" cy="3118103"/>
        </p:xfrm>
        <a:graphic>
          <a:graphicData uri="http://schemas.openxmlformats.org/drawingml/2006/table">
            <a:tbl>
              <a:tblPr>
                <a:tableStyleId>{5C22544A-7EE6-4342-B048-85BDC9FD1C3A}</a:tableStyleId>
              </a:tblPr>
              <a:tblGrid>
                <a:gridCol w="2331720"/>
                <a:gridCol w="8982151"/>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MC II · 41970012000126</a:t>
                      </a:r>
                    </a:p>
                  </a:txBody>
                  <a:tcPr marL="91440" marR="91440" marT="41148" marB="41148" anchor="ctr">
                    <a:solidFill>
                      <a:srgbClr val="F7F7F7"/>
                    </a:solidFill>
                    <a:lnL>
                      <a:noFill/>
                    </a:lnL>
                    <a:lnR>
                      <a:noFill/>
                    </a:lnR>
                    <a:lnT>
                      <a:noFill/>
                    </a:lnT>
                    <a:lnB w="6350">
                      <a:solidFill>
                        <a:srgbClr val="D9DEE5"/>
                      </a:solidFill>
                    </a:lnB>
                  </a:tcPr>
                </a:tc>
              </a:tr>
              <a:tr h="1220724">
                <a:tc>
                  <a:txBody>
                    <a:bodyPr wrap="square">
                      <a:noAutofit/>
                    </a:bodyPr>
                    <a:lstStyle/>
                    <a:p>
                      <a:pPr algn="l">
                        <a:lnSpc>
                          <a:spcPct val="100000"/>
                        </a:lnSpc>
                        <a:spcBef>
                          <a:spcPts val="0"/>
                        </a:spcBef>
                        <a:spcAft>
                          <a:spcPts val="0"/>
                        </a:spcAft>
                      </a:pPr>
                      <a:r>
                        <a:rPr sz="1300" b="1">
                          <a:solidFill>
                            <a:srgbClr val="1F1F1F"/>
                          </a:solidFill>
                          <a:latin typeface="Calibri"/>
                        </a:rPr>
                        <a:t>Resultado da verificação</a:t>
                      </a:r>
                    </a:p>
                    <a:p>
                      <a:pPr algn="l">
                        <a:lnSpc>
                          <a:spcPct val="100000"/>
                        </a:lnSpc>
                        <a:spcBef>
                          <a:spcPts val="0"/>
                        </a:spcBef>
                        <a:spcAft>
                          <a:spcPts val="0"/>
                        </a:spcAft>
                      </a:pPr>
                      <a:r>
                        <a:rPr sz="1300" b="1">
                          <a:solidFill>
                            <a:srgbClr val="1F1F1F"/>
                          </a:solidFill>
                          <a:latin typeface="Calibri"/>
                        </a:rPr>
                        <a:t>de lastro</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De acordo com o relatório de lastro disponibilizado pelo Custodiante, não foram identificadas</a:t>
                      </a:r>
                    </a:p>
                    <a:p>
                      <a:pPr algn="l">
                        <a:lnSpc>
                          <a:spcPct val="100000"/>
                        </a:lnSpc>
                        <a:spcBef>
                          <a:spcPts val="0"/>
                        </a:spcBef>
                        <a:spcAft>
                          <a:spcPts val="0"/>
                        </a:spcAft>
                      </a:pPr>
                      <a:r>
                        <a:rPr sz="1300" b="0">
                          <a:solidFill>
                            <a:srgbClr val="1F1F1F"/>
                          </a:solidFill>
                          <a:latin typeface="Calibri"/>
                        </a:rPr>
                        <a:t>inconsistências significativas na verificação da documentação dos direitos creditórios do fundo.</a:t>
                      </a:r>
                    </a:p>
                    <a:p>
                      <a:pPr algn="l">
                        <a:lnSpc>
                          <a:spcPct val="100000"/>
                        </a:lnSpc>
                        <a:spcBef>
                          <a:spcPts val="0"/>
                        </a:spcBef>
                        <a:spcAft>
                          <a:spcPts val="0"/>
                        </a:spcAft>
                      </a:pPr>
                      <a:r>
                        <a:rPr sz="1300" b="0">
                          <a:solidFill>
                            <a:srgbClr val="1F1F1F"/>
                          </a:solidFill>
                          <a:latin typeface="Calibri"/>
                        </a:rPr>
                        <a:t>Todos os procedimentos realizados foram concluídos satisfatoriamente em atendimento à legislação em</a:t>
                      </a:r>
                    </a:p>
                    <a:p>
                      <a:pPr algn="l">
                        <a:lnSpc>
                          <a:spcPct val="100000"/>
                        </a:lnSpc>
                        <a:spcBef>
                          <a:spcPts val="0"/>
                        </a:spcBef>
                        <a:spcAft>
                          <a:spcPts val="0"/>
                        </a:spcAft>
                      </a:pPr>
                      <a:r>
                        <a:rPr sz="1300" b="0">
                          <a:solidFill>
                            <a:srgbClr val="1F1F1F"/>
                          </a:solidFill>
                          <a:latin typeface="Calibri"/>
                        </a:rPr>
                        <a:t>vigor.</a:t>
                      </a:r>
                    </a:p>
                    <a:p>
                      <a:pPr algn="l">
                        <a:lnSpc>
                          <a:spcPct val="100000"/>
                        </a:lnSpc>
                        <a:spcBef>
                          <a:spcPts val="0"/>
                        </a:spcBef>
                        <a:spcAft>
                          <a:spcPts val="0"/>
                        </a:spcAft>
                      </a:pPr>
                      <a:r>
                        <a:rPr sz="1300" b="0">
                          <a:solidFill>
                            <a:srgbClr val="1F1F1F"/>
                          </a:solidFill>
                          <a:latin typeface="Calibri"/>
                        </a:rPr>
                        <a:t>Declaração do informe trimestral</a:t>
                      </a:r>
                    </a:p>
                    <a:p>
                      <a:pPr algn="l">
                        <a:lnSpc>
                          <a:spcPct val="100000"/>
                        </a:lnSpc>
                        <a:spcBef>
                          <a:spcPts val="0"/>
                        </a:spcBef>
                        <a:spcAft>
                          <a:spcPts val="0"/>
                        </a:spcAft>
                      </a:pPr>
                      <a:r>
                        <a:rPr sz="1300" b="0">
                          <a:solidFill>
                            <a:srgbClr val="1F1F1F"/>
                          </a:solidFill>
                          <a:latin typeface="Calibri"/>
                        </a:rPr>
                        <a:t>2026-Q2 · Resposta declarada no informe; a cláusula permanece no documento normativo</a:t>
                      </a:r>
                    </a:p>
                  </a:txBody>
                  <a:tcPr marL="91440" marR="91440" marT="41148" marB="41148" anchor="ctr">
                    <a:solidFill>
                      <a:srgbClr val="FFFFFF"/>
                    </a:solidFill>
                    <a:lnL>
                      <a:noFill/>
                    </a:lnL>
                    <a:lnR>
                      <a:noFill/>
                    </a:lnR>
                    <a:lnT>
                      <a:noFill/>
                    </a:lnT>
                    <a:lnB>
                      <a:noFill/>
                    </a:lnB>
                  </a:tcPr>
                </a:tc>
              </a:tr>
              <a:tr h="658368">
                <a:tc>
                  <a:txBody>
                    <a:bodyPr wrap="square">
                      <a:noAutofit/>
                    </a:bodyPr>
                    <a:lstStyle/>
                    <a:p>
                      <a:pPr algn="l">
                        <a:lnSpc>
                          <a:spcPct val="100000"/>
                        </a:lnSpc>
                        <a:spcBef>
                          <a:spcPts val="0"/>
                        </a:spcBef>
                        <a:spcAft>
                          <a:spcPts val="0"/>
                        </a:spcAft>
                      </a:pPr>
                      <a:r>
                        <a:rPr sz="1300" b="1">
                          <a:solidFill>
                            <a:srgbClr val="1F1F1F"/>
                          </a:solidFill>
                          <a:latin typeface="Calibri"/>
                        </a:rPr>
                        <a:t>Registro dos direitos</a:t>
                      </a:r>
                    </a:p>
                    <a:p>
                      <a:pPr algn="l">
                        <a:lnSpc>
                          <a:spcPct val="100000"/>
                        </a:lnSpc>
                        <a:spcBef>
                          <a:spcPts val="0"/>
                        </a:spcBef>
                        <a:spcAft>
                          <a:spcPts val="0"/>
                        </a:spcAft>
                      </a:pPr>
                      <a:r>
                        <a:rPr sz="1300" b="1">
                          <a:solidFill>
                            <a:srgbClr val="1F1F1F"/>
                          </a:solidFill>
                          <a:latin typeface="Calibri"/>
                        </a:rPr>
                        <a:t>creditórios</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Todos os créditos estão liberados para registro.</a:t>
                      </a:r>
                    </a:p>
                    <a:p>
                      <a:pPr algn="l">
                        <a:lnSpc>
                          <a:spcPct val="100000"/>
                        </a:lnSpc>
                        <a:spcBef>
                          <a:spcPts val="0"/>
                        </a:spcBef>
                        <a:spcAft>
                          <a:spcPts val="0"/>
                        </a:spcAft>
                      </a:pPr>
                      <a:r>
                        <a:rPr sz="1300" b="0">
                          <a:solidFill>
                            <a:srgbClr val="1F1F1F"/>
                          </a:solidFill>
                          <a:latin typeface="Calibri"/>
                        </a:rPr>
                        <a:t>Declaração do informe trimestral</a:t>
                      </a:r>
                    </a:p>
                    <a:p>
                      <a:pPr algn="l">
                        <a:lnSpc>
                          <a:spcPct val="100000"/>
                        </a:lnSpc>
                        <a:spcBef>
                          <a:spcPts val="0"/>
                        </a:spcBef>
                        <a:spcAft>
                          <a:spcPts val="0"/>
                        </a:spcAft>
                      </a:pPr>
                      <a:r>
                        <a:rPr sz="1300" b="0">
                          <a:solidFill>
                            <a:srgbClr val="1F1F1F"/>
                          </a:solidFill>
                          <a:latin typeface="Calibri"/>
                        </a:rPr>
                        <a:t>2026-Q2 · Resposta declarada no informe; a cláusula permanece no documento normativo</a:t>
                      </a:r>
                    </a:p>
                  </a:txBody>
                  <a:tcPr marL="91440" marR="91440" marT="41148" marB="41148" anchor="ctr">
                    <a:solidFill>
                      <a:srgbClr val="FFFFFF"/>
                    </a:solidFill>
                    <a:lnL>
                      <a:noFill/>
                    </a:lnL>
                    <a:lnR>
                      <a:noFill/>
                    </a:lnR>
                    <a:lnT>
                      <a:noFill/>
                    </a:lnT>
                    <a:lnB>
                      <a:noFill/>
                    </a:lnB>
                  </a:tcPr>
                </a:tc>
              </a:tr>
              <a:tr h="845819">
                <a:tc>
                  <a:txBody>
                    <a:bodyPr wrap="square">
                      <a:noAutofit/>
                    </a:bodyPr>
                    <a:lstStyle/>
                    <a:p>
                      <a:pPr algn="l">
                        <a:lnSpc>
                          <a:spcPct val="100000"/>
                        </a:lnSpc>
                        <a:spcBef>
                          <a:spcPts val="0"/>
                        </a:spcBef>
                        <a:spcAft>
                          <a:spcPts val="0"/>
                        </a:spcAft>
                      </a:pPr>
                      <a:r>
                        <a:rPr sz="1300" b="1">
                          <a:solidFill>
                            <a:srgbClr val="1F1F1F"/>
                          </a:solidFill>
                          <a:latin typeface="Calibri"/>
                        </a:rPr>
                        <a:t>Processos judiciais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O administrador do fundo não tem conhecimento de ações judiciais envolvendo o fundo no trimestre em</a:t>
                      </a:r>
                    </a:p>
                    <a:p>
                      <a:pPr algn="l">
                        <a:lnSpc>
                          <a:spcPct val="100000"/>
                        </a:lnSpc>
                        <a:spcBef>
                          <a:spcPts val="0"/>
                        </a:spcBef>
                        <a:spcAft>
                          <a:spcPts val="0"/>
                        </a:spcAft>
                      </a:pPr>
                      <a:r>
                        <a:rPr sz="1300" b="0">
                          <a:solidFill>
                            <a:srgbClr val="1F1F1F"/>
                          </a:solidFill>
                          <a:latin typeface="Calibri"/>
                        </a:rPr>
                        <a:t>referência.</a:t>
                      </a:r>
                    </a:p>
                    <a:p>
                      <a:pPr algn="l">
                        <a:lnSpc>
                          <a:spcPct val="100000"/>
                        </a:lnSpc>
                        <a:spcBef>
                          <a:spcPts val="0"/>
                        </a:spcBef>
                        <a:spcAft>
                          <a:spcPts val="0"/>
                        </a:spcAft>
                      </a:pPr>
                      <a:r>
                        <a:rPr sz="1300" b="0">
                          <a:solidFill>
                            <a:srgbClr val="1F1F1F"/>
                          </a:solidFill>
                          <a:latin typeface="Calibri"/>
                        </a:rPr>
                        <a:t>Declaração do informe trimestral</a:t>
                      </a:r>
                    </a:p>
                    <a:p>
                      <a:pPr algn="l">
                        <a:lnSpc>
                          <a:spcPct val="100000"/>
                        </a:lnSpc>
                        <a:spcBef>
                          <a:spcPts val="0"/>
                        </a:spcBef>
                        <a:spcAft>
                          <a:spcPts val="0"/>
                        </a:spcAft>
                      </a:pPr>
                      <a:r>
                        <a:rPr sz="1300" b="0">
                          <a:solidFill>
                            <a:srgbClr val="1F1F1F"/>
                          </a:solidFill>
                          <a:latin typeface="Calibri"/>
                        </a:rPr>
                        <a:t>2026-Q2 · Resposta declarada no informe; a cláusula permanece no documento normativo</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158/160</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PLGN Marketplace · vínculo CNPJ 41970012000126 · Declarações trimestrais</a:t>
            </a:r>
          </a:p>
        </p:txBody>
      </p:sp>
      <p:graphicFrame>
        <p:nvGraphicFramePr>
          <p:cNvPr id="3" name="Table 2"/>
          <p:cNvGraphicFramePr>
            <a:graphicFrameLocks noGrp="1"/>
          </p:cNvGraphicFramePr>
          <p:nvPr/>
        </p:nvGraphicFramePr>
        <p:xfrm>
          <a:off x="438912" y="932688"/>
          <a:ext cx="11313871" cy="4334255"/>
        </p:xfrm>
        <a:graphic>
          <a:graphicData uri="http://schemas.openxmlformats.org/drawingml/2006/table">
            <a:tbl>
              <a:tblPr>
                <a:tableStyleId>{5C22544A-7EE6-4342-B048-85BDC9FD1C3A}</a:tableStyleId>
              </a:tblPr>
              <a:tblGrid>
                <a:gridCol w="2331720"/>
                <a:gridCol w="8982151"/>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MC II · 41970012000126</a:t>
                      </a:r>
                    </a:p>
                  </a:txBody>
                  <a:tcPr marL="91440" marR="91440" marT="41148" marB="41148" anchor="ctr">
                    <a:solidFill>
                      <a:srgbClr val="F7F7F7"/>
                    </a:solidFill>
                    <a:lnL>
                      <a:noFill/>
                    </a:lnL>
                    <a:lnR>
                      <a:noFill/>
                    </a:lnR>
                    <a:lnT>
                      <a:noFill/>
                    </a:lnT>
                    <a:lnB w="6350">
                      <a:solidFill>
                        <a:srgbClr val="D9DEE5"/>
                      </a:solidFill>
                    </a:lnB>
                  </a:tcPr>
                </a:tc>
              </a:tr>
              <a:tr h="845819">
                <a:tc>
                  <a:txBody>
                    <a:bodyPr wrap="square">
                      <a:noAutofit/>
                    </a:bodyPr>
                    <a:lstStyle/>
                    <a:p>
                      <a:pPr algn="l">
                        <a:lnSpc>
                          <a:spcPct val="100000"/>
                        </a:lnSpc>
                        <a:spcBef>
                          <a:spcPts val="0"/>
                        </a:spcBef>
                        <a:spcAft>
                          <a:spcPts val="0"/>
                        </a:spcAft>
                      </a:pPr>
                      <a:r>
                        <a:rPr sz="1300" b="1">
                          <a:solidFill>
                            <a:srgbClr val="1F1F1F"/>
                          </a:solidFill>
                          <a:latin typeface="Calibri"/>
                        </a:rPr>
                        <a:t>Aquisição de precatórios</a:t>
                      </a:r>
                    </a:p>
                  </a:txBody>
                  <a:tcPr marL="91440" marR="91440" marT="41148" marB="41148" anchor="ctr">
                    <a:solidFill>
                      <a:srgbClr val="FFFFFF"/>
                    </a:solidFill>
                    <a:lnL>
                      <a:noFill/>
                    </a:lnL>
                    <a:lnR>
                      <a:noFill/>
                    </a:lnR>
                    <a:lnT>
                      <a:noFill/>
                    </a:lnT>
                    <a:lnB>
                      <a:noFill/>
                    </a:lnB>
                  </a:tcPr>
                </a:tc>
                <a:tc>
                  <a:txBody>
                    <a:bodyPr wrap="square">
                      <a:noAutofit/>
                    </a:bodyPr>
                    <a:lstStyle/>
                    <a:p>
                      <a:pPr algn="l">
                        <a:lnSpc>
                          <a:spcPct val="100000"/>
                        </a:lnSpc>
                        <a:spcBef>
                          <a:spcPts val="0"/>
                        </a:spcBef>
                        <a:spcAft>
                          <a:spcPts val="0"/>
                        </a:spcAft>
                      </a:pPr>
                      <a:r>
                        <a:rPr sz="1300" b="0">
                          <a:solidFill>
                            <a:srgbClr val="1F1F1F"/>
                          </a:solidFill>
                          <a:latin typeface="Calibri"/>
                        </a:rPr>
                        <a:t>O fundo não se destina ao público em geral. As informações a seguir são destinadas à apresentação do</a:t>
                      </a:r>
                    </a:p>
                    <a:p>
                      <a:pPr algn="l">
                        <a:lnSpc>
                          <a:spcPct val="100000"/>
                        </a:lnSpc>
                        <a:spcBef>
                          <a:spcPts val="0"/>
                        </a:spcBef>
                        <a:spcAft>
                          <a:spcPts val="0"/>
                        </a:spcAft>
                      </a:pPr>
                      <a:r>
                        <a:rPr sz="1300" b="0">
                          <a:solidFill>
                            <a:srgbClr val="1F1F1F"/>
                          </a:solidFill>
                          <a:latin typeface="Calibri"/>
                        </a:rPr>
                        <a:t>relatório trimestral do gestor.</a:t>
                      </a:r>
                    </a:p>
                    <a:p>
                      <a:pPr algn="l">
                        <a:lnSpc>
                          <a:spcPct val="100000"/>
                        </a:lnSpc>
                        <a:spcBef>
                          <a:spcPts val="0"/>
                        </a:spcBef>
                        <a:spcAft>
                          <a:spcPts val="0"/>
                        </a:spcAft>
                      </a:pPr>
                      <a:r>
                        <a:rPr sz="1300" b="0">
                          <a:solidFill>
                            <a:srgbClr val="1F1F1F"/>
                          </a:solidFill>
                          <a:latin typeface="Calibri"/>
                        </a:rPr>
                        <a:t>Declaração do informe trimestral</a:t>
                      </a:r>
                    </a:p>
                    <a:p>
                      <a:pPr algn="l">
                        <a:lnSpc>
                          <a:spcPct val="100000"/>
                        </a:lnSpc>
                        <a:spcBef>
                          <a:spcPts val="0"/>
                        </a:spcBef>
                        <a:spcAft>
                          <a:spcPts val="0"/>
                        </a:spcAft>
                      </a:pPr>
                      <a:r>
                        <a:rPr sz="1300" b="0">
                          <a:solidFill>
                            <a:srgbClr val="1F1F1F"/>
                          </a:solidFill>
                          <a:latin typeface="Calibri"/>
                        </a:rPr>
                        <a:t>2026-Q2 · Resposta declarada no informe; a cláusula permanece no documento normativo</a:t>
                      </a:r>
                    </a:p>
                  </a:txBody>
                  <a:tcPr marL="91440" marR="91440" marT="41148" marB="41148" anchor="ctr">
                    <a:solidFill>
                      <a:srgbClr val="FFFFFF"/>
                    </a:solidFill>
                    <a:lnL>
                      <a:noFill/>
                    </a:lnL>
                    <a:lnR>
                      <a:noFill/>
                    </a:lnR>
                    <a:lnT>
                      <a:noFill/>
                    </a:lnT>
                    <a:lnB>
                      <a:noFill/>
                    </a:lnB>
                  </a:tcPr>
                </a:tc>
              </a:tr>
              <a:tr h="3095244">
                <a:tc>
                  <a:txBody>
                    <a:bodyPr wrap="square">
                      <a:noAutofit/>
                    </a:bodyPr>
                    <a:lstStyle/>
                    <a:p>
                      <a:pPr algn="l">
                        <a:lnSpc>
                          <a:spcPct val="100000"/>
                        </a:lnSpc>
                        <a:spcBef>
                          <a:spcPts val="0"/>
                        </a:spcBef>
                        <a:spcAft>
                          <a:spcPts val="0"/>
                        </a:spcAft>
                      </a:pPr>
                      <a:r>
                        <a:rPr sz="1300" b="1">
                          <a:solidFill>
                            <a:srgbClr val="1F1F1F"/>
                          </a:solidFill>
                          <a:latin typeface="Calibri"/>
                        </a:rPr>
                        <a:t>Critérios de concessão</a:t>
                      </a:r>
                    </a:p>
                    <a:p>
                      <a:pPr algn="l">
                        <a:lnSpc>
                          <a:spcPct val="100000"/>
                        </a:lnSpc>
                        <a:spcBef>
                          <a:spcPts val="0"/>
                        </a:spcBef>
                        <a:spcAft>
                          <a:spcPts val="0"/>
                        </a:spcAft>
                      </a:pPr>
                      <a:r>
                        <a:rPr sz="1300" b="1">
                          <a:solidFill>
                            <a:srgbClr val="1F1F1F"/>
                          </a:solidFill>
                          <a:latin typeface="Calibri"/>
                        </a:rPr>
                        <a:t>dos originadores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Eventuaisalteraçõesnoscritériosparaaconcessãodecréditoadotadosportaisoriginadores,casooscritériosado</a:t>
                      </a:r>
                    </a:p>
                    <a:p>
                      <a:pPr algn="l">
                        <a:lnSpc>
                          <a:spcPct val="100000"/>
                        </a:lnSpc>
                        <a:spcBef>
                          <a:spcPts val="0"/>
                        </a:spcBef>
                        <a:spcAft>
                          <a:spcPts val="0"/>
                        </a:spcAft>
                      </a:pPr>
                      <a:r>
                        <a:rPr sz="1300" b="0">
                          <a:solidFill>
                            <a:srgbClr val="1F1F1F"/>
                          </a:solidFill>
                          <a:latin typeface="Calibri"/>
                        </a:rPr>
                        <a:t>tadosjátenh amsidodescritosnoregulamentoouemoutrosdemonstrativostrimestrais;Resposta:Nãoocorreramalt</a:t>
                      </a:r>
                    </a:p>
                    <a:p>
                      <a:pPr algn="l">
                        <a:lnSpc>
                          <a:spcPct val="100000"/>
                        </a:lnSpc>
                        <a:spcBef>
                          <a:spcPts val="0"/>
                        </a:spcBef>
                        <a:spcAft>
                          <a:spcPts val="0"/>
                        </a:spcAft>
                      </a:pPr>
                      <a:r>
                        <a:rPr sz="1300" b="0">
                          <a:solidFill>
                            <a:srgbClr val="1F1F1F"/>
                          </a:solidFill>
                          <a:latin typeface="Calibri"/>
                        </a:rPr>
                        <a:t>eraçõesrelevant esnoscritériosparaaconcessãodecrédito.</a:t>
                      </a:r>
                    </a:p>
                    <a:p>
                      <a:pPr algn="l">
                        <a:lnSpc>
                          <a:spcPct val="100000"/>
                        </a:lnSpc>
                        <a:spcBef>
                          <a:spcPts val="0"/>
                        </a:spcBef>
                        <a:spcAft>
                          <a:spcPts val="0"/>
                        </a:spcAft>
                      </a:pPr>
                      <a:r>
                        <a:rPr sz="1300" b="0">
                          <a:solidFill>
                            <a:srgbClr val="1F1F1F"/>
                          </a:solidFill>
                          <a:latin typeface="Calibri"/>
                        </a:rPr>
                        <a:t>Eventuaisalteraçõesnasgarantiasexistentesparaoconjuntodedireitoscreditórios;</a:t>
                      </a:r>
                    </a:p>
                    <a:p>
                      <a:pPr algn="l">
                        <a:lnSpc>
                          <a:spcPct val="100000"/>
                        </a:lnSpc>
                        <a:spcBef>
                          <a:spcPts val="0"/>
                        </a:spcBef>
                        <a:spcAft>
                          <a:spcPts val="0"/>
                        </a:spcAft>
                      </a:pPr>
                      <a:r>
                        <a:rPr sz="1300" b="0">
                          <a:solidFill>
                            <a:srgbClr val="1F1F1F"/>
                          </a:solidFill>
                          <a:latin typeface="Calibri"/>
                        </a:rPr>
                        <a:t>Resposta:Nãoocorreramalteraçõesrelevantesnas garantiasexistentesparao conjuntodeativos.</a:t>
                      </a:r>
                    </a:p>
                    <a:p>
                      <a:pPr algn="l">
                        <a:lnSpc>
                          <a:spcPct val="100000"/>
                        </a:lnSpc>
                        <a:spcBef>
                          <a:spcPts val="0"/>
                        </a:spcBef>
                        <a:spcAft>
                          <a:spcPts val="0"/>
                        </a:spcAft>
                      </a:pPr>
                      <a:r>
                        <a:rPr sz="1300" b="0">
                          <a:solidFill>
                            <a:srgbClr val="1F1F1F"/>
                          </a:solidFill>
                          <a:latin typeface="Calibri"/>
                        </a:rPr>
                        <a:t>Formacomoseoperouacessãodosdireitoscreditórios,incluindo:</a:t>
                      </a:r>
                    </a:p>
                    <a:p>
                      <a:pPr algn="l">
                        <a:lnSpc>
                          <a:spcPct val="100000"/>
                        </a:lnSpc>
                        <a:spcBef>
                          <a:spcPts val="0"/>
                        </a:spcBef>
                        <a:spcAft>
                          <a:spcPts val="0"/>
                        </a:spcAft>
                      </a:pPr>
                      <a:r>
                        <a:rPr sz="1300" b="0">
                          <a:solidFill>
                            <a:srgbClr val="1F1F1F"/>
                          </a:solidFill>
                          <a:latin typeface="Calibri"/>
                        </a:rPr>
                        <a:t>a)descriçãodecontratosrelevantesfirmadoscomessepropósito,sehouver;eb)indicaçãodocaráter definitivo,</a:t>
                      </a:r>
                    </a:p>
                    <a:p>
                      <a:pPr algn="l">
                        <a:lnSpc>
                          <a:spcPct val="100000"/>
                        </a:lnSpc>
                        <a:spcBef>
                          <a:spcPts val="0"/>
                        </a:spcBef>
                        <a:spcAft>
                          <a:spcPts val="0"/>
                        </a:spcAft>
                      </a:pPr>
                      <a:r>
                        <a:rPr sz="1300" b="0">
                          <a:solidFill>
                            <a:srgbClr val="1F1F1F"/>
                          </a:solidFill>
                          <a:latin typeface="Calibri"/>
                        </a:rPr>
                        <a:t>ou não, da cessão de direitos creditórios;</a:t>
                      </a:r>
                    </a:p>
                    <a:p>
                      <a:pPr algn="l">
                        <a:lnSpc>
                          <a:spcPct val="100000"/>
                        </a:lnSpc>
                        <a:spcBef>
                          <a:spcPts val="0"/>
                        </a:spcBef>
                        <a:spcAft>
                          <a:spcPts val="0"/>
                        </a:spcAft>
                      </a:pPr>
                      <a:r>
                        <a:rPr sz="1300" b="0">
                          <a:solidFill>
                            <a:srgbClr val="1F1F1F"/>
                          </a:solidFill>
                          <a:latin typeface="Calibri"/>
                        </a:rPr>
                        <a:t>Resposta:Ascessõesdedireitoscreditóriosocorreramtodasdeformadefinitiva,deacordocomodisposto no</a:t>
                      </a:r>
                    </a:p>
                    <a:p>
                      <a:pPr algn="l">
                        <a:lnSpc>
                          <a:spcPct val="100000"/>
                        </a:lnSpc>
                        <a:spcBef>
                          <a:spcPts val="0"/>
                        </a:spcBef>
                        <a:spcAft>
                          <a:spcPts val="0"/>
                        </a:spcAft>
                      </a:pPr>
                      <a:r>
                        <a:rPr sz="1300" b="0">
                          <a:solidFill>
                            <a:srgbClr val="1F1F1F"/>
                          </a:solidFill>
                          <a:latin typeface="Calibri"/>
                        </a:rPr>
                        <a:t>regulamento e/ou nos respectivos contratos. Nomedofundo:MERCADOC2SNRFIDC CNPJ: 41970012000126</a:t>
                      </a:r>
                    </a:p>
                    <a:p>
                      <a:pPr algn="l">
                        <a:lnSpc>
                          <a:spcPct val="100000"/>
                        </a:lnSpc>
                        <a:spcBef>
                          <a:spcPts val="0"/>
                        </a:spcBef>
                        <a:spcAft>
                          <a:spcPts val="0"/>
                        </a:spcAft>
                      </a:pPr>
                      <a:r>
                        <a:rPr sz="1300" b="0">
                          <a:solidFill>
                            <a:srgbClr val="1F1F1F"/>
                          </a:solidFill>
                          <a:latin typeface="Calibri"/>
                        </a:rPr>
                        <a:t>Impactodoseventosdepré-</a:t>
                      </a:r>
                    </a:p>
                    <a:p>
                      <a:pPr algn="l">
                        <a:lnSpc>
                          <a:spcPct val="100000"/>
                        </a:lnSpc>
                        <a:spcBef>
                          <a:spcPts val="0"/>
                        </a:spcBef>
                        <a:spcAft>
                          <a:spcPts val="0"/>
                        </a:spcAft>
                      </a:pPr>
                      <a:r>
                        <a:rPr sz="1300" b="0">
                          <a:solidFill>
                            <a:srgbClr val="1F1F1F"/>
                          </a:solidFill>
                          <a:latin typeface="Calibri"/>
                        </a:rPr>
                        <a:t>pagamentonovalordopatrimôniolíquidoenarentabilidadedacarteira;Resposta:Existemeventosdepré-</a:t>
                      </a:r>
                    </a:p>
                    <a:p>
                      <a:pPr algn="l">
                        <a:lnSpc>
                          <a:spcPct val="100000"/>
                        </a:lnSpc>
                        <a:spcBef>
                          <a:spcPts val="0"/>
                        </a:spcBef>
                        <a:spcAft>
                          <a:spcPts val="0"/>
                        </a:spcAft>
                      </a:pPr>
                      <a:r>
                        <a:rPr sz="1300" b="0">
                          <a:solidFill>
                            <a:srgbClr val="1F1F1F"/>
                          </a:solidFill>
                          <a:latin typeface="Calibri"/>
                        </a:rPr>
                        <a:t>pagamentoemfundospulverizadosnocursonormaldosnegócios que não geram, por si só, impacto</a:t>
                      </a:r>
                    </a:p>
                    <a:p>
                      <a:pPr algn="l">
                        <a:lnSpc>
                          <a:spcPct val="100000"/>
                        </a:lnSpc>
                        <a:spcBef>
                          <a:spcPts val="0"/>
                        </a:spcBef>
                        <a:spcAft>
                          <a:spcPts val="0"/>
                        </a:spcAft>
                      </a:pPr>
                      <a:r>
                        <a:rPr sz="1300" b="0">
                          <a:solidFill>
                            <a:srgbClr val="1F1F1F"/>
                          </a:solidFill>
                          <a:latin typeface="Calibri"/>
                        </a:rPr>
                        <a:t>significativo no patrimônio líquido e na rentabilidade da carteira.</a:t>
                      </a:r>
                    </a:p>
                    <a:p>
                      <a:pPr algn="l">
                        <a:lnSpc>
                          <a:spcPct val="100000"/>
                        </a:lnSpc>
                        <a:spcBef>
                          <a:spcPts val="0"/>
                        </a:spcBef>
                        <a:spcAft>
                          <a:spcPts val="0"/>
                        </a:spcAft>
                      </a:pPr>
                      <a:r>
                        <a:rPr sz="1300" b="0">
                          <a:solidFill>
                            <a:srgbClr val="1F1F1F"/>
                          </a:solidFill>
                          <a:latin typeface="Calibri"/>
                        </a:rPr>
                        <a:t>Declaração do informe trimestral</a:t>
                      </a:r>
                    </a:p>
                    <a:p>
                      <a:pPr algn="l">
                        <a:lnSpc>
                          <a:spcPct val="100000"/>
                        </a:lnSpc>
                        <a:spcBef>
                          <a:spcPts val="0"/>
                        </a:spcBef>
                        <a:spcAft>
                          <a:spcPts val="0"/>
                        </a:spcAft>
                      </a:pPr>
                      <a:r>
                        <a:rPr sz="1300" b="0">
                          <a:solidFill>
                            <a:srgbClr val="1F1F1F"/>
                          </a:solidFill>
                          <a:latin typeface="Calibri"/>
                        </a:rPr>
                        <a:t>2026-Q2 · Resposta declarada no informe; a cláusula permanece no documento normativo</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159/160</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38912" y="292608"/>
            <a:ext cx="11313871" cy="557784"/>
          </a:xfrm>
          <a:prstGeom prst="rect">
            <a:avLst/>
          </a:prstGeom>
          <a:noFill/>
        </p:spPr>
        <p:txBody>
          <a:bodyPr wrap="square" lIns="0" rIns="0" tIns="0" bIns="0">
            <a:noAutofit/>
          </a:bodyPr>
          <a:lstStyle/>
          <a:p>
            <a:pPr algn="l"/>
            <a:r>
              <a:rPr sz="2300" b="1">
                <a:solidFill>
                  <a:srgbClr val="EC7000"/>
                </a:solidFill>
                <a:latin typeface="Calibri"/>
              </a:rPr>
              <a:t>PLGN Marketplace · vínculo CNPJ 41970012000126 · Declarações trimestrais</a:t>
            </a:r>
          </a:p>
        </p:txBody>
      </p:sp>
      <p:graphicFrame>
        <p:nvGraphicFramePr>
          <p:cNvPr id="3" name="Table 2"/>
          <p:cNvGraphicFramePr>
            <a:graphicFrameLocks noGrp="1"/>
          </p:cNvGraphicFramePr>
          <p:nvPr/>
        </p:nvGraphicFramePr>
        <p:xfrm>
          <a:off x="438912" y="932688"/>
          <a:ext cx="11313871" cy="2551176"/>
        </p:xfrm>
        <a:graphic>
          <a:graphicData uri="http://schemas.openxmlformats.org/drawingml/2006/table">
            <a:tbl>
              <a:tblPr>
                <a:tableStyleId>{5C22544A-7EE6-4342-B048-85BDC9FD1C3A}</a:tableStyleId>
              </a:tblPr>
              <a:tblGrid>
                <a:gridCol w="2331720"/>
                <a:gridCol w="8982151"/>
              </a:tblGrid>
              <a:tr h="393192">
                <a:tc>
                  <a:txBody>
                    <a:bodyPr wrap="square">
                      <a:noAutofit/>
                    </a:bodyPr>
                    <a:lstStyle/>
                    <a:p>
                      <a:pPr algn="l">
                        <a:lnSpc>
                          <a:spcPct val="100000"/>
                        </a:lnSpc>
                        <a:spcBef>
                          <a:spcPts val="0"/>
                        </a:spcBef>
                        <a:spcAft>
                          <a:spcPts val="0"/>
                        </a:spcAft>
                      </a:pPr>
                      <a:r>
                        <a:rPr sz="1300" b="1">
                          <a:solidFill>
                            <a:srgbClr val="1F1F1F"/>
                          </a:solidFill>
                          <a:latin typeface="Calibri"/>
                        </a:rPr>
                        <a:t>Critério</a:t>
                      </a:r>
                    </a:p>
                  </a:txBody>
                  <a:tcPr marL="91440" marR="91440" marT="41148" marB="41148" anchor="ctr">
                    <a:solidFill>
                      <a:srgbClr val="F7F7F7"/>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1">
                          <a:solidFill>
                            <a:srgbClr val="1F1F1F"/>
                          </a:solidFill>
                          <a:latin typeface="Calibri"/>
                        </a:rPr>
                        <a:t>MC II · 41970012000126</a:t>
                      </a:r>
                    </a:p>
                  </a:txBody>
                  <a:tcPr marL="91440" marR="91440" marT="41148" marB="41148" anchor="ctr">
                    <a:solidFill>
                      <a:srgbClr val="F7F7F7"/>
                    </a:solidFill>
                    <a:lnL>
                      <a:noFill/>
                    </a:lnL>
                    <a:lnR>
                      <a:noFill/>
                    </a:lnR>
                    <a:lnT>
                      <a:noFill/>
                    </a:lnT>
                    <a:lnB w="6350">
                      <a:solidFill>
                        <a:srgbClr val="D9DEE5"/>
                      </a:solidFill>
                    </a:lnB>
                  </a:tcPr>
                </a:tc>
              </a:tr>
              <a:tr h="2157984">
                <a:tc>
                  <a:txBody>
                    <a:bodyPr wrap="square">
                      <a:noAutofit/>
                    </a:bodyPr>
                    <a:lstStyle/>
                    <a:p>
                      <a:pPr algn="l">
                        <a:lnSpc>
                          <a:spcPct val="100000"/>
                        </a:lnSpc>
                        <a:spcBef>
                          <a:spcPts val="0"/>
                        </a:spcBef>
                        <a:spcAft>
                          <a:spcPts val="0"/>
                        </a:spcAft>
                      </a:pPr>
                      <a:r>
                        <a:rPr sz="1300" b="1">
                          <a:solidFill>
                            <a:srgbClr val="1F1F1F"/>
                          </a:solidFill>
                          <a:latin typeface="Calibri"/>
                        </a:rPr>
                        <a:t>Alienação de direitos</a:t>
                      </a:r>
                    </a:p>
                    <a:p>
                      <a:pPr algn="l">
                        <a:lnSpc>
                          <a:spcPct val="100000"/>
                        </a:lnSpc>
                        <a:spcBef>
                          <a:spcPts val="0"/>
                        </a:spcBef>
                        <a:spcAft>
                          <a:spcPts val="0"/>
                        </a:spcAft>
                      </a:pPr>
                      <a:r>
                        <a:rPr sz="1300" b="1">
                          <a:solidFill>
                            <a:srgbClr val="1F1F1F"/>
                          </a:solidFill>
                          <a:latin typeface="Calibri"/>
                        </a:rPr>
                        <a:t>creditórios</a:t>
                      </a:r>
                    </a:p>
                  </a:txBody>
                  <a:tcPr marL="91440" marR="91440" marT="41148" marB="41148" anchor="ctr">
                    <a:solidFill>
                      <a:srgbClr val="FFFFFF"/>
                    </a:solidFill>
                    <a:lnL>
                      <a:noFill/>
                    </a:lnL>
                    <a:lnR>
                      <a:noFill/>
                    </a:lnR>
                    <a:lnT>
                      <a:noFill/>
                    </a:lnT>
                    <a:lnB w="6350">
                      <a:solidFill>
                        <a:srgbClr val="D9DEE5"/>
                      </a:solidFill>
                    </a:lnB>
                  </a:tcPr>
                </a:tc>
                <a:tc>
                  <a:txBody>
                    <a:bodyPr wrap="square">
                      <a:noAutofit/>
                    </a:bodyPr>
                    <a:lstStyle/>
                    <a:p>
                      <a:pPr algn="l">
                        <a:lnSpc>
                          <a:spcPct val="100000"/>
                        </a:lnSpc>
                        <a:spcBef>
                          <a:spcPts val="0"/>
                        </a:spcBef>
                        <a:spcAft>
                          <a:spcPts val="0"/>
                        </a:spcAft>
                      </a:pPr>
                      <a:r>
                        <a:rPr sz="1300" b="0">
                          <a:solidFill>
                            <a:srgbClr val="1F1F1F"/>
                          </a:solidFill>
                          <a:latin typeface="Calibri"/>
                        </a:rPr>
                        <a:t>Momentodaalienação(antesoudepoisdovencimento); Resposta: Não ocorreram alienação de ativos da</a:t>
                      </a:r>
                    </a:p>
                    <a:p>
                      <a:pPr algn="l">
                        <a:lnSpc>
                          <a:spcPct val="100000"/>
                        </a:lnSpc>
                        <a:spcBef>
                          <a:spcPts val="0"/>
                        </a:spcBef>
                        <a:spcAft>
                          <a:spcPts val="0"/>
                        </a:spcAft>
                      </a:pPr>
                      <a:r>
                        <a:rPr sz="1300" b="0">
                          <a:solidFill>
                            <a:srgbClr val="1F1F1F"/>
                          </a:solidFill>
                          <a:latin typeface="Calibri"/>
                        </a:rPr>
                        <a:t>carteira do Fundo, exceto no curso normal dosnegócios. Motivaçãodaalienação; Resposta: Não ocorreram</a:t>
                      </a:r>
                    </a:p>
                    <a:p>
                      <a:pPr algn="l">
                        <a:lnSpc>
                          <a:spcPct val="100000"/>
                        </a:lnSpc>
                        <a:spcBef>
                          <a:spcPts val="0"/>
                        </a:spcBef>
                        <a:spcAft>
                          <a:spcPts val="0"/>
                        </a:spcAft>
                      </a:pPr>
                      <a:r>
                        <a:rPr sz="1300" b="0">
                          <a:solidFill>
                            <a:srgbClr val="1F1F1F"/>
                          </a:solidFill>
                          <a:latin typeface="Calibri"/>
                        </a:rPr>
                        <a:t>alienação de ativos da carteira do Fundo, exceto no curso normal dosnegócios.</a:t>
                      </a:r>
                    </a:p>
                    <a:p>
                      <a:pPr algn="l">
                        <a:lnSpc>
                          <a:spcPct val="100000"/>
                        </a:lnSpc>
                        <a:spcBef>
                          <a:spcPts val="0"/>
                        </a:spcBef>
                        <a:spcAft>
                          <a:spcPts val="0"/>
                        </a:spcAft>
                      </a:pPr>
                      <a:r>
                        <a:rPr sz="1300" b="0">
                          <a:solidFill>
                            <a:srgbClr val="1F1F1F"/>
                          </a:solidFill>
                          <a:latin typeface="Calibri"/>
                        </a:rPr>
                        <a:t>Impactonovalordopatrimôniolíquidoenarentabilidadedacarteiradeativosdeumapossível descontinuidade, a</a:t>
                      </a:r>
                    </a:p>
                    <a:p>
                      <a:pPr algn="l">
                        <a:lnSpc>
                          <a:spcPct val="100000"/>
                        </a:lnSpc>
                        <a:spcBef>
                          <a:spcPts val="0"/>
                        </a:spcBef>
                        <a:spcAft>
                          <a:spcPts val="0"/>
                        </a:spcAft>
                      </a:pPr>
                      <a:r>
                        <a:rPr sz="1300" b="0">
                          <a:solidFill>
                            <a:srgbClr val="1F1F1F"/>
                          </a:solidFill>
                          <a:latin typeface="Calibri"/>
                        </a:rPr>
                        <a:t>qualquer título, da originação ou cessão de direitos creditórios; Resposta:Nãohá.</a:t>
                      </a:r>
                    </a:p>
                    <a:p>
                      <a:pPr algn="l">
                        <a:lnSpc>
                          <a:spcPct val="100000"/>
                        </a:lnSpc>
                        <a:spcBef>
                          <a:spcPts val="0"/>
                        </a:spcBef>
                        <a:spcAft>
                          <a:spcPts val="0"/>
                        </a:spcAft>
                      </a:pPr>
                      <a:r>
                        <a:rPr sz="1300" b="0">
                          <a:solidFill>
                            <a:srgbClr val="1F1F1F"/>
                          </a:solidFill>
                          <a:latin typeface="Calibri"/>
                        </a:rPr>
                        <a:t>Informaçõessobrefatosocorridosqueafetaramaregularidadedosfluxosfinanceirosoriundosdos</a:t>
                      </a:r>
                    </a:p>
                    <a:p>
                      <a:pPr algn="l">
                        <a:lnSpc>
                          <a:spcPct val="100000"/>
                        </a:lnSpc>
                        <a:spcBef>
                          <a:spcPts val="0"/>
                        </a:spcBef>
                        <a:spcAft>
                          <a:spcPts val="0"/>
                        </a:spcAft>
                      </a:pPr>
                      <a:r>
                        <a:rPr sz="1300" b="0">
                          <a:solidFill>
                            <a:srgbClr val="1F1F1F"/>
                          </a:solidFill>
                          <a:latin typeface="Calibri"/>
                        </a:rPr>
                        <a:t>direitoscreditórios,incluindo,masnãoselimitando,aquaisquereventosqueacarretemnaliquidação ou</a:t>
                      </a:r>
                    </a:p>
                    <a:p>
                      <a:pPr algn="l">
                        <a:lnSpc>
                          <a:spcPct val="100000"/>
                        </a:lnSpc>
                        <a:spcBef>
                          <a:spcPts val="0"/>
                        </a:spcBef>
                        <a:spcAft>
                          <a:spcPts val="0"/>
                        </a:spcAft>
                      </a:pPr>
                      <a:r>
                        <a:rPr sz="1300" b="0">
                          <a:solidFill>
                            <a:srgbClr val="1F1F1F"/>
                          </a:solidFill>
                          <a:latin typeface="Calibri"/>
                        </a:rPr>
                        <a:t>amortização antecipada de direitos creditórios. Resposta: Não ocorreram eventos relevantes que</a:t>
                      </a:r>
                    </a:p>
                    <a:p>
                      <a:pPr algn="l">
                        <a:lnSpc>
                          <a:spcPct val="100000"/>
                        </a:lnSpc>
                        <a:spcBef>
                          <a:spcPts val="0"/>
                        </a:spcBef>
                        <a:spcAft>
                          <a:spcPts val="0"/>
                        </a:spcAft>
                      </a:pPr>
                      <a:r>
                        <a:rPr sz="1300" b="0">
                          <a:solidFill>
                            <a:srgbClr val="1F1F1F"/>
                          </a:solidFill>
                          <a:latin typeface="Calibri"/>
                        </a:rPr>
                        <a:t>acarretaram a regularidade dos fluxos financeirosoriundos dos direitos creditórios.</a:t>
                      </a:r>
                    </a:p>
                    <a:p>
                      <a:pPr algn="l">
                        <a:lnSpc>
                          <a:spcPct val="100000"/>
                        </a:lnSpc>
                        <a:spcBef>
                          <a:spcPts val="0"/>
                        </a:spcBef>
                        <a:spcAft>
                          <a:spcPts val="0"/>
                        </a:spcAft>
                      </a:pPr>
                      <a:r>
                        <a:rPr sz="1300" b="0">
                          <a:solidFill>
                            <a:srgbClr val="1F1F1F"/>
                          </a:solidFill>
                          <a:latin typeface="Calibri"/>
                        </a:rPr>
                        <a:t>Declaração do informe trimestral</a:t>
                      </a:r>
                    </a:p>
                    <a:p>
                      <a:pPr algn="l">
                        <a:lnSpc>
                          <a:spcPct val="100000"/>
                        </a:lnSpc>
                        <a:spcBef>
                          <a:spcPts val="0"/>
                        </a:spcBef>
                        <a:spcAft>
                          <a:spcPts val="0"/>
                        </a:spcAft>
                      </a:pPr>
                      <a:r>
                        <a:rPr sz="1300" b="0">
                          <a:solidFill>
                            <a:srgbClr val="1F1F1F"/>
                          </a:solidFill>
                          <a:latin typeface="Calibri"/>
                        </a:rPr>
                        <a:t>2026-Q2 · Resposta declarada no informe; a cláusula permanece no documento normativo</a:t>
                      </a:r>
                    </a:p>
                  </a:txBody>
                  <a:tcPr marL="91440" marR="91440" marT="41148" marB="41148" anchor="ctr">
                    <a:solidFill>
                      <a:srgbClr val="FFFFFF"/>
                    </a:solidFill>
                    <a:lnL>
                      <a:noFill/>
                    </a:lnL>
                    <a:lnR>
                      <a:noFill/>
                    </a:lnR>
                    <a:lnT>
                      <a:noFill/>
                    </a:lnT>
                    <a:lnB w="6350">
                      <a:solidFill>
                        <a:srgbClr val="D9DEE5"/>
                      </a:solidFill>
                    </a:lnB>
                  </a:tcPr>
                </a:tc>
              </a:tr>
            </a:tbl>
          </a:graphicData>
        </a:graphic>
      </p:graphicFrame>
      <p:sp>
        <p:nvSpPr>
          <p:cNvPr id="4" name="TextBox 3"/>
          <p:cNvSpPr txBox="1"/>
          <p:nvPr/>
        </p:nvSpPr>
        <p:spPr>
          <a:xfrm>
            <a:off x="438912" y="6428232"/>
            <a:ext cx="10399471" cy="164592"/>
          </a:xfrm>
          <a:prstGeom prst="rect">
            <a:avLst/>
          </a:prstGeom>
          <a:noFill/>
        </p:spPr>
        <p:txBody>
          <a:bodyPr wrap="square" lIns="0" rIns="0" tIns="0" bIns="0">
            <a:noAutofit/>
          </a:bodyPr>
          <a:lstStyle/>
          <a:p>
            <a:pPr algn="l"/>
            <a:r>
              <a:rPr sz="850" b="0">
                <a:solidFill>
                  <a:srgbClr val="6B7280"/>
                </a:solidFill>
                <a:latin typeface="Calibri"/>
              </a:rPr>
              <a:t>Documentos · Leitura: 13/10/2026 · Fontes nas notas</a:t>
            </a:r>
          </a:p>
        </p:txBody>
      </p:sp>
      <p:sp>
        <p:nvSpPr>
          <p:cNvPr id="5" name="TextBox 4"/>
          <p:cNvSpPr txBox="1"/>
          <p:nvPr/>
        </p:nvSpPr>
        <p:spPr>
          <a:xfrm>
            <a:off x="11112703" y="6428232"/>
            <a:ext cx="640080" cy="164592"/>
          </a:xfrm>
          <a:prstGeom prst="rect">
            <a:avLst/>
          </a:prstGeom>
          <a:noFill/>
        </p:spPr>
        <p:txBody>
          <a:bodyPr wrap="square" lIns="0" rIns="0" tIns="0" bIns="0">
            <a:noAutofit/>
          </a:bodyPr>
          <a:lstStyle/>
          <a:p>
            <a:pPr algn="r"/>
            <a:r>
              <a:rPr sz="850" b="0">
                <a:solidFill>
                  <a:srgbClr val="6B7280"/>
                </a:solidFill>
                <a:latin typeface="Calibri"/>
              </a:rPr>
              <a:t>160/160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